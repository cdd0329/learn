
<file path=[Content_Types].xml><?xml version="1.0" encoding="utf-8"?>
<Types xmlns="http://schemas.openxmlformats.org/package/2006/content-types">
  <Default Extension="bin" ContentType="application/vnd.openxmlformats-officedocument.oleObject"/>
  <Default Extension="emf" ContentType="image/x-emf"/>
  <Default Extension="fntdata" ContentType="application/x-fontdata"/>
  <Default Extension="gif" ContentType="image/gif"/>
  <Default Extension="jpeg" ContentType="image/jpeg"/>
  <Default Extension="png" ContentType="image/png"/>
  <Default Extension="rels" ContentType="application/vnd.openxmlformats-package.relationships+xml"/>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notesSlides/notesSlide65.xml" ContentType="application/vnd.openxmlformats-officedocument.presentationml.notesSlide+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diagrams/data10.xml" ContentType="application/vnd.openxmlformats-officedocument.drawingml.diagramData+xml"/>
  <Override PartName="/ppt/diagrams/layout10.xml" ContentType="application/vnd.openxmlformats-officedocument.drawingml.diagramLayout+xml"/>
  <Override PartName="/ppt/diagrams/quickStyle10.xml" ContentType="application/vnd.openxmlformats-officedocument.drawingml.diagramStyle+xml"/>
  <Override PartName="/ppt/diagrams/colors10.xml" ContentType="application/vnd.openxmlformats-officedocument.drawingml.diagramColors+xml"/>
  <Override PartName="/ppt/diagrams/drawing10.xml" ContentType="application/vnd.ms-office.drawingml.diagramDrawing+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diagrams/data11.xml" ContentType="application/vnd.openxmlformats-officedocument.drawingml.diagramData+xml"/>
  <Override PartName="/ppt/diagrams/layout11.xml" ContentType="application/vnd.openxmlformats-officedocument.drawingml.diagramLayout+xml"/>
  <Override PartName="/ppt/diagrams/quickStyle11.xml" ContentType="application/vnd.openxmlformats-officedocument.drawingml.diagramStyle+xml"/>
  <Override PartName="/ppt/diagrams/colors11.xml" ContentType="application/vnd.openxmlformats-officedocument.drawingml.diagramColors+xml"/>
  <Override PartName="/ppt/diagrams/drawing11.xml" ContentType="application/vnd.ms-office.drawingml.diagramDrawing+xml"/>
  <Override PartName="/ppt/notesSlides/notesSlide106.xml" ContentType="application/vnd.openxmlformats-officedocument.presentationml.notesSlide+xml"/>
  <Override PartName="/ppt/diagrams/data12.xml" ContentType="application/vnd.openxmlformats-officedocument.drawingml.diagramData+xml"/>
  <Override PartName="/ppt/diagrams/layout12.xml" ContentType="application/vnd.openxmlformats-officedocument.drawingml.diagramLayout+xml"/>
  <Override PartName="/ppt/diagrams/quickStyle12.xml" ContentType="application/vnd.openxmlformats-officedocument.drawingml.diagramStyle+xml"/>
  <Override PartName="/ppt/diagrams/colors12.xml" ContentType="application/vnd.openxmlformats-officedocument.drawingml.diagramColors+xml"/>
  <Override PartName="/ppt/diagrams/drawing12.xml" ContentType="application/vnd.ms-office.drawingml.diagramDrawing+xml"/>
  <Override PartName="/ppt/diagrams/data13.xml" ContentType="application/vnd.openxmlformats-officedocument.drawingml.diagramData+xml"/>
  <Override PartName="/ppt/diagrams/layout13.xml" ContentType="application/vnd.openxmlformats-officedocument.drawingml.diagramLayout+xml"/>
  <Override PartName="/ppt/diagrams/quickStyle13.xml" ContentType="application/vnd.openxmlformats-officedocument.drawingml.diagramStyle+xml"/>
  <Override PartName="/ppt/diagrams/colors13.xml" ContentType="application/vnd.openxmlformats-officedocument.drawingml.diagramColors+xml"/>
  <Override PartName="/ppt/diagrams/drawing13.xml" ContentType="application/vnd.ms-office.drawingml.diagramDrawing+xml"/>
  <Override PartName="/ppt/notesSlides/notesSlide107.xml" ContentType="application/vnd.openxmlformats-officedocument.presentationml.notesSlide+xml"/>
  <Override PartName="/ppt/diagrams/data14.xml" ContentType="application/vnd.openxmlformats-officedocument.drawingml.diagramData+xml"/>
  <Override PartName="/ppt/diagrams/layout14.xml" ContentType="application/vnd.openxmlformats-officedocument.drawingml.diagramLayout+xml"/>
  <Override PartName="/ppt/diagrams/quickStyle14.xml" ContentType="application/vnd.openxmlformats-officedocument.drawingml.diagramStyle+xml"/>
  <Override PartName="/ppt/diagrams/colors14.xml" ContentType="application/vnd.openxmlformats-officedocument.drawingml.diagramColors+xml"/>
  <Override PartName="/ppt/diagrams/drawing14.xml" ContentType="application/vnd.ms-office.drawingml.diagramDrawing+xml"/>
  <Override PartName="/ppt/notesSlides/notesSlide108.xml" ContentType="application/vnd.openxmlformats-officedocument.presentationml.notesSlide+xml"/>
  <Override PartName="/ppt/diagrams/data15.xml" ContentType="application/vnd.openxmlformats-officedocument.drawingml.diagramData+xml"/>
  <Override PartName="/ppt/diagrams/layout15.xml" ContentType="application/vnd.openxmlformats-officedocument.drawingml.diagramLayout+xml"/>
  <Override PartName="/ppt/diagrams/quickStyle15.xml" ContentType="application/vnd.openxmlformats-officedocument.drawingml.diagramStyle+xml"/>
  <Override PartName="/ppt/diagrams/colors15.xml" ContentType="application/vnd.openxmlformats-officedocument.drawingml.diagramColors+xml"/>
  <Override PartName="/ppt/diagrams/drawing15.xml" ContentType="application/vnd.ms-office.drawingml.diagramDrawing+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bookmarkIdSeed="2">
  <p:sldMasterIdLst>
    <p:sldMasterId id="2147483648" r:id="rId1"/>
  </p:sldMasterIdLst>
  <p:notesMasterIdLst>
    <p:notesMasterId r:id="rId343"/>
  </p:notesMasterIdLst>
  <p:sldIdLst>
    <p:sldId id="257" r:id="rId2"/>
    <p:sldId id="613" r:id="rId3"/>
    <p:sldId id="256" r:id="rId4"/>
    <p:sldId id="608" r:id="rId5"/>
    <p:sldId id="609" r:id="rId6"/>
    <p:sldId id="259" r:id="rId7"/>
    <p:sldId id="260" r:id="rId8"/>
    <p:sldId id="262" r:id="rId9"/>
    <p:sldId id="264" r:id="rId10"/>
    <p:sldId id="265" r:id="rId11"/>
    <p:sldId id="610" r:id="rId12"/>
    <p:sldId id="612" r:id="rId13"/>
    <p:sldId id="611" r:id="rId14"/>
    <p:sldId id="615" r:id="rId15"/>
    <p:sldId id="616" r:id="rId16"/>
    <p:sldId id="266" r:id="rId17"/>
    <p:sldId id="267" r:id="rId18"/>
    <p:sldId id="269" r:id="rId19"/>
    <p:sldId id="618" r:id="rId20"/>
    <p:sldId id="617" r:id="rId21"/>
    <p:sldId id="619" r:id="rId22"/>
    <p:sldId id="271" r:id="rId23"/>
    <p:sldId id="272" r:id="rId24"/>
    <p:sldId id="273" r:id="rId25"/>
    <p:sldId id="274" r:id="rId26"/>
    <p:sldId id="275" r:id="rId27"/>
    <p:sldId id="276" r:id="rId28"/>
    <p:sldId id="277" r:id="rId29"/>
    <p:sldId id="291" r:id="rId30"/>
    <p:sldId id="621" r:id="rId31"/>
    <p:sldId id="622" r:id="rId32"/>
    <p:sldId id="282" r:id="rId33"/>
    <p:sldId id="283" r:id="rId34"/>
    <p:sldId id="284" r:id="rId35"/>
    <p:sldId id="285" r:id="rId36"/>
    <p:sldId id="286" r:id="rId37"/>
    <p:sldId id="287" r:id="rId38"/>
    <p:sldId id="288" r:id="rId39"/>
    <p:sldId id="289" r:id="rId40"/>
    <p:sldId id="843" r:id="rId41"/>
    <p:sldId id="293" r:id="rId42"/>
    <p:sldId id="623" r:id="rId43"/>
    <p:sldId id="624" r:id="rId44"/>
    <p:sldId id="625" r:id="rId45"/>
    <p:sldId id="628" r:id="rId46"/>
    <p:sldId id="631" r:id="rId47"/>
    <p:sldId id="632" r:id="rId48"/>
    <p:sldId id="636" r:id="rId49"/>
    <p:sldId id="635" r:id="rId50"/>
    <p:sldId id="637" r:id="rId51"/>
    <p:sldId id="640" r:id="rId52"/>
    <p:sldId id="642" r:id="rId53"/>
    <p:sldId id="641" r:id="rId54"/>
    <p:sldId id="643" r:id="rId55"/>
    <p:sldId id="644" r:id="rId56"/>
    <p:sldId id="646" r:id="rId57"/>
    <p:sldId id="647" r:id="rId58"/>
    <p:sldId id="648" r:id="rId59"/>
    <p:sldId id="649" r:id="rId60"/>
    <p:sldId id="650" r:id="rId61"/>
    <p:sldId id="855" r:id="rId62"/>
    <p:sldId id="856" r:id="rId63"/>
    <p:sldId id="857" r:id="rId64"/>
    <p:sldId id="306" r:id="rId65"/>
    <p:sldId id="654" r:id="rId66"/>
    <p:sldId id="308" r:id="rId67"/>
    <p:sldId id="309" r:id="rId68"/>
    <p:sldId id="657" r:id="rId69"/>
    <p:sldId id="658" r:id="rId70"/>
    <p:sldId id="316" r:id="rId71"/>
    <p:sldId id="659" r:id="rId72"/>
    <p:sldId id="317" r:id="rId73"/>
    <p:sldId id="318" r:id="rId74"/>
    <p:sldId id="319" r:id="rId75"/>
    <p:sldId id="662" r:id="rId76"/>
    <p:sldId id="663" r:id="rId77"/>
    <p:sldId id="322" r:id="rId78"/>
    <p:sldId id="323" r:id="rId79"/>
    <p:sldId id="665" r:id="rId80"/>
    <p:sldId id="666" r:id="rId81"/>
    <p:sldId id="667" r:id="rId82"/>
    <p:sldId id="669" r:id="rId83"/>
    <p:sldId id="668" r:id="rId84"/>
    <p:sldId id="326" r:id="rId85"/>
    <p:sldId id="840" r:id="rId86"/>
    <p:sldId id="841" r:id="rId87"/>
    <p:sldId id="842" r:id="rId88"/>
    <p:sldId id="670" r:id="rId89"/>
    <p:sldId id="671" r:id="rId90"/>
    <p:sldId id="672" r:id="rId91"/>
    <p:sldId id="673" r:id="rId92"/>
    <p:sldId id="333" r:id="rId93"/>
    <p:sldId id="334" r:id="rId94"/>
    <p:sldId id="335" r:id="rId95"/>
    <p:sldId id="336" r:id="rId96"/>
    <p:sldId id="337" r:id="rId97"/>
    <p:sldId id="338" r:id="rId98"/>
    <p:sldId id="339" r:id="rId99"/>
    <p:sldId id="341" r:id="rId100"/>
    <p:sldId id="342" r:id="rId101"/>
    <p:sldId id="343" r:id="rId102"/>
    <p:sldId id="344" r:id="rId103"/>
    <p:sldId id="345" r:id="rId104"/>
    <p:sldId id="674" r:id="rId105"/>
    <p:sldId id="346" r:id="rId106"/>
    <p:sldId id="347" r:id="rId107"/>
    <p:sldId id="348" r:id="rId108"/>
    <p:sldId id="349" r:id="rId109"/>
    <p:sldId id="675" r:id="rId110"/>
    <p:sldId id="350" r:id="rId111"/>
    <p:sldId id="351" r:id="rId112"/>
    <p:sldId id="844" r:id="rId113"/>
    <p:sldId id="845" r:id="rId114"/>
    <p:sldId id="846" r:id="rId115"/>
    <p:sldId id="847" r:id="rId116"/>
    <p:sldId id="848" r:id="rId117"/>
    <p:sldId id="849" r:id="rId118"/>
    <p:sldId id="850" r:id="rId119"/>
    <p:sldId id="851" r:id="rId120"/>
    <p:sldId id="852" r:id="rId121"/>
    <p:sldId id="853" r:id="rId122"/>
    <p:sldId id="854" r:id="rId123"/>
    <p:sldId id="352" r:id="rId124"/>
    <p:sldId id="355" r:id="rId125"/>
    <p:sldId id="357" r:id="rId126"/>
    <p:sldId id="691" r:id="rId127"/>
    <p:sldId id="694" r:id="rId128"/>
    <p:sldId id="695" r:id="rId129"/>
    <p:sldId id="697" r:id="rId130"/>
    <p:sldId id="698" r:id="rId131"/>
    <p:sldId id="699" r:id="rId132"/>
    <p:sldId id="700" r:id="rId133"/>
    <p:sldId id="701" r:id="rId134"/>
    <p:sldId id="703" r:id="rId135"/>
    <p:sldId id="704" r:id="rId136"/>
    <p:sldId id="705" r:id="rId137"/>
    <p:sldId id="706" r:id="rId138"/>
    <p:sldId id="707" r:id="rId139"/>
    <p:sldId id="708" r:id="rId140"/>
    <p:sldId id="709" r:id="rId141"/>
    <p:sldId id="710" r:id="rId142"/>
    <p:sldId id="711" r:id="rId143"/>
    <p:sldId id="712" r:id="rId144"/>
    <p:sldId id="713" r:id="rId145"/>
    <p:sldId id="714" r:id="rId146"/>
    <p:sldId id="715" r:id="rId147"/>
    <p:sldId id="716" r:id="rId148"/>
    <p:sldId id="717" r:id="rId149"/>
    <p:sldId id="718" r:id="rId150"/>
    <p:sldId id="719" r:id="rId151"/>
    <p:sldId id="720" r:id="rId152"/>
    <p:sldId id="721" r:id="rId153"/>
    <p:sldId id="722" r:id="rId154"/>
    <p:sldId id="723" r:id="rId155"/>
    <p:sldId id="724" r:id="rId156"/>
    <p:sldId id="725" r:id="rId157"/>
    <p:sldId id="727" r:id="rId158"/>
    <p:sldId id="728" r:id="rId159"/>
    <p:sldId id="729" r:id="rId160"/>
    <p:sldId id="730" r:id="rId161"/>
    <p:sldId id="731" r:id="rId162"/>
    <p:sldId id="732" r:id="rId163"/>
    <p:sldId id="735" r:id="rId164"/>
    <p:sldId id="736" r:id="rId165"/>
    <p:sldId id="737" r:id="rId166"/>
    <p:sldId id="738" r:id="rId167"/>
    <p:sldId id="740" r:id="rId168"/>
    <p:sldId id="741" r:id="rId169"/>
    <p:sldId id="743" r:id="rId170"/>
    <p:sldId id="415" r:id="rId171"/>
    <p:sldId id="416" r:id="rId172"/>
    <p:sldId id="745" r:id="rId173"/>
    <p:sldId id="746" r:id="rId174"/>
    <p:sldId id="747" r:id="rId175"/>
    <p:sldId id="419" r:id="rId176"/>
    <p:sldId id="421" r:id="rId177"/>
    <p:sldId id="422" r:id="rId178"/>
    <p:sldId id="423" r:id="rId179"/>
    <p:sldId id="426" r:id="rId180"/>
    <p:sldId id="748" r:id="rId181"/>
    <p:sldId id="427" r:id="rId182"/>
    <p:sldId id="749" r:id="rId183"/>
    <p:sldId id="429" r:id="rId184"/>
    <p:sldId id="430" r:id="rId185"/>
    <p:sldId id="750" r:id="rId186"/>
    <p:sldId id="431" r:id="rId187"/>
    <p:sldId id="432" r:id="rId188"/>
    <p:sldId id="434" r:id="rId189"/>
    <p:sldId id="435" r:id="rId190"/>
    <p:sldId id="436" r:id="rId191"/>
    <p:sldId id="437" r:id="rId192"/>
    <p:sldId id="751" r:id="rId193"/>
    <p:sldId id="440" r:id="rId194"/>
    <p:sldId id="442" r:id="rId195"/>
    <p:sldId id="441" r:id="rId196"/>
    <p:sldId id="443" r:id="rId197"/>
    <p:sldId id="444" r:id="rId198"/>
    <p:sldId id="445" r:id="rId199"/>
    <p:sldId id="446" r:id="rId200"/>
    <p:sldId id="447" r:id="rId201"/>
    <p:sldId id="753" r:id="rId202"/>
    <p:sldId id="449" r:id="rId203"/>
    <p:sldId id="450" r:id="rId204"/>
    <p:sldId id="452" r:id="rId205"/>
    <p:sldId id="455" r:id="rId206"/>
    <p:sldId id="754" r:id="rId207"/>
    <p:sldId id="755" r:id="rId208"/>
    <p:sldId id="453" r:id="rId209"/>
    <p:sldId id="457" r:id="rId210"/>
    <p:sldId id="459" r:id="rId211"/>
    <p:sldId id="458" r:id="rId212"/>
    <p:sldId id="460" r:id="rId213"/>
    <p:sldId id="758" r:id="rId214"/>
    <p:sldId id="756" r:id="rId215"/>
    <p:sldId id="461" r:id="rId216"/>
    <p:sldId id="463" r:id="rId217"/>
    <p:sldId id="464" r:id="rId218"/>
    <p:sldId id="759" r:id="rId219"/>
    <p:sldId id="465" r:id="rId220"/>
    <p:sldId id="760" r:id="rId221"/>
    <p:sldId id="761" r:id="rId222"/>
    <p:sldId id="762" r:id="rId223"/>
    <p:sldId id="764" r:id="rId224"/>
    <p:sldId id="763" r:id="rId225"/>
    <p:sldId id="766" r:id="rId226"/>
    <p:sldId id="765" r:id="rId227"/>
    <p:sldId id="769" r:id="rId228"/>
    <p:sldId id="770" r:id="rId229"/>
    <p:sldId id="771" r:id="rId230"/>
    <p:sldId id="467" r:id="rId231"/>
    <p:sldId id="469" r:id="rId232"/>
    <p:sldId id="773" r:id="rId233"/>
    <p:sldId id="774" r:id="rId234"/>
    <p:sldId id="777" r:id="rId235"/>
    <p:sldId id="778" r:id="rId236"/>
    <p:sldId id="776" r:id="rId237"/>
    <p:sldId id="474" r:id="rId238"/>
    <p:sldId id="475" r:id="rId239"/>
    <p:sldId id="476" r:id="rId240"/>
    <p:sldId id="781" r:id="rId241"/>
    <p:sldId id="782" r:id="rId242"/>
    <p:sldId id="483" r:id="rId243"/>
    <p:sldId id="485" r:id="rId244"/>
    <p:sldId id="487" r:id="rId245"/>
    <p:sldId id="488" r:id="rId246"/>
    <p:sldId id="784" r:id="rId247"/>
    <p:sldId id="785" r:id="rId248"/>
    <p:sldId id="526" r:id="rId249"/>
    <p:sldId id="527" r:id="rId250"/>
    <p:sldId id="528" r:id="rId251"/>
    <p:sldId id="529" r:id="rId252"/>
    <p:sldId id="530" r:id="rId253"/>
    <p:sldId id="531" r:id="rId254"/>
    <p:sldId id="532" r:id="rId255"/>
    <p:sldId id="533" r:id="rId256"/>
    <p:sldId id="534" r:id="rId257"/>
    <p:sldId id="786" r:id="rId258"/>
    <p:sldId id="537" r:id="rId259"/>
    <p:sldId id="539" r:id="rId260"/>
    <p:sldId id="540" r:id="rId261"/>
    <p:sldId id="541" r:id="rId262"/>
    <p:sldId id="542" r:id="rId263"/>
    <p:sldId id="789" r:id="rId264"/>
    <p:sldId id="790" r:id="rId265"/>
    <p:sldId id="791" r:id="rId266"/>
    <p:sldId id="792" r:id="rId267"/>
    <p:sldId id="545" r:id="rId268"/>
    <p:sldId id="793" r:id="rId269"/>
    <p:sldId id="794" r:id="rId270"/>
    <p:sldId id="548" r:id="rId271"/>
    <p:sldId id="549" r:id="rId272"/>
    <p:sldId id="550" r:id="rId273"/>
    <p:sldId id="797" r:id="rId274"/>
    <p:sldId id="796" r:id="rId275"/>
    <p:sldId id="552" r:id="rId276"/>
    <p:sldId id="553" r:id="rId277"/>
    <p:sldId id="554" r:id="rId278"/>
    <p:sldId id="800" r:id="rId279"/>
    <p:sldId id="555" r:id="rId280"/>
    <p:sldId id="556" r:id="rId281"/>
    <p:sldId id="557" r:id="rId282"/>
    <p:sldId id="558" r:id="rId283"/>
    <p:sldId id="560" r:id="rId284"/>
    <p:sldId id="561" r:id="rId285"/>
    <p:sldId id="562" r:id="rId286"/>
    <p:sldId id="563" r:id="rId287"/>
    <p:sldId id="564" r:id="rId288"/>
    <p:sldId id="565" r:id="rId289"/>
    <p:sldId id="566" r:id="rId290"/>
    <p:sldId id="568" r:id="rId291"/>
    <p:sldId id="569" r:id="rId292"/>
    <p:sldId id="570" r:id="rId293"/>
    <p:sldId id="572" r:id="rId294"/>
    <p:sldId id="573" r:id="rId295"/>
    <p:sldId id="574" r:id="rId296"/>
    <p:sldId id="575" r:id="rId297"/>
    <p:sldId id="576" r:id="rId298"/>
    <p:sldId id="578" r:id="rId299"/>
    <p:sldId id="579" r:id="rId300"/>
    <p:sldId id="581" r:id="rId301"/>
    <p:sldId id="582" r:id="rId302"/>
    <p:sldId id="584" r:id="rId303"/>
    <p:sldId id="583" r:id="rId304"/>
    <p:sldId id="585" r:id="rId305"/>
    <p:sldId id="805" r:id="rId306"/>
    <p:sldId id="806" r:id="rId307"/>
    <p:sldId id="588" r:id="rId308"/>
    <p:sldId id="808" r:id="rId309"/>
    <p:sldId id="809" r:id="rId310"/>
    <p:sldId id="590" r:id="rId311"/>
    <p:sldId id="592" r:id="rId312"/>
    <p:sldId id="593" r:id="rId313"/>
    <p:sldId id="810" r:id="rId314"/>
    <p:sldId id="811" r:id="rId315"/>
    <p:sldId id="812" r:id="rId316"/>
    <p:sldId id="813" r:id="rId317"/>
    <p:sldId id="814" r:id="rId318"/>
    <p:sldId id="815" r:id="rId319"/>
    <p:sldId id="816" r:id="rId320"/>
    <p:sldId id="818" r:id="rId321"/>
    <p:sldId id="817" r:id="rId322"/>
    <p:sldId id="821" r:id="rId323"/>
    <p:sldId id="820" r:id="rId324"/>
    <p:sldId id="822" r:id="rId325"/>
    <p:sldId id="823" r:id="rId326"/>
    <p:sldId id="824" r:id="rId327"/>
    <p:sldId id="826" r:id="rId328"/>
    <p:sldId id="827" r:id="rId329"/>
    <p:sldId id="828" r:id="rId330"/>
    <p:sldId id="825" r:id="rId331"/>
    <p:sldId id="829" r:id="rId332"/>
    <p:sldId id="830" r:id="rId333"/>
    <p:sldId id="831" r:id="rId334"/>
    <p:sldId id="835" r:id="rId335"/>
    <p:sldId id="833" r:id="rId336"/>
    <p:sldId id="836" r:id="rId337"/>
    <p:sldId id="834" r:id="rId338"/>
    <p:sldId id="838" r:id="rId339"/>
    <p:sldId id="839" r:id="rId340"/>
    <p:sldId id="858" r:id="rId341"/>
    <p:sldId id="859" r:id="rId342"/>
  </p:sldIdLst>
  <p:sldSz cx="9144000" cy="5143500" type="screen16x9"/>
  <p:notesSz cx="6858000" cy="9144000"/>
  <p:embeddedFontLst>
    <p:embeddedFont>
      <p:font typeface="Tahoma" panose="020B0604030504040204" pitchFamily="34" charset="0"/>
      <p:regular r:id="rId344"/>
      <p:bold r:id="rId345"/>
    </p:embeddedFont>
    <p:embeddedFont>
      <p:font typeface="等线" panose="02010600030101010101" pitchFamily="2" charset="-122"/>
      <p:regular r:id="rId346"/>
      <p:bold r:id="rId347"/>
    </p:embeddedFont>
    <p:embeddedFont>
      <p:font typeface="黑体" panose="02010609060101010101" pitchFamily="49" charset="-122"/>
      <p:regular r:id="rId348"/>
    </p:embeddedFont>
    <p:embeddedFont>
      <p:font typeface="微软雅黑" panose="020B0503020204020204" pitchFamily="34" charset="-122"/>
      <p:regular r:id="rId349"/>
      <p:bold r:id="rId350"/>
    </p:embeddedFont>
  </p:embeddedFont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620">
          <p15:clr>
            <a:srgbClr val="A4A3A4"/>
          </p15:clr>
        </p15:guide>
        <p15:guide id="2" pos="2880">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useTimings="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CC0099"/>
    <a:srgbClr val="00B0F0"/>
    <a:srgbClr val="0000FF"/>
    <a:srgbClr val="0000CC"/>
    <a:srgbClr val="FFFF99"/>
    <a:srgbClr val="1FA3E5"/>
    <a:srgbClr val="FFFF00"/>
    <a:srgbClr val="FF99FF"/>
    <a:srgbClr val="C3E3F9"/>
    <a:srgbClr val="CCFF99"/>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1E4AEA4-8DFA-4A89-87EB-49C32662AFE0}" styleName="中度样式 2 - 强调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00A15C55-8517-42AA-B614-E9B94910E393}" styleName="中度样式 2 - 强调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 styleId="{7DF18680-E054-41AD-8BC1-D1AEF772440D}" styleName="中度样式 2 - 强调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93296810-A885-4BE3-A3E7-6D5BEEA58F35}" styleName="中度样式 2 - 强调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5940675A-B579-460E-94D1-54222C63F5DA}" styleName="无样式，网格型">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073A0DAA-6AF3-43AB-8588-CEC1D06C72B9}" styleName="中度样式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3636" autoAdjust="0"/>
    <p:restoredTop sz="87173" autoAdjust="0"/>
  </p:normalViewPr>
  <p:slideViewPr>
    <p:cSldViewPr snapToGrid="0">
      <p:cViewPr>
        <p:scale>
          <a:sx n="66" d="100"/>
          <a:sy n="66" d="100"/>
        </p:scale>
        <p:origin x="1824" y="533"/>
      </p:cViewPr>
      <p:guideLst>
        <p:guide orient="horz" pos="1620"/>
        <p:guide pos="2880"/>
      </p:guideLst>
    </p:cSldViewPr>
  </p:slideViewPr>
  <p:notesTextViewPr>
    <p:cViewPr>
      <p:scale>
        <a:sx n="1" d="1"/>
        <a:sy n="1" d="1"/>
      </p:scale>
      <p:origin x="0" y="0"/>
    </p:cViewPr>
  </p:notesTextViewPr>
  <p:notesViewPr>
    <p:cSldViewPr snapToGrid="0">
      <p:cViewPr varScale="1">
        <p:scale>
          <a:sx n="66" d="100"/>
          <a:sy n="66" d="100"/>
        </p:scale>
        <p:origin x="0" y="0"/>
      </p:cViewPr>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99" Type="http://schemas.openxmlformats.org/officeDocument/2006/relationships/slide" Target="slides/slide298.xml"/><Relationship Id="rId21" Type="http://schemas.openxmlformats.org/officeDocument/2006/relationships/slide" Target="slides/slide20.xml"/><Relationship Id="rId63" Type="http://schemas.openxmlformats.org/officeDocument/2006/relationships/slide" Target="slides/slide62.xml"/><Relationship Id="rId159" Type="http://schemas.openxmlformats.org/officeDocument/2006/relationships/slide" Target="slides/slide158.xml"/><Relationship Id="rId324" Type="http://schemas.openxmlformats.org/officeDocument/2006/relationships/slide" Target="slides/slide323.xml"/><Relationship Id="rId170" Type="http://schemas.openxmlformats.org/officeDocument/2006/relationships/slide" Target="slides/slide169.xml"/><Relationship Id="rId226" Type="http://schemas.openxmlformats.org/officeDocument/2006/relationships/slide" Target="slides/slide225.xml"/><Relationship Id="rId268" Type="http://schemas.openxmlformats.org/officeDocument/2006/relationships/slide" Target="slides/slide267.xml"/><Relationship Id="rId32" Type="http://schemas.openxmlformats.org/officeDocument/2006/relationships/slide" Target="slides/slide31.xml"/><Relationship Id="rId74" Type="http://schemas.openxmlformats.org/officeDocument/2006/relationships/slide" Target="slides/slide73.xml"/><Relationship Id="rId128" Type="http://schemas.openxmlformats.org/officeDocument/2006/relationships/slide" Target="slides/slide127.xml"/><Relationship Id="rId335" Type="http://schemas.openxmlformats.org/officeDocument/2006/relationships/slide" Target="slides/slide334.xml"/><Relationship Id="rId5" Type="http://schemas.openxmlformats.org/officeDocument/2006/relationships/slide" Target="slides/slide4.xml"/><Relationship Id="rId181" Type="http://schemas.openxmlformats.org/officeDocument/2006/relationships/slide" Target="slides/slide180.xml"/><Relationship Id="rId237" Type="http://schemas.openxmlformats.org/officeDocument/2006/relationships/slide" Target="slides/slide236.xml"/><Relationship Id="rId279" Type="http://schemas.openxmlformats.org/officeDocument/2006/relationships/slide" Target="slides/slide278.xml"/><Relationship Id="rId43" Type="http://schemas.openxmlformats.org/officeDocument/2006/relationships/slide" Target="slides/slide42.xml"/><Relationship Id="rId139" Type="http://schemas.openxmlformats.org/officeDocument/2006/relationships/slide" Target="slides/slide138.xml"/><Relationship Id="rId290" Type="http://schemas.openxmlformats.org/officeDocument/2006/relationships/slide" Target="slides/slide289.xml"/><Relationship Id="rId304" Type="http://schemas.openxmlformats.org/officeDocument/2006/relationships/slide" Target="slides/slide303.xml"/><Relationship Id="rId346" Type="http://schemas.openxmlformats.org/officeDocument/2006/relationships/font" Target="fonts/font3.fntdata"/><Relationship Id="rId85" Type="http://schemas.openxmlformats.org/officeDocument/2006/relationships/slide" Target="slides/slide84.xml"/><Relationship Id="rId150" Type="http://schemas.openxmlformats.org/officeDocument/2006/relationships/slide" Target="slides/slide149.xml"/><Relationship Id="rId192" Type="http://schemas.openxmlformats.org/officeDocument/2006/relationships/slide" Target="slides/slide191.xml"/><Relationship Id="rId206" Type="http://schemas.openxmlformats.org/officeDocument/2006/relationships/slide" Target="slides/slide205.xml"/><Relationship Id="rId248" Type="http://schemas.openxmlformats.org/officeDocument/2006/relationships/slide" Target="slides/slide247.xml"/><Relationship Id="rId12" Type="http://schemas.openxmlformats.org/officeDocument/2006/relationships/slide" Target="slides/slide11.xml"/><Relationship Id="rId108" Type="http://schemas.openxmlformats.org/officeDocument/2006/relationships/slide" Target="slides/slide107.xml"/><Relationship Id="rId315" Type="http://schemas.openxmlformats.org/officeDocument/2006/relationships/slide" Target="slides/slide314.xml"/><Relationship Id="rId54" Type="http://schemas.openxmlformats.org/officeDocument/2006/relationships/slide" Target="slides/slide53.xml"/><Relationship Id="rId96" Type="http://schemas.openxmlformats.org/officeDocument/2006/relationships/slide" Target="slides/slide95.xml"/><Relationship Id="rId161" Type="http://schemas.openxmlformats.org/officeDocument/2006/relationships/slide" Target="slides/slide160.xml"/><Relationship Id="rId217" Type="http://schemas.openxmlformats.org/officeDocument/2006/relationships/slide" Target="slides/slide216.xml"/><Relationship Id="rId259" Type="http://schemas.openxmlformats.org/officeDocument/2006/relationships/slide" Target="slides/slide258.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326" Type="http://schemas.openxmlformats.org/officeDocument/2006/relationships/slide" Target="slides/slide325.xml"/><Relationship Id="rId65" Type="http://schemas.openxmlformats.org/officeDocument/2006/relationships/slide" Target="slides/slide64.xml"/><Relationship Id="rId130" Type="http://schemas.openxmlformats.org/officeDocument/2006/relationships/slide" Target="slides/slide129.xml"/><Relationship Id="rId172" Type="http://schemas.openxmlformats.org/officeDocument/2006/relationships/slide" Target="slides/slide171.xml"/><Relationship Id="rId228" Type="http://schemas.openxmlformats.org/officeDocument/2006/relationships/slide" Target="slides/slide227.xml"/><Relationship Id="rId281" Type="http://schemas.openxmlformats.org/officeDocument/2006/relationships/slide" Target="slides/slide280.xml"/><Relationship Id="rId337" Type="http://schemas.openxmlformats.org/officeDocument/2006/relationships/slide" Target="slides/slide336.xml"/><Relationship Id="rId34" Type="http://schemas.openxmlformats.org/officeDocument/2006/relationships/slide" Target="slides/slide33.xml"/><Relationship Id="rId76" Type="http://schemas.openxmlformats.org/officeDocument/2006/relationships/slide" Target="slides/slide75.xml"/><Relationship Id="rId141" Type="http://schemas.openxmlformats.org/officeDocument/2006/relationships/slide" Target="slides/slide140.xml"/><Relationship Id="rId7" Type="http://schemas.openxmlformats.org/officeDocument/2006/relationships/slide" Target="slides/slide6.xml"/><Relationship Id="rId183" Type="http://schemas.openxmlformats.org/officeDocument/2006/relationships/slide" Target="slides/slide182.xml"/><Relationship Id="rId239" Type="http://schemas.openxmlformats.org/officeDocument/2006/relationships/slide" Target="slides/slide238.xml"/><Relationship Id="rId250" Type="http://schemas.openxmlformats.org/officeDocument/2006/relationships/slide" Target="slides/slide249.xml"/><Relationship Id="rId292" Type="http://schemas.openxmlformats.org/officeDocument/2006/relationships/slide" Target="slides/slide291.xml"/><Relationship Id="rId306" Type="http://schemas.openxmlformats.org/officeDocument/2006/relationships/slide" Target="slides/slide305.xml"/><Relationship Id="rId45" Type="http://schemas.openxmlformats.org/officeDocument/2006/relationships/slide" Target="slides/slide44.xml"/><Relationship Id="rId87" Type="http://schemas.openxmlformats.org/officeDocument/2006/relationships/slide" Target="slides/slide86.xml"/><Relationship Id="rId110" Type="http://schemas.openxmlformats.org/officeDocument/2006/relationships/slide" Target="slides/slide109.xml"/><Relationship Id="rId348" Type="http://schemas.openxmlformats.org/officeDocument/2006/relationships/font" Target="fonts/font5.fntdata"/><Relationship Id="rId152" Type="http://schemas.openxmlformats.org/officeDocument/2006/relationships/slide" Target="slides/slide151.xml"/><Relationship Id="rId194" Type="http://schemas.openxmlformats.org/officeDocument/2006/relationships/slide" Target="slides/slide193.xml"/><Relationship Id="rId208" Type="http://schemas.openxmlformats.org/officeDocument/2006/relationships/slide" Target="slides/slide207.xml"/><Relationship Id="rId261" Type="http://schemas.openxmlformats.org/officeDocument/2006/relationships/slide" Target="slides/slide260.xml"/><Relationship Id="rId14" Type="http://schemas.openxmlformats.org/officeDocument/2006/relationships/slide" Target="slides/slide13.xml"/><Relationship Id="rId56" Type="http://schemas.openxmlformats.org/officeDocument/2006/relationships/slide" Target="slides/slide55.xml"/><Relationship Id="rId317" Type="http://schemas.openxmlformats.org/officeDocument/2006/relationships/slide" Target="slides/slide316.xml"/><Relationship Id="rId98" Type="http://schemas.openxmlformats.org/officeDocument/2006/relationships/slide" Target="slides/slide97.xml"/><Relationship Id="rId121" Type="http://schemas.openxmlformats.org/officeDocument/2006/relationships/slide" Target="slides/slide120.xml"/><Relationship Id="rId163" Type="http://schemas.openxmlformats.org/officeDocument/2006/relationships/slide" Target="slides/slide162.xml"/><Relationship Id="rId219" Type="http://schemas.openxmlformats.org/officeDocument/2006/relationships/slide" Target="slides/slide218.xml"/><Relationship Id="rId230" Type="http://schemas.openxmlformats.org/officeDocument/2006/relationships/slide" Target="slides/slide229.xml"/><Relationship Id="rId251" Type="http://schemas.openxmlformats.org/officeDocument/2006/relationships/slide" Target="slides/slide250.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272" Type="http://schemas.openxmlformats.org/officeDocument/2006/relationships/slide" Target="slides/slide271.xml"/><Relationship Id="rId293" Type="http://schemas.openxmlformats.org/officeDocument/2006/relationships/slide" Target="slides/slide292.xml"/><Relationship Id="rId307" Type="http://schemas.openxmlformats.org/officeDocument/2006/relationships/slide" Target="slides/slide306.xml"/><Relationship Id="rId328" Type="http://schemas.openxmlformats.org/officeDocument/2006/relationships/slide" Target="slides/slide327.xml"/><Relationship Id="rId349" Type="http://schemas.openxmlformats.org/officeDocument/2006/relationships/font" Target="fonts/font6.fntdata"/><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95" Type="http://schemas.openxmlformats.org/officeDocument/2006/relationships/slide" Target="slides/slide194.xml"/><Relationship Id="rId209" Type="http://schemas.openxmlformats.org/officeDocument/2006/relationships/slide" Target="slides/slide208.xml"/><Relationship Id="rId220" Type="http://schemas.openxmlformats.org/officeDocument/2006/relationships/slide" Target="slides/slide219.xml"/><Relationship Id="rId241" Type="http://schemas.openxmlformats.org/officeDocument/2006/relationships/slide" Target="slides/slide240.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262" Type="http://schemas.openxmlformats.org/officeDocument/2006/relationships/slide" Target="slides/slide261.xml"/><Relationship Id="rId283" Type="http://schemas.openxmlformats.org/officeDocument/2006/relationships/slide" Target="slides/slide282.xml"/><Relationship Id="rId318" Type="http://schemas.openxmlformats.org/officeDocument/2006/relationships/slide" Target="slides/slide317.xml"/><Relationship Id="rId339" Type="http://schemas.openxmlformats.org/officeDocument/2006/relationships/slide" Target="slides/slide338.xml"/><Relationship Id="rId78" Type="http://schemas.openxmlformats.org/officeDocument/2006/relationships/slide" Target="slides/slide77.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64" Type="http://schemas.openxmlformats.org/officeDocument/2006/relationships/slide" Target="slides/slide163.xml"/><Relationship Id="rId185" Type="http://schemas.openxmlformats.org/officeDocument/2006/relationships/slide" Target="slides/slide184.xml"/><Relationship Id="rId350" Type="http://schemas.openxmlformats.org/officeDocument/2006/relationships/font" Target="fonts/font7.fntdata"/><Relationship Id="rId9" Type="http://schemas.openxmlformats.org/officeDocument/2006/relationships/slide" Target="slides/slide8.xml"/><Relationship Id="rId210" Type="http://schemas.openxmlformats.org/officeDocument/2006/relationships/slide" Target="slides/slide209.xml"/><Relationship Id="rId26" Type="http://schemas.openxmlformats.org/officeDocument/2006/relationships/slide" Target="slides/slide25.xml"/><Relationship Id="rId231" Type="http://schemas.openxmlformats.org/officeDocument/2006/relationships/slide" Target="slides/slide230.xml"/><Relationship Id="rId252" Type="http://schemas.openxmlformats.org/officeDocument/2006/relationships/slide" Target="slides/slide251.xml"/><Relationship Id="rId273" Type="http://schemas.openxmlformats.org/officeDocument/2006/relationships/slide" Target="slides/slide272.xml"/><Relationship Id="rId294" Type="http://schemas.openxmlformats.org/officeDocument/2006/relationships/slide" Target="slides/slide293.xml"/><Relationship Id="rId308" Type="http://schemas.openxmlformats.org/officeDocument/2006/relationships/slide" Target="slides/slide307.xml"/><Relationship Id="rId329" Type="http://schemas.openxmlformats.org/officeDocument/2006/relationships/slide" Target="slides/slide328.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340" Type="http://schemas.openxmlformats.org/officeDocument/2006/relationships/slide" Target="slides/slide339.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221" Type="http://schemas.openxmlformats.org/officeDocument/2006/relationships/slide" Target="slides/slide220.xml"/><Relationship Id="rId242" Type="http://schemas.openxmlformats.org/officeDocument/2006/relationships/slide" Target="slides/slide241.xml"/><Relationship Id="rId263" Type="http://schemas.openxmlformats.org/officeDocument/2006/relationships/slide" Target="slides/slide262.xml"/><Relationship Id="rId284" Type="http://schemas.openxmlformats.org/officeDocument/2006/relationships/slide" Target="slides/slide283.xml"/><Relationship Id="rId319" Type="http://schemas.openxmlformats.org/officeDocument/2006/relationships/slide" Target="slides/slide318.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330" Type="http://schemas.openxmlformats.org/officeDocument/2006/relationships/slide" Target="slides/slide329.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351" Type="http://schemas.openxmlformats.org/officeDocument/2006/relationships/presProps" Target="presProps.xml"/><Relationship Id="rId211" Type="http://schemas.openxmlformats.org/officeDocument/2006/relationships/slide" Target="slides/slide210.xml"/><Relationship Id="rId232" Type="http://schemas.openxmlformats.org/officeDocument/2006/relationships/slide" Target="slides/slide231.xml"/><Relationship Id="rId253" Type="http://schemas.openxmlformats.org/officeDocument/2006/relationships/slide" Target="slides/slide252.xml"/><Relationship Id="rId274" Type="http://schemas.openxmlformats.org/officeDocument/2006/relationships/slide" Target="slides/slide273.xml"/><Relationship Id="rId295" Type="http://schemas.openxmlformats.org/officeDocument/2006/relationships/slide" Target="slides/slide294.xml"/><Relationship Id="rId309" Type="http://schemas.openxmlformats.org/officeDocument/2006/relationships/slide" Target="slides/slide308.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320" Type="http://schemas.openxmlformats.org/officeDocument/2006/relationships/slide" Target="slides/slide319.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341" Type="http://schemas.openxmlformats.org/officeDocument/2006/relationships/slide" Target="slides/slide340.xml"/><Relationship Id="rId201" Type="http://schemas.openxmlformats.org/officeDocument/2006/relationships/slide" Target="slides/slide200.xml"/><Relationship Id="rId222" Type="http://schemas.openxmlformats.org/officeDocument/2006/relationships/slide" Target="slides/slide221.xml"/><Relationship Id="rId243" Type="http://schemas.openxmlformats.org/officeDocument/2006/relationships/slide" Target="slides/slide242.xml"/><Relationship Id="rId264" Type="http://schemas.openxmlformats.org/officeDocument/2006/relationships/slide" Target="slides/slide263.xml"/><Relationship Id="rId285" Type="http://schemas.openxmlformats.org/officeDocument/2006/relationships/slide" Target="slides/slide284.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310" Type="http://schemas.openxmlformats.org/officeDocument/2006/relationships/slide" Target="slides/slide309.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331" Type="http://schemas.openxmlformats.org/officeDocument/2006/relationships/slide" Target="slides/slide330.xml"/><Relationship Id="rId352" Type="http://schemas.openxmlformats.org/officeDocument/2006/relationships/viewProps" Target="viewProps.xml"/><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slide" Target="slides/slide232.xml"/><Relationship Id="rId254" Type="http://schemas.openxmlformats.org/officeDocument/2006/relationships/slide" Target="slides/slide253.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275" Type="http://schemas.openxmlformats.org/officeDocument/2006/relationships/slide" Target="slides/slide274.xml"/><Relationship Id="rId296" Type="http://schemas.openxmlformats.org/officeDocument/2006/relationships/slide" Target="slides/slide295.xml"/><Relationship Id="rId300" Type="http://schemas.openxmlformats.org/officeDocument/2006/relationships/slide" Target="slides/slide299.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321" Type="http://schemas.openxmlformats.org/officeDocument/2006/relationships/slide" Target="slides/slide320.xml"/><Relationship Id="rId342" Type="http://schemas.openxmlformats.org/officeDocument/2006/relationships/slide" Target="slides/slide341.xml"/><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slide" Target="slides/slide243.xml"/><Relationship Id="rId18" Type="http://schemas.openxmlformats.org/officeDocument/2006/relationships/slide" Target="slides/slide17.xml"/><Relationship Id="rId39" Type="http://schemas.openxmlformats.org/officeDocument/2006/relationships/slide" Target="slides/slide38.xml"/><Relationship Id="rId265" Type="http://schemas.openxmlformats.org/officeDocument/2006/relationships/slide" Target="slides/slide264.xml"/><Relationship Id="rId286" Type="http://schemas.openxmlformats.org/officeDocument/2006/relationships/slide" Target="slides/slide285.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311" Type="http://schemas.openxmlformats.org/officeDocument/2006/relationships/slide" Target="slides/slide310.xml"/><Relationship Id="rId332" Type="http://schemas.openxmlformats.org/officeDocument/2006/relationships/slide" Target="slides/slide331.xml"/><Relationship Id="rId353" Type="http://schemas.openxmlformats.org/officeDocument/2006/relationships/theme" Target="theme/theme1.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slide" Target="slides/slide233.xml"/><Relationship Id="rId2" Type="http://schemas.openxmlformats.org/officeDocument/2006/relationships/slide" Target="slides/slide1.xml"/><Relationship Id="rId29" Type="http://schemas.openxmlformats.org/officeDocument/2006/relationships/slide" Target="slides/slide28.xml"/><Relationship Id="rId255" Type="http://schemas.openxmlformats.org/officeDocument/2006/relationships/slide" Target="slides/slide254.xml"/><Relationship Id="rId276" Type="http://schemas.openxmlformats.org/officeDocument/2006/relationships/slide" Target="slides/slide275.xml"/><Relationship Id="rId297" Type="http://schemas.openxmlformats.org/officeDocument/2006/relationships/slide" Target="slides/slide296.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301" Type="http://schemas.openxmlformats.org/officeDocument/2006/relationships/slide" Target="slides/slide300.xml"/><Relationship Id="rId322" Type="http://schemas.openxmlformats.org/officeDocument/2006/relationships/slide" Target="slides/slide321.xml"/><Relationship Id="rId343" Type="http://schemas.openxmlformats.org/officeDocument/2006/relationships/notesMaster" Target="notesMasters/notesMaster1.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266" Type="http://schemas.openxmlformats.org/officeDocument/2006/relationships/slide" Target="slides/slide265.xml"/><Relationship Id="rId287" Type="http://schemas.openxmlformats.org/officeDocument/2006/relationships/slide" Target="slides/slide286.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312" Type="http://schemas.openxmlformats.org/officeDocument/2006/relationships/slide" Target="slides/slide311.xml"/><Relationship Id="rId333" Type="http://schemas.openxmlformats.org/officeDocument/2006/relationships/slide" Target="slides/slide332.xml"/><Relationship Id="rId354" Type="http://schemas.openxmlformats.org/officeDocument/2006/relationships/tableStyles" Target="tableStyles.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slide" Target="slides/slide234.xml"/><Relationship Id="rId256" Type="http://schemas.openxmlformats.org/officeDocument/2006/relationships/slide" Target="slides/slide255.xml"/><Relationship Id="rId277" Type="http://schemas.openxmlformats.org/officeDocument/2006/relationships/slide" Target="slides/slide276.xml"/><Relationship Id="rId298" Type="http://schemas.openxmlformats.org/officeDocument/2006/relationships/slide" Target="slides/slide297.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302" Type="http://schemas.openxmlformats.org/officeDocument/2006/relationships/slide" Target="slides/slide301.xml"/><Relationship Id="rId323" Type="http://schemas.openxmlformats.org/officeDocument/2006/relationships/slide" Target="slides/slide322.xml"/><Relationship Id="rId344" Type="http://schemas.openxmlformats.org/officeDocument/2006/relationships/font" Target="fonts/font1.fntdata"/><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slide" Target="slides/slide287.xml"/><Relationship Id="rId106" Type="http://schemas.openxmlformats.org/officeDocument/2006/relationships/slide" Target="slides/slide105.xml"/><Relationship Id="rId127" Type="http://schemas.openxmlformats.org/officeDocument/2006/relationships/slide" Target="slides/slide126.xml"/><Relationship Id="rId313" Type="http://schemas.openxmlformats.org/officeDocument/2006/relationships/slide" Target="slides/slide312.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94" Type="http://schemas.openxmlformats.org/officeDocument/2006/relationships/slide" Target="slides/slide93.xml"/><Relationship Id="rId148" Type="http://schemas.openxmlformats.org/officeDocument/2006/relationships/slide" Target="slides/slide147.xml"/><Relationship Id="rId169" Type="http://schemas.openxmlformats.org/officeDocument/2006/relationships/slide" Target="slides/slide168.xml"/><Relationship Id="rId334" Type="http://schemas.openxmlformats.org/officeDocument/2006/relationships/slide" Target="slides/slide333.xml"/><Relationship Id="rId4" Type="http://schemas.openxmlformats.org/officeDocument/2006/relationships/slide" Target="slides/slide3.xml"/><Relationship Id="rId180" Type="http://schemas.openxmlformats.org/officeDocument/2006/relationships/slide" Target="slides/slide17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 Id="rId303" Type="http://schemas.openxmlformats.org/officeDocument/2006/relationships/slide" Target="slides/slide302.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 Id="rId345" Type="http://schemas.openxmlformats.org/officeDocument/2006/relationships/font" Target="fonts/font2.fntdata"/><Relationship Id="rId191" Type="http://schemas.openxmlformats.org/officeDocument/2006/relationships/slide" Target="slides/slide190.xml"/><Relationship Id="rId205" Type="http://schemas.openxmlformats.org/officeDocument/2006/relationships/slide" Target="slides/slide204.xml"/><Relationship Id="rId247" Type="http://schemas.openxmlformats.org/officeDocument/2006/relationships/slide" Target="slides/slide246.xml"/><Relationship Id="rId107" Type="http://schemas.openxmlformats.org/officeDocument/2006/relationships/slide" Target="slides/slide106.xml"/><Relationship Id="rId289" Type="http://schemas.openxmlformats.org/officeDocument/2006/relationships/slide" Target="slides/slide288.xml"/><Relationship Id="rId11" Type="http://schemas.openxmlformats.org/officeDocument/2006/relationships/slide" Target="slides/slide10.xml"/><Relationship Id="rId53" Type="http://schemas.openxmlformats.org/officeDocument/2006/relationships/slide" Target="slides/slide52.xml"/><Relationship Id="rId149" Type="http://schemas.openxmlformats.org/officeDocument/2006/relationships/slide" Target="slides/slide148.xml"/><Relationship Id="rId314" Type="http://schemas.openxmlformats.org/officeDocument/2006/relationships/slide" Target="slides/slide313.xml"/><Relationship Id="rId95" Type="http://schemas.openxmlformats.org/officeDocument/2006/relationships/slide" Target="slides/slide94.xml"/><Relationship Id="rId160" Type="http://schemas.openxmlformats.org/officeDocument/2006/relationships/slide" Target="slides/slide159.xml"/><Relationship Id="rId216" Type="http://schemas.openxmlformats.org/officeDocument/2006/relationships/slide" Target="slides/slide215.xml"/><Relationship Id="rId258" Type="http://schemas.openxmlformats.org/officeDocument/2006/relationships/slide" Target="slides/slide257.xml"/><Relationship Id="rId22" Type="http://schemas.openxmlformats.org/officeDocument/2006/relationships/slide" Target="slides/slide21.xml"/><Relationship Id="rId64" Type="http://schemas.openxmlformats.org/officeDocument/2006/relationships/slide" Target="slides/slide63.xml"/><Relationship Id="rId118" Type="http://schemas.openxmlformats.org/officeDocument/2006/relationships/slide" Target="slides/slide117.xml"/><Relationship Id="rId325" Type="http://schemas.openxmlformats.org/officeDocument/2006/relationships/slide" Target="slides/slide324.xml"/><Relationship Id="rId171" Type="http://schemas.openxmlformats.org/officeDocument/2006/relationships/slide" Target="slides/slide170.xml"/><Relationship Id="rId227" Type="http://schemas.openxmlformats.org/officeDocument/2006/relationships/slide" Target="slides/slide226.xml"/><Relationship Id="rId269" Type="http://schemas.openxmlformats.org/officeDocument/2006/relationships/slide" Target="slides/slide268.xml"/><Relationship Id="rId33" Type="http://schemas.openxmlformats.org/officeDocument/2006/relationships/slide" Target="slides/slide32.xml"/><Relationship Id="rId129" Type="http://schemas.openxmlformats.org/officeDocument/2006/relationships/slide" Target="slides/slide128.xml"/><Relationship Id="rId280" Type="http://schemas.openxmlformats.org/officeDocument/2006/relationships/slide" Target="slides/slide279.xml"/><Relationship Id="rId336" Type="http://schemas.openxmlformats.org/officeDocument/2006/relationships/slide" Target="slides/slide335.xml"/><Relationship Id="rId75" Type="http://schemas.openxmlformats.org/officeDocument/2006/relationships/slide" Target="slides/slide74.xml"/><Relationship Id="rId140" Type="http://schemas.openxmlformats.org/officeDocument/2006/relationships/slide" Target="slides/slide139.xml"/><Relationship Id="rId182" Type="http://schemas.openxmlformats.org/officeDocument/2006/relationships/slide" Target="slides/slide181.xml"/><Relationship Id="rId6" Type="http://schemas.openxmlformats.org/officeDocument/2006/relationships/slide" Target="slides/slide5.xml"/><Relationship Id="rId238" Type="http://schemas.openxmlformats.org/officeDocument/2006/relationships/slide" Target="slides/slide237.xml"/><Relationship Id="rId291" Type="http://schemas.openxmlformats.org/officeDocument/2006/relationships/slide" Target="slides/slide290.xml"/><Relationship Id="rId305" Type="http://schemas.openxmlformats.org/officeDocument/2006/relationships/slide" Target="slides/slide304.xml"/><Relationship Id="rId347" Type="http://schemas.openxmlformats.org/officeDocument/2006/relationships/font" Target="fonts/font4.fntdata"/><Relationship Id="rId44" Type="http://schemas.openxmlformats.org/officeDocument/2006/relationships/slide" Target="slides/slide43.xml"/><Relationship Id="rId86" Type="http://schemas.openxmlformats.org/officeDocument/2006/relationships/slide" Target="slides/slide85.xml"/><Relationship Id="rId151" Type="http://schemas.openxmlformats.org/officeDocument/2006/relationships/slide" Target="slides/slide150.xml"/><Relationship Id="rId193" Type="http://schemas.openxmlformats.org/officeDocument/2006/relationships/slide" Target="slides/slide192.xml"/><Relationship Id="rId207" Type="http://schemas.openxmlformats.org/officeDocument/2006/relationships/slide" Target="slides/slide206.xml"/><Relationship Id="rId249" Type="http://schemas.openxmlformats.org/officeDocument/2006/relationships/slide" Target="slides/slide248.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316" Type="http://schemas.openxmlformats.org/officeDocument/2006/relationships/slide" Target="slides/slide315.xml"/><Relationship Id="rId55" Type="http://schemas.openxmlformats.org/officeDocument/2006/relationships/slide" Target="slides/slide54.xml"/><Relationship Id="rId97" Type="http://schemas.openxmlformats.org/officeDocument/2006/relationships/slide" Target="slides/slide96.xml"/><Relationship Id="rId120" Type="http://schemas.openxmlformats.org/officeDocument/2006/relationships/slide" Target="slides/slide119.xml"/><Relationship Id="rId162" Type="http://schemas.openxmlformats.org/officeDocument/2006/relationships/slide" Target="slides/slide161.xml"/><Relationship Id="rId218" Type="http://schemas.openxmlformats.org/officeDocument/2006/relationships/slide" Target="slides/slide217.xml"/><Relationship Id="rId271" Type="http://schemas.openxmlformats.org/officeDocument/2006/relationships/slide" Target="slides/slide270.xml"/><Relationship Id="rId24" Type="http://schemas.openxmlformats.org/officeDocument/2006/relationships/slide" Target="slides/slide23.xml"/><Relationship Id="rId66" Type="http://schemas.openxmlformats.org/officeDocument/2006/relationships/slide" Target="slides/slide65.xml"/><Relationship Id="rId131" Type="http://schemas.openxmlformats.org/officeDocument/2006/relationships/slide" Target="slides/slide130.xml"/><Relationship Id="rId327" Type="http://schemas.openxmlformats.org/officeDocument/2006/relationships/slide" Target="slides/slide326.xml"/><Relationship Id="rId173" Type="http://schemas.openxmlformats.org/officeDocument/2006/relationships/slide" Target="slides/slide172.xml"/><Relationship Id="rId229" Type="http://schemas.openxmlformats.org/officeDocument/2006/relationships/slide" Target="slides/slide228.xml"/><Relationship Id="rId240" Type="http://schemas.openxmlformats.org/officeDocument/2006/relationships/slide" Target="slides/slide239.xml"/><Relationship Id="rId35" Type="http://schemas.openxmlformats.org/officeDocument/2006/relationships/slide" Target="slides/slide34.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338" Type="http://schemas.openxmlformats.org/officeDocument/2006/relationships/slide" Target="slides/slide337.xml"/><Relationship Id="rId8" Type="http://schemas.openxmlformats.org/officeDocument/2006/relationships/slide" Target="slides/slide7.xml"/><Relationship Id="rId142" Type="http://schemas.openxmlformats.org/officeDocument/2006/relationships/slide" Target="slides/slide141.xml"/><Relationship Id="rId184" Type="http://schemas.openxmlformats.org/officeDocument/2006/relationships/slide" Target="slides/slide183.xml"/></Relationships>
</file>

<file path=ppt/diagrams/_rels/data14.xml.rels><?xml version="1.0" encoding="UTF-8" standalone="yes"?>
<Relationships xmlns="http://schemas.openxmlformats.org/package/2006/relationships"><Relationship Id="rId1" Type="http://schemas.openxmlformats.org/officeDocument/2006/relationships/image" Target="../media/image35.jpeg"/></Relationships>
</file>

<file path=ppt/diagrams/_rels/drawing14.xml.rels><?xml version="1.0" encoding="UTF-8" standalone="yes"?>
<Relationships xmlns="http://schemas.openxmlformats.org/package/2006/relationships"><Relationship Id="rId1" Type="http://schemas.openxmlformats.org/officeDocument/2006/relationships/image" Target="../media/image35.jpeg"/></Relationships>
</file>

<file path=ppt/diagrams/colors1.xml><?xml version="1.0" encoding="utf-8"?>
<dgm:colorsDef xmlns:dgm="http://schemas.openxmlformats.org/drawingml/2006/diagram" xmlns:a="http://schemas.openxmlformats.org/drawingml/2006/main" uniqueId="urn:microsoft.com/office/officeart/2005/8/colors/colorful1#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1#2">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colorful1#3">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colorful1#4">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colorful1#5">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colorful1#6">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colorful4">
  <dgm:title val=""/>
  <dgm:desc val=""/>
  <dgm:catLst>
    <dgm:cat type="colorful" pri="10400"/>
  </dgm:catLst>
  <dgm:styleLbl name="node0">
    <dgm:fillClrLst meth="repeat">
      <a:schemeClr val="accent3"/>
    </dgm:fillClrLst>
    <dgm:linClrLst meth="repeat">
      <a:schemeClr val="lt1"/>
    </dgm:linClrLst>
    <dgm:effectClrLst/>
    <dgm:txLinClrLst/>
    <dgm:txFillClrLst/>
    <dgm:txEffectClrLst/>
  </dgm:styleLbl>
  <dgm:styleLbl name="node1">
    <dgm:fillClrLst>
      <a:schemeClr val="accent4"/>
      <a:schemeClr val="accent5"/>
    </dgm:fillClrLst>
    <dgm:linClrLst meth="repeat">
      <a:schemeClr val="lt1"/>
    </dgm:linClrLst>
    <dgm:effectClrLst/>
    <dgm:txLinClrLst/>
    <dgm:txFillClrLst/>
    <dgm:txEffectClrLst/>
  </dgm:styleLbl>
  <dgm:styleLbl name="alignNode1">
    <dgm:fillClrLst>
      <a:schemeClr val="accent4"/>
      <a:schemeClr val="accent5"/>
    </dgm:fillClrLst>
    <dgm:linClrLst>
      <a:schemeClr val="accent4"/>
      <a:schemeClr val="accent5"/>
    </dgm:linClrLst>
    <dgm:effectClrLst/>
    <dgm:txLinClrLst/>
    <dgm:txFillClrLst/>
    <dgm:txEffectClrLst/>
  </dgm:styleLbl>
  <dgm:styleLbl name="lnNode1">
    <dgm:fillClrLst>
      <a:schemeClr val="accent4"/>
      <a:schemeClr val="accent5"/>
    </dgm:fillClrLst>
    <dgm:linClrLst meth="repeat">
      <a:schemeClr val="lt1"/>
    </dgm:linClrLst>
    <dgm:effectClrLst/>
    <dgm:txLinClrLst/>
    <dgm:txFillClrLst/>
    <dgm:txEffectClrLst/>
  </dgm:styleLbl>
  <dgm:styleLbl name="vennNode1">
    <dgm:fillClrLst>
      <a:schemeClr val="accent4">
        <a:alpha val="50000"/>
      </a:schemeClr>
      <a:schemeClr val="accent5">
        <a:alpha val="50000"/>
      </a:schemeClr>
    </dgm:fillClrLst>
    <dgm:linClrLst meth="repeat">
      <a:schemeClr val="lt1"/>
    </dgm:linClrLst>
    <dgm:effectClrLst/>
    <dgm:txLinClrLst/>
    <dgm:txFillClrLst/>
    <dgm:txEffectClrLst/>
  </dgm:styleLbl>
  <dgm:styleLbl name="node2">
    <dgm:fillClrLst>
      <a:schemeClr val="accent5"/>
    </dgm:fillClrLst>
    <dgm:linClrLst meth="repeat">
      <a:schemeClr val="lt1"/>
    </dgm:linClrLst>
    <dgm:effectClrLst/>
    <dgm:txLinClrLst/>
    <dgm:txFillClrLst/>
    <dgm:txEffectClrLst/>
  </dgm:styleLbl>
  <dgm:styleLbl name="node3">
    <dgm:fillClrLst>
      <a:schemeClr val="accent6"/>
    </dgm:fillClrLst>
    <dgm:linClrLst meth="repeat">
      <a:schemeClr val="lt1"/>
    </dgm:linClrLst>
    <dgm:effectClrLst/>
    <dgm:txLinClrLst/>
    <dgm:txFillClrLst/>
    <dgm:txEffectClrLst/>
  </dgm:styleLbl>
  <dgm:styleLbl name="node4">
    <dgm:fillClrLst>
      <a:schemeClr val="accent1"/>
    </dgm:fillClrLst>
    <dgm:linClrLst meth="repeat">
      <a:schemeClr val="lt1"/>
    </dgm:linClrLst>
    <dgm:effectClrLst/>
    <dgm:txLinClrLst/>
    <dgm:txFillClrLst/>
    <dgm:txEffectClrLst/>
  </dgm:styleLbl>
  <dgm:styleLbl name="fgImgPlace1">
    <dgm:fillClrLst>
      <a:schemeClr val="accent4">
        <a:tint val="50000"/>
      </a:schemeClr>
      <a:schemeClr val="accent5">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4"/>
      <a:schemeClr val="accent5"/>
    </dgm:fillClrLst>
    <dgm:linClrLst meth="repeat">
      <a:schemeClr val="lt1"/>
    </dgm:linClrLst>
    <dgm:effectClrLst/>
    <dgm:txLinClrLst/>
    <dgm:txFillClrLst/>
    <dgm:txEffectClrLst/>
  </dgm:styleLbl>
  <dgm:styleLbl name="fgSibTrans2D1">
    <dgm:fillClrLst>
      <a:schemeClr val="accent4"/>
      <a:schemeClr val="accent5"/>
    </dgm:fillClrLst>
    <dgm:linClrLst meth="repeat">
      <a:schemeClr val="lt1"/>
    </dgm:linClrLst>
    <dgm:effectClrLst/>
    <dgm:txLinClrLst/>
    <dgm:txFillClrLst meth="repeat">
      <a:schemeClr val="lt1"/>
    </dgm:txFillClrLst>
    <dgm:txEffectClrLst/>
  </dgm:styleLbl>
  <dgm:styleLbl name="bgSibTrans2D1">
    <dgm:fillClrLst>
      <a:schemeClr val="accent4"/>
      <a:schemeClr val="accent5"/>
    </dgm:fillClrLst>
    <dgm:linClrLst meth="repeat">
      <a:schemeClr val="lt1"/>
    </dgm:linClrLst>
    <dgm:effectClrLst/>
    <dgm:txLinClrLst/>
    <dgm:txFillClrLst meth="repeat">
      <a:schemeClr val="lt1"/>
    </dgm:txFillClrLst>
    <dgm:txEffectClrLst/>
  </dgm:styleLbl>
  <dgm:styleLbl name="sibTrans1D1">
    <dgm:fillClrLst/>
    <dgm:linClrLst>
      <a:schemeClr val="accent4"/>
      <a:schemeClr val="accent5"/>
    </dgm:linClrLst>
    <dgm:effectClrLst/>
    <dgm:txLinClrLst/>
    <dgm:txFillClrLst meth="repeat">
      <a:schemeClr val="tx1"/>
    </dgm:txFillClrLst>
    <dgm:txEffectClrLst/>
  </dgm:styleLbl>
  <dgm:styleLbl name="callout">
    <dgm:fillClrLst meth="repeat">
      <a:schemeClr val="accent4"/>
    </dgm:fillClrLst>
    <dgm:linClrLst meth="repeat">
      <a:schemeClr val="accent4">
        <a:tint val="50000"/>
      </a:schemeClr>
    </dgm:linClrLst>
    <dgm:effectClrLst/>
    <dgm:txLinClrLst/>
    <dgm:txFillClrLst meth="repeat">
      <a:schemeClr val="tx1"/>
    </dgm:txFillClrLst>
    <dgm:txEffectClrLst/>
  </dgm:styleLbl>
  <dgm:styleLbl name="asst0">
    <dgm:fillClrLst meth="repeat">
      <a:schemeClr val="accent4"/>
    </dgm:fillClrLst>
    <dgm:linClrLst meth="repeat">
      <a:schemeClr val="lt1">
        <a:shade val="80000"/>
      </a:schemeClr>
    </dgm:linClrLst>
    <dgm:effectClrLst/>
    <dgm:txLinClrLst/>
    <dgm:txFillClrLst/>
    <dgm:txEffectClrLst/>
  </dgm:styleLbl>
  <dgm:styleLbl name="asst1">
    <dgm:fillClrLst meth="repeat">
      <a:schemeClr val="accent5"/>
    </dgm:fillClrLst>
    <dgm:linClrLst meth="repeat">
      <a:schemeClr val="lt1">
        <a:shade val="80000"/>
      </a:schemeClr>
    </dgm:linClrLst>
    <dgm:effectClrLst/>
    <dgm:txLinClrLst/>
    <dgm:txFillClrLst/>
    <dgm:txEffectClrLst/>
  </dgm:styleLbl>
  <dgm:styleLbl name="asst2">
    <dgm:fillClrLst>
      <a:schemeClr val="accent6"/>
    </dgm:fillClrLst>
    <dgm:linClrLst meth="repeat">
      <a:schemeClr val="lt1"/>
    </dgm:linClrLst>
    <dgm:effectClrLst/>
    <dgm:txLinClrLst/>
    <dgm:txFillClrLst/>
    <dgm:txEffectClrLst/>
  </dgm:styleLbl>
  <dgm:styleLbl name="asst3">
    <dgm:fillClrLst>
      <a:schemeClr val="accent1"/>
    </dgm:fillClrLst>
    <dgm:linClrLst meth="repeat">
      <a:schemeClr val="lt1"/>
    </dgm:linClrLst>
    <dgm:effectClrLst/>
    <dgm:txLinClrLst/>
    <dgm:txFillClrLst/>
    <dgm:txEffectClrLst/>
  </dgm:styleLbl>
  <dgm:styleLbl name="asst4">
    <dgm:fillClrLst>
      <a:schemeClr val="accent2"/>
    </dgm:fillClrLst>
    <dgm:linClrLst meth="repeat">
      <a:schemeClr val="lt1"/>
    </dgm:linClrLst>
    <dgm:effectClrLst/>
    <dgm:txLinClrLst/>
    <dgm:txFillClrLst/>
    <dgm:txEffectClrLst/>
  </dgm:styleLbl>
  <dgm:styleLbl name="parChTrans2D1">
    <dgm:fillClrLst meth="repeat">
      <a:schemeClr val="accent4"/>
    </dgm:fillClrLst>
    <dgm:linClrLst meth="repeat">
      <a:schemeClr val="lt1"/>
    </dgm:linClrLst>
    <dgm:effectClrLst/>
    <dgm:txLinClrLst/>
    <dgm:txFillClrLst meth="repeat">
      <a:schemeClr val="lt1"/>
    </dgm:txFillClrLst>
    <dgm:txEffectClrLst/>
  </dgm:styleLbl>
  <dgm:styleLbl name="parChTrans2D2">
    <dgm:fillClrLst meth="repeat">
      <a:schemeClr val="accent5"/>
    </dgm:fillClrLst>
    <dgm:linClrLst meth="repeat">
      <a:schemeClr val="lt1"/>
    </dgm:linClrLst>
    <dgm:effectClrLst/>
    <dgm:txLinClrLst/>
    <dgm:txFillClrLst/>
    <dgm:txEffectClrLst/>
  </dgm:styleLbl>
  <dgm:styleLbl name="parChTrans2D3">
    <dgm:fillClrLst meth="repeat">
      <a:schemeClr val="accent5"/>
    </dgm:fillClrLst>
    <dgm:linClrLst meth="repeat">
      <a:schemeClr val="lt1"/>
    </dgm:linClrLst>
    <dgm:effectClrLst/>
    <dgm:txLinClrLst/>
    <dgm:txFillClrLst/>
    <dgm:txEffectClrLst/>
  </dgm:styleLbl>
  <dgm:styleLbl name="parChTrans2D4">
    <dgm:fillClrLst meth="repeat">
      <a:schemeClr val="accent6"/>
    </dgm:fillClrLst>
    <dgm:linClrLst meth="repeat">
      <a:schemeClr val="lt1"/>
    </dgm:linClrLst>
    <dgm:effectClrLst/>
    <dgm:txLinClrLst/>
    <dgm:txFillClrLst meth="repeat">
      <a:schemeClr val="lt1"/>
    </dgm:txFillClrLst>
    <dgm:txEffectClrLst/>
  </dgm:styleLbl>
  <dgm:styleLbl name="parChTrans1D1">
    <dgm:fillClrLst meth="repeat">
      <a:schemeClr val="accent4"/>
    </dgm:fillClrLst>
    <dgm:linClrLst meth="repeat">
      <a:schemeClr val="accent4"/>
    </dgm:linClrLst>
    <dgm:effectClrLst/>
    <dgm:txLinClrLst/>
    <dgm:txFillClrLst meth="repeat">
      <a:schemeClr val="tx1"/>
    </dgm:txFillClrLst>
    <dgm:txEffectClrLst/>
  </dgm:styleLbl>
  <dgm:styleLbl name="parChTrans1D2">
    <dgm:fillClrLst meth="repeat">
      <a:schemeClr val="accent4">
        <a:tint val="90000"/>
      </a:schemeClr>
    </dgm:fillClrLst>
    <dgm:linClrLst meth="repeat">
      <a:schemeClr val="accent5"/>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6"/>
    </dgm:linClrLst>
    <dgm:effectClrLst/>
    <dgm:txLinClrLst/>
    <dgm:txFillClrLst meth="repeat">
      <a:schemeClr val="tx1"/>
    </dgm:txFillClrLst>
    <dgm:txEffectClrLst/>
  </dgm:styleLbl>
  <dgm:styleLbl name="parChTrans1D4">
    <dgm:fillClrLst meth="repeat">
      <a:schemeClr val="accent4">
        <a:tint val="50000"/>
      </a:schemeClr>
    </dgm:fillClrLst>
    <dgm:linClrLst meth="repeat">
      <a:schemeClr val="accent1"/>
    </dgm:linClrLst>
    <dgm:effectClrLst/>
    <dgm:txLinClrLst/>
    <dgm:txFillClrLst meth="repeat">
      <a:schemeClr val="tx1"/>
    </dgm:txFillClrLst>
    <dgm:txEffectClrLst/>
  </dgm:styleLbl>
  <dgm:styleLbl name="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con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align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4"/>
    </dgm:linClrLst>
    <dgm:effectClrLst/>
    <dgm:txLinClrLst/>
    <dgm:txFillClrLst meth="repeat">
      <a:schemeClr val="dk1"/>
    </dgm:txFillClrLst>
    <dgm:txEffectClrLst/>
  </dgm:styleLbl>
  <dgm:styleLbl name="b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solidFgAcc1">
    <dgm:fillClrLst meth="repeat">
      <a:schemeClr val="lt1"/>
    </dgm:fillClrLst>
    <dgm:linClrLst>
      <a:schemeClr val="accent4"/>
      <a:schemeClr val="accent5"/>
    </dgm:linClrLst>
    <dgm:effectClrLst/>
    <dgm:txLinClrLst/>
    <dgm:txFillClrLst meth="repeat">
      <a:schemeClr val="dk1"/>
    </dgm:txFillClrLst>
    <dgm:txEffectClrLst/>
  </dgm:styleLbl>
  <dgm:styleLbl name="solidAlignAcc1">
    <dgm:fillClrLst meth="repeat">
      <a:schemeClr val="lt1"/>
    </dgm:fillClrLst>
    <dgm:linClrLst>
      <a:schemeClr val="accent4"/>
      <a:schemeClr val="accent5"/>
    </dgm:linClrLst>
    <dgm:effectClrLst/>
    <dgm:txLinClrLst/>
    <dgm:txFillClrLst meth="repeat">
      <a:schemeClr val="dk1"/>
    </dgm:txFillClrLst>
    <dgm:txEffectClrLst/>
  </dgm:styleLbl>
  <dgm:styleLbl name="solidBgAcc1">
    <dgm:fillClrLst meth="repeat">
      <a:schemeClr val="lt1"/>
    </dgm:fillClrLst>
    <dgm:linClrLst>
      <a:schemeClr val="accent4"/>
      <a:schemeClr val="accent5"/>
    </dgm:linClrLst>
    <dgm:effectClrLst/>
    <dgm:txLinClrLst/>
    <dgm:txFillClrLst meth="repeat">
      <a:schemeClr val="dk1"/>
    </dgm:txFillClrLst>
    <dgm:txEffectClrLst/>
  </dgm:styleLbl>
  <dgm:styleLbl name="f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b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5"/>
    </dgm:linClrLst>
    <dgm:effectClrLst/>
    <dgm:txLinClrLst/>
    <dgm:txFillClrLst meth="repeat">
      <a:schemeClr val="dk1"/>
    </dgm:txFillClrLst>
    <dgm:txEffectClrLst/>
  </dgm:styleLbl>
  <dgm:styleLbl name="fgAcc3">
    <dgm:fillClrLst meth="repeat">
      <a:schemeClr val="lt1">
        <a:alpha val="90000"/>
      </a:schemeClr>
    </dgm:fillClrLst>
    <dgm:linClrLst>
      <a:schemeClr val="accent6"/>
    </dgm:linClrLst>
    <dgm:effectClrLst/>
    <dgm:txLinClrLst/>
    <dgm:txFillClrLst meth="repeat">
      <a:schemeClr val="dk1"/>
    </dgm:txFillClrLst>
    <dgm:txEffectClrLst/>
  </dgm:styleLbl>
  <dgm:styleLbl name="fgAcc4">
    <dgm:fillClrLst meth="repeat">
      <a:schemeClr val="lt1">
        <a:alpha val="90000"/>
      </a:schemeClr>
    </dgm:fillClrLst>
    <dgm:linClrLst>
      <a:schemeClr val="accent1"/>
    </dgm:linClrLst>
    <dgm:effectClrLst/>
    <dgm:txLinClrLst/>
    <dgm:txFillClrLst meth="repeat">
      <a:schemeClr val="dk1"/>
    </dgm:txFillClrLst>
    <dgm:txEffectClrLst/>
  </dgm:styleLbl>
  <dgm:styleLbl name="bgShp">
    <dgm:fillClrLst meth="repeat">
      <a:schemeClr val="accent4">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4">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4">
        <a:tint val="50000"/>
        <a:alpha val="40000"/>
      </a:schemeClr>
    </dgm:fillClrLst>
    <dgm:linClrLst meth="repeat">
      <a:schemeClr val="accent4"/>
    </dgm:linClrLst>
    <dgm:effectClrLst/>
    <dgm:txLinClrLst/>
    <dgm:txFillClrLst meth="repeat">
      <a:schemeClr val="lt1"/>
    </dgm:txFillClrLst>
    <dgm:txEffectClrLst/>
  </dgm:styleLbl>
  <dgm:styleLbl name="fgShp">
    <dgm:fillClrLst meth="repeat">
      <a:schemeClr val="accent4">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colorful1#7">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xml><?xml version="1.0" encoding="utf-8"?>
<dgm:colorsDef xmlns:dgm="http://schemas.openxmlformats.org/drawingml/2006/diagram" xmlns:a="http://schemas.openxmlformats.org/drawingml/2006/main" uniqueId="urn:microsoft.com/office/officeart/2005/8/colors/colorful4">
  <dgm:title val=""/>
  <dgm:desc val=""/>
  <dgm:catLst>
    <dgm:cat type="colorful" pri="10400"/>
  </dgm:catLst>
  <dgm:styleLbl name="node0">
    <dgm:fillClrLst meth="repeat">
      <a:schemeClr val="accent3"/>
    </dgm:fillClrLst>
    <dgm:linClrLst meth="repeat">
      <a:schemeClr val="lt1"/>
    </dgm:linClrLst>
    <dgm:effectClrLst/>
    <dgm:txLinClrLst/>
    <dgm:txFillClrLst/>
    <dgm:txEffectClrLst/>
  </dgm:styleLbl>
  <dgm:styleLbl name="node1">
    <dgm:fillClrLst>
      <a:schemeClr val="accent4"/>
      <a:schemeClr val="accent5"/>
    </dgm:fillClrLst>
    <dgm:linClrLst meth="repeat">
      <a:schemeClr val="lt1"/>
    </dgm:linClrLst>
    <dgm:effectClrLst/>
    <dgm:txLinClrLst/>
    <dgm:txFillClrLst/>
    <dgm:txEffectClrLst/>
  </dgm:styleLbl>
  <dgm:styleLbl name="alignNode1">
    <dgm:fillClrLst>
      <a:schemeClr val="accent4"/>
      <a:schemeClr val="accent5"/>
    </dgm:fillClrLst>
    <dgm:linClrLst>
      <a:schemeClr val="accent4"/>
      <a:schemeClr val="accent5"/>
    </dgm:linClrLst>
    <dgm:effectClrLst/>
    <dgm:txLinClrLst/>
    <dgm:txFillClrLst/>
    <dgm:txEffectClrLst/>
  </dgm:styleLbl>
  <dgm:styleLbl name="lnNode1">
    <dgm:fillClrLst>
      <a:schemeClr val="accent4"/>
      <a:schemeClr val="accent5"/>
    </dgm:fillClrLst>
    <dgm:linClrLst meth="repeat">
      <a:schemeClr val="lt1"/>
    </dgm:linClrLst>
    <dgm:effectClrLst/>
    <dgm:txLinClrLst/>
    <dgm:txFillClrLst/>
    <dgm:txEffectClrLst/>
  </dgm:styleLbl>
  <dgm:styleLbl name="vennNode1">
    <dgm:fillClrLst>
      <a:schemeClr val="accent4">
        <a:alpha val="50000"/>
      </a:schemeClr>
      <a:schemeClr val="accent5">
        <a:alpha val="50000"/>
      </a:schemeClr>
    </dgm:fillClrLst>
    <dgm:linClrLst meth="repeat">
      <a:schemeClr val="lt1"/>
    </dgm:linClrLst>
    <dgm:effectClrLst/>
    <dgm:txLinClrLst/>
    <dgm:txFillClrLst/>
    <dgm:txEffectClrLst/>
  </dgm:styleLbl>
  <dgm:styleLbl name="node2">
    <dgm:fillClrLst>
      <a:schemeClr val="accent5"/>
    </dgm:fillClrLst>
    <dgm:linClrLst meth="repeat">
      <a:schemeClr val="lt1"/>
    </dgm:linClrLst>
    <dgm:effectClrLst/>
    <dgm:txLinClrLst/>
    <dgm:txFillClrLst/>
    <dgm:txEffectClrLst/>
  </dgm:styleLbl>
  <dgm:styleLbl name="node3">
    <dgm:fillClrLst>
      <a:schemeClr val="accent6"/>
    </dgm:fillClrLst>
    <dgm:linClrLst meth="repeat">
      <a:schemeClr val="lt1"/>
    </dgm:linClrLst>
    <dgm:effectClrLst/>
    <dgm:txLinClrLst/>
    <dgm:txFillClrLst/>
    <dgm:txEffectClrLst/>
  </dgm:styleLbl>
  <dgm:styleLbl name="node4">
    <dgm:fillClrLst>
      <a:schemeClr val="accent1"/>
    </dgm:fillClrLst>
    <dgm:linClrLst meth="repeat">
      <a:schemeClr val="lt1"/>
    </dgm:linClrLst>
    <dgm:effectClrLst/>
    <dgm:txLinClrLst/>
    <dgm:txFillClrLst/>
    <dgm:txEffectClrLst/>
  </dgm:styleLbl>
  <dgm:styleLbl name="fgImgPlace1">
    <dgm:fillClrLst>
      <a:schemeClr val="accent4">
        <a:tint val="50000"/>
      </a:schemeClr>
      <a:schemeClr val="accent5">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4"/>
      <a:schemeClr val="accent5"/>
    </dgm:fillClrLst>
    <dgm:linClrLst meth="repeat">
      <a:schemeClr val="lt1"/>
    </dgm:linClrLst>
    <dgm:effectClrLst/>
    <dgm:txLinClrLst/>
    <dgm:txFillClrLst/>
    <dgm:txEffectClrLst/>
  </dgm:styleLbl>
  <dgm:styleLbl name="fgSibTrans2D1">
    <dgm:fillClrLst>
      <a:schemeClr val="accent4"/>
      <a:schemeClr val="accent5"/>
    </dgm:fillClrLst>
    <dgm:linClrLst meth="repeat">
      <a:schemeClr val="lt1"/>
    </dgm:linClrLst>
    <dgm:effectClrLst/>
    <dgm:txLinClrLst/>
    <dgm:txFillClrLst meth="repeat">
      <a:schemeClr val="lt1"/>
    </dgm:txFillClrLst>
    <dgm:txEffectClrLst/>
  </dgm:styleLbl>
  <dgm:styleLbl name="bgSibTrans2D1">
    <dgm:fillClrLst>
      <a:schemeClr val="accent4"/>
      <a:schemeClr val="accent5"/>
    </dgm:fillClrLst>
    <dgm:linClrLst meth="repeat">
      <a:schemeClr val="lt1"/>
    </dgm:linClrLst>
    <dgm:effectClrLst/>
    <dgm:txLinClrLst/>
    <dgm:txFillClrLst meth="repeat">
      <a:schemeClr val="lt1"/>
    </dgm:txFillClrLst>
    <dgm:txEffectClrLst/>
  </dgm:styleLbl>
  <dgm:styleLbl name="sibTrans1D1">
    <dgm:fillClrLst/>
    <dgm:linClrLst>
      <a:schemeClr val="accent4"/>
      <a:schemeClr val="accent5"/>
    </dgm:linClrLst>
    <dgm:effectClrLst/>
    <dgm:txLinClrLst/>
    <dgm:txFillClrLst meth="repeat">
      <a:schemeClr val="tx1"/>
    </dgm:txFillClrLst>
    <dgm:txEffectClrLst/>
  </dgm:styleLbl>
  <dgm:styleLbl name="callout">
    <dgm:fillClrLst meth="repeat">
      <a:schemeClr val="accent4"/>
    </dgm:fillClrLst>
    <dgm:linClrLst meth="repeat">
      <a:schemeClr val="accent4">
        <a:tint val="50000"/>
      </a:schemeClr>
    </dgm:linClrLst>
    <dgm:effectClrLst/>
    <dgm:txLinClrLst/>
    <dgm:txFillClrLst meth="repeat">
      <a:schemeClr val="tx1"/>
    </dgm:txFillClrLst>
    <dgm:txEffectClrLst/>
  </dgm:styleLbl>
  <dgm:styleLbl name="asst0">
    <dgm:fillClrLst meth="repeat">
      <a:schemeClr val="accent4"/>
    </dgm:fillClrLst>
    <dgm:linClrLst meth="repeat">
      <a:schemeClr val="lt1">
        <a:shade val="80000"/>
      </a:schemeClr>
    </dgm:linClrLst>
    <dgm:effectClrLst/>
    <dgm:txLinClrLst/>
    <dgm:txFillClrLst/>
    <dgm:txEffectClrLst/>
  </dgm:styleLbl>
  <dgm:styleLbl name="asst1">
    <dgm:fillClrLst meth="repeat">
      <a:schemeClr val="accent5"/>
    </dgm:fillClrLst>
    <dgm:linClrLst meth="repeat">
      <a:schemeClr val="lt1">
        <a:shade val="80000"/>
      </a:schemeClr>
    </dgm:linClrLst>
    <dgm:effectClrLst/>
    <dgm:txLinClrLst/>
    <dgm:txFillClrLst/>
    <dgm:txEffectClrLst/>
  </dgm:styleLbl>
  <dgm:styleLbl name="asst2">
    <dgm:fillClrLst>
      <a:schemeClr val="accent6"/>
    </dgm:fillClrLst>
    <dgm:linClrLst meth="repeat">
      <a:schemeClr val="lt1"/>
    </dgm:linClrLst>
    <dgm:effectClrLst/>
    <dgm:txLinClrLst/>
    <dgm:txFillClrLst/>
    <dgm:txEffectClrLst/>
  </dgm:styleLbl>
  <dgm:styleLbl name="asst3">
    <dgm:fillClrLst>
      <a:schemeClr val="accent1"/>
    </dgm:fillClrLst>
    <dgm:linClrLst meth="repeat">
      <a:schemeClr val="lt1"/>
    </dgm:linClrLst>
    <dgm:effectClrLst/>
    <dgm:txLinClrLst/>
    <dgm:txFillClrLst/>
    <dgm:txEffectClrLst/>
  </dgm:styleLbl>
  <dgm:styleLbl name="asst4">
    <dgm:fillClrLst>
      <a:schemeClr val="accent2"/>
    </dgm:fillClrLst>
    <dgm:linClrLst meth="repeat">
      <a:schemeClr val="lt1"/>
    </dgm:linClrLst>
    <dgm:effectClrLst/>
    <dgm:txLinClrLst/>
    <dgm:txFillClrLst/>
    <dgm:txEffectClrLst/>
  </dgm:styleLbl>
  <dgm:styleLbl name="parChTrans2D1">
    <dgm:fillClrLst meth="repeat">
      <a:schemeClr val="accent4"/>
    </dgm:fillClrLst>
    <dgm:linClrLst meth="repeat">
      <a:schemeClr val="lt1"/>
    </dgm:linClrLst>
    <dgm:effectClrLst/>
    <dgm:txLinClrLst/>
    <dgm:txFillClrLst meth="repeat">
      <a:schemeClr val="lt1"/>
    </dgm:txFillClrLst>
    <dgm:txEffectClrLst/>
  </dgm:styleLbl>
  <dgm:styleLbl name="parChTrans2D2">
    <dgm:fillClrLst meth="repeat">
      <a:schemeClr val="accent5"/>
    </dgm:fillClrLst>
    <dgm:linClrLst meth="repeat">
      <a:schemeClr val="lt1"/>
    </dgm:linClrLst>
    <dgm:effectClrLst/>
    <dgm:txLinClrLst/>
    <dgm:txFillClrLst/>
    <dgm:txEffectClrLst/>
  </dgm:styleLbl>
  <dgm:styleLbl name="parChTrans2D3">
    <dgm:fillClrLst meth="repeat">
      <a:schemeClr val="accent5"/>
    </dgm:fillClrLst>
    <dgm:linClrLst meth="repeat">
      <a:schemeClr val="lt1"/>
    </dgm:linClrLst>
    <dgm:effectClrLst/>
    <dgm:txLinClrLst/>
    <dgm:txFillClrLst/>
    <dgm:txEffectClrLst/>
  </dgm:styleLbl>
  <dgm:styleLbl name="parChTrans2D4">
    <dgm:fillClrLst meth="repeat">
      <a:schemeClr val="accent6"/>
    </dgm:fillClrLst>
    <dgm:linClrLst meth="repeat">
      <a:schemeClr val="lt1"/>
    </dgm:linClrLst>
    <dgm:effectClrLst/>
    <dgm:txLinClrLst/>
    <dgm:txFillClrLst meth="repeat">
      <a:schemeClr val="lt1"/>
    </dgm:txFillClrLst>
    <dgm:txEffectClrLst/>
  </dgm:styleLbl>
  <dgm:styleLbl name="parChTrans1D1">
    <dgm:fillClrLst meth="repeat">
      <a:schemeClr val="accent4"/>
    </dgm:fillClrLst>
    <dgm:linClrLst meth="repeat">
      <a:schemeClr val="accent4"/>
    </dgm:linClrLst>
    <dgm:effectClrLst/>
    <dgm:txLinClrLst/>
    <dgm:txFillClrLst meth="repeat">
      <a:schemeClr val="tx1"/>
    </dgm:txFillClrLst>
    <dgm:txEffectClrLst/>
  </dgm:styleLbl>
  <dgm:styleLbl name="parChTrans1D2">
    <dgm:fillClrLst meth="repeat">
      <a:schemeClr val="accent4">
        <a:tint val="90000"/>
      </a:schemeClr>
    </dgm:fillClrLst>
    <dgm:linClrLst meth="repeat">
      <a:schemeClr val="accent5"/>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6"/>
    </dgm:linClrLst>
    <dgm:effectClrLst/>
    <dgm:txLinClrLst/>
    <dgm:txFillClrLst meth="repeat">
      <a:schemeClr val="tx1"/>
    </dgm:txFillClrLst>
    <dgm:txEffectClrLst/>
  </dgm:styleLbl>
  <dgm:styleLbl name="parChTrans1D4">
    <dgm:fillClrLst meth="repeat">
      <a:schemeClr val="accent4">
        <a:tint val="50000"/>
      </a:schemeClr>
    </dgm:fillClrLst>
    <dgm:linClrLst meth="repeat">
      <a:schemeClr val="accent1"/>
    </dgm:linClrLst>
    <dgm:effectClrLst/>
    <dgm:txLinClrLst/>
    <dgm:txFillClrLst meth="repeat">
      <a:schemeClr val="tx1"/>
    </dgm:txFillClrLst>
    <dgm:txEffectClrLst/>
  </dgm:styleLbl>
  <dgm:styleLbl name="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con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align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4"/>
    </dgm:linClrLst>
    <dgm:effectClrLst/>
    <dgm:txLinClrLst/>
    <dgm:txFillClrLst meth="repeat">
      <a:schemeClr val="dk1"/>
    </dgm:txFillClrLst>
    <dgm:txEffectClrLst/>
  </dgm:styleLbl>
  <dgm:styleLbl name="b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solidFgAcc1">
    <dgm:fillClrLst meth="repeat">
      <a:schemeClr val="lt1"/>
    </dgm:fillClrLst>
    <dgm:linClrLst>
      <a:schemeClr val="accent4"/>
      <a:schemeClr val="accent5"/>
    </dgm:linClrLst>
    <dgm:effectClrLst/>
    <dgm:txLinClrLst/>
    <dgm:txFillClrLst meth="repeat">
      <a:schemeClr val="dk1"/>
    </dgm:txFillClrLst>
    <dgm:txEffectClrLst/>
  </dgm:styleLbl>
  <dgm:styleLbl name="solidAlignAcc1">
    <dgm:fillClrLst meth="repeat">
      <a:schemeClr val="lt1"/>
    </dgm:fillClrLst>
    <dgm:linClrLst>
      <a:schemeClr val="accent4"/>
      <a:schemeClr val="accent5"/>
    </dgm:linClrLst>
    <dgm:effectClrLst/>
    <dgm:txLinClrLst/>
    <dgm:txFillClrLst meth="repeat">
      <a:schemeClr val="dk1"/>
    </dgm:txFillClrLst>
    <dgm:txEffectClrLst/>
  </dgm:styleLbl>
  <dgm:styleLbl name="solidBgAcc1">
    <dgm:fillClrLst meth="repeat">
      <a:schemeClr val="lt1"/>
    </dgm:fillClrLst>
    <dgm:linClrLst>
      <a:schemeClr val="accent4"/>
      <a:schemeClr val="accent5"/>
    </dgm:linClrLst>
    <dgm:effectClrLst/>
    <dgm:txLinClrLst/>
    <dgm:txFillClrLst meth="repeat">
      <a:schemeClr val="dk1"/>
    </dgm:txFillClrLst>
    <dgm:txEffectClrLst/>
  </dgm:styleLbl>
  <dgm:styleLbl name="f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b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5"/>
    </dgm:linClrLst>
    <dgm:effectClrLst/>
    <dgm:txLinClrLst/>
    <dgm:txFillClrLst meth="repeat">
      <a:schemeClr val="dk1"/>
    </dgm:txFillClrLst>
    <dgm:txEffectClrLst/>
  </dgm:styleLbl>
  <dgm:styleLbl name="fgAcc3">
    <dgm:fillClrLst meth="repeat">
      <a:schemeClr val="lt1">
        <a:alpha val="90000"/>
      </a:schemeClr>
    </dgm:fillClrLst>
    <dgm:linClrLst>
      <a:schemeClr val="accent6"/>
    </dgm:linClrLst>
    <dgm:effectClrLst/>
    <dgm:txLinClrLst/>
    <dgm:txFillClrLst meth="repeat">
      <a:schemeClr val="dk1"/>
    </dgm:txFillClrLst>
    <dgm:txEffectClrLst/>
  </dgm:styleLbl>
  <dgm:styleLbl name="fgAcc4">
    <dgm:fillClrLst meth="repeat">
      <a:schemeClr val="lt1">
        <a:alpha val="90000"/>
      </a:schemeClr>
    </dgm:fillClrLst>
    <dgm:linClrLst>
      <a:schemeClr val="accent1"/>
    </dgm:linClrLst>
    <dgm:effectClrLst/>
    <dgm:txLinClrLst/>
    <dgm:txFillClrLst meth="repeat">
      <a:schemeClr val="dk1"/>
    </dgm:txFillClrLst>
    <dgm:txEffectClrLst/>
  </dgm:styleLbl>
  <dgm:styleLbl name="bgShp">
    <dgm:fillClrLst meth="repeat">
      <a:schemeClr val="accent4">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4">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4">
        <a:tint val="50000"/>
        <a:alpha val="40000"/>
      </a:schemeClr>
    </dgm:fillClrLst>
    <dgm:linClrLst meth="repeat">
      <a:schemeClr val="accent4"/>
    </dgm:linClrLst>
    <dgm:effectClrLst/>
    <dgm:txLinClrLst/>
    <dgm:txFillClrLst meth="repeat">
      <a:schemeClr val="lt1"/>
    </dgm:txFillClrLst>
    <dgm:txEffectClrLst/>
  </dgm:styleLbl>
  <dgm:styleLbl name="fgShp">
    <dgm:fillClrLst meth="repeat">
      <a:schemeClr val="accent4">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xml><?xml version="1.0" encoding="utf-8"?>
<dgm:colorsDef xmlns:dgm="http://schemas.openxmlformats.org/drawingml/2006/diagram" xmlns:a="http://schemas.openxmlformats.org/drawingml/2006/main" uniqueId="urn:microsoft.com/office/officeart/2005/8/colors/colorful1#8">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xml><?xml version="1.0" encoding="utf-8"?>
<dgm:colorsDef xmlns:dgm="http://schemas.openxmlformats.org/drawingml/2006/diagram" xmlns:a="http://schemas.openxmlformats.org/drawingml/2006/main" uniqueId="urn:microsoft.com/office/officeart/2005/8/colors/colorful1#9">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xml><?xml version="1.0" encoding="utf-8"?>
<dgm:colorsDef xmlns:dgm="http://schemas.openxmlformats.org/drawingml/2006/diagram" xmlns:a="http://schemas.openxmlformats.org/drawingml/2006/main" uniqueId="urn:microsoft.com/office/officeart/2005/8/colors/colorful1#10">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11E8D4AF-C3E5-4296-8051-0B2F71547B54}" type="doc">
      <dgm:prSet loTypeId="urn:microsoft.com/office/officeart/2005/8/layout/hList1" loCatId="list" qsTypeId="urn:microsoft.com/office/officeart/2005/8/quickstyle/simple1" qsCatId="simple" csTypeId="urn:microsoft.com/office/officeart/2005/8/colors/colorful1#1" csCatId="colorful" phldr="1"/>
      <dgm:spPr/>
      <dgm:t>
        <a:bodyPr/>
        <a:lstStyle/>
        <a:p>
          <a:endParaRPr lang="zh-CN" altLang="en-US"/>
        </a:p>
      </dgm:t>
    </dgm:pt>
    <dgm:pt modelId="{1D1D2F34-C7FA-4AB6-9F6A-8ADE395C1D21}">
      <dgm:prSet phldrT="[文本]" custT="1"/>
      <dgm:spPr/>
      <dgm:t>
        <a:bodyPr/>
        <a:lstStyle/>
        <a:p>
          <a:pPr>
            <a:lnSpc>
              <a:spcPct val="100000"/>
            </a:lnSpc>
            <a:spcAft>
              <a:spcPct val="20000"/>
            </a:spcAft>
          </a:pPr>
          <a:r>
            <a:rPr lang="zh-CN" altLang="zh-CN" sz="1600" b="1" dirty="0">
              <a:latin typeface="微软雅黑" panose="020B0503020204020204" pitchFamily="34" charset="-122"/>
              <a:ea typeface="微软雅黑" panose="020B0503020204020204" pitchFamily="34" charset="-122"/>
            </a:rPr>
            <a:t>数据层面</a:t>
          </a:r>
          <a:endParaRPr lang="zh-CN" altLang="en-US" sz="1600" b="1" dirty="0">
            <a:latin typeface="微软雅黑" panose="020B0503020204020204" pitchFamily="34" charset="-122"/>
            <a:ea typeface="微软雅黑" panose="020B0503020204020204" pitchFamily="34" charset="-122"/>
          </a:endParaRPr>
        </a:p>
      </dgm:t>
    </dgm:pt>
    <dgm:pt modelId="{823E78B8-C518-42AA-B742-F63C09C24725}" type="parTrans" cxnId="{CE6B0C5F-6082-4B18-B949-9E4AAF3E1530}">
      <dgm:prSet/>
      <dgm:spPr/>
      <dgm:t>
        <a:bodyPr/>
        <a:lstStyle/>
        <a:p>
          <a:endParaRPr lang="zh-CN" altLang="en-US"/>
        </a:p>
      </dgm:t>
    </dgm:pt>
    <dgm:pt modelId="{BE6E7425-9E56-4DFD-A344-6EEBA290BBA4}" type="sibTrans" cxnId="{CE6B0C5F-6082-4B18-B949-9E4AAF3E1530}">
      <dgm:prSet/>
      <dgm:spPr/>
      <dgm:t>
        <a:bodyPr/>
        <a:lstStyle/>
        <a:p>
          <a:endParaRPr lang="zh-CN" altLang="en-US"/>
        </a:p>
      </dgm:t>
    </dgm:pt>
    <dgm:pt modelId="{3935A8CA-284C-4650-9388-2F2B918FB8CE}">
      <dgm:prSet phldrT="[文本]" custT="1"/>
      <dgm:spPr/>
      <dgm:t>
        <a:bodyPr/>
        <a:lstStyle/>
        <a:p>
          <a:pPr>
            <a:lnSpc>
              <a:spcPct val="100000"/>
            </a:lnSpc>
            <a:spcAft>
              <a:spcPct val="20000"/>
            </a:spcAft>
          </a:pPr>
          <a:r>
            <a:rPr lang="zh-CN" altLang="zh-CN" sz="1600" b="1" dirty="0">
              <a:latin typeface="微软雅黑" panose="020B0503020204020204" pitchFamily="34" charset="-122"/>
              <a:ea typeface="微软雅黑" panose="020B0503020204020204" pitchFamily="34" charset="-122"/>
            </a:rPr>
            <a:t>路由器根据本路由器生成的</a:t>
          </a:r>
          <a:r>
            <a:rPr lang="zh-CN" altLang="zh-CN" sz="1600" b="1" dirty="0">
              <a:solidFill>
                <a:srgbClr val="C00000"/>
              </a:solidFill>
              <a:latin typeface="微软雅黑" panose="020B0503020204020204" pitchFamily="34" charset="-122"/>
              <a:ea typeface="微软雅黑" panose="020B0503020204020204" pitchFamily="34" charset="-122"/>
            </a:rPr>
            <a:t>转发表，</a:t>
          </a:r>
          <a:r>
            <a:rPr lang="zh-CN" altLang="zh-CN" sz="1600" b="1" dirty="0">
              <a:latin typeface="微软雅黑" panose="020B0503020204020204" pitchFamily="34" charset="-122"/>
              <a:ea typeface="微软雅黑" panose="020B0503020204020204" pitchFamily="34" charset="-122"/>
            </a:rPr>
            <a:t>把收到的分组从查找到的对应接口</a:t>
          </a:r>
          <a:r>
            <a:rPr lang="zh-CN" altLang="zh-CN" sz="1600" b="1" dirty="0">
              <a:solidFill>
                <a:srgbClr val="C00000"/>
              </a:solidFill>
              <a:latin typeface="微软雅黑" panose="020B0503020204020204" pitchFamily="34" charset="-122"/>
              <a:ea typeface="微软雅黑" panose="020B0503020204020204" pitchFamily="34" charset="-122"/>
            </a:rPr>
            <a:t>转发</a:t>
          </a:r>
          <a:r>
            <a:rPr lang="zh-CN" altLang="zh-CN" sz="1600" b="1" dirty="0">
              <a:latin typeface="微软雅黑" panose="020B0503020204020204" pitchFamily="34" charset="-122"/>
              <a:ea typeface="微软雅黑" panose="020B0503020204020204" pitchFamily="34" charset="-122"/>
            </a:rPr>
            <a:t>出去。</a:t>
          </a:r>
          <a:endParaRPr lang="zh-CN" altLang="en-US" sz="1600" b="1" dirty="0">
            <a:latin typeface="微软雅黑" panose="020B0503020204020204" pitchFamily="34" charset="-122"/>
            <a:ea typeface="微软雅黑" panose="020B0503020204020204" pitchFamily="34" charset="-122"/>
          </a:endParaRPr>
        </a:p>
      </dgm:t>
    </dgm:pt>
    <dgm:pt modelId="{1AB30E51-878D-48CF-B841-5F815E24A9C0}" type="parTrans" cxnId="{340AA356-AC5F-4D1E-8A28-B82F236B5590}">
      <dgm:prSet/>
      <dgm:spPr/>
      <dgm:t>
        <a:bodyPr/>
        <a:lstStyle/>
        <a:p>
          <a:endParaRPr lang="zh-CN" altLang="en-US"/>
        </a:p>
      </dgm:t>
    </dgm:pt>
    <dgm:pt modelId="{1A923FD5-5350-4497-8558-17F724679014}" type="sibTrans" cxnId="{340AA356-AC5F-4D1E-8A28-B82F236B5590}">
      <dgm:prSet/>
      <dgm:spPr/>
      <dgm:t>
        <a:bodyPr/>
        <a:lstStyle/>
        <a:p>
          <a:endParaRPr lang="zh-CN" altLang="en-US"/>
        </a:p>
      </dgm:t>
    </dgm:pt>
    <dgm:pt modelId="{E3094E70-DBBD-4776-8255-CA53223AA920}">
      <dgm:prSet custT="1"/>
      <dgm:spPr/>
      <dgm:t>
        <a:bodyPr/>
        <a:lstStyle/>
        <a:p>
          <a:r>
            <a:rPr lang="zh-CN" altLang="en-US" sz="1600" b="1" dirty="0">
              <a:solidFill>
                <a:srgbClr val="C00000"/>
              </a:solidFill>
              <a:latin typeface="微软雅黑" panose="020B0503020204020204" pitchFamily="34" charset="-122"/>
              <a:ea typeface="微软雅黑" panose="020B0503020204020204" pitchFamily="34" charset="-122"/>
            </a:rPr>
            <a:t>独立</a:t>
          </a:r>
          <a:r>
            <a:rPr lang="zh-CN" altLang="en-US" sz="1600" b="1" dirty="0">
              <a:latin typeface="微软雅黑" panose="020B0503020204020204" pitchFamily="34" charset="-122"/>
              <a:ea typeface="微软雅黑" panose="020B0503020204020204" pitchFamily="34" charset="-122"/>
            </a:rPr>
            <a:t>工作。</a:t>
          </a:r>
        </a:p>
      </dgm:t>
    </dgm:pt>
    <dgm:pt modelId="{519E4824-498E-46FA-B960-A44A0D038680}" type="parTrans" cxnId="{E3296F2A-0B4D-464F-ADA8-C69645579478}">
      <dgm:prSet/>
      <dgm:spPr/>
      <dgm:t>
        <a:bodyPr/>
        <a:lstStyle/>
        <a:p>
          <a:endParaRPr lang="zh-CN" altLang="en-US"/>
        </a:p>
      </dgm:t>
    </dgm:pt>
    <dgm:pt modelId="{3FD2573C-C2DF-4E9E-9FD2-0B5C268A3B0B}" type="sibTrans" cxnId="{E3296F2A-0B4D-464F-ADA8-C69645579478}">
      <dgm:prSet/>
      <dgm:spPr/>
      <dgm:t>
        <a:bodyPr/>
        <a:lstStyle/>
        <a:p>
          <a:endParaRPr lang="zh-CN" altLang="en-US"/>
        </a:p>
      </dgm:t>
    </dgm:pt>
    <dgm:pt modelId="{DD6D6094-BAB0-4C98-83EB-DBC53F380A53}">
      <dgm:prSet custT="1"/>
      <dgm:spPr/>
      <dgm:t>
        <a:bodyPr/>
        <a:lstStyle/>
        <a:p>
          <a:r>
            <a:rPr lang="zh-CN" altLang="en-US" sz="1600" b="1" dirty="0">
              <a:latin typeface="微软雅黑" panose="020B0503020204020204" pitchFamily="34" charset="-122"/>
              <a:ea typeface="微软雅黑" panose="020B0503020204020204" pitchFamily="34" charset="-122"/>
            </a:rPr>
            <a:t>采用</a:t>
          </a:r>
          <a:r>
            <a:rPr lang="zh-CN" altLang="en-US" sz="1600" b="1" dirty="0">
              <a:solidFill>
                <a:srgbClr val="C00000"/>
              </a:solidFill>
              <a:latin typeface="微软雅黑" panose="020B0503020204020204" pitchFamily="34" charset="-122"/>
              <a:ea typeface="微软雅黑" panose="020B0503020204020204" pitchFamily="34" charset="-122"/>
            </a:rPr>
            <a:t>硬件</a:t>
          </a:r>
          <a:r>
            <a:rPr lang="zh-CN" altLang="en-US" sz="1600" b="1" dirty="0">
              <a:latin typeface="微软雅黑" panose="020B0503020204020204" pitchFamily="34" charset="-122"/>
              <a:ea typeface="微软雅黑" panose="020B0503020204020204" pitchFamily="34" charset="-122"/>
            </a:rPr>
            <a:t>进行转发，快。</a:t>
          </a:r>
        </a:p>
      </dgm:t>
    </dgm:pt>
    <dgm:pt modelId="{BA84FEF6-F368-4443-A62A-421A69C3F6D5}" type="parTrans" cxnId="{8732565D-506C-432B-ACAC-ABE3104AEA0E}">
      <dgm:prSet/>
      <dgm:spPr/>
      <dgm:t>
        <a:bodyPr/>
        <a:lstStyle/>
        <a:p>
          <a:endParaRPr lang="zh-CN" altLang="en-US"/>
        </a:p>
      </dgm:t>
    </dgm:pt>
    <dgm:pt modelId="{914780BD-0098-4867-BFF3-65E2D0EAC974}" type="sibTrans" cxnId="{8732565D-506C-432B-ACAC-ABE3104AEA0E}">
      <dgm:prSet/>
      <dgm:spPr/>
      <dgm:t>
        <a:bodyPr/>
        <a:lstStyle/>
        <a:p>
          <a:endParaRPr lang="zh-CN" altLang="en-US"/>
        </a:p>
      </dgm:t>
    </dgm:pt>
    <dgm:pt modelId="{1A85F913-0EA5-4E0C-AC2C-65AE114C5338}">
      <dgm:prSet phldrT="[文本]" custT="1"/>
      <dgm:spPr>
        <a:solidFill>
          <a:srgbClr val="00B050"/>
        </a:solidFill>
        <a:ln>
          <a:solidFill>
            <a:srgbClr val="00B050"/>
          </a:solidFill>
        </a:ln>
      </dgm:spPr>
      <dgm:t>
        <a:bodyPr/>
        <a:lstStyle/>
        <a:p>
          <a:r>
            <a:rPr lang="zh-CN" altLang="en-US" sz="1600" b="1" dirty="0">
              <a:latin typeface="微软雅黑" panose="020B0503020204020204" pitchFamily="34" charset="-122"/>
              <a:ea typeface="微软雅黑" panose="020B0503020204020204" pitchFamily="34" charset="-122"/>
            </a:rPr>
            <a:t>控制层面</a:t>
          </a:r>
        </a:p>
      </dgm:t>
    </dgm:pt>
    <dgm:pt modelId="{044010CB-C44F-465A-8995-A6613AF5FDF8}" type="parTrans" cxnId="{6EB5599E-5ED8-420E-9A24-7B10512E8346}">
      <dgm:prSet/>
      <dgm:spPr/>
      <dgm:t>
        <a:bodyPr/>
        <a:lstStyle/>
        <a:p>
          <a:endParaRPr lang="zh-CN" altLang="en-US"/>
        </a:p>
      </dgm:t>
    </dgm:pt>
    <dgm:pt modelId="{BDA74EC5-1F01-4178-B3C1-EC48A63056F9}" type="sibTrans" cxnId="{6EB5599E-5ED8-420E-9A24-7B10512E8346}">
      <dgm:prSet/>
      <dgm:spPr/>
      <dgm:t>
        <a:bodyPr/>
        <a:lstStyle/>
        <a:p>
          <a:endParaRPr lang="zh-CN" altLang="en-US"/>
        </a:p>
      </dgm:t>
    </dgm:pt>
    <dgm:pt modelId="{AC39144C-C5C3-4F40-9875-92D77BDC146E}">
      <dgm:prSet phldrT="[文本]"/>
      <dgm:spPr/>
      <dgm:t>
        <a:bodyPr/>
        <a:lstStyle/>
        <a:p>
          <a:r>
            <a:rPr lang="zh-CN" altLang="zh-CN" b="1" dirty="0">
              <a:latin typeface="微软雅黑" panose="020B0503020204020204" pitchFamily="34" charset="-122"/>
              <a:ea typeface="微软雅黑" panose="020B0503020204020204" pitchFamily="34" charset="-122"/>
            </a:rPr>
            <a:t>根据路由选择协议所用的路由算法</a:t>
          </a:r>
          <a:r>
            <a:rPr lang="zh-CN" altLang="zh-CN" b="1" dirty="0">
              <a:solidFill>
                <a:srgbClr val="C00000"/>
              </a:solidFill>
              <a:latin typeface="微软雅黑" panose="020B0503020204020204" pitchFamily="34" charset="-122"/>
              <a:ea typeface="微软雅黑" panose="020B0503020204020204" pitchFamily="34" charset="-122"/>
            </a:rPr>
            <a:t>计算路由</a:t>
          </a:r>
          <a:r>
            <a:rPr lang="zh-CN" altLang="en-US" b="1" dirty="0">
              <a:solidFill>
                <a:srgbClr val="C00000"/>
              </a:solidFill>
              <a:latin typeface="微软雅黑" panose="020B0503020204020204" pitchFamily="34" charset="-122"/>
              <a:ea typeface="微软雅黑" panose="020B0503020204020204" pitchFamily="34" charset="-122"/>
            </a:rPr>
            <a:t>，</a:t>
          </a:r>
          <a:r>
            <a:rPr lang="zh-CN" altLang="zh-CN" b="1" dirty="0">
              <a:latin typeface="微软雅黑" panose="020B0503020204020204" pitchFamily="34" charset="-122"/>
              <a:ea typeface="微软雅黑" panose="020B0503020204020204" pitchFamily="34" charset="-122"/>
            </a:rPr>
            <a:t>创建出本路由器的</a:t>
          </a:r>
          <a:r>
            <a:rPr lang="zh-CN" altLang="zh-CN" b="1" dirty="0">
              <a:solidFill>
                <a:srgbClr val="C00000"/>
              </a:solidFill>
              <a:latin typeface="微软雅黑" panose="020B0503020204020204" pitchFamily="34" charset="-122"/>
              <a:ea typeface="微软雅黑" panose="020B0503020204020204" pitchFamily="34" charset="-122"/>
            </a:rPr>
            <a:t>路由表。</a:t>
          </a:r>
          <a:endParaRPr lang="zh-CN" altLang="en-US" b="1" dirty="0">
            <a:solidFill>
              <a:srgbClr val="C00000"/>
            </a:solidFill>
            <a:latin typeface="微软雅黑" panose="020B0503020204020204" pitchFamily="34" charset="-122"/>
            <a:ea typeface="微软雅黑" panose="020B0503020204020204" pitchFamily="34" charset="-122"/>
          </a:endParaRPr>
        </a:p>
      </dgm:t>
    </dgm:pt>
    <dgm:pt modelId="{24887F04-A30C-4082-B81F-D5BF30CB8D4C}" type="parTrans" cxnId="{59C54F2B-F071-456B-AD40-08EE23AFC6C1}">
      <dgm:prSet/>
      <dgm:spPr/>
      <dgm:t>
        <a:bodyPr/>
        <a:lstStyle/>
        <a:p>
          <a:endParaRPr lang="zh-CN" altLang="en-US"/>
        </a:p>
      </dgm:t>
    </dgm:pt>
    <dgm:pt modelId="{0DDD565A-D754-4AF0-89A1-0FC5777271DE}" type="sibTrans" cxnId="{59C54F2B-F071-456B-AD40-08EE23AFC6C1}">
      <dgm:prSet/>
      <dgm:spPr/>
      <dgm:t>
        <a:bodyPr/>
        <a:lstStyle/>
        <a:p>
          <a:endParaRPr lang="zh-CN" altLang="en-US"/>
        </a:p>
      </dgm:t>
    </dgm:pt>
    <dgm:pt modelId="{324FFE58-99DC-49F4-BD07-88A42CC55D35}">
      <dgm:prSet phldrT="[文本]"/>
      <dgm:spPr/>
      <dgm:t>
        <a:bodyPr/>
        <a:lstStyle/>
        <a:p>
          <a:r>
            <a:rPr lang="zh-CN" altLang="en-US" b="1" dirty="0">
              <a:latin typeface="微软雅黑" panose="020B0503020204020204" pitchFamily="34" charset="-122"/>
              <a:ea typeface="微软雅黑" panose="020B0503020204020204" pitchFamily="34" charset="-122"/>
            </a:rPr>
            <a:t>许多路由器</a:t>
          </a:r>
          <a:r>
            <a:rPr lang="zh-CN" altLang="en-US" b="1" dirty="0">
              <a:solidFill>
                <a:srgbClr val="C00000"/>
              </a:solidFill>
              <a:latin typeface="微软雅黑" panose="020B0503020204020204" pitchFamily="34" charset="-122"/>
              <a:ea typeface="微软雅黑" panose="020B0503020204020204" pitchFamily="34" charset="-122"/>
            </a:rPr>
            <a:t>协同</a:t>
          </a:r>
          <a:r>
            <a:rPr lang="zh-CN" altLang="en-US" b="1" dirty="0">
              <a:latin typeface="微软雅黑" panose="020B0503020204020204" pitchFamily="34" charset="-122"/>
              <a:ea typeface="微软雅黑" panose="020B0503020204020204" pitchFamily="34" charset="-122"/>
            </a:rPr>
            <a:t>动作。</a:t>
          </a:r>
        </a:p>
      </dgm:t>
    </dgm:pt>
    <dgm:pt modelId="{EC5618CD-EDB7-44AB-9D3C-01FBC3B8045B}" type="parTrans" cxnId="{7F44E923-64EB-40DB-8E31-448874947188}">
      <dgm:prSet/>
      <dgm:spPr/>
      <dgm:t>
        <a:bodyPr/>
        <a:lstStyle/>
        <a:p>
          <a:endParaRPr lang="zh-CN" altLang="en-US"/>
        </a:p>
      </dgm:t>
    </dgm:pt>
    <dgm:pt modelId="{6B4C0358-26D5-43CD-8563-ABEAE90D2FE6}" type="sibTrans" cxnId="{7F44E923-64EB-40DB-8E31-448874947188}">
      <dgm:prSet/>
      <dgm:spPr/>
      <dgm:t>
        <a:bodyPr/>
        <a:lstStyle/>
        <a:p>
          <a:endParaRPr lang="zh-CN" altLang="en-US"/>
        </a:p>
      </dgm:t>
    </dgm:pt>
    <dgm:pt modelId="{E2B15F2D-10F5-4986-91D4-C249C1200BE1}">
      <dgm:prSet phldrT="[文本]"/>
      <dgm:spPr/>
      <dgm:t>
        <a:bodyPr/>
        <a:lstStyle/>
        <a:p>
          <a:r>
            <a:rPr lang="zh-CN" altLang="en-US" b="1" dirty="0">
              <a:latin typeface="微软雅黑" panose="020B0503020204020204" pitchFamily="34" charset="-122"/>
              <a:ea typeface="微软雅黑" panose="020B0503020204020204" pitchFamily="34" charset="-122"/>
            </a:rPr>
            <a:t>采用</a:t>
          </a:r>
          <a:r>
            <a:rPr lang="zh-CN" altLang="en-US" b="1" dirty="0">
              <a:solidFill>
                <a:srgbClr val="C00000"/>
              </a:solidFill>
              <a:latin typeface="微软雅黑" panose="020B0503020204020204" pitchFamily="34" charset="-122"/>
              <a:ea typeface="微软雅黑" panose="020B0503020204020204" pitchFamily="34" charset="-122"/>
            </a:rPr>
            <a:t>软件</a:t>
          </a:r>
          <a:r>
            <a:rPr lang="zh-CN" altLang="en-US" b="1" dirty="0">
              <a:latin typeface="微软雅黑" panose="020B0503020204020204" pitchFamily="34" charset="-122"/>
              <a:ea typeface="微软雅黑" panose="020B0503020204020204" pitchFamily="34" charset="-122"/>
            </a:rPr>
            <a:t>计算，慢。</a:t>
          </a:r>
        </a:p>
      </dgm:t>
    </dgm:pt>
    <dgm:pt modelId="{AB667672-D58D-44C0-8FE5-830A6B9B985B}" type="parTrans" cxnId="{784290CC-CD04-4279-9A28-8FD964E53255}">
      <dgm:prSet/>
      <dgm:spPr/>
      <dgm:t>
        <a:bodyPr/>
        <a:lstStyle/>
        <a:p>
          <a:endParaRPr lang="zh-CN" altLang="en-US"/>
        </a:p>
      </dgm:t>
    </dgm:pt>
    <dgm:pt modelId="{CB3B0CF4-6C17-4712-8651-5214F31C3FF1}" type="sibTrans" cxnId="{784290CC-CD04-4279-9A28-8FD964E53255}">
      <dgm:prSet/>
      <dgm:spPr/>
      <dgm:t>
        <a:bodyPr/>
        <a:lstStyle/>
        <a:p>
          <a:endParaRPr lang="zh-CN" altLang="en-US"/>
        </a:p>
      </dgm:t>
    </dgm:pt>
    <dgm:pt modelId="{EE48A649-0DD6-4F1D-93E8-6C982A947BD7}" type="pres">
      <dgm:prSet presAssocID="{11E8D4AF-C3E5-4296-8051-0B2F71547B54}" presName="Name0" presStyleCnt="0">
        <dgm:presLayoutVars>
          <dgm:dir/>
          <dgm:animLvl val="lvl"/>
          <dgm:resizeHandles val="exact"/>
        </dgm:presLayoutVars>
      </dgm:prSet>
      <dgm:spPr/>
    </dgm:pt>
    <dgm:pt modelId="{B28DF133-4854-4981-9BB6-D542959CBDA5}" type="pres">
      <dgm:prSet presAssocID="{1D1D2F34-C7FA-4AB6-9F6A-8ADE395C1D21}" presName="composite" presStyleCnt="0"/>
      <dgm:spPr/>
    </dgm:pt>
    <dgm:pt modelId="{F0ADD619-6503-4051-9BF1-B84DDC798B9B}" type="pres">
      <dgm:prSet presAssocID="{1D1D2F34-C7FA-4AB6-9F6A-8ADE395C1D21}" presName="parTx" presStyleLbl="alignNode1" presStyleIdx="0" presStyleCnt="2">
        <dgm:presLayoutVars>
          <dgm:chMax val="0"/>
          <dgm:chPref val="0"/>
          <dgm:bulletEnabled val="1"/>
        </dgm:presLayoutVars>
      </dgm:prSet>
      <dgm:spPr/>
    </dgm:pt>
    <dgm:pt modelId="{69218C7D-A5C6-4BB9-B753-14FB4AB3733E}" type="pres">
      <dgm:prSet presAssocID="{1D1D2F34-C7FA-4AB6-9F6A-8ADE395C1D21}" presName="desTx" presStyleLbl="alignAccFollowNode1" presStyleIdx="0" presStyleCnt="2">
        <dgm:presLayoutVars>
          <dgm:bulletEnabled val="1"/>
        </dgm:presLayoutVars>
      </dgm:prSet>
      <dgm:spPr/>
    </dgm:pt>
    <dgm:pt modelId="{9CBB12D9-64BD-442A-BFBE-793FC1095AAD}" type="pres">
      <dgm:prSet presAssocID="{BE6E7425-9E56-4DFD-A344-6EEBA290BBA4}" presName="space" presStyleCnt="0"/>
      <dgm:spPr/>
    </dgm:pt>
    <dgm:pt modelId="{4C08A01E-0597-4B94-979E-9E7D393729A0}" type="pres">
      <dgm:prSet presAssocID="{1A85F913-0EA5-4E0C-AC2C-65AE114C5338}" presName="composite" presStyleCnt="0"/>
      <dgm:spPr/>
    </dgm:pt>
    <dgm:pt modelId="{A287357E-4392-4759-BB71-D2529A5E730A}" type="pres">
      <dgm:prSet presAssocID="{1A85F913-0EA5-4E0C-AC2C-65AE114C5338}" presName="parTx" presStyleLbl="alignNode1" presStyleIdx="1" presStyleCnt="2">
        <dgm:presLayoutVars>
          <dgm:chMax val="0"/>
          <dgm:chPref val="0"/>
          <dgm:bulletEnabled val="1"/>
        </dgm:presLayoutVars>
      </dgm:prSet>
      <dgm:spPr/>
    </dgm:pt>
    <dgm:pt modelId="{7E31D2C3-38FE-46A6-9137-AC78999E4E2D}" type="pres">
      <dgm:prSet presAssocID="{1A85F913-0EA5-4E0C-AC2C-65AE114C5338}" presName="desTx" presStyleLbl="alignAccFollowNode1" presStyleIdx="1" presStyleCnt="2">
        <dgm:presLayoutVars>
          <dgm:bulletEnabled val="1"/>
        </dgm:presLayoutVars>
      </dgm:prSet>
      <dgm:spPr/>
    </dgm:pt>
  </dgm:ptLst>
  <dgm:cxnLst>
    <dgm:cxn modelId="{68ED4107-A4A0-40FD-B7C6-20EAEC332C35}" type="presOf" srcId="{1D1D2F34-C7FA-4AB6-9F6A-8ADE395C1D21}" destId="{F0ADD619-6503-4051-9BF1-B84DDC798B9B}" srcOrd="0" destOrd="0" presId="urn:microsoft.com/office/officeart/2005/8/layout/hList1"/>
    <dgm:cxn modelId="{7F44E923-64EB-40DB-8E31-448874947188}" srcId="{1A85F913-0EA5-4E0C-AC2C-65AE114C5338}" destId="{324FFE58-99DC-49F4-BD07-88A42CC55D35}" srcOrd="1" destOrd="0" parTransId="{EC5618CD-EDB7-44AB-9D3C-01FBC3B8045B}" sibTransId="{6B4C0358-26D5-43CD-8563-ABEAE90D2FE6}"/>
    <dgm:cxn modelId="{E3296F2A-0B4D-464F-ADA8-C69645579478}" srcId="{1D1D2F34-C7FA-4AB6-9F6A-8ADE395C1D21}" destId="{E3094E70-DBBD-4776-8255-CA53223AA920}" srcOrd="1" destOrd="0" parTransId="{519E4824-498E-46FA-B960-A44A0D038680}" sibTransId="{3FD2573C-C2DF-4E9E-9FD2-0B5C268A3B0B}"/>
    <dgm:cxn modelId="{59C54F2B-F071-456B-AD40-08EE23AFC6C1}" srcId="{1A85F913-0EA5-4E0C-AC2C-65AE114C5338}" destId="{AC39144C-C5C3-4F40-9875-92D77BDC146E}" srcOrd="0" destOrd="0" parTransId="{24887F04-A30C-4082-B81F-D5BF30CB8D4C}" sibTransId="{0DDD565A-D754-4AF0-89A1-0FC5777271DE}"/>
    <dgm:cxn modelId="{8732565D-506C-432B-ACAC-ABE3104AEA0E}" srcId="{1D1D2F34-C7FA-4AB6-9F6A-8ADE395C1D21}" destId="{DD6D6094-BAB0-4C98-83EB-DBC53F380A53}" srcOrd="2" destOrd="0" parTransId="{BA84FEF6-F368-4443-A62A-421A69C3F6D5}" sibTransId="{914780BD-0098-4867-BFF3-65E2D0EAC974}"/>
    <dgm:cxn modelId="{CE6B0C5F-6082-4B18-B949-9E4AAF3E1530}" srcId="{11E8D4AF-C3E5-4296-8051-0B2F71547B54}" destId="{1D1D2F34-C7FA-4AB6-9F6A-8ADE395C1D21}" srcOrd="0" destOrd="0" parTransId="{823E78B8-C518-42AA-B742-F63C09C24725}" sibTransId="{BE6E7425-9E56-4DFD-A344-6EEBA290BBA4}"/>
    <dgm:cxn modelId="{74C21C63-665B-4014-9397-578CE4D11045}" type="presOf" srcId="{AC39144C-C5C3-4F40-9875-92D77BDC146E}" destId="{7E31D2C3-38FE-46A6-9137-AC78999E4E2D}" srcOrd="0" destOrd="0" presId="urn:microsoft.com/office/officeart/2005/8/layout/hList1"/>
    <dgm:cxn modelId="{BCE37D64-0EA8-453C-B3DB-9FBA46E1E2C3}" type="presOf" srcId="{DD6D6094-BAB0-4C98-83EB-DBC53F380A53}" destId="{69218C7D-A5C6-4BB9-B753-14FB4AB3733E}" srcOrd="0" destOrd="2" presId="urn:microsoft.com/office/officeart/2005/8/layout/hList1"/>
    <dgm:cxn modelId="{303CD875-476B-43CE-9AA5-8659E08FB972}" type="presOf" srcId="{E3094E70-DBBD-4776-8255-CA53223AA920}" destId="{69218C7D-A5C6-4BB9-B753-14FB4AB3733E}" srcOrd="0" destOrd="1" presId="urn:microsoft.com/office/officeart/2005/8/layout/hList1"/>
    <dgm:cxn modelId="{340AA356-AC5F-4D1E-8A28-B82F236B5590}" srcId="{1D1D2F34-C7FA-4AB6-9F6A-8ADE395C1D21}" destId="{3935A8CA-284C-4650-9388-2F2B918FB8CE}" srcOrd="0" destOrd="0" parTransId="{1AB30E51-878D-48CF-B841-5F815E24A9C0}" sibTransId="{1A923FD5-5350-4497-8558-17F724679014}"/>
    <dgm:cxn modelId="{C9911E91-049F-48F9-A921-1B771DC8B53F}" type="presOf" srcId="{11E8D4AF-C3E5-4296-8051-0B2F71547B54}" destId="{EE48A649-0DD6-4F1D-93E8-6C982A947BD7}" srcOrd="0" destOrd="0" presId="urn:microsoft.com/office/officeart/2005/8/layout/hList1"/>
    <dgm:cxn modelId="{09E8149B-E51F-461A-BA48-6F85A1FD3BFE}" type="presOf" srcId="{1A85F913-0EA5-4E0C-AC2C-65AE114C5338}" destId="{A287357E-4392-4759-BB71-D2529A5E730A}" srcOrd="0" destOrd="0" presId="urn:microsoft.com/office/officeart/2005/8/layout/hList1"/>
    <dgm:cxn modelId="{6EB5599E-5ED8-420E-9A24-7B10512E8346}" srcId="{11E8D4AF-C3E5-4296-8051-0B2F71547B54}" destId="{1A85F913-0EA5-4E0C-AC2C-65AE114C5338}" srcOrd="1" destOrd="0" parTransId="{044010CB-C44F-465A-8995-A6613AF5FDF8}" sibTransId="{BDA74EC5-1F01-4178-B3C1-EC48A63056F9}"/>
    <dgm:cxn modelId="{99614EC0-1431-4859-B338-77C3D22C3CB6}" type="presOf" srcId="{324FFE58-99DC-49F4-BD07-88A42CC55D35}" destId="{7E31D2C3-38FE-46A6-9137-AC78999E4E2D}" srcOrd="0" destOrd="1" presId="urn:microsoft.com/office/officeart/2005/8/layout/hList1"/>
    <dgm:cxn modelId="{784290CC-CD04-4279-9A28-8FD964E53255}" srcId="{1A85F913-0EA5-4E0C-AC2C-65AE114C5338}" destId="{E2B15F2D-10F5-4986-91D4-C249C1200BE1}" srcOrd="2" destOrd="0" parTransId="{AB667672-D58D-44C0-8FE5-830A6B9B985B}" sibTransId="{CB3B0CF4-6C17-4712-8651-5214F31C3FF1}"/>
    <dgm:cxn modelId="{FE1683E1-5CB8-4AA4-9EBE-B0B779C98F7F}" type="presOf" srcId="{3935A8CA-284C-4650-9388-2F2B918FB8CE}" destId="{69218C7D-A5C6-4BB9-B753-14FB4AB3733E}" srcOrd="0" destOrd="0" presId="urn:microsoft.com/office/officeart/2005/8/layout/hList1"/>
    <dgm:cxn modelId="{21248BFD-EEA5-4ED6-982F-0807B63BBDE0}" type="presOf" srcId="{E2B15F2D-10F5-4986-91D4-C249C1200BE1}" destId="{7E31D2C3-38FE-46A6-9137-AC78999E4E2D}" srcOrd="0" destOrd="2" presId="urn:microsoft.com/office/officeart/2005/8/layout/hList1"/>
    <dgm:cxn modelId="{90CE0658-75FE-4C9E-88A7-78A480232D83}" type="presParOf" srcId="{EE48A649-0DD6-4F1D-93E8-6C982A947BD7}" destId="{B28DF133-4854-4981-9BB6-D542959CBDA5}" srcOrd="0" destOrd="0" presId="urn:microsoft.com/office/officeart/2005/8/layout/hList1"/>
    <dgm:cxn modelId="{B45988E4-3786-4765-A83B-7F2845E38586}" type="presParOf" srcId="{B28DF133-4854-4981-9BB6-D542959CBDA5}" destId="{F0ADD619-6503-4051-9BF1-B84DDC798B9B}" srcOrd="0" destOrd="0" presId="urn:microsoft.com/office/officeart/2005/8/layout/hList1"/>
    <dgm:cxn modelId="{7C0CE279-B0A9-4382-B241-7416FBE5F562}" type="presParOf" srcId="{B28DF133-4854-4981-9BB6-D542959CBDA5}" destId="{69218C7D-A5C6-4BB9-B753-14FB4AB3733E}" srcOrd="1" destOrd="0" presId="urn:microsoft.com/office/officeart/2005/8/layout/hList1"/>
    <dgm:cxn modelId="{67E0BF8B-34DA-4327-B54B-C7DA069B0CBE}" type="presParOf" srcId="{EE48A649-0DD6-4F1D-93E8-6C982A947BD7}" destId="{9CBB12D9-64BD-442A-BFBE-793FC1095AAD}" srcOrd="1" destOrd="0" presId="urn:microsoft.com/office/officeart/2005/8/layout/hList1"/>
    <dgm:cxn modelId="{EC750223-E97A-4055-9C12-B9F787607EC9}" type="presParOf" srcId="{EE48A649-0DD6-4F1D-93E8-6C982A947BD7}" destId="{4C08A01E-0597-4B94-979E-9E7D393729A0}" srcOrd="2" destOrd="0" presId="urn:microsoft.com/office/officeart/2005/8/layout/hList1"/>
    <dgm:cxn modelId="{92399829-C69C-40F5-8473-AAB4A324EF2E}" type="presParOf" srcId="{4C08A01E-0597-4B94-979E-9E7D393729A0}" destId="{A287357E-4392-4759-BB71-D2529A5E730A}" srcOrd="0" destOrd="0" presId="urn:microsoft.com/office/officeart/2005/8/layout/hList1"/>
    <dgm:cxn modelId="{BBDDCC96-26D3-400B-B7AB-5E994742ECB6}" type="presParOf" srcId="{4C08A01E-0597-4B94-979E-9E7D393729A0}" destId="{7E31D2C3-38FE-46A6-9137-AC78999E4E2D}" srcOrd="1" destOrd="0" presId="urn:microsoft.com/office/officeart/2005/8/layout/hList1"/>
  </dgm:cxnLst>
  <dgm:bg/>
  <dgm:whole/>
  <dgm:extLst>
    <a:ext uri="http://schemas.microsoft.com/office/drawing/2008/diagram">
      <dsp:dataModelExt xmlns:dsp="http://schemas.microsoft.com/office/drawing/2008/diagram" relId="rId6" minVer="http://schemas.openxmlformats.org/drawingml/2006/diagram"/>
    </a:ext>
    <a:ext uri="{C62137D5-CB1D-491B-B009-E17868A290BF}">
      <dgm14:recolorImg xmlns:dgm14="http://schemas.microsoft.com/office/drawing/2010/diagram" val="1"/>
    </a:ext>
  </dgm:extLst>
</dgm:dataModel>
</file>

<file path=ppt/diagrams/data2.xml><?xml version="1.0" encoding="utf-8"?>
<dgm:dataModel xmlns:dgm="http://schemas.openxmlformats.org/drawingml/2006/diagram" xmlns:a="http://schemas.openxmlformats.org/drawingml/2006/main">
  <dgm:ptLst>
    <dgm:pt modelId="{5A4DFC9D-11E0-4B97-9CB8-CB29870A3A87}" type="doc">
      <dgm:prSet loTypeId="urn:microsoft.com/office/officeart/2005/8/layout/default#1" loCatId="list" qsTypeId="urn:microsoft.com/office/officeart/2005/8/quickstyle/simple4" qsCatId="simple" csTypeId="urn:microsoft.com/office/officeart/2005/8/colors/colorful1#2" csCatId="colorful" phldr="1"/>
      <dgm:spPr/>
      <dgm:t>
        <a:bodyPr/>
        <a:lstStyle/>
        <a:p>
          <a:endParaRPr lang="zh-CN" altLang="en-US"/>
        </a:p>
      </dgm:t>
    </dgm:pt>
    <dgm:pt modelId="{E7EC3F5A-6FF5-4DAC-B7A7-62451E4288C9}">
      <dgm:prSet phldrT="[文本]" custT="1"/>
      <dgm:spPr/>
      <dgm:t>
        <a:bodyPr/>
        <a:lstStyle/>
        <a:p>
          <a:r>
            <a:rPr lang="zh-CN" altLang="en-US" sz="1600" b="1" dirty="0">
              <a:latin typeface="微软雅黑" panose="020B0503020204020204" pitchFamily="34" charset="-122"/>
              <a:ea typeface="微软雅黑" panose="020B0503020204020204" pitchFamily="34" charset="-122"/>
            </a:rPr>
            <a:t>寻址方案</a:t>
          </a:r>
        </a:p>
      </dgm:t>
    </dgm:pt>
    <dgm:pt modelId="{C2D8A5DA-E5F7-449B-BAF1-6ACE8D37675E}" type="parTrans" cxnId="{95FE29FD-D14D-4489-B8E6-5C865BDAA8B9}">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15571704-FBB1-4619-9716-EEC3A6EB88BE}" type="sibTrans" cxnId="{95FE29FD-D14D-4489-B8E6-5C865BDAA8B9}">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738ED65A-AD96-4E5D-8658-FBC8032CA849}">
      <dgm:prSet phldrT="[文本]" custT="1"/>
      <dgm:spPr/>
      <dgm:t>
        <a:bodyPr/>
        <a:lstStyle/>
        <a:p>
          <a:r>
            <a:rPr lang="zh-CN" altLang="en-US" sz="1600" b="1" dirty="0">
              <a:latin typeface="微软雅黑" panose="020B0503020204020204" pitchFamily="34" charset="-122"/>
              <a:ea typeface="微软雅黑" panose="020B0503020204020204" pitchFamily="34" charset="-122"/>
            </a:rPr>
            <a:t>最大分组长度</a:t>
          </a:r>
        </a:p>
      </dgm:t>
    </dgm:pt>
    <dgm:pt modelId="{AA519882-9FF2-44E4-BDFE-61E8CCE8F6CD}" type="parTrans" cxnId="{D4ED029F-4144-4304-9546-CBEE30045520}">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C568D5BD-9789-4855-AD1F-74E644C2853C}" type="sibTrans" cxnId="{D4ED029F-4144-4304-9546-CBEE30045520}">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C343367E-6E0B-4D87-B42B-7BE9D32DBFB4}">
      <dgm:prSet phldrT="[文本]" custT="1"/>
      <dgm:spPr/>
      <dgm:t>
        <a:bodyPr/>
        <a:lstStyle/>
        <a:p>
          <a:r>
            <a:rPr lang="zh-CN" altLang="en-US" sz="1600" b="1" dirty="0">
              <a:latin typeface="微软雅黑" panose="020B0503020204020204" pitchFamily="34" charset="-122"/>
              <a:ea typeface="微软雅黑" panose="020B0503020204020204" pitchFamily="34" charset="-122"/>
            </a:rPr>
            <a:t>网络接入机制</a:t>
          </a:r>
        </a:p>
      </dgm:t>
    </dgm:pt>
    <dgm:pt modelId="{4707B6D6-66D1-43F8-9303-973EBBD6E514}" type="parTrans" cxnId="{4A243FFA-DBAF-4962-844F-48832D368119}">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0314ED14-9B56-4888-B408-DE6DFF861303}" type="sibTrans" cxnId="{4A243FFA-DBAF-4962-844F-48832D368119}">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C7315578-E9A5-4134-B4A7-7D5BB6B07A6B}">
      <dgm:prSet phldrT="[文本]" custT="1"/>
      <dgm:spPr/>
      <dgm:t>
        <a:bodyPr/>
        <a:lstStyle/>
        <a:p>
          <a:r>
            <a:rPr lang="zh-CN" altLang="en-US" sz="1600" b="1" dirty="0">
              <a:latin typeface="微软雅黑" panose="020B0503020204020204" pitchFamily="34" charset="-122"/>
              <a:ea typeface="微软雅黑" panose="020B0503020204020204" pitchFamily="34" charset="-122"/>
            </a:rPr>
            <a:t>超时控制</a:t>
          </a:r>
        </a:p>
      </dgm:t>
    </dgm:pt>
    <dgm:pt modelId="{DE491F9E-7A51-45A3-837D-65396046329A}" type="parTrans" cxnId="{ECA30F4A-CF0A-4A67-99E4-488D44DDE982}">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553A5501-4DCA-43DB-8116-18230E569107}" type="sibTrans" cxnId="{ECA30F4A-CF0A-4A67-99E4-488D44DDE982}">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DE28F121-BA13-471C-A5FD-6C3525B4C1F7}">
      <dgm:prSet phldrT="[文本]" custT="1"/>
      <dgm:spPr/>
      <dgm:t>
        <a:bodyPr/>
        <a:lstStyle/>
        <a:p>
          <a:r>
            <a:rPr lang="zh-CN" altLang="en-US" sz="1600" b="1" dirty="0">
              <a:latin typeface="微软雅黑" panose="020B0503020204020204" pitchFamily="34" charset="-122"/>
              <a:ea typeface="微软雅黑" panose="020B0503020204020204" pitchFamily="34" charset="-122"/>
            </a:rPr>
            <a:t>差错恢复方法</a:t>
          </a:r>
        </a:p>
      </dgm:t>
    </dgm:pt>
    <dgm:pt modelId="{17042EB1-E666-4CFF-9C87-76C132D1B670}" type="parTrans" cxnId="{796988C0-8389-4954-96BB-383FDDE39E0F}">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315D7A90-A1A0-453A-AF08-FC8444C88A25}" type="sibTrans" cxnId="{796988C0-8389-4954-96BB-383FDDE39E0F}">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2544A325-35B2-4DD5-9E7C-FA6BF05D8D51}">
      <dgm:prSet phldrT="[文本]" custT="1"/>
      <dgm:spPr/>
      <dgm:t>
        <a:bodyPr/>
        <a:lstStyle/>
        <a:p>
          <a:r>
            <a:rPr lang="zh-CN" altLang="en-US" sz="1600" b="1" dirty="0">
              <a:latin typeface="微软雅黑" panose="020B0503020204020204" pitchFamily="34" charset="-122"/>
              <a:ea typeface="微软雅黑" panose="020B0503020204020204" pitchFamily="34" charset="-122"/>
            </a:rPr>
            <a:t>状态报告方法</a:t>
          </a:r>
        </a:p>
      </dgm:t>
    </dgm:pt>
    <dgm:pt modelId="{BAA594F8-64A3-421B-B23E-46A3F9539157}" type="parTrans" cxnId="{37477746-43FA-4261-B4EE-1D76B566CEE3}">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C6EEDF51-E5C4-4A5A-B013-06480DEF4436}" type="sibTrans" cxnId="{37477746-43FA-4261-B4EE-1D76B566CEE3}">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CD94133B-61DA-4A34-A60F-0215265606B9}">
      <dgm:prSet phldrT="[文本]" custT="1"/>
      <dgm:spPr/>
      <dgm:t>
        <a:bodyPr/>
        <a:lstStyle/>
        <a:p>
          <a:r>
            <a:rPr lang="zh-CN" altLang="en-US" sz="1600" b="1" dirty="0">
              <a:latin typeface="微软雅黑" panose="020B0503020204020204" pitchFamily="34" charset="-122"/>
              <a:ea typeface="微软雅黑" panose="020B0503020204020204" pitchFamily="34" charset="-122"/>
            </a:rPr>
            <a:t>用户接入控制</a:t>
          </a:r>
        </a:p>
      </dgm:t>
    </dgm:pt>
    <dgm:pt modelId="{29BACC2F-1438-406C-B1DC-2467396250CC}" type="parTrans" cxnId="{16E5146B-C006-4348-BAE1-0BBDA98A244C}">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2A1DE52F-E845-4F08-AE5B-2B61D7C98B10}" type="sibTrans" cxnId="{16E5146B-C006-4348-BAE1-0BBDA98A244C}">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5C62CC07-8E06-4331-9E1A-9E7E663FD606}">
      <dgm:prSet phldrT="[文本]" custT="1"/>
      <dgm:spPr/>
      <dgm:t>
        <a:bodyPr/>
        <a:lstStyle/>
        <a:p>
          <a:r>
            <a:rPr lang="zh-CN" altLang="en-US" sz="1600" b="1" dirty="0">
              <a:latin typeface="微软雅黑" panose="020B0503020204020204" pitchFamily="34" charset="-122"/>
              <a:ea typeface="微软雅黑" panose="020B0503020204020204" pitchFamily="34" charset="-122"/>
            </a:rPr>
            <a:t>服务</a:t>
          </a:r>
        </a:p>
      </dgm:t>
    </dgm:pt>
    <dgm:pt modelId="{4D910CA0-0059-4CDF-8C89-C2BB2D2FE887}" type="parTrans" cxnId="{0D77A834-D62C-4120-8FCA-AD23E07BD22F}">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085D55FC-2327-4CD6-95B6-439CA0F69403}" type="sibTrans" cxnId="{0D77A834-D62C-4120-8FCA-AD23E07BD22F}">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841BAA9D-8539-4543-AF49-271CCD9C81AD}">
      <dgm:prSet phldrT="[文本]" custT="1"/>
      <dgm:spPr/>
      <dgm:t>
        <a:bodyPr/>
        <a:lstStyle/>
        <a:p>
          <a:pPr>
            <a:lnSpc>
              <a:spcPct val="50000"/>
            </a:lnSpc>
          </a:pPr>
          <a:r>
            <a:rPr lang="zh-CN" altLang="en-US" sz="1600" b="1" dirty="0">
              <a:latin typeface="微软雅黑" panose="020B0503020204020204" pitchFamily="34" charset="-122"/>
              <a:ea typeface="微软雅黑" panose="020B0503020204020204" pitchFamily="34" charset="-122"/>
            </a:rPr>
            <a:t>管理与</a:t>
          </a:r>
          <a:endParaRPr lang="en-US" altLang="zh-CN" sz="1600" b="1" dirty="0">
            <a:latin typeface="微软雅黑" panose="020B0503020204020204" pitchFamily="34" charset="-122"/>
            <a:ea typeface="微软雅黑" panose="020B0503020204020204" pitchFamily="34" charset="-122"/>
          </a:endParaRPr>
        </a:p>
        <a:p>
          <a:pPr>
            <a:lnSpc>
              <a:spcPct val="50000"/>
            </a:lnSpc>
          </a:pPr>
          <a:r>
            <a:rPr lang="zh-CN" altLang="en-US" sz="1600" b="1" dirty="0">
              <a:latin typeface="微软雅黑" panose="020B0503020204020204" pitchFamily="34" charset="-122"/>
              <a:ea typeface="微软雅黑" panose="020B0503020204020204" pitchFamily="34" charset="-122"/>
            </a:rPr>
            <a:t>控制方式</a:t>
          </a:r>
        </a:p>
      </dgm:t>
    </dgm:pt>
    <dgm:pt modelId="{6C939C71-D724-46F7-8A4F-A608FC064EB2}" type="parTrans" cxnId="{4538BD2D-F2C0-44AB-BAC0-642284A062B5}">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8D0329EB-9064-4776-BEA3-A9FC5CEB0AC7}" type="sibTrans" cxnId="{4538BD2D-F2C0-44AB-BAC0-642284A062B5}">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88D508C0-6951-4B36-B9EC-720624817380}">
      <dgm:prSet custT="1"/>
      <dgm:spPr/>
      <dgm:t>
        <a:bodyPr/>
        <a:lstStyle/>
        <a:p>
          <a:r>
            <a:rPr lang="zh-CN" altLang="en-US" sz="1600" b="1" dirty="0">
              <a:latin typeface="微软雅黑" panose="020B0503020204020204" pitchFamily="34" charset="-122"/>
              <a:ea typeface="微软雅黑" panose="020B0503020204020204" pitchFamily="34" charset="-122"/>
            </a:rPr>
            <a:t>路由选择技术</a:t>
          </a:r>
        </a:p>
      </dgm:t>
    </dgm:pt>
    <dgm:pt modelId="{16B9E4BC-6FBE-49FE-9E54-55818D5A7EE9}" type="parTrans" cxnId="{6C08C3F8-3A1B-4934-9B40-7F04A9AE587E}">
      <dgm:prSet/>
      <dgm:spPr/>
      <dgm:t>
        <a:bodyPr/>
        <a:lstStyle/>
        <a:p>
          <a:endParaRPr lang="zh-CN" altLang="en-US" sz="1600"/>
        </a:p>
      </dgm:t>
    </dgm:pt>
    <dgm:pt modelId="{92259BB0-9CE6-40B9-B8B6-7AC53350A293}" type="sibTrans" cxnId="{6C08C3F8-3A1B-4934-9B40-7F04A9AE587E}">
      <dgm:prSet/>
      <dgm:spPr/>
      <dgm:t>
        <a:bodyPr/>
        <a:lstStyle/>
        <a:p>
          <a:endParaRPr lang="zh-CN" altLang="en-US" sz="1600"/>
        </a:p>
      </dgm:t>
    </dgm:pt>
    <dgm:pt modelId="{2B759697-8CF0-4E48-9BAE-6E469FC93B90}">
      <dgm:prSet phldrT="[文本]" custT="1"/>
      <dgm:spPr/>
      <dgm:t>
        <a:bodyPr/>
        <a:lstStyle/>
        <a:p>
          <a:pPr>
            <a:lnSpc>
              <a:spcPct val="50000"/>
            </a:lnSpc>
          </a:pPr>
          <a:r>
            <a:rPr lang="en-US" altLang="zh-CN" sz="1600" b="1" dirty="0">
              <a:latin typeface="微软雅黑" panose="020B0503020204020204" pitchFamily="34" charset="-122"/>
              <a:ea typeface="微软雅黑" panose="020B0503020204020204" pitchFamily="34" charset="-122"/>
            </a:rPr>
            <a:t>……</a:t>
          </a:r>
          <a:endParaRPr lang="zh-CN" altLang="en-US" sz="1600" b="1" dirty="0">
            <a:latin typeface="微软雅黑" panose="020B0503020204020204" pitchFamily="34" charset="-122"/>
            <a:ea typeface="微软雅黑" panose="020B0503020204020204" pitchFamily="34" charset="-122"/>
          </a:endParaRPr>
        </a:p>
      </dgm:t>
    </dgm:pt>
    <dgm:pt modelId="{39C62AFE-22B8-443E-84C9-E27900DEF995}" type="parTrans" cxnId="{6EFBE5DA-FEA5-485E-8659-0DEF4B626CDB}">
      <dgm:prSet/>
      <dgm:spPr/>
      <dgm:t>
        <a:bodyPr/>
        <a:lstStyle/>
        <a:p>
          <a:endParaRPr lang="zh-CN" altLang="en-US"/>
        </a:p>
      </dgm:t>
    </dgm:pt>
    <dgm:pt modelId="{DE9F9152-4665-44BF-88DA-2F8D11A40C6C}" type="sibTrans" cxnId="{6EFBE5DA-FEA5-485E-8659-0DEF4B626CDB}">
      <dgm:prSet/>
      <dgm:spPr/>
      <dgm:t>
        <a:bodyPr/>
        <a:lstStyle/>
        <a:p>
          <a:endParaRPr lang="zh-CN" altLang="en-US"/>
        </a:p>
      </dgm:t>
    </dgm:pt>
    <dgm:pt modelId="{FD459526-A632-4165-84F0-DD4D44069092}" type="pres">
      <dgm:prSet presAssocID="{5A4DFC9D-11E0-4B97-9CB8-CB29870A3A87}" presName="diagram" presStyleCnt="0">
        <dgm:presLayoutVars>
          <dgm:dir/>
          <dgm:resizeHandles val="exact"/>
        </dgm:presLayoutVars>
      </dgm:prSet>
      <dgm:spPr/>
    </dgm:pt>
    <dgm:pt modelId="{4594C686-F253-4728-84C9-151C8028A3AE}" type="pres">
      <dgm:prSet presAssocID="{E7EC3F5A-6FF5-4DAC-B7A7-62451E4288C9}" presName="node" presStyleLbl="node1" presStyleIdx="0" presStyleCnt="11">
        <dgm:presLayoutVars>
          <dgm:bulletEnabled val="1"/>
        </dgm:presLayoutVars>
      </dgm:prSet>
      <dgm:spPr/>
    </dgm:pt>
    <dgm:pt modelId="{74539D1F-B807-430C-900E-CCC66E3F54E5}" type="pres">
      <dgm:prSet presAssocID="{15571704-FBB1-4619-9716-EEC3A6EB88BE}" presName="sibTrans" presStyleCnt="0"/>
      <dgm:spPr/>
    </dgm:pt>
    <dgm:pt modelId="{AAE6C2CE-B907-473D-B42E-74641FA2C01B}" type="pres">
      <dgm:prSet presAssocID="{738ED65A-AD96-4E5D-8658-FBC8032CA849}" presName="node" presStyleLbl="node1" presStyleIdx="1" presStyleCnt="11">
        <dgm:presLayoutVars>
          <dgm:bulletEnabled val="1"/>
        </dgm:presLayoutVars>
      </dgm:prSet>
      <dgm:spPr/>
    </dgm:pt>
    <dgm:pt modelId="{F0517EBC-8DC0-46F5-A141-0876ABB2AF94}" type="pres">
      <dgm:prSet presAssocID="{C568D5BD-9789-4855-AD1F-74E644C2853C}" presName="sibTrans" presStyleCnt="0"/>
      <dgm:spPr/>
    </dgm:pt>
    <dgm:pt modelId="{11150468-1E0C-461E-B081-3E871826CD6E}" type="pres">
      <dgm:prSet presAssocID="{C343367E-6E0B-4D87-B42B-7BE9D32DBFB4}" presName="node" presStyleLbl="node1" presStyleIdx="2" presStyleCnt="11">
        <dgm:presLayoutVars>
          <dgm:bulletEnabled val="1"/>
        </dgm:presLayoutVars>
      </dgm:prSet>
      <dgm:spPr/>
    </dgm:pt>
    <dgm:pt modelId="{4B8C546C-B2FE-484F-9D70-59FFA5E9AAC4}" type="pres">
      <dgm:prSet presAssocID="{0314ED14-9B56-4888-B408-DE6DFF861303}" presName="sibTrans" presStyleCnt="0"/>
      <dgm:spPr/>
    </dgm:pt>
    <dgm:pt modelId="{EADAD31E-CA68-4DED-84FB-90D8D4DBAECE}" type="pres">
      <dgm:prSet presAssocID="{C7315578-E9A5-4134-B4A7-7D5BB6B07A6B}" presName="node" presStyleLbl="node1" presStyleIdx="3" presStyleCnt="11">
        <dgm:presLayoutVars>
          <dgm:bulletEnabled val="1"/>
        </dgm:presLayoutVars>
      </dgm:prSet>
      <dgm:spPr/>
    </dgm:pt>
    <dgm:pt modelId="{A979BF5D-A54F-474D-9150-B63CCCFF5452}" type="pres">
      <dgm:prSet presAssocID="{553A5501-4DCA-43DB-8116-18230E569107}" presName="sibTrans" presStyleCnt="0"/>
      <dgm:spPr/>
    </dgm:pt>
    <dgm:pt modelId="{BA295F3A-6E33-4693-A4E0-373D4996D66D}" type="pres">
      <dgm:prSet presAssocID="{DE28F121-BA13-471C-A5FD-6C3525B4C1F7}" presName="node" presStyleLbl="node1" presStyleIdx="4" presStyleCnt="11">
        <dgm:presLayoutVars>
          <dgm:bulletEnabled val="1"/>
        </dgm:presLayoutVars>
      </dgm:prSet>
      <dgm:spPr/>
    </dgm:pt>
    <dgm:pt modelId="{9DB4707D-D1B6-4985-84D5-AF222DADAC5F}" type="pres">
      <dgm:prSet presAssocID="{315D7A90-A1A0-453A-AF08-FC8444C88A25}" presName="sibTrans" presStyleCnt="0"/>
      <dgm:spPr/>
    </dgm:pt>
    <dgm:pt modelId="{38F50AC9-831D-4F84-96CD-EC61271A73DD}" type="pres">
      <dgm:prSet presAssocID="{2544A325-35B2-4DD5-9E7C-FA6BF05D8D51}" presName="node" presStyleLbl="node1" presStyleIdx="5" presStyleCnt="11">
        <dgm:presLayoutVars>
          <dgm:bulletEnabled val="1"/>
        </dgm:presLayoutVars>
      </dgm:prSet>
      <dgm:spPr/>
    </dgm:pt>
    <dgm:pt modelId="{4E961102-4E39-4CDF-AB5D-D644311A25D4}" type="pres">
      <dgm:prSet presAssocID="{C6EEDF51-E5C4-4A5A-B013-06480DEF4436}" presName="sibTrans" presStyleCnt="0"/>
      <dgm:spPr/>
    </dgm:pt>
    <dgm:pt modelId="{581D08C6-B287-4F68-8947-E6A14A005145}" type="pres">
      <dgm:prSet presAssocID="{88D508C0-6951-4B36-B9EC-720624817380}" presName="node" presStyleLbl="node1" presStyleIdx="6" presStyleCnt="11">
        <dgm:presLayoutVars>
          <dgm:bulletEnabled val="1"/>
        </dgm:presLayoutVars>
      </dgm:prSet>
      <dgm:spPr/>
    </dgm:pt>
    <dgm:pt modelId="{498D3D3F-3BFB-4E1E-954C-F1D807A9AB9A}" type="pres">
      <dgm:prSet presAssocID="{92259BB0-9CE6-40B9-B8B6-7AC53350A293}" presName="sibTrans" presStyleCnt="0"/>
      <dgm:spPr/>
    </dgm:pt>
    <dgm:pt modelId="{38B4E769-5F4D-4AC9-AA16-740543B9CEDA}" type="pres">
      <dgm:prSet presAssocID="{CD94133B-61DA-4A34-A60F-0215265606B9}" presName="node" presStyleLbl="node1" presStyleIdx="7" presStyleCnt="11">
        <dgm:presLayoutVars>
          <dgm:bulletEnabled val="1"/>
        </dgm:presLayoutVars>
      </dgm:prSet>
      <dgm:spPr/>
    </dgm:pt>
    <dgm:pt modelId="{EF02E81B-75FD-4A87-9A35-0F6FB55004C4}" type="pres">
      <dgm:prSet presAssocID="{2A1DE52F-E845-4F08-AE5B-2B61D7C98B10}" presName="sibTrans" presStyleCnt="0"/>
      <dgm:spPr/>
    </dgm:pt>
    <dgm:pt modelId="{97AB1813-5306-47D8-8D3C-3A38D4B1BEC2}" type="pres">
      <dgm:prSet presAssocID="{5C62CC07-8E06-4331-9E1A-9E7E663FD606}" presName="node" presStyleLbl="node1" presStyleIdx="8" presStyleCnt="11">
        <dgm:presLayoutVars>
          <dgm:bulletEnabled val="1"/>
        </dgm:presLayoutVars>
      </dgm:prSet>
      <dgm:spPr/>
    </dgm:pt>
    <dgm:pt modelId="{A38CF849-1CB4-45B5-AC79-8ED2DA96DD23}" type="pres">
      <dgm:prSet presAssocID="{085D55FC-2327-4CD6-95B6-439CA0F69403}" presName="sibTrans" presStyleCnt="0"/>
      <dgm:spPr/>
    </dgm:pt>
    <dgm:pt modelId="{F1FBFE21-9DF5-4505-8D8B-6EF2CCB31FEE}" type="pres">
      <dgm:prSet presAssocID="{841BAA9D-8539-4543-AF49-271CCD9C81AD}" presName="node" presStyleLbl="node1" presStyleIdx="9" presStyleCnt="11">
        <dgm:presLayoutVars>
          <dgm:bulletEnabled val="1"/>
        </dgm:presLayoutVars>
      </dgm:prSet>
      <dgm:spPr/>
    </dgm:pt>
    <dgm:pt modelId="{A658F4B5-3950-439C-960E-6D73DCA80588}" type="pres">
      <dgm:prSet presAssocID="{8D0329EB-9064-4776-BEA3-A9FC5CEB0AC7}" presName="sibTrans" presStyleCnt="0"/>
      <dgm:spPr/>
    </dgm:pt>
    <dgm:pt modelId="{FC18BE71-30A4-4718-92D9-19F6EDF79A0C}" type="pres">
      <dgm:prSet presAssocID="{2B759697-8CF0-4E48-9BAE-6E469FC93B90}" presName="node" presStyleLbl="node1" presStyleIdx="10" presStyleCnt="11">
        <dgm:presLayoutVars>
          <dgm:bulletEnabled val="1"/>
        </dgm:presLayoutVars>
      </dgm:prSet>
      <dgm:spPr/>
    </dgm:pt>
  </dgm:ptLst>
  <dgm:cxnLst>
    <dgm:cxn modelId="{4A05C20D-7DE2-4FBC-A9B5-4A064E14A887}" type="presOf" srcId="{5C62CC07-8E06-4331-9E1A-9E7E663FD606}" destId="{97AB1813-5306-47D8-8D3C-3A38D4B1BEC2}" srcOrd="0" destOrd="0" presId="urn:microsoft.com/office/officeart/2005/8/layout/default#1"/>
    <dgm:cxn modelId="{94638D26-7CE8-4FBA-A785-48B5794A0A11}" type="presOf" srcId="{DE28F121-BA13-471C-A5FD-6C3525B4C1F7}" destId="{BA295F3A-6E33-4693-A4E0-373D4996D66D}" srcOrd="0" destOrd="0" presId="urn:microsoft.com/office/officeart/2005/8/layout/default#1"/>
    <dgm:cxn modelId="{6018B82A-916F-496B-8BC9-7B9DAF5532F6}" type="presOf" srcId="{2544A325-35B2-4DD5-9E7C-FA6BF05D8D51}" destId="{38F50AC9-831D-4F84-96CD-EC61271A73DD}" srcOrd="0" destOrd="0" presId="urn:microsoft.com/office/officeart/2005/8/layout/default#1"/>
    <dgm:cxn modelId="{4538BD2D-F2C0-44AB-BAC0-642284A062B5}" srcId="{5A4DFC9D-11E0-4B97-9CB8-CB29870A3A87}" destId="{841BAA9D-8539-4543-AF49-271CCD9C81AD}" srcOrd="9" destOrd="0" parTransId="{6C939C71-D724-46F7-8A4F-A608FC064EB2}" sibTransId="{8D0329EB-9064-4776-BEA3-A9FC5CEB0AC7}"/>
    <dgm:cxn modelId="{0D77A834-D62C-4120-8FCA-AD23E07BD22F}" srcId="{5A4DFC9D-11E0-4B97-9CB8-CB29870A3A87}" destId="{5C62CC07-8E06-4331-9E1A-9E7E663FD606}" srcOrd="8" destOrd="0" parTransId="{4D910CA0-0059-4CDF-8C89-C2BB2D2FE887}" sibTransId="{085D55FC-2327-4CD6-95B6-439CA0F69403}"/>
    <dgm:cxn modelId="{3A02123B-1AFD-4BE4-AB9C-D63EEF4E9033}" type="presOf" srcId="{CD94133B-61DA-4A34-A60F-0215265606B9}" destId="{38B4E769-5F4D-4AC9-AA16-740543B9CEDA}" srcOrd="0" destOrd="0" presId="urn:microsoft.com/office/officeart/2005/8/layout/default#1"/>
    <dgm:cxn modelId="{F03BBE3B-AE5B-48D7-A9E8-E72ED28EF102}" type="presOf" srcId="{841BAA9D-8539-4543-AF49-271CCD9C81AD}" destId="{F1FBFE21-9DF5-4505-8D8B-6EF2CCB31FEE}" srcOrd="0" destOrd="0" presId="urn:microsoft.com/office/officeart/2005/8/layout/default#1"/>
    <dgm:cxn modelId="{37477746-43FA-4261-B4EE-1D76B566CEE3}" srcId="{5A4DFC9D-11E0-4B97-9CB8-CB29870A3A87}" destId="{2544A325-35B2-4DD5-9E7C-FA6BF05D8D51}" srcOrd="5" destOrd="0" parTransId="{BAA594F8-64A3-421B-B23E-46A3F9539157}" sibTransId="{C6EEDF51-E5C4-4A5A-B013-06480DEF4436}"/>
    <dgm:cxn modelId="{ED4B2847-F2A8-49F7-B832-781FF44FA304}" type="presOf" srcId="{88D508C0-6951-4B36-B9EC-720624817380}" destId="{581D08C6-B287-4F68-8947-E6A14A005145}" srcOrd="0" destOrd="0" presId="urn:microsoft.com/office/officeart/2005/8/layout/default#1"/>
    <dgm:cxn modelId="{DEED2269-19FB-4490-8D8E-51573DA4BB39}" type="presOf" srcId="{5A4DFC9D-11E0-4B97-9CB8-CB29870A3A87}" destId="{FD459526-A632-4165-84F0-DD4D44069092}" srcOrd="0" destOrd="0" presId="urn:microsoft.com/office/officeart/2005/8/layout/default#1"/>
    <dgm:cxn modelId="{ECA30F4A-CF0A-4A67-99E4-488D44DDE982}" srcId="{5A4DFC9D-11E0-4B97-9CB8-CB29870A3A87}" destId="{C7315578-E9A5-4134-B4A7-7D5BB6B07A6B}" srcOrd="3" destOrd="0" parTransId="{DE491F9E-7A51-45A3-837D-65396046329A}" sibTransId="{553A5501-4DCA-43DB-8116-18230E569107}"/>
    <dgm:cxn modelId="{16E5146B-C006-4348-BAE1-0BBDA98A244C}" srcId="{5A4DFC9D-11E0-4B97-9CB8-CB29870A3A87}" destId="{CD94133B-61DA-4A34-A60F-0215265606B9}" srcOrd="7" destOrd="0" parTransId="{29BACC2F-1438-406C-B1DC-2467396250CC}" sibTransId="{2A1DE52F-E845-4F08-AE5B-2B61D7C98B10}"/>
    <dgm:cxn modelId="{90D3DD71-ADF4-4D2D-B2A1-C31FF5E191B9}" type="presOf" srcId="{2B759697-8CF0-4E48-9BAE-6E469FC93B90}" destId="{FC18BE71-30A4-4718-92D9-19F6EDF79A0C}" srcOrd="0" destOrd="0" presId="urn:microsoft.com/office/officeart/2005/8/layout/default#1"/>
    <dgm:cxn modelId="{53397B87-99E2-4DE9-AFB2-FD4068FAEF65}" type="presOf" srcId="{C343367E-6E0B-4D87-B42B-7BE9D32DBFB4}" destId="{11150468-1E0C-461E-B081-3E871826CD6E}" srcOrd="0" destOrd="0" presId="urn:microsoft.com/office/officeart/2005/8/layout/default#1"/>
    <dgm:cxn modelId="{7BA2FF8C-C064-4CD7-BFAD-96CC0AA3E2C6}" type="presOf" srcId="{E7EC3F5A-6FF5-4DAC-B7A7-62451E4288C9}" destId="{4594C686-F253-4728-84C9-151C8028A3AE}" srcOrd="0" destOrd="0" presId="urn:microsoft.com/office/officeart/2005/8/layout/default#1"/>
    <dgm:cxn modelId="{D4ED029F-4144-4304-9546-CBEE30045520}" srcId="{5A4DFC9D-11E0-4B97-9CB8-CB29870A3A87}" destId="{738ED65A-AD96-4E5D-8658-FBC8032CA849}" srcOrd="1" destOrd="0" parTransId="{AA519882-9FF2-44E4-BDFE-61E8CCE8F6CD}" sibTransId="{C568D5BD-9789-4855-AD1F-74E644C2853C}"/>
    <dgm:cxn modelId="{9F07ACB8-D182-41D1-9474-73291F2F16A2}" type="presOf" srcId="{C7315578-E9A5-4134-B4A7-7D5BB6B07A6B}" destId="{EADAD31E-CA68-4DED-84FB-90D8D4DBAECE}" srcOrd="0" destOrd="0" presId="urn:microsoft.com/office/officeart/2005/8/layout/default#1"/>
    <dgm:cxn modelId="{796988C0-8389-4954-96BB-383FDDE39E0F}" srcId="{5A4DFC9D-11E0-4B97-9CB8-CB29870A3A87}" destId="{DE28F121-BA13-471C-A5FD-6C3525B4C1F7}" srcOrd="4" destOrd="0" parTransId="{17042EB1-E666-4CFF-9C87-76C132D1B670}" sibTransId="{315D7A90-A1A0-453A-AF08-FC8444C88A25}"/>
    <dgm:cxn modelId="{6EFBE5DA-FEA5-485E-8659-0DEF4B626CDB}" srcId="{5A4DFC9D-11E0-4B97-9CB8-CB29870A3A87}" destId="{2B759697-8CF0-4E48-9BAE-6E469FC93B90}" srcOrd="10" destOrd="0" parTransId="{39C62AFE-22B8-443E-84C9-E27900DEF995}" sibTransId="{DE9F9152-4665-44BF-88DA-2F8D11A40C6C}"/>
    <dgm:cxn modelId="{EF947CF0-29F8-4E95-9D76-285944A93006}" type="presOf" srcId="{738ED65A-AD96-4E5D-8658-FBC8032CA849}" destId="{AAE6C2CE-B907-473D-B42E-74641FA2C01B}" srcOrd="0" destOrd="0" presId="urn:microsoft.com/office/officeart/2005/8/layout/default#1"/>
    <dgm:cxn modelId="{6C08C3F8-3A1B-4934-9B40-7F04A9AE587E}" srcId="{5A4DFC9D-11E0-4B97-9CB8-CB29870A3A87}" destId="{88D508C0-6951-4B36-B9EC-720624817380}" srcOrd="6" destOrd="0" parTransId="{16B9E4BC-6FBE-49FE-9E54-55818D5A7EE9}" sibTransId="{92259BB0-9CE6-40B9-B8B6-7AC53350A293}"/>
    <dgm:cxn modelId="{4A243FFA-DBAF-4962-844F-48832D368119}" srcId="{5A4DFC9D-11E0-4B97-9CB8-CB29870A3A87}" destId="{C343367E-6E0B-4D87-B42B-7BE9D32DBFB4}" srcOrd="2" destOrd="0" parTransId="{4707B6D6-66D1-43F8-9303-973EBBD6E514}" sibTransId="{0314ED14-9B56-4888-B408-DE6DFF861303}"/>
    <dgm:cxn modelId="{95FE29FD-D14D-4489-B8E6-5C865BDAA8B9}" srcId="{5A4DFC9D-11E0-4B97-9CB8-CB29870A3A87}" destId="{E7EC3F5A-6FF5-4DAC-B7A7-62451E4288C9}" srcOrd="0" destOrd="0" parTransId="{C2D8A5DA-E5F7-449B-BAF1-6ACE8D37675E}" sibTransId="{15571704-FBB1-4619-9716-EEC3A6EB88BE}"/>
    <dgm:cxn modelId="{32AAAB03-8F0E-46A3-A03E-6EE4E95EB739}" type="presParOf" srcId="{FD459526-A632-4165-84F0-DD4D44069092}" destId="{4594C686-F253-4728-84C9-151C8028A3AE}" srcOrd="0" destOrd="0" presId="urn:microsoft.com/office/officeart/2005/8/layout/default#1"/>
    <dgm:cxn modelId="{EA23CF42-340D-4B66-9E29-08ABB17BE7E5}" type="presParOf" srcId="{FD459526-A632-4165-84F0-DD4D44069092}" destId="{74539D1F-B807-430C-900E-CCC66E3F54E5}" srcOrd="1" destOrd="0" presId="urn:microsoft.com/office/officeart/2005/8/layout/default#1"/>
    <dgm:cxn modelId="{3A6664EA-1C67-4F1F-9C19-F40E00AA129B}" type="presParOf" srcId="{FD459526-A632-4165-84F0-DD4D44069092}" destId="{AAE6C2CE-B907-473D-B42E-74641FA2C01B}" srcOrd="2" destOrd="0" presId="urn:microsoft.com/office/officeart/2005/8/layout/default#1"/>
    <dgm:cxn modelId="{8FA81757-445F-4D22-9B4A-5B0FCDF6D1CF}" type="presParOf" srcId="{FD459526-A632-4165-84F0-DD4D44069092}" destId="{F0517EBC-8DC0-46F5-A141-0876ABB2AF94}" srcOrd="3" destOrd="0" presId="urn:microsoft.com/office/officeart/2005/8/layout/default#1"/>
    <dgm:cxn modelId="{CAD961DD-36E4-4E35-B548-3CC2F782FB7E}" type="presParOf" srcId="{FD459526-A632-4165-84F0-DD4D44069092}" destId="{11150468-1E0C-461E-B081-3E871826CD6E}" srcOrd="4" destOrd="0" presId="urn:microsoft.com/office/officeart/2005/8/layout/default#1"/>
    <dgm:cxn modelId="{83C97DA8-67C6-4CD6-95E8-143764DA714D}" type="presParOf" srcId="{FD459526-A632-4165-84F0-DD4D44069092}" destId="{4B8C546C-B2FE-484F-9D70-59FFA5E9AAC4}" srcOrd="5" destOrd="0" presId="urn:microsoft.com/office/officeart/2005/8/layout/default#1"/>
    <dgm:cxn modelId="{9B285612-34ED-4F93-A5BA-9A38826EA2D7}" type="presParOf" srcId="{FD459526-A632-4165-84F0-DD4D44069092}" destId="{EADAD31E-CA68-4DED-84FB-90D8D4DBAECE}" srcOrd="6" destOrd="0" presId="urn:microsoft.com/office/officeart/2005/8/layout/default#1"/>
    <dgm:cxn modelId="{4BB3879D-717C-4767-BB59-F563EC8EFD35}" type="presParOf" srcId="{FD459526-A632-4165-84F0-DD4D44069092}" destId="{A979BF5D-A54F-474D-9150-B63CCCFF5452}" srcOrd="7" destOrd="0" presId="urn:microsoft.com/office/officeart/2005/8/layout/default#1"/>
    <dgm:cxn modelId="{68AC56EA-5F1F-4E28-A9CD-18D06AB56906}" type="presParOf" srcId="{FD459526-A632-4165-84F0-DD4D44069092}" destId="{BA295F3A-6E33-4693-A4E0-373D4996D66D}" srcOrd="8" destOrd="0" presId="urn:microsoft.com/office/officeart/2005/8/layout/default#1"/>
    <dgm:cxn modelId="{400A5957-EF99-4AFD-B5EE-ACFAAE27458A}" type="presParOf" srcId="{FD459526-A632-4165-84F0-DD4D44069092}" destId="{9DB4707D-D1B6-4985-84D5-AF222DADAC5F}" srcOrd="9" destOrd="0" presId="urn:microsoft.com/office/officeart/2005/8/layout/default#1"/>
    <dgm:cxn modelId="{C385990A-636E-4939-82DD-8C3B785B72B7}" type="presParOf" srcId="{FD459526-A632-4165-84F0-DD4D44069092}" destId="{38F50AC9-831D-4F84-96CD-EC61271A73DD}" srcOrd="10" destOrd="0" presId="urn:microsoft.com/office/officeart/2005/8/layout/default#1"/>
    <dgm:cxn modelId="{B9814AA9-7D37-4F58-A96C-CBD23A6517C1}" type="presParOf" srcId="{FD459526-A632-4165-84F0-DD4D44069092}" destId="{4E961102-4E39-4CDF-AB5D-D644311A25D4}" srcOrd="11" destOrd="0" presId="urn:microsoft.com/office/officeart/2005/8/layout/default#1"/>
    <dgm:cxn modelId="{35C859A4-1F54-47E4-8431-FAF43614E98E}" type="presParOf" srcId="{FD459526-A632-4165-84F0-DD4D44069092}" destId="{581D08C6-B287-4F68-8947-E6A14A005145}" srcOrd="12" destOrd="0" presId="urn:microsoft.com/office/officeart/2005/8/layout/default#1"/>
    <dgm:cxn modelId="{26905EFB-971E-46D4-8EBA-44DD9C8BE782}" type="presParOf" srcId="{FD459526-A632-4165-84F0-DD4D44069092}" destId="{498D3D3F-3BFB-4E1E-954C-F1D807A9AB9A}" srcOrd="13" destOrd="0" presId="urn:microsoft.com/office/officeart/2005/8/layout/default#1"/>
    <dgm:cxn modelId="{382157CC-4E57-42E2-87B3-81F1F7BCF15B}" type="presParOf" srcId="{FD459526-A632-4165-84F0-DD4D44069092}" destId="{38B4E769-5F4D-4AC9-AA16-740543B9CEDA}" srcOrd="14" destOrd="0" presId="urn:microsoft.com/office/officeart/2005/8/layout/default#1"/>
    <dgm:cxn modelId="{8838A1EE-C614-486F-86AB-7310A54B5D3D}" type="presParOf" srcId="{FD459526-A632-4165-84F0-DD4D44069092}" destId="{EF02E81B-75FD-4A87-9A35-0F6FB55004C4}" srcOrd="15" destOrd="0" presId="urn:microsoft.com/office/officeart/2005/8/layout/default#1"/>
    <dgm:cxn modelId="{2CE5F2D8-5223-4D3C-BA8C-B2E8091B1D31}" type="presParOf" srcId="{FD459526-A632-4165-84F0-DD4D44069092}" destId="{97AB1813-5306-47D8-8D3C-3A38D4B1BEC2}" srcOrd="16" destOrd="0" presId="urn:microsoft.com/office/officeart/2005/8/layout/default#1"/>
    <dgm:cxn modelId="{B21222E5-5219-4EA8-B30C-45D3BDFB724C}" type="presParOf" srcId="{FD459526-A632-4165-84F0-DD4D44069092}" destId="{A38CF849-1CB4-45B5-AC79-8ED2DA96DD23}" srcOrd="17" destOrd="0" presId="urn:microsoft.com/office/officeart/2005/8/layout/default#1"/>
    <dgm:cxn modelId="{1101910C-E07F-486F-A276-86486C905C51}" type="presParOf" srcId="{FD459526-A632-4165-84F0-DD4D44069092}" destId="{F1FBFE21-9DF5-4505-8D8B-6EF2CCB31FEE}" srcOrd="18" destOrd="0" presId="urn:microsoft.com/office/officeart/2005/8/layout/default#1"/>
    <dgm:cxn modelId="{B4FFC812-52FA-4515-8CF5-B16F299497C2}" type="presParOf" srcId="{FD459526-A632-4165-84F0-DD4D44069092}" destId="{A658F4B5-3950-439C-960E-6D73DCA80588}" srcOrd="19" destOrd="0" presId="urn:microsoft.com/office/officeart/2005/8/layout/default#1"/>
    <dgm:cxn modelId="{C155C97A-0D86-4183-9CB3-62269E94BD6F}" type="presParOf" srcId="{FD459526-A632-4165-84F0-DD4D44069092}" destId="{FC18BE71-30A4-4718-92D9-19F6EDF79A0C}" srcOrd="20" destOrd="0" presId="urn:microsoft.com/office/officeart/2005/8/layout/defaul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22018E6E-0B9C-4FC3-8424-7F10274883EC}" type="doc">
      <dgm:prSet loTypeId="urn:microsoft.com/office/officeart/2009/3/layout/PlusandMinus" loCatId="relationship" qsTypeId="urn:microsoft.com/office/officeart/2005/8/quickstyle/simple1" qsCatId="simple" csTypeId="urn:microsoft.com/office/officeart/2005/8/colors/colorful1#3" csCatId="colorful" phldr="1"/>
      <dgm:spPr/>
      <dgm:t>
        <a:bodyPr/>
        <a:lstStyle/>
        <a:p>
          <a:endParaRPr lang="zh-CN" altLang="en-US"/>
        </a:p>
      </dgm:t>
    </dgm:pt>
    <dgm:pt modelId="{5374394C-E711-403B-87D3-95CE54295962}">
      <dgm:prSet phldrT="[文本]" custT="1"/>
      <dgm:spPr/>
      <dgm:t>
        <a:bodyPr/>
        <a:lstStyle/>
        <a:p>
          <a:pPr>
            <a:lnSpc>
              <a:spcPts val="2000"/>
            </a:lnSpc>
            <a:spcAft>
              <a:spcPts val="600"/>
            </a:spcAft>
          </a:pPr>
          <a:r>
            <a:rPr lang="zh-CN" altLang="en-US" sz="1600" b="1" dirty="0">
              <a:latin typeface="微软雅黑" panose="020B0503020204020204" pitchFamily="34" charset="-122"/>
              <a:ea typeface="微软雅黑" panose="020B0503020204020204" pitchFamily="34" charset="-122"/>
            </a:rPr>
            <a:t>管理简单；</a:t>
          </a:r>
          <a:endParaRPr lang="en-US" altLang="zh-CN" sz="1600" b="1" dirty="0">
            <a:latin typeface="微软雅黑" panose="020B0503020204020204" pitchFamily="34" charset="-122"/>
            <a:ea typeface="微软雅黑" panose="020B0503020204020204" pitchFamily="34" charset="-122"/>
          </a:endParaRPr>
        </a:p>
        <a:p>
          <a:pPr>
            <a:lnSpc>
              <a:spcPts val="2000"/>
            </a:lnSpc>
            <a:spcAft>
              <a:spcPts val="600"/>
            </a:spcAft>
          </a:pPr>
          <a:r>
            <a:rPr lang="zh-CN" altLang="en-US" sz="1600" b="1" dirty="0">
              <a:latin typeface="微软雅黑" panose="020B0503020204020204" pitchFamily="34" charset="-122"/>
              <a:ea typeface="微软雅黑" panose="020B0503020204020204" pitchFamily="34" charset="-122"/>
            </a:rPr>
            <a:t>使用方便；</a:t>
          </a:r>
          <a:endParaRPr lang="en-US" altLang="zh-CN" sz="1600" b="1" dirty="0">
            <a:latin typeface="微软雅黑" panose="020B0503020204020204" pitchFamily="34" charset="-122"/>
            <a:ea typeface="微软雅黑" panose="020B0503020204020204" pitchFamily="34" charset="-122"/>
          </a:endParaRPr>
        </a:p>
        <a:p>
          <a:pPr>
            <a:lnSpc>
              <a:spcPts val="2000"/>
            </a:lnSpc>
            <a:spcAft>
              <a:spcPts val="600"/>
            </a:spcAft>
          </a:pPr>
          <a:r>
            <a:rPr lang="zh-CN" altLang="en-US" sz="1600" b="1" dirty="0">
              <a:latin typeface="微软雅黑" panose="020B0503020204020204" pitchFamily="34" charset="-122"/>
              <a:ea typeface="微软雅黑" panose="020B0503020204020204" pitchFamily="34" charset="-122"/>
            </a:rPr>
            <a:t>转发分组迅速；</a:t>
          </a:r>
          <a:endParaRPr lang="en-US" altLang="zh-CN" sz="1600" b="1" dirty="0">
            <a:latin typeface="微软雅黑" panose="020B0503020204020204" pitchFamily="34" charset="-122"/>
            <a:ea typeface="微软雅黑" panose="020B0503020204020204" pitchFamily="34" charset="-122"/>
          </a:endParaRPr>
        </a:p>
        <a:p>
          <a:pPr>
            <a:lnSpc>
              <a:spcPts val="2000"/>
            </a:lnSpc>
            <a:spcAft>
              <a:spcPts val="600"/>
            </a:spcAft>
          </a:pPr>
          <a:r>
            <a:rPr lang="zh-CN" altLang="zh-CN" sz="1600" b="1" dirty="0">
              <a:latin typeface="微软雅黑" panose="020B0503020204020204" pitchFamily="34" charset="-122"/>
              <a:ea typeface="微软雅黑" panose="020B0503020204020204" pitchFamily="34" charset="-122"/>
            </a:rPr>
            <a:t>划分子网</a:t>
          </a:r>
          <a:r>
            <a:rPr lang="zh-CN" altLang="en-US" sz="1600" b="1" dirty="0">
              <a:latin typeface="微软雅黑" panose="020B0503020204020204" pitchFamily="34" charset="-122"/>
              <a:ea typeface="微软雅黑" panose="020B0503020204020204" pitchFamily="34" charset="-122"/>
            </a:rPr>
            <a:t>，灵活地使用。</a:t>
          </a:r>
        </a:p>
      </dgm:t>
    </dgm:pt>
    <dgm:pt modelId="{3074837E-5CB6-4F26-B3AF-0FBBF40E15D3}" type="parTrans" cxnId="{8072EEA7-81AC-4761-8640-6C093705A07C}">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EB361991-367A-47AA-B4DE-F001008F5F5F}" type="sibTrans" cxnId="{8072EEA7-81AC-4761-8640-6C093705A07C}">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007364F2-2070-4A6D-AE9E-A9FC284A294E}">
      <dgm:prSet phldrT="[文本]" custT="1"/>
      <dgm:spPr/>
      <dgm:t>
        <a:bodyPr/>
        <a:lstStyle/>
        <a:p>
          <a:pPr>
            <a:lnSpc>
              <a:spcPts val="2000"/>
            </a:lnSpc>
            <a:spcAft>
              <a:spcPts val="600"/>
            </a:spcAft>
          </a:pPr>
          <a:r>
            <a:rPr lang="zh-CN" altLang="en-US" sz="1600" b="1" dirty="0">
              <a:latin typeface="微软雅黑" panose="020B0503020204020204" pitchFamily="34" charset="-122"/>
              <a:ea typeface="微软雅黑" panose="020B0503020204020204" pitchFamily="34" charset="-122"/>
            </a:rPr>
            <a:t>设计上不合理：</a:t>
          </a:r>
          <a:endParaRPr lang="en-US" altLang="zh-CN" sz="1600" b="1" dirty="0">
            <a:latin typeface="微软雅黑" panose="020B0503020204020204" pitchFamily="34" charset="-122"/>
            <a:ea typeface="微软雅黑" panose="020B0503020204020204" pitchFamily="34" charset="-122"/>
          </a:endParaRPr>
        </a:p>
        <a:p>
          <a:pPr>
            <a:lnSpc>
              <a:spcPts val="2000"/>
            </a:lnSpc>
            <a:spcAft>
              <a:spcPts val="600"/>
            </a:spcAft>
          </a:pPr>
          <a:r>
            <a:rPr lang="zh-CN" altLang="en-US" sz="1600" b="1" dirty="0">
              <a:latin typeface="微软雅黑" panose="020B0503020204020204" pitchFamily="34" charset="-122"/>
              <a:ea typeface="微软雅黑" panose="020B0503020204020204" pitchFamily="34" charset="-122"/>
            </a:rPr>
            <a:t>大地址块，</a:t>
          </a:r>
          <a:r>
            <a:rPr lang="zh-CN" altLang="en-US" sz="1600" b="1" dirty="0">
              <a:solidFill>
                <a:srgbClr val="C00000"/>
              </a:solidFill>
              <a:latin typeface="微软雅黑" panose="020B0503020204020204" pitchFamily="34" charset="-122"/>
              <a:ea typeface="微软雅黑" panose="020B0503020204020204" pitchFamily="34" charset="-122"/>
            </a:rPr>
            <a:t>浪费</a:t>
          </a:r>
          <a:r>
            <a:rPr lang="zh-CN" altLang="en-US" sz="1600" b="1" dirty="0">
              <a:latin typeface="微软雅黑" panose="020B0503020204020204" pitchFamily="34" charset="-122"/>
              <a:ea typeface="微软雅黑" panose="020B0503020204020204" pitchFamily="34" charset="-122"/>
            </a:rPr>
            <a:t>地址资源；</a:t>
          </a:r>
          <a:endParaRPr lang="en-US" altLang="zh-CN" sz="1600" b="1" dirty="0">
            <a:latin typeface="微软雅黑" panose="020B0503020204020204" pitchFamily="34" charset="-122"/>
            <a:ea typeface="微软雅黑" panose="020B0503020204020204" pitchFamily="34" charset="-122"/>
          </a:endParaRPr>
        </a:p>
        <a:p>
          <a:pPr>
            <a:lnSpc>
              <a:spcPts val="2000"/>
            </a:lnSpc>
            <a:spcAft>
              <a:spcPts val="600"/>
            </a:spcAft>
          </a:pPr>
          <a:r>
            <a:rPr lang="zh-CN" altLang="en-US" sz="1600" b="1" dirty="0">
              <a:latin typeface="微软雅黑" panose="020B0503020204020204" pitchFamily="34" charset="-122"/>
              <a:ea typeface="微软雅黑" panose="020B0503020204020204" pitchFamily="34" charset="-122"/>
            </a:rPr>
            <a:t>即使采用划分子网的方法，也无法解决 </a:t>
          </a:r>
          <a:r>
            <a:rPr lang="en-US" altLang="en-US"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a:t>
          </a:r>
          <a:r>
            <a:rPr lang="zh-CN" altLang="en-US" sz="1600" b="1" dirty="0">
              <a:solidFill>
                <a:srgbClr val="C00000"/>
              </a:solidFill>
              <a:latin typeface="微软雅黑" panose="020B0503020204020204" pitchFamily="34" charset="-122"/>
              <a:ea typeface="微软雅黑" panose="020B0503020204020204" pitchFamily="34" charset="-122"/>
            </a:rPr>
            <a:t>枯竭</a:t>
          </a:r>
          <a:r>
            <a:rPr lang="zh-CN" altLang="en-US" sz="1600" b="1" dirty="0">
              <a:latin typeface="微软雅黑" panose="020B0503020204020204" pitchFamily="34" charset="-122"/>
              <a:ea typeface="微软雅黑" panose="020B0503020204020204" pitchFamily="34" charset="-122"/>
            </a:rPr>
            <a:t>的问题。</a:t>
          </a:r>
        </a:p>
      </dgm:t>
    </dgm:pt>
    <dgm:pt modelId="{66C9E57C-9FB1-41AA-B8BC-A30642C3D79C}" type="parTrans" cxnId="{D72063B5-D744-4718-BA9F-53E2C581F461}">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2DD0817A-43BD-4AAE-BC82-551A36799611}" type="sibTrans" cxnId="{D72063B5-D744-4718-BA9F-53E2C581F461}">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29223938-D050-4F79-A23C-4AD2512126B0}" type="pres">
      <dgm:prSet presAssocID="{22018E6E-0B9C-4FC3-8424-7F10274883EC}" presName="Name0" presStyleCnt="0">
        <dgm:presLayoutVars>
          <dgm:chMax val="2"/>
          <dgm:chPref val="2"/>
          <dgm:dir/>
          <dgm:animOne/>
          <dgm:resizeHandles val="exact"/>
        </dgm:presLayoutVars>
      </dgm:prSet>
      <dgm:spPr/>
    </dgm:pt>
    <dgm:pt modelId="{424B0A0E-971B-4E83-B9F0-6072ADB97738}" type="pres">
      <dgm:prSet presAssocID="{22018E6E-0B9C-4FC3-8424-7F10274883EC}" presName="Background" presStyleLbl="bgImgPlace1" presStyleIdx="0" presStyleCnt="1" custScaleX="120220" custLinFactNeighborX="0"/>
      <dgm:spPr/>
    </dgm:pt>
    <dgm:pt modelId="{E873E07A-9E09-453F-95F0-A7AAEE2551B3}" type="pres">
      <dgm:prSet presAssocID="{22018E6E-0B9C-4FC3-8424-7F10274883EC}" presName="ParentText1" presStyleLbl="revTx" presStyleIdx="0" presStyleCnt="2" custScaleX="112967" custScaleY="86781" custLinFactNeighborX="-2508">
        <dgm:presLayoutVars>
          <dgm:chMax val="0"/>
          <dgm:chPref val="0"/>
          <dgm:bulletEnabled val="1"/>
        </dgm:presLayoutVars>
      </dgm:prSet>
      <dgm:spPr/>
    </dgm:pt>
    <dgm:pt modelId="{40AD89A0-37A1-4061-B639-561D759D430F}" type="pres">
      <dgm:prSet presAssocID="{22018E6E-0B9C-4FC3-8424-7F10274883EC}" presName="ParentText2" presStyleLbl="revTx" presStyleIdx="1" presStyleCnt="2" custScaleX="112967" custScaleY="86781" custLinFactNeighborX="9992">
        <dgm:presLayoutVars>
          <dgm:chMax val="0"/>
          <dgm:chPref val="0"/>
          <dgm:bulletEnabled val="1"/>
        </dgm:presLayoutVars>
      </dgm:prSet>
      <dgm:spPr/>
    </dgm:pt>
    <dgm:pt modelId="{69C13D01-1AFC-4B1D-A9D4-90EC30CD2E19}" type="pres">
      <dgm:prSet presAssocID="{22018E6E-0B9C-4FC3-8424-7F10274883EC}" presName="Plus" presStyleLbl="alignNode1" presStyleIdx="0" presStyleCnt="2" custLinFactNeighborX="-25576"/>
      <dgm:spPr/>
    </dgm:pt>
    <dgm:pt modelId="{279C3955-DDC3-45AE-ABAF-A714C59D6D50}" type="pres">
      <dgm:prSet presAssocID="{22018E6E-0B9C-4FC3-8424-7F10274883EC}" presName="Minus" presStyleLbl="alignNode1" presStyleIdx="1" presStyleCnt="2" custLinFactNeighborX="55376"/>
      <dgm:spPr>
        <a:solidFill>
          <a:srgbClr val="000099"/>
        </a:solidFill>
        <a:ln>
          <a:noFill/>
        </a:ln>
      </dgm:spPr>
    </dgm:pt>
    <dgm:pt modelId="{8D85BB93-CCEC-4AF9-A3E3-7305BF0CC5BD}" type="pres">
      <dgm:prSet presAssocID="{22018E6E-0B9C-4FC3-8424-7F10274883EC}" presName="Divider" presStyleLbl="parChTrans1D1" presStyleIdx="0" presStyleCnt="1"/>
      <dgm:spPr>
        <a:ln>
          <a:solidFill>
            <a:srgbClr val="000099"/>
          </a:solidFill>
        </a:ln>
      </dgm:spPr>
    </dgm:pt>
  </dgm:ptLst>
  <dgm:cxnLst>
    <dgm:cxn modelId="{42B30209-CEBA-49A2-B3AB-419B1C2AA1D6}" type="presOf" srcId="{007364F2-2070-4A6D-AE9E-A9FC284A294E}" destId="{40AD89A0-37A1-4061-B639-561D759D430F}" srcOrd="0" destOrd="0" presId="urn:microsoft.com/office/officeart/2009/3/layout/PlusandMinus"/>
    <dgm:cxn modelId="{77C5D026-ADDA-4B4D-90F6-E4378E9BBDE6}" type="presOf" srcId="{22018E6E-0B9C-4FC3-8424-7F10274883EC}" destId="{29223938-D050-4F79-A23C-4AD2512126B0}" srcOrd="0" destOrd="0" presId="urn:microsoft.com/office/officeart/2009/3/layout/PlusandMinus"/>
    <dgm:cxn modelId="{8072EEA7-81AC-4761-8640-6C093705A07C}" srcId="{22018E6E-0B9C-4FC3-8424-7F10274883EC}" destId="{5374394C-E711-403B-87D3-95CE54295962}" srcOrd="0" destOrd="0" parTransId="{3074837E-5CB6-4F26-B3AF-0FBBF40E15D3}" sibTransId="{EB361991-367A-47AA-B4DE-F001008F5F5F}"/>
    <dgm:cxn modelId="{D72063B5-D744-4718-BA9F-53E2C581F461}" srcId="{22018E6E-0B9C-4FC3-8424-7F10274883EC}" destId="{007364F2-2070-4A6D-AE9E-A9FC284A294E}" srcOrd="1" destOrd="0" parTransId="{66C9E57C-9FB1-41AA-B8BC-A30642C3D79C}" sibTransId="{2DD0817A-43BD-4AAE-BC82-551A36799611}"/>
    <dgm:cxn modelId="{3730DDDF-4055-44DF-AE58-4E3870ECC856}" type="presOf" srcId="{5374394C-E711-403B-87D3-95CE54295962}" destId="{E873E07A-9E09-453F-95F0-A7AAEE2551B3}" srcOrd="0" destOrd="0" presId="urn:microsoft.com/office/officeart/2009/3/layout/PlusandMinus"/>
    <dgm:cxn modelId="{6B858D72-137C-4B91-A78D-5A8099049508}" type="presParOf" srcId="{29223938-D050-4F79-A23C-4AD2512126B0}" destId="{424B0A0E-971B-4E83-B9F0-6072ADB97738}" srcOrd="0" destOrd="0" presId="urn:microsoft.com/office/officeart/2009/3/layout/PlusandMinus"/>
    <dgm:cxn modelId="{37065EDD-C235-4710-AE59-7F9B95BFD459}" type="presParOf" srcId="{29223938-D050-4F79-A23C-4AD2512126B0}" destId="{E873E07A-9E09-453F-95F0-A7AAEE2551B3}" srcOrd="1" destOrd="0" presId="urn:microsoft.com/office/officeart/2009/3/layout/PlusandMinus"/>
    <dgm:cxn modelId="{8ECF53E8-DADB-49DE-AF4C-4F48E1BDAE66}" type="presParOf" srcId="{29223938-D050-4F79-A23C-4AD2512126B0}" destId="{40AD89A0-37A1-4061-B639-561D759D430F}" srcOrd="2" destOrd="0" presId="urn:microsoft.com/office/officeart/2009/3/layout/PlusandMinus"/>
    <dgm:cxn modelId="{2677E292-37BC-44CB-B103-4B1C1D7B273B}" type="presParOf" srcId="{29223938-D050-4F79-A23C-4AD2512126B0}" destId="{69C13D01-1AFC-4B1D-A9D4-90EC30CD2E19}" srcOrd="3" destOrd="0" presId="urn:microsoft.com/office/officeart/2009/3/layout/PlusandMinus"/>
    <dgm:cxn modelId="{B0E207AB-9C79-4F83-BDAE-0FBB25B4D6FD}" type="presParOf" srcId="{29223938-D050-4F79-A23C-4AD2512126B0}" destId="{279C3955-DDC3-45AE-ABAF-A714C59D6D50}" srcOrd="4" destOrd="0" presId="urn:microsoft.com/office/officeart/2009/3/layout/PlusandMinus"/>
    <dgm:cxn modelId="{ED134484-4B78-4DE7-80D7-94CFDCF57574}" type="presParOf" srcId="{29223938-D050-4F79-A23C-4AD2512126B0}" destId="{8D85BB93-CCEC-4AF9-A3E3-7305BF0CC5BD}" srcOrd="5" destOrd="0" presId="urn:microsoft.com/office/officeart/2009/3/layout/PlusandMinu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AD708020-4687-41CF-9D7F-6F2391C11BAA}" type="doc">
      <dgm:prSet loTypeId="urn:microsoft.com/office/officeart/2005/8/layout/hList1" loCatId="list" qsTypeId="urn:microsoft.com/office/officeart/2005/8/quickstyle/simple1" qsCatId="simple" csTypeId="urn:microsoft.com/office/officeart/2005/8/colors/colorful1#4" csCatId="colorful" phldr="1"/>
      <dgm:spPr/>
      <dgm:t>
        <a:bodyPr/>
        <a:lstStyle/>
        <a:p>
          <a:endParaRPr lang="zh-CN" altLang="en-US"/>
        </a:p>
      </dgm:t>
    </dgm:pt>
    <dgm:pt modelId="{99011571-F4E1-4446-A8BE-18E70C05927B}">
      <dgm:prSet phldrT="[文本]" custT="1"/>
      <dgm:spPr/>
      <dgm:t>
        <a:bodyPr/>
        <a:lstStyle/>
        <a:p>
          <a:r>
            <a:rPr lang="en-US" altLang="zh-CN" sz="1800" b="1" dirty="0">
              <a:latin typeface="微软雅黑" panose="020B0503020204020204" pitchFamily="34" charset="-122"/>
              <a:ea typeface="微软雅黑" panose="020B0503020204020204" pitchFamily="34" charset="-122"/>
            </a:rPr>
            <a:t>IP </a:t>
          </a:r>
          <a:r>
            <a:rPr lang="zh-CN" altLang="en-US" sz="1800" b="1" dirty="0">
              <a:latin typeface="微软雅黑" panose="020B0503020204020204" pitchFamily="34" charset="-122"/>
              <a:ea typeface="微软雅黑" panose="020B0503020204020204" pitchFamily="34" charset="-122"/>
            </a:rPr>
            <a:t>地址</a:t>
          </a:r>
        </a:p>
      </dgm:t>
    </dgm:pt>
    <dgm:pt modelId="{4C539E80-9E04-44A9-8367-F7E03B34B249}" type="parTrans" cxnId="{C8E5120F-C10C-4AB6-8450-9F3E16AB7EB6}">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CF7FCDC9-D001-4CEE-A5E4-71C7F184525C}" type="sibTrans" cxnId="{C8E5120F-C10C-4AB6-8450-9F3E16AB7EB6}">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9AD62A53-8D22-4EE5-8913-0BBACA2364E4}">
      <dgm:prSet phldrT="[文本]" custT="1"/>
      <dgm:spPr/>
      <dgm:t>
        <a:bodyPr/>
        <a:lstStyle/>
        <a:p>
          <a:r>
            <a:rPr lang="zh-CN" altLang="en-US" sz="1800" b="1" dirty="0">
              <a:latin typeface="微软雅黑" panose="020B0503020204020204" pitchFamily="34" charset="-122"/>
              <a:ea typeface="微软雅黑" panose="020B0503020204020204" pitchFamily="34" charset="-122"/>
            </a:rPr>
            <a:t>虚拟地址、软件地址、逻辑地址。</a:t>
          </a:r>
        </a:p>
      </dgm:t>
    </dgm:pt>
    <dgm:pt modelId="{54C85AAA-179D-4E68-BF2A-FFEED0DDB07F}" type="parTrans" cxnId="{940E770D-49F6-4FC5-86C8-41A8CE548E49}">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1B5217E7-DE89-4742-BCCD-8BFF0AF57BAD}" type="sibTrans" cxnId="{940E770D-49F6-4FC5-86C8-41A8CE548E49}">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240657A4-D7B8-468B-A5F4-A2D889160995}">
      <dgm:prSet phldrT="[文本]" custT="1"/>
      <dgm:spPr/>
      <dgm:t>
        <a:bodyPr/>
        <a:lstStyle/>
        <a:p>
          <a:r>
            <a:rPr lang="en-US" altLang="zh-CN" sz="1800" b="1" dirty="0">
              <a:latin typeface="微软雅黑" panose="020B0503020204020204" pitchFamily="34" charset="-122"/>
              <a:ea typeface="微软雅黑" panose="020B0503020204020204" pitchFamily="34" charset="-122"/>
            </a:rPr>
            <a:t>MAC </a:t>
          </a:r>
          <a:r>
            <a:rPr lang="zh-CN" altLang="en-US" sz="1800" b="1" dirty="0">
              <a:latin typeface="微软雅黑" panose="020B0503020204020204" pitchFamily="34" charset="-122"/>
              <a:ea typeface="微软雅黑" panose="020B0503020204020204" pitchFamily="34" charset="-122"/>
            </a:rPr>
            <a:t>地址</a:t>
          </a:r>
        </a:p>
      </dgm:t>
    </dgm:pt>
    <dgm:pt modelId="{A7FDB1D6-023E-42DF-BB39-2015EF26DC0F}" type="parTrans" cxnId="{CBF248CA-6463-4657-9F43-AF669DCBF514}">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D09BF549-D68B-48BC-A9E0-62B2344773D6}" type="sibTrans" cxnId="{CBF248CA-6463-4657-9F43-AF669DCBF514}">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A79BE541-745A-4292-8465-C36F8EDD321B}">
      <dgm:prSet phldrT="[文本]" custT="1"/>
      <dgm:spPr/>
      <dgm:t>
        <a:bodyPr/>
        <a:lstStyle/>
        <a:p>
          <a:r>
            <a:rPr lang="zh-CN" altLang="en-US" sz="1800" b="1" dirty="0">
              <a:latin typeface="微软雅黑" panose="020B0503020204020204" pitchFamily="34" charset="-122"/>
              <a:ea typeface="微软雅黑" panose="020B0503020204020204" pitchFamily="34" charset="-122"/>
            </a:rPr>
            <a:t>固化在网卡上的 </a:t>
          </a:r>
          <a:r>
            <a:rPr lang="en-US" altLang="en-US" sz="1800" b="1" dirty="0">
              <a:latin typeface="微软雅黑" panose="020B0503020204020204" pitchFamily="34" charset="-122"/>
              <a:ea typeface="微软雅黑" panose="020B0503020204020204" pitchFamily="34" charset="-122"/>
            </a:rPr>
            <a:t>ROM </a:t>
          </a:r>
          <a:r>
            <a:rPr lang="zh-CN" altLang="en-US" sz="1800" b="1" dirty="0">
              <a:latin typeface="微软雅黑" panose="020B0503020204020204" pitchFamily="34" charset="-122"/>
              <a:ea typeface="微软雅黑" panose="020B0503020204020204" pitchFamily="34" charset="-122"/>
            </a:rPr>
            <a:t>中。</a:t>
          </a:r>
        </a:p>
      </dgm:t>
    </dgm:pt>
    <dgm:pt modelId="{5FBA12F4-C84B-4A28-AE84-34210DDD6316}" type="parTrans" cxnId="{12E18449-C8D2-4FBD-A252-91AE228C6AF5}">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7E35C864-7EA2-4C2D-AC52-3EE5ABADC5B9}" type="sibTrans" cxnId="{12E18449-C8D2-4FBD-A252-91AE228C6AF5}">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033B3BA4-3778-4402-B1E1-C8CFA33A382D}">
      <dgm:prSet phldrT="[文本]" custT="1"/>
      <dgm:spPr/>
      <dgm:t>
        <a:bodyPr/>
        <a:lstStyle/>
        <a:p>
          <a:r>
            <a:rPr lang="zh-CN" altLang="en-US" sz="1800" b="1" dirty="0">
              <a:latin typeface="微软雅黑" panose="020B0503020204020204" pitchFamily="34" charset="-122"/>
              <a:ea typeface="微软雅黑" panose="020B0503020204020204" pitchFamily="34" charset="-122"/>
            </a:rPr>
            <a:t>硬件地址、物理地址。</a:t>
          </a:r>
        </a:p>
      </dgm:t>
    </dgm:pt>
    <dgm:pt modelId="{A03C24AB-8B7A-424E-9BC6-9376C33A0BF3}" type="parTrans" cxnId="{FEDB8DEC-B553-4BBF-92EA-A2D2D5DF7CE5}">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4BCC1D41-9035-4D7E-9009-AC68C1CAF263}" type="sibTrans" cxnId="{FEDB8DEC-B553-4BBF-92EA-A2D2D5DF7CE5}">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8DE000F3-D6C1-4803-A1E5-DC524A4AE480}">
      <dgm:prSet phldrT="[文本]" custT="1"/>
      <dgm:spPr/>
      <dgm:t>
        <a:bodyPr/>
        <a:lstStyle/>
        <a:p>
          <a:r>
            <a:rPr lang="zh-CN" altLang="en-US" sz="1800" b="1" dirty="0">
              <a:latin typeface="微软雅黑" panose="020B0503020204020204" pitchFamily="34" charset="-122"/>
              <a:ea typeface="微软雅黑" panose="020B0503020204020204" pitchFamily="34" charset="-122"/>
            </a:rPr>
            <a:t>数据链路层使用。</a:t>
          </a:r>
        </a:p>
      </dgm:t>
    </dgm:pt>
    <dgm:pt modelId="{C64D28C4-25B8-4CDC-8A89-C1CF980BB5C1}" type="parTrans" cxnId="{EF82BF05-16DC-4EA5-9A44-1323F3F73B87}">
      <dgm:prSet/>
      <dgm:spPr/>
      <dgm:t>
        <a:bodyPr/>
        <a:lstStyle/>
        <a:p>
          <a:endParaRPr lang="zh-CN" altLang="en-US"/>
        </a:p>
      </dgm:t>
    </dgm:pt>
    <dgm:pt modelId="{30D97064-16C7-4998-BF1A-DB22B53CF04E}" type="sibTrans" cxnId="{EF82BF05-16DC-4EA5-9A44-1323F3F73B87}">
      <dgm:prSet/>
      <dgm:spPr/>
      <dgm:t>
        <a:bodyPr/>
        <a:lstStyle/>
        <a:p>
          <a:endParaRPr lang="zh-CN" altLang="en-US"/>
        </a:p>
      </dgm:t>
    </dgm:pt>
    <dgm:pt modelId="{09A8615C-F22C-48F1-9E19-B8FC9AF13FE9}">
      <dgm:prSet phldrT="[文本]" custT="1"/>
      <dgm:spPr/>
      <dgm:t>
        <a:bodyPr/>
        <a:lstStyle/>
        <a:p>
          <a:r>
            <a:rPr lang="zh-CN" altLang="en-US" sz="1800" b="1" dirty="0">
              <a:latin typeface="微软雅黑" panose="020B0503020204020204" pitchFamily="34" charset="-122"/>
              <a:ea typeface="微软雅黑" panose="020B0503020204020204" pitchFamily="34" charset="-122"/>
            </a:rPr>
            <a:t>网络层和以上各层使用。</a:t>
          </a:r>
        </a:p>
      </dgm:t>
    </dgm:pt>
    <dgm:pt modelId="{5BD54EF1-4FAB-4065-92C9-BCE2DE81E584}" type="parTrans" cxnId="{A458A4B0-84AA-49EA-8BDC-E4ABE46A7F6F}">
      <dgm:prSet/>
      <dgm:spPr/>
      <dgm:t>
        <a:bodyPr/>
        <a:lstStyle/>
        <a:p>
          <a:endParaRPr lang="zh-CN" altLang="en-US"/>
        </a:p>
      </dgm:t>
    </dgm:pt>
    <dgm:pt modelId="{FB609984-1C85-4848-A207-F57B125554A5}" type="sibTrans" cxnId="{A458A4B0-84AA-49EA-8BDC-E4ABE46A7F6F}">
      <dgm:prSet/>
      <dgm:spPr/>
      <dgm:t>
        <a:bodyPr/>
        <a:lstStyle/>
        <a:p>
          <a:endParaRPr lang="zh-CN" altLang="en-US"/>
        </a:p>
      </dgm:t>
    </dgm:pt>
    <dgm:pt modelId="{323295A5-C594-443E-A7E6-624EA9254300}">
      <dgm:prSet phldrT="[文本]" custT="1"/>
      <dgm:spPr/>
      <dgm:t>
        <a:bodyPr/>
        <a:lstStyle/>
        <a:p>
          <a:r>
            <a:rPr lang="zh-CN" altLang="en-US" sz="1800" b="1" dirty="0">
              <a:latin typeface="微软雅黑" panose="020B0503020204020204" pitchFamily="34" charset="-122"/>
              <a:ea typeface="微软雅黑" panose="020B0503020204020204" pitchFamily="34" charset="-122"/>
            </a:rPr>
            <a:t>放在 </a:t>
          </a:r>
          <a:r>
            <a:rPr lang="en-US" altLang="en-US" sz="1800" b="1" dirty="0">
              <a:latin typeface="微软雅黑" panose="020B0503020204020204" pitchFamily="34" charset="-122"/>
              <a:ea typeface="微软雅黑" panose="020B0503020204020204" pitchFamily="34" charset="-122"/>
            </a:rPr>
            <a:t>IP </a:t>
          </a:r>
          <a:r>
            <a:rPr lang="zh-CN" altLang="en-US" sz="1800" b="1" dirty="0">
              <a:latin typeface="微软雅黑" panose="020B0503020204020204" pitchFamily="34" charset="-122"/>
              <a:ea typeface="微软雅黑" panose="020B0503020204020204" pitchFamily="34" charset="-122"/>
            </a:rPr>
            <a:t>数据报的首部。</a:t>
          </a:r>
        </a:p>
      </dgm:t>
    </dgm:pt>
    <dgm:pt modelId="{200A6130-5C46-4C63-9F44-D454E24722AF}" type="parTrans" cxnId="{2A705B60-B7F3-4BE3-9093-3C1BB2EBCFB5}">
      <dgm:prSet/>
      <dgm:spPr/>
      <dgm:t>
        <a:bodyPr/>
        <a:lstStyle/>
        <a:p>
          <a:endParaRPr lang="zh-CN" altLang="en-US"/>
        </a:p>
      </dgm:t>
    </dgm:pt>
    <dgm:pt modelId="{3830A99E-A088-46F1-9D7A-13AD7413F170}" type="sibTrans" cxnId="{2A705B60-B7F3-4BE3-9093-3C1BB2EBCFB5}">
      <dgm:prSet/>
      <dgm:spPr/>
      <dgm:t>
        <a:bodyPr/>
        <a:lstStyle/>
        <a:p>
          <a:endParaRPr lang="zh-CN" altLang="en-US"/>
        </a:p>
      </dgm:t>
    </dgm:pt>
    <dgm:pt modelId="{0185F6EB-9C9F-4E3E-A388-326818E44F8C}">
      <dgm:prSet phldrT="[文本]" custT="1"/>
      <dgm:spPr/>
      <dgm:t>
        <a:bodyPr/>
        <a:lstStyle/>
        <a:p>
          <a:r>
            <a:rPr lang="zh-CN" altLang="en-US" sz="1800" b="1" dirty="0">
              <a:latin typeface="微软雅黑" panose="020B0503020204020204" pitchFamily="34" charset="-122"/>
              <a:ea typeface="微软雅黑" panose="020B0503020204020204" pitchFamily="34" charset="-122"/>
            </a:rPr>
            <a:t>放在 </a:t>
          </a:r>
          <a:r>
            <a:rPr lang="en-US" altLang="en-US" sz="1800" b="1" dirty="0">
              <a:latin typeface="微软雅黑" panose="020B0503020204020204" pitchFamily="34" charset="-122"/>
              <a:ea typeface="微软雅黑" panose="020B0503020204020204" pitchFamily="34" charset="-122"/>
            </a:rPr>
            <a:t>MAC </a:t>
          </a:r>
          <a:r>
            <a:rPr lang="zh-CN" altLang="en-US" sz="1800" b="1" dirty="0">
              <a:latin typeface="微软雅黑" panose="020B0503020204020204" pitchFamily="34" charset="-122"/>
              <a:ea typeface="微软雅黑" panose="020B0503020204020204" pitchFamily="34" charset="-122"/>
            </a:rPr>
            <a:t>帧的首部。</a:t>
          </a:r>
        </a:p>
      </dgm:t>
    </dgm:pt>
    <dgm:pt modelId="{572D545C-3C53-4B90-9A13-8FCA514B982D}" type="parTrans" cxnId="{C181352A-C0B0-4BDB-AF70-349C9595E6B5}">
      <dgm:prSet/>
      <dgm:spPr/>
      <dgm:t>
        <a:bodyPr/>
        <a:lstStyle/>
        <a:p>
          <a:endParaRPr lang="zh-CN" altLang="en-US"/>
        </a:p>
      </dgm:t>
    </dgm:pt>
    <dgm:pt modelId="{130173EF-01ED-485B-B8BB-D3163CE124C9}" type="sibTrans" cxnId="{C181352A-C0B0-4BDB-AF70-349C9595E6B5}">
      <dgm:prSet/>
      <dgm:spPr/>
      <dgm:t>
        <a:bodyPr/>
        <a:lstStyle/>
        <a:p>
          <a:endParaRPr lang="zh-CN" altLang="en-US"/>
        </a:p>
      </dgm:t>
    </dgm:pt>
    <dgm:pt modelId="{F3972236-93CB-4A8C-9066-D6256CD361C1}" type="pres">
      <dgm:prSet presAssocID="{AD708020-4687-41CF-9D7F-6F2391C11BAA}" presName="Name0" presStyleCnt="0">
        <dgm:presLayoutVars>
          <dgm:dir/>
          <dgm:animLvl val="lvl"/>
          <dgm:resizeHandles val="exact"/>
        </dgm:presLayoutVars>
      </dgm:prSet>
      <dgm:spPr/>
    </dgm:pt>
    <dgm:pt modelId="{E2C272DD-8977-4A4D-9E5A-865A155C8D0C}" type="pres">
      <dgm:prSet presAssocID="{99011571-F4E1-4446-A8BE-18E70C05927B}" presName="composite" presStyleCnt="0"/>
      <dgm:spPr/>
    </dgm:pt>
    <dgm:pt modelId="{8A93C829-AB1E-47B7-AF09-3489EE20D87D}" type="pres">
      <dgm:prSet presAssocID="{99011571-F4E1-4446-A8BE-18E70C05927B}" presName="parTx" presStyleLbl="alignNode1" presStyleIdx="0" presStyleCnt="2">
        <dgm:presLayoutVars>
          <dgm:chMax val="0"/>
          <dgm:chPref val="0"/>
          <dgm:bulletEnabled val="1"/>
        </dgm:presLayoutVars>
      </dgm:prSet>
      <dgm:spPr/>
    </dgm:pt>
    <dgm:pt modelId="{ADDE5FA6-A293-4009-AA1F-EF295D5FC61B}" type="pres">
      <dgm:prSet presAssocID="{99011571-F4E1-4446-A8BE-18E70C05927B}" presName="desTx" presStyleLbl="alignAccFollowNode1" presStyleIdx="0" presStyleCnt="2">
        <dgm:presLayoutVars>
          <dgm:bulletEnabled val="1"/>
        </dgm:presLayoutVars>
      </dgm:prSet>
      <dgm:spPr/>
    </dgm:pt>
    <dgm:pt modelId="{8F0BA76D-270F-46B0-A163-3FD6D431D901}" type="pres">
      <dgm:prSet presAssocID="{CF7FCDC9-D001-4CEE-A5E4-71C7F184525C}" presName="space" presStyleCnt="0"/>
      <dgm:spPr/>
    </dgm:pt>
    <dgm:pt modelId="{A71985B1-1665-4492-8E93-44CC7EFEB5EB}" type="pres">
      <dgm:prSet presAssocID="{240657A4-D7B8-468B-A5F4-A2D889160995}" presName="composite" presStyleCnt="0"/>
      <dgm:spPr/>
    </dgm:pt>
    <dgm:pt modelId="{A906942F-4CD9-406B-9703-826231E59346}" type="pres">
      <dgm:prSet presAssocID="{240657A4-D7B8-468B-A5F4-A2D889160995}" presName="parTx" presStyleLbl="alignNode1" presStyleIdx="1" presStyleCnt="2">
        <dgm:presLayoutVars>
          <dgm:chMax val="0"/>
          <dgm:chPref val="0"/>
          <dgm:bulletEnabled val="1"/>
        </dgm:presLayoutVars>
      </dgm:prSet>
      <dgm:spPr/>
    </dgm:pt>
    <dgm:pt modelId="{2B0E6FE9-FDF1-417E-907E-1431E3C22379}" type="pres">
      <dgm:prSet presAssocID="{240657A4-D7B8-468B-A5F4-A2D889160995}" presName="desTx" presStyleLbl="alignAccFollowNode1" presStyleIdx="1" presStyleCnt="2">
        <dgm:presLayoutVars>
          <dgm:bulletEnabled val="1"/>
        </dgm:presLayoutVars>
      </dgm:prSet>
      <dgm:spPr/>
    </dgm:pt>
  </dgm:ptLst>
  <dgm:cxnLst>
    <dgm:cxn modelId="{EF82BF05-16DC-4EA5-9A44-1323F3F73B87}" srcId="{240657A4-D7B8-468B-A5F4-A2D889160995}" destId="{8DE000F3-D6C1-4803-A1E5-DC524A4AE480}" srcOrd="2" destOrd="0" parTransId="{C64D28C4-25B8-4CDC-8A89-C1CF980BB5C1}" sibTransId="{30D97064-16C7-4998-BF1A-DB22B53CF04E}"/>
    <dgm:cxn modelId="{940E770D-49F6-4FC5-86C8-41A8CE548E49}" srcId="{99011571-F4E1-4446-A8BE-18E70C05927B}" destId="{9AD62A53-8D22-4EE5-8913-0BBACA2364E4}" srcOrd="0" destOrd="0" parTransId="{54C85AAA-179D-4E68-BF2A-FFEED0DDB07F}" sibTransId="{1B5217E7-DE89-4742-BCCD-8BFF0AF57BAD}"/>
    <dgm:cxn modelId="{100BB30D-DE2F-47C8-9C30-7B9A2130442F}" type="presOf" srcId="{A79BE541-745A-4292-8465-C36F8EDD321B}" destId="{2B0E6FE9-FDF1-417E-907E-1431E3C22379}" srcOrd="0" destOrd="0" presId="urn:microsoft.com/office/officeart/2005/8/layout/hList1"/>
    <dgm:cxn modelId="{C8E5120F-C10C-4AB6-8450-9F3E16AB7EB6}" srcId="{AD708020-4687-41CF-9D7F-6F2391C11BAA}" destId="{99011571-F4E1-4446-A8BE-18E70C05927B}" srcOrd="0" destOrd="0" parTransId="{4C539E80-9E04-44A9-8367-F7E03B34B249}" sibTransId="{CF7FCDC9-D001-4CEE-A5E4-71C7F184525C}"/>
    <dgm:cxn modelId="{E4FB4313-6C06-4EAF-8D9B-228838EC9797}" type="presOf" srcId="{8DE000F3-D6C1-4803-A1E5-DC524A4AE480}" destId="{2B0E6FE9-FDF1-417E-907E-1431E3C22379}" srcOrd="0" destOrd="2" presId="urn:microsoft.com/office/officeart/2005/8/layout/hList1"/>
    <dgm:cxn modelId="{1A44C014-EBAC-4613-804E-BF0BB88899E3}" type="presOf" srcId="{9AD62A53-8D22-4EE5-8913-0BBACA2364E4}" destId="{ADDE5FA6-A293-4009-AA1F-EF295D5FC61B}" srcOrd="0" destOrd="0" presId="urn:microsoft.com/office/officeart/2005/8/layout/hList1"/>
    <dgm:cxn modelId="{C181352A-C0B0-4BDB-AF70-349C9595E6B5}" srcId="{240657A4-D7B8-468B-A5F4-A2D889160995}" destId="{0185F6EB-9C9F-4E3E-A388-326818E44F8C}" srcOrd="3" destOrd="0" parTransId="{572D545C-3C53-4B90-9A13-8FCA514B982D}" sibTransId="{130173EF-01ED-485B-B8BB-D3163CE124C9}"/>
    <dgm:cxn modelId="{27B67B3E-051F-4D31-B5F5-C79A604E3D16}" type="presOf" srcId="{0185F6EB-9C9F-4E3E-A388-326818E44F8C}" destId="{2B0E6FE9-FDF1-417E-907E-1431E3C22379}" srcOrd="0" destOrd="3" presId="urn:microsoft.com/office/officeart/2005/8/layout/hList1"/>
    <dgm:cxn modelId="{2A705B60-B7F3-4BE3-9093-3C1BB2EBCFB5}" srcId="{99011571-F4E1-4446-A8BE-18E70C05927B}" destId="{323295A5-C594-443E-A7E6-624EA9254300}" srcOrd="2" destOrd="0" parTransId="{200A6130-5C46-4C63-9F44-D454E24722AF}" sibTransId="{3830A99E-A088-46F1-9D7A-13AD7413F170}"/>
    <dgm:cxn modelId="{12E18449-C8D2-4FBD-A252-91AE228C6AF5}" srcId="{240657A4-D7B8-468B-A5F4-A2D889160995}" destId="{A79BE541-745A-4292-8465-C36F8EDD321B}" srcOrd="0" destOrd="0" parTransId="{5FBA12F4-C84B-4A28-AE84-34210DDD6316}" sibTransId="{7E35C864-7EA2-4C2D-AC52-3EE5ABADC5B9}"/>
    <dgm:cxn modelId="{DDF1F850-80F6-4F9D-9863-46C86ADA4419}" type="presOf" srcId="{99011571-F4E1-4446-A8BE-18E70C05927B}" destId="{8A93C829-AB1E-47B7-AF09-3489EE20D87D}" srcOrd="0" destOrd="0" presId="urn:microsoft.com/office/officeart/2005/8/layout/hList1"/>
    <dgm:cxn modelId="{023F1E57-C472-4AFE-BA8E-552A2F3C1394}" type="presOf" srcId="{240657A4-D7B8-468B-A5F4-A2D889160995}" destId="{A906942F-4CD9-406B-9703-826231E59346}" srcOrd="0" destOrd="0" presId="urn:microsoft.com/office/officeart/2005/8/layout/hList1"/>
    <dgm:cxn modelId="{A28AD17C-328B-47C1-B697-997B944516EA}" type="presOf" srcId="{AD708020-4687-41CF-9D7F-6F2391C11BAA}" destId="{F3972236-93CB-4A8C-9066-D6256CD361C1}" srcOrd="0" destOrd="0" presId="urn:microsoft.com/office/officeart/2005/8/layout/hList1"/>
    <dgm:cxn modelId="{E1E0D985-A4D3-4EDE-A0B8-5EEBE6AE8892}" type="presOf" srcId="{033B3BA4-3778-4402-B1E1-C8CFA33A382D}" destId="{2B0E6FE9-FDF1-417E-907E-1431E3C22379}" srcOrd="0" destOrd="1" presId="urn:microsoft.com/office/officeart/2005/8/layout/hList1"/>
    <dgm:cxn modelId="{A458A4B0-84AA-49EA-8BDC-E4ABE46A7F6F}" srcId="{99011571-F4E1-4446-A8BE-18E70C05927B}" destId="{09A8615C-F22C-48F1-9E19-B8FC9AF13FE9}" srcOrd="1" destOrd="0" parTransId="{5BD54EF1-4FAB-4065-92C9-BCE2DE81E584}" sibTransId="{FB609984-1C85-4848-A207-F57B125554A5}"/>
    <dgm:cxn modelId="{CBF248CA-6463-4657-9F43-AF669DCBF514}" srcId="{AD708020-4687-41CF-9D7F-6F2391C11BAA}" destId="{240657A4-D7B8-468B-A5F4-A2D889160995}" srcOrd="1" destOrd="0" parTransId="{A7FDB1D6-023E-42DF-BB39-2015EF26DC0F}" sibTransId="{D09BF549-D68B-48BC-A9E0-62B2344773D6}"/>
    <dgm:cxn modelId="{A4AF79CA-B25E-4F05-82A1-3910C09D6251}" type="presOf" srcId="{09A8615C-F22C-48F1-9E19-B8FC9AF13FE9}" destId="{ADDE5FA6-A293-4009-AA1F-EF295D5FC61B}" srcOrd="0" destOrd="1" presId="urn:microsoft.com/office/officeart/2005/8/layout/hList1"/>
    <dgm:cxn modelId="{FEDB8DEC-B553-4BBF-92EA-A2D2D5DF7CE5}" srcId="{240657A4-D7B8-468B-A5F4-A2D889160995}" destId="{033B3BA4-3778-4402-B1E1-C8CFA33A382D}" srcOrd="1" destOrd="0" parTransId="{A03C24AB-8B7A-424E-9BC6-9376C33A0BF3}" sibTransId="{4BCC1D41-9035-4D7E-9009-AC68C1CAF263}"/>
    <dgm:cxn modelId="{A9D14BF2-E0BB-46D8-845C-FCF21D2BA831}" type="presOf" srcId="{323295A5-C594-443E-A7E6-624EA9254300}" destId="{ADDE5FA6-A293-4009-AA1F-EF295D5FC61B}" srcOrd="0" destOrd="2" presId="urn:microsoft.com/office/officeart/2005/8/layout/hList1"/>
    <dgm:cxn modelId="{1BD00B3F-CC87-45D5-8068-2A12062FAD02}" type="presParOf" srcId="{F3972236-93CB-4A8C-9066-D6256CD361C1}" destId="{E2C272DD-8977-4A4D-9E5A-865A155C8D0C}" srcOrd="0" destOrd="0" presId="urn:microsoft.com/office/officeart/2005/8/layout/hList1"/>
    <dgm:cxn modelId="{149624C9-1A75-44B1-9CFB-47B78E38453E}" type="presParOf" srcId="{E2C272DD-8977-4A4D-9E5A-865A155C8D0C}" destId="{8A93C829-AB1E-47B7-AF09-3489EE20D87D}" srcOrd="0" destOrd="0" presId="urn:microsoft.com/office/officeart/2005/8/layout/hList1"/>
    <dgm:cxn modelId="{C46F3658-24CA-48BE-AB2D-71A4709B311B}" type="presParOf" srcId="{E2C272DD-8977-4A4D-9E5A-865A155C8D0C}" destId="{ADDE5FA6-A293-4009-AA1F-EF295D5FC61B}" srcOrd="1" destOrd="0" presId="urn:microsoft.com/office/officeart/2005/8/layout/hList1"/>
    <dgm:cxn modelId="{A4CE841F-0440-440F-B346-027E34CE9AD6}" type="presParOf" srcId="{F3972236-93CB-4A8C-9066-D6256CD361C1}" destId="{8F0BA76D-270F-46B0-A163-3FD6D431D901}" srcOrd="1" destOrd="0" presId="urn:microsoft.com/office/officeart/2005/8/layout/hList1"/>
    <dgm:cxn modelId="{96A28BED-B426-4E80-8492-DA8F6E83919D}" type="presParOf" srcId="{F3972236-93CB-4A8C-9066-D6256CD361C1}" destId="{A71985B1-1665-4492-8E93-44CC7EFEB5EB}" srcOrd="2" destOrd="0" presId="urn:microsoft.com/office/officeart/2005/8/layout/hList1"/>
    <dgm:cxn modelId="{09D1CB4E-1BB2-4798-8737-C5280060228D}" type="presParOf" srcId="{A71985B1-1665-4492-8E93-44CC7EFEB5EB}" destId="{A906942F-4CD9-406B-9703-826231E59346}" srcOrd="0" destOrd="0" presId="urn:microsoft.com/office/officeart/2005/8/layout/hList1"/>
    <dgm:cxn modelId="{E4145535-F9B1-4E96-8A9A-E1BD35DFCE2B}" type="presParOf" srcId="{A71985B1-1665-4492-8E93-44CC7EFEB5EB}" destId="{2B0E6FE9-FDF1-417E-907E-1431E3C22379}" srcOrd="1" destOrd="0" presId="urn:microsoft.com/office/officeart/2005/8/layout/hList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57319EB9-4614-4568-9791-C9AE0156F741}" type="doc">
      <dgm:prSet loTypeId="urn:microsoft.com/office/officeart/2008/layout/AlternatingHexagons" loCatId="list" qsTypeId="urn:microsoft.com/office/officeart/2005/8/quickstyle/simple1" qsCatId="simple" csTypeId="urn:microsoft.com/office/officeart/2005/8/colors/colorful1#5" csCatId="colorful" phldr="1"/>
      <dgm:spPr/>
      <dgm:t>
        <a:bodyPr/>
        <a:lstStyle/>
        <a:p>
          <a:endParaRPr lang="zh-CN" altLang="en-US"/>
        </a:p>
      </dgm:t>
    </dgm:pt>
    <dgm:pt modelId="{AB5687E8-7BC4-4584-9467-92CFB3784C13}">
      <dgm:prSet phldrT="[文本]" custT="1"/>
      <dgm:spPr/>
      <dgm:t>
        <a:bodyPr/>
        <a:lstStyle/>
        <a:p>
          <a:r>
            <a:rPr lang="zh-CN" altLang="en-US" sz="1800" b="1" dirty="0">
              <a:latin typeface="微软雅黑" panose="020B0503020204020204" pitchFamily="34" charset="-122"/>
              <a:ea typeface="微软雅黑" panose="020B0503020204020204" pitchFamily="34" charset="-122"/>
            </a:rPr>
            <a:t>稳定</a:t>
          </a:r>
        </a:p>
      </dgm:t>
    </dgm:pt>
    <dgm:pt modelId="{814585C0-CCC5-4B07-B56D-34ECF1C65DD7}" type="parTrans" cxnId="{AF7B03E1-1404-4373-A86D-92C0E226D4F6}">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6F28841C-B424-47DC-9BDD-951BD626D164}" type="sibTrans" cxnId="{AF7B03E1-1404-4373-A86D-92C0E226D4F6}">
      <dgm:prSet custT="1"/>
      <dgm:spPr/>
      <dgm:t>
        <a:bodyPr/>
        <a:lstStyle/>
        <a:p>
          <a:endParaRPr lang="zh-CN" altLang="en-US" sz="1800" b="1">
            <a:latin typeface="微软雅黑" panose="020B0503020204020204" pitchFamily="34" charset="-122"/>
            <a:ea typeface="微软雅黑" panose="020B0503020204020204" pitchFamily="34" charset="-122"/>
          </a:endParaRPr>
        </a:p>
      </dgm:t>
    </dgm:pt>
    <dgm:pt modelId="{B13767DF-D7F0-42AE-9A33-BBD61F852019}">
      <dgm:prSet phldrT="[文本]" custT="1"/>
      <dgm:spPr/>
      <dgm:t>
        <a:bodyPr/>
        <a:lstStyle/>
        <a:p>
          <a:r>
            <a:rPr lang="zh-CN" altLang="en-US" sz="1800" b="1" dirty="0">
              <a:latin typeface="微软雅黑" panose="020B0503020204020204" pitchFamily="34" charset="-122"/>
              <a:ea typeface="微软雅黑" panose="020B0503020204020204" pitchFamily="34" charset="-122"/>
            </a:rPr>
            <a:t>计算简单</a:t>
          </a:r>
        </a:p>
      </dgm:t>
    </dgm:pt>
    <dgm:pt modelId="{53FCE7C6-1925-4D3C-A46D-F5501D7FD26E}" type="parTrans" cxnId="{EE27E354-F222-48DD-A34D-BF81FC976956}">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F2BB5ED8-761D-4AE3-8527-CD2935FBA572}" type="sibTrans" cxnId="{EE27E354-F222-48DD-A34D-BF81FC976956}">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A8D9FEC0-3405-40B5-B834-1ADB41612053}">
      <dgm:prSet phldrT="[文本]" custT="1"/>
      <dgm:spPr/>
      <dgm:t>
        <a:bodyPr/>
        <a:lstStyle/>
        <a:p>
          <a:r>
            <a:rPr lang="zh-CN" altLang="en-US" sz="1800" b="1" dirty="0">
              <a:latin typeface="微软雅黑" panose="020B0503020204020204" pitchFamily="34" charset="-122"/>
              <a:ea typeface="微软雅黑" panose="020B0503020204020204" pitchFamily="34" charset="-122"/>
            </a:rPr>
            <a:t>公平</a:t>
          </a:r>
        </a:p>
      </dgm:t>
    </dgm:pt>
    <dgm:pt modelId="{D2CE15DA-8B28-4235-AA02-B5CFD4C10A77}" type="parTrans" cxnId="{0181C94A-406C-41C2-8903-44C5D0FAEA44}">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4A56A9C6-98C6-4226-B6E3-7BD7731D2425}" type="sibTrans" cxnId="{0181C94A-406C-41C2-8903-44C5D0FAEA44}">
      <dgm:prSet custT="1"/>
      <dgm:spPr/>
      <dgm:t>
        <a:bodyPr/>
        <a:lstStyle/>
        <a:p>
          <a:pPr>
            <a:spcAft>
              <a:spcPts val="0"/>
            </a:spcAft>
          </a:pPr>
          <a:endParaRPr lang="zh-CN" altLang="en-US" sz="1800" b="1" dirty="0">
            <a:latin typeface="微软雅黑" panose="020B0503020204020204" pitchFamily="34" charset="-122"/>
            <a:ea typeface="微软雅黑" panose="020B0503020204020204" pitchFamily="34" charset="-122"/>
          </a:endParaRPr>
        </a:p>
      </dgm:t>
    </dgm:pt>
    <dgm:pt modelId="{65CB75E3-D942-499E-90E7-C58E3DF7223C}">
      <dgm:prSet phldrT="[文本]" custT="1"/>
      <dgm:spPr/>
      <dgm:t>
        <a:bodyPr/>
        <a:lstStyle/>
        <a:p>
          <a:endParaRPr lang="zh-CN" altLang="en-US" sz="1800" b="1" dirty="0">
            <a:latin typeface="微软雅黑" panose="020B0503020204020204" pitchFamily="34" charset="-122"/>
            <a:ea typeface="微软雅黑" panose="020B0503020204020204" pitchFamily="34" charset="-122"/>
          </a:endParaRPr>
        </a:p>
      </dgm:t>
    </dgm:pt>
    <dgm:pt modelId="{CC59D6ED-6908-4C5A-B37D-F88F0A01801C}" type="parTrans" cxnId="{9934016B-A3D1-4F7B-8CFA-0172104FCA08}">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B51142B5-0AE8-42B0-9ED8-2E612F0E474F}" type="sibTrans" cxnId="{9934016B-A3D1-4F7B-8CFA-0172104FCA08}">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8B2162A3-B6D6-4882-92D7-839ABCD99519}">
      <dgm:prSet phldrT="[文本]" custT="1"/>
      <dgm:spPr/>
      <dgm:t>
        <a:bodyPr/>
        <a:lstStyle/>
        <a:p>
          <a:pPr>
            <a:spcAft>
              <a:spcPts val="0"/>
            </a:spcAft>
          </a:pPr>
          <a:r>
            <a:rPr lang="zh-CN" altLang="en-US" sz="1800" b="1" dirty="0">
              <a:latin typeface="微软雅黑" panose="020B0503020204020204" pitchFamily="34" charset="-122"/>
              <a:ea typeface="微软雅黑" panose="020B0503020204020204" pitchFamily="34" charset="-122"/>
            </a:rPr>
            <a:t>正确完整</a:t>
          </a:r>
        </a:p>
      </dgm:t>
    </dgm:pt>
    <dgm:pt modelId="{A0DE5CA0-9936-4415-9D37-B5D7B0297554}" type="parTrans" cxnId="{B23DC919-1C5C-447D-8330-63D1A634F79F}">
      <dgm:prSet/>
      <dgm:spPr/>
      <dgm:t>
        <a:bodyPr/>
        <a:lstStyle/>
        <a:p>
          <a:endParaRPr lang="zh-CN" altLang="en-US"/>
        </a:p>
      </dgm:t>
    </dgm:pt>
    <dgm:pt modelId="{10B47134-1EE4-4E8B-98E5-55DB217025FD}" type="sibTrans" cxnId="{B23DC919-1C5C-447D-8330-63D1A634F79F}">
      <dgm:prSet/>
      <dgm:spPr/>
      <dgm:t>
        <a:bodyPr/>
        <a:lstStyle/>
        <a:p>
          <a:endParaRPr lang="zh-CN" altLang="en-US"/>
        </a:p>
      </dgm:t>
    </dgm:pt>
    <dgm:pt modelId="{B572B81A-C8A2-4261-9B1A-1A690FA730F2}">
      <dgm:prSet phldrT="[文本]" custT="1"/>
      <dgm:spPr/>
      <dgm:t>
        <a:bodyPr/>
        <a:lstStyle/>
        <a:p>
          <a:r>
            <a:rPr lang="zh-CN" altLang="en-US" sz="1800" b="1" dirty="0">
              <a:latin typeface="微软雅黑" panose="020B0503020204020204" pitchFamily="34" charset="-122"/>
              <a:ea typeface="微软雅黑" panose="020B0503020204020204" pitchFamily="34" charset="-122"/>
            </a:rPr>
            <a:t>最佳</a:t>
          </a:r>
        </a:p>
      </dgm:t>
    </dgm:pt>
    <dgm:pt modelId="{B15EB8DE-96C1-4360-B410-D682B58C471B}" type="sibTrans" cxnId="{AD1A8F3B-C1FC-4FD6-B24B-3D915E296046}">
      <dgm:prSet custT="1"/>
      <dgm:spPr/>
      <dgm:t>
        <a:bodyPr/>
        <a:lstStyle/>
        <a:p>
          <a:r>
            <a:rPr lang="zh-CN" altLang="en-US" sz="1600" b="1" dirty="0">
              <a:latin typeface="微软雅黑" panose="020B0503020204020204" pitchFamily="34" charset="-122"/>
              <a:ea typeface="微软雅黑" panose="020B0503020204020204" pitchFamily="34" charset="-122"/>
            </a:rPr>
            <a:t>自适应</a:t>
          </a:r>
        </a:p>
      </dgm:t>
    </dgm:pt>
    <dgm:pt modelId="{191F5F4E-3800-4CA8-B18A-223C9ADC88F8}" type="parTrans" cxnId="{AD1A8F3B-C1FC-4FD6-B24B-3D915E296046}">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BDB79EA0-A44C-4962-A355-08F2557026A0}" type="pres">
      <dgm:prSet presAssocID="{57319EB9-4614-4568-9791-C9AE0156F741}" presName="Name0" presStyleCnt="0">
        <dgm:presLayoutVars>
          <dgm:chMax/>
          <dgm:chPref/>
          <dgm:dir/>
          <dgm:animLvl val="lvl"/>
        </dgm:presLayoutVars>
      </dgm:prSet>
      <dgm:spPr/>
    </dgm:pt>
    <dgm:pt modelId="{0A2E94F4-9538-4412-A5DB-82BF5599FE8B}" type="pres">
      <dgm:prSet presAssocID="{AB5687E8-7BC4-4584-9467-92CFB3784C13}" presName="composite" presStyleCnt="0"/>
      <dgm:spPr/>
    </dgm:pt>
    <dgm:pt modelId="{DC8CECCC-33E8-4D44-AF7B-D639E8E0A9B0}" type="pres">
      <dgm:prSet presAssocID="{AB5687E8-7BC4-4584-9467-92CFB3784C13}" presName="Parent1" presStyleLbl="node1" presStyleIdx="0" presStyleCnt="6">
        <dgm:presLayoutVars>
          <dgm:chMax val="1"/>
          <dgm:chPref val="1"/>
          <dgm:bulletEnabled val="1"/>
        </dgm:presLayoutVars>
      </dgm:prSet>
      <dgm:spPr/>
    </dgm:pt>
    <dgm:pt modelId="{77C4C6C5-334A-4E65-979D-B22FCFC4D25B}" type="pres">
      <dgm:prSet presAssocID="{AB5687E8-7BC4-4584-9467-92CFB3784C13}" presName="Childtext1" presStyleLbl="revTx" presStyleIdx="0" presStyleCnt="3">
        <dgm:presLayoutVars>
          <dgm:chMax val="0"/>
          <dgm:chPref val="0"/>
          <dgm:bulletEnabled val="1"/>
        </dgm:presLayoutVars>
      </dgm:prSet>
      <dgm:spPr/>
    </dgm:pt>
    <dgm:pt modelId="{ECCD8BEB-7330-44C1-BA10-F2A2DAC3CBF7}" type="pres">
      <dgm:prSet presAssocID="{AB5687E8-7BC4-4584-9467-92CFB3784C13}" presName="BalanceSpacing" presStyleCnt="0"/>
      <dgm:spPr/>
    </dgm:pt>
    <dgm:pt modelId="{291DBE6B-442F-4F4E-84CC-BF472AC858D2}" type="pres">
      <dgm:prSet presAssocID="{AB5687E8-7BC4-4584-9467-92CFB3784C13}" presName="BalanceSpacing1" presStyleCnt="0"/>
      <dgm:spPr/>
    </dgm:pt>
    <dgm:pt modelId="{FA279299-B666-469F-8777-B71225E62A40}" type="pres">
      <dgm:prSet presAssocID="{6F28841C-B424-47DC-9BDD-951BD626D164}" presName="Accent1Text" presStyleLbl="node1" presStyleIdx="1" presStyleCnt="6"/>
      <dgm:spPr/>
    </dgm:pt>
    <dgm:pt modelId="{151082C4-983E-4E15-A83E-ECEE4D75F748}" type="pres">
      <dgm:prSet presAssocID="{6F28841C-B424-47DC-9BDD-951BD626D164}" presName="spaceBetweenRectangles" presStyleCnt="0"/>
      <dgm:spPr/>
    </dgm:pt>
    <dgm:pt modelId="{05EA092A-05D3-4432-BC70-BC13F3DBD001}" type="pres">
      <dgm:prSet presAssocID="{B572B81A-C8A2-4261-9B1A-1A690FA730F2}" presName="composite" presStyleCnt="0"/>
      <dgm:spPr/>
    </dgm:pt>
    <dgm:pt modelId="{5CDA83B7-524F-419D-8B88-84CC727E3270}" type="pres">
      <dgm:prSet presAssocID="{B572B81A-C8A2-4261-9B1A-1A690FA730F2}" presName="Parent1" presStyleLbl="node1" presStyleIdx="2" presStyleCnt="6">
        <dgm:presLayoutVars>
          <dgm:chMax val="1"/>
          <dgm:chPref val="1"/>
          <dgm:bulletEnabled val="1"/>
        </dgm:presLayoutVars>
      </dgm:prSet>
      <dgm:spPr/>
    </dgm:pt>
    <dgm:pt modelId="{9F9A9FAC-12D3-4655-B2AA-04364F1E88CE}" type="pres">
      <dgm:prSet presAssocID="{B572B81A-C8A2-4261-9B1A-1A690FA730F2}" presName="Childtext1" presStyleLbl="revTx" presStyleIdx="1" presStyleCnt="3">
        <dgm:presLayoutVars>
          <dgm:chMax val="0"/>
          <dgm:chPref val="0"/>
          <dgm:bulletEnabled val="1"/>
        </dgm:presLayoutVars>
      </dgm:prSet>
      <dgm:spPr/>
    </dgm:pt>
    <dgm:pt modelId="{3FB203CB-0438-4D34-A30F-718B07D59709}" type="pres">
      <dgm:prSet presAssocID="{B572B81A-C8A2-4261-9B1A-1A690FA730F2}" presName="BalanceSpacing" presStyleCnt="0"/>
      <dgm:spPr/>
    </dgm:pt>
    <dgm:pt modelId="{8AB624BF-00CE-441D-9E28-FD69C6F7A5AB}" type="pres">
      <dgm:prSet presAssocID="{B572B81A-C8A2-4261-9B1A-1A690FA730F2}" presName="BalanceSpacing1" presStyleCnt="0"/>
      <dgm:spPr/>
    </dgm:pt>
    <dgm:pt modelId="{BC9E837C-7471-448B-B8E7-D49F71F18600}" type="pres">
      <dgm:prSet presAssocID="{B15EB8DE-96C1-4360-B410-D682B58C471B}" presName="Accent1Text" presStyleLbl="node1" presStyleIdx="3" presStyleCnt="6"/>
      <dgm:spPr/>
    </dgm:pt>
    <dgm:pt modelId="{93506089-6327-4A0E-8CB1-F7C151D7F04B}" type="pres">
      <dgm:prSet presAssocID="{B15EB8DE-96C1-4360-B410-D682B58C471B}" presName="spaceBetweenRectangles" presStyleCnt="0"/>
      <dgm:spPr/>
    </dgm:pt>
    <dgm:pt modelId="{53A265BD-9BFF-49CE-85B9-C0A8B390C52B}" type="pres">
      <dgm:prSet presAssocID="{A8D9FEC0-3405-40B5-B834-1ADB41612053}" presName="composite" presStyleCnt="0"/>
      <dgm:spPr/>
    </dgm:pt>
    <dgm:pt modelId="{F18AFA34-AF22-48CA-A491-D3AA2FDCF09E}" type="pres">
      <dgm:prSet presAssocID="{A8D9FEC0-3405-40B5-B834-1ADB41612053}" presName="Parent1" presStyleLbl="node1" presStyleIdx="4" presStyleCnt="6">
        <dgm:presLayoutVars>
          <dgm:chMax val="1"/>
          <dgm:chPref val="1"/>
          <dgm:bulletEnabled val="1"/>
        </dgm:presLayoutVars>
      </dgm:prSet>
      <dgm:spPr/>
    </dgm:pt>
    <dgm:pt modelId="{5B9F08EB-293A-42A1-ACFE-48E8E54FC3D0}" type="pres">
      <dgm:prSet presAssocID="{A8D9FEC0-3405-40B5-B834-1ADB41612053}" presName="Childtext1" presStyleLbl="revTx" presStyleIdx="2" presStyleCnt="3">
        <dgm:presLayoutVars>
          <dgm:chMax val="0"/>
          <dgm:chPref val="0"/>
          <dgm:bulletEnabled val="1"/>
        </dgm:presLayoutVars>
      </dgm:prSet>
      <dgm:spPr/>
    </dgm:pt>
    <dgm:pt modelId="{E1AE432F-E2E5-4DCE-8DE5-E8271CFC7CB9}" type="pres">
      <dgm:prSet presAssocID="{A8D9FEC0-3405-40B5-B834-1ADB41612053}" presName="BalanceSpacing" presStyleCnt="0"/>
      <dgm:spPr/>
    </dgm:pt>
    <dgm:pt modelId="{3CC8B6BB-8A89-4224-8AC0-36412DC26484}" type="pres">
      <dgm:prSet presAssocID="{A8D9FEC0-3405-40B5-B834-1ADB41612053}" presName="BalanceSpacing1" presStyleCnt="0"/>
      <dgm:spPr/>
    </dgm:pt>
    <dgm:pt modelId="{9DAF7479-96E8-43C9-8AC5-D44A0AC1DE87}" type="pres">
      <dgm:prSet presAssocID="{4A56A9C6-98C6-4226-B6E3-7BD7731D2425}" presName="Accent1Text" presStyleLbl="node1" presStyleIdx="5" presStyleCnt="6"/>
      <dgm:spPr/>
    </dgm:pt>
  </dgm:ptLst>
  <dgm:cxnLst>
    <dgm:cxn modelId="{B23DC919-1C5C-447D-8330-63D1A634F79F}" srcId="{B572B81A-C8A2-4261-9B1A-1A690FA730F2}" destId="{8B2162A3-B6D6-4882-92D7-839ABCD99519}" srcOrd="0" destOrd="0" parTransId="{A0DE5CA0-9936-4415-9D37-B5D7B0297554}" sibTransId="{10B47134-1EE4-4E8B-98E5-55DB217025FD}"/>
    <dgm:cxn modelId="{854B341E-478D-4377-88B0-5D9926DA9C22}" type="presOf" srcId="{65CB75E3-D942-499E-90E7-C58E3DF7223C}" destId="{5B9F08EB-293A-42A1-ACFE-48E8E54FC3D0}" srcOrd="0" destOrd="0" presId="urn:microsoft.com/office/officeart/2008/layout/AlternatingHexagons"/>
    <dgm:cxn modelId="{1EA89022-EAD6-4A1E-868E-ECEF52C36233}" type="presOf" srcId="{57319EB9-4614-4568-9791-C9AE0156F741}" destId="{BDB79EA0-A44C-4962-A355-08F2557026A0}" srcOrd="0" destOrd="0" presId="urn:microsoft.com/office/officeart/2008/layout/AlternatingHexagons"/>
    <dgm:cxn modelId="{D87EBE2F-2396-4B08-A3E0-9A01DAFD9930}" type="presOf" srcId="{B13767DF-D7F0-42AE-9A33-BBD61F852019}" destId="{77C4C6C5-334A-4E65-979D-B22FCFC4D25B}" srcOrd="0" destOrd="0" presId="urn:microsoft.com/office/officeart/2008/layout/AlternatingHexagons"/>
    <dgm:cxn modelId="{AD1A8F3B-C1FC-4FD6-B24B-3D915E296046}" srcId="{57319EB9-4614-4568-9791-C9AE0156F741}" destId="{B572B81A-C8A2-4261-9B1A-1A690FA730F2}" srcOrd="1" destOrd="0" parTransId="{191F5F4E-3800-4CA8-B18A-223C9ADC88F8}" sibTransId="{B15EB8DE-96C1-4360-B410-D682B58C471B}"/>
    <dgm:cxn modelId="{0181C94A-406C-41C2-8903-44C5D0FAEA44}" srcId="{57319EB9-4614-4568-9791-C9AE0156F741}" destId="{A8D9FEC0-3405-40B5-B834-1ADB41612053}" srcOrd="2" destOrd="0" parTransId="{D2CE15DA-8B28-4235-AA02-B5CFD4C10A77}" sibTransId="{4A56A9C6-98C6-4226-B6E3-7BD7731D2425}"/>
    <dgm:cxn modelId="{9934016B-A3D1-4F7B-8CFA-0172104FCA08}" srcId="{A8D9FEC0-3405-40B5-B834-1ADB41612053}" destId="{65CB75E3-D942-499E-90E7-C58E3DF7223C}" srcOrd="0" destOrd="0" parTransId="{CC59D6ED-6908-4C5A-B37D-F88F0A01801C}" sibTransId="{B51142B5-0AE8-42B0-9ED8-2E612F0E474F}"/>
    <dgm:cxn modelId="{EE27E354-F222-48DD-A34D-BF81FC976956}" srcId="{AB5687E8-7BC4-4584-9467-92CFB3784C13}" destId="{B13767DF-D7F0-42AE-9A33-BBD61F852019}" srcOrd="0" destOrd="0" parTransId="{53FCE7C6-1925-4D3C-A46D-F5501D7FD26E}" sibTransId="{F2BB5ED8-761D-4AE3-8527-CD2935FBA572}"/>
    <dgm:cxn modelId="{1A24AA79-36B7-4ABB-83C8-48E85D928774}" type="presOf" srcId="{A8D9FEC0-3405-40B5-B834-1ADB41612053}" destId="{F18AFA34-AF22-48CA-A491-D3AA2FDCF09E}" srcOrd="0" destOrd="0" presId="urn:microsoft.com/office/officeart/2008/layout/AlternatingHexagons"/>
    <dgm:cxn modelId="{7F1E3DAD-FB0E-411A-97C1-C61575C84E10}" type="presOf" srcId="{B572B81A-C8A2-4261-9B1A-1A690FA730F2}" destId="{5CDA83B7-524F-419D-8B88-84CC727E3270}" srcOrd="0" destOrd="0" presId="urn:microsoft.com/office/officeart/2008/layout/AlternatingHexagons"/>
    <dgm:cxn modelId="{B0D2AEB8-E263-4457-BE44-F9C58357F531}" type="presOf" srcId="{8B2162A3-B6D6-4882-92D7-839ABCD99519}" destId="{9F9A9FAC-12D3-4655-B2AA-04364F1E88CE}" srcOrd="0" destOrd="0" presId="urn:microsoft.com/office/officeart/2008/layout/AlternatingHexagons"/>
    <dgm:cxn modelId="{05D89DBA-EB48-4970-A84F-132494D3F8A4}" type="presOf" srcId="{B15EB8DE-96C1-4360-B410-D682B58C471B}" destId="{BC9E837C-7471-448B-B8E7-D49F71F18600}" srcOrd="0" destOrd="0" presId="urn:microsoft.com/office/officeart/2008/layout/AlternatingHexagons"/>
    <dgm:cxn modelId="{1A9FA0BD-6564-49D1-B4E7-071B852D71CF}" type="presOf" srcId="{AB5687E8-7BC4-4584-9467-92CFB3784C13}" destId="{DC8CECCC-33E8-4D44-AF7B-D639E8E0A9B0}" srcOrd="0" destOrd="0" presId="urn:microsoft.com/office/officeart/2008/layout/AlternatingHexagons"/>
    <dgm:cxn modelId="{A7F9E5C6-0819-42FE-9650-F38AD26399A1}" type="presOf" srcId="{4A56A9C6-98C6-4226-B6E3-7BD7731D2425}" destId="{9DAF7479-96E8-43C9-8AC5-D44A0AC1DE87}" srcOrd="0" destOrd="0" presId="urn:microsoft.com/office/officeart/2008/layout/AlternatingHexagons"/>
    <dgm:cxn modelId="{BD8500E0-55DF-45C7-A226-F3EFB2FC53C2}" type="presOf" srcId="{6F28841C-B424-47DC-9BDD-951BD626D164}" destId="{FA279299-B666-469F-8777-B71225E62A40}" srcOrd="0" destOrd="0" presId="urn:microsoft.com/office/officeart/2008/layout/AlternatingHexagons"/>
    <dgm:cxn modelId="{AF7B03E1-1404-4373-A86D-92C0E226D4F6}" srcId="{57319EB9-4614-4568-9791-C9AE0156F741}" destId="{AB5687E8-7BC4-4584-9467-92CFB3784C13}" srcOrd="0" destOrd="0" parTransId="{814585C0-CCC5-4B07-B56D-34ECF1C65DD7}" sibTransId="{6F28841C-B424-47DC-9BDD-951BD626D164}"/>
    <dgm:cxn modelId="{D7FA2035-EBD0-41D0-83AA-A076203A41BA}" type="presParOf" srcId="{BDB79EA0-A44C-4962-A355-08F2557026A0}" destId="{0A2E94F4-9538-4412-A5DB-82BF5599FE8B}" srcOrd="0" destOrd="0" presId="urn:microsoft.com/office/officeart/2008/layout/AlternatingHexagons"/>
    <dgm:cxn modelId="{E5590B59-C290-4C4E-ABCC-406384A041E6}" type="presParOf" srcId="{0A2E94F4-9538-4412-A5DB-82BF5599FE8B}" destId="{DC8CECCC-33E8-4D44-AF7B-D639E8E0A9B0}" srcOrd="0" destOrd="0" presId="urn:microsoft.com/office/officeart/2008/layout/AlternatingHexagons"/>
    <dgm:cxn modelId="{4A7D7427-D4DB-4797-A038-571B41276486}" type="presParOf" srcId="{0A2E94F4-9538-4412-A5DB-82BF5599FE8B}" destId="{77C4C6C5-334A-4E65-979D-B22FCFC4D25B}" srcOrd="1" destOrd="0" presId="urn:microsoft.com/office/officeart/2008/layout/AlternatingHexagons"/>
    <dgm:cxn modelId="{F24B6F93-D3E2-46F3-9AF4-E8DD68930C33}" type="presParOf" srcId="{0A2E94F4-9538-4412-A5DB-82BF5599FE8B}" destId="{ECCD8BEB-7330-44C1-BA10-F2A2DAC3CBF7}" srcOrd="2" destOrd="0" presId="urn:microsoft.com/office/officeart/2008/layout/AlternatingHexagons"/>
    <dgm:cxn modelId="{1902FE8E-9AB4-4C21-9DD8-EEB151A48058}" type="presParOf" srcId="{0A2E94F4-9538-4412-A5DB-82BF5599FE8B}" destId="{291DBE6B-442F-4F4E-84CC-BF472AC858D2}" srcOrd="3" destOrd="0" presId="urn:microsoft.com/office/officeart/2008/layout/AlternatingHexagons"/>
    <dgm:cxn modelId="{2C369838-422A-4B11-8142-14A7315BC8D1}" type="presParOf" srcId="{0A2E94F4-9538-4412-A5DB-82BF5599FE8B}" destId="{FA279299-B666-469F-8777-B71225E62A40}" srcOrd="4" destOrd="0" presId="urn:microsoft.com/office/officeart/2008/layout/AlternatingHexagons"/>
    <dgm:cxn modelId="{0FFE630C-18ED-44D8-9C49-F25E47BD9D4C}" type="presParOf" srcId="{BDB79EA0-A44C-4962-A355-08F2557026A0}" destId="{151082C4-983E-4E15-A83E-ECEE4D75F748}" srcOrd="1" destOrd="0" presId="urn:microsoft.com/office/officeart/2008/layout/AlternatingHexagons"/>
    <dgm:cxn modelId="{F718D841-33FE-4C9D-8E88-7ADEDC3741DC}" type="presParOf" srcId="{BDB79EA0-A44C-4962-A355-08F2557026A0}" destId="{05EA092A-05D3-4432-BC70-BC13F3DBD001}" srcOrd="2" destOrd="0" presId="urn:microsoft.com/office/officeart/2008/layout/AlternatingHexagons"/>
    <dgm:cxn modelId="{D2245785-5C4D-42DE-B1F1-A7398AB0880C}" type="presParOf" srcId="{05EA092A-05D3-4432-BC70-BC13F3DBD001}" destId="{5CDA83B7-524F-419D-8B88-84CC727E3270}" srcOrd="0" destOrd="0" presId="urn:microsoft.com/office/officeart/2008/layout/AlternatingHexagons"/>
    <dgm:cxn modelId="{A703FEEE-3538-4B3A-8AD2-BC9C10CF1CE5}" type="presParOf" srcId="{05EA092A-05D3-4432-BC70-BC13F3DBD001}" destId="{9F9A9FAC-12D3-4655-B2AA-04364F1E88CE}" srcOrd="1" destOrd="0" presId="urn:microsoft.com/office/officeart/2008/layout/AlternatingHexagons"/>
    <dgm:cxn modelId="{C504A51A-3EE2-4256-B251-287AACB5164C}" type="presParOf" srcId="{05EA092A-05D3-4432-BC70-BC13F3DBD001}" destId="{3FB203CB-0438-4D34-A30F-718B07D59709}" srcOrd="2" destOrd="0" presId="urn:microsoft.com/office/officeart/2008/layout/AlternatingHexagons"/>
    <dgm:cxn modelId="{26E25EEA-2650-4762-AA08-44B68793E464}" type="presParOf" srcId="{05EA092A-05D3-4432-BC70-BC13F3DBD001}" destId="{8AB624BF-00CE-441D-9E28-FD69C6F7A5AB}" srcOrd="3" destOrd="0" presId="urn:microsoft.com/office/officeart/2008/layout/AlternatingHexagons"/>
    <dgm:cxn modelId="{EE96E550-E8E9-4B4E-9C05-627AD2369012}" type="presParOf" srcId="{05EA092A-05D3-4432-BC70-BC13F3DBD001}" destId="{BC9E837C-7471-448B-B8E7-D49F71F18600}" srcOrd="4" destOrd="0" presId="urn:microsoft.com/office/officeart/2008/layout/AlternatingHexagons"/>
    <dgm:cxn modelId="{B1CD5167-D0BD-481E-9AB4-7CB02E0496ED}" type="presParOf" srcId="{BDB79EA0-A44C-4962-A355-08F2557026A0}" destId="{93506089-6327-4A0E-8CB1-F7C151D7F04B}" srcOrd="3" destOrd="0" presId="urn:microsoft.com/office/officeart/2008/layout/AlternatingHexagons"/>
    <dgm:cxn modelId="{EDA3F6DD-1F0C-433D-A159-BD7956608BAA}" type="presParOf" srcId="{BDB79EA0-A44C-4962-A355-08F2557026A0}" destId="{53A265BD-9BFF-49CE-85B9-C0A8B390C52B}" srcOrd="4" destOrd="0" presId="urn:microsoft.com/office/officeart/2008/layout/AlternatingHexagons"/>
    <dgm:cxn modelId="{A0A45F4F-34AF-475C-B94A-B6E1B6498E80}" type="presParOf" srcId="{53A265BD-9BFF-49CE-85B9-C0A8B390C52B}" destId="{F18AFA34-AF22-48CA-A491-D3AA2FDCF09E}" srcOrd="0" destOrd="0" presId="urn:microsoft.com/office/officeart/2008/layout/AlternatingHexagons"/>
    <dgm:cxn modelId="{3E7E0B01-05B3-48F4-984E-05EE59B75D64}" type="presParOf" srcId="{53A265BD-9BFF-49CE-85B9-C0A8B390C52B}" destId="{5B9F08EB-293A-42A1-ACFE-48E8E54FC3D0}" srcOrd="1" destOrd="0" presId="urn:microsoft.com/office/officeart/2008/layout/AlternatingHexagons"/>
    <dgm:cxn modelId="{1DE598C3-2566-438C-AC03-78FC8AD49E29}" type="presParOf" srcId="{53A265BD-9BFF-49CE-85B9-C0A8B390C52B}" destId="{E1AE432F-E2E5-4DCE-8DE5-E8271CFC7CB9}" srcOrd="2" destOrd="0" presId="urn:microsoft.com/office/officeart/2008/layout/AlternatingHexagons"/>
    <dgm:cxn modelId="{0D3E6AFB-074C-4100-B138-1515AA97D2BA}" type="presParOf" srcId="{53A265BD-9BFF-49CE-85B9-C0A8B390C52B}" destId="{3CC8B6BB-8A89-4224-8AC0-36412DC26484}" srcOrd="3" destOrd="0" presId="urn:microsoft.com/office/officeart/2008/layout/AlternatingHexagons"/>
    <dgm:cxn modelId="{F7A1D5E8-8DC7-45B4-A07E-A3D18E8038BB}" type="presParOf" srcId="{53A265BD-9BFF-49CE-85B9-C0A8B390C52B}" destId="{9DAF7479-96E8-43C9-8AC5-D44A0AC1DE87}" srcOrd="4" destOrd="0" presId="urn:microsoft.com/office/officeart/2008/layout/AlternatingHexagon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4533357B-E680-4D30-8206-A709B50D7624}" type="doc">
      <dgm:prSet loTypeId="urn:microsoft.com/office/officeart/2005/8/layout/vList2" loCatId="list" qsTypeId="urn:microsoft.com/office/officeart/2005/8/quickstyle/simple4" qsCatId="simple" csTypeId="urn:microsoft.com/office/officeart/2005/8/colors/colorful1#6" csCatId="colorful" phldr="1"/>
      <dgm:spPr/>
      <dgm:t>
        <a:bodyPr/>
        <a:lstStyle/>
        <a:p>
          <a:endParaRPr lang="zh-CN" altLang="en-US"/>
        </a:p>
      </dgm:t>
    </dgm:pt>
    <dgm:pt modelId="{16518293-AEFA-448E-8DCB-4EA94D6D26E9}">
      <dgm:prSet phldrT="[文本]" custT="1"/>
      <dgm:spPr/>
      <dgm:t>
        <a:bodyPr/>
        <a:lstStyle/>
        <a:p>
          <a:r>
            <a:rPr lang="zh-CN" altLang="en-US" sz="2000" b="1" dirty="0">
              <a:latin typeface="微软雅黑" panose="020B0503020204020204" pitchFamily="34" charset="-122"/>
              <a:ea typeface="微软雅黑" panose="020B0503020204020204" pitchFamily="34" charset="-122"/>
            </a:rPr>
            <a:t>关于“最佳路由”</a:t>
          </a:r>
        </a:p>
      </dgm:t>
    </dgm:pt>
    <dgm:pt modelId="{8ED58918-7B83-421A-963D-28174E03A511}" type="parTrans" cxnId="{1116B733-6290-4AD1-B772-7E2F47DE9587}">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38748E35-BABA-4D79-9B11-5D2B51A27A71}" type="sibTrans" cxnId="{1116B733-6290-4AD1-B772-7E2F47DE9587}">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30BC86A4-9190-42EE-99B2-658A1A49036F}">
      <dgm:prSet phldrT="[文本]" custT="1"/>
      <dgm:spPr/>
      <dgm:t>
        <a:bodyPr/>
        <a:lstStyle/>
        <a:p>
          <a:r>
            <a:rPr lang="zh-CN" altLang="en-US" sz="1800" b="1" dirty="0">
              <a:latin typeface="微软雅黑" panose="020B0503020204020204" pitchFamily="34" charset="-122"/>
              <a:ea typeface="微软雅黑" panose="020B0503020204020204" pitchFamily="34" charset="-122"/>
            </a:rPr>
            <a:t>不存在一种绝对的最佳路由算法。</a:t>
          </a:r>
        </a:p>
      </dgm:t>
    </dgm:pt>
    <dgm:pt modelId="{B6072E33-630B-42F5-8DAE-99755D96236B}" type="parTrans" cxnId="{2107EE29-0197-482C-99F5-B371CFDF47C6}">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1ABABF71-BE3E-4043-A613-94AC93A7F26B}" type="sibTrans" cxnId="{2107EE29-0197-482C-99F5-B371CFDF47C6}">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89BDB0A5-F0F3-4706-9AFB-422B45FD153E}">
      <dgm:prSet phldrT="[文本]" custT="1"/>
      <dgm:spPr/>
      <dgm:t>
        <a:bodyPr/>
        <a:lstStyle/>
        <a:p>
          <a:r>
            <a:rPr lang="zh-CN" altLang="en-US" sz="2000" b="1" dirty="0">
              <a:solidFill>
                <a:srgbClr val="000099"/>
              </a:solidFill>
              <a:latin typeface="微软雅黑" panose="020B0503020204020204" pitchFamily="34" charset="-122"/>
              <a:ea typeface="微软雅黑" panose="020B0503020204020204" pitchFamily="34" charset="-122"/>
            </a:rPr>
            <a:t>路由选择非常复杂</a:t>
          </a:r>
        </a:p>
      </dgm:t>
    </dgm:pt>
    <dgm:pt modelId="{E2DBBCBF-1890-4F06-A86E-DCDA76FC258B}" type="parTrans" cxnId="{B01B1942-3382-4F25-958E-930C3D427AF0}">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8F3E56C1-0952-4029-B826-24948108077B}" type="sibTrans" cxnId="{B01B1942-3382-4F25-958E-930C3D427AF0}">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320C1749-000D-4777-85FF-5C0C6DCF8545}">
      <dgm:prSet phldrT="[文本]" custT="1"/>
      <dgm:spPr/>
      <dgm:t>
        <a:bodyPr/>
        <a:lstStyle/>
        <a:p>
          <a:r>
            <a:rPr lang="zh-CN" altLang="en-US" sz="1800" b="1" dirty="0">
              <a:latin typeface="微软雅黑" panose="020B0503020204020204" pitchFamily="34" charset="-122"/>
              <a:ea typeface="微软雅黑" panose="020B0503020204020204" pitchFamily="34" charset="-122"/>
            </a:rPr>
            <a:t>需要所有节点共同协调工作的。</a:t>
          </a:r>
        </a:p>
      </dgm:t>
    </dgm:pt>
    <dgm:pt modelId="{294E8973-375F-47DD-99FD-A3095944FF77}" type="parTrans" cxnId="{70513945-B5E5-4F85-9B1E-329D72B56811}">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5369DBC2-77C3-4BDD-A686-61AAFD126298}" type="sibTrans" cxnId="{70513945-B5E5-4F85-9B1E-329D72B56811}">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0DB4822C-EDAC-4F58-B2EF-0B2BC98EE745}">
      <dgm:prSet custT="1"/>
      <dgm:spPr/>
      <dgm:t>
        <a:bodyPr/>
        <a:lstStyle/>
        <a:p>
          <a:r>
            <a:rPr lang="zh-CN" altLang="en-US" sz="1800" b="1" dirty="0">
              <a:latin typeface="微软雅黑" panose="020B0503020204020204" pitchFamily="34" charset="-122"/>
              <a:ea typeface="微软雅黑" panose="020B0503020204020204" pitchFamily="34" charset="-122"/>
            </a:rPr>
            <a:t>所谓“最佳”只能是相对于某一种特定要求下得出的较为合理的选择而已。</a:t>
          </a:r>
        </a:p>
      </dgm:t>
    </dgm:pt>
    <dgm:pt modelId="{E6040A55-1C57-4EB1-8C6E-03FF05DE4BB9}" type="parTrans" cxnId="{FBB4225B-94E0-4196-829E-65733A788C31}">
      <dgm:prSet/>
      <dgm:spPr/>
      <dgm:t>
        <a:bodyPr/>
        <a:lstStyle/>
        <a:p>
          <a:endParaRPr lang="zh-CN" altLang="en-US"/>
        </a:p>
      </dgm:t>
    </dgm:pt>
    <dgm:pt modelId="{2D11C94C-006E-4EB5-96A5-D2ED5AF21E96}" type="sibTrans" cxnId="{FBB4225B-94E0-4196-829E-65733A788C31}">
      <dgm:prSet/>
      <dgm:spPr/>
      <dgm:t>
        <a:bodyPr/>
        <a:lstStyle/>
        <a:p>
          <a:endParaRPr lang="zh-CN" altLang="en-US"/>
        </a:p>
      </dgm:t>
    </dgm:pt>
    <dgm:pt modelId="{A4481039-E4CE-4649-B9D0-640DB5B427B4}">
      <dgm:prSet phldrT="[文本]" custT="1"/>
      <dgm:spPr/>
      <dgm:t>
        <a:bodyPr/>
        <a:lstStyle/>
        <a:p>
          <a:r>
            <a:rPr lang="zh-CN" altLang="en-US" sz="1800" b="1" dirty="0">
              <a:latin typeface="微软雅黑" panose="020B0503020204020204" pitchFamily="34" charset="-122"/>
              <a:ea typeface="微软雅黑" panose="020B0503020204020204" pitchFamily="34" charset="-122"/>
            </a:rPr>
            <a:t>环境不断变化，而这种变化有时无法事先知道。</a:t>
          </a:r>
        </a:p>
      </dgm:t>
    </dgm:pt>
    <dgm:pt modelId="{BEBFFC1D-C59E-47B9-B0B3-891558399453}" type="parTrans" cxnId="{CBAF101D-7F5B-4F5D-BEBC-8D20544C5EBB}">
      <dgm:prSet/>
      <dgm:spPr/>
      <dgm:t>
        <a:bodyPr/>
        <a:lstStyle/>
        <a:p>
          <a:endParaRPr lang="zh-CN" altLang="en-US"/>
        </a:p>
      </dgm:t>
    </dgm:pt>
    <dgm:pt modelId="{91DA570E-EB18-40D3-A7FB-5972A6FFA677}" type="sibTrans" cxnId="{CBAF101D-7F5B-4F5D-BEBC-8D20544C5EBB}">
      <dgm:prSet/>
      <dgm:spPr/>
      <dgm:t>
        <a:bodyPr/>
        <a:lstStyle/>
        <a:p>
          <a:endParaRPr lang="zh-CN" altLang="en-US"/>
        </a:p>
      </dgm:t>
    </dgm:pt>
    <dgm:pt modelId="{09858582-0B12-493A-810B-816A4CEE2FC6}">
      <dgm:prSet phldrT="[文本]" custT="1"/>
      <dgm:spPr/>
      <dgm:t>
        <a:bodyPr/>
        <a:lstStyle/>
        <a:p>
          <a:r>
            <a:rPr lang="zh-CN" altLang="en-US" sz="1800" b="1" dirty="0">
              <a:latin typeface="微软雅黑" panose="020B0503020204020204" pitchFamily="34" charset="-122"/>
              <a:ea typeface="微软雅黑" panose="020B0503020204020204" pitchFamily="34" charset="-122"/>
            </a:rPr>
            <a:t>当网络发生拥塞时，很难获得所需的路由选择信息。</a:t>
          </a:r>
        </a:p>
      </dgm:t>
    </dgm:pt>
    <dgm:pt modelId="{112E2980-7B03-44EE-BC58-2AC9A21978F4}" type="parTrans" cxnId="{CE98317D-4C90-4E26-82BA-A80584AF744E}">
      <dgm:prSet/>
      <dgm:spPr/>
      <dgm:t>
        <a:bodyPr/>
        <a:lstStyle/>
        <a:p>
          <a:endParaRPr lang="zh-CN" altLang="en-US"/>
        </a:p>
      </dgm:t>
    </dgm:pt>
    <dgm:pt modelId="{6A0D61C3-2549-4D09-BD20-E16516E7EB52}" type="sibTrans" cxnId="{CE98317D-4C90-4E26-82BA-A80584AF744E}">
      <dgm:prSet/>
      <dgm:spPr/>
      <dgm:t>
        <a:bodyPr/>
        <a:lstStyle/>
        <a:p>
          <a:endParaRPr lang="zh-CN" altLang="en-US"/>
        </a:p>
      </dgm:t>
    </dgm:pt>
    <dgm:pt modelId="{BE7E2D9E-C291-4AD1-9C46-EBC6D82E26F0}" type="pres">
      <dgm:prSet presAssocID="{4533357B-E680-4D30-8206-A709B50D7624}" presName="linear" presStyleCnt="0">
        <dgm:presLayoutVars>
          <dgm:animLvl val="lvl"/>
          <dgm:resizeHandles val="exact"/>
        </dgm:presLayoutVars>
      </dgm:prSet>
      <dgm:spPr/>
    </dgm:pt>
    <dgm:pt modelId="{4B5FE49D-F768-452D-A9A2-52FCD77827E0}" type="pres">
      <dgm:prSet presAssocID="{16518293-AEFA-448E-8DCB-4EA94D6D26E9}" presName="parentText" presStyleLbl="node1" presStyleIdx="0" presStyleCnt="2" custScaleY="73964">
        <dgm:presLayoutVars>
          <dgm:chMax val="0"/>
          <dgm:bulletEnabled val="1"/>
        </dgm:presLayoutVars>
      </dgm:prSet>
      <dgm:spPr/>
    </dgm:pt>
    <dgm:pt modelId="{CCA9AB54-F7DF-42DA-BB14-49BA708108B7}" type="pres">
      <dgm:prSet presAssocID="{16518293-AEFA-448E-8DCB-4EA94D6D26E9}" presName="childText" presStyleLbl="revTx" presStyleIdx="0" presStyleCnt="2">
        <dgm:presLayoutVars>
          <dgm:bulletEnabled val="1"/>
        </dgm:presLayoutVars>
      </dgm:prSet>
      <dgm:spPr/>
    </dgm:pt>
    <dgm:pt modelId="{EDCCA3B5-69A3-4D4F-933E-C980F139D5CE}" type="pres">
      <dgm:prSet presAssocID="{89BDB0A5-F0F3-4706-9AFB-422B45FD153E}" presName="parentText" presStyleLbl="node1" presStyleIdx="1" presStyleCnt="2" custScaleY="73964">
        <dgm:presLayoutVars>
          <dgm:chMax val="0"/>
          <dgm:bulletEnabled val="1"/>
        </dgm:presLayoutVars>
      </dgm:prSet>
      <dgm:spPr/>
    </dgm:pt>
    <dgm:pt modelId="{7CB622EB-CFF9-4CEF-9C62-0D3FB7B9D848}" type="pres">
      <dgm:prSet presAssocID="{89BDB0A5-F0F3-4706-9AFB-422B45FD153E}" presName="childText" presStyleLbl="revTx" presStyleIdx="1" presStyleCnt="2">
        <dgm:presLayoutVars>
          <dgm:bulletEnabled val="1"/>
        </dgm:presLayoutVars>
      </dgm:prSet>
      <dgm:spPr/>
    </dgm:pt>
  </dgm:ptLst>
  <dgm:cxnLst>
    <dgm:cxn modelId="{CBAF101D-7F5B-4F5D-BEBC-8D20544C5EBB}" srcId="{89BDB0A5-F0F3-4706-9AFB-422B45FD153E}" destId="{A4481039-E4CE-4649-B9D0-640DB5B427B4}" srcOrd="1" destOrd="0" parTransId="{BEBFFC1D-C59E-47B9-B0B3-891558399453}" sibTransId="{91DA570E-EB18-40D3-A7FB-5972A6FFA677}"/>
    <dgm:cxn modelId="{2107EE29-0197-482C-99F5-B371CFDF47C6}" srcId="{16518293-AEFA-448E-8DCB-4EA94D6D26E9}" destId="{30BC86A4-9190-42EE-99B2-658A1A49036F}" srcOrd="0" destOrd="0" parTransId="{B6072E33-630B-42F5-8DAE-99755D96236B}" sibTransId="{1ABABF71-BE3E-4043-A613-94AC93A7F26B}"/>
    <dgm:cxn modelId="{1116B733-6290-4AD1-B772-7E2F47DE9587}" srcId="{4533357B-E680-4D30-8206-A709B50D7624}" destId="{16518293-AEFA-448E-8DCB-4EA94D6D26E9}" srcOrd="0" destOrd="0" parTransId="{8ED58918-7B83-421A-963D-28174E03A511}" sibTransId="{38748E35-BABA-4D79-9B11-5D2B51A27A71}"/>
    <dgm:cxn modelId="{8F743339-BB99-4604-9A51-F1C4C430EF07}" type="presOf" srcId="{4533357B-E680-4D30-8206-A709B50D7624}" destId="{BE7E2D9E-C291-4AD1-9C46-EBC6D82E26F0}" srcOrd="0" destOrd="0" presId="urn:microsoft.com/office/officeart/2005/8/layout/vList2"/>
    <dgm:cxn modelId="{FBB4225B-94E0-4196-829E-65733A788C31}" srcId="{16518293-AEFA-448E-8DCB-4EA94D6D26E9}" destId="{0DB4822C-EDAC-4F58-B2EF-0B2BC98EE745}" srcOrd="1" destOrd="0" parTransId="{E6040A55-1C57-4EB1-8C6E-03FF05DE4BB9}" sibTransId="{2D11C94C-006E-4EB5-96A5-D2ED5AF21E96}"/>
    <dgm:cxn modelId="{B01B1942-3382-4F25-958E-930C3D427AF0}" srcId="{4533357B-E680-4D30-8206-A709B50D7624}" destId="{89BDB0A5-F0F3-4706-9AFB-422B45FD153E}" srcOrd="1" destOrd="0" parTransId="{E2DBBCBF-1890-4F06-A86E-DCDA76FC258B}" sibTransId="{8F3E56C1-0952-4029-B826-24948108077B}"/>
    <dgm:cxn modelId="{70513945-B5E5-4F85-9B1E-329D72B56811}" srcId="{89BDB0A5-F0F3-4706-9AFB-422B45FD153E}" destId="{320C1749-000D-4777-85FF-5C0C6DCF8545}" srcOrd="0" destOrd="0" parTransId="{294E8973-375F-47DD-99FD-A3095944FF77}" sibTransId="{5369DBC2-77C3-4BDD-A686-61AAFD126298}"/>
    <dgm:cxn modelId="{CE98317D-4C90-4E26-82BA-A80584AF744E}" srcId="{89BDB0A5-F0F3-4706-9AFB-422B45FD153E}" destId="{09858582-0B12-493A-810B-816A4CEE2FC6}" srcOrd="2" destOrd="0" parTransId="{112E2980-7B03-44EE-BC58-2AC9A21978F4}" sibTransId="{6A0D61C3-2549-4D09-BD20-E16516E7EB52}"/>
    <dgm:cxn modelId="{09776885-12AF-4DBC-AB71-881EEA66E73A}" type="presOf" srcId="{09858582-0B12-493A-810B-816A4CEE2FC6}" destId="{7CB622EB-CFF9-4CEF-9C62-0D3FB7B9D848}" srcOrd="0" destOrd="2" presId="urn:microsoft.com/office/officeart/2005/8/layout/vList2"/>
    <dgm:cxn modelId="{04C14F8E-42A5-412A-A727-B1A415D5F573}" type="presOf" srcId="{A4481039-E4CE-4649-B9D0-640DB5B427B4}" destId="{7CB622EB-CFF9-4CEF-9C62-0D3FB7B9D848}" srcOrd="0" destOrd="1" presId="urn:microsoft.com/office/officeart/2005/8/layout/vList2"/>
    <dgm:cxn modelId="{42BAFF98-D7D3-46DA-BBFE-732D4FAE307E}" type="presOf" srcId="{89BDB0A5-F0F3-4706-9AFB-422B45FD153E}" destId="{EDCCA3B5-69A3-4D4F-933E-C980F139D5CE}" srcOrd="0" destOrd="0" presId="urn:microsoft.com/office/officeart/2005/8/layout/vList2"/>
    <dgm:cxn modelId="{0647F5AA-69F1-4B67-8A62-EFBE1B6A7161}" type="presOf" srcId="{30BC86A4-9190-42EE-99B2-658A1A49036F}" destId="{CCA9AB54-F7DF-42DA-BB14-49BA708108B7}" srcOrd="0" destOrd="0" presId="urn:microsoft.com/office/officeart/2005/8/layout/vList2"/>
    <dgm:cxn modelId="{7CF3BDAF-260E-4785-9CA7-9A6C96BA17C3}" type="presOf" srcId="{320C1749-000D-4777-85FF-5C0C6DCF8545}" destId="{7CB622EB-CFF9-4CEF-9C62-0D3FB7B9D848}" srcOrd="0" destOrd="0" presId="urn:microsoft.com/office/officeart/2005/8/layout/vList2"/>
    <dgm:cxn modelId="{7CC89CC0-ABA6-4D64-B6B0-D555B745BABC}" type="presOf" srcId="{0DB4822C-EDAC-4F58-B2EF-0B2BC98EE745}" destId="{CCA9AB54-F7DF-42DA-BB14-49BA708108B7}" srcOrd="0" destOrd="1" presId="urn:microsoft.com/office/officeart/2005/8/layout/vList2"/>
    <dgm:cxn modelId="{99F429DC-E4A9-4955-B062-4F8480A677CC}" type="presOf" srcId="{16518293-AEFA-448E-8DCB-4EA94D6D26E9}" destId="{4B5FE49D-F768-452D-A9A2-52FCD77827E0}" srcOrd="0" destOrd="0" presId="urn:microsoft.com/office/officeart/2005/8/layout/vList2"/>
    <dgm:cxn modelId="{4762189A-A012-4FA6-B59E-2A781D8F0C9A}" type="presParOf" srcId="{BE7E2D9E-C291-4AD1-9C46-EBC6D82E26F0}" destId="{4B5FE49D-F768-452D-A9A2-52FCD77827E0}" srcOrd="0" destOrd="0" presId="urn:microsoft.com/office/officeart/2005/8/layout/vList2"/>
    <dgm:cxn modelId="{BB91F1AA-0FFB-4AAD-B0DC-9EEBEEB49457}" type="presParOf" srcId="{BE7E2D9E-C291-4AD1-9C46-EBC6D82E26F0}" destId="{CCA9AB54-F7DF-42DA-BB14-49BA708108B7}" srcOrd="1" destOrd="0" presId="urn:microsoft.com/office/officeart/2005/8/layout/vList2"/>
    <dgm:cxn modelId="{34C45ABA-83A1-4F54-8313-BEF20D8D5BAF}" type="presParOf" srcId="{BE7E2D9E-C291-4AD1-9C46-EBC6D82E26F0}" destId="{EDCCA3B5-69A3-4D4F-933E-C980F139D5CE}" srcOrd="2" destOrd="0" presId="urn:microsoft.com/office/officeart/2005/8/layout/vList2"/>
    <dgm:cxn modelId="{2361A835-A2C2-4FAB-B685-A48F3C9B5815}" type="presParOf" srcId="{BE7E2D9E-C291-4AD1-9C46-EBC6D82E26F0}" destId="{7CB622EB-CFF9-4CEF-9C62-0D3FB7B9D848}" srcOrd="3"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9509D1AF-3F45-453B-AACE-DE8372CBE3C6}" type="doc">
      <dgm:prSet loTypeId="urn:microsoft.com/office/officeart/2005/8/layout/hList1" loCatId="list" qsTypeId="urn:microsoft.com/office/officeart/2005/8/quickstyle/simple2" qsCatId="simple" csTypeId="urn:microsoft.com/office/officeart/2005/8/colors/colorful4" csCatId="colorful" phldr="1"/>
      <dgm:spPr/>
      <dgm:t>
        <a:bodyPr/>
        <a:lstStyle/>
        <a:p>
          <a:endParaRPr lang="zh-CN" altLang="en-US"/>
        </a:p>
      </dgm:t>
    </dgm:pt>
    <dgm:pt modelId="{22EAAA66-547D-4B51-BF4D-D6DB3D7509FE}">
      <dgm:prSet phldrT="[文本]" custT="1"/>
      <dgm:spPr/>
      <dgm:t>
        <a:bodyPr/>
        <a:lstStyle/>
        <a:p>
          <a:r>
            <a:rPr lang="zh-CN" altLang="en-US" sz="2000" b="1" dirty="0">
              <a:latin typeface="微软雅黑" panose="020B0503020204020204" pitchFamily="34" charset="-122"/>
              <a:ea typeface="微软雅黑" panose="020B0503020204020204" pitchFamily="34" charset="-122"/>
            </a:rPr>
            <a:t>静态路由选择策略</a:t>
          </a:r>
        </a:p>
      </dgm:t>
    </dgm:pt>
    <dgm:pt modelId="{48CADA59-BA4F-4FCB-B61F-72AB0C28CB52}" type="parTrans" cxnId="{25108764-331C-49F5-AD56-0C02CF031934}">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39DFCE58-1778-4029-9234-42DBC5AE9592}" type="sibTrans" cxnId="{25108764-331C-49F5-AD56-0C02CF031934}">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00FEE0F5-92EC-4D73-8F97-62ABE0C0B1AD}">
      <dgm:prSet phldrT="[文本]" custT="1"/>
      <dgm:spPr/>
      <dgm:t>
        <a:bodyPr/>
        <a:lstStyle/>
        <a:p>
          <a:r>
            <a:rPr lang="zh-CN" altLang="en-US" sz="1800" b="1" dirty="0">
              <a:latin typeface="微软雅黑" panose="020B0503020204020204" pitchFamily="34" charset="-122"/>
              <a:ea typeface="微软雅黑" panose="020B0503020204020204" pitchFamily="34" charset="-122"/>
            </a:rPr>
            <a:t>非自适应路由选择；</a:t>
          </a:r>
        </a:p>
      </dgm:t>
    </dgm:pt>
    <dgm:pt modelId="{6B364625-1F64-4A2C-92E4-8ACCAE108854}" type="parTrans" cxnId="{BA41E5B2-0918-4C75-BD81-EA2852E9341F}">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323F8354-FC9E-4128-896D-37F58AB0782A}" type="sibTrans" cxnId="{BA41E5B2-0918-4C75-BD81-EA2852E9341F}">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45CE52F7-516C-41E7-98C3-DE6A902FC6B5}">
      <dgm:prSet phldrT="[文本]" custT="1"/>
      <dgm:spPr/>
      <dgm:t>
        <a:bodyPr/>
        <a:lstStyle/>
        <a:p>
          <a:r>
            <a:rPr lang="zh-CN" altLang="en-US" sz="2000" b="1" dirty="0">
              <a:latin typeface="微软雅黑" panose="020B0503020204020204" pitchFamily="34" charset="-122"/>
              <a:ea typeface="微软雅黑" panose="020B0503020204020204" pitchFamily="34" charset="-122"/>
            </a:rPr>
            <a:t>动态路由选择策略</a:t>
          </a:r>
        </a:p>
      </dgm:t>
    </dgm:pt>
    <dgm:pt modelId="{4851B073-903C-4F9D-8072-2D8A05A18A38}" type="parTrans" cxnId="{7F6F0DD8-3A82-4051-87D5-2536B5905195}">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0A0401B2-7A98-4518-8A77-2C9DC55F6202}" type="sibTrans" cxnId="{7F6F0DD8-3A82-4051-87D5-2536B5905195}">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C7D5F8E2-243B-4DE9-B470-B712E8897F5B}">
      <dgm:prSet phldrT="[文本]" custT="1"/>
      <dgm:spPr/>
      <dgm:t>
        <a:bodyPr/>
        <a:lstStyle/>
        <a:p>
          <a:r>
            <a:rPr lang="zh-CN" altLang="en-US" sz="1800" b="1" dirty="0">
              <a:latin typeface="微软雅黑" panose="020B0503020204020204" pitchFamily="34" charset="-122"/>
              <a:ea typeface="微软雅黑" panose="020B0503020204020204" pitchFamily="34" charset="-122"/>
            </a:rPr>
            <a:t>自适应路由选择；</a:t>
          </a:r>
        </a:p>
      </dgm:t>
    </dgm:pt>
    <dgm:pt modelId="{292068CC-A905-42E3-851F-0980B0482AAB}" type="parTrans" cxnId="{EBEF6AA6-4BC5-4136-986E-B0AA9E01438F}">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AEB55ABB-C6D0-4CD5-A01F-970B67F60A07}" type="sibTrans" cxnId="{EBEF6AA6-4BC5-4136-986E-B0AA9E01438F}">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EDC6E589-44E1-49CC-BAB5-1FCBE573BC1C}">
      <dgm:prSet phldrT="[文本]" custT="1"/>
      <dgm:spPr/>
      <dgm:t>
        <a:bodyPr/>
        <a:lstStyle/>
        <a:p>
          <a:r>
            <a:rPr lang="zh-CN" altLang="en-US" sz="1800" b="1" dirty="0">
              <a:latin typeface="微软雅黑" panose="020B0503020204020204" pitchFamily="34" charset="-122"/>
              <a:ea typeface="微软雅黑" panose="020B0503020204020204" pitchFamily="34" charset="-122"/>
            </a:rPr>
            <a:t>能较好地适应网络状态的变化；</a:t>
          </a:r>
        </a:p>
      </dgm:t>
    </dgm:pt>
    <dgm:pt modelId="{E63EF559-E6BF-4462-81EE-BD63AE8BF5CC}" type="parTrans" cxnId="{64FE0401-5DA3-4A14-B1FC-44C158D0747D}">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C06A0B01-C265-432B-8D47-AC0785624F65}" type="sibTrans" cxnId="{64FE0401-5DA3-4A14-B1FC-44C158D0747D}">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636C96B3-61DA-4AC2-A19D-01B5048C3392}">
      <dgm:prSet phldrT="[文本]" custT="1"/>
      <dgm:spPr/>
      <dgm:t>
        <a:bodyPr/>
        <a:lstStyle/>
        <a:p>
          <a:r>
            <a:rPr lang="zh-CN" altLang="en-US" sz="1800" b="1" dirty="0">
              <a:latin typeface="微软雅黑" panose="020B0503020204020204" pitchFamily="34" charset="-122"/>
              <a:ea typeface="微软雅黑" panose="020B0503020204020204" pitchFamily="34" charset="-122"/>
            </a:rPr>
            <a:t>不能及时适应网络状态的变化；</a:t>
          </a:r>
        </a:p>
      </dgm:t>
    </dgm:pt>
    <dgm:pt modelId="{8F8EF596-0DA9-4CBA-9CA1-6DF817CC12D4}" type="parTrans" cxnId="{FBAACC79-9763-4E5F-90F5-17AB0E867F60}">
      <dgm:prSet/>
      <dgm:spPr/>
      <dgm:t>
        <a:bodyPr/>
        <a:lstStyle/>
        <a:p>
          <a:endParaRPr lang="zh-CN" altLang="en-US"/>
        </a:p>
      </dgm:t>
    </dgm:pt>
    <dgm:pt modelId="{364E6CF1-F4F2-418E-89CC-04CE5C5C79A9}" type="sibTrans" cxnId="{FBAACC79-9763-4E5F-90F5-17AB0E867F60}">
      <dgm:prSet/>
      <dgm:spPr/>
      <dgm:t>
        <a:bodyPr/>
        <a:lstStyle/>
        <a:p>
          <a:endParaRPr lang="zh-CN" altLang="en-US"/>
        </a:p>
      </dgm:t>
    </dgm:pt>
    <dgm:pt modelId="{00A00060-6726-4710-909C-6A0A37C35ECC}">
      <dgm:prSet phldrT="[文本]" custT="1"/>
      <dgm:spPr/>
      <dgm:t>
        <a:bodyPr/>
        <a:lstStyle/>
        <a:p>
          <a:r>
            <a:rPr lang="zh-CN" altLang="en-US" sz="1800" b="1" dirty="0">
              <a:latin typeface="微软雅黑" panose="020B0503020204020204" pitchFamily="34" charset="-122"/>
              <a:ea typeface="微软雅黑" panose="020B0503020204020204" pitchFamily="34" charset="-122"/>
            </a:rPr>
            <a:t>简单，开销较小。 </a:t>
          </a:r>
        </a:p>
      </dgm:t>
    </dgm:pt>
    <dgm:pt modelId="{6D6C0D7F-AB74-45C9-A0A3-C773A85A1774}" type="parTrans" cxnId="{37F59AB5-2B4C-4C82-ACE3-E1F2D0DF400F}">
      <dgm:prSet/>
      <dgm:spPr/>
      <dgm:t>
        <a:bodyPr/>
        <a:lstStyle/>
        <a:p>
          <a:endParaRPr lang="zh-CN" altLang="en-US"/>
        </a:p>
      </dgm:t>
    </dgm:pt>
    <dgm:pt modelId="{1FC25A58-48C3-4783-B409-177C8E281BA7}" type="sibTrans" cxnId="{37F59AB5-2B4C-4C82-ACE3-E1F2D0DF400F}">
      <dgm:prSet/>
      <dgm:spPr/>
      <dgm:t>
        <a:bodyPr/>
        <a:lstStyle/>
        <a:p>
          <a:endParaRPr lang="zh-CN" altLang="en-US"/>
        </a:p>
      </dgm:t>
    </dgm:pt>
    <dgm:pt modelId="{542EE964-4A1B-437F-B556-349C4E3056A2}">
      <dgm:prSet phldrT="[文本]" custT="1"/>
      <dgm:spPr/>
      <dgm:t>
        <a:bodyPr/>
        <a:lstStyle/>
        <a:p>
          <a:r>
            <a:rPr lang="zh-CN" altLang="en-US" sz="1800" b="1" dirty="0">
              <a:latin typeface="微软雅黑" panose="020B0503020204020204" pitchFamily="34" charset="-122"/>
              <a:ea typeface="微软雅黑" panose="020B0503020204020204" pitchFamily="34" charset="-122"/>
            </a:rPr>
            <a:t>实现较为复杂，开销较大。 </a:t>
          </a:r>
        </a:p>
      </dgm:t>
    </dgm:pt>
    <dgm:pt modelId="{E24D57F5-E0B1-4481-9629-57A37932B263}" type="parTrans" cxnId="{2568ED17-DDBC-4080-9758-24C0A0E53BF0}">
      <dgm:prSet/>
      <dgm:spPr/>
      <dgm:t>
        <a:bodyPr/>
        <a:lstStyle/>
        <a:p>
          <a:endParaRPr lang="zh-CN" altLang="en-US"/>
        </a:p>
      </dgm:t>
    </dgm:pt>
    <dgm:pt modelId="{4275BCF2-BA64-49F0-8CCE-69DBBACFAA29}" type="sibTrans" cxnId="{2568ED17-DDBC-4080-9758-24C0A0E53BF0}">
      <dgm:prSet/>
      <dgm:spPr/>
      <dgm:t>
        <a:bodyPr/>
        <a:lstStyle/>
        <a:p>
          <a:endParaRPr lang="zh-CN" altLang="en-US"/>
        </a:p>
      </dgm:t>
    </dgm:pt>
    <dgm:pt modelId="{9F83B98B-72FF-44E6-B52B-F2F63F48C7CE}" type="pres">
      <dgm:prSet presAssocID="{9509D1AF-3F45-453B-AACE-DE8372CBE3C6}" presName="Name0" presStyleCnt="0">
        <dgm:presLayoutVars>
          <dgm:dir/>
          <dgm:animLvl val="lvl"/>
          <dgm:resizeHandles val="exact"/>
        </dgm:presLayoutVars>
      </dgm:prSet>
      <dgm:spPr/>
    </dgm:pt>
    <dgm:pt modelId="{51D230E4-3E09-4D13-9A8E-98B08CE0B2CA}" type="pres">
      <dgm:prSet presAssocID="{22EAAA66-547D-4B51-BF4D-D6DB3D7509FE}" presName="composite" presStyleCnt="0"/>
      <dgm:spPr/>
    </dgm:pt>
    <dgm:pt modelId="{ACA20801-F352-434C-8293-8F2818AFDE5B}" type="pres">
      <dgm:prSet presAssocID="{22EAAA66-547D-4B51-BF4D-D6DB3D7509FE}" presName="parTx" presStyleLbl="alignNode1" presStyleIdx="0" presStyleCnt="2">
        <dgm:presLayoutVars>
          <dgm:chMax val="0"/>
          <dgm:chPref val="0"/>
          <dgm:bulletEnabled val="1"/>
        </dgm:presLayoutVars>
      </dgm:prSet>
      <dgm:spPr/>
    </dgm:pt>
    <dgm:pt modelId="{19FF7ECD-B0E8-443E-8703-812623A25DE9}" type="pres">
      <dgm:prSet presAssocID="{22EAAA66-547D-4B51-BF4D-D6DB3D7509FE}" presName="desTx" presStyleLbl="alignAccFollowNode1" presStyleIdx="0" presStyleCnt="2">
        <dgm:presLayoutVars>
          <dgm:bulletEnabled val="1"/>
        </dgm:presLayoutVars>
      </dgm:prSet>
      <dgm:spPr/>
    </dgm:pt>
    <dgm:pt modelId="{000A0750-EBC1-44F2-9C1F-4E35F71659DA}" type="pres">
      <dgm:prSet presAssocID="{39DFCE58-1778-4029-9234-42DBC5AE9592}" presName="space" presStyleCnt="0"/>
      <dgm:spPr/>
    </dgm:pt>
    <dgm:pt modelId="{E54045DA-C7DF-4AC3-8BA1-C6D0FBE29413}" type="pres">
      <dgm:prSet presAssocID="{45CE52F7-516C-41E7-98C3-DE6A902FC6B5}" presName="composite" presStyleCnt="0"/>
      <dgm:spPr/>
    </dgm:pt>
    <dgm:pt modelId="{2075194E-504D-46FF-9735-28FB3A1952A0}" type="pres">
      <dgm:prSet presAssocID="{45CE52F7-516C-41E7-98C3-DE6A902FC6B5}" presName="parTx" presStyleLbl="alignNode1" presStyleIdx="1" presStyleCnt="2">
        <dgm:presLayoutVars>
          <dgm:chMax val="0"/>
          <dgm:chPref val="0"/>
          <dgm:bulletEnabled val="1"/>
        </dgm:presLayoutVars>
      </dgm:prSet>
      <dgm:spPr/>
    </dgm:pt>
    <dgm:pt modelId="{4CDFFC38-F27C-472E-A2F4-B6BCE3ADBC7B}" type="pres">
      <dgm:prSet presAssocID="{45CE52F7-516C-41E7-98C3-DE6A902FC6B5}" presName="desTx" presStyleLbl="alignAccFollowNode1" presStyleIdx="1" presStyleCnt="2">
        <dgm:presLayoutVars>
          <dgm:bulletEnabled val="1"/>
        </dgm:presLayoutVars>
      </dgm:prSet>
      <dgm:spPr/>
    </dgm:pt>
  </dgm:ptLst>
  <dgm:cxnLst>
    <dgm:cxn modelId="{64FE0401-5DA3-4A14-B1FC-44C158D0747D}" srcId="{45CE52F7-516C-41E7-98C3-DE6A902FC6B5}" destId="{EDC6E589-44E1-49CC-BAB5-1FCBE573BC1C}" srcOrd="1" destOrd="0" parTransId="{E63EF559-E6BF-4462-81EE-BD63AE8BF5CC}" sibTransId="{C06A0B01-C265-432B-8D47-AC0785624F65}"/>
    <dgm:cxn modelId="{0AFDA517-52A7-4106-9DEC-24ADAE9C1401}" type="presOf" srcId="{C7D5F8E2-243B-4DE9-B470-B712E8897F5B}" destId="{4CDFFC38-F27C-472E-A2F4-B6BCE3ADBC7B}" srcOrd="0" destOrd="0" presId="urn:microsoft.com/office/officeart/2005/8/layout/hList1"/>
    <dgm:cxn modelId="{2568ED17-DDBC-4080-9758-24C0A0E53BF0}" srcId="{45CE52F7-516C-41E7-98C3-DE6A902FC6B5}" destId="{542EE964-4A1B-437F-B556-349C4E3056A2}" srcOrd="2" destOrd="0" parTransId="{E24D57F5-E0B1-4481-9629-57A37932B263}" sibTransId="{4275BCF2-BA64-49F0-8CCE-69DBBACFAA29}"/>
    <dgm:cxn modelId="{F649F02C-3A0E-4CB9-B195-EBCA327DD96B}" type="presOf" srcId="{22EAAA66-547D-4B51-BF4D-D6DB3D7509FE}" destId="{ACA20801-F352-434C-8293-8F2818AFDE5B}" srcOrd="0" destOrd="0" presId="urn:microsoft.com/office/officeart/2005/8/layout/hList1"/>
    <dgm:cxn modelId="{B3BBB95D-FBE9-4070-B2DA-1787B78E4F3F}" type="presOf" srcId="{45CE52F7-516C-41E7-98C3-DE6A902FC6B5}" destId="{2075194E-504D-46FF-9735-28FB3A1952A0}" srcOrd="0" destOrd="0" presId="urn:microsoft.com/office/officeart/2005/8/layout/hList1"/>
    <dgm:cxn modelId="{25108764-331C-49F5-AD56-0C02CF031934}" srcId="{9509D1AF-3F45-453B-AACE-DE8372CBE3C6}" destId="{22EAAA66-547D-4B51-BF4D-D6DB3D7509FE}" srcOrd="0" destOrd="0" parTransId="{48CADA59-BA4F-4FCB-B61F-72AB0C28CB52}" sibTransId="{39DFCE58-1778-4029-9234-42DBC5AE9592}"/>
    <dgm:cxn modelId="{FBAACC79-9763-4E5F-90F5-17AB0E867F60}" srcId="{22EAAA66-547D-4B51-BF4D-D6DB3D7509FE}" destId="{636C96B3-61DA-4AC2-A19D-01B5048C3392}" srcOrd="1" destOrd="0" parTransId="{8F8EF596-0DA9-4CBA-9CA1-6DF817CC12D4}" sibTransId="{364E6CF1-F4F2-418E-89CC-04CE5C5C79A9}"/>
    <dgm:cxn modelId="{2C08637D-2B0D-4913-8010-A438C61F5AC0}" type="presOf" srcId="{00A00060-6726-4710-909C-6A0A37C35ECC}" destId="{19FF7ECD-B0E8-443E-8703-812623A25DE9}" srcOrd="0" destOrd="2" presId="urn:microsoft.com/office/officeart/2005/8/layout/hList1"/>
    <dgm:cxn modelId="{EBEF6AA6-4BC5-4136-986E-B0AA9E01438F}" srcId="{45CE52F7-516C-41E7-98C3-DE6A902FC6B5}" destId="{C7D5F8E2-243B-4DE9-B470-B712E8897F5B}" srcOrd="0" destOrd="0" parTransId="{292068CC-A905-42E3-851F-0980B0482AAB}" sibTransId="{AEB55ABB-C6D0-4CD5-A01F-970B67F60A07}"/>
    <dgm:cxn modelId="{52D1A9A7-FB61-4544-A7FC-80E5622CCB21}" type="presOf" srcId="{9509D1AF-3F45-453B-AACE-DE8372CBE3C6}" destId="{9F83B98B-72FF-44E6-B52B-F2F63F48C7CE}" srcOrd="0" destOrd="0" presId="urn:microsoft.com/office/officeart/2005/8/layout/hList1"/>
    <dgm:cxn modelId="{BA41E5B2-0918-4C75-BD81-EA2852E9341F}" srcId="{22EAAA66-547D-4B51-BF4D-D6DB3D7509FE}" destId="{00FEE0F5-92EC-4D73-8F97-62ABE0C0B1AD}" srcOrd="0" destOrd="0" parTransId="{6B364625-1F64-4A2C-92E4-8ACCAE108854}" sibTransId="{323F8354-FC9E-4128-896D-37F58AB0782A}"/>
    <dgm:cxn modelId="{37F59AB5-2B4C-4C82-ACE3-E1F2D0DF400F}" srcId="{22EAAA66-547D-4B51-BF4D-D6DB3D7509FE}" destId="{00A00060-6726-4710-909C-6A0A37C35ECC}" srcOrd="2" destOrd="0" parTransId="{6D6C0D7F-AB74-45C9-A0A3-C773A85A1774}" sibTransId="{1FC25A58-48C3-4783-B409-177C8E281BA7}"/>
    <dgm:cxn modelId="{4A0742BC-43D8-4055-9627-372DE98EA475}" type="presOf" srcId="{EDC6E589-44E1-49CC-BAB5-1FCBE573BC1C}" destId="{4CDFFC38-F27C-472E-A2F4-B6BCE3ADBC7B}" srcOrd="0" destOrd="1" presId="urn:microsoft.com/office/officeart/2005/8/layout/hList1"/>
    <dgm:cxn modelId="{7F6F0DD8-3A82-4051-87D5-2536B5905195}" srcId="{9509D1AF-3F45-453B-AACE-DE8372CBE3C6}" destId="{45CE52F7-516C-41E7-98C3-DE6A902FC6B5}" srcOrd="1" destOrd="0" parTransId="{4851B073-903C-4F9D-8072-2D8A05A18A38}" sibTransId="{0A0401B2-7A98-4518-8A77-2C9DC55F6202}"/>
    <dgm:cxn modelId="{7B0024E4-E89E-43E8-8462-C7C14B8D1713}" type="presOf" srcId="{542EE964-4A1B-437F-B556-349C4E3056A2}" destId="{4CDFFC38-F27C-472E-A2F4-B6BCE3ADBC7B}" srcOrd="0" destOrd="2" presId="urn:microsoft.com/office/officeart/2005/8/layout/hList1"/>
    <dgm:cxn modelId="{F07B9FE5-15C6-45F2-A7B7-F311439C5154}" type="presOf" srcId="{00FEE0F5-92EC-4D73-8F97-62ABE0C0B1AD}" destId="{19FF7ECD-B0E8-443E-8703-812623A25DE9}" srcOrd="0" destOrd="0" presId="urn:microsoft.com/office/officeart/2005/8/layout/hList1"/>
    <dgm:cxn modelId="{BA0F64EE-5537-4A43-9770-4F86118648AE}" type="presOf" srcId="{636C96B3-61DA-4AC2-A19D-01B5048C3392}" destId="{19FF7ECD-B0E8-443E-8703-812623A25DE9}" srcOrd="0" destOrd="1" presId="urn:microsoft.com/office/officeart/2005/8/layout/hList1"/>
    <dgm:cxn modelId="{150135E0-CB36-492F-BB08-74CBEF488F7A}" type="presParOf" srcId="{9F83B98B-72FF-44E6-B52B-F2F63F48C7CE}" destId="{51D230E4-3E09-4D13-9A8E-98B08CE0B2CA}" srcOrd="0" destOrd="0" presId="urn:microsoft.com/office/officeart/2005/8/layout/hList1"/>
    <dgm:cxn modelId="{F6BF3E4A-8560-4759-9686-AB832B29918A}" type="presParOf" srcId="{51D230E4-3E09-4D13-9A8E-98B08CE0B2CA}" destId="{ACA20801-F352-434C-8293-8F2818AFDE5B}" srcOrd="0" destOrd="0" presId="urn:microsoft.com/office/officeart/2005/8/layout/hList1"/>
    <dgm:cxn modelId="{59067D18-429E-4AF3-8EBD-22EC9237102C}" type="presParOf" srcId="{51D230E4-3E09-4D13-9A8E-98B08CE0B2CA}" destId="{19FF7ECD-B0E8-443E-8703-812623A25DE9}" srcOrd="1" destOrd="0" presId="urn:microsoft.com/office/officeart/2005/8/layout/hList1"/>
    <dgm:cxn modelId="{C7F7318B-7350-4337-8FD6-6B433E7DC62D}" type="presParOf" srcId="{9F83B98B-72FF-44E6-B52B-F2F63F48C7CE}" destId="{000A0750-EBC1-44F2-9C1F-4E35F71659DA}" srcOrd="1" destOrd="0" presId="urn:microsoft.com/office/officeart/2005/8/layout/hList1"/>
    <dgm:cxn modelId="{7099BDC1-C8CE-4C95-9639-79113250CEA2}" type="presParOf" srcId="{9F83B98B-72FF-44E6-B52B-F2F63F48C7CE}" destId="{E54045DA-C7DF-4AC3-8BA1-C6D0FBE29413}" srcOrd="2" destOrd="0" presId="urn:microsoft.com/office/officeart/2005/8/layout/hList1"/>
    <dgm:cxn modelId="{1DC0AFF3-FFAC-4174-BCA4-2743B5E87B00}" type="presParOf" srcId="{E54045DA-C7DF-4AC3-8BA1-C6D0FBE29413}" destId="{2075194E-504D-46FF-9735-28FB3A1952A0}" srcOrd="0" destOrd="0" presId="urn:microsoft.com/office/officeart/2005/8/layout/hList1"/>
    <dgm:cxn modelId="{AB362581-C4CC-4D6E-861F-25C1A6316AAF}" type="presParOf" srcId="{E54045DA-C7DF-4AC3-8BA1-C6D0FBE29413}" destId="{4CDFFC38-F27C-472E-A2F4-B6BCE3ADBC7B}" srcOrd="1" destOrd="0" presId="urn:microsoft.com/office/officeart/2005/8/layout/hList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9509D1AF-3F45-453B-AACE-DE8372CBE3C6}" type="doc">
      <dgm:prSet loTypeId="urn:microsoft.com/office/officeart/2005/8/layout/hList1" loCatId="list" qsTypeId="urn:microsoft.com/office/officeart/2005/8/quickstyle/simple2" qsCatId="simple" csTypeId="urn:microsoft.com/office/officeart/2005/8/colors/colorful2" csCatId="colorful" phldr="1"/>
      <dgm:spPr/>
      <dgm:t>
        <a:bodyPr/>
        <a:lstStyle/>
        <a:p>
          <a:endParaRPr lang="zh-CN" altLang="en-US"/>
        </a:p>
      </dgm:t>
    </dgm:pt>
    <dgm:pt modelId="{22EAAA66-547D-4B51-BF4D-D6DB3D7509FE}">
      <dgm:prSet phldrT="[文本]" custT="1"/>
      <dgm:spPr/>
      <dgm:t>
        <a:bodyPr/>
        <a:lstStyle/>
        <a:p>
          <a:r>
            <a:rPr lang="zh-CN" altLang="en-US" sz="2000" b="1" dirty="0">
              <a:latin typeface="微软雅黑" panose="020B0503020204020204" pitchFamily="34" charset="-122"/>
              <a:ea typeface="微软雅黑" panose="020B0503020204020204" pitchFamily="34" charset="-122"/>
            </a:rPr>
            <a:t>内部网关协议 </a:t>
          </a:r>
          <a:r>
            <a:rPr lang="en-US" altLang="en-US" sz="2000" b="1" dirty="0">
              <a:latin typeface="微软雅黑" panose="020B0503020204020204" pitchFamily="34" charset="-122"/>
              <a:ea typeface="微软雅黑" panose="020B0503020204020204" pitchFamily="34" charset="-122"/>
            </a:rPr>
            <a:t>IGP </a:t>
          </a:r>
          <a:endParaRPr lang="zh-CN" altLang="en-US" sz="2000" b="1" dirty="0">
            <a:latin typeface="微软雅黑" panose="020B0503020204020204" pitchFamily="34" charset="-122"/>
            <a:ea typeface="微软雅黑" panose="020B0503020204020204" pitchFamily="34" charset="-122"/>
          </a:endParaRPr>
        </a:p>
      </dgm:t>
    </dgm:pt>
    <dgm:pt modelId="{48CADA59-BA4F-4FCB-B61F-72AB0C28CB52}" type="parTrans" cxnId="{25108764-331C-49F5-AD56-0C02CF031934}">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39DFCE58-1778-4029-9234-42DBC5AE9592}" type="sibTrans" cxnId="{25108764-331C-49F5-AD56-0C02CF031934}">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00FEE0F5-92EC-4D73-8F97-62ABE0C0B1AD}">
      <dgm:prSet phldrT="[文本]" custT="1"/>
      <dgm:spPr/>
      <dgm:t>
        <a:bodyPr/>
        <a:lstStyle/>
        <a:p>
          <a:r>
            <a:rPr lang="en-US" altLang="en-US" sz="1800" b="1" dirty="0">
              <a:latin typeface="微软雅黑" panose="020B0503020204020204" pitchFamily="34" charset="-122"/>
              <a:ea typeface="微软雅黑" panose="020B0503020204020204" pitchFamily="34" charset="-122"/>
            </a:rPr>
            <a:t>Interior Gateway Protocol</a:t>
          </a:r>
          <a:endParaRPr lang="zh-CN" altLang="en-US" sz="1800" b="1" dirty="0">
            <a:latin typeface="微软雅黑" panose="020B0503020204020204" pitchFamily="34" charset="-122"/>
            <a:ea typeface="微软雅黑" panose="020B0503020204020204" pitchFamily="34" charset="-122"/>
          </a:endParaRPr>
        </a:p>
      </dgm:t>
    </dgm:pt>
    <dgm:pt modelId="{6B364625-1F64-4A2C-92E4-8ACCAE108854}" type="parTrans" cxnId="{BA41E5B2-0918-4C75-BD81-EA2852E9341F}">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323F8354-FC9E-4128-896D-37F58AB0782A}" type="sibTrans" cxnId="{BA41E5B2-0918-4C75-BD81-EA2852E9341F}">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45CE52F7-516C-41E7-98C3-DE6A902FC6B5}">
      <dgm:prSet phldrT="[文本]" custT="1"/>
      <dgm:spPr/>
      <dgm:t>
        <a:bodyPr/>
        <a:lstStyle/>
        <a:p>
          <a:r>
            <a:rPr lang="zh-CN" altLang="en-US" sz="2000" b="1" dirty="0">
              <a:solidFill>
                <a:srgbClr val="0000FF"/>
              </a:solidFill>
              <a:latin typeface="微软雅黑" panose="020B0503020204020204" pitchFamily="34" charset="-122"/>
              <a:ea typeface="微软雅黑" panose="020B0503020204020204" pitchFamily="34" charset="-122"/>
            </a:rPr>
            <a:t>外部网关协议 </a:t>
          </a:r>
          <a:r>
            <a:rPr lang="en-US" altLang="en-US" sz="2000" b="1" dirty="0">
              <a:solidFill>
                <a:srgbClr val="0000FF"/>
              </a:solidFill>
              <a:latin typeface="微软雅黑" panose="020B0503020204020204" pitchFamily="34" charset="-122"/>
              <a:ea typeface="微软雅黑" panose="020B0503020204020204" pitchFamily="34" charset="-122"/>
            </a:rPr>
            <a:t>EGP </a:t>
          </a:r>
          <a:endParaRPr lang="zh-CN" altLang="en-US" sz="2000" b="1" dirty="0">
            <a:solidFill>
              <a:srgbClr val="0000FF"/>
            </a:solidFill>
            <a:latin typeface="微软雅黑" panose="020B0503020204020204" pitchFamily="34" charset="-122"/>
            <a:ea typeface="微软雅黑" panose="020B0503020204020204" pitchFamily="34" charset="-122"/>
          </a:endParaRPr>
        </a:p>
      </dgm:t>
    </dgm:pt>
    <dgm:pt modelId="{4851B073-903C-4F9D-8072-2D8A05A18A38}" type="parTrans" cxnId="{7F6F0DD8-3A82-4051-87D5-2536B5905195}">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0A0401B2-7A98-4518-8A77-2C9DC55F6202}" type="sibTrans" cxnId="{7F6F0DD8-3A82-4051-87D5-2536B5905195}">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C7D5F8E2-243B-4DE9-B470-B712E8897F5B}">
      <dgm:prSet phldrT="[文本]" custT="1"/>
      <dgm:spPr/>
      <dgm:t>
        <a:bodyPr/>
        <a:lstStyle/>
        <a:p>
          <a:r>
            <a:rPr lang="en-US" altLang="en-US" sz="1800" b="1" dirty="0">
              <a:latin typeface="微软雅黑" panose="020B0503020204020204" pitchFamily="34" charset="-122"/>
              <a:ea typeface="微软雅黑" panose="020B0503020204020204" pitchFamily="34" charset="-122"/>
            </a:rPr>
            <a:t>External Gateway Protocol</a:t>
          </a:r>
          <a:endParaRPr lang="zh-CN" altLang="en-US" sz="1800" b="1" dirty="0">
            <a:latin typeface="微软雅黑" panose="020B0503020204020204" pitchFamily="34" charset="-122"/>
            <a:ea typeface="微软雅黑" panose="020B0503020204020204" pitchFamily="34" charset="-122"/>
          </a:endParaRPr>
        </a:p>
      </dgm:t>
    </dgm:pt>
    <dgm:pt modelId="{292068CC-A905-42E3-851F-0980B0482AAB}" type="parTrans" cxnId="{EBEF6AA6-4BC5-4136-986E-B0AA9E01438F}">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AEB55ABB-C6D0-4CD5-A01F-970B67F60A07}" type="sibTrans" cxnId="{EBEF6AA6-4BC5-4136-986E-B0AA9E01438F}">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EDC6E589-44E1-49CC-BAB5-1FCBE573BC1C}">
      <dgm:prSet phldrT="[文本]" custT="1"/>
      <dgm:spPr/>
      <dgm:t>
        <a:bodyPr/>
        <a:lstStyle/>
        <a:p>
          <a:r>
            <a:rPr lang="zh-CN" altLang="en-US" sz="1800" b="1" dirty="0">
              <a:latin typeface="微软雅黑" panose="020B0503020204020204" pitchFamily="34" charset="-122"/>
              <a:ea typeface="微软雅黑" panose="020B0503020204020204" pitchFamily="34" charset="-122"/>
            </a:rPr>
            <a:t>在不同自治系统之间进行路由选择时使用的协议</a:t>
          </a:r>
        </a:p>
      </dgm:t>
    </dgm:pt>
    <dgm:pt modelId="{E63EF559-E6BF-4462-81EE-BD63AE8BF5CC}" type="parTrans" cxnId="{64FE0401-5DA3-4A14-B1FC-44C158D0747D}">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C06A0B01-C265-432B-8D47-AC0785624F65}" type="sibTrans" cxnId="{64FE0401-5DA3-4A14-B1FC-44C158D0747D}">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7D6E7755-F197-41FB-8605-1BFB9B1B3E4D}">
      <dgm:prSet custT="1"/>
      <dgm:spPr/>
      <dgm:t>
        <a:bodyPr/>
        <a:lstStyle/>
        <a:p>
          <a:r>
            <a:rPr lang="zh-CN" altLang="en-US" sz="1800" b="1" dirty="0">
              <a:latin typeface="微软雅黑" panose="020B0503020204020204" pitchFamily="34" charset="-122"/>
              <a:ea typeface="微软雅黑" panose="020B0503020204020204" pitchFamily="34" charset="-122"/>
            </a:rPr>
            <a:t>在一个自治系统内部使用的路由选择协议</a:t>
          </a:r>
        </a:p>
      </dgm:t>
    </dgm:pt>
    <dgm:pt modelId="{E10F256C-3A61-44A7-9FB9-5C7D0142FE8A}" type="parTrans" cxnId="{CAE0B115-114A-468C-BEDB-2D5FE2E0B17D}">
      <dgm:prSet/>
      <dgm:spPr/>
      <dgm:t>
        <a:bodyPr/>
        <a:lstStyle/>
        <a:p>
          <a:endParaRPr lang="zh-CN" altLang="en-US"/>
        </a:p>
      </dgm:t>
    </dgm:pt>
    <dgm:pt modelId="{998963D5-F615-4C0F-BC06-0F0483E40DAF}" type="sibTrans" cxnId="{CAE0B115-114A-468C-BEDB-2D5FE2E0B17D}">
      <dgm:prSet/>
      <dgm:spPr/>
      <dgm:t>
        <a:bodyPr/>
        <a:lstStyle/>
        <a:p>
          <a:endParaRPr lang="zh-CN" altLang="en-US"/>
        </a:p>
      </dgm:t>
    </dgm:pt>
    <dgm:pt modelId="{427CA751-AD5C-4205-9441-B3381D745046}">
      <dgm:prSet custT="1"/>
      <dgm:spPr/>
      <dgm:t>
        <a:bodyPr/>
        <a:lstStyle/>
        <a:p>
          <a:r>
            <a:rPr lang="zh-CN" altLang="en-US" sz="1800" b="1" dirty="0">
              <a:latin typeface="微软雅黑" panose="020B0503020204020204" pitchFamily="34" charset="-122"/>
              <a:ea typeface="微软雅黑" panose="020B0503020204020204" pitchFamily="34" charset="-122"/>
            </a:rPr>
            <a:t>常用：</a:t>
          </a:r>
          <a:r>
            <a:rPr lang="en-US" altLang="en-US" sz="1800" b="1" dirty="0">
              <a:latin typeface="微软雅黑" panose="020B0503020204020204" pitchFamily="34" charset="-122"/>
              <a:ea typeface="微软雅黑" panose="020B0503020204020204" pitchFamily="34" charset="-122"/>
            </a:rPr>
            <a:t>RIP</a:t>
          </a:r>
          <a:r>
            <a:rPr lang="zh-CN" altLang="en-US" sz="1800" b="1" dirty="0">
              <a:latin typeface="微软雅黑" panose="020B0503020204020204" pitchFamily="34" charset="-122"/>
              <a:ea typeface="微软雅黑" panose="020B0503020204020204" pitchFamily="34" charset="-122"/>
            </a:rPr>
            <a:t>，</a:t>
          </a:r>
          <a:r>
            <a:rPr lang="en-US" altLang="en-US" sz="1800" b="1" dirty="0">
              <a:latin typeface="微软雅黑" panose="020B0503020204020204" pitchFamily="34" charset="-122"/>
              <a:ea typeface="微软雅黑" panose="020B0503020204020204" pitchFamily="34" charset="-122"/>
            </a:rPr>
            <a:t>OSPF</a:t>
          </a:r>
          <a:endParaRPr lang="zh-CN" altLang="en-US" sz="1800" b="1" dirty="0">
            <a:latin typeface="微软雅黑" panose="020B0503020204020204" pitchFamily="34" charset="-122"/>
            <a:ea typeface="微软雅黑" panose="020B0503020204020204" pitchFamily="34" charset="-122"/>
          </a:endParaRPr>
        </a:p>
      </dgm:t>
    </dgm:pt>
    <dgm:pt modelId="{74833AC5-8572-4F1E-BAA1-CEC9100405A4}" type="parTrans" cxnId="{1B8DF4EF-6AB6-4FC0-AFE4-B74305DCB10F}">
      <dgm:prSet/>
      <dgm:spPr/>
      <dgm:t>
        <a:bodyPr/>
        <a:lstStyle/>
        <a:p>
          <a:endParaRPr lang="zh-CN" altLang="en-US"/>
        </a:p>
      </dgm:t>
    </dgm:pt>
    <dgm:pt modelId="{60A14015-7078-43BB-AB9E-4E4C76939902}" type="sibTrans" cxnId="{1B8DF4EF-6AB6-4FC0-AFE4-B74305DCB10F}">
      <dgm:prSet/>
      <dgm:spPr/>
      <dgm:t>
        <a:bodyPr/>
        <a:lstStyle/>
        <a:p>
          <a:endParaRPr lang="zh-CN" altLang="en-US"/>
        </a:p>
      </dgm:t>
    </dgm:pt>
    <dgm:pt modelId="{FA847D9B-745D-4745-B7C4-9547BD61697B}">
      <dgm:prSet phldrT="[文本]" custT="1"/>
      <dgm:spPr/>
      <dgm:t>
        <a:bodyPr/>
        <a:lstStyle/>
        <a:p>
          <a:r>
            <a:rPr lang="zh-CN" altLang="en-US" sz="1800" b="1" dirty="0">
              <a:latin typeface="微软雅黑" panose="020B0503020204020204" pitchFamily="34" charset="-122"/>
              <a:ea typeface="微软雅黑" panose="020B0503020204020204" pitchFamily="34" charset="-122"/>
            </a:rPr>
            <a:t>使用最多：</a:t>
          </a:r>
          <a:r>
            <a:rPr lang="en-US" altLang="en-US" sz="1800" b="1" dirty="0">
              <a:latin typeface="微软雅黑" panose="020B0503020204020204" pitchFamily="34" charset="-122"/>
              <a:ea typeface="微软雅黑" panose="020B0503020204020204" pitchFamily="34" charset="-122"/>
            </a:rPr>
            <a:t>BGP-4</a:t>
          </a:r>
          <a:endParaRPr lang="zh-CN" altLang="en-US" sz="1800" b="1" dirty="0">
            <a:latin typeface="微软雅黑" panose="020B0503020204020204" pitchFamily="34" charset="-122"/>
            <a:ea typeface="微软雅黑" panose="020B0503020204020204" pitchFamily="34" charset="-122"/>
          </a:endParaRPr>
        </a:p>
      </dgm:t>
    </dgm:pt>
    <dgm:pt modelId="{11E045D3-6FEC-4BAC-BBC6-E3F85AF3E6FE}" type="parTrans" cxnId="{8E15BA48-9F24-4760-BC2E-F975CEDF504B}">
      <dgm:prSet/>
      <dgm:spPr/>
      <dgm:t>
        <a:bodyPr/>
        <a:lstStyle/>
        <a:p>
          <a:endParaRPr lang="zh-CN" altLang="en-US"/>
        </a:p>
      </dgm:t>
    </dgm:pt>
    <dgm:pt modelId="{01A76F89-8655-45DB-8632-72B69EBACACB}" type="sibTrans" cxnId="{8E15BA48-9F24-4760-BC2E-F975CEDF504B}">
      <dgm:prSet/>
      <dgm:spPr/>
      <dgm:t>
        <a:bodyPr/>
        <a:lstStyle/>
        <a:p>
          <a:endParaRPr lang="zh-CN" altLang="en-US"/>
        </a:p>
      </dgm:t>
    </dgm:pt>
    <dgm:pt modelId="{9F83B98B-72FF-44E6-B52B-F2F63F48C7CE}" type="pres">
      <dgm:prSet presAssocID="{9509D1AF-3F45-453B-AACE-DE8372CBE3C6}" presName="Name0" presStyleCnt="0">
        <dgm:presLayoutVars>
          <dgm:dir/>
          <dgm:animLvl val="lvl"/>
          <dgm:resizeHandles val="exact"/>
        </dgm:presLayoutVars>
      </dgm:prSet>
      <dgm:spPr/>
    </dgm:pt>
    <dgm:pt modelId="{51D230E4-3E09-4D13-9A8E-98B08CE0B2CA}" type="pres">
      <dgm:prSet presAssocID="{22EAAA66-547D-4B51-BF4D-D6DB3D7509FE}" presName="composite" presStyleCnt="0"/>
      <dgm:spPr/>
    </dgm:pt>
    <dgm:pt modelId="{ACA20801-F352-434C-8293-8F2818AFDE5B}" type="pres">
      <dgm:prSet presAssocID="{22EAAA66-547D-4B51-BF4D-D6DB3D7509FE}" presName="parTx" presStyleLbl="alignNode1" presStyleIdx="0" presStyleCnt="2">
        <dgm:presLayoutVars>
          <dgm:chMax val="0"/>
          <dgm:chPref val="0"/>
          <dgm:bulletEnabled val="1"/>
        </dgm:presLayoutVars>
      </dgm:prSet>
      <dgm:spPr/>
    </dgm:pt>
    <dgm:pt modelId="{19FF7ECD-B0E8-443E-8703-812623A25DE9}" type="pres">
      <dgm:prSet presAssocID="{22EAAA66-547D-4B51-BF4D-D6DB3D7509FE}" presName="desTx" presStyleLbl="alignAccFollowNode1" presStyleIdx="0" presStyleCnt="2">
        <dgm:presLayoutVars>
          <dgm:bulletEnabled val="1"/>
        </dgm:presLayoutVars>
      </dgm:prSet>
      <dgm:spPr/>
    </dgm:pt>
    <dgm:pt modelId="{000A0750-EBC1-44F2-9C1F-4E35F71659DA}" type="pres">
      <dgm:prSet presAssocID="{39DFCE58-1778-4029-9234-42DBC5AE9592}" presName="space" presStyleCnt="0"/>
      <dgm:spPr/>
    </dgm:pt>
    <dgm:pt modelId="{E54045DA-C7DF-4AC3-8BA1-C6D0FBE29413}" type="pres">
      <dgm:prSet presAssocID="{45CE52F7-516C-41E7-98C3-DE6A902FC6B5}" presName="composite" presStyleCnt="0"/>
      <dgm:spPr/>
    </dgm:pt>
    <dgm:pt modelId="{2075194E-504D-46FF-9735-28FB3A1952A0}" type="pres">
      <dgm:prSet presAssocID="{45CE52F7-516C-41E7-98C3-DE6A902FC6B5}" presName="parTx" presStyleLbl="alignNode1" presStyleIdx="1" presStyleCnt="2">
        <dgm:presLayoutVars>
          <dgm:chMax val="0"/>
          <dgm:chPref val="0"/>
          <dgm:bulletEnabled val="1"/>
        </dgm:presLayoutVars>
      </dgm:prSet>
      <dgm:spPr/>
    </dgm:pt>
    <dgm:pt modelId="{4CDFFC38-F27C-472E-A2F4-B6BCE3ADBC7B}" type="pres">
      <dgm:prSet presAssocID="{45CE52F7-516C-41E7-98C3-DE6A902FC6B5}" presName="desTx" presStyleLbl="alignAccFollowNode1" presStyleIdx="1" presStyleCnt="2">
        <dgm:presLayoutVars>
          <dgm:bulletEnabled val="1"/>
        </dgm:presLayoutVars>
      </dgm:prSet>
      <dgm:spPr/>
    </dgm:pt>
  </dgm:ptLst>
  <dgm:cxnLst>
    <dgm:cxn modelId="{64FE0401-5DA3-4A14-B1FC-44C158D0747D}" srcId="{45CE52F7-516C-41E7-98C3-DE6A902FC6B5}" destId="{EDC6E589-44E1-49CC-BAB5-1FCBE573BC1C}" srcOrd="1" destOrd="0" parTransId="{E63EF559-E6BF-4462-81EE-BD63AE8BF5CC}" sibTransId="{C06A0B01-C265-432B-8D47-AC0785624F65}"/>
    <dgm:cxn modelId="{CAE0B115-114A-468C-BEDB-2D5FE2E0B17D}" srcId="{22EAAA66-547D-4B51-BF4D-D6DB3D7509FE}" destId="{7D6E7755-F197-41FB-8605-1BFB9B1B3E4D}" srcOrd="1" destOrd="0" parTransId="{E10F256C-3A61-44A7-9FB9-5C7D0142FE8A}" sibTransId="{998963D5-F615-4C0F-BC06-0F0483E40DAF}"/>
    <dgm:cxn modelId="{0AFDA517-52A7-4106-9DEC-24ADAE9C1401}" type="presOf" srcId="{C7D5F8E2-243B-4DE9-B470-B712E8897F5B}" destId="{4CDFFC38-F27C-472E-A2F4-B6BCE3ADBC7B}" srcOrd="0" destOrd="0" presId="urn:microsoft.com/office/officeart/2005/8/layout/hList1"/>
    <dgm:cxn modelId="{F649F02C-3A0E-4CB9-B195-EBCA327DD96B}" type="presOf" srcId="{22EAAA66-547D-4B51-BF4D-D6DB3D7509FE}" destId="{ACA20801-F352-434C-8293-8F2818AFDE5B}" srcOrd="0" destOrd="0" presId="urn:microsoft.com/office/officeart/2005/8/layout/hList1"/>
    <dgm:cxn modelId="{EEB0B035-25DE-410A-A6E6-950B73983029}" type="presOf" srcId="{427CA751-AD5C-4205-9441-B3381D745046}" destId="{19FF7ECD-B0E8-443E-8703-812623A25DE9}" srcOrd="0" destOrd="2" presId="urn:microsoft.com/office/officeart/2005/8/layout/hList1"/>
    <dgm:cxn modelId="{ED8FA239-3D16-4845-B639-C031EF97F765}" type="presOf" srcId="{FA847D9B-745D-4745-B7C4-9547BD61697B}" destId="{4CDFFC38-F27C-472E-A2F4-B6BCE3ADBC7B}" srcOrd="0" destOrd="2" presId="urn:microsoft.com/office/officeart/2005/8/layout/hList1"/>
    <dgm:cxn modelId="{B3BBB95D-FBE9-4070-B2DA-1787B78E4F3F}" type="presOf" srcId="{45CE52F7-516C-41E7-98C3-DE6A902FC6B5}" destId="{2075194E-504D-46FF-9735-28FB3A1952A0}" srcOrd="0" destOrd="0" presId="urn:microsoft.com/office/officeart/2005/8/layout/hList1"/>
    <dgm:cxn modelId="{25108764-331C-49F5-AD56-0C02CF031934}" srcId="{9509D1AF-3F45-453B-AACE-DE8372CBE3C6}" destId="{22EAAA66-547D-4B51-BF4D-D6DB3D7509FE}" srcOrd="0" destOrd="0" parTransId="{48CADA59-BA4F-4FCB-B61F-72AB0C28CB52}" sibTransId="{39DFCE58-1778-4029-9234-42DBC5AE9592}"/>
    <dgm:cxn modelId="{8E15BA48-9F24-4760-BC2E-F975CEDF504B}" srcId="{45CE52F7-516C-41E7-98C3-DE6A902FC6B5}" destId="{FA847D9B-745D-4745-B7C4-9547BD61697B}" srcOrd="2" destOrd="0" parTransId="{11E045D3-6FEC-4BAC-BBC6-E3F85AF3E6FE}" sibTransId="{01A76F89-8655-45DB-8632-72B69EBACACB}"/>
    <dgm:cxn modelId="{EBEF6AA6-4BC5-4136-986E-B0AA9E01438F}" srcId="{45CE52F7-516C-41E7-98C3-DE6A902FC6B5}" destId="{C7D5F8E2-243B-4DE9-B470-B712E8897F5B}" srcOrd="0" destOrd="0" parTransId="{292068CC-A905-42E3-851F-0980B0482AAB}" sibTransId="{AEB55ABB-C6D0-4CD5-A01F-970B67F60A07}"/>
    <dgm:cxn modelId="{52D1A9A7-FB61-4544-A7FC-80E5622CCB21}" type="presOf" srcId="{9509D1AF-3F45-453B-AACE-DE8372CBE3C6}" destId="{9F83B98B-72FF-44E6-B52B-F2F63F48C7CE}" srcOrd="0" destOrd="0" presId="urn:microsoft.com/office/officeart/2005/8/layout/hList1"/>
    <dgm:cxn modelId="{BA41E5B2-0918-4C75-BD81-EA2852E9341F}" srcId="{22EAAA66-547D-4B51-BF4D-D6DB3D7509FE}" destId="{00FEE0F5-92EC-4D73-8F97-62ABE0C0B1AD}" srcOrd="0" destOrd="0" parTransId="{6B364625-1F64-4A2C-92E4-8ACCAE108854}" sibTransId="{323F8354-FC9E-4128-896D-37F58AB0782A}"/>
    <dgm:cxn modelId="{4A0742BC-43D8-4055-9627-372DE98EA475}" type="presOf" srcId="{EDC6E589-44E1-49CC-BAB5-1FCBE573BC1C}" destId="{4CDFFC38-F27C-472E-A2F4-B6BCE3ADBC7B}" srcOrd="0" destOrd="1" presId="urn:microsoft.com/office/officeart/2005/8/layout/hList1"/>
    <dgm:cxn modelId="{F43438D5-14FC-4C8D-8CAD-EAAFE8FE7119}" type="presOf" srcId="{7D6E7755-F197-41FB-8605-1BFB9B1B3E4D}" destId="{19FF7ECD-B0E8-443E-8703-812623A25DE9}" srcOrd="0" destOrd="1" presId="urn:microsoft.com/office/officeart/2005/8/layout/hList1"/>
    <dgm:cxn modelId="{7F6F0DD8-3A82-4051-87D5-2536B5905195}" srcId="{9509D1AF-3F45-453B-AACE-DE8372CBE3C6}" destId="{45CE52F7-516C-41E7-98C3-DE6A902FC6B5}" srcOrd="1" destOrd="0" parTransId="{4851B073-903C-4F9D-8072-2D8A05A18A38}" sibTransId="{0A0401B2-7A98-4518-8A77-2C9DC55F6202}"/>
    <dgm:cxn modelId="{F07B9FE5-15C6-45F2-A7B7-F311439C5154}" type="presOf" srcId="{00FEE0F5-92EC-4D73-8F97-62ABE0C0B1AD}" destId="{19FF7ECD-B0E8-443E-8703-812623A25DE9}" srcOrd="0" destOrd="0" presId="urn:microsoft.com/office/officeart/2005/8/layout/hList1"/>
    <dgm:cxn modelId="{1B8DF4EF-6AB6-4FC0-AFE4-B74305DCB10F}" srcId="{22EAAA66-547D-4B51-BF4D-D6DB3D7509FE}" destId="{427CA751-AD5C-4205-9441-B3381D745046}" srcOrd="2" destOrd="0" parTransId="{74833AC5-8572-4F1E-BAA1-CEC9100405A4}" sibTransId="{60A14015-7078-43BB-AB9E-4E4C76939902}"/>
    <dgm:cxn modelId="{150135E0-CB36-492F-BB08-74CBEF488F7A}" type="presParOf" srcId="{9F83B98B-72FF-44E6-B52B-F2F63F48C7CE}" destId="{51D230E4-3E09-4D13-9A8E-98B08CE0B2CA}" srcOrd="0" destOrd="0" presId="urn:microsoft.com/office/officeart/2005/8/layout/hList1"/>
    <dgm:cxn modelId="{F6BF3E4A-8560-4759-9686-AB832B29918A}" type="presParOf" srcId="{51D230E4-3E09-4D13-9A8E-98B08CE0B2CA}" destId="{ACA20801-F352-434C-8293-8F2818AFDE5B}" srcOrd="0" destOrd="0" presId="urn:microsoft.com/office/officeart/2005/8/layout/hList1"/>
    <dgm:cxn modelId="{59067D18-429E-4AF3-8EBD-22EC9237102C}" type="presParOf" srcId="{51D230E4-3E09-4D13-9A8E-98B08CE0B2CA}" destId="{19FF7ECD-B0E8-443E-8703-812623A25DE9}" srcOrd="1" destOrd="0" presId="urn:microsoft.com/office/officeart/2005/8/layout/hList1"/>
    <dgm:cxn modelId="{C7F7318B-7350-4337-8FD6-6B433E7DC62D}" type="presParOf" srcId="{9F83B98B-72FF-44E6-B52B-F2F63F48C7CE}" destId="{000A0750-EBC1-44F2-9C1F-4E35F71659DA}" srcOrd="1" destOrd="0" presId="urn:microsoft.com/office/officeart/2005/8/layout/hList1"/>
    <dgm:cxn modelId="{7099BDC1-C8CE-4C95-9639-79113250CEA2}" type="presParOf" srcId="{9F83B98B-72FF-44E6-B52B-F2F63F48C7CE}" destId="{E54045DA-C7DF-4AC3-8BA1-C6D0FBE29413}" srcOrd="2" destOrd="0" presId="urn:microsoft.com/office/officeart/2005/8/layout/hList1"/>
    <dgm:cxn modelId="{1DC0AFF3-FFAC-4174-BCA4-2743B5E87B00}" type="presParOf" srcId="{E54045DA-C7DF-4AC3-8BA1-C6D0FBE29413}" destId="{2075194E-504D-46FF-9735-28FB3A1952A0}" srcOrd="0" destOrd="0" presId="urn:microsoft.com/office/officeart/2005/8/layout/hList1"/>
    <dgm:cxn modelId="{AB362581-C4CC-4D6E-861F-25C1A6316AAF}" type="presParOf" srcId="{E54045DA-C7DF-4AC3-8BA1-C6D0FBE29413}" destId="{4CDFFC38-F27C-472E-A2F4-B6BCE3ADBC7B}" srcOrd="1" destOrd="0" presId="urn:microsoft.com/office/officeart/2005/8/layout/h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FD64D01F-8560-47A8-8127-355261850500}" type="doc">
      <dgm:prSet loTypeId="urn:microsoft.com/office/officeart/2005/8/layout/chevron2" loCatId="list" qsTypeId="urn:microsoft.com/office/officeart/2005/8/quickstyle/simple1" qsCatId="simple" csTypeId="urn:microsoft.com/office/officeart/2005/8/colors/colorful1#7" csCatId="colorful" phldr="1"/>
      <dgm:spPr/>
      <dgm:t>
        <a:bodyPr/>
        <a:lstStyle/>
        <a:p>
          <a:endParaRPr lang="zh-CN" altLang="en-US"/>
        </a:p>
      </dgm:t>
    </dgm:pt>
    <dgm:pt modelId="{C5D95768-64CF-4D5F-8F7F-4A5996C27CD9}">
      <dgm:prSet phldrT="[文本]" custT="1"/>
      <dgm:spPr/>
      <dgm:t>
        <a:bodyPr/>
        <a:lstStyle/>
        <a:p>
          <a:r>
            <a:rPr lang="en-US" altLang="zh-CN" sz="1600" b="1" dirty="0">
              <a:latin typeface="微软雅黑" panose="020B0503020204020204" pitchFamily="34" charset="-122"/>
              <a:ea typeface="微软雅黑" panose="020B0503020204020204" pitchFamily="34" charset="-122"/>
            </a:rPr>
            <a:t>1</a:t>
          </a:r>
          <a:endParaRPr lang="zh-CN" altLang="en-US" sz="1600" b="1" dirty="0">
            <a:latin typeface="微软雅黑" panose="020B0503020204020204" pitchFamily="34" charset="-122"/>
            <a:ea typeface="微软雅黑" panose="020B0503020204020204" pitchFamily="34" charset="-122"/>
          </a:endParaRPr>
        </a:p>
      </dgm:t>
    </dgm:pt>
    <dgm:pt modelId="{095A1CAB-4AA6-4555-A355-CFD87D44D186}" type="parTrans" cxnId="{1236EF00-0657-4E4D-8B27-2D49AF72D854}">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E2A83572-A1BA-4AEF-BB4D-0C9E0744D9DE}" type="sibTrans" cxnId="{1236EF00-0657-4E4D-8B27-2D49AF72D854}">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C2E3AFA4-03DE-4EB5-974A-AAC8D531866F}">
      <dgm:prSet phldrT="[文本]" custT="1"/>
      <dgm:spPr/>
      <dgm:t>
        <a:bodyPr/>
        <a:lstStyle/>
        <a:p>
          <a:r>
            <a:rPr lang="zh-CN" altLang="en-US" sz="1600" b="1" dirty="0">
              <a:latin typeface="微软雅黑" panose="020B0503020204020204" pitchFamily="34" charset="-122"/>
              <a:ea typeface="微软雅黑" panose="020B0503020204020204" pitchFamily="34" charset="-122"/>
            </a:rPr>
            <a:t>本地偏好 </a:t>
          </a:r>
          <a:r>
            <a:rPr lang="en-US" altLang="en-US" sz="1600" b="1" dirty="0">
              <a:latin typeface="微软雅黑" panose="020B0503020204020204" pitchFamily="34" charset="-122"/>
              <a:ea typeface="微软雅黑" panose="020B0503020204020204" pitchFamily="34" charset="-122"/>
            </a:rPr>
            <a:t>(local preference) </a:t>
          </a:r>
          <a:r>
            <a:rPr lang="zh-CN" altLang="en-US" sz="1600" b="1" dirty="0">
              <a:latin typeface="微软雅黑" panose="020B0503020204020204" pitchFamily="34" charset="-122"/>
              <a:ea typeface="微软雅黑" panose="020B0503020204020204" pitchFamily="34" charset="-122"/>
            </a:rPr>
            <a:t>值最高的路由 （默认值</a:t>
          </a:r>
          <a:r>
            <a:rPr lang="en-US" altLang="zh-CN" sz="1600" b="1" dirty="0">
              <a:latin typeface="微软雅黑" panose="020B0503020204020204" pitchFamily="34" charset="-122"/>
              <a:ea typeface="微软雅黑" panose="020B0503020204020204" pitchFamily="34" charset="-122"/>
            </a:rPr>
            <a:t>=</a:t>
          </a:r>
          <a:r>
            <a:rPr lang="en-US" altLang="en-US" sz="1600" b="1" dirty="0">
              <a:latin typeface="微软雅黑" panose="020B0503020204020204" pitchFamily="34" charset="-122"/>
              <a:ea typeface="微软雅黑" panose="020B0503020204020204" pitchFamily="34" charset="-122"/>
            </a:rPr>
            <a:t>100</a:t>
          </a:r>
          <a:r>
            <a:rPr lang="zh-CN" altLang="en-US" sz="1600" b="1" dirty="0">
              <a:latin typeface="微软雅黑" panose="020B0503020204020204" pitchFamily="34" charset="-122"/>
              <a:ea typeface="微软雅黑" panose="020B0503020204020204" pitchFamily="34" charset="-122"/>
            </a:rPr>
            <a:t>）</a:t>
          </a:r>
        </a:p>
      </dgm:t>
    </dgm:pt>
    <dgm:pt modelId="{0A91646E-F85F-4DB9-8D79-8B2D2A89F3B1}" type="parTrans" cxnId="{E05ADA4D-7A3E-4E06-9659-ACD04759E5FC}">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96B5DE66-85F8-4D27-90D3-EF3C3C3C171B}" type="sibTrans" cxnId="{E05ADA4D-7A3E-4E06-9659-ACD04759E5FC}">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0EEA00C2-93BC-4594-A89F-B19031BEA809}">
      <dgm:prSet phldrT="[文本]" custT="1"/>
      <dgm:spPr/>
      <dgm:t>
        <a:bodyPr/>
        <a:lstStyle/>
        <a:p>
          <a:r>
            <a:rPr lang="en-US" altLang="zh-CN" sz="1600" b="1" dirty="0">
              <a:latin typeface="微软雅黑" panose="020B0503020204020204" pitchFamily="34" charset="-122"/>
              <a:ea typeface="微软雅黑" panose="020B0503020204020204" pitchFamily="34" charset="-122"/>
            </a:rPr>
            <a:t>2</a:t>
          </a:r>
          <a:endParaRPr lang="zh-CN" altLang="en-US" sz="1600" b="1" dirty="0">
            <a:latin typeface="微软雅黑" panose="020B0503020204020204" pitchFamily="34" charset="-122"/>
            <a:ea typeface="微软雅黑" panose="020B0503020204020204" pitchFamily="34" charset="-122"/>
          </a:endParaRPr>
        </a:p>
      </dgm:t>
    </dgm:pt>
    <dgm:pt modelId="{13A3DC76-198C-46D6-9E07-18965F9979A0}" type="parTrans" cxnId="{BC70318A-D626-4006-9FF2-051025E4DD7D}">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154D2AC9-7745-4621-BE80-FD0ED53C328A}" type="sibTrans" cxnId="{BC70318A-D626-4006-9FF2-051025E4DD7D}">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BB0D0D92-7B41-47B9-88A7-C0582EC816C3}">
      <dgm:prSet phldrT="[文本]" custT="1"/>
      <dgm:spPr/>
      <dgm:t>
        <a:bodyPr/>
        <a:lstStyle/>
        <a:p>
          <a:r>
            <a:rPr lang="en-US" altLang="en-US" sz="1600" b="1" dirty="0">
              <a:latin typeface="微软雅黑" panose="020B0503020204020204" pitchFamily="34" charset="-122"/>
              <a:ea typeface="微软雅黑" panose="020B0503020204020204" pitchFamily="34" charset="-122"/>
            </a:rPr>
            <a:t>AS </a:t>
          </a:r>
          <a:r>
            <a:rPr lang="zh-CN" altLang="en-US" sz="1600" b="1" dirty="0">
              <a:latin typeface="微软雅黑" panose="020B0503020204020204" pitchFamily="34" charset="-122"/>
              <a:ea typeface="微软雅黑" panose="020B0503020204020204" pitchFamily="34" charset="-122"/>
            </a:rPr>
            <a:t>跳数最小的路由</a:t>
          </a:r>
        </a:p>
      </dgm:t>
    </dgm:pt>
    <dgm:pt modelId="{351E5DC5-A557-4ACF-B5F7-0E7AC090A2CF}" type="parTrans" cxnId="{734AA91F-B8F4-4F8F-BC5B-66C78E0F36AC}">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77BA015C-934C-4A85-97B4-C36259D5C27E}" type="sibTrans" cxnId="{734AA91F-B8F4-4F8F-BC5B-66C78E0F36AC}">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9C75D0E3-AD55-409C-8E70-7C9A60C6090F}">
      <dgm:prSet phldrT="[文本]" custT="1"/>
      <dgm:spPr/>
      <dgm:t>
        <a:bodyPr/>
        <a:lstStyle/>
        <a:p>
          <a:r>
            <a:rPr lang="en-US" altLang="zh-CN" sz="1600" b="1" dirty="0">
              <a:latin typeface="微软雅黑" panose="020B0503020204020204" pitchFamily="34" charset="-122"/>
              <a:ea typeface="微软雅黑" panose="020B0503020204020204" pitchFamily="34" charset="-122"/>
            </a:rPr>
            <a:t>3</a:t>
          </a:r>
          <a:endParaRPr lang="zh-CN" altLang="en-US" sz="1600" b="1" dirty="0">
            <a:latin typeface="微软雅黑" panose="020B0503020204020204" pitchFamily="34" charset="-122"/>
            <a:ea typeface="微软雅黑" panose="020B0503020204020204" pitchFamily="34" charset="-122"/>
          </a:endParaRPr>
        </a:p>
      </dgm:t>
    </dgm:pt>
    <dgm:pt modelId="{4A0B1DED-E29F-41E6-8689-CB100BB93A33}" type="parTrans" cxnId="{ADF66DBB-9393-4116-8CC0-6D697476D591}">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751E2091-1D7F-42F1-A9B4-CCE388AF88F1}" type="sibTrans" cxnId="{ADF66DBB-9393-4116-8CC0-6D697476D591}">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FFF64E73-C233-45A7-8F5D-4089CAD697FF}">
      <dgm:prSet phldrT="[文本]" custT="1"/>
      <dgm:spPr/>
      <dgm:t>
        <a:bodyPr/>
        <a:lstStyle/>
        <a:p>
          <a:r>
            <a:rPr lang="en-US" altLang="zh-CN" sz="1600" b="1" dirty="0">
              <a:latin typeface="微软雅黑" panose="020B0503020204020204" pitchFamily="34" charset="-122"/>
              <a:ea typeface="微软雅黑" panose="020B0503020204020204" pitchFamily="34" charset="-122"/>
            </a:rPr>
            <a:t>4</a:t>
          </a:r>
          <a:endParaRPr lang="zh-CN" altLang="en-US" sz="1600" b="1" dirty="0">
            <a:latin typeface="微软雅黑" panose="020B0503020204020204" pitchFamily="34" charset="-122"/>
            <a:ea typeface="微软雅黑" panose="020B0503020204020204" pitchFamily="34" charset="-122"/>
          </a:endParaRPr>
        </a:p>
      </dgm:t>
    </dgm:pt>
    <dgm:pt modelId="{33A5E1EF-C09D-4317-BF50-3E3A7AD8F5AD}" type="parTrans" cxnId="{964EE627-7EAD-42B6-96B6-724558A854D0}">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C11CDF31-2C2A-4327-8158-DE91CDB3A98C}" type="sibTrans" cxnId="{964EE627-7EAD-42B6-96B6-724558A854D0}">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856CF85C-AFE6-43D4-BD07-CEBB31FE6836}">
      <dgm:prSet phldrT="[文本]" custT="1"/>
      <dgm:spPr/>
      <dgm:t>
        <a:bodyPr/>
        <a:lstStyle/>
        <a:p>
          <a:r>
            <a:rPr lang="zh-CN" altLang="en-US" sz="1600" b="1" dirty="0">
              <a:latin typeface="微软雅黑" panose="020B0503020204020204" pitchFamily="34" charset="-122"/>
              <a:ea typeface="微软雅黑" panose="020B0503020204020204" pitchFamily="34" charset="-122"/>
            </a:rPr>
            <a:t>使用热土豆路由选择算法（分组在 </a:t>
          </a:r>
          <a:r>
            <a:rPr lang="en-US" altLang="zh-CN" sz="1600" b="1" dirty="0">
              <a:latin typeface="微软雅黑" panose="020B0503020204020204" pitchFamily="34" charset="-122"/>
              <a:ea typeface="微软雅黑" panose="020B0503020204020204" pitchFamily="34" charset="-122"/>
            </a:rPr>
            <a:t>AS </a:t>
          </a:r>
          <a:r>
            <a:rPr lang="zh-CN" altLang="en-US" sz="1600" b="1" dirty="0">
              <a:latin typeface="微软雅黑" panose="020B0503020204020204" pitchFamily="34" charset="-122"/>
              <a:ea typeface="微软雅黑" panose="020B0503020204020204" pitchFamily="34" charset="-122"/>
            </a:rPr>
            <a:t>内的转发次数最少）</a:t>
          </a:r>
        </a:p>
      </dgm:t>
    </dgm:pt>
    <dgm:pt modelId="{69CECD98-70EC-4789-9ADD-7B490C308C2C}" type="parTrans" cxnId="{C48B5691-7C60-423E-B931-CA3DFE359FB9}">
      <dgm:prSet/>
      <dgm:spPr/>
      <dgm:t>
        <a:bodyPr/>
        <a:lstStyle/>
        <a:p>
          <a:endParaRPr lang="zh-CN" altLang="en-US"/>
        </a:p>
      </dgm:t>
    </dgm:pt>
    <dgm:pt modelId="{DDF95A1A-C44D-4927-A030-6A34D414D84C}" type="sibTrans" cxnId="{C48B5691-7C60-423E-B931-CA3DFE359FB9}">
      <dgm:prSet/>
      <dgm:spPr/>
      <dgm:t>
        <a:bodyPr/>
        <a:lstStyle/>
        <a:p>
          <a:endParaRPr lang="zh-CN" altLang="en-US"/>
        </a:p>
      </dgm:t>
    </dgm:pt>
    <dgm:pt modelId="{BDC85DC2-8141-45A3-86C7-98E5B6509650}">
      <dgm:prSet phldrT="[文本]" custT="1"/>
      <dgm:spPr/>
      <dgm:t>
        <a:bodyPr/>
        <a:lstStyle/>
        <a:p>
          <a:r>
            <a:rPr lang="zh-CN" altLang="en-US" sz="1600" b="1" dirty="0">
              <a:latin typeface="微软雅黑" panose="020B0503020204020204" pitchFamily="34" charset="-122"/>
              <a:ea typeface="微软雅黑" panose="020B0503020204020204" pitchFamily="34" charset="-122"/>
            </a:rPr>
            <a:t>路由器 </a:t>
          </a:r>
          <a:r>
            <a:rPr lang="en-US" altLang="en-US" sz="1600" b="1" dirty="0">
              <a:latin typeface="微软雅黑" panose="020B0503020204020204" pitchFamily="34" charset="-122"/>
              <a:ea typeface="微软雅黑" panose="020B0503020204020204" pitchFamily="34" charset="-122"/>
            </a:rPr>
            <a:t>BGP </a:t>
          </a:r>
          <a:r>
            <a:rPr lang="en-US" altLang="zh-CN" sz="1600" b="1" dirty="0">
              <a:latin typeface="微软雅黑" panose="020B0503020204020204" pitchFamily="34" charset="-122"/>
              <a:ea typeface="微软雅黑" panose="020B0503020204020204" pitchFamily="34" charset="-122"/>
            </a:rPr>
            <a:t>ID </a:t>
          </a:r>
          <a:r>
            <a:rPr lang="zh-CN" altLang="en-US" sz="1600" b="1" dirty="0">
              <a:latin typeface="微软雅黑" panose="020B0503020204020204" pitchFamily="34" charset="-122"/>
              <a:ea typeface="微软雅黑" panose="020B0503020204020204" pitchFamily="34" charset="-122"/>
            </a:rPr>
            <a:t>数值最小的路由。具有多个接口的路由器有多个 </a:t>
          </a:r>
          <a:r>
            <a:rPr lang="en-US" altLang="en-US"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a:t>
          </a:r>
          <a:r>
            <a:rPr lang="en-US" altLang="en-US" sz="1600" b="1" dirty="0">
              <a:latin typeface="微软雅黑" panose="020B0503020204020204" pitchFamily="34" charset="-122"/>
              <a:ea typeface="微软雅黑" panose="020B0503020204020204" pitchFamily="34" charset="-122"/>
            </a:rPr>
            <a:t>BGP ID </a:t>
          </a:r>
          <a:r>
            <a:rPr lang="zh-CN" altLang="en-US" sz="1600" b="1" dirty="0">
              <a:latin typeface="微软雅黑" panose="020B0503020204020204" pitchFamily="34" charset="-122"/>
              <a:ea typeface="微软雅黑" panose="020B0503020204020204" pitchFamily="34" charset="-122"/>
            </a:rPr>
            <a:t>就使用该路由器的 </a:t>
          </a:r>
          <a:r>
            <a:rPr lang="en-US" altLang="en-US"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地址中数值最大的一个。</a:t>
          </a:r>
        </a:p>
      </dgm:t>
    </dgm:pt>
    <dgm:pt modelId="{19CA359C-E121-40CE-9D99-A97A650135B1}" type="parTrans" cxnId="{F3797FDF-B4B0-4767-9463-0A60D5B8E21B}">
      <dgm:prSet/>
      <dgm:spPr/>
      <dgm:t>
        <a:bodyPr/>
        <a:lstStyle/>
        <a:p>
          <a:endParaRPr lang="zh-CN" altLang="en-US"/>
        </a:p>
      </dgm:t>
    </dgm:pt>
    <dgm:pt modelId="{D0E75E54-8483-4E38-A5BF-CF0A25C2C09C}" type="sibTrans" cxnId="{F3797FDF-B4B0-4767-9463-0A60D5B8E21B}">
      <dgm:prSet/>
      <dgm:spPr/>
      <dgm:t>
        <a:bodyPr/>
        <a:lstStyle/>
        <a:p>
          <a:endParaRPr lang="zh-CN" altLang="en-US"/>
        </a:p>
      </dgm:t>
    </dgm:pt>
    <dgm:pt modelId="{8812DE91-C297-420B-AFB3-99A8E5FEF467}" type="pres">
      <dgm:prSet presAssocID="{FD64D01F-8560-47A8-8127-355261850500}" presName="linearFlow" presStyleCnt="0">
        <dgm:presLayoutVars>
          <dgm:dir/>
          <dgm:animLvl val="lvl"/>
          <dgm:resizeHandles val="exact"/>
        </dgm:presLayoutVars>
      </dgm:prSet>
      <dgm:spPr/>
    </dgm:pt>
    <dgm:pt modelId="{C5043315-3167-4242-8756-3EFDECDE697D}" type="pres">
      <dgm:prSet presAssocID="{C5D95768-64CF-4D5F-8F7F-4A5996C27CD9}" presName="composite" presStyleCnt="0"/>
      <dgm:spPr/>
    </dgm:pt>
    <dgm:pt modelId="{087CCF3B-B980-4744-A098-51E164BAF300}" type="pres">
      <dgm:prSet presAssocID="{C5D95768-64CF-4D5F-8F7F-4A5996C27CD9}" presName="parentText" presStyleLbl="alignNode1" presStyleIdx="0" presStyleCnt="4">
        <dgm:presLayoutVars>
          <dgm:chMax val="1"/>
          <dgm:bulletEnabled val="1"/>
        </dgm:presLayoutVars>
      </dgm:prSet>
      <dgm:spPr/>
    </dgm:pt>
    <dgm:pt modelId="{967F5469-8640-4696-BE0A-D179F4D13586}" type="pres">
      <dgm:prSet presAssocID="{C5D95768-64CF-4D5F-8F7F-4A5996C27CD9}" presName="descendantText" presStyleLbl="alignAcc1" presStyleIdx="0" presStyleCnt="4">
        <dgm:presLayoutVars>
          <dgm:bulletEnabled val="1"/>
        </dgm:presLayoutVars>
      </dgm:prSet>
      <dgm:spPr/>
    </dgm:pt>
    <dgm:pt modelId="{F234092F-7BEC-404E-8293-C36748A6A87C}" type="pres">
      <dgm:prSet presAssocID="{E2A83572-A1BA-4AEF-BB4D-0C9E0744D9DE}" presName="sp" presStyleCnt="0"/>
      <dgm:spPr/>
    </dgm:pt>
    <dgm:pt modelId="{9ECA41B6-16C1-4500-9E83-45EDD0D06E81}" type="pres">
      <dgm:prSet presAssocID="{0EEA00C2-93BC-4594-A89F-B19031BEA809}" presName="composite" presStyleCnt="0"/>
      <dgm:spPr/>
    </dgm:pt>
    <dgm:pt modelId="{1C1FCDAF-0D65-4A39-A0AC-A9D03E334517}" type="pres">
      <dgm:prSet presAssocID="{0EEA00C2-93BC-4594-A89F-B19031BEA809}" presName="parentText" presStyleLbl="alignNode1" presStyleIdx="1" presStyleCnt="4">
        <dgm:presLayoutVars>
          <dgm:chMax val="1"/>
          <dgm:bulletEnabled val="1"/>
        </dgm:presLayoutVars>
      </dgm:prSet>
      <dgm:spPr/>
    </dgm:pt>
    <dgm:pt modelId="{7FDDCB89-19F3-4537-A956-66DB05444287}" type="pres">
      <dgm:prSet presAssocID="{0EEA00C2-93BC-4594-A89F-B19031BEA809}" presName="descendantText" presStyleLbl="alignAcc1" presStyleIdx="1" presStyleCnt="4">
        <dgm:presLayoutVars>
          <dgm:bulletEnabled val="1"/>
        </dgm:presLayoutVars>
      </dgm:prSet>
      <dgm:spPr/>
    </dgm:pt>
    <dgm:pt modelId="{59AFE3C5-7CD4-4DD8-826C-548BC463411A}" type="pres">
      <dgm:prSet presAssocID="{154D2AC9-7745-4621-BE80-FD0ED53C328A}" presName="sp" presStyleCnt="0"/>
      <dgm:spPr/>
    </dgm:pt>
    <dgm:pt modelId="{E8A8C8B2-0AE7-4255-A2E4-A5468342E36B}" type="pres">
      <dgm:prSet presAssocID="{9C75D0E3-AD55-409C-8E70-7C9A60C6090F}" presName="composite" presStyleCnt="0"/>
      <dgm:spPr/>
    </dgm:pt>
    <dgm:pt modelId="{061776BC-E55D-472E-AA38-6C4CA9431466}" type="pres">
      <dgm:prSet presAssocID="{9C75D0E3-AD55-409C-8E70-7C9A60C6090F}" presName="parentText" presStyleLbl="alignNode1" presStyleIdx="2" presStyleCnt="4">
        <dgm:presLayoutVars>
          <dgm:chMax val="1"/>
          <dgm:bulletEnabled val="1"/>
        </dgm:presLayoutVars>
      </dgm:prSet>
      <dgm:spPr/>
    </dgm:pt>
    <dgm:pt modelId="{24E43028-DB82-414F-9136-AA94D471AC5C}" type="pres">
      <dgm:prSet presAssocID="{9C75D0E3-AD55-409C-8E70-7C9A60C6090F}" presName="descendantText" presStyleLbl="alignAcc1" presStyleIdx="2" presStyleCnt="4">
        <dgm:presLayoutVars>
          <dgm:bulletEnabled val="1"/>
        </dgm:presLayoutVars>
      </dgm:prSet>
      <dgm:spPr/>
    </dgm:pt>
    <dgm:pt modelId="{BADD0972-AE9D-4166-B00C-135E3FBC19C2}" type="pres">
      <dgm:prSet presAssocID="{751E2091-1D7F-42F1-A9B4-CCE388AF88F1}" presName="sp" presStyleCnt="0"/>
      <dgm:spPr/>
    </dgm:pt>
    <dgm:pt modelId="{010C641B-529F-49FF-8D75-853C0A91C8C6}" type="pres">
      <dgm:prSet presAssocID="{FFF64E73-C233-45A7-8F5D-4089CAD697FF}" presName="composite" presStyleCnt="0"/>
      <dgm:spPr/>
    </dgm:pt>
    <dgm:pt modelId="{AC9695CB-865B-4694-A98D-9F8EAB741670}" type="pres">
      <dgm:prSet presAssocID="{FFF64E73-C233-45A7-8F5D-4089CAD697FF}" presName="parentText" presStyleLbl="alignNode1" presStyleIdx="3" presStyleCnt="4">
        <dgm:presLayoutVars>
          <dgm:chMax val="1"/>
          <dgm:bulletEnabled val="1"/>
        </dgm:presLayoutVars>
      </dgm:prSet>
      <dgm:spPr/>
    </dgm:pt>
    <dgm:pt modelId="{0B7E51AB-E203-4D88-91EC-23BBEBF68989}" type="pres">
      <dgm:prSet presAssocID="{FFF64E73-C233-45A7-8F5D-4089CAD697FF}" presName="descendantText" presStyleLbl="alignAcc1" presStyleIdx="3" presStyleCnt="4">
        <dgm:presLayoutVars>
          <dgm:bulletEnabled val="1"/>
        </dgm:presLayoutVars>
      </dgm:prSet>
      <dgm:spPr/>
    </dgm:pt>
  </dgm:ptLst>
  <dgm:cxnLst>
    <dgm:cxn modelId="{1236EF00-0657-4E4D-8B27-2D49AF72D854}" srcId="{FD64D01F-8560-47A8-8127-355261850500}" destId="{C5D95768-64CF-4D5F-8F7F-4A5996C27CD9}" srcOrd="0" destOrd="0" parTransId="{095A1CAB-4AA6-4555-A355-CFD87D44D186}" sibTransId="{E2A83572-A1BA-4AEF-BB4D-0C9E0744D9DE}"/>
    <dgm:cxn modelId="{0B807519-E138-4175-A35B-827F947D649D}" type="presOf" srcId="{BB0D0D92-7B41-47B9-88A7-C0582EC816C3}" destId="{7FDDCB89-19F3-4537-A956-66DB05444287}" srcOrd="0" destOrd="0" presId="urn:microsoft.com/office/officeart/2005/8/layout/chevron2"/>
    <dgm:cxn modelId="{734AA91F-B8F4-4F8F-BC5B-66C78E0F36AC}" srcId="{0EEA00C2-93BC-4594-A89F-B19031BEA809}" destId="{BB0D0D92-7B41-47B9-88A7-C0582EC816C3}" srcOrd="0" destOrd="0" parTransId="{351E5DC5-A557-4ACF-B5F7-0E7AC090A2CF}" sibTransId="{77BA015C-934C-4A85-97B4-C36259D5C27E}"/>
    <dgm:cxn modelId="{964EE627-7EAD-42B6-96B6-724558A854D0}" srcId="{FD64D01F-8560-47A8-8127-355261850500}" destId="{FFF64E73-C233-45A7-8F5D-4089CAD697FF}" srcOrd="3" destOrd="0" parTransId="{33A5E1EF-C09D-4317-BF50-3E3A7AD8F5AD}" sibTransId="{C11CDF31-2C2A-4327-8158-DE91CDB3A98C}"/>
    <dgm:cxn modelId="{2007EE2B-C518-48B5-93E3-226E88A0D8DA}" type="presOf" srcId="{9C75D0E3-AD55-409C-8E70-7C9A60C6090F}" destId="{061776BC-E55D-472E-AA38-6C4CA9431466}" srcOrd="0" destOrd="0" presId="urn:microsoft.com/office/officeart/2005/8/layout/chevron2"/>
    <dgm:cxn modelId="{800DBB5C-0218-4C4C-B13E-9BA3A281C287}" type="presOf" srcId="{C2E3AFA4-03DE-4EB5-974A-AAC8D531866F}" destId="{967F5469-8640-4696-BE0A-D179F4D13586}" srcOrd="0" destOrd="0" presId="urn:microsoft.com/office/officeart/2005/8/layout/chevron2"/>
    <dgm:cxn modelId="{E05ADA4D-7A3E-4E06-9659-ACD04759E5FC}" srcId="{C5D95768-64CF-4D5F-8F7F-4A5996C27CD9}" destId="{C2E3AFA4-03DE-4EB5-974A-AAC8D531866F}" srcOrd="0" destOrd="0" parTransId="{0A91646E-F85F-4DB9-8D79-8B2D2A89F3B1}" sibTransId="{96B5DE66-85F8-4D27-90D3-EF3C3C3C171B}"/>
    <dgm:cxn modelId="{E463B871-7F4E-40F9-AC91-58B9FA598B8E}" type="presOf" srcId="{C5D95768-64CF-4D5F-8F7F-4A5996C27CD9}" destId="{087CCF3B-B980-4744-A098-51E164BAF300}" srcOrd="0" destOrd="0" presId="urn:microsoft.com/office/officeart/2005/8/layout/chevron2"/>
    <dgm:cxn modelId="{1E2D2E89-B2F5-4722-BBD0-70AAD5FB8339}" type="presOf" srcId="{856CF85C-AFE6-43D4-BD07-CEBB31FE6836}" destId="{24E43028-DB82-414F-9136-AA94D471AC5C}" srcOrd="0" destOrd="0" presId="urn:microsoft.com/office/officeart/2005/8/layout/chevron2"/>
    <dgm:cxn modelId="{BC70318A-D626-4006-9FF2-051025E4DD7D}" srcId="{FD64D01F-8560-47A8-8127-355261850500}" destId="{0EEA00C2-93BC-4594-A89F-B19031BEA809}" srcOrd="1" destOrd="0" parTransId="{13A3DC76-198C-46D6-9E07-18965F9979A0}" sibTransId="{154D2AC9-7745-4621-BE80-FD0ED53C328A}"/>
    <dgm:cxn modelId="{C48B5691-7C60-423E-B931-CA3DFE359FB9}" srcId="{9C75D0E3-AD55-409C-8E70-7C9A60C6090F}" destId="{856CF85C-AFE6-43D4-BD07-CEBB31FE6836}" srcOrd="0" destOrd="0" parTransId="{69CECD98-70EC-4789-9ADD-7B490C308C2C}" sibTransId="{DDF95A1A-C44D-4927-A030-6A34D414D84C}"/>
    <dgm:cxn modelId="{B1E56E97-41A8-4CB4-9F10-4879E95822BB}" type="presOf" srcId="{FFF64E73-C233-45A7-8F5D-4089CAD697FF}" destId="{AC9695CB-865B-4694-A98D-9F8EAB741670}" srcOrd="0" destOrd="0" presId="urn:microsoft.com/office/officeart/2005/8/layout/chevron2"/>
    <dgm:cxn modelId="{6B0E3C99-97A8-41EE-8644-3F9496A5CFE0}" type="presOf" srcId="{BDC85DC2-8141-45A3-86C7-98E5B6509650}" destId="{0B7E51AB-E203-4D88-91EC-23BBEBF68989}" srcOrd="0" destOrd="0" presId="urn:microsoft.com/office/officeart/2005/8/layout/chevron2"/>
    <dgm:cxn modelId="{171ACD99-DE4C-411B-89B4-AAF0D655C0E8}" type="presOf" srcId="{FD64D01F-8560-47A8-8127-355261850500}" destId="{8812DE91-C297-420B-AFB3-99A8E5FEF467}" srcOrd="0" destOrd="0" presId="urn:microsoft.com/office/officeart/2005/8/layout/chevron2"/>
    <dgm:cxn modelId="{61872CB5-2657-4CB5-A05C-B3BC0E2E1CEF}" type="presOf" srcId="{0EEA00C2-93BC-4594-A89F-B19031BEA809}" destId="{1C1FCDAF-0D65-4A39-A0AC-A9D03E334517}" srcOrd="0" destOrd="0" presId="urn:microsoft.com/office/officeart/2005/8/layout/chevron2"/>
    <dgm:cxn modelId="{ADF66DBB-9393-4116-8CC0-6D697476D591}" srcId="{FD64D01F-8560-47A8-8127-355261850500}" destId="{9C75D0E3-AD55-409C-8E70-7C9A60C6090F}" srcOrd="2" destOrd="0" parTransId="{4A0B1DED-E29F-41E6-8689-CB100BB93A33}" sibTransId="{751E2091-1D7F-42F1-A9B4-CCE388AF88F1}"/>
    <dgm:cxn modelId="{F3797FDF-B4B0-4767-9463-0A60D5B8E21B}" srcId="{FFF64E73-C233-45A7-8F5D-4089CAD697FF}" destId="{BDC85DC2-8141-45A3-86C7-98E5B6509650}" srcOrd="0" destOrd="0" parTransId="{19CA359C-E121-40CE-9D99-A97A650135B1}" sibTransId="{D0E75E54-8483-4E38-A5BF-CF0A25C2C09C}"/>
    <dgm:cxn modelId="{C64A0415-30F8-4657-94B5-B6770E2E4A17}" type="presParOf" srcId="{8812DE91-C297-420B-AFB3-99A8E5FEF467}" destId="{C5043315-3167-4242-8756-3EFDECDE697D}" srcOrd="0" destOrd="0" presId="urn:microsoft.com/office/officeart/2005/8/layout/chevron2"/>
    <dgm:cxn modelId="{4B8F6622-BF5B-4703-B962-0667A439B385}" type="presParOf" srcId="{C5043315-3167-4242-8756-3EFDECDE697D}" destId="{087CCF3B-B980-4744-A098-51E164BAF300}" srcOrd="0" destOrd="0" presId="urn:microsoft.com/office/officeart/2005/8/layout/chevron2"/>
    <dgm:cxn modelId="{2B0FCE80-9EA3-4976-981D-2B52FDA8ED11}" type="presParOf" srcId="{C5043315-3167-4242-8756-3EFDECDE697D}" destId="{967F5469-8640-4696-BE0A-D179F4D13586}" srcOrd="1" destOrd="0" presId="urn:microsoft.com/office/officeart/2005/8/layout/chevron2"/>
    <dgm:cxn modelId="{DD47DAED-CD71-4E9D-8360-F95A3345A2A0}" type="presParOf" srcId="{8812DE91-C297-420B-AFB3-99A8E5FEF467}" destId="{F234092F-7BEC-404E-8293-C36748A6A87C}" srcOrd="1" destOrd="0" presId="urn:microsoft.com/office/officeart/2005/8/layout/chevron2"/>
    <dgm:cxn modelId="{5E68F53B-7712-42DD-A075-CC6D0321C578}" type="presParOf" srcId="{8812DE91-C297-420B-AFB3-99A8E5FEF467}" destId="{9ECA41B6-16C1-4500-9E83-45EDD0D06E81}" srcOrd="2" destOrd="0" presId="urn:microsoft.com/office/officeart/2005/8/layout/chevron2"/>
    <dgm:cxn modelId="{CAC61C07-8FCE-4442-8685-419BE65095B7}" type="presParOf" srcId="{9ECA41B6-16C1-4500-9E83-45EDD0D06E81}" destId="{1C1FCDAF-0D65-4A39-A0AC-A9D03E334517}" srcOrd="0" destOrd="0" presId="urn:microsoft.com/office/officeart/2005/8/layout/chevron2"/>
    <dgm:cxn modelId="{6E1E0FD5-009A-4088-841D-8E21775B0BE1}" type="presParOf" srcId="{9ECA41B6-16C1-4500-9E83-45EDD0D06E81}" destId="{7FDDCB89-19F3-4537-A956-66DB05444287}" srcOrd="1" destOrd="0" presId="urn:microsoft.com/office/officeart/2005/8/layout/chevron2"/>
    <dgm:cxn modelId="{E7A20A1A-174C-4851-8A45-445601074D5F}" type="presParOf" srcId="{8812DE91-C297-420B-AFB3-99A8E5FEF467}" destId="{59AFE3C5-7CD4-4DD8-826C-548BC463411A}" srcOrd="3" destOrd="0" presId="urn:microsoft.com/office/officeart/2005/8/layout/chevron2"/>
    <dgm:cxn modelId="{324D96E4-DC48-4671-9928-50C0B339F514}" type="presParOf" srcId="{8812DE91-C297-420B-AFB3-99A8E5FEF467}" destId="{E8A8C8B2-0AE7-4255-A2E4-A5468342E36B}" srcOrd="4" destOrd="0" presId="urn:microsoft.com/office/officeart/2005/8/layout/chevron2"/>
    <dgm:cxn modelId="{3DFD4D47-1636-4781-A8AD-7E06FC395286}" type="presParOf" srcId="{E8A8C8B2-0AE7-4255-A2E4-A5468342E36B}" destId="{061776BC-E55D-472E-AA38-6C4CA9431466}" srcOrd="0" destOrd="0" presId="urn:microsoft.com/office/officeart/2005/8/layout/chevron2"/>
    <dgm:cxn modelId="{171FA9E3-E314-4295-9E5B-C7A3CB9F8A82}" type="presParOf" srcId="{E8A8C8B2-0AE7-4255-A2E4-A5468342E36B}" destId="{24E43028-DB82-414F-9136-AA94D471AC5C}" srcOrd="1" destOrd="0" presId="urn:microsoft.com/office/officeart/2005/8/layout/chevron2"/>
    <dgm:cxn modelId="{AE9E7E87-D686-4B45-A84D-5ABE2933C1B7}" type="presParOf" srcId="{8812DE91-C297-420B-AFB3-99A8E5FEF467}" destId="{BADD0972-AE9D-4166-B00C-135E3FBC19C2}" srcOrd="5" destOrd="0" presId="urn:microsoft.com/office/officeart/2005/8/layout/chevron2"/>
    <dgm:cxn modelId="{9056BABD-5574-4751-835D-FBA25C5BFFFA}" type="presParOf" srcId="{8812DE91-C297-420B-AFB3-99A8E5FEF467}" destId="{010C641B-529F-49FF-8D75-853C0A91C8C6}" srcOrd="6" destOrd="0" presId="urn:microsoft.com/office/officeart/2005/8/layout/chevron2"/>
    <dgm:cxn modelId="{6FCBEEF0-EF56-43AE-B9B7-3E326E2733D9}" type="presParOf" srcId="{010C641B-529F-49FF-8D75-853C0A91C8C6}" destId="{AC9695CB-865B-4694-A98D-9F8EAB741670}" srcOrd="0" destOrd="0" presId="urn:microsoft.com/office/officeart/2005/8/layout/chevron2"/>
    <dgm:cxn modelId="{4319CC0D-EB4C-4D7F-8882-92073AFDFC18}" type="presParOf" srcId="{010C641B-529F-49FF-8D75-853C0A91C8C6}" destId="{0B7E51AB-E203-4D88-91EC-23BBEBF68989}" srcOrd="1" destOrd="0" presId="urn:microsoft.com/office/officeart/2005/8/layout/chevron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0.xml><?xml version="1.0" encoding="utf-8"?>
<dgm:dataModel xmlns:dgm="http://schemas.openxmlformats.org/drawingml/2006/diagram" xmlns:a="http://schemas.openxmlformats.org/drawingml/2006/main">
  <dgm:ptLst>
    <dgm:pt modelId="{338652AA-D05F-4CBA-BF22-CB8D2B589463}" type="doc">
      <dgm:prSet loTypeId="urn:microsoft.com/office/officeart/2005/8/layout/vList5" loCatId="list" qsTypeId="urn:microsoft.com/office/officeart/2005/8/quickstyle/simple4" qsCatId="simple" csTypeId="urn:microsoft.com/office/officeart/2005/8/colors/colorful4" csCatId="colorful" phldr="1"/>
      <dgm:spPr/>
      <dgm:t>
        <a:bodyPr/>
        <a:lstStyle/>
        <a:p>
          <a:endParaRPr lang="zh-CN" altLang="en-US"/>
        </a:p>
      </dgm:t>
    </dgm:pt>
    <dgm:pt modelId="{0A7F2887-70DD-463D-AE3B-DFAEEDAE1255}">
      <dgm:prSet phldrT="[文本]" custT="1"/>
      <dgm:spPr/>
      <dgm:t>
        <a:bodyPr/>
        <a:lstStyle/>
        <a:p>
          <a:r>
            <a:rPr lang="en-US" altLang="en-US" sz="1600" b="1" dirty="0">
              <a:latin typeface="微软雅黑" panose="020B0503020204020204" pitchFamily="34" charset="-122"/>
              <a:ea typeface="微软雅黑" panose="020B0503020204020204" pitchFamily="34" charset="-122"/>
            </a:rPr>
            <a:t>OPEN (</a:t>
          </a:r>
          <a:r>
            <a:rPr lang="zh-CN" altLang="en-US" sz="1600" b="1" dirty="0">
              <a:latin typeface="微软雅黑" panose="020B0503020204020204" pitchFamily="34" charset="-122"/>
              <a:ea typeface="微软雅黑" panose="020B0503020204020204" pitchFamily="34" charset="-122"/>
            </a:rPr>
            <a:t>打开</a:t>
          </a:r>
          <a:r>
            <a:rPr lang="en-US" altLang="en-US" sz="1600" b="1" dirty="0">
              <a:latin typeface="微软雅黑" panose="020B0503020204020204" pitchFamily="34" charset="-122"/>
              <a:ea typeface="微软雅黑" panose="020B0503020204020204" pitchFamily="34" charset="-122"/>
            </a:rPr>
            <a:t>) </a:t>
          </a:r>
          <a:endParaRPr lang="zh-CN" altLang="en-US" sz="1600" b="1" dirty="0">
            <a:latin typeface="微软雅黑" panose="020B0503020204020204" pitchFamily="34" charset="-122"/>
            <a:ea typeface="微软雅黑" panose="020B0503020204020204" pitchFamily="34" charset="-122"/>
          </a:endParaRPr>
        </a:p>
      </dgm:t>
    </dgm:pt>
    <dgm:pt modelId="{82482532-5DB4-498B-8F2E-C83AB1724378}" type="parTrans" cxnId="{5206DCEF-F3F5-4832-9A6C-7A74FE6D8F0E}">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108F918B-404C-41B9-87E2-C020C5B20222}" type="sibTrans" cxnId="{5206DCEF-F3F5-4832-9A6C-7A74FE6D8F0E}">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CDCD8929-A180-4F37-94AF-7B80BF1461D1}">
      <dgm:prSet phldrT="[文本]" custT="1"/>
      <dgm:spPr/>
      <dgm:t>
        <a:bodyPr/>
        <a:lstStyle/>
        <a:p>
          <a:r>
            <a:rPr lang="en-US" altLang="en-US" sz="1600" b="1" dirty="0">
              <a:latin typeface="微软雅黑" panose="020B0503020204020204" pitchFamily="34" charset="-122"/>
              <a:ea typeface="微软雅黑" panose="020B0503020204020204" pitchFamily="34" charset="-122"/>
            </a:rPr>
            <a:t>UPDATE (</a:t>
          </a:r>
          <a:r>
            <a:rPr lang="zh-CN" altLang="en-US" sz="1600" b="1" dirty="0">
              <a:latin typeface="微软雅黑" panose="020B0503020204020204" pitchFamily="34" charset="-122"/>
              <a:ea typeface="微软雅黑" panose="020B0503020204020204" pitchFamily="34" charset="-122"/>
            </a:rPr>
            <a:t>更新</a:t>
          </a:r>
          <a:r>
            <a:rPr lang="en-US" altLang="en-US" sz="1600" b="1" dirty="0">
              <a:latin typeface="微软雅黑" panose="020B0503020204020204" pitchFamily="34" charset="-122"/>
              <a:ea typeface="微软雅黑" panose="020B0503020204020204" pitchFamily="34" charset="-122"/>
            </a:rPr>
            <a:t>) </a:t>
          </a:r>
          <a:endParaRPr lang="zh-CN" altLang="en-US" sz="1600" b="1" dirty="0">
            <a:latin typeface="微软雅黑" panose="020B0503020204020204" pitchFamily="34" charset="-122"/>
            <a:ea typeface="微软雅黑" panose="020B0503020204020204" pitchFamily="34" charset="-122"/>
          </a:endParaRPr>
        </a:p>
      </dgm:t>
    </dgm:pt>
    <dgm:pt modelId="{EE19A3E0-97FF-4B1C-B0C1-5E4ABC700DE2}" type="parTrans" cxnId="{C227D7B6-D1EE-48A5-B03F-26401CC5365A}">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A63063BC-A081-4F23-8825-3563B34C9CDF}" type="sibTrans" cxnId="{C227D7B6-D1EE-48A5-B03F-26401CC5365A}">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C388003C-A88E-4A62-8B49-66931CC1FA8A}">
      <dgm:prSet phldrT="[文本]" custT="1"/>
      <dgm:spPr/>
      <dgm:t>
        <a:bodyPr/>
        <a:lstStyle/>
        <a:p>
          <a:r>
            <a:rPr lang="zh-CN" altLang="en-US" sz="1600" b="1" dirty="0">
              <a:latin typeface="微软雅黑" panose="020B0503020204020204" pitchFamily="34" charset="-122"/>
              <a:ea typeface="微软雅黑" panose="020B0503020204020204" pitchFamily="34" charset="-122"/>
            </a:rPr>
            <a:t>用来通告某一路由的信息，以及列出要撤销的多条路由。</a:t>
          </a:r>
        </a:p>
      </dgm:t>
    </dgm:pt>
    <dgm:pt modelId="{E65DCAFF-77CC-4F06-BFF9-7D96418A6330}" type="parTrans" cxnId="{8C9D0781-9973-41CF-B7F8-AB4CA250B204}">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6B25BD77-1FC9-42B8-82ED-643D0ECDDE8B}" type="sibTrans" cxnId="{8C9D0781-9973-41CF-B7F8-AB4CA250B204}">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1240A7FE-2896-41C2-AC7B-30D3AD01E67C}">
      <dgm:prSet phldrT="[文本]" custT="1"/>
      <dgm:spPr/>
      <dgm:t>
        <a:bodyPr/>
        <a:lstStyle/>
        <a:p>
          <a:r>
            <a:rPr lang="en-US" altLang="en-US" sz="1600" b="1" dirty="0">
              <a:latin typeface="微软雅黑" panose="020B0503020204020204" pitchFamily="34" charset="-122"/>
              <a:ea typeface="微软雅黑" panose="020B0503020204020204" pitchFamily="34" charset="-122"/>
            </a:rPr>
            <a:t>KEEPALIVE (</a:t>
          </a:r>
          <a:r>
            <a:rPr lang="zh-CN" altLang="en-US" sz="1600" b="1" dirty="0">
              <a:latin typeface="微软雅黑" panose="020B0503020204020204" pitchFamily="34" charset="-122"/>
              <a:ea typeface="微软雅黑" panose="020B0503020204020204" pitchFamily="34" charset="-122"/>
            </a:rPr>
            <a:t>保活</a:t>
          </a:r>
          <a:r>
            <a:rPr lang="en-US" altLang="en-US" sz="1600" b="1" dirty="0">
              <a:latin typeface="微软雅黑" panose="020B0503020204020204" pitchFamily="34" charset="-122"/>
              <a:ea typeface="微软雅黑" panose="020B0503020204020204" pitchFamily="34" charset="-122"/>
            </a:rPr>
            <a:t>) </a:t>
          </a:r>
          <a:endParaRPr lang="zh-CN" altLang="en-US" sz="1600" b="1" dirty="0">
            <a:latin typeface="微软雅黑" panose="020B0503020204020204" pitchFamily="34" charset="-122"/>
            <a:ea typeface="微软雅黑" panose="020B0503020204020204" pitchFamily="34" charset="-122"/>
          </a:endParaRPr>
        </a:p>
      </dgm:t>
    </dgm:pt>
    <dgm:pt modelId="{D1AA0DA8-6C1E-4893-B42F-34824CA8AB9D}" type="parTrans" cxnId="{4B1AE50C-3DE5-49F2-A115-99FC77CF4FA2}">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74DA2EB1-8E9C-4DE1-8BBB-CBF16C2110F8}" type="sibTrans" cxnId="{4B1AE50C-3DE5-49F2-A115-99FC77CF4FA2}">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3E123DC4-915F-4BDA-BC93-52729BBBAF64}">
      <dgm:prSet phldrT="[文本]" custT="1"/>
      <dgm:spPr/>
      <dgm:t>
        <a:bodyPr/>
        <a:lstStyle/>
        <a:p>
          <a:r>
            <a:rPr lang="zh-CN" altLang="en-US" sz="1600" b="1" dirty="0">
              <a:latin typeface="微软雅黑" panose="020B0503020204020204" pitchFamily="34" charset="-122"/>
              <a:ea typeface="微软雅黑" panose="020B0503020204020204" pitchFamily="34" charset="-122"/>
            </a:rPr>
            <a:t>用来周期性地证实邻站的连通性。</a:t>
          </a:r>
        </a:p>
      </dgm:t>
    </dgm:pt>
    <dgm:pt modelId="{F774013D-6E14-457F-B31A-2C1AAF181CE9}" type="parTrans" cxnId="{86B3F606-C1F6-4609-983C-823864E63FF8}">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7A449CA4-162B-4989-B428-033AEF9DED3F}" type="sibTrans" cxnId="{86B3F606-C1F6-4609-983C-823864E63FF8}">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ADAC1AA2-792F-497F-896C-7C1C8DE03383}">
      <dgm:prSet phldrT="[文本]" custT="1"/>
      <dgm:spPr/>
      <dgm:t>
        <a:bodyPr/>
        <a:lstStyle/>
        <a:p>
          <a:r>
            <a:rPr lang="en-US" altLang="en-US" sz="1600" b="1" dirty="0">
              <a:latin typeface="微软雅黑" panose="020B0503020204020204" pitchFamily="34" charset="-122"/>
              <a:ea typeface="微软雅黑" panose="020B0503020204020204" pitchFamily="34" charset="-122"/>
            </a:rPr>
            <a:t>NOTIFICATION (</a:t>
          </a:r>
          <a:r>
            <a:rPr lang="zh-CN" altLang="en-US" sz="1600" b="1" dirty="0">
              <a:latin typeface="微软雅黑" panose="020B0503020204020204" pitchFamily="34" charset="-122"/>
              <a:ea typeface="微软雅黑" panose="020B0503020204020204" pitchFamily="34" charset="-122"/>
            </a:rPr>
            <a:t>通知</a:t>
          </a:r>
          <a:r>
            <a:rPr lang="en-US" altLang="en-US" sz="1600" b="1" dirty="0">
              <a:latin typeface="微软雅黑" panose="020B0503020204020204" pitchFamily="34" charset="-122"/>
              <a:ea typeface="微软雅黑" panose="020B0503020204020204" pitchFamily="34" charset="-122"/>
            </a:rPr>
            <a:t>) </a:t>
          </a:r>
          <a:endParaRPr lang="zh-CN" altLang="en-US" sz="1600" b="1" dirty="0">
            <a:latin typeface="微软雅黑" panose="020B0503020204020204" pitchFamily="34" charset="-122"/>
            <a:ea typeface="微软雅黑" panose="020B0503020204020204" pitchFamily="34" charset="-122"/>
          </a:endParaRPr>
        </a:p>
      </dgm:t>
    </dgm:pt>
    <dgm:pt modelId="{4D512ECF-28CB-4E49-8215-4F8B95499654}" type="parTrans" cxnId="{CE44A66A-7B30-4926-A15A-C489BEA4B13A}">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1C11A2D5-B33A-47C3-82B8-1E6F30324564}" type="sibTrans" cxnId="{CE44A66A-7B30-4926-A15A-C489BEA4B13A}">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5B67117D-46B6-4307-8646-19D7576F99B9}">
      <dgm:prSet phldrT="[文本]" custT="1"/>
      <dgm:spPr/>
      <dgm:t>
        <a:bodyPr/>
        <a:lstStyle/>
        <a:p>
          <a:r>
            <a:rPr lang="zh-CN" altLang="en-US" sz="1600" b="1" dirty="0">
              <a:latin typeface="微软雅黑" panose="020B0503020204020204" pitchFamily="34" charset="-122"/>
              <a:ea typeface="微软雅黑" panose="020B0503020204020204" pitchFamily="34" charset="-122"/>
            </a:rPr>
            <a:t>用来发送检测到的差错。</a:t>
          </a:r>
        </a:p>
      </dgm:t>
    </dgm:pt>
    <dgm:pt modelId="{B01B59CE-AB7C-45B6-BB85-25E9F2F0986C}" type="parTrans" cxnId="{A5071095-2E23-467B-8A48-4DA31B7D1CBC}">
      <dgm:prSet/>
      <dgm:spPr/>
      <dgm:t>
        <a:bodyPr/>
        <a:lstStyle/>
        <a:p>
          <a:endParaRPr lang="zh-CN" altLang="en-US"/>
        </a:p>
      </dgm:t>
    </dgm:pt>
    <dgm:pt modelId="{5F4F3B54-93BA-44C1-910B-88E02224FE77}" type="sibTrans" cxnId="{A5071095-2E23-467B-8A48-4DA31B7D1CBC}">
      <dgm:prSet/>
      <dgm:spPr/>
      <dgm:t>
        <a:bodyPr/>
        <a:lstStyle/>
        <a:p>
          <a:endParaRPr lang="zh-CN" altLang="en-US"/>
        </a:p>
      </dgm:t>
    </dgm:pt>
    <dgm:pt modelId="{73E3C8DD-196A-41B0-8634-378E41DA179C}">
      <dgm:prSet phldrT="[文本]" custT="1"/>
      <dgm:spPr/>
      <dgm:t>
        <a:bodyPr/>
        <a:lstStyle/>
        <a:p>
          <a:r>
            <a:rPr lang="zh-CN" altLang="en-US" sz="1600" b="1" dirty="0">
              <a:latin typeface="微软雅黑" panose="020B0503020204020204" pitchFamily="34" charset="-122"/>
              <a:ea typeface="微软雅黑" panose="020B0503020204020204" pitchFamily="34" charset="-122"/>
            </a:rPr>
            <a:t>用来与相邻的另一个 </a:t>
          </a:r>
          <a:r>
            <a:rPr lang="en-US" altLang="en-US" sz="1600" b="1" dirty="0">
              <a:latin typeface="微软雅黑" panose="020B0503020204020204" pitchFamily="34" charset="-122"/>
              <a:ea typeface="微软雅黑" panose="020B0503020204020204" pitchFamily="34" charset="-122"/>
            </a:rPr>
            <a:t>BGP </a:t>
          </a:r>
          <a:r>
            <a:rPr lang="zh-CN" altLang="en-US" sz="1600" b="1" dirty="0">
              <a:latin typeface="微软雅黑" panose="020B0503020204020204" pitchFamily="34" charset="-122"/>
              <a:ea typeface="微软雅黑" panose="020B0503020204020204" pitchFamily="34" charset="-122"/>
            </a:rPr>
            <a:t>发言者建立关系，使通信初始化。</a:t>
          </a:r>
        </a:p>
      </dgm:t>
    </dgm:pt>
    <dgm:pt modelId="{A65DEC13-B6D3-4C5C-8367-ADF99D451E41}" type="parTrans" cxnId="{60C93B62-F014-4762-B185-B729B8FA9298}">
      <dgm:prSet/>
      <dgm:spPr/>
      <dgm:t>
        <a:bodyPr/>
        <a:lstStyle/>
        <a:p>
          <a:endParaRPr lang="zh-CN" altLang="en-US"/>
        </a:p>
      </dgm:t>
    </dgm:pt>
    <dgm:pt modelId="{FD2E8EE1-67B6-4655-9488-9F10BF117BE0}" type="sibTrans" cxnId="{60C93B62-F014-4762-B185-B729B8FA9298}">
      <dgm:prSet/>
      <dgm:spPr/>
      <dgm:t>
        <a:bodyPr/>
        <a:lstStyle/>
        <a:p>
          <a:endParaRPr lang="zh-CN" altLang="en-US"/>
        </a:p>
      </dgm:t>
    </dgm:pt>
    <dgm:pt modelId="{4346A38F-ACB7-4CAC-A555-85646B54C3BA}" type="pres">
      <dgm:prSet presAssocID="{338652AA-D05F-4CBA-BF22-CB8D2B589463}" presName="Name0" presStyleCnt="0">
        <dgm:presLayoutVars>
          <dgm:dir/>
          <dgm:animLvl val="lvl"/>
          <dgm:resizeHandles val="exact"/>
        </dgm:presLayoutVars>
      </dgm:prSet>
      <dgm:spPr/>
    </dgm:pt>
    <dgm:pt modelId="{F27C6835-3F93-4B90-AE70-D2A8719F734D}" type="pres">
      <dgm:prSet presAssocID="{0A7F2887-70DD-463D-AE3B-DFAEEDAE1255}" presName="linNode" presStyleCnt="0"/>
      <dgm:spPr/>
    </dgm:pt>
    <dgm:pt modelId="{1B29AE30-914E-4CC2-8C2A-E24A6B3E9A29}" type="pres">
      <dgm:prSet presAssocID="{0A7F2887-70DD-463D-AE3B-DFAEEDAE1255}" presName="parentText" presStyleLbl="node1" presStyleIdx="0" presStyleCnt="4">
        <dgm:presLayoutVars>
          <dgm:chMax val="1"/>
          <dgm:bulletEnabled val="1"/>
        </dgm:presLayoutVars>
      </dgm:prSet>
      <dgm:spPr/>
    </dgm:pt>
    <dgm:pt modelId="{5C077CA6-D0BE-4D67-8BEA-4CC66D6F2E65}" type="pres">
      <dgm:prSet presAssocID="{0A7F2887-70DD-463D-AE3B-DFAEEDAE1255}" presName="descendantText" presStyleLbl="alignAccFollowNode1" presStyleIdx="0" presStyleCnt="4">
        <dgm:presLayoutVars>
          <dgm:bulletEnabled val="1"/>
        </dgm:presLayoutVars>
      </dgm:prSet>
      <dgm:spPr/>
    </dgm:pt>
    <dgm:pt modelId="{E1A2F713-C1C2-4046-BF8D-CB81918BFE23}" type="pres">
      <dgm:prSet presAssocID="{108F918B-404C-41B9-87E2-C020C5B20222}" presName="sp" presStyleCnt="0"/>
      <dgm:spPr/>
    </dgm:pt>
    <dgm:pt modelId="{3EE2129A-BBFF-4AD2-9804-7BD640DD88AC}" type="pres">
      <dgm:prSet presAssocID="{CDCD8929-A180-4F37-94AF-7B80BF1461D1}" presName="linNode" presStyleCnt="0"/>
      <dgm:spPr/>
    </dgm:pt>
    <dgm:pt modelId="{460C968C-C7CC-4FCE-850E-28EE5B3C9B0D}" type="pres">
      <dgm:prSet presAssocID="{CDCD8929-A180-4F37-94AF-7B80BF1461D1}" presName="parentText" presStyleLbl="node1" presStyleIdx="1" presStyleCnt="4">
        <dgm:presLayoutVars>
          <dgm:chMax val="1"/>
          <dgm:bulletEnabled val="1"/>
        </dgm:presLayoutVars>
      </dgm:prSet>
      <dgm:spPr/>
    </dgm:pt>
    <dgm:pt modelId="{2E13E6C3-AF36-4022-AB9A-44267779FAD2}" type="pres">
      <dgm:prSet presAssocID="{CDCD8929-A180-4F37-94AF-7B80BF1461D1}" presName="descendantText" presStyleLbl="alignAccFollowNode1" presStyleIdx="1" presStyleCnt="4">
        <dgm:presLayoutVars>
          <dgm:bulletEnabled val="1"/>
        </dgm:presLayoutVars>
      </dgm:prSet>
      <dgm:spPr/>
    </dgm:pt>
    <dgm:pt modelId="{4FB1A77A-85F6-427E-B7A0-622B26DA97EE}" type="pres">
      <dgm:prSet presAssocID="{A63063BC-A081-4F23-8825-3563B34C9CDF}" presName="sp" presStyleCnt="0"/>
      <dgm:spPr/>
    </dgm:pt>
    <dgm:pt modelId="{61F216C6-DFEE-4848-B699-58542546B984}" type="pres">
      <dgm:prSet presAssocID="{1240A7FE-2896-41C2-AC7B-30D3AD01E67C}" presName="linNode" presStyleCnt="0"/>
      <dgm:spPr/>
    </dgm:pt>
    <dgm:pt modelId="{282E0709-2334-4414-85DF-C7CC78B4AB1F}" type="pres">
      <dgm:prSet presAssocID="{1240A7FE-2896-41C2-AC7B-30D3AD01E67C}" presName="parentText" presStyleLbl="node1" presStyleIdx="2" presStyleCnt="4">
        <dgm:presLayoutVars>
          <dgm:chMax val="1"/>
          <dgm:bulletEnabled val="1"/>
        </dgm:presLayoutVars>
      </dgm:prSet>
      <dgm:spPr/>
    </dgm:pt>
    <dgm:pt modelId="{E26550E8-FAB4-408A-B07E-2648999D91CD}" type="pres">
      <dgm:prSet presAssocID="{1240A7FE-2896-41C2-AC7B-30D3AD01E67C}" presName="descendantText" presStyleLbl="alignAccFollowNode1" presStyleIdx="2" presStyleCnt="4">
        <dgm:presLayoutVars>
          <dgm:bulletEnabled val="1"/>
        </dgm:presLayoutVars>
      </dgm:prSet>
      <dgm:spPr/>
    </dgm:pt>
    <dgm:pt modelId="{4303954D-CB74-49E1-A7C1-BE7671966CAF}" type="pres">
      <dgm:prSet presAssocID="{74DA2EB1-8E9C-4DE1-8BBB-CBF16C2110F8}" presName="sp" presStyleCnt="0"/>
      <dgm:spPr/>
    </dgm:pt>
    <dgm:pt modelId="{6C074EBC-1C1E-4268-BEAA-E07CF1377E9B}" type="pres">
      <dgm:prSet presAssocID="{ADAC1AA2-792F-497F-896C-7C1C8DE03383}" presName="linNode" presStyleCnt="0"/>
      <dgm:spPr/>
    </dgm:pt>
    <dgm:pt modelId="{D5A307E2-6045-43FA-B975-B6C9BEE0ABD7}" type="pres">
      <dgm:prSet presAssocID="{ADAC1AA2-792F-497F-896C-7C1C8DE03383}" presName="parentText" presStyleLbl="node1" presStyleIdx="3" presStyleCnt="4">
        <dgm:presLayoutVars>
          <dgm:chMax val="1"/>
          <dgm:bulletEnabled val="1"/>
        </dgm:presLayoutVars>
      </dgm:prSet>
      <dgm:spPr/>
    </dgm:pt>
    <dgm:pt modelId="{49534FAB-19F9-4C7E-A4BD-E37046D39C8F}" type="pres">
      <dgm:prSet presAssocID="{ADAC1AA2-792F-497F-896C-7C1C8DE03383}" presName="descendantText" presStyleLbl="alignAccFollowNode1" presStyleIdx="3" presStyleCnt="4">
        <dgm:presLayoutVars>
          <dgm:bulletEnabled val="1"/>
        </dgm:presLayoutVars>
      </dgm:prSet>
      <dgm:spPr/>
    </dgm:pt>
  </dgm:ptLst>
  <dgm:cxnLst>
    <dgm:cxn modelId="{CB692904-0F96-40BE-B03E-E94F9642D1E1}" type="presOf" srcId="{0A7F2887-70DD-463D-AE3B-DFAEEDAE1255}" destId="{1B29AE30-914E-4CC2-8C2A-E24A6B3E9A29}" srcOrd="0" destOrd="0" presId="urn:microsoft.com/office/officeart/2005/8/layout/vList5"/>
    <dgm:cxn modelId="{86B3F606-C1F6-4609-983C-823864E63FF8}" srcId="{1240A7FE-2896-41C2-AC7B-30D3AD01E67C}" destId="{3E123DC4-915F-4BDA-BC93-52729BBBAF64}" srcOrd="0" destOrd="0" parTransId="{F774013D-6E14-457F-B31A-2C1AAF181CE9}" sibTransId="{7A449CA4-162B-4989-B428-033AEF9DED3F}"/>
    <dgm:cxn modelId="{4B1AE50C-3DE5-49F2-A115-99FC77CF4FA2}" srcId="{338652AA-D05F-4CBA-BF22-CB8D2B589463}" destId="{1240A7FE-2896-41C2-AC7B-30D3AD01E67C}" srcOrd="2" destOrd="0" parTransId="{D1AA0DA8-6C1E-4893-B42F-34824CA8AB9D}" sibTransId="{74DA2EB1-8E9C-4DE1-8BBB-CBF16C2110F8}"/>
    <dgm:cxn modelId="{60C93B62-F014-4762-B185-B729B8FA9298}" srcId="{0A7F2887-70DD-463D-AE3B-DFAEEDAE1255}" destId="{73E3C8DD-196A-41B0-8634-378E41DA179C}" srcOrd="0" destOrd="0" parTransId="{A65DEC13-B6D3-4C5C-8367-ADF99D451E41}" sibTransId="{FD2E8EE1-67B6-4655-9488-9F10BF117BE0}"/>
    <dgm:cxn modelId="{CE44A66A-7B30-4926-A15A-C489BEA4B13A}" srcId="{338652AA-D05F-4CBA-BF22-CB8D2B589463}" destId="{ADAC1AA2-792F-497F-896C-7C1C8DE03383}" srcOrd="3" destOrd="0" parTransId="{4D512ECF-28CB-4E49-8215-4F8B95499654}" sibTransId="{1C11A2D5-B33A-47C3-82B8-1E6F30324564}"/>
    <dgm:cxn modelId="{0E9AA574-1842-45BC-B1CB-24D3877DD114}" type="presOf" srcId="{C388003C-A88E-4A62-8B49-66931CC1FA8A}" destId="{2E13E6C3-AF36-4022-AB9A-44267779FAD2}" srcOrd="0" destOrd="0" presId="urn:microsoft.com/office/officeart/2005/8/layout/vList5"/>
    <dgm:cxn modelId="{8C9D0781-9973-41CF-B7F8-AB4CA250B204}" srcId="{CDCD8929-A180-4F37-94AF-7B80BF1461D1}" destId="{C388003C-A88E-4A62-8B49-66931CC1FA8A}" srcOrd="0" destOrd="0" parTransId="{E65DCAFF-77CC-4F06-BFF9-7D96418A6330}" sibTransId="{6B25BD77-1FC9-42B8-82ED-643D0ECDDE8B}"/>
    <dgm:cxn modelId="{A5071095-2E23-467B-8A48-4DA31B7D1CBC}" srcId="{ADAC1AA2-792F-497F-896C-7C1C8DE03383}" destId="{5B67117D-46B6-4307-8646-19D7576F99B9}" srcOrd="0" destOrd="0" parTransId="{B01B59CE-AB7C-45B6-BB85-25E9F2F0986C}" sibTransId="{5F4F3B54-93BA-44C1-910B-88E02224FE77}"/>
    <dgm:cxn modelId="{4CD7EE98-521B-487B-ACE5-DB828638DD0C}" type="presOf" srcId="{1240A7FE-2896-41C2-AC7B-30D3AD01E67C}" destId="{282E0709-2334-4414-85DF-C7CC78B4AB1F}" srcOrd="0" destOrd="0" presId="urn:microsoft.com/office/officeart/2005/8/layout/vList5"/>
    <dgm:cxn modelId="{4666229F-BF2F-49E0-A0B4-5376892A0DB5}" type="presOf" srcId="{338652AA-D05F-4CBA-BF22-CB8D2B589463}" destId="{4346A38F-ACB7-4CAC-A555-85646B54C3BA}" srcOrd="0" destOrd="0" presId="urn:microsoft.com/office/officeart/2005/8/layout/vList5"/>
    <dgm:cxn modelId="{7A6B2BAB-FADD-4256-B8ED-CD0D58FA2504}" type="presOf" srcId="{5B67117D-46B6-4307-8646-19D7576F99B9}" destId="{49534FAB-19F9-4C7E-A4BD-E37046D39C8F}" srcOrd="0" destOrd="0" presId="urn:microsoft.com/office/officeart/2005/8/layout/vList5"/>
    <dgm:cxn modelId="{C227D7B6-D1EE-48A5-B03F-26401CC5365A}" srcId="{338652AA-D05F-4CBA-BF22-CB8D2B589463}" destId="{CDCD8929-A180-4F37-94AF-7B80BF1461D1}" srcOrd="1" destOrd="0" parTransId="{EE19A3E0-97FF-4B1C-B0C1-5E4ABC700DE2}" sibTransId="{A63063BC-A081-4F23-8825-3563B34C9CDF}"/>
    <dgm:cxn modelId="{EB18ACD5-3ED2-49C2-B2C2-50B96BE6457E}" type="presOf" srcId="{3E123DC4-915F-4BDA-BC93-52729BBBAF64}" destId="{E26550E8-FAB4-408A-B07E-2648999D91CD}" srcOrd="0" destOrd="0" presId="urn:microsoft.com/office/officeart/2005/8/layout/vList5"/>
    <dgm:cxn modelId="{62D969E6-6876-46C7-92D4-B23D7085B929}" type="presOf" srcId="{CDCD8929-A180-4F37-94AF-7B80BF1461D1}" destId="{460C968C-C7CC-4FCE-850E-28EE5B3C9B0D}" srcOrd="0" destOrd="0" presId="urn:microsoft.com/office/officeart/2005/8/layout/vList5"/>
    <dgm:cxn modelId="{5206DCEF-F3F5-4832-9A6C-7A74FE6D8F0E}" srcId="{338652AA-D05F-4CBA-BF22-CB8D2B589463}" destId="{0A7F2887-70DD-463D-AE3B-DFAEEDAE1255}" srcOrd="0" destOrd="0" parTransId="{82482532-5DB4-498B-8F2E-C83AB1724378}" sibTransId="{108F918B-404C-41B9-87E2-C020C5B20222}"/>
    <dgm:cxn modelId="{E69EA6F7-370E-4624-8E6A-872CF8D6B4D8}" type="presOf" srcId="{ADAC1AA2-792F-497F-896C-7C1C8DE03383}" destId="{D5A307E2-6045-43FA-B975-B6C9BEE0ABD7}" srcOrd="0" destOrd="0" presId="urn:microsoft.com/office/officeart/2005/8/layout/vList5"/>
    <dgm:cxn modelId="{69A252F8-660E-4860-A3E8-45C9CC3CFF03}" type="presOf" srcId="{73E3C8DD-196A-41B0-8634-378E41DA179C}" destId="{5C077CA6-D0BE-4D67-8BEA-4CC66D6F2E65}" srcOrd="0" destOrd="0" presId="urn:microsoft.com/office/officeart/2005/8/layout/vList5"/>
    <dgm:cxn modelId="{548CD881-5736-4F63-97CC-180F67A360C3}" type="presParOf" srcId="{4346A38F-ACB7-4CAC-A555-85646B54C3BA}" destId="{F27C6835-3F93-4B90-AE70-D2A8719F734D}" srcOrd="0" destOrd="0" presId="urn:microsoft.com/office/officeart/2005/8/layout/vList5"/>
    <dgm:cxn modelId="{EB1423B9-CAF8-48BC-A55B-64F77841762E}" type="presParOf" srcId="{F27C6835-3F93-4B90-AE70-D2A8719F734D}" destId="{1B29AE30-914E-4CC2-8C2A-E24A6B3E9A29}" srcOrd="0" destOrd="0" presId="urn:microsoft.com/office/officeart/2005/8/layout/vList5"/>
    <dgm:cxn modelId="{D5EED420-9F6D-456E-BC59-E9F25D29A400}" type="presParOf" srcId="{F27C6835-3F93-4B90-AE70-D2A8719F734D}" destId="{5C077CA6-D0BE-4D67-8BEA-4CC66D6F2E65}" srcOrd="1" destOrd="0" presId="urn:microsoft.com/office/officeart/2005/8/layout/vList5"/>
    <dgm:cxn modelId="{02EA09E5-59A8-468A-8CB5-931DF7D0F632}" type="presParOf" srcId="{4346A38F-ACB7-4CAC-A555-85646B54C3BA}" destId="{E1A2F713-C1C2-4046-BF8D-CB81918BFE23}" srcOrd="1" destOrd="0" presId="urn:microsoft.com/office/officeart/2005/8/layout/vList5"/>
    <dgm:cxn modelId="{38922AA4-C0E8-4070-910A-661769CE80AE}" type="presParOf" srcId="{4346A38F-ACB7-4CAC-A555-85646B54C3BA}" destId="{3EE2129A-BBFF-4AD2-9804-7BD640DD88AC}" srcOrd="2" destOrd="0" presId="urn:microsoft.com/office/officeart/2005/8/layout/vList5"/>
    <dgm:cxn modelId="{0C4EDAA0-21D3-4EA5-89E5-53F5261503F4}" type="presParOf" srcId="{3EE2129A-BBFF-4AD2-9804-7BD640DD88AC}" destId="{460C968C-C7CC-4FCE-850E-28EE5B3C9B0D}" srcOrd="0" destOrd="0" presId="urn:microsoft.com/office/officeart/2005/8/layout/vList5"/>
    <dgm:cxn modelId="{C9C942D6-81A4-422D-8120-149F167ED7C3}" type="presParOf" srcId="{3EE2129A-BBFF-4AD2-9804-7BD640DD88AC}" destId="{2E13E6C3-AF36-4022-AB9A-44267779FAD2}" srcOrd="1" destOrd="0" presId="urn:microsoft.com/office/officeart/2005/8/layout/vList5"/>
    <dgm:cxn modelId="{172A356B-7D55-4D6C-B2DA-6AEA4C67F561}" type="presParOf" srcId="{4346A38F-ACB7-4CAC-A555-85646B54C3BA}" destId="{4FB1A77A-85F6-427E-B7A0-622B26DA97EE}" srcOrd="3" destOrd="0" presId="urn:microsoft.com/office/officeart/2005/8/layout/vList5"/>
    <dgm:cxn modelId="{8044EA82-8AC3-4DA1-8F5F-EBCBE3E5DA45}" type="presParOf" srcId="{4346A38F-ACB7-4CAC-A555-85646B54C3BA}" destId="{61F216C6-DFEE-4848-B699-58542546B984}" srcOrd="4" destOrd="0" presId="urn:microsoft.com/office/officeart/2005/8/layout/vList5"/>
    <dgm:cxn modelId="{AA72E5B7-ABB9-44F7-AE09-325DB764E9C4}" type="presParOf" srcId="{61F216C6-DFEE-4848-B699-58542546B984}" destId="{282E0709-2334-4414-85DF-C7CC78B4AB1F}" srcOrd="0" destOrd="0" presId="urn:microsoft.com/office/officeart/2005/8/layout/vList5"/>
    <dgm:cxn modelId="{52B4EC2F-1B61-43DA-A0ED-8DE4606A3C56}" type="presParOf" srcId="{61F216C6-DFEE-4848-B699-58542546B984}" destId="{E26550E8-FAB4-408A-B07E-2648999D91CD}" srcOrd="1" destOrd="0" presId="urn:microsoft.com/office/officeart/2005/8/layout/vList5"/>
    <dgm:cxn modelId="{CFC74E90-B29C-41BC-B8B8-80F87E9CE0F3}" type="presParOf" srcId="{4346A38F-ACB7-4CAC-A555-85646B54C3BA}" destId="{4303954D-CB74-49E1-A7C1-BE7671966CAF}" srcOrd="5" destOrd="0" presId="urn:microsoft.com/office/officeart/2005/8/layout/vList5"/>
    <dgm:cxn modelId="{5C41BE3A-4351-4B49-B88D-72AA9EA6EC56}" type="presParOf" srcId="{4346A38F-ACB7-4CAC-A555-85646B54C3BA}" destId="{6C074EBC-1C1E-4268-BEAA-E07CF1377E9B}" srcOrd="6" destOrd="0" presId="urn:microsoft.com/office/officeart/2005/8/layout/vList5"/>
    <dgm:cxn modelId="{9CC4A486-05F0-4010-AA37-C641D75B2366}" type="presParOf" srcId="{6C074EBC-1C1E-4268-BEAA-E07CF1377E9B}" destId="{D5A307E2-6045-43FA-B975-B6C9BEE0ABD7}" srcOrd="0" destOrd="0" presId="urn:microsoft.com/office/officeart/2005/8/layout/vList5"/>
    <dgm:cxn modelId="{BFE4E23E-7AD7-4140-A8B5-FA5793EA74D3}" type="presParOf" srcId="{6C074EBC-1C1E-4268-BEAA-E07CF1377E9B}" destId="{49534FAB-19F9-4C7E-A4BD-E37046D39C8F}" srcOrd="1" destOrd="0" presId="urn:microsoft.com/office/officeart/2005/8/layout/vList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1.xml><?xml version="1.0" encoding="utf-8"?>
<dgm:dataModel xmlns:dgm="http://schemas.openxmlformats.org/drawingml/2006/diagram" xmlns:a="http://schemas.openxmlformats.org/drawingml/2006/main">
  <dgm:ptLst>
    <dgm:pt modelId="{BC21050E-147F-489A-A7FD-460FB797C877}" type="doc">
      <dgm:prSet loTypeId="urn:microsoft.com/office/officeart/2005/8/layout/vList3#1" loCatId="list" qsTypeId="urn:microsoft.com/office/officeart/2005/8/quickstyle/simple1" qsCatId="simple" csTypeId="urn:microsoft.com/office/officeart/2005/8/colors/colorful1#8" csCatId="colorful" phldr="1"/>
      <dgm:spPr/>
    </dgm:pt>
    <dgm:pt modelId="{72123855-C7C2-4715-833A-643B0141CF2B}">
      <dgm:prSet phldrT="[文本]" custT="1"/>
      <dgm:spPr/>
      <dgm:t>
        <a:bodyPr/>
        <a:lstStyle/>
        <a:p>
          <a:pPr algn="l"/>
          <a:r>
            <a:rPr lang="zh-CN" altLang="en-US" sz="1800" b="1" dirty="0">
              <a:latin typeface="微软雅黑" panose="020B0503020204020204" pitchFamily="34" charset="-122"/>
              <a:ea typeface="微软雅黑" panose="020B0503020204020204" pitchFamily="34" charset="-122"/>
            </a:rPr>
            <a:t>划分 </a:t>
          </a:r>
          <a:r>
            <a:rPr lang="en-US" altLang="en-US" sz="1800" b="1" dirty="0">
              <a:latin typeface="微软雅黑" panose="020B0503020204020204" pitchFamily="34" charset="-122"/>
              <a:ea typeface="微软雅黑" panose="020B0503020204020204" pitchFamily="34" charset="-122"/>
            </a:rPr>
            <a:t>FEC </a:t>
          </a:r>
          <a:r>
            <a:rPr lang="zh-CN" altLang="en-US" sz="1800" b="1" dirty="0">
              <a:latin typeface="微软雅黑" panose="020B0503020204020204" pitchFamily="34" charset="-122"/>
              <a:ea typeface="微软雅黑" panose="020B0503020204020204" pitchFamily="34" charset="-122"/>
            </a:rPr>
            <a:t>的方法不受限制，由网络管理员来控制。</a:t>
          </a:r>
        </a:p>
      </dgm:t>
    </dgm:pt>
    <dgm:pt modelId="{EFB12E30-3EA0-4797-A33C-A5797E53E130}" type="parTrans" cxnId="{1F3ACD60-0149-4B8F-A90C-BDDB34630995}">
      <dgm:prSet/>
      <dgm:spPr/>
      <dgm:t>
        <a:bodyPr/>
        <a:lstStyle/>
        <a:p>
          <a:pPr algn="l"/>
          <a:endParaRPr lang="zh-CN" altLang="en-US" sz="1800" b="1">
            <a:latin typeface="微软雅黑" panose="020B0503020204020204" pitchFamily="34" charset="-122"/>
            <a:ea typeface="微软雅黑" panose="020B0503020204020204" pitchFamily="34" charset="-122"/>
          </a:endParaRPr>
        </a:p>
      </dgm:t>
    </dgm:pt>
    <dgm:pt modelId="{4EAAC225-00D2-467F-90A9-343FAE4B171E}" type="sibTrans" cxnId="{1F3ACD60-0149-4B8F-A90C-BDDB34630995}">
      <dgm:prSet/>
      <dgm:spPr/>
      <dgm:t>
        <a:bodyPr/>
        <a:lstStyle/>
        <a:p>
          <a:pPr algn="l"/>
          <a:endParaRPr lang="zh-CN" altLang="en-US" sz="1800" b="1">
            <a:latin typeface="微软雅黑" panose="020B0503020204020204" pitchFamily="34" charset="-122"/>
            <a:ea typeface="微软雅黑" panose="020B0503020204020204" pitchFamily="34" charset="-122"/>
          </a:endParaRPr>
        </a:p>
      </dgm:t>
    </dgm:pt>
    <dgm:pt modelId="{59A4C5F6-314A-4936-ADC5-2168787225BA}">
      <dgm:prSet phldrT="[文本]" custT="1"/>
      <dgm:spPr/>
      <dgm:t>
        <a:bodyPr/>
        <a:lstStyle/>
        <a:p>
          <a:pPr algn="l"/>
          <a:r>
            <a:rPr lang="zh-CN" altLang="en-US" sz="1800" b="1" dirty="0">
              <a:latin typeface="微软雅黑" panose="020B0503020204020204" pitchFamily="34" charset="-122"/>
              <a:ea typeface="微软雅黑" panose="020B0503020204020204" pitchFamily="34" charset="-122"/>
            </a:rPr>
            <a:t>入口节点并不是给每一个 </a:t>
          </a:r>
          <a:r>
            <a:rPr lang="en-US" altLang="en-US" sz="1800" b="1" dirty="0">
              <a:latin typeface="微软雅黑" panose="020B0503020204020204" pitchFamily="34" charset="-122"/>
              <a:ea typeface="微软雅黑" panose="020B0503020204020204" pitchFamily="34" charset="-122"/>
            </a:rPr>
            <a:t>IP </a:t>
          </a:r>
          <a:r>
            <a:rPr lang="zh-CN" altLang="en-US" sz="1800" b="1" dirty="0">
              <a:latin typeface="微软雅黑" panose="020B0503020204020204" pitchFamily="34" charset="-122"/>
              <a:ea typeface="微软雅黑" panose="020B0503020204020204" pitchFamily="34" charset="-122"/>
            </a:rPr>
            <a:t>数据报指派一个不同的标签，而是将属于同样 </a:t>
          </a:r>
          <a:r>
            <a:rPr lang="en-US" altLang="en-US" sz="1800" b="1" dirty="0">
              <a:latin typeface="微软雅黑" panose="020B0503020204020204" pitchFamily="34" charset="-122"/>
              <a:ea typeface="微软雅黑" panose="020B0503020204020204" pitchFamily="34" charset="-122"/>
            </a:rPr>
            <a:t>FEC </a:t>
          </a:r>
          <a:r>
            <a:rPr lang="zh-CN" altLang="en-US" sz="1800" b="1" dirty="0">
              <a:latin typeface="微软雅黑" panose="020B0503020204020204" pitchFamily="34" charset="-122"/>
              <a:ea typeface="微软雅黑" panose="020B0503020204020204" pitchFamily="34" charset="-122"/>
            </a:rPr>
            <a:t>的 </a:t>
          </a:r>
          <a:r>
            <a:rPr lang="en-US" altLang="en-US" sz="1800" b="1" dirty="0">
              <a:latin typeface="微软雅黑" panose="020B0503020204020204" pitchFamily="34" charset="-122"/>
              <a:ea typeface="微软雅黑" panose="020B0503020204020204" pitchFamily="34" charset="-122"/>
            </a:rPr>
            <a:t>IP </a:t>
          </a:r>
          <a:r>
            <a:rPr lang="zh-CN" altLang="en-US" sz="1800" b="1" dirty="0">
              <a:latin typeface="微软雅黑" panose="020B0503020204020204" pitchFamily="34" charset="-122"/>
              <a:ea typeface="微软雅黑" panose="020B0503020204020204" pitchFamily="34" charset="-122"/>
            </a:rPr>
            <a:t>数据报都指派同样的标签。</a:t>
          </a:r>
        </a:p>
      </dgm:t>
    </dgm:pt>
    <dgm:pt modelId="{617A193A-8D76-4CFD-94A5-95F09FA1A387}" type="parTrans" cxnId="{DB6ADD2E-4175-41EA-9F19-1420DDC4FE24}">
      <dgm:prSet/>
      <dgm:spPr/>
      <dgm:t>
        <a:bodyPr/>
        <a:lstStyle/>
        <a:p>
          <a:pPr algn="l"/>
          <a:endParaRPr lang="zh-CN" altLang="en-US" sz="1800" b="1">
            <a:latin typeface="微软雅黑" panose="020B0503020204020204" pitchFamily="34" charset="-122"/>
            <a:ea typeface="微软雅黑" panose="020B0503020204020204" pitchFamily="34" charset="-122"/>
          </a:endParaRPr>
        </a:p>
      </dgm:t>
    </dgm:pt>
    <dgm:pt modelId="{3459D600-7DE3-44AF-8ED5-5B9FAB851A17}" type="sibTrans" cxnId="{DB6ADD2E-4175-41EA-9F19-1420DDC4FE24}">
      <dgm:prSet/>
      <dgm:spPr/>
      <dgm:t>
        <a:bodyPr/>
        <a:lstStyle/>
        <a:p>
          <a:pPr algn="l"/>
          <a:endParaRPr lang="zh-CN" altLang="en-US" sz="1800" b="1">
            <a:latin typeface="微软雅黑" panose="020B0503020204020204" pitchFamily="34" charset="-122"/>
            <a:ea typeface="微软雅黑" panose="020B0503020204020204" pitchFamily="34" charset="-122"/>
          </a:endParaRPr>
        </a:p>
      </dgm:t>
    </dgm:pt>
    <dgm:pt modelId="{6F41222E-4FA5-4BEB-A9EB-D1EE924C0B5A}">
      <dgm:prSet phldrT="[文本]" custT="1"/>
      <dgm:spPr/>
      <dgm:t>
        <a:bodyPr/>
        <a:lstStyle/>
        <a:p>
          <a:pPr algn="l"/>
          <a:r>
            <a:rPr lang="en-US" altLang="en-US" sz="1800" b="1" dirty="0">
              <a:latin typeface="微软雅黑" panose="020B0503020204020204" pitchFamily="34" charset="-122"/>
              <a:ea typeface="微软雅黑" panose="020B0503020204020204" pitchFamily="34" charset="-122"/>
            </a:rPr>
            <a:t>FEC </a:t>
          </a:r>
          <a:r>
            <a:rPr lang="zh-CN" altLang="en-US" sz="1800" b="1" dirty="0">
              <a:latin typeface="微软雅黑" panose="020B0503020204020204" pitchFamily="34" charset="-122"/>
              <a:ea typeface="微软雅黑" panose="020B0503020204020204" pitchFamily="34" charset="-122"/>
            </a:rPr>
            <a:t>和标签是一一对应的关系。</a:t>
          </a:r>
        </a:p>
      </dgm:t>
    </dgm:pt>
    <dgm:pt modelId="{C8352C99-6380-401A-B47B-173B5614AA1A}" type="parTrans" cxnId="{F4FB8D51-2C66-4983-A5AC-FDAF2399B53E}">
      <dgm:prSet/>
      <dgm:spPr/>
      <dgm:t>
        <a:bodyPr/>
        <a:lstStyle/>
        <a:p>
          <a:pPr algn="l"/>
          <a:endParaRPr lang="zh-CN" altLang="en-US"/>
        </a:p>
      </dgm:t>
    </dgm:pt>
    <dgm:pt modelId="{A1182F91-69BE-44CA-B9BC-8D9EEF59921F}" type="sibTrans" cxnId="{F4FB8D51-2C66-4983-A5AC-FDAF2399B53E}">
      <dgm:prSet/>
      <dgm:spPr/>
      <dgm:t>
        <a:bodyPr/>
        <a:lstStyle/>
        <a:p>
          <a:pPr algn="l"/>
          <a:endParaRPr lang="zh-CN" altLang="en-US"/>
        </a:p>
      </dgm:t>
    </dgm:pt>
    <dgm:pt modelId="{E52050CE-66B8-4300-ACB0-BB50B3E00040}" type="pres">
      <dgm:prSet presAssocID="{BC21050E-147F-489A-A7FD-460FB797C877}" presName="linearFlow" presStyleCnt="0">
        <dgm:presLayoutVars>
          <dgm:dir/>
          <dgm:resizeHandles val="exact"/>
        </dgm:presLayoutVars>
      </dgm:prSet>
      <dgm:spPr/>
    </dgm:pt>
    <dgm:pt modelId="{DDBE1894-9F24-459B-B087-5C7187620755}" type="pres">
      <dgm:prSet presAssocID="{72123855-C7C2-4715-833A-643B0141CF2B}" presName="composite" presStyleCnt="0"/>
      <dgm:spPr/>
    </dgm:pt>
    <dgm:pt modelId="{F63A45BE-87F8-4243-8A28-A9B96E270ED4}" type="pres">
      <dgm:prSet presAssocID="{72123855-C7C2-4715-833A-643B0141CF2B}" presName="imgShp" presStyleLbl="fgImgPlace1" presStyleIdx="0" presStyleCnt="3"/>
      <dgm:spPr/>
    </dgm:pt>
    <dgm:pt modelId="{46CEFA23-1767-4D57-91F8-8F65E8ACFD37}" type="pres">
      <dgm:prSet presAssocID="{72123855-C7C2-4715-833A-643B0141CF2B}" presName="txShp" presStyleLbl="node1" presStyleIdx="0" presStyleCnt="3">
        <dgm:presLayoutVars>
          <dgm:bulletEnabled val="1"/>
        </dgm:presLayoutVars>
      </dgm:prSet>
      <dgm:spPr/>
    </dgm:pt>
    <dgm:pt modelId="{C318E8D0-7087-4263-8D76-3FA664047E00}" type="pres">
      <dgm:prSet presAssocID="{4EAAC225-00D2-467F-90A9-343FAE4B171E}" presName="spacing" presStyleCnt="0"/>
      <dgm:spPr/>
    </dgm:pt>
    <dgm:pt modelId="{2FC35DD1-E357-457C-8C57-992751F026A0}" type="pres">
      <dgm:prSet presAssocID="{59A4C5F6-314A-4936-ADC5-2168787225BA}" presName="composite" presStyleCnt="0"/>
      <dgm:spPr/>
    </dgm:pt>
    <dgm:pt modelId="{FCC1DF99-0F26-4341-896E-169B093FC04C}" type="pres">
      <dgm:prSet presAssocID="{59A4C5F6-314A-4936-ADC5-2168787225BA}" presName="imgShp" presStyleLbl="fgImgPlace1" presStyleIdx="1" presStyleCnt="3"/>
      <dgm:spPr/>
    </dgm:pt>
    <dgm:pt modelId="{88C0456F-D6DF-4746-9CD6-A09A4CCC1C0D}" type="pres">
      <dgm:prSet presAssocID="{59A4C5F6-314A-4936-ADC5-2168787225BA}" presName="txShp" presStyleLbl="node1" presStyleIdx="1" presStyleCnt="3">
        <dgm:presLayoutVars>
          <dgm:bulletEnabled val="1"/>
        </dgm:presLayoutVars>
      </dgm:prSet>
      <dgm:spPr/>
    </dgm:pt>
    <dgm:pt modelId="{5489DDAE-D3FF-4105-BFE3-6F3E93B2F5B1}" type="pres">
      <dgm:prSet presAssocID="{3459D600-7DE3-44AF-8ED5-5B9FAB851A17}" presName="spacing" presStyleCnt="0"/>
      <dgm:spPr/>
    </dgm:pt>
    <dgm:pt modelId="{E6CD1C43-A5BA-4EA1-AE6E-81A125F735B7}" type="pres">
      <dgm:prSet presAssocID="{6F41222E-4FA5-4BEB-A9EB-D1EE924C0B5A}" presName="composite" presStyleCnt="0"/>
      <dgm:spPr/>
    </dgm:pt>
    <dgm:pt modelId="{6B868C05-F9BC-41B1-B7D8-606E2302DF2B}" type="pres">
      <dgm:prSet presAssocID="{6F41222E-4FA5-4BEB-A9EB-D1EE924C0B5A}" presName="imgShp" presStyleLbl="fgImgPlace1" presStyleIdx="2" presStyleCnt="3"/>
      <dgm:spPr/>
    </dgm:pt>
    <dgm:pt modelId="{7B8D19E8-A42A-42E7-B42A-280A0B9EB13B}" type="pres">
      <dgm:prSet presAssocID="{6F41222E-4FA5-4BEB-A9EB-D1EE924C0B5A}" presName="txShp" presStyleLbl="node1" presStyleIdx="2" presStyleCnt="3">
        <dgm:presLayoutVars>
          <dgm:bulletEnabled val="1"/>
        </dgm:presLayoutVars>
      </dgm:prSet>
      <dgm:spPr/>
    </dgm:pt>
  </dgm:ptLst>
  <dgm:cxnLst>
    <dgm:cxn modelId="{DB6ADD2E-4175-41EA-9F19-1420DDC4FE24}" srcId="{BC21050E-147F-489A-A7FD-460FB797C877}" destId="{59A4C5F6-314A-4936-ADC5-2168787225BA}" srcOrd="1" destOrd="0" parTransId="{617A193A-8D76-4CFD-94A5-95F09FA1A387}" sibTransId="{3459D600-7DE3-44AF-8ED5-5B9FAB851A17}"/>
    <dgm:cxn modelId="{1F3ACD60-0149-4B8F-A90C-BDDB34630995}" srcId="{BC21050E-147F-489A-A7FD-460FB797C877}" destId="{72123855-C7C2-4715-833A-643B0141CF2B}" srcOrd="0" destOrd="0" parTransId="{EFB12E30-3EA0-4797-A33C-A5797E53E130}" sibTransId="{4EAAC225-00D2-467F-90A9-343FAE4B171E}"/>
    <dgm:cxn modelId="{2A72386F-7C02-4735-850B-9F5F6E8C39E4}" type="presOf" srcId="{6F41222E-4FA5-4BEB-A9EB-D1EE924C0B5A}" destId="{7B8D19E8-A42A-42E7-B42A-280A0B9EB13B}" srcOrd="0" destOrd="0" presId="urn:microsoft.com/office/officeart/2005/8/layout/vList3#1"/>
    <dgm:cxn modelId="{F4FB8D51-2C66-4983-A5AC-FDAF2399B53E}" srcId="{BC21050E-147F-489A-A7FD-460FB797C877}" destId="{6F41222E-4FA5-4BEB-A9EB-D1EE924C0B5A}" srcOrd="2" destOrd="0" parTransId="{C8352C99-6380-401A-B47B-173B5614AA1A}" sibTransId="{A1182F91-69BE-44CA-B9BC-8D9EEF59921F}"/>
    <dgm:cxn modelId="{AB83A0D0-03B3-42E5-B86A-E8480837EF1E}" type="presOf" srcId="{BC21050E-147F-489A-A7FD-460FB797C877}" destId="{E52050CE-66B8-4300-ACB0-BB50B3E00040}" srcOrd="0" destOrd="0" presId="urn:microsoft.com/office/officeart/2005/8/layout/vList3#1"/>
    <dgm:cxn modelId="{3E2AAAE9-7A13-4C1F-B2E0-E516B13D67EF}" type="presOf" srcId="{72123855-C7C2-4715-833A-643B0141CF2B}" destId="{46CEFA23-1767-4D57-91F8-8F65E8ACFD37}" srcOrd="0" destOrd="0" presId="urn:microsoft.com/office/officeart/2005/8/layout/vList3#1"/>
    <dgm:cxn modelId="{E6B9DDFA-EC6E-4F1B-9579-C70C0741CBC7}" type="presOf" srcId="{59A4C5F6-314A-4936-ADC5-2168787225BA}" destId="{88C0456F-D6DF-4746-9CD6-A09A4CCC1C0D}" srcOrd="0" destOrd="0" presId="urn:microsoft.com/office/officeart/2005/8/layout/vList3#1"/>
    <dgm:cxn modelId="{C203B13B-5178-4505-BE6D-1A9D375A9E74}" type="presParOf" srcId="{E52050CE-66B8-4300-ACB0-BB50B3E00040}" destId="{DDBE1894-9F24-459B-B087-5C7187620755}" srcOrd="0" destOrd="0" presId="urn:microsoft.com/office/officeart/2005/8/layout/vList3#1"/>
    <dgm:cxn modelId="{C1E91C9E-8ABD-45CF-ADB3-5653F728FAA5}" type="presParOf" srcId="{DDBE1894-9F24-459B-B087-5C7187620755}" destId="{F63A45BE-87F8-4243-8A28-A9B96E270ED4}" srcOrd="0" destOrd="0" presId="urn:microsoft.com/office/officeart/2005/8/layout/vList3#1"/>
    <dgm:cxn modelId="{B75F0A94-501E-46A2-ABB8-24FF15E75920}" type="presParOf" srcId="{DDBE1894-9F24-459B-B087-5C7187620755}" destId="{46CEFA23-1767-4D57-91F8-8F65E8ACFD37}" srcOrd="1" destOrd="0" presId="urn:microsoft.com/office/officeart/2005/8/layout/vList3#1"/>
    <dgm:cxn modelId="{E3051684-0B7C-4745-AC6A-095AAF4327E5}" type="presParOf" srcId="{E52050CE-66B8-4300-ACB0-BB50B3E00040}" destId="{C318E8D0-7087-4263-8D76-3FA664047E00}" srcOrd="1" destOrd="0" presId="urn:microsoft.com/office/officeart/2005/8/layout/vList3#1"/>
    <dgm:cxn modelId="{E25278FD-732D-4B2F-AF3E-1DE6122C96F1}" type="presParOf" srcId="{E52050CE-66B8-4300-ACB0-BB50B3E00040}" destId="{2FC35DD1-E357-457C-8C57-992751F026A0}" srcOrd="2" destOrd="0" presId="urn:microsoft.com/office/officeart/2005/8/layout/vList3#1"/>
    <dgm:cxn modelId="{B329EAC2-ECC3-406F-BE56-92A12EC808F1}" type="presParOf" srcId="{2FC35DD1-E357-457C-8C57-992751F026A0}" destId="{FCC1DF99-0F26-4341-896E-169B093FC04C}" srcOrd="0" destOrd="0" presId="urn:microsoft.com/office/officeart/2005/8/layout/vList3#1"/>
    <dgm:cxn modelId="{2AB4170D-0E4D-4D54-9DD5-04663508FF29}" type="presParOf" srcId="{2FC35DD1-E357-457C-8C57-992751F026A0}" destId="{88C0456F-D6DF-4746-9CD6-A09A4CCC1C0D}" srcOrd="1" destOrd="0" presId="urn:microsoft.com/office/officeart/2005/8/layout/vList3#1"/>
    <dgm:cxn modelId="{4C428128-76DD-4219-A5FB-9B908ED0180B}" type="presParOf" srcId="{E52050CE-66B8-4300-ACB0-BB50B3E00040}" destId="{5489DDAE-D3FF-4105-BFE3-6F3E93B2F5B1}" srcOrd="3" destOrd="0" presId="urn:microsoft.com/office/officeart/2005/8/layout/vList3#1"/>
    <dgm:cxn modelId="{0C96A5DD-6414-485C-B326-E5278700AE57}" type="presParOf" srcId="{E52050CE-66B8-4300-ACB0-BB50B3E00040}" destId="{E6CD1C43-A5BA-4EA1-AE6E-81A125F735B7}" srcOrd="4" destOrd="0" presId="urn:microsoft.com/office/officeart/2005/8/layout/vList3#1"/>
    <dgm:cxn modelId="{4E58E781-7248-4BD6-B0EE-A3E9D8646EAB}" type="presParOf" srcId="{E6CD1C43-A5BA-4EA1-AE6E-81A125F735B7}" destId="{6B868C05-F9BC-41B1-B7D8-606E2302DF2B}" srcOrd="0" destOrd="0" presId="urn:microsoft.com/office/officeart/2005/8/layout/vList3#1"/>
    <dgm:cxn modelId="{5A1F4C69-B884-44E0-94D1-29333AEA80A5}" type="presParOf" srcId="{E6CD1C43-A5BA-4EA1-AE6E-81A125F735B7}" destId="{7B8D19E8-A42A-42E7-B42A-280A0B9EB13B}" srcOrd="1" destOrd="0" presId="urn:microsoft.com/office/officeart/2005/8/layout/vList3#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2.xml><?xml version="1.0" encoding="utf-8"?>
<dgm:dataModel xmlns:dgm="http://schemas.openxmlformats.org/drawingml/2006/diagram" xmlns:a="http://schemas.openxmlformats.org/drawingml/2006/main">
  <dgm:ptLst>
    <dgm:pt modelId="{507CF620-754C-42AA-B6D7-6E532B46496D}" type="doc">
      <dgm:prSet loTypeId="urn:microsoft.com/office/officeart/2005/8/layout/list1" loCatId="list" qsTypeId="urn:microsoft.com/office/officeart/2005/8/quickstyle/simple1" qsCatId="simple" csTypeId="urn:microsoft.com/office/officeart/2005/8/colors/colorful1#9" csCatId="colorful" phldr="1"/>
      <dgm:spPr/>
      <dgm:t>
        <a:bodyPr/>
        <a:lstStyle/>
        <a:p>
          <a:endParaRPr lang="zh-CN" altLang="en-US"/>
        </a:p>
      </dgm:t>
    </dgm:pt>
    <dgm:pt modelId="{E2D531EB-AB54-494E-9C1E-4C30D2113C22}">
      <dgm:prSet phldrT="[文本]" custT="1"/>
      <dgm:spPr/>
      <dgm:t>
        <a:bodyPr/>
        <a:lstStyle/>
        <a:p>
          <a:r>
            <a:rPr lang="en-US" altLang="en-US" sz="1800" b="1" dirty="0">
              <a:solidFill>
                <a:schemeClr val="bg1"/>
              </a:solidFill>
              <a:latin typeface="微软雅黑" panose="020B0503020204020204" pitchFamily="34" charset="-122"/>
              <a:ea typeface="微软雅黑" panose="020B0503020204020204" pitchFamily="34" charset="-122"/>
            </a:rPr>
            <a:t>SDN</a:t>
          </a:r>
          <a:endParaRPr lang="zh-CN" altLang="en-US" sz="1800" b="1" dirty="0">
            <a:solidFill>
              <a:schemeClr val="bg1"/>
            </a:solidFill>
            <a:latin typeface="微软雅黑" panose="020B0503020204020204" pitchFamily="34" charset="-122"/>
            <a:ea typeface="微软雅黑" panose="020B0503020204020204" pitchFamily="34" charset="-122"/>
          </a:endParaRPr>
        </a:p>
      </dgm:t>
    </dgm:pt>
    <dgm:pt modelId="{BE246D6D-5FC4-4574-ADA4-F9DF70A01C22}" type="parTrans" cxnId="{3D990FE7-B784-4266-9459-DD4F755F3900}">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56EA74CD-3BAB-4DA8-B288-8D367F33563E}" type="sibTrans" cxnId="{3D990FE7-B784-4266-9459-DD4F755F3900}">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BCEA250F-A938-4832-8A35-1F6531FC8D25}">
      <dgm:prSet phldrT="[文本]" custT="1"/>
      <dgm:spPr/>
      <dgm:t>
        <a:bodyPr/>
        <a:lstStyle/>
        <a:p>
          <a:pPr>
            <a:spcAft>
              <a:spcPts val="0"/>
            </a:spcAft>
          </a:pPr>
          <a:r>
            <a:rPr lang="zh-CN" altLang="en-US" sz="1400" b="1" dirty="0">
              <a:latin typeface="微软雅黑" panose="020B0503020204020204" pitchFamily="34" charset="-122"/>
              <a:ea typeface="微软雅黑" panose="020B0503020204020204" pitchFamily="34" charset="-122"/>
            </a:rPr>
            <a:t>是一个</a:t>
          </a:r>
          <a:r>
            <a:rPr lang="zh-CN" altLang="en-US" sz="1400" b="1" dirty="0">
              <a:solidFill>
                <a:srgbClr val="C00000"/>
              </a:solidFill>
              <a:latin typeface="微软雅黑" panose="020B0503020204020204" pitchFamily="34" charset="-122"/>
              <a:ea typeface="微软雅黑" panose="020B0503020204020204" pitchFamily="34" charset="-122"/>
            </a:rPr>
            <a:t>体系结构，</a:t>
          </a:r>
          <a:r>
            <a:rPr lang="zh-CN" altLang="en-US" sz="1400" b="1" dirty="0">
              <a:latin typeface="微软雅黑" panose="020B0503020204020204" pitchFamily="34" charset="-122"/>
              <a:ea typeface="微软雅黑" panose="020B0503020204020204" pitchFamily="34" charset="-122"/>
            </a:rPr>
            <a:t>是一种设计、构建和管理网络的新方法或新概念。</a:t>
          </a:r>
        </a:p>
      </dgm:t>
    </dgm:pt>
    <dgm:pt modelId="{855D1AA7-0014-42D1-AB55-0512522635CF}" type="parTrans" cxnId="{F51027CC-FC97-496C-82EF-F10BDC823C37}">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1F3824E0-260D-44AF-A6A0-AF20B4EAB600}" type="sibTrans" cxnId="{F51027CC-FC97-496C-82EF-F10BDC823C37}">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93C5C89E-14AA-4071-98C1-AD449E0D1A5F}">
      <dgm:prSet phldrT="[文本]" custT="1"/>
      <dgm:spPr/>
      <dgm:t>
        <a:bodyPr/>
        <a:lstStyle/>
        <a:p>
          <a:pPr>
            <a:spcAft>
              <a:spcPts val="0"/>
            </a:spcAft>
          </a:pPr>
          <a:r>
            <a:rPr lang="zh-CN" altLang="en-US" sz="1400" b="1" dirty="0">
              <a:solidFill>
                <a:schemeClr val="tx1"/>
              </a:solidFill>
              <a:latin typeface="微软雅黑" panose="020B0503020204020204" pitchFamily="34" charset="-122"/>
              <a:ea typeface="微软雅黑" panose="020B0503020204020204" pitchFamily="34" charset="-122"/>
            </a:rPr>
            <a:t>把</a:t>
          </a:r>
          <a:r>
            <a:rPr lang="zh-CN" altLang="en-US" sz="1400" b="1" dirty="0">
              <a:solidFill>
                <a:srgbClr val="0000FF"/>
              </a:solidFill>
              <a:latin typeface="微软雅黑" panose="020B0503020204020204" pitchFamily="34" charset="-122"/>
              <a:ea typeface="微软雅黑" panose="020B0503020204020204" pitchFamily="34" charset="-122"/>
            </a:rPr>
            <a:t>控制层面</a:t>
          </a:r>
          <a:r>
            <a:rPr lang="zh-CN" altLang="en-US" sz="1400" b="1" dirty="0">
              <a:solidFill>
                <a:schemeClr val="tx1"/>
              </a:solidFill>
              <a:latin typeface="微软雅黑" panose="020B0503020204020204" pitchFamily="34" charset="-122"/>
              <a:ea typeface="微软雅黑" panose="020B0503020204020204" pitchFamily="34" charset="-122"/>
            </a:rPr>
            <a:t>和</a:t>
          </a:r>
          <a:r>
            <a:rPr lang="zh-CN" altLang="en-US" sz="1400" b="1" dirty="0">
              <a:solidFill>
                <a:srgbClr val="0000FF"/>
              </a:solidFill>
              <a:latin typeface="微软雅黑" panose="020B0503020204020204" pitchFamily="34" charset="-122"/>
              <a:ea typeface="微软雅黑" panose="020B0503020204020204" pitchFamily="34" charset="-122"/>
            </a:rPr>
            <a:t>数据层面</a:t>
          </a:r>
          <a:r>
            <a:rPr lang="zh-CN" altLang="en-US" sz="1400" b="1" dirty="0">
              <a:solidFill>
                <a:srgbClr val="C00000"/>
              </a:solidFill>
              <a:latin typeface="微软雅黑" panose="020B0503020204020204" pitchFamily="34" charset="-122"/>
              <a:ea typeface="微软雅黑" panose="020B0503020204020204" pitchFamily="34" charset="-122"/>
            </a:rPr>
            <a:t>分离，</a:t>
          </a:r>
          <a:r>
            <a:rPr lang="zh-CN" altLang="en-US" sz="1400" b="1" dirty="0">
              <a:latin typeface="微软雅黑" panose="020B0503020204020204" pitchFamily="34" charset="-122"/>
              <a:ea typeface="微软雅黑" panose="020B0503020204020204" pitchFamily="34" charset="-122"/>
            </a:rPr>
            <a:t>而让控制层面</a:t>
          </a:r>
          <a:r>
            <a:rPr lang="zh-CN" altLang="en-US" sz="1400" b="1" dirty="0">
              <a:solidFill>
                <a:srgbClr val="C00000"/>
              </a:solidFill>
              <a:latin typeface="微软雅黑" panose="020B0503020204020204" pitchFamily="34" charset="-122"/>
              <a:ea typeface="微软雅黑" panose="020B0503020204020204" pitchFamily="34" charset="-122"/>
            </a:rPr>
            <a:t>利用软件</a:t>
          </a:r>
          <a:r>
            <a:rPr lang="zh-CN" altLang="en-US" sz="1400" b="1" dirty="0">
              <a:solidFill>
                <a:srgbClr val="0000FF"/>
              </a:solidFill>
              <a:latin typeface="微软雅黑" panose="020B0503020204020204" pitchFamily="34" charset="-122"/>
              <a:ea typeface="微软雅黑" panose="020B0503020204020204" pitchFamily="34" charset="-122"/>
            </a:rPr>
            <a:t>控制</a:t>
          </a:r>
          <a:r>
            <a:rPr lang="zh-CN" altLang="en-US" sz="1400" b="1" dirty="0">
              <a:latin typeface="微软雅黑" panose="020B0503020204020204" pitchFamily="34" charset="-122"/>
              <a:ea typeface="微软雅黑" panose="020B0503020204020204" pitchFamily="34" charset="-122"/>
            </a:rPr>
            <a:t>数据层面中的许多设备。</a:t>
          </a:r>
        </a:p>
      </dgm:t>
    </dgm:pt>
    <dgm:pt modelId="{391EB9A4-3860-4C75-B5FA-C5A625F7D484}" type="parTrans" cxnId="{46A21861-9C4D-4EBB-BE53-C88A9997E30D}">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22B8AFC6-C448-4A2D-8799-F021A978A537}" type="sibTrans" cxnId="{46A21861-9C4D-4EBB-BE53-C88A9997E30D}">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DAA16250-CD1E-4D72-BB65-F717DC30B48F}">
      <dgm:prSet phldrT="[文本]" custT="1"/>
      <dgm:spPr/>
      <dgm:t>
        <a:bodyPr/>
        <a:lstStyle/>
        <a:p>
          <a:r>
            <a:rPr lang="en-US" altLang="zh-CN" sz="1800" b="1" dirty="0" err="1">
              <a:solidFill>
                <a:srgbClr val="0000CC"/>
              </a:solidFill>
              <a:latin typeface="微软雅黑" panose="020B0503020204020204" pitchFamily="34" charset="-122"/>
              <a:ea typeface="微软雅黑" panose="020B0503020204020204" pitchFamily="34" charset="-122"/>
            </a:rPr>
            <a:t>OpenFlow</a:t>
          </a:r>
          <a:endParaRPr lang="zh-CN" altLang="en-US" sz="1800" b="1" dirty="0">
            <a:solidFill>
              <a:srgbClr val="0000CC"/>
            </a:solidFill>
            <a:latin typeface="微软雅黑" panose="020B0503020204020204" pitchFamily="34" charset="-122"/>
            <a:ea typeface="微软雅黑" panose="020B0503020204020204" pitchFamily="34" charset="-122"/>
          </a:endParaRPr>
        </a:p>
      </dgm:t>
    </dgm:pt>
    <dgm:pt modelId="{EC3331E7-A551-4472-847B-BA00CA0EB852}" type="parTrans" cxnId="{8E2021C0-CD78-4050-9460-52A1436A3A4F}">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E10F3F05-CD84-4A1B-BDC4-701D75C6400A}" type="sibTrans" cxnId="{8E2021C0-CD78-4050-9460-52A1436A3A4F}">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C64E32E3-7489-4BE5-BE96-0A66B49F7C7C}">
      <dgm:prSet phldrT="[文本]" custT="1"/>
      <dgm:spPr/>
      <dgm:t>
        <a:bodyPr/>
        <a:lstStyle/>
        <a:p>
          <a:pPr>
            <a:spcAft>
              <a:spcPts val="0"/>
            </a:spcAft>
          </a:pPr>
          <a:r>
            <a:rPr lang="en-US" altLang="en-US" sz="1400" b="1" dirty="0">
              <a:latin typeface="微软雅黑" panose="020B0503020204020204" pitchFamily="34" charset="-122"/>
              <a:ea typeface="微软雅黑" panose="020B0503020204020204" pitchFamily="34" charset="-122"/>
            </a:rPr>
            <a:t>SDN </a:t>
          </a:r>
          <a:r>
            <a:rPr lang="zh-CN" altLang="en-US" sz="1400" b="1" dirty="0">
              <a:latin typeface="微软雅黑" panose="020B0503020204020204" pitchFamily="34" charset="-122"/>
              <a:ea typeface="微软雅黑" panose="020B0503020204020204" pitchFamily="34" charset="-122"/>
            </a:rPr>
            <a:t>体系结构中控制层面和数据层面之间的</a:t>
          </a:r>
          <a:r>
            <a:rPr lang="zh-CN" altLang="en-US" sz="1400" b="1" dirty="0">
              <a:solidFill>
                <a:srgbClr val="C00000"/>
              </a:solidFill>
              <a:latin typeface="微软雅黑" panose="020B0503020204020204" pitchFamily="34" charset="-122"/>
              <a:ea typeface="微软雅黑" panose="020B0503020204020204" pitchFamily="34" charset="-122"/>
            </a:rPr>
            <a:t>通信接口。</a:t>
          </a:r>
        </a:p>
      </dgm:t>
    </dgm:pt>
    <dgm:pt modelId="{14A66DC3-6A24-4808-9C58-6D992E1C3957}" type="parTrans" cxnId="{03DB05EC-4D94-4E20-A89D-485856CEDD61}">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70CEC0CF-DDBB-4731-8B03-66D0B2C76B1F}" type="sibTrans" cxnId="{03DB05EC-4D94-4E20-A89D-485856CEDD61}">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BAE228D1-650D-492F-9CFA-149583110835}">
      <dgm:prSet custT="1"/>
      <dgm:spPr/>
      <dgm:t>
        <a:bodyPr/>
        <a:lstStyle/>
        <a:p>
          <a:pPr>
            <a:spcAft>
              <a:spcPts val="0"/>
            </a:spcAft>
          </a:pPr>
          <a:r>
            <a:rPr lang="zh-CN" altLang="en-US" sz="1400" b="1" dirty="0">
              <a:latin typeface="微软雅黑" panose="020B0503020204020204" pitchFamily="34" charset="-122"/>
              <a:ea typeface="微软雅黑" panose="020B0503020204020204" pitchFamily="34" charset="-122"/>
            </a:rPr>
            <a:t>使控制层面的控制器可以对数据层面中的物理或虚拟设备进行</a:t>
          </a:r>
          <a:r>
            <a:rPr lang="zh-CN" altLang="en-US" sz="1400" b="1" dirty="0">
              <a:solidFill>
                <a:srgbClr val="C00000"/>
              </a:solidFill>
              <a:latin typeface="微软雅黑" panose="020B0503020204020204" pitchFamily="34" charset="-122"/>
              <a:ea typeface="微软雅黑" panose="020B0503020204020204" pitchFamily="34" charset="-122"/>
            </a:rPr>
            <a:t>直接</a:t>
          </a:r>
          <a:r>
            <a:rPr lang="zh-CN" altLang="en-US" sz="1400" b="1" dirty="0">
              <a:latin typeface="微软雅黑" panose="020B0503020204020204" pitchFamily="34" charset="-122"/>
              <a:ea typeface="微软雅黑" panose="020B0503020204020204" pitchFamily="34" charset="-122"/>
            </a:rPr>
            <a:t>访问和操纵。</a:t>
          </a:r>
        </a:p>
      </dgm:t>
    </dgm:pt>
    <dgm:pt modelId="{830A9A1B-188D-4195-805A-CA5EDEE1088D}" type="parTrans" cxnId="{E5EB32B7-1F72-49E1-BD4C-A7A32B148827}">
      <dgm:prSet/>
      <dgm:spPr/>
      <dgm:t>
        <a:bodyPr/>
        <a:lstStyle/>
        <a:p>
          <a:endParaRPr lang="zh-CN" altLang="en-US" sz="1400"/>
        </a:p>
      </dgm:t>
    </dgm:pt>
    <dgm:pt modelId="{D02ACEFA-FB25-4555-9831-CFBE994CDECF}" type="sibTrans" cxnId="{E5EB32B7-1F72-49E1-BD4C-A7A32B148827}">
      <dgm:prSet/>
      <dgm:spPr/>
      <dgm:t>
        <a:bodyPr/>
        <a:lstStyle/>
        <a:p>
          <a:endParaRPr lang="zh-CN" altLang="en-US" sz="1400"/>
        </a:p>
      </dgm:t>
    </dgm:pt>
    <dgm:pt modelId="{F3B5F212-4DC3-49A6-A050-132FF7B50466}">
      <dgm:prSet custT="1"/>
      <dgm:spPr/>
      <dgm:t>
        <a:bodyPr/>
        <a:lstStyle/>
        <a:p>
          <a:pPr>
            <a:spcAft>
              <a:spcPts val="0"/>
            </a:spcAft>
          </a:pPr>
          <a:r>
            <a:rPr lang="zh-CN" altLang="en-US" sz="1400" b="1" dirty="0">
              <a:latin typeface="微软雅黑" panose="020B0503020204020204" pitchFamily="34" charset="-122"/>
              <a:ea typeface="微软雅黑" panose="020B0503020204020204" pitchFamily="34" charset="-122"/>
            </a:rPr>
            <a:t>在逻辑上是</a:t>
          </a:r>
          <a:r>
            <a:rPr lang="zh-CN" altLang="en-US" sz="1400" b="1" dirty="0">
              <a:solidFill>
                <a:srgbClr val="C00000"/>
              </a:solidFill>
              <a:latin typeface="微软雅黑" panose="020B0503020204020204" pitchFamily="34" charset="-122"/>
              <a:ea typeface="微软雅黑" panose="020B0503020204020204" pitchFamily="34" charset="-122"/>
            </a:rPr>
            <a:t>集中式</a:t>
          </a:r>
          <a:r>
            <a:rPr lang="zh-CN" altLang="en-US" sz="1400" b="1" dirty="0">
              <a:latin typeface="微软雅黑" panose="020B0503020204020204" pitchFamily="34" charset="-122"/>
              <a:ea typeface="微软雅黑" panose="020B0503020204020204" pitchFamily="34" charset="-122"/>
            </a:rPr>
            <a:t>的、</a:t>
          </a:r>
          <a:r>
            <a:rPr lang="zh-CN" altLang="en-US" sz="1400" b="1" dirty="0">
              <a:solidFill>
                <a:srgbClr val="C00000"/>
              </a:solidFill>
              <a:latin typeface="微软雅黑" panose="020B0503020204020204" pitchFamily="34" charset="-122"/>
              <a:ea typeface="微软雅黑" panose="020B0503020204020204" pitchFamily="34" charset="-122"/>
            </a:rPr>
            <a:t>基于流</a:t>
          </a:r>
          <a:r>
            <a:rPr lang="zh-CN" altLang="en-US" sz="1400" b="1" dirty="0">
              <a:latin typeface="微软雅黑" panose="020B0503020204020204" pitchFamily="34" charset="-122"/>
              <a:ea typeface="微软雅黑" panose="020B0503020204020204" pitchFamily="34" charset="-122"/>
            </a:rPr>
            <a:t>的。</a:t>
          </a:r>
        </a:p>
      </dgm:t>
    </dgm:pt>
    <dgm:pt modelId="{91B47B97-5167-4999-902E-79E2079E222C}" type="parTrans" cxnId="{B9E6440F-B9D8-497D-A6B6-C2745C1ED892}">
      <dgm:prSet/>
      <dgm:spPr/>
      <dgm:t>
        <a:bodyPr/>
        <a:lstStyle/>
        <a:p>
          <a:endParaRPr lang="zh-CN" altLang="en-US" sz="1400"/>
        </a:p>
      </dgm:t>
    </dgm:pt>
    <dgm:pt modelId="{EA26118C-98CD-4C73-BAEF-CB97F2569B5E}" type="sibTrans" cxnId="{B9E6440F-B9D8-497D-A6B6-C2745C1ED892}">
      <dgm:prSet/>
      <dgm:spPr/>
      <dgm:t>
        <a:bodyPr/>
        <a:lstStyle/>
        <a:p>
          <a:endParaRPr lang="zh-CN" altLang="en-US" sz="1400"/>
        </a:p>
      </dgm:t>
    </dgm:pt>
    <dgm:pt modelId="{AFB7E455-428C-4A0F-992C-629F9DA528A4}" type="pres">
      <dgm:prSet presAssocID="{507CF620-754C-42AA-B6D7-6E532B46496D}" presName="linear" presStyleCnt="0">
        <dgm:presLayoutVars>
          <dgm:dir/>
          <dgm:animLvl val="lvl"/>
          <dgm:resizeHandles val="exact"/>
        </dgm:presLayoutVars>
      </dgm:prSet>
      <dgm:spPr/>
    </dgm:pt>
    <dgm:pt modelId="{21C46C9B-7934-49C2-90CF-686CD588AD24}" type="pres">
      <dgm:prSet presAssocID="{E2D531EB-AB54-494E-9C1E-4C30D2113C22}" presName="parentLin" presStyleCnt="0"/>
      <dgm:spPr/>
    </dgm:pt>
    <dgm:pt modelId="{3532B21B-9813-41B4-9683-FF842EF22363}" type="pres">
      <dgm:prSet presAssocID="{E2D531EB-AB54-494E-9C1E-4C30D2113C22}" presName="parentLeftMargin" presStyleLbl="node1" presStyleIdx="0" presStyleCnt="2"/>
      <dgm:spPr/>
    </dgm:pt>
    <dgm:pt modelId="{08B5982C-5C29-4138-B12D-B1193F279CC1}" type="pres">
      <dgm:prSet presAssocID="{E2D531EB-AB54-494E-9C1E-4C30D2113C22}" presName="parentText" presStyleLbl="node1" presStyleIdx="0" presStyleCnt="2">
        <dgm:presLayoutVars>
          <dgm:chMax val="0"/>
          <dgm:bulletEnabled val="1"/>
        </dgm:presLayoutVars>
      </dgm:prSet>
      <dgm:spPr/>
    </dgm:pt>
    <dgm:pt modelId="{D4FE3960-E739-4C8C-BB91-934C55FB02C1}" type="pres">
      <dgm:prSet presAssocID="{E2D531EB-AB54-494E-9C1E-4C30D2113C22}" presName="negativeSpace" presStyleCnt="0"/>
      <dgm:spPr/>
    </dgm:pt>
    <dgm:pt modelId="{59A3D657-23B2-4553-AB55-365AF4AD92FC}" type="pres">
      <dgm:prSet presAssocID="{E2D531EB-AB54-494E-9C1E-4C30D2113C22}" presName="childText" presStyleLbl="conFgAcc1" presStyleIdx="0" presStyleCnt="2">
        <dgm:presLayoutVars>
          <dgm:bulletEnabled val="1"/>
        </dgm:presLayoutVars>
      </dgm:prSet>
      <dgm:spPr/>
    </dgm:pt>
    <dgm:pt modelId="{BF6BEC27-1E1E-441A-86C6-71C70AD619AE}" type="pres">
      <dgm:prSet presAssocID="{56EA74CD-3BAB-4DA8-B288-8D367F33563E}" presName="spaceBetweenRectangles" presStyleCnt="0"/>
      <dgm:spPr/>
    </dgm:pt>
    <dgm:pt modelId="{44061F98-C3D6-44C6-91CD-5583301AB560}" type="pres">
      <dgm:prSet presAssocID="{DAA16250-CD1E-4D72-BB65-F717DC30B48F}" presName="parentLin" presStyleCnt="0"/>
      <dgm:spPr/>
    </dgm:pt>
    <dgm:pt modelId="{5E0995F6-5D0E-466D-8876-7344AA812E34}" type="pres">
      <dgm:prSet presAssocID="{DAA16250-CD1E-4D72-BB65-F717DC30B48F}" presName="parentLeftMargin" presStyleLbl="node1" presStyleIdx="0" presStyleCnt="2"/>
      <dgm:spPr/>
    </dgm:pt>
    <dgm:pt modelId="{35AC4BD2-1828-4C40-9426-ADEA8908391D}" type="pres">
      <dgm:prSet presAssocID="{DAA16250-CD1E-4D72-BB65-F717DC30B48F}" presName="parentText" presStyleLbl="node1" presStyleIdx="1" presStyleCnt="2">
        <dgm:presLayoutVars>
          <dgm:chMax val="0"/>
          <dgm:bulletEnabled val="1"/>
        </dgm:presLayoutVars>
      </dgm:prSet>
      <dgm:spPr/>
    </dgm:pt>
    <dgm:pt modelId="{C5104255-B2A2-46DD-9C0E-385FD72891D3}" type="pres">
      <dgm:prSet presAssocID="{DAA16250-CD1E-4D72-BB65-F717DC30B48F}" presName="negativeSpace" presStyleCnt="0"/>
      <dgm:spPr/>
    </dgm:pt>
    <dgm:pt modelId="{6DBB5C1B-B5D3-489B-9520-25CF774BF611}" type="pres">
      <dgm:prSet presAssocID="{DAA16250-CD1E-4D72-BB65-F717DC30B48F}" presName="childText" presStyleLbl="conFgAcc1" presStyleIdx="1" presStyleCnt="2">
        <dgm:presLayoutVars>
          <dgm:bulletEnabled val="1"/>
        </dgm:presLayoutVars>
      </dgm:prSet>
      <dgm:spPr/>
    </dgm:pt>
  </dgm:ptLst>
  <dgm:cxnLst>
    <dgm:cxn modelId="{9D6B860D-0E14-4CC8-A428-362BB1799C68}" type="presOf" srcId="{DAA16250-CD1E-4D72-BB65-F717DC30B48F}" destId="{5E0995F6-5D0E-466D-8876-7344AA812E34}" srcOrd="0" destOrd="0" presId="urn:microsoft.com/office/officeart/2005/8/layout/list1"/>
    <dgm:cxn modelId="{B9E6440F-B9D8-497D-A6B6-C2745C1ED892}" srcId="{DAA16250-CD1E-4D72-BB65-F717DC30B48F}" destId="{F3B5F212-4DC3-49A6-A050-132FF7B50466}" srcOrd="2" destOrd="0" parTransId="{91B47B97-5167-4999-902E-79E2079E222C}" sibTransId="{EA26118C-98CD-4C73-BAEF-CB97F2569B5E}"/>
    <dgm:cxn modelId="{42BBB35B-3932-4FBA-9751-F9F466C19E30}" type="presOf" srcId="{93C5C89E-14AA-4071-98C1-AD449E0D1A5F}" destId="{59A3D657-23B2-4553-AB55-365AF4AD92FC}" srcOrd="0" destOrd="1" presId="urn:microsoft.com/office/officeart/2005/8/layout/list1"/>
    <dgm:cxn modelId="{95112D60-FCEF-4A6B-898C-81DF670D99D3}" type="presOf" srcId="{C64E32E3-7489-4BE5-BE96-0A66B49F7C7C}" destId="{6DBB5C1B-B5D3-489B-9520-25CF774BF611}" srcOrd="0" destOrd="0" presId="urn:microsoft.com/office/officeart/2005/8/layout/list1"/>
    <dgm:cxn modelId="{46A21861-9C4D-4EBB-BE53-C88A9997E30D}" srcId="{E2D531EB-AB54-494E-9C1E-4C30D2113C22}" destId="{93C5C89E-14AA-4071-98C1-AD449E0D1A5F}" srcOrd="1" destOrd="0" parTransId="{391EB9A4-3860-4C75-B5FA-C5A625F7D484}" sibTransId="{22B8AFC6-C448-4A2D-8799-F021A978A537}"/>
    <dgm:cxn modelId="{6A825066-EC95-48B5-93E0-4891291DE14F}" type="presOf" srcId="{DAA16250-CD1E-4D72-BB65-F717DC30B48F}" destId="{35AC4BD2-1828-4C40-9426-ADEA8908391D}" srcOrd="1" destOrd="0" presId="urn:microsoft.com/office/officeart/2005/8/layout/list1"/>
    <dgm:cxn modelId="{5F9A4C67-D08B-4F85-810B-EB9EEE0D0BC2}" type="presOf" srcId="{E2D531EB-AB54-494E-9C1E-4C30D2113C22}" destId="{08B5982C-5C29-4138-B12D-B1193F279CC1}" srcOrd="1" destOrd="0" presId="urn:microsoft.com/office/officeart/2005/8/layout/list1"/>
    <dgm:cxn modelId="{C5CFE188-6DB5-480D-A87D-9D9FF73C082C}" type="presOf" srcId="{BAE228D1-650D-492F-9CFA-149583110835}" destId="{6DBB5C1B-B5D3-489B-9520-25CF774BF611}" srcOrd="0" destOrd="1" presId="urn:microsoft.com/office/officeart/2005/8/layout/list1"/>
    <dgm:cxn modelId="{AF2C3A8A-234A-4580-A3A4-B75A436B1397}" type="presOf" srcId="{E2D531EB-AB54-494E-9C1E-4C30D2113C22}" destId="{3532B21B-9813-41B4-9683-FF842EF22363}" srcOrd="0" destOrd="0" presId="urn:microsoft.com/office/officeart/2005/8/layout/list1"/>
    <dgm:cxn modelId="{D466629A-CCF5-40B6-905B-D359772974E3}" type="presOf" srcId="{BCEA250F-A938-4832-8A35-1F6531FC8D25}" destId="{59A3D657-23B2-4553-AB55-365AF4AD92FC}" srcOrd="0" destOrd="0" presId="urn:microsoft.com/office/officeart/2005/8/layout/list1"/>
    <dgm:cxn modelId="{E5EB32B7-1F72-49E1-BD4C-A7A32B148827}" srcId="{DAA16250-CD1E-4D72-BB65-F717DC30B48F}" destId="{BAE228D1-650D-492F-9CFA-149583110835}" srcOrd="1" destOrd="0" parTransId="{830A9A1B-188D-4195-805A-CA5EDEE1088D}" sibTransId="{D02ACEFA-FB25-4555-9831-CFBE994CDECF}"/>
    <dgm:cxn modelId="{8E2021C0-CD78-4050-9460-52A1436A3A4F}" srcId="{507CF620-754C-42AA-B6D7-6E532B46496D}" destId="{DAA16250-CD1E-4D72-BB65-F717DC30B48F}" srcOrd="1" destOrd="0" parTransId="{EC3331E7-A551-4472-847B-BA00CA0EB852}" sibTransId="{E10F3F05-CD84-4A1B-BDC4-701D75C6400A}"/>
    <dgm:cxn modelId="{7EEB46C1-0061-467B-B4CB-0A4B7385BC8B}" type="presOf" srcId="{507CF620-754C-42AA-B6D7-6E532B46496D}" destId="{AFB7E455-428C-4A0F-992C-629F9DA528A4}" srcOrd="0" destOrd="0" presId="urn:microsoft.com/office/officeart/2005/8/layout/list1"/>
    <dgm:cxn modelId="{F51027CC-FC97-496C-82EF-F10BDC823C37}" srcId="{E2D531EB-AB54-494E-9C1E-4C30D2113C22}" destId="{BCEA250F-A938-4832-8A35-1F6531FC8D25}" srcOrd="0" destOrd="0" parTransId="{855D1AA7-0014-42D1-AB55-0512522635CF}" sibTransId="{1F3824E0-260D-44AF-A6A0-AF20B4EAB600}"/>
    <dgm:cxn modelId="{3D990FE7-B784-4266-9459-DD4F755F3900}" srcId="{507CF620-754C-42AA-B6D7-6E532B46496D}" destId="{E2D531EB-AB54-494E-9C1E-4C30D2113C22}" srcOrd="0" destOrd="0" parTransId="{BE246D6D-5FC4-4574-ADA4-F9DF70A01C22}" sibTransId="{56EA74CD-3BAB-4DA8-B288-8D367F33563E}"/>
    <dgm:cxn modelId="{03DB05EC-4D94-4E20-A89D-485856CEDD61}" srcId="{DAA16250-CD1E-4D72-BB65-F717DC30B48F}" destId="{C64E32E3-7489-4BE5-BE96-0A66B49F7C7C}" srcOrd="0" destOrd="0" parTransId="{14A66DC3-6A24-4808-9C58-6D992E1C3957}" sibTransId="{70CEC0CF-DDBB-4731-8B03-66D0B2C76B1F}"/>
    <dgm:cxn modelId="{0B0DA9FC-0CD9-4A96-A10A-EAEF241801FE}" type="presOf" srcId="{F3B5F212-4DC3-49A6-A050-132FF7B50466}" destId="{6DBB5C1B-B5D3-489B-9520-25CF774BF611}" srcOrd="0" destOrd="2" presId="urn:microsoft.com/office/officeart/2005/8/layout/list1"/>
    <dgm:cxn modelId="{18915AF6-5909-4B39-8CC5-C52925E71747}" type="presParOf" srcId="{AFB7E455-428C-4A0F-992C-629F9DA528A4}" destId="{21C46C9B-7934-49C2-90CF-686CD588AD24}" srcOrd="0" destOrd="0" presId="urn:microsoft.com/office/officeart/2005/8/layout/list1"/>
    <dgm:cxn modelId="{DA1C6F3D-61E4-4AC2-8C31-F64605F21A9F}" type="presParOf" srcId="{21C46C9B-7934-49C2-90CF-686CD588AD24}" destId="{3532B21B-9813-41B4-9683-FF842EF22363}" srcOrd="0" destOrd="0" presId="urn:microsoft.com/office/officeart/2005/8/layout/list1"/>
    <dgm:cxn modelId="{69926C88-43C4-48E7-9B1F-325DED9CEE3D}" type="presParOf" srcId="{21C46C9B-7934-49C2-90CF-686CD588AD24}" destId="{08B5982C-5C29-4138-B12D-B1193F279CC1}" srcOrd="1" destOrd="0" presId="urn:microsoft.com/office/officeart/2005/8/layout/list1"/>
    <dgm:cxn modelId="{332E3102-8DC4-48E3-9BDC-E3C4E4B64F57}" type="presParOf" srcId="{AFB7E455-428C-4A0F-992C-629F9DA528A4}" destId="{D4FE3960-E739-4C8C-BB91-934C55FB02C1}" srcOrd="1" destOrd="0" presId="urn:microsoft.com/office/officeart/2005/8/layout/list1"/>
    <dgm:cxn modelId="{4E18FB82-A1FF-4B7A-81D3-6908B63D0AC9}" type="presParOf" srcId="{AFB7E455-428C-4A0F-992C-629F9DA528A4}" destId="{59A3D657-23B2-4553-AB55-365AF4AD92FC}" srcOrd="2" destOrd="0" presId="urn:microsoft.com/office/officeart/2005/8/layout/list1"/>
    <dgm:cxn modelId="{682F0B1C-40EB-45F7-8322-E9E4C9C2072E}" type="presParOf" srcId="{AFB7E455-428C-4A0F-992C-629F9DA528A4}" destId="{BF6BEC27-1E1E-441A-86C6-71C70AD619AE}" srcOrd="3" destOrd="0" presId="urn:microsoft.com/office/officeart/2005/8/layout/list1"/>
    <dgm:cxn modelId="{396F96E6-F99C-4923-83B3-D5B412B2A49E}" type="presParOf" srcId="{AFB7E455-428C-4A0F-992C-629F9DA528A4}" destId="{44061F98-C3D6-44C6-91CD-5583301AB560}" srcOrd="4" destOrd="0" presId="urn:microsoft.com/office/officeart/2005/8/layout/list1"/>
    <dgm:cxn modelId="{439A51C0-DFF6-48D9-8B9A-D40B233796A6}" type="presParOf" srcId="{44061F98-C3D6-44C6-91CD-5583301AB560}" destId="{5E0995F6-5D0E-466D-8876-7344AA812E34}" srcOrd="0" destOrd="0" presId="urn:microsoft.com/office/officeart/2005/8/layout/list1"/>
    <dgm:cxn modelId="{905D11AA-77C5-42B8-9E27-B47DF10C6DBC}" type="presParOf" srcId="{44061F98-C3D6-44C6-91CD-5583301AB560}" destId="{35AC4BD2-1828-4C40-9426-ADEA8908391D}" srcOrd="1" destOrd="0" presId="urn:microsoft.com/office/officeart/2005/8/layout/list1"/>
    <dgm:cxn modelId="{B5828484-1869-45BA-955A-A4A7404C55DD}" type="presParOf" srcId="{AFB7E455-428C-4A0F-992C-629F9DA528A4}" destId="{C5104255-B2A2-46DD-9C0E-385FD72891D3}" srcOrd="5" destOrd="0" presId="urn:microsoft.com/office/officeart/2005/8/layout/list1"/>
    <dgm:cxn modelId="{67A98BC3-5602-40F9-A63A-D27FAE7828F0}" type="presParOf" srcId="{AFB7E455-428C-4A0F-992C-629F9DA528A4}" destId="{6DBB5C1B-B5D3-489B-9520-25CF774BF611}" srcOrd="6" destOrd="0" presId="urn:microsoft.com/office/officeart/2005/8/layout/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3.xml><?xml version="1.0" encoding="utf-8"?>
<dgm:dataModel xmlns:dgm="http://schemas.openxmlformats.org/drawingml/2006/diagram" xmlns:a="http://schemas.openxmlformats.org/drawingml/2006/main">
  <dgm:ptLst>
    <dgm:pt modelId="{27B93B06-6FD2-4B33-9D0D-3A99261537A6}" type="doc">
      <dgm:prSet loTypeId="urn:microsoft.com/office/officeart/2005/8/layout/vList2" loCatId="list" qsTypeId="urn:microsoft.com/office/officeart/2005/8/quickstyle/simple4" qsCatId="simple" csTypeId="urn:microsoft.com/office/officeart/2005/8/colors/colorful5" csCatId="colorful" phldr="1"/>
      <dgm:spPr/>
      <dgm:t>
        <a:bodyPr/>
        <a:lstStyle/>
        <a:p>
          <a:endParaRPr lang="zh-CN" altLang="en-US"/>
        </a:p>
      </dgm:t>
    </dgm:pt>
    <dgm:pt modelId="{6E06AD22-4C8D-4CB3-AA89-5B194887A2E6}">
      <dgm:prSet phldrT="[文本]" custT="1"/>
      <dgm:spPr/>
      <dgm:t>
        <a:bodyPr/>
        <a:lstStyle/>
        <a:p>
          <a:r>
            <a:rPr lang="zh-CN" altLang="en-US" sz="1800" b="1" dirty="0">
              <a:latin typeface="微软雅黑" panose="020B0503020204020204" pitchFamily="34" charset="-122"/>
              <a:ea typeface="微软雅黑" panose="020B0503020204020204" pitchFamily="34" charset="-122"/>
            </a:rPr>
            <a:t>匹配</a:t>
          </a:r>
        </a:p>
      </dgm:t>
    </dgm:pt>
    <dgm:pt modelId="{76EEBCFE-ED00-427F-9D64-B873BA8C0EC4}" type="parTrans" cxnId="{5D1C0801-E352-4131-A654-83CCB5B845DA}">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20BACEE0-57B3-43FE-BD93-19F1FB98E9AF}" type="sibTrans" cxnId="{5D1C0801-E352-4131-A654-83CCB5B845DA}">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53735250-1FB8-4F83-9321-87458A83816A}">
      <dgm:prSet phldrT="[文本]" custT="1"/>
      <dgm:spPr/>
      <dgm:t>
        <a:bodyPr/>
        <a:lstStyle/>
        <a:p>
          <a:r>
            <a:rPr lang="zh-CN" altLang="en-US" sz="1800" b="1" dirty="0">
              <a:latin typeface="微软雅黑" panose="020B0503020204020204" pitchFamily="34" charset="-122"/>
              <a:ea typeface="微软雅黑" panose="020B0503020204020204" pitchFamily="34" charset="-122"/>
            </a:rPr>
            <a:t>对不同层次（链路层，网络层，运输层）首部中的字段进行匹配。</a:t>
          </a:r>
        </a:p>
      </dgm:t>
    </dgm:pt>
    <dgm:pt modelId="{5D9A2FA1-FA1E-4090-B9C7-F5FE30AF6F8C}" type="parTrans" cxnId="{D3BDEEF3-C692-4D62-87A4-33A1D1ECB6C7}">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0FFF994D-E500-4611-B007-00D542FE762F}" type="sibTrans" cxnId="{D3BDEEF3-C692-4D62-87A4-33A1D1ECB6C7}">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C1F7889E-B267-4726-A1BB-5917C3D2F3EA}">
      <dgm:prSet phldrT="[文本]" custT="1"/>
      <dgm:spPr/>
      <dgm:t>
        <a:bodyPr/>
        <a:lstStyle/>
        <a:p>
          <a:r>
            <a:rPr lang="zh-CN" altLang="en-US" sz="1800" b="1" dirty="0">
              <a:latin typeface="微软雅黑" panose="020B0503020204020204" pitchFamily="34" charset="-122"/>
              <a:ea typeface="微软雅黑" panose="020B0503020204020204" pitchFamily="34" charset="-122"/>
            </a:rPr>
            <a:t>动作</a:t>
          </a:r>
        </a:p>
      </dgm:t>
    </dgm:pt>
    <dgm:pt modelId="{0571A803-B5C4-4762-B149-F36F05BA60D7}" type="parTrans" cxnId="{74AB1341-F1DF-4039-8819-93C7ADCD0632}">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53EBB5A0-6545-4D9A-9C00-C9E735DCB6C9}" type="sibTrans" cxnId="{74AB1341-F1DF-4039-8819-93C7ADCD0632}">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5F9DF20F-55E8-4A04-B97F-BD8540614AE9}">
      <dgm:prSet phldrT="[文本]" custT="1"/>
      <dgm:spPr/>
      <dgm:t>
        <a:bodyPr/>
        <a:lstStyle/>
        <a:p>
          <a:r>
            <a:rPr lang="zh-CN" altLang="en-US" sz="1800" b="1" dirty="0">
              <a:latin typeface="微软雅黑" panose="020B0503020204020204" pitchFamily="34" charset="-122"/>
              <a:ea typeface="微软雅黑" panose="020B0503020204020204" pitchFamily="34" charset="-122"/>
            </a:rPr>
            <a:t>转发，重写，丢弃等。</a:t>
          </a:r>
        </a:p>
      </dgm:t>
    </dgm:pt>
    <dgm:pt modelId="{C942B6B5-56C6-4869-B070-D5F0AF276F2E}" type="parTrans" cxnId="{2CD33E40-0691-4C75-AE8B-095E9CCA4A59}">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351AB59C-A897-423C-93E1-9A28099EB7D5}" type="sibTrans" cxnId="{2CD33E40-0691-4C75-AE8B-095E9CCA4A59}">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56F57A2E-550A-48E0-A04E-70B017ECCFE4}" type="pres">
      <dgm:prSet presAssocID="{27B93B06-6FD2-4B33-9D0D-3A99261537A6}" presName="linear" presStyleCnt="0">
        <dgm:presLayoutVars>
          <dgm:animLvl val="lvl"/>
          <dgm:resizeHandles val="exact"/>
        </dgm:presLayoutVars>
      </dgm:prSet>
      <dgm:spPr/>
    </dgm:pt>
    <dgm:pt modelId="{ED99FAF8-43A3-495E-9177-C621EED0FF9E}" type="pres">
      <dgm:prSet presAssocID="{6E06AD22-4C8D-4CB3-AA89-5B194887A2E6}" presName="parentText" presStyleLbl="node1" presStyleIdx="0" presStyleCnt="2" custScaleY="82418">
        <dgm:presLayoutVars>
          <dgm:chMax val="0"/>
          <dgm:bulletEnabled val="1"/>
        </dgm:presLayoutVars>
      </dgm:prSet>
      <dgm:spPr/>
    </dgm:pt>
    <dgm:pt modelId="{A97FE5EF-81FF-4D48-A0DE-B85FB67024E8}" type="pres">
      <dgm:prSet presAssocID="{6E06AD22-4C8D-4CB3-AA89-5B194887A2E6}" presName="childText" presStyleLbl="revTx" presStyleIdx="0" presStyleCnt="2">
        <dgm:presLayoutVars>
          <dgm:bulletEnabled val="1"/>
        </dgm:presLayoutVars>
      </dgm:prSet>
      <dgm:spPr/>
    </dgm:pt>
    <dgm:pt modelId="{6973BEF8-C407-4DCC-B203-97EAB17968C8}" type="pres">
      <dgm:prSet presAssocID="{C1F7889E-B267-4726-A1BB-5917C3D2F3EA}" presName="parentText" presStyleLbl="node1" presStyleIdx="1" presStyleCnt="2" custScaleY="82418">
        <dgm:presLayoutVars>
          <dgm:chMax val="0"/>
          <dgm:bulletEnabled val="1"/>
        </dgm:presLayoutVars>
      </dgm:prSet>
      <dgm:spPr/>
    </dgm:pt>
    <dgm:pt modelId="{08081AE3-063A-43D5-96F4-62EC961A3E6F}" type="pres">
      <dgm:prSet presAssocID="{C1F7889E-B267-4726-A1BB-5917C3D2F3EA}" presName="childText" presStyleLbl="revTx" presStyleIdx="1" presStyleCnt="2">
        <dgm:presLayoutVars>
          <dgm:bulletEnabled val="1"/>
        </dgm:presLayoutVars>
      </dgm:prSet>
      <dgm:spPr/>
    </dgm:pt>
  </dgm:ptLst>
  <dgm:cxnLst>
    <dgm:cxn modelId="{5D1C0801-E352-4131-A654-83CCB5B845DA}" srcId="{27B93B06-6FD2-4B33-9D0D-3A99261537A6}" destId="{6E06AD22-4C8D-4CB3-AA89-5B194887A2E6}" srcOrd="0" destOrd="0" parTransId="{76EEBCFE-ED00-427F-9D64-B873BA8C0EC4}" sibTransId="{20BACEE0-57B3-43FE-BD93-19F1FB98E9AF}"/>
    <dgm:cxn modelId="{2CD33E40-0691-4C75-AE8B-095E9CCA4A59}" srcId="{C1F7889E-B267-4726-A1BB-5917C3D2F3EA}" destId="{5F9DF20F-55E8-4A04-B97F-BD8540614AE9}" srcOrd="0" destOrd="0" parTransId="{C942B6B5-56C6-4869-B070-D5F0AF276F2E}" sibTransId="{351AB59C-A897-423C-93E1-9A28099EB7D5}"/>
    <dgm:cxn modelId="{74AB1341-F1DF-4039-8819-93C7ADCD0632}" srcId="{27B93B06-6FD2-4B33-9D0D-3A99261537A6}" destId="{C1F7889E-B267-4726-A1BB-5917C3D2F3EA}" srcOrd="1" destOrd="0" parTransId="{0571A803-B5C4-4762-B149-F36F05BA60D7}" sibTransId="{53EBB5A0-6545-4D9A-9C00-C9E735DCB6C9}"/>
    <dgm:cxn modelId="{D8D51270-48E2-433A-AFA9-310E989252A9}" type="presOf" srcId="{6E06AD22-4C8D-4CB3-AA89-5B194887A2E6}" destId="{ED99FAF8-43A3-495E-9177-C621EED0FF9E}" srcOrd="0" destOrd="0" presId="urn:microsoft.com/office/officeart/2005/8/layout/vList2"/>
    <dgm:cxn modelId="{207FD68F-D728-46EA-B3AD-395401E9B5A6}" type="presOf" srcId="{C1F7889E-B267-4726-A1BB-5917C3D2F3EA}" destId="{6973BEF8-C407-4DCC-B203-97EAB17968C8}" srcOrd="0" destOrd="0" presId="urn:microsoft.com/office/officeart/2005/8/layout/vList2"/>
    <dgm:cxn modelId="{C1D030C2-258C-4946-BEEE-81387A4EC37F}" type="presOf" srcId="{53735250-1FB8-4F83-9321-87458A83816A}" destId="{A97FE5EF-81FF-4D48-A0DE-B85FB67024E8}" srcOrd="0" destOrd="0" presId="urn:microsoft.com/office/officeart/2005/8/layout/vList2"/>
    <dgm:cxn modelId="{5FC8ADD3-06BF-4667-9061-F41D27FDC82A}" type="presOf" srcId="{5F9DF20F-55E8-4A04-B97F-BD8540614AE9}" destId="{08081AE3-063A-43D5-96F4-62EC961A3E6F}" srcOrd="0" destOrd="0" presId="urn:microsoft.com/office/officeart/2005/8/layout/vList2"/>
    <dgm:cxn modelId="{E55AA9D8-31F0-4492-9CFA-01ADBC340033}" type="presOf" srcId="{27B93B06-6FD2-4B33-9D0D-3A99261537A6}" destId="{56F57A2E-550A-48E0-A04E-70B017ECCFE4}" srcOrd="0" destOrd="0" presId="urn:microsoft.com/office/officeart/2005/8/layout/vList2"/>
    <dgm:cxn modelId="{D3BDEEF3-C692-4D62-87A4-33A1D1ECB6C7}" srcId="{6E06AD22-4C8D-4CB3-AA89-5B194887A2E6}" destId="{53735250-1FB8-4F83-9321-87458A83816A}" srcOrd="0" destOrd="0" parTransId="{5D9A2FA1-FA1E-4090-B9C7-F5FE30AF6F8C}" sibTransId="{0FFF994D-E500-4611-B007-00D542FE762F}"/>
    <dgm:cxn modelId="{9F418324-5C9E-4D17-A885-76FCF4A31D1E}" type="presParOf" srcId="{56F57A2E-550A-48E0-A04E-70B017ECCFE4}" destId="{ED99FAF8-43A3-495E-9177-C621EED0FF9E}" srcOrd="0" destOrd="0" presId="urn:microsoft.com/office/officeart/2005/8/layout/vList2"/>
    <dgm:cxn modelId="{E4EFAFE4-5C86-4466-9A5A-33900DD0A1A7}" type="presParOf" srcId="{56F57A2E-550A-48E0-A04E-70B017ECCFE4}" destId="{A97FE5EF-81FF-4D48-A0DE-B85FB67024E8}" srcOrd="1" destOrd="0" presId="urn:microsoft.com/office/officeart/2005/8/layout/vList2"/>
    <dgm:cxn modelId="{84A2C61D-C83F-47D7-8FFA-AE17B7DEB529}" type="presParOf" srcId="{56F57A2E-550A-48E0-A04E-70B017ECCFE4}" destId="{6973BEF8-C407-4DCC-B203-97EAB17968C8}" srcOrd="2" destOrd="0" presId="urn:microsoft.com/office/officeart/2005/8/layout/vList2"/>
    <dgm:cxn modelId="{4BC2539D-A50E-4F5E-A050-288888839FE7}" type="presParOf" srcId="{56F57A2E-550A-48E0-A04E-70B017ECCFE4}" destId="{08081AE3-063A-43D5-96F4-62EC961A3E6F}" srcOrd="3"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4.xml><?xml version="1.0" encoding="utf-8"?>
<dgm:dataModel xmlns:dgm="http://schemas.openxmlformats.org/drawingml/2006/diagram" xmlns:a="http://schemas.openxmlformats.org/drawingml/2006/main">
  <dgm:ptLst>
    <dgm:pt modelId="{5C5DE803-CAA9-4D5F-AEE5-F9AF215821D3}" type="doc">
      <dgm:prSet loTypeId="urn:microsoft.com/office/officeart/2008/layout/VerticalCurvedList" loCatId="list" qsTypeId="urn:microsoft.com/office/officeart/2005/8/quickstyle/simple3" qsCatId="simple" csTypeId="urn:microsoft.com/office/officeart/2005/8/colors/colorful5" csCatId="colorful" phldr="1"/>
      <dgm:spPr/>
      <dgm:t>
        <a:bodyPr/>
        <a:lstStyle/>
        <a:p>
          <a:endParaRPr lang="zh-CN" altLang="en-US"/>
        </a:p>
      </dgm:t>
    </dgm:pt>
    <dgm:pt modelId="{6123DA5E-4CB5-4CD5-ACB7-992D49046590}">
      <dgm:prSet phldrT="[文本]" custT="1"/>
      <dgm:spPr/>
      <dgm:t>
        <a:bodyPr/>
        <a:lstStyle/>
        <a:p>
          <a:r>
            <a:rPr lang="zh-CN" altLang="en-US" sz="1800" b="1" dirty="0">
              <a:latin typeface="微软雅黑" panose="020B0503020204020204" pitchFamily="34" charset="-122"/>
              <a:ea typeface="微软雅黑" panose="020B0503020204020204" pitchFamily="34" charset="-122"/>
            </a:rPr>
            <a:t>基于流的转发。流表规定转发规则。</a:t>
          </a:r>
        </a:p>
      </dgm:t>
    </dgm:pt>
    <dgm:pt modelId="{6CE172C9-9B24-43F7-9C0B-4D632E4522C8}" type="parTrans" cxnId="{032543A3-5345-4B90-B288-2E58AA3ACFA6}">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A597E6D3-74F3-4847-B5CE-BA23F7D2E699}" type="sibTrans" cxnId="{032543A3-5345-4B90-B288-2E58AA3ACFA6}">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C65F29AA-013A-4BC2-BE7C-71498B676318}">
      <dgm:prSet phldrT="[文本]" custT="1"/>
      <dgm:spPr/>
      <dgm:t>
        <a:bodyPr/>
        <a:lstStyle/>
        <a:p>
          <a:r>
            <a:rPr lang="zh-CN" altLang="en-US" sz="1800" b="1" dirty="0">
              <a:latin typeface="微软雅黑" panose="020B0503020204020204" pitchFamily="34" charset="-122"/>
              <a:ea typeface="微软雅黑" panose="020B0503020204020204" pitchFamily="34" charset="-122"/>
            </a:rPr>
            <a:t>数据层面与控制层面分离。二者不在同一个设备中。</a:t>
          </a:r>
        </a:p>
      </dgm:t>
    </dgm:pt>
    <dgm:pt modelId="{DB3F4A5C-F70A-44C3-B32F-AB78CEAB21B7}" type="parTrans" cxnId="{288FFE22-3DB2-435B-8E99-C384685ABCE3}">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30507C28-B4D6-4D36-9957-A956330DF920}" type="sibTrans" cxnId="{288FFE22-3DB2-435B-8E99-C384685ABCE3}">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9A65616D-E3DD-41E5-99BE-605144920596}">
      <dgm:prSet phldrT="[文本]" custT="1"/>
      <dgm:spPr/>
      <dgm:t>
        <a:bodyPr/>
        <a:lstStyle/>
        <a:p>
          <a:r>
            <a:rPr lang="zh-CN" altLang="en-US" sz="1800" b="1" dirty="0">
              <a:latin typeface="微软雅黑" panose="020B0503020204020204" pitchFamily="34" charset="-122"/>
              <a:ea typeface="微软雅黑" panose="020B0503020204020204" pitchFamily="34" charset="-122"/>
            </a:rPr>
            <a:t>网络控制功能位于数据层面交换机之外，用软件实现。</a:t>
          </a:r>
        </a:p>
      </dgm:t>
    </dgm:pt>
    <dgm:pt modelId="{4B020BB7-A13F-4E37-BED2-6CCAA4A2D58F}" type="parTrans" cxnId="{FE80CC53-738E-4B62-9539-4B07E227CE19}">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5E6E51CB-D032-49AD-941A-DA0D26EB5B39}" type="sibTrans" cxnId="{FE80CC53-738E-4B62-9539-4B07E227CE19}">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B7337D2B-536A-4EE6-B7CE-84C53B52301D}">
      <dgm:prSet phldrT="[文本]" custT="1"/>
      <dgm:spPr/>
      <dgm:t>
        <a:bodyPr/>
        <a:lstStyle/>
        <a:p>
          <a:r>
            <a:rPr lang="zh-CN" altLang="en-US" sz="1800" b="1" dirty="0">
              <a:latin typeface="微软雅黑" panose="020B0503020204020204" pitchFamily="34" charset="-122"/>
              <a:ea typeface="微软雅黑" panose="020B0503020204020204" pitchFamily="34" charset="-122"/>
            </a:rPr>
            <a:t>可编程的网络。</a:t>
          </a:r>
        </a:p>
      </dgm:t>
    </dgm:pt>
    <dgm:pt modelId="{A60F3012-47AD-4476-AE0F-0CC50CFA37F8}" type="parTrans" cxnId="{F0FDE1B1-4A67-45D8-B043-924EF6F8653F}">
      <dgm:prSet/>
      <dgm:spPr/>
      <dgm:t>
        <a:bodyPr/>
        <a:lstStyle/>
        <a:p>
          <a:endParaRPr lang="zh-CN" altLang="en-US"/>
        </a:p>
      </dgm:t>
    </dgm:pt>
    <dgm:pt modelId="{2976B025-A9BA-4A82-8665-CDE503C5ECC6}" type="sibTrans" cxnId="{F0FDE1B1-4A67-45D8-B043-924EF6F8653F}">
      <dgm:prSet/>
      <dgm:spPr/>
      <dgm:t>
        <a:bodyPr/>
        <a:lstStyle/>
        <a:p>
          <a:endParaRPr lang="zh-CN" altLang="en-US"/>
        </a:p>
      </dgm:t>
    </dgm:pt>
    <dgm:pt modelId="{1E608E95-33A3-4F7B-8D0A-EAD16C077CBB}" type="pres">
      <dgm:prSet presAssocID="{5C5DE803-CAA9-4D5F-AEE5-F9AF215821D3}" presName="Name0" presStyleCnt="0">
        <dgm:presLayoutVars>
          <dgm:chMax val="7"/>
          <dgm:chPref val="7"/>
          <dgm:dir/>
        </dgm:presLayoutVars>
      </dgm:prSet>
      <dgm:spPr/>
    </dgm:pt>
    <dgm:pt modelId="{C02CDC2A-B911-4EC1-AEE9-7B2CCF3A733A}" type="pres">
      <dgm:prSet presAssocID="{5C5DE803-CAA9-4D5F-AEE5-F9AF215821D3}" presName="Name1" presStyleCnt="0"/>
      <dgm:spPr/>
    </dgm:pt>
    <dgm:pt modelId="{EFA93ACA-B74D-4531-B043-94FBF4B7F1B6}" type="pres">
      <dgm:prSet presAssocID="{5C5DE803-CAA9-4D5F-AEE5-F9AF215821D3}" presName="cycle" presStyleCnt="0"/>
      <dgm:spPr/>
    </dgm:pt>
    <dgm:pt modelId="{5ED3F379-7863-4C21-B064-971B73F272EC}" type="pres">
      <dgm:prSet presAssocID="{5C5DE803-CAA9-4D5F-AEE5-F9AF215821D3}" presName="srcNode" presStyleLbl="node1" presStyleIdx="0" presStyleCnt="4"/>
      <dgm:spPr/>
    </dgm:pt>
    <dgm:pt modelId="{69B0D5C1-FC08-4682-A068-87E58ADD3967}" type="pres">
      <dgm:prSet presAssocID="{5C5DE803-CAA9-4D5F-AEE5-F9AF215821D3}" presName="conn" presStyleLbl="parChTrans1D2" presStyleIdx="0" presStyleCnt="1"/>
      <dgm:spPr/>
    </dgm:pt>
    <dgm:pt modelId="{90453F25-A84C-4968-A8FB-6E5ACC8D68BD}" type="pres">
      <dgm:prSet presAssocID="{5C5DE803-CAA9-4D5F-AEE5-F9AF215821D3}" presName="extraNode" presStyleLbl="node1" presStyleIdx="0" presStyleCnt="4"/>
      <dgm:spPr/>
    </dgm:pt>
    <dgm:pt modelId="{AD1E8A44-308F-451C-B4E7-59FF88CB7A46}" type="pres">
      <dgm:prSet presAssocID="{5C5DE803-CAA9-4D5F-AEE5-F9AF215821D3}" presName="dstNode" presStyleLbl="node1" presStyleIdx="0" presStyleCnt="4"/>
      <dgm:spPr/>
    </dgm:pt>
    <dgm:pt modelId="{4A029A32-0911-4750-B9B4-49D271EFA4E0}" type="pres">
      <dgm:prSet presAssocID="{6123DA5E-4CB5-4CD5-ACB7-992D49046590}" presName="text_1" presStyleLbl="node1" presStyleIdx="0" presStyleCnt="4">
        <dgm:presLayoutVars>
          <dgm:bulletEnabled val="1"/>
        </dgm:presLayoutVars>
      </dgm:prSet>
      <dgm:spPr/>
    </dgm:pt>
    <dgm:pt modelId="{5B578E24-2ACC-475C-96B0-8C0203EE80B1}" type="pres">
      <dgm:prSet presAssocID="{6123DA5E-4CB5-4CD5-ACB7-992D49046590}" presName="accent_1" presStyleCnt="0"/>
      <dgm:spPr/>
    </dgm:pt>
    <dgm:pt modelId="{C2D66341-6C1E-4BCC-8C84-A646950EFF77}" type="pres">
      <dgm:prSet presAssocID="{6123DA5E-4CB5-4CD5-ACB7-992D49046590}" presName="accentRepeatNode" presStyleLbl="solidFgAcc1" presStyleIdx="0" presStyleCnt="4"/>
      <dgm:spPr>
        <a:blipFill dpi="0" rotWithShape="0">
          <a:blip xmlns:r="http://schemas.openxmlformats.org/officeDocument/2006/relationships" r:embed="rId1">
            <a:extLst>
              <a:ext uri="{28A0092B-C50C-407E-A947-70E740481C1C}">
                <a14:useLocalDpi xmlns:a14="http://schemas.microsoft.com/office/drawing/2010/main" val="0"/>
              </a:ext>
            </a:extLst>
          </a:blip>
          <a:srcRect/>
          <a:stretch>
            <a:fillRect/>
          </a:stretch>
        </a:blipFill>
      </dgm:spPr>
    </dgm:pt>
    <dgm:pt modelId="{F5F98171-0BBC-44BA-A385-25C4F93E716D}" type="pres">
      <dgm:prSet presAssocID="{C65F29AA-013A-4BC2-BE7C-71498B676318}" presName="text_2" presStyleLbl="node1" presStyleIdx="1" presStyleCnt="4">
        <dgm:presLayoutVars>
          <dgm:bulletEnabled val="1"/>
        </dgm:presLayoutVars>
      </dgm:prSet>
      <dgm:spPr/>
    </dgm:pt>
    <dgm:pt modelId="{E4EA13F8-30A9-4839-8224-F3FF5CDAB0E7}" type="pres">
      <dgm:prSet presAssocID="{C65F29AA-013A-4BC2-BE7C-71498B676318}" presName="accent_2" presStyleCnt="0"/>
      <dgm:spPr/>
    </dgm:pt>
    <dgm:pt modelId="{6BA4FFC2-2FE1-4DE8-AFAD-430C985B0E85}" type="pres">
      <dgm:prSet presAssocID="{C65F29AA-013A-4BC2-BE7C-71498B676318}" presName="accentRepeatNode" presStyleLbl="solidFgAcc1" presStyleIdx="1" presStyleCnt="4"/>
      <dgm:spPr>
        <a:blipFill dpi="0" rotWithShape="0">
          <a:blip xmlns:r="http://schemas.openxmlformats.org/officeDocument/2006/relationships" r:embed="rId1">
            <a:extLst>
              <a:ext uri="{28A0092B-C50C-407E-A947-70E740481C1C}">
                <a14:useLocalDpi xmlns:a14="http://schemas.microsoft.com/office/drawing/2010/main" val="0"/>
              </a:ext>
            </a:extLst>
          </a:blip>
          <a:srcRect/>
          <a:stretch>
            <a:fillRect/>
          </a:stretch>
        </a:blipFill>
      </dgm:spPr>
    </dgm:pt>
    <dgm:pt modelId="{CD11EB12-0408-40BE-A5E0-D1CFC22DFC2E}" type="pres">
      <dgm:prSet presAssocID="{9A65616D-E3DD-41E5-99BE-605144920596}" presName="text_3" presStyleLbl="node1" presStyleIdx="2" presStyleCnt="4">
        <dgm:presLayoutVars>
          <dgm:bulletEnabled val="1"/>
        </dgm:presLayoutVars>
      </dgm:prSet>
      <dgm:spPr/>
    </dgm:pt>
    <dgm:pt modelId="{99B5A6F6-D82D-4782-AAA5-78FBF2EE0209}" type="pres">
      <dgm:prSet presAssocID="{9A65616D-E3DD-41E5-99BE-605144920596}" presName="accent_3" presStyleCnt="0"/>
      <dgm:spPr/>
    </dgm:pt>
    <dgm:pt modelId="{AA66A021-7549-4FCB-AE4D-4B546BB936CD}" type="pres">
      <dgm:prSet presAssocID="{9A65616D-E3DD-41E5-99BE-605144920596}" presName="accentRepeatNode" presStyleLbl="solidFgAcc1" presStyleIdx="2" presStyleCnt="4"/>
      <dgm:spPr>
        <a:blipFill dpi="0" rotWithShape="0">
          <a:blip xmlns:r="http://schemas.openxmlformats.org/officeDocument/2006/relationships" r:embed="rId1">
            <a:extLst>
              <a:ext uri="{28A0092B-C50C-407E-A947-70E740481C1C}">
                <a14:useLocalDpi xmlns:a14="http://schemas.microsoft.com/office/drawing/2010/main" val="0"/>
              </a:ext>
            </a:extLst>
          </a:blip>
          <a:srcRect/>
          <a:stretch>
            <a:fillRect/>
          </a:stretch>
        </a:blipFill>
      </dgm:spPr>
    </dgm:pt>
    <dgm:pt modelId="{2B5470FC-E1D3-437D-A66F-B24660D1DB5E}" type="pres">
      <dgm:prSet presAssocID="{B7337D2B-536A-4EE6-B7CE-84C53B52301D}" presName="text_4" presStyleLbl="node1" presStyleIdx="3" presStyleCnt="4">
        <dgm:presLayoutVars>
          <dgm:bulletEnabled val="1"/>
        </dgm:presLayoutVars>
      </dgm:prSet>
      <dgm:spPr/>
    </dgm:pt>
    <dgm:pt modelId="{20484678-A99D-4ED1-93DB-56062813EC2E}" type="pres">
      <dgm:prSet presAssocID="{B7337D2B-536A-4EE6-B7CE-84C53B52301D}" presName="accent_4" presStyleCnt="0"/>
      <dgm:spPr/>
    </dgm:pt>
    <dgm:pt modelId="{3445C45D-2AA7-4DBC-A20C-73321A134B77}" type="pres">
      <dgm:prSet presAssocID="{B7337D2B-536A-4EE6-B7CE-84C53B52301D}" presName="accentRepeatNode" presStyleLbl="solidFgAcc1" presStyleIdx="3" presStyleCnt="4"/>
      <dgm:spPr>
        <a:blipFill dpi="0" rotWithShape="0">
          <a:blip xmlns:r="http://schemas.openxmlformats.org/officeDocument/2006/relationships" r:embed="rId1">
            <a:extLst>
              <a:ext uri="{28A0092B-C50C-407E-A947-70E740481C1C}">
                <a14:useLocalDpi xmlns:a14="http://schemas.microsoft.com/office/drawing/2010/main" val="0"/>
              </a:ext>
            </a:extLst>
          </a:blip>
          <a:srcRect/>
          <a:stretch>
            <a:fillRect/>
          </a:stretch>
        </a:blipFill>
      </dgm:spPr>
    </dgm:pt>
  </dgm:ptLst>
  <dgm:cxnLst>
    <dgm:cxn modelId="{288FFE22-3DB2-435B-8E99-C384685ABCE3}" srcId="{5C5DE803-CAA9-4D5F-AEE5-F9AF215821D3}" destId="{C65F29AA-013A-4BC2-BE7C-71498B676318}" srcOrd="1" destOrd="0" parTransId="{DB3F4A5C-F70A-44C3-B32F-AB78CEAB21B7}" sibTransId="{30507C28-B4D6-4D36-9957-A956330DF920}"/>
    <dgm:cxn modelId="{59444C32-66B7-46EB-AB13-2956F0B780D8}" type="presOf" srcId="{9A65616D-E3DD-41E5-99BE-605144920596}" destId="{CD11EB12-0408-40BE-A5E0-D1CFC22DFC2E}" srcOrd="0" destOrd="0" presId="urn:microsoft.com/office/officeart/2008/layout/VerticalCurvedList"/>
    <dgm:cxn modelId="{6ACF774D-F406-4245-8F3C-19CC8A9A2173}" type="presOf" srcId="{C65F29AA-013A-4BC2-BE7C-71498B676318}" destId="{F5F98171-0BBC-44BA-A385-25C4F93E716D}" srcOrd="0" destOrd="0" presId="urn:microsoft.com/office/officeart/2008/layout/VerticalCurvedList"/>
    <dgm:cxn modelId="{FE80CC53-738E-4B62-9539-4B07E227CE19}" srcId="{5C5DE803-CAA9-4D5F-AEE5-F9AF215821D3}" destId="{9A65616D-E3DD-41E5-99BE-605144920596}" srcOrd="2" destOrd="0" parTransId="{4B020BB7-A13F-4E37-BED2-6CCAA4A2D58F}" sibTransId="{5E6E51CB-D032-49AD-941A-DA0D26EB5B39}"/>
    <dgm:cxn modelId="{B3080F7A-5576-4E40-98EE-01C9AA648E93}" type="presOf" srcId="{B7337D2B-536A-4EE6-B7CE-84C53B52301D}" destId="{2B5470FC-E1D3-437D-A66F-B24660D1DB5E}" srcOrd="0" destOrd="0" presId="urn:microsoft.com/office/officeart/2008/layout/VerticalCurvedList"/>
    <dgm:cxn modelId="{FC132387-288F-4493-B572-0A792E45BFCE}" type="presOf" srcId="{5C5DE803-CAA9-4D5F-AEE5-F9AF215821D3}" destId="{1E608E95-33A3-4F7B-8D0A-EAD16C077CBB}" srcOrd="0" destOrd="0" presId="urn:microsoft.com/office/officeart/2008/layout/VerticalCurvedList"/>
    <dgm:cxn modelId="{032543A3-5345-4B90-B288-2E58AA3ACFA6}" srcId="{5C5DE803-CAA9-4D5F-AEE5-F9AF215821D3}" destId="{6123DA5E-4CB5-4CD5-ACB7-992D49046590}" srcOrd="0" destOrd="0" parTransId="{6CE172C9-9B24-43F7-9C0B-4D632E4522C8}" sibTransId="{A597E6D3-74F3-4847-B5CE-BA23F7D2E699}"/>
    <dgm:cxn modelId="{F0FDE1B1-4A67-45D8-B043-924EF6F8653F}" srcId="{5C5DE803-CAA9-4D5F-AEE5-F9AF215821D3}" destId="{B7337D2B-536A-4EE6-B7CE-84C53B52301D}" srcOrd="3" destOrd="0" parTransId="{A60F3012-47AD-4476-AE0F-0CC50CFA37F8}" sibTransId="{2976B025-A9BA-4A82-8665-CDE503C5ECC6}"/>
    <dgm:cxn modelId="{F2A66EBE-DCB2-4AA1-8337-923791308915}" type="presOf" srcId="{6123DA5E-4CB5-4CD5-ACB7-992D49046590}" destId="{4A029A32-0911-4750-B9B4-49D271EFA4E0}" srcOrd="0" destOrd="0" presId="urn:microsoft.com/office/officeart/2008/layout/VerticalCurvedList"/>
    <dgm:cxn modelId="{0443FAFB-1879-4632-8EE1-4FDED9088899}" type="presOf" srcId="{A597E6D3-74F3-4847-B5CE-BA23F7D2E699}" destId="{69B0D5C1-FC08-4682-A068-87E58ADD3967}" srcOrd="0" destOrd="0" presId="urn:microsoft.com/office/officeart/2008/layout/VerticalCurvedList"/>
    <dgm:cxn modelId="{1F742EC7-AB8C-4040-B571-C6E7EB018A5B}" type="presParOf" srcId="{1E608E95-33A3-4F7B-8D0A-EAD16C077CBB}" destId="{C02CDC2A-B911-4EC1-AEE9-7B2CCF3A733A}" srcOrd="0" destOrd="0" presId="urn:microsoft.com/office/officeart/2008/layout/VerticalCurvedList"/>
    <dgm:cxn modelId="{5DC1C32A-3058-4B2F-9380-5D49C8F83B5F}" type="presParOf" srcId="{C02CDC2A-B911-4EC1-AEE9-7B2CCF3A733A}" destId="{EFA93ACA-B74D-4531-B043-94FBF4B7F1B6}" srcOrd="0" destOrd="0" presId="urn:microsoft.com/office/officeart/2008/layout/VerticalCurvedList"/>
    <dgm:cxn modelId="{C0595C36-C164-4688-94C4-32E140B8711D}" type="presParOf" srcId="{EFA93ACA-B74D-4531-B043-94FBF4B7F1B6}" destId="{5ED3F379-7863-4C21-B064-971B73F272EC}" srcOrd="0" destOrd="0" presId="urn:microsoft.com/office/officeart/2008/layout/VerticalCurvedList"/>
    <dgm:cxn modelId="{E45E8CCA-F630-48E0-AF78-58AE45E7E317}" type="presParOf" srcId="{EFA93ACA-B74D-4531-B043-94FBF4B7F1B6}" destId="{69B0D5C1-FC08-4682-A068-87E58ADD3967}" srcOrd="1" destOrd="0" presId="urn:microsoft.com/office/officeart/2008/layout/VerticalCurvedList"/>
    <dgm:cxn modelId="{B1DF779C-8143-4B31-AC06-726AB15CE215}" type="presParOf" srcId="{EFA93ACA-B74D-4531-B043-94FBF4B7F1B6}" destId="{90453F25-A84C-4968-A8FB-6E5ACC8D68BD}" srcOrd="2" destOrd="0" presId="urn:microsoft.com/office/officeart/2008/layout/VerticalCurvedList"/>
    <dgm:cxn modelId="{0A6D522B-3433-439E-ADEF-69F548437F8C}" type="presParOf" srcId="{EFA93ACA-B74D-4531-B043-94FBF4B7F1B6}" destId="{AD1E8A44-308F-451C-B4E7-59FF88CB7A46}" srcOrd="3" destOrd="0" presId="urn:microsoft.com/office/officeart/2008/layout/VerticalCurvedList"/>
    <dgm:cxn modelId="{52D64DE7-F297-484A-A52F-1A5784D21497}" type="presParOf" srcId="{C02CDC2A-B911-4EC1-AEE9-7B2CCF3A733A}" destId="{4A029A32-0911-4750-B9B4-49D271EFA4E0}" srcOrd="1" destOrd="0" presId="urn:microsoft.com/office/officeart/2008/layout/VerticalCurvedList"/>
    <dgm:cxn modelId="{5D7A792C-71AA-4690-A242-0C6D13C7BEBC}" type="presParOf" srcId="{C02CDC2A-B911-4EC1-AEE9-7B2CCF3A733A}" destId="{5B578E24-2ACC-475C-96B0-8C0203EE80B1}" srcOrd="2" destOrd="0" presId="urn:microsoft.com/office/officeart/2008/layout/VerticalCurvedList"/>
    <dgm:cxn modelId="{AEECE7AA-1212-4474-83DC-DC34DC6F32F2}" type="presParOf" srcId="{5B578E24-2ACC-475C-96B0-8C0203EE80B1}" destId="{C2D66341-6C1E-4BCC-8C84-A646950EFF77}" srcOrd="0" destOrd="0" presId="urn:microsoft.com/office/officeart/2008/layout/VerticalCurvedList"/>
    <dgm:cxn modelId="{3A163285-ED1E-4CC1-BA1D-B1E52F3C4B96}" type="presParOf" srcId="{C02CDC2A-B911-4EC1-AEE9-7B2CCF3A733A}" destId="{F5F98171-0BBC-44BA-A385-25C4F93E716D}" srcOrd="3" destOrd="0" presId="urn:microsoft.com/office/officeart/2008/layout/VerticalCurvedList"/>
    <dgm:cxn modelId="{D3DF5174-11AB-4B29-80FE-7E446204ECC1}" type="presParOf" srcId="{C02CDC2A-B911-4EC1-AEE9-7B2CCF3A733A}" destId="{E4EA13F8-30A9-4839-8224-F3FF5CDAB0E7}" srcOrd="4" destOrd="0" presId="urn:microsoft.com/office/officeart/2008/layout/VerticalCurvedList"/>
    <dgm:cxn modelId="{F13E9A65-7B37-4915-82A9-50A56A4466D5}" type="presParOf" srcId="{E4EA13F8-30A9-4839-8224-F3FF5CDAB0E7}" destId="{6BA4FFC2-2FE1-4DE8-AFAD-430C985B0E85}" srcOrd="0" destOrd="0" presId="urn:microsoft.com/office/officeart/2008/layout/VerticalCurvedList"/>
    <dgm:cxn modelId="{5CE7359A-853B-4FF2-A1A4-B82DEECA542A}" type="presParOf" srcId="{C02CDC2A-B911-4EC1-AEE9-7B2CCF3A733A}" destId="{CD11EB12-0408-40BE-A5E0-D1CFC22DFC2E}" srcOrd="5" destOrd="0" presId="urn:microsoft.com/office/officeart/2008/layout/VerticalCurvedList"/>
    <dgm:cxn modelId="{F19BE40A-DFE4-443F-868E-E2244E89FCAE}" type="presParOf" srcId="{C02CDC2A-B911-4EC1-AEE9-7B2CCF3A733A}" destId="{99B5A6F6-D82D-4782-AAA5-78FBF2EE0209}" srcOrd="6" destOrd="0" presId="urn:microsoft.com/office/officeart/2008/layout/VerticalCurvedList"/>
    <dgm:cxn modelId="{E3D83F82-D637-4E2C-8E38-ADF72F6AE401}" type="presParOf" srcId="{99B5A6F6-D82D-4782-AAA5-78FBF2EE0209}" destId="{AA66A021-7549-4FCB-AE4D-4B546BB936CD}" srcOrd="0" destOrd="0" presId="urn:microsoft.com/office/officeart/2008/layout/VerticalCurvedList"/>
    <dgm:cxn modelId="{20EBA661-4AEB-416D-99AA-0EF6C4D82B56}" type="presParOf" srcId="{C02CDC2A-B911-4EC1-AEE9-7B2CCF3A733A}" destId="{2B5470FC-E1D3-437D-A66F-B24660D1DB5E}" srcOrd="7" destOrd="0" presId="urn:microsoft.com/office/officeart/2008/layout/VerticalCurvedList"/>
    <dgm:cxn modelId="{78960E1D-B8C3-4D43-A983-59483B584228}" type="presParOf" srcId="{C02CDC2A-B911-4EC1-AEE9-7B2CCF3A733A}" destId="{20484678-A99D-4ED1-93DB-56062813EC2E}" srcOrd="8" destOrd="0" presId="urn:microsoft.com/office/officeart/2008/layout/VerticalCurvedList"/>
    <dgm:cxn modelId="{CD17E837-69DC-4F7E-968F-B68645EF8156}" type="presParOf" srcId="{20484678-A99D-4ED1-93DB-56062813EC2E}" destId="{3445C45D-2AA7-4DBC-A20C-73321A134B77}" srcOrd="0" destOrd="0" presId="urn:microsoft.com/office/officeart/2008/layout/VerticalCurv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5.xml><?xml version="1.0" encoding="utf-8"?>
<dgm:dataModel xmlns:dgm="http://schemas.openxmlformats.org/drawingml/2006/diagram" xmlns:a="http://schemas.openxmlformats.org/drawingml/2006/main">
  <dgm:ptLst>
    <dgm:pt modelId="{E619A35B-6F76-4F5B-9866-62BEE8E1B43C}" type="doc">
      <dgm:prSet loTypeId="urn:microsoft.com/office/officeart/2005/8/layout/hList1" loCatId="list" qsTypeId="urn:microsoft.com/office/officeart/2005/8/quickstyle/simple1" qsCatId="simple" csTypeId="urn:microsoft.com/office/officeart/2005/8/colors/colorful1#10" csCatId="colorful" phldr="1"/>
      <dgm:spPr/>
      <dgm:t>
        <a:bodyPr/>
        <a:lstStyle/>
        <a:p>
          <a:endParaRPr lang="zh-CN" altLang="en-US"/>
        </a:p>
      </dgm:t>
    </dgm:pt>
    <dgm:pt modelId="{4A5FAA12-B526-40D6-A585-8F25D8E3B5CF}">
      <dgm:prSet phldrT="[文本]" custT="1"/>
      <dgm:spPr/>
      <dgm:t>
        <a:bodyPr/>
        <a:lstStyle/>
        <a:p>
          <a:pPr>
            <a:lnSpc>
              <a:spcPts val="2200"/>
            </a:lnSpc>
            <a:spcBef>
              <a:spcPts val="0"/>
            </a:spcBef>
            <a:spcAft>
              <a:spcPts val="0"/>
            </a:spcAft>
          </a:pPr>
          <a:r>
            <a:rPr lang="en-US" altLang="zh-CN" sz="1800" b="1" dirty="0">
              <a:latin typeface="微软雅黑" panose="020B0503020204020204" pitchFamily="34" charset="-122"/>
              <a:ea typeface="微软雅黑" panose="020B0503020204020204" pitchFamily="34" charset="-122"/>
            </a:rPr>
            <a:t>SDN</a:t>
          </a:r>
          <a:endParaRPr lang="zh-CN" altLang="en-US" sz="1800" b="1" dirty="0">
            <a:latin typeface="微软雅黑" panose="020B0503020204020204" pitchFamily="34" charset="-122"/>
            <a:ea typeface="微软雅黑" panose="020B0503020204020204" pitchFamily="34" charset="-122"/>
          </a:endParaRPr>
        </a:p>
      </dgm:t>
    </dgm:pt>
    <dgm:pt modelId="{BA4ABDAD-0A84-478F-BEF5-D89876B2358C}" type="parTrans" cxnId="{48ED03E9-295B-4B0B-AAEF-E2CD78821D49}">
      <dgm:prSet/>
      <dgm:spPr/>
      <dgm:t>
        <a:bodyPr/>
        <a:lstStyle/>
        <a:p>
          <a:pPr>
            <a:lnSpc>
              <a:spcPts val="2200"/>
            </a:lnSpc>
            <a:spcBef>
              <a:spcPts val="0"/>
            </a:spcBef>
            <a:spcAft>
              <a:spcPts val="0"/>
            </a:spcAft>
          </a:pPr>
          <a:endParaRPr lang="zh-CN" altLang="en-US" sz="1800" b="1">
            <a:latin typeface="微软雅黑" panose="020B0503020204020204" pitchFamily="34" charset="-122"/>
            <a:ea typeface="微软雅黑" panose="020B0503020204020204" pitchFamily="34" charset="-122"/>
          </a:endParaRPr>
        </a:p>
      </dgm:t>
    </dgm:pt>
    <dgm:pt modelId="{A0348CB2-E5AF-4DF4-82BC-60A5461B27CB}" type="sibTrans" cxnId="{48ED03E9-295B-4B0B-AAEF-E2CD78821D49}">
      <dgm:prSet/>
      <dgm:spPr/>
      <dgm:t>
        <a:bodyPr/>
        <a:lstStyle/>
        <a:p>
          <a:pPr>
            <a:lnSpc>
              <a:spcPts val="2200"/>
            </a:lnSpc>
            <a:spcBef>
              <a:spcPts val="0"/>
            </a:spcBef>
            <a:spcAft>
              <a:spcPts val="0"/>
            </a:spcAft>
          </a:pPr>
          <a:endParaRPr lang="zh-CN" altLang="en-US" sz="1800" b="1">
            <a:latin typeface="微软雅黑" panose="020B0503020204020204" pitchFamily="34" charset="-122"/>
            <a:ea typeface="微软雅黑" panose="020B0503020204020204" pitchFamily="34" charset="-122"/>
          </a:endParaRPr>
        </a:p>
      </dgm:t>
    </dgm:pt>
    <dgm:pt modelId="{C9BCE8A9-D041-4DBC-8845-482A3A7A396F}">
      <dgm:prSet phldrT="[文本]" custT="1"/>
      <dgm:spPr/>
      <dgm:t>
        <a:bodyPr/>
        <a:lstStyle/>
        <a:p>
          <a:pPr>
            <a:lnSpc>
              <a:spcPts val="3000"/>
            </a:lnSpc>
            <a:spcBef>
              <a:spcPts val="0"/>
            </a:spcBef>
            <a:spcAft>
              <a:spcPts val="0"/>
            </a:spcAft>
          </a:pPr>
          <a:r>
            <a:rPr lang="zh-CN" altLang="en-US" sz="1800" b="1" dirty="0">
              <a:solidFill>
                <a:srgbClr val="0000CC"/>
              </a:solidFill>
              <a:latin typeface="微软雅黑" panose="020B0503020204020204" pitchFamily="34" charset="-122"/>
              <a:ea typeface="微软雅黑" panose="020B0503020204020204" pitchFamily="34" charset="-122"/>
            </a:rPr>
            <a:t>传统网络</a:t>
          </a:r>
        </a:p>
      </dgm:t>
    </dgm:pt>
    <dgm:pt modelId="{75079E22-3A7E-434C-9C6F-14CEDBD0380B}" type="parTrans" cxnId="{294E84FE-1056-409C-8AD4-E0DD366816F1}">
      <dgm:prSet/>
      <dgm:spPr/>
      <dgm:t>
        <a:bodyPr/>
        <a:lstStyle/>
        <a:p>
          <a:pPr>
            <a:lnSpc>
              <a:spcPts val="2200"/>
            </a:lnSpc>
            <a:spcBef>
              <a:spcPts val="0"/>
            </a:spcBef>
            <a:spcAft>
              <a:spcPts val="0"/>
            </a:spcAft>
          </a:pPr>
          <a:endParaRPr lang="zh-CN" altLang="en-US" sz="1800" b="1">
            <a:latin typeface="微软雅黑" panose="020B0503020204020204" pitchFamily="34" charset="-122"/>
            <a:ea typeface="微软雅黑" panose="020B0503020204020204" pitchFamily="34" charset="-122"/>
          </a:endParaRPr>
        </a:p>
      </dgm:t>
    </dgm:pt>
    <dgm:pt modelId="{B0BC9EB0-9E94-476B-A8E0-C9226E36D271}" type="sibTrans" cxnId="{294E84FE-1056-409C-8AD4-E0DD366816F1}">
      <dgm:prSet/>
      <dgm:spPr/>
      <dgm:t>
        <a:bodyPr/>
        <a:lstStyle/>
        <a:p>
          <a:pPr>
            <a:lnSpc>
              <a:spcPts val="2200"/>
            </a:lnSpc>
            <a:spcBef>
              <a:spcPts val="0"/>
            </a:spcBef>
            <a:spcAft>
              <a:spcPts val="0"/>
            </a:spcAft>
          </a:pPr>
          <a:endParaRPr lang="zh-CN" altLang="en-US" sz="1800" b="1">
            <a:latin typeface="微软雅黑" panose="020B0503020204020204" pitchFamily="34" charset="-122"/>
            <a:ea typeface="微软雅黑" panose="020B0503020204020204" pitchFamily="34" charset="-122"/>
          </a:endParaRPr>
        </a:p>
      </dgm:t>
    </dgm:pt>
    <dgm:pt modelId="{25DC11C9-1070-46F3-B350-64BDA7654B0D}">
      <dgm:prSet phldrT="[文本]" custT="1"/>
      <dgm:spPr/>
      <dgm:t>
        <a:bodyPr/>
        <a:lstStyle/>
        <a:p>
          <a:pPr>
            <a:lnSpc>
              <a:spcPts val="3000"/>
            </a:lnSpc>
            <a:spcBef>
              <a:spcPts val="0"/>
            </a:spcBef>
            <a:spcAft>
              <a:spcPts val="0"/>
            </a:spcAft>
          </a:pPr>
          <a:r>
            <a:rPr lang="zh-CN" altLang="en-US" sz="1800" b="1" dirty="0">
              <a:latin typeface="微软雅黑" panose="020B0503020204020204" pitchFamily="34" charset="-122"/>
              <a:ea typeface="微软雅黑" panose="020B0503020204020204" pitchFamily="34" charset="-122"/>
            </a:rPr>
            <a:t>功能分散。交换机、</a:t>
          </a:r>
          <a:r>
            <a:rPr lang="en-US" altLang="en-US" sz="1800" b="1" dirty="0">
              <a:latin typeface="微软雅黑" panose="020B0503020204020204" pitchFamily="34" charset="-122"/>
              <a:ea typeface="微软雅黑" panose="020B0503020204020204" pitchFamily="34" charset="-122"/>
            </a:rPr>
            <a:t>SDN </a:t>
          </a:r>
          <a:r>
            <a:rPr lang="zh-CN" altLang="en-US" sz="1800" b="1" dirty="0">
              <a:latin typeface="微软雅黑" panose="020B0503020204020204" pitchFamily="34" charset="-122"/>
              <a:ea typeface="微软雅黑" panose="020B0503020204020204" pitchFamily="34" charset="-122"/>
            </a:rPr>
            <a:t>控制器、网络控制应用程序都是可以分开的实体。</a:t>
          </a:r>
        </a:p>
      </dgm:t>
    </dgm:pt>
    <dgm:pt modelId="{7C5E2CCC-FBB6-425F-A045-D5C8158DA352}" type="parTrans" cxnId="{6FED0BF3-2FB3-4A16-AC44-6DAA0B4E657B}">
      <dgm:prSet/>
      <dgm:spPr/>
      <dgm:t>
        <a:bodyPr/>
        <a:lstStyle/>
        <a:p>
          <a:pPr>
            <a:lnSpc>
              <a:spcPts val="2200"/>
            </a:lnSpc>
            <a:spcBef>
              <a:spcPts val="0"/>
            </a:spcBef>
            <a:spcAft>
              <a:spcPts val="0"/>
            </a:spcAft>
          </a:pPr>
          <a:endParaRPr lang="zh-CN" altLang="en-US" sz="1800" b="1">
            <a:latin typeface="微软雅黑" panose="020B0503020204020204" pitchFamily="34" charset="-122"/>
            <a:ea typeface="微软雅黑" panose="020B0503020204020204" pitchFamily="34" charset="-122"/>
          </a:endParaRPr>
        </a:p>
      </dgm:t>
    </dgm:pt>
    <dgm:pt modelId="{2612D70B-DEDE-49B9-BD1E-9FFB595FDC9C}" type="sibTrans" cxnId="{6FED0BF3-2FB3-4A16-AC44-6DAA0B4E657B}">
      <dgm:prSet/>
      <dgm:spPr/>
      <dgm:t>
        <a:bodyPr/>
        <a:lstStyle/>
        <a:p>
          <a:pPr>
            <a:lnSpc>
              <a:spcPts val="2200"/>
            </a:lnSpc>
            <a:spcBef>
              <a:spcPts val="0"/>
            </a:spcBef>
            <a:spcAft>
              <a:spcPts val="0"/>
            </a:spcAft>
          </a:pPr>
          <a:endParaRPr lang="zh-CN" altLang="en-US" sz="1800" b="1">
            <a:latin typeface="微软雅黑" panose="020B0503020204020204" pitchFamily="34" charset="-122"/>
            <a:ea typeface="微软雅黑" panose="020B0503020204020204" pitchFamily="34" charset="-122"/>
          </a:endParaRPr>
        </a:p>
      </dgm:t>
    </dgm:pt>
    <dgm:pt modelId="{8EECE90E-A4C1-468D-A54F-862B71E4AE7A}">
      <dgm:prSet phldrT="[文本]" custT="1"/>
      <dgm:spPr/>
      <dgm:t>
        <a:bodyPr/>
        <a:lstStyle/>
        <a:p>
          <a:pPr>
            <a:lnSpc>
              <a:spcPts val="3000"/>
            </a:lnSpc>
            <a:spcBef>
              <a:spcPts val="0"/>
            </a:spcBef>
            <a:spcAft>
              <a:spcPts val="0"/>
            </a:spcAft>
          </a:pPr>
          <a:r>
            <a:rPr lang="zh-CN" altLang="en-US" sz="1800" b="1" dirty="0">
              <a:latin typeface="微软雅黑" panose="020B0503020204020204" pitchFamily="34" charset="-122"/>
              <a:ea typeface="微软雅黑" panose="020B0503020204020204" pitchFamily="34" charset="-122"/>
            </a:rPr>
            <a:t>控制层面、数据层面、协议的实现都垂直集成在一个机器里。</a:t>
          </a:r>
        </a:p>
      </dgm:t>
    </dgm:pt>
    <dgm:pt modelId="{8420BA46-EAF0-453F-80DA-728C83A553A1}" type="parTrans" cxnId="{F368FFDA-F651-4BAF-9C1C-C2BDACD705E3}">
      <dgm:prSet/>
      <dgm:spPr/>
      <dgm:t>
        <a:bodyPr/>
        <a:lstStyle/>
        <a:p>
          <a:pPr>
            <a:lnSpc>
              <a:spcPts val="2200"/>
            </a:lnSpc>
            <a:spcBef>
              <a:spcPts val="0"/>
            </a:spcBef>
            <a:spcAft>
              <a:spcPts val="0"/>
            </a:spcAft>
          </a:pPr>
          <a:endParaRPr lang="zh-CN" altLang="en-US" sz="1800" b="1">
            <a:latin typeface="微软雅黑" panose="020B0503020204020204" pitchFamily="34" charset="-122"/>
            <a:ea typeface="微软雅黑" panose="020B0503020204020204" pitchFamily="34" charset="-122"/>
          </a:endParaRPr>
        </a:p>
      </dgm:t>
    </dgm:pt>
    <dgm:pt modelId="{2422BFC9-7AEE-4057-8A48-6FA836731397}" type="sibTrans" cxnId="{F368FFDA-F651-4BAF-9C1C-C2BDACD705E3}">
      <dgm:prSet/>
      <dgm:spPr/>
      <dgm:t>
        <a:bodyPr/>
        <a:lstStyle/>
        <a:p>
          <a:pPr>
            <a:lnSpc>
              <a:spcPts val="2200"/>
            </a:lnSpc>
            <a:spcBef>
              <a:spcPts val="0"/>
            </a:spcBef>
            <a:spcAft>
              <a:spcPts val="0"/>
            </a:spcAft>
          </a:pPr>
          <a:endParaRPr lang="zh-CN" altLang="en-US" sz="1800" b="1">
            <a:latin typeface="微软雅黑" panose="020B0503020204020204" pitchFamily="34" charset="-122"/>
            <a:ea typeface="微软雅黑" panose="020B0503020204020204" pitchFamily="34" charset="-122"/>
          </a:endParaRPr>
        </a:p>
      </dgm:t>
    </dgm:pt>
    <dgm:pt modelId="{677AFE12-F6B5-41EE-82A2-0A5381CBB9FC}">
      <dgm:prSet phldrT="[文本]" custT="1"/>
      <dgm:spPr/>
      <dgm:t>
        <a:bodyPr/>
        <a:lstStyle/>
        <a:p>
          <a:pPr>
            <a:lnSpc>
              <a:spcPts val="3000"/>
            </a:lnSpc>
            <a:spcBef>
              <a:spcPts val="0"/>
            </a:spcBef>
            <a:spcAft>
              <a:spcPts val="0"/>
            </a:spcAft>
          </a:pPr>
          <a:r>
            <a:rPr lang="zh-CN" altLang="en-US" sz="1800" b="1" dirty="0">
              <a:latin typeface="微软雅黑" panose="020B0503020204020204" pitchFamily="34" charset="-122"/>
              <a:ea typeface="微软雅黑" panose="020B0503020204020204" pitchFamily="34" charset="-122"/>
            </a:rPr>
            <a:t>由单独的厂商提供。</a:t>
          </a:r>
        </a:p>
      </dgm:t>
    </dgm:pt>
    <dgm:pt modelId="{54FC2272-A771-46A9-B03B-FD4BB75D0955}" type="parTrans" cxnId="{F2270C93-4F27-4E3F-A0E2-D2F288985849}">
      <dgm:prSet/>
      <dgm:spPr/>
      <dgm:t>
        <a:bodyPr/>
        <a:lstStyle/>
        <a:p>
          <a:pPr>
            <a:lnSpc>
              <a:spcPts val="2200"/>
            </a:lnSpc>
            <a:spcBef>
              <a:spcPts val="0"/>
            </a:spcBef>
            <a:spcAft>
              <a:spcPts val="0"/>
            </a:spcAft>
          </a:pPr>
          <a:endParaRPr lang="zh-CN" altLang="en-US"/>
        </a:p>
      </dgm:t>
    </dgm:pt>
    <dgm:pt modelId="{6A251A62-7170-4B78-8FCC-1920BEA35D59}" type="sibTrans" cxnId="{F2270C93-4F27-4E3F-A0E2-D2F288985849}">
      <dgm:prSet/>
      <dgm:spPr/>
      <dgm:t>
        <a:bodyPr/>
        <a:lstStyle/>
        <a:p>
          <a:pPr>
            <a:lnSpc>
              <a:spcPts val="2200"/>
            </a:lnSpc>
            <a:spcBef>
              <a:spcPts val="0"/>
            </a:spcBef>
            <a:spcAft>
              <a:spcPts val="0"/>
            </a:spcAft>
          </a:pPr>
          <a:endParaRPr lang="zh-CN" altLang="en-US"/>
        </a:p>
      </dgm:t>
    </dgm:pt>
    <dgm:pt modelId="{12F350A1-BAB6-49E7-A675-F34567C93BB3}">
      <dgm:prSet phldrT="[文本]" custT="1"/>
      <dgm:spPr/>
      <dgm:t>
        <a:bodyPr/>
        <a:lstStyle/>
        <a:p>
          <a:pPr>
            <a:lnSpc>
              <a:spcPts val="3000"/>
            </a:lnSpc>
            <a:spcBef>
              <a:spcPts val="0"/>
            </a:spcBef>
            <a:spcAft>
              <a:spcPts val="0"/>
            </a:spcAft>
          </a:pPr>
          <a:r>
            <a:rPr lang="zh-CN" altLang="en-US" sz="1800" b="1" dirty="0">
              <a:latin typeface="微软雅黑" panose="020B0503020204020204" pitchFamily="34" charset="-122"/>
              <a:ea typeface="微软雅黑" panose="020B0503020204020204" pitchFamily="34" charset="-122"/>
            </a:rPr>
            <a:t>可以由不同的厂商和机构来提供。</a:t>
          </a:r>
        </a:p>
      </dgm:t>
    </dgm:pt>
    <dgm:pt modelId="{A7B5A7E3-3C11-449F-8CAA-FEAA6559AD5C}" type="parTrans" cxnId="{0822A5D8-2704-4CC0-B9A8-A9B7BC1EF476}">
      <dgm:prSet/>
      <dgm:spPr/>
      <dgm:t>
        <a:bodyPr/>
        <a:lstStyle/>
        <a:p>
          <a:endParaRPr lang="zh-CN" altLang="en-US"/>
        </a:p>
      </dgm:t>
    </dgm:pt>
    <dgm:pt modelId="{2A814F3F-3BA8-42F7-8CA4-83FA04B7958B}" type="sibTrans" cxnId="{0822A5D8-2704-4CC0-B9A8-A9B7BC1EF476}">
      <dgm:prSet/>
      <dgm:spPr/>
      <dgm:t>
        <a:bodyPr/>
        <a:lstStyle/>
        <a:p>
          <a:endParaRPr lang="zh-CN" altLang="en-US"/>
        </a:p>
      </dgm:t>
    </dgm:pt>
    <dgm:pt modelId="{30969CD7-3CFD-4F4F-B564-8B7800529F16}" type="pres">
      <dgm:prSet presAssocID="{E619A35B-6F76-4F5B-9866-62BEE8E1B43C}" presName="Name0" presStyleCnt="0">
        <dgm:presLayoutVars>
          <dgm:dir/>
          <dgm:animLvl val="lvl"/>
          <dgm:resizeHandles val="exact"/>
        </dgm:presLayoutVars>
      </dgm:prSet>
      <dgm:spPr/>
    </dgm:pt>
    <dgm:pt modelId="{4B8CD339-4E78-4F6E-A0BF-974C4D6D4379}" type="pres">
      <dgm:prSet presAssocID="{4A5FAA12-B526-40D6-A585-8F25D8E3B5CF}" presName="composite" presStyleCnt="0"/>
      <dgm:spPr/>
    </dgm:pt>
    <dgm:pt modelId="{3519B39F-12B2-486D-92CD-79CCEF8A02D7}" type="pres">
      <dgm:prSet presAssocID="{4A5FAA12-B526-40D6-A585-8F25D8E3B5CF}" presName="parTx" presStyleLbl="alignNode1" presStyleIdx="0" presStyleCnt="2">
        <dgm:presLayoutVars>
          <dgm:chMax val="0"/>
          <dgm:chPref val="0"/>
          <dgm:bulletEnabled val="1"/>
        </dgm:presLayoutVars>
      </dgm:prSet>
      <dgm:spPr/>
    </dgm:pt>
    <dgm:pt modelId="{B896A519-3F35-4F76-BF45-313B4F09EBD3}" type="pres">
      <dgm:prSet presAssocID="{4A5FAA12-B526-40D6-A585-8F25D8E3B5CF}" presName="desTx" presStyleLbl="alignAccFollowNode1" presStyleIdx="0" presStyleCnt="2">
        <dgm:presLayoutVars>
          <dgm:bulletEnabled val="1"/>
        </dgm:presLayoutVars>
      </dgm:prSet>
      <dgm:spPr/>
    </dgm:pt>
    <dgm:pt modelId="{8B47AD68-727B-44C0-988D-4CD4C0258498}" type="pres">
      <dgm:prSet presAssocID="{A0348CB2-E5AF-4DF4-82BC-60A5461B27CB}" presName="space" presStyleCnt="0"/>
      <dgm:spPr/>
    </dgm:pt>
    <dgm:pt modelId="{336363FB-3CEF-426F-BE0A-60B5B48CDB7D}" type="pres">
      <dgm:prSet presAssocID="{C9BCE8A9-D041-4DBC-8845-482A3A7A396F}" presName="composite" presStyleCnt="0"/>
      <dgm:spPr/>
    </dgm:pt>
    <dgm:pt modelId="{2B37959A-E5FF-440C-9E9A-2AB5F0A6CAC6}" type="pres">
      <dgm:prSet presAssocID="{C9BCE8A9-D041-4DBC-8845-482A3A7A396F}" presName="parTx" presStyleLbl="alignNode1" presStyleIdx="1" presStyleCnt="2">
        <dgm:presLayoutVars>
          <dgm:chMax val="0"/>
          <dgm:chPref val="0"/>
          <dgm:bulletEnabled val="1"/>
        </dgm:presLayoutVars>
      </dgm:prSet>
      <dgm:spPr/>
    </dgm:pt>
    <dgm:pt modelId="{BB2710DA-629D-4E22-B2D2-AE96858090DD}" type="pres">
      <dgm:prSet presAssocID="{C9BCE8A9-D041-4DBC-8845-482A3A7A396F}" presName="desTx" presStyleLbl="alignAccFollowNode1" presStyleIdx="1" presStyleCnt="2">
        <dgm:presLayoutVars>
          <dgm:bulletEnabled val="1"/>
        </dgm:presLayoutVars>
      </dgm:prSet>
      <dgm:spPr/>
    </dgm:pt>
  </dgm:ptLst>
  <dgm:cxnLst>
    <dgm:cxn modelId="{09C48031-F32A-41AA-945B-53E3EA558246}" type="presOf" srcId="{12F350A1-BAB6-49E7-A675-F34567C93BB3}" destId="{B896A519-3F35-4F76-BF45-313B4F09EBD3}" srcOrd="0" destOrd="1" presId="urn:microsoft.com/office/officeart/2005/8/layout/hList1"/>
    <dgm:cxn modelId="{225E8865-646D-48FC-9B4C-841B6A568C22}" type="presOf" srcId="{E619A35B-6F76-4F5B-9866-62BEE8E1B43C}" destId="{30969CD7-3CFD-4F4F-B564-8B7800529F16}" srcOrd="0" destOrd="0" presId="urn:microsoft.com/office/officeart/2005/8/layout/hList1"/>
    <dgm:cxn modelId="{7862F34B-5480-4452-92E7-545087459F78}" type="presOf" srcId="{C9BCE8A9-D041-4DBC-8845-482A3A7A396F}" destId="{2B37959A-E5FF-440C-9E9A-2AB5F0A6CAC6}" srcOrd="0" destOrd="0" presId="urn:microsoft.com/office/officeart/2005/8/layout/hList1"/>
    <dgm:cxn modelId="{45EC468C-A451-486B-BF68-B6D0C92F0FC7}" type="presOf" srcId="{677AFE12-F6B5-41EE-82A2-0A5381CBB9FC}" destId="{BB2710DA-629D-4E22-B2D2-AE96858090DD}" srcOrd="0" destOrd="1" presId="urn:microsoft.com/office/officeart/2005/8/layout/hList1"/>
    <dgm:cxn modelId="{F2270C93-4F27-4E3F-A0E2-D2F288985849}" srcId="{C9BCE8A9-D041-4DBC-8845-482A3A7A396F}" destId="{677AFE12-F6B5-41EE-82A2-0A5381CBB9FC}" srcOrd="1" destOrd="0" parTransId="{54FC2272-A771-46A9-B03B-FD4BB75D0955}" sibTransId="{6A251A62-7170-4B78-8FCC-1920BEA35D59}"/>
    <dgm:cxn modelId="{7107CEBF-8819-45DA-BDD1-EBF80C60B67E}" type="presOf" srcId="{25DC11C9-1070-46F3-B350-64BDA7654B0D}" destId="{B896A519-3F35-4F76-BF45-313B4F09EBD3}" srcOrd="0" destOrd="0" presId="urn:microsoft.com/office/officeart/2005/8/layout/hList1"/>
    <dgm:cxn modelId="{0822A5D8-2704-4CC0-B9A8-A9B7BC1EF476}" srcId="{4A5FAA12-B526-40D6-A585-8F25D8E3B5CF}" destId="{12F350A1-BAB6-49E7-A675-F34567C93BB3}" srcOrd="1" destOrd="0" parTransId="{A7B5A7E3-3C11-449F-8CAA-FEAA6559AD5C}" sibTransId="{2A814F3F-3BA8-42F7-8CA4-83FA04B7958B}"/>
    <dgm:cxn modelId="{F368FFDA-F651-4BAF-9C1C-C2BDACD705E3}" srcId="{C9BCE8A9-D041-4DBC-8845-482A3A7A396F}" destId="{8EECE90E-A4C1-468D-A54F-862B71E4AE7A}" srcOrd="0" destOrd="0" parTransId="{8420BA46-EAF0-453F-80DA-728C83A553A1}" sibTransId="{2422BFC9-7AEE-4057-8A48-6FA836731397}"/>
    <dgm:cxn modelId="{B85657DE-96B6-41D9-B582-9304609C78D8}" type="presOf" srcId="{8EECE90E-A4C1-468D-A54F-862B71E4AE7A}" destId="{BB2710DA-629D-4E22-B2D2-AE96858090DD}" srcOrd="0" destOrd="0" presId="urn:microsoft.com/office/officeart/2005/8/layout/hList1"/>
    <dgm:cxn modelId="{AFAF82E4-9537-4799-97DF-952BDFCFEEAE}" type="presOf" srcId="{4A5FAA12-B526-40D6-A585-8F25D8E3B5CF}" destId="{3519B39F-12B2-486D-92CD-79CCEF8A02D7}" srcOrd="0" destOrd="0" presId="urn:microsoft.com/office/officeart/2005/8/layout/hList1"/>
    <dgm:cxn modelId="{48ED03E9-295B-4B0B-AAEF-E2CD78821D49}" srcId="{E619A35B-6F76-4F5B-9866-62BEE8E1B43C}" destId="{4A5FAA12-B526-40D6-A585-8F25D8E3B5CF}" srcOrd="0" destOrd="0" parTransId="{BA4ABDAD-0A84-478F-BEF5-D89876B2358C}" sibTransId="{A0348CB2-E5AF-4DF4-82BC-60A5461B27CB}"/>
    <dgm:cxn modelId="{6FED0BF3-2FB3-4A16-AC44-6DAA0B4E657B}" srcId="{4A5FAA12-B526-40D6-A585-8F25D8E3B5CF}" destId="{25DC11C9-1070-46F3-B350-64BDA7654B0D}" srcOrd="0" destOrd="0" parTransId="{7C5E2CCC-FBB6-425F-A045-D5C8158DA352}" sibTransId="{2612D70B-DEDE-49B9-BD1E-9FFB595FDC9C}"/>
    <dgm:cxn modelId="{294E84FE-1056-409C-8AD4-E0DD366816F1}" srcId="{E619A35B-6F76-4F5B-9866-62BEE8E1B43C}" destId="{C9BCE8A9-D041-4DBC-8845-482A3A7A396F}" srcOrd="1" destOrd="0" parTransId="{75079E22-3A7E-434C-9C6F-14CEDBD0380B}" sibTransId="{B0BC9EB0-9E94-476B-A8E0-C9226E36D271}"/>
    <dgm:cxn modelId="{1954D097-64AE-4427-AA43-71B2A982D57C}" type="presParOf" srcId="{30969CD7-3CFD-4F4F-B564-8B7800529F16}" destId="{4B8CD339-4E78-4F6E-A0BF-974C4D6D4379}" srcOrd="0" destOrd="0" presId="urn:microsoft.com/office/officeart/2005/8/layout/hList1"/>
    <dgm:cxn modelId="{CE01587A-847F-4F7B-A956-ABDC8396BFDE}" type="presParOf" srcId="{4B8CD339-4E78-4F6E-A0BF-974C4D6D4379}" destId="{3519B39F-12B2-486D-92CD-79CCEF8A02D7}" srcOrd="0" destOrd="0" presId="urn:microsoft.com/office/officeart/2005/8/layout/hList1"/>
    <dgm:cxn modelId="{DC9BF2D9-0C57-47D6-9255-63326D8A169D}" type="presParOf" srcId="{4B8CD339-4E78-4F6E-A0BF-974C4D6D4379}" destId="{B896A519-3F35-4F76-BF45-313B4F09EBD3}" srcOrd="1" destOrd="0" presId="urn:microsoft.com/office/officeart/2005/8/layout/hList1"/>
    <dgm:cxn modelId="{42A04382-E7DA-4171-9384-D7A7E80DFC8B}" type="presParOf" srcId="{30969CD7-3CFD-4F4F-B564-8B7800529F16}" destId="{8B47AD68-727B-44C0-988D-4CD4C0258498}" srcOrd="1" destOrd="0" presId="urn:microsoft.com/office/officeart/2005/8/layout/hList1"/>
    <dgm:cxn modelId="{03F4CD9A-D774-41E6-A65D-490AC687C0B6}" type="presParOf" srcId="{30969CD7-3CFD-4F4F-B564-8B7800529F16}" destId="{336363FB-3CEF-426F-BE0A-60B5B48CDB7D}" srcOrd="2" destOrd="0" presId="urn:microsoft.com/office/officeart/2005/8/layout/hList1"/>
    <dgm:cxn modelId="{24A251D5-9055-437E-A1F4-6113C4FAC564}" type="presParOf" srcId="{336363FB-3CEF-426F-BE0A-60B5B48CDB7D}" destId="{2B37959A-E5FF-440C-9E9A-2AB5F0A6CAC6}" srcOrd="0" destOrd="0" presId="urn:microsoft.com/office/officeart/2005/8/layout/hList1"/>
    <dgm:cxn modelId="{64854043-3AEF-4930-ABFB-C13EE168AA45}" type="presParOf" srcId="{336363FB-3CEF-426F-BE0A-60B5B48CDB7D}" destId="{BB2710DA-629D-4E22-B2D2-AE96858090DD}" srcOrd="1" destOrd="0" presId="urn:microsoft.com/office/officeart/2005/8/layout/hList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0ADD619-6503-4051-9BF1-B84DDC798B9B}">
      <dsp:nvSpPr>
        <dsp:cNvPr id="0" name=""/>
        <dsp:cNvSpPr/>
      </dsp:nvSpPr>
      <dsp:spPr>
        <a:xfrm>
          <a:off x="34" y="65932"/>
          <a:ext cx="3275855" cy="518400"/>
        </a:xfrm>
        <a:prstGeom prst="rect">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3792" tIns="65024" rIns="113792" bIns="65024" numCol="1" spcCol="1270" anchor="ctr" anchorCtr="0">
          <a:noAutofit/>
        </a:bodyPr>
        <a:lstStyle/>
        <a:p>
          <a:pPr marL="0" lvl="0" indent="0" algn="ctr" defTabSz="711200">
            <a:lnSpc>
              <a:spcPct val="100000"/>
            </a:lnSpc>
            <a:spcBef>
              <a:spcPct val="0"/>
            </a:spcBef>
            <a:spcAft>
              <a:spcPct val="20000"/>
            </a:spcAft>
            <a:buNone/>
          </a:pPr>
          <a:r>
            <a:rPr lang="zh-CN" altLang="zh-CN" sz="1600" b="1" kern="1200" dirty="0">
              <a:latin typeface="微软雅黑" panose="020B0503020204020204" pitchFamily="34" charset="-122"/>
              <a:ea typeface="微软雅黑" panose="020B0503020204020204" pitchFamily="34" charset="-122"/>
            </a:rPr>
            <a:t>数据层面</a:t>
          </a:r>
          <a:endParaRPr lang="zh-CN" altLang="en-US" sz="1600" b="1" kern="1200" dirty="0">
            <a:latin typeface="微软雅黑" panose="020B0503020204020204" pitchFamily="34" charset="-122"/>
            <a:ea typeface="微软雅黑" panose="020B0503020204020204" pitchFamily="34" charset="-122"/>
          </a:endParaRPr>
        </a:p>
      </dsp:txBody>
      <dsp:txXfrm>
        <a:off x="34" y="65932"/>
        <a:ext cx="3275855" cy="518400"/>
      </dsp:txXfrm>
    </dsp:sp>
    <dsp:sp modelId="{69218C7D-A5C6-4BB9-B753-14FB4AB3733E}">
      <dsp:nvSpPr>
        <dsp:cNvPr id="0" name=""/>
        <dsp:cNvSpPr/>
      </dsp:nvSpPr>
      <dsp:spPr>
        <a:xfrm>
          <a:off x="34" y="584332"/>
          <a:ext cx="3275855" cy="2152423"/>
        </a:xfrm>
        <a:prstGeom prst="rect">
          <a:avLst/>
        </a:prstGeom>
        <a:solidFill>
          <a:schemeClr val="accent2">
            <a:tint val="40000"/>
            <a:alpha val="90000"/>
            <a:hueOff val="0"/>
            <a:satOff val="0"/>
            <a:lumOff val="0"/>
            <a:alphaOff val="0"/>
          </a:schemeClr>
        </a:solidFill>
        <a:ln w="25400" cap="flat" cmpd="sng" algn="ctr">
          <a:solidFill>
            <a:schemeClr val="accent2">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85344" tIns="85344" rIns="113792" bIns="128016" numCol="1" spcCol="1270" anchor="t" anchorCtr="0">
          <a:noAutofit/>
        </a:bodyPr>
        <a:lstStyle/>
        <a:p>
          <a:pPr marL="171450" lvl="1" indent="-171450" algn="l" defTabSz="711200">
            <a:lnSpc>
              <a:spcPct val="100000"/>
            </a:lnSpc>
            <a:spcBef>
              <a:spcPct val="0"/>
            </a:spcBef>
            <a:spcAft>
              <a:spcPct val="20000"/>
            </a:spcAft>
            <a:buChar char="•"/>
          </a:pPr>
          <a:r>
            <a:rPr lang="zh-CN" altLang="zh-CN" sz="1600" b="1" kern="1200" dirty="0">
              <a:latin typeface="微软雅黑" panose="020B0503020204020204" pitchFamily="34" charset="-122"/>
              <a:ea typeface="微软雅黑" panose="020B0503020204020204" pitchFamily="34" charset="-122"/>
            </a:rPr>
            <a:t>路由器根据本路由器生成的</a:t>
          </a:r>
          <a:r>
            <a:rPr lang="zh-CN" altLang="zh-CN" sz="1600" b="1" kern="1200" dirty="0">
              <a:solidFill>
                <a:srgbClr val="C00000"/>
              </a:solidFill>
              <a:latin typeface="微软雅黑" panose="020B0503020204020204" pitchFamily="34" charset="-122"/>
              <a:ea typeface="微软雅黑" panose="020B0503020204020204" pitchFamily="34" charset="-122"/>
            </a:rPr>
            <a:t>转发表，</a:t>
          </a:r>
          <a:r>
            <a:rPr lang="zh-CN" altLang="zh-CN" sz="1600" b="1" kern="1200" dirty="0">
              <a:latin typeface="微软雅黑" panose="020B0503020204020204" pitchFamily="34" charset="-122"/>
              <a:ea typeface="微软雅黑" panose="020B0503020204020204" pitchFamily="34" charset="-122"/>
            </a:rPr>
            <a:t>把收到的分组从查找到的对应接口</a:t>
          </a:r>
          <a:r>
            <a:rPr lang="zh-CN" altLang="zh-CN" sz="1600" b="1" kern="1200" dirty="0">
              <a:solidFill>
                <a:srgbClr val="C00000"/>
              </a:solidFill>
              <a:latin typeface="微软雅黑" panose="020B0503020204020204" pitchFamily="34" charset="-122"/>
              <a:ea typeface="微软雅黑" panose="020B0503020204020204" pitchFamily="34" charset="-122"/>
            </a:rPr>
            <a:t>转发</a:t>
          </a:r>
          <a:r>
            <a:rPr lang="zh-CN" altLang="zh-CN" sz="1600" b="1" kern="1200" dirty="0">
              <a:latin typeface="微软雅黑" panose="020B0503020204020204" pitchFamily="34" charset="-122"/>
              <a:ea typeface="微软雅黑" panose="020B0503020204020204" pitchFamily="34" charset="-122"/>
            </a:rPr>
            <a:t>出去。</a:t>
          </a:r>
          <a:endParaRPr lang="zh-CN" altLang="en-US" sz="1600" b="1" kern="1200" dirty="0">
            <a:latin typeface="微软雅黑" panose="020B0503020204020204" pitchFamily="34" charset="-122"/>
            <a:ea typeface="微软雅黑" panose="020B0503020204020204" pitchFamily="34" charset="-122"/>
          </a:endParaRPr>
        </a:p>
        <a:p>
          <a:pPr marL="171450" lvl="1" indent="-171450" algn="l" defTabSz="711200">
            <a:lnSpc>
              <a:spcPct val="90000"/>
            </a:lnSpc>
            <a:spcBef>
              <a:spcPct val="0"/>
            </a:spcBef>
            <a:spcAft>
              <a:spcPct val="15000"/>
            </a:spcAft>
            <a:buChar char="•"/>
          </a:pPr>
          <a:r>
            <a:rPr lang="zh-CN" altLang="en-US" sz="1600" b="1" kern="1200" dirty="0">
              <a:solidFill>
                <a:srgbClr val="C00000"/>
              </a:solidFill>
              <a:latin typeface="微软雅黑" panose="020B0503020204020204" pitchFamily="34" charset="-122"/>
              <a:ea typeface="微软雅黑" panose="020B0503020204020204" pitchFamily="34" charset="-122"/>
            </a:rPr>
            <a:t>独立</a:t>
          </a:r>
          <a:r>
            <a:rPr lang="zh-CN" altLang="en-US" sz="1600" b="1" kern="1200" dirty="0">
              <a:latin typeface="微软雅黑" panose="020B0503020204020204" pitchFamily="34" charset="-122"/>
              <a:ea typeface="微软雅黑" panose="020B0503020204020204" pitchFamily="34" charset="-122"/>
            </a:rPr>
            <a:t>工作。</a:t>
          </a:r>
        </a:p>
        <a:p>
          <a:pPr marL="171450" lvl="1" indent="-171450" algn="l" defTabSz="711200">
            <a:lnSpc>
              <a:spcPct val="900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采用</a:t>
          </a:r>
          <a:r>
            <a:rPr lang="zh-CN" altLang="en-US" sz="1600" b="1" kern="1200" dirty="0">
              <a:solidFill>
                <a:srgbClr val="C00000"/>
              </a:solidFill>
              <a:latin typeface="微软雅黑" panose="020B0503020204020204" pitchFamily="34" charset="-122"/>
              <a:ea typeface="微软雅黑" panose="020B0503020204020204" pitchFamily="34" charset="-122"/>
            </a:rPr>
            <a:t>硬件</a:t>
          </a:r>
          <a:r>
            <a:rPr lang="zh-CN" altLang="en-US" sz="1600" b="1" kern="1200" dirty="0">
              <a:latin typeface="微软雅黑" panose="020B0503020204020204" pitchFamily="34" charset="-122"/>
              <a:ea typeface="微软雅黑" panose="020B0503020204020204" pitchFamily="34" charset="-122"/>
            </a:rPr>
            <a:t>进行转发，快。</a:t>
          </a:r>
        </a:p>
      </dsp:txBody>
      <dsp:txXfrm>
        <a:off x="34" y="584332"/>
        <a:ext cx="3275855" cy="2152423"/>
      </dsp:txXfrm>
    </dsp:sp>
    <dsp:sp modelId="{A287357E-4392-4759-BB71-D2529A5E730A}">
      <dsp:nvSpPr>
        <dsp:cNvPr id="0" name=""/>
        <dsp:cNvSpPr/>
      </dsp:nvSpPr>
      <dsp:spPr>
        <a:xfrm>
          <a:off x="3734509" y="65932"/>
          <a:ext cx="3275855" cy="518400"/>
        </a:xfrm>
        <a:prstGeom prst="rect">
          <a:avLst/>
        </a:prstGeom>
        <a:solidFill>
          <a:srgbClr val="00B050"/>
        </a:solidFill>
        <a:ln w="25400" cap="flat" cmpd="sng" algn="ctr">
          <a:solidFill>
            <a:srgbClr val="00B050"/>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3792" tIns="65024" rIns="113792" bIns="65024" numCol="1" spcCol="1270" anchor="ctr" anchorCtr="0">
          <a:noAutofit/>
        </a:bodyPr>
        <a:lstStyle/>
        <a:p>
          <a:pPr marL="0" lvl="0" indent="0" algn="ctr" defTabSz="711200">
            <a:lnSpc>
              <a:spcPct val="9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控制层面</a:t>
          </a:r>
        </a:p>
      </dsp:txBody>
      <dsp:txXfrm>
        <a:off x="3734509" y="65932"/>
        <a:ext cx="3275855" cy="518400"/>
      </dsp:txXfrm>
    </dsp:sp>
    <dsp:sp modelId="{7E31D2C3-38FE-46A6-9137-AC78999E4E2D}">
      <dsp:nvSpPr>
        <dsp:cNvPr id="0" name=""/>
        <dsp:cNvSpPr/>
      </dsp:nvSpPr>
      <dsp:spPr>
        <a:xfrm>
          <a:off x="3734509" y="584332"/>
          <a:ext cx="3275855" cy="2152423"/>
        </a:xfrm>
        <a:prstGeom prst="rect">
          <a:avLst/>
        </a:prstGeom>
        <a:solidFill>
          <a:schemeClr val="accent3">
            <a:tint val="40000"/>
            <a:alpha val="90000"/>
            <a:hueOff val="0"/>
            <a:satOff val="0"/>
            <a:lumOff val="0"/>
            <a:alphaOff val="0"/>
          </a:schemeClr>
        </a:solidFill>
        <a:ln w="25400" cap="flat" cmpd="sng" algn="ctr">
          <a:solidFill>
            <a:schemeClr val="accent3">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ct val="90000"/>
            </a:lnSpc>
            <a:spcBef>
              <a:spcPct val="0"/>
            </a:spcBef>
            <a:spcAft>
              <a:spcPct val="15000"/>
            </a:spcAft>
            <a:buChar char="•"/>
          </a:pPr>
          <a:r>
            <a:rPr lang="zh-CN" altLang="zh-CN" sz="1800" b="1" kern="1200" dirty="0">
              <a:latin typeface="微软雅黑" panose="020B0503020204020204" pitchFamily="34" charset="-122"/>
              <a:ea typeface="微软雅黑" panose="020B0503020204020204" pitchFamily="34" charset="-122"/>
            </a:rPr>
            <a:t>根据路由选择协议所用的路由算法</a:t>
          </a:r>
          <a:r>
            <a:rPr lang="zh-CN" altLang="zh-CN" sz="1800" b="1" kern="1200" dirty="0">
              <a:solidFill>
                <a:srgbClr val="C00000"/>
              </a:solidFill>
              <a:latin typeface="微软雅黑" panose="020B0503020204020204" pitchFamily="34" charset="-122"/>
              <a:ea typeface="微软雅黑" panose="020B0503020204020204" pitchFamily="34" charset="-122"/>
            </a:rPr>
            <a:t>计算路由</a:t>
          </a:r>
          <a:r>
            <a:rPr lang="zh-CN" altLang="en-US" sz="1800" b="1" kern="1200" dirty="0">
              <a:solidFill>
                <a:srgbClr val="C00000"/>
              </a:solidFill>
              <a:latin typeface="微软雅黑" panose="020B0503020204020204" pitchFamily="34" charset="-122"/>
              <a:ea typeface="微软雅黑" panose="020B0503020204020204" pitchFamily="34" charset="-122"/>
            </a:rPr>
            <a:t>，</a:t>
          </a:r>
          <a:r>
            <a:rPr lang="zh-CN" altLang="zh-CN" sz="1800" b="1" kern="1200" dirty="0">
              <a:latin typeface="微软雅黑" panose="020B0503020204020204" pitchFamily="34" charset="-122"/>
              <a:ea typeface="微软雅黑" panose="020B0503020204020204" pitchFamily="34" charset="-122"/>
            </a:rPr>
            <a:t>创建出本路由器的</a:t>
          </a:r>
          <a:r>
            <a:rPr lang="zh-CN" altLang="zh-CN" sz="1800" b="1" kern="1200" dirty="0">
              <a:solidFill>
                <a:srgbClr val="C00000"/>
              </a:solidFill>
              <a:latin typeface="微软雅黑" panose="020B0503020204020204" pitchFamily="34" charset="-122"/>
              <a:ea typeface="微软雅黑" panose="020B0503020204020204" pitchFamily="34" charset="-122"/>
            </a:rPr>
            <a:t>路由表。</a:t>
          </a:r>
          <a:endParaRPr lang="zh-CN" altLang="en-US" sz="1800" b="1" kern="1200" dirty="0">
            <a:solidFill>
              <a:srgbClr val="C00000"/>
            </a:solidFill>
            <a:latin typeface="微软雅黑" panose="020B0503020204020204" pitchFamily="34" charset="-122"/>
            <a:ea typeface="微软雅黑" panose="020B0503020204020204" pitchFamily="34" charset="-122"/>
          </a:endParaRP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许多路由器</a:t>
          </a:r>
          <a:r>
            <a:rPr lang="zh-CN" altLang="en-US" sz="1800" b="1" kern="1200" dirty="0">
              <a:solidFill>
                <a:srgbClr val="C00000"/>
              </a:solidFill>
              <a:latin typeface="微软雅黑" panose="020B0503020204020204" pitchFamily="34" charset="-122"/>
              <a:ea typeface="微软雅黑" panose="020B0503020204020204" pitchFamily="34" charset="-122"/>
            </a:rPr>
            <a:t>协同</a:t>
          </a:r>
          <a:r>
            <a:rPr lang="zh-CN" altLang="en-US" sz="1800" b="1" kern="1200" dirty="0">
              <a:latin typeface="微软雅黑" panose="020B0503020204020204" pitchFamily="34" charset="-122"/>
              <a:ea typeface="微软雅黑" panose="020B0503020204020204" pitchFamily="34" charset="-122"/>
            </a:rPr>
            <a:t>动作。</a:t>
          </a: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采用</a:t>
          </a:r>
          <a:r>
            <a:rPr lang="zh-CN" altLang="en-US" sz="1800" b="1" kern="1200" dirty="0">
              <a:solidFill>
                <a:srgbClr val="C00000"/>
              </a:solidFill>
              <a:latin typeface="微软雅黑" panose="020B0503020204020204" pitchFamily="34" charset="-122"/>
              <a:ea typeface="微软雅黑" panose="020B0503020204020204" pitchFamily="34" charset="-122"/>
            </a:rPr>
            <a:t>软件</a:t>
          </a:r>
          <a:r>
            <a:rPr lang="zh-CN" altLang="en-US" sz="1800" b="1" kern="1200" dirty="0">
              <a:latin typeface="微软雅黑" panose="020B0503020204020204" pitchFamily="34" charset="-122"/>
              <a:ea typeface="微软雅黑" panose="020B0503020204020204" pitchFamily="34" charset="-122"/>
            </a:rPr>
            <a:t>计算，慢。</a:t>
          </a:r>
        </a:p>
      </dsp:txBody>
      <dsp:txXfrm>
        <a:off x="3734509" y="584332"/>
        <a:ext cx="3275855" cy="2152423"/>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594C686-F253-4728-84C9-151C8028A3AE}">
      <dsp:nvSpPr>
        <dsp:cNvPr id="0" name=""/>
        <dsp:cNvSpPr/>
      </dsp:nvSpPr>
      <dsp:spPr>
        <a:xfrm>
          <a:off x="182732" y="435"/>
          <a:ext cx="1346447" cy="807868"/>
        </a:xfrm>
        <a:prstGeom prst="rect">
          <a:avLst/>
        </a:prstGeom>
        <a:gradFill rotWithShape="0">
          <a:gsLst>
            <a:gs pos="0">
              <a:schemeClr val="accent2">
                <a:hueOff val="0"/>
                <a:satOff val="0"/>
                <a:lumOff val="0"/>
                <a:alphaOff val="0"/>
                <a:shade val="51000"/>
                <a:satMod val="130000"/>
              </a:schemeClr>
            </a:gs>
            <a:gs pos="80000">
              <a:schemeClr val="accent2">
                <a:hueOff val="0"/>
                <a:satOff val="0"/>
                <a:lumOff val="0"/>
                <a:alphaOff val="0"/>
                <a:shade val="93000"/>
                <a:satMod val="130000"/>
              </a:schemeClr>
            </a:gs>
            <a:gs pos="100000">
              <a:schemeClr val="accent2">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寻址方案</a:t>
          </a:r>
        </a:p>
      </dsp:txBody>
      <dsp:txXfrm>
        <a:off x="182732" y="435"/>
        <a:ext cx="1346447" cy="807868"/>
      </dsp:txXfrm>
    </dsp:sp>
    <dsp:sp modelId="{AAE6C2CE-B907-473D-B42E-74641FA2C01B}">
      <dsp:nvSpPr>
        <dsp:cNvPr id="0" name=""/>
        <dsp:cNvSpPr/>
      </dsp:nvSpPr>
      <dsp:spPr>
        <a:xfrm>
          <a:off x="1663824" y="435"/>
          <a:ext cx="1346447" cy="807868"/>
        </a:xfrm>
        <a:prstGeom prst="rect">
          <a:avLst/>
        </a:prstGeom>
        <a:gradFill rotWithShape="0">
          <a:gsLst>
            <a:gs pos="0">
              <a:schemeClr val="accent3">
                <a:hueOff val="0"/>
                <a:satOff val="0"/>
                <a:lumOff val="0"/>
                <a:alphaOff val="0"/>
                <a:shade val="51000"/>
                <a:satMod val="130000"/>
              </a:schemeClr>
            </a:gs>
            <a:gs pos="80000">
              <a:schemeClr val="accent3">
                <a:hueOff val="0"/>
                <a:satOff val="0"/>
                <a:lumOff val="0"/>
                <a:alphaOff val="0"/>
                <a:shade val="93000"/>
                <a:satMod val="130000"/>
              </a:schemeClr>
            </a:gs>
            <a:gs pos="100000">
              <a:schemeClr val="accent3">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最大分组长度</a:t>
          </a:r>
        </a:p>
      </dsp:txBody>
      <dsp:txXfrm>
        <a:off x="1663824" y="435"/>
        <a:ext cx="1346447" cy="807868"/>
      </dsp:txXfrm>
    </dsp:sp>
    <dsp:sp modelId="{11150468-1E0C-461E-B081-3E871826CD6E}">
      <dsp:nvSpPr>
        <dsp:cNvPr id="0" name=""/>
        <dsp:cNvSpPr/>
      </dsp:nvSpPr>
      <dsp:spPr>
        <a:xfrm>
          <a:off x="3144916" y="435"/>
          <a:ext cx="1346447" cy="807868"/>
        </a:xfrm>
        <a:prstGeom prst="rect">
          <a:avLst/>
        </a:prstGeom>
        <a:gradFill rotWithShape="0">
          <a:gsLst>
            <a:gs pos="0">
              <a:schemeClr val="accent4">
                <a:hueOff val="0"/>
                <a:satOff val="0"/>
                <a:lumOff val="0"/>
                <a:alphaOff val="0"/>
                <a:shade val="51000"/>
                <a:satMod val="130000"/>
              </a:schemeClr>
            </a:gs>
            <a:gs pos="80000">
              <a:schemeClr val="accent4">
                <a:hueOff val="0"/>
                <a:satOff val="0"/>
                <a:lumOff val="0"/>
                <a:alphaOff val="0"/>
                <a:shade val="93000"/>
                <a:satMod val="130000"/>
              </a:schemeClr>
            </a:gs>
            <a:gs pos="100000">
              <a:schemeClr val="accent4">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网络接入机制</a:t>
          </a:r>
        </a:p>
      </dsp:txBody>
      <dsp:txXfrm>
        <a:off x="3144916" y="435"/>
        <a:ext cx="1346447" cy="807868"/>
      </dsp:txXfrm>
    </dsp:sp>
    <dsp:sp modelId="{EADAD31E-CA68-4DED-84FB-90D8D4DBAECE}">
      <dsp:nvSpPr>
        <dsp:cNvPr id="0" name=""/>
        <dsp:cNvSpPr/>
      </dsp:nvSpPr>
      <dsp:spPr>
        <a:xfrm>
          <a:off x="4626009" y="435"/>
          <a:ext cx="1346447" cy="807868"/>
        </a:xfrm>
        <a:prstGeom prst="rect">
          <a:avLst/>
        </a:prstGeom>
        <a:gradFill rotWithShape="0">
          <a:gsLst>
            <a:gs pos="0">
              <a:schemeClr val="accent5">
                <a:hueOff val="0"/>
                <a:satOff val="0"/>
                <a:lumOff val="0"/>
                <a:alphaOff val="0"/>
                <a:shade val="51000"/>
                <a:satMod val="130000"/>
              </a:schemeClr>
            </a:gs>
            <a:gs pos="80000">
              <a:schemeClr val="accent5">
                <a:hueOff val="0"/>
                <a:satOff val="0"/>
                <a:lumOff val="0"/>
                <a:alphaOff val="0"/>
                <a:shade val="93000"/>
                <a:satMod val="130000"/>
              </a:schemeClr>
            </a:gs>
            <a:gs pos="100000">
              <a:schemeClr val="accent5">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超时控制</a:t>
          </a:r>
        </a:p>
      </dsp:txBody>
      <dsp:txXfrm>
        <a:off x="4626009" y="435"/>
        <a:ext cx="1346447" cy="807868"/>
      </dsp:txXfrm>
    </dsp:sp>
    <dsp:sp modelId="{BA295F3A-6E33-4693-A4E0-373D4996D66D}">
      <dsp:nvSpPr>
        <dsp:cNvPr id="0" name=""/>
        <dsp:cNvSpPr/>
      </dsp:nvSpPr>
      <dsp:spPr>
        <a:xfrm>
          <a:off x="182732" y="942949"/>
          <a:ext cx="1346447" cy="807868"/>
        </a:xfrm>
        <a:prstGeom prst="rect">
          <a:avLst/>
        </a:prstGeom>
        <a:gradFill rotWithShape="0">
          <a:gsLst>
            <a:gs pos="0">
              <a:schemeClr val="accent6">
                <a:hueOff val="0"/>
                <a:satOff val="0"/>
                <a:lumOff val="0"/>
                <a:alphaOff val="0"/>
                <a:shade val="51000"/>
                <a:satMod val="130000"/>
              </a:schemeClr>
            </a:gs>
            <a:gs pos="80000">
              <a:schemeClr val="accent6">
                <a:hueOff val="0"/>
                <a:satOff val="0"/>
                <a:lumOff val="0"/>
                <a:alphaOff val="0"/>
                <a:shade val="93000"/>
                <a:satMod val="130000"/>
              </a:schemeClr>
            </a:gs>
            <a:gs pos="100000">
              <a:schemeClr val="accent6">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差错恢复方法</a:t>
          </a:r>
        </a:p>
      </dsp:txBody>
      <dsp:txXfrm>
        <a:off x="182732" y="942949"/>
        <a:ext cx="1346447" cy="807868"/>
      </dsp:txXfrm>
    </dsp:sp>
    <dsp:sp modelId="{38F50AC9-831D-4F84-96CD-EC61271A73DD}">
      <dsp:nvSpPr>
        <dsp:cNvPr id="0" name=""/>
        <dsp:cNvSpPr/>
      </dsp:nvSpPr>
      <dsp:spPr>
        <a:xfrm>
          <a:off x="1663824" y="942949"/>
          <a:ext cx="1346447" cy="807868"/>
        </a:xfrm>
        <a:prstGeom prst="rect">
          <a:avLst/>
        </a:prstGeom>
        <a:gradFill rotWithShape="0">
          <a:gsLst>
            <a:gs pos="0">
              <a:schemeClr val="accent2">
                <a:hueOff val="0"/>
                <a:satOff val="0"/>
                <a:lumOff val="0"/>
                <a:alphaOff val="0"/>
                <a:shade val="51000"/>
                <a:satMod val="130000"/>
              </a:schemeClr>
            </a:gs>
            <a:gs pos="80000">
              <a:schemeClr val="accent2">
                <a:hueOff val="0"/>
                <a:satOff val="0"/>
                <a:lumOff val="0"/>
                <a:alphaOff val="0"/>
                <a:shade val="93000"/>
                <a:satMod val="130000"/>
              </a:schemeClr>
            </a:gs>
            <a:gs pos="100000">
              <a:schemeClr val="accent2">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状态报告方法</a:t>
          </a:r>
        </a:p>
      </dsp:txBody>
      <dsp:txXfrm>
        <a:off x="1663824" y="942949"/>
        <a:ext cx="1346447" cy="807868"/>
      </dsp:txXfrm>
    </dsp:sp>
    <dsp:sp modelId="{581D08C6-B287-4F68-8947-E6A14A005145}">
      <dsp:nvSpPr>
        <dsp:cNvPr id="0" name=""/>
        <dsp:cNvSpPr/>
      </dsp:nvSpPr>
      <dsp:spPr>
        <a:xfrm>
          <a:off x="3144916" y="942949"/>
          <a:ext cx="1346447" cy="807868"/>
        </a:xfrm>
        <a:prstGeom prst="rect">
          <a:avLst/>
        </a:prstGeom>
        <a:gradFill rotWithShape="0">
          <a:gsLst>
            <a:gs pos="0">
              <a:schemeClr val="accent3">
                <a:hueOff val="0"/>
                <a:satOff val="0"/>
                <a:lumOff val="0"/>
                <a:alphaOff val="0"/>
                <a:shade val="51000"/>
                <a:satMod val="130000"/>
              </a:schemeClr>
            </a:gs>
            <a:gs pos="80000">
              <a:schemeClr val="accent3">
                <a:hueOff val="0"/>
                <a:satOff val="0"/>
                <a:lumOff val="0"/>
                <a:alphaOff val="0"/>
                <a:shade val="93000"/>
                <a:satMod val="130000"/>
              </a:schemeClr>
            </a:gs>
            <a:gs pos="100000">
              <a:schemeClr val="accent3">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路由选择技术</a:t>
          </a:r>
        </a:p>
      </dsp:txBody>
      <dsp:txXfrm>
        <a:off x="3144916" y="942949"/>
        <a:ext cx="1346447" cy="807868"/>
      </dsp:txXfrm>
    </dsp:sp>
    <dsp:sp modelId="{38B4E769-5F4D-4AC9-AA16-740543B9CEDA}">
      <dsp:nvSpPr>
        <dsp:cNvPr id="0" name=""/>
        <dsp:cNvSpPr/>
      </dsp:nvSpPr>
      <dsp:spPr>
        <a:xfrm>
          <a:off x="4626009" y="942949"/>
          <a:ext cx="1346447" cy="807868"/>
        </a:xfrm>
        <a:prstGeom prst="rect">
          <a:avLst/>
        </a:prstGeom>
        <a:gradFill rotWithShape="0">
          <a:gsLst>
            <a:gs pos="0">
              <a:schemeClr val="accent4">
                <a:hueOff val="0"/>
                <a:satOff val="0"/>
                <a:lumOff val="0"/>
                <a:alphaOff val="0"/>
                <a:shade val="51000"/>
                <a:satMod val="130000"/>
              </a:schemeClr>
            </a:gs>
            <a:gs pos="80000">
              <a:schemeClr val="accent4">
                <a:hueOff val="0"/>
                <a:satOff val="0"/>
                <a:lumOff val="0"/>
                <a:alphaOff val="0"/>
                <a:shade val="93000"/>
                <a:satMod val="130000"/>
              </a:schemeClr>
            </a:gs>
            <a:gs pos="100000">
              <a:schemeClr val="accent4">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用户接入控制</a:t>
          </a:r>
        </a:p>
      </dsp:txBody>
      <dsp:txXfrm>
        <a:off x="4626009" y="942949"/>
        <a:ext cx="1346447" cy="807868"/>
      </dsp:txXfrm>
    </dsp:sp>
    <dsp:sp modelId="{97AB1813-5306-47D8-8D3C-3A38D4B1BEC2}">
      <dsp:nvSpPr>
        <dsp:cNvPr id="0" name=""/>
        <dsp:cNvSpPr/>
      </dsp:nvSpPr>
      <dsp:spPr>
        <a:xfrm>
          <a:off x="923278" y="1885462"/>
          <a:ext cx="1346447" cy="807868"/>
        </a:xfrm>
        <a:prstGeom prst="rect">
          <a:avLst/>
        </a:prstGeom>
        <a:gradFill rotWithShape="0">
          <a:gsLst>
            <a:gs pos="0">
              <a:schemeClr val="accent5">
                <a:hueOff val="0"/>
                <a:satOff val="0"/>
                <a:lumOff val="0"/>
                <a:alphaOff val="0"/>
                <a:shade val="51000"/>
                <a:satMod val="130000"/>
              </a:schemeClr>
            </a:gs>
            <a:gs pos="80000">
              <a:schemeClr val="accent5">
                <a:hueOff val="0"/>
                <a:satOff val="0"/>
                <a:lumOff val="0"/>
                <a:alphaOff val="0"/>
                <a:shade val="93000"/>
                <a:satMod val="130000"/>
              </a:schemeClr>
            </a:gs>
            <a:gs pos="100000">
              <a:schemeClr val="accent5">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服务</a:t>
          </a:r>
        </a:p>
      </dsp:txBody>
      <dsp:txXfrm>
        <a:off x="923278" y="1885462"/>
        <a:ext cx="1346447" cy="807868"/>
      </dsp:txXfrm>
    </dsp:sp>
    <dsp:sp modelId="{F1FBFE21-9DF5-4505-8D8B-6EF2CCB31FEE}">
      <dsp:nvSpPr>
        <dsp:cNvPr id="0" name=""/>
        <dsp:cNvSpPr/>
      </dsp:nvSpPr>
      <dsp:spPr>
        <a:xfrm>
          <a:off x="2404370" y="1885462"/>
          <a:ext cx="1346447" cy="807868"/>
        </a:xfrm>
        <a:prstGeom prst="rect">
          <a:avLst/>
        </a:prstGeom>
        <a:gradFill rotWithShape="0">
          <a:gsLst>
            <a:gs pos="0">
              <a:schemeClr val="accent6">
                <a:hueOff val="0"/>
                <a:satOff val="0"/>
                <a:lumOff val="0"/>
                <a:alphaOff val="0"/>
                <a:shade val="51000"/>
                <a:satMod val="130000"/>
              </a:schemeClr>
            </a:gs>
            <a:gs pos="80000">
              <a:schemeClr val="accent6">
                <a:hueOff val="0"/>
                <a:satOff val="0"/>
                <a:lumOff val="0"/>
                <a:alphaOff val="0"/>
                <a:shade val="93000"/>
                <a:satMod val="130000"/>
              </a:schemeClr>
            </a:gs>
            <a:gs pos="100000">
              <a:schemeClr val="accent6">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5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管理与</a:t>
          </a:r>
          <a:endParaRPr lang="en-US" altLang="zh-CN" sz="1600" b="1" kern="1200" dirty="0">
            <a:latin typeface="微软雅黑" panose="020B0503020204020204" pitchFamily="34" charset="-122"/>
            <a:ea typeface="微软雅黑" panose="020B0503020204020204" pitchFamily="34" charset="-122"/>
          </a:endParaRPr>
        </a:p>
        <a:p>
          <a:pPr marL="0" lvl="0" indent="0" algn="ctr" defTabSz="711200">
            <a:lnSpc>
              <a:spcPct val="5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控制方式</a:t>
          </a:r>
        </a:p>
      </dsp:txBody>
      <dsp:txXfrm>
        <a:off x="2404370" y="1885462"/>
        <a:ext cx="1346447" cy="807868"/>
      </dsp:txXfrm>
    </dsp:sp>
    <dsp:sp modelId="{FC18BE71-30A4-4718-92D9-19F6EDF79A0C}">
      <dsp:nvSpPr>
        <dsp:cNvPr id="0" name=""/>
        <dsp:cNvSpPr/>
      </dsp:nvSpPr>
      <dsp:spPr>
        <a:xfrm>
          <a:off x="3885463" y="1885462"/>
          <a:ext cx="1346447" cy="807868"/>
        </a:xfrm>
        <a:prstGeom prst="rect">
          <a:avLst/>
        </a:prstGeom>
        <a:gradFill rotWithShape="0">
          <a:gsLst>
            <a:gs pos="0">
              <a:schemeClr val="accent2">
                <a:hueOff val="0"/>
                <a:satOff val="0"/>
                <a:lumOff val="0"/>
                <a:alphaOff val="0"/>
                <a:shade val="51000"/>
                <a:satMod val="130000"/>
              </a:schemeClr>
            </a:gs>
            <a:gs pos="80000">
              <a:schemeClr val="accent2">
                <a:hueOff val="0"/>
                <a:satOff val="0"/>
                <a:lumOff val="0"/>
                <a:alphaOff val="0"/>
                <a:shade val="93000"/>
                <a:satMod val="130000"/>
              </a:schemeClr>
            </a:gs>
            <a:gs pos="100000">
              <a:schemeClr val="accent2">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50000"/>
            </a:lnSpc>
            <a:spcBef>
              <a:spcPct val="0"/>
            </a:spcBef>
            <a:spcAft>
              <a:spcPct val="35000"/>
            </a:spcAft>
            <a:buNone/>
          </a:pPr>
          <a:r>
            <a:rPr lang="en-US" altLang="zh-CN" sz="1600" b="1" kern="1200" dirty="0">
              <a:latin typeface="微软雅黑" panose="020B0503020204020204" pitchFamily="34" charset="-122"/>
              <a:ea typeface="微软雅黑" panose="020B0503020204020204" pitchFamily="34" charset="-122"/>
            </a:rPr>
            <a:t>……</a:t>
          </a:r>
          <a:endParaRPr lang="zh-CN" altLang="en-US" sz="1600" b="1" kern="1200" dirty="0">
            <a:latin typeface="微软雅黑" panose="020B0503020204020204" pitchFamily="34" charset="-122"/>
            <a:ea typeface="微软雅黑" panose="020B0503020204020204" pitchFamily="34" charset="-122"/>
          </a:endParaRPr>
        </a:p>
      </dsp:txBody>
      <dsp:txXfrm>
        <a:off x="3885463" y="1885462"/>
        <a:ext cx="1346447" cy="807868"/>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24B0A0E-971B-4E83-B9F0-6072ADB97738}">
      <dsp:nvSpPr>
        <dsp:cNvPr id="0" name=""/>
        <dsp:cNvSpPr/>
      </dsp:nvSpPr>
      <dsp:spPr>
        <a:xfrm>
          <a:off x="744798" y="481511"/>
          <a:ext cx="5338574" cy="2294911"/>
        </a:xfrm>
        <a:prstGeom prst="rect">
          <a:avLst/>
        </a:prstGeom>
        <a:solidFill>
          <a:schemeClr val="accent1">
            <a:tint val="5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E873E07A-9E09-453F-95F0-A7AAEE2551B3}">
      <dsp:nvSpPr>
        <dsp:cNvPr id="0" name=""/>
        <dsp:cNvSpPr/>
      </dsp:nvSpPr>
      <dsp:spPr>
        <a:xfrm>
          <a:off x="1141045" y="879666"/>
          <a:ext cx="2329497" cy="170374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t" anchorCtr="0">
          <a:noAutofit/>
        </a:bodyPr>
        <a:lstStyle/>
        <a:p>
          <a:pPr marL="0" lvl="0" indent="0" algn="l" defTabSz="711200">
            <a:lnSpc>
              <a:spcPts val="2000"/>
            </a:lnSpc>
            <a:spcBef>
              <a:spcPct val="0"/>
            </a:spcBef>
            <a:spcAft>
              <a:spcPts val="600"/>
            </a:spcAft>
            <a:buNone/>
          </a:pPr>
          <a:r>
            <a:rPr lang="zh-CN" altLang="en-US" sz="1600" b="1" kern="1200" dirty="0">
              <a:latin typeface="微软雅黑" panose="020B0503020204020204" pitchFamily="34" charset="-122"/>
              <a:ea typeface="微软雅黑" panose="020B0503020204020204" pitchFamily="34" charset="-122"/>
            </a:rPr>
            <a:t>管理简单；</a:t>
          </a:r>
          <a:endParaRPr lang="en-US" altLang="zh-CN" sz="1600" b="1" kern="1200" dirty="0">
            <a:latin typeface="微软雅黑" panose="020B0503020204020204" pitchFamily="34" charset="-122"/>
            <a:ea typeface="微软雅黑" panose="020B0503020204020204" pitchFamily="34" charset="-122"/>
          </a:endParaRPr>
        </a:p>
        <a:p>
          <a:pPr marL="0" lvl="0" indent="0" algn="l" defTabSz="711200">
            <a:lnSpc>
              <a:spcPts val="2000"/>
            </a:lnSpc>
            <a:spcBef>
              <a:spcPct val="0"/>
            </a:spcBef>
            <a:spcAft>
              <a:spcPts val="600"/>
            </a:spcAft>
            <a:buNone/>
          </a:pPr>
          <a:r>
            <a:rPr lang="zh-CN" altLang="en-US" sz="1600" b="1" kern="1200" dirty="0">
              <a:latin typeface="微软雅黑" panose="020B0503020204020204" pitchFamily="34" charset="-122"/>
              <a:ea typeface="微软雅黑" panose="020B0503020204020204" pitchFamily="34" charset="-122"/>
            </a:rPr>
            <a:t>使用方便；</a:t>
          </a:r>
          <a:endParaRPr lang="en-US" altLang="zh-CN" sz="1600" b="1" kern="1200" dirty="0">
            <a:latin typeface="微软雅黑" panose="020B0503020204020204" pitchFamily="34" charset="-122"/>
            <a:ea typeface="微软雅黑" panose="020B0503020204020204" pitchFamily="34" charset="-122"/>
          </a:endParaRPr>
        </a:p>
        <a:p>
          <a:pPr marL="0" lvl="0" indent="0" algn="l" defTabSz="711200">
            <a:lnSpc>
              <a:spcPts val="2000"/>
            </a:lnSpc>
            <a:spcBef>
              <a:spcPct val="0"/>
            </a:spcBef>
            <a:spcAft>
              <a:spcPts val="600"/>
            </a:spcAft>
            <a:buNone/>
          </a:pPr>
          <a:r>
            <a:rPr lang="zh-CN" altLang="en-US" sz="1600" b="1" kern="1200" dirty="0">
              <a:latin typeface="微软雅黑" panose="020B0503020204020204" pitchFamily="34" charset="-122"/>
              <a:ea typeface="微软雅黑" panose="020B0503020204020204" pitchFamily="34" charset="-122"/>
            </a:rPr>
            <a:t>转发分组迅速；</a:t>
          </a:r>
          <a:endParaRPr lang="en-US" altLang="zh-CN" sz="1600" b="1" kern="1200" dirty="0">
            <a:latin typeface="微软雅黑" panose="020B0503020204020204" pitchFamily="34" charset="-122"/>
            <a:ea typeface="微软雅黑" panose="020B0503020204020204" pitchFamily="34" charset="-122"/>
          </a:endParaRPr>
        </a:p>
        <a:p>
          <a:pPr marL="0" lvl="0" indent="0" algn="l" defTabSz="711200">
            <a:lnSpc>
              <a:spcPts val="2000"/>
            </a:lnSpc>
            <a:spcBef>
              <a:spcPct val="0"/>
            </a:spcBef>
            <a:spcAft>
              <a:spcPts val="600"/>
            </a:spcAft>
            <a:buNone/>
          </a:pPr>
          <a:r>
            <a:rPr lang="zh-CN" altLang="zh-CN" sz="1600" b="1" kern="1200" dirty="0">
              <a:latin typeface="微软雅黑" panose="020B0503020204020204" pitchFamily="34" charset="-122"/>
              <a:ea typeface="微软雅黑" panose="020B0503020204020204" pitchFamily="34" charset="-122"/>
            </a:rPr>
            <a:t>划分子网</a:t>
          </a:r>
          <a:r>
            <a:rPr lang="zh-CN" altLang="en-US" sz="1600" b="1" kern="1200" dirty="0">
              <a:latin typeface="微软雅黑" panose="020B0503020204020204" pitchFamily="34" charset="-122"/>
              <a:ea typeface="微软雅黑" panose="020B0503020204020204" pitchFamily="34" charset="-122"/>
            </a:rPr>
            <a:t>，灵活地使用。</a:t>
          </a:r>
        </a:p>
      </dsp:txBody>
      <dsp:txXfrm>
        <a:off x="1141045" y="879666"/>
        <a:ext cx="2329497" cy="1703744"/>
      </dsp:txXfrm>
    </dsp:sp>
    <dsp:sp modelId="{40AD89A0-37A1-4061-B639-561D759D430F}">
      <dsp:nvSpPr>
        <dsp:cNvPr id="0" name=""/>
        <dsp:cNvSpPr/>
      </dsp:nvSpPr>
      <dsp:spPr>
        <a:xfrm>
          <a:off x="3506851" y="879666"/>
          <a:ext cx="2329497" cy="170374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t" anchorCtr="0">
          <a:noAutofit/>
        </a:bodyPr>
        <a:lstStyle/>
        <a:p>
          <a:pPr marL="0" lvl="0" indent="0" algn="l" defTabSz="711200">
            <a:lnSpc>
              <a:spcPts val="2000"/>
            </a:lnSpc>
            <a:spcBef>
              <a:spcPct val="0"/>
            </a:spcBef>
            <a:spcAft>
              <a:spcPts val="600"/>
            </a:spcAft>
            <a:buNone/>
          </a:pPr>
          <a:r>
            <a:rPr lang="zh-CN" altLang="en-US" sz="1600" b="1" kern="1200" dirty="0">
              <a:latin typeface="微软雅黑" panose="020B0503020204020204" pitchFamily="34" charset="-122"/>
              <a:ea typeface="微软雅黑" panose="020B0503020204020204" pitchFamily="34" charset="-122"/>
            </a:rPr>
            <a:t>设计上不合理：</a:t>
          </a:r>
          <a:endParaRPr lang="en-US" altLang="zh-CN" sz="1600" b="1" kern="1200" dirty="0">
            <a:latin typeface="微软雅黑" panose="020B0503020204020204" pitchFamily="34" charset="-122"/>
            <a:ea typeface="微软雅黑" panose="020B0503020204020204" pitchFamily="34" charset="-122"/>
          </a:endParaRPr>
        </a:p>
        <a:p>
          <a:pPr marL="0" lvl="0" indent="0" algn="l" defTabSz="711200">
            <a:lnSpc>
              <a:spcPts val="2000"/>
            </a:lnSpc>
            <a:spcBef>
              <a:spcPct val="0"/>
            </a:spcBef>
            <a:spcAft>
              <a:spcPts val="600"/>
            </a:spcAft>
            <a:buNone/>
          </a:pPr>
          <a:r>
            <a:rPr lang="zh-CN" altLang="en-US" sz="1600" b="1" kern="1200" dirty="0">
              <a:latin typeface="微软雅黑" panose="020B0503020204020204" pitchFamily="34" charset="-122"/>
              <a:ea typeface="微软雅黑" panose="020B0503020204020204" pitchFamily="34" charset="-122"/>
            </a:rPr>
            <a:t>大地址块，</a:t>
          </a:r>
          <a:r>
            <a:rPr lang="zh-CN" altLang="en-US" sz="1600" b="1" kern="1200" dirty="0">
              <a:solidFill>
                <a:srgbClr val="C00000"/>
              </a:solidFill>
              <a:latin typeface="微软雅黑" panose="020B0503020204020204" pitchFamily="34" charset="-122"/>
              <a:ea typeface="微软雅黑" panose="020B0503020204020204" pitchFamily="34" charset="-122"/>
            </a:rPr>
            <a:t>浪费</a:t>
          </a:r>
          <a:r>
            <a:rPr lang="zh-CN" altLang="en-US" sz="1600" b="1" kern="1200" dirty="0">
              <a:latin typeface="微软雅黑" panose="020B0503020204020204" pitchFamily="34" charset="-122"/>
              <a:ea typeface="微软雅黑" panose="020B0503020204020204" pitchFamily="34" charset="-122"/>
            </a:rPr>
            <a:t>地址资源；</a:t>
          </a:r>
          <a:endParaRPr lang="en-US" altLang="zh-CN" sz="1600" b="1" kern="1200" dirty="0">
            <a:latin typeface="微软雅黑" panose="020B0503020204020204" pitchFamily="34" charset="-122"/>
            <a:ea typeface="微软雅黑" panose="020B0503020204020204" pitchFamily="34" charset="-122"/>
          </a:endParaRPr>
        </a:p>
        <a:p>
          <a:pPr marL="0" lvl="0" indent="0" algn="l" defTabSz="711200">
            <a:lnSpc>
              <a:spcPts val="2000"/>
            </a:lnSpc>
            <a:spcBef>
              <a:spcPct val="0"/>
            </a:spcBef>
            <a:spcAft>
              <a:spcPts val="600"/>
            </a:spcAft>
            <a:buNone/>
          </a:pPr>
          <a:r>
            <a:rPr lang="zh-CN" altLang="en-US" sz="1600" b="1" kern="1200" dirty="0">
              <a:latin typeface="微软雅黑" panose="020B0503020204020204" pitchFamily="34" charset="-122"/>
              <a:ea typeface="微软雅黑" panose="020B0503020204020204" pitchFamily="34" charset="-122"/>
            </a:rPr>
            <a:t>即使采用划分子网的方法，也无法解决 </a:t>
          </a:r>
          <a:r>
            <a:rPr lang="en-US" altLang="en-US" sz="1600" b="1" kern="1200" dirty="0">
              <a:latin typeface="微软雅黑" panose="020B0503020204020204" pitchFamily="34" charset="-122"/>
              <a:ea typeface="微软雅黑" panose="020B0503020204020204" pitchFamily="34" charset="-122"/>
            </a:rPr>
            <a:t>IP </a:t>
          </a:r>
          <a:r>
            <a:rPr lang="zh-CN" altLang="en-US" sz="1600" b="1" kern="1200" dirty="0">
              <a:latin typeface="微软雅黑" panose="020B0503020204020204" pitchFamily="34" charset="-122"/>
              <a:ea typeface="微软雅黑" panose="020B0503020204020204" pitchFamily="34" charset="-122"/>
            </a:rPr>
            <a:t>地址</a:t>
          </a:r>
          <a:r>
            <a:rPr lang="zh-CN" altLang="en-US" sz="1600" b="1" kern="1200" dirty="0">
              <a:solidFill>
                <a:srgbClr val="C00000"/>
              </a:solidFill>
              <a:latin typeface="微软雅黑" panose="020B0503020204020204" pitchFamily="34" charset="-122"/>
              <a:ea typeface="微软雅黑" panose="020B0503020204020204" pitchFamily="34" charset="-122"/>
            </a:rPr>
            <a:t>枯竭</a:t>
          </a:r>
          <a:r>
            <a:rPr lang="zh-CN" altLang="en-US" sz="1600" b="1" kern="1200" dirty="0">
              <a:latin typeface="微软雅黑" panose="020B0503020204020204" pitchFamily="34" charset="-122"/>
              <a:ea typeface="微软雅黑" panose="020B0503020204020204" pitchFamily="34" charset="-122"/>
            </a:rPr>
            <a:t>的问题。</a:t>
          </a:r>
        </a:p>
      </dsp:txBody>
      <dsp:txXfrm>
        <a:off x="3506851" y="879666"/>
        <a:ext cx="2329497" cy="1703744"/>
      </dsp:txXfrm>
    </dsp:sp>
    <dsp:sp modelId="{69C13D01-1AFC-4B1D-A9D4-90EC30CD2E19}">
      <dsp:nvSpPr>
        <dsp:cNvPr id="0" name=""/>
        <dsp:cNvSpPr/>
      </dsp:nvSpPr>
      <dsp:spPr>
        <a:xfrm>
          <a:off x="512443" y="22249"/>
          <a:ext cx="867717" cy="867717"/>
        </a:xfrm>
        <a:prstGeom prst="plus">
          <a:avLst>
            <a:gd name="adj" fmla="val 32810"/>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279C3955-DDC3-45AE-ABAF-A714C59D6D50}">
      <dsp:nvSpPr>
        <dsp:cNvPr id="0" name=""/>
        <dsp:cNvSpPr/>
      </dsp:nvSpPr>
      <dsp:spPr>
        <a:xfrm>
          <a:off x="5474157" y="334301"/>
          <a:ext cx="816675" cy="279867"/>
        </a:xfrm>
        <a:prstGeom prst="rect">
          <a:avLst/>
        </a:prstGeom>
        <a:solidFill>
          <a:srgbClr val="000099"/>
        </a:solidFill>
        <a:ln w="254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8D85BB93-CCEC-4AF9-A3E3-7305BF0CC5BD}">
      <dsp:nvSpPr>
        <dsp:cNvPr id="0" name=""/>
        <dsp:cNvSpPr/>
      </dsp:nvSpPr>
      <dsp:spPr>
        <a:xfrm>
          <a:off x="3414085" y="754102"/>
          <a:ext cx="510" cy="1875110"/>
        </a:xfrm>
        <a:prstGeom prst="line">
          <a:avLst/>
        </a:prstGeom>
        <a:noFill/>
        <a:ln w="25400" cap="flat" cmpd="sng" algn="ctr">
          <a:solidFill>
            <a:srgbClr val="000099"/>
          </a:solidFill>
          <a:prstDash val="solid"/>
        </a:ln>
        <a:effectLst/>
      </dsp:spPr>
      <dsp:style>
        <a:lnRef idx="2">
          <a:scrgbClr r="0" g="0" b="0"/>
        </a:lnRef>
        <a:fillRef idx="0">
          <a:scrgbClr r="0" g="0" b="0"/>
        </a:fillRef>
        <a:effectRef idx="0">
          <a:scrgbClr r="0" g="0" b="0"/>
        </a:effectRef>
        <a:fontRef idx="minor"/>
      </dsp:style>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A93C829-AB1E-47B7-AF09-3489EE20D87D}">
      <dsp:nvSpPr>
        <dsp:cNvPr id="0" name=""/>
        <dsp:cNvSpPr/>
      </dsp:nvSpPr>
      <dsp:spPr>
        <a:xfrm>
          <a:off x="32" y="13405"/>
          <a:ext cx="3125365" cy="662400"/>
        </a:xfrm>
        <a:prstGeom prst="rect">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8016" tIns="73152" rIns="128016" bIns="73152" numCol="1" spcCol="1270" anchor="ctr" anchorCtr="0">
          <a:noAutofit/>
        </a:bodyPr>
        <a:lstStyle/>
        <a:p>
          <a:pPr marL="0" lvl="0" indent="0" algn="ctr" defTabSz="800100">
            <a:lnSpc>
              <a:spcPct val="90000"/>
            </a:lnSpc>
            <a:spcBef>
              <a:spcPct val="0"/>
            </a:spcBef>
            <a:spcAft>
              <a:spcPct val="35000"/>
            </a:spcAft>
            <a:buNone/>
          </a:pPr>
          <a:r>
            <a:rPr lang="en-US" altLang="zh-CN" sz="1800" b="1" kern="1200" dirty="0">
              <a:latin typeface="微软雅黑" panose="020B0503020204020204" pitchFamily="34" charset="-122"/>
              <a:ea typeface="微软雅黑" panose="020B0503020204020204" pitchFamily="34" charset="-122"/>
            </a:rPr>
            <a:t>IP </a:t>
          </a:r>
          <a:r>
            <a:rPr lang="zh-CN" altLang="en-US" sz="1800" b="1" kern="1200" dirty="0">
              <a:latin typeface="微软雅黑" panose="020B0503020204020204" pitchFamily="34" charset="-122"/>
              <a:ea typeface="微软雅黑" panose="020B0503020204020204" pitchFamily="34" charset="-122"/>
            </a:rPr>
            <a:t>地址</a:t>
          </a:r>
        </a:p>
      </dsp:txBody>
      <dsp:txXfrm>
        <a:off x="32" y="13405"/>
        <a:ext cx="3125365" cy="662400"/>
      </dsp:txXfrm>
    </dsp:sp>
    <dsp:sp modelId="{ADDE5FA6-A293-4009-AA1F-EF295D5FC61B}">
      <dsp:nvSpPr>
        <dsp:cNvPr id="0" name=""/>
        <dsp:cNvSpPr/>
      </dsp:nvSpPr>
      <dsp:spPr>
        <a:xfrm>
          <a:off x="32" y="675805"/>
          <a:ext cx="3125365" cy="1855577"/>
        </a:xfrm>
        <a:prstGeom prst="rect">
          <a:avLst/>
        </a:prstGeom>
        <a:solidFill>
          <a:schemeClr val="accent2">
            <a:tint val="40000"/>
            <a:alpha val="90000"/>
            <a:hueOff val="0"/>
            <a:satOff val="0"/>
            <a:lumOff val="0"/>
            <a:alphaOff val="0"/>
          </a:schemeClr>
        </a:solidFill>
        <a:ln w="25400" cap="flat" cmpd="sng" algn="ctr">
          <a:solidFill>
            <a:schemeClr val="accent2">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虚拟地址、软件地址、逻辑地址。</a:t>
          </a: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网络层和以上各层使用。</a:t>
          </a: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放在 </a:t>
          </a:r>
          <a:r>
            <a:rPr lang="en-US" altLang="en-US" sz="1800" b="1" kern="1200" dirty="0">
              <a:latin typeface="微软雅黑" panose="020B0503020204020204" pitchFamily="34" charset="-122"/>
              <a:ea typeface="微软雅黑" panose="020B0503020204020204" pitchFamily="34" charset="-122"/>
            </a:rPr>
            <a:t>IP </a:t>
          </a:r>
          <a:r>
            <a:rPr lang="zh-CN" altLang="en-US" sz="1800" b="1" kern="1200" dirty="0">
              <a:latin typeface="微软雅黑" panose="020B0503020204020204" pitchFamily="34" charset="-122"/>
              <a:ea typeface="微软雅黑" panose="020B0503020204020204" pitchFamily="34" charset="-122"/>
            </a:rPr>
            <a:t>数据报的首部。</a:t>
          </a:r>
        </a:p>
      </dsp:txBody>
      <dsp:txXfrm>
        <a:off x="32" y="675805"/>
        <a:ext cx="3125365" cy="1855577"/>
      </dsp:txXfrm>
    </dsp:sp>
    <dsp:sp modelId="{A906942F-4CD9-406B-9703-826231E59346}">
      <dsp:nvSpPr>
        <dsp:cNvPr id="0" name=""/>
        <dsp:cNvSpPr/>
      </dsp:nvSpPr>
      <dsp:spPr>
        <a:xfrm>
          <a:off x="3562949" y="13405"/>
          <a:ext cx="3125365" cy="662400"/>
        </a:xfrm>
        <a:prstGeom prst="rect">
          <a:avLst/>
        </a:prstGeom>
        <a:solidFill>
          <a:schemeClr val="accent3">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8016" tIns="73152" rIns="128016" bIns="73152" numCol="1" spcCol="1270" anchor="ctr" anchorCtr="0">
          <a:noAutofit/>
        </a:bodyPr>
        <a:lstStyle/>
        <a:p>
          <a:pPr marL="0" lvl="0" indent="0" algn="ctr" defTabSz="800100">
            <a:lnSpc>
              <a:spcPct val="90000"/>
            </a:lnSpc>
            <a:spcBef>
              <a:spcPct val="0"/>
            </a:spcBef>
            <a:spcAft>
              <a:spcPct val="35000"/>
            </a:spcAft>
            <a:buNone/>
          </a:pPr>
          <a:r>
            <a:rPr lang="en-US" altLang="zh-CN" sz="1800" b="1" kern="1200" dirty="0">
              <a:latin typeface="微软雅黑" panose="020B0503020204020204" pitchFamily="34" charset="-122"/>
              <a:ea typeface="微软雅黑" panose="020B0503020204020204" pitchFamily="34" charset="-122"/>
            </a:rPr>
            <a:t>MAC </a:t>
          </a:r>
          <a:r>
            <a:rPr lang="zh-CN" altLang="en-US" sz="1800" b="1" kern="1200" dirty="0">
              <a:latin typeface="微软雅黑" panose="020B0503020204020204" pitchFamily="34" charset="-122"/>
              <a:ea typeface="微软雅黑" panose="020B0503020204020204" pitchFamily="34" charset="-122"/>
            </a:rPr>
            <a:t>地址</a:t>
          </a:r>
        </a:p>
      </dsp:txBody>
      <dsp:txXfrm>
        <a:off x="3562949" y="13405"/>
        <a:ext cx="3125365" cy="662400"/>
      </dsp:txXfrm>
    </dsp:sp>
    <dsp:sp modelId="{2B0E6FE9-FDF1-417E-907E-1431E3C22379}">
      <dsp:nvSpPr>
        <dsp:cNvPr id="0" name=""/>
        <dsp:cNvSpPr/>
      </dsp:nvSpPr>
      <dsp:spPr>
        <a:xfrm>
          <a:off x="3562949" y="675805"/>
          <a:ext cx="3125365" cy="1855577"/>
        </a:xfrm>
        <a:prstGeom prst="rect">
          <a:avLst/>
        </a:prstGeom>
        <a:solidFill>
          <a:schemeClr val="accent3">
            <a:tint val="40000"/>
            <a:alpha val="90000"/>
            <a:hueOff val="0"/>
            <a:satOff val="0"/>
            <a:lumOff val="0"/>
            <a:alphaOff val="0"/>
          </a:schemeClr>
        </a:solidFill>
        <a:ln w="25400" cap="flat" cmpd="sng" algn="ctr">
          <a:solidFill>
            <a:schemeClr val="accent3">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固化在网卡上的 </a:t>
          </a:r>
          <a:r>
            <a:rPr lang="en-US" altLang="en-US" sz="1800" b="1" kern="1200" dirty="0">
              <a:latin typeface="微软雅黑" panose="020B0503020204020204" pitchFamily="34" charset="-122"/>
              <a:ea typeface="微软雅黑" panose="020B0503020204020204" pitchFamily="34" charset="-122"/>
            </a:rPr>
            <a:t>ROM </a:t>
          </a:r>
          <a:r>
            <a:rPr lang="zh-CN" altLang="en-US" sz="1800" b="1" kern="1200" dirty="0">
              <a:latin typeface="微软雅黑" panose="020B0503020204020204" pitchFamily="34" charset="-122"/>
              <a:ea typeface="微软雅黑" panose="020B0503020204020204" pitchFamily="34" charset="-122"/>
            </a:rPr>
            <a:t>中。</a:t>
          </a: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硬件地址、物理地址。</a:t>
          </a: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数据链路层使用。</a:t>
          </a: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放在 </a:t>
          </a:r>
          <a:r>
            <a:rPr lang="en-US" altLang="en-US" sz="1800" b="1" kern="1200" dirty="0">
              <a:latin typeface="微软雅黑" panose="020B0503020204020204" pitchFamily="34" charset="-122"/>
              <a:ea typeface="微软雅黑" panose="020B0503020204020204" pitchFamily="34" charset="-122"/>
            </a:rPr>
            <a:t>MAC </a:t>
          </a:r>
          <a:r>
            <a:rPr lang="zh-CN" altLang="en-US" sz="1800" b="1" kern="1200" dirty="0">
              <a:latin typeface="微软雅黑" panose="020B0503020204020204" pitchFamily="34" charset="-122"/>
              <a:ea typeface="微软雅黑" panose="020B0503020204020204" pitchFamily="34" charset="-122"/>
            </a:rPr>
            <a:t>帧的首部。</a:t>
          </a:r>
        </a:p>
      </dsp:txBody>
      <dsp:txXfrm>
        <a:off x="3562949" y="675805"/>
        <a:ext cx="3125365" cy="1855577"/>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C8CECCC-33E8-4D44-AF7B-D639E8E0A9B0}">
      <dsp:nvSpPr>
        <dsp:cNvPr id="0" name=""/>
        <dsp:cNvSpPr/>
      </dsp:nvSpPr>
      <dsp:spPr>
        <a:xfrm rot="5400000">
          <a:off x="2115430" y="70577"/>
          <a:ext cx="1060180" cy="922356"/>
        </a:xfrm>
        <a:prstGeom prst="hexagon">
          <a:avLst>
            <a:gd name="adj" fmla="val 25000"/>
            <a:gd name="vf" fmla="val 115470"/>
          </a:avLst>
        </a:prstGeom>
        <a:solidFill>
          <a:schemeClr val="accent2">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zh-CN" altLang="en-US" sz="1800" b="1" kern="1200" dirty="0">
              <a:latin typeface="微软雅黑" panose="020B0503020204020204" pitchFamily="34" charset="-122"/>
              <a:ea typeface="微软雅黑" panose="020B0503020204020204" pitchFamily="34" charset="-122"/>
            </a:rPr>
            <a:t>稳定</a:t>
          </a:r>
        </a:p>
      </dsp:txBody>
      <dsp:txXfrm rot="-5400000">
        <a:off x="2328076" y="166876"/>
        <a:ext cx="634888" cy="729758"/>
      </dsp:txXfrm>
    </dsp:sp>
    <dsp:sp modelId="{77C4C6C5-334A-4E65-979D-B22FCFC4D25B}">
      <dsp:nvSpPr>
        <dsp:cNvPr id="0" name=""/>
        <dsp:cNvSpPr/>
      </dsp:nvSpPr>
      <dsp:spPr>
        <a:xfrm>
          <a:off x="3134687" y="213701"/>
          <a:ext cx="1183161" cy="63610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zh-CN" altLang="en-US" sz="1800" b="1" kern="1200" dirty="0">
              <a:latin typeface="微软雅黑" panose="020B0503020204020204" pitchFamily="34" charset="-122"/>
              <a:ea typeface="微软雅黑" panose="020B0503020204020204" pitchFamily="34" charset="-122"/>
            </a:rPr>
            <a:t>计算简单</a:t>
          </a:r>
        </a:p>
      </dsp:txBody>
      <dsp:txXfrm>
        <a:off x="3134687" y="213701"/>
        <a:ext cx="1183161" cy="636108"/>
      </dsp:txXfrm>
    </dsp:sp>
    <dsp:sp modelId="{FA279299-B666-469F-8777-B71225E62A40}">
      <dsp:nvSpPr>
        <dsp:cNvPr id="0" name=""/>
        <dsp:cNvSpPr/>
      </dsp:nvSpPr>
      <dsp:spPr>
        <a:xfrm rot="5400000">
          <a:off x="1119285" y="70577"/>
          <a:ext cx="1060180" cy="922356"/>
        </a:xfrm>
        <a:prstGeom prst="hexagon">
          <a:avLst>
            <a:gd name="adj" fmla="val 25000"/>
            <a:gd name="vf" fmla="val 115470"/>
          </a:avLst>
        </a:prstGeom>
        <a:solidFill>
          <a:schemeClr val="accent3">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800100">
            <a:lnSpc>
              <a:spcPct val="90000"/>
            </a:lnSpc>
            <a:spcBef>
              <a:spcPct val="0"/>
            </a:spcBef>
            <a:spcAft>
              <a:spcPct val="35000"/>
            </a:spcAft>
            <a:buNone/>
          </a:pPr>
          <a:endParaRPr lang="zh-CN" altLang="en-US" sz="1800" b="1" kern="1200">
            <a:latin typeface="微软雅黑" panose="020B0503020204020204" pitchFamily="34" charset="-122"/>
            <a:ea typeface="微软雅黑" panose="020B0503020204020204" pitchFamily="34" charset="-122"/>
          </a:endParaRPr>
        </a:p>
      </dsp:txBody>
      <dsp:txXfrm rot="-5400000">
        <a:off x="1331931" y="166876"/>
        <a:ext cx="634888" cy="729758"/>
      </dsp:txXfrm>
    </dsp:sp>
    <dsp:sp modelId="{5CDA83B7-524F-419D-8B88-84CC727E3270}">
      <dsp:nvSpPr>
        <dsp:cNvPr id="0" name=""/>
        <dsp:cNvSpPr/>
      </dsp:nvSpPr>
      <dsp:spPr>
        <a:xfrm rot="5400000">
          <a:off x="1615449" y="970458"/>
          <a:ext cx="1060180" cy="922356"/>
        </a:xfrm>
        <a:prstGeom prst="hexagon">
          <a:avLst>
            <a:gd name="adj" fmla="val 25000"/>
            <a:gd name="vf" fmla="val 115470"/>
          </a:avLst>
        </a:prstGeom>
        <a:solidFill>
          <a:schemeClr val="accent4">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zh-CN" altLang="en-US" sz="1800" b="1" kern="1200" dirty="0">
              <a:latin typeface="微软雅黑" panose="020B0503020204020204" pitchFamily="34" charset="-122"/>
              <a:ea typeface="微软雅黑" panose="020B0503020204020204" pitchFamily="34" charset="-122"/>
            </a:rPr>
            <a:t>最佳</a:t>
          </a:r>
        </a:p>
      </dsp:txBody>
      <dsp:txXfrm rot="-5400000">
        <a:off x="1828095" y="1066757"/>
        <a:ext cx="634888" cy="729758"/>
      </dsp:txXfrm>
    </dsp:sp>
    <dsp:sp modelId="{9F9A9FAC-12D3-4655-B2AA-04364F1E88CE}">
      <dsp:nvSpPr>
        <dsp:cNvPr id="0" name=""/>
        <dsp:cNvSpPr/>
      </dsp:nvSpPr>
      <dsp:spPr>
        <a:xfrm>
          <a:off x="501199" y="1113582"/>
          <a:ext cx="1144994" cy="63610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r" defTabSz="800100">
            <a:lnSpc>
              <a:spcPct val="90000"/>
            </a:lnSpc>
            <a:spcBef>
              <a:spcPct val="0"/>
            </a:spcBef>
            <a:spcAft>
              <a:spcPts val="0"/>
            </a:spcAft>
            <a:buNone/>
          </a:pPr>
          <a:r>
            <a:rPr lang="zh-CN" altLang="en-US" sz="1800" b="1" kern="1200" dirty="0">
              <a:latin typeface="微软雅黑" panose="020B0503020204020204" pitchFamily="34" charset="-122"/>
              <a:ea typeface="微软雅黑" panose="020B0503020204020204" pitchFamily="34" charset="-122"/>
            </a:rPr>
            <a:t>正确完整</a:t>
          </a:r>
        </a:p>
      </dsp:txBody>
      <dsp:txXfrm>
        <a:off x="501199" y="1113582"/>
        <a:ext cx="1144994" cy="636108"/>
      </dsp:txXfrm>
    </dsp:sp>
    <dsp:sp modelId="{BC9E837C-7471-448B-B8E7-D49F71F18600}">
      <dsp:nvSpPr>
        <dsp:cNvPr id="0" name=""/>
        <dsp:cNvSpPr/>
      </dsp:nvSpPr>
      <dsp:spPr>
        <a:xfrm rot="5400000">
          <a:off x="2611594" y="970458"/>
          <a:ext cx="1060180" cy="922356"/>
        </a:xfrm>
        <a:prstGeom prst="hexagon">
          <a:avLst>
            <a:gd name="adj" fmla="val 25000"/>
            <a:gd name="vf" fmla="val 115470"/>
          </a:avLst>
        </a:prstGeom>
        <a:solidFill>
          <a:schemeClr val="accent5">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711200">
            <a:lnSpc>
              <a:spcPct val="9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自适应</a:t>
          </a:r>
        </a:p>
      </dsp:txBody>
      <dsp:txXfrm rot="-5400000">
        <a:off x="2824240" y="1066757"/>
        <a:ext cx="634888" cy="729758"/>
      </dsp:txXfrm>
    </dsp:sp>
    <dsp:sp modelId="{F18AFA34-AF22-48CA-A491-D3AA2FDCF09E}">
      <dsp:nvSpPr>
        <dsp:cNvPr id="0" name=""/>
        <dsp:cNvSpPr/>
      </dsp:nvSpPr>
      <dsp:spPr>
        <a:xfrm rot="5400000">
          <a:off x="2115430" y="1870339"/>
          <a:ext cx="1060180" cy="922356"/>
        </a:xfrm>
        <a:prstGeom prst="hexagon">
          <a:avLst>
            <a:gd name="adj" fmla="val 25000"/>
            <a:gd name="vf" fmla="val 115470"/>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zh-CN" altLang="en-US" sz="1800" b="1" kern="1200" dirty="0">
              <a:latin typeface="微软雅黑" panose="020B0503020204020204" pitchFamily="34" charset="-122"/>
              <a:ea typeface="微软雅黑" panose="020B0503020204020204" pitchFamily="34" charset="-122"/>
            </a:rPr>
            <a:t>公平</a:t>
          </a:r>
        </a:p>
      </dsp:txBody>
      <dsp:txXfrm rot="-5400000">
        <a:off x="2328076" y="1966638"/>
        <a:ext cx="634888" cy="729758"/>
      </dsp:txXfrm>
    </dsp:sp>
    <dsp:sp modelId="{5B9F08EB-293A-42A1-ACFE-48E8E54FC3D0}">
      <dsp:nvSpPr>
        <dsp:cNvPr id="0" name=""/>
        <dsp:cNvSpPr/>
      </dsp:nvSpPr>
      <dsp:spPr>
        <a:xfrm>
          <a:off x="3134687" y="2013463"/>
          <a:ext cx="1183161" cy="63610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endParaRPr lang="zh-CN" altLang="en-US" sz="1800" b="1" kern="1200" dirty="0">
            <a:latin typeface="微软雅黑" panose="020B0503020204020204" pitchFamily="34" charset="-122"/>
            <a:ea typeface="微软雅黑" panose="020B0503020204020204" pitchFamily="34" charset="-122"/>
          </a:endParaRPr>
        </a:p>
      </dsp:txBody>
      <dsp:txXfrm>
        <a:off x="3134687" y="2013463"/>
        <a:ext cx="1183161" cy="636108"/>
      </dsp:txXfrm>
    </dsp:sp>
    <dsp:sp modelId="{9DAF7479-96E8-43C9-8AC5-D44A0AC1DE87}">
      <dsp:nvSpPr>
        <dsp:cNvPr id="0" name=""/>
        <dsp:cNvSpPr/>
      </dsp:nvSpPr>
      <dsp:spPr>
        <a:xfrm rot="5400000">
          <a:off x="1119285" y="1870339"/>
          <a:ext cx="1060180" cy="922356"/>
        </a:xfrm>
        <a:prstGeom prst="hexagon">
          <a:avLst>
            <a:gd name="adj" fmla="val 25000"/>
            <a:gd name="vf" fmla="val 115470"/>
          </a:avLst>
        </a:prstGeom>
        <a:solidFill>
          <a:schemeClr val="accent2">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800100">
            <a:lnSpc>
              <a:spcPct val="90000"/>
            </a:lnSpc>
            <a:spcBef>
              <a:spcPct val="0"/>
            </a:spcBef>
            <a:spcAft>
              <a:spcPts val="0"/>
            </a:spcAft>
            <a:buNone/>
          </a:pPr>
          <a:endParaRPr lang="zh-CN" altLang="en-US" sz="1800" b="1" kern="1200" dirty="0">
            <a:latin typeface="微软雅黑" panose="020B0503020204020204" pitchFamily="34" charset="-122"/>
            <a:ea typeface="微软雅黑" panose="020B0503020204020204" pitchFamily="34" charset="-122"/>
          </a:endParaRPr>
        </a:p>
      </dsp:txBody>
      <dsp:txXfrm rot="-5400000">
        <a:off x="1331931" y="1966638"/>
        <a:ext cx="634888" cy="729758"/>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B5FE49D-F768-452D-A9A2-52FCD77827E0}">
      <dsp:nvSpPr>
        <dsp:cNvPr id="0" name=""/>
        <dsp:cNvSpPr/>
      </dsp:nvSpPr>
      <dsp:spPr>
        <a:xfrm>
          <a:off x="0" y="4659"/>
          <a:ext cx="6520872" cy="484612"/>
        </a:xfrm>
        <a:prstGeom prst="roundRect">
          <a:avLst/>
        </a:prstGeom>
        <a:gradFill rotWithShape="0">
          <a:gsLst>
            <a:gs pos="0">
              <a:schemeClr val="accent2">
                <a:hueOff val="0"/>
                <a:satOff val="0"/>
                <a:lumOff val="0"/>
                <a:alphaOff val="0"/>
                <a:shade val="51000"/>
                <a:satMod val="130000"/>
              </a:schemeClr>
            </a:gs>
            <a:gs pos="80000">
              <a:schemeClr val="accent2">
                <a:hueOff val="0"/>
                <a:satOff val="0"/>
                <a:lumOff val="0"/>
                <a:alphaOff val="0"/>
                <a:shade val="93000"/>
                <a:satMod val="130000"/>
              </a:schemeClr>
            </a:gs>
            <a:gs pos="100000">
              <a:schemeClr val="accent2">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l" defTabSz="889000">
            <a:lnSpc>
              <a:spcPct val="90000"/>
            </a:lnSpc>
            <a:spcBef>
              <a:spcPct val="0"/>
            </a:spcBef>
            <a:spcAft>
              <a:spcPct val="35000"/>
            </a:spcAft>
            <a:buNone/>
          </a:pPr>
          <a:r>
            <a:rPr lang="zh-CN" altLang="en-US" sz="2000" b="1" kern="1200" dirty="0">
              <a:latin typeface="微软雅黑" panose="020B0503020204020204" pitchFamily="34" charset="-122"/>
              <a:ea typeface="微软雅黑" panose="020B0503020204020204" pitchFamily="34" charset="-122"/>
            </a:rPr>
            <a:t>关于“最佳路由”</a:t>
          </a:r>
        </a:p>
      </dsp:txBody>
      <dsp:txXfrm>
        <a:off x="23657" y="28316"/>
        <a:ext cx="6473558" cy="437298"/>
      </dsp:txXfrm>
    </dsp:sp>
    <dsp:sp modelId="{CCA9AB54-F7DF-42DA-BB14-49BA708108B7}">
      <dsp:nvSpPr>
        <dsp:cNvPr id="0" name=""/>
        <dsp:cNvSpPr/>
      </dsp:nvSpPr>
      <dsp:spPr>
        <a:xfrm>
          <a:off x="0" y="489272"/>
          <a:ext cx="6520872" cy="119542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07038" tIns="22860" rIns="128016" bIns="22860" numCol="1" spcCol="1270" anchor="t" anchorCtr="0">
          <a:noAutofit/>
        </a:bodyPr>
        <a:lstStyle/>
        <a:p>
          <a:pPr marL="171450" lvl="1" indent="-171450" algn="l" defTabSz="800100">
            <a:lnSpc>
              <a:spcPct val="90000"/>
            </a:lnSpc>
            <a:spcBef>
              <a:spcPct val="0"/>
            </a:spcBef>
            <a:spcAft>
              <a:spcPct val="20000"/>
            </a:spcAft>
            <a:buChar char="•"/>
          </a:pPr>
          <a:r>
            <a:rPr lang="zh-CN" altLang="en-US" sz="1800" b="1" kern="1200" dirty="0">
              <a:latin typeface="微软雅黑" panose="020B0503020204020204" pitchFamily="34" charset="-122"/>
              <a:ea typeface="微软雅黑" panose="020B0503020204020204" pitchFamily="34" charset="-122"/>
            </a:rPr>
            <a:t>不存在一种绝对的最佳路由算法。</a:t>
          </a:r>
        </a:p>
        <a:p>
          <a:pPr marL="171450" lvl="1" indent="-171450" algn="l" defTabSz="800100">
            <a:lnSpc>
              <a:spcPct val="90000"/>
            </a:lnSpc>
            <a:spcBef>
              <a:spcPct val="0"/>
            </a:spcBef>
            <a:spcAft>
              <a:spcPct val="20000"/>
            </a:spcAft>
            <a:buChar char="•"/>
          </a:pPr>
          <a:r>
            <a:rPr lang="zh-CN" altLang="en-US" sz="1800" b="1" kern="1200" dirty="0">
              <a:latin typeface="微软雅黑" panose="020B0503020204020204" pitchFamily="34" charset="-122"/>
              <a:ea typeface="微软雅黑" panose="020B0503020204020204" pitchFamily="34" charset="-122"/>
            </a:rPr>
            <a:t>所谓“最佳”只能是相对于某一种特定要求下得出的较为合理的选择而已。</a:t>
          </a:r>
        </a:p>
      </dsp:txBody>
      <dsp:txXfrm>
        <a:off x="0" y="489272"/>
        <a:ext cx="6520872" cy="1195424"/>
      </dsp:txXfrm>
    </dsp:sp>
    <dsp:sp modelId="{EDCCA3B5-69A3-4D4F-933E-C980F139D5CE}">
      <dsp:nvSpPr>
        <dsp:cNvPr id="0" name=""/>
        <dsp:cNvSpPr/>
      </dsp:nvSpPr>
      <dsp:spPr>
        <a:xfrm>
          <a:off x="0" y="1684697"/>
          <a:ext cx="6520872" cy="484612"/>
        </a:xfrm>
        <a:prstGeom prst="roundRect">
          <a:avLst/>
        </a:prstGeom>
        <a:gradFill rotWithShape="0">
          <a:gsLst>
            <a:gs pos="0">
              <a:schemeClr val="accent3">
                <a:hueOff val="0"/>
                <a:satOff val="0"/>
                <a:lumOff val="0"/>
                <a:alphaOff val="0"/>
                <a:shade val="51000"/>
                <a:satMod val="130000"/>
              </a:schemeClr>
            </a:gs>
            <a:gs pos="80000">
              <a:schemeClr val="accent3">
                <a:hueOff val="0"/>
                <a:satOff val="0"/>
                <a:lumOff val="0"/>
                <a:alphaOff val="0"/>
                <a:shade val="93000"/>
                <a:satMod val="130000"/>
              </a:schemeClr>
            </a:gs>
            <a:gs pos="100000">
              <a:schemeClr val="accent3">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l" defTabSz="889000">
            <a:lnSpc>
              <a:spcPct val="90000"/>
            </a:lnSpc>
            <a:spcBef>
              <a:spcPct val="0"/>
            </a:spcBef>
            <a:spcAft>
              <a:spcPct val="35000"/>
            </a:spcAft>
            <a:buNone/>
          </a:pPr>
          <a:r>
            <a:rPr lang="zh-CN" altLang="en-US" sz="2000" b="1" kern="1200" dirty="0">
              <a:solidFill>
                <a:srgbClr val="000099"/>
              </a:solidFill>
              <a:latin typeface="微软雅黑" panose="020B0503020204020204" pitchFamily="34" charset="-122"/>
              <a:ea typeface="微软雅黑" panose="020B0503020204020204" pitchFamily="34" charset="-122"/>
            </a:rPr>
            <a:t>路由选择非常复杂</a:t>
          </a:r>
        </a:p>
      </dsp:txBody>
      <dsp:txXfrm>
        <a:off x="23657" y="1708354"/>
        <a:ext cx="6473558" cy="437298"/>
      </dsp:txXfrm>
    </dsp:sp>
    <dsp:sp modelId="{7CB622EB-CFF9-4CEF-9C62-0D3FB7B9D848}">
      <dsp:nvSpPr>
        <dsp:cNvPr id="0" name=""/>
        <dsp:cNvSpPr/>
      </dsp:nvSpPr>
      <dsp:spPr>
        <a:xfrm>
          <a:off x="0" y="2169309"/>
          <a:ext cx="6520872" cy="130410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07038" tIns="22860" rIns="128016" bIns="22860" numCol="1" spcCol="1270" anchor="t" anchorCtr="0">
          <a:noAutofit/>
        </a:bodyPr>
        <a:lstStyle/>
        <a:p>
          <a:pPr marL="171450" lvl="1" indent="-171450" algn="l" defTabSz="800100">
            <a:lnSpc>
              <a:spcPct val="90000"/>
            </a:lnSpc>
            <a:spcBef>
              <a:spcPct val="0"/>
            </a:spcBef>
            <a:spcAft>
              <a:spcPct val="20000"/>
            </a:spcAft>
            <a:buChar char="•"/>
          </a:pPr>
          <a:r>
            <a:rPr lang="zh-CN" altLang="en-US" sz="1800" b="1" kern="1200" dirty="0">
              <a:latin typeface="微软雅黑" panose="020B0503020204020204" pitchFamily="34" charset="-122"/>
              <a:ea typeface="微软雅黑" panose="020B0503020204020204" pitchFamily="34" charset="-122"/>
            </a:rPr>
            <a:t>需要所有节点共同协调工作的。</a:t>
          </a:r>
        </a:p>
        <a:p>
          <a:pPr marL="171450" lvl="1" indent="-171450" algn="l" defTabSz="800100">
            <a:lnSpc>
              <a:spcPct val="90000"/>
            </a:lnSpc>
            <a:spcBef>
              <a:spcPct val="0"/>
            </a:spcBef>
            <a:spcAft>
              <a:spcPct val="20000"/>
            </a:spcAft>
            <a:buChar char="•"/>
          </a:pPr>
          <a:r>
            <a:rPr lang="zh-CN" altLang="en-US" sz="1800" b="1" kern="1200" dirty="0">
              <a:latin typeface="微软雅黑" panose="020B0503020204020204" pitchFamily="34" charset="-122"/>
              <a:ea typeface="微软雅黑" panose="020B0503020204020204" pitchFamily="34" charset="-122"/>
            </a:rPr>
            <a:t>环境不断变化，而这种变化有时无法事先知道。</a:t>
          </a:r>
        </a:p>
        <a:p>
          <a:pPr marL="171450" lvl="1" indent="-171450" algn="l" defTabSz="800100">
            <a:lnSpc>
              <a:spcPct val="90000"/>
            </a:lnSpc>
            <a:spcBef>
              <a:spcPct val="0"/>
            </a:spcBef>
            <a:spcAft>
              <a:spcPct val="20000"/>
            </a:spcAft>
            <a:buChar char="•"/>
          </a:pPr>
          <a:r>
            <a:rPr lang="zh-CN" altLang="en-US" sz="1800" b="1" kern="1200" dirty="0">
              <a:latin typeface="微软雅黑" panose="020B0503020204020204" pitchFamily="34" charset="-122"/>
              <a:ea typeface="微软雅黑" panose="020B0503020204020204" pitchFamily="34" charset="-122"/>
            </a:rPr>
            <a:t>当网络发生拥塞时，很难获得所需的路由选择信息。</a:t>
          </a:r>
        </a:p>
      </dsp:txBody>
      <dsp:txXfrm>
        <a:off x="0" y="2169309"/>
        <a:ext cx="6520872" cy="1304100"/>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CA20801-F352-434C-8293-8F2818AFDE5B}">
      <dsp:nvSpPr>
        <dsp:cNvPr id="0" name=""/>
        <dsp:cNvSpPr/>
      </dsp:nvSpPr>
      <dsp:spPr>
        <a:xfrm>
          <a:off x="36" y="2228"/>
          <a:ext cx="3480866" cy="633600"/>
        </a:xfrm>
        <a:prstGeom prst="rect">
          <a:avLst/>
        </a:prstGeom>
        <a:solidFill>
          <a:schemeClr val="accent4">
            <a:hueOff val="0"/>
            <a:satOff val="0"/>
            <a:lumOff val="0"/>
            <a:alphaOff val="0"/>
          </a:schemeClr>
        </a:solidFill>
        <a:ln w="25400" cap="flat" cmpd="sng" algn="ctr">
          <a:solidFill>
            <a:schemeClr val="accent4">
              <a:hueOff val="0"/>
              <a:satOff val="0"/>
              <a:lumOff val="0"/>
              <a:alphaOff val="0"/>
            </a:schemeClr>
          </a:solidFill>
          <a:prstDash val="solid"/>
        </a:ln>
        <a:effectLst>
          <a:outerShdw blurRad="40000" dist="20000" dir="5400000" rotWithShape="0">
            <a:srgbClr val="000000">
              <a:alpha val="38000"/>
            </a:srgbClr>
          </a:outerShdw>
        </a:effectLst>
      </dsp:spPr>
      <dsp:style>
        <a:lnRef idx="2">
          <a:scrgbClr r="0" g="0" b="0"/>
        </a:lnRef>
        <a:fillRef idx="1">
          <a:scrgbClr r="0" g="0" b="0"/>
        </a:fillRef>
        <a:effectRef idx="1">
          <a:scrgbClr r="0" g="0" b="0"/>
        </a:effectRef>
        <a:fontRef idx="minor">
          <a:schemeClr val="lt1"/>
        </a:fontRef>
      </dsp:style>
      <dsp:txBody>
        <a:bodyPr spcFirstLastPara="0" vert="horz" wrap="square" lIns="142240" tIns="81280" rIns="142240" bIns="81280" numCol="1" spcCol="1270" anchor="ctr" anchorCtr="0">
          <a:noAutofit/>
        </a:bodyPr>
        <a:lstStyle/>
        <a:p>
          <a:pPr marL="0" lvl="0" indent="0" algn="ctr" defTabSz="889000">
            <a:lnSpc>
              <a:spcPct val="90000"/>
            </a:lnSpc>
            <a:spcBef>
              <a:spcPct val="0"/>
            </a:spcBef>
            <a:spcAft>
              <a:spcPct val="35000"/>
            </a:spcAft>
            <a:buNone/>
          </a:pPr>
          <a:r>
            <a:rPr lang="zh-CN" altLang="en-US" sz="2000" b="1" kern="1200" dirty="0">
              <a:latin typeface="微软雅黑" panose="020B0503020204020204" pitchFamily="34" charset="-122"/>
              <a:ea typeface="微软雅黑" panose="020B0503020204020204" pitchFamily="34" charset="-122"/>
            </a:rPr>
            <a:t>静态路由选择策略</a:t>
          </a:r>
        </a:p>
      </dsp:txBody>
      <dsp:txXfrm>
        <a:off x="36" y="2228"/>
        <a:ext cx="3480866" cy="633600"/>
      </dsp:txXfrm>
    </dsp:sp>
    <dsp:sp modelId="{19FF7ECD-B0E8-443E-8703-812623A25DE9}">
      <dsp:nvSpPr>
        <dsp:cNvPr id="0" name=""/>
        <dsp:cNvSpPr/>
      </dsp:nvSpPr>
      <dsp:spPr>
        <a:xfrm>
          <a:off x="36" y="635828"/>
          <a:ext cx="3480866" cy="1449360"/>
        </a:xfrm>
        <a:prstGeom prst="rect">
          <a:avLst/>
        </a:prstGeom>
        <a:solidFill>
          <a:schemeClr val="accent4">
            <a:tint val="40000"/>
            <a:alpha val="90000"/>
            <a:hueOff val="0"/>
            <a:satOff val="0"/>
            <a:lumOff val="0"/>
            <a:alphaOff val="0"/>
          </a:schemeClr>
        </a:solidFill>
        <a:ln w="25400" cap="flat" cmpd="sng" algn="ctr">
          <a:solidFill>
            <a:schemeClr val="accent4">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非自适应路由选择；</a:t>
          </a: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不能及时适应网络状态的变化；</a:t>
          </a: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简单，开销较小。 </a:t>
          </a:r>
        </a:p>
      </dsp:txBody>
      <dsp:txXfrm>
        <a:off x="36" y="635828"/>
        <a:ext cx="3480866" cy="1449360"/>
      </dsp:txXfrm>
    </dsp:sp>
    <dsp:sp modelId="{2075194E-504D-46FF-9735-28FB3A1952A0}">
      <dsp:nvSpPr>
        <dsp:cNvPr id="0" name=""/>
        <dsp:cNvSpPr/>
      </dsp:nvSpPr>
      <dsp:spPr>
        <a:xfrm>
          <a:off x="3968224" y="2228"/>
          <a:ext cx="3480866" cy="633600"/>
        </a:xfrm>
        <a:prstGeom prst="rect">
          <a:avLst/>
        </a:prstGeom>
        <a:solidFill>
          <a:schemeClr val="accent4">
            <a:hueOff val="-4464770"/>
            <a:satOff val="26899"/>
            <a:lumOff val="2156"/>
            <a:alphaOff val="0"/>
          </a:schemeClr>
        </a:solidFill>
        <a:ln w="25400" cap="flat" cmpd="sng" algn="ctr">
          <a:solidFill>
            <a:schemeClr val="accent4">
              <a:hueOff val="-4464770"/>
              <a:satOff val="26899"/>
              <a:lumOff val="2156"/>
              <a:alphaOff val="0"/>
            </a:schemeClr>
          </a:solidFill>
          <a:prstDash val="solid"/>
        </a:ln>
        <a:effectLst>
          <a:outerShdw blurRad="40000" dist="20000" dir="5400000" rotWithShape="0">
            <a:srgbClr val="000000">
              <a:alpha val="38000"/>
            </a:srgbClr>
          </a:outerShdw>
        </a:effectLst>
      </dsp:spPr>
      <dsp:style>
        <a:lnRef idx="2">
          <a:scrgbClr r="0" g="0" b="0"/>
        </a:lnRef>
        <a:fillRef idx="1">
          <a:scrgbClr r="0" g="0" b="0"/>
        </a:fillRef>
        <a:effectRef idx="1">
          <a:scrgbClr r="0" g="0" b="0"/>
        </a:effectRef>
        <a:fontRef idx="minor">
          <a:schemeClr val="lt1"/>
        </a:fontRef>
      </dsp:style>
      <dsp:txBody>
        <a:bodyPr spcFirstLastPara="0" vert="horz" wrap="square" lIns="142240" tIns="81280" rIns="142240" bIns="81280" numCol="1" spcCol="1270" anchor="ctr" anchorCtr="0">
          <a:noAutofit/>
        </a:bodyPr>
        <a:lstStyle/>
        <a:p>
          <a:pPr marL="0" lvl="0" indent="0" algn="ctr" defTabSz="889000">
            <a:lnSpc>
              <a:spcPct val="90000"/>
            </a:lnSpc>
            <a:spcBef>
              <a:spcPct val="0"/>
            </a:spcBef>
            <a:spcAft>
              <a:spcPct val="35000"/>
            </a:spcAft>
            <a:buNone/>
          </a:pPr>
          <a:r>
            <a:rPr lang="zh-CN" altLang="en-US" sz="2000" b="1" kern="1200" dirty="0">
              <a:latin typeface="微软雅黑" panose="020B0503020204020204" pitchFamily="34" charset="-122"/>
              <a:ea typeface="微软雅黑" panose="020B0503020204020204" pitchFamily="34" charset="-122"/>
            </a:rPr>
            <a:t>动态路由选择策略</a:t>
          </a:r>
        </a:p>
      </dsp:txBody>
      <dsp:txXfrm>
        <a:off x="3968224" y="2228"/>
        <a:ext cx="3480866" cy="633600"/>
      </dsp:txXfrm>
    </dsp:sp>
    <dsp:sp modelId="{4CDFFC38-F27C-472E-A2F4-B6BCE3ADBC7B}">
      <dsp:nvSpPr>
        <dsp:cNvPr id="0" name=""/>
        <dsp:cNvSpPr/>
      </dsp:nvSpPr>
      <dsp:spPr>
        <a:xfrm>
          <a:off x="3968224" y="635828"/>
          <a:ext cx="3480866" cy="1449360"/>
        </a:xfrm>
        <a:prstGeom prst="rect">
          <a:avLst/>
        </a:prstGeom>
        <a:solidFill>
          <a:schemeClr val="accent4">
            <a:tint val="40000"/>
            <a:alpha val="90000"/>
            <a:hueOff val="-3945710"/>
            <a:satOff val="22157"/>
            <a:lumOff val="1408"/>
            <a:alphaOff val="0"/>
          </a:schemeClr>
        </a:solidFill>
        <a:ln w="25400" cap="flat" cmpd="sng" algn="ctr">
          <a:solidFill>
            <a:schemeClr val="accent4">
              <a:tint val="40000"/>
              <a:alpha val="90000"/>
              <a:hueOff val="-3945710"/>
              <a:satOff val="22157"/>
              <a:lumOff val="1408"/>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自适应路由选择；</a:t>
          </a: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能较好地适应网络状态的变化；</a:t>
          </a: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实现较为复杂，开销较大。 </a:t>
          </a:r>
        </a:p>
      </dsp:txBody>
      <dsp:txXfrm>
        <a:off x="3968224" y="635828"/>
        <a:ext cx="3480866" cy="1449360"/>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CA20801-F352-434C-8293-8F2818AFDE5B}">
      <dsp:nvSpPr>
        <dsp:cNvPr id="0" name=""/>
        <dsp:cNvSpPr/>
      </dsp:nvSpPr>
      <dsp:spPr>
        <a:xfrm>
          <a:off x="36" y="10305"/>
          <a:ext cx="3480866" cy="1008000"/>
        </a:xfrm>
        <a:prstGeom prst="rect">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a:outerShdw blurRad="40000" dist="20000" dir="5400000" rotWithShape="0">
            <a:srgbClr val="000000">
              <a:alpha val="38000"/>
            </a:srgbClr>
          </a:outerShdw>
        </a:effectLst>
      </dsp:spPr>
      <dsp:style>
        <a:lnRef idx="2">
          <a:scrgbClr r="0" g="0" b="0"/>
        </a:lnRef>
        <a:fillRef idx="1">
          <a:scrgbClr r="0" g="0" b="0"/>
        </a:fillRef>
        <a:effectRef idx="1">
          <a:scrgbClr r="0" g="0" b="0"/>
        </a:effectRef>
        <a:fontRef idx="minor">
          <a:schemeClr val="lt1"/>
        </a:fontRef>
      </dsp:style>
      <dsp:txBody>
        <a:bodyPr spcFirstLastPara="0" vert="horz" wrap="square" lIns="142240" tIns="81280" rIns="142240" bIns="81280" numCol="1" spcCol="1270" anchor="ctr" anchorCtr="0">
          <a:noAutofit/>
        </a:bodyPr>
        <a:lstStyle/>
        <a:p>
          <a:pPr marL="0" lvl="0" indent="0" algn="ctr" defTabSz="889000">
            <a:lnSpc>
              <a:spcPct val="90000"/>
            </a:lnSpc>
            <a:spcBef>
              <a:spcPct val="0"/>
            </a:spcBef>
            <a:spcAft>
              <a:spcPct val="35000"/>
            </a:spcAft>
            <a:buNone/>
          </a:pPr>
          <a:r>
            <a:rPr lang="zh-CN" altLang="en-US" sz="2000" b="1" kern="1200" dirty="0">
              <a:latin typeface="微软雅黑" panose="020B0503020204020204" pitchFamily="34" charset="-122"/>
              <a:ea typeface="微软雅黑" panose="020B0503020204020204" pitchFamily="34" charset="-122"/>
            </a:rPr>
            <a:t>内部网关协议 </a:t>
          </a:r>
          <a:r>
            <a:rPr lang="en-US" altLang="en-US" sz="2000" b="1" kern="1200" dirty="0">
              <a:latin typeface="微软雅黑" panose="020B0503020204020204" pitchFamily="34" charset="-122"/>
              <a:ea typeface="微软雅黑" panose="020B0503020204020204" pitchFamily="34" charset="-122"/>
            </a:rPr>
            <a:t>IGP </a:t>
          </a:r>
          <a:endParaRPr lang="zh-CN" altLang="en-US" sz="2000" b="1" kern="1200" dirty="0">
            <a:latin typeface="微软雅黑" panose="020B0503020204020204" pitchFamily="34" charset="-122"/>
            <a:ea typeface="微软雅黑" panose="020B0503020204020204" pitchFamily="34" charset="-122"/>
          </a:endParaRPr>
        </a:p>
      </dsp:txBody>
      <dsp:txXfrm>
        <a:off x="36" y="10305"/>
        <a:ext cx="3480866" cy="1008000"/>
      </dsp:txXfrm>
    </dsp:sp>
    <dsp:sp modelId="{19FF7ECD-B0E8-443E-8703-812623A25DE9}">
      <dsp:nvSpPr>
        <dsp:cNvPr id="0" name=""/>
        <dsp:cNvSpPr/>
      </dsp:nvSpPr>
      <dsp:spPr>
        <a:xfrm>
          <a:off x="36" y="1018305"/>
          <a:ext cx="3480866" cy="1825425"/>
        </a:xfrm>
        <a:prstGeom prst="rect">
          <a:avLst/>
        </a:prstGeom>
        <a:solidFill>
          <a:schemeClr val="accent2">
            <a:tint val="40000"/>
            <a:alpha val="90000"/>
            <a:hueOff val="0"/>
            <a:satOff val="0"/>
            <a:lumOff val="0"/>
            <a:alphaOff val="0"/>
          </a:schemeClr>
        </a:solidFill>
        <a:ln w="25400" cap="flat" cmpd="sng" algn="ctr">
          <a:solidFill>
            <a:schemeClr val="accent2">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ct val="90000"/>
            </a:lnSpc>
            <a:spcBef>
              <a:spcPct val="0"/>
            </a:spcBef>
            <a:spcAft>
              <a:spcPct val="15000"/>
            </a:spcAft>
            <a:buChar char="•"/>
          </a:pPr>
          <a:r>
            <a:rPr lang="en-US" altLang="en-US" sz="1800" b="1" kern="1200" dirty="0">
              <a:latin typeface="微软雅黑" panose="020B0503020204020204" pitchFamily="34" charset="-122"/>
              <a:ea typeface="微软雅黑" panose="020B0503020204020204" pitchFamily="34" charset="-122"/>
            </a:rPr>
            <a:t>Interior Gateway Protocol</a:t>
          </a:r>
          <a:endParaRPr lang="zh-CN" altLang="en-US" sz="1800" b="1" kern="1200" dirty="0">
            <a:latin typeface="微软雅黑" panose="020B0503020204020204" pitchFamily="34" charset="-122"/>
            <a:ea typeface="微软雅黑" panose="020B0503020204020204" pitchFamily="34" charset="-122"/>
          </a:endParaRP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在一个自治系统内部使用的路由选择协议</a:t>
          </a: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常用：</a:t>
          </a:r>
          <a:r>
            <a:rPr lang="en-US" altLang="en-US" sz="1800" b="1" kern="1200" dirty="0">
              <a:latin typeface="微软雅黑" panose="020B0503020204020204" pitchFamily="34" charset="-122"/>
              <a:ea typeface="微软雅黑" panose="020B0503020204020204" pitchFamily="34" charset="-122"/>
            </a:rPr>
            <a:t>RIP</a:t>
          </a:r>
          <a:r>
            <a:rPr lang="zh-CN" altLang="en-US" sz="1800" b="1" kern="1200" dirty="0">
              <a:latin typeface="微软雅黑" panose="020B0503020204020204" pitchFamily="34" charset="-122"/>
              <a:ea typeface="微软雅黑" panose="020B0503020204020204" pitchFamily="34" charset="-122"/>
            </a:rPr>
            <a:t>，</a:t>
          </a:r>
          <a:r>
            <a:rPr lang="en-US" altLang="en-US" sz="1800" b="1" kern="1200" dirty="0">
              <a:latin typeface="微软雅黑" panose="020B0503020204020204" pitchFamily="34" charset="-122"/>
              <a:ea typeface="微软雅黑" panose="020B0503020204020204" pitchFamily="34" charset="-122"/>
            </a:rPr>
            <a:t>OSPF</a:t>
          </a:r>
          <a:endParaRPr lang="zh-CN" altLang="en-US" sz="1800" b="1" kern="1200" dirty="0">
            <a:latin typeface="微软雅黑" panose="020B0503020204020204" pitchFamily="34" charset="-122"/>
            <a:ea typeface="微软雅黑" panose="020B0503020204020204" pitchFamily="34" charset="-122"/>
          </a:endParaRPr>
        </a:p>
      </dsp:txBody>
      <dsp:txXfrm>
        <a:off x="36" y="1018305"/>
        <a:ext cx="3480866" cy="1825425"/>
      </dsp:txXfrm>
    </dsp:sp>
    <dsp:sp modelId="{2075194E-504D-46FF-9735-28FB3A1952A0}">
      <dsp:nvSpPr>
        <dsp:cNvPr id="0" name=""/>
        <dsp:cNvSpPr/>
      </dsp:nvSpPr>
      <dsp:spPr>
        <a:xfrm>
          <a:off x="3968224" y="10305"/>
          <a:ext cx="3480866" cy="1008000"/>
        </a:xfrm>
        <a:prstGeom prst="rect">
          <a:avLst/>
        </a:prstGeom>
        <a:solidFill>
          <a:schemeClr val="accent2">
            <a:hueOff val="4681519"/>
            <a:satOff val="-5839"/>
            <a:lumOff val="1373"/>
            <a:alphaOff val="0"/>
          </a:schemeClr>
        </a:solidFill>
        <a:ln w="25400" cap="flat" cmpd="sng" algn="ctr">
          <a:solidFill>
            <a:schemeClr val="accent2">
              <a:hueOff val="4681519"/>
              <a:satOff val="-5839"/>
              <a:lumOff val="1373"/>
              <a:alphaOff val="0"/>
            </a:schemeClr>
          </a:solidFill>
          <a:prstDash val="solid"/>
        </a:ln>
        <a:effectLst>
          <a:outerShdw blurRad="40000" dist="20000" dir="5400000" rotWithShape="0">
            <a:srgbClr val="000000">
              <a:alpha val="38000"/>
            </a:srgbClr>
          </a:outerShdw>
        </a:effectLst>
      </dsp:spPr>
      <dsp:style>
        <a:lnRef idx="2">
          <a:scrgbClr r="0" g="0" b="0"/>
        </a:lnRef>
        <a:fillRef idx="1">
          <a:scrgbClr r="0" g="0" b="0"/>
        </a:fillRef>
        <a:effectRef idx="1">
          <a:scrgbClr r="0" g="0" b="0"/>
        </a:effectRef>
        <a:fontRef idx="minor">
          <a:schemeClr val="lt1"/>
        </a:fontRef>
      </dsp:style>
      <dsp:txBody>
        <a:bodyPr spcFirstLastPara="0" vert="horz" wrap="square" lIns="142240" tIns="81280" rIns="142240" bIns="81280" numCol="1" spcCol="1270" anchor="ctr" anchorCtr="0">
          <a:noAutofit/>
        </a:bodyPr>
        <a:lstStyle/>
        <a:p>
          <a:pPr marL="0" lvl="0" indent="0" algn="ctr" defTabSz="889000">
            <a:lnSpc>
              <a:spcPct val="90000"/>
            </a:lnSpc>
            <a:spcBef>
              <a:spcPct val="0"/>
            </a:spcBef>
            <a:spcAft>
              <a:spcPct val="35000"/>
            </a:spcAft>
            <a:buNone/>
          </a:pPr>
          <a:r>
            <a:rPr lang="zh-CN" altLang="en-US" sz="2000" b="1" kern="1200" dirty="0">
              <a:solidFill>
                <a:srgbClr val="0000FF"/>
              </a:solidFill>
              <a:latin typeface="微软雅黑" panose="020B0503020204020204" pitchFamily="34" charset="-122"/>
              <a:ea typeface="微软雅黑" panose="020B0503020204020204" pitchFamily="34" charset="-122"/>
            </a:rPr>
            <a:t>外部网关协议 </a:t>
          </a:r>
          <a:r>
            <a:rPr lang="en-US" altLang="en-US" sz="2000" b="1" kern="1200" dirty="0">
              <a:solidFill>
                <a:srgbClr val="0000FF"/>
              </a:solidFill>
              <a:latin typeface="微软雅黑" panose="020B0503020204020204" pitchFamily="34" charset="-122"/>
              <a:ea typeface="微软雅黑" panose="020B0503020204020204" pitchFamily="34" charset="-122"/>
            </a:rPr>
            <a:t>EGP </a:t>
          </a:r>
          <a:endParaRPr lang="zh-CN" altLang="en-US" sz="2000" b="1" kern="1200" dirty="0">
            <a:solidFill>
              <a:srgbClr val="0000FF"/>
            </a:solidFill>
            <a:latin typeface="微软雅黑" panose="020B0503020204020204" pitchFamily="34" charset="-122"/>
            <a:ea typeface="微软雅黑" panose="020B0503020204020204" pitchFamily="34" charset="-122"/>
          </a:endParaRPr>
        </a:p>
      </dsp:txBody>
      <dsp:txXfrm>
        <a:off x="3968224" y="10305"/>
        <a:ext cx="3480866" cy="1008000"/>
      </dsp:txXfrm>
    </dsp:sp>
    <dsp:sp modelId="{4CDFFC38-F27C-472E-A2F4-B6BCE3ADBC7B}">
      <dsp:nvSpPr>
        <dsp:cNvPr id="0" name=""/>
        <dsp:cNvSpPr/>
      </dsp:nvSpPr>
      <dsp:spPr>
        <a:xfrm>
          <a:off x="3968224" y="1018305"/>
          <a:ext cx="3480866" cy="1825425"/>
        </a:xfrm>
        <a:prstGeom prst="rect">
          <a:avLst/>
        </a:prstGeom>
        <a:solidFill>
          <a:schemeClr val="accent2">
            <a:tint val="40000"/>
            <a:alpha val="90000"/>
            <a:hueOff val="5025821"/>
            <a:satOff val="-4378"/>
            <a:lumOff val="-6"/>
            <a:alphaOff val="0"/>
          </a:schemeClr>
        </a:solidFill>
        <a:ln w="25400" cap="flat" cmpd="sng" algn="ctr">
          <a:solidFill>
            <a:schemeClr val="accent2">
              <a:tint val="40000"/>
              <a:alpha val="90000"/>
              <a:hueOff val="5025821"/>
              <a:satOff val="-4378"/>
              <a:lumOff val="-6"/>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ct val="90000"/>
            </a:lnSpc>
            <a:spcBef>
              <a:spcPct val="0"/>
            </a:spcBef>
            <a:spcAft>
              <a:spcPct val="15000"/>
            </a:spcAft>
            <a:buChar char="•"/>
          </a:pPr>
          <a:r>
            <a:rPr lang="en-US" altLang="en-US" sz="1800" b="1" kern="1200" dirty="0">
              <a:latin typeface="微软雅黑" panose="020B0503020204020204" pitchFamily="34" charset="-122"/>
              <a:ea typeface="微软雅黑" panose="020B0503020204020204" pitchFamily="34" charset="-122"/>
            </a:rPr>
            <a:t>External Gateway Protocol</a:t>
          </a:r>
          <a:endParaRPr lang="zh-CN" altLang="en-US" sz="1800" b="1" kern="1200" dirty="0">
            <a:latin typeface="微软雅黑" panose="020B0503020204020204" pitchFamily="34" charset="-122"/>
            <a:ea typeface="微软雅黑" panose="020B0503020204020204" pitchFamily="34" charset="-122"/>
          </a:endParaRP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在不同自治系统之间进行路由选择时使用的协议</a:t>
          </a: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使用最多：</a:t>
          </a:r>
          <a:r>
            <a:rPr lang="en-US" altLang="en-US" sz="1800" b="1" kern="1200" dirty="0">
              <a:latin typeface="微软雅黑" panose="020B0503020204020204" pitchFamily="34" charset="-122"/>
              <a:ea typeface="微软雅黑" panose="020B0503020204020204" pitchFamily="34" charset="-122"/>
            </a:rPr>
            <a:t>BGP-4</a:t>
          </a:r>
          <a:endParaRPr lang="zh-CN" altLang="en-US" sz="1800" b="1" kern="1200" dirty="0">
            <a:latin typeface="微软雅黑" panose="020B0503020204020204" pitchFamily="34" charset="-122"/>
            <a:ea typeface="微软雅黑" panose="020B0503020204020204" pitchFamily="34" charset="-122"/>
          </a:endParaRPr>
        </a:p>
      </dsp:txBody>
      <dsp:txXfrm>
        <a:off x="3968224" y="1018305"/>
        <a:ext cx="3480866" cy="1825425"/>
      </dsp:txXfrm>
    </dsp:sp>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87CCF3B-B980-4744-A098-51E164BAF300}">
      <dsp:nvSpPr>
        <dsp:cNvPr id="0" name=""/>
        <dsp:cNvSpPr/>
      </dsp:nvSpPr>
      <dsp:spPr>
        <a:xfrm rot="5400000">
          <a:off x="-139479" y="143104"/>
          <a:ext cx="929862" cy="650903"/>
        </a:xfrm>
        <a:prstGeom prst="chevron">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US" altLang="zh-CN" sz="1600" b="1" kern="1200" dirty="0">
              <a:latin typeface="微软雅黑" panose="020B0503020204020204" pitchFamily="34" charset="-122"/>
              <a:ea typeface="微软雅黑" panose="020B0503020204020204" pitchFamily="34" charset="-122"/>
            </a:rPr>
            <a:t>1</a:t>
          </a:r>
          <a:endParaRPr lang="zh-CN" altLang="en-US" sz="1600" b="1" kern="1200" dirty="0">
            <a:latin typeface="微软雅黑" panose="020B0503020204020204" pitchFamily="34" charset="-122"/>
            <a:ea typeface="微软雅黑" panose="020B0503020204020204" pitchFamily="34" charset="-122"/>
          </a:endParaRPr>
        </a:p>
      </dsp:txBody>
      <dsp:txXfrm rot="-5400000">
        <a:off x="1" y="329077"/>
        <a:ext cx="650903" cy="278959"/>
      </dsp:txXfrm>
    </dsp:sp>
    <dsp:sp modelId="{967F5469-8640-4696-BE0A-D179F4D13586}">
      <dsp:nvSpPr>
        <dsp:cNvPr id="0" name=""/>
        <dsp:cNvSpPr/>
      </dsp:nvSpPr>
      <dsp:spPr>
        <a:xfrm rot="5400000">
          <a:off x="3454396" y="-2799867"/>
          <a:ext cx="604728" cy="6211714"/>
        </a:xfrm>
        <a:prstGeom prst="round2SameRect">
          <a:avLst/>
        </a:prstGeom>
        <a:solidFill>
          <a:schemeClr val="lt1">
            <a:alpha val="90000"/>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13792" tIns="10160" rIns="10160" bIns="10160" numCol="1" spcCol="1270" anchor="ctr" anchorCtr="0">
          <a:noAutofit/>
        </a:bodyPr>
        <a:lstStyle/>
        <a:p>
          <a:pPr marL="171450" lvl="1" indent="-171450" algn="l" defTabSz="711200">
            <a:lnSpc>
              <a:spcPct val="900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本地偏好 </a:t>
          </a:r>
          <a:r>
            <a:rPr lang="en-US" altLang="en-US" sz="1600" b="1" kern="1200" dirty="0">
              <a:latin typeface="微软雅黑" panose="020B0503020204020204" pitchFamily="34" charset="-122"/>
              <a:ea typeface="微软雅黑" panose="020B0503020204020204" pitchFamily="34" charset="-122"/>
            </a:rPr>
            <a:t>(local preference) </a:t>
          </a:r>
          <a:r>
            <a:rPr lang="zh-CN" altLang="en-US" sz="1600" b="1" kern="1200" dirty="0">
              <a:latin typeface="微软雅黑" panose="020B0503020204020204" pitchFamily="34" charset="-122"/>
              <a:ea typeface="微软雅黑" panose="020B0503020204020204" pitchFamily="34" charset="-122"/>
            </a:rPr>
            <a:t>值最高的路由 （默认值</a:t>
          </a:r>
          <a:r>
            <a:rPr lang="en-US" altLang="zh-CN" sz="1600" b="1" kern="1200" dirty="0">
              <a:latin typeface="微软雅黑" panose="020B0503020204020204" pitchFamily="34" charset="-122"/>
              <a:ea typeface="微软雅黑" panose="020B0503020204020204" pitchFamily="34" charset="-122"/>
            </a:rPr>
            <a:t>=</a:t>
          </a:r>
          <a:r>
            <a:rPr lang="en-US" altLang="en-US" sz="1600" b="1" kern="1200" dirty="0">
              <a:latin typeface="微软雅黑" panose="020B0503020204020204" pitchFamily="34" charset="-122"/>
              <a:ea typeface="微软雅黑" panose="020B0503020204020204" pitchFamily="34" charset="-122"/>
            </a:rPr>
            <a:t>100</a:t>
          </a:r>
          <a:r>
            <a:rPr lang="zh-CN" altLang="en-US" sz="1600" b="1" kern="1200" dirty="0">
              <a:latin typeface="微软雅黑" panose="020B0503020204020204" pitchFamily="34" charset="-122"/>
              <a:ea typeface="微软雅黑" panose="020B0503020204020204" pitchFamily="34" charset="-122"/>
            </a:rPr>
            <a:t>）</a:t>
          </a:r>
        </a:p>
      </dsp:txBody>
      <dsp:txXfrm rot="-5400000">
        <a:off x="650903" y="33146"/>
        <a:ext cx="6182194" cy="545688"/>
      </dsp:txXfrm>
    </dsp:sp>
    <dsp:sp modelId="{1C1FCDAF-0D65-4A39-A0AC-A9D03E334517}">
      <dsp:nvSpPr>
        <dsp:cNvPr id="0" name=""/>
        <dsp:cNvSpPr/>
      </dsp:nvSpPr>
      <dsp:spPr>
        <a:xfrm rot="5400000">
          <a:off x="-139479" y="920625"/>
          <a:ext cx="929862" cy="650903"/>
        </a:xfrm>
        <a:prstGeom prst="chevron">
          <a:avLst/>
        </a:prstGeom>
        <a:solidFill>
          <a:schemeClr val="accent3">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US" altLang="zh-CN" sz="1600" b="1" kern="1200" dirty="0">
              <a:latin typeface="微软雅黑" panose="020B0503020204020204" pitchFamily="34" charset="-122"/>
              <a:ea typeface="微软雅黑" panose="020B0503020204020204" pitchFamily="34" charset="-122"/>
            </a:rPr>
            <a:t>2</a:t>
          </a:r>
          <a:endParaRPr lang="zh-CN" altLang="en-US" sz="1600" b="1" kern="1200" dirty="0">
            <a:latin typeface="微软雅黑" panose="020B0503020204020204" pitchFamily="34" charset="-122"/>
            <a:ea typeface="微软雅黑" panose="020B0503020204020204" pitchFamily="34" charset="-122"/>
          </a:endParaRPr>
        </a:p>
      </dsp:txBody>
      <dsp:txXfrm rot="-5400000">
        <a:off x="1" y="1106598"/>
        <a:ext cx="650903" cy="278959"/>
      </dsp:txXfrm>
    </dsp:sp>
    <dsp:sp modelId="{7FDDCB89-19F3-4537-A956-66DB05444287}">
      <dsp:nvSpPr>
        <dsp:cNvPr id="0" name=""/>
        <dsp:cNvSpPr/>
      </dsp:nvSpPr>
      <dsp:spPr>
        <a:xfrm rot="5400000">
          <a:off x="3454555" y="-2022505"/>
          <a:ext cx="604410" cy="6211714"/>
        </a:xfrm>
        <a:prstGeom prst="round2SameRect">
          <a:avLst/>
        </a:prstGeom>
        <a:solidFill>
          <a:schemeClr val="lt1">
            <a:alpha val="90000"/>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13792" tIns="10160" rIns="10160" bIns="10160" numCol="1" spcCol="1270" anchor="ctr" anchorCtr="0">
          <a:noAutofit/>
        </a:bodyPr>
        <a:lstStyle/>
        <a:p>
          <a:pPr marL="171450" lvl="1" indent="-171450" algn="l" defTabSz="711200">
            <a:lnSpc>
              <a:spcPct val="90000"/>
            </a:lnSpc>
            <a:spcBef>
              <a:spcPct val="0"/>
            </a:spcBef>
            <a:spcAft>
              <a:spcPct val="15000"/>
            </a:spcAft>
            <a:buChar char="•"/>
          </a:pPr>
          <a:r>
            <a:rPr lang="en-US" altLang="en-US" sz="1600" b="1" kern="1200" dirty="0">
              <a:latin typeface="微软雅黑" panose="020B0503020204020204" pitchFamily="34" charset="-122"/>
              <a:ea typeface="微软雅黑" panose="020B0503020204020204" pitchFamily="34" charset="-122"/>
            </a:rPr>
            <a:t>AS </a:t>
          </a:r>
          <a:r>
            <a:rPr lang="zh-CN" altLang="en-US" sz="1600" b="1" kern="1200" dirty="0">
              <a:latin typeface="微软雅黑" panose="020B0503020204020204" pitchFamily="34" charset="-122"/>
              <a:ea typeface="微软雅黑" panose="020B0503020204020204" pitchFamily="34" charset="-122"/>
            </a:rPr>
            <a:t>跳数最小的路由</a:t>
          </a:r>
        </a:p>
      </dsp:txBody>
      <dsp:txXfrm rot="-5400000">
        <a:off x="650904" y="810651"/>
        <a:ext cx="6182209" cy="545400"/>
      </dsp:txXfrm>
    </dsp:sp>
    <dsp:sp modelId="{061776BC-E55D-472E-AA38-6C4CA9431466}">
      <dsp:nvSpPr>
        <dsp:cNvPr id="0" name=""/>
        <dsp:cNvSpPr/>
      </dsp:nvSpPr>
      <dsp:spPr>
        <a:xfrm rot="5400000">
          <a:off x="-139479" y="1698145"/>
          <a:ext cx="929862" cy="650903"/>
        </a:xfrm>
        <a:prstGeom prst="chevron">
          <a:avLst/>
        </a:prstGeom>
        <a:solidFill>
          <a:schemeClr val="accent4">
            <a:hueOff val="0"/>
            <a:satOff val="0"/>
            <a:lumOff val="0"/>
            <a:alphaOff val="0"/>
          </a:schemeClr>
        </a:solidFill>
        <a:ln w="25400" cap="flat" cmpd="sng" algn="ctr">
          <a:solidFill>
            <a:schemeClr val="accent4">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US" altLang="zh-CN" sz="1600" b="1" kern="1200" dirty="0">
              <a:latin typeface="微软雅黑" panose="020B0503020204020204" pitchFamily="34" charset="-122"/>
              <a:ea typeface="微软雅黑" panose="020B0503020204020204" pitchFamily="34" charset="-122"/>
            </a:rPr>
            <a:t>3</a:t>
          </a:r>
          <a:endParaRPr lang="zh-CN" altLang="en-US" sz="1600" b="1" kern="1200" dirty="0">
            <a:latin typeface="微软雅黑" panose="020B0503020204020204" pitchFamily="34" charset="-122"/>
            <a:ea typeface="微软雅黑" panose="020B0503020204020204" pitchFamily="34" charset="-122"/>
          </a:endParaRPr>
        </a:p>
      </dsp:txBody>
      <dsp:txXfrm rot="-5400000">
        <a:off x="1" y="1884118"/>
        <a:ext cx="650903" cy="278959"/>
      </dsp:txXfrm>
    </dsp:sp>
    <dsp:sp modelId="{24E43028-DB82-414F-9136-AA94D471AC5C}">
      <dsp:nvSpPr>
        <dsp:cNvPr id="0" name=""/>
        <dsp:cNvSpPr/>
      </dsp:nvSpPr>
      <dsp:spPr>
        <a:xfrm rot="5400000">
          <a:off x="3454555" y="-1244985"/>
          <a:ext cx="604410" cy="6211714"/>
        </a:xfrm>
        <a:prstGeom prst="round2SameRect">
          <a:avLst/>
        </a:prstGeom>
        <a:solidFill>
          <a:schemeClr val="lt1">
            <a:alpha val="90000"/>
            <a:hueOff val="0"/>
            <a:satOff val="0"/>
            <a:lumOff val="0"/>
            <a:alphaOff val="0"/>
          </a:schemeClr>
        </a:solidFill>
        <a:ln w="25400" cap="flat" cmpd="sng" algn="ctr">
          <a:solidFill>
            <a:schemeClr val="accent4">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13792" tIns="10160" rIns="10160" bIns="10160" numCol="1" spcCol="1270" anchor="ctr" anchorCtr="0">
          <a:noAutofit/>
        </a:bodyPr>
        <a:lstStyle/>
        <a:p>
          <a:pPr marL="171450" lvl="1" indent="-171450" algn="l" defTabSz="711200">
            <a:lnSpc>
              <a:spcPct val="900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使用热土豆路由选择算法（分组在 </a:t>
          </a:r>
          <a:r>
            <a:rPr lang="en-US" altLang="zh-CN" sz="1600" b="1" kern="1200" dirty="0">
              <a:latin typeface="微软雅黑" panose="020B0503020204020204" pitchFamily="34" charset="-122"/>
              <a:ea typeface="微软雅黑" panose="020B0503020204020204" pitchFamily="34" charset="-122"/>
            </a:rPr>
            <a:t>AS </a:t>
          </a:r>
          <a:r>
            <a:rPr lang="zh-CN" altLang="en-US" sz="1600" b="1" kern="1200" dirty="0">
              <a:latin typeface="微软雅黑" panose="020B0503020204020204" pitchFamily="34" charset="-122"/>
              <a:ea typeface="微软雅黑" panose="020B0503020204020204" pitchFamily="34" charset="-122"/>
            </a:rPr>
            <a:t>内的转发次数最少）</a:t>
          </a:r>
        </a:p>
      </dsp:txBody>
      <dsp:txXfrm rot="-5400000">
        <a:off x="650904" y="1588171"/>
        <a:ext cx="6182209" cy="545400"/>
      </dsp:txXfrm>
    </dsp:sp>
    <dsp:sp modelId="{AC9695CB-865B-4694-A98D-9F8EAB741670}">
      <dsp:nvSpPr>
        <dsp:cNvPr id="0" name=""/>
        <dsp:cNvSpPr/>
      </dsp:nvSpPr>
      <dsp:spPr>
        <a:xfrm rot="5400000">
          <a:off x="-139479" y="2475666"/>
          <a:ext cx="929862" cy="650903"/>
        </a:xfrm>
        <a:prstGeom prst="chevron">
          <a:avLst/>
        </a:prstGeom>
        <a:solidFill>
          <a:schemeClr val="accent5">
            <a:hueOff val="0"/>
            <a:satOff val="0"/>
            <a:lumOff val="0"/>
            <a:alphaOff val="0"/>
          </a:schemeClr>
        </a:solidFill>
        <a:ln w="25400" cap="flat" cmpd="sng" algn="ctr">
          <a:solidFill>
            <a:schemeClr val="accent5">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US" altLang="zh-CN" sz="1600" b="1" kern="1200" dirty="0">
              <a:latin typeface="微软雅黑" panose="020B0503020204020204" pitchFamily="34" charset="-122"/>
              <a:ea typeface="微软雅黑" panose="020B0503020204020204" pitchFamily="34" charset="-122"/>
            </a:rPr>
            <a:t>4</a:t>
          </a:r>
          <a:endParaRPr lang="zh-CN" altLang="en-US" sz="1600" b="1" kern="1200" dirty="0">
            <a:latin typeface="微软雅黑" panose="020B0503020204020204" pitchFamily="34" charset="-122"/>
            <a:ea typeface="微软雅黑" panose="020B0503020204020204" pitchFamily="34" charset="-122"/>
          </a:endParaRPr>
        </a:p>
      </dsp:txBody>
      <dsp:txXfrm rot="-5400000">
        <a:off x="1" y="2661639"/>
        <a:ext cx="650903" cy="278959"/>
      </dsp:txXfrm>
    </dsp:sp>
    <dsp:sp modelId="{0B7E51AB-E203-4D88-91EC-23BBEBF68989}">
      <dsp:nvSpPr>
        <dsp:cNvPr id="0" name=""/>
        <dsp:cNvSpPr/>
      </dsp:nvSpPr>
      <dsp:spPr>
        <a:xfrm rot="5400000">
          <a:off x="3454555" y="-467464"/>
          <a:ext cx="604410" cy="6211714"/>
        </a:xfrm>
        <a:prstGeom prst="round2SameRect">
          <a:avLst/>
        </a:prstGeom>
        <a:solidFill>
          <a:schemeClr val="lt1">
            <a:alpha val="90000"/>
            <a:hueOff val="0"/>
            <a:satOff val="0"/>
            <a:lumOff val="0"/>
            <a:alphaOff val="0"/>
          </a:schemeClr>
        </a:solidFill>
        <a:ln w="25400" cap="flat" cmpd="sng" algn="ctr">
          <a:solidFill>
            <a:schemeClr val="accent5">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13792" tIns="10160" rIns="10160" bIns="10160" numCol="1" spcCol="1270" anchor="ctr" anchorCtr="0">
          <a:noAutofit/>
        </a:bodyPr>
        <a:lstStyle/>
        <a:p>
          <a:pPr marL="171450" lvl="1" indent="-171450" algn="l" defTabSz="711200">
            <a:lnSpc>
              <a:spcPct val="900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路由器 </a:t>
          </a:r>
          <a:r>
            <a:rPr lang="en-US" altLang="en-US" sz="1600" b="1" kern="1200" dirty="0">
              <a:latin typeface="微软雅黑" panose="020B0503020204020204" pitchFamily="34" charset="-122"/>
              <a:ea typeface="微软雅黑" panose="020B0503020204020204" pitchFamily="34" charset="-122"/>
            </a:rPr>
            <a:t>BGP </a:t>
          </a:r>
          <a:r>
            <a:rPr lang="en-US" altLang="zh-CN" sz="1600" b="1" kern="1200" dirty="0">
              <a:latin typeface="微软雅黑" panose="020B0503020204020204" pitchFamily="34" charset="-122"/>
              <a:ea typeface="微软雅黑" panose="020B0503020204020204" pitchFamily="34" charset="-122"/>
            </a:rPr>
            <a:t>ID </a:t>
          </a:r>
          <a:r>
            <a:rPr lang="zh-CN" altLang="en-US" sz="1600" b="1" kern="1200" dirty="0">
              <a:latin typeface="微软雅黑" panose="020B0503020204020204" pitchFamily="34" charset="-122"/>
              <a:ea typeface="微软雅黑" panose="020B0503020204020204" pitchFamily="34" charset="-122"/>
            </a:rPr>
            <a:t>数值最小的路由。具有多个接口的路由器有多个 </a:t>
          </a:r>
          <a:r>
            <a:rPr lang="en-US" altLang="en-US" sz="1600" b="1" kern="1200" dirty="0">
              <a:latin typeface="微软雅黑" panose="020B0503020204020204" pitchFamily="34" charset="-122"/>
              <a:ea typeface="微软雅黑" panose="020B0503020204020204" pitchFamily="34" charset="-122"/>
            </a:rPr>
            <a:t>IP </a:t>
          </a:r>
          <a:r>
            <a:rPr lang="zh-CN" altLang="en-US" sz="1600" b="1" kern="1200" dirty="0">
              <a:latin typeface="微软雅黑" panose="020B0503020204020204" pitchFamily="34" charset="-122"/>
              <a:ea typeface="微软雅黑" panose="020B0503020204020204" pitchFamily="34" charset="-122"/>
            </a:rPr>
            <a:t>地址，</a:t>
          </a:r>
          <a:r>
            <a:rPr lang="en-US" altLang="en-US" sz="1600" b="1" kern="1200" dirty="0">
              <a:latin typeface="微软雅黑" panose="020B0503020204020204" pitchFamily="34" charset="-122"/>
              <a:ea typeface="微软雅黑" panose="020B0503020204020204" pitchFamily="34" charset="-122"/>
            </a:rPr>
            <a:t>BGP ID </a:t>
          </a:r>
          <a:r>
            <a:rPr lang="zh-CN" altLang="en-US" sz="1600" b="1" kern="1200" dirty="0">
              <a:latin typeface="微软雅黑" panose="020B0503020204020204" pitchFamily="34" charset="-122"/>
              <a:ea typeface="微软雅黑" panose="020B0503020204020204" pitchFamily="34" charset="-122"/>
            </a:rPr>
            <a:t>就使用该路由器的 </a:t>
          </a:r>
          <a:r>
            <a:rPr lang="en-US" altLang="en-US" sz="1600" b="1" kern="1200" dirty="0">
              <a:latin typeface="微软雅黑" panose="020B0503020204020204" pitchFamily="34" charset="-122"/>
              <a:ea typeface="微软雅黑" panose="020B0503020204020204" pitchFamily="34" charset="-122"/>
            </a:rPr>
            <a:t>IP </a:t>
          </a:r>
          <a:r>
            <a:rPr lang="zh-CN" altLang="en-US" sz="1600" b="1" kern="1200" dirty="0">
              <a:latin typeface="微软雅黑" panose="020B0503020204020204" pitchFamily="34" charset="-122"/>
              <a:ea typeface="微软雅黑" panose="020B0503020204020204" pitchFamily="34" charset="-122"/>
            </a:rPr>
            <a:t>地址中数值最大的一个。</a:t>
          </a:r>
        </a:p>
      </dsp:txBody>
      <dsp:txXfrm rot="-5400000">
        <a:off x="650904" y="2365692"/>
        <a:ext cx="6182209" cy="545400"/>
      </dsp:txXfrm>
    </dsp:sp>
  </dsp:spTree>
</dsp:drawing>
</file>

<file path=ppt/diagrams/drawing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C077CA6-D0BE-4D67-8BEA-4CC66D6F2E65}">
      <dsp:nvSpPr>
        <dsp:cNvPr id="0" name=""/>
        <dsp:cNvSpPr/>
      </dsp:nvSpPr>
      <dsp:spPr>
        <a:xfrm rot="5400000">
          <a:off x="4666562" y="-1959474"/>
          <a:ext cx="602986" cy="4675816"/>
        </a:xfrm>
        <a:prstGeom prst="round2SameRect">
          <a:avLst/>
        </a:prstGeom>
        <a:solidFill>
          <a:schemeClr val="accent4">
            <a:tint val="40000"/>
            <a:alpha val="90000"/>
            <a:hueOff val="0"/>
            <a:satOff val="0"/>
            <a:lumOff val="0"/>
            <a:alphaOff val="0"/>
          </a:schemeClr>
        </a:solidFill>
        <a:ln w="9525" cap="flat" cmpd="sng" algn="ctr">
          <a:solidFill>
            <a:schemeClr val="accent4">
              <a:tint val="40000"/>
              <a:alpha val="90000"/>
              <a:hueOff val="0"/>
              <a:satOff val="0"/>
              <a:lumOff val="0"/>
              <a:alphaOff val="0"/>
            </a:schemeClr>
          </a:solidFill>
          <a:prstDash val="solid"/>
        </a:ln>
        <a:effectLst/>
      </dsp:spPr>
      <dsp:style>
        <a:lnRef idx="1">
          <a:scrgbClr r="0" g="0" b="0"/>
        </a:lnRef>
        <a:fillRef idx="1">
          <a:scrgbClr r="0" g="0" b="0"/>
        </a:fillRef>
        <a:effectRef idx="0">
          <a:scrgbClr r="0" g="0" b="0"/>
        </a:effectRef>
        <a:fontRef idx="minor"/>
      </dsp:style>
      <dsp:txBody>
        <a:bodyPr spcFirstLastPara="0" vert="horz" wrap="square" lIns="247650" tIns="123825" rIns="247650" bIns="123825" numCol="1" spcCol="1270" anchor="ctr" anchorCtr="0">
          <a:noAutofit/>
        </a:bodyPr>
        <a:lstStyle/>
        <a:p>
          <a:pPr marL="171450" lvl="1" indent="-171450" algn="l" defTabSz="711200">
            <a:lnSpc>
              <a:spcPct val="900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用来与相邻的另一个 </a:t>
          </a:r>
          <a:r>
            <a:rPr lang="en-US" altLang="en-US" sz="1600" b="1" kern="1200" dirty="0">
              <a:latin typeface="微软雅黑" panose="020B0503020204020204" pitchFamily="34" charset="-122"/>
              <a:ea typeface="微软雅黑" panose="020B0503020204020204" pitchFamily="34" charset="-122"/>
            </a:rPr>
            <a:t>BGP </a:t>
          </a:r>
          <a:r>
            <a:rPr lang="zh-CN" altLang="en-US" sz="1600" b="1" kern="1200" dirty="0">
              <a:latin typeface="微软雅黑" panose="020B0503020204020204" pitchFamily="34" charset="-122"/>
              <a:ea typeface="微软雅黑" panose="020B0503020204020204" pitchFamily="34" charset="-122"/>
            </a:rPr>
            <a:t>发言者建立关系，使通信初始化。</a:t>
          </a:r>
        </a:p>
      </dsp:txBody>
      <dsp:txXfrm rot="-5400000">
        <a:off x="2630148" y="106375"/>
        <a:ext cx="4646381" cy="544116"/>
      </dsp:txXfrm>
    </dsp:sp>
    <dsp:sp modelId="{1B29AE30-914E-4CC2-8C2A-E24A6B3E9A29}">
      <dsp:nvSpPr>
        <dsp:cNvPr id="0" name=""/>
        <dsp:cNvSpPr/>
      </dsp:nvSpPr>
      <dsp:spPr>
        <a:xfrm>
          <a:off x="0" y="1567"/>
          <a:ext cx="2630147" cy="753733"/>
        </a:xfrm>
        <a:prstGeom prst="roundRect">
          <a:avLst/>
        </a:prstGeom>
        <a:gradFill rotWithShape="0">
          <a:gsLst>
            <a:gs pos="0">
              <a:schemeClr val="accent4">
                <a:hueOff val="0"/>
                <a:satOff val="0"/>
                <a:lumOff val="0"/>
                <a:alphaOff val="0"/>
                <a:shade val="51000"/>
                <a:satMod val="130000"/>
              </a:schemeClr>
            </a:gs>
            <a:gs pos="80000">
              <a:schemeClr val="accent4">
                <a:hueOff val="0"/>
                <a:satOff val="0"/>
                <a:lumOff val="0"/>
                <a:alphaOff val="0"/>
                <a:shade val="93000"/>
                <a:satMod val="130000"/>
              </a:schemeClr>
            </a:gs>
            <a:gs pos="100000">
              <a:schemeClr val="accent4">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60960" tIns="30480" rIns="60960" bIns="30480" numCol="1" spcCol="1270" anchor="ctr" anchorCtr="0">
          <a:noAutofit/>
        </a:bodyPr>
        <a:lstStyle/>
        <a:p>
          <a:pPr marL="0" lvl="0" indent="0" algn="ctr" defTabSz="711200">
            <a:lnSpc>
              <a:spcPct val="90000"/>
            </a:lnSpc>
            <a:spcBef>
              <a:spcPct val="0"/>
            </a:spcBef>
            <a:spcAft>
              <a:spcPct val="35000"/>
            </a:spcAft>
            <a:buNone/>
          </a:pPr>
          <a:r>
            <a:rPr lang="en-US" altLang="en-US" sz="1600" b="1" kern="1200" dirty="0">
              <a:latin typeface="微软雅黑" panose="020B0503020204020204" pitchFamily="34" charset="-122"/>
              <a:ea typeface="微软雅黑" panose="020B0503020204020204" pitchFamily="34" charset="-122"/>
            </a:rPr>
            <a:t>OPEN (</a:t>
          </a:r>
          <a:r>
            <a:rPr lang="zh-CN" altLang="en-US" sz="1600" b="1" kern="1200" dirty="0">
              <a:latin typeface="微软雅黑" panose="020B0503020204020204" pitchFamily="34" charset="-122"/>
              <a:ea typeface="微软雅黑" panose="020B0503020204020204" pitchFamily="34" charset="-122"/>
            </a:rPr>
            <a:t>打开</a:t>
          </a:r>
          <a:r>
            <a:rPr lang="en-US" altLang="en-US" sz="1600" b="1" kern="1200" dirty="0">
              <a:latin typeface="微软雅黑" panose="020B0503020204020204" pitchFamily="34" charset="-122"/>
              <a:ea typeface="微软雅黑" panose="020B0503020204020204" pitchFamily="34" charset="-122"/>
            </a:rPr>
            <a:t>) </a:t>
          </a:r>
          <a:endParaRPr lang="zh-CN" altLang="en-US" sz="1600" b="1" kern="1200" dirty="0">
            <a:latin typeface="微软雅黑" panose="020B0503020204020204" pitchFamily="34" charset="-122"/>
            <a:ea typeface="微软雅黑" panose="020B0503020204020204" pitchFamily="34" charset="-122"/>
          </a:endParaRPr>
        </a:p>
      </dsp:txBody>
      <dsp:txXfrm>
        <a:off x="36794" y="38361"/>
        <a:ext cx="2556559" cy="680145"/>
      </dsp:txXfrm>
    </dsp:sp>
    <dsp:sp modelId="{2E13E6C3-AF36-4022-AB9A-44267779FAD2}">
      <dsp:nvSpPr>
        <dsp:cNvPr id="0" name=""/>
        <dsp:cNvSpPr/>
      </dsp:nvSpPr>
      <dsp:spPr>
        <a:xfrm rot="5400000">
          <a:off x="4666562" y="-1168054"/>
          <a:ext cx="602986" cy="4675816"/>
        </a:xfrm>
        <a:prstGeom prst="round2SameRect">
          <a:avLst/>
        </a:prstGeom>
        <a:solidFill>
          <a:schemeClr val="accent4">
            <a:tint val="40000"/>
            <a:alpha val="90000"/>
            <a:hueOff val="-1315237"/>
            <a:satOff val="7386"/>
            <a:lumOff val="469"/>
            <a:alphaOff val="0"/>
          </a:schemeClr>
        </a:solidFill>
        <a:ln w="9525" cap="flat" cmpd="sng" algn="ctr">
          <a:solidFill>
            <a:schemeClr val="accent4">
              <a:tint val="40000"/>
              <a:alpha val="90000"/>
              <a:hueOff val="-1315237"/>
              <a:satOff val="7386"/>
              <a:lumOff val="469"/>
              <a:alphaOff val="0"/>
            </a:schemeClr>
          </a:solidFill>
          <a:prstDash val="solid"/>
        </a:ln>
        <a:effectLst/>
      </dsp:spPr>
      <dsp:style>
        <a:lnRef idx="1">
          <a:scrgbClr r="0" g="0" b="0"/>
        </a:lnRef>
        <a:fillRef idx="1">
          <a:scrgbClr r="0" g="0" b="0"/>
        </a:fillRef>
        <a:effectRef idx="0">
          <a:scrgbClr r="0" g="0" b="0"/>
        </a:effectRef>
        <a:fontRef idx="minor"/>
      </dsp:style>
      <dsp:txBody>
        <a:bodyPr spcFirstLastPara="0" vert="horz" wrap="square" lIns="247650" tIns="123825" rIns="247650" bIns="123825" numCol="1" spcCol="1270" anchor="ctr" anchorCtr="0">
          <a:noAutofit/>
        </a:bodyPr>
        <a:lstStyle/>
        <a:p>
          <a:pPr marL="171450" lvl="1" indent="-171450" algn="l" defTabSz="711200">
            <a:lnSpc>
              <a:spcPct val="900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用来通告某一路由的信息，以及列出要撤销的多条路由。</a:t>
          </a:r>
        </a:p>
      </dsp:txBody>
      <dsp:txXfrm rot="-5400000">
        <a:off x="2630148" y="897795"/>
        <a:ext cx="4646381" cy="544116"/>
      </dsp:txXfrm>
    </dsp:sp>
    <dsp:sp modelId="{460C968C-C7CC-4FCE-850E-28EE5B3C9B0D}">
      <dsp:nvSpPr>
        <dsp:cNvPr id="0" name=""/>
        <dsp:cNvSpPr/>
      </dsp:nvSpPr>
      <dsp:spPr>
        <a:xfrm>
          <a:off x="0" y="792987"/>
          <a:ext cx="2630147" cy="753733"/>
        </a:xfrm>
        <a:prstGeom prst="roundRect">
          <a:avLst/>
        </a:prstGeom>
        <a:gradFill rotWithShape="0">
          <a:gsLst>
            <a:gs pos="0">
              <a:schemeClr val="accent4">
                <a:hueOff val="-1488257"/>
                <a:satOff val="8966"/>
                <a:lumOff val="719"/>
                <a:alphaOff val="0"/>
                <a:shade val="51000"/>
                <a:satMod val="130000"/>
              </a:schemeClr>
            </a:gs>
            <a:gs pos="80000">
              <a:schemeClr val="accent4">
                <a:hueOff val="-1488257"/>
                <a:satOff val="8966"/>
                <a:lumOff val="719"/>
                <a:alphaOff val="0"/>
                <a:shade val="93000"/>
                <a:satMod val="130000"/>
              </a:schemeClr>
            </a:gs>
            <a:gs pos="100000">
              <a:schemeClr val="accent4">
                <a:hueOff val="-1488257"/>
                <a:satOff val="8966"/>
                <a:lumOff val="719"/>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60960" tIns="30480" rIns="60960" bIns="30480" numCol="1" spcCol="1270" anchor="ctr" anchorCtr="0">
          <a:noAutofit/>
        </a:bodyPr>
        <a:lstStyle/>
        <a:p>
          <a:pPr marL="0" lvl="0" indent="0" algn="ctr" defTabSz="711200">
            <a:lnSpc>
              <a:spcPct val="90000"/>
            </a:lnSpc>
            <a:spcBef>
              <a:spcPct val="0"/>
            </a:spcBef>
            <a:spcAft>
              <a:spcPct val="35000"/>
            </a:spcAft>
            <a:buNone/>
          </a:pPr>
          <a:r>
            <a:rPr lang="en-US" altLang="en-US" sz="1600" b="1" kern="1200" dirty="0">
              <a:latin typeface="微软雅黑" panose="020B0503020204020204" pitchFamily="34" charset="-122"/>
              <a:ea typeface="微软雅黑" panose="020B0503020204020204" pitchFamily="34" charset="-122"/>
            </a:rPr>
            <a:t>UPDATE (</a:t>
          </a:r>
          <a:r>
            <a:rPr lang="zh-CN" altLang="en-US" sz="1600" b="1" kern="1200" dirty="0">
              <a:latin typeface="微软雅黑" panose="020B0503020204020204" pitchFamily="34" charset="-122"/>
              <a:ea typeface="微软雅黑" panose="020B0503020204020204" pitchFamily="34" charset="-122"/>
            </a:rPr>
            <a:t>更新</a:t>
          </a:r>
          <a:r>
            <a:rPr lang="en-US" altLang="en-US" sz="1600" b="1" kern="1200" dirty="0">
              <a:latin typeface="微软雅黑" panose="020B0503020204020204" pitchFamily="34" charset="-122"/>
              <a:ea typeface="微软雅黑" panose="020B0503020204020204" pitchFamily="34" charset="-122"/>
            </a:rPr>
            <a:t>) </a:t>
          </a:r>
          <a:endParaRPr lang="zh-CN" altLang="en-US" sz="1600" b="1" kern="1200" dirty="0">
            <a:latin typeface="微软雅黑" panose="020B0503020204020204" pitchFamily="34" charset="-122"/>
            <a:ea typeface="微软雅黑" panose="020B0503020204020204" pitchFamily="34" charset="-122"/>
          </a:endParaRPr>
        </a:p>
      </dsp:txBody>
      <dsp:txXfrm>
        <a:off x="36794" y="829781"/>
        <a:ext cx="2556559" cy="680145"/>
      </dsp:txXfrm>
    </dsp:sp>
    <dsp:sp modelId="{E26550E8-FAB4-408A-B07E-2648999D91CD}">
      <dsp:nvSpPr>
        <dsp:cNvPr id="0" name=""/>
        <dsp:cNvSpPr/>
      </dsp:nvSpPr>
      <dsp:spPr>
        <a:xfrm rot="5400000">
          <a:off x="4666562" y="-376634"/>
          <a:ext cx="602986" cy="4675816"/>
        </a:xfrm>
        <a:prstGeom prst="round2SameRect">
          <a:avLst/>
        </a:prstGeom>
        <a:solidFill>
          <a:schemeClr val="accent4">
            <a:tint val="40000"/>
            <a:alpha val="90000"/>
            <a:hueOff val="-2630473"/>
            <a:satOff val="14771"/>
            <a:lumOff val="939"/>
            <a:alphaOff val="0"/>
          </a:schemeClr>
        </a:solidFill>
        <a:ln w="9525" cap="flat" cmpd="sng" algn="ctr">
          <a:solidFill>
            <a:schemeClr val="accent4">
              <a:tint val="40000"/>
              <a:alpha val="90000"/>
              <a:hueOff val="-2630473"/>
              <a:satOff val="14771"/>
              <a:lumOff val="939"/>
              <a:alphaOff val="0"/>
            </a:schemeClr>
          </a:solidFill>
          <a:prstDash val="solid"/>
        </a:ln>
        <a:effectLst/>
      </dsp:spPr>
      <dsp:style>
        <a:lnRef idx="1">
          <a:scrgbClr r="0" g="0" b="0"/>
        </a:lnRef>
        <a:fillRef idx="1">
          <a:scrgbClr r="0" g="0" b="0"/>
        </a:fillRef>
        <a:effectRef idx="0">
          <a:scrgbClr r="0" g="0" b="0"/>
        </a:effectRef>
        <a:fontRef idx="minor"/>
      </dsp:style>
      <dsp:txBody>
        <a:bodyPr spcFirstLastPara="0" vert="horz" wrap="square" lIns="247650" tIns="123825" rIns="247650" bIns="123825" numCol="1" spcCol="1270" anchor="ctr" anchorCtr="0">
          <a:noAutofit/>
        </a:bodyPr>
        <a:lstStyle/>
        <a:p>
          <a:pPr marL="171450" lvl="1" indent="-171450" algn="l" defTabSz="711200">
            <a:lnSpc>
              <a:spcPct val="900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用来周期性地证实邻站的连通性。</a:t>
          </a:r>
        </a:p>
      </dsp:txBody>
      <dsp:txXfrm rot="-5400000">
        <a:off x="2630148" y="1689215"/>
        <a:ext cx="4646381" cy="544116"/>
      </dsp:txXfrm>
    </dsp:sp>
    <dsp:sp modelId="{282E0709-2334-4414-85DF-C7CC78B4AB1F}">
      <dsp:nvSpPr>
        <dsp:cNvPr id="0" name=""/>
        <dsp:cNvSpPr/>
      </dsp:nvSpPr>
      <dsp:spPr>
        <a:xfrm>
          <a:off x="0" y="1584407"/>
          <a:ext cx="2630147" cy="753733"/>
        </a:xfrm>
        <a:prstGeom prst="roundRect">
          <a:avLst/>
        </a:prstGeom>
        <a:gradFill rotWithShape="0">
          <a:gsLst>
            <a:gs pos="0">
              <a:schemeClr val="accent4">
                <a:hueOff val="-2976513"/>
                <a:satOff val="17933"/>
                <a:lumOff val="1437"/>
                <a:alphaOff val="0"/>
                <a:shade val="51000"/>
                <a:satMod val="130000"/>
              </a:schemeClr>
            </a:gs>
            <a:gs pos="80000">
              <a:schemeClr val="accent4">
                <a:hueOff val="-2976513"/>
                <a:satOff val="17933"/>
                <a:lumOff val="1437"/>
                <a:alphaOff val="0"/>
                <a:shade val="93000"/>
                <a:satMod val="130000"/>
              </a:schemeClr>
            </a:gs>
            <a:gs pos="100000">
              <a:schemeClr val="accent4">
                <a:hueOff val="-2976513"/>
                <a:satOff val="17933"/>
                <a:lumOff val="1437"/>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60960" tIns="30480" rIns="60960" bIns="30480" numCol="1" spcCol="1270" anchor="ctr" anchorCtr="0">
          <a:noAutofit/>
        </a:bodyPr>
        <a:lstStyle/>
        <a:p>
          <a:pPr marL="0" lvl="0" indent="0" algn="ctr" defTabSz="711200">
            <a:lnSpc>
              <a:spcPct val="90000"/>
            </a:lnSpc>
            <a:spcBef>
              <a:spcPct val="0"/>
            </a:spcBef>
            <a:spcAft>
              <a:spcPct val="35000"/>
            </a:spcAft>
            <a:buNone/>
          </a:pPr>
          <a:r>
            <a:rPr lang="en-US" altLang="en-US" sz="1600" b="1" kern="1200" dirty="0">
              <a:latin typeface="微软雅黑" panose="020B0503020204020204" pitchFamily="34" charset="-122"/>
              <a:ea typeface="微软雅黑" panose="020B0503020204020204" pitchFamily="34" charset="-122"/>
            </a:rPr>
            <a:t>KEEPALIVE (</a:t>
          </a:r>
          <a:r>
            <a:rPr lang="zh-CN" altLang="en-US" sz="1600" b="1" kern="1200" dirty="0">
              <a:latin typeface="微软雅黑" panose="020B0503020204020204" pitchFamily="34" charset="-122"/>
              <a:ea typeface="微软雅黑" panose="020B0503020204020204" pitchFamily="34" charset="-122"/>
            </a:rPr>
            <a:t>保活</a:t>
          </a:r>
          <a:r>
            <a:rPr lang="en-US" altLang="en-US" sz="1600" b="1" kern="1200" dirty="0">
              <a:latin typeface="微软雅黑" panose="020B0503020204020204" pitchFamily="34" charset="-122"/>
              <a:ea typeface="微软雅黑" panose="020B0503020204020204" pitchFamily="34" charset="-122"/>
            </a:rPr>
            <a:t>) </a:t>
          </a:r>
          <a:endParaRPr lang="zh-CN" altLang="en-US" sz="1600" b="1" kern="1200" dirty="0">
            <a:latin typeface="微软雅黑" panose="020B0503020204020204" pitchFamily="34" charset="-122"/>
            <a:ea typeface="微软雅黑" panose="020B0503020204020204" pitchFamily="34" charset="-122"/>
          </a:endParaRPr>
        </a:p>
      </dsp:txBody>
      <dsp:txXfrm>
        <a:off x="36794" y="1621201"/>
        <a:ext cx="2556559" cy="680145"/>
      </dsp:txXfrm>
    </dsp:sp>
    <dsp:sp modelId="{49534FAB-19F9-4C7E-A4BD-E37046D39C8F}">
      <dsp:nvSpPr>
        <dsp:cNvPr id="0" name=""/>
        <dsp:cNvSpPr/>
      </dsp:nvSpPr>
      <dsp:spPr>
        <a:xfrm rot="5400000">
          <a:off x="4666562" y="414785"/>
          <a:ext cx="602986" cy="4675816"/>
        </a:xfrm>
        <a:prstGeom prst="round2SameRect">
          <a:avLst/>
        </a:prstGeom>
        <a:solidFill>
          <a:schemeClr val="accent4">
            <a:tint val="40000"/>
            <a:alpha val="90000"/>
            <a:hueOff val="-3945710"/>
            <a:satOff val="22157"/>
            <a:lumOff val="1408"/>
            <a:alphaOff val="0"/>
          </a:schemeClr>
        </a:solidFill>
        <a:ln w="9525" cap="flat" cmpd="sng" algn="ctr">
          <a:solidFill>
            <a:schemeClr val="accent4">
              <a:tint val="40000"/>
              <a:alpha val="90000"/>
              <a:hueOff val="-3945710"/>
              <a:satOff val="22157"/>
              <a:lumOff val="1408"/>
              <a:alphaOff val="0"/>
            </a:schemeClr>
          </a:solidFill>
          <a:prstDash val="solid"/>
        </a:ln>
        <a:effectLst/>
      </dsp:spPr>
      <dsp:style>
        <a:lnRef idx="1">
          <a:scrgbClr r="0" g="0" b="0"/>
        </a:lnRef>
        <a:fillRef idx="1">
          <a:scrgbClr r="0" g="0" b="0"/>
        </a:fillRef>
        <a:effectRef idx="0">
          <a:scrgbClr r="0" g="0" b="0"/>
        </a:effectRef>
        <a:fontRef idx="minor"/>
      </dsp:style>
      <dsp:txBody>
        <a:bodyPr spcFirstLastPara="0" vert="horz" wrap="square" lIns="247650" tIns="123825" rIns="247650" bIns="123825" numCol="1" spcCol="1270" anchor="ctr" anchorCtr="0">
          <a:noAutofit/>
        </a:bodyPr>
        <a:lstStyle/>
        <a:p>
          <a:pPr marL="171450" lvl="1" indent="-171450" algn="l" defTabSz="711200">
            <a:lnSpc>
              <a:spcPct val="900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用来发送检测到的差错。</a:t>
          </a:r>
        </a:p>
      </dsp:txBody>
      <dsp:txXfrm rot="-5400000">
        <a:off x="2630148" y="2480635"/>
        <a:ext cx="4646381" cy="544116"/>
      </dsp:txXfrm>
    </dsp:sp>
    <dsp:sp modelId="{D5A307E2-6045-43FA-B975-B6C9BEE0ABD7}">
      <dsp:nvSpPr>
        <dsp:cNvPr id="0" name=""/>
        <dsp:cNvSpPr/>
      </dsp:nvSpPr>
      <dsp:spPr>
        <a:xfrm>
          <a:off x="0" y="2375827"/>
          <a:ext cx="2630147" cy="753733"/>
        </a:xfrm>
        <a:prstGeom prst="roundRect">
          <a:avLst/>
        </a:prstGeom>
        <a:gradFill rotWithShape="0">
          <a:gsLst>
            <a:gs pos="0">
              <a:schemeClr val="accent4">
                <a:hueOff val="-4464770"/>
                <a:satOff val="26899"/>
                <a:lumOff val="2156"/>
                <a:alphaOff val="0"/>
                <a:shade val="51000"/>
                <a:satMod val="130000"/>
              </a:schemeClr>
            </a:gs>
            <a:gs pos="80000">
              <a:schemeClr val="accent4">
                <a:hueOff val="-4464770"/>
                <a:satOff val="26899"/>
                <a:lumOff val="2156"/>
                <a:alphaOff val="0"/>
                <a:shade val="93000"/>
                <a:satMod val="130000"/>
              </a:schemeClr>
            </a:gs>
            <a:gs pos="100000">
              <a:schemeClr val="accent4">
                <a:hueOff val="-4464770"/>
                <a:satOff val="26899"/>
                <a:lumOff val="2156"/>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60960" tIns="30480" rIns="60960" bIns="30480" numCol="1" spcCol="1270" anchor="ctr" anchorCtr="0">
          <a:noAutofit/>
        </a:bodyPr>
        <a:lstStyle/>
        <a:p>
          <a:pPr marL="0" lvl="0" indent="0" algn="ctr" defTabSz="711200">
            <a:lnSpc>
              <a:spcPct val="90000"/>
            </a:lnSpc>
            <a:spcBef>
              <a:spcPct val="0"/>
            </a:spcBef>
            <a:spcAft>
              <a:spcPct val="35000"/>
            </a:spcAft>
            <a:buNone/>
          </a:pPr>
          <a:r>
            <a:rPr lang="en-US" altLang="en-US" sz="1600" b="1" kern="1200" dirty="0">
              <a:latin typeface="微软雅黑" panose="020B0503020204020204" pitchFamily="34" charset="-122"/>
              <a:ea typeface="微软雅黑" panose="020B0503020204020204" pitchFamily="34" charset="-122"/>
            </a:rPr>
            <a:t>NOTIFICATION (</a:t>
          </a:r>
          <a:r>
            <a:rPr lang="zh-CN" altLang="en-US" sz="1600" b="1" kern="1200" dirty="0">
              <a:latin typeface="微软雅黑" panose="020B0503020204020204" pitchFamily="34" charset="-122"/>
              <a:ea typeface="微软雅黑" panose="020B0503020204020204" pitchFamily="34" charset="-122"/>
            </a:rPr>
            <a:t>通知</a:t>
          </a:r>
          <a:r>
            <a:rPr lang="en-US" altLang="en-US" sz="1600" b="1" kern="1200" dirty="0">
              <a:latin typeface="微软雅黑" panose="020B0503020204020204" pitchFamily="34" charset="-122"/>
              <a:ea typeface="微软雅黑" panose="020B0503020204020204" pitchFamily="34" charset="-122"/>
            </a:rPr>
            <a:t>) </a:t>
          </a:r>
          <a:endParaRPr lang="zh-CN" altLang="en-US" sz="1600" b="1" kern="1200" dirty="0">
            <a:latin typeface="微软雅黑" panose="020B0503020204020204" pitchFamily="34" charset="-122"/>
            <a:ea typeface="微软雅黑" panose="020B0503020204020204" pitchFamily="34" charset="-122"/>
          </a:endParaRPr>
        </a:p>
      </dsp:txBody>
      <dsp:txXfrm>
        <a:off x="36794" y="2412621"/>
        <a:ext cx="2556559" cy="680145"/>
      </dsp:txXfrm>
    </dsp:sp>
  </dsp:spTree>
</dsp:drawing>
</file>

<file path=ppt/diagrams/drawing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6CEFA23-1767-4D57-91F8-8F65E8ACFD37}">
      <dsp:nvSpPr>
        <dsp:cNvPr id="0" name=""/>
        <dsp:cNvSpPr/>
      </dsp:nvSpPr>
      <dsp:spPr>
        <a:xfrm rot="10800000">
          <a:off x="1775760" y="307"/>
          <a:ext cx="6336690" cy="718708"/>
        </a:xfrm>
        <a:prstGeom prst="homePlate">
          <a:avLst/>
        </a:prstGeom>
        <a:solidFill>
          <a:schemeClr val="accent2">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16930" tIns="68580" rIns="128016" bIns="68580" numCol="1" spcCol="1270" anchor="ctr" anchorCtr="0">
          <a:noAutofit/>
        </a:bodyPr>
        <a:lstStyle/>
        <a:p>
          <a:pPr marL="0" lvl="0" indent="0" algn="l" defTabSz="800100">
            <a:lnSpc>
              <a:spcPct val="90000"/>
            </a:lnSpc>
            <a:spcBef>
              <a:spcPct val="0"/>
            </a:spcBef>
            <a:spcAft>
              <a:spcPct val="35000"/>
            </a:spcAft>
            <a:buNone/>
          </a:pPr>
          <a:r>
            <a:rPr lang="zh-CN" altLang="en-US" sz="1800" b="1" kern="1200" dirty="0">
              <a:latin typeface="微软雅黑" panose="020B0503020204020204" pitchFamily="34" charset="-122"/>
              <a:ea typeface="微软雅黑" panose="020B0503020204020204" pitchFamily="34" charset="-122"/>
            </a:rPr>
            <a:t>划分 </a:t>
          </a:r>
          <a:r>
            <a:rPr lang="en-US" altLang="en-US" sz="1800" b="1" kern="1200" dirty="0">
              <a:latin typeface="微软雅黑" panose="020B0503020204020204" pitchFamily="34" charset="-122"/>
              <a:ea typeface="微软雅黑" panose="020B0503020204020204" pitchFamily="34" charset="-122"/>
            </a:rPr>
            <a:t>FEC </a:t>
          </a:r>
          <a:r>
            <a:rPr lang="zh-CN" altLang="en-US" sz="1800" b="1" kern="1200" dirty="0">
              <a:latin typeface="微软雅黑" panose="020B0503020204020204" pitchFamily="34" charset="-122"/>
              <a:ea typeface="微软雅黑" panose="020B0503020204020204" pitchFamily="34" charset="-122"/>
            </a:rPr>
            <a:t>的方法不受限制，由网络管理员来控制。</a:t>
          </a:r>
        </a:p>
      </dsp:txBody>
      <dsp:txXfrm rot="10800000">
        <a:off x="1955437" y="307"/>
        <a:ext cx="6157013" cy="718708"/>
      </dsp:txXfrm>
    </dsp:sp>
    <dsp:sp modelId="{F63A45BE-87F8-4243-8A28-A9B96E270ED4}">
      <dsp:nvSpPr>
        <dsp:cNvPr id="0" name=""/>
        <dsp:cNvSpPr/>
      </dsp:nvSpPr>
      <dsp:spPr>
        <a:xfrm>
          <a:off x="1416406" y="307"/>
          <a:ext cx="718708" cy="718708"/>
        </a:xfrm>
        <a:prstGeom prst="ellipse">
          <a:avLst/>
        </a:prstGeom>
        <a:solidFill>
          <a:schemeClr val="accent2">
            <a:tint val="5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88C0456F-D6DF-4746-9CD6-A09A4CCC1C0D}">
      <dsp:nvSpPr>
        <dsp:cNvPr id="0" name=""/>
        <dsp:cNvSpPr/>
      </dsp:nvSpPr>
      <dsp:spPr>
        <a:xfrm rot="10800000">
          <a:off x="1775760" y="898692"/>
          <a:ext cx="6336690" cy="718708"/>
        </a:xfrm>
        <a:prstGeom prst="homePlate">
          <a:avLst/>
        </a:prstGeom>
        <a:solidFill>
          <a:schemeClr val="accent3">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16930" tIns="68580" rIns="128016" bIns="68580" numCol="1" spcCol="1270" anchor="ctr" anchorCtr="0">
          <a:noAutofit/>
        </a:bodyPr>
        <a:lstStyle/>
        <a:p>
          <a:pPr marL="0" lvl="0" indent="0" algn="l" defTabSz="800100">
            <a:lnSpc>
              <a:spcPct val="90000"/>
            </a:lnSpc>
            <a:spcBef>
              <a:spcPct val="0"/>
            </a:spcBef>
            <a:spcAft>
              <a:spcPct val="35000"/>
            </a:spcAft>
            <a:buNone/>
          </a:pPr>
          <a:r>
            <a:rPr lang="zh-CN" altLang="en-US" sz="1800" b="1" kern="1200" dirty="0">
              <a:latin typeface="微软雅黑" panose="020B0503020204020204" pitchFamily="34" charset="-122"/>
              <a:ea typeface="微软雅黑" panose="020B0503020204020204" pitchFamily="34" charset="-122"/>
            </a:rPr>
            <a:t>入口节点并不是给每一个 </a:t>
          </a:r>
          <a:r>
            <a:rPr lang="en-US" altLang="en-US" sz="1800" b="1" kern="1200" dirty="0">
              <a:latin typeface="微软雅黑" panose="020B0503020204020204" pitchFamily="34" charset="-122"/>
              <a:ea typeface="微软雅黑" panose="020B0503020204020204" pitchFamily="34" charset="-122"/>
            </a:rPr>
            <a:t>IP </a:t>
          </a:r>
          <a:r>
            <a:rPr lang="zh-CN" altLang="en-US" sz="1800" b="1" kern="1200" dirty="0">
              <a:latin typeface="微软雅黑" panose="020B0503020204020204" pitchFamily="34" charset="-122"/>
              <a:ea typeface="微软雅黑" panose="020B0503020204020204" pitchFamily="34" charset="-122"/>
            </a:rPr>
            <a:t>数据报指派一个不同的标签，而是将属于同样 </a:t>
          </a:r>
          <a:r>
            <a:rPr lang="en-US" altLang="en-US" sz="1800" b="1" kern="1200" dirty="0">
              <a:latin typeface="微软雅黑" panose="020B0503020204020204" pitchFamily="34" charset="-122"/>
              <a:ea typeface="微软雅黑" panose="020B0503020204020204" pitchFamily="34" charset="-122"/>
            </a:rPr>
            <a:t>FEC </a:t>
          </a:r>
          <a:r>
            <a:rPr lang="zh-CN" altLang="en-US" sz="1800" b="1" kern="1200" dirty="0">
              <a:latin typeface="微软雅黑" panose="020B0503020204020204" pitchFamily="34" charset="-122"/>
              <a:ea typeface="微软雅黑" panose="020B0503020204020204" pitchFamily="34" charset="-122"/>
            </a:rPr>
            <a:t>的 </a:t>
          </a:r>
          <a:r>
            <a:rPr lang="en-US" altLang="en-US" sz="1800" b="1" kern="1200" dirty="0">
              <a:latin typeface="微软雅黑" panose="020B0503020204020204" pitchFamily="34" charset="-122"/>
              <a:ea typeface="微软雅黑" panose="020B0503020204020204" pitchFamily="34" charset="-122"/>
            </a:rPr>
            <a:t>IP </a:t>
          </a:r>
          <a:r>
            <a:rPr lang="zh-CN" altLang="en-US" sz="1800" b="1" kern="1200" dirty="0">
              <a:latin typeface="微软雅黑" panose="020B0503020204020204" pitchFamily="34" charset="-122"/>
              <a:ea typeface="微软雅黑" panose="020B0503020204020204" pitchFamily="34" charset="-122"/>
            </a:rPr>
            <a:t>数据报都指派同样的标签。</a:t>
          </a:r>
        </a:p>
      </dsp:txBody>
      <dsp:txXfrm rot="10800000">
        <a:off x="1955437" y="898692"/>
        <a:ext cx="6157013" cy="718708"/>
      </dsp:txXfrm>
    </dsp:sp>
    <dsp:sp modelId="{FCC1DF99-0F26-4341-896E-169B093FC04C}">
      <dsp:nvSpPr>
        <dsp:cNvPr id="0" name=""/>
        <dsp:cNvSpPr/>
      </dsp:nvSpPr>
      <dsp:spPr>
        <a:xfrm>
          <a:off x="1416406" y="898692"/>
          <a:ext cx="718708" cy="718708"/>
        </a:xfrm>
        <a:prstGeom prst="ellipse">
          <a:avLst/>
        </a:prstGeom>
        <a:solidFill>
          <a:schemeClr val="accent3">
            <a:tint val="5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7B8D19E8-A42A-42E7-B42A-280A0B9EB13B}">
      <dsp:nvSpPr>
        <dsp:cNvPr id="0" name=""/>
        <dsp:cNvSpPr/>
      </dsp:nvSpPr>
      <dsp:spPr>
        <a:xfrm rot="10800000">
          <a:off x="1775760" y="1797078"/>
          <a:ext cx="6336690" cy="718708"/>
        </a:xfrm>
        <a:prstGeom prst="homePlate">
          <a:avLst/>
        </a:prstGeom>
        <a:solidFill>
          <a:schemeClr val="accent4">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16930" tIns="68580" rIns="128016" bIns="68580" numCol="1" spcCol="1270" anchor="ctr" anchorCtr="0">
          <a:noAutofit/>
        </a:bodyPr>
        <a:lstStyle/>
        <a:p>
          <a:pPr marL="0" lvl="0" indent="0" algn="l" defTabSz="800100">
            <a:lnSpc>
              <a:spcPct val="90000"/>
            </a:lnSpc>
            <a:spcBef>
              <a:spcPct val="0"/>
            </a:spcBef>
            <a:spcAft>
              <a:spcPct val="35000"/>
            </a:spcAft>
            <a:buNone/>
          </a:pPr>
          <a:r>
            <a:rPr lang="en-US" altLang="en-US" sz="1800" b="1" kern="1200" dirty="0">
              <a:latin typeface="微软雅黑" panose="020B0503020204020204" pitchFamily="34" charset="-122"/>
              <a:ea typeface="微软雅黑" panose="020B0503020204020204" pitchFamily="34" charset="-122"/>
            </a:rPr>
            <a:t>FEC </a:t>
          </a:r>
          <a:r>
            <a:rPr lang="zh-CN" altLang="en-US" sz="1800" b="1" kern="1200" dirty="0">
              <a:latin typeface="微软雅黑" panose="020B0503020204020204" pitchFamily="34" charset="-122"/>
              <a:ea typeface="微软雅黑" panose="020B0503020204020204" pitchFamily="34" charset="-122"/>
            </a:rPr>
            <a:t>和标签是一一对应的关系。</a:t>
          </a:r>
        </a:p>
      </dsp:txBody>
      <dsp:txXfrm rot="10800000">
        <a:off x="1955437" y="1797078"/>
        <a:ext cx="6157013" cy="718708"/>
      </dsp:txXfrm>
    </dsp:sp>
    <dsp:sp modelId="{6B868C05-F9BC-41B1-B7D8-606E2302DF2B}">
      <dsp:nvSpPr>
        <dsp:cNvPr id="0" name=""/>
        <dsp:cNvSpPr/>
      </dsp:nvSpPr>
      <dsp:spPr>
        <a:xfrm>
          <a:off x="1416406" y="1797078"/>
          <a:ext cx="718708" cy="718708"/>
        </a:xfrm>
        <a:prstGeom prst="ellipse">
          <a:avLst/>
        </a:prstGeom>
        <a:solidFill>
          <a:schemeClr val="accent4">
            <a:tint val="5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Tree>
</dsp:drawing>
</file>

<file path=ppt/diagrams/drawing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9A3D657-23B2-4553-AB55-365AF4AD92FC}">
      <dsp:nvSpPr>
        <dsp:cNvPr id="0" name=""/>
        <dsp:cNvSpPr/>
      </dsp:nvSpPr>
      <dsp:spPr>
        <a:xfrm>
          <a:off x="0" y="259779"/>
          <a:ext cx="5105643" cy="1499400"/>
        </a:xfrm>
        <a:prstGeom prst="rect">
          <a:avLst/>
        </a:prstGeom>
        <a:solidFill>
          <a:schemeClr val="lt1">
            <a:alpha val="90000"/>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396255" tIns="291592" rIns="396255" bIns="99568" numCol="1" spcCol="1270" anchor="t" anchorCtr="0">
          <a:noAutofit/>
        </a:bodyPr>
        <a:lstStyle/>
        <a:p>
          <a:pPr marL="114300" lvl="1" indent="-114300" algn="l" defTabSz="622300">
            <a:lnSpc>
              <a:spcPct val="90000"/>
            </a:lnSpc>
            <a:spcBef>
              <a:spcPct val="0"/>
            </a:spcBef>
            <a:spcAft>
              <a:spcPts val="0"/>
            </a:spcAft>
            <a:buChar char="•"/>
          </a:pPr>
          <a:r>
            <a:rPr lang="zh-CN" altLang="en-US" sz="1400" b="1" kern="1200" dirty="0">
              <a:latin typeface="微软雅黑" panose="020B0503020204020204" pitchFamily="34" charset="-122"/>
              <a:ea typeface="微软雅黑" panose="020B0503020204020204" pitchFamily="34" charset="-122"/>
            </a:rPr>
            <a:t>是一个</a:t>
          </a:r>
          <a:r>
            <a:rPr lang="zh-CN" altLang="en-US" sz="1400" b="1" kern="1200" dirty="0">
              <a:solidFill>
                <a:srgbClr val="C00000"/>
              </a:solidFill>
              <a:latin typeface="微软雅黑" panose="020B0503020204020204" pitchFamily="34" charset="-122"/>
              <a:ea typeface="微软雅黑" panose="020B0503020204020204" pitchFamily="34" charset="-122"/>
            </a:rPr>
            <a:t>体系结构，</a:t>
          </a:r>
          <a:r>
            <a:rPr lang="zh-CN" altLang="en-US" sz="1400" b="1" kern="1200" dirty="0">
              <a:latin typeface="微软雅黑" panose="020B0503020204020204" pitchFamily="34" charset="-122"/>
              <a:ea typeface="微软雅黑" panose="020B0503020204020204" pitchFamily="34" charset="-122"/>
            </a:rPr>
            <a:t>是一种设计、构建和管理网络的新方法或新概念。</a:t>
          </a:r>
        </a:p>
        <a:p>
          <a:pPr marL="114300" lvl="1" indent="-114300" algn="l" defTabSz="622300">
            <a:lnSpc>
              <a:spcPct val="90000"/>
            </a:lnSpc>
            <a:spcBef>
              <a:spcPct val="0"/>
            </a:spcBef>
            <a:spcAft>
              <a:spcPts val="0"/>
            </a:spcAft>
            <a:buChar char="•"/>
          </a:pPr>
          <a:r>
            <a:rPr lang="zh-CN" altLang="en-US" sz="1400" b="1" kern="1200" dirty="0">
              <a:solidFill>
                <a:schemeClr val="tx1"/>
              </a:solidFill>
              <a:latin typeface="微软雅黑" panose="020B0503020204020204" pitchFamily="34" charset="-122"/>
              <a:ea typeface="微软雅黑" panose="020B0503020204020204" pitchFamily="34" charset="-122"/>
            </a:rPr>
            <a:t>把</a:t>
          </a:r>
          <a:r>
            <a:rPr lang="zh-CN" altLang="en-US" sz="1400" b="1" kern="1200" dirty="0">
              <a:solidFill>
                <a:srgbClr val="0000FF"/>
              </a:solidFill>
              <a:latin typeface="微软雅黑" panose="020B0503020204020204" pitchFamily="34" charset="-122"/>
              <a:ea typeface="微软雅黑" panose="020B0503020204020204" pitchFamily="34" charset="-122"/>
            </a:rPr>
            <a:t>控制层面</a:t>
          </a:r>
          <a:r>
            <a:rPr lang="zh-CN" altLang="en-US" sz="1400" b="1" kern="1200" dirty="0">
              <a:solidFill>
                <a:schemeClr val="tx1"/>
              </a:solidFill>
              <a:latin typeface="微软雅黑" panose="020B0503020204020204" pitchFamily="34" charset="-122"/>
              <a:ea typeface="微软雅黑" panose="020B0503020204020204" pitchFamily="34" charset="-122"/>
            </a:rPr>
            <a:t>和</a:t>
          </a:r>
          <a:r>
            <a:rPr lang="zh-CN" altLang="en-US" sz="1400" b="1" kern="1200" dirty="0">
              <a:solidFill>
                <a:srgbClr val="0000FF"/>
              </a:solidFill>
              <a:latin typeface="微软雅黑" panose="020B0503020204020204" pitchFamily="34" charset="-122"/>
              <a:ea typeface="微软雅黑" panose="020B0503020204020204" pitchFamily="34" charset="-122"/>
            </a:rPr>
            <a:t>数据层面</a:t>
          </a:r>
          <a:r>
            <a:rPr lang="zh-CN" altLang="en-US" sz="1400" b="1" kern="1200" dirty="0">
              <a:solidFill>
                <a:srgbClr val="C00000"/>
              </a:solidFill>
              <a:latin typeface="微软雅黑" panose="020B0503020204020204" pitchFamily="34" charset="-122"/>
              <a:ea typeface="微软雅黑" panose="020B0503020204020204" pitchFamily="34" charset="-122"/>
            </a:rPr>
            <a:t>分离，</a:t>
          </a:r>
          <a:r>
            <a:rPr lang="zh-CN" altLang="en-US" sz="1400" b="1" kern="1200" dirty="0">
              <a:latin typeface="微软雅黑" panose="020B0503020204020204" pitchFamily="34" charset="-122"/>
              <a:ea typeface="微软雅黑" panose="020B0503020204020204" pitchFamily="34" charset="-122"/>
            </a:rPr>
            <a:t>而让控制层面</a:t>
          </a:r>
          <a:r>
            <a:rPr lang="zh-CN" altLang="en-US" sz="1400" b="1" kern="1200" dirty="0">
              <a:solidFill>
                <a:srgbClr val="C00000"/>
              </a:solidFill>
              <a:latin typeface="微软雅黑" panose="020B0503020204020204" pitchFamily="34" charset="-122"/>
              <a:ea typeface="微软雅黑" panose="020B0503020204020204" pitchFamily="34" charset="-122"/>
            </a:rPr>
            <a:t>利用软件</a:t>
          </a:r>
          <a:r>
            <a:rPr lang="zh-CN" altLang="en-US" sz="1400" b="1" kern="1200" dirty="0">
              <a:solidFill>
                <a:srgbClr val="0000FF"/>
              </a:solidFill>
              <a:latin typeface="微软雅黑" panose="020B0503020204020204" pitchFamily="34" charset="-122"/>
              <a:ea typeface="微软雅黑" panose="020B0503020204020204" pitchFamily="34" charset="-122"/>
            </a:rPr>
            <a:t>控制</a:t>
          </a:r>
          <a:r>
            <a:rPr lang="zh-CN" altLang="en-US" sz="1400" b="1" kern="1200" dirty="0">
              <a:latin typeface="微软雅黑" panose="020B0503020204020204" pitchFamily="34" charset="-122"/>
              <a:ea typeface="微软雅黑" panose="020B0503020204020204" pitchFamily="34" charset="-122"/>
            </a:rPr>
            <a:t>数据层面中的许多设备。</a:t>
          </a:r>
        </a:p>
      </dsp:txBody>
      <dsp:txXfrm>
        <a:off x="0" y="259779"/>
        <a:ext cx="5105643" cy="1499400"/>
      </dsp:txXfrm>
    </dsp:sp>
    <dsp:sp modelId="{08B5982C-5C29-4138-B12D-B1193F279CC1}">
      <dsp:nvSpPr>
        <dsp:cNvPr id="0" name=""/>
        <dsp:cNvSpPr/>
      </dsp:nvSpPr>
      <dsp:spPr>
        <a:xfrm>
          <a:off x="255282" y="53139"/>
          <a:ext cx="3573950" cy="413280"/>
        </a:xfrm>
        <a:prstGeom prst="roundRect">
          <a:avLst/>
        </a:prstGeom>
        <a:solidFill>
          <a:schemeClr val="accent2">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5087" tIns="0" rIns="135087" bIns="0" numCol="1" spcCol="1270" anchor="ctr" anchorCtr="0">
          <a:noAutofit/>
        </a:bodyPr>
        <a:lstStyle/>
        <a:p>
          <a:pPr marL="0" lvl="0" indent="0" algn="l" defTabSz="800100">
            <a:lnSpc>
              <a:spcPct val="90000"/>
            </a:lnSpc>
            <a:spcBef>
              <a:spcPct val="0"/>
            </a:spcBef>
            <a:spcAft>
              <a:spcPct val="35000"/>
            </a:spcAft>
            <a:buNone/>
          </a:pPr>
          <a:r>
            <a:rPr lang="en-US" altLang="en-US" sz="1800" b="1" kern="1200" dirty="0">
              <a:solidFill>
                <a:schemeClr val="bg1"/>
              </a:solidFill>
              <a:latin typeface="微软雅黑" panose="020B0503020204020204" pitchFamily="34" charset="-122"/>
              <a:ea typeface="微软雅黑" panose="020B0503020204020204" pitchFamily="34" charset="-122"/>
            </a:rPr>
            <a:t>SDN</a:t>
          </a:r>
          <a:endParaRPr lang="zh-CN" altLang="en-US" sz="1800" b="1" kern="1200" dirty="0">
            <a:solidFill>
              <a:schemeClr val="bg1"/>
            </a:solidFill>
            <a:latin typeface="微软雅黑" panose="020B0503020204020204" pitchFamily="34" charset="-122"/>
            <a:ea typeface="微软雅黑" panose="020B0503020204020204" pitchFamily="34" charset="-122"/>
          </a:endParaRPr>
        </a:p>
      </dsp:txBody>
      <dsp:txXfrm>
        <a:off x="275457" y="73314"/>
        <a:ext cx="3533600" cy="372930"/>
      </dsp:txXfrm>
    </dsp:sp>
    <dsp:sp modelId="{6DBB5C1B-B5D3-489B-9520-25CF774BF611}">
      <dsp:nvSpPr>
        <dsp:cNvPr id="0" name=""/>
        <dsp:cNvSpPr/>
      </dsp:nvSpPr>
      <dsp:spPr>
        <a:xfrm>
          <a:off x="0" y="2041419"/>
          <a:ext cx="5105643" cy="1499400"/>
        </a:xfrm>
        <a:prstGeom prst="rect">
          <a:avLst/>
        </a:prstGeom>
        <a:solidFill>
          <a:schemeClr val="lt1">
            <a:alpha val="90000"/>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396255" tIns="291592" rIns="396255" bIns="99568" numCol="1" spcCol="1270" anchor="t" anchorCtr="0">
          <a:noAutofit/>
        </a:bodyPr>
        <a:lstStyle/>
        <a:p>
          <a:pPr marL="114300" lvl="1" indent="-114300" algn="l" defTabSz="622300">
            <a:lnSpc>
              <a:spcPct val="90000"/>
            </a:lnSpc>
            <a:spcBef>
              <a:spcPct val="0"/>
            </a:spcBef>
            <a:spcAft>
              <a:spcPts val="0"/>
            </a:spcAft>
            <a:buChar char="•"/>
          </a:pPr>
          <a:r>
            <a:rPr lang="en-US" altLang="en-US" sz="1400" b="1" kern="1200" dirty="0">
              <a:latin typeface="微软雅黑" panose="020B0503020204020204" pitchFamily="34" charset="-122"/>
              <a:ea typeface="微软雅黑" panose="020B0503020204020204" pitchFamily="34" charset="-122"/>
            </a:rPr>
            <a:t>SDN </a:t>
          </a:r>
          <a:r>
            <a:rPr lang="zh-CN" altLang="en-US" sz="1400" b="1" kern="1200" dirty="0">
              <a:latin typeface="微软雅黑" panose="020B0503020204020204" pitchFamily="34" charset="-122"/>
              <a:ea typeface="微软雅黑" panose="020B0503020204020204" pitchFamily="34" charset="-122"/>
            </a:rPr>
            <a:t>体系结构中控制层面和数据层面之间的</a:t>
          </a:r>
          <a:r>
            <a:rPr lang="zh-CN" altLang="en-US" sz="1400" b="1" kern="1200" dirty="0">
              <a:solidFill>
                <a:srgbClr val="C00000"/>
              </a:solidFill>
              <a:latin typeface="微软雅黑" panose="020B0503020204020204" pitchFamily="34" charset="-122"/>
              <a:ea typeface="微软雅黑" panose="020B0503020204020204" pitchFamily="34" charset="-122"/>
            </a:rPr>
            <a:t>通信接口。</a:t>
          </a:r>
        </a:p>
        <a:p>
          <a:pPr marL="114300" lvl="1" indent="-114300" algn="l" defTabSz="622300">
            <a:lnSpc>
              <a:spcPct val="90000"/>
            </a:lnSpc>
            <a:spcBef>
              <a:spcPct val="0"/>
            </a:spcBef>
            <a:spcAft>
              <a:spcPts val="0"/>
            </a:spcAft>
            <a:buChar char="•"/>
          </a:pPr>
          <a:r>
            <a:rPr lang="zh-CN" altLang="en-US" sz="1400" b="1" kern="1200" dirty="0">
              <a:latin typeface="微软雅黑" panose="020B0503020204020204" pitchFamily="34" charset="-122"/>
              <a:ea typeface="微软雅黑" panose="020B0503020204020204" pitchFamily="34" charset="-122"/>
            </a:rPr>
            <a:t>使控制层面的控制器可以对数据层面中的物理或虚拟设备进行</a:t>
          </a:r>
          <a:r>
            <a:rPr lang="zh-CN" altLang="en-US" sz="1400" b="1" kern="1200" dirty="0">
              <a:solidFill>
                <a:srgbClr val="C00000"/>
              </a:solidFill>
              <a:latin typeface="微软雅黑" panose="020B0503020204020204" pitchFamily="34" charset="-122"/>
              <a:ea typeface="微软雅黑" panose="020B0503020204020204" pitchFamily="34" charset="-122"/>
            </a:rPr>
            <a:t>直接</a:t>
          </a:r>
          <a:r>
            <a:rPr lang="zh-CN" altLang="en-US" sz="1400" b="1" kern="1200" dirty="0">
              <a:latin typeface="微软雅黑" panose="020B0503020204020204" pitchFamily="34" charset="-122"/>
              <a:ea typeface="微软雅黑" panose="020B0503020204020204" pitchFamily="34" charset="-122"/>
            </a:rPr>
            <a:t>访问和操纵。</a:t>
          </a:r>
        </a:p>
        <a:p>
          <a:pPr marL="114300" lvl="1" indent="-114300" algn="l" defTabSz="622300">
            <a:lnSpc>
              <a:spcPct val="90000"/>
            </a:lnSpc>
            <a:spcBef>
              <a:spcPct val="0"/>
            </a:spcBef>
            <a:spcAft>
              <a:spcPts val="0"/>
            </a:spcAft>
            <a:buChar char="•"/>
          </a:pPr>
          <a:r>
            <a:rPr lang="zh-CN" altLang="en-US" sz="1400" b="1" kern="1200" dirty="0">
              <a:latin typeface="微软雅黑" panose="020B0503020204020204" pitchFamily="34" charset="-122"/>
              <a:ea typeface="微软雅黑" panose="020B0503020204020204" pitchFamily="34" charset="-122"/>
            </a:rPr>
            <a:t>在逻辑上是</a:t>
          </a:r>
          <a:r>
            <a:rPr lang="zh-CN" altLang="en-US" sz="1400" b="1" kern="1200" dirty="0">
              <a:solidFill>
                <a:srgbClr val="C00000"/>
              </a:solidFill>
              <a:latin typeface="微软雅黑" panose="020B0503020204020204" pitchFamily="34" charset="-122"/>
              <a:ea typeface="微软雅黑" panose="020B0503020204020204" pitchFamily="34" charset="-122"/>
            </a:rPr>
            <a:t>集中式</a:t>
          </a:r>
          <a:r>
            <a:rPr lang="zh-CN" altLang="en-US" sz="1400" b="1" kern="1200" dirty="0">
              <a:latin typeface="微软雅黑" panose="020B0503020204020204" pitchFamily="34" charset="-122"/>
              <a:ea typeface="微软雅黑" panose="020B0503020204020204" pitchFamily="34" charset="-122"/>
            </a:rPr>
            <a:t>的、</a:t>
          </a:r>
          <a:r>
            <a:rPr lang="zh-CN" altLang="en-US" sz="1400" b="1" kern="1200" dirty="0">
              <a:solidFill>
                <a:srgbClr val="C00000"/>
              </a:solidFill>
              <a:latin typeface="微软雅黑" panose="020B0503020204020204" pitchFamily="34" charset="-122"/>
              <a:ea typeface="微软雅黑" panose="020B0503020204020204" pitchFamily="34" charset="-122"/>
            </a:rPr>
            <a:t>基于流</a:t>
          </a:r>
          <a:r>
            <a:rPr lang="zh-CN" altLang="en-US" sz="1400" b="1" kern="1200" dirty="0">
              <a:latin typeface="微软雅黑" panose="020B0503020204020204" pitchFamily="34" charset="-122"/>
              <a:ea typeface="微软雅黑" panose="020B0503020204020204" pitchFamily="34" charset="-122"/>
            </a:rPr>
            <a:t>的。</a:t>
          </a:r>
        </a:p>
      </dsp:txBody>
      <dsp:txXfrm>
        <a:off x="0" y="2041419"/>
        <a:ext cx="5105643" cy="1499400"/>
      </dsp:txXfrm>
    </dsp:sp>
    <dsp:sp modelId="{35AC4BD2-1828-4C40-9426-ADEA8908391D}">
      <dsp:nvSpPr>
        <dsp:cNvPr id="0" name=""/>
        <dsp:cNvSpPr/>
      </dsp:nvSpPr>
      <dsp:spPr>
        <a:xfrm>
          <a:off x="255282" y="1834779"/>
          <a:ext cx="3573950" cy="413280"/>
        </a:xfrm>
        <a:prstGeom prst="roundRect">
          <a:avLst/>
        </a:prstGeom>
        <a:solidFill>
          <a:schemeClr val="accent3">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5087" tIns="0" rIns="135087" bIns="0" numCol="1" spcCol="1270" anchor="ctr" anchorCtr="0">
          <a:noAutofit/>
        </a:bodyPr>
        <a:lstStyle/>
        <a:p>
          <a:pPr marL="0" lvl="0" indent="0" algn="l" defTabSz="800100">
            <a:lnSpc>
              <a:spcPct val="90000"/>
            </a:lnSpc>
            <a:spcBef>
              <a:spcPct val="0"/>
            </a:spcBef>
            <a:spcAft>
              <a:spcPct val="35000"/>
            </a:spcAft>
            <a:buNone/>
          </a:pPr>
          <a:r>
            <a:rPr lang="en-US" altLang="zh-CN" sz="1800" b="1" kern="1200" dirty="0" err="1">
              <a:solidFill>
                <a:srgbClr val="0000CC"/>
              </a:solidFill>
              <a:latin typeface="微软雅黑" panose="020B0503020204020204" pitchFamily="34" charset="-122"/>
              <a:ea typeface="微软雅黑" panose="020B0503020204020204" pitchFamily="34" charset="-122"/>
            </a:rPr>
            <a:t>OpenFlow</a:t>
          </a:r>
          <a:endParaRPr lang="zh-CN" altLang="en-US" sz="1800" b="1" kern="1200" dirty="0">
            <a:solidFill>
              <a:srgbClr val="0000CC"/>
            </a:solidFill>
            <a:latin typeface="微软雅黑" panose="020B0503020204020204" pitchFamily="34" charset="-122"/>
            <a:ea typeface="微软雅黑" panose="020B0503020204020204" pitchFamily="34" charset="-122"/>
          </a:endParaRPr>
        </a:p>
      </dsp:txBody>
      <dsp:txXfrm>
        <a:off x="275457" y="1854954"/>
        <a:ext cx="3533600" cy="372930"/>
      </dsp:txXfrm>
    </dsp:sp>
  </dsp:spTree>
</dsp:drawing>
</file>

<file path=ppt/diagrams/drawing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D99FAF8-43A3-495E-9177-C621EED0FF9E}">
      <dsp:nvSpPr>
        <dsp:cNvPr id="0" name=""/>
        <dsp:cNvSpPr/>
      </dsp:nvSpPr>
      <dsp:spPr>
        <a:xfrm>
          <a:off x="0" y="12438"/>
          <a:ext cx="5066923" cy="540002"/>
        </a:xfrm>
        <a:prstGeom prst="roundRect">
          <a:avLst/>
        </a:prstGeom>
        <a:gradFill rotWithShape="0">
          <a:gsLst>
            <a:gs pos="0">
              <a:schemeClr val="accent5">
                <a:hueOff val="0"/>
                <a:satOff val="0"/>
                <a:lumOff val="0"/>
                <a:alphaOff val="0"/>
                <a:shade val="51000"/>
                <a:satMod val="130000"/>
              </a:schemeClr>
            </a:gs>
            <a:gs pos="80000">
              <a:schemeClr val="accent5">
                <a:hueOff val="0"/>
                <a:satOff val="0"/>
                <a:lumOff val="0"/>
                <a:alphaOff val="0"/>
                <a:shade val="93000"/>
                <a:satMod val="130000"/>
              </a:schemeClr>
            </a:gs>
            <a:gs pos="100000">
              <a:schemeClr val="accent5">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zh-CN" altLang="en-US" sz="1800" b="1" kern="1200" dirty="0">
              <a:latin typeface="微软雅黑" panose="020B0503020204020204" pitchFamily="34" charset="-122"/>
              <a:ea typeface="微软雅黑" panose="020B0503020204020204" pitchFamily="34" charset="-122"/>
            </a:rPr>
            <a:t>匹配</a:t>
          </a:r>
        </a:p>
      </dsp:txBody>
      <dsp:txXfrm>
        <a:off x="26361" y="38799"/>
        <a:ext cx="5014201" cy="487280"/>
      </dsp:txXfrm>
    </dsp:sp>
    <dsp:sp modelId="{A97FE5EF-81FF-4D48-A0DE-B85FB67024E8}">
      <dsp:nvSpPr>
        <dsp:cNvPr id="0" name=""/>
        <dsp:cNvSpPr/>
      </dsp:nvSpPr>
      <dsp:spPr>
        <a:xfrm>
          <a:off x="0" y="552441"/>
          <a:ext cx="5066923" cy="77883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60875" tIns="22860" rIns="128016" bIns="22860" numCol="1" spcCol="1270" anchor="t" anchorCtr="0">
          <a:noAutofit/>
        </a:bodyPr>
        <a:lstStyle/>
        <a:p>
          <a:pPr marL="171450" lvl="1" indent="-171450" algn="l" defTabSz="800100">
            <a:lnSpc>
              <a:spcPct val="90000"/>
            </a:lnSpc>
            <a:spcBef>
              <a:spcPct val="0"/>
            </a:spcBef>
            <a:spcAft>
              <a:spcPct val="20000"/>
            </a:spcAft>
            <a:buChar char="•"/>
          </a:pPr>
          <a:r>
            <a:rPr lang="zh-CN" altLang="en-US" sz="1800" b="1" kern="1200" dirty="0">
              <a:latin typeface="微软雅黑" panose="020B0503020204020204" pitchFamily="34" charset="-122"/>
              <a:ea typeface="微软雅黑" panose="020B0503020204020204" pitchFamily="34" charset="-122"/>
            </a:rPr>
            <a:t>对不同层次（链路层，网络层，运输层）首部中的字段进行匹配。</a:t>
          </a:r>
        </a:p>
      </dsp:txBody>
      <dsp:txXfrm>
        <a:off x="0" y="552441"/>
        <a:ext cx="5066923" cy="778837"/>
      </dsp:txXfrm>
    </dsp:sp>
    <dsp:sp modelId="{6973BEF8-C407-4DCC-B203-97EAB17968C8}">
      <dsp:nvSpPr>
        <dsp:cNvPr id="0" name=""/>
        <dsp:cNvSpPr/>
      </dsp:nvSpPr>
      <dsp:spPr>
        <a:xfrm>
          <a:off x="0" y="1331278"/>
          <a:ext cx="5066923" cy="540002"/>
        </a:xfrm>
        <a:prstGeom prst="roundRect">
          <a:avLst/>
        </a:prstGeom>
        <a:gradFill rotWithShape="0">
          <a:gsLst>
            <a:gs pos="0">
              <a:schemeClr val="accent5">
                <a:hueOff val="-9933876"/>
                <a:satOff val="39811"/>
                <a:lumOff val="8628"/>
                <a:alphaOff val="0"/>
                <a:shade val="51000"/>
                <a:satMod val="130000"/>
              </a:schemeClr>
            </a:gs>
            <a:gs pos="80000">
              <a:schemeClr val="accent5">
                <a:hueOff val="-9933876"/>
                <a:satOff val="39811"/>
                <a:lumOff val="8628"/>
                <a:alphaOff val="0"/>
                <a:shade val="93000"/>
                <a:satMod val="130000"/>
              </a:schemeClr>
            </a:gs>
            <a:gs pos="100000">
              <a:schemeClr val="accent5">
                <a:hueOff val="-9933876"/>
                <a:satOff val="39811"/>
                <a:lumOff val="8628"/>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zh-CN" altLang="en-US" sz="1800" b="1" kern="1200" dirty="0">
              <a:latin typeface="微软雅黑" panose="020B0503020204020204" pitchFamily="34" charset="-122"/>
              <a:ea typeface="微软雅黑" panose="020B0503020204020204" pitchFamily="34" charset="-122"/>
            </a:rPr>
            <a:t>动作</a:t>
          </a:r>
        </a:p>
      </dsp:txBody>
      <dsp:txXfrm>
        <a:off x="26361" y="1357639"/>
        <a:ext cx="5014201" cy="487280"/>
      </dsp:txXfrm>
    </dsp:sp>
    <dsp:sp modelId="{08081AE3-063A-43D5-96F4-62EC961A3E6F}">
      <dsp:nvSpPr>
        <dsp:cNvPr id="0" name=""/>
        <dsp:cNvSpPr/>
      </dsp:nvSpPr>
      <dsp:spPr>
        <a:xfrm>
          <a:off x="0" y="1871281"/>
          <a:ext cx="5066923" cy="57960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60875" tIns="22860" rIns="128016" bIns="22860" numCol="1" spcCol="1270" anchor="t" anchorCtr="0">
          <a:noAutofit/>
        </a:bodyPr>
        <a:lstStyle/>
        <a:p>
          <a:pPr marL="171450" lvl="1" indent="-171450" algn="l" defTabSz="800100">
            <a:lnSpc>
              <a:spcPct val="90000"/>
            </a:lnSpc>
            <a:spcBef>
              <a:spcPct val="0"/>
            </a:spcBef>
            <a:spcAft>
              <a:spcPct val="20000"/>
            </a:spcAft>
            <a:buChar char="•"/>
          </a:pPr>
          <a:r>
            <a:rPr lang="zh-CN" altLang="en-US" sz="1800" b="1" kern="1200" dirty="0">
              <a:latin typeface="微软雅黑" panose="020B0503020204020204" pitchFamily="34" charset="-122"/>
              <a:ea typeface="微软雅黑" panose="020B0503020204020204" pitchFamily="34" charset="-122"/>
            </a:rPr>
            <a:t>转发，重写，丢弃等。</a:t>
          </a:r>
        </a:p>
      </dsp:txBody>
      <dsp:txXfrm>
        <a:off x="0" y="1871281"/>
        <a:ext cx="5066923" cy="579600"/>
      </dsp:txXfrm>
    </dsp:sp>
  </dsp:spTree>
</dsp:drawing>
</file>

<file path=ppt/diagrams/drawing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9B0D5C1-FC08-4682-A068-87E58ADD3967}">
      <dsp:nvSpPr>
        <dsp:cNvPr id="0" name=""/>
        <dsp:cNvSpPr/>
      </dsp:nvSpPr>
      <dsp:spPr>
        <a:xfrm>
          <a:off x="-3623671" y="-556841"/>
          <a:ext cx="4319736" cy="4319736"/>
        </a:xfrm>
        <a:prstGeom prst="blockArc">
          <a:avLst>
            <a:gd name="adj1" fmla="val 18900000"/>
            <a:gd name="adj2" fmla="val 2700000"/>
            <a:gd name="adj3" fmla="val 500"/>
          </a:avLst>
        </a:prstGeom>
        <a:noFill/>
        <a:ln w="25400" cap="flat" cmpd="sng" algn="ctr">
          <a:solidFill>
            <a:schemeClr val="accent6">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4A029A32-0911-4750-B9B4-49D271EFA4E0}">
      <dsp:nvSpPr>
        <dsp:cNvPr id="0" name=""/>
        <dsp:cNvSpPr/>
      </dsp:nvSpPr>
      <dsp:spPr>
        <a:xfrm>
          <a:off x="364891" y="246481"/>
          <a:ext cx="6357688" cy="493219"/>
        </a:xfrm>
        <a:prstGeom prst="rect">
          <a:avLst/>
        </a:prstGeom>
        <a:gradFill rotWithShape="0">
          <a:gsLst>
            <a:gs pos="0">
              <a:schemeClr val="accent5">
                <a:hueOff val="0"/>
                <a:satOff val="0"/>
                <a:lumOff val="0"/>
                <a:alphaOff val="0"/>
                <a:tint val="50000"/>
                <a:satMod val="300000"/>
              </a:schemeClr>
            </a:gs>
            <a:gs pos="35000">
              <a:schemeClr val="accent5">
                <a:hueOff val="0"/>
                <a:satOff val="0"/>
                <a:lumOff val="0"/>
                <a:alphaOff val="0"/>
                <a:tint val="37000"/>
                <a:satMod val="300000"/>
              </a:schemeClr>
            </a:gs>
            <a:gs pos="100000">
              <a:schemeClr val="accent5">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391493" tIns="45720" rIns="45720" bIns="45720" numCol="1" spcCol="1270" anchor="ctr" anchorCtr="0">
          <a:noAutofit/>
        </a:bodyPr>
        <a:lstStyle/>
        <a:p>
          <a:pPr marL="0" lvl="0" indent="0" algn="l" defTabSz="800100">
            <a:lnSpc>
              <a:spcPct val="90000"/>
            </a:lnSpc>
            <a:spcBef>
              <a:spcPct val="0"/>
            </a:spcBef>
            <a:spcAft>
              <a:spcPct val="35000"/>
            </a:spcAft>
            <a:buNone/>
          </a:pPr>
          <a:r>
            <a:rPr lang="zh-CN" altLang="en-US" sz="1800" b="1" kern="1200" dirty="0">
              <a:latin typeface="微软雅黑" panose="020B0503020204020204" pitchFamily="34" charset="-122"/>
              <a:ea typeface="微软雅黑" panose="020B0503020204020204" pitchFamily="34" charset="-122"/>
            </a:rPr>
            <a:t>基于流的转发。流表规定转发规则。</a:t>
          </a:r>
        </a:p>
      </dsp:txBody>
      <dsp:txXfrm>
        <a:off x="364891" y="246481"/>
        <a:ext cx="6357688" cy="493219"/>
      </dsp:txXfrm>
    </dsp:sp>
    <dsp:sp modelId="{C2D66341-6C1E-4BCC-8C84-A646950EFF77}">
      <dsp:nvSpPr>
        <dsp:cNvPr id="0" name=""/>
        <dsp:cNvSpPr/>
      </dsp:nvSpPr>
      <dsp:spPr>
        <a:xfrm>
          <a:off x="56629" y="184829"/>
          <a:ext cx="616524" cy="616524"/>
        </a:xfrm>
        <a:prstGeom prst="ellipse">
          <a:avLst/>
        </a:prstGeom>
        <a:blipFill dpi="0" rotWithShape="0">
          <a:blip xmlns:r="http://schemas.openxmlformats.org/officeDocument/2006/relationships" r:embed="rId1">
            <a:extLst>
              <a:ext uri="{28A0092B-C50C-407E-A947-70E740481C1C}">
                <a14:useLocalDpi xmlns:a14="http://schemas.microsoft.com/office/drawing/2010/main" val="0"/>
              </a:ext>
            </a:extLst>
          </a:blip>
          <a:srcRect/>
          <a:stretch>
            <a:fillRect/>
          </a:stretch>
        </a:blipFill>
        <a:ln w="9525" cap="flat" cmpd="sng" algn="ctr">
          <a:solidFill>
            <a:schemeClr val="accent5">
              <a:hueOff val="0"/>
              <a:satOff val="0"/>
              <a:lumOff val="0"/>
              <a:alphaOff val="0"/>
            </a:schemeClr>
          </a:solidFill>
          <a:prstDash val="solid"/>
        </a:ln>
        <a:effectLst/>
      </dsp:spPr>
      <dsp:style>
        <a:lnRef idx="1">
          <a:scrgbClr r="0" g="0" b="0"/>
        </a:lnRef>
        <a:fillRef idx="2">
          <a:scrgbClr r="0" g="0" b="0"/>
        </a:fillRef>
        <a:effectRef idx="0">
          <a:scrgbClr r="0" g="0" b="0"/>
        </a:effectRef>
        <a:fontRef idx="minor"/>
      </dsp:style>
    </dsp:sp>
    <dsp:sp modelId="{F5F98171-0BBC-44BA-A385-25C4F93E716D}">
      <dsp:nvSpPr>
        <dsp:cNvPr id="0" name=""/>
        <dsp:cNvSpPr/>
      </dsp:nvSpPr>
      <dsp:spPr>
        <a:xfrm>
          <a:off x="647665" y="986438"/>
          <a:ext cx="6074914" cy="493219"/>
        </a:xfrm>
        <a:prstGeom prst="rect">
          <a:avLst/>
        </a:prstGeom>
        <a:gradFill rotWithShape="0">
          <a:gsLst>
            <a:gs pos="0">
              <a:schemeClr val="accent5">
                <a:hueOff val="-3311292"/>
                <a:satOff val="13270"/>
                <a:lumOff val="2876"/>
                <a:alphaOff val="0"/>
                <a:tint val="50000"/>
                <a:satMod val="300000"/>
              </a:schemeClr>
            </a:gs>
            <a:gs pos="35000">
              <a:schemeClr val="accent5">
                <a:hueOff val="-3311292"/>
                <a:satOff val="13270"/>
                <a:lumOff val="2876"/>
                <a:alphaOff val="0"/>
                <a:tint val="37000"/>
                <a:satMod val="300000"/>
              </a:schemeClr>
            </a:gs>
            <a:gs pos="100000">
              <a:schemeClr val="accent5">
                <a:hueOff val="-3311292"/>
                <a:satOff val="13270"/>
                <a:lumOff val="2876"/>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391493" tIns="45720" rIns="45720" bIns="45720" numCol="1" spcCol="1270" anchor="ctr" anchorCtr="0">
          <a:noAutofit/>
        </a:bodyPr>
        <a:lstStyle/>
        <a:p>
          <a:pPr marL="0" lvl="0" indent="0" algn="l" defTabSz="800100">
            <a:lnSpc>
              <a:spcPct val="90000"/>
            </a:lnSpc>
            <a:spcBef>
              <a:spcPct val="0"/>
            </a:spcBef>
            <a:spcAft>
              <a:spcPct val="35000"/>
            </a:spcAft>
            <a:buNone/>
          </a:pPr>
          <a:r>
            <a:rPr lang="zh-CN" altLang="en-US" sz="1800" b="1" kern="1200" dirty="0">
              <a:latin typeface="微软雅黑" panose="020B0503020204020204" pitchFamily="34" charset="-122"/>
              <a:ea typeface="微软雅黑" panose="020B0503020204020204" pitchFamily="34" charset="-122"/>
            </a:rPr>
            <a:t>数据层面与控制层面分离。二者不在同一个设备中。</a:t>
          </a:r>
        </a:p>
      </dsp:txBody>
      <dsp:txXfrm>
        <a:off x="647665" y="986438"/>
        <a:ext cx="6074914" cy="493219"/>
      </dsp:txXfrm>
    </dsp:sp>
    <dsp:sp modelId="{6BA4FFC2-2FE1-4DE8-AFAD-430C985B0E85}">
      <dsp:nvSpPr>
        <dsp:cNvPr id="0" name=""/>
        <dsp:cNvSpPr/>
      </dsp:nvSpPr>
      <dsp:spPr>
        <a:xfrm>
          <a:off x="339403" y="924786"/>
          <a:ext cx="616524" cy="616524"/>
        </a:xfrm>
        <a:prstGeom prst="ellipse">
          <a:avLst/>
        </a:prstGeom>
        <a:blipFill dpi="0" rotWithShape="0">
          <a:blip xmlns:r="http://schemas.openxmlformats.org/officeDocument/2006/relationships" r:embed="rId1">
            <a:extLst>
              <a:ext uri="{28A0092B-C50C-407E-A947-70E740481C1C}">
                <a14:useLocalDpi xmlns:a14="http://schemas.microsoft.com/office/drawing/2010/main" val="0"/>
              </a:ext>
            </a:extLst>
          </a:blip>
          <a:srcRect/>
          <a:stretch>
            <a:fillRect/>
          </a:stretch>
        </a:blipFill>
        <a:ln w="9525" cap="flat" cmpd="sng" algn="ctr">
          <a:solidFill>
            <a:schemeClr val="accent5">
              <a:hueOff val="-3311292"/>
              <a:satOff val="13270"/>
              <a:lumOff val="2876"/>
              <a:alphaOff val="0"/>
            </a:schemeClr>
          </a:solidFill>
          <a:prstDash val="solid"/>
        </a:ln>
        <a:effectLst/>
      </dsp:spPr>
      <dsp:style>
        <a:lnRef idx="1">
          <a:scrgbClr r="0" g="0" b="0"/>
        </a:lnRef>
        <a:fillRef idx="2">
          <a:scrgbClr r="0" g="0" b="0"/>
        </a:fillRef>
        <a:effectRef idx="0">
          <a:scrgbClr r="0" g="0" b="0"/>
        </a:effectRef>
        <a:fontRef idx="minor"/>
      </dsp:style>
    </dsp:sp>
    <dsp:sp modelId="{CD11EB12-0408-40BE-A5E0-D1CFC22DFC2E}">
      <dsp:nvSpPr>
        <dsp:cNvPr id="0" name=""/>
        <dsp:cNvSpPr/>
      </dsp:nvSpPr>
      <dsp:spPr>
        <a:xfrm>
          <a:off x="647665" y="1726395"/>
          <a:ext cx="6074914" cy="493219"/>
        </a:xfrm>
        <a:prstGeom prst="rect">
          <a:avLst/>
        </a:prstGeom>
        <a:gradFill rotWithShape="0">
          <a:gsLst>
            <a:gs pos="0">
              <a:schemeClr val="accent5">
                <a:hueOff val="-6622584"/>
                <a:satOff val="26541"/>
                <a:lumOff val="5752"/>
                <a:alphaOff val="0"/>
                <a:tint val="50000"/>
                <a:satMod val="300000"/>
              </a:schemeClr>
            </a:gs>
            <a:gs pos="35000">
              <a:schemeClr val="accent5">
                <a:hueOff val="-6622584"/>
                <a:satOff val="26541"/>
                <a:lumOff val="5752"/>
                <a:alphaOff val="0"/>
                <a:tint val="37000"/>
                <a:satMod val="300000"/>
              </a:schemeClr>
            </a:gs>
            <a:gs pos="100000">
              <a:schemeClr val="accent5">
                <a:hueOff val="-6622584"/>
                <a:satOff val="26541"/>
                <a:lumOff val="5752"/>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391493" tIns="45720" rIns="45720" bIns="45720" numCol="1" spcCol="1270" anchor="ctr" anchorCtr="0">
          <a:noAutofit/>
        </a:bodyPr>
        <a:lstStyle/>
        <a:p>
          <a:pPr marL="0" lvl="0" indent="0" algn="l" defTabSz="800100">
            <a:lnSpc>
              <a:spcPct val="90000"/>
            </a:lnSpc>
            <a:spcBef>
              <a:spcPct val="0"/>
            </a:spcBef>
            <a:spcAft>
              <a:spcPct val="35000"/>
            </a:spcAft>
            <a:buNone/>
          </a:pPr>
          <a:r>
            <a:rPr lang="zh-CN" altLang="en-US" sz="1800" b="1" kern="1200" dirty="0">
              <a:latin typeface="微软雅黑" panose="020B0503020204020204" pitchFamily="34" charset="-122"/>
              <a:ea typeface="微软雅黑" panose="020B0503020204020204" pitchFamily="34" charset="-122"/>
            </a:rPr>
            <a:t>网络控制功能位于数据层面交换机之外，用软件实现。</a:t>
          </a:r>
        </a:p>
      </dsp:txBody>
      <dsp:txXfrm>
        <a:off x="647665" y="1726395"/>
        <a:ext cx="6074914" cy="493219"/>
      </dsp:txXfrm>
    </dsp:sp>
    <dsp:sp modelId="{AA66A021-7549-4FCB-AE4D-4B546BB936CD}">
      <dsp:nvSpPr>
        <dsp:cNvPr id="0" name=""/>
        <dsp:cNvSpPr/>
      </dsp:nvSpPr>
      <dsp:spPr>
        <a:xfrm>
          <a:off x="339403" y="1664743"/>
          <a:ext cx="616524" cy="616524"/>
        </a:xfrm>
        <a:prstGeom prst="ellipse">
          <a:avLst/>
        </a:prstGeom>
        <a:blipFill dpi="0" rotWithShape="0">
          <a:blip xmlns:r="http://schemas.openxmlformats.org/officeDocument/2006/relationships" r:embed="rId1">
            <a:extLst>
              <a:ext uri="{28A0092B-C50C-407E-A947-70E740481C1C}">
                <a14:useLocalDpi xmlns:a14="http://schemas.microsoft.com/office/drawing/2010/main" val="0"/>
              </a:ext>
            </a:extLst>
          </a:blip>
          <a:srcRect/>
          <a:stretch>
            <a:fillRect/>
          </a:stretch>
        </a:blipFill>
        <a:ln w="9525" cap="flat" cmpd="sng" algn="ctr">
          <a:solidFill>
            <a:schemeClr val="accent5">
              <a:hueOff val="-6622584"/>
              <a:satOff val="26541"/>
              <a:lumOff val="5752"/>
              <a:alphaOff val="0"/>
            </a:schemeClr>
          </a:solidFill>
          <a:prstDash val="solid"/>
        </a:ln>
        <a:effectLst/>
      </dsp:spPr>
      <dsp:style>
        <a:lnRef idx="1">
          <a:scrgbClr r="0" g="0" b="0"/>
        </a:lnRef>
        <a:fillRef idx="2">
          <a:scrgbClr r="0" g="0" b="0"/>
        </a:fillRef>
        <a:effectRef idx="0">
          <a:scrgbClr r="0" g="0" b="0"/>
        </a:effectRef>
        <a:fontRef idx="minor"/>
      </dsp:style>
    </dsp:sp>
    <dsp:sp modelId="{2B5470FC-E1D3-437D-A66F-B24660D1DB5E}">
      <dsp:nvSpPr>
        <dsp:cNvPr id="0" name=""/>
        <dsp:cNvSpPr/>
      </dsp:nvSpPr>
      <dsp:spPr>
        <a:xfrm>
          <a:off x="364891" y="2466353"/>
          <a:ext cx="6357688" cy="493219"/>
        </a:xfrm>
        <a:prstGeom prst="rect">
          <a:avLst/>
        </a:prstGeom>
        <a:gradFill rotWithShape="0">
          <a:gsLst>
            <a:gs pos="0">
              <a:schemeClr val="accent5">
                <a:hueOff val="-9933876"/>
                <a:satOff val="39811"/>
                <a:lumOff val="8628"/>
                <a:alphaOff val="0"/>
                <a:tint val="50000"/>
                <a:satMod val="300000"/>
              </a:schemeClr>
            </a:gs>
            <a:gs pos="35000">
              <a:schemeClr val="accent5">
                <a:hueOff val="-9933876"/>
                <a:satOff val="39811"/>
                <a:lumOff val="8628"/>
                <a:alphaOff val="0"/>
                <a:tint val="37000"/>
                <a:satMod val="300000"/>
              </a:schemeClr>
            </a:gs>
            <a:gs pos="100000">
              <a:schemeClr val="accent5">
                <a:hueOff val="-9933876"/>
                <a:satOff val="39811"/>
                <a:lumOff val="8628"/>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391493" tIns="45720" rIns="45720" bIns="45720" numCol="1" spcCol="1270" anchor="ctr" anchorCtr="0">
          <a:noAutofit/>
        </a:bodyPr>
        <a:lstStyle/>
        <a:p>
          <a:pPr marL="0" lvl="0" indent="0" algn="l" defTabSz="800100">
            <a:lnSpc>
              <a:spcPct val="90000"/>
            </a:lnSpc>
            <a:spcBef>
              <a:spcPct val="0"/>
            </a:spcBef>
            <a:spcAft>
              <a:spcPct val="35000"/>
            </a:spcAft>
            <a:buNone/>
          </a:pPr>
          <a:r>
            <a:rPr lang="zh-CN" altLang="en-US" sz="1800" b="1" kern="1200" dirty="0">
              <a:latin typeface="微软雅黑" panose="020B0503020204020204" pitchFamily="34" charset="-122"/>
              <a:ea typeface="微软雅黑" panose="020B0503020204020204" pitchFamily="34" charset="-122"/>
            </a:rPr>
            <a:t>可编程的网络。</a:t>
          </a:r>
        </a:p>
      </dsp:txBody>
      <dsp:txXfrm>
        <a:off x="364891" y="2466353"/>
        <a:ext cx="6357688" cy="493219"/>
      </dsp:txXfrm>
    </dsp:sp>
    <dsp:sp modelId="{3445C45D-2AA7-4DBC-A20C-73321A134B77}">
      <dsp:nvSpPr>
        <dsp:cNvPr id="0" name=""/>
        <dsp:cNvSpPr/>
      </dsp:nvSpPr>
      <dsp:spPr>
        <a:xfrm>
          <a:off x="56629" y="2404700"/>
          <a:ext cx="616524" cy="616524"/>
        </a:xfrm>
        <a:prstGeom prst="ellipse">
          <a:avLst/>
        </a:prstGeom>
        <a:blipFill dpi="0" rotWithShape="0">
          <a:blip xmlns:r="http://schemas.openxmlformats.org/officeDocument/2006/relationships" r:embed="rId1">
            <a:extLst>
              <a:ext uri="{28A0092B-C50C-407E-A947-70E740481C1C}">
                <a14:useLocalDpi xmlns:a14="http://schemas.microsoft.com/office/drawing/2010/main" val="0"/>
              </a:ext>
            </a:extLst>
          </a:blip>
          <a:srcRect/>
          <a:stretch>
            <a:fillRect/>
          </a:stretch>
        </a:blipFill>
        <a:ln w="9525" cap="flat" cmpd="sng" algn="ctr">
          <a:solidFill>
            <a:schemeClr val="accent5">
              <a:hueOff val="-9933876"/>
              <a:satOff val="39811"/>
              <a:lumOff val="8628"/>
              <a:alphaOff val="0"/>
            </a:schemeClr>
          </a:solidFill>
          <a:prstDash val="solid"/>
        </a:ln>
        <a:effectLst/>
      </dsp:spPr>
      <dsp:style>
        <a:lnRef idx="1">
          <a:scrgbClr r="0" g="0" b="0"/>
        </a:lnRef>
        <a:fillRef idx="2">
          <a:scrgbClr r="0" g="0" b="0"/>
        </a:fillRef>
        <a:effectRef idx="0">
          <a:scrgbClr r="0" g="0" b="0"/>
        </a:effectRef>
        <a:fontRef idx="minor"/>
      </dsp:style>
    </dsp:sp>
  </dsp:spTree>
</dsp:drawing>
</file>

<file path=ppt/diagrams/drawing1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519B39F-12B2-486D-92CD-79CCEF8A02D7}">
      <dsp:nvSpPr>
        <dsp:cNvPr id="0" name=""/>
        <dsp:cNvSpPr/>
      </dsp:nvSpPr>
      <dsp:spPr>
        <a:xfrm>
          <a:off x="32" y="6555"/>
          <a:ext cx="3103308" cy="806400"/>
        </a:xfrm>
        <a:prstGeom prst="rect">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8016" tIns="73152" rIns="128016" bIns="73152" numCol="1" spcCol="1270" anchor="ctr" anchorCtr="0">
          <a:noAutofit/>
        </a:bodyPr>
        <a:lstStyle/>
        <a:p>
          <a:pPr marL="0" lvl="0" indent="0" algn="ctr" defTabSz="800100">
            <a:lnSpc>
              <a:spcPts val="2200"/>
            </a:lnSpc>
            <a:spcBef>
              <a:spcPts val="0"/>
            </a:spcBef>
            <a:spcAft>
              <a:spcPts val="0"/>
            </a:spcAft>
            <a:buNone/>
          </a:pPr>
          <a:r>
            <a:rPr lang="en-US" altLang="zh-CN" sz="1800" b="1" kern="1200" dirty="0">
              <a:latin typeface="微软雅黑" panose="020B0503020204020204" pitchFamily="34" charset="-122"/>
              <a:ea typeface="微软雅黑" panose="020B0503020204020204" pitchFamily="34" charset="-122"/>
            </a:rPr>
            <a:t>SDN</a:t>
          </a:r>
          <a:endParaRPr lang="zh-CN" altLang="en-US" sz="1800" b="1" kern="1200" dirty="0">
            <a:latin typeface="微软雅黑" panose="020B0503020204020204" pitchFamily="34" charset="-122"/>
            <a:ea typeface="微软雅黑" panose="020B0503020204020204" pitchFamily="34" charset="-122"/>
          </a:endParaRPr>
        </a:p>
      </dsp:txBody>
      <dsp:txXfrm>
        <a:off x="32" y="6555"/>
        <a:ext cx="3103308" cy="806400"/>
      </dsp:txXfrm>
    </dsp:sp>
    <dsp:sp modelId="{B896A519-3F35-4F76-BF45-313B4F09EBD3}">
      <dsp:nvSpPr>
        <dsp:cNvPr id="0" name=""/>
        <dsp:cNvSpPr/>
      </dsp:nvSpPr>
      <dsp:spPr>
        <a:xfrm>
          <a:off x="32" y="812955"/>
          <a:ext cx="3103308" cy="2152079"/>
        </a:xfrm>
        <a:prstGeom prst="rect">
          <a:avLst/>
        </a:prstGeom>
        <a:solidFill>
          <a:schemeClr val="accent2">
            <a:tint val="40000"/>
            <a:alpha val="90000"/>
            <a:hueOff val="0"/>
            <a:satOff val="0"/>
            <a:lumOff val="0"/>
            <a:alphaOff val="0"/>
          </a:schemeClr>
        </a:solidFill>
        <a:ln w="25400" cap="flat" cmpd="sng" algn="ctr">
          <a:solidFill>
            <a:schemeClr val="accent2">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ts val="3000"/>
            </a:lnSpc>
            <a:spcBef>
              <a:spcPts val="0"/>
            </a:spcBef>
            <a:spcAft>
              <a:spcPts val="0"/>
            </a:spcAft>
            <a:buChar char="•"/>
          </a:pPr>
          <a:r>
            <a:rPr lang="zh-CN" altLang="en-US" sz="1800" b="1" kern="1200" dirty="0">
              <a:latin typeface="微软雅黑" panose="020B0503020204020204" pitchFamily="34" charset="-122"/>
              <a:ea typeface="微软雅黑" panose="020B0503020204020204" pitchFamily="34" charset="-122"/>
            </a:rPr>
            <a:t>功能分散。交换机、</a:t>
          </a:r>
          <a:r>
            <a:rPr lang="en-US" altLang="en-US" sz="1800" b="1" kern="1200" dirty="0">
              <a:latin typeface="微软雅黑" panose="020B0503020204020204" pitchFamily="34" charset="-122"/>
              <a:ea typeface="微软雅黑" panose="020B0503020204020204" pitchFamily="34" charset="-122"/>
            </a:rPr>
            <a:t>SDN </a:t>
          </a:r>
          <a:r>
            <a:rPr lang="zh-CN" altLang="en-US" sz="1800" b="1" kern="1200" dirty="0">
              <a:latin typeface="微软雅黑" panose="020B0503020204020204" pitchFamily="34" charset="-122"/>
              <a:ea typeface="微软雅黑" panose="020B0503020204020204" pitchFamily="34" charset="-122"/>
            </a:rPr>
            <a:t>控制器、网络控制应用程序都是可以分开的实体。</a:t>
          </a:r>
        </a:p>
        <a:p>
          <a:pPr marL="171450" lvl="1" indent="-171450" algn="l" defTabSz="800100">
            <a:lnSpc>
              <a:spcPts val="3000"/>
            </a:lnSpc>
            <a:spcBef>
              <a:spcPts val="0"/>
            </a:spcBef>
            <a:spcAft>
              <a:spcPts val="0"/>
            </a:spcAft>
            <a:buChar char="•"/>
          </a:pPr>
          <a:r>
            <a:rPr lang="zh-CN" altLang="en-US" sz="1800" b="1" kern="1200" dirty="0">
              <a:latin typeface="微软雅黑" panose="020B0503020204020204" pitchFamily="34" charset="-122"/>
              <a:ea typeface="微软雅黑" panose="020B0503020204020204" pitchFamily="34" charset="-122"/>
            </a:rPr>
            <a:t>可以由不同的厂商和机构来提供。</a:t>
          </a:r>
        </a:p>
      </dsp:txBody>
      <dsp:txXfrm>
        <a:off x="32" y="812955"/>
        <a:ext cx="3103308" cy="2152079"/>
      </dsp:txXfrm>
    </dsp:sp>
    <dsp:sp modelId="{2B37959A-E5FF-440C-9E9A-2AB5F0A6CAC6}">
      <dsp:nvSpPr>
        <dsp:cNvPr id="0" name=""/>
        <dsp:cNvSpPr/>
      </dsp:nvSpPr>
      <dsp:spPr>
        <a:xfrm>
          <a:off x="3537804" y="6555"/>
          <a:ext cx="3103308" cy="806400"/>
        </a:xfrm>
        <a:prstGeom prst="rect">
          <a:avLst/>
        </a:prstGeom>
        <a:solidFill>
          <a:schemeClr val="accent3">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8016" tIns="73152" rIns="128016" bIns="73152" numCol="1" spcCol="1270" anchor="ctr" anchorCtr="0">
          <a:noAutofit/>
        </a:bodyPr>
        <a:lstStyle/>
        <a:p>
          <a:pPr marL="0" lvl="0" indent="0" algn="ctr" defTabSz="800100">
            <a:lnSpc>
              <a:spcPts val="3000"/>
            </a:lnSpc>
            <a:spcBef>
              <a:spcPts val="0"/>
            </a:spcBef>
            <a:spcAft>
              <a:spcPts val="0"/>
            </a:spcAft>
            <a:buNone/>
          </a:pPr>
          <a:r>
            <a:rPr lang="zh-CN" altLang="en-US" sz="1800" b="1" kern="1200" dirty="0">
              <a:solidFill>
                <a:srgbClr val="0000CC"/>
              </a:solidFill>
              <a:latin typeface="微软雅黑" panose="020B0503020204020204" pitchFamily="34" charset="-122"/>
              <a:ea typeface="微软雅黑" panose="020B0503020204020204" pitchFamily="34" charset="-122"/>
            </a:rPr>
            <a:t>传统网络</a:t>
          </a:r>
        </a:p>
      </dsp:txBody>
      <dsp:txXfrm>
        <a:off x="3537804" y="6555"/>
        <a:ext cx="3103308" cy="806400"/>
      </dsp:txXfrm>
    </dsp:sp>
    <dsp:sp modelId="{BB2710DA-629D-4E22-B2D2-AE96858090DD}">
      <dsp:nvSpPr>
        <dsp:cNvPr id="0" name=""/>
        <dsp:cNvSpPr/>
      </dsp:nvSpPr>
      <dsp:spPr>
        <a:xfrm>
          <a:off x="3537804" y="812955"/>
          <a:ext cx="3103308" cy="2152079"/>
        </a:xfrm>
        <a:prstGeom prst="rect">
          <a:avLst/>
        </a:prstGeom>
        <a:solidFill>
          <a:schemeClr val="accent3">
            <a:tint val="40000"/>
            <a:alpha val="90000"/>
            <a:hueOff val="0"/>
            <a:satOff val="0"/>
            <a:lumOff val="0"/>
            <a:alphaOff val="0"/>
          </a:schemeClr>
        </a:solidFill>
        <a:ln w="25400" cap="flat" cmpd="sng" algn="ctr">
          <a:solidFill>
            <a:schemeClr val="accent3">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ts val="3000"/>
            </a:lnSpc>
            <a:spcBef>
              <a:spcPts val="0"/>
            </a:spcBef>
            <a:spcAft>
              <a:spcPts val="0"/>
            </a:spcAft>
            <a:buChar char="•"/>
          </a:pPr>
          <a:r>
            <a:rPr lang="zh-CN" altLang="en-US" sz="1800" b="1" kern="1200" dirty="0">
              <a:latin typeface="微软雅黑" panose="020B0503020204020204" pitchFamily="34" charset="-122"/>
              <a:ea typeface="微软雅黑" panose="020B0503020204020204" pitchFamily="34" charset="-122"/>
            </a:rPr>
            <a:t>控制层面、数据层面、协议的实现都垂直集成在一个机器里。</a:t>
          </a:r>
        </a:p>
        <a:p>
          <a:pPr marL="171450" lvl="1" indent="-171450" algn="l" defTabSz="800100">
            <a:lnSpc>
              <a:spcPts val="3000"/>
            </a:lnSpc>
            <a:spcBef>
              <a:spcPts val="0"/>
            </a:spcBef>
            <a:spcAft>
              <a:spcPts val="0"/>
            </a:spcAft>
            <a:buChar char="•"/>
          </a:pPr>
          <a:r>
            <a:rPr lang="zh-CN" altLang="en-US" sz="1800" b="1" kern="1200" dirty="0">
              <a:latin typeface="微软雅黑" panose="020B0503020204020204" pitchFamily="34" charset="-122"/>
              <a:ea typeface="微软雅黑" panose="020B0503020204020204" pitchFamily="34" charset="-122"/>
            </a:rPr>
            <a:t>由单独的厂商提供。</a:t>
          </a:r>
        </a:p>
      </dsp:txBody>
      <dsp:txXfrm>
        <a:off x="3537804" y="812955"/>
        <a:ext cx="3103308" cy="2152079"/>
      </dsp:txXfrm>
    </dsp:sp>
  </dsp:spTree>
</dsp:drawing>
</file>

<file path=ppt/diagrams/layout1.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05/8/layout/default#1">
  <dgm:title val=""/>
  <dgm:desc val=""/>
  <dgm:catLst>
    <dgm:cat type="list" pri="4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3.xml><?xml version="1.0" encoding="utf-8"?>
<dgm:layoutDef xmlns:dgm="http://schemas.openxmlformats.org/drawingml/2006/diagram" xmlns:a="http://schemas.openxmlformats.org/drawingml/2006/main" uniqueId="urn:microsoft.com/office/officeart/2009/3/layout/PlusandMinus">
  <dgm:title val=""/>
  <dgm:desc val=""/>
  <dgm:catLst>
    <dgm:cat type="relationship" pri="3600"/>
  </dgm:catLst>
  <dgm:samp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clrData>
  <dgm:layoutNode name="Name0">
    <dgm:varLst>
      <dgm:chMax val="2"/>
      <dgm:chPref val="2"/>
      <dgm:dir/>
      <dgm:animOne/>
      <dgm:resizeHandles val="exact"/>
    </dgm:varLst>
    <dgm:alg type="composite">
      <dgm:param type="ar" val="1.8238"/>
    </dgm:alg>
    <dgm:shape xmlns:r="http://schemas.openxmlformats.org/officeDocument/2006/relationships" r:blip="">
      <dgm:adjLst/>
    </dgm:shape>
    <dgm:choose name="Name1">
      <dgm:if name="Name2" func="var" arg="dir" op="equ" val="norm">
        <dgm:constrLst>
          <dgm:constr type="primFontSz" for="des" ptType="node" op="equ" val="65"/>
          <dgm:constr type="l" for="ch" forName="Background" refType="w" fact="0.09"/>
          <dgm:constr type="t" for="ch" forName="Background" refType="h" fact="0.1641"/>
          <dgm:constr type="w" for="ch" forName="Background" refType="w" fact="0.87"/>
          <dgm:constr type="h" for="ch" forName="Background" refType="h" fact="0.82"/>
          <dgm:constr type="l" for="ch" forName="ParentText1" refType="w" fact="0.116"/>
          <dgm:constr type="t" for="ch" forName="ParentText1" refType="h" fact="0.26"/>
          <dgm:constr type="w" for="ch" forName="ParentText1" refType="w" fact="0.404"/>
          <dgm:constr type="h" for="ch" forName="ParentText1" refType="h" fact="0.7015"/>
          <dgm:constr type="l" for="ch" forName="ParentText2" refType="w" fact="0.529"/>
          <dgm:constr type="t" for="ch" forName="ParentText2" refType="h" fact="0.26"/>
          <dgm:constr type="w" for="ch" forName="ParentText2" refType="w" fact="0.404"/>
          <dgm:constr type="h" for="ch" forName="ParentText2" refType="h" fact="0.7015"/>
          <dgm:constr type="l" for="ch" forName="Plus" refType="w" fact="0"/>
          <dgm:constr type="t" for="ch" forName="Plus" refType="h" fact="0"/>
          <dgm:constr type="w" for="ch" forName="Plus" refType="w" fact="0.17"/>
          <dgm:constr type="h" for="ch" forName="Plus" refType="w" refFor="ch" refForName="Plus"/>
          <dgm:constr type="l" for="ch" forName="Minus" refType="w" fact="0.84"/>
          <dgm:constr type="t" for="ch" forName="Minus" refType="h" fact="0.1115"/>
          <dgm:constr type="w" for="ch" forName="Minus" refType="w" fact="0.16"/>
          <dgm:constr type="h" for="ch" forName="Minus" refType="h" fact="0.1"/>
          <dgm:constr type="l" for="ch" forName="Divider" refType="w" fact="0.525"/>
          <dgm:constr type="t" for="ch" forName="Divider" refType="h" fact="0.2615"/>
          <dgm:constr type="w" for="ch" forName="Divider" refType="w" fact="0.0001"/>
          <dgm:constr type="h" for="ch" forName="Divider" refType="h" fact="0.67"/>
        </dgm:constrLst>
      </dgm:if>
      <dgm:else name="Name3">
        <dgm:constrLst>
          <dgm:constr type="primFontSz" for="des" ptType="node" op="equ" val="65"/>
          <dgm:constr type="r" for="ch" forName="Background" refType="w" fact="-0.09"/>
          <dgm:constr type="t" for="ch" forName="Background" refType="h" fact="0.1641"/>
          <dgm:constr type="w" for="ch" forName="Background" refType="w" fact="0.87"/>
          <dgm:constr type="h" for="ch" forName="Background" refType="h" fact="0.82"/>
          <dgm:constr type="r" for="ch" forName="ParentText1" refType="w" fact="-0.116"/>
          <dgm:constr type="t" for="ch" forName="ParentText1" refType="h" fact="0.26"/>
          <dgm:constr type="w" for="ch" forName="ParentText1" refType="w" fact="0.404"/>
          <dgm:constr type="h" for="ch" forName="ParentText1" refType="h" fact="0.7015"/>
          <dgm:constr type="r" for="ch" forName="ParentText2" refType="w" fact="-0.529"/>
          <dgm:constr type="t" for="ch" forName="ParentText2" refType="h" fact="0.26"/>
          <dgm:constr type="w" for="ch" forName="ParentText2" refType="w" fact="0.404"/>
          <dgm:constr type="h" for="ch" forName="ParentText2" refType="h" fact="0.7015"/>
          <dgm:constr type="r" for="ch" forName="Plus" refType="w" fact="0"/>
          <dgm:constr type="t" for="ch" forName="Plus" refType="h" fact="0"/>
          <dgm:constr type="w" for="ch" forName="Plus" refType="w" fact="0.17"/>
          <dgm:constr type="h" for="ch" forName="Plus" refType="w" refFor="ch" refForName="Plus"/>
          <dgm:constr type="r" for="ch" forName="Minus" refType="w" fact="-0.84"/>
          <dgm:constr type="t" for="ch" forName="Minus" refType="h" fact="0.1115"/>
          <dgm:constr type="w" for="ch" forName="Minus" refType="w" fact="0.16"/>
          <dgm:constr type="h" for="ch" forName="Minus" refType="h" fact="0.1"/>
          <dgm:constr type="r" for="ch" forName="Divider" refType="w" fact="-0.525"/>
          <dgm:constr type="t" for="ch" forName="Divider" refType="h" fact="0.2615"/>
          <dgm:constr type="w" for="ch" forName="Divider" refType="w" fact="0.0001"/>
          <dgm:constr type="h" for="ch" forName="Divider" refType="h" fact="0.67"/>
        </dgm:constrLst>
      </dgm:else>
    </dgm:choose>
    <dgm:layoutNode name="Background" styleLbl="bgImgPlace1">
      <dgm:alg type="sp"/>
      <dgm:shape xmlns:r="http://schemas.openxmlformats.org/officeDocument/2006/relationships" type="rect" r:blip="">
        <dgm:adjLst/>
      </dgm:shape>
      <dgm:presOf/>
    </dgm:layoutNode>
    <dgm:layoutNode name="ParentText1" styleLbl="revTx">
      <dgm:varLst>
        <dgm:chMax val="0"/>
        <dgm:chPref val="0"/>
        <dgm:bulletEnabled val="1"/>
      </dgm:varLst>
      <dgm:alg type="tx">
        <dgm:param type="parTxLTRAlign" val="l"/>
        <dgm:param type="txAnchorVert" val="t"/>
      </dgm:alg>
      <dgm:shape xmlns:r="http://schemas.openxmlformats.org/officeDocument/2006/relationships" type="rect" r:blip="">
        <dgm:adjLst/>
      </dgm:shape>
      <dgm:presOf axis="ch desOrSelf" ptType="node node" st="1 1" cnt="1 0"/>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ParentText2" styleLbl="revTx">
      <dgm:varLst>
        <dgm:chMax val="0"/>
        <dgm:chPref val="0"/>
        <dgm:bulletEnabled val="1"/>
      </dgm:varLst>
      <dgm:alg type="tx">
        <dgm:param type="parTxLTRAlign" val="l"/>
        <dgm:param type="txAnchorVert" val="t"/>
      </dgm:alg>
      <dgm:shape xmlns:r="http://schemas.openxmlformats.org/officeDocument/2006/relationships" type="rect" r:blip="">
        <dgm:adjLst/>
      </dgm:shape>
      <dgm:presOf axis="ch desOrSelf" ptType="node node" st="2 1" cnt="1 0"/>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Plus" styleLbl="alignNode1">
      <dgm:alg type="sp"/>
      <dgm:shape xmlns:r="http://schemas.openxmlformats.org/officeDocument/2006/relationships" type="plus" r:blip="">
        <dgm:adjLst>
          <dgm:adj idx="1" val="0.3281"/>
        </dgm:adjLst>
      </dgm:shape>
      <dgm:presOf/>
    </dgm:layoutNode>
    <dgm:layoutNode name="Minus" styleLbl="alignNode1">
      <dgm:alg type="sp"/>
      <dgm:shape xmlns:r="http://schemas.openxmlformats.org/officeDocument/2006/relationships" type="rect" r:blip="">
        <dgm:adjLst/>
      </dgm:shape>
      <dgm:presOf/>
    </dgm:layoutNode>
    <dgm:layoutNode name="Divider" styleLbl="parChTrans1D1">
      <dgm:alg type="sp"/>
      <dgm:shape xmlns:r="http://schemas.openxmlformats.org/officeDocument/2006/relationships" type="line" r:blip="">
        <dgm:adjLst/>
      </dgm:shape>
      <dgm:presOf/>
    </dgm:layoutNode>
  </dgm:layoutNode>
</dgm:layoutDef>
</file>

<file path=ppt/diagrams/layout4.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5.xml><?xml version="1.0" encoding="utf-8"?>
<dgm:layoutDef xmlns:dgm="http://schemas.openxmlformats.org/drawingml/2006/diagram" xmlns:a="http://schemas.openxmlformats.org/drawingml/2006/main" uniqueId="urn:microsoft.com/office/officeart/2008/layout/AlternatingHexagons">
  <dgm:title val=""/>
  <dgm:desc val=""/>
  <dgm:catLst>
    <dgm:cat type="list" pri="1500"/>
  </dgm:catLst>
  <dgm:samp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1" destOrd="0"/>
        <dgm:cxn modelId="32" srcId="30" destId="31" srcOrd="0"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chMax/>
      <dgm:chPref/>
      <dgm:dir/>
      <dgm:animLvl val="lvl"/>
    </dgm:varLst>
    <dgm:alg type="lin">
      <dgm:param type="linDir" val="fromT"/>
    </dgm:alg>
    <dgm:shape xmlns:r="http://schemas.openxmlformats.org/officeDocument/2006/relationships" r:blip="">
      <dgm:adjLst/>
    </dgm:shape>
    <dgm:constrLst>
      <dgm:constr type="primFontSz" for="des" forName="Parent1" val="65"/>
      <dgm:constr type="primFontSz" for="des" forName="Childtext1" refType="primFontSz" refFor="des" refForName="Parent1" op="lte"/>
      <dgm:constr type="w" for="ch" forName="composite" refType="w"/>
      <dgm:constr type="h" for="ch" forName="composite" refType="h"/>
      <dgm:constr type="h" for="ch" forName="spaceBetweenRectangles" refType="w" refFor="ch" refForName="composite" fact="-0.042"/>
      <dgm:constr type="sp" refType="h" refFor="ch" refForName="composite" op="equ" fact="0.1"/>
    </dgm:constrLst>
    <dgm:forEach name="nodesForEach" axis="ch" ptType="node">
      <dgm:layoutNode name="composite">
        <dgm:alg type="composite">
          <dgm:param type="ar" val="3.6"/>
        </dgm:alg>
        <dgm:shape xmlns:r="http://schemas.openxmlformats.org/officeDocument/2006/relationships" r:blip="">
          <dgm:adjLst/>
        </dgm:shape>
        <dgm:choose name="Name1">
          <dgm:if name="Name2" func="var" arg="dir" op="equ" val="norm">
            <dgm:choose name="Name3">
              <dgm:if name="Name4" axis="self" ptType="node" func="posOdd" op="equ" val="1">
                <dgm:constrLst>
                  <dgm:constr type="l" for="ch" forName="Accent1" refType="w" fact="0.18"/>
                  <dgm:constr type="t" for="ch" forName="Accent1" refType="h" fact="0"/>
                  <dgm:constr type="h" for="ch" forName="Accent1" refType="h"/>
                  <dgm:constr type="w" for="ch" forName="Accent1" refType="h" fact="0.87"/>
                  <dgm:constr type="l" for="ch" forName="Accent1Text" refType="w" fact="0.18"/>
                  <dgm:constr type="t" for="ch" forName="Accent1Text" refType="h" fact="0"/>
                  <dgm:constr type="h" for="ch" forName="Accent1Text" refType="h"/>
                  <dgm:constr type="w" for="ch" forName="Accent1Text" refType="h" fact="0.87"/>
                  <dgm:constr type="l" for="ch" forName="Parent1" refType="w" fact="0.441"/>
                  <dgm:constr type="t" for="ch" forName="Parent1" refType="h" fact="0"/>
                  <dgm:constr type="h" for="ch" forName="Parent1" refType="h"/>
                  <dgm:constr type="w" for="ch" forName="Parent1" refType="h" fact="0.87"/>
                  <dgm:constr type="l" for="ch" forName="Childtext1" refType="w" fact="0.69"/>
                  <dgm:constr type="t" for="ch" forName="Childtext1" refType="h" fact="0.2"/>
                  <dgm:constr type="w" for="ch" forName="Childtext1" refType="w" fact="0.31"/>
                  <dgm:constr type="h" for="ch" forName="Childtext1" refType="h" fact="0.6"/>
                  <dgm:constr type="l" for="ch" forName="BalanceSpacing" refType="w" fact="0"/>
                  <dgm:constr type="t" for="ch" forName="BalanceSpacing" refType="h" fact="0"/>
                  <dgm:constr type="w" for="ch" forName="BalanceSpacing" refType="w"/>
                  <dgm:constr type="h" for="ch" forName="BalanceSpacing" refType="h" fact="0.1"/>
                  <dgm:constr type="l" for="ch" forName="BalanceSpacing1" refType="w" fact="0.69"/>
                  <dgm:constr type="t" for="ch" forName="BalanceSpacing1" refType="h" fact="0.2"/>
                  <dgm:constr type="w" for="ch" forName="BalanceSpacing1" refType="w" fact="0.31"/>
                  <dgm:constr type="h" for="ch" forName="BalanceSpacing1" refType="h" fact="0.6"/>
                </dgm:constrLst>
              </dgm:if>
              <dgm:else name="Name5">
                <dgm:constrLst>
                  <dgm:constr type="l" for="ch" forName="Accent1" refType="w" fact="0.571"/>
                  <dgm:constr type="t" for="ch" forName="Accent1" refType="h" fact="0"/>
                  <dgm:constr type="h" for="ch" forName="Accent1" refType="h"/>
                  <dgm:constr type="w" for="ch" forName="Accent1" refType="h" fact="0.87"/>
                  <dgm:constr type="l" for="ch" forName="Accent1Text" refType="w" fact="0.571"/>
                  <dgm:constr type="t" for="ch" forName="Accent1Text" refType="h" fact="0"/>
                  <dgm:constr type="h" for="ch" forName="Accent1Text" refType="h"/>
                  <dgm:constr type="w" for="ch" forName="Accent1Text" refType="h" fact="0.87"/>
                  <dgm:constr type="l" for="ch" forName="Parent1" refType="w" fact="0.31"/>
                  <dgm:constr type="t" for="ch" forName="Parent1" refType="h" fact="0"/>
                  <dgm:constr type="h" for="ch" forName="Parent1" refType="h"/>
                  <dgm:constr type="w" for="ch" forName="Parent1" refType="h" fact="0.87"/>
                  <dgm:constr type="l" for="ch" forName="Childtext1" refType="w" fact="0"/>
                  <dgm:constr type="t" for="ch" forName="Childtext1" refType="h" fact="0.2"/>
                  <dgm:constr type="w" for="ch" forName="Childtext1" refType="w" fact="0.3"/>
                  <dgm:constr type="h" for="ch" forName="Childtext1" refType="h" fact="0.6"/>
                  <dgm:constr type="l" for="ch" forName="BalanceSpacing" refType="w" fact="0.82"/>
                  <dgm:constr type="t" for="ch" forName="BalanceSpacing" refType="h" fact="0"/>
                  <dgm:constr type="w" for="ch" forName="BalanceSpacing" refType="w" fact="0.18"/>
                  <dgm:constr type="h" for="ch" forName="BalanceSpacing" refType="h"/>
                  <dgm:constr type="l" for="ch" forName="BalanceSpacing1" refType="w" fact="0"/>
                  <dgm:constr type="t" for="ch" forName="BalanceSpacing1" refType="h" fact="0.2"/>
                  <dgm:constr type="w" for="ch" forName="BalanceSpacing1" refType="w" fact="0.3"/>
                  <dgm:constr type="h" for="ch" forName="BalanceSpacing1" refType="h" fact="0.6"/>
                </dgm:constrLst>
              </dgm:else>
            </dgm:choose>
          </dgm:if>
          <dgm:else name="Name6">
            <dgm:choose name="Name7">
              <dgm:if name="Name8" axis="self" ptType="node" func="posOdd" op="equ" val="1">
                <dgm:constrLst>
                  <dgm:constr type="l" for="ch" forName="Accent1" refType="w" fact="0.571"/>
                  <dgm:constr type="t" for="ch" forName="Accent1" refType="h" fact="0"/>
                  <dgm:constr type="h" for="ch" forName="Accent1" refType="h"/>
                  <dgm:constr type="w" for="ch" forName="Accent1" refType="h" fact="0.87"/>
                  <dgm:constr type="l" for="ch" forName="Accent1Text" refType="w" fact="0.571"/>
                  <dgm:constr type="t" for="ch" forName="Accent1Text" refType="h" fact="0"/>
                  <dgm:constr type="h" for="ch" forName="Accent1Text" refType="h"/>
                  <dgm:constr type="w" for="ch" forName="Accent1Text" refType="h" fact="0.87"/>
                  <dgm:constr type="l" for="ch" forName="Parent1" refType="w" fact="0.31"/>
                  <dgm:constr type="t" for="ch" forName="Parent1" refType="h" fact="0"/>
                  <dgm:constr type="h" for="ch" forName="Parent1" refType="h"/>
                  <dgm:constr type="w" for="ch" forName="Parent1" refType="h" fact="0.87"/>
                  <dgm:constr type="l" for="ch" forName="Childtext1" refType="w" fact="0"/>
                  <dgm:constr type="t" for="ch" forName="Childtext1" refType="h" fact="0.2"/>
                  <dgm:constr type="w" for="ch" forName="Childtext1" refType="w" fact="0.3"/>
                  <dgm:constr type="h" for="ch" forName="Childtext1" refType="h" fact="0.6"/>
                  <dgm:constr type="l" for="ch" forName="BalanceSpacing" refType="w" fact="0.82"/>
                  <dgm:constr type="t" for="ch" forName="BalanceSpacing" refType="h" fact="0"/>
                  <dgm:constr type="w" for="ch" forName="BalanceSpacing" refType="w" fact="0.18"/>
                  <dgm:constr type="h" for="ch" forName="BalanceSpacing" refType="h"/>
                </dgm:constrLst>
              </dgm:if>
              <dgm:else name="Name9">
                <dgm:constrLst>
                  <dgm:constr type="l" for="ch" forName="Accent1" refType="w" fact="0.18"/>
                  <dgm:constr type="t" for="ch" forName="Accent1" refType="h" fact="0"/>
                  <dgm:constr type="h" for="ch" forName="Accent1" refType="h"/>
                  <dgm:constr type="w" for="ch" forName="Accent1" refType="h" fact="0.87"/>
                  <dgm:constr type="l" for="ch" forName="Accent1Text" refType="w" fact="0.18"/>
                  <dgm:constr type="t" for="ch" forName="Accent1Text" refType="h" fact="0"/>
                  <dgm:constr type="h" for="ch" forName="Accent1Text" refType="h"/>
                  <dgm:constr type="w" for="ch" forName="Accent1Text" refType="h" fact="0.87"/>
                  <dgm:constr type="l" for="ch" forName="Parent1" refType="w" fact="0.441"/>
                  <dgm:constr type="t" for="ch" forName="Parent1" refType="h" fact="0"/>
                  <dgm:constr type="h" for="ch" forName="Parent1" refType="h"/>
                  <dgm:constr type="w" for="ch" forName="Parent1" refType="h" fact="0.87"/>
                  <dgm:constr type="l" for="ch" forName="Childtext1" refType="w" fact="0.69"/>
                  <dgm:constr type="t" for="ch" forName="Childtext1" refType="h" fact="0.2"/>
                  <dgm:constr type="w" for="ch" forName="Childtext1" refType="w" fact="0.31"/>
                  <dgm:constr type="h" for="ch" forName="Childtext1" refType="h" fact="0.6"/>
                  <dgm:constr type="l" for="ch" forName="BalanceSpacing" refType="w" fact="0"/>
                  <dgm:constr type="t" for="ch" forName="BalanceSpacing" refType="h" fact="0"/>
                  <dgm:constr type="w" for="ch" forName="BalanceSpacing" refType="w" fact="0.18"/>
                  <dgm:constr type="h" for="ch" forName="BalanceSpacing" refType="h"/>
                </dgm:constrLst>
              </dgm:else>
            </dgm:choose>
          </dgm:else>
        </dgm:choose>
        <dgm:layoutNode name="Parent1" styleLbl="node1">
          <dgm:varLst>
            <dgm:chMax val="1"/>
            <dgm:chPref val="1"/>
            <dgm:bulletEnabled val="1"/>
          </dgm:varLst>
          <dgm:alg type="tx"/>
          <dgm:shape xmlns:r="http://schemas.openxmlformats.org/officeDocument/2006/relationships" rot="90" type="hexagon" r:blip="">
            <dgm:adjLst>
              <dgm:adj idx="1" val="0.25"/>
              <dgm:adj idx="2" val="1.1547"/>
            </dgm:adjLst>
          </dgm:shape>
          <dgm:presOf axis="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Childtext1" styleLbl="revTx">
          <dgm:varLst>
            <dgm:chMax val="0"/>
            <dgm:chPref val="0"/>
            <dgm:bulletEnabled val="1"/>
          </dgm:varLst>
          <dgm:choose name="Name10">
            <dgm:if name="Name11" func="var" arg="dir" op="equ" val="norm">
              <dgm:choose name="Name12">
                <dgm:if name="Name13" axis="self" ptType="node" func="posOdd" op="equ" val="1">
                  <dgm:alg type="tx">
                    <dgm:param type="parTxLTRAlign" val="l"/>
                  </dgm:alg>
                </dgm:if>
                <dgm:else name="Name14">
                  <dgm:alg type="tx">
                    <dgm:param type="parTxLTRAlign" val="r"/>
                  </dgm:alg>
                </dgm:else>
              </dgm:choose>
            </dgm:if>
            <dgm:else name="Name15">
              <dgm:choose name="Name16">
                <dgm:if name="Name17" axis="self" ptType="node" func="posOdd" op="equ" val="1">
                  <dgm:alg type="tx">
                    <dgm:param type="parTxLTRAlign" val="r"/>
                  </dgm:alg>
                </dgm:if>
                <dgm:else name="Name18">
                  <dgm:alg type="tx">
                    <dgm:param type="parTxLTRAlign" val="l"/>
                  </dgm:alg>
                </dgm:else>
              </dgm:choose>
            </dgm:else>
          </dgm:choose>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BalanceSpacing">
          <dgm:alg type="sp"/>
          <dgm:shape xmlns:r="http://schemas.openxmlformats.org/officeDocument/2006/relationships" r:blip="">
            <dgm:adjLst/>
          </dgm:shape>
        </dgm:layoutNode>
        <dgm:layoutNode name="BalanceSpacing1">
          <dgm:alg type="sp"/>
          <dgm:shape xmlns:r="http://schemas.openxmlformats.org/officeDocument/2006/relationships" r:blip="">
            <dgm:adjLst/>
          </dgm:shape>
        </dgm:layoutNode>
        <dgm:forEach name="Name19" axis="followSib" ptType="sibTrans" hideLastTrans="0" cnt="1">
          <dgm:layoutNode name="Accent1Text" styleLbl="node1">
            <dgm:alg type="tx"/>
            <dgm:shape xmlns:r="http://schemas.openxmlformats.org/officeDocument/2006/relationships" rot="90" type="hexagon" r:blip="">
              <dgm:adjLst>
                <dgm:adj idx="1" val="0.25"/>
                <dgm:adj idx="2" val="1.1547"/>
              </dgm:adjLst>
            </dgm:shape>
            <dgm:presOf axis="self" ptType="sibTrans"/>
            <dgm:constrLst>
              <dgm:constr type="lMarg"/>
              <dgm:constr type="rMarg"/>
              <dgm:constr type="tMarg"/>
              <dgm:constr type="bMarg"/>
            </dgm:constrLst>
            <dgm:ruleLst>
              <dgm:rule type="primFontSz" val="5" fact="NaN" max="NaN"/>
            </dgm:ruleLst>
          </dgm:layoutNode>
        </dgm:forEach>
      </dgm:layoutNode>
      <dgm:forEach name="Name2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7.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8.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9.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10.xml><?xml version="1.0" encoding="utf-8"?>
<dgm:layoutDef xmlns:dgm="http://schemas.openxmlformats.org/drawingml/2006/diagram" xmlns:a="http://schemas.openxmlformats.org/drawingml/2006/main" uniqueId="urn:microsoft.com/office/officeart/2005/8/layout/vList5">
  <dgm:title val=""/>
  <dgm:desc val=""/>
  <dgm:catLst>
    <dgm:cat type="list" pri="15000"/>
    <dgm:cat type="convert" pri="2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choose name="Name1">
      <dgm:if name="Name2" func="var" arg="dir" op="equ" val="norm">
        <dgm:alg type="lin">
          <dgm:param type="linDir" val="fromT"/>
          <dgm:param type="nodeHorzAlign" val="l"/>
        </dgm:alg>
      </dgm:if>
      <dgm:else name="Name3">
        <dgm:alg type="lin">
          <dgm:param type="linDir" val="fromT"/>
          <dgm:param type="nodeHorzAlign" val="r"/>
        </dgm:alg>
      </dgm:else>
    </dgm:choose>
    <dgm:shape xmlns:r="http://schemas.openxmlformats.org/officeDocument/2006/relationships" r:blip="">
      <dgm:adjLst/>
    </dgm:shape>
    <dgm:presOf/>
    <dgm:constrLst>
      <dgm:constr type="h" for="ch" forName="linNode" refType="h"/>
      <dgm:constr type="w" for="ch" forName="linNode" refType="w"/>
      <dgm:constr type="h" for="ch" forName="sp" refType="h" fact="0.05"/>
      <dgm:constr type="primFontSz" for="des" forName="parentText" op="equ" val="65"/>
      <dgm:constr type="secFontSz" for="des" forName="descendantText" op="equ"/>
    </dgm:constrLst>
    <dgm:ruleLst/>
    <dgm:forEach name="Name4" axis="ch" ptType="node">
      <dgm:layoutNode name="linNode">
        <dgm:choose name="Name5">
          <dgm:if name="Name6" func="var" arg="dir" op="equ" val="norm">
            <dgm:alg type="lin">
              <dgm:param type="linDir" val="fromL"/>
            </dgm:alg>
          </dgm:if>
          <dgm:else name="Name7">
            <dgm:alg type="lin">
              <dgm:param type="linDir" val="fromR"/>
            </dgm:alg>
          </dgm:else>
        </dgm:choose>
        <dgm:shape xmlns:r="http://schemas.openxmlformats.org/officeDocument/2006/relationships" r:blip="">
          <dgm:adjLst/>
        </dgm:shape>
        <dgm:presOf/>
        <dgm:constrLst>
          <dgm:constr type="w" for="ch" forName="parentText" refType="w" fact="0.36"/>
          <dgm:constr type="w" for="ch" forName="descendantText" refType="w" fact="0.64"/>
          <dgm:constr type="h" for="ch" forName="parentText" refType="h"/>
          <dgm:constr type="h" for="ch" forName="descendantText" refType="h" refFor="ch" refForName="parentText" fact="0.8"/>
        </dgm:constrLst>
        <dgm:ruleLst/>
        <dgm:layoutNode name="parentText">
          <dgm:varLst>
            <dgm:chMax val="1"/>
            <dgm:bulletEnabled val="1"/>
          </dgm:varLst>
          <dgm:alg type="tx"/>
          <dgm:shape xmlns:r="http://schemas.openxmlformats.org/officeDocument/2006/relationships" type="roundRect" r:blip="" zOrderOff="3">
            <dgm:adjLst/>
          </dgm:shape>
          <dgm:presOf axis="self" ptType="node"/>
          <dgm:constrLst>
            <dgm:constr type="tMarg" refType="primFontSz" fact="0.15"/>
            <dgm:constr type="bMarg" refType="primFontSz" fact="0.15"/>
            <dgm:constr type="lMarg" refType="primFontSz" fact="0.3"/>
            <dgm:constr type="rMarg" refType="primFontSz" fact="0.3"/>
          </dgm:constrLst>
          <dgm:ruleLst>
            <dgm:rule type="primFontSz" val="5" fact="NaN" max="NaN"/>
          </dgm:ruleLst>
        </dgm:layoutNode>
        <dgm:choose name="Name8">
          <dgm:if name="Name9" axis="ch" ptType="node" func="cnt" op="gte" val="1">
            <dgm:layoutNode name="descendantText" styleLbl="alignAccFollowNode1">
              <dgm:varLst>
                <dgm:bulletEnabled val="1"/>
              </dgm:varLst>
              <dgm:alg type="tx">
                <dgm:param type="stBulletLvl" val="1"/>
                <dgm:param type="txAnchorVertCh" val="mid"/>
              </dgm:alg>
              <dgm:choose name="Name10">
                <dgm:if name="Name11" func="var" arg="dir" op="equ" val="norm">
                  <dgm:shape xmlns:r="http://schemas.openxmlformats.org/officeDocument/2006/relationships" rot="90" type="round2SameRect" r:blip="">
                    <dgm:adjLst/>
                  </dgm:shape>
                </dgm:if>
                <dgm:else name="Name12">
                  <dgm:shape xmlns:r="http://schemas.openxmlformats.org/officeDocument/2006/relationships" rot="-90" type="round2SameRect" r:blip="">
                    <dgm:adjLst/>
                  </dgm:shape>
                </dgm:else>
              </dgm:choose>
              <dgm:presOf axis="des" ptType="node"/>
              <dgm:constrLst>
                <dgm:constr type="secFontSz" val="65"/>
                <dgm:constr type="primFontSz" refType="secFontSz"/>
                <dgm:constr type="lMarg" refType="secFontSz" fact="0.3"/>
                <dgm:constr type="rMarg" refType="secFontSz" fact="0.3"/>
                <dgm:constr type="tMarg" refType="secFontSz" fact="0.15"/>
                <dgm:constr type="bMarg" refType="secFontSz" fact="0.15"/>
              </dgm:constrLst>
              <dgm:ruleLst>
                <dgm:rule type="secFontSz" val="5" fact="NaN" max="NaN"/>
              </dgm:ruleLst>
            </dgm:layoutNode>
          </dgm:if>
          <dgm:else name="Name13"/>
        </dgm:choose>
      </dgm:layoutNode>
      <dgm:forEach name="Name14" axis="followSib" ptType="sibTrans" cnt="1">
        <dgm:layoutNode name="sp">
          <dgm:alg type="sp"/>
          <dgm:shape xmlns:r="http://schemas.openxmlformats.org/officeDocument/2006/relationships" r:blip="">
            <dgm:adjLst/>
          </dgm:shape>
          <dgm:presOf/>
          <dgm:constrLst/>
          <dgm:ruleLst/>
        </dgm:layoutNode>
      </dgm:forEach>
    </dgm:forEach>
  </dgm:layoutNode>
</dgm:layoutDef>
</file>

<file path=ppt/diagrams/layout11.xml><?xml version="1.0" encoding="utf-8"?>
<dgm:layoutDef xmlns:dgm="http://schemas.openxmlformats.org/drawingml/2006/diagram" xmlns:a="http://schemas.openxmlformats.org/drawingml/2006/main" uniqueId="urn:microsoft.com/office/officeart/2005/8/layout/vList3#1">
  <dgm:title val=""/>
  <dgm:desc val=""/>
  <dgm:catLst>
    <dgm:cat type="list" pri="14000"/>
    <dgm:cat type="convert" pri="3000"/>
    <dgm:cat type="picture" pri="27000"/>
    <dgm:cat type="pictureconvert" pri="27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Flow">
    <dgm:varLst>
      <dgm:dir/>
      <dgm:resizeHandles val="exact"/>
    </dgm:varLst>
    <dgm:alg type="lin">
      <dgm:param type="linDir" val="fromT"/>
      <dgm:param type="vertAlign" val="mid"/>
      <dgm:param type="horzAlign" val="ctr"/>
    </dgm:alg>
    <dgm:shape xmlns:r="http://schemas.openxmlformats.org/officeDocument/2006/relationships" r:blip="">
      <dgm:adjLst/>
    </dgm:shape>
    <dgm:presOf/>
    <dgm:constrLst>
      <dgm:constr type="w" for="ch" forName="composite" refType="w"/>
      <dgm:constr type="h" for="ch" forName="composite" refType="h"/>
      <dgm:constr type="h" for="ch" forName="spacing" refType="h" refFor="ch" refForName="composite" fact="0.25"/>
      <dgm:constr type="h" for="ch" forName="spacing" refType="w" op="lte" fact="0.1"/>
      <dgm:constr type="primFontSz" for="des" ptType="node"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w" for="ch" forName="imgShp" refType="w" fact="0.335"/>
              <dgm:constr type="h" for="ch" forName="imgShp" refType="w" refFor="ch" refForName="imgShp" op="equ"/>
              <dgm:constr type="h" for="ch" forName="imgShp" refType="h" op="lte"/>
              <dgm:constr type="ctrY" for="ch" forName="imgShp" refType="h" fact="0.5"/>
              <dgm:constr type="l" for="ch" forName="imgShp"/>
              <dgm:constr type="w" for="ch" forName="txShp" refType="w" op="equ" fact="0.665"/>
              <dgm:constr type="h" for="ch" forName="txShp" refType="h" refFor="ch" refForName="imgShp" op="equ"/>
              <dgm:constr type="ctrY" for="ch" forName="txShp" refType="h" fact="0.5"/>
              <dgm:constr type="l" for="ch" forName="txShp" refType="w" refFor="ch" refForName="imgShp" fact="0.5"/>
              <dgm:constr type="lMarg" for="ch" forName="txShp" refType="w" refFor="ch" refForName="imgShp" fact="1.25"/>
            </dgm:constrLst>
          </dgm:if>
          <dgm:else name="Name3">
            <dgm:constrLst>
              <dgm:constr type="w" for="ch" forName="imgShp" refType="w" fact="0.335"/>
              <dgm:constr type="h" for="ch" forName="imgShp" refType="w" refFor="ch" refForName="imgShp" op="equ"/>
              <dgm:constr type="h" for="ch" forName="imgShp" refType="h" op="lte"/>
              <dgm:constr type="ctrY" for="ch" forName="imgShp" refType="h" fact="0.5"/>
              <dgm:constr type="r" for="ch" forName="imgShp" refType="w"/>
              <dgm:constr type="w" for="ch" forName="txShp" refType="w" op="equ" fact="0.665"/>
              <dgm:constr type="h" for="ch" forName="txShp" refType="h" refFor="ch" refForName="imgShp" op="equ"/>
              <dgm:constr type="ctrY" for="ch" forName="txShp" refType="h" fact="0.5"/>
              <dgm:constr type="r" for="ch" forName="txShp" refType="ctrX" refFor="ch" refForName="imgShp"/>
              <dgm:constr type="rMarg" for="ch" forName="txShp" refType="w" refFor="ch" refForName="imgShp" fact="1.25"/>
            </dgm:constrLst>
          </dgm:else>
        </dgm:choose>
        <dgm:ruleLst/>
        <dgm:layoutNode name="imgShp" styleLbl="fgImgPlace1">
          <dgm:alg type="sp"/>
          <dgm:shape xmlns:r="http://schemas.openxmlformats.org/officeDocument/2006/relationships" type="ellipse" r:blip="" blipPhldr="1">
            <dgm:adjLst/>
          </dgm:shape>
          <dgm:presOf/>
          <dgm:constrLst/>
          <dgm:ruleLst/>
        </dgm:layoutNode>
        <dgm:layoutNode name="txShp">
          <dgm:varLst>
            <dgm:bulletEnabled val="1"/>
          </dgm:varLst>
          <dgm:alg type="tx"/>
          <dgm:choose name="Name4">
            <dgm:if name="Name5" func="var" arg="dir" op="equ" val="norm">
              <dgm:shape xmlns:r="http://schemas.openxmlformats.org/officeDocument/2006/relationships" rot="180" type="homePlate" r:blip="" zOrderOff="-1">
                <dgm:adjLst/>
              </dgm:shape>
            </dgm:if>
            <dgm:else name="Name6">
              <dgm:shape xmlns:r="http://schemas.openxmlformats.org/officeDocument/2006/relationships" type="homePlate" r:blip="" zOrderOff="-1">
                <dgm:adjLst/>
              </dgm:shape>
            </dgm:else>
          </dgm:choose>
          <dgm:presOf axis="desOrSelf" ptType="node"/>
          <dgm:constrLst>
            <dgm:constr type="tMarg" refType="primFontSz" fact="0.3"/>
            <dgm:constr type="bMarg" refType="primFontSz" fact="0.3"/>
          </dgm:constrLst>
          <dgm:ruleLst>
            <dgm:rule type="primFontSz" val="5" fact="NaN" max="NaN"/>
          </dgm:ruleLst>
        </dgm:layoutNode>
      </dgm:layoutNode>
      <dgm:forEach name="Name7" axis="followSib" ptType="sibTrans" cnt="1">
        <dgm:layoutNode name="spacing">
          <dgm:alg type="sp"/>
          <dgm:shape xmlns:r="http://schemas.openxmlformats.org/officeDocument/2006/relationships" r:blip="">
            <dgm:adjLst/>
          </dgm:shape>
          <dgm:presOf axis="self"/>
          <dgm:constrLst/>
          <dgm:ruleLst/>
        </dgm:layoutNode>
      </dgm:forEach>
    </dgm:forEach>
  </dgm:layoutNode>
</dgm:layoutDef>
</file>

<file path=ppt/diagrams/layout12.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1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4.xml><?xml version="1.0" encoding="utf-8"?>
<dgm:layoutDef xmlns:dgm="http://schemas.openxmlformats.org/drawingml/2006/diagram" xmlns:a="http://schemas.openxmlformats.org/drawingml/2006/main" uniqueId="urn:microsoft.com/office/officeart/2008/layout/VerticalCurvedList">
  <dgm:title val=""/>
  <dgm:desc val=""/>
  <dgm:catLst>
    <dgm:cat type="list" pri="20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0.8"/>
    </dgm:constrLst>
    <dgm:layoutNode name="Name1">
      <dgm:alg type="composite"/>
      <dgm:shape xmlns:r="http://schemas.openxmlformats.org/officeDocument/2006/relationships" r:blip="">
        <dgm:adjLst/>
      </dgm:shape>
      <dgm:choose name="Name2">
        <dgm:if name="Name3" func="var" arg="dir" op="equ" val="norm">
          <dgm:choose name="Name4">
            <dgm:if name="Name5" axis="ch" ptType="node" func="cnt" op="equ" val="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h" fact="0.225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primFontSz" for="ch" ptType="node" op="equ" val="65"/>
              </dgm:constrLst>
            </dgm:if>
            <dgm:if name="Name6" axis="ch" ptType="node" func="cnt" op="equ" val="2">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h" fact="0.1891"/>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h" fact="0.1891"/>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primFontSz" for="ch" ptType="node" op="equ" val="65"/>
              </dgm:constrLst>
            </dgm:if>
            <dgm:if name="Name7" axis="ch" ptType="node" func="cnt" op="equ" val="3">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h" fact="0.1526"/>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h" fact="0.2253"/>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h" fact="0.1526"/>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primFontSz" for="ch" ptType="node" op="equ" val="65"/>
              </dgm:constrLst>
            </dgm:if>
            <dgm:if name="Name8" axis="ch" ptType="node" func="cnt" op="equ" val="4">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h" fact="0.1268"/>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h" fact="0.215"/>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h" fact="0.21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h" fact="0.126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primFontSz" for="ch" ptType="node" op="equ" val="65"/>
              </dgm:constrLst>
            </dgm:if>
            <dgm:if name="Name9" axis="ch" ptType="node" func="cnt" op="equ" val="5">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h" fact="0.1082"/>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h" fact="0.197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h" fact="0.2253"/>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h" fact="0.197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h" fact="0.1082"/>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primFontSz" for="ch" ptType="node" op="equ" val="65"/>
              </dgm:constrLst>
            </dgm:if>
            <dgm:if name="Name10" axis="ch" ptType="node" func="cnt" op="equ" val="6">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h" fact="0.094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h" fact="0.1809"/>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h" fact="0.220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h" fact="0.2205"/>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h" fact="0.18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h" fact="0.0943"/>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primFontSz" for="ch" ptType="node" op="equ" val="65"/>
              </dgm:constrLst>
            </dgm:if>
            <dgm:else name="Name1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h" fact="0.0835"/>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h" fact="0.165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h" fact="0.2109"/>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h" fact="0.2253"/>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h" fact="0.21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h" fact="0.1658"/>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h" fact="0.0835"/>
                <dgm:constr type="l" for="ch" forName="text_7" refType="ctrX" refFor="ch" refForName="accent_7"/>
                <dgm:constr type="r" for="ch" forName="text_7" refType="w"/>
                <dgm:constr type="w" for="ch" forName="text_7" refType="h" refFor="ch" refForName="text_7" op="gte"/>
                <dgm:constr type="h" for="ch" forName="text_7" refType="h" refFor="ch" refForName="accent_7" fact="0.8"/>
                <dgm:constr type="ctrY" for="ch" forName="text_7" refType="ctrY" refFor="ch" refForName="accent_7"/>
                <dgm:constr type="lMarg" for="ch" forName="text_7" refType="w" refFor="ch" refForName="accent_7" fact="1.8"/>
                <dgm:constr type="primFontSz" for="ch" ptType="node" op="equ" val="65"/>
              </dgm:constrLst>
            </dgm:else>
          </dgm:choose>
        </dgm:if>
        <dgm:else name="Name12">
          <dgm:choose name="Name13">
            <dgm:if name="Name14" axis="ch" ptType="node" func="cnt" op="equ" val="1">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w"/>
                <dgm:constr type="ctrXOff" for="ch" forName="accent_1" refType="h" fact="-0.225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primFontSz" for="ch" ptType="node" op="equ" val="65"/>
              </dgm:constrLst>
            </dgm:if>
            <dgm:if name="Name15" axis="ch" ptType="node" func="cnt" op="equ" val="2">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w"/>
                <dgm:constr type="ctrXOff" for="ch" forName="accent_1" refType="h" fact="-0.1891"/>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w"/>
                <dgm:constr type="ctrXOff" for="ch" forName="accent_2" refType="h" fact="-0.1891"/>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primFontSz" for="ch" ptType="node" op="equ" val="65"/>
              </dgm:constrLst>
            </dgm:if>
            <dgm:if name="Name16" axis="ch" ptType="node" func="cnt" op="equ" val="3">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w"/>
                <dgm:constr type="ctrXOff" for="ch" forName="accent_1" refType="h" fact="-0.1526"/>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w"/>
                <dgm:constr type="ctrXOff" for="ch" forName="accent_2" refType="h" fact="-0.2253"/>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w"/>
                <dgm:constr type="ctrXOff" for="ch" forName="accent_3" refType="h" fact="-0.1526"/>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primFontSz" for="ch" ptType="node" op="equ" val="65"/>
              </dgm:constrLst>
            </dgm:if>
            <dgm:if name="Name17" axis="ch" ptType="node" func="cnt" op="equ" val="4">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w"/>
                <dgm:constr type="ctrXOff" for="ch" forName="accent_1" refType="h" fact="-0.1268"/>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w"/>
                <dgm:constr type="ctrXOff" for="ch" forName="accent_2" refType="h" fact="-0.215"/>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w"/>
                <dgm:constr type="ctrXOff" for="ch" forName="accent_3" refType="h" fact="-0.21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w"/>
                <dgm:constr type="ctrXOff" for="ch" forName="accent_4" refType="h" fact="-0.126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primFontSz" for="ch" ptType="node" op="equ" val="65"/>
              </dgm:constrLst>
            </dgm:if>
            <dgm:if name="Name18" axis="ch" ptType="node" func="cnt" op="equ" val="5">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w"/>
                <dgm:constr type="ctrXOff" for="ch" forName="accent_1" refType="h" fact="-0.1082"/>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w"/>
                <dgm:constr type="ctrXOff" for="ch" forName="accent_2" refType="h" fact="-0.197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w"/>
                <dgm:constr type="ctrXOff" for="ch" forName="accent_3" refType="h" fact="-0.2253"/>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w"/>
                <dgm:constr type="ctrXOff" for="ch" forName="accent_4" refType="h" fact="-0.197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w"/>
                <dgm:constr type="ctrXOff" for="ch" forName="accent_5" refType="h" fact="-0.1082"/>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primFontSz" for="ch" ptType="node" op="equ" val="65"/>
              </dgm:constrLst>
            </dgm:if>
            <dgm:if name="Name19" axis="ch" ptType="node" func="cnt" op="equ" val="6">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w"/>
                <dgm:constr type="ctrXOff" for="ch" forName="accent_1" refType="h" fact="-0.094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w"/>
                <dgm:constr type="ctrXOff" for="ch" forName="accent_2" refType="h" fact="-0.1809"/>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w"/>
                <dgm:constr type="ctrXOff" for="ch" forName="accent_3" refType="h" fact="-0.220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w"/>
                <dgm:constr type="ctrXOff" for="ch" forName="accent_4" refType="h" fact="-0.2205"/>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w"/>
                <dgm:constr type="ctrXOff" for="ch" forName="accent_5" refType="h" fact="-0.18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w"/>
                <dgm:constr type="ctrXOff" for="ch" forName="accent_6" refType="h" fact="-0.0943"/>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primFontSz" for="ch" ptType="node" op="equ" val="65"/>
              </dgm:constrLst>
            </dgm:if>
            <dgm:else name="Name20">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w"/>
                <dgm:constr type="ctrXOff" for="ch" forName="accent_1" refType="h" fact="-0.0835"/>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w"/>
                <dgm:constr type="ctrXOff" for="ch" forName="accent_2" refType="h" fact="-0.165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w"/>
                <dgm:constr type="ctrXOff" for="ch" forName="accent_3" refType="h" fact="-0.2109"/>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w"/>
                <dgm:constr type="ctrXOff" for="ch" forName="accent_4" refType="h" fact="-0.2253"/>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w"/>
                <dgm:constr type="ctrXOff" for="ch" forName="accent_5" refType="h" fact="-0.21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w"/>
                <dgm:constr type="ctrXOff" for="ch" forName="accent_6" refType="h" fact="-0.1658"/>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w"/>
                <dgm:constr type="ctrXOff" for="ch" forName="accent_7" refType="h" fact="-0.0835"/>
                <dgm:constr type="r" for="ch" forName="text_7" refType="ctrX" refFor="ch" refForName="accent_7"/>
                <dgm:constr type="rOff" for="ch" forName="text_7" refType="ctrXOff" refFor="ch" refForName="accent_7"/>
                <dgm:constr type="l" for="ch" forName="text_7"/>
                <dgm:constr type="w" for="ch" forName="text_7" refType="h" refFor="ch" refForName="text_7" op="gte"/>
                <dgm:constr type="h" for="ch" forName="text_7" refType="h" refFor="ch" refForName="accent_7" fact="0.8"/>
                <dgm:constr type="ctrY" for="ch" forName="text_7" refType="ctrY" refFor="ch" refForName="accent_7"/>
                <dgm:constr type="rMarg" for="ch" forName="text_7" refType="w" refFor="ch" refForName="accent_7" fact="1.8"/>
                <dgm:constr type="primFontSz" for="ch" ptType="node" op="equ" val="65"/>
              </dgm:constrLst>
            </dgm:else>
          </dgm:choose>
        </dgm:else>
      </dgm:choose>
      <dgm:layoutNode name="cycle">
        <dgm:choose name="Name21">
          <dgm:if name="Name22" func="var" arg="dir" op="equ" val="norm">
            <dgm:alg type="cycle">
              <dgm:param type="stAng" val="45"/>
              <dgm:param type="spanAng" val="90"/>
            </dgm:alg>
          </dgm:if>
          <dgm:else name="Name23">
            <dgm:alg type="cycle">
              <dgm:param type="stAng" val="225"/>
              <dgm:param type="spanAng" val="90"/>
            </dgm:alg>
          </dgm:else>
        </dgm:choose>
        <dgm:shape xmlns:r="http://schemas.openxmlformats.org/officeDocument/2006/relationships" r:blip="">
          <dgm:adjLst/>
        </dgm:shape>
        <dgm:presOf/>
        <dgm:constrLst>
          <dgm:constr type="w" for="ch" val="1"/>
          <dgm:constr type="h" for="ch" val="1"/>
          <dgm:constr type="diam" for="ch" forName="conn" refType="diam"/>
        </dgm:constrLst>
        <dgm:layoutNode name="srcNode">
          <dgm:alg type="sp"/>
          <dgm:shape xmlns:r="http://schemas.openxmlformats.org/officeDocument/2006/relationships" type="rect" r:blip="" hideGeom="1">
            <dgm:adjLst/>
          </dgm:shape>
          <dgm:presOf/>
        </dgm:layoutNode>
        <dgm:layoutNode name="conn" styleLbl="parChTrans1D2">
          <dgm:alg type="conn">
            <dgm:param type="connRout" val="curve"/>
            <dgm:param type="srcNode" val="srcNode"/>
            <dgm:param type="dstNode" val="dstNode"/>
            <dgm:param type="begPts" val="ctr"/>
            <dgm:param type="endPts" val="ctr"/>
            <dgm:param type="endSty" val="noArr"/>
          </dgm:alg>
          <dgm:shape xmlns:r="http://schemas.openxmlformats.org/officeDocument/2006/relationships" type="conn" r:blip="">
            <dgm:adjLst/>
          </dgm:shape>
          <dgm:presOf axis="desOrSelf" ptType="sibTrans" hideLastTrans="0" st="0" cnt="1"/>
          <dgm:constrLst>
            <dgm:constr type="begPad"/>
            <dgm:constr type="endPad"/>
          </dgm:constrLst>
        </dgm:layoutNode>
        <dgm:layoutNode name="extraNode">
          <dgm:alg type="sp"/>
          <dgm:shape xmlns:r="http://schemas.openxmlformats.org/officeDocument/2006/relationships" type="rect" r:blip="" hideGeom="1">
            <dgm:adjLst/>
          </dgm:shape>
          <dgm:presOf/>
        </dgm:layoutNode>
        <dgm:layoutNode name="dstNode">
          <dgm:alg type="sp"/>
          <dgm:shape xmlns:r="http://schemas.openxmlformats.org/officeDocument/2006/relationships" type="rect" r:blip="" hideGeom="1">
            <dgm:adjLst/>
          </dgm:shape>
          <dgm:presOf/>
        </dgm:layoutNode>
      </dgm:layoutNode>
      <dgm:forEach name="wrapper" axis="self" ptType="parTrans">
        <dgm:forEach name="wrapper2" axis="self" ptType="sibTrans" st="2">
          <dgm:forEach name="accentRepeat" axis="self">
            <dgm:layoutNode name="accentRepeatNode" styleLbl="solidFgAcc1">
              <dgm:alg type="sp"/>
              <dgm:shape xmlns:r="http://schemas.openxmlformats.org/officeDocument/2006/relationships" type="ellipse" r:blip="">
                <dgm:adjLst/>
              </dgm:shape>
              <dgm:presOf/>
            </dgm:layoutNode>
          </dgm:forEach>
        </dgm:forEach>
      </dgm:forEach>
      <dgm:forEach name="Name24" axis="ch" ptType="node" cnt="1">
        <dgm:layoutNode name="text_1" styleLbl="node1">
          <dgm:varLst>
            <dgm:bulletEnabled val="1"/>
          </dgm:varLst>
          <dgm:choose name="Name25">
            <dgm:if name="Name26" func="var" arg="dir" op="equ" val="norm">
              <dgm:alg type="tx">
                <dgm:param type="parTxLTRAlign" val="l"/>
                <dgm:param type="shpTxLTRAlignCh" val="l"/>
                <dgm:param type="parTxRTLAlign" val="l"/>
                <dgm:param type="shpTxRTLAlignCh" val="l"/>
              </dgm:alg>
            </dgm:if>
            <dgm:else name="Name2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1">
          <dgm:alg type="sp"/>
          <dgm:shape xmlns:r="http://schemas.openxmlformats.org/officeDocument/2006/relationships" r:blip="">
            <dgm:adjLst/>
          </dgm:shape>
          <dgm:presOf/>
          <dgm:constrLst/>
          <dgm:forEach name="Name28" ref="accentRepeat"/>
        </dgm:layoutNode>
      </dgm:forEach>
      <dgm:forEach name="Name29" axis="ch" ptType="node" st="2" cnt="1">
        <dgm:layoutNode name="text_2" styleLbl="node1">
          <dgm:varLst>
            <dgm:bulletEnabled val="1"/>
          </dgm:varLst>
          <dgm:choose name="Name30">
            <dgm:if name="Name31" func="var" arg="dir" op="equ" val="norm">
              <dgm:alg type="tx">
                <dgm:param type="parTxLTRAlign" val="l"/>
                <dgm:param type="shpTxLTRAlignCh" val="l"/>
                <dgm:param type="parTxRTLAlign" val="l"/>
                <dgm:param type="shpTxRTLAlignCh" val="l"/>
              </dgm:alg>
            </dgm:if>
            <dgm:else name="Name3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2">
          <dgm:alg type="sp"/>
          <dgm:shape xmlns:r="http://schemas.openxmlformats.org/officeDocument/2006/relationships" r:blip="">
            <dgm:adjLst/>
          </dgm:shape>
          <dgm:presOf/>
          <dgm:constrLst/>
          <dgm:forEach name="Name33" ref="accentRepeat"/>
        </dgm:layoutNode>
      </dgm:forEach>
      <dgm:forEach name="Name34" axis="ch" ptType="node" st="3" cnt="1">
        <dgm:layoutNode name="text_3" styleLbl="node1">
          <dgm:varLst>
            <dgm:bulletEnabled val="1"/>
          </dgm:varLst>
          <dgm:choose name="Name35">
            <dgm:if name="Name36" func="var" arg="dir" op="equ" val="norm">
              <dgm:alg type="tx">
                <dgm:param type="parTxLTRAlign" val="l"/>
                <dgm:param type="shpTxLTRAlignCh" val="l"/>
                <dgm:param type="parTxRTLAlign" val="l"/>
                <dgm:param type="shpTxRTLAlignCh" val="l"/>
              </dgm:alg>
            </dgm:if>
            <dgm:else name="Name3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3">
          <dgm:alg type="sp"/>
          <dgm:shape xmlns:r="http://schemas.openxmlformats.org/officeDocument/2006/relationships" r:blip="">
            <dgm:adjLst/>
          </dgm:shape>
          <dgm:presOf/>
          <dgm:constrLst/>
          <dgm:forEach name="Name38" ref="accentRepeat"/>
        </dgm:layoutNode>
      </dgm:forEach>
      <dgm:forEach name="Name39" axis="ch" ptType="node" st="4" cnt="1">
        <dgm:layoutNode name="text_4" styleLbl="node1">
          <dgm:varLst>
            <dgm:bulletEnabled val="1"/>
          </dgm:varLst>
          <dgm:choose name="Name40">
            <dgm:if name="Name41" func="var" arg="dir" op="equ" val="norm">
              <dgm:alg type="tx">
                <dgm:param type="parTxLTRAlign" val="l"/>
                <dgm:param type="shpTxLTRAlignCh" val="l"/>
                <dgm:param type="parTxRTLAlign" val="l"/>
                <dgm:param type="shpTxRTLAlignCh" val="l"/>
              </dgm:alg>
            </dgm:if>
            <dgm:else name="Name4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4">
          <dgm:alg type="sp"/>
          <dgm:shape xmlns:r="http://schemas.openxmlformats.org/officeDocument/2006/relationships" r:blip="">
            <dgm:adjLst/>
          </dgm:shape>
          <dgm:presOf/>
          <dgm:constrLst/>
          <dgm:forEach name="Name43" ref="accentRepeat"/>
        </dgm:layoutNode>
      </dgm:forEach>
      <dgm:forEach name="Name44" axis="ch" ptType="node" st="5" cnt="1">
        <dgm:layoutNode name="text_5" styleLbl="node1">
          <dgm:varLst>
            <dgm:bulletEnabled val="1"/>
          </dgm:varLst>
          <dgm:choose name="Name45">
            <dgm:if name="Name46" func="var" arg="dir" op="equ" val="norm">
              <dgm:alg type="tx">
                <dgm:param type="parTxLTRAlign" val="l"/>
                <dgm:param type="shpTxLTRAlignCh" val="l"/>
                <dgm:param type="parTxRTLAlign" val="l"/>
                <dgm:param type="shpTxRTLAlignCh" val="l"/>
              </dgm:alg>
            </dgm:if>
            <dgm:else name="Name4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5">
          <dgm:alg type="sp"/>
          <dgm:shape xmlns:r="http://schemas.openxmlformats.org/officeDocument/2006/relationships" r:blip="">
            <dgm:adjLst/>
          </dgm:shape>
          <dgm:presOf/>
          <dgm:constrLst/>
          <dgm:forEach name="Name48" ref="accentRepeat"/>
        </dgm:layoutNode>
      </dgm:forEach>
      <dgm:forEach name="Name49" axis="ch" ptType="node" st="6" cnt="1">
        <dgm:layoutNode name="text_6" styleLbl="node1">
          <dgm:varLst>
            <dgm:bulletEnabled val="1"/>
          </dgm:varLst>
          <dgm:choose name="Name50">
            <dgm:if name="Name51" func="var" arg="dir" op="equ" val="norm">
              <dgm:alg type="tx">
                <dgm:param type="parTxLTRAlign" val="l"/>
                <dgm:param type="shpTxLTRAlignCh" val="l"/>
                <dgm:param type="parTxRTLAlign" val="l"/>
                <dgm:param type="shpTxRTLAlignCh" val="l"/>
              </dgm:alg>
            </dgm:if>
            <dgm:else name="Name5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6">
          <dgm:alg type="sp"/>
          <dgm:shape xmlns:r="http://schemas.openxmlformats.org/officeDocument/2006/relationships" r:blip="">
            <dgm:adjLst/>
          </dgm:shape>
          <dgm:presOf/>
          <dgm:constrLst/>
          <dgm:forEach name="Name53" ref="accentRepeat"/>
        </dgm:layoutNode>
      </dgm:forEach>
      <dgm:forEach name="Name54" axis="ch" ptType="node" st="7" cnt="1">
        <dgm:layoutNode name="text_7" styleLbl="node1">
          <dgm:varLst>
            <dgm:bulletEnabled val="1"/>
          </dgm:varLst>
          <dgm:choose name="Name55">
            <dgm:if name="Name56" func="var" arg="dir" op="equ" val="norm">
              <dgm:alg type="tx">
                <dgm:param type="parTxLTRAlign" val="l"/>
                <dgm:param type="shpTxLTRAlignCh" val="l"/>
                <dgm:param type="parTxRTLAlign" val="l"/>
                <dgm:param type="shpTxRTLAlignCh" val="l"/>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7">
          <dgm:alg type="sp"/>
          <dgm:shape xmlns:r="http://schemas.openxmlformats.org/officeDocument/2006/relationships" r:blip="">
            <dgm:adjLst/>
          </dgm:shape>
          <dgm:presOf/>
          <dgm:constrLst/>
          <dgm:forEach name="Name58" ref="accentRepeat"/>
        </dgm:layoutNode>
      </dgm:forEach>
    </dgm:layoutNode>
  </dgm:layoutNode>
</dgm:layoutDef>
</file>

<file path=ppt/diagrams/layout15.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E3F7A0F7-AD19-4993-8574-730EC50C92A6}" type="datetimeFigureOut">
              <a:rPr lang="zh-CN" altLang="en-US" smtClean="0"/>
              <a:pPr/>
              <a:t>2025/5/23</a:t>
            </a:fld>
            <a:endParaRPr lang="zh-CN" altLang="en-US"/>
          </a:p>
        </p:txBody>
      </p:sp>
      <p:sp>
        <p:nvSpPr>
          <p:cNvPr id="4" name="幻灯片图像占位符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0B14BD24-89E3-4C51-B736-BCCE6C13A884}" type="slidenum">
              <a:rPr lang="zh-CN" altLang="en-US" smtClean="0"/>
              <a:pPr/>
              <a:t>‹#›</a:t>
            </a:fld>
            <a:endParaRPr lang="zh-CN" altLang="en-US"/>
          </a:p>
        </p:txBody>
      </p:sp>
    </p:spTree>
    <p:extLst>
      <p:ext uri="{BB962C8B-B14F-4D97-AF65-F5344CB8AC3E}">
        <p14:creationId xmlns:p14="http://schemas.microsoft.com/office/powerpoint/2010/main" val="217337309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334.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336.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337.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338.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339.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340.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34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a:t>
            </a:fld>
            <a:endParaRPr lang="zh-CN" altLang="en-US"/>
          </a:p>
        </p:txBody>
      </p:sp>
    </p:spTree>
    <p:extLst>
      <p:ext uri="{BB962C8B-B14F-4D97-AF65-F5344CB8AC3E}">
        <p14:creationId xmlns:p14="http://schemas.microsoft.com/office/powerpoint/2010/main" val="418279445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8</a:t>
            </a:fld>
            <a:endParaRPr lang="zh-CN" altLang="en-US"/>
          </a:p>
        </p:txBody>
      </p:sp>
    </p:spTree>
    <p:extLst>
      <p:ext uri="{BB962C8B-B14F-4D97-AF65-F5344CB8AC3E}">
        <p14:creationId xmlns:p14="http://schemas.microsoft.com/office/powerpoint/2010/main" val="322300608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a:t>
            </a:fld>
            <a:endParaRPr lang="zh-CN" altLang="en-US"/>
          </a:p>
        </p:txBody>
      </p:sp>
    </p:spTree>
    <p:extLst>
      <p:ext uri="{BB962C8B-B14F-4D97-AF65-F5344CB8AC3E}">
        <p14:creationId xmlns:p14="http://schemas.microsoft.com/office/powerpoint/2010/main" val="385088059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14</a:t>
            </a:fld>
            <a:endParaRPr lang="zh-CN" altLang="en-US"/>
          </a:p>
        </p:txBody>
      </p:sp>
    </p:spTree>
    <p:extLst>
      <p:ext uri="{BB962C8B-B14F-4D97-AF65-F5344CB8AC3E}">
        <p14:creationId xmlns:p14="http://schemas.microsoft.com/office/powerpoint/2010/main" val="311801187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15</a:t>
            </a:fld>
            <a:endParaRPr lang="zh-CN" altLang="en-US"/>
          </a:p>
        </p:txBody>
      </p:sp>
    </p:spTree>
    <p:extLst>
      <p:ext uri="{BB962C8B-B14F-4D97-AF65-F5344CB8AC3E}">
        <p14:creationId xmlns:p14="http://schemas.microsoft.com/office/powerpoint/2010/main" val="232103003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16</a:t>
            </a:fld>
            <a:endParaRPr lang="zh-CN" altLang="en-US"/>
          </a:p>
        </p:txBody>
      </p:sp>
    </p:spTree>
    <p:extLst>
      <p:ext uri="{BB962C8B-B14F-4D97-AF65-F5344CB8AC3E}">
        <p14:creationId xmlns:p14="http://schemas.microsoft.com/office/powerpoint/2010/main" val="387907345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17</a:t>
            </a:fld>
            <a:endParaRPr lang="zh-CN" altLang="en-US"/>
          </a:p>
        </p:txBody>
      </p:sp>
    </p:spTree>
    <p:extLst>
      <p:ext uri="{BB962C8B-B14F-4D97-AF65-F5344CB8AC3E}">
        <p14:creationId xmlns:p14="http://schemas.microsoft.com/office/powerpoint/2010/main" val="101008807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19</a:t>
            </a:fld>
            <a:endParaRPr lang="zh-CN" altLang="en-US"/>
          </a:p>
        </p:txBody>
      </p:sp>
    </p:spTree>
    <p:extLst>
      <p:ext uri="{BB962C8B-B14F-4D97-AF65-F5344CB8AC3E}">
        <p14:creationId xmlns:p14="http://schemas.microsoft.com/office/powerpoint/2010/main" val="283702236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20</a:t>
            </a:fld>
            <a:endParaRPr lang="zh-CN" altLang="en-US"/>
          </a:p>
        </p:txBody>
      </p:sp>
    </p:spTree>
    <p:extLst>
      <p:ext uri="{BB962C8B-B14F-4D97-AF65-F5344CB8AC3E}">
        <p14:creationId xmlns:p14="http://schemas.microsoft.com/office/powerpoint/2010/main" val="157696937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21</a:t>
            </a:fld>
            <a:endParaRPr lang="zh-CN" altLang="en-US"/>
          </a:p>
        </p:txBody>
      </p:sp>
    </p:spTree>
    <p:extLst>
      <p:ext uri="{BB962C8B-B14F-4D97-AF65-F5344CB8AC3E}">
        <p14:creationId xmlns:p14="http://schemas.microsoft.com/office/powerpoint/2010/main" val="121496017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23</a:t>
            </a:fld>
            <a:endParaRPr lang="zh-CN" altLang="en-US"/>
          </a:p>
        </p:txBody>
      </p:sp>
    </p:spTree>
    <p:extLst>
      <p:ext uri="{BB962C8B-B14F-4D97-AF65-F5344CB8AC3E}">
        <p14:creationId xmlns:p14="http://schemas.microsoft.com/office/powerpoint/2010/main" val="270341907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26</a:t>
            </a:fld>
            <a:endParaRPr lang="zh-CN" altLang="en-US"/>
          </a:p>
        </p:txBody>
      </p:sp>
    </p:spTree>
    <p:extLst>
      <p:ext uri="{BB962C8B-B14F-4D97-AF65-F5344CB8AC3E}">
        <p14:creationId xmlns:p14="http://schemas.microsoft.com/office/powerpoint/2010/main" val="220641123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27</a:t>
            </a:fld>
            <a:endParaRPr lang="zh-CN" altLang="en-US"/>
          </a:p>
        </p:txBody>
      </p:sp>
    </p:spTree>
    <p:extLst>
      <p:ext uri="{BB962C8B-B14F-4D97-AF65-F5344CB8AC3E}">
        <p14:creationId xmlns:p14="http://schemas.microsoft.com/office/powerpoint/2010/main" val="141011426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28</a:t>
            </a:fld>
            <a:endParaRPr lang="zh-CN" altLang="en-US"/>
          </a:p>
        </p:txBody>
      </p:sp>
    </p:spTree>
    <p:extLst>
      <p:ext uri="{BB962C8B-B14F-4D97-AF65-F5344CB8AC3E}">
        <p14:creationId xmlns:p14="http://schemas.microsoft.com/office/powerpoint/2010/main" val="367399645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31</a:t>
            </a:fld>
            <a:endParaRPr lang="zh-CN" altLang="en-US"/>
          </a:p>
        </p:txBody>
      </p:sp>
    </p:spTree>
    <p:extLst>
      <p:ext uri="{BB962C8B-B14F-4D97-AF65-F5344CB8AC3E}">
        <p14:creationId xmlns:p14="http://schemas.microsoft.com/office/powerpoint/2010/main" val="2113623540"/>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sz="1200" b="0" i="0" kern="1200" dirty="0">
                <a:solidFill>
                  <a:schemeClr val="tx1"/>
                </a:solidFill>
                <a:effectLst/>
                <a:latin typeface="+mn-lt"/>
                <a:ea typeface="+mn-ea"/>
                <a:cs typeface="+mn-cs"/>
              </a:rPr>
              <a:t>最早的 </a:t>
            </a:r>
            <a:r>
              <a:rPr lang="en-US" altLang="zh-CN" sz="1200" b="0" i="0" kern="1200" dirty="0">
                <a:solidFill>
                  <a:schemeClr val="tx1"/>
                </a:solidFill>
                <a:effectLst/>
                <a:latin typeface="+mn-lt"/>
                <a:ea typeface="+mn-ea"/>
                <a:cs typeface="+mn-cs"/>
              </a:rPr>
              <a:t>RFC </a:t>
            </a:r>
            <a:r>
              <a:rPr lang="zh-CN" altLang="en-US" sz="1200" b="0" i="0" kern="1200" dirty="0">
                <a:solidFill>
                  <a:schemeClr val="tx1"/>
                </a:solidFill>
                <a:effectLst/>
                <a:latin typeface="+mn-lt"/>
                <a:ea typeface="+mn-ea"/>
                <a:cs typeface="+mn-cs"/>
              </a:rPr>
              <a:t>对 </a:t>
            </a:r>
            <a:r>
              <a:rPr lang="en-US" altLang="zh-CN" sz="1200" b="0" i="0" kern="1200" dirty="0">
                <a:solidFill>
                  <a:schemeClr val="tx1"/>
                </a:solidFill>
                <a:effectLst/>
                <a:latin typeface="+mn-lt"/>
                <a:ea typeface="+mn-ea"/>
                <a:cs typeface="+mn-cs"/>
              </a:rPr>
              <a:t>IP </a:t>
            </a:r>
            <a:r>
              <a:rPr lang="zh-CN" altLang="en-US" sz="1200" b="0" i="0" kern="1200" dirty="0">
                <a:solidFill>
                  <a:schemeClr val="tx1"/>
                </a:solidFill>
                <a:effectLst/>
                <a:latin typeface="+mn-lt"/>
                <a:ea typeface="+mn-ea"/>
                <a:cs typeface="+mn-cs"/>
              </a:rPr>
              <a:t>地址的分类只到 </a:t>
            </a:r>
            <a:r>
              <a:rPr lang="en-US" altLang="zh-CN" sz="1200" b="0" i="0" kern="1200" dirty="0">
                <a:solidFill>
                  <a:schemeClr val="tx1"/>
                </a:solidFill>
                <a:effectLst/>
                <a:latin typeface="+mn-lt"/>
                <a:ea typeface="+mn-ea"/>
                <a:cs typeface="+mn-cs"/>
              </a:rPr>
              <a:t>C</a:t>
            </a:r>
            <a:r>
              <a:rPr lang="zh-CN" altLang="en-US" sz="1200" b="0" i="0" kern="1200" dirty="0">
                <a:solidFill>
                  <a:schemeClr val="tx1"/>
                </a:solidFill>
                <a:effectLst/>
                <a:latin typeface="+mn-lt"/>
                <a:ea typeface="+mn-ea"/>
                <a:cs typeface="+mn-cs"/>
              </a:rPr>
              <a:t>，并将</a:t>
            </a:r>
            <a:r>
              <a:rPr lang="en-US" altLang="zh-CN" sz="1200" b="0" i="0" kern="1200" dirty="0">
                <a:solidFill>
                  <a:schemeClr val="tx1"/>
                </a:solidFill>
                <a:effectLst/>
                <a:latin typeface="+mn-lt"/>
                <a:ea typeface="+mn-ea"/>
                <a:cs typeface="+mn-cs"/>
              </a:rPr>
              <a:t>IP</a:t>
            </a:r>
            <a:r>
              <a:rPr lang="zh-CN" altLang="en-US" sz="1200" b="0" i="0" kern="1200" dirty="0">
                <a:solidFill>
                  <a:schemeClr val="tx1"/>
                </a:solidFill>
                <a:effectLst/>
                <a:latin typeface="+mn-lt"/>
                <a:ea typeface="+mn-ea"/>
                <a:cs typeface="+mn-cs"/>
              </a:rPr>
              <a:t>地址中的 </a:t>
            </a:r>
            <a:r>
              <a:rPr lang="en-US" altLang="zh-CN" sz="1200" b="0" i="0" kern="1200" dirty="0">
                <a:solidFill>
                  <a:schemeClr val="tx1"/>
                </a:solidFill>
                <a:effectLst/>
                <a:latin typeface="+mn-lt"/>
                <a:ea typeface="+mn-ea"/>
                <a:cs typeface="+mn-cs"/>
              </a:rPr>
              <a:t>Bit </a:t>
            </a:r>
            <a:r>
              <a:rPr lang="zh-CN" altLang="en-US" sz="1200" b="0" i="0" kern="1200" dirty="0">
                <a:solidFill>
                  <a:schemeClr val="tx1"/>
                </a:solidFill>
                <a:effectLst/>
                <a:latin typeface="+mn-lt"/>
                <a:ea typeface="+mn-ea"/>
                <a:cs typeface="+mn-cs"/>
              </a:rPr>
              <a:t>分为三类，分别是 </a:t>
            </a:r>
            <a:r>
              <a:rPr lang="en-US" altLang="zh-CN" sz="1200" b="0" i="0" kern="1200" dirty="0">
                <a:solidFill>
                  <a:schemeClr val="tx1"/>
                </a:solidFill>
                <a:effectLst/>
                <a:latin typeface="+mn-lt"/>
                <a:ea typeface="+mn-ea"/>
                <a:cs typeface="+mn-cs"/>
              </a:rPr>
              <a:t>High order,  net,  host</a:t>
            </a:r>
            <a:r>
              <a:rPr lang="zh-CN" altLang="en-US" sz="1200" b="0" i="0" kern="1200" dirty="0">
                <a:solidFill>
                  <a:schemeClr val="tx1"/>
                </a:solidFill>
                <a:effectLst/>
                <a:latin typeface="+mn-lt"/>
                <a:ea typeface="+mn-ea"/>
                <a:cs typeface="+mn-cs"/>
              </a:rPr>
              <a:t>。</a:t>
            </a:r>
            <a:endParaRPr lang="en-US" altLang="zh-CN" sz="1200" b="0" i="0" kern="1200" dirty="0">
              <a:solidFill>
                <a:schemeClr val="tx1"/>
              </a:solidFill>
              <a:effectLst/>
              <a:latin typeface="+mn-lt"/>
              <a:ea typeface="+mn-ea"/>
              <a:cs typeface="+mn-cs"/>
            </a:endParaRPr>
          </a:p>
          <a:p>
            <a:r>
              <a:rPr lang="zh-CN" altLang="en-US" sz="1200" b="0" i="0" kern="1200" dirty="0">
                <a:solidFill>
                  <a:schemeClr val="tx1"/>
                </a:solidFill>
                <a:effectLst/>
                <a:latin typeface="+mn-lt"/>
                <a:ea typeface="+mn-ea"/>
                <a:cs typeface="+mn-cs"/>
              </a:rPr>
              <a:t>然后更为关键的是下面的一句话 “</a:t>
            </a:r>
            <a:r>
              <a:rPr lang="en-US" altLang="zh-CN" sz="1200" b="0" i="0" kern="1200" dirty="0">
                <a:solidFill>
                  <a:schemeClr val="tx1"/>
                </a:solidFill>
                <a:effectLst/>
                <a:latin typeface="+mn-lt"/>
                <a:ea typeface="+mn-ea"/>
                <a:cs typeface="+mn-cs"/>
              </a:rPr>
              <a:t>A value of zero in the network field means this network.</a:t>
            </a:r>
            <a:r>
              <a:rPr lang="zh-CN" altLang="en-US" sz="1200" b="0" i="0" kern="1200" dirty="0">
                <a:solidFill>
                  <a:schemeClr val="tx1"/>
                </a:solidFill>
                <a:effectLst/>
                <a:latin typeface="+mn-lt"/>
                <a:ea typeface="+mn-ea"/>
                <a:cs typeface="+mn-cs"/>
              </a:rPr>
              <a:t>” 也就是说 </a:t>
            </a:r>
            <a:r>
              <a:rPr lang="en-US" altLang="zh-CN" sz="1200" b="0" i="0" kern="1200" dirty="0">
                <a:solidFill>
                  <a:schemeClr val="tx1"/>
                </a:solidFill>
                <a:effectLst/>
                <a:latin typeface="+mn-lt"/>
                <a:ea typeface="+mn-ea"/>
                <a:cs typeface="+mn-cs"/>
              </a:rPr>
              <a:t>net </a:t>
            </a:r>
            <a:r>
              <a:rPr lang="zh-CN" altLang="en-US" sz="1200" b="0" i="0" kern="1200" dirty="0">
                <a:solidFill>
                  <a:schemeClr val="tx1"/>
                </a:solidFill>
                <a:effectLst/>
                <a:latin typeface="+mn-lt"/>
                <a:ea typeface="+mn-ea"/>
                <a:cs typeface="+mn-cs"/>
              </a:rPr>
              <a:t>全</a:t>
            </a:r>
            <a:r>
              <a:rPr lang="en-US" altLang="zh-CN" sz="1200" b="0" i="0" kern="1200" dirty="0">
                <a:solidFill>
                  <a:schemeClr val="tx1"/>
                </a:solidFill>
                <a:effectLst/>
                <a:latin typeface="+mn-lt"/>
                <a:ea typeface="+mn-ea"/>
                <a:cs typeface="+mn-cs"/>
              </a:rPr>
              <a:t>0 </a:t>
            </a:r>
            <a:r>
              <a:rPr lang="zh-CN" altLang="en-US" sz="1200" b="0" i="0" kern="1200" dirty="0">
                <a:solidFill>
                  <a:schemeClr val="tx1"/>
                </a:solidFill>
                <a:effectLst/>
                <a:latin typeface="+mn-lt"/>
                <a:ea typeface="+mn-ea"/>
                <a:cs typeface="+mn-cs"/>
              </a:rPr>
              <a:t>表示本网络，因此真正可用的 </a:t>
            </a:r>
            <a:r>
              <a:rPr lang="en-US" altLang="zh-CN" sz="1200" b="0" i="0" kern="1200" dirty="0">
                <a:solidFill>
                  <a:schemeClr val="tx1"/>
                </a:solidFill>
                <a:effectLst/>
                <a:latin typeface="+mn-lt"/>
                <a:ea typeface="+mn-ea"/>
                <a:cs typeface="+mn-cs"/>
              </a:rPr>
              <a:t>net </a:t>
            </a:r>
            <a:r>
              <a:rPr lang="zh-CN" altLang="en-US" sz="1200" b="0" i="0" kern="1200" dirty="0">
                <a:solidFill>
                  <a:schemeClr val="tx1"/>
                </a:solidFill>
                <a:effectLst/>
                <a:latin typeface="+mn-lt"/>
                <a:ea typeface="+mn-ea"/>
                <a:cs typeface="+mn-cs"/>
              </a:rPr>
              <a:t>值应该是从</a:t>
            </a:r>
            <a:r>
              <a:rPr lang="en-US" altLang="zh-CN" sz="1200" b="0" i="0" kern="1200" dirty="0">
                <a:solidFill>
                  <a:schemeClr val="tx1"/>
                </a:solidFill>
                <a:effectLst/>
                <a:latin typeface="+mn-lt"/>
                <a:ea typeface="+mn-ea"/>
                <a:cs typeface="+mn-cs"/>
              </a:rPr>
              <a:t>1</a:t>
            </a:r>
            <a:r>
              <a:rPr lang="zh-CN" altLang="en-US" sz="1200" b="0" i="0" kern="1200" dirty="0">
                <a:solidFill>
                  <a:schemeClr val="tx1"/>
                </a:solidFill>
                <a:effectLst/>
                <a:latin typeface="+mn-lt"/>
                <a:ea typeface="+mn-ea"/>
                <a:cs typeface="+mn-cs"/>
              </a:rPr>
              <a:t>开始。</a:t>
            </a:r>
            <a:endParaRPr lang="en-US" altLang="zh-CN" sz="1200" b="0" i="0" kern="1200" dirty="0">
              <a:solidFill>
                <a:schemeClr val="tx1"/>
              </a:solidFill>
              <a:effectLst/>
              <a:latin typeface="+mn-lt"/>
              <a:ea typeface="+mn-ea"/>
              <a:cs typeface="+mn-cs"/>
            </a:endParaRPr>
          </a:p>
          <a:p>
            <a:r>
              <a:rPr lang="zh-CN" altLang="en-US" sz="1200" b="0" i="0" kern="1200" dirty="0">
                <a:solidFill>
                  <a:schemeClr val="tx1"/>
                </a:solidFill>
                <a:effectLst/>
                <a:latin typeface="+mn-lt"/>
                <a:ea typeface="+mn-ea"/>
                <a:cs typeface="+mn-cs"/>
              </a:rPr>
              <a:t>因为这条规则而无法使用的网络号是：</a:t>
            </a:r>
            <a:endParaRPr lang="en-US" altLang="zh-CN" sz="1200" b="0" i="0" kern="1200" dirty="0">
              <a:solidFill>
                <a:schemeClr val="tx1"/>
              </a:solidFill>
              <a:effectLst/>
              <a:latin typeface="+mn-lt"/>
              <a:ea typeface="+mn-ea"/>
              <a:cs typeface="+mn-cs"/>
            </a:endParaRPr>
          </a:p>
          <a:p>
            <a:r>
              <a:rPr lang="en-US" altLang="zh-CN" sz="1200" b="0" i="0" kern="1200" dirty="0">
                <a:solidFill>
                  <a:schemeClr val="tx1"/>
                </a:solidFill>
                <a:effectLst/>
                <a:latin typeface="+mn-lt"/>
                <a:ea typeface="+mn-ea"/>
                <a:cs typeface="+mn-cs"/>
              </a:rPr>
              <a:t>A: 0.0.0.0/8</a:t>
            </a:r>
          </a:p>
          <a:p>
            <a:r>
              <a:rPr lang="en-US" altLang="zh-CN" sz="1200" b="0" i="0" kern="1200" dirty="0">
                <a:solidFill>
                  <a:schemeClr val="tx1"/>
                </a:solidFill>
                <a:effectLst/>
                <a:latin typeface="+mn-lt"/>
                <a:ea typeface="+mn-ea"/>
                <a:cs typeface="+mn-cs"/>
              </a:rPr>
              <a:t>B: 128.0.0.0/16</a:t>
            </a:r>
          </a:p>
          <a:p>
            <a:r>
              <a:rPr lang="en-US" altLang="zh-CN" sz="1200" b="0" i="0" kern="1200" dirty="0">
                <a:solidFill>
                  <a:schemeClr val="tx1"/>
                </a:solidFill>
                <a:effectLst/>
                <a:latin typeface="+mn-lt"/>
                <a:ea typeface="+mn-ea"/>
                <a:cs typeface="+mn-cs"/>
              </a:rPr>
              <a:t>C: 192.0.0.0/24</a:t>
            </a:r>
          </a:p>
          <a:p>
            <a:endParaRPr lang="en-US" altLang="zh-CN" sz="1200" b="1" i="0" kern="1200" dirty="0">
              <a:solidFill>
                <a:schemeClr val="tx1"/>
              </a:solidFill>
              <a:effectLst/>
              <a:latin typeface="+mn-lt"/>
              <a:ea typeface="+mn-ea"/>
              <a:cs typeface="+mn-cs"/>
            </a:endParaRPr>
          </a:p>
          <a:p>
            <a:r>
              <a:rPr lang="zh-CN" altLang="en-US" sz="1200" b="1" i="0" kern="1200" dirty="0">
                <a:solidFill>
                  <a:schemeClr val="tx1"/>
                </a:solidFill>
                <a:effectLst/>
                <a:latin typeface="+mn-lt"/>
                <a:ea typeface="+mn-ea"/>
                <a:cs typeface="+mn-cs"/>
              </a:rPr>
              <a:t>根据 </a:t>
            </a:r>
            <a:r>
              <a:rPr lang="en-US" altLang="zh-CN" sz="1200" b="1" i="0" kern="1200" dirty="0">
                <a:solidFill>
                  <a:schemeClr val="tx1"/>
                </a:solidFill>
                <a:effectLst/>
                <a:latin typeface="+mn-lt"/>
                <a:ea typeface="+mn-ea"/>
                <a:cs typeface="+mn-cs"/>
              </a:rPr>
              <a:t>RFC 791</a:t>
            </a:r>
            <a:r>
              <a:rPr lang="zh-CN" altLang="en-US" sz="1200" b="1" i="0" kern="1200" dirty="0">
                <a:solidFill>
                  <a:schemeClr val="tx1"/>
                </a:solidFill>
                <a:effectLst/>
                <a:latin typeface="+mn-lt"/>
                <a:ea typeface="+mn-ea"/>
                <a:cs typeface="+mn-cs"/>
              </a:rPr>
              <a:t>（</a:t>
            </a:r>
            <a:r>
              <a:rPr lang="en-US" altLang="zh-CN" sz="1200" b="1" i="0" kern="1200" dirty="0">
                <a:solidFill>
                  <a:schemeClr val="tx1"/>
                </a:solidFill>
                <a:effectLst/>
                <a:latin typeface="+mn-lt"/>
                <a:ea typeface="+mn-ea"/>
                <a:cs typeface="+mn-cs"/>
              </a:rPr>
              <a:t>1981</a:t>
            </a:r>
            <a:r>
              <a:rPr lang="zh-CN" altLang="en-US" sz="1200" b="1" i="0" kern="1200" dirty="0">
                <a:solidFill>
                  <a:schemeClr val="tx1"/>
                </a:solidFill>
                <a:effectLst/>
                <a:latin typeface="+mn-lt"/>
                <a:ea typeface="+mn-ea"/>
                <a:cs typeface="+mn-cs"/>
              </a:rPr>
              <a:t>）</a:t>
            </a:r>
            <a:r>
              <a:rPr lang="en-US" altLang="zh-CN" sz="1200" b="1" i="0" kern="1200" dirty="0">
                <a:solidFill>
                  <a:schemeClr val="tx1"/>
                </a:solidFill>
                <a:effectLst/>
                <a:latin typeface="+mn-lt"/>
                <a:ea typeface="+mn-ea"/>
                <a:cs typeface="+mn-cs"/>
              </a:rPr>
              <a:t>-INTERNET PROTOCOL </a:t>
            </a:r>
            <a:r>
              <a:rPr lang="zh-CN" altLang="en-US" sz="1200" b="1" i="0" kern="1200" dirty="0">
                <a:solidFill>
                  <a:schemeClr val="tx1"/>
                </a:solidFill>
                <a:effectLst/>
                <a:latin typeface="+mn-lt"/>
                <a:ea typeface="+mn-ea"/>
                <a:cs typeface="+mn-cs"/>
              </a:rPr>
              <a:t>说明的标注继续在 </a:t>
            </a:r>
            <a:r>
              <a:rPr lang="en-US" altLang="zh-CN" sz="1200" b="1" i="0" kern="1200" dirty="0">
                <a:solidFill>
                  <a:schemeClr val="tx1"/>
                </a:solidFill>
                <a:effectLst/>
                <a:latin typeface="+mn-lt"/>
                <a:ea typeface="+mn-ea"/>
                <a:cs typeface="+mn-cs"/>
              </a:rPr>
              <a:t>RFC 790</a:t>
            </a:r>
            <a:r>
              <a:rPr lang="zh-CN" altLang="en-US" sz="1200" b="1" i="0" kern="1200" dirty="0">
                <a:solidFill>
                  <a:schemeClr val="tx1"/>
                </a:solidFill>
                <a:effectLst/>
                <a:latin typeface="+mn-lt"/>
                <a:ea typeface="+mn-ea"/>
                <a:cs typeface="+mn-cs"/>
              </a:rPr>
              <a:t>（</a:t>
            </a:r>
            <a:r>
              <a:rPr lang="en-US" altLang="zh-CN" sz="1200" b="1" i="0" kern="1200" dirty="0">
                <a:solidFill>
                  <a:schemeClr val="tx1"/>
                </a:solidFill>
                <a:effectLst/>
                <a:latin typeface="+mn-lt"/>
                <a:ea typeface="+mn-ea"/>
                <a:cs typeface="+mn-cs"/>
              </a:rPr>
              <a:t>1981</a:t>
            </a:r>
            <a:r>
              <a:rPr lang="zh-CN" altLang="en-US" sz="1200" b="1" i="0" kern="1200" dirty="0">
                <a:solidFill>
                  <a:schemeClr val="tx1"/>
                </a:solidFill>
                <a:effectLst/>
                <a:latin typeface="+mn-lt"/>
                <a:ea typeface="+mn-ea"/>
                <a:cs typeface="+mn-cs"/>
              </a:rPr>
              <a:t>）</a:t>
            </a:r>
            <a:r>
              <a:rPr lang="en-US" altLang="zh-CN" sz="1200" b="1" i="0" kern="1200" dirty="0">
                <a:solidFill>
                  <a:schemeClr val="tx1"/>
                </a:solidFill>
                <a:effectLst/>
                <a:latin typeface="+mn-lt"/>
                <a:ea typeface="+mn-ea"/>
                <a:cs typeface="+mn-cs"/>
              </a:rPr>
              <a:t> - ASSIGNED NUMBERS </a:t>
            </a:r>
            <a:r>
              <a:rPr lang="zh-CN" altLang="en-US" sz="1200" b="1" i="0" kern="1200" dirty="0">
                <a:solidFill>
                  <a:schemeClr val="tx1"/>
                </a:solidFill>
                <a:effectLst/>
                <a:latin typeface="+mn-lt"/>
                <a:ea typeface="+mn-ea"/>
                <a:cs typeface="+mn-cs"/>
              </a:rPr>
              <a:t>中找到了更为详细的说明：</a:t>
            </a:r>
            <a:endParaRPr lang="en-US" altLang="zh-CN" sz="1200" b="1" i="0" kern="1200" dirty="0">
              <a:solidFill>
                <a:schemeClr val="tx1"/>
              </a:solidFill>
              <a:effectLst/>
              <a:latin typeface="+mn-lt"/>
              <a:ea typeface="+mn-ea"/>
              <a:cs typeface="+mn-cs"/>
            </a:endParaRPr>
          </a:p>
          <a:p>
            <a:r>
              <a:rPr lang="en-US" altLang="zh-CN" sz="1200" b="1" i="0" kern="1200" dirty="0">
                <a:solidFill>
                  <a:schemeClr val="tx1"/>
                </a:solidFill>
                <a:effectLst/>
                <a:latin typeface="+mn-lt"/>
                <a:ea typeface="+mn-ea"/>
                <a:cs typeface="+mn-cs"/>
              </a:rPr>
              <a:t>Class A Networks      </a:t>
            </a:r>
          </a:p>
          <a:p>
            <a:r>
              <a:rPr lang="en-US" altLang="zh-CN" sz="1200" b="0" i="0" kern="1200" dirty="0">
                <a:solidFill>
                  <a:schemeClr val="tx1"/>
                </a:solidFill>
                <a:effectLst/>
                <a:latin typeface="+mn-lt"/>
                <a:ea typeface="+mn-ea"/>
                <a:cs typeface="+mn-cs"/>
              </a:rPr>
              <a:t>Internet Address  Name          Network                 References      </a:t>
            </a:r>
          </a:p>
          <a:p>
            <a:r>
              <a:rPr lang="en-US" altLang="zh-CN" sz="1200" b="0" i="0" kern="1200" dirty="0">
                <a:solidFill>
                  <a:schemeClr val="tx1"/>
                </a:solidFill>
                <a:effectLst/>
                <a:latin typeface="+mn-lt"/>
                <a:ea typeface="+mn-ea"/>
                <a:cs typeface="+mn-cs"/>
              </a:rPr>
              <a:t>----------------       ----                -------                    ----------      </a:t>
            </a:r>
          </a:p>
          <a:p>
            <a:r>
              <a:rPr lang="en-US" altLang="zh-CN" sz="1200" b="0" i="0" kern="1200" dirty="0">
                <a:solidFill>
                  <a:schemeClr val="tx1"/>
                </a:solidFill>
                <a:effectLst/>
                <a:latin typeface="+mn-lt"/>
                <a:ea typeface="+mn-ea"/>
                <a:cs typeface="+mn-cs"/>
              </a:rPr>
              <a:t>000.rrr.rrr.rrr                 Reserved                               [JBP]  </a:t>
            </a:r>
          </a:p>
          <a:p>
            <a:endParaRPr lang="en-US" altLang="zh-CN" sz="1200" b="0" i="0" kern="1200" dirty="0">
              <a:solidFill>
                <a:schemeClr val="tx1"/>
              </a:solidFill>
              <a:effectLst/>
              <a:latin typeface="+mn-lt"/>
              <a:ea typeface="+mn-ea"/>
              <a:cs typeface="+mn-cs"/>
            </a:endParaRPr>
          </a:p>
          <a:p>
            <a:r>
              <a:rPr lang="en-US" altLang="zh-CN" sz="1200" b="1" i="0" kern="1200" dirty="0">
                <a:solidFill>
                  <a:schemeClr val="tx1"/>
                </a:solidFill>
                <a:effectLst/>
                <a:latin typeface="+mn-lt"/>
                <a:ea typeface="+mn-ea"/>
                <a:cs typeface="+mn-cs"/>
              </a:rPr>
              <a:t>Class B Networks      </a:t>
            </a:r>
          </a:p>
          <a:p>
            <a:r>
              <a:rPr lang="en-US" altLang="zh-CN" sz="1200" b="0" i="0" kern="1200" dirty="0">
                <a:solidFill>
                  <a:schemeClr val="tx1"/>
                </a:solidFill>
                <a:effectLst/>
                <a:latin typeface="+mn-lt"/>
                <a:ea typeface="+mn-ea"/>
                <a:cs typeface="+mn-cs"/>
              </a:rPr>
              <a:t>Internet Address  Name          Network                 References</a:t>
            </a:r>
          </a:p>
          <a:p>
            <a:r>
              <a:rPr lang="en-US" altLang="zh-CN" sz="1200" b="0" i="0" kern="1200" dirty="0">
                <a:solidFill>
                  <a:schemeClr val="tx1"/>
                </a:solidFill>
                <a:effectLst/>
                <a:latin typeface="+mn-lt"/>
                <a:ea typeface="+mn-ea"/>
                <a:cs typeface="+mn-cs"/>
              </a:rPr>
              <a:t>----------------        ----               -------                     ----------      </a:t>
            </a:r>
          </a:p>
          <a:p>
            <a:r>
              <a:rPr lang="en-US" altLang="zh-CN" sz="1200" b="0" i="0" kern="1200" dirty="0">
                <a:solidFill>
                  <a:schemeClr val="tx1"/>
                </a:solidFill>
                <a:effectLst/>
                <a:latin typeface="+mn-lt"/>
                <a:ea typeface="+mn-ea"/>
                <a:cs typeface="+mn-cs"/>
              </a:rPr>
              <a:t>128.000.rrr.rrr                 Reserved                             [JBP]</a:t>
            </a:r>
          </a:p>
          <a:p>
            <a:endParaRPr lang="en-US" altLang="zh-CN" sz="1200" b="0" i="0" kern="1200" dirty="0">
              <a:solidFill>
                <a:schemeClr val="tx1"/>
              </a:solidFill>
              <a:effectLst/>
              <a:latin typeface="+mn-lt"/>
              <a:ea typeface="+mn-ea"/>
              <a:cs typeface="+mn-cs"/>
            </a:endParaRPr>
          </a:p>
          <a:p>
            <a:r>
              <a:rPr lang="en-US" altLang="zh-CN" sz="1200" b="0" i="0" kern="1200" dirty="0">
                <a:solidFill>
                  <a:schemeClr val="tx1"/>
                </a:solidFill>
                <a:effectLst/>
                <a:latin typeface="+mn-lt"/>
                <a:ea typeface="+mn-ea"/>
                <a:cs typeface="+mn-cs"/>
              </a:rPr>
              <a:t>A </a:t>
            </a:r>
            <a:r>
              <a:rPr lang="zh-CN" altLang="en-US" sz="1200" b="0" i="0" kern="1200" dirty="0">
                <a:solidFill>
                  <a:schemeClr val="tx1"/>
                </a:solidFill>
                <a:effectLst/>
                <a:latin typeface="+mn-lt"/>
                <a:ea typeface="+mn-ea"/>
                <a:cs typeface="+mn-cs"/>
              </a:rPr>
              <a:t>类和 </a:t>
            </a:r>
            <a:r>
              <a:rPr lang="en-US" altLang="zh-CN" sz="1200" b="0" i="0" kern="1200" dirty="0">
                <a:solidFill>
                  <a:schemeClr val="tx1"/>
                </a:solidFill>
                <a:effectLst/>
                <a:latin typeface="+mn-lt"/>
                <a:ea typeface="+mn-ea"/>
                <a:cs typeface="+mn-cs"/>
              </a:rPr>
              <a:t>B </a:t>
            </a:r>
            <a:r>
              <a:rPr lang="zh-CN" altLang="en-US" sz="1200" b="0" i="0" kern="1200" dirty="0">
                <a:solidFill>
                  <a:schemeClr val="tx1"/>
                </a:solidFill>
                <a:effectLst/>
                <a:latin typeface="+mn-lt"/>
                <a:ea typeface="+mn-ea"/>
                <a:cs typeface="+mn-cs"/>
              </a:rPr>
              <a:t>类地址都明确说了 </a:t>
            </a:r>
            <a:r>
              <a:rPr lang="en-US" altLang="zh-CN" sz="1200" b="0" i="0" kern="1200" dirty="0">
                <a:solidFill>
                  <a:schemeClr val="tx1"/>
                </a:solidFill>
                <a:effectLst/>
                <a:latin typeface="+mn-lt"/>
                <a:ea typeface="+mn-ea"/>
                <a:cs typeface="+mn-cs"/>
              </a:rPr>
              <a:t>0.x.x.x </a:t>
            </a:r>
            <a:r>
              <a:rPr lang="zh-CN" altLang="en-US" sz="1200" b="0" i="0" kern="1200" dirty="0">
                <a:solidFill>
                  <a:schemeClr val="tx1"/>
                </a:solidFill>
                <a:effectLst/>
                <a:latin typeface="+mn-lt"/>
                <a:ea typeface="+mn-ea"/>
                <a:cs typeface="+mn-cs"/>
              </a:rPr>
              <a:t>及 </a:t>
            </a:r>
            <a:r>
              <a:rPr lang="en-US" altLang="zh-CN" sz="1200" b="0" i="0" kern="1200" dirty="0">
                <a:solidFill>
                  <a:schemeClr val="tx1"/>
                </a:solidFill>
                <a:effectLst/>
                <a:latin typeface="+mn-lt"/>
                <a:ea typeface="+mn-ea"/>
                <a:cs typeface="+mn-cs"/>
              </a:rPr>
              <a:t>128.0.x.x </a:t>
            </a:r>
            <a:r>
              <a:rPr lang="zh-CN" altLang="en-US" sz="1200" b="0" i="0" kern="1200" dirty="0">
                <a:solidFill>
                  <a:schemeClr val="tx1"/>
                </a:solidFill>
                <a:effectLst/>
                <a:latin typeface="+mn-lt"/>
                <a:ea typeface="+mn-ea"/>
                <a:cs typeface="+mn-cs"/>
              </a:rPr>
              <a:t>都是保留地址，而在 </a:t>
            </a:r>
            <a:r>
              <a:rPr lang="en-US" altLang="zh-CN" sz="1200" b="0" i="0" kern="1200" dirty="0">
                <a:solidFill>
                  <a:schemeClr val="tx1"/>
                </a:solidFill>
                <a:effectLst/>
                <a:latin typeface="+mn-lt"/>
                <a:ea typeface="+mn-ea"/>
                <a:cs typeface="+mn-cs"/>
              </a:rPr>
              <a:t>C </a:t>
            </a:r>
            <a:r>
              <a:rPr lang="zh-CN" altLang="en-US" sz="1200" b="0" i="0" kern="1200" dirty="0">
                <a:solidFill>
                  <a:schemeClr val="tx1"/>
                </a:solidFill>
                <a:effectLst/>
                <a:latin typeface="+mn-lt"/>
                <a:ea typeface="+mn-ea"/>
                <a:cs typeface="+mn-cs"/>
              </a:rPr>
              <a:t>类中应该是 </a:t>
            </a:r>
            <a:r>
              <a:rPr lang="en-US" altLang="zh-CN" sz="1200" b="0" i="0" kern="1200" dirty="0">
                <a:solidFill>
                  <a:schemeClr val="tx1"/>
                </a:solidFill>
                <a:effectLst/>
                <a:latin typeface="+mn-lt"/>
                <a:ea typeface="+mn-ea"/>
                <a:cs typeface="+mn-cs"/>
              </a:rPr>
              <a:t>RFC </a:t>
            </a:r>
            <a:r>
              <a:rPr lang="zh-CN" altLang="en-US" sz="1200" b="0" i="0" kern="1200" dirty="0">
                <a:solidFill>
                  <a:schemeClr val="tx1"/>
                </a:solidFill>
                <a:effectLst/>
                <a:latin typeface="+mn-lt"/>
                <a:ea typeface="+mn-ea"/>
                <a:cs typeface="+mn-cs"/>
              </a:rPr>
              <a:t>文档出现了明显的错误，因为 </a:t>
            </a:r>
            <a:r>
              <a:rPr lang="en-US" altLang="zh-CN" sz="1200" b="0" i="0" kern="1200" dirty="0">
                <a:solidFill>
                  <a:schemeClr val="tx1"/>
                </a:solidFill>
                <a:effectLst/>
                <a:latin typeface="+mn-lt"/>
                <a:ea typeface="+mn-ea"/>
                <a:cs typeface="+mn-cs"/>
              </a:rPr>
              <a:t>192.000.001 </a:t>
            </a:r>
            <a:r>
              <a:rPr lang="zh-CN" altLang="en-US" sz="1200" b="0" i="0" kern="1200" dirty="0">
                <a:solidFill>
                  <a:schemeClr val="tx1"/>
                </a:solidFill>
                <a:effectLst/>
                <a:latin typeface="+mn-lt"/>
                <a:ea typeface="+mn-ea"/>
                <a:cs typeface="+mn-cs"/>
              </a:rPr>
              <a:t>开头的地址不可能同属两行，显然这里要说明的是 </a:t>
            </a:r>
            <a:r>
              <a:rPr lang="en-US" altLang="zh-CN" sz="1200" b="0" i="0" kern="1200" dirty="0">
                <a:solidFill>
                  <a:schemeClr val="tx1"/>
                </a:solidFill>
                <a:effectLst/>
                <a:latin typeface="+mn-lt"/>
                <a:ea typeface="+mn-ea"/>
                <a:cs typeface="+mn-cs"/>
              </a:rPr>
              <a:t>192.0.0.x </a:t>
            </a:r>
            <a:r>
              <a:rPr lang="zh-CN" altLang="en-US" sz="1200" b="0" i="0" kern="1200" dirty="0">
                <a:solidFill>
                  <a:schemeClr val="tx1"/>
                </a:solidFill>
                <a:effectLst/>
                <a:latin typeface="+mn-lt"/>
                <a:ea typeface="+mn-ea"/>
                <a:cs typeface="+mn-cs"/>
              </a:rPr>
              <a:t>也是保留地址。  </a:t>
            </a:r>
            <a:endParaRPr lang="en-US" altLang="zh-CN" sz="1200" b="0" i="0" kern="1200" dirty="0">
              <a:solidFill>
                <a:schemeClr val="tx1"/>
              </a:solidFill>
              <a:effectLst/>
              <a:latin typeface="+mn-lt"/>
              <a:ea typeface="+mn-ea"/>
              <a:cs typeface="+mn-cs"/>
            </a:endParaRPr>
          </a:p>
          <a:p>
            <a:endParaRPr lang="en-US" altLang="zh-CN" sz="1200" b="0" i="0" kern="1200" dirty="0">
              <a:solidFill>
                <a:schemeClr val="tx1"/>
              </a:solidFill>
              <a:effectLst/>
              <a:latin typeface="+mn-lt"/>
              <a:ea typeface="+mn-ea"/>
              <a:cs typeface="+mn-cs"/>
            </a:endParaRPr>
          </a:p>
          <a:p>
            <a:r>
              <a:rPr lang="en-US" altLang="zh-CN" sz="1200" b="1" i="0" kern="1200" dirty="0">
                <a:solidFill>
                  <a:schemeClr val="tx1"/>
                </a:solidFill>
                <a:effectLst/>
                <a:latin typeface="+mn-lt"/>
                <a:ea typeface="+mn-ea"/>
                <a:cs typeface="+mn-cs"/>
              </a:rPr>
              <a:t>Class C Networks</a:t>
            </a:r>
            <a:r>
              <a:rPr lang="en-US" altLang="zh-CN" sz="1200" b="0" i="0" kern="1200" dirty="0">
                <a:solidFill>
                  <a:schemeClr val="tx1"/>
                </a:solidFill>
                <a:effectLst/>
                <a:latin typeface="+mn-lt"/>
                <a:ea typeface="+mn-ea"/>
                <a:cs typeface="+mn-cs"/>
              </a:rPr>
              <a:t>      </a:t>
            </a:r>
          </a:p>
          <a:p>
            <a:r>
              <a:rPr lang="en-US" altLang="zh-CN" sz="1200" b="0" i="0" kern="1200" dirty="0">
                <a:solidFill>
                  <a:schemeClr val="tx1"/>
                </a:solidFill>
                <a:effectLst/>
                <a:latin typeface="+mn-lt"/>
                <a:ea typeface="+mn-ea"/>
                <a:cs typeface="+mn-cs"/>
              </a:rPr>
              <a:t>Internet Address  Name          Network                 References      </a:t>
            </a:r>
          </a:p>
          <a:p>
            <a:r>
              <a:rPr lang="en-US" altLang="zh-CN" sz="1200" b="0" i="0" kern="1200" dirty="0">
                <a:solidFill>
                  <a:schemeClr val="tx1"/>
                </a:solidFill>
                <a:effectLst/>
                <a:latin typeface="+mn-lt"/>
                <a:ea typeface="+mn-ea"/>
                <a:cs typeface="+mn-cs"/>
              </a:rPr>
              <a:t>----------------        ----                -------                     ----------      </a:t>
            </a:r>
          </a:p>
          <a:p>
            <a:r>
              <a:rPr lang="en-US" altLang="zh-CN" sz="1200" b="0" i="0" kern="1200" dirty="0">
                <a:solidFill>
                  <a:schemeClr val="tx1"/>
                </a:solidFill>
                <a:effectLst/>
                <a:latin typeface="+mn-lt"/>
                <a:ea typeface="+mn-ea"/>
                <a:cs typeface="+mn-cs"/>
              </a:rPr>
              <a:t>192.000.001.rrr                              Reserved                      [JBP]      </a:t>
            </a:r>
          </a:p>
          <a:p>
            <a:r>
              <a:rPr lang="en-US" altLang="zh-CN" sz="1200" b="0" i="0" kern="1200" dirty="0">
                <a:solidFill>
                  <a:schemeClr val="tx1"/>
                </a:solidFill>
                <a:effectLst/>
                <a:latin typeface="+mn-lt"/>
                <a:ea typeface="+mn-ea"/>
                <a:cs typeface="+mn-cs"/>
              </a:rPr>
              <a:t>192.000.001.rrr-223.255.254.rrr   Unassigned                   [JBP]</a:t>
            </a:r>
          </a:p>
          <a:p>
            <a:endParaRPr lang="en-US" altLang="zh-CN" sz="1200" b="1" i="0" kern="1200" dirty="0">
              <a:solidFill>
                <a:schemeClr val="tx1"/>
              </a:solidFill>
              <a:effectLst/>
              <a:latin typeface="+mn-lt"/>
              <a:ea typeface="+mn-ea"/>
              <a:cs typeface="+mn-cs"/>
            </a:endParaRPr>
          </a:p>
          <a:p>
            <a:r>
              <a:rPr lang="zh-CN" altLang="en-US" sz="1200" b="1" i="0" kern="1200" dirty="0">
                <a:solidFill>
                  <a:schemeClr val="tx1"/>
                </a:solidFill>
                <a:effectLst/>
                <a:latin typeface="+mn-lt"/>
                <a:ea typeface="+mn-ea"/>
                <a:cs typeface="+mn-cs"/>
              </a:rPr>
              <a:t>在 </a:t>
            </a:r>
            <a:r>
              <a:rPr lang="en-US" altLang="zh-CN" sz="1200" b="1" i="0" kern="1200" dirty="0">
                <a:solidFill>
                  <a:schemeClr val="tx1"/>
                </a:solidFill>
                <a:effectLst/>
                <a:latin typeface="+mn-lt"/>
                <a:ea typeface="+mn-ea"/>
                <a:cs typeface="+mn-cs"/>
              </a:rPr>
              <a:t>RFC 3330</a:t>
            </a:r>
            <a:r>
              <a:rPr lang="zh-CN" altLang="en-US" sz="1200" b="1" i="0" kern="1200" dirty="0">
                <a:solidFill>
                  <a:schemeClr val="tx1"/>
                </a:solidFill>
                <a:effectLst/>
                <a:latin typeface="+mn-lt"/>
                <a:ea typeface="+mn-ea"/>
                <a:cs typeface="+mn-cs"/>
              </a:rPr>
              <a:t>（</a:t>
            </a:r>
            <a:r>
              <a:rPr lang="en-US" altLang="zh-CN" sz="1200" b="1" i="0" kern="1200" dirty="0">
                <a:solidFill>
                  <a:schemeClr val="tx1"/>
                </a:solidFill>
                <a:effectLst/>
                <a:latin typeface="+mn-lt"/>
                <a:ea typeface="+mn-ea"/>
                <a:cs typeface="+mn-cs"/>
              </a:rPr>
              <a:t>2002</a:t>
            </a:r>
            <a:r>
              <a:rPr lang="zh-CN" altLang="en-US" sz="1200" b="1" i="0" kern="1200" dirty="0">
                <a:solidFill>
                  <a:schemeClr val="tx1"/>
                </a:solidFill>
                <a:effectLst/>
                <a:latin typeface="+mn-lt"/>
                <a:ea typeface="+mn-ea"/>
                <a:cs typeface="+mn-cs"/>
              </a:rPr>
              <a:t>年）</a:t>
            </a:r>
            <a:r>
              <a:rPr lang="en-US" altLang="zh-CN" sz="1200" b="1" i="0" kern="1200" dirty="0">
                <a:solidFill>
                  <a:schemeClr val="tx1"/>
                </a:solidFill>
                <a:effectLst/>
                <a:latin typeface="+mn-lt"/>
                <a:ea typeface="+mn-ea"/>
                <a:cs typeface="+mn-cs"/>
              </a:rPr>
              <a:t> - Special-Use IPv4 Addresses </a:t>
            </a:r>
            <a:r>
              <a:rPr lang="zh-CN" altLang="en-US" sz="1200" b="1" i="0" kern="1200" dirty="0">
                <a:solidFill>
                  <a:schemeClr val="tx1"/>
                </a:solidFill>
                <a:effectLst/>
                <a:latin typeface="+mn-lt"/>
                <a:ea typeface="+mn-ea"/>
                <a:cs typeface="+mn-cs"/>
              </a:rPr>
              <a:t>里有关于这两段地址的明确说明：   </a:t>
            </a:r>
            <a:endParaRPr lang="en-US" altLang="zh-CN" sz="1200" b="1" i="0" kern="1200" dirty="0">
              <a:solidFill>
                <a:schemeClr val="tx1"/>
              </a:solidFill>
              <a:effectLst/>
              <a:latin typeface="+mn-lt"/>
              <a:ea typeface="+mn-ea"/>
              <a:cs typeface="+mn-cs"/>
            </a:endParaRPr>
          </a:p>
          <a:p>
            <a:r>
              <a:rPr lang="en-US" altLang="zh-CN" sz="1200" b="1" i="0" kern="1200" dirty="0">
                <a:solidFill>
                  <a:schemeClr val="tx1"/>
                </a:solidFill>
                <a:effectLst/>
                <a:latin typeface="+mn-lt"/>
                <a:ea typeface="+mn-ea"/>
                <a:cs typeface="+mn-cs"/>
              </a:rPr>
              <a:t>128.0.0.0/16 </a:t>
            </a:r>
            <a:r>
              <a:rPr lang="en-US" altLang="zh-CN" sz="1200" b="0" i="0" kern="1200" dirty="0">
                <a:solidFill>
                  <a:schemeClr val="tx1"/>
                </a:solidFill>
                <a:effectLst/>
                <a:latin typeface="+mn-lt"/>
                <a:ea typeface="+mn-ea"/>
                <a:cs typeface="+mn-cs"/>
              </a:rPr>
              <a:t>- This block, corresponding to the numerically lowest of   the former Class B addresses, was initially and is still reserved by  the IANA.  </a:t>
            </a:r>
          </a:p>
          <a:p>
            <a:r>
              <a:rPr lang="en-US" altLang="zh-CN" sz="1200" b="0" i="0" kern="1200" dirty="0">
                <a:solidFill>
                  <a:schemeClr val="tx1"/>
                </a:solidFill>
                <a:effectLst/>
                <a:latin typeface="+mn-lt"/>
                <a:ea typeface="+mn-ea"/>
                <a:cs typeface="+mn-cs"/>
              </a:rPr>
              <a:t>Given the present classless nature of the IP address   space, the basis for the reservation no longer applies and addresses   in this block are subject to future allocation to a Regional Internet   Registry for assignment in the normal manner.   </a:t>
            </a:r>
          </a:p>
          <a:p>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128.0.0.0/16 - </a:t>
            </a:r>
            <a:r>
              <a:rPr lang="zh-CN" altLang="en-US" sz="1200" b="0" i="0" kern="1200" dirty="0">
                <a:solidFill>
                  <a:schemeClr val="tx1"/>
                </a:solidFill>
                <a:effectLst/>
                <a:latin typeface="+mn-lt"/>
                <a:ea typeface="+mn-ea"/>
                <a:cs typeface="+mn-cs"/>
              </a:rPr>
              <a:t>该块对应于前 </a:t>
            </a:r>
            <a:r>
              <a:rPr lang="en-US" altLang="zh-CN" sz="1200" b="0" i="0" kern="1200" dirty="0">
                <a:solidFill>
                  <a:schemeClr val="tx1"/>
                </a:solidFill>
                <a:effectLst/>
                <a:latin typeface="+mn-lt"/>
                <a:ea typeface="+mn-ea"/>
                <a:cs typeface="+mn-cs"/>
              </a:rPr>
              <a:t>B </a:t>
            </a:r>
            <a:r>
              <a:rPr lang="zh-CN" altLang="en-US" sz="1200" b="0" i="0" kern="1200" dirty="0">
                <a:solidFill>
                  <a:schemeClr val="tx1"/>
                </a:solidFill>
                <a:effectLst/>
                <a:latin typeface="+mn-lt"/>
                <a:ea typeface="+mn-ea"/>
                <a:cs typeface="+mn-cs"/>
              </a:rPr>
              <a:t>类地址中数字最低的地址，最初并且仍然由 </a:t>
            </a:r>
            <a:r>
              <a:rPr lang="en-US" altLang="zh-CN" sz="1200" b="0" i="0" kern="1200" dirty="0">
                <a:solidFill>
                  <a:schemeClr val="tx1"/>
                </a:solidFill>
                <a:effectLst/>
                <a:latin typeface="+mn-lt"/>
                <a:ea typeface="+mn-ea"/>
                <a:cs typeface="+mn-cs"/>
              </a:rPr>
              <a:t>IANA </a:t>
            </a:r>
            <a:r>
              <a:rPr lang="zh-CN" altLang="en-US" sz="1200" b="0" i="0" kern="1200" dirty="0">
                <a:solidFill>
                  <a:schemeClr val="tx1"/>
                </a:solidFill>
                <a:effectLst/>
                <a:latin typeface="+mn-lt"/>
                <a:ea typeface="+mn-ea"/>
                <a:cs typeface="+mn-cs"/>
              </a:rPr>
              <a:t>保留。鉴于 </a:t>
            </a:r>
            <a:r>
              <a:rPr lang="en-US" altLang="zh-CN" sz="1200" b="0" i="0" kern="1200" dirty="0">
                <a:solidFill>
                  <a:schemeClr val="tx1"/>
                </a:solidFill>
                <a:effectLst/>
                <a:latin typeface="+mn-lt"/>
                <a:ea typeface="+mn-ea"/>
                <a:cs typeface="+mn-cs"/>
              </a:rPr>
              <a:t>IP </a:t>
            </a:r>
            <a:r>
              <a:rPr lang="zh-CN" altLang="en-US" sz="1200" b="0" i="0" kern="1200" dirty="0">
                <a:solidFill>
                  <a:schemeClr val="tx1"/>
                </a:solidFill>
                <a:effectLst/>
                <a:latin typeface="+mn-lt"/>
                <a:ea typeface="+mn-ea"/>
                <a:cs typeface="+mn-cs"/>
              </a:rPr>
              <a:t>地址空间目前的无类别性质，保留的基础不再适用，并且此块中的地址未来将分配给区域互联网注册机构，以便以正常方式进行分配。）</a:t>
            </a:r>
            <a:endParaRPr lang="en-US" altLang="zh-CN" sz="1200" b="0" i="0" kern="1200" dirty="0">
              <a:solidFill>
                <a:schemeClr val="tx1"/>
              </a:solidFill>
              <a:effectLst/>
              <a:latin typeface="+mn-lt"/>
              <a:ea typeface="+mn-ea"/>
              <a:cs typeface="+mn-cs"/>
            </a:endParaRPr>
          </a:p>
          <a:p>
            <a:endParaRPr lang="en-US" altLang="zh-CN" sz="1200" b="0" i="0" kern="1200" dirty="0">
              <a:solidFill>
                <a:schemeClr val="tx1"/>
              </a:solidFill>
              <a:effectLst/>
              <a:latin typeface="+mn-lt"/>
              <a:ea typeface="+mn-ea"/>
              <a:cs typeface="+mn-cs"/>
            </a:endParaRPr>
          </a:p>
          <a:p>
            <a:r>
              <a:rPr lang="en-US" altLang="zh-CN" sz="1200" b="1" i="0" kern="1200" dirty="0">
                <a:solidFill>
                  <a:schemeClr val="tx1"/>
                </a:solidFill>
                <a:effectLst/>
                <a:latin typeface="+mn-lt"/>
                <a:ea typeface="+mn-ea"/>
                <a:cs typeface="+mn-cs"/>
              </a:rPr>
              <a:t>192.0.0.0/24</a:t>
            </a:r>
            <a:r>
              <a:rPr lang="en-US" altLang="zh-CN" sz="1200" b="0" i="0" kern="1200" dirty="0">
                <a:solidFill>
                  <a:schemeClr val="tx1"/>
                </a:solidFill>
                <a:effectLst/>
                <a:latin typeface="+mn-lt"/>
                <a:ea typeface="+mn-ea"/>
                <a:cs typeface="+mn-cs"/>
              </a:rPr>
              <a:t> - This block, corresponding to the numerically lowest of   the former Class C addresses, was initially and is still reserved by   the IANA.  </a:t>
            </a:r>
          </a:p>
          <a:p>
            <a:r>
              <a:rPr lang="en-US" altLang="zh-CN" sz="1200" b="0" i="0" kern="1200" dirty="0">
                <a:solidFill>
                  <a:schemeClr val="tx1"/>
                </a:solidFill>
                <a:effectLst/>
                <a:latin typeface="+mn-lt"/>
                <a:ea typeface="+mn-ea"/>
                <a:cs typeface="+mn-cs"/>
              </a:rPr>
              <a:t>Given the present classless nature of the IP address   space, the basis for the reservation no longer applies and addresses   in this block are subject to future allocation to a Regional Internet   Registry for assignment in the normal manner.</a:t>
            </a:r>
          </a:p>
          <a:p>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192.0.0.0/24 - </a:t>
            </a:r>
            <a:r>
              <a:rPr lang="zh-CN" altLang="en-US" sz="1200" b="0" i="0" kern="1200" dirty="0">
                <a:solidFill>
                  <a:schemeClr val="tx1"/>
                </a:solidFill>
                <a:effectLst/>
                <a:latin typeface="+mn-lt"/>
                <a:ea typeface="+mn-ea"/>
                <a:cs typeface="+mn-cs"/>
              </a:rPr>
              <a:t>该块对应于以前的 </a:t>
            </a:r>
            <a:r>
              <a:rPr lang="en-US" altLang="zh-CN" sz="1200" b="0" i="0" kern="1200" dirty="0">
                <a:solidFill>
                  <a:schemeClr val="tx1"/>
                </a:solidFill>
                <a:effectLst/>
                <a:latin typeface="+mn-lt"/>
                <a:ea typeface="+mn-ea"/>
                <a:cs typeface="+mn-cs"/>
              </a:rPr>
              <a:t>C </a:t>
            </a:r>
            <a:r>
              <a:rPr lang="zh-CN" altLang="en-US" sz="1200" b="0" i="0" kern="1200" dirty="0">
                <a:solidFill>
                  <a:schemeClr val="tx1"/>
                </a:solidFill>
                <a:effectLst/>
                <a:latin typeface="+mn-lt"/>
                <a:ea typeface="+mn-ea"/>
                <a:cs typeface="+mn-cs"/>
              </a:rPr>
              <a:t>类地址中数字最低的地址，最初并且仍然由 </a:t>
            </a:r>
            <a:r>
              <a:rPr lang="en-US" altLang="zh-CN" sz="1200" b="0" i="0" kern="1200" dirty="0">
                <a:solidFill>
                  <a:schemeClr val="tx1"/>
                </a:solidFill>
                <a:effectLst/>
                <a:latin typeface="+mn-lt"/>
                <a:ea typeface="+mn-ea"/>
                <a:cs typeface="+mn-cs"/>
              </a:rPr>
              <a:t>IANA </a:t>
            </a:r>
            <a:r>
              <a:rPr lang="zh-CN" altLang="en-US" sz="1200" b="0" i="0" kern="1200" dirty="0">
                <a:solidFill>
                  <a:schemeClr val="tx1"/>
                </a:solidFill>
                <a:effectLst/>
                <a:latin typeface="+mn-lt"/>
                <a:ea typeface="+mn-ea"/>
                <a:cs typeface="+mn-cs"/>
              </a:rPr>
              <a:t>保留。鉴于 </a:t>
            </a:r>
            <a:r>
              <a:rPr lang="en-US" altLang="zh-CN" sz="1200" b="0" i="0" kern="1200" dirty="0">
                <a:solidFill>
                  <a:schemeClr val="tx1"/>
                </a:solidFill>
                <a:effectLst/>
                <a:latin typeface="+mn-lt"/>
                <a:ea typeface="+mn-ea"/>
                <a:cs typeface="+mn-cs"/>
              </a:rPr>
              <a:t>IP </a:t>
            </a:r>
            <a:r>
              <a:rPr lang="zh-CN" altLang="en-US" sz="1200" b="0" i="0" kern="1200" dirty="0">
                <a:solidFill>
                  <a:schemeClr val="tx1"/>
                </a:solidFill>
                <a:effectLst/>
                <a:latin typeface="+mn-lt"/>
                <a:ea typeface="+mn-ea"/>
                <a:cs typeface="+mn-cs"/>
              </a:rPr>
              <a:t>地址空间目前的无类别性质，保留的基础不再适用，并且此块中的地址未来将分配给区域互联网注册机构，以便以正常方式进行分配。）</a:t>
            </a:r>
            <a:endParaRPr lang="en-US" altLang="zh-CN" sz="1200" b="0" i="0" kern="1200" dirty="0">
              <a:solidFill>
                <a:schemeClr val="tx1"/>
              </a:solidFill>
              <a:effectLst/>
              <a:latin typeface="+mn-lt"/>
              <a:ea typeface="+mn-ea"/>
              <a:cs typeface="+mn-cs"/>
            </a:endParaRPr>
          </a:p>
          <a:p>
            <a:endParaRPr lang="en-US" altLang="zh-CN" sz="1200" b="1" i="0" kern="1200" dirty="0">
              <a:solidFill>
                <a:schemeClr val="tx1"/>
              </a:solidFill>
              <a:effectLst/>
              <a:latin typeface="+mn-lt"/>
              <a:ea typeface="+mn-ea"/>
              <a:cs typeface="+mn-cs"/>
            </a:endParaRPr>
          </a:p>
          <a:p>
            <a:r>
              <a:rPr lang="zh-CN" altLang="en-US" sz="1200" b="1" i="0" kern="1200" dirty="0">
                <a:solidFill>
                  <a:schemeClr val="tx1"/>
                </a:solidFill>
                <a:effectLst/>
                <a:latin typeface="+mn-lt"/>
                <a:ea typeface="+mn-ea"/>
                <a:cs typeface="+mn-cs"/>
              </a:rPr>
              <a:t>这个 </a:t>
            </a:r>
            <a:r>
              <a:rPr lang="en-US" altLang="zh-CN" sz="1200" b="1" i="0" kern="1200" dirty="0">
                <a:solidFill>
                  <a:schemeClr val="tx1"/>
                </a:solidFill>
                <a:effectLst/>
                <a:latin typeface="+mn-lt"/>
                <a:ea typeface="+mn-ea"/>
                <a:cs typeface="+mn-cs"/>
              </a:rPr>
              <a:t>RFC </a:t>
            </a:r>
            <a:r>
              <a:rPr lang="zh-CN" altLang="en-US" sz="1200" b="1" i="0" kern="1200" dirty="0">
                <a:solidFill>
                  <a:schemeClr val="tx1"/>
                </a:solidFill>
                <a:effectLst/>
                <a:latin typeface="+mn-lt"/>
                <a:ea typeface="+mn-ea"/>
                <a:cs typeface="+mn-cs"/>
              </a:rPr>
              <a:t>发表于 </a:t>
            </a:r>
            <a:r>
              <a:rPr lang="en-US" altLang="zh-CN" sz="1200" b="1" i="0" kern="1200" dirty="0">
                <a:solidFill>
                  <a:schemeClr val="tx1"/>
                </a:solidFill>
                <a:effectLst/>
                <a:latin typeface="+mn-lt"/>
                <a:ea typeface="+mn-ea"/>
                <a:cs typeface="+mn-cs"/>
              </a:rPr>
              <a:t>2002 </a:t>
            </a:r>
            <a:r>
              <a:rPr lang="zh-CN" altLang="en-US" sz="1200" b="1" i="0" kern="1200" dirty="0">
                <a:solidFill>
                  <a:schemeClr val="tx1"/>
                </a:solidFill>
                <a:effectLst/>
                <a:latin typeface="+mn-lt"/>
                <a:ea typeface="+mn-ea"/>
                <a:cs typeface="+mn-cs"/>
              </a:rPr>
              <a:t>年，对于这两段地址明确表示因为无类地址空间的原因，不再需要保留，地址将在今后进行分配。</a:t>
            </a:r>
            <a:endParaRPr lang="en-US" altLang="zh-CN" sz="1200" b="1" i="0" kern="1200" dirty="0">
              <a:solidFill>
                <a:schemeClr val="tx1"/>
              </a:solidFill>
              <a:effectLst/>
              <a:latin typeface="+mn-lt"/>
              <a:ea typeface="+mn-ea"/>
              <a:cs typeface="+mn-cs"/>
            </a:endParaRPr>
          </a:p>
          <a:p>
            <a:endParaRPr lang="en-US" altLang="zh-CN" sz="1200" b="1" i="0" kern="1200" dirty="0">
              <a:solidFill>
                <a:schemeClr val="tx1"/>
              </a:solidFill>
              <a:effectLst/>
              <a:latin typeface="+mn-lt"/>
              <a:ea typeface="+mn-ea"/>
              <a:cs typeface="+mn-cs"/>
            </a:endParaRPr>
          </a:p>
          <a:p>
            <a:endParaRPr lang="en-US" altLang="zh-CN" sz="1200" b="1" i="0" kern="1200" dirty="0">
              <a:solidFill>
                <a:schemeClr val="tx1"/>
              </a:solidFill>
              <a:effectLst/>
              <a:latin typeface="+mn-lt"/>
              <a:ea typeface="+mn-ea"/>
              <a:cs typeface="+mn-cs"/>
            </a:endParaRPr>
          </a:p>
          <a:p>
            <a:r>
              <a:rPr lang="zh-CN" altLang="en-US" sz="1200" b="1" i="0" kern="1200" dirty="0">
                <a:solidFill>
                  <a:schemeClr val="tx1"/>
                </a:solidFill>
                <a:effectLst/>
                <a:latin typeface="+mn-lt"/>
                <a:ea typeface="+mn-ea"/>
                <a:cs typeface="+mn-cs"/>
              </a:rPr>
              <a:t>主机号不能为全 </a:t>
            </a:r>
            <a:r>
              <a:rPr lang="en-US" altLang="zh-CN" sz="1200" b="1" i="0" kern="1200" dirty="0">
                <a:solidFill>
                  <a:schemeClr val="tx1"/>
                </a:solidFill>
                <a:effectLst/>
                <a:latin typeface="+mn-lt"/>
                <a:ea typeface="+mn-ea"/>
                <a:cs typeface="+mn-cs"/>
              </a:rPr>
              <a:t>0 </a:t>
            </a:r>
            <a:r>
              <a:rPr lang="zh-CN" altLang="en-US" sz="1200" b="1" i="0" kern="1200" dirty="0">
                <a:solidFill>
                  <a:schemeClr val="tx1"/>
                </a:solidFill>
                <a:effectLst/>
                <a:latin typeface="+mn-lt"/>
                <a:ea typeface="+mn-ea"/>
                <a:cs typeface="+mn-cs"/>
              </a:rPr>
              <a:t>和全 </a:t>
            </a:r>
            <a:r>
              <a:rPr lang="en-US" altLang="zh-CN" sz="1200" b="1" i="0" kern="1200" dirty="0">
                <a:solidFill>
                  <a:schemeClr val="tx1"/>
                </a:solidFill>
                <a:effectLst/>
                <a:latin typeface="+mn-lt"/>
                <a:ea typeface="+mn-ea"/>
                <a:cs typeface="+mn-cs"/>
              </a:rPr>
              <a:t>1</a:t>
            </a:r>
          </a:p>
          <a:p>
            <a:pPr marL="171450" indent="-171450">
              <a:buFont typeface="Arial" panose="020B0604020202020204" pitchFamily="34" charset="0"/>
              <a:buChar char="•"/>
            </a:pPr>
            <a:r>
              <a:rPr lang="zh-CN" altLang="en-US" sz="1200" b="0" i="0" kern="1200" dirty="0">
                <a:solidFill>
                  <a:schemeClr val="tx1"/>
                </a:solidFill>
                <a:effectLst/>
                <a:latin typeface="+mn-lt"/>
                <a:ea typeface="+mn-ea"/>
                <a:cs typeface="+mn-cs"/>
              </a:rPr>
              <a:t>主机位全为</a:t>
            </a:r>
            <a:r>
              <a:rPr lang="en-US" altLang="zh-CN" sz="1200" b="0" i="0" kern="1200" dirty="0">
                <a:solidFill>
                  <a:schemeClr val="tx1"/>
                </a:solidFill>
                <a:effectLst/>
                <a:latin typeface="+mn-lt"/>
                <a:ea typeface="+mn-ea"/>
                <a:cs typeface="+mn-cs"/>
              </a:rPr>
              <a:t>0</a:t>
            </a:r>
            <a:r>
              <a:rPr lang="zh-CN" altLang="en-US" sz="1200" b="0" i="0" kern="1200" dirty="0">
                <a:solidFill>
                  <a:schemeClr val="tx1"/>
                </a:solidFill>
                <a:effectLst/>
                <a:latin typeface="+mn-lt"/>
                <a:ea typeface="+mn-ea"/>
                <a:cs typeface="+mn-cs"/>
              </a:rPr>
              <a:t>表示的是这个网络中主机所处的网络地址，主机间能不能直接通信就是要看这两台主机是不是在同一个网络中！所以这个不能分配。</a:t>
            </a:r>
            <a:endParaRPr lang="en-US" altLang="zh-CN" sz="1200" b="0" i="0" kern="1200" dirty="0">
              <a:solidFill>
                <a:schemeClr val="tx1"/>
              </a:solidFill>
              <a:effectLst/>
              <a:latin typeface="+mn-lt"/>
              <a:ea typeface="+mn-ea"/>
              <a:cs typeface="+mn-cs"/>
            </a:endParaRPr>
          </a:p>
          <a:p>
            <a:pPr marL="171450" indent="-171450">
              <a:buFont typeface="Arial" panose="020B0604020202020204" pitchFamily="34" charset="0"/>
              <a:buChar char="•"/>
            </a:pPr>
            <a:r>
              <a:rPr lang="zh-CN" altLang="en-US" sz="1200" b="0" i="0" kern="1200" dirty="0">
                <a:solidFill>
                  <a:schemeClr val="tx1"/>
                </a:solidFill>
                <a:effectLst/>
                <a:latin typeface="+mn-lt"/>
                <a:ea typeface="+mn-ea"/>
                <a:cs typeface="+mn-cs"/>
              </a:rPr>
              <a:t>地址位全为</a:t>
            </a:r>
            <a:r>
              <a:rPr lang="en-US" altLang="zh-CN" sz="1200" b="0" i="0" kern="1200" dirty="0">
                <a:solidFill>
                  <a:schemeClr val="tx1"/>
                </a:solidFill>
                <a:effectLst/>
                <a:latin typeface="+mn-lt"/>
                <a:ea typeface="+mn-ea"/>
                <a:cs typeface="+mn-cs"/>
              </a:rPr>
              <a:t>1</a:t>
            </a:r>
            <a:r>
              <a:rPr lang="zh-CN" altLang="en-US" sz="1200" b="0" i="0" kern="1200" dirty="0">
                <a:solidFill>
                  <a:schemeClr val="tx1"/>
                </a:solidFill>
                <a:effectLst/>
                <a:latin typeface="+mn-lt"/>
                <a:ea typeface="+mn-ea"/>
                <a:cs typeface="+mn-cs"/>
              </a:rPr>
              <a:t>的地址是这个网络中主机的广播地址，当网络中一台主机向这个</a:t>
            </a:r>
            <a:r>
              <a:rPr lang="en-US" altLang="zh-CN" sz="1200" b="0" i="0" kern="1200" dirty="0" err="1">
                <a:solidFill>
                  <a:schemeClr val="tx1"/>
                </a:solidFill>
                <a:effectLst/>
                <a:latin typeface="+mn-lt"/>
                <a:ea typeface="+mn-ea"/>
                <a:cs typeface="+mn-cs"/>
              </a:rPr>
              <a:t>ip</a:t>
            </a:r>
            <a:r>
              <a:rPr lang="zh-CN" altLang="en-US" sz="1200" b="0" i="0" kern="1200" dirty="0">
                <a:solidFill>
                  <a:schemeClr val="tx1"/>
                </a:solidFill>
                <a:effectLst/>
                <a:latin typeface="+mn-lt"/>
                <a:ea typeface="+mn-ea"/>
                <a:cs typeface="+mn-cs"/>
              </a:rPr>
              <a:t>地址发送信息是，所有与这台主机在同一个网络的主机都能收到它发送的信息，所以这个也不能具体分配给一台主机。</a:t>
            </a:r>
            <a:endParaRPr lang="en-US" altLang="zh-CN" dirty="0"/>
          </a:p>
          <a:p>
            <a:endParaRPr lang="en-US" altLang="zh-CN" dirty="0"/>
          </a:p>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sz="1200" b="1" i="0" kern="1200" dirty="0">
                <a:solidFill>
                  <a:schemeClr val="tx1"/>
                </a:solidFill>
                <a:effectLst/>
                <a:latin typeface="+mn-lt"/>
                <a:ea typeface="+mn-ea"/>
                <a:cs typeface="+mn-cs"/>
              </a:rPr>
              <a:t>网络号或子网号是否能为 全 </a:t>
            </a:r>
            <a:r>
              <a:rPr lang="en-US" altLang="zh-CN" sz="1200" b="1" i="0" kern="1200" dirty="0">
                <a:solidFill>
                  <a:schemeClr val="tx1"/>
                </a:solidFill>
                <a:effectLst/>
                <a:latin typeface="+mn-lt"/>
                <a:ea typeface="+mn-ea"/>
                <a:cs typeface="+mn-cs"/>
              </a:rPr>
              <a:t>0 </a:t>
            </a:r>
            <a:r>
              <a:rPr lang="zh-CN" altLang="en-US" sz="1200" b="1" i="0" kern="1200" dirty="0">
                <a:solidFill>
                  <a:schemeClr val="tx1"/>
                </a:solidFill>
                <a:effectLst/>
                <a:latin typeface="+mn-lt"/>
                <a:ea typeface="+mn-ea"/>
                <a:cs typeface="+mn-cs"/>
              </a:rPr>
              <a:t>和全 </a:t>
            </a:r>
            <a:r>
              <a:rPr lang="en-US" altLang="zh-CN" sz="1200" b="1" i="0" kern="1200" dirty="0">
                <a:solidFill>
                  <a:schemeClr val="tx1"/>
                </a:solidFill>
                <a:effectLst/>
                <a:latin typeface="+mn-lt"/>
                <a:ea typeface="+mn-ea"/>
                <a:cs typeface="+mn-cs"/>
              </a:rPr>
              <a:t>1</a:t>
            </a:r>
            <a:r>
              <a:rPr lang="zh-CN" altLang="en-US" sz="1200" b="1" i="0" kern="1200" dirty="0">
                <a:solidFill>
                  <a:schemeClr val="tx1"/>
                </a:solidFill>
                <a:effectLst/>
                <a:latin typeface="+mn-lt"/>
                <a:ea typeface="+mn-ea"/>
                <a:cs typeface="+mn-cs"/>
              </a:rPr>
              <a:t>？</a:t>
            </a:r>
            <a:endParaRPr lang="en-US" altLang="zh-CN" sz="1200" b="1" i="0" kern="1200" dirty="0">
              <a:solidFill>
                <a:schemeClr val="tx1"/>
              </a:solidFill>
              <a:effectLst/>
              <a:latin typeface="+mn-lt"/>
              <a:ea typeface="+mn-ea"/>
              <a:cs typeface="+mn-cs"/>
            </a:endParaRPr>
          </a:p>
          <a:p>
            <a:pPr marL="171450" indent="-171450">
              <a:buFont typeface="Arial" panose="020B0604020202020204" pitchFamily="34" charset="0"/>
              <a:buChar char="•"/>
            </a:pPr>
            <a:r>
              <a:rPr lang="zh-CN" altLang="en-US" dirty="0"/>
              <a:t>在 </a:t>
            </a:r>
            <a:r>
              <a:rPr lang="en-US" altLang="zh-CN" dirty="0" err="1"/>
              <a:t>Classful</a:t>
            </a:r>
            <a:r>
              <a:rPr lang="en-US" altLang="zh-CN" dirty="0"/>
              <a:t> </a:t>
            </a:r>
            <a:r>
              <a:rPr lang="zh-CN" altLang="en-US" dirty="0"/>
              <a:t>环境，即严格按照</a:t>
            </a:r>
            <a:r>
              <a:rPr lang="en-US" altLang="zh-CN" dirty="0"/>
              <a:t> A.B.C.D </a:t>
            </a:r>
            <a:r>
              <a:rPr lang="zh-CN" altLang="en-US" dirty="0"/>
              <a:t>给 </a:t>
            </a:r>
            <a:r>
              <a:rPr lang="en-US" altLang="zh-CN" dirty="0"/>
              <a:t>IP </a:t>
            </a:r>
            <a:r>
              <a:rPr lang="zh-CN" altLang="en-US" dirty="0"/>
              <a:t>地址分类的环境下，为了避免二意性，全 </a:t>
            </a:r>
            <a:r>
              <a:rPr lang="en-US" altLang="zh-CN" dirty="0"/>
              <a:t>0 </a:t>
            </a:r>
            <a:r>
              <a:rPr lang="zh-CN" altLang="en-US" dirty="0"/>
              <a:t>和 全  </a:t>
            </a:r>
            <a:r>
              <a:rPr lang="en-US" altLang="zh-CN" dirty="0"/>
              <a:t>1 </a:t>
            </a:r>
            <a:r>
              <a:rPr lang="zh-CN" altLang="en-US" dirty="0"/>
              <a:t>子网号都不能使用。</a:t>
            </a:r>
            <a:endParaRPr lang="en-US" altLang="zh-CN" dirty="0"/>
          </a:p>
          <a:p>
            <a:pPr marL="171450" indent="-171450">
              <a:buFont typeface="Arial" panose="020B0604020202020204" pitchFamily="34" charset="0"/>
              <a:buChar char="•"/>
            </a:pPr>
            <a:r>
              <a:rPr lang="zh-CN" altLang="en-US" dirty="0"/>
              <a:t>在 </a:t>
            </a:r>
            <a:r>
              <a:rPr lang="en-US" altLang="zh-CN" dirty="0"/>
              <a:t>Classless</a:t>
            </a:r>
            <a:r>
              <a:rPr lang="zh-CN" altLang="en-US" baseline="0" dirty="0"/>
              <a:t> </a:t>
            </a:r>
            <a:r>
              <a:rPr lang="zh-CN" altLang="en-US" dirty="0"/>
              <a:t>环境下，任何时候掩码和 </a:t>
            </a:r>
            <a:r>
              <a:rPr lang="en-US" altLang="zh-CN" dirty="0"/>
              <a:t>IP </a:t>
            </a:r>
            <a:r>
              <a:rPr lang="zh-CN" altLang="en-US" dirty="0"/>
              <a:t>地址都成对出现，这样，前面谈到的二意性就不会存在。</a:t>
            </a:r>
            <a:endParaRPr lang="en-US" altLang="zh-CN" dirty="0"/>
          </a:p>
          <a:p>
            <a:endParaRPr lang="en-US" altLang="zh-CN" dirty="0"/>
          </a:p>
          <a:p>
            <a:r>
              <a:rPr lang="zh-CN" altLang="en-US" dirty="0"/>
              <a:t>是 </a:t>
            </a:r>
            <a:r>
              <a:rPr lang="en-US" altLang="zh-CN" dirty="0" err="1"/>
              <a:t>Classful</a:t>
            </a:r>
            <a:r>
              <a:rPr lang="en-US" altLang="zh-CN" dirty="0"/>
              <a:t> </a:t>
            </a:r>
            <a:r>
              <a:rPr lang="zh-CN" altLang="en-US" dirty="0"/>
              <a:t>还是 </a:t>
            </a:r>
            <a:r>
              <a:rPr lang="en-US" altLang="zh-CN" dirty="0"/>
              <a:t>Classless </a:t>
            </a:r>
            <a:r>
              <a:rPr lang="zh-CN" altLang="en-US" dirty="0"/>
              <a:t>取决于路由器运行的路由协议，一个路由器可同时运行 </a:t>
            </a:r>
            <a:r>
              <a:rPr lang="en-US" altLang="zh-CN" dirty="0" err="1"/>
              <a:t>Classful</a:t>
            </a:r>
            <a:r>
              <a:rPr lang="en-US" altLang="zh-CN" dirty="0"/>
              <a:t> </a:t>
            </a:r>
            <a:r>
              <a:rPr lang="zh-CN" altLang="en-US" dirty="0"/>
              <a:t>和 </a:t>
            </a:r>
            <a:r>
              <a:rPr lang="en-US" altLang="zh-CN" dirty="0"/>
              <a:t>Classless </a:t>
            </a:r>
            <a:r>
              <a:rPr lang="zh-CN" altLang="en-US" dirty="0"/>
              <a:t>路由协议。</a:t>
            </a:r>
            <a:endParaRPr lang="en-US" altLang="zh-CN" dirty="0"/>
          </a:p>
          <a:p>
            <a:r>
              <a:rPr lang="en-US" altLang="zh-CN" dirty="0"/>
              <a:t>RIP </a:t>
            </a:r>
            <a:r>
              <a:rPr lang="zh-CN" altLang="en-US" dirty="0"/>
              <a:t>是 </a:t>
            </a:r>
            <a:r>
              <a:rPr lang="en-US" altLang="zh-CN" dirty="0" err="1"/>
              <a:t>Classful</a:t>
            </a:r>
            <a:r>
              <a:rPr lang="zh-CN" altLang="en-US" dirty="0"/>
              <a:t>，</a:t>
            </a:r>
            <a:r>
              <a:rPr lang="en-US" altLang="zh-CN" dirty="0"/>
              <a:t>OSPF</a:t>
            </a:r>
            <a:r>
              <a:rPr lang="zh-CN" altLang="en-US" dirty="0"/>
              <a:t>、</a:t>
            </a:r>
            <a:r>
              <a:rPr lang="en-US" altLang="zh-CN" dirty="0"/>
              <a:t>EIGRP</a:t>
            </a:r>
            <a:r>
              <a:rPr lang="zh-CN" altLang="en-US" dirty="0"/>
              <a:t>、</a:t>
            </a:r>
            <a:r>
              <a:rPr lang="en-US" altLang="zh-CN" dirty="0"/>
              <a:t>BGP4 </a:t>
            </a:r>
            <a:r>
              <a:rPr lang="zh-CN" altLang="en-US" dirty="0"/>
              <a:t>是 </a:t>
            </a:r>
            <a:r>
              <a:rPr lang="en-US" altLang="zh-CN" dirty="0"/>
              <a:t>Classless</a:t>
            </a:r>
            <a:r>
              <a:rPr lang="zh-CN" altLang="en-US" dirty="0"/>
              <a:t>，它们可以同时运行在同一台路由器上。</a:t>
            </a:r>
            <a:endParaRPr lang="en-US" altLang="zh-CN" dirty="0"/>
          </a:p>
          <a:p>
            <a:r>
              <a:rPr lang="zh-CN" altLang="en-US" dirty="0"/>
              <a:t>例如：</a:t>
            </a:r>
            <a:endParaRPr lang="en-US" altLang="zh-CN" dirty="0"/>
          </a:p>
          <a:p>
            <a:r>
              <a:rPr lang="zh-CN" altLang="en-US" dirty="0"/>
              <a:t>在子网划分下，一个发往 </a:t>
            </a:r>
            <a:r>
              <a:rPr lang="en-US" altLang="zh-CN" dirty="0"/>
              <a:t>192.168.0.255 </a:t>
            </a:r>
            <a:r>
              <a:rPr lang="zh-CN" altLang="en-US" dirty="0"/>
              <a:t>的广播不能确认是发给主网络的还是子网；</a:t>
            </a:r>
            <a:endParaRPr lang="en-US" altLang="zh-CN" dirty="0"/>
          </a:p>
          <a:p>
            <a:r>
              <a:rPr lang="zh-CN" altLang="en-US" dirty="0"/>
              <a:t>然而采用 </a:t>
            </a:r>
            <a:r>
              <a:rPr lang="en-US" altLang="zh-CN" dirty="0"/>
              <a:t>CIDR </a:t>
            </a:r>
            <a:r>
              <a:rPr lang="zh-CN" altLang="en-US" dirty="0"/>
              <a:t>后，由于 </a:t>
            </a:r>
            <a:r>
              <a:rPr lang="en-US" altLang="zh-CN" dirty="0"/>
              <a:t>CIDR </a:t>
            </a:r>
            <a:r>
              <a:rPr lang="zh-CN" altLang="en-US" dirty="0"/>
              <a:t>在路由时采取最长前缀匹配，目的地址 </a:t>
            </a:r>
            <a:r>
              <a:rPr lang="en-US" altLang="zh-CN" dirty="0"/>
              <a:t>192.168.0.255 </a:t>
            </a:r>
            <a:r>
              <a:rPr lang="zh-CN" altLang="en-US" dirty="0"/>
              <a:t>和 地址块 </a:t>
            </a:r>
            <a:r>
              <a:rPr lang="en-US" altLang="zh-CN" dirty="0"/>
              <a:t>192.168.0.192/26 </a:t>
            </a:r>
            <a:r>
              <a:rPr lang="zh-CN" altLang="en-US" dirty="0"/>
              <a:t>的前缀匹配长度最长，所以广播发送到 </a:t>
            </a:r>
            <a:r>
              <a:rPr lang="en-US" altLang="zh-CN" dirty="0"/>
              <a:t>192.168.0.192/26 </a:t>
            </a:r>
            <a:r>
              <a:rPr lang="zh-CN" altLang="en-US" dirty="0"/>
              <a:t>地址块。</a:t>
            </a:r>
            <a:endParaRPr lang="en-US" altLang="zh-CN" dirty="0"/>
          </a:p>
          <a:p>
            <a:endParaRPr lang="en-US" altLang="zh-CN"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40</a:t>
            </a:fld>
            <a:endParaRPr lang="zh-CN" altLang="en-US"/>
          </a:p>
        </p:txBody>
      </p:sp>
    </p:spTree>
    <p:extLst>
      <p:ext uri="{BB962C8B-B14F-4D97-AF65-F5344CB8AC3E}">
        <p14:creationId xmlns:p14="http://schemas.microsoft.com/office/powerpoint/2010/main" val="199382289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45</a:t>
            </a:fld>
            <a:endParaRPr lang="zh-CN" altLang="en-US"/>
          </a:p>
        </p:txBody>
      </p:sp>
    </p:spTree>
    <p:extLst>
      <p:ext uri="{BB962C8B-B14F-4D97-AF65-F5344CB8AC3E}">
        <p14:creationId xmlns:p14="http://schemas.microsoft.com/office/powerpoint/2010/main" val="279549562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63</a:t>
            </a:fld>
            <a:endParaRPr lang="zh-CN" altLang="en-US"/>
          </a:p>
        </p:txBody>
      </p:sp>
    </p:spTree>
    <p:extLst>
      <p:ext uri="{BB962C8B-B14F-4D97-AF65-F5344CB8AC3E}">
        <p14:creationId xmlns:p14="http://schemas.microsoft.com/office/powerpoint/2010/main" val="257275348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64</a:t>
            </a:fld>
            <a:endParaRPr lang="zh-CN" altLang="en-US"/>
          </a:p>
        </p:txBody>
      </p:sp>
    </p:spTree>
    <p:extLst>
      <p:ext uri="{BB962C8B-B14F-4D97-AF65-F5344CB8AC3E}">
        <p14:creationId xmlns:p14="http://schemas.microsoft.com/office/powerpoint/2010/main" val="172939090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65</a:t>
            </a:fld>
            <a:endParaRPr lang="zh-CN" altLang="en-US"/>
          </a:p>
        </p:txBody>
      </p:sp>
    </p:spTree>
    <p:extLst>
      <p:ext uri="{BB962C8B-B14F-4D97-AF65-F5344CB8AC3E}">
        <p14:creationId xmlns:p14="http://schemas.microsoft.com/office/powerpoint/2010/main" val="370244841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73</a:t>
            </a:fld>
            <a:endParaRPr lang="zh-CN" altLang="en-US"/>
          </a:p>
        </p:txBody>
      </p:sp>
    </p:spTree>
    <p:extLst>
      <p:ext uri="{BB962C8B-B14F-4D97-AF65-F5344CB8AC3E}">
        <p14:creationId xmlns:p14="http://schemas.microsoft.com/office/powerpoint/2010/main" val="350610509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74</a:t>
            </a:fld>
            <a:endParaRPr lang="zh-CN" altLang="en-US"/>
          </a:p>
        </p:txBody>
      </p:sp>
    </p:spTree>
    <p:extLst>
      <p:ext uri="{BB962C8B-B14F-4D97-AF65-F5344CB8AC3E}">
        <p14:creationId xmlns:p14="http://schemas.microsoft.com/office/powerpoint/2010/main" val="96384984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75</a:t>
            </a:fld>
            <a:endParaRPr lang="zh-CN" altLang="en-US"/>
          </a:p>
        </p:txBody>
      </p:sp>
    </p:spTree>
    <p:extLst>
      <p:ext uri="{BB962C8B-B14F-4D97-AF65-F5344CB8AC3E}">
        <p14:creationId xmlns:p14="http://schemas.microsoft.com/office/powerpoint/2010/main" val="317457800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76</a:t>
            </a:fld>
            <a:endParaRPr lang="zh-CN" altLang="en-US"/>
          </a:p>
        </p:txBody>
      </p:sp>
    </p:spTree>
    <p:extLst>
      <p:ext uri="{BB962C8B-B14F-4D97-AF65-F5344CB8AC3E}">
        <p14:creationId xmlns:p14="http://schemas.microsoft.com/office/powerpoint/2010/main" val="165174244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228600" indent="-228600">
              <a:buAutoNum type="arabicParenBoth"/>
            </a:pPr>
            <a:endParaRPr lang="en-US" altLang="zh-CN"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77</a:t>
            </a:fld>
            <a:endParaRPr lang="zh-CN" altLang="en-US"/>
          </a:p>
        </p:txBody>
      </p:sp>
    </p:spTree>
    <p:extLst>
      <p:ext uri="{BB962C8B-B14F-4D97-AF65-F5344CB8AC3E}">
        <p14:creationId xmlns:p14="http://schemas.microsoft.com/office/powerpoint/2010/main" val="2356917747"/>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78</a:t>
            </a:fld>
            <a:endParaRPr lang="zh-CN" altLang="en-US"/>
          </a:p>
        </p:txBody>
      </p:sp>
    </p:spTree>
    <p:extLst>
      <p:ext uri="{BB962C8B-B14F-4D97-AF65-F5344CB8AC3E}">
        <p14:creationId xmlns:p14="http://schemas.microsoft.com/office/powerpoint/2010/main" val="39498397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79</a:t>
            </a:fld>
            <a:endParaRPr lang="zh-CN" altLang="en-US"/>
          </a:p>
        </p:txBody>
      </p:sp>
    </p:spTree>
    <p:extLst>
      <p:ext uri="{BB962C8B-B14F-4D97-AF65-F5344CB8AC3E}">
        <p14:creationId xmlns:p14="http://schemas.microsoft.com/office/powerpoint/2010/main" val="3379585184"/>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80</a:t>
            </a:fld>
            <a:endParaRPr lang="zh-CN" altLang="en-US"/>
          </a:p>
        </p:txBody>
      </p:sp>
    </p:spTree>
    <p:extLst>
      <p:ext uri="{BB962C8B-B14F-4D97-AF65-F5344CB8AC3E}">
        <p14:creationId xmlns:p14="http://schemas.microsoft.com/office/powerpoint/2010/main" val="2371706331"/>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81</a:t>
            </a:fld>
            <a:endParaRPr lang="zh-CN" altLang="en-US"/>
          </a:p>
        </p:txBody>
      </p:sp>
    </p:spTree>
    <p:extLst>
      <p:ext uri="{BB962C8B-B14F-4D97-AF65-F5344CB8AC3E}">
        <p14:creationId xmlns:p14="http://schemas.microsoft.com/office/powerpoint/2010/main" val="962616482"/>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82</a:t>
            </a:fld>
            <a:endParaRPr lang="zh-CN" altLang="en-US"/>
          </a:p>
        </p:txBody>
      </p:sp>
    </p:spTree>
    <p:extLst>
      <p:ext uri="{BB962C8B-B14F-4D97-AF65-F5344CB8AC3E}">
        <p14:creationId xmlns:p14="http://schemas.microsoft.com/office/powerpoint/2010/main" val="85466021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83</a:t>
            </a:fld>
            <a:endParaRPr lang="zh-CN" altLang="en-US"/>
          </a:p>
        </p:txBody>
      </p:sp>
    </p:spTree>
    <p:extLst>
      <p:ext uri="{BB962C8B-B14F-4D97-AF65-F5344CB8AC3E}">
        <p14:creationId xmlns:p14="http://schemas.microsoft.com/office/powerpoint/2010/main" val="1341894206"/>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88</a:t>
            </a:fld>
            <a:endParaRPr lang="zh-CN" altLang="en-US"/>
          </a:p>
        </p:txBody>
      </p:sp>
    </p:spTree>
    <p:extLst>
      <p:ext uri="{BB962C8B-B14F-4D97-AF65-F5344CB8AC3E}">
        <p14:creationId xmlns:p14="http://schemas.microsoft.com/office/powerpoint/2010/main" val="567901202"/>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90</a:t>
            </a:fld>
            <a:endParaRPr lang="zh-CN" altLang="en-US"/>
          </a:p>
        </p:txBody>
      </p:sp>
    </p:spTree>
    <p:extLst>
      <p:ext uri="{BB962C8B-B14F-4D97-AF65-F5344CB8AC3E}">
        <p14:creationId xmlns:p14="http://schemas.microsoft.com/office/powerpoint/2010/main" val="1014960248"/>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选项：可变长的可选信息，最多包含</a:t>
            </a:r>
            <a:r>
              <a:rPr lang="en-US" altLang="zh-CN" dirty="0"/>
              <a:t>40</a:t>
            </a:r>
            <a:r>
              <a:rPr lang="zh-CN" altLang="en-US" dirty="0"/>
              <a:t>字节。选项字段很少被使用。可用的</a:t>
            </a:r>
            <a:r>
              <a:rPr lang="en-US" altLang="zh-CN" dirty="0"/>
              <a:t>IP</a:t>
            </a:r>
            <a:r>
              <a:rPr lang="zh-CN" altLang="en-US" dirty="0"/>
              <a:t>可选项有：     </a:t>
            </a:r>
            <a:endParaRPr lang="en-US" altLang="zh-CN" dirty="0"/>
          </a:p>
          <a:p>
            <a:pPr marL="228600" indent="-228600">
              <a:buAutoNum type="alphaLcPeriod"/>
            </a:pPr>
            <a:r>
              <a:rPr lang="zh-CN" altLang="en-US" dirty="0"/>
              <a:t>记录路由</a:t>
            </a:r>
            <a:r>
              <a:rPr lang="en-US" altLang="zh-CN" dirty="0"/>
              <a:t>: </a:t>
            </a:r>
            <a:r>
              <a:rPr lang="zh-CN" altLang="en-US" dirty="0"/>
              <a:t>记录数据包途径的所有路由的</a:t>
            </a:r>
            <a:r>
              <a:rPr lang="en-US" altLang="zh-CN" dirty="0"/>
              <a:t>IP</a:t>
            </a:r>
            <a:r>
              <a:rPr lang="zh-CN" altLang="en-US" dirty="0"/>
              <a:t>，这样可以追踪数据包的传递路径      </a:t>
            </a:r>
            <a:endParaRPr lang="en-US" altLang="zh-CN" dirty="0"/>
          </a:p>
          <a:p>
            <a:pPr marL="228600" indent="-228600">
              <a:buAutoNum type="alphaLcPeriod"/>
            </a:pPr>
            <a:r>
              <a:rPr lang="en-US" altLang="zh-CN" dirty="0"/>
              <a:t> </a:t>
            </a:r>
            <a:r>
              <a:rPr lang="zh-CN" altLang="en-US" dirty="0"/>
              <a:t>时间戳</a:t>
            </a:r>
            <a:r>
              <a:rPr lang="en-US" altLang="zh-CN" dirty="0"/>
              <a:t>: </a:t>
            </a:r>
            <a:r>
              <a:rPr lang="zh-CN" altLang="en-US" dirty="0"/>
              <a:t>记录每个路由器数据报被转发的时间或者时间与</a:t>
            </a:r>
            <a:r>
              <a:rPr lang="en-US" altLang="zh-CN" dirty="0"/>
              <a:t>IP</a:t>
            </a:r>
            <a:r>
              <a:rPr lang="zh-CN" altLang="en-US" dirty="0"/>
              <a:t>地址对，这样就可以测量途径路由之间数据报的传输的时间    </a:t>
            </a:r>
            <a:endParaRPr lang="en-US" altLang="zh-CN" dirty="0"/>
          </a:p>
          <a:p>
            <a:pPr marL="228600" indent="-228600">
              <a:buAutoNum type="alphaLcPeriod"/>
            </a:pPr>
            <a:r>
              <a:rPr lang="zh-CN" altLang="en-US" dirty="0"/>
              <a:t>松散路由选择</a:t>
            </a:r>
            <a:r>
              <a:rPr lang="en-US" altLang="zh-CN" dirty="0"/>
              <a:t>: </a:t>
            </a:r>
            <a:r>
              <a:rPr lang="zh-CN" altLang="en-US" dirty="0"/>
              <a:t>指定路由器的</a:t>
            </a:r>
            <a:r>
              <a:rPr lang="en-US" altLang="zh-CN" dirty="0"/>
              <a:t>IP</a:t>
            </a:r>
            <a:r>
              <a:rPr lang="zh-CN" altLang="en-US" dirty="0"/>
              <a:t>地址列表数据发送过程中必须经过所有的路由器   </a:t>
            </a:r>
            <a:endParaRPr lang="en-US" altLang="zh-CN" dirty="0"/>
          </a:p>
          <a:p>
            <a:pPr marL="228600" indent="-228600">
              <a:buAutoNum type="alphaLcPeriod"/>
            </a:pPr>
            <a:r>
              <a:rPr lang="zh-CN" altLang="en-US" dirty="0"/>
              <a:t>严格路由选择</a:t>
            </a:r>
            <a:r>
              <a:rPr lang="en-US" altLang="zh-CN" dirty="0"/>
              <a:t>: </a:t>
            </a:r>
            <a:r>
              <a:rPr lang="zh-CN" altLang="en-US" dirty="0"/>
              <a:t>数据包只能经过被指定的</a:t>
            </a:r>
            <a:r>
              <a:rPr lang="en-US" altLang="zh-CN" dirty="0"/>
              <a:t>IP</a:t>
            </a:r>
            <a:r>
              <a:rPr lang="zh-CN" altLang="en-US" dirty="0"/>
              <a:t>地址列表的路由器      </a:t>
            </a:r>
            <a:endParaRPr lang="en-US" altLang="zh-CN" dirty="0"/>
          </a:p>
          <a:p>
            <a:pPr marL="228600" indent="-228600">
              <a:buAutoNum type="alphaLcPeriod"/>
            </a:pPr>
            <a:r>
              <a:rPr lang="zh-CN" altLang="en-US" dirty="0"/>
              <a:t>上层协议</a:t>
            </a:r>
            <a:r>
              <a:rPr lang="en-US" altLang="zh-CN" dirty="0"/>
              <a:t>(</a:t>
            </a:r>
            <a:r>
              <a:rPr lang="zh-CN" altLang="en-US" dirty="0"/>
              <a:t>如</a:t>
            </a:r>
            <a:r>
              <a:rPr lang="en-US" altLang="zh-CN" dirty="0"/>
              <a:t>TCP/UDP)</a:t>
            </a:r>
            <a:r>
              <a:rPr lang="zh-CN" altLang="en-US" dirty="0"/>
              <a:t>的头部信息</a:t>
            </a: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91</a:t>
            </a:fld>
            <a:endParaRPr lang="zh-CN" altLang="en-US"/>
          </a:p>
        </p:txBody>
      </p:sp>
    </p:spTree>
    <p:extLst>
      <p:ext uri="{BB962C8B-B14F-4D97-AF65-F5344CB8AC3E}">
        <p14:creationId xmlns:p14="http://schemas.microsoft.com/office/powerpoint/2010/main" val="258449770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99</a:t>
            </a:fld>
            <a:endParaRPr lang="zh-CN" altLang="en-US"/>
          </a:p>
        </p:txBody>
      </p:sp>
    </p:spTree>
    <p:extLst>
      <p:ext uri="{BB962C8B-B14F-4D97-AF65-F5344CB8AC3E}">
        <p14:creationId xmlns:p14="http://schemas.microsoft.com/office/powerpoint/2010/main" val="3421184304"/>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106</a:t>
            </a:fld>
            <a:endParaRPr lang="zh-CN" altLang="en-US"/>
          </a:p>
        </p:txBody>
      </p:sp>
    </p:spTree>
    <p:extLst>
      <p:ext uri="{BB962C8B-B14F-4D97-AF65-F5344CB8AC3E}">
        <p14:creationId xmlns:p14="http://schemas.microsoft.com/office/powerpoint/2010/main" val="2583558433"/>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109</a:t>
            </a:fld>
            <a:endParaRPr lang="zh-CN" altLang="en-US"/>
          </a:p>
        </p:txBody>
      </p:sp>
    </p:spTree>
    <p:extLst>
      <p:ext uri="{BB962C8B-B14F-4D97-AF65-F5344CB8AC3E}">
        <p14:creationId xmlns:p14="http://schemas.microsoft.com/office/powerpoint/2010/main" val="4184977121"/>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110</a:t>
            </a:fld>
            <a:endParaRPr lang="zh-CN" altLang="en-US"/>
          </a:p>
        </p:txBody>
      </p:sp>
    </p:spTree>
    <p:extLst>
      <p:ext uri="{BB962C8B-B14F-4D97-AF65-F5344CB8AC3E}">
        <p14:creationId xmlns:p14="http://schemas.microsoft.com/office/powerpoint/2010/main" val="513005888"/>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111</a:t>
            </a:fld>
            <a:endParaRPr lang="zh-CN" altLang="en-US"/>
          </a:p>
        </p:txBody>
      </p:sp>
    </p:spTree>
    <p:extLst>
      <p:ext uri="{BB962C8B-B14F-4D97-AF65-F5344CB8AC3E}">
        <p14:creationId xmlns:p14="http://schemas.microsoft.com/office/powerpoint/2010/main" val="2969043932"/>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某网络如图所示。</a:t>
            </a:r>
            <a:endParaRPr lang="en-US" altLang="zh-CN" dirty="0"/>
          </a:p>
          <a:p>
            <a:r>
              <a:rPr lang="zh-CN" altLang="en-US" dirty="0"/>
              <a:t>假设</a:t>
            </a:r>
            <a:r>
              <a:rPr lang="en-US" altLang="zh-CN" dirty="0"/>
              <a:t>R1</a:t>
            </a:r>
            <a:r>
              <a:rPr lang="zh-CN" altLang="en-US" dirty="0"/>
              <a:t>的路由表包括到达</a:t>
            </a:r>
            <a:r>
              <a:rPr lang="en-US" altLang="zh-CN" dirty="0"/>
              <a:t>3</a:t>
            </a:r>
            <a:r>
              <a:rPr lang="zh-CN" altLang="en-US" dirty="0"/>
              <a:t>个子网的路由。</a:t>
            </a:r>
          </a:p>
          <a:p>
            <a:r>
              <a:rPr lang="zh-CN" altLang="en-US" dirty="0"/>
              <a:t>假设位于</a:t>
            </a:r>
            <a:r>
              <a:rPr lang="en-US" altLang="zh-CN" dirty="0"/>
              <a:t>N1</a:t>
            </a:r>
            <a:r>
              <a:rPr lang="zh-CN" altLang="en-US" dirty="0"/>
              <a:t>子网中的主机 </a:t>
            </a:r>
            <a:r>
              <a:rPr lang="en-US" altLang="zh-CN" dirty="0"/>
              <a:t>H1 </a:t>
            </a:r>
            <a:r>
              <a:rPr lang="zh-CN" altLang="en-US" dirty="0"/>
              <a:t>发送一个目的地址为 </a:t>
            </a:r>
            <a:r>
              <a:rPr lang="en-US" altLang="zh-CN" dirty="0"/>
              <a:t>128.1.2.132 </a:t>
            </a:r>
            <a:r>
              <a:rPr lang="zh-CN" altLang="en-US" dirty="0"/>
              <a:t>的分组，该目的地址的主机位于</a:t>
            </a:r>
            <a:r>
              <a:rPr lang="en-US" altLang="zh-CN" dirty="0"/>
              <a:t>N2</a:t>
            </a:r>
            <a:r>
              <a:rPr lang="zh-CN" altLang="en-US" dirty="0"/>
              <a:t>子网中。该分组是如何被转发到目的主机的？</a:t>
            </a:r>
          </a:p>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112</a:t>
            </a:fld>
            <a:endParaRPr lang="zh-CN" altLang="en-US"/>
          </a:p>
        </p:txBody>
      </p:sp>
    </p:spTree>
    <p:extLst>
      <p:ext uri="{BB962C8B-B14F-4D97-AF65-F5344CB8AC3E}">
        <p14:creationId xmlns:p14="http://schemas.microsoft.com/office/powerpoint/2010/main" val="4036634271"/>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首先，</a:t>
            </a:r>
            <a:r>
              <a:rPr lang="en-US" altLang="zh-CN" dirty="0"/>
              <a:t>H1 </a:t>
            </a:r>
            <a:r>
              <a:rPr lang="zh-CN" altLang="en-US" dirty="0"/>
              <a:t>检查 </a:t>
            </a:r>
            <a:r>
              <a:rPr lang="en-US" altLang="zh-CN" dirty="0"/>
              <a:t>128.1.2.132 </a:t>
            </a:r>
            <a:r>
              <a:rPr lang="zh-CN" altLang="en-US" dirty="0"/>
              <a:t>是否与其连接在本网络上。如果是，则直接交付；否则，就送交路由器 </a:t>
            </a:r>
            <a:r>
              <a:rPr lang="en-US" altLang="zh-CN" dirty="0"/>
              <a:t>R1</a:t>
            </a:r>
            <a:r>
              <a:rPr lang="zh-CN" altLang="en-US" dirty="0"/>
              <a:t>。</a:t>
            </a:r>
          </a:p>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113</a:t>
            </a:fld>
            <a:endParaRPr lang="zh-CN" altLang="en-US"/>
          </a:p>
        </p:txBody>
      </p:sp>
    </p:spTree>
    <p:extLst>
      <p:ext uri="{BB962C8B-B14F-4D97-AF65-F5344CB8AC3E}">
        <p14:creationId xmlns:p14="http://schemas.microsoft.com/office/powerpoint/2010/main" val="3500160402"/>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当</a:t>
            </a:r>
            <a:r>
              <a:rPr lang="en-US" altLang="zh-CN" dirty="0"/>
              <a:t>R1</a:t>
            </a:r>
            <a:r>
              <a:rPr lang="zh-CN" altLang="en-US" dirty="0"/>
              <a:t>收到目的地址为</a:t>
            </a:r>
            <a:r>
              <a:rPr lang="en-US" altLang="zh-CN" dirty="0"/>
              <a:t>128.1.2.132</a:t>
            </a:r>
            <a:r>
              <a:rPr lang="zh-CN" altLang="en-US" dirty="0"/>
              <a:t>的分组时，应该从那个接口向外转发呢？</a:t>
            </a:r>
            <a:endParaRPr lang="en-US" altLang="zh-CN" dirty="0"/>
          </a:p>
          <a:p>
            <a:r>
              <a:rPr lang="zh-CN" altLang="en-US" dirty="0"/>
              <a:t>路由器必须查表，检查目的地址与哪条前缀或路由匹配。</a:t>
            </a:r>
            <a:endParaRPr lang="en-US" altLang="zh-CN" dirty="0"/>
          </a:p>
          <a:p>
            <a:r>
              <a:rPr lang="zh-CN" altLang="en-US" dirty="0"/>
              <a:t>不匹配，则继续查下一条前缀或路由。</a:t>
            </a:r>
          </a:p>
          <a:p>
            <a:endParaRPr lang="en-US" altLang="zh-CN" dirty="0"/>
          </a:p>
          <a:p>
            <a:pPr marL="0" marR="0" indent="0" algn="l" defTabSz="914400" rtl="0" eaLnBrk="1" fontAlgn="auto" latinLnBrk="0" hangingPunct="1">
              <a:lnSpc>
                <a:spcPct val="100000"/>
              </a:lnSpc>
              <a:spcBef>
                <a:spcPts val="0"/>
              </a:spcBef>
              <a:spcAft>
                <a:spcPts val="0"/>
              </a:spcAft>
              <a:buClrTx/>
              <a:buSzTx/>
              <a:buFontTx/>
              <a:buNone/>
              <a:tabLst/>
              <a:defRPr/>
            </a:pPr>
            <a:r>
              <a:rPr lang="zh-CN" altLang="en-US" dirty="0"/>
              <a:t>现在先检查第</a:t>
            </a:r>
            <a:r>
              <a:rPr lang="en-US" altLang="zh-CN" dirty="0"/>
              <a:t>1</a:t>
            </a:r>
            <a:r>
              <a:rPr lang="zh-CN" altLang="en-US" dirty="0"/>
              <a:t>行。经计算比较，不匹配。继续查下一条前缀或路由。</a:t>
            </a:r>
          </a:p>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114</a:t>
            </a:fld>
            <a:endParaRPr lang="zh-CN" altLang="en-US"/>
          </a:p>
        </p:txBody>
      </p:sp>
    </p:spTree>
    <p:extLst>
      <p:ext uri="{BB962C8B-B14F-4D97-AF65-F5344CB8AC3E}">
        <p14:creationId xmlns:p14="http://schemas.microsoft.com/office/powerpoint/2010/main" val="3411841792"/>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检查第</a:t>
            </a:r>
            <a:r>
              <a:rPr lang="en-US" altLang="zh-CN" dirty="0"/>
              <a:t>2</a:t>
            </a:r>
            <a:r>
              <a:rPr lang="zh-CN" altLang="en-US" dirty="0"/>
              <a:t>行。经计算比较，与此路由匹配，从下一跳指示的接口转发出去。</a:t>
            </a:r>
            <a:endParaRPr lang="en-US" altLang="zh-CN" dirty="0"/>
          </a:p>
          <a:p>
            <a:r>
              <a:rPr lang="zh-CN" altLang="en-US" dirty="0"/>
              <a:t>由于</a:t>
            </a:r>
            <a:r>
              <a:rPr lang="en-US" altLang="zh-CN" dirty="0"/>
              <a:t>R1</a:t>
            </a:r>
            <a:r>
              <a:rPr lang="zh-CN" altLang="en-US" dirty="0"/>
              <a:t>与目的主机 </a:t>
            </a:r>
            <a:r>
              <a:rPr lang="en-US" altLang="zh-CN" dirty="0"/>
              <a:t>128.1.2.128/25 </a:t>
            </a:r>
            <a:r>
              <a:rPr lang="zh-CN" altLang="en-US" dirty="0"/>
              <a:t>位于同一个子网，因此可以直接交付分组。</a:t>
            </a:r>
          </a:p>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115</a:t>
            </a:fld>
            <a:endParaRPr lang="zh-CN" altLang="en-US"/>
          </a:p>
        </p:txBody>
      </p:sp>
    </p:spTree>
    <p:extLst>
      <p:ext uri="{BB962C8B-B14F-4D97-AF65-F5344CB8AC3E}">
        <p14:creationId xmlns:p14="http://schemas.microsoft.com/office/powerpoint/2010/main" val="332821285"/>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116</a:t>
            </a:fld>
            <a:endParaRPr lang="zh-CN" altLang="en-US"/>
          </a:p>
        </p:txBody>
      </p:sp>
    </p:spTree>
    <p:extLst>
      <p:ext uri="{BB962C8B-B14F-4D97-AF65-F5344CB8AC3E}">
        <p14:creationId xmlns:p14="http://schemas.microsoft.com/office/powerpoint/2010/main" val="3458935776"/>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假设</a:t>
            </a:r>
            <a:r>
              <a:rPr lang="en-US" altLang="zh-CN" dirty="0"/>
              <a:t>R1</a:t>
            </a:r>
            <a:r>
              <a:rPr lang="zh-CN" altLang="en-US" dirty="0"/>
              <a:t>的路由表包括以下</a:t>
            </a:r>
            <a:r>
              <a:rPr lang="en-US" altLang="zh-CN" dirty="0"/>
              <a:t>3</a:t>
            </a:r>
            <a:r>
              <a:rPr lang="zh-CN" altLang="en-US" dirty="0"/>
              <a:t>条路由。</a:t>
            </a:r>
            <a:endParaRPr lang="en-US" altLang="zh-CN" dirty="0"/>
          </a:p>
          <a:p>
            <a:r>
              <a:rPr lang="zh-CN" altLang="en-US" b="0" dirty="0"/>
              <a:t>当</a:t>
            </a:r>
            <a:r>
              <a:rPr lang="en-US" altLang="zh-CN" b="0" dirty="0"/>
              <a:t>R1</a:t>
            </a:r>
            <a:r>
              <a:rPr lang="zh-CN" altLang="en-US" b="0" dirty="0"/>
              <a:t>收到目的地址为 </a:t>
            </a:r>
            <a:r>
              <a:rPr lang="en-US" altLang="zh-CN" b="0" dirty="0">
                <a:solidFill>
                  <a:srgbClr val="0000FF"/>
                </a:solidFill>
                <a:latin typeface="微软雅黑" panose="020B0503020204020204" pitchFamily="34" charset="-122"/>
                <a:ea typeface="微软雅黑" panose="020B0503020204020204" pitchFamily="34" charset="-122"/>
              </a:rPr>
              <a:t>128.1.2.196/26 </a:t>
            </a:r>
            <a:r>
              <a:rPr lang="zh-CN" altLang="en-US" b="0" dirty="0">
                <a:solidFill>
                  <a:srgbClr val="0000FF"/>
                </a:solidFill>
                <a:latin typeface="微软雅黑" panose="020B0503020204020204" pitchFamily="34" charset="-122"/>
                <a:ea typeface="微软雅黑" panose="020B0503020204020204" pitchFamily="34" charset="-122"/>
              </a:rPr>
              <a:t>的分组时，应该从那个接口向外转发呢？</a:t>
            </a:r>
            <a:endParaRPr lang="zh-CN" altLang="en-US" b="0"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117</a:t>
            </a:fld>
            <a:endParaRPr lang="zh-CN" altLang="en-US"/>
          </a:p>
        </p:txBody>
      </p:sp>
    </p:spTree>
    <p:extLst>
      <p:ext uri="{BB962C8B-B14F-4D97-AF65-F5344CB8AC3E}">
        <p14:creationId xmlns:p14="http://schemas.microsoft.com/office/powerpoint/2010/main" val="296604902"/>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118</a:t>
            </a:fld>
            <a:endParaRPr lang="zh-CN" altLang="en-US"/>
          </a:p>
        </p:txBody>
      </p:sp>
    </p:spTree>
    <p:extLst>
      <p:ext uri="{BB962C8B-B14F-4D97-AF65-F5344CB8AC3E}">
        <p14:creationId xmlns:p14="http://schemas.microsoft.com/office/powerpoint/2010/main" val="3430054194"/>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119</a:t>
            </a:fld>
            <a:endParaRPr lang="zh-CN" altLang="en-US"/>
          </a:p>
        </p:txBody>
      </p:sp>
    </p:spTree>
    <p:extLst>
      <p:ext uri="{BB962C8B-B14F-4D97-AF65-F5344CB8AC3E}">
        <p14:creationId xmlns:p14="http://schemas.microsoft.com/office/powerpoint/2010/main" val="4167627140"/>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128.1.3.64/26</a:t>
            </a:r>
          </a:p>
          <a:p>
            <a:r>
              <a:rPr lang="en-US" altLang="zh-CN" dirty="0"/>
              <a:t>128.1.2.192/16</a:t>
            </a:r>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120</a:t>
            </a:fld>
            <a:endParaRPr lang="zh-CN" altLang="en-US"/>
          </a:p>
        </p:txBody>
      </p:sp>
    </p:spTree>
    <p:extLst>
      <p:ext uri="{BB962C8B-B14F-4D97-AF65-F5344CB8AC3E}">
        <p14:creationId xmlns:p14="http://schemas.microsoft.com/office/powerpoint/2010/main" val="3610098914"/>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122</a:t>
            </a:fld>
            <a:endParaRPr lang="zh-CN" altLang="en-US"/>
          </a:p>
        </p:txBody>
      </p:sp>
    </p:spTree>
    <p:extLst>
      <p:ext uri="{BB962C8B-B14F-4D97-AF65-F5344CB8AC3E}">
        <p14:creationId xmlns:p14="http://schemas.microsoft.com/office/powerpoint/2010/main" val="3306298878"/>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123</a:t>
            </a:fld>
            <a:endParaRPr lang="zh-CN" altLang="en-US"/>
          </a:p>
        </p:txBody>
      </p:sp>
    </p:spTree>
    <p:extLst>
      <p:ext uri="{BB962C8B-B14F-4D97-AF65-F5344CB8AC3E}">
        <p14:creationId xmlns:p14="http://schemas.microsoft.com/office/powerpoint/2010/main" val="138319120"/>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125</a:t>
            </a:fld>
            <a:endParaRPr lang="zh-CN" altLang="en-US"/>
          </a:p>
        </p:txBody>
      </p:sp>
    </p:spTree>
    <p:extLst>
      <p:ext uri="{BB962C8B-B14F-4D97-AF65-F5344CB8AC3E}">
        <p14:creationId xmlns:p14="http://schemas.microsoft.com/office/powerpoint/2010/main" val="3960366434"/>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126</a:t>
            </a:fld>
            <a:endParaRPr lang="zh-CN" altLang="en-US"/>
          </a:p>
        </p:txBody>
      </p:sp>
    </p:spTree>
    <p:extLst>
      <p:ext uri="{BB962C8B-B14F-4D97-AF65-F5344CB8AC3E}">
        <p14:creationId xmlns:p14="http://schemas.microsoft.com/office/powerpoint/2010/main" val="3360570156"/>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130</a:t>
            </a:fld>
            <a:endParaRPr lang="zh-CN" altLang="en-US"/>
          </a:p>
        </p:txBody>
      </p:sp>
    </p:spTree>
    <p:extLst>
      <p:ext uri="{BB962C8B-B14F-4D97-AF65-F5344CB8AC3E}">
        <p14:creationId xmlns:p14="http://schemas.microsoft.com/office/powerpoint/2010/main" val="4137369717"/>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131</a:t>
            </a:fld>
            <a:endParaRPr lang="zh-CN" altLang="en-US"/>
          </a:p>
        </p:txBody>
      </p:sp>
    </p:spTree>
    <p:extLst>
      <p:ext uri="{BB962C8B-B14F-4D97-AF65-F5344CB8AC3E}">
        <p14:creationId xmlns:p14="http://schemas.microsoft.com/office/powerpoint/2010/main" val="2087675110"/>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133</a:t>
            </a:fld>
            <a:endParaRPr lang="zh-CN" altLang="en-US"/>
          </a:p>
        </p:txBody>
      </p:sp>
    </p:spTree>
    <p:extLst>
      <p:ext uri="{BB962C8B-B14F-4D97-AF65-F5344CB8AC3E}">
        <p14:creationId xmlns:p14="http://schemas.microsoft.com/office/powerpoint/2010/main" val="901308429"/>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134</a:t>
            </a:fld>
            <a:endParaRPr lang="zh-CN" altLang="en-US"/>
          </a:p>
        </p:txBody>
      </p:sp>
    </p:spTree>
    <p:extLst>
      <p:ext uri="{BB962C8B-B14F-4D97-AF65-F5344CB8AC3E}">
        <p14:creationId xmlns:p14="http://schemas.microsoft.com/office/powerpoint/2010/main" val="1699850917"/>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156</a:t>
            </a:fld>
            <a:endParaRPr lang="zh-CN" altLang="en-US"/>
          </a:p>
        </p:txBody>
      </p:sp>
    </p:spTree>
    <p:extLst>
      <p:ext uri="{BB962C8B-B14F-4D97-AF65-F5344CB8AC3E}">
        <p14:creationId xmlns:p14="http://schemas.microsoft.com/office/powerpoint/2010/main" val="2346473190"/>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163</a:t>
            </a:fld>
            <a:endParaRPr lang="zh-CN" altLang="en-US"/>
          </a:p>
        </p:txBody>
      </p:sp>
    </p:spTree>
    <p:extLst>
      <p:ext uri="{BB962C8B-B14F-4D97-AF65-F5344CB8AC3E}">
        <p14:creationId xmlns:p14="http://schemas.microsoft.com/office/powerpoint/2010/main" val="445472059"/>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165</a:t>
            </a:fld>
            <a:endParaRPr lang="zh-CN" altLang="en-US"/>
          </a:p>
        </p:txBody>
      </p:sp>
    </p:spTree>
    <p:extLst>
      <p:ext uri="{BB962C8B-B14F-4D97-AF65-F5344CB8AC3E}">
        <p14:creationId xmlns:p14="http://schemas.microsoft.com/office/powerpoint/2010/main" val="1800022497"/>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167</a:t>
            </a:fld>
            <a:endParaRPr lang="zh-CN" altLang="en-US"/>
          </a:p>
        </p:txBody>
      </p:sp>
    </p:spTree>
    <p:extLst>
      <p:ext uri="{BB962C8B-B14F-4D97-AF65-F5344CB8AC3E}">
        <p14:creationId xmlns:p14="http://schemas.microsoft.com/office/powerpoint/2010/main" val="156325671"/>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168</a:t>
            </a:fld>
            <a:endParaRPr lang="zh-CN" altLang="en-US"/>
          </a:p>
        </p:txBody>
      </p:sp>
    </p:spTree>
    <p:extLst>
      <p:ext uri="{BB962C8B-B14F-4D97-AF65-F5344CB8AC3E}">
        <p14:creationId xmlns:p14="http://schemas.microsoft.com/office/powerpoint/2010/main" val="4014803499"/>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169</a:t>
            </a:fld>
            <a:endParaRPr lang="zh-CN" altLang="en-US"/>
          </a:p>
        </p:txBody>
      </p:sp>
    </p:spTree>
    <p:extLst>
      <p:ext uri="{BB962C8B-B14F-4D97-AF65-F5344CB8AC3E}">
        <p14:creationId xmlns:p14="http://schemas.microsoft.com/office/powerpoint/2010/main" val="1291002870"/>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171</a:t>
            </a:fld>
            <a:endParaRPr lang="zh-CN" altLang="en-US"/>
          </a:p>
        </p:txBody>
      </p:sp>
    </p:spTree>
    <p:extLst>
      <p:ext uri="{BB962C8B-B14F-4D97-AF65-F5344CB8AC3E}">
        <p14:creationId xmlns:p14="http://schemas.microsoft.com/office/powerpoint/2010/main" val="3223659125"/>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172</a:t>
            </a:fld>
            <a:endParaRPr lang="zh-CN" altLang="en-US"/>
          </a:p>
        </p:txBody>
      </p:sp>
    </p:spTree>
    <p:extLst>
      <p:ext uri="{BB962C8B-B14F-4D97-AF65-F5344CB8AC3E}">
        <p14:creationId xmlns:p14="http://schemas.microsoft.com/office/powerpoint/2010/main" val="3970306036"/>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174</a:t>
            </a:fld>
            <a:endParaRPr lang="zh-CN" altLang="en-US"/>
          </a:p>
        </p:txBody>
      </p:sp>
    </p:spTree>
    <p:extLst>
      <p:ext uri="{BB962C8B-B14F-4D97-AF65-F5344CB8AC3E}">
        <p14:creationId xmlns:p14="http://schemas.microsoft.com/office/powerpoint/2010/main" val="4095389439"/>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175</a:t>
            </a:fld>
            <a:endParaRPr lang="zh-CN" altLang="en-US"/>
          </a:p>
        </p:txBody>
      </p:sp>
    </p:spTree>
    <p:extLst>
      <p:ext uri="{BB962C8B-B14F-4D97-AF65-F5344CB8AC3E}">
        <p14:creationId xmlns:p14="http://schemas.microsoft.com/office/powerpoint/2010/main" val="2128036400"/>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176</a:t>
            </a:fld>
            <a:endParaRPr lang="zh-CN" altLang="en-US"/>
          </a:p>
        </p:txBody>
      </p:sp>
    </p:spTree>
    <p:extLst>
      <p:ext uri="{BB962C8B-B14F-4D97-AF65-F5344CB8AC3E}">
        <p14:creationId xmlns:p14="http://schemas.microsoft.com/office/powerpoint/2010/main" val="3198315029"/>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180</a:t>
            </a:fld>
            <a:endParaRPr lang="zh-CN" altLang="en-US"/>
          </a:p>
        </p:txBody>
      </p:sp>
    </p:spTree>
    <p:extLst>
      <p:ext uri="{BB962C8B-B14F-4D97-AF65-F5344CB8AC3E}">
        <p14:creationId xmlns:p14="http://schemas.microsoft.com/office/powerpoint/2010/main" val="3566377440"/>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182</a:t>
            </a:fld>
            <a:endParaRPr lang="zh-CN" altLang="en-US"/>
          </a:p>
        </p:txBody>
      </p:sp>
    </p:spTree>
    <p:extLst>
      <p:ext uri="{BB962C8B-B14F-4D97-AF65-F5344CB8AC3E}">
        <p14:creationId xmlns:p14="http://schemas.microsoft.com/office/powerpoint/2010/main" val="2495184087"/>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186</a:t>
            </a:fld>
            <a:endParaRPr lang="zh-CN" altLang="en-US"/>
          </a:p>
        </p:txBody>
      </p:sp>
    </p:spTree>
    <p:extLst>
      <p:ext uri="{BB962C8B-B14F-4D97-AF65-F5344CB8AC3E}">
        <p14:creationId xmlns:p14="http://schemas.microsoft.com/office/powerpoint/2010/main" val="948000298"/>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187</a:t>
            </a:fld>
            <a:endParaRPr lang="zh-CN" altLang="en-US"/>
          </a:p>
        </p:txBody>
      </p:sp>
    </p:spTree>
    <p:extLst>
      <p:ext uri="{BB962C8B-B14F-4D97-AF65-F5344CB8AC3E}">
        <p14:creationId xmlns:p14="http://schemas.microsoft.com/office/powerpoint/2010/main" val="3845104121"/>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188</a:t>
            </a:fld>
            <a:endParaRPr lang="zh-CN" altLang="en-US"/>
          </a:p>
        </p:txBody>
      </p:sp>
    </p:spTree>
    <p:extLst>
      <p:ext uri="{BB962C8B-B14F-4D97-AF65-F5344CB8AC3E}">
        <p14:creationId xmlns:p14="http://schemas.microsoft.com/office/powerpoint/2010/main" val="730483475"/>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191</a:t>
            </a:fld>
            <a:endParaRPr lang="zh-CN" altLang="en-US"/>
          </a:p>
        </p:txBody>
      </p:sp>
    </p:spTree>
    <p:extLst>
      <p:ext uri="{BB962C8B-B14F-4D97-AF65-F5344CB8AC3E}">
        <p14:creationId xmlns:p14="http://schemas.microsoft.com/office/powerpoint/2010/main" val="3972008296"/>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203</a:t>
            </a:fld>
            <a:endParaRPr lang="zh-CN" altLang="en-US"/>
          </a:p>
        </p:txBody>
      </p:sp>
    </p:spTree>
    <p:extLst>
      <p:ext uri="{BB962C8B-B14F-4D97-AF65-F5344CB8AC3E}">
        <p14:creationId xmlns:p14="http://schemas.microsoft.com/office/powerpoint/2010/main" val="2050566428"/>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204</a:t>
            </a:fld>
            <a:endParaRPr lang="zh-CN" altLang="en-US"/>
          </a:p>
        </p:txBody>
      </p:sp>
    </p:spTree>
    <p:extLst>
      <p:ext uri="{BB962C8B-B14F-4D97-AF65-F5344CB8AC3E}">
        <p14:creationId xmlns:p14="http://schemas.microsoft.com/office/powerpoint/2010/main" val="2199297906"/>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220</a:t>
            </a:fld>
            <a:endParaRPr lang="zh-CN" altLang="en-US"/>
          </a:p>
        </p:txBody>
      </p:sp>
    </p:spTree>
    <p:extLst>
      <p:ext uri="{BB962C8B-B14F-4D97-AF65-F5344CB8AC3E}">
        <p14:creationId xmlns:p14="http://schemas.microsoft.com/office/powerpoint/2010/main" val="2562242834"/>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221</a:t>
            </a:fld>
            <a:endParaRPr lang="zh-CN" altLang="en-US"/>
          </a:p>
        </p:txBody>
      </p:sp>
    </p:spTree>
    <p:extLst>
      <p:ext uri="{BB962C8B-B14F-4D97-AF65-F5344CB8AC3E}">
        <p14:creationId xmlns:p14="http://schemas.microsoft.com/office/powerpoint/2010/main" val="2318921675"/>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222</a:t>
            </a:fld>
            <a:endParaRPr lang="zh-CN" altLang="en-US"/>
          </a:p>
        </p:txBody>
      </p:sp>
    </p:spTree>
    <p:extLst>
      <p:ext uri="{BB962C8B-B14F-4D97-AF65-F5344CB8AC3E}">
        <p14:creationId xmlns:p14="http://schemas.microsoft.com/office/powerpoint/2010/main" val="2078752761"/>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223</a:t>
            </a:fld>
            <a:endParaRPr lang="zh-CN" altLang="en-US"/>
          </a:p>
        </p:txBody>
      </p:sp>
    </p:spTree>
    <p:extLst>
      <p:ext uri="{BB962C8B-B14F-4D97-AF65-F5344CB8AC3E}">
        <p14:creationId xmlns:p14="http://schemas.microsoft.com/office/powerpoint/2010/main" val="3853006161"/>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224</a:t>
            </a:fld>
            <a:endParaRPr lang="zh-CN" altLang="en-US"/>
          </a:p>
        </p:txBody>
      </p:sp>
    </p:spTree>
    <p:extLst>
      <p:ext uri="{BB962C8B-B14F-4D97-AF65-F5344CB8AC3E}">
        <p14:creationId xmlns:p14="http://schemas.microsoft.com/office/powerpoint/2010/main" val="136214814"/>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225</a:t>
            </a:fld>
            <a:endParaRPr lang="zh-CN" altLang="en-US"/>
          </a:p>
        </p:txBody>
      </p:sp>
    </p:spTree>
    <p:extLst>
      <p:ext uri="{BB962C8B-B14F-4D97-AF65-F5344CB8AC3E}">
        <p14:creationId xmlns:p14="http://schemas.microsoft.com/office/powerpoint/2010/main" val="2505735152"/>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226</a:t>
            </a:fld>
            <a:endParaRPr lang="zh-CN" altLang="en-US"/>
          </a:p>
        </p:txBody>
      </p:sp>
    </p:spTree>
    <p:extLst>
      <p:ext uri="{BB962C8B-B14F-4D97-AF65-F5344CB8AC3E}">
        <p14:creationId xmlns:p14="http://schemas.microsoft.com/office/powerpoint/2010/main" val="2473891348"/>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227</a:t>
            </a:fld>
            <a:endParaRPr lang="zh-CN" altLang="en-US"/>
          </a:p>
        </p:txBody>
      </p:sp>
    </p:spTree>
    <p:extLst>
      <p:ext uri="{BB962C8B-B14F-4D97-AF65-F5344CB8AC3E}">
        <p14:creationId xmlns:p14="http://schemas.microsoft.com/office/powerpoint/2010/main" val="830107887"/>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228</a:t>
            </a:fld>
            <a:endParaRPr lang="zh-CN" altLang="en-US"/>
          </a:p>
        </p:txBody>
      </p:sp>
    </p:spTree>
    <p:extLst>
      <p:ext uri="{BB962C8B-B14F-4D97-AF65-F5344CB8AC3E}">
        <p14:creationId xmlns:p14="http://schemas.microsoft.com/office/powerpoint/2010/main" val="1888782397"/>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229</a:t>
            </a:fld>
            <a:endParaRPr lang="zh-CN" altLang="en-US"/>
          </a:p>
        </p:txBody>
      </p:sp>
    </p:spTree>
    <p:extLst>
      <p:ext uri="{BB962C8B-B14F-4D97-AF65-F5344CB8AC3E}">
        <p14:creationId xmlns:p14="http://schemas.microsoft.com/office/powerpoint/2010/main" val="2124490071"/>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231</a:t>
            </a:fld>
            <a:endParaRPr lang="zh-CN" altLang="en-US"/>
          </a:p>
        </p:txBody>
      </p:sp>
    </p:spTree>
    <p:extLst>
      <p:ext uri="{BB962C8B-B14F-4D97-AF65-F5344CB8AC3E}">
        <p14:creationId xmlns:p14="http://schemas.microsoft.com/office/powerpoint/2010/main" val="2279910769"/>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232</a:t>
            </a:fld>
            <a:endParaRPr lang="zh-CN" altLang="en-US"/>
          </a:p>
        </p:txBody>
      </p:sp>
    </p:spTree>
    <p:extLst>
      <p:ext uri="{BB962C8B-B14F-4D97-AF65-F5344CB8AC3E}">
        <p14:creationId xmlns:p14="http://schemas.microsoft.com/office/powerpoint/2010/main" val="2036328508"/>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233</a:t>
            </a:fld>
            <a:endParaRPr lang="zh-CN" altLang="en-US"/>
          </a:p>
        </p:txBody>
      </p:sp>
    </p:spTree>
    <p:extLst>
      <p:ext uri="{BB962C8B-B14F-4D97-AF65-F5344CB8AC3E}">
        <p14:creationId xmlns:p14="http://schemas.microsoft.com/office/powerpoint/2010/main" val="2556852765"/>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234</a:t>
            </a:fld>
            <a:endParaRPr lang="zh-CN" altLang="en-US"/>
          </a:p>
        </p:txBody>
      </p:sp>
    </p:spTree>
    <p:extLst>
      <p:ext uri="{BB962C8B-B14F-4D97-AF65-F5344CB8AC3E}">
        <p14:creationId xmlns:p14="http://schemas.microsoft.com/office/powerpoint/2010/main" val="72032569"/>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选择尽量少的跳数离开本</a:t>
            </a:r>
            <a:r>
              <a:rPr lang="en-US" altLang="zh-CN" dirty="0"/>
              <a:t>AS</a:t>
            </a:r>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235</a:t>
            </a:fld>
            <a:endParaRPr lang="zh-CN" altLang="en-US"/>
          </a:p>
        </p:txBody>
      </p:sp>
    </p:spTree>
    <p:extLst>
      <p:ext uri="{BB962C8B-B14F-4D97-AF65-F5344CB8AC3E}">
        <p14:creationId xmlns:p14="http://schemas.microsoft.com/office/powerpoint/2010/main" val="639037003"/>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236</a:t>
            </a:fld>
            <a:endParaRPr lang="zh-CN" altLang="en-US"/>
          </a:p>
        </p:txBody>
      </p:sp>
    </p:spTree>
    <p:extLst>
      <p:ext uri="{BB962C8B-B14F-4D97-AF65-F5344CB8AC3E}">
        <p14:creationId xmlns:p14="http://schemas.microsoft.com/office/powerpoint/2010/main" val="460826212"/>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238</a:t>
            </a:fld>
            <a:endParaRPr lang="zh-CN" altLang="en-US"/>
          </a:p>
        </p:txBody>
      </p:sp>
    </p:spTree>
    <p:extLst>
      <p:ext uri="{BB962C8B-B14F-4D97-AF65-F5344CB8AC3E}">
        <p14:creationId xmlns:p14="http://schemas.microsoft.com/office/powerpoint/2010/main" val="3428263459"/>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240</a:t>
            </a:fld>
            <a:endParaRPr lang="zh-CN" altLang="en-US"/>
          </a:p>
        </p:txBody>
      </p:sp>
    </p:spTree>
    <p:extLst>
      <p:ext uri="{BB962C8B-B14F-4D97-AF65-F5344CB8AC3E}">
        <p14:creationId xmlns:p14="http://schemas.microsoft.com/office/powerpoint/2010/main" val="471001339"/>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241</a:t>
            </a:fld>
            <a:endParaRPr lang="zh-CN" altLang="en-US"/>
          </a:p>
        </p:txBody>
      </p:sp>
    </p:spTree>
    <p:extLst>
      <p:ext uri="{BB962C8B-B14F-4D97-AF65-F5344CB8AC3E}">
        <p14:creationId xmlns:p14="http://schemas.microsoft.com/office/powerpoint/2010/main" val="3445307204"/>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242</a:t>
            </a:fld>
            <a:endParaRPr lang="zh-CN" altLang="en-US"/>
          </a:p>
        </p:txBody>
      </p:sp>
    </p:spTree>
    <p:extLst>
      <p:ext uri="{BB962C8B-B14F-4D97-AF65-F5344CB8AC3E}">
        <p14:creationId xmlns:p14="http://schemas.microsoft.com/office/powerpoint/2010/main" val="269251352"/>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243</a:t>
            </a:fld>
            <a:endParaRPr lang="zh-CN" altLang="en-US"/>
          </a:p>
        </p:txBody>
      </p:sp>
    </p:spTree>
    <p:extLst>
      <p:ext uri="{BB962C8B-B14F-4D97-AF65-F5344CB8AC3E}">
        <p14:creationId xmlns:p14="http://schemas.microsoft.com/office/powerpoint/2010/main" val="1595500153"/>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244</a:t>
            </a:fld>
            <a:endParaRPr lang="zh-CN" altLang="en-US"/>
          </a:p>
        </p:txBody>
      </p:sp>
    </p:spTree>
    <p:extLst>
      <p:ext uri="{BB962C8B-B14F-4D97-AF65-F5344CB8AC3E}">
        <p14:creationId xmlns:p14="http://schemas.microsoft.com/office/powerpoint/2010/main" val="4057157213"/>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246</a:t>
            </a:fld>
            <a:endParaRPr lang="zh-CN" altLang="en-US"/>
          </a:p>
        </p:txBody>
      </p:sp>
    </p:spTree>
    <p:extLst>
      <p:ext uri="{BB962C8B-B14F-4D97-AF65-F5344CB8AC3E}">
        <p14:creationId xmlns:p14="http://schemas.microsoft.com/office/powerpoint/2010/main" val="592089325"/>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247</a:t>
            </a:fld>
            <a:endParaRPr lang="zh-CN" altLang="en-US"/>
          </a:p>
        </p:txBody>
      </p:sp>
    </p:spTree>
    <p:extLst>
      <p:ext uri="{BB962C8B-B14F-4D97-AF65-F5344CB8AC3E}">
        <p14:creationId xmlns:p14="http://schemas.microsoft.com/office/powerpoint/2010/main" val="3541735582"/>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272</a:t>
            </a:fld>
            <a:endParaRPr lang="zh-CN" altLang="en-US"/>
          </a:p>
        </p:txBody>
      </p:sp>
    </p:spTree>
    <p:extLst>
      <p:ext uri="{BB962C8B-B14F-4D97-AF65-F5344CB8AC3E}">
        <p14:creationId xmlns:p14="http://schemas.microsoft.com/office/powerpoint/2010/main" val="3173707851"/>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273</a:t>
            </a:fld>
            <a:endParaRPr lang="zh-CN" altLang="en-US"/>
          </a:p>
        </p:txBody>
      </p:sp>
    </p:spTree>
    <p:extLst>
      <p:ext uri="{BB962C8B-B14F-4D97-AF65-F5344CB8AC3E}">
        <p14:creationId xmlns:p14="http://schemas.microsoft.com/office/powerpoint/2010/main" val="3294465797"/>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289</a:t>
            </a:fld>
            <a:endParaRPr lang="zh-CN" altLang="en-US"/>
          </a:p>
        </p:txBody>
      </p:sp>
    </p:spTree>
    <p:extLst>
      <p:ext uri="{BB962C8B-B14F-4D97-AF65-F5344CB8AC3E}">
        <p14:creationId xmlns:p14="http://schemas.microsoft.com/office/powerpoint/2010/main" val="913118152"/>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292</a:t>
            </a:fld>
            <a:endParaRPr lang="zh-CN" altLang="en-US"/>
          </a:p>
        </p:txBody>
      </p:sp>
    </p:spTree>
    <p:extLst>
      <p:ext uri="{BB962C8B-B14F-4D97-AF65-F5344CB8AC3E}">
        <p14:creationId xmlns:p14="http://schemas.microsoft.com/office/powerpoint/2010/main" val="4060961494"/>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300</a:t>
            </a:fld>
            <a:endParaRPr lang="zh-CN" altLang="en-US"/>
          </a:p>
        </p:txBody>
      </p:sp>
    </p:spTree>
    <p:extLst>
      <p:ext uri="{BB962C8B-B14F-4D97-AF65-F5344CB8AC3E}">
        <p14:creationId xmlns:p14="http://schemas.microsoft.com/office/powerpoint/2010/main" val="2285188704"/>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302</a:t>
            </a:fld>
            <a:endParaRPr lang="zh-CN" altLang="en-US"/>
          </a:p>
        </p:txBody>
      </p:sp>
    </p:spTree>
    <p:extLst>
      <p:ext uri="{BB962C8B-B14F-4D97-AF65-F5344CB8AC3E}">
        <p14:creationId xmlns:p14="http://schemas.microsoft.com/office/powerpoint/2010/main" val="2944275027"/>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319</a:t>
            </a:fld>
            <a:endParaRPr lang="zh-CN" altLang="en-US"/>
          </a:p>
        </p:txBody>
      </p:sp>
    </p:spTree>
    <p:extLst>
      <p:ext uri="{BB962C8B-B14F-4D97-AF65-F5344CB8AC3E}">
        <p14:creationId xmlns:p14="http://schemas.microsoft.com/office/powerpoint/2010/main" val="1850520232"/>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334</a:t>
            </a:fld>
            <a:endParaRPr lang="zh-CN" altLang="en-US"/>
          </a:p>
        </p:txBody>
      </p:sp>
    </p:spTree>
    <p:extLst>
      <p:ext uri="{BB962C8B-B14F-4D97-AF65-F5344CB8AC3E}">
        <p14:creationId xmlns:p14="http://schemas.microsoft.com/office/powerpoint/2010/main" val="2952612151"/>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336</a:t>
            </a:fld>
            <a:endParaRPr lang="zh-CN" altLang="en-US"/>
          </a:p>
        </p:txBody>
      </p:sp>
    </p:spTree>
    <p:extLst>
      <p:ext uri="{BB962C8B-B14F-4D97-AF65-F5344CB8AC3E}">
        <p14:creationId xmlns:p14="http://schemas.microsoft.com/office/powerpoint/2010/main" val="630903277"/>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337</a:t>
            </a:fld>
            <a:endParaRPr lang="zh-CN" altLang="en-US"/>
          </a:p>
        </p:txBody>
      </p:sp>
    </p:spTree>
    <p:extLst>
      <p:ext uri="{BB962C8B-B14F-4D97-AF65-F5344CB8AC3E}">
        <p14:creationId xmlns:p14="http://schemas.microsoft.com/office/powerpoint/2010/main" val="1798724068"/>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338</a:t>
            </a:fld>
            <a:endParaRPr lang="zh-CN" altLang="en-US"/>
          </a:p>
        </p:txBody>
      </p:sp>
    </p:spTree>
    <p:extLst>
      <p:ext uri="{BB962C8B-B14F-4D97-AF65-F5344CB8AC3E}">
        <p14:creationId xmlns:p14="http://schemas.microsoft.com/office/powerpoint/2010/main" val="3951002576"/>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339</a:t>
            </a:fld>
            <a:endParaRPr lang="zh-CN" altLang="en-US"/>
          </a:p>
        </p:txBody>
      </p:sp>
    </p:spTree>
    <p:extLst>
      <p:ext uri="{BB962C8B-B14F-4D97-AF65-F5344CB8AC3E}">
        <p14:creationId xmlns:p14="http://schemas.microsoft.com/office/powerpoint/2010/main" val="1935506701"/>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340</a:t>
            </a:fld>
            <a:endParaRPr lang="zh-CN" altLang="en-US"/>
          </a:p>
        </p:txBody>
      </p:sp>
    </p:spTree>
    <p:extLst>
      <p:ext uri="{BB962C8B-B14F-4D97-AF65-F5344CB8AC3E}">
        <p14:creationId xmlns:p14="http://schemas.microsoft.com/office/powerpoint/2010/main" val="1800461624"/>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9E1450-36FD-6978-68E7-6759EE4480CF}"/>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832D3454-0CE7-0600-8234-BE3DBC7F4F6E}"/>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1631E5CD-23C9-2167-CF0B-ADC44859BE2F}"/>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F50B0FA4-5CD4-2C7F-8BEC-C359F9FD8441}"/>
              </a:ext>
            </a:extLst>
          </p:cNvPr>
          <p:cNvSpPr>
            <a:spLocks noGrp="1"/>
          </p:cNvSpPr>
          <p:nvPr>
            <p:ph type="sldNum" sz="quarter" idx="10"/>
          </p:nvPr>
        </p:nvSpPr>
        <p:spPr/>
        <p:txBody>
          <a:bodyPr/>
          <a:lstStyle/>
          <a:p>
            <a:fld id="{0B14BD24-89E3-4C51-B736-BCCE6C13A884}" type="slidenum">
              <a:rPr lang="zh-CN" altLang="en-US" smtClean="0"/>
              <a:pPr/>
              <a:t>341</a:t>
            </a:fld>
            <a:endParaRPr lang="zh-CN" altLang="en-US"/>
          </a:p>
        </p:txBody>
      </p:sp>
    </p:spTree>
    <p:extLst>
      <p:ext uri="{BB962C8B-B14F-4D97-AF65-F5344CB8AC3E}">
        <p14:creationId xmlns:p14="http://schemas.microsoft.com/office/powerpoint/2010/main" val="15910736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标题幻灯片">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94605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Tree>
    <p:extLst>
      <p:ext uri="{BB962C8B-B14F-4D97-AF65-F5344CB8AC3E}">
        <p14:creationId xmlns:p14="http://schemas.microsoft.com/office/powerpoint/2010/main" val="76425886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3305176"/>
            <a:ext cx="7772400" cy="1021556"/>
          </a:xfrm>
          <a:prstGeom prst="rect">
            <a:avLst/>
          </a:prstGeom>
        </p:spPr>
        <p:txBody>
          <a:bodyPr anchor="t"/>
          <a:lstStyle>
            <a:lvl1pPr algn="l">
              <a:defRPr sz="4000" b="1" cap="all"/>
            </a:lvl1pPr>
          </a:lstStyle>
          <a:p>
            <a:r>
              <a:rPr lang="zh-CN" altLang="en-US"/>
              <a:t>单击此处编辑母版标题样式</a:t>
            </a:r>
          </a:p>
        </p:txBody>
      </p:sp>
      <p:sp>
        <p:nvSpPr>
          <p:cNvPr id="3" name="文本占位符 2"/>
          <p:cNvSpPr>
            <a:spLocks noGrp="1"/>
          </p:cNvSpPr>
          <p:nvPr>
            <p:ph type="body" idx="1"/>
          </p:nvPr>
        </p:nvSpPr>
        <p:spPr>
          <a:xfrm>
            <a:off x="722313" y="2180035"/>
            <a:ext cx="7772400" cy="1125140"/>
          </a:xfrm>
          <a:prstGeom prst="rect">
            <a:avLst/>
          </a:prstGeo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zh-CN" altLang="en-US"/>
              <a:t>单击此处编辑母版文本样式</a:t>
            </a:r>
          </a:p>
        </p:txBody>
      </p:sp>
      <p:sp>
        <p:nvSpPr>
          <p:cNvPr id="4" name="日期占位符 3"/>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2025/5/23</a:t>
            </a:fld>
            <a:endParaRPr lang="zh-CN" altLang="en-US"/>
          </a:p>
        </p:txBody>
      </p:sp>
      <p:sp>
        <p:nvSpPr>
          <p:cNvPr id="5" name="页脚占位符 4"/>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249966742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p>
            <a:r>
              <a:rPr lang="zh-CN" altLang="en-US"/>
              <a:t>单击此处编辑母版标题样式</a:t>
            </a:r>
          </a:p>
        </p:txBody>
      </p:sp>
      <p:sp>
        <p:nvSpPr>
          <p:cNvPr id="3" name="内容占位符 2"/>
          <p:cNvSpPr>
            <a:spLocks noGrp="1"/>
          </p:cNvSpPr>
          <p:nvPr>
            <p:ph sz="half" idx="1"/>
          </p:nvPr>
        </p:nvSpPr>
        <p:spPr>
          <a:xfrm>
            <a:off x="457200" y="900113"/>
            <a:ext cx="4038600" cy="2545556"/>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648200" y="900113"/>
            <a:ext cx="4038600" cy="2545556"/>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日期占位符 4"/>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2025/5/23</a:t>
            </a:fld>
            <a:endParaRPr lang="zh-CN" altLang="en-US"/>
          </a:p>
        </p:txBody>
      </p:sp>
      <p:sp>
        <p:nvSpPr>
          <p:cNvPr id="6" name="页脚占位符 5"/>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300640014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0" y="1151336"/>
            <a:ext cx="4040188" cy="47982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457200" y="1631156"/>
            <a:ext cx="4040188" cy="2963466"/>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4645028" y="1151336"/>
            <a:ext cx="4041775" cy="47982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4645028" y="1631156"/>
            <a:ext cx="4041775" cy="2963466"/>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7" name="日期占位符 6"/>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2025/5/23</a:t>
            </a:fld>
            <a:endParaRPr lang="zh-CN" altLang="en-US"/>
          </a:p>
        </p:txBody>
      </p:sp>
      <p:sp>
        <p:nvSpPr>
          <p:cNvPr id="8" name="页脚占位符 7"/>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9" name="灯片编号占位符 8"/>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9922684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p>
            <a:r>
              <a:rPr lang="zh-CN" altLang="en-US"/>
              <a:t>单击此处编辑母版标题样式</a:t>
            </a:r>
          </a:p>
        </p:txBody>
      </p:sp>
      <p:sp>
        <p:nvSpPr>
          <p:cNvPr id="3" name="日期占位符 2"/>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2025/5/23</a:t>
            </a:fld>
            <a:endParaRPr lang="zh-CN" altLang="en-US"/>
          </a:p>
        </p:txBody>
      </p:sp>
      <p:sp>
        <p:nvSpPr>
          <p:cNvPr id="4" name="页脚占位符 3"/>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5" name="灯片编号占位符 4"/>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261718659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2025/5/23</a:t>
            </a:fld>
            <a:endParaRPr lang="zh-CN" altLang="en-US"/>
          </a:p>
        </p:txBody>
      </p:sp>
      <p:sp>
        <p:nvSpPr>
          <p:cNvPr id="3" name="页脚占位符 2"/>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4" name="灯片编号占位符 3"/>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359130246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3" y="204787"/>
            <a:ext cx="3008313" cy="871538"/>
          </a:xfrm>
          <a:prstGeom prst="rect">
            <a:avLst/>
          </a:prstGeom>
        </p:spPr>
        <p:txBody>
          <a:bodyPr anchor="b"/>
          <a:lstStyle>
            <a:lvl1pPr algn="l">
              <a:defRPr sz="2000" b="1"/>
            </a:lvl1pPr>
          </a:lstStyle>
          <a:p>
            <a:r>
              <a:rPr lang="zh-CN" altLang="en-US"/>
              <a:t>单击此处编辑母版标题样式</a:t>
            </a:r>
          </a:p>
        </p:txBody>
      </p:sp>
      <p:sp>
        <p:nvSpPr>
          <p:cNvPr id="3" name="内容占位符 2"/>
          <p:cNvSpPr>
            <a:spLocks noGrp="1"/>
          </p:cNvSpPr>
          <p:nvPr>
            <p:ph idx="1"/>
          </p:nvPr>
        </p:nvSpPr>
        <p:spPr>
          <a:xfrm>
            <a:off x="3575050" y="204789"/>
            <a:ext cx="5111750" cy="438983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457203" y="1076327"/>
            <a:ext cx="3008313" cy="3518297"/>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
        <p:nvSpPr>
          <p:cNvPr id="5" name="日期占位符 4"/>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2025/5/23</a:t>
            </a:fld>
            <a:endParaRPr lang="zh-CN" altLang="en-US"/>
          </a:p>
        </p:txBody>
      </p:sp>
      <p:sp>
        <p:nvSpPr>
          <p:cNvPr id="6" name="页脚占位符 5"/>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392285257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3600450"/>
            <a:ext cx="5486400" cy="425054"/>
          </a:xfrm>
          <a:prstGeom prst="rect">
            <a:avLst/>
          </a:prstGeom>
        </p:spPr>
        <p:txBody>
          <a:bodyPr anchor="b"/>
          <a:lstStyle>
            <a:lvl1pPr algn="l">
              <a:defRPr sz="2000" b="1"/>
            </a:lvl1pPr>
          </a:lstStyle>
          <a:p>
            <a:r>
              <a:rPr lang="zh-CN" altLang="en-US"/>
              <a:t>单击此处编辑母版标题样式</a:t>
            </a:r>
          </a:p>
        </p:txBody>
      </p:sp>
      <p:sp>
        <p:nvSpPr>
          <p:cNvPr id="3" name="图片占位符 2"/>
          <p:cNvSpPr>
            <a:spLocks noGrp="1"/>
          </p:cNvSpPr>
          <p:nvPr>
            <p:ph type="pic" idx="1"/>
          </p:nvPr>
        </p:nvSpPr>
        <p:spPr>
          <a:xfrm>
            <a:off x="1792288" y="459581"/>
            <a:ext cx="5486400" cy="30861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1792288" y="4025504"/>
            <a:ext cx="5486400" cy="603647"/>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
        <p:nvSpPr>
          <p:cNvPr id="5" name="日期占位符 4"/>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2025/5/23</a:t>
            </a:fld>
            <a:endParaRPr lang="zh-CN" altLang="en-US"/>
          </a:p>
        </p:txBody>
      </p:sp>
      <p:sp>
        <p:nvSpPr>
          <p:cNvPr id="6" name="页脚占位符 5"/>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71567477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p>
            <a:r>
              <a:rPr lang="zh-CN" altLang="en-US"/>
              <a:t>单击此处编辑母版标题样式</a:t>
            </a:r>
          </a:p>
        </p:txBody>
      </p:sp>
      <p:sp>
        <p:nvSpPr>
          <p:cNvPr id="3" name="竖排文字占位符 2"/>
          <p:cNvSpPr>
            <a:spLocks noGrp="1"/>
          </p:cNvSpPr>
          <p:nvPr>
            <p:ph type="body" orient="vert" idx="1"/>
          </p:nvPr>
        </p:nvSpPr>
        <p:spPr>
          <a:xfrm>
            <a:off x="457200" y="1200152"/>
            <a:ext cx="8229600" cy="3394472"/>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2025/5/23</a:t>
            </a:fld>
            <a:endParaRPr lang="zh-CN" altLang="en-US"/>
          </a:p>
        </p:txBody>
      </p:sp>
      <p:sp>
        <p:nvSpPr>
          <p:cNvPr id="5" name="页脚占位符 4"/>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391694695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154781"/>
            <a:ext cx="2057400" cy="3290888"/>
          </a:xfrm>
          <a:prstGeom prst="rect">
            <a:avLst/>
          </a:prstGeo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457200" y="154781"/>
            <a:ext cx="6019800" cy="3290888"/>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2025/5/23</a:t>
            </a:fld>
            <a:endParaRPr lang="zh-CN" altLang="en-US"/>
          </a:p>
        </p:txBody>
      </p:sp>
      <p:sp>
        <p:nvSpPr>
          <p:cNvPr id="5" name="页脚占位符 4"/>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331530805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image" Target="../media/image3.gif"/><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image" Target="../media/image2.jpe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2" name="图片 1"/>
          <p:cNvPicPr>
            <a:picLocks noChangeAspect="1"/>
          </p:cNvPicPr>
          <p:nvPr userDrawn="1"/>
        </p:nvPicPr>
        <p:blipFill>
          <a:blip r:embed="rId13" cstate="print">
            <a:extLst>
              <a:ext uri="{28A0092B-C50C-407E-A947-70E740481C1C}">
                <a14:useLocalDpi xmlns:a14="http://schemas.microsoft.com/office/drawing/2010/main" val="0"/>
              </a:ext>
            </a:extLst>
          </a:blip>
          <a:stretch>
            <a:fillRect/>
          </a:stretch>
        </p:blipFill>
        <p:spPr>
          <a:xfrm>
            <a:off x="141223" y="4662544"/>
            <a:ext cx="1125345" cy="267703"/>
          </a:xfrm>
          <a:prstGeom prst="rect">
            <a:avLst/>
          </a:prstGeom>
        </p:spPr>
      </p:pic>
      <p:sp>
        <p:nvSpPr>
          <p:cNvPr id="17" name="Line 3"/>
          <p:cNvSpPr>
            <a:spLocks noChangeShapeType="1"/>
          </p:cNvSpPr>
          <p:nvPr userDrawn="1"/>
        </p:nvSpPr>
        <p:spPr bwMode="auto">
          <a:xfrm>
            <a:off x="1266568" y="4803998"/>
            <a:ext cx="6942395" cy="0"/>
          </a:xfrm>
          <a:prstGeom prst="line">
            <a:avLst/>
          </a:prstGeom>
          <a:noFill/>
          <a:ln w="19050" algn="ctr">
            <a:solidFill>
              <a:srgbClr val="85D1F7"/>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 name="Rectangle 9"/>
          <p:cNvSpPr>
            <a:spLocks noChangeArrowheads="1"/>
          </p:cNvSpPr>
          <p:nvPr userDrawn="1"/>
        </p:nvSpPr>
        <p:spPr bwMode="auto">
          <a:xfrm>
            <a:off x="8208962" y="4394656"/>
            <a:ext cx="609917" cy="609917"/>
          </a:xfrm>
          <a:prstGeom prst="rect">
            <a:avLst/>
          </a:prstGeom>
          <a:solidFill>
            <a:schemeClr val="bg1"/>
          </a:solidFill>
          <a:ln w="25400" algn="ctr">
            <a:solidFill>
              <a:srgbClr val="85D1F7"/>
            </a:solidFill>
            <a:miter lim="800000"/>
            <a:headEnd/>
            <a:tailEnd/>
          </a:ln>
        </p:spPr>
        <p:txBody>
          <a:bodyPr wrap="none" anchor="ctr"/>
          <a:lstStyle/>
          <a:p>
            <a:pPr algn="ctr" eaLnBrk="0" hangingPunct="0"/>
            <a:endParaRPr lang="fr-FR">
              <a:cs typeface="Arial" charset="0"/>
            </a:endParaRPr>
          </a:p>
        </p:txBody>
      </p:sp>
      <p:pic>
        <p:nvPicPr>
          <p:cNvPr id="16" name="图片 15"/>
          <p:cNvPicPr>
            <a:picLocks noChangeAspect="1"/>
          </p:cNvPicPr>
          <p:nvPr userDrawn="1"/>
        </p:nvPicPr>
        <p:blipFill>
          <a:blip r:embed="rId14" cstate="print">
            <a:extLst>
              <a:ext uri="{28A0092B-C50C-407E-A947-70E740481C1C}">
                <a14:useLocalDpi xmlns:a14="http://schemas.microsoft.com/office/drawing/2010/main" val="0"/>
              </a:ext>
            </a:extLst>
          </a:blip>
          <a:stretch>
            <a:fillRect/>
          </a:stretch>
        </p:blipFill>
        <p:spPr>
          <a:xfrm>
            <a:off x="8262049" y="4419021"/>
            <a:ext cx="503429" cy="559959"/>
          </a:xfrm>
          <a:prstGeom prst="rect">
            <a:avLst/>
          </a:prstGeom>
        </p:spPr>
      </p:pic>
      <p:sp>
        <p:nvSpPr>
          <p:cNvPr id="15" name="Line 3"/>
          <p:cNvSpPr>
            <a:spLocks noChangeShapeType="1"/>
          </p:cNvSpPr>
          <p:nvPr userDrawn="1"/>
        </p:nvSpPr>
        <p:spPr bwMode="auto">
          <a:xfrm>
            <a:off x="0" y="428092"/>
            <a:ext cx="9144000" cy="0"/>
          </a:xfrm>
          <a:prstGeom prst="line">
            <a:avLst/>
          </a:prstGeom>
          <a:noFill/>
          <a:ln w="25400" algn="ctr">
            <a:solidFill>
              <a:srgbClr val="85D1F7"/>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 name="矩形 19"/>
          <p:cNvSpPr/>
          <p:nvPr userDrawn="1"/>
        </p:nvSpPr>
        <p:spPr>
          <a:xfrm>
            <a:off x="4262908" y="123478"/>
            <a:ext cx="598868" cy="4655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Line 3"/>
          <p:cNvSpPr>
            <a:spLocks noChangeShapeType="1"/>
          </p:cNvSpPr>
          <p:nvPr userDrawn="1"/>
        </p:nvSpPr>
        <p:spPr bwMode="auto">
          <a:xfrm>
            <a:off x="0" y="301530"/>
            <a:ext cx="2835464" cy="0"/>
          </a:xfrm>
          <a:prstGeom prst="line">
            <a:avLst/>
          </a:prstGeom>
          <a:noFill/>
          <a:ln w="12700" algn="ctr">
            <a:solidFill>
              <a:srgbClr val="00CC00"/>
            </a:solidFill>
            <a:round/>
            <a:headEnd/>
            <a:tailEnd/>
          </a:ln>
          <a:extLst>
            <a:ext uri="{909E8E84-426E-40DD-AFC4-6F175D3DCCD1}">
              <a14:hiddenFill xmlns:a14="http://schemas.microsoft.com/office/drawing/2010/main">
                <a:noFill/>
              </a14:hiddenFill>
            </a:ext>
          </a:extLst>
        </p:spPr>
        <p:txBody>
          <a:bodyPr/>
          <a:lstStyle/>
          <a:p>
            <a:pPr lvl="0"/>
            <a:endParaRPr lang="zh-CN" altLang="en-US"/>
          </a:p>
        </p:txBody>
      </p:sp>
      <p:sp>
        <p:nvSpPr>
          <p:cNvPr id="22" name="Rectangle 4"/>
          <p:cNvSpPr>
            <a:spLocks noChangeArrowheads="1"/>
          </p:cNvSpPr>
          <p:nvPr userDrawn="1"/>
        </p:nvSpPr>
        <p:spPr bwMode="auto">
          <a:xfrm>
            <a:off x="4810742" y="164227"/>
            <a:ext cx="1065212"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eaLnBrk="0" hangingPunct="0"/>
            <a:r>
              <a:rPr lang="fr-FR" sz="1100" b="1" dirty="0">
                <a:solidFill>
                  <a:srgbClr val="0070C0"/>
                </a:solidFill>
                <a:latin typeface="微软雅黑" pitchFamily="34" charset="-122"/>
                <a:ea typeface="微软雅黑" pitchFamily="34" charset="-122"/>
              </a:rPr>
              <a:t>谢希仁 编著</a:t>
            </a:r>
          </a:p>
        </p:txBody>
      </p:sp>
      <p:sp>
        <p:nvSpPr>
          <p:cNvPr id="23" name="Rectangle 5"/>
          <p:cNvSpPr>
            <a:spLocks noChangeArrowheads="1"/>
          </p:cNvSpPr>
          <p:nvPr userDrawn="1"/>
        </p:nvSpPr>
        <p:spPr bwMode="auto">
          <a:xfrm>
            <a:off x="2835464" y="164857"/>
            <a:ext cx="1492716"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r" eaLnBrk="0" hangingPunct="0"/>
            <a:r>
              <a:rPr lang="fr-FR" sz="1100" b="1" dirty="0">
                <a:solidFill>
                  <a:srgbClr val="0070C0"/>
                </a:solidFill>
                <a:latin typeface="微软雅黑" pitchFamily="34" charset="-122"/>
                <a:ea typeface="微软雅黑" pitchFamily="34" charset="-122"/>
              </a:rPr>
              <a:t>计算机网络 </a:t>
            </a:r>
            <a:r>
              <a:rPr lang="en-US" altLang="zh-CN" sz="1100" b="1" dirty="0">
                <a:solidFill>
                  <a:srgbClr val="0070C0"/>
                </a:solidFill>
                <a:latin typeface="微软雅黑" pitchFamily="34" charset="-122"/>
                <a:ea typeface="微软雅黑" pitchFamily="34" charset="-122"/>
              </a:rPr>
              <a:t>(</a:t>
            </a:r>
            <a:r>
              <a:rPr lang="zh-CN" altLang="en-US" sz="1100" b="1" dirty="0">
                <a:solidFill>
                  <a:srgbClr val="0070C0"/>
                </a:solidFill>
                <a:latin typeface="微软雅黑" pitchFamily="34" charset="-122"/>
                <a:ea typeface="微软雅黑" pitchFamily="34" charset="-122"/>
              </a:rPr>
              <a:t>第 </a:t>
            </a:r>
            <a:r>
              <a:rPr lang="en-US" altLang="zh-CN" sz="1100" b="1" dirty="0">
                <a:solidFill>
                  <a:srgbClr val="0070C0"/>
                </a:solidFill>
                <a:latin typeface="微软雅黑" pitchFamily="34" charset="-122"/>
                <a:ea typeface="微软雅黑" pitchFamily="34" charset="-122"/>
              </a:rPr>
              <a:t>8 </a:t>
            </a:r>
            <a:r>
              <a:rPr lang="zh-CN" altLang="en-US" sz="1100" b="1" dirty="0">
                <a:solidFill>
                  <a:srgbClr val="0070C0"/>
                </a:solidFill>
                <a:latin typeface="微软雅黑" pitchFamily="34" charset="-122"/>
                <a:ea typeface="微软雅黑" pitchFamily="34" charset="-122"/>
              </a:rPr>
              <a:t>版</a:t>
            </a:r>
            <a:r>
              <a:rPr lang="en-US" altLang="zh-CN" sz="1100" b="1" dirty="0">
                <a:solidFill>
                  <a:srgbClr val="0070C0"/>
                </a:solidFill>
                <a:latin typeface="微软雅黑" pitchFamily="34" charset="-122"/>
                <a:ea typeface="微软雅黑" pitchFamily="34" charset="-122"/>
              </a:rPr>
              <a:t>)</a:t>
            </a:r>
            <a:endParaRPr lang="fr-FR" sz="1100" b="1" dirty="0">
              <a:solidFill>
                <a:srgbClr val="0070C0"/>
              </a:solidFill>
              <a:latin typeface="微软雅黑" pitchFamily="34" charset="-122"/>
              <a:ea typeface="微软雅黑" pitchFamily="34" charset="-122"/>
            </a:endParaRPr>
          </a:p>
        </p:txBody>
      </p:sp>
      <p:sp>
        <p:nvSpPr>
          <p:cNvPr id="24" name="椭圆 23"/>
          <p:cNvSpPr/>
          <p:nvPr userDrawn="1"/>
        </p:nvSpPr>
        <p:spPr>
          <a:xfrm>
            <a:off x="2793115" y="259181"/>
            <a:ext cx="84698" cy="84698"/>
          </a:xfrm>
          <a:prstGeom prst="ellipse">
            <a:avLst/>
          </a:prstGeom>
          <a:solidFill>
            <a:schemeClr val="bg1"/>
          </a:solidFill>
          <a:ln w="12700" algn="ctr">
            <a:solidFill>
              <a:srgbClr val="00B050"/>
            </a:solidFill>
            <a:round/>
            <a:headEnd/>
            <a:tailEnd/>
          </a:ln>
        </p:spPr>
        <p:txBody>
          <a:bodyPr/>
          <a:lstStyle/>
          <a:p>
            <a:pPr lvl="0"/>
            <a:endParaRPr lang="zh-CN" altLang="en-US">
              <a:solidFill>
                <a:schemeClr val="tx1"/>
              </a:solidFill>
              <a:latin typeface="Arial" charset="0"/>
              <a:ea typeface="宋体" charset="-122"/>
            </a:endParaRPr>
          </a:p>
        </p:txBody>
      </p:sp>
      <p:sp>
        <p:nvSpPr>
          <p:cNvPr id="25" name="Line 3"/>
          <p:cNvSpPr>
            <a:spLocks noChangeShapeType="1"/>
          </p:cNvSpPr>
          <p:nvPr userDrawn="1"/>
        </p:nvSpPr>
        <p:spPr bwMode="auto">
          <a:xfrm>
            <a:off x="5713428" y="301530"/>
            <a:ext cx="3430572" cy="0"/>
          </a:xfrm>
          <a:prstGeom prst="line">
            <a:avLst/>
          </a:prstGeom>
          <a:noFill/>
          <a:ln w="12700" algn="ctr">
            <a:solidFill>
              <a:srgbClr val="00CC00"/>
            </a:solidFill>
            <a:round/>
            <a:headEnd/>
            <a:tailEnd/>
          </a:ln>
          <a:extLst>
            <a:ext uri="{909E8E84-426E-40DD-AFC4-6F175D3DCCD1}">
              <a14:hiddenFill xmlns:a14="http://schemas.microsoft.com/office/drawing/2010/main">
                <a:noFill/>
              </a14:hiddenFill>
            </a:ext>
          </a:extLst>
        </p:spPr>
        <p:txBody>
          <a:bodyPr/>
          <a:lstStyle/>
          <a:p>
            <a:pPr lvl="0"/>
            <a:endParaRPr lang="zh-CN" altLang="en-US"/>
          </a:p>
        </p:txBody>
      </p:sp>
      <p:sp>
        <p:nvSpPr>
          <p:cNvPr id="26" name="椭圆 25"/>
          <p:cNvSpPr/>
          <p:nvPr userDrawn="1"/>
        </p:nvSpPr>
        <p:spPr>
          <a:xfrm>
            <a:off x="5710547" y="259181"/>
            <a:ext cx="84698" cy="84698"/>
          </a:xfrm>
          <a:prstGeom prst="ellipse">
            <a:avLst/>
          </a:prstGeom>
          <a:solidFill>
            <a:schemeClr val="bg1"/>
          </a:solidFill>
          <a:ln w="12700" algn="ctr">
            <a:solidFill>
              <a:srgbClr val="00B050"/>
            </a:solidFill>
            <a:round/>
            <a:headEnd/>
            <a:tailEnd/>
          </a:ln>
        </p:spPr>
        <p:txBody>
          <a:bodyPr/>
          <a:lstStyle/>
          <a:p>
            <a:pPr lvl="0"/>
            <a:endParaRPr lang="zh-CN" altLang="en-US">
              <a:solidFill>
                <a:schemeClr val="tx1"/>
              </a:solidFill>
              <a:latin typeface="Arial" charset="0"/>
              <a:ea typeface="宋体" charset="-122"/>
            </a:endParaRPr>
          </a:p>
        </p:txBody>
      </p:sp>
      <p:pic>
        <p:nvPicPr>
          <p:cNvPr id="28" name="图片 27"/>
          <p:cNvPicPr>
            <a:picLocks noChangeAspect="1"/>
          </p:cNvPicPr>
          <p:nvPr userDrawn="1"/>
        </p:nvPicPr>
        <p:blipFill>
          <a:blip r:embed="rId15" cstate="print">
            <a:extLst>
              <a:ext uri="{28A0092B-C50C-407E-A947-70E740481C1C}">
                <a14:useLocalDpi xmlns:a14="http://schemas.microsoft.com/office/drawing/2010/main" val="0"/>
              </a:ext>
            </a:extLst>
          </a:blip>
          <a:stretch>
            <a:fillRect/>
          </a:stretch>
        </p:blipFill>
        <p:spPr>
          <a:xfrm>
            <a:off x="4392827" y="149234"/>
            <a:ext cx="358346" cy="458684"/>
          </a:xfrm>
          <a:prstGeom prst="rect">
            <a:avLst/>
          </a:prstGeom>
        </p:spPr>
      </p:pic>
    </p:spTree>
    <p:extLst>
      <p:ext uri="{BB962C8B-B14F-4D97-AF65-F5344CB8AC3E}">
        <p14:creationId xmlns:p14="http://schemas.microsoft.com/office/powerpoint/2010/main" val="691602360"/>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jpeg"/><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wmf"/><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wmf"/><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wmf"/><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2.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14.xml.rels><?xml version="1.0" encoding="UTF-8" standalone="yes"?>
<Relationships xmlns="http://schemas.openxmlformats.org/package/2006/relationships"><Relationship Id="rId3" Type="http://schemas.openxmlformats.org/officeDocument/2006/relationships/image" Target="../media/image8.wmf"/><Relationship Id="rId2" Type="http://schemas.openxmlformats.org/officeDocument/2006/relationships/notesSlide" Target="../notesSlides/notesSlide4.xml"/><Relationship Id="rId1" Type="http://schemas.openxmlformats.org/officeDocument/2006/relationships/slideLayout" Target="../slideLayouts/slideLayout2.xml"/><Relationship Id="rId5" Type="http://schemas.openxmlformats.org/officeDocument/2006/relationships/image" Target="../media/image9.png"/><Relationship Id="rId4" Type="http://schemas.openxmlformats.org/officeDocument/2006/relationships/image" Target="../media/image10.wmf"/></Relationships>
</file>

<file path=ppt/slides/_rels/slide15.xml.rels><?xml version="1.0" encoding="UTF-8" standalone="yes"?>
<Relationships xmlns="http://schemas.openxmlformats.org/package/2006/relationships"><Relationship Id="rId3" Type="http://schemas.openxmlformats.org/officeDocument/2006/relationships/image" Target="../media/image8.wmf"/><Relationship Id="rId2" Type="http://schemas.openxmlformats.org/officeDocument/2006/relationships/notesSlide" Target="../notesSlides/notesSlide5.xml"/><Relationship Id="rId1" Type="http://schemas.openxmlformats.org/officeDocument/2006/relationships/slideLayout" Target="../slideLayouts/slideLayout2.xml"/><Relationship Id="rId5" Type="http://schemas.openxmlformats.org/officeDocument/2006/relationships/image" Target="../media/image9.png"/><Relationship Id="rId4" Type="http://schemas.openxmlformats.org/officeDocument/2006/relationships/image" Target="../media/image10.wmf"/></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3" Type="http://schemas.openxmlformats.org/officeDocument/2006/relationships/diagramLayout" Target="../diagrams/layout2.xml"/><Relationship Id="rId2" Type="http://schemas.openxmlformats.org/officeDocument/2006/relationships/diagramData" Target="../diagrams/data2.xml"/><Relationship Id="rId1" Type="http://schemas.openxmlformats.org/officeDocument/2006/relationships/slideLayout" Target="../slideLayouts/slideLayout2.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19.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8.xml"/><Relationship Id="rId1" Type="http://schemas.openxmlformats.org/officeDocument/2006/relationships/slideLayout" Target="../slideLayouts/slideLayout2.xml"/><Relationship Id="rId4" Type="http://schemas.openxmlformats.org/officeDocument/2006/relationships/image" Target="../media/image12.jpeg"/></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10.xml"/><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22.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8.wmf"/><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11.xml"/><Relationship Id="rId1" Type="http://schemas.openxmlformats.org/officeDocument/2006/relationships/slideLayout" Target="../slideLayouts/slideLayout2.xml"/><Relationship Id="rId4" Type="http://schemas.openxmlformats.org/officeDocument/2006/relationships/image" Target="../media/image7.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16.wmf"/><Relationship Id="rId2" Type="http://schemas.openxmlformats.org/officeDocument/2006/relationships/image" Target="../media/image6.wmf"/><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image" Target="../media/image18.png"/><Relationship Id="rId4" Type="http://schemas.openxmlformats.org/officeDocument/2006/relationships/image" Target="../media/image17.jpeg"/></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3" Type="http://schemas.openxmlformats.org/officeDocument/2006/relationships/diagramLayout" Target="../diagrams/layout3.xml"/><Relationship Id="rId2" Type="http://schemas.openxmlformats.org/officeDocument/2006/relationships/diagramData" Target="../diagrams/data3.xml"/><Relationship Id="rId1" Type="http://schemas.openxmlformats.org/officeDocument/2006/relationships/slideLayout" Target="../slideLayouts/slideLayout2.xml"/><Relationship Id="rId6" Type="http://schemas.microsoft.com/office/2007/relationships/diagramDrawing" Target="../diagrams/drawing3.xml"/><Relationship Id="rId5" Type="http://schemas.openxmlformats.org/officeDocument/2006/relationships/diagramColors" Target="../diagrams/colors3.xml"/><Relationship Id="rId4" Type="http://schemas.openxmlformats.org/officeDocument/2006/relationships/diagramQuickStyle" Target="../diagrams/quickStyle3.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2" Type="http://schemas.openxmlformats.org/officeDocument/2006/relationships/image" Target="../media/image19.wmf"/><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2" Type="http://schemas.openxmlformats.org/officeDocument/2006/relationships/image" Target="../media/image19.wmf"/><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3" Type="http://schemas.openxmlformats.org/officeDocument/2006/relationships/image" Target="../media/image19.wmf"/><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3" Type="http://schemas.openxmlformats.org/officeDocument/2006/relationships/diagramData" Target="../diagrams/data4.xml"/><Relationship Id="rId7" Type="http://schemas.microsoft.com/office/2007/relationships/diagramDrawing" Target="../diagrams/drawing4.xml"/><Relationship Id="rId2" Type="http://schemas.openxmlformats.org/officeDocument/2006/relationships/notesSlide" Target="../notesSlides/notesSlide19.xml"/><Relationship Id="rId1" Type="http://schemas.openxmlformats.org/officeDocument/2006/relationships/slideLayout" Target="../slideLayouts/slideLayout2.xml"/><Relationship Id="rId6" Type="http://schemas.openxmlformats.org/officeDocument/2006/relationships/diagramColors" Target="../diagrams/colors4.xml"/><Relationship Id="rId5" Type="http://schemas.openxmlformats.org/officeDocument/2006/relationships/diagramQuickStyle" Target="../diagrams/quickStyle4.xml"/><Relationship Id="rId4" Type="http://schemas.openxmlformats.org/officeDocument/2006/relationships/diagramLayout" Target="../diagrams/layout4.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6.wmf"/><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6.wmf"/><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6.wmf"/><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6.wmf"/><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0.png"/><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27.xml"/><Relationship Id="rId1" Type="http://schemas.openxmlformats.org/officeDocument/2006/relationships/slideLayout" Target="../slideLayouts/slideLayout2.xml"/><Relationship Id="rId4" Type="http://schemas.openxmlformats.org/officeDocument/2006/relationships/image" Target="../media/image6.wmf"/></Relationships>
</file>

<file path=ppt/slides/_rels/slide8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28.xml"/><Relationship Id="rId1" Type="http://schemas.openxmlformats.org/officeDocument/2006/relationships/slideLayout" Target="../slideLayouts/slideLayout2.xml"/><Relationship Id="rId4" Type="http://schemas.openxmlformats.org/officeDocument/2006/relationships/image" Target="../media/image6.wmf"/></Relationships>
</file>

<file path=ppt/slides/_rels/slide8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29.xml"/><Relationship Id="rId1" Type="http://schemas.openxmlformats.org/officeDocument/2006/relationships/slideLayout" Target="../slideLayouts/slideLayout2.xml"/><Relationship Id="rId4" Type="http://schemas.openxmlformats.org/officeDocument/2006/relationships/image" Target="../media/image6.wmf"/></Relationships>
</file>

<file path=ppt/slides/_rels/slide8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30.xml"/><Relationship Id="rId1" Type="http://schemas.openxmlformats.org/officeDocument/2006/relationships/slideLayout" Target="../slideLayouts/slideLayout2.xml"/><Relationship Id="rId4" Type="http://schemas.openxmlformats.org/officeDocument/2006/relationships/image" Target="../media/image6.wmf"/></Relationships>
</file>

<file path=ppt/slides/_rels/slide8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31.xml"/><Relationship Id="rId1" Type="http://schemas.openxmlformats.org/officeDocument/2006/relationships/slideLayout" Target="../slideLayouts/slideLayout2.xml"/><Relationship Id="rId4" Type="http://schemas.openxmlformats.org/officeDocument/2006/relationships/image" Target="../media/image6.wmf"/></Relationships>
</file>

<file path=ppt/slides/_rels/slide8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wmf"/><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wmf"/><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wmf"/><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wmf"/><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3" Type="http://schemas.openxmlformats.org/officeDocument/2006/relationships/image" Target="../media/image22.wmf"/><Relationship Id="rId2" Type="http://schemas.openxmlformats.org/officeDocument/2006/relationships/notesSlide" Target="../notesSlides/notesSlide40.xml"/><Relationship Id="rId1" Type="http://schemas.openxmlformats.org/officeDocument/2006/relationships/slideLayout" Target="../slideLayouts/slideLayout2.xml"/><Relationship Id="rId5" Type="http://schemas.openxmlformats.org/officeDocument/2006/relationships/image" Target="../media/image19.wmf"/><Relationship Id="rId4" Type="http://schemas.openxmlformats.org/officeDocument/2006/relationships/image" Target="../media/image8.wmf"/></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3" Type="http://schemas.openxmlformats.org/officeDocument/2006/relationships/image" Target="../media/image22.wmf"/><Relationship Id="rId2" Type="http://schemas.openxmlformats.org/officeDocument/2006/relationships/notesSlide" Target="../notesSlides/notesSlide42.xml"/><Relationship Id="rId1" Type="http://schemas.openxmlformats.org/officeDocument/2006/relationships/slideLayout" Target="../slideLayouts/slideLayout2.xml"/><Relationship Id="rId5" Type="http://schemas.openxmlformats.org/officeDocument/2006/relationships/image" Target="../media/image19.wmf"/><Relationship Id="rId4" Type="http://schemas.openxmlformats.org/officeDocument/2006/relationships/image" Target="../media/image8.wmf"/></Relationships>
</file>

<file path=ppt/slides/_rels/slide115.xml.rels><?xml version="1.0" encoding="UTF-8" standalone="yes"?>
<Relationships xmlns="http://schemas.openxmlformats.org/package/2006/relationships"><Relationship Id="rId3" Type="http://schemas.openxmlformats.org/officeDocument/2006/relationships/image" Target="../media/image22.wmf"/><Relationship Id="rId2" Type="http://schemas.openxmlformats.org/officeDocument/2006/relationships/notesSlide" Target="../notesSlides/notesSlide43.xml"/><Relationship Id="rId1" Type="http://schemas.openxmlformats.org/officeDocument/2006/relationships/slideLayout" Target="../slideLayouts/slideLayout2.xml"/><Relationship Id="rId5" Type="http://schemas.openxmlformats.org/officeDocument/2006/relationships/image" Target="../media/image19.wmf"/><Relationship Id="rId4" Type="http://schemas.openxmlformats.org/officeDocument/2006/relationships/image" Target="../media/image8.wmf"/></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3" Type="http://schemas.openxmlformats.org/officeDocument/2006/relationships/image" Target="../media/image22.wmf"/><Relationship Id="rId2" Type="http://schemas.openxmlformats.org/officeDocument/2006/relationships/notesSlide" Target="../notesSlides/notesSlide45.xml"/><Relationship Id="rId1" Type="http://schemas.openxmlformats.org/officeDocument/2006/relationships/slideLayout" Target="../slideLayouts/slideLayout2.xml"/><Relationship Id="rId5" Type="http://schemas.openxmlformats.org/officeDocument/2006/relationships/image" Target="../media/image19.wmf"/><Relationship Id="rId4" Type="http://schemas.openxmlformats.org/officeDocument/2006/relationships/image" Target="../media/image8.wmf"/></Relationships>
</file>

<file path=ppt/slides/_rels/slide118.xml.rels><?xml version="1.0" encoding="UTF-8" standalone="yes"?>
<Relationships xmlns="http://schemas.openxmlformats.org/package/2006/relationships"><Relationship Id="rId3" Type="http://schemas.openxmlformats.org/officeDocument/2006/relationships/image" Target="../media/image22.wmf"/><Relationship Id="rId2" Type="http://schemas.openxmlformats.org/officeDocument/2006/relationships/notesSlide" Target="../notesSlides/notesSlide46.xml"/><Relationship Id="rId1" Type="http://schemas.openxmlformats.org/officeDocument/2006/relationships/slideLayout" Target="../slideLayouts/slideLayout2.xml"/><Relationship Id="rId5" Type="http://schemas.openxmlformats.org/officeDocument/2006/relationships/image" Target="../media/image19.wmf"/><Relationship Id="rId4" Type="http://schemas.openxmlformats.org/officeDocument/2006/relationships/image" Target="../media/image8.wmf"/></Relationships>
</file>

<file path=ppt/slides/_rels/slide119.xml.rels><?xml version="1.0" encoding="UTF-8" standalone="yes"?>
<Relationships xmlns="http://schemas.openxmlformats.org/package/2006/relationships"><Relationship Id="rId3" Type="http://schemas.openxmlformats.org/officeDocument/2006/relationships/image" Target="../media/image22.wmf"/><Relationship Id="rId2" Type="http://schemas.openxmlformats.org/officeDocument/2006/relationships/notesSlide" Target="../notesSlides/notesSlide47.xml"/><Relationship Id="rId1" Type="http://schemas.openxmlformats.org/officeDocument/2006/relationships/slideLayout" Target="../slideLayouts/slideLayout2.xml"/><Relationship Id="rId5" Type="http://schemas.openxmlformats.org/officeDocument/2006/relationships/image" Target="../media/image19.wmf"/><Relationship Id="rId4" Type="http://schemas.openxmlformats.org/officeDocument/2006/relationships/image" Target="../media/image8.wmf"/></Relationships>
</file>

<file path=ppt/slides/_rels/slide120.xml.rels><?xml version="1.0" encoding="UTF-8" standalone="yes"?>
<Relationships xmlns="http://schemas.openxmlformats.org/package/2006/relationships"><Relationship Id="rId3" Type="http://schemas.openxmlformats.org/officeDocument/2006/relationships/image" Target="../media/image22.wmf"/><Relationship Id="rId2" Type="http://schemas.openxmlformats.org/officeDocument/2006/relationships/notesSlide" Target="../notesSlides/notesSlide48.xml"/><Relationship Id="rId1" Type="http://schemas.openxmlformats.org/officeDocument/2006/relationships/slideLayout" Target="../slideLayouts/slideLayout2.xml"/><Relationship Id="rId5" Type="http://schemas.openxmlformats.org/officeDocument/2006/relationships/image" Target="../media/image19.wmf"/><Relationship Id="rId4" Type="http://schemas.openxmlformats.org/officeDocument/2006/relationships/image" Target="../media/image8.wmf"/></Relationships>
</file>

<file path=ppt/slides/_rels/slide121.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image" Target="../media/image11.jpeg"/><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image" Target="../media/image6.wmf"/><Relationship Id="rId1" Type="http://schemas.openxmlformats.org/officeDocument/2006/relationships/slideLayout" Target="../slideLayouts/slideLayout2.xml"/><Relationship Id="rId5" Type="http://schemas.openxmlformats.org/officeDocument/2006/relationships/image" Target="../media/image7.png"/><Relationship Id="rId4" Type="http://schemas.openxmlformats.org/officeDocument/2006/relationships/image" Target="../media/image23.emf"/></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Layout" Target="../slideLayouts/slideLayout2.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3.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5.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16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wmf"/><Relationship Id="rId1" Type="http://schemas.openxmlformats.org/officeDocument/2006/relationships/slideLayout" Target="../slideLayouts/slideLayout2.xml"/></Relationships>
</file>

<file path=ppt/slides/_rels/slide167.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60.xml"/><Relationship Id="rId1" Type="http://schemas.openxmlformats.org/officeDocument/2006/relationships/slideLayout" Target="../slideLayouts/slideLayout2.xml"/><Relationship Id="rId4" Type="http://schemas.openxmlformats.org/officeDocument/2006/relationships/image" Target="../media/image7.png"/></Relationships>
</file>

<file path=ppt/slides/_rels/slide168.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169.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1.xml.rels><?xml version="1.0" encoding="UTF-8" standalone="yes"?>
<Relationships xmlns="http://schemas.openxmlformats.org/package/2006/relationships"><Relationship Id="rId3" Type="http://schemas.openxmlformats.org/officeDocument/2006/relationships/image" Target="../media/image8.wmf"/><Relationship Id="rId2" Type="http://schemas.openxmlformats.org/officeDocument/2006/relationships/notesSlide" Target="../notesSlides/notesSlide63.xml"/><Relationship Id="rId1" Type="http://schemas.openxmlformats.org/officeDocument/2006/relationships/slideLayout" Target="../slideLayouts/slideLayout2.xml"/><Relationship Id="rId4" Type="http://schemas.openxmlformats.org/officeDocument/2006/relationships/image" Target="../media/image9.png"/></Relationships>
</file>

<file path=ppt/slides/_rels/slide172.xml.rels><?xml version="1.0" encoding="UTF-8" standalone="yes"?>
<Relationships xmlns="http://schemas.openxmlformats.org/package/2006/relationships"><Relationship Id="rId3" Type="http://schemas.openxmlformats.org/officeDocument/2006/relationships/diagramData" Target="../diagrams/data5.xml"/><Relationship Id="rId7" Type="http://schemas.microsoft.com/office/2007/relationships/diagramDrawing" Target="../diagrams/drawing5.xml"/><Relationship Id="rId2" Type="http://schemas.openxmlformats.org/officeDocument/2006/relationships/notesSlide" Target="../notesSlides/notesSlide64.xml"/><Relationship Id="rId1" Type="http://schemas.openxmlformats.org/officeDocument/2006/relationships/slideLayout" Target="../slideLayouts/slideLayout2.xml"/><Relationship Id="rId6" Type="http://schemas.openxmlformats.org/officeDocument/2006/relationships/diagramColors" Target="../diagrams/colors5.xml"/><Relationship Id="rId5" Type="http://schemas.openxmlformats.org/officeDocument/2006/relationships/diagramQuickStyle" Target="../diagrams/quickStyle5.xml"/><Relationship Id="rId4" Type="http://schemas.openxmlformats.org/officeDocument/2006/relationships/diagramLayout" Target="../diagrams/layout5.xml"/></Relationships>
</file>

<file path=ppt/slides/_rels/slide173.xml.rels><?xml version="1.0" encoding="UTF-8" standalone="yes"?>
<Relationships xmlns="http://schemas.openxmlformats.org/package/2006/relationships"><Relationship Id="rId3" Type="http://schemas.openxmlformats.org/officeDocument/2006/relationships/diagramLayout" Target="../diagrams/layout6.xml"/><Relationship Id="rId2" Type="http://schemas.openxmlformats.org/officeDocument/2006/relationships/diagramData" Target="../diagrams/data6.xml"/><Relationship Id="rId1" Type="http://schemas.openxmlformats.org/officeDocument/2006/relationships/slideLayout" Target="../slideLayouts/slideLayout2.xml"/><Relationship Id="rId6" Type="http://schemas.microsoft.com/office/2007/relationships/diagramDrawing" Target="../diagrams/drawing6.xml"/><Relationship Id="rId5" Type="http://schemas.openxmlformats.org/officeDocument/2006/relationships/diagramColors" Target="../diagrams/colors6.xml"/><Relationship Id="rId4" Type="http://schemas.openxmlformats.org/officeDocument/2006/relationships/diagramQuickStyle" Target="../diagrams/quickStyle6.xml"/></Relationships>
</file>

<file path=ppt/slides/_rels/slide174.xml.rels><?xml version="1.0" encoding="UTF-8" standalone="yes"?>
<Relationships xmlns="http://schemas.openxmlformats.org/package/2006/relationships"><Relationship Id="rId3" Type="http://schemas.openxmlformats.org/officeDocument/2006/relationships/diagramData" Target="../diagrams/data7.xml"/><Relationship Id="rId7" Type="http://schemas.microsoft.com/office/2007/relationships/diagramDrawing" Target="../diagrams/drawing7.xml"/><Relationship Id="rId2" Type="http://schemas.openxmlformats.org/officeDocument/2006/relationships/notesSlide" Target="../notesSlides/notesSlide65.xml"/><Relationship Id="rId1" Type="http://schemas.openxmlformats.org/officeDocument/2006/relationships/slideLayout" Target="../slideLayouts/slideLayout2.xml"/><Relationship Id="rId6" Type="http://schemas.openxmlformats.org/officeDocument/2006/relationships/diagramColors" Target="../diagrams/colors7.xml"/><Relationship Id="rId5" Type="http://schemas.openxmlformats.org/officeDocument/2006/relationships/diagramQuickStyle" Target="../diagrams/quickStyle7.xml"/><Relationship Id="rId4" Type="http://schemas.openxmlformats.org/officeDocument/2006/relationships/diagramLayout" Target="../diagrams/layout7.xml"/></Relationships>
</file>

<file path=ppt/slides/_rels/slide175.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176.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2.xml"/></Relationships>
</file>

<file path=ppt/slides/_rels/slide177.xml.rels><?xml version="1.0" encoding="UTF-8" standalone="yes"?>
<Relationships xmlns="http://schemas.openxmlformats.org/package/2006/relationships"><Relationship Id="rId3" Type="http://schemas.openxmlformats.org/officeDocument/2006/relationships/diagramLayout" Target="../diagrams/layout8.xml"/><Relationship Id="rId2" Type="http://schemas.openxmlformats.org/officeDocument/2006/relationships/diagramData" Target="../diagrams/data8.xml"/><Relationship Id="rId1" Type="http://schemas.openxmlformats.org/officeDocument/2006/relationships/slideLayout" Target="../slideLayouts/slideLayout2.xml"/><Relationship Id="rId6" Type="http://schemas.microsoft.com/office/2007/relationships/diagramDrawing" Target="../diagrams/drawing8.xml"/><Relationship Id="rId5" Type="http://schemas.openxmlformats.org/officeDocument/2006/relationships/diagramColors" Target="../diagrams/colors8.xml"/><Relationship Id="rId4" Type="http://schemas.openxmlformats.org/officeDocument/2006/relationships/diagramQuickStyle" Target="../diagrams/quickStyle8.xml"/></Relationships>
</file>

<file path=ppt/slides/_rels/slide178.x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slideLayout" Target="../slideLayouts/slideLayout2.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0.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2.xml"/></Relationships>
</file>

<file path=ppt/slides/_rels/slide181.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19.wmf"/><Relationship Id="rId1" Type="http://schemas.openxmlformats.org/officeDocument/2006/relationships/slideLayout" Target="../slideLayouts/slideLayout2.xml"/><Relationship Id="rId4" Type="http://schemas.openxmlformats.org/officeDocument/2006/relationships/image" Target="../media/image8.wmf"/></Relationships>
</file>

<file path=ppt/slides/_rels/slide182.xml.rels><?xml version="1.0" encoding="UTF-8" standalone="yes"?>
<Relationships xmlns="http://schemas.openxmlformats.org/package/2006/relationships"><Relationship Id="rId3" Type="http://schemas.openxmlformats.org/officeDocument/2006/relationships/image" Target="../media/image19.wmf"/><Relationship Id="rId2" Type="http://schemas.openxmlformats.org/officeDocument/2006/relationships/notesSlide" Target="../notesSlides/notesSlide69.xml"/><Relationship Id="rId1" Type="http://schemas.openxmlformats.org/officeDocument/2006/relationships/slideLayout" Target="../slideLayouts/slideLayout2.xml"/><Relationship Id="rId5" Type="http://schemas.openxmlformats.org/officeDocument/2006/relationships/image" Target="../media/image8.wmf"/><Relationship Id="rId4" Type="http://schemas.openxmlformats.org/officeDocument/2006/relationships/image" Target="../media/image26.png"/></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6.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2.xml"/></Relationships>
</file>

<file path=ppt/slides/_rels/slide187.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2.xml"/></Relationships>
</file>

<file path=ppt/slides/_rels/slide188.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2.xml"/></Relationships>
</file>

<file path=ppt/slides/_rels/slide189.xml.rels><?xml version="1.0" encoding="UTF-8" standalone="yes"?>
<Relationships xmlns="http://schemas.openxmlformats.org/package/2006/relationships"><Relationship Id="rId2" Type="http://schemas.openxmlformats.org/officeDocument/2006/relationships/image" Target="../media/image8.wmf"/><Relationship Id="rId1" Type="http://schemas.openxmlformats.org/officeDocument/2006/relationships/slideLayout" Target="../slideLayouts/slideLayout2.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1.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2.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3.x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slideLayout" Target="../slideLayouts/slideLayout2.xml"/></Relationships>
</file>

<file path=ppt/slides/_rels/slide194.x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slideLayout" Target="../slideLayouts/slideLayout2.xml"/></Relationships>
</file>

<file path=ppt/slides/_rels/slide195.x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slideLayout" Target="../slideLayouts/slideLayout2.xml"/></Relationships>
</file>

<file path=ppt/slides/_rels/slide196.x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slideLayout" Target="../slideLayouts/slideLayout2.xml"/></Relationships>
</file>

<file path=ppt/slides/_rels/slide197.x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slideLayout" Target="../slideLayouts/slideLayout2.xml"/></Relationships>
</file>

<file path=ppt/slides/_rels/slide198.x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slideLayout" Target="../slideLayouts/slideLayout2.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3.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2.xml"/></Relationships>
</file>

<file path=ppt/slides/_rels/slide204.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75.xml"/><Relationship Id="rId1" Type="http://schemas.openxmlformats.org/officeDocument/2006/relationships/slideLayout" Target="../slideLayouts/slideLayout2.xml"/></Relationships>
</file>

<file path=ppt/slides/_rels/slide205.x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slideLayout" Target="../slideLayouts/slideLayout2.xml"/></Relationships>
</file>

<file path=ppt/slides/_rels/slide206.x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slideLayout" Target="../slideLayouts/slideLayout2.xml"/></Relationships>
</file>

<file path=ppt/slides/_rels/slide207.x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slideLayout" Target="../slideLayouts/slideLayout2.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4.x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slideLayout" Target="../slideLayouts/slideLayout2.xml"/></Relationships>
</file>

<file path=ppt/slides/_rels/slide215.x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slideLayout" Target="../slideLayouts/slideLayout2.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0.xml.rels><?xml version="1.0" encoding="UTF-8" standalone="yes"?>
<Relationships xmlns="http://schemas.openxmlformats.org/package/2006/relationships"><Relationship Id="rId3" Type="http://schemas.openxmlformats.org/officeDocument/2006/relationships/image" Target="../media/image8.wmf"/><Relationship Id="rId2" Type="http://schemas.openxmlformats.org/officeDocument/2006/relationships/notesSlide" Target="../notesSlides/notesSlide76.xml"/><Relationship Id="rId1" Type="http://schemas.openxmlformats.org/officeDocument/2006/relationships/slideLayout" Target="../slideLayouts/slideLayout2.xml"/></Relationships>
</file>

<file path=ppt/slides/_rels/slide221.xml.rels><?xml version="1.0" encoding="UTF-8" standalone="yes"?>
<Relationships xmlns="http://schemas.openxmlformats.org/package/2006/relationships"><Relationship Id="rId3" Type="http://schemas.openxmlformats.org/officeDocument/2006/relationships/image" Target="../media/image8.wmf"/><Relationship Id="rId2" Type="http://schemas.openxmlformats.org/officeDocument/2006/relationships/notesSlide" Target="../notesSlides/notesSlide77.xml"/><Relationship Id="rId1" Type="http://schemas.openxmlformats.org/officeDocument/2006/relationships/slideLayout" Target="../slideLayouts/slideLayout2.xml"/></Relationships>
</file>

<file path=ppt/slides/_rels/slide222.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2.xml"/></Relationships>
</file>

<file path=ppt/slides/_rels/slide223.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_rels/slide224.xml.rels><?xml version="1.0" encoding="UTF-8" standalone="yes"?>
<Relationships xmlns="http://schemas.openxmlformats.org/package/2006/relationships"><Relationship Id="rId3" Type="http://schemas.openxmlformats.org/officeDocument/2006/relationships/image" Target="../media/image8.wmf"/><Relationship Id="rId2" Type="http://schemas.openxmlformats.org/officeDocument/2006/relationships/notesSlide" Target="../notesSlides/notesSlide80.xml"/><Relationship Id="rId1" Type="http://schemas.openxmlformats.org/officeDocument/2006/relationships/slideLayout" Target="../slideLayouts/slideLayout2.xml"/></Relationships>
</file>

<file path=ppt/slides/_rels/slide225.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2.xml"/></Relationships>
</file>

<file path=ppt/slides/_rels/slide226.xml.rels><?xml version="1.0" encoding="UTF-8" standalone="yes"?>
<Relationships xmlns="http://schemas.openxmlformats.org/package/2006/relationships"><Relationship Id="rId3" Type="http://schemas.openxmlformats.org/officeDocument/2006/relationships/image" Target="../media/image8.wmf"/><Relationship Id="rId2" Type="http://schemas.openxmlformats.org/officeDocument/2006/relationships/notesSlide" Target="../notesSlides/notesSlide82.xml"/><Relationship Id="rId1" Type="http://schemas.openxmlformats.org/officeDocument/2006/relationships/slideLayout" Target="../slideLayouts/slideLayout2.xml"/></Relationships>
</file>

<file path=ppt/slides/_rels/slide227.xml.rels><?xml version="1.0" encoding="UTF-8" standalone="yes"?>
<Relationships xmlns="http://schemas.openxmlformats.org/package/2006/relationships"><Relationship Id="rId3" Type="http://schemas.openxmlformats.org/officeDocument/2006/relationships/image" Target="../media/image8.wmf"/><Relationship Id="rId2" Type="http://schemas.openxmlformats.org/officeDocument/2006/relationships/notesSlide" Target="../notesSlides/notesSlide83.xml"/><Relationship Id="rId1" Type="http://schemas.openxmlformats.org/officeDocument/2006/relationships/slideLayout" Target="../slideLayouts/slideLayout2.xml"/></Relationships>
</file>

<file path=ppt/slides/_rels/slide228.xml.rels><?xml version="1.0" encoding="UTF-8" standalone="yes"?>
<Relationships xmlns="http://schemas.openxmlformats.org/package/2006/relationships"><Relationship Id="rId3" Type="http://schemas.openxmlformats.org/officeDocument/2006/relationships/image" Target="../media/image8.wmf"/><Relationship Id="rId2" Type="http://schemas.openxmlformats.org/officeDocument/2006/relationships/notesSlide" Target="../notesSlides/notesSlide84.xml"/><Relationship Id="rId1" Type="http://schemas.openxmlformats.org/officeDocument/2006/relationships/slideLayout" Target="../slideLayouts/slideLayout2.xml"/></Relationships>
</file>

<file path=ppt/slides/_rels/slide229.xml.rels><?xml version="1.0" encoding="UTF-8" standalone="yes"?>
<Relationships xmlns="http://schemas.openxmlformats.org/package/2006/relationships"><Relationship Id="rId3" Type="http://schemas.openxmlformats.org/officeDocument/2006/relationships/image" Target="../media/image8.wmf"/><Relationship Id="rId2" Type="http://schemas.openxmlformats.org/officeDocument/2006/relationships/notesSlide" Target="../notesSlides/notesSlide85.xml"/><Relationship Id="rId1" Type="http://schemas.openxmlformats.org/officeDocument/2006/relationships/slideLayout" Target="../slideLayouts/slideLayout2.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1.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2.xml"/></Relationships>
</file>

<file path=ppt/slides/_rels/slide232.xml.rels><?xml version="1.0" encoding="UTF-8" standalone="yes"?>
<Relationships xmlns="http://schemas.openxmlformats.org/package/2006/relationships"><Relationship Id="rId3" Type="http://schemas.openxmlformats.org/officeDocument/2006/relationships/diagramData" Target="../diagrams/data9.xml"/><Relationship Id="rId7" Type="http://schemas.microsoft.com/office/2007/relationships/diagramDrawing" Target="../diagrams/drawing9.xml"/><Relationship Id="rId2" Type="http://schemas.openxmlformats.org/officeDocument/2006/relationships/notesSlide" Target="../notesSlides/notesSlide87.xml"/><Relationship Id="rId1" Type="http://schemas.openxmlformats.org/officeDocument/2006/relationships/slideLayout" Target="../slideLayouts/slideLayout2.xml"/><Relationship Id="rId6" Type="http://schemas.openxmlformats.org/officeDocument/2006/relationships/diagramColors" Target="../diagrams/colors9.xml"/><Relationship Id="rId5" Type="http://schemas.openxmlformats.org/officeDocument/2006/relationships/diagramQuickStyle" Target="../diagrams/quickStyle9.xml"/><Relationship Id="rId4" Type="http://schemas.openxmlformats.org/officeDocument/2006/relationships/diagramLayout" Target="../diagrams/layout9.xml"/></Relationships>
</file>

<file path=ppt/slides/_rels/slide233.xml.rels><?xml version="1.0" encoding="UTF-8" standalone="yes"?>
<Relationships xmlns="http://schemas.openxmlformats.org/package/2006/relationships"><Relationship Id="rId3" Type="http://schemas.openxmlformats.org/officeDocument/2006/relationships/image" Target="../media/image8.wmf"/><Relationship Id="rId2" Type="http://schemas.openxmlformats.org/officeDocument/2006/relationships/notesSlide" Target="../notesSlides/notesSlide88.xml"/><Relationship Id="rId1" Type="http://schemas.openxmlformats.org/officeDocument/2006/relationships/slideLayout" Target="../slideLayouts/slideLayout2.xml"/></Relationships>
</file>

<file path=ppt/slides/_rels/slide234.xml.rels><?xml version="1.0" encoding="UTF-8" standalone="yes"?>
<Relationships xmlns="http://schemas.openxmlformats.org/package/2006/relationships"><Relationship Id="rId3" Type="http://schemas.openxmlformats.org/officeDocument/2006/relationships/image" Target="../media/image8.wmf"/><Relationship Id="rId2" Type="http://schemas.openxmlformats.org/officeDocument/2006/relationships/notesSlide" Target="../notesSlides/notesSlide89.xml"/><Relationship Id="rId1" Type="http://schemas.openxmlformats.org/officeDocument/2006/relationships/slideLayout" Target="../slideLayouts/slideLayout2.xml"/></Relationships>
</file>

<file path=ppt/slides/_rels/slide235.xml.rels><?xml version="1.0" encoding="UTF-8" standalone="yes"?>
<Relationships xmlns="http://schemas.openxmlformats.org/package/2006/relationships"><Relationship Id="rId3" Type="http://schemas.openxmlformats.org/officeDocument/2006/relationships/image" Target="../media/image8.wmf"/><Relationship Id="rId2" Type="http://schemas.openxmlformats.org/officeDocument/2006/relationships/notesSlide" Target="../notesSlides/notesSlide90.xml"/><Relationship Id="rId1" Type="http://schemas.openxmlformats.org/officeDocument/2006/relationships/slideLayout" Target="../slideLayouts/slideLayout2.xml"/></Relationships>
</file>

<file path=ppt/slides/_rels/slide236.xml.rels><?xml version="1.0" encoding="UTF-8" standalone="yes"?>
<Relationships xmlns="http://schemas.openxmlformats.org/package/2006/relationships"><Relationship Id="rId3" Type="http://schemas.openxmlformats.org/officeDocument/2006/relationships/image" Target="../media/image8.wmf"/><Relationship Id="rId2" Type="http://schemas.openxmlformats.org/officeDocument/2006/relationships/notesSlide" Target="../notesSlides/notesSlide91.xml"/><Relationship Id="rId1" Type="http://schemas.openxmlformats.org/officeDocument/2006/relationships/slideLayout" Target="../slideLayouts/slideLayout2.xml"/></Relationships>
</file>

<file path=ppt/slides/_rels/slide237.xml.rels><?xml version="1.0" encoding="UTF-8" standalone="yes"?>
<Relationships xmlns="http://schemas.openxmlformats.org/package/2006/relationships"><Relationship Id="rId3" Type="http://schemas.openxmlformats.org/officeDocument/2006/relationships/diagramLayout" Target="../diagrams/layout10.xml"/><Relationship Id="rId2" Type="http://schemas.openxmlformats.org/officeDocument/2006/relationships/diagramData" Target="../diagrams/data10.xml"/><Relationship Id="rId1" Type="http://schemas.openxmlformats.org/officeDocument/2006/relationships/slideLayout" Target="../slideLayouts/slideLayout2.xml"/><Relationship Id="rId6" Type="http://schemas.microsoft.com/office/2007/relationships/diagramDrawing" Target="../diagrams/drawing10.xml"/><Relationship Id="rId5" Type="http://schemas.openxmlformats.org/officeDocument/2006/relationships/diagramColors" Target="../diagrams/colors10.xml"/><Relationship Id="rId4" Type="http://schemas.openxmlformats.org/officeDocument/2006/relationships/diagramQuickStyle" Target="../diagrams/quickStyle10.xml"/></Relationships>
</file>

<file path=ppt/slides/_rels/slide238.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2.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0.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2.xml"/></Relationships>
</file>

<file path=ppt/slides/_rels/slide241.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2.xml"/></Relationships>
</file>

<file path=ppt/slides/_rels/slide242.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2.xml"/></Relationships>
</file>

<file path=ppt/slides/_rels/slide243.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2.xml"/></Relationships>
</file>

<file path=ppt/slides/_rels/slide244.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2.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6.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2.xml"/></Relationships>
</file>

<file path=ppt/slides/_rels/slide247.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2.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0.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image" Target="../media/image27.png"/><Relationship Id="rId1" Type="http://schemas.openxmlformats.org/officeDocument/2006/relationships/slideLayout" Target="../slideLayouts/slideLayout2.xml"/><Relationship Id="rId5" Type="http://schemas.openxmlformats.org/officeDocument/2006/relationships/image" Target="../media/image19.wmf"/><Relationship Id="rId4" Type="http://schemas.openxmlformats.org/officeDocument/2006/relationships/image" Target="../media/image7.png"/></Relationships>
</file>

<file path=ppt/slides/_rels/slide251.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image" Target="../media/image27.png"/><Relationship Id="rId1" Type="http://schemas.openxmlformats.org/officeDocument/2006/relationships/slideLayout" Target="../slideLayouts/slideLayout2.xml"/><Relationship Id="rId5" Type="http://schemas.openxmlformats.org/officeDocument/2006/relationships/image" Target="../media/image19.wmf"/><Relationship Id="rId4" Type="http://schemas.openxmlformats.org/officeDocument/2006/relationships/image" Target="../media/image7.png"/></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8.xml.rels><?xml version="1.0" encoding="UTF-8" standalone="yes"?>
<Relationships xmlns="http://schemas.openxmlformats.org/package/2006/relationships"><Relationship Id="rId3" Type="http://schemas.openxmlformats.org/officeDocument/2006/relationships/image" Target="../media/image22.wmf"/><Relationship Id="rId2" Type="http://schemas.openxmlformats.org/officeDocument/2006/relationships/image" Target="../media/image8.wmf"/><Relationship Id="rId1" Type="http://schemas.openxmlformats.org/officeDocument/2006/relationships/slideLayout" Target="../slideLayouts/slideLayout2.xml"/><Relationship Id="rId4" Type="http://schemas.openxmlformats.org/officeDocument/2006/relationships/image" Target="../media/image19.wmf"/></Relationships>
</file>

<file path=ppt/slides/_rels/slide259.xml.rels><?xml version="1.0" encoding="UTF-8" standalone="yes"?>
<Relationships xmlns="http://schemas.openxmlformats.org/package/2006/relationships"><Relationship Id="rId3" Type="http://schemas.openxmlformats.org/officeDocument/2006/relationships/image" Target="../media/image8.wmf"/><Relationship Id="rId2" Type="http://schemas.openxmlformats.org/officeDocument/2006/relationships/image" Target="../media/image22.wmf"/><Relationship Id="rId1" Type="http://schemas.openxmlformats.org/officeDocument/2006/relationships/slideLayout" Target="../slideLayouts/slideLayout2.xml"/><Relationship Id="rId4" Type="http://schemas.openxmlformats.org/officeDocument/2006/relationships/image" Target="../media/image19.wmf"/></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4.xml.rels><?xml version="1.0" encoding="UTF-8" standalone="yes"?>
<Relationships xmlns="http://schemas.openxmlformats.org/package/2006/relationships"><Relationship Id="rId3" Type="http://schemas.openxmlformats.org/officeDocument/2006/relationships/image" Target="../media/image29.wmf"/><Relationship Id="rId2" Type="http://schemas.openxmlformats.org/officeDocument/2006/relationships/image" Target="../media/image28.wmf"/><Relationship Id="rId1" Type="http://schemas.openxmlformats.org/officeDocument/2006/relationships/slideLayout" Target="../slideLayouts/slideLayout2.xml"/><Relationship Id="rId4" Type="http://schemas.openxmlformats.org/officeDocument/2006/relationships/image" Target="../media/image19.wmf"/></Relationships>
</file>

<file path=ppt/slides/_rels/slide265.xml.rels><?xml version="1.0" encoding="UTF-8" standalone="yes"?>
<Relationships xmlns="http://schemas.openxmlformats.org/package/2006/relationships"><Relationship Id="rId3" Type="http://schemas.openxmlformats.org/officeDocument/2006/relationships/image" Target="../media/image29.wmf"/><Relationship Id="rId2" Type="http://schemas.openxmlformats.org/officeDocument/2006/relationships/image" Target="../media/image28.wmf"/><Relationship Id="rId1" Type="http://schemas.openxmlformats.org/officeDocument/2006/relationships/slideLayout" Target="../slideLayouts/slideLayout2.xml"/><Relationship Id="rId4" Type="http://schemas.openxmlformats.org/officeDocument/2006/relationships/image" Target="../media/image19.wmf"/></Relationships>
</file>

<file path=ppt/slides/_rels/slide266.xml.rels><?xml version="1.0" encoding="UTF-8" standalone="yes"?>
<Relationships xmlns="http://schemas.openxmlformats.org/package/2006/relationships"><Relationship Id="rId3" Type="http://schemas.openxmlformats.org/officeDocument/2006/relationships/image" Target="../media/image29.wmf"/><Relationship Id="rId2" Type="http://schemas.openxmlformats.org/officeDocument/2006/relationships/image" Target="../media/image28.wmf"/><Relationship Id="rId1" Type="http://schemas.openxmlformats.org/officeDocument/2006/relationships/slideLayout" Target="../slideLayouts/slideLayout2.xml"/><Relationship Id="rId4" Type="http://schemas.openxmlformats.org/officeDocument/2006/relationships/image" Target="../media/image19.wmf"/></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wmf"/><Relationship Id="rId1" Type="http://schemas.openxmlformats.org/officeDocument/2006/relationships/slideLayout" Target="../slideLayouts/slideLayout2.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2.xml.rels><?xml version="1.0" encoding="UTF-8" standalone="yes"?>
<Relationships xmlns="http://schemas.openxmlformats.org/package/2006/relationships"><Relationship Id="rId3" Type="http://schemas.openxmlformats.org/officeDocument/2006/relationships/image" Target="../media/image30.wmf"/><Relationship Id="rId2" Type="http://schemas.openxmlformats.org/officeDocument/2006/relationships/notesSlide" Target="../notesSlides/notesSlide100.xml"/><Relationship Id="rId1" Type="http://schemas.openxmlformats.org/officeDocument/2006/relationships/slideLayout" Target="../slideLayouts/slideLayout2.xml"/></Relationships>
</file>

<file path=ppt/slides/_rels/slide273.xml.rels><?xml version="1.0" encoding="UTF-8" standalone="yes"?>
<Relationships xmlns="http://schemas.openxmlformats.org/package/2006/relationships"><Relationship Id="rId3" Type="http://schemas.openxmlformats.org/officeDocument/2006/relationships/image" Target="../media/image30.wmf"/><Relationship Id="rId2" Type="http://schemas.openxmlformats.org/officeDocument/2006/relationships/notesSlide" Target="../notesSlides/notesSlide101.xml"/><Relationship Id="rId1" Type="http://schemas.openxmlformats.org/officeDocument/2006/relationships/slideLayout" Target="../slideLayouts/slideLayout2.xml"/></Relationships>
</file>

<file path=ppt/slides/_rels/slide274.xml.rels><?xml version="1.0" encoding="UTF-8" standalone="yes"?>
<Relationships xmlns="http://schemas.openxmlformats.org/package/2006/relationships"><Relationship Id="rId2" Type="http://schemas.openxmlformats.org/officeDocument/2006/relationships/image" Target="../media/image30.wmf"/><Relationship Id="rId1" Type="http://schemas.openxmlformats.org/officeDocument/2006/relationships/slideLayout" Target="../slideLayouts/slideLayout2.xml"/></Relationships>
</file>

<file path=ppt/slides/_rels/slide27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wmf"/><Relationship Id="rId1" Type="http://schemas.openxmlformats.org/officeDocument/2006/relationships/slideLayout" Target="../slideLayouts/slideLayout2.xml"/></Relationships>
</file>

<file path=ppt/slides/_rels/slide276.xml.rels><?xml version="1.0" encoding="UTF-8" standalone="yes"?>
<Relationships xmlns="http://schemas.openxmlformats.org/package/2006/relationships"><Relationship Id="rId3" Type="http://schemas.openxmlformats.org/officeDocument/2006/relationships/image" Target="../media/image31.wmf"/><Relationship Id="rId2" Type="http://schemas.openxmlformats.org/officeDocument/2006/relationships/oleObject" Target="../embeddings/oleObject2.bin"/><Relationship Id="rId1" Type="http://schemas.openxmlformats.org/officeDocument/2006/relationships/slideLayout" Target="../slideLayouts/slideLayout2.xml"/><Relationship Id="rId4" Type="http://schemas.openxmlformats.org/officeDocument/2006/relationships/image" Target="../media/image6.wmf"/></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7.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image" Target="../media/image32.png"/><Relationship Id="rId1" Type="http://schemas.openxmlformats.org/officeDocument/2006/relationships/slideLayout" Target="../slideLayouts/slideLayout2.xml"/><Relationship Id="rId5" Type="http://schemas.openxmlformats.org/officeDocument/2006/relationships/image" Target="../media/image6.wmf"/><Relationship Id="rId4" Type="http://schemas.openxmlformats.org/officeDocument/2006/relationships/image" Target="../media/image31.wmf"/></Relationships>
</file>

<file path=ppt/slides/_rels/slide288.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image" Target="../media/image32.png"/><Relationship Id="rId1" Type="http://schemas.openxmlformats.org/officeDocument/2006/relationships/slideLayout" Target="../slideLayouts/slideLayout2.xml"/><Relationship Id="rId5" Type="http://schemas.openxmlformats.org/officeDocument/2006/relationships/image" Target="../media/image6.wmf"/><Relationship Id="rId4" Type="http://schemas.openxmlformats.org/officeDocument/2006/relationships/image" Target="../media/image31.wmf"/></Relationships>
</file>

<file path=ppt/slides/_rels/slide289.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2.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2.xml.rels><?xml version="1.0" encoding="UTF-8" standalone="yes"?>
<Relationships xmlns="http://schemas.openxmlformats.org/package/2006/relationships"><Relationship Id="rId3" Type="http://schemas.openxmlformats.org/officeDocument/2006/relationships/oleObject" Target="../embeddings/oleObject5.bin"/><Relationship Id="rId2" Type="http://schemas.openxmlformats.org/officeDocument/2006/relationships/notesSlide" Target="../notesSlides/notesSlide103.xml"/><Relationship Id="rId1" Type="http://schemas.openxmlformats.org/officeDocument/2006/relationships/slideLayout" Target="../slideLayouts/slideLayout2.xml"/><Relationship Id="rId6" Type="http://schemas.openxmlformats.org/officeDocument/2006/relationships/image" Target="../media/image22.wmf"/><Relationship Id="rId5" Type="http://schemas.openxmlformats.org/officeDocument/2006/relationships/image" Target="../media/image8.wmf"/><Relationship Id="rId4" Type="http://schemas.openxmlformats.org/officeDocument/2006/relationships/image" Target="../media/image31.wmf"/></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8.xml.rels><?xml version="1.0" encoding="UTF-8" standalone="yes"?>
<Relationships xmlns="http://schemas.openxmlformats.org/package/2006/relationships"><Relationship Id="rId2" Type="http://schemas.openxmlformats.org/officeDocument/2006/relationships/image" Target="../media/image33.wmf"/><Relationship Id="rId1" Type="http://schemas.openxmlformats.org/officeDocument/2006/relationships/slideLayout" Target="../slideLayouts/slideLayout2.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0.xml.rels><?xml version="1.0" encoding="UTF-8" standalone="yes"?>
<Relationships xmlns="http://schemas.openxmlformats.org/package/2006/relationships"><Relationship Id="rId3" Type="http://schemas.openxmlformats.org/officeDocument/2006/relationships/image" Target="../media/image33.wmf"/><Relationship Id="rId2" Type="http://schemas.openxmlformats.org/officeDocument/2006/relationships/notesSlide" Target="../notesSlides/notesSlide104.xml"/><Relationship Id="rId1" Type="http://schemas.openxmlformats.org/officeDocument/2006/relationships/slideLayout" Target="../slideLayouts/slideLayout2.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2.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105.xml"/><Relationship Id="rId1" Type="http://schemas.openxmlformats.org/officeDocument/2006/relationships/slideLayout" Target="../slideLayouts/slideLayout2.xml"/><Relationship Id="rId5" Type="http://schemas.openxmlformats.org/officeDocument/2006/relationships/image" Target="../media/image32.png"/><Relationship Id="rId4" Type="http://schemas.openxmlformats.org/officeDocument/2006/relationships/image" Target="../media/image33.wmf"/></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9.xml.rels><?xml version="1.0" encoding="UTF-8" standalone="yes"?>
<Relationships xmlns="http://schemas.openxmlformats.org/package/2006/relationships"><Relationship Id="rId3" Type="http://schemas.openxmlformats.org/officeDocument/2006/relationships/diagramLayout" Target="../diagrams/layout11.xml"/><Relationship Id="rId2" Type="http://schemas.openxmlformats.org/officeDocument/2006/relationships/diagramData" Target="../diagrams/data11.xml"/><Relationship Id="rId1" Type="http://schemas.openxmlformats.org/officeDocument/2006/relationships/slideLayout" Target="../slideLayouts/slideLayout2.xml"/><Relationship Id="rId6" Type="http://schemas.microsoft.com/office/2007/relationships/diagramDrawing" Target="../diagrams/drawing11.xml"/><Relationship Id="rId5" Type="http://schemas.openxmlformats.org/officeDocument/2006/relationships/diagramColors" Target="../diagrams/colors11.xml"/><Relationship Id="rId4" Type="http://schemas.openxmlformats.org/officeDocument/2006/relationships/diagramQuickStyle" Target="../diagrams/quickStyle11.xml"/></Relationships>
</file>

<file path=ppt/slides/_rels/slide310.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image" Target="../media/image6.wmf"/><Relationship Id="rId1" Type="http://schemas.openxmlformats.org/officeDocument/2006/relationships/slideLayout" Target="../slideLayouts/slideLayout2.xml"/><Relationship Id="rId4" Type="http://schemas.openxmlformats.org/officeDocument/2006/relationships/image" Target="../media/image33.wmf"/></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9.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2.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2.xml.rels><?xml version="1.0" encoding="UTF-8" standalone="yes"?>
<Relationships xmlns="http://schemas.openxmlformats.org/package/2006/relationships"><Relationship Id="rId3" Type="http://schemas.openxmlformats.org/officeDocument/2006/relationships/diagramLayout" Target="../diagrams/layout12.xml"/><Relationship Id="rId2" Type="http://schemas.openxmlformats.org/officeDocument/2006/relationships/diagramData" Target="../diagrams/data12.xml"/><Relationship Id="rId1" Type="http://schemas.openxmlformats.org/officeDocument/2006/relationships/slideLayout" Target="../slideLayouts/slideLayout2.xml"/><Relationship Id="rId6" Type="http://schemas.microsoft.com/office/2007/relationships/diagramDrawing" Target="../diagrams/drawing12.xml"/><Relationship Id="rId5" Type="http://schemas.openxmlformats.org/officeDocument/2006/relationships/diagramColors" Target="../diagrams/colors12.xml"/><Relationship Id="rId4" Type="http://schemas.openxmlformats.org/officeDocument/2006/relationships/diagramQuickStyle" Target="../diagrams/quickStyle12.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4.xml.rels><?xml version="1.0" encoding="UTF-8" standalone="yes"?>
<Relationships xmlns="http://schemas.openxmlformats.org/package/2006/relationships"><Relationship Id="rId3" Type="http://schemas.openxmlformats.org/officeDocument/2006/relationships/diagramLayout" Target="../diagrams/layout13.xml"/><Relationship Id="rId2" Type="http://schemas.openxmlformats.org/officeDocument/2006/relationships/diagramData" Target="../diagrams/data13.xml"/><Relationship Id="rId1" Type="http://schemas.openxmlformats.org/officeDocument/2006/relationships/slideLayout" Target="../slideLayouts/slideLayout2.xml"/><Relationship Id="rId6" Type="http://schemas.microsoft.com/office/2007/relationships/diagramDrawing" Target="../diagrams/drawing13.xml"/><Relationship Id="rId5" Type="http://schemas.openxmlformats.org/officeDocument/2006/relationships/diagramColors" Target="../diagrams/colors13.xml"/><Relationship Id="rId4" Type="http://schemas.openxmlformats.org/officeDocument/2006/relationships/diagramQuickStyle" Target="../diagrams/quickStyle13.xml"/></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6.xml.rels><?xml version="1.0" encoding="UTF-8" standalone="yes"?>
<Relationships xmlns="http://schemas.openxmlformats.org/package/2006/relationships"><Relationship Id="rId3" Type="http://schemas.openxmlformats.org/officeDocument/2006/relationships/image" Target="../media/image10.wmf"/><Relationship Id="rId2" Type="http://schemas.openxmlformats.org/officeDocument/2006/relationships/image" Target="../media/image32.png"/><Relationship Id="rId1" Type="http://schemas.openxmlformats.org/officeDocument/2006/relationships/slideLayout" Target="../slideLayouts/slideLayout2.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0.xml.rels><?xml version="1.0" encoding="UTF-8" standalone="yes"?>
<Relationships xmlns="http://schemas.openxmlformats.org/package/2006/relationships"><Relationship Id="rId3" Type="http://schemas.openxmlformats.org/officeDocument/2006/relationships/image" Target="../media/image8.wmf"/><Relationship Id="rId2" Type="http://schemas.openxmlformats.org/officeDocument/2006/relationships/image" Target="../media/image22.wmf"/><Relationship Id="rId1" Type="http://schemas.openxmlformats.org/officeDocument/2006/relationships/slideLayout" Target="../slideLayouts/slideLayout2.xml"/><Relationship Id="rId4" Type="http://schemas.openxmlformats.org/officeDocument/2006/relationships/image" Target="../media/image34.wmf"/></Relationships>
</file>

<file path=ppt/slides/_rels/slide331.xml.rels><?xml version="1.0" encoding="UTF-8" standalone="yes"?>
<Relationships xmlns="http://schemas.openxmlformats.org/package/2006/relationships"><Relationship Id="rId3" Type="http://schemas.openxmlformats.org/officeDocument/2006/relationships/image" Target="../media/image8.wmf"/><Relationship Id="rId2" Type="http://schemas.openxmlformats.org/officeDocument/2006/relationships/image" Target="../media/image22.wmf"/><Relationship Id="rId1" Type="http://schemas.openxmlformats.org/officeDocument/2006/relationships/slideLayout" Target="../slideLayouts/slideLayout2.xml"/><Relationship Id="rId4" Type="http://schemas.openxmlformats.org/officeDocument/2006/relationships/image" Target="../media/image34.wmf"/></Relationships>
</file>

<file path=ppt/slides/_rels/slide332.xml.rels><?xml version="1.0" encoding="UTF-8" standalone="yes"?>
<Relationships xmlns="http://schemas.openxmlformats.org/package/2006/relationships"><Relationship Id="rId3" Type="http://schemas.openxmlformats.org/officeDocument/2006/relationships/image" Target="../media/image8.wmf"/><Relationship Id="rId2" Type="http://schemas.openxmlformats.org/officeDocument/2006/relationships/image" Target="../media/image22.wmf"/><Relationship Id="rId1" Type="http://schemas.openxmlformats.org/officeDocument/2006/relationships/slideLayout" Target="../slideLayouts/slideLayout2.xml"/><Relationship Id="rId4" Type="http://schemas.openxmlformats.org/officeDocument/2006/relationships/image" Target="../media/image34.wmf"/></Relationships>
</file>

<file path=ppt/slides/_rels/slide333.xml.rels><?xml version="1.0" encoding="UTF-8" standalone="yes"?>
<Relationships xmlns="http://schemas.openxmlformats.org/package/2006/relationships"><Relationship Id="rId3" Type="http://schemas.openxmlformats.org/officeDocument/2006/relationships/image" Target="../media/image8.wmf"/><Relationship Id="rId2" Type="http://schemas.openxmlformats.org/officeDocument/2006/relationships/image" Target="../media/image22.wmf"/><Relationship Id="rId1" Type="http://schemas.openxmlformats.org/officeDocument/2006/relationships/slideLayout" Target="../slideLayouts/slideLayout2.xml"/><Relationship Id="rId4" Type="http://schemas.openxmlformats.org/officeDocument/2006/relationships/image" Target="../media/image34.wmf"/></Relationships>
</file>

<file path=ppt/slides/_rels/slide334.xml.rels><?xml version="1.0" encoding="UTF-8" standalone="yes"?>
<Relationships xmlns="http://schemas.openxmlformats.org/package/2006/relationships"><Relationship Id="rId3" Type="http://schemas.openxmlformats.org/officeDocument/2006/relationships/image" Target="../media/image8.wmf"/><Relationship Id="rId2" Type="http://schemas.openxmlformats.org/officeDocument/2006/relationships/notesSlide" Target="../notesSlides/notesSlide107.xml"/><Relationship Id="rId1" Type="http://schemas.openxmlformats.org/officeDocument/2006/relationships/slideLayout" Target="../slideLayouts/slideLayout2.xml"/><Relationship Id="rId4" Type="http://schemas.openxmlformats.org/officeDocument/2006/relationships/image" Target="../media/image34.wmf"/></Relationships>
</file>

<file path=ppt/slides/_rels/slide335.xml.rels><?xml version="1.0" encoding="UTF-8" standalone="yes"?>
<Relationships xmlns="http://schemas.openxmlformats.org/package/2006/relationships"><Relationship Id="rId3" Type="http://schemas.openxmlformats.org/officeDocument/2006/relationships/diagramLayout" Target="../diagrams/layout14.xml"/><Relationship Id="rId2" Type="http://schemas.openxmlformats.org/officeDocument/2006/relationships/diagramData" Target="../diagrams/data14.xml"/><Relationship Id="rId1" Type="http://schemas.openxmlformats.org/officeDocument/2006/relationships/slideLayout" Target="../slideLayouts/slideLayout2.xml"/><Relationship Id="rId6" Type="http://schemas.microsoft.com/office/2007/relationships/diagramDrawing" Target="../diagrams/drawing14.xml"/><Relationship Id="rId5" Type="http://schemas.openxmlformats.org/officeDocument/2006/relationships/diagramColors" Target="../diagrams/colors14.xml"/><Relationship Id="rId4" Type="http://schemas.openxmlformats.org/officeDocument/2006/relationships/diagramQuickStyle" Target="../diagrams/quickStyle14.xml"/></Relationships>
</file>

<file path=ppt/slides/_rels/slide336.xml.rels><?xml version="1.0" encoding="UTF-8" standalone="yes"?>
<Relationships xmlns="http://schemas.openxmlformats.org/package/2006/relationships"><Relationship Id="rId3" Type="http://schemas.openxmlformats.org/officeDocument/2006/relationships/diagramData" Target="../diagrams/data15.xml"/><Relationship Id="rId7" Type="http://schemas.microsoft.com/office/2007/relationships/diagramDrawing" Target="../diagrams/drawing15.xml"/><Relationship Id="rId2" Type="http://schemas.openxmlformats.org/officeDocument/2006/relationships/notesSlide" Target="../notesSlides/notesSlide108.xml"/><Relationship Id="rId1" Type="http://schemas.openxmlformats.org/officeDocument/2006/relationships/slideLayout" Target="../slideLayouts/slideLayout2.xml"/><Relationship Id="rId6" Type="http://schemas.openxmlformats.org/officeDocument/2006/relationships/diagramColors" Target="../diagrams/colors15.xml"/><Relationship Id="rId5" Type="http://schemas.openxmlformats.org/officeDocument/2006/relationships/diagramQuickStyle" Target="../diagrams/quickStyle15.xml"/><Relationship Id="rId4" Type="http://schemas.openxmlformats.org/officeDocument/2006/relationships/diagramLayout" Target="../diagrams/layout15.xml"/></Relationships>
</file>

<file path=ppt/slides/_rels/slide337.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2.xml"/></Relationships>
</file>

<file path=ppt/slides/_rels/slide338.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2.xml"/></Relationships>
</file>

<file path=ppt/slides/_rels/slide339.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2.xml"/></Relationships>
</file>

<file path=ppt/slides/_rels/slide340.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2.xml"/></Relationships>
</file>

<file path=ppt/slides/_rels/slide341.xml.rels><?xml version="1.0" encoding="UTF-8" standalone="yes"?>
<Relationships xmlns="http://schemas.openxmlformats.org/package/2006/relationships"><Relationship Id="rId3" Type="http://schemas.openxmlformats.org/officeDocument/2006/relationships/image" Target="../media/image36.jpeg"/><Relationship Id="rId2" Type="http://schemas.openxmlformats.org/officeDocument/2006/relationships/notesSlide" Target="../notesSlides/notesSlide113.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
        <p:nvSpPr>
          <p:cNvPr id="7" name="矩形 6"/>
          <p:cNvSpPr/>
          <p:nvPr/>
        </p:nvSpPr>
        <p:spPr>
          <a:xfrm>
            <a:off x="4992742" y="2219222"/>
            <a:ext cx="2483372" cy="938719"/>
          </a:xfrm>
          <a:prstGeom prst="rect">
            <a:avLst/>
          </a:prstGeom>
        </p:spPr>
        <p:txBody>
          <a:bodyPr wrap="none">
            <a:spAutoFit/>
          </a:bodyPr>
          <a:lstStyle/>
          <a:p>
            <a:pPr algn="ctr" eaLnBrk="0" hangingPunct="0"/>
            <a:r>
              <a:rPr lang="zh-CN" altLang="en-US" sz="5500" b="1" dirty="0">
                <a:solidFill>
                  <a:schemeClr val="bg1"/>
                </a:solidFill>
                <a:latin typeface="微软雅黑" pitchFamily="34" charset="-122"/>
                <a:ea typeface="微软雅黑" pitchFamily="34" charset="-122"/>
              </a:rPr>
              <a:t>网</a:t>
            </a:r>
            <a:r>
              <a:rPr lang="zh-CN" altLang="en-US" sz="2400" b="1" dirty="0">
                <a:solidFill>
                  <a:schemeClr val="bg1"/>
                </a:solidFill>
                <a:latin typeface="微软雅黑" pitchFamily="34" charset="-122"/>
                <a:ea typeface="微软雅黑" pitchFamily="34" charset="-122"/>
              </a:rPr>
              <a:t> </a:t>
            </a:r>
            <a:r>
              <a:rPr lang="zh-CN" altLang="en-US" sz="5500" b="1" dirty="0">
                <a:solidFill>
                  <a:schemeClr val="bg1"/>
                </a:solidFill>
                <a:latin typeface="微软雅黑" pitchFamily="34" charset="-122"/>
                <a:ea typeface="微软雅黑" pitchFamily="34" charset="-122"/>
              </a:rPr>
              <a:t>络</a:t>
            </a:r>
            <a:r>
              <a:rPr lang="zh-CN" altLang="en-US" sz="2400" b="1" dirty="0">
                <a:solidFill>
                  <a:schemeClr val="bg1"/>
                </a:solidFill>
                <a:latin typeface="微软雅黑" pitchFamily="34" charset="-122"/>
                <a:ea typeface="微软雅黑" pitchFamily="34" charset="-122"/>
              </a:rPr>
              <a:t> </a:t>
            </a:r>
            <a:r>
              <a:rPr lang="zh-CN" altLang="en-US" sz="5500" b="1" dirty="0">
                <a:solidFill>
                  <a:schemeClr val="bg1"/>
                </a:solidFill>
                <a:latin typeface="微软雅黑" pitchFamily="34" charset="-122"/>
                <a:ea typeface="微软雅黑" pitchFamily="34" charset="-122"/>
              </a:rPr>
              <a:t>层</a:t>
            </a:r>
            <a:endParaRPr lang="fr-FR" altLang="zh-CN" sz="5500" b="1" dirty="0">
              <a:solidFill>
                <a:schemeClr val="bg1"/>
              </a:solidFill>
              <a:latin typeface="微软雅黑" pitchFamily="34" charset="-122"/>
              <a:ea typeface="微软雅黑" pitchFamily="34" charset="-122"/>
            </a:endParaRPr>
          </a:p>
        </p:txBody>
      </p:sp>
      <p:sp>
        <p:nvSpPr>
          <p:cNvPr id="8" name="矩形 7"/>
          <p:cNvSpPr/>
          <p:nvPr/>
        </p:nvSpPr>
        <p:spPr>
          <a:xfrm>
            <a:off x="5565012" y="1736604"/>
            <a:ext cx="1338828" cy="523220"/>
          </a:xfrm>
          <a:prstGeom prst="rect">
            <a:avLst/>
          </a:prstGeom>
        </p:spPr>
        <p:txBody>
          <a:bodyPr wrap="none">
            <a:spAutoFit/>
          </a:bodyPr>
          <a:lstStyle/>
          <a:p>
            <a:pPr algn="ctr" eaLnBrk="0" hangingPunct="0"/>
            <a:r>
              <a:rPr lang="fr-FR" altLang="zh-CN" sz="2800" b="1" dirty="0">
                <a:solidFill>
                  <a:schemeClr val="bg1"/>
                </a:solidFill>
                <a:latin typeface="微软雅黑" pitchFamily="34" charset="-122"/>
                <a:ea typeface="微软雅黑" pitchFamily="34" charset="-122"/>
              </a:rPr>
              <a:t>第 4 章</a:t>
            </a:r>
          </a:p>
        </p:txBody>
      </p:sp>
      <p:sp>
        <p:nvSpPr>
          <p:cNvPr id="11" name="Rectangle 4"/>
          <p:cNvSpPr>
            <a:spLocks noChangeArrowheads="1"/>
          </p:cNvSpPr>
          <p:nvPr/>
        </p:nvSpPr>
        <p:spPr bwMode="auto">
          <a:xfrm>
            <a:off x="663253" y="2583673"/>
            <a:ext cx="1206500" cy="2762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0" hangingPunct="0"/>
            <a:r>
              <a:rPr lang="fr-FR" sz="1200" b="1" dirty="0">
                <a:solidFill>
                  <a:srgbClr val="00B0F0"/>
                </a:solidFill>
                <a:latin typeface="微软雅黑" pitchFamily="34" charset="-122"/>
                <a:ea typeface="微软雅黑" pitchFamily="34" charset="-122"/>
              </a:rPr>
              <a:t>谢希仁  编著</a:t>
            </a:r>
          </a:p>
        </p:txBody>
      </p:sp>
      <p:sp>
        <p:nvSpPr>
          <p:cNvPr id="12" name="Rectangle 6"/>
          <p:cNvSpPr>
            <a:spLocks noChangeArrowheads="1"/>
          </p:cNvSpPr>
          <p:nvPr/>
        </p:nvSpPr>
        <p:spPr bwMode="auto">
          <a:xfrm>
            <a:off x="10302" y="2239963"/>
            <a:ext cx="2512403" cy="3381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eaLnBrk="0" hangingPunct="0">
              <a:spcBef>
                <a:spcPts val="1000"/>
              </a:spcBef>
            </a:pPr>
            <a:r>
              <a:rPr lang="fr-FR" sz="1600" b="1" dirty="0">
                <a:solidFill>
                  <a:srgbClr val="00B0F0"/>
                </a:solidFill>
                <a:latin typeface="微软雅黑" pitchFamily="34" charset="-122"/>
                <a:ea typeface="微软雅黑" pitchFamily="34" charset="-122"/>
              </a:rPr>
              <a:t>计算机网络（第 8 版）</a:t>
            </a:r>
          </a:p>
        </p:txBody>
      </p:sp>
      <p:cxnSp>
        <p:nvCxnSpPr>
          <p:cNvPr id="13" name="直接连接符 12"/>
          <p:cNvCxnSpPr/>
          <p:nvPr/>
        </p:nvCxnSpPr>
        <p:spPr>
          <a:xfrm>
            <a:off x="0" y="2236788"/>
            <a:ext cx="2749685" cy="3175"/>
          </a:xfrm>
          <a:prstGeom prst="line">
            <a:avLst/>
          </a:prstGeom>
          <a:ln w="19050">
            <a:solidFill>
              <a:srgbClr val="6DAAE1"/>
            </a:solidFill>
          </a:ln>
        </p:spPr>
        <p:style>
          <a:lnRef idx="1">
            <a:schemeClr val="accent1"/>
          </a:lnRef>
          <a:fillRef idx="0">
            <a:schemeClr val="accent1"/>
          </a:fillRef>
          <a:effectRef idx="0">
            <a:schemeClr val="accent1"/>
          </a:effectRef>
          <a:fontRef idx="minor">
            <a:schemeClr val="tx1"/>
          </a:fontRef>
        </p:style>
      </p:cxnSp>
      <p:pic>
        <p:nvPicPr>
          <p:cNvPr id="14" name="图片 9"/>
          <p:cNvPicPr>
            <a:picLocks noChangeAspect="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67222" y="2955148"/>
            <a:ext cx="1198563"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02056010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466345" y="635019"/>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316859" y="611929"/>
            <a:ext cx="249299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计算机网络体系结构</a:t>
            </a:r>
          </a:p>
        </p:txBody>
      </p:sp>
      <p:sp>
        <p:nvSpPr>
          <p:cNvPr id="48" name="圆角矩形 47"/>
          <p:cNvSpPr/>
          <p:nvPr/>
        </p:nvSpPr>
        <p:spPr>
          <a:xfrm>
            <a:off x="505072" y="1088792"/>
            <a:ext cx="8133856" cy="320039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dirty="0"/>
          </a:p>
        </p:txBody>
      </p:sp>
      <p:grpSp>
        <p:nvGrpSpPr>
          <p:cNvPr id="49" name="组合 48"/>
          <p:cNvGrpSpPr/>
          <p:nvPr/>
        </p:nvGrpSpPr>
        <p:grpSpPr>
          <a:xfrm>
            <a:off x="1557339" y="1541871"/>
            <a:ext cx="1341438" cy="2356685"/>
            <a:chOff x="1557339" y="1623511"/>
            <a:chExt cx="1341438" cy="2356685"/>
          </a:xfrm>
        </p:grpSpPr>
        <p:sp>
          <p:nvSpPr>
            <p:cNvPr id="50" name="AutoShape 58"/>
            <p:cNvSpPr>
              <a:spLocks noChangeArrowheads="1"/>
            </p:cNvSpPr>
            <p:nvPr/>
          </p:nvSpPr>
          <p:spPr bwMode="auto">
            <a:xfrm>
              <a:off x="1560514" y="1623511"/>
              <a:ext cx="1338263" cy="2301875"/>
            </a:xfrm>
            <a:prstGeom prst="cube">
              <a:avLst>
                <a:gd name="adj" fmla="val 9144"/>
              </a:avLst>
            </a:prstGeom>
            <a:solidFill>
              <a:srgbClr val="85D1F7"/>
            </a:solidFill>
            <a:ln w="19050">
              <a:solidFill>
                <a:schemeClr val="bg1"/>
              </a:solidFill>
              <a:miter lim="800000"/>
            </a:ln>
          </p:spPr>
          <p:txBody>
            <a:bodyPr wrap="none" anchor="ctr"/>
            <a:lstStyle/>
            <a:p>
              <a:endParaRPr lang="zh-CN" altLang="en-US" sz="1200" b="1">
                <a:solidFill>
                  <a:srgbClr val="1956B9"/>
                </a:solidFill>
                <a:latin typeface="微软雅黑" panose="020B0503020204020204" pitchFamily="34" charset="-122"/>
                <a:ea typeface="微软雅黑" panose="020B0503020204020204" pitchFamily="34" charset="-122"/>
              </a:endParaRPr>
            </a:p>
          </p:txBody>
        </p:sp>
        <p:sp>
          <p:nvSpPr>
            <p:cNvPr id="51" name="Freeform 50"/>
            <p:cNvSpPr/>
            <p:nvPr/>
          </p:nvSpPr>
          <p:spPr bwMode="auto">
            <a:xfrm>
              <a:off x="1560514" y="1872748"/>
              <a:ext cx="1330325" cy="169863"/>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2" name="Freeform 59"/>
            <p:cNvSpPr/>
            <p:nvPr/>
          </p:nvSpPr>
          <p:spPr bwMode="auto">
            <a:xfrm>
              <a:off x="1560514" y="2185486"/>
              <a:ext cx="1328738" cy="169862"/>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3" name="Freeform 60"/>
            <p:cNvSpPr/>
            <p:nvPr/>
          </p:nvSpPr>
          <p:spPr bwMode="auto">
            <a:xfrm>
              <a:off x="1560514" y="2498223"/>
              <a:ext cx="1328738" cy="169863"/>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4" name="Freeform 61"/>
            <p:cNvSpPr/>
            <p:nvPr/>
          </p:nvSpPr>
          <p:spPr bwMode="auto">
            <a:xfrm>
              <a:off x="1560514" y="2810961"/>
              <a:ext cx="1328738" cy="171450"/>
            </a:xfrm>
            <a:custGeom>
              <a:avLst/>
              <a:gdLst>
                <a:gd name="T0" fmla="*/ 2147483647 w 2049"/>
                <a:gd name="T1" fmla="*/ 0 h 185"/>
                <a:gd name="T2" fmla="*/ 2147483647 w 2049"/>
                <a:gd name="T3" fmla="*/ 2147483647 h 185"/>
                <a:gd name="T4" fmla="*/ 0 w 2049"/>
                <a:gd name="T5" fmla="*/ 2147483647 h 185"/>
                <a:gd name="T6" fmla="*/ 0 60000 65536"/>
                <a:gd name="T7" fmla="*/ 0 60000 65536"/>
                <a:gd name="T8" fmla="*/ 0 60000 65536"/>
                <a:gd name="T9" fmla="*/ 0 w 2049"/>
                <a:gd name="T10" fmla="*/ 0 h 185"/>
                <a:gd name="T11" fmla="*/ 2049 w 2049"/>
                <a:gd name="T12" fmla="*/ 185 h 185"/>
              </a:gdLst>
              <a:ahLst/>
              <a:cxnLst>
                <a:cxn ang="T6">
                  <a:pos x="T0" y="T1"/>
                </a:cxn>
                <a:cxn ang="T7">
                  <a:pos x="T2" y="T3"/>
                </a:cxn>
                <a:cxn ang="T8">
                  <a:pos x="T4" y="T5"/>
                </a:cxn>
              </a:cxnLst>
              <a:rect l="T9" t="T10" r="T11" b="T12"/>
              <a:pathLst>
                <a:path w="2049" h="185">
                  <a:moveTo>
                    <a:pt x="2049" y="0"/>
                  </a:moveTo>
                  <a:lnTo>
                    <a:pt x="1873" y="185"/>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5" name="Freeform 62"/>
            <p:cNvSpPr/>
            <p:nvPr/>
          </p:nvSpPr>
          <p:spPr bwMode="auto">
            <a:xfrm>
              <a:off x="1558927" y="3122111"/>
              <a:ext cx="1330325" cy="174625"/>
            </a:xfrm>
            <a:custGeom>
              <a:avLst/>
              <a:gdLst>
                <a:gd name="T0" fmla="*/ 2147483647 w 2049"/>
                <a:gd name="T1" fmla="*/ 0 h 187"/>
                <a:gd name="T2" fmla="*/ 2147483647 w 2049"/>
                <a:gd name="T3" fmla="*/ 2147483647 h 187"/>
                <a:gd name="T4" fmla="*/ 0 w 2049"/>
                <a:gd name="T5" fmla="*/ 2147483647 h 187"/>
                <a:gd name="T6" fmla="*/ 0 60000 65536"/>
                <a:gd name="T7" fmla="*/ 0 60000 65536"/>
                <a:gd name="T8" fmla="*/ 0 60000 65536"/>
                <a:gd name="T9" fmla="*/ 0 w 2049"/>
                <a:gd name="T10" fmla="*/ 0 h 187"/>
                <a:gd name="T11" fmla="*/ 2049 w 2049"/>
                <a:gd name="T12" fmla="*/ 187 h 187"/>
              </a:gdLst>
              <a:ahLst/>
              <a:cxnLst>
                <a:cxn ang="T6">
                  <a:pos x="T0" y="T1"/>
                </a:cxn>
                <a:cxn ang="T7">
                  <a:pos x="T2" y="T3"/>
                </a:cxn>
                <a:cxn ang="T8">
                  <a:pos x="T4" y="T5"/>
                </a:cxn>
              </a:cxnLst>
              <a:rect l="T9" t="T10" r="T11" b="T12"/>
              <a:pathLst>
                <a:path w="2049" h="187">
                  <a:moveTo>
                    <a:pt x="2049" y="0"/>
                  </a:moveTo>
                  <a:lnTo>
                    <a:pt x="1863" y="187"/>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6" name="Freeform 63"/>
            <p:cNvSpPr/>
            <p:nvPr/>
          </p:nvSpPr>
          <p:spPr bwMode="auto">
            <a:xfrm>
              <a:off x="1557339" y="3434848"/>
              <a:ext cx="1330325" cy="169863"/>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7" name="Text Box 22"/>
            <p:cNvSpPr txBox="1">
              <a:spLocks noChangeArrowheads="1"/>
            </p:cNvSpPr>
            <p:nvPr/>
          </p:nvSpPr>
          <p:spPr bwMode="auto">
            <a:xfrm>
              <a:off x="2027239" y="1779086"/>
              <a:ext cx="608013" cy="26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a:latin typeface="微软雅黑" panose="020B0503020204020204" pitchFamily="34" charset="-122"/>
                  <a:ea typeface="微软雅黑" panose="020B0503020204020204" pitchFamily="34" charset="-122"/>
                </a:rPr>
                <a:t>应用层</a:t>
              </a:r>
            </a:p>
          </p:txBody>
        </p:sp>
        <p:sp>
          <p:nvSpPr>
            <p:cNvPr id="58" name="Text Box 23"/>
            <p:cNvSpPr txBox="1">
              <a:spLocks noChangeArrowheads="1"/>
            </p:cNvSpPr>
            <p:nvPr/>
          </p:nvSpPr>
          <p:spPr bwMode="auto">
            <a:xfrm>
              <a:off x="2006602" y="2708628"/>
              <a:ext cx="608012" cy="26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latin typeface="微软雅黑" panose="020B0503020204020204" pitchFamily="34" charset="-122"/>
                  <a:ea typeface="微软雅黑" panose="020B0503020204020204" pitchFamily="34" charset="-122"/>
                </a:rPr>
                <a:t>运输层</a:t>
              </a:r>
            </a:p>
          </p:txBody>
        </p:sp>
        <p:sp>
          <p:nvSpPr>
            <p:cNvPr id="59" name="Text Box 24"/>
            <p:cNvSpPr txBox="1">
              <a:spLocks noChangeArrowheads="1"/>
            </p:cNvSpPr>
            <p:nvPr/>
          </p:nvSpPr>
          <p:spPr bwMode="auto">
            <a:xfrm>
              <a:off x="2014539" y="3006223"/>
              <a:ext cx="608013"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solidFill>
                    <a:srgbClr val="C00000"/>
                  </a:solidFill>
                  <a:latin typeface="微软雅黑" panose="020B0503020204020204" pitchFamily="34" charset="-122"/>
                  <a:ea typeface="微软雅黑" panose="020B0503020204020204" pitchFamily="34" charset="-122"/>
                </a:rPr>
                <a:t>网络层</a:t>
              </a:r>
            </a:p>
          </p:txBody>
        </p:sp>
        <p:sp>
          <p:nvSpPr>
            <p:cNvPr id="60" name="Text Box 54"/>
            <p:cNvSpPr txBox="1">
              <a:spLocks noChangeArrowheads="1"/>
            </p:cNvSpPr>
            <p:nvPr/>
          </p:nvSpPr>
          <p:spPr bwMode="auto">
            <a:xfrm>
              <a:off x="2014539" y="2079123"/>
              <a:ext cx="60801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a:latin typeface="微软雅黑" panose="020B0503020204020204" pitchFamily="34" charset="-122"/>
                  <a:ea typeface="微软雅黑" panose="020B0503020204020204" pitchFamily="34" charset="-122"/>
                </a:rPr>
                <a:t>表示层</a:t>
              </a:r>
            </a:p>
          </p:txBody>
        </p:sp>
        <p:sp>
          <p:nvSpPr>
            <p:cNvPr id="61" name="Text Box 55"/>
            <p:cNvSpPr txBox="1">
              <a:spLocks noChangeArrowheads="1"/>
            </p:cNvSpPr>
            <p:nvPr/>
          </p:nvSpPr>
          <p:spPr bwMode="auto">
            <a:xfrm>
              <a:off x="2014539" y="2391861"/>
              <a:ext cx="608013" cy="26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a:latin typeface="微软雅黑" panose="020B0503020204020204" pitchFamily="34" charset="-122"/>
                  <a:ea typeface="微软雅黑" panose="020B0503020204020204" pitchFamily="34" charset="-122"/>
                </a:rPr>
                <a:t>会话层</a:t>
              </a:r>
            </a:p>
          </p:txBody>
        </p:sp>
        <p:sp>
          <p:nvSpPr>
            <p:cNvPr id="62" name="Text Box 56"/>
            <p:cNvSpPr txBox="1">
              <a:spLocks noChangeArrowheads="1"/>
            </p:cNvSpPr>
            <p:nvPr/>
          </p:nvSpPr>
          <p:spPr bwMode="auto">
            <a:xfrm>
              <a:off x="1911352" y="3314198"/>
              <a:ext cx="889000"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latin typeface="微软雅黑" panose="020B0503020204020204" pitchFamily="34" charset="-122"/>
                  <a:ea typeface="微软雅黑" panose="020B0503020204020204" pitchFamily="34" charset="-122"/>
                </a:rPr>
                <a:t>数据链路层</a:t>
              </a:r>
            </a:p>
          </p:txBody>
        </p:sp>
        <p:sp>
          <p:nvSpPr>
            <p:cNvPr id="63" name="Text Box 57"/>
            <p:cNvSpPr txBox="1">
              <a:spLocks noChangeArrowheads="1"/>
            </p:cNvSpPr>
            <p:nvPr/>
          </p:nvSpPr>
          <p:spPr bwMode="auto">
            <a:xfrm>
              <a:off x="2014539" y="3638048"/>
              <a:ext cx="60801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a:latin typeface="微软雅黑" panose="020B0503020204020204" pitchFamily="34" charset="-122"/>
                  <a:ea typeface="微软雅黑" panose="020B0503020204020204" pitchFamily="34" charset="-122"/>
                </a:rPr>
                <a:t>物理层</a:t>
              </a:r>
            </a:p>
          </p:txBody>
        </p:sp>
        <p:sp>
          <p:nvSpPr>
            <p:cNvPr id="64" name="Text Box 43"/>
            <p:cNvSpPr txBox="1">
              <a:spLocks noChangeArrowheads="1"/>
            </p:cNvSpPr>
            <p:nvPr/>
          </p:nvSpPr>
          <p:spPr bwMode="auto">
            <a:xfrm>
              <a:off x="1622427" y="1683083"/>
              <a:ext cx="271462" cy="2297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nSpc>
                  <a:spcPct val="185000"/>
                </a:lnSpc>
              </a:pPr>
              <a:r>
                <a:rPr kumimoji="1" lang="en-US" altLang="zh-CN" sz="1100" b="1" dirty="0">
                  <a:latin typeface="微软雅黑" panose="020B0503020204020204" pitchFamily="34" charset="-122"/>
                  <a:ea typeface="微软雅黑" panose="020B0503020204020204" pitchFamily="34" charset="-122"/>
                </a:rPr>
                <a:t>7</a:t>
              </a:r>
            </a:p>
            <a:p>
              <a:pPr>
                <a:lnSpc>
                  <a:spcPct val="185000"/>
                </a:lnSpc>
              </a:pPr>
              <a:r>
                <a:rPr kumimoji="1" lang="en-US" altLang="zh-CN" sz="1100" b="1" dirty="0">
                  <a:latin typeface="微软雅黑" panose="020B0503020204020204" pitchFamily="34" charset="-122"/>
                  <a:ea typeface="微软雅黑" panose="020B0503020204020204" pitchFamily="34" charset="-122"/>
                </a:rPr>
                <a:t>6</a:t>
              </a:r>
            </a:p>
            <a:p>
              <a:pPr>
                <a:lnSpc>
                  <a:spcPct val="185000"/>
                </a:lnSpc>
              </a:pPr>
              <a:r>
                <a:rPr kumimoji="1" lang="en-US" altLang="zh-CN" sz="1100" b="1" dirty="0">
                  <a:latin typeface="微软雅黑" panose="020B0503020204020204" pitchFamily="34" charset="-122"/>
                  <a:ea typeface="微软雅黑" panose="020B0503020204020204" pitchFamily="34" charset="-122"/>
                </a:rPr>
                <a:t>5</a:t>
              </a:r>
            </a:p>
            <a:p>
              <a:pPr>
                <a:lnSpc>
                  <a:spcPct val="185000"/>
                </a:lnSpc>
              </a:pPr>
              <a:r>
                <a:rPr kumimoji="1" lang="en-US" altLang="zh-CN" sz="1100" b="1" dirty="0">
                  <a:latin typeface="微软雅黑" panose="020B0503020204020204" pitchFamily="34" charset="-122"/>
                  <a:ea typeface="微软雅黑" panose="020B0503020204020204" pitchFamily="34" charset="-122"/>
                </a:rPr>
                <a:t>4</a:t>
              </a:r>
            </a:p>
            <a:p>
              <a:pPr>
                <a:lnSpc>
                  <a:spcPct val="185000"/>
                </a:lnSpc>
              </a:pPr>
              <a:r>
                <a:rPr kumimoji="1" lang="en-US" altLang="zh-CN" sz="1100" b="1" dirty="0">
                  <a:latin typeface="微软雅黑" panose="020B0503020204020204" pitchFamily="34" charset="-122"/>
                  <a:ea typeface="微软雅黑" panose="020B0503020204020204" pitchFamily="34" charset="-122"/>
                </a:rPr>
                <a:t>3</a:t>
              </a:r>
            </a:p>
            <a:p>
              <a:pPr>
                <a:lnSpc>
                  <a:spcPct val="185000"/>
                </a:lnSpc>
              </a:pPr>
              <a:r>
                <a:rPr kumimoji="1" lang="en-US" altLang="zh-CN" sz="1100" b="1" dirty="0">
                  <a:latin typeface="微软雅黑" panose="020B0503020204020204" pitchFamily="34" charset="-122"/>
                  <a:ea typeface="微软雅黑" panose="020B0503020204020204" pitchFamily="34" charset="-122"/>
                </a:rPr>
                <a:t>2</a:t>
              </a:r>
            </a:p>
            <a:p>
              <a:pPr>
                <a:lnSpc>
                  <a:spcPct val="185000"/>
                </a:lnSpc>
              </a:pPr>
              <a:r>
                <a:rPr kumimoji="1" lang="en-US" altLang="zh-CN" sz="1100" b="1" dirty="0">
                  <a:latin typeface="微软雅黑" panose="020B0503020204020204" pitchFamily="34" charset="-122"/>
                  <a:ea typeface="微软雅黑" panose="020B0503020204020204" pitchFamily="34" charset="-122"/>
                </a:rPr>
                <a:t>1</a:t>
              </a:r>
            </a:p>
          </p:txBody>
        </p:sp>
      </p:grpSp>
      <p:sp>
        <p:nvSpPr>
          <p:cNvPr id="65" name="Text Box 13"/>
          <p:cNvSpPr txBox="1">
            <a:spLocks noChangeArrowheads="1"/>
          </p:cNvSpPr>
          <p:nvPr/>
        </p:nvSpPr>
        <p:spPr bwMode="auto">
          <a:xfrm>
            <a:off x="1156623" y="1205321"/>
            <a:ext cx="21691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400" b="1" dirty="0">
                <a:solidFill>
                  <a:srgbClr val="000099"/>
                </a:solidFill>
                <a:latin typeface="微软雅黑" panose="020B0503020204020204" pitchFamily="34" charset="-122"/>
                <a:ea typeface="微软雅黑" panose="020B0503020204020204" pitchFamily="34" charset="-122"/>
              </a:rPr>
              <a:t>OSI </a:t>
            </a:r>
            <a:r>
              <a:rPr kumimoji="1" lang="zh-CN" altLang="en-US" sz="1400" b="1" dirty="0">
                <a:solidFill>
                  <a:srgbClr val="000099"/>
                </a:solidFill>
                <a:latin typeface="微软雅黑" panose="020B0503020204020204" pitchFamily="34" charset="-122"/>
                <a:ea typeface="微软雅黑" panose="020B0503020204020204" pitchFamily="34" charset="-122"/>
              </a:rPr>
              <a:t>的七层协议体系结构</a:t>
            </a:r>
          </a:p>
        </p:txBody>
      </p:sp>
      <p:sp>
        <p:nvSpPr>
          <p:cNvPr id="66" name="Text Box 12"/>
          <p:cNvSpPr txBox="1">
            <a:spLocks noChangeArrowheads="1"/>
          </p:cNvSpPr>
          <p:nvPr/>
        </p:nvSpPr>
        <p:spPr bwMode="auto">
          <a:xfrm>
            <a:off x="3432593" y="1194208"/>
            <a:ext cx="2461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400" b="1" dirty="0">
                <a:latin typeface="微软雅黑" panose="020B0503020204020204" pitchFamily="34" charset="-122"/>
                <a:ea typeface="微软雅黑" panose="020B0503020204020204" pitchFamily="34" charset="-122"/>
              </a:rPr>
              <a:t>TCP/IP </a:t>
            </a:r>
            <a:r>
              <a:rPr kumimoji="1" lang="zh-CN" altLang="en-US" sz="1400" b="1" dirty="0">
                <a:latin typeface="微软雅黑" panose="020B0503020204020204" pitchFamily="34" charset="-122"/>
                <a:ea typeface="微软雅黑" panose="020B0503020204020204" pitchFamily="34" charset="-122"/>
              </a:rPr>
              <a:t>的四层协议体系结构</a:t>
            </a:r>
          </a:p>
        </p:txBody>
      </p:sp>
      <p:sp>
        <p:nvSpPr>
          <p:cNvPr id="67" name="Text Box 95"/>
          <p:cNvSpPr txBox="1">
            <a:spLocks noChangeArrowheads="1"/>
          </p:cNvSpPr>
          <p:nvPr/>
        </p:nvSpPr>
        <p:spPr bwMode="auto">
          <a:xfrm>
            <a:off x="1993066" y="3843746"/>
            <a:ext cx="3921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200" b="1" dirty="0">
                <a:latin typeface="微软雅黑" panose="020B0503020204020204" pitchFamily="34" charset="-122"/>
                <a:ea typeface="微软雅黑" panose="020B0503020204020204" pitchFamily="34" charset="-122"/>
              </a:rPr>
              <a:t>(a)</a:t>
            </a:r>
          </a:p>
        </p:txBody>
      </p:sp>
      <p:sp>
        <p:nvSpPr>
          <p:cNvPr id="68" name="Text Box 96"/>
          <p:cNvSpPr txBox="1">
            <a:spLocks noChangeArrowheads="1"/>
          </p:cNvSpPr>
          <p:nvPr/>
        </p:nvSpPr>
        <p:spPr bwMode="auto">
          <a:xfrm>
            <a:off x="4328191" y="3843746"/>
            <a:ext cx="40481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200" b="1" dirty="0">
                <a:latin typeface="微软雅黑" panose="020B0503020204020204" pitchFamily="34" charset="-122"/>
                <a:ea typeface="微软雅黑" panose="020B0503020204020204" pitchFamily="34" charset="-122"/>
              </a:rPr>
              <a:t>(b)</a:t>
            </a:r>
          </a:p>
        </p:txBody>
      </p:sp>
      <p:sp>
        <p:nvSpPr>
          <p:cNvPr id="69" name="Text Box 97"/>
          <p:cNvSpPr txBox="1">
            <a:spLocks noChangeArrowheads="1"/>
          </p:cNvSpPr>
          <p:nvPr/>
        </p:nvSpPr>
        <p:spPr bwMode="auto">
          <a:xfrm>
            <a:off x="6655970" y="3851767"/>
            <a:ext cx="3841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200" b="1">
                <a:latin typeface="微软雅黑" panose="020B0503020204020204" pitchFamily="34" charset="-122"/>
                <a:ea typeface="微软雅黑" panose="020B0503020204020204" pitchFamily="34" charset="-122"/>
              </a:rPr>
              <a:t>(c)</a:t>
            </a:r>
          </a:p>
        </p:txBody>
      </p:sp>
      <p:sp>
        <p:nvSpPr>
          <p:cNvPr id="70" name="Text Box 113"/>
          <p:cNvSpPr txBox="1">
            <a:spLocks noChangeArrowheads="1"/>
          </p:cNvSpPr>
          <p:nvPr/>
        </p:nvSpPr>
        <p:spPr bwMode="auto">
          <a:xfrm>
            <a:off x="5946357" y="1189446"/>
            <a:ext cx="180022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fontAlgn="auto" hangingPunct="1">
              <a:spcBef>
                <a:spcPts val="0"/>
              </a:spcBef>
              <a:spcAft>
                <a:spcPts val="0"/>
              </a:spcAft>
              <a:defRPr/>
            </a:pPr>
            <a:r>
              <a:rPr lang="zh-CN" altLang="en-US" sz="1400" b="1" dirty="0">
                <a:solidFill>
                  <a:srgbClr val="C00000"/>
                </a:solidFill>
                <a:latin typeface="微软雅黑" panose="020B0503020204020204" pitchFamily="34" charset="-122"/>
                <a:ea typeface="微软雅黑" panose="020B0503020204020204" pitchFamily="34" charset="-122"/>
              </a:rPr>
              <a:t>五层协议的体系结构</a:t>
            </a:r>
          </a:p>
        </p:txBody>
      </p:sp>
      <p:grpSp>
        <p:nvGrpSpPr>
          <p:cNvPr id="71" name="组合 70"/>
          <p:cNvGrpSpPr/>
          <p:nvPr/>
        </p:nvGrpSpPr>
        <p:grpSpPr>
          <a:xfrm>
            <a:off x="3578724" y="1510121"/>
            <a:ext cx="1974894" cy="2338387"/>
            <a:chOff x="3578724" y="1591761"/>
            <a:chExt cx="1974894" cy="2338387"/>
          </a:xfrm>
        </p:grpSpPr>
        <p:sp>
          <p:nvSpPr>
            <p:cNvPr id="72" name="AutoShape 66"/>
            <p:cNvSpPr>
              <a:spLocks noChangeArrowheads="1"/>
            </p:cNvSpPr>
            <p:nvPr/>
          </p:nvSpPr>
          <p:spPr bwMode="auto">
            <a:xfrm>
              <a:off x="3647070" y="1591761"/>
              <a:ext cx="1889125" cy="2338387"/>
            </a:xfrm>
            <a:prstGeom prst="cube">
              <a:avLst>
                <a:gd name="adj" fmla="val 9144"/>
              </a:avLst>
            </a:prstGeom>
            <a:solidFill>
              <a:srgbClr val="7CE07C"/>
            </a:solidFill>
            <a:ln w="19050">
              <a:solidFill>
                <a:schemeClr val="bg1"/>
              </a:solidFill>
              <a:miter lim="800000"/>
            </a:ln>
          </p:spPr>
          <p:txBody>
            <a:bodyPr wrap="none" anchor="ctr"/>
            <a:lstStyle/>
            <a:p>
              <a:endParaRPr lang="zh-CN" altLang="en-US" sz="1200" b="1">
                <a:solidFill>
                  <a:srgbClr val="1956B9"/>
                </a:solidFill>
                <a:latin typeface="微软雅黑" panose="020B0503020204020204" pitchFamily="34" charset="-122"/>
                <a:ea typeface="微软雅黑" panose="020B0503020204020204" pitchFamily="34" charset="-122"/>
              </a:endParaRPr>
            </a:p>
          </p:txBody>
        </p:sp>
        <p:sp>
          <p:nvSpPr>
            <p:cNvPr id="73" name="Freeform 69"/>
            <p:cNvSpPr/>
            <p:nvPr/>
          </p:nvSpPr>
          <p:spPr bwMode="auto">
            <a:xfrm>
              <a:off x="3642309" y="2488698"/>
              <a:ext cx="1911309" cy="200366"/>
            </a:xfrm>
            <a:custGeom>
              <a:avLst/>
              <a:gdLst>
                <a:gd name="T0" fmla="*/ 2147483647 w 1684"/>
                <a:gd name="T1" fmla="*/ 0 h 176"/>
                <a:gd name="T2" fmla="*/ 2147483647 w 1684"/>
                <a:gd name="T3" fmla="*/ 2147483647 h 176"/>
                <a:gd name="T4" fmla="*/ 0 w 1684"/>
                <a:gd name="T5" fmla="*/ 2147483647 h 176"/>
                <a:gd name="T6" fmla="*/ 0 60000 65536"/>
                <a:gd name="T7" fmla="*/ 0 60000 65536"/>
                <a:gd name="T8" fmla="*/ 0 60000 65536"/>
                <a:gd name="T9" fmla="*/ 0 w 1684"/>
                <a:gd name="T10" fmla="*/ 0 h 176"/>
                <a:gd name="T11" fmla="*/ 1684 w 1684"/>
                <a:gd name="T12" fmla="*/ 176 h 176"/>
              </a:gdLst>
              <a:ahLst/>
              <a:cxnLst>
                <a:cxn ang="T6">
                  <a:pos x="T0" y="T1"/>
                </a:cxn>
                <a:cxn ang="T7">
                  <a:pos x="T2" y="T3"/>
                </a:cxn>
                <a:cxn ang="T8">
                  <a:pos x="T4" y="T5"/>
                </a:cxn>
              </a:cxnLst>
              <a:rect l="T9" t="T10" r="T11" b="T12"/>
              <a:pathLst>
                <a:path w="1684" h="176">
                  <a:moveTo>
                    <a:pt x="1684" y="0"/>
                  </a:moveTo>
                  <a:lnTo>
                    <a:pt x="1528" y="172"/>
                  </a:lnTo>
                  <a:lnTo>
                    <a:pt x="0" y="176"/>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74" name="Freeform 70"/>
            <p:cNvSpPr/>
            <p:nvPr/>
          </p:nvSpPr>
          <p:spPr bwMode="auto">
            <a:xfrm>
              <a:off x="3642309" y="2790240"/>
              <a:ext cx="1907824" cy="212561"/>
            </a:xfrm>
            <a:custGeom>
              <a:avLst/>
              <a:gdLst>
                <a:gd name="T0" fmla="*/ 2147483647 w 1679"/>
                <a:gd name="T1" fmla="*/ 0 h 186"/>
                <a:gd name="T2" fmla="*/ 2147483647 w 1679"/>
                <a:gd name="T3" fmla="*/ 2147483647 h 186"/>
                <a:gd name="T4" fmla="*/ 0 w 1679"/>
                <a:gd name="T5" fmla="*/ 2147483647 h 186"/>
                <a:gd name="T6" fmla="*/ 0 60000 65536"/>
                <a:gd name="T7" fmla="*/ 0 60000 65536"/>
                <a:gd name="T8" fmla="*/ 0 60000 65536"/>
                <a:gd name="T9" fmla="*/ 0 w 1679"/>
                <a:gd name="T10" fmla="*/ 0 h 186"/>
                <a:gd name="T11" fmla="*/ 1679 w 1679"/>
                <a:gd name="T12" fmla="*/ 186 h 186"/>
              </a:gdLst>
              <a:ahLst/>
              <a:cxnLst>
                <a:cxn ang="T6">
                  <a:pos x="T0" y="T1"/>
                </a:cxn>
                <a:cxn ang="T7">
                  <a:pos x="T2" y="T3"/>
                </a:cxn>
                <a:cxn ang="T8">
                  <a:pos x="T4" y="T5"/>
                </a:cxn>
              </a:cxnLst>
              <a:rect l="T9" t="T10" r="T11" b="T12"/>
              <a:pathLst>
                <a:path w="1679" h="186">
                  <a:moveTo>
                    <a:pt x="1679" y="0"/>
                  </a:moveTo>
                  <a:lnTo>
                    <a:pt x="1525" y="186"/>
                  </a:lnTo>
                  <a:lnTo>
                    <a:pt x="0" y="183"/>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75" name="Freeform 71"/>
            <p:cNvSpPr/>
            <p:nvPr/>
          </p:nvSpPr>
          <p:spPr bwMode="auto">
            <a:xfrm>
              <a:off x="3642309" y="3122027"/>
              <a:ext cx="1893886" cy="184684"/>
            </a:xfrm>
            <a:custGeom>
              <a:avLst/>
              <a:gdLst>
                <a:gd name="T0" fmla="*/ 2147483647 w 1668"/>
                <a:gd name="T1" fmla="*/ 0 h 162"/>
                <a:gd name="T2" fmla="*/ 2147483647 w 1668"/>
                <a:gd name="T3" fmla="*/ 2147483647 h 162"/>
                <a:gd name="T4" fmla="*/ 0 w 1668"/>
                <a:gd name="T5" fmla="*/ 2147483647 h 162"/>
                <a:gd name="T6" fmla="*/ 0 60000 65536"/>
                <a:gd name="T7" fmla="*/ 0 60000 65536"/>
                <a:gd name="T8" fmla="*/ 0 60000 65536"/>
                <a:gd name="T9" fmla="*/ 0 w 1668"/>
                <a:gd name="T10" fmla="*/ 0 h 162"/>
                <a:gd name="T11" fmla="*/ 1668 w 1668"/>
                <a:gd name="T12" fmla="*/ 162 h 162"/>
              </a:gdLst>
              <a:ahLst/>
              <a:cxnLst>
                <a:cxn ang="T6">
                  <a:pos x="T0" y="T1"/>
                </a:cxn>
                <a:cxn ang="T7">
                  <a:pos x="T2" y="T3"/>
                </a:cxn>
                <a:cxn ang="T8">
                  <a:pos x="T4" y="T5"/>
                </a:cxn>
              </a:cxnLst>
              <a:rect l="T9" t="T10" r="T11" b="T12"/>
              <a:pathLst>
                <a:path w="1668" h="162">
                  <a:moveTo>
                    <a:pt x="1668" y="0"/>
                  </a:moveTo>
                  <a:lnTo>
                    <a:pt x="1527" y="160"/>
                  </a:lnTo>
                  <a:lnTo>
                    <a:pt x="0" y="16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76" name="Text Box 73"/>
            <p:cNvSpPr txBox="1">
              <a:spLocks noChangeArrowheads="1"/>
            </p:cNvSpPr>
            <p:nvPr/>
          </p:nvSpPr>
          <p:spPr bwMode="auto">
            <a:xfrm>
              <a:off x="3647071" y="1844173"/>
              <a:ext cx="1687178"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100" b="1" dirty="0">
                  <a:latin typeface="微软雅黑" panose="020B0503020204020204" pitchFamily="34" charset="-122"/>
                  <a:ea typeface="微软雅黑" panose="020B0503020204020204" pitchFamily="34" charset="-122"/>
                </a:rPr>
                <a:t>4    </a:t>
              </a:r>
              <a:r>
                <a:rPr kumimoji="1" lang="zh-CN" altLang="en-US" sz="1100" b="1" dirty="0">
                  <a:latin typeface="微软雅黑" panose="020B0503020204020204" pitchFamily="34" charset="-122"/>
                  <a:ea typeface="微软雅黑" panose="020B0503020204020204" pitchFamily="34" charset="-122"/>
                </a:rPr>
                <a:t>应用层</a:t>
              </a:r>
            </a:p>
          </p:txBody>
        </p:sp>
        <p:sp>
          <p:nvSpPr>
            <p:cNvPr id="77" name="Text Box 15"/>
            <p:cNvSpPr txBox="1">
              <a:spLocks noChangeArrowheads="1"/>
            </p:cNvSpPr>
            <p:nvPr/>
          </p:nvSpPr>
          <p:spPr bwMode="auto">
            <a:xfrm>
              <a:off x="3642308" y="3374523"/>
              <a:ext cx="1635125"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100" b="1" dirty="0">
                  <a:latin typeface="微软雅黑" panose="020B0503020204020204" pitchFamily="34" charset="-122"/>
                  <a:ea typeface="微软雅黑" panose="020B0503020204020204" pitchFamily="34" charset="-122"/>
                </a:rPr>
                <a:t>1    </a:t>
              </a:r>
              <a:r>
                <a:rPr kumimoji="1" lang="zh-CN" altLang="en-US" sz="1100" b="1" dirty="0">
                  <a:latin typeface="微软雅黑" panose="020B0503020204020204" pitchFamily="34" charset="-122"/>
                  <a:ea typeface="微软雅黑" panose="020B0503020204020204" pitchFamily="34" charset="-122"/>
                </a:rPr>
                <a:t>网络接口层</a:t>
              </a:r>
            </a:p>
          </p:txBody>
        </p:sp>
        <p:sp>
          <p:nvSpPr>
            <p:cNvPr id="78" name="Text Box 9"/>
            <p:cNvSpPr txBox="1">
              <a:spLocks noChangeArrowheads="1"/>
            </p:cNvSpPr>
            <p:nvPr/>
          </p:nvSpPr>
          <p:spPr bwMode="auto">
            <a:xfrm>
              <a:off x="3642309" y="3009398"/>
              <a:ext cx="169194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100" b="1" dirty="0">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r>
                <a:rPr kumimoji="1" lang="zh-CN" altLang="en-US" sz="1100" b="1" dirty="0">
                  <a:solidFill>
                    <a:srgbClr val="C00000"/>
                  </a:solidFill>
                  <a:latin typeface="微软雅黑" panose="020B0503020204020204" pitchFamily="34" charset="-122"/>
                  <a:ea typeface="微软雅黑" panose="020B0503020204020204" pitchFamily="34" charset="-122"/>
                </a:rPr>
                <a:t>网际层 </a:t>
              </a:r>
              <a:r>
                <a:rPr kumimoji="1" lang="en-US" altLang="zh-CN" sz="1100" b="1" dirty="0">
                  <a:solidFill>
                    <a:srgbClr val="C00000"/>
                  </a:solidFill>
                  <a:latin typeface="微软雅黑" panose="020B0503020204020204" pitchFamily="34" charset="-122"/>
                  <a:ea typeface="微软雅黑" panose="020B0503020204020204" pitchFamily="34" charset="-122"/>
                </a:rPr>
                <a:t>IP</a:t>
              </a:r>
            </a:p>
          </p:txBody>
        </p:sp>
        <p:sp>
          <p:nvSpPr>
            <p:cNvPr id="79" name="Text Box 16"/>
            <p:cNvSpPr txBox="1">
              <a:spLocks noChangeArrowheads="1"/>
            </p:cNvSpPr>
            <p:nvPr/>
          </p:nvSpPr>
          <p:spPr bwMode="auto">
            <a:xfrm>
              <a:off x="3660606" y="2104523"/>
              <a:ext cx="1697038" cy="43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a:r>
                <a:rPr kumimoji="1" lang="en-US" altLang="zh-CN" sz="1100" b="1" dirty="0">
                  <a:latin typeface="微软雅黑" panose="020B0503020204020204" pitchFamily="34" charset="-122"/>
                  <a:ea typeface="微软雅黑" panose="020B0503020204020204" pitchFamily="34" charset="-122"/>
                </a:rPr>
                <a:t>(</a:t>
              </a:r>
              <a:r>
                <a:rPr kumimoji="1" lang="zh-CN" altLang="en-US" sz="1100" b="1" dirty="0">
                  <a:latin typeface="微软雅黑" panose="020B0503020204020204" pitchFamily="34" charset="-122"/>
                  <a:ea typeface="微软雅黑" panose="020B0503020204020204" pitchFamily="34" charset="-122"/>
                </a:rPr>
                <a:t>各种应用层协议，如</a:t>
              </a:r>
            </a:p>
            <a:p>
              <a:pPr algn="ctr"/>
              <a:r>
                <a:rPr kumimoji="1" lang="en-US" altLang="zh-CN" sz="1100" b="1" dirty="0">
                  <a:latin typeface="微软雅黑" panose="020B0503020204020204" pitchFamily="34" charset="-122"/>
                  <a:ea typeface="微软雅黑" panose="020B0503020204020204" pitchFamily="34" charset="-122"/>
                </a:rPr>
                <a:t>DNS, HTTP, SMTP </a:t>
              </a:r>
              <a:r>
                <a:rPr kumimoji="1" lang="zh-CN" altLang="zh-CN" sz="1100" b="1" dirty="0">
                  <a:latin typeface="微软雅黑" panose="020B0503020204020204" pitchFamily="34" charset="-122"/>
                  <a:ea typeface="微软雅黑" panose="020B0503020204020204" pitchFamily="34" charset="-122"/>
                </a:rPr>
                <a:t>等</a:t>
              </a:r>
              <a:r>
                <a:rPr kumimoji="1" lang="en-US" altLang="zh-CN" sz="1100" b="1" dirty="0">
                  <a:latin typeface="微软雅黑" panose="020B0503020204020204" pitchFamily="34" charset="-122"/>
                  <a:ea typeface="微软雅黑" panose="020B0503020204020204" pitchFamily="34" charset="-122"/>
                </a:rPr>
                <a:t>)</a:t>
              </a:r>
            </a:p>
          </p:txBody>
        </p:sp>
        <p:sp>
          <p:nvSpPr>
            <p:cNvPr id="80" name="Text Box 41"/>
            <p:cNvSpPr txBox="1">
              <a:spLocks noChangeArrowheads="1"/>
            </p:cNvSpPr>
            <p:nvPr/>
          </p:nvSpPr>
          <p:spPr bwMode="auto">
            <a:xfrm>
              <a:off x="3631348" y="2709361"/>
              <a:ext cx="178446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a:r>
                <a:rPr kumimoji="1" lang="en-US" altLang="zh-CN" sz="1100" b="1" dirty="0">
                  <a:latin typeface="微软雅黑" panose="020B0503020204020204" pitchFamily="34" charset="-122"/>
                  <a:ea typeface="微软雅黑" panose="020B0503020204020204" pitchFamily="34" charset="-122"/>
                </a:rPr>
                <a:t>3   </a:t>
              </a:r>
              <a:r>
                <a:rPr kumimoji="1" lang="zh-CN" altLang="en-US" sz="1100" b="1" dirty="0">
                  <a:latin typeface="微软雅黑" panose="020B0503020204020204" pitchFamily="34" charset="-122"/>
                  <a:ea typeface="微软雅黑" panose="020B0503020204020204" pitchFamily="34" charset="-122"/>
                </a:rPr>
                <a:t>运输层 </a:t>
              </a:r>
              <a:r>
                <a:rPr kumimoji="1" lang="en-US" altLang="zh-CN" sz="1100" b="1" dirty="0">
                  <a:latin typeface="微软雅黑" panose="020B0503020204020204" pitchFamily="34" charset="-122"/>
                  <a:ea typeface="微软雅黑" panose="020B0503020204020204" pitchFamily="34" charset="-122"/>
                </a:rPr>
                <a:t>(TCP </a:t>
              </a:r>
              <a:r>
                <a:rPr kumimoji="1" lang="zh-CN" altLang="en-US" sz="1100" b="1" dirty="0">
                  <a:latin typeface="微软雅黑" panose="020B0503020204020204" pitchFamily="34" charset="-122"/>
                  <a:ea typeface="微软雅黑" panose="020B0503020204020204" pitchFamily="34" charset="-122"/>
                </a:rPr>
                <a:t>或 </a:t>
              </a:r>
              <a:r>
                <a:rPr kumimoji="1" lang="en-US" altLang="zh-CN" sz="1100" b="1" dirty="0">
                  <a:latin typeface="微软雅黑" panose="020B0503020204020204" pitchFamily="34" charset="-122"/>
                  <a:ea typeface="微软雅黑" panose="020B0503020204020204" pitchFamily="34" charset="-122"/>
                </a:rPr>
                <a:t>UDP)</a:t>
              </a:r>
            </a:p>
          </p:txBody>
        </p:sp>
        <p:sp>
          <p:nvSpPr>
            <p:cNvPr id="81" name="Text Box 15"/>
            <p:cNvSpPr txBox="1">
              <a:spLocks noChangeArrowheads="1"/>
            </p:cNvSpPr>
            <p:nvPr/>
          </p:nvSpPr>
          <p:spPr bwMode="auto">
            <a:xfrm>
              <a:off x="3578724" y="3609473"/>
              <a:ext cx="1878012"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latin typeface="微软雅黑" panose="020B0503020204020204" pitchFamily="34" charset="-122"/>
                  <a:ea typeface="微软雅黑" panose="020B0503020204020204" pitchFamily="34" charset="-122"/>
                </a:rPr>
                <a:t>（这一层并没有具体内容）</a:t>
              </a:r>
            </a:p>
          </p:txBody>
        </p:sp>
      </p:grpSp>
      <p:cxnSp>
        <p:nvCxnSpPr>
          <p:cNvPr id="82" name="直接连接符 81"/>
          <p:cNvCxnSpPr/>
          <p:nvPr/>
        </p:nvCxnSpPr>
        <p:spPr>
          <a:xfrm>
            <a:off x="5334249" y="3212088"/>
            <a:ext cx="939718" cy="0"/>
          </a:xfrm>
          <a:prstGeom prst="line">
            <a:avLst/>
          </a:prstGeom>
          <a:ln w="19050">
            <a:solidFill>
              <a:srgbClr val="000066"/>
            </a:solidFill>
            <a:prstDash val="sysDot"/>
          </a:ln>
        </p:spPr>
        <p:style>
          <a:lnRef idx="1">
            <a:schemeClr val="dk1"/>
          </a:lnRef>
          <a:fillRef idx="0">
            <a:schemeClr val="dk1"/>
          </a:fillRef>
          <a:effectRef idx="0">
            <a:schemeClr val="dk1"/>
          </a:effectRef>
          <a:fontRef idx="minor">
            <a:schemeClr val="tx1"/>
          </a:fontRef>
        </p:style>
      </p:cxnSp>
      <p:cxnSp>
        <p:nvCxnSpPr>
          <p:cNvPr id="83" name="直接连接符 82"/>
          <p:cNvCxnSpPr/>
          <p:nvPr/>
        </p:nvCxnSpPr>
        <p:spPr>
          <a:xfrm>
            <a:off x="5334249" y="3840821"/>
            <a:ext cx="939718" cy="0"/>
          </a:xfrm>
          <a:prstGeom prst="line">
            <a:avLst/>
          </a:prstGeom>
          <a:ln w="19050">
            <a:solidFill>
              <a:srgbClr val="000066"/>
            </a:solidFill>
            <a:prstDash val="sysDot"/>
          </a:ln>
        </p:spPr>
        <p:style>
          <a:lnRef idx="1">
            <a:schemeClr val="dk1"/>
          </a:lnRef>
          <a:fillRef idx="0">
            <a:schemeClr val="dk1"/>
          </a:fillRef>
          <a:effectRef idx="0">
            <a:schemeClr val="dk1"/>
          </a:effectRef>
          <a:fontRef idx="minor">
            <a:schemeClr val="tx1"/>
          </a:fontRef>
        </p:style>
      </p:cxnSp>
      <p:grpSp>
        <p:nvGrpSpPr>
          <p:cNvPr id="84" name="组合 83"/>
          <p:cNvGrpSpPr/>
          <p:nvPr/>
        </p:nvGrpSpPr>
        <p:grpSpPr>
          <a:xfrm>
            <a:off x="6217820" y="1541954"/>
            <a:ext cx="1341437" cy="2350069"/>
            <a:chOff x="6217820" y="1623594"/>
            <a:chExt cx="1341437" cy="2350069"/>
          </a:xfrm>
        </p:grpSpPr>
        <p:sp>
          <p:nvSpPr>
            <p:cNvPr id="85" name="AutoShape 98"/>
            <p:cNvSpPr>
              <a:spLocks noChangeArrowheads="1"/>
            </p:cNvSpPr>
            <p:nvPr/>
          </p:nvSpPr>
          <p:spPr bwMode="auto">
            <a:xfrm>
              <a:off x="6220995" y="1623594"/>
              <a:ext cx="1338262" cy="2300288"/>
            </a:xfrm>
            <a:prstGeom prst="cube">
              <a:avLst>
                <a:gd name="adj" fmla="val 9144"/>
              </a:avLst>
            </a:prstGeom>
            <a:solidFill>
              <a:srgbClr val="0099FF"/>
            </a:solidFill>
            <a:ln w="19050">
              <a:solidFill>
                <a:srgbClr val="000066"/>
              </a:solidFill>
              <a:miter lim="800000"/>
            </a:ln>
          </p:spPr>
          <p:txBody>
            <a:bodyPr wrap="none" anchor="ctr"/>
            <a:lstStyle/>
            <a:p>
              <a:endParaRPr lang="zh-CN" altLang="en-US" sz="1200" b="1">
                <a:solidFill>
                  <a:schemeClr val="bg1"/>
                </a:solidFill>
                <a:latin typeface="微软雅黑" panose="020B0503020204020204" pitchFamily="34" charset="-122"/>
                <a:ea typeface="微软雅黑" panose="020B0503020204020204" pitchFamily="34" charset="-122"/>
              </a:endParaRPr>
            </a:p>
          </p:txBody>
        </p:sp>
        <p:sp>
          <p:nvSpPr>
            <p:cNvPr id="86" name="Freeform 101"/>
            <p:cNvSpPr/>
            <p:nvPr/>
          </p:nvSpPr>
          <p:spPr bwMode="auto">
            <a:xfrm>
              <a:off x="6220995" y="2496719"/>
              <a:ext cx="1328737" cy="169863"/>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rgbClr val="000066"/>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87" name="Freeform 102"/>
            <p:cNvSpPr/>
            <p:nvPr/>
          </p:nvSpPr>
          <p:spPr bwMode="auto">
            <a:xfrm>
              <a:off x="6220995" y="2817478"/>
              <a:ext cx="1328737" cy="173037"/>
            </a:xfrm>
            <a:custGeom>
              <a:avLst/>
              <a:gdLst>
                <a:gd name="T0" fmla="*/ 2147483647 w 2049"/>
                <a:gd name="T1" fmla="*/ 0 h 185"/>
                <a:gd name="T2" fmla="*/ 2147483647 w 2049"/>
                <a:gd name="T3" fmla="*/ 2147483647 h 185"/>
                <a:gd name="T4" fmla="*/ 0 w 2049"/>
                <a:gd name="T5" fmla="*/ 2147483647 h 185"/>
                <a:gd name="T6" fmla="*/ 0 60000 65536"/>
                <a:gd name="T7" fmla="*/ 0 60000 65536"/>
                <a:gd name="T8" fmla="*/ 0 60000 65536"/>
                <a:gd name="T9" fmla="*/ 0 w 2049"/>
                <a:gd name="T10" fmla="*/ 0 h 185"/>
                <a:gd name="T11" fmla="*/ 2049 w 2049"/>
                <a:gd name="T12" fmla="*/ 185 h 185"/>
              </a:gdLst>
              <a:ahLst/>
              <a:cxnLst>
                <a:cxn ang="T6">
                  <a:pos x="T0" y="T1"/>
                </a:cxn>
                <a:cxn ang="T7">
                  <a:pos x="T2" y="T3"/>
                </a:cxn>
                <a:cxn ang="T8">
                  <a:pos x="T4" y="T5"/>
                </a:cxn>
              </a:cxnLst>
              <a:rect l="T9" t="T10" r="T11" b="T12"/>
              <a:pathLst>
                <a:path w="2049" h="185">
                  <a:moveTo>
                    <a:pt x="2049" y="0"/>
                  </a:moveTo>
                  <a:lnTo>
                    <a:pt x="1873" y="185"/>
                  </a:lnTo>
                  <a:lnTo>
                    <a:pt x="0" y="182"/>
                  </a:lnTo>
                </a:path>
              </a:pathLst>
            </a:custGeom>
            <a:noFill/>
            <a:ln w="19050">
              <a:solidFill>
                <a:srgbClr val="000066"/>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88" name="Freeform 103"/>
            <p:cNvSpPr/>
            <p:nvPr/>
          </p:nvSpPr>
          <p:spPr bwMode="auto">
            <a:xfrm>
              <a:off x="6219407" y="3122194"/>
              <a:ext cx="1330325" cy="174625"/>
            </a:xfrm>
            <a:custGeom>
              <a:avLst/>
              <a:gdLst>
                <a:gd name="T0" fmla="*/ 2147483647 w 2049"/>
                <a:gd name="T1" fmla="*/ 0 h 187"/>
                <a:gd name="T2" fmla="*/ 2147483647 w 2049"/>
                <a:gd name="T3" fmla="*/ 2147483647 h 187"/>
                <a:gd name="T4" fmla="*/ 0 w 2049"/>
                <a:gd name="T5" fmla="*/ 2147483647 h 187"/>
                <a:gd name="T6" fmla="*/ 0 60000 65536"/>
                <a:gd name="T7" fmla="*/ 0 60000 65536"/>
                <a:gd name="T8" fmla="*/ 0 60000 65536"/>
                <a:gd name="T9" fmla="*/ 0 w 2049"/>
                <a:gd name="T10" fmla="*/ 0 h 187"/>
                <a:gd name="T11" fmla="*/ 2049 w 2049"/>
                <a:gd name="T12" fmla="*/ 187 h 187"/>
              </a:gdLst>
              <a:ahLst/>
              <a:cxnLst>
                <a:cxn ang="T6">
                  <a:pos x="T0" y="T1"/>
                </a:cxn>
                <a:cxn ang="T7">
                  <a:pos x="T2" y="T3"/>
                </a:cxn>
                <a:cxn ang="T8">
                  <a:pos x="T4" y="T5"/>
                </a:cxn>
              </a:cxnLst>
              <a:rect l="T9" t="T10" r="T11" b="T12"/>
              <a:pathLst>
                <a:path w="2049" h="187">
                  <a:moveTo>
                    <a:pt x="2049" y="0"/>
                  </a:moveTo>
                  <a:lnTo>
                    <a:pt x="1863" y="187"/>
                  </a:lnTo>
                  <a:lnTo>
                    <a:pt x="0" y="182"/>
                  </a:lnTo>
                </a:path>
              </a:pathLst>
            </a:custGeom>
            <a:noFill/>
            <a:ln w="19050">
              <a:solidFill>
                <a:srgbClr val="000066"/>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89" name="Freeform 104"/>
            <p:cNvSpPr/>
            <p:nvPr/>
          </p:nvSpPr>
          <p:spPr bwMode="auto">
            <a:xfrm>
              <a:off x="6217820" y="3434932"/>
              <a:ext cx="1330325" cy="169862"/>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rgbClr val="000066"/>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90" name="Text Box 106"/>
            <p:cNvSpPr txBox="1">
              <a:spLocks noChangeArrowheads="1"/>
            </p:cNvSpPr>
            <p:nvPr/>
          </p:nvSpPr>
          <p:spPr bwMode="auto">
            <a:xfrm>
              <a:off x="6667082" y="2698332"/>
              <a:ext cx="608013" cy="26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a:solidFill>
                    <a:schemeClr val="bg1"/>
                  </a:solidFill>
                  <a:latin typeface="微软雅黑" panose="020B0503020204020204" pitchFamily="34" charset="-122"/>
                  <a:ea typeface="微软雅黑" panose="020B0503020204020204" pitchFamily="34" charset="-122"/>
                </a:rPr>
                <a:t>运输层</a:t>
              </a:r>
            </a:p>
          </p:txBody>
        </p:sp>
        <p:sp>
          <p:nvSpPr>
            <p:cNvPr id="91" name="Text Box 107"/>
            <p:cNvSpPr txBox="1">
              <a:spLocks noChangeArrowheads="1"/>
            </p:cNvSpPr>
            <p:nvPr/>
          </p:nvSpPr>
          <p:spPr bwMode="auto">
            <a:xfrm>
              <a:off x="6675020" y="3023769"/>
              <a:ext cx="608012"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solidFill>
                    <a:srgbClr val="FFFF00"/>
                  </a:solidFill>
                  <a:latin typeface="微软雅黑" panose="020B0503020204020204" pitchFamily="34" charset="-122"/>
                  <a:ea typeface="微软雅黑" panose="020B0503020204020204" pitchFamily="34" charset="-122"/>
                </a:rPr>
                <a:t>网络层</a:t>
              </a:r>
            </a:p>
          </p:txBody>
        </p:sp>
        <p:sp>
          <p:nvSpPr>
            <p:cNvPr id="92" name="Text Box 108"/>
            <p:cNvSpPr txBox="1">
              <a:spLocks noChangeArrowheads="1"/>
            </p:cNvSpPr>
            <p:nvPr/>
          </p:nvSpPr>
          <p:spPr bwMode="auto">
            <a:xfrm>
              <a:off x="6675020" y="2020469"/>
              <a:ext cx="608012"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solidFill>
                    <a:schemeClr val="bg1"/>
                  </a:solidFill>
                  <a:latin typeface="微软雅黑" panose="020B0503020204020204" pitchFamily="34" charset="-122"/>
                  <a:ea typeface="微软雅黑" panose="020B0503020204020204" pitchFamily="34" charset="-122"/>
                </a:rPr>
                <a:t>应用层</a:t>
              </a:r>
            </a:p>
          </p:txBody>
        </p:sp>
        <p:sp>
          <p:nvSpPr>
            <p:cNvPr id="93" name="Text Box 110"/>
            <p:cNvSpPr txBox="1">
              <a:spLocks noChangeArrowheads="1"/>
            </p:cNvSpPr>
            <p:nvPr/>
          </p:nvSpPr>
          <p:spPr bwMode="auto">
            <a:xfrm>
              <a:off x="6571832" y="3319044"/>
              <a:ext cx="889000"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solidFill>
                    <a:schemeClr val="bg1"/>
                  </a:solidFill>
                  <a:latin typeface="微软雅黑" panose="020B0503020204020204" pitchFamily="34" charset="-122"/>
                  <a:ea typeface="微软雅黑" panose="020B0503020204020204" pitchFamily="34" charset="-122"/>
                </a:rPr>
                <a:t>数据链路层</a:t>
              </a:r>
            </a:p>
          </p:txBody>
        </p:sp>
        <p:sp>
          <p:nvSpPr>
            <p:cNvPr id="94" name="Text Box 111"/>
            <p:cNvSpPr txBox="1">
              <a:spLocks noChangeArrowheads="1"/>
            </p:cNvSpPr>
            <p:nvPr/>
          </p:nvSpPr>
          <p:spPr bwMode="auto">
            <a:xfrm>
              <a:off x="6675020" y="3633369"/>
              <a:ext cx="608012"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a:solidFill>
                    <a:schemeClr val="bg1"/>
                  </a:solidFill>
                  <a:latin typeface="微软雅黑" panose="020B0503020204020204" pitchFamily="34" charset="-122"/>
                  <a:ea typeface="微软雅黑" panose="020B0503020204020204" pitchFamily="34" charset="-122"/>
                </a:rPr>
                <a:t>物理层</a:t>
              </a:r>
            </a:p>
          </p:txBody>
        </p:sp>
        <p:sp>
          <p:nvSpPr>
            <p:cNvPr id="95" name="Text Box 112"/>
            <p:cNvSpPr txBox="1">
              <a:spLocks noChangeArrowheads="1"/>
            </p:cNvSpPr>
            <p:nvPr/>
          </p:nvSpPr>
          <p:spPr bwMode="auto">
            <a:xfrm>
              <a:off x="6282907" y="1629944"/>
              <a:ext cx="271228" cy="2343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nSpc>
                  <a:spcPct val="190000"/>
                </a:lnSpc>
              </a:pP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nSpc>
                  <a:spcPct val="190000"/>
                </a:lnSpc>
              </a:pPr>
              <a:r>
                <a:rPr kumimoji="1" lang="en-US" altLang="zh-CN" sz="1100" b="1" dirty="0">
                  <a:solidFill>
                    <a:schemeClr val="bg1"/>
                  </a:solidFill>
                  <a:latin typeface="微软雅黑" panose="020B0503020204020204" pitchFamily="34" charset="-122"/>
                  <a:ea typeface="微软雅黑" panose="020B0503020204020204" pitchFamily="34" charset="-122"/>
                </a:rPr>
                <a:t>5</a:t>
              </a:r>
            </a:p>
            <a:p>
              <a:pPr>
                <a:lnSpc>
                  <a:spcPct val="190000"/>
                </a:lnSpc>
              </a:pP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nSpc>
                  <a:spcPct val="190000"/>
                </a:lnSpc>
              </a:pPr>
              <a:r>
                <a:rPr kumimoji="1" lang="en-US" altLang="zh-CN" sz="1100" b="1" dirty="0">
                  <a:solidFill>
                    <a:schemeClr val="bg1"/>
                  </a:solidFill>
                  <a:latin typeface="微软雅黑" panose="020B0503020204020204" pitchFamily="34" charset="-122"/>
                  <a:ea typeface="微软雅黑" panose="020B0503020204020204" pitchFamily="34" charset="-122"/>
                </a:rPr>
                <a:t>4</a:t>
              </a:r>
            </a:p>
            <a:p>
              <a:pPr>
                <a:lnSpc>
                  <a:spcPct val="190000"/>
                </a:lnSpc>
              </a:pPr>
              <a:r>
                <a:rPr kumimoji="1" lang="en-US" altLang="zh-CN" sz="1100" b="1" dirty="0">
                  <a:solidFill>
                    <a:schemeClr val="bg1"/>
                  </a:solidFill>
                  <a:latin typeface="微软雅黑" panose="020B0503020204020204" pitchFamily="34" charset="-122"/>
                  <a:ea typeface="微软雅黑" panose="020B0503020204020204" pitchFamily="34" charset="-122"/>
                </a:rPr>
                <a:t>3</a:t>
              </a:r>
            </a:p>
            <a:p>
              <a:pPr>
                <a:lnSpc>
                  <a:spcPct val="190000"/>
                </a:lnSpc>
              </a:pPr>
              <a:r>
                <a:rPr kumimoji="1" lang="en-US" altLang="zh-CN" sz="1100" b="1" dirty="0">
                  <a:solidFill>
                    <a:schemeClr val="bg1"/>
                  </a:solidFill>
                  <a:latin typeface="微软雅黑" panose="020B0503020204020204" pitchFamily="34" charset="-122"/>
                  <a:ea typeface="微软雅黑" panose="020B0503020204020204" pitchFamily="34" charset="-122"/>
                </a:rPr>
                <a:t>2</a:t>
              </a:r>
            </a:p>
            <a:p>
              <a:pPr>
                <a:lnSpc>
                  <a:spcPct val="190000"/>
                </a:lnSpc>
              </a:pPr>
              <a:r>
                <a:rPr kumimoji="1" lang="en-US" altLang="zh-CN" sz="1100" b="1" dirty="0">
                  <a:solidFill>
                    <a:schemeClr val="bg1"/>
                  </a:solidFill>
                  <a:latin typeface="微软雅黑" panose="020B0503020204020204" pitchFamily="34" charset="-122"/>
                  <a:ea typeface="微软雅黑" panose="020B0503020204020204" pitchFamily="34" charset="-122"/>
                </a:rPr>
                <a:t>1</a:t>
              </a:r>
            </a:p>
          </p:txBody>
        </p:sp>
      </p:grpSp>
    </p:spTree>
    <p:extLst>
      <p:ext uri="{BB962C8B-B14F-4D97-AF65-F5344CB8AC3E}">
        <p14:creationId xmlns:p14="http://schemas.microsoft.com/office/powerpoint/2010/main" val="183556292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grpId="0" nodeType="afterEffect">
                                  <p:stCondLst>
                                    <p:cond delay="0"/>
                                  </p:stCondLst>
                                  <p:endCondLst>
                                    <p:cond evt="onNext" delay="0">
                                      <p:tgtEl>
                                        <p:sldTgt/>
                                      </p:tgtEl>
                                    </p:cond>
                                  </p:endCondLst>
                                  <p:childTnLst>
                                    <p:anim calcmode="discrete" valueType="str">
                                      <p:cBhvr>
                                        <p:cTn id="6" dur="1000" fill="hold"/>
                                        <p:tgtEl>
                                          <p:spTgt spid="7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p:cNvSpPr>
            <a:spLocks noChangeArrowheads="1"/>
          </p:cNvSpPr>
          <p:nvPr/>
        </p:nvSpPr>
        <p:spPr bwMode="auto">
          <a:xfrm>
            <a:off x="1673794" y="4288220"/>
            <a:ext cx="5775325" cy="330200"/>
          </a:xfrm>
          <a:prstGeom prst="rect">
            <a:avLst/>
          </a:prstGeom>
          <a:solidFill>
            <a:srgbClr val="1956B9"/>
          </a:solidFill>
          <a:ln>
            <a:noFill/>
          </a:ln>
          <a:effectLst>
            <a:outerShdw blurRad="57785" dist="33020" dir="3180000" algn="ctr">
              <a:srgbClr val="000000">
                <a:alpha val="30000"/>
              </a:srgbClr>
            </a:outerShdw>
          </a:effectLst>
        </p:spPr>
        <p:txBody>
          <a:bodyPr anchor="ctr"/>
          <a:lstStyle/>
          <a:p>
            <a:pPr algn="ctr" eaLnBrk="0" hangingPunct="0">
              <a:lnSpc>
                <a:spcPts val="3800"/>
              </a:lnSpc>
            </a:pPr>
            <a:endParaRPr lang="fr-FR">
              <a:solidFill>
                <a:srgbClr val="FFFFFF"/>
              </a:solidFill>
              <a:latin typeface="宋体" charset="-122"/>
            </a:endParaRPr>
          </a:p>
        </p:txBody>
      </p:sp>
      <p:sp>
        <p:nvSpPr>
          <p:cNvPr id="26" name="Rectangle 10"/>
          <p:cNvSpPr>
            <a:spLocks noChangeArrowheads="1"/>
          </p:cNvSpPr>
          <p:nvPr/>
        </p:nvSpPr>
        <p:spPr bwMode="auto">
          <a:xfrm>
            <a:off x="1673794" y="2655578"/>
            <a:ext cx="5775325" cy="330200"/>
          </a:xfrm>
          <a:prstGeom prst="rect">
            <a:avLst/>
          </a:prstGeom>
          <a:solidFill>
            <a:srgbClr val="1956B9"/>
          </a:solidFill>
          <a:ln>
            <a:noFill/>
          </a:ln>
          <a:effectLst>
            <a:outerShdw blurRad="57785" dist="33020" dir="3180000" algn="ctr">
              <a:srgbClr val="000000">
                <a:alpha val="30000"/>
              </a:srgbClr>
            </a:outerShdw>
          </a:effectLst>
        </p:spPr>
        <p:txBody>
          <a:bodyPr anchor="ctr"/>
          <a:lstStyle/>
          <a:p>
            <a:pPr algn="ctr" eaLnBrk="0" hangingPunct="0">
              <a:lnSpc>
                <a:spcPts val="3800"/>
              </a:lnSpc>
            </a:pPr>
            <a:endParaRPr lang="fr-FR">
              <a:solidFill>
                <a:srgbClr val="FFFFFF"/>
              </a:solidFill>
              <a:latin typeface="宋体" charset="-122"/>
            </a:endParaRPr>
          </a:p>
        </p:txBody>
      </p:sp>
      <p:sp>
        <p:nvSpPr>
          <p:cNvPr id="27" name="Rectangle 11"/>
          <p:cNvSpPr>
            <a:spLocks noChangeArrowheads="1"/>
          </p:cNvSpPr>
          <p:nvPr/>
        </p:nvSpPr>
        <p:spPr bwMode="auto">
          <a:xfrm>
            <a:off x="1673794" y="3063276"/>
            <a:ext cx="5775325" cy="330200"/>
          </a:xfrm>
          <a:prstGeom prst="rect">
            <a:avLst/>
          </a:prstGeom>
          <a:solidFill>
            <a:srgbClr val="0098F6"/>
          </a:solidFill>
          <a:ln>
            <a:noFill/>
          </a:ln>
          <a:effectLst>
            <a:outerShdw blurRad="57785" dist="33020" dir="3180000" algn="ctr">
              <a:srgbClr val="000000">
                <a:alpha val="30000"/>
              </a:srgbClr>
            </a:outerShdw>
          </a:effectLst>
        </p:spPr>
        <p:txBody>
          <a:bodyPr anchor="ctr"/>
          <a:lstStyle/>
          <a:p>
            <a:pPr algn="ctr" eaLnBrk="0" hangingPunct="0">
              <a:lnSpc>
                <a:spcPts val="3800"/>
              </a:lnSpc>
            </a:pPr>
            <a:endParaRPr lang="fr-FR">
              <a:solidFill>
                <a:srgbClr val="FFFFFF"/>
              </a:solidFill>
              <a:latin typeface="宋体" charset="-122"/>
            </a:endParaRPr>
          </a:p>
        </p:txBody>
      </p:sp>
      <p:sp>
        <p:nvSpPr>
          <p:cNvPr id="28" name="Rectangle 12"/>
          <p:cNvSpPr>
            <a:spLocks noChangeArrowheads="1"/>
          </p:cNvSpPr>
          <p:nvPr/>
        </p:nvSpPr>
        <p:spPr bwMode="auto">
          <a:xfrm>
            <a:off x="1673794" y="3460330"/>
            <a:ext cx="5775325" cy="330200"/>
          </a:xfrm>
          <a:prstGeom prst="rect">
            <a:avLst/>
          </a:prstGeom>
          <a:solidFill>
            <a:srgbClr val="1956B9"/>
          </a:solidFill>
          <a:ln>
            <a:noFill/>
          </a:ln>
          <a:effectLst>
            <a:outerShdw blurRad="57785" dist="33020" dir="3180000" algn="ctr">
              <a:srgbClr val="000000">
                <a:alpha val="30000"/>
              </a:srgbClr>
            </a:outerShdw>
          </a:effectLst>
        </p:spPr>
        <p:txBody>
          <a:bodyPr anchor="ctr"/>
          <a:lstStyle/>
          <a:p>
            <a:pPr algn="ctr" eaLnBrk="0" hangingPunct="0">
              <a:lnSpc>
                <a:spcPts val="3800"/>
              </a:lnSpc>
            </a:pPr>
            <a:endParaRPr lang="fr-FR">
              <a:solidFill>
                <a:srgbClr val="FFFFFF"/>
              </a:solidFill>
              <a:latin typeface="宋体" charset="-122"/>
            </a:endParaRPr>
          </a:p>
        </p:txBody>
      </p:sp>
      <p:sp>
        <p:nvSpPr>
          <p:cNvPr id="29" name="Rectangle 13"/>
          <p:cNvSpPr>
            <a:spLocks noChangeArrowheads="1"/>
          </p:cNvSpPr>
          <p:nvPr/>
        </p:nvSpPr>
        <p:spPr bwMode="auto">
          <a:xfrm>
            <a:off x="1673794" y="3877138"/>
            <a:ext cx="5775325" cy="330200"/>
          </a:xfrm>
          <a:prstGeom prst="rect">
            <a:avLst/>
          </a:prstGeom>
          <a:solidFill>
            <a:srgbClr val="0098F6"/>
          </a:solidFill>
          <a:ln>
            <a:noFill/>
          </a:ln>
          <a:effectLst>
            <a:outerShdw blurRad="57785" dist="33020" dir="3180000" algn="ctr">
              <a:srgbClr val="000000">
                <a:alpha val="30000"/>
              </a:srgbClr>
            </a:outerShdw>
          </a:effectLst>
        </p:spPr>
        <p:txBody>
          <a:bodyPr anchor="ctr"/>
          <a:lstStyle/>
          <a:p>
            <a:pPr algn="ctr" eaLnBrk="0" hangingPunct="0">
              <a:lnSpc>
                <a:spcPts val="3800"/>
              </a:lnSpc>
            </a:pPr>
            <a:endParaRPr lang="fr-FR">
              <a:solidFill>
                <a:srgbClr val="FFFFFF"/>
              </a:solidFill>
              <a:latin typeface="宋体" charset="-122"/>
            </a:endParaRPr>
          </a:p>
        </p:txBody>
      </p:sp>
      <p:sp>
        <p:nvSpPr>
          <p:cNvPr id="19" name="Rectangle 9"/>
          <p:cNvSpPr>
            <a:spLocks noChangeArrowheads="1"/>
          </p:cNvSpPr>
          <p:nvPr/>
        </p:nvSpPr>
        <p:spPr bwMode="auto">
          <a:xfrm>
            <a:off x="1673794" y="627249"/>
            <a:ext cx="5775325" cy="330200"/>
          </a:xfrm>
          <a:prstGeom prst="rect">
            <a:avLst/>
          </a:prstGeom>
          <a:solidFill>
            <a:srgbClr val="0098F6"/>
          </a:solidFill>
          <a:ln>
            <a:noFill/>
          </a:ln>
          <a:effectLst>
            <a:outerShdw blurRad="57785" dist="33020" dir="3180000" algn="ctr">
              <a:srgbClr val="000000">
                <a:alpha val="30000"/>
              </a:srgbClr>
            </a:outerShdw>
          </a:effectLst>
        </p:spPr>
        <p:txBody>
          <a:bodyPr anchor="ctr"/>
          <a:lstStyle/>
          <a:p>
            <a:pPr algn="ctr" eaLnBrk="0" hangingPunct="0">
              <a:lnSpc>
                <a:spcPts val="3800"/>
              </a:lnSpc>
            </a:pPr>
            <a:endParaRPr lang="fr-FR">
              <a:solidFill>
                <a:srgbClr val="FFFFFF"/>
              </a:solidFill>
              <a:latin typeface="宋体" charset="-122"/>
            </a:endParaRPr>
          </a:p>
        </p:txBody>
      </p:sp>
      <p:sp>
        <p:nvSpPr>
          <p:cNvPr id="20" name="Rectangle 10"/>
          <p:cNvSpPr>
            <a:spLocks noChangeArrowheads="1"/>
          </p:cNvSpPr>
          <p:nvPr/>
        </p:nvSpPr>
        <p:spPr bwMode="auto">
          <a:xfrm>
            <a:off x="1673794" y="1043362"/>
            <a:ext cx="5775325" cy="330200"/>
          </a:xfrm>
          <a:prstGeom prst="rect">
            <a:avLst/>
          </a:prstGeom>
          <a:solidFill>
            <a:srgbClr val="1956B9"/>
          </a:solidFill>
          <a:ln>
            <a:noFill/>
          </a:ln>
          <a:effectLst>
            <a:outerShdw blurRad="57785" dist="33020" dir="3180000" algn="ctr">
              <a:srgbClr val="000000">
                <a:alpha val="30000"/>
              </a:srgbClr>
            </a:outerShdw>
          </a:effectLst>
        </p:spPr>
        <p:txBody>
          <a:bodyPr anchor="ctr"/>
          <a:lstStyle/>
          <a:p>
            <a:pPr algn="ctr" eaLnBrk="0" hangingPunct="0">
              <a:lnSpc>
                <a:spcPts val="3800"/>
              </a:lnSpc>
            </a:pPr>
            <a:endParaRPr lang="fr-FR">
              <a:solidFill>
                <a:srgbClr val="FFFFFF"/>
              </a:solidFill>
              <a:latin typeface="宋体" charset="-122"/>
            </a:endParaRPr>
          </a:p>
        </p:txBody>
      </p:sp>
      <p:sp>
        <p:nvSpPr>
          <p:cNvPr id="21" name="Rectangle 11"/>
          <p:cNvSpPr>
            <a:spLocks noChangeArrowheads="1"/>
          </p:cNvSpPr>
          <p:nvPr/>
        </p:nvSpPr>
        <p:spPr bwMode="auto">
          <a:xfrm>
            <a:off x="1673794" y="1441916"/>
            <a:ext cx="5775325" cy="330200"/>
          </a:xfrm>
          <a:prstGeom prst="rect">
            <a:avLst/>
          </a:prstGeom>
          <a:solidFill>
            <a:srgbClr val="0098F6"/>
          </a:solidFill>
          <a:ln>
            <a:noFill/>
          </a:ln>
          <a:effectLst>
            <a:outerShdw blurRad="57785" dist="33020" dir="3180000" algn="ctr">
              <a:srgbClr val="000000">
                <a:alpha val="30000"/>
              </a:srgbClr>
            </a:outerShdw>
          </a:effectLst>
        </p:spPr>
        <p:txBody>
          <a:bodyPr anchor="ctr"/>
          <a:lstStyle/>
          <a:p>
            <a:pPr algn="ctr" eaLnBrk="0" hangingPunct="0">
              <a:lnSpc>
                <a:spcPts val="3800"/>
              </a:lnSpc>
            </a:pPr>
            <a:endParaRPr lang="fr-FR">
              <a:solidFill>
                <a:srgbClr val="FFFFFF"/>
              </a:solidFill>
              <a:latin typeface="宋体" charset="-122"/>
            </a:endParaRPr>
          </a:p>
        </p:txBody>
      </p:sp>
      <p:sp>
        <p:nvSpPr>
          <p:cNvPr id="22" name="Rectangle 12"/>
          <p:cNvSpPr>
            <a:spLocks noChangeArrowheads="1"/>
          </p:cNvSpPr>
          <p:nvPr/>
        </p:nvSpPr>
        <p:spPr bwMode="auto">
          <a:xfrm>
            <a:off x="1673794" y="1857258"/>
            <a:ext cx="5775325" cy="330200"/>
          </a:xfrm>
          <a:prstGeom prst="rect">
            <a:avLst/>
          </a:prstGeom>
          <a:solidFill>
            <a:srgbClr val="1956B9"/>
          </a:solidFill>
          <a:ln>
            <a:noFill/>
          </a:ln>
          <a:effectLst>
            <a:outerShdw blurRad="57785" dist="33020" dir="3180000" algn="ctr">
              <a:srgbClr val="000000">
                <a:alpha val="30000"/>
              </a:srgbClr>
            </a:outerShdw>
          </a:effectLst>
        </p:spPr>
        <p:txBody>
          <a:bodyPr anchor="ctr"/>
          <a:lstStyle/>
          <a:p>
            <a:pPr algn="ctr" eaLnBrk="0" hangingPunct="0">
              <a:lnSpc>
                <a:spcPts val="3800"/>
              </a:lnSpc>
            </a:pPr>
            <a:endParaRPr lang="fr-FR">
              <a:solidFill>
                <a:srgbClr val="FFFFFF"/>
              </a:solidFill>
              <a:latin typeface="宋体" charset="-122"/>
            </a:endParaRPr>
          </a:p>
        </p:txBody>
      </p:sp>
      <p:sp>
        <p:nvSpPr>
          <p:cNvPr id="23" name="Rectangle 13"/>
          <p:cNvSpPr>
            <a:spLocks noChangeArrowheads="1"/>
          </p:cNvSpPr>
          <p:nvPr/>
        </p:nvSpPr>
        <p:spPr bwMode="auto">
          <a:xfrm>
            <a:off x="1673794" y="2255778"/>
            <a:ext cx="5775325" cy="330200"/>
          </a:xfrm>
          <a:prstGeom prst="rect">
            <a:avLst/>
          </a:prstGeom>
          <a:solidFill>
            <a:srgbClr val="0098F6"/>
          </a:solidFill>
          <a:ln>
            <a:noFill/>
          </a:ln>
          <a:effectLst>
            <a:outerShdw blurRad="57785" dist="33020" dir="3180000" algn="ctr">
              <a:srgbClr val="000000">
                <a:alpha val="30000"/>
              </a:srgbClr>
            </a:outerShdw>
          </a:effectLst>
        </p:spPr>
        <p:txBody>
          <a:bodyPr anchor="ctr"/>
          <a:lstStyle/>
          <a:p>
            <a:pPr algn="ctr" eaLnBrk="0" hangingPunct="0">
              <a:lnSpc>
                <a:spcPts val="3800"/>
              </a:lnSpc>
            </a:pPr>
            <a:endParaRPr lang="fr-FR">
              <a:solidFill>
                <a:srgbClr val="FFFFFF"/>
              </a:solidFill>
              <a:latin typeface="宋体" charset="-122"/>
            </a:endParaRPr>
          </a:p>
        </p:txBody>
      </p:sp>
      <p:sp>
        <p:nvSpPr>
          <p:cNvPr id="24" name="Line 16"/>
          <p:cNvSpPr>
            <a:spLocks noChangeShapeType="1"/>
          </p:cNvSpPr>
          <p:nvPr/>
        </p:nvSpPr>
        <p:spPr bwMode="auto">
          <a:xfrm>
            <a:off x="2421504" y="500942"/>
            <a:ext cx="0" cy="4225536"/>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pPr>
              <a:lnSpc>
                <a:spcPts val="3800"/>
              </a:lnSpc>
            </a:pPr>
            <a:endParaRPr lang="zh-CN" altLang="en-US"/>
          </a:p>
        </p:txBody>
      </p:sp>
      <p:sp>
        <p:nvSpPr>
          <p:cNvPr id="30" name="Rectangle 17"/>
          <p:cNvSpPr>
            <a:spLocks noChangeArrowheads="1"/>
          </p:cNvSpPr>
          <p:nvPr/>
        </p:nvSpPr>
        <p:spPr bwMode="auto">
          <a:xfrm>
            <a:off x="1705542" y="530458"/>
            <a:ext cx="5678669" cy="419602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3200"/>
              </a:lnSpc>
            </a:pPr>
            <a:r>
              <a:rPr lang="en-US" altLang="zh-CN" sz="2000" b="1" dirty="0">
                <a:solidFill>
                  <a:schemeClr val="bg1"/>
                </a:solidFill>
                <a:latin typeface="微软雅黑" pitchFamily="34" charset="-122"/>
                <a:ea typeface="微软雅黑" pitchFamily="34" charset="-122"/>
              </a:rPr>
              <a:t>4.1                                 </a:t>
            </a:r>
            <a:r>
              <a:rPr lang="zh-CN" altLang="en-US" sz="2000" b="1" dirty="0">
                <a:solidFill>
                  <a:schemeClr val="bg1"/>
                </a:solidFill>
                <a:latin typeface="微软雅黑" pitchFamily="34" charset="-122"/>
                <a:ea typeface="微软雅黑" pitchFamily="34" charset="-122"/>
              </a:rPr>
              <a:t>网络层的几个重要概念</a:t>
            </a:r>
          </a:p>
          <a:p>
            <a:pPr eaLnBrk="0" hangingPunct="0">
              <a:lnSpc>
                <a:spcPts val="3200"/>
              </a:lnSpc>
            </a:pPr>
            <a:r>
              <a:rPr lang="en-US" altLang="zh-CN" sz="2000" b="1" dirty="0">
                <a:solidFill>
                  <a:schemeClr val="bg1"/>
                </a:solidFill>
                <a:latin typeface="微软雅黑" pitchFamily="34" charset="-122"/>
                <a:ea typeface="微软雅黑" pitchFamily="34" charset="-122"/>
              </a:rPr>
              <a:t>4.2                                                 </a:t>
            </a:r>
            <a:r>
              <a:rPr lang="zh-CN" altLang="en-US" sz="2000" b="1" dirty="0">
                <a:solidFill>
                  <a:schemeClr val="bg1"/>
                </a:solidFill>
                <a:latin typeface="微软雅黑" pitchFamily="34" charset="-122"/>
                <a:ea typeface="微软雅黑" pitchFamily="34" charset="-122"/>
              </a:rPr>
              <a:t>网际协议 </a:t>
            </a:r>
            <a:r>
              <a:rPr lang="en-US" altLang="zh-CN" sz="2000" b="1" dirty="0">
                <a:solidFill>
                  <a:schemeClr val="bg1"/>
                </a:solidFill>
                <a:latin typeface="微软雅黑" pitchFamily="34" charset="-122"/>
                <a:ea typeface="微软雅黑" pitchFamily="34" charset="-122"/>
              </a:rPr>
              <a:t>IP</a:t>
            </a:r>
          </a:p>
          <a:p>
            <a:pPr eaLnBrk="0" hangingPunct="0">
              <a:lnSpc>
                <a:spcPts val="3200"/>
              </a:lnSpc>
            </a:pPr>
            <a:r>
              <a:rPr lang="en-US" altLang="zh-CN" sz="2000" b="1" dirty="0">
                <a:solidFill>
                  <a:schemeClr val="bg1"/>
                </a:solidFill>
                <a:latin typeface="微软雅黑" pitchFamily="34" charset="-122"/>
                <a:ea typeface="微软雅黑" pitchFamily="34" charset="-122"/>
              </a:rPr>
              <a:t>4.3                                    IP </a:t>
            </a:r>
            <a:r>
              <a:rPr lang="zh-CN" altLang="en-US" sz="2000" b="1" dirty="0">
                <a:solidFill>
                  <a:schemeClr val="bg1"/>
                </a:solidFill>
                <a:latin typeface="微软雅黑" pitchFamily="34" charset="-122"/>
                <a:ea typeface="微软雅黑" pitchFamily="34" charset="-122"/>
              </a:rPr>
              <a:t>层转发分组的过程</a:t>
            </a:r>
          </a:p>
          <a:p>
            <a:pPr eaLnBrk="0" hangingPunct="0">
              <a:lnSpc>
                <a:spcPts val="3200"/>
              </a:lnSpc>
            </a:pPr>
            <a:r>
              <a:rPr lang="en-US" altLang="zh-CN" sz="2000" b="1" dirty="0">
                <a:solidFill>
                  <a:schemeClr val="bg1"/>
                </a:solidFill>
                <a:latin typeface="微软雅黑" pitchFamily="34" charset="-122"/>
                <a:ea typeface="微软雅黑" pitchFamily="34" charset="-122"/>
              </a:rPr>
              <a:t>4.4                              </a:t>
            </a:r>
            <a:r>
              <a:rPr lang="zh-CN" altLang="en-US" sz="2000" b="1" dirty="0">
                <a:solidFill>
                  <a:schemeClr val="bg1"/>
                </a:solidFill>
                <a:latin typeface="微软雅黑" pitchFamily="34" charset="-122"/>
                <a:ea typeface="微软雅黑" pitchFamily="34" charset="-122"/>
              </a:rPr>
              <a:t>网际控制报文协议 </a:t>
            </a:r>
            <a:r>
              <a:rPr lang="en-US" altLang="zh-CN" sz="2000" b="1" dirty="0">
                <a:solidFill>
                  <a:schemeClr val="bg1"/>
                </a:solidFill>
                <a:latin typeface="微软雅黑" pitchFamily="34" charset="-122"/>
                <a:ea typeface="微软雅黑" pitchFamily="34" charset="-122"/>
              </a:rPr>
              <a:t>ICMP</a:t>
            </a:r>
          </a:p>
          <a:p>
            <a:pPr eaLnBrk="0" hangingPunct="0">
              <a:lnSpc>
                <a:spcPts val="3200"/>
              </a:lnSpc>
            </a:pPr>
            <a:r>
              <a:rPr lang="en-US" altLang="zh-CN" sz="2000" b="1" dirty="0">
                <a:solidFill>
                  <a:schemeClr val="bg1"/>
                </a:solidFill>
                <a:latin typeface="微软雅黑" pitchFamily="34" charset="-122"/>
                <a:ea typeface="微软雅黑" pitchFamily="34" charset="-122"/>
              </a:rPr>
              <a:t>4.5                                                           IPv6</a:t>
            </a:r>
            <a:endParaRPr lang="zh-CN" altLang="en-US" sz="2000" b="1" dirty="0">
              <a:solidFill>
                <a:schemeClr val="bg1"/>
              </a:solidFill>
              <a:latin typeface="微软雅黑" pitchFamily="34" charset="-122"/>
              <a:ea typeface="微软雅黑" pitchFamily="34" charset="-122"/>
            </a:endParaRPr>
          </a:p>
          <a:p>
            <a:pPr eaLnBrk="0" hangingPunct="0">
              <a:lnSpc>
                <a:spcPts val="3200"/>
              </a:lnSpc>
            </a:pPr>
            <a:r>
              <a:rPr lang="en-US" altLang="zh-CN" sz="2000" b="1" dirty="0">
                <a:solidFill>
                  <a:schemeClr val="bg1"/>
                </a:solidFill>
                <a:latin typeface="微软雅黑" pitchFamily="34" charset="-122"/>
                <a:ea typeface="微软雅黑" pitchFamily="34" charset="-122"/>
              </a:rPr>
              <a:t>4.6                                 </a:t>
            </a:r>
            <a:r>
              <a:rPr lang="zh-CN" altLang="en-US" sz="2000" b="1" dirty="0">
                <a:solidFill>
                  <a:schemeClr val="bg1"/>
                </a:solidFill>
                <a:latin typeface="微软雅黑" pitchFamily="34" charset="-122"/>
                <a:ea typeface="微软雅黑" pitchFamily="34" charset="-122"/>
              </a:rPr>
              <a:t>互联网的路由选择协议</a:t>
            </a:r>
            <a:endParaRPr lang="en-US" altLang="zh-CN" sz="2000" b="1" dirty="0">
              <a:solidFill>
                <a:schemeClr val="bg1"/>
              </a:solidFill>
              <a:latin typeface="微软雅黑" pitchFamily="34" charset="-122"/>
              <a:ea typeface="微软雅黑" pitchFamily="34" charset="-122"/>
            </a:endParaRPr>
          </a:p>
          <a:p>
            <a:pPr eaLnBrk="0" hangingPunct="0">
              <a:lnSpc>
                <a:spcPts val="3200"/>
              </a:lnSpc>
            </a:pPr>
            <a:r>
              <a:rPr lang="en-US" altLang="zh-CN" sz="2000" b="1" dirty="0">
                <a:solidFill>
                  <a:schemeClr val="bg1"/>
                </a:solidFill>
                <a:latin typeface="微软雅黑" pitchFamily="34" charset="-122"/>
                <a:ea typeface="微软雅黑" pitchFamily="34" charset="-122"/>
              </a:rPr>
              <a:t>4.7                                                        IP </a:t>
            </a:r>
            <a:r>
              <a:rPr lang="zh-CN" altLang="en-US" sz="2000" b="1" dirty="0">
                <a:solidFill>
                  <a:schemeClr val="bg1"/>
                </a:solidFill>
                <a:latin typeface="微软雅黑" pitchFamily="34" charset="-122"/>
                <a:ea typeface="微软雅黑" pitchFamily="34" charset="-122"/>
              </a:rPr>
              <a:t>多播</a:t>
            </a:r>
          </a:p>
          <a:p>
            <a:pPr eaLnBrk="0" hangingPunct="0">
              <a:lnSpc>
                <a:spcPts val="3200"/>
              </a:lnSpc>
            </a:pPr>
            <a:r>
              <a:rPr lang="en-US" altLang="zh-CN" sz="2000" b="1" dirty="0">
                <a:solidFill>
                  <a:schemeClr val="bg1"/>
                </a:solidFill>
                <a:latin typeface="微软雅黑" pitchFamily="34" charset="-122"/>
                <a:ea typeface="微软雅黑" pitchFamily="34" charset="-122"/>
              </a:rPr>
              <a:t>4.8         </a:t>
            </a:r>
            <a:r>
              <a:rPr lang="zh-CN" altLang="en-US" sz="2000" b="1" dirty="0">
                <a:solidFill>
                  <a:schemeClr val="bg1"/>
                </a:solidFill>
                <a:latin typeface="微软雅黑" pitchFamily="34" charset="-122"/>
                <a:ea typeface="微软雅黑" pitchFamily="34" charset="-122"/>
              </a:rPr>
              <a:t>虚拟专用网 </a:t>
            </a:r>
            <a:r>
              <a:rPr lang="en-US" altLang="zh-CN" sz="2000" b="1" dirty="0">
                <a:solidFill>
                  <a:schemeClr val="bg1"/>
                </a:solidFill>
                <a:latin typeface="微软雅黑" pitchFamily="34" charset="-122"/>
                <a:ea typeface="微软雅黑" pitchFamily="34" charset="-122"/>
              </a:rPr>
              <a:t>VPN </a:t>
            </a:r>
            <a:r>
              <a:rPr lang="zh-CN" altLang="en-US" sz="2000" b="1" dirty="0">
                <a:solidFill>
                  <a:schemeClr val="bg1"/>
                </a:solidFill>
                <a:latin typeface="微软雅黑" pitchFamily="34" charset="-122"/>
                <a:ea typeface="微软雅黑" pitchFamily="34" charset="-122"/>
              </a:rPr>
              <a:t>和网络地址转换 </a:t>
            </a:r>
            <a:r>
              <a:rPr lang="en-US" altLang="zh-CN" sz="2000" b="1" dirty="0">
                <a:solidFill>
                  <a:schemeClr val="bg1"/>
                </a:solidFill>
                <a:latin typeface="微软雅黑" pitchFamily="34" charset="-122"/>
                <a:ea typeface="微软雅黑" pitchFamily="34" charset="-122"/>
              </a:rPr>
              <a:t>NAT</a:t>
            </a:r>
          </a:p>
          <a:p>
            <a:pPr eaLnBrk="0" hangingPunct="0">
              <a:lnSpc>
                <a:spcPts val="3200"/>
              </a:lnSpc>
            </a:pPr>
            <a:r>
              <a:rPr lang="en-US" altLang="zh-CN" sz="2000" b="1" dirty="0">
                <a:solidFill>
                  <a:schemeClr val="bg1"/>
                </a:solidFill>
                <a:latin typeface="微软雅黑" pitchFamily="34" charset="-122"/>
                <a:ea typeface="微软雅黑" pitchFamily="34" charset="-122"/>
              </a:rPr>
              <a:t>4.9                                 </a:t>
            </a:r>
            <a:r>
              <a:rPr lang="zh-CN" altLang="en-US" sz="2000" b="1" dirty="0">
                <a:solidFill>
                  <a:schemeClr val="bg1"/>
                </a:solidFill>
                <a:latin typeface="微软雅黑" pitchFamily="34" charset="-122"/>
                <a:ea typeface="微软雅黑" pitchFamily="34" charset="-122"/>
              </a:rPr>
              <a:t>多协议标记交换 </a:t>
            </a:r>
            <a:r>
              <a:rPr lang="en-US" altLang="zh-CN" sz="2000" b="1" dirty="0">
                <a:solidFill>
                  <a:schemeClr val="bg1"/>
                </a:solidFill>
                <a:latin typeface="微软雅黑" pitchFamily="34" charset="-122"/>
                <a:ea typeface="微软雅黑" pitchFamily="34" charset="-122"/>
              </a:rPr>
              <a:t>MPLS</a:t>
            </a:r>
          </a:p>
          <a:p>
            <a:pPr eaLnBrk="0" hangingPunct="0">
              <a:lnSpc>
                <a:spcPts val="3200"/>
              </a:lnSpc>
            </a:pPr>
            <a:r>
              <a:rPr lang="en-US" altLang="zh-CN" sz="2000" b="1" dirty="0">
                <a:solidFill>
                  <a:schemeClr val="bg1"/>
                </a:solidFill>
                <a:latin typeface="微软雅黑" pitchFamily="34" charset="-122"/>
                <a:ea typeface="微软雅黑" pitchFamily="34" charset="-122"/>
              </a:rPr>
              <a:t>4.10                            </a:t>
            </a:r>
            <a:r>
              <a:rPr lang="zh-CN" altLang="en-US" sz="2000" b="1" dirty="0">
                <a:solidFill>
                  <a:schemeClr val="bg1"/>
                </a:solidFill>
                <a:latin typeface="微软雅黑" pitchFamily="34" charset="-122"/>
                <a:ea typeface="微软雅黑" pitchFamily="34" charset="-122"/>
              </a:rPr>
              <a:t>软件定义网络 </a:t>
            </a:r>
            <a:r>
              <a:rPr lang="en-US" altLang="zh-CN" sz="2000" b="1" dirty="0">
                <a:solidFill>
                  <a:schemeClr val="bg1"/>
                </a:solidFill>
                <a:latin typeface="微软雅黑" pitchFamily="34" charset="-122"/>
                <a:ea typeface="微软雅黑" pitchFamily="34" charset="-122"/>
              </a:rPr>
              <a:t>SDN </a:t>
            </a:r>
            <a:r>
              <a:rPr lang="zh-CN" altLang="en-US" sz="2000" b="1" dirty="0">
                <a:solidFill>
                  <a:schemeClr val="bg1"/>
                </a:solidFill>
                <a:latin typeface="微软雅黑" pitchFamily="34" charset="-122"/>
                <a:ea typeface="微软雅黑" pitchFamily="34" charset="-122"/>
              </a:rPr>
              <a:t>简介</a:t>
            </a:r>
            <a:endParaRPr lang="en-US" altLang="zh-CN"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64356937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9"/>
          <p:cNvSpPr>
            <a:spLocks noChangeArrowheads="1"/>
          </p:cNvSpPr>
          <p:nvPr/>
        </p:nvSpPr>
        <p:spPr bwMode="auto">
          <a:xfrm>
            <a:off x="2629135" y="1335361"/>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3" name="Rectangle 10"/>
          <p:cNvSpPr>
            <a:spLocks noChangeArrowheads="1"/>
          </p:cNvSpPr>
          <p:nvPr/>
        </p:nvSpPr>
        <p:spPr bwMode="auto">
          <a:xfrm>
            <a:off x="2629135" y="1941786"/>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5" name="Line 16"/>
          <p:cNvSpPr>
            <a:spLocks noChangeShapeType="1"/>
          </p:cNvSpPr>
          <p:nvPr/>
        </p:nvSpPr>
        <p:spPr bwMode="auto">
          <a:xfrm>
            <a:off x="3637198" y="1263923"/>
            <a:ext cx="0" cy="1800225"/>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 name="Rectangle 8"/>
          <p:cNvSpPr>
            <a:spLocks noChangeArrowheads="1"/>
          </p:cNvSpPr>
          <p:nvPr/>
        </p:nvSpPr>
        <p:spPr bwMode="auto">
          <a:xfrm>
            <a:off x="2700573" y="1081361"/>
            <a:ext cx="5602506"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200000"/>
              </a:lnSpc>
            </a:pPr>
            <a:r>
              <a:rPr lang="en-US" altLang="zh-CN" sz="2000" b="1" dirty="0">
                <a:solidFill>
                  <a:schemeClr val="bg1"/>
                </a:solidFill>
                <a:latin typeface="微软雅黑" pitchFamily="34" charset="-122"/>
                <a:ea typeface="微软雅黑" pitchFamily="34" charset="-122"/>
              </a:rPr>
              <a:t>4.1.1                             </a:t>
            </a:r>
            <a:r>
              <a:rPr lang="zh-CN" altLang="en-US" sz="2000" b="1" dirty="0">
                <a:solidFill>
                  <a:schemeClr val="bg1"/>
                </a:solidFill>
                <a:latin typeface="微软雅黑" pitchFamily="34" charset="-122"/>
                <a:ea typeface="微软雅黑" pitchFamily="34" charset="-122"/>
              </a:rPr>
              <a:t>网络层提供的两种服务</a:t>
            </a:r>
          </a:p>
          <a:p>
            <a:pPr eaLnBrk="0" hangingPunct="0">
              <a:lnSpc>
                <a:spcPct val="200000"/>
              </a:lnSpc>
            </a:pPr>
            <a:r>
              <a:rPr lang="en-US" altLang="zh-CN" sz="2000" b="1" dirty="0">
                <a:solidFill>
                  <a:schemeClr val="bg1"/>
                </a:solidFill>
                <a:latin typeface="微软雅黑" pitchFamily="34" charset="-122"/>
                <a:ea typeface="微软雅黑" pitchFamily="34" charset="-122"/>
              </a:rPr>
              <a:t>4.1.2                                    </a:t>
            </a:r>
            <a:r>
              <a:rPr lang="zh-CN" altLang="en-US" sz="2000" b="1" dirty="0">
                <a:solidFill>
                  <a:schemeClr val="bg1"/>
                </a:solidFill>
                <a:latin typeface="微软雅黑" pitchFamily="34" charset="-122"/>
                <a:ea typeface="微软雅黑" pitchFamily="34" charset="-122"/>
              </a:rPr>
              <a:t>网络层的两个层面</a:t>
            </a:r>
          </a:p>
        </p:txBody>
      </p:sp>
      <p:sp>
        <p:nvSpPr>
          <p:cNvPr id="7" name="Rectangle 27"/>
          <p:cNvSpPr>
            <a:spLocks noChangeArrowheads="1"/>
          </p:cNvSpPr>
          <p:nvPr/>
        </p:nvSpPr>
        <p:spPr bwMode="auto">
          <a:xfrm>
            <a:off x="639730" y="1335361"/>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8" name="Rectangle 29"/>
          <p:cNvSpPr>
            <a:spLocks noChangeArrowheads="1"/>
          </p:cNvSpPr>
          <p:nvPr/>
        </p:nvSpPr>
        <p:spPr bwMode="auto">
          <a:xfrm>
            <a:off x="648619" y="1430293"/>
            <a:ext cx="1627651" cy="101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2000" b="1" dirty="0">
                <a:solidFill>
                  <a:srgbClr val="FFFF00"/>
                </a:solidFill>
                <a:latin typeface="微软雅黑" pitchFamily="34" charset="-122"/>
                <a:ea typeface="微软雅黑" pitchFamily="34" charset="-122"/>
              </a:rPr>
              <a:t>4</a:t>
            </a:r>
            <a:r>
              <a:rPr lang="fr-FR" altLang="zh-CN" sz="2000" b="1" dirty="0">
                <a:solidFill>
                  <a:srgbClr val="FFFF00"/>
                </a:solidFill>
                <a:latin typeface="微软雅黑" pitchFamily="34" charset="-122"/>
                <a:ea typeface="微软雅黑" pitchFamily="34" charset="-122"/>
              </a:rPr>
              <a:t>.1</a:t>
            </a:r>
          </a:p>
          <a:p>
            <a:pPr eaLnBrk="0" hangingPunct="0"/>
            <a:r>
              <a:rPr lang="zh-CN" altLang="en-US" sz="2000" b="1" dirty="0">
                <a:solidFill>
                  <a:schemeClr val="bg1"/>
                </a:solidFill>
                <a:latin typeface="微软雅黑" pitchFamily="34" charset="-122"/>
                <a:ea typeface="微软雅黑" pitchFamily="34" charset="-122"/>
              </a:rPr>
              <a:t>网络层的几个重要概念</a:t>
            </a:r>
            <a:endParaRPr lang="zh-CN" altLang="fr-FR"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372285683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466345" y="604556"/>
            <a:ext cx="8129015"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523204" y="553141"/>
            <a:ext cx="40975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4.1.1 </a:t>
            </a:r>
            <a:r>
              <a:rPr lang="zh-CN" altLang="en-US" sz="2400" b="1" dirty="0">
                <a:solidFill>
                  <a:schemeClr val="bg1"/>
                </a:solidFill>
                <a:latin typeface="微软雅黑" pitchFamily="34" charset="-122"/>
                <a:ea typeface="微软雅黑" pitchFamily="34" charset="-122"/>
              </a:rPr>
              <a:t>网络层提供的两种服务</a:t>
            </a:r>
          </a:p>
        </p:txBody>
      </p:sp>
      <p:sp>
        <p:nvSpPr>
          <p:cNvPr id="4" name="Rectangle 8"/>
          <p:cNvSpPr>
            <a:spLocks noChangeArrowheads="1"/>
          </p:cNvSpPr>
          <p:nvPr/>
        </p:nvSpPr>
        <p:spPr bwMode="auto">
          <a:xfrm>
            <a:off x="466346" y="1004505"/>
            <a:ext cx="8129014" cy="12464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ts val="3000"/>
              </a:lnSpc>
              <a:buClr>
                <a:srgbClr val="0070C0"/>
              </a:buClr>
            </a:pPr>
            <a:r>
              <a:rPr lang="zh-CN" altLang="en-US" sz="2000" b="1" dirty="0">
                <a:solidFill>
                  <a:srgbClr val="C00000"/>
                </a:solidFill>
                <a:latin typeface="微软雅黑" pitchFamily="34" charset="-122"/>
                <a:ea typeface="微软雅黑" pitchFamily="34" charset="-122"/>
              </a:rPr>
              <a:t>争论：</a:t>
            </a:r>
            <a:endParaRPr lang="en-US" altLang="zh-CN" sz="2000" b="1" dirty="0">
              <a:solidFill>
                <a:srgbClr val="C00000"/>
              </a:solidFill>
              <a:latin typeface="微软雅黑" pitchFamily="34" charset="-122"/>
              <a:ea typeface="微软雅黑" pitchFamily="34" charset="-122"/>
            </a:endParaRPr>
          </a:p>
          <a:p>
            <a:pPr marL="357188" indent="-3571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网络层应该向运输层提供怎样的服务？</a:t>
            </a:r>
            <a:r>
              <a:rPr lang="zh-CN" altLang="en-US" sz="2000" b="1" dirty="0">
                <a:solidFill>
                  <a:srgbClr val="C00000"/>
                </a:solidFill>
                <a:latin typeface="微软雅黑" pitchFamily="34" charset="-122"/>
                <a:ea typeface="微软雅黑" pitchFamily="34" charset="-122"/>
              </a:rPr>
              <a:t>面向连接</a:t>
            </a:r>
            <a:r>
              <a:rPr lang="zh-CN" altLang="en-US" sz="2000" b="1" dirty="0">
                <a:latin typeface="微软雅黑" pitchFamily="34" charset="-122"/>
                <a:ea typeface="微软雅黑" pitchFamily="34" charset="-122"/>
              </a:rPr>
              <a:t>还是</a:t>
            </a:r>
            <a:r>
              <a:rPr lang="zh-CN" altLang="en-US" sz="2000" b="1" dirty="0">
                <a:solidFill>
                  <a:srgbClr val="C00000"/>
                </a:solidFill>
                <a:latin typeface="微软雅黑" pitchFamily="34" charset="-122"/>
                <a:ea typeface="微软雅黑" pitchFamily="34" charset="-122"/>
              </a:rPr>
              <a:t>无连接？</a:t>
            </a:r>
            <a:endParaRPr lang="en-US" altLang="zh-CN" sz="2000" b="1" dirty="0">
              <a:solidFill>
                <a:srgbClr val="C00000"/>
              </a:solidFill>
              <a:latin typeface="微软雅黑" pitchFamily="34" charset="-122"/>
              <a:ea typeface="微软雅黑" pitchFamily="34" charset="-122"/>
            </a:endParaRPr>
          </a:p>
          <a:p>
            <a:pPr marL="357188" indent="-3571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在计算机通信中，</a:t>
            </a:r>
            <a:r>
              <a:rPr lang="zh-CN" altLang="en-US" sz="2000" b="1" dirty="0">
                <a:solidFill>
                  <a:srgbClr val="C00000"/>
                </a:solidFill>
                <a:latin typeface="微软雅黑" pitchFamily="34" charset="-122"/>
                <a:ea typeface="微软雅黑" pitchFamily="34" charset="-122"/>
              </a:rPr>
              <a:t>可靠交付</a:t>
            </a:r>
            <a:r>
              <a:rPr lang="zh-CN" altLang="en-US" sz="2000" b="1" dirty="0">
                <a:latin typeface="微软雅黑" pitchFamily="34" charset="-122"/>
                <a:ea typeface="微软雅黑" pitchFamily="34" charset="-122"/>
              </a:rPr>
              <a:t>应当由谁来负责？是</a:t>
            </a:r>
            <a:r>
              <a:rPr lang="zh-CN" altLang="en-US" sz="2000" b="1" dirty="0">
                <a:solidFill>
                  <a:srgbClr val="C00000"/>
                </a:solidFill>
                <a:latin typeface="微软雅黑" pitchFamily="34" charset="-122"/>
                <a:ea typeface="微软雅黑" pitchFamily="34" charset="-122"/>
              </a:rPr>
              <a:t>网络</a:t>
            </a:r>
            <a:r>
              <a:rPr lang="zh-CN" altLang="en-US" sz="2000" b="1" dirty="0">
                <a:latin typeface="微软雅黑" pitchFamily="34" charset="-122"/>
                <a:ea typeface="微软雅黑" pitchFamily="34" charset="-122"/>
              </a:rPr>
              <a:t>还是</a:t>
            </a:r>
            <a:r>
              <a:rPr lang="zh-CN" altLang="en-US" sz="2000" b="1" dirty="0">
                <a:solidFill>
                  <a:srgbClr val="C00000"/>
                </a:solidFill>
                <a:latin typeface="微软雅黑" pitchFamily="34" charset="-122"/>
                <a:ea typeface="微软雅黑" pitchFamily="34" charset="-122"/>
              </a:rPr>
              <a:t>端系统？</a:t>
            </a:r>
            <a:endParaRPr lang="en-US" altLang="zh-CN" sz="2000" b="1" dirty="0">
              <a:solidFill>
                <a:srgbClr val="C00000"/>
              </a:solidFill>
              <a:latin typeface="微软雅黑" pitchFamily="34" charset="-122"/>
              <a:ea typeface="微软雅黑" pitchFamily="34" charset="-122"/>
            </a:endParaRPr>
          </a:p>
        </p:txBody>
      </p:sp>
      <p:sp>
        <p:nvSpPr>
          <p:cNvPr id="5" name="Rectangle 8"/>
          <p:cNvSpPr>
            <a:spLocks noChangeArrowheads="1"/>
          </p:cNvSpPr>
          <p:nvPr/>
        </p:nvSpPr>
        <p:spPr bwMode="auto">
          <a:xfrm>
            <a:off x="466346" y="2358122"/>
            <a:ext cx="8129014" cy="12464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ts val="3000"/>
              </a:lnSpc>
              <a:buClr>
                <a:srgbClr val="0070C0"/>
              </a:buClr>
            </a:pPr>
            <a:r>
              <a:rPr lang="en-US" altLang="zh-CN" sz="2000" b="1" dirty="0">
                <a:solidFill>
                  <a:srgbClr val="0000FF"/>
                </a:solidFill>
                <a:latin typeface="微软雅黑" pitchFamily="34" charset="-122"/>
                <a:ea typeface="微软雅黑" pitchFamily="34" charset="-122"/>
              </a:rPr>
              <a:t>2 </a:t>
            </a:r>
            <a:r>
              <a:rPr lang="zh-CN" altLang="en-US" sz="2000" b="1" dirty="0">
                <a:solidFill>
                  <a:srgbClr val="0000FF"/>
                </a:solidFill>
                <a:latin typeface="微软雅黑" pitchFamily="34" charset="-122"/>
                <a:ea typeface="微软雅黑" pitchFamily="34" charset="-122"/>
              </a:rPr>
              <a:t>种观点：</a:t>
            </a:r>
            <a:endParaRPr lang="en-US" altLang="zh-CN" sz="2000" b="1" dirty="0">
              <a:solidFill>
                <a:srgbClr val="0000FF"/>
              </a:solidFill>
              <a:latin typeface="微软雅黑" pitchFamily="34" charset="-122"/>
              <a:ea typeface="微软雅黑" pitchFamily="34" charset="-122"/>
            </a:endParaRPr>
          </a:p>
          <a:p>
            <a:pPr marL="357188" indent="-3571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面向连接的可靠交付。</a:t>
            </a:r>
            <a:endParaRPr lang="en-US" altLang="zh-CN" sz="2000" b="1" dirty="0">
              <a:latin typeface="微软雅黑" pitchFamily="34" charset="-122"/>
              <a:ea typeface="微软雅黑" pitchFamily="34" charset="-122"/>
            </a:endParaRPr>
          </a:p>
          <a:p>
            <a:pPr marL="357188" indent="-3571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无连接的、尽最大努力交付的数据报服务，不提供服务质量的承诺。</a:t>
            </a:r>
          </a:p>
        </p:txBody>
      </p:sp>
    </p:spTree>
    <p:extLst>
      <p:ext uri="{BB962C8B-B14F-4D97-AF65-F5344CB8AC3E}">
        <p14:creationId xmlns:p14="http://schemas.microsoft.com/office/powerpoint/2010/main" val="364227213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2643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2655182" y="593221"/>
            <a:ext cx="385233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一种观点：让网络负责可靠交付</a:t>
            </a:r>
          </a:p>
        </p:txBody>
      </p:sp>
      <p:sp>
        <p:nvSpPr>
          <p:cNvPr id="7" name="Rectangle 68"/>
          <p:cNvSpPr>
            <a:spLocks noChangeArrowheads="1"/>
          </p:cNvSpPr>
          <p:nvPr/>
        </p:nvSpPr>
        <p:spPr bwMode="auto">
          <a:xfrm>
            <a:off x="556963" y="995747"/>
            <a:ext cx="8184960"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计算机网络</a:t>
            </a:r>
            <a:r>
              <a:rPr lang="zh-CN" altLang="en-US" sz="2000" b="1" dirty="0">
                <a:solidFill>
                  <a:srgbClr val="0000FF"/>
                </a:solidFill>
                <a:latin typeface="微软雅黑" pitchFamily="34" charset="-122"/>
                <a:ea typeface="微软雅黑" pitchFamily="34" charset="-122"/>
              </a:rPr>
              <a:t>模仿电信网络，</a:t>
            </a:r>
            <a:r>
              <a:rPr lang="zh-CN" altLang="en-US" sz="2000" b="1" dirty="0">
                <a:latin typeface="微软雅黑" pitchFamily="34" charset="-122"/>
                <a:ea typeface="微软雅黑" pitchFamily="34" charset="-122"/>
              </a:rPr>
              <a:t>使用</a:t>
            </a:r>
            <a:r>
              <a:rPr lang="zh-CN" altLang="en-US" sz="2000" b="1" dirty="0">
                <a:solidFill>
                  <a:srgbClr val="0000FF"/>
                </a:solidFill>
                <a:latin typeface="微软雅黑" pitchFamily="34" charset="-122"/>
                <a:ea typeface="微软雅黑" pitchFamily="34" charset="-122"/>
              </a:rPr>
              <a:t>面向连接</a:t>
            </a:r>
            <a:r>
              <a:rPr lang="zh-CN" altLang="en-US" sz="2000" b="1" dirty="0">
                <a:latin typeface="微软雅黑" pitchFamily="34" charset="-122"/>
                <a:ea typeface="微软雅黑" pitchFamily="34" charset="-122"/>
              </a:rPr>
              <a:t>的通信方式。</a:t>
            </a:r>
          </a:p>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通信之前先建立</a:t>
            </a:r>
            <a:r>
              <a:rPr lang="zh-CN" altLang="en-US" sz="2000" b="1" dirty="0">
                <a:solidFill>
                  <a:srgbClr val="0000FF"/>
                </a:solidFill>
                <a:latin typeface="微软雅黑" pitchFamily="34" charset="-122"/>
                <a:ea typeface="微软雅黑" pitchFamily="34" charset="-122"/>
              </a:rPr>
              <a:t>虚电路 </a:t>
            </a:r>
            <a:r>
              <a:rPr lang="en-US" altLang="zh-CN" sz="2000" b="1" dirty="0">
                <a:solidFill>
                  <a:srgbClr val="0000FF"/>
                </a:solidFill>
                <a:latin typeface="微软雅黑" pitchFamily="34" charset="-122"/>
                <a:ea typeface="微软雅黑" pitchFamily="34" charset="-122"/>
              </a:rPr>
              <a:t>VC</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(Virtual Circuit) (</a:t>
            </a:r>
            <a:r>
              <a:rPr lang="zh-CN" altLang="en-US" sz="2000" b="1" dirty="0">
                <a:latin typeface="微软雅黑" pitchFamily="34" charset="-122"/>
                <a:ea typeface="微软雅黑" pitchFamily="34" charset="-122"/>
              </a:rPr>
              <a:t>即连接</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，以保证双方通信所需的一切网络资源。 </a:t>
            </a:r>
          </a:p>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如果再使用</a:t>
            </a:r>
            <a:r>
              <a:rPr lang="zh-CN" altLang="en-US" sz="2000" b="1" dirty="0">
                <a:solidFill>
                  <a:srgbClr val="C00000"/>
                </a:solidFill>
                <a:latin typeface="微软雅黑" pitchFamily="34" charset="-122"/>
                <a:ea typeface="微软雅黑" pitchFamily="34" charset="-122"/>
              </a:rPr>
              <a:t>可靠传输</a:t>
            </a:r>
            <a:r>
              <a:rPr lang="zh-CN" altLang="en-US" sz="2000" b="1" dirty="0">
                <a:latin typeface="微软雅黑" pitchFamily="34" charset="-122"/>
                <a:ea typeface="微软雅黑" pitchFamily="34" charset="-122"/>
              </a:rPr>
              <a:t>的网络协议，可使所发送的分组无差错按序到达终点，不丢失、不重复。</a:t>
            </a:r>
          </a:p>
        </p:txBody>
      </p:sp>
    </p:spTree>
    <p:extLst>
      <p:ext uri="{BB962C8B-B14F-4D97-AF65-F5344CB8AC3E}">
        <p14:creationId xmlns:p14="http://schemas.microsoft.com/office/powerpoint/2010/main" val="261690221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圆角矩形 10"/>
          <p:cNvSpPr/>
          <p:nvPr/>
        </p:nvSpPr>
        <p:spPr>
          <a:xfrm>
            <a:off x="545144" y="1048114"/>
            <a:ext cx="8053711" cy="266987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Rectangle 14"/>
          <p:cNvSpPr>
            <a:spLocks noChangeArrowheads="1"/>
          </p:cNvSpPr>
          <p:nvPr/>
        </p:nvSpPr>
        <p:spPr bwMode="auto">
          <a:xfrm>
            <a:off x="6737840" y="1303018"/>
            <a:ext cx="1163625" cy="1153056"/>
          </a:xfrm>
          <a:prstGeom prst="rect">
            <a:avLst/>
          </a:prstGeom>
          <a:solidFill>
            <a:srgbClr val="00FFFF"/>
          </a:solidFill>
          <a:ln w="28575">
            <a:solidFill>
              <a:srgbClr val="3333CC"/>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9" name="Rectangle 9"/>
          <p:cNvSpPr>
            <a:spLocks noChangeArrowheads="1"/>
          </p:cNvSpPr>
          <p:nvPr/>
        </p:nvSpPr>
        <p:spPr bwMode="auto">
          <a:xfrm>
            <a:off x="1185800" y="1249669"/>
            <a:ext cx="1163627" cy="1140931"/>
          </a:xfrm>
          <a:prstGeom prst="rect">
            <a:avLst/>
          </a:prstGeom>
          <a:solidFill>
            <a:srgbClr val="99FFCC"/>
          </a:solidFill>
          <a:ln w="28575">
            <a:solidFill>
              <a:srgbClr val="3333CC"/>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9" name="AutoShape 5"/>
          <p:cNvSpPr>
            <a:spLocks noChangeArrowheads="1"/>
          </p:cNvSpPr>
          <p:nvPr/>
        </p:nvSpPr>
        <p:spPr bwMode="auto">
          <a:xfrm>
            <a:off x="545144" y="630799"/>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0" name="Rectangle 6"/>
          <p:cNvSpPr>
            <a:spLocks noChangeArrowheads="1"/>
          </p:cNvSpPr>
          <p:nvPr/>
        </p:nvSpPr>
        <p:spPr bwMode="auto">
          <a:xfrm>
            <a:off x="3829821" y="607709"/>
            <a:ext cx="14670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虚电路服务</a:t>
            </a:r>
          </a:p>
        </p:txBody>
      </p:sp>
      <p:sp>
        <p:nvSpPr>
          <p:cNvPr id="13" name="Rectangle 2"/>
          <p:cNvSpPr>
            <a:spLocks noChangeArrowheads="1"/>
          </p:cNvSpPr>
          <p:nvPr/>
        </p:nvSpPr>
        <p:spPr bwMode="auto">
          <a:xfrm>
            <a:off x="6753601" y="1797704"/>
            <a:ext cx="1147864" cy="229156"/>
          </a:xfrm>
          <a:prstGeom prst="rect">
            <a:avLst/>
          </a:prstGeom>
          <a:solidFill>
            <a:srgbClr val="FFFF00"/>
          </a:solidFill>
          <a:ln>
            <a:noFill/>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5" name="Rectangle 4"/>
          <p:cNvSpPr>
            <a:spLocks noChangeArrowheads="1"/>
          </p:cNvSpPr>
          <p:nvPr/>
        </p:nvSpPr>
        <p:spPr bwMode="auto">
          <a:xfrm>
            <a:off x="1201562" y="1732231"/>
            <a:ext cx="1133614" cy="229156"/>
          </a:xfrm>
          <a:prstGeom prst="rect">
            <a:avLst/>
          </a:prstGeom>
          <a:solidFill>
            <a:srgbClr val="FFFF00"/>
          </a:solidFill>
          <a:ln>
            <a:noFill/>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7" name="Line 7"/>
          <p:cNvSpPr>
            <a:spLocks noChangeShapeType="1"/>
          </p:cNvSpPr>
          <p:nvPr/>
        </p:nvSpPr>
        <p:spPr bwMode="auto">
          <a:xfrm>
            <a:off x="4554186" y="1440026"/>
            <a:ext cx="44862" cy="429213"/>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8" name="Line 8"/>
          <p:cNvSpPr>
            <a:spLocks noChangeShapeType="1"/>
          </p:cNvSpPr>
          <p:nvPr/>
        </p:nvSpPr>
        <p:spPr bwMode="auto">
          <a:xfrm>
            <a:off x="2574228" y="2102033"/>
            <a:ext cx="387989" cy="19763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0" name="Line 10"/>
          <p:cNvSpPr>
            <a:spLocks noChangeShapeType="1"/>
          </p:cNvSpPr>
          <p:nvPr/>
        </p:nvSpPr>
        <p:spPr bwMode="auto">
          <a:xfrm>
            <a:off x="1185800" y="1511562"/>
            <a:ext cx="116362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 name="Line 11"/>
          <p:cNvSpPr>
            <a:spLocks noChangeShapeType="1"/>
          </p:cNvSpPr>
          <p:nvPr/>
        </p:nvSpPr>
        <p:spPr bwMode="auto">
          <a:xfrm>
            <a:off x="1185800" y="1732231"/>
            <a:ext cx="116362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2" name="Line 12"/>
          <p:cNvSpPr>
            <a:spLocks noChangeShapeType="1"/>
          </p:cNvSpPr>
          <p:nvPr/>
        </p:nvSpPr>
        <p:spPr bwMode="auto">
          <a:xfrm>
            <a:off x="1185800" y="1952900"/>
            <a:ext cx="116362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3" name="Line 13"/>
          <p:cNvSpPr>
            <a:spLocks noChangeShapeType="1"/>
          </p:cNvSpPr>
          <p:nvPr/>
        </p:nvSpPr>
        <p:spPr bwMode="auto">
          <a:xfrm>
            <a:off x="1185800" y="2173569"/>
            <a:ext cx="116362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5" name="Line 15"/>
          <p:cNvSpPr>
            <a:spLocks noChangeShapeType="1"/>
          </p:cNvSpPr>
          <p:nvPr/>
        </p:nvSpPr>
        <p:spPr bwMode="auto">
          <a:xfrm>
            <a:off x="6737840" y="1577035"/>
            <a:ext cx="116362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6" name="Line 16"/>
          <p:cNvSpPr>
            <a:spLocks noChangeShapeType="1"/>
          </p:cNvSpPr>
          <p:nvPr/>
        </p:nvSpPr>
        <p:spPr bwMode="auto">
          <a:xfrm>
            <a:off x="6737840" y="1797704"/>
            <a:ext cx="116362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 name="Line 17"/>
          <p:cNvSpPr>
            <a:spLocks noChangeShapeType="1"/>
          </p:cNvSpPr>
          <p:nvPr/>
        </p:nvSpPr>
        <p:spPr bwMode="auto">
          <a:xfrm>
            <a:off x="6737840" y="2018373"/>
            <a:ext cx="116362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8" name="Line 18"/>
          <p:cNvSpPr>
            <a:spLocks noChangeShapeType="1"/>
          </p:cNvSpPr>
          <p:nvPr/>
        </p:nvSpPr>
        <p:spPr bwMode="auto">
          <a:xfrm>
            <a:off x="6737840" y="2239042"/>
            <a:ext cx="116362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9" name="Text Box 19"/>
          <p:cNvSpPr txBox="1">
            <a:spLocks noChangeArrowheads="1"/>
          </p:cNvSpPr>
          <p:nvPr/>
        </p:nvSpPr>
        <p:spPr bwMode="auto">
          <a:xfrm>
            <a:off x="2472703" y="1279254"/>
            <a:ext cx="43794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H</a:t>
            </a:r>
            <a:r>
              <a:rPr kumimoji="0" lang="en-US" altLang="zh-CN" sz="1600" b="1" i="0" u="none" strike="noStrike" kern="0" cap="none" spc="0" normalizeH="0" baseline="-25000" noProof="0" dirty="0">
                <a:ln>
                  <a:noFill/>
                </a:ln>
                <a:effectLst/>
                <a:uLnTx/>
                <a:uFillTx/>
                <a:latin typeface="微软雅黑" pitchFamily="34" charset="-122"/>
                <a:ea typeface="微软雅黑" pitchFamily="34" charset="-122"/>
              </a:rPr>
              <a:t>1</a:t>
            </a:r>
          </a:p>
        </p:txBody>
      </p:sp>
      <p:sp>
        <p:nvSpPr>
          <p:cNvPr id="31" name="Line 21"/>
          <p:cNvSpPr>
            <a:spLocks noChangeShapeType="1"/>
          </p:cNvSpPr>
          <p:nvPr/>
        </p:nvSpPr>
        <p:spPr bwMode="auto">
          <a:xfrm>
            <a:off x="3219260" y="2299666"/>
            <a:ext cx="1228229" cy="46316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 name="Line 22"/>
          <p:cNvSpPr>
            <a:spLocks noChangeShapeType="1"/>
          </p:cNvSpPr>
          <p:nvPr/>
        </p:nvSpPr>
        <p:spPr bwMode="auto">
          <a:xfrm flipV="1">
            <a:off x="3154999" y="1968662"/>
            <a:ext cx="1422224" cy="331004"/>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3" name="Line 23"/>
          <p:cNvSpPr>
            <a:spLocks noChangeShapeType="1"/>
          </p:cNvSpPr>
          <p:nvPr/>
        </p:nvSpPr>
        <p:spPr bwMode="auto">
          <a:xfrm>
            <a:off x="4705745" y="1968662"/>
            <a:ext cx="1163968" cy="39647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4" name="Line 24"/>
          <p:cNvSpPr>
            <a:spLocks noChangeShapeType="1"/>
          </p:cNvSpPr>
          <p:nvPr/>
        </p:nvSpPr>
        <p:spPr bwMode="auto">
          <a:xfrm flipV="1">
            <a:off x="4577223" y="2433037"/>
            <a:ext cx="1292490" cy="329791"/>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5" name="Line 25"/>
          <p:cNvSpPr>
            <a:spLocks noChangeShapeType="1"/>
          </p:cNvSpPr>
          <p:nvPr/>
        </p:nvSpPr>
        <p:spPr bwMode="auto">
          <a:xfrm flipV="1">
            <a:off x="5933974" y="2102033"/>
            <a:ext cx="516511" cy="263106"/>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7" name="Text Box 27"/>
          <p:cNvSpPr txBox="1">
            <a:spLocks noChangeArrowheads="1"/>
          </p:cNvSpPr>
          <p:nvPr/>
        </p:nvSpPr>
        <p:spPr bwMode="auto">
          <a:xfrm>
            <a:off x="6111327" y="1277526"/>
            <a:ext cx="499094" cy="33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 H</a:t>
            </a:r>
            <a:r>
              <a:rPr kumimoji="0" lang="en-US" altLang="zh-CN" sz="1600" b="1" i="0" u="none" strike="noStrike" kern="0" cap="none" spc="0" normalizeH="0" baseline="-25000" noProof="0" dirty="0">
                <a:ln>
                  <a:noFill/>
                </a:ln>
                <a:effectLst/>
                <a:uLnTx/>
                <a:uFillTx/>
                <a:latin typeface="微软雅黑" pitchFamily="34" charset="-122"/>
                <a:ea typeface="微软雅黑" pitchFamily="34" charset="-122"/>
              </a:rPr>
              <a:t>2</a:t>
            </a:r>
          </a:p>
        </p:txBody>
      </p:sp>
      <p:sp>
        <p:nvSpPr>
          <p:cNvPr id="37" name="Line 29"/>
          <p:cNvSpPr>
            <a:spLocks noChangeShapeType="1"/>
          </p:cNvSpPr>
          <p:nvPr/>
        </p:nvSpPr>
        <p:spPr bwMode="auto">
          <a:xfrm flipV="1">
            <a:off x="3154999" y="1373341"/>
            <a:ext cx="1356751" cy="86085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 name="Line 30"/>
          <p:cNvSpPr>
            <a:spLocks noChangeShapeType="1"/>
          </p:cNvSpPr>
          <p:nvPr/>
        </p:nvSpPr>
        <p:spPr bwMode="auto">
          <a:xfrm>
            <a:off x="4641484" y="1373341"/>
            <a:ext cx="1292490" cy="926325"/>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pic>
        <p:nvPicPr>
          <p:cNvPr id="39" name="Picture 3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882194" y="2167506"/>
            <a:ext cx="466799" cy="2643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0" name="Picture 3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83229" y="1836503"/>
            <a:ext cx="468012" cy="2655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1" name="Picture 3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253494" y="2630669"/>
            <a:ext cx="468012" cy="2655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2" name="Picture 3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75718" y="2234193"/>
            <a:ext cx="468012" cy="2643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3" name="Picture 3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17755" y="1239969"/>
            <a:ext cx="468012" cy="2643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4" name="Freeform 36"/>
          <p:cNvSpPr>
            <a:spLocks/>
          </p:cNvSpPr>
          <p:nvPr/>
        </p:nvSpPr>
        <p:spPr bwMode="auto">
          <a:xfrm>
            <a:off x="2182601" y="1854690"/>
            <a:ext cx="4721347" cy="632908"/>
          </a:xfrm>
          <a:custGeom>
            <a:avLst/>
            <a:gdLst>
              <a:gd name="T0" fmla="*/ 0 w 3314"/>
              <a:gd name="T1" fmla="*/ 0 h 433"/>
              <a:gd name="T2" fmla="*/ 184 w 3314"/>
              <a:gd name="T3" fmla="*/ 158 h 433"/>
              <a:gd name="T4" fmla="*/ 275 w 3314"/>
              <a:gd name="T5" fmla="*/ 249 h 433"/>
              <a:gd name="T6" fmla="*/ 362 w 3314"/>
              <a:gd name="T7" fmla="*/ 300 h 433"/>
              <a:gd name="T8" fmla="*/ 494 w 3314"/>
              <a:gd name="T9" fmla="*/ 364 h 433"/>
              <a:gd name="T10" fmla="*/ 683 w 3314"/>
              <a:gd name="T11" fmla="*/ 385 h 433"/>
              <a:gd name="T12" fmla="*/ 955 w 3314"/>
              <a:gd name="T13" fmla="*/ 339 h 433"/>
              <a:gd name="T14" fmla="*/ 1498 w 3314"/>
              <a:gd name="T15" fmla="*/ 216 h 433"/>
              <a:gd name="T16" fmla="*/ 1854 w 3314"/>
              <a:gd name="T17" fmla="*/ 216 h 433"/>
              <a:gd name="T18" fmla="*/ 2210 w 3314"/>
              <a:gd name="T19" fmla="*/ 316 h 433"/>
              <a:gd name="T20" fmla="*/ 2450 w 3314"/>
              <a:gd name="T21" fmla="*/ 392 h 433"/>
              <a:gd name="T22" fmla="*/ 2633 w 3314"/>
              <a:gd name="T23" fmla="*/ 430 h 433"/>
              <a:gd name="T24" fmla="*/ 2834 w 3314"/>
              <a:gd name="T25" fmla="*/ 372 h 433"/>
              <a:gd name="T26" fmla="*/ 2994 w 3314"/>
              <a:gd name="T27" fmla="*/ 276 h 433"/>
              <a:gd name="T28" fmla="*/ 3314 w 3314"/>
              <a:gd name="T29" fmla="*/ 22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14" h="433">
                <a:moveTo>
                  <a:pt x="0" y="0"/>
                </a:moveTo>
                <a:cubicBezTo>
                  <a:pt x="27" y="26"/>
                  <a:pt x="138" y="116"/>
                  <a:pt x="184" y="158"/>
                </a:cubicBezTo>
                <a:cubicBezTo>
                  <a:pt x="230" y="200"/>
                  <a:pt x="245" y="225"/>
                  <a:pt x="275" y="249"/>
                </a:cubicBezTo>
                <a:cubicBezTo>
                  <a:pt x="305" y="273"/>
                  <a:pt x="326" y="281"/>
                  <a:pt x="362" y="300"/>
                </a:cubicBezTo>
                <a:cubicBezTo>
                  <a:pt x="398" y="319"/>
                  <a:pt x="441" y="350"/>
                  <a:pt x="494" y="364"/>
                </a:cubicBezTo>
                <a:cubicBezTo>
                  <a:pt x="547" y="378"/>
                  <a:pt x="606" y="389"/>
                  <a:pt x="683" y="385"/>
                </a:cubicBezTo>
                <a:cubicBezTo>
                  <a:pt x="760" y="381"/>
                  <a:pt x="819" y="367"/>
                  <a:pt x="955" y="339"/>
                </a:cubicBezTo>
                <a:cubicBezTo>
                  <a:pt x="1091" y="311"/>
                  <a:pt x="1348" y="236"/>
                  <a:pt x="1498" y="216"/>
                </a:cubicBezTo>
                <a:cubicBezTo>
                  <a:pt x="1648" y="196"/>
                  <a:pt x="1735" y="199"/>
                  <a:pt x="1854" y="216"/>
                </a:cubicBezTo>
                <a:cubicBezTo>
                  <a:pt x="1973" y="233"/>
                  <a:pt x="2111" y="287"/>
                  <a:pt x="2210" y="316"/>
                </a:cubicBezTo>
                <a:cubicBezTo>
                  <a:pt x="2309" y="345"/>
                  <a:pt x="2380" y="373"/>
                  <a:pt x="2450" y="392"/>
                </a:cubicBezTo>
                <a:cubicBezTo>
                  <a:pt x="2520" y="411"/>
                  <a:pt x="2569" y="433"/>
                  <a:pt x="2633" y="430"/>
                </a:cubicBezTo>
                <a:cubicBezTo>
                  <a:pt x="2697" y="427"/>
                  <a:pt x="2774" y="398"/>
                  <a:pt x="2834" y="372"/>
                </a:cubicBezTo>
                <a:cubicBezTo>
                  <a:pt x="2894" y="346"/>
                  <a:pt x="2914" y="334"/>
                  <a:pt x="2994" y="276"/>
                </a:cubicBezTo>
                <a:cubicBezTo>
                  <a:pt x="3074" y="218"/>
                  <a:pt x="3247" y="75"/>
                  <a:pt x="3314" y="22"/>
                </a:cubicBezTo>
              </a:path>
            </a:pathLst>
          </a:custGeom>
          <a:noFill/>
          <a:ln w="57150" cmpd="sng">
            <a:solidFill>
              <a:srgbClr val="FF00FF"/>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5" name="Text Box 37"/>
          <p:cNvSpPr txBox="1">
            <a:spLocks noChangeArrowheads="1"/>
          </p:cNvSpPr>
          <p:nvPr/>
        </p:nvSpPr>
        <p:spPr bwMode="auto">
          <a:xfrm>
            <a:off x="4188911" y="2174781"/>
            <a:ext cx="80502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600" b="1" i="0" u="none" strike="noStrike" kern="0" cap="none" spc="0" normalizeH="0" baseline="0" noProof="0" dirty="0">
                <a:ln>
                  <a:noFill/>
                </a:ln>
                <a:effectLst/>
                <a:uLnTx/>
                <a:uFillTx/>
                <a:latin typeface="微软雅黑" pitchFamily="34" charset="-122"/>
                <a:ea typeface="微软雅黑" pitchFamily="34" charset="-122"/>
              </a:rPr>
              <a:t>虚电路</a:t>
            </a:r>
            <a:endParaRPr kumimoji="0" lang="zh-CN" altLang="en-US" sz="1600" b="1" i="0" u="none" strike="noStrike" kern="0" cap="none" spc="0" normalizeH="0" baseline="-25000" noProof="0" dirty="0">
              <a:ln>
                <a:noFill/>
              </a:ln>
              <a:effectLst/>
              <a:uLnTx/>
              <a:uFillTx/>
              <a:latin typeface="微软雅黑" pitchFamily="34" charset="-122"/>
              <a:ea typeface="微软雅黑" pitchFamily="34" charset="-122"/>
            </a:endParaRPr>
          </a:p>
        </p:txBody>
      </p:sp>
      <p:sp>
        <p:nvSpPr>
          <p:cNvPr id="46" name="Text Box 38"/>
          <p:cNvSpPr txBox="1">
            <a:spLocks noChangeArrowheads="1"/>
          </p:cNvSpPr>
          <p:nvPr/>
        </p:nvSpPr>
        <p:spPr bwMode="auto">
          <a:xfrm>
            <a:off x="1867631" y="3113290"/>
            <a:ext cx="5344733" cy="369332"/>
          </a:xfrm>
          <a:prstGeom prst="rect">
            <a:avLst/>
          </a:prstGeom>
          <a:solidFill>
            <a:srgbClr val="0000FF"/>
          </a:solidFill>
          <a:ln w="9525">
            <a:solidFill>
              <a:srgbClr val="3333CC"/>
            </a:solidFill>
            <a:miter lim="800000"/>
            <a:headEnd/>
            <a:tailEnd/>
          </a:ln>
          <a:effec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b="1" i="0" u="none" strike="noStrike" kern="0" cap="none" spc="0" normalizeH="0" baseline="0" noProof="0" dirty="0">
                <a:ln>
                  <a:noFill/>
                </a:ln>
                <a:solidFill>
                  <a:schemeClr val="bg1"/>
                </a:solidFill>
                <a:effectLst/>
                <a:uLnTx/>
                <a:uFillTx/>
                <a:latin typeface="微软雅黑" pitchFamily="34" charset="-122"/>
                <a:ea typeface="微软雅黑" pitchFamily="34" charset="-122"/>
              </a:rPr>
              <a:t>H</a:t>
            </a:r>
            <a:r>
              <a:rPr kumimoji="0" lang="en-US" altLang="zh-CN" b="1" i="0" u="none" strike="noStrike" kern="0" cap="none" spc="0" normalizeH="0" baseline="-25000" noProof="0" dirty="0">
                <a:ln>
                  <a:noFill/>
                </a:ln>
                <a:solidFill>
                  <a:schemeClr val="bg1"/>
                </a:solidFill>
                <a:effectLst/>
                <a:uLnTx/>
                <a:uFillTx/>
                <a:latin typeface="微软雅黑" pitchFamily="34" charset="-122"/>
                <a:ea typeface="微软雅黑" pitchFamily="34" charset="-122"/>
              </a:rPr>
              <a:t>1</a:t>
            </a:r>
            <a:r>
              <a:rPr kumimoji="0" lang="en-US" altLang="zh-CN" b="1" i="0" u="none" strike="noStrike" kern="0" cap="none" spc="0" normalizeH="0" baseline="0" noProof="0" dirty="0">
                <a:ln>
                  <a:noFill/>
                </a:ln>
                <a:solidFill>
                  <a:schemeClr val="bg1"/>
                </a:solidFill>
                <a:effectLst/>
                <a:uLnTx/>
                <a:uFillTx/>
                <a:latin typeface="微软雅黑" pitchFamily="34" charset="-122"/>
                <a:ea typeface="微软雅黑" pitchFamily="34" charset="-122"/>
              </a:rPr>
              <a:t> </a:t>
            </a:r>
            <a:r>
              <a:rPr kumimoji="0" lang="zh-CN" altLang="en-US" b="1" i="0" u="none" strike="noStrike" kern="0" cap="none" spc="0" normalizeH="0" baseline="0" noProof="0" dirty="0">
                <a:ln>
                  <a:noFill/>
                </a:ln>
                <a:solidFill>
                  <a:schemeClr val="bg1"/>
                </a:solidFill>
                <a:effectLst/>
                <a:uLnTx/>
                <a:uFillTx/>
                <a:latin typeface="微软雅黑" pitchFamily="34" charset="-122"/>
                <a:ea typeface="微软雅黑" pitchFamily="34" charset="-122"/>
              </a:rPr>
              <a:t>发送给 </a:t>
            </a:r>
            <a:r>
              <a:rPr kumimoji="0" lang="en-US" altLang="zh-CN" b="1" i="0" u="none" strike="noStrike" kern="0" cap="none" spc="0" normalizeH="0" baseline="0" noProof="0" dirty="0">
                <a:ln>
                  <a:noFill/>
                </a:ln>
                <a:solidFill>
                  <a:schemeClr val="bg1"/>
                </a:solidFill>
                <a:effectLst/>
                <a:uLnTx/>
                <a:uFillTx/>
                <a:latin typeface="微软雅黑" pitchFamily="34" charset="-122"/>
                <a:ea typeface="微软雅黑" pitchFamily="34" charset="-122"/>
              </a:rPr>
              <a:t>H</a:t>
            </a:r>
            <a:r>
              <a:rPr kumimoji="0" lang="en-US" altLang="zh-CN" b="1" i="0" u="none" strike="noStrike" kern="0" cap="none" spc="0" normalizeH="0" baseline="-25000" noProof="0" dirty="0">
                <a:ln>
                  <a:noFill/>
                </a:ln>
                <a:solidFill>
                  <a:schemeClr val="bg1"/>
                </a:solidFill>
                <a:effectLst/>
                <a:uLnTx/>
                <a:uFillTx/>
                <a:latin typeface="微软雅黑" pitchFamily="34" charset="-122"/>
                <a:ea typeface="微软雅黑" pitchFamily="34" charset="-122"/>
              </a:rPr>
              <a:t>2</a:t>
            </a:r>
            <a:r>
              <a:rPr kumimoji="0" lang="en-US" altLang="zh-CN" b="1" i="0" u="none" strike="noStrike" kern="0" cap="none" spc="0" normalizeH="0" baseline="0" noProof="0" dirty="0">
                <a:ln>
                  <a:noFill/>
                </a:ln>
                <a:solidFill>
                  <a:schemeClr val="bg1"/>
                </a:solidFill>
                <a:effectLst/>
                <a:uLnTx/>
                <a:uFillTx/>
                <a:latin typeface="微软雅黑" pitchFamily="34" charset="-122"/>
                <a:ea typeface="微软雅黑" pitchFamily="34" charset="-122"/>
              </a:rPr>
              <a:t> </a:t>
            </a:r>
            <a:r>
              <a:rPr kumimoji="0" lang="zh-CN" altLang="en-US" b="1" i="0" u="none" strike="noStrike" kern="0" cap="none" spc="0" normalizeH="0" baseline="0" noProof="0" dirty="0">
                <a:ln>
                  <a:noFill/>
                </a:ln>
                <a:solidFill>
                  <a:schemeClr val="bg1"/>
                </a:solidFill>
                <a:effectLst/>
                <a:uLnTx/>
                <a:uFillTx/>
                <a:latin typeface="微软雅黑" pitchFamily="34" charset="-122"/>
                <a:ea typeface="微软雅黑" pitchFamily="34" charset="-122"/>
              </a:rPr>
              <a:t>的所有分组都沿着同一条虚电路传送</a:t>
            </a:r>
          </a:p>
        </p:txBody>
      </p:sp>
      <p:pic>
        <p:nvPicPr>
          <p:cNvPr id="52"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90867" y="1584357"/>
            <a:ext cx="571350" cy="571350"/>
          </a:xfrm>
          <a:prstGeom prst="rect">
            <a:avLst/>
          </a:prstGeom>
          <a:noFill/>
          <a:extLst>
            <a:ext uri="{909E8E84-426E-40DD-AFC4-6F175D3DCCD1}">
              <a14:hiddenFill xmlns:a14="http://schemas.microsoft.com/office/drawing/2010/main">
                <a:solidFill>
                  <a:srgbClr val="FFFFFF"/>
                </a:solidFill>
              </a14:hiddenFill>
            </a:ext>
          </a:extLst>
        </p:spPr>
      </p:pic>
      <p:pic>
        <p:nvPicPr>
          <p:cNvPr id="5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111327" y="1584357"/>
            <a:ext cx="571350" cy="571350"/>
          </a:xfrm>
          <a:prstGeom prst="rect">
            <a:avLst/>
          </a:prstGeom>
          <a:noFill/>
          <a:extLst>
            <a:ext uri="{909E8E84-426E-40DD-AFC4-6F175D3DCCD1}">
              <a14:hiddenFill xmlns:a14="http://schemas.microsoft.com/office/drawing/2010/main">
                <a:solidFill>
                  <a:srgbClr val="FFFFFF"/>
                </a:solidFill>
              </a14:hiddenFill>
            </a:ext>
          </a:extLst>
        </p:spPr>
      </p:pic>
      <p:sp>
        <p:nvSpPr>
          <p:cNvPr id="54" name="Text Box 5"/>
          <p:cNvSpPr txBox="1">
            <a:spLocks noChangeArrowheads="1"/>
          </p:cNvSpPr>
          <p:nvPr/>
        </p:nvSpPr>
        <p:spPr bwMode="auto">
          <a:xfrm>
            <a:off x="1153557" y="1222179"/>
            <a:ext cx="1267557" cy="12464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eaLnBrk="1" fontAlgn="auto" latinLnBrk="0" hangingPunct="1">
              <a:lnSpc>
                <a:spcPts val="18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应用层</a:t>
            </a:r>
          </a:p>
          <a:p>
            <a:pPr marL="0" marR="0" lvl="0" indent="0" algn="ctr" defTabSz="914400" eaLnBrk="1" fontAlgn="auto" latinLnBrk="0" hangingPunct="1">
              <a:lnSpc>
                <a:spcPts val="18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运输层</a:t>
            </a:r>
          </a:p>
          <a:p>
            <a:pPr marL="0" marR="0" lvl="0" indent="0" algn="ctr" defTabSz="914400" eaLnBrk="1" fontAlgn="auto" latinLnBrk="0" hangingPunct="1">
              <a:lnSpc>
                <a:spcPts val="18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网络层</a:t>
            </a:r>
          </a:p>
          <a:p>
            <a:pPr marL="0" marR="0" lvl="0" indent="0" algn="ctr" defTabSz="914400" eaLnBrk="1" fontAlgn="auto" latinLnBrk="0" hangingPunct="1">
              <a:lnSpc>
                <a:spcPts val="18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数据链路层</a:t>
            </a:r>
          </a:p>
          <a:p>
            <a:pPr marL="0" marR="0" lvl="0" indent="0" algn="ctr" defTabSz="914400" eaLnBrk="1" fontAlgn="auto" latinLnBrk="0" hangingPunct="1">
              <a:lnSpc>
                <a:spcPts val="18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物理层</a:t>
            </a:r>
          </a:p>
        </p:txBody>
      </p:sp>
      <p:sp>
        <p:nvSpPr>
          <p:cNvPr id="55" name="Text Box 3"/>
          <p:cNvSpPr txBox="1">
            <a:spLocks noChangeArrowheads="1"/>
          </p:cNvSpPr>
          <p:nvPr/>
        </p:nvSpPr>
        <p:spPr bwMode="auto">
          <a:xfrm>
            <a:off x="6705596" y="1287652"/>
            <a:ext cx="1267557" cy="12464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eaLnBrk="1" fontAlgn="auto" latinLnBrk="0" hangingPunct="1">
              <a:lnSpc>
                <a:spcPts val="18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应用层</a:t>
            </a:r>
          </a:p>
          <a:p>
            <a:pPr marL="0" marR="0" lvl="0" indent="0" algn="ctr" defTabSz="914400" eaLnBrk="1" fontAlgn="auto" latinLnBrk="0" hangingPunct="1">
              <a:lnSpc>
                <a:spcPts val="18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运输层</a:t>
            </a:r>
          </a:p>
          <a:p>
            <a:pPr marL="0" marR="0" lvl="0" indent="0" algn="ctr" defTabSz="914400" eaLnBrk="1" fontAlgn="auto" latinLnBrk="0" hangingPunct="1">
              <a:lnSpc>
                <a:spcPts val="18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网络层</a:t>
            </a:r>
          </a:p>
          <a:p>
            <a:pPr marL="0" marR="0" lvl="0" indent="0" algn="ctr" defTabSz="914400" eaLnBrk="1" fontAlgn="auto" latinLnBrk="0" hangingPunct="1">
              <a:lnSpc>
                <a:spcPts val="18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数据链路层</a:t>
            </a:r>
          </a:p>
          <a:p>
            <a:pPr marL="0" marR="0" lvl="0" indent="0" algn="ctr" defTabSz="914400" eaLnBrk="1" fontAlgn="auto" latinLnBrk="0" hangingPunct="1">
              <a:lnSpc>
                <a:spcPts val="18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物理层</a:t>
            </a:r>
          </a:p>
        </p:txBody>
      </p:sp>
      <p:sp>
        <p:nvSpPr>
          <p:cNvPr id="2" name="矩形 1"/>
          <p:cNvSpPr/>
          <p:nvPr/>
        </p:nvSpPr>
        <p:spPr>
          <a:xfrm>
            <a:off x="1337724" y="3807992"/>
            <a:ext cx="6719348" cy="759182"/>
          </a:xfrm>
          <a:prstGeom prst="rect">
            <a:avLst/>
          </a:prstGeom>
          <a:ln>
            <a:solidFill>
              <a:srgbClr val="000099"/>
            </a:solidFill>
          </a:ln>
        </p:spPr>
        <p:style>
          <a:lnRef idx="2">
            <a:schemeClr val="accent1"/>
          </a:lnRef>
          <a:fillRef idx="1">
            <a:schemeClr val="lt1"/>
          </a:fillRef>
          <a:effectRef idx="0">
            <a:schemeClr val="accent1"/>
          </a:effectRef>
          <a:fontRef idx="minor">
            <a:schemeClr val="dk1"/>
          </a:fontRef>
        </p:style>
        <p:txBody>
          <a:bodyPr wrap="square">
            <a:spAutoFit/>
          </a:bodyPr>
          <a:lstStyle/>
          <a:p>
            <a:pPr>
              <a:lnSpc>
                <a:spcPts val="2600"/>
              </a:lnSpc>
            </a:pPr>
            <a:r>
              <a:rPr lang="zh-CN" altLang="en-US" b="1" dirty="0">
                <a:latin typeface="微软雅黑" panose="020B0503020204020204" pitchFamily="34" charset="-122"/>
                <a:ea typeface="微软雅黑" panose="020B0503020204020204" pitchFamily="34" charset="-122"/>
              </a:rPr>
              <a:t>虚电路只是一条</a:t>
            </a:r>
            <a:r>
              <a:rPr lang="zh-CN" altLang="en-US" b="1" dirty="0">
                <a:solidFill>
                  <a:srgbClr val="C00000"/>
                </a:solidFill>
                <a:latin typeface="微软雅黑" panose="020B0503020204020204" pitchFamily="34" charset="-122"/>
                <a:ea typeface="微软雅黑" panose="020B0503020204020204" pitchFamily="34" charset="-122"/>
              </a:rPr>
              <a:t>逻辑上的连接，</a:t>
            </a:r>
            <a:r>
              <a:rPr lang="zh-CN" altLang="en-US" b="1" dirty="0">
                <a:latin typeface="微软雅黑" panose="020B0503020204020204" pitchFamily="34" charset="-122"/>
                <a:ea typeface="微软雅黑" panose="020B0503020204020204" pitchFamily="34" charset="-122"/>
              </a:rPr>
              <a:t>分组都沿着这条逻辑连接按照存储转发方式传送，并</a:t>
            </a:r>
            <a:r>
              <a:rPr lang="zh-CN" altLang="en-US" b="1" dirty="0">
                <a:solidFill>
                  <a:srgbClr val="C00000"/>
                </a:solidFill>
                <a:latin typeface="微软雅黑" panose="020B0503020204020204" pitchFamily="34" charset="-122"/>
                <a:ea typeface="微软雅黑" panose="020B0503020204020204" pitchFamily="34" charset="-122"/>
              </a:rPr>
              <a:t>不是</a:t>
            </a:r>
            <a:r>
              <a:rPr lang="zh-CN" altLang="en-US" b="1" dirty="0">
                <a:latin typeface="微软雅黑" panose="020B0503020204020204" pitchFamily="34" charset="-122"/>
                <a:ea typeface="微软雅黑" panose="020B0503020204020204" pitchFamily="34" charset="-122"/>
              </a:rPr>
              <a:t>真正建立了一条</a:t>
            </a:r>
            <a:r>
              <a:rPr lang="zh-CN" altLang="en-US" b="1" dirty="0">
                <a:solidFill>
                  <a:srgbClr val="C00000"/>
                </a:solidFill>
                <a:latin typeface="微软雅黑" panose="020B0503020204020204" pitchFamily="34" charset="-122"/>
                <a:ea typeface="微软雅黑" panose="020B0503020204020204" pitchFamily="34" charset="-122"/>
              </a:rPr>
              <a:t>物理连接。</a:t>
            </a:r>
          </a:p>
        </p:txBody>
      </p:sp>
    </p:spTree>
    <p:extLst>
      <p:ext uri="{BB962C8B-B14F-4D97-AF65-F5344CB8AC3E}">
        <p14:creationId xmlns:p14="http://schemas.microsoft.com/office/powerpoint/2010/main" val="66894640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633290"/>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565414" y="600079"/>
            <a:ext cx="403187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另一种观点：网络提供数据报服务</a:t>
            </a:r>
          </a:p>
        </p:txBody>
      </p:sp>
      <p:sp>
        <p:nvSpPr>
          <p:cNvPr id="8" name="Rectangle 68"/>
          <p:cNvSpPr>
            <a:spLocks noChangeArrowheads="1"/>
          </p:cNvSpPr>
          <p:nvPr/>
        </p:nvSpPr>
        <p:spPr bwMode="auto">
          <a:xfrm>
            <a:off x="556963" y="985348"/>
            <a:ext cx="8048776" cy="370870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ts val="3300"/>
              </a:lnSpc>
              <a:buClr>
                <a:srgbClr val="0070C0"/>
              </a:buClr>
            </a:pPr>
            <a:r>
              <a:rPr lang="zh-CN" altLang="en-US" sz="2000" b="1" dirty="0">
                <a:solidFill>
                  <a:srgbClr val="0000FF"/>
                </a:solidFill>
                <a:latin typeface="微软雅黑" pitchFamily="34" charset="-122"/>
                <a:ea typeface="微软雅黑" pitchFamily="34" charset="-122"/>
              </a:rPr>
              <a:t>互联网采用的设计思路：</a:t>
            </a:r>
            <a:endParaRPr lang="en-US" altLang="zh-CN" sz="2000" b="1" dirty="0">
              <a:solidFill>
                <a:srgbClr val="0000FF"/>
              </a:solidFill>
              <a:latin typeface="微软雅黑" pitchFamily="34" charset="-122"/>
              <a:ea typeface="微软雅黑" pitchFamily="34" charset="-122"/>
            </a:endParaRPr>
          </a:p>
          <a:p>
            <a:pPr marL="268288" indent="-268288">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网络层</a:t>
            </a:r>
            <a:r>
              <a:rPr lang="zh-CN" altLang="en-US" sz="2000" b="1" dirty="0">
                <a:latin typeface="微软雅黑" pitchFamily="34" charset="-122"/>
                <a:ea typeface="微软雅黑" pitchFamily="34" charset="-122"/>
              </a:rPr>
              <a:t>要设计得尽量</a:t>
            </a:r>
            <a:r>
              <a:rPr lang="zh-CN" altLang="en-US" sz="2000" b="1" dirty="0">
                <a:solidFill>
                  <a:srgbClr val="C00000"/>
                </a:solidFill>
                <a:latin typeface="微软雅黑" pitchFamily="34" charset="-122"/>
                <a:ea typeface="微软雅黑" pitchFamily="34" charset="-122"/>
              </a:rPr>
              <a:t>简单，</a:t>
            </a:r>
            <a:r>
              <a:rPr lang="zh-CN" altLang="en-US" sz="2000" b="1" dirty="0">
                <a:latin typeface="微软雅黑" pitchFamily="34" charset="-122"/>
                <a:ea typeface="微软雅黑" pitchFamily="34" charset="-122"/>
              </a:rPr>
              <a:t>向其上层只提供简单灵活的、</a:t>
            </a:r>
            <a:r>
              <a:rPr lang="zh-CN" altLang="en-US" sz="2000" b="1" dirty="0">
                <a:solidFill>
                  <a:srgbClr val="C00000"/>
                </a:solidFill>
                <a:latin typeface="微软雅黑" pitchFamily="34" charset="-122"/>
                <a:ea typeface="微软雅黑" pitchFamily="34" charset="-122"/>
              </a:rPr>
              <a:t>无连接的、</a:t>
            </a:r>
            <a:r>
              <a:rPr lang="zh-CN" altLang="en-US" sz="2000" b="1" dirty="0">
                <a:latin typeface="微软雅黑" pitchFamily="34" charset="-122"/>
                <a:ea typeface="微软雅黑" pitchFamily="34" charset="-122"/>
              </a:rPr>
              <a:t>尽最大努力交付的</a:t>
            </a:r>
            <a:r>
              <a:rPr lang="zh-CN" altLang="en-US" sz="2000" b="1" dirty="0">
                <a:solidFill>
                  <a:srgbClr val="C00000"/>
                </a:solidFill>
                <a:latin typeface="微软雅黑" pitchFamily="34" charset="-122"/>
                <a:ea typeface="微软雅黑" pitchFamily="34" charset="-122"/>
              </a:rPr>
              <a:t>数据报服务。</a:t>
            </a:r>
          </a:p>
          <a:p>
            <a:pPr marL="598488"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网络在发送分组时不需要先建立连接。</a:t>
            </a:r>
            <a:endParaRPr lang="en-US" altLang="zh-CN" sz="2000" b="1" dirty="0">
              <a:latin typeface="微软雅黑" pitchFamily="34" charset="-122"/>
              <a:ea typeface="微软雅黑" pitchFamily="34" charset="-122"/>
            </a:endParaRPr>
          </a:p>
          <a:p>
            <a:pPr marL="598488"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每一个分组（即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数据报）独立发送，与其前后的分组无关（不进行编号）。</a:t>
            </a:r>
          </a:p>
          <a:p>
            <a:pPr marL="598488"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网络层不提供服务质量的承诺。即所传送的分组可能出错、丢失、重复和失序（不按序到达终点），也不保证分组传送的时限。</a:t>
            </a:r>
            <a:endParaRPr lang="en-US" altLang="zh-CN" sz="2000" b="1" dirty="0">
              <a:latin typeface="微软雅黑" pitchFamily="34" charset="-122"/>
              <a:ea typeface="微软雅黑" pitchFamily="34" charset="-122"/>
            </a:endParaRPr>
          </a:p>
          <a:p>
            <a:pPr marL="268288" indent="-268288">
              <a:lnSpc>
                <a:spcPts val="3300"/>
              </a:lnSpc>
              <a:buClr>
                <a:srgbClr val="0070C0"/>
              </a:buClr>
              <a:buSzPct val="75000"/>
              <a:buFont typeface="Wingdings" pitchFamily="2" charset="2"/>
              <a:buChar char="l"/>
            </a:pPr>
            <a:r>
              <a:rPr lang="zh-CN" altLang="en-US" sz="2000" b="1" dirty="0">
                <a:latin typeface="微软雅黑" pitchFamily="34" charset="-122"/>
                <a:ea typeface="微软雅黑" pitchFamily="34" charset="-122"/>
              </a:rPr>
              <a:t>由主机中的</a:t>
            </a:r>
            <a:r>
              <a:rPr lang="zh-CN" altLang="en-US" sz="2000" b="1" dirty="0">
                <a:solidFill>
                  <a:srgbClr val="C00000"/>
                </a:solidFill>
                <a:latin typeface="微软雅黑" pitchFamily="34" charset="-122"/>
                <a:ea typeface="微软雅黑" pitchFamily="34" charset="-122"/>
              </a:rPr>
              <a:t>运输层</a:t>
            </a:r>
            <a:r>
              <a:rPr lang="zh-CN" altLang="en-US" sz="2000" b="1" dirty="0">
                <a:latin typeface="微软雅黑" pitchFamily="34" charset="-122"/>
                <a:ea typeface="微软雅黑" pitchFamily="34" charset="-122"/>
              </a:rPr>
              <a:t>负责可靠的通信。 </a:t>
            </a:r>
          </a:p>
        </p:txBody>
      </p:sp>
    </p:spTree>
    <p:extLst>
      <p:ext uri="{BB962C8B-B14F-4D97-AF65-F5344CB8AC3E}">
        <p14:creationId xmlns:p14="http://schemas.microsoft.com/office/powerpoint/2010/main" val="87250107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45144" y="1048114"/>
            <a:ext cx="8053711" cy="29200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AutoShape 5"/>
          <p:cNvSpPr>
            <a:spLocks noChangeArrowheads="1"/>
          </p:cNvSpPr>
          <p:nvPr/>
        </p:nvSpPr>
        <p:spPr bwMode="auto">
          <a:xfrm>
            <a:off x="545144" y="630799"/>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9" name="Rectangle 6"/>
          <p:cNvSpPr>
            <a:spLocks noChangeArrowheads="1"/>
          </p:cNvSpPr>
          <p:nvPr/>
        </p:nvSpPr>
        <p:spPr bwMode="auto">
          <a:xfrm>
            <a:off x="3829820" y="607709"/>
            <a:ext cx="14670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zh-CN" sz="2000" b="1" dirty="0">
                <a:solidFill>
                  <a:schemeClr val="bg1"/>
                </a:solidFill>
                <a:ea typeface="微软雅黑" pitchFamily="34" charset="-122"/>
              </a:rPr>
              <a:t>数据报服务</a:t>
            </a:r>
            <a:endParaRPr lang="zh-CN" altLang="en-US" sz="2000" b="1" dirty="0">
              <a:solidFill>
                <a:schemeClr val="bg1"/>
              </a:solidFill>
              <a:ea typeface="微软雅黑" pitchFamily="34" charset="-122"/>
            </a:endParaRPr>
          </a:p>
        </p:txBody>
      </p:sp>
      <p:sp>
        <p:nvSpPr>
          <p:cNvPr id="38" name="Text Box 38"/>
          <p:cNvSpPr txBox="1">
            <a:spLocks noChangeArrowheads="1"/>
          </p:cNvSpPr>
          <p:nvPr/>
        </p:nvSpPr>
        <p:spPr bwMode="auto">
          <a:xfrm>
            <a:off x="2165789" y="3328957"/>
            <a:ext cx="4748416" cy="369332"/>
          </a:xfrm>
          <a:prstGeom prst="rect">
            <a:avLst/>
          </a:prstGeom>
          <a:solidFill>
            <a:srgbClr val="0000FF"/>
          </a:solidFill>
          <a:ln w="9525">
            <a:solidFill>
              <a:srgbClr val="3333CC"/>
            </a:solidFill>
            <a:miter lim="800000"/>
            <a:headEnd/>
            <a:tailEnd/>
          </a:ln>
          <a:effectLst/>
        </p:spPr>
        <p:txBody>
          <a:bodyPr wrap="none">
            <a:spAutoFit/>
          </a:bodyPr>
          <a:lstStyle/>
          <a:p>
            <a:pPr lvl="0" algn="ctr">
              <a:defRPr/>
            </a:pPr>
            <a:r>
              <a:rPr lang="en-US" altLang="zh-CN" b="1" kern="0" dirty="0">
                <a:solidFill>
                  <a:schemeClr val="bg1"/>
                </a:solidFill>
                <a:latin typeface="微软雅黑" pitchFamily="34" charset="-122"/>
                <a:ea typeface="微软雅黑" pitchFamily="34" charset="-122"/>
              </a:rPr>
              <a:t>H</a:t>
            </a:r>
            <a:r>
              <a:rPr lang="en-US" altLang="zh-CN" b="1" kern="0" baseline="-25000" dirty="0">
                <a:solidFill>
                  <a:schemeClr val="bg1"/>
                </a:solidFill>
                <a:latin typeface="微软雅黑" pitchFamily="34" charset="-122"/>
                <a:ea typeface="微软雅黑" pitchFamily="34" charset="-122"/>
              </a:rPr>
              <a:t>1</a:t>
            </a:r>
            <a:r>
              <a:rPr lang="en-US" altLang="zh-CN" b="1" kern="0" dirty="0">
                <a:solidFill>
                  <a:schemeClr val="bg1"/>
                </a:solidFill>
                <a:latin typeface="微软雅黑" pitchFamily="34" charset="-122"/>
                <a:ea typeface="微软雅黑" pitchFamily="34" charset="-122"/>
              </a:rPr>
              <a:t> </a:t>
            </a:r>
            <a:r>
              <a:rPr lang="zh-CN" altLang="en-US" b="1" kern="0" dirty="0">
                <a:solidFill>
                  <a:schemeClr val="bg1"/>
                </a:solidFill>
                <a:latin typeface="微软雅黑" pitchFamily="34" charset="-122"/>
                <a:ea typeface="微软雅黑" pitchFamily="34" charset="-122"/>
              </a:rPr>
              <a:t>发送给 </a:t>
            </a:r>
            <a:r>
              <a:rPr lang="en-US" altLang="zh-CN" b="1" kern="0" dirty="0">
                <a:solidFill>
                  <a:schemeClr val="bg1"/>
                </a:solidFill>
                <a:latin typeface="微软雅黑" pitchFamily="34" charset="-122"/>
                <a:ea typeface="微软雅黑" pitchFamily="34" charset="-122"/>
              </a:rPr>
              <a:t>H</a:t>
            </a:r>
            <a:r>
              <a:rPr lang="en-US" altLang="zh-CN" b="1" kern="0" baseline="-25000" dirty="0">
                <a:solidFill>
                  <a:schemeClr val="bg1"/>
                </a:solidFill>
                <a:latin typeface="微软雅黑" pitchFamily="34" charset="-122"/>
                <a:ea typeface="微软雅黑" pitchFamily="34" charset="-122"/>
              </a:rPr>
              <a:t>2</a:t>
            </a:r>
            <a:r>
              <a:rPr lang="en-US" altLang="zh-CN" b="1" kern="0" dirty="0">
                <a:solidFill>
                  <a:schemeClr val="bg1"/>
                </a:solidFill>
                <a:latin typeface="微软雅黑" pitchFamily="34" charset="-122"/>
                <a:ea typeface="微软雅黑" pitchFamily="34" charset="-122"/>
              </a:rPr>
              <a:t> </a:t>
            </a:r>
            <a:r>
              <a:rPr lang="zh-CN" altLang="en-US" b="1" kern="0" dirty="0">
                <a:solidFill>
                  <a:schemeClr val="bg1"/>
                </a:solidFill>
                <a:latin typeface="微软雅黑" pitchFamily="34" charset="-122"/>
                <a:ea typeface="微软雅黑" pitchFamily="34" charset="-122"/>
              </a:rPr>
              <a:t>的分组可能沿着不同路径传送</a:t>
            </a:r>
          </a:p>
        </p:txBody>
      </p:sp>
      <p:sp>
        <p:nvSpPr>
          <p:cNvPr id="51" name="Rectangle 10"/>
          <p:cNvSpPr>
            <a:spLocks noChangeArrowheads="1"/>
          </p:cNvSpPr>
          <p:nvPr/>
        </p:nvSpPr>
        <p:spPr bwMode="auto">
          <a:xfrm>
            <a:off x="1123656" y="1294980"/>
            <a:ext cx="1204727" cy="1254896"/>
          </a:xfrm>
          <a:prstGeom prst="rect">
            <a:avLst/>
          </a:prstGeom>
          <a:solidFill>
            <a:srgbClr val="99FFCC"/>
          </a:solidFill>
          <a:ln w="285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56" name="Rectangle 15"/>
          <p:cNvSpPr>
            <a:spLocks noChangeArrowheads="1"/>
          </p:cNvSpPr>
          <p:nvPr/>
        </p:nvSpPr>
        <p:spPr bwMode="auto">
          <a:xfrm>
            <a:off x="6839939" y="1368720"/>
            <a:ext cx="1203226" cy="1254896"/>
          </a:xfrm>
          <a:prstGeom prst="rect">
            <a:avLst/>
          </a:prstGeom>
          <a:solidFill>
            <a:srgbClr val="00FFFF"/>
          </a:solidFill>
          <a:ln w="285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44" name="Rectangle 2"/>
          <p:cNvSpPr>
            <a:spLocks noChangeArrowheads="1"/>
          </p:cNvSpPr>
          <p:nvPr/>
        </p:nvSpPr>
        <p:spPr bwMode="auto">
          <a:xfrm>
            <a:off x="6855740" y="1875682"/>
            <a:ext cx="1173220" cy="265990"/>
          </a:xfrm>
          <a:prstGeom prst="rect">
            <a:avLst/>
          </a:prstGeom>
          <a:solidFill>
            <a:srgbClr val="FFFF00"/>
          </a:solidFill>
          <a:ln>
            <a:noFill/>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46" name="Rectangle 4"/>
          <p:cNvSpPr>
            <a:spLocks noChangeArrowheads="1"/>
          </p:cNvSpPr>
          <p:nvPr/>
        </p:nvSpPr>
        <p:spPr bwMode="auto">
          <a:xfrm>
            <a:off x="1140775" y="1801942"/>
            <a:ext cx="1173220" cy="265990"/>
          </a:xfrm>
          <a:prstGeom prst="rect">
            <a:avLst/>
          </a:prstGeom>
          <a:solidFill>
            <a:srgbClr val="FFFF00"/>
          </a:solidFill>
          <a:ln>
            <a:noFill/>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48" name="Line 7"/>
          <p:cNvSpPr>
            <a:spLocks noChangeShapeType="1"/>
          </p:cNvSpPr>
          <p:nvPr/>
        </p:nvSpPr>
        <p:spPr bwMode="auto">
          <a:xfrm>
            <a:off x="4627742" y="1480647"/>
            <a:ext cx="44771" cy="48194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49" name="AutoShape 8"/>
          <p:cNvSpPr>
            <a:spLocks noChangeArrowheads="1"/>
          </p:cNvSpPr>
          <p:nvPr/>
        </p:nvSpPr>
        <p:spPr bwMode="auto">
          <a:xfrm>
            <a:off x="3802658" y="2401902"/>
            <a:ext cx="678098" cy="630082"/>
          </a:xfrm>
          <a:prstGeom prst="irregularSeal2">
            <a:avLst/>
          </a:prstGeom>
          <a:solidFill>
            <a:srgbClr val="00FFFF"/>
          </a:solidFill>
          <a:ln w="9525">
            <a:solidFill>
              <a:srgbClr val="000000"/>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50" name="Line 9"/>
          <p:cNvSpPr>
            <a:spLocks noChangeShapeType="1"/>
          </p:cNvSpPr>
          <p:nvPr/>
        </p:nvSpPr>
        <p:spPr bwMode="auto">
          <a:xfrm>
            <a:off x="2588044" y="2225947"/>
            <a:ext cx="396352" cy="222536"/>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kern="0">
              <a:solidFill>
                <a:srgbClr val="000099"/>
              </a:solidFill>
              <a:latin typeface="微软雅黑" pitchFamily="34" charset="-122"/>
              <a:ea typeface="微软雅黑" pitchFamily="34" charset="-122"/>
            </a:endParaRPr>
          </a:p>
        </p:txBody>
      </p:sp>
      <p:sp>
        <p:nvSpPr>
          <p:cNvPr id="52" name="Line 11"/>
          <p:cNvSpPr>
            <a:spLocks noChangeShapeType="1"/>
          </p:cNvSpPr>
          <p:nvPr/>
        </p:nvSpPr>
        <p:spPr bwMode="auto">
          <a:xfrm>
            <a:off x="1123656" y="1562288"/>
            <a:ext cx="120472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53" name="Line 12"/>
          <p:cNvSpPr>
            <a:spLocks noChangeShapeType="1"/>
          </p:cNvSpPr>
          <p:nvPr/>
        </p:nvSpPr>
        <p:spPr bwMode="auto">
          <a:xfrm>
            <a:off x="1123656" y="1809843"/>
            <a:ext cx="120472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54" name="Line 13"/>
          <p:cNvSpPr>
            <a:spLocks noChangeShapeType="1"/>
          </p:cNvSpPr>
          <p:nvPr/>
        </p:nvSpPr>
        <p:spPr bwMode="auto">
          <a:xfrm>
            <a:off x="1123656" y="2057398"/>
            <a:ext cx="120472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55" name="Line 14"/>
          <p:cNvSpPr>
            <a:spLocks noChangeShapeType="1"/>
          </p:cNvSpPr>
          <p:nvPr/>
        </p:nvSpPr>
        <p:spPr bwMode="auto">
          <a:xfrm>
            <a:off x="1123656" y="2307587"/>
            <a:ext cx="120472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57" name="Line 16"/>
          <p:cNvSpPr>
            <a:spLocks noChangeShapeType="1"/>
          </p:cNvSpPr>
          <p:nvPr/>
        </p:nvSpPr>
        <p:spPr bwMode="auto">
          <a:xfrm>
            <a:off x="6839939" y="1636027"/>
            <a:ext cx="1203226"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58" name="Line 17"/>
          <p:cNvSpPr>
            <a:spLocks noChangeShapeType="1"/>
          </p:cNvSpPr>
          <p:nvPr/>
        </p:nvSpPr>
        <p:spPr bwMode="auto">
          <a:xfrm>
            <a:off x="6839939" y="1883583"/>
            <a:ext cx="1203226"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59" name="Line 18"/>
          <p:cNvSpPr>
            <a:spLocks noChangeShapeType="1"/>
          </p:cNvSpPr>
          <p:nvPr/>
        </p:nvSpPr>
        <p:spPr bwMode="auto">
          <a:xfrm>
            <a:off x="6839939" y="2131138"/>
            <a:ext cx="1203226"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60" name="Line 19"/>
          <p:cNvSpPr>
            <a:spLocks noChangeShapeType="1"/>
          </p:cNvSpPr>
          <p:nvPr/>
        </p:nvSpPr>
        <p:spPr bwMode="auto">
          <a:xfrm>
            <a:off x="6839939" y="2381327"/>
            <a:ext cx="1203226"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61" name="Text Box 20"/>
          <p:cNvSpPr txBox="1">
            <a:spLocks noChangeArrowheads="1"/>
          </p:cNvSpPr>
          <p:nvPr/>
        </p:nvSpPr>
        <p:spPr bwMode="auto">
          <a:xfrm>
            <a:off x="2456365" y="1386825"/>
            <a:ext cx="43794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H</a:t>
            </a:r>
            <a:r>
              <a:rPr kumimoji="0" lang="en-US" altLang="zh-CN" sz="1600" b="1" i="0" u="none" strike="noStrike" kern="0" cap="none" spc="0" normalizeH="0" baseline="-25000" noProof="0" dirty="0">
                <a:ln>
                  <a:noFill/>
                </a:ln>
                <a:effectLst/>
                <a:uLnTx/>
                <a:uFillTx/>
                <a:latin typeface="微软雅黑" pitchFamily="34" charset="-122"/>
                <a:ea typeface="微软雅黑" pitchFamily="34" charset="-122"/>
              </a:rPr>
              <a:t>1</a:t>
            </a:r>
          </a:p>
        </p:txBody>
      </p:sp>
      <p:sp>
        <p:nvSpPr>
          <p:cNvPr id="63" name="Line 22"/>
          <p:cNvSpPr>
            <a:spLocks noChangeShapeType="1"/>
          </p:cNvSpPr>
          <p:nvPr/>
        </p:nvSpPr>
        <p:spPr bwMode="auto">
          <a:xfrm>
            <a:off x="3247752" y="2448483"/>
            <a:ext cx="1253578" cy="52013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kern="0">
              <a:solidFill>
                <a:srgbClr val="000099"/>
              </a:solidFill>
              <a:latin typeface="微软雅黑" pitchFamily="34" charset="-122"/>
              <a:ea typeface="微软雅黑" pitchFamily="34" charset="-122"/>
            </a:endParaRPr>
          </a:p>
        </p:txBody>
      </p:sp>
      <p:sp>
        <p:nvSpPr>
          <p:cNvPr id="64" name="Line 23"/>
          <p:cNvSpPr>
            <a:spLocks noChangeShapeType="1"/>
          </p:cNvSpPr>
          <p:nvPr/>
        </p:nvSpPr>
        <p:spPr bwMode="auto">
          <a:xfrm flipV="1">
            <a:off x="3181913" y="2075833"/>
            <a:ext cx="1452413" cy="372649"/>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kern="0">
              <a:solidFill>
                <a:srgbClr val="000099"/>
              </a:solidFill>
              <a:latin typeface="微软雅黑" pitchFamily="34" charset="-122"/>
              <a:ea typeface="微软雅黑" pitchFamily="34" charset="-122"/>
            </a:endParaRPr>
          </a:p>
        </p:txBody>
      </p:sp>
      <p:sp>
        <p:nvSpPr>
          <p:cNvPr id="65" name="Line 24"/>
          <p:cNvSpPr>
            <a:spLocks noChangeShapeType="1"/>
          </p:cNvSpPr>
          <p:nvPr/>
        </p:nvSpPr>
        <p:spPr bwMode="auto">
          <a:xfrm>
            <a:off x="4764687" y="2075833"/>
            <a:ext cx="1189056" cy="446389"/>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kern="0">
              <a:solidFill>
                <a:srgbClr val="000099"/>
              </a:solidFill>
              <a:latin typeface="微软雅黑" pitchFamily="34" charset="-122"/>
              <a:ea typeface="微软雅黑" pitchFamily="34" charset="-122"/>
            </a:endParaRPr>
          </a:p>
        </p:txBody>
      </p:sp>
      <p:sp>
        <p:nvSpPr>
          <p:cNvPr id="66" name="Line 25"/>
          <p:cNvSpPr>
            <a:spLocks noChangeShapeType="1"/>
          </p:cNvSpPr>
          <p:nvPr/>
        </p:nvSpPr>
        <p:spPr bwMode="auto">
          <a:xfrm flipV="1">
            <a:off x="4634326" y="2597280"/>
            <a:ext cx="1319418" cy="37133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kern="0">
              <a:solidFill>
                <a:srgbClr val="000099"/>
              </a:solidFill>
              <a:latin typeface="微软雅黑" pitchFamily="34" charset="-122"/>
              <a:ea typeface="微软雅黑" pitchFamily="34" charset="-122"/>
            </a:endParaRPr>
          </a:p>
        </p:txBody>
      </p:sp>
      <p:sp>
        <p:nvSpPr>
          <p:cNvPr id="67" name="Line 26"/>
          <p:cNvSpPr>
            <a:spLocks noChangeShapeType="1"/>
          </p:cNvSpPr>
          <p:nvPr/>
        </p:nvSpPr>
        <p:spPr bwMode="auto">
          <a:xfrm flipV="1">
            <a:off x="6018266" y="2225947"/>
            <a:ext cx="528031" cy="296276"/>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kern="0">
              <a:solidFill>
                <a:srgbClr val="000099"/>
              </a:solidFill>
              <a:latin typeface="微软雅黑" pitchFamily="34" charset="-122"/>
              <a:ea typeface="微软雅黑" pitchFamily="34" charset="-122"/>
            </a:endParaRPr>
          </a:p>
        </p:txBody>
      </p:sp>
      <p:sp>
        <p:nvSpPr>
          <p:cNvPr id="69" name="Text Box 28"/>
          <p:cNvSpPr txBox="1">
            <a:spLocks noChangeArrowheads="1"/>
          </p:cNvSpPr>
          <p:nvPr/>
        </p:nvSpPr>
        <p:spPr bwMode="auto">
          <a:xfrm>
            <a:off x="6249185" y="1386826"/>
            <a:ext cx="498674" cy="3379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 H</a:t>
            </a:r>
            <a:r>
              <a:rPr kumimoji="0" lang="en-US" altLang="zh-CN" sz="1600" b="1" i="0" u="none" strike="noStrike" kern="0" cap="none" spc="0" normalizeH="0" baseline="-25000" noProof="0" dirty="0">
                <a:ln>
                  <a:noFill/>
                </a:ln>
                <a:effectLst/>
                <a:uLnTx/>
                <a:uFillTx/>
                <a:latin typeface="微软雅黑" pitchFamily="34" charset="-122"/>
                <a:ea typeface="微软雅黑" pitchFamily="34" charset="-122"/>
              </a:rPr>
              <a:t>2</a:t>
            </a:r>
          </a:p>
        </p:txBody>
      </p:sp>
      <p:sp>
        <p:nvSpPr>
          <p:cNvPr id="71" name="Line 30"/>
          <p:cNvSpPr>
            <a:spLocks noChangeShapeType="1"/>
          </p:cNvSpPr>
          <p:nvPr/>
        </p:nvSpPr>
        <p:spPr bwMode="auto">
          <a:xfrm flipV="1">
            <a:off x="3181913" y="1406907"/>
            <a:ext cx="1385257" cy="967836"/>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kern="0">
              <a:solidFill>
                <a:srgbClr val="000099"/>
              </a:solidFill>
              <a:latin typeface="微软雅黑" pitchFamily="34" charset="-122"/>
              <a:ea typeface="微软雅黑" pitchFamily="34" charset="-122"/>
            </a:endParaRPr>
          </a:p>
        </p:txBody>
      </p:sp>
      <p:sp>
        <p:nvSpPr>
          <p:cNvPr id="72" name="Line 31"/>
          <p:cNvSpPr>
            <a:spLocks noChangeShapeType="1"/>
          </p:cNvSpPr>
          <p:nvPr/>
        </p:nvSpPr>
        <p:spPr bwMode="auto">
          <a:xfrm>
            <a:off x="4698848" y="1406907"/>
            <a:ext cx="1319418" cy="1041576"/>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kern="0">
              <a:solidFill>
                <a:srgbClr val="000099"/>
              </a:solidFill>
              <a:latin typeface="微软雅黑" pitchFamily="34" charset="-122"/>
              <a:ea typeface="微软雅黑" pitchFamily="34" charset="-122"/>
            </a:endParaRPr>
          </a:p>
        </p:txBody>
      </p:sp>
      <p:pic>
        <p:nvPicPr>
          <p:cNvPr id="73" name="Picture 3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02755" y="2299687"/>
            <a:ext cx="476676" cy="2962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4" name="Picture 3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435491" y="1928353"/>
            <a:ext cx="477993" cy="2975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5" name="Picture 3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03813" y="2821133"/>
            <a:ext cx="476676" cy="2962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6" name="Picture 3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754909" y="2374743"/>
            <a:ext cx="477993" cy="2962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7" name="Picture 3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68336" y="1258110"/>
            <a:ext cx="477992" cy="2962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78" name="Group 37"/>
          <p:cNvGrpSpPr>
            <a:grpSpLocks/>
          </p:cNvGrpSpPr>
          <p:nvPr/>
        </p:nvGrpSpPr>
        <p:grpSpPr bwMode="auto">
          <a:xfrm rot="1386369">
            <a:off x="2653883" y="2373426"/>
            <a:ext cx="248872" cy="107976"/>
            <a:chOff x="2064" y="1776"/>
            <a:chExt cx="171" cy="66"/>
          </a:xfrm>
          <a:solidFill>
            <a:srgbClr val="CC00CC"/>
          </a:solidFill>
        </p:grpSpPr>
        <p:sp>
          <p:nvSpPr>
            <p:cNvPr id="79" name="Rectangle 38"/>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0" name="Line 39"/>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81" name="Group 40"/>
          <p:cNvGrpSpPr>
            <a:grpSpLocks/>
          </p:cNvGrpSpPr>
          <p:nvPr/>
        </p:nvGrpSpPr>
        <p:grpSpPr bwMode="auto">
          <a:xfrm rot="20724003">
            <a:off x="5029361" y="2671020"/>
            <a:ext cx="248872" cy="107976"/>
            <a:chOff x="2064" y="1776"/>
            <a:chExt cx="171" cy="66"/>
          </a:xfrm>
          <a:solidFill>
            <a:srgbClr val="CC00CC"/>
          </a:solidFill>
        </p:grpSpPr>
        <p:sp>
          <p:nvSpPr>
            <p:cNvPr id="82" name="Rectangle 41"/>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3" name="Line 42"/>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84" name="Group 43"/>
          <p:cNvGrpSpPr>
            <a:grpSpLocks/>
          </p:cNvGrpSpPr>
          <p:nvPr/>
        </p:nvGrpSpPr>
        <p:grpSpPr bwMode="auto">
          <a:xfrm rot="20084499">
            <a:off x="6151261" y="2225947"/>
            <a:ext cx="248872" cy="107976"/>
            <a:chOff x="2064" y="1776"/>
            <a:chExt cx="171" cy="66"/>
          </a:xfrm>
          <a:solidFill>
            <a:srgbClr val="CC00CC"/>
          </a:solidFill>
        </p:grpSpPr>
        <p:sp>
          <p:nvSpPr>
            <p:cNvPr id="85" name="Rectangle 44"/>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6" name="Line 45"/>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87" name="Group 46"/>
          <p:cNvGrpSpPr>
            <a:grpSpLocks/>
          </p:cNvGrpSpPr>
          <p:nvPr/>
        </p:nvGrpSpPr>
        <p:grpSpPr bwMode="auto">
          <a:xfrm rot="19662556">
            <a:off x="3709944" y="1704500"/>
            <a:ext cx="248872" cy="107976"/>
            <a:chOff x="2064" y="1776"/>
            <a:chExt cx="171" cy="66"/>
          </a:xfrm>
          <a:solidFill>
            <a:srgbClr val="CC00CC"/>
          </a:solidFill>
        </p:grpSpPr>
        <p:sp>
          <p:nvSpPr>
            <p:cNvPr id="88" name="Rectangle 47"/>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9" name="Line 48"/>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90" name="Group 49"/>
          <p:cNvGrpSpPr>
            <a:grpSpLocks/>
          </p:cNvGrpSpPr>
          <p:nvPr/>
        </p:nvGrpSpPr>
        <p:grpSpPr bwMode="auto">
          <a:xfrm rot="2078388">
            <a:off x="5095200" y="1629443"/>
            <a:ext cx="248872" cy="109293"/>
            <a:chOff x="2064" y="1776"/>
            <a:chExt cx="171" cy="66"/>
          </a:xfrm>
          <a:solidFill>
            <a:srgbClr val="CC00CC"/>
          </a:solidFill>
        </p:grpSpPr>
        <p:sp>
          <p:nvSpPr>
            <p:cNvPr id="91" name="Rectangle 50"/>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2" name="Line 51"/>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93" name="Group 52"/>
          <p:cNvGrpSpPr>
            <a:grpSpLocks/>
          </p:cNvGrpSpPr>
          <p:nvPr/>
        </p:nvGrpSpPr>
        <p:grpSpPr bwMode="auto">
          <a:xfrm rot="1117181">
            <a:off x="4039140" y="2671020"/>
            <a:ext cx="248872" cy="107976"/>
            <a:chOff x="2064" y="1776"/>
            <a:chExt cx="171" cy="66"/>
          </a:xfrm>
          <a:solidFill>
            <a:srgbClr val="CC00CC"/>
          </a:solidFill>
        </p:grpSpPr>
        <p:sp>
          <p:nvSpPr>
            <p:cNvPr id="94" name="Rectangle 53"/>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5" name="Line 54"/>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96" name="Group 55"/>
          <p:cNvGrpSpPr>
            <a:grpSpLocks/>
          </p:cNvGrpSpPr>
          <p:nvPr/>
        </p:nvGrpSpPr>
        <p:grpSpPr bwMode="auto">
          <a:xfrm rot="20669726">
            <a:off x="4120780" y="2002093"/>
            <a:ext cx="247555" cy="107976"/>
            <a:chOff x="2064" y="1776"/>
            <a:chExt cx="171" cy="66"/>
          </a:xfrm>
          <a:solidFill>
            <a:srgbClr val="CC00CC"/>
          </a:solidFill>
        </p:grpSpPr>
        <p:sp>
          <p:nvSpPr>
            <p:cNvPr id="97" name="Rectangle 56"/>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8" name="Line 57"/>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99" name="Group 58"/>
          <p:cNvGrpSpPr>
            <a:grpSpLocks/>
          </p:cNvGrpSpPr>
          <p:nvPr/>
        </p:nvGrpSpPr>
        <p:grpSpPr bwMode="auto">
          <a:xfrm rot="1197535">
            <a:off x="3512426" y="2448483"/>
            <a:ext cx="248872" cy="107976"/>
            <a:chOff x="2064" y="1776"/>
            <a:chExt cx="171" cy="66"/>
          </a:xfrm>
          <a:solidFill>
            <a:srgbClr val="CC00CC"/>
          </a:solidFill>
        </p:grpSpPr>
        <p:sp>
          <p:nvSpPr>
            <p:cNvPr id="100" name="Rectangle 59"/>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01" name="Line 60"/>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sp>
        <p:nvSpPr>
          <p:cNvPr id="102" name="Line 61"/>
          <p:cNvSpPr>
            <a:spLocks noChangeShapeType="1"/>
          </p:cNvSpPr>
          <p:nvPr/>
        </p:nvSpPr>
        <p:spPr bwMode="auto">
          <a:xfrm>
            <a:off x="2040138" y="2002093"/>
            <a:ext cx="580824" cy="402189"/>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nvGrpSpPr>
          <p:cNvPr id="103" name="Group 62"/>
          <p:cNvGrpSpPr>
            <a:grpSpLocks/>
          </p:cNvGrpSpPr>
          <p:nvPr/>
        </p:nvGrpSpPr>
        <p:grpSpPr bwMode="auto">
          <a:xfrm rot="1022761">
            <a:off x="5226879" y="2149573"/>
            <a:ext cx="248872" cy="107976"/>
            <a:chOff x="2064" y="1776"/>
            <a:chExt cx="171" cy="66"/>
          </a:xfrm>
          <a:solidFill>
            <a:srgbClr val="CC00CC"/>
          </a:solidFill>
        </p:grpSpPr>
        <p:sp>
          <p:nvSpPr>
            <p:cNvPr id="104" name="Rectangle 63"/>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05" name="Line 64"/>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sp>
        <p:nvSpPr>
          <p:cNvPr id="106" name="Line 65"/>
          <p:cNvSpPr>
            <a:spLocks noChangeShapeType="1"/>
          </p:cNvSpPr>
          <p:nvPr/>
        </p:nvSpPr>
        <p:spPr bwMode="auto">
          <a:xfrm flipV="1">
            <a:off x="6175496" y="2027970"/>
            <a:ext cx="851560" cy="52642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07" name="Text Box 66"/>
          <p:cNvSpPr txBox="1">
            <a:spLocks noChangeArrowheads="1"/>
          </p:cNvSpPr>
          <p:nvPr/>
        </p:nvSpPr>
        <p:spPr bwMode="auto">
          <a:xfrm>
            <a:off x="3120024" y="1391106"/>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400" b="1" i="0" u="none" strike="noStrike" kern="0" cap="none" spc="0" normalizeH="0" baseline="0" noProof="0" dirty="0">
                <a:ln>
                  <a:noFill/>
                </a:ln>
                <a:solidFill>
                  <a:srgbClr val="0000FF"/>
                </a:solidFill>
                <a:effectLst/>
                <a:uLnTx/>
                <a:uFillTx/>
                <a:latin typeface="微软雅黑" pitchFamily="34" charset="-122"/>
                <a:ea typeface="微软雅黑" pitchFamily="34" charset="-122"/>
              </a:rPr>
              <a:t>IP </a:t>
            </a:r>
            <a:r>
              <a:rPr kumimoji="0" lang="zh-CN" altLang="en-US" sz="1400" b="1" i="0" u="none" strike="noStrike" kern="0" cap="none" spc="0" normalizeH="0" baseline="0" noProof="0" dirty="0">
                <a:ln>
                  <a:noFill/>
                </a:ln>
                <a:solidFill>
                  <a:srgbClr val="0000FF"/>
                </a:solidFill>
                <a:effectLst/>
                <a:uLnTx/>
                <a:uFillTx/>
                <a:latin typeface="微软雅黑" pitchFamily="34" charset="-122"/>
                <a:ea typeface="微软雅黑" pitchFamily="34" charset="-122"/>
              </a:rPr>
              <a:t>数据报</a:t>
            </a:r>
            <a:endParaRPr kumimoji="0" lang="zh-CN" altLang="en-US" sz="1400" b="1" i="0" u="none" strike="noStrike" kern="0" cap="none" spc="0" normalizeH="0" baseline="-25000" noProof="0" dirty="0">
              <a:ln>
                <a:noFill/>
              </a:ln>
              <a:solidFill>
                <a:srgbClr val="0000FF"/>
              </a:solidFill>
              <a:effectLst/>
              <a:uLnTx/>
              <a:uFillTx/>
              <a:latin typeface="微软雅黑" pitchFamily="34" charset="-122"/>
              <a:ea typeface="微软雅黑" pitchFamily="34" charset="-122"/>
            </a:endParaRPr>
          </a:p>
        </p:txBody>
      </p:sp>
      <p:sp>
        <p:nvSpPr>
          <p:cNvPr id="108" name="Text Box 67"/>
          <p:cNvSpPr txBox="1">
            <a:spLocks noChangeArrowheads="1"/>
          </p:cNvSpPr>
          <p:nvPr/>
        </p:nvSpPr>
        <p:spPr bwMode="auto">
          <a:xfrm>
            <a:off x="4356484" y="2430048"/>
            <a:ext cx="59503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zh-CN" altLang="en-US" sz="1600" b="1" kern="0" dirty="0">
                <a:latin typeface="微软雅黑" pitchFamily="34" charset="-122"/>
                <a:ea typeface="微软雅黑" pitchFamily="34" charset="-122"/>
              </a:rPr>
              <a:t>丢失</a:t>
            </a:r>
          </a:p>
        </p:txBody>
      </p:sp>
      <p:grpSp>
        <p:nvGrpSpPr>
          <p:cNvPr id="109" name="Group 68"/>
          <p:cNvGrpSpPr>
            <a:grpSpLocks/>
          </p:cNvGrpSpPr>
          <p:nvPr/>
        </p:nvGrpSpPr>
        <p:grpSpPr bwMode="auto">
          <a:xfrm rot="5035623">
            <a:off x="4600090" y="1679481"/>
            <a:ext cx="280475" cy="96125"/>
            <a:chOff x="2064" y="1776"/>
            <a:chExt cx="171" cy="66"/>
          </a:xfrm>
          <a:solidFill>
            <a:srgbClr val="CC00CC"/>
          </a:solidFill>
        </p:grpSpPr>
        <p:sp>
          <p:nvSpPr>
            <p:cNvPr id="110" name="Rectangle 69"/>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11" name="Line 70"/>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sp>
        <p:nvSpPr>
          <p:cNvPr id="114" name="Text Box 5"/>
          <p:cNvSpPr txBox="1">
            <a:spLocks noChangeArrowheads="1"/>
          </p:cNvSpPr>
          <p:nvPr/>
        </p:nvSpPr>
        <p:spPr bwMode="auto">
          <a:xfrm>
            <a:off x="1054402" y="1296626"/>
            <a:ext cx="1394043" cy="13106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lnSpc>
                <a:spcPts val="1900"/>
              </a:lnSpc>
              <a:defRPr/>
            </a:pPr>
            <a:r>
              <a:rPr lang="zh-CN" altLang="en-US" sz="1300" b="1" kern="0" dirty="0">
                <a:latin typeface="微软雅黑" pitchFamily="34" charset="-122"/>
                <a:ea typeface="微软雅黑" pitchFamily="34" charset="-122"/>
              </a:rPr>
              <a:t>应用层</a:t>
            </a:r>
          </a:p>
          <a:p>
            <a:pPr algn="ctr">
              <a:lnSpc>
                <a:spcPts val="1900"/>
              </a:lnSpc>
              <a:defRPr/>
            </a:pPr>
            <a:r>
              <a:rPr lang="zh-CN" altLang="en-US" sz="1300" b="1" kern="0" dirty="0">
                <a:latin typeface="微软雅黑" pitchFamily="34" charset="-122"/>
                <a:ea typeface="微软雅黑" pitchFamily="34" charset="-122"/>
              </a:rPr>
              <a:t>运输层</a:t>
            </a:r>
          </a:p>
          <a:p>
            <a:pPr algn="ctr">
              <a:lnSpc>
                <a:spcPts val="1900"/>
              </a:lnSpc>
              <a:defRPr/>
            </a:pPr>
            <a:r>
              <a:rPr lang="zh-CN" altLang="en-US" sz="1300" b="1" kern="0" dirty="0">
                <a:latin typeface="微软雅黑" pitchFamily="34" charset="-122"/>
                <a:ea typeface="微软雅黑" pitchFamily="34" charset="-122"/>
              </a:rPr>
              <a:t>网络层</a:t>
            </a:r>
          </a:p>
          <a:p>
            <a:pPr algn="ctr">
              <a:lnSpc>
                <a:spcPts val="1900"/>
              </a:lnSpc>
              <a:defRPr/>
            </a:pPr>
            <a:r>
              <a:rPr lang="zh-CN" altLang="en-US" sz="1300" b="1" kern="0" dirty="0">
                <a:latin typeface="微软雅黑" pitchFamily="34" charset="-122"/>
                <a:ea typeface="微软雅黑" pitchFamily="34" charset="-122"/>
              </a:rPr>
              <a:t>数据链路层</a:t>
            </a:r>
          </a:p>
          <a:p>
            <a:pPr algn="ctr">
              <a:lnSpc>
                <a:spcPts val="1900"/>
              </a:lnSpc>
              <a:defRPr/>
            </a:pPr>
            <a:r>
              <a:rPr lang="zh-CN" altLang="en-US" sz="1300" b="1" kern="0" dirty="0">
                <a:latin typeface="微软雅黑" pitchFamily="34" charset="-122"/>
                <a:ea typeface="微软雅黑" pitchFamily="34" charset="-122"/>
              </a:rPr>
              <a:t>物理层</a:t>
            </a:r>
          </a:p>
        </p:txBody>
      </p:sp>
      <p:pic>
        <p:nvPicPr>
          <p:cNvPr id="115"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71499" y="1684933"/>
            <a:ext cx="571350" cy="571350"/>
          </a:xfrm>
          <a:prstGeom prst="rect">
            <a:avLst/>
          </a:prstGeom>
          <a:noFill/>
          <a:extLst>
            <a:ext uri="{909E8E84-426E-40DD-AFC4-6F175D3DCCD1}">
              <a14:hiddenFill xmlns:a14="http://schemas.microsoft.com/office/drawing/2010/main">
                <a:solidFill>
                  <a:srgbClr val="FFFFFF"/>
                </a:solidFill>
              </a14:hiddenFill>
            </a:ext>
          </a:extLst>
        </p:spPr>
      </p:pic>
      <p:pic>
        <p:nvPicPr>
          <p:cNvPr id="116"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28184" y="1684933"/>
            <a:ext cx="571350" cy="571350"/>
          </a:xfrm>
          <a:prstGeom prst="rect">
            <a:avLst/>
          </a:prstGeom>
          <a:noFill/>
          <a:extLst>
            <a:ext uri="{909E8E84-426E-40DD-AFC4-6F175D3DCCD1}">
              <a14:hiddenFill xmlns:a14="http://schemas.microsoft.com/office/drawing/2010/main">
                <a:solidFill>
                  <a:srgbClr val="FFFFFF"/>
                </a:solidFill>
              </a14:hiddenFill>
            </a:ext>
          </a:extLst>
        </p:spPr>
      </p:pic>
      <p:sp>
        <p:nvSpPr>
          <p:cNvPr id="113" name="Text Box 3"/>
          <p:cNvSpPr txBox="1">
            <a:spLocks noChangeArrowheads="1"/>
          </p:cNvSpPr>
          <p:nvPr/>
        </p:nvSpPr>
        <p:spPr bwMode="auto">
          <a:xfrm>
            <a:off x="6768050" y="1357198"/>
            <a:ext cx="1394043" cy="13106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lnSpc>
                <a:spcPts val="1900"/>
              </a:lnSpc>
              <a:defRPr/>
            </a:pPr>
            <a:r>
              <a:rPr lang="zh-CN" altLang="en-US" sz="1300" b="1" kern="0" dirty="0">
                <a:latin typeface="微软雅黑" pitchFamily="34" charset="-122"/>
                <a:ea typeface="微软雅黑" pitchFamily="34" charset="-122"/>
              </a:rPr>
              <a:t>应用层</a:t>
            </a:r>
          </a:p>
          <a:p>
            <a:pPr algn="ctr">
              <a:lnSpc>
                <a:spcPts val="1900"/>
              </a:lnSpc>
              <a:defRPr/>
            </a:pPr>
            <a:r>
              <a:rPr lang="zh-CN" altLang="en-US" sz="1300" b="1" kern="0" dirty="0">
                <a:latin typeface="微软雅黑" pitchFamily="34" charset="-122"/>
                <a:ea typeface="微软雅黑" pitchFamily="34" charset="-122"/>
              </a:rPr>
              <a:t>运输层</a:t>
            </a:r>
          </a:p>
          <a:p>
            <a:pPr algn="ctr">
              <a:lnSpc>
                <a:spcPts val="1900"/>
              </a:lnSpc>
              <a:defRPr/>
            </a:pPr>
            <a:r>
              <a:rPr lang="zh-CN" altLang="en-US" sz="1300" b="1" kern="0" dirty="0">
                <a:latin typeface="微软雅黑" pitchFamily="34" charset="-122"/>
                <a:ea typeface="微软雅黑" pitchFamily="34" charset="-122"/>
              </a:rPr>
              <a:t>网络层</a:t>
            </a:r>
          </a:p>
          <a:p>
            <a:pPr algn="ctr">
              <a:lnSpc>
                <a:spcPts val="1900"/>
              </a:lnSpc>
              <a:defRPr/>
            </a:pPr>
            <a:r>
              <a:rPr lang="zh-CN" altLang="en-US" sz="1300" b="1" kern="0" dirty="0">
                <a:latin typeface="微软雅黑" pitchFamily="34" charset="-122"/>
                <a:ea typeface="微软雅黑" pitchFamily="34" charset="-122"/>
              </a:rPr>
              <a:t>数据链路层</a:t>
            </a:r>
          </a:p>
          <a:p>
            <a:pPr algn="ctr">
              <a:lnSpc>
                <a:spcPts val="1900"/>
              </a:lnSpc>
              <a:defRPr/>
            </a:pPr>
            <a:r>
              <a:rPr lang="zh-CN" altLang="en-US" sz="1300" b="1" kern="0" dirty="0">
                <a:latin typeface="微软雅黑" pitchFamily="34" charset="-122"/>
                <a:ea typeface="微软雅黑" pitchFamily="34" charset="-122"/>
              </a:rPr>
              <a:t>物理层</a:t>
            </a:r>
          </a:p>
        </p:txBody>
      </p:sp>
    </p:spTree>
    <p:extLst>
      <p:ext uri="{BB962C8B-B14F-4D97-AF65-F5344CB8AC3E}">
        <p14:creationId xmlns:p14="http://schemas.microsoft.com/office/powerpoint/2010/main" val="13895358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AutoShape 5"/>
          <p:cNvSpPr>
            <a:spLocks noChangeArrowheads="1"/>
          </p:cNvSpPr>
          <p:nvPr/>
        </p:nvSpPr>
        <p:spPr bwMode="auto">
          <a:xfrm>
            <a:off x="545144" y="629518"/>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20" name="Rectangle 6"/>
          <p:cNvSpPr>
            <a:spLocks noChangeArrowheads="1"/>
          </p:cNvSpPr>
          <p:nvPr/>
        </p:nvSpPr>
        <p:spPr bwMode="auto">
          <a:xfrm>
            <a:off x="2675659" y="606428"/>
            <a:ext cx="377539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highlight>
                  <a:srgbClr val="FFFF00"/>
                </a:highlight>
                <a:ea typeface="微软雅黑" pitchFamily="34" charset="-122"/>
              </a:rPr>
              <a:t>虚电路服务与数据报服务的对比</a:t>
            </a:r>
          </a:p>
        </p:txBody>
      </p:sp>
      <p:graphicFrame>
        <p:nvGraphicFramePr>
          <p:cNvPr id="21" name="Group 171"/>
          <p:cNvGraphicFramePr>
            <a:graphicFrameLocks noGrp="1"/>
          </p:cNvGraphicFramePr>
          <p:nvPr>
            <p:extLst>
              <p:ext uri="{D42A27DB-BD31-4B8C-83A1-F6EECF244321}">
                <p14:modId xmlns:p14="http://schemas.microsoft.com/office/powerpoint/2010/main" val="2036071632"/>
              </p:ext>
            </p:extLst>
          </p:nvPr>
        </p:nvGraphicFramePr>
        <p:xfrm>
          <a:off x="545144" y="1036803"/>
          <a:ext cx="8053711" cy="3348658"/>
        </p:xfrm>
        <a:graphic>
          <a:graphicData uri="http://schemas.openxmlformats.org/drawingml/2006/table">
            <a:tbl>
              <a:tblPr firstRow="1" firstCol="1" bandRow="1">
                <a:tableStyleId>{5C22544A-7EE6-4342-B048-85BDC9FD1C3A}</a:tableStyleId>
              </a:tblPr>
              <a:tblGrid>
                <a:gridCol w="1861626">
                  <a:extLst>
                    <a:ext uri="{9D8B030D-6E8A-4147-A177-3AD203B41FA5}">
                      <a16:colId xmlns:a16="http://schemas.microsoft.com/office/drawing/2014/main" val="20000"/>
                    </a:ext>
                  </a:extLst>
                </a:gridCol>
                <a:gridCol w="3045124">
                  <a:extLst>
                    <a:ext uri="{9D8B030D-6E8A-4147-A177-3AD203B41FA5}">
                      <a16:colId xmlns:a16="http://schemas.microsoft.com/office/drawing/2014/main" val="20001"/>
                    </a:ext>
                  </a:extLst>
                </a:gridCol>
                <a:gridCol w="3146961">
                  <a:extLst>
                    <a:ext uri="{9D8B030D-6E8A-4147-A177-3AD203B41FA5}">
                      <a16:colId xmlns:a16="http://schemas.microsoft.com/office/drawing/2014/main" val="20002"/>
                    </a:ext>
                  </a:extLst>
                </a:gridCol>
              </a:tblGrid>
              <a:tr h="361618">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对比的方面</a:t>
                      </a:r>
                      <a:endParaRPr kumimoji="0" lang="zh-CN" altLang="en-US" sz="1400" b="1" i="0" u="none" strike="noStrike" cap="none" normalizeH="0" baseline="0" dirty="0">
                        <a:ln>
                          <a:noFill/>
                        </a:ln>
                        <a:solidFill>
                          <a:schemeClr val="bg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虚电路服务</a:t>
                      </a:r>
                      <a:endParaRPr kumimoji="0" lang="zh-CN" altLang="en-US" sz="1400" b="1" i="0" u="none" strike="noStrike" cap="none" normalizeH="0" baseline="0" dirty="0">
                        <a:ln>
                          <a:noFill/>
                        </a:ln>
                        <a:solidFill>
                          <a:schemeClr val="bg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数据报服务</a:t>
                      </a:r>
                      <a:endParaRPr kumimoji="0" lang="zh-CN" altLang="en-US" sz="1400" b="1" i="0" u="none" strike="noStrike" cap="none" normalizeH="0" baseline="0" dirty="0">
                        <a:ln>
                          <a:noFill/>
                        </a:ln>
                        <a:solidFill>
                          <a:schemeClr val="bg1"/>
                        </a:solidFill>
                        <a:effectLst/>
                        <a:latin typeface="微软雅黑" pitchFamily="34" charset="-122"/>
                        <a:ea typeface="微软雅黑" pitchFamily="34" charset="-122"/>
                        <a:cs typeface="Times New Roman" pitchFamily="18" charset="0"/>
                      </a:endParaRPr>
                    </a:p>
                  </a:txBody>
                  <a:tcPr marL="99060" marR="99060" anchor="ctr" horzOverflow="overflow"/>
                </a:tc>
                <a:extLst>
                  <a:ext uri="{0D108BD9-81ED-4DB2-BD59-A6C34878D82A}">
                    <a16:rowId xmlns:a16="http://schemas.microsoft.com/office/drawing/2014/main" val="10000"/>
                  </a:ext>
                </a:extLst>
              </a:tr>
              <a:tr h="192696">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思路</a:t>
                      </a:r>
                      <a:endParaRPr kumimoji="0" lang="zh-CN" altLang="en-US" sz="1400" b="1" i="0" u="none" strike="noStrike" cap="none" normalizeH="0" baseline="0" dirty="0">
                        <a:ln>
                          <a:noFill/>
                        </a:ln>
                        <a:solidFill>
                          <a:schemeClr val="bg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可靠通信应当由网络来保证</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可靠通信应当由用户主机来保证</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endParaRPr>
                    </a:p>
                  </a:txBody>
                  <a:tcPr marL="99060" marR="99060" anchor="ctr" horzOverflow="overflow"/>
                </a:tc>
                <a:extLst>
                  <a:ext uri="{0D108BD9-81ED-4DB2-BD59-A6C34878D82A}">
                    <a16:rowId xmlns:a16="http://schemas.microsoft.com/office/drawing/2014/main" val="10001"/>
                  </a:ext>
                </a:extLst>
              </a:tr>
              <a:tr h="275137">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连接的建立</a:t>
                      </a:r>
                      <a:endParaRPr kumimoji="0" lang="zh-CN" altLang="en-US" sz="1400" b="1" i="0" u="none" strike="noStrike" cap="none" normalizeH="0" baseline="0" dirty="0">
                        <a:ln>
                          <a:noFill/>
                        </a:ln>
                        <a:solidFill>
                          <a:schemeClr val="bg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highlight>
                            <a:srgbClr val="FFFF00"/>
                          </a:highlight>
                          <a:latin typeface="微软雅黑" panose="020B0503020204020204" pitchFamily="34" charset="-122"/>
                          <a:ea typeface="微软雅黑" panose="020B0503020204020204" pitchFamily="34" charset="-122"/>
                        </a:rPr>
                        <a:t>必须有</a:t>
                      </a:r>
                      <a:endParaRPr kumimoji="0" lang="zh-CN" altLang="en-US" sz="1400" b="1" i="0" u="none" strike="noStrike" cap="none" normalizeH="0" baseline="0" dirty="0">
                        <a:ln>
                          <a:noFill/>
                        </a:ln>
                        <a:solidFill>
                          <a:schemeClr val="tx1"/>
                        </a:solidFill>
                        <a:effectLst/>
                        <a:highlight>
                          <a:srgbClr val="FFFF00"/>
                        </a:highligh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highlight>
                            <a:srgbClr val="FFFF00"/>
                          </a:highlight>
                          <a:latin typeface="微软雅黑" panose="020B0503020204020204" pitchFamily="34" charset="-122"/>
                          <a:ea typeface="微软雅黑" panose="020B0503020204020204" pitchFamily="34" charset="-122"/>
                        </a:rPr>
                        <a:t>不需要</a:t>
                      </a:r>
                      <a:endParaRPr kumimoji="0" lang="zh-CN" altLang="en-US" sz="1400" b="1" i="0" u="none" strike="noStrike" cap="none" normalizeH="0" baseline="0" dirty="0">
                        <a:ln>
                          <a:noFill/>
                        </a:ln>
                        <a:solidFill>
                          <a:schemeClr val="tx1"/>
                        </a:solidFill>
                        <a:effectLst/>
                        <a:highlight>
                          <a:srgbClr val="FFFF00"/>
                        </a:highlight>
                        <a:latin typeface="微软雅黑" pitchFamily="34" charset="-122"/>
                        <a:ea typeface="微软雅黑" pitchFamily="34" charset="-122"/>
                        <a:cs typeface="Times New Roman" pitchFamily="18" charset="0"/>
                      </a:endParaRPr>
                    </a:p>
                  </a:txBody>
                  <a:tcPr marL="99060" marR="99060" anchor="ctr" horzOverflow="overflow"/>
                </a:tc>
                <a:extLst>
                  <a:ext uri="{0D108BD9-81ED-4DB2-BD59-A6C34878D82A}">
                    <a16:rowId xmlns:a16="http://schemas.microsoft.com/office/drawing/2014/main" val="10002"/>
                  </a:ext>
                </a:extLst>
              </a:tr>
              <a:tr h="333611">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终点地址</a:t>
                      </a:r>
                      <a:endParaRPr kumimoji="0" lang="zh-CN" altLang="en-US" sz="1400" b="1" i="0" u="none" strike="noStrike" cap="none" normalizeH="0" baseline="0" dirty="0">
                        <a:ln>
                          <a:noFill/>
                        </a:ln>
                        <a:solidFill>
                          <a:schemeClr val="bg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仅在连接建立阶段使用，每个分组使用短的虚电路号</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highlight>
                            <a:srgbClr val="FFFF00"/>
                          </a:highlight>
                          <a:latin typeface="微软雅黑" panose="020B0503020204020204" pitchFamily="34" charset="-122"/>
                          <a:ea typeface="微软雅黑" panose="020B0503020204020204" pitchFamily="34" charset="-122"/>
                        </a:rPr>
                        <a:t>每个分组都有终点的完整地址</a:t>
                      </a:r>
                      <a:endParaRPr kumimoji="0" lang="zh-CN" altLang="en-US" sz="1400" b="1" i="0" u="none" strike="noStrike" cap="none" normalizeH="0" baseline="0" dirty="0">
                        <a:ln>
                          <a:noFill/>
                        </a:ln>
                        <a:solidFill>
                          <a:schemeClr val="tx1"/>
                        </a:solidFill>
                        <a:effectLst/>
                        <a:highlight>
                          <a:srgbClr val="FFFF00"/>
                        </a:highlight>
                        <a:latin typeface="微软雅黑" pitchFamily="34" charset="-122"/>
                        <a:ea typeface="微软雅黑" pitchFamily="34" charset="-122"/>
                        <a:cs typeface="Times New Roman" pitchFamily="18" charset="0"/>
                      </a:endParaRPr>
                    </a:p>
                  </a:txBody>
                  <a:tcPr marL="99060" marR="99060" anchor="ctr" horzOverflow="overflow"/>
                </a:tc>
                <a:extLst>
                  <a:ext uri="{0D108BD9-81ED-4DB2-BD59-A6C34878D82A}">
                    <a16:rowId xmlns:a16="http://schemas.microsoft.com/office/drawing/2014/main" val="10003"/>
                  </a:ext>
                </a:extLst>
              </a:tr>
              <a:tr h="333611">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分组的转发</a:t>
                      </a:r>
                      <a:endParaRPr kumimoji="0" lang="zh-CN" altLang="en-US" sz="1400" b="1" i="0" u="none" strike="noStrike" cap="none" normalizeH="0" baseline="0" dirty="0">
                        <a:ln>
                          <a:noFill/>
                        </a:ln>
                        <a:solidFill>
                          <a:schemeClr val="bg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highlight>
                            <a:srgbClr val="FFFF00"/>
                          </a:highlight>
                          <a:latin typeface="微软雅黑" panose="020B0503020204020204" pitchFamily="34" charset="-122"/>
                          <a:ea typeface="微软雅黑" panose="020B0503020204020204" pitchFamily="34" charset="-122"/>
                        </a:rPr>
                        <a:t>属于同一条虚电路的分组均按照同一路由进行转发</a:t>
                      </a:r>
                      <a:endParaRPr kumimoji="0" lang="zh-CN" altLang="en-US" sz="1400" b="1" i="0" u="none" strike="noStrike" cap="none" normalizeH="0" baseline="0" dirty="0">
                        <a:ln>
                          <a:noFill/>
                        </a:ln>
                        <a:solidFill>
                          <a:schemeClr val="tx1"/>
                        </a:solidFill>
                        <a:effectLst/>
                        <a:highlight>
                          <a:srgbClr val="FFFF00"/>
                        </a:highligh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每个分组</a:t>
                      </a:r>
                      <a:r>
                        <a:rPr kumimoji="0" lang="zh-CN" altLang="en-US" sz="1400" b="1" u="none" strike="noStrike" cap="none" normalizeH="0" baseline="0" dirty="0">
                          <a:ln>
                            <a:noFill/>
                          </a:ln>
                          <a:effectLst/>
                          <a:highlight>
                            <a:srgbClr val="FFFF00"/>
                          </a:highlight>
                          <a:latin typeface="微软雅黑" panose="020B0503020204020204" pitchFamily="34" charset="-122"/>
                          <a:ea typeface="微软雅黑" panose="020B0503020204020204" pitchFamily="34" charset="-122"/>
                        </a:rPr>
                        <a:t>独立选择路由进行转发</a:t>
                      </a:r>
                      <a:endParaRPr kumimoji="0" lang="zh-CN" altLang="en-US" sz="1400" b="1" i="0" u="none" strike="noStrike" cap="none" normalizeH="0" baseline="0" dirty="0">
                        <a:ln>
                          <a:noFill/>
                        </a:ln>
                        <a:solidFill>
                          <a:schemeClr val="tx1"/>
                        </a:solidFill>
                        <a:effectLst/>
                        <a:highlight>
                          <a:srgbClr val="FFFF00"/>
                        </a:highlight>
                        <a:latin typeface="微软雅黑" pitchFamily="34" charset="-122"/>
                        <a:ea typeface="微软雅黑" pitchFamily="34" charset="-122"/>
                        <a:cs typeface="Times New Roman" pitchFamily="18" charset="0"/>
                      </a:endParaRPr>
                    </a:p>
                  </a:txBody>
                  <a:tcPr marL="99060" marR="99060" anchor="ctr" horzOverflow="overflow"/>
                </a:tc>
                <a:extLst>
                  <a:ext uri="{0D108BD9-81ED-4DB2-BD59-A6C34878D82A}">
                    <a16:rowId xmlns:a16="http://schemas.microsoft.com/office/drawing/2014/main" val="10004"/>
                  </a:ext>
                </a:extLst>
              </a:tr>
              <a:tr h="333611">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当结点出故障时</a:t>
                      </a:r>
                      <a:endParaRPr kumimoji="0" lang="zh-CN" altLang="en-US" sz="1400" b="1" i="0" u="none" strike="noStrike" cap="none" normalizeH="0" baseline="0" dirty="0">
                        <a:ln>
                          <a:noFill/>
                        </a:ln>
                        <a:solidFill>
                          <a:schemeClr val="bg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a:ln>
                            <a:noFill/>
                          </a:ln>
                          <a:effectLst/>
                          <a:latin typeface="微软雅黑" panose="020B0503020204020204" pitchFamily="34" charset="-122"/>
                          <a:ea typeface="微软雅黑" panose="020B0503020204020204" pitchFamily="34" charset="-122"/>
                        </a:rPr>
                        <a:t>所有通过出故障的结点的虚电路均不能工作</a:t>
                      </a:r>
                      <a:endParaRPr kumimoji="0" lang="zh-CN" altLang="en-US" sz="1400" b="1" i="0" u="none" strike="noStrike" cap="none" normalizeH="0" baseline="0">
                        <a:ln>
                          <a:noFill/>
                        </a:ln>
                        <a:solidFill>
                          <a:schemeClr val="tx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出故障的结点可能会丢失分组，一些路由可能会发生变化</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endParaRPr>
                    </a:p>
                  </a:txBody>
                  <a:tcPr marL="99060" marR="99060" anchor="ctr" horzOverflow="overflow"/>
                </a:tc>
                <a:extLst>
                  <a:ext uri="{0D108BD9-81ED-4DB2-BD59-A6C34878D82A}">
                    <a16:rowId xmlns:a16="http://schemas.microsoft.com/office/drawing/2014/main" val="10005"/>
                  </a:ext>
                </a:extLst>
              </a:tr>
              <a:tr h="192696">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分组的顺序</a:t>
                      </a:r>
                      <a:endParaRPr kumimoji="0" lang="zh-CN" altLang="en-US" sz="1400" b="1" i="0" u="none" strike="noStrike" cap="none" normalizeH="0" baseline="0" dirty="0">
                        <a:ln>
                          <a:noFill/>
                        </a:ln>
                        <a:solidFill>
                          <a:schemeClr val="bg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highlight>
                            <a:srgbClr val="FFFF00"/>
                          </a:highlight>
                          <a:latin typeface="微软雅黑" panose="020B0503020204020204" pitchFamily="34" charset="-122"/>
                          <a:ea typeface="微软雅黑" panose="020B0503020204020204" pitchFamily="34" charset="-122"/>
                        </a:rPr>
                        <a:t>总是按发送顺序到达终点</a:t>
                      </a:r>
                      <a:endParaRPr kumimoji="0" lang="zh-CN" altLang="en-US" sz="1400" b="1" i="0" u="none" strike="noStrike" cap="none" normalizeH="0" baseline="0" dirty="0">
                        <a:ln>
                          <a:noFill/>
                        </a:ln>
                        <a:solidFill>
                          <a:schemeClr val="tx1"/>
                        </a:solidFill>
                        <a:effectLst/>
                        <a:highlight>
                          <a:srgbClr val="FFFF00"/>
                        </a:highligh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highlight>
                            <a:srgbClr val="FFFF00"/>
                          </a:highlight>
                          <a:latin typeface="微软雅黑" panose="020B0503020204020204" pitchFamily="34" charset="-122"/>
                          <a:ea typeface="微软雅黑" panose="020B0503020204020204" pitchFamily="34" charset="-122"/>
                        </a:rPr>
                        <a:t>到达终点时不一定按发送顺序</a:t>
                      </a:r>
                      <a:endParaRPr kumimoji="0" lang="zh-CN" altLang="en-US" sz="1400" b="1" i="0" u="none" strike="noStrike" cap="none" normalizeH="0" baseline="0" dirty="0">
                        <a:ln>
                          <a:noFill/>
                        </a:ln>
                        <a:solidFill>
                          <a:schemeClr val="tx1"/>
                        </a:solidFill>
                        <a:effectLst/>
                        <a:highlight>
                          <a:srgbClr val="FFFF00"/>
                        </a:highlight>
                        <a:latin typeface="微软雅黑" pitchFamily="34" charset="-122"/>
                        <a:ea typeface="微软雅黑" pitchFamily="34" charset="-122"/>
                        <a:cs typeface="Times New Roman" pitchFamily="18" charset="0"/>
                      </a:endParaRPr>
                    </a:p>
                  </a:txBody>
                  <a:tcPr marL="99060" marR="99060" anchor="ctr" horzOverflow="overflow"/>
                </a:tc>
                <a:extLst>
                  <a:ext uri="{0D108BD9-81ED-4DB2-BD59-A6C34878D82A}">
                    <a16:rowId xmlns:a16="http://schemas.microsoft.com/office/drawing/2014/main" val="10006"/>
                  </a:ext>
                </a:extLst>
              </a:tr>
              <a:tr h="474525">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端到端的差错处理和流量控制</a:t>
                      </a:r>
                      <a:endParaRPr kumimoji="0" lang="zh-CN" altLang="en-US" sz="1400" b="1" i="0" u="none" strike="noStrike" cap="none" normalizeH="0" baseline="0" dirty="0">
                        <a:ln>
                          <a:noFill/>
                        </a:ln>
                        <a:solidFill>
                          <a:schemeClr val="bg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可以由网络负责，也可以由用户主机负责</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由用户主机负责</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endParaRPr>
                    </a:p>
                  </a:txBody>
                  <a:tcPr marL="99060" marR="99060" anchor="ctr" horzOverflow="overflow"/>
                </a:tc>
                <a:extLst>
                  <a:ext uri="{0D108BD9-81ED-4DB2-BD59-A6C34878D82A}">
                    <a16:rowId xmlns:a16="http://schemas.microsoft.com/office/drawing/2014/main" val="10007"/>
                  </a:ext>
                </a:extLst>
              </a:tr>
            </a:tbl>
          </a:graphicData>
        </a:graphic>
      </p:graphicFrame>
    </p:spTree>
    <p:extLst>
      <p:ext uri="{BB962C8B-B14F-4D97-AF65-F5344CB8AC3E}">
        <p14:creationId xmlns:p14="http://schemas.microsoft.com/office/powerpoint/2010/main" val="158121767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466345" y="604556"/>
            <a:ext cx="8129015"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830981" y="553141"/>
            <a:ext cx="348204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4.1.2 </a:t>
            </a:r>
            <a:r>
              <a:rPr lang="zh-CN" altLang="en-US" sz="2400" b="1" dirty="0">
                <a:solidFill>
                  <a:schemeClr val="bg1"/>
                </a:solidFill>
                <a:latin typeface="微软雅黑" pitchFamily="34" charset="-122"/>
                <a:ea typeface="微软雅黑" pitchFamily="34" charset="-122"/>
              </a:rPr>
              <a:t>网络层的两个层面</a:t>
            </a:r>
          </a:p>
        </p:txBody>
      </p:sp>
      <p:sp>
        <p:nvSpPr>
          <p:cNvPr id="4" name="Rectangle 8"/>
          <p:cNvSpPr>
            <a:spLocks noChangeArrowheads="1"/>
          </p:cNvSpPr>
          <p:nvPr/>
        </p:nvSpPr>
        <p:spPr bwMode="auto">
          <a:xfrm>
            <a:off x="466346" y="1004505"/>
            <a:ext cx="8129014" cy="20928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不同网络中的两个主机之间的通信，要经过若干个路由器转发分组来完成。</a:t>
            </a:r>
            <a:endParaRPr lang="en-US" altLang="zh-CN" sz="2000" b="1" dirty="0">
              <a:latin typeface="微软雅黑" pitchFamily="34" charset="-122"/>
              <a:ea typeface="微软雅黑" pitchFamily="34" charset="-122"/>
            </a:endParaRPr>
          </a:p>
          <a:p>
            <a:pPr marL="357188" indent="-3571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在路由器之间传送的信息有以下 </a:t>
            </a:r>
            <a:r>
              <a:rPr lang="en-US" altLang="zh-CN" sz="2000" b="1" dirty="0">
                <a:latin typeface="微软雅黑" pitchFamily="34" charset="-122"/>
                <a:ea typeface="微软雅黑" pitchFamily="34" charset="-122"/>
              </a:rPr>
              <a:t>2 </a:t>
            </a:r>
            <a:r>
              <a:rPr lang="zh-CN" altLang="en-US" sz="2000" b="1" dirty="0">
                <a:latin typeface="微软雅黑" pitchFamily="34" charset="-122"/>
                <a:ea typeface="微软雅黑" pitchFamily="34" charset="-122"/>
              </a:rPr>
              <a:t>大类：</a:t>
            </a:r>
          </a:p>
          <a:p>
            <a:pPr marL="542925" indent="-342900">
              <a:lnSpc>
                <a:spcPts val="3300"/>
              </a:lnSpc>
              <a:buClr>
                <a:srgbClr val="CC0099"/>
              </a:buClr>
              <a:buSzPct val="90000"/>
              <a:buFont typeface="+mj-lt"/>
              <a:buAutoNum type="arabicPeriod"/>
            </a:pPr>
            <a:r>
              <a:rPr lang="zh-CN" altLang="en-US" sz="2000" b="1" dirty="0">
                <a:latin typeface="微软雅黑" pitchFamily="34" charset="-122"/>
                <a:ea typeface="微软雅黑" pitchFamily="34" charset="-122"/>
              </a:rPr>
              <a:t>数据。</a:t>
            </a:r>
          </a:p>
          <a:p>
            <a:pPr marL="542925" indent="-342900">
              <a:lnSpc>
                <a:spcPts val="3300"/>
              </a:lnSpc>
              <a:buClr>
                <a:srgbClr val="CC0099"/>
              </a:buClr>
              <a:buSzPct val="90000"/>
              <a:buFont typeface="+mj-lt"/>
              <a:buAutoNum type="arabicPeriod"/>
            </a:pPr>
            <a:r>
              <a:rPr lang="zh-CN" altLang="en-US" sz="2000" b="1" dirty="0">
                <a:latin typeface="微软雅黑" pitchFamily="34" charset="-122"/>
                <a:ea typeface="微软雅黑" pitchFamily="34" charset="-122"/>
              </a:rPr>
              <a:t>路由信息（为数据传送服务）。</a:t>
            </a:r>
            <a:endParaRPr lang="en-US" altLang="zh-CN" sz="2000" b="1" dirty="0">
              <a:latin typeface="微软雅黑" pitchFamily="34" charset="-122"/>
              <a:ea typeface="微软雅黑" pitchFamily="34" charset="-122"/>
            </a:endParaRPr>
          </a:p>
        </p:txBody>
      </p:sp>
    </p:spTree>
    <p:extLst>
      <p:ext uri="{BB962C8B-B14F-4D97-AF65-F5344CB8AC3E}">
        <p14:creationId xmlns:p14="http://schemas.microsoft.com/office/powerpoint/2010/main" val="254419409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圆角矩形 86"/>
          <p:cNvSpPr/>
          <p:nvPr/>
        </p:nvSpPr>
        <p:spPr>
          <a:xfrm>
            <a:off x="541648" y="1015154"/>
            <a:ext cx="8053712" cy="311689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 name="AutoShape 5"/>
          <p:cNvSpPr>
            <a:spLocks noChangeArrowheads="1"/>
          </p:cNvSpPr>
          <p:nvPr/>
        </p:nvSpPr>
        <p:spPr bwMode="auto">
          <a:xfrm>
            <a:off x="466345" y="604556"/>
            <a:ext cx="8129015"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830981" y="553141"/>
            <a:ext cx="348204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4.1.2 </a:t>
            </a:r>
            <a:r>
              <a:rPr lang="zh-CN" altLang="en-US" sz="2400" b="1" dirty="0">
                <a:solidFill>
                  <a:schemeClr val="bg1"/>
                </a:solidFill>
                <a:latin typeface="微软雅黑" pitchFamily="34" charset="-122"/>
                <a:ea typeface="微软雅黑" pitchFamily="34" charset="-122"/>
              </a:rPr>
              <a:t>网络层的两个层面</a:t>
            </a:r>
          </a:p>
        </p:txBody>
      </p:sp>
      <p:grpSp>
        <p:nvGrpSpPr>
          <p:cNvPr id="100" name="组合 99"/>
          <p:cNvGrpSpPr/>
          <p:nvPr/>
        </p:nvGrpSpPr>
        <p:grpSpPr>
          <a:xfrm>
            <a:off x="957532" y="1263300"/>
            <a:ext cx="7040366" cy="2667520"/>
            <a:chOff x="957532" y="1263300"/>
            <a:chExt cx="7040366" cy="2667520"/>
          </a:xfrm>
        </p:grpSpPr>
        <p:sp>
          <p:nvSpPr>
            <p:cNvPr id="6" name="Line 151"/>
            <p:cNvSpPr>
              <a:spLocks noChangeShapeType="1"/>
            </p:cNvSpPr>
            <p:nvPr/>
          </p:nvSpPr>
          <p:spPr bwMode="auto">
            <a:xfrm>
              <a:off x="4778385" y="2851395"/>
              <a:ext cx="936104" cy="504056"/>
            </a:xfrm>
            <a:prstGeom prst="line">
              <a:avLst/>
            </a:prstGeom>
            <a:noFill/>
            <a:ln w="2857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7" name="Line 79"/>
            <p:cNvSpPr>
              <a:spLocks noChangeShapeType="1"/>
            </p:cNvSpPr>
            <p:nvPr/>
          </p:nvSpPr>
          <p:spPr bwMode="auto">
            <a:xfrm>
              <a:off x="2978185" y="3355451"/>
              <a:ext cx="720502" cy="216545"/>
            </a:xfrm>
            <a:prstGeom prst="line">
              <a:avLst/>
            </a:prstGeom>
            <a:noFill/>
            <a:ln w="952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9" name="Line 99"/>
            <p:cNvSpPr>
              <a:spLocks noChangeShapeType="1"/>
            </p:cNvSpPr>
            <p:nvPr/>
          </p:nvSpPr>
          <p:spPr bwMode="auto">
            <a:xfrm>
              <a:off x="3914289" y="3643483"/>
              <a:ext cx="1296417" cy="215206"/>
            </a:xfrm>
            <a:prstGeom prst="line">
              <a:avLst/>
            </a:prstGeom>
            <a:noFill/>
            <a:ln w="2857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0" name="Line 100"/>
            <p:cNvSpPr>
              <a:spLocks noChangeShapeType="1"/>
            </p:cNvSpPr>
            <p:nvPr/>
          </p:nvSpPr>
          <p:spPr bwMode="auto">
            <a:xfrm flipV="1">
              <a:off x="3914587" y="3427458"/>
              <a:ext cx="1799902" cy="144536"/>
            </a:xfrm>
            <a:prstGeom prst="line">
              <a:avLst/>
            </a:prstGeom>
            <a:noFill/>
            <a:ln w="2857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1" name="Line 101"/>
            <p:cNvSpPr>
              <a:spLocks noChangeShapeType="1"/>
            </p:cNvSpPr>
            <p:nvPr/>
          </p:nvSpPr>
          <p:spPr bwMode="auto">
            <a:xfrm>
              <a:off x="6002521" y="3427459"/>
              <a:ext cx="936253" cy="215974"/>
            </a:xfrm>
            <a:prstGeom prst="line">
              <a:avLst/>
            </a:prstGeom>
            <a:noFill/>
            <a:ln w="2857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2" name="Line 102"/>
            <p:cNvSpPr>
              <a:spLocks noChangeShapeType="1"/>
            </p:cNvSpPr>
            <p:nvPr/>
          </p:nvSpPr>
          <p:spPr bwMode="auto">
            <a:xfrm flipV="1">
              <a:off x="5498465" y="3716459"/>
              <a:ext cx="1440309" cy="143048"/>
            </a:xfrm>
            <a:prstGeom prst="line">
              <a:avLst/>
            </a:prstGeom>
            <a:noFill/>
            <a:ln w="2857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3" name="Line 103"/>
            <p:cNvSpPr>
              <a:spLocks noChangeShapeType="1"/>
            </p:cNvSpPr>
            <p:nvPr/>
          </p:nvSpPr>
          <p:spPr bwMode="auto">
            <a:xfrm flipV="1">
              <a:off x="7010211" y="3355451"/>
              <a:ext cx="864517" cy="287983"/>
            </a:xfrm>
            <a:prstGeom prst="line">
              <a:avLst/>
            </a:prstGeom>
            <a:noFill/>
            <a:ln w="952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5" name="Line 107"/>
            <p:cNvSpPr>
              <a:spLocks noChangeShapeType="1"/>
            </p:cNvSpPr>
            <p:nvPr/>
          </p:nvSpPr>
          <p:spPr bwMode="auto">
            <a:xfrm flipV="1">
              <a:off x="3914587" y="2851394"/>
              <a:ext cx="647774" cy="649161"/>
            </a:xfrm>
            <a:prstGeom prst="line">
              <a:avLst/>
            </a:prstGeom>
            <a:noFill/>
            <a:ln w="2857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6" name="Line 108"/>
            <p:cNvSpPr>
              <a:spLocks noChangeShapeType="1"/>
            </p:cNvSpPr>
            <p:nvPr/>
          </p:nvSpPr>
          <p:spPr bwMode="auto">
            <a:xfrm>
              <a:off x="4922401" y="2779387"/>
              <a:ext cx="2087811" cy="792608"/>
            </a:xfrm>
            <a:prstGeom prst="line">
              <a:avLst/>
            </a:prstGeom>
            <a:noFill/>
            <a:ln w="2857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 name="Picture 109"/>
            <p:cNvPicPr>
              <a:picLocks noChangeArrowheads="1"/>
            </p:cNvPicPr>
            <p:nvPr/>
          </p:nvPicPr>
          <p:blipFill>
            <a:blip r:embed="rId2" cstate="print"/>
            <a:srcRect/>
            <a:stretch>
              <a:fillRect/>
            </a:stretch>
          </p:blipFill>
          <p:spPr bwMode="auto">
            <a:xfrm>
              <a:off x="3609787" y="3427534"/>
              <a:ext cx="520700" cy="287337"/>
            </a:xfrm>
            <a:prstGeom prst="rect">
              <a:avLst/>
            </a:prstGeom>
            <a:noFill/>
            <a:ln w="12699">
              <a:noFill/>
              <a:miter lim="800000"/>
              <a:headEnd/>
              <a:tailEnd/>
            </a:ln>
          </p:spPr>
        </p:pic>
        <p:pic>
          <p:nvPicPr>
            <p:cNvPr id="18" name="Picture 110"/>
            <p:cNvPicPr>
              <a:picLocks noChangeArrowheads="1"/>
            </p:cNvPicPr>
            <p:nvPr/>
          </p:nvPicPr>
          <p:blipFill>
            <a:blip r:embed="rId2" cstate="print"/>
            <a:srcRect/>
            <a:stretch>
              <a:fillRect/>
            </a:stretch>
          </p:blipFill>
          <p:spPr bwMode="auto">
            <a:xfrm>
              <a:off x="5642481" y="3283443"/>
              <a:ext cx="520700" cy="287337"/>
            </a:xfrm>
            <a:prstGeom prst="rect">
              <a:avLst/>
            </a:prstGeom>
            <a:noFill/>
            <a:ln w="12699">
              <a:noFill/>
              <a:miter lim="800000"/>
              <a:headEnd/>
              <a:tailEnd/>
            </a:ln>
          </p:spPr>
        </p:pic>
        <p:pic>
          <p:nvPicPr>
            <p:cNvPr id="19" name="Picture 111"/>
            <p:cNvPicPr>
              <a:picLocks noChangeArrowheads="1"/>
            </p:cNvPicPr>
            <p:nvPr/>
          </p:nvPicPr>
          <p:blipFill>
            <a:blip r:embed="rId2" cstate="print"/>
            <a:srcRect/>
            <a:stretch>
              <a:fillRect/>
            </a:stretch>
          </p:blipFill>
          <p:spPr bwMode="auto">
            <a:xfrm>
              <a:off x="5066417" y="3643483"/>
              <a:ext cx="520700" cy="287337"/>
            </a:xfrm>
            <a:prstGeom prst="rect">
              <a:avLst/>
            </a:prstGeom>
            <a:noFill/>
            <a:ln w="12699">
              <a:noFill/>
              <a:miter lim="800000"/>
              <a:headEnd/>
              <a:tailEnd/>
            </a:ln>
          </p:spPr>
        </p:pic>
        <p:pic>
          <p:nvPicPr>
            <p:cNvPr id="20" name="Picture 112"/>
            <p:cNvPicPr>
              <a:picLocks noChangeArrowheads="1"/>
            </p:cNvPicPr>
            <p:nvPr/>
          </p:nvPicPr>
          <p:blipFill>
            <a:blip r:embed="rId2" cstate="print"/>
            <a:srcRect/>
            <a:stretch>
              <a:fillRect/>
            </a:stretch>
          </p:blipFill>
          <p:spPr bwMode="auto">
            <a:xfrm>
              <a:off x="6722874" y="3500559"/>
              <a:ext cx="520700" cy="287337"/>
            </a:xfrm>
            <a:prstGeom prst="rect">
              <a:avLst/>
            </a:prstGeom>
            <a:noFill/>
            <a:ln w="12699">
              <a:noFill/>
              <a:miter lim="800000"/>
              <a:headEnd/>
              <a:tailEnd/>
            </a:ln>
          </p:spPr>
        </p:pic>
        <p:pic>
          <p:nvPicPr>
            <p:cNvPr id="21" name="Picture 113"/>
            <p:cNvPicPr>
              <a:picLocks noChangeArrowheads="1"/>
            </p:cNvPicPr>
            <p:nvPr/>
          </p:nvPicPr>
          <p:blipFill>
            <a:blip r:embed="rId2" cstate="print"/>
            <a:srcRect/>
            <a:stretch>
              <a:fillRect/>
            </a:stretch>
          </p:blipFill>
          <p:spPr bwMode="auto">
            <a:xfrm>
              <a:off x="4418345" y="2635371"/>
              <a:ext cx="520700" cy="287338"/>
            </a:xfrm>
            <a:prstGeom prst="rect">
              <a:avLst/>
            </a:prstGeom>
            <a:noFill/>
            <a:ln w="12699">
              <a:noFill/>
              <a:miter lim="800000"/>
              <a:headEnd/>
              <a:tailEnd/>
            </a:ln>
          </p:spPr>
        </p:pic>
        <p:pic>
          <p:nvPicPr>
            <p:cNvPr id="22" name="Picture 113"/>
            <p:cNvPicPr>
              <a:picLocks noChangeArrowheads="1"/>
            </p:cNvPicPr>
            <p:nvPr/>
          </p:nvPicPr>
          <p:blipFill>
            <a:blip r:embed="rId2" cstate="print"/>
            <a:srcRect/>
            <a:stretch>
              <a:fillRect/>
            </a:stretch>
          </p:blipFill>
          <p:spPr bwMode="auto">
            <a:xfrm>
              <a:off x="3557370" y="1365789"/>
              <a:ext cx="351656" cy="189462"/>
            </a:xfrm>
            <a:prstGeom prst="rect">
              <a:avLst/>
            </a:prstGeom>
            <a:noFill/>
            <a:ln w="12699">
              <a:noFill/>
              <a:miter lim="800000"/>
              <a:headEnd/>
              <a:tailEnd/>
            </a:ln>
          </p:spPr>
        </p:pic>
        <p:sp>
          <p:nvSpPr>
            <p:cNvPr id="23" name="矩形 22"/>
            <p:cNvSpPr/>
            <p:nvPr/>
          </p:nvSpPr>
          <p:spPr>
            <a:xfrm>
              <a:off x="3625186" y="2131315"/>
              <a:ext cx="216024" cy="288032"/>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cxnSp>
          <p:nvCxnSpPr>
            <p:cNvPr id="24" name="直接连接符 23"/>
            <p:cNvCxnSpPr/>
            <p:nvPr/>
          </p:nvCxnSpPr>
          <p:spPr>
            <a:xfrm>
              <a:off x="3625186" y="218892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直接连接符 24"/>
            <p:cNvCxnSpPr/>
            <p:nvPr/>
          </p:nvCxnSpPr>
          <p:spPr>
            <a:xfrm>
              <a:off x="3625186" y="2246528"/>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接连接符 25"/>
            <p:cNvCxnSpPr/>
            <p:nvPr/>
          </p:nvCxnSpPr>
          <p:spPr>
            <a:xfrm>
              <a:off x="3625186" y="23108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直接连接符 26"/>
            <p:cNvCxnSpPr/>
            <p:nvPr/>
          </p:nvCxnSpPr>
          <p:spPr>
            <a:xfrm>
              <a:off x="3625186" y="23617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a:off x="3733198" y="2140897"/>
              <a:ext cx="0" cy="2773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9" name="椭圆 28"/>
            <p:cNvSpPr/>
            <p:nvPr/>
          </p:nvSpPr>
          <p:spPr>
            <a:xfrm>
              <a:off x="3554249" y="1621774"/>
              <a:ext cx="357899" cy="144016"/>
            </a:xfrm>
            <a:prstGeom prst="ellipse">
              <a:avLst/>
            </a:prstGeom>
            <a:solidFill>
              <a:schemeClr val="bg1"/>
            </a:solidFill>
            <a:ln w="1270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30" name="下箭头 29"/>
            <p:cNvSpPr/>
            <p:nvPr/>
          </p:nvSpPr>
          <p:spPr>
            <a:xfrm>
              <a:off x="3697194" y="1765790"/>
              <a:ext cx="72008" cy="360040"/>
            </a:xfrm>
            <a:prstGeom prst="downArrow">
              <a:avLst/>
            </a:prstGeom>
            <a:solidFill>
              <a:schemeClr val="bg1"/>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pic>
          <p:nvPicPr>
            <p:cNvPr id="31" name="Picture 113"/>
            <p:cNvPicPr>
              <a:picLocks noChangeArrowheads="1"/>
            </p:cNvPicPr>
            <p:nvPr/>
          </p:nvPicPr>
          <p:blipFill>
            <a:blip r:embed="rId2" cstate="print"/>
            <a:srcRect/>
            <a:stretch>
              <a:fillRect/>
            </a:stretch>
          </p:blipFill>
          <p:spPr bwMode="auto">
            <a:xfrm>
              <a:off x="4423607" y="1365789"/>
              <a:ext cx="351656" cy="189462"/>
            </a:xfrm>
            <a:prstGeom prst="rect">
              <a:avLst/>
            </a:prstGeom>
            <a:noFill/>
            <a:ln w="12699">
              <a:noFill/>
              <a:miter lim="800000"/>
              <a:headEnd/>
              <a:tailEnd/>
            </a:ln>
          </p:spPr>
        </p:pic>
        <p:sp>
          <p:nvSpPr>
            <p:cNvPr id="32" name="矩形 31"/>
            <p:cNvSpPr/>
            <p:nvPr/>
          </p:nvSpPr>
          <p:spPr>
            <a:xfrm>
              <a:off x="4491423" y="2131315"/>
              <a:ext cx="216024" cy="288032"/>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cxnSp>
          <p:nvCxnSpPr>
            <p:cNvPr id="33" name="直接连接符 32"/>
            <p:cNvCxnSpPr/>
            <p:nvPr/>
          </p:nvCxnSpPr>
          <p:spPr>
            <a:xfrm>
              <a:off x="4491423" y="218892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a:off x="4491423" y="2246528"/>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直接连接符 34"/>
            <p:cNvCxnSpPr/>
            <p:nvPr/>
          </p:nvCxnSpPr>
          <p:spPr>
            <a:xfrm>
              <a:off x="4491423" y="23108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p:cNvCxnSpPr/>
            <p:nvPr/>
          </p:nvCxnSpPr>
          <p:spPr>
            <a:xfrm>
              <a:off x="4491423" y="23617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连接符 36"/>
            <p:cNvCxnSpPr/>
            <p:nvPr/>
          </p:nvCxnSpPr>
          <p:spPr>
            <a:xfrm>
              <a:off x="4599435" y="2140897"/>
              <a:ext cx="0" cy="2773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椭圆 37"/>
            <p:cNvSpPr/>
            <p:nvPr/>
          </p:nvSpPr>
          <p:spPr>
            <a:xfrm>
              <a:off x="4420486" y="1621774"/>
              <a:ext cx="357899" cy="144016"/>
            </a:xfrm>
            <a:prstGeom prst="ellipse">
              <a:avLst/>
            </a:prstGeom>
            <a:solidFill>
              <a:schemeClr val="bg1"/>
            </a:solidFill>
            <a:ln w="1270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39" name="下箭头 38"/>
            <p:cNvSpPr/>
            <p:nvPr/>
          </p:nvSpPr>
          <p:spPr>
            <a:xfrm>
              <a:off x="4563431" y="1765790"/>
              <a:ext cx="72008" cy="360040"/>
            </a:xfrm>
            <a:prstGeom prst="downArrow">
              <a:avLst/>
            </a:prstGeom>
            <a:solidFill>
              <a:schemeClr val="bg1"/>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pic>
          <p:nvPicPr>
            <p:cNvPr id="40" name="Picture 113"/>
            <p:cNvPicPr>
              <a:picLocks noChangeArrowheads="1"/>
            </p:cNvPicPr>
            <p:nvPr/>
          </p:nvPicPr>
          <p:blipFill>
            <a:blip r:embed="rId2" cstate="print"/>
            <a:srcRect/>
            <a:stretch>
              <a:fillRect/>
            </a:stretch>
          </p:blipFill>
          <p:spPr bwMode="auto">
            <a:xfrm>
              <a:off x="5143687" y="1365789"/>
              <a:ext cx="351656" cy="189462"/>
            </a:xfrm>
            <a:prstGeom prst="rect">
              <a:avLst/>
            </a:prstGeom>
            <a:noFill/>
            <a:ln w="12699">
              <a:noFill/>
              <a:miter lim="800000"/>
              <a:headEnd/>
              <a:tailEnd/>
            </a:ln>
          </p:spPr>
        </p:pic>
        <p:sp>
          <p:nvSpPr>
            <p:cNvPr id="41" name="矩形 40"/>
            <p:cNvSpPr/>
            <p:nvPr/>
          </p:nvSpPr>
          <p:spPr>
            <a:xfrm>
              <a:off x="5211503" y="2131315"/>
              <a:ext cx="216024" cy="288032"/>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cxnSp>
          <p:nvCxnSpPr>
            <p:cNvPr id="42" name="直接连接符 41"/>
            <p:cNvCxnSpPr/>
            <p:nvPr/>
          </p:nvCxnSpPr>
          <p:spPr>
            <a:xfrm>
              <a:off x="5211503" y="218892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a:off x="5211503" y="2246528"/>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直接连接符 43"/>
            <p:cNvCxnSpPr/>
            <p:nvPr/>
          </p:nvCxnSpPr>
          <p:spPr>
            <a:xfrm>
              <a:off x="5211503" y="23108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接连接符 44"/>
            <p:cNvCxnSpPr/>
            <p:nvPr/>
          </p:nvCxnSpPr>
          <p:spPr>
            <a:xfrm>
              <a:off x="5211503" y="23617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p:cNvCxnSpPr/>
            <p:nvPr/>
          </p:nvCxnSpPr>
          <p:spPr>
            <a:xfrm>
              <a:off x="5319515" y="2140897"/>
              <a:ext cx="0" cy="2773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47" name="椭圆 46"/>
            <p:cNvSpPr/>
            <p:nvPr/>
          </p:nvSpPr>
          <p:spPr>
            <a:xfrm>
              <a:off x="5140566" y="1621774"/>
              <a:ext cx="357899" cy="144016"/>
            </a:xfrm>
            <a:prstGeom prst="ellipse">
              <a:avLst/>
            </a:prstGeom>
            <a:solidFill>
              <a:schemeClr val="bg1"/>
            </a:solidFill>
            <a:ln w="1270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48" name="下箭头 47"/>
            <p:cNvSpPr/>
            <p:nvPr/>
          </p:nvSpPr>
          <p:spPr>
            <a:xfrm>
              <a:off x="5283511" y="1765790"/>
              <a:ext cx="72008" cy="360040"/>
            </a:xfrm>
            <a:prstGeom prst="downArrow">
              <a:avLst/>
            </a:prstGeom>
            <a:solidFill>
              <a:schemeClr val="bg1"/>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pic>
          <p:nvPicPr>
            <p:cNvPr id="49" name="Picture 113"/>
            <p:cNvPicPr>
              <a:picLocks noChangeArrowheads="1"/>
            </p:cNvPicPr>
            <p:nvPr/>
          </p:nvPicPr>
          <p:blipFill>
            <a:blip r:embed="rId2" cstate="print"/>
            <a:srcRect/>
            <a:stretch>
              <a:fillRect/>
            </a:stretch>
          </p:blipFill>
          <p:spPr bwMode="auto">
            <a:xfrm>
              <a:off x="6727863" y="1365789"/>
              <a:ext cx="351656" cy="189462"/>
            </a:xfrm>
            <a:prstGeom prst="rect">
              <a:avLst/>
            </a:prstGeom>
            <a:noFill/>
            <a:ln w="12699">
              <a:noFill/>
              <a:miter lim="800000"/>
              <a:headEnd/>
              <a:tailEnd/>
            </a:ln>
          </p:spPr>
        </p:pic>
        <p:sp>
          <p:nvSpPr>
            <p:cNvPr id="50" name="矩形 49"/>
            <p:cNvSpPr/>
            <p:nvPr/>
          </p:nvSpPr>
          <p:spPr>
            <a:xfrm>
              <a:off x="6795679" y="2131315"/>
              <a:ext cx="216024" cy="288032"/>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cxnSp>
          <p:nvCxnSpPr>
            <p:cNvPr id="51" name="直接连接符 50"/>
            <p:cNvCxnSpPr/>
            <p:nvPr/>
          </p:nvCxnSpPr>
          <p:spPr>
            <a:xfrm>
              <a:off x="6795679" y="218892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p:cNvCxnSpPr/>
            <p:nvPr/>
          </p:nvCxnSpPr>
          <p:spPr>
            <a:xfrm>
              <a:off x="6795679" y="2246528"/>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p:cNvCxnSpPr/>
            <p:nvPr/>
          </p:nvCxnSpPr>
          <p:spPr>
            <a:xfrm>
              <a:off x="6795679" y="23108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直接连接符 53"/>
            <p:cNvCxnSpPr/>
            <p:nvPr/>
          </p:nvCxnSpPr>
          <p:spPr>
            <a:xfrm>
              <a:off x="6795679" y="23617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6903691" y="2140897"/>
              <a:ext cx="0" cy="2773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椭圆 55"/>
            <p:cNvSpPr/>
            <p:nvPr/>
          </p:nvSpPr>
          <p:spPr>
            <a:xfrm>
              <a:off x="6724742" y="1621774"/>
              <a:ext cx="357899" cy="144016"/>
            </a:xfrm>
            <a:prstGeom prst="ellipse">
              <a:avLst/>
            </a:prstGeom>
            <a:solidFill>
              <a:schemeClr val="bg1"/>
            </a:solidFill>
            <a:ln w="1270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57" name="下箭头 56"/>
            <p:cNvSpPr/>
            <p:nvPr/>
          </p:nvSpPr>
          <p:spPr>
            <a:xfrm>
              <a:off x="6867687" y="1765790"/>
              <a:ext cx="72008" cy="360040"/>
            </a:xfrm>
            <a:prstGeom prst="downArrow">
              <a:avLst/>
            </a:prstGeom>
            <a:solidFill>
              <a:schemeClr val="bg1"/>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pic>
          <p:nvPicPr>
            <p:cNvPr id="58" name="Picture 113"/>
            <p:cNvPicPr>
              <a:picLocks noChangeArrowheads="1"/>
            </p:cNvPicPr>
            <p:nvPr/>
          </p:nvPicPr>
          <p:blipFill>
            <a:blip r:embed="rId2" cstate="print"/>
            <a:srcRect/>
            <a:stretch>
              <a:fillRect/>
            </a:stretch>
          </p:blipFill>
          <p:spPr bwMode="auto">
            <a:xfrm>
              <a:off x="5791759" y="1365789"/>
              <a:ext cx="351656" cy="189462"/>
            </a:xfrm>
            <a:prstGeom prst="rect">
              <a:avLst/>
            </a:prstGeom>
            <a:noFill/>
            <a:ln w="12699">
              <a:noFill/>
              <a:miter lim="800000"/>
              <a:headEnd/>
              <a:tailEnd/>
            </a:ln>
          </p:spPr>
        </p:pic>
        <p:sp>
          <p:nvSpPr>
            <p:cNvPr id="59" name="矩形 58"/>
            <p:cNvSpPr/>
            <p:nvPr/>
          </p:nvSpPr>
          <p:spPr>
            <a:xfrm>
              <a:off x="5859575" y="2131315"/>
              <a:ext cx="216024" cy="288032"/>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cxnSp>
          <p:nvCxnSpPr>
            <p:cNvPr id="60" name="直接连接符 59"/>
            <p:cNvCxnSpPr/>
            <p:nvPr/>
          </p:nvCxnSpPr>
          <p:spPr>
            <a:xfrm>
              <a:off x="5859575" y="218892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直接连接符 60"/>
            <p:cNvCxnSpPr/>
            <p:nvPr/>
          </p:nvCxnSpPr>
          <p:spPr>
            <a:xfrm>
              <a:off x="5859575" y="2246528"/>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直接连接符 61"/>
            <p:cNvCxnSpPr/>
            <p:nvPr/>
          </p:nvCxnSpPr>
          <p:spPr>
            <a:xfrm>
              <a:off x="5859575" y="23108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直接连接符 62"/>
            <p:cNvCxnSpPr/>
            <p:nvPr/>
          </p:nvCxnSpPr>
          <p:spPr>
            <a:xfrm>
              <a:off x="5859575" y="23617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直接连接符 63"/>
            <p:cNvCxnSpPr/>
            <p:nvPr/>
          </p:nvCxnSpPr>
          <p:spPr>
            <a:xfrm>
              <a:off x="5967587" y="2140897"/>
              <a:ext cx="0" cy="2773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65" name="椭圆 64"/>
            <p:cNvSpPr/>
            <p:nvPr/>
          </p:nvSpPr>
          <p:spPr>
            <a:xfrm>
              <a:off x="5788638" y="1621774"/>
              <a:ext cx="357899" cy="144016"/>
            </a:xfrm>
            <a:prstGeom prst="ellipse">
              <a:avLst/>
            </a:prstGeom>
            <a:solidFill>
              <a:schemeClr val="bg1"/>
            </a:solidFill>
            <a:ln w="1270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66" name="下箭头 65"/>
            <p:cNvSpPr/>
            <p:nvPr/>
          </p:nvSpPr>
          <p:spPr>
            <a:xfrm>
              <a:off x="5931583" y="1765790"/>
              <a:ext cx="72008" cy="360040"/>
            </a:xfrm>
            <a:prstGeom prst="downArrow">
              <a:avLst/>
            </a:prstGeom>
            <a:solidFill>
              <a:schemeClr val="bg1"/>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67" name="TextBox 175"/>
            <p:cNvSpPr txBox="1"/>
            <p:nvPr/>
          </p:nvSpPr>
          <p:spPr>
            <a:xfrm>
              <a:off x="2453417" y="1339227"/>
              <a:ext cx="902811" cy="523220"/>
            </a:xfrm>
            <a:prstGeom prst="rect">
              <a:avLst/>
            </a:prstGeom>
            <a:noFill/>
          </p:spPr>
          <p:txBody>
            <a:bodyPr wrap="none" rtlCol="0">
              <a:spAutoFit/>
            </a:bodyPr>
            <a:lstStyle/>
            <a:p>
              <a:pPr algn="ctr"/>
              <a:r>
                <a:rPr lang="zh-CN" altLang="en-US" sz="1400" b="1" dirty="0">
                  <a:solidFill>
                    <a:srgbClr val="0000FF"/>
                  </a:solidFill>
                  <a:latin typeface="微软雅黑" panose="020B0503020204020204" pitchFamily="34" charset="-122"/>
                  <a:ea typeface="微软雅黑" panose="020B0503020204020204" pitchFamily="34" charset="-122"/>
                </a:rPr>
                <a:t>路由选择</a:t>
              </a:r>
              <a:endParaRPr lang="en-US" altLang="zh-CN" sz="1400" b="1" dirty="0">
                <a:solidFill>
                  <a:srgbClr val="0000FF"/>
                </a:solidFill>
                <a:latin typeface="微软雅黑" panose="020B0503020204020204" pitchFamily="34" charset="-122"/>
                <a:ea typeface="微软雅黑" panose="020B0503020204020204" pitchFamily="34" charset="-122"/>
              </a:endParaRPr>
            </a:p>
            <a:p>
              <a:pPr algn="ctr"/>
              <a:r>
                <a:rPr lang="zh-CN" altLang="en-US" sz="1400" b="1" dirty="0">
                  <a:solidFill>
                    <a:srgbClr val="0000FF"/>
                  </a:solidFill>
                  <a:latin typeface="微软雅黑" panose="020B0503020204020204" pitchFamily="34" charset="-122"/>
                  <a:ea typeface="微软雅黑" panose="020B0503020204020204" pitchFamily="34" charset="-122"/>
                </a:rPr>
                <a:t>算法</a:t>
              </a:r>
            </a:p>
          </p:txBody>
        </p:sp>
        <p:sp>
          <p:nvSpPr>
            <p:cNvPr id="68" name="TextBox 176"/>
            <p:cNvSpPr txBox="1"/>
            <p:nvPr/>
          </p:nvSpPr>
          <p:spPr>
            <a:xfrm>
              <a:off x="2549711" y="2103292"/>
              <a:ext cx="723275" cy="307777"/>
            </a:xfrm>
            <a:prstGeom prst="rect">
              <a:avLst/>
            </a:prstGeom>
            <a:noFill/>
          </p:spPr>
          <p:txBody>
            <a:bodyPr wrap="none" rtlCol="0">
              <a:spAutoFit/>
            </a:bodyPr>
            <a:lstStyle/>
            <a:p>
              <a:pPr algn="ctr"/>
              <a:r>
                <a:rPr lang="zh-CN" altLang="en-US" sz="1400" b="1" dirty="0">
                  <a:solidFill>
                    <a:srgbClr val="0000FF"/>
                  </a:solidFill>
                  <a:latin typeface="微软雅黑" panose="020B0503020204020204" pitchFamily="34" charset="-122"/>
                  <a:ea typeface="微软雅黑" panose="020B0503020204020204" pitchFamily="34" charset="-122"/>
                </a:rPr>
                <a:t>转发表</a:t>
              </a:r>
            </a:p>
          </p:txBody>
        </p:sp>
        <p:cxnSp>
          <p:nvCxnSpPr>
            <p:cNvPr id="69" name="直接连接符 68"/>
            <p:cNvCxnSpPr/>
            <p:nvPr/>
          </p:nvCxnSpPr>
          <p:spPr>
            <a:xfrm>
              <a:off x="957532" y="1915291"/>
              <a:ext cx="7040366" cy="0"/>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70" name="TextBox 179"/>
            <p:cNvSpPr txBox="1"/>
            <p:nvPr/>
          </p:nvSpPr>
          <p:spPr>
            <a:xfrm>
              <a:off x="1249993" y="1559485"/>
              <a:ext cx="1049536" cy="338554"/>
            </a:xfrm>
            <a:prstGeom prst="rect">
              <a:avLst/>
            </a:prstGeom>
            <a:solidFill>
              <a:srgbClr val="33CC33"/>
            </a:solidFill>
            <a:ln>
              <a:noFill/>
            </a:ln>
          </p:spPr>
          <p:txBody>
            <a:bodyPr wrap="square" rtlCol="0">
              <a:spAutoFit/>
            </a:bodyPr>
            <a:lstStyle/>
            <a:p>
              <a:pPr algn="ctr"/>
              <a:r>
                <a:rPr lang="zh-CN" altLang="en-US" sz="1600" b="1" dirty="0">
                  <a:latin typeface="微软雅黑" panose="020B0503020204020204" pitchFamily="34" charset="-122"/>
                  <a:ea typeface="微软雅黑" panose="020B0503020204020204" pitchFamily="34" charset="-122"/>
                </a:rPr>
                <a:t>控制层面</a:t>
              </a:r>
            </a:p>
          </p:txBody>
        </p:sp>
        <p:sp>
          <p:nvSpPr>
            <p:cNvPr id="71" name="TextBox 180"/>
            <p:cNvSpPr txBox="1"/>
            <p:nvPr/>
          </p:nvSpPr>
          <p:spPr>
            <a:xfrm>
              <a:off x="1249993" y="1932543"/>
              <a:ext cx="1049536" cy="338554"/>
            </a:xfrm>
            <a:prstGeom prst="rect">
              <a:avLst/>
            </a:prstGeom>
            <a:solidFill>
              <a:schemeClr val="accent6">
                <a:lumMod val="75000"/>
              </a:schemeClr>
            </a:solidFill>
          </p:spPr>
          <p:txBody>
            <a:bodyPr wrap="square" rtlCol="0">
              <a:spAutoFit/>
            </a:bodyPr>
            <a:lstStyle/>
            <a:p>
              <a:pPr algn="ctr"/>
              <a:r>
                <a:rPr lang="zh-CN" altLang="en-US" sz="1600" b="1" dirty="0">
                  <a:latin typeface="微软雅黑" panose="020B0503020204020204" pitchFamily="34" charset="-122"/>
                  <a:ea typeface="微软雅黑" panose="020B0503020204020204" pitchFamily="34" charset="-122"/>
                </a:rPr>
                <a:t>数据层面</a:t>
              </a:r>
            </a:p>
          </p:txBody>
        </p:sp>
        <p:cxnSp>
          <p:nvCxnSpPr>
            <p:cNvPr id="72" name="直接箭头连接符 71"/>
            <p:cNvCxnSpPr/>
            <p:nvPr/>
          </p:nvCxnSpPr>
          <p:spPr>
            <a:xfrm>
              <a:off x="3728325" y="2439765"/>
              <a:ext cx="113956" cy="987694"/>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73" name="直接箭头连接符 72"/>
            <p:cNvCxnSpPr>
              <a:endCxn id="20" idx="0"/>
            </p:cNvCxnSpPr>
            <p:nvPr/>
          </p:nvCxnSpPr>
          <p:spPr>
            <a:xfrm>
              <a:off x="6904588" y="2444485"/>
              <a:ext cx="78636" cy="1056074"/>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74" name="直接箭头连接符 73"/>
            <p:cNvCxnSpPr/>
            <p:nvPr/>
          </p:nvCxnSpPr>
          <p:spPr>
            <a:xfrm flipH="1">
              <a:off x="5934197" y="2435059"/>
              <a:ext cx="32424" cy="886112"/>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75" name="直接箭头连接符 74"/>
            <p:cNvCxnSpPr/>
            <p:nvPr/>
          </p:nvCxnSpPr>
          <p:spPr>
            <a:xfrm>
              <a:off x="5320885" y="2439772"/>
              <a:ext cx="33564" cy="1258471"/>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76" name="直接箭头连接符 75"/>
            <p:cNvCxnSpPr/>
            <p:nvPr/>
          </p:nvCxnSpPr>
          <p:spPr>
            <a:xfrm>
              <a:off x="4604448" y="2436365"/>
              <a:ext cx="80698" cy="234357"/>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77" name="直接箭头连接符 76"/>
            <p:cNvCxnSpPr/>
            <p:nvPr/>
          </p:nvCxnSpPr>
          <p:spPr>
            <a:xfrm flipV="1">
              <a:off x="3212645" y="2249184"/>
              <a:ext cx="380641" cy="1"/>
            </a:xfrm>
            <a:prstGeom prst="straightConnector1">
              <a:avLst/>
            </a:prstGeom>
            <a:ln w="12700">
              <a:solidFill>
                <a:schemeClr val="tx1"/>
              </a:solidFill>
              <a:prstDash val="sysDot"/>
              <a:headEnd type="none" w="med" len="med"/>
              <a:tailEnd type="triangle" w="med" len="lg"/>
            </a:ln>
          </p:spPr>
          <p:style>
            <a:lnRef idx="1">
              <a:schemeClr val="accent1"/>
            </a:lnRef>
            <a:fillRef idx="0">
              <a:schemeClr val="accent1"/>
            </a:fillRef>
            <a:effectRef idx="0">
              <a:schemeClr val="accent1"/>
            </a:effectRef>
            <a:fontRef idx="minor">
              <a:schemeClr val="tx1"/>
            </a:fontRef>
          </p:style>
        </p:cxnSp>
        <p:sp>
          <p:nvSpPr>
            <p:cNvPr id="79" name="矩形 78"/>
            <p:cNvSpPr/>
            <p:nvPr/>
          </p:nvSpPr>
          <p:spPr>
            <a:xfrm>
              <a:off x="3516221" y="1275104"/>
              <a:ext cx="428921" cy="1211796"/>
            </a:xfrm>
            <a:prstGeom prst="rect">
              <a:avLst/>
            </a:prstGeom>
            <a:noFill/>
            <a:ln w="12700">
              <a:solidFill>
                <a:srgbClr val="00006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80" name="矩形 79"/>
            <p:cNvSpPr/>
            <p:nvPr/>
          </p:nvSpPr>
          <p:spPr>
            <a:xfrm>
              <a:off x="4374060" y="1272726"/>
              <a:ext cx="428921" cy="1211796"/>
            </a:xfrm>
            <a:prstGeom prst="rect">
              <a:avLst/>
            </a:prstGeom>
            <a:noFill/>
            <a:ln w="12700">
              <a:solidFill>
                <a:srgbClr val="00006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81" name="矩形 80"/>
            <p:cNvSpPr/>
            <p:nvPr/>
          </p:nvSpPr>
          <p:spPr>
            <a:xfrm>
              <a:off x="6682000" y="1279560"/>
              <a:ext cx="428921" cy="1211796"/>
            </a:xfrm>
            <a:prstGeom prst="rect">
              <a:avLst/>
            </a:prstGeom>
            <a:noFill/>
            <a:ln w="12700">
              <a:solidFill>
                <a:srgbClr val="00006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82" name="矩形 81"/>
            <p:cNvSpPr/>
            <p:nvPr/>
          </p:nvSpPr>
          <p:spPr>
            <a:xfrm>
              <a:off x="5099924" y="1263300"/>
              <a:ext cx="428921" cy="1211796"/>
            </a:xfrm>
            <a:prstGeom prst="rect">
              <a:avLst/>
            </a:prstGeom>
            <a:noFill/>
            <a:ln w="12700">
              <a:solidFill>
                <a:srgbClr val="00006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83" name="矩形 82"/>
            <p:cNvSpPr/>
            <p:nvPr/>
          </p:nvSpPr>
          <p:spPr>
            <a:xfrm>
              <a:off x="5742533" y="1267220"/>
              <a:ext cx="428921" cy="1211796"/>
            </a:xfrm>
            <a:prstGeom prst="rect">
              <a:avLst/>
            </a:prstGeom>
            <a:noFill/>
            <a:ln w="12700">
              <a:solidFill>
                <a:srgbClr val="00006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grpSp>
          <p:nvGrpSpPr>
            <p:cNvPr id="84" name="组合 83"/>
            <p:cNvGrpSpPr/>
            <p:nvPr/>
          </p:nvGrpSpPr>
          <p:grpSpPr>
            <a:xfrm>
              <a:off x="1062847" y="1267219"/>
              <a:ext cx="206062" cy="1296144"/>
              <a:chOff x="199861" y="1988840"/>
              <a:chExt cx="288414" cy="1440160"/>
            </a:xfrm>
          </p:grpSpPr>
          <p:sp>
            <p:nvSpPr>
              <p:cNvPr id="85" name="上箭头 84"/>
              <p:cNvSpPr/>
              <p:nvPr/>
            </p:nvSpPr>
            <p:spPr>
              <a:xfrm>
                <a:off x="199861" y="1988840"/>
                <a:ext cx="288032" cy="688444"/>
              </a:xfrm>
              <a:prstGeom prst="upArrow">
                <a:avLst>
                  <a:gd name="adj1" fmla="val 50000"/>
                  <a:gd name="adj2" fmla="val 102911"/>
                </a:avLst>
              </a:prstGeom>
              <a:solidFill>
                <a:srgbClr val="33CC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86" name="上箭头 85"/>
              <p:cNvSpPr/>
              <p:nvPr/>
            </p:nvSpPr>
            <p:spPr>
              <a:xfrm flipV="1">
                <a:off x="200243" y="2737490"/>
                <a:ext cx="288032" cy="691510"/>
              </a:xfrm>
              <a:prstGeom prst="upArrow">
                <a:avLst>
                  <a:gd name="adj1" fmla="val 50000"/>
                  <a:gd name="adj2" fmla="val 102911"/>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grpSp>
        <p:pic>
          <p:nvPicPr>
            <p:cNvPr id="88" name="Picture 239"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786604" y="3216269"/>
              <a:ext cx="442344" cy="442344"/>
            </a:xfrm>
            <a:prstGeom prst="rect">
              <a:avLst/>
            </a:prstGeom>
            <a:noFill/>
            <a:extLst>
              <a:ext uri="{909E8E84-426E-40DD-AFC4-6F175D3DCCD1}">
                <a14:hiddenFill xmlns:a14="http://schemas.microsoft.com/office/drawing/2010/main">
                  <a:solidFill>
                    <a:srgbClr val="FFFFFF"/>
                  </a:solidFill>
                </a14:hiddenFill>
              </a:ext>
            </a:extLst>
          </p:spPr>
        </p:pic>
        <p:pic>
          <p:nvPicPr>
            <p:cNvPr id="89" name="Picture 239"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55554" y="3216269"/>
              <a:ext cx="442344" cy="442344"/>
            </a:xfrm>
            <a:prstGeom prst="rect">
              <a:avLst/>
            </a:prstGeom>
            <a:noFill/>
            <a:extLst>
              <a:ext uri="{909E8E84-426E-40DD-AFC4-6F175D3DCCD1}">
                <a14:hiddenFill xmlns:a14="http://schemas.microsoft.com/office/drawing/2010/main">
                  <a:solidFill>
                    <a:srgbClr val="FFFFFF"/>
                  </a:solidFill>
                </a14:hiddenFill>
              </a:ext>
            </a:extLst>
          </p:spPr>
        </p:pic>
        <p:cxnSp>
          <p:nvCxnSpPr>
            <p:cNvPr id="97" name="直接箭头连接符 96"/>
            <p:cNvCxnSpPr/>
            <p:nvPr/>
          </p:nvCxnSpPr>
          <p:spPr>
            <a:xfrm flipV="1">
              <a:off x="3212645" y="1688364"/>
              <a:ext cx="380641" cy="1"/>
            </a:xfrm>
            <a:prstGeom prst="straightConnector1">
              <a:avLst/>
            </a:prstGeom>
            <a:ln w="12700">
              <a:solidFill>
                <a:schemeClr val="tx1"/>
              </a:solidFill>
              <a:prstDash val="sysDot"/>
              <a:headEnd type="none" w="med" len="med"/>
              <a:tailEnd type="triangle" w="med" len="lg"/>
            </a:ln>
          </p:spPr>
          <p:style>
            <a:lnRef idx="1">
              <a:schemeClr val="accent1"/>
            </a:lnRef>
            <a:fillRef idx="0">
              <a:schemeClr val="accent1"/>
            </a:fillRef>
            <a:effectRef idx="0">
              <a:schemeClr val="accent1"/>
            </a:effectRef>
            <a:fontRef idx="minor">
              <a:schemeClr val="tx1"/>
            </a:fontRef>
          </p:style>
        </p:cxnSp>
      </p:grpSp>
      <p:sp>
        <p:nvSpPr>
          <p:cNvPr id="99" name="矩形 98"/>
          <p:cNvSpPr/>
          <p:nvPr/>
        </p:nvSpPr>
        <p:spPr>
          <a:xfrm>
            <a:off x="2453417" y="4204954"/>
            <a:ext cx="4965299" cy="338554"/>
          </a:xfrm>
          <a:prstGeom prst="rect">
            <a:avLst/>
          </a:prstGeom>
        </p:spPr>
        <p:txBody>
          <a:bodyPr wrap="square">
            <a:spAutoFit/>
          </a:bodyPr>
          <a:lstStyle/>
          <a:p>
            <a:pPr algn="ctr"/>
            <a:r>
              <a:rPr lang="zh-CN" altLang="en-US" sz="1600" b="1" dirty="0">
                <a:latin typeface="微软雅黑" panose="020B0503020204020204" pitchFamily="34" charset="-122"/>
                <a:ea typeface="微软雅黑" panose="020B0503020204020204" pitchFamily="34" charset="-122"/>
              </a:rPr>
              <a:t>网络层的 </a:t>
            </a:r>
            <a:r>
              <a:rPr lang="en-US" altLang="zh-CN" sz="1600" b="1" dirty="0">
                <a:latin typeface="微软雅黑" panose="020B0503020204020204" pitchFamily="34" charset="-122"/>
                <a:ea typeface="微软雅黑" panose="020B0503020204020204" pitchFamily="34" charset="-122"/>
              </a:rPr>
              <a:t>2 </a:t>
            </a:r>
            <a:r>
              <a:rPr lang="zh-CN" altLang="en-US" sz="1600" b="1" dirty="0">
                <a:latin typeface="微软雅黑" panose="020B0503020204020204" pitchFamily="34" charset="-122"/>
                <a:ea typeface="微软雅黑" panose="020B0503020204020204" pitchFamily="34" charset="-122"/>
              </a:rPr>
              <a:t>个层面：数据层面和控制层面</a:t>
            </a:r>
          </a:p>
        </p:txBody>
      </p:sp>
    </p:spTree>
    <p:extLst>
      <p:ext uri="{BB962C8B-B14F-4D97-AF65-F5344CB8AC3E}">
        <p14:creationId xmlns:p14="http://schemas.microsoft.com/office/powerpoint/2010/main" val="413550710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图示 4"/>
          <p:cNvGraphicFramePr/>
          <p:nvPr>
            <p:extLst>
              <p:ext uri="{D42A27DB-BD31-4B8C-83A1-F6EECF244321}">
                <p14:modId xmlns:p14="http://schemas.microsoft.com/office/powerpoint/2010/main" val="4193195798"/>
              </p:ext>
            </p:extLst>
          </p:nvPr>
        </p:nvGraphicFramePr>
        <p:xfrm>
          <a:off x="1107058" y="1130957"/>
          <a:ext cx="7010399" cy="280268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6" name="AutoShape 5"/>
          <p:cNvSpPr>
            <a:spLocks noChangeArrowheads="1"/>
          </p:cNvSpPr>
          <p:nvPr/>
        </p:nvSpPr>
        <p:spPr bwMode="auto">
          <a:xfrm>
            <a:off x="545144" y="629518"/>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3316860" y="606428"/>
            <a:ext cx="249299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数据层面和控制层面</a:t>
            </a:r>
          </a:p>
        </p:txBody>
      </p:sp>
    </p:spTree>
    <p:extLst>
      <p:ext uri="{BB962C8B-B14F-4D97-AF65-F5344CB8AC3E}">
        <p14:creationId xmlns:p14="http://schemas.microsoft.com/office/powerpoint/2010/main" val="262204466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45144" y="629518"/>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1514187" y="606428"/>
            <a:ext cx="60983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anose="020B0503020204020204" pitchFamily="34" charset="-122"/>
                <a:ea typeface="微软雅黑" panose="020B0503020204020204" pitchFamily="34" charset="-122"/>
              </a:rPr>
              <a:t>软件定义网络 </a:t>
            </a:r>
            <a:r>
              <a:rPr lang="en-US" altLang="zh-CN" sz="2000" b="1" dirty="0">
                <a:solidFill>
                  <a:schemeClr val="bg1"/>
                </a:solidFill>
                <a:latin typeface="微软雅黑" panose="020B0503020204020204" pitchFamily="34" charset="-122"/>
                <a:ea typeface="微软雅黑" panose="020B0503020204020204" pitchFamily="34" charset="-122"/>
              </a:rPr>
              <a:t>SDN (Software Defined Network)</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8" name="圆角矩形 7"/>
          <p:cNvSpPr/>
          <p:nvPr/>
        </p:nvSpPr>
        <p:spPr>
          <a:xfrm>
            <a:off x="545144" y="1058292"/>
            <a:ext cx="8053712" cy="311689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91" name="矩形 90"/>
          <p:cNvSpPr/>
          <p:nvPr/>
        </p:nvSpPr>
        <p:spPr>
          <a:xfrm>
            <a:off x="2453417" y="4204954"/>
            <a:ext cx="4965299" cy="338554"/>
          </a:xfrm>
          <a:prstGeom prst="rect">
            <a:avLst/>
          </a:prstGeom>
        </p:spPr>
        <p:txBody>
          <a:bodyPr wrap="square">
            <a:spAutoFit/>
          </a:bodyPr>
          <a:lstStyle/>
          <a:p>
            <a:pPr algn="ctr"/>
            <a:r>
              <a:rPr lang="zh-CN" altLang="en-US" sz="1600" b="1" dirty="0">
                <a:latin typeface="微软雅黑" panose="020B0503020204020204" pitchFamily="34" charset="-122"/>
                <a:ea typeface="微软雅黑" panose="020B0503020204020204" pitchFamily="34" charset="-122"/>
              </a:rPr>
              <a:t>软件定义网络 </a:t>
            </a:r>
            <a:r>
              <a:rPr lang="en-US" altLang="zh-CN" sz="1600" b="1" dirty="0">
                <a:latin typeface="微软雅黑" panose="020B0503020204020204" pitchFamily="34" charset="-122"/>
                <a:ea typeface="微软雅黑" panose="020B0503020204020204" pitchFamily="34" charset="-122"/>
              </a:rPr>
              <a:t>SDN </a:t>
            </a:r>
            <a:r>
              <a:rPr lang="zh-CN" altLang="en-US" sz="1600" b="1" dirty="0">
                <a:latin typeface="微软雅黑" panose="020B0503020204020204" pitchFamily="34" charset="-122"/>
                <a:ea typeface="微软雅黑" panose="020B0503020204020204" pitchFamily="34" charset="-122"/>
              </a:rPr>
              <a:t>中的数据层面和控制层面</a:t>
            </a:r>
          </a:p>
        </p:txBody>
      </p:sp>
      <p:grpSp>
        <p:nvGrpSpPr>
          <p:cNvPr id="173" name="组合 172"/>
          <p:cNvGrpSpPr/>
          <p:nvPr/>
        </p:nvGrpSpPr>
        <p:grpSpPr>
          <a:xfrm>
            <a:off x="845397" y="1226469"/>
            <a:ext cx="6944264" cy="2784814"/>
            <a:chOff x="1009291" y="1226469"/>
            <a:chExt cx="6944264" cy="2784814"/>
          </a:xfrm>
        </p:grpSpPr>
        <p:sp>
          <p:nvSpPr>
            <p:cNvPr id="92" name="Line 107"/>
            <p:cNvSpPr>
              <a:spLocks noChangeShapeType="1"/>
            </p:cNvSpPr>
            <p:nvPr/>
          </p:nvSpPr>
          <p:spPr bwMode="auto">
            <a:xfrm flipH="1">
              <a:off x="2970733" y="1637707"/>
              <a:ext cx="336510" cy="276608"/>
            </a:xfrm>
            <a:prstGeom prst="line">
              <a:avLst/>
            </a:prstGeom>
            <a:noFill/>
            <a:ln w="9525">
              <a:solidFill>
                <a:schemeClr val="tx1"/>
              </a:solidFill>
              <a:round/>
              <a:headEnd/>
              <a:tailEnd/>
            </a:ln>
          </p:spPr>
          <p:txBody>
            <a:bodyPr/>
            <a:lstStyle/>
            <a:p>
              <a:endParaRPr lang="zh-CN" altLang="en-US"/>
            </a:p>
          </p:txBody>
        </p:sp>
        <p:sp>
          <p:nvSpPr>
            <p:cNvPr id="93" name="Line 107"/>
            <p:cNvSpPr>
              <a:spLocks noChangeShapeType="1"/>
            </p:cNvSpPr>
            <p:nvPr/>
          </p:nvSpPr>
          <p:spPr bwMode="auto">
            <a:xfrm flipH="1" flipV="1">
              <a:off x="6926882" y="1701875"/>
              <a:ext cx="372155" cy="235530"/>
            </a:xfrm>
            <a:prstGeom prst="line">
              <a:avLst/>
            </a:prstGeom>
            <a:noFill/>
            <a:ln w="9525">
              <a:solidFill>
                <a:schemeClr val="tx1"/>
              </a:solidFill>
              <a:round/>
              <a:headEnd/>
              <a:tailEnd/>
            </a:ln>
          </p:spPr>
          <p:txBody>
            <a:bodyPr/>
            <a:lstStyle/>
            <a:p>
              <a:endParaRPr lang="zh-CN" altLang="en-US"/>
            </a:p>
          </p:txBody>
        </p:sp>
        <p:sp>
          <p:nvSpPr>
            <p:cNvPr id="94" name="Line 151"/>
            <p:cNvSpPr>
              <a:spLocks noChangeShapeType="1"/>
            </p:cNvSpPr>
            <p:nvPr/>
          </p:nvSpPr>
          <p:spPr bwMode="auto">
            <a:xfrm>
              <a:off x="4647850" y="3049391"/>
              <a:ext cx="871395" cy="449172"/>
            </a:xfrm>
            <a:prstGeom prst="line">
              <a:avLst/>
            </a:prstGeom>
            <a:noFill/>
            <a:ln w="28575">
              <a:solidFill>
                <a:schemeClr val="tx1"/>
              </a:solidFill>
              <a:round/>
              <a:headEnd/>
              <a:tailEnd/>
            </a:ln>
          </p:spPr>
          <p:txBody>
            <a:bodyPr/>
            <a:lstStyle/>
            <a:p>
              <a:endParaRPr lang="zh-CN" altLang="en-US"/>
            </a:p>
          </p:txBody>
        </p:sp>
        <p:sp>
          <p:nvSpPr>
            <p:cNvPr id="95" name="Line 79"/>
            <p:cNvSpPr>
              <a:spLocks noChangeShapeType="1"/>
            </p:cNvSpPr>
            <p:nvPr/>
          </p:nvSpPr>
          <p:spPr bwMode="auto">
            <a:xfrm>
              <a:off x="3053041" y="3468017"/>
              <a:ext cx="589747" cy="223514"/>
            </a:xfrm>
            <a:prstGeom prst="line">
              <a:avLst/>
            </a:prstGeom>
            <a:noFill/>
            <a:ln w="9525">
              <a:solidFill>
                <a:schemeClr val="tx1"/>
              </a:solidFill>
              <a:round/>
              <a:headEnd/>
              <a:tailEnd/>
            </a:ln>
          </p:spPr>
          <p:txBody>
            <a:bodyPr/>
            <a:lstStyle/>
            <a:p>
              <a:endParaRPr lang="zh-CN" altLang="en-US"/>
            </a:p>
          </p:txBody>
        </p:sp>
        <p:sp>
          <p:nvSpPr>
            <p:cNvPr id="97" name="Line 99"/>
            <p:cNvSpPr>
              <a:spLocks noChangeShapeType="1"/>
            </p:cNvSpPr>
            <p:nvPr/>
          </p:nvSpPr>
          <p:spPr bwMode="auto">
            <a:xfrm>
              <a:off x="3843486" y="3755233"/>
              <a:ext cx="1206801" cy="191773"/>
            </a:xfrm>
            <a:prstGeom prst="line">
              <a:avLst/>
            </a:prstGeom>
            <a:noFill/>
            <a:ln w="28575">
              <a:solidFill>
                <a:schemeClr val="tx1"/>
              </a:solidFill>
              <a:round/>
              <a:headEnd/>
              <a:tailEnd/>
            </a:ln>
          </p:spPr>
          <p:txBody>
            <a:bodyPr/>
            <a:lstStyle/>
            <a:p>
              <a:endParaRPr lang="zh-CN" altLang="en-US"/>
            </a:p>
          </p:txBody>
        </p:sp>
        <p:sp>
          <p:nvSpPr>
            <p:cNvPr id="98" name="Line 100"/>
            <p:cNvSpPr>
              <a:spLocks noChangeShapeType="1"/>
            </p:cNvSpPr>
            <p:nvPr/>
          </p:nvSpPr>
          <p:spPr bwMode="auto">
            <a:xfrm flipV="1">
              <a:off x="3843763" y="3562729"/>
              <a:ext cx="1675482" cy="128798"/>
            </a:xfrm>
            <a:prstGeom prst="line">
              <a:avLst/>
            </a:prstGeom>
            <a:noFill/>
            <a:ln w="28575">
              <a:solidFill>
                <a:schemeClr val="tx1"/>
              </a:solidFill>
              <a:round/>
              <a:headEnd/>
              <a:tailEnd/>
            </a:ln>
          </p:spPr>
          <p:txBody>
            <a:bodyPr/>
            <a:lstStyle/>
            <a:p>
              <a:endParaRPr lang="zh-CN" altLang="en-US"/>
            </a:p>
          </p:txBody>
        </p:sp>
        <p:sp>
          <p:nvSpPr>
            <p:cNvPr id="99" name="Line 101"/>
            <p:cNvSpPr>
              <a:spLocks noChangeShapeType="1"/>
            </p:cNvSpPr>
            <p:nvPr/>
          </p:nvSpPr>
          <p:spPr bwMode="auto">
            <a:xfrm>
              <a:off x="5787367" y="3562730"/>
              <a:ext cx="871534" cy="192458"/>
            </a:xfrm>
            <a:prstGeom prst="line">
              <a:avLst/>
            </a:prstGeom>
            <a:noFill/>
            <a:ln w="28575">
              <a:solidFill>
                <a:schemeClr val="tx1"/>
              </a:solidFill>
              <a:round/>
              <a:headEnd/>
              <a:tailEnd/>
            </a:ln>
          </p:spPr>
          <p:txBody>
            <a:bodyPr/>
            <a:lstStyle/>
            <a:p>
              <a:endParaRPr lang="zh-CN" altLang="en-US"/>
            </a:p>
          </p:txBody>
        </p:sp>
        <p:sp>
          <p:nvSpPr>
            <p:cNvPr id="100" name="Line 102"/>
            <p:cNvSpPr>
              <a:spLocks noChangeShapeType="1"/>
            </p:cNvSpPr>
            <p:nvPr/>
          </p:nvSpPr>
          <p:spPr bwMode="auto">
            <a:xfrm flipV="1">
              <a:off x="5318154" y="3820263"/>
              <a:ext cx="1340746" cy="127472"/>
            </a:xfrm>
            <a:prstGeom prst="line">
              <a:avLst/>
            </a:prstGeom>
            <a:noFill/>
            <a:ln w="28575">
              <a:solidFill>
                <a:schemeClr val="tx1"/>
              </a:solidFill>
              <a:round/>
              <a:headEnd/>
              <a:tailEnd/>
            </a:ln>
          </p:spPr>
          <p:txBody>
            <a:bodyPr/>
            <a:lstStyle/>
            <a:p>
              <a:endParaRPr lang="zh-CN" altLang="en-US"/>
            </a:p>
          </p:txBody>
        </p:sp>
        <p:sp>
          <p:nvSpPr>
            <p:cNvPr id="101" name="Line 103"/>
            <p:cNvSpPr>
              <a:spLocks noChangeShapeType="1"/>
            </p:cNvSpPr>
            <p:nvPr/>
          </p:nvSpPr>
          <p:spPr bwMode="auto">
            <a:xfrm flipV="1">
              <a:off x="6725399" y="3422535"/>
              <a:ext cx="690157" cy="332654"/>
            </a:xfrm>
            <a:prstGeom prst="line">
              <a:avLst/>
            </a:prstGeom>
            <a:noFill/>
            <a:ln w="9525">
              <a:solidFill>
                <a:schemeClr val="tx1"/>
              </a:solidFill>
              <a:round/>
              <a:headEnd/>
              <a:tailEnd/>
            </a:ln>
          </p:spPr>
          <p:txBody>
            <a:bodyPr/>
            <a:lstStyle/>
            <a:p>
              <a:endParaRPr lang="zh-CN" altLang="en-US"/>
            </a:p>
          </p:txBody>
        </p:sp>
        <p:sp>
          <p:nvSpPr>
            <p:cNvPr id="103" name="Line 107"/>
            <p:cNvSpPr>
              <a:spLocks noChangeShapeType="1"/>
            </p:cNvSpPr>
            <p:nvPr/>
          </p:nvSpPr>
          <p:spPr bwMode="auto">
            <a:xfrm flipV="1">
              <a:off x="3843763" y="3049390"/>
              <a:ext cx="602996" cy="578477"/>
            </a:xfrm>
            <a:prstGeom prst="line">
              <a:avLst/>
            </a:prstGeom>
            <a:noFill/>
            <a:ln w="28575">
              <a:solidFill>
                <a:schemeClr val="tx1"/>
              </a:solidFill>
              <a:round/>
              <a:headEnd/>
              <a:tailEnd/>
            </a:ln>
          </p:spPr>
          <p:txBody>
            <a:bodyPr/>
            <a:lstStyle/>
            <a:p>
              <a:endParaRPr lang="zh-CN" altLang="en-US"/>
            </a:p>
          </p:txBody>
        </p:sp>
        <p:sp>
          <p:nvSpPr>
            <p:cNvPr id="104" name="Line 108"/>
            <p:cNvSpPr>
              <a:spLocks noChangeShapeType="1"/>
            </p:cNvSpPr>
            <p:nvPr/>
          </p:nvSpPr>
          <p:spPr bwMode="auto">
            <a:xfrm>
              <a:off x="4781911" y="2985224"/>
              <a:ext cx="1943489" cy="706305"/>
            </a:xfrm>
            <a:prstGeom prst="line">
              <a:avLst/>
            </a:prstGeom>
            <a:noFill/>
            <a:ln w="28575">
              <a:solidFill>
                <a:schemeClr val="tx1"/>
              </a:solidFill>
              <a:round/>
              <a:headEnd/>
              <a:tailEnd/>
            </a:ln>
          </p:spPr>
          <p:txBody>
            <a:bodyPr/>
            <a:lstStyle/>
            <a:p>
              <a:endParaRPr lang="zh-CN" altLang="en-US"/>
            </a:p>
          </p:txBody>
        </p:sp>
        <p:pic>
          <p:nvPicPr>
            <p:cNvPr id="105" name="Picture 109"/>
            <p:cNvPicPr>
              <a:picLocks noChangeArrowheads="1"/>
            </p:cNvPicPr>
            <p:nvPr/>
          </p:nvPicPr>
          <p:blipFill>
            <a:blip r:embed="rId3" cstate="print"/>
            <a:srcRect/>
            <a:stretch>
              <a:fillRect/>
            </a:stretch>
          </p:blipFill>
          <p:spPr bwMode="auto">
            <a:xfrm>
              <a:off x="3560033" y="3562797"/>
              <a:ext cx="484706" cy="256050"/>
            </a:xfrm>
            <a:prstGeom prst="rect">
              <a:avLst/>
            </a:prstGeom>
            <a:noFill/>
            <a:ln w="12699">
              <a:noFill/>
              <a:miter lim="800000"/>
              <a:headEnd/>
              <a:tailEnd/>
            </a:ln>
          </p:spPr>
        </p:pic>
        <p:pic>
          <p:nvPicPr>
            <p:cNvPr id="106" name="Picture 110"/>
            <p:cNvPicPr>
              <a:picLocks noChangeArrowheads="1"/>
            </p:cNvPicPr>
            <p:nvPr/>
          </p:nvPicPr>
          <p:blipFill>
            <a:blip r:embed="rId3" cstate="print"/>
            <a:srcRect/>
            <a:stretch>
              <a:fillRect/>
            </a:stretch>
          </p:blipFill>
          <p:spPr bwMode="auto">
            <a:xfrm>
              <a:off x="5452215" y="3434395"/>
              <a:ext cx="484706" cy="256050"/>
            </a:xfrm>
            <a:prstGeom prst="rect">
              <a:avLst/>
            </a:prstGeom>
            <a:noFill/>
            <a:ln w="12699">
              <a:noFill/>
              <a:miter lim="800000"/>
              <a:headEnd/>
              <a:tailEnd/>
            </a:ln>
          </p:spPr>
        </p:pic>
        <p:pic>
          <p:nvPicPr>
            <p:cNvPr id="107" name="Picture 111"/>
            <p:cNvPicPr>
              <a:picLocks noChangeArrowheads="1"/>
            </p:cNvPicPr>
            <p:nvPr/>
          </p:nvPicPr>
          <p:blipFill>
            <a:blip r:embed="rId3" cstate="print"/>
            <a:srcRect/>
            <a:stretch>
              <a:fillRect/>
            </a:stretch>
          </p:blipFill>
          <p:spPr bwMode="auto">
            <a:xfrm>
              <a:off x="4915972" y="3755233"/>
              <a:ext cx="484706" cy="256050"/>
            </a:xfrm>
            <a:prstGeom prst="rect">
              <a:avLst/>
            </a:prstGeom>
            <a:noFill/>
            <a:ln w="12699">
              <a:noFill/>
              <a:miter lim="800000"/>
              <a:headEnd/>
              <a:tailEnd/>
            </a:ln>
          </p:spPr>
        </p:pic>
        <p:pic>
          <p:nvPicPr>
            <p:cNvPr id="108" name="Picture 112"/>
            <p:cNvPicPr>
              <a:picLocks noChangeArrowheads="1"/>
            </p:cNvPicPr>
            <p:nvPr/>
          </p:nvPicPr>
          <p:blipFill>
            <a:blip r:embed="rId3" cstate="print"/>
            <a:srcRect/>
            <a:stretch>
              <a:fillRect/>
            </a:stretch>
          </p:blipFill>
          <p:spPr bwMode="auto">
            <a:xfrm>
              <a:off x="6457925" y="3627871"/>
              <a:ext cx="484706" cy="256050"/>
            </a:xfrm>
            <a:prstGeom prst="rect">
              <a:avLst/>
            </a:prstGeom>
            <a:noFill/>
            <a:ln w="12699">
              <a:noFill/>
              <a:miter lim="800000"/>
              <a:headEnd/>
              <a:tailEnd/>
            </a:ln>
          </p:spPr>
        </p:pic>
        <p:pic>
          <p:nvPicPr>
            <p:cNvPr id="109" name="Picture 113"/>
            <p:cNvPicPr>
              <a:picLocks noChangeArrowheads="1"/>
            </p:cNvPicPr>
            <p:nvPr/>
          </p:nvPicPr>
          <p:blipFill>
            <a:blip r:embed="rId3" cstate="print"/>
            <a:srcRect/>
            <a:stretch>
              <a:fillRect/>
            </a:stretch>
          </p:blipFill>
          <p:spPr bwMode="auto">
            <a:xfrm>
              <a:off x="4312698" y="2856889"/>
              <a:ext cx="484706" cy="256051"/>
            </a:xfrm>
            <a:prstGeom prst="rect">
              <a:avLst/>
            </a:prstGeom>
            <a:noFill/>
            <a:ln w="12699">
              <a:noFill/>
              <a:miter lim="800000"/>
              <a:headEnd/>
              <a:tailEnd/>
            </a:ln>
          </p:spPr>
        </p:pic>
        <p:sp>
          <p:nvSpPr>
            <p:cNvPr id="110" name="矩形 109"/>
            <p:cNvSpPr/>
            <p:nvPr/>
          </p:nvSpPr>
          <p:spPr>
            <a:xfrm>
              <a:off x="3574367" y="2407717"/>
              <a:ext cx="201091" cy="256670"/>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11" name="直接连接符 110"/>
            <p:cNvCxnSpPr/>
            <p:nvPr/>
          </p:nvCxnSpPr>
          <p:spPr>
            <a:xfrm>
              <a:off x="3574367" y="2459050"/>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直接连接符 111"/>
            <p:cNvCxnSpPr/>
            <p:nvPr/>
          </p:nvCxnSpPr>
          <p:spPr>
            <a:xfrm>
              <a:off x="3574367" y="251038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直接连接符 112"/>
            <p:cNvCxnSpPr/>
            <p:nvPr/>
          </p:nvCxnSpPr>
          <p:spPr>
            <a:xfrm>
              <a:off x="3574367" y="256769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直接连接符 113"/>
            <p:cNvCxnSpPr/>
            <p:nvPr/>
          </p:nvCxnSpPr>
          <p:spPr>
            <a:xfrm>
              <a:off x="3574367" y="2613053"/>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直接连接符 114"/>
            <p:cNvCxnSpPr/>
            <p:nvPr/>
          </p:nvCxnSpPr>
          <p:spPr>
            <a:xfrm>
              <a:off x="3674913" y="2416255"/>
              <a:ext cx="0" cy="2471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矩形 115"/>
            <p:cNvSpPr/>
            <p:nvPr/>
          </p:nvSpPr>
          <p:spPr>
            <a:xfrm>
              <a:off x="4380725" y="2407717"/>
              <a:ext cx="201091" cy="256670"/>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17" name="直接连接符 116"/>
            <p:cNvCxnSpPr/>
            <p:nvPr/>
          </p:nvCxnSpPr>
          <p:spPr>
            <a:xfrm>
              <a:off x="4380725" y="2459050"/>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直接连接符 117"/>
            <p:cNvCxnSpPr/>
            <p:nvPr/>
          </p:nvCxnSpPr>
          <p:spPr>
            <a:xfrm>
              <a:off x="4380725" y="251038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直接连接符 118"/>
            <p:cNvCxnSpPr/>
            <p:nvPr/>
          </p:nvCxnSpPr>
          <p:spPr>
            <a:xfrm>
              <a:off x="4380725" y="256769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 name="直接连接符 119"/>
            <p:cNvCxnSpPr/>
            <p:nvPr/>
          </p:nvCxnSpPr>
          <p:spPr>
            <a:xfrm>
              <a:off x="4380725" y="2613053"/>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直接连接符 120"/>
            <p:cNvCxnSpPr/>
            <p:nvPr/>
          </p:nvCxnSpPr>
          <p:spPr>
            <a:xfrm>
              <a:off x="4481270" y="2416255"/>
              <a:ext cx="0" cy="2471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22" name="矩形 121"/>
            <p:cNvSpPr/>
            <p:nvPr/>
          </p:nvSpPr>
          <p:spPr>
            <a:xfrm>
              <a:off x="5051029" y="2407717"/>
              <a:ext cx="201091" cy="256670"/>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23" name="直接连接符 122"/>
            <p:cNvCxnSpPr/>
            <p:nvPr/>
          </p:nvCxnSpPr>
          <p:spPr>
            <a:xfrm>
              <a:off x="5051029" y="2459050"/>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直接连接符 123"/>
            <p:cNvCxnSpPr/>
            <p:nvPr/>
          </p:nvCxnSpPr>
          <p:spPr>
            <a:xfrm>
              <a:off x="5051029" y="251038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直接连接符 124"/>
            <p:cNvCxnSpPr/>
            <p:nvPr/>
          </p:nvCxnSpPr>
          <p:spPr>
            <a:xfrm>
              <a:off x="5051029" y="256769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直接连接符 125"/>
            <p:cNvCxnSpPr/>
            <p:nvPr/>
          </p:nvCxnSpPr>
          <p:spPr>
            <a:xfrm>
              <a:off x="5051029" y="2613053"/>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直接连接符 126"/>
            <p:cNvCxnSpPr/>
            <p:nvPr/>
          </p:nvCxnSpPr>
          <p:spPr>
            <a:xfrm>
              <a:off x="5151574" y="2416255"/>
              <a:ext cx="0" cy="2471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矩形 127"/>
            <p:cNvSpPr/>
            <p:nvPr/>
          </p:nvSpPr>
          <p:spPr>
            <a:xfrm>
              <a:off x="6525697" y="2407717"/>
              <a:ext cx="201091" cy="256670"/>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29" name="直接连接符 128"/>
            <p:cNvCxnSpPr/>
            <p:nvPr/>
          </p:nvCxnSpPr>
          <p:spPr>
            <a:xfrm>
              <a:off x="6525697" y="2459050"/>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a:off x="6525697" y="251038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a:off x="6525697" y="256769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6525697" y="2613053"/>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直接连接符 132"/>
            <p:cNvCxnSpPr/>
            <p:nvPr/>
          </p:nvCxnSpPr>
          <p:spPr>
            <a:xfrm>
              <a:off x="6626242" y="2416255"/>
              <a:ext cx="0" cy="2471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34" name="矩形 133"/>
            <p:cNvSpPr/>
            <p:nvPr/>
          </p:nvSpPr>
          <p:spPr>
            <a:xfrm>
              <a:off x="5654302" y="2407717"/>
              <a:ext cx="201091" cy="256670"/>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35" name="直接连接符 134"/>
            <p:cNvCxnSpPr/>
            <p:nvPr/>
          </p:nvCxnSpPr>
          <p:spPr>
            <a:xfrm>
              <a:off x="5654302" y="2459050"/>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直接连接符 135"/>
            <p:cNvCxnSpPr/>
            <p:nvPr/>
          </p:nvCxnSpPr>
          <p:spPr>
            <a:xfrm>
              <a:off x="5654302" y="251038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直接连接符 136"/>
            <p:cNvCxnSpPr/>
            <p:nvPr/>
          </p:nvCxnSpPr>
          <p:spPr>
            <a:xfrm>
              <a:off x="5654302" y="256769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直接连接符 137"/>
            <p:cNvCxnSpPr/>
            <p:nvPr/>
          </p:nvCxnSpPr>
          <p:spPr>
            <a:xfrm>
              <a:off x="5654302" y="2613053"/>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直接连接符 138"/>
            <p:cNvCxnSpPr/>
            <p:nvPr/>
          </p:nvCxnSpPr>
          <p:spPr>
            <a:xfrm>
              <a:off x="5754848" y="2416255"/>
              <a:ext cx="0" cy="2471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40" name="TextBox 176"/>
            <p:cNvSpPr txBox="1"/>
            <p:nvPr/>
          </p:nvSpPr>
          <p:spPr>
            <a:xfrm>
              <a:off x="2548237" y="2382745"/>
              <a:ext cx="723275" cy="307777"/>
            </a:xfrm>
            <a:prstGeom prst="rect">
              <a:avLst/>
            </a:prstGeom>
            <a:noFill/>
          </p:spPr>
          <p:txBody>
            <a:bodyPr wrap="none" rtlCol="0">
              <a:spAutoFit/>
            </a:bodyPr>
            <a:lstStyle>
              <a:defPPr>
                <a:defRPr lang="zh-CN"/>
              </a:defPPr>
              <a:lvl1pPr algn="ctr">
                <a:defRPr sz="1400" b="1">
                  <a:solidFill>
                    <a:srgbClr val="0000FF"/>
                  </a:solidFill>
                  <a:latin typeface="微软雅黑" panose="020B0503020204020204" pitchFamily="34" charset="-122"/>
                  <a:ea typeface="微软雅黑" panose="020B0503020204020204" pitchFamily="34" charset="-122"/>
                </a:defRPr>
              </a:lvl1pPr>
            </a:lstStyle>
            <a:p>
              <a:r>
                <a:rPr lang="zh-CN" altLang="en-US" dirty="0"/>
                <a:t>转发表</a:t>
              </a:r>
            </a:p>
          </p:txBody>
        </p:sp>
        <p:cxnSp>
          <p:nvCxnSpPr>
            <p:cNvPr id="141" name="直接连接符 140"/>
            <p:cNvCxnSpPr/>
            <p:nvPr/>
          </p:nvCxnSpPr>
          <p:spPr>
            <a:xfrm>
              <a:off x="1009291" y="2215214"/>
              <a:ext cx="6944264" cy="0"/>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43" name="直接箭头连接符 142"/>
            <p:cNvCxnSpPr/>
            <p:nvPr/>
          </p:nvCxnSpPr>
          <p:spPr>
            <a:xfrm>
              <a:off x="3670377" y="2682581"/>
              <a:ext cx="106079" cy="880149"/>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44" name="直接箭头连接符 143"/>
            <p:cNvCxnSpPr>
              <a:endCxn id="108" idx="0"/>
            </p:cNvCxnSpPr>
            <p:nvPr/>
          </p:nvCxnSpPr>
          <p:spPr>
            <a:xfrm>
              <a:off x="6627077" y="2686787"/>
              <a:ext cx="73200" cy="941084"/>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45" name="直接箭头连接符 144"/>
            <p:cNvCxnSpPr/>
            <p:nvPr/>
          </p:nvCxnSpPr>
          <p:spPr>
            <a:xfrm flipH="1">
              <a:off x="5723766" y="2678388"/>
              <a:ext cx="30183" cy="789628"/>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46" name="直接箭头连接符 145"/>
            <p:cNvCxnSpPr/>
            <p:nvPr/>
          </p:nvCxnSpPr>
          <p:spPr>
            <a:xfrm>
              <a:off x="5152849" y="2682587"/>
              <a:ext cx="31244" cy="1121443"/>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47" name="直接箭头连接符 146"/>
            <p:cNvCxnSpPr/>
            <p:nvPr/>
          </p:nvCxnSpPr>
          <p:spPr>
            <a:xfrm>
              <a:off x="4485937" y="2679551"/>
              <a:ext cx="75120" cy="208839"/>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sp>
          <p:nvSpPr>
            <p:cNvPr id="149" name="矩形 148"/>
            <p:cNvSpPr/>
            <p:nvPr/>
          </p:nvSpPr>
          <p:spPr>
            <a:xfrm>
              <a:off x="3240212" y="1226469"/>
              <a:ext cx="3686671" cy="73207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150" name="Picture 21"/>
            <p:cNvPicPr>
              <a:picLocks noChangeArrowheads="1"/>
            </p:cNvPicPr>
            <p:nvPr/>
          </p:nvPicPr>
          <p:blipFill>
            <a:blip r:embed="rId4" cstate="print"/>
            <a:srcRect/>
            <a:stretch>
              <a:fillRect/>
            </a:stretch>
          </p:blipFill>
          <p:spPr bwMode="auto">
            <a:xfrm>
              <a:off x="2857264" y="1583226"/>
              <a:ext cx="195777" cy="526174"/>
            </a:xfrm>
            <a:prstGeom prst="rect">
              <a:avLst/>
            </a:prstGeom>
            <a:noFill/>
            <a:ln w="12699">
              <a:noFill/>
              <a:miter lim="800000"/>
              <a:headEnd/>
              <a:tailEnd/>
            </a:ln>
            <a:effectLst/>
          </p:spPr>
        </p:pic>
        <p:pic>
          <p:nvPicPr>
            <p:cNvPr id="151" name="Picture 21"/>
            <p:cNvPicPr>
              <a:picLocks noChangeArrowheads="1"/>
            </p:cNvPicPr>
            <p:nvPr/>
          </p:nvPicPr>
          <p:blipFill>
            <a:blip r:embed="rId4" cstate="print"/>
            <a:srcRect/>
            <a:stretch>
              <a:fillRect/>
            </a:stretch>
          </p:blipFill>
          <p:spPr bwMode="auto">
            <a:xfrm>
              <a:off x="7196362" y="1583226"/>
              <a:ext cx="195777" cy="526174"/>
            </a:xfrm>
            <a:prstGeom prst="rect">
              <a:avLst/>
            </a:prstGeom>
            <a:noFill/>
            <a:ln w="12699">
              <a:noFill/>
              <a:miter lim="800000"/>
              <a:headEnd/>
              <a:tailEnd/>
            </a:ln>
            <a:effectLst/>
          </p:spPr>
        </p:pic>
        <p:cxnSp>
          <p:nvCxnSpPr>
            <p:cNvPr id="153" name="直接箭头连接符 152"/>
            <p:cNvCxnSpPr/>
            <p:nvPr/>
          </p:nvCxnSpPr>
          <p:spPr>
            <a:xfrm flipH="1">
              <a:off x="3679398" y="1548531"/>
              <a:ext cx="337598" cy="857990"/>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54" name="直接箭头连接符 153"/>
            <p:cNvCxnSpPr/>
            <p:nvPr/>
          </p:nvCxnSpPr>
          <p:spPr>
            <a:xfrm flipH="1">
              <a:off x="4485742" y="1573733"/>
              <a:ext cx="106027" cy="836059"/>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55" name="直接箭头连接符 154"/>
            <p:cNvCxnSpPr/>
            <p:nvPr/>
          </p:nvCxnSpPr>
          <p:spPr>
            <a:xfrm>
              <a:off x="6272214" y="1531731"/>
              <a:ext cx="353699" cy="874802"/>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56" name="直接箭头连接符 155"/>
            <p:cNvCxnSpPr/>
            <p:nvPr/>
          </p:nvCxnSpPr>
          <p:spPr>
            <a:xfrm>
              <a:off x="5701828" y="1573733"/>
              <a:ext cx="54372" cy="835365"/>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57" name="直接箭头连接符 156"/>
            <p:cNvCxnSpPr>
              <a:stCxn id="152" idx="4"/>
              <a:endCxn id="122" idx="0"/>
            </p:cNvCxnSpPr>
            <p:nvPr/>
          </p:nvCxnSpPr>
          <p:spPr>
            <a:xfrm>
              <a:off x="5150578" y="1682716"/>
              <a:ext cx="997" cy="725001"/>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sp>
          <p:nvSpPr>
            <p:cNvPr id="163" name="TextBox 179"/>
            <p:cNvSpPr txBox="1"/>
            <p:nvPr/>
          </p:nvSpPr>
          <p:spPr>
            <a:xfrm>
              <a:off x="1249993" y="1861409"/>
              <a:ext cx="1049536" cy="338554"/>
            </a:xfrm>
            <a:prstGeom prst="rect">
              <a:avLst/>
            </a:prstGeom>
            <a:solidFill>
              <a:srgbClr val="33CC33"/>
            </a:solidFill>
            <a:ln>
              <a:noFill/>
            </a:ln>
          </p:spPr>
          <p:txBody>
            <a:bodyPr wrap="square" rtlCol="0">
              <a:spAutoFit/>
            </a:bodyPr>
            <a:lstStyle/>
            <a:p>
              <a:pPr algn="ctr"/>
              <a:r>
                <a:rPr lang="zh-CN" altLang="en-US" sz="1600" b="1" dirty="0">
                  <a:latin typeface="微软雅黑" panose="020B0503020204020204" pitchFamily="34" charset="-122"/>
                  <a:ea typeface="微软雅黑" panose="020B0503020204020204" pitchFamily="34" charset="-122"/>
                </a:rPr>
                <a:t>控制层面</a:t>
              </a:r>
            </a:p>
          </p:txBody>
        </p:sp>
        <p:sp>
          <p:nvSpPr>
            <p:cNvPr id="164" name="TextBox 180"/>
            <p:cNvSpPr txBox="1"/>
            <p:nvPr/>
          </p:nvSpPr>
          <p:spPr>
            <a:xfrm>
              <a:off x="1249993" y="2234467"/>
              <a:ext cx="1049536" cy="338554"/>
            </a:xfrm>
            <a:prstGeom prst="rect">
              <a:avLst/>
            </a:prstGeom>
            <a:solidFill>
              <a:schemeClr val="accent6">
                <a:lumMod val="75000"/>
              </a:schemeClr>
            </a:solidFill>
          </p:spPr>
          <p:txBody>
            <a:bodyPr wrap="square" rtlCol="0">
              <a:spAutoFit/>
            </a:bodyPr>
            <a:lstStyle/>
            <a:p>
              <a:pPr algn="ctr"/>
              <a:r>
                <a:rPr lang="zh-CN" altLang="en-US" sz="1600" b="1" dirty="0">
                  <a:latin typeface="微软雅黑" panose="020B0503020204020204" pitchFamily="34" charset="-122"/>
                  <a:ea typeface="微软雅黑" panose="020B0503020204020204" pitchFamily="34" charset="-122"/>
                </a:rPr>
                <a:t>数据层面</a:t>
              </a:r>
            </a:p>
          </p:txBody>
        </p:sp>
        <p:grpSp>
          <p:nvGrpSpPr>
            <p:cNvPr id="165" name="组合 164"/>
            <p:cNvGrpSpPr/>
            <p:nvPr/>
          </p:nvGrpSpPr>
          <p:grpSpPr>
            <a:xfrm>
              <a:off x="1062847" y="1569143"/>
              <a:ext cx="206062" cy="1296144"/>
              <a:chOff x="199861" y="1988840"/>
              <a:chExt cx="288414" cy="1440160"/>
            </a:xfrm>
          </p:grpSpPr>
          <p:sp>
            <p:nvSpPr>
              <p:cNvPr id="166" name="上箭头 165"/>
              <p:cNvSpPr/>
              <p:nvPr/>
            </p:nvSpPr>
            <p:spPr>
              <a:xfrm>
                <a:off x="199861" y="1988840"/>
                <a:ext cx="288032" cy="688444"/>
              </a:xfrm>
              <a:prstGeom prst="upArrow">
                <a:avLst>
                  <a:gd name="adj1" fmla="val 50000"/>
                  <a:gd name="adj2" fmla="val 102911"/>
                </a:avLst>
              </a:prstGeom>
              <a:solidFill>
                <a:srgbClr val="33CC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167" name="上箭头 166"/>
              <p:cNvSpPr/>
              <p:nvPr/>
            </p:nvSpPr>
            <p:spPr>
              <a:xfrm flipV="1">
                <a:off x="200243" y="2737490"/>
                <a:ext cx="288032" cy="691510"/>
              </a:xfrm>
              <a:prstGeom prst="upArrow">
                <a:avLst>
                  <a:gd name="adj1" fmla="val 50000"/>
                  <a:gd name="adj2" fmla="val 102911"/>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grpSp>
        <p:cxnSp>
          <p:nvCxnSpPr>
            <p:cNvPr id="168" name="直接箭头连接符 167"/>
            <p:cNvCxnSpPr/>
            <p:nvPr/>
          </p:nvCxnSpPr>
          <p:spPr>
            <a:xfrm flipV="1">
              <a:off x="3212645" y="2542479"/>
              <a:ext cx="380641" cy="1"/>
            </a:xfrm>
            <a:prstGeom prst="straightConnector1">
              <a:avLst/>
            </a:prstGeom>
            <a:ln w="12700">
              <a:solidFill>
                <a:schemeClr val="tx1"/>
              </a:solidFill>
              <a:prstDash val="sysDot"/>
              <a:headEnd type="none" w="med" len="med"/>
              <a:tailEnd type="triangle" w="med" len="lg"/>
            </a:ln>
          </p:spPr>
          <p:style>
            <a:lnRef idx="1">
              <a:schemeClr val="accent1"/>
            </a:lnRef>
            <a:fillRef idx="0">
              <a:schemeClr val="accent1"/>
            </a:fillRef>
            <a:effectRef idx="0">
              <a:schemeClr val="accent1"/>
            </a:effectRef>
            <a:fontRef idx="minor">
              <a:schemeClr val="tx1"/>
            </a:fontRef>
          </p:style>
        </p:cxnSp>
        <p:pic>
          <p:nvPicPr>
            <p:cNvPr id="169" name="Picture 239"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898744" y="3328407"/>
              <a:ext cx="442344" cy="442344"/>
            </a:xfrm>
            <a:prstGeom prst="rect">
              <a:avLst/>
            </a:prstGeom>
            <a:noFill/>
            <a:extLst>
              <a:ext uri="{909E8E84-426E-40DD-AFC4-6F175D3DCCD1}">
                <a14:hiddenFill xmlns:a14="http://schemas.microsoft.com/office/drawing/2010/main">
                  <a:solidFill>
                    <a:srgbClr val="FFFFFF"/>
                  </a:solidFill>
                </a14:hiddenFill>
              </a:ext>
            </a:extLst>
          </p:spPr>
        </p:pic>
        <p:pic>
          <p:nvPicPr>
            <p:cNvPr id="170" name="Picture 239"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117788" y="3301672"/>
              <a:ext cx="442344" cy="442344"/>
            </a:xfrm>
            <a:prstGeom prst="rect">
              <a:avLst/>
            </a:prstGeom>
            <a:noFill/>
            <a:extLst>
              <a:ext uri="{909E8E84-426E-40DD-AFC4-6F175D3DCCD1}">
                <a14:hiddenFill xmlns:a14="http://schemas.microsoft.com/office/drawing/2010/main">
                  <a:solidFill>
                    <a:srgbClr val="FFFFFF"/>
                  </a:solidFill>
                </a14:hiddenFill>
              </a:ext>
            </a:extLst>
          </p:spPr>
        </p:pic>
        <p:sp>
          <p:nvSpPr>
            <p:cNvPr id="152" name="椭圆 151"/>
            <p:cNvSpPr/>
            <p:nvPr/>
          </p:nvSpPr>
          <p:spPr>
            <a:xfrm>
              <a:off x="3575364" y="1351374"/>
              <a:ext cx="3150428" cy="331342"/>
            </a:xfrm>
            <a:prstGeom prst="ellipse">
              <a:avLst/>
            </a:prstGeom>
            <a:solidFill>
              <a:srgbClr val="FFC0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远  程  控  制  器</a:t>
              </a:r>
              <a:endParaRPr lang="zh-CN" altLang="en-US" sz="1600" b="1" dirty="0">
                <a:latin typeface="微软雅黑" panose="020B0503020204020204" pitchFamily="34" charset="-122"/>
                <a:ea typeface="微软雅黑" panose="020B0503020204020204" pitchFamily="34" charset="-122"/>
              </a:endParaRPr>
            </a:p>
          </p:txBody>
        </p:sp>
      </p:grpSp>
      <p:sp>
        <p:nvSpPr>
          <p:cNvPr id="172" name="矩形 171"/>
          <p:cNvSpPr/>
          <p:nvPr/>
        </p:nvSpPr>
        <p:spPr>
          <a:xfrm>
            <a:off x="7434390" y="1490108"/>
            <a:ext cx="1051182" cy="1887696"/>
          </a:xfrm>
          <a:prstGeom prst="rect">
            <a:avLst/>
          </a:prstGeom>
          <a:solidFill>
            <a:srgbClr val="FFC000"/>
          </a:solidFill>
        </p:spPr>
        <p:txBody>
          <a:bodyPr wrap="square">
            <a:spAutoFit/>
          </a:bodyPr>
          <a:lstStyle/>
          <a:p>
            <a:pPr>
              <a:lnSpc>
                <a:spcPts val="2000"/>
              </a:lnSpc>
            </a:pPr>
            <a:r>
              <a:rPr lang="zh-CN" altLang="en-US" sz="1200" b="1" dirty="0">
                <a:solidFill>
                  <a:srgbClr val="990099"/>
                </a:solidFill>
                <a:latin typeface="微软雅黑" panose="020B0503020204020204" pitchFamily="34" charset="-122"/>
                <a:ea typeface="微软雅黑" panose="020B0503020204020204" pitchFamily="34" charset="-122"/>
              </a:rPr>
              <a:t>远程控制器：</a:t>
            </a:r>
            <a:endParaRPr lang="en-US" altLang="zh-CN" sz="1200" b="1" dirty="0">
              <a:solidFill>
                <a:srgbClr val="990099"/>
              </a:solidFill>
              <a:latin typeface="微软雅黑" panose="020B0503020204020204" pitchFamily="34" charset="-122"/>
              <a:ea typeface="微软雅黑" panose="020B0503020204020204" pitchFamily="34" charset="-122"/>
            </a:endParaRPr>
          </a:p>
          <a:p>
            <a:pPr>
              <a:lnSpc>
                <a:spcPts val="2000"/>
              </a:lnSpc>
            </a:pPr>
            <a:r>
              <a:rPr lang="zh-CN" altLang="en-US" sz="1200" b="1" dirty="0">
                <a:solidFill>
                  <a:srgbClr val="0000FF"/>
                </a:solidFill>
                <a:latin typeface="微软雅黑" panose="020B0503020204020204" pitchFamily="34" charset="-122"/>
                <a:ea typeface="微软雅黑" panose="020B0503020204020204" pitchFamily="34" charset="-122"/>
              </a:rPr>
              <a:t>计算</a:t>
            </a:r>
            <a:r>
              <a:rPr lang="zh-CN" altLang="en-US" sz="1200" b="1" dirty="0">
                <a:latin typeface="微软雅黑" panose="020B0503020204020204" pitchFamily="34" charset="-122"/>
                <a:ea typeface="微软雅黑" panose="020B0503020204020204" pitchFamily="34" charset="-122"/>
              </a:rPr>
              <a:t>出最佳的路由，</a:t>
            </a:r>
            <a:endParaRPr lang="en-US" altLang="zh-CN" sz="1200" b="1" dirty="0">
              <a:latin typeface="微软雅黑" panose="020B0503020204020204" pitchFamily="34" charset="-122"/>
              <a:ea typeface="微软雅黑" panose="020B0503020204020204" pitchFamily="34" charset="-122"/>
            </a:endParaRPr>
          </a:p>
          <a:p>
            <a:pPr>
              <a:lnSpc>
                <a:spcPts val="2000"/>
              </a:lnSpc>
            </a:pPr>
            <a:r>
              <a:rPr lang="zh-CN" altLang="en-US" sz="1200" b="1" dirty="0">
                <a:latin typeface="微软雅黑" panose="020B0503020204020204" pitchFamily="34" charset="-122"/>
                <a:ea typeface="微软雅黑" panose="020B0503020204020204" pitchFamily="34" charset="-122"/>
              </a:rPr>
              <a:t>在每一个路由器中</a:t>
            </a:r>
            <a:r>
              <a:rPr lang="zh-CN" altLang="en-US" sz="1200" b="1" dirty="0">
                <a:solidFill>
                  <a:srgbClr val="0000FF"/>
                </a:solidFill>
                <a:latin typeface="微软雅黑" panose="020B0503020204020204" pitchFamily="34" charset="-122"/>
                <a:ea typeface="微软雅黑" panose="020B0503020204020204" pitchFamily="34" charset="-122"/>
              </a:rPr>
              <a:t>生成</a:t>
            </a:r>
            <a:r>
              <a:rPr lang="zh-CN" altLang="en-US" sz="1200" b="1" dirty="0">
                <a:latin typeface="微软雅黑" panose="020B0503020204020204" pitchFamily="34" charset="-122"/>
                <a:ea typeface="微软雅黑" panose="020B0503020204020204" pitchFamily="34" charset="-122"/>
              </a:rPr>
              <a:t>其正确的转发表。</a:t>
            </a:r>
          </a:p>
        </p:txBody>
      </p:sp>
    </p:spTree>
    <p:extLst>
      <p:ext uri="{BB962C8B-B14F-4D97-AF65-F5344CB8AC3E}">
        <p14:creationId xmlns:p14="http://schemas.microsoft.com/office/powerpoint/2010/main" val="37004354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45144" y="629518"/>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1514187" y="606428"/>
            <a:ext cx="60983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anose="020B0503020204020204" pitchFamily="34" charset="-122"/>
                <a:ea typeface="微软雅黑" panose="020B0503020204020204" pitchFamily="34" charset="-122"/>
              </a:rPr>
              <a:t>软件定义网络 </a:t>
            </a:r>
            <a:r>
              <a:rPr lang="en-US" altLang="zh-CN" sz="2000" b="1" dirty="0">
                <a:solidFill>
                  <a:schemeClr val="bg1"/>
                </a:solidFill>
                <a:latin typeface="微软雅黑" panose="020B0503020204020204" pitchFamily="34" charset="-122"/>
                <a:ea typeface="微软雅黑" panose="020B0503020204020204" pitchFamily="34" charset="-122"/>
              </a:rPr>
              <a:t>SDN (Software Defined Network)</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8" name="圆角矩形 7"/>
          <p:cNvSpPr/>
          <p:nvPr/>
        </p:nvSpPr>
        <p:spPr>
          <a:xfrm>
            <a:off x="545144" y="1058292"/>
            <a:ext cx="8053712" cy="311689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91" name="矩形 90"/>
          <p:cNvSpPr/>
          <p:nvPr/>
        </p:nvSpPr>
        <p:spPr>
          <a:xfrm>
            <a:off x="2453417" y="4204954"/>
            <a:ext cx="4965299" cy="338554"/>
          </a:xfrm>
          <a:prstGeom prst="rect">
            <a:avLst/>
          </a:prstGeom>
        </p:spPr>
        <p:txBody>
          <a:bodyPr wrap="square">
            <a:spAutoFit/>
          </a:bodyPr>
          <a:lstStyle/>
          <a:p>
            <a:pPr algn="ctr"/>
            <a:r>
              <a:rPr lang="zh-CN" altLang="en-US" sz="1600" b="1" dirty="0">
                <a:latin typeface="微软雅黑" panose="020B0503020204020204" pitchFamily="34" charset="-122"/>
                <a:ea typeface="微软雅黑" panose="020B0503020204020204" pitchFamily="34" charset="-122"/>
              </a:rPr>
              <a:t>软件定义网络 </a:t>
            </a:r>
            <a:r>
              <a:rPr lang="en-US" altLang="zh-CN" sz="1600" b="1" dirty="0">
                <a:latin typeface="微软雅黑" panose="020B0503020204020204" pitchFamily="34" charset="-122"/>
                <a:ea typeface="微软雅黑" panose="020B0503020204020204" pitchFamily="34" charset="-122"/>
              </a:rPr>
              <a:t>SDN </a:t>
            </a:r>
            <a:r>
              <a:rPr lang="zh-CN" altLang="en-US" sz="1600" b="1" dirty="0">
                <a:latin typeface="微软雅黑" panose="020B0503020204020204" pitchFamily="34" charset="-122"/>
                <a:ea typeface="微软雅黑" panose="020B0503020204020204" pitchFamily="34" charset="-122"/>
              </a:rPr>
              <a:t>中的数据层面和控制层面</a:t>
            </a:r>
          </a:p>
        </p:txBody>
      </p:sp>
      <p:grpSp>
        <p:nvGrpSpPr>
          <p:cNvPr id="173" name="组合 172"/>
          <p:cNvGrpSpPr/>
          <p:nvPr/>
        </p:nvGrpSpPr>
        <p:grpSpPr>
          <a:xfrm>
            <a:off x="845397" y="1226469"/>
            <a:ext cx="6944264" cy="2784814"/>
            <a:chOff x="1009291" y="1226469"/>
            <a:chExt cx="6944264" cy="2784814"/>
          </a:xfrm>
        </p:grpSpPr>
        <p:sp>
          <p:nvSpPr>
            <p:cNvPr id="92" name="Line 107"/>
            <p:cNvSpPr>
              <a:spLocks noChangeShapeType="1"/>
            </p:cNvSpPr>
            <p:nvPr/>
          </p:nvSpPr>
          <p:spPr bwMode="auto">
            <a:xfrm flipH="1">
              <a:off x="2970733" y="1637707"/>
              <a:ext cx="336510" cy="276608"/>
            </a:xfrm>
            <a:prstGeom prst="line">
              <a:avLst/>
            </a:prstGeom>
            <a:noFill/>
            <a:ln w="9525">
              <a:solidFill>
                <a:schemeClr val="tx1"/>
              </a:solidFill>
              <a:round/>
              <a:headEnd/>
              <a:tailEnd/>
            </a:ln>
          </p:spPr>
          <p:txBody>
            <a:bodyPr/>
            <a:lstStyle/>
            <a:p>
              <a:endParaRPr lang="zh-CN" altLang="en-US"/>
            </a:p>
          </p:txBody>
        </p:sp>
        <p:sp>
          <p:nvSpPr>
            <p:cNvPr id="93" name="Line 107"/>
            <p:cNvSpPr>
              <a:spLocks noChangeShapeType="1"/>
            </p:cNvSpPr>
            <p:nvPr/>
          </p:nvSpPr>
          <p:spPr bwMode="auto">
            <a:xfrm flipH="1" flipV="1">
              <a:off x="6926882" y="1701875"/>
              <a:ext cx="372155" cy="235530"/>
            </a:xfrm>
            <a:prstGeom prst="line">
              <a:avLst/>
            </a:prstGeom>
            <a:noFill/>
            <a:ln w="9525">
              <a:solidFill>
                <a:schemeClr val="tx1"/>
              </a:solidFill>
              <a:round/>
              <a:headEnd/>
              <a:tailEnd/>
            </a:ln>
          </p:spPr>
          <p:txBody>
            <a:bodyPr/>
            <a:lstStyle/>
            <a:p>
              <a:endParaRPr lang="zh-CN" altLang="en-US"/>
            </a:p>
          </p:txBody>
        </p:sp>
        <p:sp>
          <p:nvSpPr>
            <p:cNvPr id="94" name="Line 151"/>
            <p:cNvSpPr>
              <a:spLocks noChangeShapeType="1"/>
            </p:cNvSpPr>
            <p:nvPr/>
          </p:nvSpPr>
          <p:spPr bwMode="auto">
            <a:xfrm>
              <a:off x="4647850" y="3049391"/>
              <a:ext cx="871395" cy="449172"/>
            </a:xfrm>
            <a:prstGeom prst="line">
              <a:avLst/>
            </a:prstGeom>
            <a:noFill/>
            <a:ln w="28575">
              <a:solidFill>
                <a:schemeClr val="tx1"/>
              </a:solidFill>
              <a:round/>
              <a:headEnd/>
              <a:tailEnd/>
            </a:ln>
          </p:spPr>
          <p:txBody>
            <a:bodyPr/>
            <a:lstStyle/>
            <a:p>
              <a:endParaRPr lang="zh-CN" altLang="en-US"/>
            </a:p>
          </p:txBody>
        </p:sp>
        <p:sp>
          <p:nvSpPr>
            <p:cNvPr id="95" name="Line 79"/>
            <p:cNvSpPr>
              <a:spLocks noChangeShapeType="1"/>
            </p:cNvSpPr>
            <p:nvPr/>
          </p:nvSpPr>
          <p:spPr bwMode="auto">
            <a:xfrm>
              <a:off x="3053041" y="3468017"/>
              <a:ext cx="589747" cy="223514"/>
            </a:xfrm>
            <a:prstGeom prst="line">
              <a:avLst/>
            </a:prstGeom>
            <a:noFill/>
            <a:ln w="9525">
              <a:solidFill>
                <a:schemeClr val="tx1"/>
              </a:solidFill>
              <a:round/>
              <a:headEnd/>
              <a:tailEnd/>
            </a:ln>
          </p:spPr>
          <p:txBody>
            <a:bodyPr/>
            <a:lstStyle/>
            <a:p>
              <a:endParaRPr lang="zh-CN" altLang="en-US"/>
            </a:p>
          </p:txBody>
        </p:sp>
        <p:sp>
          <p:nvSpPr>
            <p:cNvPr id="97" name="Line 99"/>
            <p:cNvSpPr>
              <a:spLocks noChangeShapeType="1"/>
            </p:cNvSpPr>
            <p:nvPr/>
          </p:nvSpPr>
          <p:spPr bwMode="auto">
            <a:xfrm>
              <a:off x="3843486" y="3755233"/>
              <a:ext cx="1206801" cy="191773"/>
            </a:xfrm>
            <a:prstGeom prst="line">
              <a:avLst/>
            </a:prstGeom>
            <a:noFill/>
            <a:ln w="28575">
              <a:solidFill>
                <a:schemeClr val="tx1"/>
              </a:solidFill>
              <a:round/>
              <a:headEnd/>
              <a:tailEnd/>
            </a:ln>
          </p:spPr>
          <p:txBody>
            <a:bodyPr/>
            <a:lstStyle/>
            <a:p>
              <a:endParaRPr lang="zh-CN" altLang="en-US"/>
            </a:p>
          </p:txBody>
        </p:sp>
        <p:sp>
          <p:nvSpPr>
            <p:cNvPr id="98" name="Line 100"/>
            <p:cNvSpPr>
              <a:spLocks noChangeShapeType="1"/>
            </p:cNvSpPr>
            <p:nvPr/>
          </p:nvSpPr>
          <p:spPr bwMode="auto">
            <a:xfrm flipV="1">
              <a:off x="3843763" y="3562729"/>
              <a:ext cx="1675482" cy="128798"/>
            </a:xfrm>
            <a:prstGeom prst="line">
              <a:avLst/>
            </a:prstGeom>
            <a:noFill/>
            <a:ln w="28575">
              <a:solidFill>
                <a:schemeClr val="tx1"/>
              </a:solidFill>
              <a:round/>
              <a:headEnd/>
              <a:tailEnd/>
            </a:ln>
          </p:spPr>
          <p:txBody>
            <a:bodyPr/>
            <a:lstStyle/>
            <a:p>
              <a:endParaRPr lang="zh-CN" altLang="en-US"/>
            </a:p>
          </p:txBody>
        </p:sp>
        <p:sp>
          <p:nvSpPr>
            <p:cNvPr id="99" name="Line 101"/>
            <p:cNvSpPr>
              <a:spLocks noChangeShapeType="1"/>
            </p:cNvSpPr>
            <p:nvPr/>
          </p:nvSpPr>
          <p:spPr bwMode="auto">
            <a:xfrm>
              <a:off x="5787367" y="3562730"/>
              <a:ext cx="871534" cy="192458"/>
            </a:xfrm>
            <a:prstGeom prst="line">
              <a:avLst/>
            </a:prstGeom>
            <a:noFill/>
            <a:ln w="28575">
              <a:solidFill>
                <a:schemeClr val="tx1"/>
              </a:solidFill>
              <a:round/>
              <a:headEnd/>
              <a:tailEnd/>
            </a:ln>
          </p:spPr>
          <p:txBody>
            <a:bodyPr/>
            <a:lstStyle/>
            <a:p>
              <a:endParaRPr lang="zh-CN" altLang="en-US"/>
            </a:p>
          </p:txBody>
        </p:sp>
        <p:sp>
          <p:nvSpPr>
            <p:cNvPr id="100" name="Line 102"/>
            <p:cNvSpPr>
              <a:spLocks noChangeShapeType="1"/>
            </p:cNvSpPr>
            <p:nvPr/>
          </p:nvSpPr>
          <p:spPr bwMode="auto">
            <a:xfrm flipV="1">
              <a:off x="5318154" y="3820263"/>
              <a:ext cx="1340746" cy="127472"/>
            </a:xfrm>
            <a:prstGeom prst="line">
              <a:avLst/>
            </a:prstGeom>
            <a:noFill/>
            <a:ln w="28575">
              <a:solidFill>
                <a:schemeClr val="tx1"/>
              </a:solidFill>
              <a:round/>
              <a:headEnd/>
              <a:tailEnd/>
            </a:ln>
          </p:spPr>
          <p:txBody>
            <a:bodyPr/>
            <a:lstStyle/>
            <a:p>
              <a:endParaRPr lang="zh-CN" altLang="en-US"/>
            </a:p>
          </p:txBody>
        </p:sp>
        <p:sp>
          <p:nvSpPr>
            <p:cNvPr id="101" name="Line 103"/>
            <p:cNvSpPr>
              <a:spLocks noChangeShapeType="1"/>
            </p:cNvSpPr>
            <p:nvPr/>
          </p:nvSpPr>
          <p:spPr bwMode="auto">
            <a:xfrm flipV="1">
              <a:off x="6725399" y="3422535"/>
              <a:ext cx="690157" cy="332654"/>
            </a:xfrm>
            <a:prstGeom prst="line">
              <a:avLst/>
            </a:prstGeom>
            <a:noFill/>
            <a:ln w="9525">
              <a:solidFill>
                <a:schemeClr val="tx1"/>
              </a:solidFill>
              <a:round/>
              <a:headEnd/>
              <a:tailEnd/>
            </a:ln>
          </p:spPr>
          <p:txBody>
            <a:bodyPr/>
            <a:lstStyle/>
            <a:p>
              <a:endParaRPr lang="zh-CN" altLang="en-US"/>
            </a:p>
          </p:txBody>
        </p:sp>
        <p:sp>
          <p:nvSpPr>
            <p:cNvPr id="103" name="Line 107"/>
            <p:cNvSpPr>
              <a:spLocks noChangeShapeType="1"/>
            </p:cNvSpPr>
            <p:nvPr/>
          </p:nvSpPr>
          <p:spPr bwMode="auto">
            <a:xfrm flipV="1">
              <a:off x="3843763" y="3049390"/>
              <a:ext cx="602996" cy="578477"/>
            </a:xfrm>
            <a:prstGeom prst="line">
              <a:avLst/>
            </a:prstGeom>
            <a:noFill/>
            <a:ln w="28575">
              <a:solidFill>
                <a:schemeClr val="tx1"/>
              </a:solidFill>
              <a:round/>
              <a:headEnd/>
              <a:tailEnd/>
            </a:ln>
          </p:spPr>
          <p:txBody>
            <a:bodyPr/>
            <a:lstStyle/>
            <a:p>
              <a:endParaRPr lang="zh-CN" altLang="en-US"/>
            </a:p>
          </p:txBody>
        </p:sp>
        <p:sp>
          <p:nvSpPr>
            <p:cNvPr id="104" name="Line 108"/>
            <p:cNvSpPr>
              <a:spLocks noChangeShapeType="1"/>
            </p:cNvSpPr>
            <p:nvPr/>
          </p:nvSpPr>
          <p:spPr bwMode="auto">
            <a:xfrm>
              <a:off x="4781911" y="2985224"/>
              <a:ext cx="1943489" cy="706305"/>
            </a:xfrm>
            <a:prstGeom prst="line">
              <a:avLst/>
            </a:prstGeom>
            <a:noFill/>
            <a:ln w="28575">
              <a:solidFill>
                <a:schemeClr val="tx1"/>
              </a:solidFill>
              <a:round/>
              <a:headEnd/>
              <a:tailEnd/>
            </a:ln>
          </p:spPr>
          <p:txBody>
            <a:bodyPr/>
            <a:lstStyle/>
            <a:p>
              <a:endParaRPr lang="zh-CN" altLang="en-US"/>
            </a:p>
          </p:txBody>
        </p:sp>
        <p:pic>
          <p:nvPicPr>
            <p:cNvPr id="105" name="Picture 109"/>
            <p:cNvPicPr>
              <a:picLocks noChangeArrowheads="1"/>
            </p:cNvPicPr>
            <p:nvPr/>
          </p:nvPicPr>
          <p:blipFill>
            <a:blip r:embed="rId3" cstate="print"/>
            <a:srcRect/>
            <a:stretch>
              <a:fillRect/>
            </a:stretch>
          </p:blipFill>
          <p:spPr bwMode="auto">
            <a:xfrm>
              <a:off x="3560033" y="3562797"/>
              <a:ext cx="484706" cy="256050"/>
            </a:xfrm>
            <a:prstGeom prst="rect">
              <a:avLst/>
            </a:prstGeom>
            <a:noFill/>
            <a:ln w="12699">
              <a:noFill/>
              <a:miter lim="800000"/>
              <a:headEnd/>
              <a:tailEnd/>
            </a:ln>
          </p:spPr>
        </p:pic>
        <p:pic>
          <p:nvPicPr>
            <p:cNvPr id="106" name="Picture 110"/>
            <p:cNvPicPr>
              <a:picLocks noChangeArrowheads="1"/>
            </p:cNvPicPr>
            <p:nvPr/>
          </p:nvPicPr>
          <p:blipFill>
            <a:blip r:embed="rId3" cstate="print"/>
            <a:srcRect/>
            <a:stretch>
              <a:fillRect/>
            </a:stretch>
          </p:blipFill>
          <p:spPr bwMode="auto">
            <a:xfrm>
              <a:off x="5452215" y="3434395"/>
              <a:ext cx="484706" cy="256050"/>
            </a:xfrm>
            <a:prstGeom prst="rect">
              <a:avLst/>
            </a:prstGeom>
            <a:noFill/>
            <a:ln w="12699">
              <a:noFill/>
              <a:miter lim="800000"/>
              <a:headEnd/>
              <a:tailEnd/>
            </a:ln>
          </p:spPr>
        </p:pic>
        <p:pic>
          <p:nvPicPr>
            <p:cNvPr id="107" name="Picture 111"/>
            <p:cNvPicPr>
              <a:picLocks noChangeArrowheads="1"/>
            </p:cNvPicPr>
            <p:nvPr/>
          </p:nvPicPr>
          <p:blipFill>
            <a:blip r:embed="rId3" cstate="print"/>
            <a:srcRect/>
            <a:stretch>
              <a:fillRect/>
            </a:stretch>
          </p:blipFill>
          <p:spPr bwMode="auto">
            <a:xfrm>
              <a:off x="4915972" y="3755233"/>
              <a:ext cx="484706" cy="256050"/>
            </a:xfrm>
            <a:prstGeom prst="rect">
              <a:avLst/>
            </a:prstGeom>
            <a:noFill/>
            <a:ln w="12699">
              <a:noFill/>
              <a:miter lim="800000"/>
              <a:headEnd/>
              <a:tailEnd/>
            </a:ln>
          </p:spPr>
        </p:pic>
        <p:pic>
          <p:nvPicPr>
            <p:cNvPr id="108" name="Picture 112"/>
            <p:cNvPicPr>
              <a:picLocks noChangeArrowheads="1"/>
            </p:cNvPicPr>
            <p:nvPr/>
          </p:nvPicPr>
          <p:blipFill>
            <a:blip r:embed="rId3" cstate="print"/>
            <a:srcRect/>
            <a:stretch>
              <a:fillRect/>
            </a:stretch>
          </p:blipFill>
          <p:spPr bwMode="auto">
            <a:xfrm>
              <a:off x="6457925" y="3627871"/>
              <a:ext cx="484706" cy="256050"/>
            </a:xfrm>
            <a:prstGeom prst="rect">
              <a:avLst/>
            </a:prstGeom>
            <a:noFill/>
            <a:ln w="12699">
              <a:noFill/>
              <a:miter lim="800000"/>
              <a:headEnd/>
              <a:tailEnd/>
            </a:ln>
          </p:spPr>
        </p:pic>
        <p:pic>
          <p:nvPicPr>
            <p:cNvPr id="109" name="Picture 113"/>
            <p:cNvPicPr>
              <a:picLocks noChangeArrowheads="1"/>
            </p:cNvPicPr>
            <p:nvPr/>
          </p:nvPicPr>
          <p:blipFill>
            <a:blip r:embed="rId3" cstate="print"/>
            <a:srcRect/>
            <a:stretch>
              <a:fillRect/>
            </a:stretch>
          </p:blipFill>
          <p:spPr bwMode="auto">
            <a:xfrm>
              <a:off x="4312698" y="2856889"/>
              <a:ext cx="484706" cy="256051"/>
            </a:xfrm>
            <a:prstGeom prst="rect">
              <a:avLst/>
            </a:prstGeom>
            <a:noFill/>
            <a:ln w="12699">
              <a:noFill/>
              <a:miter lim="800000"/>
              <a:headEnd/>
              <a:tailEnd/>
            </a:ln>
          </p:spPr>
        </p:pic>
        <p:sp>
          <p:nvSpPr>
            <p:cNvPr id="110" name="矩形 109"/>
            <p:cNvSpPr/>
            <p:nvPr/>
          </p:nvSpPr>
          <p:spPr>
            <a:xfrm>
              <a:off x="3574367" y="2407717"/>
              <a:ext cx="201091" cy="256670"/>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11" name="直接连接符 110"/>
            <p:cNvCxnSpPr/>
            <p:nvPr/>
          </p:nvCxnSpPr>
          <p:spPr>
            <a:xfrm>
              <a:off x="3574367" y="2459050"/>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直接连接符 111"/>
            <p:cNvCxnSpPr/>
            <p:nvPr/>
          </p:nvCxnSpPr>
          <p:spPr>
            <a:xfrm>
              <a:off x="3574367" y="251038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直接连接符 112"/>
            <p:cNvCxnSpPr/>
            <p:nvPr/>
          </p:nvCxnSpPr>
          <p:spPr>
            <a:xfrm>
              <a:off x="3574367" y="256769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直接连接符 113"/>
            <p:cNvCxnSpPr/>
            <p:nvPr/>
          </p:nvCxnSpPr>
          <p:spPr>
            <a:xfrm>
              <a:off x="3574367" y="2613053"/>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直接连接符 114"/>
            <p:cNvCxnSpPr/>
            <p:nvPr/>
          </p:nvCxnSpPr>
          <p:spPr>
            <a:xfrm>
              <a:off x="3674913" y="2416255"/>
              <a:ext cx="0" cy="2471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矩形 115"/>
            <p:cNvSpPr/>
            <p:nvPr/>
          </p:nvSpPr>
          <p:spPr>
            <a:xfrm>
              <a:off x="4380725" y="2407717"/>
              <a:ext cx="201091" cy="256670"/>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17" name="直接连接符 116"/>
            <p:cNvCxnSpPr/>
            <p:nvPr/>
          </p:nvCxnSpPr>
          <p:spPr>
            <a:xfrm>
              <a:off x="4380725" y="2459050"/>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直接连接符 117"/>
            <p:cNvCxnSpPr/>
            <p:nvPr/>
          </p:nvCxnSpPr>
          <p:spPr>
            <a:xfrm>
              <a:off x="4380725" y="251038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直接连接符 118"/>
            <p:cNvCxnSpPr/>
            <p:nvPr/>
          </p:nvCxnSpPr>
          <p:spPr>
            <a:xfrm>
              <a:off x="4380725" y="256769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 name="直接连接符 119"/>
            <p:cNvCxnSpPr/>
            <p:nvPr/>
          </p:nvCxnSpPr>
          <p:spPr>
            <a:xfrm>
              <a:off x="4380725" y="2613053"/>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直接连接符 120"/>
            <p:cNvCxnSpPr/>
            <p:nvPr/>
          </p:nvCxnSpPr>
          <p:spPr>
            <a:xfrm>
              <a:off x="4481270" y="2416255"/>
              <a:ext cx="0" cy="2471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22" name="矩形 121"/>
            <p:cNvSpPr/>
            <p:nvPr/>
          </p:nvSpPr>
          <p:spPr>
            <a:xfrm>
              <a:off x="5051029" y="2407717"/>
              <a:ext cx="201091" cy="256670"/>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23" name="直接连接符 122"/>
            <p:cNvCxnSpPr/>
            <p:nvPr/>
          </p:nvCxnSpPr>
          <p:spPr>
            <a:xfrm>
              <a:off x="5051029" y="2459050"/>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直接连接符 123"/>
            <p:cNvCxnSpPr/>
            <p:nvPr/>
          </p:nvCxnSpPr>
          <p:spPr>
            <a:xfrm>
              <a:off x="5051029" y="251038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直接连接符 124"/>
            <p:cNvCxnSpPr/>
            <p:nvPr/>
          </p:nvCxnSpPr>
          <p:spPr>
            <a:xfrm>
              <a:off x="5051029" y="256769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直接连接符 125"/>
            <p:cNvCxnSpPr/>
            <p:nvPr/>
          </p:nvCxnSpPr>
          <p:spPr>
            <a:xfrm>
              <a:off x="5051029" y="2613053"/>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直接连接符 126"/>
            <p:cNvCxnSpPr/>
            <p:nvPr/>
          </p:nvCxnSpPr>
          <p:spPr>
            <a:xfrm>
              <a:off x="5151574" y="2416255"/>
              <a:ext cx="0" cy="2471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矩形 127"/>
            <p:cNvSpPr/>
            <p:nvPr/>
          </p:nvSpPr>
          <p:spPr>
            <a:xfrm>
              <a:off x="6525697" y="2407717"/>
              <a:ext cx="201091" cy="256670"/>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29" name="直接连接符 128"/>
            <p:cNvCxnSpPr/>
            <p:nvPr/>
          </p:nvCxnSpPr>
          <p:spPr>
            <a:xfrm>
              <a:off x="6525697" y="2459050"/>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a:off x="6525697" y="251038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a:off x="6525697" y="256769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6525697" y="2613053"/>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直接连接符 132"/>
            <p:cNvCxnSpPr/>
            <p:nvPr/>
          </p:nvCxnSpPr>
          <p:spPr>
            <a:xfrm>
              <a:off x="6626242" y="2416255"/>
              <a:ext cx="0" cy="2471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34" name="矩形 133"/>
            <p:cNvSpPr/>
            <p:nvPr/>
          </p:nvSpPr>
          <p:spPr>
            <a:xfrm>
              <a:off x="5654302" y="2407717"/>
              <a:ext cx="201091" cy="256670"/>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35" name="直接连接符 134"/>
            <p:cNvCxnSpPr/>
            <p:nvPr/>
          </p:nvCxnSpPr>
          <p:spPr>
            <a:xfrm>
              <a:off x="5654302" y="2459050"/>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直接连接符 135"/>
            <p:cNvCxnSpPr/>
            <p:nvPr/>
          </p:nvCxnSpPr>
          <p:spPr>
            <a:xfrm>
              <a:off x="5654302" y="251038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直接连接符 136"/>
            <p:cNvCxnSpPr/>
            <p:nvPr/>
          </p:nvCxnSpPr>
          <p:spPr>
            <a:xfrm>
              <a:off x="5654302" y="256769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直接连接符 137"/>
            <p:cNvCxnSpPr/>
            <p:nvPr/>
          </p:nvCxnSpPr>
          <p:spPr>
            <a:xfrm>
              <a:off x="5654302" y="2613053"/>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直接连接符 138"/>
            <p:cNvCxnSpPr/>
            <p:nvPr/>
          </p:nvCxnSpPr>
          <p:spPr>
            <a:xfrm>
              <a:off x="5754848" y="2416255"/>
              <a:ext cx="0" cy="2471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40" name="TextBox 176"/>
            <p:cNvSpPr txBox="1"/>
            <p:nvPr/>
          </p:nvSpPr>
          <p:spPr>
            <a:xfrm>
              <a:off x="2548237" y="2382745"/>
              <a:ext cx="723275" cy="307777"/>
            </a:xfrm>
            <a:prstGeom prst="rect">
              <a:avLst/>
            </a:prstGeom>
            <a:noFill/>
          </p:spPr>
          <p:txBody>
            <a:bodyPr wrap="none" rtlCol="0">
              <a:spAutoFit/>
            </a:bodyPr>
            <a:lstStyle>
              <a:defPPr>
                <a:defRPr lang="zh-CN"/>
              </a:defPPr>
              <a:lvl1pPr algn="ctr">
                <a:defRPr sz="1400" b="1">
                  <a:solidFill>
                    <a:srgbClr val="0000FF"/>
                  </a:solidFill>
                  <a:latin typeface="微软雅黑" panose="020B0503020204020204" pitchFamily="34" charset="-122"/>
                  <a:ea typeface="微软雅黑" panose="020B0503020204020204" pitchFamily="34" charset="-122"/>
                </a:defRPr>
              </a:lvl1pPr>
            </a:lstStyle>
            <a:p>
              <a:r>
                <a:rPr lang="zh-CN" altLang="en-US" dirty="0"/>
                <a:t>转发表</a:t>
              </a:r>
            </a:p>
          </p:txBody>
        </p:sp>
        <p:cxnSp>
          <p:nvCxnSpPr>
            <p:cNvPr id="141" name="直接连接符 140"/>
            <p:cNvCxnSpPr/>
            <p:nvPr/>
          </p:nvCxnSpPr>
          <p:spPr>
            <a:xfrm>
              <a:off x="1009291" y="2215214"/>
              <a:ext cx="6944264" cy="0"/>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43" name="直接箭头连接符 142"/>
            <p:cNvCxnSpPr/>
            <p:nvPr/>
          </p:nvCxnSpPr>
          <p:spPr>
            <a:xfrm>
              <a:off x="3670377" y="2682581"/>
              <a:ext cx="106079" cy="880149"/>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44" name="直接箭头连接符 143"/>
            <p:cNvCxnSpPr>
              <a:endCxn id="108" idx="0"/>
            </p:cNvCxnSpPr>
            <p:nvPr/>
          </p:nvCxnSpPr>
          <p:spPr>
            <a:xfrm>
              <a:off x="6627077" y="2686787"/>
              <a:ext cx="73200" cy="941084"/>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45" name="直接箭头连接符 144"/>
            <p:cNvCxnSpPr/>
            <p:nvPr/>
          </p:nvCxnSpPr>
          <p:spPr>
            <a:xfrm flipH="1">
              <a:off x="5723766" y="2678388"/>
              <a:ext cx="30183" cy="789628"/>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46" name="直接箭头连接符 145"/>
            <p:cNvCxnSpPr/>
            <p:nvPr/>
          </p:nvCxnSpPr>
          <p:spPr>
            <a:xfrm>
              <a:off x="5152849" y="2682587"/>
              <a:ext cx="31244" cy="1121443"/>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47" name="直接箭头连接符 146"/>
            <p:cNvCxnSpPr/>
            <p:nvPr/>
          </p:nvCxnSpPr>
          <p:spPr>
            <a:xfrm>
              <a:off x="4485937" y="2679551"/>
              <a:ext cx="75120" cy="208839"/>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sp>
          <p:nvSpPr>
            <p:cNvPr id="149" name="矩形 148"/>
            <p:cNvSpPr/>
            <p:nvPr/>
          </p:nvSpPr>
          <p:spPr>
            <a:xfrm>
              <a:off x="3240212" y="1226469"/>
              <a:ext cx="3686671" cy="73207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150" name="Picture 21"/>
            <p:cNvPicPr>
              <a:picLocks noChangeArrowheads="1"/>
            </p:cNvPicPr>
            <p:nvPr/>
          </p:nvPicPr>
          <p:blipFill>
            <a:blip r:embed="rId4" cstate="print"/>
            <a:srcRect/>
            <a:stretch>
              <a:fillRect/>
            </a:stretch>
          </p:blipFill>
          <p:spPr bwMode="auto">
            <a:xfrm>
              <a:off x="2857264" y="1583226"/>
              <a:ext cx="195777" cy="526174"/>
            </a:xfrm>
            <a:prstGeom prst="rect">
              <a:avLst/>
            </a:prstGeom>
            <a:noFill/>
            <a:ln w="12699">
              <a:noFill/>
              <a:miter lim="800000"/>
              <a:headEnd/>
              <a:tailEnd/>
            </a:ln>
            <a:effectLst/>
          </p:spPr>
        </p:pic>
        <p:pic>
          <p:nvPicPr>
            <p:cNvPr id="151" name="Picture 21"/>
            <p:cNvPicPr>
              <a:picLocks noChangeArrowheads="1"/>
            </p:cNvPicPr>
            <p:nvPr/>
          </p:nvPicPr>
          <p:blipFill>
            <a:blip r:embed="rId4" cstate="print"/>
            <a:srcRect/>
            <a:stretch>
              <a:fillRect/>
            </a:stretch>
          </p:blipFill>
          <p:spPr bwMode="auto">
            <a:xfrm>
              <a:off x="7196362" y="1583226"/>
              <a:ext cx="195777" cy="526174"/>
            </a:xfrm>
            <a:prstGeom prst="rect">
              <a:avLst/>
            </a:prstGeom>
            <a:noFill/>
            <a:ln w="12699">
              <a:noFill/>
              <a:miter lim="800000"/>
              <a:headEnd/>
              <a:tailEnd/>
            </a:ln>
            <a:effectLst/>
          </p:spPr>
        </p:pic>
        <p:cxnSp>
          <p:nvCxnSpPr>
            <p:cNvPr id="153" name="直接箭头连接符 152"/>
            <p:cNvCxnSpPr/>
            <p:nvPr/>
          </p:nvCxnSpPr>
          <p:spPr>
            <a:xfrm flipH="1">
              <a:off x="3679398" y="1548531"/>
              <a:ext cx="337598" cy="857990"/>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54" name="直接箭头连接符 153"/>
            <p:cNvCxnSpPr/>
            <p:nvPr/>
          </p:nvCxnSpPr>
          <p:spPr>
            <a:xfrm flipH="1">
              <a:off x="4485742" y="1573733"/>
              <a:ext cx="106027" cy="836059"/>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55" name="直接箭头连接符 154"/>
            <p:cNvCxnSpPr/>
            <p:nvPr/>
          </p:nvCxnSpPr>
          <p:spPr>
            <a:xfrm>
              <a:off x="6272214" y="1531731"/>
              <a:ext cx="353699" cy="874802"/>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56" name="直接箭头连接符 155"/>
            <p:cNvCxnSpPr/>
            <p:nvPr/>
          </p:nvCxnSpPr>
          <p:spPr>
            <a:xfrm>
              <a:off x="5701828" y="1573733"/>
              <a:ext cx="54372" cy="835365"/>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57" name="直接箭头连接符 156"/>
            <p:cNvCxnSpPr>
              <a:stCxn id="152" idx="4"/>
              <a:endCxn id="122" idx="0"/>
            </p:cNvCxnSpPr>
            <p:nvPr/>
          </p:nvCxnSpPr>
          <p:spPr>
            <a:xfrm>
              <a:off x="5150578" y="1682716"/>
              <a:ext cx="997" cy="725001"/>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sp>
          <p:nvSpPr>
            <p:cNvPr id="163" name="TextBox 179"/>
            <p:cNvSpPr txBox="1"/>
            <p:nvPr/>
          </p:nvSpPr>
          <p:spPr>
            <a:xfrm>
              <a:off x="1249993" y="1861409"/>
              <a:ext cx="1049536" cy="338554"/>
            </a:xfrm>
            <a:prstGeom prst="rect">
              <a:avLst/>
            </a:prstGeom>
            <a:solidFill>
              <a:srgbClr val="33CC33"/>
            </a:solidFill>
            <a:ln>
              <a:noFill/>
            </a:ln>
          </p:spPr>
          <p:txBody>
            <a:bodyPr wrap="square" rtlCol="0">
              <a:spAutoFit/>
            </a:bodyPr>
            <a:lstStyle/>
            <a:p>
              <a:pPr algn="ctr"/>
              <a:r>
                <a:rPr lang="zh-CN" altLang="en-US" sz="1600" b="1" dirty="0">
                  <a:latin typeface="微软雅黑" panose="020B0503020204020204" pitchFamily="34" charset="-122"/>
                  <a:ea typeface="微软雅黑" panose="020B0503020204020204" pitchFamily="34" charset="-122"/>
                </a:rPr>
                <a:t>控制层面</a:t>
              </a:r>
            </a:p>
          </p:txBody>
        </p:sp>
        <p:sp>
          <p:nvSpPr>
            <p:cNvPr id="164" name="TextBox 180"/>
            <p:cNvSpPr txBox="1"/>
            <p:nvPr/>
          </p:nvSpPr>
          <p:spPr>
            <a:xfrm>
              <a:off x="1249993" y="2234467"/>
              <a:ext cx="1049536" cy="338554"/>
            </a:xfrm>
            <a:prstGeom prst="rect">
              <a:avLst/>
            </a:prstGeom>
            <a:solidFill>
              <a:schemeClr val="accent6">
                <a:lumMod val="75000"/>
              </a:schemeClr>
            </a:solidFill>
          </p:spPr>
          <p:txBody>
            <a:bodyPr wrap="square" rtlCol="0">
              <a:spAutoFit/>
            </a:bodyPr>
            <a:lstStyle/>
            <a:p>
              <a:pPr algn="ctr"/>
              <a:r>
                <a:rPr lang="zh-CN" altLang="en-US" sz="1600" b="1" dirty="0">
                  <a:latin typeface="微软雅黑" panose="020B0503020204020204" pitchFamily="34" charset="-122"/>
                  <a:ea typeface="微软雅黑" panose="020B0503020204020204" pitchFamily="34" charset="-122"/>
                </a:rPr>
                <a:t>数据层面</a:t>
              </a:r>
            </a:p>
          </p:txBody>
        </p:sp>
        <p:grpSp>
          <p:nvGrpSpPr>
            <p:cNvPr id="165" name="组合 164"/>
            <p:cNvGrpSpPr/>
            <p:nvPr/>
          </p:nvGrpSpPr>
          <p:grpSpPr>
            <a:xfrm>
              <a:off x="1062847" y="1569143"/>
              <a:ext cx="206062" cy="1296144"/>
              <a:chOff x="199861" y="1988840"/>
              <a:chExt cx="288414" cy="1440160"/>
            </a:xfrm>
          </p:grpSpPr>
          <p:sp>
            <p:nvSpPr>
              <p:cNvPr id="166" name="上箭头 165"/>
              <p:cNvSpPr/>
              <p:nvPr/>
            </p:nvSpPr>
            <p:spPr>
              <a:xfrm>
                <a:off x="199861" y="1988840"/>
                <a:ext cx="288032" cy="688444"/>
              </a:xfrm>
              <a:prstGeom prst="upArrow">
                <a:avLst>
                  <a:gd name="adj1" fmla="val 50000"/>
                  <a:gd name="adj2" fmla="val 102911"/>
                </a:avLst>
              </a:prstGeom>
              <a:solidFill>
                <a:srgbClr val="33CC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167" name="上箭头 166"/>
              <p:cNvSpPr/>
              <p:nvPr/>
            </p:nvSpPr>
            <p:spPr>
              <a:xfrm flipV="1">
                <a:off x="200243" y="2737490"/>
                <a:ext cx="288032" cy="691510"/>
              </a:xfrm>
              <a:prstGeom prst="upArrow">
                <a:avLst>
                  <a:gd name="adj1" fmla="val 50000"/>
                  <a:gd name="adj2" fmla="val 102911"/>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grpSp>
        <p:cxnSp>
          <p:nvCxnSpPr>
            <p:cNvPr id="168" name="直接箭头连接符 167"/>
            <p:cNvCxnSpPr/>
            <p:nvPr/>
          </p:nvCxnSpPr>
          <p:spPr>
            <a:xfrm flipV="1">
              <a:off x="3212645" y="2542479"/>
              <a:ext cx="380641" cy="1"/>
            </a:xfrm>
            <a:prstGeom prst="straightConnector1">
              <a:avLst/>
            </a:prstGeom>
            <a:ln w="12700">
              <a:solidFill>
                <a:schemeClr val="tx1"/>
              </a:solidFill>
              <a:prstDash val="sysDot"/>
              <a:headEnd type="none" w="med" len="med"/>
              <a:tailEnd type="triangle" w="med" len="lg"/>
            </a:ln>
          </p:spPr>
          <p:style>
            <a:lnRef idx="1">
              <a:schemeClr val="accent1"/>
            </a:lnRef>
            <a:fillRef idx="0">
              <a:schemeClr val="accent1"/>
            </a:fillRef>
            <a:effectRef idx="0">
              <a:schemeClr val="accent1"/>
            </a:effectRef>
            <a:fontRef idx="minor">
              <a:schemeClr val="tx1"/>
            </a:fontRef>
          </p:style>
        </p:cxnSp>
        <p:pic>
          <p:nvPicPr>
            <p:cNvPr id="169" name="Picture 239"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898744" y="3328407"/>
              <a:ext cx="442344" cy="442344"/>
            </a:xfrm>
            <a:prstGeom prst="rect">
              <a:avLst/>
            </a:prstGeom>
            <a:noFill/>
            <a:extLst>
              <a:ext uri="{909E8E84-426E-40DD-AFC4-6F175D3DCCD1}">
                <a14:hiddenFill xmlns:a14="http://schemas.microsoft.com/office/drawing/2010/main">
                  <a:solidFill>
                    <a:srgbClr val="FFFFFF"/>
                  </a:solidFill>
                </a14:hiddenFill>
              </a:ext>
            </a:extLst>
          </p:spPr>
        </p:pic>
        <p:pic>
          <p:nvPicPr>
            <p:cNvPr id="170" name="Picture 239"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117788" y="3301672"/>
              <a:ext cx="442344" cy="442344"/>
            </a:xfrm>
            <a:prstGeom prst="rect">
              <a:avLst/>
            </a:prstGeom>
            <a:noFill/>
            <a:extLst>
              <a:ext uri="{909E8E84-426E-40DD-AFC4-6F175D3DCCD1}">
                <a14:hiddenFill xmlns:a14="http://schemas.microsoft.com/office/drawing/2010/main">
                  <a:solidFill>
                    <a:srgbClr val="FFFFFF"/>
                  </a:solidFill>
                </a14:hiddenFill>
              </a:ext>
            </a:extLst>
          </p:spPr>
        </p:pic>
        <p:sp>
          <p:nvSpPr>
            <p:cNvPr id="152" name="椭圆 151"/>
            <p:cNvSpPr/>
            <p:nvPr/>
          </p:nvSpPr>
          <p:spPr>
            <a:xfrm>
              <a:off x="3575364" y="1351374"/>
              <a:ext cx="3150428" cy="331342"/>
            </a:xfrm>
            <a:prstGeom prst="ellipse">
              <a:avLst/>
            </a:prstGeom>
            <a:solidFill>
              <a:srgbClr val="FFC0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远  程  控  制  器</a:t>
              </a:r>
              <a:endParaRPr lang="zh-CN" altLang="en-US" sz="1600" b="1" dirty="0">
                <a:latin typeface="微软雅黑" panose="020B0503020204020204" pitchFamily="34" charset="-122"/>
                <a:ea typeface="微软雅黑" panose="020B0503020204020204" pitchFamily="34" charset="-122"/>
              </a:endParaRPr>
            </a:p>
          </p:txBody>
        </p:sp>
      </p:grpSp>
      <p:sp>
        <p:nvSpPr>
          <p:cNvPr id="172" name="矩形 171"/>
          <p:cNvSpPr/>
          <p:nvPr/>
        </p:nvSpPr>
        <p:spPr>
          <a:xfrm>
            <a:off x="7311925" y="2356794"/>
            <a:ext cx="1164465" cy="861774"/>
          </a:xfrm>
          <a:prstGeom prst="rect">
            <a:avLst/>
          </a:prstGeom>
          <a:solidFill>
            <a:srgbClr val="00CCFF"/>
          </a:solidFill>
        </p:spPr>
        <p:txBody>
          <a:bodyPr wrap="square">
            <a:spAutoFit/>
          </a:bodyPr>
          <a:lstStyle/>
          <a:p>
            <a:pPr>
              <a:lnSpc>
                <a:spcPts val="2000"/>
              </a:lnSpc>
            </a:pPr>
            <a:r>
              <a:rPr lang="zh-CN" altLang="en-US" sz="1400" b="1" dirty="0">
                <a:solidFill>
                  <a:srgbClr val="FFFF00"/>
                </a:solidFill>
                <a:latin typeface="微软雅黑" panose="020B0503020204020204" pitchFamily="34" charset="-122"/>
                <a:ea typeface="微软雅黑" panose="020B0503020204020204" pitchFamily="34" charset="-122"/>
              </a:rPr>
              <a:t>路由器：</a:t>
            </a:r>
            <a:endParaRPr lang="en-US" altLang="zh-CN" sz="1400" b="1" dirty="0">
              <a:solidFill>
                <a:srgbClr val="FFFF00"/>
              </a:solidFill>
              <a:latin typeface="微软雅黑" panose="020B0503020204020204" pitchFamily="34" charset="-122"/>
              <a:ea typeface="微软雅黑" panose="020B0503020204020204" pitchFamily="34" charset="-122"/>
            </a:endParaRPr>
          </a:p>
          <a:p>
            <a:pPr>
              <a:lnSpc>
                <a:spcPts val="2000"/>
              </a:lnSpc>
            </a:pPr>
            <a:r>
              <a:rPr lang="zh-CN" altLang="en-US" sz="1400" b="1" dirty="0">
                <a:solidFill>
                  <a:srgbClr val="0000FF"/>
                </a:solidFill>
                <a:latin typeface="微软雅黑" panose="020B0503020204020204" pitchFamily="34" charset="-122"/>
                <a:ea typeface="微软雅黑" panose="020B0503020204020204" pitchFamily="34" charset="-122"/>
              </a:rPr>
              <a:t>查找</a:t>
            </a:r>
            <a:r>
              <a:rPr lang="zh-CN" altLang="en-US" sz="1400" b="1" dirty="0">
                <a:latin typeface="微软雅黑" panose="020B0503020204020204" pitchFamily="34" charset="-122"/>
                <a:ea typeface="微软雅黑" panose="020B0503020204020204" pitchFamily="34" charset="-122"/>
              </a:rPr>
              <a:t>转发表，</a:t>
            </a:r>
            <a:r>
              <a:rPr lang="zh-CN" altLang="en-US" sz="1400" b="1" dirty="0">
                <a:solidFill>
                  <a:srgbClr val="0000FF"/>
                </a:solidFill>
                <a:latin typeface="微软雅黑" panose="020B0503020204020204" pitchFamily="34" charset="-122"/>
                <a:ea typeface="微软雅黑" panose="020B0503020204020204" pitchFamily="34" charset="-122"/>
              </a:rPr>
              <a:t>转发</a:t>
            </a:r>
            <a:r>
              <a:rPr lang="zh-CN" altLang="en-US" sz="1400" b="1" dirty="0">
                <a:latin typeface="微软雅黑" panose="020B0503020204020204" pitchFamily="34" charset="-122"/>
                <a:ea typeface="微软雅黑" panose="020B0503020204020204" pitchFamily="34" charset="-122"/>
              </a:rPr>
              <a:t>分组。</a:t>
            </a:r>
          </a:p>
        </p:txBody>
      </p:sp>
    </p:spTree>
    <p:extLst>
      <p:ext uri="{BB962C8B-B14F-4D97-AF65-F5344CB8AC3E}">
        <p14:creationId xmlns:p14="http://schemas.microsoft.com/office/powerpoint/2010/main" val="277521203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10"/>
          <p:cNvSpPr>
            <a:spLocks noChangeArrowheads="1"/>
          </p:cNvSpPr>
          <p:nvPr/>
        </p:nvSpPr>
        <p:spPr bwMode="auto">
          <a:xfrm>
            <a:off x="2629135" y="2802671"/>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0" name="Rectangle 11"/>
          <p:cNvSpPr>
            <a:spLocks noChangeArrowheads="1"/>
          </p:cNvSpPr>
          <p:nvPr/>
        </p:nvSpPr>
        <p:spPr bwMode="auto">
          <a:xfrm>
            <a:off x="2629135" y="3420208"/>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dirty="0">
              <a:solidFill>
                <a:srgbClr val="FFFFFF"/>
              </a:solidFill>
              <a:latin typeface="宋体" charset="-122"/>
            </a:endParaRPr>
          </a:p>
        </p:txBody>
      </p:sp>
      <p:sp>
        <p:nvSpPr>
          <p:cNvPr id="11" name="Rectangle 9"/>
          <p:cNvSpPr>
            <a:spLocks noChangeArrowheads="1"/>
          </p:cNvSpPr>
          <p:nvPr/>
        </p:nvSpPr>
        <p:spPr bwMode="auto">
          <a:xfrm>
            <a:off x="2629135" y="985148"/>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2" name="Rectangle 10"/>
          <p:cNvSpPr>
            <a:spLocks noChangeArrowheads="1"/>
          </p:cNvSpPr>
          <p:nvPr/>
        </p:nvSpPr>
        <p:spPr bwMode="auto">
          <a:xfrm>
            <a:off x="2629135" y="1591573"/>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3" name="Rectangle 11"/>
          <p:cNvSpPr>
            <a:spLocks noChangeArrowheads="1"/>
          </p:cNvSpPr>
          <p:nvPr/>
        </p:nvSpPr>
        <p:spPr bwMode="auto">
          <a:xfrm>
            <a:off x="2629135" y="2209110"/>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dirty="0">
              <a:solidFill>
                <a:srgbClr val="FFFFFF"/>
              </a:solidFill>
              <a:latin typeface="宋体" charset="-122"/>
            </a:endParaRPr>
          </a:p>
        </p:txBody>
      </p:sp>
      <p:sp>
        <p:nvSpPr>
          <p:cNvPr id="14" name="Line 16"/>
          <p:cNvSpPr>
            <a:spLocks noChangeShapeType="1"/>
          </p:cNvSpPr>
          <p:nvPr/>
        </p:nvSpPr>
        <p:spPr bwMode="auto">
          <a:xfrm>
            <a:off x="3637198" y="728985"/>
            <a:ext cx="0" cy="3676759"/>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 name="Rectangle 8"/>
          <p:cNvSpPr>
            <a:spLocks noChangeArrowheads="1"/>
          </p:cNvSpPr>
          <p:nvPr/>
        </p:nvSpPr>
        <p:spPr bwMode="auto">
          <a:xfrm>
            <a:off x="2700573" y="950604"/>
            <a:ext cx="5574294" cy="31700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zh-CN" sz="2000" b="1" dirty="0">
                <a:solidFill>
                  <a:schemeClr val="bg1"/>
                </a:solidFill>
                <a:latin typeface="微软雅黑" pitchFamily="34" charset="-122"/>
                <a:ea typeface="微软雅黑" pitchFamily="34" charset="-122"/>
              </a:rPr>
              <a:t>4.2.1                                          </a:t>
            </a:r>
            <a:r>
              <a:rPr lang="zh-CN" altLang="en-US" sz="2000" b="1" dirty="0">
                <a:solidFill>
                  <a:schemeClr val="bg1"/>
                </a:solidFill>
                <a:latin typeface="微软雅黑" pitchFamily="34" charset="-122"/>
                <a:ea typeface="微软雅黑" pitchFamily="34" charset="-122"/>
              </a:rPr>
              <a:t>虚拟互连网络</a:t>
            </a:r>
            <a:endParaRPr lang="en-US" altLang="zh-CN" sz="2000" b="1" dirty="0">
              <a:solidFill>
                <a:schemeClr val="bg1"/>
              </a:solidFill>
              <a:latin typeface="微软雅黑" pitchFamily="34" charset="-122"/>
              <a:ea typeface="微软雅黑" pitchFamily="34" charset="-122"/>
            </a:endParaRPr>
          </a:p>
          <a:p>
            <a:endParaRPr lang="zh-CN" altLang="en-US"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4.2.2                                        </a:t>
            </a:r>
            <a:r>
              <a:rPr lang="zh-CN" altLang="en-US" sz="2000" b="1" dirty="0">
                <a:solidFill>
                  <a:schemeClr val="bg1"/>
                </a:solidFill>
                <a:latin typeface="微软雅黑" pitchFamily="34" charset="-122"/>
                <a:ea typeface="微软雅黑" pitchFamily="34" charset="-122"/>
              </a:rPr>
              <a:t>           </a:t>
            </a: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地址</a:t>
            </a:r>
            <a:endParaRPr lang="en-US" altLang="zh-CN" sz="2000" b="1" dirty="0">
              <a:solidFill>
                <a:schemeClr val="bg1"/>
              </a:solidFill>
              <a:latin typeface="微软雅黑" pitchFamily="34" charset="-122"/>
              <a:ea typeface="微软雅黑" pitchFamily="34" charset="-122"/>
            </a:endParaRPr>
          </a:p>
          <a:p>
            <a:endParaRPr lang="zh-CN" altLang="en-US"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4.2.3                               IP </a:t>
            </a:r>
            <a:r>
              <a:rPr lang="zh-CN" altLang="en-US" sz="2000" b="1" dirty="0">
                <a:solidFill>
                  <a:schemeClr val="bg1"/>
                </a:solidFill>
                <a:latin typeface="微软雅黑" pitchFamily="34" charset="-122"/>
                <a:ea typeface="微软雅黑" pitchFamily="34" charset="-122"/>
              </a:rPr>
              <a:t>地址与 </a:t>
            </a:r>
            <a:r>
              <a:rPr lang="en-US" altLang="zh-CN" sz="2000" b="1" dirty="0">
                <a:solidFill>
                  <a:schemeClr val="bg1"/>
                </a:solidFill>
                <a:latin typeface="微软雅黑" pitchFamily="34" charset="-122"/>
                <a:ea typeface="微软雅黑" pitchFamily="34" charset="-122"/>
              </a:rPr>
              <a:t>MAC </a:t>
            </a:r>
            <a:r>
              <a:rPr lang="zh-CN" altLang="en-US" sz="2000" b="1" dirty="0">
                <a:solidFill>
                  <a:schemeClr val="bg1"/>
                </a:solidFill>
                <a:latin typeface="微软雅黑" pitchFamily="34" charset="-122"/>
                <a:ea typeface="微软雅黑" pitchFamily="34" charset="-122"/>
              </a:rPr>
              <a:t>地址</a:t>
            </a:r>
            <a:endParaRPr lang="en-US" altLang="zh-CN" sz="2000" b="1" dirty="0">
              <a:solidFill>
                <a:schemeClr val="bg1"/>
              </a:solidFill>
              <a:latin typeface="微软雅黑" pitchFamily="34" charset="-122"/>
              <a:ea typeface="微软雅黑" pitchFamily="34" charset="-122"/>
            </a:endParaRPr>
          </a:p>
          <a:p>
            <a:endParaRPr lang="zh-CN" altLang="en-US"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4.2.4                                  </a:t>
            </a:r>
            <a:r>
              <a:rPr lang="zh-CN" altLang="en-US" sz="2000" b="1" dirty="0">
                <a:solidFill>
                  <a:schemeClr val="bg1"/>
                </a:solidFill>
                <a:latin typeface="微软雅黑" pitchFamily="34" charset="-122"/>
                <a:ea typeface="微软雅黑" pitchFamily="34" charset="-122"/>
              </a:rPr>
              <a:t>地址解析协议 </a:t>
            </a:r>
            <a:r>
              <a:rPr lang="en-US" altLang="zh-CN" sz="2000" b="1" dirty="0">
                <a:solidFill>
                  <a:schemeClr val="bg1"/>
                </a:solidFill>
                <a:latin typeface="微软雅黑" pitchFamily="34" charset="-122"/>
                <a:ea typeface="微软雅黑" pitchFamily="34" charset="-122"/>
              </a:rPr>
              <a:t>ARP</a:t>
            </a:r>
          </a:p>
          <a:p>
            <a:endParaRPr lang="en-US" altLang="zh-CN"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4.2.5                                      IP </a:t>
            </a:r>
            <a:r>
              <a:rPr lang="zh-CN" altLang="en-US" sz="2000" b="1" dirty="0">
                <a:solidFill>
                  <a:schemeClr val="bg1"/>
                </a:solidFill>
                <a:latin typeface="微软雅黑" pitchFamily="34" charset="-122"/>
                <a:ea typeface="微软雅黑" pitchFamily="34" charset="-122"/>
              </a:rPr>
              <a:t>数据报的格式</a:t>
            </a:r>
            <a:endParaRPr lang="en-US" altLang="zh-CN" sz="2000" b="1" dirty="0">
              <a:solidFill>
                <a:schemeClr val="bg1"/>
              </a:solidFill>
              <a:latin typeface="微软雅黑" pitchFamily="34" charset="-122"/>
              <a:ea typeface="微软雅黑" pitchFamily="34" charset="-122"/>
            </a:endParaRPr>
          </a:p>
          <a:p>
            <a:endParaRPr lang="zh-CN" altLang="en-US" sz="2000" b="1" dirty="0">
              <a:solidFill>
                <a:schemeClr val="bg1"/>
              </a:solidFill>
              <a:latin typeface="微软雅黑" pitchFamily="34" charset="-122"/>
              <a:ea typeface="微软雅黑" pitchFamily="34" charset="-122"/>
            </a:endParaRPr>
          </a:p>
        </p:txBody>
      </p:sp>
      <p:sp>
        <p:nvSpPr>
          <p:cNvPr id="16" name="Rectangle 27"/>
          <p:cNvSpPr>
            <a:spLocks noChangeArrowheads="1"/>
          </p:cNvSpPr>
          <p:nvPr/>
        </p:nvSpPr>
        <p:spPr bwMode="auto">
          <a:xfrm>
            <a:off x="639730" y="985148"/>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17" name="Rectangle 29"/>
          <p:cNvSpPr>
            <a:spLocks noChangeArrowheads="1"/>
          </p:cNvSpPr>
          <p:nvPr/>
        </p:nvSpPr>
        <p:spPr bwMode="auto">
          <a:xfrm>
            <a:off x="648619" y="1080080"/>
            <a:ext cx="1627651" cy="7078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4.2</a:t>
            </a:r>
          </a:p>
          <a:p>
            <a:r>
              <a:rPr lang="zh-CN" altLang="en-US" sz="2000" b="1" dirty="0">
                <a:solidFill>
                  <a:schemeClr val="bg1"/>
                </a:solidFill>
                <a:latin typeface="微软雅黑" pitchFamily="34" charset="-122"/>
                <a:ea typeface="微软雅黑" pitchFamily="34" charset="-122"/>
              </a:rPr>
              <a:t>网际协议 </a:t>
            </a:r>
            <a:r>
              <a:rPr lang="en-US" altLang="zh-CN" sz="2000" b="1" dirty="0">
                <a:solidFill>
                  <a:schemeClr val="bg1"/>
                </a:solidFill>
                <a:latin typeface="微软雅黑" pitchFamily="34" charset="-122"/>
                <a:ea typeface="微软雅黑" pitchFamily="34" charset="-122"/>
              </a:rPr>
              <a:t>IP</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30006812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矩形 13"/>
          <p:cNvSpPr/>
          <p:nvPr/>
        </p:nvSpPr>
        <p:spPr>
          <a:xfrm>
            <a:off x="545143" y="1014023"/>
            <a:ext cx="4202114" cy="2580194"/>
          </a:xfrm>
          <a:prstGeom prst="rect">
            <a:avLst/>
          </a:prstGeom>
        </p:spPr>
        <p:txBody>
          <a:bodyPr wrap="square">
            <a:spAutoFit/>
          </a:bodyPr>
          <a:lstStyle/>
          <a:p>
            <a:pPr eaLnBrk="0" hangingPunct="0">
              <a:lnSpc>
                <a:spcPts val="2600"/>
              </a:lnSpc>
              <a:buClr>
                <a:srgbClr val="0070C0"/>
              </a:buClr>
            </a:pPr>
            <a:r>
              <a:rPr lang="zh-CN" altLang="en-US" b="1" dirty="0">
                <a:latin typeface="微软雅黑" pitchFamily="34" charset="-122"/>
                <a:ea typeface="微软雅黑" pitchFamily="34" charset="-122"/>
              </a:rPr>
              <a:t>与网际协议 </a:t>
            </a:r>
            <a:r>
              <a:rPr lang="fr-FR" altLang="zh-CN" b="1" dirty="0">
                <a:latin typeface="微软雅黑" pitchFamily="34" charset="-122"/>
                <a:ea typeface="微软雅黑" pitchFamily="34" charset="-122"/>
              </a:rPr>
              <a:t>IPv4 </a:t>
            </a:r>
            <a:r>
              <a:rPr lang="zh-CN" altLang="en-US" b="1" dirty="0">
                <a:latin typeface="微软雅黑" pitchFamily="34" charset="-122"/>
                <a:ea typeface="微软雅黑" pitchFamily="34" charset="-122"/>
              </a:rPr>
              <a:t>配套的 </a:t>
            </a:r>
            <a:r>
              <a:rPr lang="en-US" altLang="zh-CN" b="1" dirty="0">
                <a:latin typeface="微软雅黑" pitchFamily="34" charset="-122"/>
                <a:ea typeface="微软雅黑" pitchFamily="34" charset="-122"/>
              </a:rPr>
              <a:t>3 </a:t>
            </a:r>
            <a:r>
              <a:rPr lang="zh-CN" altLang="en-US" b="1" dirty="0">
                <a:latin typeface="微软雅黑" pitchFamily="34" charset="-122"/>
                <a:ea typeface="微软雅黑" pitchFamily="34" charset="-122"/>
              </a:rPr>
              <a:t>个协议：</a:t>
            </a:r>
          </a:p>
          <a:p>
            <a:pPr marL="361950" indent="-357188" eaLnBrk="0" hangingPunct="0">
              <a:lnSpc>
                <a:spcPts val="2800"/>
              </a:lnSpc>
              <a:buClr>
                <a:srgbClr val="7030A0"/>
              </a:buClr>
              <a:buFont typeface="+mj-lt"/>
              <a:buAutoNum type="arabicPeriod"/>
            </a:pPr>
            <a:r>
              <a:rPr lang="zh-CN" altLang="en-US" b="1" dirty="0">
                <a:solidFill>
                  <a:srgbClr val="0000FF"/>
                </a:solidFill>
                <a:latin typeface="微软雅黑" pitchFamily="34" charset="-122"/>
                <a:ea typeface="微软雅黑" pitchFamily="34" charset="-122"/>
              </a:rPr>
              <a:t>地址解析协议 </a:t>
            </a:r>
            <a:r>
              <a:rPr lang="fr-FR" altLang="zh-CN" b="1" dirty="0">
                <a:solidFill>
                  <a:srgbClr val="0000FF"/>
                </a:solidFill>
                <a:latin typeface="微软雅黑" pitchFamily="34" charset="-122"/>
                <a:ea typeface="微软雅黑" pitchFamily="34" charset="-122"/>
              </a:rPr>
              <a:t>ARP</a:t>
            </a:r>
            <a:r>
              <a:rPr lang="fr-FR" altLang="zh-CN" b="1" dirty="0">
                <a:latin typeface="微软雅黑" pitchFamily="34" charset="-122"/>
                <a:ea typeface="微软雅黑" pitchFamily="34" charset="-122"/>
              </a:rPr>
              <a:t> (Address Resolution Protocol)</a:t>
            </a:r>
          </a:p>
          <a:p>
            <a:pPr marL="361950" indent="-357188" eaLnBrk="0" hangingPunct="0">
              <a:lnSpc>
                <a:spcPts val="2800"/>
              </a:lnSpc>
              <a:buClr>
                <a:srgbClr val="7030A0"/>
              </a:buClr>
              <a:buFont typeface="+mj-lt"/>
              <a:buAutoNum type="arabicPeriod"/>
            </a:pPr>
            <a:r>
              <a:rPr lang="zh-CN" altLang="en-US" b="1" dirty="0">
                <a:solidFill>
                  <a:srgbClr val="0000FF"/>
                </a:solidFill>
                <a:latin typeface="微软雅黑" pitchFamily="34" charset="-122"/>
                <a:ea typeface="微软雅黑" pitchFamily="34" charset="-122"/>
              </a:rPr>
              <a:t>网际控制报文协议 </a:t>
            </a:r>
            <a:r>
              <a:rPr lang="fr-FR" altLang="zh-CN" b="1" dirty="0">
                <a:solidFill>
                  <a:srgbClr val="0000FF"/>
                </a:solidFill>
                <a:latin typeface="微软雅黑" pitchFamily="34" charset="-122"/>
                <a:ea typeface="微软雅黑" pitchFamily="34" charset="-122"/>
              </a:rPr>
              <a:t>ICMP </a:t>
            </a:r>
            <a:r>
              <a:rPr lang="fr-FR" altLang="zh-CN" b="1" dirty="0">
                <a:latin typeface="微软雅黑" pitchFamily="34" charset="-122"/>
                <a:ea typeface="微软雅黑" pitchFamily="34" charset="-122"/>
              </a:rPr>
              <a:t>(Internet Control Message Protocol)</a:t>
            </a:r>
          </a:p>
          <a:p>
            <a:pPr marL="361950" indent="-357188" eaLnBrk="0" hangingPunct="0">
              <a:lnSpc>
                <a:spcPts val="2800"/>
              </a:lnSpc>
              <a:buClr>
                <a:srgbClr val="7030A0"/>
              </a:buClr>
              <a:buFont typeface="+mj-lt"/>
              <a:buAutoNum type="arabicPeriod"/>
            </a:pPr>
            <a:r>
              <a:rPr lang="zh-CN" altLang="en-US" b="1" dirty="0">
                <a:solidFill>
                  <a:srgbClr val="0000FF"/>
                </a:solidFill>
                <a:latin typeface="微软雅黑" pitchFamily="34" charset="-122"/>
                <a:ea typeface="微软雅黑" pitchFamily="34" charset="-122"/>
              </a:rPr>
              <a:t>网际组管理协议 </a:t>
            </a:r>
            <a:r>
              <a:rPr lang="fr-FR" altLang="zh-CN" b="1" dirty="0">
                <a:solidFill>
                  <a:srgbClr val="0000FF"/>
                </a:solidFill>
                <a:latin typeface="微软雅黑" pitchFamily="34" charset="-122"/>
                <a:ea typeface="微软雅黑" pitchFamily="34" charset="-122"/>
              </a:rPr>
              <a:t>IGMP </a:t>
            </a:r>
            <a:r>
              <a:rPr lang="fr-FR" altLang="zh-CN" b="1" dirty="0">
                <a:latin typeface="微软雅黑" pitchFamily="34" charset="-122"/>
                <a:ea typeface="微软雅黑" pitchFamily="34" charset="-122"/>
              </a:rPr>
              <a:t>(Internet Group Management Protocol)</a:t>
            </a:r>
          </a:p>
        </p:txBody>
      </p:sp>
      <p:sp>
        <p:nvSpPr>
          <p:cNvPr id="5" name="AutoShape 5"/>
          <p:cNvSpPr>
            <a:spLocks noChangeArrowheads="1"/>
          </p:cNvSpPr>
          <p:nvPr/>
        </p:nvSpPr>
        <p:spPr bwMode="auto">
          <a:xfrm>
            <a:off x="545144" y="621225"/>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6" name="Rectangle 6"/>
          <p:cNvSpPr>
            <a:spLocks noChangeArrowheads="1"/>
          </p:cNvSpPr>
          <p:nvPr/>
        </p:nvSpPr>
        <p:spPr bwMode="auto">
          <a:xfrm>
            <a:off x="3295850" y="578954"/>
            <a:ext cx="255230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400" b="1" dirty="0">
                <a:solidFill>
                  <a:srgbClr val="FFFF00"/>
                </a:solidFill>
                <a:latin typeface="微软雅黑" pitchFamily="34" charset="-122"/>
                <a:ea typeface="微软雅黑" pitchFamily="34" charset="-122"/>
              </a:rPr>
              <a:t>4.2  </a:t>
            </a:r>
            <a:r>
              <a:rPr lang="zh-CN" altLang="en-US" sz="2400" b="1" dirty="0">
                <a:solidFill>
                  <a:schemeClr val="bg1"/>
                </a:solidFill>
                <a:latin typeface="微软雅黑" pitchFamily="34" charset="-122"/>
                <a:ea typeface="微软雅黑" pitchFamily="34" charset="-122"/>
              </a:rPr>
              <a:t>网际协议 </a:t>
            </a:r>
            <a:r>
              <a:rPr lang="en-US" altLang="zh-CN" sz="2400" b="1" dirty="0">
                <a:solidFill>
                  <a:schemeClr val="bg1"/>
                </a:solidFill>
                <a:latin typeface="微软雅黑" pitchFamily="34" charset="-122"/>
                <a:ea typeface="微软雅黑" pitchFamily="34" charset="-122"/>
              </a:rPr>
              <a:t>IP </a:t>
            </a:r>
          </a:p>
        </p:txBody>
      </p:sp>
      <p:sp>
        <p:nvSpPr>
          <p:cNvPr id="7" name="圆角矩形 6"/>
          <p:cNvSpPr/>
          <p:nvPr/>
        </p:nvSpPr>
        <p:spPr>
          <a:xfrm>
            <a:off x="4675517" y="1073959"/>
            <a:ext cx="3962378" cy="3200399"/>
          </a:xfrm>
          <a:prstGeom prst="roundRect">
            <a:avLst>
              <a:gd name="adj" fmla="val 9928"/>
            </a:avLst>
          </a:prstGeom>
          <a:solidFill>
            <a:srgbClr val="C3E3F9"/>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3" name="组合 2"/>
          <p:cNvGrpSpPr/>
          <p:nvPr/>
        </p:nvGrpSpPr>
        <p:grpSpPr>
          <a:xfrm>
            <a:off x="4842456" y="1298537"/>
            <a:ext cx="3416249" cy="2751241"/>
            <a:chOff x="2372076" y="1403136"/>
            <a:chExt cx="4224107" cy="2751241"/>
          </a:xfrm>
        </p:grpSpPr>
        <p:sp>
          <p:nvSpPr>
            <p:cNvPr id="15" name="Text Box 9"/>
            <p:cNvSpPr txBox="1">
              <a:spLocks noChangeArrowheads="1"/>
            </p:cNvSpPr>
            <p:nvPr/>
          </p:nvSpPr>
          <p:spPr bwMode="auto">
            <a:xfrm>
              <a:off x="2372076" y="3355900"/>
              <a:ext cx="1047082"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75000"/>
                </a:lnSpc>
              </a:pPr>
              <a:r>
                <a:rPr kumimoji="1" lang="en-US" altLang="zh-CN" sz="1200" b="1">
                  <a:latin typeface="微软雅黑" pitchFamily="34" charset="-122"/>
                  <a:ea typeface="微软雅黑" pitchFamily="34" charset="-122"/>
                </a:rPr>
                <a:t>  </a:t>
              </a:r>
              <a:r>
                <a:rPr kumimoji="1" lang="zh-CN" altLang="en-US" sz="1200" b="1">
                  <a:latin typeface="微软雅黑" pitchFamily="34" charset="-122"/>
                  <a:ea typeface="微软雅黑" pitchFamily="34" charset="-122"/>
                </a:rPr>
                <a:t>网络接口层</a:t>
              </a:r>
            </a:p>
          </p:txBody>
        </p:sp>
        <p:sp>
          <p:nvSpPr>
            <p:cNvPr id="19" name="Text Box 13"/>
            <p:cNvSpPr txBox="1">
              <a:spLocks noChangeArrowheads="1"/>
            </p:cNvSpPr>
            <p:nvPr/>
          </p:nvSpPr>
          <p:spPr bwMode="auto">
            <a:xfrm>
              <a:off x="2714268" y="1977466"/>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运输层</a:t>
              </a:r>
            </a:p>
          </p:txBody>
        </p:sp>
        <p:sp>
          <p:nvSpPr>
            <p:cNvPr id="21" name="Text Box 15"/>
            <p:cNvSpPr txBox="1">
              <a:spLocks noChangeArrowheads="1"/>
            </p:cNvSpPr>
            <p:nvPr/>
          </p:nvSpPr>
          <p:spPr bwMode="auto">
            <a:xfrm>
              <a:off x="2747925" y="1520750"/>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应用层</a:t>
              </a:r>
            </a:p>
          </p:txBody>
        </p:sp>
        <p:sp>
          <p:nvSpPr>
            <p:cNvPr id="27" name="Line 22"/>
            <p:cNvSpPr>
              <a:spLocks noChangeShapeType="1"/>
            </p:cNvSpPr>
            <p:nvPr/>
          </p:nvSpPr>
          <p:spPr bwMode="auto">
            <a:xfrm>
              <a:off x="2562806" y="1959860"/>
              <a:ext cx="109838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8" name="Line 23"/>
            <p:cNvSpPr>
              <a:spLocks noChangeShapeType="1"/>
            </p:cNvSpPr>
            <p:nvPr/>
          </p:nvSpPr>
          <p:spPr bwMode="auto">
            <a:xfrm>
              <a:off x="2562806" y="2313013"/>
              <a:ext cx="109838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9" name="Line 24"/>
            <p:cNvSpPr>
              <a:spLocks noChangeShapeType="1"/>
            </p:cNvSpPr>
            <p:nvPr/>
          </p:nvSpPr>
          <p:spPr bwMode="auto">
            <a:xfrm>
              <a:off x="2581879" y="3270978"/>
              <a:ext cx="1079307" cy="207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30" name="Line 25"/>
            <p:cNvSpPr>
              <a:spLocks noChangeShapeType="1"/>
            </p:cNvSpPr>
            <p:nvPr/>
          </p:nvSpPr>
          <p:spPr bwMode="auto">
            <a:xfrm>
              <a:off x="3094606" y="2313013"/>
              <a:ext cx="0" cy="960036"/>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31" name="Text Box 26"/>
            <p:cNvSpPr txBox="1">
              <a:spLocks noChangeArrowheads="1"/>
            </p:cNvSpPr>
            <p:nvPr/>
          </p:nvSpPr>
          <p:spPr bwMode="auto">
            <a:xfrm>
              <a:off x="2514069" y="2497357"/>
              <a:ext cx="1165222" cy="461665"/>
            </a:xfrm>
            <a:prstGeom prst="rect">
              <a:avLst/>
            </a:prstGeom>
            <a:solidFill>
              <a:srgbClr val="C3E3F9"/>
            </a:solidFill>
            <a:ln>
              <a:noFill/>
            </a:ln>
            <a:effectLst/>
          </p:spPr>
          <p:txBody>
            <a:bodyPr wrap="square">
              <a:spAutoFit/>
            </a:bodyPr>
            <a:lstStyle/>
            <a:p>
              <a:pPr algn="ctr"/>
              <a:r>
                <a:rPr kumimoji="1" lang="zh-CN" altLang="en-US" sz="1200" b="1" dirty="0">
                  <a:solidFill>
                    <a:srgbClr val="0000FF"/>
                  </a:solidFill>
                  <a:latin typeface="微软雅黑" pitchFamily="34" charset="-122"/>
                  <a:ea typeface="微软雅黑" pitchFamily="34" charset="-122"/>
                </a:rPr>
                <a:t>网络层</a:t>
              </a:r>
              <a:endParaRPr kumimoji="1" lang="en-US" altLang="zh-CN" sz="1200" b="1" dirty="0">
                <a:solidFill>
                  <a:srgbClr val="0000FF"/>
                </a:solidFill>
                <a:latin typeface="微软雅黑" pitchFamily="34" charset="-122"/>
                <a:ea typeface="微软雅黑" pitchFamily="34" charset="-122"/>
              </a:endParaRPr>
            </a:p>
            <a:p>
              <a:pPr algn="ctr"/>
              <a:r>
                <a:rPr kumimoji="1" lang="zh-CN" altLang="en-US" sz="1200" b="1" dirty="0">
                  <a:solidFill>
                    <a:srgbClr val="CC00CC"/>
                  </a:solidFill>
                  <a:latin typeface="微软雅黑" pitchFamily="34" charset="-122"/>
                  <a:ea typeface="微软雅黑" pitchFamily="34" charset="-122"/>
                </a:rPr>
                <a:t>（网际层）</a:t>
              </a:r>
            </a:p>
          </p:txBody>
        </p:sp>
        <p:grpSp>
          <p:nvGrpSpPr>
            <p:cNvPr id="2" name="组合 1"/>
            <p:cNvGrpSpPr/>
            <p:nvPr/>
          </p:nvGrpSpPr>
          <p:grpSpPr>
            <a:xfrm>
              <a:off x="3718405" y="1403136"/>
              <a:ext cx="2877778" cy="2751241"/>
              <a:chOff x="3718405" y="1403136"/>
              <a:chExt cx="2877778" cy="2751241"/>
            </a:xfrm>
          </p:grpSpPr>
          <p:sp>
            <p:nvSpPr>
              <p:cNvPr id="8" name="Rectangle 5"/>
              <p:cNvSpPr>
                <a:spLocks noChangeArrowheads="1"/>
              </p:cNvSpPr>
              <p:nvPr/>
            </p:nvSpPr>
            <p:spPr bwMode="auto">
              <a:xfrm>
                <a:off x="3721771" y="1403723"/>
                <a:ext cx="2874412" cy="2223514"/>
              </a:xfrm>
              <a:prstGeom prst="rect">
                <a:avLst/>
              </a:prstGeom>
              <a:solidFill>
                <a:srgbClr val="00FFFF"/>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kumimoji="1" lang="zh-CN" altLang="zh-CN" sz="1200" b="1">
                  <a:solidFill>
                    <a:srgbClr val="000099"/>
                  </a:solidFill>
                  <a:latin typeface="微软雅黑" pitchFamily="34" charset="-122"/>
                  <a:ea typeface="微软雅黑" pitchFamily="34" charset="-122"/>
                </a:endParaRPr>
              </a:p>
            </p:txBody>
          </p:sp>
          <p:sp>
            <p:nvSpPr>
              <p:cNvPr id="9" name="矩形 8"/>
              <p:cNvSpPr/>
              <p:nvPr/>
            </p:nvSpPr>
            <p:spPr>
              <a:xfrm>
                <a:off x="3721771" y="2313013"/>
                <a:ext cx="2874412" cy="9600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p>
            </p:txBody>
          </p:sp>
          <p:sp>
            <p:nvSpPr>
              <p:cNvPr id="10" name="Rectangle 4"/>
              <p:cNvSpPr>
                <a:spLocks noChangeArrowheads="1"/>
              </p:cNvSpPr>
              <p:nvPr/>
            </p:nvSpPr>
            <p:spPr bwMode="auto">
              <a:xfrm>
                <a:off x="3721771" y="2313013"/>
                <a:ext cx="2874412" cy="960036"/>
              </a:xfrm>
              <a:prstGeom prst="rect">
                <a:avLst/>
              </a:prstGeom>
              <a:solidFill>
                <a:srgbClr val="FFFF66"/>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 name="Line 6"/>
              <p:cNvSpPr>
                <a:spLocks noChangeShapeType="1"/>
              </p:cNvSpPr>
              <p:nvPr/>
            </p:nvSpPr>
            <p:spPr bwMode="auto">
              <a:xfrm>
                <a:off x="3721771" y="1959860"/>
                <a:ext cx="2874412"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2" name="Line 7"/>
              <p:cNvSpPr>
                <a:spLocks noChangeShapeType="1"/>
              </p:cNvSpPr>
              <p:nvPr/>
            </p:nvSpPr>
            <p:spPr bwMode="auto">
              <a:xfrm>
                <a:off x="3721771" y="2313013"/>
                <a:ext cx="2874412" cy="0"/>
              </a:xfrm>
              <a:prstGeom prst="line">
                <a:avLst/>
              </a:prstGeom>
              <a:noFill/>
              <a:ln w="1905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3" name="Text Box 8"/>
              <p:cNvSpPr txBox="1">
                <a:spLocks noChangeArrowheads="1"/>
              </p:cNvSpPr>
              <p:nvPr/>
            </p:nvSpPr>
            <p:spPr bwMode="auto">
              <a:xfrm>
                <a:off x="4410642" y="1403136"/>
                <a:ext cx="12618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各种应用层协议</a:t>
                </a:r>
              </a:p>
            </p:txBody>
          </p:sp>
          <p:sp>
            <p:nvSpPr>
              <p:cNvPr id="16" name="Text Box 10"/>
              <p:cNvSpPr txBox="1">
                <a:spLocks noChangeArrowheads="1"/>
              </p:cNvSpPr>
              <p:nvPr/>
            </p:nvSpPr>
            <p:spPr bwMode="auto">
              <a:xfrm>
                <a:off x="4044889" y="1645744"/>
                <a:ext cx="17843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(HTTP, FTP, SMTP </a:t>
                </a:r>
                <a:r>
                  <a:rPr kumimoji="1" lang="zh-CN" altLang="zh-CN" sz="1200" b="1" dirty="0">
                    <a:latin typeface="微软雅黑" pitchFamily="34" charset="-122"/>
                    <a:ea typeface="微软雅黑" pitchFamily="34" charset="-122"/>
                  </a:rPr>
                  <a:t>等</a:t>
                </a:r>
                <a:r>
                  <a:rPr kumimoji="1" lang="en-US" altLang="zh-CN" sz="1200" b="1" dirty="0">
                    <a:latin typeface="微软雅黑" pitchFamily="34" charset="-122"/>
                    <a:ea typeface="微软雅黑" pitchFamily="34" charset="-122"/>
                  </a:rPr>
                  <a:t>)</a:t>
                </a:r>
              </a:p>
            </p:txBody>
          </p:sp>
          <p:sp>
            <p:nvSpPr>
              <p:cNvPr id="17" name="Rectangle 11"/>
              <p:cNvSpPr>
                <a:spLocks noChangeArrowheads="1"/>
              </p:cNvSpPr>
              <p:nvPr/>
            </p:nvSpPr>
            <p:spPr bwMode="auto">
              <a:xfrm>
                <a:off x="3718405" y="3677984"/>
                <a:ext cx="2877778" cy="476393"/>
              </a:xfrm>
              <a:prstGeom prst="rect">
                <a:avLst/>
              </a:prstGeom>
              <a:solidFill>
                <a:srgbClr val="00B0F0">
                  <a:alpha val="49001"/>
                </a:srgbClr>
              </a:solidFill>
              <a:ln w="19050">
                <a:solidFill>
                  <a:schemeClr val="tx1"/>
                </a:solidFill>
                <a:prstDash val="dash"/>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8" name="Text Box 12"/>
              <p:cNvSpPr txBox="1">
                <a:spLocks noChangeArrowheads="1"/>
              </p:cNvSpPr>
              <p:nvPr/>
            </p:nvSpPr>
            <p:spPr bwMode="auto">
              <a:xfrm>
                <a:off x="4661957" y="3760589"/>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物理硬件</a:t>
                </a:r>
              </a:p>
            </p:txBody>
          </p:sp>
          <p:sp>
            <p:nvSpPr>
              <p:cNvPr id="20" name="Text Box 14"/>
              <p:cNvSpPr txBox="1">
                <a:spLocks noChangeArrowheads="1"/>
              </p:cNvSpPr>
              <p:nvPr/>
            </p:nvSpPr>
            <p:spPr bwMode="auto">
              <a:xfrm>
                <a:off x="4739371" y="1984375"/>
                <a:ext cx="88453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TCP, UDP</a:t>
                </a:r>
              </a:p>
            </p:txBody>
          </p:sp>
          <p:sp>
            <p:nvSpPr>
              <p:cNvPr id="22" name="Rectangle 16"/>
              <p:cNvSpPr>
                <a:spLocks noChangeArrowheads="1"/>
              </p:cNvSpPr>
              <p:nvPr/>
            </p:nvSpPr>
            <p:spPr bwMode="auto">
              <a:xfrm>
                <a:off x="3781234" y="2343046"/>
                <a:ext cx="685505" cy="243375"/>
              </a:xfrm>
              <a:prstGeom prst="rect">
                <a:avLst/>
              </a:prstGeom>
              <a:solidFill>
                <a:srgbClr val="00FF99"/>
              </a:solidFill>
              <a:ln w="9525">
                <a:solidFill>
                  <a:schemeClr val="tx1"/>
                </a:solidFill>
                <a:miter lim="800000"/>
                <a:headEnd/>
                <a:tailEnd/>
              </a:ln>
              <a:effectLst/>
            </p:spPr>
            <p:txBody>
              <a:bodyPr wrap="none" anchor="ctr"/>
              <a:lstStyle/>
              <a:p>
                <a:pPr algn="ctr"/>
                <a:r>
                  <a:rPr kumimoji="1" lang="en-US" altLang="zh-CN" sz="1200" b="1" dirty="0">
                    <a:solidFill>
                      <a:srgbClr val="0000FF"/>
                    </a:solidFill>
                    <a:latin typeface="微软雅黑" pitchFamily="34" charset="-122"/>
                    <a:ea typeface="微软雅黑" pitchFamily="34" charset="-122"/>
                  </a:rPr>
                  <a:t>ICMP</a:t>
                </a:r>
              </a:p>
            </p:txBody>
          </p:sp>
          <p:sp>
            <p:nvSpPr>
              <p:cNvPr id="23" name="Text Box 17"/>
              <p:cNvSpPr txBox="1">
                <a:spLocks noChangeArrowheads="1"/>
              </p:cNvSpPr>
              <p:nvPr/>
            </p:nvSpPr>
            <p:spPr bwMode="auto">
              <a:xfrm>
                <a:off x="4975193" y="2674159"/>
                <a:ext cx="38824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solidFill>
                      <a:srgbClr val="000099"/>
                    </a:solidFill>
                    <a:latin typeface="微软雅黑" pitchFamily="34" charset="-122"/>
                    <a:ea typeface="微软雅黑" pitchFamily="34" charset="-122"/>
                  </a:rPr>
                  <a:t>IP</a:t>
                </a:r>
              </a:p>
            </p:txBody>
          </p:sp>
          <p:sp>
            <p:nvSpPr>
              <p:cNvPr id="24" name="Rectangle 19"/>
              <p:cNvSpPr>
                <a:spLocks noChangeArrowheads="1"/>
              </p:cNvSpPr>
              <p:nvPr/>
            </p:nvSpPr>
            <p:spPr bwMode="auto">
              <a:xfrm>
                <a:off x="5910678" y="2970643"/>
                <a:ext cx="624920" cy="243375"/>
              </a:xfrm>
              <a:prstGeom prst="rect">
                <a:avLst/>
              </a:prstGeom>
              <a:solidFill>
                <a:srgbClr val="00FF99"/>
              </a:solidFill>
              <a:ln w="9525">
                <a:solidFill>
                  <a:schemeClr val="tx1"/>
                </a:solidFill>
                <a:miter lim="800000"/>
                <a:headEnd/>
                <a:tailEnd/>
              </a:ln>
              <a:effectLst/>
            </p:spPr>
            <p:txBody>
              <a:bodyPr wrap="none" anchor="ctr"/>
              <a:lstStyle/>
              <a:p>
                <a:pPr algn="ctr"/>
                <a:r>
                  <a:rPr kumimoji="1" lang="en-US" altLang="zh-CN" sz="1200" b="1">
                    <a:solidFill>
                      <a:srgbClr val="0000FF"/>
                    </a:solidFill>
                    <a:latin typeface="微软雅黑" pitchFamily="34" charset="-122"/>
                    <a:ea typeface="微软雅黑" pitchFamily="34" charset="-122"/>
                  </a:rPr>
                  <a:t>ARP</a:t>
                </a:r>
              </a:p>
            </p:txBody>
          </p:sp>
          <p:sp>
            <p:nvSpPr>
              <p:cNvPr id="25" name="Text Box 20"/>
              <p:cNvSpPr txBox="1">
                <a:spLocks noChangeArrowheads="1"/>
              </p:cNvSpPr>
              <p:nvPr/>
            </p:nvSpPr>
            <p:spPr bwMode="auto">
              <a:xfrm>
                <a:off x="4375862" y="3290337"/>
                <a:ext cx="12618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与各种网络接口</a:t>
                </a:r>
              </a:p>
            </p:txBody>
          </p:sp>
          <p:sp>
            <p:nvSpPr>
              <p:cNvPr id="26" name="Line 21"/>
              <p:cNvSpPr>
                <a:spLocks noChangeShapeType="1"/>
              </p:cNvSpPr>
              <p:nvPr/>
            </p:nvSpPr>
            <p:spPr bwMode="auto">
              <a:xfrm>
                <a:off x="3721771" y="3273049"/>
                <a:ext cx="2874412" cy="0"/>
              </a:xfrm>
              <a:prstGeom prst="line">
                <a:avLst/>
              </a:prstGeom>
              <a:noFill/>
              <a:ln w="1905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32" name="Rectangle 27"/>
              <p:cNvSpPr>
                <a:spLocks noChangeArrowheads="1"/>
              </p:cNvSpPr>
              <p:nvPr/>
            </p:nvSpPr>
            <p:spPr bwMode="auto">
              <a:xfrm>
                <a:off x="4500398" y="2343046"/>
                <a:ext cx="684384" cy="243375"/>
              </a:xfrm>
              <a:prstGeom prst="rect">
                <a:avLst/>
              </a:prstGeom>
              <a:solidFill>
                <a:srgbClr val="00FF99"/>
              </a:solidFill>
              <a:ln w="9525">
                <a:solidFill>
                  <a:schemeClr val="tx1"/>
                </a:solidFill>
                <a:miter lim="800000"/>
                <a:headEnd/>
                <a:tailEnd/>
              </a:ln>
              <a:effectLst/>
            </p:spPr>
            <p:txBody>
              <a:bodyPr wrap="none" anchor="ctr"/>
              <a:lstStyle/>
              <a:p>
                <a:pPr algn="ctr"/>
                <a:r>
                  <a:rPr kumimoji="1" lang="en-US" altLang="zh-CN" sz="1200" b="1">
                    <a:solidFill>
                      <a:srgbClr val="0000FF"/>
                    </a:solidFill>
                    <a:latin typeface="微软雅黑" pitchFamily="34" charset="-122"/>
                    <a:ea typeface="微软雅黑" pitchFamily="34" charset="-122"/>
                  </a:rPr>
                  <a:t>IGMP</a:t>
                </a:r>
              </a:p>
            </p:txBody>
          </p:sp>
        </p:grpSp>
        <p:sp>
          <p:nvSpPr>
            <p:cNvPr id="33" name="Line 28"/>
            <p:cNvSpPr>
              <a:spLocks noChangeShapeType="1"/>
            </p:cNvSpPr>
            <p:nvPr/>
          </p:nvSpPr>
          <p:spPr bwMode="auto">
            <a:xfrm flipV="1">
              <a:off x="2571782" y="1403723"/>
              <a:ext cx="1089404"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4" name="Line 29"/>
            <p:cNvSpPr>
              <a:spLocks noChangeShapeType="1"/>
            </p:cNvSpPr>
            <p:nvPr/>
          </p:nvSpPr>
          <p:spPr bwMode="auto">
            <a:xfrm>
              <a:off x="2552708" y="3627237"/>
              <a:ext cx="110847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Tree>
    <p:extLst>
      <p:ext uri="{BB962C8B-B14F-4D97-AF65-F5344CB8AC3E}">
        <p14:creationId xmlns:p14="http://schemas.microsoft.com/office/powerpoint/2010/main" val="312227484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utoShape 5"/>
          <p:cNvSpPr>
            <a:spLocks noChangeArrowheads="1"/>
          </p:cNvSpPr>
          <p:nvPr/>
        </p:nvSpPr>
        <p:spPr bwMode="auto">
          <a:xfrm>
            <a:off x="545144" y="631937"/>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10" name="Rectangle 6"/>
          <p:cNvSpPr>
            <a:spLocks noChangeArrowheads="1"/>
          </p:cNvSpPr>
          <p:nvPr/>
        </p:nvSpPr>
        <p:spPr bwMode="auto">
          <a:xfrm>
            <a:off x="3093071" y="599866"/>
            <a:ext cx="295786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4.2.1  </a:t>
            </a:r>
            <a:r>
              <a:rPr lang="zh-CN" altLang="en-US" sz="2400" b="1" dirty="0">
                <a:solidFill>
                  <a:schemeClr val="bg1"/>
                </a:solidFill>
                <a:latin typeface="微软雅黑" pitchFamily="34" charset="-122"/>
                <a:ea typeface="微软雅黑" pitchFamily="34" charset="-122"/>
              </a:rPr>
              <a:t>虚拟互连网络</a:t>
            </a:r>
          </a:p>
        </p:txBody>
      </p:sp>
      <p:sp>
        <p:nvSpPr>
          <p:cNvPr id="12" name="矩形 11"/>
          <p:cNvSpPr/>
          <p:nvPr/>
        </p:nvSpPr>
        <p:spPr>
          <a:xfrm>
            <a:off x="2213295" y="4239127"/>
            <a:ext cx="4678347" cy="369332"/>
          </a:xfrm>
          <a:prstGeom prst="rect">
            <a:avLst/>
          </a:prstGeom>
          <a:solidFill>
            <a:srgbClr val="000066"/>
          </a:solidFill>
        </p:spPr>
        <p:txBody>
          <a:bodyPr wrap="square">
            <a:spAutoFit/>
          </a:bodyPr>
          <a:lstStyle/>
          <a:p>
            <a:pPr algn="ctr"/>
            <a:r>
              <a:rPr lang="zh-CN" altLang="en-US" b="1" dirty="0">
                <a:solidFill>
                  <a:schemeClr val="bg1"/>
                </a:solidFill>
                <a:latin typeface="微软雅黑" pitchFamily="34" charset="-122"/>
                <a:ea typeface="微软雅黑" pitchFamily="34" charset="-122"/>
              </a:rPr>
              <a:t>如何</a:t>
            </a:r>
            <a:r>
              <a:rPr lang="zh-CN" altLang="zh-CN" b="1" dirty="0">
                <a:solidFill>
                  <a:schemeClr val="bg1"/>
                </a:solidFill>
                <a:latin typeface="微软雅黑" pitchFamily="34" charset="-122"/>
                <a:ea typeface="微软雅黑" pitchFamily="34" charset="-122"/>
              </a:rPr>
              <a:t>将</a:t>
            </a:r>
            <a:r>
              <a:rPr lang="zh-CN" altLang="en-US" b="1" dirty="0">
                <a:solidFill>
                  <a:schemeClr val="bg1"/>
                </a:solidFill>
                <a:latin typeface="微软雅黑" pitchFamily="34" charset="-122"/>
                <a:ea typeface="微软雅黑" pitchFamily="34" charset="-122"/>
              </a:rPr>
              <a:t>异构的</a:t>
            </a:r>
            <a:r>
              <a:rPr lang="zh-CN" altLang="zh-CN" b="1" dirty="0">
                <a:solidFill>
                  <a:schemeClr val="bg1"/>
                </a:solidFill>
                <a:latin typeface="微软雅黑" pitchFamily="34" charset="-122"/>
                <a:ea typeface="微软雅黑" pitchFamily="34" charset="-122"/>
              </a:rPr>
              <a:t>网络互相连接起来</a:t>
            </a:r>
            <a:r>
              <a:rPr lang="zh-CN" altLang="en-US" b="1" dirty="0">
                <a:solidFill>
                  <a:schemeClr val="bg1"/>
                </a:solidFill>
                <a:latin typeface="微软雅黑" pitchFamily="34" charset="-122"/>
                <a:ea typeface="微软雅黑" pitchFamily="34" charset="-122"/>
              </a:rPr>
              <a:t>？</a:t>
            </a:r>
          </a:p>
        </p:txBody>
      </p:sp>
      <p:graphicFrame>
        <p:nvGraphicFramePr>
          <p:cNvPr id="4" name="图示 3"/>
          <p:cNvGraphicFramePr/>
          <p:nvPr>
            <p:extLst>
              <p:ext uri="{D42A27DB-BD31-4B8C-83A1-F6EECF244321}">
                <p14:modId xmlns:p14="http://schemas.microsoft.com/office/powerpoint/2010/main" val="1689470257"/>
              </p:ext>
            </p:extLst>
          </p:nvPr>
        </p:nvGraphicFramePr>
        <p:xfrm>
          <a:off x="1522320" y="1438286"/>
          <a:ext cx="6155189" cy="269376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矩形 4"/>
          <p:cNvSpPr/>
          <p:nvPr/>
        </p:nvSpPr>
        <p:spPr>
          <a:xfrm>
            <a:off x="545144" y="1020658"/>
            <a:ext cx="8053712" cy="400110"/>
          </a:xfrm>
          <a:prstGeom prst="rect">
            <a:avLst/>
          </a:prstGeom>
        </p:spPr>
        <p:txBody>
          <a:bodyPr wrap="square">
            <a:spAutoFit/>
          </a:bodyPr>
          <a:lstStyle/>
          <a:p>
            <a:r>
              <a:rPr lang="zh-CN" altLang="en-US" sz="2000" b="1" dirty="0">
                <a:latin typeface="微软雅黑" panose="020B0503020204020204" pitchFamily="34" charset="-122"/>
                <a:ea typeface="微软雅黑" panose="020B0503020204020204" pitchFamily="34" charset="-122"/>
              </a:rPr>
              <a:t>实现网络互连、互通时需要解决许多问题，如以下</a:t>
            </a:r>
            <a:r>
              <a:rPr lang="zh-CN" altLang="en-US" sz="2000" b="1" dirty="0">
                <a:solidFill>
                  <a:srgbClr val="0000FF"/>
                </a:solidFill>
                <a:latin typeface="微软雅黑" panose="020B0503020204020204" pitchFamily="34" charset="-122"/>
                <a:ea typeface="微软雅黑" panose="020B0503020204020204" pitchFamily="34" charset="-122"/>
              </a:rPr>
              <a:t>“不同”：</a:t>
            </a:r>
          </a:p>
        </p:txBody>
      </p:sp>
    </p:spTree>
    <p:extLst>
      <p:ext uri="{BB962C8B-B14F-4D97-AF65-F5344CB8AC3E}">
        <p14:creationId xmlns:p14="http://schemas.microsoft.com/office/powerpoint/2010/main" val="85908759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25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AutoShape 5"/>
          <p:cNvSpPr>
            <a:spLocks noChangeArrowheads="1"/>
          </p:cNvSpPr>
          <p:nvPr/>
        </p:nvSpPr>
        <p:spPr bwMode="auto">
          <a:xfrm>
            <a:off x="556963" y="61710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2" name="Rectangle 6"/>
          <p:cNvSpPr>
            <a:spLocks noChangeArrowheads="1"/>
          </p:cNvSpPr>
          <p:nvPr/>
        </p:nvSpPr>
        <p:spPr bwMode="auto">
          <a:xfrm>
            <a:off x="2180699" y="583891"/>
            <a:ext cx="48013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实现异构网络的互连互通方法，哪种好？</a:t>
            </a:r>
          </a:p>
        </p:txBody>
      </p:sp>
      <p:sp>
        <p:nvSpPr>
          <p:cNvPr id="10" name="任意多边形 9"/>
          <p:cNvSpPr/>
          <p:nvPr/>
        </p:nvSpPr>
        <p:spPr>
          <a:xfrm>
            <a:off x="2507411" y="1667175"/>
            <a:ext cx="5247735" cy="955255"/>
          </a:xfrm>
          <a:custGeom>
            <a:avLst/>
            <a:gdLst>
              <a:gd name="connsiteX0" fmla="*/ 0 w 6096000"/>
              <a:gd name="connsiteY0" fmla="*/ 0 h 817235"/>
              <a:gd name="connsiteX1" fmla="*/ 6096000 w 6096000"/>
              <a:gd name="connsiteY1" fmla="*/ 0 h 817235"/>
              <a:gd name="connsiteX2" fmla="*/ 6096000 w 6096000"/>
              <a:gd name="connsiteY2" fmla="*/ 817235 h 817235"/>
              <a:gd name="connsiteX3" fmla="*/ 0 w 6096000"/>
              <a:gd name="connsiteY3" fmla="*/ 817235 h 817235"/>
              <a:gd name="connsiteX4" fmla="*/ 0 w 6096000"/>
              <a:gd name="connsiteY4" fmla="*/ 0 h 817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6000" h="817235">
                <a:moveTo>
                  <a:pt x="0" y="0"/>
                </a:moveTo>
                <a:lnTo>
                  <a:pt x="6096000" y="0"/>
                </a:lnTo>
                <a:lnTo>
                  <a:pt x="6096000" y="817235"/>
                </a:lnTo>
                <a:lnTo>
                  <a:pt x="0" y="817235"/>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193548" tIns="22860" rIns="128016" bIns="22860" numCol="1" spcCol="1270" anchor="t" anchorCtr="0">
            <a:noAutofit/>
          </a:bodyPr>
          <a:lstStyle/>
          <a:p>
            <a:pPr marL="171450" lvl="1" indent="-171450" defTabSz="800100">
              <a:spcBef>
                <a:spcPct val="0"/>
              </a:spcBef>
              <a:spcAft>
                <a:spcPts val="600"/>
              </a:spcAft>
              <a:buChar char="••"/>
            </a:pPr>
            <a:r>
              <a:rPr lang="zh-CN" altLang="en-US" b="1" dirty="0">
                <a:solidFill>
                  <a:schemeClr val="tx1"/>
                </a:solidFill>
                <a:latin typeface="微软雅黑" panose="020B0503020204020204" pitchFamily="34" charset="-122"/>
                <a:ea typeface="微软雅黑" panose="020B0503020204020204" pitchFamily="34" charset="-122"/>
              </a:rPr>
              <a:t>不能满足不同用户需要。</a:t>
            </a:r>
            <a:r>
              <a:rPr lang="zh-CN" altLang="en-US" b="1" dirty="0">
                <a:solidFill>
                  <a:srgbClr val="0000FF"/>
                </a:solidFill>
                <a:latin typeface="微软雅黑" panose="020B0503020204020204" pitchFamily="34" charset="-122"/>
                <a:ea typeface="微软雅黑" panose="020B0503020204020204" pitchFamily="34" charset="-122"/>
              </a:rPr>
              <a:t>没有一种单一的网络能够适应所有用户的需求。</a:t>
            </a:r>
            <a:endParaRPr lang="en-US" altLang="zh-CN" b="1" dirty="0">
              <a:solidFill>
                <a:srgbClr val="0000FF"/>
              </a:solidFill>
              <a:latin typeface="微软雅黑" panose="020B0503020204020204" pitchFamily="34" charset="-122"/>
              <a:ea typeface="微软雅黑" panose="020B0503020204020204" pitchFamily="34" charset="-122"/>
            </a:endParaRPr>
          </a:p>
          <a:p>
            <a:pPr marL="171450" lvl="1" indent="-171450" defTabSz="800100">
              <a:spcBef>
                <a:spcPct val="0"/>
              </a:spcBef>
              <a:spcAft>
                <a:spcPts val="600"/>
              </a:spcAft>
              <a:buFontTx/>
              <a:buChar char="••"/>
            </a:pPr>
            <a:r>
              <a:rPr lang="zh-CN" altLang="en-US" b="1" dirty="0">
                <a:solidFill>
                  <a:schemeClr val="tx1"/>
                </a:solidFill>
                <a:latin typeface="微软雅黑" panose="020B0503020204020204" pitchFamily="34" charset="-122"/>
                <a:ea typeface="微软雅黑" panose="020B0503020204020204" pitchFamily="34" charset="-122"/>
              </a:rPr>
              <a:t>不适应技术发展</a:t>
            </a:r>
            <a:endParaRPr lang="en-US" altLang="zh-CN" b="1" dirty="0">
              <a:solidFill>
                <a:schemeClr val="tx1"/>
              </a:solidFill>
              <a:latin typeface="微软雅黑" panose="020B0503020204020204" pitchFamily="34" charset="-122"/>
              <a:ea typeface="微软雅黑" panose="020B0503020204020204" pitchFamily="34" charset="-122"/>
            </a:endParaRPr>
          </a:p>
        </p:txBody>
      </p:sp>
      <p:grpSp>
        <p:nvGrpSpPr>
          <p:cNvPr id="21" name="组合 20"/>
          <p:cNvGrpSpPr/>
          <p:nvPr/>
        </p:nvGrpSpPr>
        <p:grpSpPr>
          <a:xfrm>
            <a:off x="2507411" y="1200861"/>
            <a:ext cx="5247735" cy="1973655"/>
            <a:chOff x="1524000" y="1321631"/>
            <a:chExt cx="6096000" cy="1973655"/>
          </a:xfrm>
        </p:grpSpPr>
        <p:sp>
          <p:nvSpPr>
            <p:cNvPr id="9" name="任意多边形 8"/>
            <p:cNvSpPr/>
            <p:nvPr/>
          </p:nvSpPr>
          <p:spPr>
            <a:xfrm>
              <a:off x="1524000" y="1321631"/>
              <a:ext cx="6096000" cy="439946"/>
            </a:xfrm>
            <a:custGeom>
              <a:avLst/>
              <a:gdLst>
                <a:gd name="connsiteX0" fmla="*/ 0 w 6096000"/>
                <a:gd name="connsiteY0" fmla="*/ 87784 h 526696"/>
                <a:gd name="connsiteX1" fmla="*/ 87784 w 6096000"/>
                <a:gd name="connsiteY1" fmla="*/ 0 h 526696"/>
                <a:gd name="connsiteX2" fmla="*/ 6008216 w 6096000"/>
                <a:gd name="connsiteY2" fmla="*/ 0 h 526696"/>
                <a:gd name="connsiteX3" fmla="*/ 6096000 w 6096000"/>
                <a:gd name="connsiteY3" fmla="*/ 87784 h 526696"/>
                <a:gd name="connsiteX4" fmla="*/ 6096000 w 6096000"/>
                <a:gd name="connsiteY4" fmla="*/ 438912 h 526696"/>
                <a:gd name="connsiteX5" fmla="*/ 6008216 w 6096000"/>
                <a:gd name="connsiteY5" fmla="*/ 526696 h 526696"/>
                <a:gd name="connsiteX6" fmla="*/ 87784 w 6096000"/>
                <a:gd name="connsiteY6" fmla="*/ 526696 h 526696"/>
                <a:gd name="connsiteX7" fmla="*/ 0 w 6096000"/>
                <a:gd name="connsiteY7" fmla="*/ 438912 h 526696"/>
                <a:gd name="connsiteX8" fmla="*/ 0 w 6096000"/>
                <a:gd name="connsiteY8" fmla="*/ 87784 h 526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0" h="526696">
                  <a:moveTo>
                    <a:pt x="0" y="87784"/>
                  </a:moveTo>
                  <a:cubicBezTo>
                    <a:pt x="0" y="39302"/>
                    <a:pt x="39302" y="0"/>
                    <a:pt x="87784" y="0"/>
                  </a:cubicBezTo>
                  <a:lnTo>
                    <a:pt x="6008216" y="0"/>
                  </a:lnTo>
                  <a:cubicBezTo>
                    <a:pt x="6056698" y="0"/>
                    <a:pt x="6096000" y="39302"/>
                    <a:pt x="6096000" y="87784"/>
                  </a:cubicBezTo>
                  <a:lnTo>
                    <a:pt x="6096000" y="438912"/>
                  </a:lnTo>
                  <a:cubicBezTo>
                    <a:pt x="6096000" y="487394"/>
                    <a:pt x="6056698" y="526696"/>
                    <a:pt x="6008216" y="526696"/>
                  </a:cubicBezTo>
                  <a:lnTo>
                    <a:pt x="87784" y="526696"/>
                  </a:lnTo>
                  <a:cubicBezTo>
                    <a:pt x="39302" y="526696"/>
                    <a:pt x="0" y="487394"/>
                    <a:pt x="0" y="438912"/>
                  </a:cubicBezTo>
                  <a:lnTo>
                    <a:pt x="0" y="87784"/>
                  </a:lnTo>
                  <a:close/>
                </a:path>
              </a:pathLst>
            </a:custGeom>
            <a:solidFill>
              <a:srgbClr val="00B0F0"/>
            </a:solidFill>
          </p:spPr>
          <p:style>
            <a:lnRef idx="2">
              <a:schemeClr val="lt1">
                <a:hueOff val="0"/>
                <a:satOff val="0"/>
                <a:lumOff val="0"/>
                <a:alphaOff val="0"/>
              </a:schemeClr>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txBody>
            <a:bodyPr spcFirstLastPara="0" vert="horz" wrap="square" lIns="94291" tIns="94291" rIns="94291" bIns="94291" numCol="1" spcCol="1270" anchor="ctr" anchorCtr="0">
              <a:noAutofit/>
            </a:bodyPr>
            <a:lstStyle/>
            <a:p>
              <a:pPr lvl="0" algn="l" defTabSz="800100">
                <a:spcBef>
                  <a:spcPct val="0"/>
                </a:spcBef>
                <a:spcAft>
                  <a:spcPct val="35000"/>
                </a:spcAft>
              </a:pPr>
              <a:r>
                <a:rPr lang="en-US" altLang="zh-CN" sz="1800" b="1" kern="1200" dirty="0">
                  <a:solidFill>
                    <a:schemeClr val="tx1"/>
                  </a:solidFill>
                  <a:latin typeface="微软雅黑" panose="020B0503020204020204" pitchFamily="34" charset="-122"/>
                  <a:ea typeface="微软雅黑" panose="020B0503020204020204" pitchFamily="34" charset="-122"/>
                </a:rPr>
                <a:t>A.  </a:t>
              </a:r>
              <a:r>
                <a:rPr lang="zh-CN" altLang="en-US" sz="1800" b="1" kern="1200" dirty="0">
                  <a:solidFill>
                    <a:schemeClr val="tx1"/>
                  </a:solidFill>
                  <a:latin typeface="微软雅黑" panose="020B0503020204020204" pitchFamily="34" charset="-122"/>
                  <a:ea typeface="微软雅黑" panose="020B0503020204020204" pitchFamily="34" charset="-122"/>
                </a:rPr>
                <a:t>都使用相同的网络？</a:t>
              </a:r>
            </a:p>
          </p:txBody>
        </p:sp>
        <p:sp>
          <p:nvSpPr>
            <p:cNvPr id="13" name="任意多边形 12"/>
            <p:cNvSpPr/>
            <p:nvPr/>
          </p:nvSpPr>
          <p:spPr>
            <a:xfrm>
              <a:off x="1524000" y="2855340"/>
              <a:ext cx="6096000" cy="439946"/>
            </a:xfrm>
            <a:custGeom>
              <a:avLst/>
              <a:gdLst>
                <a:gd name="connsiteX0" fmla="*/ 0 w 6096000"/>
                <a:gd name="connsiteY0" fmla="*/ 87784 h 526696"/>
                <a:gd name="connsiteX1" fmla="*/ 87784 w 6096000"/>
                <a:gd name="connsiteY1" fmla="*/ 0 h 526696"/>
                <a:gd name="connsiteX2" fmla="*/ 6008216 w 6096000"/>
                <a:gd name="connsiteY2" fmla="*/ 0 h 526696"/>
                <a:gd name="connsiteX3" fmla="*/ 6096000 w 6096000"/>
                <a:gd name="connsiteY3" fmla="*/ 87784 h 526696"/>
                <a:gd name="connsiteX4" fmla="*/ 6096000 w 6096000"/>
                <a:gd name="connsiteY4" fmla="*/ 438912 h 526696"/>
                <a:gd name="connsiteX5" fmla="*/ 6008216 w 6096000"/>
                <a:gd name="connsiteY5" fmla="*/ 526696 h 526696"/>
                <a:gd name="connsiteX6" fmla="*/ 87784 w 6096000"/>
                <a:gd name="connsiteY6" fmla="*/ 526696 h 526696"/>
                <a:gd name="connsiteX7" fmla="*/ 0 w 6096000"/>
                <a:gd name="connsiteY7" fmla="*/ 438912 h 526696"/>
                <a:gd name="connsiteX8" fmla="*/ 0 w 6096000"/>
                <a:gd name="connsiteY8" fmla="*/ 87784 h 526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0" h="526696">
                  <a:moveTo>
                    <a:pt x="0" y="87784"/>
                  </a:moveTo>
                  <a:cubicBezTo>
                    <a:pt x="0" y="39302"/>
                    <a:pt x="39302" y="0"/>
                    <a:pt x="87784" y="0"/>
                  </a:cubicBezTo>
                  <a:lnTo>
                    <a:pt x="6008216" y="0"/>
                  </a:lnTo>
                  <a:cubicBezTo>
                    <a:pt x="6056698" y="0"/>
                    <a:pt x="6096000" y="39302"/>
                    <a:pt x="6096000" y="87784"/>
                  </a:cubicBezTo>
                  <a:lnTo>
                    <a:pt x="6096000" y="438912"/>
                  </a:lnTo>
                  <a:cubicBezTo>
                    <a:pt x="6096000" y="487394"/>
                    <a:pt x="6056698" y="526696"/>
                    <a:pt x="6008216" y="526696"/>
                  </a:cubicBezTo>
                  <a:lnTo>
                    <a:pt x="87784" y="526696"/>
                  </a:lnTo>
                  <a:cubicBezTo>
                    <a:pt x="39302" y="526696"/>
                    <a:pt x="0" y="487394"/>
                    <a:pt x="0" y="438912"/>
                  </a:cubicBezTo>
                  <a:lnTo>
                    <a:pt x="0" y="87784"/>
                  </a:lnTo>
                  <a:close/>
                </a:path>
              </a:pathLst>
            </a:custGeom>
          </p:spPr>
          <p:style>
            <a:lnRef idx="2">
              <a:schemeClr val="lt1">
                <a:hueOff val="0"/>
                <a:satOff val="0"/>
                <a:lumOff val="0"/>
                <a:alphaOff val="0"/>
              </a:schemeClr>
            </a:lnRef>
            <a:fillRef idx="1">
              <a:schemeClr val="accent5">
                <a:hueOff val="-9933876"/>
                <a:satOff val="39811"/>
                <a:lumOff val="8628"/>
                <a:alphaOff val="0"/>
              </a:schemeClr>
            </a:fillRef>
            <a:effectRef idx="0">
              <a:schemeClr val="accent5">
                <a:hueOff val="-9933876"/>
                <a:satOff val="39811"/>
                <a:lumOff val="8628"/>
                <a:alphaOff val="0"/>
              </a:schemeClr>
            </a:effectRef>
            <a:fontRef idx="minor">
              <a:schemeClr val="lt1"/>
            </a:fontRef>
          </p:style>
          <p:txBody>
            <a:bodyPr spcFirstLastPara="0" vert="horz" wrap="square" lIns="94291" tIns="94291" rIns="94291" bIns="94291" numCol="1" spcCol="1270" anchor="ctr" anchorCtr="0">
              <a:noAutofit/>
            </a:bodyPr>
            <a:lstStyle/>
            <a:p>
              <a:pPr lvl="0" algn="l" defTabSz="800100">
                <a:spcBef>
                  <a:spcPct val="0"/>
                </a:spcBef>
                <a:spcAft>
                  <a:spcPct val="35000"/>
                </a:spcAft>
              </a:pPr>
              <a:r>
                <a:rPr lang="en-US" altLang="zh-CN" sz="1800" b="1" kern="1200" dirty="0">
                  <a:solidFill>
                    <a:schemeClr val="tx1"/>
                  </a:solidFill>
                  <a:latin typeface="微软雅黑" panose="020B0503020204020204" pitchFamily="34" charset="-122"/>
                  <a:ea typeface="微软雅黑" panose="020B0503020204020204" pitchFamily="34" charset="-122"/>
                </a:rPr>
                <a:t>B.  </a:t>
              </a:r>
              <a:r>
                <a:rPr lang="zh-CN" altLang="en-US" sz="1800" b="1" kern="1200" dirty="0">
                  <a:solidFill>
                    <a:schemeClr val="tx1"/>
                  </a:solidFill>
                  <a:latin typeface="微软雅黑" panose="020B0503020204020204" pitchFamily="34" charset="-122"/>
                  <a:ea typeface="微软雅黑" panose="020B0503020204020204" pitchFamily="34" charset="-122"/>
                </a:rPr>
                <a:t>使用中间设备？</a:t>
              </a:r>
            </a:p>
          </p:txBody>
        </p:sp>
      </p:grpSp>
      <p:sp>
        <p:nvSpPr>
          <p:cNvPr id="14" name="任意多边形 13"/>
          <p:cNvSpPr/>
          <p:nvPr/>
        </p:nvSpPr>
        <p:spPr>
          <a:xfrm>
            <a:off x="2507411" y="3209521"/>
            <a:ext cx="5247735" cy="689622"/>
          </a:xfrm>
          <a:custGeom>
            <a:avLst/>
            <a:gdLst>
              <a:gd name="connsiteX0" fmla="*/ 0 w 6096000"/>
              <a:gd name="connsiteY0" fmla="*/ 0 h 817235"/>
              <a:gd name="connsiteX1" fmla="*/ 6096000 w 6096000"/>
              <a:gd name="connsiteY1" fmla="*/ 0 h 817235"/>
              <a:gd name="connsiteX2" fmla="*/ 6096000 w 6096000"/>
              <a:gd name="connsiteY2" fmla="*/ 817235 h 817235"/>
              <a:gd name="connsiteX3" fmla="*/ 0 w 6096000"/>
              <a:gd name="connsiteY3" fmla="*/ 817235 h 817235"/>
              <a:gd name="connsiteX4" fmla="*/ 0 w 6096000"/>
              <a:gd name="connsiteY4" fmla="*/ 0 h 817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6000" h="817235">
                <a:moveTo>
                  <a:pt x="0" y="0"/>
                </a:moveTo>
                <a:lnTo>
                  <a:pt x="6096000" y="0"/>
                </a:lnTo>
                <a:lnTo>
                  <a:pt x="6096000" y="817235"/>
                </a:lnTo>
                <a:lnTo>
                  <a:pt x="0" y="817235"/>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193548" tIns="22860" rIns="128016" bIns="22860" numCol="1" spcCol="1270" anchor="t" anchorCtr="0">
            <a:noAutofit/>
          </a:bodyPr>
          <a:lstStyle/>
          <a:p>
            <a:pPr marL="171450" lvl="1" indent="-171450" algn="l" defTabSz="800100">
              <a:spcBef>
                <a:spcPct val="0"/>
              </a:spcBef>
              <a:spcAft>
                <a:spcPts val="600"/>
              </a:spcAft>
              <a:buChar char="••"/>
            </a:pPr>
            <a:r>
              <a:rPr lang="zh-CN" altLang="en-US" b="1" dirty="0">
                <a:solidFill>
                  <a:schemeClr val="tx1"/>
                </a:solidFill>
                <a:latin typeface="微软雅黑" panose="020B0503020204020204" pitchFamily="34" charset="-122"/>
                <a:ea typeface="微软雅黑" panose="020B0503020204020204" pitchFamily="34" charset="-122"/>
              </a:rPr>
              <a:t>可以满足不同需求</a:t>
            </a:r>
            <a:endParaRPr lang="en-US" altLang="zh-CN" b="1" dirty="0">
              <a:solidFill>
                <a:schemeClr val="tx1"/>
              </a:solidFill>
              <a:latin typeface="微软雅黑" panose="020B0503020204020204" pitchFamily="34" charset="-122"/>
              <a:ea typeface="微软雅黑" panose="020B0503020204020204" pitchFamily="34" charset="-122"/>
            </a:endParaRPr>
          </a:p>
          <a:p>
            <a:pPr marL="171450" lvl="1" indent="-171450" algn="l" defTabSz="800100">
              <a:spcBef>
                <a:spcPct val="0"/>
              </a:spcBef>
              <a:spcAft>
                <a:spcPts val="600"/>
              </a:spcAft>
              <a:buChar char="••"/>
            </a:pPr>
            <a:r>
              <a:rPr lang="zh-CN" altLang="en-US" sz="1800" b="1" kern="1200" dirty="0">
                <a:solidFill>
                  <a:schemeClr val="tx1"/>
                </a:solidFill>
                <a:latin typeface="微软雅黑" panose="020B0503020204020204" pitchFamily="34" charset="-122"/>
                <a:ea typeface="微软雅黑" panose="020B0503020204020204" pitchFamily="34" charset="-122"/>
              </a:rPr>
              <a:t>实用</a:t>
            </a:r>
          </a:p>
        </p:txBody>
      </p:sp>
      <p:grpSp>
        <p:nvGrpSpPr>
          <p:cNvPr id="22" name="组合 21"/>
          <p:cNvGrpSpPr/>
          <p:nvPr/>
        </p:nvGrpSpPr>
        <p:grpSpPr>
          <a:xfrm>
            <a:off x="2014743" y="1200861"/>
            <a:ext cx="432614" cy="1956602"/>
            <a:chOff x="1031331" y="1321631"/>
            <a:chExt cx="432614" cy="1956602"/>
          </a:xfrm>
        </p:grpSpPr>
        <p:pic>
          <p:nvPicPr>
            <p:cNvPr id="19" name="图片 18"/>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44723" y="2872401"/>
              <a:ext cx="405830" cy="405832"/>
            </a:xfrm>
            <a:prstGeom prst="rect">
              <a:avLst/>
            </a:prstGeom>
          </p:spPr>
        </p:pic>
        <p:pic>
          <p:nvPicPr>
            <p:cNvPr id="20" name="图片 19"/>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031331" y="1321631"/>
              <a:ext cx="432614" cy="439946"/>
            </a:xfrm>
            <a:prstGeom prst="rect">
              <a:avLst/>
            </a:prstGeom>
          </p:spPr>
        </p:pic>
      </p:grpSp>
    </p:spTree>
    <p:extLst>
      <p:ext uri="{BB962C8B-B14F-4D97-AF65-F5344CB8AC3E}">
        <p14:creationId xmlns:p14="http://schemas.microsoft.com/office/powerpoint/2010/main" val="287101651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2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4"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AutoShape 5"/>
          <p:cNvSpPr>
            <a:spLocks noChangeArrowheads="1"/>
          </p:cNvSpPr>
          <p:nvPr/>
        </p:nvSpPr>
        <p:spPr bwMode="auto">
          <a:xfrm>
            <a:off x="1508636" y="1229167"/>
            <a:ext cx="6160247" cy="353930"/>
          </a:xfrm>
          <a:prstGeom prst="roundRect">
            <a:avLst>
              <a:gd name="adj" fmla="val 16667"/>
            </a:avLst>
          </a:prstGeom>
          <a:solidFill>
            <a:srgbClr val="00B0F0"/>
          </a:solidFill>
          <a:ln>
            <a:noFill/>
          </a:ln>
          <a:effectLst/>
        </p:spPr>
        <p:txBody>
          <a:bodyPr wrap="none" anchor="ctr"/>
          <a:lstStyle/>
          <a:p>
            <a:endParaRPr lang="zh-CN" altLang="en-US"/>
          </a:p>
        </p:txBody>
      </p:sp>
      <p:sp>
        <p:nvSpPr>
          <p:cNvPr id="11" name="AutoShape 5"/>
          <p:cNvSpPr>
            <a:spLocks noChangeArrowheads="1"/>
          </p:cNvSpPr>
          <p:nvPr/>
        </p:nvSpPr>
        <p:spPr bwMode="auto">
          <a:xfrm>
            <a:off x="556963" y="61710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2" name="Rectangle 6"/>
          <p:cNvSpPr>
            <a:spLocks noChangeArrowheads="1"/>
          </p:cNvSpPr>
          <p:nvPr/>
        </p:nvSpPr>
        <p:spPr bwMode="auto">
          <a:xfrm>
            <a:off x="3206615" y="583891"/>
            <a:ext cx="274947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使用中间设备进行互连</a:t>
            </a:r>
          </a:p>
        </p:txBody>
      </p:sp>
      <p:sp>
        <p:nvSpPr>
          <p:cNvPr id="4" name="任意多边形 3"/>
          <p:cNvSpPr/>
          <p:nvPr/>
        </p:nvSpPr>
        <p:spPr>
          <a:xfrm>
            <a:off x="1498125" y="3408075"/>
            <a:ext cx="6170758" cy="394598"/>
          </a:xfrm>
          <a:custGeom>
            <a:avLst/>
            <a:gdLst>
              <a:gd name="connsiteX0" fmla="*/ 0 w 6096000"/>
              <a:gd name="connsiteY0" fmla="*/ 39460 h 394598"/>
              <a:gd name="connsiteX1" fmla="*/ 39460 w 6096000"/>
              <a:gd name="connsiteY1" fmla="*/ 0 h 394598"/>
              <a:gd name="connsiteX2" fmla="*/ 6056540 w 6096000"/>
              <a:gd name="connsiteY2" fmla="*/ 0 h 394598"/>
              <a:gd name="connsiteX3" fmla="*/ 6096000 w 6096000"/>
              <a:gd name="connsiteY3" fmla="*/ 39460 h 394598"/>
              <a:gd name="connsiteX4" fmla="*/ 6096000 w 6096000"/>
              <a:gd name="connsiteY4" fmla="*/ 355138 h 394598"/>
              <a:gd name="connsiteX5" fmla="*/ 6056540 w 6096000"/>
              <a:gd name="connsiteY5" fmla="*/ 394598 h 394598"/>
              <a:gd name="connsiteX6" fmla="*/ 39460 w 6096000"/>
              <a:gd name="connsiteY6" fmla="*/ 394598 h 394598"/>
              <a:gd name="connsiteX7" fmla="*/ 0 w 6096000"/>
              <a:gd name="connsiteY7" fmla="*/ 355138 h 394598"/>
              <a:gd name="connsiteX8" fmla="*/ 0 w 6096000"/>
              <a:gd name="connsiteY8" fmla="*/ 39460 h 394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0" h="394598">
                <a:moveTo>
                  <a:pt x="0" y="39460"/>
                </a:moveTo>
                <a:cubicBezTo>
                  <a:pt x="0" y="17667"/>
                  <a:pt x="17667" y="0"/>
                  <a:pt x="39460" y="0"/>
                </a:cubicBezTo>
                <a:lnTo>
                  <a:pt x="6056540" y="0"/>
                </a:lnTo>
                <a:cubicBezTo>
                  <a:pt x="6078333" y="0"/>
                  <a:pt x="6096000" y="17667"/>
                  <a:pt x="6096000" y="39460"/>
                </a:cubicBezTo>
                <a:lnTo>
                  <a:pt x="6096000" y="355138"/>
                </a:lnTo>
                <a:cubicBezTo>
                  <a:pt x="6096000" y="376931"/>
                  <a:pt x="6078333" y="394598"/>
                  <a:pt x="6056540" y="394598"/>
                </a:cubicBezTo>
                <a:lnTo>
                  <a:pt x="39460" y="394598"/>
                </a:lnTo>
                <a:cubicBezTo>
                  <a:pt x="17667" y="394598"/>
                  <a:pt x="0" y="376931"/>
                  <a:pt x="0" y="355138"/>
                </a:cubicBezTo>
                <a:lnTo>
                  <a:pt x="0" y="39460"/>
                </a:lnTo>
                <a:close/>
              </a:path>
            </a:pathLst>
          </a:custGeom>
          <a:solidFill>
            <a:srgbClr val="C3E3F9"/>
          </a:solidFill>
        </p:spPr>
        <p:style>
          <a:lnRef idx="0">
            <a:schemeClr val="dk1">
              <a:hueOff val="0"/>
              <a:satOff val="0"/>
              <a:lumOff val="0"/>
              <a:alphaOff val="0"/>
            </a:schemeClr>
          </a:lnRef>
          <a:fillRef idx="1">
            <a:scrgbClr r="0" g="0" b="0"/>
          </a:fillRef>
          <a:effectRef idx="0">
            <a:schemeClr val="accent2">
              <a:tint val="40000"/>
              <a:hueOff val="0"/>
              <a:satOff val="0"/>
              <a:lumOff val="0"/>
              <a:alphaOff val="0"/>
            </a:schemeClr>
          </a:effectRef>
          <a:fontRef idx="minor">
            <a:schemeClr val="dk1">
              <a:hueOff val="0"/>
              <a:satOff val="0"/>
              <a:lumOff val="0"/>
              <a:alphaOff val="0"/>
            </a:schemeClr>
          </a:fontRef>
        </p:style>
        <p:txBody>
          <a:bodyPr spcFirstLastPara="0" vert="horz" wrap="square" lIns="0" tIns="142240" rIns="4356000" bIns="142240" numCol="1" spcCol="1270" anchor="ctr" anchorCtr="0">
            <a:noAutofit/>
          </a:bodyPr>
          <a:lstStyle/>
          <a:p>
            <a:pPr lvl="0" algn="ctr" defTabSz="889000">
              <a:lnSpc>
                <a:spcPct val="90000"/>
              </a:lnSpc>
              <a:spcBef>
                <a:spcPct val="0"/>
              </a:spcBef>
              <a:spcAft>
                <a:spcPct val="35000"/>
              </a:spcAft>
            </a:pPr>
            <a:r>
              <a:rPr lang="zh-CN" altLang="en-US" b="1" dirty="0">
                <a:latin typeface="微软雅黑" panose="020B0503020204020204" pitchFamily="34" charset="-122"/>
                <a:ea typeface="微软雅黑" panose="020B0503020204020204" pitchFamily="34" charset="-122"/>
              </a:rPr>
              <a:t>物理层</a:t>
            </a:r>
            <a:endParaRPr lang="zh-CN" altLang="en-US" b="1" kern="1200" dirty="0">
              <a:latin typeface="微软雅黑" panose="020B0503020204020204" pitchFamily="34" charset="-122"/>
              <a:ea typeface="微软雅黑" panose="020B0503020204020204" pitchFamily="34" charset="-122"/>
            </a:endParaRPr>
          </a:p>
        </p:txBody>
      </p:sp>
      <p:sp>
        <p:nvSpPr>
          <p:cNvPr id="5" name="任意多边形 4"/>
          <p:cNvSpPr/>
          <p:nvPr/>
        </p:nvSpPr>
        <p:spPr>
          <a:xfrm>
            <a:off x="1498125" y="2602009"/>
            <a:ext cx="6170758" cy="713614"/>
          </a:xfrm>
          <a:custGeom>
            <a:avLst/>
            <a:gdLst>
              <a:gd name="connsiteX0" fmla="*/ 0 w 6096000"/>
              <a:gd name="connsiteY0" fmla="*/ 39460 h 394598"/>
              <a:gd name="connsiteX1" fmla="*/ 39460 w 6096000"/>
              <a:gd name="connsiteY1" fmla="*/ 0 h 394598"/>
              <a:gd name="connsiteX2" fmla="*/ 6056540 w 6096000"/>
              <a:gd name="connsiteY2" fmla="*/ 0 h 394598"/>
              <a:gd name="connsiteX3" fmla="*/ 6096000 w 6096000"/>
              <a:gd name="connsiteY3" fmla="*/ 39460 h 394598"/>
              <a:gd name="connsiteX4" fmla="*/ 6096000 w 6096000"/>
              <a:gd name="connsiteY4" fmla="*/ 355138 h 394598"/>
              <a:gd name="connsiteX5" fmla="*/ 6056540 w 6096000"/>
              <a:gd name="connsiteY5" fmla="*/ 394598 h 394598"/>
              <a:gd name="connsiteX6" fmla="*/ 39460 w 6096000"/>
              <a:gd name="connsiteY6" fmla="*/ 394598 h 394598"/>
              <a:gd name="connsiteX7" fmla="*/ 0 w 6096000"/>
              <a:gd name="connsiteY7" fmla="*/ 355138 h 394598"/>
              <a:gd name="connsiteX8" fmla="*/ 0 w 6096000"/>
              <a:gd name="connsiteY8" fmla="*/ 39460 h 394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0" h="394598">
                <a:moveTo>
                  <a:pt x="0" y="39460"/>
                </a:moveTo>
                <a:cubicBezTo>
                  <a:pt x="0" y="17667"/>
                  <a:pt x="17667" y="0"/>
                  <a:pt x="39460" y="0"/>
                </a:cubicBezTo>
                <a:lnTo>
                  <a:pt x="6056540" y="0"/>
                </a:lnTo>
                <a:cubicBezTo>
                  <a:pt x="6078333" y="0"/>
                  <a:pt x="6096000" y="17667"/>
                  <a:pt x="6096000" y="39460"/>
                </a:cubicBezTo>
                <a:lnTo>
                  <a:pt x="6096000" y="355138"/>
                </a:lnTo>
                <a:cubicBezTo>
                  <a:pt x="6096000" y="376931"/>
                  <a:pt x="6078333" y="394598"/>
                  <a:pt x="6056540" y="394598"/>
                </a:cubicBezTo>
                <a:lnTo>
                  <a:pt x="39460" y="394598"/>
                </a:lnTo>
                <a:cubicBezTo>
                  <a:pt x="17667" y="394598"/>
                  <a:pt x="0" y="376931"/>
                  <a:pt x="0" y="355138"/>
                </a:cubicBezTo>
                <a:lnTo>
                  <a:pt x="0" y="39460"/>
                </a:lnTo>
                <a:close/>
              </a:path>
            </a:pathLst>
          </a:custGeom>
          <a:solidFill>
            <a:srgbClr val="C3E3F9"/>
          </a:solidFill>
        </p:spPr>
        <p:style>
          <a:lnRef idx="0">
            <a:schemeClr val="dk1">
              <a:hueOff val="0"/>
              <a:satOff val="0"/>
              <a:lumOff val="0"/>
              <a:alphaOff val="0"/>
            </a:schemeClr>
          </a:lnRef>
          <a:fillRef idx="1">
            <a:scrgbClr r="0" g="0" b="0"/>
          </a:fillRef>
          <a:effectRef idx="0">
            <a:schemeClr val="accent2">
              <a:tint val="40000"/>
              <a:hueOff val="0"/>
              <a:satOff val="0"/>
              <a:lumOff val="0"/>
              <a:alphaOff val="0"/>
            </a:schemeClr>
          </a:effectRef>
          <a:fontRef idx="minor">
            <a:schemeClr val="dk1">
              <a:hueOff val="0"/>
              <a:satOff val="0"/>
              <a:lumOff val="0"/>
              <a:alphaOff val="0"/>
            </a:schemeClr>
          </a:fontRef>
        </p:style>
        <p:txBody>
          <a:bodyPr spcFirstLastPara="0" vert="horz" wrap="square" lIns="0" tIns="142240" rIns="4356000" bIns="142240" numCol="1" spcCol="1270" anchor="ctr" anchorCtr="0">
            <a:noAutofit/>
          </a:bodyPr>
          <a:lstStyle/>
          <a:p>
            <a:pPr lvl="0" algn="ctr" defTabSz="889000">
              <a:lnSpc>
                <a:spcPct val="90000"/>
              </a:lnSpc>
              <a:spcBef>
                <a:spcPct val="0"/>
              </a:spcBef>
              <a:spcAft>
                <a:spcPct val="35000"/>
              </a:spcAft>
            </a:pPr>
            <a:r>
              <a:rPr lang="zh-CN" altLang="en-US" b="1" dirty="0">
                <a:latin typeface="微软雅黑" panose="020B0503020204020204" pitchFamily="34" charset="-122"/>
                <a:ea typeface="微软雅黑" panose="020B0503020204020204" pitchFamily="34" charset="-122"/>
              </a:rPr>
              <a:t>数据链路层</a:t>
            </a:r>
            <a:endParaRPr lang="zh-CN" altLang="en-US" b="1" kern="1200" dirty="0">
              <a:latin typeface="微软雅黑" panose="020B0503020204020204" pitchFamily="34" charset="-122"/>
              <a:ea typeface="微软雅黑" panose="020B0503020204020204" pitchFamily="34" charset="-122"/>
            </a:endParaRPr>
          </a:p>
        </p:txBody>
      </p:sp>
      <p:sp>
        <p:nvSpPr>
          <p:cNvPr id="6" name="任意多边形 5"/>
          <p:cNvSpPr/>
          <p:nvPr/>
        </p:nvSpPr>
        <p:spPr>
          <a:xfrm>
            <a:off x="1498125" y="2115121"/>
            <a:ext cx="6170758" cy="394598"/>
          </a:xfrm>
          <a:custGeom>
            <a:avLst/>
            <a:gdLst>
              <a:gd name="connsiteX0" fmla="*/ 0 w 6096000"/>
              <a:gd name="connsiteY0" fmla="*/ 39460 h 394598"/>
              <a:gd name="connsiteX1" fmla="*/ 39460 w 6096000"/>
              <a:gd name="connsiteY1" fmla="*/ 0 h 394598"/>
              <a:gd name="connsiteX2" fmla="*/ 6056540 w 6096000"/>
              <a:gd name="connsiteY2" fmla="*/ 0 h 394598"/>
              <a:gd name="connsiteX3" fmla="*/ 6096000 w 6096000"/>
              <a:gd name="connsiteY3" fmla="*/ 39460 h 394598"/>
              <a:gd name="connsiteX4" fmla="*/ 6096000 w 6096000"/>
              <a:gd name="connsiteY4" fmla="*/ 355138 h 394598"/>
              <a:gd name="connsiteX5" fmla="*/ 6056540 w 6096000"/>
              <a:gd name="connsiteY5" fmla="*/ 394598 h 394598"/>
              <a:gd name="connsiteX6" fmla="*/ 39460 w 6096000"/>
              <a:gd name="connsiteY6" fmla="*/ 394598 h 394598"/>
              <a:gd name="connsiteX7" fmla="*/ 0 w 6096000"/>
              <a:gd name="connsiteY7" fmla="*/ 355138 h 394598"/>
              <a:gd name="connsiteX8" fmla="*/ 0 w 6096000"/>
              <a:gd name="connsiteY8" fmla="*/ 39460 h 394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0" h="394598">
                <a:moveTo>
                  <a:pt x="0" y="39460"/>
                </a:moveTo>
                <a:cubicBezTo>
                  <a:pt x="0" y="17667"/>
                  <a:pt x="17667" y="0"/>
                  <a:pt x="39460" y="0"/>
                </a:cubicBezTo>
                <a:lnTo>
                  <a:pt x="6056540" y="0"/>
                </a:lnTo>
                <a:cubicBezTo>
                  <a:pt x="6078333" y="0"/>
                  <a:pt x="6096000" y="17667"/>
                  <a:pt x="6096000" y="39460"/>
                </a:cubicBezTo>
                <a:lnTo>
                  <a:pt x="6096000" y="355138"/>
                </a:lnTo>
                <a:cubicBezTo>
                  <a:pt x="6096000" y="376931"/>
                  <a:pt x="6078333" y="394598"/>
                  <a:pt x="6056540" y="394598"/>
                </a:cubicBezTo>
                <a:lnTo>
                  <a:pt x="39460" y="394598"/>
                </a:lnTo>
                <a:cubicBezTo>
                  <a:pt x="17667" y="394598"/>
                  <a:pt x="0" y="376931"/>
                  <a:pt x="0" y="355138"/>
                </a:cubicBezTo>
                <a:lnTo>
                  <a:pt x="0" y="39460"/>
                </a:lnTo>
                <a:close/>
              </a:path>
            </a:pathLst>
          </a:custGeom>
          <a:solidFill>
            <a:srgbClr val="C3E3F9"/>
          </a:solidFill>
        </p:spPr>
        <p:style>
          <a:lnRef idx="0">
            <a:schemeClr val="dk1">
              <a:hueOff val="0"/>
              <a:satOff val="0"/>
              <a:lumOff val="0"/>
              <a:alphaOff val="0"/>
            </a:schemeClr>
          </a:lnRef>
          <a:fillRef idx="1">
            <a:scrgbClr r="0" g="0" b="0"/>
          </a:fillRef>
          <a:effectRef idx="0">
            <a:schemeClr val="accent2">
              <a:tint val="40000"/>
              <a:hueOff val="0"/>
              <a:satOff val="0"/>
              <a:lumOff val="0"/>
              <a:alphaOff val="0"/>
            </a:schemeClr>
          </a:effectRef>
          <a:fontRef idx="minor">
            <a:schemeClr val="dk1">
              <a:hueOff val="0"/>
              <a:satOff val="0"/>
              <a:lumOff val="0"/>
              <a:alphaOff val="0"/>
            </a:schemeClr>
          </a:fontRef>
        </p:style>
        <p:txBody>
          <a:bodyPr spcFirstLastPara="0" vert="horz" wrap="square" lIns="0" tIns="142240" rIns="4356000" bIns="142240" numCol="1" spcCol="1270" anchor="ctr" anchorCtr="0">
            <a:noAutofit/>
          </a:bodyPr>
          <a:lstStyle/>
          <a:p>
            <a:pPr lvl="0" algn="ctr" defTabSz="889000">
              <a:lnSpc>
                <a:spcPct val="90000"/>
              </a:lnSpc>
              <a:spcBef>
                <a:spcPct val="0"/>
              </a:spcBef>
              <a:spcAft>
                <a:spcPct val="35000"/>
              </a:spcAft>
            </a:pPr>
            <a:r>
              <a:rPr lang="zh-CN" altLang="en-US" b="1" dirty="0">
                <a:latin typeface="微软雅黑" panose="020B0503020204020204" pitchFamily="34" charset="-122"/>
                <a:ea typeface="微软雅黑" panose="020B0503020204020204" pitchFamily="34" charset="-122"/>
              </a:rPr>
              <a:t>网络层</a:t>
            </a:r>
            <a:endParaRPr lang="zh-CN" altLang="en-US" b="1" kern="1200" dirty="0">
              <a:latin typeface="微软雅黑" panose="020B0503020204020204" pitchFamily="34" charset="-122"/>
              <a:ea typeface="微软雅黑" panose="020B0503020204020204" pitchFamily="34" charset="-122"/>
            </a:endParaRPr>
          </a:p>
        </p:txBody>
      </p:sp>
      <p:sp>
        <p:nvSpPr>
          <p:cNvPr id="7" name="任意多边形 6"/>
          <p:cNvSpPr/>
          <p:nvPr/>
        </p:nvSpPr>
        <p:spPr>
          <a:xfrm>
            <a:off x="1498125" y="1628232"/>
            <a:ext cx="6170758" cy="394598"/>
          </a:xfrm>
          <a:custGeom>
            <a:avLst/>
            <a:gdLst>
              <a:gd name="connsiteX0" fmla="*/ 0 w 6096000"/>
              <a:gd name="connsiteY0" fmla="*/ 39460 h 394598"/>
              <a:gd name="connsiteX1" fmla="*/ 39460 w 6096000"/>
              <a:gd name="connsiteY1" fmla="*/ 0 h 394598"/>
              <a:gd name="connsiteX2" fmla="*/ 6056540 w 6096000"/>
              <a:gd name="connsiteY2" fmla="*/ 0 h 394598"/>
              <a:gd name="connsiteX3" fmla="*/ 6096000 w 6096000"/>
              <a:gd name="connsiteY3" fmla="*/ 39460 h 394598"/>
              <a:gd name="connsiteX4" fmla="*/ 6096000 w 6096000"/>
              <a:gd name="connsiteY4" fmla="*/ 355138 h 394598"/>
              <a:gd name="connsiteX5" fmla="*/ 6056540 w 6096000"/>
              <a:gd name="connsiteY5" fmla="*/ 394598 h 394598"/>
              <a:gd name="connsiteX6" fmla="*/ 39460 w 6096000"/>
              <a:gd name="connsiteY6" fmla="*/ 394598 h 394598"/>
              <a:gd name="connsiteX7" fmla="*/ 0 w 6096000"/>
              <a:gd name="connsiteY7" fmla="*/ 355138 h 394598"/>
              <a:gd name="connsiteX8" fmla="*/ 0 w 6096000"/>
              <a:gd name="connsiteY8" fmla="*/ 39460 h 394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0" h="394598">
                <a:moveTo>
                  <a:pt x="0" y="39460"/>
                </a:moveTo>
                <a:cubicBezTo>
                  <a:pt x="0" y="17667"/>
                  <a:pt x="17667" y="0"/>
                  <a:pt x="39460" y="0"/>
                </a:cubicBezTo>
                <a:lnTo>
                  <a:pt x="6056540" y="0"/>
                </a:lnTo>
                <a:cubicBezTo>
                  <a:pt x="6078333" y="0"/>
                  <a:pt x="6096000" y="17667"/>
                  <a:pt x="6096000" y="39460"/>
                </a:cubicBezTo>
                <a:lnTo>
                  <a:pt x="6096000" y="355138"/>
                </a:lnTo>
                <a:cubicBezTo>
                  <a:pt x="6096000" y="376931"/>
                  <a:pt x="6078333" y="394598"/>
                  <a:pt x="6056540" y="394598"/>
                </a:cubicBezTo>
                <a:lnTo>
                  <a:pt x="39460" y="394598"/>
                </a:lnTo>
                <a:cubicBezTo>
                  <a:pt x="17667" y="394598"/>
                  <a:pt x="0" y="376931"/>
                  <a:pt x="0" y="355138"/>
                </a:cubicBezTo>
                <a:lnTo>
                  <a:pt x="0" y="39460"/>
                </a:lnTo>
                <a:close/>
              </a:path>
            </a:pathLst>
          </a:custGeom>
          <a:solidFill>
            <a:srgbClr val="C3E3F9"/>
          </a:solidFill>
        </p:spPr>
        <p:style>
          <a:lnRef idx="0">
            <a:schemeClr val="dk1">
              <a:hueOff val="0"/>
              <a:satOff val="0"/>
              <a:lumOff val="0"/>
              <a:alphaOff val="0"/>
            </a:schemeClr>
          </a:lnRef>
          <a:fillRef idx="1">
            <a:scrgbClr r="0" g="0" b="0"/>
          </a:fillRef>
          <a:effectRef idx="0">
            <a:schemeClr val="accent2">
              <a:tint val="40000"/>
              <a:hueOff val="0"/>
              <a:satOff val="0"/>
              <a:lumOff val="0"/>
              <a:alphaOff val="0"/>
            </a:schemeClr>
          </a:effectRef>
          <a:fontRef idx="minor">
            <a:schemeClr val="dk1">
              <a:hueOff val="0"/>
              <a:satOff val="0"/>
              <a:lumOff val="0"/>
              <a:alphaOff val="0"/>
            </a:schemeClr>
          </a:fontRef>
        </p:style>
        <p:txBody>
          <a:bodyPr spcFirstLastPara="0" vert="horz" wrap="square" lIns="0" tIns="142240" rIns="4356000" bIns="142240" numCol="1" spcCol="1270" anchor="ctr" anchorCtr="0">
            <a:noAutofit/>
          </a:bodyPr>
          <a:lstStyle/>
          <a:p>
            <a:pPr lvl="0" algn="ctr" defTabSz="889000">
              <a:lnSpc>
                <a:spcPct val="90000"/>
              </a:lnSpc>
              <a:spcBef>
                <a:spcPct val="0"/>
              </a:spcBef>
              <a:spcAft>
                <a:spcPct val="35000"/>
              </a:spcAft>
            </a:pPr>
            <a:r>
              <a:rPr lang="zh-CN" altLang="en-US" b="1" dirty="0">
                <a:latin typeface="微软雅黑" panose="020B0503020204020204" pitchFamily="34" charset="-122"/>
                <a:ea typeface="微软雅黑" panose="020B0503020204020204" pitchFamily="34" charset="-122"/>
              </a:rPr>
              <a:t>运输层及以上</a:t>
            </a:r>
            <a:endParaRPr lang="zh-CN" altLang="en-US" b="1" kern="1200" dirty="0">
              <a:latin typeface="微软雅黑" panose="020B0503020204020204" pitchFamily="34" charset="-122"/>
              <a:ea typeface="微软雅黑" panose="020B0503020204020204" pitchFamily="34" charset="-122"/>
            </a:endParaRPr>
          </a:p>
        </p:txBody>
      </p:sp>
      <p:sp>
        <p:nvSpPr>
          <p:cNvPr id="22" name="矩形 21"/>
          <p:cNvSpPr/>
          <p:nvPr/>
        </p:nvSpPr>
        <p:spPr>
          <a:xfrm>
            <a:off x="4479980" y="3418389"/>
            <a:ext cx="2106089" cy="369332"/>
          </a:xfrm>
          <a:prstGeom prst="rect">
            <a:avLst/>
          </a:prstGeom>
        </p:spPr>
        <p:txBody>
          <a:bodyPr wrap="none">
            <a:spAutoFit/>
          </a:bodyPr>
          <a:lstStyle/>
          <a:p>
            <a:r>
              <a:rPr lang="zh-CN" altLang="en-US" b="1" dirty="0">
                <a:solidFill>
                  <a:srgbClr val="0000FF"/>
                </a:solidFill>
                <a:latin typeface="微软雅黑" pitchFamily="34" charset="-122"/>
                <a:ea typeface="微软雅黑" pitchFamily="34" charset="-122"/>
              </a:rPr>
              <a:t>转发器</a:t>
            </a:r>
            <a:r>
              <a:rPr lang="zh-CN" altLang="en-US" b="1" dirty="0">
                <a:latin typeface="微软雅黑" pitchFamily="34" charset="-122"/>
                <a:ea typeface="微软雅黑" pitchFamily="34" charset="-122"/>
              </a:rPr>
              <a:t> </a:t>
            </a:r>
            <a:r>
              <a:rPr lang="en-US" altLang="zh-CN" b="1" dirty="0">
                <a:latin typeface="微软雅黑" pitchFamily="34" charset="-122"/>
                <a:ea typeface="微软雅黑" pitchFamily="34" charset="-122"/>
              </a:rPr>
              <a:t>(repeater)</a:t>
            </a:r>
            <a:endParaRPr lang="zh-CN" altLang="en-US" dirty="0"/>
          </a:p>
        </p:txBody>
      </p:sp>
      <p:sp>
        <p:nvSpPr>
          <p:cNvPr id="23" name="矩形 22"/>
          <p:cNvSpPr/>
          <p:nvPr/>
        </p:nvSpPr>
        <p:spPr>
          <a:xfrm>
            <a:off x="4479980" y="2607737"/>
            <a:ext cx="2954689" cy="707886"/>
          </a:xfrm>
          <a:prstGeom prst="rect">
            <a:avLst/>
          </a:prstGeom>
        </p:spPr>
        <p:txBody>
          <a:bodyPr wrap="square">
            <a:spAutoFit/>
          </a:bodyPr>
          <a:lstStyle/>
          <a:p>
            <a:pPr>
              <a:lnSpc>
                <a:spcPts val="2400"/>
              </a:lnSpc>
            </a:pPr>
            <a:r>
              <a:rPr lang="zh-CN" altLang="en-US" b="1" dirty="0">
                <a:solidFill>
                  <a:srgbClr val="0000FF"/>
                </a:solidFill>
                <a:latin typeface="微软雅黑" pitchFamily="34" charset="-122"/>
                <a:ea typeface="微软雅黑" pitchFamily="34" charset="-122"/>
              </a:rPr>
              <a:t>网桥或桥接器 </a:t>
            </a:r>
            <a:r>
              <a:rPr lang="en-US" altLang="zh-CN" b="1" dirty="0">
                <a:latin typeface="微软雅黑" pitchFamily="34" charset="-122"/>
                <a:ea typeface="微软雅黑" pitchFamily="34" charset="-122"/>
              </a:rPr>
              <a:t>(bridge)</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a:lnSpc>
                <a:spcPts val="2400"/>
              </a:lnSpc>
            </a:pPr>
            <a:r>
              <a:rPr lang="zh-CN" altLang="en-US" b="1" dirty="0">
                <a:solidFill>
                  <a:srgbClr val="0000FF"/>
                </a:solidFill>
                <a:latin typeface="微软雅黑" pitchFamily="34" charset="-122"/>
                <a:ea typeface="微软雅黑" pitchFamily="34" charset="-122"/>
              </a:rPr>
              <a:t>交换机 </a:t>
            </a:r>
            <a:r>
              <a:rPr lang="en-US" altLang="zh-CN" b="1" dirty="0">
                <a:latin typeface="微软雅黑" pitchFamily="34" charset="-122"/>
                <a:ea typeface="微软雅黑" pitchFamily="34" charset="-122"/>
              </a:rPr>
              <a:t>(switch)</a:t>
            </a:r>
            <a:endParaRPr lang="zh-CN" altLang="en-US" b="1" dirty="0">
              <a:solidFill>
                <a:srgbClr val="0000FF"/>
              </a:solidFill>
              <a:latin typeface="微软雅黑" pitchFamily="34" charset="-122"/>
              <a:ea typeface="微软雅黑" pitchFamily="34" charset="-122"/>
            </a:endParaRPr>
          </a:p>
        </p:txBody>
      </p:sp>
      <p:sp>
        <p:nvSpPr>
          <p:cNvPr id="24" name="矩形 23"/>
          <p:cNvSpPr/>
          <p:nvPr/>
        </p:nvSpPr>
        <p:spPr>
          <a:xfrm>
            <a:off x="4479980" y="2123623"/>
            <a:ext cx="1851212" cy="369332"/>
          </a:xfrm>
          <a:prstGeom prst="rect">
            <a:avLst/>
          </a:prstGeom>
        </p:spPr>
        <p:txBody>
          <a:bodyPr wrap="none">
            <a:spAutoFit/>
          </a:bodyPr>
          <a:lstStyle/>
          <a:p>
            <a:r>
              <a:rPr lang="zh-CN" altLang="en-US" b="1" dirty="0">
                <a:solidFill>
                  <a:srgbClr val="0000FF"/>
                </a:solidFill>
                <a:latin typeface="微软雅黑" pitchFamily="34" charset="-122"/>
                <a:ea typeface="微软雅黑" pitchFamily="34" charset="-122"/>
              </a:rPr>
              <a:t>路由器</a:t>
            </a:r>
            <a:r>
              <a:rPr lang="zh-CN" altLang="en-US" b="1" dirty="0">
                <a:latin typeface="微软雅黑" pitchFamily="34" charset="-122"/>
                <a:ea typeface="微软雅黑" pitchFamily="34" charset="-122"/>
              </a:rPr>
              <a:t> </a:t>
            </a:r>
            <a:r>
              <a:rPr lang="en-US" altLang="zh-CN" b="1" dirty="0">
                <a:latin typeface="微软雅黑" pitchFamily="34" charset="-122"/>
                <a:ea typeface="微软雅黑" pitchFamily="34" charset="-122"/>
              </a:rPr>
              <a:t>(router)</a:t>
            </a:r>
            <a:endParaRPr lang="zh-CN" altLang="en-US" dirty="0"/>
          </a:p>
        </p:txBody>
      </p:sp>
      <p:sp>
        <p:nvSpPr>
          <p:cNvPr id="25" name="矩形 24"/>
          <p:cNvSpPr/>
          <p:nvPr/>
        </p:nvSpPr>
        <p:spPr>
          <a:xfrm>
            <a:off x="4479980" y="1647771"/>
            <a:ext cx="1874809" cy="369332"/>
          </a:xfrm>
          <a:prstGeom prst="rect">
            <a:avLst/>
          </a:prstGeom>
        </p:spPr>
        <p:txBody>
          <a:bodyPr wrap="none">
            <a:spAutoFit/>
          </a:bodyPr>
          <a:lstStyle/>
          <a:p>
            <a:r>
              <a:rPr lang="zh-CN" altLang="en-US" b="1" dirty="0">
                <a:solidFill>
                  <a:srgbClr val="0000FF"/>
                </a:solidFill>
                <a:latin typeface="微软雅黑" pitchFamily="34" charset="-122"/>
                <a:ea typeface="微软雅黑" pitchFamily="34" charset="-122"/>
              </a:rPr>
              <a:t>网关</a:t>
            </a:r>
            <a:r>
              <a:rPr lang="zh-CN" altLang="en-US" b="1" dirty="0">
                <a:latin typeface="微软雅黑" pitchFamily="34" charset="-122"/>
                <a:ea typeface="微软雅黑" pitchFamily="34" charset="-122"/>
              </a:rPr>
              <a:t> </a:t>
            </a:r>
            <a:r>
              <a:rPr lang="en-US" altLang="zh-CN" b="1" dirty="0">
                <a:latin typeface="微软雅黑" pitchFamily="34" charset="-122"/>
                <a:ea typeface="微软雅黑" pitchFamily="34" charset="-122"/>
              </a:rPr>
              <a:t>(gateway)</a:t>
            </a:r>
            <a:endParaRPr lang="zh-CN" altLang="en-US" dirty="0"/>
          </a:p>
        </p:txBody>
      </p:sp>
      <p:sp>
        <p:nvSpPr>
          <p:cNvPr id="26" name="矩形 25"/>
          <p:cNvSpPr/>
          <p:nvPr/>
        </p:nvSpPr>
        <p:spPr>
          <a:xfrm>
            <a:off x="2196868" y="1245931"/>
            <a:ext cx="415498" cy="369332"/>
          </a:xfrm>
          <a:prstGeom prst="rect">
            <a:avLst/>
          </a:prstGeom>
        </p:spPr>
        <p:txBody>
          <a:bodyPr wrap="none">
            <a:spAutoFit/>
          </a:bodyPr>
          <a:lstStyle/>
          <a:p>
            <a:r>
              <a:rPr lang="zh-CN" altLang="en-US" b="1" dirty="0">
                <a:latin typeface="微软雅黑" pitchFamily="34" charset="-122"/>
                <a:ea typeface="微软雅黑" pitchFamily="34" charset="-122"/>
              </a:rPr>
              <a:t>层</a:t>
            </a:r>
            <a:endParaRPr lang="zh-CN" altLang="en-US" dirty="0"/>
          </a:p>
        </p:txBody>
      </p:sp>
      <p:sp>
        <p:nvSpPr>
          <p:cNvPr id="27" name="矩形 26"/>
          <p:cNvSpPr/>
          <p:nvPr/>
        </p:nvSpPr>
        <p:spPr>
          <a:xfrm>
            <a:off x="5031266" y="1245931"/>
            <a:ext cx="1107996" cy="369332"/>
          </a:xfrm>
          <a:prstGeom prst="rect">
            <a:avLst/>
          </a:prstGeom>
        </p:spPr>
        <p:txBody>
          <a:bodyPr wrap="none">
            <a:spAutoFit/>
          </a:bodyPr>
          <a:lstStyle/>
          <a:p>
            <a:r>
              <a:rPr lang="zh-CN" altLang="en-US" b="1" dirty="0">
                <a:latin typeface="微软雅黑" pitchFamily="34" charset="-122"/>
                <a:ea typeface="微软雅黑" pitchFamily="34" charset="-122"/>
              </a:rPr>
              <a:t>中间设备</a:t>
            </a:r>
            <a:endParaRPr lang="zh-CN" altLang="en-US" dirty="0"/>
          </a:p>
        </p:txBody>
      </p:sp>
    </p:spTree>
    <p:extLst>
      <p:ext uri="{BB962C8B-B14F-4D97-AF65-F5344CB8AC3E}">
        <p14:creationId xmlns:p14="http://schemas.microsoft.com/office/powerpoint/2010/main" val="341630681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AutoShape 5"/>
          <p:cNvSpPr>
            <a:spLocks noChangeArrowheads="1"/>
          </p:cNvSpPr>
          <p:nvPr/>
        </p:nvSpPr>
        <p:spPr bwMode="auto">
          <a:xfrm>
            <a:off x="556963" y="61710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2" name="Rectangle 6"/>
          <p:cNvSpPr>
            <a:spLocks noChangeArrowheads="1"/>
          </p:cNvSpPr>
          <p:nvPr/>
        </p:nvSpPr>
        <p:spPr bwMode="auto">
          <a:xfrm>
            <a:off x="2565418" y="583891"/>
            <a:ext cx="403187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使用转发器或网桥</a:t>
            </a:r>
            <a:r>
              <a:rPr lang="zh-CN" altLang="en-US" sz="2000" b="1" dirty="0">
                <a:solidFill>
                  <a:srgbClr val="FFFF00"/>
                </a:solidFill>
                <a:latin typeface="微软雅黑" pitchFamily="34" charset="-122"/>
                <a:ea typeface="微软雅黑" pitchFamily="34" charset="-122"/>
              </a:rPr>
              <a:t>不称为网络互连</a:t>
            </a:r>
          </a:p>
        </p:txBody>
      </p:sp>
      <p:sp>
        <p:nvSpPr>
          <p:cNvPr id="15" name="圆角矩形 14"/>
          <p:cNvSpPr/>
          <p:nvPr/>
        </p:nvSpPr>
        <p:spPr>
          <a:xfrm>
            <a:off x="502920" y="1135637"/>
            <a:ext cx="8129015" cy="2064764"/>
          </a:xfrm>
          <a:prstGeom prst="roundRect">
            <a:avLst>
              <a:gd name="adj" fmla="val 12392"/>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2" name="组合 1"/>
          <p:cNvGrpSpPr/>
          <p:nvPr/>
        </p:nvGrpSpPr>
        <p:grpSpPr>
          <a:xfrm>
            <a:off x="2352821" y="1177154"/>
            <a:ext cx="4600069" cy="1911103"/>
            <a:chOff x="2352822" y="1177154"/>
            <a:chExt cx="4413000" cy="1775543"/>
          </a:xfrm>
        </p:grpSpPr>
        <p:sp>
          <p:nvSpPr>
            <p:cNvPr id="16" name="Text Box 49"/>
            <p:cNvSpPr txBox="1">
              <a:spLocks noChangeArrowheads="1"/>
            </p:cNvSpPr>
            <p:nvPr/>
          </p:nvSpPr>
          <p:spPr bwMode="auto">
            <a:xfrm>
              <a:off x="3697878" y="1177154"/>
              <a:ext cx="1554806" cy="257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latin typeface="微软雅黑" pitchFamily="34" charset="-122"/>
                  <a:ea typeface="微软雅黑" pitchFamily="34" charset="-122"/>
                </a:rPr>
                <a:t>交换机</a:t>
              </a:r>
            </a:p>
          </p:txBody>
        </p:sp>
        <p:grpSp>
          <p:nvGrpSpPr>
            <p:cNvPr id="19" name="组合 18"/>
            <p:cNvGrpSpPr/>
            <p:nvPr/>
          </p:nvGrpSpPr>
          <p:grpSpPr>
            <a:xfrm>
              <a:off x="4684572" y="1635159"/>
              <a:ext cx="2081250" cy="1191418"/>
              <a:chOff x="4668477" y="2337063"/>
              <a:chExt cx="2081250" cy="1191418"/>
            </a:xfrm>
          </p:grpSpPr>
          <p:sp>
            <p:nvSpPr>
              <p:cNvPr id="20" name="Line 44"/>
              <p:cNvSpPr>
                <a:spLocks noChangeShapeType="1"/>
              </p:cNvSpPr>
              <p:nvPr/>
            </p:nvSpPr>
            <p:spPr bwMode="auto">
              <a:xfrm>
                <a:off x="4668477" y="2337063"/>
                <a:ext cx="1375569" cy="70629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21" name="Line 69"/>
              <p:cNvSpPr>
                <a:spLocks noChangeShapeType="1"/>
              </p:cNvSpPr>
              <p:nvPr/>
            </p:nvSpPr>
            <p:spPr bwMode="auto">
              <a:xfrm flipH="1">
                <a:off x="5712245" y="3044330"/>
                <a:ext cx="305115" cy="28425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28" name="Line 71"/>
              <p:cNvSpPr>
                <a:spLocks noChangeShapeType="1"/>
              </p:cNvSpPr>
              <p:nvPr/>
            </p:nvSpPr>
            <p:spPr bwMode="auto">
              <a:xfrm>
                <a:off x="6189215" y="3098000"/>
                <a:ext cx="85199" cy="22130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0" name="Line 72"/>
              <p:cNvSpPr>
                <a:spLocks noChangeShapeType="1"/>
              </p:cNvSpPr>
              <p:nvPr/>
            </p:nvSpPr>
            <p:spPr bwMode="auto">
              <a:xfrm>
                <a:off x="6274415" y="3088723"/>
                <a:ext cx="300746" cy="22130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1" name="Line 73"/>
              <p:cNvSpPr>
                <a:spLocks noChangeShapeType="1"/>
              </p:cNvSpPr>
              <p:nvPr/>
            </p:nvSpPr>
            <p:spPr bwMode="auto">
              <a:xfrm flipH="1">
                <a:off x="5996243" y="3048967"/>
                <a:ext cx="82286" cy="28624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pic>
            <p:nvPicPr>
              <p:cNvPr id="32" name="Picture 77"/>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20497188">
                <a:off x="5903761" y="2905847"/>
                <a:ext cx="527945" cy="2365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3"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625381" y="3258352"/>
                <a:ext cx="270129" cy="270129"/>
              </a:xfrm>
              <a:prstGeom prst="rect">
                <a:avLst/>
              </a:prstGeom>
              <a:noFill/>
              <a:extLst>
                <a:ext uri="{909E8E84-426E-40DD-AFC4-6F175D3DCCD1}">
                  <a14:hiddenFill xmlns:a14="http://schemas.microsoft.com/office/drawing/2010/main">
                    <a:solidFill>
                      <a:srgbClr val="FFFFFF"/>
                    </a:solidFill>
                  </a14:hiddenFill>
                </a:ext>
              </a:extLst>
            </p:spPr>
          </p:pic>
          <p:pic>
            <p:nvPicPr>
              <p:cNvPr id="34"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903534" y="3258352"/>
                <a:ext cx="270129" cy="270129"/>
              </a:xfrm>
              <a:prstGeom prst="rect">
                <a:avLst/>
              </a:prstGeom>
              <a:noFill/>
              <a:extLst>
                <a:ext uri="{909E8E84-426E-40DD-AFC4-6F175D3DCCD1}">
                  <a14:hiddenFill xmlns:a14="http://schemas.microsoft.com/office/drawing/2010/main">
                    <a:solidFill>
                      <a:srgbClr val="FFFFFF"/>
                    </a:solidFill>
                  </a14:hiddenFill>
                </a:ext>
              </a:extLst>
            </p:spPr>
          </p:pic>
          <p:pic>
            <p:nvPicPr>
              <p:cNvPr id="35"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191566" y="3258352"/>
                <a:ext cx="270129" cy="270129"/>
              </a:xfrm>
              <a:prstGeom prst="rect">
                <a:avLst/>
              </a:prstGeom>
              <a:noFill/>
              <a:extLst>
                <a:ext uri="{909E8E84-426E-40DD-AFC4-6F175D3DCCD1}">
                  <a14:hiddenFill xmlns:a14="http://schemas.microsoft.com/office/drawing/2010/main">
                    <a:solidFill>
                      <a:srgbClr val="FFFFFF"/>
                    </a:solidFill>
                  </a14:hiddenFill>
                </a:ext>
              </a:extLst>
            </p:spPr>
          </p:pic>
          <p:pic>
            <p:nvPicPr>
              <p:cNvPr id="36"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79598" y="3258352"/>
                <a:ext cx="270129" cy="270129"/>
              </a:xfrm>
              <a:prstGeom prst="rect">
                <a:avLst/>
              </a:prstGeom>
              <a:noFill/>
              <a:extLst>
                <a:ext uri="{909E8E84-426E-40DD-AFC4-6F175D3DCCD1}">
                  <a14:hiddenFill xmlns:a14="http://schemas.microsoft.com/office/drawing/2010/main">
                    <a:solidFill>
                      <a:srgbClr val="FFFFFF"/>
                    </a:solidFill>
                  </a14:hiddenFill>
                </a:ext>
              </a:extLst>
            </p:spPr>
          </p:pic>
          <p:sp>
            <p:nvSpPr>
              <p:cNvPr id="37" name="Text Box 49"/>
              <p:cNvSpPr txBox="1">
                <a:spLocks noChangeArrowheads="1"/>
              </p:cNvSpPr>
              <p:nvPr/>
            </p:nvSpPr>
            <p:spPr bwMode="auto">
              <a:xfrm>
                <a:off x="5842960" y="2700338"/>
                <a:ext cx="719152"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000" b="1" dirty="0">
                    <a:latin typeface="微软雅黑" pitchFamily="34" charset="-122"/>
                    <a:ea typeface="微软雅黑" pitchFamily="34" charset="-122"/>
                  </a:rPr>
                  <a:t>集线器</a:t>
                </a:r>
              </a:p>
            </p:txBody>
          </p:sp>
        </p:grpSp>
        <p:grpSp>
          <p:nvGrpSpPr>
            <p:cNvPr id="39" name="组合 38"/>
            <p:cNvGrpSpPr/>
            <p:nvPr/>
          </p:nvGrpSpPr>
          <p:grpSpPr>
            <a:xfrm>
              <a:off x="2352822" y="1666689"/>
              <a:ext cx="1851608" cy="1159888"/>
              <a:chOff x="2336727" y="2368593"/>
              <a:chExt cx="1851608" cy="1159888"/>
            </a:xfrm>
          </p:grpSpPr>
          <p:grpSp>
            <p:nvGrpSpPr>
              <p:cNvPr id="40" name="组合 39"/>
              <p:cNvGrpSpPr/>
              <p:nvPr/>
            </p:nvGrpSpPr>
            <p:grpSpPr>
              <a:xfrm>
                <a:off x="2336727" y="2368593"/>
                <a:ext cx="1851608" cy="1159888"/>
                <a:chOff x="2336727" y="2368593"/>
                <a:chExt cx="1851608" cy="1159888"/>
              </a:xfrm>
            </p:grpSpPr>
            <p:sp>
              <p:nvSpPr>
                <p:cNvPr id="42" name="Line 43"/>
                <p:cNvSpPr>
                  <a:spLocks noChangeShapeType="1"/>
                </p:cNvSpPr>
                <p:nvPr/>
              </p:nvSpPr>
              <p:spPr bwMode="auto">
                <a:xfrm flipH="1">
                  <a:off x="3030003" y="2368593"/>
                  <a:ext cx="1158332" cy="641099"/>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3" name="Line 51"/>
                <p:cNvSpPr>
                  <a:spLocks noChangeShapeType="1"/>
                </p:cNvSpPr>
                <p:nvPr/>
              </p:nvSpPr>
              <p:spPr bwMode="auto">
                <a:xfrm flipH="1">
                  <a:off x="2452519" y="3044330"/>
                  <a:ext cx="305116" cy="28425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4" name="Line 53"/>
                <p:cNvSpPr>
                  <a:spLocks noChangeShapeType="1"/>
                </p:cNvSpPr>
                <p:nvPr/>
              </p:nvSpPr>
              <p:spPr bwMode="auto">
                <a:xfrm>
                  <a:off x="2929490" y="3098000"/>
                  <a:ext cx="85199" cy="22130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5" name="Line 54"/>
                <p:cNvSpPr>
                  <a:spLocks noChangeShapeType="1"/>
                </p:cNvSpPr>
                <p:nvPr/>
              </p:nvSpPr>
              <p:spPr bwMode="auto">
                <a:xfrm>
                  <a:off x="3014689" y="3088723"/>
                  <a:ext cx="300747" cy="22130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6" name="Line 55"/>
                <p:cNvSpPr>
                  <a:spLocks noChangeShapeType="1"/>
                </p:cNvSpPr>
                <p:nvPr/>
              </p:nvSpPr>
              <p:spPr bwMode="auto">
                <a:xfrm flipH="1">
                  <a:off x="2736517" y="3048967"/>
                  <a:ext cx="82287" cy="28624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pic>
              <p:nvPicPr>
                <p:cNvPr id="47" name="Picture 59"/>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20497188">
                  <a:off x="2644036" y="2905847"/>
                  <a:ext cx="527944" cy="2365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8"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336727" y="3258352"/>
                  <a:ext cx="270129" cy="270129"/>
                </a:xfrm>
                <a:prstGeom prst="rect">
                  <a:avLst/>
                </a:prstGeom>
                <a:noFill/>
                <a:extLst>
                  <a:ext uri="{909E8E84-426E-40DD-AFC4-6F175D3DCCD1}">
                    <a14:hiddenFill xmlns:a14="http://schemas.microsoft.com/office/drawing/2010/main">
                      <a:solidFill>
                        <a:srgbClr val="FFFFFF"/>
                      </a:solidFill>
                    </a14:hiddenFill>
                  </a:ext>
                </a:extLst>
              </p:spPr>
            </p:pic>
            <p:pic>
              <p:nvPicPr>
                <p:cNvPr id="49"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614880" y="3258352"/>
                  <a:ext cx="270129" cy="270129"/>
                </a:xfrm>
                <a:prstGeom prst="rect">
                  <a:avLst/>
                </a:prstGeom>
                <a:noFill/>
                <a:extLst>
                  <a:ext uri="{909E8E84-426E-40DD-AFC4-6F175D3DCCD1}">
                    <a14:hiddenFill xmlns:a14="http://schemas.microsoft.com/office/drawing/2010/main">
                      <a:solidFill>
                        <a:srgbClr val="FFFFFF"/>
                      </a:solidFill>
                    </a14:hiddenFill>
                  </a:ext>
                </a:extLst>
              </p:spPr>
            </p:pic>
            <p:pic>
              <p:nvPicPr>
                <p:cNvPr id="50"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02912" y="3258352"/>
                  <a:ext cx="270129" cy="270129"/>
                </a:xfrm>
                <a:prstGeom prst="rect">
                  <a:avLst/>
                </a:prstGeom>
                <a:noFill/>
                <a:extLst>
                  <a:ext uri="{909E8E84-426E-40DD-AFC4-6F175D3DCCD1}">
                    <a14:hiddenFill xmlns:a14="http://schemas.microsoft.com/office/drawing/2010/main">
                      <a:solidFill>
                        <a:srgbClr val="FFFFFF"/>
                      </a:solidFill>
                    </a14:hiddenFill>
                  </a:ext>
                </a:extLst>
              </p:spPr>
            </p:pic>
            <p:pic>
              <p:nvPicPr>
                <p:cNvPr id="51"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190944" y="3258352"/>
                  <a:ext cx="270129" cy="270129"/>
                </a:xfrm>
                <a:prstGeom prst="rect">
                  <a:avLst/>
                </a:prstGeom>
                <a:noFill/>
                <a:extLst>
                  <a:ext uri="{909E8E84-426E-40DD-AFC4-6F175D3DCCD1}">
                    <a14:hiddenFill xmlns:a14="http://schemas.microsoft.com/office/drawing/2010/main">
                      <a:solidFill>
                        <a:srgbClr val="FFFFFF"/>
                      </a:solidFill>
                    </a14:hiddenFill>
                  </a:ext>
                </a:extLst>
              </p:spPr>
            </p:pic>
          </p:grpSp>
          <p:sp>
            <p:nvSpPr>
              <p:cNvPr id="41" name="Text Box 49"/>
              <p:cNvSpPr txBox="1">
                <a:spLocks noChangeArrowheads="1"/>
              </p:cNvSpPr>
              <p:nvPr/>
            </p:nvSpPr>
            <p:spPr bwMode="auto">
              <a:xfrm>
                <a:off x="2498460" y="2699895"/>
                <a:ext cx="719152"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000" b="1" dirty="0">
                    <a:latin typeface="微软雅黑" pitchFamily="34" charset="-122"/>
                    <a:ea typeface="微软雅黑" pitchFamily="34" charset="-122"/>
                  </a:rPr>
                  <a:t>集线器</a:t>
                </a:r>
              </a:p>
            </p:txBody>
          </p:sp>
        </p:grpSp>
        <p:grpSp>
          <p:nvGrpSpPr>
            <p:cNvPr id="52" name="组合 51"/>
            <p:cNvGrpSpPr/>
            <p:nvPr/>
          </p:nvGrpSpPr>
          <p:grpSpPr>
            <a:xfrm>
              <a:off x="3995796" y="1645668"/>
              <a:ext cx="1156664" cy="1307029"/>
              <a:chOff x="3979701" y="2347572"/>
              <a:chExt cx="1156664" cy="1307029"/>
            </a:xfrm>
          </p:grpSpPr>
          <p:grpSp>
            <p:nvGrpSpPr>
              <p:cNvPr id="53" name="组合 52"/>
              <p:cNvGrpSpPr/>
              <p:nvPr/>
            </p:nvGrpSpPr>
            <p:grpSpPr>
              <a:xfrm>
                <a:off x="3979701" y="2347572"/>
                <a:ext cx="1124346" cy="1307029"/>
                <a:chOff x="3979701" y="2347572"/>
                <a:chExt cx="1124346" cy="1307029"/>
              </a:xfrm>
            </p:grpSpPr>
            <p:sp>
              <p:nvSpPr>
                <p:cNvPr id="55" name="Line 45"/>
                <p:cNvSpPr>
                  <a:spLocks noChangeShapeType="1"/>
                </p:cNvSpPr>
                <p:nvPr/>
              </p:nvSpPr>
              <p:spPr bwMode="auto">
                <a:xfrm>
                  <a:off x="4436440" y="2347572"/>
                  <a:ext cx="109446" cy="75042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6" name="Line 60"/>
                <p:cNvSpPr>
                  <a:spLocks noChangeShapeType="1"/>
                </p:cNvSpPr>
                <p:nvPr/>
              </p:nvSpPr>
              <p:spPr bwMode="auto">
                <a:xfrm flipH="1">
                  <a:off x="4070155" y="3170450"/>
                  <a:ext cx="305116" cy="28425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7" name="Line 62"/>
                <p:cNvSpPr>
                  <a:spLocks noChangeShapeType="1"/>
                </p:cNvSpPr>
                <p:nvPr/>
              </p:nvSpPr>
              <p:spPr bwMode="auto">
                <a:xfrm>
                  <a:off x="4547125" y="3224120"/>
                  <a:ext cx="85199" cy="22130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8" name="Line 63"/>
                <p:cNvSpPr>
                  <a:spLocks noChangeShapeType="1"/>
                </p:cNvSpPr>
                <p:nvPr/>
              </p:nvSpPr>
              <p:spPr bwMode="auto">
                <a:xfrm>
                  <a:off x="4632325" y="3214843"/>
                  <a:ext cx="300018" cy="22130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9" name="Line 64"/>
                <p:cNvSpPr>
                  <a:spLocks noChangeShapeType="1"/>
                </p:cNvSpPr>
                <p:nvPr/>
              </p:nvSpPr>
              <p:spPr bwMode="auto">
                <a:xfrm flipH="1">
                  <a:off x="4354153" y="3175087"/>
                  <a:ext cx="82287" cy="28624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pic>
              <p:nvPicPr>
                <p:cNvPr id="60" name="Picture 68"/>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20497188">
                  <a:off x="4261672" y="3031967"/>
                  <a:ext cx="527216" cy="2365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1"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979701" y="3384472"/>
                  <a:ext cx="270129" cy="270129"/>
                </a:xfrm>
                <a:prstGeom prst="rect">
                  <a:avLst/>
                </a:prstGeom>
                <a:noFill/>
                <a:extLst>
                  <a:ext uri="{909E8E84-426E-40DD-AFC4-6F175D3DCCD1}">
                    <a14:hiddenFill xmlns:a14="http://schemas.microsoft.com/office/drawing/2010/main">
                      <a:solidFill>
                        <a:srgbClr val="FFFFFF"/>
                      </a:solidFill>
                    </a14:hiddenFill>
                  </a:ext>
                </a:extLst>
              </p:spPr>
            </p:pic>
            <p:pic>
              <p:nvPicPr>
                <p:cNvPr id="62"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57854" y="3384472"/>
                  <a:ext cx="270129" cy="270129"/>
                </a:xfrm>
                <a:prstGeom prst="rect">
                  <a:avLst/>
                </a:prstGeom>
                <a:noFill/>
                <a:extLst>
                  <a:ext uri="{909E8E84-426E-40DD-AFC4-6F175D3DCCD1}">
                    <a14:hiddenFill xmlns:a14="http://schemas.microsoft.com/office/drawing/2010/main">
                      <a:solidFill>
                        <a:srgbClr val="FFFFFF"/>
                      </a:solidFill>
                    </a14:hiddenFill>
                  </a:ext>
                </a:extLst>
              </p:spPr>
            </p:pic>
            <p:pic>
              <p:nvPicPr>
                <p:cNvPr id="63"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545886" y="3384472"/>
                  <a:ext cx="270129" cy="270129"/>
                </a:xfrm>
                <a:prstGeom prst="rect">
                  <a:avLst/>
                </a:prstGeom>
                <a:noFill/>
                <a:extLst>
                  <a:ext uri="{909E8E84-426E-40DD-AFC4-6F175D3DCCD1}">
                    <a14:hiddenFill xmlns:a14="http://schemas.microsoft.com/office/drawing/2010/main">
                      <a:solidFill>
                        <a:srgbClr val="FFFFFF"/>
                      </a:solidFill>
                    </a14:hiddenFill>
                  </a:ext>
                </a:extLst>
              </p:spPr>
            </p:pic>
            <p:pic>
              <p:nvPicPr>
                <p:cNvPr id="64"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833918" y="3384472"/>
                  <a:ext cx="270129" cy="270129"/>
                </a:xfrm>
                <a:prstGeom prst="rect">
                  <a:avLst/>
                </a:prstGeom>
                <a:noFill/>
                <a:extLst>
                  <a:ext uri="{909E8E84-426E-40DD-AFC4-6F175D3DCCD1}">
                    <a14:hiddenFill xmlns:a14="http://schemas.microsoft.com/office/drawing/2010/main">
                      <a:solidFill>
                        <a:srgbClr val="FFFFFF"/>
                      </a:solidFill>
                    </a14:hiddenFill>
                  </a:ext>
                </a:extLst>
              </p:spPr>
            </p:pic>
          </p:grpSp>
          <p:sp>
            <p:nvSpPr>
              <p:cNvPr id="54" name="Text Box 49"/>
              <p:cNvSpPr txBox="1">
                <a:spLocks noChangeArrowheads="1"/>
              </p:cNvSpPr>
              <p:nvPr/>
            </p:nvSpPr>
            <p:spPr bwMode="auto">
              <a:xfrm>
                <a:off x="4417213" y="2818465"/>
                <a:ext cx="719152"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000" b="1" dirty="0">
                    <a:latin typeface="微软雅黑" pitchFamily="34" charset="-122"/>
                    <a:ea typeface="微软雅黑" pitchFamily="34" charset="-122"/>
                  </a:rPr>
                  <a:t>集线器</a:t>
                </a:r>
              </a:p>
            </p:txBody>
          </p:sp>
        </p:grpSp>
        <p:sp>
          <p:nvSpPr>
            <p:cNvPr id="68" name="modem"/>
            <p:cNvSpPr>
              <a:spLocks noEditPoints="1" noChangeArrowheads="1"/>
            </p:cNvSpPr>
            <p:nvPr/>
          </p:nvSpPr>
          <p:spPr bwMode="auto">
            <a:xfrm>
              <a:off x="3973041" y="1444090"/>
              <a:ext cx="990656" cy="250365"/>
            </a:xfrm>
            <a:custGeom>
              <a:avLst/>
              <a:gdLst>
                <a:gd name="T0" fmla="*/ 0 w 21600"/>
                <a:gd name="T1" fmla="*/ 5152 h 21600"/>
                <a:gd name="T2" fmla="*/ 2941 w 21600"/>
                <a:gd name="T3" fmla="*/ 0 h 21600"/>
                <a:gd name="T4" fmla="*/ 18625 w 21600"/>
                <a:gd name="T5" fmla="*/ 0 h 21600"/>
                <a:gd name="T6" fmla="*/ 21600 w 21600"/>
                <a:gd name="T7" fmla="*/ 5152 h 21600"/>
                <a:gd name="T8" fmla="*/ 21600 w 21600"/>
                <a:gd name="T9" fmla="*/ 21600 h 21600"/>
                <a:gd name="T10" fmla="*/ 0 w 21600"/>
                <a:gd name="T11" fmla="*/ 21600 h 21600"/>
                <a:gd name="T12" fmla="*/ 10800 w 21600"/>
                <a:gd name="T13" fmla="*/ 0 h 21600"/>
                <a:gd name="T14" fmla="*/ 10800 w 21600"/>
                <a:gd name="T15" fmla="*/ 21600 h 21600"/>
                <a:gd name="T16" fmla="*/ 0 w 21600"/>
                <a:gd name="T17" fmla="*/ 13376 h 21600"/>
                <a:gd name="T18" fmla="*/ 21600 w 21600"/>
                <a:gd name="T19" fmla="*/ 13376 h 21600"/>
                <a:gd name="T20" fmla="*/ 400 w 21600"/>
                <a:gd name="T21" fmla="*/ 22400 h 21600"/>
                <a:gd name="T22" fmla="*/ 21200 w 21600"/>
                <a:gd name="T23" fmla="*/ 30000 h 2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T20" t="T21" r="T22" b="T23"/>
              <a:pathLst>
                <a:path w="21600" h="21600" extrusionOk="0">
                  <a:moveTo>
                    <a:pt x="0" y="5152"/>
                  </a:moveTo>
                  <a:lnTo>
                    <a:pt x="2941" y="0"/>
                  </a:lnTo>
                  <a:lnTo>
                    <a:pt x="18625" y="0"/>
                  </a:lnTo>
                  <a:lnTo>
                    <a:pt x="21600" y="5152"/>
                  </a:lnTo>
                  <a:lnTo>
                    <a:pt x="21600" y="21600"/>
                  </a:lnTo>
                  <a:lnTo>
                    <a:pt x="0" y="21600"/>
                  </a:lnTo>
                  <a:lnTo>
                    <a:pt x="0" y="5152"/>
                  </a:lnTo>
                  <a:close/>
                </a:path>
                <a:path w="21600" h="21600" extrusionOk="0">
                  <a:moveTo>
                    <a:pt x="0" y="5251"/>
                  </a:moveTo>
                  <a:lnTo>
                    <a:pt x="21600" y="5251"/>
                  </a:lnTo>
                  <a:moveTo>
                    <a:pt x="1961" y="11791"/>
                  </a:moveTo>
                  <a:lnTo>
                    <a:pt x="1961" y="14268"/>
                  </a:lnTo>
                  <a:lnTo>
                    <a:pt x="2806" y="14268"/>
                  </a:lnTo>
                  <a:lnTo>
                    <a:pt x="2806" y="11791"/>
                  </a:lnTo>
                  <a:lnTo>
                    <a:pt x="1961" y="11791"/>
                  </a:lnTo>
                  <a:close/>
                </a:path>
                <a:path w="21600" h="21600" extrusionOk="0">
                  <a:moveTo>
                    <a:pt x="3685" y="11791"/>
                  </a:moveTo>
                  <a:lnTo>
                    <a:pt x="3685" y="14268"/>
                  </a:lnTo>
                  <a:lnTo>
                    <a:pt x="4530" y="14268"/>
                  </a:lnTo>
                  <a:lnTo>
                    <a:pt x="4530" y="11791"/>
                  </a:lnTo>
                  <a:lnTo>
                    <a:pt x="3685" y="11791"/>
                  </a:lnTo>
                  <a:close/>
                </a:path>
                <a:path w="21600" h="21600" extrusionOk="0">
                  <a:moveTo>
                    <a:pt x="5408" y="11791"/>
                  </a:moveTo>
                  <a:lnTo>
                    <a:pt x="5408" y="14268"/>
                  </a:lnTo>
                  <a:lnTo>
                    <a:pt x="6254" y="14268"/>
                  </a:lnTo>
                  <a:lnTo>
                    <a:pt x="6254" y="11791"/>
                  </a:lnTo>
                  <a:lnTo>
                    <a:pt x="5408" y="11791"/>
                  </a:lnTo>
                  <a:close/>
                </a:path>
                <a:path w="21600" h="21600" extrusionOk="0">
                  <a:moveTo>
                    <a:pt x="7132" y="11791"/>
                  </a:moveTo>
                  <a:lnTo>
                    <a:pt x="7132" y="14268"/>
                  </a:lnTo>
                  <a:lnTo>
                    <a:pt x="7977" y="14268"/>
                  </a:lnTo>
                  <a:lnTo>
                    <a:pt x="7977" y="11791"/>
                  </a:lnTo>
                  <a:lnTo>
                    <a:pt x="7132" y="11791"/>
                  </a:lnTo>
                  <a:close/>
                </a:path>
              </a:pathLst>
            </a:custGeom>
            <a:solidFill>
              <a:schemeClr val="bg1">
                <a:lumMod val="65000"/>
              </a:schemeClr>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zh-CN" altLang="en-US" dirty="0"/>
            </a:p>
          </p:txBody>
        </p:sp>
      </p:grpSp>
      <p:sp>
        <p:nvSpPr>
          <p:cNvPr id="69" name="Rectangle 6"/>
          <p:cNvSpPr>
            <a:spLocks noChangeArrowheads="1"/>
          </p:cNvSpPr>
          <p:nvPr/>
        </p:nvSpPr>
        <p:spPr bwMode="auto">
          <a:xfrm>
            <a:off x="1360874" y="3345300"/>
            <a:ext cx="6417142"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b="1" dirty="0">
                <a:latin typeface="微软雅黑" pitchFamily="34" charset="-122"/>
                <a:ea typeface="微软雅黑" pitchFamily="34" charset="-122"/>
              </a:rPr>
              <a:t>转发器、网桥或交换机仅把一个网络扩大了，仍然是一个网络</a:t>
            </a:r>
            <a:endParaRPr lang="fr-FR" altLang="zh-CN" b="1" dirty="0">
              <a:latin typeface="微软雅黑" pitchFamily="34" charset="-122"/>
              <a:ea typeface="微软雅黑" pitchFamily="34" charset="-122"/>
            </a:endParaRPr>
          </a:p>
        </p:txBody>
      </p:sp>
    </p:spTree>
    <p:extLst>
      <p:ext uri="{BB962C8B-B14F-4D97-AF65-F5344CB8AC3E}">
        <p14:creationId xmlns:p14="http://schemas.microsoft.com/office/powerpoint/2010/main" val="238007775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2221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296384" y="589005"/>
            <a:ext cx="25699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rgbClr val="FFFF00"/>
                </a:solidFill>
                <a:latin typeface="微软雅黑" pitchFamily="34" charset="-122"/>
                <a:ea typeface="微软雅黑" pitchFamily="34" charset="-122"/>
              </a:rPr>
              <a:t>网络互连使用路由器</a:t>
            </a:r>
          </a:p>
        </p:txBody>
      </p:sp>
      <p:grpSp>
        <p:nvGrpSpPr>
          <p:cNvPr id="2" name="组合 1"/>
          <p:cNvGrpSpPr/>
          <p:nvPr/>
        </p:nvGrpSpPr>
        <p:grpSpPr>
          <a:xfrm>
            <a:off x="1542464" y="1176461"/>
            <a:ext cx="6042173" cy="3092466"/>
            <a:chOff x="1680487" y="1150582"/>
            <a:chExt cx="6042173" cy="3092466"/>
          </a:xfrm>
        </p:grpSpPr>
        <p:grpSp>
          <p:nvGrpSpPr>
            <p:cNvPr id="8" name="Group 1504"/>
            <p:cNvGrpSpPr>
              <a:grpSpLocks/>
            </p:cNvGrpSpPr>
            <p:nvPr/>
          </p:nvGrpSpPr>
          <p:grpSpPr bwMode="auto">
            <a:xfrm>
              <a:off x="2352522" y="1150582"/>
              <a:ext cx="4557485" cy="2945499"/>
              <a:chOff x="109" y="1226"/>
              <a:chExt cx="2516" cy="1675"/>
            </a:xfrm>
            <a:scene3d>
              <a:camera prst="orthographicFront">
                <a:rot lat="0" lon="0" rev="0"/>
              </a:camera>
              <a:lightRig rig="contrasting" dir="t">
                <a:rot lat="0" lon="0" rev="7800000"/>
              </a:lightRig>
            </a:scene3d>
          </p:grpSpPr>
          <p:grpSp>
            <p:nvGrpSpPr>
              <p:cNvPr id="9" name="Group 1505"/>
              <p:cNvGrpSpPr>
                <a:grpSpLocks/>
              </p:cNvGrpSpPr>
              <p:nvPr/>
            </p:nvGrpSpPr>
            <p:grpSpPr bwMode="auto">
              <a:xfrm>
                <a:off x="109" y="1226"/>
                <a:ext cx="2516" cy="1675"/>
                <a:chOff x="109" y="1226"/>
                <a:chExt cx="2516" cy="1675"/>
              </a:xfrm>
            </p:grpSpPr>
            <p:grpSp>
              <p:nvGrpSpPr>
                <p:cNvPr id="11" name="Group 1506"/>
                <p:cNvGrpSpPr>
                  <a:grpSpLocks/>
                </p:cNvGrpSpPr>
                <p:nvPr/>
              </p:nvGrpSpPr>
              <p:grpSpPr bwMode="auto">
                <a:xfrm>
                  <a:off x="109" y="1226"/>
                  <a:ext cx="2516" cy="1675"/>
                  <a:chOff x="109" y="1226"/>
                  <a:chExt cx="2516" cy="1675"/>
                </a:xfrm>
              </p:grpSpPr>
              <p:sp>
                <p:nvSpPr>
                  <p:cNvPr id="13" name="Oval 1507"/>
                  <p:cNvSpPr>
                    <a:spLocks noChangeArrowheads="1"/>
                  </p:cNvSpPr>
                  <p:nvPr/>
                </p:nvSpPr>
                <p:spPr bwMode="auto">
                  <a:xfrm>
                    <a:off x="1749" y="1896"/>
                    <a:ext cx="876" cy="829"/>
                  </a:xfrm>
                  <a:prstGeom prst="ellipse">
                    <a:avLst/>
                  </a:prstGeom>
                  <a:solidFill>
                    <a:srgbClr val="C5E5FB"/>
                  </a:solid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 name="Oval 1508"/>
                  <p:cNvSpPr>
                    <a:spLocks noChangeArrowheads="1"/>
                  </p:cNvSpPr>
                  <p:nvPr/>
                </p:nvSpPr>
                <p:spPr bwMode="auto">
                  <a:xfrm>
                    <a:off x="109" y="1632"/>
                    <a:ext cx="859" cy="831"/>
                  </a:xfrm>
                  <a:prstGeom prst="ellipse">
                    <a:avLst/>
                  </a:prstGeom>
                  <a:solidFill>
                    <a:srgbClr val="C5E5FB"/>
                  </a:solid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5" name="Oval 1509"/>
                  <p:cNvSpPr>
                    <a:spLocks noChangeArrowheads="1"/>
                  </p:cNvSpPr>
                  <p:nvPr/>
                </p:nvSpPr>
                <p:spPr bwMode="auto">
                  <a:xfrm>
                    <a:off x="1612" y="1341"/>
                    <a:ext cx="874" cy="802"/>
                  </a:xfrm>
                  <a:prstGeom prst="ellipse">
                    <a:avLst/>
                  </a:prstGeom>
                  <a:solidFill>
                    <a:srgbClr val="C5E5FB"/>
                  </a:solid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6" name="Oval 1510"/>
                  <p:cNvSpPr>
                    <a:spLocks noChangeArrowheads="1"/>
                  </p:cNvSpPr>
                  <p:nvPr/>
                </p:nvSpPr>
                <p:spPr bwMode="auto">
                  <a:xfrm>
                    <a:off x="1152" y="2055"/>
                    <a:ext cx="875" cy="846"/>
                  </a:xfrm>
                  <a:prstGeom prst="ellipse">
                    <a:avLst/>
                  </a:prstGeom>
                  <a:solidFill>
                    <a:srgbClr val="C5E5FB"/>
                  </a:solid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7" name="Oval 1511"/>
                  <p:cNvSpPr>
                    <a:spLocks noChangeArrowheads="1"/>
                  </p:cNvSpPr>
                  <p:nvPr/>
                </p:nvSpPr>
                <p:spPr bwMode="auto">
                  <a:xfrm>
                    <a:off x="400" y="1982"/>
                    <a:ext cx="874" cy="802"/>
                  </a:xfrm>
                  <a:prstGeom prst="ellipse">
                    <a:avLst/>
                  </a:prstGeom>
                  <a:solidFill>
                    <a:srgbClr val="C5E5FB"/>
                  </a:solid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8" name="Oval 1512"/>
                  <p:cNvSpPr>
                    <a:spLocks noChangeArrowheads="1"/>
                  </p:cNvSpPr>
                  <p:nvPr/>
                </p:nvSpPr>
                <p:spPr bwMode="auto">
                  <a:xfrm>
                    <a:off x="1075" y="1226"/>
                    <a:ext cx="859" cy="829"/>
                  </a:xfrm>
                  <a:prstGeom prst="ellipse">
                    <a:avLst/>
                  </a:prstGeom>
                  <a:solidFill>
                    <a:srgbClr val="C5E5FB"/>
                  </a:solid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9" name="Oval 1513"/>
                  <p:cNvSpPr>
                    <a:spLocks noChangeArrowheads="1"/>
                  </p:cNvSpPr>
                  <p:nvPr/>
                </p:nvSpPr>
                <p:spPr bwMode="auto">
                  <a:xfrm>
                    <a:off x="523" y="1226"/>
                    <a:ext cx="859" cy="799"/>
                  </a:xfrm>
                  <a:prstGeom prst="ellipse">
                    <a:avLst/>
                  </a:prstGeom>
                  <a:solidFill>
                    <a:srgbClr val="C5E5FB"/>
                  </a:solid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2" name="Oval 1514"/>
                <p:cNvSpPr>
                  <a:spLocks noChangeArrowheads="1"/>
                </p:cNvSpPr>
                <p:nvPr/>
              </p:nvSpPr>
              <p:spPr bwMode="auto">
                <a:xfrm>
                  <a:off x="339" y="1414"/>
                  <a:ext cx="2085" cy="1152"/>
                </a:xfrm>
                <a:prstGeom prst="ellipse">
                  <a:avLst/>
                </a:prstGeom>
                <a:solidFill>
                  <a:srgbClr val="C5E5FB"/>
                </a:solidFill>
                <a:ln>
                  <a:noFill/>
                </a:ln>
                <a:effectLst/>
                <a:sp3d>
                  <a:bevelT w="139700" h="139700"/>
                </a:sp3d>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0" name="Freeform 1515"/>
              <p:cNvSpPr>
                <a:spLocks/>
              </p:cNvSpPr>
              <p:nvPr/>
            </p:nvSpPr>
            <p:spPr bwMode="auto">
              <a:xfrm>
                <a:off x="348" y="2192"/>
                <a:ext cx="126" cy="224"/>
              </a:xfrm>
              <a:custGeom>
                <a:avLst/>
                <a:gdLst>
                  <a:gd name="T0" fmla="*/ 68 w 126"/>
                  <a:gd name="T1" fmla="*/ 0 h 224"/>
                  <a:gd name="T2" fmla="*/ 92 w 126"/>
                  <a:gd name="T3" fmla="*/ 24 h 224"/>
                  <a:gd name="T4" fmla="*/ 116 w 126"/>
                  <a:gd name="T5" fmla="*/ 40 h 224"/>
                  <a:gd name="T6" fmla="*/ 76 w 126"/>
                  <a:gd name="T7" fmla="*/ 216 h 224"/>
                  <a:gd name="T8" fmla="*/ 52 w 126"/>
                  <a:gd name="T9" fmla="*/ 224 h 224"/>
                  <a:gd name="T10" fmla="*/ 36 w 126"/>
                  <a:gd name="T11" fmla="*/ 128 h 224"/>
                  <a:gd name="T12" fmla="*/ 68 w 126"/>
                  <a:gd name="T13" fmla="*/ 0 h 224"/>
                  <a:gd name="T14" fmla="*/ 0 60000 65536"/>
                  <a:gd name="T15" fmla="*/ 0 60000 65536"/>
                  <a:gd name="T16" fmla="*/ 0 60000 65536"/>
                  <a:gd name="T17" fmla="*/ 0 60000 65536"/>
                  <a:gd name="T18" fmla="*/ 0 60000 65536"/>
                  <a:gd name="T19" fmla="*/ 0 60000 65536"/>
                  <a:gd name="T20" fmla="*/ 0 60000 65536"/>
                  <a:gd name="T21" fmla="*/ 0 w 126"/>
                  <a:gd name="T22" fmla="*/ 0 h 224"/>
                  <a:gd name="T23" fmla="*/ 126 w 126"/>
                  <a:gd name="T24" fmla="*/ 224 h 2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224">
                    <a:moveTo>
                      <a:pt x="68" y="0"/>
                    </a:moveTo>
                    <a:cubicBezTo>
                      <a:pt x="76" y="8"/>
                      <a:pt x="83" y="17"/>
                      <a:pt x="92" y="24"/>
                    </a:cubicBezTo>
                    <a:cubicBezTo>
                      <a:pt x="99" y="30"/>
                      <a:pt x="114" y="31"/>
                      <a:pt x="116" y="40"/>
                    </a:cubicBezTo>
                    <a:cubicBezTo>
                      <a:pt x="126" y="99"/>
                      <a:pt x="94" y="162"/>
                      <a:pt x="76" y="216"/>
                    </a:cubicBezTo>
                    <a:cubicBezTo>
                      <a:pt x="73" y="224"/>
                      <a:pt x="60" y="221"/>
                      <a:pt x="52" y="224"/>
                    </a:cubicBezTo>
                    <a:cubicBezTo>
                      <a:pt x="0" y="207"/>
                      <a:pt x="22" y="170"/>
                      <a:pt x="36" y="128"/>
                    </a:cubicBezTo>
                    <a:cubicBezTo>
                      <a:pt x="41" y="74"/>
                      <a:pt x="32" y="36"/>
                      <a:pt x="68" y="0"/>
                    </a:cubicBezTo>
                    <a:close/>
                  </a:path>
                </a:pathLst>
              </a:custGeom>
              <a:solidFill>
                <a:srgbClr val="C5E5FB"/>
              </a:solidFill>
              <a:ln>
                <a:noFill/>
              </a:ln>
              <a:effectLst/>
              <a:sp3d>
                <a:bevelT w="139700" h="139700"/>
              </a:sp3d>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20" name="Line 1453"/>
            <p:cNvSpPr>
              <a:spLocks noChangeShapeType="1"/>
            </p:cNvSpPr>
            <p:nvPr/>
          </p:nvSpPr>
          <p:spPr bwMode="auto">
            <a:xfrm flipH="1">
              <a:off x="1947248" y="2509984"/>
              <a:ext cx="1091986" cy="0"/>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21" name="Line 1443"/>
            <p:cNvSpPr>
              <a:spLocks noChangeShapeType="1"/>
            </p:cNvSpPr>
            <p:nvPr/>
          </p:nvSpPr>
          <p:spPr bwMode="auto">
            <a:xfrm>
              <a:off x="6165493" y="2781173"/>
              <a:ext cx="1221041" cy="1001150"/>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22" name="Line 1452"/>
            <p:cNvSpPr>
              <a:spLocks noChangeShapeType="1"/>
            </p:cNvSpPr>
            <p:nvPr/>
          </p:nvSpPr>
          <p:spPr bwMode="auto">
            <a:xfrm flipV="1">
              <a:off x="5334870" y="1656167"/>
              <a:ext cx="1843891" cy="301912"/>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24" name="Line 1443"/>
            <p:cNvSpPr>
              <a:spLocks noChangeShapeType="1"/>
            </p:cNvSpPr>
            <p:nvPr/>
          </p:nvSpPr>
          <p:spPr bwMode="auto">
            <a:xfrm flipV="1">
              <a:off x="6185542" y="2654242"/>
              <a:ext cx="1270357" cy="105465"/>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grpSp>
          <p:nvGrpSpPr>
            <p:cNvPr id="25" name="组合 24"/>
            <p:cNvGrpSpPr/>
            <p:nvPr/>
          </p:nvGrpSpPr>
          <p:grpSpPr>
            <a:xfrm>
              <a:off x="2351004" y="1511323"/>
              <a:ext cx="4156325" cy="2270999"/>
              <a:chOff x="2712904" y="1571708"/>
              <a:chExt cx="4156325" cy="2270999"/>
            </a:xfrm>
          </p:grpSpPr>
          <p:sp>
            <p:nvSpPr>
              <p:cNvPr id="26" name="Line 1481"/>
              <p:cNvSpPr>
                <a:spLocks noChangeShapeType="1"/>
              </p:cNvSpPr>
              <p:nvPr/>
            </p:nvSpPr>
            <p:spPr bwMode="auto">
              <a:xfrm flipH="1">
                <a:off x="4829292" y="2736592"/>
                <a:ext cx="82550" cy="708025"/>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27" name="Line 1480"/>
              <p:cNvSpPr>
                <a:spLocks noChangeShapeType="1"/>
              </p:cNvSpPr>
              <p:nvPr/>
            </p:nvSpPr>
            <p:spPr bwMode="auto">
              <a:xfrm flipH="1" flipV="1">
                <a:off x="4322879" y="2374642"/>
                <a:ext cx="506413" cy="274638"/>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28" name="Line 1296"/>
              <p:cNvSpPr>
                <a:spLocks noChangeShapeType="1"/>
              </p:cNvSpPr>
              <p:nvPr/>
            </p:nvSpPr>
            <p:spPr bwMode="auto">
              <a:xfrm flipH="1" flipV="1">
                <a:off x="4166330" y="3182473"/>
                <a:ext cx="1248602" cy="356558"/>
              </a:xfrm>
              <a:prstGeom prst="line">
                <a:avLst/>
              </a:prstGeom>
              <a:noFill/>
              <a:ln w="19050">
                <a:solidFill>
                  <a:srgbClr val="000000"/>
                </a:solidFill>
                <a:round/>
                <a:headEnd/>
                <a:tailEnd/>
              </a:ln>
            </p:spPr>
            <p:txBody>
              <a:bodyPr wrap="none" anchor="ct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29" name="Line 1297"/>
              <p:cNvSpPr>
                <a:spLocks noChangeShapeType="1"/>
              </p:cNvSpPr>
              <p:nvPr/>
            </p:nvSpPr>
            <p:spPr bwMode="auto">
              <a:xfrm flipV="1">
                <a:off x="4354629" y="1658680"/>
                <a:ext cx="409575" cy="87312"/>
              </a:xfrm>
              <a:prstGeom prst="line">
                <a:avLst/>
              </a:prstGeom>
              <a:noFill/>
              <a:ln w="19050">
                <a:solidFill>
                  <a:srgbClr val="000000"/>
                </a:solidFill>
                <a:round/>
                <a:headEnd/>
                <a:tailEnd/>
              </a:ln>
            </p:spPr>
            <p:txBody>
              <a:bodyPr wrap="none" anchor="ct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0" name="Line 1440"/>
              <p:cNvSpPr>
                <a:spLocks noChangeShapeType="1"/>
              </p:cNvSpPr>
              <p:nvPr/>
            </p:nvSpPr>
            <p:spPr bwMode="auto">
              <a:xfrm flipH="1">
                <a:off x="3616442" y="2365117"/>
                <a:ext cx="738187" cy="88900"/>
              </a:xfrm>
              <a:prstGeom prst="line">
                <a:avLst/>
              </a:prstGeom>
              <a:noFill/>
              <a:ln w="19050">
                <a:solidFill>
                  <a:srgbClr val="000000"/>
                </a:solidFill>
                <a:round/>
                <a:headEnd/>
                <a:tailEnd/>
              </a:ln>
            </p:spPr>
            <p:txBody>
              <a:bodyPr wrap="none" anchor="ct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1" name="Line 1443"/>
              <p:cNvSpPr>
                <a:spLocks noChangeShapeType="1"/>
              </p:cNvSpPr>
              <p:nvPr/>
            </p:nvSpPr>
            <p:spPr bwMode="auto">
              <a:xfrm>
                <a:off x="4979258" y="1684770"/>
                <a:ext cx="343602" cy="219508"/>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2" name="Line 1444"/>
              <p:cNvSpPr>
                <a:spLocks noChangeShapeType="1"/>
              </p:cNvSpPr>
              <p:nvPr/>
            </p:nvSpPr>
            <p:spPr bwMode="auto">
              <a:xfrm>
                <a:off x="5716138" y="2046643"/>
                <a:ext cx="772091" cy="670898"/>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3" name="Line 1446"/>
              <p:cNvSpPr>
                <a:spLocks noChangeShapeType="1"/>
              </p:cNvSpPr>
              <p:nvPr/>
            </p:nvSpPr>
            <p:spPr bwMode="auto">
              <a:xfrm>
                <a:off x="5554426" y="2061471"/>
                <a:ext cx="15258" cy="653622"/>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4" name="Line 1447"/>
              <p:cNvSpPr>
                <a:spLocks noChangeShapeType="1"/>
              </p:cNvSpPr>
              <p:nvPr/>
            </p:nvSpPr>
            <p:spPr bwMode="auto">
              <a:xfrm flipV="1">
                <a:off x="4340342" y="1923792"/>
                <a:ext cx="1082675" cy="414338"/>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5" name="Line 1448"/>
              <p:cNvSpPr>
                <a:spLocks noChangeShapeType="1"/>
              </p:cNvSpPr>
              <p:nvPr/>
            </p:nvSpPr>
            <p:spPr bwMode="auto">
              <a:xfrm>
                <a:off x="4108567" y="1834892"/>
                <a:ext cx="165100" cy="528638"/>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6" name="Line 1449"/>
              <p:cNvSpPr>
                <a:spLocks noChangeShapeType="1"/>
              </p:cNvSpPr>
              <p:nvPr/>
            </p:nvSpPr>
            <p:spPr bwMode="auto">
              <a:xfrm flipV="1">
                <a:off x="4913429" y="2753396"/>
                <a:ext cx="600366" cy="72096"/>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7" name="Line 1452"/>
              <p:cNvSpPr>
                <a:spLocks noChangeShapeType="1"/>
              </p:cNvSpPr>
              <p:nvPr/>
            </p:nvSpPr>
            <p:spPr bwMode="auto">
              <a:xfrm flipV="1">
                <a:off x="5656982" y="2717541"/>
                <a:ext cx="750285" cy="16615"/>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8" name="Line 1453"/>
              <p:cNvSpPr>
                <a:spLocks noChangeShapeType="1"/>
              </p:cNvSpPr>
              <p:nvPr/>
            </p:nvSpPr>
            <p:spPr bwMode="auto">
              <a:xfrm flipH="1">
                <a:off x="4142045" y="2454017"/>
                <a:ext cx="49071" cy="568320"/>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9" name="Line 1456"/>
              <p:cNvSpPr>
                <a:spLocks noChangeShapeType="1"/>
              </p:cNvSpPr>
              <p:nvPr/>
            </p:nvSpPr>
            <p:spPr bwMode="auto">
              <a:xfrm flipH="1">
                <a:off x="5441225" y="2788880"/>
                <a:ext cx="198830" cy="551992"/>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40" name="Line 1445"/>
              <p:cNvSpPr>
                <a:spLocks noChangeShapeType="1"/>
              </p:cNvSpPr>
              <p:nvPr/>
            </p:nvSpPr>
            <p:spPr bwMode="auto">
              <a:xfrm flipH="1">
                <a:off x="5651617" y="2825492"/>
                <a:ext cx="819150" cy="619125"/>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pic>
            <p:nvPicPr>
              <p:cNvPr id="41" name="Picture 146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010142" y="2236530"/>
                <a:ext cx="477837"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 name="Picture 146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583229" y="3281560"/>
                <a:ext cx="477838"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 name="Picture 146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364959" y="2632721"/>
                <a:ext cx="477837"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 name="Picture 146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826923" y="2266464"/>
                <a:ext cx="477838" cy="322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 name="Picture 146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665779" y="1574087"/>
                <a:ext cx="476250"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 name="Picture 146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891329" y="2960430"/>
                <a:ext cx="477838"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 name="Group 1468"/>
              <p:cNvGrpSpPr>
                <a:grpSpLocks/>
              </p:cNvGrpSpPr>
              <p:nvPr/>
            </p:nvGrpSpPr>
            <p:grpSpPr bwMode="auto">
              <a:xfrm rot="20933218">
                <a:off x="4506350" y="2466491"/>
                <a:ext cx="725487" cy="603250"/>
                <a:chOff x="2949" y="196"/>
                <a:chExt cx="941" cy="598"/>
              </a:xfrm>
            </p:grpSpPr>
            <p:sp>
              <p:nvSpPr>
                <p:cNvPr id="129" name="Oval 1469"/>
                <p:cNvSpPr>
                  <a:spLocks noChangeArrowheads="1"/>
                </p:cNvSpPr>
                <p:nvPr/>
              </p:nvSpPr>
              <p:spPr bwMode="auto">
                <a:xfrm>
                  <a:off x="3168" y="196"/>
                  <a:ext cx="407" cy="162"/>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30" name="Oval 1470"/>
                <p:cNvSpPr>
                  <a:spLocks noChangeArrowheads="1"/>
                </p:cNvSpPr>
                <p:nvPr/>
              </p:nvSpPr>
              <p:spPr bwMode="auto">
                <a:xfrm rot="900000">
                  <a:off x="3512" y="252"/>
                  <a:ext cx="275" cy="131"/>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31" name="Oval 1471"/>
                <p:cNvSpPr>
                  <a:spLocks noChangeArrowheads="1"/>
                </p:cNvSpPr>
                <p:nvPr/>
              </p:nvSpPr>
              <p:spPr bwMode="auto">
                <a:xfrm rot="1500000">
                  <a:off x="3650" y="385"/>
                  <a:ext cx="240" cy="153"/>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32" name="Oval 1472"/>
                <p:cNvSpPr>
                  <a:spLocks noChangeArrowheads="1"/>
                </p:cNvSpPr>
                <p:nvPr/>
              </p:nvSpPr>
              <p:spPr bwMode="auto">
                <a:xfrm rot="-1560000">
                  <a:off x="3573" y="537"/>
                  <a:ext cx="291" cy="18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33" name="Oval 1473"/>
                <p:cNvSpPr>
                  <a:spLocks noChangeArrowheads="1"/>
                </p:cNvSpPr>
                <p:nvPr/>
              </p:nvSpPr>
              <p:spPr bwMode="auto">
                <a:xfrm>
                  <a:off x="3216" y="555"/>
                  <a:ext cx="471" cy="23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34" name="Oval 1474"/>
                <p:cNvSpPr>
                  <a:spLocks noChangeArrowheads="1"/>
                </p:cNvSpPr>
                <p:nvPr/>
              </p:nvSpPr>
              <p:spPr bwMode="auto">
                <a:xfrm rot="1080000">
                  <a:off x="3023" y="555"/>
                  <a:ext cx="26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35" name="Oval 1475"/>
                <p:cNvSpPr>
                  <a:spLocks noChangeArrowheads="1"/>
                </p:cNvSpPr>
                <p:nvPr/>
              </p:nvSpPr>
              <p:spPr bwMode="auto">
                <a:xfrm>
                  <a:off x="2949" y="432"/>
                  <a:ext cx="217"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36" name="Oval 1476"/>
                <p:cNvSpPr>
                  <a:spLocks noChangeArrowheads="1"/>
                </p:cNvSpPr>
                <p:nvPr/>
              </p:nvSpPr>
              <p:spPr bwMode="auto">
                <a:xfrm rot="-1860000">
                  <a:off x="2984" y="310"/>
                  <a:ext cx="29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37" name="Freeform 147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8" name="Freeform 147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9" name="Freeform 147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48" name="Text Box 1524"/>
              <p:cNvSpPr txBox="1">
                <a:spLocks noChangeArrowheads="1"/>
              </p:cNvSpPr>
              <p:nvPr/>
            </p:nvSpPr>
            <p:spPr bwMode="auto">
              <a:xfrm>
                <a:off x="4619062" y="2626828"/>
                <a:ext cx="54451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400" b="1" dirty="0">
                    <a:latin typeface="Times New Roman" pitchFamily="18" charset="0"/>
                    <a:ea typeface="微软雅黑" pitchFamily="34" charset="-122"/>
                  </a:rPr>
                  <a:t>网络</a:t>
                </a:r>
              </a:p>
            </p:txBody>
          </p:sp>
          <p:sp>
            <p:nvSpPr>
              <p:cNvPr id="49" name="Line 1453"/>
              <p:cNvSpPr>
                <a:spLocks noChangeShapeType="1"/>
              </p:cNvSpPr>
              <p:nvPr/>
            </p:nvSpPr>
            <p:spPr bwMode="auto">
              <a:xfrm flipH="1">
                <a:off x="2979665" y="3235356"/>
                <a:ext cx="1153437" cy="607351"/>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grpSp>
            <p:nvGrpSpPr>
              <p:cNvPr id="50" name="Group 1356"/>
              <p:cNvGrpSpPr>
                <a:grpSpLocks/>
              </p:cNvGrpSpPr>
              <p:nvPr/>
            </p:nvGrpSpPr>
            <p:grpSpPr bwMode="auto">
              <a:xfrm rot="20527939">
                <a:off x="3139508" y="2218388"/>
                <a:ext cx="768350" cy="528637"/>
                <a:chOff x="2949" y="196"/>
                <a:chExt cx="941" cy="598"/>
              </a:xfrm>
            </p:grpSpPr>
            <p:sp>
              <p:nvSpPr>
                <p:cNvPr id="118" name="Oval 1357"/>
                <p:cNvSpPr>
                  <a:spLocks noChangeArrowheads="1"/>
                </p:cNvSpPr>
                <p:nvPr/>
              </p:nvSpPr>
              <p:spPr bwMode="auto">
                <a:xfrm>
                  <a:off x="3168" y="196"/>
                  <a:ext cx="407" cy="162"/>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19" name="Oval 1358"/>
                <p:cNvSpPr>
                  <a:spLocks noChangeArrowheads="1"/>
                </p:cNvSpPr>
                <p:nvPr/>
              </p:nvSpPr>
              <p:spPr bwMode="auto">
                <a:xfrm rot="900000">
                  <a:off x="3512" y="252"/>
                  <a:ext cx="275" cy="131"/>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20" name="Oval 1359"/>
                <p:cNvSpPr>
                  <a:spLocks noChangeArrowheads="1"/>
                </p:cNvSpPr>
                <p:nvPr/>
              </p:nvSpPr>
              <p:spPr bwMode="auto">
                <a:xfrm rot="1500000">
                  <a:off x="3650" y="385"/>
                  <a:ext cx="240" cy="153"/>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21" name="Oval 1360"/>
                <p:cNvSpPr>
                  <a:spLocks noChangeArrowheads="1"/>
                </p:cNvSpPr>
                <p:nvPr/>
              </p:nvSpPr>
              <p:spPr bwMode="auto">
                <a:xfrm rot="-1560000">
                  <a:off x="3573" y="537"/>
                  <a:ext cx="291" cy="18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22" name="Oval 1361"/>
                <p:cNvSpPr>
                  <a:spLocks noChangeArrowheads="1"/>
                </p:cNvSpPr>
                <p:nvPr/>
              </p:nvSpPr>
              <p:spPr bwMode="auto">
                <a:xfrm>
                  <a:off x="3216" y="555"/>
                  <a:ext cx="471" cy="23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23" name="Oval 1362"/>
                <p:cNvSpPr>
                  <a:spLocks noChangeArrowheads="1"/>
                </p:cNvSpPr>
                <p:nvPr/>
              </p:nvSpPr>
              <p:spPr bwMode="auto">
                <a:xfrm rot="1080000">
                  <a:off x="3023" y="555"/>
                  <a:ext cx="26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24" name="Oval 1363"/>
                <p:cNvSpPr>
                  <a:spLocks noChangeArrowheads="1"/>
                </p:cNvSpPr>
                <p:nvPr/>
              </p:nvSpPr>
              <p:spPr bwMode="auto">
                <a:xfrm>
                  <a:off x="2949" y="432"/>
                  <a:ext cx="217"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25" name="Oval 1364"/>
                <p:cNvSpPr>
                  <a:spLocks noChangeArrowheads="1"/>
                </p:cNvSpPr>
                <p:nvPr/>
              </p:nvSpPr>
              <p:spPr bwMode="auto">
                <a:xfrm rot="-1860000">
                  <a:off x="2984" y="310"/>
                  <a:ext cx="29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sz="2000" b="1">
                    <a:solidFill>
                      <a:srgbClr val="000000"/>
                    </a:solidFill>
                  </a:endParaRPr>
                </a:p>
              </p:txBody>
            </p:sp>
            <p:sp>
              <p:nvSpPr>
                <p:cNvPr id="126"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7"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8"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51" name="Text Box 1524"/>
              <p:cNvSpPr txBox="1">
                <a:spLocks noChangeArrowheads="1"/>
              </p:cNvSpPr>
              <p:nvPr/>
            </p:nvSpPr>
            <p:spPr bwMode="auto">
              <a:xfrm>
                <a:off x="3234758" y="2337450"/>
                <a:ext cx="54451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400" b="1">
                    <a:latin typeface="Times New Roman" pitchFamily="18" charset="0"/>
                    <a:ea typeface="微软雅黑" pitchFamily="34" charset="-122"/>
                  </a:rPr>
                  <a:t>网络</a:t>
                </a:r>
              </a:p>
            </p:txBody>
          </p:sp>
          <p:grpSp>
            <p:nvGrpSpPr>
              <p:cNvPr id="52" name="Group 1344"/>
              <p:cNvGrpSpPr>
                <a:grpSpLocks/>
              </p:cNvGrpSpPr>
              <p:nvPr/>
            </p:nvGrpSpPr>
            <p:grpSpPr bwMode="auto">
              <a:xfrm>
                <a:off x="5190791" y="1675914"/>
                <a:ext cx="738187" cy="617537"/>
                <a:chOff x="2949" y="196"/>
                <a:chExt cx="941" cy="598"/>
              </a:xfrm>
            </p:grpSpPr>
            <p:sp>
              <p:nvSpPr>
                <p:cNvPr id="107" name="Oval 1345"/>
                <p:cNvSpPr>
                  <a:spLocks noChangeArrowheads="1"/>
                </p:cNvSpPr>
                <p:nvPr/>
              </p:nvSpPr>
              <p:spPr bwMode="auto">
                <a:xfrm>
                  <a:off x="3168" y="196"/>
                  <a:ext cx="407" cy="162"/>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08" name="Oval 1346"/>
                <p:cNvSpPr>
                  <a:spLocks noChangeArrowheads="1"/>
                </p:cNvSpPr>
                <p:nvPr/>
              </p:nvSpPr>
              <p:spPr bwMode="auto">
                <a:xfrm rot="900000">
                  <a:off x="3512" y="252"/>
                  <a:ext cx="275" cy="131"/>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09" name="Oval 1347"/>
                <p:cNvSpPr>
                  <a:spLocks noChangeArrowheads="1"/>
                </p:cNvSpPr>
                <p:nvPr/>
              </p:nvSpPr>
              <p:spPr bwMode="auto">
                <a:xfrm rot="1500000">
                  <a:off x="3650" y="385"/>
                  <a:ext cx="240" cy="153"/>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10" name="Oval 1348"/>
                <p:cNvSpPr>
                  <a:spLocks noChangeArrowheads="1"/>
                </p:cNvSpPr>
                <p:nvPr/>
              </p:nvSpPr>
              <p:spPr bwMode="auto">
                <a:xfrm rot="-1560000">
                  <a:off x="3573" y="537"/>
                  <a:ext cx="291" cy="18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11" name="Oval 1349"/>
                <p:cNvSpPr>
                  <a:spLocks noChangeArrowheads="1"/>
                </p:cNvSpPr>
                <p:nvPr/>
              </p:nvSpPr>
              <p:spPr bwMode="auto">
                <a:xfrm>
                  <a:off x="3216" y="555"/>
                  <a:ext cx="471" cy="23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12" name="Oval 1350"/>
                <p:cNvSpPr>
                  <a:spLocks noChangeArrowheads="1"/>
                </p:cNvSpPr>
                <p:nvPr/>
              </p:nvSpPr>
              <p:spPr bwMode="auto">
                <a:xfrm rot="1080000">
                  <a:off x="3023" y="555"/>
                  <a:ext cx="26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13" name="Oval 1351"/>
                <p:cNvSpPr>
                  <a:spLocks noChangeArrowheads="1"/>
                </p:cNvSpPr>
                <p:nvPr/>
              </p:nvSpPr>
              <p:spPr bwMode="auto">
                <a:xfrm>
                  <a:off x="2949" y="432"/>
                  <a:ext cx="217"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14" name="Oval 1352"/>
                <p:cNvSpPr>
                  <a:spLocks noChangeArrowheads="1"/>
                </p:cNvSpPr>
                <p:nvPr/>
              </p:nvSpPr>
              <p:spPr bwMode="auto">
                <a:xfrm rot="-1860000">
                  <a:off x="2984" y="310"/>
                  <a:ext cx="29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15" name="Freeform 1353"/>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 name="Freeform 1354"/>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 name="Freeform 1355"/>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53" name="Text Box 1524"/>
              <p:cNvSpPr txBox="1">
                <a:spLocks noChangeArrowheads="1"/>
              </p:cNvSpPr>
              <p:nvPr/>
            </p:nvSpPr>
            <p:spPr bwMode="auto">
              <a:xfrm>
                <a:off x="5281278" y="1836251"/>
                <a:ext cx="54451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400" b="1" dirty="0">
                    <a:latin typeface="Times New Roman" pitchFamily="18" charset="0"/>
                    <a:ea typeface="微软雅黑" pitchFamily="34" charset="-122"/>
                  </a:rPr>
                  <a:t>网络</a:t>
                </a:r>
              </a:p>
            </p:txBody>
          </p:sp>
          <p:grpSp>
            <p:nvGrpSpPr>
              <p:cNvPr id="54" name="Group 1404"/>
              <p:cNvGrpSpPr>
                <a:grpSpLocks/>
              </p:cNvGrpSpPr>
              <p:nvPr/>
            </p:nvGrpSpPr>
            <p:grpSpPr bwMode="auto">
              <a:xfrm rot="20933218">
                <a:off x="5255197" y="3165217"/>
                <a:ext cx="611187" cy="523875"/>
                <a:chOff x="2949" y="196"/>
                <a:chExt cx="941" cy="598"/>
              </a:xfrm>
            </p:grpSpPr>
            <p:sp>
              <p:nvSpPr>
                <p:cNvPr id="96" name="Oval 1405"/>
                <p:cNvSpPr>
                  <a:spLocks noChangeArrowheads="1"/>
                </p:cNvSpPr>
                <p:nvPr/>
              </p:nvSpPr>
              <p:spPr bwMode="auto">
                <a:xfrm>
                  <a:off x="3168" y="196"/>
                  <a:ext cx="407" cy="162"/>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97" name="Oval 1406"/>
                <p:cNvSpPr>
                  <a:spLocks noChangeArrowheads="1"/>
                </p:cNvSpPr>
                <p:nvPr/>
              </p:nvSpPr>
              <p:spPr bwMode="auto">
                <a:xfrm rot="900000">
                  <a:off x="3512" y="252"/>
                  <a:ext cx="275" cy="131"/>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98" name="Oval 1407"/>
                <p:cNvSpPr>
                  <a:spLocks noChangeArrowheads="1"/>
                </p:cNvSpPr>
                <p:nvPr/>
              </p:nvSpPr>
              <p:spPr bwMode="auto">
                <a:xfrm rot="1500000">
                  <a:off x="3650" y="385"/>
                  <a:ext cx="240" cy="153"/>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99" name="Oval 1408"/>
                <p:cNvSpPr>
                  <a:spLocks noChangeArrowheads="1"/>
                </p:cNvSpPr>
                <p:nvPr/>
              </p:nvSpPr>
              <p:spPr bwMode="auto">
                <a:xfrm rot="-1560000">
                  <a:off x="3573" y="537"/>
                  <a:ext cx="291" cy="18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00" name="Oval 1409"/>
                <p:cNvSpPr>
                  <a:spLocks noChangeArrowheads="1"/>
                </p:cNvSpPr>
                <p:nvPr/>
              </p:nvSpPr>
              <p:spPr bwMode="auto">
                <a:xfrm>
                  <a:off x="3216" y="555"/>
                  <a:ext cx="471" cy="23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01" name="Oval 1410"/>
                <p:cNvSpPr>
                  <a:spLocks noChangeArrowheads="1"/>
                </p:cNvSpPr>
                <p:nvPr/>
              </p:nvSpPr>
              <p:spPr bwMode="auto">
                <a:xfrm rot="1080000">
                  <a:off x="3023" y="555"/>
                  <a:ext cx="26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02" name="Oval 1411"/>
                <p:cNvSpPr>
                  <a:spLocks noChangeArrowheads="1"/>
                </p:cNvSpPr>
                <p:nvPr/>
              </p:nvSpPr>
              <p:spPr bwMode="auto">
                <a:xfrm>
                  <a:off x="2949" y="432"/>
                  <a:ext cx="217"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03" name="Oval 1412"/>
                <p:cNvSpPr>
                  <a:spLocks noChangeArrowheads="1"/>
                </p:cNvSpPr>
                <p:nvPr/>
              </p:nvSpPr>
              <p:spPr bwMode="auto">
                <a:xfrm rot="-1860000">
                  <a:off x="2984" y="310"/>
                  <a:ext cx="29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04" name="Freeform 1413"/>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 name="Freeform 1414"/>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6" name="Freeform 1415"/>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55" name="Text Box 1524"/>
              <p:cNvSpPr txBox="1">
                <a:spLocks noChangeArrowheads="1"/>
              </p:cNvSpPr>
              <p:nvPr/>
            </p:nvSpPr>
            <p:spPr bwMode="auto">
              <a:xfrm>
                <a:off x="5271072" y="3254117"/>
                <a:ext cx="544512"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400" b="1" dirty="0">
                    <a:latin typeface="Times New Roman" pitchFamily="18" charset="0"/>
                    <a:ea typeface="微软雅黑" pitchFamily="34" charset="-122"/>
                  </a:rPr>
                  <a:t>网络</a:t>
                </a:r>
              </a:p>
            </p:txBody>
          </p:sp>
          <p:grpSp>
            <p:nvGrpSpPr>
              <p:cNvPr id="56" name="Group 1416"/>
              <p:cNvGrpSpPr>
                <a:grpSpLocks/>
              </p:cNvGrpSpPr>
              <p:nvPr/>
            </p:nvGrpSpPr>
            <p:grpSpPr bwMode="auto">
              <a:xfrm rot="282232">
                <a:off x="6224704" y="2566730"/>
                <a:ext cx="644525" cy="441325"/>
                <a:chOff x="2949" y="196"/>
                <a:chExt cx="941" cy="598"/>
              </a:xfrm>
            </p:grpSpPr>
            <p:sp>
              <p:nvSpPr>
                <p:cNvPr id="85" name="Oval 1417"/>
                <p:cNvSpPr>
                  <a:spLocks noChangeArrowheads="1"/>
                </p:cNvSpPr>
                <p:nvPr/>
              </p:nvSpPr>
              <p:spPr bwMode="auto">
                <a:xfrm>
                  <a:off x="3168" y="196"/>
                  <a:ext cx="407" cy="162"/>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86" name="Oval 1418"/>
                <p:cNvSpPr>
                  <a:spLocks noChangeArrowheads="1"/>
                </p:cNvSpPr>
                <p:nvPr/>
              </p:nvSpPr>
              <p:spPr bwMode="auto">
                <a:xfrm rot="900000">
                  <a:off x="3512" y="252"/>
                  <a:ext cx="275" cy="131"/>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87" name="Oval 1419"/>
                <p:cNvSpPr>
                  <a:spLocks noChangeArrowheads="1"/>
                </p:cNvSpPr>
                <p:nvPr/>
              </p:nvSpPr>
              <p:spPr bwMode="auto">
                <a:xfrm rot="1500000">
                  <a:off x="3650" y="385"/>
                  <a:ext cx="240" cy="153"/>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88" name="Oval 1420"/>
                <p:cNvSpPr>
                  <a:spLocks noChangeArrowheads="1"/>
                </p:cNvSpPr>
                <p:nvPr/>
              </p:nvSpPr>
              <p:spPr bwMode="auto">
                <a:xfrm rot="-1560000">
                  <a:off x="3573" y="537"/>
                  <a:ext cx="291" cy="18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89" name="Oval 1421"/>
                <p:cNvSpPr>
                  <a:spLocks noChangeArrowheads="1"/>
                </p:cNvSpPr>
                <p:nvPr/>
              </p:nvSpPr>
              <p:spPr bwMode="auto">
                <a:xfrm>
                  <a:off x="3216" y="555"/>
                  <a:ext cx="471" cy="23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90" name="Oval 1422"/>
                <p:cNvSpPr>
                  <a:spLocks noChangeArrowheads="1"/>
                </p:cNvSpPr>
                <p:nvPr/>
              </p:nvSpPr>
              <p:spPr bwMode="auto">
                <a:xfrm rot="1080000">
                  <a:off x="3023" y="555"/>
                  <a:ext cx="26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91" name="Oval 1423"/>
                <p:cNvSpPr>
                  <a:spLocks noChangeArrowheads="1"/>
                </p:cNvSpPr>
                <p:nvPr/>
              </p:nvSpPr>
              <p:spPr bwMode="auto">
                <a:xfrm>
                  <a:off x="2949" y="432"/>
                  <a:ext cx="217"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92" name="Oval 1424"/>
                <p:cNvSpPr>
                  <a:spLocks noChangeArrowheads="1"/>
                </p:cNvSpPr>
                <p:nvPr/>
              </p:nvSpPr>
              <p:spPr bwMode="auto">
                <a:xfrm rot="-1860000">
                  <a:off x="2984" y="310"/>
                  <a:ext cx="29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93" name="Freeform 142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 name="Freeform 142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 name="Freeform 142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57" name="Text Box 1524"/>
              <p:cNvSpPr txBox="1">
                <a:spLocks noChangeArrowheads="1"/>
              </p:cNvSpPr>
              <p:nvPr/>
            </p:nvSpPr>
            <p:spPr bwMode="auto">
              <a:xfrm>
                <a:off x="6278679" y="2620705"/>
                <a:ext cx="54451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400" b="1" dirty="0">
                    <a:latin typeface="Times New Roman" pitchFamily="18" charset="0"/>
                    <a:ea typeface="微软雅黑" pitchFamily="34" charset="-122"/>
                  </a:rPr>
                  <a:t>网络</a:t>
                </a:r>
              </a:p>
            </p:txBody>
          </p:sp>
          <p:sp>
            <p:nvSpPr>
              <p:cNvPr id="58" name="Line 1453"/>
              <p:cNvSpPr>
                <a:spLocks noChangeShapeType="1"/>
              </p:cNvSpPr>
              <p:nvPr/>
            </p:nvSpPr>
            <p:spPr bwMode="auto">
              <a:xfrm flipH="1" flipV="1">
                <a:off x="2712904" y="1571708"/>
                <a:ext cx="1472339" cy="302326"/>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grpSp>
            <p:nvGrpSpPr>
              <p:cNvPr id="59" name="Group 1320"/>
              <p:cNvGrpSpPr>
                <a:grpSpLocks/>
              </p:cNvGrpSpPr>
              <p:nvPr/>
            </p:nvGrpSpPr>
            <p:grpSpPr bwMode="auto">
              <a:xfrm>
                <a:off x="3883138" y="1675914"/>
                <a:ext cx="738187" cy="441325"/>
                <a:chOff x="2949" y="196"/>
                <a:chExt cx="941" cy="598"/>
              </a:xfrm>
            </p:grpSpPr>
            <p:sp>
              <p:nvSpPr>
                <p:cNvPr id="74" name="Oval 1321"/>
                <p:cNvSpPr>
                  <a:spLocks noChangeArrowheads="1"/>
                </p:cNvSpPr>
                <p:nvPr/>
              </p:nvSpPr>
              <p:spPr bwMode="auto">
                <a:xfrm>
                  <a:off x="3168" y="196"/>
                  <a:ext cx="407" cy="162"/>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75" name="Oval 1322"/>
                <p:cNvSpPr>
                  <a:spLocks noChangeArrowheads="1"/>
                </p:cNvSpPr>
                <p:nvPr/>
              </p:nvSpPr>
              <p:spPr bwMode="auto">
                <a:xfrm rot="900000">
                  <a:off x="3512" y="252"/>
                  <a:ext cx="275" cy="131"/>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76" name="Oval 1323"/>
                <p:cNvSpPr>
                  <a:spLocks noChangeArrowheads="1"/>
                </p:cNvSpPr>
                <p:nvPr/>
              </p:nvSpPr>
              <p:spPr bwMode="auto">
                <a:xfrm rot="1500000">
                  <a:off x="3650" y="385"/>
                  <a:ext cx="240" cy="153"/>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77" name="Oval 1324"/>
                <p:cNvSpPr>
                  <a:spLocks noChangeArrowheads="1"/>
                </p:cNvSpPr>
                <p:nvPr/>
              </p:nvSpPr>
              <p:spPr bwMode="auto">
                <a:xfrm rot="-1560000">
                  <a:off x="3573" y="537"/>
                  <a:ext cx="291" cy="18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78" name="Oval 1325"/>
                <p:cNvSpPr>
                  <a:spLocks noChangeArrowheads="1"/>
                </p:cNvSpPr>
                <p:nvPr/>
              </p:nvSpPr>
              <p:spPr bwMode="auto">
                <a:xfrm>
                  <a:off x="3216" y="555"/>
                  <a:ext cx="471" cy="23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79" name="Oval 1326"/>
                <p:cNvSpPr>
                  <a:spLocks noChangeArrowheads="1"/>
                </p:cNvSpPr>
                <p:nvPr/>
              </p:nvSpPr>
              <p:spPr bwMode="auto">
                <a:xfrm rot="1080000">
                  <a:off x="3023" y="555"/>
                  <a:ext cx="26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80" name="Oval 1327"/>
                <p:cNvSpPr>
                  <a:spLocks noChangeArrowheads="1"/>
                </p:cNvSpPr>
                <p:nvPr/>
              </p:nvSpPr>
              <p:spPr bwMode="auto">
                <a:xfrm>
                  <a:off x="2949" y="432"/>
                  <a:ext cx="217"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81" name="Oval 1328"/>
                <p:cNvSpPr>
                  <a:spLocks noChangeArrowheads="1"/>
                </p:cNvSpPr>
                <p:nvPr/>
              </p:nvSpPr>
              <p:spPr bwMode="auto">
                <a:xfrm rot="-1860000">
                  <a:off x="2984" y="310"/>
                  <a:ext cx="29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82" name="Freeform 1329"/>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3" name="Freeform 1330"/>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4" name="Freeform 1331"/>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60" name="Text Box 1524"/>
              <p:cNvSpPr txBox="1">
                <a:spLocks noChangeArrowheads="1"/>
              </p:cNvSpPr>
              <p:nvPr/>
            </p:nvSpPr>
            <p:spPr bwMode="auto">
              <a:xfrm>
                <a:off x="3972038" y="1747351"/>
                <a:ext cx="544512"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400" b="1" dirty="0">
                    <a:latin typeface="Times New Roman" pitchFamily="18" charset="0"/>
                    <a:ea typeface="微软雅黑" pitchFamily="34" charset="-122"/>
                  </a:rPr>
                  <a:t>网络</a:t>
                </a:r>
              </a:p>
            </p:txBody>
          </p:sp>
          <p:grpSp>
            <p:nvGrpSpPr>
              <p:cNvPr id="61" name="Group 1428"/>
              <p:cNvGrpSpPr>
                <a:grpSpLocks/>
              </p:cNvGrpSpPr>
              <p:nvPr/>
            </p:nvGrpSpPr>
            <p:grpSpPr bwMode="auto">
              <a:xfrm rot="20745072">
                <a:off x="3800586" y="2811209"/>
                <a:ext cx="655637" cy="615950"/>
                <a:chOff x="2949" y="196"/>
                <a:chExt cx="941" cy="598"/>
              </a:xfrm>
            </p:grpSpPr>
            <p:sp>
              <p:nvSpPr>
                <p:cNvPr id="63" name="Oval 1429"/>
                <p:cNvSpPr>
                  <a:spLocks noChangeArrowheads="1"/>
                </p:cNvSpPr>
                <p:nvPr/>
              </p:nvSpPr>
              <p:spPr bwMode="auto">
                <a:xfrm>
                  <a:off x="3168" y="196"/>
                  <a:ext cx="407" cy="162"/>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64" name="Oval 1430"/>
                <p:cNvSpPr>
                  <a:spLocks noChangeArrowheads="1"/>
                </p:cNvSpPr>
                <p:nvPr/>
              </p:nvSpPr>
              <p:spPr bwMode="auto">
                <a:xfrm rot="900000">
                  <a:off x="3512" y="252"/>
                  <a:ext cx="275" cy="131"/>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65" name="Oval 1431"/>
                <p:cNvSpPr>
                  <a:spLocks noChangeArrowheads="1"/>
                </p:cNvSpPr>
                <p:nvPr/>
              </p:nvSpPr>
              <p:spPr bwMode="auto">
                <a:xfrm rot="1500000">
                  <a:off x="3650" y="385"/>
                  <a:ext cx="240" cy="153"/>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66" name="Oval 1432"/>
                <p:cNvSpPr>
                  <a:spLocks noChangeArrowheads="1"/>
                </p:cNvSpPr>
                <p:nvPr/>
              </p:nvSpPr>
              <p:spPr bwMode="auto">
                <a:xfrm rot="-1560000">
                  <a:off x="3573" y="537"/>
                  <a:ext cx="291" cy="18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67" name="Oval 1433"/>
                <p:cNvSpPr>
                  <a:spLocks noChangeArrowheads="1"/>
                </p:cNvSpPr>
                <p:nvPr/>
              </p:nvSpPr>
              <p:spPr bwMode="auto">
                <a:xfrm>
                  <a:off x="3216" y="555"/>
                  <a:ext cx="471" cy="23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68" name="Oval 1434"/>
                <p:cNvSpPr>
                  <a:spLocks noChangeArrowheads="1"/>
                </p:cNvSpPr>
                <p:nvPr/>
              </p:nvSpPr>
              <p:spPr bwMode="auto">
                <a:xfrm rot="1080000">
                  <a:off x="3023" y="555"/>
                  <a:ext cx="26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69" name="Oval 1435"/>
                <p:cNvSpPr>
                  <a:spLocks noChangeArrowheads="1"/>
                </p:cNvSpPr>
                <p:nvPr/>
              </p:nvSpPr>
              <p:spPr bwMode="auto">
                <a:xfrm>
                  <a:off x="2949" y="432"/>
                  <a:ext cx="217"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70" name="Oval 1436"/>
                <p:cNvSpPr>
                  <a:spLocks noChangeArrowheads="1"/>
                </p:cNvSpPr>
                <p:nvPr/>
              </p:nvSpPr>
              <p:spPr bwMode="auto">
                <a:xfrm rot="-1860000">
                  <a:off x="2984" y="310"/>
                  <a:ext cx="29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sz="2000" b="1">
                    <a:solidFill>
                      <a:srgbClr val="000000"/>
                    </a:solidFill>
                  </a:endParaRPr>
                </a:p>
              </p:txBody>
            </p:sp>
            <p:sp>
              <p:nvSpPr>
                <p:cNvPr id="71" name="Freeform 143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72" name="Freeform 143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73" name="Freeform 143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62" name="Text Box 1524"/>
              <p:cNvSpPr txBox="1">
                <a:spLocks noChangeArrowheads="1"/>
              </p:cNvSpPr>
              <p:nvPr/>
            </p:nvSpPr>
            <p:spPr bwMode="auto">
              <a:xfrm>
                <a:off x="3848211" y="2969959"/>
                <a:ext cx="544512"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400" b="1" dirty="0">
                    <a:latin typeface="Times New Roman" pitchFamily="18" charset="0"/>
                    <a:ea typeface="微软雅黑" pitchFamily="34" charset="-122"/>
                  </a:rPr>
                  <a:t>网络</a:t>
                </a:r>
              </a:p>
            </p:txBody>
          </p:sp>
        </p:grpSp>
        <p:sp>
          <p:nvSpPr>
            <p:cNvPr id="140" name="Text Box 1524"/>
            <p:cNvSpPr txBox="1">
              <a:spLocks noChangeArrowheads="1"/>
            </p:cNvSpPr>
            <p:nvPr/>
          </p:nvSpPr>
          <p:spPr bwMode="auto">
            <a:xfrm>
              <a:off x="5949640" y="3935271"/>
              <a:ext cx="7232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r>
                <a:rPr kumimoji="1" lang="zh-CN" altLang="en-US" sz="1400" b="1" dirty="0">
                  <a:solidFill>
                    <a:srgbClr val="0000FF"/>
                  </a:solidFill>
                  <a:latin typeface="Times New Roman" pitchFamily="18" charset="0"/>
                  <a:ea typeface="微软雅黑" pitchFamily="34" charset="-122"/>
                </a:rPr>
                <a:t>路由器</a:t>
              </a:r>
            </a:p>
          </p:txBody>
        </p:sp>
        <p:grpSp>
          <p:nvGrpSpPr>
            <p:cNvPr id="141" name="Group 198"/>
            <p:cNvGrpSpPr>
              <a:grpSpLocks/>
            </p:cNvGrpSpPr>
            <p:nvPr/>
          </p:nvGrpSpPr>
          <p:grpSpPr bwMode="auto">
            <a:xfrm>
              <a:off x="2307462" y="3617758"/>
              <a:ext cx="533522" cy="534452"/>
              <a:chOff x="975" y="2584"/>
              <a:chExt cx="407" cy="438"/>
            </a:xfrm>
          </p:grpSpPr>
          <p:sp>
            <p:nvSpPr>
              <p:cNvPr id="142"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43"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198"/>
            <p:cNvGrpSpPr>
              <a:grpSpLocks/>
            </p:cNvGrpSpPr>
            <p:nvPr/>
          </p:nvGrpSpPr>
          <p:grpSpPr bwMode="auto">
            <a:xfrm>
              <a:off x="1680487" y="2320662"/>
              <a:ext cx="533522" cy="534452"/>
              <a:chOff x="975" y="2584"/>
              <a:chExt cx="407" cy="438"/>
            </a:xfrm>
          </p:grpSpPr>
          <p:sp>
            <p:nvSpPr>
              <p:cNvPr id="145"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46"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7" name="Group 198"/>
            <p:cNvGrpSpPr>
              <a:grpSpLocks/>
            </p:cNvGrpSpPr>
            <p:nvPr/>
          </p:nvGrpSpPr>
          <p:grpSpPr bwMode="auto">
            <a:xfrm>
              <a:off x="6912001" y="1371248"/>
              <a:ext cx="533522" cy="534452"/>
              <a:chOff x="975" y="2584"/>
              <a:chExt cx="407" cy="438"/>
            </a:xfrm>
          </p:grpSpPr>
          <p:sp>
            <p:nvSpPr>
              <p:cNvPr id="148"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49"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3" name="Group 198"/>
            <p:cNvGrpSpPr>
              <a:grpSpLocks/>
            </p:cNvGrpSpPr>
            <p:nvPr/>
          </p:nvGrpSpPr>
          <p:grpSpPr bwMode="auto">
            <a:xfrm>
              <a:off x="7088549" y="3434952"/>
              <a:ext cx="533522" cy="534452"/>
              <a:chOff x="975" y="2584"/>
              <a:chExt cx="407" cy="438"/>
            </a:xfrm>
          </p:grpSpPr>
          <p:sp>
            <p:nvSpPr>
              <p:cNvPr id="154"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55"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6" name="Group 198"/>
            <p:cNvGrpSpPr>
              <a:grpSpLocks/>
            </p:cNvGrpSpPr>
            <p:nvPr/>
          </p:nvGrpSpPr>
          <p:grpSpPr bwMode="auto">
            <a:xfrm>
              <a:off x="7189138" y="2345265"/>
              <a:ext cx="533522" cy="534452"/>
              <a:chOff x="975" y="2584"/>
              <a:chExt cx="407" cy="438"/>
            </a:xfrm>
          </p:grpSpPr>
          <p:sp>
            <p:nvSpPr>
              <p:cNvPr id="157"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58"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9" name="Group 198"/>
            <p:cNvGrpSpPr>
              <a:grpSpLocks/>
            </p:cNvGrpSpPr>
            <p:nvPr/>
          </p:nvGrpSpPr>
          <p:grpSpPr bwMode="auto">
            <a:xfrm>
              <a:off x="2092388" y="1218960"/>
              <a:ext cx="533522" cy="534452"/>
              <a:chOff x="975" y="2584"/>
              <a:chExt cx="407" cy="438"/>
            </a:xfrm>
          </p:grpSpPr>
          <p:sp>
            <p:nvSpPr>
              <p:cNvPr id="160"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61"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74" name="Line 1443"/>
            <p:cNvSpPr>
              <a:spLocks noChangeShapeType="1"/>
            </p:cNvSpPr>
            <p:nvPr/>
          </p:nvSpPr>
          <p:spPr bwMode="auto">
            <a:xfrm>
              <a:off x="5829582" y="3221014"/>
              <a:ext cx="413829" cy="768898"/>
            </a:xfrm>
            <a:prstGeom prst="line">
              <a:avLst/>
            </a:prstGeom>
            <a:noFill/>
            <a:ln w="12700">
              <a:solidFill>
                <a:srgbClr val="000000"/>
              </a:solidFill>
              <a:prstDash val="sysDot"/>
              <a:round/>
              <a:headEnd type="triangle" w="med" len="med"/>
              <a:tailEnd type="none" w="med" len="me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grpSp>
    </p:spTree>
    <p:extLst>
      <p:ext uri="{BB962C8B-B14F-4D97-AF65-F5344CB8AC3E}">
        <p14:creationId xmlns:p14="http://schemas.microsoft.com/office/powerpoint/2010/main" val="116825256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 name="圆角矩形 171"/>
          <p:cNvSpPr/>
          <p:nvPr/>
        </p:nvSpPr>
        <p:spPr>
          <a:xfrm>
            <a:off x="545144" y="1091244"/>
            <a:ext cx="8053711" cy="306437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3" name="AutoShape 5"/>
          <p:cNvSpPr>
            <a:spLocks noChangeArrowheads="1"/>
          </p:cNvSpPr>
          <p:nvPr/>
        </p:nvSpPr>
        <p:spPr bwMode="auto">
          <a:xfrm>
            <a:off x="545144" y="622173"/>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74" name="Rectangle 6"/>
          <p:cNvSpPr>
            <a:spLocks noChangeArrowheads="1"/>
          </p:cNvSpPr>
          <p:nvPr/>
        </p:nvSpPr>
        <p:spPr bwMode="auto">
          <a:xfrm>
            <a:off x="3031526" y="599083"/>
            <a:ext cx="306365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互连网络与虚拟互连网络</a:t>
            </a:r>
          </a:p>
        </p:txBody>
      </p:sp>
      <p:sp>
        <p:nvSpPr>
          <p:cNvPr id="213" name="Oval 12"/>
          <p:cNvSpPr>
            <a:spLocks noChangeArrowheads="1"/>
          </p:cNvSpPr>
          <p:nvPr/>
        </p:nvSpPr>
        <p:spPr bwMode="auto">
          <a:xfrm>
            <a:off x="3494478" y="2332325"/>
            <a:ext cx="854484" cy="743231"/>
          </a:xfrm>
          <a:prstGeom prst="ellipse">
            <a:avLst/>
          </a:prstGeom>
          <a:solidFill>
            <a:srgbClr val="99FFCC"/>
          </a:solidFill>
          <a:ln w="9525">
            <a:solidFill>
              <a:srgbClr val="000000"/>
            </a:solidFill>
            <a:prstDash val="dash"/>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214" name="Oval 13"/>
          <p:cNvSpPr>
            <a:spLocks noChangeArrowheads="1"/>
          </p:cNvSpPr>
          <p:nvPr/>
        </p:nvSpPr>
        <p:spPr bwMode="auto">
          <a:xfrm>
            <a:off x="1895217" y="2094491"/>
            <a:ext cx="838379" cy="746947"/>
          </a:xfrm>
          <a:prstGeom prst="ellipse">
            <a:avLst/>
          </a:prstGeom>
          <a:solidFill>
            <a:srgbClr val="99FFCC"/>
          </a:solidFill>
          <a:ln w="9525">
            <a:solidFill>
              <a:srgbClr val="000000"/>
            </a:solidFill>
            <a:prstDash val="dash"/>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215" name="Oval 14"/>
          <p:cNvSpPr>
            <a:spLocks noChangeArrowheads="1"/>
          </p:cNvSpPr>
          <p:nvPr/>
        </p:nvSpPr>
        <p:spPr bwMode="auto">
          <a:xfrm>
            <a:off x="3360620" y="1833432"/>
            <a:ext cx="853476" cy="720005"/>
          </a:xfrm>
          <a:prstGeom prst="ellipse">
            <a:avLst/>
          </a:prstGeom>
          <a:solidFill>
            <a:srgbClr val="99FFCC"/>
          </a:solidFill>
          <a:ln w="9525">
            <a:solidFill>
              <a:srgbClr val="000000"/>
            </a:solidFill>
            <a:prstDash val="dash"/>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216" name="Oval 15"/>
          <p:cNvSpPr>
            <a:spLocks noChangeArrowheads="1"/>
          </p:cNvSpPr>
          <p:nvPr/>
        </p:nvSpPr>
        <p:spPr bwMode="auto">
          <a:xfrm>
            <a:off x="2912746" y="2474468"/>
            <a:ext cx="853476" cy="759025"/>
          </a:xfrm>
          <a:prstGeom prst="ellipse">
            <a:avLst/>
          </a:prstGeom>
          <a:solidFill>
            <a:srgbClr val="99FFCC"/>
          </a:solidFill>
          <a:ln w="9525">
            <a:solidFill>
              <a:srgbClr val="000000"/>
            </a:solidFill>
            <a:prstDash val="dash"/>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217" name="Oval 16"/>
          <p:cNvSpPr>
            <a:spLocks noChangeArrowheads="1"/>
          </p:cNvSpPr>
          <p:nvPr/>
        </p:nvSpPr>
        <p:spPr bwMode="auto">
          <a:xfrm>
            <a:off x="2179038" y="2408506"/>
            <a:ext cx="852470" cy="720004"/>
          </a:xfrm>
          <a:prstGeom prst="ellipse">
            <a:avLst/>
          </a:prstGeom>
          <a:solidFill>
            <a:srgbClr val="99FFCC"/>
          </a:solidFill>
          <a:ln w="9525">
            <a:solidFill>
              <a:srgbClr val="000000"/>
            </a:solidFill>
            <a:prstDash val="dash"/>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218" name="Oval 17"/>
          <p:cNvSpPr>
            <a:spLocks noChangeArrowheads="1"/>
          </p:cNvSpPr>
          <p:nvPr/>
        </p:nvSpPr>
        <p:spPr bwMode="auto">
          <a:xfrm>
            <a:off x="2837262" y="1729380"/>
            <a:ext cx="838379" cy="745089"/>
          </a:xfrm>
          <a:prstGeom prst="ellipse">
            <a:avLst/>
          </a:prstGeom>
          <a:solidFill>
            <a:srgbClr val="99FFCC"/>
          </a:solidFill>
          <a:ln w="9525">
            <a:solidFill>
              <a:srgbClr val="000000"/>
            </a:solidFill>
            <a:prstDash val="dash"/>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219" name="Oval 18"/>
          <p:cNvSpPr>
            <a:spLocks noChangeArrowheads="1"/>
          </p:cNvSpPr>
          <p:nvPr/>
        </p:nvSpPr>
        <p:spPr bwMode="auto">
          <a:xfrm>
            <a:off x="2298806" y="1729379"/>
            <a:ext cx="838380" cy="717218"/>
          </a:xfrm>
          <a:prstGeom prst="ellipse">
            <a:avLst/>
          </a:prstGeom>
          <a:solidFill>
            <a:srgbClr val="99FFCC"/>
          </a:solidFill>
          <a:ln w="9525">
            <a:solidFill>
              <a:srgbClr val="000000"/>
            </a:solidFill>
            <a:prstDash val="dash"/>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220" name="Oval 19"/>
          <p:cNvSpPr>
            <a:spLocks noChangeArrowheads="1"/>
          </p:cNvSpPr>
          <p:nvPr/>
        </p:nvSpPr>
        <p:spPr bwMode="auto">
          <a:xfrm>
            <a:off x="2119657" y="1898465"/>
            <a:ext cx="2034053" cy="1034949"/>
          </a:xfrm>
          <a:prstGeom prst="ellipse">
            <a:avLst/>
          </a:prstGeom>
          <a:solidFill>
            <a:srgbClr val="99FFCC"/>
          </a:solidFill>
          <a:ln>
            <a:noFill/>
          </a:ln>
          <a:extLst>
            <a:ext uri="{91240B29-F687-4F45-9708-019B960494DF}">
              <a14:hiddenLine xmlns:a14="http://schemas.microsoft.com/office/drawing/2010/main" w="9525">
                <a:solidFill>
                  <a:srgbClr val="000000"/>
                </a:solidFill>
                <a:prstDash val="dash"/>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21" name="Line 20"/>
          <p:cNvSpPr>
            <a:spLocks noChangeShapeType="1"/>
          </p:cNvSpPr>
          <p:nvPr/>
        </p:nvSpPr>
        <p:spPr bwMode="auto">
          <a:xfrm flipH="1">
            <a:off x="3472337" y="1577017"/>
            <a:ext cx="32971" cy="37440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22" name="Line 21"/>
          <p:cNvSpPr>
            <a:spLocks noChangeShapeType="1"/>
          </p:cNvSpPr>
          <p:nvPr/>
        </p:nvSpPr>
        <p:spPr bwMode="auto">
          <a:xfrm>
            <a:off x="3333446" y="2526494"/>
            <a:ext cx="218402" cy="2136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23" name="Line 22"/>
          <p:cNvSpPr>
            <a:spLocks noChangeShapeType="1"/>
          </p:cNvSpPr>
          <p:nvPr/>
        </p:nvSpPr>
        <p:spPr bwMode="auto">
          <a:xfrm flipH="1" flipV="1">
            <a:off x="3943359" y="3042110"/>
            <a:ext cx="186195" cy="34467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24" name="Line 23"/>
          <p:cNvSpPr>
            <a:spLocks noChangeShapeType="1"/>
          </p:cNvSpPr>
          <p:nvPr/>
        </p:nvSpPr>
        <p:spPr bwMode="auto">
          <a:xfrm flipH="1">
            <a:off x="3746093" y="1707082"/>
            <a:ext cx="383461" cy="30193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25" name="Line 24"/>
          <p:cNvSpPr>
            <a:spLocks noChangeShapeType="1"/>
          </p:cNvSpPr>
          <p:nvPr/>
        </p:nvSpPr>
        <p:spPr bwMode="auto">
          <a:xfrm flipH="1" flipV="1">
            <a:off x="3197574" y="2640766"/>
            <a:ext cx="324080" cy="83241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26" name="Line 25"/>
          <p:cNvSpPr>
            <a:spLocks noChangeShapeType="1"/>
          </p:cNvSpPr>
          <p:nvPr/>
        </p:nvSpPr>
        <p:spPr bwMode="auto">
          <a:xfrm flipH="1" flipV="1">
            <a:off x="2694344" y="2991943"/>
            <a:ext cx="172104" cy="394841"/>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27" name="Line 26"/>
          <p:cNvSpPr>
            <a:spLocks noChangeShapeType="1"/>
          </p:cNvSpPr>
          <p:nvPr/>
        </p:nvSpPr>
        <p:spPr bwMode="auto">
          <a:xfrm flipV="1">
            <a:off x="2119657" y="3020742"/>
            <a:ext cx="332131" cy="409706"/>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28" name="Line 27"/>
          <p:cNvSpPr>
            <a:spLocks noChangeShapeType="1"/>
          </p:cNvSpPr>
          <p:nvPr/>
        </p:nvSpPr>
        <p:spPr bwMode="auto">
          <a:xfrm>
            <a:off x="2136617" y="1677450"/>
            <a:ext cx="323224" cy="195001"/>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29" name="Freeform 28"/>
          <p:cNvSpPr>
            <a:spLocks/>
          </p:cNvSpPr>
          <p:nvPr/>
        </p:nvSpPr>
        <p:spPr bwMode="auto">
          <a:xfrm>
            <a:off x="2974140" y="1823213"/>
            <a:ext cx="110710" cy="101265"/>
          </a:xfrm>
          <a:custGeom>
            <a:avLst/>
            <a:gdLst>
              <a:gd name="T0" fmla="*/ 0 w 112"/>
              <a:gd name="T1" fmla="*/ 6 h 113"/>
              <a:gd name="T2" fmla="*/ 48 w 112"/>
              <a:gd name="T3" fmla="*/ 22 h 113"/>
              <a:gd name="T4" fmla="*/ 24 w 112"/>
              <a:gd name="T5" fmla="*/ 6 h 113"/>
              <a:gd name="T6" fmla="*/ 64 w 112"/>
              <a:gd name="T7" fmla="*/ 14 h 113"/>
              <a:gd name="T8" fmla="*/ 112 w 112"/>
              <a:gd name="T9" fmla="*/ 78 h 113"/>
              <a:gd name="T10" fmla="*/ 104 w 112"/>
              <a:gd name="T11" fmla="*/ 102 h 113"/>
              <a:gd name="T12" fmla="*/ 64 w 112"/>
              <a:gd name="T13" fmla="*/ 70 h 113"/>
              <a:gd name="T14" fmla="*/ 16 w 112"/>
              <a:gd name="T15" fmla="*/ 38 h 113"/>
              <a:gd name="T16" fmla="*/ 0 w 112"/>
              <a:gd name="T17" fmla="*/ 6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 h="113">
                <a:moveTo>
                  <a:pt x="0" y="6"/>
                </a:moveTo>
                <a:cubicBezTo>
                  <a:pt x="16" y="11"/>
                  <a:pt x="62" y="31"/>
                  <a:pt x="48" y="22"/>
                </a:cubicBezTo>
                <a:cubicBezTo>
                  <a:pt x="40" y="17"/>
                  <a:pt x="15" y="10"/>
                  <a:pt x="24" y="6"/>
                </a:cubicBezTo>
                <a:cubicBezTo>
                  <a:pt x="36" y="0"/>
                  <a:pt x="51" y="11"/>
                  <a:pt x="64" y="14"/>
                </a:cubicBezTo>
                <a:cubicBezTo>
                  <a:pt x="92" y="33"/>
                  <a:pt x="101" y="46"/>
                  <a:pt x="112" y="78"/>
                </a:cubicBezTo>
                <a:cubicBezTo>
                  <a:pt x="109" y="86"/>
                  <a:pt x="112" y="98"/>
                  <a:pt x="104" y="102"/>
                </a:cubicBezTo>
                <a:cubicBezTo>
                  <a:pt x="83" y="113"/>
                  <a:pt x="71" y="76"/>
                  <a:pt x="64" y="70"/>
                </a:cubicBezTo>
                <a:cubicBezTo>
                  <a:pt x="50" y="57"/>
                  <a:pt x="16" y="38"/>
                  <a:pt x="16" y="38"/>
                </a:cubicBezTo>
                <a:cubicBezTo>
                  <a:pt x="7" y="10"/>
                  <a:pt x="14" y="20"/>
                  <a:pt x="0" y="6"/>
                </a:cubicBezTo>
                <a:close/>
              </a:path>
            </a:pathLst>
          </a:custGeom>
          <a:solidFill>
            <a:srgbClr val="99FFCC"/>
          </a:solidFill>
          <a:ln>
            <a:noFill/>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30" name="Freeform 29"/>
          <p:cNvSpPr>
            <a:spLocks/>
          </p:cNvSpPr>
          <p:nvPr/>
        </p:nvSpPr>
        <p:spPr bwMode="auto">
          <a:xfrm>
            <a:off x="2128715" y="2598030"/>
            <a:ext cx="121781" cy="199743"/>
          </a:xfrm>
          <a:custGeom>
            <a:avLst/>
            <a:gdLst>
              <a:gd name="T0" fmla="*/ 68 w 126"/>
              <a:gd name="T1" fmla="*/ 0 h 224"/>
              <a:gd name="T2" fmla="*/ 92 w 126"/>
              <a:gd name="T3" fmla="*/ 24 h 224"/>
              <a:gd name="T4" fmla="*/ 116 w 126"/>
              <a:gd name="T5" fmla="*/ 40 h 224"/>
              <a:gd name="T6" fmla="*/ 76 w 126"/>
              <a:gd name="T7" fmla="*/ 216 h 224"/>
              <a:gd name="T8" fmla="*/ 52 w 126"/>
              <a:gd name="T9" fmla="*/ 224 h 224"/>
              <a:gd name="T10" fmla="*/ 36 w 126"/>
              <a:gd name="T11" fmla="*/ 128 h 224"/>
              <a:gd name="T12" fmla="*/ 68 w 126"/>
              <a:gd name="T13" fmla="*/ 0 h 224"/>
            </a:gdLst>
            <a:ahLst/>
            <a:cxnLst>
              <a:cxn ang="0">
                <a:pos x="T0" y="T1"/>
              </a:cxn>
              <a:cxn ang="0">
                <a:pos x="T2" y="T3"/>
              </a:cxn>
              <a:cxn ang="0">
                <a:pos x="T4" y="T5"/>
              </a:cxn>
              <a:cxn ang="0">
                <a:pos x="T6" y="T7"/>
              </a:cxn>
              <a:cxn ang="0">
                <a:pos x="T8" y="T9"/>
              </a:cxn>
              <a:cxn ang="0">
                <a:pos x="T10" y="T11"/>
              </a:cxn>
              <a:cxn ang="0">
                <a:pos x="T12" y="T13"/>
              </a:cxn>
            </a:cxnLst>
            <a:rect l="0" t="0" r="r" b="b"/>
            <a:pathLst>
              <a:path w="126" h="224">
                <a:moveTo>
                  <a:pt x="68" y="0"/>
                </a:moveTo>
                <a:cubicBezTo>
                  <a:pt x="76" y="8"/>
                  <a:pt x="83" y="17"/>
                  <a:pt x="92" y="24"/>
                </a:cubicBezTo>
                <a:cubicBezTo>
                  <a:pt x="99" y="30"/>
                  <a:pt x="114" y="31"/>
                  <a:pt x="116" y="40"/>
                </a:cubicBezTo>
                <a:cubicBezTo>
                  <a:pt x="126" y="99"/>
                  <a:pt x="94" y="162"/>
                  <a:pt x="76" y="216"/>
                </a:cubicBezTo>
                <a:cubicBezTo>
                  <a:pt x="73" y="224"/>
                  <a:pt x="60" y="221"/>
                  <a:pt x="52" y="224"/>
                </a:cubicBezTo>
                <a:cubicBezTo>
                  <a:pt x="0" y="207"/>
                  <a:pt x="22" y="170"/>
                  <a:pt x="36" y="128"/>
                </a:cubicBezTo>
                <a:cubicBezTo>
                  <a:pt x="41" y="74"/>
                  <a:pt x="32" y="36"/>
                  <a:pt x="68" y="0"/>
                </a:cubicBezTo>
                <a:close/>
              </a:path>
            </a:pathLst>
          </a:custGeom>
          <a:solidFill>
            <a:srgbClr val="99FFCC"/>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31" name="Line 30"/>
          <p:cNvSpPr>
            <a:spLocks noChangeShapeType="1"/>
          </p:cNvSpPr>
          <p:nvPr/>
        </p:nvSpPr>
        <p:spPr bwMode="auto">
          <a:xfrm>
            <a:off x="2203194" y="2396428"/>
            <a:ext cx="187201" cy="30193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32" name="Line 31"/>
          <p:cNvSpPr>
            <a:spLocks noChangeShapeType="1"/>
          </p:cNvSpPr>
          <p:nvPr/>
        </p:nvSpPr>
        <p:spPr bwMode="auto">
          <a:xfrm flipV="1">
            <a:off x="2249490" y="2094491"/>
            <a:ext cx="186194" cy="21553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33" name="Line 32"/>
          <p:cNvSpPr>
            <a:spLocks noChangeShapeType="1"/>
          </p:cNvSpPr>
          <p:nvPr/>
        </p:nvSpPr>
        <p:spPr bwMode="auto">
          <a:xfrm>
            <a:off x="2858397" y="2094491"/>
            <a:ext cx="171098" cy="288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34" name="Line 33"/>
          <p:cNvSpPr>
            <a:spLocks noChangeShapeType="1"/>
          </p:cNvSpPr>
          <p:nvPr/>
        </p:nvSpPr>
        <p:spPr bwMode="auto">
          <a:xfrm flipV="1">
            <a:off x="3162347" y="2080556"/>
            <a:ext cx="226454" cy="3623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35" name="Line 34"/>
          <p:cNvSpPr>
            <a:spLocks noChangeShapeType="1"/>
          </p:cNvSpPr>
          <p:nvPr/>
        </p:nvSpPr>
        <p:spPr bwMode="auto">
          <a:xfrm>
            <a:off x="3817552" y="2173460"/>
            <a:ext cx="140904" cy="144001"/>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36" name="Line 35"/>
          <p:cNvSpPr>
            <a:spLocks noChangeShapeType="1"/>
          </p:cNvSpPr>
          <p:nvPr/>
        </p:nvSpPr>
        <p:spPr bwMode="auto">
          <a:xfrm flipH="1">
            <a:off x="3904107" y="2432662"/>
            <a:ext cx="92594" cy="28707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37" name="Line 36"/>
          <p:cNvSpPr>
            <a:spLocks noChangeShapeType="1"/>
          </p:cNvSpPr>
          <p:nvPr/>
        </p:nvSpPr>
        <p:spPr bwMode="auto">
          <a:xfrm>
            <a:off x="3645447" y="2598030"/>
            <a:ext cx="132853" cy="115201"/>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38" name="Line 37"/>
          <p:cNvSpPr>
            <a:spLocks noChangeShapeType="1"/>
          </p:cNvSpPr>
          <p:nvPr/>
        </p:nvSpPr>
        <p:spPr bwMode="auto">
          <a:xfrm>
            <a:off x="2717493" y="2826574"/>
            <a:ext cx="234505" cy="864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39" name="Line 38"/>
          <p:cNvSpPr>
            <a:spLocks noChangeShapeType="1"/>
          </p:cNvSpPr>
          <p:nvPr/>
        </p:nvSpPr>
        <p:spPr bwMode="auto">
          <a:xfrm flipV="1">
            <a:off x="3045598" y="2719734"/>
            <a:ext cx="116749" cy="15050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40" name="Line 39"/>
          <p:cNvSpPr>
            <a:spLocks noChangeShapeType="1"/>
          </p:cNvSpPr>
          <p:nvPr/>
        </p:nvSpPr>
        <p:spPr bwMode="auto">
          <a:xfrm>
            <a:off x="3607202" y="2224557"/>
            <a:ext cx="16104" cy="26570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41" name="Line 40"/>
          <p:cNvSpPr>
            <a:spLocks noChangeShapeType="1"/>
          </p:cNvSpPr>
          <p:nvPr/>
        </p:nvSpPr>
        <p:spPr bwMode="auto">
          <a:xfrm flipH="1">
            <a:off x="2600744" y="2138156"/>
            <a:ext cx="491151" cy="58157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grpSp>
        <p:nvGrpSpPr>
          <p:cNvPr id="242" name="Group 41"/>
          <p:cNvGrpSpPr>
            <a:grpSpLocks/>
          </p:cNvGrpSpPr>
          <p:nvPr/>
        </p:nvGrpSpPr>
        <p:grpSpPr bwMode="auto">
          <a:xfrm>
            <a:off x="3333446" y="1878955"/>
            <a:ext cx="562610" cy="388338"/>
            <a:chOff x="2949" y="196"/>
            <a:chExt cx="941" cy="598"/>
          </a:xfrm>
          <a:solidFill>
            <a:schemeClr val="bg1"/>
          </a:solidFill>
        </p:grpSpPr>
        <p:sp>
          <p:nvSpPr>
            <p:cNvPr id="311" name="Oval 42"/>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12" name="Oval 43"/>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13" name="Oval 44"/>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14" name="Oval 45"/>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15" name="Oval 46"/>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16" name="Oval 47"/>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17" name="Oval 48"/>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18" name="Oval 49"/>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19" name="Freeform 50"/>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20" name="Freeform 51"/>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21" name="Freeform 52"/>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grpSp>
        <p:nvGrpSpPr>
          <p:cNvPr id="243" name="Group 53"/>
          <p:cNvGrpSpPr>
            <a:grpSpLocks/>
          </p:cNvGrpSpPr>
          <p:nvPr/>
        </p:nvGrpSpPr>
        <p:grpSpPr bwMode="auto">
          <a:xfrm>
            <a:off x="3615254" y="2655630"/>
            <a:ext cx="561604" cy="386480"/>
            <a:chOff x="2949" y="196"/>
            <a:chExt cx="941" cy="598"/>
          </a:xfrm>
          <a:solidFill>
            <a:schemeClr val="bg1"/>
          </a:solidFill>
        </p:grpSpPr>
        <p:sp>
          <p:nvSpPr>
            <p:cNvPr id="300" name="Oval 54"/>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01" name="Oval 55"/>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02" name="Oval 56"/>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03" name="Oval 57"/>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04" name="Oval 58"/>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05" name="Oval 59"/>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06" name="Oval 60"/>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07" name="Oval 61"/>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08" name="Freeform 62"/>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09" name="Freeform 63"/>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10" name="Freeform 64"/>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grpSp>
        <p:nvGrpSpPr>
          <p:cNvPr id="244" name="Group 65"/>
          <p:cNvGrpSpPr>
            <a:grpSpLocks/>
          </p:cNvGrpSpPr>
          <p:nvPr/>
        </p:nvGrpSpPr>
        <p:grpSpPr bwMode="auto">
          <a:xfrm>
            <a:off x="2819146" y="2353693"/>
            <a:ext cx="561604" cy="388338"/>
            <a:chOff x="2949" y="196"/>
            <a:chExt cx="941" cy="598"/>
          </a:xfrm>
          <a:solidFill>
            <a:schemeClr val="bg1"/>
          </a:solidFill>
        </p:grpSpPr>
        <p:sp>
          <p:nvSpPr>
            <p:cNvPr id="289" name="Oval 66"/>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90" name="Oval 67"/>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91" name="Oval 68"/>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92" name="Oval 69"/>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93" name="Oval 70"/>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94" name="Oval 71"/>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95" name="Oval 72"/>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96" name="Oval 73"/>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97" name="Freeform 7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98" name="Freeform 7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99" name="Freeform 7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grpSp>
        <p:nvGrpSpPr>
          <p:cNvPr id="245" name="Group 77"/>
          <p:cNvGrpSpPr>
            <a:grpSpLocks/>
          </p:cNvGrpSpPr>
          <p:nvPr/>
        </p:nvGrpSpPr>
        <p:grpSpPr bwMode="auto">
          <a:xfrm>
            <a:off x="2211245" y="2655630"/>
            <a:ext cx="560597" cy="386480"/>
            <a:chOff x="2949" y="196"/>
            <a:chExt cx="941" cy="598"/>
          </a:xfrm>
          <a:solidFill>
            <a:schemeClr val="bg1"/>
          </a:solidFill>
        </p:grpSpPr>
        <p:sp>
          <p:nvSpPr>
            <p:cNvPr id="278" name="Oval 78"/>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79" name="Oval 79"/>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80" name="Oval 80"/>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81" name="Oval 81"/>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82" name="Oval 82"/>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83" name="Oval 83"/>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84" name="Oval 84"/>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85" name="Oval 85"/>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86" name="Freeform 86"/>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87" name="Freeform 87"/>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88" name="Freeform 88"/>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grpSp>
        <p:nvGrpSpPr>
          <p:cNvPr id="246" name="Group 89"/>
          <p:cNvGrpSpPr>
            <a:grpSpLocks/>
          </p:cNvGrpSpPr>
          <p:nvPr/>
        </p:nvGrpSpPr>
        <p:grpSpPr bwMode="auto">
          <a:xfrm>
            <a:off x="2350136" y="1793483"/>
            <a:ext cx="562610" cy="387409"/>
            <a:chOff x="2949" y="196"/>
            <a:chExt cx="941" cy="598"/>
          </a:xfrm>
          <a:solidFill>
            <a:schemeClr val="bg1"/>
          </a:solidFill>
        </p:grpSpPr>
        <p:sp>
          <p:nvSpPr>
            <p:cNvPr id="267" name="Oval 90"/>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68" name="Oval 91"/>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69" name="Oval 92"/>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70" name="Oval 93"/>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71" name="Oval 94"/>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72" name="Oval 95"/>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73" name="Oval 96"/>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74" name="Oval 97"/>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75" name="Freeform 9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76" name="Freeform 9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77" name="Freeform 10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sp>
        <p:nvSpPr>
          <p:cNvPr id="252" name="Text Box 106"/>
          <p:cNvSpPr txBox="1">
            <a:spLocks noChangeArrowheads="1"/>
          </p:cNvSpPr>
          <p:nvPr/>
        </p:nvSpPr>
        <p:spPr bwMode="auto">
          <a:xfrm>
            <a:off x="2540878" y="3720758"/>
            <a:ext cx="120097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itchFamily="34" charset="-122"/>
                <a:ea typeface="微软雅黑" pitchFamily="34" charset="-122"/>
              </a:rPr>
              <a:t>(a) </a:t>
            </a:r>
            <a:r>
              <a:rPr kumimoji="1" lang="zh-CN" altLang="en-US" sz="1400" b="1" dirty="0">
                <a:solidFill>
                  <a:srgbClr val="0000CC"/>
                </a:solidFill>
                <a:latin typeface="微软雅黑" pitchFamily="34" charset="-122"/>
                <a:ea typeface="微软雅黑" pitchFamily="34" charset="-122"/>
              </a:rPr>
              <a:t>互连网络</a:t>
            </a:r>
          </a:p>
        </p:txBody>
      </p:sp>
      <p:pic>
        <p:nvPicPr>
          <p:cNvPr id="254" name="Picture 10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60050" y="2009020"/>
            <a:ext cx="320054" cy="1969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61" name="Picture 12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82401" y="2440094"/>
            <a:ext cx="320054" cy="1969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62" name="Picture 12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896056" y="2267293"/>
            <a:ext cx="320054" cy="1978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63" name="Picture 12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866449" y="2784767"/>
            <a:ext cx="320054" cy="1960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64" name="Picture 12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23037" y="2267293"/>
            <a:ext cx="320054" cy="1978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65" name="Text Box 126"/>
          <p:cNvSpPr txBox="1">
            <a:spLocks noChangeArrowheads="1"/>
          </p:cNvSpPr>
          <p:nvPr/>
        </p:nvSpPr>
        <p:spPr bwMode="auto">
          <a:xfrm>
            <a:off x="1048101" y="2243117"/>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路由器</a:t>
            </a:r>
          </a:p>
        </p:txBody>
      </p:sp>
      <p:sp>
        <p:nvSpPr>
          <p:cNvPr id="266" name="Line 127"/>
          <p:cNvSpPr>
            <a:spLocks noChangeShapeType="1"/>
          </p:cNvSpPr>
          <p:nvPr/>
        </p:nvSpPr>
        <p:spPr bwMode="auto">
          <a:xfrm flipV="1">
            <a:off x="1632615" y="2380635"/>
            <a:ext cx="422216" cy="981"/>
          </a:xfrm>
          <a:prstGeom prst="line">
            <a:avLst/>
          </a:prstGeom>
          <a:noFill/>
          <a:ln w="28575">
            <a:solidFill>
              <a:srgbClr val="0000FF"/>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78" name="Line 5"/>
          <p:cNvSpPr>
            <a:spLocks noChangeShapeType="1"/>
          </p:cNvSpPr>
          <p:nvPr/>
        </p:nvSpPr>
        <p:spPr bwMode="auto">
          <a:xfrm>
            <a:off x="6191966" y="1577017"/>
            <a:ext cx="47304" cy="43200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79" name="Line 6"/>
          <p:cNvSpPr>
            <a:spLocks noChangeShapeType="1"/>
          </p:cNvSpPr>
          <p:nvPr/>
        </p:nvSpPr>
        <p:spPr bwMode="auto">
          <a:xfrm flipH="1" flipV="1">
            <a:off x="5551858" y="2999375"/>
            <a:ext cx="173111" cy="394841"/>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80" name="Line 7"/>
          <p:cNvSpPr>
            <a:spLocks noChangeShapeType="1"/>
          </p:cNvSpPr>
          <p:nvPr/>
        </p:nvSpPr>
        <p:spPr bwMode="auto">
          <a:xfrm>
            <a:off x="5162359" y="1663418"/>
            <a:ext cx="280801" cy="38833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81" name="Line 8"/>
          <p:cNvSpPr>
            <a:spLocks noChangeShapeType="1"/>
          </p:cNvSpPr>
          <p:nvPr/>
        </p:nvSpPr>
        <p:spPr bwMode="auto">
          <a:xfrm flipH="1">
            <a:off x="6614678" y="1707082"/>
            <a:ext cx="373396" cy="387409"/>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82" name="Line 9"/>
          <p:cNvSpPr>
            <a:spLocks noChangeShapeType="1"/>
          </p:cNvSpPr>
          <p:nvPr/>
        </p:nvSpPr>
        <p:spPr bwMode="auto">
          <a:xfrm flipV="1">
            <a:off x="5068759" y="2955710"/>
            <a:ext cx="280802" cy="474739"/>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83" name="Line 10"/>
          <p:cNvSpPr>
            <a:spLocks noChangeShapeType="1"/>
          </p:cNvSpPr>
          <p:nvPr/>
        </p:nvSpPr>
        <p:spPr bwMode="auto">
          <a:xfrm flipH="1" flipV="1">
            <a:off x="6286572" y="2999375"/>
            <a:ext cx="93601" cy="473809"/>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84" name="Line 11"/>
          <p:cNvSpPr>
            <a:spLocks noChangeShapeType="1"/>
          </p:cNvSpPr>
          <p:nvPr/>
        </p:nvSpPr>
        <p:spPr bwMode="auto">
          <a:xfrm flipH="1" flipV="1">
            <a:off x="6754575" y="2955710"/>
            <a:ext cx="233498" cy="431074"/>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85" name="Text Box 107"/>
          <p:cNvSpPr txBox="1">
            <a:spLocks noChangeArrowheads="1"/>
          </p:cNvSpPr>
          <p:nvPr/>
        </p:nvSpPr>
        <p:spPr bwMode="auto">
          <a:xfrm>
            <a:off x="5385006" y="3720758"/>
            <a:ext cx="157607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itchFamily="34" charset="-122"/>
                <a:ea typeface="微软雅黑" pitchFamily="34" charset="-122"/>
              </a:rPr>
              <a:t>(b) </a:t>
            </a:r>
            <a:r>
              <a:rPr kumimoji="1" lang="zh-CN" altLang="en-US" sz="1400" b="1" dirty="0">
                <a:solidFill>
                  <a:srgbClr val="0000CC"/>
                </a:solidFill>
                <a:latin typeface="微软雅黑" pitchFamily="34" charset="-122"/>
                <a:ea typeface="微软雅黑" pitchFamily="34" charset="-122"/>
              </a:rPr>
              <a:t>虚拟互连网络</a:t>
            </a:r>
          </a:p>
        </p:txBody>
      </p:sp>
      <p:grpSp>
        <p:nvGrpSpPr>
          <p:cNvPr id="193" name="Group 129"/>
          <p:cNvGrpSpPr>
            <a:grpSpLocks/>
          </p:cNvGrpSpPr>
          <p:nvPr/>
        </p:nvGrpSpPr>
        <p:grpSpPr bwMode="auto">
          <a:xfrm>
            <a:off x="4894641" y="1864090"/>
            <a:ext cx="2327938" cy="1393557"/>
            <a:chOff x="3134" y="1375"/>
            <a:chExt cx="2386" cy="1553"/>
          </a:xfrm>
          <a:effectLst/>
        </p:grpSpPr>
        <p:sp>
          <p:nvSpPr>
            <p:cNvPr id="204" name="Oval 130"/>
            <p:cNvSpPr>
              <a:spLocks noChangeArrowheads="1"/>
            </p:cNvSpPr>
            <p:nvPr/>
          </p:nvSpPr>
          <p:spPr bwMode="auto">
            <a:xfrm>
              <a:off x="3959" y="1375"/>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微软雅黑" pitchFamily="34" charset="-122"/>
                <a:ea typeface="微软雅黑" pitchFamily="34" charset="-122"/>
              </a:endParaRPr>
            </a:p>
          </p:txBody>
        </p:sp>
        <p:sp>
          <p:nvSpPr>
            <p:cNvPr id="205" name="Oval 131"/>
            <p:cNvSpPr>
              <a:spLocks noChangeArrowheads="1"/>
            </p:cNvSpPr>
            <p:nvPr/>
          </p:nvSpPr>
          <p:spPr bwMode="auto">
            <a:xfrm>
              <a:off x="3380" y="1548"/>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微软雅黑" pitchFamily="34" charset="-122"/>
                <a:ea typeface="微软雅黑" pitchFamily="34" charset="-122"/>
              </a:endParaRPr>
            </a:p>
          </p:txBody>
        </p:sp>
        <p:sp>
          <p:nvSpPr>
            <p:cNvPr id="206" name="Oval 132"/>
            <p:cNvSpPr>
              <a:spLocks noChangeArrowheads="1"/>
            </p:cNvSpPr>
            <p:nvPr/>
          </p:nvSpPr>
          <p:spPr bwMode="auto">
            <a:xfrm>
              <a:off x="3134" y="1940"/>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微软雅黑" pitchFamily="34" charset="-122"/>
                <a:ea typeface="微软雅黑" pitchFamily="34" charset="-122"/>
              </a:endParaRPr>
            </a:p>
          </p:txBody>
        </p:sp>
        <p:sp>
          <p:nvSpPr>
            <p:cNvPr id="207" name="Oval 133"/>
            <p:cNvSpPr>
              <a:spLocks noChangeArrowheads="1"/>
            </p:cNvSpPr>
            <p:nvPr/>
          </p:nvSpPr>
          <p:spPr bwMode="auto">
            <a:xfrm>
              <a:off x="3293" y="2175"/>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微软雅黑" pitchFamily="34" charset="-122"/>
                <a:ea typeface="微软雅黑" pitchFamily="34" charset="-122"/>
              </a:endParaRPr>
            </a:p>
          </p:txBody>
        </p:sp>
        <p:sp>
          <p:nvSpPr>
            <p:cNvPr id="208" name="Oval 134"/>
            <p:cNvSpPr>
              <a:spLocks noChangeArrowheads="1"/>
            </p:cNvSpPr>
            <p:nvPr/>
          </p:nvSpPr>
          <p:spPr bwMode="auto">
            <a:xfrm>
              <a:off x="3872" y="2269"/>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微软雅黑" pitchFamily="34" charset="-122"/>
                <a:ea typeface="微软雅黑" pitchFamily="34" charset="-122"/>
              </a:endParaRPr>
            </a:p>
          </p:txBody>
        </p:sp>
        <p:sp>
          <p:nvSpPr>
            <p:cNvPr id="209" name="Oval 135"/>
            <p:cNvSpPr>
              <a:spLocks noChangeArrowheads="1"/>
            </p:cNvSpPr>
            <p:nvPr/>
          </p:nvSpPr>
          <p:spPr bwMode="auto">
            <a:xfrm>
              <a:off x="4653" y="1564"/>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微软雅黑" pitchFamily="34" charset="-122"/>
                <a:ea typeface="微软雅黑" pitchFamily="34" charset="-122"/>
              </a:endParaRPr>
            </a:p>
          </p:txBody>
        </p:sp>
        <p:sp>
          <p:nvSpPr>
            <p:cNvPr id="210" name="Oval 136"/>
            <p:cNvSpPr>
              <a:spLocks noChangeArrowheads="1"/>
            </p:cNvSpPr>
            <p:nvPr/>
          </p:nvSpPr>
          <p:spPr bwMode="auto">
            <a:xfrm>
              <a:off x="4768" y="1893"/>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微软雅黑" pitchFamily="34" charset="-122"/>
                <a:ea typeface="微软雅黑" pitchFamily="34" charset="-122"/>
              </a:endParaRPr>
            </a:p>
          </p:txBody>
        </p:sp>
        <p:sp>
          <p:nvSpPr>
            <p:cNvPr id="211" name="Oval 137"/>
            <p:cNvSpPr>
              <a:spLocks noChangeArrowheads="1"/>
            </p:cNvSpPr>
            <p:nvPr/>
          </p:nvSpPr>
          <p:spPr bwMode="auto">
            <a:xfrm>
              <a:off x="4696" y="2003"/>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微软雅黑" pitchFamily="34" charset="-122"/>
                <a:ea typeface="微软雅黑" pitchFamily="34" charset="-122"/>
              </a:endParaRPr>
            </a:p>
          </p:txBody>
        </p:sp>
        <p:sp>
          <p:nvSpPr>
            <p:cNvPr id="212" name="Oval 138"/>
            <p:cNvSpPr>
              <a:spLocks noChangeArrowheads="1"/>
            </p:cNvSpPr>
            <p:nvPr/>
          </p:nvSpPr>
          <p:spPr bwMode="auto">
            <a:xfrm>
              <a:off x="3568" y="1752"/>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微软雅黑" pitchFamily="34" charset="-122"/>
                <a:ea typeface="微软雅黑" pitchFamily="34" charset="-122"/>
              </a:endParaRPr>
            </a:p>
          </p:txBody>
        </p:sp>
      </p:grpSp>
      <p:sp>
        <p:nvSpPr>
          <p:cNvPr id="194" name="Oval 139"/>
          <p:cNvSpPr>
            <a:spLocks noChangeArrowheads="1"/>
          </p:cNvSpPr>
          <p:nvPr/>
        </p:nvSpPr>
        <p:spPr bwMode="auto">
          <a:xfrm>
            <a:off x="5685717" y="1836220"/>
            <a:ext cx="1001425" cy="562997"/>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95" name="Oval 140"/>
          <p:cNvSpPr>
            <a:spLocks noChangeArrowheads="1"/>
          </p:cNvSpPr>
          <p:nvPr/>
        </p:nvSpPr>
        <p:spPr bwMode="auto">
          <a:xfrm>
            <a:off x="5121094" y="1992298"/>
            <a:ext cx="762895" cy="562068"/>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96" name="Oval 141"/>
          <p:cNvSpPr>
            <a:spLocks noChangeArrowheads="1"/>
          </p:cNvSpPr>
          <p:nvPr/>
        </p:nvSpPr>
        <p:spPr bwMode="auto">
          <a:xfrm>
            <a:off x="4881557" y="2342545"/>
            <a:ext cx="507255" cy="450584"/>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97" name="Oval 142"/>
          <p:cNvSpPr>
            <a:spLocks noChangeArrowheads="1"/>
          </p:cNvSpPr>
          <p:nvPr/>
        </p:nvSpPr>
        <p:spPr bwMode="auto">
          <a:xfrm>
            <a:off x="5036552" y="2554366"/>
            <a:ext cx="774973" cy="492390"/>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98" name="Oval 143"/>
          <p:cNvSpPr>
            <a:spLocks noChangeArrowheads="1"/>
          </p:cNvSpPr>
          <p:nvPr/>
        </p:nvSpPr>
        <p:spPr bwMode="auto">
          <a:xfrm>
            <a:off x="5600168" y="2638909"/>
            <a:ext cx="1170511" cy="591797"/>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99" name="Oval 144"/>
          <p:cNvSpPr>
            <a:spLocks noChangeArrowheads="1"/>
          </p:cNvSpPr>
          <p:nvPr/>
        </p:nvSpPr>
        <p:spPr bwMode="auto">
          <a:xfrm>
            <a:off x="6363063" y="2005305"/>
            <a:ext cx="732701" cy="435719"/>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00" name="Oval 145"/>
          <p:cNvSpPr>
            <a:spLocks noChangeArrowheads="1"/>
          </p:cNvSpPr>
          <p:nvPr/>
        </p:nvSpPr>
        <p:spPr bwMode="auto">
          <a:xfrm>
            <a:off x="6475787" y="2300738"/>
            <a:ext cx="732701" cy="437577"/>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01" name="Oval 146"/>
          <p:cNvSpPr>
            <a:spLocks noChangeArrowheads="1"/>
          </p:cNvSpPr>
          <p:nvPr/>
        </p:nvSpPr>
        <p:spPr bwMode="auto">
          <a:xfrm>
            <a:off x="6404328" y="2399217"/>
            <a:ext cx="733708" cy="733011"/>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02" name="Oval 147"/>
          <p:cNvSpPr>
            <a:spLocks noChangeArrowheads="1"/>
          </p:cNvSpPr>
          <p:nvPr/>
        </p:nvSpPr>
        <p:spPr bwMode="auto">
          <a:xfrm>
            <a:off x="5305276" y="2173460"/>
            <a:ext cx="1508680" cy="732082"/>
          </a:xfrm>
          <a:prstGeom prst="ellipse">
            <a:avLst/>
          </a:prstGeom>
          <a:solidFill>
            <a:srgbClr val="00FFFF"/>
          </a:solidFill>
          <a:ln>
            <a:noFill/>
          </a:ln>
        </p:spPr>
        <p:txBody>
          <a:bodyPr/>
          <a:lstStyle/>
          <a:p>
            <a:endParaRPr lang="zh-CN" altLang="en-US" sz="1400" b="1">
              <a:solidFill>
                <a:srgbClr val="000099"/>
              </a:solidFill>
              <a:latin typeface="微软雅黑" pitchFamily="34" charset="-122"/>
              <a:ea typeface="微软雅黑" pitchFamily="34" charset="-122"/>
            </a:endParaRPr>
          </a:p>
        </p:txBody>
      </p:sp>
      <p:sp>
        <p:nvSpPr>
          <p:cNvPr id="203" name="Text Box 148"/>
          <p:cNvSpPr txBox="1">
            <a:spLocks noChangeArrowheads="1"/>
          </p:cNvSpPr>
          <p:nvPr/>
        </p:nvSpPr>
        <p:spPr bwMode="auto">
          <a:xfrm>
            <a:off x="5521479" y="2343453"/>
            <a:ext cx="120097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dirty="0">
                <a:latin typeface="微软雅黑" pitchFamily="34" charset="-122"/>
                <a:ea typeface="微软雅黑" pitchFamily="34" charset="-122"/>
              </a:rPr>
              <a:t>  </a:t>
            </a:r>
            <a:r>
              <a:rPr kumimoji="1" lang="zh-CN" altLang="en-US" sz="1200" b="1" dirty="0">
                <a:latin typeface="微软雅黑" pitchFamily="34" charset="-122"/>
                <a:ea typeface="微软雅黑" pitchFamily="34" charset="-122"/>
              </a:rPr>
              <a:t>虚拟互连网络</a:t>
            </a:r>
          </a:p>
          <a:p>
            <a:pPr algn="ctr"/>
            <a:r>
              <a:rPr kumimoji="1" lang="zh-CN" altLang="en-US" sz="1200" b="1" dirty="0">
                <a:latin typeface="微软雅黑" pitchFamily="34" charset="-122"/>
                <a:ea typeface="微软雅黑" pitchFamily="34" charset="-122"/>
              </a:rPr>
              <a:t>（互联网）</a:t>
            </a:r>
          </a:p>
        </p:txBody>
      </p:sp>
      <p:sp>
        <p:nvSpPr>
          <p:cNvPr id="322" name="矩形 321"/>
          <p:cNvSpPr/>
          <p:nvPr/>
        </p:nvSpPr>
        <p:spPr>
          <a:xfrm>
            <a:off x="3169087" y="4148056"/>
            <a:ext cx="2805823" cy="338554"/>
          </a:xfrm>
          <a:prstGeom prst="rect">
            <a:avLst/>
          </a:prstGeom>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en-US" altLang="zh-CN" sz="1600" b="1" dirty="0">
                <a:latin typeface="微软雅黑" pitchFamily="34" charset="-122"/>
                <a:ea typeface="微软雅黑" pitchFamily="34" charset="-122"/>
              </a:rPr>
              <a:t>IP </a:t>
            </a:r>
            <a:r>
              <a:rPr kumimoji="1" lang="zh-CN" altLang="zh-CN" sz="1600" b="1" dirty="0">
                <a:latin typeface="微软雅黑" pitchFamily="34" charset="-122"/>
                <a:ea typeface="微软雅黑" pitchFamily="34" charset="-122"/>
              </a:rPr>
              <a:t>网的概念</a:t>
            </a:r>
            <a:endParaRPr kumimoji="1" lang="zh-CN" altLang="en-US" sz="1600" b="1" dirty="0">
              <a:latin typeface="微软雅黑" pitchFamily="34" charset="-122"/>
              <a:ea typeface="微软雅黑" pitchFamily="34" charset="-122"/>
            </a:endParaRPr>
          </a:p>
        </p:txBody>
      </p:sp>
      <p:sp>
        <p:nvSpPr>
          <p:cNvPr id="323" name="Text Box 101"/>
          <p:cNvSpPr txBox="1">
            <a:spLocks noChangeArrowheads="1"/>
          </p:cNvSpPr>
          <p:nvPr/>
        </p:nvSpPr>
        <p:spPr bwMode="auto">
          <a:xfrm>
            <a:off x="3669601" y="2714398"/>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solidFill>
                  <a:srgbClr val="0000FF"/>
                </a:solidFill>
                <a:latin typeface="微软雅黑" pitchFamily="34" charset="-122"/>
                <a:ea typeface="微软雅黑" pitchFamily="34" charset="-122"/>
              </a:rPr>
              <a:t>网络</a:t>
            </a:r>
          </a:p>
        </p:txBody>
      </p:sp>
      <p:sp>
        <p:nvSpPr>
          <p:cNvPr id="324" name="Text Box 102"/>
          <p:cNvSpPr txBox="1">
            <a:spLocks noChangeArrowheads="1"/>
          </p:cNvSpPr>
          <p:nvPr/>
        </p:nvSpPr>
        <p:spPr bwMode="auto">
          <a:xfrm>
            <a:off x="2855379" y="2428254"/>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solidFill>
                  <a:srgbClr val="0000FF"/>
                </a:solidFill>
                <a:latin typeface="微软雅黑" pitchFamily="34" charset="-122"/>
                <a:ea typeface="微软雅黑" pitchFamily="34" charset="-122"/>
              </a:rPr>
              <a:t>网络</a:t>
            </a:r>
          </a:p>
        </p:txBody>
      </p:sp>
      <p:sp>
        <p:nvSpPr>
          <p:cNvPr id="325" name="Text Box 103"/>
          <p:cNvSpPr txBox="1">
            <a:spLocks noChangeArrowheads="1"/>
          </p:cNvSpPr>
          <p:nvPr/>
        </p:nvSpPr>
        <p:spPr bwMode="auto">
          <a:xfrm>
            <a:off x="2264587" y="2722759"/>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solidFill>
                  <a:srgbClr val="0000FF"/>
                </a:solidFill>
                <a:latin typeface="微软雅黑" pitchFamily="34" charset="-122"/>
                <a:ea typeface="微软雅黑" pitchFamily="34" charset="-122"/>
              </a:rPr>
              <a:t>网络</a:t>
            </a:r>
          </a:p>
        </p:txBody>
      </p:sp>
      <p:sp>
        <p:nvSpPr>
          <p:cNvPr id="326" name="Text Box 104"/>
          <p:cNvSpPr txBox="1">
            <a:spLocks noChangeArrowheads="1"/>
          </p:cNvSpPr>
          <p:nvPr/>
        </p:nvSpPr>
        <p:spPr bwMode="auto">
          <a:xfrm>
            <a:off x="3378738" y="1947941"/>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solidFill>
                  <a:srgbClr val="0000FF"/>
                </a:solidFill>
                <a:latin typeface="微软雅黑" pitchFamily="34" charset="-122"/>
                <a:ea typeface="微软雅黑" pitchFamily="34" charset="-122"/>
              </a:rPr>
              <a:t>网络</a:t>
            </a:r>
          </a:p>
        </p:txBody>
      </p:sp>
      <p:sp>
        <p:nvSpPr>
          <p:cNvPr id="327" name="Text Box 105"/>
          <p:cNvSpPr txBox="1">
            <a:spLocks noChangeArrowheads="1"/>
          </p:cNvSpPr>
          <p:nvPr/>
        </p:nvSpPr>
        <p:spPr bwMode="auto">
          <a:xfrm>
            <a:off x="2391401" y="1842960"/>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FF"/>
                </a:solidFill>
                <a:latin typeface="微软雅黑" pitchFamily="34" charset="-122"/>
                <a:ea typeface="微软雅黑" pitchFamily="34" charset="-122"/>
              </a:rPr>
              <a:t>网络</a:t>
            </a:r>
          </a:p>
        </p:txBody>
      </p:sp>
      <p:pic>
        <p:nvPicPr>
          <p:cNvPr id="328"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947485" y="1472944"/>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29"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303015" y="126953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30"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023095" y="1485555"/>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31"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023095" y="3285755"/>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32"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303015" y="3285755"/>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33"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654943" y="3285755"/>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34"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889628" y="3285755"/>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35"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59199" y="1531652"/>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36"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994470" y="1287637"/>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37"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903415" y="1531652"/>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38"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903415" y="3285755"/>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39"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183335" y="3285755"/>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40"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535263" y="3285755"/>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41"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887191" y="3285755"/>
            <a:ext cx="404587" cy="404587"/>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3380238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2011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810146" y="586904"/>
            <a:ext cx="154241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网的意义</a:t>
            </a:r>
          </a:p>
        </p:txBody>
      </p:sp>
      <p:sp>
        <p:nvSpPr>
          <p:cNvPr id="7" name="Rectangle 68"/>
          <p:cNvSpPr>
            <a:spLocks noChangeArrowheads="1"/>
          </p:cNvSpPr>
          <p:nvPr/>
        </p:nvSpPr>
        <p:spPr bwMode="auto">
          <a:xfrm>
            <a:off x="556963" y="978646"/>
            <a:ext cx="8184960"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当互联网上的主机进行通信时，就好像在一个网络上通信一样，看不见互连的各具体的网络异构细节。</a:t>
            </a:r>
          </a:p>
          <a:p>
            <a:pPr marL="268288" indent="-268288">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如果在这种覆盖全球的 </a:t>
            </a:r>
            <a:r>
              <a:rPr lang="en-US" altLang="zh-CN" sz="2000" b="1" dirty="0">
                <a:solidFill>
                  <a:srgbClr val="0000FF"/>
                </a:solidFill>
                <a:latin typeface="微软雅黑" pitchFamily="34" charset="-122"/>
                <a:ea typeface="微软雅黑" pitchFamily="34" charset="-122"/>
              </a:rPr>
              <a:t>IP </a:t>
            </a:r>
            <a:r>
              <a:rPr lang="zh-CN" altLang="en-US" sz="2000" b="1" dirty="0">
                <a:solidFill>
                  <a:srgbClr val="0000FF"/>
                </a:solidFill>
                <a:latin typeface="微软雅黑" pitchFamily="34" charset="-122"/>
                <a:ea typeface="微软雅黑" pitchFamily="34" charset="-122"/>
              </a:rPr>
              <a:t>网的上层使用 </a:t>
            </a:r>
            <a:r>
              <a:rPr lang="en-US" altLang="zh-CN" sz="2000" b="1" dirty="0">
                <a:solidFill>
                  <a:srgbClr val="0000FF"/>
                </a:solidFill>
                <a:latin typeface="微软雅黑" pitchFamily="34" charset="-122"/>
                <a:ea typeface="微软雅黑" pitchFamily="34" charset="-122"/>
              </a:rPr>
              <a:t>TCP </a:t>
            </a:r>
            <a:r>
              <a:rPr lang="zh-CN" altLang="en-US" sz="2000" b="1" dirty="0">
                <a:solidFill>
                  <a:srgbClr val="0000FF"/>
                </a:solidFill>
                <a:latin typeface="微软雅黑" pitchFamily="34" charset="-122"/>
                <a:ea typeface="微软雅黑" pitchFamily="34" charset="-122"/>
              </a:rPr>
              <a:t>协议，那么就是现在的</a:t>
            </a:r>
            <a:r>
              <a:rPr lang="zh-CN" altLang="en-US" sz="2000" b="1" dirty="0">
                <a:solidFill>
                  <a:srgbClr val="C00000"/>
                </a:solidFill>
                <a:latin typeface="微软雅黑" pitchFamily="34" charset="-122"/>
                <a:ea typeface="微软雅黑" pitchFamily="34" charset="-122"/>
              </a:rPr>
              <a:t>互联网 </a:t>
            </a:r>
            <a:r>
              <a:rPr lang="en-US" altLang="zh-CN" sz="2000" b="1" dirty="0">
                <a:solidFill>
                  <a:srgbClr val="0000FF"/>
                </a:solidFill>
                <a:latin typeface="微软雅黑" pitchFamily="34" charset="-122"/>
                <a:ea typeface="微软雅黑" pitchFamily="34" charset="-122"/>
              </a:rPr>
              <a:t>(Internet)</a:t>
            </a:r>
            <a:r>
              <a:rPr lang="zh-CN" altLang="en-US" sz="2000" b="1" dirty="0">
                <a:latin typeface="微软雅黑" pitchFamily="34" charset="-122"/>
                <a:ea typeface="微软雅黑" pitchFamily="34" charset="-122"/>
              </a:rPr>
              <a:t>。</a:t>
            </a:r>
          </a:p>
        </p:txBody>
      </p:sp>
    </p:spTree>
    <p:extLst>
      <p:ext uri="{BB962C8B-B14F-4D97-AF65-F5344CB8AC3E}">
        <p14:creationId xmlns:p14="http://schemas.microsoft.com/office/powerpoint/2010/main" val="378093149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 name="圆角矩形 110"/>
          <p:cNvSpPr/>
          <p:nvPr/>
        </p:nvSpPr>
        <p:spPr>
          <a:xfrm>
            <a:off x="545144" y="588475"/>
            <a:ext cx="8053712" cy="384550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3" name="Rectangle 2"/>
          <p:cNvSpPr>
            <a:spLocks noChangeArrowheads="1"/>
          </p:cNvSpPr>
          <p:nvPr/>
        </p:nvSpPr>
        <p:spPr bwMode="auto">
          <a:xfrm>
            <a:off x="2468225" y="787845"/>
            <a:ext cx="387036" cy="734697"/>
          </a:xfrm>
          <a:prstGeom prst="rect">
            <a:avLst/>
          </a:prstGeom>
          <a:solidFill>
            <a:srgbClr val="00FF99"/>
          </a:solidFill>
          <a:ln w="9525">
            <a:solidFill>
              <a:srgbClr val="000000"/>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14" name="Rectangle 3"/>
          <p:cNvSpPr>
            <a:spLocks noChangeArrowheads="1"/>
          </p:cNvSpPr>
          <p:nvPr/>
        </p:nvSpPr>
        <p:spPr bwMode="auto">
          <a:xfrm>
            <a:off x="2473987" y="1084605"/>
            <a:ext cx="377432" cy="155583"/>
          </a:xfrm>
          <a:prstGeom prst="rect">
            <a:avLst/>
          </a:prstGeom>
          <a:solidFill>
            <a:srgbClr val="0000CC"/>
          </a:solidFill>
          <a:ln>
            <a:noFill/>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15" name="Text Box 4"/>
          <p:cNvSpPr txBox="1">
            <a:spLocks noChangeArrowheads="1"/>
          </p:cNvSpPr>
          <p:nvPr/>
        </p:nvSpPr>
        <p:spPr bwMode="auto">
          <a:xfrm>
            <a:off x="2539425" y="739983"/>
            <a:ext cx="255198" cy="8617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5</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4</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3</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2</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1</a:t>
            </a:r>
          </a:p>
        </p:txBody>
      </p:sp>
      <p:sp>
        <p:nvSpPr>
          <p:cNvPr id="116" name="Line 5"/>
          <p:cNvSpPr>
            <a:spLocks noChangeShapeType="1"/>
          </p:cNvSpPr>
          <p:nvPr/>
        </p:nvSpPr>
        <p:spPr bwMode="auto">
          <a:xfrm>
            <a:off x="2468225" y="944388"/>
            <a:ext cx="387036"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17" name="Line 6"/>
          <p:cNvSpPr>
            <a:spLocks noChangeShapeType="1"/>
          </p:cNvSpPr>
          <p:nvPr/>
        </p:nvSpPr>
        <p:spPr bwMode="auto">
          <a:xfrm>
            <a:off x="2468225" y="1089407"/>
            <a:ext cx="387036"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18" name="Line 7"/>
          <p:cNvSpPr>
            <a:spLocks noChangeShapeType="1"/>
          </p:cNvSpPr>
          <p:nvPr/>
        </p:nvSpPr>
        <p:spPr bwMode="auto">
          <a:xfrm>
            <a:off x="2468225" y="1234425"/>
            <a:ext cx="387036"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19" name="Line 8"/>
          <p:cNvSpPr>
            <a:spLocks noChangeShapeType="1"/>
          </p:cNvSpPr>
          <p:nvPr/>
        </p:nvSpPr>
        <p:spPr bwMode="auto">
          <a:xfrm>
            <a:off x="2468225" y="1380404"/>
            <a:ext cx="387036"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20" name="Freeform 9"/>
          <p:cNvSpPr>
            <a:spLocks/>
          </p:cNvSpPr>
          <p:nvPr/>
        </p:nvSpPr>
        <p:spPr bwMode="auto">
          <a:xfrm>
            <a:off x="6854320" y="1844273"/>
            <a:ext cx="189197" cy="1089081"/>
          </a:xfrm>
          <a:custGeom>
            <a:avLst/>
            <a:gdLst>
              <a:gd name="T0" fmla="*/ 197 w 197"/>
              <a:gd name="T1" fmla="*/ 0 h 1134"/>
              <a:gd name="T2" fmla="*/ 0 w 197"/>
              <a:gd name="T3" fmla="*/ 507 h 1134"/>
              <a:gd name="T4" fmla="*/ 16 w 197"/>
              <a:gd name="T5" fmla="*/ 1134 h 1134"/>
            </a:gdLst>
            <a:ahLst/>
            <a:cxnLst>
              <a:cxn ang="0">
                <a:pos x="T0" y="T1"/>
              </a:cxn>
              <a:cxn ang="0">
                <a:pos x="T2" y="T3"/>
              </a:cxn>
              <a:cxn ang="0">
                <a:pos x="T4" y="T5"/>
              </a:cxn>
            </a:cxnLst>
            <a:rect l="0" t="0" r="r" b="b"/>
            <a:pathLst>
              <a:path w="197" h="1134">
                <a:moveTo>
                  <a:pt x="197" y="0"/>
                </a:moveTo>
                <a:lnTo>
                  <a:pt x="0" y="507"/>
                </a:lnTo>
                <a:lnTo>
                  <a:pt x="16" y="1134"/>
                </a:lnTo>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94" name="Rectangle 13"/>
          <p:cNvSpPr>
            <a:spLocks noChangeArrowheads="1"/>
          </p:cNvSpPr>
          <p:nvPr/>
        </p:nvSpPr>
        <p:spPr bwMode="auto">
          <a:xfrm>
            <a:off x="3644700" y="3494379"/>
            <a:ext cx="387037" cy="734698"/>
          </a:xfrm>
          <a:prstGeom prst="rect">
            <a:avLst/>
          </a:prstGeom>
          <a:solidFill>
            <a:srgbClr val="00FF99"/>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ts val="1150"/>
              </a:lnSpc>
              <a:spcBef>
                <a:spcPts val="0"/>
              </a:spcBef>
              <a:spcAft>
                <a:spcPts val="0"/>
              </a:spcAft>
              <a:buClrTx/>
              <a:buSzTx/>
              <a:buFontTx/>
              <a:buNone/>
              <a:tabLst/>
              <a:defRPr/>
            </a:pPr>
            <a:endParaRPr kumimoji="0" lang="zh-CN" altLang="en-US" sz="900" b="1" i="0" u="none" strike="noStrike" kern="0" cap="none" spc="0" normalizeH="0" baseline="0" noProof="0">
              <a:ln>
                <a:noFill/>
              </a:ln>
              <a:effectLst/>
              <a:uLnTx/>
              <a:uFillTx/>
              <a:latin typeface="微软雅黑" pitchFamily="34" charset="-122"/>
              <a:ea typeface="微软雅黑" pitchFamily="34" charset="-122"/>
            </a:endParaRPr>
          </a:p>
        </p:txBody>
      </p:sp>
      <p:sp>
        <p:nvSpPr>
          <p:cNvPr id="392" name="Rectangle 11"/>
          <p:cNvSpPr>
            <a:spLocks noChangeArrowheads="1"/>
          </p:cNvSpPr>
          <p:nvPr/>
        </p:nvSpPr>
        <p:spPr bwMode="auto">
          <a:xfrm>
            <a:off x="3650462" y="3791139"/>
            <a:ext cx="377433" cy="155583"/>
          </a:xfrm>
          <a:prstGeom prst="rect">
            <a:avLst/>
          </a:prstGeom>
          <a:solidFill>
            <a:srgbClr val="0000CC"/>
          </a:solidFill>
          <a:ln>
            <a:noFill/>
          </a:ln>
          <a:effectLst/>
        </p:spPr>
        <p:txBody>
          <a:bodyPr wrap="none" anchor="ctr"/>
          <a:lstStyle/>
          <a:p>
            <a:pPr marL="0" marR="0" lvl="0" indent="0" defTabSz="914400" eaLnBrk="1" fontAlgn="auto" latinLnBrk="0" hangingPunct="1">
              <a:lnSpc>
                <a:spcPts val="1150"/>
              </a:lnSpc>
              <a:spcBef>
                <a:spcPts val="0"/>
              </a:spcBef>
              <a:spcAft>
                <a:spcPts val="0"/>
              </a:spcAft>
              <a:buClrTx/>
              <a:buSzTx/>
              <a:buFontTx/>
              <a:buNone/>
              <a:tabLst/>
              <a:defRPr/>
            </a:pPr>
            <a:endParaRPr kumimoji="0" lang="zh-CN" altLang="en-US" sz="900" b="1" i="0" u="none" strike="noStrike" kern="0" cap="none" spc="0" normalizeH="0" baseline="0" noProof="0">
              <a:ln>
                <a:noFill/>
              </a:ln>
              <a:effectLst/>
              <a:uLnTx/>
              <a:uFillTx/>
              <a:latin typeface="微软雅黑" pitchFamily="34" charset="-122"/>
              <a:ea typeface="微软雅黑" pitchFamily="34" charset="-122"/>
            </a:endParaRPr>
          </a:p>
        </p:txBody>
      </p:sp>
      <p:sp>
        <p:nvSpPr>
          <p:cNvPr id="393" name="Text Box 12"/>
          <p:cNvSpPr txBox="1">
            <a:spLocks noChangeArrowheads="1"/>
          </p:cNvSpPr>
          <p:nvPr/>
        </p:nvSpPr>
        <p:spPr bwMode="auto">
          <a:xfrm>
            <a:off x="3716729" y="3465567"/>
            <a:ext cx="255464" cy="8614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5</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4</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3</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2</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1</a:t>
            </a:r>
          </a:p>
        </p:txBody>
      </p:sp>
      <p:sp>
        <p:nvSpPr>
          <p:cNvPr id="395" name="Line 14"/>
          <p:cNvSpPr>
            <a:spLocks noChangeShapeType="1"/>
          </p:cNvSpPr>
          <p:nvPr/>
        </p:nvSpPr>
        <p:spPr bwMode="auto">
          <a:xfrm>
            <a:off x="3644700" y="3650922"/>
            <a:ext cx="3870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ts val="1150"/>
              </a:lnSpc>
              <a:spcBef>
                <a:spcPts val="0"/>
              </a:spcBef>
              <a:spcAft>
                <a:spcPts val="0"/>
              </a:spcAft>
              <a:buClrTx/>
              <a:buSzTx/>
              <a:buFontTx/>
              <a:buNone/>
              <a:tabLst/>
              <a:defRPr/>
            </a:pPr>
            <a:endParaRPr kumimoji="0" lang="zh-CN" altLang="en-US" sz="900" b="1" i="0" u="none" strike="noStrike" kern="0" cap="none" spc="0" normalizeH="0" baseline="0" noProof="0">
              <a:ln>
                <a:noFill/>
              </a:ln>
              <a:effectLst/>
              <a:uLnTx/>
              <a:uFillTx/>
              <a:latin typeface="微软雅黑" pitchFamily="34" charset="-122"/>
              <a:ea typeface="微软雅黑" pitchFamily="34" charset="-122"/>
            </a:endParaRPr>
          </a:p>
        </p:txBody>
      </p:sp>
      <p:sp>
        <p:nvSpPr>
          <p:cNvPr id="396" name="Line 15"/>
          <p:cNvSpPr>
            <a:spLocks noChangeShapeType="1"/>
          </p:cNvSpPr>
          <p:nvPr/>
        </p:nvSpPr>
        <p:spPr bwMode="auto">
          <a:xfrm>
            <a:off x="3644700" y="3795941"/>
            <a:ext cx="3870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ts val="1150"/>
              </a:lnSpc>
              <a:spcBef>
                <a:spcPts val="0"/>
              </a:spcBef>
              <a:spcAft>
                <a:spcPts val="0"/>
              </a:spcAft>
              <a:buClrTx/>
              <a:buSzTx/>
              <a:buFontTx/>
              <a:buNone/>
              <a:tabLst/>
              <a:defRPr/>
            </a:pPr>
            <a:endParaRPr kumimoji="0" lang="zh-CN" altLang="en-US" sz="900" b="1" i="0" u="none" strike="noStrike" kern="0" cap="none" spc="0" normalizeH="0" baseline="0" noProof="0">
              <a:ln>
                <a:noFill/>
              </a:ln>
              <a:effectLst/>
              <a:uLnTx/>
              <a:uFillTx/>
              <a:latin typeface="微软雅黑" pitchFamily="34" charset="-122"/>
              <a:ea typeface="微软雅黑" pitchFamily="34" charset="-122"/>
            </a:endParaRPr>
          </a:p>
        </p:txBody>
      </p:sp>
      <p:sp>
        <p:nvSpPr>
          <p:cNvPr id="397" name="Line 16"/>
          <p:cNvSpPr>
            <a:spLocks noChangeShapeType="1"/>
          </p:cNvSpPr>
          <p:nvPr/>
        </p:nvSpPr>
        <p:spPr bwMode="auto">
          <a:xfrm>
            <a:off x="3644700" y="3940960"/>
            <a:ext cx="3870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ts val="1150"/>
              </a:lnSpc>
              <a:spcBef>
                <a:spcPts val="0"/>
              </a:spcBef>
              <a:spcAft>
                <a:spcPts val="0"/>
              </a:spcAft>
              <a:buClrTx/>
              <a:buSzTx/>
              <a:buFontTx/>
              <a:buNone/>
              <a:tabLst/>
              <a:defRPr/>
            </a:pPr>
            <a:endParaRPr kumimoji="0" lang="zh-CN" altLang="en-US" sz="900" b="1" i="0" u="none" strike="noStrike" kern="0" cap="none" spc="0" normalizeH="0" baseline="0" noProof="0">
              <a:ln>
                <a:noFill/>
              </a:ln>
              <a:effectLst/>
              <a:uLnTx/>
              <a:uFillTx/>
              <a:latin typeface="微软雅黑" pitchFamily="34" charset="-122"/>
              <a:ea typeface="微软雅黑" pitchFamily="34" charset="-122"/>
            </a:endParaRPr>
          </a:p>
        </p:txBody>
      </p:sp>
      <p:sp>
        <p:nvSpPr>
          <p:cNvPr id="398" name="Line 17"/>
          <p:cNvSpPr>
            <a:spLocks noChangeShapeType="1"/>
          </p:cNvSpPr>
          <p:nvPr/>
        </p:nvSpPr>
        <p:spPr bwMode="auto">
          <a:xfrm>
            <a:off x="3644700" y="4086939"/>
            <a:ext cx="3870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ts val="1150"/>
              </a:lnSpc>
              <a:spcBef>
                <a:spcPts val="0"/>
              </a:spcBef>
              <a:spcAft>
                <a:spcPts val="0"/>
              </a:spcAft>
              <a:buClrTx/>
              <a:buSzTx/>
              <a:buFontTx/>
              <a:buNone/>
              <a:tabLst/>
              <a:defRPr/>
            </a:pPr>
            <a:endParaRPr kumimoji="0" lang="zh-CN" altLang="en-US" sz="900" b="1" i="0" u="none" strike="noStrike" kern="0" cap="none" spc="0" normalizeH="0" baseline="0" noProof="0">
              <a:ln>
                <a:noFill/>
              </a:ln>
              <a:effectLst/>
              <a:uLnTx/>
              <a:uFillTx/>
              <a:latin typeface="微软雅黑" pitchFamily="34" charset="-122"/>
              <a:ea typeface="微软雅黑" pitchFamily="34" charset="-122"/>
            </a:endParaRPr>
          </a:p>
        </p:txBody>
      </p:sp>
      <p:sp>
        <p:nvSpPr>
          <p:cNvPr id="122" name="Line 18"/>
          <p:cNvSpPr>
            <a:spLocks noChangeShapeType="1"/>
          </p:cNvSpPr>
          <p:nvPr/>
        </p:nvSpPr>
        <p:spPr bwMode="auto">
          <a:xfrm flipV="1">
            <a:off x="3905926" y="1801055"/>
            <a:ext cx="3049234"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23" name="Line 19"/>
          <p:cNvSpPr>
            <a:spLocks noChangeShapeType="1"/>
          </p:cNvSpPr>
          <p:nvPr/>
        </p:nvSpPr>
        <p:spPr bwMode="auto">
          <a:xfrm flipV="1">
            <a:off x="4297765" y="2933354"/>
            <a:ext cx="523412" cy="96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24" name="Line 20"/>
          <p:cNvSpPr>
            <a:spLocks noChangeShapeType="1"/>
          </p:cNvSpPr>
          <p:nvPr/>
        </p:nvSpPr>
        <p:spPr bwMode="auto">
          <a:xfrm>
            <a:off x="2555620" y="1801055"/>
            <a:ext cx="0" cy="21800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pic>
        <p:nvPicPr>
          <p:cNvPr id="125" name="Picture 2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733781" y="2846919"/>
            <a:ext cx="315007" cy="173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26" name="Group 22"/>
          <p:cNvGrpSpPr>
            <a:grpSpLocks/>
          </p:cNvGrpSpPr>
          <p:nvPr/>
        </p:nvGrpSpPr>
        <p:grpSpPr bwMode="auto">
          <a:xfrm>
            <a:off x="4211330" y="1583047"/>
            <a:ext cx="871073" cy="522452"/>
            <a:chOff x="385" y="2795"/>
            <a:chExt cx="1769" cy="816"/>
          </a:xfrm>
          <a:solidFill>
            <a:srgbClr val="3399FF"/>
          </a:solidFill>
        </p:grpSpPr>
        <p:sp>
          <p:nvSpPr>
            <p:cNvPr id="375" name="Oval 23"/>
            <p:cNvSpPr>
              <a:spLocks noChangeArrowheads="1"/>
            </p:cNvSpPr>
            <p:nvPr/>
          </p:nvSpPr>
          <p:spPr bwMode="auto">
            <a:xfrm>
              <a:off x="1589" y="3060"/>
              <a:ext cx="554" cy="24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76" name="Oval 24"/>
            <p:cNvSpPr>
              <a:spLocks noChangeArrowheads="1"/>
            </p:cNvSpPr>
            <p:nvPr/>
          </p:nvSpPr>
          <p:spPr bwMode="auto">
            <a:xfrm>
              <a:off x="928" y="3274"/>
              <a:ext cx="884" cy="337"/>
            </a:xfrm>
            <a:prstGeom prst="ellipse">
              <a:avLst/>
            </a:prstGeom>
            <a:grpFill/>
            <a:ln>
              <a:noFill/>
            </a:ln>
            <a:effectLst>
              <a:outerShdw dist="35921" dir="2700000"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77" name="Oval 25"/>
            <p:cNvSpPr>
              <a:spLocks noChangeArrowheads="1"/>
            </p:cNvSpPr>
            <p:nvPr/>
          </p:nvSpPr>
          <p:spPr bwMode="auto">
            <a:xfrm>
              <a:off x="502" y="3204"/>
              <a:ext cx="586" cy="28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78" name="Oval 26"/>
            <p:cNvSpPr>
              <a:spLocks noChangeArrowheads="1"/>
            </p:cNvSpPr>
            <p:nvPr/>
          </p:nvSpPr>
          <p:spPr bwMode="auto">
            <a:xfrm>
              <a:off x="385" y="3084"/>
              <a:ext cx="384" cy="256"/>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79" name="Oval 27"/>
            <p:cNvSpPr>
              <a:spLocks noChangeArrowheads="1"/>
            </p:cNvSpPr>
            <p:nvPr/>
          </p:nvSpPr>
          <p:spPr bwMode="auto">
            <a:xfrm>
              <a:off x="566" y="2883"/>
              <a:ext cx="576" cy="32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0" name="Oval 28"/>
            <p:cNvSpPr>
              <a:spLocks noChangeArrowheads="1"/>
            </p:cNvSpPr>
            <p:nvPr/>
          </p:nvSpPr>
          <p:spPr bwMode="auto">
            <a:xfrm>
              <a:off x="992" y="2795"/>
              <a:ext cx="757" cy="32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1" name="Oval 29"/>
            <p:cNvSpPr>
              <a:spLocks noChangeArrowheads="1"/>
            </p:cNvSpPr>
            <p:nvPr/>
          </p:nvSpPr>
          <p:spPr bwMode="auto">
            <a:xfrm>
              <a:off x="1504" y="2891"/>
              <a:ext cx="554" cy="24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2" name="Oval 30"/>
            <p:cNvSpPr>
              <a:spLocks noChangeArrowheads="1"/>
            </p:cNvSpPr>
            <p:nvPr/>
          </p:nvSpPr>
          <p:spPr bwMode="auto">
            <a:xfrm>
              <a:off x="704" y="2987"/>
              <a:ext cx="1141" cy="41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3" name="Oval 31"/>
            <p:cNvSpPr>
              <a:spLocks noChangeArrowheads="1"/>
            </p:cNvSpPr>
            <p:nvPr/>
          </p:nvSpPr>
          <p:spPr bwMode="auto">
            <a:xfrm rot="1336630">
              <a:off x="1474" y="3067"/>
              <a:ext cx="555" cy="417"/>
            </a:xfrm>
            <a:prstGeom prst="ellipse">
              <a:avLst/>
            </a:prstGeom>
            <a:grpFill/>
            <a:ln>
              <a:noFill/>
            </a:ln>
            <a:effectLst>
              <a:outerShdw dist="40161" dir="4293903"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4" name="Oval 32"/>
            <p:cNvSpPr>
              <a:spLocks noChangeArrowheads="1"/>
            </p:cNvSpPr>
            <p:nvPr/>
          </p:nvSpPr>
          <p:spPr bwMode="auto">
            <a:xfrm>
              <a:off x="1004" y="2811"/>
              <a:ext cx="756" cy="32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5" name="Oval 33"/>
            <p:cNvSpPr>
              <a:spLocks noChangeArrowheads="1"/>
            </p:cNvSpPr>
            <p:nvPr/>
          </p:nvSpPr>
          <p:spPr bwMode="auto">
            <a:xfrm>
              <a:off x="577" y="2899"/>
              <a:ext cx="575" cy="320"/>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6" name="Oval 34"/>
            <p:cNvSpPr>
              <a:spLocks noChangeArrowheads="1"/>
            </p:cNvSpPr>
            <p:nvPr/>
          </p:nvSpPr>
          <p:spPr bwMode="auto">
            <a:xfrm>
              <a:off x="396" y="3100"/>
              <a:ext cx="383" cy="256"/>
            </a:xfrm>
            <a:prstGeom prst="ellipse">
              <a:avLst/>
            </a:prstGeom>
            <a:grpFill/>
            <a:ln>
              <a:noFill/>
            </a:ln>
            <a:effectLst>
              <a:outerShdw dist="63500" dir="3187806"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7" name="Oval 35"/>
            <p:cNvSpPr>
              <a:spLocks noChangeArrowheads="1"/>
            </p:cNvSpPr>
            <p:nvPr/>
          </p:nvSpPr>
          <p:spPr bwMode="auto">
            <a:xfrm>
              <a:off x="1515" y="2908"/>
              <a:ext cx="554" cy="24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8" name="Oval 36"/>
            <p:cNvSpPr>
              <a:spLocks noChangeArrowheads="1"/>
            </p:cNvSpPr>
            <p:nvPr/>
          </p:nvSpPr>
          <p:spPr bwMode="auto">
            <a:xfrm>
              <a:off x="1599" y="3075"/>
              <a:ext cx="555" cy="249"/>
            </a:xfrm>
            <a:prstGeom prst="ellipse">
              <a:avLst/>
            </a:prstGeom>
            <a:grpFill/>
            <a:ln>
              <a:noFill/>
            </a:ln>
            <a:effectLst>
              <a:outerShdw dist="35921" dir="2700000"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9" name="Oval 37"/>
            <p:cNvSpPr>
              <a:spLocks noChangeArrowheads="1"/>
            </p:cNvSpPr>
            <p:nvPr/>
          </p:nvSpPr>
          <p:spPr bwMode="auto">
            <a:xfrm>
              <a:off x="715" y="3003"/>
              <a:ext cx="1141" cy="417"/>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90" name="Oval 38"/>
            <p:cNvSpPr>
              <a:spLocks noChangeArrowheads="1"/>
            </p:cNvSpPr>
            <p:nvPr/>
          </p:nvSpPr>
          <p:spPr bwMode="auto">
            <a:xfrm>
              <a:off x="513" y="3219"/>
              <a:ext cx="586" cy="282"/>
            </a:xfrm>
            <a:prstGeom prst="ellipse">
              <a:avLst/>
            </a:prstGeom>
            <a:grpFill/>
            <a:ln>
              <a:noFill/>
            </a:ln>
            <a:effectLst>
              <a:outerShdw dist="113592" dir="20006097"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91" name="Freeform 39"/>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noFill/>
            </a:ln>
            <a:effectLst/>
            <a:extLst>
              <a:ext uri="{91240B29-F687-4F45-9708-019B960494DF}">
                <a14:hiddenLine xmlns:a14="http://schemas.microsoft.com/office/drawing/2010/main" w="12700" cap="flat" cmpd="sng">
                  <a:solidFill>
                    <a:schemeClr val="tx1"/>
                  </a:solidFill>
                  <a:prstDash val="solid"/>
                  <a:round/>
                  <a:headEnd/>
                  <a:tailE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sp>
        <p:nvSpPr>
          <p:cNvPr id="127" name="Text Box 40"/>
          <p:cNvSpPr txBox="1">
            <a:spLocks noChangeArrowheads="1"/>
          </p:cNvSpPr>
          <p:nvPr/>
        </p:nvSpPr>
        <p:spPr bwMode="auto">
          <a:xfrm>
            <a:off x="1946988" y="1535715"/>
            <a:ext cx="453971"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050" b="1" i="0" u="none" strike="noStrike" kern="0" cap="none" spc="0" normalizeH="0" baseline="0" noProof="0" dirty="0">
                <a:ln>
                  <a:noFill/>
                </a:ln>
                <a:effectLst/>
                <a:uLnTx/>
                <a:uFillTx/>
                <a:latin typeface="微软雅黑" pitchFamily="34" charset="-122"/>
                <a:ea typeface="微软雅黑" pitchFamily="34" charset="-122"/>
              </a:rPr>
              <a:t>主机</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H</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1</a:t>
            </a:r>
          </a:p>
        </p:txBody>
      </p:sp>
      <p:pic>
        <p:nvPicPr>
          <p:cNvPr id="128" name="Picture 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901379" y="1713660"/>
            <a:ext cx="315007" cy="173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29" name="Group 42"/>
          <p:cNvGrpSpPr>
            <a:grpSpLocks/>
          </p:cNvGrpSpPr>
          <p:nvPr/>
        </p:nvGrpSpPr>
        <p:grpSpPr bwMode="auto">
          <a:xfrm>
            <a:off x="5735467" y="1583047"/>
            <a:ext cx="871072" cy="522452"/>
            <a:chOff x="385" y="2795"/>
            <a:chExt cx="1769" cy="816"/>
          </a:xfrm>
          <a:solidFill>
            <a:srgbClr val="3399FF"/>
          </a:solidFill>
        </p:grpSpPr>
        <p:sp>
          <p:nvSpPr>
            <p:cNvPr id="358" name="Oval 43"/>
            <p:cNvSpPr>
              <a:spLocks noChangeArrowheads="1"/>
            </p:cNvSpPr>
            <p:nvPr/>
          </p:nvSpPr>
          <p:spPr bwMode="auto">
            <a:xfrm>
              <a:off x="1589" y="3060"/>
              <a:ext cx="554" cy="24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59" name="Oval 44"/>
            <p:cNvSpPr>
              <a:spLocks noChangeArrowheads="1"/>
            </p:cNvSpPr>
            <p:nvPr/>
          </p:nvSpPr>
          <p:spPr bwMode="auto">
            <a:xfrm>
              <a:off x="928" y="3274"/>
              <a:ext cx="884" cy="337"/>
            </a:xfrm>
            <a:prstGeom prst="ellipse">
              <a:avLst/>
            </a:prstGeom>
            <a:grpFill/>
            <a:ln>
              <a:noFill/>
            </a:ln>
            <a:effectLst>
              <a:outerShdw dist="35921" dir="2700000"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60" name="Oval 45"/>
            <p:cNvSpPr>
              <a:spLocks noChangeArrowheads="1"/>
            </p:cNvSpPr>
            <p:nvPr/>
          </p:nvSpPr>
          <p:spPr bwMode="auto">
            <a:xfrm>
              <a:off x="502" y="3204"/>
              <a:ext cx="586" cy="28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61" name="Oval 46"/>
            <p:cNvSpPr>
              <a:spLocks noChangeArrowheads="1"/>
            </p:cNvSpPr>
            <p:nvPr/>
          </p:nvSpPr>
          <p:spPr bwMode="auto">
            <a:xfrm>
              <a:off x="385" y="3084"/>
              <a:ext cx="384" cy="256"/>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62" name="Oval 47"/>
            <p:cNvSpPr>
              <a:spLocks noChangeArrowheads="1"/>
            </p:cNvSpPr>
            <p:nvPr/>
          </p:nvSpPr>
          <p:spPr bwMode="auto">
            <a:xfrm>
              <a:off x="566" y="2883"/>
              <a:ext cx="576" cy="32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63" name="Oval 48"/>
            <p:cNvSpPr>
              <a:spLocks noChangeArrowheads="1"/>
            </p:cNvSpPr>
            <p:nvPr/>
          </p:nvSpPr>
          <p:spPr bwMode="auto">
            <a:xfrm>
              <a:off x="992" y="2795"/>
              <a:ext cx="757" cy="32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64" name="Oval 49"/>
            <p:cNvSpPr>
              <a:spLocks noChangeArrowheads="1"/>
            </p:cNvSpPr>
            <p:nvPr/>
          </p:nvSpPr>
          <p:spPr bwMode="auto">
            <a:xfrm>
              <a:off x="1504" y="2891"/>
              <a:ext cx="554" cy="24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65" name="Oval 50"/>
            <p:cNvSpPr>
              <a:spLocks noChangeArrowheads="1"/>
            </p:cNvSpPr>
            <p:nvPr/>
          </p:nvSpPr>
          <p:spPr bwMode="auto">
            <a:xfrm>
              <a:off x="704" y="2987"/>
              <a:ext cx="1141" cy="41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66" name="Oval 51"/>
            <p:cNvSpPr>
              <a:spLocks noChangeArrowheads="1"/>
            </p:cNvSpPr>
            <p:nvPr/>
          </p:nvSpPr>
          <p:spPr bwMode="auto">
            <a:xfrm rot="1336630">
              <a:off x="1474" y="3067"/>
              <a:ext cx="555" cy="417"/>
            </a:xfrm>
            <a:prstGeom prst="ellipse">
              <a:avLst/>
            </a:prstGeom>
            <a:grpFill/>
            <a:ln>
              <a:noFill/>
            </a:ln>
            <a:effectLst>
              <a:outerShdw dist="40161" dir="4293903"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67" name="Oval 52"/>
            <p:cNvSpPr>
              <a:spLocks noChangeArrowheads="1"/>
            </p:cNvSpPr>
            <p:nvPr/>
          </p:nvSpPr>
          <p:spPr bwMode="auto">
            <a:xfrm>
              <a:off x="1004" y="2811"/>
              <a:ext cx="756" cy="32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68" name="Oval 53"/>
            <p:cNvSpPr>
              <a:spLocks noChangeArrowheads="1"/>
            </p:cNvSpPr>
            <p:nvPr/>
          </p:nvSpPr>
          <p:spPr bwMode="auto">
            <a:xfrm>
              <a:off x="577" y="2899"/>
              <a:ext cx="575" cy="320"/>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69" name="Oval 54"/>
            <p:cNvSpPr>
              <a:spLocks noChangeArrowheads="1"/>
            </p:cNvSpPr>
            <p:nvPr/>
          </p:nvSpPr>
          <p:spPr bwMode="auto">
            <a:xfrm>
              <a:off x="396" y="3100"/>
              <a:ext cx="383" cy="256"/>
            </a:xfrm>
            <a:prstGeom prst="ellipse">
              <a:avLst/>
            </a:prstGeom>
            <a:grpFill/>
            <a:ln>
              <a:noFill/>
            </a:ln>
            <a:effectLst>
              <a:outerShdw dist="63500" dir="3187806"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70" name="Oval 55"/>
            <p:cNvSpPr>
              <a:spLocks noChangeArrowheads="1"/>
            </p:cNvSpPr>
            <p:nvPr/>
          </p:nvSpPr>
          <p:spPr bwMode="auto">
            <a:xfrm>
              <a:off x="1515" y="2908"/>
              <a:ext cx="554" cy="24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71" name="Oval 56"/>
            <p:cNvSpPr>
              <a:spLocks noChangeArrowheads="1"/>
            </p:cNvSpPr>
            <p:nvPr/>
          </p:nvSpPr>
          <p:spPr bwMode="auto">
            <a:xfrm>
              <a:off x="1599" y="3075"/>
              <a:ext cx="555" cy="249"/>
            </a:xfrm>
            <a:prstGeom prst="ellipse">
              <a:avLst/>
            </a:prstGeom>
            <a:grpFill/>
            <a:ln>
              <a:noFill/>
            </a:ln>
            <a:effectLst>
              <a:outerShdw dist="35921" dir="2700000"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72" name="Oval 57"/>
            <p:cNvSpPr>
              <a:spLocks noChangeArrowheads="1"/>
            </p:cNvSpPr>
            <p:nvPr/>
          </p:nvSpPr>
          <p:spPr bwMode="auto">
            <a:xfrm>
              <a:off x="715" y="3003"/>
              <a:ext cx="1141" cy="417"/>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73" name="Oval 58"/>
            <p:cNvSpPr>
              <a:spLocks noChangeArrowheads="1"/>
            </p:cNvSpPr>
            <p:nvPr/>
          </p:nvSpPr>
          <p:spPr bwMode="auto">
            <a:xfrm>
              <a:off x="513" y="3219"/>
              <a:ext cx="586" cy="282"/>
            </a:xfrm>
            <a:prstGeom prst="ellipse">
              <a:avLst/>
            </a:prstGeom>
            <a:grpFill/>
            <a:ln>
              <a:noFill/>
            </a:ln>
            <a:effectLst>
              <a:outerShdw dist="113592" dir="20006097"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74" name="Freeform 59"/>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noFill/>
            </a:ln>
            <a:effectLst/>
            <a:extLst>
              <a:ext uri="{91240B29-F687-4F45-9708-019B960494DF}">
                <a14:hiddenLine xmlns:a14="http://schemas.microsoft.com/office/drawing/2010/main" w="12700" cap="flat" cmpd="sng">
                  <a:solidFill>
                    <a:schemeClr val="tx1"/>
                  </a:solidFill>
                  <a:prstDash val="solid"/>
                  <a:round/>
                  <a:headEnd/>
                  <a:tailE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nvGrpSpPr>
          <p:cNvPr id="130" name="Group 60"/>
          <p:cNvGrpSpPr>
            <a:grpSpLocks/>
          </p:cNvGrpSpPr>
          <p:nvPr/>
        </p:nvGrpSpPr>
        <p:grpSpPr bwMode="auto">
          <a:xfrm>
            <a:off x="4779488" y="2585790"/>
            <a:ext cx="247262" cy="302228"/>
            <a:chOff x="4420" y="2719"/>
            <a:chExt cx="397" cy="571"/>
          </a:xfrm>
          <a:solidFill>
            <a:srgbClr val="00FF99"/>
          </a:solidFill>
        </p:grpSpPr>
        <p:grpSp>
          <p:nvGrpSpPr>
            <p:cNvPr id="311" name="Group 62"/>
            <p:cNvGrpSpPr>
              <a:grpSpLocks/>
            </p:cNvGrpSpPr>
            <p:nvPr/>
          </p:nvGrpSpPr>
          <p:grpSpPr bwMode="auto">
            <a:xfrm>
              <a:off x="4562" y="3066"/>
              <a:ext cx="13" cy="70"/>
              <a:chOff x="4562" y="3066"/>
              <a:chExt cx="13" cy="70"/>
            </a:xfrm>
            <a:grpFill/>
          </p:grpSpPr>
          <p:sp>
            <p:nvSpPr>
              <p:cNvPr id="356" name="Rectangle 63"/>
              <p:cNvSpPr>
                <a:spLocks noChangeArrowheads="1"/>
              </p:cNvSpPr>
              <p:nvPr/>
            </p:nvSpPr>
            <p:spPr bwMode="auto">
              <a:xfrm>
                <a:off x="4562" y="3067"/>
                <a:ext cx="13" cy="69"/>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57" name="Line 64"/>
              <p:cNvSpPr>
                <a:spLocks noChangeShapeType="1"/>
              </p:cNvSpPr>
              <p:nvPr/>
            </p:nvSpPr>
            <p:spPr bwMode="auto">
              <a:xfrm>
                <a:off x="4568" y="3066"/>
                <a:ext cx="1" cy="64"/>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sp>
          <p:nvSpPr>
            <p:cNvPr id="312" name="Rectangle 65"/>
            <p:cNvSpPr>
              <a:spLocks noChangeArrowheads="1"/>
            </p:cNvSpPr>
            <p:nvPr/>
          </p:nvSpPr>
          <p:spPr bwMode="auto">
            <a:xfrm>
              <a:off x="4503" y="3022"/>
              <a:ext cx="43" cy="112"/>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13" name="Freeform 66"/>
            <p:cNvSpPr>
              <a:spLocks/>
            </p:cNvSpPr>
            <p:nvPr/>
          </p:nvSpPr>
          <p:spPr bwMode="auto">
            <a:xfrm>
              <a:off x="4663" y="3044"/>
              <a:ext cx="28" cy="24"/>
            </a:xfrm>
            <a:custGeom>
              <a:avLst/>
              <a:gdLst>
                <a:gd name="T0" fmla="*/ 0 w 113"/>
                <a:gd name="T1" fmla="*/ 0 h 95"/>
                <a:gd name="T2" fmla="*/ 0 w 113"/>
                <a:gd name="T3" fmla="*/ 95 h 95"/>
                <a:gd name="T4" fmla="*/ 113 w 113"/>
                <a:gd name="T5" fmla="*/ 95 h 95"/>
                <a:gd name="T6" fmla="*/ 113 w 113"/>
                <a:gd name="T7" fmla="*/ 19 h 95"/>
                <a:gd name="T8" fmla="*/ 0 w 113"/>
                <a:gd name="T9" fmla="*/ 0 h 95"/>
              </a:gdLst>
              <a:ahLst/>
              <a:cxnLst>
                <a:cxn ang="0">
                  <a:pos x="T0" y="T1"/>
                </a:cxn>
                <a:cxn ang="0">
                  <a:pos x="T2" y="T3"/>
                </a:cxn>
                <a:cxn ang="0">
                  <a:pos x="T4" y="T5"/>
                </a:cxn>
                <a:cxn ang="0">
                  <a:pos x="T6" y="T7"/>
                </a:cxn>
                <a:cxn ang="0">
                  <a:pos x="T8" y="T9"/>
                </a:cxn>
              </a:cxnLst>
              <a:rect l="0" t="0" r="r" b="b"/>
              <a:pathLst>
                <a:path w="113" h="95">
                  <a:moveTo>
                    <a:pt x="0" y="0"/>
                  </a:moveTo>
                  <a:lnTo>
                    <a:pt x="0" y="95"/>
                  </a:lnTo>
                  <a:lnTo>
                    <a:pt x="113" y="95"/>
                  </a:lnTo>
                  <a:lnTo>
                    <a:pt x="113" y="19"/>
                  </a:lnTo>
                  <a:lnTo>
                    <a:pt x="0" y="0"/>
                  </a:lnTo>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14" name="Freeform 67"/>
            <p:cNvSpPr>
              <a:spLocks/>
            </p:cNvSpPr>
            <p:nvPr/>
          </p:nvSpPr>
          <p:spPr bwMode="auto">
            <a:xfrm>
              <a:off x="4604" y="3001"/>
              <a:ext cx="19" cy="21"/>
            </a:xfrm>
            <a:custGeom>
              <a:avLst/>
              <a:gdLst>
                <a:gd name="T0" fmla="*/ 43 w 78"/>
                <a:gd name="T1" fmla="*/ 0 h 86"/>
                <a:gd name="T2" fmla="*/ 0 w 78"/>
                <a:gd name="T3" fmla="*/ 86 h 86"/>
                <a:gd name="T4" fmla="*/ 57 w 78"/>
                <a:gd name="T5" fmla="*/ 79 h 86"/>
                <a:gd name="T6" fmla="*/ 78 w 78"/>
                <a:gd name="T7" fmla="*/ 22 h 86"/>
                <a:gd name="T8" fmla="*/ 43 w 78"/>
                <a:gd name="T9" fmla="*/ 0 h 86"/>
              </a:gdLst>
              <a:ahLst/>
              <a:cxnLst>
                <a:cxn ang="0">
                  <a:pos x="T0" y="T1"/>
                </a:cxn>
                <a:cxn ang="0">
                  <a:pos x="T2" y="T3"/>
                </a:cxn>
                <a:cxn ang="0">
                  <a:pos x="T4" y="T5"/>
                </a:cxn>
                <a:cxn ang="0">
                  <a:pos x="T6" y="T7"/>
                </a:cxn>
                <a:cxn ang="0">
                  <a:pos x="T8" y="T9"/>
                </a:cxn>
              </a:cxnLst>
              <a:rect l="0" t="0" r="r" b="b"/>
              <a:pathLst>
                <a:path w="78" h="86">
                  <a:moveTo>
                    <a:pt x="43" y="0"/>
                  </a:moveTo>
                  <a:lnTo>
                    <a:pt x="0" y="86"/>
                  </a:lnTo>
                  <a:lnTo>
                    <a:pt x="57" y="79"/>
                  </a:lnTo>
                  <a:lnTo>
                    <a:pt x="78" y="22"/>
                  </a:lnTo>
                  <a:lnTo>
                    <a:pt x="43"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15" name="Freeform 68"/>
            <p:cNvSpPr>
              <a:spLocks/>
            </p:cNvSpPr>
            <p:nvPr/>
          </p:nvSpPr>
          <p:spPr bwMode="auto">
            <a:xfrm>
              <a:off x="4570" y="3144"/>
              <a:ext cx="90" cy="7"/>
            </a:xfrm>
            <a:custGeom>
              <a:avLst/>
              <a:gdLst>
                <a:gd name="T0" fmla="*/ 0 w 360"/>
                <a:gd name="T1" fmla="*/ 0 h 30"/>
                <a:gd name="T2" fmla="*/ 360 w 360"/>
                <a:gd name="T3" fmla="*/ 0 h 30"/>
                <a:gd name="T4" fmla="*/ 360 w 360"/>
                <a:gd name="T5" fmla="*/ 30 h 30"/>
                <a:gd name="T6" fmla="*/ 4 w 360"/>
                <a:gd name="T7" fmla="*/ 30 h 30"/>
                <a:gd name="T8" fmla="*/ 0 w 360"/>
                <a:gd name="T9" fmla="*/ 0 h 30"/>
              </a:gdLst>
              <a:ahLst/>
              <a:cxnLst>
                <a:cxn ang="0">
                  <a:pos x="T0" y="T1"/>
                </a:cxn>
                <a:cxn ang="0">
                  <a:pos x="T2" y="T3"/>
                </a:cxn>
                <a:cxn ang="0">
                  <a:pos x="T4" y="T5"/>
                </a:cxn>
                <a:cxn ang="0">
                  <a:pos x="T6" y="T7"/>
                </a:cxn>
                <a:cxn ang="0">
                  <a:pos x="T8" y="T9"/>
                </a:cxn>
              </a:cxnLst>
              <a:rect l="0" t="0" r="r" b="b"/>
              <a:pathLst>
                <a:path w="360" h="30">
                  <a:moveTo>
                    <a:pt x="0" y="0"/>
                  </a:moveTo>
                  <a:lnTo>
                    <a:pt x="360" y="0"/>
                  </a:lnTo>
                  <a:lnTo>
                    <a:pt x="360" y="30"/>
                  </a:lnTo>
                  <a:lnTo>
                    <a:pt x="4" y="30"/>
                  </a:lnTo>
                  <a:lnTo>
                    <a:pt x="0"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16" name="Freeform 69"/>
            <p:cNvSpPr>
              <a:spLocks/>
            </p:cNvSpPr>
            <p:nvPr/>
          </p:nvSpPr>
          <p:spPr bwMode="auto">
            <a:xfrm>
              <a:off x="4502" y="2862"/>
              <a:ext cx="37" cy="46"/>
            </a:xfrm>
            <a:custGeom>
              <a:avLst/>
              <a:gdLst>
                <a:gd name="T0" fmla="*/ 141 w 150"/>
                <a:gd name="T1" fmla="*/ 0 h 184"/>
                <a:gd name="T2" fmla="*/ 1 w 150"/>
                <a:gd name="T3" fmla="*/ 131 h 184"/>
                <a:gd name="T4" fmla="*/ 0 w 150"/>
                <a:gd name="T5" fmla="*/ 184 h 184"/>
                <a:gd name="T6" fmla="*/ 150 w 150"/>
                <a:gd name="T7" fmla="*/ 60 h 184"/>
                <a:gd name="T8" fmla="*/ 141 w 150"/>
                <a:gd name="T9" fmla="*/ 0 h 184"/>
              </a:gdLst>
              <a:ahLst/>
              <a:cxnLst>
                <a:cxn ang="0">
                  <a:pos x="T0" y="T1"/>
                </a:cxn>
                <a:cxn ang="0">
                  <a:pos x="T2" y="T3"/>
                </a:cxn>
                <a:cxn ang="0">
                  <a:pos x="T4" y="T5"/>
                </a:cxn>
                <a:cxn ang="0">
                  <a:pos x="T6" y="T7"/>
                </a:cxn>
                <a:cxn ang="0">
                  <a:pos x="T8" y="T9"/>
                </a:cxn>
              </a:cxnLst>
              <a:rect l="0" t="0" r="r" b="b"/>
              <a:pathLst>
                <a:path w="150" h="184">
                  <a:moveTo>
                    <a:pt x="141" y="0"/>
                  </a:moveTo>
                  <a:lnTo>
                    <a:pt x="1" y="131"/>
                  </a:lnTo>
                  <a:lnTo>
                    <a:pt x="0" y="184"/>
                  </a:lnTo>
                  <a:lnTo>
                    <a:pt x="150" y="60"/>
                  </a:lnTo>
                  <a:lnTo>
                    <a:pt x="141"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17" name="Freeform 70"/>
            <p:cNvSpPr>
              <a:spLocks/>
            </p:cNvSpPr>
            <p:nvPr/>
          </p:nvSpPr>
          <p:spPr bwMode="auto">
            <a:xfrm>
              <a:off x="4492" y="2741"/>
              <a:ext cx="57" cy="394"/>
            </a:xfrm>
            <a:custGeom>
              <a:avLst/>
              <a:gdLst>
                <a:gd name="T0" fmla="*/ 228 w 228"/>
                <a:gd name="T1" fmla="*/ 0 h 1575"/>
                <a:gd name="T2" fmla="*/ 0 w 228"/>
                <a:gd name="T3" fmla="*/ 93 h 1575"/>
                <a:gd name="T4" fmla="*/ 0 w 228"/>
                <a:gd name="T5" fmla="*/ 1575 h 1575"/>
                <a:gd name="T6" fmla="*/ 42 w 228"/>
                <a:gd name="T7" fmla="*/ 1575 h 1575"/>
                <a:gd name="T8" fmla="*/ 42 w 228"/>
                <a:gd name="T9" fmla="*/ 228 h 1575"/>
                <a:gd name="T10" fmla="*/ 228 w 228"/>
                <a:gd name="T11" fmla="*/ 150 h 1575"/>
                <a:gd name="T12" fmla="*/ 228 w 228"/>
                <a:gd name="T13" fmla="*/ 0 h 1575"/>
              </a:gdLst>
              <a:ahLst/>
              <a:cxnLst>
                <a:cxn ang="0">
                  <a:pos x="T0" y="T1"/>
                </a:cxn>
                <a:cxn ang="0">
                  <a:pos x="T2" y="T3"/>
                </a:cxn>
                <a:cxn ang="0">
                  <a:pos x="T4" y="T5"/>
                </a:cxn>
                <a:cxn ang="0">
                  <a:pos x="T6" y="T7"/>
                </a:cxn>
                <a:cxn ang="0">
                  <a:pos x="T8" y="T9"/>
                </a:cxn>
                <a:cxn ang="0">
                  <a:pos x="T10" y="T11"/>
                </a:cxn>
                <a:cxn ang="0">
                  <a:pos x="T12" y="T13"/>
                </a:cxn>
              </a:cxnLst>
              <a:rect l="0" t="0" r="r" b="b"/>
              <a:pathLst>
                <a:path w="228" h="1575">
                  <a:moveTo>
                    <a:pt x="228" y="0"/>
                  </a:moveTo>
                  <a:lnTo>
                    <a:pt x="0" y="93"/>
                  </a:lnTo>
                  <a:lnTo>
                    <a:pt x="0" y="1575"/>
                  </a:lnTo>
                  <a:lnTo>
                    <a:pt x="42" y="1575"/>
                  </a:lnTo>
                  <a:lnTo>
                    <a:pt x="42" y="228"/>
                  </a:lnTo>
                  <a:lnTo>
                    <a:pt x="228" y="150"/>
                  </a:lnTo>
                  <a:lnTo>
                    <a:pt x="228"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18" name="Freeform 71"/>
            <p:cNvSpPr>
              <a:spLocks/>
            </p:cNvSpPr>
            <p:nvPr/>
          </p:nvSpPr>
          <p:spPr bwMode="auto">
            <a:xfrm>
              <a:off x="4490" y="3135"/>
              <a:ext cx="327" cy="85"/>
            </a:xfrm>
            <a:custGeom>
              <a:avLst/>
              <a:gdLst>
                <a:gd name="T0" fmla="*/ 0 w 1306"/>
                <a:gd name="T1" fmla="*/ 344 h 344"/>
                <a:gd name="T2" fmla="*/ 0 w 1306"/>
                <a:gd name="T3" fmla="*/ 0 h 344"/>
                <a:gd name="T4" fmla="*/ 284 w 1306"/>
                <a:gd name="T5" fmla="*/ 0 h 344"/>
                <a:gd name="T6" fmla="*/ 341 w 1306"/>
                <a:gd name="T7" fmla="*/ 57 h 344"/>
                <a:gd name="T8" fmla="*/ 511 w 1306"/>
                <a:gd name="T9" fmla="*/ 57 h 344"/>
                <a:gd name="T10" fmla="*/ 568 w 1306"/>
                <a:gd name="T11" fmla="*/ 116 h 344"/>
                <a:gd name="T12" fmla="*/ 1136 w 1306"/>
                <a:gd name="T13" fmla="*/ 116 h 344"/>
                <a:gd name="T14" fmla="*/ 1136 w 1306"/>
                <a:gd name="T15" fmla="*/ 230 h 344"/>
                <a:gd name="T16" fmla="*/ 1306 w 1306"/>
                <a:gd name="T17" fmla="*/ 230 h 344"/>
                <a:gd name="T18" fmla="*/ 1306 w 1306"/>
                <a:gd name="T19" fmla="*/ 344 h 344"/>
                <a:gd name="T20" fmla="*/ 0 w 1306"/>
                <a:gd name="T21" fmla="*/ 34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06" h="344">
                  <a:moveTo>
                    <a:pt x="0" y="344"/>
                  </a:moveTo>
                  <a:lnTo>
                    <a:pt x="0" y="0"/>
                  </a:lnTo>
                  <a:lnTo>
                    <a:pt x="284" y="0"/>
                  </a:lnTo>
                  <a:lnTo>
                    <a:pt x="341" y="57"/>
                  </a:lnTo>
                  <a:lnTo>
                    <a:pt x="511" y="57"/>
                  </a:lnTo>
                  <a:lnTo>
                    <a:pt x="568" y="116"/>
                  </a:lnTo>
                  <a:lnTo>
                    <a:pt x="1136" y="116"/>
                  </a:lnTo>
                  <a:lnTo>
                    <a:pt x="1136" y="230"/>
                  </a:lnTo>
                  <a:lnTo>
                    <a:pt x="1306" y="230"/>
                  </a:lnTo>
                  <a:lnTo>
                    <a:pt x="1306" y="344"/>
                  </a:lnTo>
                  <a:lnTo>
                    <a:pt x="0" y="344"/>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19" name="Rectangle 72"/>
            <p:cNvSpPr>
              <a:spLocks noChangeArrowheads="1"/>
            </p:cNvSpPr>
            <p:nvPr/>
          </p:nvSpPr>
          <p:spPr bwMode="auto">
            <a:xfrm>
              <a:off x="4491" y="3193"/>
              <a:ext cx="240" cy="26"/>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0" name="Line 73"/>
            <p:cNvSpPr>
              <a:spLocks noChangeShapeType="1"/>
            </p:cNvSpPr>
            <p:nvPr/>
          </p:nvSpPr>
          <p:spPr bwMode="auto">
            <a:xfrm>
              <a:off x="4479" y="3015"/>
              <a:ext cx="1" cy="50"/>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1" name="Freeform 74"/>
            <p:cNvSpPr>
              <a:spLocks/>
            </p:cNvSpPr>
            <p:nvPr/>
          </p:nvSpPr>
          <p:spPr bwMode="auto">
            <a:xfrm>
              <a:off x="4471" y="3065"/>
              <a:ext cx="21" cy="25"/>
            </a:xfrm>
            <a:custGeom>
              <a:avLst/>
              <a:gdLst>
                <a:gd name="T0" fmla="*/ 0 w 85"/>
                <a:gd name="T1" fmla="*/ 99 h 99"/>
                <a:gd name="T2" fmla="*/ 0 w 85"/>
                <a:gd name="T3" fmla="*/ 0 h 99"/>
                <a:gd name="T4" fmla="*/ 85 w 85"/>
                <a:gd name="T5" fmla="*/ 0 h 99"/>
                <a:gd name="T6" fmla="*/ 85 w 85"/>
                <a:gd name="T7" fmla="*/ 35 h 99"/>
                <a:gd name="T8" fmla="*/ 28 w 85"/>
                <a:gd name="T9" fmla="*/ 35 h 99"/>
                <a:gd name="T10" fmla="*/ 28 w 85"/>
                <a:gd name="T11" fmla="*/ 99 h 99"/>
                <a:gd name="T12" fmla="*/ 0 w 85"/>
                <a:gd name="T13" fmla="*/ 99 h 99"/>
              </a:gdLst>
              <a:ahLst/>
              <a:cxnLst>
                <a:cxn ang="0">
                  <a:pos x="T0" y="T1"/>
                </a:cxn>
                <a:cxn ang="0">
                  <a:pos x="T2" y="T3"/>
                </a:cxn>
                <a:cxn ang="0">
                  <a:pos x="T4" y="T5"/>
                </a:cxn>
                <a:cxn ang="0">
                  <a:pos x="T6" y="T7"/>
                </a:cxn>
                <a:cxn ang="0">
                  <a:pos x="T8" y="T9"/>
                </a:cxn>
                <a:cxn ang="0">
                  <a:pos x="T10" y="T11"/>
                </a:cxn>
                <a:cxn ang="0">
                  <a:pos x="T12" y="T13"/>
                </a:cxn>
              </a:cxnLst>
              <a:rect l="0" t="0" r="r" b="b"/>
              <a:pathLst>
                <a:path w="85" h="99">
                  <a:moveTo>
                    <a:pt x="0" y="99"/>
                  </a:moveTo>
                  <a:lnTo>
                    <a:pt x="0" y="0"/>
                  </a:lnTo>
                  <a:lnTo>
                    <a:pt x="85" y="0"/>
                  </a:lnTo>
                  <a:lnTo>
                    <a:pt x="85" y="35"/>
                  </a:lnTo>
                  <a:lnTo>
                    <a:pt x="28" y="35"/>
                  </a:lnTo>
                  <a:lnTo>
                    <a:pt x="28" y="99"/>
                  </a:lnTo>
                  <a:lnTo>
                    <a:pt x="0" y="99"/>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2" name="Freeform 75"/>
            <p:cNvSpPr>
              <a:spLocks/>
            </p:cNvSpPr>
            <p:nvPr/>
          </p:nvSpPr>
          <p:spPr bwMode="auto">
            <a:xfrm>
              <a:off x="4590" y="3047"/>
              <a:ext cx="72" cy="104"/>
            </a:xfrm>
            <a:custGeom>
              <a:avLst/>
              <a:gdLst>
                <a:gd name="T0" fmla="*/ 0 w 290"/>
                <a:gd name="T1" fmla="*/ 0 h 415"/>
                <a:gd name="T2" fmla="*/ 290 w 290"/>
                <a:gd name="T3" fmla="*/ 415 h 415"/>
                <a:gd name="T4" fmla="*/ 248 w 290"/>
                <a:gd name="T5" fmla="*/ 406 h 415"/>
                <a:gd name="T6" fmla="*/ 0 w 290"/>
                <a:gd name="T7" fmla="*/ 57 h 415"/>
                <a:gd name="T8" fmla="*/ 0 w 290"/>
                <a:gd name="T9" fmla="*/ 0 h 415"/>
              </a:gdLst>
              <a:ahLst/>
              <a:cxnLst>
                <a:cxn ang="0">
                  <a:pos x="T0" y="T1"/>
                </a:cxn>
                <a:cxn ang="0">
                  <a:pos x="T2" y="T3"/>
                </a:cxn>
                <a:cxn ang="0">
                  <a:pos x="T4" y="T5"/>
                </a:cxn>
                <a:cxn ang="0">
                  <a:pos x="T6" y="T7"/>
                </a:cxn>
                <a:cxn ang="0">
                  <a:pos x="T8" y="T9"/>
                </a:cxn>
              </a:cxnLst>
              <a:rect l="0" t="0" r="r" b="b"/>
              <a:pathLst>
                <a:path w="290" h="415">
                  <a:moveTo>
                    <a:pt x="0" y="0"/>
                  </a:moveTo>
                  <a:lnTo>
                    <a:pt x="290" y="415"/>
                  </a:lnTo>
                  <a:lnTo>
                    <a:pt x="248" y="406"/>
                  </a:lnTo>
                  <a:lnTo>
                    <a:pt x="0" y="57"/>
                  </a:lnTo>
                  <a:lnTo>
                    <a:pt x="0"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3" name="Freeform 76"/>
            <p:cNvSpPr>
              <a:spLocks/>
            </p:cNvSpPr>
            <p:nvPr/>
          </p:nvSpPr>
          <p:spPr bwMode="auto">
            <a:xfrm>
              <a:off x="4433" y="3106"/>
              <a:ext cx="57" cy="114"/>
            </a:xfrm>
            <a:custGeom>
              <a:avLst/>
              <a:gdLst>
                <a:gd name="T0" fmla="*/ 170 w 227"/>
                <a:gd name="T1" fmla="*/ 0 h 458"/>
                <a:gd name="T2" fmla="*/ 0 w 227"/>
                <a:gd name="T3" fmla="*/ 171 h 458"/>
                <a:gd name="T4" fmla="*/ 0 w 227"/>
                <a:gd name="T5" fmla="*/ 458 h 458"/>
                <a:gd name="T6" fmla="*/ 227 w 227"/>
                <a:gd name="T7" fmla="*/ 458 h 458"/>
                <a:gd name="T8" fmla="*/ 227 w 227"/>
                <a:gd name="T9" fmla="*/ 114 h 458"/>
                <a:gd name="T10" fmla="*/ 170 w 227"/>
                <a:gd name="T11" fmla="*/ 0 h 458"/>
              </a:gdLst>
              <a:ahLst/>
              <a:cxnLst>
                <a:cxn ang="0">
                  <a:pos x="T0" y="T1"/>
                </a:cxn>
                <a:cxn ang="0">
                  <a:pos x="T2" y="T3"/>
                </a:cxn>
                <a:cxn ang="0">
                  <a:pos x="T4" y="T5"/>
                </a:cxn>
                <a:cxn ang="0">
                  <a:pos x="T6" y="T7"/>
                </a:cxn>
                <a:cxn ang="0">
                  <a:pos x="T8" y="T9"/>
                </a:cxn>
                <a:cxn ang="0">
                  <a:pos x="T10" y="T11"/>
                </a:cxn>
              </a:cxnLst>
              <a:rect l="0" t="0" r="r" b="b"/>
              <a:pathLst>
                <a:path w="227" h="458">
                  <a:moveTo>
                    <a:pt x="170" y="0"/>
                  </a:moveTo>
                  <a:lnTo>
                    <a:pt x="0" y="171"/>
                  </a:lnTo>
                  <a:lnTo>
                    <a:pt x="0" y="458"/>
                  </a:lnTo>
                  <a:lnTo>
                    <a:pt x="227" y="458"/>
                  </a:lnTo>
                  <a:lnTo>
                    <a:pt x="227" y="114"/>
                  </a:lnTo>
                  <a:lnTo>
                    <a:pt x="170"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4" name="Rectangle 77"/>
            <p:cNvSpPr>
              <a:spLocks noChangeArrowheads="1"/>
            </p:cNvSpPr>
            <p:nvPr/>
          </p:nvSpPr>
          <p:spPr bwMode="auto">
            <a:xfrm>
              <a:off x="4420" y="3276"/>
              <a:ext cx="395" cy="14"/>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5" name="Rectangle 78"/>
            <p:cNvSpPr>
              <a:spLocks noChangeArrowheads="1"/>
            </p:cNvSpPr>
            <p:nvPr/>
          </p:nvSpPr>
          <p:spPr bwMode="auto">
            <a:xfrm>
              <a:off x="4420" y="3250"/>
              <a:ext cx="395" cy="24"/>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6" name="Rectangle 79"/>
            <p:cNvSpPr>
              <a:spLocks noChangeArrowheads="1"/>
            </p:cNvSpPr>
            <p:nvPr/>
          </p:nvSpPr>
          <p:spPr bwMode="auto">
            <a:xfrm>
              <a:off x="4420" y="3221"/>
              <a:ext cx="395" cy="27"/>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7" name="Rectangle 80"/>
            <p:cNvSpPr>
              <a:spLocks noChangeArrowheads="1"/>
            </p:cNvSpPr>
            <p:nvPr/>
          </p:nvSpPr>
          <p:spPr bwMode="auto">
            <a:xfrm>
              <a:off x="4763" y="3200"/>
              <a:ext cx="41" cy="12"/>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8" name="Oval 81"/>
            <p:cNvSpPr>
              <a:spLocks noChangeArrowheads="1"/>
            </p:cNvSpPr>
            <p:nvPr/>
          </p:nvSpPr>
          <p:spPr bwMode="auto">
            <a:xfrm>
              <a:off x="4462" y="3092"/>
              <a:ext cx="28" cy="29"/>
            </a:xfrm>
            <a:prstGeom prst="ellips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9" name="Rectangle 82"/>
            <p:cNvSpPr>
              <a:spLocks noChangeArrowheads="1"/>
            </p:cNvSpPr>
            <p:nvPr/>
          </p:nvSpPr>
          <p:spPr bwMode="auto">
            <a:xfrm>
              <a:off x="4562" y="3036"/>
              <a:ext cx="27" cy="26"/>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30" name="Freeform 83"/>
            <p:cNvSpPr>
              <a:spLocks/>
            </p:cNvSpPr>
            <p:nvPr/>
          </p:nvSpPr>
          <p:spPr bwMode="auto">
            <a:xfrm>
              <a:off x="4547" y="3021"/>
              <a:ext cx="114" cy="114"/>
            </a:xfrm>
            <a:custGeom>
              <a:avLst/>
              <a:gdLst>
                <a:gd name="T0" fmla="*/ 57 w 454"/>
                <a:gd name="T1" fmla="*/ 455 h 455"/>
                <a:gd name="T2" fmla="*/ 57 w 454"/>
                <a:gd name="T3" fmla="*/ 57 h 455"/>
                <a:gd name="T4" fmla="*/ 454 w 454"/>
                <a:gd name="T5" fmla="*/ 57 h 455"/>
                <a:gd name="T6" fmla="*/ 454 w 454"/>
                <a:gd name="T7" fmla="*/ 0 h 455"/>
                <a:gd name="T8" fmla="*/ 0 w 454"/>
                <a:gd name="T9" fmla="*/ 0 h 455"/>
                <a:gd name="T10" fmla="*/ 0 w 454"/>
                <a:gd name="T11" fmla="*/ 455 h 455"/>
                <a:gd name="T12" fmla="*/ 57 w 454"/>
                <a:gd name="T13" fmla="*/ 455 h 455"/>
              </a:gdLst>
              <a:ahLst/>
              <a:cxnLst>
                <a:cxn ang="0">
                  <a:pos x="T0" y="T1"/>
                </a:cxn>
                <a:cxn ang="0">
                  <a:pos x="T2" y="T3"/>
                </a:cxn>
                <a:cxn ang="0">
                  <a:pos x="T4" y="T5"/>
                </a:cxn>
                <a:cxn ang="0">
                  <a:pos x="T6" y="T7"/>
                </a:cxn>
                <a:cxn ang="0">
                  <a:pos x="T8" y="T9"/>
                </a:cxn>
                <a:cxn ang="0">
                  <a:pos x="T10" y="T11"/>
                </a:cxn>
                <a:cxn ang="0">
                  <a:pos x="T12" y="T13"/>
                </a:cxn>
              </a:cxnLst>
              <a:rect l="0" t="0" r="r" b="b"/>
              <a:pathLst>
                <a:path w="454" h="455">
                  <a:moveTo>
                    <a:pt x="57" y="455"/>
                  </a:moveTo>
                  <a:lnTo>
                    <a:pt x="57" y="57"/>
                  </a:lnTo>
                  <a:lnTo>
                    <a:pt x="454" y="57"/>
                  </a:lnTo>
                  <a:lnTo>
                    <a:pt x="454" y="0"/>
                  </a:lnTo>
                  <a:lnTo>
                    <a:pt x="0" y="0"/>
                  </a:lnTo>
                  <a:lnTo>
                    <a:pt x="0" y="455"/>
                  </a:lnTo>
                  <a:lnTo>
                    <a:pt x="57" y="455"/>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nvGrpSpPr>
            <p:cNvPr id="331" name="Group 84"/>
            <p:cNvGrpSpPr>
              <a:grpSpLocks/>
            </p:cNvGrpSpPr>
            <p:nvPr/>
          </p:nvGrpSpPr>
          <p:grpSpPr bwMode="auto">
            <a:xfrm>
              <a:off x="4455" y="2913"/>
              <a:ext cx="126" cy="116"/>
              <a:chOff x="4455" y="2913"/>
              <a:chExt cx="126" cy="116"/>
            </a:xfrm>
            <a:grpFill/>
          </p:grpSpPr>
          <p:sp>
            <p:nvSpPr>
              <p:cNvPr id="354" name="Oval 85"/>
              <p:cNvSpPr>
                <a:spLocks noChangeArrowheads="1"/>
              </p:cNvSpPr>
              <p:nvPr/>
            </p:nvSpPr>
            <p:spPr bwMode="auto">
              <a:xfrm>
                <a:off x="4465" y="2913"/>
                <a:ext cx="116" cy="116"/>
              </a:xfrm>
              <a:prstGeom prst="ellips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55" name="Oval 86"/>
              <p:cNvSpPr>
                <a:spLocks noChangeArrowheads="1"/>
              </p:cNvSpPr>
              <p:nvPr/>
            </p:nvSpPr>
            <p:spPr bwMode="auto">
              <a:xfrm>
                <a:off x="4455" y="2913"/>
                <a:ext cx="115" cy="116"/>
              </a:xfrm>
              <a:prstGeom prst="ellips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nvGrpSpPr>
            <p:cNvPr id="332" name="Group 87"/>
            <p:cNvGrpSpPr>
              <a:grpSpLocks/>
            </p:cNvGrpSpPr>
            <p:nvPr/>
          </p:nvGrpSpPr>
          <p:grpSpPr bwMode="auto">
            <a:xfrm>
              <a:off x="4504" y="3136"/>
              <a:ext cx="43" cy="112"/>
              <a:chOff x="4504" y="3136"/>
              <a:chExt cx="43" cy="112"/>
            </a:xfrm>
            <a:grpFill/>
          </p:grpSpPr>
          <p:sp>
            <p:nvSpPr>
              <p:cNvPr id="345" name="Rectangle 88"/>
              <p:cNvSpPr>
                <a:spLocks noChangeArrowheads="1"/>
              </p:cNvSpPr>
              <p:nvPr/>
            </p:nvSpPr>
            <p:spPr bwMode="auto">
              <a:xfrm>
                <a:off x="4505" y="3136"/>
                <a:ext cx="41" cy="112"/>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nvGrpSpPr>
              <p:cNvPr id="346" name="Group 89"/>
              <p:cNvGrpSpPr>
                <a:grpSpLocks/>
              </p:cNvGrpSpPr>
              <p:nvPr/>
            </p:nvGrpSpPr>
            <p:grpSpPr bwMode="auto">
              <a:xfrm>
                <a:off x="4504" y="3149"/>
                <a:ext cx="43" cy="87"/>
                <a:chOff x="4504" y="3149"/>
                <a:chExt cx="43" cy="87"/>
              </a:xfrm>
              <a:grpFill/>
            </p:grpSpPr>
            <p:sp>
              <p:nvSpPr>
                <p:cNvPr id="347" name="Line 90"/>
                <p:cNvSpPr>
                  <a:spLocks noChangeShapeType="1"/>
                </p:cNvSpPr>
                <p:nvPr/>
              </p:nvSpPr>
              <p:spPr bwMode="auto">
                <a:xfrm>
                  <a:off x="4504" y="3163"/>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48" name="Line 91"/>
                <p:cNvSpPr>
                  <a:spLocks noChangeShapeType="1"/>
                </p:cNvSpPr>
                <p:nvPr/>
              </p:nvSpPr>
              <p:spPr bwMode="auto">
                <a:xfrm>
                  <a:off x="4504" y="3206"/>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49" name="Line 92"/>
                <p:cNvSpPr>
                  <a:spLocks noChangeShapeType="1"/>
                </p:cNvSpPr>
                <p:nvPr/>
              </p:nvSpPr>
              <p:spPr bwMode="auto">
                <a:xfrm>
                  <a:off x="4504" y="3192"/>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50" name="Line 93"/>
                <p:cNvSpPr>
                  <a:spLocks noChangeShapeType="1"/>
                </p:cNvSpPr>
                <p:nvPr/>
              </p:nvSpPr>
              <p:spPr bwMode="auto">
                <a:xfrm>
                  <a:off x="4504" y="3178"/>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51" name="Line 94"/>
                <p:cNvSpPr>
                  <a:spLocks noChangeShapeType="1"/>
                </p:cNvSpPr>
                <p:nvPr/>
              </p:nvSpPr>
              <p:spPr bwMode="auto">
                <a:xfrm>
                  <a:off x="4504" y="3149"/>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52" name="Line 95"/>
                <p:cNvSpPr>
                  <a:spLocks noChangeShapeType="1"/>
                </p:cNvSpPr>
                <p:nvPr/>
              </p:nvSpPr>
              <p:spPr bwMode="auto">
                <a:xfrm>
                  <a:off x="4504" y="3220"/>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53" name="Line 96"/>
                <p:cNvSpPr>
                  <a:spLocks noChangeShapeType="1"/>
                </p:cNvSpPr>
                <p:nvPr/>
              </p:nvSpPr>
              <p:spPr bwMode="auto">
                <a:xfrm>
                  <a:off x="4504" y="3235"/>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sp>
          <p:nvSpPr>
            <p:cNvPr id="333" name="Rectangle 97"/>
            <p:cNvSpPr>
              <a:spLocks noChangeArrowheads="1"/>
            </p:cNvSpPr>
            <p:nvPr/>
          </p:nvSpPr>
          <p:spPr bwMode="auto">
            <a:xfrm>
              <a:off x="4775" y="3164"/>
              <a:ext cx="12" cy="27"/>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34" name="Freeform 98"/>
            <p:cNvSpPr>
              <a:spLocks/>
            </p:cNvSpPr>
            <p:nvPr/>
          </p:nvSpPr>
          <p:spPr bwMode="auto">
            <a:xfrm>
              <a:off x="4696" y="2871"/>
              <a:ext cx="32" cy="55"/>
            </a:xfrm>
            <a:custGeom>
              <a:avLst/>
              <a:gdLst>
                <a:gd name="T0" fmla="*/ 107 w 129"/>
                <a:gd name="T1" fmla="*/ 0 h 221"/>
                <a:gd name="T2" fmla="*/ 0 w 129"/>
                <a:gd name="T3" fmla="*/ 185 h 221"/>
                <a:gd name="T4" fmla="*/ 21 w 129"/>
                <a:gd name="T5" fmla="*/ 221 h 221"/>
                <a:gd name="T6" fmla="*/ 129 w 129"/>
                <a:gd name="T7" fmla="*/ 7 h 221"/>
                <a:gd name="T8" fmla="*/ 107 w 129"/>
                <a:gd name="T9" fmla="*/ 0 h 221"/>
              </a:gdLst>
              <a:ahLst/>
              <a:cxnLst>
                <a:cxn ang="0">
                  <a:pos x="T0" y="T1"/>
                </a:cxn>
                <a:cxn ang="0">
                  <a:pos x="T2" y="T3"/>
                </a:cxn>
                <a:cxn ang="0">
                  <a:pos x="T4" y="T5"/>
                </a:cxn>
                <a:cxn ang="0">
                  <a:pos x="T6" y="T7"/>
                </a:cxn>
                <a:cxn ang="0">
                  <a:pos x="T8" y="T9"/>
                </a:cxn>
              </a:cxnLst>
              <a:rect l="0" t="0" r="r" b="b"/>
              <a:pathLst>
                <a:path w="129" h="221">
                  <a:moveTo>
                    <a:pt x="107" y="0"/>
                  </a:moveTo>
                  <a:lnTo>
                    <a:pt x="0" y="185"/>
                  </a:lnTo>
                  <a:lnTo>
                    <a:pt x="21" y="221"/>
                  </a:lnTo>
                  <a:lnTo>
                    <a:pt x="129" y="7"/>
                  </a:lnTo>
                  <a:lnTo>
                    <a:pt x="107"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35" name="Freeform 99"/>
            <p:cNvSpPr>
              <a:spLocks/>
            </p:cNvSpPr>
            <p:nvPr/>
          </p:nvSpPr>
          <p:spPr bwMode="auto">
            <a:xfrm>
              <a:off x="4657" y="2848"/>
              <a:ext cx="62" cy="16"/>
            </a:xfrm>
            <a:custGeom>
              <a:avLst/>
              <a:gdLst>
                <a:gd name="T0" fmla="*/ 241 w 249"/>
                <a:gd name="T1" fmla="*/ 0 h 66"/>
                <a:gd name="T2" fmla="*/ 0 w 249"/>
                <a:gd name="T3" fmla="*/ 36 h 66"/>
                <a:gd name="T4" fmla="*/ 35 w 249"/>
                <a:gd name="T5" fmla="*/ 66 h 66"/>
                <a:gd name="T6" fmla="*/ 249 w 249"/>
                <a:gd name="T7" fmla="*/ 22 h 66"/>
                <a:gd name="T8" fmla="*/ 241 w 249"/>
                <a:gd name="T9" fmla="*/ 0 h 66"/>
              </a:gdLst>
              <a:ahLst/>
              <a:cxnLst>
                <a:cxn ang="0">
                  <a:pos x="T0" y="T1"/>
                </a:cxn>
                <a:cxn ang="0">
                  <a:pos x="T2" y="T3"/>
                </a:cxn>
                <a:cxn ang="0">
                  <a:pos x="T4" y="T5"/>
                </a:cxn>
                <a:cxn ang="0">
                  <a:pos x="T6" y="T7"/>
                </a:cxn>
                <a:cxn ang="0">
                  <a:pos x="T8" y="T9"/>
                </a:cxn>
              </a:cxnLst>
              <a:rect l="0" t="0" r="r" b="b"/>
              <a:pathLst>
                <a:path w="249" h="66">
                  <a:moveTo>
                    <a:pt x="241" y="0"/>
                  </a:moveTo>
                  <a:lnTo>
                    <a:pt x="0" y="36"/>
                  </a:lnTo>
                  <a:lnTo>
                    <a:pt x="35" y="66"/>
                  </a:lnTo>
                  <a:lnTo>
                    <a:pt x="249" y="22"/>
                  </a:lnTo>
                  <a:lnTo>
                    <a:pt x="241"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36" name="Freeform 100"/>
            <p:cNvSpPr>
              <a:spLocks/>
            </p:cNvSpPr>
            <p:nvPr/>
          </p:nvSpPr>
          <p:spPr bwMode="auto">
            <a:xfrm>
              <a:off x="4516" y="2720"/>
              <a:ext cx="233" cy="367"/>
            </a:xfrm>
            <a:custGeom>
              <a:avLst/>
              <a:gdLst>
                <a:gd name="T0" fmla="*/ 30 w 931"/>
                <a:gd name="T1" fmla="*/ 53 h 1469"/>
                <a:gd name="T2" fmla="*/ 16 w 931"/>
                <a:gd name="T3" fmla="*/ 96 h 1469"/>
                <a:gd name="T4" fmla="*/ 4 w 931"/>
                <a:gd name="T5" fmla="*/ 150 h 1469"/>
                <a:gd name="T6" fmla="*/ 0 w 931"/>
                <a:gd name="T7" fmla="*/ 207 h 1469"/>
                <a:gd name="T8" fmla="*/ 0 w 931"/>
                <a:gd name="T9" fmla="*/ 264 h 1469"/>
                <a:gd name="T10" fmla="*/ 12 w 931"/>
                <a:gd name="T11" fmla="*/ 338 h 1469"/>
                <a:gd name="T12" fmla="*/ 23 w 931"/>
                <a:gd name="T13" fmla="*/ 431 h 1469"/>
                <a:gd name="T14" fmla="*/ 44 w 931"/>
                <a:gd name="T15" fmla="*/ 534 h 1469"/>
                <a:gd name="T16" fmla="*/ 79 w 931"/>
                <a:gd name="T17" fmla="*/ 653 h 1469"/>
                <a:gd name="T18" fmla="*/ 133 w 931"/>
                <a:gd name="T19" fmla="*/ 767 h 1469"/>
                <a:gd name="T20" fmla="*/ 218 w 931"/>
                <a:gd name="T21" fmla="*/ 902 h 1469"/>
                <a:gd name="T22" fmla="*/ 303 w 931"/>
                <a:gd name="T23" fmla="*/ 1031 h 1469"/>
                <a:gd name="T24" fmla="*/ 374 w 931"/>
                <a:gd name="T25" fmla="*/ 1116 h 1469"/>
                <a:gd name="T26" fmla="*/ 473 w 931"/>
                <a:gd name="T27" fmla="*/ 1219 h 1469"/>
                <a:gd name="T28" fmla="*/ 576 w 931"/>
                <a:gd name="T29" fmla="*/ 1305 h 1469"/>
                <a:gd name="T30" fmla="*/ 668 w 931"/>
                <a:gd name="T31" fmla="*/ 1373 h 1469"/>
                <a:gd name="T32" fmla="*/ 735 w 931"/>
                <a:gd name="T33" fmla="*/ 1415 h 1469"/>
                <a:gd name="T34" fmla="*/ 802 w 931"/>
                <a:gd name="T35" fmla="*/ 1447 h 1469"/>
                <a:gd name="T36" fmla="*/ 857 w 931"/>
                <a:gd name="T37" fmla="*/ 1469 h 1469"/>
                <a:gd name="T38" fmla="*/ 899 w 931"/>
                <a:gd name="T39" fmla="*/ 1469 h 1469"/>
                <a:gd name="T40" fmla="*/ 931 w 931"/>
                <a:gd name="T41" fmla="*/ 1451 h 1469"/>
                <a:gd name="T42" fmla="*/ 62 w 931"/>
                <a:gd name="T43" fmla="*/ 0 h 1469"/>
                <a:gd name="T44" fmla="*/ 30 w 931"/>
                <a:gd name="T45" fmla="*/ 53 h 1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1" h="1469">
                  <a:moveTo>
                    <a:pt x="30" y="53"/>
                  </a:moveTo>
                  <a:lnTo>
                    <a:pt x="16" y="96"/>
                  </a:lnTo>
                  <a:lnTo>
                    <a:pt x="4" y="150"/>
                  </a:lnTo>
                  <a:lnTo>
                    <a:pt x="0" y="207"/>
                  </a:lnTo>
                  <a:lnTo>
                    <a:pt x="0" y="264"/>
                  </a:lnTo>
                  <a:lnTo>
                    <a:pt x="12" y="338"/>
                  </a:lnTo>
                  <a:lnTo>
                    <a:pt x="23" y="431"/>
                  </a:lnTo>
                  <a:lnTo>
                    <a:pt x="44" y="534"/>
                  </a:lnTo>
                  <a:lnTo>
                    <a:pt x="79" y="653"/>
                  </a:lnTo>
                  <a:lnTo>
                    <a:pt x="133" y="767"/>
                  </a:lnTo>
                  <a:lnTo>
                    <a:pt x="218" y="902"/>
                  </a:lnTo>
                  <a:lnTo>
                    <a:pt x="303" y="1031"/>
                  </a:lnTo>
                  <a:lnTo>
                    <a:pt x="374" y="1116"/>
                  </a:lnTo>
                  <a:lnTo>
                    <a:pt x="473" y="1219"/>
                  </a:lnTo>
                  <a:lnTo>
                    <a:pt x="576" y="1305"/>
                  </a:lnTo>
                  <a:lnTo>
                    <a:pt x="668" y="1373"/>
                  </a:lnTo>
                  <a:lnTo>
                    <a:pt x="735" y="1415"/>
                  </a:lnTo>
                  <a:lnTo>
                    <a:pt x="802" y="1447"/>
                  </a:lnTo>
                  <a:lnTo>
                    <a:pt x="857" y="1469"/>
                  </a:lnTo>
                  <a:lnTo>
                    <a:pt x="899" y="1469"/>
                  </a:lnTo>
                  <a:lnTo>
                    <a:pt x="931" y="1451"/>
                  </a:lnTo>
                  <a:lnTo>
                    <a:pt x="62" y="0"/>
                  </a:lnTo>
                  <a:lnTo>
                    <a:pt x="30" y="53"/>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37" name="Freeform 101"/>
            <p:cNvSpPr>
              <a:spLocks/>
            </p:cNvSpPr>
            <p:nvPr/>
          </p:nvSpPr>
          <p:spPr bwMode="auto">
            <a:xfrm>
              <a:off x="4529" y="2719"/>
              <a:ext cx="220" cy="364"/>
            </a:xfrm>
            <a:custGeom>
              <a:avLst/>
              <a:gdLst>
                <a:gd name="T0" fmla="*/ 7 w 876"/>
                <a:gd name="T1" fmla="*/ 0 h 1455"/>
                <a:gd name="T2" fmla="*/ 0 w 876"/>
                <a:gd name="T3" fmla="*/ 29 h 1455"/>
                <a:gd name="T4" fmla="*/ 0 w 876"/>
                <a:gd name="T5" fmla="*/ 93 h 1455"/>
                <a:gd name="T6" fmla="*/ 3 w 876"/>
                <a:gd name="T7" fmla="*/ 168 h 1455"/>
                <a:gd name="T8" fmla="*/ 10 w 876"/>
                <a:gd name="T9" fmla="*/ 228 h 1455"/>
                <a:gd name="T10" fmla="*/ 21 w 876"/>
                <a:gd name="T11" fmla="*/ 307 h 1455"/>
                <a:gd name="T12" fmla="*/ 35 w 876"/>
                <a:gd name="T13" fmla="*/ 399 h 1455"/>
                <a:gd name="T14" fmla="*/ 56 w 876"/>
                <a:gd name="T15" fmla="*/ 496 h 1455"/>
                <a:gd name="T16" fmla="*/ 99 w 876"/>
                <a:gd name="T17" fmla="*/ 618 h 1455"/>
                <a:gd name="T18" fmla="*/ 163 w 876"/>
                <a:gd name="T19" fmla="*/ 757 h 1455"/>
                <a:gd name="T20" fmla="*/ 234 w 876"/>
                <a:gd name="T21" fmla="*/ 871 h 1455"/>
                <a:gd name="T22" fmla="*/ 319 w 876"/>
                <a:gd name="T23" fmla="*/ 992 h 1455"/>
                <a:gd name="T24" fmla="*/ 397 w 876"/>
                <a:gd name="T25" fmla="*/ 1084 h 1455"/>
                <a:gd name="T26" fmla="*/ 457 w 876"/>
                <a:gd name="T27" fmla="*/ 1147 h 1455"/>
                <a:gd name="T28" fmla="*/ 513 w 876"/>
                <a:gd name="T29" fmla="*/ 1206 h 1455"/>
                <a:gd name="T30" fmla="*/ 574 w 876"/>
                <a:gd name="T31" fmla="*/ 1263 h 1455"/>
                <a:gd name="T32" fmla="*/ 641 w 876"/>
                <a:gd name="T33" fmla="*/ 1318 h 1455"/>
                <a:gd name="T34" fmla="*/ 687 w 876"/>
                <a:gd name="T35" fmla="*/ 1355 h 1455"/>
                <a:gd name="T36" fmla="*/ 737 w 876"/>
                <a:gd name="T37" fmla="*/ 1387 h 1455"/>
                <a:gd name="T38" fmla="*/ 791 w 876"/>
                <a:gd name="T39" fmla="*/ 1418 h 1455"/>
                <a:gd name="T40" fmla="*/ 837 w 876"/>
                <a:gd name="T41" fmla="*/ 1448 h 1455"/>
                <a:gd name="T42" fmla="*/ 865 w 876"/>
                <a:gd name="T43" fmla="*/ 1455 h 1455"/>
                <a:gd name="T44" fmla="*/ 876 w 876"/>
                <a:gd name="T45" fmla="*/ 1434 h 1455"/>
                <a:gd name="T46" fmla="*/ 874 w 876"/>
                <a:gd name="T47" fmla="*/ 1404 h 1455"/>
                <a:gd name="T48" fmla="*/ 867 w 876"/>
                <a:gd name="T49" fmla="*/ 1369 h 1455"/>
                <a:gd name="T50" fmla="*/ 855 w 876"/>
                <a:gd name="T51" fmla="*/ 1309 h 1455"/>
                <a:gd name="T52" fmla="*/ 841 w 876"/>
                <a:gd name="T53" fmla="*/ 1229 h 1455"/>
                <a:gd name="T54" fmla="*/ 823 w 876"/>
                <a:gd name="T55" fmla="*/ 1156 h 1455"/>
                <a:gd name="T56" fmla="*/ 802 w 876"/>
                <a:gd name="T57" fmla="*/ 1069 h 1455"/>
                <a:gd name="T58" fmla="*/ 773 w 876"/>
                <a:gd name="T59" fmla="*/ 978 h 1455"/>
                <a:gd name="T60" fmla="*/ 741 w 876"/>
                <a:gd name="T61" fmla="*/ 905 h 1455"/>
                <a:gd name="T62" fmla="*/ 715 w 876"/>
                <a:gd name="T63" fmla="*/ 842 h 1455"/>
                <a:gd name="T64" fmla="*/ 674 w 876"/>
                <a:gd name="T65" fmla="*/ 759 h 1455"/>
                <a:gd name="T66" fmla="*/ 634 w 876"/>
                <a:gd name="T67" fmla="*/ 686 h 1455"/>
                <a:gd name="T68" fmla="*/ 586 w 876"/>
                <a:gd name="T69" fmla="*/ 606 h 1455"/>
                <a:gd name="T70" fmla="*/ 510 w 876"/>
                <a:gd name="T71" fmla="*/ 506 h 1455"/>
                <a:gd name="T72" fmla="*/ 457 w 876"/>
                <a:gd name="T73" fmla="*/ 435 h 1455"/>
                <a:gd name="T74" fmla="*/ 380 w 876"/>
                <a:gd name="T75" fmla="*/ 338 h 1455"/>
                <a:gd name="T76" fmla="*/ 308 w 876"/>
                <a:gd name="T77" fmla="*/ 268 h 1455"/>
                <a:gd name="T78" fmla="*/ 237 w 876"/>
                <a:gd name="T79" fmla="*/ 195 h 1455"/>
                <a:gd name="T80" fmla="*/ 184 w 876"/>
                <a:gd name="T81" fmla="*/ 143 h 1455"/>
                <a:gd name="T82" fmla="*/ 127 w 876"/>
                <a:gd name="T83" fmla="*/ 88 h 1455"/>
                <a:gd name="T84" fmla="*/ 85 w 876"/>
                <a:gd name="T85" fmla="*/ 50 h 1455"/>
                <a:gd name="T86" fmla="*/ 42 w 876"/>
                <a:gd name="T87" fmla="*/ 15 h 1455"/>
                <a:gd name="T88" fmla="*/ 7 w 876"/>
                <a:gd name="T89" fmla="*/ 0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76" h="1455">
                  <a:moveTo>
                    <a:pt x="7" y="0"/>
                  </a:moveTo>
                  <a:lnTo>
                    <a:pt x="0" y="29"/>
                  </a:lnTo>
                  <a:lnTo>
                    <a:pt x="0" y="93"/>
                  </a:lnTo>
                  <a:lnTo>
                    <a:pt x="3" y="168"/>
                  </a:lnTo>
                  <a:lnTo>
                    <a:pt x="10" y="228"/>
                  </a:lnTo>
                  <a:lnTo>
                    <a:pt x="21" y="307"/>
                  </a:lnTo>
                  <a:lnTo>
                    <a:pt x="35" y="399"/>
                  </a:lnTo>
                  <a:lnTo>
                    <a:pt x="56" y="496"/>
                  </a:lnTo>
                  <a:lnTo>
                    <a:pt x="99" y="618"/>
                  </a:lnTo>
                  <a:lnTo>
                    <a:pt x="163" y="757"/>
                  </a:lnTo>
                  <a:lnTo>
                    <a:pt x="234" y="871"/>
                  </a:lnTo>
                  <a:lnTo>
                    <a:pt x="319" y="992"/>
                  </a:lnTo>
                  <a:lnTo>
                    <a:pt x="397" y="1084"/>
                  </a:lnTo>
                  <a:lnTo>
                    <a:pt x="457" y="1147"/>
                  </a:lnTo>
                  <a:lnTo>
                    <a:pt x="513" y="1206"/>
                  </a:lnTo>
                  <a:lnTo>
                    <a:pt x="574" y="1263"/>
                  </a:lnTo>
                  <a:lnTo>
                    <a:pt x="641" y="1318"/>
                  </a:lnTo>
                  <a:lnTo>
                    <a:pt x="687" y="1355"/>
                  </a:lnTo>
                  <a:lnTo>
                    <a:pt x="737" y="1387"/>
                  </a:lnTo>
                  <a:lnTo>
                    <a:pt x="791" y="1418"/>
                  </a:lnTo>
                  <a:lnTo>
                    <a:pt x="837" y="1448"/>
                  </a:lnTo>
                  <a:lnTo>
                    <a:pt x="865" y="1455"/>
                  </a:lnTo>
                  <a:lnTo>
                    <a:pt x="876" y="1434"/>
                  </a:lnTo>
                  <a:lnTo>
                    <a:pt x="874" y="1404"/>
                  </a:lnTo>
                  <a:lnTo>
                    <a:pt x="867" y="1369"/>
                  </a:lnTo>
                  <a:lnTo>
                    <a:pt x="855" y="1309"/>
                  </a:lnTo>
                  <a:lnTo>
                    <a:pt x="841" y="1229"/>
                  </a:lnTo>
                  <a:lnTo>
                    <a:pt x="823" y="1156"/>
                  </a:lnTo>
                  <a:lnTo>
                    <a:pt x="802" y="1069"/>
                  </a:lnTo>
                  <a:lnTo>
                    <a:pt x="773" y="978"/>
                  </a:lnTo>
                  <a:lnTo>
                    <a:pt x="741" y="905"/>
                  </a:lnTo>
                  <a:lnTo>
                    <a:pt x="715" y="842"/>
                  </a:lnTo>
                  <a:lnTo>
                    <a:pt x="674" y="759"/>
                  </a:lnTo>
                  <a:lnTo>
                    <a:pt x="634" y="686"/>
                  </a:lnTo>
                  <a:lnTo>
                    <a:pt x="586" y="606"/>
                  </a:lnTo>
                  <a:lnTo>
                    <a:pt x="510" y="506"/>
                  </a:lnTo>
                  <a:lnTo>
                    <a:pt x="457" y="435"/>
                  </a:lnTo>
                  <a:lnTo>
                    <a:pt x="380" y="338"/>
                  </a:lnTo>
                  <a:lnTo>
                    <a:pt x="308" y="268"/>
                  </a:lnTo>
                  <a:lnTo>
                    <a:pt x="237" y="195"/>
                  </a:lnTo>
                  <a:lnTo>
                    <a:pt x="184" y="143"/>
                  </a:lnTo>
                  <a:lnTo>
                    <a:pt x="127" y="88"/>
                  </a:lnTo>
                  <a:lnTo>
                    <a:pt x="85" y="50"/>
                  </a:lnTo>
                  <a:lnTo>
                    <a:pt x="42" y="15"/>
                  </a:lnTo>
                  <a:lnTo>
                    <a:pt x="7"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38" name="Freeform 102"/>
            <p:cNvSpPr>
              <a:spLocks/>
            </p:cNvSpPr>
            <p:nvPr/>
          </p:nvSpPr>
          <p:spPr bwMode="auto">
            <a:xfrm>
              <a:off x="4537" y="2812"/>
              <a:ext cx="216" cy="16"/>
            </a:xfrm>
            <a:custGeom>
              <a:avLst/>
              <a:gdLst>
                <a:gd name="T0" fmla="*/ 0 w 862"/>
                <a:gd name="T1" fmla="*/ 0 h 64"/>
                <a:gd name="T2" fmla="*/ 862 w 862"/>
                <a:gd name="T3" fmla="*/ 36 h 64"/>
                <a:gd name="T4" fmla="*/ 855 w 862"/>
                <a:gd name="T5" fmla="*/ 64 h 64"/>
                <a:gd name="T6" fmla="*/ 3 w 862"/>
                <a:gd name="T7" fmla="*/ 28 h 64"/>
                <a:gd name="T8" fmla="*/ 0 w 862"/>
                <a:gd name="T9" fmla="*/ 0 h 64"/>
              </a:gdLst>
              <a:ahLst/>
              <a:cxnLst>
                <a:cxn ang="0">
                  <a:pos x="T0" y="T1"/>
                </a:cxn>
                <a:cxn ang="0">
                  <a:pos x="T2" y="T3"/>
                </a:cxn>
                <a:cxn ang="0">
                  <a:pos x="T4" y="T5"/>
                </a:cxn>
                <a:cxn ang="0">
                  <a:pos x="T6" y="T7"/>
                </a:cxn>
                <a:cxn ang="0">
                  <a:pos x="T8" y="T9"/>
                </a:cxn>
              </a:cxnLst>
              <a:rect l="0" t="0" r="r" b="b"/>
              <a:pathLst>
                <a:path w="862" h="64">
                  <a:moveTo>
                    <a:pt x="0" y="0"/>
                  </a:moveTo>
                  <a:lnTo>
                    <a:pt x="862" y="36"/>
                  </a:lnTo>
                  <a:lnTo>
                    <a:pt x="855" y="64"/>
                  </a:lnTo>
                  <a:lnTo>
                    <a:pt x="3" y="28"/>
                  </a:lnTo>
                  <a:lnTo>
                    <a:pt x="0"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39" name="Freeform 103"/>
            <p:cNvSpPr>
              <a:spLocks/>
            </p:cNvSpPr>
            <p:nvPr/>
          </p:nvSpPr>
          <p:spPr bwMode="auto">
            <a:xfrm>
              <a:off x="4685" y="2860"/>
              <a:ext cx="77" cy="190"/>
            </a:xfrm>
            <a:custGeom>
              <a:avLst/>
              <a:gdLst>
                <a:gd name="T0" fmla="*/ 271 w 306"/>
                <a:gd name="T1" fmla="*/ 16 h 760"/>
                <a:gd name="T2" fmla="*/ 0 w 306"/>
                <a:gd name="T3" fmla="*/ 742 h 760"/>
                <a:gd name="T4" fmla="*/ 25 w 306"/>
                <a:gd name="T5" fmla="*/ 760 h 760"/>
                <a:gd name="T6" fmla="*/ 306 w 306"/>
                <a:gd name="T7" fmla="*/ 0 h 760"/>
                <a:gd name="T8" fmla="*/ 271 w 306"/>
                <a:gd name="T9" fmla="*/ 16 h 760"/>
              </a:gdLst>
              <a:ahLst/>
              <a:cxnLst>
                <a:cxn ang="0">
                  <a:pos x="T0" y="T1"/>
                </a:cxn>
                <a:cxn ang="0">
                  <a:pos x="T2" y="T3"/>
                </a:cxn>
                <a:cxn ang="0">
                  <a:pos x="T4" y="T5"/>
                </a:cxn>
                <a:cxn ang="0">
                  <a:pos x="T6" y="T7"/>
                </a:cxn>
                <a:cxn ang="0">
                  <a:pos x="T8" y="T9"/>
                </a:cxn>
              </a:cxnLst>
              <a:rect l="0" t="0" r="r" b="b"/>
              <a:pathLst>
                <a:path w="306" h="760">
                  <a:moveTo>
                    <a:pt x="271" y="16"/>
                  </a:moveTo>
                  <a:lnTo>
                    <a:pt x="0" y="742"/>
                  </a:lnTo>
                  <a:lnTo>
                    <a:pt x="25" y="760"/>
                  </a:lnTo>
                  <a:lnTo>
                    <a:pt x="306" y="0"/>
                  </a:lnTo>
                  <a:lnTo>
                    <a:pt x="271" y="16"/>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40" name="Freeform 104"/>
            <p:cNvSpPr>
              <a:spLocks/>
            </p:cNvSpPr>
            <p:nvPr/>
          </p:nvSpPr>
          <p:spPr bwMode="auto">
            <a:xfrm>
              <a:off x="4712" y="2823"/>
              <a:ext cx="63" cy="52"/>
            </a:xfrm>
            <a:custGeom>
              <a:avLst/>
              <a:gdLst>
                <a:gd name="T0" fmla="*/ 189 w 252"/>
                <a:gd name="T1" fmla="*/ 0 h 208"/>
                <a:gd name="T2" fmla="*/ 10 w 252"/>
                <a:gd name="T3" fmla="*/ 64 h 208"/>
                <a:gd name="T4" fmla="*/ 3 w 252"/>
                <a:gd name="T5" fmla="*/ 75 h 208"/>
                <a:gd name="T6" fmla="*/ 0 w 252"/>
                <a:gd name="T7" fmla="*/ 96 h 208"/>
                <a:gd name="T8" fmla="*/ 2 w 252"/>
                <a:gd name="T9" fmla="*/ 126 h 208"/>
                <a:gd name="T10" fmla="*/ 4 w 252"/>
                <a:gd name="T11" fmla="*/ 144 h 208"/>
                <a:gd name="T12" fmla="*/ 15 w 252"/>
                <a:gd name="T13" fmla="*/ 170 h 208"/>
                <a:gd name="T14" fmla="*/ 33 w 252"/>
                <a:gd name="T15" fmla="*/ 190 h 208"/>
                <a:gd name="T16" fmla="*/ 58 w 252"/>
                <a:gd name="T17" fmla="*/ 204 h 208"/>
                <a:gd name="T18" fmla="*/ 72 w 252"/>
                <a:gd name="T19" fmla="*/ 208 h 208"/>
                <a:gd name="T20" fmla="*/ 86 w 252"/>
                <a:gd name="T21" fmla="*/ 208 h 208"/>
                <a:gd name="T22" fmla="*/ 252 w 252"/>
                <a:gd name="T23" fmla="*/ 128 h 208"/>
                <a:gd name="T24" fmla="*/ 221 w 252"/>
                <a:gd name="T25" fmla="*/ 103 h 208"/>
                <a:gd name="T26" fmla="*/ 203 w 252"/>
                <a:gd name="T27" fmla="*/ 78 h 208"/>
                <a:gd name="T28" fmla="*/ 189 w 252"/>
                <a:gd name="T29"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2" h="208">
                  <a:moveTo>
                    <a:pt x="189" y="0"/>
                  </a:moveTo>
                  <a:lnTo>
                    <a:pt x="10" y="64"/>
                  </a:lnTo>
                  <a:lnTo>
                    <a:pt x="3" y="75"/>
                  </a:lnTo>
                  <a:lnTo>
                    <a:pt x="0" y="96"/>
                  </a:lnTo>
                  <a:lnTo>
                    <a:pt x="2" y="126"/>
                  </a:lnTo>
                  <a:lnTo>
                    <a:pt x="4" y="144"/>
                  </a:lnTo>
                  <a:lnTo>
                    <a:pt x="15" y="170"/>
                  </a:lnTo>
                  <a:lnTo>
                    <a:pt x="33" y="190"/>
                  </a:lnTo>
                  <a:lnTo>
                    <a:pt x="58" y="204"/>
                  </a:lnTo>
                  <a:lnTo>
                    <a:pt x="72" y="208"/>
                  </a:lnTo>
                  <a:lnTo>
                    <a:pt x="86" y="208"/>
                  </a:lnTo>
                  <a:lnTo>
                    <a:pt x="252" y="128"/>
                  </a:lnTo>
                  <a:lnTo>
                    <a:pt x="221" y="103"/>
                  </a:lnTo>
                  <a:lnTo>
                    <a:pt x="203" y="78"/>
                  </a:lnTo>
                  <a:lnTo>
                    <a:pt x="189"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41" name="Freeform 105"/>
            <p:cNvSpPr>
              <a:spLocks/>
            </p:cNvSpPr>
            <p:nvPr/>
          </p:nvSpPr>
          <p:spPr bwMode="auto">
            <a:xfrm>
              <a:off x="4749" y="2816"/>
              <a:ext cx="35" cy="49"/>
            </a:xfrm>
            <a:custGeom>
              <a:avLst/>
              <a:gdLst>
                <a:gd name="T0" fmla="*/ 83 w 141"/>
                <a:gd name="T1" fmla="*/ 28 h 194"/>
                <a:gd name="T2" fmla="*/ 76 w 141"/>
                <a:gd name="T3" fmla="*/ 16 h 194"/>
                <a:gd name="T4" fmla="*/ 62 w 141"/>
                <a:gd name="T5" fmla="*/ 6 h 194"/>
                <a:gd name="T6" fmla="*/ 37 w 141"/>
                <a:gd name="T7" fmla="*/ 0 h 194"/>
                <a:gd name="T8" fmla="*/ 23 w 141"/>
                <a:gd name="T9" fmla="*/ 2 h 194"/>
                <a:gd name="T10" fmla="*/ 13 w 141"/>
                <a:gd name="T11" fmla="*/ 13 h 194"/>
                <a:gd name="T12" fmla="*/ 5 w 141"/>
                <a:gd name="T13" fmla="*/ 28 h 194"/>
                <a:gd name="T14" fmla="*/ 0 w 141"/>
                <a:gd name="T15" fmla="*/ 52 h 194"/>
                <a:gd name="T16" fmla="*/ 1 w 141"/>
                <a:gd name="T17" fmla="*/ 65 h 194"/>
                <a:gd name="T18" fmla="*/ 4 w 141"/>
                <a:gd name="T19" fmla="*/ 83 h 194"/>
                <a:gd name="T20" fmla="*/ 10 w 141"/>
                <a:gd name="T21" fmla="*/ 109 h 194"/>
                <a:gd name="T22" fmla="*/ 20 w 141"/>
                <a:gd name="T23" fmla="*/ 130 h 194"/>
                <a:gd name="T24" fmla="*/ 32 w 141"/>
                <a:gd name="T25" fmla="*/ 149 h 194"/>
                <a:gd name="T26" fmla="*/ 45 w 141"/>
                <a:gd name="T27" fmla="*/ 166 h 194"/>
                <a:gd name="T28" fmla="*/ 59 w 141"/>
                <a:gd name="T29" fmla="*/ 180 h 194"/>
                <a:gd name="T30" fmla="*/ 77 w 141"/>
                <a:gd name="T31" fmla="*/ 188 h 194"/>
                <a:gd name="T32" fmla="*/ 98 w 141"/>
                <a:gd name="T33" fmla="*/ 194 h 194"/>
                <a:gd name="T34" fmla="*/ 116 w 141"/>
                <a:gd name="T35" fmla="*/ 194 h 194"/>
                <a:gd name="T36" fmla="*/ 132 w 141"/>
                <a:gd name="T37" fmla="*/ 185 h 194"/>
                <a:gd name="T38" fmla="*/ 140 w 141"/>
                <a:gd name="T39" fmla="*/ 170 h 194"/>
                <a:gd name="T40" fmla="*/ 141 w 141"/>
                <a:gd name="T41" fmla="*/ 148 h 194"/>
                <a:gd name="T42" fmla="*/ 136 w 141"/>
                <a:gd name="T43" fmla="*/ 124 h 194"/>
                <a:gd name="T44" fmla="*/ 125 w 141"/>
                <a:gd name="T45" fmla="*/ 92 h 194"/>
                <a:gd name="T46" fmla="*/ 101 w 141"/>
                <a:gd name="T47" fmla="*/ 52 h 194"/>
                <a:gd name="T48" fmla="*/ 83 w 141"/>
                <a:gd name="T49" fmla="*/ 28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1" h="194">
                  <a:moveTo>
                    <a:pt x="83" y="28"/>
                  </a:moveTo>
                  <a:lnTo>
                    <a:pt x="76" y="16"/>
                  </a:lnTo>
                  <a:lnTo>
                    <a:pt x="62" y="6"/>
                  </a:lnTo>
                  <a:lnTo>
                    <a:pt x="37" y="0"/>
                  </a:lnTo>
                  <a:lnTo>
                    <a:pt x="23" y="2"/>
                  </a:lnTo>
                  <a:lnTo>
                    <a:pt x="13" y="13"/>
                  </a:lnTo>
                  <a:lnTo>
                    <a:pt x="5" y="28"/>
                  </a:lnTo>
                  <a:lnTo>
                    <a:pt x="0" y="52"/>
                  </a:lnTo>
                  <a:lnTo>
                    <a:pt x="1" y="65"/>
                  </a:lnTo>
                  <a:lnTo>
                    <a:pt x="4" y="83"/>
                  </a:lnTo>
                  <a:lnTo>
                    <a:pt x="10" y="109"/>
                  </a:lnTo>
                  <a:lnTo>
                    <a:pt x="20" y="130"/>
                  </a:lnTo>
                  <a:lnTo>
                    <a:pt x="32" y="149"/>
                  </a:lnTo>
                  <a:lnTo>
                    <a:pt x="45" y="166"/>
                  </a:lnTo>
                  <a:lnTo>
                    <a:pt x="59" y="180"/>
                  </a:lnTo>
                  <a:lnTo>
                    <a:pt x="77" y="188"/>
                  </a:lnTo>
                  <a:lnTo>
                    <a:pt x="98" y="194"/>
                  </a:lnTo>
                  <a:lnTo>
                    <a:pt x="116" y="194"/>
                  </a:lnTo>
                  <a:lnTo>
                    <a:pt x="132" y="185"/>
                  </a:lnTo>
                  <a:lnTo>
                    <a:pt x="140" y="170"/>
                  </a:lnTo>
                  <a:lnTo>
                    <a:pt x="141" y="148"/>
                  </a:lnTo>
                  <a:lnTo>
                    <a:pt x="136" y="124"/>
                  </a:lnTo>
                  <a:lnTo>
                    <a:pt x="125" y="92"/>
                  </a:lnTo>
                  <a:lnTo>
                    <a:pt x="101" y="52"/>
                  </a:lnTo>
                  <a:lnTo>
                    <a:pt x="83" y="28"/>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42" name="Freeform 106"/>
            <p:cNvSpPr>
              <a:spLocks/>
            </p:cNvSpPr>
            <p:nvPr/>
          </p:nvSpPr>
          <p:spPr bwMode="auto">
            <a:xfrm>
              <a:off x="4758" y="2819"/>
              <a:ext cx="43" cy="35"/>
            </a:xfrm>
            <a:custGeom>
              <a:avLst/>
              <a:gdLst>
                <a:gd name="T0" fmla="*/ 13 w 173"/>
                <a:gd name="T1" fmla="*/ 31 h 139"/>
                <a:gd name="T2" fmla="*/ 122 w 173"/>
                <a:gd name="T3" fmla="*/ 4 h 139"/>
                <a:gd name="T4" fmla="*/ 148 w 173"/>
                <a:gd name="T5" fmla="*/ 0 h 139"/>
                <a:gd name="T6" fmla="*/ 165 w 173"/>
                <a:gd name="T7" fmla="*/ 4 h 139"/>
                <a:gd name="T8" fmla="*/ 171 w 173"/>
                <a:gd name="T9" fmla="*/ 11 h 139"/>
                <a:gd name="T10" fmla="*/ 173 w 173"/>
                <a:gd name="T11" fmla="*/ 25 h 139"/>
                <a:gd name="T12" fmla="*/ 165 w 173"/>
                <a:gd name="T13" fmla="*/ 47 h 139"/>
                <a:gd name="T14" fmla="*/ 65 w 173"/>
                <a:gd name="T15" fmla="*/ 139 h 139"/>
                <a:gd name="T16" fmla="*/ 51 w 173"/>
                <a:gd name="T17" fmla="*/ 138 h 139"/>
                <a:gd name="T18" fmla="*/ 34 w 173"/>
                <a:gd name="T19" fmla="*/ 132 h 139"/>
                <a:gd name="T20" fmla="*/ 23 w 173"/>
                <a:gd name="T21" fmla="*/ 120 h 139"/>
                <a:gd name="T22" fmla="*/ 8 w 173"/>
                <a:gd name="T23" fmla="*/ 103 h 139"/>
                <a:gd name="T24" fmla="*/ 1 w 173"/>
                <a:gd name="T25" fmla="*/ 85 h 139"/>
                <a:gd name="T26" fmla="*/ 0 w 173"/>
                <a:gd name="T27" fmla="*/ 65 h 139"/>
                <a:gd name="T28" fmla="*/ 5 w 173"/>
                <a:gd name="T29" fmla="*/ 46 h 139"/>
                <a:gd name="T30" fmla="*/ 13 w 173"/>
                <a:gd name="T31" fmla="*/ 31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3" h="139">
                  <a:moveTo>
                    <a:pt x="13" y="31"/>
                  </a:moveTo>
                  <a:lnTo>
                    <a:pt x="122" y="4"/>
                  </a:lnTo>
                  <a:lnTo>
                    <a:pt x="148" y="0"/>
                  </a:lnTo>
                  <a:lnTo>
                    <a:pt x="165" y="4"/>
                  </a:lnTo>
                  <a:lnTo>
                    <a:pt x="171" y="11"/>
                  </a:lnTo>
                  <a:lnTo>
                    <a:pt x="173" y="25"/>
                  </a:lnTo>
                  <a:lnTo>
                    <a:pt x="165" y="47"/>
                  </a:lnTo>
                  <a:lnTo>
                    <a:pt x="65" y="139"/>
                  </a:lnTo>
                  <a:lnTo>
                    <a:pt x="51" y="138"/>
                  </a:lnTo>
                  <a:lnTo>
                    <a:pt x="34" y="132"/>
                  </a:lnTo>
                  <a:lnTo>
                    <a:pt x="23" y="120"/>
                  </a:lnTo>
                  <a:lnTo>
                    <a:pt x="8" y="103"/>
                  </a:lnTo>
                  <a:lnTo>
                    <a:pt x="1" y="85"/>
                  </a:lnTo>
                  <a:lnTo>
                    <a:pt x="0" y="65"/>
                  </a:lnTo>
                  <a:lnTo>
                    <a:pt x="5" y="46"/>
                  </a:lnTo>
                  <a:lnTo>
                    <a:pt x="13" y="31"/>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43" name="Freeform 107"/>
            <p:cNvSpPr>
              <a:spLocks/>
            </p:cNvSpPr>
            <p:nvPr/>
          </p:nvSpPr>
          <p:spPr bwMode="auto">
            <a:xfrm>
              <a:off x="4725" y="2836"/>
              <a:ext cx="19" cy="35"/>
            </a:xfrm>
            <a:custGeom>
              <a:avLst/>
              <a:gdLst>
                <a:gd name="T0" fmla="*/ 5 w 74"/>
                <a:gd name="T1" fmla="*/ 0 h 140"/>
                <a:gd name="T2" fmla="*/ 0 w 74"/>
                <a:gd name="T3" fmla="*/ 23 h 140"/>
                <a:gd name="T4" fmla="*/ 0 w 74"/>
                <a:gd name="T5" fmla="*/ 43 h 140"/>
                <a:gd name="T6" fmla="*/ 6 w 74"/>
                <a:gd name="T7" fmla="*/ 68 h 140"/>
                <a:gd name="T8" fmla="*/ 12 w 74"/>
                <a:gd name="T9" fmla="*/ 89 h 140"/>
                <a:gd name="T10" fmla="*/ 27 w 74"/>
                <a:gd name="T11" fmla="*/ 109 h 140"/>
                <a:gd name="T12" fmla="*/ 41 w 74"/>
                <a:gd name="T13" fmla="*/ 122 h 140"/>
                <a:gd name="T14" fmla="*/ 52 w 74"/>
                <a:gd name="T15" fmla="*/ 129 h 140"/>
                <a:gd name="T16" fmla="*/ 62 w 74"/>
                <a:gd name="T17" fmla="*/ 134 h 140"/>
                <a:gd name="T18" fmla="*/ 74 w 74"/>
                <a:gd name="T19"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40">
                  <a:moveTo>
                    <a:pt x="5" y="0"/>
                  </a:moveTo>
                  <a:lnTo>
                    <a:pt x="0" y="23"/>
                  </a:lnTo>
                  <a:lnTo>
                    <a:pt x="0" y="43"/>
                  </a:lnTo>
                  <a:lnTo>
                    <a:pt x="6" y="68"/>
                  </a:lnTo>
                  <a:lnTo>
                    <a:pt x="12" y="89"/>
                  </a:lnTo>
                  <a:lnTo>
                    <a:pt x="27" y="109"/>
                  </a:lnTo>
                  <a:lnTo>
                    <a:pt x="41" y="122"/>
                  </a:lnTo>
                  <a:lnTo>
                    <a:pt x="52" y="129"/>
                  </a:lnTo>
                  <a:lnTo>
                    <a:pt x="62" y="134"/>
                  </a:lnTo>
                  <a:lnTo>
                    <a:pt x="74" y="140"/>
                  </a:lnTo>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44" name="Freeform 108"/>
            <p:cNvSpPr>
              <a:spLocks/>
            </p:cNvSpPr>
            <p:nvPr/>
          </p:nvSpPr>
          <p:spPr bwMode="auto">
            <a:xfrm>
              <a:off x="4737" y="2831"/>
              <a:ext cx="18" cy="35"/>
            </a:xfrm>
            <a:custGeom>
              <a:avLst/>
              <a:gdLst>
                <a:gd name="T0" fmla="*/ 5 w 74"/>
                <a:gd name="T1" fmla="*/ 0 h 140"/>
                <a:gd name="T2" fmla="*/ 0 w 74"/>
                <a:gd name="T3" fmla="*/ 23 h 140"/>
                <a:gd name="T4" fmla="*/ 0 w 74"/>
                <a:gd name="T5" fmla="*/ 43 h 140"/>
                <a:gd name="T6" fmla="*/ 6 w 74"/>
                <a:gd name="T7" fmla="*/ 68 h 140"/>
                <a:gd name="T8" fmla="*/ 12 w 74"/>
                <a:gd name="T9" fmla="*/ 89 h 140"/>
                <a:gd name="T10" fmla="*/ 27 w 74"/>
                <a:gd name="T11" fmla="*/ 108 h 140"/>
                <a:gd name="T12" fmla="*/ 41 w 74"/>
                <a:gd name="T13" fmla="*/ 122 h 140"/>
                <a:gd name="T14" fmla="*/ 52 w 74"/>
                <a:gd name="T15" fmla="*/ 129 h 140"/>
                <a:gd name="T16" fmla="*/ 62 w 74"/>
                <a:gd name="T17" fmla="*/ 134 h 140"/>
                <a:gd name="T18" fmla="*/ 74 w 74"/>
                <a:gd name="T19"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40">
                  <a:moveTo>
                    <a:pt x="5" y="0"/>
                  </a:moveTo>
                  <a:lnTo>
                    <a:pt x="0" y="23"/>
                  </a:lnTo>
                  <a:lnTo>
                    <a:pt x="0" y="43"/>
                  </a:lnTo>
                  <a:lnTo>
                    <a:pt x="6" y="68"/>
                  </a:lnTo>
                  <a:lnTo>
                    <a:pt x="12" y="89"/>
                  </a:lnTo>
                  <a:lnTo>
                    <a:pt x="27" y="108"/>
                  </a:lnTo>
                  <a:lnTo>
                    <a:pt x="41" y="122"/>
                  </a:lnTo>
                  <a:lnTo>
                    <a:pt x="52" y="129"/>
                  </a:lnTo>
                  <a:lnTo>
                    <a:pt x="62" y="134"/>
                  </a:lnTo>
                  <a:lnTo>
                    <a:pt x="74" y="140"/>
                  </a:lnTo>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pic>
        <p:nvPicPr>
          <p:cNvPr id="131" name="Picture 10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74241" y="2236111"/>
            <a:ext cx="598322" cy="216087"/>
          </a:xfrm>
          <a:prstGeom prst="rect">
            <a:avLst/>
          </a:prstGeom>
          <a:noFill/>
          <a:ln w="12699">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32" name="Picture 1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747717" y="2845958"/>
            <a:ext cx="315007" cy="1738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33" name="Picture 11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333064" y="1713660"/>
            <a:ext cx="315007" cy="173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34" name="Group 112"/>
          <p:cNvGrpSpPr>
            <a:grpSpLocks/>
          </p:cNvGrpSpPr>
          <p:nvPr/>
        </p:nvGrpSpPr>
        <p:grpSpPr bwMode="auto">
          <a:xfrm flipH="1">
            <a:off x="6923418" y="2629968"/>
            <a:ext cx="247262" cy="302228"/>
            <a:chOff x="4420" y="2719"/>
            <a:chExt cx="397" cy="571"/>
          </a:xfrm>
          <a:solidFill>
            <a:srgbClr val="00FF99"/>
          </a:solidFill>
        </p:grpSpPr>
        <p:grpSp>
          <p:nvGrpSpPr>
            <p:cNvPr id="263" name="Group 114"/>
            <p:cNvGrpSpPr>
              <a:grpSpLocks/>
            </p:cNvGrpSpPr>
            <p:nvPr/>
          </p:nvGrpSpPr>
          <p:grpSpPr bwMode="auto">
            <a:xfrm>
              <a:off x="4562" y="3066"/>
              <a:ext cx="13" cy="70"/>
              <a:chOff x="4562" y="3066"/>
              <a:chExt cx="13" cy="70"/>
            </a:xfrm>
            <a:grpFill/>
          </p:grpSpPr>
          <p:sp>
            <p:nvSpPr>
              <p:cNvPr id="308" name="Rectangle 115"/>
              <p:cNvSpPr>
                <a:spLocks noChangeArrowheads="1"/>
              </p:cNvSpPr>
              <p:nvPr/>
            </p:nvSpPr>
            <p:spPr bwMode="auto">
              <a:xfrm>
                <a:off x="4562" y="3067"/>
                <a:ext cx="13" cy="69"/>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09" name="Line 116"/>
              <p:cNvSpPr>
                <a:spLocks noChangeShapeType="1"/>
              </p:cNvSpPr>
              <p:nvPr/>
            </p:nvSpPr>
            <p:spPr bwMode="auto">
              <a:xfrm>
                <a:off x="4568" y="3066"/>
                <a:ext cx="1" cy="64"/>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sp>
          <p:nvSpPr>
            <p:cNvPr id="264" name="Rectangle 117"/>
            <p:cNvSpPr>
              <a:spLocks noChangeArrowheads="1"/>
            </p:cNvSpPr>
            <p:nvPr/>
          </p:nvSpPr>
          <p:spPr bwMode="auto">
            <a:xfrm>
              <a:off x="4503" y="3022"/>
              <a:ext cx="43" cy="112"/>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65" name="Freeform 118"/>
            <p:cNvSpPr>
              <a:spLocks/>
            </p:cNvSpPr>
            <p:nvPr/>
          </p:nvSpPr>
          <p:spPr bwMode="auto">
            <a:xfrm>
              <a:off x="4663" y="3044"/>
              <a:ext cx="28" cy="24"/>
            </a:xfrm>
            <a:custGeom>
              <a:avLst/>
              <a:gdLst>
                <a:gd name="T0" fmla="*/ 0 w 113"/>
                <a:gd name="T1" fmla="*/ 0 h 95"/>
                <a:gd name="T2" fmla="*/ 0 w 113"/>
                <a:gd name="T3" fmla="*/ 95 h 95"/>
                <a:gd name="T4" fmla="*/ 113 w 113"/>
                <a:gd name="T5" fmla="*/ 95 h 95"/>
                <a:gd name="T6" fmla="*/ 113 w 113"/>
                <a:gd name="T7" fmla="*/ 19 h 95"/>
                <a:gd name="T8" fmla="*/ 0 w 113"/>
                <a:gd name="T9" fmla="*/ 0 h 95"/>
              </a:gdLst>
              <a:ahLst/>
              <a:cxnLst>
                <a:cxn ang="0">
                  <a:pos x="T0" y="T1"/>
                </a:cxn>
                <a:cxn ang="0">
                  <a:pos x="T2" y="T3"/>
                </a:cxn>
                <a:cxn ang="0">
                  <a:pos x="T4" y="T5"/>
                </a:cxn>
                <a:cxn ang="0">
                  <a:pos x="T6" y="T7"/>
                </a:cxn>
                <a:cxn ang="0">
                  <a:pos x="T8" y="T9"/>
                </a:cxn>
              </a:cxnLst>
              <a:rect l="0" t="0" r="r" b="b"/>
              <a:pathLst>
                <a:path w="113" h="95">
                  <a:moveTo>
                    <a:pt x="0" y="0"/>
                  </a:moveTo>
                  <a:lnTo>
                    <a:pt x="0" y="95"/>
                  </a:lnTo>
                  <a:lnTo>
                    <a:pt x="113" y="95"/>
                  </a:lnTo>
                  <a:lnTo>
                    <a:pt x="113" y="19"/>
                  </a:lnTo>
                  <a:lnTo>
                    <a:pt x="0" y="0"/>
                  </a:lnTo>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66" name="Freeform 119"/>
            <p:cNvSpPr>
              <a:spLocks/>
            </p:cNvSpPr>
            <p:nvPr/>
          </p:nvSpPr>
          <p:spPr bwMode="auto">
            <a:xfrm>
              <a:off x="4604" y="3001"/>
              <a:ext cx="19" cy="21"/>
            </a:xfrm>
            <a:custGeom>
              <a:avLst/>
              <a:gdLst>
                <a:gd name="T0" fmla="*/ 43 w 78"/>
                <a:gd name="T1" fmla="*/ 0 h 86"/>
                <a:gd name="T2" fmla="*/ 0 w 78"/>
                <a:gd name="T3" fmla="*/ 86 h 86"/>
                <a:gd name="T4" fmla="*/ 57 w 78"/>
                <a:gd name="T5" fmla="*/ 79 h 86"/>
                <a:gd name="T6" fmla="*/ 78 w 78"/>
                <a:gd name="T7" fmla="*/ 22 h 86"/>
                <a:gd name="T8" fmla="*/ 43 w 78"/>
                <a:gd name="T9" fmla="*/ 0 h 86"/>
              </a:gdLst>
              <a:ahLst/>
              <a:cxnLst>
                <a:cxn ang="0">
                  <a:pos x="T0" y="T1"/>
                </a:cxn>
                <a:cxn ang="0">
                  <a:pos x="T2" y="T3"/>
                </a:cxn>
                <a:cxn ang="0">
                  <a:pos x="T4" y="T5"/>
                </a:cxn>
                <a:cxn ang="0">
                  <a:pos x="T6" y="T7"/>
                </a:cxn>
                <a:cxn ang="0">
                  <a:pos x="T8" y="T9"/>
                </a:cxn>
              </a:cxnLst>
              <a:rect l="0" t="0" r="r" b="b"/>
              <a:pathLst>
                <a:path w="78" h="86">
                  <a:moveTo>
                    <a:pt x="43" y="0"/>
                  </a:moveTo>
                  <a:lnTo>
                    <a:pt x="0" y="86"/>
                  </a:lnTo>
                  <a:lnTo>
                    <a:pt x="57" y="79"/>
                  </a:lnTo>
                  <a:lnTo>
                    <a:pt x="78" y="22"/>
                  </a:lnTo>
                  <a:lnTo>
                    <a:pt x="43"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67" name="Freeform 120"/>
            <p:cNvSpPr>
              <a:spLocks/>
            </p:cNvSpPr>
            <p:nvPr/>
          </p:nvSpPr>
          <p:spPr bwMode="auto">
            <a:xfrm>
              <a:off x="4570" y="3144"/>
              <a:ext cx="90" cy="7"/>
            </a:xfrm>
            <a:custGeom>
              <a:avLst/>
              <a:gdLst>
                <a:gd name="T0" fmla="*/ 0 w 360"/>
                <a:gd name="T1" fmla="*/ 0 h 30"/>
                <a:gd name="T2" fmla="*/ 360 w 360"/>
                <a:gd name="T3" fmla="*/ 0 h 30"/>
                <a:gd name="T4" fmla="*/ 360 w 360"/>
                <a:gd name="T5" fmla="*/ 30 h 30"/>
                <a:gd name="T6" fmla="*/ 4 w 360"/>
                <a:gd name="T7" fmla="*/ 30 h 30"/>
                <a:gd name="T8" fmla="*/ 0 w 360"/>
                <a:gd name="T9" fmla="*/ 0 h 30"/>
              </a:gdLst>
              <a:ahLst/>
              <a:cxnLst>
                <a:cxn ang="0">
                  <a:pos x="T0" y="T1"/>
                </a:cxn>
                <a:cxn ang="0">
                  <a:pos x="T2" y="T3"/>
                </a:cxn>
                <a:cxn ang="0">
                  <a:pos x="T4" y="T5"/>
                </a:cxn>
                <a:cxn ang="0">
                  <a:pos x="T6" y="T7"/>
                </a:cxn>
                <a:cxn ang="0">
                  <a:pos x="T8" y="T9"/>
                </a:cxn>
              </a:cxnLst>
              <a:rect l="0" t="0" r="r" b="b"/>
              <a:pathLst>
                <a:path w="360" h="30">
                  <a:moveTo>
                    <a:pt x="0" y="0"/>
                  </a:moveTo>
                  <a:lnTo>
                    <a:pt x="360" y="0"/>
                  </a:lnTo>
                  <a:lnTo>
                    <a:pt x="360" y="30"/>
                  </a:lnTo>
                  <a:lnTo>
                    <a:pt x="4" y="30"/>
                  </a:lnTo>
                  <a:lnTo>
                    <a:pt x="0"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68" name="Freeform 121"/>
            <p:cNvSpPr>
              <a:spLocks/>
            </p:cNvSpPr>
            <p:nvPr/>
          </p:nvSpPr>
          <p:spPr bwMode="auto">
            <a:xfrm>
              <a:off x="4502" y="2862"/>
              <a:ext cx="37" cy="46"/>
            </a:xfrm>
            <a:custGeom>
              <a:avLst/>
              <a:gdLst>
                <a:gd name="T0" fmla="*/ 141 w 150"/>
                <a:gd name="T1" fmla="*/ 0 h 184"/>
                <a:gd name="T2" fmla="*/ 1 w 150"/>
                <a:gd name="T3" fmla="*/ 131 h 184"/>
                <a:gd name="T4" fmla="*/ 0 w 150"/>
                <a:gd name="T5" fmla="*/ 184 h 184"/>
                <a:gd name="T6" fmla="*/ 150 w 150"/>
                <a:gd name="T7" fmla="*/ 60 h 184"/>
                <a:gd name="T8" fmla="*/ 141 w 150"/>
                <a:gd name="T9" fmla="*/ 0 h 184"/>
              </a:gdLst>
              <a:ahLst/>
              <a:cxnLst>
                <a:cxn ang="0">
                  <a:pos x="T0" y="T1"/>
                </a:cxn>
                <a:cxn ang="0">
                  <a:pos x="T2" y="T3"/>
                </a:cxn>
                <a:cxn ang="0">
                  <a:pos x="T4" y="T5"/>
                </a:cxn>
                <a:cxn ang="0">
                  <a:pos x="T6" y="T7"/>
                </a:cxn>
                <a:cxn ang="0">
                  <a:pos x="T8" y="T9"/>
                </a:cxn>
              </a:cxnLst>
              <a:rect l="0" t="0" r="r" b="b"/>
              <a:pathLst>
                <a:path w="150" h="184">
                  <a:moveTo>
                    <a:pt x="141" y="0"/>
                  </a:moveTo>
                  <a:lnTo>
                    <a:pt x="1" y="131"/>
                  </a:lnTo>
                  <a:lnTo>
                    <a:pt x="0" y="184"/>
                  </a:lnTo>
                  <a:lnTo>
                    <a:pt x="150" y="60"/>
                  </a:lnTo>
                  <a:lnTo>
                    <a:pt x="141"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69" name="Freeform 122"/>
            <p:cNvSpPr>
              <a:spLocks/>
            </p:cNvSpPr>
            <p:nvPr/>
          </p:nvSpPr>
          <p:spPr bwMode="auto">
            <a:xfrm>
              <a:off x="4492" y="2741"/>
              <a:ext cx="57" cy="394"/>
            </a:xfrm>
            <a:custGeom>
              <a:avLst/>
              <a:gdLst>
                <a:gd name="T0" fmla="*/ 228 w 228"/>
                <a:gd name="T1" fmla="*/ 0 h 1575"/>
                <a:gd name="T2" fmla="*/ 0 w 228"/>
                <a:gd name="T3" fmla="*/ 93 h 1575"/>
                <a:gd name="T4" fmla="*/ 0 w 228"/>
                <a:gd name="T5" fmla="*/ 1575 h 1575"/>
                <a:gd name="T6" fmla="*/ 42 w 228"/>
                <a:gd name="T7" fmla="*/ 1575 h 1575"/>
                <a:gd name="T8" fmla="*/ 42 w 228"/>
                <a:gd name="T9" fmla="*/ 228 h 1575"/>
                <a:gd name="T10" fmla="*/ 228 w 228"/>
                <a:gd name="T11" fmla="*/ 150 h 1575"/>
                <a:gd name="T12" fmla="*/ 228 w 228"/>
                <a:gd name="T13" fmla="*/ 0 h 1575"/>
              </a:gdLst>
              <a:ahLst/>
              <a:cxnLst>
                <a:cxn ang="0">
                  <a:pos x="T0" y="T1"/>
                </a:cxn>
                <a:cxn ang="0">
                  <a:pos x="T2" y="T3"/>
                </a:cxn>
                <a:cxn ang="0">
                  <a:pos x="T4" y="T5"/>
                </a:cxn>
                <a:cxn ang="0">
                  <a:pos x="T6" y="T7"/>
                </a:cxn>
                <a:cxn ang="0">
                  <a:pos x="T8" y="T9"/>
                </a:cxn>
                <a:cxn ang="0">
                  <a:pos x="T10" y="T11"/>
                </a:cxn>
                <a:cxn ang="0">
                  <a:pos x="T12" y="T13"/>
                </a:cxn>
              </a:cxnLst>
              <a:rect l="0" t="0" r="r" b="b"/>
              <a:pathLst>
                <a:path w="228" h="1575">
                  <a:moveTo>
                    <a:pt x="228" y="0"/>
                  </a:moveTo>
                  <a:lnTo>
                    <a:pt x="0" y="93"/>
                  </a:lnTo>
                  <a:lnTo>
                    <a:pt x="0" y="1575"/>
                  </a:lnTo>
                  <a:lnTo>
                    <a:pt x="42" y="1575"/>
                  </a:lnTo>
                  <a:lnTo>
                    <a:pt x="42" y="228"/>
                  </a:lnTo>
                  <a:lnTo>
                    <a:pt x="228" y="150"/>
                  </a:lnTo>
                  <a:lnTo>
                    <a:pt x="228"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0" name="Freeform 123"/>
            <p:cNvSpPr>
              <a:spLocks/>
            </p:cNvSpPr>
            <p:nvPr/>
          </p:nvSpPr>
          <p:spPr bwMode="auto">
            <a:xfrm>
              <a:off x="4490" y="3135"/>
              <a:ext cx="327" cy="85"/>
            </a:xfrm>
            <a:custGeom>
              <a:avLst/>
              <a:gdLst>
                <a:gd name="T0" fmla="*/ 0 w 1306"/>
                <a:gd name="T1" fmla="*/ 344 h 344"/>
                <a:gd name="T2" fmla="*/ 0 w 1306"/>
                <a:gd name="T3" fmla="*/ 0 h 344"/>
                <a:gd name="T4" fmla="*/ 284 w 1306"/>
                <a:gd name="T5" fmla="*/ 0 h 344"/>
                <a:gd name="T6" fmla="*/ 341 w 1306"/>
                <a:gd name="T7" fmla="*/ 57 h 344"/>
                <a:gd name="T8" fmla="*/ 511 w 1306"/>
                <a:gd name="T9" fmla="*/ 57 h 344"/>
                <a:gd name="T10" fmla="*/ 568 w 1306"/>
                <a:gd name="T11" fmla="*/ 116 h 344"/>
                <a:gd name="T12" fmla="*/ 1136 w 1306"/>
                <a:gd name="T13" fmla="*/ 116 h 344"/>
                <a:gd name="T14" fmla="*/ 1136 w 1306"/>
                <a:gd name="T15" fmla="*/ 230 h 344"/>
                <a:gd name="T16" fmla="*/ 1306 w 1306"/>
                <a:gd name="T17" fmla="*/ 230 h 344"/>
                <a:gd name="T18" fmla="*/ 1306 w 1306"/>
                <a:gd name="T19" fmla="*/ 344 h 344"/>
                <a:gd name="T20" fmla="*/ 0 w 1306"/>
                <a:gd name="T21" fmla="*/ 34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06" h="344">
                  <a:moveTo>
                    <a:pt x="0" y="344"/>
                  </a:moveTo>
                  <a:lnTo>
                    <a:pt x="0" y="0"/>
                  </a:lnTo>
                  <a:lnTo>
                    <a:pt x="284" y="0"/>
                  </a:lnTo>
                  <a:lnTo>
                    <a:pt x="341" y="57"/>
                  </a:lnTo>
                  <a:lnTo>
                    <a:pt x="511" y="57"/>
                  </a:lnTo>
                  <a:lnTo>
                    <a:pt x="568" y="116"/>
                  </a:lnTo>
                  <a:lnTo>
                    <a:pt x="1136" y="116"/>
                  </a:lnTo>
                  <a:lnTo>
                    <a:pt x="1136" y="230"/>
                  </a:lnTo>
                  <a:lnTo>
                    <a:pt x="1306" y="230"/>
                  </a:lnTo>
                  <a:lnTo>
                    <a:pt x="1306" y="344"/>
                  </a:lnTo>
                  <a:lnTo>
                    <a:pt x="0" y="344"/>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1" name="Rectangle 124"/>
            <p:cNvSpPr>
              <a:spLocks noChangeArrowheads="1"/>
            </p:cNvSpPr>
            <p:nvPr/>
          </p:nvSpPr>
          <p:spPr bwMode="auto">
            <a:xfrm>
              <a:off x="4491" y="3193"/>
              <a:ext cx="240" cy="26"/>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2" name="Line 125"/>
            <p:cNvSpPr>
              <a:spLocks noChangeShapeType="1"/>
            </p:cNvSpPr>
            <p:nvPr/>
          </p:nvSpPr>
          <p:spPr bwMode="auto">
            <a:xfrm>
              <a:off x="4479" y="3015"/>
              <a:ext cx="1" cy="50"/>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3" name="Freeform 126"/>
            <p:cNvSpPr>
              <a:spLocks/>
            </p:cNvSpPr>
            <p:nvPr/>
          </p:nvSpPr>
          <p:spPr bwMode="auto">
            <a:xfrm>
              <a:off x="4471" y="3065"/>
              <a:ext cx="21" cy="25"/>
            </a:xfrm>
            <a:custGeom>
              <a:avLst/>
              <a:gdLst>
                <a:gd name="T0" fmla="*/ 0 w 85"/>
                <a:gd name="T1" fmla="*/ 99 h 99"/>
                <a:gd name="T2" fmla="*/ 0 w 85"/>
                <a:gd name="T3" fmla="*/ 0 h 99"/>
                <a:gd name="T4" fmla="*/ 85 w 85"/>
                <a:gd name="T5" fmla="*/ 0 h 99"/>
                <a:gd name="T6" fmla="*/ 85 w 85"/>
                <a:gd name="T7" fmla="*/ 35 h 99"/>
                <a:gd name="T8" fmla="*/ 28 w 85"/>
                <a:gd name="T9" fmla="*/ 35 h 99"/>
                <a:gd name="T10" fmla="*/ 28 w 85"/>
                <a:gd name="T11" fmla="*/ 99 h 99"/>
                <a:gd name="T12" fmla="*/ 0 w 85"/>
                <a:gd name="T13" fmla="*/ 99 h 99"/>
              </a:gdLst>
              <a:ahLst/>
              <a:cxnLst>
                <a:cxn ang="0">
                  <a:pos x="T0" y="T1"/>
                </a:cxn>
                <a:cxn ang="0">
                  <a:pos x="T2" y="T3"/>
                </a:cxn>
                <a:cxn ang="0">
                  <a:pos x="T4" y="T5"/>
                </a:cxn>
                <a:cxn ang="0">
                  <a:pos x="T6" y="T7"/>
                </a:cxn>
                <a:cxn ang="0">
                  <a:pos x="T8" y="T9"/>
                </a:cxn>
                <a:cxn ang="0">
                  <a:pos x="T10" y="T11"/>
                </a:cxn>
                <a:cxn ang="0">
                  <a:pos x="T12" y="T13"/>
                </a:cxn>
              </a:cxnLst>
              <a:rect l="0" t="0" r="r" b="b"/>
              <a:pathLst>
                <a:path w="85" h="99">
                  <a:moveTo>
                    <a:pt x="0" y="99"/>
                  </a:moveTo>
                  <a:lnTo>
                    <a:pt x="0" y="0"/>
                  </a:lnTo>
                  <a:lnTo>
                    <a:pt x="85" y="0"/>
                  </a:lnTo>
                  <a:lnTo>
                    <a:pt x="85" y="35"/>
                  </a:lnTo>
                  <a:lnTo>
                    <a:pt x="28" y="35"/>
                  </a:lnTo>
                  <a:lnTo>
                    <a:pt x="28" y="99"/>
                  </a:lnTo>
                  <a:lnTo>
                    <a:pt x="0" y="99"/>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4" name="Freeform 127"/>
            <p:cNvSpPr>
              <a:spLocks/>
            </p:cNvSpPr>
            <p:nvPr/>
          </p:nvSpPr>
          <p:spPr bwMode="auto">
            <a:xfrm>
              <a:off x="4590" y="3047"/>
              <a:ext cx="72" cy="104"/>
            </a:xfrm>
            <a:custGeom>
              <a:avLst/>
              <a:gdLst>
                <a:gd name="T0" fmla="*/ 0 w 290"/>
                <a:gd name="T1" fmla="*/ 0 h 415"/>
                <a:gd name="T2" fmla="*/ 290 w 290"/>
                <a:gd name="T3" fmla="*/ 415 h 415"/>
                <a:gd name="T4" fmla="*/ 248 w 290"/>
                <a:gd name="T5" fmla="*/ 406 h 415"/>
                <a:gd name="T6" fmla="*/ 0 w 290"/>
                <a:gd name="T7" fmla="*/ 57 h 415"/>
                <a:gd name="T8" fmla="*/ 0 w 290"/>
                <a:gd name="T9" fmla="*/ 0 h 415"/>
              </a:gdLst>
              <a:ahLst/>
              <a:cxnLst>
                <a:cxn ang="0">
                  <a:pos x="T0" y="T1"/>
                </a:cxn>
                <a:cxn ang="0">
                  <a:pos x="T2" y="T3"/>
                </a:cxn>
                <a:cxn ang="0">
                  <a:pos x="T4" y="T5"/>
                </a:cxn>
                <a:cxn ang="0">
                  <a:pos x="T6" y="T7"/>
                </a:cxn>
                <a:cxn ang="0">
                  <a:pos x="T8" y="T9"/>
                </a:cxn>
              </a:cxnLst>
              <a:rect l="0" t="0" r="r" b="b"/>
              <a:pathLst>
                <a:path w="290" h="415">
                  <a:moveTo>
                    <a:pt x="0" y="0"/>
                  </a:moveTo>
                  <a:lnTo>
                    <a:pt x="290" y="415"/>
                  </a:lnTo>
                  <a:lnTo>
                    <a:pt x="248" y="406"/>
                  </a:lnTo>
                  <a:lnTo>
                    <a:pt x="0" y="57"/>
                  </a:lnTo>
                  <a:lnTo>
                    <a:pt x="0"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5" name="Freeform 128"/>
            <p:cNvSpPr>
              <a:spLocks/>
            </p:cNvSpPr>
            <p:nvPr/>
          </p:nvSpPr>
          <p:spPr bwMode="auto">
            <a:xfrm>
              <a:off x="4433" y="3106"/>
              <a:ext cx="57" cy="114"/>
            </a:xfrm>
            <a:custGeom>
              <a:avLst/>
              <a:gdLst>
                <a:gd name="T0" fmla="*/ 170 w 227"/>
                <a:gd name="T1" fmla="*/ 0 h 458"/>
                <a:gd name="T2" fmla="*/ 0 w 227"/>
                <a:gd name="T3" fmla="*/ 171 h 458"/>
                <a:gd name="T4" fmla="*/ 0 w 227"/>
                <a:gd name="T5" fmla="*/ 458 h 458"/>
                <a:gd name="T6" fmla="*/ 227 w 227"/>
                <a:gd name="T7" fmla="*/ 458 h 458"/>
                <a:gd name="T8" fmla="*/ 227 w 227"/>
                <a:gd name="T9" fmla="*/ 114 h 458"/>
                <a:gd name="T10" fmla="*/ 170 w 227"/>
                <a:gd name="T11" fmla="*/ 0 h 458"/>
              </a:gdLst>
              <a:ahLst/>
              <a:cxnLst>
                <a:cxn ang="0">
                  <a:pos x="T0" y="T1"/>
                </a:cxn>
                <a:cxn ang="0">
                  <a:pos x="T2" y="T3"/>
                </a:cxn>
                <a:cxn ang="0">
                  <a:pos x="T4" y="T5"/>
                </a:cxn>
                <a:cxn ang="0">
                  <a:pos x="T6" y="T7"/>
                </a:cxn>
                <a:cxn ang="0">
                  <a:pos x="T8" y="T9"/>
                </a:cxn>
                <a:cxn ang="0">
                  <a:pos x="T10" y="T11"/>
                </a:cxn>
              </a:cxnLst>
              <a:rect l="0" t="0" r="r" b="b"/>
              <a:pathLst>
                <a:path w="227" h="458">
                  <a:moveTo>
                    <a:pt x="170" y="0"/>
                  </a:moveTo>
                  <a:lnTo>
                    <a:pt x="0" y="171"/>
                  </a:lnTo>
                  <a:lnTo>
                    <a:pt x="0" y="458"/>
                  </a:lnTo>
                  <a:lnTo>
                    <a:pt x="227" y="458"/>
                  </a:lnTo>
                  <a:lnTo>
                    <a:pt x="227" y="114"/>
                  </a:lnTo>
                  <a:lnTo>
                    <a:pt x="170"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6" name="Rectangle 129"/>
            <p:cNvSpPr>
              <a:spLocks noChangeArrowheads="1"/>
            </p:cNvSpPr>
            <p:nvPr/>
          </p:nvSpPr>
          <p:spPr bwMode="auto">
            <a:xfrm>
              <a:off x="4420" y="3276"/>
              <a:ext cx="395" cy="14"/>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7" name="Rectangle 130"/>
            <p:cNvSpPr>
              <a:spLocks noChangeArrowheads="1"/>
            </p:cNvSpPr>
            <p:nvPr/>
          </p:nvSpPr>
          <p:spPr bwMode="auto">
            <a:xfrm>
              <a:off x="4420" y="3250"/>
              <a:ext cx="395" cy="24"/>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8" name="Rectangle 131"/>
            <p:cNvSpPr>
              <a:spLocks noChangeArrowheads="1"/>
            </p:cNvSpPr>
            <p:nvPr/>
          </p:nvSpPr>
          <p:spPr bwMode="auto">
            <a:xfrm>
              <a:off x="4420" y="3221"/>
              <a:ext cx="395" cy="27"/>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9" name="Rectangle 132"/>
            <p:cNvSpPr>
              <a:spLocks noChangeArrowheads="1"/>
            </p:cNvSpPr>
            <p:nvPr/>
          </p:nvSpPr>
          <p:spPr bwMode="auto">
            <a:xfrm>
              <a:off x="4763" y="3200"/>
              <a:ext cx="41" cy="12"/>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80" name="Oval 133"/>
            <p:cNvSpPr>
              <a:spLocks noChangeArrowheads="1"/>
            </p:cNvSpPr>
            <p:nvPr/>
          </p:nvSpPr>
          <p:spPr bwMode="auto">
            <a:xfrm>
              <a:off x="4462" y="3092"/>
              <a:ext cx="28" cy="29"/>
            </a:xfrm>
            <a:prstGeom prst="ellips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81" name="Rectangle 134"/>
            <p:cNvSpPr>
              <a:spLocks noChangeArrowheads="1"/>
            </p:cNvSpPr>
            <p:nvPr/>
          </p:nvSpPr>
          <p:spPr bwMode="auto">
            <a:xfrm>
              <a:off x="4562" y="3036"/>
              <a:ext cx="27" cy="26"/>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82" name="Freeform 135"/>
            <p:cNvSpPr>
              <a:spLocks/>
            </p:cNvSpPr>
            <p:nvPr/>
          </p:nvSpPr>
          <p:spPr bwMode="auto">
            <a:xfrm>
              <a:off x="4547" y="3021"/>
              <a:ext cx="114" cy="114"/>
            </a:xfrm>
            <a:custGeom>
              <a:avLst/>
              <a:gdLst>
                <a:gd name="T0" fmla="*/ 57 w 454"/>
                <a:gd name="T1" fmla="*/ 455 h 455"/>
                <a:gd name="T2" fmla="*/ 57 w 454"/>
                <a:gd name="T3" fmla="*/ 57 h 455"/>
                <a:gd name="T4" fmla="*/ 454 w 454"/>
                <a:gd name="T5" fmla="*/ 57 h 455"/>
                <a:gd name="T6" fmla="*/ 454 w 454"/>
                <a:gd name="T7" fmla="*/ 0 h 455"/>
                <a:gd name="T8" fmla="*/ 0 w 454"/>
                <a:gd name="T9" fmla="*/ 0 h 455"/>
                <a:gd name="T10" fmla="*/ 0 w 454"/>
                <a:gd name="T11" fmla="*/ 455 h 455"/>
                <a:gd name="T12" fmla="*/ 57 w 454"/>
                <a:gd name="T13" fmla="*/ 455 h 455"/>
              </a:gdLst>
              <a:ahLst/>
              <a:cxnLst>
                <a:cxn ang="0">
                  <a:pos x="T0" y="T1"/>
                </a:cxn>
                <a:cxn ang="0">
                  <a:pos x="T2" y="T3"/>
                </a:cxn>
                <a:cxn ang="0">
                  <a:pos x="T4" y="T5"/>
                </a:cxn>
                <a:cxn ang="0">
                  <a:pos x="T6" y="T7"/>
                </a:cxn>
                <a:cxn ang="0">
                  <a:pos x="T8" y="T9"/>
                </a:cxn>
                <a:cxn ang="0">
                  <a:pos x="T10" y="T11"/>
                </a:cxn>
                <a:cxn ang="0">
                  <a:pos x="T12" y="T13"/>
                </a:cxn>
              </a:cxnLst>
              <a:rect l="0" t="0" r="r" b="b"/>
              <a:pathLst>
                <a:path w="454" h="455">
                  <a:moveTo>
                    <a:pt x="57" y="455"/>
                  </a:moveTo>
                  <a:lnTo>
                    <a:pt x="57" y="57"/>
                  </a:lnTo>
                  <a:lnTo>
                    <a:pt x="454" y="57"/>
                  </a:lnTo>
                  <a:lnTo>
                    <a:pt x="454" y="0"/>
                  </a:lnTo>
                  <a:lnTo>
                    <a:pt x="0" y="0"/>
                  </a:lnTo>
                  <a:lnTo>
                    <a:pt x="0" y="455"/>
                  </a:lnTo>
                  <a:lnTo>
                    <a:pt x="57" y="455"/>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nvGrpSpPr>
            <p:cNvPr id="283" name="Group 136"/>
            <p:cNvGrpSpPr>
              <a:grpSpLocks/>
            </p:cNvGrpSpPr>
            <p:nvPr/>
          </p:nvGrpSpPr>
          <p:grpSpPr bwMode="auto">
            <a:xfrm>
              <a:off x="4455" y="2913"/>
              <a:ext cx="126" cy="116"/>
              <a:chOff x="4455" y="2913"/>
              <a:chExt cx="126" cy="116"/>
            </a:xfrm>
            <a:grpFill/>
          </p:grpSpPr>
          <p:sp>
            <p:nvSpPr>
              <p:cNvPr id="306" name="Oval 137"/>
              <p:cNvSpPr>
                <a:spLocks noChangeArrowheads="1"/>
              </p:cNvSpPr>
              <p:nvPr/>
            </p:nvSpPr>
            <p:spPr bwMode="auto">
              <a:xfrm>
                <a:off x="4465" y="2913"/>
                <a:ext cx="116" cy="116"/>
              </a:xfrm>
              <a:prstGeom prst="ellips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07" name="Oval 138"/>
              <p:cNvSpPr>
                <a:spLocks noChangeArrowheads="1"/>
              </p:cNvSpPr>
              <p:nvPr/>
            </p:nvSpPr>
            <p:spPr bwMode="auto">
              <a:xfrm>
                <a:off x="4455" y="2913"/>
                <a:ext cx="115" cy="116"/>
              </a:xfrm>
              <a:prstGeom prst="ellips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nvGrpSpPr>
            <p:cNvPr id="284" name="Group 139"/>
            <p:cNvGrpSpPr>
              <a:grpSpLocks/>
            </p:cNvGrpSpPr>
            <p:nvPr/>
          </p:nvGrpSpPr>
          <p:grpSpPr bwMode="auto">
            <a:xfrm>
              <a:off x="4504" y="3136"/>
              <a:ext cx="43" cy="112"/>
              <a:chOff x="4504" y="3136"/>
              <a:chExt cx="43" cy="112"/>
            </a:xfrm>
            <a:grpFill/>
          </p:grpSpPr>
          <p:sp>
            <p:nvSpPr>
              <p:cNvPr id="297" name="Rectangle 140"/>
              <p:cNvSpPr>
                <a:spLocks noChangeArrowheads="1"/>
              </p:cNvSpPr>
              <p:nvPr/>
            </p:nvSpPr>
            <p:spPr bwMode="auto">
              <a:xfrm>
                <a:off x="4505" y="3136"/>
                <a:ext cx="41" cy="112"/>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nvGrpSpPr>
              <p:cNvPr id="298" name="Group 141"/>
              <p:cNvGrpSpPr>
                <a:grpSpLocks/>
              </p:cNvGrpSpPr>
              <p:nvPr/>
            </p:nvGrpSpPr>
            <p:grpSpPr bwMode="auto">
              <a:xfrm>
                <a:off x="4504" y="3149"/>
                <a:ext cx="43" cy="87"/>
                <a:chOff x="4504" y="3149"/>
                <a:chExt cx="43" cy="87"/>
              </a:xfrm>
              <a:grpFill/>
            </p:grpSpPr>
            <p:sp>
              <p:nvSpPr>
                <p:cNvPr id="299" name="Line 142"/>
                <p:cNvSpPr>
                  <a:spLocks noChangeShapeType="1"/>
                </p:cNvSpPr>
                <p:nvPr/>
              </p:nvSpPr>
              <p:spPr bwMode="auto">
                <a:xfrm>
                  <a:off x="4504" y="3163"/>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00" name="Line 143"/>
                <p:cNvSpPr>
                  <a:spLocks noChangeShapeType="1"/>
                </p:cNvSpPr>
                <p:nvPr/>
              </p:nvSpPr>
              <p:spPr bwMode="auto">
                <a:xfrm>
                  <a:off x="4504" y="3206"/>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01" name="Line 144"/>
                <p:cNvSpPr>
                  <a:spLocks noChangeShapeType="1"/>
                </p:cNvSpPr>
                <p:nvPr/>
              </p:nvSpPr>
              <p:spPr bwMode="auto">
                <a:xfrm>
                  <a:off x="4504" y="3192"/>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02" name="Line 145"/>
                <p:cNvSpPr>
                  <a:spLocks noChangeShapeType="1"/>
                </p:cNvSpPr>
                <p:nvPr/>
              </p:nvSpPr>
              <p:spPr bwMode="auto">
                <a:xfrm>
                  <a:off x="4504" y="3178"/>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03" name="Line 146"/>
                <p:cNvSpPr>
                  <a:spLocks noChangeShapeType="1"/>
                </p:cNvSpPr>
                <p:nvPr/>
              </p:nvSpPr>
              <p:spPr bwMode="auto">
                <a:xfrm>
                  <a:off x="4504" y="3149"/>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04" name="Line 147"/>
                <p:cNvSpPr>
                  <a:spLocks noChangeShapeType="1"/>
                </p:cNvSpPr>
                <p:nvPr/>
              </p:nvSpPr>
              <p:spPr bwMode="auto">
                <a:xfrm>
                  <a:off x="4504" y="3220"/>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05" name="Line 148"/>
                <p:cNvSpPr>
                  <a:spLocks noChangeShapeType="1"/>
                </p:cNvSpPr>
                <p:nvPr/>
              </p:nvSpPr>
              <p:spPr bwMode="auto">
                <a:xfrm>
                  <a:off x="4504" y="3235"/>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sp>
          <p:nvSpPr>
            <p:cNvPr id="285" name="Rectangle 149"/>
            <p:cNvSpPr>
              <a:spLocks noChangeArrowheads="1"/>
            </p:cNvSpPr>
            <p:nvPr/>
          </p:nvSpPr>
          <p:spPr bwMode="auto">
            <a:xfrm>
              <a:off x="4775" y="3164"/>
              <a:ext cx="12" cy="27"/>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86" name="Freeform 150"/>
            <p:cNvSpPr>
              <a:spLocks/>
            </p:cNvSpPr>
            <p:nvPr/>
          </p:nvSpPr>
          <p:spPr bwMode="auto">
            <a:xfrm>
              <a:off x="4696" y="2871"/>
              <a:ext cx="32" cy="55"/>
            </a:xfrm>
            <a:custGeom>
              <a:avLst/>
              <a:gdLst>
                <a:gd name="T0" fmla="*/ 107 w 129"/>
                <a:gd name="T1" fmla="*/ 0 h 221"/>
                <a:gd name="T2" fmla="*/ 0 w 129"/>
                <a:gd name="T3" fmla="*/ 185 h 221"/>
                <a:gd name="T4" fmla="*/ 21 w 129"/>
                <a:gd name="T5" fmla="*/ 221 h 221"/>
                <a:gd name="T6" fmla="*/ 129 w 129"/>
                <a:gd name="T7" fmla="*/ 7 h 221"/>
                <a:gd name="T8" fmla="*/ 107 w 129"/>
                <a:gd name="T9" fmla="*/ 0 h 221"/>
              </a:gdLst>
              <a:ahLst/>
              <a:cxnLst>
                <a:cxn ang="0">
                  <a:pos x="T0" y="T1"/>
                </a:cxn>
                <a:cxn ang="0">
                  <a:pos x="T2" y="T3"/>
                </a:cxn>
                <a:cxn ang="0">
                  <a:pos x="T4" y="T5"/>
                </a:cxn>
                <a:cxn ang="0">
                  <a:pos x="T6" y="T7"/>
                </a:cxn>
                <a:cxn ang="0">
                  <a:pos x="T8" y="T9"/>
                </a:cxn>
              </a:cxnLst>
              <a:rect l="0" t="0" r="r" b="b"/>
              <a:pathLst>
                <a:path w="129" h="221">
                  <a:moveTo>
                    <a:pt x="107" y="0"/>
                  </a:moveTo>
                  <a:lnTo>
                    <a:pt x="0" y="185"/>
                  </a:lnTo>
                  <a:lnTo>
                    <a:pt x="21" y="221"/>
                  </a:lnTo>
                  <a:lnTo>
                    <a:pt x="129" y="7"/>
                  </a:lnTo>
                  <a:lnTo>
                    <a:pt x="107"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87" name="Freeform 151"/>
            <p:cNvSpPr>
              <a:spLocks/>
            </p:cNvSpPr>
            <p:nvPr/>
          </p:nvSpPr>
          <p:spPr bwMode="auto">
            <a:xfrm>
              <a:off x="4657" y="2848"/>
              <a:ext cx="62" cy="16"/>
            </a:xfrm>
            <a:custGeom>
              <a:avLst/>
              <a:gdLst>
                <a:gd name="T0" fmla="*/ 241 w 249"/>
                <a:gd name="T1" fmla="*/ 0 h 66"/>
                <a:gd name="T2" fmla="*/ 0 w 249"/>
                <a:gd name="T3" fmla="*/ 36 h 66"/>
                <a:gd name="T4" fmla="*/ 35 w 249"/>
                <a:gd name="T5" fmla="*/ 66 h 66"/>
                <a:gd name="T6" fmla="*/ 249 w 249"/>
                <a:gd name="T7" fmla="*/ 22 h 66"/>
                <a:gd name="T8" fmla="*/ 241 w 249"/>
                <a:gd name="T9" fmla="*/ 0 h 66"/>
              </a:gdLst>
              <a:ahLst/>
              <a:cxnLst>
                <a:cxn ang="0">
                  <a:pos x="T0" y="T1"/>
                </a:cxn>
                <a:cxn ang="0">
                  <a:pos x="T2" y="T3"/>
                </a:cxn>
                <a:cxn ang="0">
                  <a:pos x="T4" y="T5"/>
                </a:cxn>
                <a:cxn ang="0">
                  <a:pos x="T6" y="T7"/>
                </a:cxn>
                <a:cxn ang="0">
                  <a:pos x="T8" y="T9"/>
                </a:cxn>
              </a:cxnLst>
              <a:rect l="0" t="0" r="r" b="b"/>
              <a:pathLst>
                <a:path w="249" h="66">
                  <a:moveTo>
                    <a:pt x="241" y="0"/>
                  </a:moveTo>
                  <a:lnTo>
                    <a:pt x="0" y="36"/>
                  </a:lnTo>
                  <a:lnTo>
                    <a:pt x="35" y="66"/>
                  </a:lnTo>
                  <a:lnTo>
                    <a:pt x="249" y="22"/>
                  </a:lnTo>
                  <a:lnTo>
                    <a:pt x="241"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88" name="Freeform 152"/>
            <p:cNvSpPr>
              <a:spLocks/>
            </p:cNvSpPr>
            <p:nvPr/>
          </p:nvSpPr>
          <p:spPr bwMode="auto">
            <a:xfrm>
              <a:off x="4516" y="2720"/>
              <a:ext cx="233" cy="367"/>
            </a:xfrm>
            <a:custGeom>
              <a:avLst/>
              <a:gdLst>
                <a:gd name="T0" fmla="*/ 30 w 931"/>
                <a:gd name="T1" fmla="*/ 53 h 1469"/>
                <a:gd name="T2" fmla="*/ 16 w 931"/>
                <a:gd name="T3" fmla="*/ 96 h 1469"/>
                <a:gd name="T4" fmla="*/ 4 w 931"/>
                <a:gd name="T5" fmla="*/ 150 h 1469"/>
                <a:gd name="T6" fmla="*/ 0 w 931"/>
                <a:gd name="T7" fmla="*/ 207 h 1469"/>
                <a:gd name="T8" fmla="*/ 0 w 931"/>
                <a:gd name="T9" fmla="*/ 264 h 1469"/>
                <a:gd name="T10" fmla="*/ 12 w 931"/>
                <a:gd name="T11" fmla="*/ 338 h 1469"/>
                <a:gd name="T12" fmla="*/ 23 w 931"/>
                <a:gd name="T13" fmla="*/ 431 h 1469"/>
                <a:gd name="T14" fmla="*/ 44 w 931"/>
                <a:gd name="T15" fmla="*/ 534 h 1469"/>
                <a:gd name="T16" fmla="*/ 79 w 931"/>
                <a:gd name="T17" fmla="*/ 653 h 1469"/>
                <a:gd name="T18" fmla="*/ 133 w 931"/>
                <a:gd name="T19" fmla="*/ 767 h 1469"/>
                <a:gd name="T20" fmla="*/ 218 w 931"/>
                <a:gd name="T21" fmla="*/ 902 h 1469"/>
                <a:gd name="T22" fmla="*/ 303 w 931"/>
                <a:gd name="T23" fmla="*/ 1031 h 1469"/>
                <a:gd name="T24" fmla="*/ 374 w 931"/>
                <a:gd name="T25" fmla="*/ 1116 h 1469"/>
                <a:gd name="T26" fmla="*/ 473 w 931"/>
                <a:gd name="T27" fmla="*/ 1219 h 1469"/>
                <a:gd name="T28" fmla="*/ 576 w 931"/>
                <a:gd name="T29" fmla="*/ 1305 h 1469"/>
                <a:gd name="T30" fmla="*/ 668 w 931"/>
                <a:gd name="T31" fmla="*/ 1373 h 1469"/>
                <a:gd name="T32" fmla="*/ 735 w 931"/>
                <a:gd name="T33" fmla="*/ 1415 h 1469"/>
                <a:gd name="T34" fmla="*/ 802 w 931"/>
                <a:gd name="T35" fmla="*/ 1447 h 1469"/>
                <a:gd name="T36" fmla="*/ 857 w 931"/>
                <a:gd name="T37" fmla="*/ 1469 h 1469"/>
                <a:gd name="T38" fmla="*/ 899 w 931"/>
                <a:gd name="T39" fmla="*/ 1469 h 1469"/>
                <a:gd name="T40" fmla="*/ 931 w 931"/>
                <a:gd name="T41" fmla="*/ 1451 h 1469"/>
                <a:gd name="T42" fmla="*/ 62 w 931"/>
                <a:gd name="T43" fmla="*/ 0 h 1469"/>
                <a:gd name="T44" fmla="*/ 30 w 931"/>
                <a:gd name="T45" fmla="*/ 53 h 1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1" h="1469">
                  <a:moveTo>
                    <a:pt x="30" y="53"/>
                  </a:moveTo>
                  <a:lnTo>
                    <a:pt x="16" y="96"/>
                  </a:lnTo>
                  <a:lnTo>
                    <a:pt x="4" y="150"/>
                  </a:lnTo>
                  <a:lnTo>
                    <a:pt x="0" y="207"/>
                  </a:lnTo>
                  <a:lnTo>
                    <a:pt x="0" y="264"/>
                  </a:lnTo>
                  <a:lnTo>
                    <a:pt x="12" y="338"/>
                  </a:lnTo>
                  <a:lnTo>
                    <a:pt x="23" y="431"/>
                  </a:lnTo>
                  <a:lnTo>
                    <a:pt x="44" y="534"/>
                  </a:lnTo>
                  <a:lnTo>
                    <a:pt x="79" y="653"/>
                  </a:lnTo>
                  <a:lnTo>
                    <a:pt x="133" y="767"/>
                  </a:lnTo>
                  <a:lnTo>
                    <a:pt x="218" y="902"/>
                  </a:lnTo>
                  <a:lnTo>
                    <a:pt x="303" y="1031"/>
                  </a:lnTo>
                  <a:lnTo>
                    <a:pt x="374" y="1116"/>
                  </a:lnTo>
                  <a:lnTo>
                    <a:pt x="473" y="1219"/>
                  </a:lnTo>
                  <a:lnTo>
                    <a:pt x="576" y="1305"/>
                  </a:lnTo>
                  <a:lnTo>
                    <a:pt x="668" y="1373"/>
                  </a:lnTo>
                  <a:lnTo>
                    <a:pt x="735" y="1415"/>
                  </a:lnTo>
                  <a:lnTo>
                    <a:pt x="802" y="1447"/>
                  </a:lnTo>
                  <a:lnTo>
                    <a:pt x="857" y="1469"/>
                  </a:lnTo>
                  <a:lnTo>
                    <a:pt x="899" y="1469"/>
                  </a:lnTo>
                  <a:lnTo>
                    <a:pt x="931" y="1451"/>
                  </a:lnTo>
                  <a:lnTo>
                    <a:pt x="62" y="0"/>
                  </a:lnTo>
                  <a:lnTo>
                    <a:pt x="30" y="53"/>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89" name="Freeform 153"/>
            <p:cNvSpPr>
              <a:spLocks/>
            </p:cNvSpPr>
            <p:nvPr/>
          </p:nvSpPr>
          <p:spPr bwMode="auto">
            <a:xfrm>
              <a:off x="4529" y="2719"/>
              <a:ext cx="220" cy="364"/>
            </a:xfrm>
            <a:custGeom>
              <a:avLst/>
              <a:gdLst>
                <a:gd name="T0" fmla="*/ 7 w 876"/>
                <a:gd name="T1" fmla="*/ 0 h 1455"/>
                <a:gd name="T2" fmla="*/ 0 w 876"/>
                <a:gd name="T3" fmla="*/ 29 h 1455"/>
                <a:gd name="T4" fmla="*/ 0 w 876"/>
                <a:gd name="T5" fmla="*/ 93 h 1455"/>
                <a:gd name="T6" fmla="*/ 3 w 876"/>
                <a:gd name="T7" fmla="*/ 168 h 1455"/>
                <a:gd name="T8" fmla="*/ 10 w 876"/>
                <a:gd name="T9" fmla="*/ 228 h 1455"/>
                <a:gd name="T10" fmla="*/ 21 w 876"/>
                <a:gd name="T11" fmla="*/ 307 h 1455"/>
                <a:gd name="T12" fmla="*/ 35 w 876"/>
                <a:gd name="T13" fmla="*/ 399 h 1455"/>
                <a:gd name="T14" fmla="*/ 56 w 876"/>
                <a:gd name="T15" fmla="*/ 496 h 1455"/>
                <a:gd name="T16" fmla="*/ 99 w 876"/>
                <a:gd name="T17" fmla="*/ 618 h 1455"/>
                <a:gd name="T18" fmla="*/ 163 w 876"/>
                <a:gd name="T19" fmla="*/ 757 h 1455"/>
                <a:gd name="T20" fmla="*/ 234 w 876"/>
                <a:gd name="T21" fmla="*/ 871 h 1455"/>
                <a:gd name="T22" fmla="*/ 319 w 876"/>
                <a:gd name="T23" fmla="*/ 992 h 1455"/>
                <a:gd name="T24" fmla="*/ 397 w 876"/>
                <a:gd name="T25" fmla="*/ 1084 h 1455"/>
                <a:gd name="T26" fmla="*/ 457 w 876"/>
                <a:gd name="T27" fmla="*/ 1147 h 1455"/>
                <a:gd name="T28" fmla="*/ 513 w 876"/>
                <a:gd name="T29" fmla="*/ 1206 h 1455"/>
                <a:gd name="T30" fmla="*/ 574 w 876"/>
                <a:gd name="T31" fmla="*/ 1263 h 1455"/>
                <a:gd name="T32" fmla="*/ 641 w 876"/>
                <a:gd name="T33" fmla="*/ 1318 h 1455"/>
                <a:gd name="T34" fmla="*/ 687 w 876"/>
                <a:gd name="T35" fmla="*/ 1355 h 1455"/>
                <a:gd name="T36" fmla="*/ 737 w 876"/>
                <a:gd name="T37" fmla="*/ 1387 h 1455"/>
                <a:gd name="T38" fmla="*/ 791 w 876"/>
                <a:gd name="T39" fmla="*/ 1418 h 1455"/>
                <a:gd name="T40" fmla="*/ 837 w 876"/>
                <a:gd name="T41" fmla="*/ 1448 h 1455"/>
                <a:gd name="T42" fmla="*/ 865 w 876"/>
                <a:gd name="T43" fmla="*/ 1455 h 1455"/>
                <a:gd name="T44" fmla="*/ 876 w 876"/>
                <a:gd name="T45" fmla="*/ 1434 h 1455"/>
                <a:gd name="T46" fmla="*/ 874 w 876"/>
                <a:gd name="T47" fmla="*/ 1404 h 1455"/>
                <a:gd name="T48" fmla="*/ 867 w 876"/>
                <a:gd name="T49" fmla="*/ 1369 h 1455"/>
                <a:gd name="T50" fmla="*/ 855 w 876"/>
                <a:gd name="T51" fmla="*/ 1309 h 1455"/>
                <a:gd name="T52" fmla="*/ 841 w 876"/>
                <a:gd name="T53" fmla="*/ 1229 h 1455"/>
                <a:gd name="T54" fmla="*/ 823 w 876"/>
                <a:gd name="T55" fmla="*/ 1156 h 1455"/>
                <a:gd name="T56" fmla="*/ 802 w 876"/>
                <a:gd name="T57" fmla="*/ 1069 h 1455"/>
                <a:gd name="T58" fmla="*/ 773 w 876"/>
                <a:gd name="T59" fmla="*/ 978 h 1455"/>
                <a:gd name="T60" fmla="*/ 741 w 876"/>
                <a:gd name="T61" fmla="*/ 905 h 1455"/>
                <a:gd name="T62" fmla="*/ 715 w 876"/>
                <a:gd name="T63" fmla="*/ 842 h 1455"/>
                <a:gd name="T64" fmla="*/ 674 w 876"/>
                <a:gd name="T65" fmla="*/ 759 h 1455"/>
                <a:gd name="T66" fmla="*/ 634 w 876"/>
                <a:gd name="T67" fmla="*/ 686 h 1455"/>
                <a:gd name="T68" fmla="*/ 586 w 876"/>
                <a:gd name="T69" fmla="*/ 606 h 1455"/>
                <a:gd name="T70" fmla="*/ 510 w 876"/>
                <a:gd name="T71" fmla="*/ 506 h 1455"/>
                <a:gd name="T72" fmla="*/ 457 w 876"/>
                <a:gd name="T73" fmla="*/ 435 h 1455"/>
                <a:gd name="T74" fmla="*/ 380 w 876"/>
                <a:gd name="T75" fmla="*/ 338 h 1455"/>
                <a:gd name="T76" fmla="*/ 308 w 876"/>
                <a:gd name="T77" fmla="*/ 268 h 1455"/>
                <a:gd name="T78" fmla="*/ 237 w 876"/>
                <a:gd name="T79" fmla="*/ 195 h 1455"/>
                <a:gd name="T80" fmla="*/ 184 w 876"/>
                <a:gd name="T81" fmla="*/ 143 h 1455"/>
                <a:gd name="T82" fmla="*/ 127 w 876"/>
                <a:gd name="T83" fmla="*/ 88 h 1455"/>
                <a:gd name="T84" fmla="*/ 85 w 876"/>
                <a:gd name="T85" fmla="*/ 50 h 1455"/>
                <a:gd name="T86" fmla="*/ 42 w 876"/>
                <a:gd name="T87" fmla="*/ 15 h 1455"/>
                <a:gd name="T88" fmla="*/ 7 w 876"/>
                <a:gd name="T89" fmla="*/ 0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76" h="1455">
                  <a:moveTo>
                    <a:pt x="7" y="0"/>
                  </a:moveTo>
                  <a:lnTo>
                    <a:pt x="0" y="29"/>
                  </a:lnTo>
                  <a:lnTo>
                    <a:pt x="0" y="93"/>
                  </a:lnTo>
                  <a:lnTo>
                    <a:pt x="3" y="168"/>
                  </a:lnTo>
                  <a:lnTo>
                    <a:pt x="10" y="228"/>
                  </a:lnTo>
                  <a:lnTo>
                    <a:pt x="21" y="307"/>
                  </a:lnTo>
                  <a:lnTo>
                    <a:pt x="35" y="399"/>
                  </a:lnTo>
                  <a:lnTo>
                    <a:pt x="56" y="496"/>
                  </a:lnTo>
                  <a:lnTo>
                    <a:pt x="99" y="618"/>
                  </a:lnTo>
                  <a:lnTo>
                    <a:pt x="163" y="757"/>
                  </a:lnTo>
                  <a:lnTo>
                    <a:pt x="234" y="871"/>
                  </a:lnTo>
                  <a:lnTo>
                    <a:pt x="319" y="992"/>
                  </a:lnTo>
                  <a:lnTo>
                    <a:pt x="397" y="1084"/>
                  </a:lnTo>
                  <a:lnTo>
                    <a:pt x="457" y="1147"/>
                  </a:lnTo>
                  <a:lnTo>
                    <a:pt x="513" y="1206"/>
                  </a:lnTo>
                  <a:lnTo>
                    <a:pt x="574" y="1263"/>
                  </a:lnTo>
                  <a:lnTo>
                    <a:pt x="641" y="1318"/>
                  </a:lnTo>
                  <a:lnTo>
                    <a:pt x="687" y="1355"/>
                  </a:lnTo>
                  <a:lnTo>
                    <a:pt x="737" y="1387"/>
                  </a:lnTo>
                  <a:lnTo>
                    <a:pt x="791" y="1418"/>
                  </a:lnTo>
                  <a:lnTo>
                    <a:pt x="837" y="1448"/>
                  </a:lnTo>
                  <a:lnTo>
                    <a:pt x="865" y="1455"/>
                  </a:lnTo>
                  <a:lnTo>
                    <a:pt x="876" y="1434"/>
                  </a:lnTo>
                  <a:lnTo>
                    <a:pt x="874" y="1404"/>
                  </a:lnTo>
                  <a:lnTo>
                    <a:pt x="867" y="1369"/>
                  </a:lnTo>
                  <a:lnTo>
                    <a:pt x="855" y="1309"/>
                  </a:lnTo>
                  <a:lnTo>
                    <a:pt x="841" y="1229"/>
                  </a:lnTo>
                  <a:lnTo>
                    <a:pt x="823" y="1156"/>
                  </a:lnTo>
                  <a:lnTo>
                    <a:pt x="802" y="1069"/>
                  </a:lnTo>
                  <a:lnTo>
                    <a:pt x="773" y="978"/>
                  </a:lnTo>
                  <a:lnTo>
                    <a:pt x="741" y="905"/>
                  </a:lnTo>
                  <a:lnTo>
                    <a:pt x="715" y="842"/>
                  </a:lnTo>
                  <a:lnTo>
                    <a:pt x="674" y="759"/>
                  </a:lnTo>
                  <a:lnTo>
                    <a:pt x="634" y="686"/>
                  </a:lnTo>
                  <a:lnTo>
                    <a:pt x="586" y="606"/>
                  </a:lnTo>
                  <a:lnTo>
                    <a:pt x="510" y="506"/>
                  </a:lnTo>
                  <a:lnTo>
                    <a:pt x="457" y="435"/>
                  </a:lnTo>
                  <a:lnTo>
                    <a:pt x="380" y="338"/>
                  </a:lnTo>
                  <a:lnTo>
                    <a:pt x="308" y="268"/>
                  </a:lnTo>
                  <a:lnTo>
                    <a:pt x="237" y="195"/>
                  </a:lnTo>
                  <a:lnTo>
                    <a:pt x="184" y="143"/>
                  </a:lnTo>
                  <a:lnTo>
                    <a:pt x="127" y="88"/>
                  </a:lnTo>
                  <a:lnTo>
                    <a:pt x="85" y="50"/>
                  </a:lnTo>
                  <a:lnTo>
                    <a:pt x="42" y="15"/>
                  </a:lnTo>
                  <a:lnTo>
                    <a:pt x="7"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90" name="Freeform 154"/>
            <p:cNvSpPr>
              <a:spLocks/>
            </p:cNvSpPr>
            <p:nvPr/>
          </p:nvSpPr>
          <p:spPr bwMode="auto">
            <a:xfrm>
              <a:off x="4537" y="2812"/>
              <a:ext cx="216" cy="16"/>
            </a:xfrm>
            <a:custGeom>
              <a:avLst/>
              <a:gdLst>
                <a:gd name="T0" fmla="*/ 0 w 862"/>
                <a:gd name="T1" fmla="*/ 0 h 64"/>
                <a:gd name="T2" fmla="*/ 862 w 862"/>
                <a:gd name="T3" fmla="*/ 36 h 64"/>
                <a:gd name="T4" fmla="*/ 855 w 862"/>
                <a:gd name="T5" fmla="*/ 64 h 64"/>
                <a:gd name="T6" fmla="*/ 3 w 862"/>
                <a:gd name="T7" fmla="*/ 28 h 64"/>
                <a:gd name="T8" fmla="*/ 0 w 862"/>
                <a:gd name="T9" fmla="*/ 0 h 64"/>
              </a:gdLst>
              <a:ahLst/>
              <a:cxnLst>
                <a:cxn ang="0">
                  <a:pos x="T0" y="T1"/>
                </a:cxn>
                <a:cxn ang="0">
                  <a:pos x="T2" y="T3"/>
                </a:cxn>
                <a:cxn ang="0">
                  <a:pos x="T4" y="T5"/>
                </a:cxn>
                <a:cxn ang="0">
                  <a:pos x="T6" y="T7"/>
                </a:cxn>
                <a:cxn ang="0">
                  <a:pos x="T8" y="T9"/>
                </a:cxn>
              </a:cxnLst>
              <a:rect l="0" t="0" r="r" b="b"/>
              <a:pathLst>
                <a:path w="862" h="64">
                  <a:moveTo>
                    <a:pt x="0" y="0"/>
                  </a:moveTo>
                  <a:lnTo>
                    <a:pt x="862" y="36"/>
                  </a:lnTo>
                  <a:lnTo>
                    <a:pt x="855" y="64"/>
                  </a:lnTo>
                  <a:lnTo>
                    <a:pt x="3" y="28"/>
                  </a:lnTo>
                  <a:lnTo>
                    <a:pt x="0"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91" name="Freeform 155"/>
            <p:cNvSpPr>
              <a:spLocks/>
            </p:cNvSpPr>
            <p:nvPr/>
          </p:nvSpPr>
          <p:spPr bwMode="auto">
            <a:xfrm>
              <a:off x="4685" y="2860"/>
              <a:ext cx="77" cy="190"/>
            </a:xfrm>
            <a:custGeom>
              <a:avLst/>
              <a:gdLst>
                <a:gd name="T0" fmla="*/ 271 w 306"/>
                <a:gd name="T1" fmla="*/ 16 h 760"/>
                <a:gd name="T2" fmla="*/ 0 w 306"/>
                <a:gd name="T3" fmla="*/ 742 h 760"/>
                <a:gd name="T4" fmla="*/ 25 w 306"/>
                <a:gd name="T5" fmla="*/ 760 h 760"/>
                <a:gd name="T6" fmla="*/ 306 w 306"/>
                <a:gd name="T7" fmla="*/ 0 h 760"/>
                <a:gd name="T8" fmla="*/ 271 w 306"/>
                <a:gd name="T9" fmla="*/ 16 h 760"/>
              </a:gdLst>
              <a:ahLst/>
              <a:cxnLst>
                <a:cxn ang="0">
                  <a:pos x="T0" y="T1"/>
                </a:cxn>
                <a:cxn ang="0">
                  <a:pos x="T2" y="T3"/>
                </a:cxn>
                <a:cxn ang="0">
                  <a:pos x="T4" y="T5"/>
                </a:cxn>
                <a:cxn ang="0">
                  <a:pos x="T6" y="T7"/>
                </a:cxn>
                <a:cxn ang="0">
                  <a:pos x="T8" y="T9"/>
                </a:cxn>
              </a:cxnLst>
              <a:rect l="0" t="0" r="r" b="b"/>
              <a:pathLst>
                <a:path w="306" h="760">
                  <a:moveTo>
                    <a:pt x="271" y="16"/>
                  </a:moveTo>
                  <a:lnTo>
                    <a:pt x="0" y="742"/>
                  </a:lnTo>
                  <a:lnTo>
                    <a:pt x="25" y="760"/>
                  </a:lnTo>
                  <a:lnTo>
                    <a:pt x="306" y="0"/>
                  </a:lnTo>
                  <a:lnTo>
                    <a:pt x="271" y="16"/>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92" name="Freeform 156"/>
            <p:cNvSpPr>
              <a:spLocks/>
            </p:cNvSpPr>
            <p:nvPr/>
          </p:nvSpPr>
          <p:spPr bwMode="auto">
            <a:xfrm>
              <a:off x="4712" y="2823"/>
              <a:ext cx="63" cy="52"/>
            </a:xfrm>
            <a:custGeom>
              <a:avLst/>
              <a:gdLst>
                <a:gd name="T0" fmla="*/ 189 w 252"/>
                <a:gd name="T1" fmla="*/ 0 h 208"/>
                <a:gd name="T2" fmla="*/ 10 w 252"/>
                <a:gd name="T3" fmla="*/ 64 h 208"/>
                <a:gd name="T4" fmla="*/ 3 w 252"/>
                <a:gd name="T5" fmla="*/ 75 h 208"/>
                <a:gd name="T6" fmla="*/ 0 w 252"/>
                <a:gd name="T7" fmla="*/ 96 h 208"/>
                <a:gd name="T8" fmla="*/ 2 w 252"/>
                <a:gd name="T9" fmla="*/ 126 h 208"/>
                <a:gd name="T10" fmla="*/ 4 w 252"/>
                <a:gd name="T11" fmla="*/ 144 h 208"/>
                <a:gd name="T12" fmla="*/ 15 w 252"/>
                <a:gd name="T13" fmla="*/ 170 h 208"/>
                <a:gd name="T14" fmla="*/ 33 w 252"/>
                <a:gd name="T15" fmla="*/ 190 h 208"/>
                <a:gd name="T16" fmla="*/ 58 w 252"/>
                <a:gd name="T17" fmla="*/ 204 h 208"/>
                <a:gd name="T18" fmla="*/ 72 w 252"/>
                <a:gd name="T19" fmla="*/ 208 h 208"/>
                <a:gd name="T20" fmla="*/ 86 w 252"/>
                <a:gd name="T21" fmla="*/ 208 h 208"/>
                <a:gd name="T22" fmla="*/ 252 w 252"/>
                <a:gd name="T23" fmla="*/ 128 h 208"/>
                <a:gd name="T24" fmla="*/ 221 w 252"/>
                <a:gd name="T25" fmla="*/ 103 h 208"/>
                <a:gd name="T26" fmla="*/ 203 w 252"/>
                <a:gd name="T27" fmla="*/ 78 h 208"/>
                <a:gd name="T28" fmla="*/ 189 w 252"/>
                <a:gd name="T29"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2" h="208">
                  <a:moveTo>
                    <a:pt x="189" y="0"/>
                  </a:moveTo>
                  <a:lnTo>
                    <a:pt x="10" y="64"/>
                  </a:lnTo>
                  <a:lnTo>
                    <a:pt x="3" y="75"/>
                  </a:lnTo>
                  <a:lnTo>
                    <a:pt x="0" y="96"/>
                  </a:lnTo>
                  <a:lnTo>
                    <a:pt x="2" y="126"/>
                  </a:lnTo>
                  <a:lnTo>
                    <a:pt x="4" y="144"/>
                  </a:lnTo>
                  <a:lnTo>
                    <a:pt x="15" y="170"/>
                  </a:lnTo>
                  <a:lnTo>
                    <a:pt x="33" y="190"/>
                  </a:lnTo>
                  <a:lnTo>
                    <a:pt x="58" y="204"/>
                  </a:lnTo>
                  <a:lnTo>
                    <a:pt x="72" y="208"/>
                  </a:lnTo>
                  <a:lnTo>
                    <a:pt x="86" y="208"/>
                  </a:lnTo>
                  <a:lnTo>
                    <a:pt x="252" y="128"/>
                  </a:lnTo>
                  <a:lnTo>
                    <a:pt x="221" y="103"/>
                  </a:lnTo>
                  <a:lnTo>
                    <a:pt x="203" y="78"/>
                  </a:lnTo>
                  <a:lnTo>
                    <a:pt x="189"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93" name="Freeform 157"/>
            <p:cNvSpPr>
              <a:spLocks/>
            </p:cNvSpPr>
            <p:nvPr/>
          </p:nvSpPr>
          <p:spPr bwMode="auto">
            <a:xfrm>
              <a:off x="4749" y="2816"/>
              <a:ext cx="35" cy="49"/>
            </a:xfrm>
            <a:custGeom>
              <a:avLst/>
              <a:gdLst>
                <a:gd name="T0" fmla="*/ 83 w 141"/>
                <a:gd name="T1" fmla="*/ 28 h 194"/>
                <a:gd name="T2" fmla="*/ 76 w 141"/>
                <a:gd name="T3" fmla="*/ 16 h 194"/>
                <a:gd name="T4" fmla="*/ 62 w 141"/>
                <a:gd name="T5" fmla="*/ 6 h 194"/>
                <a:gd name="T6" fmla="*/ 37 w 141"/>
                <a:gd name="T7" fmla="*/ 0 h 194"/>
                <a:gd name="T8" fmla="*/ 23 w 141"/>
                <a:gd name="T9" fmla="*/ 2 h 194"/>
                <a:gd name="T10" fmla="*/ 13 w 141"/>
                <a:gd name="T11" fmla="*/ 13 h 194"/>
                <a:gd name="T12" fmla="*/ 5 w 141"/>
                <a:gd name="T13" fmla="*/ 28 h 194"/>
                <a:gd name="T14" fmla="*/ 0 w 141"/>
                <a:gd name="T15" fmla="*/ 52 h 194"/>
                <a:gd name="T16" fmla="*/ 1 w 141"/>
                <a:gd name="T17" fmla="*/ 65 h 194"/>
                <a:gd name="T18" fmla="*/ 4 w 141"/>
                <a:gd name="T19" fmla="*/ 83 h 194"/>
                <a:gd name="T20" fmla="*/ 10 w 141"/>
                <a:gd name="T21" fmla="*/ 109 h 194"/>
                <a:gd name="T22" fmla="*/ 20 w 141"/>
                <a:gd name="T23" fmla="*/ 130 h 194"/>
                <a:gd name="T24" fmla="*/ 32 w 141"/>
                <a:gd name="T25" fmla="*/ 149 h 194"/>
                <a:gd name="T26" fmla="*/ 45 w 141"/>
                <a:gd name="T27" fmla="*/ 166 h 194"/>
                <a:gd name="T28" fmla="*/ 59 w 141"/>
                <a:gd name="T29" fmla="*/ 180 h 194"/>
                <a:gd name="T30" fmla="*/ 77 w 141"/>
                <a:gd name="T31" fmla="*/ 188 h 194"/>
                <a:gd name="T32" fmla="*/ 98 w 141"/>
                <a:gd name="T33" fmla="*/ 194 h 194"/>
                <a:gd name="T34" fmla="*/ 116 w 141"/>
                <a:gd name="T35" fmla="*/ 194 h 194"/>
                <a:gd name="T36" fmla="*/ 132 w 141"/>
                <a:gd name="T37" fmla="*/ 185 h 194"/>
                <a:gd name="T38" fmla="*/ 140 w 141"/>
                <a:gd name="T39" fmla="*/ 170 h 194"/>
                <a:gd name="T40" fmla="*/ 141 w 141"/>
                <a:gd name="T41" fmla="*/ 148 h 194"/>
                <a:gd name="T42" fmla="*/ 136 w 141"/>
                <a:gd name="T43" fmla="*/ 124 h 194"/>
                <a:gd name="T44" fmla="*/ 125 w 141"/>
                <a:gd name="T45" fmla="*/ 92 h 194"/>
                <a:gd name="T46" fmla="*/ 101 w 141"/>
                <a:gd name="T47" fmla="*/ 52 h 194"/>
                <a:gd name="T48" fmla="*/ 83 w 141"/>
                <a:gd name="T49" fmla="*/ 28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1" h="194">
                  <a:moveTo>
                    <a:pt x="83" y="28"/>
                  </a:moveTo>
                  <a:lnTo>
                    <a:pt x="76" y="16"/>
                  </a:lnTo>
                  <a:lnTo>
                    <a:pt x="62" y="6"/>
                  </a:lnTo>
                  <a:lnTo>
                    <a:pt x="37" y="0"/>
                  </a:lnTo>
                  <a:lnTo>
                    <a:pt x="23" y="2"/>
                  </a:lnTo>
                  <a:lnTo>
                    <a:pt x="13" y="13"/>
                  </a:lnTo>
                  <a:lnTo>
                    <a:pt x="5" y="28"/>
                  </a:lnTo>
                  <a:lnTo>
                    <a:pt x="0" y="52"/>
                  </a:lnTo>
                  <a:lnTo>
                    <a:pt x="1" y="65"/>
                  </a:lnTo>
                  <a:lnTo>
                    <a:pt x="4" y="83"/>
                  </a:lnTo>
                  <a:lnTo>
                    <a:pt x="10" y="109"/>
                  </a:lnTo>
                  <a:lnTo>
                    <a:pt x="20" y="130"/>
                  </a:lnTo>
                  <a:lnTo>
                    <a:pt x="32" y="149"/>
                  </a:lnTo>
                  <a:lnTo>
                    <a:pt x="45" y="166"/>
                  </a:lnTo>
                  <a:lnTo>
                    <a:pt x="59" y="180"/>
                  </a:lnTo>
                  <a:lnTo>
                    <a:pt x="77" y="188"/>
                  </a:lnTo>
                  <a:lnTo>
                    <a:pt x="98" y="194"/>
                  </a:lnTo>
                  <a:lnTo>
                    <a:pt x="116" y="194"/>
                  </a:lnTo>
                  <a:lnTo>
                    <a:pt x="132" y="185"/>
                  </a:lnTo>
                  <a:lnTo>
                    <a:pt x="140" y="170"/>
                  </a:lnTo>
                  <a:lnTo>
                    <a:pt x="141" y="148"/>
                  </a:lnTo>
                  <a:lnTo>
                    <a:pt x="136" y="124"/>
                  </a:lnTo>
                  <a:lnTo>
                    <a:pt x="125" y="92"/>
                  </a:lnTo>
                  <a:lnTo>
                    <a:pt x="101" y="52"/>
                  </a:lnTo>
                  <a:lnTo>
                    <a:pt x="83" y="28"/>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94" name="Freeform 158"/>
            <p:cNvSpPr>
              <a:spLocks/>
            </p:cNvSpPr>
            <p:nvPr/>
          </p:nvSpPr>
          <p:spPr bwMode="auto">
            <a:xfrm>
              <a:off x="4758" y="2819"/>
              <a:ext cx="43" cy="35"/>
            </a:xfrm>
            <a:custGeom>
              <a:avLst/>
              <a:gdLst>
                <a:gd name="T0" fmla="*/ 13 w 173"/>
                <a:gd name="T1" fmla="*/ 31 h 139"/>
                <a:gd name="T2" fmla="*/ 122 w 173"/>
                <a:gd name="T3" fmla="*/ 4 h 139"/>
                <a:gd name="T4" fmla="*/ 148 w 173"/>
                <a:gd name="T5" fmla="*/ 0 h 139"/>
                <a:gd name="T6" fmla="*/ 165 w 173"/>
                <a:gd name="T7" fmla="*/ 4 h 139"/>
                <a:gd name="T8" fmla="*/ 171 w 173"/>
                <a:gd name="T9" fmla="*/ 11 h 139"/>
                <a:gd name="T10" fmla="*/ 173 w 173"/>
                <a:gd name="T11" fmla="*/ 25 h 139"/>
                <a:gd name="T12" fmla="*/ 165 w 173"/>
                <a:gd name="T13" fmla="*/ 47 h 139"/>
                <a:gd name="T14" fmla="*/ 65 w 173"/>
                <a:gd name="T15" fmla="*/ 139 h 139"/>
                <a:gd name="T16" fmla="*/ 51 w 173"/>
                <a:gd name="T17" fmla="*/ 138 h 139"/>
                <a:gd name="T18" fmla="*/ 34 w 173"/>
                <a:gd name="T19" fmla="*/ 132 h 139"/>
                <a:gd name="T20" fmla="*/ 23 w 173"/>
                <a:gd name="T21" fmla="*/ 120 h 139"/>
                <a:gd name="T22" fmla="*/ 8 w 173"/>
                <a:gd name="T23" fmla="*/ 103 h 139"/>
                <a:gd name="T24" fmla="*/ 1 w 173"/>
                <a:gd name="T25" fmla="*/ 85 h 139"/>
                <a:gd name="T26" fmla="*/ 0 w 173"/>
                <a:gd name="T27" fmla="*/ 65 h 139"/>
                <a:gd name="T28" fmla="*/ 5 w 173"/>
                <a:gd name="T29" fmla="*/ 46 h 139"/>
                <a:gd name="T30" fmla="*/ 13 w 173"/>
                <a:gd name="T31" fmla="*/ 31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3" h="139">
                  <a:moveTo>
                    <a:pt x="13" y="31"/>
                  </a:moveTo>
                  <a:lnTo>
                    <a:pt x="122" y="4"/>
                  </a:lnTo>
                  <a:lnTo>
                    <a:pt x="148" y="0"/>
                  </a:lnTo>
                  <a:lnTo>
                    <a:pt x="165" y="4"/>
                  </a:lnTo>
                  <a:lnTo>
                    <a:pt x="171" y="11"/>
                  </a:lnTo>
                  <a:lnTo>
                    <a:pt x="173" y="25"/>
                  </a:lnTo>
                  <a:lnTo>
                    <a:pt x="165" y="47"/>
                  </a:lnTo>
                  <a:lnTo>
                    <a:pt x="65" y="139"/>
                  </a:lnTo>
                  <a:lnTo>
                    <a:pt x="51" y="138"/>
                  </a:lnTo>
                  <a:lnTo>
                    <a:pt x="34" y="132"/>
                  </a:lnTo>
                  <a:lnTo>
                    <a:pt x="23" y="120"/>
                  </a:lnTo>
                  <a:lnTo>
                    <a:pt x="8" y="103"/>
                  </a:lnTo>
                  <a:lnTo>
                    <a:pt x="1" y="85"/>
                  </a:lnTo>
                  <a:lnTo>
                    <a:pt x="0" y="65"/>
                  </a:lnTo>
                  <a:lnTo>
                    <a:pt x="5" y="46"/>
                  </a:lnTo>
                  <a:lnTo>
                    <a:pt x="13" y="31"/>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95" name="Freeform 159"/>
            <p:cNvSpPr>
              <a:spLocks/>
            </p:cNvSpPr>
            <p:nvPr/>
          </p:nvSpPr>
          <p:spPr bwMode="auto">
            <a:xfrm>
              <a:off x="4725" y="2836"/>
              <a:ext cx="19" cy="35"/>
            </a:xfrm>
            <a:custGeom>
              <a:avLst/>
              <a:gdLst>
                <a:gd name="T0" fmla="*/ 5 w 74"/>
                <a:gd name="T1" fmla="*/ 0 h 140"/>
                <a:gd name="T2" fmla="*/ 0 w 74"/>
                <a:gd name="T3" fmla="*/ 23 h 140"/>
                <a:gd name="T4" fmla="*/ 0 w 74"/>
                <a:gd name="T5" fmla="*/ 43 h 140"/>
                <a:gd name="T6" fmla="*/ 6 w 74"/>
                <a:gd name="T7" fmla="*/ 68 h 140"/>
                <a:gd name="T8" fmla="*/ 12 w 74"/>
                <a:gd name="T9" fmla="*/ 89 h 140"/>
                <a:gd name="T10" fmla="*/ 27 w 74"/>
                <a:gd name="T11" fmla="*/ 109 h 140"/>
                <a:gd name="T12" fmla="*/ 41 w 74"/>
                <a:gd name="T13" fmla="*/ 122 h 140"/>
                <a:gd name="T14" fmla="*/ 52 w 74"/>
                <a:gd name="T15" fmla="*/ 129 h 140"/>
                <a:gd name="T16" fmla="*/ 62 w 74"/>
                <a:gd name="T17" fmla="*/ 134 h 140"/>
                <a:gd name="T18" fmla="*/ 74 w 74"/>
                <a:gd name="T19"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40">
                  <a:moveTo>
                    <a:pt x="5" y="0"/>
                  </a:moveTo>
                  <a:lnTo>
                    <a:pt x="0" y="23"/>
                  </a:lnTo>
                  <a:lnTo>
                    <a:pt x="0" y="43"/>
                  </a:lnTo>
                  <a:lnTo>
                    <a:pt x="6" y="68"/>
                  </a:lnTo>
                  <a:lnTo>
                    <a:pt x="12" y="89"/>
                  </a:lnTo>
                  <a:lnTo>
                    <a:pt x="27" y="109"/>
                  </a:lnTo>
                  <a:lnTo>
                    <a:pt x="41" y="122"/>
                  </a:lnTo>
                  <a:lnTo>
                    <a:pt x="52" y="129"/>
                  </a:lnTo>
                  <a:lnTo>
                    <a:pt x="62" y="134"/>
                  </a:lnTo>
                  <a:lnTo>
                    <a:pt x="74" y="140"/>
                  </a:lnTo>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96" name="Freeform 160"/>
            <p:cNvSpPr>
              <a:spLocks/>
            </p:cNvSpPr>
            <p:nvPr/>
          </p:nvSpPr>
          <p:spPr bwMode="auto">
            <a:xfrm>
              <a:off x="4737" y="2831"/>
              <a:ext cx="18" cy="35"/>
            </a:xfrm>
            <a:custGeom>
              <a:avLst/>
              <a:gdLst>
                <a:gd name="T0" fmla="*/ 5 w 74"/>
                <a:gd name="T1" fmla="*/ 0 h 140"/>
                <a:gd name="T2" fmla="*/ 0 w 74"/>
                <a:gd name="T3" fmla="*/ 23 h 140"/>
                <a:gd name="T4" fmla="*/ 0 w 74"/>
                <a:gd name="T5" fmla="*/ 43 h 140"/>
                <a:gd name="T6" fmla="*/ 6 w 74"/>
                <a:gd name="T7" fmla="*/ 68 h 140"/>
                <a:gd name="T8" fmla="*/ 12 w 74"/>
                <a:gd name="T9" fmla="*/ 89 h 140"/>
                <a:gd name="T10" fmla="*/ 27 w 74"/>
                <a:gd name="T11" fmla="*/ 108 h 140"/>
                <a:gd name="T12" fmla="*/ 41 w 74"/>
                <a:gd name="T13" fmla="*/ 122 h 140"/>
                <a:gd name="T14" fmla="*/ 52 w 74"/>
                <a:gd name="T15" fmla="*/ 129 h 140"/>
                <a:gd name="T16" fmla="*/ 62 w 74"/>
                <a:gd name="T17" fmla="*/ 134 h 140"/>
                <a:gd name="T18" fmla="*/ 74 w 74"/>
                <a:gd name="T19"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40">
                  <a:moveTo>
                    <a:pt x="5" y="0"/>
                  </a:moveTo>
                  <a:lnTo>
                    <a:pt x="0" y="23"/>
                  </a:lnTo>
                  <a:lnTo>
                    <a:pt x="0" y="43"/>
                  </a:lnTo>
                  <a:lnTo>
                    <a:pt x="6" y="68"/>
                  </a:lnTo>
                  <a:lnTo>
                    <a:pt x="12" y="89"/>
                  </a:lnTo>
                  <a:lnTo>
                    <a:pt x="27" y="108"/>
                  </a:lnTo>
                  <a:lnTo>
                    <a:pt x="41" y="122"/>
                  </a:lnTo>
                  <a:lnTo>
                    <a:pt x="52" y="129"/>
                  </a:lnTo>
                  <a:lnTo>
                    <a:pt x="62" y="134"/>
                  </a:lnTo>
                  <a:lnTo>
                    <a:pt x="74" y="140"/>
                  </a:lnTo>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pic>
        <p:nvPicPr>
          <p:cNvPr id="135" name="Picture 161" descr="D-Link%20DI-713P%20Wireless%20Broadband%20route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901125" y="2706702"/>
            <a:ext cx="453303" cy="377433"/>
          </a:xfrm>
          <a:prstGeom prst="rect">
            <a:avLst/>
          </a:prstGeom>
          <a:noFill/>
          <a:extLst>
            <a:ext uri="{909E8E84-426E-40DD-AFC4-6F175D3DCCD1}">
              <a14:hiddenFill xmlns:a14="http://schemas.microsoft.com/office/drawing/2010/main">
                <a:solidFill>
                  <a:srgbClr val="FFFFFF"/>
                </a:solidFill>
              </a14:hiddenFill>
            </a:ext>
          </a:extLst>
        </p:spPr>
      </p:pic>
      <p:sp>
        <p:nvSpPr>
          <p:cNvPr id="137" name="Freeform 173"/>
          <p:cNvSpPr>
            <a:spLocks/>
          </p:cNvSpPr>
          <p:nvPr/>
        </p:nvSpPr>
        <p:spPr bwMode="auto">
          <a:xfrm rot="1390605">
            <a:off x="4196924" y="2541515"/>
            <a:ext cx="122930" cy="181513"/>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rgbClr val="FF00FF"/>
          </a:solidFill>
          <a:ln w="9525">
            <a:solidFill>
              <a:srgbClr val="FF00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50" name="Line 175"/>
          <p:cNvSpPr>
            <a:spLocks noChangeShapeType="1"/>
          </p:cNvSpPr>
          <p:nvPr/>
        </p:nvSpPr>
        <p:spPr bwMode="auto">
          <a:xfrm>
            <a:off x="2686233" y="2018103"/>
            <a:ext cx="0" cy="21800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40" name="Line 178"/>
          <p:cNvSpPr>
            <a:spLocks noChangeShapeType="1"/>
          </p:cNvSpPr>
          <p:nvPr/>
        </p:nvSpPr>
        <p:spPr bwMode="auto">
          <a:xfrm flipV="1">
            <a:off x="2250216" y="2018103"/>
            <a:ext cx="1830501"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41" name="Line 179"/>
          <p:cNvSpPr>
            <a:spLocks noChangeShapeType="1"/>
          </p:cNvSpPr>
          <p:nvPr/>
        </p:nvSpPr>
        <p:spPr bwMode="auto">
          <a:xfrm>
            <a:off x="3949144" y="1801055"/>
            <a:ext cx="0" cy="21800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pic>
        <p:nvPicPr>
          <p:cNvPr id="142" name="Picture 18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08927" y="1713660"/>
            <a:ext cx="315007" cy="173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43" name="Group 181"/>
          <p:cNvGrpSpPr>
            <a:grpSpLocks/>
          </p:cNvGrpSpPr>
          <p:nvPr/>
        </p:nvGrpSpPr>
        <p:grpSpPr bwMode="auto">
          <a:xfrm>
            <a:off x="2694757" y="2966062"/>
            <a:ext cx="528334" cy="389692"/>
            <a:chOff x="762" y="2391"/>
            <a:chExt cx="423" cy="312"/>
          </a:xfrm>
        </p:grpSpPr>
        <p:grpSp>
          <p:nvGrpSpPr>
            <p:cNvPr id="240" name="Group 182"/>
            <p:cNvGrpSpPr>
              <a:grpSpLocks/>
            </p:cNvGrpSpPr>
            <p:nvPr/>
          </p:nvGrpSpPr>
          <p:grpSpPr bwMode="auto">
            <a:xfrm>
              <a:off x="867" y="2432"/>
              <a:ext cx="318" cy="271"/>
              <a:chOff x="657" y="1570"/>
              <a:chExt cx="318" cy="311"/>
            </a:xfrm>
          </p:grpSpPr>
          <p:sp>
            <p:nvSpPr>
              <p:cNvPr id="248" name="Line 183"/>
              <p:cNvSpPr>
                <a:spLocks noChangeShapeType="1"/>
              </p:cNvSpPr>
              <p:nvPr/>
            </p:nvSpPr>
            <p:spPr bwMode="auto">
              <a:xfrm flipH="1">
                <a:off x="703" y="1570"/>
                <a:ext cx="0" cy="7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pic>
            <p:nvPicPr>
              <p:cNvPr id="249" name="Picture 184"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15"/>
                <a:ext cx="318" cy="266"/>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241" name="Group 185"/>
            <p:cNvGrpSpPr>
              <a:grpSpLocks/>
            </p:cNvGrpSpPr>
            <p:nvPr/>
          </p:nvGrpSpPr>
          <p:grpSpPr bwMode="auto">
            <a:xfrm>
              <a:off x="762" y="2391"/>
              <a:ext cx="306" cy="90"/>
              <a:chOff x="748" y="2251"/>
              <a:chExt cx="306" cy="90"/>
            </a:xfrm>
          </p:grpSpPr>
          <p:sp>
            <p:nvSpPr>
              <p:cNvPr id="242" name="AutoShape 186"/>
              <p:cNvSpPr>
                <a:spLocks noChangeArrowheads="1"/>
              </p:cNvSpPr>
              <p:nvPr/>
            </p:nvSpPr>
            <p:spPr bwMode="auto">
              <a:xfrm>
                <a:off x="748" y="2251"/>
                <a:ext cx="111" cy="90"/>
              </a:xfrm>
              <a:prstGeom prst="moon">
                <a:avLst>
                  <a:gd name="adj" fmla="val 18444"/>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43" name="AutoShape 187"/>
              <p:cNvSpPr>
                <a:spLocks noChangeArrowheads="1"/>
              </p:cNvSpPr>
              <p:nvPr/>
            </p:nvSpPr>
            <p:spPr bwMode="auto">
              <a:xfrm flipH="1">
                <a:off x="943" y="2251"/>
                <a:ext cx="111" cy="90"/>
              </a:xfrm>
              <a:prstGeom prst="moon">
                <a:avLst>
                  <a:gd name="adj" fmla="val 18444"/>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44" name="AutoShape 188"/>
              <p:cNvSpPr>
                <a:spLocks noChangeArrowheads="1"/>
              </p:cNvSpPr>
              <p:nvPr/>
            </p:nvSpPr>
            <p:spPr bwMode="auto">
              <a:xfrm flipH="1">
                <a:off x="922" y="2266"/>
                <a:ext cx="70" cy="60"/>
              </a:xfrm>
              <a:prstGeom prst="moon">
                <a:avLst>
                  <a:gd name="adj" fmla="val 1834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45" name="AutoShape 189"/>
              <p:cNvSpPr>
                <a:spLocks noChangeArrowheads="1"/>
              </p:cNvSpPr>
              <p:nvPr/>
            </p:nvSpPr>
            <p:spPr bwMode="auto">
              <a:xfrm>
                <a:off x="806" y="2266"/>
                <a:ext cx="70" cy="60"/>
              </a:xfrm>
              <a:prstGeom prst="moon">
                <a:avLst>
                  <a:gd name="adj" fmla="val 1834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46" name="AutoShape 190"/>
              <p:cNvSpPr>
                <a:spLocks noChangeArrowheads="1"/>
              </p:cNvSpPr>
              <p:nvPr/>
            </p:nvSpPr>
            <p:spPr bwMode="auto">
              <a:xfrm flipH="1">
                <a:off x="905" y="2281"/>
                <a:ext cx="35" cy="30"/>
              </a:xfrm>
              <a:prstGeom prst="moon">
                <a:avLst>
                  <a:gd name="adj" fmla="val 4190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47" name="AutoShape 191"/>
              <p:cNvSpPr>
                <a:spLocks noChangeArrowheads="1"/>
              </p:cNvSpPr>
              <p:nvPr/>
            </p:nvSpPr>
            <p:spPr bwMode="auto">
              <a:xfrm>
                <a:off x="857" y="2281"/>
                <a:ext cx="35" cy="30"/>
              </a:xfrm>
              <a:prstGeom prst="moon">
                <a:avLst>
                  <a:gd name="adj" fmla="val 4190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sp>
        <p:nvSpPr>
          <p:cNvPr id="145" name="Line 203"/>
          <p:cNvSpPr>
            <a:spLocks noChangeShapeType="1"/>
          </p:cNvSpPr>
          <p:nvPr/>
        </p:nvSpPr>
        <p:spPr bwMode="auto">
          <a:xfrm>
            <a:off x="6040871" y="2392602"/>
            <a:ext cx="914290" cy="392799"/>
          </a:xfrm>
          <a:prstGeom prst="line">
            <a:avLst/>
          </a:prstGeom>
          <a:noFill/>
          <a:ln w="3810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46" name="Line 204"/>
          <p:cNvSpPr>
            <a:spLocks noChangeShapeType="1"/>
          </p:cNvSpPr>
          <p:nvPr/>
        </p:nvSpPr>
        <p:spPr bwMode="auto">
          <a:xfrm flipH="1">
            <a:off x="5038225" y="2410902"/>
            <a:ext cx="435056" cy="261226"/>
          </a:xfrm>
          <a:prstGeom prst="line">
            <a:avLst/>
          </a:prstGeom>
          <a:noFill/>
          <a:ln w="3810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47" name="Freeform 205"/>
          <p:cNvSpPr>
            <a:spLocks/>
          </p:cNvSpPr>
          <p:nvPr/>
        </p:nvSpPr>
        <p:spPr bwMode="auto">
          <a:xfrm rot="1901313">
            <a:off x="3717690" y="2759523"/>
            <a:ext cx="122930" cy="181514"/>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rgbClr val="FF00FF"/>
          </a:solidFill>
          <a:ln w="9525">
            <a:solidFill>
              <a:srgbClr val="FF00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48" name="Freeform 206"/>
          <p:cNvSpPr>
            <a:spLocks/>
          </p:cNvSpPr>
          <p:nvPr/>
        </p:nvSpPr>
        <p:spPr bwMode="auto">
          <a:xfrm rot="18818791" flipH="1">
            <a:off x="3717210" y="2614984"/>
            <a:ext cx="122930" cy="181513"/>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rgbClr val="FF00FF"/>
          </a:solidFill>
          <a:ln w="9525">
            <a:solidFill>
              <a:srgbClr val="FF00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49" name="Freeform 207"/>
          <p:cNvSpPr>
            <a:spLocks/>
          </p:cNvSpPr>
          <p:nvPr/>
        </p:nvSpPr>
        <p:spPr bwMode="auto">
          <a:xfrm rot="3575381">
            <a:off x="4226216" y="2650519"/>
            <a:ext cx="122930" cy="181513"/>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rgbClr val="FF00FF"/>
          </a:solidFill>
          <a:ln w="9525">
            <a:solidFill>
              <a:srgbClr val="FF00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50" name="Text Box 208"/>
          <p:cNvSpPr txBox="1">
            <a:spLocks noChangeArrowheads="1"/>
          </p:cNvSpPr>
          <p:nvPr/>
        </p:nvSpPr>
        <p:spPr bwMode="auto">
          <a:xfrm>
            <a:off x="2912785" y="3518738"/>
            <a:ext cx="534121"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 </a:t>
            </a:r>
            <a:r>
              <a:rPr kumimoji="0" lang="zh-CN" altLang="en-US" sz="1050" b="1" i="0" u="none" strike="noStrike" kern="0" cap="none" spc="0" normalizeH="0" baseline="0" noProof="0" dirty="0">
                <a:ln>
                  <a:noFill/>
                </a:ln>
                <a:effectLst/>
                <a:uLnTx/>
                <a:uFillTx/>
                <a:latin typeface="微软雅黑" pitchFamily="34" charset="-122"/>
                <a:ea typeface="微软雅黑" pitchFamily="34" charset="-122"/>
              </a:rPr>
              <a:t>主机 </a:t>
            </a:r>
            <a:endParaRPr kumimoji="0" lang="en-US" altLang="zh-CN" sz="1050" b="1" i="0" u="none" strike="noStrike" kern="0" cap="none" spc="0" normalizeH="0" baseline="0" noProof="0" dirty="0">
              <a:ln>
                <a:noFill/>
              </a:ln>
              <a:effectLst/>
              <a:uLnTx/>
              <a:uFillTx/>
              <a:latin typeface="微软雅黑" pitchFamily="34" charset="-122"/>
              <a:ea typeface="微软雅黑" pitchFamily="34" charset="-122"/>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H</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2</a:t>
            </a:r>
          </a:p>
        </p:txBody>
      </p:sp>
      <p:sp>
        <p:nvSpPr>
          <p:cNvPr id="228" name="Line 210"/>
          <p:cNvSpPr>
            <a:spLocks noChangeShapeType="1"/>
          </p:cNvSpPr>
          <p:nvPr/>
        </p:nvSpPr>
        <p:spPr bwMode="auto">
          <a:xfrm>
            <a:off x="3165467" y="2019063"/>
            <a:ext cx="0" cy="21800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26" name="Line 213"/>
          <p:cNvSpPr>
            <a:spLocks noChangeShapeType="1"/>
          </p:cNvSpPr>
          <p:nvPr/>
        </p:nvSpPr>
        <p:spPr bwMode="auto">
          <a:xfrm>
            <a:off x="3775313" y="2020023"/>
            <a:ext cx="0" cy="21800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53" name="Text Box 215"/>
          <p:cNvSpPr txBox="1">
            <a:spLocks noChangeArrowheads="1"/>
          </p:cNvSpPr>
          <p:nvPr/>
        </p:nvSpPr>
        <p:spPr bwMode="auto">
          <a:xfrm>
            <a:off x="3636056" y="1579205"/>
            <a:ext cx="37542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a:ln>
                  <a:noFill/>
                </a:ln>
                <a:effectLst/>
                <a:uLnTx/>
                <a:uFillTx/>
                <a:latin typeface="微软雅黑" pitchFamily="34" charset="-122"/>
                <a:ea typeface="微软雅黑" pitchFamily="34" charset="-122"/>
              </a:rPr>
              <a:t> R</a:t>
            </a:r>
            <a:r>
              <a:rPr kumimoji="0" lang="en-US" altLang="zh-CN" sz="1050" b="1" i="0" u="none" strike="noStrike" kern="0" cap="none" spc="0" normalizeH="0" baseline="-25000" noProof="0">
                <a:ln>
                  <a:noFill/>
                </a:ln>
                <a:effectLst/>
                <a:uLnTx/>
                <a:uFillTx/>
                <a:latin typeface="微软雅黑" pitchFamily="34" charset="-122"/>
                <a:ea typeface="微软雅黑" pitchFamily="34" charset="-122"/>
              </a:rPr>
              <a:t>1</a:t>
            </a:r>
          </a:p>
        </p:txBody>
      </p:sp>
      <p:sp>
        <p:nvSpPr>
          <p:cNvPr id="154" name="Text Box 216"/>
          <p:cNvSpPr txBox="1">
            <a:spLocks noChangeArrowheads="1"/>
          </p:cNvSpPr>
          <p:nvPr/>
        </p:nvSpPr>
        <p:spPr bwMode="auto">
          <a:xfrm>
            <a:off x="6733355" y="2968085"/>
            <a:ext cx="37542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 R</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4</a:t>
            </a:r>
          </a:p>
        </p:txBody>
      </p:sp>
      <p:sp>
        <p:nvSpPr>
          <p:cNvPr id="155" name="Text Box 217"/>
          <p:cNvSpPr txBox="1">
            <a:spLocks noChangeArrowheads="1"/>
          </p:cNvSpPr>
          <p:nvPr/>
        </p:nvSpPr>
        <p:spPr bwMode="auto">
          <a:xfrm>
            <a:off x="4470089" y="2650941"/>
            <a:ext cx="37542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 R</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5</a:t>
            </a:r>
          </a:p>
        </p:txBody>
      </p:sp>
      <p:sp>
        <p:nvSpPr>
          <p:cNvPr id="156" name="Text Box 218"/>
          <p:cNvSpPr txBox="1">
            <a:spLocks noChangeArrowheads="1"/>
          </p:cNvSpPr>
          <p:nvPr/>
        </p:nvSpPr>
        <p:spPr bwMode="auto">
          <a:xfrm>
            <a:off x="5116976" y="1579205"/>
            <a:ext cx="37542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a:ln>
                  <a:noFill/>
                </a:ln>
                <a:effectLst/>
                <a:uLnTx/>
                <a:uFillTx/>
                <a:latin typeface="微软雅黑" pitchFamily="34" charset="-122"/>
                <a:ea typeface="微软雅黑" pitchFamily="34" charset="-122"/>
              </a:rPr>
              <a:t> R</a:t>
            </a:r>
            <a:r>
              <a:rPr kumimoji="0" lang="en-US" altLang="zh-CN" sz="1050" b="1" i="0" u="none" strike="noStrike" kern="0" cap="none" spc="0" normalizeH="0" baseline="-25000" noProof="0">
                <a:ln>
                  <a:noFill/>
                </a:ln>
                <a:effectLst/>
                <a:uLnTx/>
                <a:uFillTx/>
                <a:latin typeface="微软雅黑" pitchFamily="34" charset="-122"/>
                <a:ea typeface="微软雅黑" pitchFamily="34" charset="-122"/>
              </a:rPr>
              <a:t>2</a:t>
            </a:r>
          </a:p>
        </p:txBody>
      </p:sp>
      <p:sp>
        <p:nvSpPr>
          <p:cNvPr id="157" name="Text Box 219"/>
          <p:cNvSpPr txBox="1">
            <a:spLocks noChangeArrowheads="1"/>
          </p:cNvSpPr>
          <p:nvPr/>
        </p:nvSpPr>
        <p:spPr bwMode="auto">
          <a:xfrm>
            <a:off x="6755141" y="1511061"/>
            <a:ext cx="37542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 R</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3</a:t>
            </a:r>
          </a:p>
        </p:txBody>
      </p:sp>
      <p:sp>
        <p:nvSpPr>
          <p:cNvPr id="158" name="Text Box 220"/>
          <p:cNvSpPr txBox="1">
            <a:spLocks noChangeArrowheads="1"/>
          </p:cNvSpPr>
          <p:nvPr/>
        </p:nvSpPr>
        <p:spPr bwMode="auto">
          <a:xfrm>
            <a:off x="3442187" y="1009431"/>
            <a:ext cx="37542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 R</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1</a:t>
            </a:r>
          </a:p>
        </p:txBody>
      </p:sp>
      <p:sp>
        <p:nvSpPr>
          <p:cNvPr id="159" name="Text Box 221"/>
          <p:cNvSpPr txBox="1">
            <a:spLocks noChangeArrowheads="1"/>
          </p:cNvSpPr>
          <p:nvPr/>
        </p:nvSpPr>
        <p:spPr bwMode="auto">
          <a:xfrm>
            <a:off x="4970383" y="1017487"/>
            <a:ext cx="37542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 R</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2</a:t>
            </a:r>
          </a:p>
        </p:txBody>
      </p:sp>
      <p:sp>
        <p:nvSpPr>
          <p:cNvPr id="160" name="Text Box 222"/>
          <p:cNvSpPr txBox="1">
            <a:spLocks noChangeArrowheads="1"/>
          </p:cNvSpPr>
          <p:nvPr/>
        </p:nvSpPr>
        <p:spPr bwMode="auto">
          <a:xfrm>
            <a:off x="6847382" y="853151"/>
            <a:ext cx="37542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 R</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3</a:t>
            </a:r>
          </a:p>
        </p:txBody>
      </p:sp>
      <p:sp>
        <p:nvSpPr>
          <p:cNvPr id="161" name="Text Box 223"/>
          <p:cNvSpPr txBox="1">
            <a:spLocks noChangeArrowheads="1"/>
          </p:cNvSpPr>
          <p:nvPr/>
        </p:nvSpPr>
        <p:spPr bwMode="auto">
          <a:xfrm>
            <a:off x="2519067" y="576559"/>
            <a:ext cx="351378"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H</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1</a:t>
            </a:r>
          </a:p>
        </p:txBody>
      </p:sp>
      <p:sp>
        <p:nvSpPr>
          <p:cNvPr id="162" name="Text Box 224"/>
          <p:cNvSpPr txBox="1">
            <a:spLocks noChangeArrowheads="1"/>
          </p:cNvSpPr>
          <p:nvPr/>
        </p:nvSpPr>
        <p:spPr bwMode="auto">
          <a:xfrm>
            <a:off x="4713497" y="2961735"/>
            <a:ext cx="37542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 R</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5</a:t>
            </a:r>
          </a:p>
        </p:txBody>
      </p:sp>
      <p:sp>
        <p:nvSpPr>
          <p:cNvPr id="163" name="Text Box 225"/>
          <p:cNvSpPr txBox="1">
            <a:spLocks noChangeArrowheads="1"/>
          </p:cNvSpPr>
          <p:nvPr/>
        </p:nvSpPr>
        <p:spPr bwMode="auto">
          <a:xfrm>
            <a:off x="3958818" y="3408745"/>
            <a:ext cx="39145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 H</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2</a:t>
            </a:r>
          </a:p>
        </p:txBody>
      </p:sp>
      <p:grpSp>
        <p:nvGrpSpPr>
          <p:cNvPr id="164" name="Group 226"/>
          <p:cNvGrpSpPr>
            <a:grpSpLocks/>
          </p:cNvGrpSpPr>
          <p:nvPr/>
        </p:nvGrpSpPr>
        <p:grpSpPr bwMode="auto">
          <a:xfrm>
            <a:off x="6345314" y="2062281"/>
            <a:ext cx="871073" cy="522452"/>
            <a:chOff x="385" y="2795"/>
            <a:chExt cx="1769" cy="816"/>
          </a:xfrm>
          <a:solidFill>
            <a:srgbClr val="3399FF"/>
          </a:solidFill>
        </p:grpSpPr>
        <p:sp>
          <p:nvSpPr>
            <p:cNvPr id="209" name="Oval 227"/>
            <p:cNvSpPr>
              <a:spLocks noChangeArrowheads="1"/>
            </p:cNvSpPr>
            <p:nvPr/>
          </p:nvSpPr>
          <p:spPr bwMode="auto">
            <a:xfrm>
              <a:off x="1589" y="3060"/>
              <a:ext cx="554" cy="24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0" name="Oval 228"/>
            <p:cNvSpPr>
              <a:spLocks noChangeArrowheads="1"/>
            </p:cNvSpPr>
            <p:nvPr/>
          </p:nvSpPr>
          <p:spPr bwMode="auto">
            <a:xfrm>
              <a:off x="928" y="3274"/>
              <a:ext cx="884" cy="337"/>
            </a:xfrm>
            <a:prstGeom prst="ellipse">
              <a:avLst/>
            </a:prstGeom>
            <a:grpFill/>
            <a:ln>
              <a:noFill/>
            </a:ln>
            <a:effectLst>
              <a:outerShdw dist="35921" dir="2700000"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1" name="Oval 229"/>
            <p:cNvSpPr>
              <a:spLocks noChangeArrowheads="1"/>
            </p:cNvSpPr>
            <p:nvPr/>
          </p:nvSpPr>
          <p:spPr bwMode="auto">
            <a:xfrm>
              <a:off x="502" y="3204"/>
              <a:ext cx="586" cy="28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2" name="Oval 230"/>
            <p:cNvSpPr>
              <a:spLocks noChangeArrowheads="1"/>
            </p:cNvSpPr>
            <p:nvPr/>
          </p:nvSpPr>
          <p:spPr bwMode="auto">
            <a:xfrm>
              <a:off x="385" y="3084"/>
              <a:ext cx="384" cy="256"/>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3" name="Oval 231"/>
            <p:cNvSpPr>
              <a:spLocks noChangeArrowheads="1"/>
            </p:cNvSpPr>
            <p:nvPr/>
          </p:nvSpPr>
          <p:spPr bwMode="auto">
            <a:xfrm>
              <a:off x="566" y="2883"/>
              <a:ext cx="576" cy="32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4" name="Oval 232"/>
            <p:cNvSpPr>
              <a:spLocks noChangeArrowheads="1"/>
            </p:cNvSpPr>
            <p:nvPr/>
          </p:nvSpPr>
          <p:spPr bwMode="auto">
            <a:xfrm>
              <a:off x="992" y="2795"/>
              <a:ext cx="757" cy="32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5" name="Oval 233"/>
            <p:cNvSpPr>
              <a:spLocks noChangeArrowheads="1"/>
            </p:cNvSpPr>
            <p:nvPr/>
          </p:nvSpPr>
          <p:spPr bwMode="auto">
            <a:xfrm>
              <a:off x="1504" y="2891"/>
              <a:ext cx="554" cy="24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6" name="Oval 234"/>
            <p:cNvSpPr>
              <a:spLocks noChangeArrowheads="1"/>
            </p:cNvSpPr>
            <p:nvPr/>
          </p:nvSpPr>
          <p:spPr bwMode="auto">
            <a:xfrm>
              <a:off x="704" y="2987"/>
              <a:ext cx="1141" cy="41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7" name="Oval 235"/>
            <p:cNvSpPr>
              <a:spLocks noChangeArrowheads="1"/>
            </p:cNvSpPr>
            <p:nvPr/>
          </p:nvSpPr>
          <p:spPr bwMode="auto">
            <a:xfrm rot="1336630">
              <a:off x="1474" y="3067"/>
              <a:ext cx="555" cy="417"/>
            </a:xfrm>
            <a:prstGeom prst="ellipse">
              <a:avLst/>
            </a:prstGeom>
            <a:grpFill/>
            <a:ln>
              <a:noFill/>
            </a:ln>
            <a:effectLst>
              <a:outerShdw dist="40161" dir="4293903"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8" name="Oval 236"/>
            <p:cNvSpPr>
              <a:spLocks noChangeArrowheads="1"/>
            </p:cNvSpPr>
            <p:nvPr/>
          </p:nvSpPr>
          <p:spPr bwMode="auto">
            <a:xfrm>
              <a:off x="1004" y="2811"/>
              <a:ext cx="756" cy="32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9" name="Oval 237"/>
            <p:cNvSpPr>
              <a:spLocks noChangeArrowheads="1"/>
            </p:cNvSpPr>
            <p:nvPr/>
          </p:nvSpPr>
          <p:spPr bwMode="auto">
            <a:xfrm>
              <a:off x="577" y="2899"/>
              <a:ext cx="575" cy="320"/>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20" name="Oval 238"/>
            <p:cNvSpPr>
              <a:spLocks noChangeArrowheads="1"/>
            </p:cNvSpPr>
            <p:nvPr/>
          </p:nvSpPr>
          <p:spPr bwMode="auto">
            <a:xfrm>
              <a:off x="396" y="3100"/>
              <a:ext cx="383" cy="256"/>
            </a:xfrm>
            <a:prstGeom prst="ellipse">
              <a:avLst/>
            </a:prstGeom>
            <a:grpFill/>
            <a:ln>
              <a:noFill/>
            </a:ln>
            <a:effectLst>
              <a:outerShdw dist="63500" dir="3187806"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21" name="Oval 239"/>
            <p:cNvSpPr>
              <a:spLocks noChangeArrowheads="1"/>
            </p:cNvSpPr>
            <p:nvPr/>
          </p:nvSpPr>
          <p:spPr bwMode="auto">
            <a:xfrm>
              <a:off x="1515" y="2908"/>
              <a:ext cx="554" cy="24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22" name="Oval 240"/>
            <p:cNvSpPr>
              <a:spLocks noChangeArrowheads="1"/>
            </p:cNvSpPr>
            <p:nvPr/>
          </p:nvSpPr>
          <p:spPr bwMode="auto">
            <a:xfrm>
              <a:off x="1599" y="3075"/>
              <a:ext cx="555" cy="249"/>
            </a:xfrm>
            <a:prstGeom prst="ellipse">
              <a:avLst/>
            </a:prstGeom>
            <a:grpFill/>
            <a:ln>
              <a:noFill/>
            </a:ln>
            <a:effectLst>
              <a:outerShdw dist="35921" dir="2700000"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23" name="Oval 241"/>
            <p:cNvSpPr>
              <a:spLocks noChangeArrowheads="1"/>
            </p:cNvSpPr>
            <p:nvPr/>
          </p:nvSpPr>
          <p:spPr bwMode="auto">
            <a:xfrm>
              <a:off x="715" y="3003"/>
              <a:ext cx="1141" cy="417"/>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24" name="Oval 242"/>
            <p:cNvSpPr>
              <a:spLocks noChangeArrowheads="1"/>
            </p:cNvSpPr>
            <p:nvPr/>
          </p:nvSpPr>
          <p:spPr bwMode="auto">
            <a:xfrm>
              <a:off x="513" y="3219"/>
              <a:ext cx="586" cy="282"/>
            </a:xfrm>
            <a:prstGeom prst="ellipse">
              <a:avLst/>
            </a:prstGeom>
            <a:grpFill/>
            <a:ln>
              <a:noFill/>
            </a:ln>
            <a:effectLst>
              <a:outerShdw dist="113592" dir="20006097"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25" name="Freeform 243"/>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noFill/>
            </a:ln>
            <a:effectLst/>
            <a:extLst>
              <a:ext uri="{91240B29-F687-4F45-9708-019B960494DF}">
                <a14:hiddenLine xmlns:a14="http://schemas.microsoft.com/office/drawing/2010/main" w="12700" cap="flat" cmpd="sng">
                  <a:solidFill>
                    <a:schemeClr val="tx1"/>
                  </a:solidFill>
                  <a:prstDash val="solid"/>
                  <a:round/>
                  <a:headEnd/>
                  <a:tailE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sp>
        <p:nvSpPr>
          <p:cNvPr id="165" name="Text Box 244"/>
          <p:cNvSpPr txBox="1">
            <a:spLocks noChangeArrowheads="1"/>
          </p:cNvSpPr>
          <p:nvPr/>
        </p:nvSpPr>
        <p:spPr bwMode="auto">
          <a:xfrm>
            <a:off x="6485890" y="2668286"/>
            <a:ext cx="37542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 R</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4</a:t>
            </a:r>
          </a:p>
        </p:txBody>
      </p:sp>
      <p:sp>
        <p:nvSpPr>
          <p:cNvPr id="168" name="AutoShape 247"/>
          <p:cNvSpPr>
            <a:spLocks noChangeArrowheads="1"/>
          </p:cNvSpPr>
          <p:nvPr/>
        </p:nvSpPr>
        <p:spPr bwMode="auto">
          <a:xfrm>
            <a:off x="2860063" y="1669482"/>
            <a:ext cx="742380" cy="296264"/>
          </a:xfrm>
          <a:prstGeom prst="rightArrow">
            <a:avLst>
              <a:gd name="adj1" fmla="val 59778"/>
              <a:gd name="adj2" fmla="val 92053"/>
            </a:avLst>
          </a:prstGeom>
          <a:solidFill>
            <a:srgbClr val="00FFFF"/>
          </a:solidFill>
          <a:ln w="9525">
            <a:solidFill>
              <a:srgbClr val="000000"/>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rPr>
              <a:t>间接交付</a:t>
            </a:r>
          </a:p>
        </p:txBody>
      </p:sp>
      <p:sp>
        <p:nvSpPr>
          <p:cNvPr id="169" name="AutoShape 248"/>
          <p:cNvSpPr>
            <a:spLocks noChangeArrowheads="1"/>
          </p:cNvSpPr>
          <p:nvPr/>
        </p:nvSpPr>
        <p:spPr bwMode="auto">
          <a:xfrm rot="6744589" flipV="1">
            <a:off x="6676363" y="2085712"/>
            <a:ext cx="827855" cy="309934"/>
          </a:xfrm>
          <a:prstGeom prst="rightArrow">
            <a:avLst>
              <a:gd name="adj1" fmla="val 59778"/>
              <a:gd name="adj2" fmla="val 102652"/>
            </a:avLst>
          </a:prstGeom>
          <a:solidFill>
            <a:srgbClr val="00FFFF"/>
          </a:solidFill>
          <a:ln w="9525">
            <a:solidFill>
              <a:srgbClr val="000000"/>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rPr>
              <a:t>间接交付</a:t>
            </a:r>
          </a:p>
        </p:txBody>
      </p:sp>
      <p:sp>
        <p:nvSpPr>
          <p:cNvPr id="170" name="AutoShape 249"/>
          <p:cNvSpPr>
            <a:spLocks noChangeArrowheads="1"/>
          </p:cNvSpPr>
          <p:nvPr/>
        </p:nvSpPr>
        <p:spPr bwMode="auto">
          <a:xfrm flipH="1">
            <a:off x="5333063" y="2802741"/>
            <a:ext cx="1000188" cy="348622"/>
          </a:xfrm>
          <a:prstGeom prst="rightArrow">
            <a:avLst>
              <a:gd name="adj1" fmla="val 59778"/>
              <a:gd name="adj2" fmla="val 151908"/>
            </a:avLst>
          </a:prstGeom>
          <a:solidFill>
            <a:srgbClr val="00FFFF"/>
          </a:solidFill>
          <a:ln w="9525">
            <a:solidFill>
              <a:srgbClr val="000000"/>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900" b="1" i="0" u="none" strike="noStrike" kern="0" cap="none" spc="0" normalizeH="0" baseline="0" noProof="0" dirty="0">
                <a:ln>
                  <a:noFill/>
                </a:ln>
                <a:solidFill>
                  <a:srgbClr val="000099"/>
                </a:solidFill>
                <a:effectLst/>
                <a:uLnTx/>
                <a:uFillTx/>
                <a:latin typeface="微软雅黑" pitchFamily="34" charset="-122"/>
                <a:ea typeface="微软雅黑" pitchFamily="34" charset="-122"/>
              </a:rPr>
              <a:t>间接交付</a:t>
            </a:r>
          </a:p>
        </p:txBody>
      </p:sp>
      <p:sp>
        <p:nvSpPr>
          <p:cNvPr id="171" name="AutoShape 250"/>
          <p:cNvSpPr>
            <a:spLocks noChangeArrowheads="1"/>
          </p:cNvSpPr>
          <p:nvPr/>
        </p:nvSpPr>
        <p:spPr bwMode="auto">
          <a:xfrm rot="20314671" flipH="1">
            <a:off x="3732494" y="3053513"/>
            <a:ext cx="914290" cy="326419"/>
          </a:xfrm>
          <a:prstGeom prst="rightArrow">
            <a:avLst>
              <a:gd name="adj1" fmla="val 59778"/>
              <a:gd name="adj2" fmla="val 113871"/>
            </a:avLst>
          </a:prstGeom>
          <a:solidFill>
            <a:srgbClr val="FF99FF"/>
          </a:solidFill>
          <a:ln w="12700" cmpd="sng">
            <a:solidFill>
              <a:srgbClr val="000000"/>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900" b="1" i="0" u="none" strike="noStrike" kern="0" cap="none" spc="0" normalizeH="0" baseline="0" noProof="0">
                <a:ln>
                  <a:noFill/>
                </a:ln>
                <a:effectLst/>
                <a:uLnTx/>
                <a:uFillTx/>
                <a:latin typeface="微软雅黑" pitchFamily="34" charset="-122"/>
                <a:ea typeface="微软雅黑" pitchFamily="34" charset="-122"/>
              </a:rPr>
              <a:t>直接交付</a:t>
            </a:r>
          </a:p>
        </p:txBody>
      </p:sp>
      <p:grpSp>
        <p:nvGrpSpPr>
          <p:cNvPr id="172" name="Group 251"/>
          <p:cNvGrpSpPr>
            <a:grpSpLocks/>
          </p:cNvGrpSpPr>
          <p:nvPr/>
        </p:nvGrpSpPr>
        <p:grpSpPr bwMode="auto">
          <a:xfrm>
            <a:off x="3751305" y="1072121"/>
            <a:ext cx="460026" cy="450423"/>
            <a:chOff x="1721" y="585"/>
            <a:chExt cx="479" cy="469"/>
          </a:xfrm>
        </p:grpSpPr>
        <p:sp>
          <p:nvSpPr>
            <p:cNvPr id="204" name="Rectangle 253"/>
            <p:cNvSpPr>
              <a:spLocks noChangeArrowheads="1"/>
            </p:cNvSpPr>
            <p:nvPr/>
          </p:nvSpPr>
          <p:spPr bwMode="auto">
            <a:xfrm>
              <a:off x="1721" y="585"/>
              <a:ext cx="479" cy="469"/>
            </a:xfrm>
            <a:prstGeom prst="rect">
              <a:avLst/>
            </a:prstGeom>
            <a:solidFill>
              <a:srgbClr val="00FF99"/>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03" name="Rectangle 252"/>
            <p:cNvSpPr>
              <a:spLocks noChangeArrowheads="1"/>
            </p:cNvSpPr>
            <p:nvPr/>
          </p:nvSpPr>
          <p:spPr bwMode="auto">
            <a:xfrm>
              <a:off x="1728" y="586"/>
              <a:ext cx="467" cy="174"/>
            </a:xfrm>
            <a:prstGeom prst="rect">
              <a:avLst/>
            </a:prstGeom>
            <a:solidFill>
              <a:srgbClr val="0000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05" name="Line 254"/>
            <p:cNvSpPr>
              <a:spLocks noChangeShapeType="1"/>
            </p:cNvSpPr>
            <p:nvPr/>
          </p:nvSpPr>
          <p:spPr bwMode="auto">
            <a:xfrm>
              <a:off x="1721" y="754"/>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06" name="Line 255"/>
            <p:cNvSpPr>
              <a:spLocks noChangeShapeType="1"/>
            </p:cNvSpPr>
            <p:nvPr/>
          </p:nvSpPr>
          <p:spPr bwMode="auto">
            <a:xfrm>
              <a:off x="1721" y="906"/>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07" name="Line 256"/>
            <p:cNvSpPr>
              <a:spLocks noChangeShapeType="1"/>
            </p:cNvSpPr>
            <p:nvPr/>
          </p:nvSpPr>
          <p:spPr bwMode="auto">
            <a:xfrm>
              <a:off x="1961" y="748"/>
              <a:ext cx="1" cy="30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nvGrpSpPr>
          <p:cNvPr id="173" name="Group 258"/>
          <p:cNvGrpSpPr>
            <a:grpSpLocks/>
          </p:cNvGrpSpPr>
          <p:nvPr/>
        </p:nvGrpSpPr>
        <p:grpSpPr bwMode="auto">
          <a:xfrm>
            <a:off x="5275440" y="1072121"/>
            <a:ext cx="460026" cy="450423"/>
            <a:chOff x="1721" y="585"/>
            <a:chExt cx="479" cy="469"/>
          </a:xfrm>
        </p:grpSpPr>
        <p:sp>
          <p:nvSpPr>
            <p:cNvPr id="198" name="Rectangle 260"/>
            <p:cNvSpPr>
              <a:spLocks noChangeArrowheads="1"/>
            </p:cNvSpPr>
            <p:nvPr/>
          </p:nvSpPr>
          <p:spPr bwMode="auto">
            <a:xfrm>
              <a:off x="1721" y="585"/>
              <a:ext cx="479" cy="469"/>
            </a:xfrm>
            <a:prstGeom prst="rect">
              <a:avLst/>
            </a:prstGeom>
            <a:solidFill>
              <a:srgbClr val="00FF99"/>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97" name="Rectangle 259"/>
            <p:cNvSpPr>
              <a:spLocks noChangeArrowheads="1"/>
            </p:cNvSpPr>
            <p:nvPr/>
          </p:nvSpPr>
          <p:spPr bwMode="auto">
            <a:xfrm>
              <a:off x="1728" y="586"/>
              <a:ext cx="467" cy="174"/>
            </a:xfrm>
            <a:prstGeom prst="rect">
              <a:avLst/>
            </a:prstGeom>
            <a:solidFill>
              <a:srgbClr val="0000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99" name="Line 261"/>
            <p:cNvSpPr>
              <a:spLocks noChangeShapeType="1"/>
            </p:cNvSpPr>
            <p:nvPr/>
          </p:nvSpPr>
          <p:spPr bwMode="auto">
            <a:xfrm>
              <a:off x="1721" y="754"/>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00" name="Line 262"/>
            <p:cNvSpPr>
              <a:spLocks noChangeShapeType="1"/>
            </p:cNvSpPr>
            <p:nvPr/>
          </p:nvSpPr>
          <p:spPr bwMode="auto">
            <a:xfrm>
              <a:off x="1721" y="906"/>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01" name="Line 263"/>
            <p:cNvSpPr>
              <a:spLocks noChangeShapeType="1"/>
            </p:cNvSpPr>
            <p:nvPr/>
          </p:nvSpPr>
          <p:spPr bwMode="auto">
            <a:xfrm>
              <a:off x="1961" y="748"/>
              <a:ext cx="1" cy="30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nvGrpSpPr>
          <p:cNvPr id="174" name="Group 265"/>
          <p:cNvGrpSpPr>
            <a:grpSpLocks/>
          </p:cNvGrpSpPr>
          <p:nvPr/>
        </p:nvGrpSpPr>
        <p:grpSpPr bwMode="auto">
          <a:xfrm>
            <a:off x="6824549" y="1072121"/>
            <a:ext cx="460026" cy="450423"/>
            <a:chOff x="1721" y="585"/>
            <a:chExt cx="479" cy="469"/>
          </a:xfrm>
        </p:grpSpPr>
        <p:sp>
          <p:nvSpPr>
            <p:cNvPr id="192" name="Rectangle 267"/>
            <p:cNvSpPr>
              <a:spLocks noChangeArrowheads="1"/>
            </p:cNvSpPr>
            <p:nvPr/>
          </p:nvSpPr>
          <p:spPr bwMode="auto">
            <a:xfrm>
              <a:off x="1721" y="585"/>
              <a:ext cx="479" cy="469"/>
            </a:xfrm>
            <a:prstGeom prst="rect">
              <a:avLst/>
            </a:prstGeom>
            <a:solidFill>
              <a:srgbClr val="00FF99"/>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91" name="Rectangle 266"/>
            <p:cNvSpPr>
              <a:spLocks noChangeArrowheads="1"/>
            </p:cNvSpPr>
            <p:nvPr/>
          </p:nvSpPr>
          <p:spPr bwMode="auto">
            <a:xfrm>
              <a:off x="1728" y="586"/>
              <a:ext cx="467" cy="174"/>
            </a:xfrm>
            <a:prstGeom prst="rect">
              <a:avLst/>
            </a:prstGeom>
            <a:solidFill>
              <a:srgbClr val="0000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93" name="Line 268"/>
            <p:cNvSpPr>
              <a:spLocks noChangeShapeType="1"/>
            </p:cNvSpPr>
            <p:nvPr/>
          </p:nvSpPr>
          <p:spPr bwMode="auto">
            <a:xfrm>
              <a:off x="1721" y="754"/>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94" name="Line 269"/>
            <p:cNvSpPr>
              <a:spLocks noChangeShapeType="1"/>
            </p:cNvSpPr>
            <p:nvPr/>
          </p:nvSpPr>
          <p:spPr bwMode="auto">
            <a:xfrm>
              <a:off x="1721" y="906"/>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95" name="Line 270"/>
            <p:cNvSpPr>
              <a:spLocks noChangeShapeType="1"/>
            </p:cNvSpPr>
            <p:nvPr/>
          </p:nvSpPr>
          <p:spPr bwMode="auto">
            <a:xfrm>
              <a:off x="1961" y="748"/>
              <a:ext cx="1" cy="30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nvGrpSpPr>
          <p:cNvPr id="175" name="Group 272"/>
          <p:cNvGrpSpPr>
            <a:grpSpLocks/>
          </p:cNvGrpSpPr>
          <p:nvPr/>
        </p:nvGrpSpPr>
        <p:grpSpPr bwMode="auto">
          <a:xfrm>
            <a:off x="4665595" y="3196501"/>
            <a:ext cx="460026" cy="450423"/>
            <a:chOff x="1721" y="585"/>
            <a:chExt cx="479" cy="469"/>
          </a:xfrm>
        </p:grpSpPr>
        <p:sp>
          <p:nvSpPr>
            <p:cNvPr id="186" name="Rectangle 274"/>
            <p:cNvSpPr>
              <a:spLocks noChangeArrowheads="1"/>
            </p:cNvSpPr>
            <p:nvPr/>
          </p:nvSpPr>
          <p:spPr bwMode="auto">
            <a:xfrm>
              <a:off x="1721" y="585"/>
              <a:ext cx="479" cy="469"/>
            </a:xfrm>
            <a:prstGeom prst="rect">
              <a:avLst/>
            </a:prstGeom>
            <a:solidFill>
              <a:srgbClr val="00FF99"/>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85" name="Rectangle 273"/>
            <p:cNvSpPr>
              <a:spLocks noChangeArrowheads="1"/>
            </p:cNvSpPr>
            <p:nvPr/>
          </p:nvSpPr>
          <p:spPr bwMode="auto">
            <a:xfrm>
              <a:off x="1728" y="586"/>
              <a:ext cx="467" cy="174"/>
            </a:xfrm>
            <a:prstGeom prst="rect">
              <a:avLst/>
            </a:prstGeom>
            <a:solidFill>
              <a:srgbClr val="0000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87" name="Line 275"/>
            <p:cNvSpPr>
              <a:spLocks noChangeShapeType="1"/>
            </p:cNvSpPr>
            <p:nvPr/>
          </p:nvSpPr>
          <p:spPr bwMode="auto">
            <a:xfrm>
              <a:off x="1721" y="754"/>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88" name="Line 276"/>
            <p:cNvSpPr>
              <a:spLocks noChangeShapeType="1"/>
            </p:cNvSpPr>
            <p:nvPr/>
          </p:nvSpPr>
          <p:spPr bwMode="auto">
            <a:xfrm>
              <a:off x="1721" y="906"/>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89" name="Line 277"/>
            <p:cNvSpPr>
              <a:spLocks noChangeShapeType="1"/>
            </p:cNvSpPr>
            <p:nvPr/>
          </p:nvSpPr>
          <p:spPr bwMode="auto">
            <a:xfrm>
              <a:off x="1961" y="748"/>
              <a:ext cx="1" cy="30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nvGrpSpPr>
          <p:cNvPr id="176" name="Group 279"/>
          <p:cNvGrpSpPr>
            <a:grpSpLocks/>
          </p:cNvGrpSpPr>
          <p:nvPr/>
        </p:nvGrpSpPr>
        <p:grpSpPr bwMode="auto">
          <a:xfrm>
            <a:off x="6713144" y="3196501"/>
            <a:ext cx="460026" cy="450423"/>
            <a:chOff x="1721" y="585"/>
            <a:chExt cx="479" cy="469"/>
          </a:xfrm>
        </p:grpSpPr>
        <p:sp>
          <p:nvSpPr>
            <p:cNvPr id="180" name="Rectangle 281"/>
            <p:cNvSpPr>
              <a:spLocks noChangeArrowheads="1"/>
            </p:cNvSpPr>
            <p:nvPr/>
          </p:nvSpPr>
          <p:spPr bwMode="auto">
            <a:xfrm>
              <a:off x="1721" y="585"/>
              <a:ext cx="479" cy="469"/>
            </a:xfrm>
            <a:prstGeom prst="rect">
              <a:avLst/>
            </a:prstGeom>
            <a:solidFill>
              <a:srgbClr val="00FF99"/>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79" name="Rectangle 280"/>
            <p:cNvSpPr>
              <a:spLocks noChangeArrowheads="1"/>
            </p:cNvSpPr>
            <p:nvPr/>
          </p:nvSpPr>
          <p:spPr bwMode="auto">
            <a:xfrm>
              <a:off x="1728" y="586"/>
              <a:ext cx="467" cy="174"/>
            </a:xfrm>
            <a:prstGeom prst="rect">
              <a:avLst/>
            </a:prstGeom>
            <a:solidFill>
              <a:srgbClr val="0000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81" name="Line 282"/>
            <p:cNvSpPr>
              <a:spLocks noChangeShapeType="1"/>
            </p:cNvSpPr>
            <p:nvPr/>
          </p:nvSpPr>
          <p:spPr bwMode="auto">
            <a:xfrm>
              <a:off x="1721" y="754"/>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82" name="Line 283"/>
            <p:cNvSpPr>
              <a:spLocks noChangeShapeType="1"/>
            </p:cNvSpPr>
            <p:nvPr/>
          </p:nvSpPr>
          <p:spPr bwMode="auto">
            <a:xfrm>
              <a:off x="1721" y="906"/>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83" name="Line 284"/>
            <p:cNvSpPr>
              <a:spLocks noChangeShapeType="1"/>
            </p:cNvSpPr>
            <p:nvPr/>
          </p:nvSpPr>
          <p:spPr bwMode="auto">
            <a:xfrm>
              <a:off x="1961" y="748"/>
              <a:ext cx="1" cy="30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sp>
        <p:nvSpPr>
          <p:cNvPr id="178" name="Text Box 287"/>
          <p:cNvSpPr txBox="1">
            <a:spLocks noChangeArrowheads="1"/>
          </p:cNvSpPr>
          <p:nvPr/>
        </p:nvSpPr>
        <p:spPr bwMode="auto">
          <a:xfrm>
            <a:off x="3261881" y="652916"/>
            <a:ext cx="2639804" cy="338554"/>
          </a:xfrm>
          <a:prstGeom prst="rect">
            <a:avLst/>
          </a:prstGeom>
          <a:solidFill>
            <a:srgbClr val="0000CC"/>
          </a:solidFill>
          <a:ln w="9525">
            <a:solidFill>
              <a:srgbClr val="3333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6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分组在互联网中的传送 </a:t>
            </a:r>
          </a:p>
        </p:txBody>
      </p:sp>
      <p:sp>
        <p:nvSpPr>
          <p:cNvPr id="399" name="矩形 398"/>
          <p:cNvSpPr/>
          <p:nvPr/>
        </p:nvSpPr>
        <p:spPr>
          <a:xfrm>
            <a:off x="881220" y="2968085"/>
            <a:ext cx="1486721" cy="1015663"/>
          </a:xfrm>
          <a:prstGeom prst="rect">
            <a:avLst/>
          </a:prstGeom>
          <a:solidFill>
            <a:schemeClr val="bg1"/>
          </a:solidFill>
          <a:ln>
            <a:solidFill>
              <a:schemeClr val="tx1"/>
            </a:solidFill>
          </a:ln>
        </p:spPr>
        <p:txBody>
          <a:bodyPr wrap="square">
            <a:spAutoFit/>
          </a:bodyPr>
          <a:lstStyle/>
          <a:p>
            <a:pPr>
              <a:lnSpc>
                <a:spcPts val="2400"/>
              </a:lnSpc>
            </a:pPr>
            <a:r>
              <a:rPr lang="zh-CN" altLang="zh-CN" sz="1600" b="1" dirty="0">
                <a:latin typeface="微软雅黑" pitchFamily="34" charset="-122"/>
                <a:ea typeface="微软雅黑" pitchFamily="34" charset="-122"/>
              </a:rPr>
              <a:t>互联网可以由多种异构网络互连组成。</a:t>
            </a:r>
            <a:endParaRPr lang="zh-CN" altLang="en-US" sz="1600" b="1" dirty="0">
              <a:latin typeface="微软雅黑" pitchFamily="34" charset="-122"/>
              <a:ea typeface="微软雅黑" pitchFamily="34" charset="-122"/>
            </a:endParaRPr>
          </a:p>
        </p:txBody>
      </p:sp>
      <p:sp>
        <p:nvSpPr>
          <p:cNvPr id="400" name="AutoShape 247"/>
          <p:cNvSpPr>
            <a:spLocks noChangeArrowheads="1"/>
          </p:cNvSpPr>
          <p:nvPr/>
        </p:nvSpPr>
        <p:spPr bwMode="auto">
          <a:xfrm>
            <a:off x="4311526" y="1754262"/>
            <a:ext cx="742380" cy="296264"/>
          </a:xfrm>
          <a:prstGeom prst="rightArrow">
            <a:avLst>
              <a:gd name="adj1" fmla="val 59778"/>
              <a:gd name="adj2" fmla="val 92053"/>
            </a:avLst>
          </a:prstGeom>
          <a:solidFill>
            <a:srgbClr val="00FFFF"/>
          </a:solidFill>
          <a:ln w="9525">
            <a:solidFill>
              <a:srgbClr val="000000"/>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900" b="1" i="0" u="none" strike="noStrike" kern="0" cap="none" spc="0" normalizeH="0" baseline="0" noProof="0" dirty="0">
                <a:ln>
                  <a:noFill/>
                </a:ln>
                <a:solidFill>
                  <a:srgbClr val="000099"/>
                </a:solidFill>
                <a:effectLst/>
                <a:uLnTx/>
                <a:uFillTx/>
                <a:latin typeface="微软雅黑" pitchFamily="34" charset="-122"/>
                <a:ea typeface="微软雅黑" pitchFamily="34" charset="-122"/>
              </a:rPr>
              <a:t>间接交付</a:t>
            </a:r>
          </a:p>
        </p:txBody>
      </p:sp>
      <p:sp>
        <p:nvSpPr>
          <p:cNvPr id="402" name="AutoShape 247"/>
          <p:cNvSpPr>
            <a:spLocks noChangeArrowheads="1"/>
          </p:cNvSpPr>
          <p:nvPr/>
        </p:nvSpPr>
        <p:spPr bwMode="auto">
          <a:xfrm>
            <a:off x="5842744" y="1754262"/>
            <a:ext cx="742380" cy="296264"/>
          </a:xfrm>
          <a:prstGeom prst="rightArrow">
            <a:avLst>
              <a:gd name="adj1" fmla="val 59778"/>
              <a:gd name="adj2" fmla="val 92053"/>
            </a:avLst>
          </a:prstGeom>
          <a:solidFill>
            <a:srgbClr val="00FFFF"/>
          </a:solidFill>
          <a:ln w="9525">
            <a:solidFill>
              <a:srgbClr val="000000"/>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rPr>
              <a:t>间接交付</a:t>
            </a:r>
          </a:p>
        </p:txBody>
      </p:sp>
      <p:pic>
        <p:nvPicPr>
          <p:cNvPr id="403" name="Picture 246" descr="jisuanji"/>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474538" y="2156315"/>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404" name="Picture 246" descr="jisuanji"/>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352452" y="1563638"/>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405" name="Picture 246" descr="jisuanji"/>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956074" y="2156315"/>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406" name="Picture 246" descr="jisuanji"/>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576588" y="2156315"/>
            <a:ext cx="404587" cy="404587"/>
          </a:xfrm>
          <a:prstGeom prst="rect">
            <a:avLst/>
          </a:prstGeom>
          <a:noFill/>
          <a:extLst>
            <a:ext uri="{909E8E84-426E-40DD-AFC4-6F175D3DCCD1}">
              <a14:hiddenFill xmlns:a14="http://schemas.microsoft.com/office/drawing/2010/main">
                <a:solidFill>
                  <a:srgbClr val="FFFFFF"/>
                </a:solidFill>
              </a14:hiddenFill>
            </a:ext>
          </a:extLst>
        </p:spPr>
      </p:pic>
      <p:grpSp>
        <p:nvGrpSpPr>
          <p:cNvPr id="415" name="Group 181"/>
          <p:cNvGrpSpPr>
            <a:grpSpLocks/>
          </p:cNvGrpSpPr>
          <p:nvPr/>
        </p:nvGrpSpPr>
        <p:grpSpPr bwMode="auto">
          <a:xfrm>
            <a:off x="3210198" y="3363838"/>
            <a:ext cx="528334" cy="389692"/>
            <a:chOff x="762" y="2391"/>
            <a:chExt cx="423" cy="312"/>
          </a:xfrm>
        </p:grpSpPr>
        <p:grpSp>
          <p:nvGrpSpPr>
            <p:cNvPr id="416" name="Group 182"/>
            <p:cNvGrpSpPr>
              <a:grpSpLocks/>
            </p:cNvGrpSpPr>
            <p:nvPr/>
          </p:nvGrpSpPr>
          <p:grpSpPr bwMode="auto">
            <a:xfrm>
              <a:off x="867" y="2432"/>
              <a:ext cx="318" cy="271"/>
              <a:chOff x="657" y="1570"/>
              <a:chExt cx="318" cy="311"/>
            </a:xfrm>
          </p:grpSpPr>
          <p:sp>
            <p:nvSpPr>
              <p:cNvPr id="424" name="Line 183"/>
              <p:cNvSpPr>
                <a:spLocks noChangeShapeType="1"/>
              </p:cNvSpPr>
              <p:nvPr/>
            </p:nvSpPr>
            <p:spPr bwMode="auto">
              <a:xfrm flipH="1">
                <a:off x="703" y="1570"/>
                <a:ext cx="0" cy="7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pic>
            <p:nvPicPr>
              <p:cNvPr id="425" name="Picture 184"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15"/>
                <a:ext cx="318" cy="266"/>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417" name="Group 185"/>
            <p:cNvGrpSpPr>
              <a:grpSpLocks/>
            </p:cNvGrpSpPr>
            <p:nvPr/>
          </p:nvGrpSpPr>
          <p:grpSpPr bwMode="auto">
            <a:xfrm>
              <a:off x="762" y="2391"/>
              <a:ext cx="306" cy="90"/>
              <a:chOff x="748" y="2251"/>
              <a:chExt cx="306" cy="90"/>
            </a:xfrm>
          </p:grpSpPr>
          <p:sp>
            <p:nvSpPr>
              <p:cNvPr id="418" name="AutoShape 186"/>
              <p:cNvSpPr>
                <a:spLocks noChangeArrowheads="1"/>
              </p:cNvSpPr>
              <p:nvPr/>
            </p:nvSpPr>
            <p:spPr bwMode="auto">
              <a:xfrm>
                <a:off x="748" y="2251"/>
                <a:ext cx="111" cy="90"/>
              </a:xfrm>
              <a:prstGeom prst="moon">
                <a:avLst>
                  <a:gd name="adj" fmla="val 18444"/>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19" name="AutoShape 187"/>
              <p:cNvSpPr>
                <a:spLocks noChangeArrowheads="1"/>
              </p:cNvSpPr>
              <p:nvPr/>
            </p:nvSpPr>
            <p:spPr bwMode="auto">
              <a:xfrm flipH="1">
                <a:off x="943" y="2251"/>
                <a:ext cx="111" cy="90"/>
              </a:xfrm>
              <a:prstGeom prst="moon">
                <a:avLst>
                  <a:gd name="adj" fmla="val 18444"/>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20" name="AutoShape 188"/>
              <p:cNvSpPr>
                <a:spLocks noChangeArrowheads="1"/>
              </p:cNvSpPr>
              <p:nvPr/>
            </p:nvSpPr>
            <p:spPr bwMode="auto">
              <a:xfrm flipH="1">
                <a:off x="922" y="2266"/>
                <a:ext cx="70" cy="60"/>
              </a:xfrm>
              <a:prstGeom prst="moon">
                <a:avLst>
                  <a:gd name="adj" fmla="val 1834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21" name="AutoShape 189"/>
              <p:cNvSpPr>
                <a:spLocks noChangeArrowheads="1"/>
              </p:cNvSpPr>
              <p:nvPr/>
            </p:nvSpPr>
            <p:spPr bwMode="auto">
              <a:xfrm>
                <a:off x="806" y="2266"/>
                <a:ext cx="70" cy="60"/>
              </a:xfrm>
              <a:prstGeom prst="moon">
                <a:avLst>
                  <a:gd name="adj" fmla="val 1834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22" name="AutoShape 190"/>
              <p:cNvSpPr>
                <a:spLocks noChangeArrowheads="1"/>
              </p:cNvSpPr>
              <p:nvPr/>
            </p:nvSpPr>
            <p:spPr bwMode="auto">
              <a:xfrm flipH="1">
                <a:off x="905" y="2281"/>
                <a:ext cx="35" cy="30"/>
              </a:xfrm>
              <a:prstGeom prst="moon">
                <a:avLst>
                  <a:gd name="adj" fmla="val 4190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23" name="AutoShape 191"/>
              <p:cNvSpPr>
                <a:spLocks noChangeArrowheads="1"/>
              </p:cNvSpPr>
              <p:nvPr/>
            </p:nvSpPr>
            <p:spPr bwMode="auto">
              <a:xfrm>
                <a:off x="857" y="2281"/>
                <a:ext cx="35" cy="30"/>
              </a:xfrm>
              <a:prstGeom prst="moon">
                <a:avLst>
                  <a:gd name="adj" fmla="val 4190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grpSp>
        <p:nvGrpSpPr>
          <p:cNvPr id="426" name="Group 181"/>
          <p:cNvGrpSpPr>
            <a:grpSpLocks/>
          </p:cNvGrpSpPr>
          <p:nvPr/>
        </p:nvGrpSpPr>
        <p:grpSpPr bwMode="auto">
          <a:xfrm>
            <a:off x="3178448" y="2787774"/>
            <a:ext cx="528334" cy="389692"/>
            <a:chOff x="762" y="2391"/>
            <a:chExt cx="423" cy="312"/>
          </a:xfrm>
        </p:grpSpPr>
        <p:grpSp>
          <p:nvGrpSpPr>
            <p:cNvPr id="427" name="Group 182"/>
            <p:cNvGrpSpPr>
              <a:grpSpLocks/>
            </p:cNvGrpSpPr>
            <p:nvPr/>
          </p:nvGrpSpPr>
          <p:grpSpPr bwMode="auto">
            <a:xfrm>
              <a:off x="867" y="2432"/>
              <a:ext cx="318" cy="271"/>
              <a:chOff x="657" y="1570"/>
              <a:chExt cx="318" cy="311"/>
            </a:xfrm>
          </p:grpSpPr>
          <p:sp>
            <p:nvSpPr>
              <p:cNvPr id="435" name="Line 183"/>
              <p:cNvSpPr>
                <a:spLocks noChangeShapeType="1"/>
              </p:cNvSpPr>
              <p:nvPr/>
            </p:nvSpPr>
            <p:spPr bwMode="auto">
              <a:xfrm flipH="1">
                <a:off x="703" y="1570"/>
                <a:ext cx="0" cy="7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pic>
            <p:nvPicPr>
              <p:cNvPr id="436" name="Picture 184"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15"/>
                <a:ext cx="318" cy="266"/>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428" name="Group 185"/>
            <p:cNvGrpSpPr>
              <a:grpSpLocks/>
            </p:cNvGrpSpPr>
            <p:nvPr/>
          </p:nvGrpSpPr>
          <p:grpSpPr bwMode="auto">
            <a:xfrm>
              <a:off x="762" y="2391"/>
              <a:ext cx="306" cy="90"/>
              <a:chOff x="748" y="2251"/>
              <a:chExt cx="306" cy="90"/>
            </a:xfrm>
          </p:grpSpPr>
          <p:sp>
            <p:nvSpPr>
              <p:cNvPr id="429" name="AutoShape 186"/>
              <p:cNvSpPr>
                <a:spLocks noChangeArrowheads="1"/>
              </p:cNvSpPr>
              <p:nvPr/>
            </p:nvSpPr>
            <p:spPr bwMode="auto">
              <a:xfrm>
                <a:off x="748" y="2251"/>
                <a:ext cx="111" cy="90"/>
              </a:xfrm>
              <a:prstGeom prst="moon">
                <a:avLst>
                  <a:gd name="adj" fmla="val 18444"/>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30" name="AutoShape 187"/>
              <p:cNvSpPr>
                <a:spLocks noChangeArrowheads="1"/>
              </p:cNvSpPr>
              <p:nvPr/>
            </p:nvSpPr>
            <p:spPr bwMode="auto">
              <a:xfrm flipH="1">
                <a:off x="943" y="2251"/>
                <a:ext cx="111" cy="90"/>
              </a:xfrm>
              <a:prstGeom prst="moon">
                <a:avLst>
                  <a:gd name="adj" fmla="val 18444"/>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31" name="AutoShape 188"/>
              <p:cNvSpPr>
                <a:spLocks noChangeArrowheads="1"/>
              </p:cNvSpPr>
              <p:nvPr/>
            </p:nvSpPr>
            <p:spPr bwMode="auto">
              <a:xfrm flipH="1">
                <a:off x="922" y="2266"/>
                <a:ext cx="70" cy="60"/>
              </a:xfrm>
              <a:prstGeom prst="moon">
                <a:avLst>
                  <a:gd name="adj" fmla="val 1834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32" name="AutoShape 189"/>
              <p:cNvSpPr>
                <a:spLocks noChangeArrowheads="1"/>
              </p:cNvSpPr>
              <p:nvPr/>
            </p:nvSpPr>
            <p:spPr bwMode="auto">
              <a:xfrm>
                <a:off x="806" y="2266"/>
                <a:ext cx="70" cy="60"/>
              </a:xfrm>
              <a:prstGeom prst="moon">
                <a:avLst>
                  <a:gd name="adj" fmla="val 1834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33" name="AutoShape 190"/>
              <p:cNvSpPr>
                <a:spLocks noChangeArrowheads="1"/>
              </p:cNvSpPr>
              <p:nvPr/>
            </p:nvSpPr>
            <p:spPr bwMode="auto">
              <a:xfrm flipH="1">
                <a:off x="905" y="2281"/>
                <a:ext cx="35" cy="30"/>
              </a:xfrm>
              <a:prstGeom prst="moon">
                <a:avLst>
                  <a:gd name="adj" fmla="val 4190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34" name="AutoShape 191"/>
              <p:cNvSpPr>
                <a:spLocks noChangeArrowheads="1"/>
              </p:cNvSpPr>
              <p:nvPr/>
            </p:nvSpPr>
            <p:spPr bwMode="auto">
              <a:xfrm>
                <a:off x="857" y="2281"/>
                <a:ext cx="35" cy="30"/>
              </a:xfrm>
              <a:prstGeom prst="moon">
                <a:avLst>
                  <a:gd name="adj" fmla="val 4190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sp>
        <p:nvSpPr>
          <p:cNvPr id="437" name="Text Box 257"/>
          <p:cNvSpPr txBox="1">
            <a:spLocks noChangeArrowheads="1"/>
          </p:cNvSpPr>
          <p:nvPr/>
        </p:nvSpPr>
        <p:spPr bwMode="auto">
          <a:xfrm>
            <a:off x="3729491" y="1027140"/>
            <a:ext cx="494045"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3</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2     2</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1     1</a:t>
            </a:r>
          </a:p>
        </p:txBody>
      </p:sp>
      <p:sp>
        <p:nvSpPr>
          <p:cNvPr id="438" name="Text Box 264"/>
          <p:cNvSpPr txBox="1">
            <a:spLocks noChangeArrowheads="1"/>
          </p:cNvSpPr>
          <p:nvPr/>
        </p:nvSpPr>
        <p:spPr bwMode="auto">
          <a:xfrm>
            <a:off x="5253629" y="1027140"/>
            <a:ext cx="494045"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3</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2     2</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1     1</a:t>
            </a:r>
          </a:p>
        </p:txBody>
      </p:sp>
      <p:sp>
        <p:nvSpPr>
          <p:cNvPr id="439" name="Text Box 278"/>
          <p:cNvSpPr txBox="1">
            <a:spLocks noChangeArrowheads="1"/>
          </p:cNvSpPr>
          <p:nvPr/>
        </p:nvSpPr>
        <p:spPr bwMode="auto">
          <a:xfrm>
            <a:off x="4643781" y="3151520"/>
            <a:ext cx="494045"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3</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2     2</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1     1</a:t>
            </a:r>
          </a:p>
        </p:txBody>
      </p:sp>
      <p:sp>
        <p:nvSpPr>
          <p:cNvPr id="440" name="Text Box 278"/>
          <p:cNvSpPr txBox="1">
            <a:spLocks noChangeArrowheads="1"/>
          </p:cNvSpPr>
          <p:nvPr/>
        </p:nvSpPr>
        <p:spPr bwMode="auto">
          <a:xfrm>
            <a:off x="6707777" y="3157413"/>
            <a:ext cx="494045"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3</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2     2</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1     1</a:t>
            </a:r>
          </a:p>
        </p:txBody>
      </p:sp>
      <p:sp>
        <p:nvSpPr>
          <p:cNvPr id="441" name="Text Box 278"/>
          <p:cNvSpPr txBox="1">
            <a:spLocks noChangeArrowheads="1"/>
          </p:cNvSpPr>
          <p:nvPr/>
        </p:nvSpPr>
        <p:spPr bwMode="auto">
          <a:xfrm>
            <a:off x="6810598" y="1029990"/>
            <a:ext cx="494045"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3</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2     2</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1     1</a:t>
            </a:r>
          </a:p>
        </p:txBody>
      </p:sp>
      <p:sp>
        <p:nvSpPr>
          <p:cNvPr id="177" name="Freeform 286"/>
          <p:cNvSpPr>
            <a:spLocks/>
          </p:cNvSpPr>
          <p:nvPr/>
        </p:nvSpPr>
        <p:spPr bwMode="auto">
          <a:xfrm>
            <a:off x="2773628" y="842586"/>
            <a:ext cx="4713588" cy="3501579"/>
          </a:xfrm>
          <a:custGeom>
            <a:avLst/>
            <a:gdLst>
              <a:gd name="T0" fmla="*/ 4 w 4908"/>
              <a:gd name="T1" fmla="*/ 0 h 3646"/>
              <a:gd name="T2" fmla="*/ 4 w 4908"/>
              <a:gd name="T3" fmla="*/ 453 h 3646"/>
              <a:gd name="T4" fmla="*/ 13 w 4908"/>
              <a:gd name="T5" fmla="*/ 736 h 3646"/>
              <a:gd name="T6" fmla="*/ 69 w 4908"/>
              <a:gd name="T7" fmla="*/ 794 h 3646"/>
              <a:gd name="T8" fmla="*/ 279 w 4908"/>
              <a:gd name="T9" fmla="*/ 812 h 3646"/>
              <a:gd name="T10" fmla="*/ 579 w 4908"/>
              <a:gd name="T11" fmla="*/ 815 h 3646"/>
              <a:gd name="T12" fmla="*/ 924 w 4908"/>
              <a:gd name="T13" fmla="*/ 809 h 3646"/>
              <a:gd name="T14" fmla="*/ 1083 w 4908"/>
              <a:gd name="T15" fmla="*/ 737 h 3646"/>
              <a:gd name="T16" fmla="*/ 1098 w 4908"/>
              <a:gd name="T17" fmla="*/ 398 h 3646"/>
              <a:gd name="T18" fmla="*/ 1175 w 4908"/>
              <a:gd name="T19" fmla="*/ 269 h 3646"/>
              <a:gd name="T20" fmla="*/ 1406 w 4908"/>
              <a:gd name="T21" fmla="*/ 290 h 3646"/>
              <a:gd name="T22" fmla="*/ 1442 w 4908"/>
              <a:gd name="T23" fmla="*/ 551 h 3646"/>
              <a:gd name="T24" fmla="*/ 1466 w 4908"/>
              <a:gd name="T25" fmla="*/ 773 h 3646"/>
              <a:gd name="T26" fmla="*/ 1676 w 4908"/>
              <a:gd name="T27" fmla="*/ 809 h 3646"/>
              <a:gd name="T28" fmla="*/ 1859 w 4908"/>
              <a:gd name="T29" fmla="*/ 803 h 3646"/>
              <a:gd name="T30" fmla="*/ 2349 w 4908"/>
              <a:gd name="T31" fmla="*/ 803 h 3646"/>
              <a:gd name="T32" fmla="*/ 2514 w 4908"/>
              <a:gd name="T33" fmla="*/ 779 h 3646"/>
              <a:gd name="T34" fmla="*/ 2636 w 4908"/>
              <a:gd name="T35" fmla="*/ 680 h 3646"/>
              <a:gd name="T36" fmla="*/ 2660 w 4908"/>
              <a:gd name="T37" fmla="*/ 392 h 3646"/>
              <a:gd name="T38" fmla="*/ 2726 w 4908"/>
              <a:gd name="T39" fmla="*/ 275 h 3646"/>
              <a:gd name="T40" fmla="*/ 2975 w 4908"/>
              <a:gd name="T41" fmla="*/ 287 h 3646"/>
              <a:gd name="T42" fmla="*/ 3026 w 4908"/>
              <a:gd name="T43" fmla="*/ 464 h 3646"/>
              <a:gd name="T44" fmla="*/ 3053 w 4908"/>
              <a:gd name="T45" fmla="*/ 695 h 3646"/>
              <a:gd name="T46" fmla="*/ 3185 w 4908"/>
              <a:gd name="T47" fmla="*/ 806 h 3646"/>
              <a:gd name="T48" fmla="*/ 3479 w 4908"/>
              <a:gd name="T49" fmla="*/ 815 h 3646"/>
              <a:gd name="T50" fmla="*/ 3875 w 4908"/>
              <a:gd name="T51" fmla="*/ 818 h 3646"/>
              <a:gd name="T52" fmla="*/ 4208 w 4908"/>
              <a:gd name="T53" fmla="*/ 791 h 3646"/>
              <a:gd name="T54" fmla="*/ 4265 w 4908"/>
              <a:gd name="T55" fmla="*/ 629 h 3646"/>
              <a:gd name="T56" fmla="*/ 4274 w 4908"/>
              <a:gd name="T57" fmla="*/ 410 h 3646"/>
              <a:gd name="T58" fmla="*/ 4358 w 4908"/>
              <a:gd name="T59" fmla="*/ 272 h 3646"/>
              <a:gd name="T60" fmla="*/ 4598 w 4908"/>
              <a:gd name="T61" fmla="*/ 299 h 3646"/>
              <a:gd name="T62" fmla="*/ 4652 w 4908"/>
              <a:gd name="T63" fmla="*/ 608 h 3646"/>
              <a:gd name="T64" fmla="*/ 4681 w 4908"/>
              <a:gd name="T65" fmla="*/ 814 h 3646"/>
              <a:gd name="T66" fmla="*/ 4873 w 4908"/>
              <a:gd name="T67" fmla="*/ 1094 h 3646"/>
              <a:gd name="T68" fmla="*/ 4889 w 4908"/>
              <a:gd name="T69" fmla="*/ 1798 h 3646"/>
              <a:gd name="T70" fmla="*/ 4873 w 4908"/>
              <a:gd name="T71" fmla="*/ 2478 h 3646"/>
              <a:gd name="T72" fmla="*/ 4829 w 4908"/>
              <a:gd name="T73" fmla="*/ 2962 h 3646"/>
              <a:gd name="T74" fmla="*/ 4661 w 4908"/>
              <a:gd name="T75" fmla="*/ 3026 h 3646"/>
              <a:gd name="T76" fmla="*/ 4545 w 4908"/>
              <a:gd name="T77" fmla="*/ 2982 h 3646"/>
              <a:gd name="T78" fmla="*/ 4521 w 4908"/>
              <a:gd name="T79" fmla="*/ 2838 h 3646"/>
              <a:gd name="T80" fmla="*/ 4517 w 4908"/>
              <a:gd name="T81" fmla="*/ 2626 h 3646"/>
              <a:gd name="T82" fmla="*/ 4469 w 4908"/>
              <a:gd name="T83" fmla="*/ 2494 h 3646"/>
              <a:gd name="T84" fmla="*/ 4209 w 4908"/>
              <a:gd name="T85" fmla="*/ 2494 h 3646"/>
              <a:gd name="T86" fmla="*/ 4141 w 4908"/>
              <a:gd name="T87" fmla="*/ 2650 h 3646"/>
              <a:gd name="T88" fmla="*/ 4125 w 4908"/>
              <a:gd name="T89" fmla="*/ 2978 h 3646"/>
              <a:gd name="T90" fmla="*/ 3881 w 4908"/>
              <a:gd name="T91" fmla="*/ 3053 h 3646"/>
              <a:gd name="T92" fmla="*/ 3213 w 4908"/>
              <a:gd name="T93" fmla="*/ 3046 h 3646"/>
              <a:gd name="T94" fmla="*/ 2893 w 4908"/>
              <a:gd name="T95" fmla="*/ 3042 h 3646"/>
              <a:gd name="T96" fmla="*/ 2617 w 4908"/>
              <a:gd name="T97" fmla="*/ 3026 h 3646"/>
              <a:gd name="T98" fmla="*/ 2417 w 4908"/>
              <a:gd name="T99" fmla="*/ 2950 h 3646"/>
              <a:gd name="T100" fmla="*/ 2393 w 4908"/>
              <a:gd name="T101" fmla="*/ 2666 h 3646"/>
              <a:gd name="T102" fmla="*/ 2309 w 4908"/>
              <a:gd name="T103" fmla="*/ 2490 h 3646"/>
              <a:gd name="T104" fmla="*/ 2085 w 4908"/>
              <a:gd name="T105" fmla="*/ 2514 h 3646"/>
              <a:gd name="T106" fmla="*/ 2017 w 4908"/>
              <a:gd name="T107" fmla="*/ 2862 h 3646"/>
              <a:gd name="T108" fmla="*/ 2001 w 4908"/>
              <a:gd name="T109" fmla="*/ 3226 h 3646"/>
              <a:gd name="T110" fmla="*/ 1961 w 4908"/>
              <a:gd name="T111" fmla="*/ 3522 h 3646"/>
              <a:gd name="T112" fmla="*/ 1837 w 4908"/>
              <a:gd name="T113" fmla="*/ 3626 h 3646"/>
              <a:gd name="T114" fmla="*/ 1637 w 4908"/>
              <a:gd name="T115" fmla="*/ 3642 h 3646"/>
              <a:gd name="T116" fmla="*/ 1415 w 4908"/>
              <a:gd name="T117" fmla="*/ 3632 h 3646"/>
              <a:gd name="T118" fmla="*/ 1247 w 4908"/>
              <a:gd name="T119" fmla="*/ 3563 h 3646"/>
              <a:gd name="T120" fmla="*/ 1229 w 4908"/>
              <a:gd name="T121" fmla="*/ 3191 h 3646"/>
              <a:gd name="T122" fmla="*/ 1229 w 4908"/>
              <a:gd name="T123" fmla="*/ 2826 h 3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908" h="3646">
                <a:moveTo>
                  <a:pt x="4" y="0"/>
                </a:moveTo>
                <a:cubicBezTo>
                  <a:pt x="0" y="162"/>
                  <a:pt x="3" y="330"/>
                  <a:pt x="4" y="453"/>
                </a:cubicBezTo>
                <a:cubicBezTo>
                  <a:pt x="5" y="576"/>
                  <a:pt x="2" y="679"/>
                  <a:pt x="13" y="736"/>
                </a:cubicBezTo>
                <a:cubicBezTo>
                  <a:pt x="24" y="793"/>
                  <a:pt x="25" y="781"/>
                  <a:pt x="69" y="794"/>
                </a:cubicBezTo>
                <a:cubicBezTo>
                  <a:pt x="113" y="807"/>
                  <a:pt x="194" y="808"/>
                  <a:pt x="279" y="812"/>
                </a:cubicBezTo>
                <a:cubicBezTo>
                  <a:pt x="364" y="816"/>
                  <a:pt x="472" y="815"/>
                  <a:pt x="579" y="815"/>
                </a:cubicBezTo>
                <a:cubicBezTo>
                  <a:pt x="686" y="815"/>
                  <a:pt x="840" y="822"/>
                  <a:pt x="924" y="809"/>
                </a:cubicBezTo>
                <a:cubicBezTo>
                  <a:pt x="1008" y="796"/>
                  <a:pt x="1054" y="806"/>
                  <a:pt x="1083" y="737"/>
                </a:cubicBezTo>
                <a:cubicBezTo>
                  <a:pt x="1112" y="668"/>
                  <a:pt x="1083" y="476"/>
                  <a:pt x="1098" y="398"/>
                </a:cubicBezTo>
                <a:cubicBezTo>
                  <a:pt x="1113" y="320"/>
                  <a:pt x="1124" y="287"/>
                  <a:pt x="1175" y="269"/>
                </a:cubicBezTo>
                <a:cubicBezTo>
                  <a:pt x="1226" y="251"/>
                  <a:pt x="1361" y="243"/>
                  <a:pt x="1406" y="290"/>
                </a:cubicBezTo>
                <a:cubicBezTo>
                  <a:pt x="1451" y="337"/>
                  <a:pt x="1432" y="471"/>
                  <a:pt x="1442" y="551"/>
                </a:cubicBezTo>
                <a:cubicBezTo>
                  <a:pt x="1452" y="631"/>
                  <a:pt x="1427" y="730"/>
                  <a:pt x="1466" y="773"/>
                </a:cubicBezTo>
                <a:cubicBezTo>
                  <a:pt x="1505" y="816"/>
                  <a:pt x="1611" y="804"/>
                  <a:pt x="1676" y="809"/>
                </a:cubicBezTo>
                <a:cubicBezTo>
                  <a:pt x="1741" y="814"/>
                  <a:pt x="1747" y="804"/>
                  <a:pt x="1859" y="803"/>
                </a:cubicBezTo>
                <a:cubicBezTo>
                  <a:pt x="1971" y="802"/>
                  <a:pt x="2240" y="807"/>
                  <a:pt x="2349" y="803"/>
                </a:cubicBezTo>
                <a:cubicBezTo>
                  <a:pt x="2458" y="799"/>
                  <a:pt x="2466" y="800"/>
                  <a:pt x="2514" y="779"/>
                </a:cubicBezTo>
                <a:cubicBezTo>
                  <a:pt x="2562" y="758"/>
                  <a:pt x="2612" y="744"/>
                  <a:pt x="2636" y="680"/>
                </a:cubicBezTo>
                <a:cubicBezTo>
                  <a:pt x="2660" y="616"/>
                  <a:pt x="2645" y="459"/>
                  <a:pt x="2660" y="392"/>
                </a:cubicBezTo>
                <a:cubicBezTo>
                  <a:pt x="2675" y="325"/>
                  <a:pt x="2674" y="292"/>
                  <a:pt x="2726" y="275"/>
                </a:cubicBezTo>
                <a:cubicBezTo>
                  <a:pt x="2778" y="258"/>
                  <a:pt x="2925" y="256"/>
                  <a:pt x="2975" y="287"/>
                </a:cubicBezTo>
                <a:cubicBezTo>
                  <a:pt x="3025" y="318"/>
                  <a:pt x="3013" y="396"/>
                  <a:pt x="3026" y="464"/>
                </a:cubicBezTo>
                <a:cubicBezTo>
                  <a:pt x="3039" y="532"/>
                  <a:pt x="3027" y="638"/>
                  <a:pt x="3053" y="695"/>
                </a:cubicBezTo>
                <a:cubicBezTo>
                  <a:pt x="3079" y="752"/>
                  <a:pt x="3114" y="786"/>
                  <a:pt x="3185" y="806"/>
                </a:cubicBezTo>
                <a:cubicBezTo>
                  <a:pt x="3256" y="826"/>
                  <a:pt x="3364" y="813"/>
                  <a:pt x="3479" y="815"/>
                </a:cubicBezTo>
                <a:cubicBezTo>
                  <a:pt x="3594" y="817"/>
                  <a:pt x="3754" y="822"/>
                  <a:pt x="3875" y="818"/>
                </a:cubicBezTo>
                <a:cubicBezTo>
                  <a:pt x="3996" y="814"/>
                  <a:pt x="4143" y="822"/>
                  <a:pt x="4208" y="791"/>
                </a:cubicBezTo>
                <a:cubicBezTo>
                  <a:pt x="4273" y="760"/>
                  <a:pt x="4254" y="692"/>
                  <a:pt x="4265" y="629"/>
                </a:cubicBezTo>
                <a:cubicBezTo>
                  <a:pt x="4276" y="566"/>
                  <a:pt x="4259" y="469"/>
                  <a:pt x="4274" y="410"/>
                </a:cubicBezTo>
                <a:cubicBezTo>
                  <a:pt x="4289" y="351"/>
                  <a:pt x="4304" y="290"/>
                  <a:pt x="4358" y="272"/>
                </a:cubicBezTo>
                <a:cubicBezTo>
                  <a:pt x="4412" y="254"/>
                  <a:pt x="4549" y="243"/>
                  <a:pt x="4598" y="299"/>
                </a:cubicBezTo>
                <a:cubicBezTo>
                  <a:pt x="4647" y="355"/>
                  <a:pt x="4638" y="522"/>
                  <a:pt x="4652" y="608"/>
                </a:cubicBezTo>
                <a:cubicBezTo>
                  <a:pt x="4666" y="694"/>
                  <a:pt x="4644" y="733"/>
                  <a:pt x="4681" y="814"/>
                </a:cubicBezTo>
                <a:cubicBezTo>
                  <a:pt x="4718" y="895"/>
                  <a:pt x="4838" y="930"/>
                  <a:pt x="4873" y="1094"/>
                </a:cubicBezTo>
                <a:cubicBezTo>
                  <a:pt x="4908" y="1258"/>
                  <a:pt x="4889" y="1567"/>
                  <a:pt x="4889" y="1798"/>
                </a:cubicBezTo>
                <a:cubicBezTo>
                  <a:pt x="4889" y="2029"/>
                  <a:pt x="4883" y="2284"/>
                  <a:pt x="4873" y="2478"/>
                </a:cubicBezTo>
                <a:cubicBezTo>
                  <a:pt x="4863" y="2672"/>
                  <a:pt x="4864" y="2871"/>
                  <a:pt x="4829" y="2962"/>
                </a:cubicBezTo>
                <a:cubicBezTo>
                  <a:pt x="4794" y="3053"/>
                  <a:pt x="4708" y="3023"/>
                  <a:pt x="4661" y="3026"/>
                </a:cubicBezTo>
                <a:cubicBezTo>
                  <a:pt x="4614" y="3029"/>
                  <a:pt x="4568" y="3013"/>
                  <a:pt x="4545" y="2982"/>
                </a:cubicBezTo>
                <a:cubicBezTo>
                  <a:pt x="4522" y="2951"/>
                  <a:pt x="4526" y="2897"/>
                  <a:pt x="4521" y="2838"/>
                </a:cubicBezTo>
                <a:cubicBezTo>
                  <a:pt x="4516" y="2779"/>
                  <a:pt x="4526" y="2683"/>
                  <a:pt x="4517" y="2626"/>
                </a:cubicBezTo>
                <a:cubicBezTo>
                  <a:pt x="4508" y="2569"/>
                  <a:pt x="4520" y="2516"/>
                  <a:pt x="4469" y="2494"/>
                </a:cubicBezTo>
                <a:cubicBezTo>
                  <a:pt x="4418" y="2472"/>
                  <a:pt x="4264" y="2468"/>
                  <a:pt x="4209" y="2494"/>
                </a:cubicBezTo>
                <a:cubicBezTo>
                  <a:pt x="4154" y="2520"/>
                  <a:pt x="4155" y="2569"/>
                  <a:pt x="4141" y="2650"/>
                </a:cubicBezTo>
                <a:cubicBezTo>
                  <a:pt x="4127" y="2731"/>
                  <a:pt x="4168" y="2911"/>
                  <a:pt x="4125" y="2978"/>
                </a:cubicBezTo>
                <a:cubicBezTo>
                  <a:pt x="4082" y="3045"/>
                  <a:pt x="4033" y="3042"/>
                  <a:pt x="3881" y="3053"/>
                </a:cubicBezTo>
                <a:cubicBezTo>
                  <a:pt x="3729" y="3064"/>
                  <a:pt x="3378" y="3048"/>
                  <a:pt x="3213" y="3046"/>
                </a:cubicBezTo>
                <a:cubicBezTo>
                  <a:pt x="3048" y="3044"/>
                  <a:pt x="2992" y="3045"/>
                  <a:pt x="2893" y="3042"/>
                </a:cubicBezTo>
                <a:cubicBezTo>
                  <a:pt x="2794" y="3039"/>
                  <a:pt x="2696" y="3041"/>
                  <a:pt x="2617" y="3026"/>
                </a:cubicBezTo>
                <a:cubicBezTo>
                  <a:pt x="2538" y="3011"/>
                  <a:pt x="2454" y="3010"/>
                  <a:pt x="2417" y="2950"/>
                </a:cubicBezTo>
                <a:cubicBezTo>
                  <a:pt x="2380" y="2890"/>
                  <a:pt x="2411" y="2743"/>
                  <a:pt x="2393" y="2666"/>
                </a:cubicBezTo>
                <a:cubicBezTo>
                  <a:pt x="2375" y="2589"/>
                  <a:pt x="2360" y="2515"/>
                  <a:pt x="2309" y="2490"/>
                </a:cubicBezTo>
                <a:cubicBezTo>
                  <a:pt x="2258" y="2465"/>
                  <a:pt x="2134" y="2452"/>
                  <a:pt x="2085" y="2514"/>
                </a:cubicBezTo>
                <a:cubicBezTo>
                  <a:pt x="2036" y="2576"/>
                  <a:pt x="2031" y="2743"/>
                  <a:pt x="2017" y="2862"/>
                </a:cubicBezTo>
                <a:cubicBezTo>
                  <a:pt x="2003" y="2981"/>
                  <a:pt x="2010" y="3116"/>
                  <a:pt x="2001" y="3226"/>
                </a:cubicBezTo>
                <a:cubicBezTo>
                  <a:pt x="1992" y="3336"/>
                  <a:pt x="1988" y="3455"/>
                  <a:pt x="1961" y="3522"/>
                </a:cubicBezTo>
                <a:cubicBezTo>
                  <a:pt x="1934" y="3589"/>
                  <a:pt x="1891" y="3606"/>
                  <a:pt x="1837" y="3626"/>
                </a:cubicBezTo>
                <a:cubicBezTo>
                  <a:pt x="1783" y="3646"/>
                  <a:pt x="1707" y="3641"/>
                  <a:pt x="1637" y="3642"/>
                </a:cubicBezTo>
                <a:cubicBezTo>
                  <a:pt x="1567" y="3643"/>
                  <a:pt x="1480" y="3645"/>
                  <a:pt x="1415" y="3632"/>
                </a:cubicBezTo>
                <a:cubicBezTo>
                  <a:pt x="1350" y="3619"/>
                  <a:pt x="1278" y="3636"/>
                  <a:pt x="1247" y="3563"/>
                </a:cubicBezTo>
                <a:cubicBezTo>
                  <a:pt x="1216" y="3490"/>
                  <a:pt x="1232" y="3314"/>
                  <a:pt x="1229" y="3191"/>
                </a:cubicBezTo>
                <a:cubicBezTo>
                  <a:pt x="1226" y="3068"/>
                  <a:pt x="1229" y="2902"/>
                  <a:pt x="1229" y="2826"/>
                </a:cubicBezTo>
              </a:path>
            </a:pathLst>
          </a:custGeom>
          <a:noFill/>
          <a:ln w="28575" cmpd="sng">
            <a:solidFill>
              <a:srgbClr val="FF00FF"/>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Tree>
    <p:extLst>
      <p:ext uri="{BB962C8B-B14F-4D97-AF65-F5344CB8AC3E}">
        <p14:creationId xmlns:p14="http://schemas.microsoft.com/office/powerpoint/2010/main" val="275979766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 name="圆角矩形 194"/>
          <p:cNvSpPr/>
          <p:nvPr/>
        </p:nvSpPr>
        <p:spPr>
          <a:xfrm>
            <a:off x="556963" y="1118875"/>
            <a:ext cx="8048776" cy="21332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a:p>
        </p:txBody>
      </p:sp>
      <p:sp>
        <p:nvSpPr>
          <p:cNvPr id="157" name="AutoShape 5"/>
          <p:cNvSpPr>
            <a:spLocks noChangeArrowheads="1"/>
          </p:cNvSpPr>
          <p:nvPr/>
        </p:nvSpPr>
        <p:spPr bwMode="auto">
          <a:xfrm>
            <a:off x="556963" y="62471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58" name="Rectangle 6"/>
          <p:cNvSpPr>
            <a:spLocks noChangeArrowheads="1"/>
          </p:cNvSpPr>
          <p:nvPr/>
        </p:nvSpPr>
        <p:spPr bwMode="auto">
          <a:xfrm>
            <a:off x="3719576" y="591500"/>
            <a:ext cx="17235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分组传输路径</a:t>
            </a:r>
          </a:p>
        </p:txBody>
      </p:sp>
      <p:grpSp>
        <p:nvGrpSpPr>
          <p:cNvPr id="25" name="组合 24"/>
          <p:cNvGrpSpPr/>
          <p:nvPr/>
        </p:nvGrpSpPr>
        <p:grpSpPr>
          <a:xfrm>
            <a:off x="7060601" y="2241379"/>
            <a:ext cx="902811" cy="700650"/>
            <a:chOff x="7060601" y="2241379"/>
            <a:chExt cx="902811" cy="700650"/>
          </a:xfrm>
        </p:grpSpPr>
        <p:sp>
          <p:nvSpPr>
            <p:cNvPr id="42" name="TextBox 5"/>
            <p:cNvSpPr txBox="1"/>
            <p:nvPr/>
          </p:nvSpPr>
          <p:spPr>
            <a:xfrm>
              <a:off x="7060601" y="2634252"/>
              <a:ext cx="902811" cy="307777"/>
            </a:xfrm>
            <a:prstGeom prst="rect">
              <a:avLst/>
            </a:prstGeom>
            <a:noFill/>
          </p:spPr>
          <p:txBody>
            <a:bodyPr wrap="none" rtlCol="0">
              <a:spAutoFit/>
            </a:bodyPr>
            <a:lstStyle/>
            <a:p>
              <a:r>
                <a:rPr lang="zh-CN" altLang="en-US" sz="1400" b="1" dirty="0">
                  <a:solidFill>
                    <a:srgbClr val="0000FF"/>
                  </a:solidFill>
                  <a:latin typeface="微软雅黑" panose="020B0503020204020204" pitchFamily="34" charset="-122"/>
                  <a:ea typeface="微软雅黑" panose="020B0503020204020204" pitchFamily="34" charset="-122"/>
                </a:rPr>
                <a:t>直接交付</a:t>
              </a:r>
            </a:p>
          </p:txBody>
        </p:sp>
        <p:cxnSp>
          <p:nvCxnSpPr>
            <p:cNvPr id="48" name="直接箭头连接符 47"/>
            <p:cNvCxnSpPr/>
            <p:nvPr/>
          </p:nvCxnSpPr>
          <p:spPr>
            <a:xfrm flipV="1">
              <a:off x="7534010" y="2241379"/>
              <a:ext cx="0" cy="412465"/>
            </a:xfrm>
            <a:prstGeom prst="straightConnector1">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grpSp>
      <p:grpSp>
        <p:nvGrpSpPr>
          <p:cNvPr id="23" name="组合 22"/>
          <p:cNvGrpSpPr/>
          <p:nvPr/>
        </p:nvGrpSpPr>
        <p:grpSpPr>
          <a:xfrm>
            <a:off x="645100" y="1324921"/>
            <a:ext cx="7879255" cy="1021469"/>
            <a:chOff x="645100" y="1324921"/>
            <a:chExt cx="7879255" cy="1021469"/>
          </a:xfrm>
        </p:grpSpPr>
        <p:sp>
          <p:nvSpPr>
            <p:cNvPr id="161" name="Line 4"/>
            <p:cNvSpPr>
              <a:spLocks noChangeShapeType="1"/>
            </p:cNvSpPr>
            <p:nvPr/>
          </p:nvSpPr>
          <p:spPr bwMode="auto">
            <a:xfrm>
              <a:off x="1157767" y="2098354"/>
              <a:ext cx="6853921"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62" name="Rectangle 5"/>
            <p:cNvSpPr>
              <a:spLocks noChangeArrowheads="1"/>
            </p:cNvSpPr>
            <p:nvPr/>
          </p:nvSpPr>
          <p:spPr bwMode="auto">
            <a:xfrm>
              <a:off x="645100" y="1820020"/>
              <a:ext cx="704740" cy="526370"/>
            </a:xfrm>
            <a:prstGeom prst="rect">
              <a:avLst/>
            </a:prstGeom>
            <a:solidFill>
              <a:srgbClr val="0000CC"/>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zh-CN" altLang="en-US" sz="1400" b="1" kern="0" dirty="0">
                  <a:solidFill>
                    <a:schemeClr val="bg1"/>
                  </a:solidFill>
                  <a:latin typeface="微软雅黑" pitchFamily="34" charset="-122"/>
                  <a:ea typeface="微软雅黑" pitchFamily="34" charset="-122"/>
                </a:rPr>
                <a:t>源主机</a:t>
              </a:r>
              <a:endParaRPr lang="en-US" altLang="zh-CN" sz="1400" b="1" kern="0" dirty="0">
                <a:solidFill>
                  <a:schemeClr val="bg1"/>
                </a:solidFill>
                <a:latin typeface="微软雅黑" pitchFamily="34" charset="-122"/>
                <a:ea typeface="微软雅黑" pitchFamily="34" charset="-122"/>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4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H</a:t>
              </a:r>
              <a:r>
                <a:rPr kumimoji="0" lang="en-US" altLang="zh-CN" sz="1400" b="1" i="0" u="none" strike="noStrike" kern="0" cap="none" spc="0" normalizeH="0" baseline="-25000" noProof="0" dirty="0">
                  <a:ln>
                    <a:noFill/>
                  </a:ln>
                  <a:solidFill>
                    <a:schemeClr val="bg1"/>
                  </a:solidFill>
                  <a:effectLst/>
                  <a:uLnTx/>
                  <a:uFillTx/>
                  <a:latin typeface="微软雅黑" pitchFamily="34" charset="-122"/>
                  <a:ea typeface="微软雅黑" pitchFamily="34" charset="-122"/>
                </a:rPr>
                <a:t>1</a:t>
              </a:r>
              <a:endParaRPr kumimoji="0" lang="zh-CN" altLang="en-US" sz="1400" b="1" i="0" u="none" strike="noStrike" kern="0" cap="none" spc="0" normalizeH="0" baseline="-25000" noProof="0" dirty="0">
                <a:ln>
                  <a:noFill/>
                </a:ln>
                <a:solidFill>
                  <a:schemeClr val="bg1"/>
                </a:solidFill>
                <a:effectLst/>
                <a:uLnTx/>
                <a:uFillTx/>
                <a:latin typeface="微软雅黑" pitchFamily="34" charset="-122"/>
                <a:ea typeface="微软雅黑" pitchFamily="34" charset="-122"/>
              </a:endParaRPr>
            </a:p>
          </p:txBody>
        </p:sp>
        <p:sp>
          <p:nvSpPr>
            <p:cNvPr id="163" name="Rectangle 6"/>
            <p:cNvSpPr>
              <a:spLocks noChangeArrowheads="1"/>
            </p:cNvSpPr>
            <p:nvPr/>
          </p:nvSpPr>
          <p:spPr bwMode="auto">
            <a:xfrm>
              <a:off x="1830024" y="1820020"/>
              <a:ext cx="704741" cy="526370"/>
            </a:xfrm>
            <a:prstGeom prst="rect">
              <a:avLst/>
            </a:prstGeom>
            <a:solidFill>
              <a:srgbClr val="00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400" b="1" i="0" u="none" strike="noStrike" kern="0" cap="none" spc="0" normalizeH="0" baseline="0" noProof="0" dirty="0">
                  <a:ln>
                    <a:noFill/>
                  </a:ln>
                  <a:effectLst/>
                  <a:uLnTx/>
                  <a:uFillTx/>
                  <a:latin typeface="微软雅黑" pitchFamily="34" charset="-122"/>
                  <a:ea typeface="微软雅黑" pitchFamily="34" charset="-122"/>
                </a:rPr>
                <a:t>路由器</a:t>
              </a:r>
              <a:endParaRPr kumimoji="0" lang="en-US" altLang="zh-CN" sz="1400" b="1" i="0" u="none" strike="noStrike" kern="0" cap="none" spc="0" normalizeH="0" baseline="0" noProof="0" dirty="0">
                <a:ln>
                  <a:noFill/>
                </a:ln>
                <a:effectLst/>
                <a:uLnTx/>
                <a:uFillTx/>
                <a:latin typeface="微软雅黑" pitchFamily="34" charset="-122"/>
                <a:ea typeface="微软雅黑" pitchFamily="34" charset="-122"/>
              </a:endParaRPr>
            </a:p>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1400" b="1" kern="0" dirty="0">
                  <a:latin typeface="微软雅黑" pitchFamily="34" charset="-122"/>
                  <a:ea typeface="微软雅黑" pitchFamily="34" charset="-122"/>
                </a:rPr>
                <a:t>R</a:t>
              </a:r>
              <a:r>
                <a:rPr lang="en-US" altLang="zh-CN" sz="1400" b="1" kern="0" baseline="-25000" dirty="0">
                  <a:latin typeface="微软雅黑" pitchFamily="34" charset="-122"/>
                  <a:ea typeface="微软雅黑" pitchFamily="34" charset="-122"/>
                </a:rPr>
                <a:t>1</a:t>
              </a:r>
            </a:p>
          </p:txBody>
        </p:sp>
        <p:sp>
          <p:nvSpPr>
            <p:cNvPr id="164" name="Rectangle 7"/>
            <p:cNvSpPr>
              <a:spLocks noChangeArrowheads="1"/>
            </p:cNvSpPr>
            <p:nvPr/>
          </p:nvSpPr>
          <p:spPr bwMode="auto">
            <a:xfrm>
              <a:off x="4201286" y="1820020"/>
              <a:ext cx="704740" cy="526370"/>
            </a:xfrm>
            <a:prstGeom prst="rect">
              <a:avLst/>
            </a:prstGeom>
            <a:solidFill>
              <a:srgbClr val="00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ctr">
                <a:defRPr/>
              </a:pPr>
              <a:r>
                <a:rPr lang="zh-CN" altLang="en-US" sz="1400" b="1" kern="0" dirty="0">
                  <a:latin typeface="微软雅黑" pitchFamily="34" charset="-122"/>
                  <a:ea typeface="微软雅黑" pitchFamily="34" charset="-122"/>
                </a:rPr>
                <a:t>路由器</a:t>
              </a:r>
              <a:endParaRPr lang="en-US" altLang="zh-CN" sz="1400" b="1" kern="0" dirty="0">
                <a:latin typeface="微软雅黑" pitchFamily="34" charset="-122"/>
                <a:ea typeface="微软雅黑" pitchFamily="34" charset="-122"/>
              </a:endParaRPr>
            </a:p>
            <a:p>
              <a:pPr lvl="0" algn="ctr">
                <a:defRPr/>
              </a:pPr>
              <a:r>
                <a:rPr lang="en-US" altLang="zh-CN" sz="1400" b="1" kern="0" dirty="0">
                  <a:latin typeface="微软雅黑" pitchFamily="34" charset="-122"/>
                  <a:ea typeface="微软雅黑" pitchFamily="34" charset="-122"/>
                </a:rPr>
                <a:t>R</a:t>
              </a:r>
              <a:r>
                <a:rPr lang="en-US" altLang="zh-CN" sz="1400" b="1" kern="0" baseline="-25000" dirty="0">
                  <a:latin typeface="微软雅黑" pitchFamily="34" charset="-122"/>
                  <a:ea typeface="微软雅黑" pitchFamily="34" charset="-122"/>
                </a:rPr>
                <a:t>3</a:t>
              </a:r>
              <a:endParaRPr kumimoji="0" lang="zh-CN" altLang="en-US" sz="1400" b="1" i="0" u="none" strike="noStrike" kern="0" cap="none" spc="0" normalizeH="0" baseline="0" noProof="0" dirty="0">
                <a:ln>
                  <a:noFill/>
                </a:ln>
                <a:effectLst/>
                <a:uLnTx/>
                <a:uFillTx/>
                <a:latin typeface="微软雅黑" pitchFamily="34" charset="-122"/>
                <a:ea typeface="微软雅黑" pitchFamily="34" charset="-122"/>
              </a:endParaRPr>
            </a:p>
          </p:txBody>
        </p:sp>
        <p:sp>
          <p:nvSpPr>
            <p:cNvPr id="165" name="Rectangle 8"/>
            <p:cNvSpPr>
              <a:spLocks noChangeArrowheads="1"/>
            </p:cNvSpPr>
            <p:nvPr/>
          </p:nvSpPr>
          <p:spPr bwMode="auto">
            <a:xfrm>
              <a:off x="5387623" y="1820020"/>
              <a:ext cx="704740" cy="526370"/>
            </a:xfrm>
            <a:prstGeom prst="rect">
              <a:avLst/>
            </a:prstGeom>
            <a:solidFill>
              <a:srgbClr val="00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ctr">
                <a:defRPr/>
              </a:pPr>
              <a:r>
                <a:rPr lang="zh-CN" altLang="en-US" sz="1400" b="1" kern="0" dirty="0">
                  <a:latin typeface="微软雅黑" pitchFamily="34" charset="-122"/>
                  <a:ea typeface="微软雅黑" pitchFamily="34" charset="-122"/>
                </a:rPr>
                <a:t>路由器</a:t>
              </a:r>
              <a:endParaRPr lang="en-US" altLang="zh-CN" sz="1400" b="1" kern="0" dirty="0">
                <a:latin typeface="微软雅黑" pitchFamily="34" charset="-122"/>
                <a:ea typeface="微软雅黑" pitchFamily="34" charset="-122"/>
              </a:endParaRPr>
            </a:p>
            <a:p>
              <a:pPr lvl="0" algn="ctr">
                <a:defRPr/>
              </a:pPr>
              <a:r>
                <a:rPr lang="en-US" altLang="zh-CN" sz="1400" b="1" kern="0" dirty="0">
                  <a:latin typeface="微软雅黑" pitchFamily="34" charset="-122"/>
                  <a:ea typeface="微软雅黑" pitchFamily="34" charset="-122"/>
                </a:rPr>
                <a:t>R</a:t>
              </a:r>
              <a:r>
                <a:rPr lang="en-US" altLang="zh-CN" sz="1400" b="1" kern="0" baseline="-25000" dirty="0">
                  <a:latin typeface="微软雅黑" pitchFamily="34" charset="-122"/>
                  <a:ea typeface="微软雅黑" pitchFamily="34" charset="-122"/>
                </a:rPr>
                <a:t>4</a:t>
              </a:r>
              <a:endParaRPr kumimoji="0" lang="zh-CN" altLang="en-US" sz="1400" b="1" i="0" u="none" strike="noStrike" kern="0" cap="none" spc="0" normalizeH="0" baseline="0" noProof="0" dirty="0">
                <a:ln>
                  <a:noFill/>
                </a:ln>
                <a:effectLst/>
                <a:uLnTx/>
                <a:uFillTx/>
                <a:latin typeface="微软雅黑" pitchFamily="34" charset="-122"/>
                <a:ea typeface="微软雅黑" pitchFamily="34" charset="-122"/>
              </a:endParaRPr>
            </a:p>
          </p:txBody>
        </p:sp>
        <p:sp>
          <p:nvSpPr>
            <p:cNvPr id="166" name="Rectangle 9"/>
            <p:cNvSpPr>
              <a:spLocks noChangeArrowheads="1"/>
            </p:cNvSpPr>
            <p:nvPr/>
          </p:nvSpPr>
          <p:spPr bwMode="auto">
            <a:xfrm>
              <a:off x="6572547" y="1820020"/>
              <a:ext cx="704741" cy="526370"/>
            </a:xfrm>
            <a:prstGeom prst="rect">
              <a:avLst/>
            </a:prstGeom>
            <a:solidFill>
              <a:srgbClr val="00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ctr">
                <a:defRPr/>
              </a:pPr>
              <a:r>
                <a:rPr lang="zh-CN" altLang="en-US" sz="1400" b="1" kern="0" dirty="0">
                  <a:latin typeface="微软雅黑" pitchFamily="34" charset="-122"/>
                  <a:ea typeface="微软雅黑" pitchFamily="34" charset="-122"/>
                </a:rPr>
                <a:t>路由器</a:t>
              </a:r>
              <a:endParaRPr lang="en-US" altLang="zh-CN" sz="1400" b="1" kern="0" dirty="0">
                <a:latin typeface="微软雅黑" pitchFamily="34" charset="-122"/>
                <a:ea typeface="微软雅黑" pitchFamily="34" charset="-122"/>
              </a:endParaRPr>
            </a:p>
            <a:p>
              <a:pPr lvl="0" algn="ctr">
                <a:defRPr/>
              </a:pPr>
              <a:r>
                <a:rPr lang="en-US" altLang="zh-CN" sz="1400" b="1" kern="0" dirty="0">
                  <a:latin typeface="微软雅黑" pitchFamily="34" charset="-122"/>
                  <a:ea typeface="微软雅黑" pitchFamily="34" charset="-122"/>
                </a:rPr>
                <a:t>R</a:t>
              </a:r>
              <a:r>
                <a:rPr lang="en-US" altLang="zh-CN" sz="1400" b="1" kern="0" baseline="-25000" dirty="0">
                  <a:latin typeface="微软雅黑" pitchFamily="34" charset="-122"/>
                  <a:ea typeface="微软雅黑" pitchFamily="34" charset="-122"/>
                </a:rPr>
                <a:t>5</a:t>
              </a:r>
              <a:endParaRPr kumimoji="0" lang="zh-CN" altLang="en-US" sz="1400" b="1" i="0" u="none" strike="noStrike" kern="0" cap="none" spc="0" normalizeH="0" baseline="0" noProof="0" dirty="0">
                <a:ln>
                  <a:noFill/>
                </a:ln>
                <a:effectLst/>
                <a:uLnTx/>
                <a:uFillTx/>
                <a:latin typeface="微软雅黑" pitchFamily="34" charset="-122"/>
                <a:ea typeface="微软雅黑" pitchFamily="34" charset="-122"/>
              </a:endParaRPr>
            </a:p>
          </p:txBody>
        </p:sp>
        <p:sp>
          <p:nvSpPr>
            <p:cNvPr id="167" name="Rectangle 10"/>
            <p:cNvSpPr>
              <a:spLocks noChangeArrowheads="1"/>
            </p:cNvSpPr>
            <p:nvPr/>
          </p:nvSpPr>
          <p:spPr bwMode="auto">
            <a:xfrm>
              <a:off x="7758884" y="1820020"/>
              <a:ext cx="765471" cy="526370"/>
            </a:xfrm>
            <a:prstGeom prst="rect">
              <a:avLst/>
            </a:prstGeom>
            <a:solidFill>
              <a:srgbClr val="0000CC"/>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4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目的主机</a:t>
              </a:r>
              <a:endParaRPr kumimoji="0" lang="en-US" altLang="zh-CN" sz="1400" b="1" i="0" u="none" strike="noStrike" kern="0" cap="none" spc="0" normalizeH="0" baseline="0" noProof="0" dirty="0">
                <a:ln>
                  <a:noFill/>
                </a:ln>
                <a:solidFill>
                  <a:schemeClr val="bg1"/>
                </a:solidFill>
                <a:effectLst/>
                <a:uLnTx/>
                <a:uFillTx/>
                <a:latin typeface="微软雅黑" pitchFamily="34" charset="-122"/>
                <a:ea typeface="微软雅黑" pitchFamily="34" charset="-122"/>
              </a:endParaRPr>
            </a:p>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1400" b="1" kern="0" dirty="0">
                  <a:solidFill>
                    <a:schemeClr val="bg1"/>
                  </a:solidFill>
                  <a:latin typeface="微软雅黑" pitchFamily="34" charset="-122"/>
                  <a:ea typeface="微软雅黑" pitchFamily="34" charset="-122"/>
                </a:rPr>
                <a:t>H</a:t>
              </a:r>
              <a:r>
                <a:rPr lang="en-US" altLang="zh-CN" sz="1400" b="1" kern="0" baseline="-25000" dirty="0">
                  <a:solidFill>
                    <a:schemeClr val="bg1"/>
                  </a:solidFill>
                  <a:latin typeface="微软雅黑" pitchFamily="34" charset="-122"/>
                  <a:ea typeface="微软雅黑" pitchFamily="34" charset="-122"/>
                </a:rPr>
                <a:t>2</a:t>
              </a:r>
              <a:endParaRPr kumimoji="0" lang="zh-CN" altLang="en-US" sz="1400" b="1" i="0" u="none" strike="noStrike" kern="0" cap="none" spc="0" normalizeH="0" baseline="-25000" noProof="0" dirty="0">
                <a:ln>
                  <a:noFill/>
                </a:ln>
                <a:solidFill>
                  <a:schemeClr val="bg1"/>
                </a:solidFill>
                <a:effectLst/>
                <a:uLnTx/>
                <a:uFillTx/>
                <a:latin typeface="微软雅黑" pitchFamily="34" charset="-122"/>
                <a:ea typeface="微软雅黑" pitchFamily="34" charset="-122"/>
              </a:endParaRPr>
            </a:p>
          </p:txBody>
        </p:sp>
        <p:sp>
          <p:nvSpPr>
            <p:cNvPr id="168" name="Rectangle 11"/>
            <p:cNvSpPr>
              <a:spLocks noChangeArrowheads="1"/>
            </p:cNvSpPr>
            <p:nvPr/>
          </p:nvSpPr>
          <p:spPr bwMode="auto">
            <a:xfrm>
              <a:off x="3016361" y="1820020"/>
              <a:ext cx="704741" cy="526370"/>
            </a:xfrm>
            <a:prstGeom prst="rect">
              <a:avLst/>
            </a:prstGeom>
            <a:solidFill>
              <a:srgbClr val="00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ctr">
                <a:defRPr/>
              </a:pPr>
              <a:r>
                <a:rPr lang="zh-CN" altLang="en-US" sz="1400" b="1" kern="0" dirty="0">
                  <a:latin typeface="微软雅黑" pitchFamily="34" charset="-122"/>
                  <a:ea typeface="微软雅黑" pitchFamily="34" charset="-122"/>
                </a:rPr>
                <a:t>路由器</a:t>
              </a:r>
              <a:endParaRPr lang="en-US" altLang="zh-CN" sz="1400" b="1" kern="0" dirty="0">
                <a:latin typeface="微软雅黑" pitchFamily="34" charset="-122"/>
                <a:ea typeface="微软雅黑" pitchFamily="34" charset="-122"/>
              </a:endParaRPr>
            </a:p>
            <a:p>
              <a:pPr lvl="0" algn="ctr">
                <a:defRPr/>
              </a:pPr>
              <a:r>
                <a:rPr lang="en-US" altLang="zh-CN" sz="1400" b="1" kern="0" dirty="0">
                  <a:latin typeface="微软雅黑" pitchFamily="34" charset="-122"/>
                  <a:ea typeface="微软雅黑" pitchFamily="34" charset="-122"/>
                </a:rPr>
                <a:t>R</a:t>
              </a:r>
              <a:r>
                <a:rPr lang="en-US" altLang="zh-CN" sz="1400" b="1" kern="0" baseline="-25000" dirty="0">
                  <a:latin typeface="微软雅黑" pitchFamily="34" charset="-122"/>
                  <a:ea typeface="微软雅黑" pitchFamily="34" charset="-122"/>
                </a:rPr>
                <a:t>2</a:t>
              </a:r>
            </a:p>
          </p:txBody>
        </p:sp>
        <p:grpSp>
          <p:nvGrpSpPr>
            <p:cNvPr id="2" name="组合 1"/>
            <p:cNvGrpSpPr/>
            <p:nvPr/>
          </p:nvGrpSpPr>
          <p:grpSpPr>
            <a:xfrm>
              <a:off x="1195777" y="1324921"/>
              <a:ext cx="856156" cy="940368"/>
              <a:chOff x="1204403" y="1807995"/>
              <a:chExt cx="856156" cy="940368"/>
            </a:xfrm>
          </p:grpSpPr>
          <p:sp>
            <p:nvSpPr>
              <p:cNvPr id="49" name="弧形 48"/>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55"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nvGrpSpPr>
            <p:cNvPr id="63" name="组合 62"/>
            <p:cNvGrpSpPr/>
            <p:nvPr/>
          </p:nvGrpSpPr>
          <p:grpSpPr>
            <a:xfrm>
              <a:off x="2346779" y="1324921"/>
              <a:ext cx="856156" cy="940368"/>
              <a:chOff x="1204403" y="1807995"/>
              <a:chExt cx="856156" cy="940368"/>
            </a:xfrm>
          </p:grpSpPr>
          <p:sp>
            <p:nvSpPr>
              <p:cNvPr id="64" name="弧形 63"/>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65"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nvGrpSpPr>
            <p:cNvPr id="66" name="组合 65"/>
            <p:cNvGrpSpPr/>
            <p:nvPr/>
          </p:nvGrpSpPr>
          <p:grpSpPr>
            <a:xfrm>
              <a:off x="3546083" y="1324921"/>
              <a:ext cx="856156" cy="940368"/>
              <a:chOff x="1204403" y="1807995"/>
              <a:chExt cx="856156" cy="940368"/>
            </a:xfrm>
          </p:grpSpPr>
          <p:sp>
            <p:nvSpPr>
              <p:cNvPr id="67" name="弧形 66"/>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68"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nvGrpSpPr>
            <p:cNvPr id="69" name="组合 68"/>
            <p:cNvGrpSpPr/>
            <p:nvPr/>
          </p:nvGrpSpPr>
          <p:grpSpPr>
            <a:xfrm>
              <a:off x="4697085" y="1324921"/>
              <a:ext cx="856156" cy="940368"/>
              <a:chOff x="1204403" y="1807995"/>
              <a:chExt cx="856156" cy="940368"/>
            </a:xfrm>
          </p:grpSpPr>
          <p:sp>
            <p:nvSpPr>
              <p:cNvPr id="70" name="弧形 69"/>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71"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nvGrpSpPr>
            <p:cNvPr id="72" name="组合 71"/>
            <p:cNvGrpSpPr/>
            <p:nvPr/>
          </p:nvGrpSpPr>
          <p:grpSpPr>
            <a:xfrm>
              <a:off x="5888545" y="1324921"/>
              <a:ext cx="856156" cy="940368"/>
              <a:chOff x="1204403" y="1807995"/>
              <a:chExt cx="856156" cy="940368"/>
            </a:xfrm>
          </p:grpSpPr>
          <p:sp>
            <p:nvSpPr>
              <p:cNvPr id="73" name="弧形 72"/>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74"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nvGrpSpPr>
            <p:cNvPr id="75" name="组合 74"/>
            <p:cNvGrpSpPr/>
            <p:nvPr/>
          </p:nvGrpSpPr>
          <p:grpSpPr>
            <a:xfrm>
              <a:off x="7039547" y="1324921"/>
              <a:ext cx="856156" cy="940368"/>
              <a:chOff x="1204403" y="1807995"/>
              <a:chExt cx="856156" cy="940368"/>
            </a:xfrm>
          </p:grpSpPr>
          <p:sp>
            <p:nvSpPr>
              <p:cNvPr id="76" name="弧形 75"/>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77"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sp>
          <p:nvSpPr>
            <p:cNvPr id="94" name="Rectangle 21"/>
            <p:cNvSpPr>
              <a:spLocks noChangeArrowheads="1"/>
            </p:cNvSpPr>
            <p:nvPr/>
          </p:nvSpPr>
          <p:spPr bwMode="auto">
            <a:xfrm>
              <a:off x="1386132"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sp>
          <p:nvSpPr>
            <p:cNvPr id="97" name="Rectangle 21"/>
            <p:cNvSpPr>
              <a:spLocks noChangeArrowheads="1"/>
            </p:cNvSpPr>
            <p:nvPr/>
          </p:nvSpPr>
          <p:spPr bwMode="auto">
            <a:xfrm>
              <a:off x="2566352"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sp>
          <p:nvSpPr>
            <p:cNvPr id="98" name="Rectangle 21"/>
            <p:cNvSpPr>
              <a:spLocks noChangeArrowheads="1"/>
            </p:cNvSpPr>
            <p:nvPr/>
          </p:nvSpPr>
          <p:spPr bwMode="auto">
            <a:xfrm>
              <a:off x="3767294"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sp>
          <p:nvSpPr>
            <p:cNvPr id="99" name="Rectangle 21"/>
            <p:cNvSpPr>
              <a:spLocks noChangeArrowheads="1"/>
            </p:cNvSpPr>
            <p:nvPr/>
          </p:nvSpPr>
          <p:spPr bwMode="auto">
            <a:xfrm>
              <a:off x="4947514"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sp>
          <p:nvSpPr>
            <p:cNvPr id="100" name="Rectangle 21"/>
            <p:cNvSpPr>
              <a:spLocks noChangeArrowheads="1"/>
            </p:cNvSpPr>
            <p:nvPr/>
          </p:nvSpPr>
          <p:spPr bwMode="auto">
            <a:xfrm>
              <a:off x="6131401"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sp>
          <p:nvSpPr>
            <p:cNvPr id="101" name="Rectangle 21"/>
            <p:cNvSpPr>
              <a:spLocks noChangeArrowheads="1"/>
            </p:cNvSpPr>
            <p:nvPr/>
          </p:nvSpPr>
          <p:spPr bwMode="auto">
            <a:xfrm>
              <a:off x="7311621"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grpSp>
      <p:grpSp>
        <p:nvGrpSpPr>
          <p:cNvPr id="24" name="组合 23"/>
          <p:cNvGrpSpPr/>
          <p:nvPr/>
        </p:nvGrpSpPr>
        <p:grpSpPr>
          <a:xfrm>
            <a:off x="1458614" y="2209033"/>
            <a:ext cx="4843980" cy="732996"/>
            <a:chOff x="1458614" y="2209033"/>
            <a:chExt cx="4843980" cy="732996"/>
          </a:xfrm>
        </p:grpSpPr>
        <p:sp>
          <p:nvSpPr>
            <p:cNvPr id="41" name="TextBox 4"/>
            <p:cNvSpPr txBox="1"/>
            <p:nvPr/>
          </p:nvSpPr>
          <p:spPr>
            <a:xfrm>
              <a:off x="3524814" y="2634252"/>
              <a:ext cx="902811" cy="307777"/>
            </a:xfrm>
            <a:prstGeom prst="rect">
              <a:avLst/>
            </a:prstGeom>
            <a:noFill/>
          </p:spPr>
          <p:txBody>
            <a:bodyPr wrap="none" rtlCol="0">
              <a:spAutoFit/>
            </a:bodyPr>
            <a:lstStyle/>
            <a:p>
              <a:r>
                <a:rPr lang="zh-CN" altLang="en-US" sz="1400" b="1" dirty="0">
                  <a:solidFill>
                    <a:srgbClr val="0000FF"/>
                  </a:solidFill>
                  <a:latin typeface="微软雅黑" panose="020B0503020204020204" pitchFamily="34" charset="-122"/>
                  <a:ea typeface="微软雅黑" panose="020B0503020204020204" pitchFamily="34" charset="-122"/>
                </a:rPr>
                <a:t>间接交付</a:t>
              </a:r>
            </a:p>
          </p:txBody>
        </p:sp>
        <p:cxnSp>
          <p:nvCxnSpPr>
            <p:cNvPr id="43" name="直接箭头连接符 42"/>
            <p:cNvCxnSpPr>
              <a:stCxn id="41" idx="0"/>
            </p:cNvCxnSpPr>
            <p:nvPr/>
          </p:nvCxnSpPr>
          <p:spPr>
            <a:xfrm flipV="1">
              <a:off x="3976220" y="2241379"/>
              <a:ext cx="0" cy="392873"/>
            </a:xfrm>
            <a:prstGeom prst="straightConnector1">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cxnSp>
          <p:nvCxnSpPr>
            <p:cNvPr id="44" name="直接箭头连接符 43"/>
            <p:cNvCxnSpPr/>
            <p:nvPr/>
          </p:nvCxnSpPr>
          <p:spPr>
            <a:xfrm flipV="1">
              <a:off x="4354867" y="2225168"/>
              <a:ext cx="867925" cy="517380"/>
            </a:xfrm>
            <a:prstGeom prst="straightConnector1">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cxnSp>
          <p:nvCxnSpPr>
            <p:cNvPr id="45" name="直接箭头连接符 44"/>
            <p:cNvCxnSpPr>
              <a:stCxn id="41" idx="3"/>
            </p:cNvCxnSpPr>
            <p:nvPr/>
          </p:nvCxnSpPr>
          <p:spPr>
            <a:xfrm flipV="1">
              <a:off x="4427625" y="2225167"/>
              <a:ext cx="1874969" cy="562974"/>
            </a:xfrm>
            <a:prstGeom prst="straightConnector1">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cxnSp>
          <p:nvCxnSpPr>
            <p:cNvPr id="46" name="直接箭头连接符 45"/>
            <p:cNvCxnSpPr>
              <a:stCxn id="41" idx="1"/>
            </p:cNvCxnSpPr>
            <p:nvPr/>
          </p:nvCxnSpPr>
          <p:spPr>
            <a:xfrm flipH="1" flipV="1">
              <a:off x="1458614" y="2209033"/>
              <a:ext cx="2066200" cy="579108"/>
            </a:xfrm>
            <a:prstGeom prst="straightConnector1">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cxnSp>
          <p:nvCxnSpPr>
            <p:cNvPr id="47" name="直接箭头连接符 46"/>
            <p:cNvCxnSpPr/>
            <p:nvPr/>
          </p:nvCxnSpPr>
          <p:spPr>
            <a:xfrm flipH="1" flipV="1">
              <a:off x="2724034" y="2225166"/>
              <a:ext cx="860263" cy="517382"/>
            </a:xfrm>
            <a:prstGeom prst="straightConnector1">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13851696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wipe(left)">
                                      <p:cBhvr>
                                        <p:cTn id="7" dur="3000"/>
                                        <p:tgtEl>
                                          <p:spTgt spid="23"/>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24"/>
                                        </p:tgtEl>
                                        <p:attrNameLst>
                                          <p:attrName>style.visibility</p:attrName>
                                        </p:attrNameLst>
                                      </p:cBhvr>
                                      <p:to>
                                        <p:strVal val="visible"/>
                                      </p:to>
                                    </p:set>
                                  </p:childTnLst>
                                </p:cTn>
                              </p:par>
                            </p:childTnLst>
                          </p:cTn>
                        </p:par>
                        <p:par>
                          <p:cTn id="12" fill="hold">
                            <p:stCondLst>
                              <p:cond delay="0"/>
                            </p:stCondLst>
                            <p:childTnLst>
                              <p:par>
                                <p:cTn id="13" presetID="1" presetClass="entr" presetSubtype="0" fill="hold" nodeType="afterEffect">
                                  <p:stCondLst>
                                    <p:cond delay="0"/>
                                  </p:stCondLst>
                                  <p:childTnLst>
                                    <p:set>
                                      <p:cBhvr>
                                        <p:cTn id="14" dur="1" fill="hold">
                                          <p:stCondLst>
                                            <p:cond delay="0"/>
                                          </p:stCondLst>
                                        </p:cTn>
                                        <p:tgtEl>
                                          <p:spTgt spid="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614192"/>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3510652" y="582121"/>
            <a:ext cx="21226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highlight>
                  <a:srgbClr val="FFFF00"/>
                </a:highlight>
                <a:latin typeface="微软雅黑" pitchFamily="34" charset="-122"/>
                <a:ea typeface="微软雅黑" pitchFamily="34" charset="-122"/>
              </a:rPr>
              <a:t>4.2.2  IP </a:t>
            </a:r>
            <a:r>
              <a:rPr lang="zh-CN" altLang="en-US" sz="2400" b="1" dirty="0">
                <a:highlight>
                  <a:srgbClr val="FFFF00"/>
                </a:highlight>
                <a:latin typeface="微软雅黑" pitchFamily="34" charset="-122"/>
                <a:ea typeface="微软雅黑" pitchFamily="34" charset="-122"/>
              </a:rPr>
              <a:t>地址</a:t>
            </a:r>
          </a:p>
        </p:txBody>
      </p:sp>
      <p:sp>
        <p:nvSpPr>
          <p:cNvPr id="7" name="Rectangle 8"/>
          <p:cNvSpPr>
            <a:spLocks noChangeArrowheads="1"/>
          </p:cNvSpPr>
          <p:nvPr/>
        </p:nvSpPr>
        <p:spPr bwMode="auto">
          <a:xfrm>
            <a:off x="545144" y="1046233"/>
            <a:ext cx="7665002" cy="30546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在 </a:t>
            </a:r>
            <a:r>
              <a:rPr lang="en-US" altLang="zh-CN" sz="2000" b="1" dirty="0">
                <a:latin typeface="微软雅黑" pitchFamily="34" charset="-122"/>
                <a:ea typeface="微软雅黑" pitchFamily="34" charset="-122"/>
              </a:rPr>
              <a:t>TCP/IP </a:t>
            </a:r>
            <a:r>
              <a:rPr lang="zh-CN" altLang="en-US" sz="2000" b="1" dirty="0">
                <a:latin typeface="微软雅黑" pitchFamily="34" charset="-122"/>
                <a:ea typeface="微软雅黑" pitchFamily="34" charset="-122"/>
              </a:rPr>
              <a:t>体系中，</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地址是一个最基本的概念。</a:t>
            </a:r>
            <a:endParaRPr lang="en-US" altLang="zh-CN" sz="2000" b="1" dirty="0">
              <a:latin typeface="微软雅黑" pitchFamily="34" charset="-122"/>
              <a:ea typeface="微软雅黑" pitchFamily="34" charset="-122"/>
            </a:endParaRP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没有</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地址，就无法和网上的其他设备进行通信。</a:t>
            </a: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本部分重点：</a:t>
            </a:r>
          </a:p>
          <a:p>
            <a:pPr marL="717550" indent="-357188">
              <a:lnSpc>
                <a:spcPts val="3300"/>
              </a:lnSpc>
              <a:buClr>
                <a:srgbClr val="7030A0"/>
              </a:buClr>
              <a:buFont typeface="+mj-lt"/>
              <a:buAutoNum type="arabicPeriod"/>
            </a:pPr>
            <a:r>
              <a:rPr lang="en-US" altLang="zh-CN" sz="2000" b="1" dirty="0">
                <a:solidFill>
                  <a:srgbClr val="0000FF"/>
                </a:solidFill>
                <a:highlight>
                  <a:srgbClr val="FFFF00"/>
                </a:highlight>
                <a:latin typeface="微软雅黑" pitchFamily="34" charset="-122"/>
                <a:ea typeface="微软雅黑" pitchFamily="34" charset="-122"/>
              </a:rPr>
              <a:t>IP </a:t>
            </a:r>
            <a:r>
              <a:rPr lang="zh-CN" altLang="en-US" sz="2000" b="1" dirty="0">
                <a:solidFill>
                  <a:srgbClr val="0000FF"/>
                </a:solidFill>
                <a:highlight>
                  <a:srgbClr val="FFFF00"/>
                </a:highlight>
                <a:latin typeface="微软雅黑" pitchFamily="34" charset="-122"/>
                <a:ea typeface="微软雅黑" pitchFamily="34" charset="-122"/>
              </a:rPr>
              <a:t>地址及其表示方法</a:t>
            </a:r>
          </a:p>
          <a:p>
            <a:pPr marL="717550" indent="-357188">
              <a:lnSpc>
                <a:spcPts val="3300"/>
              </a:lnSpc>
              <a:buClr>
                <a:srgbClr val="7030A0"/>
              </a:buClr>
              <a:buFont typeface="+mj-lt"/>
              <a:buAutoNum type="arabicPeriod"/>
            </a:pPr>
            <a:r>
              <a:rPr lang="zh-CN" altLang="en-US" sz="2000" b="1" dirty="0">
                <a:solidFill>
                  <a:srgbClr val="0000FF"/>
                </a:solidFill>
                <a:highlight>
                  <a:srgbClr val="FFFF00"/>
                </a:highlight>
                <a:latin typeface="微软雅黑" pitchFamily="34" charset="-122"/>
                <a:ea typeface="微软雅黑" pitchFamily="34" charset="-122"/>
              </a:rPr>
              <a:t>分类的 </a:t>
            </a:r>
            <a:r>
              <a:rPr lang="en-US" altLang="zh-CN" sz="2000" b="1" dirty="0">
                <a:solidFill>
                  <a:srgbClr val="0000FF"/>
                </a:solidFill>
                <a:highlight>
                  <a:srgbClr val="FFFF00"/>
                </a:highlight>
                <a:latin typeface="微软雅黑" pitchFamily="34" charset="-122"/>
                <a:ea typeface="微软雅黑" pitchFamily="34" charset="-122"/>
              </a:rPr>
              <a:t>IP </a:t>
            </a:r>
            <a:r>
              <a:rPr lang="zh-CN" altLang="en-US" sz="2000" b="1" dirty="0">
                <a:solidFill>
                  <a:srgbClr val="0000FF"/>
                </a:solidFill>
                <a:highlight>
                  <a:srgbClr val="FFFF00"/>
                </a:highlight>
                <a:latin typeface="微软雅黑" pitchFamily="34" charset="-122"/>
                <a:ea typeface="微软雅黑" pitchFamily="34" charset="-122"/>
              </a:rPr>
              <a:t>地址</a:t>
            </a:r>
            <a:endParaRPr lang="en-US" altLang="zh-CN" sz="2000" b="1" dirty="0">
              <a:solidFill>
                <a:srgbClr val="0000FF"/>
              </a:solidFill>
              <a:highlight>
                <a:srgbClr val="FFFF00"/>
              </a:highlight>
              <a:latin typeface="微软雅黑" pitchFamily="34" charset="-122"/>
              <a:ea typeface="微软雅黑" pitchFamily="34" charset="-122"/>
            </a:endParaRPr>
          </a:p>
          <a:p>
            <a:pPr marL="717550" indent="-357188">
              <a:lnSpc>
                <a:spcPts val="3300"/>
              </a:lnSpc>
              <a:buClr>
                <a:srgbClr val="7030A0"/>
              </a:buClr>
              <a:buFont typeface="+mj-lt"/>
              <a:buAutoNum type="arabicPeriod"/>
            </a:pPr>
            <a:r>
              <a:rPr lang="zh-CN" altLang="en-US" sz="2000" b="1" dirty="0">
                <a:solidFill>
                  <a:srgbClr val="0000FF"/>
                </a:solidFill>
                <a:highlight>
                  <a:srgbClr val="FFFF00"/>
                </a:highlight>
                <a:latin typeface="微软雅黑" pitchFamily="34" charset="-122"/>
                <a:ea typeface="微软雅黑" pitchFamily="34" charset="-122"/>
              </a:rPr>
              <a:t>无分类编址 </a:t>
            </a:r>
            <a:r>
              <a:rPr lang="en-US" altLang="zh-CN" sz="2000" b="1" dirty="0">
                <a:solidFill>
                  <a:srgbClr val="0000FF"/>
                </a:solidFill>
                <a:highlight>
                  <a:srgbClr val="FFFF00"/>
                </a:highlight>
                <a:latin typeface="微软雅黑" pitchFamily="34" charset="-122"/>
                <a:ea typeface="微软雅黑" pitchFamily="34" charset="-122"/>
              </a:rPr>
              <a:t>CIDR</a:t>
            </a:r>
          </a:p>
          <a:p>
            <a:pPr marL="717550" indent="-357188">
              <a:lnSpc>
                <a:spcPts val="3300"/>
              </a:lnSpc>
              <a:buClr>
                <a:srgbClr val="7030A0"/>
              </a:buClr>
              <a:buFont typeface="+mj-lt"/>
              <a:buAutoNum type="arabicPeriod"/>
            </a:pPr>
            <a:r>
              <a:rPr lang="en-US" altLang="zh-CN" sz="2000" b="1" dirty="0">
                <a:solidFill>
                  <a:srgbClr val="0000FF"/>
                </a:solidFill>
                <a:latin typeface="微软雅黑" pitchFamily="34" charset="-122"/>
                <a:ea typeface="微软雅黑" pitchFamily="34" charset="-122"/>
              </a:rPr>
              <a:t>IP </a:t>
            </a:r>
            <a:r>
              <a:rPr lang="zh-CN" altLang="en-US" sz="2000" b="1" dirty="0">
                <a:solidFill>
                  <a:srgbClr val="0000FF"/>
                </a:solidFill>
                <a:latin typeface="微软雅黑" pitchFamily="34" charset="-122"/>
                <a:ea typeface="微软雅黑" pitchFamily="34" charset="-122"/>
              </a:rPr>
              <a:t>地址的特点</a:t>
            </a:r>
          </a:p>
        </p:txBody>
      </p:sp>
    </p:spTree>
    <p:extLst>
      <p:ext uri="{BB962C8B-B14F-4D97-AF65-F5344CB8AC3E}">
        <p14:creationId xmlns:p14="http://schemas.microsoft.com/office/powerpoint/2010/main" val="17642527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3104023" y="581433"/>
            <a:ext cx="295465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highlight>
                  <a:srgbClr val="FFFF00"/>
                </a:highlight>
                <a:latin typeface="微软雅黑" pitchFamily="34" charset="-122"/>
                <a:ea typeface="微软雅黑" pitchFamily="34" charset="-122"/>
              </a:rPr>
              <a:t>1. IP </a:t>
            </a:r>
            <a:r>
              <a:rPr lang="zh-CN" altLang="en-US" sz="2000" b="1" dirty="0">
                <a:highlight>
                  <a:srgbClr val="FFFF00"/>
                </a:highlight>
                <a:latin typeface="微软雅黑" pitchFamily="34" charset="-122"/>
                <a:ea typeface="微软雅黑" pitchFamily="34" charset="-122"/>
              </a:rPr>
              <a:t>地址及其表示方法</a:t>
            </a:r>
          </a:p>
        </p:txBody>
      </p:sp>
      <p:sp>
        <p:nvSpPr>
          <p:cNvPr id="5" name="圆角矩形 4"/>
          <p:cNvSpPr/>
          <p:nvPr/>
        </p:nvSpPr>
        <p:spPr>
          <a:xfrm>
            <a:off x="552028" y="1032006"/>
            <a:ext cx="8053711" cy="266010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9" name="Group 3"/>
          <p:cNvGrpSpPr>
            <a:grpSpLocks/>
          </p:cNvGrpSpPr>
          <p:nvPr/>
        </p:nvGrpSpPr>
        <p:grpSpPr bwMode="auto">
          <a:xfrm>
            <a:off x="733834" y="1187799"/>
            <a:ext cx="6640977" cy="415504"/>
            <a:chOff x="-845" y="1217"/>
            <a:chExt cx="6553" cy="410"/>
          </a:xfrm>
        </p:grpSpPr>
        <p:sp>
          <p:nvSpPr>
            <p:cNvPr id="10" name="Rectangle 4"/>
            <p:cNvSpPr>
              <a:spLocks noChangeArrowheads="1"/>
            </p:cNvSpPr>
            <p:nvPr/>
          </p:nvSpPr>
          <p:spPr bwMode="auto">
            <a:xfrm>
              <a:off x="2134" y="1217"/>
              <a:ext cx="3574" cy="410"/>
            </a:xfrm>
            <a:prstGeom prst="rect">
              <a:avLst/>
            </a:prstGeom>
            <a:solidFill>
              <a:srgbClr val="00FF99"/>
            </a:solidFill>
            <a:ln w="1905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4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  10000000000010110000001100011111  </a:t>
              </a:r>
            </a:p>
          </p:txBody>
        </p:sp>
        <p:sp>
          <p:nvSpPr>
            <p:cNvPr id="11" name="Text Box 5"/>
            <p:cNvSpPr txBox="1">
              <a:spLocks noChangeArrowheads="1"/>
            </p:cNvSpPr>
            <p:nvPr/>
          </p:nvSpPr>
          <p:spPr bwMode="auto">
            <a:xfrm>
              <a:off x="-845" y="1252"/>
              <a:ext cx="2933" cy="3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IP </a:t>
              </a:r>
              <a:r>
                <a:rPr kumimoji="0" lang="zh-CN" altLang="en-US" sz="16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地址：</a:t>
              </a:r>
              <a:r>
                <a:rPr kumimoji="0" lang="en-US" altLang="zh-CN" sz="1600" b="1" i="0" u="none" strike="noStrike" kern="0" cap="none" spc="0" normalizeH="0" baseline="0" noProof="0" dirty="0">
                  <a:ln>
                    <a:noFill/>
                  </a:ln>
                  <a:solidFill>
                    <a:srgbClr val="C00000"/>
                  </a:solidFill>
                  <a:effectLst/>
                  <a:uLnTx/>
                  <a:uFillTx/>
                  <a:latin typeface="微软雅黑" pitchFamily="34" charset="-122"/>
                  <a:ea typeface="微软雅黑" pitchFamily="34" charset="-122"/>
                </a:rPr>
                <a:t>32 </a:t>
              </a:r>
              <a:r>
                <a:rPr kumimoji="0" lang="zh-CN" altLang="en-US" sz="1600" b="1" i="0" u="none" strike="noStrike" kern="0" cap="none" spc="0" normalizeH="0" baseline="0" noProof="0" dirty="0">
                  <a:ln>
                    <a:noFill/>
                  </a:ln>
                  <a:solidFill>
                    <a:srgbClr val="C00000"/>
                  </a:solidFill>
                  <a:effectLst/>
                  <a:uLnTx/>
                  <a:uFillTx/>
                  <a:latin typeface="微软雅黑" pitchFamily="34" charset="-122"/>
                  <a:ea typeface="微软雅黑" pitchFamily="34" charset="-122"/>
                </a:rPr>
                <a:t>位</a:t>
              </a:r>
              <a:r>
                <a:rPr kumimoji="0" lang="zh-CN" altLang="en-US" sz="16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二进制代码</a:t>
              </a:r>
            </a:p>
          </p:txBody>
        </p:sp>
      </p:grpSp>
      <p:grpSp>
        <p:nvGrpSpPr>
          <p:cNvPr id="12" name="Group 6"/>
          <p:cNvGrpSpPr>
            <a:grpSpLocks/>
          </p:cNvGrpSpPr>
          <p:nvPr/>
        </p:nvGrpSpPr>
        <p:grpSpPr bwMode="auto">
          <a:xfrm>
            <a:off x="1831376" y="1816372"/>
            <a:ext cx="5798817" cy="314162"/>
            <a:chOff x="207" y="1738"/>
            <a:chExt cx="5722" cy="310"/>
          </a:xfrm>
        </p:grpSpPr>
        <p:sp>
          <p:nvSpPr>
            <p:cNvPr id="13" name="Text Box 7"/>
            <p:cNvSpPr txBox="1">
              <a:spLocks noChangeArrowheads="1"/>
            </p:cNvSpPr>
            <p:nvPr/>
          </p:nvSpPr>
          <p:spPr bwMode="auto">
            <a:xfrm>
              <a:off x="1993" y="1738"/>
              <a:ext cx="3936"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solidFill>
                    <a:srgbClr val="0000FF"/>
                  </a:solidFill>
                  <a:latin typeface="微软雅黑" pitchFamily="34" charset="-122"/>
                  <a:ea typeface="微软雅黑" pitchFamily="34" charset="-122"/>
                </a:rPr>
                <a:t>10000000 </a:t>
              </a:r>
              <a:r>
                <a:rPr lang="en-US" altLang="zh-CN" sz="1400" b="1" dirty="0">
                  <a:latin typeface="微软雅黑" pitchFamily="34" charset="-122"/>
                  <a:ea typeface="微软雅黑" pitchFamily="34" charset="-122"/>
                </a:rPr>
                <a:t>00001011</a:t>
              </a:r>
              <a:r>
                <a:rPr lang="en-US" altLang="zh-CN" sz="1400" b="1" dirty="0">
                  <a:solidFill>
                    <a:srgbClr val="0000FF"/>
                  </a:solidFill>
                  <a:latin typeface="微软雅黑" pitchFamily="34" charset="-122"/>
                  <a:ea typeface="微软雅黑" pitchFamily="34" charset="-122"/>
                </a:rPr>
                <a:t> 00000011 </a:t>
              </a:r>
              <a:r>
                <a:rPr lang="en-US" altLang="zh-CN" sz="1400" b="1" dirty="0">
                  <a:latin typeface="微软雅黑" pitchFamily="34" charset="-122"/>
                  <a:ea typeface="微软雅黑" pitchFamily="34" charset="-122"/>
                </a:rPr>
                <a:t>00011111</a:t>
              </a:r>
              <a:r>
                <a:rPr lang="en-US" altLang="zh-CN" sz="1400" b="1" dirty="0">
                  <a:solidFill>
                    <a:srgbClr val="0000FF"/>
                  </a:solidFill>
                  <a:latin typeface="微软雅黑" pitchFamily="34" charset="-122"/>
                  <a:ea typeface="微软雅黑" pitchFamily="34" charset="-122"/>
                </a:rPr>
                <a:t> </a:t>
              </a:r>
            </a:p>
          </p:txBody>
        </p:sp>
        <p:sp>
          <p:nvSpPr>
            <p:cNvPr id="14" name="Text Box 8"/>
            <p:cNvSpPr txBox="1">
              <a:spLocks noChangeArrowheads="1"/>
            </p:cNvSpPr>
            <p:nvPr/>
          </p:nvSpPr>
          <p:spPr bwMode="auto">
            <a:xfrm>
              <a:off x="207" y="1744"/>
              <a:ext cx="1636"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400" b="1" dirty="0">
                  <a:solidFill>
                    <a:srgbClr val="0000FF"/>
                  </a:solidFill>
                  <a:latin typeface="微软雅黑" pitchFamily="34" charset="-122"/>
                  <a:ea typeface="微软雅黑" pitchFamily="34" charset="-122"/>
                </a:rPr>
                <a:t>分为每 </a:t>
              </a:r>
              <a:r>
                <a:rPr lang="en-US" altLang="zh-CN" sz="1400" b="1" dirty="0">
                  <a:solidFill>
                    <a:srgbClr val="0000FF"/>
                  </a:solidFill>
                  <a:latin typeface="微软雅黑" pitchFamily="34" charset="-122"/>
                  <a:ea typeface="微软雅黑" pitchFamily="34" charset="-122"/>
                </a:rPr>
                <a:t>8 </a:t>
              </a:r>
              <a:r>
                <a:rPr lang="zh-CN" altLang="en-US" sz="1400" b="1" dirty="0">
                  <a:solidFill>
                    <a:srgbClr val="0000FF"/>
                  </a:solidFill>
                  <a:latin typeface="微软雅黑" pitchFamily="34" charset="-122"/>
                  <a:ea typeface="微软雅黑" pitchFamily="34" charset="-122"/>
                </a:rPr>
                <a:t>位为一组</a:t>
              </a:r>
            </a:p>
          </p:txBody>
        </p:sp>
      </p:grpSp>
      <p:sp>
        <p:nvSpPr>
          <p:cNvPr id="15" name="Text Box 9"/>
          <p:cNvSpPr txBox="1">
            <a:spLocks noChangeArrowheads="1"/>
          </p:cNvSpPr>
          <p:nvPr/>
        </p:nvSpPr>
        <p:spPr bwMode="auto">
          <a:xfrm>
            <a:off x="1388858" y="3055611"/>
            <a:ext cx="222894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1600" b="1" dirty="0">
                <a:solidFill>
                  <a:srgbClr val="0000FF"/>
                </a:solidFill>
                <a:latin typeface="微软雅黑" pitchFamily="34" charset="-122"/>
                <a:ea typeface="微软雅黑" pitchFamily="34" charset="-122"/>
              </a:rPr>
              <a:t>采用</a:t>
            </a:r>
            <a:r>
              <a:rPr lang="zh-CN" altLang="en-US" sz="1600" b="1" dirty="0">
                <a:solidFill>
                  <a:srgbClr val="C00000"/>
                </a:solidFill>
                <a:latin typeface="微软雅黑" pitchFamily="34" charset="-122"/>
                <a:ea typeface="微软雅黑" pitchFamily="34" charset="-122"/>
              </a:rPr>
              <a:t>点分十进制记法</a:t>
            </a:r>
          </a:p>
        </p:txBody>
      </p:sp>
      <p:sp>
        <p:nvSpPr>
          <p:cNvPr id="16" name="Text Box 10"/>
          <p:cNvSpPr txBox="1">
            <a:spLocks noChangeArrowheads="1"/>
          </p:cNvSpPr>
          <p:nvPr/>
        </p:nvSpPr>
        <p:spPr bwMode="auto">
          <a:xfrm>
            <a:off x="4702468" y="3049906"/>
            <a:ext cx="1592103" cy="369332"/>
          </a:xfrm>
          <a:prstGeom prst="rect">
            <a:avLst/>
          </a:prstGeom>
          <a:solidFill>
            <a:srgbClr val="00FFFF"/>
          </a:solidFill>
          <a:ln w="19050">
            <a:solidFill>
              <a:srgbClr val="000000"/>
            </a:solidFill>
            <a:miter lim="800000"/>
            <a:headEnd/>
            <a:tailEnd/>
          </a:ln>
          <a:effec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128.11.3.31 </a:t>
            </a:r>
          </a:p>
        </p:txBody>
      </p:sp>
      <p:grpSp>
        <p:nvGrpSpPr>
          <p:cNvPr id="17" name="Group 16"/>
          <p:cNvGrpSpPr>
            <a:grpSpLocks/>
          </p:cNvGrpSpPr>
          <p:nvPr/>
        </p:nvGrpSpPr>
        <p:grpSpPr bwMode="auto">
          <a:xfrm>
            <a:off x="4285587" y="2606071"/>
            <a:ext cx="2570671" cy="384469"/>
            <a:chOff x="2665" y="2904"/>
            <a:chExt cx="2609" cy="543"/>
          </a:xfrm>
        </p:grpSpPr>
        <p:sp>
          <p:nvSpPr>
            <p:cNvPr id="18" name="Line 17"/>
            <p:cNvSpPr>
              <a:spLocks noChangeShapeType="1"/>
            </p:cNvSpPr>
            <p:nvPr/>
          </p:nvSpPr>
          <p:spPr bwMode="auto">
            <a:xfrm>
              <a:off x="2665" y="2922"/>
              <a:ext cx="665" cy="509"/>
            </a:xfrm>
            <a:prstGeom prst="line">
              <a:avLst/>
            </a:prstGeom>
            <a:noFill/>
            <a:ln w="19050">
              <a:solidFill>
                <a:srgbClr val="00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19" name="Line 18"/>
            <p:cNvSpPr>
              <a:spLocks noChangeShapeType="1"/>
            </p:cNvSpPr>
            <p:nvPr/>
          </p:nvSpPr>
          <p:spPr bwMode="auto">
            <a:xfrm flipH="1">
              <a:off x="4393" y="2904"/>
              <a:ext cx="881" cy="543"/>
            </a:xfrm>
            <a:prstGeom prst="line">
              <a:avLst/>
            </a:prstGeom>
            <a:noFill/>
            <a:ln w="19050">
              <a:solidFill>
                <a:srgbClr val="00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20" name="Line 19"/>
            <p:cNvSpPr>
              <a:spLocks noChangeShapeType="1"/>
            </p:cNvSpPr>
            <p:nvPr/>
          </p:nvSpPr>
          <p:spPr bwMode="auto">
            <a:xfrm>
              <a:off x="3549" y="2934"/>
              <a:ext cx="223" cy="504"/>
            </a:xfrm>
            <a:prstGeom prst="line">
              <a:avLst/>
            </a:prstGeom>
            <a:noFill/>
            <a:ln w="19050">
              <a:solidFill>
                <a:srgbClr val="00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21" name="Line 20"/>
            <p:cNvSpPr>
              <a:spLocks noChangeShapeType="1"/>
            </p:cNvSpPr>
            <p:nvPr/>
          </p:nvSpPr>
          <p:spPr bwMode="auto">
            <a:xfrm flipH="1">
              <a:off x="4080" y="2944"/>
              <a:ext cx="240" cy="497"/>
            </a:xfrm>
            <a:prstGeom prst="line">
              <a:avLst/>
            </a:prstGeom>
            <a:noFill/>
            <a:ln w="19050">
              <a:solidFill>
                <a:srgbClr val="00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grpSp>
      <p:grpSp>
        <p:nvGrpSpPr>
          <p:cNvPr id="22" name="组合 21"/>
          <p:cNvGrpSpPr/>
          <p:nvPr/>
        </p:nvGrpSpPr>
        <p:grpSpPr>
          <a:xfrm>
            <a:off x="1628081" y="2115898"/>
            <a:ext cx="5747223" cy="675537"/>
            <a:chOff x="1629823" y="2403736"/>
            <a:chExt cx="5747223" cy="675537"/>
          </a:xfrm>
        </p:grpSpPr>
        <p:sp>
          <p:nvSpPr>
            <p:cNvPr id="23" name="AutoShape 11"/>
            <p:cNvSpPr>
              <a:spLocks/>
            </p:cNvSpPr>
            <p:nvPr/>
          </p:nvSpPr>
          <p:spPr bwMode="auto">
            <a:xfrm rot="16200000">
              <a:off x="4101149" y="2099202"/>
              <a:ext cx="156067" cy="765135"/>
            </a:xfrm>
            <a:prstGeom prst="leftBrace">
              <a:avLst>
                <a:gd name="adj1" fmla="val 40855"/>
                <a:gd name="adj2" fmla="val 50000"/>
              </a:avLst>
            </a:prstGeom>
            <a:noFill/>
            <a:ln w="28575">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24" name="AutoShape 12"/>
            <p:cNvSpPr>
              <a:spLocks/>
            </p:cNvSpPr>
            <p:nvPr/>
          </p:nvSpPr>
          <p:spPr bwMode="auto">
            <a:xfrm rot="16200000">
              <a:off x="5013739" y="2089574"/>
              <a:ext cx="175322" cy="803646"/>
            </a:xfrm>
            <a:prstGeom prst="leftBrace">
              <a:avLst>
                <a:gd name="adj1" fmla="val 38199"/>
                <a:gd name="adj2" fmla="val 50000"/>
              </a:avLst>
            </a:prstGeom>
            <a:noFill/>
            <a:ln w="28575">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25" name="AutoShape 13"/>
            <p:cNvSpPr>
              <a:spLocks/>
            </p:cNvSpPr>
            <p:nvPr/>
          </p:nvSpPr>
          <p:spPr bwMode="auto">
            <a:xfrm rot="16200000">
              <a:off x="5936968" y="2109842"/>
              <a:ext cx="156067" cy="798579"/>
            </a:xfrm>
            <a:prstGeom prst="leftBrace">
              <a:avLst>
                <a:gd name="adj1" fmla="val 42641"/>
                <a:gd name="adj2" fmla="val 50000"/>
              </a:avLst>
            </a:prstGeom>
            <a:noFill/>
            <a:ln w="28575">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26" name="AutoShape 14"/>
            <p:cNvSpPr>
              <a:spLocks/>
            </p:cNvSpPr>
            <p:nvPr/>
          </p:nvSpPr>
          <p:spPr bwMode="auto">
            <a:xfrm rot="16200000">
              <a:off x="6875907" y="2085013"/>
              <a:ext cx="145933" cy="856344"/>
            </a:xfrm>
            <a:prstGeom prst="leftBrace">
              <a:avLst>
                <a:gd name="adj1" fmla="val 48900"/>
                <a:gd name="adj2" fmla="val 50000"/>
              </a:avLst>
            </a:prstGeom>
            <a:noFill/>
            <a:ln w="28575">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27" name="Text Box 15"/>
            <p:cNvSpPr txBox="1">
              <a:spLocks noChangeArrowheads="1"/>
            </p:cNvSpPr>
            <p:nvPr/>
          </p:nvSpPr>
          <p:spPr bwMode="auto">
            <a:xfrm>
              <a:off x="3898481" y="2621503"/>
              <a:ext cx="334418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solidFill>
                    <a:srgbClr val="0000FF"/>
                  </a:solidFill>
                  <a:latin typeface="微软雅黑" pitchFamily="34" charset="-122"/>
                  <a:ea typeface="微软雅黑" pitchFamily="34" charset="-122"/>
                </a:rPr>
                <a:t>128             11             3                31 </a:t>
              </a:r>
            </a:p>
          </p:txBody>
        </p:sp>
        <p:sp>
          <p:nvSpPr>
            <p:cNvPr id="28" name="Text Box 21"/>
            <p:cNvSpPr txBox="1">
              <a:spLocks noChangeArrowheads="1"/>
            </p:cNvSpPr>
            <p:nvPr/>
          </p:nvSpPr>
          <p:spPr bwMode="auto">
            <a:xfrm>
              <a:off x="1629823" y="2556053"/>
              <a:ext cx="189874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1400" b="1" dirty="0">
                  <a:latin typeface="微软雅黑" pitchFamily="34" charset="-122"/>
                  <a:ea typeface="微软雅黑" pitchFamily="34" charset="-122"/>
                </a:rPr>
                <a:t>将每 </a:t>
              </a:r>
              <a:r>
                <a:rPr lang="en-US" altLang="zh-CN" sz="1400" b="1" dirty="0">
                  <a:latin typeface="微软雅黑" pitchFamily="34" charset="-122"/>
                  <a:ea typeface="微软雅黑" pitchFamily="34" charset="-122"/>
                </a:rPr>
                <a:t>8 </a:t>
              </a:r>
              <a:r>
                <a:rPr lang="zh-CN" altLang="en-US" sz="1400" b="1" dirty="0">
                  <a:latin typeface="微软雅黑" pitchFamily="34" charset="-122"/>
                  <a:ea typeface="微软雅黑" pitchFamily="34" charset="-122"/>
                </a:rPr>
                <a:t>位的二进制数</a:t>
              </a:r>
            </a:p>
            <a:p>
              <a:pPr algn="ctr"/>
              <a:r>
                <a:rPr lang="zh-CN" altLang="en-US" sz="1400" b="1" dirty="0">
                  <a:latin typeface="微软雅黑" pitchFamily="34" charset="-122"/>
                  <a:ea typeface="微软雅黑" pitchFamily="34" charset="-122"/>
                </a:rPr>
                <a:t>转换为十进制数</a:t>
              </a:r>
            </a:p>
          </p:txBody>
        </p:sp>
      </p:grpSp>
      <p:sp>
        <p:nvSpPr>
          <p:cNvPr id="29" name="Line 22"/>
          <p:cNvSpPr>
            <a:spLocks noChangeShapeType="1"/>
          </p:cNvSpPr>
          <p:nvPr/>
        </p:nvSpPr>
        <p:spPr bwMode="auto">
          <a:xfrm>
            <a:off x="3577220" y="3225229"/>
            <a:ext cx="1133873" cy="0"/>
          </a:xfrm>
          <a:prstGeom prst="line">
            <a:avLst/>
          </a:prstGeom>
          <a:noFill/>
          <a:ln w="76200">
            <a:solidFill>
              <a:srgbClr val="CC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2" name="矩形 1"/>
          <p:cNvSpPr/>
          <p:nvPr/>
        </p:nvSpPr>
        <p:spPr>
          <a:xfrm>
            <a:off x="916783" y="3697286"/>
            <a:ext cx="7392837" cy="938719"/>
          </a:xfrm>
          <a:prstGeom prst="rect">
            <a:avLst/>
          </a:prstGeom>
        </p:spPr>
        <p:txBody>
          <a:bodyPr wrap="square">
            <a:spAutoFit/>
          </a:bodyPr>
          <a:lstStyle/>
          <a:p>
            <a:pPr>
              <a:lnSpc>
                <a:spcPts val="2200"/>
              </a:lnSpc>
            </a:pPr>
            <a:r>
              <a:rPr lang="zh-CN" altLang="en-US" sz="1600" b="1" dirty="0">
                <a:latin typeface="微软雅黑" panose="020B0503020204020204" pitchFamily="34" charset="-122"/>
                <a:ea typeface="微软雅黑" panose="020B0503020204020204" pitchFamily="34" charset="-122"/>
              </a:rPr>
              <a:t>互联网上的每台主机（或路由器）的</a:t>
            </a:r>
            <a:r>
              <a:rPr lang="zh-CN" altLang="en-US" sz="1600" b="1" dirty="0">
                <a:solidFill>
                  <a:srgbClr val="C00000"/>
                </a:solidFill>
                <a:latin typeface="微软雅黑" panose="020B0503020204020204" pitchFamily="34" charset="-122"/>
                <a:ea typeface="微软雅黑" panose="020B0503020204020204" pitchFamily="34" charset="-122"/>
              </a:rPr>
              <a:t>每个接口</a:t>
            </a:r>
            <a:r>
              <a:rPr lang="zh-CN" altLang="en-US" sz="1600" b="1" dirty="0">
                <a:latin typeface="微软雅黑" panose="020B0503020204020204" pitchFamily="34" charset="-122"/>
                <a:ea typeface="微软雅黑" panose="020B0503020204020204" pitchFamily="34" charset="-122"/>
              </a:rPr>
              <a:t>分配一个在</a:t>
            </a:r>
            <a:r>
              <a:rPr lang="zh-CN" altLang="en-US" sz="1600" b="1" dirty="0">
                <a:solidFill>
                  <a:srgbClr val="C00000"/>
                </a:solidFill>
                <a:latin typeface="微软雅黑" panose="020B0503020204020204" pitchFamily="34" charset="-122"/>
                <a:ea typeface="微软雅黑" panose="020B0503020204020204" pitchFamily="34" charset="-122"/>
              </a:rPr>
              <a:t>全世界唯一的 </a:t>
            </a:r>
            <a:r>
              <a:rPr lang="en-US" altLang="zh-CN" sz="1600" b="1" dirty="0">
                <a:solidFill>
                  <a:srgbClr val="C00000"/>
                </a:solidFill>
                <a:latin typeface="微软雅黑" panose="020B0503020204020204" pitchFamily="34" charset="-122"/>
                <a:ea typeface="微软雅黑" panose="020B0503020204020204" pitchFamily="34" charset="-122"/>
              </a:rPr>
              <a:t>IP </a:t>
            </a:r>
            <a:r>
              <a:rPr lang="zh-CN" altLang="en-US" sz="1600" b="1" dirty="0">
                <a:solidFill>
                  <a:srgbClr val="C00000"/>
                </a:solidFill>
                <a:latin typeface="微软雅黑" panose="020B0503020204020204" pitchFamily="34" charset="-122"/>
                <a:ea typeface="微软雅黑" panose="020B0503020204020204" pitchFamily="34" charset="-122"/>
              </a:rPr>
              <a:t>地址</a:t>
            </a:r>
            <a:r>
              <a:rPr lang="zh-CN" altLang="en-US" sz="1600" b="1" dirty="0">
                <a:latin typeface="微软雅黑" panose="020B0503020204020204" pitchFamily="34" charset="-122"/>
                <a:ea typeface="微软雅黑" panose="020B0503020204020204" pitchFamily="34" charset="-122"/>
              </a:rPr>
              <a:t>。</a:t>
            </a:r>
          </a:p>
          <a:p>
            <a:pPr>
              <a:lnSpc>
                <a:spcPts val="2200"/>
              </a:lnSpc>
            </a:pPr>
            <a:r>
              <a:rPr lang="zh-CN" altLang="en-US" sz="1600" b="1" dirty="0">
                <a:latin typeface="微软雅黑" panose="020B0503020204020204" pitchFamily="34" charset="-122"/>
                <a:ea typeface="微软雅黑" panose="020B0503020204020204" pitchFamily="34" charset="-122"/>
              </a:rPr>
              <a:t>由</a:t>
            </a:r>
            <a:r>
              <a:rPr lang="zh-CN" altLang="en-US" sz="1600" b="1" dirty="0">
                <a:solidFill>
                  <a:srgbClr val="0000FF"/>
                </a:solidFill>
                <a:latin typeface="微软雅黑" panose="020B0503020204020204" pitchFamily="34" charset="-122"/>
                <a:ea typeface="微软雅黑" panose="020B0503020204020204" pitchFamily="34" charset="-122"/>
              </a:rPr>
              <a:t>互联网名字和数字分配机构 </a:t>
            </a:r>
            <a:r>
              <a:rPr lang="en-US" altLang="zh-CN" sz="1600" b="1" dirty="0">
                <a:latin typeface="微软雅黑" panose="020B0503020204020204" pitchFamily="34" charset="-122"/>
                <a:ea typeface="微软雅黑" panose="020B0503020204020204" pitchFamily="34" charset="-122"/>
              </a:rPr>
              <a:t>ICANN (Internet Corporation for Assigned Names and Numbers) </a:t>
            </a:r>
            <a:r>
              <a:rPr lang="zh-CN" altLang="en-US" sz="1600" b="1" dirty="0">
                <a:latin typeface="微软雅黑" panose="020B0503020204020204" pitchFamily="34" charset="-122"/>
                <a:ea typeface="微软雅黑" panose="020B0503020204020204" pitchFamily="34" charset="-122"/>
              </a:rPr>
              <a:t>进行分配。 </a:t>
            </a:r>
          </a:p>
        </p:txBody>
      </p:sp>
    </p:spTree>
    <p:extLst>
      <p:ext uri="{BB962C8B-B14F-4D97-AF65-F5344CB8AC3E}">
        <p14:creationId xmlns:p14="http://schemas.microsoft.com/office/powerpoint/2010/main" val="397434469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5"/>
                                        </p:tgtEl>
                                        <p:attrNameLst>
                                          <p:attrName>style.visibility</p:attrName>
                                        </p:attrNameLst>
                                      </p:cBhvr>
                                      <p:to>
                                        <p:strVal val="visible"/>
                                      </p:to>
                                    </p:set>
                                  </p:childTnLst>
                                </p:cTn>
                              </p:par>
                            </p:childTnLst>
                          </p:cTn>
                        </p:par>
                        <p:par>
                          <p:cTn id="15" fill="hold">
                            <p:stCondLst>
                              <p:cond delay="0"/>
                            </p:stCondLst>
                            <p:childTnLst>
                              <p:par>
                                <p:cTn id="16" presetID="22" presetClass="entr" presetSubtype="1" fill="hold" nodeType="afterEffect">
                                  <p:stCondLst>
                                    <p:cond delay="0"/>
                                  </p:stCondLst>
                                  <p:childTnLst>
                                    <p:set>
                                      <p:cBhvr>
                                        <p:cTn id="17" dur="1" fill="hold">
                                          <p:stCondLst>
                                            <p:cond delay="0"/>
                                          </p:stCondLst>
                                        </p:cTn>
                                        <p:tgtEl>
                                          <p:spTgt spid="17"/>
                                        </p:tgtEl>
                                        <p:attrNameLst>
                                          <p:attrName>style.visibility</p:attrName>
                                        </p:attrNameLst>
                                      </p:cBhvr>
                                      <p:to>
                                        <p:strVal val="visible"/>
                                      </p:to>
                                    </p:set>
                                    <p:animEffect transition="in" filter="wipe(up)">
                                      <p:cBhvr>
                                        <p:cTn id="18" dur="750"/>
                                        <p:tgtEl>
                                          <p:spTgt spid="17"/>
                                        </p:tgtEl>
                                      </p:cBhvr>
                                    </p:animEffect>
                                  </p:childTnLst>
                                </p:cTn>
                              </p:par>
                              <p:par>
                                <p:cTn id="19" presetID="22" presetClass="entr" presetSubtype="8" fill="hold" grpId="0" nodeType="withEffect">
                                  <p:stCondLst>
                                    <p:cond delay="0"/>
                                  </p:stCondLst>
                                  <p:childTnLst>
                                    <p:set>
                                      <p:cBhvr>
                                        <p:cTn id="20" dur="1" fill="hold">
                                          <p:stCondLst>
                                            <p:cond delay="0"/>
                                          </p:stCondLst>
                                        </p:cTn>
                                        <p:tgtEl>
                                          <p:spTgt spid="29"/>
                                        </p:tgtEl>
                                        <p:attrNameLst>
                                          <p:attrName>style.visibility</p:attrName>
                                        </p:attrNameLst>
                                      </p:cBhvr>
                                      <p:to>
                                        <p:strVal val="visible"/>
                                      </p:to>
                                    </p:set>
                                    <p:animEffect transition="in" filter="wipe(left)">
                                      <p:cBhvr>
                                        <p:cTn id="21" dur="750"/>
                                        <p:tgtEl>
                                          <p:spTgt spid="29"/>
                                        </p:tgtEl>
                                      </p:cBhvr>
                                    </p:animEffect>
                                  </p:childTnLst>
                                </p:cTn>
                              </p:par>
                            </p:childTnLst>
                          </p:cTn>
                        </p:par>
                        <p:par>
                          <p:cTn id="22" fill="hold">
                            <p:stCondLst>
                              <p:cond delay="750"/>
                            </p:stCondLst>
                            <p:childTnLst>
                              <p:par>
                                <p:cTn id="23" presetID="1" presetClass="entr" presetSubtype="0" fill="hold" grpId="0" nodeType="afterEffect">
                                  <p:stCondLst>
                                    <p:cond delay="0"/>
                                  </p:stCondLst>
                                  <p:childTnLst>
                                    <p:set>
                                      <p:cBhvr>
                                        <p:cTn id="24" dur="1" fill="hold">
                                          <p:stCondLst>
                                            <p:cond delay="0"/>
                                          </p:stCondLst>
                                        </p:cTn>
                                        <p:tgtEl>
                                          <p:spTgt spid="16"/>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animBg="1"/>
      <p:bldP spid="29" grpId="0" animBg="1"/>
      <p:bldP spid="2"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 name="圆角矩形 19"/>
          <p:cNvSpPr/>
          <p:nvPr/>
        </p:nvSpPr>
        <p:spPr>
          <a:xfrm>
            <a:off x="545144" y="103367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85" name="矩形 84"/>
          <p:cNvSpPr/>
          <p:nvPr/>
        </p:nvSpPr>
        <p:spPr>
          <a:xfrm>
            <a:off x="616085" y="574698"/>
            <a:ext cx="2492990" cy="400110"/>
          </a:xfrm>
          <a:prstGeom prst="rect">
            <a:avLst/>
          </a:prstGeom>
        </p:spPr>
        <p:txBody>
          <a:bodyPr wrap="none">
            <a:spAutoFit/>
          </a:bodyPr>
          <a:lstStyle/>
          <a:p>
            <a:r>
              <a:rPr lang="zh-CN" altLang="en-US" sz="2000" b="1" dirty="0">
                <a:latin typeface="微软雅黑" pitchFamily="34" charset="-122"/>
                <a:ea typeface="微软雅黑" pitchFamily="34" charset="-122"/>
              </a:rPr>
              <a:t>点分十进制记法举例</a:t>
            </a:r>
          </a:p>
        </p:txBody>
      </p:sp>
      <p:grpSp>
        <p:nvGrpSpPr>
          <p:cNvPr id="100" name="组合 99"/>
          <p:cNvGrpSpPr/>
          <p:nvPr/>
        </p:nvGrpSpPr>
        <p:grpSpPr>
          <a:xfrm>
            <a:off x="1125767" y="1244616"/>
            <a:ext cx="6262082" cy="2842408"/>
            <a:chOff x="-56968" y="1101725"/>
            <a:chExt cx="10243382" cy="4649550"/>
          </a:xfrm>
        </p:grpSpPr>
        <p:sp>
          <p:nvSpPr>
            <p:cNvPr id="87" name="Text Box 3"/>
            <p:cNvSpPr txBox="1">
              <a:spLocks noChangeArrowheads="1"/>
            </p:cNvSpPr>
            <p:nvPr/>
          </p:nvSpPr>
          <p:spPr bwMode="auto">
            <a:xfrm>
              <a:off x="2638248" y="1531940"/>
              <a:ext cx="2494197"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dirty="0">
                  <a:solidFill>
                    <a:srgbClr val="0000FF"/>
                  </a:solidFill>
                  <a:latin typeface="微软雅黑" pitchFamily="34" charset="-122"/>
                  <a:ea typeface="微软雅黑" pitchFamily="34" charset="-122"/>
                </a:rPr>
                <a:t>32 </a:t>
              </a:r>
              <a:r>
                <a:rPr kumimoji="0" lang="zh-CN" altLang="en-US" sz="1600" b="1" dirty="0">
                  <a:solidFill>
                    <a:srgbClr val="0000FF"/>
                  </a:solidFill>
                  <a:latin typeface="微软雅黑" pitchFamily="34" charset="-122"/>
                  <a:ea typeface="微软雅黑" pitchFamily="34" charset="-122"/>
                </a:rPr>
                <a:t>位二进制数</a:t>
              </a:r>
            </a:p>
          </p:txBody>
        </p:sp>
        <p:sp>
          <p:nvSpPr>
            <p:cNvPr id="88" name="Text Box 4"/>
            <p:cNvSpPr txBox="1">
              <a:spLocks noChangeArrowheads="1"/>
            </p:cNvSpPr>
            <p:nvPr/>
          </p:nvSpPr>
          <p:spPr bwMode="auto">
            <a:xfrm>
              <a:off x="7490207" y="1101725"/>
              <a:ext cx="2315890" cy="956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0" lang="zh-CN" altLang="en-US" sz="1600" b="1" dirty="0">
                  <a:solidFill>
                    <a:srgbClr val="0000FF"/>
                  </a:solidFill>
                  <a:latin typeface="微软雅黑" pitchFamily="34" charset="-122"/>
                  <a:ea typeface="微软雅黑" pitchFamily="34" charset="-122"/>
                </a:rPr>
                <a:t>等价的</a:t>
              </a:r>
            </a:p>
            <a:p>
              <a:pPr algn="ctr" eaLnBrk="0" hangingPunct="0"/>
              <a:r>
                <a:rPr kumimoji="0" lang="zh-CN" altLang="en-US" sz="1600" b="1" dirty="0">
                  <a:solidFill>
                    <a:srgbClr val="0000FF"/>
                  </a:solidFill>
                  <a:latin typeface="微软雅黑" pitchFamily="34" charset="-122"/>
                  <a:ea typeface="微软雅黑" pitchFamily="34" charset="-122"/>
                </a:rPr>
                <a:t>点分十进制数</a:t>
              </a:r>
            </a:p>
          </p:txBody>
        </p:sp>
        <p:sp>
          <p:nvSpPr>
            <p:cNvPr id="89" name="Line 5"/>
            <p:cNvSpPr>
              <a:spLocks noChangeShapeType="1"/>
            </p:cNvSpPr>
            <p:nvPr/>
          </p:nvSpPr>
          <p:spPr bwMode="auto">
            <a:xfrm>
              <a:off x="87710" y="2159001"/>
              <a:ext cx="999467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90" name="Text Box 6"/>
            <p:cNvSpPr txBox="1">
              <a:spLocks noChangeArrowheads="1"/>
            </p:cNvSpPr>
            <p:nvPr/>
          </p:nvSpPr>
          <p:spPr bwMode="auto">
            <a:xfrm>
              <a:off x="-56968" y="2246314"/>
              <a:ext cx="7528742"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dirty="0">
                  <a:solidFill>
                    <a:srgbClr val="0000CC"/>
                  </a:solidFill>
                  <a:latin typeface="微软雅黑" pitchFamily="34" charset="-122"/>
                  <a:ea typeface="微软雅黑" pitchFamily="34" charset="-122"/>
                </a:rPr>
                <a:t>10000001  00110100  00000110  00000000</a:t>
              </a:r>
            </a:p>
          </p:txBody>
        </p:sp>
        <p:sp>
          <p:nvSpPr>
            <p:cNvPr id="91" name="Text Box 7"/>
            <p:cNvSpPr txBox="1">
              <a:spLocks noChangeArrowheads="1"/>
            </p:cNvSpPr>
            <p:nvPr/>
          </p:nvSpPr>
          <p:spPr bwMode="auto">
            <a:xfrm>
              <a:off x="7521776" y="2228852"/>
              <a:ext cx="2043186"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dirty="0">
                  <a:latin typeface="微软雅黑" pitchFamily="34" charset="-122"/>
                  <a:ea typeface="微软雅黑" pitchFamily="34" charset="-122"/>
                </a:rPr>
                <a:t>129.52.6.0</a:t>
              </a:r>
            </a:p>
          </p:txBody>
        </p:sp>
        <p:sp>
          <p:nvSpPr>
            <p:cNvPr id="92" name="Text Box 8"/>
            <p:cNvSpPr txBox="1">
              <a:spLocks noChangeArrowheads="1"/>
            </p:cNvSpPr>
            <p:nvPr/>
          </p:nvSpPr>
          <p:spPr bwMode="auto">
            <a:xfrm>
              <a:off x="-56968" y="2968626"/>
              <a:ext cx="7528742"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dirty="0">
                  <a:solidFill>
                    <a:srgbClr val="0000CC"/>
                  </a:solidFill>
                  <a:latin typeface="微软雅黑" pitchFamily="34" charset="-122"/>
                  <a:ea typeface="微软雅黑" pitchFamily="34" charset="-122"/>
                </a:rPr>
                <a:t>11000000  00000101  00110000  00000011</a:t>
              </a:r>
            </a:p>
          </p:txBody>
        </p:sp>
        <p:sp>
          <p:nvSpPr>
            <p:cNvPr id="93" name="Text Box 9"/>
            <p:cNvSpPr txBox="1">
              <a:spLocks noChangeArrowheads="1"/>
            </p:cNvSpPr>
            <p:nvPr/>
          </p:nvSpPr>
          <p:spPr bwMode="auto">
            <a:xfrm>
              <a:off x="7521776" y="2951162"/>
              <a:ext cx="2043186"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dirty="0">
                  <a:latin typeface="微软雅黑" pitchFamily="34" charset="-122"/>
                  <a:ea typeface="微软雅黑" pitchFamily="34" charset="-122"/>
                </a:rPr>
                <a:t>192.5.48.3</a:t>
              </a:r>
            </a:p>
          </p:txBody>
        </p:sp>
        <p:sp>
          <p:nvSpPr>
            <p:cNvPr id="94" name="Text Box 10"/>
            <p:cNvSpPr txBox="1">
              <a:spLocks noChangeArrowheads="1"/>
            </p:cNvSpPr>
            <p:nvPr/>
          </p:nvSpPr>
          <p:spPr bwMode="auto">
            <a:xfrm>
              <a:off x="-56968" y="3743326"/>
              <a:ext cx="7528742"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dirty="0">
                  <a:solidFill>
                    <a:srgbClr val="0000CC"/>
                  </a:solidFill>
                  <a:latin typeface="微软雅黑" pitchFamily="34" charset="-122"/>
                  <a:ea typeface="微软雅黑" pitchFamily="34" charset="-122"/>
                </a:rPr>
                <a:t>00001010  00000010  00000000  00100101</a:t>
              </a:r>
            </a:p>
          </p:txBody>
        </p:sp>
        <p:sp>
          <p:nvSpPr>
            <p:cNvPr id="95" name="Text Box 11"/>
            <p:cNvSpPr txBox="1">
              <a:spLocks noChangeArrowheads="1"/>
            </p:cNvSpPr>
            <p:nvPr/>
          </p:nvSpPr>
          <p:spPr bwMode="auto">
            <a:xfrm>
              <a:off x="7521776" y="3725862"/>
              <a:ext cx="1836036"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a:latin typeface="微软雅黑" pitchFamily="34" charset="-122"/>
                  <a:ea typeface="微软雅黑" pitchFamily="34" charset="-122"/>
                </a:rPr>
                <a:t>10.2.0.37</a:t>
              </a:r>
            </a:p>
          </p:txBody>
        </p:sp>
        <p:sp>
          <p:nvSpPr>
            <p:cNvPr id="96" name="Text Box 12"/>
            <p:cNvSpPr txBox="1">
              <a:spLocks noChangeArrowheads="1"/>
            </p:cNvSpPr>
            <p:nvPr/>
          </p:nvSpPr>
          <p:spPr bwMode="auto">
            <a:xfrm>
              <a:off x="-56968" y="4476752"/>
              <a:ext cx="7528742"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dirty="0">
                  <a:solidFill>
                    <a:srgbClr val="0000CC"/>
                  </a:solidFill>
                  <a:latin typeface="微软雅黑" pitchFamily="34" charset="-122"/>
                  <a:ea typeface="微软雅黑" pitchFamily="34" charset="-122"/>
                </a:rPr>
                <a:t>10000000  00001010  00000010  00000011</a:t>
              </a:r>
            </a:p>
          </p:txBody>
        </p:sp>
        <p:sp>
          <p:nvSpPr>
            <p:cNvPr id="97" name="Text Box 13"/>
            <p:cNvSpPr txBox="1">
              <a:spLocks noChangeArrowheads="1"/>
            </p:cNvSpPr>
            <p:nvPr/>
          </p:nvSpPr>
          <p:spPr bwMode="auto">
            <a:xfrm>
              <a:off x="7521776" y="4459288"/>
              <a:ext cx="2043186"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a:latin typeface="微软雅黑" pitchFamily="34" charset="-122"/>
                  <a:ea typeface="微软雅黑" pitchFamily="34" charset="-122"/>
                </a:rPr>
                <a:t>128.10.2.3</a:t>
              </a:r>
            </a:p>
          </p:txBody>
        </p:sp>
        <p:sp>
          <p:nvSpPr>
            <p:cNvPr id="98" name="Text Box 14"/>
            <p:cNvSpPr txBox="1">
              <a:spLocks noChangeArrowheads="1"/>
            </p:cNvSpPr>
            <p:nvPr/>
          </p:nvSpPr>
          <p:spPr bwMode="auto">
            <a:xfrm>
              <a:off x="-56968" y="5197476"/>
              <a:ext cx="7528742"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dirty="0">
                  <a:solidFill>
                    <a:srgbClr val="0000CC"/>
                  </a:solidFill>
                  <a:latin typeface="微软雅黑" pitchFamily="34" charset="-122"/>
                  <a:ea typeface="微软雅黑" pitchFamily="34" charset="-122"/>
                </a:rPr>
                <a:t>10000000  10000000  11111111  00000000</a:t>
              </a:r>
            </a:p>
          </p:txBody>
        </p:sp>
        <p:sp>
          <p:nvSpPr>
            <p:cNvPr id="99" name="Text Box 15"/>
            <p:cNvSpPr txBox="1">
              <a:spLocks noChangeArrowheads="1"/>
            </p:cNvSpPr>
            <p:nvPr/>
          </p:nvSpPr>
          <p:spPr bwMode="auto">
            <a:xfrm>
              <a:off x="7521776" y="5180012"/>
              <a:ext cx="2664638"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a:latin typeface="微软雅黑" pitchFamily="34" charset="-122"/>
                  <a:ea typeface="微软雅黑" pitchFamily="34" charset="-122"/>
                </a:rPr>
                <a:t>128.128.255.0</a:t>
              </a:r>
            </a:p>
          </p:txBody>
        </p:sp>
      </p:grpSp>
    </p:spTree>
    <p:extLst>
      <p:ext uri="{BB962C8B-B14F-4D97-AF65-F5344CB8AC3E}">
        <p14:creationId xmlns:p14="http://schemas.microsoft.com/office/powerpoint/2010/main" val="259780703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3269136" y="581433"/>
            <a:ext cx="26244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highlight>
                  <a:srgbClr val="FFFF00"/>
                </a:highlight>
                <a:latin typeface="微软雅黑" pitchFamily="34" charset="-122"/>
                <a:ea typeface="微软雅黑" pitchFamily="34" charset="-122"/>
              </a:rPr>
              <a:t>IP </a:t>
            </a:r>
            <a:r>
              <a:rPr lang="zh-CN" altLang="en-US" sz="2000" b="1" dirty="0">
                <a:highlight>
                  <a:srgbClr val="FFFF00"/>
                </a:highlight>
                <a:latin typeface="微软雅黑" pitchFamily="34" charset="-122"/>
                <a:ea typeface="微软雅黑" pitchFamily="34" charset="-122"/>
              </a:rPr>
              <a:t>地址采用 </a:t>
            </a:r>
            <a:r>
              <a:rPr lang="en-US" altLang="zh-CN" sz="2000" b="1" dirty="0">
                <a:highlight>
                  <a:srgbClr val="FFFF00"/>
                </a:highlight>
                <a:latin typeface="微软雅黑" pitchFamily="34" charset="-122"/>
                <a:ea typeface="微软雅黑" pitchFamily="34" charset="-122"/>
              </a:rPr>
              <a:t>2 </a:t>
            </a:r>
            <a:r>
              <a:rPr lang="zh-CN" altLang="en-US" sz="2000" b="1" dirty="0">
                <a:highlight>
                  <a:srgbClr val="FFFF00"/>
                </a:highlight>
                <a:latin typeface="微软雅黑" pitchFamily="34" charset="-122"/>
                <a:ea typeface="微软雅黑" pitchFamily="34" charset="-122"/>
              </a:rPr>
              <a:t>级结构</a:t>
            </a:r>
          </a:p>
        </p:txBody>
      </p:sp>
      <p:grpSp>
        <p:nvGrpSpPr>
          <p:cNvPr id="27" name="组合 26"/>
          <p:cNvGrpSpPr/>
          <p:nvPr/>
        </p:nvGrpSpPr>
        <p:grpSpPr>
          <a:xfrm>
            <a:off x="456332" y="1194536"/>
            <a:ext cx="7281562" cy="759182"/>
            <a:chOff x="456332" y="1194536"/>
            <a:chExt cx="7281562" cy="759182"/>
          </a:xfrm>
        </p:grpSpPr>
        <p:sp>
          <p:nvSpPr>
            <p:cNvPr id="9" name="Rectangle 2"/>
            <p:cNvSpPr>
              <a:spLocks noChangeArrowheads="1"/>
            </p:cNvSpPr>
            <p:nvPr/>
          </p:nvSpPr>
          <p:spPr bwMode="auto">
            <a:xfrm>
              <a:off x="3859181" y="1360702"/>
              <a:ext cx="3878713" cy="395038"/>
            </a:xfrm>
            <a:prstGeom prst="rect">
              <a:avLst/>
            </a:prstGeom>
            <a:solidFill>
              <a:srgbClr val="00CCFF"/>
            </a:solidFill>
            <a:ln w="19050">
              <a:solidFill>
                <a:srgbClr val="000000"/>
              </a:solidFill>
              <a:miter lim="800000"/>
              <a:headEnd/>
              <a:tailEnd/>
            </a:ln>
            <a:effectLst/>
          </p:spPr>
          <p:txBody>
            <a:bodyPr wrap="none" anchor="ctr"/>
            <a:lstStyle/>
            <a:p>
              <a:pPr marL="0" marR="0" lvl="0" indent="0" algn="ctr" defTabSz="914400" eaLnBrk="1" fontAlgn="auto" latinLnBrk="0" hangingPunct="1">
                <a:lnSpc>
                  <a:spcPct val="100000"/>
                </a:lnSpc>
                <a:spcBef>
                  <a:spcPct val="50000"/>
                </a:spcBef>
                <a:spcAft>
                  <a:spcPts val="0"/>
                </a:spcAft>
                <a:buClr>
                  <a:srgbClr val="3333CC"/>
                </a:buClr>
                <a:buSzPct val="60000"/>
                <a:buFont typeface="Wingdings" pitchFamily="2" charset="2"/>
                <a:buNone/>
                <a:tabLst/>
                <a:defRPr/>
              </a:pP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IP </a:t>
              </a:r>
              <a:r>
                <a:rPr kumimoji="0" lang="zh-CN" altLang="en-US" sz="1600" b="1" i="0" u="none" strike="noStrike" kern="0" cap="none" spc="0" normalizeH="0" baseline="0" noProof="0" dirty="0">
                  <a:ln>
                    <a:noFill/>
                  </a:ln>
                  <a:effectLst/>
                  <a:uLnTx/>
                  <a:uFillTx/>
                  <a:latin typeface="微软雅黑" pitchFamily="34" charset="-122"/>
                  <a:ea typeface="微软雅黑" pitchFamily="34" charset="-122"/>
                </a:rPr>
                <a:t>地址 </a:t>
              </a: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 { &lt;</a:t>
              </a:r>
              <a:r>
                <a:rPr kumimoji="0" lang="zh-CN" altLang="en-US" sz="1600" b="1" i="0" u="none" strike="noStrike" kern="0" cap="none" spc="0" normalizeH="0" baseline="0" noProof="0" dirty="0">
                  <a:ln>
                    <a:noFill/>
                  </a:ln>
                  <a:effectLst/>
                  <a:uLnTx/>
                  <a:uFillTx/>
                  <a:latin typeface="微软雅黑" pitchFamily="34" charset="-122"/>
                  <a:ea typeface="微软雅黑" pitchFamily="34" charset="-122"/>
                </a:rPr>
                <a:t>网络号</a:t>
              </a: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&gt;, &lt;</a:t>
              </a:r>
              <a:r>
                <a:rPr kumimoji="0" lang="zh-CN" altLang="en-US" sz="1600" b="1" i="0" u="none" strike="noStrike" kern="0" cap="none" spc="0" normalizeH="0" baseline="0" noProof="0" dirty="0">
                  <a:ln>
                    <a:noFill/>
                  </a:ln>
                  <a:effectLst/>
                  <a:uLnTx/>
                  <a:uFillTx/>
                  <a:latin typeface="微软雅黑" pitchFamily="34" charset="-122"/>
                  <a:ea typeface="微软雅黑" pitchFamily="34" charset="-122"/>
                </a:rPr>
                <a:t>主机号</a:t>
              </a: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&gt;} </a:t>
              </a:r>
            </a:p>
          </p:txBody>
        </p:sp>
        <p:sp>
          <p:nvSpPr>
            <p:cNvPr id="2" name="矩形 1"/>
            <p:cNvSpPr/>
            <p:nvPr/>
          </p:nvSpPr>
          <p:spPr>
            <a:xfrm>
              <a:off x="456332" y="1194536"/>
              <a:ext cx="3241592" cy="759182"/>
            </a:xfrm>
            <a:prstGeom prst="rect">
              <a:avLst/>
            </a:prstGeom>
          </p:spPr>
          <p:txBody>
            <a:bodyPr wrap="none">
              <a:spAutoFit/>
            </a:bodyPr>
            <a:lstStyle/>
            <a:p>
              <a:pPr algn="r">
                <a:lnSpc>
                  <a:spcPts val="2600"/>
                </a:lnSpc>
              </a:pPr>
              <a:r>
                <a:rPr lang="en-US" altLang="zh-CN" sz="2000" b="1" dirty="0">
                  <a:latin typeface="微软雅黑" panose="020B0503020204020204" pitchFamily="34" charset="-122"/>
                  <a:ea typeface="微软雅黑" panose="020B0503020204020204" pitchFamily="34" charset="-122"/>
                </a:rPr>
                <a:t>2 </a:t>
              </a:r>
              <a:r>
                <a:rPr lang="zh-CN" altLang="en-US" sz="2000" b="1" dirty="0">
                  <a:latin typeface="微软雅黑" panose="020B0503020204020204" pitchFamily="34" charset="-122"/>
                  <a:ea typeface="微软雅黑" panose="020B0503020204020204" pitchFamily="34" charset="-122"/>
                </a:rPr>
                <a:t>级结构</a:t>
              </a:r>
              <a:endParaRPr lang="en-US" altLang="zh-CN" sz="2000" b="1" dirty="0">
                <a:latin typeface="微软雅黑" panose="020B0503020204020204" pitchFamily="34" charset="-122"/>
                <a:ea typeface="微软雅黑" panose="020B0503020204020204" pitchFamily="34" charset="-122"/>
              </a:endParaRPr>
            </a:p>
            <a:p>
              <a:pPr algn="r">
                <a:lnSpc>
                  <a:spcPts val="2600"/>
                </a:lnSpc>
              </a:pPr>
              <a:r>
                <a:rPr lang="en-US" altLang="zh-CN" sz="2000" b="1" dirty="0">
                  <a:latin typeface="微软雅黑" panose="020B0503020204020204" pitchFamily="34" charset="-122"/>
                  <a:ea typeface="微软雅黑" panose="020B0503020204020204" pitchFamily="34" charset="-122"/>
                </a:rPr>
                <a:t>2 </a:t>
              </a:r>
              <a:r>
                <a:rPr lang="zh-CN" altLang="en-US" sz="2000" b="1" dirty="0">
                  <a:latin typeface="微软雅黑" panose="020B0503020204020204" pitchFamily="34" charset="-122"/>
                  <a:ea typeface="微软雅黑" panose="020B0503020204020204" pitchFamily="34" charset="-122"/>
                </a:rPr>
                <a:t>个字段：</a:t>
              </a:r>
              <a:r>
                <a:rPr lang="zh-CN" altLang="en-US" sz="2000" b="1" dirty="0">
                  <a:solidFill>
                    <a:srgbClr val="0000FF"/>
                  </a:solidFill>
                  <a:latin typeface="微软雅黑" panose="020B0503020204020204" pitchFamily="34" charset="-122"/>
                  <a:ea typeface="微软雅黑" panose="020B0503020204020204" pitchFamily="34" charset="-122"/>
                </a:rPr>
                <a:t>网络号</a:t>
              </a:r>
              <a:r>
                <a:rPr lang="zh-CN" altLang="en-US" sz="2000" b="1" dirty="0">
                  <a:latin typeface="微软雅黑" panose="020B0503020204020204" pitchFamily="34" charset="-122"/>
                  <a:ea typeface="微软雅黑" panose="020B0503020204020204" pitchFamily="34" charset="-122"/>
                </a:rPr>
                <a:t>和</a:t>
              </a:r>
              <a:r>
                <a:rPr lang="zh-CN" altLang="en-US" sz="2000" b="1" dirty="0">
                  <a:solidFill>
                    <a:srgbClr val="0000FF"/>
                  </a:solidFill>
                  <a:latin typeface="微软雅黑" panose="020B0503020204020204" pitchFamily="34" charset="-122"/>
                  <a:ea typeface="微软雅黑" panose="020B0503020204020204" pitchFamily="34" charset="-122"/>
                </a:rPr>
                <a:t>主机号</a:t>
              </a:r>
              <a:endParaRPr lang="zh-CN" altLang="en-US" sz="2000" b="1" dirty="0">
                <a:latin typeface="微软雅黑" panose="020B0503020204020204" pitchFamily="34" charset="-122"/>
                <a:ea typeface="微软雅黑" panose="020B0503020204020204" pitchFamily="34" charset="-122"/>
              </a:endParaRPr>
            </a:p>
          </p:txBody>
        </p:sp>
      </p:grpSp>
      <p:grpSp>
        <p:nvGrpSpPr>
          <p:cNvPr id="28" name="组合 27"/>
          <p:cNvGrpSpPr/>
          <p:nvPr/>
        </p:nvGrpSpPr>
        <p:grpSpPr>
          <a:xfrm>
            <a:off x="601975" y="2961288"/>
            <a:ext cx="7135919" cy="1291692"/>
            <a:chOff x="601975" y="2854700"/>
            <a:chExt cx="7135919" cy="1014478"/>
          </a:xfrm>
        </p:grpSpPr>
        <p:sp>
          <p:nvSpPr>
            <p:cNvPr id="3" name="矩形 2"/>
            <p:cNvSpPr/>
            <p:nvPr/>
          </p:nvSpPr>
          <p:spPr>
            <a:xfrm>
              <a:off x="601975" y="3230391"/>
              <a:ext cx="3168738" cy="314241"/>
            </a:xfrm>
            <a:prstGeom prst="rect">
              <a:avLst/>
            </a:prstGeom>
          </p:spPr>
          <p:txBody>
            <a:bodyPr wrap="square">
              <a:spAutoFit/>
            </a:bodyPr>
            <a:lstStyle/>
            <a:p>
              <a:pPr algn="r"/>
              <a:r>
                <a:rPr lang="zh-CN" altLang="en-US" sz="2000" b="1" dirty="0">
                  <a:solidFill>
                    <a:srgbClr val="C00000"/>
                  </a:solidFill>
                  <a:latin typeface="微软雅黑" panose="020B0503020204020204" pitchFamily="34" charset="-122"/>
                  <a:ea typeface="微软雅黑" panose="020B0503020204020204" pitchFamily="34" charset="-122"/>
                </a:rPr>
                <a:t>网络号的位数 </a:t>
              </a:r>
              <a:r>
                <a:rPr lang="en-US" altLang="zh-CN" sz="2000" b="1" i="1" dirty="0">
                  <a:solidFill>
                    <a:srgbClr val="C00000"/>
                  </a:solidFill>
                  <a:latin typeface="Times New Roman" panose="02020603050405020304" pitchFamily="18" charset="0"/>
                  <a:ea typeface="微软雅黑" panose="020B0503020204020204" pitchFamily="34" charset="-122"/>
                  <a:cs typeface="Times New Roman" panose="02020603050405020304" pitchFamily="18" charset="0"/>
                </a:rPr>
                <a:t>n</a:t>
              </a:r>
              <a:r>
                <a:rPr lang="en-US" altLang="zh-CN" sz="2000" b="1" dirty="0">
                  <a:solidFill>
                    <a:srgbClr val="C00000"/>
                  </a:solidFill>
                  <a:latin typeface="微软雅黑" panose="020B0503020204020204" pitchFamily="34" charset="-122"/>
                  <a:ea typeface="微软雅黑" panose="020B0503020204020204" pitchFamily="34" charset="-122"/>
                </a:rPr>
                <a:t> </a:t>
              </a:r>
              <a:r>
                <a:rPr lang="zh-CN" altLang="en-US" sz="2000" b="1" dirty="0">
                  <a:solidFill>
                    <a:srgbClr val="C00000"/>
                  </a:solidFill>
                  <a:latin typeface="微软雅黑" panose="020B0503020204020204" pitchFamily="34" charset="-122"/>
                  <a:ea typeface="微软雅黑" panose="020B0503020204020204" pitchFamily="34" charset="-122"/>
                </a:rPr>
                <a:t>是多少？</a:t>
              </a:r>
            </a:p>
          </p:txBody>
        </p:sp>
        <p:grpSp>
          <p:nvGrpSpPr>
            <p:cNvPr id="4" name="组合 3"/>
            <p:cNvGrpSpPr/>
            <p:nvPr/>
          </p:nvGrpSpPr>
          <p:grpSpPr>
            <a:xfrm>
              <a:off x="3852346" y="2854700"/>
              <a:ext cx="3885548" cy="1014478"/>
              <a:chOff x="3852346" y="2085048"/>
              <a:chExt cx="3885548" cy="1014478"/>
            </a:xfrm>
          </p:grpSpPr>
          <p:sp>
            <p:nvSpPr>
              <p:cNvPr id="12" name="Line 10"/>
              <p:cNvSpPr>
                <a:spLocks noChangeShapeType="1"/>
              </p:cNvSpPr>
              <p:nvPr/>
            </p:nvSpPr>
            <p:spPr bwMode="auto">
              <a:xfrm>
                <a:off x="3852346" y="2085048"/>
                <a:ext cx="0" cy="340789"/>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13" name="Line 11"/>
              <p:cNvSpPr>
                <a:spLocks noChangeShapeType="1"/>
              </p:cNvSpPr>
              <p:nvPr/>
            </p:nvSpPr>
            <p:spPr bwMode="auto">
              <a:xfrm>
                <a:off x="7737894" y="2085048"/>
                <a:ext cx="0" cy="356611"/>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14" name="Line 12"/>
              <p:cNvSpPr>
                <a:spLocks noChangeShapeType="1"/>
              </p:cNvSpPr>
              <p:nvPr/>
            </p:nvSpPr>
            <p:spPr bwMode="auto">
              <a:xfrm>
                <a:off x="3880824" y="2230389"/>
                <a:ext cx="3837705" cy="0"/>
              </a:xfrm>
              <a:prstGeom prst="line">
                <a:avLst/>
              </a:prstGeom>
              <a:noFill/>
              <a:ln w="19050">
                <a:solidFill>
                  <a:srgbClr val="00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15" name="Text Box 13"/>
              <p:cNvSpPr txBox="1">
                <a:spLocks noChangeArrowheads="1"/>
              </p:cNvSpPr>
              <p:nvPr/>
            </p:nvSpPr>
            <p:spPr bwMode="auto">
              <a:xfrm>
                <a:off x="5415223" y="2085048"/>
                <a:ext cx="744037" cy="265896"/>
              </a:xfrm>
              <a:prstGeom prst="rect">
                <a:avLst/>
              </a:prstGeom>
              <a:solidFill>
                <a:srgbClr val="FFFFFF"/>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altLang="zh-CN" sz="1600" b="1" i="0" u="none" strike="noStrike" kern="0" cap="none" spc="0" normalizeH="0" baseline="0" noProof="0" dirty="0">
                    <a:ln>
                      <a:noFill/>
                    </a:ln>
                    <a:solidFill>
                      <a:srgbClr val="0000FF"/>
                    </a:solidFill>
                    <a:effectLst/>
                    <a:uLnTx/>
                    <a:uFillTx/>
                    <a:latin typeface="微软雅黑" pitchFamily="34" charset="-122"/>
                    <a:ea typeface="微软雅黑" pitchFamily="34" charset="-122"/>
                  </a:rPr>
                  <a:t>32 </a:t>
                </a:r>
                <a:r>
                  <a:rPr kumimoji="0" lang="zh-CN" altLang="en-US" sz="1600" b="1" i="0" u="none" strike="noStrike" kern="0" cap="none" spc="0" normalizeH="0" baseline="0" noProof="0" dirty="0">
                    <a:ln>
                      <a:noFill/>
                    </a:ln>
                    <a:solidFill>
                      <a:srgbClr val="0000FF"/>
                    </a:solidFill>
                    <a:effectLst/>
                    <a:uLnTx/>
                    <a:uFillTx/>
                    <a:latin typeface="微软雅黑" pitchFamily="34" charset="-122"/>
                    <a:ea typeface="微软雅黑" pitchFamily="34" charset="-122"/>
                  </a:rPr>
                  <a:t>位</a:t>
                </a:r>
              </a:p>
            </p:txBody>
          </p:sp>
          <p:grpSp>
            <p:nvGrpSpPr>
              <p:cNvPr id="16" name="Group 7"/>
              <p:cNvGrpSpPr>
                <a:grpSpLocks/>
              </p:cNvGrpSpPr>
              <p:nvPr/>
            </p:nvGrpSpPr>
            <p:grpSpPr bwMode="auto">
              <a:xfrm>
                <a:off x="3859181" y="2414669"/>
                <a:ext cx="3877574" cy="368560"/>
                <a:chOff x="1205" y="3011"/>
                <a:chExt cx="3072" cy="437"/>
              </a:xfrm>
            </p:grpSpPr>
            <p:sp>
              <p:nvSpPr>
                <p:cNvPr id="17" name="Rectangle 8"/>
                <p:cNvSpPr>
                  <a:spLocks noChangeArrowheads="1"/>
                </p:cNvSpPr>
                <p:nvPr/>
              </p:nvSpPr>
              <p:spPr bwMode="auto">
                <a:xfrm>
                  <a:off x="1205" y="3011"/>
                  <a:ext cx="1536" cy="436"/>
                </a:xfrm>
                <a:prstGeom prst="rect">
                  <a:avLst/>
                </a:prstGeom>
                <a:solidFill>
                  <a:srgbClr val="00FFFF"/>
                </a:solidFill>
                <a:ln w="19050" algn="ctr">
                  <a:solidFill>
                    <a:schemeClr val="tx1"/>
                  </a:solidFill>
                  <a:miter lim="800000"/>
                  <a:headEnd/>
                  <a:tailEnd/>
                </a:ln>
                <a:effec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tabLst/>
                    <a:defRPr/>
                  </a:pPr>
                  <a:r>
                    <a:rPr kumimoji="0" lang="zh-CN" altLang="en-US" sz="14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网络号</a:t>
                  </a:r>
                  <a:endParaRPr kumimoji="0" lang="en-US" altLang="zh-CN" sz="14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endParaRPr>
                </a:p>
                <a:p>
                  <a:pPr marL="0" marR="0" lvl="0" indent="0" algn="ctr" defTabSz="914400" eaLnBrk="0" fontAlgn="auto" latinLnBrk="0" hangingPunct="0">
                    <a:lnSpc>
                      <a:spcPct val="100000"/>
                    </a:lnSpc>
                    <a:spcBef>
                      <a:spcPts val="0"/>
                    </a:spcBef>
                    <a:spcAft>
                      <a:spcPts val="0"/>
                    </a:spcAft>
                    <a:buClrTx/>
                    <a:buSzTx/>
                    <a:buFontTx/>
                    <a:buNone/>
                    <a:tabLst/>
                    <a:defRPr/>
                  </a:pPr>
                  <a:r>
                    <a:rPr lang="en-US" altLang="zh-CN" sz="1400" b="1" kern="0" noProof="0" dirty="0">
                      <a:solidFill>
                        <a:sysClr val="windowText" lastClr="000000"/>
                      </a:solidFill>
                      <a:latin typeface="微软雅黑" pitchFamily="34" charset="-122"/>
                      <a:ea typeface="微软雅黑" pitchFamily="34" charset="-122"/>
                    </a:rPr>
                    <a:t>( net-id)</a:t>
                  </a:r>
                  <a:endParaRPr kumimoji="0" lang="en-US" altLang="zh-CN" sz="14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endParaRPr>
                </a:p>
              </p:txBody>
            </p:sp>
            <p:sp>
              <p:nvSpPr>
                <p:cNvPr id="18" name="Rectangle 9"/>
                <p:cNvSpPr>
                  <a:spLocks noChangeArrowheads="1"/>
                </p:cNvSpPr>
                <p:nvPr/>
              </p:nvSpPr>
              <p:spPr bwMode="auto">
                <a:xfrm>
                  <a:off x="2741" y="3012"/>
                  <a:ext cx="1536" cy="436"/>
                </a:xfrm>
                <a:prstGeom prst="rect">
                  <a:avLst/>
                </a:prstGeom>
                <a:solidFill>
                  <a:srgbClr val="0000FF"/>
                </a:solidFill>
                <a:ln w="19050" algn="ctr">
                  <a:solidFill>
                    <a:schemeClr val="tx1"/>
                  </a:solidFill>
                  <a:miter lim="800000"/>
                  <a:headEnd/>
                  <a:tailEnd/>
                </a:ln>
                <a:effec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tabLst/>
                    <a:defRPr/>
                  </a:pPr>
                  <a:r>
                    <a:rPr kumimoji="0" lang="zh-CN" altLang="en-US" sz="14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主机号</a:t>
                  </a:r>
                  <a:endParaRPr kumimoji="0" lang="en-US" altLang="zh-CN" sz="1400" b="1" i="0" u="none" strike="noStrike" kern="0" cap="none" spc="0" normalizeH="0" baseline="0" noProof="0" dirty="0">
                    <a:ln>
                      <a:noFill/>
                    </a:ln>
                    <a:solidFill>
                      <a:schemeClr val="bg1"/>
                    </a:solidFill>
                    <a:effectLst/>
                    <a:uLnTx/>
                    <a:uFillTx/>
                    <a:latin typeface="微软雅黑" pitchFamily="34" charset="-122"/>
                    <a:ea typeface="微软雅黑" pitchFamily="34" charset="-122"/>
                  </a:endParaRPr>
                </a:p>
                <a:p>
                  <a:pPr marL="0" marR="0" lvl="0" indent="0" algn="ctr" defTabSz="914400" eaLnBrk="0" fontAlgn="auto" latinLnBrk="0" hangingPunct="0">
                    <a:lnSpc>
                      <a:spcPct val="100000"/>
                    </a:lnSpc>
                    <a:spcBef>
                      <a:spcPts val="0"/>
                    </a:spcBef>
                    <a:spcAft>
                      <a:spcPts val="0"/>
                    </a:spcAft>
                    <a:buClrTx/>
                    <a:buSzTx/>
                    <a:buFontTx/>
                    <a:buNone/>
                    <a:tabLst/>
                    <a:defRPr/>
                  </a:pPr>
                  <a:r>
                    <a:rPr lang="en-US" altLang="zh-CN" sz="1400" b="1" kern="0" dirty="0">
                      <a:solidFill>
                        <a:schemeClr val="bg1"/>
                      </a:solidFill>
                      <a:latin typeface="微软雅黑" pitchFamily="34" charset="-122"/>
                      <a:ea typeface="微软雅黑" pitchFamily="34" charset="-122"/>
                    </a:rPr>
                    <a:t>(host-id)</a:t>
                  </a:r>
                  <a:endParaRPr kumimoji="0" lang="en-US" altLang="zh-CN" sz="1400" b="1" i="0" u="none" strike="noStrike" kern="0" cap="none" spc="0" normalizeH="0" baseline="0" noProof="0" dirty="0">
                    <a:ln>
                      <a:noFill/>
                    </a:ln>
                    <a:solidFill>
                      <a:schemeClr val="bg1"/>
                    </a:solidFill>
                    <a:effectLst/>
                    <a:uLnTx/>
                    <a:uFillTx/>
                    <a:latin typeface="微软雅黑" pitchFamily="34" charset="-122"/>
                    <a:ea typeface="微软雅黑" pitchFamily="34" charset="-122"/>
                  </a:endParaRPr>
                </a:p>
              </p:txBody>
            </p:sp>
          </p:grpSp>
          <p:sp>
            <p:nvSpPr>
              <p:cNvPr id="19" name="Line 10"/>
              <p:cNvSpPr>
                <a:spLocks noChangeShapeType="1"/>
              </p:cNvSpPr>
              <p:nvPr/>
            </p:nvSpPr>
            <p:spPr bwMode="auto">
              <a:xfrm>
                <a:off x="3852346" y="2738467"/>
                <a:ext cx="0" cy="358769"/>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effectLst/>
                  <a:uLnTx/>
                  <a:uFillTx/>
                  <a:latin typeface="微软雅黑" pitchFamily="34" charset="-122"/>
                  <a:ea typeface="微软雅黑" pitchFamily="34" charset="-122"/>
                </a:endParaRPr>
              </a:p>
            </p:txBody>
          </p:sp>
          <p:sp>
            <p:nvSpPr>
              <p:cNvPr id="20" name="Line 11"/>
              <p:cNvSpPr>
                <a:spLocks noChangeShapeType="1"/>
              </p:cNvSpPr>
              <p:nvPr/>
            </p:nvSpPr>
            <p:spPr bwMode="auto">
              <a:xfrm>
                <a:off x="7737894" y="2754289"/>
                <a:ext cx="0" cy="34294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effectLst/>
                  <a:uLnTx/>
                  <a:uFillTx/>
                  <a:latin typeface="微软雅黑" pitchFamily="34" charset="-122"/>
                  <a:ea typeface="微软雅黑" pitchFamily="34" charset="-122"/>
                </a:endParaRPr>
              </a:p>
            </p:txBody>
          </p:sp>
          <p:sp>
            <p:nvSpPr>
              <p:cNvPr id="21" name="Line 12"/>
              <p:cNvSpPr>
                <a:spLocks noChangeShapeType="1"/>
              </p:cNvSpPr>
              <p:nvPr/>
            </p:nvSpPr>
            <p:spPr bwMode="auto">
              <a:xfrm>
                <a:off x="3880825" y="2989758"/>
                <a:ext cx="1917144" cy="0"/>
              </a:xfrm>
              <a:prstGeom prst="line">
                <a:avLst/>
              </a:prstGeom>
              <a:noFill/>
              <a:ln w="1905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effectLst/>
                  <a:uLnTx/>
                  <a:uFillTx/>
                  <a:latin typeface="微软雅黑" pitchFamily="34" charset="-122"/>
                  <a:ea typeface="微软雅黑" pitchFamily="34" charset="-122"/>
                </a:endParaRPr>
              </a:p>
            </p:txBody>
          </p:sp>
          <p:sp>
            <p:nvSpPr>
              <p:cNvPr id="22" name="Text Box 13"/>
              <p:cNvSpPr txBox="1">
                <a:spLocks noChangeArrowheads="1"/>
              </p:cNvSpPr>
              <p:nvPr/>
            </p:nvSpPr>
            <p:spPr bwMode="auto">
              <a:xfrm>
                <a:off x="4552574" y="2831340"/>
                <a:ext cx="623275" cy="265896"/>
              </a:xfrm>
              <a:prstGeom prst="rect">
                <a:avLst/>
              </a:prstGeom>
              <a:solidFill>
                <a:srgbClr val="FFFFFF"/>
              </a:solidFill>
              <a:ln w="9525" algn="ctr">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altLang="zh-CN" sz="1600" b="1" i="1" u="none" strike="noStrike" kern="0" cap="none" spc="0" normalizeH="0" baseline="0" noProof="0" dirty="0">
                    <a:ln>
                      <a:noFill/>
                    </a:ln>
                    <a:solidFill>
                      <a:srgbClr val="C00000"/>
                    </a:solidFill>
                    <a:effectLst/>
                    <a:uLnTx/>
                    <a:uFillTx/>
                    <a:latin typeface="Times New Roman" panose="02020603050405020304" pitchFamily="18" charset="0"/>
                    <a:ea typeface="微软雅黑" pitchFamily="34" charset="-122"/>
                    <a:cs typeface="Times New Roman" panose="02020603050405020304" pitchFamily="18" charset="0"/>
                  </a:rPr>
                  <a:t>n</a:t>
                </a: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 </a:t>
                </a:r>
                <a:r>
                  <a:rPr kumimoji="0" lang="zh-CN" altLang="en-US" sz="1600" b="1" i="0" u="none" strike="noStrike" kern="0" cap="none" spc="0" normalizeH="0" baseline="0" noProof="0" dirty="0">
                    <a:ln>
                      <a:noFill/>
                    </a:ln>
                    <a:effectLst/>
                    <a:uLnTx/>
                    <a:uFillTx/>
                    <a:latin typeface="微软雅黑" pitchFamily="34" charset="-122"/>
                    <a:ea typeface="微软雅黑" pitchFamily="34" charset="-122"/>
                  </a:rPr>
                  <a:t>位</a:t>
                </a:r>
              </a:p>
            </p:txBody>
          </p:sp>
          <p:sp>
            <p:nvSpPr>
              <p:cNvPr id="23" name="Line 11"/>
              <p:cNvSpPr>
                <a:spLocks noChangeShapeType="1"/>
              </p:cNvSpPr>
              <p:nvPr/>
            </p:nvSpPr>
            <p:spPr bwMode="auto">
              <a:xfrm>
                <a:off x="5797968" y="2754289"/>
                <a:ext cx="0" cy="34294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effectLst/>
                  <a:uLnTx/>
                  <a:uFillTx/>
                  <a:latin typeface="微软雅黑" pitchFamily="34" charset="-122"/>
                  <a:ea typeface="微软雅黑" pitchFamily="34" charset="-122"/>
                </a:endParaRPr>
              </a:p>
            </p:txBody>
          </p:sp>
          <p:sp>
            <p:nvSpPr>
              <p:cNvPr id="24" name="Line 12"/>
              <p:cNvSpPr>
                <a:spLocks noChangeShapeType="1"/>
              </p:cNvSpPr>
              <p:nvPr/>
            </p:nvSpPr>
            <p:spPr bwMode="auto">
              <a:xfrm>
                <a:off x="5817821" y="2989758"/>
                <a:ext cx="1917144" cy="0"/>
              </a:xfrm>
              <a:prstGeom prst="line">
                <a:avLst/>
              </a:prstGeom>
              <a:noFill/>
              <a:ln w="1905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effectLst/>
                  <a:uLnTx/>
                  <a:uFillTx/>
                  <a:latin typeface="微软雅黑" pitchFamily="34" charset="-122"/>
                  <a:ea typeface="微软雅黑" pitchFamily="34" charset="-122"/>
                </a:endParaRPr>
              </a:p>
            </p:txBody>
          </p:sp>
          <p:sp>
            <p:nvSpPr>
              <p:cNvPr id="25" name="Text Box 13"/>
              <p:cNvSpPr txBox="1">
                <a:spLocks noChangeArrowheads="1"/>
              </p:cNvSpPr>
              <p:nvPr/>
            </p:nvSpPr>
            <p:spPr bwMode="auto">
              <a:xfrm>
                <a:off x="6275944" y="2833630"/>
                <a:ext cx="1082388" cy="265896"/>
              </a:xfrm>
              <a:prstGeom prst="rect">
                <a:avLst/>
              </a:prstGeom>
              <a:solidFill>
                <a:srgbClr val="FFFFFF"/>
              </a:solidFill>
              <a:ln w="9525" algn="ctr">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lang="en-US" altLang="zh-CN" sz="1600" b="1" i="1" kern="0" dirty="0">
                    <a:latin typeface="Times New Roman" panose="02020603050405020304" pitchFamily="18" charset="0"/>
                    <a:ea typeface="微软雅黑" pitchFamily="34" charset="-122"/>
                    <a:cs typeface="Times New Roman" panose="02020603050405020304" pitchFamily="18" charset="0"/>
                  </a:rPr>
                  <a:t>(</a:t>
                </a:r>
                <a:r>
                  <a:rPr kumimoji="0" lang="en-US" altLang="zh-CN" sz="1600" b="1" i="1" u="none" strike="noStrike" kern="0" cap="none" spc="0" normalizeH="0" baseline="0" noProof="0" dirty="0">
                    <a:ln>
                      <a:noFill/>
                    </a:ln>
                    <a:effectLst/>
                    <a:uLnTx/>
                    <a:uFillTx/>
                    <a:latin typeface="Times New Roman" panose="02020603050405020304" pitchFamily="18" charset="0"/>
                    <a:ea typeface="微软雅黑" pitchFamily="34" charset="-122"/>
                    <a:cs typeface="Times New Roman" panose="02020603050405020304" pitchFamily="18" charset="0"/>
                  </a:rPr>
                  <a:t>32-n) </a:t>
                </a:r>
                <a:r>
                  <a:rPr kumimoji="0" lang="zh-CN" altLang="en-US" sz="1600" b="1" i="0" u="none" strike="noStrike" kern="0" cap="none" spc="0" normalizeH="0" baseline="0" noProof="0" dirty="0">
                    <a:ln>
                      <a:noFill/>
                    </a:ln>
                    <a:effectLst/>
                    <a:uLnTx/>
                    <a:uFillTx/>
                    <a:latin typeface="微软雅黑" pitchFamily="34" charset="-122"/>
                    <a:ea typeface="微软雅黑" pitchFamily="34" charset="-122"/>
                  </a:rPr>
                  <a:t>位</a:t>
                </a:r>
              </a:p>
            </p:txBody>
          </p:sp>
        </p:grpSp>
      </p:grpSp>
      <p:sp>
        <p:nvSpPr>
          <p:cNvPr id="26" name="矩形 25"/>
          <p:cNvSpPr/>
          <p:nvPr/>
        </p:nvSpPr>
        <p:spPr>
          <a:xfrm>
            <a:off x="3184164" y="1990377"/>
            <a:ext cx="5227607" cy="759182"/>
          </a:xfrm>
          <a:prstGeom prst="rect">
            <a:avLst/>
          </a:prstGeom>
          <a:solidFill>
            <a:srgbClr val="FFC000"/>
          </a:solidFill>
          <a:ln>
            <a:noFill/>
          </a:ln>
        </p:spPr>
        <p:style>
          <a:lnRef idx="2">
            <a:schemeClr val="accent2"/>
          </a:lnRef>
          <a:fillRef idx="1">
            <a:schemeClr val="lt1"/>
          </a:fillRef>
          <a:effectRef idx="0">
            <a:schemeClr val="accent2"/>
          </a:effectRef>
          <a:fontRef idx="minor">
            <a:schemeClr val="dk1"/>
          </a:fontRef>
        </p:style>
        <p:txBody>
          <a:bodyPr wrap="square">
            <a:spAutoFit/>
          </a:bodyPr>
          <a:lstStyle/>
          <a:p>
            <a:pPr algn="ctr">
              <a:lnSpc>
                <a:spcPts val="2600"/>
              </a:lnSpc>
            </a:pPr>
            <a:r>
              <a:rPr lang="en-US" altLang="zh-CN" b="1" dirty="0">
                <a:latin typeface="微软雅黑" panose="020B0503020204020204" pitchFamily="34" charset="-122"/>
                <a:ea typeface="微软雅黑" panose="020B0503020204020204" pitchFamily="34" charset="-122"/>
              </a:rPr>
              <a:t>IP</a:t>
            </a:r>
            <a:r>
              <a:rPr lang="zh-CN" altLang="en-US" b="1" dirty="0">
                <a:latin typeface="微软雅黑" panose="020B0503020204020204" pitchFamily="34" charset="-122"/>
                <a:ea typeface="微软雅黑" panose="020B0503020204020204" pitchFamily="34" charset="-122"/>
              </a:rPr>
              <a:t>地址在整个互联网范围内是</a:t>
            </a:r>
            <a:r>
              <a:rPr lang="zh-CN" altLang="en-US" b="1" dirty="0">
                <a:solidFill>
                  <a:srgbClr val="C00000"/>
                </a:solidFill>
                <a:latin typeface="微软雅黑" panose="020B0503020204020204" pitchFamily="34" charset="-122"/>
                <a:ea typeface="微软雅黑" panose="020B0503020204020204" pitchFamily="34" charset="-122"/>
              </a:rPr>
              <a:t>唯一</a:t>
            </a:r>
            <a:r>
              <a:rPr lang="zh-CN" altLang="en-US" b="1" dirty="0">
                <a:latin typeface="微软雅黑" panose="020B0503020204020204" pitchFamily="34" charset="-122"/>
                <a:ea typeface="微软雅黑" panose="020B0503020204020204" pitchFamily="34" charset="-122"/>
              </a:rPr>
              <a:t>的。</a:t>
            </a:r>
            <a:endParaRPr lang="en-US" altLang="zh-CN" b="1" dirty="0">
              <a:latin typeface="微软雅黑" panose="020B0503020204020204" pitchFamily="34" charset="-122"/>
              <a:ea typeface="微软雅黑" panose="020B0503020204020204" pitchFamily="34" charset="-122"/>
            </a:endParaRPr>
          </a:p>
          <a:p>
            <a:pPr algn="ctr">
              <a:lnSpc>
                <a:spcPts val="2600"/>
              </a:lnSpc>
            </a:pPr>
            <a:r>
              <a:rPr lang="en-US" altLang="zh-CN" b="1" dirty="0">
                <a:latin typeface="微软雅黑" panose="020B0503020204020204" pitchFamily="34" charset="-122"/>
                <a:ea typeface="微软雅黑" panose="020B0503020204020204" pitchFamily="34" charset="-122"/>
              </a:rPr>
              <a:t>IP </a:t>
            </a:r>
            <a:r>
              <a:rPr lang="zh-CN" altLang="en-US" b="1" dirty="0">
                <a:latin typeface="微软雅黑" panose="020B0503020204020204" pitchFamily="34" charset="-122"/>
                <a:ea typeface="微软雅黑" panose="020B0503020204020204" pitchFamily="34" charset="-122"/>
              </a:rPr>
              <a:t>地址指明了连接到某个网络上的一个主机</a:t>
            </a:r>
          </a:p>
        </p:txBody>
      </p:sp>
    </p:spTree>
    <p:extLst>
      <p:ext uri="{BB962C8B-B14F-4D97-AF65-F5344CB8AC3E}">
        <p14:creationId xmlns:p14="http://schemas.microsoft.com/office/powerpoint/2010/main" val="179899488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26"/>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nodeType="clickEffect">
                                  <p:stCondLst>
                                    <p:cond delay="0"/>
                                  </p:stCondLst>
                                  <p:childTnLst>
                                    <p:set>
                                      <p:cBhvr>
                                        <p:cTn id="10" dur="1" fill="hold">
                                          <p:stCondLst>
                                            <p:cond delay="0"/>
                                          </p:stCondLst>
                                        </p:cTn>
                                        <p:tgtEl>
                                          <p:spTgt spid="28"/>
                                        </p:tgtEl>
                                        <p:attrNameLst>
                                          <p:attrName>style.visibility</p:attrName>
                                        </p:attrNameLst>
                                      </p:cBhvr>
                                      <p:to>
                                        <p:strVal val="visible"/>
                                      </p:to>
                                    </p:set>
                                    <p:animEffect transition="in" filter="fade">
                                      <p:cBhvr>
                                        <p:cTn id="11" dur="10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3488747" y="581433"/>
            <a:ext cx="21852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highlight>
                  <a:srgbClr val="FFFF00"/>
                </a:highlight>
                <a:latin typeface="微软雅黑" pitchFamily="34" charset="-122"/>
                <a:ea typeface="微软雅黑" pitchFamily="34" charset="-122"/>
              </a:rPr>
              <a:t>分类的 </a:t>
            </a:r>
            <a:r>
              <a:rPr lang="en-US" altLang="zh-CN" sz="2000" b="1" dirty="0">
                <a:highlight>
                  <a:srgbClr val="FFFF00"/>
                </a:highlight>
                <a:latin typeface="微软雅黑" pitchFamily="34" charset="-122"/>
                <a:ea typeface="微软雅黑" pitchFamily="34" charset="-122"/>
              </a:rPr>
              <a:t>IP </a:t>
            </a:r>
            <a:r>
              <a:rPr lang="zh-CN" altLang="en-US" sz="2000" b="1" dirty="0">
                <a:highlight>
                  <a:srgbClr val="FFFF00"/>
                </a:highlight>
                <a:latin typeface="微软雅黑" pitchFamily="34" charset="-122"/>
                <a:ea typeface="微软雅黑" pitchFamily="34" charset="-122"/>
              </a:rPr>
              <a:t>地址</a:t>
            </a:r>
          </a:p>
        </p:txBody>
      </p:sp>
      <p:sp>
        <p:nvSpPr>
          <p:cNvPr id="29" name="圆角矩形 28"/>
          <p:cNvSpPr/>
          <p:nvPr/>
        </p:nvSpPr>
        <p:spPr>
          <a:xfrm>
            <a:off x="545144" y="1033670"/>
            <a:ext cx="8053711" cy="3309912"/>
          </a:xfrm>
          <a:prstGeom prst="roundRect">
            <a:avLst/>
          </a:prstGeom>
          <a:solidFill>
            <a:srgbClr val="C3E3F9"/>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30" name="组合 29"/>
          <p:cNvGrpSpPr/>
          <p:nvPr/>
        </p:nvGrpSpPr>
        <p:grpSpPr>
          <a:xfrm>
            <a:off x="839262" y="1187780"/>
            <a:ext cx="5329079" cy="3009005"/>
            <a:chOff x="355160" y="927100"/>
            <a:chExt cx="9026611" cy="5096778"/>
          </a:xfrm>
        </p:grpSpPr>
        <p:sp>
          <p:nvSpPr>
            <p:cNvPr id="31" name="Line 2"/>
            <p:cNvSpPr>
              <a:spLocks noChangeShapeType="1"/>
            </p:cNvSpPr>
            <p:nvPr/>
          </p:nvSpPr>
          <p:spPr bwMode="auto">
            <a:xfrm flipV="1">
              <a:off x="1732138" y="4009478"/>
              <a:ext cx="574754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32" name="Rectangle 3"/>
            <p:cNvSpPr>
              <a:spLocks noChangeArrowheads="1"/>
            </p:cNvSpPr>
            <p:nvPr/>
          </p:nvSpPr>
          <p:spPr bwMode="auto">
            <a:xfrm>
              <a:off x="4144958" y="3791992"/>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24 </a:t>
              </a:r>
              <a:r>
                <a:rPr kumimoji="1" lang="zh-CN" altLang="en-US" sz="1050" b="1" dirty="0">
                  <a:solidFill>
                    <a:srgbClr val="C00000"/>
                  </a:solidFill>
                  <a:latin typeface="微软雅黑" pitchFamily="34" charset="-122"/>
                  <a:ea typeface="微软雅黑" pitchFamily="34" charset="-122"/>
                </a:rPr>
                <a:t>位</a:t>
              </a:r>
            </a:p>
          </p:txBody>
        </p:sp>
        <p:sp>
          <p:nvSpPr>
            <p:cNvPr id="33" name="Rectangle 4"/>
            <p:cNvSpPr>
              <a:spLocks noChangeArrowheads="1"/>
            </p:cNvSpPr>
            <p:nvPr/>
          </p:nvSpPr>
          <p:spPr bwMode="auto">
            <a:xfrm>
              <a:off x="1732137" y="3355428"/>
              <a:ext cx="7634155" cy="444500"/>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34" name="Line 5"/>
            <p:cNvSpPr>
              <a:spLocks noChangeShapeType="1"/>
            </p:cNvSpPr>
            <p:nvPr/>
          </p:nvSpPr>
          <p:spPr bwMode="auto">
            <a:xfrm>
              <a:off x="3601550" y="1577975"/>
              <a:ext cx="575270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35" name="Rectangle 6"/>
            <p:cNvSpPr>
              <a:spLocks noChangeArrowheads="1"/>
            </p:cNvSpPr>
            <p:nvPr/>
          </p:nvSpPr>
          <p:spPr bwMode="auto">
            <a:xfrm>
              <a:off x="5866875" y="1370014"/>
              <a:ext cx="1167551"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24 </a:t>
              </a:r>
              <a:r>
                <a:rPr kumimoji="1" lang="zh-CN" altLang="en-US" sz="1050" b="1" dirty="0">
                  <a:solidFill>
                    <a:srgbClr val="0000FF"/>
                  </a:solidFill>
                  <a:latin typeface="微软雅黑" pitchFamily="34" charset="-122"/>
                  <a:ea typeface="微软雅黑" pitchFamily="34" charset="-122"/>
                </a:rPr>
                <a:t>位</a:t>
              </a:r>
            </a:p>
          </p:txBody>
        </p:sp>
        <p:sp>
          <p:nvSpPr>
            <p:cNvPr id="36" name="Line 7"/>
            <p:cNvSpPr>
              <a:spLocks noChangeShapeType="1"/>
            </p:cNvSpPr>
            <p:nvPr/>
          </p:nvSpPr>
          <p:spPr bwMode="auto">
            <a:xfrm flipV="1">
              <a:off x="1775131" y="2790849"/>
              <a:ext cx="3764625"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37" name="Rectangle 8"/>
            <p:cNvSpPr>
              <a:spLocks noChangeArrowheads="1"/>
            </p:cNvSpPr>
            <p:nvPr/>
          </p:nvSpPr>
          <p:spPr bwMode="auto">
            <a:xfrm>
              <a:off x="3208855" y="2574181"/>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16 </a:t>
              </a:r>
              <a:r>
                <a:rPr kumimoji="1" lang="zh-CN" altLang="en-US" sz="1050" b="1" dirty="0">
                  <a:solidFill>
                    <a:srgbClr val="C00000"/>
                  </a:solidFill>
                  <a:latin typeface="微软雅黑" pitchFamily="34" charset="-122"/>
                  <a:ea typeface="微软雅黑" pitchFamily="34" charset="-122"/>
                </a:rPr>
                <a:t>位</a:t>
              </a:r>
            </a:p>
          </p:txBody>
        </p:sp>
        <p:sp>
          <p:nvSpPr>
            <p:cNvPr id="38" name="Line 9"/>
            <p:cNvSpPr>
              <a:spLocks noChangeShapeType="1"/>
            </p:cNvSpPr>
            <p:nvPr/>
          </p:nvSpPr>
          <p:spPr bwMode="auto">
            <a:xfrm>
              <a:off x="1690862" y="1577975"/>
              <a:ext cx="1910688"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39" name="Rectangle 10"/>
            <p:cNvSpPr>
              <a:spLocks noChangeArrowheads="1"/>
            </p:cNvSpPr>
            <p:nvPr/>
          </p:nvSpPr>
          <p:spPr bwMode="auto">
            <a:xfrm>
              <a:off x="2058942" y="1370014"/>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algn="ct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8 </a:t>
              </a:r>
              <a:r>
                <a:rPr kumimoji="1" lang="zh-CN" altLang="en-US" sz="1050" b="1" dirty="0">
                  <a:solidFill>
                    <a:srgbClr val="C00000"/>
                  </a:solidFill>
                  <a:latin typeface="微软雅黑" pitchFamily="34" charset="-122"/>
                  <a:ea typeface="微软雅黑" pitchFamily="34" charset="-122"/>
                </a:rPr>
                <a:t>位</a:t>
              </a:r>
            </a:p>
          </p:txBody>
        </p:sp>
        <p:sp>
          <p:nvSpPr>
            <p:cNvPr id="40" name="Rectangle 11"/>
            <p:cNvSpPr>
              <a:spLocks noChangeArrowheads="1"/>
            </p:cNvSpPr>
            <p:nvPr/>
          </p:nvSpPr>
          <p:spPr bwMode="auto">
            <a:xfrm>
              <a:off x="1694302" y="933451"/>
              <a:ext cx="7675430" cy="442913"/>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41" name="Rectangle 12"/>
            <p:cNvSpPr>
              <a:spLocks noChangeArrowheads="1"/>
            </p:cNvSpPr>
            <p:nvPr/>
          </p:nvSpPr>
          <p:spPr bwMode="auto">
            <a:xfrm>
              <a:off x="1716659" y="2140794"/>
              <a:ext cx="7659952" cy="446087"/>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42" name="Rectangle 14"/>
            <p:cNvSpPr>
              <a:spLocks noChangeArrowheads="1"/>
            </p:cNvSpPr>
            <p:nvPr/>
          </p:nvSpPr>
          <p:spPr bwMode="auto">
            <a:xfrm>
              <a:off x="1742456" y="3369716"/>
              <a:ext cx="5742384" cy="423862"/>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43" name="Rectangle 15"/>
            <p:cNvSpPr>
              <a:spLocks noChangeArrowheads="1"/>
            </p:cNvSpPr>
            <p:nvPr/>
          </p:nvSpPr>
          <p:spPr bwMode="auto">
            <a:xfrm>
              <a:off x="1740736" y="2151905"/>
              <a:ext cx="3804179" cy="423863"/>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44" name="Rectangle 16"/>
            <p:cNvSpPr>
              <a:spLocks noChangeArrowheads="1"/>
            </p:cNvSpPr>
            <p:nvPr/>
          </p:nvSpPr>
          <p:spPr bwMode="auto">
            <a:xfrm>
              <a:off x="1720099" y="957263"/>
              <a:ext cx="1874573" cy="406400"/>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45" name="Rectangle 17"/>
            <p:cNvSpPr>
              <a:spLocks noChangeArrowheads="1"/>
            </p:cNvSpPr>
            <p:nvPr/>
          </p:nvSpPr>
          <p:spPr bwMode="auto">
            <a:xfrm>
              <a:off x="1635829" y="92710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050" b="1" dirty="0">
                  <a:latin typeface="微软雅黑" pitchFamily="34" charset="-122"/>
                  <a:ea typeface="微软雅黑" pitchFamily="34" charset="-122"/>
                </a:rPr>
                <a:t>0</a:t>
              </a:r>
            </a:p>
          </p:txBody>
        </p:sp>
        <p:sp>
          <p:nvSpPr>
            <p:cNvPr id="46" name="Rectangle 18"/>
            <p:cNvSpPr>
              <a:spLocks noChangeArrowheads="1"/>
            </p:cNvSpPr>
            <p:nvPr/>
          </p:nvSpPr>
          <p:spPr bwMode="auto">
            <a:xfrm>
              <a:off x="366021" y="955675"/>
              <a:ext cx="136576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A </a:t>
              </a:r>
              <a:r>
                <a:rPr kumimoji="1" lang="zh-CN" altLang="en-US" sz="1200" b="1" dirty="0">
                  <a:latin typeface="微软雅黑" pitchFamily="34" charset="-122"/>
                  <a:ea typeface="微软雅黑" pitchFamily="34" charset="-122"/>
                </a:rPr>
                <a:t>类地址</a:t>
              </a:r>
            </a:p>
          </p:txBody>
        </p:sp>
        <p:sp>
          <p:nvSpPr>
            <p:cNvPr id="47" name="Line 19"/>
            <p:cNvSpPr>
              <a:spLocks noChangeShapeType="1"/>
            </p:cNvSpPr>
            <p:nvPr/>
          </p:nvSpPr>
          <p:spPr bwMode="auto">
            <a:xfrm>
              <a:off x="1971188" y="933451"/>
              <a:ext cx="0" cy="450849"/>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48" name="Line 20"/>
            <p:cNvSpPr>
              <a:spLocks noChangeShapeType="1"/>
            </p:cNvSpPr>
            <p:nvPr/>
          </p:nvSpPr>
          <p:spPr bwMode="auto">
            <a:xfrm>
              <a:off x="3601550"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49" name="Line 21"/>
            <p:cNvSpPr>
              <a:spLocks noChangeShapeType="1"/>
            </p:cNvSpPr>
            <p:nvPr/>
          </p:nvSpPr>
          <p:spPr bwMode="auto">
            <a:xfrm>
              <a:off x="1690862"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50" name="Line 22"/>
            <p:cNvSpPr>
              <a:spLocks noChangeShapeType="1"/>
            </p:cNvSpPr>
            <p:nvPr/>
          </p:nvSpPr>
          <p:spPr bwMode="auto">
            <a:xfrm>
              <a:off x="3601550"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1" name="Line 23"/>
            <p:cNvSpPr>
              <a:spLocks noChangeShapeType="1"/>
            </p:cNvSpPr>
            <p:nvPr/>
          </p:nvSpPr>
          <p:spPr bwMode="auto">
            <a:xfrm>
              <a:off x="9354254"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2" name="Line 24"/>
            <p:cNvSpPr>
              <a:spLocks noChangeShapeType="1"/>
            </p:cNvSpPr>
            <p:nvPr/>
          </p:nvSpPr>
          <p:spPr bwMode="auto">
            <a:xfrm>
              <a:off x="5553515" y="2784499"/>
              <a:ext cx="3786979" cy="635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3" name="Rectangle 25"/>
            <p:cNvSpPr>
              <a:spLocks noChangeArrowheads="1"/>
            </p:cNvSpPr>
            <p:nvPr/>
          </p:nvSpPr>
          <p:spPr bwMode="auto">
            <a:xfrm>
              <a:off x="6946995" y="2636149"/>
              <a:ext cx="1167551" cy="668165"/>
            </a:xfrm>
            <a:prstGeom prst="rect">
              <a:avLst/>
            </a:prstGeom>
            <a:solidFill>
              <a:srgbClr val="C3E3F9"/>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a:lnSpc>
                  <a:spcPct val="90000"/>
                </a:lnSpc>
              </a:pPr>
              <a:r>
                <a:rPr kumimoji="1" lang="en-US" altLang="zh-CN" sz="1050" b="1" dirty="0">
                  <a:solidFill>
                    <a:srgbClr val="0000FF"/>
                  </a:solidFill>
                  <a:latin typeface="微软雅黑" pitchFamily="34" charset="-122"/>
                  <a:ea typeface="微软雅黑" pitchFamily="34" charset="-122"/>
                </a:rPr>
                <a:t>16 </a:t>
              </a:r>
              <a:r>
                <a:rPr kumimoji="1" lang="zh-CN" altLang="en-US" sz="1050" b="1" dirty="0">
                  <a:solidFill>
                    <a:srgbClr val="0000FF"/>
                  </a:solidFill>
                  <a:latin typeface="微软雅黑" pitchFamily="34" charset="-122"/>
                  <a:ea typeface="微软雅黑" pitchFamily="34" charset="-122"/>
                </a:rPr>
                <a:t>位</a:t>
              </a:r>
            </a:p>
          </p:txBody>
        </p:sp>
        <p:sp>
          <p:nvSpPr>
            <p:cNvPr id="54" name="Line 26"/>
            <p:cNvSpPr>
              <a:spLocks noChangeShapeType="1"/>
            </p:cNvSpPr>
            <p:nvPr/>
          </p:nvSpPr>
          <p:spPr bwMode="auto">
            <a:xfrm>
              <a:off x="1732137"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55" name="Line 27"/>
            <p:cNvSpPr>
              <a:spLocks noChangeShapeType="1"/>
            </p:cNvSpPr>
            <p:nvPr/>
          </p:nvSpPr>
          <p:spPr bwMode="auto">
            <a:xfrm>
              <a:off x="5553515" y="2626568"/>
              <a:ext cx="0" cy="323851"/>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6" name="Line 28"/>
            <p:cNvSpPr>
              <a:spLocks noChangeShapeType="1"/>
            </p:cNvSpPr>
            <p:nvPr/>
          </p:nvSpPr>
          <p:spPr bwMode="auto">
            <a:xfrm>
              <a:off x="9340495"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7" name="Rectangle 29"/>
            <p:cNvSpPr>
              <a:spLocks noChangeArrowheads="1"/>
            </p:cNvSpPr>
            <p:nvPr/>
          </p:nvSpPr>
          <p:spPr bwMode="auto">
            <a:xfrm>
              <a:off x="382312" y="2151905"/>
              <a:ext cx="134947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B </a:t>
              </a:r>
              <a:r>
                <a:rPr kumimoji="1" lang="zh-CN" altLang="en-US" sz="1200" b="1">
                  <a:latin typeface="微软雅黑" pitchFamily="34" charset="-122"/>
                  <a:ea typeface="微软雅黑" pitchFamily="34" charset="-122"/>
                </a:rPr>
                <a:t>类地址</a:t>
              </a:r>
            </a:p>
          </p:txBody>
        </p:sp>
        <p:sp>
          <p:nvSpPr>
            <p:cNvPr id="58" name="Line 30"/>
            <p:cNvSpPr>
              <a:spLocks noChangeShapeType="1"/>
            </p:cNvSpPr>
            <p:nvPr/>
          </p:nvSpPr>
          <p:spPr bwMode="auto">
            <a:xfrm>
              <a:off x="5553514" y="2150319"/>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59" name="Rectangle 31"/>
            <p:cNvSpPr>
              <a:spLocks noChangeArrowheads="1"/>
            </p:cNvSpPr>
            <p:nvPr/>
          </p:nvSpPr>
          <p:spPr bwMode="auto">
            <a:xfrm>
              <a:off x="385029" y="3364953"/>
              <a:ext cx="1346756"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highlight>
                    <a:srgbClr val="FFFF00"/>
                  </a:highlight>
                  <a:latin typeface="微软雅黑" pitchFamily="34" charset="-122"/>
                  <a:ea typeface="微软雅黑" pitchFamily="34" charset="-122"/>
                </a:rPr>
                <a:t>C </a:t>
              </a:r>
              <a:r>
                <a:rPr kumimoji="1" lang="zh-CN" altLang="en-US" sz="1200" b="1" dirty="0">
                  <a:highlight>
                    <a:srgbClr val="FFFF00"/>
                  </a:highlight>
                  <a:latin typeface="微软雅黑" pitchFamily="34" charset="-122"/>
                  <a:ea typeface="微软雅黑" pitchFamily="34" charset="-122"/>
                </a:rPr>
                <a:t>类地址</a:t>
              </a:r>
            </a:p>
          </p:txBody>
        </p:sp>
        <p:sp>
          <p:nvSpPr>
            <p:cNvPr id="61" name="Rectangle 33"/>
            <p:cNvSpPr>
              <a:spLocks noChangeArrowheads="1"/>
            </p:cNvSpPr>
            <p:nvPr/>
          </p:nvSpPr>
          <p:spPr bwMode="auto">
            <a:xfrm>
              <a:off x="1666786" y="3361455"/>
              <a:ext cx="962403"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1 1 0</a:t>
              </a:r>
            </a:p>
          </p:txBody>
        </p:sp>
        <p:sp>
          <p:nvSpPr>
            <p:cNvPr id="63" name="Line 35"/>
            <p:cNvSpPr>
              <a:spLocks noChangeShapeType="1"/>
            </p:cNvSpPr>
            <p:nvPr/>
          </p:nvSpPr>
          <p:spPr bwMode="auto">
            <a:xfrm>
              <a:off x="2473367" y="3353842"/>
              <a:ext cx="0" cy="439737"/>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64" name="Line 36"/>
            <p:cNvSpPr>
              <a:spLocks noChangeShapeType="1"/>
            </p:cNvSpPr>
            <p:nvPr/>
          </p:nvSpPr>
          <p:spPr bwMode="auto">
            <a:xfrm>
              <a:off x="7505477" y="3349079"/>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65" name="Line 37"/>
            <p:cNvSpPr>
              <a:spLocks noChangeShapeType="1"/>
            </p:cNvSpPr>
            <p:nvPr/>
          </p:nvSpPr>
          <p:spPr bwMode="auto">
            <a:xfrm>
              <a:off x="7510637" y="4011066"/>
              <a:ext cx="1829857"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grpSp>
          <p:nvGrpSpPr>
            <p:cNvPr id="66" name="Group 38"/>
            <p:cNvGrpSpPr>
              <a:grpSpLocks/>
            </p:cNvGrpSpPr>
            <p:nvPr/>
          </p:nvGrpSpPr>
          <p:grpSpPr bwMode="auto">
            <a:xfrm>
              <a:off x="7928099" y="3820573"/>
              <a:ext cx="1131196" cy="644929"/>
              <a:chOff x="2827" y="3024"/>
              <a:chExt cx="453" cy="382"/>
            </a:xfrm>
          </p:grpSpPr>
          <p:sp>
            <p:nvSpPr>
              <p:cNvPr id="83"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4" name="Rectangle 40"/>
              <p:cNvSpPr>
                <a:spLocks noChangeArrowheads="1"/>
              </p:cNvSpPr>
              <p:nvPr/>
            </p:nvSpPr>
            <p:spPr bwMode="auto">
              <a:xfrm>
                <a:off x="2827" y="3024"/>
                <a:ext cx="453" cy="382"/>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8 </a:t>
                </a:r>
                <a:r>
                  <a:rPr kumimoji="1" lang="zh-CN" altLang="en-US" sz="1050" b="1" dirty="0">
                    <a:solidFill>
                      <a:srgbClr val="0000FF"/>
                    </a:solidFill>
                    <a:latin typeface="微软雅黑" pitchFamily="34" charset="-122"/>
                    <a:ea typeface="微软雅黑" pitchFamily="34" charset="-122"/>
                  </a:rPr>
                  <a:t>位</a:t>
                </a:r>
              </a:p>
            </p:txBody>
          </p:sp>
        </p:grpSp>
        <p:sp>
          <p:nvSpPr>
            <p:cNvPr id="67" name="Line 41"/>
            <p:cNvSpPr>
              <a:spLocks noChangeShapeType="1"/>
            </p:cNvSpPr>
            <p:nvPr/>
          </p:nvSpPr>
          <p:spPr bwMode="auto">
            <a:xfrm>
              <a:off x="1732137" y="385707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68" name="Line 42"/>
            <p:cNvSpPr>
              <a:spLocks noChangeShapeType="1"/>
            </p:cNvSpPr>
            <p:nvPr/>
          </p:nvSpPr>
          <p:spPr bwMode="auto">
            <a:xfrm>
              <a:off x="7510637" y="386025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69" name="Line 43"/>
            <p:cNvSpPr>
              <a:spLocks noChangeShapeType="1"/>
            </p:cNvSpPr>
            <p:nvPr/>
          </p:nvSpPr>
          <p:spPr bwMode="auto">
            <a:xfrm>
              <a:off x="9340495" y="384120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0" name="Rectangle 44"/>
            <p:cNvSpPr>
              <a:spLocks noChangeArrowheads="1"/>
            </p:cNvSpPr>
            <p:nvPr/>
          </p:nvSpPr>
          <p:spPr bwMode="auto">
            <a:xfrm>
              <a:off x="1725258" y="4582716"/>
              <a:ext cx="7656513"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1" name="Rectangle 45"/>
            <p:cNvSpPr>
              <a:spLocks noChangeArrowheads="1"/>
            </p:cNvSpPr>
            <p:nvPr/>
          </p:nvSpPr>
          <p:spPr bwMode="auto">
            <a:xfrm>
              <a:off x="355160" y="4593828"/>
              <a:ext cx="1376625"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D </a:t>
              </a:r>
              <a:r>
                <a:rPr kumimoji="1" lang="zh-CN" altLang="en-US" sz="1200" b="1">
                  <a:latin typeface="微软雅黑" pitchFamily="34" charset="-122"/>
                  <a:ea typeface="微软雅黑" pitchFamily="34" charset="-122"/>
                </a:rPr>
                <a:t>类地址</a:t>
              </a:r>
            </a:p>
          </p:txBody>
        </p:sp>
        <p:sp>
          <p:nvSpPr>
            <p:cNvPr id="72" name="Line 46"/>
            <p:cNvSpPr>
              <a:spLocks noChangeShapeType="1"/>
            </p:cNvSpPr>
            <p:nvPr/>
          </p:nvSpPr>
          <p:spPr bwMode="auto">
            <a:xfrm>
              <a:off x="2629189" y="459065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3" name="Rectangle 47"/>
            <p:cNvSpPr>
              <a:spLocks noChangeArrowheads="1"/>
            </p:cNvSpPr>
            <p:nvPr/>
          </p:nvSpPr>
          <p:spPr bwMode="auto">
            <a:xfrm>
              <a:off x="1610464" y="4581129"/>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1 1 1 0</a:t>
              </a:r>
            </a:p>
          </p:txBody>
        </p:sp>
        <p:sp>
          <p:nvSpPr>
            <p:cNvPr id="74" name="Rectangle 48"/>
            <p:cNvSpPr>
              <a:spLocks noChangeArrowheads="1"/>
            </p:cNvSpPr>
            <p:nvPr/>
          </p:nvSpPr>
          <p:spPr bwMode="auto">
            <a:xfrm>
              <a:off x="5031263" y="4581509"/>
              <a:ext cx="158841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多 播 地 址</a:t>
              </a:r>
            </a:p>
          </p:txBody>
        </p:sp>
        <p:sp>
          <p:nvSpPr>
            <p:cNvPr id="75" name="Rectangle 49"/>
            <p:cNvSpPr>
              <a:spLocks noChangeArrowheads="1"/>
            </p:cNvSpPr>
            <p:nvPr/>
          </p:nvSpPr>
          <p:spPr bwMode="auto">
            <a:xfrm>
              <a:off x="1733857" y="5549503"/>
              <a:ext cx="7641035"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6" name="Rectangle 50"/>
            <p:cNvSpPr>
              <a:spLocks noChangeArrowheads="1"/>
            </p:cNvSpPr>
            <p:nvPr/>
          </p:nvSpPr>
          <p:spPr bwMode="auto">
            <a:xfrm>
              <a:off x="412181" y="5559030"/>
              <a:ext cx="131960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E </a:t>
              </a:r>
              <a:r>
                <a:rPr kumimoji="1" lang="zh-CN" altLang="en-US" sz="1200" b="1">
                  <a:latin typeface="微软雅黑" pitchFamily="34" charset="-122"/>
                  <a:ea typeface="微软雅黑" pitchFamily="34" charset="-122"/>
                </a:rPr>
                <a:t>类地址</a:t>
              </a:r>
            </a:p>
          </p:txBody>
        </p:sp>
        <p:sp>
          <p:nvSpPr>
            <p:cNvPr id="77" name="Rectangle 51"/>
            <p:cNvSpPr>
              <a:spLocks noChangeArrowheads="1"/>
            </p:cNvSpPr>
            <p:nvPr/>
          </p:nvSpPr>
          <p:spPr bwMode="auto">
            <a:xfrm>
              <a:off x="4518046" y="5540357"/>
              <a:ext cx="260662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保 留 为 今 后 使 用</a:t>
              </a:r>
            </a:p>
          </p:txBody>
        </p:sp>
        <p:sp>
          <p:nvSpPr>
            <p:cNvPr id="78" name="Line 52"/>
            <p:cNvSpPr>
              <a:spLocks noChangeShapeType="1"/>
            </p:cNvSpPr>
            <p:nvPr/>
          </p:nvSpPr>
          <p:spPr bwMode="auto">
            <a:xfrm>
              <a:off x="2641708" y="557490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9" name="Rectangle 53"/>
            <p:cNvSpPr>
              <a:spLocks noChangeArrowheads="1"/>
            </p:cNvSpPr>
            <p:nvPr/>
          </p:nvSpPr>
          <p:spPr bwMode="auto">
            <a:xfrm>
              <a:off x="1610464" y="5555854"/>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1 1 1 1</a:t>
              </a:r>
            </a:p>
          </p:txBody>
        </p:sp>
        <p:sp>
          <p:nvSpPr>
            <p:cNvPr id="80" name="Rectangle 54"/>
            <p:cNvSpPr>
              <a:spLocks noChangeArrowheads="1"/>
            </p:cNvSpPr>
            <p:nvPr/>
          </p:nvSpPr>
          <p:spPr bwMode="auto">
            <a:xfrm>
              <a:off x="1861122" y="213603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latin typeface="微软雅黑" pitchFamily="34" charset="-122"/>
                  <a:ea typeface="微软雅黑" pitchFamily="34" charset="-122"/>
                </a:rPr>
                <a:t>0</a:t>
              </a:r>
            </a:p>
          </p:txBody>
        </p:sp>
        <p:sp>
          <p:nvSpPr>
            <p:cNvPr id="81" name="Rectangle 55"/>
            <p:cNvSpPr>
              <a:spLocks noChangeArrowheads="1"/>
            </p:cNvSpPr>
            <p:nvPr/>
          </p:nvSpPr>
          <p:spPr bwMode="auto">
            <a:xfrm>
              <a:off x="1653026" y="2136030"/>
              <a:ext cx="524537"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a:t>
              </a:r>
            </a:p>
          </p:txBody>
        </p:sp>
        <p:sp>
          <p:nvSpPr>
            <p:cNvPr id="82" name="Line 56"/>
            <p:cNvSpPr>
              <a:spLocks noChangeShapeType="1"/>
            </p:cNvSpPr>
            <p:nvPr/>
          </p:nvSpPr>
          <p:spPr bwMode="auto">
            <a:xfrm>
              <a:off x="2249794" y="2132856"/>
              <a:ext cx="0" cy="441325"/>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grpSp>
      <p:grpSp>
        <p:nvGrpSpPr>
          <p:cNvPr id="5" name="组合 4"/>
          <p:cNvGrpSpPr/>
          <p:nvPr/>
        </p:nvGrpSpPr>
        <p:grpSpPr>
          <a:xfrm>
            <a:off x="6830014" y="1572039"/>
            <a:ext cx="1545420" cy="1837700"/>
            <a:chOff x="6462705" y="453421"/>
            <a:chExt cx="2465395" cy="2939067"/>
          </a:xfrm>
        </p:grpSpPr>
        <p:sp>
          <p:nvSpPr>
            <p:cNvPr id="85" name="椭圆 66"/>
            <p:cNvSpPr>
              <a:spLocks noChangeArrowheads="1"/>
            </p:cNvSpPr>
            <p:nvPr/>
          </p:nvSpPr>
          <p:spPr bwMode="auto">
            <a:xfrm>
              <a:off x="6588125" y="1052513"/>
              <a:ext cx="2339975" cy="2339975"/>
            </a:xfrm>
            <a:prstGeom prst="ellipse">
              <a:avLst/>
            </a:prstGeom>
            <a:solidFill>
              <a:schemeClr val="bg1"/>
            </a:solidFill>
            <a:ln w="9525" algn="ctr">
              <a:solidFill>
                <a:schemeClr val="tx1"/>
              </a:solidFill>
              <a:round/>
              <a:headEnd/>
              <a:tailEnd/>
            </a:ln>
          </p:spPr>
          <p:txBody>
            <a:bodyPr/>
            <a:lstStyle>
              <a:lvl1pPr>
                <a:defRPr kumimoji="1" sz="2400">
                  <a:solidFill>
                    <a:schemeClr val="tx1"/>
                  </a:solidFill>
                  <a:latin typeface="Times New Roman" panose="02020603050405020304" pitchFamily="18" charset="0"/>
                  <a:ea typeface="宋体" panose="02010600030101010101" pitchFamily="2" charset="-122"/>
                </a:defRPr>
              </a:lvl1pPr>
              <a:lvl2pPr marL="742950" indent="-285750">
                <a:defRPr kumimoji="1" sz="2400">
                  <a:solidFill>
                    <a:schemeClr val="tx1"/>
                  </a:solidFill>
                  <a:latin typeface="Times New Roman" panose="02020603050405020304" pitchFamily="18" charset="0"/>
                  <a:ea typeface="宋体" panose="02010600030101010101" pitchFamily="2" charset="-122"/>
                </a:defRPr>
              </a:lvl2pPr>
              <a:lvl3pPr marL="1143000" indent="-228600">
                <a:defRPr kumimoji="1" sz="2400">
                  <a:solidFill>
                    <a:schemeClr val="tx1"/>
                  </a:solidFill>
                  <a:latin typeface="Times New Roman" panose="02020603050405020304" pitchFamily="18" charset="0"/>
                  <a:ea typeface="宋体" panose="02010600030101010101" pitchFamily="2" charset="-122"/>
                </a:defRPr>
              </a:lvl3pPr>
              <a:lvl4pPr marL="1600200" indent="-228600">
                <a:defRPr kumimoji="1" sz="2400">
                  <a:solidFill>
                    <a:schemeClr val="tx1"/>
                  </a:solidFill>
                  <a:latin typeface="Times New Roman" panose="02020603050405020304" pitchFamily="18" charset="0"/>
                  <a:ea typeface="宋体" panose="02010600030101010101" pitchFamily="2" charset="-122"/>
                </a:defRPr>
              </a:lvl4pPr>
              <a:lvl5pPr marL="2057400" indent="-22860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endParaRPr lang="zh-CN" altLang="en-US" sz="1200" b="1">
                <a:latin typeface="微软雅黑" panose="020B0503020204020204" pitchFamily="34" charset="-122"/>
                <a:ea typeface="微软雅黑" panose="020B0503020204020204" pitchFamily="34" charset="-122"/>
              </a:endParaRPr>
            </a:p>
          </p:txBody>
        </p:sp>
        <p:cxnSp>
          <p:nvCxnSpPr>
            <p:cNvPr id="86" name="直接连接符 68"/>
            <p:cNvCxnSpPr>
              <a:cxnSpLocks noChangeShapeType="1"/>
              <a:stCxn id="85" idx="0"/>
              <a:endCxn id="85" idx="4"/>
            </p:cNvCxnSpPr>
            <p:nvPr/>
          </p:nvCxnSpPr>
          <p:spPr bwMode="auto">
            <a:xfrm>
              <a:off x="7758113" y="1052513"/>
              <a:ext cx="0" cy="2339975"/>
            </a:xfrm>
            <a:prstGeom prst="line">
              <a:avLst/>
            </a:prstGeom>
            <a:noFill/>
            <a:ln w="12700" algn="ctr">
              <a:solidFill>
                <a:schemeClr val="tx1"/>
              </a:solidFill>
              <a:round/>
              <a:headEnd/>
              <a:tailEnd/>
            </a:ln>
          </p:spPr>
        </p:cxnSp>
        <p:cxnSp>
          <p:nvCxnSpPr>
            <p:cNvPr id="87" name="直接连接符 70"/>
            <p:cNvCxnSpPr>
              <a:cxnSpLocks noChangeShapeType="1"/>
              <a:stCxn id="85" idx="2"/>
            </p:cNvCxnSpPr>
            <p:nvPr/>
          </p:nvCxnSpPr>
          <p:spPr bwMode="auto">
            <a:xfrm flipV="1">
              <a:off x="6588125" y="2219325"/>
              <a:ext cx="1163638" cy="3175"/>
            </a:xfrm>
            <a:prstGeom prst="line">
              <a:avLst/>
            </a:prstGeom>
            <a:noFill/>
            <a:ln w="12700" algn="ctr">
              <a:solidFill>
                <a:schemeClr val="tx1"/>
              </a:solidFill>
              <a:round/>
              <a:headEnd/>
              <a:tailEnd/>
            </a:ln>
          </p:spPr>
        </p:cxnSp>
        <p:cxnSp>
          <p:nvCxnSpPr>
            <p:cNvPr id="88" name="直接连接符 72"/>
            <p:cNvCxnSpPr>
              <a:cxnSpLocks noChangeShapeType="1"/>
              <a:stCxn id="85" idx="1"/>
            </p:cNvCxnSpPr>
            <p:nvPr/>
          </p:nvCxnSpPr>
          <p:spPr bwMode="auto">
            <a:xfrm>
              <a:off x="6931025" y="1395413"/>
              <a:ext cx="809625" cy="809625"/>
            </a:xfrm>
            <a:prstGeom prst="line">
              <a:avLst/>
            </a:prstGeom>
            <a:noFill/>
            <a:ln w="12700" algn="ctr">
              <a:solidFill>
                <a:schemeClr val="tx1"/>
              </a:solidFill>
              <a:round/>
              <a:headEnd/>
              <a:tailEnd/>
            </a:ln>
          </p:spPr>
        </p:cxnSp>
        <p:cxnSp>
          <p:nvCxnSpPr>
            <p:cNvPr id="89" name="直接连接符 74"/>
            <p:cNvCxnSpPr>
              <a:cxnSpLocks noChangeShapeType="1"/>
            </p:cNvCxnSpPr>
            <p:nvPr/>
          </p:nvCxnSpPr>
          <p:spPr bwMode="auto">
            <a:xfrm>
              <a:off x="7315200" y="1143000"/>
              <a:ext cx="436563" cy="1082675"/>
            </a:xfrm>
            <a:prstGeom prst="line">
              <a:avLst/>
            </a:prstGeom>
            <a:noFill/>
            <a:ln w="12700" algn="ctr">
              <a:solidFill>
                <a:schemeClr val="tx1"/>
              </a:solidFill>
              <a:round/>
              <a:headEnd/>
              <a:tailEnd/>
            </a:ln>
          </p:spPr>
        </p:cxnSp>
        <p:sp>
          <p:nvSpPr>
            <p:cNvPr id="90" name="Rectangle 3"/>
            <p:cNvSpPr>
              <a:spLocks noChangeArrowheads="1"/>
            </p:cNvSpPr>
            <p:nvPr/>
          </p:nvSpPr>
          <p:spPr bwMode="auto">
            <a:xfrm>
              <a:off x="7893562" y="1880134"/>
              <a:ext cx="820881" cy="7342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defRPr kumimoji="1" sz="2400">
                  <a:solidFill>
                    <a:schemeClr val="tx1"/>
                  </a:solidFill>
                  <a:latin typeface="Times New Roman" panose="02020603050405020304" pitchFamily="18" charset="0"/>
                  <a:ea typeface="宋体" panose="02010600030101010101" pitchFamily="2" charset="-122"/>
                </a:defRPr>
              </a:lvl1pPr>
              <a:lvl2pPr marL="742950" indent="-285750" defTabSz="762000">
                <a:defRPr kumimoji="1" sz="2400">
                  <a:solidFill>
                    <a:schemeClr val="tx1"/>
                  </a:solidFill>
                  <a:latin typeface="Times New Roman" panose="02020603050405020304" pitchFamily="18" charset="0"/>
                  <a:ea typeface="宋体" panose="02010600030101010101" pitchFamily="2" charset="-122"/>
                </a:defRPr>
              </a:lvl2pPr>
              <a:lvl3pPr marL="1143000" indent="-228600" defTabSz="762000">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defRPr kumimoji="1" sz="2400">
                  <a:solidFill>
                    <a:schemeClr val="tx1"/>
                  </a:solidFill>
                  <a:latin typeface="Times New Roman" panose="02020603050405020304" pitchFamily="18" charset="0"/>
                  <a:ea typeface="宋体" panose="02010600030101010101" pitchFamily="2" charset="-122"/>
                </a:defRPr>
              </a:lvl4pPr>
              <a:lvl5pPr marL="2057400" indent="-228600" defTabSz="762000">
                <a:defRPr kumimoji="1" sz="24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类</a:t>
              </a:r>
              <a:endParaRPr lang="en-US" altLang="zh-CN" sz="1200" b="1" dirty="0">
                <a:latin typeface="微软雅黑" panose="020B0503020204020204" pitchFamily="34" charset="-122"/>
                <a:ea typeface="微软雅黑" panose="020B0503020204020204" pitchFamily="34" charset="-122"/>
              </a:endParaRPr>
            </a:p>
            <a:p>
              <a:r>
                <a:rPr lang="en-US" altLang="zh-CN" sz="1200" b="1" dirty="0">
                  <a:latin typeface="微软雅黑" panose="020B0503020204020204" pitchFamily="34" charset="-122"/>
                  <a:ea typeface="微软雅黑" panose="020B0503020204020204" pitchFamily="34" charset="-122"/>
                </a:rPr>
                <a:t>50%</a:t>
              </a:r>
              <a:endParaRPr lang="zh-CN" altLang="en-US" sz="1200" b="1" dirty="0">
                <a:latin typeface="微软雅黑" panose="020B0503020204020204" pitchFamily="34" charset="-122"/>
                <a:ea typeface="微软雅黑" panose="020B0503020204020204" pitchFamily="34" charset="-122"/>
              </a:endParaRPr>
            </a:p>
          </p:txBody>
        </p:sp>
        <p:sp>
          <p:nvSpPr>
            <p:cNvPr id="91" name="Rectangle 3"/>
            <p:cNvSpPr>
              <a:spLocks noChangeArrowheads="1"/>
            </p:cNvSpPr>
            <p:nvPr/>
          </p:nvSpPr>
          <p:spPr bwMode="auto">
            <a:xfrm>
              <a:off x="6603976" y="1592305"/>
              <a:ext cx="1040806" cy="7342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defRPr kumimoji="1" sz="2400">
                  <a:solidFill>
                    <a:schemeClr val="tx1"/>
                  </a:solidFill>
                  <a:latin typeface="Times New Roman" panose="02020603050405020304" pitchFamily="18" charset="0"/>
                  <a:ea typeface="宋体" panose="02010600030101010101" pitchFamily="2" charset="-122"/>
                </a:defRPr>
              </a:lvl1pPr>
              <a:lvl2pPr marL="742950" indent="-285750" defTabSz="762000">
                <a:defRPr kumimoji="1" sz="2400">
                  <a:solidFill>
                    <a:schemeClr val="tx1"/>
                  </a:solidFill>
                  <a:latin typeface="Times New Roman" panose="02020603050405020304" pitchFamily="18" charset="0"/>
                  <a:ea typeface="宋体" panose="02010600030101010101" pitchFamily="2" charset="-122"/>
                </a:defRPr>
              </a:lvl2pPr>
              <a:lvl3pPr marL="1143000" indent="-228600" defTabSz="762000">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defRPr kumimoji="1" sz="2400">
                  <a:solidFill>
                    <a:schemeClr val="tx1"/>
                  </a:solidFill>
                  <a:latin typeface="Times New Roman" panose="02020603050405020304" pitchFamily="18" charset="0"/>
                  <a:ea typeface="宋体" panose="02010600030101010101" pitchFamily="2" charset="-122"/>
                </a:defRPr>
              </a:lvl4pPr>
              <a:lvl5pPr marL="2057400" indent="-228600" defTabSz="762000">
                <a:defRPr kumimoji="1" sz="24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r>
                <a:rPr lang="en-US" altLang="zh-CN" sz="1200" b="1" dirty="0">
                  <a:latin typeface="微软雅黑" panose="020B0503020204020204" pitchFamily="34" charset="-122"/>
                  <a:ea typeface="微软雅黑" panose="020B0503020204020204" pitchFamily="34" charset="-122"/>
                </a:rPr>
                <a:t>C </a:t>
              </a:r>
              <a:r>
                <a:rPr lang="zh-CN" altLang="en-US" sz="1200" b="1" dirty="0">
                  <a:latin typeface="微软雅黑" panose="020B0503020204020204" pitchFamily="34" charset="-122"/>
                  <a:ea typeface="微软雅黑" panose="020B0503020204020204" pitchFamily="34" charset="-122"/>
                </a:rPr>
                <a:t>类</a:t>
              </a:r>
              <a:endParaRPr lang="en-US" altLang="zh-CN" sz="1200" b="1" dirty="0">
                <a:latin typeface="微软雅黑" panose="020B0503020204020204" pitchFamily="34" charset="-122"/>
                <a:ea typeface="微软雅黑" panose="020B0503020204020204" pitchFamily="34" charset="-122"/>
              </a:endParaRPr>
            </a:p>
            <a:p>
              <a:r>
                <a:rPr lang="en-US" altLang="zh-CN" sz="1200" b="1" dirty="0">
                  <a:latin typeface="微软雅黑" panose="020B0503020204020204" pitchFamily="34" charset="-122"/>
                  <a:ea typeface="微软雅黑" panose="020B0503020204020204" pitchFamily="34" charset="-122"/>
                </a:rPr>
                <a:t>12.5%</a:t>
              </a:r>
              <a:endParaRPr lang="zh-CN" altLang="en-US" sz="1200" b="1" dirty="0">
                <a:latin typeface="微软雅黑" panose="020B0503020204020204" pitchFamily="34" charset="-122"/>
                <a:ea typeface="微软雅黑" panose="020B0503020204020204" pitchFamily="34" charset="-122"/>
              </a:endParaRPr>
            </a:p>
          </p:txBody>
        </p:sp>
        <p:sp>
          <p:nvSpPr>
            <p:cNvPr id="92" name="Rectangle 3"/>
            <p:cNvSpPr>
              <a:spLocks noChangeArrowheads="1"/>
            </p:cNvSpPr>
            <p:nvPr/>
          </p:nvSpPr>
          <p:spPr bwMode="auto">
            <a:xfrm>
              <a:off x="6942130" y="2389947"/>
              <a:ext cx="820881" cy="7342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defRPr kumimoji="1" sz="2400">
                  <a:solidFill>
                    <a:schemeClr val="tx1"/>
                  </a:solidFill>
                  <a:latin typeface="Times New Roman" panose="02020603050405020304" pitchFamily="18" charset="0"/>
                  <a:ea typeface="宋体" panose="02010600030101010101" pitchFamily="2" charset="-122"/>
                </a:defRPr>
              </a:lvl1pPr>
              <a:lvl2pPr marL="742950" indent="-285750" defTabSz="762000">
                <a:defRPr kumimoji="1" sz="2400">
                  <a:solidFill>
                    <a:schemeClr val="tx1"/>
                  </a:solidFill>
                  <a:latin typeface="Times New Roman" panose="02020603050405020304" pitchFamily="18" charset="0"/>
                  <a:ea typeface="宋体" panose="02010600030101010101" pitchFamily="2" charset="-122"/>
                </a:defRPr>
              </a:lvl2pPr>
              <a:lvl3pPr marL="1143000" indent="-228600" defTabSz="762000">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defRPr kumimoji="1" sz="2400">
                  <a:solidFill>
                    <a:schemeClr val="tx1"/>
                  </a:solidFill>
                  <a:latin typeface="Times New Roman" panose="02020603050405020304" pitchFamily="18" charset="0"/>
                  <a:ea typeface="宋体" panose="02010600030101010101" pitchFamily="2" charset="-122"/>
                </a:defRPr>
              </a:lvl4pPr>
              <a:lvl5pPr marL="2057400" indent="-228600" defTabSz="762000">
                <a:defRPr kumimoji="1" sz="24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r>
                <a:rPr lang="en-US" altLang="zh-CN" sz="1200" b="1" dirty="0">
                  <a:latin typeface="微软雅黑" panose="020B0503020204020204" pitchFamily="34" charset="-122"/>
                  <a:ea typeface="微软雅黑" panose="020B0503020204020204" pitchFamily="34" charset="-122"/>
                </a:rPr>
                <a:t>B </a:t>
              </a:r>
              <a:r>
                <a:rPr lang="zh-CN" altLang="en-US" sz="1200" b="1" dirty="0">
                  <a:latin typeface="微软雅黑" panose="020B0503020204020204" pitchFamily="34" charset="-122"/>
                  <a:ea typeface="微软雅黑" panose="020B0503020204020204" pitchFamily="34" charset="-122"/>
                </a:rPr>
                <a:t>类</a:t>
              </a:r>
              <a:endParaRPr lang="en-US" altLang="zh-CN" sz="1200" b="1" dirty="0">
                <a:latin typeface="微软雅黑" panose="020B0503020204020204" pitchFamily="34" charset="-122"/>
                <a:ea typeface="微软雅黑" panose="020B0503020204020204" pitchFamily="34" charset="-122"/>
              </a:endParaRPr>
            </a:p>
            <a:p>
              <a:r>
                <a:rPr lang="en-US" altLang="zh-CN" sz="1200" b="1" dirty="0">
                  <a:latin typeface="微软雅黑" panose="020B0503020204020204" pitchFamily="34" charset="-122"/>
                  <a:ea typeface="微软雅黑" panose="020B0503020204020204" pitchFamily="34" charset="-122"/>
                </a:rPr>
                <a:t>25%</a:t>
              </a:r>
              <a:endParaRPr lang="zh-CN" altLang="en-US" sz="1200" b="1" dirty="0">
                <a:latin typeface="微软雅黑" panose="020B0503020204020204" pitchFamily="34" charset="-122"/>
                <a:ea typeface="微软雅黑" panose="020B0503020204020204" pitchFamily="34" charset="-122"/>
              </a:endParaRPr>
            </a:p>
          </p:txBody>
        </p:sp>
        <p:sp>
          <p:nvSpPr>
            <p:cNvPr id="93" name="Rectangle 3"/>
            <p:cNvSpPr>
              <a:spLocks noChangeArrowheads="1"/>
            </p:cNvSpPr>
            <p:nvPr/>
          </p:nvSpPr>
          <p:spPr bwMode="auto">
            <a:xfrm>
              <a:off x="6462705" y="560275"/>
              <a:ext cx="805538" cy="4389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defRPr kumimoji="1" sz="2400">
                  <a:solidFill>
                    <a:schemeClr val="tx1"/>
                  </a:solidFill>
                  <a:latin typeface="Times New Roman" panose="02020603050405020304" pitchFamily="18" charset="0"/>
                  <a:ea typeface="宋体" panose="02010600030101010101" pitchFamily="2" charset="-122"/>
                </a:defRPr>
              </a:lvl1pPr>
              <a:lvl2pPr marL="742950" indent="-285750" defTabSz="762000">
                <a:defRPr kumimoji="1" sz="2400">
                  <a:solidFill>
                    <a:schemeClr val="tx1"/>
                  </a:solidFill>
                  <a:latin typeface="Times New Roman" panose="02020603050405020304" pitchFamily="18" charset="0"/>
                  <a:ea typeface="宋体" panose="02010600030101010101" pitchFamily="2" charset="-122"/>
                </a:defRPr>
              </a:lvl2pPr>
              <a:lvl3pPr marL="1143000" indent="-228600" defTabSz="762000">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defRPr kumimoji="1" sz="2400">
                  <a:solidFill>
                    <a:schemeClr val="tx1"/>
                  </a:solidFill>
                  <a:latin typeface="Times New Roman" panose="02020603050405020304" pitchFamily="18" charset="0"/>
                  <a:ea typeface="宋体" panose="02010600030101010101" pitchFamily="2" charset="-122"/>
                </a:defRPr>
              </a:lvl4pPr>
              <a:lvl5pPr marL="2057400" indent="-228600" defTabSz="762000">
                <a:defRPr kumimoji="1" sz="24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r>
                <a:rPr lang="en-US" altLang="zh-CN" sz="1200" b="1" dirty="0">
                  <a:latin typeface="微软雅黑" panose="020B0503020204020204" pitchFamily="34" charset="-122"/>
                  <a:ea typeface="微软雅黑" panose="020B0503020204020204" pitchFamily="34" charset="-122"/>
                </a:rPr>
                <a:t>D </a:t>
              </a:r>
              <a:r>
                <a:rPr lang="zh-CN" altLang="en-US" sz="1200" b="1" dirty="0">
                  <a:latin typeface="微软雅黑" panose="020B0503020204020204" pitchFamily="34" charset="-122"/>
                  <a:ea typeface="微软雅黑" panose="020B0503020204020204" pitchFamily="34" charset="-122"/>
                </a:rPr>
                <a:t>类</a:t>
              </a:r>
            </a:p>
          </p:txBody>
        </p:sp>
        <p:sp>
          <p:nvSpPr>
            <p:cNvPr id="94" name="Rectangle 3"/>
            <p:cNvSpPr>
              <a:spLocks noChangeArrowheads="1"/>
            </p:cNvSpPr>
            <p:nvPr/>
          </p:nvSpPr>
          <p:spPr bwMode="auto">
            <a:xfrm>
              <a:off x="7144804" y="453421"/>
              <a:ext cx="751835" cy="4389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defRPr kumimoji="1" sz="2400">
                  <a:solidFill>
                    <a:schemeClr val="tx1"/>
                  </a:solidFill>
                  <a:latin typeface="Times New Roman" panose="02020603050405020304" pitchFamily="18" charset="0"/>
                  <a:ea typeface="宋体" panose="02010600030101010101" pitchFamily="2" charset="-122"/>
                </a:defRPr>
              </a:lvl1pPr>
              <a:lvl2pPr marL="742950" indent="-285750" defTabSz="762000">
                <a:defRPr kumimoji="1" sz="2400">
                  <a:solidFill>
                    <a:schemeClr val="tx1"/>
                  </a:solidFill>
                  <a:latin typeface="Times New Roman" panose="02020603050405020304" pitchFamily="18" charset="0"/>
                  <a:ea typeface="宋体" panose="02010600030101010101" pitchFamily="2" charset="-122"/>
                </a:defRPr>
              </a:lvl2pPr>
              <a:lvl3pPr marL="1143000" indent="-228600" defTabSz="762000">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defRPr kumimoji="1" sz="2400">
                  <a:solidFill>
                    <a:schemeClr val="tx1"/>
                  </a:solidFill>
                  <a:latin typeface="Times New Roman" panose="02020603050405020304" pitchFamily="18" charset="0"/>
                  <a:ea typeface="宋体" panose="02010600030101010101" pitchFamily="2" charset="-122"/>
                </a:defRPr>
              </a:lvl4pPr>
              <a:lvl5pPr marL="2057400" indent="-228600" defTabSz="762000">
                <a:defRPr kumimoji="1" sz="24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r>
                <a:rPr lang="en-US" altLang="zh-CN" sz="1200" b="1" dirty="0">
                  <a:latin typeface="微软雅黑" panose="020B0503020204020204" pitchFamily="34" charset="-122"/>
                  <a:ea typeface="微软雅黑" panose="020B0503020204020204" pitchFamily="34" charset="-122"/>
                </a:rPr>
                <a:t>E </a:t>
              </a:r>
              <a:r>
                <a:rPr lang="zh-CN" altLang="en-US" sz="1200" b="1" dirty="0">
                  <a:latin typeface="微软雅黑" panose="020B0503020204020204" pitchFamily="34" charset="-122"/>
                  <a:ea typeface="微软雅黑" panose="020B0503020204020204" pitchFamily="34" charset="-122"/>
                </a:rPr>
                <a:t>类</a:t>
              </a:r>
            </a:p>
          </p:txBody>
        </p:sp>
        <p:sp>
          <p:nvSpPr>
            <p:cNvPr id="95" name="Line 135"/>
            <p:cNvSpPr>
              <a:spLocks noChangeShapeType="1"/>
            </p:cNvSpPr>
            <p:nvPr/>
          </p:nvSpPr>
          <p:spPr bwMode="auto">
            <a:xfrm flipH="1" flipV="1">
              <a:off x="6845300" y="914400"/>
              <a:ext cx="409575" cy="565150"/>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35"/>
            <p:cNvSpPr>
              <a:spLocks noChangeShapeType="1"/>
            </p:cNvSpPr>
            <p:nvPr/>
          </p:nvSpPr>
          <p:spPr bwMode="auto">
            <a:xfrm flipH="1" flipV="1">
              <a:off x="7462838" y="793750"/>
              <a:ext cx="184150" cy="679450"/>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11" name="组合 10"/>
          <p:cNvGrpSpPr/>
          <p:nvPr/>
        </p:nvGrpSpPr>
        <p:grpSpPr>
          <a:xfrm>
            <a:off x="6219141" y="1187780"/>
            <a:ext cx="517704" cy="1690420"/>
            <a:chOff x="6219141" y="1187780"/>
            <a:chExt cx="517704" cy="1690420"/>
          </a:xfrm>
        </p:grpSpPr>
        <p:sp>
          <p:nvSpPr>
            <p:cNvPr id="8" name="矩形 7"/>
            <p:cNvSpPr/>
            <p:nvPr/>
          </p:nvSpPr>
          <p:spPr>
            <a:xfrm>
              <a:off x="6312145" y="1546077"/>
              <a:ext cx="424700" cy="954107"/>
            </a:xfrm>
            <a:prstGeom prst="rect">
              <a:avLst/>
            </a:prstGeom>
          </p:spPr>
          <p:txBody>
            <a:bodyPr wrap="square">
              <a:spAutoFit/>
            </a:bodyPr>
            <a:lstStyle/>
            <a:p>
              <a:pPr algn="ctr"/>
              <a:r>
                <a:rPr lang="zh-CN" altLang="en-US" sz="1400" b="1" dirty="0">
                  <a:solidFill>
                    <a:srgbClr val="CC00CC"/>
                  </a:solidFill>
                  <a:latin typeface="微软雅黑" panose="020B0503020204020204" pitchFamily="34" charset="-122"/>
                  <a:ea typeface="微软雅黑" panose="020B0503020204020204" pitchFamily="34" charset="-122"/>
                </a:rPr>
                <a:t>单播地址</a:t>
              </a:r>
            </a:p>
          </p:txBody>
        </p:sp>
        <p:sp>
          <p:nvSpPr>
            <p:cNvPr id="10" name="右大括号 9"/>
            <p:cNvSpPr/>
            <p:nvPr/>
          </p:nvSpPr>
          <p:spPr>
            <a:xfrm>
              <a:off x="6219141" y="1187780"/>
              <a:ext cx="172628" cy="1690420"/>
            </a:xfrm>
            <a:prstGeom prst="rightBrace">
              <a:avLst>
                <a:gd name="adj1" fmla="val 30569"/>
                <a:gd name="adj2" fmla="val 50000"/>
              </a:avLst>
            </a:prstGeom>
            <a:ln w="12700">
              <a:solidFill>
                <a:srgbClr val="0000F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grpSp>
    </p:spTree>
    <p:extLst>
      <p:ext uri="{BB962C8B-B14F-4D97-AF65-F5344CB8AC3E}">
        <p14:creationId xmlns:p14="http://schemas.microsoft.com/office/powerpoint/2010/main" val="159070021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nodeType="afterEffect">
                                  <p:stCondLst>
                                    <p:cond delay="0"/>
                                  </p:stCondLst>
                                  <p:childTnLst>
                                    <p:anim calcmode="discrete" valueType="str">
                                      <p:cBhvr>
                                        <p:cTn id="9" dur="1000" fill="hold"/>
                                        <p:tgtEl>
                                          <p:spTgt spid="1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7" name="圆角矩形 66"/>
          <p:cNvSpPr/>
          <p:nvPr/>
        </p:nvSpPr>
        <p:spPr>
          <a:xfrm>
            <a:off x="545144" y="103367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8" name="矩形 67"/>
          <p:cNvSpPr/>
          <p:nvPr/>
        </p:nvSpPr>
        <p:spPr>
          <a:xfrm>
            <a:off x="616085" y="565906"/>
            <a:ext cx="4697120" cy="400110"/>
          </a:xfrm>
          <a:prstGeom prst="rect">
            <a:avLst/>
          </a:prstGeom>
        </p:spPr>
        <p:txBody>
          <a:bodyPr wrap="none">
            <a:spAutoFit/>
          </a:bodyPr>
          <a:lstStyle/>
          <a:p>
            <a:r>
              <a:rPr lang="zh-CN" altLang="en-US" sz="2000" b="1" dirty="0">
                <a:latin typeface="微软雅黑" pitchFamily="34" charset="-122"/>
                <a:ea typeface="微软雅黑" pitchFamily="34" charset="-122"/>
              </a:rPr>
              <a:t>各类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地址的网络号字段和主机号字段</a:t>
            </a:r>
          </a:p>
        </p:txBody>
      </p:sp>
      <p:grpSp>
        <p:nvGrpSpPr>
          <p:cNvPr id="66" name="组合 65"/>
          <p:cNvGrpSpPr/>
          <p:nvPr/>
        </p:nvGrpSpPr>
        <p:grpSpPr>
          <a:xfrm>
            <a:off x="1880840" y="1160772"/>
            <a:ext cx="5329079" cy="3009005"/>
            <a:chOff x="355160" y="927100"/>
            <a:chExt cx="9026611" cy="5096778"/>
          </a:xfrm>
        </p:grpSpPr>
        <p:sp>
          <p:nvSpPr>
            <p:cNvPr id="69" name="Line 2"/>
            <p:cNvSpPr>
              <a:spLocks noChangeShapeType="1"/>
            </p:cNvSpPr>
            <p:nvPr/>
          </p:nvSpPr>
          <p:spPr bwMode="auto">
            <a:xfrm flipV="1">
              <a:off x="1732138" y="4009478"/>
              <a:ext cx="574754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0" name="Rectangle 3"/>
            <p:cNvSpPr>
              <a:spLocks noChangeArrowheads="1"/>
            </p:cNvSpPr>
            <p:nvPr/>
          </p:nvSpPr>
          <p:spPr bwMode="auto">
            <a:xfrm>
              <a:off x="4144958" y="3791992"/>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24 </a:t>
              </a:r>
              <a:r>
                <a:rPr kumimoji="1" lang="zh-CN" altLang="en-US" sz="1050" b="1" dirty="0">
                  <a:solidFill>
                    <a:srgbClr val="C00000"/>
                  </a:solidFill>
                  <a:latin typeface="微软雅黑" pitchFamily="34" charset="-122"/>
                  <a:ea typeface="微软雅黑" pitchFamily="34" charset="-122"/>
                </a:rPr>
                <a:t>位</a:t>
              </a:r>
            </a:p>
          </p:txBody>
        </p:sp>
        <p:sp>
          <p:nvSpPr>
            <p:cNvPr id="71" name="Rectangle 4"/>
            <p:cNvSpPr>
              <a:spLocks noChangeArrowheads="1"/>
            </p:cNvSpPr>
            <p:nvPr/>
          </p:nvSpPr>
          <p:spPr bwMode="auto">
            <a:xfrm>
              <a:off x="1732137" y="3355428"/>
              <a:ext cx="7634155" cy="444500"/>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2" name="Line 5"/>
            <p:cNvSpPr>
              <a:spLocks noChangeShapeType="1"/>
            </p:cNvSpPr>
            <p:nvPr/>
          </p:nvSpPr>
          <p:spPr bwMode="auto">
            <a:xfrm>
              <a:off x="3601550" y="1577975"/>
              <a:ext cx="575270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3" name="Rectangle 6"/>
            <p:cNvSpPr>
              <a:spLocks noChangeArrowheads="1"/>
            </p:cNvSpPr>
            <p:nvPr/>
          </p:nvSpPr>
          <p:spPr bwMode="auto">
            <a:xfrm>
              <a:off x="5866875" y="1370014"/>
              <a:ext cx="1167551"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24 </a:t>
              </a:r>
              <a:r>
                <a:rPr kumimoji="1" lang="zh-CN" altLang="en-US" sz="1050" b="1" dirty="0">
                  <a:solidFill>
                    <a:srgbClr val="0000FF"/>
                  </a:solidFill>
                  <a:latin typeface="微软雅黑" pitchFamily="34" charset="-122"/>
                  <a:ea typeface="微软雅黑" pitchFamily="34" charset="-122"/>
                </a:rPr>
                <a:t>位</a:t>
              </a:r>
            </a:p>
          </p:txBody>
        </p:sp>
        <p:sp>
          <p:nvSpPr>
            <p:cNvPr id="74" name="Line 7"/>
            <p:cNvSpPr>
              <a:spLocks noChangeShapeType="1"/>
            </p:cNvSpPr>
            <p:nvPr/>
          </p:nvSpPr>
          <p:spPr bwMode="auto">
            <a:xfrm flipV="1">
              <a:off x="1775131" y="2790849"/>
              <a:ext cx="3764625"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5" name="Rectangle 8"/>
            <p:cNvSpPr>
              <a:spLocks noChangeArrowheads="1"/>
            </p:cNvSpPr>
            <p:nvPr/>
          </p:nvSpPr>
          <p:spPr bwMode="auto">
            <a:xfrm>
              <a:off x="3208855" y="2574181"/>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16 </a:t>
              </a:r>
              <a:r>
                <a:rPr kumimoji="1" lang="zh-CN" altLang="en-US" sz="1050" b="1" dirty="0">
                  <a:solidFill>
                    <a:srgbClr val="C00000"/>
                  </a:solidFill>
                  <a:latin typeface="微软雅黑" pitchFamily="34" charset="-122"/>
                  <a:ea typeface="微软雅黑" pitchFamily="34" charset="-122"/>
                </a:rPr>
                <a:t>位</a:t>
              </a:r>
            </a:p>
          </p:txBody>
        </p:sp>
        <p:sp>
          <p:nvSpPr>
            <p:cNvPr id="76" name="Line 9"/>
            <p:cNvSpPr>
              <a:spLocks noChangeShapeType="1"/>
            </p:cNvSpPr>
            <p:nvPr/>
          </p:nvSpPr>
          <p:spPr bwMode="auto">
            <a:xfrm>
              <a:off x="1690862" y="1577975"/>
              <a:ext cx="1910688"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7" name="Rectangle 10"/>
            <p:cNvSpPr>
              <a:spLocks noChangeArrowheads="1"/>
            </p:cNvSpPr>
            <p:nvPr/>
          </p:nvSpPr>
          <p:spPr bwMode="auto">
            <a:xfrm>
              <a:off x="2058942" y="1370014"/>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algn="ct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8 </a:t>
              </a:r>
              <a:r>
                <a:rPr kumimoji="1" lang="zh-CN" altLang="en-US" sz="1050" b="1" dirty="0">
                  <a:solidFill>
                    <a:srgbClr val="C00000"/>
                  </a:solidFill>
                  <a:latin typeface="微软雅黑" pitchFamily="34" charset="-122"/>
                  <a:ea typeface="微软雅黑" pitchFamily="34" charset="-122"/>
                </a:rPr>
                <a:t>位</a:t>
              </a:r>
            </a:p>
          </p:txBody>
        </p:sp>
        <p:sp>
          <p:nvSpPr>
            <p:cNvPr id="78" name="Rectangle 11"/>
            <p:cNvSpPr>
              <a:spLocks noChangeArrowheads="1"/>
            </p:cNvSpPr>
            <p:nvPr/>
          </p:nvSpPr>
          <p:spPr bwMode="auto">
            <a:xfrm>
              <a:off x="1694302" y="933451"/>
              <a:ext cx="7675430" cy="442913"/>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9" name="Rectangle 12"/>
            <p:cNvSpPr>
              <a:spLocks noChangeArrowheads="1"/>
            </p:cNvSpPr>
            <p:nvPr/>
          </p:nvSpPr>
          <p:spPr bwMode="auto">
            <a:xfrm>
              <a:off x="1716659" y="2140794"/>
              <a:ext cx="7659952" cy="446087"/>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0" name="Rectangle 14"/>
            <p:cNvSpPr>
              <a:spLocks noChangeArrowheads="1"/>
            </p:cNvSpPr>
            <p:nvPr/>
          </p:nvSpPr>
          <p:spPr bwMode="auto">
            <a:xfrm>
              <a:off x="1742456" y="3369716"/>
              <a:ext cx="5742384" cy="423862"/>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1" name="Rectangle 15"/>
            <p:cNvSpPr>
              <a:spLocks noChangeArrowheads="1"/>
            </p:cNvSpPr>
            <p:nvPr/>
          </p:nvSpPr>
          <p:spPr bwMode="auto">
            <a:xfrm>
              <a:off x="1740736" y="2151905"/>
              <a:ext cx="3804179" cy="423863"/>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2" name="Rectangle 16"/>
            <p:cNvSpPr>
              <a:spLocks noChangeArrowheads="1"/>
            </p:cNvSpPr>
            <p:nvPr/>
          </p:nvSpPr>
          <p:spPr bwMode="auto">
            <a:xfrm>
              <a:off x="1720099" y="957263"/>
              <a:ext cx="1874573" cy="406400"/>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3" name="Rectangle 17"/>
            <p:cNvSpPr>
              <a:spLocks noChangeArrowheads="1"/>
            </p:cNvSpPr>
            <p:nvPr/>
          </p:nvSpPr>
          <p:spPr bwMode="auto">
            <a:xfrm>
              <a:off x="1635829" y="92710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050" b="1" dirty="0">
                  <a:latin typeface="微软雅黑" pitchFamily="34" charset="-122"/>
                  <a:ea typeface="微软雅黑" pitchFamily="34" charset="-122"/>
                </a:rPr>
                <a:t>0</a:t>
              </a:r>
            </a:p>
          </p:txBody>
        </p:sp>
        <p:sp>
          <p:nvSpPr>
            <p:cNvPr id="84" name="Rectangle 18"/>
            <p:cNvSpPr>
              <a:spLocks noChangeArrowheads="1"/>
            </p:cNvSpPr>
            <p:nvPr/>
          </p:nvSpPr>
          <p:spPr bwMode="auto">
            <a:xfrm>
              <a:off x="366021" y="955675"/>
              <a:ext cx="136576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A </a:t>
              </a:r>
              <a:r>
                <a:rPr kumimoji="1" lang="zh-CN" altLang="en-US" sz="1200" b="1" dirty="0">
                  <a:latin typeface="微软雅黑" pitchFamily="34" charset="-122"/>
                  <a:ea typeface="微软雅黑" pitchFamily="34" charset="-122"/>
                </a:rPr>
                <a:t>类地址</a:t>
              </a:r>
            </a:p>
          </p:txBody>
        </p:sp>
        <p:sp>
          <p:nvSpPr>
            <p:cNvPr id="85" name="Line 19"/>
            <p:cNvSpPr>
              <a:spLocks noChangeShapeType="1"/>
            </p:cNvSpPr>
            <p:nvPr/>
          </p:nvSpPr>
          <p:spPr bwMode="auto">
            <a:xfrm>
              <a:off x="1971188" y="933451"/>
              <a:ext cx="0" cy="450849"/>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86" name="Line 20"/>
            <p:cNvSpPr>
              <a:spLocks noChangeShapeType="1"/>
            </p:cNvSpPr>
            <p:nvPr/>
          </p:nvSpPr>
          <p:spPr bwMode="auto">
            <a:xfrm>
              <a:off x="3601550"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7" name="Line 21"/>
            <p:cNvSpPr>
              <a:spLocks noChangeShapeType="1"/>
            </p:cNvSpPr>
            <p:nvPr/>
          </p:nvSpPr>
          <p:spPr bwMode="auto">
            <a:xfrm>
              <a:off x="1690862"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88" name="Line 22"/>
            <p:cNvSpPr>
              <a:spLocks noChangeShapeType="1"/>
            </p:cNvSpPr>
            <p:nvPr/>
          </p:nvSpPr>
          <p:spPr bwMode="auto">
            <a:xfrm>
              <a:off x="3601550"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9" name="Line 23"/>
            <p:cNvSpPr>
              <a:spLocks noChangeShapeType="1"/>
            </p:cNvSpPr>
            <p:nvPr/>
          </p:nvSpPr>
          <p:spPr bwMode="auto">
            <a:xfrm>
              <a:off x="9354254"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0" name="Line 24"/>
            <p:cNvSpPr>
              <a:spLocks noChangeShapeType="1"/>
            </p:cNvSpPr>
            <p:nvPr/>
          </p:nvSpPr>
          <p:spPr bwMode="auto">
            <a:xfrm>
              <a:off x="5553515" y="2784499"/>
              <a:ext cx="3786979" cy="635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1" name="Rectangle 25"/>
            <p:cNvSpPr>
              <a:spLocks noChangeArrowheads="1"/>
            </p:cNvSpPr>
            <p:nvPr/>
          </p:nvSpPr>
          <p:spPr bwMode="auto">
            <a:xfrm>
              <a:off x="6946995" y="2636149"/>
              <a:ext cx="1167551" cy="668165"/>
            </a:xfrm>
            <a:prstGeom prst="rect">
              <a:avLst/>
            </a:prstGeom>
            <a:solidFill>
              <a:srgbClr val="C3E3F9"/>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a:lnSpc>
                  <a:spcPct val="90000"/>
                </a:lnSpc>
              </a:pPr>
              <a:r>
                <a:rPr kumimoji="1" lang="en-US" altLang="zh-CN" sz="1050" b="1" dirty="0">
                  <a:solidFill>
                    <a:srgbClr val="0000FF"/>
                  </a:solidFill>
                  <a:latin typeface="微软雅黑" pitchFamily="34" charset="-122"/>
                  <a:ea typeface="微软雅黑" pitchFamily="34" charset="-122"/>
                </a:rPr>
                <a:t>16 </a:t>
              </a:r>
              <a:r>
                <a:rPr kumimoji="1" lang="zh-CN" altLang="en-US" sz="1050" b="1" dirty="0">
                  <a:solidFill>
                    <a:srgbClr val="0000FF"/>
                  </a:solidFill>
                  <a:latin typeface="微软雅黑" pitchFamily="34" charset="-122"/>
                  <a:ea typeface="微软雅黑" pitchFamily="34" charset="-122"/>
                </a:rPr>
                <a:t>位</a:t>
              </a:r>
            </a:p>
          </p:txBody>
        </p:sp>
        <p:sp>
          <p:nvSpPr>
            <p:cNvPr id="92" name="Line 26"/>
            <p:cNvSpPr>
              <a:spLocks noChangeShapeType="1"/>
            </p:cNvSpPr>
            <p:nvPr/>
          </p:nvSpPr>
          <p:spPr bwMode="auto">
            <a:xfrm>
              <a:off x="1732137"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93" name="Line 27"/>
            <p:cNvSpPr>
              <a:spLocks noChangeShapeType="1"/>
            </p:cNvSpPr>
            <p:nvPr/>
          </p:nvSpPr>
          <p:spPr bwMode="auto">
            <a:xfrm>
              <a:off x="5553515" y="2626568"/>
              <a:ext cx="0" cy="323851"/>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4" name="Line 28"/>
            <p:cNvSpPr>
              <a:spLocks noChangeShapeType="1"/>
            </p:cNvSpPr>
            <p:nvPr/>
          </p:nvSpPr>
          <p:spPr bwMode="auto">
            <a:xfrm>
              <a:off x="9340495"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5" name="Rectangle 29"/>
            <p:cNvSpPr>
              <a:spLocks noChangeArrowheads="1"/>
            </p:cNvSpPr>
            <p:nvPr/>
          </p:nvSpPr>
          <p:spPr bwMode="auto">
            <a:xfrm>
              <a:off x="382312" y="2151905"/>
              <a:ext cx="134947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B </a:t>
              </a:r>
              <a:r>
                <a:rPr kumimoji="1" lang="zh-CN" altLang="en-US" sz="1200" b="1">
                  <a:latin typeface="微软雅黑" pitchFamily="34" charset="-122"/>
                  <a:ea typeface="微软雅黑" pitchFamily="34" charset="-122"/>
                </a:rPr>
                <a:t>类地址</a:t>
              </a:r>
            </a:p>
          </p:txBody>
        </p:sp>
        <p:sp>
          <p:nvSpPr>
            <p:cNvPr id="96" name="Line 30"/>
            <p:cNvSpPr>
              <a:spLocks noChangeShapeType="1"/>
            </p:cNvSpPr>
            <p:nvPr/>
          </p:nvSpPr>
          <p:spPr bwMode="auto">
            <a:xfrm>
              <a:off x="5553514" y="2150319"/>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97" name="Rectangle 31"/>
            <p:cNvSpPr>
              <a:spLocks noChangeArrowheads="1"/>
            </p:cNvSpPr>
            <p:nvPr/>
          </p:nvSpPr>
          <p:spPr bwMode="auto">
            <a:xfrm>
              <a:off x="385029" y="3364953"/>
              <a:ext cx="1346756"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C </a:t>
              </a:r>
              <a:r>
                <a:rPr kumimoji="1" lang="zh-CN" altLang="en-US" sz="1200" b="1" dirty="0">
                  <a:latin typeface="微软雅黑" pitchFamily="34" charset="-122"/>
                  <a:ea typeface="微软雅黑" pitchFamily="34" charset="-122"/>
                </a:rPr>
                <a:t>类地址</a:t>
              </a:r>
            </a:p>
          </p:txBody>
        </p:sp>
        <p:sp>
          <p:nvSpPr>
            <p:cNvPr id="98" name="Rectangle 33"/>
            <p:cNvSpPr>
              <a:spLocks noChangeArrowheads="1"/>
            </p:cNvSpPr>
            <p:nvPr/>
          </p:nvSpPr>
          <p:spPr bwMode="auto">
            <a:xfrm>
              <a:off x="1666786" y="3361455"/>
              <a:ext cx="962403"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1 1 0</a:t>
              </a:r>
            </a:p>
          </p:txBody>
        </p:sp>
        <p:sp>
          <p:nvSpPr>
            <p:cNvPr id="99" name="Line 35"/>
            <p:cNvSpPr>
              <a:spLocks noChangeShapeType="1"/>
            </p:cNvSpPr>
            <p:nvPr/>
          </p:nvSpPr>
          <p:spPr bwMode="auto">
            <a:xfrm>
              <a:off x="2473367" y="3353842"/>
              <a:ext cx="0" cy="439737"/>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0" name="Line 36"/>
            <p:cNvSpPr>
              <a:spLocks noChangeShapeType="1"/>
            </p:cNvSpPr>
            <p:nvPr/>
          </p:nvSpPr>
          <p:spPr bwMode="auto">
            <a:xfrm>
              <a:off x="7505477" y="3349079"/>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1" name="Line 37"/>
            <p:cNvSpPr>
              <a:spLocks noChangeShapeType="1"/>
            </p:cNvSpPr>
            <p:nvPr/>
          </p:nvSpPr>
          <p:spPr bwMode="auto">
            <a:xfrm>
              <a:off x="7510637" y="4011066"/>
              <a:ext cx="1829857"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grpSp>
          <p:nvGrpSpPr>
            <p:cNvPr id="102" name="Group 38"/>
            <p:cNvGrpSpPr>
              <a:grpSpLocks/>
            </p:cNvGrpSpPr>
            <p:nvPr/>
          </p:nvGrpSpPr>
          <p:grpSpPr bwMode="auto">
            <a:xfrm>
              <a:off x="7928099" y="3820573"/>
              <a:ext cx="1131196" cy="644929"/>
              <a:chOff x="2827" y="3024"/>
              <a:chExt cx="453" cy="382"/>
            </a:xfrm>
          </p:grpSpPr>
          <p:sp>
            <p:nvSpPr>
              <p:cNvPr id="119"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20" name="Rectangle 40"/>
              <p:cNvSpPr>
                <a:spLocks noChangeArrowheads="1"/>
              </p:cNvSpPr>
              <p:nvPr/>
            </p:nvSpPr>
            <p:spPr bwMode="auto">
              <a:xfrm>
                <a:off x="2827" y="3024"/>
                <a:ext cx="453" cy="382"/>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8 </a:t>
                </a:r>
                <a:r>
                  <a:rPr kumimoji="1" lang="zh-CN" altLang="en-US" sz="1050" b="1" dirty="0">
                    <a:solidFill>
                      <a:srgbClr val="0000FF"/>
                    </a:solidFill>
                    <a:latin typeface="微软雅黑" pitchFamily="34" charset="-122"/>
                    <a:ea typeface="微软雅黑" pitchFamily="34" charset="-122"/>
                  </a:rPr>
                  <a:t>位</a:t>
                </a:r>
              </a:p>
            </p:txBody>
          </p:sp>
        </p:grpSp>
        <p:sp>
          <p:nvSpPr>
            <p:cNvPr id="103" name="Line 41"/>
            <p:cNvSpPr>
              <a:spLocks noChangeShapeType="1"/>
            </p:cNvSpPr>
            <p:nvPr/>
          </p:nvSpPr>
          <p:spPr bwMode="auto">
            <a:xfrm>
              <a:off x="1732137" y="385707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104" name="Line 42"/>
            <p:cNvSpPr>
              <a:spLocks noChangeShapeType="1"/>
            </p:cNvSpPr>
            <p:nvPr/>
          </p:nvSpPr>
          <p:spPr bwMode="auto">
            <a:xfrm>
              <a:off x="7510637" y="386025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5" name="Line 43"/>
            <p:cNvSpPr>
              <a:spLocks noChangeShapeType="1"/>
            </p:cNvSpPr>
            <p:nvPr/>
          </p:nvSpPr>
          <p:spPr bwMode="auto">
            <a:xfrm>
              <a:off x="9340495" y="384120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6" name="Rectangle 44"/>
            <p:cNvSpPr>
              <a:spLocks noChangeArrowheads="1"/>
            </p:cNvSpPr>
            <p:nvPr/>
          </p:nvSpPr>
          <p:spPr bwMode="auto">
            <a:xfrm>
              <a:off x="1725258" y="4582716"/>
              <a:ext cx="7656513"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7" name="Rectangle 45"/>
            <p:cNvSpPr>
              <a:spLocks noChangeArrowheads="1"/>
            </p:cNvSpPr>
            <p:nvPr/>
          </p:nvSpPr>
          <p:spPr bwMode="auto">
            <a:xfrm>
              <a:off x="355160" y="4593828"/>
              <a:ext cx="1376625"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D </a:t>
              </a:r>
              <a:r>
                <a:rPr kumimoji="1" lang="zh-CN" altLang="en-US" sz="1200" b="1">
                  <a:latin typeface="微软雅黑" pitchFamily="34" charset="-122"/>
                  <a:ea typeface="微软雅黑" pitchFamily="34" charset="-122"/>
                </a:rPr>
                <a:t>类地址</a:t>
              </a:r>
            </a:p>
          </p:txBody>
        </p:sp>
        <p:sp>
          <p:nvSpPr>
            <p:cNvPr id="108" name="Line 46"/>
            <p:cNvSpPr>
              <a:spLocks noChangeShapeType="1"/>
            </p:cNvSpPr>
            <p:nvPr/>
          </p:nvSpPr>
          <p:spPr bwMode="auto">
            <a:xfrm>
              <a:off x="2629189" y="459065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9" name="Rectangle 47"/>
            <p:cNvSpPr>
              <a:spLocks noChangeArrowheads="1"/>
            </p:cNvSpPr>
            <p:nvPr/>
          </p:nvSpPr>
          <p:spPr bwMode="auto">
            <a:xfrm>
              <a:off x="1610464" y="4581129"/>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1 1 1 0</a:t>
              </a:r>
            </a:p>
          </p:txBody>
        </p:sp>
        <p:sp>
          <p:nvSpPr>
            <p:cNvPr id="110" name="Rectangle 48"/>
            <p:cNvSpPr>
              <a:spLocks noChangeArrowheads="1"/>
            </p:cNvSpPr>
            <p:nvPr/>
          </p:nvSpPr>
          <p:spPr bwMode="auto">
            <a:xfrm>
              <a:off x="5031263" y="4581509"/>
              <a:ext cx="158841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多 播 地 址</a:t>
              </a:r>
            </a:p>
          </p:txBody>
        </p:sp>
        <p:sp>
          <p:nvSpPr>
            <p:cNvPr id="111" name="Rectangle 49"/>
            <p:cNvSpPr>
              <a:spLocks noChangeArrowheads="1"/>
            </p:cNvSpPr>
            <p:nvPr/>
          </p:nvSpPr>
          <p:spPr bwMode="auto">
            <a:xfrm>
              <a:off x="1733857" y="5549503"/>
              <a:ext cx="7641035"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2" name="Rectangle 50"/>
            <p:cNvSpPr>
              <a:spLocks noChangeArrowheads="1"/>
            </p:cNvSpPr>
            <p:nvPr/>
          </p:nvSpPr>
          <p:spPr bwMode="auto">
            <a:xfrm>
              <a:off x="412181" y="5559030"/>
              <a:ext cx="131960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E </a:t>
              </a:r>
              <a:r>
                <a:rPr kumimoji="1" lang="zh-CN" altLang="en-US" sz="1200" b="1">
                  <a:latin typeface="微软雅黑" pitchFamily="34" charset="-122"/>
                  <a:ea typeface="微软雅黑" pitchFamily="34" charset="-122"/>
                </a:rPr>
                <a:t>类地址</a:t>
              </a:r>
            </a:p>
          </p:txBody>
        </p:sp>
        <p:sp>
          <p:nvSpPr>
            <p:cNvPr id="113" name="Rectangle 51"/>
            <p:cNvSpPr>
              <a:spLocks noChangeArrowheads="1"/>
            </p:cNvSpPr>
            <p:nvPr/>
          </p:nvSpPr>
          <p:spPr bwMode="auto">
            <a:xfrm>
              <a:off x="4518046" y="5540357"/>
              <a:ext cx="260662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保 留 为 今 后 使 用</a:t>
              </a:r>
            </a:p>
          </p:txBody>
        </p:sp>
        <p:sp>
          <p:nvSpPr>
            <p:cNvPr id="114" name="Line 52"/>
            <p:cNvSpPr>
              <a:spLocks noChangeShapeType="1"/>
            </p:cNvSpPr>
            <p:nvPr/>
          </p:nvSpPr>
          <p:spPr bwMode="auto">
            <a:xfrm>
              <a:off x="2641708" y="557490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5" name="Rectangle 53"/>
            <p:cNvSpPr>
              <a:spLocks noChangeArrowheads="1"/>
            </p:cNvSpPr>
            <p:nvPr/>
          </p:nvSpPr>
          <p:spPr bwMode="auto">
            <a:xfrm>
              <a:off x="1610464" y="5555854"/>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1 1 1 1</a:t>
              </a:r>
            </a:p>
          </p:txBody>
        </p:sp>
        <p:sp>
          <p:nvSpPr>
            <p:cNvPr id="116" name="Rectangle 54"/>
            <p:cNvSpPr>
              <a:spLocks noChangeArrowheads="1"/>
            </p:cNvSpPr>
            <p:nvPr/>
          </p:nvSpPr>
          <p:spPr bwMode="auto">
            <a:xfrm>
              <a:off x="1861122" y="213603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latin typeface="微软雅黑" pitchFamily="34" charset="-122"/>
                  <a:ea typeface="微软雅黑" pitchFamily="34" charset="-122"/>
                </a:rPr>
                <a:t>0</a:t>
              </a:r>
            </a:p>
          </p:txBody>
        </p:sp>
        <p:sp>
          <p:nvSpPr>
            <p:cNvPr id="117" name="Rectangle 55"/>
            <p:cNvSpPr>
              <a:spLocks noChangeArrowheads="1"/>
            </p:cNvSpPr>
            <p:nvPr/>
          </p:nvSpPr>
          <p:spPr bwMode="auto">
            <a:xfrm>
              <a:off x="1653026" y="2136030"/>
              <a:ext cx="524537"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a:t>
              </a:r>
            </a:p>
          </p:txBody>
        </p:sp>
        <p:sp>
          <p:nvSpPr>
            <p:cNvPr id="118" name="Line 56"/>
            <p:cNvSpPr>
              <a:spLocks noChangeShapeType="1"/>
            </p:cNvSpPr>
            <p:nvPr/>
          </p:nvSpPr>
          <p:spPr bwMode="auto">
            <a:xfrm>
              <a:off x="2249794" y="2132856"/>
              <a:ext cx="0" cy="441325"/>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grpSp>
      <p:sp>
        <p:nvSpPr>
          <p:cNvPr id="64" name="AutoShape 61"/>
          <p:cNvSpPr>
            <a:spLocks noChangeArrowheads="1"/>
          </p:cNvSpPr>
          <p:nvPr/>
        </p:nvSpPr>
        <p:spPr bwMode="auto">
          <a:xfrm>
            <a:off x="2858377" y="3611194"/>
            <a:ext cx="4144668" cy="314674"/>
          </a:xfrm>
          <a:prstGeom prst="wedgeRoundRectCallout">
            <a:avLst>
              <a:gd name="adj1" fmla="val -36088"/>
              <a:gd name="adj2" fmla="val -777129"/>
              <a:gd name="adj3" fmla="val 16667"/>
            </a:avLst>
          </a:prstGeom>
          <a:solidFill>
            <a:srgbClr val="00FFFF"/>
          </a:solidFill>
          <a:ln w="9525">
            <a:solidFill>
              <a:schemeClr val="tx1"/>
            </a:solidFill>
            <a:miter lim="800000"/>
            <a:headEnd/>
            <a:tailEnd/>
          </a:ln>
          <a:effectLst/>
        </p:spPr>
        <p:txBody>
          <a:bodyPr anchor="ctr"/>
          <a:lstStyle/>
          <a:p>
            <a:pPr algn="ctr"/>
            <a:r>
              <a:rPr lang="en-US" altLang="zh-CN" sz="1600" b="1" dirty="0">
                <a:solidFill>
                  <a:srgbClr val="000066"/>
                </a:solidFill>
                <a:latin typeface="微软雅黑" pitchFamily="34" charset="-122"/>
                <a:ea typeface="微软雅黑" pitchFamily="34" charset="-122"/>
              </a:rPr>
              <a:t>A </a:t>
            </a:r>
            <a:r>
              <a:rPr lang="zh-CN" altLang="en-US" sz="1600" b="1" dirty="0">
                <a:solidFill>
                  <a:srgbClr val="000066"/>
                </a:solidFill>
                <a:latin typeface="微软雅黑" pitchFamily="34" charset="-122"/>
                <a:ea typeface="微软雅黑" pitchFamily="34" charset="-122"/>
              </a:rPr>
              <a:t>类地址的网络号字段 </a:t>
            </a:r>
            <a:r>
              <a:rPr lang="en-US" altLang="zh-CN" sz="1600" b="1" dirty="0">
                <a:solidFill>
                  <a:srgbClr val="000066"/>
                </a:solidFill>
                <a:latin typeface="微软雅黑" pitchFamily="34" charset="-122"/>
                <a:ea typeface="微软雅黑" pitchFamily="34" charset="-122"/>
              </a:rPr>
              <a:t>net-id </a:t>
            </a:r>
            <a:r>
              <a:rPr lang="zh-CN" altLang="en-US" sz="1600" b="1" dirty="0">
                <a:solidFill>
                  <a:srgbClr val="000066"/>
                </a:solidFill>
                <a:latin typeface="微软雅黑" pitchFamily="34" charset="-122"/>
                <a:ea typeface="微软雅黑" pitchFamily="34" charset="-122"/>
              </a:rPr>
              <a:t>为 </a:t>
            </a:r>
            <a:r>
              <a:rPr lang="en-US" altLang="zh-CN" sz="1600" b="1" dirty="0">
                <a:solidFill>
                  <a:srgbClr val="000066"/>
                </a:solidFill>
                <a:latin typeface="微软雅黑" pitchFamily="34" charset="-122"/>
                <a:ea typeface="微软雅黑" pitchFamily="34" charset="-122"/>
              </a:rPr>
              <a:t>1 </a:t>
            </a:r>
            <a:r>
              <a:rPr lang="zh-CN" altLang="en-US" sz="1600" b="1" dirty="0">
                <a:solidFill>
                  <a:srgbClr val="000066"/>
                </a:solidFill>
                <a:latin typeface="微软雅黑" pitchFamily="34" charset="-122"/>
                <a:ea typeface="微软雅黑" pitchFamily="34" charset="-122"/>
              </a:rPr>
              <a:t>字节</a:t>
            </a:r>
          </a:p>
        </p:txBody>
      </p:sp>
    </p:spTree>
    <p:extLst>
      <p:ext uri="{BB962C8B-B14F-4D97-AF65-F5344CB8AC3E}">
        <p14:creationId xmlns:p14="http://schemas.microsoft.com/office/powerpoint/2010/main" val="265865588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6" name="圆角矩形 65"/>
          <p:cNvSpPr/>
          <p:nvPr/>
        </p:nvSpPr>
        <p:spPr>
          <a:xfrm>
            <a:off x="545144" y="103367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7" name="矩形 66"/>
          <p:cNvSpPr/>
          <p:nvPr/>
        </p:nvSpPr>
        <p:spPr>
          <a:xfrm>
            <a:off x="616085" y="565906"/>
            <a:ext cx="4697120" cy="400110"/>
          </a:xfrm>
          <a:prstGeom prst="rect">
            <a:avLst/>
          </a:prstGeom>
        </p:spPr>
        <p:txBody>
          <a:bodyPr wrap="none">
            <a:spAutoFit/>
          </a:bodyPr>
          <a:lstStyle/>
          <a:p>
            <a:r>
              <a:rPr lang="zh-CN" altLang="en-US" sz="2000" b="1" dirty="0">
                <a:latin typeface="微软雅黑" pitchFamily="34" charset="-122"/>
                <a:ea typeface="微软雅黑" pitchFamily="34" charset="-122"/>
              </a:rPr>
              <a:t>各类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地址的网络号字段和主机号字段</a:t>
            </a:r>
          </a:p>
        </p:txBody>
      </p:sp>
      <p:grpSp>
        <p:nvGrpSpPr>
          <p:cNvPr id="65" name="组合 64"/>
          <p:cNvGrpSpPr/>
          <p:nvPr/>
        </p:nvGrpSpPr>
        <p:grpSpPr>
          <a:xfrm>
            <a:off x="1880840" y="1160772"/>
            <a:ext cx="5329079" cy="3009005"/>
            <a:chOff x="355160" y="927100"/>
            <a:chExt cx="9026611" cy="5096778"/>
          </a:xfrm>
        </p:grpSpPr>
        <p:sp>
          <p:nvSpPr>
            <p:cNvPr id="68" name="Line 2"/>
            <p:cNvSpPr>
              <a:spLocks noChangeShapeType="1"/>
            </p:cNvSpPr>
            <p:nvPr/>
          </p:nvSpPr>
          <p:spPr bwMode="auto">
            <a:xfrm flipV="1">
              <a:off x="1732138" y="4009478"/>
              <a:ext cx="574754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69" name="Rectangle 3"/>
            <p:cNvSpPr>
              <a:spLocks noChangeArrowheads="1"/>
            </p:cNvSpPr>
            <p:nvPr/>
          </p:nvSpPr>
          <p:spPr bwMode="auto">
            <a:xfrm>
              <a:off x="4144958" y="3791992"/>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24 </a:t>
              </a:r>
              <a:r>
                <a:rPr kumimoji="1" lang="zh-CN" altLang="en-US" sz="1050" b="1" dirty="0">
                  <a:solidFill>
                    <a:srgbClr val="C00000"/>
                  </a:solidFill>
                  <a:latin typeface="微软雅黑" pitchFamily="34" charset="-122"/>
                  <a:ea typeface="微软雅黑" pitchFamily="34" charset="-122"/>
                </a:rPr>
                <a:t>位</a:t>
              </a:r>
            </a:p>
          </p:txBody>
        </p:sp>
        <p:sp>
          <p:nvSpPr>
            <p:cNvPr id="70" name="Rectangle 4"/>
            <p:cNvSpPr>
              <a:spLocks noChangeArrowheads="1"/>
            </p:cNvSpPr>
            <p:nvPr/>
          </p:nvSpPr>
          <p:spPr bwMode="auto">
            <a:xfrm>
              <a:off x="1732137" y="3355428"/>
              <a:ext cx="7634155" cy="444500"/>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1" name="Line 5"/>
            <p:cNvSpPr>
              <a:spLocks noChangeShapeType="1"/>
            </p:cNvSpPr>
            <p:nvPr/>
          </p:nvSpPr>
          <p:spPr bwMode="auto">
            <a:xfrm>
              <a:off x="3601550" y="1577975"/>
              <a:ext cx="575270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2" name="Rectangle 6"/>
            <p:cNvSpPr>
              <a:spLocks noChangeArrowheads="1"/>
            </p:cNvSpPr>
            <p:nvPr/>
          </p:nvSpPr>
          <p:spPr bwMode="auto">
            <a:xfrm>
              <a:off x="5866875" y="1370014"/>
              <a:ext cx="1167551"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24 </a:t>
              </a:r>
              <a:r>
                <a:rPr kumimoji="1" lang="zh-CN" altLang="en-US" sz="1050" b="1" dirty="0">
                  <a:solidFill>
                    <a:srgbClr val="0000FF"/>
                  </a:solidFill>
                  <a:latin typeface="微软雅黑" pitchFamily="34" charset="-122"/>
                  <a:ea typeface="微软雅黑" pitchFamily="34" charset="-122"/>
                </a:rPr>
                <a:t>位</a:t>
              </a:r>
            </a:p>
          </p:txBody>
        </p:sp>
        <p:sp>
          <p:nvSpPr>
            <p:cNvPr id="73" name="Line 7"/>
            <p:cNvSpPr>
              <a:spLocks noChangeShapeType="1"/>
            </p:cNvSpPr>
            <p:nvPr/>
          </p:nvSpPr>
          <p:spPr bwMode="auto">
            <a:xfrm flipV="1">
              <a:off x="1775131" y="2790849"/>
              <a:ext cx="3764625"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4" name="Rectangle 8"/>
            <p:cNvSpPr>
              <a:spLocks noChangeArrowheads="1"/>
            </p:cNvSpPr>
            <p:nvPr/>
          </p:nvSpPr>
          <p:spPr bwMode="auto">
            <a:xfrm>
              <a:off x="3208855" y="2574181"/>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16 </a:t>
              </a:r>
              <a:r>
                <a:rPr kumimoji="1" lang="zh-CN" altLang="en-US" sz="1050" b="1" dirty="0">
                  <a:solidFill>
                    <a:srgbClr val="C00000"/>
                  </a:solidFill>
                  <a:latin typeface="微软雅黑" pitchFamily="34" charset="-122"/>
                  <a:ea typeface="微软雅黑" pitchFamily="34" charset="-122"/>
                </a:rPr>
                <a:t>位</a:t>
              </a:r>
            </a:p>
          </p:txBody>
        </p:sp>
        <p:sp>
          <p:nvSpPr>
            <p:cNvPr id="75" name="Line 9"/>
            <p:cNvSpPr>
              <a:spLocks noChangeShapeType="1"/>
            </p:cNvSpPr>
            <p:nvPr/>
          </p:nvSpPr>
          <p:spPr bwMode="auto">
            <a:xfrm>
              <a:off x="1690862" y="1577975"/>
              <a:ext cx="1910688"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6" name="Rectangle 10"/>
            <p:cNvSpPr>
              <a:spLocks noChangeArrowheads="1"/>
            </p:cNvSpPr>
            <p:nvPr/>
          </p:nvSpPr>
          <p:spPr bwMode="auto">
            <a:xfrm>
              <a:off x="2058942" y="1370014"/>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algn="ct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8 </a:t>
              </a:r>
              <a:r>
                <a:rPr kumimoji="1" lang="zh-CN" altLang="en-US" sz="1050" b="1" dirty="0">
                  <a:solidFill>
                    <a:srgbClr val="C00000"/>
                  </a:solidFill>
                  <a:latin typeface="微软雅黑" pitchFamily="34" charset="-122"/>
                  <a:ea typeface="微软雅黑" pitchFamily="34" charset="-122"/>
                </a:rPr>
                <a:t>位</a:t>
              </a:r>
            </a:p>
          </p:txBody>
        </p:sp>
        <p:sp>
          <p:nvSpPr>
            <p:cNvPr id="77" name="Rectangle 11"/>
            <p:cNvSpPr>
              <a:spLocks noChangeArrowheads="1"/>
            </p:cNvSpPr>
            <p:nvPr/>
          </p:nvSpPr>
          <p:spPr bwMode="auto">
            <a:xfrm>
              <a:off x="1694302" y="933451"/>
              <a:ext cx="7675430" cy="442913"/>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8" name="Rectangle 12"/>
            <p:cNvSpPr>
              <a:spLocks noChangeArrowheads="1"/>
            </p:cNvSpPr>
            <p:nvPr/>
          </p:nvSpPr>
          <p:spPr bwMode="auto">
            <a:xfrm>
              <a:off x="1716659" y="2140794"/>
              <a:ext cx="7659952" cy="446087"/>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9" name="Rectangle 14"/>
            <p:cNvSpPr>
              <a:spLocks noChangeArrowheads="1"/>
            </p:cNvSpPr>
            <p:nvPr/>
          </p:nvSpPr>
          <p:spPr bwMode="auto">
            <a:xfrm>
              <a:off x="1742456" y="3369716"/>
              <a:ext cx="5742384" cy="423862"/>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0" name="Rectangle 15"/>
            <p:cNvSpPr>
              <a:spLocks noChangeArrowheads="1"/>
            </p:cNvSpPr>
            <p:nvPr/>
          </p:nvSpPr>
          <p:spPr bwMode="auto">
            <a:xfrm>
              <a:off x="1740736" y="2151905"/>
              <a:ext cx="3804179" cy="423863"/>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1" name="Rectangle 16"/>
            <p:cNvSpPr>
              <a:spLocks noChangeArrowheads="1"/>
            </p:cNvSpPr>
            <p:nvPr/>
          </p:nvSpPr>
          <p:spPr bwMode="auto">
            <a:xfrm>
              <a:off x="1720099" y="957263"/>
              <a:ext cx="1874573" cy="406400"/>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2" name="Rectangle 17"/>
            <p:cNvSpPr>
              <a:spLocks noChangeArrowheads="1"/>
            </p:cNvSpPr>
            <p:nvPr/>
          </p:nvSpPr>
          <p:spPr bwMode="auto">
            <a:xfrm>
              <a:off x="1635829" y="92710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050" b="1" dirty="0">
                  <a:latin typeface="微软雅黑" pitchFamily="34" charset="-122"/>
                  <a:ea typeface="微软雅黑" pitchFamily="34" charset="-122"/>
                </a:rPr>
                <a:t>0</a:t>
              </a:r>
            </a:p>
          </p:txBody>
        </p:sp>
        <p:sp>
          <p:nvSpPr>
            <p:cNvPr id="83" name="Rectangle 18"/>
            <p:cNvSpPr>
              <a:spLocks noChangeArrowheads="1"/>
            </p:cNvSpPr>
            <p:nvPr/>
          </p:nvSpPr>
          <p:spPr bwMode="auto">
            <a:xfrm>
              <a:off x="366021" y="955675"/>
              <a:ext cx="136576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A </a:t>
              </a:r>
              <a:r>
                <a:rPr kumimoji="1" lang="zh-CN" altLang="en-US" sz="1200" b="1" dirty="0">
                  <a:latin typeface="微软雅黑" pitchFamily="34" charset="-122"/>
                  <a:ea typeface="微软雅黑" pitchFamily="34" charset="-122"/>
                </a:rPr>
                <a:t>类地址</a:t>
              </a:r>
            </a:p>
          </p:txBody>
        </p:sp>
        <p:sp>
          <p:nvSpPr>
            <p:cNvPr id="84" name="Line 19"/>
            <p:cNvSpPr>
              <a:spLocks noChangeShapeType="1"/>
            </p:cNvSpPr>
            <p:nvPr/>
          </p:nvSpPr>
          <p:spPr bwMode="auto">
            <a:xfrm>
              <a:off x="1971188" y="933451"/>
              <a:ext cx="0" cy="450849"/>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85" name="Line 20"/>
            <p:cNvSpPr>
              <a:spLocks noChangeShapeType="1"/>
            </p:cNvSpPr>
            <p:nvPr/>
          </p:nvSpPr>
          <p:spPr bwMode="auto">
            <a:xfrm>
              <a:off x="3601550"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6" name="Line 21"/>
            <p:cNvSpPr>
              <a:spLocks noChangeShapeType="1"/>
            </p:cNvSpPr>
            <p:nvPr/>
          </p:nvSpPr>
          <p:spPr bwMode="auto">
            <a:xfrm>
              <a:off x="1690862"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87" name="Line 22"/>
            <p:cNvSpPr>
              <a:spLocks noChangeShapeType="1"/>
            </p:cNvSpPr>
            <p:nvPr/>
          </p:nvSpPr>
          <p:spPr bwMode="auto">
            <a:xfrm>
              <a:off x="3601550"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8" name="Line 23"/>
            <p:cNvSpPr>
              <a:spLocks noChangeShapeType="1"/>
            </p:cNvSpPr>
            <p:nvPr/>
          </p:nvSpPr>
          <p:spPr bwMode="auto">
            <a:xfrm>
              <a:off x="9354254"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9" name="Line 24"/>
            <p:cNvSpPr>
              <a:spLocks noChangeShapeType="1"/>
            </p:cNvSpPr>
            <p:nvPr/>
          </p:nvSpPr>
          <p:spPr bwMode="auto">
            <a:xfrm>
              <a:off x="5553515" y="2784499"/>
              <a:ext cx="3786979" cy="635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0" name="Rectangle 25"/>
            <p:cNvSpPr>
              <a:spLocks noChangeArrowheads="1"/>
            </p:cNvSpPr>
            <p:nvPr/>
          </p:nvSpPr>
          <p:spPr bwMode="auto">
            <a:xfrm>
              <a:off x="6946995" y="2636149"/>
              <a:ext cx="1167551" cy="668165"/>
            </a:xfrm>
            <a:prstGeom prst="rect">
              <a:avLst/>
            </a:prstGeom>
            <a:solidFill>
              <a:srgbClr val="C3E3F9"/>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a:lnSpc>
                  <a:spcPct val="90000"/>
                </a:lnSpc>
              </a:pPr>
              <a:r>
                <a:rPr kumimoji="1" lang="en-US" altLang="zh-CN" sz="1050" b="1" dirty="0">
                  <a:solidFill>
                    <a:srgbClr val="0000FF"/>
                  </a:solidFill>
                  <a:latin typeface="微软雅黑" pitchFamily="34" charset="-122"/>
                  <a:ea typeface="微软雅黑" pitchFamily="34" charset="-122"/>
                </a:rPr>
                <a:t>16 </a:t>
              </a:r>
              <a:r>
                <a:rPr kumimoji="1" lang="zh-CN" altLang="en-US" sz="1050" b="1" dirty="0">
                  <a:solidFill>
                    <a:srgbClr val="0000FF"/>
                  </a:solidFill>
                  <a:latin typeface="微软雅黑" pitchFamily="34" charset="-122"/>
                  <a:ea typeface="微软雅黑" pitchFamily="34" charset="-122"/>
                </a:rPr>
                <a:t>位</a:t>
              </a:r>
            </a:p>
          </p:txBody>
        </p:sp>
        <p:sp>
          <p:nvSpPr>
            <p:cNvPr id="91" name="Line 26"/>
            <p:cNvSpPr>
              <a:spLocks noChangeShapeType="1"/>
            </p:cNvSpPr>
            <p:nvPr/>
          </p:nvSpPr>
          <p:spPr bwMode="auto">
            <a:xfrm>
              <a:off x="1732137"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92" name="Line 27"/>
            <p:cNvSpPr>
              <a:spLocks noChangeShapeType="1"/>
            </p:cNvSpPr>
            <p:nvPr/>
          </p:nvSpPr>
          <p:spPr bwMode="auto">
            <a:xfrm>
              <a:off x="5553515" y="2626568"/>
              <a:ext cx="0" cy="323851"/>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3" name="Line 28"/>
            <p:cNvSpPr>
              <a:spLocks noChangeShapeType="1"/>
            </p:cNvSpPr>
            <p:nvPr/>
          </p:nvSpPr>
          <p:spPr bwMode="auto">
            <a:xfrm>
              <a:off x="9340495"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4" name="Rectangle 29"/>
            <p:cNvSpPr>
              <a:spLocks noChangeArrowheads="1"/>
            </p:cNvSpPr>
            <p:nvPr/>
          </p:nvSpPr>
          <p:spPr bwMode="auto">
            <a:xfrm>
              <a:off x="382312" y="2151905"/>
              <a:ext cx="134947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B </a:t>
              </a:r>
              <a:r>
                <a:rPr kumimoji="1" lang="zh-CN" altLang="en-US" sz="1200" b="1">
                  <a:latin typeface="微软雅黑" pitchFamily="34" charset="-122"/>
                  <a:ea typeface="微软雅黑" pitchFamily="34" charset="-122"/>
                </a:rPr>
                <a:t>类地址</a:t>
              </a:r>
            </a:p>
          </p:txBody>
        </p:sp>
        <p:sp>
          <p:nvSpPr>
            <p:cNvPr id="95" name="Line 30"/>
            <p:cNvSpPr>
              <a:spLocks noChangeShapeType="1"/>
            </p:cNvSpPr>
            <p:nvPr/>
          </p:nvSpPr>
          <p:spPr bwMode="auto">
            <a:xfrm>
              <a:off x="5553514" y="2150319"/>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96" name="Rectangle 31"/>
            <p:cNvSpPr>
              <a:spLocks noChangeArrowheads="1"/>
            </p:cNvSpPr>
            <p:nvPr/>
          </p:nvSpPr>
          <p:spPr bwMode="auto">
            <a:xfrm>
              <a:off x="385029" y="3364953"/>
              <a:ext cx="1346756"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C </a:t>
              </a:r>
              <a:r>
                <a:rPr kumimoji="1" lang="zh-CN" altLang="en-US" sz="1200" b="1" dirty="0">
                  <a:latin typeface="微软雅黑" pitchFamily="34" charset="-122"/>
                  <a:ea typeface="微软雅黑" pitchFamily="34" charset="-122"/>
                </a:rPr>
                <a:t>类地址</a:t>
              </a:r>
            </a:p>
          </p:txBody>
        </p:sp>
        <p:sp>
          <p:nvSpPr>
            <p:cNvPr id="97" name="Rectangle 33"/>
            <p:cNvSpPr>
              <a:spLocks noChangeArrowheads="1"/>
            </p:cNvSpPr>
            <p:nvPr/>
          </p:nvSpPr>
          <p:spPr bwMode="auto">
            <a:xfrm>
              <a:off x="1666786" y="3361455"/>
              <a:ext cx="962403"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1 1 0</a:t>
              </a:r>
            </a:p>
          </p:txBody>
        </p:sp>
        <p:sp>
          <p:nvSpPr>
            <p:cNvPr id="98" name="Line 35"/>
            <p:cNvSpPr>
              <a:spLocks noChangeShapeType="1"/>
            </p:cNvSpPr>
            <p:nvPr/>
          </p:nvSpPr>
          <p:spPr bwMode="auto">
            <a:xfrm>
              <a:off x="2473367" y="3353842"/>
              <a:ext cx="0" cy="439737"/>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99" name="Line 36"/>
            <p:cNvSpPr>
              <a:spLocks noChangeShapeType="1"/>
            </p:cNvSpPr>
            <p:nvPr/>
          </p:nvSpPr>
          <p:spPr bwMode="auto">
            <a:xfrm>
              <a:off x="7505477" y="3349079"/>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0" name="Line 37"/>
            <p:cNvSpPr>
              <a:spLocks noChangeShapeType="1"/>
            </p:cNvSpPr>
            <p:nvPr/>
          </p:nvSpPr>
          <p:spPr bwMode="auto">
            <a:xfrm>
              <a:off x="7510637" y="4011066"/>
              <a:ext cx="1829857"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grpSp>
          <p:nvGrpSpPr>
            <p:cNvPr id="101" name="Group 38"/>
            <p:cNvGrpSpPr>
              <a:grpSpLocks/>
            </p:cNvGrpSpPr>
            <p:nvPr/>
          </p:nvGrpSpPr>
          <p:grpSpPr bwMode="auto">
            <a:xfrm>
              <a:off x="7928099" y="3820573"/>
              <a:ext cx="1131196" cy="644929"/>
              <a:chOff x="2827" y="3024"/>
              <a:chExt cx="453" cy="382"/>
            </a:xfrm>
          </p:grpSpPr>
          <p:sp>
            <p:nvSpPr>
              <p:cNvPr id="118"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9" name="Rectangle 40"/>
              <p:cNvSpPr>
                <a:spLocks noChangeArrowheads="1"/>
              </p:cNvSpPr>
              <p:nvPr/>
            </p:nvSpPr>
            <p:spPr bwMode="auto">
              <a:xfrm>
                <a:off x="2827" y="3024"/>
                <a:ext cx="453" cy="382"/>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8 </a:t>
                </a:r>
                <a:r>
                  <a:rPr kumimoji="1" lang="zh-CN" altLang="en-US" sz="1050" b="1" dirty="0">
                    <a:solidFill>
                      <a:srgbClr val="0000FF"/>
                    </a:solidFill>
                    <a:latin typeface="微软雅黑" pitchFamily="34" charset="-122"/>
                    <a:ea typeface="微软雅黑" pitchFamily="34" charset="-122"/>
                  </a:rPr>
                  <a:t>位</a:t>
                </a:r>
              </a:p>
            </p:txBody>
          </p:sp>
        </p:grpSp>
        <p:sp>
          <p:nvSpPr>
            <p:cNvPr id="102" name="Line 41"/>
            <p:cNvSpPr>
              <a:spLocks noChangeShapeType="1"/>
            </p:cNvSpPr>
            <p:nvPr/>
          </p:nvSpPr>
          <p:spPr bwMode="auto">
            <a:xfrm>
              <a:off x="1732137" y="385707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103" name="Line 42"/>
            <p:cNvSpPr>
              <a:spLocks noChangeShapeType="1"/>
            </p:cNvSpPr>
            <p:nvPr/>
          </p:nvSpPr>
          <p:spPr bwMode="auto">
            <a:xfrm>
              <a:off x="7510637" y="386025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4" name="Line 43"/>
            <p:cNvSpPr>
              <a:spLocks noChangeShapeType="1"/>
            </p:cNvSpPr>
            <p:nvPr/>
          </p:nvSpPr>
          <p:spPr bwMode="auto">
            <a:xfrm>
              <a:off x="9340495" y="384120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5" name="Rectangle 44"/>
            <p:cNvSpPr>
              <a:spLocks noChangeArrowheads="1"/>
            </p:cNvSpPr>
            <p:nvPr/>
          </p:nvSpPr>
          <p:spPr bwMode="auto">
            <a:xfrm>
              <a:off x="1725258" y="4582716"/>
              <a:ext cx="7656513"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6" name="Rectangle 45"/>
            <p:cNvSpPr>
              <a:spLocks noChangeArrowheads="1"/>
            </p:cNvSpPr>
            <p:nvPr/>
          </p:nvSpPr>
          <p:spPr bwMode="auto">
            <a:xfrm>
              <a:off x="355160" y="4593828"/>
              <a:ext cx="1376625"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D </a:t>
              </a:r>
              <a:r>
                <a:rPr kumimoji="1" lang="zh-CN" altLang="en-US" sz="1200" b="1">
                  <a:latin typeface="微软雅黑" pitchFamily="34" charset="-122"/>
                  <a:ea typeface="微软雅黑" pitchFamily="34" charset="-122"/>
                </a:rPr>
                <a:t>类地址</a:t>
              </a:r>
            </a:p>
          </p:txBody>
        </p:sp>
        <p:sp>
          <p:nvSpPr>
            <p:cNvPr id="107" name="Line 46"/>
            <p:cNvSpPr>
              <a:spLocks noChangeShapeType="1"/>
            </p:cNvSpPr>
            <p:nvPr/>
          </p:nvSpPr>
          <p:spPr bwMode="auto">
            <a:xfrm>
              <a:off x="2629189" y="459065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8" name="Rectangle 47"/>
            <p:cNvSpPr>
              <a:spLocks noChangeArrowheads="1"/>
            </p:cNvSpPr>
            <p:nvPr/>
          </p:nvSpPr>
          <p:spPr bwMode="auto">
            <a:xfrm>
              <a:off x="1610464" y="4581129"/>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1 1 1 0</a:t>
              </a:r>
            </a:p>
          </p:txBody>
        </p:sp>
        <p:sp>
          <p:nvSpPr>
            <p:cNvPr id="109" name="Rectangle 48"/>
            <p:cNvSpPr>
              <a:spLocks noChangeArrowheads="1"/>
            </p:cNvSpPr>
            <p:nvPr/>
          </p:nvSpPr>
          <p:spPr bwMode="auto">
            <a:xfrm>
              <a:off x="5031263" y="4581509"/>
              <a:ext cx="158841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多 播 地 址</a:t>
              </a:r>
            </a:p>
          </p:txBody>
        </p:sp>
        <p:sp>
          <p:nvSpPr>
            <p:cNvPr id="110" name="Rectangle 49"/>
            <p:cNvSpPr>
              <a:spLocks noChangeArrowheads="1"/>
            </p:cNvSpPr>
            <p:nvPr/>
          </p:nvSpPr>
          <p:spPr bwMode="auto">
            <a:xfrm>
              <a:off x="1733857" y="5549503"/>
              <a:ext cx="7641035"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1" name="Rectangle 50"/>
            <p:cNvSpPr>
              <a:spLocks noChangeArrowheads="1"/>
            </p:cNvSpPr>
            <p:nvPr/>
          </p:nvSpPr>
          <p:spPr bwMode="auto">
            <a:xfrm>
              <a:off x="412181" y="5559030"/>
              <a:ext cx="131960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E </a:t>
              </a:r>
              <a:r>
                <a:rPr kumimoji="1" lang="zh-CN" altLang="en-US" sz="1200" b="1">
                  <a:latin typeface="微软雅黑" pitchFamily="34" charset="-122"/>
                  <a:ea typeface="微软雅黑" pitchFamily="34" charset="-122"/>
                </a:rPr>
                <a:t>类地址</a:t>
              </a:r>
            </a:p>
          </p:txBody>
        </p:sp>
        <p:sp>
          <p:nvSpPr>
            <p:cNvPr id="112" name="Rectangle 51"/>
            <p:cNvSpPr>
              <a:spLocks noChangeArrowheads="1"/>
            </p:cNvSpPr>
            <p:nvPr/>
          </p:nvSpPr>
          <p:spPr bwMode="auto">
            <a:xfrm>
              <a:off x="4518046" y="5540357"/>
              <a:ext cx="260662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保 留 为 今 后 使 用</a:t>
              </a:r>
            </a:p>
          </p:txBody>
        </p:sp>
        <p:sp>
          <p:nvSpPr>
            <p:cNvPr id="113" name="Line 52"/>
            <p:cNvSpPr>
              <a:spLocks noChangeShapeType="1"/>
            </p:cNvSpPr>
            <p:nvPr/>
          </p:nvSpPr>
          <p:spPr bwMode="auto">
            <a:xfrm>
              <a:off x="2641708" y="557490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4" name="Rectangle 53"/>
            <p:cNvSpPr>
              <a:spLocks noChangeArrowheads="1"/>
            </p:cNvSpPr>
            <p:nvPr/>
          </p:nvSpPr>
          <p:spPr bwMode="auto">
            <a:xfrm>
              <a:off x="1610464" y="5555854"/>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1 1 1 1</a:t>
              </a:r>
            </a:p>
          </p:txBody>
        </p:sp>
        <p:sp>
          <p:nvSpPr>
            <p:cNvPr id="115" name="Rectangle 54"/>
            <p:cNvSpPr>
              <a:spLocks noChangeArrowheads="1"/>
            </p:cNvSpPr>
            <p:nvPr/>
          </p:nvSpPr>
          <p:spPr bwMode="auto">
            <a:xfrm>
              <a:off x="1861122" y="213603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latin typeface="微软雅黑" pitchFamily="34" charset="-122"/>
                  <a:ea typeface="微软雅黑" pitchFamily="34" charset="-122"/>
                </a:rPr>
                <a:t>0</a:t>
              </a:r>
            </a:p>
          </p:txBody>
        </p:sp>
        <p:sp>
          <p:nvSpPr>
            <p:cNvPr id="116" name="Rectangle 55"/>
            <p:cNvSpPr>
              <a:spLocks noChangeArrowheads="1"/>
            </p:cNvSpPr>
            <p:nvPr/>
          </p:nvSpPr>
          <p:spPr bwMode="auto">
            <a:xfrm>
              <a:off x="1653026" y="2136030"/>
              <a:ext cx="524537"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a:t>
              </a:r>
            </a:p>
          </p:txBody>
        </p:sp>
        <p:sp>
          <p:nvSpPr>
            <p:cNvPr id="117" name="Line 56"/>
            <p:cNvSpPr>
              <a:spLocks noChangeShapeType="1"/>
            </p:cNvSpPr>
            <p:nvPr/>
          </p:nvSpPr>
          <p:spPr bwMode="auto">
            <a:xfrm>
              <a:off x="2249794" y="2132856"/>
              <a:ext cx="0" cy="441325"/>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grpSp>
      <p:sp>
        <p:nvSpPr>
          <p:cNvPr id="63" name="AutoShape 61"/>
          <p:cNvSpPr>
            <a:spLocks noChangeArrowheads="1"/>
          </p:cNvSpPr>
          <p:nvPr/>
        </p:nvSpPr>
        <p:spPr bwMode="auto">
          <a:xfrm>
            <a:off x="2858377" y="3611194"/>
            <a:ext cx="4144668" cy="314674"/>
          </a:xfrm>
          <a:prstGeom prst="wedgeRoundRectCallout">
            <a:avLst>
              <a:gd name="adj1" fmla="val -12934"/>
              <a:gd name="adj2" fmla="val -546962"/>
              <a:gd name="adj3" fmla="val 16667"/>
            </a:avLst>
          </a:prstGeom>
          <a:solidFill>
            <a:srgbClr val="00FFFF"/>
          </a:solidFill>
          <a:ln w="9525">
            <a:solidFill>
              <a:schemeClr val="tx1"/>
            </a:solidFill>
            <a:miter lim="800000"/>
            <a:headEnd/>
            <a:tailEnd/>
          </a:ln>
          <a:effectLst/>
        </p:spPr>
        <p:txBody>
          <a:bodyPr anchor="ctr"/>
          <a:lstStyle/>
          <a:p>
            <a:pPr algn="ctr"/>
            <a:r>
              <a:rPr lang="en-US" altLang="zh-CN" sz="1600" b="1" dirty="0">
                <a:solidFill>
                  <a:srgbClr val="000066"/>
                </a:solidFill>
                <a:latin typeface="微软雅黑" pitchFamily="34" charset="-122"/>
                <a:ea typeface="微软雅黑" pitchFamily="34" charset="-122"/>
              </a:rPr>
              <a:t>B </a:t>
            </a:r>
            <a:r>
              <a:rPr lang="zh-CN" altLang="en-US" sz="1600" b="1" dirty="0">
                <a:solidFill>
                  <a:srgbClr val="000066"/>
                </a:solidFill>
                <a:latin typeface="微软雅黑" pitchFamily="34" charset="-122"/>
                <a:ea typeface="微软雅黑" pitchFamily="34" charset="-122"/>
              </a:rPr>
              <a:t>类地址的网络号字段 </a:t>
            </a:r>
            <a:r>
              <a:rPr lang="en-US" altLang="zh-CN" sz="1600" b="1" dirty="0">
                <a:solidFill>
                  <a:srgbClr val="000066"/>
                </a:solidFill>
                <a:latin typeface="微软雅黑" pitchFamily="34" charset="-122"/>
                <a:ea typeface="微软雅黑" pitchFamily="34" charset="-122"/>
              </a:rPr>
              <a:t>net-id </a:t>
            </a:r>
            <a:r>
              <a:rPr lang="zh-CN" altLang="en-US" sz="1600" b="1" dirty="0">
                <a:solidFill>
                  <a:srgbClr val="000066"/>
                </a:solidFill>
                <a:latin typeface="微软雅黑" pitchFamily="34" charset="-122"/>
                <a:ea typeface="微软雅黑" pitchFamily="34" charset="-122"/>
              </a:rPr>
              <a:t>为 </a:t>
            </a:r>
            <a:r>
              <a:rPr lang="en-US" altLang="zh-CN" sz="1600" b="1" dirty="0">
                <a:solidFill>
                  <a:srgbClr val="000066"/>
                </a:solidFill>
                <a:latin typeface="微软雅黑" pitchFamily="34" charset="-122"/>
                <a:ea typeface="微软雅黑" pitchFamily="34" charset="-122"/>
              </a:rPr>
              <a:t>2 </a:t>
            </a:r>
            <a:r>
              <a:rPr lang="zh-CN" altLang="en-US" sz="1600" b="1" dirty="0">
                <a:solidFill>
                  <a:srgbClr val="000066"/>
                </a:solidFill>
                <a:latin typeface="微软雅黑" pitchFamily="34" charset="-122"/>
                <a:ea typeface="微软雅黑" pitchFamily="34" charset="-122"/>
              </a:rPr>
              <a:t>字节</a:t>
            </a:r>
          </a:p>
        </p:txBody>
      </p:sp>
    </p:spTree>
    <p:extLst>
      <p:ext uri="{BB962C8B-B14F-4D97-AF65-F5344CB8AC3E}">
        <p14:creationId xmlns:p14="http://schemas.microsoft.com/office/powerpoint/2010/main" val="9336076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8" name="圆角矩形 67"/>
          <p:cNvSpPr/>
          <p:nvPr/>
        </p:nvSpPr>
        <p:spPr>
          <a:xfrm>
            <a:off x="545144" y="103367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9" name="矩形 68"/>
          <p:cNvSpPr/>
          <p:nvPr/>
        </p:nvSpPr>
        <p:spPr>
          <a:xfrm>
            <a:off x="616085" y="565906"/>
            <a:ext cx="4697120" cy="400110"/>
          </a:xfrm>
          <a:prstGeom prst="rect">
            <a:avLst/>
          </a:prstGeom>
        </p:spPr>
        <p:txBody>
          <a:bodyPr wrap="none">
            <a:spAutoFit/>
          </a:bodyPr>
          <a:lstStyle/>
          <a:p>
            <a:r>
              <a:rPr lang="zh-CN" altLang="en-US" sz="2000" b="1" dirty="0">
                <a:latin typeface="微软雅黑" pitchFamily="34" charset="-122"/>
                <a:ea typeface="微软雅黑" pitchFamily="34" charset="-122"/>
              </a:rPr>
              <a:t>各类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地址的网络号字段和主机号字段</a:t>
            </a:r>
          </a:p>
        </p:txBody>
      </p:sp>
      <p:grpSp>
        <p:nvGrpSpPr>
          <p:cNvPr id="67" name="组合 66"/>
          <p:cNvGrpSpPr/>
          <p:nvPr/>
        </p:nvGrpSpPr>
        <p:grpSpPr>
          <a:xfrm>
            <a:off x="1880840" y="1160772"/>
            <a:ext cx="5329079" cy="3009005"/>
            <a:chOff x="355160" y="927100"/>
            <a:chExt cx="9026611" cy="5096778"/>
          </a:xfrm>
        </p:grpSpPr>
        <p:sp>
          <p:nvSpPr>
            <p:cNvPr id="70" name="Line 2"/>
            <p:cNvSpPr>
              <a:spLocks noChangeShapeType="1"/>
            </p:cNvSpPr>
            <p:nvPr/>
          </p:nvSpPr>
          <p:spPr bwMode="auto">
            <a:xfrm flipV="1">
              <a:off x="1732138" y="4009478"/>
              <a:ext cx="574754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1" name="Rectangle 3"/>
            <p:cNvSpPr>
              <a:spLocks noChangeArrowheads="1"/>
            </p:cNvSpPr>
            <p:nvPr/>
          </p:nvSpPr>
          <p:spPr bwMode="auto">
            <a:xfrm>
              <a:off x="4144958" y="3791992"/>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24 </a:t>
              </a:r>
              <a:r>
                <a:rPr kumimoji="1" lang="zh-CN" altLang="en-US" sz="1050" b="1" dirty="0">
                  <a:solidFill>
                    <a:srgbClr val="C00000"/>
                  </a:solidFill>
                  <a:latin typeface="微软雅黑" pitchFamily="34" charset="-122"/>
                  <a:ea typeface="微软雅黑" pitchFamily="34" charset="-122"/>
                </a:rPr>
                <a:t>位</a:t>
              </a:r>
            </a:p>
          </p:txBody>
        </p:sp>
        <p:sp>
          <p:nvSpPr>
            <p:cNvPr id="72" name="Rectangle 4"/>
            <p:cNvSpPr>
              <a:spLocks noChangeArrowheads="1"/>
            </p:cNvSpPr>
            <p:nvPr/>
          </p:nvSpPr>
          <p:spPr bwMode="auto">
            <a:xfrm>
              <a:off x="1732137" y="3355428"/>
              <a:ext cx="7634155" cy="444500"/>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3" name="Line 5"/>
            <p:cNvSpPr>
              <a:spLocks noChangeShapeType="1"/>
            </p:cNvSpPr>
            <p:nvPr/>
          </p:nvSpPr>
          <p:spPr bwMode="auto">
            <a:xfrm>
              <a:off x="3601550" y="1577975"/>
              <a:ext cx="575270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4" name="Rectangle 6"/>
            <p:cNvSpPr>
              <a:spLocks noChangeArrowheads="1"/>
            </p:cNvSpPr>
            <p:nvPr/>
          </p:nvSpPr>
          <p:spPr bwMode="auto">
            <a:xfrm>
              <a:off x="5866875" y="1370014"/>
              <a:ext cx="1167551"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24 </a:t>
              </a:r>
              <a:r>
                <a:rPr kumimoji="1" lang="zh-CN" altLang="en-US" sz="1050" b="1" dirty="0">
                  <a:solidFill>
                    <a:srgbClr val="0000FF"/>
                  </a:solidFill>
                  <a:latin typeface="微软雅黑" pitchFamily="34" charset="-122"/>
                  <a:ea typeface="微软雅黑" pitchFamily="34" charset="-122"/>
                </a:rPr>
                <a:t>位</a:t>
              </a:r>
            </a:p>
          </p:txBody>
        </p:sp>
        <p:sp>
          <p:nvSpPr>
            <p:cNvPr id="75" name="Line 7"/>
            <p:cNvSpPr>
              <a:spLocks noChangeShapeType="1"/>
            </p:cNvSpPr>
            <p:nvPr/>
          </p:nvSpPr>
          <p:spPr bwMode="auto">
            <a:xfrm flipV="1">
              <a:off x="1775131" y="2790849"/>
              <a:ext cx="3764625"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6" name="Rectangle 8"/>
            <p:cNvSpPr>
              <a:spLocks noChangeArrowheads="1"/>
            </p:cNvSpPr>
            <p:nvPr/>
          </p:nvSpPr>
          <p:spPr bwMode="auto">
            <a:xfrm>
              <a:off x="3208855" y="2574181"/>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16 </a:t>
              </a:r>
              <a:r>
                <a:rPr kumimoji="1" lang="zh-CN" altLang="en-US" sz="1050" b="1" dirty="0">
                  <a:solidFill>
                    <a:srgbClr val="C00000"/>
                  </a:solidFill>
                  <a:latin typeface="微软雅黑" pitchFamily="34" charset="-122"/>
                  <a:ea typeface="微软雅黑" pitchFamily="34" charset="-122"/>
                </a:rPr>
                <a:t>位</a:t>
              </a:r>
            </a:p>
          </p:txBody>
        </p:sp>
        <p:sp>
          <p:nvSpPr>
            <p:cNvPr id="77" name="Line 9"/>
            <p:cNvSpPr>
              <a:spLocks noChangeShapeType="1"/>
            </p:cNvSpPr>
            <p:nvPr/>
          </p:nvSpPr>
          <p:spPr bwMode="auto">
            <a:xfrm>
              <a:off x="1690862" y="1577975"/>
              <a:ext cx="1910688"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8" name="Rectangle 10"/>
            <p:cNvSpPr>
              <a:spLocks noChangeArrowheads="1"/>
            </p:cNvSpPr>
            <p:nvPr/>
          </p:nvSpPr>
          <p:spPr bwMode="auto">
            <a:xfrm>
              <a:off x="2058942" y="1370014"/>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algn="ct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8 </a:t>
              </a:r>
              <a:r>
                <a:rPr kumimoji="1" lang="zh-CN" altLang="en-US" sz="1050" b="1" dirty="0">
                  <a:solidFill>
                    <a:srgbClr val="C00000"/>
                  </a:solidFill>
                  <a:latin typeface="微软雅黑" pitchFamily="34" charset="-122"/>
                  <a:ea typeface="微软雅黑" pitchFamily="34" charset="-122"/>
                </a:rPr>
                <a:t>位</a:t>
              </a:r>
            </a:p>
          </p:txBody>
        </p:sp>
        <p:sp>
          <p:nvSpPr>
            <p:cNvPr id="79" name="Rectangle 11"/>
            <p:cNvSpPr>
              <a:spLocks noChangeArrowheads="1"/>
            </p:cNvSpPr>
            <p:nvPr/>
          </p:nvSpPr>
          <p:spPr bwMode="auto">
            <a:xfrm>
              <a:off x="1694302" y="933451"/>
              <a:ext cx="7675430" cy="442913"/>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0" name="Rectangle 12"/>
            <p:cNvSpPr>
              <a:spLocks noChangeArrowheads="1"/>
            </p:cNvSpPr>
            <p:nvPr/>
          </p:nvSpPr>
          <p:spPr bwMode="auto">
            <a:xfrm>
              <a:off x="1716659" y="2140794"/>
              <a:ext cx="7659952" cy="446087"/>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1" name="Rectangle 14"/>
            <p:cNvSpPr>
              <a:spLocks noChangeArrowheads="1"/>
            </p:cNvSpPr>
            <p:nvPr/>
          </p:nvSpPr>
          <p:spPr bwMode="auto">
            <a:xfrm>
              <a:off x="1742456" y="3369716"/>
              <a:ext cx="5742384" cy="423862"/>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2" name="Rectangle 15"/>
            <p:cNvSpPr>
              <a:spLocks noChangeArrowheads="1"/>
            </p:cNvSpPr>
            <p:nvPr/>
          </p:nvSpPr>
          <p:spPr bwMode="auto">
            <a:xfrm>
              <a:off x="1740736" y="2151905"/>
              <a:ext cx="3804179" cy="423863"/>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3" name="Rectangle 16"/>
            <p:cNvSpPr>
              <a:spLocks noChangeArrowheads="1"/>
            </p:cNvSpPr>
            <p:nvPr/>
          </p:nvSpPr>
          <p:spPr bwMode="auto">
            <a:xfrm>
              <a:off x="1720099" y="957263"/>
              <a:ext cx="1874573" cy="406400"/>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4" name="Rectangle 17"/>
            <p:cNvSpPr>
              <a:spLocks noChangeArrowheads="1"/>
            </p:cNvSpPr>
            <p:nvPr/>
          </p:nvSpPr>
          <p:spPr bwMode="auto">
            <a:xfrm>
              <a:off x="1635829" y="92710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050" b="1" dirty="0">
                  <a:latin typeface="微软雅黑" pitchFamily="34" charset="-122"/>
                  <a:ea typeface="微软雅黑" pitchFamily="34" charset="-122"/>
                </a:rPr>
                <a:t>0</a:t>
              </a:r>
            </a:p>
          </p:txBody>
        </p:sp>
        <p:sp>
          <p:nvSpPr>
            <p:cNvPr id="85" name="Rectangle 18"/>
            <p:cNvSpPr>
              <a:spLocks noChangeArrowheads="1"/>
            </p:cNvSpPr>
            <p:nvPr/>
          </p:nvSpPr>
          <p:spPr bwMode="auto">
            <a:xfrm>
              <a:off x="366021" y="955675"/>
              <a:ext cx="136576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A </a:t>
              </a:r>
              <a:r>
                <a:rPr kumimoji="1" lang="zh-CN" altLang="en-US" sz="1200" b="1" dirty="0">
                  <a:latin typeface="微软雅黑" pitchFamily="34" charset="-122"/>
                  <a:ea typeface="微软雅黑" pitchFamily="34" charset="-122"/>
                </a:rPr>
                <a:t>类地址</a:t>
              </a:r>
            </a:p>
          </p:txBody>
        </p:sp>
        <p:sp>
          <p:nvSpPr>
            <p:cNvPr id="86" name="Line 19"/>
            <p:cNvSpPr>
              <a:spLocks noChangeShapeType="1"/>
            </p:cNvSpPr>
            <p:nvPr/>
          </p:nvSpPr>
          <p:spPr bwMode="auto">
            <a:xfrm>
              <a:off x="1971188" y="933451"/>
              <a:ext cx="0" cy="450849"/>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87" name="Line 20"/>
            <p:cNvSpPr>
              <a:spLocks noChangeShapeType="1"/>
            </p:cNvSpPr>
            <p:nvPr/>
          </p:nvSpPr>
          <p:spPr bwMode="auto">
            <a:xfrm>
              <a:off x="3601550"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8" name="Line 21"/>
            <p:cNvSpPr>
              <a:spLocks noChangeShapeType="1"/>
            </p:cNvSpPr>
            <p:nvPr/>
          </p:nvSpPr>
          <p:spPr bwMode="auto">
            <a:xfrm>
              <a:off x="1690862"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89" name="Line 22"/>
            <p:cNvSpPr>
              <a:spLocks noChangeShapeType="1"/>
            </p:cNvSpPr>
            <p:nvPr/>
          </p:nvSpPr>
          <p:spPr bwMode="auto">
            <a:xfrm>
              <a:off x="3601550"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0" name="Line 23"/>
            <p:cNvSpPr>
              <a:spLocks noChangeShapeType="1"/>
            </p:cNvSpPr>
            <p:nvPr/>
          </p:nvSpPr>
          <p:spPr bwMode="auto">
            <a:xfrm>
              <a:off x="9354254"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1" name="Line 24"/>
            <p:cNvSpPr>
              <a:spLocks noChangeShapeType="1"/>
            </p:cNvSpPr>
            <p:nvPr/>
          </p:nvSpPr>
          <p:spPr bwMode="auto">
            <a:xfrm>
              <a:off x="5553515" y="2784499"/>
              <a:ext cx="3786979" cy="635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2" name="Rectangle 25"/>
            <p:cNvSpPr>
              <a:spLocks noChangeArrowheads="1"/>
            </p:cNvSpPr>
            <p:nvPr/>
          </p:nvSpPr>
          <p:spPr bwMode="auto">
            <a:xfrm>
              <a:off x="6946995" y="2636149"/>
              <a:ext cx="1167551" cy="668165"/>
            </a:xfrm>
            <a:prstGeom prst="rect">
              <a:avLst/>
            </a:prstGeom>
            <a:solidFill>
              <a:srgbClr val="C3E3F9"/>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a:lnSpc>
                  <a:spcPct val="90000"/>
                </a:lnSpc>
              </a:pPr>
              <a:r>
                <a:rPr kumimoji="1" lang="en-US" altLang="zh-CN" sz="1050" b="1" dirty="0">
                  <a:solidFill>
                    <a:srgbClr val="0000FF"/>
                  </a:solidFill>
                  <a:latin typeface="微软雅黑" pitchFamily="34" charset="-122"/>
                  <a:ea typeface="微软雅黑" pitchFamily="34" charset="-122"/>
                </a:rPr>
                <a:t>16 </a:t>
              </a:r>
              <a:r>
                <a:rPr kumimoji="1" lang="zh-CN" altLang="en-US" sz="1050" b="1" dirty="0">
                  <a:solidFill>
                    <a:srgbClr val="0000FF"/>
                  </a:solidFill>
                  <a:latin typeface="微软雅黑" pitchFamily="34" charset="-122"/>
                  <a:ea typeface="微软雅黑" pitchFamily="34" charset="-122"/>
                </a:rPr>
                <a:t>位</a:t>
              </a:r>
            </a:p>
          </p:txBody>
        </p:sp>
        <p:sp>
          <p:nvSpPr>
            <p:cNvPr id="93" name="Line 26"/>
            <p:cNvSpPr>
              <a:spLocks noChangeShapeType="1"/>
            </p:cNvSpPr>
            <p:nvPr/>
          </p:nvSpPr>
          <p:spPr bwMode="auto">
            <a:xfrm>
              <a:off x="1732137"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94" name="Line 27"/>
            <p:cNvSpPr>
              <a:spLocks noChangeShapeType="1"/>
            </p:cNvSpPr>
            <p:nvPr/>
          </p:nvSpPr>
          <p:spPr bwMode="auto">
            <a:xfrm>
              <a:off x="5553515" y="2626568"/>
              <a:ext cx="0" cy="323851"/>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5" name="Line 28"/>
            <p:cNvSpPr>
              <a:spLocks noChangeShapeType="1"/>
            </p:cNvSpPr>
            <p:nvPr/>
          </p:nvSpPr>
          <p:spPr bwMode="auto">
            <a:xfrm>
              <a:off x="9340495"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6" name="Rectangle 29"/>
            <p:cNvSpPr>
              <a:spLocks noChangeArrowheads="1"/>
            </p:cNvSpPr>
            <p:nvPr/>
          </p:nvSpPr>
          <p:spPr bwMode="auto">
            <a:xfrm>
              <a:off x="382312" y="2151905"/>
              <a:ext cx="134947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B </a:t>
              </a:r>
              <a:r>
                <a:rPr kumimoji="1" lang="zh-CN" altLang="en-US" sz="1200" b="1">
                  <a:latin typeface="微软雅黑" pitchFamily="34" charset="-122"/>
                  <a:ea typeface="微软雅黑" pitchFamily="34" charset="-122"/>
                </a:rPr>
                <a:t>类地址</a:t>
              </a:r>
            </a:p>
          </p:txBody>
        </p:sp>
        <p:sp>
          <p:nvSpPr>
            <p:cNvPr id="97" name="Line 30"/>
            <p:cNvSpPr>
              <a:spLocks noChangeShapeType="1"/>
            </p:cNvSpPr>
            <p:nvPr/>
          </p:nvSpPr>
          <p:spPr bwMode="auto">
            <a:xfrm>
              <a:off x="5553514" y="2150319"/>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98" name="Rectangle 31"/>
            <p:cNvSpPr>
              <a:spLocks noChangeArrowheads="1"/>
            </p:cNvSpPr>
            <p:nvPr/>
          </p:nvSpPr>
          <p:spPr bwMode="auto">
            <a:xfrm>
              <a:off x="385029" y="3364953"/>
              <a:ext cx="1346756"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C </a:t>
              </a:r>
              <a:r>
                <a:rPr kumimoji="1" lang="zh-CN" altLang="en-US" sz="1200" b="1" dirty="0">
                  <a:latin typeface="微软雅黑" pitchFamily="34" charset="-122"/>
                  <a:ea typeface="微软雅黑" pitchFamily="34" charset="-122"/>
                </a:rPr>
                <a:t>类地址</a:t>
              </a:r>
            </a:p>
          </p:txBody>
        </p:sp>
        <p:sp>
          <p:nvSpPr>
            <p:cNvPr id="99" name="Rectangle 33"/>
            <p:cNvSpPr>
              <a:spLocks noChangeArrowheads="1"/>
            </p:cNvSpPr>
            <p:nvPr/>
          </p:nvSpPr>
          <p:spPr bwMode="auto">
            <a:xfrm>
              <a:off x="1666786" y="3361455"/>
              <a:ext cx="962403"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1 1 0</a:t>
              </a:r>
            </a:p>
          </p:txBody>
        </p:sp>
        <p:sp>
          <p:nvSpPr>
            <p:cNvPr id="100" name="Line 35"/>
            <p:cNvSpPr>
              <a:spLocks noChangeShapeType="1"/>
            </p:cNvSpPr>
            <p:nvPr/>
          </p:nvSpPr>
          <p:spPr bwMode="auto">
            <a:xfrm>
              <a:off x="2473367" y="3353842"/>
              <a:ext cx="0" cy="439737"/>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1" name="Line 36"/>
            <p:cNvSpPr>
              <a:spLocks noChangeShapeType="1"/>
            </p:cNvSpPr>
            <p:nvPr/>
          </p:nvSpPr>
          <p:spPr bwMode="auto">
            <a:xfrm>
              <a:off x="7505477" y="3349079"/>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2" name="Line 37"/>
            <p:cNvSpPr>
              <a:spLocks noChangeShapeType="1"/>
            </p:cNvSpPr>
            <p:nvPr/>
          </p:nvSpPr>
          <p:spPr bwMode="auto">
            <a:xfrm>
              <a:off x="7510637" y="4011066"/>
              <a:ext cx="1829857"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grpSp>
          <p:nvGrpSpPr>
            <p:cNvPr id="103" name="Group 38"/>
            <p:cNvGrpSpPr>
              <a:grpSpLocks/>
            </p:cNvGrpSpPr>
            <p:nvPr/>
          </p:nvGrpSpPr>
          <p:grpSpPr bwMode="auto">
            <a:xfrm>
              <a:off x="7928099" y="3820573"/>
              <a:ext cx="1131196" cy="644929"/>
              <a:chOff x="2827" y="3024"/>
              <a:chExt cx="453" cy="382"/>
            </a:xfrm>
          </p:grpSpPr>
          <p:sp>
            <p:nvSpPr>
              <p:cNvPr id="120"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21" name="Rectangle 40"/>
              <p:cNvSpPr>
                <a:spLocks noChangeArrowheads="1"/>
              </p:cNvSpPr>
              <p:nvPr/>
            </p:nvSpPr>
            <p:spPr bwMode="auto">
              <a:xfrm>
                <a:off x="2827" y="3024"/>
                <a:ext cx="453" cy="382"/>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8 </a:t>
                </a:r>
                <a:r>
                  <a:rPr kumimoji="1" lang="zh-CN" altLang="en-US" sz="1050" b="1" dirty="0">
                    <a:solidFill>
                      <a:srgbClr val="0000FF"/>
                    </a:solidFill>
                    <a:latin typeface="微软雅黑" pitchFamily="34" charset="-122"/>
                    <a:ea typeface="微软雅黑" pitchFamily="34" charset="-122"/>
                  </a:rPr>
                  <a:t>位</a:t>
                </a:r>
              </a:p>
            </p:txBody>
          </p:sp>
        </p:grpSp>
        <p:sp>
          <p:nvSpPr>
            <p:cNvPr id="104" name="Line 41"/>
            <p:cNvSpPr>
              <a:spLocks noChangeShapeType="1"/>
            </p:cNvSpPr>
            <p:nvPr/>
          </p:nvSpPr>
          <p:spPr bwMode="auto">
            <a:xfrm>
              <a:off x="1732137" y="385707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105" name="Line 42"/>
            <p:cNvSpPr>
              <a:spLocks noChangeShapeType="1"/>
            </p:cNvSpPr>
            <p:nvPr/>
          </p:nvSpPr>
          <p:spPr bwMode="auto">
            <a:xfrm>
              <a:off x="7510637" y="386025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6" name="Line 43"/>
            <p:cNvSpPr>
              <a:spLocks noChangeShapeType="1"/>
            </p:cNvSpPr>
            <p:nvPr/>
          </p:nvSpPr>
          <p:spPr bwMode="auto">
            <a:xfrm>
              <a:off x="9340495" y="384120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7" name="Rectangle 44"/>
            <p:cNvSpPr>
              <a:spLocks noChangeArrowheads="1"/>
            </p:cNvSpPr>
            <p:nvPr/>
          </p:nvSpPr>
          <p:spPr bwMode="auto">
            <a:xfrm>
              <a:off x="1725258" y="4582716"/>
              <a:ext cx="7656513"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8" name="Rectangle 45"/>
            <p:cNvSpPr>
              <a:spLocks noChangeArrowheads="1"/>
            </p:cNvSpPr>
            <p:nvPr/>
          </p:nvSpPr>
          <p:spPr bwMode="auto">
            <a:xfrm>
              <a:off x="355160" y="4593828"/>
              <a:ext cx="1376625"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D </a:t>
              </a:r>
              <a:r>
                <a:rPr kumimoji="1" lang="zh-CN" altLang="en-US" sz="1200" b="1">
                  <a:latin typeface="微软雅黑" pitchFamily="34" charset="-122"/>
                  <a:ea typeface="微软雅黑" pitchFamily="34" charset="-122"/>
                </a:rPr>
                <a:t>类地址</a:t>
              </a:r>
            </a:p>
          </p:txBody>
        </p:sp>
        <p:sp>
          <p:nvSpPr>
            <p:cNvPr id="109" name="Line 46"/>
            <p:cNvSpPr>
              <a:spLocks noChangeShapeType="1"/>
            </p:cNvSpPr>
            <p:nvPr/>
          </p:nvSpPr>
          <p:spPr bwMode="auto">
            <a:xfrm>
              <a:off x="2629189" y="459065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0" name="Rectangle 47"/>
            <p:cNvSpPr>
              <a:spLocks noChangeArrowheads="1"/>
            </p:cNvSpPr>
            <p:nvPr/>
          </p:nvSpPr>
          <p:spPr bwMode="auto">
            <a:xfrm>
              <a:off x="1610464" y="4581129"/>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1 1 1 0</a:t>
              </a:r>
            </a:p>
          </p:txBody>
        </p:sp>
        <p:sp>
          <p:nvSpPr>
            <p:cNvPr id="111" name="Rectangle 48"/>
            <p:cNvSpPr>
              <a:spLocks noChangeArrowheads="1"/>
            </p:cNvSpPr>
            <p:nvPr/>
          </p:nvSpPr>
          <p:spPr bwMode="auto">
            <a:xfrm>
              <a:off x="5031263" y="4581509"/>
              <a:ext cx="158841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多 播 地 址</a:t>
              </a:r>
            </a:p>
          </p:txBody>
        </p:sp>
        <p:sp>
          <p:nvSpPr>
            <p:cNvPr id="112" name="Rectangle 49"/>
            <p:cNvSpPr>
              <a:spLocks noChangeArrowheads="1"/>
            </p:cNvSpPr>
            <p:nvPr/>
          </p:nvSpPr>
          <p:spPr bwMode="auto">
            <a:xfrm>
              <a:off x="1733857" y="5549503"/>
              <a:ext cx="7641035"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3" name="Rectangle 50"/>
            <p:cNvSpPr>
              <a:spLocks noChangeArrowheads="1"/>
            </p:cNvSpPr>
            <p:nvPr/>
          </p:nvSpPr>
          <p:spPr bwMode="auto">
            <a:xfrm>
              <a:off x="412181" y="5559030"/>
              <a:ext cx="131960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E </a:t>
              </a:r>
              <a:r>
                <a:rPr kumimoji="1" lang="zh-CN" altLang="en-US" sz="1200" b="1">
                  <a:latin typeface="微软雅黑" pitchFamily="34" charset="-122"/>
                  <a:ea typeface="微软雅黑" pitchFamily="34" charset="-122"/>
                </a:rPr>
                <a:t>类地址</a:t>
              </a:r>
            </a:p>
          </p:txBody>
        </p:sp>
        <p:sp>
          <p:nvSpPr>
            <p:cNvPr id="114" name="Rectangle 51"/>
            <p:cNvSpPr>
              <a:spLocks noChangeArrowheads="1"/>
            </p:cNvSpPr>
            <p:nvPr/>
          </p:nvSpPr>
          <p:spPr bwMode="auto">
            <a:xfrm>
              <a:off x="4518046" y="5540357"/>
              <a:ext cx="260662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保 留 为 今 后 使 用</a:t>
              </a:r>
            </a:p>
          </p:txBody>
        </p:sp>
        <p:sp>
          <p:nvSpPr>
            <p:cNvPr id="115" name="Line 52"/>
            <p:cNvSpPr>
              <a:spLocks noChangeShapeType="1"/>
            </p:cNvSpPr>
            <p:nvPr/>
          </p:nvSpPr>
          <p:spPr bwMode="auto">
            <a:xfrm>
              <a:off x="2641708" y="557490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6" name="Rectangle 53"/>
            <p:cNvSpPr>
              <a:spLocks noChangeArrowheads="1"/>
            </p:cNvSpPr>
            <p:nvPr/>
          </p:nvSpPr>
          <p:spPr bwMode="auto">
            <a:xfrm>
              <a:off x="1610464" y="5555854"/>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1 1 1 1</a:t>
              </a:r>
            </a:p>
          </p:txBody>
        </p:sp>
        <p:sp>
          <p:nvSpPr>
            <p:cNvPr id="117" name="Rectangle 54"/>
            <p:cNvSpPr>
              <a:spLocks noChangeArrowheads="1"/>
            </p:cNvSpPr>
            <p:nvPr/>
          </p:nvSpPr>
          <p:spPr bwMode="auto">
            <a:xfrm>
              <a:off x="1861122" y="213603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latin typeface="微软雅黑" pitchFamily="34" charset="-122"/>
                  <a:ea typeface="微软雅黑" pitchFamily="34" charset="-122"/>
                </a:rPr>
                <a:t>0</a:t>
              </a:r>
            </a:p>
          </p:txBody>
        </p:sp>
        <p:sp>
          <p:nvSpPr>
            <p:cNvPr id="118" name="Rectangle 55"/>
            <p:cNvSpPr>
              <a:spLocks noChangeArrowheads="1"/>
            </p:cNvSpPr>
            <p:nvPr/>
          </p:nvSpPr>
          <p:spPr bwMode="auto">
            <a:xfrm>
              <a:off x="1653026" y="2136030"/>
              <a:ext cx="524537"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a:t>
              </a:r>
            </a:p>
          </p:txBody>
        </p:sp>
        <p:sp>
          <p:nvSpPr>
            <p:cNvPr id="119" name="Line 56"/>
            <p:cNvSpPr>
              <a:spLocks noChangeShapeType="1"/>
            </p:cNvSpPr>
            <p:nvPr/>
          </p:nvSpPr>
          <p:spPr bwMode="auto">
            <a:xfrm>
              <a:off x="2249794" y="2132856"/>
              <a:ext cx="0" cy="441325"/>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grpSp>
      <p:sp>
        <p:nvSpPr>
          <p:cNvPr id="65" name="AutoShape 61"/>
          <p:cNvSpPr>
            <a:spLocks noChangeArrowheads="1"/>
          </p:cNvSpPr>
          <p:nvPr/>
        </p:nvSpPr>
        <p:spPr bwMode="auto">
          <a:xfrm>
            <a:off x="2858377" y="3611194"/>
            <a:ext cx="4144668" cy="314674"/>
          </a:xfrm>
          <a:prstGeom prst="wedgeRoundRectCallout">
            <a:avLst>
              <a:gd name="adj1" fmla="val -37399"/>
              <a:gd name="adj2" fmla="val -334057"/>
              <a:gd name="adj3" fmla="val 16667"/>
            </a:avLst>
          </a:prstGeom>
          <a:solidFill>
            <a:srgbClr val="00FFFF"/>
          </a:solidFill>
          <a:ln w="9525">
            <a:solidFill>
              <a:schemeClr val="tx1"/>
            </a:solidFill>
            <a:miter lim="800000"/>
            <a:headEnd/>
            <a:tailEnd/>
          </a:ln>
          <a:effectLst/>
        </p:spPr>
        <p:txBody>
          <a:bodyPr anchor="ctr"/>
          <a:lstStyle/>
          <a:p>
            <a:pPr algn="ctr"/>
            <a:r>
              <a:rPr lang="en-US" altLang="zh-CN" sz="1600" b="1" dirty="0">
                <a:solidFill>
                  <a:srgbClr val="000066"/>
                </a:solidFill>
                <a:latin typeface="微软雅黑" pitchFamily="34" charset="-122"/>
                <a:ea typeface="微软雅黑" pitchFamily="34" charset="-122"/>
              </a:rPr>
              <a:t>C </a:t>
            </a:r>
            <a:r>
              <a:rPr lang="zh-CN" altLang="en-US" sz="1600" b="1" dirty="0">
                <a:solidFill>
                  <a:srgbClr val="000066"/>
                </a:solidFill>
                <a:latin typeface="微软雅黑" pitchFamily="34" charset="-122"/>
                <a:ea typeface="微软雅黑" pitchFamily="34" charset="-122"/>
              </a:rPr>
              <a:t>类地址的网络号字段 </a:t>
            </a:r>
            <a:r>
              <a:rPr lang="en-US" altLang="zh-CN" sz="1600" b="1" dirty="0">
                <a:solidFill>
                  <a:srgbClr val="000066"/>
                </a:solidFill>
                <a:latin typeface="微软雅黑" pitchFamily="34" charset="-122"/>
                <a:ea typeface="微软雅黑" pitchFamily="34" charset="-122"/>
              </a:rPr>
              <a:t>net-id </a:t>
            </a:r>
            <a:r>
              <a:rPr lang="zh-CN" altLang="en-US" sz="1600" b="1" dirty="0">
                <a:solidFill>
                  <a:srgbClr val="000066"/>
                </a:solidFill>
                <a:latin typeface="微软雅黑" pitchFamily="34" charset="-122"/>
                <a:ea typeface="微软雅黑" pitchFamily="34" charset="-122"/>
              </a:rPr>
              <a:t>为 </a:t>
            </a:r>
            <a:r>
              <a:rPr lang="en-US" altLang="zh-CN" sz="1600" b="1" dirty="0">
                <a:solidFill>
                  <a:srgbClr val="000066"/>
                </a:solidFill>
                <a:latin typeface="微软雅黑" pitchFamily="34" charset="-122"/>
                <a:ea typeface="微软雅黑" pitchFamily="34" charset="-122"/>
              </a:rPr>
              <a:t>3 </a:t>
            </a:r>
            <a:r>
              <a:rPr lang="zh-CN" altLang="en-US" sz="1600" b="1" dirty="0">
                <a:solidFill>
                  <a:srgbClr val="000066"/>
                </a:solidFill>
                <a:latin typeface="微软雅黑" pitchFamily="34" charset="-122"/>
                <a:ea typeface="微软雅黑" pitchFamily="34" charset="-122"/>
              </a:rPr>
              <a:t>字节</a:t>
            </a:r>
          </a:p>
        </p:txBody>
      </p:sp>
    </p:spTree>
    <p:extLst>
      <p:ext uri="{BB962C8B-B14F-4D97-AF65-F5344CB8AC3E}">
        <p14:creationId xmlns:p14="http://schemas.microsoft.com/office/powerpoint/2010/main" val="10635492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7" name="圆角矩形 66"/>
          <p:cNvSpPr/>
          <p:nvPr/>
        </p:nvSpPr>
        <p:spPr>
          <a:xfrm>
            <a:off x="545144" y="103367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8" name="矩形 67"/>
          <p:cNvSpPr/>
          <p:nvPr/>
        </p:nvSpPr>
        <p:spPr>
          <a:xfrm>
            <a:off x="616085" y="565906"/>
            <a:ext cx="4697120" cy="400110"/>
          </a:xfrm>
          <a:prstGeom prst="rect">
            <a:avLst/>
          </a:prstGeom>
        </p:spPr>
        <p:txBody>
          <a:bodyPr wrap="none">
            <a:spAutoFit/>
          </a:bodyPr>
          <a:lstStyle/>
          <a:p>
            <a:r>
              <a:rPr lang="zh-CN" altLang="en-US" sz="2000" b="1" dirty="0">
                <a:latin typeface="微软雅黑" pitchFamily="34" charset="-122"/>
                <a:ea typeface="微软雅黑" pitchFamily="34" charset="-122"/>
              </a:rPr>
              <a:t>各类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地址的网络号字段和主机号字段</a:t>
            </a:r>
          </a:p>
        </p:txBody>
      </p:sp>
      <p:grpSp>
        <p:nvGrpSpPr>
          <p:cNvPr id="66" name="组合 65"/>
          <p:cNvGrpSpPr/>
          <p:nvPr/>
        </p:nvGrpSpPr>
        <p:grpSpPr>
          <a:xfrm>
            <a:off x="1880840" y="1160772"/>
            <a:ext cx="5329079" cy="3009005"/>
            <a:chOff x="355160" y="927100"/>
            <a:chExt cx="9026611" cy="5096778"/>
          </a:xfrm>
        </p:grpSpPr>
        <p:sp>
          <p:nvSpPr>
            <p:cNvPr id="69" name="Line 2"/>
            <p:cNvSpPr>
              <a:spLocks noChangeShapeType="1"/>
            </p:cNvSpPr>
            <p:nvPr/>
          </p:nvSpPr>
          <p:spPr bwMode="auto">
            <a:xfrm flipV="1">
              <a:off x="1732138" y="4009478"/>
              <a:ext cx="574754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0" name="Rectangle 3"/>
            <p:cNvSpPr>
              <a:spLocks noChangeArrowheads="1"/>
            </p:cNvSpPr>
            <p:nvPr/>
          </p:nvSpPr>
          <p:spPr bwMode="auto">
            <a:xfrm>
              <a:off x="4144958" y="3791992"/>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24 </a:t>
              </a:r>
              <a:r>
                <a:rPr kumimoji="1" lang="zh-CN" altLang="en-US" sz="1050" b="1" dirty="0">
                  <a:solidFill>
                    <a:srgbClr val="C00000"/>
                  </a:solidFill>
                  <a:latin typeface="微软雅黑" pitchFamily="34" charset="-122"/>
                  <a:ea typeface="微软雅黑" pitchFamily="34" charset="-122"/>
                </a:rPr>
                <a:t>位</a:t>
              </a:r>
            </a:p>
          </p:txBody>
        </p:sp>
        <p:sp>
          <p:nvSpPr>
            <p:cNvPr id="71" name="Rectangle 4"/>
            <p:cNvSpPr>
              <a:spLocks noChangeArrowheads="1"/>
            </p:cNvSpPr>
            <p:nvPr/>
          </p:nvSpPr>
          <p:spPr bwMode="auto">
            <a:xfrm>
              <a:off x="1732137" y="3355428"/>
              <a:ext cx="7634155" cy="444500"/>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2" name="Line 5"/>
            <p:cNvSpPr>
              <a:spLocks noChangeShapeType="1"/>
            </p:cNvSpPr>
            <p:nvPr/>
          </p:nvSpPr>
          <p:spPr bwMode="auto">
            <a:xfrm>
              <a:off x="3601550" y="1577975"/>
              <a:ext cx="575270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3" name="Rectangle 6"/>
            <p:cNvSpPr>
              <a:spLocks noChangeArrowheads="1"/>
            </p:cNvSpPr>
            <p:nvPr/>
          </p:nvSpPr>
          <p:spPr bwMode="auto">
            <a:xfrm>
              <a:off x="5866875" y="1370014"/>
              <a:ext cx="1167551"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24 </a:t>
              </a:r>
              <a:r>
                <a:rPr kumimoji="1" lang="zh-CN" altLang="en-US" sz="1050" b="1" dirty="0">
                  <a:solidFill>
                    <a:srgbClr val="0000FF"/>
                  </a:solidFill>
                  <a:latin typeface="微软雅黑" pitchFamily="34" charset="-122"/>
                  <a:ea typeface="微软雅黑" pitchFamily="34" charset="-122"/>
                </a:rPr>
                <a:t>位</a:t>
              </a:r>
            </a:p>
          </p:txBody>
        </p:sp>
        <p:sp>
          <p:nvSpPr>
            <p:cNvPr id="74" name="Line 7"/>
            <p:cNvSpPr>
              <a:spLocks noChangeShapeType="1"/>
            </p:cNvSpPr>
            <p:nvPr/>
          </p:nvSpPr>
          <p:spPr bwMode="auto">
            <a:xfrm flipV="1">
              <a:off x="1775131" y="2790849"/>
              <a:ext cx="3764625"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5" name="Rectangle 8"/>
            <p:cNvSpPr>
              <a:spLocks noChangeArrowheads="1"/>
            </p:cNvSpPr>
            <p:nvPr/>
          </p:nvSpPr>
          <p:spPr bwMode="auto">
            <a:xfrm>
              <a:off x="3208855" y="2574181"/>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16 </a:t>
              </a:r>
              <a:r>
                <a:rPr kumimoji="1" lang="zh-CN" altLang="en-US" sz="1050" b="1" dirty="0">
                  <a:solidFill>
                    <a:srgbClr val="C00000"/>
                  </a:solidFill>
                  <a:latin typeface="微软雅黑" pitchFamily="34" charset="-122"/>
                  <a:ea typeface="微软雅黑" pitchFamily="34" charset="-122"/>
                </a:rPr>
                <a:t>位</a:t>
              </a:r>
            </a:p>
          </p:txBody>
        </p:sp>
        <p:sp>
          <p:nvSpPr>
            <p:cNvPr id="76" name="Line 9"/>
            <p:cNvSpPr>
              <a:spLocks noChangeShapeType="1"/>
            </p:cNvSpPr>
            <p:nvPr/>
          </p:nvSpPr>
          <p:spPr bwMode="auto">
            <a:xfrm>
              <a:off x="1690862" y="1577975"/>
              <a:ext cx="1910688"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7" name="Rectangle 10"/>
            <p:cNvSpPr>
              <a:spLocks noChangeArrowheads="1"/>
            </p:cNvSpPr>
            <p:nvPr/>
          </p:nvSpPr>
          <p:spPr bwMode="auto">
            <a:xfrm>
              <a:off x="2058942" y="1370014"/>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algn="ct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8 </a:t>
              </a:r>
              <a:r>
                <a:rPr kumimoji="1" lang="zh-CN" altLang="en-US" sz="1050" b="1" dirty="0">
                  <a:solidFill>
                    <a:srgbClr val="C00000"/>
                  </a:solidFill>
                  <a:latin typeface="微软雅黑" pitchFamily="34" charset="-122"/>
                  <a:ea typeface="微软雅黑" pitchFamily="34" charset="-122"/>
                </a:rPr>
                <a:t>位</a:t>
              </a:r>
            </a:p>
          </p:txBody>
        </p:sp>
        <p:sp>
          <p:nvSpPr>
            <p:cNvPr id="78" name="Rectangle 11"/>
            <p:cNvSpPr>
              <a:spLocks noChangeArrowheads="1"/>
            </p:cNvSpPr>
            <p:nvPr/>
          </p:nvSpPr>
          <p:spPr bwMode="auto">
            <a:xfrm>
              <a:off x="1694302" y="933451"/>
              <a:ext cx="7675430" cy="442913"/>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9" name="Rectangle 12"/>
            <p:cNvSpPr>
              <a:spLocks noChangeArrowheads="1"/>
            </p:cNvSpPr>
            <p:nvPr/>
          </p:nvSpPr>
          <p:spPr bwMode="auto">
            <a:xfrm>
              <a:off x="1716659" y="2140794"/>
              <a:ext cx="7659952" cy="446087"/>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0" name="Rectangle 14"/>
            <p:cNvSpPr>
              <a:spLocks noChangeArrowheads="1"/>
            </p:cNvSpPr>
            <p:nvPr/>
          </p:nvSpPr>
          <p:spPr bwMode="auto">
            <a:xfrm>
              <a:off x="1742456" y="3369716"/>
              <a:ext cx="5742384" cy="423862"/>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1" name="Rectangle 15"/>
            <p:cNvSpPr>
              <a:spLocks noChangeArrowheads="1"/>
            </p:cNvSpPr>
            <p:nvPr/>
          </p:nvSpPr>
          <p:spPr bwMode="auto">
            <a:xfrm>
              <a:off x="1740736" y="2151905"/>
              <a:ext cx="3804179" cy="423863"/>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2" name="Rectangle 16"/>
            <p:cNvSpPr>
              <a:spLocks noChangeArrowheads="1"/>
            </p:cNvSpPr>
            <p:nvPr/>
          </p:nvSpPr>
          <p:spPr bwMode="auto">
            <a:xfrm>
              <a:off x="1720099" y="957263"/>
              <a:ext cx="1874573" cy="406400"/>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3" name="Rectangle 17"/>
            <p:cNvSpPr>
              <a:spLocks noChangeArrowheads="1"/>
            </p:cNvSpPr>
            <p:nvPr/>
          </p:nvSpPr>
          <p:spPr bwMode="auto">
            <a:xfrm>
              <a:off x="1635829" y="92710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050" b="1" dirty="0">
                  <a:latin typeface="微软雅黑" pitchFamily="34" charset="-122"/>
                  <a:ea typeface="微软雅黑" pitchFamily="34" charset="-122"/>
                </a:rPr>
                <a:t>0</a:t>
              </a:r>
            </a:p>
          </p:txBody>
        </p:sp>
        <p:sp>
          <p:nvSpPr>
            <p:cNvPr id="84" name="Rectangle 18"/>
            <p:cNvSpPr>
              <a:spLocks noChangeArrowheads="1"/>
            </p:cNvSpPr>
            <p:nvPr/>
          </p:nvSpPr>
          <p:spPr bwMode="auto">
            <a:xfrm>
              <a:off x="366021" y="955675"/>
              <a:ext cx="136576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A </a:t>
              </a:r>
              <a:r>
                <a:rPr kumimoji="1" lang="zh-CN" altLang="en-US" sz="1200" b="1" dirty="0">
                  <a:latin typeface="微软雅黑" pitchFamily="34" charset="-122"/>
                  <a:ea typeface="微软雅黑" pitchFamily="34" charset="-122"/>
                </a:rPr>
                <a:t>类地址</a:t>
              </a:r>
            </a:p>
          </p:txBody>
        </p:sp>
        <p:sp>
          <p:nvSpPr>
            <p:cNvPr id="85" name="Line 19"/>
            <p:cNvSpPr>
              <a:spLocks noChangeShapeType="1"/>
            </p:cNvSpPr>
            <p:nvPr/>
          </p:nvSpPr>
          <p:spPr bwMode="auto">
            <a:xfrm>
              <a:off x="1971188" y="933451"/>
              <a:ext cx="0" cy="450849"/>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86" name="Line 20"/>
            <p:cNvSpPr>
              <a:spLocks noChangeShapeType="1"/>
            </p:cNvSpPr>
            <p:nvPr/>
          </p:nvSpPr>
          <p:spPr bwMode="auto">
            <a:xfrm>
              <a:off x="3601550"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7" name="Line 21"/>
            <p:cNvSpPr>
              <a:spLocks noChangeShapeType="1"/>
            </p:cNvSpPr>
            <p:nvPr/>
          </p:nvSpPr>
          <p:spPr bwMode="auto">
            <a:xfrm>
              <a:off x="1690862"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88" name="Line 22"/>
            <p:cNvSpPr>
              <a:spLocks noChangeShapeType="1"/>
            </p:cNvSpPr>
            <p:nvPr/>
          </p:nvSpPr>
          <p:spPr bwMode="auto">
            <a:xfrm>
              <a:off x="3601550"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9" name="Line 23"/>
            <p:cNvSpPr>
              <a:spLocks noChangeShapeType="1"/>
            </p:cNvSpPr>
            <p:nvPr/>
          </p:nvSpPr>
          <p:spPr bwMode="auto">
            <a:xfrm>
              <a:off x="9354254"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0" name="Line 24"/>
            <p:cNvSpPr>
              <a:spLocks noChangeShapeType="1"/>
            </p:cNvSpPr>
            <p:nvPr/>
          </p:nvSpPr>
          <p:spPr bwMode="auto">
            <a:xfrm>
              <a:off x="5553515" y="2784499"/>
              <a:ext cx="3786979" cy="635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1" name="Rectangle 25"/>
            <p:cNvSpPr>
              <a:spLocks noChangeArrowheads="1"/>
            </p:cNvSpPr>
            <p:nvPr/>
          </p:nvSpPr>
          <p:spPr bwMode="auto">
            <a:xfrm>
              <a:off x="6946995" y="2636149"/>
              <a:ext cx="1167551" cy="668165"/>
            </a:xfrm>
            <a:prstGeom prst="rect">
              <a:avLst/>
            </a:prstGeom>
            <a:solidFill>
              <a:srgbClr val="C3E3F9"/>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a:lnSpc>
                  <a:spcPct val="90000"/>
                </a:lnSpc>
              </a:pPr>
              <a:r>
                <a:rPr kumimoji="1" lang="en-US" altLang="zh-CN" sz="1050" b="1" dirty="0">
                  <a:solidFill>
                    <a:srgbClr val="0000FF"/>
                  </a:solidFill>
                  <a:latin typeface="微软雅黑" pitchFamily="34" charset="-122"/>
                  <a:ea typeface="微软雅黑" pitchFamily="34" charset="-122"/>
                </a:rPr>
                <a:t>16 </a:t>
              </a:r>
              <a:r>
                <a:rPr kumimoji="1" lang="zh-CN" altLang="en-US" sz="1050" b="1" dirty="0">
                  <a:solidFill>
                    <a:srgbClr val="0000FF"/>
                  </a:solidFill>
                  <a:latin typeface="微软雅黑" pitchFamily="34" charset="-122"/>
                  <a:ea typeface="微软雅黑" pitchFamily="34" charset="-122"/>
                </a:rPr>
                <a:t>位</a:t>
              </a:r>
            </a:p>
          </p:txBody>
        </p:sp>
        <p:sp>
          <p:nvSpPr>
            <p:cNvPr id="92" name="Line 26"/>
            <p:cNvSpPr>
              <a:spLocks noChangeShapeType="1"/>
            </p:cNvSpPr>
            <p:nvPr/>
          </p:nvSpPr>
          <p:spPr bwMode="auto">
            <a:xfrm>
              <a:off x="1732137"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93" name="Line 27"/>
            <p:cNvSpPr>
              <a:spLocks noChangeShapeType="1"/>
            </p:cNvSpPr>
            <p:nvPr/>
          </p:nvSpPr>
          <p:spPr bwMode="auto">
            <a:xfrm>
              <a:off x="5553515" y="2626568"/>
              <a:ext cx="0" cy="323851"/>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4" name="Line 28"/>
            <p:cNvSpPr>
              <a:spLocks noChangeShapeType="1"/>
            </p:cNvSpPr>
            <p:nvPr/>
          </p:nvSpPr>
          <p:spPr bwMode="auto">
            <a:xfrm>
              <a:off x="9340495"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5" name="Rectangle 29"/>
            <p:cNvSpPr>
              <a:spLocks noChangeArrowheads="1"/>
            </p:cNvSpPr>
            <p:nvPr/>
          </p:nvSpPr>
          <p:spPr bwMode="auto">
            <a:xfrm>
              <a:off x="382312" y="2151905"/>
              <a:ext cx="134947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B </a:t>
              </a:r>
              <a:r>
                <a:rPr kumimoji="1" lang="zh-CN" altLang="en-US" sz="1200" b="1">
                  <a:latin typeface="微软雅黑" pitchFamily="34" charset="-122"/>
                  <a:ea typeface="微软雅黑" pitchFamily="34" charset="-122"/>
                </a:rPr>
                <a:t>类地址</a:t>
              </a:r>
            </a:p>
          </p:txBody>
        </p:sp>
        <p:sp>
          <p:nvSpPr>
            <p:cNvPr id="96" name="Line 30"/>
            <p:cNvSpPr>
              <a:spLocks noChangeShapeType="1"/>
            </p:cNvSpPr>
            <p:nvPr/>
          </p:nvSpPr>
          <p:spPr bwMode="auto">
            <a:xfrm>
              <a:off x="5553514" y="2150319"/>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97" name="Rectangle 31"/>
            <p:cNvSpPr>
              <a:spLocks noChangeArrowheads="1"/>
            </p:cNvSpPr>
            <p:nvPr/>
          </p:nvSpPr>
          <p:spPr bwMode="auto">
            <a:xfrm>
              <a:off x="385029" y="3364953"/>
              <a:ext cx="1346756"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C </a:t>
              </a:r>
              <a:r>
                <a:rPr kumimoji="1" lang="zh-CN" altLang="en-US" sz="1200" b="1" dirty="0">
                  <a:latin typeface="微软雅黑" pitchFamily="34" charset="-122"/>
                  <a:ea typeface="微软雅黑" pitchFamily="34" charset="-122"/>
                </a:rPr>
                <a:t>类地址</a:t>
              </a:r>
            </a:p>
          </p:txBody>
        </p:sp>
        <p:sp>
          <p:nvSpPr>
            <p:cNvPr id="98" name="Rectangle 33"/>
            <p:cNvSpPr>
              <a:spLocks noChangeArrowheads="1"/>
            </p:cNvSpPr>
            <p:nvPr/>
          </p:nvSpPr>
          <p:spPr bwMode="auto">
            <a:xfrm>
              <a:off x="1666786" y="3361455"/>
              <a:ext cx="962403"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1 1 0</a:t>
              </a:r>
            </a:p>
          </p:txBody>
        </p:sp>
        <p:sp>
          <p:nvSpPr>
            <p:cNvPr id="99" name="Line 35"/>
            <p:cNvSpPr>
              <a:spLocks noChangeShapeType="1"/>
            </p:cNvSpPr>
            <p:nvPr/>
          </p:nvSpPr>
          <p:spPr bwMode="auto">
            <a:xfrm>
              <a:off x="2473367" y="3353842"/>
              <a:ext cx="0" cy="439737"/>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0" name="Line 36"/>
            <p:cNvSpPr>
              <a:spLocks noChangeShapeType="1"/>
            </p:cNvSpPr>
            <p:nvPr/>
          </p:nvSpPr>
          <p:spPr bwMode="auto">
            <a:xfrm>
              <a:off x="7505477" y="3349079"/>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1" name="Line 37"/>
            <p:cNvSpPr>
              <a:spLocks noChangeShapeType="1"/>
            </p:cNvSpPr>
            <p:nvPr/>
          </p:nvSpPr>
          <p:spPr bwMode="auto">
            <a:xfrm>
              <a:off x="7510637" y="4011066"/>
              <a:ext cx="1829857"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grpSp>
          <p:nvGrpSpPr>
            <p:cNvPr id="102" name="Group 38"/>
            <p:cNvGrpSpPr>
              <a:grpSpLocks/>
            </p:cNvGrpSpPr>
            <p:nvPr/>
          </p:nvGrpSpPr>
          <p:grpSpPr bwMode="auto">
            <a:xfrm>
              <a:off x="7928099" y="3820573"/>
              <a:ext cx="1131196" cy="644929"/>
              <a:chOff x="2827" y="3024"/>
              <a:chExt cx="453" cy="382"/>
            </a:xfrm>
          </p:grpSpPr>
          <p:sp>
            <p:nvSpPr>
              <p:cNvPr id="119"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20" name="Rectangle 40"/>
              <p:cNvSpPr>
                <a:spLocks noChangeArrowheads="1"/>
              </p:cNvSpPr>
              <p:nvPr/>
            </p:nvSpPr>
            <p:spPr bwMode="auto">
              <a:xfrm>
                <a:off x="2827" y="3024"/>
                <a:ext cx="453" cy="382"/>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8 </a:t>
                </a:r>
                <a:r>
                  <a:rPr kumimoji="1" lang="zh-CN" altLang="en-US" sz="1050" b="1" dirty="0">
                    <a:solidFill>
                      <a:srgbClr val="0000FF"/>
                    </a:solidFill>
                    <a:latin typeface="微软雅黑" pitchFamily="34" charset="-122"/>
                    <a:ea typeface="微软雅黑" pitchFamily="34" charset="-122"/>
                  </a:rPr>
                  <a:t>位</a:t>
                </a:r>
              </a:p>
            </p:txBody>
          </p:sp>
        </p:grpSp>
        <p:sp>
          <p:nvSpPr>
            <p:cNvPr id="103" name="Line 41"/>
            <p:cNvSpPr>
              <a:spLocks noChangeShapeType="1"/>
            </p:cNvSpPr>
            <p:nvPr/>
          </p:nvSpPr>
          <p:spPr bwMode="auto">
            <a:xfrm>
              <a:off x="1732137" y="385707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104" name="Line 42"/>
            <p:cNvSpPr>
              <a:spLocks noChangeShapeType="1"/>
            </p:cNvSpPr>
            <p:nvPr/>
          </p:nvSpPr>
          <p:spPr bwMode="auto">
            <a:xfrm>
              <a:off x="7510637" y="386025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5" name="Line 43"/>
            <p:cNvSpPr>
              <a:spLocks noChangeShapeType="1"/>
            </p:cNvSpPr>
            <p:nvPr/>
          </p:nvSpPr>
          <p:spPr bwMode="auto">
            <a:xfrm>
              <a:off x="9340495" y="384120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6" name="Rectangle 44"/>
            <p:cNvSpPr>
              <a:spLocks noChangeArrowheads="1"/>
            </p:cNvSpPr>
            <p:nvPr/>
          </p:nvSpPr>
          <p:spPr bwMode="auto">
            <a:xfrm>
              <a:off x="1725258" y="4582716"/>
              <a:ext cx="7656513"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7" name="Rectangle 45"/>
            <p:cNvSpPr>
              <a:spLocks noChangeArrowheads="1"/>
            </p:cNvSpPr>
            <p:nvPr/>
          </p:nvSpPr>
          <p:spPr bwMode="auto">
            <a:xfrm>
              <a:off x="355160" y="4593828"/>
              <a:ext cx="1376625"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D </a:t>
              </a:r>
              <a:r>
                <a:rPr kumimoji="1" lang="zh-CN" altLang="en-US" sz="1200" b="1">
                  <a:latin typeface="微软雅黑" pitchFamily="34" charset="-122"/>
                  <a:ea typeface="微软雅黑" pitchFamily="34" charset="-122"/>
                </a:rPr>
                <a:t>类地址</a:t>
              </a:r>
            </a:p>
          </p:txBody>
        </p:sp>
        <p:sp>
          <p:nvSpPr>
            <p:cNvPr id="108" name="Line 46"/>
            <p:cNvSpPr>
              <a:spLocks noChangeShapeType="1"/>
            </p:cNvSpPr>
            <p:nvPr/>
          </p:nvSpPr>
          <p:spPr bwMode="auto">
            <a:xfrm>
              <a:off x="2629189" y="459065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9" name="Rectangle 47"/>
            <p:cNvSpPr>
              <a:spLocks noChangeArrowheads="1"/>
            </p:cNvSpPr>
            <p:nvPr/>
          </p:nvSpPr>
          <p:spPr bwMode="auto">
            <a:xfrm>
              <a:off x="1610464" y="4581129"/>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1 1 1 0</a:t>
              </a:r>
            </a:p>
          </p:txBody>
        </p:sp>
        <p:sp>
          <p:nvSpPr>
            <p:cNvPr id="110" name="Rectangle 48"/>
            <p:cNvSpPr>
              <a:spLocks noChangeArrowheads="1"/>
            </p:cNvSpPr>
            <p:nvPr/>
          </p:nvSpPr>
          <p:spPr bwMode="auto">
            <a:xfrm>
              <a:off x="5031263" y="4581509"/>
              <a:ext cx="158841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多 播 地 址</a:t>
              </a:r>
            </a:p>
          </p:txBody>
        </p:sp>
        <p:sp>
          <p:nvSpPr>
            <p:cNvPr id="111" name="Rectangle 49"/>
            <p:cNvSpPr>
              <a:spLocks noChangeArrowheads="1"/>
            </p:cNvSpPr>
            <p:nvPr/>
          </p:nvSpPr>
          <p:spPr bwMode="auto">
            <a:xfrm>
              <a:off x="1733857" y="5549503"/>
              <a:ext cx="7641035"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2" name="Rectangle 50"/>
            <p:cNvSpPr>
              <a:spLocks noChangeArrowheads="1"/>
            </p:cNvSpPr>
            <p:nvPr/>
          </p:nvSpPr>
          <p:spPr bwMode="auto">
            <a:xfrm>
              <a:off x="412181" y="5559030"/>
              <a:ext cx="131960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E </a:t>
              </a:r>
              <a:r>
                <a:rPr kumimoji="1" lang="zh-CN" altLang="en-US" sz="1200" b="1">
                  <a:latin typeface="微软雅黑" pitchFamily="34" charset="-122"/>
                  <a:ea typeface="微软雅黑" pitchFamily="34" charset="-122"/>
                </a:rPr>
                <a:t>类地址</a:t>
              </a:r>
            </a:p>
          </p:txBody>
        </p:sp>
        <p:sp>
          <p:nvSpPr>
            <p:cNvPr id="113" name="Rectangle 51"/>
            <p:cNvSpPr>
              <a:spLocks noChangeArrowheads="1"/>
            </p:cNvSpPr>
            <p:nvPr/>
          </p:nvSpPr>
          <p:spPr bwMode="auto">
            <a:xfrm>
              <a:off x="4518046" y="5540357"/>
              <a:ext cx="260662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保 留 为 今 后 使 用</a:t>
              </a:r>
            </a:p>
          </p:txBody>
        </p:sp>
        <p:sp>
          <p:nvSpPr>
            <p:cNvPr id="114" name="Line 52"/>
            <p:cNvSpPr>
              <a:spLocks noChangeShapeType="1"/>
            </p:cNvSpPr>
            <p:nvPr/>
          </p:nvSpPr>
          <p:spPr bwMode="auto">
            <a:xfrm>
              <a:off x="2641708" y="557490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5" name="Rectangle 53"/>
            <p:cNvSpPr>
              <a:spLocks noChangeArrowheads="1"/>
            </p:cNvSpPr>
            <p:nvPr/>
          </p:nvSpPr>
          <p:spPr bwMode="auto">
            <a:xfrm>
              <a:off x="1610464" y="5555854"/>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1 1 1 1</a:t>
              </a:r>
            </a:p>
          </p:txBody>
        </p:sp>
        <p:sp>
          <p:nvSpPr>
            <p:cNvPr id="116" name="Rectangle 54"/>
            <p:cNvSpPr>
              <a:spLocks noChangeArrowheads="1"/>
            </p:cNvSpPr>
            <p:nvPr/>
          </p:nvSpPr>
          <p:spPr bwMode="auto">
            <a:xfrm>
              <a:off x="1861122" y="213603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latin typeface="微软雅黑" pitchFamily="34" charset="-122"/>
                  <a:ea typeface="微软雅黑" pitchFamily="34" charset="-122"/>
                </a:rPr>
                <a:t>0</a:t>
              </a:r>
            </a:p>
          </p:txBody>
        </p:sp>
        <p:sp>
          <p:nvSpPr>
            <p:cNvPr id="117" name="Rectangle 55"/>
            <p:cNvSpPr>
              <a:spLocks noChangeArrowheads="1"/>
            </p:cNvSpPr>
            <p:nvPr/>
          </p:nvSpPr>
          <p:spPr bwMode="auto">
            <a:xfrm>
              <a:off x="1653026" y="2136030"/>
              <a:ext cx="524537"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a:t>
              </a:r>
            </a:p>
          </p:txBody>
        </p:sp>
        <p:sp>
          <p:nvSpPr>
            <p:cNvPr id="118" name="Line 56"/>
            <p:cNvSpPr>
              <a:spLocks noChangeShapeType="1"/>
            </p:cNvSpPr>
            <p:nvPr/>
          </p:nvSpPr>
          <p:spPr bwMode="auto">
            <a:xfrm>
              <a:off x="2249794" y="2132856"/>
              <a:ext cx="0" cy="441325"/>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grpSp>
      <p:sp>
        <p:nvSpPr>
          <p:cNvPr id="64" name="AutoShape 61"/>
          <p:cNvSpPr>
            <a:spLocks noChangeArrowheads="1"/>
          </p:cNvSpPr>
          <p:nvPr/>
        </p:nvSpPr>
        <p:spPr bwMode="auto">
          <a:xfrm>
            <a:off x="2692436" y="3611194"/>
            <a:ext cx="4486702" cy="314674"/>
          </a:xfrm>
          <a:prstGeom prst="wedgeRoundRectCallout">
            <a:avLst>
              <a:gd name="adj1" fmla="val -8129"/>
              <a:gd name="adj2" fmla="val -785761"/>
              <a:gd name="adj3" fmla="val 16667"/>
            </a:avLst>
          </a:prstGeom>
          <a:solidFill>
            <a:srgbClr val="00FFFF"/>
          </a:solidFill>
          <a:ln w="9525">
            <a:solidFill>
              <a:schemeClr val="tx1"/>
            </a:solidFill>
            <a:miter lim="800000"/>
            <a:headEnd/>
            <a:tailEnd/>
          </a:ln>
          <a:effectLst/>
        </p:spPr>
        <p:txBody>
          <a:bodyPr anchor="ctr"/>
          <a:lstStyle/>
          <a:p>
            <a:pPr algn="ctr"/>
            <a:r>
              <a:rPr lang="en-US" altLang="zh-CN" sz="1600" b="1" dirty="0">
                <a:solidFill>
                  <a:srgbClr val="000066"/>
                </a:solidFill>
                <a:latin typeface="微软雅黑" pitchFamily="34" charset="-122"/>
                <a:ea typeface="微软雅黑" pitchFamily="34" charset="-122"/>
              </a:rPr>
              <a:t>A </a:t>
            </a:r>
            <a:r>
              <a:rPr lang="zh-CN" altLang="en-US" sz="1600" b="1" dirty="0">
                <a:solidFill>
                  <a:srgbClr val="000066"/>
                </a:solidFill>
                <a:latin typeface="微软雅黑" pitchFamily="34" charset="-122"/>
                <a:ea typeface="微软雅黑" pitchFamily="34" charset="-122"/>
              </a:rPr>
              <a:t>类地址的主机号字段 </a:t>
            </a:r>
            <a:r>
              <a:rPr lang="en-US" altLang="zh-CN" sz="1600" b="1" dirty="0">
                <a:solidFill>
                  <a:srgbClr val="000066"/>
                </a:solidFill>
                <a:latin typeface="微软雅黑" pitchFamily="34" charset="-122"/>
                <a:ea typeface="微软雅黑" pitchFamily="34" charset="-122"/>
              </a:rPr>
              <a:t>host-id </a:t>
            </a:r>
            <a:r>
              <a:rPr lang="zh-CN" altLang="en-US" sz="1600" b="1" dirty="0">
                <a:solidFill>
                  <a:srgbClr val="000066"/>
                </a:solidFill>
                <a:latin typeface="微软雅黑" pitchFamily="34" charset="-122"/>
                <a:ea typeface="微软雅黑" pitchFamily="34" charset="-122"/>
              </a:rPr>
              <a:t>为 </a:t>
            </a:r>
            <a:r>
              <a:rPr lang="en-US" altLang="zh-CN" sz="1600" b="1" dirty="0">
                <a:solidFill>
                  <a:srgbClr val="000066"/>
                </a:solidFill>
                <a:latin typeface="微软雅黑" pitchFamily="34" charset="-122"/>
                <a:ea typeface="微软雅黑" pitchFamily="34" charset="-122"/>
              </a:rPr>
              <a:t>3 </a:t>
            </a:r>
            <a:r>
              <a:rPr lang="zh-CN" altLang="en-US" sz="1600" b="1" dirty="0">
                <a:solidFill>
                  <a:srgbClr val="000066"/>
                </a:solidFill>
                <a:latin typeface="微软雅黑" pitchFamily="34" charset="-122"/>
                <a:ea typeface="微软雅黑" pitchFamily="34" charset="-122"/>
              </a:rPr>
              <a:t>字节</a:t>
            </a:r>
          </a:p>
        </p:txBody>
      </p:sp>
    </p:spTree>
    <p:extLst>
      <p:ext uri="{BB962C8B-B14F-4D97-AF65-F5344CB8AC3E}">
        <p14:creationId xmlns:p14="http://schemas.microsoft.com/office/powerpoint/2010/main" val="168087329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1" name="圆角矩形 100"/>
          <p:cNvSpPr/>
          <p:nvPr/>
        </p:nvSpPr>
        <p:spPr>
          <a:xfrm>
            <a:off x="545144" y="103367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02" name="矩形 101"/>
          <p:cNvSpPr/>
          <p:nvPr/>
        </p:nvSpPr>
        <p:spPr>
          <a:xfrm>
            <a:off x="616085" y="565906"/>
            <a:ext cx="4697120" cy="400110"/>
          </a:xfrm>
          <a:prstGeom prst="rect">
            <a:avLst/>
          </a:prstGeom>
        </p:spPr>
        <p:txBody>
          <a:bodyPr wrap="none">
            <a:spAutoFit/>
          </a:bodyPr>
          <a:lstStyle/>
          <a:p>
            <a:r>
              <a:rPr lang="zh-CN" altLang="en-US" sz="2000" b="1" dirty="0">
                <a:latin typeface="微软雅黑" pitchFamily="34" charset="-122"/>
                <a:ea typeface="微软雅黑" pitchFamily="34" charset="-122"/>
              </a:rPr>
              <a:t>各类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地址的网络号字段和主机号字段</a:t>
            </a:r>
          </a:p>
        </p:txBody>
      </p:sp>
      <p:grpSp>
        <p:nvGrpSpPr>
          <p:cNvPr id="100" name="组合 99"/>
          <p:cNvGrpSpPr/>
          <p:nvPr/>
        </p:nvGrpSpPr>
        <p:grpSpPr>
          <a:xfrm>
            <a:off x="1880840" y="1160772"/>
            <a:ext cx="5329079" cy="3009005"/>
            <a:chOff x="355160" y="927100"/>
            <a:chExt cx="9026611" cy="5096778"/>
          </a:xfrm>
        </p:grpSpPr>
        <p:sp>
          <p:nvSpPr>
            <p:cNvPr id="103" name="Line 2"/>
            <p:cNvSpPr>
              <a:spLocks noChangeShapeType="1"/>
            </p:cNvSpPr>
            <p:nvPr/>
          </p:nvSpPr>
          <p:spPr bwMode="auto">
            <a:xfrm flipV="1">
              <a:off x="1732138" y="4009478"/>
              <a:ext cx="574754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4" name="Rectangle 3"/>
            <p:cNvSpPr>
              <a:spLocks noChangeArrowheads="1"/>
            </p:cNvSpPr>
            <p:nvPr/>
          </p:nvSpPr>
          <p:spPr bwMode="auto">
            <a:xfrm>
              <a:off x="4144958" y="3791992"/>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24 </a:t>
              </a:r>
              <a:r>
                <a:rPr kumimoji="1" lang="zh-CN" altLang="en-US" sz="1050" b="1" dirty="0">
                  <a:solidFill>
                    <a:srgbClr val="C00000"/>
                  </a:solidFill>
                  <a:latin typeface="微软雅黑" pitchFamily="34" charset="-122"/>
                  <a:ea typeface="微软雅黑" pitchFamily="34" charset="-122"/>
                </a:rPr>
                <a:t>位</a:t>
              </a:r>
            </a:p>
          </p:txBody>
        </p:sp>
        <p:sp>
          <p:nvSpPr>
            <p:cNvPr id="105" name="Rectangle 4"/>
            <p:cNvSpPr>
              <a:spLocks noChangeArrowheads="1"/>
            </p:cNvSpPr>
            <p:nvPr/>
          </p:nvSpPr>
          <p:spPr bwMode="auto">
            <a:xfrm>
              <a:off x="1732137" y="3355428"/>
              <a:ext cx="7634155" cy="444500"/>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6" name="Line 5"/>
            <p:cNvSpPr>
              <a:spLocks noChangeShapeType="1"/>
            </p:cNvSpPr>
            <p:nvPr/>
          </p:nvSpPr>
          <p:spPr bwMode="auto">
            <a:xfrm>
              <a:off x="3601550" y="1577975"/>
              <a:ext cx="575270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7" name="Rectangle 6"/>
            <p:cNvSpPr>
              <a:spLocks noChangeArrowheads="1"/>
            </p:cNvSpPr>
            <p:nvPr/>
          </p:nvSpPr>
          <p:spPr bwMode="auto">
            <a:xfrm>
              <a:off x="5866875" y="1370014"/>
              <a:ext cx="1167551"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24 </a:t>
              </a:r>
              <a:r>
                <a:rPr kumimoji="1" lang="zh-CN" altLang="en-US" sz="1050" b="1" dirty="0">
                  <a:solidFill>
                    <a:srgbClr val="0000FF"/>
                  </a:solidFill>
                  <a:latin typeface="微软雅黑" pitchFamily="34" charset="-122"/>
                  <a:ea typeface="微软雅黑" pitchFamily="34" charset="-122"/>
                </a:rPr>
                <a:t>位</a:t>
              </a:r>
            </a:p>
          </p:txBody>
        </p:sp>
        <p:sp>
          <p:nvSpPr>
            <p:cNvPr id="108" name="Line 7"/>
            <p:cNvSpPr>
              <a:spLocks noChangeShapeType="1"/>
            </p:cNvSpPr>
            <p:nvPr/>
          </p:nvSpPr>
          <p:spPr bwMode="auto">
            <a:xfrm flipV="1">
              <a:off x="1775131" y="2790849"/>
              <a:ext cx="3764625"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9" name="Rectangle 8"/>
            <p:cNvSpPr>
              <a:spLocks noChangeArrowheads="1"/>
            </p:cNvSpPr>
            <p:nvPr/>
          </p:nvSpPr>
          <p:spPr bwMode="auto">
            <a:xfrm>
              <a:off x="3208855" y="2574181"/>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16 </a:t>
              </a:r>
              <a:r>
                <a:rPr kumimoji="1" lang="zh-CN" altLang="en-US" sz="1050" b="1" dirty="0">
                  <a:solidFill>
                    <a:srgbClr val="C00000"/>
                  </a:solidFill>
                  <a:latin typeface="微软雅黑" pitchFamily="34" charset="-122"/>
                  <a:ea typeface="微软雅黑" pitchFamily="34" charset="-122"/>
                </a:rPr>
                <a:t>位</a:t>
              </a:r>
            </a:p>
          </p:txBody>
        </p:sp>
        <p:sp>
          <p:nvSpPr>
            <p:cNvPr id="110" name="Line 9"/>
            <p:cNvSpPr>
              <a:spLocks noChangeShapeType="1"/>
            </p:cNvSpPr>
            <p:nvPr/>
          </p:nvSpPr>
          <p:spPr bwMode="auto">
            <a:xfrm>
              <a:off x="1690862" y="1577975"/>
              <a:ext cx="1910688"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11" name="Rectangle 10"/>
            <p:cNvSpPr>
              <a:spLocks noChangeArrowheads="1"/>
            </p:cNvSpPr>
            <p:nvPr/>
          </p:nvSpPr>
          <p:spPr bwMode="auto">
            <a:xfrm>
              <a:off x="2058942" y="1370014"/>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algn="ct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8 </a:t>
              </a:r>
              <a:r>
                <a:rPr kumimoji="1" lang="zh-CN" altLang="en-US" sz="1050" b="1" dirty="0">
                  <a:solidFill>
                    <a:srgbClr val="C00000"/>
                  </a:solidFill>
                  <a:latin typeface="微软雅黑" pitchFamily="34" charset="-122"/>
                  <a:ea typeface="微软雅黑" pitchFamily="34" charset="-122"/>
                </a:rPr>
                <a:t>位</a:t>
              </a:r>
            </a:p>
          </p:txBody>
        </p:sp>
        <p:sp>
          <p:nvSpPr>
            <p:cNvPr id="112" name="Rectangle 11"/>
            <p:cNvSpPr>
              <a:spLocks noChangeArrowheads="1"/>
            </p:cNvSpPr>
            <p:nvPr/>
          </p:nvSpPr>
          <p:spPr bwMode="auto">
            <a:xfrm>
              <a:off x="1694302" y="933451"/>
              <a:ext cx="7675430" cy="442913"/>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3" name="Rectangle 12"/>
            <p:cNvSpPr>
              <a:spLocks noChangeArrowheads="1"/>
            </p:cNvSpPr>
            <p:nvPr/>
          </p:nvSpPr>
          <p:spPr bwMode="auto">
            <a:xfrm>
              <a:off x="1716659" y="2140794"/>
              <a:ext cx="7659952" cy="446087"/>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4" name="Rectangle 14"/>
            <p:cNvSpPr>
              <a:spLocks noChangeArrowheads="1"/>
            </p:cNvSpPr>
            <p:nvPr/>
          </p:nvSpPr>
          <p:spPr bwMode="auto">
            <a:xfrm>
              <a:off x="1742456" y="3369716"/>
              <a:ext cx="5742384" cy="423862"/>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5" name="Rectangle 15"/>
            <p:cNvSpPr>
              <a:spLocks noChangeArrowheads="1"/>
            </p:cNvSpPr>
            <p:nvPr/>
          </p:nvSpPr>
          <p:spPr bwMode="auto">
            <a:xfrm>
              <a:off x="1740736" y="2151905"/>
              <a:ext cx="3804179" cy="423863"/>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6" name="Rectangle 16"/>
            <p:cNvSpPr>
              <a:spLocks noChangeArrowheads="1"/>
            </p:cNvSpPr>
            <p:nvPr/>
          </p:nvSpPr>
          <p:spPr bwMode="auto">
            <a:xfrm>
              <a:off x="1720099" y="957263"/>
              <a:ext cx="1874573" cy="406400"/>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7" name="Rectangle 17"/>
            <p:cNvSpPr>
              <a:spLocks noChangeArrowheads="1"/>
            </p:cNvSpPr>
            <p:nvPr/>
          </p:nvSpPr>
          <p:spPr bwMode="auto">
            <a:xfrm>
              <a:off x="1635829" y="92710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050" b="1" dirty="0">
                  <a:latin typeface="微软雅黑" pitchFamily="34" charset="-122"/>
                  <a:ea typeface="微软雅黑" pitchFamily="34" charset="-122"/>
                </a:rPr>
                <a:t>0</a:t>
              </a:r>
            </a:p>
          </p:txBody>
        </p:sp>
        <p:sp>
          <p:nvSpPr>
            <p:cNvPr id="118" name="Rectangle 18"/>
            <p:cNvSpPr>
              <a:spLocks noChangeArrowheads="1"/>
            </p:cNvSpPr>
            <p:nvPr/>
          </p:nvSpPr>
          <p:spPr bwMode="auto">
            <a:xfrm>
              <a:off x="366021" y="955675"/>
              <a:ext cx="136576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A </a:t>
              </a:r>
              <a:r>
                <a:rPr kumimoji="1" lang="zh-CN" altLang="en-US" sz="1200" b="1" dirty="0">
                  <a:latin typeface="微软雅黑" pitchFamily="34" charset="-122"/>
                  <a:ea typeface="微软雅黑" pitchFamily="34" charset="-122"/>
                </a:rPr>
                <a:t>类地址</a:t>
              </a:r>
            </a:p>
          </p:txBody>
        </p:sp>
        <p:sp>
          <p:nvSpPr>
            <p:cNvPr id="119" name="Line 19"/>
            <p:cNvSpPr>
              <a:spLocks noChangeShapeType="1"/>
            </p:cNvSpPr>
            <p:nvPr/>
          </p:nvSpPr>
          <p:spPr bwMode="auto">
            <a:xfrm>
              <a:off x="1971188" y="933451"/>
              <a:ext cx="0" cy="450849"/>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20" name="Line 20"/>
            <p:cNvSpPr>
              <a:spLocks noChangeShapeType="1"/>
            </p:cNvSpPr>
            <p:nvPr/>
          </p:nvSpPr>
          <p:spPr bwMode="auto">
            <a:xfrm>
              <a:off x="3601550"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21" name="Line 21"/>
            <p:cNvSpPr>
              <a:spLocks noChangeShapeType="1"/>
            </p:cNvSpPr>
            <p:nvPr/>
          </p:nvSpPr>
          <p:spPr bwMode="auto">
            <a:xfrm>
              <a:off x="1690862"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122" name="Line 22"/>
            <p:cNvSpPr>
              <a:spLocks noChangeShapeType="1"/>
            </p:cNvSpPr>
            <p:nvPr/>
          </p:nvSpPr>
          <p:spPr bwMode="auto">
            <a:xfrm>
              <a:off x="3601550"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23" name="Line 23"/>
            <p:cNvSpPr>
              <a:spLocks noChangeShapeType="1"/>
            </p:cNvSpPr>
            <p:nvPr/>
          </p:nvSpPr>
          <p:spPr bwMode="auto">
            <a:xfrm>
              <a:off x="9354254"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24" name="Line 24"/>
            <p:cNvSpPr>
              <a:spLocks noChangeShapeType="1"/>
            </p:cNvSpPr>
            <p:nvPr/>
          </p:nvSpPr>
          <p:spPr bwMode="auto">
            <a:xfrm>
              <a:off x="5553515" y="2784499"/>
              <a:ext cx="3786979" cy="635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25" name="Rectangle 25"/>
            <p:cNvSpPr>
              <a:spLocks noChangeArrowheads="1"/>
            </p:cNvSpPr>
            <p:nvPr/>
          </p:nvSpPr>
          <p:spPr bwMode="auto">
            <a:xfrm>
              <a:off x="6946995" y="2636149"/>
              <a:ext cx="1167551" cy="668165"/>
            </a:xfrm>
            <a:prstGeom prst="rect">
              <a:avLst/>
            </a:prstGeom>
            <a:solidFill>
              <a:srgbClr val="C3E3F9"/>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a:lnSpc>
                  <a:spcPct val="90000"/>
                </a:lnSpc>
              </a:pPr>
              <a:r>
                <a:rPr kumimoji="1" lang="en-US" altLang="zh-CN" sz="1050" b="1" dirty="0">
                  <a:solidFill>
                    <a:srgbClr val="0000FF"/>
                  </a:solidFill>
                  <a:latin typeface="微软雅黑" pitchFamily="34" charset="-122"/>
                  <a:ea typeface="微软雅黑" pitchFamily="34" charset="-122"/>
                </a:rPr>
                <a:t>16 </a:t>
              </a:r>
              <a:r>
                <a:rPr kumimoji="1" lang="zh-CN" altLang="en-US" sz="1050" b="1" dirty="0">
                  <a:solidFill>
                    <a:srgbClr val="0000FF"/>
                  </a:solidFill>
                  <a:latin typeface="微软雅黑" pitchFamily="34" charset="-122"/>
                  <a:ea typeface="微软雅黑" pitchFamily="34" charset="-122"/>
                </a:rPr>
                <a:t>位</a:t>
              </a:r>
            </a:p>
          </p:txBody>
        </p:sp>
        <p:sp>
          <p:nvSpPr>
            <p:cNvPr id="126" name="Line 26"/>
            <p:cNvSpPr>
              <a:spLocks noChangeShapeType="1"/>
            </p:cNvSpPr>
            <p:nvPr/>
          </p:nvSpPr>
          <p:spPr bwMode="auto">
            <a:xfrm>
              <a:off x="1732137"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127" name="Line 27"/>
            <p:cNvSpPr>
              <a:spLocks noChangeShapeType="1"/>
            </p:cNvSpPr>
            <p:nvPr/>
          </p:nvSpPr>
          <p:spPr bwMode="auto">
            <a:xfrm>
              <a:off x="5553515" y="2626568"/>
              <a:ext cx="0" cy="323851"/>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28" name="Line 28"/>
            <p:cNvSpPr>
              <a:spLocks noChangeShapeType="1"/>
            </p:cNvSpPr>
            <p:nvPr/>
          </p:nvSpPr>
          <p:spPr bwMode="auto">
            <a:xfrm>
              <a:off x="9340495"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29" name="Rectangle 29"/>
            <p:cNvSpPr>
              <a:spLocks noChangeArrowheads="1"/>
            </p:cNvSpPr>
            <p:nvPr/>
          </p:nvSpPr>
          <p:spPr bwMode="auto">
            <a:xfrm>
              <a:off x="382312" y="2151905"/>
              <a:ext cx="134947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B </a:t>
              </a:r>
              <a:r>
                <a:rPr kumimoji="1" lang="zh-CN" altLang="en-US" sz="1200" b="1">
                  <a:latin typeface="微软雅黑" pitchFamily="34" charset="-122"/>
                  <a:ea typeface="微软雅黑" pitchFamily="34" charset="-122"/>
                </a:rPr>
                <a:t>类地址</a:t>
              </a:r>
            </a:p>
          </p:txBody>
        </p:sp>
        <p:sp>
          <p:nvSpPr>
            <p:cNvPr id="130" name="Line 30"/>
            <p:cNvSpPr>
              <a:spLocks noChangeShapeType="1"/>
            </p:cNvSpPr>
            <p:nvPr/>
          </p:nvSpPr>
          <p:spPr bwMode="auto">
            <a:xfrm>
              <a:off x="5553514" y="2150319"/>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31" name="Rectangle 31"/>
            <p:cNvSpPr>
              <a:spLocks noChangeArrowheads="1"/>
            </p:cNvSpPr>
            <p:nvPr/>
          </p:nvSpPr>
          <p:spPr bwMode="auto">
            <a:xfrm>
              <a:off x="385029" y="3364953"/>
              <a:ext cx="1346756"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C </a:t>
              </a:r>
              <a:r>
                <a:rPr kumimoji="1" lang="zh-CN" altLang="en-US" sz="1200" b="1" dirty="0">
                  <a:latin typeface="微软雅黑" pitchFamily="34" charset="-122"/>
                  <a:ea typeface="微软雅黑" pitchFamily="34" charset="-122"/>
                </a:rPr>
                <a:t>类地址</a:t>
              </a:r>
            </a:p>
          </p:txBody>
        </p:sp>
        <p:sp>
          <p:nvSpPr>
            <p:cNvPr id="132" name="Rectangle 33"/>
            <p:cNvSpPr>
              <a:spLocks noChangeArrowheads="1"/>
            </p:cNvSpPr>
            <p:nvPr/>
          </p:nvSpPr>
          <p:spPr bwMode="auto">
            <a:xfrm>
              <a:off x="1666786" y="3361455"/>
              <a:ext cx="962403"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1 1 0</a:t>
              </a:r>
            </a:p>
          </p:txBody>
        </p:sp>
        <p:sp>
          <p:nvSpPr>
            <p:cNvPr id="133" name="Line 35"/>
            <p:cNvSpPr>
              <a:spLocks noChangeShapeType="1"/>
            </p:cNvSpPr>
            <p:nvPr/>
          </p:nvSpPr>
          <p:spPr bwMode="auto">
            <a:xfrm>
              <a:off x="2473367" y="3353842"/>
              <a:ext cx="0" cy="439737"/>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34" name="Line 36"/>
            <p:cNvSpPr>
              <a:spLocks noChangeShapeType="1"/>
            </p:cNvSpPr>
            <p:nvPr/>
          </p:nvSpPr>
          <p:spPr bwMode="auto">
            <a:xfrm>
              <a:off x="7505477" y="3349079"/>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35" name="Line 37"/>
            <p:cNvSpPr>
              <a:spLocks noChangeShapeType="1"/>
            </p:cNvSpPr>
            <p:nvPr/>
          </p:nvSpPr>
          <p:spPr bwMode="auto">
            <a:xfrm>
              <a:off x="7510637" y="4011066"/>
              <a:ext cx="1829857"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grpSp>
          <p:nvGrpSpPr>
            <p:cNvPr id="136" name="Group 38"/>
            <p:cNvGrpSpPr>
              <a:grpSpLocks/>
            </p:cNvGrpSpPr>
            <p:nvPr/>
          </p:nvGrpSpPr>
          <p:grpSpPr bwMode="auto">
            <a:xfrm>
              <a:off x="7928099" y="3820573"/>
              <a:ext cx="1131196" cy="644929"/>
              <a:chOff x="2827" y="3024"/>
              <a:chExt cx="453" cy="382"/>
            </a:xfrm>
          </p:grpSpPr>
          <p:sp>
            <p:nvSpPr>
              <p:cNvPr id="153"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54" name="Rectangle 40"/>
              <p:cNvSpPr>
                <a:spLocks noChangeArrowheads="1"/>
              </p:cNvSpPr>
              <p:nvPr/>
            </p:nvSpPr>
            <p:spPr bwMode="auto">
              <a:xfrm>
                <a:off x="2827" y="3024"/>
                <a:ext cx="453" cy="382"/>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8 </a:t>
                </a:r>
                <a:r>
                  <a:rPr kumimoji="1" lang="zh-CN" altLang="en-US" sz="1050" b="1" dirty="0">
                    <a:solidFill>
                      <a:srgbClr val="0000FF"/>
                    </a:solidFill>
                    <a:latin typeface="微软雅黑" pitchFamily="34" charset="-122"/>
                    <a:ea typeface="微软雅黑" pitchFamily="34" charset="-122"/>
                  </a:rPr>
                  <a:t>位</a:t>
                </a:r>
              </a:p>
            </p:txBody>
          </p:sp>
        </p:grpSp>
        <p:sp>
          <p:nvSpPr>
            <p:cNvPr id="137" name="Line 41"/>
            <p:cNvSpPr>
              <a:spLocks noChangeShapeType="1"/>
            </p:cNvSpPr>
            <p:nvPr/>
          </p:nvSpPr>
          <p:spPr bwMode="auto">
            <a:xfrm>
              <a:off x="1732137" y="385707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138" name="Line 42"/>
            <p:cNvSpPr>
              <a:spLocks noChangeShapeType="1"/>
            </p:cNvSpPr>
            <p:nvPr/>
          </p:nvSpPr>
          <p:spPr bwMode="auto">
            <a:xfrm>
              <a:off x="7510637" y="386025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39" name="Line 43"/>
            <p:cNvSpPr>
              <a:spLocks noChangeShapeType="1"/>
            </p:cNvSpPr>
            <p:nvPr/>
          </p:nvSpPr>
          <p:spPr bwMode="auto">
            <a:xfrm>
              <a:off x="9340495" y="384120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40" name="Rectangle 44"/>
            <p:cNvSpPr>
              <a:spLocks noChangeArrowheads="1"/>
            </p:cNvSpPr>
            <p:nvPr/>
          </p:nvSpPr>
          <p:spPr bwMode="auto">
            <a:xfrm>
              <a:off x="1725258" y="4582716"/>
              <a:ext cx="7656513"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41" name="Rectangle 45"/>
            <p:cNvSpPr>
              <a:spLocks noChangeArrowheads="1"/>
            </p:cNvSpPr>
            <p:nvPr/>
          </p:nvSpPr>
          <p:spPr bwMode="auto">
            <a:xfrm>
              <a:off x="355160" y="4593828"/>
              <a:ext cx="1376625"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D </a:t>
              </a:r>
              <a:r>
                <a:rPr kumimoji="1" lang="zh-CN" altLang="en-US" sz="1200" b="1">
                  <a:latin typeface="微软雅黑" pitchFamily="34" charset="-122"/>
                  <a:ea typeface="微软雅黑" pitchFamily="34" charset="-122"/>
                </a:rPr>
                <a:t>类地址</a:t>
              </a:r>
            </a:p>
          </p:txBody>
        </p:sp>
        <p:sp>
          <p:nvSpPr>
            <p:cNvPr id="142" name="Line 46"/>
            <p:cNvSpPr>
              <a:spLocks noChangeShapeType="1"/>
            </p:cNvSpPr>
            <p:nvPr/>
          </p:nvSpPr>
          <p:spPr bwMode="auto">
            <a:xfrm>
              <a:off x="2629189" y="459065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43" name="Rectangle 47"/>
            <p:cNvSpPr>
              <a:spLocks noChangeArrowheads="1"/>
            </p:cNvSpPr>
            <p:nvPr/>
          </p:nvSpPr>
          <p:spPr bwMode="auto">
            <a:xfrm>
              <a:off x="1610464" y="4581129"/>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1 1 1 0</a:t>
              </a:r>
            </a:p>
          </p:txBody>
        </p:sp>
        <p:sp>
          <p:nvSpPr>
            <p:cNvPr id="144" name="Rectangle 48"/>
            <p:cNvSpPr>
              <a:spLocks noChangeArrowheads="1"/>
            </p:cNvSpPr>
            <p:nvPr/>
          </p:nvSpPr>
          <p:spPr bwMode="auto">
            <a:xfrm>
              <a:off x="5031263" y="4581509"/>
              <a:ext cx="158841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多 播 地 址</a:t>
              </a:r>
            </a:p>
          </p:txBody>
        </p:sp>
        <p:sp>
          <p:nvSpPr>
            <p:cNvPr id="145" name="Rectangle 49"/>
            <p:cNvSpPr>
              <a:spLocks noChangeArrowheads="1"/>
            </p:cNvSpPr>
            <p:nvPr/>
          </p:nvSpPr>
          <p:spPr bwMode="auto">
            <a:xfrm>
              <a:off x="1733857" y="5549503"/>
              <a:ext cx="7641035"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46" name="Rectangle 50"/>
            <p:cNvSpPr>
              <a:spLocks noChangeArrowheads="1"/>
            </p:cNvSpPr>
            <p:nvPr/>
          </p:nvSpPr>
          <p:spPr bwMode="auto">
            <a:xfrm>
              <a:off x="412181" y="5559030"/>
              <a:ext cx="131960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E </a:t>
              </a:r>
              <a:r>
                <a:rPr kumimoji="1" lang="zh-CN" altLang="en-US" sz="1200" b="1">
                  <a:latin typeface="微软雅黑" pitchFamily="34" charset="-122"/>
                  <a:ea typeface="微软雅黑" pitchFamily="34" charset="-122"/>
                </a:rPr>
                <a:t>类地址</a:t>
              </a:r>
            </a:p>
          </p:txBody>
        </p:sp>
        <p:sp>
          <p:nvSpPr>
            <p:cNvPr id="147" name="Rectangle 51"/>
            <p:cNvSpPr>
              <a:spLocks noChangeArrowheads="1"/>
            </p:cNvSpPr>
            <p:nvPr/>
          </p:nvSpPr>
          <p:spPr bwMode="auto">
            <a:xfrm>
              <a:off x="4518046" y="5540357"/>
              <a:ext cx="260662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保 留 为 今 后 使 用</a:t>
              </a:r>
            </a:p>
          </p:txBody>
        </p:sp>
        <p:sp>
          <p:nvSpPr>
            <p:cNvPr id="148" name="Line 52"/>
            <p:cNvSpPr>
              <a:spLocks noChangeShapeType="1"/>
            </p:cNvSpPr>
            <p:nvPr/>
          </p:nvSpPr>
          <p:spPr bwMode="auto">
            <a:xfrm>
              <a:off x="2641708" y="557490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49" name="Rectangle 53"/>
            <p:cNvSpPr>
              <a:spLocks noChangeArrowheads="1"/>
            </p:cNvSpPr>
            <p:nvPr/>
          </p:nvSpPr>
          <p:spPr bwMode="auto">
            <a:xfrm>
              <a:off x="1610464" y="5555854"/>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1 1 1 1</a:t>
              </a:r>
            </a:p>
          </p:txBody>
        </p:sp>
        <p:sp>
          <p:nvSpPr>
            <p:cNvPr id="150" name="Rectangle 54"/>
            <p:cNvSpPr>
              <a:spLocks noChangeArrowheads="1"/>
            </p:cNvSpPr>
            <p:nvPr/>
          </p:nvSpPr>
          <p:spPr bwMode="auto">
            <a:xfrm>
              <a:off x="1861122" y="213603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latin typeface="微软雅黑" pitchFamily="34" charset="-122"/>
                  <a:ea typeface="微软雅黑" pitchFamily="34" charset="-122"/>
                </a:rPr>
                <a:t>0</a:t>
              </a:r>
            </a:p>
          </p:txBody>
        </p:sp>
        <p:sp>
          <p:nvSpPr>
            <p:cNvPr id="151" name="Rectangle 55"/>
            <p:cNvSpPr>
              <a:spLocks noChangeArrowheads="1"/>
            </p:cNvSpPr>
            <p:nvPr/>
          </p:nvSpPr>
          <p:spPr bwMode="auto">
            <a:xfrm>
              <a:off x="1653026" y="2136030"/>
              <a:ext cx="524537"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a:t>
              </a:r>
            </a:p>
          </p:txBody>
        </p:sp>
        <p:sp>
          <p:nvSpPr>
            <p:cNvPr id="152" name="Line 56"/>
            <p:cNvSpPr>
              <a:spLocks noChangeShapeType="1"/>
            </p:cNvSpPr>
            <p:nvPr/>
          </p:nvSpPr>
          <p:spPr bwMode="auto">
            <a:xfrm>
              <a:off x="2249794" y="2132856"/>
              <a:ext cx="0" cy="441325"/>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grpSp>
      <p:sp>
        <p:nvSpPr>
          <p:cNvPr id="98" name="AutoShape 61"/>
          <p:cNvSpPr>
            <a:spLocks noChangeArrowheads="1"/>
          </p:cNvSpPr>
          <p:nvPr/>
        </p:nvSpPr>
        <p:spPr bwMode="auto">
          <a:xfrm>
            <a:off x="2691442" y="3611194"/>
            <a:ext cx="4495820" cy="314674"/>
          </a:xfrm>
          <a:prstGeom prst="wedgeRoundRectCallout">
            <a:avLst>
              <a:gd name="adj1" fmla="val 13715"/>
              <a:gd name="adj2" fmla="val -567102"/>
              <a:gd name="adj3" fmla="val 16667"/>
            </a:avLst>
          </a:prstGeom>
          <a:solidFill>
            <a:srgbClr val="00FFFF"/>
          </a:solidFill>
          <a:ln w="9525">
            <a:solidFill>
              <a:schemeClr val="tx1"/>
            </a:solidFill>
            <a:miter lim="800000"/>
            <a:headEnd/>
            <a:tailEnd/>
          </a:ln>
          <a:effectLst/>
        </p:spPr>
        <p:txBody>
          <a:bodyPr anchor="ctr"/>
          <a:lstStyle/>
          <a:p>
            <a:pPr algn="ctr"/>
            <a:r>
              <a:rPr lang="en-US" altLang="zh-CN" sz="1600" b="1" dirty="0">
                <a:solidFill>
                  <a:srgbClr val="000066"/>
                </a:solidFill>
                <a:latin typeface="微软雅黑" pitchFamily="34" charset="-122"/>
                <a:ea typeface="微软雅黑" pitchFamily="34" charset="-122"/>
              </a:rPr>
              <a:t>B </a:t>
            </a:r>
            <a:r>
              <a:rPr lang="zh-CN" altLang="en-US" sz="1600" b="1" dirty="0">
                <a:solidFill>
                  <a:srgbClr val="000066"/>
                </a:solidFill>
                <a:latin typeface="微软雅黑" pitchFamily="34" charset="-122"/>
                <a:ea typeface="微软雅黑" pitchFamily="34" charset="-122"/>
              </a:rPr>
              <a:t>类地址的主机号字段 </a:t>
            </a:r>
            <a:r>
              <a:rPr lang="en-US" altLang="zh-CN" sz="1600" b="1" dirty="0">
                <a:solidFill>
                  <a:srgbClr val="000066"/>
                </a:solidFill>
                <a:latin typeface="微软雅黑" pitchFamily="34" charset="-122"/>
                <a:ea typeface="微软雅黑" pitchFamily="34" charset="-122"/>
              </a:rPr>
              <a:t>host-id </a:t>
            </a:r>
            <a:r>
              <a:rPr lang="zh-CN" altLang="en-US" sz="1600" b="1" dirty="0">
                <a:solidFill>
                  <a:srgbClr val="000066"/>
                </a:solidFill>
                <a:latin typeface="微软雅黑" pitchFamily="34" charset="-122"/>
                <a:ea typeface="微软雅黑" pitchFamily="34" charset="-122"/>
              </a:rPr>
              <a:t>为 </a:t>
            </a:r>
            <a:r>
              <a:rPr lang="en-US" altLang="zh-CN" sz="1600" b="1" dirty="0">
                <a:solidFill>
                  <a:srgbClr val="000066"/>
                </a:solidFill>
                <a:latin typeface="微软雅黑" pitchFamily="34" charset="-122"/>
                <a:ea typeface="微软雅黑" pitchFamily="34" charset="-122"/>
              </a:rPr>
              <a:t>2 </a:t>
            </a:r>
            <a:r>
              <a:rPr lang="zh-CN" altLang="en-US" sz="1600" b="1" dirty="0">
                <a:solidFill>
                  <a:srgbClr val="000066"/>
                </a:solidFill>
                <a:latin typeface="微软雅黑" pitchFamily="34" charset="-122"/>
                <a:ea typeface="微软雅黑" pitchFamily="34" charset="-122"/>
              </a:rPr>
              <a:t>字节</a:t>
            </a:r>
          </a:p>
        </p:txBody>
      </p:sp>
    </p:spTree>
    <p:extLst>
      <p:ext uri="{BB962C8B-B14F-4D97-AF65-F5344CB8AC3E}">
        <p14:creationId xmlns:p14="http://schemas.microsoft.com/office/powerpoint/2010/main" val="136005291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8" name="圆角矩形 67"/>
          <p:cNvSpPr/>
          <p:nvPr/>
        </p:nvSpPr>
        <p:spPr>
          <a:xfrm>
            <a:off x="545144" y="103367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9" name="矩形 68"/>
          <p:cNvSpPr/>
          <p:nvPr/>
        </p:nvSpPr>
        <p:spPr>
          <a:xfrm>
            <a:off x="616085" y="565906"/>
            <a:ext cx="4697120" cy="400110"/>
          </a:xfrm>
          <a:prstGeom prst="rect">
            <a:avLst/>
          </a:prstGeom>
        </p:spPr>
        <p:txBody>
          <a:bodyPr wrap="none">
            <a:spAutoFit/>
          </a:bodyPr>
          <a:lstStyle/>
          <a:p>
            <a:r>
              <a:rPr lang="zh-CN" altLang="en-US" sz="2000" b="1" dirty="0">
                <a:latin typeface="微软雅黑" pitchFamily="34" charset="-122"/>
                <a:ea typeface="微软雅黑" pitchFamily="34" charset="-122"/>
              </a:rPr>
              <a:t>各类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地址的网络号字段和主机号字段</a:t>
            </a:r>
          </a:p>
        </p:txBody>
      </p:sp>
      <p:grpSp>
        <p:nvGrpSpPr>
          <p:cNvPr id="67" name="组合 66"/>
          <p:cNvGrpSpPr/>
          <p:nvPr/>
        </p:nvGrpSpPr>
        <p:grpSpPr>
          <a:xfrm>
            <a:off x="1880840" y="1160772"/>
            <a:ext cx="5329079" cy="3009005"/>
            <a:chOff x="355160" y="927100"/>
            <a:chExt cx="9026611" cy="5096778"/>
          </a:xfrm>
        </p:grpSpPr>
        <p:sp>
          <p:nvSpPr>
            <p:cNvPr id="70" name="Line 2"/>
            <p:cNvSpPr>
              <a:spLocks noChangeShapeType="1"/>
            </p:cNvSpPr>
            <p:nvPr/>
          </p:nvSpPr>
          <p:spPr bwMode="auto">
            <a:xfrm flipV="1">
              <a:off x="1732138" y="4009478"/>
              <a:ext cx="574754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1" name="Rectangle 3"/>
            <p:cNvSpPr>
              <a:spLocks noChangeArrowheads="1"/>
            </p:cNvSpPr>
            <p:nvPr/>
          </p:nvSpPr>
          <p:spPr bwMode="auto">
            <a:xfrm>
              <a:off x="4144958" y="3791992"/>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24 </a:t>
              </a:r>
              <a:r>
                <a:rPr kumimoji="1" lang="zh-CN" altLang="en-US" sz="1050" b="1" dirty="0">
                  <a:solidFill>
                    <a:srgbClr val="C00000"/>
                  </a:solidFill>
                  <a:latin typeface="微软雅黑" pitchFamily="34" charset="-122"/>
                  <a:ea typeface="微软雅黑" pitchFamily="34" charset="-122"/>
                </a:rPr>
                <a:t>位</a:t>
              </a:r>
            </a:p>
          </p:txBody>
        </p:sp>
        <p:sp>
          <p:nvSpPr>
            <p:cNvPr id="72" name="Rectangle 4"/>
            <p:cNvSpPr>
              <a:spLocks noChangeArrowheads="1"/>
            </p:cNvSpPr>
            <p:nvPr/>
          </p:nvSpPr>
          <p:spPr bwMode="auto">
            <a:xfrm>
              <a:off x="1732137" y="3355428"/>
              <a:ext cx="7634155" cy="444500"/>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3" name="Line 5"/>
            <p:cNvSpPr>
              <a:spLocks noChangeShapeType="1"/>
            </p:cNvSpPr>
            <p:nvPr/>
          </p:nvSpPr>
          <p:spPr bwMode="auto">
            <a:xfrm>
              <a:off x="3601550" y="1577975"/>
              <a:ext cx="575270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4" name="Rectangle 6"/>
            <p:cNvSpPr>
              <a:spLocks noChangeArrowheads="1"/>
            </p:cNvSpPr>
            <p:nvPr/>
          </p:nvSpPr>
          <p:spPr bwMode="auto">
            <a:xfrm>
              <a:off x="5866875" y="1370014"/>
              <a:ext cx="1167551"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24 </a:t>
              </a:r>
              <a:r>
                <a:rPr kumimoji="1" lang="zh-CN" altLang="en-US" sz="1050" b="1" dirty="0">
                  <a:solidFill>
                    <a:srgbClr val="0000FF"/>
                  </a:solidFill>
                  <a:latin typeface="微软雅黑" pitchFamily="34" charset="-122"/>
                  <a:ea typeface="微软雅黑" pitchFamily="34" charset="-122"/>
                </a:rPr>
                <a:t>位</a:t>
              </a:r>
            </a:p>
          </p:txBody>
        </p:sp>
        <p:sp>
          <p:nvSpPr>
            <p:cNvPr id="75" name="Line 7"/>
            <p:cNvSpPr>
              <a:spLocks noChangeShapeType="1"/>
            </p:cNvSpPr>
            <p:nvPr/>
          </p:nvSpPr>
          <p:spPr bwMode="auto">
            <a:xfrm flipV="1">
              <a:off x="1775131" y="2790849"/>
              <a:ext cx="3764625"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6" name="Rectangle 8"/>
            <p:cNvSpPr>
              <a:spLocks noChangeArrowheads="1"/>
            </p:cNvSpPr>
            <p:nvPr/>
          </p:nvSpPr>
          <p:spPr bwMode="auto">
            <a:xfrm>
              <a:off x="3208855" y="2574181"/>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16 </a:t>
              </a:r>
              <a:r>
                <a:rPr kumimoji="1" lang="zh-CN" altLang="en-US" sz="1050" b="1" dirty="0">
                  <a:solidFill>
                    <a:srgbClr val="C00000"/>
                  </a:solidFill>
                  <a:latin typeface="微软雅黑" pitchFamily="34" charset="-122"/>
                  <a:ea typeface="微软雅黑" pitchFamily="34" charset="-122"/>
                </a:rPr>
                <a:t>位</a:t>
              </a:r>
            </a:p>
          </p:txBody>
        </p:sp>
        <p:sp>
          <p:nvSpPr>
            <p:cNvPr id="77" name="Line 9"/>
            <p:cNvSpPr>
              <a:spLocks noChangeShapeType="1"/>
            </p:cNvSpPr>
            <p:nvPr/>
          </p:nvSpPr>
          <p:spPr bwMode="auto">
            <a:xfrm>
              <a:off x="1690862" y="1577975"/>
              <a:ext cx="1910688"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8" name="Rectangle 10"/>
            <p:cNvSpPr>
              <a:spLocks noChangeArrowheads="1"/>
            </p:cNvSpPr>
            <p:nvPr/>
          </p:nvSpPr>
          <p:spPr bwMode="auto">
            <a:xfrm>
              <a:off x="2058942" y="1370014"/>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algn="ct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8 </a:t>
              </a:r>
              <a:r>
                <a:rPr kumimoji="1" lang="zh-CN" altLang="en-US" sz="1050" b="1" dirty="0">
                  <a:solidFill>
                    <a:srgbClr val="C00000"/>
                  </a:solidFill>
                  <a:latin typeface="微软雅黑" pitchFamily="34" charset="-122"/>
                  <a:ea typeface="微软雅黑" pitchFamily="34" charset="-122"/>
                </a:rPr>
                <a:t>位</a:t>
              </a:r>
            </a:p>
          </p:txBody>
        </p:sp>
        <p:sp>
          <p:nvSpPr>
            <p:cNvPr id="79" name="Rectangle 11"/>
            <p:cNvSpPr>
              <a:spLocks noChangeArrowheads="1"/>
            </p:cNvSpPr>
            <p:nvPr/>
          </p:nvSpPr>
          <p:spPr bwMode="auto">
            <a:xfrm>
              <a:off x="1694302" y="933451"/>
              <a:ext cx="7675430" cy="442913"/>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0" name="Rectangle 12"/>
            <p:cNvSpPr>
              <a:spLocks noChangeArrowheads="1"/>
            </p:cNvSpPr>
            <p:nvPr/>
          </p:nvSpPr>
          <p:spPr bwMode="auto">
            <a:xfrm>
              <a:off x="1716659" y="2140794"/>
              <a:ext cx="7659952" cy="446087"/>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1" name="Rectangle 14"/>
            <p:cNvSpPr>
              <a:spLocks noChangeArrowheads="1"/>
            </p:cNvSpPr>
            <p:nvPr/>
          </p:nvSpPr>
          <p:spPr bwMode="auto">
            <a:xfrm>
              <a:off x="1742456" y="3369716"/>
              <a:ext cx="5742384" cy="423862"/>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2" name="Rectangle 15"/>
            <p:cNvSpPr>
              <a:spLocks noChangeArrowheads="1"/>
            </p:cNvSpPr>
            <p:nvPr/>
          </p:nvSpPr>
          <p:spPr bwMode="auto">
            <a:xfrm>
              <a:off x="1740736" y="2151905"/>
              <a:ext cx="3804179" cy="423863"/>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3" name="Rectangle 16"/>
            <p:cNvSpPr>
              <a:spLocks noChangeArrowheads="1"/>
            </p:cNvSpPr>
            <p:nvPr/>
          </p:nvSpPr>
          <p:spPr bwMode="auto">
            <a:xfrm>
              <a:off x="1720099" y="957263"/>
              <a:ext cx="1874573" cy="406400"/>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4" name="Rectangle 17"/>
            <p:cNvSpPr>
              <a:spLocks noChangeArrowheads="1"/>
            </p:cNvSpPr>
            <p:nvPr/>
          </p:nvSpPr>
          <p:spPr bwMode="auto">
            <a:xfrm>
              <a:off x="1635829" y="92710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050" b="1" dirty="0">
                  <a:latin typeface="微软雅黑" pitchFamily="34" charset="-122"/>
                  <a:ea typeface="微软雅黑" pitchFamily="34" charset="-122"/>
                </a:rPr>
                <a:t>0</a:t>
              </a:r>
            </a:p>
          </p:txBody>
        </p:sp>
        <p:sp>
          <p:nvSpPr>
            <p:cNvPr id="85" name="Rectangle 18"/>
            <p:cNvSpPr>
              <a:spLocks noChangeArrowheads="1"/>
            </p:cNvSpPr>
            <p:nvPr/>
          </p:nvSpPr>
          <p:spPr bwMode="auto">
            <a:xfrm>
              <a:off x="366021" y="955675"/>
              <a:ext cx="136576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A </a:t>
              </a:r>
              <a:r>
                <a:rPr kumimoji="1" lang="zh-CN" altLang="en-US" sz="1200" b="1" dirty="0">
                  <a:latin typeface="微软雅黑" pitchFamily="34" charset="-122"/>
                  <a:ea typeface="微软雅黑" pitchFamily="34" charset="-122"/>
                </a:rPr>
                <a:t>类地址</a:t>
              </a:r>
            </a:p>
          </p:txBody>
        </p:sp>
        <p:sp>
          <p:nvSpPr>
            <p:cNvPr id="86" name="Line 19"/>
            <p:cNvSpPr>
              <a:spLocks noChangeShapeType="1"/>
            </p:cNvSpPr>
            <p:nvPr/>
          </p:nvSpPr>
          <p:spPr bwMode="auto">
            <a:xfrm>
              <a:off x="1971188" y="933451"/>
              <a:ext cx="0" cy="450849"/>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87" name="Line 20"/>
            <p:cNvSpPr>
              <a:spLocks noChangeShapeType="1"/>
            </p:cNvSpPr>
            <p:nvPr/>
          </p:nvSpPr>
          <p:spPr bwMode="auto">
            <a:xfrm>
              <a:off x="3601550"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8" name="Line 21"/>
            <p:cNvSpPr>
              <a:spLocks noChangeShapeType="1"/>
            </p:cNvSpPr>
            <p:nvPr/>
          </p:nvSpPr>
          <p:spPr bwMode="auto">
            <a:xfrm>
              <a:off x="1690862"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89" name="Line 22"/>
            <p:cNvSpPr>
              <a:spLocks noChangeShapeType="1"/>
            </p:cNvSpPr>
            <p:nvPr/>
          </p:nvSpPr>
          <p:spPr bwMode="auto">
            <a:xfrm>
              <a:off x="3601550"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0" name="Line 23"/>
            <p:cNvSpPr>
              <a:spLocks noChangeShapeType="1"/>
            </p:cNvSpPr>
            <p:nvPr/>
          </p:nvSpPr>
          <p:spPr bwMode="auto">
            <a:xfrm>
              <a:off x="9354254"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1" name="Line 24"/>
            <p:cNvSpPr>
              <a:spLocks noChangeShapeType="1"/>
            </p:cNvSpPr>
            <p:nvPr/>
          </p:nvSpPr>
          <p:spPr bwMode="auto">
            <a:xfrm>
              <a:off x="5553515" y="2784499"/>
              <a:ext cx="3786979" cy="635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2" name="Rectangle 25"/>
            <p:cNvSpPr>
              <a:spLocks noChangeArrowheads="1"/>
            </p:cNvSpPr>
            <p:nvPr/>
          </p:nvSpPr>
          <p:spPr bwMode="auto">
            <a:xfrm>
              <a:off x="6946995" y="2636149"/>
              <a:ext cx="1167551" cy="668165"/>
            </a:xfrm>
            <a:prstGeom prst="rect">
              <a:avLst/>
            </a:prstGeom>
            <a:solidFill>
              <a:srgbClr val="C3E3F9"/>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a:lnSpc>
                  <a:spcPct val="90000"/>
                </a:lnSpc>
              </a:pPr>
              <a:r>
                <a:rPr kumimoji="1" lang="en-US" altLang="zh-CN" sz="1050" b="1" dirty="0">
                  <a:solidFill>
                    <a:srgbClr val="0000FF"/>
                  </a:solidFill>
                  <a:latin typeface="微软雅黑" pitchFamily="34" charset="-122"/>
                  <a:ea typeface="微软雅黑" pitchFamily="34" charset="-122"/>
                </a:rPr>
                <a:t>16 </a:t>
              </a:r>
              <a:r>
                <a:rPr kumimoji="1" lang="zh-CN" altLang="en-US" sz="1050" b="1" dirty="0">
                  <a:solidFill>
                    <a:srgbClr val="0000FF"/>
                  </a:solidFill>
                  <a:latin typeface="微软雅黑" pitchFamily="34" charset="-122"/>
                  <a:ea typeface="微软雅黑" pitchFamily="34" charset="-122"/>
                </a:rPr>
                <a:t>位</a:t>
              </a:r>
            </a:p>
          </p:txBody>
        </p:sp>
        <p:sp>
          <p:nvSpPr>
            <p:cNvPr id="93" name="Line 26"/>
            <p:cNvSpPr>
              <a:spLocks noChangeShapeType="1"/>
            </p:cNvSpPr>
            <p:nvPr/>
          </p:nvSpPr>
          <p:spPr bwMode="auto">
            <a:xfrm>
              <a:off x="1732137"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94" name="Line 27"/>
            <p:cNvSpPr>
              <a:spLocks noChangeShapeType="1"/>
            </p:cNvSpPr>
            <p:nvPr/>
          </p:nvSpPr>
          <p:spPr bwMode="auto">
            <a:xfrm>
              <a:off x="5553515" y="2626568"/>
              <a:ext cx="0" cy="323851"/>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5" name="Line 28"/>
            <p:cNvSpPr>
              <a:spLocks noChangeShapeType="1"/>
            </p:cNvSpPr>
            <p:nvPr/>
          </p:nvSpPr>
          <p:spPr bwMode="auto">
            <a:xfrm>
              <a:off x="9340495"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6" name="Rectangle 29"/>
            <p:cNvSpPr>
              <a:spLocks noChangeArrowheads="1"/>
            </p:cNvSpPr>
            <p:nvPr/>
          </p:nvSpPr>
          <p:spPr bwMode="auto">
            <a:xfrm>
              <a:off x="382312" y="2151905"/>
              <a:ext cx="134947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B </a:t>
              </a:r>
              <a:r>
                <a:rPr kumimoji="1" lang="zh-CN" altLang="en-US" sz="1200" b="1">
                  <a:latin typeface="微软雅黑" pitchFamily="34" charset="-122"/>
                  <a:ea typeface="微软雅黑" pitchFamily="34" charset="-122"/>
                </a:rPr>
                <a:t>类地址</a:t>
              </a:r>
            </a:p>
          </p:txBody>
        </p:sp>
        <p:sp>
          <p:nvSpPr>
            <p:cNvPr id="97" name="Line 30"/>
            <p:cNvSpPr>
              <a:spLocks noChangeShapeType="1"/>
            </p:cNvSpPr>
            <p:nvPr/>
          </p:nvSpPr>
          <p:spPr bwMode="auto">
            <a:xfrm>
              <a:off x="5553514" y="2150319"/>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98" name="Rectangle 31"/>
            <p:cNvSpPr>
              <a:spLocks noChangeArrowheads="1"/>
            </p:cNvSpPr>
            <p:nvPr/>
          </p:nvSpPr>
          <p:spPr bwMode="auto">
            <a:xfrm>
              <a:off x="385029" y="3364953"/>
              <a:ext cx="1346756"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C </a:t>
              </a:r>
              <a:r>
                <a:rPr kumimoji="1" lang="zh-CN" altLang="en-US" sz="1200" b="1" dirty="0">
                  <a:latin typeface="微软雅黑" pitchFamily="34" charset="-122"/>
                  <a:ea typeface="微软雅黑" pitchFamily="34" charset="-122"/>
                </a:rPr>
                <a:t>类地址</a:t>
              </a:r>
            </a:p>
          </p:txBody>
        </p:sp>
        <p:sp>
          <p:nvSpPr>
            <p:cNvPr id="99" name="Rectangle 33"/>
            <p:cNvSpPr>
              <a:spLocks noChangeArrowheads="1"/>
            </p:cNvSpPr>
            <p:nvPr/>
          </p:nvSpPr>
          <p:spPr bwMode="auto">
            <a:xfrm>
              <a:off x="1666786" y="3361455"/>
              <a:ext cx="962403"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1 1 0</a:t>
              </a:r>
            </a:p>
          </p:txBody>
        </p:sp>
        <p:sp>
          <p:nvSpPr>
            <p:cNvPr id="100" name="Line 35"/>
            <p:cNvSpPr>
              <a:spLocks noChangeShapeType="1"/>
            </p:cNvSpPr>
            <p:nvPr/>
          </p:nvSpPr>
          <p:spPr bwMode="auto">
            <a:xfrm>
              <a:off x="2473367" y="3353842"/>
              <a:ext cx="0" cy="439737"/>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1" name="Line 36"/>
            <p:cNvSpPr>
              <a:spLocks noChangeShapeType="1"/>
            </p:cNvSpPr>
            <p:nvPr/>
          </p:nvSpPr>
          <p:spPr bwMode="auto">
            <a:xfrm>
              <a:off x="7505477" y="3349079"/>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2" name="Line 37"/>
            <p:cNvSpPr>
              <a:spLocks noChangeShapeType="1"/>
            </p:cNvSpPr>
            <p:nvPr/>
          </p:nvSpPr>
          <p:spPr bwMode="auto">
            <a:xfrm>
              <a:off x="7510637" y="4011066"/>
              <a:ext cx="1829857"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grpSp>
          <p:nvGrpSpPr>
            <p:cNvPr id="103" name="Group 38"/>
            <p:cNvGrpSpPr>
              <a:grpSpLocks/>
            </p:cNvGrpSpPr>
            <p:nvPr/>
          </p:nvGrpSpPr>
          <p:grpSpPr bwMode="auto">
            <a:xfrm>
              <a:off x="7928099" y="3820573"/>
              <a:ext cx="1131196" cy="644929"/>
              <a:chOff x="2827" y="3024"/>
              <a:chExt cx="453" cy="382"/>
            </a:xfrm>
          </p:grpSpPr>
          <p:sp>
            <p:nvSpPr>
              <p:cNvPr id="120"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21" name="Rectangle 40"/>
              <p:cNvSpPr>
                <a:spLocks noChangeArrowheads="1"/>
              </p:cNvSpPr>
              <p:nvPr/>
            </p:nvSpPr>
            <p:spPr bwMode="auto">
              <a:xfrm>
                <a:off x="2827" y="3024"/>
                <a:ext cx="453" cy="382"/>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8 </a:t>
                </a:r>
                <a:r>
                  <a:rPr kumimoji="1" lang="zh-CN" altLang="en-US" sz="1050" b="1" dirty="0">
                    <a:solidFill>
                      <a:srgbClr val="0000FF"/>
                    </a:solidFill>
                    <a:latin typeface="微软雅黑" pitchFamily="34" charset="-122"/>
                    <a:ea typeface="微软雅黑" pitchFamily="34" charset="-122"/>
                  </a:rPr>
                  <a:t>位</a:t>
                </a:r>
              </a:p>
            </p:txBody>
          </p:sp>
        </p:grpSp>
        <p:sp>
          <p:nvSpPr>
            <p:cNvPr id="104" name="Line 41"/>
            <p:cNvSpPr>
              <a:spLocks noChangeShapeType="1"/>
            </p:cNvSpPr>
            <p:nvPr/>
          </p:nvSpPr>
          <p:spPr bwMode="auto">
            <a:xfrm>
              <a:off x="1732137" y="385707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105" name="Line 42"/>
            <p:cNvSpPr>
              <a:spLocks noChangeShapeType="1"/>
            </p:cNvSpPr>
            <p:nvPr/>
          </p:nvSpPr>
          <p:spPr bwMode="auto">
            <a:xfrm>
              <a:off x="7510637" y="386025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6" name="Line 43"/>
            <p:cNvSpPr>
              <a:spLocks noChangeShapeType="1"/>
            </p:cNvSpPr>
            <p:nvPr/>
          </p:nvSpPr>
          <p:spPr bwMode="auto">
            <a:xfrm>
              <a:off x="9340495" y="384120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7" name="Rectangle 44"/>
            <p:cNvSpPr>
              <a:spLocks noChangeArrowheads="1"/>
            </p:cNvSpPr>
            <p:nvPr/>
          </p:nvSpPr>
          <p:spPr bwMode="auto">
            <a:xfrm>
              <a:off x="1725258" y="4582716"/>
              <a:ext cx="7656513"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8" name="Rectangle 45"/>
            <p:cNvSpPr>
              <a:spLocks noChangeArrowheads="1"/>
            </p:cNvSpPr>
            <p:nvPr/>
          </p:nvSpPr>
          <p:spPr bwMode="auto">
            <a:xfrm>
              <a:off x="355160" y="4593828"/>
              <a:ext cx="1376625"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D </a:t>
              </a:r>
              <a:r>
                <a:rPr kumimoji="1" lang="zh-CN" altLang="en-US" sz="1200" b="1">
                  <a:latin typeface="微软雅黑" pitchFamily="34" charset="-122"/>
                  <a:ea typeface="微软雅黑" pitchFamily="34" charset="-122"/>
                </a:rPr>
                <a:t>类地址</a:t>
              </a:r>
            </a:p>
          </p:txBody>
        </p:sp>
        <p:sp>
          <p:nvSpPr>
            <p:cNvPr id="109" name="Line 46"/>
            <p:cNvSpPr>
              <a:spLocks noChangeShapeType="1"/>
            </p:cNvSpPr>
            <p:nvPr/>
          </p:nvSpPr>
          <p:spPr bwMode="auto">
            <a:xfrm>
              <a:off x="2629189" y="459065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0" name="Rectangle 47"/>
            <p:cNvSpPr>
              <a:spLocks noChangeArrowheads="1"/>
            </p:cNvSpPr>
            <p:nvPr/>
          </p:nvSpPr>
          <p:spPr bwMode="auto">
            <a:xfrm>
              <a:off x="1610464" y="4581129"/>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1 1 1 0</a:t>
              </a:r>
            </a:p>
          </p:txBody>
        </p:sp>
        <p:sp>
          <p:nvSpPr>
            <p:cNvPr id="111" name="Rectangle 48"/>
            <p:cNvSpPr>
              <a:spLocks noChangeArrowheads="1"/>
            </p:cNvSpPr>
            <p:nvPr/>
          </p:nvSpPr>
          <p:spPr bwMode="auto">
            <a:xfrm>
              <a:off x="5031263" y="4581509"/>
              <a:ext cx="158841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多 播 地 址</a:t>
              </a:r>
            </a:p>
          </p:txBody>
        </p:sp>
        <p:sp>
          <p:nvSpPr>
            <p:cNvPr id="112" name="Rectangle 49"/>
            <p:cNvSpPr>
              <a:spLocks noChangeArrowheads="1"/>
            </p:cNvSpPr>
            <p:nvPr/>
          </p:nvSpPr>
          <p:spPr bwMode="auto">
            <a:xfrm>
              <a:off x="1733857" y="5549503"/>
              <a:ext cx="7641035"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3" name="Rectangle 50"/>
            <p:cNvSpPr>
              <a:spLocks noChangeArrowheads="1"/>
            </p:cNvSpPr>
            <p:nvPr/>
          </p:nvSpPr>
          <p:spPr bwMode="auto">
            <a:xfrm>
              <a:off x="412181" y="5559030"/>
              <a:ext cx="131960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E </a:t>
              </a:r>
              <a:r>
                <a:rPr kumimoji="1" lang="zh-CN" altLang="en-US" sz="1200" b="1">
                  <a:latin typeface="微软雅黑" pitchFamily="34" charset="-122"/>
                  <a:ea typeface="微软雅黑" pitchFamily="34" charset="-122"/>
                </a:rPr>
                <a:t>类地址</a:t>
              </a:r>
            </a:p>
          </p:txBody>
        </p:sp>
        <p:sp>
          <p:nvSpPr>
            <p:cNvPr id="114" name="Rectangle 51"/>
            <p:cNvSpPr>
              <a:spLocks noChangeArrowheads="1"/>
            </p:cNvSpPr>
            <p:nvPr/>
          </p:nvSpPr>
          <p:spPr bwMode="auto">
            <a:xfrm>
              <a:off x="4518046" y="5540357"/>
              <a:ext cx="260662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保 留 为 今 后 使 用</a:t>
              </a:r>
            </a:p>
          </p:txBody>
        </p:sp>
        <p:sp>
          <p:nvSpPr>
            <p:cNvPr id="115" name="Line 52"/>
            <p:cNvSpPr>
              <a:spLocks noChangeShapeType="1"/>
            </p:cNvSpPr>
            <p:nvPr/>
          </p:nvSpPr>
          <p:spPr bwMode="auto">
            <a:xfrm>
              <a:off x="2641708" y="557490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6" name="Rectangle 53"/>
            <p:cNvSpPr>
              <a:spLocks noChangeArrowheads="1"/>
            </p:cNvSpPr>
            <p:nvPr/>
          </p:nvSpPr>
          <p:spPr bwMode="auto">
            <a:xfrm>
              <a:off x="1610464" y="5555854"/>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1 1 1 1</a:t>
              </a:r>
            </a:p>
          </p:txBody>
        </p:sp>
        <p:sp>
          <p:nvSpPr>
            <p:cNvPr id="117" name="Rectangle 54"/>
            <p:cNvSpPr>
              <a:spLocks noChangeArrowheads="1"/>
            </p:cNvSpPr>
            <p:nvPr/>
          </p:nvSpPr>
          <p:spPr bwMode="auto">
            <a:xfrm>
              <a:off x="1861122" y="213603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latin typeface="微软雅黑" pitchFamily="34" charset="-122"/>
                  <a:ea typeface="微软雅黑" pitchFamily="34" charset="-122"/>
                </a:rPr>
                <a:t>0</a:t>
              </a:r>
            </a:p>
          </p:txBody>
        </p:sp>
        <p:sp>
          <p:nvSpPr>
            <p:cNvPr id="118" name="Rectangle 55"/>
            <p:cNvSpPr>
              <a:spLocks noChangeArrowheads="1"/>
            </p:cNvSpPr>
            <p:nvPr/>
          </p:nvSpPr>
          <p:spPr bwMode="auto">
            <a:xfrm>
              <a:off x="1653026" y="2136030"/>
              <a:ext cx="524537"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a:t>
              </a:r>
            </a:p>
          </p:txBody>
        </p:sp>
        <p:sp>
          <p:nvSpPr>
            <p:cNvPr id="119" name="Line 56"/>
            <p:cNvSpPr>
              <a:spLocks noChangeShapeType="1"/>
            </p:cNvSpPr>
            <p:nvPr/>
          </p:nvSpPr>
          <p:spPr bwMode="auto">
            <a:xfrm>
              <a:off x="2249794" y="2132856"/>
              <a:ext cx="0" cy="441325"/>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grpSp>
      <p:sp>
        <p:nvSpPr>
          <p:cNvPr id="65" name="AutoShape 61"/>
          <p:cNvSpPr>
            <a:spLocks noChangeArrowheads="1"/>
          </p:cNvSpPr>
          <p:nvPr/>
        </p:nvSpPr>
        <p:spPr bwMode="auto">
          <a:xfrm>
            <a:off x="2693452" y="3611194"/>
            <a:ext cx="4485687" cy="314674"/>
          </a:xfrm>
          <a:prstGeom prst="wedgeRoundRectCallout">
            <a:avLst>
              <a:gd name="adj1" fmla="val 30056"/>
              <a:gd name="adj2" fmla="val -325697"/>
              <a:gd name="adj3" fmla="val 16667"/>
            </a:avLst>
          </a:prstGeom>
          <a:solidFill>
            <a:srgbClr val="00FFFF"/>
          </a:solidFill>
          <a:ln w="9525">
            <a:solidFill>
              <a:schemeClr val="tx1"/>
            </a:solidFill>
            <a:miter lim="800000"/>
            <a:headEnd/>
            <a:tailEnd/>
          </a:ln>
          <a:effectLst/>
        </p:spPr>
        <p:txBody>
          <a:bodyPr anchor="ctr"/>
          <a:lstStyle/>
          <a:p>
            <a:pPr algn="ctr"/>
            <a:r>
              <a:rPr lang="en-US" altLang="zh-CN" sz="1600" b="1" dirty="0">
                <a:solidFill>
                  <a:srgbClr val="000066"/>
                </a:solidFill>
                <a:latin typeface="微软雅黑" pitchFamily="34" charset="-122"/>
                <a:ea typeface="微软雅黑" pitchFamily="34" charset="-122"/>
              </a:rPr>
              <a:t>C </a:t>
            </a:r>
            <a:r>
              <a:rPr lang="zh-CN" altLang="en-US" sz="1600" b="1" dirty="0">
                <a:solidFill>
                  <a:srgbClr val="000066"/>
                </a:solidFill>
                <a:latin typeface="微软雅黑" pitchFamily="34" charset="-122"/>
                <a:ea typeface="微软雅黑" pitchFamily="34" charset="-122"/>
              </a:rPr>
              <a:t>类地址的主机号字段 </a:t>
            </a:r>
            <a:r>
              <a:rPr lang="en-US" altLang="zh-CN" sz="1600" b="1" dirty="0">
                <a:solidFill>
                  <a:srgbClr val="000066"/>
                </a:solidFill>
                <a:latin typeface="微软雅黑" pitchFamily="34" charset="-122"/>
                <a:ea typeface="微软雅黑" pitchFamily="34" charset="-122"/>
              </a:rPr>
              <a:t>host-id </a:t>
            </a:r>
            <a:r>
              <a:rPr lang="zh-CN" altLang="en-US" sz="1600" b="1" dirty="0">
                <a:solidFill>
                  <a:srgbClr val="000066"/>
                </a:solidFill>
                <a:latin typeface="微软雅黑" pitchFamily="34" charset="-122"/>
                <a:ea typeface="微软雅黑" pitchFamily="34" charset="-122"/>
              </a:rPr>
              <a:t>为 </a:t>
            </a:r>
            <a:r>
              <a:rPr lang="en-US" altLang="zh-CN" sz="1600" b="1" dirty="0">
                <a:solidFill>
                  <a:srgbClr val="000066"/>
                </a:solidFill>
                <a:latin typeface="微软雅黑" pitchFamily="34" charset="-122"/>
                <a:ea typeface="微软雅黑" pitchFamily="34" charset="-122"/>
              </a:rPr>
              <a:t>1 </a:t>
            </a:r>
            <a:r>
              <a:rPr lang="zh-CN" altLang="en-US" sz="1600" b="1" dirty="0">
                <a:solidFill>
                  <a:srgbClr val="000066"/>
                </a:solidFill>
                <a:latin typeface="微软雅黑" pitchFamily="34" charset="-122"/>
                <a:ea typeface="微软雅黑" pitchFamily="34" charset="-122"/>
              </a:rPr>
              <a:t>字节</a:t>
            </a:r>
          </a:p>
        </p:txBody>
      </p:sp>
    </p:spTree>
    <p:extLst>
      <p:ext uri="{BB962C8B-B14F-4D97-AF65-F5344CB8AC3E}">
        <p14:creationId xmlns:p14="http://schemas.microsoft.com/office/powerpoint/2010/main" val="378871879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9" name="圆角矩形 88"/>
          <p:cNvSpPr/>
          <p:nvPr/>
        </p:nvSpPr>
        <p:spPr>
          <a:xfrm>
            <a:off x="545144" y="103367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90" name="矩形 89"/>
          <p:cNvSpPr/>
          <p:nvPr/>
        </p:nvSpPr>
        <p:spPr>
          <a:xfrm>
            <a:off x="616085" y="565906"/>
            <a:ext cx="4697120" cy="400110"/>
          </a:xfrm>
          <a:prstGeom prst="rect">
            <a:avLst/>
          </a:prstGeom>
        </p:spPr>
        <p:txBody>
          <a:bodyPr wrap="none">
            <a:spAutoFit/>
          </a:bodyPr>
          <a:lstStyle/>
          <a:p>
            <a:r>
              <a:rPr lang="zh-CN" altLang="en-US" sz="2000" b="1" dirty="0">
                <a:latin typeface="微软雅黑" pitchFamily="34" charset="-122"/>
                <a:ea typeface="微软雅黑" pitchFamily="34" charset="-122"/>
              </a:rPr>
              <a:t>各类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地址的网络号字段和主机号字段</a:t>
            </a:r>
          </a:p>
        </p:txBody>
      </p:sp>
      <p:grpSp>
        <p:nvGrpSpPr>
          <p:cNvPr id="88" name="组合 87"/>
          <p:cNvGrpSpPr/>
          <p:nvPr/>
        </p:nvGrpSpPr>
        <p:grpSpPr>
          <a:xfrm>
            <a:off x="1880840" y="1160772"/>
            <a:ext cx="5329079" cy="3009005"/>
            <a:chOff x="355160" y="927100"/>
            <a:chExt cx="9026611" cy="5096778"/>
          </a:xfrm>
        </p:grpSpPr>
        <p:sp>
          <p:nvSpPr>
            <p:cNvPr id="91" name="Line 2"/>
            <p:cNvSpPr>
              <a:spLocks noChangeShapeType="1"/>
            </p:cNvSpPr>
            <p:nvPr/>
          </p:nvSpPr>
          <p:spPr bwMode="auto">
            <a:xfrm flipV="1">
              <a:off x="1732138" y="4009478"/>
              <a:ext cx="574754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2" name="Rectangle 3"/>
            <p:cNvSpPr>
              <a:spLocks noChangeArrowheads="1"/>
            </p:cNvSpPr>
            <p:nvPr/>
          </p:nvSpPr>
          <p:spPr bwMode="auto">
            <a:xfrm>
              <a:off x="4144958" y="3791992"/>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24 </a:t>
              </a:r>
              <a:r>
                <a:rPr kumimoji="1" lang="zh-CN" altLang="en-US" sz="1050" b="1" dirty="0">
                  <a:solidFill>
                    <a:srgbClr val="C00000"/>
                  </a:solidFill>
                  <a:latin typeface="微软雅黑" pitchFamily="34" charset="-122"/>
                  <a:ea typeface="微软雅黑" pitchFamily="34" charset="-122"/>
                </a:rPr>
                <a:t>位</a:t>
              </a:r>
            </a:p>
          </p:txBody>
        </p:sp>
        <p:sp>
          <p:nvSpPr>
            <p:cNvPr id="93" name="Rectangle 4"/>
            <p:cNvSpPr>
              <a:spLocks noChangeArrowheads="1"/>
            </p:cNvSpPr>
            <p:nvPr/>
          </p:nvSpPr>
          <p:spPr bwMode="auto">
            <a:xfrm>
              <a:off x="1732137" y="3355428"/>
              <a:ext cx="7634155" cy="444500"/>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94" name="Line 5"/>
            <p:cNvSpPr>
              <a:spLocks noChangeShapeType="1"/>
            </p:cNvSpPr>
            <p:nvPr/>
          </p:nvSpPr>
          <p:spPr bwMode="auto">
            <a:xfrm>
              <a:off x="3601550" y="1577975"/>
              <a:ext cx="575270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5" name="Rectangle 6"/>
            <p:cNvSpPr>
              <a:spLocks noChangeArrowheads="1"/>
            </p:cNvSpPr>
            <p:nvPr/>
          </p:nvSpPr>
          <p:spPr bwMode="auto">
            <a:xfrm>
              <a:off x="5866875" y="1370014"/>
              <a:ext cx="1167551"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24 </a:t>
              </a:r>
              <a:r>
                <a:rPr kumimoji="1" lang="zh-CN" altLang="en-US" sz="1050" b="1" dirty="0">
                  <a:solidFill>
                    <a:srgbClr val="0000FF"/>
                  </a:solidFill>
                  <a:latin typeface="微软雅黑" pitchFamily="34" charset="-122"/>
                  <a:ea typeface="微软雅黑" pitchFamily="34" charset="-122"/>
                </a:rPr>
                <a:t>位</a:t>
              </a:r>
            </a:p>
          </p:txBody>
        </p:sp>
        <p:sp>
          <p:nvSpPr>
            <p:cNvPr id="96" name="Line 7"/>
            <p:cNvSpPr>
              <a:spLocks noChangeShapeType="1"/>
            </p:cNvSpPr>
            <p:nvPr/>
          </p:nvSpPr>
          <p:spPr bwMode="auto">
            <a:xfrm flipV="1">
              <a:off x="1775131" y="2790849"/>
              <a:ext cx="3764625"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7" name="Rectangle 8"/>
            <p:cNvSpPr>
              <a:spLocks noChangeArrowheads="1"/>
            </p:cNvSpPr>
            <p:nvPr/>
          </p:nvSpPr>
          <p:spPr bwMode="auto">
            <a:xfrm>
              <a:off x="3208855" y="2574181"/>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16 </a:t>
              </a:r>
              <a:r>
                <a:rPr kumimoji="1" lang="zh-CN" altLang="en-US" sz="1050" b="1" dirty="0">
                  <a:solidFill>
                    <a:srgbClr val="C00000"/>
                  </a:solidFill>
                  <a:latin typeface="微软雅黑" pitchFamily="34" charset="-122"/>
                  <a:ea typeface="微软雅黑" pitchFamily="34" charset="-122"/>
                </a:rPr>
                <a:t>位</a:t>
              </a:r>
            </a:p>
          </p:txBody>
        </p:sp>
        <p:sp>
          <p:nvSpPr>
            <p:cNvPr id="98" name="Line 9"/>
            <p:cNvSpPr>
              <a:spLocks noChangeShapeType="1"/>
            </p:cNvSpPr>
            <p:nvPr/>
          </p:nvSpPr>
          <p:spPr bwMode="auto">
            <a:xfrm>
              <a:off x="1690862" y="1577975"/>
              <a:ext cx="1910688"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9" name="Rectangle 10"/>
            <p:cNvSpPr>
              <a:spLocks noChangeArrowheads="1"/>
            </p:cNvSpPr>
            <p:nvPr/>
          </p:nvSpPr>
          <p:spPr bwMode="auto">
            <a:xfrm>
              <a:off x="2058942" y="1370014"/>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algn="ct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8 </a:t>
              </a:r>
              <a:r>
                <a:rPr kumimoji="1" lang="zh-CN" altLang="en-US" sz="1050" b="1" dirty="0">
                  <a:solidFill>
                    <a:srgbClr val="C00000"/>
                  </a:solidFill>
                  <a:latin typeface="微软雅黑" pitchFamily="34" charset="-122"/>
                  <a:ea typeface="微软雅黑" pitchFamily="34" charset="-122"/>
                </a:rPr>
                <a:t>位</a:t>
              </a:r>
            </a:p>
          </p:txBody>
        </p:sp>
        <p:sp>
          <p:nvSpPr>
            <p:cNvPr id="100" name="Rectangle 11"/>
            <p:cNvSpPr>
              <a:spLocks noChangeArrowheads="1"/>
            </p:cNvSpPr>
            <p:nvPr/>
          </p:nvSpPr>
          <p:spPr bwMode="auto">
            <a:xfrm>
              <a:off x="1694302" y="933451"/>
              <a:ext cx="7675430" cy="442913"/>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1" name="Rectangle 12"/>
            <p:cNvSpPr>
              <a:spLocks noChangeArrowheads="1"/>
            </p:cNvSpPr>
            <p:nvPr/>
          </p:nvSpPr>
          <p:spPr bwMode="auto">
            <a:xfrm>
              <a:off x="1716659" y="2140794"/>
              <a:ext cx="7659952" cy="446087"/>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2" name="Rectangle 14"/>
            <p:cNvSpPr>
              <a:spLocks noChangeArrowheads="1"/>
            </p:cNvSpPr>
            <p:nvPr/>
          </p:nvSpPr>
          <p:spPr bwMode="auto">
            <a:xfrm>
              <a:off x="1742456" y="3369716"/>
              <a:ext cx="5742384" cy="423862"/>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3" name="Rectangle 15"/>
            <p:cNvSpPr>
              <a:spLocks noChangeArrowheads="1"/>
            </p:cNvSpPr>
            <p:nvPr/>
          </p:nvSpPr>
          <p:spPr bwMode="auto">
            <a:xfrm>
              <a:off x="1740736" y="2151905"/>
              <a:ext cx="3804179" cy="423863"/>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4" name="Rectangle 16"/>
            <p:cNvSpPr>
              <a:spLocks noChangeArrowheads="1"/>
            </p:cNvSpPr>
            <p:nvPr/>
          </p:nvSpPr>
          <p:spPr bwMode="auto">
            <a:xfrm>
              <a:off x="1720099" y="957263"/>
              <a:ext cx="1874573" cy="406400"/>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5" name="Rectangle 17"/>
            <p:cNvSpPr>
              <a:spLocks noChangeArrowheads="1"/>
            </p:cNvSpPr>
            <p:nvPr/>
          </p:nvSpPr>
          <p:spPr bwMode="auto">
            <a:xfrm>
              <a:off x="1635829" y="92710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050" b="1" dirty="0">
                  <a:latin typeface="微软雅黑" pitchFamily="34" charset="-122"/>
                  <a:ea typeface="微软雅黑" pitchFamily="34" charset="-122"/>
                </a:rPr>
                <a:t>0</a:t>
              </a:r>
            </a:p>
          </p:txBody>
        </p:sp>
        <p:sp>
          <p:nvSpPr>
            <p:cNvPr id="106" name="Rectangle 18"/>
            <p:cNvSpPr>
              <a:spLocks noChangeArrowheads="1"/>
            </p:cNvSpPr>
            <p:nvPr/>
          </p:nvSpPr>
          <p:spPr bwMode="auto">
            <a:xfrm>
              <a:off x="366021" y="955675"/>
              <a:ext cx="136576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A </a:t>
              </a:r>
              <a:r>
                <a:rPr kumimoji="1" lang="zh-CN" altLang="en-US" sz="1200" b="1" dirty="0">
                  <a:latin typeface="微软雅黑" pitchFamily="34" charset="-122"/>
                  <a:ea typeface="微软雅黑" pitchFamily="34" charset="-122"/>
                </a:rPr>
                <a:t>类地址</a:t>
              </a:r>
            </a:p>
          </p:txBody>
        </p:sp>
        <p:sp>
          <p:nvSpPr>
            <p:cNvPr id="107" name="Line 19"/>
            <p:cNvSpPr>
              <a:spLocks noChangeShapeType="1"/>
            </p:cNvSpPr>
            <p:nvPr/>
          </p:nvSpPr>
          <p:spPr bwMode="auto">
            <a:xfrm>
              <a:off x="1971188" y="933451"/>
              <a:ext cx="0" cy="450849"/>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8" name="Line 20"/>
            <p:cNvSpPr>
              <a:spLocks noChangeShapeType="1"/>
            </p:cNvSpPr>
            <p:nvPr/>
          </p:nvSpPr>
          <p:spPr bwMode="auto">
            <a:xfrm>
              <a:off x="3601550"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9" name="Line 21"/>
            <p:cNvSpPr>
              <a:spLocks noChangeShapeType="1"/>
            </p:cNvSpPr>
            <p:nvPr/>
          </p:nvSpPr>
          <p:spPr bwMode="auto">
            <a:xfrm>
              <a:off x="1690862"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110" name="Line 22"/>
            <p:cNvSpPr>
              <a:spLocks noChangeShapeType="1"/>
            </p:cNvSpPr>
            <p:nvPr/>
          </p:nvSpPr>
          <p:spPr bwMode="auto">
            <a:xfrm>
              <a:off x="3601550"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11" name="Line 23"/>
            <p:cNvSpPr>
              <a:spLocks noChangeShapeType="1"/>
            </p:cNvSpPr>
            <p:nvPr/>
          </p:nvSpPr>
          <p:spPr bwMode="auto">
            <a:xfrm>
              <a:off x="9354254"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12" name="Line 24"/>
            <p:cNvSpPr>
              <a:spLocks noChangeShapeType="1"/>
            </p:cNvSpPr>
            <p:nvPr/>
          </p:nvSpPr>
          <p:spPr bwMode="auto">
            <a:xfrm>
              <a:off x="5553515" y="2784499"/>
              <a:ext cx="3786979" cy="635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13" name="Rectangle 25"/>
            <p:cNvSpPr>
              <a:spLocks noChangeArrowheads="1"/>
            </p:cNvSpPr>
            <p:nvPr/>
          </p:nvSpPr>
          <p:spPr bwMode="auto">
            <a:xfrm>
              <a:off x="6946995" y="2636149"/>
              <a:ext cx="1167551" cy="668165"/>
            </a:xfrm>
            <a:prstGeom prst="rect">
              <a:avLst/>
            </a:prstGeom>
            <a:solidFill>
              <a:srgbClr val="C3E3F9"/>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a:lnSpc>
                  <a:spcPct val="90000"/>
                </a:lnSpc>
              </a:pPr>
              <a:r>
                <a:rPr kumimoji="1" lang="en-US" altLang="zh-CN" sz="1050" b="1" dirty="0">
                  <a:solidFill>
                    <a:srgbClr val="0000FF"/>
                  </a:solidFill>
                  <a:latin typeface="微软雅黑" pitchFamily="34" charset="-122"/>
                  <a:ea typeface="微软雅黑" pitchFamily="34" charset="-122"/>
                </a:rPr>
                <a:t>16 </a:t>
              </a:r>
              <a:r>
                <a:rPr kumimoji="1" lang="zh-CN" altLang="en-US" sz="1050" b="1" dirty="0">
                  <a:solidFill>
                    <a:srgbClr val="0000FF"/>
                  </a:solidFill>
                  <a:latin typeface="微软雅黑" pitchFamily="34" charset="-122"/>
                  <a:ea typeface="微软雅黑" pitchFamily="34" charset="-122"/>
                </a:rPr>
                <a:t>位</a:t>
              </a:r>
            </a:p>
          </p:txBody>
        </p:sp>
        <p:sp>
          <p:nvSpPr>
            <p:cNvPr id="114" name="Line 26"/>
            <p:cNvSpPr>
              <a:spLocks noChangeShapeType="1"/>
            </p:cNvSpPr>
            <p:nvPr/>
          </p:nvSpPr>
          <p:spPr bwMode="auto">
            <a:xfrm>
              <a:off x="1732137"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115" name="Line 27"/>
            <p:cNvSpPr>
              <a:spLocks noChangeShapeType="1"/>
            </p:cNvSpPr>
            <p:nvPr/>
          </p:nvSpPr>
          <p:spPr bwMode="auto">
            <a:xfrm>
              <a:off x="5553515" y="2626568"/>
              <a:ext cx="0" cy="323851"/>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16" name="Line 28"/>
            <p:cNvSpPr>
              <a:spLocks noChangeShapeType="1"/>
            </p:cNvSpPr>
            <p:nvPr/>
          </p:nvSpPr>
          <p:spPr bwMode="auto">
            <a:xfrm>
              <a:off x="9340495"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17" name="Rectangle 29"/>
            <p:cNvSpPr>
              <a:spLocks noChangeArrowheads="1"/>
            </p:cNvSpPr>
            <p:nvPr/>
          </p:nvSpPr>
          <p:spPr bwMode="auto">
            <a:xfrm>
              <a:off x="382312" y="2151905"/>
              <a:ext cx="134947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B </a:t>
              </a:r>
              <a:r>
                <a:rPr kumimoji="1" lang="zh-CN" altLang="en-US" sz="1200" b="1">
                  <a:latin typeface="微软雅黑" pitchFamily="34" charset="-122"/>
                  <a:ea typeface="微软雅黑" pitchFamily="34" charset="-122"/>
                </a:rPr>
                <a:t>类地址</a:t>
              </a:r>
            </a:p>
          </p:txBody>
        </p:sp>
        <p:sp>
          <p:nvSpPr>
            <p:cNvPr id="118" name="Line 30"/>
            <p:cNvSpPr>
              <a:spLocks noChangeShapeType="1"/>
            </p:cNvSpPr>
            <p:nvPr/>
          </p:nvSpPr>
          <p:spPr bwMode="auto">
            <a:xfrm>
              <a:off x="5553514" y="2150319"/>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9" name="Rectangle 31"/>
            <p:cNvSpPr>
              <a:spLocks noChangeArrowheads="1"/>
            </p:cNvSpPr>
            <p:nvPr/>
          </p:nvSpPr>
          <p:spPr bwMode="auto">
            <a:xfrm>
              <a:off x="385029" y="3364953"/>
              <a:ext cx="1346756"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C </a:t>
              </a:r>
              <a:r>
                <a:rPr kumimoji="1" lang="zh-CN" altLang="en-US" sz="1200" b="1" dirty="0">
                  <a:latin typeface="微软雅黑" pitchFamily="34" charset="-122"/>
                  <a:ea typeface="微软雅黑" pitchFamily="34" charset="-122"/>
                </a:rPr>
                <a:t>类地址</a:t>
              </a:r>
            </a:p>
          </p:txBody>
        </p:sp>
        <p:sp>
          <p:nvSpPr>
            <p:cNvPr id="120" name="Rectangle 33"/>
            <p:cNvSpPr>
              <a:spLocks noChangeArrowheads="1"/>
            </p:cNvSpPr>
            <p:nvPr/>
          </p:nvSpPr>
          <p:spPr bwMode="auto">
            <a:xfrm>
              <a:off x="1666786" y="3361455"/>
              <a:ext cx="962403"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1 1 0</a:t>
              </a:r>
            </a:p>
          </p:txBody>
        </p:sp>
        <p:sp>
          <p:nvSpPr>
            <p:cNvPr id="121" name="Line 35"/>
            <p:cNvSpPr>
              <a:spLocks noChangeShapeType="1"/>
            </p:cNvSpPr>
            <p:nvPr/>
          </p:nvSpPr>
          <p:spPr bwMode="auto">
            <a:xfrm>
              <a:off x="2473367" y="3353842"/>
              <a:ext cx="0" cy="439737"/>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22" name="Line 36"/>
            <p:cNvSpPr>
              <a:spLocks noChangeShapeType="1"/>
            </p:cNvSpPr>
            <p:nvPr/>
          </p:nvSpPr>
          <p:spPr bwMode="auto">
            <a:xfrm>
              <a:off x="7505477" y="3349079"/>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23" name="Line 37"/>
            <p:cNvSpPr>
              <a:spLocks noChangeShapeType="1"/>
            </p:cNvSpPr>
            <p:nvPr/>
          </p:nvSpPr>
          <p:spPr bwMode="auto">
            <a:xfrm>
              <a:off x="7510637" y="4011066"/>
              <a:ext cx="1829857"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grpSp>
          <p:nvGrpSpPr>
            <p:cNvPr id="124" name="Group 38"/>
            <p:cNvGrpSpPr>
              <a:grpSpLocks/>
            </p:cNvGrpSpPr>
            <p:nvPr/>
          </p:nvGrpSpPr>
          <p:grpSpPr bwMode="auto">
            <a:xfrm>
              <a:off x="7928099" y="3820573"/>
              <a:ext cx="1131196" cy="644929"/>
              <a:chOff x="2827" y="3024"/>
              <a:chExt cx="453" cy="382"/>
            </a:xfrm>
          </p:grpSpPr>
          <p:sp>
            <p:nvSpPr>
              <p:cNvPr id="141"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42" name="Rectangle 40"/>
              <p:cNvSpPr>
                <a:spLocks noChangeArrowheads="1"/>
              </p:cNvSpPr>
              <p:nvPr/>
            </p:nvSpPr>
            <p:spPr bwMode="auto">
              <a:xfrm>
                <a:off x="2827" y="3024"/>
                <a:ext cx="453" cy="382"/>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8 </a:t>
                </a:r>
                <a:r>
                  <a:rPr kumimoji="1" lang="zh-CN" altLang="en-US" sz="1050" b="1" dirty="0">
                    <a:solidFill>
                      <a:srgbClr val="0000FF"/>
                    </a:solidFill>
                    <a:latin typeface="微软雅黑" pitchFamily="34" charset="-122"/>
                    <a:ea typeface="微软雅黑" pitchFamily="34" charset="-122"/>
                  </a:rPr>
                  <a:t>位</a:t>
                </a:r>
              </a:p>
            </p:txBody>
          </p:sp>
        </p:grpSp>
        <p:sp>
          <p:nvSpPr>
            <p:cNvPr id="125" name="Line 41"/>
            <p:cNvSpPr>
              <a:spLocks noChangeShapeType="1"/>
            </p:cNvSpPr>
            <p:nvPr/>
          </p:nvSpPr>
          <p:spPr bwMode="auto">
            <a:xfrm>
              <a:off x="1732137" y="385707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126" name="Line 42"/>
            <p:cNvSpPr>
              <a:spLocks noChangeShapeType="1"/>
            </p:cNvSpPr>
            <p:nvPr/>
          </p:nvSpPr>
          <p:spPr bwMode="auto">
            <a:xfrm>
              <a:off x="7510637" y="386025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27" name="Line 43"/>
            <p:cNvSpPr>
              <a:spLocks noChangeShapeType="1"/>
            </p:cNvSpPr>
            <p:nvPr/>
          </p:nvSpPr>
          <p:spPr bwMode="auto">
            <a:xfrm>
              <a:off x="9340495" y="384120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28" name="Rectangle 44"/>
            <p:cNvSpPr>
              <a:spLocks noChangeArrowheads="1"/>
            </p:cNvSpPr>
            <p:nvPr/>
          </p:nvSpPr>
          <p:spPr bwMode="auto">
            <a:xfrm>
              <a:off x="1725258" y="4582716"/>
              <a:ext cx="7656513"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29" name="Rectangle 45"/>
            <p:cNvSpPr>
              <a:spLocks noChangeArrowheads="1"/>
            </p:cNvSpPr>
            <p:nvPr/>
          </p:nvSpPr>
          <p:spPr bwMode="auto">
            <a:xfrm>
              <a:off x="355160" y="4593828"/>
              <a:ext cx="1376625"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D </a:t>
              </a:r>
              <a:r>
                <a:rPr kumimoji="1" lang="zh-CN" altLang="en-US" sz="1200" b="1">
                  <a:latin typeface="微软雅黑" pitchFamily="34" charset="-122"/>
                  <a:ea typeface="微软雅黑" pitchFamily="34" charset="-122"/>
                </a:rPr>
                <a:t>类地址</a:t>
              </a:r>
            </a:p>
          </p:txBody>
        </p:sp>
        <p:sp>
          <p:nvSpPr>
            <p:cNvPr id="130" name="Line 46"/>
            <p:cNvSpPr>
              <a:spLocks noChangeShapeType="1"/>
            </p:cNvSpPr>
            <p:nvPr/>
          </p:nvSpPr>
          <p:spPr bwMode="auto">
            <a:xfrm>
              <a:off x="2629189" y="459065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31" name="Rectangle 47"/>
            <p:cNvSpPr>
              <a:spLocks noChangeArrowheads="1"/>
            </p:cNvSpPr>
            <p:nvPr/>
          </p:nvSpPr>
          <p:spPr bwMode="auto">
            <a:xfrm>
              <a:off x="1610464" y="4581129"/>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1 1 1 0</a:t>
              </a:r>
            </a:p>
          </p:txBody>
        </p:sp>
        <p:sp>
          <p:nvSpPr>
            <p:cNvPr id="132" name="Rectangle 48"/>
            <p:cNvSpPr>
              <a:spLocks noChangeArrowheads="1"/>
            </p:cNvSpPr>
            <p:nvPr/>
          </p:nvSpPr>
          <p:spPr bwMode="auto">
            <a:xfrm>
              <a:off x="5031263" y="4581509"/>
              <a:ext cx="158841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多 播 地 址</a:t>
              </a:r>
            </a:p>
          </p:txBody>
        </p:sp>
        <p:sp>
          <p:nvSpPr>
            <p:cNvPr id="133" name="Rectangle 49"/>
            <p:cNvSpPr>
              <a:spLocks noChangeArrowheads="1"/>
            </p:cNvSpPr>
            <p:nvPr/>
          </p:nvSpPr>
          <p:spPr bwMode="auto">
            <a:xfrm>
              <a:off x="1733857" y="5549503"/>
              <a:ext cx="7641035"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34" name="Rectangle 50"/>
            <p:cNvSpPr>
              <a:spLocks noChangeArrowheads="1"/>
            </p:cNvSpPr>
            <p:nvPr/>
          </p:nvSpPr>
          <p:spPr bwMode="auto">
            <a:xfrm>
              <a:off x="412181" y="5559030"/>
              <a:ext cx="131960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E </a:t>
              </a:r>
              <a:r>
                <a:rPr kumimoji="1" lang="zh-CN" altLang="en-US" sz="1200" b="1">
                  <a:latin typeface="微软雅黑" pitchFamily="34" charset="-122"/>
                  <a:ea typeface="微软雅黑" pitchFamily="34" charset="-122"/>
                </a:rPr>
                <a:t>类地址</a:t>
              </a:r>
            </a:p>
          </p:txBody>
        </p:sp>
        <p:sp>
          <p:nvSpPr>
            <p:cNvPr id="135" name="Rectangle 51"/>
            <p:cNvSpPr>
              <a:spLocks noChangeArrowheads="1"/>
            </p:cNvSpPr>
            <p:nvPr/>
          </p:nvSpPr>
          <p:spPr bwMode="auto">
            <a:xfrm>
              <a:off x="4518046" y="5540357"/>
              <a:ext cx="260662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保 留 为 今 后 使 用</a:t>
              </a:r>
            </a:p>
          </p:txBody>
        </p:sp>
        <p:sp>
          <p:nvSpPr>
            <p:cNvPr id="136" name="Line 52"/>
            <p:cNvSpPr>
              <a:spLocks noChangeShapeType="1"/>
            </p:cNvSpPr>
            <p:nvPr/>
          </p:nvSpPr>
          <p:spPr bwMode="auto">
            <a:xfrm>
              <a:off x="2641708" y="557490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37" name="Rectangle 53"/>
            <p:cNvSpPr>
              <a:spLocks noChangeArrowheads="1"/>
            </p:cNvSpPr>
            <p:nvPr/>
          </p:nvSpPr>
          <p:spPr bwMode="auto">
            <a:xfrm>
              <a:off x="1610464" y="5555854"/>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1 1 1 1</a:t>
              </a:r>
            </a:p>
          </p:txBody>
        </p:sp>
        <p:sp>
          <p:nvSpPr>
            <p:cNvPr id="138" name="Rectangle 54"/>
            <p:cNvSpPr>
              <a:spLocks noChangeArrowheads="1"/>
            </p:cNvSpPr>
            <p:nvPr/>
          </p:nvSpPr>
          <p:spPr bwMode="auto">
            <a:xfrm>
              <a:off x="1861122" y="213603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latin typeface="微软雅黑" pitchFamily="34" charset="-122"/>
                  <a:ea typeface="微软雅黑" pitchFamily="34" charset="-122"/>
                </a:rPr>
                <a:t>0</a:t>
              </a:r>
            </a:p>
          </p:txBody>
        </p:sp>
        <p:sp>
          <p:nvSpPr>
            <p:cNvPr id="139" name="Rectangle 55"/>
            <p:cNvSpPr>
              <a:spLocks noChangeArrowheads="1"/>
            </p:cNvSpPr>
            <p:nvPr/>
          </p:nvSpPr>
          <p:spPr bwMode="auto">
            <a:xfrm>
              <a:off x="1653026" y="2136030"/>
              <a:ext cx="524537"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a:t>
              </a:r>
            </a:p>
          </p:txBody>
        </p:sp>
        <p:sp>
          <p:nvSpPr>
            <p:cNvPr id="140" name="Line 56"/>
            <p:cNvSpPr>
              <a:spLocks noChangeShapeType="1"/>
            </p:cNvSpPr>
            <p:nvPr/>
          </p:nvSpPr>
          <p:spPr bwMode="auto">
            <a:xfrm>
              <a:off x="2249794" y="2132856"/>
              <a:ext cx="0" cy="441325"/>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grpSp>
      <p:sp>
        <p:nvSpPr>
          <p:cNvPr id="86" name="AutoShape 61"/>
          <p:cNvSpPr>
            <a:spLocks noChangeArrowheads="1"/>
          </p:cNvSpPr>
          <p:nvPr/>
        </p:nvSpPr>
        <p:spPr bwMode="auto">
          <a:xfrm>
            <a:off x="3786953" y="2239967"/>
            <a:ext cx="2668417" cy="314674"/>
          </a:xfrm>
          <a:prstGeom prst="wedgeRoundRectCallout">
            <a:avLst>
              <a:gd name="adj1" fmla="val 28569"/>
              <a:gd name="adj2" fmla="val 365077"/>
              <a:gd name="adj3" fmla="val 16667"/>
            </a:avLst>
          </a:prstGeom>
          <a:solidFill>
            <a:srgbClr val="00FFFF"/>
          </a:solidFill>
          <a:ln w="9525">
            <a:solidFill>
              <a:schemeClr val="tx1"/>
            </a:solidFill>
            <a:miter lim="800000"/>
            <a:headEnd/>
            <a:tailEnd/>
          </a:ln>
          <a:effectLst/>
        </p:spPr>
        <p:txBody>
          <a:bodyPr anchor="ctr"/>
          <a:lstStyle/>
          <a:p>
            <a:pPr algn="ctr"/>
            <a:r>
              <a:rPr lang="en-US" altLang="zh-CN" sz="1600" b="1" dirty="0">
                <a:solidFill>
                  <a:srgbClr val="000066"/>
                </a:solidFill>
                <a:latin typeface="微软雅黑" pitchFamily="34" charset="-122"/>
                <a:ea typeface="微软雅黑" pitchFamily="34" charset="-122"/>
              </a:rPr>
              <a:t>D </a:t>
            </a:r>
            <a:r>
              <a:rPr lang="zh-CN" altLang="en-US" sz="1600" b="1" dirty="0">
                <a:solidFill>
                  <a:srgbClr val="000066"/>
                </a:solidFill>
                <a:latin typeface="微软雅黑" pitchFamily="34" charset="-122"/>
                <a:ea typeface="微软雅黑" pitchFamily="34" charset="-122"/>
              </a:rPr>
              <a:t>类地址是多播地址</a:t>
            </a:r>
          </a:p>
        </p:txBody>
      </p:sp>
    </p:spTree>
    <p:extLst>
      <p:ext uri="{BB962C8B-B14F-4D97-AF65-F5344CB8AC3E}">
        <p14:creationId xmlns:p14="http://schemas.microsoft.com/office/powerpoint/2010/main" val="382553782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3" name="圆角矩形 72"/>
          <p:cNvSpPr/>
          <p:nvPr/>
        </p:nvSpPr>
        <p:spPr>
          <a:xfrm>
            <a:off x="545144" y="103367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4" name="矩形 73"/>
          <p:cNvSpPr/>
          <p:nvPr/>
        </p:nvSpPr>
        <p:spPr>
          <a:xfrm>
            <a:off x="616085" y="565906"/>
            <a:ext cx="4697120" cy="400110"/>
          </a:xfrm>
          <a:prstGeom prst="rect">
            <a:avLst/>
          </a:prstGeom>
        </p:spPr>
        <p:txBody>
          <a:bodyPr wrap="none">
            <a:spAutoFit/>
          </a:bodyPr>
          <a:lstStyle/>
          <a:p>
            <a:r>
              <a:rPr lang="zh-CN" altLang="en-US" sz="2000" b="1" dirty="0">
                <a:latin typeface="微软雅黑" pitchFamily="34" charset="-122"/>
                <a:ea typeface="微软雅黑" pitchFamily="34" charset="-122"/>
              </a:rPr>
              <a:t>各类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地址的网络号字段和主机号字段</a:t>
            </a:r>
          </a:p>
        </p:txBody>
      </p:sp>
      <p:grpSp>
        <p:nvGrpSpPr>
          <p:cNvPr id="72" name="组合 71"/>
          <p:cNvGrpSpPr/>
          <p:nvPr/>
        </p:nvGrpSpPr>
        <p:grpSpPr>
          <a:xfrm>
            <a:off x="1880840" y="1160772"/>
            <a:ext cx="5329079" cy="3009005"/>
            <a:chOff x="355160" y="927100"/>
            <a:chExt cx="9026611" cy="5096778"/>
          </a:xfrm>
        </p:grpSpPr>
        <p:sp>
          <p:nvSpPr>
            <p:cNvPr id="75" name="Line 2"/>
            <p:cNvSpPr>
              <a:spLocks noChangeShapeType="1"/>
            </p:cNvSpPr>
            <p:nvPr/>
          </p:nvSpPr>
          <p:spPr bwMode="auto">
            <a:xfrm flipV="1">
              <a:off x="1732138" y="4009478"/>
              <a:ext cx="574754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6" name="Rectangle 3"/>
            <p:cNvSpPr>
              <a:spLocks noChangeArrowheads="1"/>
            </p:cNvSpPr>
            <p:nvPr/>
          </p:nvSpPr>
          <p:spPr bwMode="auto">
            <a:xfrm>
              <a:off x="4144958" y="3791992"/>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24 </a:t>
              </a:r>
              <a:r>
                <a:rPr kumimoji="1" lang="zh-CN" altLang="en-US" sz="1050" b="1" dirty="0">
                  <a:solidFill>
                    <a:srgbClr val="C00000"/>
                  </a:solidFill>
                  <a:latin typeface="微软雅黑" pitchFamily="34" charset="-122"/>
                  <a:ea typeface="微软雅黑" pitchFamily="34" charset="-122"/>
                </a:rPr>
                <a:t>位</a:t>
              </a:r>
            </a:p>
          </p:txBody>
        </p:sp>
        <p:sp>
          <p:nvSpPr>
            <p:cNvPr id="77" name="Rectangle 4"/>
            <p:cNvSpPr>
              <a:spLocks noChangeArrowheads="1"/>
            </p:cNvSpPr>
            <p:nvPr/>
          </p:nvSpPr>
          <p:spPr bwMode="auto">
            <a:xfrm>
              <a:off x="1732137" y="3355428"/>
              <a:ext cx="7634155" cy="444500"/>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8" name="Line 5"/>
            <p:cNvSpPr>
              <a:spLocks noChangeShapeType="1"/>
            </p:cNvSpPr>
            <p:nvPr/>
          </p:nvSpPr>
          <p:spPr bwMode="auto">
            <a:xfrm>
              <a:off x="3601550" y="1577975"/>
              <a:ext cx="575270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9" name="Rectangle 6"/>
            <p:cNvSpPr>
              <a:spLocks noChangeArrowheads="1"/>
            </p:cNvSpPr>
            <p:nvPr/>
          </p:nvSpPr>
          <p:spPr bwMode="auto">
            <a:xfrm>
              <a:off x="5866875" y="1370014"/>
              <a:ext cx="1167551"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24 </a:t>
              </a:r>
              <a:r>
                <a:rPr kumimoji="1" lang="zh-CN" altLang="en-US" sz="1050" b="1" dirty="0">
                  <a:solidFill>
                    <a:srgbClr val="0000FF"/>
                  </a:solidFill>
                  <a:latin typeface="微软雅黑" pitchFamily="34" charset="-122"/>
                  <a:ea typeface="微软雅黑" pitchFamily="34" charset="-122"/>
                </a:rPr>
                <a:t>位</a:t>
              </a:r>
            </a:p>
          </p:txBody>
        </p:sp>
        <p:sp>
          <p:nvSpPr>
            <p:cNvPr id="80" name="Line 7"/>
            <p:cNvSpPr>
              <a:spLocks noChangeShapeType="1"/>
            </p:cNvSpPr>
            <p:nvPr/>
          </p:nvSpPr>
          <p:spPr bwMode="auto">
            <a:xfrm flipV="1">
              <a:off x="1775131" y="2790849"/>
              <a:ext cx="3764625"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1" name="Rectangle 8"/>
            <p:cNvSpPr>
              <a:spLocks noChangeArrowheads="1"/>
            </p:cNvSpPr>
            <p:nvPr/>
          </p:nvSpPr>
          <p:spPr bwMode="auto">
            <a:xfrm>
              <a:off x="3208855" y="2574181"/>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16 </a:t>
              </a:r>
              <a:r>
                <a:rPr kumimoji="1" lang="zh-CN" altLang="en-US" sz="1050" b="1" dirty="0">
                  <a:solidFill>
                    <a:srgbClr val="C00000"/>
                  </a:solidFill>
                  <a:latin typeface="微软雅黑" pitchFamily="34" charset="-122"/>
                  <a:ea typeface="微软雅黑" pitchFamily="34" charset="-122"/>
                </a:rPr>
                <a:t>位</a:t>
              </a:r>
            </a:p>
          </p:txBody>
        </p:sp>
        <p:sp>
          <p:nvSpPr>
            <p:cNvPr id="82" name="Line 9"/>
            <p:cNvSpPr>
              <a:spLocks noChangeShapeType="1"/>
            </p:cNvSpPr>
            <p:nvPr/>
          </p:nvSpPr>
          <p:spPr bwMode="auto">
            <a:xfrm>
              <a:off x="1690862" y="1577975"/>
              <a:ext cx="1910688"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3" name="Rectangle 10"/>
            <p:cNvSpPr>
              <a:spLocks noChangeArrowheads="1"/>
            </p:cNvSpPr>
            <p:nvPr/>
          </p:nvSpPr>
          <p:spPr bwMode="auto">
            <a:xfrm>
              <a:off x="2058942" y="1370014"/>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algn="ct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8 </a:t>
              </a:r>
              <a:r>
                <a:rPr kumimoji="1" lang="zh-CN" altLang="en-US" sz="1050" b="1" dirty="0">
                  <a:solidFill>
                    <a:srgbClr val="C00000"/>
                  </a:solidFill>
                  <a:latin typeface="微软雅黑" pitchFamily="34" charset="-122"/>
                  <a:ea typeface="微软雅黑" pitchFamily="34" charset="-122"/>
                </a:rPr>
                <a:t>位</a:t>
              </a:r>
            </a:p>
          </p:txBody>
        </p:sp>
        <p:sp>
          <p:nvSpPr>
            <p:cNvPr id="84" name="Rectangle 11"/>
            <p:cNvSpPr>
              <a:spLocks noChangeArrowheads="1"/>
            </p:cNvSpPr>
            <p:nvPr/>
          </p:nvSpPr>
          <p:spPr bwMode="auto">
            <a:xfrm>
              <a:off x="1694302" y="933451"/>
              <a:ext cx="7675430" cy="442913"/>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5" name="Rectangle 12"/>
            <p:cNvSpPr>
              <a:spLocks noChangeArrowheads="1"/>
            </p:cNvSpPr>
            <p:nvPr/>
          </p:nvSpPr>
          <p:spPr bwMode="auto">
            <a:xfrm>
              <a:off x="1716659" y="2140794"/>
              <a:ext cx="7659952" cy="446087"/>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6" name="Rectangle 14"/>
            <p:cNvSpPr>
              <a:spLocks noChangeArrowheads="1"/>
            </p:cNvSpPr>
            <p:nvPr/>
          </p:nvSpPr>
          <p:spPr bwMode="auto">
            <a:xfrm>
              <a:off x="1742456" y="3369716"/>
              <a:ext cx="5742384" cy="423862"/>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7" name="Rectangle 15"/>
            <p:cNvSpPr>
              <a:spLocks noChangeArrowheads="1"/>
            </p:cNvSpPr>
            <p:nvPr/>
          </p:nvSpPr>
          <p:spPr bwMode="auto">
            <a:xfrm>
              <a:off x="1740736" y="2151905"/>
              <a:ext cx="3804179" cy="423863"/>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8" name="Rectangle 16"/>
            <p:cNvSpPr>
              <a:spLocks noChangeArrowheads="1"/>
            </p:cNvSpPr>
            <p:nvPr/>
          </p:nvSpPr>
          <p:spPr bwMode="auto">
            <a:xfrm>
              <a:off x="1720099" y="957263"/>
              <a:ext cx="1874573" cy="406400"/>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9" name="Rectangle 17"/>
            <p:cNvSpPr>
              <a:spLocks noChangeArrowheads="1"/>
            </p:cNvSpPr>
            <p:nvPr/>
          </p:nvSpPr>
          <p:spPr bwMode="auto">
            <a:xfrm>
              <a:off x="1635829" y="92710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050" b="1" dirty="0">
                  <a:latin typeface="微软雅黑" pitchFamily="34" charset="-122"/>
                  <a:ea typeface="微软雅黑" pitchFamily="34" charset="-122"/>
                </a:rPr>
                <a:t>0</a:t>
              </a:r>
            </a:p>
          </p:txBody>
        </p:sp>
        <p:sp>
          <p:nvSpPr>
            <p:cNvPr id="90" name="Rectangle 18"/>
            <p:cNvSpPr>
              <a:spLocks noChangeArrowheads="1"/>
            </p:cNvSpPr>
            <p:nvPr/>
          </p:nvSpPr>
          <p:spPr bwMode="auto">
            <a:xfrm>
              <a:off x="366021" y="955675"/>
              <a:ext cx="136576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A </a:t>
              </a:r>
              <a:r>
                <a:rPr kumimoji="1" lang="zh-CN" altLang="en-US" sz="1200" b="1" dirty="0">
                  <a:latin typeface="微软雅黑" pitchFamily="34" charset="-122"/>
                  <a:ea typeface="微软雅黑" pitchFamily="34" charset="-122"/>
                </a:rPr>
                <a:t>类地址</a:t>
              </a:r>
            </a:p>
          </p:txBody>
        </p:sp>
        <p:sp>
          <p:nvSpPr>
            <p:cNvPr id="91" name="Line 19"/>
            <p:cNvSpPr>
              <a:spLocks noChangeShapeType="1"/>
            </p:cNvSpPr>
            <p:nvPr/>
          </p:nvSpPr>
          <p:spPr bwMode="auto">
            <a:xfrm>
              <a:off x="1971188" y="933451"/>
              <a:ext cx="0" cy="450849"/>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92" name="Line 20"/>
            <p:cNvSpPr>
              <a:spLocks noChangeShapeType="1"/>
            </p:cNvSpPr>
            <p:nvPr/>
          </p:nvSpPr>
          <p:spPr bwMode="auto">
            <a:xfrm>
              <a:off x="3601550"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93" name="Line 21"/>
            <p:cNvSpPr>
              <a:spLocks noChangeShapeType="1"/>
            </p:cNvSpPr>
            <p:nvPr/>
          </p:nvSpPr>
          <p:spPr bwMode="auto">
            <a:xfrm>
              <a:off x="1690862"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94" name="Line 22"/>
            <p:cNvSpPr>
              <a:spLocks noChangeShapeType="1"/>
            </p:cNvSpPr>
            <p:nvPr/>
          </p:nvSpPr>
          <p:spPr bwMode="auto">
            <a:xfrm>
              <a:off x="3601550"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5" name="Line 23"/>
            <p:cNvSpPr>
              <a:spLocks noChangeShapeType="1"/>
            </p:cNvSpPr>
            <p:nvPr/>
          </p:nvSpPr>
          <p:spPr bwMode="auto">
            <a:xfrm>
              <a:off x="9354254"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6" name="Line 24"/>
            <p:cNvSpPr>
              <a:spLocks noChangeShapeType="1"/>
            </p:cNvSpPr>
            <p:nvPr/>
          </p:nvSpPr>
          <p:spPr bwMode="auto">
            <a:xfrm>
              <a:off x="5553515" y="2784499"/>
              <a:ext cx="3786979" cy="635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7" name="Rectangle 25"/>
            <p:cNvSpPr>
              <a:spLocks noChangeArrowheads="1"/>
            </p:cNvSpPr>
            <p:nvPr/>
          </p:nvSpPr>
          <p:spPr bwMode="auto">
            <a:xfrm>
              <a:off x="6946995" y="2636149"/>
              <a:ext cx="1167551" cy="668165"/>
            </a:xfrm>
            <a:prstGeom prst="rect">
              <a:avLst/>
            </a:prstGeom>
            <a:solidFill>
              <a:srgbClr val="C3E3F9"/>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a:lnSpc>
                  <a:spcPct val="90000"/>
                </a:lnSpc>
              </a:pPr>
              <a:r>
                <a:rPr kumimoji="1" lang="en-US" altLang="zh-CN" sz="1050" b="1" dirty="0">
                  <a:solidFill>
                    <a:srgbClr val="0000FF"/>
                  </a:solidFill>
                  <a:latin typeface="微软雅黑" pitchFamily="34" charset="-122"/>
                  <a:ea typeface="微软雅黑" pitchFamily="34" charset="-122"/>
                </a:rPr>
                <a:t>16 </a:t>
              </a:r>
              <a:r>
                <a:rPr kumimoji="1" lang="zh-CN" altLang="en-US" sz="1050" b="1" dirty="0">
                  <a:solidFill>
                    <a:srgbClr val="0000FF"/>
                  </a:solidFill>
                  <a:latin typeface="微软雅黑" pitchFamily="34" charset="-122"/>
                  <a:ea typeface="微软雅黑" pitchFamily="34" charset="-122"/>
                </a:rPr>
                <a:t>位</a:t>
              </a:r>
            </a:p>
          </p:txBody>
        </p:sp>
        <p:sp>
          <p:nvSpPr>
            <p:cNvPr id="98" name="Line 26"/>
            <p:cNvSpPr>
              <a:spLocks noChangeShapeType="1"/>
            </p:cNvSpPr>
            <p:nvPr/>
          </p:nvSpPr>
          <p:spPr bwMode="auto">
            <a:xfrm>
              <a:off x="1732137"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99" name="Line 27"/>
            <p:cNvSpPr>
              <a:spLocks noChangeShapeType="1"/>
            </p:cNvSpPr>
            <p:nvPr/>
          </p:nvSpPr>
          <p:spPr bwMode="auto">
            <a:xfrm>
              <a:off x="5553515" y="2626568"/>
              <a:ext cx="0" cy="323851"/>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0" name="Line 28"/>
            <p:cNvSpPr>
              <a:spLocks noChangeShapeType="1"/>
            </p:cNvSpPr>
            <p:nvPr/>
          </p:nvSpPr>
          <p:spPr bwMode="auto">
            <a:xfrm>
              <a:off x="9340495"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1" name="Rectangle 29"/>
            <p:cNvSpPr>
              <a:spLocks noChangeArrowheads="1"/>
            </p:cNvSpPr>
            <p:nvPr/>
          </p:nvSpPr>
          <p:spPr bwMode="auto">
            <a:xfrm>
              <a:off x="382312" y="2151905"/>
              <a:ext cx="134947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B </a:t>
              </a:r>
              <a:r>
                <a:rPr kumimoji="1" lang="zh-CN" altLang="en-US" sz="1200" b="1">
                  <a:latin typeface="微软雅黑" pitchFamily="34" charset="-122"/>
                  <a:ea typeface="微软雅黑" pitchFamily="34" charset="-122"/>
                </a:rPr>
                <a:t>类地址</a:t>
              </a:r>
            </a:p>
          </p:txBody>
        </p:sp>
        <p:sp>
          <p:nvSpPr>
            <p:cNvPr id="102" name="Line 30"/>
            <p:cNvSpPr>
              <a:spLocks noChangeShapeType="1"/>
            </p:cNvSpPr>
            <p:nvPr/>
          </p:nvSpPr>
          <p:spPr bwMode="auto">
            <a:xfrm>
              <a:off x="5553514" y="2150319"/>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3" name="Rectangle 31"/>
            <p:cNvSpPr>
              <a:spLocks noChangeArrowheads="1"/>
            </p:cNvSpPr>
            <p:nvPr/>
          </p:nvSpPr>
          <p:spPr bwMode="auto">
            <a:xfrm>
              <a:off x="385029" y="3364953"/>
              <a:ext cx="1346756"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C </a:t>
              </a:r>
              <a:r>
                <a:rPr kumimoji="1" lang="zh-CN" altLang="en-US" sz="1200" b="1" dirty="0">
                  <a:latin typeface="微软雅黑" pitchFamily="34" charset="-122"/>
                  <a:ea typeface="微软雅黑" pitchFamily="34" charset="-122"/>
                </a:rPr>
                <a:t>类地址</a:t>
              </a:r>
            </a:p>
          </p:txBody>
        </p:sp>
        <p:sp>
          <p:nvSpPr>
            <p:cNvPr id="104" name="Rectangle 33"/>
            <p:cNvSpPr>
              <a:spLocks noChangeArrowheads="1"/>
            </p:cNvSpPr>
            <p:nvPr/>
          </p:nvSpPr>
          <p:spPr bwMode="auto">
            <a:xfrm>
              <a:off x="1666786" y="3361455"/>
              <a:ext cx="962403"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1 1 0</a:t>
              </a:r>
            </a:p>
          </p:txBody>
        </p:sp>
        <p:sp>
          <p:nvSpPr>
            <p:cNvPr id="105" name="Line 35"/>
            <p:cNvSpPr>
              <a:spLocks noChangeShapeType="1"/>
            </p:cNvSpPr>
            <p:nvPr/>
          </p:nvSpPr>
          <p:spPr bwMode="auto">
            <a:xfrm>
              <a:off x="2473367" y="3353842"/>
              <a:ext cx="0" cy="439737"/>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6" name="Line 36"/>
            <p:cNvSpPr>
              <a:spLocks noChangeShapeType="1"/>
            </p:cNvSpPr>
            <p:nvPr/>
          </p:nvSpPr>
          <p:spPr bwMode="auto">
            <a:xfrm>
              <a:off x="7505477" y="3349079"/>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7" name="Line 37"/>
            <p:cNvSpPr>
              <a:spLocks noChangeShapeType="1"/>
            </p:cNvSpPr>
            <p:nvPr/>
          </p:nvSpPr>
          <p:spPr bwMode="auto">
            <a:xfrm>
              <a:off x="7510637" y="4011066"/>
              <a:ext cx="1829857"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grpSp>
          <p:nvGrpSpPr>
            <p:cNvPr id="108" name="Group 38"/>
            <p:cNvGrpSpPr>
              <a:grpSpLocks/>
            </p:cNvGrpSpPr>
            <p:nvPr/>
          </p:nvGrpSpPr>
          <p:grpSpPr bwMode="auto">
            <a:xfrm>
              <a:off x="7928099" y="3820573"/>
              <a:ext cx="1131196" cy="644929"/>
              <a:chOff x="2827" y="3024"/>
              <a:chExt cx="453" cy="382"/>
            </a:xfrm>
          </p:grpSpPr>
          <p:sp>
            <p:nvSpPr>
              <p:cNvPr id="125"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26" name="Rectangle 40"/>
              <p:cNvSpPr>
                <a:spLocks noChangeArrowheads="1"/>
              </p:cNvSpPr>
              <p:nvPr/>
            </p:nvSpPr>
            <p:spPr bwMode="auto">
              <a:xfrm>
                <a:off x="2827" y="3024"/>
                <a:ext cx="453" cy="382"/>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8 </a:t>
                </a:r>
                <a:r>
                  <a:rPr kumimoji="1" lang="zh-CN" altLang="en-US" sz="1050" b="1" dirty="0">
                    <a:solidFill>
                      <a:srgbClr val="0000FF"/>
                    </a:solidFill>
                    <a:latin typeface="微软雅黑" pitchFamily="34" charset="-122"/>
                    <a:ea typeface="微软雅黑" pitchFamily="34" charset="-122"/>
                  </a:rPr>
                  <a:t>位</a:t>
                </a:r>
              </a:p>
            </p:txBody>
          </p:sp>
        </p:grpSp>
        <p:sp>
          <p:nvSpPr>
            <p:cNvPr id="109" name="Line 41"/>
            <p:cNvSpPr>
              <a:spLocks noChangeShapeType="1"/>
            </p:cNvSpPr>
            <p:nvPr/>
          </p:nvSpPr>
          <p:spPr bwMode="auto">
            <a:xfrm>
              <a:off x="1732137" y="385707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110" name="Line 42"/>
            <p:cNvSpPr>
              <a:spLocks noChangeShapeType="1"/>
            </p:cNvSpPr>
            <p:nvPr/>
          </p:nvSpPr>
          <p:spPr bwMode="auto">
            <a:xfrm>
              <a:off x="7510637" y="386025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11" name="Line 43"/>
            <p:cNvSpPr>
              <a:spLocks noChangeShapeType="1"/>
            </p:cNvSpPr>
            <p:nvPr/>
          </p:nvSpPr>
          <p:spPr bwMode="auto">
            <a:xfrm>
              <a:off x="9340495" y="384120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12" name="Rectangle 44"/>
            <p:cNvSpPr>
              <a:spLocks noChangeArrowheads="1"/>
            </p:cNvSpPr>
            <p:nvPr/>
          </p:nvSpPr>
          <p:spPr bwMode="auto">
            <a:xfrm>
              <a:off x="1725258" y="4582716"/>
              <a:ext cx="7656513"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3" name="Rectangle 45"/>
            <p:cNvSpPr>
              <a:spLocks noChangeArrowheads="1"/>
            </p:cNvSpPr>
            <p:nvPr/>
          </p:nvSpPr>
          <p:spPr bwMode="auto">
            <a:xfrm>
              <a:off x="355160" y="4593828"/>
              <a:ext cx="1376625"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D </a:t>
              </a:r>
              <a:r>
                <a:rPr kumimoji="1" lang="zh-CN" altLang="en-US" sz="1200" b="1">
                  <a:latin typeface="微软雅黑" pitchFamily="34" charset="-122"/>
                  <a:ea typeface="微软雅黑" pitchFamily="34" charset="-122"/>
                </a:rPr>
                <a:t>类地址</a:t>
              </a:r>
            </a:p>
          </p:txBody>
        </p:sp>
        <p:sp>
          <p:nvSpPr>
            <p:cNvPr id="114" name="Line 46"/>
            <p:cNvSpPr>
              <a:spLocks noChangeShapeType="1"/>
            </p:cNvSpPr>
            <p:nvPr/>
          </p:nvSpPr>
          <p:spPr bwMode="auto">
            <a:xfrm>
              <a:off x="2629189" y="459065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5" name="Rectangle 47"/>
            <p:cNvSpPr>
              <a:spLocks noChangeArrowheads="1"/>
            </p:cNvSpPr>
            <p:nvPr/>
          </p:nvSpPr>
          <p:spPr bwMode="auto">
            <a:xfrm>
              <a:off x="1610464" y="4581129"/>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1 1 1 0</a:t>
              </a:r>
            </a:p>
          </p:txBody>
        </p:sp>
        <p:sp>
          <p:nvSpPr>
            <p:cNvPr id="116" name="Rectangle 48"/>
            <p:cNvSpPr>
              <a:spLocks noChangeArrowheads="1"/>
            </p:cNvSpPr>
            <p:nvPr/>
          </p:nvSpPr>
          <p:spPr bwMode="auto">
            <a:xfrm>
              <a:off x="5031263" y="4581509"/>
              <a:ext cx="158841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多 播 地 址</a:t>
              </a:r>
            </a:p>
          </p:txBody>
        </p:sp>
        <p:sp>
          <p:nvSpPr>
            <p:cNvPr id="117" name="Rectangle 49"/>
            <p:cNvSpPr>
              <a:spLocks noChangeArrowheads="1"/>
            </p:cNvSpPr>
            <p:nvPr/>
          </p:nvSpPr>
          <p:spPr bwMode="auto">
            <a:xfrm>
              <a:off x="1733857" y="5549503"/>
              <a:ext cx="7641035"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8" name="Rectangle 50"/>
            <p:cNvSpPr>
              <a:spLocks noChangeArrowheads="1"/>
            </p:cNvSpPr>
            <p:nvPr/>
          </p:nvSpPr>
          <p:spPr bwMode="auto">
            <a:xfrm>
              <a:off x="412181" y="5559030"/>
              <a:ext cx="131960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E </a:t>
              </a:r>
              <a:r>
                <a:rPr kumimoji="1" lang="zh-CN" altLang="en-US" sz="1200" b="1">
                  <a:latin typeface="微软雅黑" pitchFamily="34" charset="-122"/>
                  <a:ea typeface="微软雅黑" pitchFamily="34" charset="-122"/>
                </a:rPr>
                <a:t>类地址</a:t>
              </a:r>
            </a:p>
          </p:txBody>
        </p:sp>
        <p:sp>
          <p:nvSpPr>
            <p:cNvPr id="119" name="Rectangle 51"/>
            <p:cNvSpPr>
              <a:spLocks noChangeArrowheads="1"/>
            </p:cNvSpPr>
            <p:nvPr/>
          </p:nvSpPr>
          <p:spPr bwMode="auto">
            <a:xfrm>
              <a:off x="4518046" y="5540357"/>
              <a:ext cx="260662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保 留 为 今 后 使 用</a:t>
              </a:r>
            </a:p>
          </p:txBody>
        </p:sp>
        <p:sp>
          <p:nvSpPr>
            <p:cNvPr id="120" name="Line 52"/>
            <p:cNvSpPr>
              <a:spLocks noChangeShapeType="1"/>
            </p:cNvSpPr>
            <p:nvPr/>
          </p:nvSpPr>
          <p:spPr bwMode="auto">
            <a:xfrm>
              <a:off x="2641708" y="557490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21" name="Rectangle 53"/>
            <p:cNvSpPr>
              <a:spLocks noChangeArrowheads="1"/>
            </p:cNvSpPr>
            <p:nvPr/>
          </p:nvSpPr>
          <p:spPr bwMode="auto">
            <a:xfrm>
              <a:off x="1610464" y="5555854"/>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1 1 1 1</a:t>
              </a:r>
            </a:p>
          </p:txBody>
        </p:sp>
        <p:sp>
          <p:nvSpPr>
            <p:cNvPr id="122" name="Rectangle 54"/>
            <p:cNvSpPr>
              <a:spLocks noChangeArrowheads="1"/>
            </p:cNvSpPr>
            <p:nvPr/>
          </p:nvSpPr>
          <p:spPr bwMode="auto">
            <a:xfrm>
              <a:off x="1861122" y="213603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latin typeface="微软雅黑" pitchFamily="34" charset="-122"/>
                  <a:ea typeface="微软雅黑" pitchFamily="34" charset="-122"/>
                </a:rPr>
                <a:t>0</a:t>
              </a:r>
            </a:p>
          </p:txBody>
        </p:sp>
        <p:sp>
          <p:nvSpPr>
            <p:cNvPr id="123" name="Rectangle 55"/>
            <p:cNvSpPr>
              <a:spLocks noChangeArrowheads="1"/>
            </p:cNvSpPr>
            <p:nvPr/>
          </p:nvSpPr>
          <p:spPr bwMode="auto">
            <a:xfrm>
              <a:off x="1653026" y="2136030"/>
              <a:ext cx="524537"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a:t>
              </a:r>
            </a:p>
          </p:txBody>
        </p:sp>
        <p:sp>
          <p:nvSpPr>
            <p:cNvPr id="124" name="Line 56"/>
            <p:cNvSpPr>
              <a:spLocks noChangeShapeType="1"/>
            </p:cNvSpPr>
            <p:nvPr/>
          </p:nvSpPr>
          <p:spPr bwMode="auto">
            <a:xfrm>
              <a:off x="2249794" y="2132856"/>
              <a:ext cx="0" cy="441325"/>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grpSp>
      <p:sp>
        <p:nvSpPr>
          <p:cNvPr id="70" name="AutoShape 61"/>
          <p:cNvSpPr>
            <a:spLocks noChangeArrowheads="1"/>
          </p:cNvSpPr>
          <p:nvPr/>
        </p:nvSpPr>
        <p:spPr bwMode="auto">
          <a:xfrm>
            <a:off x="3786953" y="2239967"/>
            <a:ext cx="2668417" cy="314674"/>
          </a:xfrm>
          <a:prstGeom prst="wedgeRoundRectCallout">
            <a:avLst>
              <a:gd name="adj1" fmla="val 32640"/>
              <a:gd name="adj2" fmla="val 531948"/>
              <a:gd name="adj3" fmla="val 16667"/>
            </a:avLst>
          </a:prstGeom>
          <a:solidFill>
            <a:srgbClr val="00FFFF"/>
          </a:solidFill>
          <a:ln w="9525">
            <a:solidFill>
              <a:schemeClr val="tx1"/>
            </a:solidFill>
            <a:miter lim="800000"/>
            <a:headEnd/>
            <a:tailEnd/>
          </a:ln>
          <a:effectLst/>
        </p:spPr>
        <p:txBody>
          <a:bodyPr anchor="ctr"/>
          <a:lstStyle/>
          <a:p>
            <a:pPr algn="ctr"/>
            <a:r>
              <a:rPr lang="en-US" altLang="zh-CN" sz="1600" b="1" dirty="0">
                <a:solidFill>
                  <a:srgbClr val="000066"/>
                </a:solidFill>
                <a:latin typeface="微软雅黑" pitchFamily="34" charset="-122"/>
                <a:ea typeface="微软雅黑" pitchFamily="34" charset="-122"/>
              </a:rPr>
              <a:t>E </a:t>
            </a:r>
            <a:r>
              <a:rPr lang="zh-CN" altLang="en-US" sz="1600" b="1" dirty="0">
                <a:solidFill>
                  <a:srgbClr val="000066"/>
                </a:solidFill>
                <a:latin typeface="微软雅黑" pitchFamily="34" charset="-122"/>
                <a:ea typeface="微软雅黑" pitchFamily="34" charset="-122"/>
              </a:rPr>
              <a:t>类地址保留为今后使用</a:t>
            </a:r>
          </a:p>
        </p:txBody>
      </p:sp>
    </p:spTree>
    <p:extLst>
      <p:ext uri="{BB962C8B-B14F-4D97-AF65-F5344CB8AC3E}">
        <p14:creationId xmlns:p14="http://schemas.microsoft.com/office/powerpoint/2010/main" val="317178799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11" name="表格 10"/>
          <p:cNvGraphicFramePr>
            <a:graphicFrameLocks noGrp="1"/>
          </p:cNvGraphicFramePr>
          <p:nvPr>
            <p:extLst>
              <p:ext uri="{D42A27DB-BD31-4B8C-83A1-F6EECF244321}">
                <p14:modId xmlns:p14="http://schemas.microsoft.com/office/powerpoint/2010/main" val="4182233621"/>
              </p:ext>
            </p:extLst>
          </p:nvPr>
        </p:nvGraphicFramePr>
        <p:xfrm>
          <a:off x="556963" y="1024784"/>
          <a:ext cx="8048776" cy="1612909"/>
        </p:xfrm>
        <a:graphic>
          <a:graphicData uri="http://schemas.openxmlformats.org/drawingml/2006/table">
            <a:tbl>
              <a:tblPr>
                <a:tableStyleId>{5C22544A-7EE6-4342-B048-85BDC9FD1C3A}</a:tableStyleId>
              </a:tblPr>
              <a:tblGrid>
                <a:gridCol w="688696">
                  <a:extLst>
                    <a:ext uri="{9D8B030D-6E8A-4147-A177-3AD203B41FA5}">
                      <a16:colId xmlns:a16="http://schemas.microsoft.com/office/drawing/2014/main" val="20000"/>
                    </a:ext>
                  </a:extLst>
                </a:gridCol>
                <a:gridCol w="2093534">
                  <a:extLst>
                    <a:ext uri="{9D8B030D-6E8A-4147-A177-3AD203B41FA5}">
                      <a16:colId xmlns:a16="http://schemas.microsoft.com/office/drawing/2014/main" val="20001"/>
                    </a:ext>
                  </a:extLst>
                </a:gridCol>
                <a:gridCol w="1477736">
                  <a:extLst>
                    <a:ext uri="{9D8B030D-6E8A-4147-A177-3AD203B41FA5}">
                      <a16:colId xmlns:a16="http://schemas.microsoft.com/office/drawing/2014/main" val="20002"/>
                    </a:ext>
                  </a:extLst>
                </a:gridCol>
                <a:gridCol w="1698171">
                  <a:extLst>
                    <a:ext uri="{9D8B030D-6E8A-4147-A177-3AD203B41FA5}">
                      <a16:colId xmlns:a16="http://schemas.microsoft.com/office/drawing/2014/main" val="20003"/>
                    </a:ext>
                  </a:extLst>
                </a:gridCol>
                <a:gridCol w="2090639">
                  <a:extLst>
                    <a:ext uri="{9D8B030D-6E8A-4147-A177-3AD203B41FA5}">
                      <a16:colId xmlns:a16="http://schemas.microsoft.com/office/drawing/2014/main" val="20004"/>
                    </a:ext>
                  </a:extLst>
                </a:gridCol>
              </a:tblGrid>
              <a:tr h="556681">
                <a:tc>
                  <a:txBody>
                    <a:bodyPr/>
                    <a:lstStyle/>
                    <a:p>
                      <a:pPr algn="ctr">
                        <a:lnSpc>
                          <a:spcPct val="100000"/>
                        </a:lnSpc>
                        <a:spcAft>
                          <a:spcPts val="0"/>
                        </a:spcAft>
                      </a:pPr>
                      <a:r>
                        <a:rPr lang="zh-CN" sz="1600" b="1" dirty="0">
                          <a:solidFill>
                            <a:schemeClr val="bg1"/>
                          </a:solidFill>
                          <a:effectLst/>
                          <a:latin typeface="微软雅黑" pitchFamily="34" charset="-122"/>
                          <a:ea typeface="微软雅黑" pitchFamily="34" charset="-122"/>
                        </a:rPr>
                        <a:t>网络</a:t>
                      </a:r>
                    </a:p>
                    <a:p>
                      <a:pPr algn="ctr">
                        <a:lnSpc>
                          <a:spcPct val="100000"/>
                        </a:lnSpc>
                        <a:spcAft>
                          <a:spcPts val="0"/>
                        </a:spcAft>
                      </a:pPr>
                      <a:r>
                        <a:rPr lang="zh-CN" sz="1600" b="1" dirty="0">
                          <a:solidFill>
                            <a:schemeClr val="bg1"/>
                          </a:solidFill>
                          <a:effectLst/>
                          <a:latin typeface="微软雅黑" pitchFamily="34" charset="-122"/>
                          <a:ea typeface="微软雅黑" pitchFamily="34" charset="-122"/>
                        </a:rPr>
                        <a:t>类别</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600" b="1" dirty="0">
                          <a:solidFill>
                            <a:schemeClr val="bg1"/>
                          </a:solidFill>
                          <a:effectLst/>
                          <a:latin typeface="微软雅黑" pitchFamily="34" charset="-122"/>
                          <a:ea typeface="微软雅黑" pitchFamily="34" charset="-122"/>
                        </a:rPr>
                        <a:t>最大可指派</a:t>
                      </a:r>
                      <a:endParaRPr lang="en-US" altLang="zh-CN" sz="1600" b="1" dirty="0">
                        <a:solidFill>
                          <a:schemeClr val="bg1"/>
                        </a:solidFill>
                        <a:effectLst/>
                        <a:latin typeface="微软雅黑" pitchFamily="34" charset="-122"/>
                        <a:ea typeface="微软雅黑" pitchFamily="34" charset="-122"/>
                      </a:endParaRPr>
                    </a:p>
                    <a:p>
                      <a:pPr algn="ctr">
                        <a:lnSpc>
                          <a:spcPct val="100000"/>
                        </a:lnSpc>
                        <a:spcAft>
                          <a:spcPts val="0"/>
                        </a:spcAft>
                      </a:pPr>
                      <a:r>
                        <a:rPr lang="zh-CN" sz="1600" b="1" dirty="0">
                          <a:solidFill>
                            <a:schemeClr val="bg1"/>
                          </a:solidFill>
                          <a:effectLst/>
                          <a:latin typeface="微软雅黑" pitchFamily="34" charset="-122"/>
                          <a:ea typeface="微软雅黑" pitchFamily="34" charset="-122"/>
                        </a:rPr>
                        <a:t>的网络数</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600" b="1" dirty="0">
                          <a:solidFill>
                            <a:schemeClr val="bg1"/>
                          </a:solidFill>
                          <a:effectLst/>
                          <a:latin typeface="微软雅黑" pitchFamily="34" charset="-122"/>
                          <a:ea typeface="微软雅黑" pitchFamily="34" charset="-122"/>
                        </a:rPr>
                        <a:t>第一个可指派的网络号</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600" b="1" dirty="0">
                          <a:solidFill>
                            <a:schemeClr val="bg1"/>
                          </a:solidFill>
                          <a:effectLst/>
                          <a:latin typeface="微软雅黑" pitchFamily="34" charset="-122"/>
                          <a:ea typeface="微软雅黑" pitchFamily="34" charset="-122"/>
                        </a:rPr>
                        <a:t>最后一个可指派的网络号</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600" b="1" dirty="0">
                          <a:solidFill>
                            <a:schemeClr val="bg1"/>
                          </a:solidFill>
                          <a:effectLst/>
                          <a:latin typeface="微软雅黑" pitchFamily="34" charset="-122"/>
                          <a:ea typeface="微软雅黑" pitchFamily="34" charset="-122"/>
                        </a:rPr>
                        <a:t>每个网络中</a:t>
                      </a:r>
                      <a:endParaRPr lang="en-US" altLang="zh-CN" sz="1600" b="1" dirty="0">
                        <a:solidFill>
                          <a:schemeClr val="bg1"/>
                        </a:solidFill>
                        <a:effectLst/>
                        <a:latin typeface="微软雅黑" pitchFamily="34" charset="-122"/>
                        <a:ea typeface="微软雅黑" pitchFamily="34" charset="-122"/>
                      </a:endParaRPr>
                    </a:p>
                    <a:p>
                      <a:pPr algn="ctr">
                        <a:lnSpc>
                          <a:spcPct val="100000"/>
                        </a:lnSpc>
                        <a:spcAft>
                          <a:spcPts val="0"/>
                        </a:spcAft>
                      </a:pPr>
                      <a:r>
                        <a:rPr lang="zh-CN" sz="1600" b="1" dirty="0">
                          <a:solidFill>
                            <a:schemeClr val="bg1"/>
                          </a:solidFill>
                          <a:effectLst/>
                          <a:latin typeface="微软雅黑" pitchFamily="34" charset="-122"/>
                          <a:ea typeface="微软雅黑" pitchFamily="34" charset="-122"/>
                        </a:rPr>
                        <a:t>最大主机数</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extLst>
                  <a:ext uri="{0D108BD9-81ED-4DB2-BD59-A6C34878D82A}">
                    <a16:rowId xmlns:a16="http://schemas.microsoft.com/office/drawing/2014/main" val="10000"/>
                  </a:ext>
                </a:extLst>
              </a:tr>
              <a:tr h="352076">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A</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126 (2</a:t>
                      </a:r>
                      <a:r>
                        <a:rPr lang="en-US" sz="1600" b="1" baseline="30000" dirty="0">
                          <a:solidFill>
                            <a:schemeClr val="tx1"/>
                          </a:solidFill>
                          <a:effectLst/>
                          <a:latin typeface="微软雅黑" pitchFamily="34" charset="-122"/>
                          <a:ea typeface="微软雅黑" pitchFamily="34" charset="-122"/>
                        </a:rPr>
                        <a:t>7</a:t>
                      </a:r>
                      <a:r>
                        <a:rPr lang="en-US" sz="1600" b="1" dirty="0">
                          <a:solidFill>
                            <a:schemeClr val="tx1"/>
                          </a:solidFill>
                          <a:effectLst/>
                          <a:latin typeface="微软雅黑" pitchFamily="34" charset="-122"/>
                          <a:ea typeface="微软雅黑" pitchFamily="34" charset="-122"/>
                        </a:rPr>
                        <a:t> – 2)</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1</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126</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16777214</a:t>
                      </a:r>
                      <a:r>
                        <a:rPr lang="zh-CN" altLang="en-US" sz="1600" b="1" dirty="0">
                          <a:solidFill>
                            <a:schemeClr val="tx1"/>
                          </a:solidFill>
                          <a:effectLst/>
                          <a:latin typeface="微软雅黑" pitchFamily="34" charset="-122"/>
                          <a:ea typeface="微软雅黑" pitchFamily="34" charset="-122"/>
                        </a:rPr>
                        <a:t>（</a:t>
                      </a:r>
                      <a:r>
                        <a:rPr lang="en-US" altLang="zh-CN" sz="1600" b="1" dirty="0">
                          <a:solidFill>
                            <a:schemeClr val="tx1"/>
                          </a:solidFill>
                          <a:effectLst/>
                          <a:latin typeface="微软雅黑" pitchFamily="34" charset="-122"/>
                          <a:ea typeface="微软雅黑" pitchFamily="34" charset="-122"/>
                        </a:rPr>
                        <a:t>2</a:t>
                      </a:r>
                      <a:r>
                        <a:rPr lang="en-US" altLang="zh-CN" sz="1600" b="1" baseline="30000" dirty="0">
                          <a:solidFill>
                            <a:schemeClr val="tx1"/>
                          </a:solidFill>
                          <a:effectLst/>
                          <a:latin typeface="微软雅黑" pitchFamily="34" charset="-122"/>
                          <a:ea typeface="微软雅黑" pitchFamily="34" charset="-122"/>
                        </a:rPr>
                        <a:t>24</a:t>
                      </a:r>
                      <a:r>
                        <a:rPr lang="en-US" altLang="zh-CN" sz="1600" b="1" dirty="0">
                          <a:solidFill>
                            <a:schemeClr val="tx1"/>
                          </a:solidFill>
                          <a:effectLst/>
                          <a:latin typeface="微软雅黑" pitchFamily="34" charset="-122"/>
                          <a:ea typeface="微软雅黑" pitchFamily="34" charset="-122"/>
                        </a:rPr>
                        <a:t> - 2</a:t>
                      </a:r>
                      <a:r>
                        <a:rPr lang="zh-CN" altLang="en-US" sz="1600" b="1" dirty="0">
                          <a:solidFill>
                            <a:schemeClr val="tx1"/>
                          </a:solidFill>
                          <a:effectLst/>
                          <a:latin typeface="微软雅黑" pitchFamily="34" charset="-122"/>
                          <a:ea typeface="微软雅黑" pitchFamily="34" charset="-122"/>
                        </a:rPr>
                        <a:t>）</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352076">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B</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16383 (2</a:t>
                      </a:r>
                      <a:r>
                        <a:rPr lang="en-US" sz="1600" b="1" baseline="30000" dirty="0">
                          <a:solidFill>
                            <a:schemeClr val="tx1"/>
                          </a:solidFill>
                          <a:effectLst/>
                          <a:latin typeface="微软雅黑" pitchFamily="34" charset="-122"/>
                          <a:ea typeface="微软雅黑" pitchFamily="34" charset="-122"/>
                        </a:rPr>
                        <a:t>14</a:t>
                      </a:r>
                      <a:r>
                        <a:rPr lang="en-US" sz="1600" b="1" dirty="0">
                          <a:solidFill>
                            <a:schemeClr val="tx1"/>
                          </a:solidFill>
                          <a:effectLst/>
                          <a:latin typeface="微软雅黑" pitchFamily="34" charset="-122"/>
                          <a:ea typeface="微软雅黑" pitchFamily="34" charset="-122"/>
                        </a:rPr>
                        <a:t> – 1)</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128.1</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191.255</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65534</a:t>
                      </a:r>
                      <a:r>
                        <a:rPr lang="zh-CN" altLang="en-US" sz="1600" b="1" dirty="0">
                          <a:solidFill>
                            <a:schemeClr val="tx1"/>
                          </a:solidFill>
                          <a:effectLst/>
                          <a:latin typeface="微软雅黑" pitchFamily="34" charset="-122"/>
                          <a:ea typeface="微软雅黑" pitchFamily="34" charset="-122"/>
                        </a:rPr>
                        <a:t>（</a:t>
                      </a:r>
                      <a:r>
                        <a:rPr lang="en-US" altLang="zh-CN" sz="1600" b="1" dirty="0">
                          <a:solidFill>
                            <a:schemeClr val="tx1"/>
                          </a:solidFill>
                          <a:effectLst/>
                          <a:latin typeface="微软雅黑" pitchFamily="34" charset="-122"/>
                          <a:ea typeface="微软雅黑" pitchFamily="34" charset="-122"/>
                        </a:rPr>
                        <a:t>2</a:t>
                      </a:r>
                      <a:r>
                        <a:rPr lang="en-US" altLang="zh-CN" sz="1600" b="1" baseline="30000" dirty="0">
                          <a:solidFill>
                            <a:schemeClr val="tx1"/>
                          </a:solidFill>
                          <a:effectLst/>
                          <a:latin typeface="微软雅黑" pitchFamily="34" charset="-122"/>
                          <a:ea typeface="微软雅黑" pitchFamily="34" charset="-122"/>
                        </a:rPr>
                        <a:t>16</a:t>
                      </a:r>
                      <a:r>
                        <a:rPr lang="en-US" altLang="zh-CN" sz="1600" b="1" dirty="0">
                          <a:solidFill>
                            <a:schemeClr val="tx1"/>
                          </a:solidFill>
                          <a:effectLst/>
                          <a:latin typeface="微软雅黑" pitchFamily="34" charset="-122"/>
                          <a:ea typeface="微软雅黑" pitchFamily="34" charset="-122"/>
                        </a:rPr>
                        <a:t> - 2</a:t>
                      </a:r>
                      <a:r>
                        <a:rPr lang="zh-CN" altLang="en-US" sz="1600" b="1" dirty="0">
                          <a:solidFill>
                            <a:schemeClr val="tx1"/>
                          </a:solidFill>
                          <a:effectLst/>
                          <a:latin typeface="微软雅黑" pitchFamily="34" charset="-122"/>
                          <a:ea typeface="微软雅黑" pitchFamily="34" charset="-122"/>
                        </a:rPr>
                        <a:t>）</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2"/>
                  </a:ext>
                </a:extLst>
              </a:tr>
              <a:tr h="352076">
                <a:tc>
                  <a:txBody>
                    <a:bodyPr/>
                    <a:lstStyle/>
                    <a:p>
                      <a:pPr algn="ctr">
                        <a:lnSpc>
                          <a:spcPct val="100000"/>
                        </a:lnSpc>
                        <a:spcAft>
                          <a:spcPts val="0"/>
                        </a:spcAft>
                      </a:pPr>
                      <a:r>
                        <a:rPr lang="en-US" sz="1600" b="1" dirty="0">
                          <a:solidFill>
                            <a:schemeClr val="tx1"/>
                          </a:solidFill>
                          <a:effectLst/>
                          <a:highlight>
                            <a:srgbClr val="FFFF00"/>
                          </a:highlight>
                          <a:latin typeface="微软雅黑" pitchFamily="34" charset="-122"/>
                          <a:ea typeface="微软雅黑" pitchFamily="34" charset="-122"/>
                        </a:rPr>
                        <a:t>C</a:t>
                      </a:r>
                      <a:endParaRPr lang="zh-CN" sz="1600" b="1" dirty="0">
                        <a:solidFill>
                          <a:schemeClr val="tx1"/>
                        </a:solidFill>
                        <a:effectLst/>
                        <a:highlight>
                          <a:srgbClr val="FFFF00"/>
                        </a:highligh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600" b="1" dirty="0">
                          <a:solidFill>
                            <a:schemeClr val="tx1"/>
                          </a:solidFill>
                          <a:effectLst/>
                          <a:highlight>
                            <a:srgbClr val="FFFF00"/>
                          </a:highlight>
                          <a:latin typeface="微软雅黑" pitchFamily="34" charset="-122"/>
                          <a:ea typeface="微软雅黑" pitchFamily="34" charset="-122"/>
                        </a:rPr>
                        <a:t>2097151 (2</a:t>
                      </a:r>
                      <a:r>
                        <a:rPr lang="en-US" sz="1600" b="1" baseline="30000" dirty="0">
                          <a:solidFill>
                            <a:schemeClr val="tx1"/>
                          </a:solidFill>
                          <a:effectLst/>
                          <a:highlight>
                            <a:srgbClr val="FFFF00"/>
                          </a:highlight>
                          <a:latin typeface="微软雅黑" pitchFamily="34" charset="-122"/>
                          <a:ea typeface="微软雅黑" pitchFamily="34" charset="-122"/>
                        </a:rPr>
                        <a:t>21</a:t>
                      </a:r>
                      <a:r>
                        <a:rPr lang="en-US" sz="1600" b="1" dirty="0">
                          <a:solidFill>
                            <a:schemeClr val="tx1"/>
                          </a:solidFill>
                          <a:effectLst/>
                          <a:highlight>
                            <a:srgbClr val="FFFF00"/>
                          </a:highlight>
                          <a:latin typeface="微软雅黑" pitchFamily="34" charset="-122"/>
                          <a:ea typeface="微软雅黑" pitchFamily="34" charset="-122"/>
                        </a:rPr>
                        <a:t> – 1)</a:t>
                      </a:r>
                      <a:endParaRPr lang="zh-CN" sz="1600" b="1" dirty="0">
                        <a:solidFill>
                          <a:schemeClr val="tx1"/>
                        </a:solidFill>
                        <a:effectLst/>
                        <a:highlight>
                          <a:srgbClr val="FFFF00"/>
                        </a:highligh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600" b="1" dirty="0">
                          <a:solidFill>
                            <a:schemeClr val="tx1"/>
                          </a:solidFill>
                          <a:effectLst/>
                          <a:highlight>
                            <a:srgbClr val="FFFF00"/>
                          </a:highlight>
                          <a:latin typeface="微软雅黑" pitchFamily="34" charset="-122"/>
                          <a:ea typeface="微软雅黑" pitchFamily="34" charset="-122"/>
                        </a:rPr>
                        <a:t>192.0.1</a:t>
                      </a:r>
                      <a:endParaRPr lang="zh-CN" sz="1600" b="1" dirty="0">
                        <a:solidFill>
                          <a:schemeClr val="tx1"/>
                        </a:solidFill>
                        <a:effectLst/>
                        <a:highlight>
                          <a:srgbClr val="FFFF00"/>
                        </a:highligh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600" b="1" dirty="0">
                          <a:solidFill>
                            <a:schemeClr val="tx1"/>
                          </a:solidFill>
                          <a:effectLst/>
                          <a:highlight>
                            <a:srgbClr val="FFFF00"/>
                          </a:highlight>
                          <a:latin typeface="微软雅黑" pitchFamily="34" charset="-122"/>
                          <a:ea typeface="微软雅黑" pitchFamily="34" charset="-122"/>
                        </a:rPr>
                        <a:t>223.255.255</a:t>
                      </a:r>
                      <a:endParaRPr lang="zh-CN" sz="1600" b="1" dirty="0">
                        <a:solidFill>
                          <a:schemeClr val="tx1"/>
                        </a:solidFill>
                        <a:effectLst/>
                        <a:highlight>
                          <a:srgbClr val="FFFF00"/>
                        </a:highligh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600" b="1" dirty="0">
                          <a:solidFill>
                            <a:schemeClr val="tx1"/>
                          </a:solidFill>
                          <a:effectLst/>
                          <a:highlight>
                            <a:srgbClr val="FFFF00"/>
                          </a:highlight>
                          <a:latin typeface="微软雅黑" pitchFamily="34" charset="-122"/>
                          <a:ea typeface="微软雅黑" pitchFamily="34" charset="-122"/>
                        </a:rPr>
                        <a:t>254</a:t>
                      </a:r>
                      <a:r>
                        <a:rPr lang="zh-CN" altLang="en-US" sz="1600" b="1" dirty="0">
                          <a:solidFill>
                            <a:schemeClr val="tx1"/>
                          </a:solidFill>
                          <a:effectLst/>
                          <a:highlight>
                            <a:srgbClr val="FFFF00"/>
                          </a:highlight>
                          <a:latin typeface="微软雅黑" pitchFamily="34" charset="-122"/>
                          <a:ea typeface="微软雅黑" pitchFamily="34" charset="-122"/>
                        </a:rPr>
                        <a:t>（</a:t>
                      </a:r>
                      <a:r>
                        <a:rPr lang="en-US" altLang="zh-CN" sz="1600" b="1" dirty="0">
                          <a:solidFill>
                            <a:schemeClr val="tx1"/>
                          </a:solidFill>
                          <a:effectLst/>
                          <a:highlight>
                            <a:srgbClr val="FFFF00"/>
                          </a:highlight>
                          <a:latin typeface="微软雅黑" pitchFamily="34" charset="-122"/>
                          <a:ea typeface="微软雅黑" pitchFamily="34" charset="-122"/>
                        </a:rPr>
                        <a:t>2</a:t>
                      </a:r>
                      <a:r>
                        <a:rPr lang="en-US" altLang="zh-CN" sz="1600" b="1" baseline="30000" dirty="0">
                          <a:solidFill>
                            <a:schemeClr val="tx1"/>
                          </a:solidFill>
                          <a:effectLst/>
                          <a:highlight>
                            <a:srgbClr val="FFFF00"/>
                          </a:highlight>
                          <a:latin typeface="微软雅黑" pitchFamily="34" charset="-122"/>
                          <a:ea typeface="微软雅黑" pitchFamily="34" charset="-122"/>
                        </a:rPr>
                        <a:t>8</a:t>
                      </a:r>
                      <a:r>
                        <a:rPr lang="en-US" altLang="zh-CN" sz="1600" b="1" dirty="0">
                          <a:solidFill>
                            <a:schemeClr val="tx1"/>
                          </a:solidFill>
                          <a:effectLst/>
                          <a:highlight>
                            <a:srgbClr val="FFFF00"/>
                          </a:highlight>
                          <a:latin typeface="微软雅黑" pitchFamily="34" charset="-122"/>
                          <a:ea typeface="微软雅黑" pitchFamily="34" charset="-122"/>
                        </a:rPr>
                        <a:t> - 2</a:t>
                      </a:r>
                      <a:r>
                        <a:rPr lang="zh-CN" altLang="en-US" sz="1600" b="1" dirty="0">
                          <a:solidFill>
                            <a:schemeClr val="tx1"/>
                          </a:solidFill>
                          <a:effectLst/>
                          <a:highlight>
                            <a:srgbClr val="FFFF00"/>
                          </a:highlight>
                          <a:latin typeface="微软雅黑" pitchFamily="34" charset="-122"/>
                          <a:ea typeface="微软雅黑" pitchFamily="34" charset="-122"/>
                        </a:rPr>
                        <a:t>）</a:t>
                      </a:r>
                      <a:endParaRPr lang="zh-CN" sz="1600" b="1" dirty="0">
                        <a:solidFill>
                          <a:schemeClr val="tx1"/>
                        </a:solidFill>
                        <a:effectLst/>
                        <a:highlight>
                          <a:srgbClr val="FFFF00"/>
                        </a:highligh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bl>
          </a:graphicData>
        </a:graphic>
      </p:graphicFrame>
      <p:sp>
        <p:nvSpPr>
          <p:cNvPr id="7"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7"/>
          <p:cNvSpPr/>
          <p:nvPr/>
        </p:nvSpPr>
        <p:spPr>
          <a:xfrm>
            <a:off x="616085" y="565906"/>
            <a:ext cx="2901756" cy="400110"/>
          </a:xfrm>
          <a:prstGeom prst="rect">
            <a:avLst/>
          </a:prstGeom>
        </p:spPr>
        <p:txBody>
          <a:bodyPr wrap="none">
            <a:spAutoFit/>
          </a:bodyPr>
          <a:lstStyle/>
          <a:p>
            <a:r>
              <a:rPr lang="zh-CN" altLang="en-US" sz="2000" b="1" dirty="0">
                <a:latin typeface="微软雅黑" pitchFamily="34" charset="-122"/>
                <a:ea typeface="微软雅黑" pitchFamily="34" charset="-122"/>
              </a:rPr>
              <a:t>各类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地址的指派范围</a:t>
            </a:r>
          </a:p>
        </p:txBody>
      </p:sp>
      <p:sp>
        <p:nvSpPr>
          <p:cNvPr id="2" name="矩形 1"/>
          <p:cNvSpPr/>
          <p:nvPr/>
        </p:nvSpPr>
        <p:spPr>
          <a:xfrm>
            <a:off x="267008" y="2705418"/>
            <a:ext cx="8609983" cy="1631216"/>
          </a:xfrm>
          <a:prstGeom prst="rect">
            <a:avLst/>
          </a:prstGeom>
        </p:spPr>
        <p:style>
          <a:lnRef idx="1">
            <a:schemeClr val="accent1"/>
          </a:lnRef>
          <a:fillRef idx="2">
            <a:schemeClr val="accent1"/>
          </a:fillRef>
          <a:effectRef idx="1">
            <a:schemeClr val="accent1"/>
          </a:effectRef>
          <a:fontRef idx="minor">
            <a:schemeClr val="dk1"/>
          </a:fontRef>
        </p:style>
        <p:txBody>
          <a:bodyPr wrap="square">
            <a:spAutoFit/>
          </a:bodyPr>
          <a:lstStyle/>
          <a:p>
            <a:pPr>
              <a:lnSpc>
                <a:spcPts val="2000"/>
              </a:lnSpc>
            </a:pPr>
            <a:r>
              <a:rPr lang="zh-CN" altLang="en-US" sz="1400" b="1" dirty="0">
                <a:latin typeface="微软雅黑" panose="020B0503020204020204" pitchFamily="34" charset="-122"/>
                <a:ea typeface="微软雅黑" panose="020B0503020204020204" pitchFamily="34" charset="-122"/>
              </a:rPr>
              <a:t>注意：</a:t>
            </a:r>
            <a:endParaRPr lang="en-US" altLang="zh-CN" sz="1400" b="1" dirty="0">
              <a:latin typeface="微软雅黑" panose="020B0503020204020204" pitchFamily="34" charset="-122"/>
              <a:ea typeface="微软雅黑" panose="020B0503020204020204" pitchFamily="34" charset="-122"/>
            </a:endParaRPr>
          </a:p>
          <a:p>
            <a:pPr marL="285750" indent="-285750">
              <a:lnSpc>
                <a:spcPts val="2000"/>
              </a:lnSpc>
              <a:buFont typeface="Wingdings" panose="05000000000000000000" pitchFamily="2" charset="2"/>
              <a:buChar char="l"/>
            </a:pPr>
            <a:r>
              <a:rPr lang="en-US" altLang="zh-CN" sz="1400" b="1" dirty="0">
                <a:latin typeface="微软雅黑" panose="020B0503020204020204" pitchFamily="34" charset="-122"/>
                <a:ea typeface="微软雅黑" panose="020B0503020204020204" pitchFamily="34" charset="-122"/>
              </a:rPr>
              <a:t>A </a:t>
            </a:r>
            <a:r>
              <a:rPr lang="zh-CN" altLang="en-US" sz="1400" b="1" dirty="0">
                <a:latin typeface="微软雅黑" panose="020B0503020204020204" pitchFamily="34" charset="-122"/>
                <a:ea typeface="微软雅黑" panose="020B0503020204020204" pitchFamily="34" charset="-122"/>
              </a:rPr>
              <a:t>类网络地址中， 网络号 </a:t>
            </a:r>
            <a:r>
              <a:rPr lang="en-US" altLang="zh-CN" sz="1400" b="1" dirty="0">
                <a:latin typeface="微软雅黑" panose="020B0503020204020204" pitchFamily="34" charset="-122"/>
                <a:ea typeface="微软雅黑" panose="020B0503020204020204" pitchFamily="34" charset="-122"/>
              </a:rPr>
              <a:t>0 </a:t>
            </a:r>
            <a:r>
              <a:rPr lang="zh-CN" altLang="en-US" sz="1400" b="1" dirty="0">
                <a:latin typeface="微软雅黑" panose="020B0503020204020204" pitchFamily="34" charset="-122"/>
                <a:ea typeface="微软雅黑" panose="020B0503020204020204" pitchFamily="34" charset="-122"/>
              </a:rPr>
              <a:t>和 </a:t>
            </a:r>
            <a:r>
              <a:rPr lang="en-US" altLang="zh-CN" sz="1400" b="1" dirty="0">
                <a:latin typeface="微软雅黑" panose="020B0503020204020204" pitchFamily="34" charset="-122"/>
                <a:ea typeface="微软雅黑" panose="020B0503020204020204" pitchFamily="34" charset="-122"/>
              </a:rPr>
              <a:t>127 </a:t>
            </a:r>
            <a:r>
              <a:rPr lang="zh-CN" altLang="en-US" sz="1400" b="1" dirty="0">
                <a:latin typeface="微软雅黑" panose="020B0503020204020204" pitchFamily="34" charset="-122"/>
                <a:ea typeface="微软雅黑" panose="020B0503020204020204" pitchFamily="34" charset="-122"/>
              </a:rPr>
              <a:t>是保留地址，不指派。</a:t>
            </a:r>
            <a:r>
              <a:rPr lang="en-US" altLang="zh-CN" sz="1400" b="1" dirty="0">
                <a:latin typeface="微软雅黑" panose="020B0503020204020204" pitchFamily="34" charset="-122"/>
                <a:ea typeface="微软雅黑" panose="020B0503020204020204" pitchFamily="34" charset="-122"/>
              </a:rPr>
              <a:t>0 </a:t>
            </a:r>
            <a:r>
              <a:rPr lang="zh-CN" altLang="en-US" sz="1400" b="1" dirty="0">
                <a:latin typeface="微软雅黑" panose="020B0503020204020204" pitchFamily="34" charset="-122"/>
                <a:ea typeface="微软雅黑" panose="020B0503020204020204" pitchFamily="34" charset="-122"/>
              </a:rPr>
              <a:t>表示“本网络”，</a:t>
            </a:r>
            <a:r>
              <a:rPr lang="en-US" altLang="zh-CN" sz="1400" b="1" dirty="0">
                <a:latin typeface="微软雅黑" panose="020B0503020204020204" pitchFamily="34" charset="-122"/>
                <a:ea typeface="微软雅黑" panose="020B0503020204020204" pitchFamily="34" charset="-122"/>
              </a:rPr>
              <a:t>127 </a:t>
            </a:r>
            <a:r>
              <a:rPr lang="zh-CN" altLang="en-US" sz="1400" b="1" dirty="0">
                <a:latin typeface="微软雅黑" panose="020B0503020204020204" pitchFamily="34" charset="-122"/>
                <a:ea typeface="微软雅黑" panose="020B0503020204020204" pitchFamily="34" charset="-122"/>
              </a:rPr>
              <a:t>保留作为本地环回测试地址。</a:t>
            </a:r>
            <a:endParaRPr lang="en-US" altLang="zh-CN" sz="1400" b="1" dirty="0">
              <a:latin typeface="微软雅黑" panose="020B0503020204020204" pitchFamily="34" charset="-122"/>
              <a:ea typeface="微软雅黑" panose="020B0503020204020204" pitchFamily="34" charset="-122"/>
            </a:endParaRPr>
          </a:p>
          <a:p>
            <a:pPr marL="285750" indent="-285750">
              <a:lnSpc>
                <a:spcPts val="2000"/>
              </a:lnSpc>
              <a:buFont typeface="Wingdings" panose="05000000000000000000" pitchFamily="2" charset="2"/>
              <a:buChar char="l"/>
            </a:pPr>
            <a:r>
              <a:rPr lang="en-US" altLang="zh-CN" sz="1400" b="1" dirty="0">
                <a:latin typeface="微软雅黑" panose="020B0503020204020204" pitchFamily="34" charset="-122"/>
                <a:ea typeface="微软雅黑" panose="020B0503020204020204" pitchFamily="34" charset="-122"/>
              </a:rPr>
              <a:t>B </a:t>
            </a:r>
            <a:r>
              <a:rPr lang="zh-CN" altLang="en-US" sz="1400" b="1" dirty="0">
                <a:latin typeface="微软雅黑" panose="020B0503020204020204" pitchFamily="34" charset="-122"/>
                <a:ea typeface="微软雅黑" panose="020B0503020204020204" pitchFamily="34" charset="-122"/>
              </a:rPr>
              <a:t>类网络地址中，网络号 </a:t>
            </a:r>
            <a:r>
              <a:rPr lang="en-US" altLang="zh-CN" sz="1400" b="1" dirty="0">
                <a:latin typeface="微软雅黑" panose="020B0503020204020204" pitchFamily="34" charset="-122"/>
                <a:ea typeface="微软雅黑" panose="020B0503020204020204" pitchFamily="34" charset="-122"/>
              </a:rPr>
              <a:t>128.0  </a:t>
            </a:r>
            <a:r>
              <a:rPr lang="zh-CN" altLang="en-US" sz="1400" b="1" dirty="0">
                <a:latin typeface="微软雅黑" panose="020B0503020204020204" pitchFamily="34" charset="-122"/>
                <a:ea typeface="微软雅黑" panose="020B0503020204020204" pitchFamily="34" charset="-122"/>
              </a:rPr>
              <a:t>是被 </a:t>
            </a:r>
            <a:r>
              <a:rPr lang="en-US" altLang="zh-CN" sz="1400" b="1" dirty="0">
                <a:latin typeface="微软雅黑" panose="020B0503020204020204" pitchFamily="34" charset="-122"/>
                <a:ea typeface="微软雅黑" panose="020B0503020204020204" pitchFamily="34" charset="-122"/>
              </a:rPr>
              <a:t>IANA </a:t>
            </a:r>
            <a:r>
              <a:rPr lang="zh-CN" altLang="en-US" sz="1400" b="1" dirty="0">
                <a:latin typeface="微软雅黑" panose="020B0503020204020204" pitchFamily="34" charset="-122"/>
                <a:ea typeface="微软雅黑" panose="020B0503020204020204" pitchFamily="34" charset="-122"/>
              </a:rPr>
              <a:t>保留的，不指派。采用无分类编址（</a:t>
            </a:r>
            <a:r>
              <a:rPr lang="en-US" altLang="zh-CN" sz="1400" b="1" dirty="0">
                <a:latin typeface="微软雅黑" panose="020B0503020204020204" pitchFamily="34" charset="-122"/>
                <a:ea typeface="微软雅黑" panose="020B0503020204020204" pitchFamily="34" charset="-122"/>
              </a:rPr>
              <a:t>CIDR</a:t>
            </a:r>
            <a:r>
              <a:rPr lang="zh-CN" altLang="en-US" sz="1400" b="1" dirty="0">
                <a:latin typeface="微软雅黑" panose="020B0503020204020204" pitchFamily="34" charset="-122"/>
                <a:ea typeface="微软雅黑" panose="020B0503020204020204" pitchFamily="34" charset="-122"/>
              </a:rPr>
              <a:t>）时可以指派。</a:t>
            </a:r>
            <a:endParaRPr lang="en-US" altLang="zh-CN" sz="1400" b="1" dirty="0">
              <a:latin typeface="微软雅黑" panose="020B0503020204020204" pitchFamily="34" charset="-122"/>
              <a:ea typeface="微软雅黑" panose="020B0503020204020204" pitchFamily="34" charset="-122"/>
            </a:endParaRPr>
          </a:p>
          <a:p>
            <a:pPr marL="285750" indent="-285750">
              <a:lnSpc>
                <a:spcPts val="2000"/>
              </a:lnSpc>
              <a:buFont typeface="Wingdings" panose="05000000000000000000" pitchFamily="2" charset="2"/>
              <a:buChar char="l"/>
            </a:pPr>
            <a:r>
              <a:rPr lang="en-US" altLang="zh-CN" sz="1400" b="1" dirty="0">
                <a:latin typeface="微软雅黑" panose="020B0503020204020204" pitchFamily="34" charset="-122"/>
                <a:ea typeface="微软雅黑" panose="020B0503020204020204" pitchFamily="34" charset="-122"/>
              </a:rPr>
              <a:t>C </a:t>
            </a:r>
            <a:r>
              <a:rPr lang="zh-CN" altLang="en-US" sz="1400" b="1" dirty="0">
                <a:latin typeface="微软雅黑" panose="020B0503020204020204" pitchFamily="34" charset="-122"/>
                <a:ea typeface="微软雅黑" panose="020B0503020204020204" pitchFamily="34" charset="-122"/>
              </a:rPr>
              <a:t>类网络地址中，网络号 </a:t>
            </a:r>
            <a:r>
              <a:rPr lang="en-US" altLang="zh-CN" sz="1400" b="1" dirty="0">
                <a:latin typeface="微软雅黑" panose="020B0503020204020204" pitchFamily="34" charset="-122"/>
                <a:ea typeface="微软雅黑" panose="020B0503020204020204" pitchFamily="34" charset="-122"/>
              </a:rPr>
              <a:t>192.0.0 </a:t>
            </a:r>
            <a:r>
              <a:rPr lang="zh-CN" altLang="en-US" sz="1400" b="1" dirty="0">
                <a:latin typeface="微软雅黑" panose="020B0503020204020204" pitchFamily="34" charset="-122"/>
                <a:ea typeface="微软雅黑" panose="020B0503020204020204" pitchFamily="34" charset="-122"/>
              </a:rPr>
              <a:t>是被 </a:t>
            </a:r>
            <a:r>
              <a:rPr lang="en-US" altLang="zh-CN" sz="1400" b="1" dirty="0">
                <a:latin typeface="微软雅黑" panose="020B0503020204020204" pitchFamily="34" charset="-122"/>
                <a:ea typeface="微软雅黑" panose="020B0503020204020204" pitchFamily="34" charset="-122"/>
              </a:rPr>
              <a:t>IANA </a:t>
            </a:r>
            <a:r>
              <a:rPr lang="zh-CN" altLang="en-US" sz="1400" b="1" dirty="0">
                <a:latin typeface="微软雅黑" panose="020B0503020204020204" pitchFamily="34" charset="-122"/>
                <a:ea typeface="微软雅黑" panose="020B0503020204020204" pitchFamily="34" charset="-122"/>
              </a:rPr>
              <a:t>保留的，不指派。采用无分类编址（</a:t>
            </a:r>
            <a:r>
              <a:rPr lang="en-US" altLang="zh-CN" sz="1400" b="1" dirty="0">
                <a:latin typeface="微软雅黑" panose="020B0503020204020204" pitchFamily="34" charset="-122"/>
                <a:ea typeface="微软雅黑" panose="020B0503020204020204" pitchFamily="34" charset="-122"/>
              </a:rPr>
              <a:t>CIDR</a:t>
            </a:r>
            <a:r>
              <a:rPr lang="zh-CN" altLang="en-US" sz="1400" b="1" dirty="0">
                <a:latin typeface="微软雅黑" panose="020B0503020204020204" pitchFamily="34" charset="-122"/>
                <a:ea typeface="微软雅黑" panose="020B0503020204020204" pitchFamily="34" charset="-122"/>
              </a:rPr>
              <a:t>）时可以指派。</a:t>
            </a:r>
            <a:endParaRPr lang="en-US" altLang="zh-CN" sz="1400" b="1" dirty="0">
              <a:latin typeface="微软雅黑" panose="020B0503020204020204" pitchFamily="34" charset="-122"/>
              <a:ea typeface="微软雅黑" panose="020B0503020204020204" pitchFamily="34" charset="-122"/>
            </a:endParaRPr>
          </a:p>
          <a:p>
            <a:pPr marL="285750" indent="-285750">
              <a:lnSpc>
                <a:spcPts val="2000"/>
              </a:lnSpc>
              <a:buFont typeface="Wingdings" panose="05000000000000000000" pitchFamily="2" charset="2"/>
              <a:buChar char="l"/>
            </a:pPr>
            <a:r>
              <a:rPr lang="zh-CN" altLang="en-US" sz="1400" b="1" dirty="0">
                <a:highlight>
                  <a:srgbClr val="FFFF00"/>
                </a:highlight>
                <a:latin typeface="微软雅黑" panose="020B0503020204020204" pitchFamily="34" charset="-122"/>
                <a:ea typeface="微软雅黑" panose="020B0503020204020204" pitchFamily="34" charset="-122"/>
              </a:rPr>
              <a:t>指派主机号时，要</a:t>
            </a:r>
            <a:r>
              <a:rPr lang="zh-CN" altLang="en-US" sz="1400" b="1" dirty="0">
                <a:solidFill>
                  <a:srgbClr val="C00000"/>
                </a:solidFill>
                <a:highlight>
                  <a:srgbClr val="FFFF00"/>
                </a:highlight>
                <a:latin typeface="微软雅黑" panose="020B0503020204020204" pitchFamily="34" charset="-122"/>
                <a:ea typeface="微软雅黑" panose="020B0503020204020204" pitchFamily="34" charset="-122"/>
              </a:rPr>
              <a:t>扣除</a:t>
            </a:r>
            <a:r>
              <a:rPr lang="zh-CN" altLang="en-US" sz="1400" b="1" dirty="0">
                <a:highlight>
                  <a:srgbClr val="FFFF00"/>
                </a:highlight>
                <a:latin typeface="微软雅黑" panose="020B0503020204020204" pitchFamily="34" charset="-122"/>
                <a:ea typeface="微软雅黑" panose="020B0503020204020204" pitchFamily="34" charset="-122"/>
              </a:rPr>
              <a:t>全 </a:t>
            </a:r>
            <a:r>
              <a:rPr lang="en-US" altLang="zh-CN" sz="1400" b="1" dirty="0">
                <a:highlight>
                  <a:srgbClr val="FFFF00"/>
                </a:highlight>
                <a:latin typeface="微软雅黑" panose="020B0503020204020204" pitchFamily="34" charset="-122"/>
                <a:ea typeface="微软雅黑" panose="020B0503020204020204" pitchFamily="34" charset="-122"/>
              </a:rPr>
              <a:t>0 </a:t>
            </a:r>
            <a:r>
              <a:rPr lang="zh-CN" altLang="en-US" sz="1400" b="1" dirty="0">
                <a:highlight>
                  <a:srgbClr val="FFFF00"/>
                </a:highlight>
                <a:latin typeface="微软雅黑" panose="020B0503020204020204" pitchFamily="34" charset="-122"/>
                <a:ea typeface="微软雅黑" panose="020B0503020204020204" pitchFamily="34" charset="-122"/>
              </a:rPr>
              <a:t>和全 </a:t>
            </a:r>
            <a:r>
              <a:rPr lang="en-US" altLang="zh-CN" sz="1400" b="1" dirty="0">
                <a:highlight>
                  <a:srgbClr val="FFFF00"/>
                </a:highlight>
                <a:latin typeface="微软雅黑" panose="020B0503020204020204" pitchFamily="34" charset="-122"/>
                <a:ea typeface="微软雅黑" panose="020B0503020204020204" pitchFamily="34" charset="-122"/>
              </a:rPr>
              <a:t>1 </a:t>
            </a:r>
            <a:r>
              <a:rPr lang="zh-CN" altLang="en-US" sz="1400" b="1" dirty="0">
                <a:highlight>
                  <a:srgbClr val="FFFF00"/>
                </a:highlight>
                <a:latin typeface="微软雅黑" panose="020B0503020204020204" pitchFamily="34" charset="-122"/>
                <a:ea typeface="微软雅黑" panose="020B0503020204020204" pitchFamily="34" charset="-122"/>
              </a:rPr>
              <a:t>。全 </a:t>
            </a:r>
            <a:r>
              <a:rPr lang="en-US" altLang="zh-CN" sz="1400" b="1" dirty="0">
                <a:highlight>
                  <a:srgbClr val="FFFF00"/>
                </a:highlight>
                <a:latin typeface="微软雅黑" panose="020B0503020204020204" pitchFamily="34" charset="-122"/>
                <a:ea typeface="微软雅黑" panose="020B0503020204020204" pitchFamily="34" charset="-122"/>
              </a:rPr>
              <a:t>0 </a:t>
            </a:r>
            <a:r>
              <a:rPr lang="zh-CN" altLang="en-US" sz="1400" b="1" dirty="0">
                <a:highlight>
                  <a:srgbClr val="FFFF00"/>
                </a:highlight>
                <a:latin typeface="微软雅黑" panose="020B0503020204020204" pitchFamily="34" charset="-122"/>
                <a:ea typeface="微软雅黑" panose="020B0503020204020204" pitchFamily="34" charset="-122"/>
              </a:rPr>
              <a:t>和全 </a:t>
            </a:r>
            <a:r>
              <a:rPr lang="en-US" altLang="zh-CN" sz="1400" b="1" dirty="0">
                <a:highlight>
                  <a:srgbClr val="FFFF00"/>
                </a:highlight>
                <a:latin typeface="微软雅黑" panose="020B0503020204020204" pitchFamily="34" charset="-122"/>
                <a:ea typeface="微软雅黑" panose="020B0503020204020204" pitchFamily="34" charset="-122"/>
              </a:rPr>
              <a:t>1 </a:t>
            </a:r>
            <a:r>
              <a:rPr lang="zh-CN" altLang="en-US" sz="1400" b="1" dirty="0">
                <a:highlight>
                  <a:srgbClr val="FFFF00"/>
                </a:highlight>
                <a:latin typeface="微软雅黑" panose="020B0503020204020204" pitchFamily="34" charset="-122"/>
                <a:ea typeface="微软雅黑" panose="020B0503020204020204" pitchFamily="34" charset="-122"/>
              </a:rPr>
              <a:t>有特殊含义和用途。</a:t>
            </a:r>
          </a:p>
        </p:txBody>
      </p:sp>
    </p:spTree>
    <p:extLst>
      <p:ext uri="{BB962C8B-B14F-4D97-AF65-F5344CB8AC3E}">
        <p14:creationId xmlns:p14="http://schemas.microsoft.com/office/powerpoint/2010/main" val="2666192992"/>
      </p:ext>
    </p:extLst>
  </p:cSld>
  <p:clrMapOvr>
    <a:masterClrMapping/>
  </p:clrMapOvr>
  <p:transition spd="slow" advTm="2000"/>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5"/>
          <p:cNvSpPr>
            <a:spLocks noChangeArrowheads="1"/>
          </p:cNvSpPr>
          <p:nvPr/>
        </p:nvSpPr>
        <p:spPr bwMode="auto">
          <a:xfrm>
            <a:off x="545144" y="619202"/>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 name="矩形 8"/>
          <p:cNvSpPr/>
          <p:nvPr/>
        </p:nvSpPr>
        <p:spPr>
          <a:xfrm>
            <a:off x="616085" y="578018"/>
            <a:ext cx="3414717" cy="400110"/>
          </a:xfrm>
          <a:prstGeom prst="rect">
            <a:avLst/>
          </a:prstGeom>
        </p:spPr>
        <p:txBody>
          <a:bodyPr wrap="none">
            <a:spAutoFit/>
          </a:bodyPr>
          <a:lstStyle/>
          <a:p>
            <a:r>
              <a:rPr lang="zh-CN" altLang="en-US" sz="2000" b="1" dirty="0">
                <a:latin typeface="微软雅黑" pitchFamily="34" charset="-122"/>
                <a:ea typeface="微软雅黑" pitchFamily="34" charset="-122"/>
              </a:rPr>
              <a:t>一般不使用的特殊的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a:t>
            </a:r>
          </a:p>
        </p:txBody>
      </p:sp>
      <p:graphicFrame>
        <p:nvGraphicFramePr>
          <p:cNvPr id="11" name="内容占位符 2"/>
          <p:cNvGraphicFramePr>
            <a:graphicFrameLocks/>
          </p:cNvGraphicFramePr>
          <p:nvPr>
            <p:extLst>
              <p:ext uri="{D42A27DB-BD31-4B8C-83A1-F6EECF244321}">
                <p14:modId xmlns:p14="http://schemas.microsoft.com/office/powerpoint/2010/main" val="342323042"/>
              </p:ext>
            </p:extLst>
          </p:nvPr>
        </p:nvGraphicFramePr>
        <p:xfrm>
          <a:off x="545144" y="1029785"/>
          <a:ext cx="8053712" cy="3191234"/>
        </p:xfrm>
        <a:graphic>
          <a:graphicData uri="http://schemas.openxmlformats.org/drawingml/2006/table">
            <a:tbl>
              <a:tblPr>
                <a:tableStyleId>{5C22544A-7EE6-4342-B048-85BDC9FD1C3A}</a:tableStyleId>
              </a:tblPr>
              <a:tblGrid>
                <a:gridCol w="809203">
                  <a:extLst>
                    <a:ext uri="{9D8B030D-6E8A-4147-A177-3AD203B41FA5}">
                      <a16:colId xmlns:a16="http://schemas.microsoft.com/office/drawing/2014/main" val="20000"/>
                    </a:ext>
                  </a:extLst>
                </a:gridCol>
                <a:gridCol w="1362974">
                  <a:extLst>
                    <a:ext uri="{9D8B030D-6E8A-4147-A177-3AD203B41FA5}">
                      <a16:colId xmlns:a16="http://schemas.microsoft.com/office/drawing/2014/main" val="20001"/>
                    </a:ext>
                  </a:extLst>
                </a:gridCol>
                <a:gridCol w="847915">
                  <a:extLst>
                    <a:ext uri="{9D8B030D-6E8A-4147-A177-3AD203B41FA5}">
                      <a16:colId xmlns:a16="http://schemas.microsoft.com/office/drawing/2014/main" val="20002"/>
                    </a:ext>
                  </a:extLst>
                </a:gridCol>
                <a:gridCol w="951346">
                  <a:extLst>
                    <a:ext uri="{9D8B030D-6E8A-4147-A177-3AD203B41FA5}">
                      <a16:colId xmlns:a16="http://schemas.microsoft.com/office/drawing/2014/main" val="20003"/>
                    </a:ext>
                  </a:extLst>
                </a:gridCol>
                <a:gridCol w="4082274">
                  <a:extLst>
                    <a:ext uri="{9D8B030D-6E8A-4147-A177-3AD203B41FA5}">
                      <a16:colId xmlns:a16="http://schemas.microsoft.com/office/drawing/2014/main" val="20004"/>
                    </a:ext>
                  </a:extLst>
                </a:gridCol>
              </a:tblGrid>
              <a:tr h="689878">
                <a:tc>
                  <a:txBody>
                    <a:bodyPr/>
                    <a:lstStyle/>
                    <a:p>
                      <a:pPr marL="0" algn="ctr" defTabSz="914400" rtl="0" eaLnBrk="1" latinLnBrk="0" hangingPunct="1">
                        <a:lnSpc>
                          <a:spcPct val="100000"/>
                        </a:lnSpc>
                        <a:spcAft>
                          <a:spcPts val="0"/>
                        </a:spcAft>
                      </a:pPr>
                      <a:r>
                        <a:rPr lang="zh-CN" sz="1600" b="1" kern="1200" dirty="0">
                          <a:solidFill>
                            <a:schemeClr val="bg1"/>
                          </a:solidFill>
                          <a:effectLst/>
                          <a:latin typeface="微软雅黑" pitchFamily="34" charset="-122"/>
                          <a:ea typeface="微软雅黑" pitchFamily="34" charset="-122"/>
                          <a:cs typeface="+mn-cs"/>
                        </a:rPr>
                        <a:t>网络号</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marL="0" algn="ctr" defTabSz="914400" rtl="0" eaLnBrk="1" latinLnBrk="0" hangingPunct="1">
                        <a:lnSpc>
                          <a:spcPct val="100000"/>
                        </a:lnSpc>
                        <a:spcAft>
                          <a:spcPts val="0"/>
                        </a:spcAft>
                      </a:pPr>
                      <a:r>
                        <a:rPr lang="zh-CN" sz="1600" b="1" kern="1200" dirty="0">
                          <a:solidFill>
                            <a:schemeClr val="bg1"/>
                          </a:solidFill>
                          <a:effectLst/>
                          <a:latin typeface="微软雅黑" pitchFamily="34" charset="-122"/>
                          <a:ea typeface="微软雅黑" pitchFamily="34" charset="-122"/>
                          <a:cs typeface="+mn-cs"/>
                        </a:rPr>
                        <a:t>主机号</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marL="0" algn="ctr" defTabSz="914400" rtl="0" eaLnBrk="1" latinLnBrk="0" hangingPunct="1">
                        <a:lnSpc>
                          <a:spcPct val="100000"/>
                        </a:lnSpc>
                        <a:spcAft>
                          <a:spcPts val="0"/>
                        </a:spcAft>
                      </a:pPr>
                      <a:r>
                        <a:rPr lang="zh-CN" sz="1600" b="1" kern="1200" dirty="0">
                          <a:solidFill>
                            <a:schemeClr val="bg1"/>
                          </a:solidFill>
                          <a:effectLst/>
                          <a:latin typeface="微软雅黑" pitchFamily="34" charset="-122"/>
                          <a:ea typeface="微软雅黑" pitchFamily="34" charset="-122"/>
                          <a:cs typeface="+mn-cs"/>
                        </a:rPr>
                        <a:t>源地址</a:t>
                      </a:r>
                      <a:endParaRPr lang="en-US" altLang="zh-CN" sz="1600" b="1" kern="1200" dirty="0">
                        <a:solidFill>
                          <a:schemeClr val="bg1"/>
                        </a:solidFill>
                        <a:effectLst/>
                        <a:latin typeface="微软雅黑" pitchFamily="34" charset="-122"/>
                        <a:ea typeface="微软雅黑" pitchFamily="34" charset="-122"/>
                        <a:cs typeface="+mn-cs"/>
                      </a:endParaRPr>
                    </a:p>
                    <a:p>
                      <a:pPr marL="0" algn="ctr" defTabSz="914400" rtl="0" eaLnBrk="1" latinLnBrk="0" hangingPunct="1">
                        <a:lnSpc>
                          <a:spcPct val="100000"/>
                        </a:lnSpc>
                        <a:spcAft>
                          <a:spcPts val="0"/>
                        </a:spcAft>
                      </a:pPr>
                      <a:r>
                        <a:rPr lang="zh-CN" sz="1600" b="1" kern="1200" dirty="0">
                          <a:solidFill>
                            <a:schemeClr val="bg1"/>
                          </a:solidFill>
                          <a:effectLst/>
                          <a:latin typeface="微软雅黑" pitchFamily="34" charset="-122"/>
                          <a:ea typeface="微软雅黑" pitchFamily="34" charset="-122"/>
                          <a:cs typeface="+mn-cs"/>
                        </a:rPr>
                        <a:t>使用</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marL="0" algn="ctr" defTabSz="914400" rtl="0" eaLnBrk="1" latinLnBrk="0" hangingPunct="1">
                        <a:lnSpc>
                          <a:spcPct val="100000"/>
                        </a:lnSpc>
                        <a:spcAft>
                          <a:spcPts val="0"/>
                        </a:spcAft>
                      </a:pPr>
                      <a:r>
                        <a:rPr lang="zh-CN" sz="1600" b="1" kern="1200" dirty="0">
                          <a:solidFill>
                            <a:schemeClr val="bg1"/>
                          </a:solidFill>
                          <a:effectLst/>
                          <a:latin typeface="微软雅黑" pitchFamily="34" charset="-122"/>
                          <a:ea typeface="微软雅黑" pitchFamily="34" charset="-122"/>
                          <a:cs typeface="+mn-cs"/>
                        </a:rPr>
                        <a:t>目的地址</a:t>
                      </a:r>
                      <a:endParaRPr lang="en-US" altLang="zh-CN" sz="1600" b="1" kern="1200" dirty="0">
                        <a:solidFill>
                          <a:schemeClr val="bg1"/>
                        </a:solidFill>
                        <a:effectLst/>
                        <a:latin typeface="微软雅黑" pitchFamily="34" charset="-122"/>
                        <a:ea typeface="微软雅黑" pitchFamily="34" charset="-122"/>
                        <a:cs typeface="+mn-cs"/>
                      </a:endParaRPr>
                    </a:p>
                    <a:p>
                      <a:pPr marL="0" algn="ctr" defTabSz="914400" rtl="0" eaLnBrk="1" latinLnBrk="0" hangingPunct="1">
                        <a:lnSpc>
                          <a:spcPct val="100000"/>
                        </a:lnSpc>
                        <a:spcAft>
                          <a:spcPts val="0"/>
                        </a:spcAft>
                      </a:pPr>
                      <a:r>
                        <a:rPr lang="zh-CN" sz="1600" b="1" kern="1200" dirty="0">
                          <a:solidFill>
                            <a:schemeClr val="bg1"/>
                          </a:solidFill>
                          <a:effectLst/>
                          <a:latin typeface="微软雅黑" pitchFamily="34" charset="-122"/>
                          <a:ea typeface="微软雅黑" pitchFamily="34" charset="-122"/>
                          <a:cs typeface="+mn-cs"/>
                        </a:rPr>
                        <a:t>使用</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marL="0" algn="ctr" defTabSz="914400" rtl="0" eaLnBrk="1" latinLnBrk="0" hangingPunct="1">
                        <a:lnSpc>
                          <a:spcPct val="100000"/>
                        </a:lnSpc>
                        <a:spcAft>
                          <a:spcPts val="0"/>
                        </a:spcAft>
                        <a:tabLst>
                          <a:tab pos="2637155" algn="ctr"/>
                          <a:tab pos="5274310" algn="r"/>
                          <a:tab pos="266700" algn="l"/>
                        </a:tabLst>
                      </a:pPr>
                      <a:r>
                        <a:rPr lang="zh-CN" sz="1600" b="1" kern="1200" dirty="0">
                          <a:solidFill>
                            <a:schemeClr val="bg1"/>
                          </a:solidFill>
                          <a:effectLst/>
                          <a:latin typeface="微软雅黑" pitchFamily="34" charset="-122"/>
                          <a:ea typeface="微软雅黑" pitchFamily="34" charset="-122"/>
                          <a:cs typeface="+mn-cs"/>
                        </a:rPr>
                        <a:t>代表的意思</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extLst>
                  <a:ext uri="{0D108BD9-81ED-4DB2-BD59-A6C34878D82A}">
                    <a16:rowId xmlns:a16="http://schemas.microsoft.com/office/drawing/2014/main" val="10000"/>
                  </a:ext>
                </a:extLst>
              </a:tr>
              <a:tr h="523399">
                <a:tc>
                  <a:txBody>
                    <a:bodyPr/>
                    <a:lstStyle/>
                    <a:p>
                      <a:pPr marL="0" algn="ctr" defTabSz="914400" rtl="0" eaLnBrk="1" latinLnBrk="0" hangingPunct="1">
                        <a:lnSpc>
                          <a:spcPct val="100000"/>
                        </a:lnSpc>
                        <a:spcAft>
                          <a:spcPts val="0"/>
                        </a:spcAft>
                      </a:pPr>
                      <a:r>
                        <a:rPr lang="en-US" sz="1600" b="1" kern="1200" dirty="0">
                          <a:solidFill>
                            <a:schemeClr val="tx1"/>
                          </a:solidFill>
                          <a:effectLst/>
                          <a:latin typeface="微软雅黑" pitchFamily="34" charset="-122"/>
                          <a:ea typeface="微软雅黑" pitchFamily="34" charset="-122"/>
                          <a:cs typeface="+mn-cs"/>
                        </a:rPr>
                        <a:t>0</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en-US" sz="1600" b="1" kern="1200" dirty="0">
                          <a:solidFill>
                            <a:schemeClr val="tx1"/>
                          </a:solidFill>
                          <a:effectLst/>
                          <a:latin typeface="微软雅黑" pitchFamily="34" charset="-122"/>
                          <a:ea typeface="微软雅黑" pitchFamily="34" charset="-122"/>
                          <a:cs typeface="+mn-cs"/>
                        </a:rPr>
                        <a:t>0</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可以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1600" b="1" kern="1200">
                          <a:solidFill>
                            <a:schemeClr val="tx1"/>
                          </a:solidFill>
                          <a:effectLst/>
                          <a:latin typeface="微软雅黑" pitchFamily="34" charset="-122"/>
                          <a:ea typeface="微软雅黑" pitchFamily="34" charset="-122"/>
                          <a:cs typeface="+mn-cs"/>
                        </a:rPr>
                        <a:t>不可</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在本网络上的本主机</a:t>
                      </a:r>
                      <a:r>
                        <a:rPr lang="zh-CN" sz="1400" b="1" kern="1200" dirty="0">
                          <a:solidFill>
                            <a:schemeClr val="tx1"/>
                          </a:solidFill>
                          <a:effectLst/>
                          <a:latin typeface="微软雅黑" pitchFamily="34" charset="-122"/>
                          <a:ea typeface="微软雅黑" pitchFamily="34" charset="-122"/>
                          <a:cs typeface="+mn-cs"/>
                        </a:rPr>
                        <a:t>（见</a:t>
                      </a:r>
                      <a:r>
                        <a:rPr lang="en-US" altLang="zh-CN" sz="1400" b="1" kern="1200" dirty="0">
                          <a:solidFill>
                            <a:schemeClr val="tx1"/>
                          </a:solidFill>
                          <a:effectLst/>
                          <a:latin typeface="微软雅黑" pitchFamily="34" charset="-122"/>
                          <a:ea typeface="微软雅黑" pitchFamily="34" charset="-122"/>
                          <a:cs typeface="+mn-cs"/>
                        </a:rPr>
                        <a:t> </a:t>
                      </a:r>
                      <a:r>
                        <a:rPr lang="en-US" sz="1400" b="1" kern="1200" dirty="0">
                          <a:solidFill>
                            <a:schemeClr val="tx1"/>
                          </a:solidFill>
                          <a:effectLst/>
                          <a:latin typeface="微软雅黑" pitchFamily="34" charset="-122"/>
                          <a:ea typeface="微软雅黑" pitchFamily="34" charset="-122"/>
                          <a:cs typeface="+mn-cs"/>
                        </a:rPr>
                        <a:t>6.6 </a:t>
                      </a:r>
                      <a:r>
                        <a:rPr lang="zh-CN" sz="1400" b="1" kern="1200" dirty="0">
                          <a:solidFill>
                            <a:schemeClr val="tx1"/>
                          </a:solidFill>
                          <a:effectLst/>
                          <a:latin typeface="微软雅黑" pitchFamily="34" charset="-122"/>
                          <a:ea typeface="微软雅黑" pitchFamily="34" charset="-122"/>
                          <a:cs typeface="+mn-cs"/>
                        </a:rPr>
                        <a:t>节</a:t>
                      </a:r>
                      <a:r>
                        <a:rPr lang="en-US" altLang="zh-CN" sz="1400" b="1" kern="1200" dirty="0">
                          <a:solidFill>
                            <a:schemeClr val="tx1"/>
                          </a:solidFill>
                          <a:effectLst/>
                          <a:latin typeface="微软雅黑" pitchFamily="34" charset="-122"/>
                          <a:ea typeface="微软雅黑" pitchFamily="34" charset="-122"/>
                          <a:cs typeface="+mn-cs"/>
                        </a:rPr>
                        <a:t> </a:t>
                      </a:r>
                      <a:r>
                        <a:rPr lang="en-US" sz="1400" b="1" kern="1200" dirty="0">
                          <a:solidFill>
                            <a:schemeClr val="tx1"/>
                          </a:solidFill>
                          <a:effectLst/>
                          <a:latin typeface="微软雅黑" pitchFamily="34" charset="-122"/>
                          <a:ea typeface="微软雅黑" pitchFamily="34" charset="-122"/>
                          <a:cs typeface="+mn-cs"/>
                        </a:rPr>
                        <a:t>DHCP </a:t>
                      </a:r>
                      <a:r>
                        <a:rPr lang="zh-CN" sz="1400" b="1" kern="1200" dirty="0">
                          <a:solidFill>
                            <a:schemeClr val="tx1"/>
                          </a:solidFill>
                          <a:effectLst/>
                          <a:latin typeface="微软雅黑" pitchFamily="34" charset="-122"/>
                          <a:ea typeface="微软雅黑" pitchFamily="34" charset="-122"/>
                          <a:cs typeface="+mn-cs"/>
                        </a:rPr>
                        <a:t>协议）</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407760">
                <a:tc>
                  <a:txBody>
                    <a:bodyPr/>
                    <a:lstStyle/>
                    <a:p>
                      <a:pPr marL="0" algn="ctr" defTabSz="914400" rtl="0" eaLnBrk="1" latinLnBrk="0" hangingPunct="1">
                        <a:lnSpc>
                          <a:spcPct val="100000"/>
                        </a:lnSpc>
                        <a:spcAft>
                          <a:spcPts val="0"/>
                        </a:spcAft>
                      </a:pPr>
                      <a:r>
                        <a:rPr lang="en-US" sz="1600" b="1" kern="1200">
                          <a:solidFill>
                            <a:schemeClr val="tx1"/>
                          </a:solidFill>
                          <a:effectLst/>
                          <a:latin typeface="微软雅黑" pitchFamily="34" charset="-122"/>
                          <a:ea typeface="微软雅黑" pitchFamily="34" charset="-122"/>
                          <a:cs typeface="+mn-cs"/>
                        </a:rPr>
                        <a:t>0</a:t>
                      </a:r>
                      <a:endParaRPr lang="zh-CN" sz="1600" b="1" kern="120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marL="0" algn="ctr" defTabSz="914400" rtl="0" eaLnBrk="1" latinLnBrk="0" hangingPunct="1">
                        <a:lnSpc>
                          <a:spcPct val="100000"/>
                        </a:lnSpc>
                        <a:spcAft>
                          <a:spcPts val="0"/>
                        </a:spcAft>
                      </a:pPr>
                      <a:r>
                        <a:rPr lang="en-US" altLang="zh-CN" sz="1600" b="1" kern="1200" dirty="0">
                          <a:solidFill>
                            <a:schemeClr val="tx1"/>
                          </a:solidFill>
                          <a:effectLst/>
                          <a:latin typeface="微软雅黑" pitchFamily="34" charset="-122"/>
                          <a:ea typeface="微软雅黑" pitchFamily="34" charset="-122"/>
                          <a:cs typeface="+mn-cs"/>
                        </a:rPr>
                        <a:t>X</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可以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不可</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marL="0" algn="l" defTabSz="914400" rtl="0" eaLnBrk="1" latinLnBrk="0" hangingPunct="1">
                        <a:lnSpc>
                          <a:spcPct val="100000"/>
                        </a:lnSpc>
                        <a:spcAft>
                          <a:spcPts val="0"/>
                        </a:spcAft>
                      </a:pPr>
                      <a:r>
                        <a:rPr lang="zh-CN" altLang="en-US" sz="1600" b="1" kern="1200" dirty="0">
                          <a:solidFill>
                            <a:schemeClr val="tx1"/>
                          </a:solidFill>
                          <a:effectLst/>
                          <a:latin typeface="微软雅黑" pitchFamily="34" charset="-122"/>
                          <a:ea typeface="微软雅黑" pitchFamily="34" charset="-122"/>
                          <a:cs typeface="+mn-cs"/>
                        </a:rPr>
                        <a:t>在本网络上主机号为 </a:t>
                      </a:r>
                      <a:r>
                        <a:rPr lang="en-US" altLang="zh-CN" sz="1600" b="1" kern="1200" dirty="0">
                          <a:solidFill>
                            <a:schemeClr val="tx1"/>
                          </a:solidFill>
                          <a:effectLst/>
                          <a:latin typeface="微软雅黑" pitchFamily="34" charset="-122"/>
                          <a:ea typeface="微软雅黑" pitchFamily="34" charset="-122"/>
                          <a:cs typeface="+mn-cs"/>
                        </a:rPr>
                        <a:t>X </a:t>
                      </a:r>
                      <a:r>
                        <a:rPr lang="zh-CN" altLang="en-US" sz="1600" b="1" kern="1200" dirty="0">
                          <a:solidFill>
                            <a:schemeClr val="tx1"/>
                          </a:solidFill>
                          <a:effectLst/>
                          <a:latin typeface="微软雅黑" pitchFamily="34" charset="-122"/>
                          <a:ea typeface="微软雅黑" pitchFamily="34" charset="-122"/>
                          <a:cs typeface="+mn-cs"/>
                        </a:rPr>
                        <a:t>的主机</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2"/>
                  </a:ext>
                </a:extLst>
              </a:tr>
              <a:tr h="523399">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全</a:t>
                      </a:r>
                      <a:r>
                        <a:rPr lang="en-US" altLang="zh-CN" sz="1600" b="1" kern="1200" dirty="0">
                          <a:solidFill>
                            <a:schemeClr val="tx1"/>
                          </a:solidFill>
                          <a:effectLst/>
                          <a:latin typeface="微软雅黑" pitchFamily="34" charset="-122"/>
                          <a:ea typeface="微软雅黑" pitchFamily="34" charset="-122"/>
                          <a:cs typeface="+mn-cs"/>
                        </a:rPr>
                        <a:t> </a:t>
                      </a:r>
                      <a:r>
                        <a:rPr lang="en-US" sz="1600" b="1" kern="1200" dirty="0">
                          <a:solidFill>
                            <a:schemeClr val="tx1"/>
                          </a:solidFill>
                          <a:effectLst/>
                          <a:latin typeface="微软雅黑" pitchFamily="34" charset="-122"/>
                          <a:ea typeface="微软雅黑" pitchFamily="34" charset="-122"/>
                          <a:cs typeface="+mn-cs"/>
                        </a:rPr>
                        <a:t>1</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全</a:t>
                      </a:r>
                      <a:r>
                        <a:rPr lang="en-US" altLang="zh-CN" sz="1600" b="1" kern="1200" dirty="0">
                          <a:solidFill>
                            <a:schemeClr val="tx1"/>
                          </a:solidFill>
                          <a:effectLst/>
                          <a:latin typeface="微软雅黑" pitchFamily="34" charset="-122"/>
                          <a:ea typeface="微软雅黑" pitchFamily="34" charset="-122"/>
                          <a:cs typeface="+mn-cs"/>
                        </a:rPr>
                        <a:t> </a:t>
                      </a:r>
                      <a:r>
                        <a:rPr lang="en-US" sz="1600" b="1" kern="1200" dirty="0">
                          <a:solidFill>
                            <a:schemeClr val="tx1"/>
                          </a:solidFill>
                          <a:effectLst/>
                          <a:latin typeface="微软雅黑" pitchFamily="34" charset="-122"/>
                          <a:ea typeface="微软雅黑" pitchFamily="34" charset="-122"/>
                          <a:cs typeface="+mn-cs"/>
                        </a:rPr>
                        <a:t>1</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不可</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可以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只在本网络上进行广播</a:t>
                      </a:r>
                      <a:r>
                        <a:rPr lang="zh-CN" sz="1400" b="1" kern="1200" dirty="0">
                          <a:solidFill>
                            <a:schemeClr val="tx1"/>
                          </a:solidFill>
                          <a:effectLst/>
                          <a:latin typeface="微软雅黑" pitchFamily="34" charset="-122"/>
                          <a:ea typeface="微软雅黑" pitchFamily="34" charset="-122"/>
                          <a:cs typeface="+mn-cs"/>
                        </a:rPr>
                        <a:t>（各路由器均不转发）</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r h="523399">
                <a:tc>
                  <a:txBody>
                    <a:bodyPr/>
                    <a:lstStyle/>
                    <a:p>
                      <a:pPr marL="0" algn="ctr" defTabSz="914400" rtl="0" eaLnBrk="1" latinLnBrk="0" hangingPunct="1">
                        <a:lnSpc>
                          <a:spcPct val="100000"/>
                        </a:lnSpc>
                        <a:spcAft>
                          <a:spcPts val="0"/>
                        </a:spcAft>
                      </a:pPr>
                      <a:r>
                        <a:rPr lang="en-US" altLang="zh-CN" sz="1600" b="1" kern="1200" dirty="0">
                          <a:solidFill>
                            <a:schemeClr val="tx1"/>
                          </a:solidFill>
                          <a:effectLst/>
                          <a:highlight>
                            <a:srgbClr val="FFFF00"/>
                          </a:highlight>
                          <a:latin typeface="微软雅黑" pitchFamily="34" charset="-122"/>
                          <a:ea typeface="微软雅黑" pitchFamily="34" charset="-122"/>
                          <a:cs typeface="+mn-cs"/>
                        </a:rPr>
                        <a:t>Y</a:t>
                      </a:r>
                      <a:endParaRPr lang="zh-CN" sz="1600" b="1" kern="1200" dirty="0">
                        <a:solidFill>
                          <a:schemeClr val="tx1"/>
                        </a:solidFill>
                        <a:effectLst/>
                        <a:highlight>
                          <a:srgbClr val="FFFF00"/>
                        </a:highligh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highlight>
                            <a:srgbClr val="FFFF00"/>
                          </a:highlight>
                          <a:latin typeface="微软雅黑" pitchFamily="34" charset="-122"/>
                          <a:ea typeface="微软雅黑" pitchFamily="34" charset="-122"/>
                          <a:cs typeface="+mn-cs"/>
                        </a:rPr>
                        <a:t>全</a:t>
                      </a:r>
                      <a:r>
                        <a:rPr lang="en-US" altLang="zh-CN" sz="1600" b="1" kern="1200" dirty="0">
                          <a:solidFill>
                            <a:schemeClr val="tx1"/>
                          </a:solidFill>
                          <a:effectLst/>
                          <a:highlight>
                            <a:srgbClr val="FFFF00"/>
                          </a:highlight>
                          <a:latin typeface="微软雅黑" pitchFamily="34" charset="-122"/>
                          <a:ea typeface="微软雅黑" pitchFamily="34" charset="-122"/>
                          <a:cs typeface="+mn-cs"/>
                        </a:rPr>
                        <a:t> </a:t>
                      </a:r>
                      <a:r>
                        <a:rPr lang="en-US" sz="1600" b="1" kern="1200" dirty="0">
                          <a:solidFill>
                            <a:schemeClr val="tx1"/>
                          </a:solidFill>
                          <a:effectLst/>
                          <a:highlight>
                            <a:srgbClr val="FFFF00"/>
                          </a:highlight>
                          <a:latin typeface="微软雅黑" pitchFamily="34" charset="-122"/>
                          <a:ea typeface="微软雅黑" pitchFamily="34" charset="-122"/>
                          <a:cs typeface="+mn-cs"/>
                        </a:rPr>
                        <a:t>1</a:t>
                      </a:r>
                      <a:endParaRPr lang="zh-CN" sz="1600" b="1" kern="1200" dirty="0">
                        <a:solidFill>
                          <a:schemeClr val="tx1"/>
                        </a:solidFill>
                        <a:effectLst/>
                        <a:highlight>
                          <a:srgbClr val="FFFF00"/>
                        </a:highligh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highlight>
                            <a:srgbClr val="FFFF00"/>
                          </a:highlight>
                          <a:latin typeface="微软雅黑" pitchFamily="34" charset="-122"/>
                          <a:ea typeface="微软雅黑" pitchFamily="34" charset="-122"/>
                          <a:cs typeface="+mn-cs"/>
                        </a:rPr>
                        <a:t>不可</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highlight>
                            <a:srgbClr val="FFFF00"/>
                          </a:highlight>
                          <a:latin typeface="微软雅黑" pitchFamily="34" charset="-122"/>
                          <a:ea typeface="微软雅黑" pitchFamily="34" charset="-122"/>
                          <a:cs typeface="+mn-cs"/>
                        </a:rPr>
                        <a:t>可以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marL="0" algn="l" defTabSz="914400" rtl="0" eaLnBrk="1" latinLnBrk="0" hangingPunct="1">
                        <a:lnSpc>
                          <a:spcPct val="100000"/>
                        </a:lnSpc>
                        <a:spcAft>
                          <a:spcPts val="0"/>
                        </a:spcAft>
                      </a:pPr>
                      <a:r>
                        <a:rPr lang="zh-CN" sz="1600" b="1" kern="1200" dirty="0">
                          <a:solidFill>
                            <a:schemeClr val="tx1"/>
                          </a:solidFill>
                          <a:effectLst/>
                          <a:highlight>
                            <a:srgbClr val="FFFF00"/>
                          </a:highlight>
                          <a:latin typeface="微软雅黑" pitchFamily="34" charset="-122"/>
                          <a:ea typeface="微软雅黑" pitchFamily="34" charset="-122"/>
                          <a:cs typeface="+mn-cs"/>
                        </a:rPr>
                        <a:t>对</a:t>
                      </a:r>
                      <a:r>
                        <a:rPr lang="zh-CN" altLang="en-US" sz="1600" b="1" kern="1200" dirty="0">
                          <a:solidFill>
                            <a:schemeClr val="tx1"/>
                          </a:solidFill>
                          <a:effectLst/>
                          <a:highlight>
                            <a:srgbClr val="FFFF00"/>
                          </a:highlight>
                          <a:latin typeface="微软雅黑" pitchFamily="34" charset="-122"/>
                          <a:ea typeface="微软雅黑" pitchFamily="34" charset="-122"/>
                          <a:cs typeface="+mn-cs"/>
                        </a:rPr>
                        <a:t>网络号为 </a:t>
                      </a:r>
                      <a:r>
                        <a:rPr lang="en-US" altLang="zh-CN" sz="1600" b="1" kern="1200" dirty="0">
                          <a:solidFill>
                            <a:schemeClr val="tx1"/>
                          </a:solidFill>
                          <a:effectLst/>
                          <a:highlight>
                            <a:srgbClr val="FFFF00"/>
                          </a:highlight>
                          <a:latin typeface="微软雅黑" pitchFamily="34" charset="-122"/>
                          <a:ea typeface="微软雅黑" pitchFamily="34" charset="-122"/>
                          <a:cs typeface="+mn-cs"/>
                        </a:rPr>
                        <a:t>Y </a:t>
                      </a:r>
                      <a:r>
                        <a:rPr lang="zh-CN" altLang="en-US" sz="1600" b="1" kern="1200" dirty="0">
                          <a:solidFill>
                            <a:schemeClr val="tx1"/>
                          </a:solidFill>
                          <a:effectLst/>
                          <a:highlight>
                            <a:srgbClr val="FFFF00"/>
                          </a:highlight>
                          <a:latin typeface="微软雅黑" pitchFamily="34" charset="-122"/>
                          <a:ea typeface="微软雅黑" pitchFamily="34" charset="-122"/>
                          <a:cs typeface="+mn-cs"/>
                        </a:rPr>
                        <a:t>的网络上</a:t>
                      </a:r>
                      <a:r>
                        <a:rPr lang="zh-CN" sz="1600" b="1" kern="1200" dirty="0">
                          <a:solidFill>
                            <a:schemeClr val="tx1"/>
                          </a:solidFill>
                          <a:effectLst/>
                          <a:highlight>
                            <a:srgbClr val="FFFF00"/>
                          </a:highlight>
                          <a:latin typeface="微软雅黑" pitchFamily="34" charset="-122"/>
                          <a:ea typeface="微软雅黑" pitchFamily="34" charset="-122"/>
                          <a:cs typeface="+mn-cs"/>
                        </a:rPr>
                        <a:t>的所有主机进行广播</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4"/>
                  </a:ext>
                </a:extLst>
              </a:tr>
              <a:tr h="523399">
                <a:tc>
                  <a:txBody>
                    <a:bodyPr/>
                    <a:lstStyle/>
                    <a:p>
                      <a:pPr marL="0" algn="ctr" defTabSz="914400" rtl="0" eaLnBrk="1" latinLnBrk="0" hangingPunct="1">
                        <a:lnSpc>
                          <a:spcPct val="100000"/>
                        </a:lnSpc>
                        <a:spcAft>
                          <a:spcPts val="0"/>
                        </a:spcAft>
                      </a:pPr>
                      <a:r>
                        <a:rPr lang="en-US" sz="1600" b="1" kern="1200">
                          <a:solidFill>
                            <a:schemeClr val="tx1"/>
                          </a:solidFill>
                          <a:effectLst/>
                          <a:latin typeface="微软雅黑" pitchFamily="34" charset="-122"/>
                          <a:ea typeface="微软雅黑" pitchFamily="34" charset="-122"/>
                          <a:cs typeface="+mn-cs"/>
                        </a:rPr>
                        <a:t>127</a:t>
                      </a:r>
                      <a:endParaRPr lang="zh-CN" sz="1600" b="1" kern="120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非全</a:t>
                      </a:r>
                      <a:r>
                        <a:rPr lang="en-US" altLang="zh-CN" sz="1600" b="1" kern="1200" dirty="0">
                          <a:solidFill>
                            <a:schemeClr val="tx1"/>
                          </a:solidFill>
                          <a:effectLst/>
                          <a:latin typeface="微软雅黑" pitchFamily="34" charset="-122"/>
                          <a:ea typeface="微软雅黑" pitchFamily="34" charset="-122"/>
                          <a:cs typeface="+mn-cs"/>
                        </a:rPr>
                        <a:t> </a:t>
                      </a:r>
                      <a:r>
                        <a:rPr lang="en-US" sz="1600" b="1" kern="1200" dirty="0">
                          <a:solidFill>
                            <a:schemeClr val="tx1"/>
                          </a:solidFill>
                          <a:effectLst/>
                          <a:latin typeface="微软雅黑" pitchFamily="34" charset="-122"/>
                          <a:ea typeface="微软雅黑" pitchFamily="34" charset="-122"/>
                          <a:cs typeface="+mn-cs"/>
                        </a:rPr>
                        <a:t>0 </a:t>
                      </a:r>
                      <a:r>
                        <a:rPr lang="zh-CN" sz="1600" b="1" kern="1200" dirty="0">
                          <a:solidFill>
                            <a:schemeClr val="tx1"/>
                          </a:solidFill>
                          <a:effectLst/>
                          <a:latin typeface="微软雅黑" pitchFamily="34" charset="-122"/>
                          <a:ea typeface="微软雅黑" pitchFamily="34" charset="-122"/>
                          <a:cs typeface="+mn-cs"/>
                        </a:rPr>
                        <a:t>或全</a:t>
                      </a:r>
                      <a:r>
                        <a:rPr lang="en-US" altLang="zh-CN" sz="1600" b="1" kern="1200" dirty="0">
                          <a:solidFill>
                            <a:schemeClr val="tx1"/>
                          </a:solidFill>
                          <a:effectLst/>
                          <a:latin typeface="微软雅黑" pitchFamily="34" charset="-122"/>
                          <a:ea typeface="微软雅黑" pitchFamily="34" charset="-122"/>
                          <a:cs typeface="+mn-cs"/>
                        </a:rPr>
                        <a:t> </a:t>
                      </a:r>
                      <a:r>
                        <a:rPr lang="en-US" sz="1600" b="1" kern="1200" dirty="0">
                          <a:solidFill>
                            <a:schemeClr val="tx1"/>
                          </a:solidFill>
                          <a:effectLst/>
                          <a:latin typeface="微软雅黑" pitchFamily="34" charset="-122"/>
                          <a:ea typeface="微软雅黑" pitchFamily="34" charset="-122"/>
                          <a:cs typeface="+mn-cs"/>
                        </a:rPr>
                        <a:t>1 </a:t>
                      </a:r>
                      <a:r>
                        <a:rPr lang="zh-CN" sz="1600" b="1" kern="1200" dirty="0">
                          <a:solidFill>
                            <a:schemeClr val="tx1"/>
                          </a:solidFill>
                          <a:effectLst/>
                          <a:latin typeface="微软雅黑" pitchFamily="34" charset="-122"/>
                          <a:ea typeface="微软雅黑" pitchFamily="34" charset="-122"/>
                          <a:cs typeface="+mn-cs"/>
                        </a:rPr>
                        <a:t>的任何数</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1600" b="1" kern="1200">
                          <a:solidFill>
                            <a:schemeClr val="tx1"/>
                          </a:solidFill>
                          <a:effectLst/>
                          <a:latin typeface="微软雅黑" pitchFamily="34" charset="-122"/>
                          <a:ea typeface="微软雅黑" pitchFamily="34" charset="-122"/>
                          <a:cs typeface="+mn-cs"/>
                        </a:rPr>
                        <a:t>可以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可以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latinLnBrk="0" hangingPunct="1">
                        <a:lnSpc>
                          <a:spcPct val="100000"/>
                        </a:lnSpc>
                        <a:spcAft>
                          <a:spcPts val="0"/>
                        </a:spcAft>
                      </a:pPr>
                      <a:r>
                        <a:rPr lang="zh-CN" altLang="zh-CN" sz="1600" b="1" kern="1200" dirty="0">
                          <a:solidFill>
                            <a:schemeClr val="tx1"/>
                          </a:solidFill>
                          <a:effectLst/>
                          <a:latin typeface="微软雅黑" pitchFamily="34" charset="-122"/>
                          <a:ea typeface="微软雅黑" pitchFamily="34" charset="-122"/>
                          <a:cs typeface="+mn-cs"/>
                        </a:rPr>
                        <a:t>用于本地软件环回测试</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5"/>
                  </a:ext>
                </a:extLst>
              </a:tr>
            </a:tbl>
          </a:graphicData>
        </a:graphic>
      </p:graphicFrame>
    </p:spTree>
    <p:extLst>
      <p:ext uri="{BB962C8B-B14F-4D97-AF65-F5344CB8AC3E}">
        <p14:creationId xmlns:p14="http://schemas.microsoft.com/office/powerpoint/2010/main" val="194336425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873998" y="581433"/>
            <a:ext cx="341471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分类的 </a:t>
            </a: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地址的优点和缺点</a:t>
            </a:r>
          </a:p>
        </p:txBody>
      </p:sp>
      <p:graphicFrame>
        <p:nvGraphicFramePr>
          <p:cNvPr id="4" name="图示 3"/>
          <p:cNvGraphicFramePr/>
          <p:nvPr>
            <p:extLst>
              <p:ext uri="{D42A27DB-BD31-4B8C-83A1-F6EECF244321}">
                <p14:modId xmlns:p14="http://schemas.microsoft.com/office/powerpoint/2010/main" val="2237446689"/>
              </p:ext>
            </p:extLst>
          </p:nvPr>
        </p:nvGraphicFramePr>
        <p:xfrm>
          <a:off x="1187570" y="1134972"/>
          <a:ext cx="6817744" cy="279867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91355632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333255" y="581433"/>
            <a:ext cx="24961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无分类编址 </a:t>
            </a:r>
            <a:r>
              <a:rPr lang="en-US" altLang="zh-CN" sz="2000" b="1" dirty="0">
                <a:solidFill>
                  <a:schemeClr val="bg1"/>
                </a:solidFill>
                <a:latin typeface="微软雅黑" pitchFamily="34" charset="-122"/>
                <a:ea typeface="微软雅黑" pitchFamily="34" charset="-122"/>
              </a:rPr>
              <a:t>CIDR</a:t>
            </a:r>
            <a:endParaRPr lang="zh-CN" altLang="en-US"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556963" y="963778"/>
            <a:ext cx="8184960"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3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rPr>
              <a:t>CIDR</a:t>
            </a:r>
            <a:r>
              <a:rPr lang="en-US" altLang="zh-CN" sz="2000" b="1" dirty="0">
                <a:latin typeface="微软雅黑" pitchFamily="34" charset="-122"/>
                <a:ea typeface="微软雅黑" pitchFamily="34" charset="-122"/>
              </a:rPr>
              <a:t> (Classless Inter-Domain Routing) </a:t>
            </a:r>
            <a:r>
              <a:rPr lang="zh-CN" altLang="en-US" sz="2000" b="1" dirty="0">
                <a:latin typeface="微软雅黑" pitchFamily="34" charset="-122"/>
                <a:ea typeface="微软雅黑" pitchFamily="34" charset="-122"/>
              </a:rPr>
              <a:t>：</a:t>
            </a:r>
            <a:r>
              <a:rPr lang="zh-CN" altLang="en-US" sz="2000" b="1" dirty="0">
                <a:solidFill>
                  <a:srgbClr val="C00000"/>
                </a:solidFill>
                <a:latin typeface="微软雅黑" pitchFamily="34" charset="-122"/>
                <a:ea typeface="微软雅黑" pitchFamily="34" charset="-122"/>
              </a:rPr>
              <a:t>无分类域间路由选择。</a:t>
            </a:r>
            <a:endParaRPr lang="en-US" altLang="zh-CN" sz="2000" b="1" dirty="0">
              <a:solidFill>
                <a:srgbClr val="C00000"/>
              </a:solidFill>
              <a:latin typeface="微软雅黑" pitchFamily="34" charset="-122"/>
              <a:ea typeface="微软雅黑" pitchFamily="34" charset="-122"/>
            </a:endParaRPr>
          </a:p>
          <a:p>
            <a:pPr marL="268288" indent="-268288">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消除</a:t>
            </a:r>
            <a:r>
              <a:rPr lang="zh-CN" altLang="en-US" sz="2000" b="1" dirty="0">
                <a:latin typeface="微软雅黑" pitchFamily="34" charset="-122"/>
                <a:ea typeface="微软雅黑" pitchFamily="34" charset="-122"/>
              </a:rPr>
              <a:t>了传统的 </a:t>
            </a:r>
            <a:r>
              <a:rPr lang="en-US" altLang="zh-CN" sz="2000" b="1" dirty="0">
                <a:latin typeface="微软雅黑" pitchFamily="34" charset="-122"/>
                <a:ea typeface="微软雅黑" pitchFamily="34" charset="-122"/>
              </a:rPr>
              <a:t>A </a:t>
            </a:r>
            <a:r>
              <a:rPr lang="zh-CN" altLang="en-US" sz="2000" b="1" dirty="0">
                <a:latin typeface="微软雅黑" pitchFamily="34" charset="-122"/>
                <a:ea typeface="微软雅黑" pitchFamily="34" charset="-122"/>
              </a:rPr>
              <a:t>类、</a:t>
            </a:r>
            <a:r>
              <a:rPr lang="en-US" altLang="zh-CN" sz="2000" b="1" dirty="0">
                <a:latin typeface="微软雅黑" pitchFamily="34" charset="-122"/>
                <a:ea typeface="微软雅黑" pitchFamily="34" charset="-122"/>
              </a:rPr>
              <a:t>B </a:t>
            </a:r>
            <a:r>
              <a:rPr lang="zh-CN" altLang="en-US" sz="2000" b="1" dirty="0">
                <a:latin typeface="微软雅黑" pitchFamily="34" charset="-122"/>
                <a:ea typeface="微软雅黑" pitchFamily="34" charset="-122"/>
              </a:rPr>
              <a:t>类和 </a:t>
            </a:r>
            <a:r>
              <a:rPr lang="en-US" altLang="zh-CN" sz="2000" b="1" dirty="0">
                <a:latin typeface="微软雅黑" pitchFamily="34" charset="-122"/>
                <a:ea typeface="微软雅黑" pitchFamily="34" charset="-122"/>
              </a:rPr>
              <a:t>C </a:t>
            </a:r>
            <a:r>
              <a:rPr lang="zh-CN" altLang="en-US" sz="2000" b="1" dirty="0">
                <a:latin typeface="微软雅黑" pitchFamily="34" charset="-122"/>
                <a:ea typeface="微软雅黑" pitchFamily="34" charset="-122"/>
              </a:rPr>
              <a:t>类地址以及划分子网的概念，可以更加有效地分配 </a:t>
            </a:r>
            <a:r>
              <a:rPr lang="en-US" altLang="zh-CN" sz="2000" b="1" dirty="0">
                <a:latin typeface="微软雅黑" pitchFamily="34" charset="-122"/>
                <a:ea typeface="微软雅黑" pitchFamily="34" charset="-122"/>
              </a:rPr>
              <a:t>IPv4 </a:t>
            </a:r>
            <a:r>
              <a:rPr lang="zh-CN" altLang="en-US" sz="2000" b="1" dirty="0">
                <a:latin typeface="微软雅黑" pitchFamily="34" charset="-122"/>
                <a:ea typeface="微软雅黑" pitchFamily="34" charset="-122"/>
              </a:rPr>
              <a:t>的地址空间，</a:t>
            </a:r>
            <a:r>
              <a:rPr lang="zh-CN" altLang="en-US" sz="2000" b="1" dirty="0">
                <a:solidFill>
                  <a:srgbClr val="C00000"/>
                </a:solidFill>
                <a:latin typeface="微软雅黑" pitchFamily="34" charset="-122"/>
                <a:ea typeface="微软雅黑" pitchFamily="34" charset="-122"/>
              </a:rPr>
              <a:t>但无法解决 </a:t>
            </a:r>
            <a:r>
              <a:rPr lang="en-US" altLang="zh-CN" sz="2000" b="1" dirty="0">
                <a:solidFill>
                  <a:srgbClr val="C00000"/>
                </a:solidFill>
                <a:latin typeface="微软雅黑" pitchFamily="34" charset="-122"/>
                <a:ea typeface="微软雅黑" pitchFamily="34" charset="-122"/>
              </a:rPr>
              <a:t>IP </a:t>
            </a:r>
            <a:r>
              <a:rPr lang="zh-CN" altLang="en-US" sz="2000" b="1" dirty="0">
                <a:solidFill>
                  <a:srgbClr val="C00000"/>
                </a:solidFill>
                <a:latin typeface="微软雅黑" pitchFamily="34" charset="-122"/>
                <a:ea typeface="微软雅黑" pitchFamily="34" charset="-122"/>
              </a:rPr>
              <a:t>地址枯竭的问题。</a:t>
            </a:r>
          </a:p>
          <a:p>
            <a:pPr marL="268288" indent="-268288">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要点：</a:t>
            </a:r>
            <a:endParaRPr lang="en-US" altLang="zh-CN" sz="2000" b="1" dirty="0">
              <a:solidFill>
                <a:srgbClr val="0000FF"/>
              </a:solidFill>
              <a:latin typeface="微软雅黑" pitchFamily="34" charset="-122"/>
              <a:ea typeface="微软雅黑" pitchFamily="34" charset="-122"/>
            </a:endParaRPr>
          </a:p>
          <a:p>
            <a:pPr marL="360362">
              <a:lnSpc>
                <a:spcPts val="3300"/>
              </a:lnSpc>
              <a:buClr>
                <a:srgbClr val="7030A0"/>
              </a:buClr>
            </a:pPr>
            <a:r>
              <a:rPr lang="en-US" altLang="zh-CN" sz="2000" b="1" dirty="0">
                <a:latin typeface="微软雅黑" pitchFamily="34" charset="-122"/>
                <a:ea typeface="微软雅黑" pitchFamily="34" charset="-122"/>
              </a:rPr>
              <a:t>(1) </a:t>
            </a:r>
            <a:r>
              <a:rPr lang="zh-CN" altLang="en-US" sz="2000" b="1" dirty="0">
                <a:latin typeface="微软雅黑" pitchFamily="34" charset="-122"/>
                <a:ea typeface="微软雅黑" pitchFamily="34" charset="-122"/>
              </a:rPr>
              <a:t>网络前缀</a:t>
            </a:r>
            <a:endParaRPr lang="en-US" altLang="zh-CN" sz="2000" b="1" dirty="0">
              <a:latin typeface="微软雅黑" pitchFamily="34" charset="-122"/>
              <a:ea typeface="微软雅黑" pitchFamily="34" charset="-122"/>
            </a:endParaRPr>
          </a:p>
          <a:p>
            <a:pPr marL="360362">
              <a:lnSpc>
                <a:spcPts val="3300"/>
              </a:lnSpc>
              <a:buClr>
                <a:srgbClr val="7030A0"/>
              </a:buClr>
            </a:pPr>
            <a:r>
              <a:rPr lang="en-US" altLang="zh-CN" sz="2000" b="1" dirty="0">
                <a:latin typeface="微软雅黑" pitchFamily="34" charset="-122"/>
                <a:ea typeface="微软雅黑" pitchFamily="34" charset="-122"/>
              </a:rPr>
              <a:t>(2) </a:t>
            </a:r>
            <a:r>
              <a:rPr lang="zh-CN" altLang="en-US" sz="2000" b="1" dirty="0">
                <a:latin typeface="微软雅黑" pitchFamily="34" charset="-122"/>
                <a:ea typeface="微软雅黑" pitchFamily="34" charset="-122"/>
              </a:rPr>
              <a:t>地址块</a:t>
            </a:r>
            <a:endParaRPr lang="en-US" altLang="zh-CN" sz="2000" b="1" dirty="0">
              <a:latin typeface="微软雅黑" pitchFamily="34" charset="-122"/>
              <a:ea typeface="微软雅黑" pitchFamily="34" charset="-122"/>
            </a:endParaRPr>
          </a:p>
          <a:p>
            <a:pPr marL="360362">
              <a:lnSpc>
                <a:spcPts val="3300"/>
              </a:lnSpc>
              <a:buClr>
                <a:srgbClr val="7030A0"/>
              </a:buClr>
            </a:pPr>
            <a:r>
              <a:rPr lang="en-US" altLang="zh-CN" sz="2000" b="1" dirty="0">
                <a:latin typeface="微软雅黑" pitchFamily="34" charset="-122"/>
                <a:ea typeface="微软雅黑" pitchFamily="34" charset="-122"/>
              </a:rPr>
              <a:t>(3) </a:t>
            </a:r>
            <a:r>
              <a:rPr lang="zh-CN" altLang="en-US" sz="2000" b="1" dirty="0">
                <a:latin typeface="微软雅黑" pitchFamily="34" charset="-122"/>
                <a:ea typeface="微软雅黑" pitchFamily="34" charset="-122"/>
              </a:rPr>
              <a:t>地址掩码</a:t>
            </a:r>
          </a:p>
        </p:txBody>
      </p:sp>
    </p:spTree>
    <p:extLst>
      <p:ext uri="{BB962C8B-B14F-4D97-AF65-F5344CB8AC3E}">
        <p14:creationId xmlns:p14="http://schemas.microsoft.com/office/powerpoint/2010/main" val="247499212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3758853" y="581433"/>
            <a:ext cx="164500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highlight>
                  <a:srgbClr val="FFFF00"/>
                </a:highlight>
                <a:latin typeface="微软雅黑" pitchFamily="34" charset="-122"/>
                <a:ea typeface="微软雅黑" pitchFamily="34" charset="-122"/>
              </a:rPr>
              <a:t>(1) </a:t>
            </a:r>
            <a:r>
              <a:rPr lang="zh-CN" altLang="en-US" sz="2000" b="1" dirty="0">
                <a:highlight>
                  <a:srgbClr val="FFFF00"/>
                </a:highlight>
                <a:latin typeface="微软雅黑" pitchFamily="34" charset="-122"/>
                <a:ea typeface="微软雅黑" pitchFamily="34" charset="-122"/>
              </a:rPr>
              <a:t>网络前缀</a:t>
            </a:r>
          </a:p>
        </p:txBody>
      </p:sp>
      <p:grpSp>
        <p:nvGrpSpPr>
          <p:cNvPr id="27" name="组合 26"/>
          <p:cNvGrpSpPr/>
          <p:nvPr/>
        </p:nvGrpSpPr>
        <p:grpSpPr>
          <a:xfrm>
            <a:off x="467270" y="1108276"/>
            <a:ext cx="7538042" cy="759182"/>
            <a:chOff x="199852" y="1194536"/>
            <a:chExt cx="7538042" cy="759182"/>
          </a:xfrm>
        </p:grpSpPr>
        <p:sp>
          <p:nvSpPr>
            <p:cNvPr id="9" name="Rectangle 2"/>
            <p:cNvSpPr>
              <a:spLocks noChangeArrowheads="1"/>
            </p:cNvSpPr>
            <p:nvPr/>
          </p:nvSpPr>
          <p:spPr bwMode="auto">
            <a:xfrm>
              <a:off x="3859181" y="1360702"/>
              <a:ext cx="3878713" cy="395038"/>
            </a:xfrm>
            <a:prstGeom prst="rect">
              <a:avLst/>
            </a:prstGeom>
            <a:solidFill>
              <a:srgbClr val="00CCFF"/>
            </a:solidFill>
            <a:ln w="19050">
              <a:solidFill>
                <a:srgbClr val="000000"/>
              </a:solidFill>
              <a:miter lim="800000"/>
              <a:headEnd/>
              <a:tailEnd/>
            </a:ln>
            <a:effectLst/>
          </p:spPr>
          <p:txBody>
            <a:bodyPr wrap="none" anchor="ctr"/>
            <a:lstStyle/>
            <a:p>
              <a:pPr marL="0" marR="0" lvl="0" indent="0" algn="ctr" defTabSz="914400" eaLnBrk="1" fontAlgn="auto" latinLnBrk="0" hangingPunct="1">
                <a:lnSpc>
                  <a:spcPct val="100000"/>
                </a:lnSpc>
                <a:spcBef>
                  <a:spcPct val="50000"/>
                </a:spcBef>
                <a:spcAft>
                  <a:spcPts val="0"/>
                </a:spcAft>
                <a:buClr>
                  <a:srgbClr val="3333CC"/>
                </a:buClr>
                <a:buSzPct val="60000"/>
                <a:buFont typeface="Wingdings" pitchFamily="2" charset="2"/>
                <a:buNone/>
                <a:tabLst/>
                <a:defRPr/>
              </a:pP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IP </a:t>
              </a:r>
              <a:r>
                <a:rPr kumimoji="0" lang="zh-CN" altLang="en-US" sz="1600" b="1" i="0" u="none" strike="noStrike" kern="0" cap="none" spc="0" normalizeH="0" baseline="0" noProof="0" dirty="0">
                  <a:ln>
                    <a:noFill/>
                  </a:ln>
                  <a:effectLst/>
                  <a:uLnTx/>
                  <a:uFillTx/>
                  <a:latin typeface="微软雅黑" pitchFamily="34" charset="-122"/>
                  <a:ea typeface="微软雅黑" pitchFamily="34" charset="-122"/>
                </a:rPr>
                <a:t>地址 </a:t>
              </a: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 { &lt;</a:t>
              </a:r>
              <a:r>
                <a:rPr kumimoji="0" lang="zh-CN" altLang="en-US" sz="1600" b="1" i="0" u="none" strike="noStrike" kern="0" cap="none" spc="0" normalizeH="0" baseline="0" noProof="0" dirty="0">
                  <a:ln>
                    <a:noFill/>
                  </a:ln>
                  <a:effectLst/>
                  <a:uLnTx/>
                  <a:uFillTx/>
                  <a:latin typeface="微软雅黑" pitchFamily="34" charset="-122"/>
                  <a:ea typeface="微软雅黑" pitchFamily="34" charset="-122"/>
                </a:rPr>
                <a:t>网络</a:t>
              </a:r>
              <a:r>
                <a:rPr lang="zh-CN" altLang="en-US" sz="1600" b="1" kern="0" noProof="0" dirty="0">
                  <a:latin typeface="微软雅黑" pitchFamily="34" charset="-122"/>
                  <a:ea typeface="微软雅黑" pitchFamily="34" charset="-122"/>
                </a:rPr>
                <a:t>前缀</a:t>
              </a: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&gt;, &lt;</a:t>
              </a:r>
              <a:r>
                <a:rPr kumimoji="0" lang="zh-CN" altLang="en-US" sz="1600" b="1" i="0" u="none" strike="noStrike" kern="0" cap="none" spc="0" normalizeH="0" baseline="0" noProof="0" dirty="0">
                  <a:ln>
                    <a:noFill/>
                  </a:ln>
                  <a:effectLst/>
                  <a:uLnTx/>
                  <a:uFillTx/>
                  <a:latin typeface="微软雅黑" pitchFamily="34" charset="-122"/>
                  <a:ea typeface="微软雅黑" pitchFamily="34" charset="-122"/>
                </a:rPr>
                <a:t>主机号</a:t>
              </a: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&gt;} </a:t>
              </a:r>
            </a:p>
          </p:txBody>
        </p:sp>
        <p:sp>
          <p:nvSpPr>
            <p:cNvPr id="2" name="矩形 1"/>
            <p:cNvSpPr/>
            <p:nvPr/>
          </p:nvSpPr>
          <p:spPr>
            <a:xfrm>
              <a:off x="199852" y="1194536"/>
              <a:ext cx="3498072" cy="759182"/>
            </a:xfrm>
            <a:prstGeom prst="rect">
              <a:avLst/>
            </a:prstGeom>
          </p:spPr>
          <p:txBody>
            <a:bodyPr wrap="none">
              <a:spAutoFit/>
            </a:bodyPr>
            <a:lstStyle/>
            <a:p>
              <a:pPr algn="r">
                <a:lnSpc>
                  <a:spcPts val="2600"/>
                </a:lnSpc>
              </a:pPr>
              <a:r>
                <a:rPr lang="en-US" altLang="zh-CN" sz="2000" b="1" dirty="0">
                  <a:latin typeface="微软雅黑" panose="020B0503020204020204" pitchFamily="34" charset="-122"/>
                  <a:ea typeface="微软雅黑" panose="020B0503020204020204" pitchFamily="34" charset="-122"/>
                </a:rPr>
                <a:t>2 </a:t>
              </a:r>
              <a:r>
                <a:rPr lang="zh-CN" altLang="en-US" sz="2000" b="1" dirty="0">
                  <a:latin typeface="微软雅黑" panose="020B0503020204020204" pitchFamily="34" charset="-122"/>
                  <a:ea typeface="微软雅黑" panose="020B0503020204020204" pitchFamily="34" charset="-122"/>
                </a:rPr>
                <a:t>级结构</a:t>
              </a:r>
              <a:endParaRPr lang="en-US" altLang="zh-CN" sz="2000" b="1" dirty="0">
                <a:latin typeface="微软雅黑" panose="020B0503020204020204" pitchFamily="34" charset="-122"/>
                <a:ea typeface="微软雅黑" panose="020B0503020204020204" pitchFamily="34" charset="-122"/>
              </a:endParaRPr>
            </a:p>
            <a:p>
              <a:pPr algn="r">
                <a:lnSpc>
                  <a:spcPts val="2600"/>
                </a:lnSpc>
              </a:pPr>
              <a:r>
                <a:rPr lang="en-US" altLang="zh-CN" sz="2000" b="1" dirty="0">
                  <a:latin typeface="微软雅黑" panose="020B0503020204020204" pitchFamily="34" charset="-122"/>
                  <a:ea typeface="微软雅黑" panose="020B0503020204020204" pitchFamily="34" charset="-122"/>
                </a:rPr>
                <a:t>2 </a:t>
              </a:r>
              <a:r>
                <a:rPr lang="zh-CN" altLang="en-US" sz="2000" b="1" dirty="0">
                  <a:latin typeface="微软雅黑" panose="020B0503020204020204" pitchFamily="34" charset="-122"/>
                  <a:ea typeface="微软雅黑" panose="020B0503020204020204" pitchFamily="34" charset="-122"/>
                </a:rPr>
                <a:t>个字段：</a:t>
              </a:r>
              <a:r>
                <a:rPr lang="zh-CN" altLang="en-US" sz="2000" b="1" dirty="0">
                  <a:solidFill>
                    <a:srgbClr val="0000FF"/>
                  </a:solidFill>
                  <a:latin typeface="微软雅黑" panose="020B0503020204020204" pitchFamily="34" charset="-122"/>
                  <a:ea typeface="微软雅黑" panose="020B0503020204020204" pitchFamily="34" charset="-122"/>
                </a:rPr>
                <a:t>网络前缀</a:t>
              </a:r>
              <a:r>
                <a:rPr lang="zh-CN" altLang="en-US" sz="2000" b="1" dirty="0">
                  <a:latin typeface="微软雅黑" panose="020B0503020204020204" pitchFamily="34" charset="-122"/>
                  <a:ea typeface="微软雅黑" panose="020B0503020204020204" pitchFamily="34" charset="-122"/>
                </a:rPr>
                <a:t>和</a:t>
              </a:r>
              <a:r>
                <a:rPr lang="zh-CN" altLang="en-US" sz="2000" b="1" dirty="0">
                  <a:solidFill>
                    <a:srgbClr val="0000FF"/>
                  </a:solidFill>
                  <a:latin typeface="微软雅黑" panose="020B0503020204020204" pitchFamily="34" charset="-122"/>
                  <a:ea typeface="微软雅黑" panose="020B0503020204020204" pitchFamily="34" charset="-122"/>
                </a:rPr>
                <a:t>主机号</a:t>
              </a:r>
              <a:endParaRPr lang="zh-CN" altLang="en-US" sz="2000" b="1" dirty="0">
                <a:latin typeface="微软雅黑" panose="020B0503020204020204" pitchFamily="34" charset="-122"/>
                <a:ea typeface="微软雅黑" panose="020B0503020204020204" pitchFamily="34" charset="-122"/>
              </a:endParaRPr>
            </a:p>
          </p:txBody>
        </p:sp>
      </p:grpSp>
      <p:grpSp>
        <p:nvGrpSpPr>
          <p:cNvPr id="28" name="组合 27"/>
          <p:cNvGrpSpPr/>
          <p:nvPr/>
        </p:nvGrpSpPr>
        <p:grpSpPr>
          <a:xfrm>
            <a:off x="757255" y="1865746"/>
            <a:ext cx="7248057" cy="1291692"/>
            <a:chOff x="489837" y="2854700"/>
            <a:chExt cx="7248057" cy="1014478"/>
          </a:xfrm>
        </p:grpSpPr>
        <p:sp>
          <p:nvSpPr>
            <p:cNvPr id="3" name="矩形 2"/>
            <p:cNvSpPr/>
            <p:nvPr/>
          </p:nvSpPr>
          <p:spPr>
            <a:xfrm>
              <a:off x="489837" y="3230391"/>
              <a:ext cx="3168738" cy="314241"/>
            </a:xfrm>
            <a:prstGeom prst="rect">
              <a:avLst/>
            </a:prstGeom>
          </p:spPr>
          <p:txBody>
            <a:bodyPr wrap="square">
              <a:spAutoFit/>
            </a:bodyPr>
            <a:lstStyle/>
            <a:p>
              <a:r>
                <a:rPr lang="zh-CN" altLang="en-US" sz="2000" b="1" dirty="0">
                  <a:solidFill>
                    <a:srgbClr val="C00000"/>
                  </a:solidFill>
                  <a:latin typeface="微软雅黑" panose="020B0503020204020204" pitchFamily="34" charset="-122"/>
                  <a:ea typeface="微软雅黑" panose="020B0503020204020204" pitchFamily="34" charset="-122"/>
                </a:rPr>
                <a:t>网络前缀的位数 </a:t>
              </a:r>
              <a:r>
                <a:rPr lang="en-US" altLang="zh-CN" sz="2000" b="1" i="1" dirty="0">
                  <a:solidFill>
                    <a:srgbClr val="C00000"/>
                  </a:solidFill>
                  <a:latin typeface="Times New Roman" panose="02020603050405020304" pitchFamily="18" charset="0"/>
                  <a:ea typeface="微软雅黑" panose="020B0503020204020204" pitchFamily="34" charset="-122"/>
                  <a:cs typeface="Times New Roman" panose="02020603050405020304" pitchFamily="18" charset="0"/>
                </a:rPr>
                <a:t>n</a:t>
              </a:r>
              <a:r>
                <a:rPr lang="en-US" altLang="zh-CN" sz="2000" b="1" dirty="0">
                  <a:solidFill>
                    <a:srgbClr val="C00000"/>
                  </a:solidFill>
                  <a:latin typeface="微软雅黑" panose="020B0503020204020204" pitchFamily="34" charset="-122"/>
                  <a:ea typeface="微软雅黑" panose="020B0503020204020204" pitchFamily="34" charset="-122"/>
                </a:rPr>
                <a:t> </a:t>
              </a:r>
              <a:r>
                <a:rPr lang="zh-CN" altLang="en-US" sz="2000" b="1" dirty="0">
                  <a:solidFill>
                    <a:srgbClr val="C00000"/>
                  </a:solidFill>
                  <a:latin typeface="微软雅黑" panose="020B0503020204020204" pitchFamily="34" charset="-122"/>
                  <a:ea typeface="微软雅黑" panose="020B0503020204020204" pitchFamily="34" charset="-122"/>
                </a:rPr>
                <a:t>是多少？</a:t>
              </a:r>
              <a:endParaRPr lang="en-US" altLang="zh-CN" sz="2000" b="1" dirty="0">
                <a:solidFill>
                  <a:srgbClr val="C00000"/>
                </a:solidFill>
                <a:latin typeface="微软雅黑" panose="020B0503020204020204" pitchFamily="34" charset="-122"/>
                <a:ea typeface="微软雅黑" panose="020B0503020204020204" pitchFamily="34" charset="-122"/>
              </a:endParaRPr>
            </a:p>
          </p:txBody>
        </p:sp>
        <p:grpSp>
          <p:nvGrpSpPr>
            <p:cNvPr id="4" name="组合 3"/>
            <p:cNvGrpSpPr/>
            <p:nvPr/>
          </p:nvGrpSpPr>
          <p:grpSpPr>
            <a:xfrm>
              <a:off x="3852346" y="2854700"/>
              <a:ext cx="3885548" cy="1014478"/>
              <a:chOff x="3852346" y="2085048"/>
              <a:chExt cx="3885548" cy="1014478"/>
            </a:xfrm>
          </p:grpSpPr>
          <p:sp>
            <p:nvSpPr>
              <p:cNvPr id="12" name="Line 10"/>
              <p:cNvSpPr>
                <a:spLocks noChangeShapeType="1"/>
              </p:cNvSpPr>
              <p:nvPr/>
            </p:nvSpPr>
            <p:spPr bwMode="auto">
              <a:xfrm>
                <a:off x="3852346" y="2085048"/>
                <a:ext cx="0" cy="340789"/>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13" name="Line 11"/>
              <p:cNvSpPr>
                <a:spLocks noChangeShapeType="1"/>
              </p:cNvSpPr>
              <p:nvPr/>
            </p:nvSpPr>
            <p:spPr bwMode="auto">
              <a:xfrm>
                <a:off x="7737894" y="2085048"/>
                <a:ext cx="0" cy="356611"/>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14" name="Line 12"/>
              <p:cNvSpPr>
                <a:spLocks noChangeShapeType="1"/>
              </p:cNvSpPr>
              <p:nvPr/>
            </p:nvSpPr>
            <p:spPr bwMode="auto">
              <a:xfrm>
                <a:off x="3880824" y="2230389"/>
                <a:ext cx="3837705" cy="0"/>
              </a:xfrm>
              <a:prstGeom prst="line">
                <a:avLst/>
              </a:prstGeom>
              <a:noFill/>
              <a:ln w="19050">
                <a:solidFill>
                  <a:srgbClr val="00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15" name="Text Box 13"/>
              <p:cNvSpPr txBox="1">
                <a:spLocks noChangeArrowheads="1"/>
              </p:cNvSpPr>
              <p:nvPr/>
            </p:nvSpPr>
            <p:spPr bwMode="auto">
              <a:xfrm>
                <a:off x="5415223" y="2085048"/>
                <a:ext cx="744037" cy="265896"/>
              </a:xfrm>
              <a:prstGeom prst="rect">
                <a:avLst/>
              </a:prstGeom>
              <a:solidFill>
                <a:srgbClr val="FFFFFF"/>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altLang="zh-CN" sz="1600" b="1" i="0" u="none" strike="noStrike" kern="0" cap="none" spc="0" normalizeH="0" baseline="0" noProof="0" dirty="0">
                    <a:ln>
                      <a:noFill/>
                    </a:ln>
                    <a:solidFill>
                      <a:srgbClr val="0000FF"/>
                    </a:solidFill>
                    <a:effectLst/>
                    <a:uLnTx/>
                    <a:uFillTx/>
                    <a:latin typeface="微软雅黑" pitchFamily="34" charset="-122"/>
                    <a:ea typeface="微软雅黑" pitchFamily="34" charset="-122"/>
                  </a:rPr>
                  <a:t>32 </a:t>
                </a:r>
                <a:r>
                  <a:rPr kumimoji="0" lang="zh-CN" altLang="en-US" sz="1600" b="1" i="0" u="none" strike="noStrike" kern="0" cap="none" spc="0" normalizeH="0" baseline="0" noProof="0" dirty="0">
                    <a:ln>
                      <a:noFill/>
                    </a:ln>
                    <a:solidFill>
                      <a:srgbClr val="0000FF"/>
                    </a:solidFill>
                    <a:effectLst/>
                    <a:uLnTx/>
                    <a:uFillTx/>
                    <a:latin typeface="微软雅黑" pitchFamily="34" charset="-122"/>
                    <a:ea typeface="微软雅黑" pitchFamily="34" charset="-122"/>
                  </a:rPr>
                  <a:t>位</a:t>
                </a:r>
              </a:p>
            </p:txBody>
          </p:sp>
          <p:grpSp>
            <p:nvGrpSpPr>
              <p:cNvPr id="16" name="Group 7"/>
              <p:cNvGrpSpPr>
                <a:grpSpLocks/>
              </p:cNvGrpSpPr>
              <p:nvPr/>
            </p:nvGrpSpPr>
            <p:grpSpPr bwMode="auto">
              <a:xfrm>
                <a:off x="3859181" y="2414669"/>
                <a:ext cx="3877574" cy="368560"/>
                <a:chOff x="1205" y="3011"/>
                <a:chExt cx="3072" cy="437"/>
              </a:xfrm>
            </p:grpSpPr>
            <p:sp>
              <p:nvSpPr>
                <p:cNvPr id="17" name="Rectangle 8"/>
                <p:cNvSpPr>
                  <a:spLocks noChangeArrowheads="1"/>
                </p:cNvSpPr>
                <p:nvPr/>
              </p:nvSpPr>
              <p:spPr bwMode="auto">
                <a:xfrm>
                  <a:off x="1205" y="3011"/>
                  <a:ext cx="1536" cy="436"/>
                </a:xfrm>
                <a:prstGeom prst="rect">
                  <a:avLst/>
                </a:prstGeom>
                <a:solidFill>
                  <a:srgbClr val="00FFFF"/>
                </a:solidFill>
                <a:ln w="19050" algn="ctr">
                  <a:solidFill>
                    <a:schemeClr val="tx1"/>
                  </a:solidFill>
                  <a:miter lim="800000"/>
                  <a:headEnd/>
                  <a:tailEnd/>
                </a:ln>
                <a:effec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tabLst/>
                    <a:defRPr/>
                  </a:pPr>
                  <a:r>
                    <a:rPr kumimoji="0" lang="zh-CN" altLang="en-US" sz="14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网络前缀</a:t>
                  </a:r>
                  <a:endParaRPr kumimoji="0" lang="en-US" altLang="zh-CN" sz="14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endParaRPr>
                </a:p>
                <a:p>
                  <a:pPr lvl="0" algn="ctr" eaLnBrk="0" hangingPunct="0">
                    <a:defRPr/>
                  </a:pPr>
                  <a:r>
                    <a:rPr lang="en-US" altLang="zh-CN" sz="1400" b="1" kern="0" dirty="0">
                      <a:solidFill>
                        <a:sysClr val="windowText" lastClr="000000"/>
                      </a:solidFill>
                      <a:latin typeface="微软雅黑" pitchFamily="34" charset="-122"/>
                      <a:ea typeface="微软雅黑" pitchFamily="34" charset="-122"/>
                    </a:rPr>
                    <a:t>(network-prefix</a:t>
                  </a:r>
                  <a:r>
                    <a:rPr lang="en-US" altLang="zh-CN" sz="1400" b="1" kern="0" noProof="0" dirty="0">
                      <a:solidFill>
                        <a:sysClr val="windowText" lastClr="000000"/>
                      </a:solidFill>
                      <a:latin typeface="微软雅黑" pitchFamily="34" charset="-122"/>
                      <a:ea typeface="微软雅黑" pitchFamily="34" charset="-122"/>
                    </a:rPr>
                    <a:t>)</a:t>
                  </a:r>
                  <a:endParaRPr kumimoji="0" lang="en-US" altLang="zh-CN" sz="14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endParaRPr>
                </a:p>
              </p:txBody>
            </p:sp>
            <p:sp>
              <p:nvSpPr>
                <p:cNvPr id="18" name="Rectangle 9"/>
                <p:cNvSpPr>
                  <a:spLocks noChangeArrowheads="1"/>
                </p:cNvSpPr>
                <p:nvPr/>
              </p:nvSpPr>
              <p:spPr bwMode="auto">
                <a:xfrm>
                  <a:off x="2741" y="3012"/>
                  <a:ext cx="1536" cy="436"/>
                </a:xfrm>
                <a:prstGeom prst="rect">
                  <a:avLst/>
                </a:prstGeom>
                <a:solidFill>
                  <a:srgbClr val="0000FF"/>
                </a:solidFill>
                <a:ln w="19050" algn="ctr">
                  <a:solidFill>
                    <a:schemeClr val="tx1"/>
                  </a:solidFill>
                  <a:miter lim="800000"/>
                  <a:headEnd/>
                  <a:tailEnd/>
                </a:ln>
                <a:effec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tabLst/>
                    <a:defRPr/>
                  </a:pPr>
                  <a:r>
                    <a:rPr kumimoji="0" lang="zh-CN" altLang="en-US" sz="14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主机号</a:t>
                  </a:r>
                  <a:endParaRPr kumimoji="0" lang="en-US" altLang="zh-CN" sz="1400" b="1" i="0" u="none" strike="noStrike" kern="0" cap="none" spc="0" normalizeH="0" baseline="0" noProof="0" dirty="0">
                    <a:ln>
                      <a:noFill/>
                    </a:ln>
                    <a:solidFill>
                      <a:schemeClr val="bg1"/>
                    </a:solidFill>
                    <a:effectLst/>
                    <a:uLnTx/>
                    <a:uFillTx/>
                    <a:latin typeface="微软雅黑" pitchFamily="34" charset="-122"/>
                    <a:ea typeface="微软雅黑" pitchFamily="34" charset="-122"/>
                  </a:endParaRPr>
                </a:p>
                <a:p>
                  <a:pPr marL="0" marR="0" lvl="0" indent="0" algn="ctr" defTabSz="914400" eaLnBrk="0" fontAlgn="auto" latinLnBrk="0" hangingPunct="0">
                    <a:lnSpc>
                      <a:spcPct val="100000"/>
                    </a:lnSpc>
                    <a:spcBef>
                      <a:spcPts val="0"/>
                    </a:spcBef>
                    <a:spcAft>
                      <a:spcPts val="0"/>
                    </a:spcAft>
                    <a:buClrTx/>
                    <a:buSzTx/>
                    <a:buFontTx/>
                    <a:buNone/>
                    <a:tabLst/>
                    <a:defRPr/>
                  </a:pPr>
                  <a:r>
                    <a:rPr lang="en-US" altLang="zh-CN" sz="1400" b="1" kern="0" dirty="0">
                      <a:solidFill>
                        <a:schemeClr val="bg1"/>
                      </a:solidFill>
                      <a:latin typeface="微软雅黑" pitchFamily="34" charset="-122"/>
                      <a:ea typeface="微软雅黑" pitchFamily="34" charset="-122"/>
                    </a:rPr>
                    <a:t>(host-id)</a:t>
                  </a:r>
                  <a:endParaRPr kumimoji="0" lang="en-US" altLang="zh-CN" sz="1400" b="1" i="0" u="none" strike="noStrike" kern="0" cap="none" spc="0" normalizeH="0" baseline="0" noProof="0" dirty="0">
                    <a:ln>
                      <a:noFill/>
                    </a:ln>
                    <a:solidFill>
                      <a:schemeClr val="bg1"/>
                    </a:solidFill>
                    <a:effectLst/>
                    <a:uLnTx/>
                    <a:uFillTx/>
                    <a:latin typeface="微软雅黑" pitchFamily="34" charset="-122"/>
                    <a:ea typeface="微软雅黑" pitchFamily="34" charset="-122"/>
                  </a:endParaRPr>
                </a:p>
              </p:txBody>
            </p:sp>
          </p:grpSp>
          <p:sp>
            <p:nvSpPr>
              <p:cNvPr id="19" name="Line 10"/>
              <p:cNvSpPr>
                <a:spLocks noChangeShapeType="1"/>
              </p:cNvSpPr>
              <p:nvPr/>
            </p:nvSpPr>
            <p:spPr bwMode="auto">
              <a:xfrm>
                <a:off x="3852346" y="2738467"/>
                <a:ext cx="0" cy="358769"/>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effectLst/>
                  <a:uLnTx/>
                  <a:uFillTx/>
                  <a:latin typeface="微软雅黑" pitchFamily="34" charset="-122"/>
                  <a:ea typeface="微软雅黑" pitchFamily="34" charset="-122"/>
                </a:endParaRPr>
              </a:p>
            </p:txBody>
          </p:sp>
          <p:sp>
            <p:nvSpPr>
              <p:cNvPr id="20" name="Line 11"/>
              <p:cNvSpPr>
                <a:spLocks noChangeShapeType="1"/>
              </p:cNvSpPr>
              <p:nvPr/>
            </p:nvSpPr>
            <p:spPr bwMode="auto">
              <a:xfrm>
                <a:off x="7737894" y="2754289"/>
                <a:ext cx="0" cy="34294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effectLst/>
                  <a:uLnTx/>
                  <a:uFillTx/>
                  <a:latin typeface="微软雅黑" pitchFamily="34" charset="-122"/>
                  <a:ea typeface="微软雅黑" pitchFamily="34" charset="-122"/>
                </a:endParaRPr>
              </a:p>
            </p:txBody>
          </p:sp>
          <p:sp>
            <p:nvSpPr>
              <p:cNvPr id="21" name="Line 12"/>
              <p:cNvSpPr>
                <a:spLocks noChangeShapeType="1"/>
              </p:cNvSpPr>
              <p:nvPr/>
            </p:nvSpPr>
            <p:spPr bwMode="auto">
              <a:xfrm>
                <a:off x="3880825" y="2989758"/>
                <a:ext cx="1917144" cy="0"/>
              </a:xfrm>
              <a:prstGeom prst="line">
                <a:avLst/>
              </a:prstGeom>
              <a:noFill/>
              <a:ln w="1905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effectLst/>
                  <a:uLnTx/>
                  <a:uFillTx/>
                  <a:latin typeface="微软雅黑" pitchFamily="34" charset="-122"/>
                  <a:ea typeface="微软雅黑" pitchFamily="34" charset="-122"/>
                </a:endParaRPr>
              </a:p>
            </p:txBody>
          </p:sp>
          <p:sp>
            <p:nvSpPr>
              <p:cNvPr id="22" name="Text Box 13"/>
              <p:cNvSpPr txBox="1">
                <a:spLocks noChangeArrowheads="1"/>
              </p:cNvSpPr>
              <p:nvPr/>
            </p:nvSpPr>
            <p:spPr bwMode="auto">
              <a:xfrm>
                <a:off x="4552574" y="2831340"/>
                <a:ext cx="623275" cy="265896"/>
              </a:xfrm>
              <a:prstGeom prst="rect">
                <a:avLst/>
              </a:prstGeom>
              <a:solidFill>
                <a:srgbClr val="FFFFFF"/>
              </a:solidFill>
              <a:ln w="9525" algn="ctr">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altLang="zh-CN" sz="1600" b="1" i="1" u="none" strike="noStrike" kern="0" cap="none" spc="0" normalizeH="0" baseline="0" noProof="0" dirty="0">
                    <a:ln>
                      <a:noFill/>
                    </a:ln>
                    <a:solidFill>
                      <a:srgbClr val="C00000"/>
                    </a:solidFill>
                    <a:effectLst/>
                    <a:uLnTx/>
                    <a:uFillTx/>
                    <a:latin typeface="Times New Roman" panose="02020603050405020304" pitchFamily="18" charset="0"/>
                    <a:ea typeface="微软雅黑" pitchFamily="34" charset="-122"/>
                    <a:cs typeface="Times New Roman" panose="02020603050405020304" pitchFamily="18" charset="0"/>
                  </a:rPr>
                  <a:t>n</a:t>
                </a: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 </a:t>
                </a:r>
                <a:r>
                  <a:rPr kumimoji="0" lang="zh-CN" altLang="en-US" sz="1600" b="1" i="0" u="none" strike="noStrike" kern="0" cap="none" spc="0" normalizeH="0" baseline="0" noProof="0" dirty="0">
                    <a:ln>
                      <a:noFill/>
                    </a:ln>
                    <a:effectLst/>
                    <a:uLnTx/>
                    <a:uFillTx/>
                    <a:latin typeface="微软雅黑" pitchFamily="34" charset="-122"/>
                    <a:ea typeface="微软雅黑" pitchFamily="34" charset="-122"/>
                  </a:rPr>
                  <a:t>位</a:t>
                </a:r>
              </a:p>
            </p:txBody>
          </p:sp>
          <p:sp>
            <p:nvSpPr>
              <p:cNvPr id="23" name="Line 11"/>
              <p:cNvSpPr>
                <a:spLocks noChangeShapeType="1"/>
              </p:cNvSpPr>
              <p:nvPr/>
            </p:nvSpPr>
            <p:spPr bwMode="auto">
              <a:xfrm>
                <a:off x="5797968" y="2754289"/>
                <a:ext cx="0" cy="34294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effectLst/>
                  <a:uLnTx/>
                  <a:uFillTx/>
                  <a:latin typeface="微软雅黑" pitchFamily="34" charset="-122"/>
                  <a:ea typeface="微软雅黑" pitchFamily="34" charset="-122"/>
                </a:endParaRPr>
              </a:p>
            </p:txBody>
          </p:sp>
          <p:sp>
            <p:nvSpPr>
              <p:cNvPr id="24" name="Line 12"/>
              <p:cNvSpPr>
                <a:spLocks noChangeShapeType="1"/>
              </p:cNvSpPr>
              <p:nvPr/>
            </p:nvSpPr>
            <p:spPr bwMode="auto">
              <a:xfrm>
                <a:off x="5817821" y="2989758"/>
                <a:ext cx="1917144" cy="0"/>
              </a:xfrm>
              <a:prstGeom prst="line">
                <a:avLst/>
              </a:prstGeom>
              <a:noFill/>
              <a:ln w="1905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effectLst/>
                  <a:uLnTx/>
                  <a:uFillTx/>
                  <a:latin typeface="微软雅黑" pitchFamily="34" charset="-122"/>
                  <a:ea typeface="微软雅黑" pitchFamily="34" charset="-122"/>
                </a:endParaRPr>
              </a:p>
            </p:txBody>
          </p:sp>
          <p:sp>
            <p:nvSpPr>
              <p:cNvPr id="25" name="Text Box 13"/>
              <p:cNvSpPr txBox="1">
                <a:spLocks noChangeArrowheads="1"/>
              </p:cNvSpPr>
              <p:nvPr/>
            </p:nvSpPr>
            <p:spPr bwMode="auto">
              <a:xfrm>
                <a:off x="6275944" y="2833630"/>
                <a:ext cx="1082388" cy="265896"/>
              </a:xfrm>
              <a:prstGeom prst="rect">
                <a:avLst/>
              </a:prstGeom>
              <a:solidFill>
                <a:srgbClr val="FFFFFF"/>
              </a:solidFill>
              <a:ln w="9525" algn="ctr">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lang="en-US" altLang="zh-CN" sz="1600" b="1" i="1" kern="0" dirty="0">
                    <a:latin typeface="Times New Roman" panose="02020603050405020304" pitchFamily="18" charset="0"/>
                    <a:ea typeface="微软雅黑" pitchFamily="34" charset="-122"/>
                    <a:cs typeface="Times New Roman" panose="02020603050405020304" pitchFamily="18" charset="0"/>
                  </a:rPr>
                  <a:t>(</a:t>
                </a:r>
                <a:r>
                  <a:rPr kumimoji="0" lang="en-US" altLang="zh-CN" sz="1600" b="1" i="1" u="none" strike="noStrike" kern="0" cap="none" spc="0" normalizeH="0" baseline="0" noProof="0" dirty="0">
                    <a:ln>
                      <a:noFill/>
                    </a:ln>
                    <a:effectLst/>
                    <a:uLnTx/>
                    <a:uFillTx/>
                    <a:latin typeface="Times New Roman" panose="02020603050405020304" pitchFamily="18" charset="0"/>
                    <a:ea typeface="微软雅黑" pitchFamily="34" charset="-122"/>
                    <a:cs typeface="Times New Roman" panose="02020603050405020304" pitchFamily="18" charset="0"/>
                  </a:rPr>
                  <a:t>32-n) </a:t>
                </a:r>
                <a:r>
                  <a:rPr kumimoji="0" lang="zh-CN" altLang="en-US" sz="1600" b="1" i="0" u="none" strike="noStrike" kern="0" cap="none" spc="0" normalizeH="0" baseline="0" noProof="0" dirty="0">
                    <a:ln>
                      <a:noFill/>
                    </a:ln>
                    <a:effectLst/>
                    <a:uLnTx/>
                    <a:uFillTx/>
                    <a:latin typeface="微软雅黑" pitchFamily="34" charset="-122"/>
                    <a:ea typeface="微软雅黑" pitchFamily="34" charset="-122"/>
                  </a:rPr>
                  <a:t>位</a:t>
                </a:r>
              </a:p>
            </p:txBody>
          </p:sp>
        </p:grpSp>
      </p:grpSp>
      <p:sp>
        <p:nvSpPr>
          <p:cNvPr id="5" name="矩形 4"/>
          <p:cNvSpPr/>
          <p:nvPr/>
        </p:nvSpPr>
        <p:spPr>
          <a:xfrm>
            <a:off x="854016" y="2824768"/>
            <a:ext cx="3055240" cy="1015663"/>
          </a:xfrm>
          <a:prstGeom prst="rect">
            <a:avLst/>
          </a:prstGeom>
          <a:solidFill>
            <a:srgbClr val="FFC000"/>
          </a:solidFill>
          <a:ln>
            <a:noFill/>
          </a:ln>
        </p:spPr>
        <p:style>
          <a:lnRef idx="1">
            <a:schemeClr val="accent1"/>
          </a:lnRef>
          <a:fillRef idx="2">
            <a:schemeClr val="accent1"/>
          </a:fillRef>
          <a:effectRef idx="1">
            <a:schemeClr val="accent1"/>
          </a:effectRef>
          <a:fontRef idx="minor">
            <a:schemeClr val="dk1"/>
          </a:fontRef>
        </p:style>
        <p:txBody>
          <a:bodyPr wrap="square">
            <a:spAutoFit/>
          </a:bodyPr>
          <a:lstStyle/>
          <a:p>
            <a:pPr>
              <a:lnSpc>
                <a:spcPts val="2400"/>
              </a:lnSpc>
            </a:pPr>
            <a:r>
              <a:rPr lang="zh-CN" altLang="en-US" b="1" dirty="0">
                <a:solidFill>
                  <a:srgbClr val="000099"/>
                </a:solidFill>
                <a:latin typeface="微软雅黑" panose="020B0503020204020204" pitchFamily="34" charset="-122"/>
                <a:ea typeface="微软雅黑" panose="020B0503020204020204" pitchFamily="34" charset="-122"/>
              </a:rPr>
              <a:t>最大的区别：</a:t>
            </a:r>
            <a:endParaRPr lang="en-US" altLang="zh-CN" b="1" dirty="0">
              <a:solidFill>
                <a:srgbClr val="000099"/>
              </a:solidFill>
              <a:latin typeface="微软雅黑" panose="020B0503020204020204" pitchFamily="34" charset="-122"/>
              <a:ea typeface="微软雅黑" panose="020B0503020204020204" pitchFamily="34" charset="-122"/>
            </a:endParaRPr>
          </a:p>
          <a:p>
            <a:pPr>
              <a:lnSpc>
                <a:spcPts val="2400"/>
              </a:lnSpc>
            </a:pPr>
            <a:r>
              <a:rPr lang="zh-CN" altLang="en-US" b="1" dirty="0">
                <a:solidFill>
                  <a:srgbClr val="000099"/>
                </a:solidFill>
                <a:latin typeface="微软雅黑" panose="020B0503020204020204" pitchFamily="34" charset="-122"/>
                <a:ea typeface="微软雅黑" panose="020B0503020204020204" pitchFamily="34" charset="-122"/>
              </a:rPr>
              <a:t>前缀的位数 </a:t>
            </a:r>
            <a:r>
              <a:rPr lang="en-US" altLang="zh-CN" b="1" i="1" dirty="0">
                <a:solidFill>
                  <a:srgbClr val="C00000"/>
                </a:solidFill>
                <a:latin typeface="Times New Roman" panose="02020603050405020304" pitchFamily="18" charset="0"/>
                <a:ea typeface="微软雅黑" panose="020B0503020204020204" pitchFamily="34" charset="-122"/>
                <a:cs typeface="Times New Roman" panose="02020603050405020304" pitchFamily="18" charset="0"/>
              </a:rPr>
              <a:t>n</a:t>
            </a:r>
            <a:r>
              <a:rPr lang="en-US" altLang="zh-CN" b="1" dirty="0">
                <a:solidFill>
                  <a:srgbClr val="C00000"/>
                </a:solidFill>
                <a:latin typeface="微软雅黑" panose="020B0503020204020204" pitchFamily="34" charset="-122"/>
                <a:ea typeface="微软雅黑" panose="020B0503020204020204" pitchFamily="34" charset="-122"/>
              </a:rPr>
              <a:t> </a:t>
            </a:r>
            <a:r>
              <a:rPr lang="zh-CN" altLang="en-US" b="1" dirty="0">
                <a:solidFill>
                  <a:srgbClr val="C00000"/>
                </a:solidFill>
                <a:latin typeface="微软雅黑" panose="020B0503020204020204" pitchFamily="34" charset="-122"/>
                <a:ea typeface="微软雅黑" panose="020B0503020204020204" pitchFamily="34" charset="-122"/>
              </a:rPr>
              <a:t>不固定，</a:t>
            </a:r>
            <a:r>
              <a:rPr lang="zh-CN" altLang="en-US" b="1" dirty="0">
                <a:solidFill>
                  <a:srgbClr val="000099"/>
                </a:solidFill>
                <a:latin typeface="微软雅黑" panose="020B0503020204020204" pitchFamily="34" charset="-122"/>
                <a:ea typeface="微软雅黑" panose="020B0503020204020204" pitchFamily="34" charset="-122"/>
              </a:rPr>
              <a:t>可以在 </a:t>
            </a:r>
            <a:r>
              <a:rPr lang="en-US" altLang="zh-CN" b="1" dirty="0">
                <a:solidFill>
                  <a:srgbClr val="000099"/>
                </a:solidFill>
                <a:latin typeface="微软雅黑" panose="020B0503020204020204" pitchFamily="34" charset="-122"/>
                <a:ea typeface="微软雅黑" panose="020B0503020204020204" pitchFamily="34" charset="-122"/>
              </a:rPr>
              <a:t>0 ~</a:t>
            </a:r>
            <a:r>
              <a:rPr lang="zh-CN" altLang="en-US" b="1" dirty="0">
                <a:solidFill>
                  <a:srgbClr val="000099"/>
                </a:solidFill>
                <a:latin typeface="微软雅黑" panose="020B0503020204020204" pitchFamily="34" charset="-122"/>
                <a:ea typeface="微软雅黑" panose="020B0503020204020204" pitchFamily="34" charset="-122"/>
              </a:rPr>
              <a:t> </a:t>
            </a:r>
            <a:r>
              <a:rPr lang="en-US" altLang="zh-CN" b="1" dirty="0">
                <a:solidFill>
                  <a:srgbClr val="000099"/>
                </a:solidFill>
                <a:latin typeface="微软雅黑" panose="020B0503020204020204" pitchFamily="34" charset="-122"/>
                <a:ea typeface="微软雅黑" panose="020B0503020204020204" pitchFamily="34" charset="-122"/>
              </a:rPr>
              <a:t>32 </a:t>
            </a:r>
            <a:r>
              <a:rPr lang="zh-CN" altLang="en-US" b="1" dirty="0">
                <a:solidFill>
                  <a:srgbClr val="000099"/>
                </a:solidFill>
                <a:latin typeface="微软雅黑" panose="020B0503020204020204" pitchFamily="34" charset="-122"/>
                <a:ea typeface="微软雅黑" panose="020B0503020204020204" pitchFamily="34" charset="-122"/>
              </a:rPr>
              <a:t>之间选取任意值。</a:t>
            </a:r>
          </a:p>
        </p:txBody>
      </p:sp>
      <p:sp>
        <p:nvSpPr>
          <p:cNvPr id="8" name="矩形 7"/>
          <p:cNvSpPr/>
          <p:nvPr/>
        </p:nvSpPr>
        <p:spPr>
          <a:xfrm>
            <a:off x="4091021" y="3253572"/>
            <a:ext cx="4776927" cy="1015663"/>
          </a:xfrm>
          <a:prstGeom prst="rect">
            <a:avLst/>
          </a:prstGeom>
          <a:solidFill>
            <a:schemeClr val="accent5">
              <a:lumMod val="40000"/>
              <a:lumOff val="60000"/>
            </a:schemeClr>
          </a:solidFill>
        </p:spPr>
        <p:txBody>
          <a:bodyPr wrap="square">
            <a:spAutoFit/>
          </a:bodyPr>
          <a:lstStyle/>
          <a:p>
            <a:pPr>
              <a:lnSpc>
                <a:spcPts val="2400"/>
              </a:lnSpc>
            </a:pPr>
            <a:r>
              <a:rPr lang="en-US" altLang="zh-CN" sz="1600" b="1" dirty="0">
                <a:solidFill>
                  <a:srgbClr val="0000FF"/>
                </a:solidFill>
                <a:highlight>
                  <a:srgbClr val="FFFF00"/>
                </a:highlight>
                <a:latin typeface="微软雅黑" panose="020B0503020204020204" pitchFamily="34" charset="-122"/>
                <a:ea typeface="微软雅黑" panose="020B0503020204020204" pitchFamily="34" charset="-122"/>
              </a:rPr>
              <a:t>CIDR </a:t>
            </a:r>
            <a:r>
              <a:rPr lang="zh-CN" altLang="en-US" sz="1600" b="1" dirty="0">
                <a:solidFill>
                  <a:srgbClr val="0000FF"/>
                </a:solidFill>
                <a:highlight>
                  <a:srgbClr val="FFFF00"/>
                </a:highlight>
                <a:latin typeface="微软雅黑" panose="020B0503020204020204" pitchFamily="34" charset="-122"/>
                <a:ea typeface="微软雅黑" panose="020B0503020204020204" pitchFamily="34" charset="-122"/>
              </a:rPr>
              <a:t>记法：</a:t>
            </a:r>
            <a:r>
              <a:rPr lang="zh-CN" altLang="en-US" sz="1600" b="1" dirty="0">
                <a:solidFill>
                  <a:srgbClr val="C00000"/>
                </a:solidFill>
                <a:highlight>
                  <a:srgbClr val="FFFF00"/>
                </a:highlight>
                <a:latin typeface="微软雅黑" panose="020B0503020204020204" pitchFamily="34" charset="-122"/>
                <a:ea typeface="微软雅黑" panose="020B0503020204020204" pitchFamily="34" charset="-122"/>
              </a:rPr>
              <a:t>斜线记法</a:t>
            </a:r>
            <a:r>
              <a:rPr lang="zh-CN" altLang="en-US" sz="1600" b="1" dirty="0">
                <a:highlight>
                  <a:srgbClr val="FFFF00"/>
                </a:highlight>
                <a:latin typeface="微软雅黑" panose="020B0503020204020204" pitchFamily="34" charset="-122"/>
                <a:ea typeface="微软雅黑" panose="020B0503020204020204" pitchFamily="34" charset="-122"/>
              </a:rPr>
              <a:t> </a:t>
            </a:r>
            <a:r>
              <a:rPr lang="en-US" altLang="zh-CN" sz="1600" b="1" dirty="0">
                <a:highlight>
                  <a:srgbClr val="FFFF00"/>
                </a:highlight>
                <a:latin typeface="微软雅黑" panose="020B0503020204020204" pitchFamily="34" charset="-122"/>
                <a:ea typeface="微软雅黑" panose="020B0503020204020204" pitchFamily="34" charset="-122"/>
              </a:rPr>
              <a:t>(slash notation)</a:t>
            </a:r>
          </a:p>
          <a:p>
            <a:pPr>
              <a:lnSpc>
                <a:spcPts val="2400"/>
              </a:lnSpc>
            </a:pPr>
            <a:r>
              <a:rPr lang="en-US" altLang="zh-CN" sz="1600" b="1" dirty="0" err="1">
                <a:highlight>
                  <a:srgbClr val="FFFF00"/>
                </a:highlight>
                <a:latin typeface="微软雅黑" panose="020B0503020204020204" pitchFamily="34" charset="-122"/>
                <a:ea typeface="微软雅黑" panose="020B0503020204020204" pitchFamily="34" charset="-122"/>
              </a:rPr>
              <a:t>a.b.c.d</a:t>
            </a:r>
            <a:r>
              <a:rPr lang="en-US" altLang="zh-CN" sz="1600" b="1" dirty="0">
                <a:highlight>
                  <a:srgbClr val="FFFF00"/>
                </a:highlight>
                <a:latin typeface="微软雅黑" panose="020B0503020204020204" pitchFamily="34" charset="-122"/>
                <a:ea typeface="微软雅黑" panose="020B0503020204020204" pitchFamily="34" charset="-122"/>
              </a:rPr>
              <a:t> </a:t>
            </a:r>
            <a:r>
              <a:rPr lang="en-US" altLang="zh-CN" sz="1600" b="1" dirty="0">
                <a:solidFill>
                  <a:srgbClr val="C00000"/>
                </a:solidFill>
                <a:highlight>
                  <a:srgbClr val="FFFF00"/>
                </a:highlight>
                <a:latin typeface="微软雅黑" panose="020B0503020204020204" pitchFamily="34" charset="-122"/>
                <a:ea typeface="微软雅黑" panose="020B0503020204020204" pitchFamily="34" charset="-122"/>
              </a:rPr>
              <a:t>/ n</a:t>
            </a:r>
            <a:r>
              <a:rPr lang="zh-CN" altLang="en-US" sz="1600" b="1" dirty="0">
                <a:highlight>
                  <a:srgbClr val="FFFF00"/>
                </a:highlight>
                <a:latin typeface="微软雅黑" panose="020B0503020204020204" pitchFamily="34" charset="-122"/>
                <a:ea typeface="微软雅黑" panose="020B0503020204020204" pitchFamily="34" charset="-122"/>
              </a:rPr>
              <a:t>：二进制 </a:t>
            </a:r>
            <a:r>
              <a:rPr lang="en-US" altLang="zh-CN" sz="1600" b="1" dirty="0">
                <a:highlight>
                  <a:srgbClr val="FFFF00"/>
                </a:highlight>
                <a:latin typeface="微软雅黑" panose="020B0503020204020204" pitchFamily="34" charset="-122"/>
                <a:ea typeface="微软雅黑" panose="020B0503020204020204" pitchFamily="34" charset="-122"/>
              </a:rPr>
              <a:t>IP </a:t>
            </a:r>
            <a:r>
              <a:rPr lang="zh-CN" altLang="en-US" sz="1600" b="1" dirty="0">
                <a:highlight>
                  <a:srgbClr val="FFFF00"/>
                </a:highlight>
                <a:latin typeface="微软雅黑" panose="020B0503020204020204" pitchFamily="34" charset="-122"/>
                <a:ea typeface="微软雅黑" panose="020B0503020204020204" pitchFamily="34" charset="-122"/>
              </a:rPr>
              <a:t>地址的</a:t>
            </a:r>
            <a:r>
              <a:rPr lang="zh-CN" altLang="en-US" sz="1600" b="1" dirty="0">
                <a:solidFill>
                  <a:srgbClr val="C00000"/>
                </a:solidFill>
                <a:highlight>
                  <a:srgbClr val="FFFF00"/>
                </a:highlight>
                <a:latin typeface="微软雅黑" panose="020B0503020204020204" pitchFamily="34" charset="-122"/>
                <a:ea typeface="微软雅黑" panose="020B0503020204020204" pitchFamily="34" charset="-122"/>
              </a:rPr>
              <a:t>前 </a:t>
            </a:r>
            <a:r>
              <a:rPr lang="en-US" altLang="zh-CN" sz="1600" b="1" dirty="0">
                <a:solidFill>
                  <a:srgbClr val="C00000"/>
                </a:solidFill>
                <a:highlight>
                  <a:srgbClr val="FFFF00"/>
                </a:highlight>
                <a:latin typeface="微软雅黑" panose="020B0503020204020204" pitchFamily="34" charset="-122"/>
                <a:ea typeface="微软雅黑" panose="020B0503020204020204" pitchFamily="34" charset="-122"/>
              </a:rPr>
              <a:t>n </a:t>
            </a:r>
            <a:r>
              <a:rPr lang="zh-CN" altLang="en-US" sz="1600" b="1" dirty="0">
                <a:solidFill>
                  <a:srgbClr val="C00000"/>
                </a:solidFill>
                <a:highlight>
                  <a:srgbClr val="FFFF00"/>
                </a:highlight>
                <a:latin typeface="微软雅黑" panose="020B0503020204020204" pitchFamily="34" charset="-122"/>
                <a:ea typeface="微软雅黑" panose="020B0503020204020204" pitchFamily="34" charset="-122"/>
              </a:rPr>
              <a:t>位是网络前缀。</a:t>
            </a:r>
            <a:endParaRPr lang="en-US" altLang="zh-CN" sz="1600" b="1" dirty="0">
              <a:solidFill>
                <a:srgbClr val="C00000"/>
              </a:solidFill>
              <a:highlight>
                <a:srgbClr val="FFFF00"/>
              </a:highlight>
              <a:latin typeface="微软雅黑" panose="020B0503020204020204" pitchFamily="34" charset="-122"/>
              <a:ea typeface="微软雅黑" panose="020B0503020204020204" pitchFamily="34" charset="-122"/>
            </a:endParaRPr>
          </a:p>
          <a:p>
            <a:pPr>
              <a:lnSpc>
                <a:spcPts val="2400"/>
              </a:lnSpc>
            </a:pPr>
            <a:r>
              <a:rPr lang="zh-CN" altLang="en-US" sz="1600" b="1" dirty="0">
                <a:highlight>
                  <a:srgbClr val="FFFF00"/>
                </a:highlight>
                <a:latin typeface="微软雅黑" panose="020B0503020204020204" pitchFamily="34" charset="-122"/>
                <a:ea typeface="微软雅黑" panose="020B0503020204020204" pitchFamily="34" charset="-122"/>
              </a:rPr>
              <a:t>例如：</a:t>
            </a:r>
            <a:r>
              <a:rPr lang="en-US" altLang="zh-CN" sz="1600" b="1" dirty="0">
                <a:highlight>
                  <a:srgbClr val="FFFF00"/>
                </a:highlight>
                <a:latin typeface="微软雅黑" panose="020B0503020204020204" pitchFamily="34" charset="-122"/>
                <a:ea typeface="微软雅黑" panose="020B0503020204020204" pitchFamily="34" charset="-122"/>
              </a:rPr>
              <a:t>128.14.35.7</a:t>
            </a:r>
            <a:r>
              <a:rPr lang="en-US" altLang="zh-CN" sz="1600" b="1" dirty="0">
                <a:solidFill>
                  <a:srgbClr val="C00000"/>
                </a:solidFill>
                <a:highlight>
                  <a:srgbClr val="FFFF00"/>
                </a:highlight>
                <a:latin typeface="微软雅黑" panose="020B0503020204020204" pitchFamily="34" charset="-122"/>
                <a:ea typeface="微软雅黑" panose="020B0503020204020204" pitchFamily="34" charset="-122"/>
              </a:rPr>
              <a:t>/20</a:t>
            </a:r>
            <a:r>
              <a:rPr lang="zh-CN" altLang="en-US" sz="1600" b="1" dirty="0">
                <a:highlight>
                  <a:srgbClr val="FFFF00"/>
                </a:highlight>
                <a:latin typeface="微软雅黑" panose="020B0503020204020204" pitchFamily="34" charset="-122"/>
                <a:ea typeface="微软雅黑" panose="020B0503020204020204" pitchFamily="34" charset="-122"/>
              </a:rPr>
              <a:t>：前 </a:t>
            </a:r>
            <a:r>
              <a:rPr lang="en-US" altLang="zh-CN" sz="1600" b="1" dirty="0">
                <a:highlight>
                  <a:srgbClr val="FFFF00"/>
                </a:highlight>
                <a:latin typeface="微软雅黑" panose="020B0503020204020204" pitchFamily="34" charset="-122"/>
                <a:ea typeface="微软雅黑" panose="020B0503020204020204" pitchFamily="34" charset="-122"/>
              </a:rPr>
              <a:t>20 </a:t>
            </a:r>
            <a:r>
              <a:rPr lang="zh-CN" altLang="en-US" sz="1600" b="1" dirty="0">
                <a:highlight>
                  <a:srgbClr val="FFFF00"/>
                </a:highlight>
                <a:latin typeface="微软雅黑" panose="020B0503020204020204" pitchFamily="34" charset="-122"/>
                <a:ea typeface="微软雅黑" panose="020B0503020204020204" pitchFamily="34" charset="-122"/>
              </a:rPr>
              <a:t>位是网络前缀</a:t>
            </a:r>
            <a:r>
              <a:rPr lang="zh-CN" altLang="en-US" sz="1600" b="1" dirty="0">
                <a:latin typeface="微软雅黑" panose="020B0503020204020204" pitchFamily="34" charset="-122"/>
                <a:ea typeface="微软雅黑" panose="020B0503020204020204" pitchFamily="34" charset="-122"/>
              </a:rPr>
              <a:t>。</a:t>
            </a:r>
            <a:endParaRPr lang="en-US" altLang="zh-CN" sz="1600" b="1"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41099690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fade">
                                      <p:cBhvr>
                                        <p:cTn id="7" dur="1000"/>
                                        <p:tgtEl>
                                          <p:spTgt spid="2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repeatCount="400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10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8"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887093" y="581433"/>
            <a:ext cx="138852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地址块</a:t>
            </a:r>
          </a:p>
        </p:txBody>
      </p:sp>
      <p:sp>
        <p:nvSpPr>
          <p:cNvPr id="5" name="Rectangle 68"/>
          <p:cNvSpPr>
            <a:spLocks noChangeArrowheads="1"/>
          </p:cNvSpPr>
          <p:nvPr/>
        </p:nvSpPr>
        <p:spPr bwMode="auto">
          <a:xfrm>
            <a:off x="556962" y="978646"/>
            <a:ext cx="8293739" cy="7756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2600"/>
              </a:lnSpc>
              <a:buClr>
                <a:srgbClr val="0070C0"/>
              </a:buClr>
              <a:buFont typeface="Wingdings" pitchFamily="2" charset="2"/>
              <a:buChar char="l"/>
            </a:pPr>
            <a:r>
              <a:rPr lang="en-US" altLang="zh-CN" b="1" dirty="0">
                <a:latin typeface="微软雅黑" pitchFamily="34" charset="-122"/>
                <a:ea typeface="微软雅黑" pitchFamily="34" charset="-122"/>
              </a:rPr>
              <a:t>CIDR </a:t>
            </a:r>
            <a:r>
              <a:rPr lang="zh-CN" altLang="en-US" b="1" dirty="0">
                <a:latin typeface="微软雅黑" pitchFamily="34" charset="-122"/>
                <a:ea typeface="微软雅黑" pitchFamily="34" charset="-122"/>
              </a:rPr>
              <a:t>把</a:t>
            </a:r>
            <a:r>
              <a:rPr lang="zh-CN" altLang="en-US" b="1" dirty="0">
                <a:solidFill>
                  <a:srgbClr val="C00000"/>
                </a:solidFill>
                <a:latin typeface="微软雅黑" pitchFamily="34" charset="-122"/>
                <a:ea typeface="微软雅黑" pitchFamily="34" charset="-122"/>
              </a:rPr>
              <a:t>网络前缀都相同的所有连续的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地址组成一个 </a:t>
            </a:r>
            <a:r>
              <a:rPr lang="en-US" altLang="zh-CN" b="1" dirty="0">
                <a:latin typeface="微软雅黑" pitchFamily="34" charset="-122"/>
                <a:ea typeface="微软雅黑" pitchFamily="34" charset="-122"/>
              </a:rPr>
              <a:t>CIDR </a:t>
            </a:r>
            <a:r>
              <a:rPr lang="zh-CN" altLang="en-US" b="1" dirty="0">
                <a:latin typeface="微软雅黑" pitchFamily="34" charset="-122"/>
                <a:ea typeface="微软雅黑" pitchFamily="34" charset="-122"/>
              </a:rPr>
              <a:t>地址块。</a:t>
            </a:r>
            <a:endParaRPr lang="en-US" altLang="zh-CN" b="1" dirty="0">
              <a:latin typeface="微软雅黑" pitchFamily="34" charset="-122"/>
              <a:ea typeface="微软雅黑" pitchFamily="34" charset="-122"/>
            </a:endParaRPr>
          </a:p>
          <a:p>
            <a:pPr marL="268288" indent="-268288">
              <a:lnSpc>
                <a:spcPts val="2600"/>
              </a:lnSpc>
              <a:buClr>
                <a:srgbClr val="0070C0"/>
              </a:buClr>
              <a:buFont typeface="Wingdings" pitchFamily="2" charset="2"/>
              <a:buChar char="l"/>
            </a:pPr>
            <a:r>
              <a:rPr lang="zh-CN" altLang="en-US" b="1" dirty="0">
                <a:latin typeface="微软雅黑" pitchFamily="34" charset="-122"/>
                <a:ea typeface="微软雅黑" pitchFamily="34" charset="-122"/>
              </a:rPr>
              <a:t>一个 </a:t>
            </a:r>
            <a:r>
              <a:rPr lang="en-US" altLang="zh-CN" b="1" dirty="0">
                <a:latin typeface="微软雅黑" pitchFamily="34" charset="-122"/>
                <a:ea typeface="微软雅黑" pitchFamily="34" charset="-122"/>
              </a:rPr>
              <a:t>CIDR </a:t>
            </a:r>
            <a:r>
              <a:rPr lang="zh-CN" altLang="en-US" b="1" dirty="0">
                <a:latin typeface="微软雅黑" pitchFamily="34" charset="-122"/>
                <a:ea typeface="微软雅黑" pitchFamily="34" charset="-122"/>
              </a:rPr>
              <a:t>地址块包含的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地址数目，取决于网络前缀的位数。</a:t>
            </a:r>
          </a:p>
        </p:txBody>
      </p:sp>
      <p:sp>
        <p:nvSpPr>
          <p:cNvPr id="7" name="圆角矩形 6"/>
          <p:cNvSpPr/>
          <p:nvPr/>
        </p:nvSpPr>
        <p:spPr>
          <a:xfrm>
            <a:off x="1062404" y="1699402"/>
            <a:ext cx="6968787" cy="3045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dirty="0"/>
          </a:p>
        </p:txBody>
      </p:sp>
      <p:sp>
        <p:nvSpPr>
          <p:cNvPr id="8" name="Text Box 155"/>
          <p:cNvSpPr txBox="1">
            <a:spLocks noChangeArrowheads="1"/>
          </p:cNvSpPr>
          <p:nvPr/>
        </p:nvSpPr>
        <p:spPr bwMode="auto">
          <a:xfrm>
            <a:off x="2257992" y="1656145"/>
            <a:ext cx="5019442" cy="344325"/>
          </a:xfrm>
          <a:prstGeom prst="rect">
            <a:avLst/>
          </a:prstGeom>
          <a:noFill/>
          <a:ln w="12700">
            <a:noFill/>
            <a:miter lim="800000"/>
            <a:headEnd/>
            <a:tailEnd/>
          </a:ln>
          <a:effectLst/>
        </p:spPr>
        <p:txBody>
          <a:bodyPr wrap="square">
            <a:spAutoFit/>
          </a:bodyPr>
          <a:lstStyle/>
          <a:p>
            <a:pPr algn="ctr">
              <a:lnSpc>
                <a:spcPct val="110000"/>
              </a:lnSpc>
            </a:pPr>
            <a:r>
              <a:rPr lang="en-US" altLang="zh-CN" sz="1600" b="1" dirty="0">
                <a:solidFill>
                  <a:srgbClr val="000099"/>
                </a:solidFill>
                <a:highlight>
                  <a:srgbClr val="FFFF00"/>
                </a:highlight>
                <a:latin typeface="微软雅黑" pitchFamily="34" charset="-122"/>
                <a:ea typeface="微软雅黑" pitchFamily="34" charset="-122"/>
              </a:rPr>
              <a:t>128.14.32.0/20 </a:t>
            </a:r>
            <a:r>
              <a:rPr lang="zh-CN" altLang="en-US" sz="1600" b="1" dirty="0">
                <a:solidFill>
                  <a:srgbClr val="000099"/>
                </a:solidFill>
                <a:highlight>
                  <a:srgbClr val="FFFF00"/>
                </a:highlight>
                <a:latin typeface="微软雅黑" pitchFamily="34" charset="-122"/>
                <a:ea typeface="微软雅黑" pitchFamily="34" charset="-122"/>
              </a:rPr>
              <a:t>组成的地址块（共 </a:t>
            </a:r>
            <a:r>
              <a:rPr lang="en-US" altLang="zh-CN" sz="1600" b="1" dirty="0">
                <a:solidFill>
                  <a:srgbClr val="000099"/>
                </a:solidFill>
                <a:highlight>
                  <a:srgbClr val="FFFF00"/>
                </a:highlight>
                <a:latin typeface="微软雅黑" pitchFamily="34" charset="-122"/>
                <a:ea typeface="微软雅黑" pitchFamily="34" charset="-122"/>
              </a:rPr>
              <a:t>2</a:t>
            </a:r>
            <a:r>
              <a:rPr lang="en-US" altLang="zh-CN" sz="1600" b="1" baseline="30000" dirty="0">
                <a:solidFill>
                  <a:srgbClr val="000099"/>
                </a:solidFill>
                <a:highlight>
                  <a:srgbClr val="FFFF00"/>
                </a:highlight>
                <a:latin typeface="微软雅黑" pitchFamily="34" charset="-122"/>
                <a:ea typeface="微软雅黑" pitchFamily="34" charset="-122"/>
              </a:rPr>
              <a:t>12 </a:t>
            </a:r>
            <a:r>
              <a:rPr lang="zh-CN" altLang="en-US" sz="1600" b="1" dirty="0">
                <a:solidFill>
                  <a:srgbClr val="000099"/>
                </a:solidFill>
                <a:highlight>
                  <a:srgbClr val="FFFF00"/>
                </a:highlight>
                <a:latin typeface="微软雅黑" pitchFamily="34" charset="-122"/>
                <a:ea typeface="微软雅黑" pitchFamily="34" charset="-122"/>
              </a:rPr>
              <a:t>个地址）</a:t>
            </a:r>
          </a:p>
        </p:txBody>
      </p:sp>
      <p:sp>
        <p:nvSpPr>
          <p:cNvPr id="9" name="Text Box 3"/>
          <p:cNvSpPr txBox="1">
            <a:spLocks noChangeArrowheads="1"/>
          </p:cNvSpPr>
          <p:nvPr/>
        </p:nvSpPr>
        <p:spPr bwMode="auto">
          <a:xfrm>
            <a:off x="2972430" y="1990879"/>
            <a:ext cx="3418529" cy="2492990"/>
          </a:xfrm>
          <a:prstGeom prst="rect">
            <a:avLst/>
          </a:prstGeom>
          <a:solidFill>
            <a:schemeClr val="bg1"/>
          </a:solidFill>
          <a:ln w="9525">
            <a:solidFill>
              <a:schemeClr val="tx2"/>
            </a:solidFill>
            <a:miter lim="800000"/>
            <a:headEnd/>
            <a:tailEnd/>
          </a:ln>
          <a:effectLst/>
        </p:spPr>
        <p:txBody>
          <a:bodyPr wrap="square">
            <a:spAutoFit/>
          </a:bodyPr>
          <a:lstStyle/>
          <a:p>
            <a:r>
              <a:rPr kumimoji="0"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00</a:t>
            </a:r>
            <a:r>
              <a:rPr kumimoji="0" lang="en-US" altLang="zh-CN" sz="1200" b="1" dirty="0">
                <a:solidFill>
                  <a:srgbClr val="0000CC"/>
                </a:solidFill>
                <a:latin typeface="微软雅黑" pitchFamily="34" charset="-122"/>
                <a:ea typeface="微软雅黑" pitchFamily="34" charset="-122"/>
              </a:rPr>
              <a:t>00 00000000</a:t>
            </a:r>
          </a:p>
          <a:p>
            <a:r>
              <a:rPr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00</a:t>
            </a:r>
            <a:r>
              <a:rPr kumimoji="0" lang="en-US" altLang="zh-CN" sz="1200" b="1" dirty="0">
                <a:solidFill>
                  <a:srgbClr val="0000CC"/>
                </a:solidFill>
                <a:latin typeface="微软雅黑" pitchFamily="34" charset="-122"/>
                <a:ea typeface="微软雅黑" pitchFamily="34" charset="-122"/>
              </a:rPr>
              <a:t>00 00000001</a:t>
            </a:r>
          </a:p>
          <a:p>
            <a:r>
              <a:rPr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00</a:t>
            </a:r>
            <a:r>
              <a:rPr kumimoji="0" lang="en-US" altLang="zh-CN" sz="1200" b="1" dirty="0">
                <a:solidFill>
                  <a:srgbClr val="0000CC"/>
                </a:solidFill>
                <a:latin typeface="微软雅黑" pitchFamily="34" charset="-122"/>
                <a:ea typeface="微软雅黑" pitchFamily="34" charset="-122"/>
              </a:rPr>
              <a:t>00 00000010</a:t>
            </a:r>
          </a:p>
          <a:p>
            <a:r>
              <a:rPr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00</a:t>
            </a:r>
            <a:r>
              <a:rPr kumimoji="0" lang="en-US" altLang="zh-CN" sz="1200" b="1" dirty="0">
                <a:solidFill>
                  <a:srgbClr val="0000CC"/>
                </a:solidFill>
                <a:latin typeface="微软雅黑" pitchFamily="34" charset="-122"/>
                <a:ea typeface="微软雅黑" pitchFamily="34" charset="-122"/>
              </a:rPr>
              <a:t>00 00000011</a:t>
            </a:r>
          </a:p>
          <a:p>
            <a:r>
              <a:rPr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00</a:t>
            </a:r>
            <a:r>
              <a:rPr kumimoji="0" lang="en-US" altLang="zh-CN" sz="1200" b="1" dirty="0">
                <a:solidFill>
                  <a:srgbClr val="0000CC"/>
                </a:solidFill>
                <a:latin typeface="微软雅黑" pitchFamily="34" charset="-122"/>
                <a:ea typeface="微软雅黑" pitchFamily="34" charset="-122"/>
              </a:rPr>
              <a:t>00 00000100</a:t>
            </a:r>
          </a:p>
          <a:p>
            <a:r>
              <a:rPr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00</a:t>
            </a:r>
            <a:r>
              <a:rPr kumimoji="0" lang="en-US" altLang="zh-CN" sz="1200" b="1" dirty="0">
                <a:solidFill>
                  <a:srgbClr val="0000CC"/>
                </a:solidFill>
                <a:latin typeface="微软雅黑" pitchFamily="34" charset="-122"/>
                <a:ea typeface="微软雅黑" pitchFamily="34" charset="-122"/>
              </a:rPr>
              <a:t>00 00000101</a:t>
            </a:r>
          </a:p>
          <a:p>
            <a:endParaRPr kumimoji="0" lang="en-US" altLang="zh-CN" sz="1200" b="1" dirty="0">
              <a:solidFill>
                <a:srgbClr val="0000CC"/>
              </a:solidFill>
              <a:latin typeface="微软雅黑" pitchFamily="34" charset="-122"/>
              <a:ea typeface="微软雅黑" pitchFamily="34" charset="-122"/>
            </a:endParaRPr>
          </a:p>
          <a:p>
            <a:endParaRPr kumimoji="0" lang="en-US" altLang="zh-CN" sz="1200" b="1" dirty="0">
              <a:solidFill>
                <a:srgbClr val="0000CC"/>
              </a:solidFill>
              <a:latin typeface="微软雅黑" pitchFamily="34" charset="-122"/>
              <a:ea typeface="微软雅黑" pitchFamily="34" charset="-122"/>
            </a:endParaRPr>
          </a:p>
          <a:p>
            <a:r>
              <a:rPr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11</a:t>
            </a:r>
            <a:r>
              <a:rPr kumimoji="0" lang="en-US" altLang="zh-CN" sz="1200" b="1" dirty="0">
                <a:solidFill>
                  <a:srgbClr val="0000CC"/>
                </a:solidFill>
                <a:latin typeface="微软雅黑" pitchFamily="34" charset="-122"/>
                <a:ea typeface="微软雅黑" pitchFamily="34" charset="-122"/>
              </a:rPr>
              <a:t>11 11111011</a:t>
            </a:r>
          </a:p>
          <a:p>
            <a:r>
              <a:rPr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11</a:t>
            </a:r>
            <a:r>
              <a:rPr kumimoji="0" lang="en-US" altLang="zh-CN" sz="1200" b="1" dirty="0">
                <a:solidFill>
                  <a:srgbClr val="0000CC"/>
                </a:solidFill>
                <a:latin typeface="微软雅黑" pitchFamily="34" charset="-122"/>
                <a:ea typeface="微软雅黑" pitchFamily="34" charset="-122"/>
              </a:rPr>
              <a:t>11 11111100</a:t>
            </a:r>
          </a:p>
          <a:p>
            <a:r>
              <a:rPr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11</a:t>
            </a:r>
            <a:r>
              <a:rPr kumimoji="0" lang="en-US" altLang="zh-CN" sz="1200" b="1" dirty="0">
                <a:solidFill>
                  <a:srgbClr val="0000CC"/>
                </a:solidFill>
                <a:latin typeface="微软雅黑" pitchFamily="34" charset="-122"/>
                <a:ea typeface="微软雅黑" pitchFamily="34" charset="-122"/>
              </a:rPr>
              <a:t>11 11111101</a:t>
            </a:r>
          </a:p>
          <a:p>
            <a:r>
              <a:rPr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11</a:t>
            </a:r>
            <a:r>
              <a:rPr kumimoji="0" lang="en-US" altLang="zh-CN" sz="1200" b="1" dirty="0">
                <a:solidFill>
                  <a:srgbClr val="0000CC"/>
                </a:solidFill>
                <a:latin typeface="微软雅黑" pitchFamily="34" charset="-122"/>
                <a:ea typeface="微软雅黑" pitchFamily="34" charset="-122"/>
              </a:rPr>
              <a:t>11 11111110</a:t>
            </a:r>
          </a:p>
          <a:p>
            <a:r>
              <a:rPr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11</a:t>
            </a:r>
            <a:r>
              <a:rPr kumimoji="0" lang="en-US" altLang="zh-CN" sz="1200" b="1" dirty="0">
                <a:solidFill>
                  <a:srgbClr val="0000CC"/>
                </a:solidFill>
                <a:latin typeface="微软雅黑" pitchFamily="34" charset="-122"/>
                <a:ea typeface="微软雅黑" pitchFamily="34" charset="-122"/>
              </a:rPr>
              <a:t>11 11111111</a:t>
            </a:r>
          </a:p>
        </p:txBody>
      </p:sp>
      <p:sp>
        <p:nvSpPr>
          <p:cNvPr id="10" name="Text Box 4"/>
          <p:cNvSpPr txBox="1">
            <a:spLocks noChangeArrowheads="1"/>
          </p:cNvSpPr>
          <p:nvPr/>
        </p:nvSpPr>
        <p:spPr bwMode="auto">
          <a:xfrm>
            <a:off x="5684430" y="3168536"/>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en-US" altLang="zh-CN" sz="2000">
                <a:solidFill>
                  <a:srgbClr val="0000CC"/>
                </a:solidFill>
                <a:latin typeface="微软雅黑" pitchFamily="34" charset="-122"/>
                <a:ea typeface="微软雅黑" pitchFamily="34" charset="-122"/>
                <a:sym typeface="Symbol" pitchFamily="18" charset="2"/>
              </a:rPr>
              <a:t></a:t>
            </a:r>
          </a:p>
        </p:txBody>
      </p:sp>
      <p:sp>
        <p:nvSpPr>
          <p:cNvPr id="11" name="Text Box 5"/>
          <p:cNvSpPr txBox="1">
            <a:spLocks noChangeArrowheads="1"/>
          </p:cNvSpPr>
          <p:nvPr/>
        </p:nvSpPr>
        <p:spPr bwMode="auto">
          <a:xfrm>
            <a:off x="3918098" y="3168536"/>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en-US" altLang="zh-CN" sz="2000" dirty="0">
                <a:solidFill>
                  <a:srgbClr val="0000CC"/>
                </a:solidFill>
                <a:latin typeface="微软雅黑" pitchFamily="34" charset="-122"/>
                <a:ea typeface="微软雅黑" pitchFamily="34" charset="-122"/>
                <a:sym typeface="Symbol" pitchFamily="18" charset="2"/>
              </a:rPr>
              <a:t></a:t>
            </a:r>
          </a:p>
        </p:txBody>
      </p:sp>
      <p:sp>
        <p:nvSpPr>
          <p:cNvPr id="12" name="Rectangle 6"/>
          <p:cNvSpPr>
            <a:spLocks noChangeArrowheads="1"/>
          </p:cNvSpPr>
          <p:nvPr/>
        </p:nvSpPr>
        <p:spPr bwMode="auto">
          <a:xfrm>
            <a:off x="2985535" y="1984548"/>
            <a:ext cx="2048746" cy="2499322"/>
          </a:xfrm>
          <a:prstGeom prst="rect">
            <a:avLst/>
          </a:prstGeom>
          <a:noFill/>
          <a:ln w="38100">
            <a:solidFill>
              <a:srgbClr val="CC00CC">
                <a:alpha val="50000"/>
              </a:srgb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a:latin typeface="微软雅黑" pitchFamily="34" charset="-122"/>
              <a:ea typeface="微软雅黑" pitchFamily="34" charset="-122"/>
            </a:endParaRPr>
          </a:p>
        </p:txBody>
      </p:sp>
      <p:sp>
        <p:nvSpPr>
          <p:cNvPr id="13" name="Text Box 7"/>
          <p:cNvSpPr txBox="1">
            <a:spLocks noChangeArrowheads="1"/>
          </p:cNvSpPr>
          <p:nvPr/>
        </p:nvSpPr>
        <p:spPr bwMode="auto">
          <a:xfrm>
            <a:off x="1887787" y="2764970"/>
            <a:ext cx="952159" cy="676339"/>
          </a:xfrm>
          <a:prstGeom prst="rect">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lnSpc>
                <a:spcPct val="115000"/>
              </a:lnSpc>
            </a:pPr>
            <a:r>
              <a:rPr kumimoji="0" lang="zh-CN" altLang="en-US" sz="1100" b="1" dirty="0">
                <a:solidFill>
                  <a:srgbClr val="0000CC"/>
                </a:solidFill>
                <a:latin typeface="微软雅黑" pitchFamily="34" charset="-122"/>
                <a:ea typeface="微软雅黑" pitchFamily="34" charset="-122"/>
              </a:rPr>
              <a:t>所有地址的 </a:t>
            </a:r>
            <a:r>
              <a:rPr kumimoji="0" lang="en-US" altLang="zh-CN" sz="1100" b="1" dirty="0">
                <a:solidFill>
                  <a:srgbClr val="0000CC"/>
                </a:solidFill>
                <a:latin typeface="微软雅黑" pitchFamily="34" charset="-122"/>
                <a:ea typeface="微软雅黑" pitchFamily="34" charset="-122"/>
              </a:rPr>
              <a:t>20 </a:t>
            </a:r>
            <a:r>
              <a:rPr kumimoji="0" lang="zh-CN" altLang="en-US" sz="1100" b="1" dirty="0">
                <a:solidFill>
                  <a:srgbClr val="0000CC"/>
                </a:solidFill>
                <a:latin typeface="微软雅黑" pitchFamily="34" charset="-122"/>
                <a:ea typeface="微软雅黑" pitchFamily="34" charset="-122"/>
              </a:rPr>
              <a:t>位前缀</a:t>
            </a:r>
            <a:endParaRPr kumimoji="0" lang="en-US" altLang="zh-CN" sz="1100" b="1" dirty="0">
              <a:solidFill>
                <a:srgbClr val="0000CC"/>
              </a:solidFill>
              <a:latin typeface="微软雅黑" pitchFamily="34" charset="-122"/>
              <a:ea typeface="微软雅黑" pitchFamily="34" charset="-122"/>
            </a:endParaRPr>
          </a:p>
          <a:p>
            <a:pPr algn="ctr">
              <a:lnSpc>
                <a:spcPct val="115000"/>
              </a:lnSpc>
            </a:pPr>
            <a:r>
              <a:rPr kumimoji="0" lang="zh-CN" altLang="en-US" sz="1100" b="1" dirty="0">
                <a:solidFill>
                  <a:srgbClr val="0000CC"/>
                </a:solidFill>
                <a:latin typeface="微软雅黑" pitchFamily="34" charset="-122"/>
                <a:ea typeface="微软雅黑" pitchFamily="34" charset="-122"/>
              </a:rPr>
              <a:t>都是一样的</a:t>
            </a:r>
          </a:p>
        </p:txBody>
      </p:sp>
      <p:grpSp>
        <p:nvGrpSpPr>
          <p:cNvPr id="14" name="组合 13"/>
          <p:cNvGrpSpPr/>
          <p:nvPr/>
        </p:nvGrpSpPr>
        <p:grpSpPr>
          <a:xfrm>
            <a:off x="1651815" y="1956697"/>
            <a:ext cx="1402974" cy="430887"/>
            <a:chOff x="1651824" y="1239870"/>
            <a:chExt cx="1402974" cy="430887"/>
          </a:xfrm>
        </p:grpSpPr>
        <p:sp>
          <p:nvSpPr>
            <p:cNvPr id="15" name="Text Box 9"/>
            <p:cNvSpPr txBox="1">
              <a:spLocks noChangeArrowheads="1"/>
            </p:cNvSpPr>
            <p:nvPr/>
          </p:nvSpPr>
          <p:spPr bwMode="auto">
            <a:xfrm>
              <a:off x="1651824" y="1239870"/>
              <a:ext cx="1212354"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0" lang="zh-CN" altLang="en-US" sz="1100" b="1" dirty="0">
                  <a:latin typeface="微软雅黑" pitchFamily="34" charset="-122"/>
                  <a:ea typeface="微软雅黑" pitchFamily="34" charset="-122"/>
                </a:rPr>
                <a:t>最小地址</a:t>
              </a:r>
              <a:endParaRPr kumimoji="0" lang="en-US" altLang="zh-CN" sz="1100" b="1" dirty="0">
                <a:latin typeface="微软雅黑" pitchFamily="34" charset="-122"/>
                <a:ea typeface="微软雅黑" pitchFamily="34" charset="-122"/>
              </a:endParaRPr>
            </a:p>
            <a:p>
              <a:pPr algn="ctr"/>
              <a:r>
                <a:rPr lang="en-US" altLang="zh-CN" sz="1100" b="1" dirty="0">
                  <a:latin typeface="微软雅黑" pitchFamily="34" charset="-122"/>
                  <a:ea typeface="微软雅黑" pitchFamily="34" charset="-122"/>
                </a:rPr>
                <a:t>128.14.32.0</a:t>
              </a:r>
            </a:p>
          </p:txBody>
        </p:sp>
        <p:sp>
          <p:nvSpPr>
            <p:cNvPr id="16" name="AutoShape 10"/>
            <p:cNvSpPr>
              <a:spLocks noChangeArrowheads="1"/>
            </p:cNvSpPr>
            <p:nvPr/>
          </p:nvSpPr>
          <p:spPr bwMode="auto">
            <a:xfrm>
              <a:off x="2772185" y="1308664"/>
              <a:ext cx="282613" cy="190638"/>
            </a:xfrm>
            <a:prstGeom prst="rightArrow">
              <a:avLst>
                <a:gd name="adj1" fmla="val 50000"/>
                <a:gd name="adj2" fmla="val 86364"/>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a:latin typeface="微软雅黑" pitchFamily="34" charset="-122"/>
                <a:ea typeface="微软雅黑" pitchFamily="34" charset="-122"/>
              </a:endParaRPr>
            </a:p>
          </p:txBody>
        </p:sp>
      </p:grpSp>
      <p:grpSp>
        <p:nvGrpSpPr>
          <p:cNvPr id="17" name="组合 16"/>
          <p:cNvGrpSpPr/>
          <p:nvPr/>
        </p:nvGrpSpPr>
        <p:grpSpPr>
          <a:xfrm>
            <a:off x="1451795" y="4138493"/>
            <a:ext cx="1591772" cy="430887"/>
            <a:chOff x="1451804" y="3766716"/>
            <a:chExt cx="1591772" cy="430887"/>
          </a:xfrm>
        </p:grpSpPr>
        <p:sp>
          <p:nvSpPr>
            <p:cNvPr id="18" name="AutoShape 10"/>
            <p:cNvSpPr>
              <a:spLocks noChangeArrowheads="1"/>
            </p:cNvSpPr>
            <p:nvPr/>
          </p:nvSpPr>
          <p:spPr bwMode="auto">
            <a:xfrm>
              <a:off x="2760963" y="3859443"/>
              <a:ext cx="282613" cy="190638"/>
            </a:xfrm>
            <a:prstGeom prst="rightArrow">
              <a:avLst>
                <a:gd name="adj1" fmla="val 50000"/>
                <a:gd name="adj2" fmla="val 86364"/>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a:latin typeface="微软雅黑" pitchFamily="34" charset="-122"/>
                <a:ea typeface="微软雅黑" pitchFamily="34" charset="-122"/>
              </a:endParaRPr>
            </a:p>
          </p:txBody>
        </p:sp>
        <p:sp>
          <p:nvSpPr>
            <p:cNvPr id="19" name="Text Box 12"/>
            <p:cNvSpPr txBox="1">
              <a:spLocks noChangeArrowheads="1"/>
            </p:cNvSpPr>
            <p:nvPr/>
          </p:nvSpPr>
          <p:spPr bwMode="auto">
            <a:xfrm>
              <a:off x="1451804" y="3766716"/>
              <a:ext cx="1437748"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0" lang="zh-CN" altLang="en-US" sz="1100" b="1" dirty="0">
                  <a:latin typeface="微软雅黑" pitchFamily="34" charset="-122"/>
                  <a:ea typeface="微软雅黑" pitchFamily="34" charset="-122"/>
                </a:rPr>
                <a:t>最大地址</a:t>
              </a:r>
              <a:endParaRPr kumimoji="0" lang="en-US" altLang="zh-CN" sz="1100" b="1" dirty="0">
                <a:latin typeface="微软雅黑" pitchFamily="34" charset="-122"/>
                <a:ea typeface="微软雅黑" pitchFamily="34" charset="-122"/>
              </a:endParaRPr>
            </a:p>
            <a:p>
              <a:pPr algn="ctr"/>
              <a:r>
                <a:rPr lang="en-US" altLang="zh-CN" sz="1100" b="1" dirty="0">
                  <a:latin typeface="微软雅黑" pitchFamily="34" charset="-122"/>
                  <a:ea typeface="微软雅黑" pitchFamily="34" charset="-122"/>
                </a:rPr>
                <a:t>128.14.47.255</a:t>
              </a:r>
              <a:endParaRPr kumimoji="0" lang="zh-CN" altLang="en-US" sz="1100" b="1" dirty="0">
                <a:latin typeface="微软雅黑" pitchFamily="34" charset="-122"/>
                <a:ea typeface="微软雅黑" pitchFamily="34" charset="-122"/>
              </a:endParaRPr>
            </a:p>
          </p:txBody>
        </p:sp>
      </p:grpSp>
      <p:sp>
        <p:nvSpPr>
          <p:cNvPr id="21" name="矩形 20"/>
          <p:cNvSpPr/>
          <p:nvPr/>
        </p:nvSpPr>
        <p:spPr>
          <a:xfrm>
            <a:off x="6680550" y="2672252"/>
            <a:ext cx="1061049" cy="861774"/>
          </a:xfrm>
          <a:prstGeom prst="rect">
            <a:avLst/>
          </a:prstGeom>
          <a:solidFill>
            <a:srgbClr val="FFC000"/>
          </a:solidFill>
          <a:ln w="9525">
            <a:solidFill>
              <a:schemeClr val="tx1"/>
            </a:solidFill>
            <a:miter lim="800000"/>
            <a:headEnd/>
            <a:tailEnd/>
          </a:ln>
          <a:effectLst/>
        </p:spPr>
        <p:txBody>
          <a:bodyPr wrap="square">
            <a:spAutoFit/>
          </a:bodyPr>
          <a:lstStyle/>
          <a:p>
            <a:pPr algn="ctr">
              <a:lnSpc>
                <a:spcPts val="2000"/>
              </a:lnSpc>
            </a:pPr>
            <a:r>
              <a:rPr lang="zh-CN" altLang="en-US" sz="1400" b="1" dirty="0">
                <a:solidFill>
                  <a:srgbClr val="000099"/>
                </a:solidFill>
                <a:highlight>
                  <a:srgbClr val="FFFF00"/>
                </a:highlight>
                <a:latin typeface="微软雅黑" pitchFamily="34" charset="-122"/>
                <a:ea typeface="微软雅黑" pitchFamily="34" charset="-122"/>
              </a:rPr>
              <a:t>可指派的地址数是</a:t>
            </a:r>
            <a:r>
              <a:rPr lang="en-US" altLang="zh-CN" sz="1400" b="1" dirty="0">
                <a:solidFill>
                  <a:srgbClr val="000099"/>
                </a:solidFill>
                <a:highlight>
                  <a:srgbClr val="FFFF00"/>
                </a:highlight>
                <a:latin typeface="微软雅黑" pitchFamily="34" charset="-122"/>
                <a:ea typeface="微软雅黑" pitchFamily="34" charset="-122"/>
              </a:rPr>
              <a:t>2</a:t>
            </a:r>
            <a:r>
              <a:rPr lang="en-US" altLang="zh-CN" sz="1400" b="1" baseline="30000" dirty="0">
                <a:solidFill>
                  <a:srgbClr val="000099"/>
                </a:solidFill>
                <a:highlight>
                  <a:srgbClr val="FFFF00"/>
                </a:highlight>
                <a:latin typeface="微软雅黑" pitchFamily="34" charset="-122"/>
                <a:ea typeface="微软雅黑" pitchFamily="34" charset="-122"/>
              </a:rPr>
              <a:t>12</a:t>
            </a:r>
            <a:r>
              <a:rPr lang="en-US" altLang="zh-CN" sz="1400" b="1" dirty="0">
                <a:solidFill>
                  <a:srgbClr val="000099"/>
                </a:solidFill>
                <a:highlight>
                  <a:srgbClr val="FFFF00"/>
                </a:highlight>
                <a:latin typeface="微软雅黑" pitchFamily="34" charset="-122"/>
                <a:ea typeface="微软雅黑" pitchFamily="34" charset="-122"/>
              </a:rPr>
              <a:t> – 2 </a:t>
            </a:r>
            <a:r>
              <a:rPr lang="zh-CN" altLang="en-US" sz="1400" b="1" dirty="0">
                <a:solidFill>
                  <a:srgbClr val="000099"/>
                </a:solidFill>
                <a:highlight>
                  <a:srgbClr val="FFFF00"/>
                </a:highlight>
                <a:latin typeface="微软雅黑" pitchFamily="34" charset="-122"/>
                <a:ea typeface="微软雅黑" pitchFamily="34" charset="-122"/>
              </a:rPr>
              <a:t>个</a:t>
            </a:r>
          </a:p>
        </p:txBody>
      </p:sp>
      <p:sp>
        <p:nvSpPr>
          <p:cNvPr id="25" name="矩形 24"/>
          <p:cNvSpPr/>
          <p:nvPr/>
        </p:nvSpPr>
        <p:spPr>
          <a:xfrm>
            <a:off x="2637965" y="4483869"/>
            <a:ext cx="4297673" cy="329321"/>
          </a:xfrm>
          <a:prstGeom prst="rect">
            <a:avLst/>
          </a:prstGeom>
          <a:noFill/>
          <a:ln w="12700">
            <a:noFill/>
            <a:miter lim="800000"/>
            <a:headEnd/>
            <a:tailEnd/>
          </a:ln>
          <a:effectLst/>
        </p:spPr>
        <p:txBody>
          <a:bodyPr wrap="square">
            <a:spAutoFit/>
          </a:bodyPr>
          <a:lstStyle/>
          <a:p>
            <a:pPr algn="ctr">
              <a:lnSpc>
                <a:spcPct val="110000"/>
              </a:lnSpc>
            </a:pPr>
            <a:r>
              <a:rPr lang="zh-CN" altLang="en-US" sz="1400" b="1" dirty="0">
                <a:solidFill>
                  <a:srgbClr val="000099"/>
                </a:solidFill>
                <a:latin typeface="微软雅黑" pitchFamily="34" charset="-122"/>
                <a:ea typeface="微软雅黑" pitchFamily="34" charset="-122"/>
              </a:rPr>
              <a:t>二进制代码表示：</a:t>
            </a:r>
            <a:r>
              <a:rPr lang="en-US" altLang="zh-CN" sz="1400" b="1" dirty="0">
                <a:solidFill>
                  <a:srgbClr val="000099"/>
                </a:solidFill>
                <a:latin typeface="微软雅黑" pitchFamily="34" charset="-122"/>
                <a:ea typeface="微软雅黑" pitchFamily="34" charset="-122"/>
              </a:rPr>
              <a:t>10000000 00001110 0010*</a:t>
            </a:r>
          </a:p>
        </p:txBody>
      </p:sp>
    </p:spTree>
    <p:extLst>
      <p:ext uri="{BB962C8B-B14F-4D97-AF65-F5344CB8AC3E}">
        <p14:creationId xmlns:p14="http://schemas.microsoft.com/office/powerpoint/2010/main" val="285173709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2"/>
                                        </p:tgtEl>
                                        <p:attrNameLst>
                                          <p:attrName>style.visibility</p:attrName>
                                        </p:attrNameLst>
                                      </p:cBhvr>
                                      <p:to>
                                        <p:strVal val="visible"/>
                                      </p:to>
                                    </p:set>
                                  </p:childTnLst>
                                </p:cTn>
                              </p:par>
                            </p:childTnLst>
                          </p:cTn>
                        </p:par>
                        <p:par>
                          <p:cTn id="9" fill="hold">
                            <p:stCondLst>
                              <p:cond delay="0"/>
                            </p:stCondLst>
                            <p:childTnLst>
                              <p:par>
                                <p:cTn id="10" presetID="35" presetClass="emph" presetSubtype="0" repeatCount="3000" fill="hold" grpId="1" nodeType="afterEffect">
                                  <p:stCondLst>
                                    <p:cond delay="0"/>
                                  </p:stCondLst>
                                  <p:childTnLst>
                                    <p:anim calcmode="discrete" valueType="str">
                                      <p:cBhvr>
                                        <p:cTn id="11" dur="1000" fill="hold"/>
                                        <p:tgtEl>
                                          <p:spTgt spid="13"/>
                                        </p:tgtEl>
                                        <p:attrNameLst>
                                          <p:attrName>style.visibility</p:attrName>
                                        </p:attrNameLst>
                                      </p:cBhvr>
                                      <p:tavLst>
                                        <p:tav tm="0">
                                          <p:val>
                                            <p:strVal val="hidden"/>
                                          </p:val>
                                        </p:tav>
                                        <p:tav tm="50000">
                                          <p:val>
                                            <p:strVal val="visible"/>
                                          </p:val>
                                        </p:tav>
                                      </p:tavLst>
                                    </p:anim>
                                  </p:childTnLst>
                                </p:cTn>
                              </p:par>
                              <p:par>
                                <p:cTn id="12" presetID="35" presetClass="emph" presetSubtype="0" repeatCount="3000" fill="hold" grpId="1" nodeType="withEffect">
                                  <p:stCondLst>
                                    <p:cond delay="0"/>
                                  </p:stCondLst>
                                  <p:childTnLst>
                                    <p:anim calcmode="discrete" valueType="str">
                                      <p:cBhvr>
                                        <p:cTn id="13" dur="1000" fill="hold"/>
                                        <p:tgtEl>
                                          <p:spTgt spid="12"/>
                                        </p:tgtEl>
                                        <p:attrNameLst>
                                          <p:attrName>style.visibility</p:attrName>
                                        </p:attrNameLst>
                                      </p:cBhvr>
                                      <p:tavLst>
                                        <p:tav tm="0">
                                          <p:val>
                                            <p:strVal val="hidden"/>
                                          </p:val>
                                        </p:tav>
                                        <p:tav tm="50000">
                                          <p:val>
                                            <p:strVal val="visible"/>
                                          </p:val>
                                        </p:tav>
                                      </p:tavLst>
                                    </p:anim>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14"/>
                                        </p:tgtEl>
                                        <p:attrNameLst>
                                          <p:attrName>style.visibility</p:attrName>
                                        </p:attrNameLst>
                                      </p:cBhvr>
                                      <p:to>
                                        <p:strVal val="visible"/>
                                      </p:to>
                                    </p:set>
                                  </p:childTnLst>
                                </p:cTn>
                              </p:par>
                            </p:childTnLst>
                          </p:cTn>
                        </p:par>
                        <p:par>
                          <p:cTn id="18" fill="hold">
                            <p:stCondLst>
                              <p:cond delay="0"/>
                            </p:stCondLst>
                            <p:childTnLst>
                              <p:par>
                                <p:cTn id="19" presetID="22" presetClass="entr" presetSubtype="8" fill="hold" nodeType="after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wipe(left)">
                                      <p:cBhvr>
                                        <p:cTn id="21" dur="250"/>
                                        <p:tgtEl>
                                          <p:spTgt spid="14"/>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17"/>
                                        </p:tgtEl>
                                        <p:attrNameLst>
                                          <p:attrName>style.visibility</p:attrName>
                                        </p:attrNameLst>
                                      </p:cBhvr>
                                      <p:to>
                                        <p:strVal val="visible"/>
                                      </p:to>
                                    </p:set>
                                  </p:childTnLst>
                                </p:cTn>
                              </p:par>
                            </p:childTnLst>
                          </p:cTn>
                        </p:par>
                        <p:par>
                          <p:cTn id="26" fill="hold">
                            <p:stCondLst>
                              <p:cond delay="0"/>
                            </p:stCondLst>
                            <p:childTnLst>
                              <p:par>
                                <p:cTn id="27" presetID="22" presetClass="entr" presetSubtype="8" fill="hold" nodeType="afterEffect">
                                  <p:stCondLst>
                                    <p:cond delay="0"/>
                                  </p:stCondLst>
                                  <p:childTnLst>
                                    <p:set>
                                      <p:cBhvr>
                                        <p:cTn id="28" dur="1" fill="hold">
                                          <p:stCondLst>
                                            <p:cond delay="0"/>
                                          </p:stCondLst>
                                        </p:cTn>
                                        <p:tgtEl>
                                          <p:spTgt spid="17"/>
                                        </p:tgtEl>
                                        <p:attrNameLst>
                                          <p:attrName>style.visibility</p:attrName>
                                        </p:attrNameLst>
                                      </p:cBhvr>
                                      <p:to>
                                        <p:strVal val="visible"/>
                                      </p:to>
                                    </p:set>
                                    <p:animEffect transition="in" filter="wipe(left)">
                                      <p:cBhvr>
                                        <p:cTn id="29" dur="250"/>
                                        <p:tgtEl>
                                          <p:spTgt spid="17"/>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repeatCount="3000" fill="hold" grpId="0" nodeType="clickEffect">
                                  <p:stCondLst>
                                    <p:cond delay="0"/>
                                  </p:stCondLst>
                                  <p:childTnLst>
                                    <p:set>
                                      <p:cBhvr>
                                        <p:cTn id="33" dur="1" fill="hold">
                                          <p:stCondLst>
                                            <p:cond delay="0"/>
                                          </p:stCondLst>
                                        </p:cTn>
                                        <p:tgtEl>
                                          <p:spTgt spid="21"/>
                                        </p:tgtEl>
                                        <p:attrNameLst>
                                          <p:attrName>style.visibility</p:attrName>
                                        </p:attrNameLst>
                                      </p:cBhvr>
                                      <p:to>
                                        <p:strVal val="visible"/>
                                      </p:to>
                                    </p:set>
                                    <p:animEffect transition="in" filter="fade">
                                      <p:cBhvr>
                                        <p:cTn id="34" dur="500"/>
                                        <p:tgtEl>
                                          <p:spTgt spid="21"/>
                                        </p:tgtEl>
                                      </p:cBhvr>
                                    </p:animEffec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2" grpId="1" animBg="1"/>
      <p:bldP spid="13" grpId="0" animBg="1"/>
      <p:bldP spid="13" grpId="1" animBg="1"/>
      <p:bldP spid="21" grpId="0" animBg="1"/>
      <p:bldP spid="25"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887093" y="581433"/>
            <a:ext cx="138852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地址块</a:t>
            </a:r>
          </a:p>
        </p:txBody>
      </p:sp>
      <p:sp>
        <p:nvSpPr>
          <p:cNvPr id="4" name="矩形 3"/>
          <p:cNvSpPr/>
          <p:nvPr/>
        </p:nvSpPr>
        <p:spPr>
          <a:xfrm>
            <a:off x="735680" y="1104288"/>
            <a:ext cx="877163" cy="369332"/>
          </a:xfrm>
          <a:prstGeom prst="rect">
            <a:avLst/>
          </a:prstGeom>
          <a:solidFill>
            <a:srgbClr val="FFC000"/>
          </a:solidFill>
        </p:spPr>
        <p:txBody>
          <a:bodyPr wrap="none">
            <a:spAutoFit/>
          </a:bodyPr>
          <a:lstStyle/>
          <a:p>
            <a:r>
              <a:rPr lang="zh-CN" altLang="en-US" b="1" dirty="0">
                <a:latin typeface="微软雅黑" panose="020B0503020204020204" pitchFamily="34" charset="-122"/>
                <a:ea typeface="微软雅黑" panose="020B0503020204020204" pitchFamily="34" charset="-122"/>
              </a:rPr>
              <a:t>注意：</a:t>
            </a:r>
          </a:p>
        </p:txBody>
      </p:sp>
      <p:graphicFrame>
        <p:nvGraphicFramePr>
          <p:cNvPr id="7" name="表格 6"/>
          <p:cNvGraphicFramePr>
            <a:graphicFrameLocks noGrp="1"/>
          </p:cNvGraphicFramePr>
          <p:nvPr>
            <p:extLst>
              <p:ext uri="{D42A27DB-BD31-4B8C-83A1-F6EECF244321}">
                <p14:modId xmlns:p14="http://schemas.microsoft.com/office/powerpoint/2010/main" val="2259888652"/>
              </p:ext>
            </p:extLst>
          </p:nvPr>
        </p:nvGraphicFramePr>
        <p:xfrm>
          <a:off x="735680" y="1530239"/>
          <a:ext cx="7537052" cy="2377526"/>
        </p:xfrm>
        <a:graphic>
          <a:graphicData uri="http://schemas.openxmlformats.org/drawingml/2006/table">
            <a:tbl>
              <a:tblPr bandRow="1">
                <a:tableStyleId>{0505E3EF-67EA-436B-97B2-0124C06EBD24}</a:tableStyleId>
              </a:tblPr>
              <a:tblGrid>
                <a:gridCol w="2171422">
                  <a:extLst>
                    <a:ext uri="{9D8B030D-6E8A-4147-A177-3AD203B41FA5}">
                      <a16:colId xmlns:a16="http://schemas.microsoft.com/office/drawing/2014/main" val="3280350879"/>
                    </a:ext>
                  </a:extLst>
                </a:gridCol>
                <a:gridCol w="5365630">
                  <a:extLst>
                    <a:ext uri="{9D8B030D-6E8A-4147-A177-3AD203B41FA5}">
                      <a16:colId xmlns:a16="http://schemas.microsoft.com/office/drawing/2014/main" val="1919485736"/>
                    </a:ext>
                  </a:extLst>
                </a:gridCol>
              </a:tblGrid>
              <a:tr h="747753">
                <a:tc>
                  <a:txBody>
                    <a:bodyPr/>
                    <a:lstStyle/>
                    <a:p>
                      <a:pPr>
                        <a:lnSpc>
                          <a:spcPts val="2200"/>
                        </a:lnSpc>
                      </a:pPr>
                      <a:r>
                        <a:rPr lang="en-US" altLang="zh-CN" sz="1600" b="1" dirty="0">
                          <a:latin typeface="微软雅黑" panose="020B0503020204020204" pitchFamily="34" charset="-122"/>
                          <a:ea typeface="微软雅黑" panose="020B0503020204020204" pitchFamily="34" charset="-122"/>
                        </a:rPr>
                        <a:t>128.14.35.7</a:t>
                      </a:r>
                      <a:r>
                        <a:rPr lang="en-US" altLang="zh-CN" sz="1600" b="1" dirty="0">
                          <a:solidFill>
                            <a:srgbClr val="C00000"/>
                          </a:solidFill>
                          <a:latin typeface="微软雅黑" panose="020B0503020204020204" pitchFamily="34" charset="-122"/>
                          <a:ea typeface="微软雅黑" panose="020B0503020204020204" pitchFamily="34" charset="-122"/>
                        </a:rPr>
                        <a:t>/20</a:t>
                      </a:r>
                      <a:endParaRPr lang="zh-CN" altLang="en-US" sz="1600" b="1" dirty="0">
                        <a:solidFill>
                          <a:srgbClr val="C00000"/>
                        </a:solidFill>
                        <a:latin typeface="微软雅黑" panose="020B0503020204020204" pitchFamily="34" charset="-122"/>
                        <a:ea typeface="微软雅黑" panose="020B0503020204020204" pitchFamily="34" charset="-122"/>
                      </a:endParaRPr>
                    </a:p>
                  </a:txBody>
                  <a:tcPr anchor="ctr"/>
                </a:tc>
                <a:tc>
                  <a:txBody>
                    <a:bodyPr/>
                    <a:lstStyle/>
                    <a:p>
                      <a:pPr>
                        <a:lnSpc>
                          <a:spcPts val="2200"/>
                        </a:lnSpc>
                      </a:pPr>
                      <a:r>
                        <a:rPr lang="zh-CN" altLang="en-US" sz="1600" b="1" dirty="0">
                          <a:latin typeface="微软雅黑" panose="020B0503020204020204" pitchFamily="34" charset="-122"/>
                          <a:ea typeface="微软雅黑" panose="020B0503020204020204" pitchFamily="34" charset="-122"/>
                        </a:rPr>
                        <a:t>是 </a:t>
                      </a: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地址，同时指明了网络前缀为 </a:t>
                      </a:r>
                      <a:r>
                        <a:rPr lang="en-US" altLang="zh-CN" sz="1600" b="1" dirty="0">
                          <a:latin typeface="微软雅黑" panose="020B0503020204020204" pitchFamily="34" charset="-122"/>
                          <a:ea typeface="微软雅黑" panose="020B0503020204020204" pitchFamily="34" charset="-122"/>
                        </a:rPr>
                        <a:t>20 </a:t>
                      </a:r>
                      <a:r>
                        <a:rPr lang="zh-CN" altLang="en-US" sz="1600" b="1" dirty="0">
                          <a:latin typeface="微软雅黑" panose="020B0503020204020204" pitchFamily="34" charset="-122"/>
                          <a:ea typeface="微软雅黑" panose="020B0503020204020204" pitchFamily="34" charset="-122"/>
                        </a:rPr>
                        <a:t>位。</a:t>
                      </a:r>
                      <a:endParaRPr lang="en-US" altLang="zh-CN" sz="1600" b="1" dirty="0">
                        <a:latin typeface="微软雅黑" panose="020B0503020204020204" pitchFamily="34" charset="-122"/>
                        <a:ea typeface="微软雅黑" panose="020B0503020204020204" pitchFamily="34" charset="-122"/>
                      </a:endParaRPr>
                    </a:p>
                    <a:p>
                      <a:pPr>
                        <a:lnSpc>
                          <a:spcPts val="2200"/>
                        </a:lnSpc>
                      </a:pPr>
                      <a:r>
                        <a:rPr lang="zh-CN" altLang="en-US" sz="1600" b="1" dirty="0">
                          <a:latin typeface="微软雅黑" panose="020B0503020204020204" pitchFamily="34" charset="-122"/>
                          <a:ea typeface="微软雅黑" panose="020B0503020204020204" pitchFamily="34" charset="-122"/>
                        </a:rPr>
                        <a:t>该地址是 </a:t>
                      </a:r>
                      <a:r>
                        <a:rPr lang="en-US" altLang="zh-CN" sz="1600" b="1" dirty="0">
                          <a:latin typeface="微软雅黑" panose="020B0503020204020204" pitchFamily="34" charset="-122"/>
                          <a:ea typeface="微软雅黑" panose="020B0503020204020204" pitchFamily="34" charset="-122"/>
                        </a:rPr>
                        <a:t>128.14.32.0/20 </a:t>
                      </a:r>
                      <a:r>
                        <a:rPr lang="zh-CN" altLang="en-US" sz="1600" b="1" dirty="0">
                          <a:latin typeface="微软雅黑" panose="020B0503020204020204" pitchFamily="34" charset="-122"/>
                          <a:ea typeface="微软雅黑" panose="020B0503020204020204" pitchFamily="34" charset="-122"/>
                        </a:rPr>
                        <a:t>地址块中的一个地址。</a:t>
                      </a:r>
                    </a:p>
                  </a:txBody>
                  <a:tcPr anchor="ctr"/>
                </a:tc>
                <a:extLst>
                  <a:ext uri="{0D108BD9-81ED-4DB2-BD59-A6C34878D82A}">
                    <a16:rowId xmlns:a16="http://schemas.microsoft.com/office/drawing/2014/main" val="1024444491"/>
                  </a:ext>
                </a:extLst>
              </a:tr>
              <a:tr h="747753">
                <a:tc>
                  <a:txBody>
                    <a:bodyPr/>
                    <a:lstStyle/>
                    <a:p>
                      <a:pPr>
                        <a:lnSpc>
                          <a:spcPts val="2200"/>
                        </a:lnSpc>
                      </a:pPr>
                      <a:r>
                        <a:rPr lang="en-US" altLang="zh-CN" sz="1600" b="1" dirty="0">
                          <a:latin typeface="微软雅黑" panose="020B0503020204020204" pitchFamily="34" charset="-122"/>
                          <a:ea typeface="微软雅黑" panose="020B0503020204020204" pitchFamily="34" charset="-122"/>
                        </a:rPr>
                        <a:t>128.14.32.0</a:t>
                      </a:r>
                      <a:r>
                        <a:rPr lang="en-US" altLang="zh-CN" sz="1600" b="1" dirty="0">
                          <a:solidFill>
                            <a:srgbClr val="C00000"/>
                          </a:solidFill>
                          <a:latin typeface="微软雅黑" panose="020B0503020204020204" pitchFamily="34" charset="-122"/>
                          <a:ea typeface="微软雅黑" panose="020B0503020204020204" pitchFamily="34" charset="-122"/>
                        </a:rPr>
                        <a:t>/20</a:t>
                      </a:r>
                      <a:endParaRPr lang="zh-CN" altLang="en-US" sz="1600" b="1" dirty="0">
                        <a:solidFill>
                          <a:srgbClr val="C00000"/>
                        </a:solidFill>
                        <a:latin typeface="微软雅黑" panose="020B0503020204020204" pitchFamily="34" charset="-122"/>
                        <a:ea typeface="微软雅黑" panose="020B0503020204020204" pitchFamily="34" charset="-122"/>
                      </a:endParaRPr>
                    </a:p>
                  </a:txBody>
                  <a:tcPr anchor="ctr"/>
                </a:tc>
                <a:tc>
                  <a:txBody>
                    <a:bodyPr/>
                    <a:lstStyle/>
                    <a:p>
                      <a:pPr>
                        <a:lnSpc>
                          <a:spcPts val="2200"/>
                        </a:lnSpc>
                      </a:pPr>
                      <a:r>
                        <a:rPr lang="zh-CN" altLang="en-US" sz="1600" b="1" dirty="0">
                          <a:latin typeface="微软雅黑" panose="020B0503020204020204" pitchFamily="34" charset="-122"/>
                          <a:ea typeface="微软雅黑" panose="020B0503020204020204" pitchFamily="34" charset="-122"/>
                        </a:rPr>
                        <a:t>是包含有多个 </a:t>
                      </a: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地址的地址块，同时也是这个地址块中主机号为全 </a:t>
                      </a:r>
                      <a:r>
                        <a:rPr lang="en-US" altLang="zh-CN" sz="1600" b="1" dirty="0">
                          <a:latin typeface="微软雅黑" panose="020B0503020204020204" pitchFamily="34" charset="-122"/>
                          <a:ea typeface="微软雅黑" panose="020B0503020204020204" pitchFamily="34" charset="-122"/>
                        </a:rPr>
                        <a:t>0 </a:t>
                      </a:r>
                      <a:r>
                        <a:rPr lang="zh-CN" altLang="en-US" sz="1600" b="1" dirty="0">
                          <a:latin typeface="微软雅黑" panose="020B0503020204020204" pitchFamily="34" charset="-122"/>
                          <a:ea typeface="微软雅黑" panose="020B0503020204020204" pitchFamily="34" charset="-122"/>
                        </a:rPr>
                        <a:t>的 </a:t>
                      </a: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a:t>
                      </a:r>
                    </a:p>
                  </a:txBody>
                  <a:tcPr anchor="ctr"/>
                </a:tc>
                <a:extLst>
                  <a:ext uri="{0D108BD9-81ED-4DB2-BD59-A6C34878D82A}">
                    <a16:rowId xmlns:a16="http://schemas.microsoft.com/office/drawing/2014/main" val="178982981"/>
                  </a:ext>
                </a:extLst>
              </a:tr>
              <a:tr h="441010">
                <a:tc>
                  <a:txBody>
                    <a:bodyPr/>
                    <a:lstStyle/>
                    <a:p>
                      <a:pPr>
                        <a:lnSpc>
                          <a:spcPts val="2200"/>
                        </a:lnSpc>
                      </a:pPr>
                      <a:r>
                        <a:rPr lang="en-US" altLang="zh-CN" sz="1600" b="1" dirty="0">
                          <a:latin typeface="微软雅黑" panose="020B0503020204020204" pitchFamily="34" charset="-122"/>
                          <a:ea typeface="微软雅黑" panose="020B0503020204020204" pitchFamily="34" charset="-122"/>
                        </a:rPr>
                        <a:t>128.14.35.7</a:t>
                      </a:r>
                      <a:endParaRPr lang="zh-CN" altLang="en-US" sz="1600" b="1" dirty="0">
                        <a:latin typeface="微软雅黑" panose="020B0503020204020204" pitchFamily="34" charset="-122"/>
                        <a:ea typeface="微软雅黑" panose="020B0503020204020204" pitchFamily="34" charset="-122"/>
                      </a:endParaRPr>
                    </a:p>
                  </a:txBody>
                  <a:tcPr anchor="ctr"/>
                </a:tc>
                <a:tc>
                  <a:txBody>
                    <a:bodyPr/>
                    <a:lstStyle/>
                    <a:p>
                      <a:pPr>
                        <a:lnSpc>
                          <a:spcPts val="2200"/>
                        </a:lnSpc>
                      </a:pPr>
                      <a:r>
                        <a:rPr lang="zh-CN" altLang="en-US" sz="1600" b="1" dirty="0">
                          <a:latin typeface="微软雅黑" panose="020B0503020204020204" pitchFamily="34" charset="-122"/>
                          <a:ea typeface="微软雅黑" panose="020B0503020204020204" pitchFamily="34" charset="-122"/>
                        </a:rPr>
                        <a:t>是 </a:t>
                      </a: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地址，但未指明网络前缀长度，不知道其网络地址。</a:t>
                      </a:r>
                    </a:p>
                  </a:txBody>
                  <a:tcPr anchor="ctr"/>
                </a:tc>
                <a:extLst>
                  <a:ext uri="{0D108BD9-81ED-4DB2-BD59-A6C34878D82A}">
                    <a16:rowId xmlns:a16="http://schemas.microsoft.com/office/drawing/2014/main" val="406556459"/>
                  </a:ext>
                </a:extLst>
              </a:tr>
              <a:tr h="441010">
                <a:tc>
                  <a:txBody>
                    <a:bodyPr/>
                    <a:lstStyle/>
                    <a:p>
                      <a:pPr>
                        <a:lnSpc>
                          <a:spcPts val="2200"/>
                        </a:lnSpc>
                      </a:pPr>
                      <a:r>
                        <a:rPr lang="en-US" altLang="zh-CN" sz="1600" b="1" dirty="0">
                          <a:latin typeface="微软雅黑" panose="020B0503020204020204" pitchFamily="34" charset="-122"/>
                          <a:ea typeface="微软雅黑" panose="020B0503020204020204" pitchFamily="34" charset="-122"/>
                        </a:rPr>
                        <a:t>128.14.32.0</a:t>
                      </a:r>
                      <a:endParaRPr lang="zh-CN" altLang="en-US" sz="1600" b="1" dirty="0">
                        <a:latin typeface="微软雅黑" panose="020B0503020204020204" pitchFamily="34" charset="-122"/>
                        <a:ea typeface="微软雅黑" panose="020B0503020204020204" pitchFamily="34" charset="-122"/>
                      </a:endParaRPr>
                    </a:p>
                  </a:txBody>
                  <a:tcPr anchor="ctr"/>
                </a:tc>
                <a:tc>
                  <a:txBody>
                    <a:bodyPr/>
                    <a:lstStyle/>
                    <a:p>
                      <a:pPr>
                        <a:lnSpc>
                          <a:spcPts val="2200"/>
                        </a:lnSpc>
                      </a:pPr>
                      <a:r>
                        <a:rPr lang="zh-CN" altLang="en-US" sz="1600" b="1" dirty="0">
                          <a:latin typeface="微软雅黑" panose="020B0503020204020204" pitchFamily="34" charset="-122"/>
                          <a:ea typeface="微软雅黑" panose="020B0503020204020204" pitchFamily="34" charset="-122"/>
                        </a:rPr>
                        <a:t>不能指明一个网络地址，因为无法知道网络前缀是多少。</a:t>
                      </a:r>
                    </a:p>
                  </a:txBody>
                  <a:tcPr anchor="ctr"/>
                </a:tc>
                <a:extLst>
                  <a:ext uri="{0D108BD9-81ED-4DB2-BD59-A6C34878D82A}">
                    <a16:rowId xmlns:a16="http://schemas.microsoft.com/office/drawing/2014/main" val="1768652690"/>
                  </a:ext>
                </a:extLst>
              </a:tr>
            </a:tbl>
          </a:graphicData>
        </a:graphic>
      </p:graphicFrame>
    </p:spTree>
    <p:extLst>
      <p:ext uri="{BB962C8B-B14F-4D97-AF65-F5344CB8AC3E}">
        <p14:creationId xmlns:p14="http://schemas.microsoft.com/office/powerpoint/2010/main" val="224653607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744794" y="581433"/>
            <a:ext cx="367312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highlight>
                  <a:srgbClr val="FFFF00"/>
                </a:highlight>
                <a:latin typeface="微软雅黑" pitchFamily="34" charset="-122"/>
                <a:ea typeface="微软雅黑" pitchFamily="34" charset="-122"/>
              </a:rPr>
              <a:t>(3) </a:t>
            </a:r>
            <a:r>
              <a:rPr lang="zh-CN" altLang="en-US" sz="2000" b="1" dirty="0">
                <a:highlight>
                  <a:srgbClr val="FFFF00"/>
                </a:highlight>
                <a:latin typeface="微软雅黑" pitchFamily="34" charset="-122"/>
                <a:ea typeface="微软雅黑" pitchFamily="34" charset="-122"/>
              </a:rPr>
              <a:t>地址掩码 </a:t>
            </a:r>
            <a:r>
              <a:rPr lang="en-US" altLang="zh-CN" sz="2000" b="1" dirty="0">
                <a:highlight>
                  <a:srgbClr val="FFFF00"/>
                </a:highlight>
                <a:latin typeface="微软雅黑" pitchFamily="34" charset="-122"/>
                <a:ea typeface="微软雅黑" pitchFamily="34" charset="-122"/>
              </a:rPr>
              <a:t>(address mask</a:t>
            </a:r>
            <a:r>
              <a:rPr lang="en-US" altLang="zh-CN" sz="2000" b="1" dirty="0">
                <a:solidFill>
                  <a:schemeClr val="bg1"/>
                </a:solidFill>
                <a:highlight>
                  <a:srgbClr val="FFFF00"/>
                </a:highlight>
                <a:latin typeface="微软雅黑" pitchFamily="34" charset="-122"/>
                <a:ea typeface="微软雅黑" pitchFamily="34" charset="-122"/>
              </a:rPr>
              <a:t>)</a:t>
            </a:r>
            <a:endParaRPr lang="zh-CN" altLang="en-US" sz="2000" b="1" dirty="0">
              <a:solidFill>
                <a:schemeClr val="bg1"/>
              </a:solidFill>
              <a:highlight>
                <a:srgbClr val="FFFF00"/>
              </a:highlight>
              <a:latin typeface="微软雅黑" pitchFamily="34" charset="-122"/>
              <a:ea typeface="微软雅黑" pitchFamily="34" charset="-122"/>
            </a:endParaRPr>
          </a:p>
        </p:txBody>
      </p:sp>
      <p:sp>
        <p:nvSpPr>
          <p:cNvPr id="4" name="Rectangle 68"/>
          <p:cNvSpPr>
            <a:spLocks noChangeArrowheads="1"/>
          </p:cNvSpPr>
          <p:nvPr/>
        </p:nvSpPr>
        <p:spPr bwMode="auto">
          <a:xfrm>
            <a:off x="556962" y="978646"/>
            <a:ext cx="8423135" cy="163121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又称为</a:t>
            </a:r>
            <a:r>
              <a:rPr lang="zh-CN" altLang="en-US" sz="2000" b="1" dirty="0">
                <a:solidFill>
                  <a:srgbClr val="0000FF"/>
                </a:solidFill>
                <a:latin typeface="微软雅黑" pitchFamily="34" charset="-122"/>
                <a:ea typeface="微软雅黑" pitchFamily="34" charset="-122"/>
              </a:rPr>
              <a:t>子网掩码 </a:t>
            </a:r>
            <a:r>
              <a:rPr lang="en-US" altLang="zh-CN" sz="2000" b="1" dirty="0">
                <a:latin typeface="微软雅黑" pitchFamily="34" charset="-122"/>
                <a:ea typeface="微软雅黑" pitchFamily="34" charset="-122"/>
              </a:rPr>
              <a:t>(subnet mask)</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68288" indent="-2682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位数：</a:t>
            </a:r>
            <a:r>
              <a:rPr lang="en-US" altLang="zh-CN" sz="2000" b="1" dirty="0">
                <a:solidFill>
                  <a:srgbClr val="C00000"/>
                </a:solidFill>
                <a:latin typeface="微软雅黑" pitchFamily="34" charset="-122"/>
                <a:ea typeface="微软雅黑" pitchFamily="34" charset="-122"/>
              </a:rPr>
              <a:t>32 </a:t>
            </a:r>
            <a:r>
              <a:rPr lang="zh-CN" altLang="en-US" sz="2000" b="1" dirty="0">
                <a:solidFill>
                  <a:srgbClr val="C00000"/>
                </a:solidFill>
                <a:latin typeface="微软雅黑" pitchFamily="34" charset="-122"/>
                <a:ea typeface="微软雅黑" pitchFamily="34" charset="-122"/>
              </a:rPr>
              <a:t>位。</a:t>
            </a:r>
            <a:endParaRPr lang="en-US" altLang="zh-CN" sz="2000" b="1" dirty="0">
              <a:solidFill>
                <a:srgbClr val="C00000"/>
              </a:solidFill>
              <a:latin typeface="微软雅黑" pitchFamily="34" charset="-122"/>
              <a:ea typeface="微软雅黑" pitchFamily="34" charset="-122"/>
            </a:endParaRPr>
          </a:p>
          <a:p>
            <a:pPr marL="268288" indent="-2682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目的：让机器从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地址迅速算出网络地址。</a:t>
            </a:r>
            <a:endParaRPr lang="en-US" altLang="zh-CN" sz="2000" b="1" dirty="0">
              <a:latin typeface="微软雅黑" pitchFamily="34" charset="-122"/>
              <a:ea typeface="微软雅黑" pitchFamily="34" charset="-122"/>
            </a:endParaRPr>
          </a:p>
          <a:p>
            <a:pPr marL="268288" indent="-2682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由一连串 </a:t>
            </a:r>
            <a:r>
              <a:rPr lang="en-US" altLang="zh-CN" sz="2000" b="1" dirty="0">
                <a:latin typeface="微软雅黑" pitchFamily="34" charset="-122"/>
                <a:ea typeface="微软雅黑" pitchFamily="34" charset="-122"/>
              </a:rPr>
              <a:t>1 </a:t>
            </a:r>
            <a:r>
              <a:rPr lang="zh-CN" altLang="en-US" sz="2000" b="1" dirty="0">
                <a:latin typeface="微软雅黑" pitchFamily="34" charset="-122"/>
                <a:ea typeface="微软雅黑" pitchFamily="34" charset="-122"/>
              </a:rPr>
              <a:t>和接着的一连串 </a:t>
            </a:r>
            <a:r>
              <a:rPr lang="en-US" altLang="zh-CN" sz="2000" b="1" dirty="0">
                <a:latin typeface="微软雅黑" pitchFamily="34" charset="-122"/>
                <a:ea typeface="微软雅黑" pitchFamily="34" charset="-122"/>
              </a:rPr>
              <a:t>0 </a:t>
            </a:r>
            <a:r>
              <a:rPr lang="zh-CN" altLang="en-US" sz="2000" b="1" dirty="0">
                <a:latin typeface="微软雅黑" pitchFamily="34" charset="-122"/>
                <a:ea typeface="微软雅黑" pitchFamily="34" charset="-122"/>
              </a:rPr>
              <a:t>组成，</a:t>
            </a:r>
            <a:r>
              <a:rPr lang="zh-CN" altLang="en-US" sz="2000" b="1" dirty="0">
                <a:solidFill>
                  <a:srgbClr val="C00000"/>
                </a:solidFill>
                <a:latin typeface="微软雅黑" pitchFamily="34" charset="-122"/>
                <a:ea typeface="微软雅黑" pitchFamily="34" charset="-122"/>
              </a:rPr>
              <a:t>而 </a:t>
            </a:r>
            <a:r>
              <a:rPr lang="en-US" altLang="zh-CN" sz="2000" b="1" dirty="0">
                <a:solidFill>
                  <a:srgbClr val="C00000"/>
                </a:solidFill>
                <a:latin typeface="微软雅黑" pitchFamily="34" charset="-122"/>
                <a:ea typeface="微软雅黑" pitchFamily="34" charset="-122"/>
              </a:rPr>
              <a:t>1 </a:t>
            </a:r>
            <a:r>
              <a:rPr lang="zh-CN" altLang="en-US" sz="2000" b="1" dirty="0">
                <a:solidFill>
                  <a:srgbClr val="C00000"/>
                </a:solidFill>
                <a:latin typeface="微软雅黑" pitchFamily="34" charset="-122"/>
                <a:ea typeface="微软雅黑" pitchFamily="34" charset="-122"/>
              </a:rPr>
              <a:t>的个数就是网络前缀的长度。</a:t>
            </a:r>
          </a:p>
        </p:txBody>
      </p:sp>
      <p:sp>
        <p:nvSpPr>
          <p:cNvPr id="5" name="矩形 4"/>
          <p:cNvSpPr/>
          <p:nvPr/>
        </p:nvSpPr>
        <p:spPr>
          <a:xfrm>
            <a:off x="698743" y="2773842"/>
            <a:ext cx="7686135" cy="1169551"/>
          </a:xfrm>
          <a:prstGeom prst="rect">
            <a:avLst/>
          </a:prstGeom>
          <a:solidFill>
            <a:srgbClr val="33CCFF"/>
          </a:solidFill>
        </p:spPr>
        <p:txBody>
          <a:bodyPr wrap="square">
            <a:spAutoFit/>
          </a:bodyPr>
          <a:lstStyle/>
          <a:p>
            <a:pPr>
              <a:lnSpc>
                <a:spcPts val="2800"/>
              </a:lnSpc>
            </a:pPr>
            <a:r>
              <a:rPr lang="en-US" altLang="zh-CN" b="1" dirty="0">
                <a:solidFill>
                  <a:srgbClr val="C00000"/>
                </a:solidFill>
                <a:latin typeface="微软雅黑" panose="020B0503020204020204" pitchFamily="34" charset="-122"/>
                <a:ea typeface="微软雅黑" panose="020B0503020204020204" pitchFamily="34" charset="-122"/>
              </a:rPr>
              <a:t>/20 </a:t>
            </a:r>
            <a:r>
              <a:rPr lang="zh-CN" altLang="en-US" b="1" dirty="0">
                <a:latin typeface="微软雅黑" panose="020B0503020204020204" pitchFamily="34" charset="-122"/>
                <a:ea typeface="微软雅黑" panose="020B0503020204020204" pitchFamily="34" charset="-122"/>
              </a:rPr>
              <a:t>地址块的地址掩码：</a:t>
            </a:r>
            <a:r>
              <a:rPr lang="en-US" altLang="zh-CN" b="1" dirty="0">
                <a:latin typeface="微软雅黑" panose="020B0503020204020204" pitchFamily="34" charset="-122"/>
                <a:ea typeface="微软雅黑" panose="020B0503020204020204" pitchFamily="34" charset="-122"/>
              </a:rPr>
              <a:t>11111111 11111111 11110000 00000000</a:t>
            </a:r>
          </a:p>
          <a:p>
            <a:pPr>
              <a:lnSpc>
                <a:spcPts val="2800"/>
              </a:lnSpc>
            </a:pPr>
            <a:r>
              <a:rPr lang="zh-CN" altLang="en-US" b="1" dirty="0">
                <a:latin typeface="微软雅黑" panose="020B0503020204020204" pitchFamily="34" charset="-122"/>
                <a:ea typeface="微软雅黑" panose="020B0503020204020204" pitchFamily="34" charset="-122"/>
              </a:rPr>
              <a:t>点分十进制记法：</a:t>
            </a:r>
            <a:r>
              <a:rPr lang="en-US" altLang="zh-CN" b="1" dirty="0">
                <a:latin typeface="微软雅黑" panose="020B0503020204020204" pitchFamily="34" charset="-122"/>
                <a:ea typeface="微软雅黑" panose="020B0503020204020204" pitchFamily="34" charset="-122"/>
              </a:rPr>
              <a:t>255.255.240.0</a:t>
            </a:r>
          </a:p>
          <a:p>
            <a:pPr>
              <a:lnSpc>
                <a:spcPts val="2800"/>
              </a:lnSpc>
            </a:pPr>
            <a:r>
              <a:rPr lang="en-US" altLang="zh-CN" b="1" dirty="0">
                <a:latin typeface="微软雅黑" panose="020B0503020204020204" pitchFamily="34" charset="-122"/>
                <a:ea typeface="微软雅黑" panose="020B0503020204020204" pitchFamily="34" charset="-122"/>
              </a:rPr>
              <a:t>       CIDR </a:t>
            </a:r>
            <a:r>
              <a:rPr lang="zh-CN" altLang="en-US" b="1" dirty="0">
                <a:latin typeface="微软雅黑" panose="020B0503020204020204" pitchFamily="34" charset="-122"/>
                <a:ea typeface="微软雅黑" panose="020B0503020204020204" pitchFamily="34" charset="-122"/>
              </a:rPr>
              <a:t>记法：</a:t>
            </a:r>
            <a:r>
              <a:rPr lang="en-US" altLang="zh-CN" b="1" dirty="0">
                <a:latin typeface="微软雅黑" panose="020B0503020204020204" pitchFamily="34" charset="-122"/>
                <a:ea typeface="微软雅黑" panose="020B0503020204020204" pitchFamily="34" charset="-122"/>
              </a:rPr>
              <a:t>255.255.240.0/20</a:t>
            </a:r>
            <a:r>
              <a:rPr lang="zh-CN" altLang="en-US" b="1" dirty="0">
                <a:latin typeface="微软雅黑" panose="020B0503020204020204" pitchFamily="34" charset="-122"/>
                <a:ea typeface="微软雅黑" panose="020B0503020204020204" pitchFamily="34" charset="-122"/>
              </a:rPr>
              <a:t>。</a:t>
            </a:r>
          </a:p>
        </p:txBody>
      </p:sp>
    </p:spTree>
    <p:extLst>
      <p:ext uri="{BB962C8B-B14F-4D97-AF65-F5344CB8AC3E}">
        <p14:creationId xmlns:p14="http://schemas.microsoft.com/office/powerpoint/2010/main" val="226288040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3367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45144" y="624674"/>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5" y="565906"/>
            <a:ext cx="1723549" cy="400110"/>
          </a:xfrm>
          <a:prstGeom prst="rect">
            <a:avLst/>
          </a:prstGeom>
        </p:spPr>
        <p:txBody>
          <a:bodyPr wrap="none">
            <a:spAutoFit/>
          </a:bodyPr>
          <a:lstStyle/>
          <a:p>
            <a:r>
              <a:rPr lang="zh-CN" altLang="en-US" sz="2000" b="1" dirty="0">
                <a:highlight>
                  <a:srgbClr val="FFFF00"/>
                </a:highlight>
                <a:latin typeface="微软雅黑" pitchFamily="34" charset="-122"/>
                <a:ea typeface="微软雅黑" pitchFamily="34" charset="-122"/>
              </a:rPr>
              <a:t>默认地址掩码</a:t>
            </a:r>
          </a:p>
        </p:txBody>
      </p:sp>
      <p:sp>
        <p:nvSpPr>
          <p:cNvPr id="73" name="Rectangle 2"/>
          <p:cNvSpPr>
            <a:spLocks noChangeArrowheads="1"/>
          </p:cNvSpPr>
          <p:nvPr/>
        </p:nvSpPr>
        <p:spPr bwMode="auto">
          <a:xfrm>
            <a:off x="1578634" y="1135078"/>
            <a:ext cx="5798097" cy="3137965"/>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1" name="Rectangle 54"/>
          <p:cNvSpPr>
            <a:spLocks noChangeArrowheads="1"/>
          </p:cNvSpPr>
          <p:nvPr/>
        </p:nvSpPr>
        <p:spPr bwMode="auto">
          <a:xfrm>
            <a:off x="6230843" y="3824348"/>
            <a:ext cx="1046391" cy="302025"/>
          </a:xfrm>
          <a:prstGeom prst="rect">
            <a:avLst/>
          </a:prstGeom>
          <a:solidFill>
            <a:srgbClr val="00FF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2" name="Rectangle 35"/>
          <p:cNvSpPr>
            <a:spLocks noChangeArrowheads="1"/>
          </p:cNvSpPr>
          <p:nvPr/>
        </p:nvSpPr>
        <p:spPr bwMode="auto">
          <a:xfrm>
            <a:off x="3150211" y="3832068"/>
            <a:ext cx="3081678" cy="302025"/>
          </a:xfrm>
          <a:prstGeom prst="rect">
            <a:avLst/>
          </a:prstGeom>
          <a:solidFill>
            <a:srgbClr val="00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3" name="Rectangle 39"/>
          <p:cNvSpPr>
            <a:spLocks noChangeArrowheads="1"/>
          </p:cNvSpPr>
          <p:nvPr/>
        </p:nvSpPr>
        <p:spPr bwMode="auto">
          <a:xfrm>
            <a:off x="3094084" y="3858121"/>
            <a:ext cx="3218831" cy="259045"/>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1 1 1 1 1 1 1 1 1 1 1 1 1 1 1 1 1 1 1 1 1 1 1 1</a:t>
            </a:r>
          </a:p>
        </p:txBody>
      </p:sp>
      <p:sp>
        <p:nvSpPr>
          <p:cNvPr id="64" name="Rectangle 44"/>
          <p:cNvSpPr>
            <a:spLocks noChangeArrowheads="1"/>
          </p:cNvSpPr>
          <p:nvPr/>
        </p:nvSpPr>
        <p:spPr bwMode="auto">
          <a:xfrm>
            <a:off x="6171142" y="3858121"/>
            <a:ext cx="1166987" cy="2590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0 0 0 0 0 0 0 0</a:t>
            </a:r>
          </a:p>
        </p:txBody>
      </p:sp>
      <p:sp>
        <p:nvSpPr>
          <p:cNvPr id="65" name="Rectangle 53"/>
          <p:cNvSpPr>
            <a:spLocks noChangeArrowheads="1"/>
          </p:cNvSpPr>
          <p:nvPr/>
        </p:nvSpPr>
        <p:spPr bwMode="auto">
          <a:xfrm>
            <a:off x="5175044" y="2760027"/>
            <a:ext cx="2100099" cy="300094"/>
          </a:xfrm>
          <a:prstGeom prst="rect">
            <a:avLst/>
          </a:prstGeom>
          <a:solidFill>
            <a:srgbClr val="00FF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6" name="Rectangle 42"/>
          <p:cNvSpPr>
            <a:spLocks noChangeArrowheads="1"/>
          </p:cNvSpPr>
          <p:nvPr/>
        </p:nvSpPr>
        <p:spPr bwMode="auto">
          <a:xfrm>
            <a:off x="5151930" y="2784150"/>
            <a:ext cx="2192909" cy="2590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latin typeface="微软雅黑" pitchFamily="34" charset="-122"/>
                <a:ea typeface="微软雅黑" pitchFamily="34" charset="-122"/>
              </a:rPr>
              <a:t>0 0 0 0 0 0 0 0 0 0 0 0 0 0 0 0</a:t>
            </a:r>
          </a:p>
        </p:txBody>
      </p:sp>
      <p:sp>
        <p:nvSpPr>
          <p:cNvPr id="67" name="Rectangle 29"/>
          <p:cNvSpPr>
            <a:spLocks noChangeArrowheads="1"/>
          </p:cNvSpPr>
          <p:nvPr/>
        </p:nvSpPr>
        <p:spPr bwMode="auto">
          <a:xfrm>
            <a:off x="3154393" y="2763886"/>
            <a:ext cx="2024833" cy="300094"/>
          </a:xfrm>
          <a:prstGeom prst="rect">
            <a:avLst/>
          </a:prstGeom>
          <a:solidFill>
            <a:srgbClr val="00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8" name="Rectangle 41"/>
          <p:cNvSpPr>
            <a:spLocks noChangeArrowheads="1"/>
          </p:cNvSpPr>
          <p:nvPr/>
        </p:nvSpPr>
        <p:spPr bwMode="auto">
          <a:xfrm>
            <a:off x="3087967" y="2784150"/>
            <a:ext cx="2192909" cy="259045"/>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1 1 1 1 1 1 1 1 1 1 1 1 1 1 1 1</a:t>
            </a:r>
          </a:p>
        </p:txBody>
      </p:sp>
      <p:sp>
        <p:nvSpPr>
          <p:cNvPr id="69" name="Rectangle 19"/>
          <p:cNvSpPr>
            <a:spLocks noChangeArrowheads="1"/>
          </p:cNvSpPr>
          <p:nvPr/>
        </p:nvSpPr>
        <p:spPr bwMode="auto">
          <a:xfrm>
            <a:off x="3154393" y="1695705"/>
            <a:ext cx="1055799" cy="300095"/>
          </a:xfrm>
          <a:prstGeom prst="rect">
            <a:avLst/>
          </a:prstGeom>
          <a:solidFill>
            <a:srgbClr val="00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0" name="Rectangle 52"/>
          <p:cNvSpPr>
            <a:spLocks noChangeArrowheads="1"/>
          </p:cNvSpPr>
          <p:nvPr/>
        </p:nvSpPr>
        <p:spPr bwMode="auto">
          <a:xfrm>
            <a:off x="4196602" y="1696670"/>
            <a:ext cx="3075405" cy="300094"/>
          </a:xfrm>
          <a:prstGeom prst="rect">
            <a:avLst/>
          </a:prstGeom>
          <a:solidFill>
            <a:srgbClr val="00FF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1" name="Rectangle 43"/>
          <p:cNvSpPr>
            <a:spLocks noChangeArrowheads="1"/>
          </p:cNvSpPr>
          <p:nvPr/>
        </p:nvSpPr>
        <p:spPr bwMode="auto">
          <a:xfrm>
            <a:off x="3096330" y="1725618"/>
            <a:ext cx="1166987" cy="2590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1 1 1 1 1 1 1 1</a:t>
            </a:r>
          </a:p>
        </p:txBody>
      </p:sp>
      <p:sp>
        <p:nvSpPr>
          <p:cNvPr id="72" name="Rectangle 40"/>
          <p:cNvSpPr>
            <a:spLocks noChangeArrowheads="1"/>
          </p:cNvSpPr>
          <p:nvPr/>
        </p:nvSpPr>
        <p:spPr bwMode="auto">
          <a:xfrm>
            <a:off x="4151535" y="1725618"/>
            <a:ext cx="3218831" cy="259045"/>
          </a:xfrm>
          <a:prstGeom prst="rect">
            <a:avLst/>
          </a:prstGeom>
          <a:no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0 0 0 0 0 0 0 0 0 0 0 0 0 0 0 0 0 0 0 0 0 0 0 0</a:t>
            </a:r>
          </a:p>
        </p:txBody>
      </p:sp>
      <p:sp>
        <p:nvSpPr>
          <p:cNvPr id="74" name="Rectangle 3"/>
          <p:cNvSpPr>
            <a:spLocks noChangeArrowheads="1"/>
          </p:cNvSpPr>
          <p:nvPr/>
        </p:nvSpPr>
        <p:spPr bwMode="auto">
          <a:xfrm>
            <a:off x="3152302" y="3347671"/>
            <a:ext cx="3081678" cy="302025"/>
          </a:xfrm>
          <a:prstGeom prst="rect">
            <a:avLst/>
          </a:prstGeom>
          <a:solidFill>
            <a:srgbClr val="00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5" name="Rectangle 4"/>
          <p:cNvSpPr>
            <a:spLocks noChangeArrowheads="1"/>
          </p:cNvSpPr>
          <p:nvPr/>
        </p:nvSpPr>
        <p:spPr bwMode="auto">
          <a:xfrm>
            <a:off x="4385888" y="3360216"/>
            <a:ext cx="644408"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网络号</a:t>
            </a:r>
          </a:p>
        </p:txBody>
      </p:sp>
      <p:sp>
        <p:nvSpPr>
          <p:cNvPr id="76" name="Line 5"/>
          <p:cNvSpPr>
            <a:spLocks noChangeShapeType="1"/>
          </p:cNvSpPr>
          <p:nvPr/>
        </p:nvSpPr>
        <p:spPr bwMode="auto">
          <a:xfrm>
            <a:off x="6237115" y="3338022"/>
            <a:ext cx="0" cy="30781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7" name="Rectangle 6"/>
          <p:cNvSpPr>
            <a:spLocks noChangeArrowheads="1"/>
          </p:cNvSpPr>
          <p:nvPr/>
        </p:nvSpPr>
        <p:spPr bwMode="auto">
          <a:xfrm>
            <a:off x="3149166" y="3339952"/>
            <a:ext cx="4133295" cy="315534"/>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8" name="Rectangle 7"/>
          <p:cNvSpPr>
            <a:spLocks noChangeArrowheads="1"/>
          </p:cNvSpPr>
          <p:nvPr/>
        </p:nvSpPr>
        <p:spPr bwMode="auto">
          <a:xfrm>
            <a:off x="3155437" y="1251835"/>
            <a:ext cx="1033847" cy="300095"/>
          </a:xfrm>
          <a:prstGeom prst="rect">
            <a:avLst/>
          </a:prstGeom>
          <a:solidFill>
            <a:srgbClr val="00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9" name="Rectangle 8"/>
          <p:cNvSpPr>
            <a:spLocks noChangeArrowheads="1"/>
          </p:cNvSpPr>
          <p:nvPr/>
        </p:nvSpPr>
        <p:spPr bwMode="auto">
          <a:xfrm>
            <a:off x="4211236" y="1248940"/>
            <a:ext cx="3060771" cy="307814"/>
          </a:xfrm>
          <a:prstGeom prst="rect">
            <a:avLst/>
          </a:prstGeom>
          <a:solidFill>
            <a:srgbClr val="00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0" name="Rectangle 9"/>
          <p:cNvSpPr>
            <a:spLocks noChangeArrowheads="1"/>
          </p:cNvSpPr>
          <p:nvPr/>
        </p:nvSpPr>
        <p:spPr bwMode="auto">
          <a:xfrm>
            <a:off x="3371834" y="1261733"/>
            <a:ext cx="644408"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网络号</a:t>
            </a:r>
          </a:p>
        </p:txBody>
      </p:sp>
      <p:sp>
        <p:nvSpPr>
          <p:cNvPr id="81" name="Rectangle 10"/>
          <p:cNvSpPr>
            <a:spLocks noChangeArrowheads="1"/>
          </p:cNvSpPr>
          <p:nvPr/>
        </p:nvSpPr>
        <p:spPr bwMode="auto">
          <a:xfrm>
            <a:off x="5348351" y="1261733"/>
            <a:ext cx="644408" cy="27443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主机号</a:t>
            </a:r>
            <a:endParaRPr kumimoji="1" lang="en-US" altLang="zh-CN" sz="1200" b="1" dirty="0">
              <a:latin typeface="微软雅黑" pitchFamily="34" charset="-122"/>
              <a:ea typeface="微软雅黑" pitchFamily="34" charset="-122"/>
            </a:endParaRPr>
          </a:p>
        </p:txBody>
      </p:sp>
      <p:sp>
        <p:nvSpPr>
          <p:cNvPr id="82" name="Line 11"/>
          <p:cNvSpPr>
            <a:spLocks noChangeShapeType="1"/>
          </p:cNvSpPr>
          <p:nvPr/>
        </p:nvSpPr>
        <p:spPr bwMode="auto">
          <a:xfrm>
            <a:off x="4198692" y="1248940"/>
            <a:ext cx="0" cy="30877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3" name="Rectangle 12"/>
          <p:cNvSpPr>
            <a:spLocks noChangeArrowheads="1"/>
          </p:cNvSpPr>
          <p:nvPr/>
        </p:nvSpPr>
        <p:spPr bwMode="auto">
          <a:xfrm>
            <a:off x="3150211" y="1243151"/>
            <a:ext cx="4135386" cy="31649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4" name="Rectangle 13"/>
          <p:cNvSpPr>
            <a:spLocks noChangeArrowheads="1"/>
          </p:cNvSpPr>
          <p:nvPr/>
        </p:nvSpPr>
        <p:spPr bwMode="auto">
          <a:xfrm>
            <a:off x="3152302" y="2291069"/>
            <a:ext cx="2026924" cy="300094"/>
          </a:xfrm>
          <a:prstGeom prst="rect">
            <a:avLst/>
          </a:prstGeom>
          <a:solidFill>
            <a:srgbClr val="00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5" name="Rectangle 14"/>
          <p:cNvSpPr>
            <a:spLocks noChangeArrowheads="1"/>
          </p:cNvSpPr>
          <p:nvPr/>
        </p:nvSpPr>
        <p:spPr bwMode="auto">
          <a:xfrm>
            <a:off x="3868376" y="2304826"/>
            <a:ext cx="644408"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网络号</a:t>
            </a:r>
          </a:p>
        </p:txBody>
      </p:sp>
      <p:sp>
        <p:nvSpPr>
          <p:cNvPr id="86" name="Line 15"/>
          <p:cNvSpPr>
            <a:spLocks noChangeShapeType="1"/>
          </p:cNvSpPr>
          <p:nvPr/>
        </p:nvSpPr>
        <p:spPr bwMode="auto">
          <a:xfrm>
            <a:off x="5191770" y="2288174"/>
            <a:ext cx="0" cy="30877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7" name="Rectangle 16"/>
          <p:cNvSpPr>
            <a:spLocks noChangeArrowheads="1"/>
          </p:cNvSpPr>
          <p:nvPr/>
        </p:nvSpPr>
        <p:spPr bwMode="auto">
          <a:xfrm>
            <a:off x="3148120" y="2282384"/>
            <a:ext cx="4134340" cy="315534"/>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8" name="Rectangle 18"/>
          <p:cNvSpPr>
            <a:spLocks noChangeArrowheads="1"/>
          </p:cNvSpPr>
          <p:nvPr/>
        </p:nvSpPr>
        <p:spPr bwMode="auto">
          <a:xfrm>
            <a:off x="6243387" y="3347670"/>
            <a:ext cx="1033848" cy="303383"/>
          </a:xfrm>
          <a:prstGeom prst="rect">
            <a:avLst/>
          </a:prstGeom>
          <a:solidFill>
            <a:srgbClr val="00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9" name="Rectangle 21"/>
          <p:cNvSpPr>
            <a:spLocks noChangeArrowheads="1"/>
          </p:cNvSpPr>
          <p:nvPr/>
        </p:nvSpPr>
        <p:spPr bwMode="auto">
          <a:xfrm>
            <a:off x="3149166" y="1687020"/>
            <a:ext cx="4135386" cy="315533"/>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91" name="Text Box 23"/>
          <p:cNvSpPr txBox="1">
            <a:spLocks noChangeArrowheads="1"/>
          </p:cNvSpPr>
          <p:nvPr/>
        </p:nvSpPr>
        <p:spPr bwMode="auto">
          <a:xfrm>
            <a:off x="1612692" y="1276427"/>
            <a:ext cx="346570" cy="7201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5000"/>
              </a:lnSpc>
            </a:pPr>
            <a:r>
              <a:rPr kumimoji="1" lang="en-US" altLang="zh-CN" sz="1200" b="1" dirty="0">
                <a:solidFill>
                  <a:srgbClr val="C00000"/>
                </a:solidFill>
                <a:latin typeface="微软雅黑" pitchFamily="34" charset="-122"/>
                <a:ea typeface="微软雅黑" pitchFamily="34" charset="-122"/>
              </a:rPr>
              <a:t>A</a:t>
            </a:r>
          </a:p>
          <a:p>
            <a:pPr algn="ctr">
              <a:lnSpc>
                <a:spcPct val="85000"/>
              </a:lnSpc>
            </a:pPr>
            <a:r>
              <a:rPr kumimoji="1" lang="zh-CN" altLang="en-US" sz="1200" b="1" dirty="0">
                <a:solidFill>
                  <a:srgbClr val="C00000"/>
                </a:solidFill>
                <a:latin typeface="微软雅黑" pitchFamily="34" charset="-122"/>
                <a:ea typeface="微软雅黑" pitchFamily="34" charset="-122"/>
              </a:rPr>
              <a:t>类</a:t>
            </a:r>
          </a:p>
          <a:p>
            <a:pPr algn="ctr">
              <a:lnSpc>
                <a:spcPct val="85000"/>
              </a:lnSpc>
            </a:pPr>
            <a:r>
              <a:rPr kumimoji="1" lang="zh-CN" altLang="en-US" sz="1200" b="1" dirty="0">
                <a:solidFill>
                  <a:srgbClr val="C00000"/>
                </a:solidFill>
                <a:latin typeface="微软雅黑" pitchFamily="34" charset="-122"/>
                <a:ea typeface="微软雅黑" pitchFamily="34" charset="-122"/>
              </a:rPr>
              <a:t>地</a:t>
            </a:r>
          </a:p>
          <a:p>
            <a:pPr algn="ctr">
              <a:lnSpc>
                <a:spcPct val="85000"/>
              </a:lnSpc>
            </a:pPr>
            <a:r>
              <a:rPr kumimoji="1" lang="zh-CN" altLang="en-US" sz="1200" b="1" dirty="0">
                <a:solidFill>
                  <a:srgbClr val="C00000"/>
                </a:solidFill>
                <a:latin typeface="微软雅黑" pitchFamily="34" charset="-122"/>
                <a:ea typeface="微软雅黑" pitchFamily="34" charset="-122"/>
              </a:rPr>
              <a:t>址</a:t>
            </a:r>
          </a:p>
        </p:txBody>
      </p:sp>
      <p:sp>
        <p:nvSpPr>
          <p:cNvPr id="92" name="Rectangle 24"/>
          <p:cNvSpPr>
            <a:spLocks noChangeArrowheads="1"/>
          </p:cNvSpPr>
          <p:nvPr/>
        </p:nvSpPr>
        <p:spPr bwMode="auto">
          <a:xfrm>
            <a:off x="2049347" y="1635148"/>
            <a:ext cx="1029129" cy="500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ts val="1600"/>
              </a:lnSpc>
            </a:pPr>
            <a:r>
              <a:rPr kumimoji="1" lang="zh-CN" altLang="en-US" sz="1100" b="1" dirty="0">
                <a:latin typeface="微软雅黑" pitchFamily="34" charset="-122"/>
                <a:ea typeface="微软雅黑" pitchFamily="34" charset="-122"/>
              </a:rPr>
              <a:t>默认地址掩码</a:t>
            </a:r>
          </a:p>
          <a:p>
            <a:pPr algn="ctr" defTabSz="762000" eaLnBrk="0" hangingPunct="0">
              <a:lnSpc>
                <a:spcPts val="1600"/>
              </a:lnSpc>
            </a:pPr>
            <a:r>
              <a:rPr kumimoji="1" lang="en-US" altLang="zh-CN" sz="1100" b="1" dirty="0">
                <a:solidFill>
                  <a:srgbClr val="C00000"/>
                </a:solidFill>
                <a:latin typeface="微软雅黑" pitchFamily="34" charset="-122"/>
                <a:ea typeface="微软雅黑" pitchFamily="34" charset="-122"/>
              </a:rPr>
              <a:t>255.0.0.0</a:t>
            </a:r>
          </a:p>
        </p:txBody>
      </p:sp>
      <p:sp>
        <p:nvSpPr>
          <p:cNvPr id="94" name="Text Box 26"/>
          <p:cNvSpPr txBox="1">
            <a:spLocks noChangeArrowheads="1"/>
          </p:cNvSpPr>
          <p:nvPr/>
        </p:nvSpPr>
        <p:spPr bwMode="auto">
          <a:xfrm>
            <a:off x="1618267" y="2288486"/>
            <a:ext cx="338554" cy="7201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5000"/>
              </a:lnSpc>
            </a:pPr>
            <a:r>
              <a:rPr kumimoji="1" lang="en-US" altLang="zh-CN" sz="1200" b="1" dirty="0">
                <a:solidFill>
                  <a:srgbClr val="C00000"/>
                </a:solidFill>
                <a:latin typeface="微软雅黑" pitchFamily="34" charset="-122"/>
                <a:ea typeface="微软雅黑" pitchFamily="34" charset="-122"/>
              </a:rPr>
              <a:t>B</a:t>
            </a:r>
          </a:p>
          <a:p>
            <a:pPr algn="ctr">
              <a:lnSpc>
                <a:spcPct val="85000"/>
              </a:lnSpc>
            </a:pPr>
            <a:r>
              <a:rPr kumimoji="1" lang="zh-CN" altLang="en-US" sz="1200" b="1" dirty="0">
                <a:solidFill>
                  <a:srgbClr val="C00000"/>
                </a:solidFill>
                <a:latin typeface="微软雅黑" pitchFamily="34" charset="-122"/>
                <a:ea typeface="微软雅黑" pitchFamily="34" charset="-122"/>
              </a:rPr>
              <a:t>类</a:t>
            </a:r>
          </a:p>
          <a:p>
            <a:pPr algn="ctr">
              <a:lnSpc>
                <a:spcPct val="85000"/>
              </a:lnSpc>
            </a:pPr>
            <a:r>
              <a:rPr kumimoji="1" lang="zh-CN" altLang="en-US" sz="1200" b="1" dirty="0">
                <a:solidFill>
                  <a:srgbClr val="C00000"/>
                </a:solidFill>
                <a:latin typeface="微软雅黑" pitchFamily="34" charset="-122"/>
                <a:ea typeface="微软雅黑" pitchFamily="34" charset="-122"/>
              </a:rPr>
              <a:t>地</a:t>
            </a:r>
          </a:p>
          <a:p>
            <a:pPr algn="ctr">
              <a:lnSpc>
                <a:spcPct val="85000"/>
              </a:lnSpc>
            </a:pPr>
            <a:r>
              <a:rPr kumimoji="1" lang="zh-CN" altLang="en-US" sz="1200" b="1" dirty="0">
                <a:solidFill>
                  <a:srgbClr val="C00000"/>
                </a:solidFill>
                <a:latin typeface="微软雅黑" pitchFamily="34" charset="-122"/>
                <a:ea typeface="微软雅黑" pitchFamily="34" charset="-122"/>
              </a:rPr>
              <a:t>址</a:t>
            </a:r>
          </a:p>
        </p:txBody>
      </p:sp>
      <p:sp>
        <p:nvSpPr>
          <p:cNvPr id="95" name="Rectangle 27"/>
          <p:cNvSpPr>
            <a:spLocks noChangeArrowheads="1"/>
          </p:cNvSpPr>
          <p:nvPr/>
        </p:nvSpPr>
        <p:spPr bwMode="auto">
          <a:xfrm>
            <a:off x="2049347" y="2705932"/>
            <a:ext cx="1029129" cy="500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ts val="1600"/>
              </a:lnSpc>
            </a:pPr>
            <a:r>
              <a:rPr kumimoji="1" lang="zh-CN" altLang="en-US" sz="1100" b="1" dirty="0">
                <a:latin typeface="微软雅黑" pitchFamily="34" charset="-122"/>
                <a:ea typeface="微软雅黑" pitchFamily="34" charset="-122"/>
              </a:rPr>
              <a:t>默认地址掩码</a:t>
            </a:r>
          </a:p>
          <a:p>
            <a:pPr algn="ctr" defTabSz="762000" eaLnBrk="0" hangingPunct="0">
              <a:lnSpc>
                <a:spcPts val="1600"/>
              </a:lnSpc>
            </a:pPr>
            <a:r>
              <a:rPr kumimoji="1" lang="en-US" altLang="zh-CN" sz="1100" b="1" dirty="0">
                <a:solidFill>
                  <a:srgbClr val="C00000"/>
                </a:solidFill>
                <a:latin typeface="微软雅黑" pitchFamily="34" charset="-122"/>
                <a:ea typeface="微软雅黑" pitchFamily="34" charset="-122"/>
              </a:rPr>
              <a:t>255.255.0.0</a:t>
            </a:r>
          </a:p>
        </p:txBody>
      </p:sp>
      <p:sp>
        <p:nvSpPr>
          <p:cNvPr id="96" name="Rectangle 31"/>
          <p:cNvSpPr>
            <a:spLocks noChangeArrowheads="1"/>
          </p:cNvSpPr>
          <p:nvPr/>
        </p:nvSpPr>
        <p:spPr bwMode="auto">
          <a:xfrm>
            <a:off x="3149166" y="2755202"/>
            <a:ext cx="4135386" cy="31649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rgbClr val="CCEC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98" name="Text Box 33"/>
          <p:cNvSpPr txBox="1">
            <a:spLocks noChangeArrowheads="1"/>
          </p:cNvSpPr>
          <p:nvPr/>
        </p:nvSpPr>
        <p:spPr bwMode="auto">
          <a:xfrm>
            <a:off x="1618267" y="3366878"/>
            <a:ext cx="338554" cy="7201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5000"/>
              </a:lnSpc>
            </a:pPr>
            <a:r>
              <a:rPr kumimoji="1" lang="en-US" altLang="zh-CN" sz="1200" b="1" dirty="0">
                <a:solidFill>
                  <a:srgbClr val="C00000"/>
                </a:solidFill>
                <a:latin typeface="微软雅黑" pitchFamily="34" charset="-122"/>
                <a:ea typeface="微软雅黑" pitchFamily="34" charset="-122"/>
              </a:rPr>
              <a:t>C</a:t>
            </a:r>
          </a:p>
          <a:p>
            <a:pPr algn="ctr">
              <a:lnSpc>
                <a:spcPct val="85000"/>
              </a:lnSpc>
            </a:pPr>
            <a:r>
              <a:rPr kumimoji="1" lang="zh-CN" altLang="en-US" sz="1200" b="1" dirty="0">
                <a:solidFill>
                  <a:srgbClr val="C00000"/>
                </a:solidFill>
                <a:latin typeface="微软雅黑" pitchFamily="34" charset="-122"/>
                <a:ea typeface="微软雅黑" pitchFamily="34" charset="-122"/>
              </a:rPr>
              <a:t>类</a:t>
            </a:r>
          </a:p>
          <a:p>
            <a:pPr algn="ctr">
              <a:lnSpc>
                <a:spcPct val="85000"/>
              </a:lnSpc>
            </a:pPr>
            <a:r>
              <a:rPr kumimoji="1" lang="zh-CN" altLang="en-US" sz="1200" b="1" dirty="0">
                <a:solidFill>
                  <a:srgbClr val="C00000"/>
                </a:solidFill>
                <a:latin typeface="微软雅黑" pitchFamily="34" charset="-122"/>
                <a:ea typeface="微软雅黑" pitchFamily="34" charset="-122"/>
              </a:rPr>
              <a:t>地</a:t>
            </a:r>
          </a:p>
          <a:p>
            <a:pPr algn="ctr">
              <a:lnSpc>
                <a:spcPct val="85000"/>
              </a:lnSpc>
            </a:pPr>
            <a:r>
              <a:rPr kumimoji="1" lang="zh-CN" altLang="en-US" sz="1200" b="1" dirty="0">
                <a:solidFill>
                  <a:srgbClr val="C00000"/>
                </a:solidFill>
                <a:latin typeface="微软雅黑" pitchFamily="34" charset="-122"/>
                <a:ea typeface="微软雅黑" pitchFamily="34" charset="-122"/>
              </a:rPr>
              <a:t>址</a:t>
            </a:r>
          </a:p>
        </p:txBody>
      </p:sp>
      <p:sp>
        <p:nvSpPr>
          <p:cNvPr id="99" name="Rectangle 34"/>
          <p:cNvSpPr>
            <a:spLocks noChangeArrowheads="1"/>
          </p:cNvSpPr>
          <p:nvPr/>
        </p:nvSpPr>
        <p:spPr bwMode="auto">
          <a:xfrm>
            <a:off x="1979616" y="3770488"/>
            <a:ext cx="1168590" cy="500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ts val="1600"/>
              </a:lnSpc>
            </a:pPr>
            <a:r>
              <a:rPr kumimoji="1" lang="zh-CN" altLang="en-US" sz="1100" b="1" dirty="0">
                <a:latin typeface="微软雅黑" pitchFamily="34" charset="-122"/>
                <a:ea typeface="微软雅黑" pitchFamily="34" charset="-122"/>
              </a:rPr>
              <a:t>默认地址掩码</a:t>
            </a:r>
          </a:p>
          <a:p>
            <a:pPr algn="ctr" defTabSz="762000" eaLnBrk="0" hangingPunct="0">
              <a:lnSpc>
                <a:spcPts val="1600"/>
              </a:lnSpc>
            </a:pPr>
            <a:r>
              <a:rPr kumimoji="1" lang="en-US" altLang="zh-CN" sz="1100" b="1" dirty="0">
                <a:solidFill>
                  <a:srgbClr val="C00000"/>
                </a:solidFill>
                <a:latin typeface="微软雅黑" pitchFamily="34" charset="-122"/>
                <a:ea typeface="微软雅黑" pitchFamily="34" charset="-122"/>
              </a:rPr>
              <a:t>255.255.255.0</a:t>
            </a:r>
          </a:p>
        </p:txBody>
      </p:sp>
      <p:sp>
        <p:nvSpPr>
          <p:cNvPr id="100" name="Rectangle 37"/>
          <p:cNvSpPr>
            <a:spLocks noChangeArrowheads="1"/>
          </p:cNvSpPr>
          <p:nvPr/>
        </p:nvSpPr>
        <p:spPr bwMode="auto">
          <a:xfrm>
            <a:off x="3146030" y="3823384"/>
            <a:ext cx="4134340" cy="31649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rgbClr val="CCEC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01" name="Rectangle 45"/>
          <p:cNvSpPr>
            <a:spLocks noChangeArrowheads="1"/>
          </p:cNvSpPr>
          <p:nvPr/>
        </p:nvSpPr>
        <p:spPr bwMode="auto">
          <a:xfrm>
            <a:off x="5198042" y="2290104"/>
            <a:ext cx="2073965" cy="293340"/>
          </a:xfrm>
          <a:prstGeom prst="rect">
            <a:avLst/>
          </a:prstGeom>
          <a:solidFill>
            <a:srgbClr val="00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02" name="Rectangle 46"/>
          <p:cNvSpPr>
            <a:spLocks noChangeArrowheads="1"/>
          </p:cNvSpPr>
          <p:nvPr/>
        </p:nvSpPr>
        <p:spPr bwMode="auto">
          <a:xfrm>
            <a:off x="6386638" y="3363110"/>
            <a:ext cx="644408" cy="27443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主机号</a:t>
            </a:r>
            <a:endParaRPr kumimoji="1" lang="en-US" altLang="zh-CN" sz="1200" b="1" dirty="0">
              <a:latin typeface="微软雅黑" pitchFamily="34" charset="-122"/>
              <a:ea typeface="微软雅黑" pitchFamily="34" charset="-122"/>
            </a:endParaRPr>
          </a:p>
        </p:txBody>
      </p:sp>
      <p:sp>
        <p:nvSpPr>
          <p:cNvPr id="103" name="Rectangle 47"/>
          <p:cNvSpPr>
            <a:spLocks noChangeArrowheads="1"/>
          </p:cNvSpPr>
          <p:nvPr/>
        </p:nvSpPr>
        <p:spPr bwMode="auto">
          <a:xfrm>
            <a:off x="5872617" y="2304826"/>
            <a:ext cx="644408" cy="27443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主机号</a:t>
            </a:r>
            <a:endParaRPr kumimoji="1" lang="en-US" altLang="zh-CN" sz="1200" b="1" dirty="0">
              <a:latin typeface="微软雅黑" pitchFamily="34" charset="-122"/>
              <a:ea typeface="微软雅黑" pitchFamily="34" charset="-122"/>
            </a:endParaRPr>
          </a:p>
        </p:txBody>
      </p:sp>
      <p:grpSp>
        <p:nvGrpSpPr>
          <p:cNvPr id="104" name="组合 103"/>
          <p:cNvGrpSpPr/>
          <p:nvPr/>
        </p:nvGrpSpPr>
        <p:grpSpPr>
          <a:xfrm>
            <a:off x="1578634" y="2136679"/>
            <a:ext cx="5798097" cy="1068182"/>
            <a:chOff x="24077" y="2916585"/>
            <a:chExt cx="9785615" cy="1757362"/>
          </a:xfrm>
        </p:grpSpPr>
        <p:sp>
          <p:nvSpPr>
            <p:cNvPr id="106" name="Line 48"/>
            <p:cNvSpPr>
              <a:spLocks noChangeShapeType="1"/>
            </p:cNvSpPr>
            <p:nvPr/>
          </p:nvSpPr>
          <p:spPr bwMode="auto">
            <a:xfrm>
              <a:off x="24077" y="2916585"/>
              <a:ext cx="978561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07" name="Line 49"/>
            <p:cNvSpPr>
              <a:spLocks noChangeShapeType="1"/>
            </p:cNvSpPr>
            <p:nvPr/>
          </p:nvSpPr>
          <p:spPr bwMode="auto">
            <a:xfrm>
              <a:off x="24077" y="4673947"/>
              <a:ext cx="978561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105" name="Line 50"/>
          <p:cNvSpPr>
            <a:spLocks noChangeShapeType="1"/>
          </p:cNvSpPr>
          <p:nvPr/>
        </p:nvSpPr>
        <p:spPr bwMode="auto">
          <a:xfrm>
            <a:off x="1941035" y="1135078"/>
            <a:ext cx="0" cy="313796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Tree>
    <p:extLst>
      <p:ext uri="{BB962C8B-B14F-4D97-AF65-F5344CB8AC3E}">
        <p14:creationId xmlns:p14="http://schemas.microsoft.com/office/powerpoint/2010/main" val="373912305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4" y="624674"/>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5" y="565906"/>
            <a:ext cx="5698996" cy="400110"/>
          </a:xfrm>
          <a:prstGeom prst="rect">
            <a:avLst/>
          </a:prstGeom>
        </p:spPr>
        <p:txBody>
          <a:bodyPr wrap="none">
            <a:spAutoFit/>
          </a:bodyPr>
          <a:lstStyle/>
          <a:p>
            <a:r>
              <a:rPr lang="zh-CN" altLang="en-US" sz="2000" b="1" dirty="0">
                <a:highlight>
                  <a:srgbClr val="FFFF00"/>
                </a:highlight>
                <a:latin typeface="微软雅黑" pitchFamily="34" charset="-122"/>
                <a:ea typeface="微软雅黑" pitchFamily="34" charset="-122"/>
              </a:rPr>
              <a:t>网络地址 </a:t>
            </a:r>
            <a:r>
              <a:rPr lang="en-US" altLang="zh-CN" sz="2000" b="1" dirty="0">
                <a:highlight>
                  <a:srgbClr val="FFFF00"/>
                </a:highlight>
                <a:latin typeface="微软雅黑" pitchFamily="34" charset="-122"/>
                <a:ea typeface="微软雅黑" pitchFamily="34" charset="-122"/>
              </a:rPr>
              <a:t>= (</a:t>
            </a:r>
            <a:r>
              <a:rPr lang="zh-CN" altLang="en-US" sz="2000" b="1" dirty="0">
                <a:highlight>
                  <a:srgbClr val="FFFF00"/>
                </a:highlight>
                <a:latin typeface="微软雅黑" pitchFamily="34" charset="-122"/>
                <a:ea typeface="微软雅黑" pitchFamily="34" charset="-122"/>
              </a:rPr>
              <a:t>二进制的 </a:t>
            </a:r>
            <a:r>
              <a:rPr lang="en-US" altLang="zh-CN" sz="2000" b="1" dirty="0">
                <a:highlight>
                  <a:srgbClr val="FFFF00"/>
                </a:highlight>
                <a:latin typeface="微软雅黑" pitchFamily="34" charset="-122"/>
                <a:ea typeface="微软雅黑" pitchFamily="34" charset="-122"/>
              </a:rPr>
              <a:t>IP </a:t>
            </a:r>
            <a:r>
              <a:rPr lang="zh-CN" altLang="en-US" sz="2000" b="1" dirty="0">
                <a:highlight>
                  <a:srgbClr val="FFFF00"/>
                </a:highlight>
                <a:latin typeface="微软雅黑" pitchFamily="34" charset="-122"/>
                <a:ea typeface="微软雅黑" pitchFamily="34" charset="-122"/>
              </a:rPr>
              <a:t>地址</a:t>
            </a:r>
            <a:r>
              <a:rPr lang="en-US" altLang="zh-CN" sz="2000" b="1" dirty="0">
                <a:highlight>
                  <a:srgbClr val="FFFF00"/>
                </a:highlight>
                <a:latin typeface="微软雅黑" pitchFamily="34" charset="-122"/>
                <a:ea typeface="微软雅黑" pitchFamily="34" charset="-122"/>
              </a:rPr>
              <a:t>) AND (</a:t>
            </a:r>
            <a:r>
              <a:rPr lang="zh-CN" altLang="en-US" sz="2000" b="1" dirty="0">
                <a:highlight>
                  <a:srgbClr val="FFFF00"/>
                </a:highlight>
                <a:latin typeface="微软雅黑" pitchFamily="34" charset="-122"/>
                <a:ea typeface="微软雅黑" pitchFamily="34" charset="-122"/>
              </a:rPr>
              <a:t>地址掩码</a:t>
            </a:r>
            <a:r>
              <a:rPr lang="en-US" altLang="zh-CN" sz="2000" b="1" dirty="0">
                <a:highlight>
                  <a:srgbClr val="FFFF00"/>
                </a:highlight>
                <a:latin typeface="微软雅黑" pitchFamily="34" charset="-122"/>
                <a:ea typeface="微软雅黑" pitchFamily="34" charset="-122"/>
              </a:rPr>
              <a:t>)</a:t>
            </a:r>
            <a:endParaRPr lang="zh-CN" altLang="en-US" sz="2000" b="1" dirty="0">
              <a:highlight>
                <a:srgbClr val="FFFF00"/>
              </a:highlight>
              <a:latin typeface="微软雅黑" pitchFamily="34" charset="-122"/>
              <a:ea typeface="微软雅黑" pitchFamily="34" charset="-122"/>
            </a:endParaRPr>
          </a:p>
        </p:txBody>
      </p:sp>
      <p:sp>
        <p:nvSpPr>
          <p:cNvPr id="144" name="圆角矩形 143"/>
          <p:cNvSpPr/>
          <p:nvPr/>
        </p:nvSpPr>
        <p:spPr>
          <a:xfrm>
            <a:off x="545144" y="1024784"/>
            <a:ext cx="8053712" cy="284847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47" name="Rectangle 3"/>
          <p:cNvSpPr>
            <a:spLocks noChangeArrowheads="1"/>
          </p:cNvSpPr>
          <p:nvPr/>
        </p:nvSpPr>
        <p:spPr bwMode="auto">
          <a:xfrm>
            <a:off x="2348381" y="1380890"/>
            <a:ext cx="5470145" cy="329184"/>
          </a:xfrm>
          <a:prstGeom prst="rect">
            <a:avLst/>
          </a:prstGeom>
          <a:solidFill>
            <a:srgbClr val="00FFFF"/>
          </a:solidFill>
          <a:ln w="12700">
            <a:solidFill>
              <a:srgbClr val="333399"/>
            </a:solidFill>
            <a:miter lim="800000"/>
            <a:headEnd/>
            <a:tailEnd/>
          </a:ln>
          <a:effectLst/>
        </p:spPr>
        <p:txBody>
          <a:bodyPr wrap="none" anchor="ctr"/>
          <a:lstStyle/>
          <a:p>
            <a:endParaRPr lang="zh-CN" altLang="en-US" sz="1300" b="1">
              <a:solidFill>
                <a:srgbClr val="0000CC"/>
              </a:solidFill>
              <a:latin typeface="微软雅黑" pitchFamily="34" charset="-122"/>
              <a:ea typeface="微软雅黑" pitchFamily="34" charset="-122"/>
            </a:endParaRPr>
          </a:p>
        </p:txBody>
      </p:sp>
      <p:sp>
        <p:nvSpPr>
          <p:cNvPr id="151" name="Rectangle 8"/>
          <p:cNvSpPr>
            <a:spLocks noChangeArrowheads="1"/>
          </p:cNvSpPr>
          <p:nvPr/>
        </p:nvSpPr>
        <p:spPr bwMode="auto">
          <a:xfrm>
            <a:off x="2359372" y="1389909"/>
            <a:ext cx="2685610" cy="314529"/>
          </a:xfrm>
          <a:prstGeom prst="rect">
            <a:avLst/>
          </a:prstGeom>
          <a:solidFill>
            <a:srgbClr val="00FF99"/>
          </a:solidFill>
          <a:ln>
            <a:noFill/>
          </a:ln>
          <a:effectLst/>
        </p:spPr>
        <p:txBody>
          <a:bodyPr wrap="none" anchor="ctr"/>
          <a:lstStyle/>
          <a:p>
            <a:endParaRPr lang="zh-CN" altLang="en-US" sz="1300" b="1">
              <a:solidFill>
                <a:srgbClr val="0000CC"/>
              </a:solidFill>
              <a:latin typeface="微软雅黑" pitchFamily="34" charset="-122"/>
              <a:ea typeface="微软雅黑" pitchFamily="34" charset="-122"/>
            </a:endParaRPr>
          </a:p>
        </p:txBody>
      </p:sp>
      <p:sp>
        <p:nvSpPr>
          <p:cNvPr id="152" name="Rectangle 9"/>
          <p:cNvSpPr>
            <a:spLocks noChangeArrowheads="1"/>
          </p:cNvSpPr>
          <p:nvPr/>
        </p:nvSpPr>
        <p:spPr bwMode="auto">
          <a:xfrm>
            <a:off x="3314419" y="1402993"/>
            <a:ext cx="849593" cy="289823"/>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300" b="1" dirty="0">
                <a:latin typeface="微软雅黑" pitchFamily="34" charset="-122"/>
                <a:ea typeface="微软雅黑" pitchFamily="34" charset="-122"/>
              </a:rPr>
              <a:t>网络前缀</a:t>
            </a:r>
          </a:p>
        </p:txBody>
      </p:sp>
      <p:sp>
        <p:nvSpPr>
          <p:cNvPr id="153" name="Rectangle 10"/>
          <p:cNvSpPr>
            <a:spLocks noChangeArrowheads="1"/>
          </p:cNvSpPr>
          <p:nvPr/>
        </p:nvSpPr>
        <p:spPr bwMode="auto">
          <a:xfrm>
            <a:off x="6084298" y="1402993"/>
            <a:ext cx="682880" cy="28982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300" b="1">
                <a:latin typeface="微软雅黑" pitchFamily="34" charset="-122"/>
                <a:ea typeface="微软雅黑" pitchFamily="34" charset="-122"/>
              </a:rPr>
              <a:t>主机号</a:t>
            </a:r>
          </a:p>
        </p:txBody>
      </p:sp>
      <p:sp>
        <p:nvSpPr>
          <p:cNvPr id="154" name="Rectangle 11"/>
          <p:cNvSpPr>
            <a:spLocks noChangeArrowheads="1"/>
          </p:cNvSpPr>
          <p:nvPr/>
        </p:nvSpPr>
        <p:spPr bwMode="auto">
          <a:xfrm>
            <a:off x="1571140" y="1389909"/>
            <a:ext cx="774251"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r" defTabSz="762000" eaLnBrk="0" hangingPunct="0"/>
            <a:r>
              <a:rPr kumimoji="1" lang="en-US" altLang="zh-CN" sz="1400" b="1" dirty="0">
                <a:solidFill>
                  <a:srgbClr val="0000CC"/>
                </a:solidFill>
                <a:latin typeface="微软雅黑" pitchFamily="34" charset="-122"/>
                <a:ea typeface="微软雅黑" pitchFamily="34" charset="-122"/>
              </a:rPr>
              <a:t>IP </a:t>
            </a:r>
            <a:r>
              <a:rPr kumimoji="1" lang="zh-CN" altLang="en-US" sz="1400" b="1" dirty="0">
                <a:solidFill>
                  <a:srgbClr val="0000CC"/>
                </a:solidFill>
                <a:latin typeface="微软雅黑" pitchFamily="34" charset="-122"/>
                <a:ea typeface="微软雅黑" pitchFamily="34" charset="-122"/>
              </a:rPr>
              <a:t>地址</a:t>
            </a:r>
          </a:p>
        </p:txBody>
      </p:sp>
      <p:sp>
        <p:nvSpPr>
          <p:cNvPr id="156" name="Line 13"/>
          <p:cNvSpPr>
            <a:spLocks noChangeShapeType="1"/>
          </p:cNvSpPr>
          <p:nvPr/>
        </p:nvSpPr>
        <p:spPr bwMode="auto">
          <a:xfrm>
            <a:off x="5051089" y="1386528"/>
            <a:ext cx="0" cy="32242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CC"/>
              </a:solidFill>
              <a:latin typeface="微软雅黑" pitchFamily="34" charset="-122"/>
              <a:ea typeface="微软雅黑" pitchFamily="34" charset="-122"/>
            </a:endParaRPr>
          </a:p>
        </p:txBody>
      </p:sp>
      <p:sp>
        <p:nvSpPr>
          <p:cNvPr id="170" name="Rectangle 29"/>
          <p:cNvSpPr>
            <a:spLocks noChangeArrowheads="1"/>
          </p:cNvSpPr>
          <p:nvPr/>
        </p:nvSpPr>
        <p:spPr bwMode="auto">
          <a:xfrm>
            <a:off x="1444502" y="2318371"/>
            <a:ext cx="900889"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r" defTabSz="762000" eaLnBrk="0" hangingPunct="0"/>
            <a:r>
              <a:rPr kumimoji="1" lang="zh-CN" altLang="en-US" sz="1400" b="1" dirty="0">
                <a:solidFill>
                  <a:srgbClr val="0000CC"/>
                </a:solidFill>
                <a:latin typeface="微软雅黑" pitchFamily="34" charset="-122"/>
                <a:ea typeface="微软雅黑" pitchFamily="34" charset="-122"/>
              </a:rPr>
              <a:t>地址掩码</a:t>
            </a:r>
          </a:p>
        </p:txBody>
      </p:sp>
      <p:sp>
        <p:nvSpPr>
          <p:cNvPr id="173" name="Rectangle 47"/>
          <p:cNvSpPr>
            <a:spLocks noChangeArrowheads="1"/>
          </p:cNvSpPr>
          <p:nvPr/>
        </p:nvSpPr>
        <p:spPr bwMode="auto">
          <a:xfrm>
            <a:off x="5051404" y="2292592"/>
            <a:ext cx="2764128" cy="357368"/>
          </a:xfrm>
          <a:prstGeom prst="rect">
            <a:avLst/>
          </a:prstGeom>
          <a:solidFill>
            <a:srgbClr val="00FFFF"/>
          </a:solidFill>
          <a:ln w="9525">
            <a:solidFill>
              <a:schemeClr val="tx1"/>
            </a:solidFill>
            <a:miter lim="800000"/>
            <a:headEnd/>
            <a:tailEnd/>
          </a:ln>
          <a:effectLst/>
        </p:spPr>
        <p:txBody>
          <a:bodyPr wrap="none" anchor="ctr"/>
          <a:lstStyle/>
          <a:p>
            <a:endParaRPr lang="zh-CN" altLang="en-US" sz="1300" b="1">
              <a:solidFill>
                <a:srgbClr val="0000CC"/>
              </a:solidFill>
              <a:latin typeface="微软雅黑" pitchFamily="34" charset="-122"/>
              <a:ea typeface="微软雅黑" pitchFamily="34" charset="-122"/>
            </a:endParaRPr>
          </a:p>
        </p:txBody>
      </p:sp>
      <p:sp>
        <p:nvSpPr>
          <p:cNvPr id="174" name="Rectangle 48"/>
          <p:cNvSpPr>
            <a:spLocks noChangeArrowheads="1"/>
          </p:cNvSpPr>
          <p:nvPr/>
        </p:nvSpPr>
        <p:spPr bwMode="auto">
          <a:xfrm>
            <a:off x="2351813" y="2292592"/>
            <a:ext cx="2699591" cy="35736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CC"/>
              </a:solidFill>
              <a:latin typeface="微软雅黑" pitchFamily="34" charset="-122"/>
              <a:ea typeface="微软雅黑" pitchFamily="34" charset="-122"/>
            </a:endParaRPr>
          </a:p>
        </p:txBody>
      </p:sp>
      <p:grpSp>
        <p:nvGrpSpPr>
          <p:cNvPr id="175" name="Group 49"/>
          <p:cNvGrpSpPr>
            <a:grpSpLocks/>
          </p:cNvGrpSpPr>
          <p:nvPr/>
        </p:nvGrpSpPr>
        <p:grpSpPr bwMode="auto">
          <a:xfrm>
            <a:off x="2452588" y="2338813"/>
            <a:ext cx="5298407" cy="289727"/>
            <a:chOff x="1174" y="3062"/>
            <a:chExt cx="4391" cy="257"/>
          </a:xfrm>
        </p:grpSpPr>
        <p:sp>
          <p:nvSpPr>
            <p:cNvPr id="176" name="Rectangle 50"/>
            <p:cNvSpPr>
              <a:spLocks noChangeArrowheads="1"/>
            </p:cNvSpPr>
            <p:nvPr/>
          </p:nvSpPr>
          <p:spPr bwMode="auto">
            <a:xfrm>
              <a:off x="1174" y="3062"/>
              <a:ext cx="2147" cy="2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300" b="1" dirty="0">
                  <a:latin typeface="微软雅黑" pitchFamily="34" charset="-122"/>
                  <a:ea typeface="微软雅黑" pitchFamily="34" charset="-122"/>
                </a:rPr>
                <a:t>1 1 1 1 1 1 1 1 1 1 1 1 1 1 1 1</a:t>
              </a:r>
            </a:p>
          </p:txBody>
        </p:sp>
        <p:sp>
          <p:nvSpPr>
            <p:cNvPr id="177" name="Rectangle 51"/>
            <p:cNvSpPr>
              <a:spLocks noChangeArrowheads="1"/>
            </p:cNvSpPr>
            <p:nvPr/>
          </p:nvSpPr>
          <p:spPr bwMode="auto">
            <a:xfrm>
              <a:off x="3391" y="3062"/>
              <a:ext cx="2174" cy="25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300" b="1" dirty="0">
                  <a:latin typeface="微软雅黑" pitchFamily="34" charset="-122"/>
                  <a:ea typeface="微软雅黑" pitchFamily="34" charset="-122"/>
                </a:rPr>
                <a:t>0 0 0 0 0 0 0 0 0 0 0 0 0 0 0 0</a:t>
              </a:r>
            </a:p>
          </p:txBody>
        </p:sp>
      </p:grpSp>
      <p:sp>
        <p:nvSpPr>
          <p:cNvPr id="185" name="AutoShape 61"/>
          <p:cNvSpPr>
            <a:spLocks noChangeArrowheads="1"/>
          </p:cNvSpPr>
          <p:nvPr/>
        </p:nvSpPr>
        <p:spPr bwMode="auto">
          <a:xfrm>
            <a:off x="4848045" y="2710444"/>
            <a:ext cx="431321" cy="357367"/>
          </a:xfrm>
          <a:prstGeom prst="downArrow">
            <a:avLst>
              <a:gd name="adj1" fmla="val 47126"/>
              <a:gd name="adj2" fmla="val 34655"/>
            </a:avLst>
          </a:prstGeom>
          <a:solidFill>
            <a:srgbClr val="FFC000"/>
          </a:solidFill>
          <a:ln w="9525">
            <a:solidFill>
              <a:schemeClr val="tx1"/>
            </a:solidFill>
            <a:miter lim="800000"/>
            <a:headEnd/>
            <a:tailEnd/>
          </a:ln>
          <a:effectLst/>
        </p:spPr>
        <p:txBody>
          <a:bodyPr vert="eaVert" wrap="none" anchor="ctr"/>
          <a:lstStyle/>
          <a:p>
            <a:endParaRPr lang="zh-CN" altLang="en-US" sz="1300" b="1">
              <a:solidFill>
                <a:srgbClr val="0000CC"/>
              </a:solidFill>
              <a:latin typeface="微软雅黑" pitchFamily="34" charset="-122"/>
              <a:ea typeface="微软雅黑" pitchFamily="34" charset="-122"/>
            </a:endParaRPr>
          </a:p>
        </p:txBody>
      </p:sp>
      <p:sp>
        <p:nvSpPr>
          <p:cNvPr id="186" name="Rectangle 60"/>
          <p:cNvSpPr>
            <a:spLocks noChangeArrowheads="1"/>
          </p:cNvSpPr>
          <p:nvPr/>
        </p:nvSpPr>
        <p:spPr bwMode="auto">
          <a:xfrm>
            <a:off x="2345327" y="1787260"/>
            <a:ext cx="5470205" cy="426135"/>
          </a:xfrm>
          <a:prstGeom prst="rect">
            <a:avLst/>
          </a:prstGeom>
          <a:solidFill>
            <a:srgbClr val="0000CC"/>
          </a:solidFill>
          <a:ln>
            <a:noFill/>
          </a:ln>
          <a:effectLst/>
        </p:spPr>
        <p:txBody>
          <a:bodyPr wrap="none" anchor="ctr"/>
          <a:lstStyle/>
          <a:p>
            <a:pPr algn="ctr"/>
            <a:r>
              <a:rPr lang="zh-CN" altLang="en-US" b="1" dirty="0">
                <a:solidFill>
                  <a:schemeClr val="bg1"/>
                </a:solidFill>
                <a:latin typeface="微软雅黑" pitchFamily="34" charset="-122"/>
                <a:ea typeface="微软雅黑" pitchFamily="34" charset="-122"/>
              </a:rPr>
              <a:t>逐位进行 </a:t>
            </a:r>
            <a:r>
              <a:rPr lang="en-US" altLang="zh-CN" b="1" dirty="0">
                <a:solidFill>
                  <a:schemeClr val="bg1"/>
                </a:solidFill>
                <a:latin typeface="微软雅黑" pitchFamily="34" charset="-122"/>
                <a:ea typeface="微软雅黑" pitchFamily="34" charset="-122"/>
              </a:rPr>
              <a:t>AND </a:t>
            </a:r>
            <a:r>
              <a:rPr lang="zh-CN" altLang="en-US" b="1" dirty="0">
                <a:solidFill>
                  <a:schemeClr val="bg1"/>
                </a:solidFill>
                <a:latin typeface="微软雅黑" pitchFamily="34" charset="-122"/>
                <a:ea typeface="微软雅黑" pitchFamily="34" charset="-122"/>
              </a:rPr>
              <a:t>运算</a:t>
            </a:r>
          </a:p>
        </p:txBody>
      </p:sp>
      <p:grpSp>
        <p:nvGrpSpPr>
          <p:cNvPr id="5" name="组合 4"/>
          <p:cNvGrpSpPr/>
          <p:nvPr/>
        </p:nvGrpSpPr>
        <p:grpSpPr>
          <a:xfrm>
            <a:off x="1444502" y="3130150"/>
            <a:ext cx="6358146" cy="357368"/>
            <a:chOff x="1444502" y="3130150"/>
            <a:chExt cx="6358146" cy="357368"/>
          </a:xfrm>
        </p:grpSpPr>
        <p:sp>
          <p:nvSpPr>
            <p:cNvPr id="172" name="Rectangle 46"/>
            <p:cNvSpPr>
              <a:spLocks noChangeArrowheads="1"/>
            </p:cNvSpPr>
            <p:nvPr/>
          </p:nvSpPr>
          <p:spPr bwMode="auto">
            <a:xfrm>
              <a:off x="1444502" y="3157391"/>
              <a:ext cx="900889"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r" defTabSz="762000" eaLnBrk="0" hangingPunct="0"/>
              <a:r>
                <a:rPr kumimoji="1" lang="zh-CN" altLang="en-US" sz="1400" b="1" dirty="0">
                  <a:solidFill>
                    <a:srgbClr val="0000CC"/>
                  </a:solidFill>
                  <a:latin typeface="微软雅黑" pitchFamily="34" charset="-122"/>
                  <a:ea typeface="微软雅黑" pitchFamily="34" charset="-122"/>
                </a:rPr>
                <a:t>网络地址</a:t>
              </a:r>
            </a:p>
          </p:txBody>
        </p:sp>
        <p:sp>
          <p:nvSpPr>
            <p:cNvPr id="179" name="Rectangle 53"/>
            <p:cNvSpPr>
              <a:spLocks noChangeArrowheads="1"/>
            </p:cNvSpPr>
            <p:nvPr/>
          </p:nvSpPr>
          <p:spPr bwMode="auto">
            <a:xfrm>
              <a:off x="5057826" y="3130150"/>
              <a:ext cx="2744822" cy="357368"/>
            </a:xfrm>
            <a:prstGeom prst="rect">
              <a:avLst/>
            </a:prstGeom>
            <a:solidFill>
              <a:srgbClr val="00FFFF"/>
            </a:solidFill>
            <a:ln w="9525">
              <a:solidFill>
                <a:schemeClr val="tx1"/>
              </a:solidFill>
              <a:miter lim="800000"/>
              <a:headEnd/>
              <a:tailEnd/>
            </a:ln>
            <a:effectLst/>
          </p:spPr>
          <p:txBody>
            <a:bodyPr wrap="none" anchor="ctr"/>
            <a:lstStyle/>
            <a:p>
              <a:endParaRPr lang="zh-CN" altLang="en-US" sz="1300" b="1">
                <a:solidFill>
                  <a:srgbClr val="0000CC"/>
                </a:solidFill>
                <a:latin typeface="微软雅黑" pitchFamily="34" charset="-122"/>
                <a:ea typeface="微软雅黑" pitchFamily="34" charset="-122"/>
              </a:endParaRPr>
            </a:p>
          </p:txBody>
        </p:sp>
        <p:sp>
          <p:nvSpPr>
            <p:cNvPr id="180" name="Rectangle 54"/>
            <p:cNvSpPr>
              <a:spLocks noChangeArrowheads="1"/>
            </p:cNvSpPr>
            <p:nvPr/>
          </p:nvSpPr>
          <p:spPr bwMode="auto">
            <a:xfrm>
              <a:off x="2351813" y="3130150"/>
              <a:ext cx="2699591" cy="357368"/>
            </a:xfrm>
            <a:prstGeom prst="rect">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CC"/>
                </a:solidFill>
                <a:latin typeface="微软雅黑" pitchFamily="34" charset="-122"/>
                <a:ea typeface="微软雅黑" pitchFamily="34" charset="-122"/>
              </a:endParaRPr>
            </a:p>
          </p:txBody>
        </p:sp>
        <p:sp>
          <p:nvSpPr>
            <p:cNvPr id="182" name="Rectangle 57"/>
            <p:cNvSpPr>
              <a:spLocks noChangeArrowheads="1"/>
            </p:cNvSpPr>
            <p:nvPr/>
          </p:nvSpPr>
          <p:spPr bwMode="auto">
            <a:xfrm>
              <a:off x="3349605" y="3172938"/>
              <a:ext cx="849593" cy="289823"/>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300" b="1" dirty="0">
                  <a:latin typeface="微软雅黑" pitchFamily="34" charset="-122"/>
                  <a:ea typeface="微软雅黑" pitchFamily="34" charset="-122"/>
                </a:rPr>
                <a:t>网络前缀</a:t>
              </a:r>
            </a:p>
          </p:txBody>
        </p:sp>
        <p:sp>
          <p:nvSpPr>
            <p:cNvPr id="187" name="Rectangle 51"/>
            <p:cNvSpPr>
              <a:spLocks noChangeArrowheads="1"/>
            </p:cNvSpPr>
            <p:nvPr/>
          </p:nvSpPr>
          <p:spPr bwMode="auto">
            <a:xfrm>
              <a:off x="5114108" y="3170646"/>
              <a:ext cx="2623260" cy="28972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300" b="1" dirty="0">
                  <a:latin typeface="微软雅黑" pitchFamily="34" charset="-122"/>
                  <a:ea typeface="微软雅黑" pitchFamily="34" charset="-122"/>
                </a:rPr>
                <a:t>0 0 0 0 0 0 0 0 0 0 0 0 0 0 0 0</a:t>
              </a:r>
            </a:p>
          </p:txBody>
        </p:sp>
      </p:grpSp>
    </p:spTree>
    <p:extLst>
      <p:ext uri="{BB962C8B-B14F-4D97-AF65-F5344CB8AC3E}">
        <p14:creationId xmlns:p14="http://schemas.microsoft.com/office/powerpoint/2010/main" val="366399039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86"/>
                                        </p:tgtEl>
                                        <p:attrNameLst>
                                          <p:attrName>style.visibility</p:attrName>
                                        </p:attrNameLst>
                                      </p:cBhvr>
                                      <p:to>
                                        <p:strVal val="visible"/>
                                      </p:to>
                                    </p:set>
                                  </p:childTnLst>
                                </p:cTn>
                              </p:par>
                              <p:par>
                                <p:cTn id="7" presetID="35" presetClass="emph" presetSubtype="0" repeatCount="3000" fill="hold" nodeType="withEffect">
                                  <p:stCondLst>
                                    <p:cond delay="1000"/>
                                  </p:stCondLst>
                                  <p:childTnLst>
                                    <p:anim calcmode="discrete" valueType="str">
                                      <p:cBhvr>
                                        <p:cTn id="8" dur="1000" fill="hold"/>
                                        <p:tgtEl>
                                          <p:spTgt spid="175"/>
                                        </p:tgtEl>
                                        <p:attrNameLst>
                                          <p:attrName>style.visibility</p:attrName>
                                        </p:attrNameLst>
                                      </p:cBhvr>
                                      <p:tavLst>
                                        <p:tav tm="0">
                                          <p:val>
                                            <p:strVal val="hidden"/>
                                          </p:val>
                                        </p:tav>
                                        <p:tav tm="50000">
                                          <p:val>
                                            <p:strVal val="visible"/>
                                          </p:val>
                                        </p:tav>
                                      </p:tavLst>
                                    </p:anim>
                                  </p:childTnLst>
                                </p:cTn>
                              </p:par>
                            </p:childTnLst>
                          </p:cTn>
                        </p:par>
                        <p:par>
                          <p:cTn id="9" fill="hold">
                            <p:stCondLst>
                              <p:cond delay="4000"/>
                            </p:stCondLst>
                            <p:childTnLst>
                              <p:par>
                                <p:cTn id="10" presetID="22" presetClass="entr" presetSubtype="1" fill="hold" grpId="0" nodeType="afterEffect">
                                  <p:stCondLst>
                                    <p:cond delay="0"/>
                                  </p:stCondLst>
                                  <p:childTnLst>
                                    <p:set>
                                      <p:cBhvr>
                                        <p:cTn id="11" dur="1" fill="hold">
                                          <p:stCondLst>
                                            <p:cond delay="0"/>
                                          </p:stCondLst>
                                        </p:cTn>
                                        <p:tgtEl>
                                          <p:spTgt spid="185"/>
                                        </p:tgtEl>
                                        <p:attrNameLst>
                                          <p:attrName>style.visibility</p:attrName>
                                        </p:attrNameLst>
                                      </p:cBhvr>
                                      <p:to>
                                        <p:strVal val="visible"/>
                                      </p:to>
                                    </p:set>
                                    <p:animEffect transition="in" filter="wipe(up)">
                                      <p:cBhvr>
                                        <p:cTn id="12" dur="1500"/>
                                        <p:tgtEl>
                                          <p:spTgt spid="185"/>
                                        </p:tgtEl>
                                      </p:cBhvr>
                                    </p:animEffect>
                                  </p:childTnLst>
                                </p:cTn>
                              </p:par>
                            </p:childTnLst>
                          </p:cTn>
                        </p:par>
                        <p:par>
                          <p:cTn id="13" fill="hold">
                            <p:stCondLst>
                              <p:cond delay="5500"/>
                            </p:stCondLst>
                            <p:childTnLst>
                              <p:par>
                                <p:cTn id="14" presetID="22" presetClass="entr" presetSubtype="1" fill="hold" nodeType="after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wipe(up)">
                                      <p:cBhvr>
                                        <p:cTn id="16" dur="1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5" grpId="0" animBg="1"/>
      <p:bldP spid="186"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4" y="624674"/>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5" y="565906"/>
            <a:ext cx="5698996" cy="400110"/>
          </a:xfrm>
          <a:prstGeom prst="rect">
            <a:avLst/>
          </a:prstGeom>
        </p:spPr>
        <p:txBody>
          <a:bodyPr wrap="none">
            <a:spAutoFit/>
          </a:bodyPr>
          <a:lstStyle/>
          <a:p>
            <a:r>
              <a:rPr lang="zh-CN" altLang="en-US" sz="2000" b="1" dirty="0">
                <a:highlight>
                  <a:srgbClr val="FFFF00"/>
                </a:highlight>
                <a:latin typeface="微软雅黑" pitchFamily="34" charset="-122"/>
                <a:ea typeface="微软雅黑" pitchFamily="34" charset="-122"/>
              </a:rPr>
              <a:t>网络地址 </a:t>
            </a:r>
            <a:r>
              <a:rPr lang="en-US" altLang="zh-CN" sz="2000" b="1" dirty="0">
                <a:highlight>
                  <a:srgbClr val="FFFF00"/>
                </a:highlight>
                <a:latin typeface="微软雅黑" pitchFamily="34" charset="-122"/>
                <a:ea typeface="微软雅黑" pitchFamily="34" charset="-122"/>
              </a:rPr>
              <a:t>= (</a:t>
            </a:r>
            <a:r>
              <a:rPr lang="zh-CN" altLang="en-US" sz="2000" b="1" dirty="0">
                <a:highlight>
                  <a:srgbClr val="FFFF00"/>
                </a:highlight>
                <a:latin typeface="微软雅黑" pitchFamily="34" charset="-122"/>
                <a:ea typeface="微软雅黑" pitchFamily="34" charset="-122"/>
              </a:rPr>
              <a:t>二进制的 </a:t>
            </a:r>
            <a:r>
              <a:rPr lang="en-US" altLang="zh-CN" sz="2000" b="1" dirty="0">
                <a:highlight>
                  <a:srgbClr val="FFFF00"/>
                </a:highlight>
                <a:latin typeface="微软雅黑" pitchFamily="34" charset="-122"/>
                <a:ea typeface="微软雅黑" pitchFamily="34" charset="-122"/>
              </a:rPr>
              <a:t>IP </a:t>
            </a:r>
            <a:r>
              <a:rPr lang="zh-CN" altLang="en-US" sz="2000" b="1" dirty="0">
                <a:highlight>
                  <a:srgbClr val="FFFF00"/>
                </a:highlight>
                <a:latin typeface="微软雅黑" pitchFamily="34" charset="-122"/>
                <a:ea typeface="微软雅黑" pitchFamily="34" charset="-122"/>
              </a:rPr>
              <a:t>地址</a:t>
            </a:r>
            <a:r>
              <a:rPr lang="en-US" altLang="zh-CN" sz="2000" b="1" dirty="0">
                <a:highlight>
                  <a:srgbClr val="FFFF00"/>
                </a:highlight>
                <a:latin typeface="微软雅黑" pitchFamily="34" charset="-122"/>
                <a:ea typeface="微软雅黑" pitchFamily="34" charset="-122"/>
              </a:rPr>
              <a:t>) AND (</a:t>
            </a:r>
            <a:r>
              <a:rPr lang="zh-CN" altLang="en-US" sz="2000" b="1" dirty="0">
                <a:highlight>
                  <a:srgbClr val="FFFF00"/>
                </a:highlight>
                <a:latin typeface="微软雅黑" pitchFamily="34" charset="-122"/>
                <a:ea typeface="微软雅黑" pitchFamily="34" charset="-122"/>
              </a:rPr>
              <a:t>地址掩码</a:t>
            </a:r>
            <a:r>
              <a:rPr lang="en-US" altLang="zh-CN" sz="2000" b="1" dirty="0">
                <a:highlight>
                  <a:srgbClr val="FFFF00"/>
                </a:highlight>
                <a:latin typeface="微软雅黑" pitchFamily="34" charset="-122"/>
                <a:ea typeface="微软雅黑" pitchFamily="34" charset="-122"/>
              </a:rPr>
              <a:t>)</a:t>
            </a:r>
            <a:endParaRPr lang="zh-CN" altLang="en-US" sz="2000" b="1" dirty="0">
              <a:highlight>
                <a:srgbClr val="FFFF00"/>
              </a:highlight>
              <a:latin typeface="微软雅黑" pitchFamily="34" charset="-122"/>
              <a:ea typeface="微软雅黑" pitchFamily="34" charset="-122"/>
            </a:endParaRPr>
          </a:p>
        </p:txBody>
      </p:sp>
      <p:sp>
        <p:nvSpPr>
          <p:cNvPr id="33" name="圆角矩形 32"/>
          <p:cNvSpPr/>
          <p:nvPr/>
        </p:nvSpPr>
        <p:spPr>
          <a:xfrm>
            <a:off x="545144" y="1024783"/>
            <a:ext cx="8053712" cy="332292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7" name="组合 6"/>
          <p:cNvGrpSpPr/>
          <p:nvPr/>
        </p:nvGrpSpPr>
        <p:grpSpPr>
          <a:xfrm>
            <a:off x="828136" y="1586667"/>
            <a:ext cx="7267413" cy="322464"/>
            <a:chOff x="828136" y="1698805"/>
            <a:chExt cx="7267413" cy="322464"/>
          </a:xfrm>
        </p:grpSpPr>
        <p:sp>
          <p:nvSpPr>
            <p:cNvPr id="43" name="Rectangle 33"/>
            <p:cNvSpPr>
              <a:spLocks noChangeArrowheads="1"/>
            </p:cNvSpPr>
            <p:nvPr/>
          </p:nvSpPr>
          <p:spPr bwMode="auto">
            <a:xfrm>
              <a:off x="3642866" y="1708850"/>
              <a:ext cx="4452683" cy="27266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4" name="Rectangle 34"/>
            <p:cNvSpPr>
              <a:spLocks noChangeArrowheads="1"/>
            </p:cNvSpPr>
            <p:nvPr/>
          </p:nvSpPr>
          <p:spPr bwMode="auto">
            <a:xfrm>
              <a:off x="828136" y="1716057"/>
              <a:ext cx="2022991"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400" b="1" dirty="0">
                  <a:latin typeface="微软雅黑" pitchFamily="34" charset="-122"/>
                  <a:ea typeface="微软雅黑" pitchFamily="34" charset="-122"/>
                </a:rPr>
                <a:t>(a) </a:t>
              </a:r>
              <a:r>
                <a:rPr kumimoji="1" lang="zh-CN" altLang="en-US" sz="1400" b="1" dirty="0">
                  <a:latin typeface="微软雅黑" pitchFamily="34" charset="-122"/>
                  <a:ea typeface="微软雅黑" pitchFamily="34" charset="-122"/>
                </a:rPr>
                <a:t>点分十进制 </a:t>
              </a:r>
              <a:r>
                <a:rPr kumimoji="1" lang="en-US" altLang="zh-CN" sz="1400" b="1" dirty="0">
                  <a:latin typeface="微软雅黑" pitchFamily="34" charset="-122"/>
                  <a:ea typeface="微软雅黑" pitchFamily="34" charset="-122"/>
                </a:rPr>
                <a:t>IP </a:t>
              </a:r>
              <a:r>
                <a:rPr kumimoji="1" lang="zh-CN" altLang="en-US" sz="1400" b="1" dirty="0">
                  <a:latin typeface="微软雅黑" pitchFamily="34" charset="-122"/>
                  <a:ea typeface="微软雅黑" pitchFamily="34" charset="-122"/>
                </a:rPr>
                <a:t>地址</a:t>
              </a:r>
            </a:p>
          </p:txBody>
        </p:sp>
        <p:sp>
          <p:nvSpPr>
            <p:cNvPr id="50" name="Text Box 45"/>
            <p:cNvSpPr txBox="1">
              <a:spLocks noChangeArrowheads="1"/>
            </p:cNvSpPr>
            <p:nvPr/>
          </p:nvSpPr>
          <p:spPr bwMode="auto">
            <a:xfrm>
              <a:off x="3948549" y="1698805"/>
              <a:ext cx="205697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128       .        14        .</a:t>
              </a:r>
            </a:p>
          </p:txBody>
        </p:sp>
        <p:sp>
          <p:nvSpPr>
            <p:cNvPr id="51" name="Text Box 46"/>
            <p:cNvSpPr txBox="1">
              <a:spLocks noChangeArrowheads="1"/>
            </p:cNvSpPr>
            <p:nvPr/>
          </p:nvSpPr>
          <p:spPr bwMode="auto">
            <a:xfrm>
              <a:off x="5852996" y="1698805"/>
              <a:ext cx="183736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    35            .        7</a:t>
              </a:r>
            </a:p>
          </p:txBody>
        </p:sp>
      </p:grpSp>
      <p:grpSp>
        <p:nvGrpSpPr>
          <p:cNvPr id="9" name="组合 8"/>
          <p:cNvGrpSpPr/>
          <p:nvPr/>
        </p:nvGrpSpPr>
        <p:grpSpPr>
          <a:xfrm>
            <a:off x="828136" y="2567240"/>
            <a:ext cx="7330130" cy="305212"/>
            <a:chOff x="828136" y="2679378"/>
            <a:chExt cx="7330130" cy="305212"/>
          </a:xfrm>
        </p:grpSpPr>
        <p:sp>
          <p:nvSpPr>
            <p:cNvPr id="36" name="Rectangle 40"/>
            <p:cNvSpPr>
              <a:spLocks noChangeArrowheads="1"/>
            </p:cNvSpPr>
            <p:nvPr/>
          </p:nvSpPr>
          <p:spPr bwMode="auto">
            <a:xfrm>
              <a:off x="3642865" y="2684182"/>
              <a:ext cx="4452681" cy="27266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1" name="Rectangle 36"/>
            <p:cNvSpPr>
              <a:spLocks noChangeArrowheads="1"/>
            </p:cNvSpPr>
            <p:nvPr/>
          </p:nvSpPr>
          <p:spPr bwMode="auto">
            <a:xfrm>
              <a:off x="3648131" y="2691388"/>
              <a:ext cx="2742054" cy="259447"/>
            </a:xfrm>
            <a:prstGeom prst="rect">
              <a:avLst/>
            </a:prstGeom>
            <a:solidFill>
              <a:srgbClr val="FF99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2" name="Rectangle 41"/>
            <p:cNvSpPr>
              <a:spLocks noChangeArrowheads="1"/>
            </p:cNvSpPr>
            <p:nvPr/>
          </p:nvSpPr>
          <p:spPr bwMode="auto">
            <a:xfrm>
              <a:off x="3553481" y="2688007"/>
              <a:ext cx="3521799"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1 1 1 1 1 1 1 1 1 1 1 1 1 1 1 1 1 1 1 1 0 0 0 0</a:t>
              </a:r>
            </a:p>
          </p:txBody>
        </p:sp>
        <p:sp>
          <p:nvSpPr>
            <p:cNvPr id="46" name="Rectangle 37"/>
            <p:cNvSpPr>
              <a:spLocks noChangeArrowheads="1"/>
            </p:cNvSpPr>
            <p:nvPr/>
          </p:nvSpPr>
          <p:spPr bwMode="auto">
            <a:xfrm>
              <a:off x="828136" y="2679378"/>
              <a:ext cx="2757166"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400" b="1" dirty="0">
                  <a:latin typeface="微软雅黑" pitchFamily="34" charset="-122"/>
                  <a:ea typeface="微软雅黑" pitchFamily="34" charset="-122"/>
                </a:rPr>
                <a:t>(c) </a:t>
              </a:r>
              <a:r>
                <a:rPr kumimoji="1" lang="zh-CN" altLang="en-US" sz="1400" b="1" dirty="0">
                  <a:latin typeface="微软雅黑" pitchFamily="34" charset="-122"/>
                  <a:ea typeface="微软雅黑" pitchFamily="34" charset="-122"/>
                </a:rPr>
                <a:t>地址掩码是 </a:t>
              </a:r>
              <a:r>
                <a:rPr kumimoji="1" lang="en-US" altLang="zh-CN" sz="1400" b="1" dirty="0">
                  <a:latin typeface="微软雅黑" pitchFamily="34" charset="-122"/>
                  <a:ea typeface="微软雅黑" pitchFamily="34" charset="-122"/>
                </a:rPr>
                <a:t>255.255.224.0</a:t>
              </a:r>
            </a:p>
          </p:txBody>
        </p:sp>
        <p:sp>
          <p:nvSpPr>
            <p:cNvPr id="47" name="Line 38"/>
            <p:cNvSpPr>
              <a:spLocks noChangeShapeType="1"/>
            </p:cNvSpPr>
            <p:nvPr/>
          </p:nvSpPr>
          <p:spPr bwMode="auto">
            <a:xfrm>
              <a:off x="5846958" y="2688986"/>
              <a:ext cx="0" cy="266655"/>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8" name="Line 39"/>
            <p:cNvSpPr>
              <a:spLocks noChangeShapeType="1"/>
            </p:cNvSpPr>
            <p:nvPr/>
          </p:nvSpPr>
          <p:spPr bwMode="auto">
            <a:xfrm>
              <a:off x="6952197" y="2681779"/>
              <a:ext cx="0" cy="270258"/>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9" name="Rectangle 42"/>
            <p:cNvSpPr>
              <a:spLocks noChangeArrowheads="1"/>
            </p:cNvSpPr>
            <p:nvPr/>
          </p:nvSpPr>
          <p:spPr bwMode="auto">
            <a:xfrm>
              <a:off x="6893495" y="2688007"/>
              <a:ext cx="1264771" cy="27443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0 0 0 0 0 0 0 0</a:t>
              </a:r>
            </a:p>
          </p:txBody>
        </p:sp>
        <p:sp>
          <p:nvSpPr>
            <p:cNvPr id="55" name="Line 51"/>
            <p:cNvSpPr>
              <a:spLocks noChangeShapeType="1"/>
            </p:cNvSpPr>
            <p:nvPr/>
          </p:nvSpPr>
          <p:spPr bwMode="auto">
            <a:xfrm>
              <a:off x="4733758" y="2681779"/>
              <a:ext cx="0" cy="266655"/>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grpSp>
      <p:grpSp>
        <p:nvGrpSpPr>
          <p:cNvPr id="10" name="组合 9"/>
          <p:cNvGrpSpPr/>
          <p:nvPr/>
        </p:nvGrpSpPr>
        <p:grpSpPr>
          <a:xfrm>
            <a:off x="828136" y="3102732"/>
            <a:ext cx="7330130" cy="305212"/>
            <a:chOff x="828136" y="3214870"/>
            <a:chExt cx="7330130" cy="305212"/>
          </a:xfrm>
        </p:grpSpPr>
        <p:sp>
          <p:nvSpPr>
            <p:cNvPr id="61" name="Rectangle 59"/>
            <p:cNvSpPr>
              <a:spLocks noChangeArrowheads="1"/>
            </p:cNvSpPr>
            <p:nvPr/>
          </p:nvSpPr>
          <p:spPr bwMode="auto">
            <a:xfrm>
              <a:off x="828136" y="3214870"/>
              <a:ext cx="2826096"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400" b="1" dirty="0">
                  <a:latin typeface="微软雅黑" pitchFamily="34" charset="-122"/>
                  <a:ea typeface="微软雅黑" pitchFamily="34" charset="-122"/>
                </a:rPr>
                <a:t>(d) IP </a:t>
              </a:r>
              <a:r>
                <a:rPr kumimoji="1" lang="zh-CN" altLang="en-US" sz="1400" b="1" dirty="0">
                  <a:latin typeface="微软雅黑" pitchFamily="34" charset="-122"/>
                  <a:ea typeface="微软雅黑" pitchFamily="34" charset="-122"/>
                </a:rPr>
                <a:t>地址与地址掩码按位 </a:t>
              </a:r>
              <a:r>
                <a:rPr kumimoji="1" lang="en-US" altLang="zh-CN" sz="1400" b="1" dirty="0">
                  <a:latin typeface="微软雅黑" pitchFamily="34" charset="-122"/>
                  <a:ea typeface="微软雅黑" pitchFamily="34" charset="-122"/>
                </a:rPr>
                <a:t>AND</a:t>
              </a:r>
              <a:endParaRPr kumimoji="1" lang="zh-CN" altLang="en-US" sz="1400" b="1" dirty="0">
                <a:latin typeface="微软雅黑" pitchFamily="34" charset="-122"/>
                <a:ea typeface="微软雅黑" pitchFamily="34" charset="-122"/>
              </a:endParaRPr>
            </a:p>
          </p:txBody>
        </p:sp>
        <p:sp>
          <p:nvSpPr>
            <p:cNvPr id="65" name="Rectangle 40"/>
            <p:cNvSpPr>
              <a:spLocks noChangeArrowheads="1"/>
            </p:cNvSpPr>
            <p:nvPr/>
          </p:nvSpPr>
          <p:spPr bwMode="auto">
            <a:xfrm>
              <a:off x="3642865" y="3219671"/>
              <a:ext cx="4452681" cy="27266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6" name="Rectangle 36"/>
            <p:cNvSpPr>
              <a:spLocks noChangeArrowheads="1"/>
            </p:cNvSpPr>
            <p:nvPr/>
          </p:nvSpPr>
          <p:spPr bwMode="auto">
            <a:xfrm>
              <a:off x="3648131" y="3226877"/>
              <a:ext cx="2742054" cy="259447"/>
            </a:xfrm>
            <a:prstGeom prst="rect">
              <a:avLst/>
            </a:prstGeom>
            <a:solidFill>
              <a:srgbClr val="FF99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7" name="Rectangle 41"/>
            <p:cNvSpPr>
              <a:spLocks noChangeArrowheads="1"/>
            </p:cNvSpPr>
            <p:nvPr/>
          </p:nvSpPr>
          <p:spPr bwMode="auto">
            <a:xfrm>
              <a:off x="3553481" y="3223496"/>
              <a:ext cx="3521799"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1 0 0 0 0 0 0 0 0 0 0 0 1 1 1 0 0 0 1 0 0 0 0 0</a:t>
              </a:r>
            </a:p>
          </p:txBody>
        </p:sp>
        <p:sp>
          <p:nvSpPr>
            <p:cNvPr id="68" name="Line 38"/>
            <p:cNvSpPr>
              <a:spLocks noChangeShapeType="1"/>
            </p:cNvSpPr>
            <p:nvPr/>
          </p:nvSpPr>
          <p:spPr bwMode="auto">
            <a:xfrm>
              <a:off x="5846958" y="3224475"/>
              <a:ext cx="0" cy="266655"/>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9" name="Line 39"/>
            <p:cNvSpPr>
              <a:spLocks noChangeShapeType="1"/>
            </p:cNvSpPr>
            <p:nvPr/>
          </p:nvSpPr>
          <p:spPr bwMode="auto">
            <a:xfrm>
              <a:off x="6952197" y="3217268"/>
              <a:ext cx="0" cy="270258"/>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0" name="Rectangle 42"/>
            <p:cNvSpPr>
              <a:spLocks noChangeArrowheads="1"/>
            </p:cNvSpPr>
            <p:nvPr/>
          </p:nvSpPr>
          <p:spPr bwMode="auto">
            <a:xfrm>
              <a:off x="6893495" y="3223496"/>
              <a:ext cx="1264771" cy="27443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0 0 0 0 0 0 0 0</a:t>
              </a:r>
            </a:p>
          </p:txBody>
        </p:sp>
        <p:sp>
          <p:nvSpPr>
            <p:cNvPr id="71" name="Line 51"/>
            <p:cNvSpPr>
              <a:spLocks noChangeShapeType="1"/>
            </p:cNvSpPr>
            <p:nvPr/>
          </p:nvSpPr>
          <p:spPr bwMode="auto">
            <a:xfrm>
              <a:off x="4733758" y="3217268"/>
              <a:ext cx="0" cy="266655"/>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grpSp>
      <p:grpSp>
        <p:nvGrpSpPr>
          <p:cNvPr id="11" name="组合 10"/>
          <p:cNvGrpSpPr/>
          <p:nvPr/>
        </p:nvGrpSpPr>
        <p:grpSpPr>
          <a:xfrm>
            <a:off x="828136" y="3640191"/>
            <a:ext cx="7267411" cy="317460"/>
            <a:chOff x="828136" y="3752329"/>
            <a:chExt cx="7267411" cy="317460"/>
          </a:xfrm>
        </p:grpSpPr>
        <p:sp>
          <p:nvSpPr>
            <p:cNvPr id="45" name="Rectangle 35"/>
            <p:cNvSpPr>
              <a:spLocks noChangeArrowheads="1"/>
            </p:cNvSpPr>
            <p:nvPr/>
          </p:nvSpPr>
          <p:spPr bwMode="auto">
            <a:xfrm>
              <a:off x="3642866" y="3768817"/>
              <a:ext cx="4452681" cy="272661"/>
            </a:xfrm>
            <a:prstGeom prst="rect">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2" name="Rectangle 60"/>
            <p:cNvSpPr>
              <a:spLocks noChangeArrowheads="1"/>
            </p:cNvSpPr>
            <p:nvPr/>
          </p:nvSpPr>
          <p:spPr bwMode="auto">
            <a:xfrm>
              <a:off x="828136" y="3752329"/>
              <a:ext cx="2455801"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400" b="1" dirty="0">
                  <a:latin typeface="微软雅黑" pitchFamily="34" charset="-122"/>
                  <a:ea typeface="微软雅黑" pitchFamily="34" charset="-122"/>
                </a:rPr>
                <a:t>(e) </a:t>
              </a:r>
              <a:r>
                <a:rPr kumimoji="1" lang="zh-CN" altLang="en-US" sz="1400" b="1" dirty="0">
                  <a:latin typeface="微软雅黑" pitchFamily="34" charset="-122"/>
                  <a:ea typeface="微软雅黑" pitchFamily="34" charset="-122"/>
                </a:rPr>
                <a:t>网络地址（点分十进制）</a:t>
              </a:r>
            </a:p>
          </p:txBody>
        </p:sp>
        <p:sp>
          <p:nvSpPr>
            <p:cNvPr id="72" name="Text Box 45"/>
            <p:cNvSpPr txBox="1">
              <a:spLocks noChangeArrowheads="1"/>
            </p:cNvSpPr>
            <p:nvPr/>
          </p:nvSpPr>
          <p:spPr bwMode="auto">
            <a:xfrm>
              <a:off x="3948549" y="3762012"/>
              <a:ext cx="205697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128       .        14        .</a:t>
              </a:r>
            </a:p>
          </p:txBody>
        </p:sp>
        <p:sp>
          <p:nvSpPr>
            <p:cNvPr id="73" name="Text Box 46"/>
            <p:cNvSpPr txBox="1">
              <a:spLocks noChangeArrowheads="1"/>
            </p:cNvSpPr>
            <p:nvPr/>
          </p:nvSpPr>
          <p:spPr bwMode="auto">
            <a:xfrm>
              <a:off x="5852996" y="3762012"/>
              <a:ext cx="183736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    32            .        0</a:t>
              </a:r>
            </a:p>
          </p:txBody>
        </p:sp>
      </p:grpSp>
      <p:grpSp>
        <p:nvGrpSpPr>
          <p:cNvPr id="8" name="组合 7"/>
          <p:cNvGrpSpPr/>
          <p:nvPr/>
        </p:nvGrpSpPr>
        <p:grpSpPr>
          <a:xfrm>
            <a:off x="828136" y="2058717"/>
            <a:ext cx="7479103" cy="305212"/>
            <a:chOff x="828136" y="2170855"/>
            <a:chExt cx="7479103" cy="305212"/>
          </a:xfrm>
        </p:grpSpPr>
        <p:sp>
          <p:nvSpPr>
            <p:cNvPr id="35" name="Rectangle 53"/>
            <p:cNvSpPr>
              <a:spLocks noChangeArrowheads="1"/>
            </p:cNvSpPr>
            <p:nvPr/>
          </p:nvSpPr>
          <p:spPr bwMode="auto">
            <a:xfrm>
              <a:off x="3640234" y="2188108"/>
              <a:ext cx="4455314" cy="272661"/>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0" name="Rectangle 58"/>
            <p:cNvSpPr>
              <a:spLocks noChangeArrowheads="1"/>
            </p:cNvSpPr>
            <p:nvPr/>
          </p:nvSpPr>
          <p:spPr bwMode="auto">
            <a:xfrm>
              <a:off x="828136" y="2170855"/>
              <a:ext cx="1679948"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400" b="1" dirty="0">
                  <a:latin typeface="微软雅黑" pitchFamily="34" charset="-122"/>
                  <a:ea typeface="微软雅黑" pitchFamily="34" charset="-122"/>
                </a:rPr>
                <a:t>(b) </a:t>
              </a:r>
              <a:r>
                <a:rPr kumimoji="1" lang="zh-CN" altLang="en-US" sz="1400" b="1" dirty="0">
                  <a:latin typeface="微软雅黑" pitchFamily="34" charset="-122"/>
                  <a:ea typeface="微软雅黑" pitchFamily="34" charset="-122"/>
                </a:rPr>
                <a:t>二进制 </a:t>
              </a:r>
              <a:r>
                <a:rPr kumimoji="1" lang="en-US" altLang="zh-CN" sz="1400" b="1" dirty="0">
                  <a:latin typeface="微软雅黑" pitchFamily="34" charset="-122"/>
                  <a:ea typeface="微软雅黑" pitchFamily="34" charset="-122"/>
                </a:rPr>
                <a:t>IP </a:t>
              </a:r>
              <a:r>
                <a:rPr kumimoji="1" lang="zh-CN" altLang="en-US" sz="1400" b="1" dirty="0">
                  <a:latin typeface="微软雅黑" pitchFamily="34" charset="-122"/>
                  <a:ea typeface="微软雅黑" pitchFamily="34" charset="-122"/>
                </a:rPr>
                <a:t>地址</a:t>
              </a:r>
            </a:p>
          </p:txBody>
        </p:sp>
        <p:sp>
          <p:nvSpPr>
            <p:cNvPr id="6" name="矩形 5"/>
            <p:cNvSpPr/>
            <p:nvPr/>
          </p:nvSpPr>
          <p:spPr>
            <a:xfrm>
              <a:off x="3559425" y="2191186"/>
              <a:ext cx="4747814" cy="27443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1 0 0 0 0 0 0 0 0 0 0 0 1 1 1 0 0 0 1 0 0 0 1 1 0 0 0 0 0 1 1 1</a:t>
              </a:r>
            </a:p>
          </p:txBody>
        </p:sp>
        <p:sp>
          <p:nvSpPr>
            <p:cNvPr id="78" name="Line 38"/>
            <p:cNvSpPr>
              <a:spLocks noChangeShapeType="1"/>
            </p:cNvSpPr>
            <p:nvPr/>
          </p:nvSpPr>
          <p:spPr bwMode="auto">
            <a:xfrm>
              <a:off x="5846958" y="2201321"/>
              <a:ext cx="0" cy="266655"/>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9" name="Line 39"/>
            <p:cNvSpPr>
              <a:spLocks noChangeShapeType="1"/>
            </p:cNvSpPr>
            <p:nvPr/>
          </p:nvSpPr>
          <p:spPr bwMode="auto">
            <a:xfrm>
              <a:off x="6952197" y="2194114"/>
              <a:ext cx="0" cy="270258"/>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0" name="Line 51"/>
            <p:cNvSpPr>
              <a:spLocks noChangeShapeType="1"/>
            </p:cNvSpPr>
            <p:nvPr/>
          </p:nvSpPr>
          <p:spPr bwMode="auto">
            <a:xfrm>
              <a:off x="4733758" y="2194114"/>
              <a:ext cx="0" cy="266655"/>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grpSp>
      <p:sp>
        <p:nvSpPr>
          <p:cNvPr id="81" name="Text Box 155"/>
          <p:cNvSpPr txBox="1">
            <a:spLocks noChangeArrowheads="1"/>
          </p:cNvSpPr>
          <p:nvPr/>
        </p:nvSpPr>
        <p:spPr bwMode="auto">
          <a:xfrm>
            <a:off x="1436910" y="1121245"/>
            <a:ext cx="6593695" cy="344325"/>
          </a:xfrm>
          <a:prstGeom prst="rect">
            <a:avLst/>
          </a:prstGeom>
          <a:noFill/>
          <a:ln w="9525">
            <a:noFill/>
            <a:miter lim="800000"/>
            <a:headEnd/>
            <a:tailEnd/>
          </a:ln>
          <a:effectLst/>
        </p:spPr>
        <p:txBody>
          <a:bodyPr wrap="square">
            <a:spAutoFit/>
          </a:bodyPr>
          <a:lstStyle/>
          <a:p>
            <a:pPr algn="ctr">
              <a:lnSpc>
                <a:spcPct val="110000"/>
              </a:lnSpc>
            </a:pPr>
            <a:r>
              <a:rPr lang="en-US" altLang="zh-CN" sz="1600" b="1" dirty="0">
                <a:solidFill>
                  <a:srgbClr val="0000FF"/>
                </a:solidFill>
                <a:latin typeface="微软雅黑" pitchFamily="34" charset="-122"/>
                <a:ea typeface="微软雅黑" pitchFamily="34" charset="-122"/>
              </a:rPr>
              <a:t>【</a:t>
            </a:r>
            <a:r>
              <a:rPr lang="zh-CN" altLang="en-US" sz="1600" b="1" dirty="0">
                <a:solidFill>
                  <a:srgbClr val="0000FF"/>
                </a:solidFill>
                <a:latin typeface="微软雅黑" pitchFamily="34" charset="-122"/>
                <a:ea typeface="微软雅黑" pitchFamily="34" charset="-122"/>
              </a:rPr>
              <a:t>例</a:t>
            </a:r>
            <a:r>
              <a:rPr lang="en-US" altLang="zh-CN" sz="1600" b="1" dirty="0">
                <a:solidFill>
                  <a:srgbClr val="0000FF"/>
                </a:solidFill>
                <a:latin typeface="微软雅黑" pitchFamily="34" charset="-122"/>
                <a:ea typeface="微软雅黑" pitchFamily="34" charset="-122"/>
              </a:rPr>
              <a:t>】</a:t>
            </a:r>
            <a:r>
              <a:rPr lang="zh-CN" altLang="en-US" sz="1600" b="1" dirty="0">
                <a:solidFill>
                  <a:srgbClr val="0000FF"/>
                </a:solidFill>
                <a:latin typeface="微软雅黑" pitchFamily="34" charset="-122"/>
                <a:ea typeface="微软雅黑" pitchFamily="34" charset="-122"/>
              </a:rPr>
              <a:t>已知 </a:t>
            </a:r>
            <a:r>
              <a:rPr lang="en-US" altLang="zh-CN" sz="1600" b="1" dirty="0">
                <a:solidFill>
                  <a:srgbClr val="0000FF"/>
                </a:solidFill>
                <a:latin typeface="微软雅黑" pitchFamily="34" charset="-122"/>
                <a:ea typeface="微软雅黑" pitchFamily="34" charset="-122"/>
              </a:rPr>
              <a:t>IP </a:t>
            </a:r>
            <a:r>
              <a:rPr lang="zh-CN" altLang="en-US" sz="1600" b="1" dirty="0">
                <a:solidFill>
                  <a:srgbClr val="0000FF"/>
                </a:solidFill>
                <a:latin typeface="微软雅黑" pitchFamily="34" charset="-122"/>
                <a:ea typeface="微软雅黑" pitchFamily="34" charset="-122"/>
              </a:rPr>
              <a:t>地址是 </a:t>
            </a:r>
            <a:r>
              <a:rPr lang="en-US" altLang="zh-CN" sz="1600" b="1" dirty="0">
                <a:solidFill>
                  <a:srgbClr val="0000FF"/>
                </a:solidFill>
                <a:latin typeface="微软雅黑" pitchFamily="34" charset="-122"/>
                <a:ea typeface="微软雅黑" pitchFamily="34" charset="-122"/>
              </a:rPr>
              <a:t>128.14.35.7/20</a:t>
            </a:r>
            <a:r>
              <a:rPr lang="zh-CN" altLang="en-US" sz="1600" b="1" dirty="0">
                <a:solidFill>
                  <a:srgbClr val="0000FF"/>
                </a:solidFill>
                <a:latin typeface="微软雅黑" pitchFamily="34" charset="-122"/>
                <a:ea typeface="微软雅黑" pitchFamily="34" charset="-122"/>
              </a:rPr>
              <a:t>。求网络地址。 </a:t>
            </a:r>
          </a:p>
        </p:txBody>
      </p:sp>
    </p:spTree>
    <p:extLst>
      <p:ext uri="{BB962C8B-B14F-4D97-AF65-F5344CB8AC3E}">
        <p14:creationId xmlns:p14="http://schemas.microsoft.com/office/powerpoint/2010/main" val="57613704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up)">
                                      <p:cBhvr>
                                        <p:cTn id="7" dur="20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wipe(up)">
                                      <p:cBhvr>
                                        <p:cTn id="12" dur="20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wipe(up)">
                                      <p:cBhvr>
                                        <p:cTn id="17" dur="20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wipe(up)">
                                      <p:cBhvr>
                                        <p:cTn id="22" dur="20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wipe(up)">
                                      <p:cBhvr>
                                        <p:cTn id="27" dur="2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4" y="624674"/>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p>
        </p:txBody>
      </p:sp>
      <p:sp>
        <p:nvSpPr>
          <p:cNvPr id="4" name="矩形 3"/>
          <p:cNvSpPr/>
          <p:nvPr/>
        </p:nvSpPr>
        <p:spPr>
          <a:xfrm>
            <a:off x="616085" y="565906"/>
            <a:ext cx="2520242" cy="400110"/>
          </a:xfrm>
          <a:prstGeom prst="rect">
            <a:avLst/>
          </a:prstGeom>
        </p:spPr>
        <p:txBody>
          <a:bodyPr wrap="none">
            <a:spAutoFit/>
          </a:bodyPr>
          <a:lstStyle/>
          <a:p>
            <a:r>
              <a:rPr lang="zh-CN" altLang="en-US" sz="2000" b="1" dirty="0">
                <a:latin typeface="微软雅黑" pitchFamily="34" charset="-122"/>
                <a:ea typeface="微软雅黑" pitchFamily="34" charset="-122"/>
              </a:rPr>
              <a:t>常用的 </a:t>
            </a:r>
            <a:r>
              <a:rPr lang="en-US" altLang="zh-CN" sz="2000" b="1" dirty="0">
                <a:latin typeface="微软雅黑" pitchFamily="34" charset="-122"/>
                <a:ea typeface="微软雅黑" pitchFamily="34" charset="-122"/>
              </a:rPr>
              <a:t>CIDR </a:t>
            </a:r>
            <a:r>
              <a:rPr lang="zh-CN" altLang="en-US" sz="2000" b="1" dirty="0">
                <a:latin typeface="微软雅黑" pitchFamily="34" charset="-122"/>
                <a:ea typeface="微软雅黑" pitchFamily="34" charset="-122"/>
              </a:rPr>
              <a:t>地址块</a:t>
            </a:r>
          </a:p>
        </p:txBody>
      </p:sp>
      <p:graphicFrame>
        <p:nvGraphicFramePr>
          <p:cNvPr id="2" name="表格 1"/>
          <p:cNvGraphicFramePr>
            <a:graphicFrameLocks noGrp="1"/>
          </p:cNvGraphicFramePr>
          <p:nvPr>
            <p:extLst>
              <p:ext uri="{D42A27DB-BD31-4B8C-83A1-F6EECF244321}">
                <p14:modId xmlns:p14="http://schemas.microsoft.com/office/powerpoint/2010/main" val="1586277252"/>
              </p:ext>
            </p:extLst>
          </p:nvPr>
        </p:nvGraphicFramePr>
        <p:xfrm>
          <a:off x="715992" y="1024780"/>
          <a:ext cx="7427344" cy="3598977"/>
        </p:xfrm>
        <a:graphic>
          <a:graphicData uri="http://schemas.openxmlformats.org/drawingml/2006/table">
            <a:tbl>
              <a:tblPr firstRow="1" bandRow="1">
                <a:tableStyleId>{91EBBBCC-DAD2-459C-BE2E-F6DE35CF9A28}</a:tableStyleId>
              </a:tblPr>
              <a:tblGrid>
                <a:gridCol w="1407497">
                  <a:extLst>
                    <a:ext uri="{9D8B030D-6E8A-4147-A177-3AD203B41FA5}">
                      <a16:colId xmlns:a16="http://schemas.microsoft.com/office/drawing/2014/main" val="2353518644"/>
                    </a:ext>
                  </a:extLst>
                </a:gridCol>
                <a:gridCol w="1805955">
                  <a:extLst>
                    <a:ext uri="{9D8B030D-6E8A-4147-A177-3AD203B41FA5}">
                      <a16:colId xmlns:a16="http://schemas.microsoft.com/office/drawing/2014/main" val="2193359301"/>
                    </a:ext>
                  </a:extLst>
                </a:gridCol>
                <a:gridCol w="1705623">
                  <a:extLst>
                    <a:ext uri="{9D8B030D-6E8A-4147-A177-3AD203B41FA5}">
                      <a16:colId xmlns:a16="http://schemas.microsoft.com/office/drawing/2014/main" val="1972424735"/>
                    </a:ext>
                  </a:extLst>
                </a:gridCol>
                <a:gridCol w="2508269">
                  <a:extLst>
                    <a:ext uri="{9D8B030D-6E8A-4147-A177-3AD203B41FA5}">
                      <a16:colId xmlns:a16="http://schemas.microsoft.com/office/drawing/2014/main" val="3197085333"/>
                    </a:ext>
                  </a:extLst>
                </a:gridCol>
              </a:tblGrid>
              <a:tr h="272562">
                <a:tc>
                  <a:txBody>
                    <a:bodyPr/>
                    <a:lstStyle/>
                    <a:p>
                      <a:pPr algn="ctr">
                        <a:lnSpc>
                          <a:spcPts val="1400"/>
                        </a:lnSpc>
                        <a:spcAft>
                          <a:spcPts val="0"/>
                        </a:spcAft>
                      </a:pPr>
                      <a:r>
                        <a:rPr lang="zh-CN" sz="1400" b="1" kern="500" dirty="0">
                          <a:effectLst/>
                          <a:latin typeface="微软雅黑" panose="020B0503020204020204" pitchFamily="34" charset="-122"/>
                          <a:ea typeface="微软雅黑" panose="020B0503020204020204" pitchFamily="34" charset="-122"/>
                        </a:rPr>
                        <a:t>网络前缀长度</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zh-CN" sz="1400" b="1" kern="500" dirty="0">
                          <a:effectLst/>
                          <a:latin typeface="微软雅黑" panose="020B0503020204020204" pitchFamily="34" charset="-122"/>
                          <a:ea typeface="微软雅黑" panose="020B0503020204020204" pitchFamily="34" charset="-122"/>
                        </a:rPr>
                        <a:t>点分十进制</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zh-CN" sz="1400" b="1" kern="500" dirty="0">
                          <a:effectLst/>
                          <a:latin typeface="微软雅黑" panose="020B0503020204020204" pitchFamily="34" charset="-122"/>
                          <a:ea typeface="微软雅黑" panose="020B0503020204020204" pitchFamily="34" charset="-122"/>
                        </a:rPr>
                        <a:t>包含的地址数</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zh-CN" sz="1400" b="1" kern="500" dirty="0">
                          <a:effectLst/>
                          <a:latin typeface="微软雅黑" panose="020B0503020204020204" pitchFamily="34" charset="-122"/>
                          <a:ea typeface="微软雅黑" panose="020B0503020204020204" pitchFamily="34" charset="-122"/>
                        </a:rPr>
                        <a:t>相当于包含分类的网络数</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2764408178"/>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/13</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255.248.0.0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512 K</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8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B </a:t>
                      </a:r>
                      <a:r>
                        <a:rPr lang="zh-CN" sz="1400" b="1" kern="500" dirty="0">
                          <a:effectLst/>
                          <a:latin typeface="微软雅黑" panose="020B0503020204020204" pitchFamily="34" charset="-122"/>
                          <a:ea typeface="微软雅黑" panose="020B0503020204020204" pitchFamily="34" charset="-122"/>
                        </a:rPr>
                        <a:t>类或</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2048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3119340114"/>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/14</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255.252.0.0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256 K</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4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B </a:t>
                      </a:r>
                      <a:r>
                        <a:rPr lang="zh-CN" sz="1400" b="1" kern="500" dirty="0">
                          <a:effectLst/>
                          <a:latin typeface="微软雅黑" panose="020B0503020204020204" pitchFamily="34" charset="-122"/>
                          <a:ea typeface="微软雅黑" panose="020B0503020204020204" pitchFamily="34" charset="-122"/>
                        </a:rPr>
                        <a:t>类或</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1024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990401141"/>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/15</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255.254.0.0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128 K</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B </a:t>
                      </a:r>
                      <a:r>
                        <a:rPr lang="zh-CN" sz="1400" b="1" kern="500" dirty="0">
                          <a:effectLst/>
                          <a:latin typeface="微软雅黑" panose="020B0503020204020204" pitchFamily="34" charset="-122"/>
                          <a:ea typeface="微软雅黑" panose="020B0503020204020204" pitchFamily="34" charset="-122"/>
                        </a:rPr>
                        <a:t>类或</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512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4035733493"/>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/16</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255.255.0.0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64 K</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B </a:t>
                      </a:r>
                      <a:r>
                        <a:rPr lang="zh-CN" sz="1400" b="1" kern="500" dirty="0">
                          <a:effectLst/>
                          <a:latin typeface="微软雅黑" panose="020B0503020204020204" pitchFamily="34" charset="-122"/>
                          <a:ea typeface="微软雅黑" panose="020B0503020204020204" pitchFamily="34" charset="-122"/>
                        </a:rPr>
                        <a:t>类或</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256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47935043"/>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/17</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255.255.128.0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32 K</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128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984286603"/>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/18</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255.255.192.0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16 K</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64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495280130"/>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/19</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255.255.224.0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8 K</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32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589026572"/>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/20</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255.255.240.0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4 K</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16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390613408"/>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/21</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255.255.248.0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 K</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8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2567787277"/>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/22</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255.255.252.0</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1 K</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4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3400588070"/>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/23</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255.255.254.0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512</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4112281158"/>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/24</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255.255.255.0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256</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3039715874"/>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/25</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255.255.255.128</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128</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altLang="zh-CN" sz="1400" b="1" kern="500" dirty="0">
                          <a:solidFill>
                            <a:schemeClr val="dk1"/>
                          </a:solidFill>
                          <a:effectLst/>
                          <a:latin typeface="微软雅黑" panose="020B0503020204020204" pitchFamily="34" charset="-122"/>
                          <a:ea typeface="微软雅黑" panose="020B0503020204020204" pitchFamily="34" charset="-122"/>
                          <a:cs typeface="Times New Roman" panose="02020603050405020304" pitchFamily="18" charset="0"/>
                        </a:rPr>
                        <a:t>1/2 </a:t>
                      </a:r>
                      <a:r>
                        <a:rPr lang="zh-CN" sz="1400" b="1" kern="500" dirty="0">
                          <a:solidFill>
                            <a:schemeClr val="dk1"/>
                          </a:solidFill>
                          <a:effectLst/>
                          <a:latin typeface="微软雅黑" panose="020B0503020204020204" pitchFamily="34" charset="-122"/>
                          <a:ea typeface="微软雅黑" panose="020B0503020204020204" pitchFamily="34" charset="-122"/>
                          <a:cs typeface="Times New Roman" panose="02020603050405020304" pitchFamily="18" charset="0"/>
                        </a:rPr>
                        <a:t>个</a:t>
                      </a:r>
                      <a:r>
                        <a:rPr lang="en-US" altLang="zh-CN" sz="1400" b="1" kern="500" dirty="0">
                          <a:solidFill>
                            <a:schemeClr val="dk1"/>
                          </a:solidFill>
                          <a:effectLst/>
                          <a:latin typeface="微软雅黑" panose="020B0503020204020204" pitchFamily="34" charset="-122"/>
                          <a:ea typeface="微软雅黑" panose="020B0503020204020204" pitchFamily="34" charset="-122"/>
                          <a:cs typeface="Times New Roman" panose="02020603050405020304" pitchFamily="18" charset="0"/>
                        </a:rPr>
                        <a:t> </a:t>
                      </a:r>
                      <a:r>
                        <a:rPr lang="en-US" sz="1400" b="1" kern="500" dirty="0">
                          <a:solidFill>
                            <a:schemeClr val="dk1"/>
                          </a:solidFill>
                          <a:effectLst/>
                          <a:latin typeface="微软雅黑" panose="020B0503020204020204" pitchFamily="34" charset="-122"/>
                          <a:ea typeface="微软雅黑" panose="020B0503020204020204" pitchFamily="34" charset="-122"/>
                          <a:cs typeface="Times New Roman" panose="02020603050405020304" pitchFamily="18" charset="0"/>
                        </a:rPr>
                        <a:t>C </a:t>
                      </a:r>
                      <a:r>
                        <a:rPr lang="zh-CN" sz="1400" b="1" kern="500" dirty="0">
                          <a:solidFill>
                            <a:schemeClr val="dk1"/>
                          </a:solidFill>
                          <a:effectLst/>
                          <a:latin typeface="微软雅黑" panose="020B0503020204020204" pitchFamily="34" charset="-122"/>
                          <a:ea typeface="微软雅黑" panose="020B0503020204020204" pitchFamily="34" charset="-122"/>
                          <a:cs typeface="Times New Roman" panose="02020603050405020304" pitchFamily="18" charset="0"/>
                        </a:rPr>
                        <a:t>类</a:t>
                      </a: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3492046195"/>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/26</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255.255.255.192</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64</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altLang="zh-CN" sz="1400" b="1" kern="500" dirty="0">
                          <a:effectLst/>
                          <a:latin typeface="微软雅黑" panose="020B0503020204020204" pitchFamily="34" charset="-122"/>
                          <a:ea typeface="微软雅黑" panose="020B0503020204020204" pitchFamily="34" charset="-122"/>
                        </a:rPr>
                        <a:t>1/4 </a:t>
                      </a:r>
                      <a:r>
                        <a:rPr lang="zh-CN" alt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solidFill>
                            <a:schemeClr val="dk1"/>
                          </a:solidFill>
                          <a:effectLst/>
                          <a:latin typeface="微软雅黑" panose="020B0503020204020204" pitchFamily="34" charset="-122"/>
                          <a:ea typeface="微软雅黑" panose="020B0503020204020204" pitchFamily="34" charset="-122"/>
                          <a:cs typeface="Times New Roman" panose="02020603050405020304" pitchFamily="18" charset="0"/>
                        </a:rPr>
                        <a:t>C </a:t>
                      </a:r>
                      <a:r>
                        <a:rPr lang="zh-CN" sz="1400" b="1" kern="500" dirty="0">
                          <a:solidFill>
                            <a:schemeClr val="dk1"/>
                          </a:solidFill>
                          <a:effectLst/>
                          <a:latin typeface="微软雅黑" panose="020B0503020204020204" pitchFamily="34" charset="-122"/>
                          <a:ea typeface="微软雅黑" panose="020B0503020204020204" pitchFamily="34" charset="-122"/>
                          <a:cs typeface="Times New Roman" panose="02020603050405020304" pitchFamily="18" charset="0"/>
                        </a:rPr>
                        <a:t>类</a:t>
                      </a: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814100583"/>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/27</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255.255.255.224</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32</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cs typeface="Times New Roman" panose="02020603050405020304" pitchFamily="18" charset="0"/>
                        </a:rPr>
                        <a:t>1/8</a:t>
                      </a:r>
                      <a:r>
                        <a:rPr lang="en-US" sz="1400" b="1" kern="500" dirty="0">
                          <a:effectLst/>
                          <a:latin typeface="微软雅黑" panose="020B0503020204020204" pitchFamily="34" charset="-122"/>
                          <a:ea typeface="微软雅黑" panose="020B0503020204020204" pitchFamily="34" charset="-122"/>
                        </a:rPr>
                        <a:t>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3381601028"/>
                  </a:ext>
                </a:extLst>
              </a:tr>
            </a:tbl>
          </a:graphicData>
        </a:graphic>
      </p:graphicFrame>
    </p:spTree>
    <p:extLst>
      <p:ext uri="{BB962C8B-B14F-4D97-AF65-F5344CB8AC3E}">
        <p14:creationId xmlns:p14="http://schemas.microsoft.com/office/powerpoint/2010/main" val="295159297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4" y="624674"/>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p>
        </p:txBody>
      </p:sp>
      <p:sp>
        <p:nvSpPr>
          <p:cNvPr id="4" name="矩形 3"/>
          <p:cNvSpPr/>
          <p:nvPr/>
        </p:nvSpPr>
        <p:spPr>
          <a:xfrm>
            <a:off x="616085" y="565906"/>
            <a:ext cx="1210588" cy="400110"/>
          </a:xfrm>
          <a:prstGeom prst="rect">
            <a:avLst/>
          </a:prstGeom>
        </p:spPr>
        <p:txBody>
          <a:bodyPr wrap="none">
            <a:spAutoFit/>
          </a:bodyPr>
          <a:lstStyle/>
          <a:p>
            <a:r>
              <a:rPr lang="zh-CN" altLang="en-US" sz="2000" b="1" dirty="0">
                <a:latin typeface="微软雅黑" pitchFamily="34" charset="-122"/>
                <a:ea typeface="微软雅黑" pitchFamily="34" charset="-122"/>
              </a:rPr>
              <a:t>构造超网</a:t>
            </a:r>
          </a:p>
        </p:txBody>
      </p:sp>
      <p:sp>
        <p:nvSpPr>
          <p:cNvPr id="5" name="Rectangle 68"/>
          <p:cNvSpPr>
            <a:spLocks noChangeArrowheads="1"/>
          </p:cNvSpPr>
          <p:nvPr/>
        </p:nvSpPr>
        <p:spPr bwMode="auto">
          <a:xfrm>
            <a:off x="556962" y="978646"/>
            <a:ext cx="8041893" cy="163121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每一个 </a:t>
            </a:r>
            <a:r>
              <a:rPr lang="en-US" altLang="zh-CN" sz="2000" b="1" dirty="0">
                <a:latin typeface="微软雅黑" pitchFamily="34" charset="-122"/>
                <a:ea typeface="微软雅黑" pitchFamily="34" charset="-122"/>
              </a:rPr>
              <a:t>CIDR </a:t>
            </a:r>
            <a:r>
              <a:rPr lang="zh-CN" altLang="en-US" sz="2000" b="1" dirty="0">
                <a:latin typeface="微软雅黑" pitchFamily="34" charset="-122"/>
                <a:ea typeface="微软雅黑" pitchFamily="34" charset="-122"/>
              </a:rPr>
              <a:t>地址块中的地址数</a:t>
            </a:r>
            <a:r>
              <a:rPr lang="zh-CN" altLang="en-US" sz="2000" b="1" dirty="0">
                <a:solidFill>
                  <a:srgbClr val="C00000"/>
                </a:solidFill>
                <a:latin typeface="微软雅黑" pitchFamily="34" charset="-122"/>
                <a:ea typeface="微软雅黑" pitchFamily="34" charset="-122"/>
              </a:rPr>
              <a:t>一定是 </a:t>
            </a:r>
            <a:r>
              <a:rPr lang="en-US" altLang="zh-CN" sz="2000" b="1" dirty="0">
                <a:solidFill>
                  <a:srgbClr val="C00000"/>
                </a:solidFill>
                <a:latin typeface="微软雅黑" pitchFamily="34" charset="-122"/>
                <a:ea typeface="微软雅黑" pitchFamily="34" charset="-122"/>
              </a:rPr>
              <a:t>2 </a:t>
            </a:r>
            <a:r>
              <a:rPr lang="zh-CN" altLang="en-US" sz="2000" b="1" dirty="0">
                <a:solidFill>
                  <a:srgbClr val="C00000"/>
                </a:solidFill>
                <a:latin typeface="微软雅黑" pitchFamily="34" charset="-122"/>
                <a:ea typeface="微软雅黑" pitchFamily="34" charset="-122"/>
              </a:rPr>
              <a:t>的整数次幂。</a:t>
            </a:r>
            <a:endParaRPr lang="en-US" altLang="zh-CN" sz="2000" b="1" dirty="0">
              <a:solidFill>
                <a:srgbClr val="C00000"/>
              </a:solidFill>
              <a:latin typeface="微软雅黑" pitchFamily="34" charset="-122"/>
              <a:ea typeface="微软雅黑" pitchFamily="34" charset="-122"/>
            </a:endParaRPr>
          </a:p>
          <a:p>
            <a:pPr marL="268288" indent="-2682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除最后几行外，</a:t>
            </a:r>
            <a:r>
              <a:rPr lang="en-US" altLang="zh-CN" sz="2000" b="1" dirty="0">
                <a:latin typeface="微软雅黑" pitchFamily="34" charset="-122"/>
                <a:ea typeface="微软雅黑" pitchFamily="34" charset="-122"/>
              </a:rPr>
              <a:t>CIDR </a:t>
            </a:r>
            <a:r>
              <a:rPr lang="zh-CN" altLang="en-US" sz="2000" b="1" dirty="0">
                <a:latin typeface="微软雅黑" pitchFamily="34" charset="-122"/>
                <a:ea typeface="微软雅黑" pitchFamily="34" charset="-122"/>
              </a:rPr>
              <a:t>地址块都包含了多个 </a:t>
            </a:r>
            <a:r>
              <a:rPr lang="en-US" altLang="zh-CN" sz="2000" b="1" dirty="0">
                <a:latin typeface="微软雅黑" pitchFamily="34" charset="-122"/>
                <a:ea typeface="微软雅黑" pitchFamily="34" charset="-122"/>
              </a:rPr>
              <a:t>C </a:t>
            </a:r>
            <a:r>
              <a:rPr lang="zh-CN" altLang="en-US" sz="2000" b="1" dirty="0">
                <a:latin typeface="微软雅黑" pitchFamily="34" charset="-122"/>
                <a:ea typeface="微软雅黑" pitchFamily="34" charset="-122"/>
              </a:rPr>
              <a:t>类地址（是一个 </a:t>
            </a:r>
            <a:r>
              <a:rPr lang="en-US" altLang="zh-CN" sz="2000" b="1" dirty="0">
                <a:latin typeface="微软雅黑" pitchFamily="34" charset="-122"/>
                <a:ea typeface="微软雅黑" pitchFamily="34" charset="-122"/>
              </a:rPr>
              <a:t>C </a:t>
            </a:r>
            <a:r>
              <a:rPr lang="zh-CN" altLang="en-US" sz="2000" b="1" dirty="0">
                <a:latin typeface="微软雅黑" pitchFamily="34" charset="-122"/>
                <a:ea typeface="微软雅黑" pitchFamily="34" charset="-122"/>
              </a:rPr>
              <a:t>类地址的 </a:t>
            </a:r>
            <a:r>
              <a:rPr lang="en-US" altLang="zh-CN" sz="2000" b="1" dirty="0">
                <a:latin typeface="微软雅黑" pitchFamily="34" charset="-122"/>
                <a:ea typeface="微软雅黑" pitchFamily="34" charset="-122"/>
              </a:rPr>
              <a:t>2</a:t>
            </a:r>
            <a:r>
              <a:rPr lang="en-US" altLang="zh-CN" sz="2000" b="1" baseline="30000" dirty="0">
                <a:latin typeface="微软雅黑" pitchFamily="34" charset="-122"/>
                <a:ea typeface="微软雅黑" pitchFamily="34" charset="-122"/>
              </a:rPr>
              <a:t>n</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倍，</a:t>
            </a:r>
            <a:r>
              <a:rPr lang="en-US" altLang="zh-CN" sz="2000" b="1" dirty="0">
                <a:latin typeface="微软雅黑" pitchFamily="34" charset="-122"/>
                <a:ea typeface="微软雅黑" pitchFamily="34" charset="-122"/>
              </a:rPr>
              <a:t>n </a:t>
            </a:r>
            <a:r>
              <a:rPr lang="zh-CN" altLang="en-US" sz="2000" b="1" dirty="0">
                <a:latin typeface="微软雅黑" pitchFamily="34" charset="-122"/>
                <a:ea typeface="微软雅黑" pitchFamily="34" charset="-122"/>
              </a:rPr>
              <a:t>是整数）。</a:t>
            </a:r>
            <a:endParaRPr lang="en-US" altLang="zh-CN" sz="2000" b="1" dirty="0">
              <a:latin typeface="微软雅黑" pitchFamily="34" charset="-122"/>
              <a:ea typeface="微软雅黑" pitchFamily="34" charset="-122"/>
            </a:endParaRPr>
          </a:p>
          <a:p>
            <a:pPr marL="268288" indent="-2682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因此在文献中有时称 </a:t>
            </a:r>
            <a:r>
              <a:rPr lang="en-US" altLang="zh-CN" sz="2000" b="1" dirty="0">
                <a:latin typeface="微软雅黑" pitchFamily="34" charset="-122"/>
                <a:ea typeface="微软雅黑" pitchFamily="34" charset="-122"/>
              </a:rPr>
              <a:t>CIDR </a:t>
            </a:r>
            <a:r>
              <a:rPr lang="zh-CN" altLang="en-US" sz="2000" b="1" dirty="0">
                <a:latin typeface="微软雅黑" pitchFamily="34" charset="-122"/>
                <a:ea typeface="微软雅黑" pitchFamily="34" charset="-122"/>
              </a:rPr>
              <a:t>编址为</a:t>
            </a:r>
            <a:r>
              <a:rPr lang="zh-CN" altLang="en-US" sz="2000" b="1" dirty="0">
                <a:solidFill>
                  <a:srgbClr val="C00000"/>
                </a:solidFill>
                <a:latin typeface="微软雅黑" pitchFamily="34" charset="-122"/>
                <a:ea typeface="微软雅黑" pitchFamily="34" charset="-122"/>
              </a:rPr>
              <a:t>“构造超网”。</a:t>
            </a:r>
          </a:p>
        </p:txBody>
      </p:sp>
      <p:sp>
        <p:nvSpPr>
          <p:cNvPr id="7" name="Cloud"/>
          <p:cNvSpPr>
            <a:spLocks noChangeAspect="1" noEditPoints="1" noChangeArrowheads="1"/>
          </p:cNvSpPr>
          <p:nvPr/>
        </p:nvSpPr>
        <p:spPr bwMode="auto">
          <a:xfrm>
            <a:off x="1221378" y="2544792"/>
            <a:ext cx="6611407" cy="2105940"/>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2977 w 21600"/>
              <a:gd name="T13" fmla="*/ 3262 h 21600"/>
              <a:gd name="T14" fmla="*/ 17087 w 21600"/>
              <a:gd name="T15" fmla="*/ 17337 h 21600"/>
            </a:gdLst>
            <a:ahLst/>
            <a:cxnLst>
              <a:cxn ang="T8">
                <a:pos x="T0" y="T1"/>
              </a:cxn>
              <a:cxn ang="T9">
                <a:pos x="T2" y="T3"/>
              </a:cxn>
              <a:cxn ang="T10">
                <a:pos x="T4" y="T5"/>
              </a:cxn>
              <a:cxn ang="T11">
                <a:pos x="T6" y="T7"/>
              </a:cxn>
            </a:cxnLst>
            <a:rect l="T12" t="T13" r="T14" b="T15"/>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lnTo>
                  <a:pt x="1949" y="7180"/>
                </a:ln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DDDDDD"/>
          </a:solidFill>
          <a:ln w="19050">
            <a:solidFill>
              <a:srgbClr val="000000"/>
            </a:solidFill>
            <a:miter lim="800000"/>
            <a:headEnd/>
            <a:tailEnd/>
          </a:ln>
          <a:effectLst>
            <a:outerShdw blurRad="50800" dist="38100" dir="2700000" algn="tl" rotWithShape="0">
              <a:prstClr val="black">
                <a:alpha val="40000"/>
              </a:prstClr>
            </a:outerShdw>
          </a:effectLst>
        </p:spPr>
        <p:txBody>
          <a:bodyPr/>
          <a:lstStyle/>
          <a:p>
            <a:endParaRPr lang="zh-CN" altLang="en-US" sz="1400"/>
          </a:p>
        </p:txBody>
      </p:sp>
      <p:grpSp>
        <p:nvGrpSpPr>
          <p:cNvPr id="18" name="组合 17"/>
          <p:cNvGrpSpPr/>
          <p:nvPr/>
        </p:nvGrpSpPr>
        <p:grpSpPr>
          <a:xfrm>
            <a:off x="1501738" y="3137639"/>
            <a:ext cx="1854679" cy="846448"/>
            <a:chOff x="1468310" y="3244699"/>
            <a:chExt cx="1854679" cy="846448"/>
          </a:xfrm>
        </p:grpSpPr>
        <p:sp>
          <p:nvSpPr>
            <p:cNvPr id="8" name="Cloud"/>
            <p:cNvSpPr>
              <a:spLocks noChangeAspect="1" noEditPoints="1" noChangeArrowheads="1"/>
            </p:cNvSpPr>
            <p:nvPr/>
          </p:nvSpPr>
          <p:spPr bwMode="auto">
            <a:xfrm>
              <a:off x="1468310" y="3244699"/>
              <a:ext cx="1854679" cy="846448"/>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2977 w 21600"/>
                <a:gd name="T13" fmla="*/ 3262 h 21600"/>
                <a:gd name="T14" fmla="*/ 17087 w 21600"/>
                <a:gd name="T15" fmla="*/ 17337 h 21600"/>
              </a:gdLst>
              <a:ahLst/>
              <a:cxnLst>
                <a:cxn ang="T8">
                  <a:pos x="T0" y="T1"/>
                </a:cxn>
                <a:cxn ang="T9">
                  <a:pos x="T2" y="T3"/>
                </a:cxn>
                <a:cxn ang="T10">
                  <a:pos x="T4" y="T5"/>
                </a:cxn>
                <a:cxn ang="T11">
                  <a:pos x="T6" y="T7"/>
                </a:cxn>
              </a:cxnLst>
              <a:rect l="T12" t="T13" r="T14" b="T15"/>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lnTo>
                    <a:pt x="1949" y="7180"/>
                  </a:ln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BE7D"/>
            </a:solidFill>
            <a:ln w="9525">
              <a:solidFill>
                <a:srgbClr val="000000"/>
              </a:solidFill>
              <a:miter lim="800000"/>
              <a:headEnd/>
              <a:tailEnd/>
            </a:ln>
            <a:effectLst>
              <a:outerShdw blurRad="50800" dist="38100" dir="2700000" algn="tl" rotWithShape="0">
                <a:prstClr val="black">
                  <a:alpha val="40000"/>
                </a:prstClr>
              </a:outerShdw>
            </a:effectLst>
          </p:spPr>
          <p:txBody>
            <a:bodyPr/>
            <a:lstStyle/>
            <a:p>
              <a:endParaRPr lang="zh-CN" altLang="en-US" sz="1400"/>
            </a:p>
          </p:txBody>
        </p:sp>
        <p:sp>
          <p:nvSpPr>
            <p:cNvPr id="9" name="Rectangle 13"/>
            <p:cNvSpPr>
              <a:spLocks noChangeArrowheads="1"/>
            </p:cNvSpPr>
            <p:nvPr/>
          </p:nvSpPr>
          <p:spPr bwMode="auto">
            <a:xfrm>
              <a:off x="1653778" y="3443863"/>
              <a:ext cx="1459279" cy="39832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1200" b="1" dirty="0">
                  <a:ea typeface="宋体" pitchFamily="2" charset="-122"/>
                </a:rPr>
                <a:t>Subnet=128.14.0.0</a:t>
              </a:r>
            </a:p>
            <a:p>
              <a:r>
                <a:rPr lang="en-US" altLang="zh-CN" sz="1200" b="1" dirty="0">
                  <a:ea typeface="宋体" pitchFamily="2" charset="-122"/>
                </a:rPr>
                <a:t>Mask=255.255.255.0</a:t>
              </a:r>
            </a:p>
          </p:txBody>
        </p:sp>
      </p:grpSp>
      <p:grpSp>
        <p:nvGrpSpPr>
          <p:cNvPr id="17" name="组合 16"/>
          <p:cNvGrpSpPr/>
          <p:nvPr/>
        </p:nvGrpSpPr>
        <p:grpSpPr>
          <a:xfrm>
            <a:off x="5806316" y="3137639"/>
            <a:ext cx="1854679" cy="846448"/>
            <a:chOff x="5659670" y="3249777"/>
            <a:chExt cx="1854679" cy="846448"/>
          </a:xfrm>
          <a:effectLst>
            <a:outerShdw blurRad="50800" dist="38100" dir="2700000" algn="tl" rotWithShape="0">
              <a:prstClr val="black">
                <a:alpha val="40000"/>
              </a:prstClr>
            </a:outerShdw>
          </a:effectLst>
        </p:grpSpPr>
        <p:sp>
          <p:nvSpPr>
            <p:cNvPr id="10" name="Cloud"/>
            <p:cNvSpPr>
              <a:spLocks noChangeAspect="1" noEditPoints="1" noChangeArrowheads="1"/>
            </p:cNvSpPr>
            <p:nvPr/>
          </p:nvSpPr>
          <p:spPr bwMode="auto">
            <a:xfrm>
              <a:off x="5659670" y="3249777"/>
              <a:ext cx="1854679" cy="846448"/>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2977 w 21600"/>
                <a:gd name="T13" fmla="*/ 3262 h 21600"/>
                <a:gd name="T14" fmla="*/ 17087 w 21600"/>
                <a:gd name="T15" fmla="*/ 17337 h 21600"/>
              </a:gdLst>
              <a:ahLst/>
              <a:cxnLst>
                <a:cxn ang="T8">
                  <a:pos x="T0" y="T1"/>
                </a:cxn>
                <a:cxn ang="T9">
                  <a:pos x="T2" y="T3"/>
                </a:cxn>
                <a:cxn ang="T10">
                  <a:pos x="T4" y="T5"/>
                </a:cxn>
                <a:cxn ang="T11">
                  <a:pos x="T6" y="T7"/>
                </a:cxn>
              </a:cxnLst>
              <a:rect l="T12" t="T13" r="T14" b="T15"/>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lnTo>
                    <a:pt x="1949" y="7180"/>
                  </a:ln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BE7D"/>
            </a:solidFill>
            <a:ln w="9525">
              <a:solidFill>
                <a:srgbClr val="000000"/>
              </a:solidFill>
              <a:miter lim="800000"/>
              <a:headEnd/>
              <a:tailEnd/>
            </a:ln>
            <a:effectLst>
              <a:outerShdw blurRad="50800" dist="38100" dir="2700000" algn="tl" rotWithShape="0">
                <a:prstClr val="black">
                  <a:alpha val="40000"/>
                </a:prstClr>
              </a:outerShdw>
            </a:effectLst>
          </p:spPr>
          <p:txBody>
            <a:bodyPr/>
            <a:lstStyle/>
            <a:p>
              <a:endParaRPr lang="zh-CN" altLang="en-US" sz="1400"/>
            </a:p>
          </p:txBody>
        </p:sp>
        <p:sp>
          <p:nvSpPr>
            <p:cNvPr id="11" name="Rectangle 15"/>
            <p:cNvSpPr>
              <a:spLocks noChangeArrowheads="1"/>
            </p:cNvSpPr>
            <p:nvPr/>
          </p:nvSpPr>
          <p:spPr bwMode="auto">
            <a:xfrm>
              <a:off x="5844074" y="3448941"/>
              <a:ext cx="1479754" cy="39832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1200" b="1" dirty="0">
                  <a:ea typeface="宋体" pitchFamily="2" charset="-122"/>
                </a:rPr>
                <a:t>Subnet=128.14.15.0</a:t>
              </a:r>
            </a:p>
            <a:p>
              <a:r>
                <a:rPr lang="en-US" altLang="zh-CN" sz="1200" b="1" dirty="0">
                  <a:ea typeface="宋体" pitchFamily="2" charset="-122"/>
                </a:rPr>
                <a:t>Mask=255.255.255.0</a:t>
              </a:r>
            </a:p>
          </p:txBody>
        </p:sp>
      </p:grpSp>
      <p:sp>
        <p:nvSpPr>
          <p:cNvPr id="12" name="Line 17"/>
          <p:cNvSpPr>
            <a:spLocks noChangeShapeType="1"/>
          </p:cNvSpPr>
          <p:nvPr/>
        </p:nvSpPr>
        <p:spPr bwMode="auto">
          <a:xfrm>
            <a:off x="5435382" y="3644384"/>
            <a:ext cx="325309" cy="0"/>
          </a:xfrm>
          <a:prstGeom prst="line">
            <a:avLst/>
          </a:prstGeom>
          <a:noFill/>
          <a:ln w="571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p>
        </p:txBody>
      </p:sp>
      <p:sp>
        <p:nvSpPr>
          <p:cNvPr id="14" name="Text Box 10"/>
          <p:cNvSpPr txBox="1">
            <a:spLocks noChangeArrowheads="1"/>
          </p:cNvSpPr>
          <p:nvPr/>
        </p:nvSpPr>
        <p:spPr bwMode="auto">
          <a:xfrm>
            <a:off x="3439106" y="2748390"/>
            <a:ext cx="2367210" cy="348537"/>
          </a:xfrm>
          <a:prstGeom prst="rect">
            <a:avLst/>
          </a:prstGeom>
          <a:solidFill>
            <a:srgbClr val="FFFF0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a:r>
              <a:rPr lang="en-US" altLang="zh-CN" sz="2000" b="1" dirty="0">
                <a:latin typeface="Tahoma" pitchFamily="34" charset="0"/>
                <a:ea typeface="宋体" pitchFamily="2" charset="-122"/>
                <a:cs typeface="Arial" charset="0"/>
              </a:rPr>
              <a:t>128.14.0.0/20</a:t>
            </a:r>
          </a:p>
        </p:txBody>
      </p:sp>
      <p:grpSp>
        <p:nvGrpSpPr>
          <p:cNvPr id="19" name="组合 18"/>
          <p:cNvGrpSpPr/>
          <p:nvPr/>
        </p:nvGrpSpPr>
        <p:grpSpPr>
          <a:xfrm>
            <a:off x="3437121" y="3137639"/>
            <a:ext cx="1854679" cy="846448"/>
            <a:chOff x="1468310" y="3244699"/>
            <a:chExt cx="1854679" cy="846448"/>
          </a:xfrm>
        </p:grpSpPr>
        <p:sp>
          <p:nvSpPr>
            <p:cNvPr id="20" name="Cloud"/>
            <p:cNvSpPr>
              <a:spLocks noChangeAspect="1" noEditPoints="1" noChangeArrowheads="1"/>
            </p:cNvSpPr>
            <p:nvPr/>
          </p:nvSpPr>
          <p:spPr bwMode="auto">
            <a:xfrm>
              <a:off x="1468310" y="3244699"/>
              <a:ext cx="1854679" cy="846448"/>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2977 w 21600"/>
                <a:gd name="T13" fmla="*/ 3262 h 21600"/>
                <a:gd name="T14" fmla="*/ 17087 w 21600"/>
                <a:gd name="T15" fmla="*/ 17337 h 21600"/>
              </a:gdLst>
              <a:ahLst/>
              <a:cxnLst>
                <a:cxn ang="T8">
                  <a:pos x="T0" y="T1"/>
                </a:cxn>
                <a:cxn ang="T9">
                  <a:pos x="T2" y="T3"/>
                </a:cxn>
                <a:cxn ang="T10">
                  <a:pos x="T4" y="T5"/>
                </a:cxn>
                <a:cxn ang="T11">
                  <a:pos x="T6" y="T7"/>
                </a:cxn>
              </a:cxnLst>
              <a:rect l="T12" t="T13" r="T14" b="T15"/>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lnTo>
                    <a:pt x="1949" y="7180"/>
                  </a:ln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BE7D"/>
            </a:solidFill>
            <a:ln w="9525">
              <a:solidFill>
                <a:srgbClr val="000000"/>
              </a:solidFill>
              <a:miter lim="800000"/>
              <a:headEnd/>
              <a:tailEnd/>
            </a:ln>
            <a:effectLst>
              <a:outerShdw blurRad="50800" dist="38100" dir="2700000" algn="tl" rotWithShape="0">
                <a:prstClr val="black">
                  <a:alpha val="40000"/>
                </a:prstClr>
              </a:outerShdw>
            </a:effectLst>
          </p:spPr>
          <p:txBody>
            <a:bodyPr/>
            <a:lstStyle/>
            <a:p>
              <a:endParaRPr lang="zh-CN" altLang="en-US" sz="1400"/>
            </a:p>
          </p:txBody>
        </p:sp>
        <p:sp>
          <p:nvSpPr>
            <p:cNvPr id="21" name="Rectangle 13"/>
            <p:cNvSpPr>
              <a:spLocks noChangeArrowheads="1"/>
            </p:cNvSpPr>
            <p:nvPr/>
          </p:nvSpPr>
          <p:spPr bwMode="auto">
            <a:xfrm>
              <a:off x="1653778" y="3443863"/>
              <a:ext cx="1459279" cy="39832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1200" b="1" dirty="0">
                  <a:ea typeface="宋体" pitchFamily="2" charset="-122"/>
                </a:rPr>
                <a:t>Subnet=128.14.1.0</a:t>
              </a:r>
            </a:p>
            <a:p>
              <a:r>
                <a:rPr lang="en-US" altLang="zh-CN" sz="1200" b="1" dirty="0">
                  <a:ea typeface="宋体" pitchFamily="2" charset="-122"/>
                </a:rPr>
                <a:t>Mask=255.255.255.0</a:t>
              </a:r>
            </a:p>
          </p:txBody>
        </p:sp>
      </p:grpSp>
      <p:sp>
        <p:nvSpPr>
          <p:cNvPr id="22" name="矩形 21"/>
          <p:cNvSpPr/>
          <p:nvPr/>
        </p:nvSpPr>
        <p:spPr>
          <a:xfrm>
            <a:off x="4308171" y="4195140"/>
            <a:ext cx="646331" cy="369332"/>
          </a:xfrm>
          <a:prstGeom prst="rect">
            <a:avLst/>
          </a:prstGeom>
        </p:spPr>
        <p:txBody>
          <a:bodyPr wrap="none">
            <a:spAutoFit/>
          </a:bodyPr>
          <a:lstStyle/>
          <a:p>
            <a:r>
              <a:rPr lang="zh-CN" altLang="en-US" b="1" dirty="0">
                <a:solidFill>
                  <a:srgbClr val="C00000"/>
                </a:solidFill>
                <a:latin typeface="微软雅黑" pitchFamily="34" charset="-122"/>
                <a:ea typeface="微软雅黑" pitchFamily="34" charset="-122"/>
              </a:rPr>
              <a:t>超网</a:t>
            </a:r>
            <a:endParaRPr lang="zh-CN" altLang="en-US" dirty="0"/>
          </a:p>
        </p:txBody>
      </p:sp>
    </p:spTree>
    <p:extLst>
      <p:ext uri="{BB962C8B-B14F-4D97-AF65-F5344CB8AC3E}">
        <p14:creationId xmlns:p14="http://schemas.microsoft.com/office/powerpoint/2010/main" val="275928935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4" y="624674"/>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p>
        </p:txBody>
      </p:sp>
      <p:sp>
        <p:nvSpPr>
          <p:cNvPr id="4" name="矩形 3"/>
          <p:cNvSpPr/>
          <p:nvPr/>
        </p:nvSpPr>
        <p:spPr>
          <a:xfrm>
            <a:off x="616085" y="565906"/>
            <a:ext cx="3033203" cy="400110"/>
          </a:xfrm>
          <a:prstGeom prst="rect">
            <a:avLst/>
          </a:prstGeom>
        </p:spPr>
        <p:txBody>
          <a:bodyPr wrap="none">
            <a:spAutoFit/>
          </a:bodyPr>
          <a:lstStyle/>
          <a:p>
            <a:r>
              <a:rPr lang="zh-CN" altLang="en-US" sz="2000" b="1" dirty="0">
                <a:latin typeface="微软雅黑" pitchFamily="34" charset="-122"/>
                <a:ea typeface="微软雅黑" pitchFamily="34" charset="-122"/>
              </a:rPr>
              <a:t>三个特殊的 </a:t>
            </a:r>
            <a:r>
              <a:rPr lang="en-US" altLang="zh-CN" sz="2000" b="1" dirty="0">
                <a:latin typeface="微软雅黑" pitchFamily="34" charset="-122"/>
                <a:ea typeface="微软雅黑" pitchFamily="34" charset="-122"/>
              </a:rPr>
              <a:t>CIDR </a:t>
            </a:r>
            <a:r>
              <a:rPr lang="zh-CN" altLang="en-US" sz="2000" b="1" dirty="0">
                <a:latin typeface="微软雅黑" pitchFamily="34" charset="-122"/>
                <a:ea typeface="微软雅黑" pitchFamily="34" charset="-122"/>
              </a:rPr>
              <a:t>地址块</a:t>
            </a:r>
          </a:p>
        </p:txBody>
      </p:sp>
      <p:graphicFrame>
        <p:nvGraphicFramePr>
          <p:cNvPr id="2" name="表格 1"/>
          <p:cNvGraphicFramePr>
            <a:graphicFrameLocks noGrp="1"/>
          </p:cNvGraphicFramePr>
          <p:nvPr>
            <p:extLst>
              <p:ext uri="{D42A27DB-BD31-4B8C-83A1-F6EECF244321}">
                <p14:modId xmlns:p14="http://schemas.microsoft.com/office/powerpoint/2010/main" val="2647743044"/>
              </p:ext>
            </p:extLst>
          </p:nvPr>
        </p:nvGraphicFramePr>
        <p:xfrm>
          <a:off x="545144" y="1024787"/>
          <a:ext cx="8053711" cy="2115228"/>
        </p:xfrm>
        <a:graphic>
          <a:graphicData uri="http://schemas.openxmlformats.org/drawingml/2006/table">
            <a:tbl>
              <a:tblPr firstRow="1" bandRow="1">
                <a:tableStyleId>{0660B408-B3CF-4A94-85FC-2B1E0A45F4A2}</a:tableStyleId>
              </a:tblPr>
              <a:tblGrid>
                <a:gridCol w="1525196">
                  <a:extLst>
                    <a:ext uri="{9D8B030D-6E8A-4147-A177-3AD203B41FA5}">
                      <a16:colId xmlns:a16="http://schemas.microsoft.com/office/drawing/2014/main" val="2353518644"/>
                    </a:ext>
                  </a:extLst>
                </a:gridCol>
                <a:gridCol w="1889185">
                  <a:extLst>
                    <a:ext uri="{9D8B030D-6E8A-4147-A177-3AD203B41FA5}">
                      <a16:colId xmlns:a16="http://schemas.microsoft.com/office/drawing/2014/main" val="2193359301"/>
                    </a:ext>
                  </a:extLst>
                </a:gridCol>
                <a:gridCol w="4639330">
                  <a:extLst>
                    <a:ext uri="{9D8B030D-6E8A-4147-A177-3AD203B41FA5}">
                      <a16:colId xmlns:a16="http://schemas.microsoft.com/office/drawing/2014/main" val="1977336071"/>
                    </a:ext>
                  </a:extLst>
                </a:gridCol>
              </a:tblGrid>
              <a:tr h="426180">
                <a:tc>
                  <a:txBody>
                    <a:bodyPr/>
                    <a:lstStyle/>
                    <a:p>
                      <a:pPr algn="ctr">
                        <a:lnSpc>
                          <a:spcPts val="1400"/>
                        </a:lnSpc>
                        <a:spcAft>
                          <a:spcPts val="0"/>
                        </a:spcAft>
                      </a:pPr>
                      <a:r>
                        <a:rPr lang="zh-CN" sz="1400" b="1" kern="500" dirty="0">
                          <a:effectLst/>
                          <a:latin typeface="微软雅黑" panose="020B0503020204020204" pitchFamily="34" charset="-122"/>
                          <a:ea typeface="微软雅黑" panose="020B0503020204020204" pitchFamily="34" charset="-122"/>
                        </a:rPr>
                        <a:t>网络前缀长度</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2">
                        <a:lumMod val="60000"/>
                        <a:lumOff val="40000"/>
                      </a:schemeClr>
                    </a:solidFill>
                  </a:tcPr>
                </a:tc>
                <a:tc>
                  <a:txBody>
                    <a:bodyPr/>
                    <a:lstStyle/>
                    <a:p>
                      <a:pPr algn="ctr">
                        <a:lnSpc>
                          <a:spcPts val="1400"/>
                        </a:lnSpc>
                        <a:spcAft>
                          <a:spcPts val="0"/>
                        </a:spcAft>
                      </a:pPr>
                      <a:r>
                        <a:rPr lang="zh-CN" sz="1400" b="1" kern="500" dirty="0">
                          <a:effectLst/>
                          <a:latin typeface="微软雅黑" panose="020B0503020204020204" pitchFamily="34" charset="-122"/>
                          <a:ea typeface="微软雅黑" panose="020B0503020204020204" pitchFamily="34" charset="-122"/>
                        </a:rPr>
                        <a:t>点分十进制</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2">
                        <a:lumMod val="60000"/>
                        <a:lumOff val="40000"/>
                      </a:schemeClr>
                    </a:solidFill>
                  </a:tcPr>
                </a:tc>
                <a:tc>
                  <a:txBody>
                    <a:bodyPr/>
                    <a:lstStyle/>
                    <a:p>
                      <a:pPr algn="ctr">
                        <a:lnSpc>
                          <a:spcPts val="1400"/>
                        </a:lnSpc>
                        <a:spcAft>
                          <a:spcPts val="0"/>
                        </a:spcAft>
                      </a:pPr>
                      <a:r>
                        <a:rPr lang="zh-CN" altLang="en-US" sz="1400" b="1" kern="500" dirty="0">
                          <a:effectLst/>
                          <a:latin typeface="微软雅黑" panose="020B0503020204020204" pitchFamily="34" charset="-122"/>
                          <a:ea typeface="微软雅黑" panose="020B0503020204020204" pitchFamily="34" charset="-122"/>
                        </a:rPr>
                        <a:t>说明</a:t>
                      </a:r>
                      <a:endParaRPr lang="zh-CN" sz="1400" b="1" kern="500" dirty="0">
                        <a:solidFill>
                          <a:schemeClr val="lt1"/>
                        </a:solidFill>
                        <a:effectLst/>
                        <a:latin typeface="微软雅黑" panose="020B0503020204020204" pitchFamily="34" charset="-122"/>
                        <a:ea typeface="微软雅黑" panose="020B0503020204020204" pitchFamily="34" charset="-122"/>
                        <a:cs typeface="+mn-cs"/>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2">
                        <a:lumMod val="60000"/>
                        <a:lumOff val="40000"/>
                      </a:schemeClr>
                    </a:solidFill>
                  </a:tcPr>
                </a:tc>
                <a:extLst>
                  <a:ext uri="{0D108BD9-81ED-4DB2-BD59-A6C34878D82A}">
                    <a16:rowId xmlns:a16="http://schemas.microsoft.com/office/drawing/2014/main" val="2764408178"/>
                  </a:ext>
                </a:extLst>
              </a:tr>
              <a:tr h="563016">
                <a:tc>
                  <a:txBody>
                    <a:bodyPr/>
                    <a:lstStyle/>
                    <a:p>
                      <a:pPr algn="ctr">
                        <a:lnSpc>
                          <a:spcPts val="2000"/>
                        </a:lnSpc>
                        <a:spcAft>
                          <a:spcPts val="0"/>
                        </a:spcAft>
                      </a:pPr>
                      <a:r>
                        <a:rPr lang="en-US" sz="1800" b="1" kern="500" dirty="0">
                          <a:effectLst/>
                          <a:latin typeface="微软雅黑" panose="020B0503020204020204" pitchFamily="34" charset="-122"/>
                          <a:ea typeface="微软雅黑" panose="020B0503020204020204" pitchFamily="34" charset="-122"/>
                        </a:rPr>
                        <a:t>/</a:t>
                      </a:r>
                      <a:r>
                        <a:rPr lang="en-US" altLang="zh-CN" sz="1800" b="1" kern="500" dirty="0">
                          <a:effectLst/>
                          <a:latin typeface="微软雅黑" panose="020B0503020204020204" pitchFamily="34" charset="-122"/>
                          <a:ea typeface="微软雅黑" panose="020B0503020204020204" pitchFamily="34" charset="-122"/>
                        </a:rPr>
                        <a:t>32</a:t>
                      </a:r>
                      <a:endParaRPr lang="zh-CN" sz="1800" b="1" kern="500" dirty="0">
                        <a:solidFill>
                          <a:schemeClr val="dk1"/>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2000"/>
                        </a:lnSpc>
                        <a:spcAft>
                          <a:spcPts val="0"/>
                        </a:spcAft>
                      </a:pPr>
                      <a:r>
                        <a:rPr lang="en-US" sz="1400" b="1" kern="500" dirty="0">
                          <a:effectLst/>
                          <a:latin typeface="微软雅黑" panose="020B0503020204020204" pitchFamily="34" charset="-122"/>
                          <a:ea typeface="微软雅黑" panose="020B0503020204020204" pitchFamily="34" charset="-122"/>
                        </a:rPr>
                        <a:t>255.2</a:t>
                      </a:r>
                      <a:r>
                        <a:rPr lang="en-US" altLang="zh-CN" sz="1400" b="1" kern="500" dirty="0">
                          <a:effectLst/>
                          <a:latin typeface="微软雅黑" panose="020B0503020204020204" pitchFamily="34" charset="-122"/>
                          <a:ea typeface="微软雅黑" panose="020B0503020204020204" pitchFamily="34" charset="-122"/>
                        </a:rPr>
                        <a:t>55</a:t>
                      </a:r>
                      <a:r>
                        <a:rPr lang="en-US" sz="1400" b="1" kern="500" dirty="0">
                          <a:effectLst/>
                          <a:latin typeface="微软雅黑" panose="020B0503020204020204" pitchFamily="34" charset="-122"/>
                          <a:ea typeface="微软雅黑" panose="020B0503020204020204" pitchFamily="34" charset="-122"/>
                        </a:rPr>
                        <a:t>.</a:t>
                      </a:r>
                      <a:r>
                        <a:rPr lang="en-US" altLang="zh-CN" sz="1400" b="1" kern="500" dirty="0">
                          <a:effectLst/>
                          <a:latin typeface="微软雅黑" panose="020B0503020204020204" pitchFamily="34" charset="-122"/>
                          <a:ea typeface="微软雅黑" panose="020B0503020204020204" pitchFamily="34" charset="-122"/>
                        </a:rPr>
                        <a:t>255</a:t>
                      </a:r>
                      <a:r>
                        <a:rPr lang="en-US" sz="1400" b="1" kern="500" dirty="0">
                          <a:effectLst/>
                          <a:latin typeface="微软雅黑" panose="020B0503020204020204" pitchFamily="34" charset="-122"/>
                          <a:ea typeface="微软雅黑" panose="020B0503020204020204" pitchFamily="34" charset="-122"/>
                        </a:rPr>
                        <a:t>.</a:t>
                      </a:r>
                      <a:r>
                        <a:rPr lang="en-US" altLang="zh-CN" sz="1400" b="1" kern="500" dirty="0">
                          <a:effectLst/>
                          <a:latin typeface="微软雅黑" panose="020B0503020204020204" pitchFamily="34" charset="-122"/>
                          <a:ea typeface="微软雅黑" panose="020B0503020204020204" pitchFamily="34" charset="-122"/>
                        </a:rPr>
                        <a:t>255</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ts val="2000"/>
                        </a:lnSpc>
                        <a:spcAft>
                          <a:spcPts val="0"/>
                        </a:spcAft>
                      </a:pPr>
                      <a:r>
                        <a:rPr lang="zh-CN" altLang="en-US" sz="1400" b="1" kern="500" dirty="0">
                          <a:effectLst/>
                          <a:latin typeface="微软雅黑" panose="020B0503020204020204" pitchFamily="34" charset="-122"/>
                          <a:ea typeface="微软雅黑" panose="020B0503020204020204" pitchFamily="34" charset="-122"/>
                        </a:rPr>
                        <a:t>就是一个 </a:t>
                      </a:r>
                      <a:r>
                        <a:rPr lang="en-US" altLang="zh-CN" sz="1400" b="1" kern="500" dirty="0">
                          <a:effectLst/>
                          <a:latin typeface="微软雅黑" panose="020B0503020204020204" pitchFamily="34" charset="-122"/>
                          <a:ea typeface="微软雅黑" panose="020B0503020204020204" pitchFamily="34" charset="-122"/>
                        </a:rPr>
                        <a:t>IP </a:t>
                      </a:r>
                      <a:r>
                        <a:rPr lang="zh-CN" altLang="en-US" sz="1400" b="1" kern="500" dirty="0">
                          <a:effectLst/>
                          <a:latin typeface="微软雅黑" panose="020B0503020204020204" pitchFamily="34" charset="-122"/>
                          <a:ea typeface="微软雅黑" panose="020B0503020204020204" pitchFamily="34" charset="-122"/>
                        </a:rPr>
                        <a:t>地址。这个特殊地址用于主机路由</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119340114"/>
                  </a:ext>
                </a:extLst>
              </a:tr>
              <a:tr h="563016">
                <a:tc>
                  <a:txBody>
                    <a:bodyPr/>
                    <a:lstStyle/>
                    <a:p>
                      <a:pPr algn="ctr">
                        <a:lnSpc>
                          <a:spcPts val="2000"/>
                        </a:lnSpc>
                        <a:spcAft>
                          <a:spcPts val="0"/>
                        </a:spcAft>
                      </a:pPr>
                      <a:r>
                        <a:rPr lang="en-US" sz="1800" b="1" kern="500" dirty="0">
                          <a:effectLst/>
                          <a:latin typeface="微软雅黑" panose="020B0503020204020204" pitchFamily="34" charset="-122"/>
                          <a:ea typeface="微软雅黑" panose="020B0503020204020204" pitchFamily="34" charset="-122"/>
                        </a:rPr>
                        <a:t>/</a:t>
                      </a:r>
                      <a:r>
                        <a:rPr lang="en-US" altLang="zh-CN" sz="1800" b="1" kern="500" dirty="0">
                          <a:effectLst/>
                          <a:latin typeface="微软雅黑" panose="020B0503020204020204" pitchFamily="34" charset="-122"/>
                          <a:ea typeface="微软雅黑" panose="020B0503020204020204" pitchFamily="34" charset="-122"/>
                        </a:rPr>
                        <a:t>31</a:t>
                      </a:r>
                      <a:endParaRPr lang="zh-CN" sz="1800" b="1" kern="500" dirty="0">
                        <a:solidFill>
                          <a:schemeClr val="dk1"/>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2000"/>
                        </a:lnSpc>
                        <a:spcAft>
                          <a:spcPts val="0"/>
                        </a:spcAft>
                      </a:pPr>
                      <a:r>
                        <a:rPr lang="en-US" sz="1400" b="1" kern="500" dirty="0">
                          <a:effectLst/>
                          <a:latin typeface="微软雅黑" panose="020B0503020204020204" pitchFamily="34" charset="-122"/>
                          <a:ea typeface="微软雅黑" panose="020B0503020204020204" pitchFamily="34" charset="-122"/>
                        </a:rPr>
                        <a:t>255.25</a:t>
                      </a:r>
                      <a:r>
                        <a:rPr lang="en-US" altLang="zh-CN" sz="1400" b="1" kern="500" dirty="0">
                          <a:effectLst/>
                          <a:latin typeface="微软雅黑" panose="020B0503020204020204" pitchFamily="34" charset="-122"/>
                          <a:ea typeface="微软雅黑" panose="020B0503020204020204" pitchFamily="34" charset="-122"/>
                        </a:rPr>
                        <a:t>5</a:t>
                      </a:r>
                      <a:r>
                        <a:rPr lang="en-US" sz="1400" b="1" kern="500" dirty="0">
                          <a:effectLst/>
                          <a:latin typeface="微软雅黑" panose="020B0503020204020204" pitchFamily="34" charset="-122"/>
                          <a:ea typeface="微软雅黑" panose="020B0503020204020204" pitchFamily="34" charset="-122"/>
                        </a:rPr>
                        <a:t>.</a:t>
                      </a:r>
                      <a:r>
                        <a:rPr lang="en-US" altLang="zh-CN" sz="1400" b="1" kern="500" dirty="0">
                          <a:effectLst/>
                          <a:latin typeface="微软雅黑" panose="020B0503020204020204" pitchFamily="34" charset="-122"/>
                          <a:ea typeface="微软雅黑" panose="020B0503020204020204" pitchFamily="34" charset="-122"/>
                        </a:rPr>
                        <a:t>255</a:t>
                      </a:r>
                      <a:r>
                        <a:rPr lang="en-US" sz="1400" b="1" kern="500" dirty="0">
                          <a:effectLst/>
                          <a:latin typeface="微软雅黑" panose="020B0503020204020204" pitchFamily="34" charset="-122"/>
                          <a:ea typeface="微软雅黑" panose="020B0503020204020204" pitchFamily="34" charset="-122"/>
                        </a:rPr>
                        <a:t>.</a:t>
                      </a:r>
                      <a:r>
                        <a:rPr lang="en-US" altLang="zh-CN" sz="1400" b="1" kern="500" dirty="0">
                          <a:effectLst/>
                          <a:latin typeface="微软雅黑" panose="020B0503020204020204" pitchFamily="34" charset="-122"/>
                          <a:ea typeface="微软雅黑" panose="020B0503020204020204" pitchFamily="34" charset="-122"/>
                        </a:rPr>
                        <a:t>254</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ts val="2000"/>
                        </a:lnSpc>
                        <a:spcAft>
                          <a:spcPts val="0"/>
                        </a:spcAft>
                      </a:pPr>
                      <a:r>
                        <a:rPr lang="zh-CN" altLang="en-US" sz="1400" b="1" kern="500" dirty="0">
                          <a:effectLst/>
                          <a:latin typeface="微软雅黑" panose="020B0503020204020204" pitchFamily="34" charset="-122"/>
                          <a:ea typeface="微软雅黑" panose="020B0503020204020204" pitchFamily="34" charset="-122"/>
                        </a:rPr>
                        <a:t>只有两个 </a:t>
                      </a:r>
                      <a:r>
                        <a:rPr lang="en-US" altLang="zh-CN" sz="1400" b="1" kern="500" dirty="0">
                          <a:effectLst/>
                          <a:latin typeface="微软雅黑" panose="020B0503020204020204" pitchFamily="34" charset="-122"/>
                          <a:ea typeface="微软雅黑" panose="020B0503020204020204" pitchFamily="34" charset="-122"/>
                        </a:rPr>
                        <a:t>IP </a:t>
                      </a:r>
                      <a:r>
                        <a:rPr lang="zh-CN" altLang="en-US" sz="1400" b="1" kern="500" dirty="0">
                          <a:effectLst/>
                          <a:latin typeface="微软雅黑" panose="020B0503020204020204" pitchFamily="34" charset="-122"/>
                          <a:ea typeface="微软雅黑" panose="020B0503020204020204" pitchFamily="34" charset="-122"/>
                        </a:rPr>
                        <a:t>地址，其主机号分别为 </a:t>
                      </a:r>
                      <a:r>
                        <a:rPr lang="en-US" altLang="zh-CN" sz="1400" b="1" kern="500" dirty="0">
                          <a:effectLst/>
                          <a:latin typeface="微软雅黑" panose="020B0503020204020204" pitchFamily="34" charset="-122"/>
                          <a:ea typeface="微软雅黑" panose="020B0503020204020204" pitchFamily="34" charset="-122"/>
                        </a:rPr>
                        <a:t>0 </a:t>
                      </a:r>
                      <a:r>
                        <a:rPr lang="zh-CN" altLang="en-US" sz="1400" b="1" kern="500" dirty="0">
                          <a:effectLst/>
                          <a:latin typeface="微软雅黑" panose="020B0503020204020204" pitchFamily="34" charset="-122"/>
                          <a:ea typeface="微软雅黑" panose="020B0503020204020204" pitchFamily="34" charset="-122"/>
                        </a:rPr>
                        <a:t>和 </a:t>
                      </a:r>
                      <a:r>
                        <a:rPr lang="en-US" altLang="zh-CN" sz="1400" b="1" kern="500" dirty="0">
                          <a:effectLst/>
                          <a:latin typeface="微软雅黑" panose="020B0503020204020204" pitchFamily="34" charset="-122"/>
                          <a:ea typeface="微软雅黑" panose="020B0503020204020204" pitchFamily="34" charset="-122"/>
                        </a:rPr>
                        <a:t>1</a:t>
                      </a:r>
                      <a:r>
                        <a:rPr lang="zh-CN" altLang="en-US" sz="1400" b="1" kern="500" dirty="0">
                          <a:effectLst/>
                          <a:latin typeface="微软雅黑" panose="020B0503020204020204" pitchFamily="34" charset="-122"/>
                          <a:ea typeface="微软雅黑" panose="020B0503020204020204" pitchFamily="34" charset="-122"/>
                        </a:rPr>
                        <a:t>。</a:t>
                      </a:r>
                      <a:endParaRPr lang="en-US" altLang="zh-CN" sz="1400" b="1" kern="500" dirty="0">
                        <a:effectLst/>
                        <a:latin typeface="微软雅黑" panose="020B0503020204020204" pitchFamily="34" charset="-122"/>
                        <a:ea typeface="微软雅黑" panose="020B0503020204020204" pitchFamily="34" charset="-122"/>
                      </a:endParaRPr>
                    </a:p>
                    <a:p>
                      <a:pPr algn="l">
                        <a:lnSpc>
                          <a:spcPts val="2000"/>
                        </a:lnSpc>
                        <a:spcAft>
                          <a:spcPts val="0"/>
                        </a:spcAft>
                      </a:pPr>
                      <a:r>
                        <a:rPr lang="zh-CN" altLang="en-US" sz="1400" b="1" kern="500" dirty="0">
                          <a:effectLst/>
                          <a:latin typeface="微软雅黑" panose="020B0503020204020204" pitchFamily="34" charset="-122"/>
                          <a:ea typeface="微软雅黑" panose="020B0503020204020204" pitchFamily="34" charset="-122"/>
                        </a:rPr>
                        <a:t>这个地址块用于点对点链路</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990401141"/>
                  </a:ext>
                </a:extLst>
              </a:tr>
              <a:tr h="563016">
                <a:tc>
                  <a:txBody>
                    <a:bodyPr/>
                    <a:lstStyle/>
                    <a:p>
                      <a:pPr algn="ctr">
                        <a:lnSpc>
                          <a:spcPts val="2000"/>
                        </a:lnSpc>
                        <a:spcAft>
                          <a:spcPts val="0"/>
                        </a:spcAft>
                      </a:pPr>
                      <a:r>
                        <a:rPr lang="en-US" sz="1800" b="1" kern="500" dirty="0">
                          <a:effectLst/>
                          <a:latin typeface="微软雅黑" panose="020B0503020204020204" pitchFamily="34" charset="-122"/>
                          <a:ea typeface="微软雅黑" panose="020B0503020204020204" pitchFamily="34" charset="-122"/>
                        </a:rPr>
                        <a:t>/</a:t>
                      </a:r>
                      <a:r>
                        <a:rPr lang="en-US" altLang="zh-CN" sz="1800" b="1" kern="500" dirty="0">
                          <a:effectLst/>
                          <a:latin typeface="微软雅黑" panose="020B0503020204020204" pitchFamily="34" charset="-122"/>
                          <a:ea typeface="微软雅黑" panose="020B0503020204020204" pitchFamily="34" charset="-122"/>
                        </a:rPr>
                        <a:t>0</a:t>
                      </a:r>
                      <a:endParaRPr lang="zh-CN" sz="18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2000"/>
                        </a:lnSpc>
                        <a:spcAft>
                          <a:spcPts val="0"/>
                        </a:spcAft>
                      </a:pPr>
                      <a:r>
                        <a:rPr lang="en-US" altLang="zh-CN" sz="1400" b="1" kern="500" dirty="0">
                          <a:effectLst/>
                          <a:latin typeface="微软雅黑" panose="020B0503020204020204" pitchFamily="34" charset="-122"/>
                          <a:ea typeface="微软雅黑" panose="020B0503020204020204" pitchFamily="34" charset="-122"/>
                        </a:rPr>
                        <a:t>0</a:t>
                      </a:r>
                      <a:r>
                        <a:rPr lang="en-US" sz="1400" b="1" kern="500" dirty="0">
                          <a:effectLst/>
                          <a:latin typeface="微软雅黑" panose="020B0503020204020204" pitchFamily="34" charset="-122"/>
                          <a:ea typeface="微软雅黑" panose="020B0503020204020204" pitchFamily="34" charset="-122"/>
                        </a:rPr>
                        <a:t>.</a:t>
                      </a:r>
                      <a:r>
                        <a:rPr lang="en-US" altLang="zh-CN" sz="1400" b="1" kern="500" dirty="0">
                          <a:effectLst/>
                          <a:latin typeface="微软雅黑" panose="020B0503020204020204" pitchFamily="34" charset="-122"/>
                          <a:ea typeface="微软雅黑" panose="020B0503020204020204" pitchFamily="34" charset="-122"/>
                        </a:rPr>
                        <a:t>0</a:t>
                      </a:r>
                      <a:r>
                        <a:rPr lang="en-US" sz="1400" b="1" kern="500" dirty="0">
                          <a:effectLst/>
                          <a:latin typeface="微软雅黑" panose="020B0503020204020204" pitchFamily="34" charset="-122"/>
                          <a:ea typeface="微软雅黑" panose="020B0503020204020204" pitchFamily="34" charset="-122"/>
                        </a:rPr>
                        <a:t>.0.0</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ts val="2000"/>
                        </a:lnSpc>
                        <a:spcAft>
                          <a:spcPts val="0"/>
                        </a:spcAft>
                      </a:pPr>
                      <a:r>
                        <a:rPr lang="zh-CN" altLang="en-US" sz="1400" b="1" kern="500" dirty="0">
                          <a:effectLst/>
                          <a:latin typeface="微软雅黑" panose="020B0503020204020204" pitchFamily="34" charset="-122"/>
                          <a:ea typeface="微软雅黑" panose="020B0503020204020204" pitchFamily="34" charset="-122"/>
                        </a:rPr>
                        <a:t>同时 </a:t>
                      </a:r>
                      <a:r>
                        <a:rPr lang="en-US" altLang="zh-CN" sz="1400" b="1" kern="500" dirty="0">
                          <a:effectLst/>
                          <a:latin typeface="微软雅黑" panose="020B0503020204020204" pitchFamily="34" charset="-122"/>
                          <a:ea typeface="微软雅黑" panose="020B0503020204020204" pitchFamily="34" charset="-122"/>
                        </a:rPr>
                        <a:t>IP </a:t>
                      </a:r>
                      <a:r>
                        <a:rPr lang="zh-CN" altLang="en-US" sz="1400" b="1" kern="500" dirty="0">
                          <a:effectLst/>
                          <a:latin typeface="微软雅黑" panose="020B0503020204020204" pitchFamily="34" charset="-122"/>
                          <a:ea typeface="微软雅黑" panose="020B0503020204020204" pitchFamily="34" charset="-122"/>
                        </a:rPr>
                        <a:t>地址也是全 </a:t>
                      </a:r>
                      <a:r>
                        <a:rPr lang="en-US" altLang="zh-CN" sz="1400" b="1" kern="500" dirty="0">
                          <a:effectLst/>
                          <a:latin typeface="微软雅黑" panose="020B0503020204020204" pitchFamily="34" charset="-122"/>
                          <a:ea typeface="微软雅黑" panose="020B0503020204020204" pitchFamily="34" charset="-122"/>
                        </a:rPr>
                        <a:t>0</a:t>
                      </a:r>
                      <a:r>
                        <a:rPr lang="zh-CN" altLang="en-US" sz="1400" b="1" kern="500" dirty="0">
                          <a:effectLst/>
                          <a:latin typeface="微软雅黑" panose="020B0503020204020204" pitchFamily="34" charset="-122"/>
                          <a:ea typeface="微软雅黑" panose="020B0503020204020204" pitchFamily="34" charset="-122"/>
                        </a:rPr>
                        <a:t>，即 </a:t>
                      </a:r>
                      <a:r>
                        <a:rPr lang="en-US" altLang="zh-CN" sz="1400" b="1" kern="500" dirty="0">
                          <a:effectLst/>
                          <a:latin typeface="微软雅黑" panose="020B0503020204020204" pitchFamily="34" charset="-122"/>
                          <a:ea typeface="微软雅黑" panose="020B0503020204020204" pitchFamily="34" charset="-122"/>
                        </a:rPr>
                        <a:t>0.0.0.0/0</a:t>
                      </a:r>
                      <a:r>
                        <a:rPr lang="zh-CN" altLang="en-US" sz="1400" b="1" kern="500" dirty="0">
                          <a:effectLst/>
                          <a:latin typeface="微软雅黑" panose="020B0503020204020204" pitchFamily="34" charset="-122"/>
                          <a:ea typeface="微软雅黑" panose="020B0503020204020204" pitchFamily="34" charset="-122"/>
                        </a:rPr>
                        <a:t>。用于默认路由。</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35733493"/>
                  </a:ext>
                </a:extLst>
              </a:tr>
            </a:tbl>
          </a:graphicData>
        </a:graphic>
      </p:graphicFrame>
    </p:spTree>
    <p:extLst>
      <p:ext uri="{BB962C8B-B14F-4D97-AF65-F5344CB8AC3E}">
        <p14:creationId xmlns:p14="http://schemas.microsoft.com/office/powerpoint/2010/main" val="249716551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4" y="624674"/>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p>
        </p:txBody>
      </p:sp>
      <p:sp>
        <p:nvSpPr>
          <p:cNvPr id="4" name="矩形 3"/>
          <p:cNvSpPr/>
          <p:nvPr/>
        </p:nvSpPr>
        <p:spPr>
          <a:xfrm>
            <a:off x="616085" y="565906"/>
            <a:ext cx="3837397" cy="400110"/>
          </a:xfrm>
          <a:prstGeom prst="rect">
            <a:avLst/>
          </a:prstGeom>
        </p:spPr>
        <p:txBody>
          <a:bodyPr wrap="none">
            <a:spAutoFit/>
          </a:bodyPr>
          <a:lstStyle/>
          <a:p>
            <a:r>
              <a:rPr lang="zh-CN" altLang="en-US" sz="2000" b="1" dirty="0">
                <a:latin typeface="微软雅黑" pitchFamily="34" charset="-122"/>
                <a:ea typeface="微软雅黑" pitchFamily="34" charset="-122"/>
              </a:rPr>
              <a:t>路由聚合 </a:t>
            </a:r>
            <a:r>
              <a:rPr lang="en-US" altLang="zh-CN" sz="2000" b="1" dirty="0">
                <a:latin typeface="微软雅黑" pitchFamily="34" charset="-122"/>
                <a:ea typeface="微软雅黑" pitchFamily="34" charset="-122"/>
              </a:rPr>
              <a:t>(route aggregation)</a:t>
            </a:r>
            <a:endParaRPr lang="zh-CN" altLang="en-US" sz="2000" b="1" dirty="0">
              <a:latin typeface="微软雅黑" pitchFamily="34" charset="-122"/>
              <a:ea typeface="微软雅黑" pitchFamily="34" charset="-122"/>
            </a:endParaRPr>
          </a:p>
        </p:txBody>
      </p:sp>
      <p:sp>
        <p:nvSpPr>
          <p:cNvPr id="5" name="Rectangle 4"/>
          <p:cNvSpPr>
            <a:spLocks noChangeArrowheads="1"/>
          </p:cNvSpPr>
          <p:nvPr/>
        </p:nvSpPr>
        <p:spPr bwMode="auto">
          <a:xfrm>
            <a:off x="3346931" y="1134164"/>
            <a:ext cx="1438340" cy="3273934"/>
          </a:xfrm>
          <a:prstGeom prst="rect">
            <a:avLst/>
          </a:prstGeom>
          <a:solidFill>
            <a:srgbClr val="FFFF99"/>
          </a:solidFill>
          <a:ln w="19050" algn="ctr">
            <a:solidFill>
              <a:schemeClr val="tx1"/>
            </a:solidFill>
            <a:miter lim="800000"/>
            <a:headEnd/>
            <a:tailEnd/>
          </a:ln>
          <a:effectLst/>
        </p:spPr>
        <p:txBody>
          <a:bodyPr wrap="none"/>
          <a:lstStyle/>
          <a:p>
            <a:r>
              <a:rPr lang="en-US" altLang="zh-CN" sz="1300" b="1" dirty="0">
                <a:latin typeface="Tahoma" pitchFamily="34" charset="0"/>
                <a:ea typeface="宋体" pitchFamily="2" charset="-122"/>
              </a:rPr>
              <a:t>192.24.0</a:t>
            </a:r>
          </a:p>
          <a:p>
            <a:r>
              <a:rPr lang="en-US" altLang="zh-CN" sz="1300" b="1" dirty="0">
                <a:latin typeface="Tahoma" pitchFamily="34" charset="0"/>
                <a:ea typeface="宋体" pitchFamily="2" charset="-122"/>
              </a:rPr>
              <a:t>192.24.1</a:t>
            </a:r>
          </a:p>
          <a:p>
            <a:r>
              <a:rPr lang="en-US" altLang="zh-CN" sz="1300" b="1" dirty="0">
                <a:latin typeface="Tahoma" pitchFamily="34" charset="0"/>
                <a:ea typeface="宋体" pitchFamily="2" charset="-122"/>
              </a:rPr>
              <a:t>192.24.2</a:t>
            </a:r>
          </a:p>
          <a:p>
            <a:r>
              <a:rPr lang="en-US" altLang="zh-CN" sz="1300" b="1" dirty="0">
                <a:latin typeface="Tahoma" pitchFamily="34" charset="0"/>
                <a:ea typeface="宋体" pitchFamily="2" charset="-122"/>
              </a:rPr>
              <a:t>192.24.3</a:t>
            </a:r>
          </a:p>
          <a:p>
            <a:r>
              <a:rPr lang="en-US" altLang="zh-CN" sz="1300" b="1" dirty="0">
                <a:latin typeface="Tahoma" pitchFamily="34" charset="0"/>
                <a:ea typeface="宋体" pitchFamily="2" charset="-122"/>
              </a:rPr>
              <a:t>192.24.4</a:t>
            </a:r>
          </a:p>
          <a:p>
            <a:r>
              <a:rPr lang="en-US" altLang="zh-CN" sz="1300" b="1" dirty="0">
                <a:latin typeface="Tahoma" pitchFamily="34" charset="0"/>
                <a:ea typeface="宋体" pitchFamily="2" charset="-122"/>
              </a:rPr>
              <a:t>192.24.5</a:t>
            </a:r>
          </a:p>
          <a:p>
            <a:r>
              <a:rPr lang="en-US" altLang="zh-CN" sz="1300" b="1" dirty="0">
                <a:latin typeface="Tahoma" pitchFamily="34" charset="0"/>
                <a:ea typeface="宋体" pitchFamily="2" charset="-122"/>
              </a:rPr>
              <a:t>192.24.6</a:t>
            </a:r>
          </a:p>
          <a:p>
            <a:r>
              <a:rPr lang="en-US" altLang="zh-CN" sz="1300" b="1" dirty="0">
                <a:latin typeface="Tahoma" pitchFamily="34" charset="0"/>
                <a:ea typeface="宋体" pitchFamily="2" charset="-122"/>
              </a:rPr>
              <a:t>192.24.7</a:t>
            </a:r>
          </a:p>
          <a:p>
            <a:r>
              <a:rPr lang="en-US" altLang="zh-CN" sz="1300" b="1" dirty="0">
                <a:latin typeface="Tahoma" pitchFamily="34" charset="0"/>
                <a:ea typeface="宋体" pitchFamily="2" charset="-122"/>
              </a:rPr>
              <a:t>192.24.8</a:t>
            </a:r>
          </a:p>
          <a:p>
            <a:r>
              <a:rPr lang="en-US" altLang="zh-CN" sz="1300" b="1" dirty="0">
                <a:latin typeface="Tahoma" pitchFamily="34" charset="0"/>
                <a:ea typeface="宋体" pitchFamily="2" charset="-122"/>
              </a:rPr>
              <a:t>192.24.9</a:t>
            </a:r>
          </a:p>
          <a:p>
            <a:r>
              <a:rPr lang="en-US" altLang="zh-CN" sz="1300" b="1" dirty="0">
                <a:latin typeface="Tahoma" pitchFamily="34" charset="0"/>
                <a:ea typeface="宋体" pitchFamily="2" charset="-122"/>
              </a:rPr>
              <a:t>192.24.10</a:t>
            </a:r>
          </a:p>
          <a:p>
            <a:r>
              <a:rPr lang="en-US" altLang="zh-CN" sz="1300" b="1" dirty="0">
                <a:latin typeface="Tahoma" pitchFamily="34" charset="0"/>
                <a:ea typeface="宋体" pitchFamily="2" charset="-122"/>
              </a:rPr>
              <a:t>192.24.11</a:t>
            </a:r>
          </a:p>
          <a:p>
            <a:r>
              <a:rPr lang="en-US" altLang="zh-CN" sz="1300" b="1" dirty="0">
                <a:latin typeface="Tahoma" pitchFamily="34" charset="0"/>
                <a:ea typeface="宋体" pitchFamily="2" charset="-122"/>
              </a:rPr>
              <a:t>192.24.12</a:t>
            </a:r>
          </a:p>
          <a:p>
            <a:r>
              <a:rPr lang="en-US" altLang="zh-CN" sz="1300" b="1" dirty="0">
                <a:latin typeface="Tahoma" pitchFamily="34" charset="0"/>
                <a:ea typeface="宋体" pitchFamily="2" charset="-122"/>
              </a:rPr>
              <a:t>192.24.13</a:t>
            </a:r>
          </a:p>
          <a:p>
            <a:r>
              <a:rPr lang="en-US" altLang="zh-CN" sz="1300" b="1" dirty="0">
                <a:latin typeface="Tahoma" pitchFamily="34" charset="0"/>
                <a:ea typeface="宋体" pitchFamily="2" charset="-122"/>
              </a:rPr>
              <a:t>192.24.14</a:t>
            </a:r>
          </a:p>
          <a:p>
            <a:r>
              <a:rPr lang="en-US" altLang="zh-CN" sz="1300" b="1" dirty="0">
                <a:latin typeface="Tahoma" pitchFamily="34" charset="0"/>
                <a:ea typeface="宋体" pitchFamily="2" charset="-122"/>
              </a:rPr>
              <a:t>192.24.15</a:t>
            </a:r>
          </a:p>
        </p:txBody>
      </p:sp>
      <p:sp>
        <p:nvSpPr>
          <p:cNvPr id="6" name="Rectangle 6"/>
          <p:cNvSpPr>
            <a:spLocks noChangeArrowheads="1"/>
          </p:cNvSpPr>
          <p:nvPr/>
        </p:nvSpPr>
        <p:spPr bwMode="auto">
          <a:xfrm>
            <a:off x="5491643" y="1561043"/>
            <a:ext cx="2901859" cy="456229"/>
          </a:xfrm>
          <a:prstGeom prst="rect">
            <a:avLst/>
          </a:prstGeom>
          <a:solidFill>
            <a:srgbClr val="FFC000"/>
          </a:solidFill>
          <a:ln w="19050" algn="ctr">
            <a:solidFill>
              <a:schemeClr val="tx1"/>
            </a:solidFill>
            <a:miter lim="800000"/>
            <a:headEnd/>
            <a:tailEnd/>
          </a:ln>
          <a:effectLst/>
        </p:spPr>
        <p:txBody>
          <a:bodyPr wrap="none" anchor="ctr"/>
          <a:lstStyle/>
          <a:p>
            <a:pPr algn="ctr"/>
            <a:r>
              <a:rPr lang="en-US" altLang="zh-CN" sz="2000" b="1" dirty="0">
                <a:latin typeface="微软雅黑" panose="020B0503020204020204" pitchFamily="34" charset="-122"/>
                <a:ea typeface="微软雅黑" panose="020B0503020204020204" pitchFamily="34" charset="-122"/>
              </a:rPr>
              <a:t>192.24.0.0 / 20</a:t>
            </a:r>
          </a:p>
        </p:txBody>
      </p:sp>
      <p:grpSp>
        <p:nvGrpSpPr>
          <p:cNvPr id="16" name="组合 15"/>
          <p:cNvGrpSpPr/>
          <p:nvPr/>
        </p:nvGrpSpPr>
        <p:grpSpPr>
          <a:xfrm>
            <a:off x="4794484" y="1134420"/>
            <a:ext cx="687946" cy="3224243"/>
            <a:chOff x="4794484" y="1134420"/>
            <a:chExt cx="687946" cy="3224243"/>
          </a:xfrm>
        </p:grpSpPr>
        <p:sp>
          <p:nvSpPr>
            <p:cNvPr id="8" name="Line 8"/>
            <p:cNvSpPr>
              <a:spLocks noChangeShapeType="1"/>
            </p:cNvSpPr>
            <p:nvPr/>
          </p:nvSpPr>
          <p:spPr bwMode="auto">
            <a:xfrm>
              <a:off x="4794484" y="1134420"/>
              <a:ext cx="687946" cy="433262"/>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a:p>
          </p:txBody>
        </p:sp>
        <p:sp>
          <p:nvSpPr>
            <p:cNvPr id="9" name="Line 9"/>
            <p:cNvSpPr>
              <a:spLocks noChangeShapeType="1"/>
            </p:cNvSpPr>
            <p:nvPr/>
          </p:nvSpPr>
          <p:spPr bwMode="auto">
            <a:xfrm flipV="1">
              <a:off x="4794484" y="2017271"/>
              <a:ext cx="687946" cy="2341392"/>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a:p>
          </p:txBody>
        </p:sp>
      </p:grpSp>
      <p:grpSp>
        <p:nvGrpSpPr>
          <p:cNvPr id="18" name="组合 17"/>
          <p:cNvGrpSpPr/>
          <p:nvPr/>
        </p:nvGrpSpPr>
        <p:grpSpPr>
          <a:xfrm>
            <a:off x="264272" y="1376377"/>
            <a:ext cx="2940166" cy="1386128"/>
            <a:chOff x="264272" y="1376377"/>
            <a:chExt cx="2940166" cy="1386128"/>
          </a:xfrm>
        </p:grpSpPr>
        <p:sp>
          <p:nvSpPr>
            <p:cNvPr id="12" name="Text Box 7"/>
            <p:cNvSpPr txBox="1">
              <a:spLocks noChangeArrowheads="1"/>
            </p:cNvSpPr>
            <p:nvPr/>
          </p:nvSpPr>
          <p:spPr bwMode="auto">
            <a:xfrm>
              <a:off x="264272" y="1746842"/>
              <a:ext cx="2940166" cy="1015663"/>
            </a:xfrm>
            <a:prstGeom prst="rect">
              <a:avLst/>
            </a:prstGeom>
            <a:noFill/>
            <a:ln w="19050">
              <a:solidFill>
                <a:srgbClr val="00B0F0"/>
              </a:solidFill>
            </a:ln>
            <a:effectLst/>
          </p:spPr>
          <p:txBody>
            <a:bodyPr wrap="square">
              <a:sp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nSpc>
                  <a:spcPts val="2400"/>
                </a:lnSpc>
              </a:pPr>
              <a:r>
                <a:rPr lang="en-US" altLang="zh-CN" sz="1600" b="1" dirty="0">
                  <a:latin typeface="微软雅黑" panose="020B0503020204020204" pitchFamily="34" charset="-122"/>
                  <a:ea typeface="微软雅黑" panose="020B0503020204020204" pitchFamily="34" charset="-122"/>
                </a:rPr>
                <a:t>16 </a:t>
              </a:r>
              <a:r>
                <a:rPr lang="zh-CN" altLang="en-US" sz="1600" b="1" dirty="0">
                  <a:latin typeface="微软雅黑" panose="020B0503020204020204" pitchFamily="34" charset="-122"/>
                  <a:ea typeface="微软雅黑" panose="020B0503020204020204" pitchFamily="34" charset="-122"/>
                </a:rPr>
                <a:t>个 </a:t>
              </a:r>
              <a:r>
                <a:rPr lang="en-US" altLang="zh-CN" sz="1600" b="1" dirty="0">
                  <a:latin typeface="微软雅黑" panose="020B0503020204020204" pitchFamily="34" charset="-122"/>
                  <a:ea typeface="微软雅黑" panose="020B0503020204020204" pitchFamily="34" charset="-122"/>
                </a:rPr>
                <a:t>C </a:t>
              </a:r>
              <a:r>
                <a:rPr lang="zh-CN" altLang="en-US" sz="1600" b="1" dirty="0">
                  <a:latin typeface="微软雅黑" panose="020B0503020204020204" pitchFamily="34" charset="-122"/>
                  <a:ea typeface="微软雅黑" panose="020B0503020204020204" pitchFamily="34" charset="-122"/>
                </a:rPr>
                <a:t>类地址，</a:t>
              </a:r>
              <a:endParaRPr lang="en-US" altLang="zh-CN" sz="1600" b="1" dirty="0">
                <a:latin typeface="微软雅黑" panose="020B0503020204020204" pitchFamily="34" charset="-122"/>
                <a:ea typeface="微软雅黑" panose="020B0503020204020204" pitchFamily="34" charset="-122"/>
              </a:endParaRPr>
            </a:p>
            <a:p>
              <a:pPr>
                <a:lnSpc>
                  <a:spcPts val="2400"/>
                </a:lnSpc>
              </a:pPr>
              <a:r>
                <a:rPr lang="zh-CN" altLang="en-US" sz="1600" b="1" dirty="0">
                  <a:latin typeface="微软雅黑" panose="020B0503020204020204" pitchFamily="34" charset="-122"/>
                  <a:ea typeface="微软雅黑" panose="020B0503020204020204" pitchFamily="34" charset="-122"/>
                </a:rPr>
                <a:t>地址掩码</a:t>
              </a:r>
              <a:r>
                <a:rPr lang="en-US" altLang="zh-CN" sz="1600" b="1" dirty="0">
                  <a:latin typeface="微软雅黑" panose="020B0503020204020204" pitchFamily="34" charset="-122"/>
                  <a:ea typeface="微软雅黑" panose="020B0503020204020204" pitchFamily="34" charset="-122"/>
                </a:rPr>
                <a:t>=255.255.255.0</a:t>
              </a:r>
              <a:r>
                <a:rPr lang="zh-CN" altLang="en-US" sz="1600" b="1" dirty="0">
                  <a:latin typeface="微软雅黑" panose="020B0503020204020204" pitchFamily="34" charset="-122"/>
                  <a:ea typeface="微软雅黑" panose="020B0503020204020204" pitchFamily="34" charset="-122"/>
                </a:rPr>
                <a:t>，</a:t>
              </a:r>
              <a:endParaRPr lang="en-US" altLang="zh-CN" sz="1600" b="1" dirty="0">
                <a:latin typeface="微软雅黑" panose="020B0503020204020204" pitchFamily="34" charset="-122"/>
                <a:ea typeface="微软雅黑" panose="020B0503020204020204" pitchFamily="34" charset="-122"/>
              </a:endParaRPr>
            </a:p>
            <a:p>
              <a:pPr>
                <a:lnSpc>
                  <a:spcPts val="2400"/>
                </a:lnSpc>
              </a:pPr>
              <a:r>
                <a:rPr lang="zh-CN" altLang="en-US" sz="1600" b="1" dirty="0">
                  <a:latin typeface="微软雅黑" panose="020B0503020204020204" pitchFamily="34" charset="-122"/>
                  <a:ea typeface="微软雅黑" panose="020B0503020204020204" pitchFamily="34" charset="-122"/>
                </a:rPr>
                <a:t>路由表中需要 </a:t>
              </a:r>
              <a:r>
                <a:rPr lang="en-US" altLang="zh-CN" sz="1600" b="1" dirty="0">
                  <a:latin typeface="微软雅黑" panose="020B0503020204020204" pitchFamily="34" charset="-122"/>
                  <a:ea typeface="微软雅黑" panose="020B0503020204020204" pitchFamily="34" charset="-122"/>
                </a:rPr>
                <a:t>16 </a:t>
              </a:r>
              <a:r>
                <a:rPr lang="zh-CN" altLang="en-US" sz="1600" b="1" dirty="0">
                  <a:latin typeface="微软雅黑" panose="020B0503020204020204" pitchFamily="34" charset="-122"/>
                  <a:ea typeface="微软雅黑" panose="020B0503020204020204" pitchFamily="34" charset="-122"/>
                </a:rPr>
                <a:t>个路由项目。</a:t>
              </a:r>
              <a:endParaRPr lang="en-US" altLang="zh-CN" sz="1600" b="1" dirty="0">
                <a:latin typeface="微软雅黑" panose="020B0503020204020204" pitchFamily="34" charset="-122"/>
                <a:ea typeface="微软雅黑" panose="020B0503020204020204" pitchFamily="34" charset="-122"/>
              </a:endParaRPr>
            </a:p>
          </p:txBody>
        </p:sp>
        <p:sp>
          <p:nvSpPr>
            <p:cNvPr id="13" name="矩形 12"/>
            <p:cNvSpPr/>
            <p:nvPr/>
          </p:nvSpPr>
          <p:spPr>
            <a:xfrm>
              <a:off x="1067808" y="1376377"/>
              <a:ext cx="946093" cy="369332"/>
            </a:xfrm>
            <a:prstGeom prst="rect">
              <a:avLst/>
            </a:prstGeom>
            <a:solidFill>
              <a:srgbClr val="00B0F0"/>
            </a:solidFill>
          </p:spPr>
          <p:txBody>
            <a:bodyPr wrap="none">
              <a:spAutoFit/>
            </a:bodyPr>
            <a:lstStyle/>
            <a:p>
              <a:r>
                <a:rPr lang="zh-CN" altLang="en-US" b="1" dirty="0">
                  <a:latin typeface="微软雅黑" pitchFamily="34" charset="-122"/>
                  <a:ea typeface="微软雅黑" pitchFamily="34" charset="-122"/>
                </a:rPr>
                <a:t>聚合前 </a:t>
              </a:r>
              <a:endParaRPr lang="zh-CN" altLang="en-US" dirty="0"/>
            </a:p>
          </p:txBody>
        </p:sp>
      </p:grpSp>
      <p:grpSp>
        <p:nvGrpSpPr>
          <p:cNvPr id="17" name="组合 16"/>
          <p:cNvGrpSpPr/>
          <p:nvPr/>
        </p:nvGrpSpPr>
        <p:grpSpPr>
          <a:xfrm>
            <a:off x="5509047" y="2302919"/>
            <a:ext cx="2884455" cy="1376841"/>
            <a:chOff x="5509047" y="2302919"/>
            <a:chExt cx="2884455" cy="1376841"/>
          </a:xfrm>
        </p:grpSpPr>
        <p:sp>
          <p:nvSpPr>
            <p:cNvPr id="14" name="矩形 13"/>
            <p:cNvSpPr/>
            <p:nvPr/>
          </p:nvSpPr>
          <p:spPr>
            <a:xfrm>
              <a:off x="6355992" y="2302919"/>
              <a:ext cx="1072509" cy="369332"/>
            </a:xfrm>
            <a:prstGeom prst="rect">
              <a:avLst/>
            </a:prstGeom>
            <a:solidFill>
              <a:srgbClr val="00B050"/>
            </a:solidFill>
          </p:spPr>
          <p:txBody>
            <a:bodyPr wrap="square">
              <a:spAutoFit/>
            </a:bodyPr>
            <a:lstStyle/>
            <a:p>
              <a:pPr algn="ctr"/>
              <a:r>
                <a:rPr lang="zh-CN" altLang="en-US" b="1" dirty="0">
                  <a:latin typeface="微软雅黑" panose="020B0503020204020204" pitchFamily="34" charset="-122"/>
                  <a:ea typeface="微软雅黑" panose="020B0503020204020204" pitchFamily="34" charset="-122"/>
                </a:rPr>
                <a:t>聚合后 </a:t>
              </a:r>
              <a:endParaRPr lang="zh-CN" altLang="en-US" dirty="0">
                <a:latin typeface="微软雅黑" panose="020B0503020204020204" pitchFamily="34" charset="-122"/>
                <a:ea typeface="微软雅黑" panose="020B0503020204020204" pitchFamily="34" charset="-122"/>
              </a:endParaRPr>
            </a:p>
          </p:txBody>
        </p:sp>
        <p:sp>
          <p:nvSpPr>
            <p:cNvPr id="15" name="Text Box 7"/>
            <p:cNvSpPr txBox="1">
              <a:spLocks noChangeArrowheads="1"/>
            </p:cNvSpPr>
            <p:nvPr/>
          </p:nvSpPr>
          <p:spPr bwMode="auto">
            <a:xfrm>
              <a:off x="5509047" y="2664097"/>
              <a:ext cx="2884455" cy="1015663"/>
            </a:xfrm>
            <a:prstGeom prst="rect">
              <a:avLst/>
            </a:prstGeom>
            <a:noFill/>
            <a:ln w="19050">
              <a:solidFill>
                <a:srgbClr val="00B050"/>
              </a:solidFill>
            </a:ln>
            <a:effectLst/>
          </p:spPr>
          <p:txBody>
            <a:bodyPr wrap="square">
              <a:sp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nSpc>
                  <a:spcPts val="2400"/>
                </a:lnSpc>
              </a:pPr>
              <a:r>
                <a:rPr lang="zh-CN" altLang="en-US" sz="1600" b="1" dirty="0">
                  <a:latin typeface="微软雅黑" panose="020B0503020204020204" pitchFamily="34" charset="-122"/>
                  <a:ea typeface="微软雅黑" panose="020B0503020204020204" pitchFamily="34" charset="-122"/>
                </a:rPr>
                <a:t>聚合为 </a:t>
              </a:r>
              <a:r>
                <a:rPr lang="en-US" altLang="zh-CN" sz="1600" b="1" dirty="0">
                  <a:latin typeface="微软雅黑" panose="020B0503020204020204" pitchFamily="34" charset="-122"/>
                  <a:ea typeface="微软雅黑" panose="020B0503020204020204" pitchFamily="34" charset="-122"/>
                </a:rPr>
                <a:t>1 </a:t>
              </a:r>
              <a:r>
                <a:rPr lang="zh-CN" altLang="en-US" sz="1600" b="1" dirty="0">
                  <a:latin typeface="微软雅黑" panose="020B0503020204020204" pitchFamily="34" charset="-122"/>
                  <a:ea typeface="微软雅黑" panose="020B0503020204020204" pitchFamily="34" charset="-122"/>
                </a:rPr>
                <a:t>个 地址，</a:t>
              </a:r>
              <a:endParaRPr lang="en-US" altLang="zh-CN" sz="1600" b="1" dirty="0">
                <a:latin typeface="微软雅黑" panose="020B0503020204020204" pitchFamily="34" charset="-122"/>
                <a:ea typeface="微软雅黑" panose="020B0503020204020204" pitchFamily="34" charset="-122"/>
              </a:endParaRPr>
            </a:p>
            <a:p>
              <a:pPr>
                <a:lnSpc>
                  <a:spcPts val="2400"/>
                </a:lnSpc>
              </a:pPr>
              <a:r>
                <a:rPr lang="zh-CN" altLang="en-US" sz="1600" b="1" dirty="0">
                  <a:latin typeface="微软雅黑" panose="020B0503020204020204" pitchFamily="34" charset="-122"/>
                  <a:ea typeface="微软雅黑" panose="020B0503020204020204" pitchFamily="34" charset="-122"/>
                </a:rPr>
                <a:t>地址掩码</a:t>
              </a:r>
              <a:r>
                <a:rPr lang="en-US" altLang="zh-CN" sz="1600" b="1" dirty="0">
                  <a:latin typeface="微软雅黑" panose="020B0503020204020204" pitchFamily="34" charset="-122"/>
                  <a:ea typeface="微软雅黑" panose="020B0503020204020204" pitchFamily="34" charset="-122"/>
                </a:rPr>
                <a:t>=255.255.240.0</a:t>
              </a:r>
              <a:r>
                <a:rPr lang="zh-CN" altLang="en-US" sz="1600" b="1" dirty="0">
                  <a:latin typeface="微软雅黑" panose="020B0503020204020204" pitchFamily="34" charset="-122"/>
                  <a:ea typeface="微软雅黑" panose="020B0503020204020204" pitchFamily="34" charset="-122"/>
                </a:rPr>
                <a:t>，</a:t>
              </a:r>
              <a:endParaRPr lang="en-US" altLang="zh-CN" sz="1600" b="1" dirty="0">
                <a:latin typeface="微软雅黑" panose="020B0503020204020204" pitchFamily="34" charset="-122"/>
                <a:ea typeface="微软雅黑" panose="020B0503020204020204" pitchFamily="34" charset="-122"/>
              </a:endParaRPr>
            </a:p>
            <a:p>
              <a:pPr>
                <a:lnSpc>
                  <a:spcPts val="2400"/>
                </a:lnSpc>
              </a:pPr>
              <a:r>
                <a:rPr lang="zh-CN" altLang="en-US" sz="1600" b="1" dirty="0">
                  <a:latin typeface="微软雅黑" panose="020B0503020204020204" pitchFamily="34" charset="-122"/>
                  <a:ea typeface="微软雅黑" panose="020B0503020204020204" pitchFamily="34" charset="-122"/>
                </a:rPr>
                <a:t>路由表中只需 </a:t>
              </a:r>
              <a:r>
                <a:rPr lang="en-US" altLang="zh-CN" sz="1600" b="1" dirty="0">
                  <a:latin typeface="微软雅黑" panose="020B0503020204020204" pitchFamily="34" charset="-122"/>
                  <a:ea typeface="微软雅黑" panose="020B0503020204020204" pitchFamily="34" charset="-122"/>
                </a:rPr>
                <a:t>1 </a:t>
              </a:r>
              <a:r>
                <a:rPr lang="zh-CN" altLang="en-US" sz="1600" b="1" dirty="0">
                  <a:latin typeface="微软雅黑" panose="020B0503020204020204" pitchFamily="34" charset="-122"/>
                  <a:ea typeface="微软雅黑" panose="020B0503020204020204" pitchFamily="34" charset="-122"/>
                </a:rPr>
                <a:t>个路由项目。</a:t>
              </a:r>
              <a:endParaRPr lang="en-US" altLang="zh-CN" sz="1600" b="1" dirty="0">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295856924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left)">
                                      <p:cBhvr>
                                        <p:cTn id="7" dur="1000"/>
                                        <p:tgtEl>
                                          <p:spTgt spid="16"/>
                                        </p:tgtEl>
                                      </p:cBhvr>
                                    </p:animEffect>
                                  </p:childTnLst>
                                </p:cTn>
                              </p:par>
                            </p:childTnLst>
                          </p:cTn>
                        </p:par>
                        <p:par>
                          <p:cTn id="8" fill="hold">
                            <p:stCondLst>
                              <p:cond delay="1000"/>
                            </p:stCondLst>
                            <p:childTnLst>
                              <p:par>
                                <p:cTn id="9" presetID="22" presetClass="entr" presetSubtype="8" fill="hold" grpId="0"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left)">
                                      <p:cBhvr>
                                        <p:cTn id="11" dur="1000"/>
                                        <p:tgtEl>
                                          <p:spTgt spid="6"/>
                                        </p:tgtEl>
                                      </p:cBhvr>
                                    </p:animEffect>
                                  </p:childTnLst>
                                </p:cTn>
                              </p:par>
                            </p:childTnLst>
                          </p:cTn>
                        </p:par>
                        <p:par>
                          <p:cTn id="12" fill="hold">
                            <p:stCondLst>
                              <p:cond delay="2000"/>
                            </p:stCondLst>
                            <p:childTnLst>
                              <p:par>
                                <p:cTn id="13" presetID="10" presetClass="entr" presetSubtype="0" fill="hold" nodeType="after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fade">
                                      <p:cBhvr>
                                        <p:cTn id="15"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圆角矩形 3"/>
          <p:cNvSpPr/>
          <p:nvPr/>
        </p:nvSpPr>
        <p:spPr>
          <a:xfrm>
            <a:off x="545144" y="1011282"/>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8" name="Oval 44"/>
          <p:cNvSpPr>
            <a:spLocks noChangeArrowheads="1"/>
          </p:cNvSpPr>
          <p:nvPr/>
        </p:nvSpPr>
        <p:spPr bwMode="auto">
          <a:xfrm>
            <a:off x="1547664" y="2018775"/>
            <a:ext cx="1452277" cy="788987"/>
          </a:xfrm>
          <a:prstGeom prst="ellipse">
            <a:avLst/>
          </a:prstGeom>
          <a:solidFill>
            <a:srgbClr val="99FFCC"/>
          </a:solidFill>
          <a:ln w="9525">
            <a:solidFill>
              <a:srgbClr val="000000"/>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2" name="AutoShape 5"/>
          <p:cNvSpPr>
            <a:spLocks noChangeArrowheads="1"/>
          </p:cNvSpPr>
          <p:nvPr/>
        </p:nvSpPr>
        <p:spPr bwMode="auto">
          <a:xfrm>
            <a:off x="545144" y="620249"/>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79065"/>
            <a:ext cx="2699778" cy="400110"/>
          </a:xfrm>
          <a:prstGeom prst="rect">
            <a:avLst/>
          </a:prstGeom>
        </p:spPr>
        <p:txBody>
          <a:bodyPr wrap="none">
            <a:spAutoFit/>
          </a:bodyPr>
          <a:lstStyle/>
          <a:p>
            <a:r>
              <a:rPr lang="en-US" altLang="zh-CN" sz="2000" b="1" dirty="0">
                <a:latin typeface="微软雅黑" pitchFamily="34" charset="-122"/>
                <a:ea typeface="微软雅黑" pitchFamily="34" charset="-122"/>
              </a:rPr>
              <a:t>CIDR </a:t>
            </a:r>
            <a:r>
              <a:rPr lang="zh-CN" altLang="en-US" sz="2000" b="1" dirty="0">
                <a:latin typeface="微软雅黑" pitchFamily="34" charset="-122"/>
                <a:ea typeface="微软雅黑" pitchFamily="34" charset="-122"/>
              </a:rPr>
              <a:t>地址块划分举例</a:t>
            </a:r>
          </a:p>
        </p:txBody>
      </p:sp>
      <p:grpSp>
        <p:nvGrpSpPr>
          <p:cNvPr id="6" name="组合 5"/>
          <p:cNvGrpSpPr/>
          <p:nvPr/>
        </p:nvGrpSpPr>
        <p:grpSpPr>
          <a:xfrm>
            <a:off x="1860397" y="1189623"/>
            <a:ext cx="920485" cy="415023"/>
            <a:chOff x="228434" y="1033063"/>
            <a:chExt cx="1637241" cy="738189"/>
          </a:xfrm>
          <a:solidFill>
            <a:srgbClr val="002060"/>
          </a:solidFill>
        </p:grpSpPr>
        <p:grpSp>
          <p:nvGrpSpPr>
            <p:cNvPr id="7" name="Group 5"/>
            <p:cNvGrpSpPr>
              <a:grpSpLocks/>
            </p:cNvGrpSpPr>
            <p:nvPr/>
          </p:nvGrpSpPr>
          <p:grpSpPr bwMode="auto">
            <a:xfrm>
              <a:off x="237985" y="1047511"/>
              <a:ext cx="1627690" cy="723741"/>
              <a:chOff x="3134" y="1375"/>
              <a:chExt cx="2386" cy="1553"/>
            </a:xfrm>
            <a:grpFill/>
          </p:grpSpPr>
          <p:sp>
            <p:nvSpPr>
              <p:cNvPr id="18" name="Oval 6"/>
              <p:cNvSpPr>
                <a:spLocks noChangeArrowheads="1"/>
              </p:cNvSpPr>
              <p:nvPr/>
            </p:nvSpPr>
            <p:spPr bwMode="auto">
              <a:xfrm>
                <a:off x="3959" y="1375"/>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9" name="Oval 7"/>
              <p:cNvSpPr>
                <a:spLocks noChangeArrowheads="1"/>
              </p:cNvSpPr>
              <p:nvPr/>
            </p:nvSpPr>
            <p:spPr bwMode="auto">
              <a:xfrm>
                <a:off x="3380" y="1548"/>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0" name="Oval 8"/>
              <p:cNvSpPr>
                <a:spLocks noChangeArrowheads="1"/>
              </p:cNvSpPr>
              <p:nvPr/>
            </p:nvSpPr>
            <p:spPr bwMode="auto">
              <a:xfrm>
                <a:off x="3134" y="1940"/>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1" name="Oval 9"/>
              <p:cNvSpPr>
                <a:spLocks noChangeArrowheads="1"/>
              </p:cNvSpPr>
              <p:nvPr/>
            </p:nvSpPr>
            <p:spPr bwMode="auto">
              <a:xfrm>
                <a:off x="3293" y="2175"/>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2" name="Oval 10"/>
              <p:cNvSpPr>
                <a:spLocks noChangeArrowheads="1"/>
              </p:cNvSpPr>
              <p:nvPr/>
            </p:nvSpPr>
            <p:spPr bwMode="auto">
              <a:xfrm>
                <a:off x="3872" y="2269"/>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3" name="Oval 11"/>
              <p:cNvSpPr>
                <a:spLocks noChangeArrowheads="1"/>
              </p:cNvSpPr>
              <p:nvPr/>
            </p:nvSpPr>
            <p:spPr bwMode="auto">
              <a:xfrm>
                <a:off x="4653" y="1564"/>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4" name="Oval 12"/>
              <p:cNvSpPr>
                <a:spLocks noChangeArrowheads="1"/>
              </p:cNvSpPr>
              <p:nvPr/>
            </p:nvSpPr>
            <p:spPr bwMode="auto">
              <a:xfrm>
                <a:off x="4768" y="1893"/>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5" name="Oval 13"/>
              <p:cNvSpPr>
                <a:spLocks noChangeArrowheads="1"/>
              </p:cNvSpPr>
              <p:nvPr/>
            </p:nvSpPr>
            <p:spPr bwMode="auto">
              <a:xfrm>
                <a:off x="4696" y="2003"/>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6" name="Oval 14"/>
              <p:cNvSpPr>
                <a:spLocks noChangeArrowheads="1"/>
              </p:cNvSpPr>
              <p:nvPr/>
            </p:nvSpPr>
            <p:spPr bwMode="auto">
              <a:xfrm>
                <a:off x="3568" y="1752"/>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grpSp>
        <p:sp>
          <p:nvSpPr>
            <p:cNvPr id="8" name="Oval 15"/>
            <p:cNvSpPr>
              <a:spLocks noChangeArrowheads="1"/>
            </p:cNvSpPr>
            <p:nvPr/>
          </p:nvSpPr>
          <p:spPr bwMode="auto">
            <a:xfrm>
              <a:off x="790553" y="1033063"/>
              <a:ext cx="700603" cy="292198"/>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9" name="Oval 16"/>
            <p:cNvSpPr>
              <a:spLocks noChangeArrowheads="1"/>
            </p:cNvSpPr>
            <p:nvPr/>
          </p:nvSpPr>
          <p:spPr bwMode="auto">
            <a:xfrm>
              <a:off x="396252" y="1113687"/>
              <a:ext cx="532785" cy="292198"/>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0" name="Oval 17"/>
            <p:cNvSpPr>
              <a:spLocks noChangeArrowheads="1"/>
            </p:cNvSpPr>
            <p:nvPr/>
          </p:nvSpPr>
          <p:spPr bwMode="auto">
            <a:xfrm>
              <a:off x="228434" y="1296369"/>
              <a:ext cx="354737" cy="233479"/>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1" name="Oval 18"/>
            <p:cNvSpPr>
              <a:spLocks noChangeArrowheads="1"/>
            </p:cNvSpPr>
            <p:nvPr/>
          </p:nvSpPr>
          <p:spPr bwMode="auto">
            <a:xfrm>
              <a:off x="336901" y="1405885"/>
              <a:ext cx="542335" cy="255849"/>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2" name="Oval 19"/>
            <p:cNvSpPr>
              <a:spLocks noChangeArrowheads="1"/>
            </p:cNvSpPr>
            <p:nvPr/>
          </p:nvSpPr>
          <p:spPr bwMode="auto">
            <a:xfrm>
              <a:off x="731204" y="1449692"/>
              <a:ext cx="818622" cy="307112"/>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3" name="Oval 20"/>
            <p:cNvSpPr>
              <a:spLocks noChangeArrowheads="1"/>
            </p:cNvSpPr>
            <p:nvPr/>
          </p:nvSpPr>
          <p:spPr bwMode="auto">
            <a:xfrm>
              <a:off x="1263990" y="1120677"/>
              <a:ext cx="513001" cy="226490"/>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4" name="Oval 21"/>
            <p:cNvSpPr>
              <a:spLocks noChangeArrowheads="1"/>
            </p:cNvSpPr>
            <p:nvPr/>
          </p:nvSpPr>
          <p:spPr bwMode="auto">
            <a:xfrm>
              <a:off x="1343123" y="1274464"/>
              <a:ext cx="513001" cy="226490"/>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5" name="Oval 22"/>
            <p:cNvSpPr>
              <a:spLocks noChangeArrowheads="1"/>
            </p:cNvSpPr>
            <p:nvPr/>
          </p:nvSpPr>
          <p:spPr bwMode="auto">
            <a:xfrm>
              <a:off x="1293324" y="1325261"/>
              <a:ext cx="513001" cy="380278"/>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6" name="Oval 23"/>
            <p:cNvSpPr>
              <a:spLocks noChangeArrowheads="1"/>
            </p:cNvSpPr>
            <p:nvPr/>
          </p:nvSpPr>
          <p:spPr bwMode="auto">
            <a:xfrm>
              <a:off x="524501" y="1208289"/>
              <a:ext cx="1055339" cy="380278"/>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7" name="Text Box 24"/>
            <p:cNvSpPr txBox="1">
              <a:spLocks noChangeArrowheads="1"/>
            </p:cNvSpPr>
            <p:nvPr/>
          </p:nvSpPr>
          <p:spPr bwMode="auto">
            <a:xfrm>
              <a:off x="548205" y="1196955"/>
              <a:ext cx="1081183" cy="465318"/>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050" b="1" dirty="0">
                  <a:solidFill>
                    <a:schemeClr val="bg1"/>
                  </a:solidFill>
                  <a:latin typeface="微软雅黑" pitchFamily="34" charset="-122"/>
                  <a:ea typeface="微软雅黑" pitchFamily="34" charset="-122"/>
                </a:rPr>
                <a:t>互联网</a:t>
              </a:r>
            </a:p>
          </p:txBody>
        </p:sp>
      </p:grpSp>
      <p:sp>
        <p:nvSpPr>
          <p:cNvPr id="27" name="Oval 25"/>
          <p:cNvSpPr>
            <a:spLocks noChangeArrowheads="1"/>
          </p:cNvSpPr>
          <p:nvPr/>
        </p:nvSpPr>
        <p:spPr bwMode="auto">
          <a:xfrm>
            <a:off x="3906711" y="1106620"/>
            <a:ext cx="1599245" cy="539082"/>
          </a:xfrm>
          <a:prstGeom prst="ellipse">
            <a:avLst/>
          </a:prstGeom>
          <a:solidFill>
            <a:srgbClr val="3399FF"/>
          </a:solidFill>
          <a:ln w="9525">
            <a:solidFill>
              <a:srgbClr val="000000"/>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28" name="Oval 26"/>
          <p:cNvSpPr>
            <a:spLocks noChangeArrowheads="1"/>
          </p:cNvSpPr>
          <p:nvPr/>
        </p:nvSpPr>
        <p:spPr bwMode="auto">
          <a:xfrm>
            <a:off x="4246091" y="1189626"/>
            <a:ext cx="1018141" cy="373966"/>
          </a:xfrm>
          <a:prstGeom prst="ellipse">
            <a:avLst/>
          </a:prstGeom>
          <a:solidFill>
            <a:schemeClr val="bg1"/>
          </a:solidFill>
          <a:ln w="9525">
            <a:solidFill>
              <a:schemeClr val="bg1"/>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29" name="Text Box 27"/>
          <p:cNvSpPr txBox="1">
            <a:spLocks noChangeArrowheads="1"/>
          </p:cNvSpPr>
          <p:nvPr/>
        </p:nvSpPr>
        <p:spPr bwMode="auto">
          <a:xfrm>
            <a:off x="4213355" y="1244579"/>
            <a:ext cx="1063112"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1" hangingPunct="1"/>
            <a:r>
              <a:rPr kumimoji="1" lang="en-US" altLang="zh-CN" sz="1000" b="1" dirty="0">
                <a:solidFill>
                  <a:srgbClr val="C00000"/>
                </a:solidFill>
                <a:latin typeface="微软雅黑" pitchFamily="34" charset="-122"/>
                <a:ea typeface="微软雅黑" pitchFamily="34" charset="-122"/>
              </a:rPr>
              <a:t>206.0.68.0/22</a:t>
            </a:r>
          </a:p>
        </p:txBody>
      </p:sp>
      <p:sp>
        <p:nvSpPr>
          <p:cNvPr id="30" name="Text Box 28"/>
          <p:cNvSpPr txBox="1">
            <a:spLocks noChangeArrowheads="1"/>
          </p:cNvSpPr>
          <p:nvPr/>
        </p:nvSpPr>
        <p:spPr bwMode="auto">
          <a:xfrm>
            <a:off x="2917375" y="1142066"/>
            <a:ext cx="1026243" cy="238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solidFill>
                  <a:srgbClr val="C00000"/>
                </a:solidFill>
                <a:latin typeface="微软雅黑" pitchFamily="34" charset="-122"/>
                <a:ea typeface="微软雅黑" pitchFamily="34" charset="-122"/>
              </a:rPr>
              <a:t>206.0.64.0/18</a:t>
            </a:r>
          </a:p>
        </p:txBody>
      </p:sp>
      <p:sp>
        <p:nvSpPr>
          <p:cNvPr id="31" name="AutoShape 29"/>
          <p:cNvSpPr>
            <a:spLocks noChangeArrowheads="1"/>
          </p:cNvSpPr>
          <p:nvPr/>
        </p:nvSpPr>
        <p:spPr bwMode="auto">
          <a:xfrm>
            <a:off x="2793813" y="1324395"/>
            <a:ext cx="1065519" cy="124060"/>
          </a:xfrm>
          <a:prstGeom prst="leftArrow">
            <a:avLst>
              <a:gd name="adj1" fmla="val 50000"/>
              <a:gd name="adj2" fmla="val 198202"/>
            </a:avLst>
          </a:prstGeom>
          <a:solidFill>
            <a:srgbClr val="00FF99"/>
          </a:solidFill>
          <a:ln w="9525">
            <a:solidFill>
              <a:srgbClr val="333399"/>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32" name="Text Box 30"/>
          <p:cNvSpPr txBox="1">
            <a:spLocks noChangeArrowheads="1"/>
          </p:cNvSpPr>
          <p:nvPr/>
        </p:nvSpPr>
        <p:spPr bwMode="auto">
          <a:xfrm>
            <a:off x="3810988" y="992972"/>
            <a:ext cx="42992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1200" b="1" dirty="0">
                <a:solidFill>
                  <a:srgbClr val="C00000"/>
                </a:solidFill>
                <a:latin typeface="微软雅黑" pitchFamily="34" charset="-122"/>
                <a:ea typeface="微软雅黑" pitchFamily="34" charset="-122"/>
              </a:rPr>
              <a:t>ISP</a:t>
            </a:r>
          </a:p>
        </p:txBody>
      </p:sp>
      <p:sp>
        <p:nvSpPr>
          <p:cNvPr id="33" name="Text Box 31"/>
          <p:cNvSpPr txBox="1">
            <a:spLocks noChangeArrowheads="1"/>
          </p:cNvSpPr>
          <p:nvPr/>
        </p:nvSpPr>
        <p:spPr bwMode="auto">
          <a:xfrm>
            <a:off x="5602646" y="1033136"/>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200" b="1" dirty="0">
                <a:solidFill>
                  <a:srgbClr val="0000CC"/>
                </a:solidFill>
                <a:latin typeface="微软雅黑" pitchFamily="34" charset="-122"/>
                <a:ea typeface="微软雅黑" pitchFamily="34" charset="-122"/>
              </a:rPr>
              <a:t>大学 </a:t>
            </a:r>
            <a:r>
              <a:rPr kumimoji="1" lang="en-US" altLang="zh-CN" sz="1200" b="1" dirty="0">
                <a:solidFill>
                  <a:srgbClr val="0000CC"/>
                </a:solidFill>
                <a:latin typeface="微软雅黑" pitchFamily="34" charset="-122"/>
                <a:ea typeface="微软雅黑" pitchFamily="34" charset="-122"/>
              </a:rPr>
              <a:t>X</a:t>
            </a:r>
          </a:p>
        </p:txBody>
      </p:sp>
      <p:sp>
        <p:nvSpPr>
          <p:cNvPr id="34" name="Line 32"/>
          <p:cNvSpPr>
            <a:spLocks noChangeShapeType="1"/>
          </p:cNvSpPr>
          <p:nvPr/>
        </p:nvSpPr>
        <p:spPr bwMode="auto">
          <a:xfrm flipV="1">
            <a:off x="5214921" y="1198252"/>
            <a:ext cx="387725" cy="124060"/>
          </a:xfrm>
          <a:prstGeom prst="line">
            <a:avLst/>
          </a:prstGeom>
          <a:noFill/>
          <a:ln w="12700">
            <a:solidFill>
              <a:srgbClr val="333399"/>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35" name="Text Box 33"/>
          <p:cNvSpPr txBox="1">
            <a:spLocks noChangeArrowheads="1"/>
          </p:cNvSpPr>
          <p:nvPr/>
        </p:nvSpPr>
        <p:spPr bwMode="auto">
          <a:xfrm>
            <a:off x="2786403" y="2604268"/>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200" b="1" dirty="0">
                <a:solidFill>
                  <a:srgbClr val="0000CC"/>
                </a:solidFill>
                <a:latin typeface="微软雅黑" pitchFamily="34" charset="-122"/>
                <a:ea typeface="微软雅黑" pitchFamily="34" charset="-122"/>
              </a:rPr>
              <a:t>一系</a:t>
            </a:r>
          </a:p>
        </p:txBody>
      </p:sp>
      <p:sp>
        <p:nvSpPr>
          <p:cNvPr id="36" name="Text Box 34"/>
          <p:cNvSpPr txBox="1">
            <a:spLocks noChangeArrowheads="1"/>
          </p:cNvSpPr>
          <p:nvPr/>
        </p:nvSpPr>
        <p:spPr bwMode="auto">
          <a:xfrm>
            <a:off x="4556465" y="2599805"/>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200" b="1">
                <a:solidFill>
                  <a:srgbClr val="0000CC"/>
                </a:solidFill>
                <a:latin typeface="微软雅黑" pitchFamily="34" charset="-122"/>
                <a:ea typeface="微软雅黑" pitchFamily="34" charset="-122"/>
              </a:rPr>
              <a:t>二系</a:t>
            </a:r>
          </a:p>
        </p:txBody>
      </p:sp>
      <p:sp>
        <p:nvSpPr>
          <p:cNvPr id="37" name="Text Box 35"/>
          <p:cNvSpPr txBox="1">
            <a:spLocks noChangeArrowheads="1"/>
          </p:cNvSpPr>
          <p:nvPr/>
        </p:nvSpPr>
        <p:spPr bwMode="auto">
          <a:xfrm>
            <a:off x="5214921" y="2496273"/>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200" b="1">
                <a:solidFill>
                  <a:srgbClr val="0000CC"/>
                </a:solidFill>
                <a:latin typeface="微软雅黑" pitchFamily="34" charset="-122"/>
                <a:ea typeface="微软雅黑" pitchFamily="34" charset="-122"/>
              </a:rPr>
              <a:t>三系</a:t>
            </a:r>
          </a:p>
        </p:txBody>
      </p:sp>
      <p:sp>
        <p:nvSpPr>
          <p:cNvPr id="38" name="Text Box 36"/>
          <p:cNvSpPr txBox="1">
            <a:spLocks noChangeArrowheads="1"/>
          </p:cNvSpPr>
          <p:nvPr/>
        </p:nvSpPr>
        <p:spPr bwMode="auto">
          <a:xfrm>
            <a:off x="6530866" y="2496273"/>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200" b="1">
                <a:solidFill>
                  <a:srgbClr val="0000CC"/>
                </a:solidFill>
                <a:latin typeface="微软雅黑" pitchFamily="34" charset="-122"/>
                <a:ea typeface="微软雅黑" pitchFamily="34" charset="-122"/>
              </a:rPr>
              <a:t>四系</a:t>
            </a:r>
          </a:p>
        </p:txBody>
      </p:sp>
      <p:sp>
        <p:nvSpPr>
          <p:cNvPr id="39" name="AutoShape 37"/>
          <p:cNvSpPr>
            <a:spLocks noChangeArrowheads="1"/>
          </p:cNvSpPr>
          <p:nvPr/>
        </p:nvSpPr>
        <p:spPr bwMode="auto">
          <a:xfrm rot="1625099">
            <a:off x="5054415" y="1700145"/>
            <a:ext cx="1524795" cy="97285"/>
          </a:xfrm>
          <a:prstGeom prst="leftArrow">
            <a:avLst>
              <a:gd name="adj1" fmla="val 27083"/>
              <a:gd name="adj2" fmla="val 410994"/>
            </a:avLst>
          </a:prstGeom>
          <a:solidFill>
            <a:srgbClr val="FFFF00"/>
          </a:solidFill>
          <a:ln w="9525">
            <a:solidFill>
              <a:srgbClr val="333399"/>
            </a:solidFill>
            <a:miter lim="800000"/>
            <a:headEnd/>
            <a:tailEnd/>
          </a:ln>
          <a:effectLst/>
        </p:spPr>
        <p:txBody>
          <a:bodyPr wrap="none" anchor="ct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40" name="Oval 38"/>
          <p:cNvSpPr>
            <a:spLocks noChangeArrowheads="1"/>
          </p:cNvSpPr>
          <p:nvPr/>
        </p:nvSpPr>
        <p:spPr bwMode="auto">
          <a:xfrm>
            <a:off x="6087061" y="2018775"/>
            <a:ext cx="1210553" cy="498918"/>
          </a:xfrm>
          <a:prstGeom prst="ellipse">
            <a:avLst/>
          </a:prstGeom>
          <a:solidFill>
            <a:srgbClr val="99FFCC"/>
          </a:solidFill>
          <a:ln w="9525">
            <a:solidFill>
              <a:srgbClr val="000000"/>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41" name="Text Box 39"/>
          <p:cNvSpPr txBox="1">
            <a:spLocks noChangeArrowheads="1"/>
          </p:cNvSpPr>
          <p:nvPr/>
        </p:nvSpPr>
        <p:spPr bwMode="auto">
          <a:xfrm>
            <a:off x="6108110" y="2084878"/>
            <a:ext cx="1176925" cy="3847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206.0.71.128/26</a:t>
            </a:r>
          </a:p>
          <a:p>
            <a:pPr eaLnBrk="1" hangingPunct="1"/>
            <a:r>
              <a:rPr kumimoji="1" lang="en-US" altLang="zh-CN" sz="950" b="1" dirty="0">
                <a:latin typeface="微软雅黑" pitchFamily="34" charset="-122"/>
                <a:ea typeface="微软雅黑" pitchFamily="34" charset="-122"/>
              </a:rPr>
              <a:t>206.0.71.192/26</a:t>
            </a:r>
          </a:p>
        </p:txBody>
      </p:sp>
      <p:sp>
        <p:nvSpPr>
          <p:cNvPr id="42" name="AutoShape 40"/>
          <p:cNvSpPr>
            <a:spLocks noChangeArrowheads="1"/>
          </p:cNvSpPr>
          <p:nvPr/>
        </p:nvSpPr>
        <p:spPr bwMode="auto">
          <a:xfrm rot="8870696">
            <a:off x="2822820" y="1753696"/>
            <a:ext cx="1629220" cy="103532"/>
          </a:xfrm>
          <a:prstGeom prst="leftArrow">
            <a:avLst>
              <a:gd name="adj1" fmla="val 27083"/>
              <a:gd name="adj2" fmla="val 412642"/>
            </a:avLst>
          </a:prstGeom>
          <a:solidFill>
            <a:srgbClr val="FFFF00"/>
          </a:solidFill>
          <a:ln w="9525">
            <a:solidFill>
              <a:srgbClr val="333399"/>
            </a:solidFill>
            <a:miter lim="800000"/>
            <a:headEnd/>
            <a:tailEnd/>
          </a:ln>
          <a:effectLst/>
        </p:spPr>
        <p:txBody>
          <a:bodyPr wrap="none" anchor="ct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43" name="Text Box 42"/>
          <p:cNvSpPr txBox="1">
            <a:spLocks noChangeArrowheads="1"/>
          </p:cNvSpPr>
          <p:nvPr/>
        </p:nvSpPr>
        <p:spPr bwMode="auto">
          <a:xfrm>
            <a:off x="1717531" y="2076790"/>
            <a:ext cx="1176925" cy="6771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206.0.68.0/25</a:t>
            </a:r>
          </a:p>
          <a:p>
            <a:pPr eaLnBrk="1" hangingPunct="1"/>
            <a:r>
              <a:rPr kumimoji="1" lang="en-US" altLang="zh-CN" sz="950" b="1" dirty="0">
                <a:latin typeface="微软雅黑" pitchFamily="34" charset="-122"/>
                <a:ea typeface="微软雅黑" pitchFamily="34" charset="-122"/>
              </a:rPr>
              <a:t>206.0.68.128/25</a:t>
            </a:r>
          </a:p>
          <a:p>
            <a:pPr eaLnBrk="1" hangingPunct="1"/>
            <a:r>
              <a:rPr kumimoji="1" lang="en-US" altLang="zh-CN" sz="950" b="1" dirty="0">
                <a:latin typeface="微软雅黑" pitchFamily="34" charset="-122"/>
                <a:ea typeface="微软雅黑" pitchFamily="34" charset="-122"/>
              </a:rPr>
              <a:t>206.0.69.0/25</a:t>
            </a:r>
          </a:p>
          <a:p>
            <a:pPr eaLnBrk="1" hangingPunct="1"/>
            <a:r>
              <a:rPr kumimoji="1" lang="en-US" altLang="zh-CN" sz="950" b="1" dirty="0">
                <a:latin typeface="微软雅黑" pitchFamily="34" charset="-122"/>
                <a:ea typeface="微软雅黑" pitchFamily="34" charset="-122"/>
              </a:rPr>
              <a:t>206.0.69.128/25</a:t>
            </a:r>
          </a:p>
        </p:txBody>
      </p:sp>
      <p:sp>
        <p:nvSpPr>
          <p:cNvPr id="44" name="AutoShape 43"/>
          <p:cNvSpPr>
            <a:spLocks noChangeArrowheads="1"/>
          </p:cNvSpPr>
          <p:nvPr/>
        </p:nvSpPr>
        <p:spPr bwMode="auto">
          <a:xfrm rot="7490917">
            <a:off x="3716642" y="1873778"/>
            <a:ext cx="1204901" cy="115061"/>
          </a:xfrm>
          <a:prstGeom prst="leftArrow">
            <a:avLst>
              <a:gd name="adj1" fmla="val 27083"/>
              <a:gd name="adj2" fmla="val 322268"/>
            </a:avLst>
          </a:prstGeom>
          <a:solidFill>
            <a:srgbClr val="FFFF00"/>
          </a:solidFill>
          <a:ln w="9525">
            <a:solidFill>
              <a:srgbClr val="333399"/>
            </a:solidFill>
            <a:miter lim="800000"/>
            <a:headEnd/>
            <a:tailEnd/>
          </a:ln>
          <a:effectLst/>
        </p:spPr>
        <p:txBody>
          <a:bodyPr wrap="none" anchor="ct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45" name="Oval 44"/>
          <p:cNvSpPr>
            <a:spLocks noChangeArrowheads="1"/>
          </p:cNvSpPr>
          <p:nvPr/>
        </p:nvSpPr>
        <p:spPr bwMode="auto">
          <a:xfrm>
            <a:off x="3278229" y="2018775"/>
            <a:ext cx="1452277" cy="788987"/>
          </a:xfrm>
          <a:prstGeom prst="ellipse">
            <a:avLst/>
          </a:prstGeom>
          <a:solidFill>
            <a:srgbClr val="99FFCC"/>
          </a:solidFill>
          <a:ln w="9525">
            <a:solidFill>
              <a:srgbClr val="000000"/>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46" name="Text Box 45"/>
          <p:cNvSpPr txBox="1">
            <a:spLocks noChangeArrowheads="1"/>
          </p:cNvSpPr>
          <p:nvPr/>
        </p:nvSpPr>
        <p:spPr bwMode="auto">
          <a:xfrm>
            <a:off x="3451713" y="2076790"/>
            <a:ext cx="1176925" cy="6771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206.0.70.0/26</a:t>
            </a:r>
          </a:p>
          <a:p>
            <a:pPr eaLnBrk="1" hangingPunct="1"/>
            <a:r>
              <a:rPr kumimoji="1" lang="en-US" altLang="zh-CN" sz="950" b="1" dirty="0">
                <a:latin typeface="微软雅黑" pitchFamily="34" charset="-122"/>
                <a:ea typeface="微软雅黑" pitchFamily="34" charset="-122"/>
              </a:rPr>
              <a:t>206.0.70.64/26</a:t>
            </a:r>
          </a:p>
          <a:p>
            <a:pPr eaLnBrk="1" hangingPunct="1"/>
            <a:r>
              <a:rPr kumimoji="1" lang="en-US" altLang="zh-CN" sz="950" b="1" dirty="0">
                <a:latin typeface="微软雅黑" pitchFamily="34" charset="-122"/>
                <a:ea typeface="微软雅黑" pitchFamily="34" charset="-122"/>
              </a:rPr>
              <a:t>206.0.70.128/26</a:t>
            </a:r>
          </a:p>
          <a:p>
            <a:pPr eaLnBrk="1" hangingPunct="1"/>
            <a:r>
              <a:rPr kumimoji="1" lang="en-US" altLang="zh-CN" sz="950" b="1" dirty="0">
                <a:latin typeface="微软雅黑" pitchFamily="34" charset="-122"/>
                <a:ea typeface="微软雅黑" pitchFamily="34" charset="-122"/>
              </a:rPr>
              <a:t>206.0.70.192/26</a:t>
            </a:r>
          </a:p>
        </p:txBody>
      </p:sp>
      <p:sp>
        <p:nvSpPr>
          <p:cNvPr id="47" name="Rectangle 46"/>
          <p:cNvSpPr>
            <a:spLocks noChangeArrowheads="1"/>
          </p:cNvSpPr>
          <p:nvPr/>
        </p:nvSpPr>
        <p:spPr bwMode="auto">
          <a:xfrm>
            <a:off x="3859332" y="1805463"/>
            <a:ext cx="920485" cy="162438"/>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49" name="AutoShape 48"/>
          <p:cNvSpPr>
            <a:spLocks noChangeArrowheads="1"/>
          </p:cNvSpPr>
          <p:nvPr/>
        </p:nvSpPr>
        <p:spPr bwMode="auto">
          <a:xfrm rot="14362323" flipH="1">
            <a:off x="4633779" y="1901001"/>
            <a:ext cx="1205794" cy="115060"/>
          </a:xfrm>
          <a:prstGeom prst="leftArrow">
            <a:avLst>
              <a:gd name="adj1" fmla="val 27083"/>
              <a:gd name="adj2" fmla="val 322509"/>
            </a:avLst>
          </a:prstGeom>
          <a:solidFill>
            <a:srgbClr val="FFFF00"/>
          </a:solidFill>
          <a:ln w="9525">
            <a:solidFill>
              <a:srgbClr val="333399"/>
            </a:solidFill>
            <a:miter lim="800000"/>
            <a:headEnd/>
            <a:tailEnd/>
          </a:ln>
          <a:effectLst/>
        </p:spPr>
        <p:txBody>
          <a:bodyPr wrap="none" anchor="ct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50" name="Rectangle 49"/>
          <p:cNvSpPr>
            <a:spLocks noChangeArrowheads="1"/>
          </p:cNvSpPr>
          <p:nvPr/>
        </p:nvSpPr>
        <p:spPr bwMode="auto">
          <a:xfrm>
            <a:off x="4876506" y="1805463"/>
            <a:ext cx="940306" cy="166901"/>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52" name="Oval 51"/>
          <p:cNvSpPr>
            <a:spLocks noChangeArrowheads="1"/>
          </p:cNvSpPr>
          <p:nvPr/>
        </p:nvSpPr>
        <p:spPr bwMode="auto">
          <a:xfrm>
            <a:off x="4779818" y="2018775"/>
            <a:ext cx="1210553" cy="498918"/>
          </a:xfrm>
          <a:prstGeom prst="ellipse">
            <a:avLst/>
          </a:prstGeom>
          <a:solidFill>
            <a:srgbClr val="99FFCC"/>
          </a:solidFill>
          <a:ln w="9525">
            <a:solidFill>
              <a:srgbClr val="000000"/>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53" name="Text Box 52"/>
          <p:cNvSpPr txBox="1">
            <a:spLocks noChangeArrowheads="1"/>
          </p:cNvSpPr>
          <p:nvPr/>
        </p:nvSpPr>
        <p:spPr bwMode="auto">
          <a:xfrm>
            <a:off x="4856035" y="2078054"/>
            <a:ext cx="1101584" cy="3847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206.0.71.0/26</a:t>
            </a:r>
          </a:p>
          <a:p>
            <a:pPr eaLnBrk="1" hangingPunct="1"/>
            <a:r>
              <a:rPr kumimoji="1" lang="en-US" altLang="zh-CN" sz="950" b="1" dirty="0">
                <a:latin typeface="微软雅黑" pitchFamily="34" charset="-122"/>
                <a:ea typeface="微软雅黑" pitchFamily="34" charset="-122"/>
              </a:rPr>
              <a:t>206.0.71.64/26</a:t>
            </a:r>
          </a:p>
        </p:txBody>
      </p:sp>
      <p:sp>
        <p:nvSpPr>
          <p:cNvPr id="54" name="Rectangle 53"/>
          <p:cNvSpPr>
            <a:spLocks noChangeArrowheads="1"/>
          </p:cNvSpPr>
          <p:nvPr/>
        </p:nvSpPr>
        <p:spPr bwMode="auto">
          <a:xfrm>
            <a:off x="6087061" y="1805463"/>
            <a:ext cx="1065454" cy="166902"/>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56" name="Rectangle 55"/>
          <p:cNvSpPr>
            <a:spLocks noChangeArrowheads="1"/>
          </p:cNvSpPr>
          <p:nvPr/>
        </p:nvSpPr>
        <p:spPr bwMode="auto">
          <a:xfrm>
            <a:off x="2842159" y="1805463"/>
            <a:ext cx="910808" cy="166902"/>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grpSp>
        <p:nvGrpSpPr>
          <p:cNvPr id="48" name="组合 47"/>
          <p:cNvGrpSpPr/>
          <p:nvPr/>
        </p:nvGrpSpPr>
        <p:grpSpPr>
          <a:xfrm>
            <a:off x="1973180" y="2879661"/>
            <a:ext cx="5333401" cy="1423467"/>
            <a:chOff x="2344108" y="2888287"/>
            <a:chExt cx="5333401" cy="1423467"/>
          </a:xfrm>
        </p:grpSpPr>
        <p:sp>
          <p:nvSpPr>
            <p:cNvPr id="5" name="Rectangle 3"/>
            <p:cNvSpPr>
              <a:spLocks noChangeArrowheads="1"/>
            </p:cNvSpPr>
            <p:nvPr/>
          </p:nvSpPr>
          <p:spPr bwMode="auto">
            <a:xfrm>
              <a:off x="2358284" y="2924384"/>
              <a:ext cx="5232961" cy="1344134"/>
            </a:xfrm>
            <a:prstGeom prst="rect">
              <a:avLst/>
            </a:prstGeom>
            <a:solidFill>
              <a:srgbClr val="00FFFF"/>
            </a:solidFill>
            <a:ln w="28575">
              <a:solidFill>
                <a:srgbClr val="333399"/>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66" name="Text Box 57"/>
            <p:cNvSpPr txBox="1">
              <a:spLocks noChangeArrowheads="1"/>
            </p:cNvSpPr>
            <p:nvPr/>
          </p:nvSpPr>
          <p:spPr bwMode="auto">
            <a:xfrm>
              <a:off x="2344108" y="2888287"/>
              <a:ext cx="5333401" cy="14234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lnSpc>
                  <a:spcPct val="145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单位         地址块                            二进制表示的地址块                    相当于 </a:t>
              </a:r>
              <a:r>
                <a:rPr kumimoji="1" lang="en-US" altLang="zh-CN" sz="1000" b="1" dirty="0">
                  <a:latin typeface="微软雅黑" pitchFamily="34" charset="-122"/>
                  <a:ea typeface="微软雅黑" pitchFamily="34" charset="-122"/>
                </a:rPr>
                <a:t>C </a:t>
              </a:r>
              <a:r>
                <a:rPr kumimoji="1" lang="zh-CN" altLang="en-US" sz="1000" b="1" dirty="0">
                  <a:latin typeface="微软雅黑" pitchFamily="34" charset="-122"/>
                  <a:ea typeface="微软雅黑" pitchFamily="34" charset="-122"/>
                </a:rPr>
                <a:t>类网络数</a:t>
              </a:r>
            </a:p>
            <a:p>
              <a:pPr eaLnBrk="1" hangingPunct="1">
                <a:lnSpc>
                  <a:spcPct val="120000"/>
                </a:lnSpc>
              </a:pPr>
              <a:r>
                <a:rPr kumimoji="1" lang="zh-CN" altLang="en-US" sz="1000" b="1" dirty="0">
                  <a:latin typeface="微软雅黑" pitchFamily="34" charset="-122"/>
                  <a:ea typeface="微软雅黑" pitchFamily="34" charset="-122"/>
                </a:rPr>
                <a:t>   </a:t>
              </a:r>
              <a:r>
                <a:rPr kumimoji="1" lang="en-US" altLang="zh-CN" sz="1000" b="1" dirty="0">
                  <a:latin typeface="微软雅黑" pitchFamily="34" charset="-122"/>
                  <a:ea typeface="微软雅黑" pitchFamily="34" charset="-122"/>
                </a:rPr>
                <a:t>ISP    206.0.64.0/18       11001110.00000000.01*                                 64</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大学    </a:t>
              </a:r>
              <a:r>
                <a:rPr kumimoji="1" lang="en-US" altLang="zh-CN" sz="1000" b="1" dirty="0">
                  <a:latin typeface="微软雅黑" pitchFamily="34" charset="-122"/>
                  <a:ea typeface="微软雅黑" pitchFamily="34" charset="-122"/>
                </a:rPr>
                <a:t>206.0.68.0/22        11001110.00000000.010001*                          4</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一系    </a:t>
              </a:r>
              <a:r>
                <a:rPr kumimoji="1" lang="en-US" altLang="zh-CN" sz="1000" b="1" dirty="0">
                  <a:latin typeface="微软雅黑" pitchFamily="34" charset="-122"/>
                  <a:ea typeface="微软雅黑" pitchFamily="34" charset="-122"/>
                </a:rPr>
                <a:t>206.0.68.0/23        11001110.00000000.0100010*                        2</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二系    </a:t>
              </a:r>
              <a:r>
                <a:rPr kumimoji="1" lang="en-US" altLang="zh-CN" sz="1000" b="1" dirty="0">
                  <a:latin typeface="微软雅黑" pitchFamily="34" charset="-122"/>
                  <a:ea typeface="微软雅黑" pitchFamily="34" charset="-122"/>
                </a:rPr>
                <a:t>206.0.70.0/24        11001110.00000000.01000110.*                     1</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三系    </a:t>
              </a:r>
              <a:r>
                <a:rPr kumimoji="1" lang="en-US" altLang="zh-CN" sz="1000" b="1" dirty="0">
                  <a:latin typeface="微软雅黑" pitchFamily="34" charset="-122"/>
                  <a:ea typeface="微软雅黑" pitchFamily="34" charset="-122"/>
                </a:rPr>
                <a:t>206.0.71.0/25        11001110.00000000.01000111.0*                 1/2</a:t>
              </a:r>
            </a:p>
            <a:p>
              <a:pPr eaLnBrk="1" hangingPunct="1">
                <a:lnSpc>
                  <a:spcPct val="120000"/>
                </a:lnSpc>
                <a:spcAft>
                  <a:spcPct val="25000"/>
                </a:spcAft>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四系    </a:t>
              </a:r>
              <a:r>
                <a:rPr kumimoji="1" lang="en-US" altLang="zh-CN" sz="1000" b="1" dirty="0">
                  <a:latin typeface="微软雅黑" pitchFamily="34" charset="-122"/>
                  <a:ea typeface="微软雅黑" pitchFamily="34" charset="-122"/>
                </a:rPr>
                <a:t>206.0.71.128/25    11001110.00000000.01000111.1*                 1/2</a:t>
              </a:r>
            </a:p>
          </p:txBody>
        </p:sp>
        <p:sp>
          <p:nvSpPr>
            <p:cNvPr id="59" name="Line 58"/>
            <p:cNvSpPr>
              <a:spLocks noChangeShapeType="1"/>
            </p:cNvSpPr>
            <p:nvPr/>
          </p:nvSpPr>
          <p:spPr bwMode="auto">
            <a:xfrm>
              <a:off x="2352483" y="3147512"/>
              <a:ext cx="523876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60" name="Line 59"/>
            <p:cNvSpPr>
              <a:spLocks noChangeShapeType="1"/>
            </p:cNvSpPr>
            <p:nvPr/>
          </p:nvSpPr>
          <p:spPr bwMode="auto">
            <a:xfrm flipH="1">
              <a:off x="2786620" y="2917244"/>
              <a:ext cx="966" cy="135127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61" name="Line 60"/>
            <p:cNvSpPr>
              <a:spLocks noChangeShapeType="1"/>
            </p:cNvSpPr>
            <p:nvPr/>
          </p:nvSpPr>
          <p:spPr bwMode="auto">
            <a:xfrm flipH="1">
              <a:off x="3986051" y="2924384"/>
              <a:ext cx="1934" cy="135127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62" name="Line 61"/>
            <p:cNvSpPr>
              <a:spLocks noChangeShapeType="1"/>
            </p:cNvSpPr>
            <p:nvPr/>
          </p:nvSpPr>
          <p:spPr bwMode="auto">
            <a:xfrm flipH="1">
              <a:off x="6340905" y="2924384"/>
              <a:ext cx="1934" cy="135127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grpSp>
      <p:sp>
        <p:nvSpPr>
          <p:cNvPr id="63" name="Oval 62"/>
          <p:cNvSpPr>
            <a:spLocks noChangeArrowheads="1"/>
          </p:cNvSpPr>
          <p:nvPr/>
        </p:nvSpPr>
        <p:spPr bwMode="auto">
          <a:xfrm>
            <a:off x="3956022" y="1339567"/>
            <a:ext cx="232055" cy="128523"/>
          </a:xfrm>
          <a:prstGeom prst="ellipse">
            <a:avLst/>
          </a:prstGeom>
          <a:solidFill>
            <a:schemeClr val="bg1"/>
          </a:solidFill>
          <a:ln w="9525">
            <a:solidFill>
              <a:schemeClr val="bg1"/>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64" name="Oval 63"/>
          <p:cNvSpPr>
            <a:spLocks noChangeArrowheads="1"/>
          </p:cNvSpPr>
          <p:nvPr/>
        </p:nvSpPr>
        <p:spPr bwMode="auto">
          <a:xfrm>
            <a:off x="4037241" y="1194979"/>
            <a:ext cx="232055" cy="128523"/>
          </a:xfrm>
          <a:prstGeom prst="ellipse">
            <a:avLst/>
          </a:prstGeom>
          <a:solidFill>
            <a:schemeClr val="bg1"/>
          </a:solidFill>
          <a:ln w="9525">
            <a:solidFill>
              <a:schemeClr val="bg1"/>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73" name="Text Box 47"/>
          <p:cNvSpPr txBox="1">
            <a:spLocks noChangeArrowheads="1"/>
          </p:cNvSpPr>
          <p:nvPr/>
        </p:nvSpPr>
        <p:spPr bwMode="auto">
          <a:xfrm>
            <a:off x="3810987" y="1773014"/>
            <a:ext cx="1026243" cy="23852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206.0.70.0/24</a:t>
            </a:r>
          </a:p>
        </p:txBody>
      </p:sp>
      <p:sp>
        <p:nvSpPr>
          <p:cNvPr id="74" name="Text Box 50"/>
          <p:cNvSpPr txBox="1">
            <a:spLocks noChangeArrowheads="1"/>
          </p:cNvSpPr>
          <p:nvPr/>
        </p:nvSpPr>
        <p:spPr bwMode="auto">
          <a:xfrm>
            <a:off x="4827196" y="1773014"/>
            <a:ext cx="1026243" cy="238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a:latin typeface="微软雅黑" pitchFamily="34" charset="-122"/>
                <a:ea typeface="微软雅黑" pitchFamily="34" charset="-122"/>
              </a:rPr>
              <a:t>206.0.71.0/25</a:t>
            </a:r>
          </a:p>
        </p:txBody>
      </p:sp>
      <p:sp>
        <p:nvSpPr>
          <p:cNvPr id="75" name="Text Box 54"/>
          <p:cNvSpPr txBox="1">
            <a:spLocks noChangeArrowheads="1"/>
          </p:cNvSpPr>
          <p:nvPr/>
        </p:nvSpPr>
        <p:spPr bwMode="auto">
          <a:xfrm>
            <a:off x="6037750" y="1773014"/>
            <a:ext cx="1176925" cy="238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a:latin typeface="微软雅黑" pitchFamily="34" charset="-122"/>
                <a:ea typeface="微软雅黑" pitchFamily="34" charset="-122"/>
              </a:rPr>
              <a:t>206.0.71.128/25</a:t>
            </a:r>
          </a:p>
        </p:txBody>
      </p:sp>
      <p:sp>
        <p:nvSpPr>
          <p:cNvPr id="76" name="Text Box 56"/>
          <p:cNvSpPr txBox="1">
            <a:spLocks noChangeArrowheads="1"/>
          </p:cNvSpPr>
          <p:nvPr/>
        </p:nvSpPr>
        <p:spPr bwMode="auto">
          <a:xfrm>
            <a:off x="2792846" y="1773014"/>
            <a:ext cx="1026243" cy="238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206.0.68.0/23</a:t>
            </a:r>
          </a:p>
        </p:txBody>
      </p:sp>
      <p:sp>
        <p:nvSpPr>
          <p:cNvPr id="69" name="Text Box 28"/>
          <p:cNvSpPr txBox="1">
            <a:spLocks noChangeArrowheads="1"/>
          </p:cNvSpPr>
          <p:nvPr/>
        </p:nvSpPr>
        <p:spPr bwMode="auto">
          <a:xfrm>
            <a:off x="3046326" y="1408855"/>
            <a:ext cx="697627"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000" b="1" dirty="0">
                <a:latin typeface="微软雅黑" pitchFamily="34" charset="-122"/>
                <a:ea typeface="微软雅黑" pitchFamily="34" charset="-122"/>
              </a:rPr>
              <a:t>路由聚合</a:t>
            </a:r>
            <a:endParaRPr kumimoji="1" lang="en-US" altLang="zh-CN" sz="1000" b="1" dirty="0">
              <a:latin typeface="微软雅黑" pitchFamily="34" charset="-122"/>
              <a:ea typeface="微软雅黑" pitchFamily="34" charset="-122"/>
            </a:endParaRPr>
          </a:p>
        </p:txBody>
      </p:sp>
      <p:sp>
        <p:nvSpPr>
          <p:cNvPr id="70" name="Text Box 28"/>
          <p:cNvSpPr txBox="1">
            <a:spLocks noChangeArrowheads="1"/>
          </p:cNvSpPr>
          <p:nvPr/>
        </p:nvSpPr>
        <p:spPr bwMode="auto">
          <a:xfrm>
            <a:off x="6263664" y="1591549"/>
            <a:ext cx="697627"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000" b="1" dirty="0">
                <a:latin typeface="微软雅黑" pitchFamily="34" charset="-122"/>
                <a:ea typeface="微软雅黑" pitchFamily="34" charset="-122"/>
              </a:rPr>
              <a:t>路由聚合</a:t>
            </a:r>
            <a:endParaRPr kumimoji="1" lang="en-US" altLang="zh-CN" sz="1000" b="1" dirty="0">
              <a:latin typeface="微软雅黑" pitchFamily="34" charset="-122"/>
              <a:ea typeface="微软雅黑" pitchFamily="34" charset="-122"/>
            </a:endParaRPr>
          </a:p>
        </p:txBody>
      </p:sp>
      <p:sp>
        <p:nvSpPr>
          <p:cNvPr id="51" name="矩形 50"/>
          <p:cNvSpPr/>
          <p:nvPr/>
        </p:nvSpPr>
        <p:spPr>
          <a:xfrm>
            <a:off x="1921379" y="4349713"/>
            <a:ext cx="5549096" cy="338554"/>
          </a:xfrm>
          <a:prstGeom prst="rect">
            <a:avLst/>
          </a:prstGeom>
        </p:spPr>
        <p:txBody>
          <a:bodyPr wrap="square">
            <a:spAutoFit/>
          </a:bodyPr>
          <a:lstStyle/>
          <a:p>
            <a:pPr algn="ctr"/>
            <a:r>
              <a:rPr lang="zh-CN" altLang="en-US" sz="1600" b="1" dirty="0">
                <a:latin typeface="微软雅黑" panose="020B0503020204020204" pitchFamily="34" charset="-122"/>
                <a:ea typeface="微软雅黑" panose="020B0503020204020204" pitchFamily="34" charset="-122"/>
              </a:rPr>
              <a:t>可见：网络前缀越短，地址块所包含的地址数越多。</a:t>
            </a:r>
          </a:p>
        </p:txBody>
      </p:sp>
    </p:spTree>
    <p:extLst>
      <p:ext uri="{BB962C8B-B14F-4D97-AF65-F5344CB8AC3E}">
        <p14:creationId xmlns:p14="http://schemas.microsoft.com/office/powerpoint/2010/main" val="50926073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圆角矩形 3"/>
          <p:cNvSpPr/>
          <p:nvPr/>
        </p:nvSpPr>
        <p:spPr>
          <a:xfrm>
            <a:off x="545144" y="1011282"/>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8" name="Oval 44"/>
          <p:cNvSpPr>
            <a:spLocks noChangeArrowheads="1"/>
          </p:cNvSpPr>
          <p:nvPr/>
        </p:nvSpPr>
        <p:spPr bwMode="auto">
          <a:xfrm>
            <a:off x="1547664" y="2018775"/>
            <a:ext cx="1452277" cy="788987"/>
          </a:xfrm>
          <a:prstGeom prst="ellipse">
            <a:avLst/>
          </a:prstGeom>
          <a:solidFill>
            <a:srgbClr val="99FFCC"/>
          </a:solidFill>
          <a:ln w="9525">
            <a:solidFill>
              <a:srgbClr val="000000"/>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2" name="AutoShape 5"/>
          <p:cNvSpPr>
            <a:spLocks noChangeArrowheads="1"/>
          </p:cNvSpPr>
          <p:nvPr/>
        </p:nvSpPr>
        <p:spPr bwMode="auto">
          <a:xfrm>
            <a:off x="545144" y="620249"/>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79065"/>
            <a:ext cx="2699778" cy="400110"/>
          </a:xfrm>
          <a:prstGeom prst="rect">
            <a:avLst/>
          </a:prstGeom>
        </p:spPr>
        <p:txBody>
          <a:bodyPr wrap="none">
            <a:spAutoFit/>
          </a:bodyPr>
          <a:lstStyle/>
          <a:p>
            <a:r>
              <a:rPr lang="en-US" altLang="zh-CN" sz="2000" b="1" dirty="0">
                <a:latin typeface="微软雅黑" pitchFamily="34" charset="-122"/>
                <a:ea typeface="微软雅黑" pitchFamily="34" charset="-122"/>
              </a:rPr>
              <a:t>CIDR </a:t>
            </a:r>
            <a:r>
              <a:rPr lang="zh-CN" altLang="en-US" sz="2000" b="1" dirty="0">
                <a:latin typeface="微软雅黑" pitchFamily="34" charset="-122"/>
                <a:ea typeface="微软雅黑" pitchFamily="34" charset="-122"/>
              </a:rPr>
              <a:t>地址块划分举例</a:t>
            </a:r>
          </a:p>
        </p:txBody>
      </p:sp>
      <p:grpSp>
        <p:nvGrpSpPr>
          <p:cNvPr id="6" name="组合 5"/>
          <p:cNvGrpSpPr/>
          <p:nvPr/>
        </p:nvGrpSpPr>
        <p:grpSpPr>
          <a:xfrm>
            <a:off x="1860397" y="1189623"/>
            <a:ext cx="920485" cy="415023"/>
            <a:chOff x="228434" y="1033063"/>
            <a:chExt cx="1637241" cy="738189"/>
          </a:xfrm>
          <a:solidFill>
            <a:srgbClr val="002060"/>
          </a:solidFill>
        </p:grpSpPr>
        <p:grpSp>
          <p:nvGrpSpPr>
            <p:cNvPr id="7" name="Group 5"/>
            <p:cNvGrpSpPr>
              <a:grpSpLocks/>
            </p:cNvGrpSpPr>
            <p:nvPr/>
          </p:nvGrpSpPr>
          <p:grpSpPr bwMode="auto">
            <a:xfrm>
              <a:off x="237985" y="1047511"/>
              <a:ext cx="1627690" cy="723741"/>
              <a:chOff x="3134" y="1375"/>
              <a:chExt cx="2386" cy="1553"/>
            </a:xfrm>
            <a:grpFill/>
          </p:grpSpPr>
          <p:sp>
            <p:nvSpPr>
              <p:cNvPr id="18" name="Oval 6"/>
              <p:cNvSpPr>
                <a:spLocks noChangeArrowheads="1"/>
              </p:cNvSpPr>
              <p:nvPr/>
            </p:nvSpPr>
            <p:spPr bwMode="auto">
              <a:xfrm>
                <a:off x="3959" y="1375"/>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9" name="Oval 7"/>
              <p:cNvSpPr>
                <a:spLocks noChangeArrowheads="1"/>
              </p:cNvSpPr>
              <p:nvPr/>
            </p:nvSpPr>
            <p:spPr bwMode="auto">
              <a:xfrm>
                <a:off x="3380" y="1548"/>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0" name="Oval 8"/>
              <p:cNvSpPr>
                <a:spLocks noChangeArrowheads="1"/>
              </p:cNvSpPr>
              <p:nvPr/>
            </p:nvSpPr>
            <p:spPr bwMode="auto">
              <a:xfrm>
                <a:off x="3134" y="1940"/>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1" name="Oval 9"/>
              <p:cNvSpPr>
                <a:spLocks noChangeArrowheads="1"/>
              </p:cNvSpPr>
              <p:nvPr/>
            </p:nvSpPr>
            <p:spPr bwMode="auto">
              <a:xfrm>
                <a:off x="3293" y="2175"/>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2" name="Oval 10"/>
              <p:cNvSpPr>
                <a:spLocks noChangeArrowheads="1"/>
              </p:cNvSpPr>
              <p:nvPr/>
            </p:nvSpPr>
            <p:spPr bwMode="auto">
              <a:xfrm>
                <a:off x="3872" y="2269"/>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3" name="Oval 11"/>
              <p:cNvSpPr>
                <a:spLocks noChangeArrowheads="1"/>
              </p:cNvSpPr>
              <p:nvPr/>
            </p:nvSpPr>
            <p:spPr bwMode="auto">
              <a:xfrm>
                <a:off x="4653" y="1564"/>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4" name="Oval 12"/>
              <p:cNvSpPr>
                <a:spLocks noChangeArrowheads="1"/>
              </p:cNvSpPr>
              <p:nvPr/>
            </p:nvSpPr>
            <p:spPr bwMode="auto">
              <a:xfrm>
                <a:off x="4768" y="1893"/>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5" name="Oval 13"/>
              <p:cNvSpPr>
                <a:spLocks noChangeArrowheads="1"/>
              </p:cNvSpPr>
              <p:nvPr/>
            </p:nvSpPr>
            <p:spPr bwMode="auto">
              <a:xfrm>
                <a:off x="4696" y="2003"/>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6" name="Oval 14"/>
              <p:cNvSpPr>
                <a:spLocks noChangeArrowheads="1"/>
              </p:cNvSpPr>
              <p:nvPr/>
            </p:nvSpPr>
            <p:spPr bwMode="auto">
              <a:xfrm>
                <a:off x="3568" y="1752"/>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grpSp>
        <p:sp>
          <p:nvSpPr>
            <p:cNvPr id="8" name="Oval 15"/>
            <p:cNvSpPr>
              <a:spLocks noChangeArrowheads="1"/>
            </p:cNvSpPr>
            <p:nvPr/>
          </p:nvSpPr>
          <p:spPr bwMode="auto">
            <a:xfrm>
              <a:off x="790553" y="1033063"/>
              <a:ext cx="700603" cy="292198"/>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9" name="Oval 16"/>
            <p:cNvSpPr>
              <a:spLocks noChangeArrowheads="1"/>
            </p:cNvSpPr>
            <p:nvPr/>
          </p:nvSpPr>
          <p:spPr bwMode="auto">
            <a:xfrm>
              <a:off x="396252" y="1113687"/>
              <a:ext cx="532785" cy="292198"/>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0" name="Oval 17"/>
            <p:cNvSpPr>
              <a:spLocks noChangeArrowheads="1"/>
            </p:cNvSpPr>
            <p:nvPr/>
          </p:nvSpPr>
          <p:spPr bwMode="auto">
            <a:xfrm>
              <a:off x="228434" y="1296369"/>
              <a:ext cx="354737" cy="233479"/>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1" name="Oval 18"/>
            <p:cNvSpPr>
              <a:spLocks noChangeArrowheads="1"/>
            </p:cNvSpPr>
            <p:nvPr/>
          </p:nvSpPr>
          <p:spPr bwMode="auto">
            <a:xfrm>
              <a:off x="336901" y="1405885"/>
              <a:ext cx="542335" cy="255849"/>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2" name="Oval 19"/>
            <p:cNvSpPr>
              <a:spLocks noChangeArrowheads="1"/>
            </p:cNvSpPr>
            <p:nvPr/>
          </p:nvSpPr>
          <p:spPr bwMode="auto">
            <a:xfrm>
              <a:off x="731204" y="1449692"/>
              <a:ext cx="818622" cy="307112"/>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3" name="Oval 20"/>
            <p:cNvSpPr>
              <a:spLocks noChangeArrowheads="1"/>
            </p:cNvSpPr>
            <p:nvPr/>
          </p:nvSpPr>
          <p:spPr bwMode="auto">
            <a:xfrm>
              <a:off x="1263990" y="1120677"/>
              <a:ext cx="513001" cy="226490"/>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4" name="Oval 21"/>
            <p:cNvSpPr>
              <a:spLocks noChangeArrowheads="1"/>
            </p:cNvSpPr>
            <p:nvPr/>
          </p:nvSpPr>
          <p:spPr bwMode="auto">
            <a:xfrm>
              <a:off x="1343123" y="1274464"/>
              <a:ext cx="513001" cy="226490"/>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5" name="Oval 22"/>
            <p:cNvSpPr>
              <a:spLocks noChangeArrowheads="1"/>
            </p:cNvSpPr>
            <p:nvPr/>
          </p:nvSpPr>
          <p:spPr bwMode="auto">
            <a:xfrm>
              <a:off x="1293324" y="1325261"/>
              <a:ext cx="513001" cy="380278"/>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6" name="Oval 23"/>
            <p:cNvSpPr>
              <a:spLocks noChangeArrowheads="1"/>
            </p:cNvSpPr>
            <p:nvPr/>
          </p:nvSpPr>
          <p:spPr bwMode="auto">
            <a:xfrm>
              <a:off x="524501" y="1208289"/>
              <a:ext cx="1055339" cy="380278"/>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7" name="Text Box 24"/>
            <p:cNvSpPr txBox="1">
              <a:spLocks noChangeArrowheads="1"/>
            </p:cNvSpPr>
            <p:nvPr/>
          </p:nvSpPr>
          <p:spPr bwMode="auto">
            <a:xfrm>
              <a:off x="548205" y="1196955"/>
              <a:ext cx="1081183" cy="465318"/>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050" b="1" dirty="0">
                  <a:solidFill>
                    <a:schemeClr val="bg1"/>
                  </a:solidFill>
                  <a:latin typeface="微软雅黑" pitchFamily="34" charset="-122"/>
                  <a:ea typeface="微软雅黑" pitchFamily="34" charset="-122"/>
                </a:rPr>
                <a:t>互联网</a:t>
              </a:r>
            </a:p>
          </p:txBody>
        </p:sp>
      </p:grpSp>
      <p:sp>
        <p:nvSpPr>
          <p:cNvPr id="27" name="Oval 25"/>
          <p:cNvSpPr>
            <a:spLocks noChangeArrowheads="1"/>
          </p:cNvSpPr>
          <p:nvPr/>
        </p:nvSpPr>
        <p:spPr bwMode="auto">
          <a:xfrm>
            <a:off x="3906711" y="1106620"/>
            <a:ext cx="1599245" cy="539082"/>
          </a:xfrm>
          <a:prstGeom prst="ellipse">
            <a:avLst/>
          </a:prstGeom>
          <a:solidFill>
            <a:srgbClr val="3399FF"/>
          </a:solidFill>
          <a:ln w="9525">
            <a:solidFill>
              <a:srgbClr val="000000"/>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28" name="Oval 26"/>
          <p:cNvSpPr>
            <a:spLocks noChangeArrowheads="1"/>
          </p:cNvSpPr>
          <p:nvPr/>
        </p:nvSpPr>
        <p:spPr bwMode="auto">
          <a:xfrm>
            <a:off x="4246091" y="1189626"/>
            <a:ext cx="1018141" cy="373966"/>
          </a:xfrm>
          <a:prstGeom prst="ellipse">
            <a:avLst/>
          </a:prstGeom>
          <a:solidFill>
            <a:schemeClr val="bg1"/>
          </a:solidFill>
          <a:ln w="9525">
            <a:solidFill>
              <a:schemeClr val="bg1"/>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29" name="Text Box 27"/>
          <p:cNvSpPr txBox="1">
            <a:spLocks noChangeArrowheads="1"/>
          </p:cNvSpPr>
          <p:nvPr/>
        </p:nvSpPr>
        <p:spPr bwMode="auto">
          <a:xfrm>
            <a:off x="4213355" y="1244579"/>
            <a:ext cx="1063112"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1" hangingPunct="1"/>
            <a:r>
              <a:rPr kumimoji="1" lang="en-US" altLang="zh-CN" sz="1000" b="1" dirty="0">
                <a:solidFill>
                  <a:srgbClr val="C00000"/>
                </a:solidFill>
                <a:latin typeface="微软雅黑" pitchFamily="34" charset="-122"/>
                <a:ea typeface="微软雅黑" pitchFamily="34" charset="-122"/>
              </a:rPr>
              <a:t>206.0.68.0/22</a:t>
            </a:r>
          </a:p>
        </p:txBody>
      </p:sp>
      <p:sp>
        <p:nvSpPr>
          <p:cNvPr id="30" name="Text Box 28"/>
          <p:cNvSpPr txBox="1">
            <a:spLocks noChangeArrowheads="1"/>
          </p:cNvSpPr>
          <p:nvPr/>
        </p:nvSpPr>
        <p:spPr bwMode="auto">
          <a:xfrm>
            <a:off x="2917375" y="1142066"/>
            <a:ext cx="1026243" cy="238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solidFill>
                  <a:srgbClr val="C00000"/>
                </a:solidFill>
                <a:latin typeface="微软雅黑" pitchFamily="34" charset="-122"/>
                <a:ea typeface="微软雅黑" pitchFamily="34" charset="-122"/>
              </a:rPr>
              <a:t>206.0.64.0/18</a:t>
            </a:r>
          </a:p>
        </p:txBody>
      </p:sp>
      <p:sp>
        <p:nvSpPr>
          <p:cNvPr id="31" name="AutoShape 29"/>
          <p:cNvSpPr>
            <a:spLocks noChangeArrowheads="1"/>
          </p:cNvSpPr>
          <p:nvPr/>
        </p:nvSpPr>
        <p:spPr bwMode="auto">
          <a:xfrm>
            <a:off x="2793813" y="1324395"/>
            <a:ext cx="1065519" cy="124060"/>
          </a:xfrm>
          <a:prstGeom prst="leftArrow">
            <a:avLst>
              <a:gd name="adj1" fmla="val 50000"/>
              <a:gd name="adj2" fmla="val 198202"/>
            </a:avLst>
          </a:prstGeom>
          <a:solidFill>
            <a:srgbClr val="00FF99"/>
          </a:solidFill>
          <a:ln w="9525">
            <a:solidFill>
              <a:srgbClr val="333399"/>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32" name="Text Box 30"/>
          <p:cNvSpPr txBox="1">
            <a:spLocks noChangeArrowheads="1"/>
          </p:cNvSpPr>
          <p:nvPr/>
        </p:nvSpPr>
        <p:spPr bwMode="auto">
          <a:xfrm>
            <a:off x="3810988" y="992972"/>
            <a:ext cx="42992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1200" b="1" dirty="0">
                <a:solidFill>
                  <a:srgbClr val="C00000"/>
                </a:solidFill>
                <a:latin typeface="微软雅黑" pitchFamily="34" charset="-122"/>
                <a:ea typeface="微软雅黑" pitchFamily="34" charset="-122"/>
              </a:rPr>
              <a:t>ISP</a:t>
            </a:r>
          </a:p>
        </p:txBody>
      </p:sp>
      <p:sp>
        <p:nvSpPr>
          <p:cNvPr id="33" name="Text Box 31"/>
          <p:cNvSpPr txBox="1">
            <a:spLocks noChangeArrowheads="1"/>
          </p:cNvSpPr>
          <p:nvPr/>
        </p:nvSpPr>
        <p:spPr bwMode="auto">
          <a:xfrm>
            <a:off x="5602646" y="1033136"/>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200" b="1" dirty="0">
                <a:solidFill>
                  <a:srgbClr val="0000CC"/>
                </a:solidFill>
                <a:latin typeface="微软雅黑" pitchFamily="34" charset="-122"/>
                <a:ea typeface="微软雅黑" pitchFamily="34" charset="-122"/>
              </a:rPr>
              <a:t>大学 </a:t>
            </a:r>
            <a:r>
              <a:rPr kumimoji="1" lang="en-US" altLang="zh-CN" sz="1200" b="1" dirty="0">
                <a:solidFill>
                  <a:srgbClr val="0000CC"/>
                </a:solidFill>
                <a:latin typeface="微软雅黑" pitchFamily="34" charset="-122"/>
                <a:ea typeface="微软雅黑" pitchFamily="34" charset="-122"/>
              </a:rPr>
              <a:t>X</a:t>
            </a:r>
          </a:p>
        </p:txBody>
      </p:sp>
      <p:sp>
        <p:nvSpPr>
          <p:cNvPr id="34" name="Line 32"/>
          <p:cNvSpPr>
            <a:spLocks noChangeShapeType="1"/>
          </p:cNvSpPr>
          <p:nvPr/>
        </p:nvSpPr>
        <p:spPr bwMode="auto">
          <a:xfrm flipV="1">
            <a:off x="5214921" y="1198252"/>
            <a:ext cx="387725" cy="124060"/>
          </a:xfrm>
          <a:prstGeom prst="line">
            <a:avLst/>
          </a:prstGeom>
          <a:noFill/>
          <a:ln w="12700">
            <a:solidFill>
              <a:srgbClr val="333399"/>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35" name="Text Box 33"/>
          <p:cNvSpPr txBox="1">
            <a:spLocks noChangeArrowheads="1"/>
          </p:cNvSpPr>
          <p:nvPr/>
        </p:nvSpPr>
        <p:spPr bwMode="auto">
          <a:xfrm>
            <a:off x="2786403" y="2604268"/>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200" b="1" dirty="0">
                <a:solidFill>
                  <a:srgbClr val="0000CC"/>
                </a:solidFill>
                <a:latin typeface="微软雅黑" pitchFamily="34" charset="-122"/>
                <a:ea typeface="微软雅黑" pitchFamily="34" charset="-122"/>
              </a:rPr>
              <a:t>一系</a:t>
            </a:r>
          </a:p>
        </p:txBody>
      </p:sp>
      <p:sp>
        <p:nvSpPr>
          <p:cNvPr id="36" name="Text Box 34"/>
          <p:cNvSpPr txBox="1">
            <a:spLocks noChangeArrowheads="1"/>
          </p:cNvSpPr>
          <p:nvPr/>
        </p:nvSpPr>
        <p:spPr bwMode="auto">
          <a:xfrm>
            <a:off x="4556465" y="2599805"/>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200" b="1">
                <a:solidFill>
                  <a:srgbClr val="0000CC"/>
                </a:solidFill>
                <a:latin typeface="微软雅黑" pitchFamily="34" charset="-122"/>
                <a:ea typeface="微软雅黑" pitchFamily="34" charset="-122"/>
              </a:rPr>
              <a:t>二系</a:t>
            </a:r>
          </a:p>
        </p:txBody>
      </p:sp>
      <p:sp>
        <p:nvSpPr>
          <p:cNvPr id="37" name="Text Box 35"/>
          <p:cNvSpPr txBox="1">
            <a:spLocks noChangeArrowheads="1"/>
          </p:cNvSpPr>
          <p:nvPr/>
        </p:nvSpPr>
        <p:spPr bwMode="auto">
          <a:xfrm>
            <a:off x="5214921" y="2496273"/>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200" b="1">
                <a:solidFill>
                  <a:srgbClr val="0000CC"/>
                </a:solidFill>
                <a:latin typeface="微软雅黑" pitchFamily="34" charset="-122"/>
                <a:ea typeface="微软雅黑" pitchFamily="34" charset="-122"/>
              </a:rPr>
              <a:t>三系</a:t>
            </a:r>
          </a:p>
        </p:txBody>
      </p:sp>
      <p:sp>
        <p:nvSpPr>
          <p:cNvPr id="38" name="Text Box 36"/>
          <p:cNvSpPr txBox="1">
            <a:spLocks noChangeArrowheads="1"/>
          </p:cNvSpPr>
          <p:nvPr/>
        </p:nvSpPr>
        <p:spPr bwMode="auto">
          <a:xfrm>
            <a:off x="6530866" y="2496273"/>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200" b="1">
                <a:solidFill>
                  <a:srgbClr val="0000CC"/>
                </a:solidFill>
                <a:latin typeface="微软雅黑" pitchFamily="34" charset="-122"/>
                <a:ea typeface="微软雅黑" pitchFamily="34" charset="-122"/>
              </a:rPr>
              <a:t>四系</a:t>
            </a:r>
          </a:p>
        </p:txBody>
      </p:sp>
      <p:sp>
        <p:nvSpPr>
          <p:cNvPr id="39" name="AutoShape 37"/>
          <p:cNvSpPr>
            <a:spLocks noChangeArrowheads="1"/>
          </p:cNvSpPr>
          <p:nvPr/>
        </p:nvSpPr>
        <p:spPr bwMode="auto">
          <a:xfrm rot="1625099">
            <a:off x="5054415" y="1700145"/>
            <a:ext cx="1524795" cy="97285"/>
          </a:xfrm>
          <a:prstGeom prst="leftArrow">
            <a:avLst>
              <a:gd name="adj1" fmla="val 27083"/>
              <a:gd name="adj2" fmla="val 410994"/>
            </a:avLst>
          </a:prstGeom>
          <a:solidFill>
            <a:srgbClr val="FFFF00"/>
          </a:solidFill>
          <a:ln w="9525">
            <a:solidFill>
              <a:srgbClr val="333399"/>
            </a:solidFill>
            <a:miter lim="800000"/>
            <a:headEnd/>
            <a:tailEnd/>
          </a:ln>
          <a:effectLst/>
        </p:spPr>
        <p:txBody>
          <a:bodyPr wrap="none" anchor="ct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40" name="Oval 38"/>
          <p:cNvSpPr>
            <a:spLocks noChangeArrowheads="1"/>
          </p:cNvSpPr>
          <p:nvPr/>
        </p:nvSpPr>
        <p:spPr bwMode="auto">
          <a:xfrm>
            <a:off x="6087061" y="2018775"/>
            <a:ext cx="1210553" cy="498918"/>
          </a:xfrm>
          <a:prstGeom prst="ellipse">
            <a:avLst/>
          </a:prstGeom>
          <a:solidFill>
            <a:srgbClr val="99FFCC"/>
          </a:solidFill>
          <a:ln w="9525">
            <a:solidFill>
              <a:srgbClr val="000000"/>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41" name="Text Box 39"/>
          <p:cNvSpPr txBox="1">
            <a:spLocks noChangeArrowheads="1"/>
          </p:cNvSpPr>
          <p:nvPr/>
        </p:nvSpPr>
        <p:spPr bwMode="auto">
          <a:xfrm>
            <a:off x="6108110" y="2084878"/>
            <a:ext cx="1176925" cy="3847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206.0.71.128/26</a:t>
            </a:r>
          </a:p>
          <a:p>
            <a:pPr eaLnBrk="1" hangingPunct="1"/>
            <a:r>
              <a:rPr kumimoji="1" lang="en-US" altLang="zh-CN" sz="950" b="1" dirty="0">
                <a:latin typeface="微软雅黑" pitchFamily="34" charset="-122"/>
                <a:ea typeface="微软雅黑" pitchFamily="34" charset="-122"/>
              </a:rPr>
              <a:t>206.0.71.192/26</a:t>
            </a:r>
          </a:p>
        </p:txBody>
      </p:sp>
      <p:sp>
        <p:nvSpPr>
          <p:cNvPr id="42" name="AutoShape 40"/>
          <p:cNvSpPr>
            <a:spLocks noChangeArrowheads="1"/>
          </p:cNvSpPr>
          <p:nvPr/>
        </p:nvSpPr>
        <p:spPr bwMode="auto">
          <a:xfrm rot="8870696">
            <a:off x="2822820" y="1753696"/>
            <a:ext cx="1629220" cy="103532"/>
          </a:xfrm>
          <a:prstGeom prst="leftArrow">
            <a:avLst>
              <a:gd name="adj1" fmla="val 27083"/>
              <a:gd name="adj2" fmla="val 412642"/>
            </a:avLst>
          </a:prstGeom>
          <a:solidFill>
            <a:srgbClr val="FFFF00"/>
          </a:solidFill>
          <a:ln w="9525">
            <a:solidFill>
              <a:srgbClr val="333399"/>
            </a:solidFill>
            <a:miter lim="800000"/>
            <a:headEnd/>
            <a:tailEnd/>
          </a:ln>
          <a:effectLst/>
        </p:spPr>
        <p:txBody>
          <a:bodyPr wrap="none" anchor="ct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43" name="Text Box 42"/>
          <p:cNvSpPr txBox="1">
            <a:spLocks noChangeArrowheads="1"/>
          </p:cNvSpPr>
          <p:nvPr/>
        </p:nvSpPr>
        <p:spPr bwMode="auto">
          <a:xfrm>
            <a:off x="1717531" y="2076790"/>
            <a:ext cx="1176925" cy="6771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206.0.68.0/25</a:t>
            </a:r>
          </a:p>
          <a:p>
            <a:pPr eaLnBrk="1" hangingPunct="1"/>
            <a:r>
              <a:rPr kumimoji="1" lang="en-US" altLang="zh-CN" sz="950" b="1" dirty="0">
                <a:latin typeface="微软雅黑" pitchFamily="34" charset="-122"/>
                <a:ea typeface="微软雅黑" pitchFamily="34" charset="-122"/>
              </a:rPr>
              <a:t>206.0.68.128/25</a:t>
            </a:r>
          </a:p>
          <a:p>
            <a:pPr eaLnBrk="1" hangingPunct="1"/>
            <a:r>
              <a:rPr kumimoji="1" lang="en-US" altLang="zh-CN" sz="950" b="1" dirty="0">
                <a:latin typeface="微软雅黑" pitchFamily="34" charset="-122"/>
                <a:ea typeface="微软雅黑" pitchFamily="34" charset="-122"/>
              </a:rPr>
              <a:t>206.0.69.0/25</a:t>
            </a:r>
          </a:p>
          <a:p>
            <a:pPr eaLnBrk="1" hangingPunct="1"/>
            <a:r>
              <a:rPr kumimoji="1" lang="en-US" altLang="zh-CN" sz="950" b="1" dirty="0">
                <a:latin typeface="微软雅黑" pitchFamily="34" charset="-122"/>
                <a:ea typeface="微软雅黑" pitchFamily="34" charset="-122"/>
              </a:rPr>
              <a:t>206.0.69.128/25</a:t>
            </a:r>
          </a:p>
        </p:txBody>
      </p:sp>
      <p:sp>
        <p:nvSpPr>
          <p:cNvPr id="44" name="AutoShape 43"/>
          <p:cNvSpPr>
            <a:spLocks noChangeArrowheads="1"/>
          </p:cNvSpPr>
          <p:nvPr/>
        </p:nvSpPr>
        <p:spPr bwMode="auto">
          <a:xfrm rot="7490917">
            <a:off x="3716642" y="1873778"/>
            <a:ext cx="1204901" cy="115061"/>
          </a:xfrm>
          <a:prstGeom prst="leftArrow">
            <a:avLst>
              <a:gd name="adj1" fmla="val 27083"/>
              <a:gd name="adj2" fmla="val 322268"/>
            </a:avLst>
          </a:prstGeom>
          <a:solidFill>
            <a:srgbClr val="FFFF00"/>
          </a:solidFill>
          <a:ln w="9525">
            <a:solidFill>
              <a:srgbClr val="333399"/>
            </a:solidFill>
            <a:miter lim="800000"/>
            <a:headEnd/>
            <a:tailEnd/>
          </a:ln>
          <a:effectLst/>
        </p:spPr>
        <p:txBody>
          <a:bodyPr wrap="none" anchor="ct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45" name="Oval 44"/>
          <p:cNvSpPr>
            <a:spLocks noChangeArrowheads="1"/>
          </p:cNvSpPr>
          <p:nvPr/>
        </p:nvSpPr>
        <p:spPr bwMode="auto">
          <a:xfrm>
            <a:off x="3278229" y="2018775"/>
            <a:ext cx="1452277" cy="788987"/>
          </a:xfrm>
          <a:prstGeom prst="ellipse">
            <a:avLst/>
          </a:prstGeom>
          <a:solidFill>
            <a:srgbClr val="99FFCC"/>
          </a:solidFill>
          <a:ln w="9525">
            <a:solidFill>
              <a:srgbClr val="000000"/>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46" name="Text Box 45"/>
          <p:cNvSpPr txBox="1">
            <a:spLocks noChangeArrowheads="1"/>
          </p:cNvSpPr>
          <p:nvPr/>
        </p:nvSpPr>
        <p:spPr bwMode="auto">
          <a:xfrm>
            <a:off x="3451713" y="2076790"/>
            <a:ext cx="1176925" cy="6771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206.0.70.0/26</a:t>
            </a:r>
          </a:p>
          <a:p>
            <a:pPr eaLnBrk="1" hangingPunct="1"/>
            <a:r>
              <a:rPr kumimoji="1" lang="en-US" altLang="zh-CN" sz="950" b="1" dirty="0">
                <a:latin typeface="微软雅黑" pitchFamily="34" charset="-122"/>
                <a:ea typeface="微软雅黑" pitchFamily="34" charset="-122"/>
              </a:rPr>
              <a:t>206.0.70.64/26</a:t>
            </a:r>
          </a:p>
          <a:p>
            <a:pPr eaLnBrk="1" hangingPunct="1"/>
            <a:r>
              <a:rPr kumimoji="1" lang="en-US" altLang="zh-CN" sz="950" b="1" dirty="0">
                <a:latin typeface="微软雅黑" pitchFamily="34" charset="-122"/>
                <a:ea typeface="微软雅黑" pitchFamily="34" charset="-122"/>
              </a:rPr>
              <a:t>206.0.70.128/26</a:t>
            </a:r>
          </a:p>
          <a:p>
            <a:pPr eaLnBrk="1" hangingPunct="1"/>
            <a:r>
              <a:rPr kumimoji="1" lang="en-US" altLang="zh-CN" sz="950" b="1" dirty="0">
                <a:latin typeface="微软雅黑" pitchFamily="34" charset="-122"/>
                <a:ea typeface="微软雅黑" pitchFamily="34" charset="-122"/>
              </a:rPr>
              <a:t>206.0.70.192/26</a:t>
            </a:r>
          </a:p>
        </p:txBody>
      </p:sp>
      <p:sp>
        <p:nvSpPr>
          <p:cNvPr id="47" name="Rectangle 46"/>
          <p:cNvSpPr>
            <a:spLocks noChangeArrowheads="1"/>
          </p:cNvSpPr>
          <p:nvPr/>
        </p:nvSpPr>
        <p:spPr bwMode="auto">
          <a:xfrm>
            <a:off x="3859332" y="1805463"/>
            <a:ext cx="920485" cy="162438"/>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49" name="AutoShape 48"/>
          <p:cNvSpPr>
            <a:spLocks noChangeArrowheads="1"/>
          </p:cNvSpPr>
          <p:nvPr/>
        </p:nvSpPr>
        <p:spPr bwMode="auto">
          <a:xfrm rot="14362323" flipH="1">
            <a:off x="4633779" y="1901001"/>
            <a:ext cx="1205794" cy="115060"/>
          </a:xfrm>
          <a:prstGeom prst="leftArrow">
            <a:avLst>
              <a:gd name="adj1" fmla="val 27083"/>
              <a:gd name="adj2" fmla="val 322509"/>
            </a:avLst>
          </a:prstGeom>
          <a:solidFill>
            <a:srgbClr val="FFFF00"/>
          </a:solidFill>
          <a:ln w="9525">
            <a:solidFill>
              <a:srgbClr val="333399"/>
            </a:solidFill>
            <a:miter lim="800000"/>
            <a:headEnd/>
            <a:tailEnd/>
          </a:ln>
          <a:effectLst/>
        </p:spPr>
        <p:txBody>
          <a:bodyPr wrap="none" anchor="ct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50" name="Rectangle 49"/>
          <p:cNvSpPr>
            <a:spLocks noChangeArrowheads="1"/>
          </p:cNvSpPr>
          <p:nvPr/>
        </p:nvSpPr>
        <p:spPr bwMode="auto">
          <a:xfrm>
            <a:off x="4876506" y="1805463"/>
            <a:ext cx="940306" cy="166901"/>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52" name="Oval 51"/>
          <p:cNvSpPr>
            <a:spLocks noChangeArrowheads="1"/>
          </p:cNvSpPr>
          <p:nvPr/>
        </p:nvSpPr>
        <p:spPr bwMode="auto">
          <a:xfrm>
            <a:off x="4779818" y="2018775"/>
            <a:ext cx="1210553" cy="498918"/>
          </a:xfrm>
          <a:prstGeom prst="ellipse">
            <a:avLst/>
          </a:prstGeom>
          <a:solidFill>
            <a:srgbClr val="99FFCC"/>
          </a:solidFill>
          <a:ln w="9525">
            <a:solidFill>
              <a:srgbClr val="000000"/>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53" name="Text Box 52"/>
          <p:cNvSpPr txBox="1">
            <a:spLocks noChangeArrowheads="1"/>
          </p:cNvSpPr>
          <p:nvPr/>
        </p:nvSpPr>
        <p:spPr bwMode="auto">
          <a:xfrm>
            <a:off x="4856035" y="2078054"/>
            <a:ext cx="1101584" cy="3847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206.0.71.0/26</a:t>
            </a:r>
          </a:p>
          <a:p>
            <a:pPr eaLnBrk="1" hangingPunct="1"/>
            <a:r>
              <a:rPr kumimoji="1" lang="en-US" altLang="zh-CN" sz="950" b="1" dirty="0">
                <a:latin typeface="微软雅黑" pitchFamily="34" charset="-122"/>
                <a:ea typeface="微软雅黑" pitchFamily="34" charset="-122"/>
              </a:rPr>
              <a:t>206.0.71.64/26</a:t>
            </a:r>
          </a:p>
        </p:txBody>
      </p:sp>
      <p:sp>
        <p:nvSpPr>
          <p:cNvPr id="54" name="Rectangle 53"/>
          <p:cNvSpPr>
            <a:spLocks noChangeArrowheads="1"/>
          </p:cNvSpPr>
          <p:nvPr/>
        </p:nvSpPr>
        <p:spPr bwMode="auto">
          <a:xfrm>
            <a:off x="6087061" y="1805463"/>
            <a:ext cx="1065454" cy="166902"/>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56" name="Rectangle 55"/>
          <p:cNvSpPr>
            <a:spLocks noChangeArrowheads="1"/>
          </p:cNvSpPr>
          <p:nvPr/>
        </p:nvSpPr>
        <p:spPr bwMode="auto">
          <a:xfrm>
            <a:off x="2842159" y="1805463"/>
            <a:ext cx="910808" cy="166902"/>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grpSp>
        <p:nvGrpSpPr>
          <p:cNvPr id="48" name="组合 47"/>
          <p:cNvGrpSpPr/>
          <p:nvPr/>
        </p:nvGrpSpPr>
        <p:grpSpPr>
          <a:xfrm>
            <a:off x="1973180" y="2879661"/>
            <a:ext cx="5333401" cy="1423467"/>
            <a:chOff x="2344108" y="2888287"/>
            <a:chExt cx="5333401" cy="1423467"/>
          </a:xfrm>
        </p:grpSpPr>
        <p:sp>
          <p:nvSpPr>
            <p:cNvPr id="5" name="Rectangle 3"/>
            <p:cNvSpPr>
              <a:spLocks noChangeArrowheads="1"/>
            </p:cNvSpPr>
            <p:nvPr/>
          </p:nvSpPr>
          <p:spPr bwMode="auto">
            <a:xfrm>
              <a:off x="2358284" y="2924384"/>
              <a:ext cx="5232961" cy="1344134"/>
            </a:xfrm>
            <a:prstGeom prst="rect">
              <a:avLst/>
            </a:prstGeom>
            <a:solidFill>
              <a:srgbClr val="00FFFF"/>
            </a:solidFill>
            <a:ln w="28575">
              <a:solidFill>
                <a:srgbClr val="333399"/>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66" name="Text Box 57"/>
            <p:cNvSpPr txBox="1">
              <a:spLocks noChangeArrowheads="1"/>
            </p:cNvSpPr>
            <p:nvPr/>
          </p:nvSpPr>
          <p:spPr bwMode="auto">
            <a:xfrm>
              <a:off x="2344108" y="2888287"/>
              <a:ext cx="5333401" cy="14234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lnSpc>
                  <a:spcPct val="145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单位         地址块                            二进制表示的地址块                    相当于 </a:t>
              </a:r>
              <a:r>
                <a:rPr kumimoji="1" lang="en-US" altLang="zh-CN" sz="1000" b="1" dirty="0">
                  <a:latin typeface="微软雅黑" pitchFamily="34" charset="-122"/>
                  <a:ea typeface="微软雅黑" pitchFamily="34" charset="-122"/>
                </a:rPr>
                <a:t>C </a:t>
              </a:r>
              <a:r>
                <a:rPr kumimoji="1" lang="zh-CN" altLang="en-US" sz="1000" b="1" dirty="0">
                  <a:latin typeface="微软雅黑" pitchFamily="34" charset="-122"/>
                  <a:ea typeface="微软雅黑" pitchFamily="34" charset="-122"/>
                </a:rPr>
                <a:t>类网络数</a:t>
              </a:r>
            </a:p>
            <a:p>
              <a:pPr eaLnBrk="1" hangingPunct="1">
                <a:lnSpc>
                  <a:spcPct val="120000"/>
                </a:lnSpc>
              </a:pPr>
              <a:r>
                <a:rPr kumimoji="1" lang="zh-CN" altLang="en-US" sz="1000" b="1" dirty="0">
                  <a:latin typeface="微软雅黑" pitchFamily="34" charset="-122"/>
                  <a:ea typeface="微软雅黑" pitchFamily="34" charset="-122"/>
                </a:rPr>
                <a:t>   </a:t>
              </a:r>
              <a:r>
                <a:rPr kumimoji="1" lang="en-US" altLang="zh-CN" sz="1000" b="1" dirty="0">
                  <a:latin typeface="微软雅黑" pitchFamily="34" charset="-122"/>
                  <a:ea typeface="微软雅黑" pitchFamily="34" charset="-122"/>
                </a:rPr>
                <a:t>ISP    206.0.64.0/18       11001110.00000000.01*                                 64</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大学    </a:t>
              </a:r>
              <a:r>
                <a:rPr kumimoji="1" lang="en-US" altLang="zh-CN" sz="1000" b="1" dirty="0">
                  <a:latin typeface="微软雅黑" pitchFamily="34" charset="-122"/>
                  <a:ea typeface="微软雅黑" pitchFamily="34" charset="-122"/>
                </a:rPr>
                <a:t>206.0.68.0/22        11001110.00000000.010001*                          4</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一系    </a:t>
              </a:r>
              <a:r>
                <a:rPr kumimoji="1" lang="en-US" altLang="zh-CN" sz="1000" b="1" dirty="0">
                  <a:latin typeface="微软雅黑" pitchFamily="34" charset="-122"/>
                  <a:ea typeface="微软雅黑" pitchFamily="34" charset="-122"/>
                </a:rPr>
                <a:t>206.0.68.0/23        11001110.00000000.0100010*                        2</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二系    </a:t>
              </a:r>
              <a:r>
                <a:rPr kumimoji="1" lang="en-US" altLang="zh-CN" sz="1000" b="1" dirty="0">
                  <a:latin typeface="微软雅黑" pitchFamily="34" charset="-122"/>
                  <a:ea typeface="微软雅黑" pitchFamily="34" charset="-122"/>
                </a:rPr>
                <a:t>206.0.70.0/24        11001110.00000000.01000110.*                     1</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三系    </a:t>
              </a:r>
              <a:r>
                <a:rPr kumimoji="1" lang="en-US" altLang="zh-CN" sz="1000" b="1" dirty="0">
                  <a:latin typeface="微软雅黑" pitchFamily="34" charset="-122"/>
                  <a:ea typeface="微软雅黑" pitchFamily="34" charset="-122"/>
                </a:rPr>
                <a:t>206.0.71.0/25        11001110.00000000.01000111.0*                 1/2</a:t>
              </a:r>
            </a:p>
            <a:p>
              <a:pPr eaLnBrk="1" hangingPunct="1">
                <a:lnSpc>
                  <a:spcPct val="120000"/>
                </a:lnSpc>
                <a:spcAft>
                  <a:spcPct val="25000"/>
                </a:spcAft>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四系    </a:t>
              </a:r>
              <a:r>
                <a:rPr kumimoji="1" lang="en-US" altLang="zh-CN" sz="1000" b="1" dirty="0">
                  <a:latin typeface="微软雅黑" pitchFamily="34" charset="-122"/>
                  <a:ea typeface="微软雅黑" pitchFamily="34" charset="-122"/>
                </a:rPr>
                <a:t>206.0.71.128/25    11001110.00000000.01000111.1*                 1/2</a:t>
              </a:r>
            </a:p>
          </p:txBody>
        </p:sp>
        <p:sp>
          <p:nvSpPr>
            <p:cNvPr id="59" name="Line 58"/>
            <p:cNvSpPr>
              <a:spLocks noChangeShapeType="1"/>
            </p:cNvSpPr>
            <p:nvPr/>
          </p:nvSpPr>
          <p:spPr bwMode="auto">
            <a:xfrm>
              <a:off x="2352483" y="3147512"/>
              <a:ext cx="523876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60" name="Line 59"/>
            <p:cNvSpPr>
              <a:spLocks noChangeShapeType="1"/>
            </p:cNvSpPr>
            <p:nvPr/>
          </p:nvSpPr>
          <p:spPr bwMode="auto">
            <a:xfrm flipH="1">
              <a:off x="2786620" y="2917244"/>
              <a:ext cx="966" cy="135127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61" name="Line 60"/>
            <p:cNvSpPr>
              <a:spLocks noChangeShapeType="1"/>
            </p:cNvSpPr>
            <p:nvPr/>
          </p:nvSpPr>
          <p:spPr bwMode="auto">
            <a:xfrm flipH="1">
              <a:off x="3986051" y="2924384"/>
              <a:ext cx="1934" cy="135127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62" name="Line 61"/>
            <p:cNvSpPr>
              <a:spLocks noChangeShapeType="1"/>
            </p:cNvSpPr>
            <p:nvPr/>
          </p:nvSpPr>
          <p:spPr bwMode="auto">
            <a:xfrm flipH="1">
              <a:off x="6340905" y="2924384"/>
              <a:ext cx="1934" cy="135127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grpSp>
      <p:sp>
        <p:nvSpPr>
          <p:cNvPr id="63" name="Oval 62"/>
          <p:cNvSpPr>
            <a:spLocks noChangeArrowheads="1"/>
          </p:cNvSpPr>
          <p:nvPr/>
        </p:nvSpPr>
        <p:spPr bwMode="auto">
          <a:xfrm>
            <a:off x="3956022" y="1339567"/>
            <a:ext cx="232055" cy="128523"/>
          </a:xfrm>
          <a:prstGeom prst="ellipse">
            <a:avLst/>
          </a:prstGeom>
          <a:solidFill>
            <a:schemeClr val="bg1"/>
          </a:solidFill>
          <a:ln w="9525">
            <a:solidFill>
              <a:schemeClr val="bg1"/>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64" name="Oval 63"/>
          <p:cNvSpPr>
            <a:spLocks noChangeArrowheads="1"/>
          </p:cNvSpPr>
          <p:nvPr/>
        </p:nvSpPr>
        <p:spPr bwMode="auto">
          <a:xfrm>
            <a:off x="4037241" y="1194979"/>
            <a:ext cx="232055" cy="128523"/>
          </a:xfrm>
          <a:prstGeom prst="ellipse">
            <a:avLst/>
          </a:prstGeom>
          <a:solidFill>
            <a:schemeClr val="bg1"/>
          </a:solidFill>
          <a:ln w="9525">
            <a:solidFill>
              <a:schemeClr val="bg1"/>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73" name="Text Box 47"/>
          <p:cNvSpPr txBox="1">
            <a:spLocks noChangeArrowheads="1"/>
          </p:cNvSpPr>
          <p:nvPr/>
        </p:nvSpPr>
        <p:spPr bwMode="auto">
          <a:xfrm>
            <a:off x="3810987" y="1773014"/>
            <a:ext cx="1026243" cy="23852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206.0.70.0/24</a:t>
            </a:r>
          </a:p>
        </p:txBody>
      </p:sp>
      <p:sp>
        <p:nvSpPr>
          <p:cNvPr id="74" name="Text Box 50"/>
          <p:cNvSpPr txBox="1">
            <a:spLocks noChangeArrowheads="1"/>
          </p:cNvSpPr>
          <p:nvPr/>
        </p:nvSpPr>
        <p:spPr bwMode="auto">
          <a:xfrm>
            <a:off x="4827196" y="1773014"/>
            <a:ext cx="1026243" cy="238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a:latin typeface="微软雅黑" pitchFamily="34" charset="-122"/>
                <a:ea typeface="微软雅黑" pitchFamily="34" charset="-122"/>
              </a:rPr>
              <a:t>206.0.71.0/25</a:t>
            </a:r>
          </a:p>
        </p:txBody>
      </p:sp>
      <p:sp>
        <p:nvSpPr>
          <p:cNvPr id="75" name="Text Box 54"/>
          <p:cNvSpPr txBox="1">
            <a:spLocks noChangeArrowheads="1"/>
          </p:cNvSpPr>
          <p:nvPr/>
        </p:nvSpPr>
        <p:spPr bwMode="auto">
          <a:xfrm>
            <a:off x="6037750" y="1773014"/>
            <a:ext cx="1176925" cy="238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a:latin typeface="微软雅黑" pitchFamily="34" charset="-122"/>
                <a:ea typeface="微软雅黑" pitchFamily="34" charset="-122"/>
              </a:rPr>
              <a:t>206.0.71.128/25</a:t>
            </a:r>
          </a:p>
        </p:txBody>
      </p:sp>
      <p:sp>
        <p:nvSpPr>
          <p:cNvPr id="76" name="Text Box 56"/>
          <p:cNvSpPr txBox="1">
            <a:spLocks noChangeArrowheads="1"/>
          </p:cNvSpPr>
          <p:nvPr/>
        </p:nvSpPr>
        <p:spPr bwMode="auto">
          <a:xfrm>
            <a:off x="2792846" y="1773014"/>
            <a:ext cx="1026243" cy="238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206.0.68.0/23</a:t>
            </a:r>
          </a:p>
        </p:txBody>
      </p:sp>
      <p:sp>
        <p:nvSpPr>
          <p:cNvPr id="69" name="Text Box 28"/>
          <p:cNvSpPr txBox="1">
            <a:spLocks noChangeArrowheads="1"/>
          </p:cNvSpPr>
          <p:nvPr/>
        </p:nvSpPr>
        <p:spPr bwMode="auto">
          <a:xfrm>
            <a:off x="3046326" y="1408855"/>
            <a:ext cx="697627"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000" b="1" dirty="0">
                <a:latin typeface="微软雅黑" pitchFamily="34" charset="-122"/>
                <a:ea typeface="微软雅黑" pitchFamily="34" charset="-122"/>
              </a:rPr>
              <a:t>路由聚合</a:t>
            </a:r>
            <a:endParaRPr kumimoji="1" lang="en-US" altLang="zh-CN" sz="1000" b="1" dirty="0">
              <a:latin typeface="微软雅黑" pitchFamily="34" charset="-122"/>
              <a:ea typeface="微软雅黑" pitchFamily="34" charset="-122"/>
            </a:endParaRPr>
          </a:p>
        </p:txBody>
      </p:sp>
      <p:sp>
        <p:nvSpPr>
          <p:cNvPr id="70" name="Text Box 28"/>
          <p:cNvSpPr txBox="1">
            <a:spLocks noChangeArrowheads="1"/>
          </p:cNvSpPr>
          <p:nvPr/>
        </p:nvSpPr>
        <p:spPr bwMode="auto">
          <a:xfrm>
            <a:off x="6263664" y="1591549"/>
            <a:ext cx="697627"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000" b="1" dirty="0">
                <a:latin typeface="微软雅黑" pitchFamily="34" charset="-122"/>
                <a:ea typeface="微软雅黑" pitchFamily="34" charset="-122"/>
              </a:rPr>
              <a:t>路由聚合</a:t>
            </a:r>
            <a:endParaRPr kumimoji="1" lang="en-US" altLang="zh-CN" sz="1000" b="1" dirty="0">
              <a:latin typeface="微软雅黑" pitchFamily="34" charset="-122"/>
              <a:ea typeface="微软雅黑" pitchFamily="34" charset="-122"/>
            </a:endParaRPr>
          </a:p>
        </p:txBody>
      </p:sp>
      <p:sp>
        <p:nvSpPr>
          <p:cNvPr id="51" name="矩形 50"/>
          <p:cNvSpPr/>
          <p:nvPr/>
        </p:nvSpPr>
        <p:spPr>
          <a:xfrm>
            <a:off x="1921379" y="4349713"/>
            <a:ext cx="5549096" cy="338554"/>
          </a:xfrm>
          <a:prstGeom prst="rect">
            <a:avLst/>
          </a:prstGeom>
        </p:spPr>
        <p:txBody>
          <a:bodyPr wrap="square">
            <a:spAutoFit/>
          </a:bodyPr>
          <a:lstStyle/>
          <a:p>
            <a:pPr algn="ctr"/>
            <a:r>
              <a:rPr lang="zh-CN" altLang="en-US" sz="1600" b="1" dirty="0">
                <a:latin typeface="微软雅黑" panose="020B0503020204020204" pitchFamily="34" charset="-122"/>
                <a:ea typeface="微软雅黑" panose="020B0503020204020204" pitchFamily="34" charset="-122"/>
              </a:rPr>
              <a:t>可见：网络前缀越短，地址块所包含的地址数越多。</a:t>
            </a:r>
          </a:p>
        </p:txBody>
      </p:sp>
      <p:grpSp>
        <p:nvGrpSpPr>
          <p:cNvPr id="71" name="组合 70"/>
          <p:cNvGrpSpPr/>
          <p:nvPr/>
        </p:nvGrpSpPr>
        <p:grpSpPr>
          <a:xfrm>
            <a:off x="2346909" y="2883642"/>
            <a:ext cx="4640742" cy="1423467"/>
            <a:chOff x="2517509" y="2883642"/>
            <a:chExt cx="4640742" cy="1423467"/>
          </a:xfrm>
        </p:grpSpPr>
        <p:sp>
          <p:nvSpPr>
            <p:cNvPr id="72" name="Rectangle 3"/>
            <p:cNvSpPr>
              <a:spLocks noChangeArrowheads="1"/>
            </p:cNvSpPr>
            <p:nvPr/>
          </p:nvSpPr>
          <p:spPr bwMode="auto">
            <a:xfrm>
              <a:off x="2528884" y="2924384"/>
              <a:ext cx="4629367" cy="1344134"/>
            </a:xfrm>
            <a:prstGeom prst="rect">
              <a:avLst/>
            </a:prstGeom>
            <a:solidFill>
              <a:srgbClr val="00FFFF"/>
            </a:solidFill>
            <a:ln w="28575">
              <a:solidFill>
                <a:srgbClr val="333399"/>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77" name="Text Box 57"/>
            <p:cNvSpPr txBox="1">
              <a:spLocks noChangeArrowheads="1"/>
            </p:cNvSpPr>
            <p:nvPr/>
          </p:nvSpPr>
          <p:spPr bwMode="auto">
            <a:xfrm>
              <a:off x="2517509" y="2883642"/>
              <a:ext cx="4640742" cy="14234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lnSpc>
                  <a:spcPct val="145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单位         地址块                                   二进制表示                           地址数</a:t>
              </a:r>
            </a:p>
            <a:p>
              <a:pPr eaLnBrk="1" hangingPunct="1">
                <a:lnSpc>
                  <a:spcPct val="120000"/>
                </a:lnSpc>
              </a:pPr>
              <a:r>
                <a:rPr kumimoji="1" lang="zh-CN" altLang="en-US" sz="1000" b="1" dirty="0">
                  <a:latin typeface="微软雅黑" pitchFamily="34" charset="-122"/>
                  <a:ea typeface="微软雅黑" pitchFamily="34" charset="-122"/>
                </a:rPr>
                <a:t>   </a:t>
              </a:r>
              <a:r>
                <a:rPr kumimoji="1" lang="en-US" altLang="zh-CN" sz="1000" b="1" dirty="0">
                  <a:latin typeface="微软雅黑" pitchFamily="34" charset="-122"/>
                  <a:ea typeface="微软雅黑" pitchFamily="34" charset="-122"/>
                </a:rPr>
                <a:t>ISP    206.0.64.0/18        11001110.00000000.01*                     16384</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大学    </a:t>
              </a:r>
              <a:r>
                <a:rPr kumimoji="1" lang="en-US" altLang="zh-CN" sz="1000" b="1" dirty="0">
                  <a:latin typeface="微软雅黑" pitchFamily="34" charset="-122"/>
                  <a:ea typeface="微软雅黑" pitchFamily="34" charset="-122"/>
                </a:rPr>
                <a:t>206.0.68.0/22        11001110.00000000.010001*               1024</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一系    </a:t>
              </a:r>
              <a:r>
                <a:rPr kumimoji="1" lang="en-US" altLang="zh-CN" sz="1000" b="1" dirty="0">
                  <a:latin typeface="微软雅黑" pitchFamily="34" charset="-122"/>
                  <a:ea typeface="微软雅黑" pitchFamily="34" charset="-122"/>
                </a:rPr>
                <a:t>206.0.68.0/23        11001110.00000000.0100010*               512</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二系    </a:t>
              </a:r>
              <a:r>
                <a:rPr kumimoji="1" lang="en-US" altLang="zh-CN" sz="1000" b="1" dirty="0">
                  <a:latin typeface="微软雅黑" pitchFamily="34" charset="-122"/>
                  <a:ea typeface="微软雅黑" pitchFamily="34" charset="-122"/>
                </a:rPr>
                <a:t>206.0.70.0/24        11001110.00000000.01000110.*            256</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三系    </a:t>
              </a:r>
              <a:r>
                <a:rPr kumimoji="1" lang="en-US" altLang="zh-CN" sz="1000" b="1" dirty="0">
                  <a:latin typeface="微软雅黑" pitchFamily="34" charset="-122"/>
                  <a:ea typeface="微软雅黑" pitchFamily="34" charset="-122"/>
                </a:rPr>
                <a:t>206.0.71.0/25        11001110.00000000.01000111.0*          128</a:t>
              </a:r>
            </a:p>
            <a:p>
              <a:pPr eaLnBrk="1" hangingPunct="1">
                <a:lnSpc>
                  <a:spcPct val="120000"/>
                </a:lnSpc>
                <a:spcAft>
                  <a:spcPct val="25000"/>
                </a:spcAft>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四系    </a:t>
              </a:r>
              <a:r>
                <a:rPr kumimoji="1" lang="en-US" altLang="zh-CN" sz="1000" b="1" dirty="0">
                  <a:latin typeface="微软雅黑" pitchFamily="34" charset="-122"/>
                  <a:ea typeface="微软雅黑" pitchFamily="34" charset="-122"/>
                </a:rPr>
                <a:t>206.0.71.128/25    11001110.00000000.01000111.1*          128</a:t>
              </a:r>
            </a:p>
          </p:txBody>
        </p:sp>
        <p:sp>
          <p:nvSpPr>
            <p:cNvPr id="78" name="Line 58"/>
            <p:cNvSpPr>
              <a:spLocks noChangeShapeType="1"/>
            </p:cNvSpPr>
            <p:nvPr/>
          </p:nvSpPr>
          <p:spPr bwMode="auto">
            <a:xfrm>
              <a:off x="2523083" y="3147512"/>
              <a:ext cx="46351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79" name="Line 59"/>
            <p:cNvSpPr>
              <a:spLocks noChangeShapeType="1"/>
            </p:cNvSpPr>
            <p:nvPr/>
          </p:nvSpPr>
          <p:spPr bwMode="auto">
            <a:xfrm flipH="1">
              <a:off x="2957220" y="2917244"/>
              <a:ext cx="966" cy="135127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80" name="Line 60"/>
            <p:cNvSpPr>
              <a:spLocks noChangeShapeType="1"/>
            </p:cNvSpPr>
            <p:nvPr/>
          </p:nvSpPr>
          <p:spPr bwMode="auto">
            <a:xfrm flipH="1">
              <a:off x="4156651" y="2924384"/>
              <a:ext cx="1934" cy="135127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81" name="Line 61"/>
            <p:cNvSpPr>
              <a:spLocks noChangeShapeType="1"/>
            </p:cNvSpPr>
            <p:nvPr/>
          </p:nvSpPr>
          <p:spPr bwMode="auto">
            <a:xfrm flipH="1">
              <a:off x="6511505" y="2924384"/>
              <a:ext cx="1934" cy="135127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grpSp>
      <p:sp>
        <p:nvSpPr>
          <p:cNvPr id="82" name="矩形 81"/>
          <p:cNvSpPr/>
          <p:nvPr/>
        </p:nvSpPr>
        <p:spPr>
          <a:xfrm>
            <a:off x="1236910" y="2882740"/>
            <a:ext cx="6611815" cy="1426338"/>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3" name="Text Box 155"/>
          <p:cNvSpPr txBox="1">
            <a:spLocks noChangeArrowheads="1"/>
          </p:cNvSpPr>
          <p:nvPr/>
        </p:nvSpPr>
        <p:spPr bwMode="auto">
          <a:xfrm>
            <a:off x="1252868" y="2924032"/>
            <a:ext cx="6593695" cy="1374735"/>
          </a:xfrm>
          <a:prstGeom prst="rect">
            <a:avLst/>
          </a:prstGeom>
          <a:noFill/>
          <a:ln w="9525">
            <a:noFill/>
            <a:miter lim="800000"/>
            <a:headEnd/>
            <a:tailEnd/>
          </a:ln>
          <a:effectLst/>
        </p:spPr>
        <p:txBody>
          <a:bodyPr wrap="square">
            <a:spAutoFit/>
          </a:bodyPr>
          <a:lstStyle/>
          <a:p>
            <a:pPr>
              <a:lnSpc>
                <a:spcPts val="2000"/>
              </a:lnSpc>
            </a:pPr>
            <a:r>
              <a:rPr lang="zh-CN" altLang="en-US" sz="1400" b="1" dirty="0">
                <a:solidFill>
                  <a:schemeClr val="bg1"/>
                </a:solidFill>
                <a:latin typeface="微软雅黑" pitchFamily="34" charset="-122"/>
                <a:ea typeface="微软雅黑" pitchFamily="34" charset="-122"/>
              </a:rPr>
              <a:t>这个 </a:t>
            </a:r>
            <a:r>
              <a:rPr lang="en-US" altLang="zh-CN" sz="1400" b="1" dirty="0">
                <a:solidFill>
                  <a:schemeClr val="bg1"/>
                </a:solidFill>
                <a:latin typeface="微软雅黑" pitchFamily="34" charset="-122"/>
                <a:ea typeface="微软雅黑" pitchFamily="34" charset="-122"/>
              </a:rPr>
              <a:t>ISP </a:t>
            </a:r>
            <a:r>
              <a:rPr lang="zh-CN" altLang="en-US" sz="1400" b="1" dirty="0">
                <a:solidFill>
                  <a:schemeClr val="bg1"/>
                </a:solidFill>
                <a:latin typeface="微软雅黑" pitchFamily="34" charset="-122"/>
                <a:ea typeface="微软雅黑" pitchFamily="34" charset="-122"/>
              </a:rPr>
              <a:t>共有 </a:t>
            </a:r>
            <a:r>
              <a:rPr lang="en-US" altLang="zh-CN" sz="1400" b="1" dirty="0">
                <a:solidFill>
                  <a:schemeClr val="bg1"/>
                </a:solidFill>
                <a:latin typeface="微软雅黑" pitchFamily="34" charset="-122"/>
                <a:ea typeface="微软雅黑" pitchFamily="34" charset="-122"/>
              </a:rPr>
              <a:t>64 </a:t>
            </a:r>
            <a:r>
              <a:rPr lang="zh-CN" altLang="en-US" sz="1400" b="1" dirty="0">
                <a:solidFill>
                  <a:schemeClr val="bg1"/>
                </a:solidFill>
                <a:latin typeface="微软雅黑" pitchFamily="34" charset="-122"/>
                <a:ea typeface="微软雅黑" pitchFamily="34" charset="-122"/>
              </a:rPr>
              <a:t>个 </a:t>
            </a:r>
            <a:r>
              <a:rPr lang="en-US" altLang="zh-CN" sz="1400" b="1" dirty="0">
                <a:solidFill>
                  <a:schemeClr val="bg1"/>
                </a:solidFill>
                <a:latin typeface="微软雅黑" pitchFamily="34" charset="-122"/>
                <a:ea typeface="微软雅黑" pitchFamily="34" charset="-122"/>
              </a:rPr>
              <a:t>C </a:t>
            </a:r>
            <a:r>
              <a:rPr lang="zh-CN" altLang="en-US" sz="1400" b="1" dirty="0">
                <a:solidFill>
                  <a:schemeClr val="bg1"/>
                </a:solidFill>
                <a:latin typeface="微软雅黑" pitchFamily="34" charset="-122"/>
                <a:ea typeface="微软雅黑" pitchFamily="34" charset="-122"/>
              </a:rPr>
              <a:t>类网络。如果不采用 </a:t>
            </a:r>
            <a:r>
              <a:rPr lang="en-US" altLang="zh-CN" sz="1400" b="1" dirty="0">
                <a:solidFill>
                  <a:schemeClr val="bg1"/>
                </a:solidFill>
                <a:latin typeface="微软雅黑" pitchFamily="34" charset="-122"/>
                <a:ea typeface="微软雅黑" pitchFamily="34" charset="-122"/>
              </a:rPr>
              <a:t>CIDR </a:t>
            </a:r>
            <a:r>
              <a:rPr lang="zh-CN" altLang="en-US" sz="1400" b="1" dirty="0">
                <a:solidFill>
                  <a:schemeClr val="bg1"/>
                </a:solidFill>
                <a:latin typeface="微软雅黑" pitchFamily="34" charset="-122"/>
                <a:ea typeface="微软雅黑" pitchFamily="34" charset="-122"/>
              </a:rPr>
              <a:t>技术，则在与该 </a:t>
            </a:r>
            <a:r>
              <a:rPr lang="en-US" altLang="zh-CN" sz="1400" b="1" dirty="0">
                <a:solidFill>
                  <a:schemeClr val="bg1"/>
                </a:solidFill>
                <a:latin typeface="微软雅黑" pitchFamily="34" charset="-122"/>
                <a:ea typeface="微软雅黑" pitchFamily="34" charset="-122"/>
              </a:rPr>
              <a:t>ISP </a:t>
            </a:r>
            <a:r>
              <a:rPr lang="zh-CN" altLang="en-US" sz="1400" b="1" dirty="0">
                <a:solidFill>
                  <a:schemeClr val="bg1"/>
                </a:solidFill>
                <a:latin typeface="微软雅黑" pitchFamily="34" charset="-122"/>
                <a:ea typeface="微软雅黑" pitchFamily="34" charset="-122"/>
              </a:rPr>
              <a:t>的路由器交换路由信息的每一个路由器的转发表中，需要有 </a:t>
            </a:r>
            <a:r>
              <a:rPr lang="en-US" altLang="zh-CN" sz="1400" b="1" dirty="0">
                <a:solidFill>
                  <a:schemeClr val="bg1"/>
                </a:solidFill>
                <a:latin typeface="微软雅黑" pitchFamily="34" charset="-122"/>
                <a:ea typeface="微软雅黑" pitchFamily="34" charset="-122"/>
              </a:rPr>
              <a:t>64 </a:t>
            </a:r>
            <a:r>
              <a:rPr lang="zh-CN" altLang="en-US" sz="1400" b="1" dirty="0">
                <a:solidFill>
                  <a:schemeClr val="bg1"/>
                </a:solidFill>
                <a:latin typeface="微软雅黑" pitchFamily="34" charset="-122"/>
                <a:ea typeface="微软雅黑" pitchFamily="34" charset="-122"/>
              </a:rPr>
              <a:t>行。采用地址聚合后，转发表中只需要用 </a:t>
            </a:r>
            <a:r>
              <a:rPr lang="en-US" altLang="zh-CN" sz="1400" b="1" dirty="0">
                <a:solidFill>
                  <a:schemeClr val="bg1"/>
                </a:solidFill>
                <a:latin typeface="微软雅黑" pitchFamily="34" charset="-122"/>
                <a:ea typeface="微软雅黑" pitchFamily="34" charset="-122"/>
              </a:rPr>
              <a:t>1 </a:t>
            </a:r>
            <a:r>
              <a:rPr lang="zh-CN" altLang="en-US" sz="1400" b="1" dirty="0">
                <a:solidFill>
                  <a:schemeClr val="bg1"/>
                </a:solidFill>
                <a:latin typeface="微软雅黑" pitchFamily="34" charset="-122"/>
                <a:ea typeface="微软雅黑" pitchFamily="34" charset="-122"/>
              </a:rPr>
              <a:t>行来指出到 </a:t>
            </a:r>
            <a:r>
              <a:rPr lang="en-US" altLang="zh-CN" sz="1400" b="1" dirty="0">
                <a:solidFill>
                  <a:srgbClr val="FFFF00"/>
                </a:solidFill>
                <a:latin typeface="微软雅黑" pitchFamily="34" charset="-122"/>
                <a:ea typeface="微软雅黑" pitchFamily="34" charset="-122"/>
              </a:rPr>
              <a:t>206.0.64.0/18</a:t>
            </a:r>
            <a:r>
              <a:rPr lang="en-US" altLang="zh-CN" sz="1400" b="1" dirty="0">
                <a:solidFill>
                  <a:schemeClr val="bg1"/>
                </a:solidFill>
                <a:latin typeface="微软雅黑" pitchFamily="34" charset="-122"/>
                <a:ea typeface="微软雅黑" pitchFamily="34" charset="-122"/>
              </a:rPr>
              <a:t> </a:t>
            </a:r>
            <a:r>
              <a:rPr lang="zh-CN" altLang="en-US" sz="1400" b="1" dirty="0">
                <a:solidFill>
                  <a:schemeClr val="bg1"/>
                </a:solidFill>
                <a:latin typeface="微软雅黑" pitchFamily="34" charset="-122"/>
                <a:ea typeface="微软雅黑" pitchFamily="34" charset="-122"/>
              </a:rPr>
              <a:t>地址块的下一跳。</a:t>
            </a:r>
            <a:endParaRPr lang="en-US" altLang="zh-CN" sz="1400" b="1" dirty="0">
              <a:solidFill>
                <a:schemeClr val="bg1"/>
              </a:solidFill>
              <a:latin typeface="微软雅黑" pitchFamily="34" charset="-122"/>
              <a:ea typeface="微软雅黑" pitchFamily="34" charset="-122"/>
            </a:endParaRPr>
          </a:p>
          <a:p>
            <a:pPr>
              <a:lnSpc>
                <a:spcPts val="2000"/>
              </a:lnSpc>
            </a:pPr>
            <a:r>
              <a:rPr lang="zh-CN" altLang="en-US" sz="1400" b="1" dirty="0">
                <a:solidFill>
                  <a:schemeClr val="bg1"/>
                </a:solidFill>
                <a:latin typeface="微软雅黑" pitchFamily="34" charset="-122"/>
                <a:ea typeface="微软雅黑" pitchFamily="34" charset="-122"/>
              </a:rPr>
              <a:t>在 </a:t>
            </a:r>
            <a:r>
              <a:rPr lang="en-US" altLang="zh-CN" sz="1400" b="1" dirty="0">
                <a:solidFill>
                  <a:schemeClr val="bg1"/>
                </a:solidFill>
                <a:latin typeface="微软雅黑" pitchFamily="34" charset="-122"/>
                <a:ea typeface="微软雅黑" pitchFamily="34" charset="-122"/>
              </a:rPr>
              <a:t>ISP </a:t>
            </a:r>
            <a:r>
              <a:rPr lang="zh-CN" altLang="en-US" sz="1400" b="1" dirty="0">
                <a:solidFill>
                  <a:schemeClr val="bg1"/>
                </a:solidFill>
                <a:latin typeface="微软雅黑" pitchFamily="34" charset="-122"/>
                <a:ea typeface="微软雅黑" pitchFamily="34" charset="-122"/>
              </a:rPr>
              <a:t>内的路由器的转发表中，也仅需用 </a:t>
            </a:r>
            <a:r>
              <a:rPr lang="en-US" altLang="zh-CN" sz="1400" b="1" dirty="0">
                <a:solidFill>
                  <a:srgbClr val="FFFF00"/>
                </a:solidFill>
                <a:latin typeface="微软雅黑" pitchFamily="34" charset="-122"/>
                <a:ea typeface="微软雅黑" pitchFamily="34" charset="-122"/>
              </a:rPr>
              <a:t>206.0.68.0/22</a:t>
            </a:r>
            <a:r>
              <a:rPr lang="en-US" altLang="zh-CN" sz="1400" b="1" dirty="0">
                <a:solidFill>
                  <a:schemeClr val="bg1"/>
                </a:solidFill>
                <a:latin typeface="微软雅黑" pitchFamily="34" charset="-122"/>
                <a:ea typeface="微软雅黑" pitchFamily="34" charset="-122"/>
              </a:rPr>
              <a:t> </a:t>
            </a:r>
            <a:r>
              <a:rPr lang="zh-CN" altLang="en-US" sz="1400" b="1" dirty="0">
                <a:solidFill>
                  <a:schemeClr val="bg1"/>
                </a:solidFill>
                <a:latin typeface="微软雅黑" pitchFamily="34" charset="-122"/>
                <a:ea typeface="微软雅黑" pitchFamily="34" charset="-122"/>
              </a:rPr>
              <a:t>这 </a:t>
            </a:r>
            <a:r>
              <a:rPr lang="en-US" altLang="zh-CN" sz="1400" b="1" dirty="0">
                <a:solidFill>
                  <a:schemeClr val="bg1"/>
                </a:solidFill>
                <a:latin typeface="微软雅黑" pitchFamily="34" charset="-122"/>
                <a:ea typeface="微软雅黑" pitchFamily="34" charset="-122"/>
              </a:rPr>
              <a:t>1 </a:t>
            </a:r>
            <a:r>
              <a:rPr lang="zh-CN" altLang="en-US" sz="1400" b="1" dirty="0">
                <a:solidFill>
                  <a:schemeClr val="bg1"/>
                </a:solidFill>
                <a:latin typeface="微软雅黑" pitchFamily="34" charset="-122"/>
                <a:ea typeface="微软雅黑" pitchFamily="34" charset="-122"/>
              </a:rPr>
              <a:t>个项目，就能把外部发送到这个大学各系的所有分组，都转发到大学的路由器。</a:t>
            </a:r>
          </a:p>
        </p:txBody>
      </p:sp>
    </p:spTree>
    <p:extLst>
      <p:ext uri="{BB962C8B-B14F-4D97-AF65-F5344CB8AC3E}">
        <p14:creationId xmlns:p14="http://schemas.microsoft.com/office/powerpoint/2010/main" val="176661349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83"/>
                                        </p:tgtEl>
                                        <p:attrNameLst>
                                          <p:attrName>style.visibility</p:attrName>
                                        </p:attrNameLst>
                                      </p:cBhvr>
                                      <p:to>
                                        <p:strVal val="visible"/>
                                      </p:to>
                                    </p:set>
                                    <p:animEffect transition="in" filter="wipe(up)">
                                      <p:cBhvr>
                                        <p:cTn id="7" dur="500"/>
                                        <p:tgtEl>
                                          <p:spTgt spid="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527220" y="581433"/>
            <a:ext cx="210826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4. IP </a:t>
            </a:r>
            <a:r>
              <a:rPr lang="zh-CN" altLang="en-US" sz="2000" b="1" dirty="0">
                <a:solidFill>
                  <a:schemeClr val="bg1"/>
                </a:solidFill>
                <a:latin typeface="微软雅黑" pitchFamily="34" charset="-122"/>
                <a:ea typeface="微软雅黑" pitchFamily="34" charset="-122"/>
              </a:rPr>
              <a:t>地址的特点</a:t>
            </a:r>
          </a:p>
        </p:txBody>
      </p:sp>
      <p:grpSp>
        <p:nvGrpSpPr>
          <p:cNvPr id="13" name="组合 12"/>
          <p:cNvGrpSpPr/>
          <p:nvPr/>
        </p:nvGrpSpPr>
        <p:grpSpPr>
          <a:xfrm>
            <a:off x="618963" y="1190836"/>
            <a:ext cx="3797762" cy="2949847"/>
            <a:chOff x="670712" y="1104572"/>
            <a:chExt cx="4531017" cy="2078642"/>
          </a:xfrm>
        </p:grpSpPr>
        <p:sp>
          <p:nvSpPr>
            <p:cNvPr id="14" name="任意多边形 13"/>
            <p:cNvSpPr/>
            <p:nvPr/>
          </p:nvSpPr>
          <p:spPr>
            <a:xfrm>
              <a:off x="670712" y="1104572"/>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33CCFF"/>
            </a:solidFill>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(1) </a:t>
              </a:r>
              <a:r>
                <a:rPr lang="zh-CN" altLang="en-US" sz="1600" b="1" dirty="0">
                  <a:solidFill>
                    <a:srgbClr val="000099"/>
                  </a:solidFill>
                  <a:latin typeface="微软雅黑" panose="020B0503020204020204" pitchFamily="34" charset="-122"/>
                  <a:ea typeface="微软雅黑" panose="020B0503020204020204" pitchFamily="34" charset="-122"/>
                </a:rPr>
                <a:t>每个 </a:t>
              </a:r>
              <a:r>
                <a:rPr lang="en-US" altLang="zh-CN" sz="1600" b="1" dirty="0">
                  <a:solidFill>
                    <a:srgbClr val="000099"/>
                  </a:solidFill>
                  <a:latin typeface="微软雅黑" panose="020B0503020204020204" pitchFamily="34" charset="-122"/>
                  <a:ea typeface="微软雅黑" panose="020B0503020204020204" pitchFamily="34" charset="-122"/>
                </a:rPr>
                <a:t>IP </a:t>
              </a:r>
              <a:r>
                <a:rPr lang="zh-CN" altLang="en-US" sz="1600" b="1" dirty="0">
                  <a:solidFill>
                    <a:srgbClr val="000099"/>
                  </a:solidFill>
                  <a:latin typeface="微软雅黑" panose="020B0503020204020204" pitchFamily="34" charset="-122"/>
                  <a:ea typeface="微软雅黑" panose="020B0503020204020204" pitchFamily="34" charset="-122"/>
                </a:rPr>
                <a:t>地址都由网络前缀和主机号两部分组成。</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5" name="任意多边形 14"/>
            <p:cNvSpPr/>
            <p:nvPr/>
          </p:nvSpPr>
          <p:spPr>
            <a:xfrm>
              <a:off x="670712" y="1644815"/>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99CCFF"/>
            </a:solidFill>
          </p:spPr>
          <p:style>
            <a:lnRef idx="2">
              <a:schemeClr val="lt1">
                <a:hueOff val="0"/>
                <a:satOff val="0"/>
                <a:lumOff val="0"/>
                <a:alphaOff val="0"/>
              </a:schemeClr>
            </a:lnRef>
            <a:fillRef idx="1">
              <a:schemeClr val="accent4">
                <a:hueOff val="-1488257"/>
                <a:satOff val="8966"/>
                <a:lumOff val="719"/>
                <a:alphaOff val="0"/>
              </a:schemeClr>
            </a:fillRef>
            <a:effectRef idx="0">
              <a:schemeClr val="accent4">
                <a:hueOff val="-1488257"/>
                <a:satOff val="8966"/>
                <a:lumOff val="719"/>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(2) IP </a:t>
              </a:r>
              <a:r>
                <a:rPr lang="zh-CN" altLang="en-US" sz="1600" b="1" dirty="0">
                  <a:solidFill>
                    <a:srgbClr val="000099"/>
                  </a:solidFill>
                  <a:latin typeface="微软雅黑" panose="020B0503020204020204" pitchFamily="34" charset="-122"/>
                  <a:ea typeface="微软雅黑" panose="020B0503020204020204" pitchFamily="34" charset="-122"/>
                </a:rPr>
                <a:t>地址是标志一台主机（或路由器）和一条链路的接口。</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6" name="任意多边形 15"/>
            <p:cNvSpPr/>
            <p:nvPr/>
          </p:nvSpPr>
          <p:spPr>
            <a:xfrm>
              <a:off x="670712" y="2185057"/>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CCCCFF"/>
            </a:solidFill>
          </p:spPr>
          <p:style>
            <a:lnRef idx="2">
              <a:schemeClr val="lt1">
                <a:hueOff val="0"/>
                <a:satOff val="0"/>
                <a:lumOff val="0"/>
                <a:alphaOff val="0"/>
              </a:schemeClr>
            </a:lnRef>
            <a:fillRef idx="1">
              <a:schemeClr val="accent4">
                <a:hueOff val="-2976513"/>
                <a:satOff val="17933"/>
                <a:lumOff val="1437"/>
                <a:alphaOff val="0"/>
              </a:schemeClr>
            </a:fillRef>
            <a:effectRef idx="0">
              <a:schemeClr val="accent4">
                <a:hueOff val="-2976513"/>
                <a:satOff val="17933"/>
                <a:lumOff val="1437"/>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(3) </a:t>
              </a:r>
              <a:r>
                <a:rPr lang="zh-CN" altLang="en-US" sz="1600" b="1" dirty="0">
                  <a:solidFill>
                    <a:srgbClr val="000099"/>
                  </a:solidFill>
                  <a:latin typeface="微软雅黑" panose="020B0503020204020204" pitchFamily="34" charset="-122"/>
                  <a:ea typeface="微软雅黑" panose="020B0503020204020204" pitchFamily="34" charset="-122"/>
                </a:rPr>
                <a:t>转发器或交换机连接起来的若干个局域网仍为一个网络</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7" name="任意多边形 16"/>
            <p:cNvSpPr/>
            <p:nvPr/>
          </p:nvSpPr>
          <p:spPr>
            <a:xfrm>
              <a:off x="670712" y="2725298"/>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FFCCCC"/>
            </a:solidFill>
          </p:spPr>
          <p:style>
            <a:lnRef idx="2">
              <a:schemeClr val="lt1">
                <a:hueOff val="0"/>
                <a:satOff val="0"/>
                <a:lumOff val="0"/>
                <a:alphaOff val="0"/>
              </a:schemeClr>
            </a:lnRef>
            <a:fillRef idx="1">
              <a:schemeClr val="accent4">
                <a:hueOff val="-4464770"/>
                <a:satOff val="26899"/>
                <a:lumOff val="2156"/>
                <a:alphaOff val="0"/>
              </a:schemeClr>
            </a:fillRef>
            <a:effectRef idx="0">
              <a:schemeClr val="accent4">
                <a:hueOff val="-4464770"/>
                <a:satOff val="26899"/>
                <a:lumOff val="2156"/>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(4) </a:t>
              </a:r>
              <a:r>
                <a:rPr lang="zh-CN" altLang="en-US" sz="1600" b="1" dirty="0">
                  <a:solidFill>
                    <a:srgbClr val="000099"/>
                  </a:solidFill>
                  <a:latin typeface="微软雅黑" panose="020B0503020204020204" pitchFamily="34" charset="-122"/>
                  <a:ea typeface="微软雅黑" panose="020B0503020204020204" pitchFamily="34" charset="-122"/>
                </a:rPr>
                <a:t>在 </a:t>
              </a:r>
              <a:r>
                <a:rPr lang="en-US" altLang="zh-CN" sz="1600" b="1" dirty="0">
                  <a:solidFill>
                    <a:srgbClr val="000099"/>
                  </a:solidFill>
                  <a:latin typeface="微软雅黑" panose="020B0503020204020204" pitchFamily="34" charset="-122"/>
                  <a:ea typeface="微软雅黑" panose="020B0503020204020204" pitchFamily="34" charset="-122"/>
                </a:rPr>
                <a:t>IP </a:t>
              </a:r>
              <a:r>
                <a:rPr lang="zh-CN" altLang="en-US" sz="1600" b="1" dirty="0">
                  <a:solidFill>
                    <a:srgbClr val="000099"/>
                  </a:solidFill>
                  <a:latin typeface="微软雅黑" panose="020B0503020204020204" pitchFamily="34" charset="-122"/>
                  <a:ea typeface="微软雅黑" panose="020B0503020204020204" pitchFamily="34" charset="-122"/>
                </a:rPr>
                <a:t>地址中，所有分配到网络前缀的网络都是平等的。</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grpSp>
      <p:sp>
        <p:nvSpPr>
          <p:cNvPr id="20" name="线形标注 1 19"/>
          <p:cNvSpPr/>
          <p:nvPr/>
        </p:nvSpPr>
        <p:spPr>
          <a:xfrm>
            <a:off x="4749731" y="1245469"/>
            <a:ext cx="3856008" cy="1361877"/>
          </a:xfrm>
          <a:prstGeom prst="borderCallout1">
            <a:avLst>
              <a:gd name="adj1" fmla="val 18153"/>
              <a:gd name="adj2" fmla="val 168"/>
              <a:gd name="adj3" fmla="val 22841"/>
              <a:gd name="adj4" fmla="val -12830"/>
            </a:avLst>
          </a:prstGeom>
          <a:no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nSpc>
                <a:spcPts val="2400"/>
              </a:lnSpc>
            </a:pPr>
            <a:r>
              <a:rPr lang="en-US" altLang="zh-CN" sz="1600" b="1" dirty="0">
                <a:solidFill>
                  <a:schemeClr val="tx1"/>
                </a:solidFill>
                <a:latin typeface="微软雅黑" panose="020B0503020204020204" pitchFamily="34" charset="-122"/>
                <a:ea typeface="微软雅黑" panose="020B0503020204020204" pitchFamily="34" charset="-122"/>
              </a:rPr>
              <a:t>IP </a:t>
            </a:r>
            <a:r>
              <a:rPr lang="zh-CN" altLang="en-US" sz="1600" b="1" dirty="0">
                <a:solidFill>
                  <a:schemeClr val="tx1"/>
                </a:solidFill>
                <a:latin typeface="微软雅黑" panose="020B0503020204020204" pitchFamily="34" charset="-122"/>
                <a:ea typeface="微软雅黑" panose="020B0503020204020204" pitchFamily="34" charset="-122"/>
              </a:rPr>
              <a:t>地址是一种</a:t>
            </a:r>
            <a:r>
              <a:rPr lang="zh-CN" altLang="en-US" sz="1600" b="1" dirty="0">
                <a:solidFill>
                  <a:srgbClr val="C00000"/>
                </a:solidFill>
                <a:latin typeface="微软雅黑" panose="020B0503020204020204" pitchFamily="34" charset="-122"/>
                <a:ea typeface="微软雅黑" panose="020B0503020204020204" pitchFamily="34" charset="-122"/>
              </a:rPr>
              <a:t>分等级</a:t>
            </a:r>
            <a:r>
              <a:rPr lang="zh-CN" altLang="en-US" sz="1600" b="1" dirty="0">
                <a:solidFill>
                  <a:schemeClr val="tx1"/>
                </a:solidFill>
                <a:latin typeface="微软雅黑" panose="020B0503020204020204" pitchFamily="34" charset="-122"/>
                <a:ea typeface="微软雅黑" panose="020B0503020204020204" pitchFamily="34" charset="-122"/>
              </a:rPr>
              <a:t>的地址结构。</a:t>
            </a:r>
            <a:endParaRPr lang="en-US" altLang="zh-CN" sz="1600" b="1" dirty="0">
              <a:solidFill>
                <a:schemeClr val="tx1"/>
              </a:solidFill>
              <a:latin typeface="微软雅黑" panose="020B0503020204020204" pitchFamily="34" charset="-122"/>
              <a:ea typeface="微软雅黑" panose="020B0503020204020204" pitchFamily="34" charset="-122"/>
            </a:endParaRPr>
          </a:p>
          <a:p>
            <a:pPr marL="285750" indent="-285750">
              <a:lnSpc>
                <a:spcPts val="2400"/>
              </a:lnSpc>
              <a:buFont typeface="Wingdings" panose="05000000000000000000" pitchFamily="2" charset="2"/>
              <a:buChar char="l"/>
            </a:pPr>
            <a:r>
              <a:rPr lang="zh-CN" altLang="en-US" sz="1600" b="1" dirty="0">
                <a:solidFill>
                  <a:schemeClr val="tx1"/>
                </a:solidFill>
                <a:latin typeface="微软雅黑" panose="020B0503020204020204" pitchFamily="34" charset="-122"/>
                <a:ea typeface="微软雅黑" panose="020B0503020204020204" pitchFamily="34" charset="-122"/>
              </a:rPr>
              <a:t>方便了 </a:t>
            </a:r>
            <a:r>
              <a:rPr lang="en-US" altLang="zh-CN" sz="1600" b="1" dirty="0">
                <a:solidFill>
                  <a:schemeClr val="tx1"/>
                </a:solidFill>
                <a:latin typeface="微软雅黑" panose="020B0503020204020204" pitchFamily="34" charset="-122"/>
                <a:ea typeface="微软雅黑" panose="020B0503020204020204" pitchFamily="34" charset="-122"/>
              </a:rPr>
              <a:t>IP </a:t>
            </a:r>
            <a:r>
              <a:rPr lang="zh-CN" altLang="en-US" sz="1600" b="1" dirty="0">
                <a:solidFill>
                  <a:schemeClr val="tx1"/>
                </a:solidFill>
                <a:latin typeface="微软雅黑" panose="020B0503020204020204" pitchFamily="34" charset="-122"/>
                <a:ea typeface="微软雅黑" panose="020B0503020204020204" pitchFamily="34" charset="-122"/>
              </a:rPr>
              <a:t>地址的分配和管理。</a:t>
            </a:r>
            <a:endParaRPr lang="en-US" altLang="zh-CN" sz="1600" b="1" dirty="0">
              <a:solidFill>
                <a:schemeClr val="tx1"/>
              </a:solidFill>
              <a:latin typeface="微软雅黑" panose="020B0503020204020204" pitchFamily="34" charset="-122"/>
              <a:ea typeface="微软雅黑" panose="020B0503020204020204" pitchFamily="34" charset="-122"/>
            </a:endParaRPr>
          </a:p>
          <a:p>
            <a:pPr marL="285750" indent="-285750">
              <a:lnSpc>
                <a:spcPts val="2400"/>
              </a:lnSpc>
              <a:buFont typeface="Wingdings" panose="05000000000000000000" pitchFamily="2" charset="2"/>
              <a:buChar char="l"/>
            </a:pPr>
            <a:r>
              <a:rPr lang="zh-CN" altLang="en-US" sz="1600" b="1" dirty="0">
                <a:solidFill>
                  <a:schemeClr val="tx1"/>
                </a:solidFill>
                <a:latin typeface="微软雅黑" panose="020B0503020204020204" pitchFamily="34" charset="-122"/>
                <a:ea typeface="微软雅黑" panose="020B0503020204020204" pitchFamily="34" charset="-122"/>
              </a:rPr>
              <a:t>实现路由聚合，减小了转发表所占的存储空间，以及查找转发表的时间。</a:t>
            </a:r>
          </a:p>
          <a:p>
            <a:pPr>
              <a:lnSpc>
                <a:spcPts val="2400"/>
              </a:lnSpc>
            </a:pPr>
            <a:endParaRPr lang="zh-CN" altLang="en-US" sz="1600" b="1" dirty="0">
              <a:solidFill>
                <a:schemeClr val="tx1"/>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59026122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527220" y="581433"/>
            <a:ext cx="210826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4. IP </a:t>
            </a:r>
            <a:r>
              <a:rPr lang="zh-CN" altLang="en-US" sz="2000" b="1" dirty="0">
                <a:solidFill>
                  <a:schemeClr val="bg1"/>
                </a:solidFill>
                <a:latin typeface="微软雅黑" pitchFamily="34" charset="-122"/>
                <a:ea typeface="微软雅黑" pitchFamily="34" charset="-122"/>
              </a:rPr>
              <a:t>地址的特点</a:t>
            </a:r>
          </a:p>
        </p:txBody>
      </p:sp>
      <p:grpSp>
        <p:nvGrpSpPr>
          <p:cNvPr id="13" name="组合 12"/>
          <p:cNvGrpSpPr/>
          <p:nvPr/>
        </p:nvGrpSpPr>
        <p:grpSpPr>
          <a:xfrm>
            <a:off x="618963" y="1190836"/>
            <a:ext cx="3797762" cy="2949847"/>
            <a:chOff x="670712" y="1104572"/>
            <a:chExt cx="4531017" cy="2078642"/>
          </a:xfrm>
        </p:grpSpPr>
        <p:sp>
          <p:nvSpPr>
            <p:cNvPr id="14" name="任意多边形 13"/>
            <p:cNvSpPr/>
            <p:nvPr/>
          </p:nvSpPr>
          <p:spPr>
            <a:xfrm>
              <a:off x="670712" y="1104572"/>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33CCFF"/>
            </a:solidFill>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(1) </a:t>
              </a:r>
              <a:r>
                <a:rPr lang="zh-CN" altLang="en-US" sz="1600" b="1" dirty="0">
                  <a:solidFill>
                    <a:srgbClr val="000099"/>
                  </a:solidFill>
                  <a:latin typeface="微软雅黑" panose="020B0503020204020204" pitchFamily="34" charset="-122"/>
                  <a:ea typeface="微软雅黑" panose="020B0503020204020204" pitchFamily="34" charset="-122"/>
                </a:rPr>
                <a:t>每个 </a:t>
              </a:r>
              <a:r>
                <a:rPr lang="en-US" altLang="zh-CN" sz="1600" b="1" dirty="0">
                  <a:solidFill>
                    <a:srgbClr val="000099"/>
                  </a:solidFill>
                  <a:latin typeface="微软雅黑" panose="020B0503020204020204" pitchFamily="34" charset="-122"/>
                  <a:ea typeface="微软雅黑" panose="020B0503020204020204" pitchFamily="34" charset="-122"/>
                </a:rPr>
                <a:t>IP </a:t>
              </a:r>
              <a:r>
                <a:rPr lang="zh-CN" altLang="en-US" sz="1600" b="1" dirty="0">
                  <a:solidFill>
                    <a:srgbClr val="000099"/>
                  </a:solidFill>
                  <a:latin typeface="微软雅黑" panose="020B0503020204020204" pitchFamily="34" charset="-122"/>
                  <a:ea typeface="微软雅黑" panose="020B0503020204020204" pitchFamily="34" charset="-122"/>
                </a:rPr>
                <a:t>地址都由网络前缀和主机号两部分组成。</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5" name="任意多边形 14"/>
            <p:cNvSpPr/>
            <p:nvPr/>
          </p:nvSpPr>
          <p:spPr>
            <a:xfrm>
              <a:off x="670712" y="1644815"/>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99CCFF"/>
            </a:solidFill>
          </p:spPr>
          <p:style>
            <a:lnRef idx="2">
              <a:schemeClr val="lt1">
                <a:hueOff val="0"/>
                <a:satOff val="0"/>
                <a:lumOff val="0"/>
                <a:alphaOff val="0"/>
              </a:schemeClr>
            </a:lnRef>
            <a:fillRef idx="1">
              <a:schemeClr val="accent4">
                <a:hueOff val="-1488257"/>
                <a:satOff val="8966"/>
                <a:lumOff val="719"/>
                <a:alphaOff val="0"/>
              </a:schemeClr>
            </a:fillRef>
            <a:effectRef idx="0">
              <a:schemeClr val="accent4">
                <a:hueOff val="-1488257"/>
                <a:satOff val="8966"/>
                <a:lumOff val="719"/>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(2) IP </a:t>
              </a:r>
              <a:r>
                <a:rPr lang="zh-CN" altLang="en-US" sz="1600" b="1" dirty="0">
                  <a:solidFill>
                    <a:srgbClr val="000099"/>
                  </a:solidFill>
                  <a:latin typeface="微软雅黑" panose="020B0503020204020204" pitchFamily="34" charset="-122"/>
                  <a:ea typeface="微软雅黑" panose="020B0503020204020204" pitchFamily="34" charset="-122"/>
                </a:rPr>
                <a:t>地址是标志一台主机（或路由器）和一条链路的接口。</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6" name="任意多边形 15"/>
            <p:cNvSpPr/>
            <p:nvPr/>
          </p:nvSpPr>
          <p:spPr>
            <a:xfrm>
              <a:off x="670712" y="2185057"/>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CCCCFF"/>
            </a:solidFill>
          </p:spPr>
          <p:style>
            <a:lnRef idx="2">
              <a:schemeClr val="lt1">
                <a:hueOff val="0"/>
                <a:satOff val="0"/>
                <a:lumOff val="0"/>
                <a:alphaOff val="0"/>
              </a:schemeClr>
            </a:lnRef>
            <a:fillRef idx="1">
              <a:schemeClr val="accent4">
                <a:hueOff val="-2976513"/>
                <a:satOff val="17933"/>
                <a:lumOff val="1437"/>
                <a:alphaOff val="0"/>
              </a:schemeClr>
            </a:fillRef>
            <a:effectRef idx="0">
              <a:schemeClr val="accent4">
                <a:hueOff val="-2976513"/>
                <a:satOff val="17933"/>
                <a:lumOff val="1437"/>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(3) </a:t>
              </a:r>
              <a:r>
                <a:rPr lang="zh-CN" altLang="en-US" sz="1600" b="1" dirty="0">
                  <a:solidFill>
                    <a:srgbClr val="000099"/>
                  </a:solidFill>
                  <a:latin typeface="微软雅黑" panose="020B0503020204020204" pitchFamily="34" charset="-122"/>
                  <a:ea typeface="微软雅黑" panose="020B0503020204020204" pitchFamily="34" charset="-122"/>
                </a:rPr>
                <a:t>转发器或交换机连接起来的若干个局域网仍为一个网络</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7" name="任意多边形 16"/>
            <p:cNvSpPr/>
            <p:nvPr/>
          </p:nvSpPr>
          <p:spPr>
            <a:xfrm>
              <a:off x="670712" y="2725298"/>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FFCCCC"/>
            </a:solidFill>
          </p:spPr>
          <p:style>
            <a:lnRef idx="2">
              <a:schemeClr val="lt1">
                <a:hueOff val="0"/>
                <a:satOff val="0"/>
                <a:lumOff val="0"/>
                <a:alphaOff val="0"/>
              </a:schemeClr>
            </a:lnRef>
            <a:fillRef idx="1">
              <a:schemeClr val="accent4">
                <a:hueOff val="-4464770"/>
                <a:satOff val="26899"/>
                <a:lumOff val="2156"/>
                <a:alphaOff val="0"/>
              </a:schemeClr>
            </a:fillRef>
            <a:effectRef idx="0">
              <a:schemeClr val="accent4">
                <a:hueOff val="-4464770"/>
                <a:satOff val="26899"/>
                <a:lumOff val="2156"/>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(4) </a:t>
              </a:r>
              <a:r>
                <a:rPr lang="zh-CN" altLang="en-US" sz="1600" b="1" dirty="0">
                  <a:solidFill>
                    <a:srgbClr val="000099"/>
                  </a:solidFill>
                  <a:latin typeface="微软雅黑" panose="020B0503020204020204" pitchFamily="34" charset="-122"/>
                  <a:ea typeface="微软雅黑" panose="020B0503020204020204" pitchFamily="34" charset="-122"/>
                </a:rPr>
                <a:t>在 </a:t>
              </a:r>
              <a:r>
                <a:rPr lang="en-US" altLang="zh-CN" sz="1600" b="1" dirty="0">
                  <a:solidFill>
                    <a:srgbClr val="000099"/>
                  </a:solidFill>
                  <a:latin typeface="微软雅黑" panose="020B0503020204020204" pitchFamily="34" charset="-122"/>
                  <a:ea typeface="微软雅黑" panose="020B0503020204020204" pitchFamily="34" charset="-122"/>
                </a:rPr>
                <a:t>IP </a:t>
              </a:r>
              <a:r>
                <a:rPr lang="zh-CN" altLang="en-US" sz="1600" b="1" dirty="0">
                  <a:solidFill>
                    <a:srgbClr val="000099"/>
                  </a:solidFill>
                  <a:latin typeface="微软雅黑" panose="020B0503020204020204" pitchFamily="34" charset="-122"/>
                  <a:ea typeface="微软雅黑" panose="020B0503020204020204" pitchFamily="34" charset="-122"/>
                </a:rPr>
                <a:t>地址中，所有分配到网络前缀的网络都是平等的。</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grpSp>
      <p:sp>
        <p:nvSpPr>
          <p:cNvPr id="20" name="线形标注 1 19"/>
          <p:cNvSpPr/>
          <p:nvPr/>
        </p:nvSpPr>
        <p:spPr>
          <a:xfrm>
            <a:off x="4749731" y="1245469"/>
            <a:ext cx="3856008" cy="2558780"/>
          </a:xfrm>
          <a:prstGeom prst="borderCallout1">
            <a:avLst>
              <a:gd name="adj1" fmla="val 18153"/>
              <a:gd name="adj2" fmla="val 168"/>
              <a:gd name="adj3" fmla="val 45156"/>
              <a:gd name="adj4" fmla="val -13501"/>
            </a:avLst>
          </a:prstGeom>
          <a:no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285750" indent="-285750">
              <a:lnSpc>
                <a:spcPts val="2400"/>
              </a:lnSpc>
              <a:buFont typeface="Wingdings" panose="05000000000000000000" pitchFamily="2" charset="2"/>
              <a:buChar char="l"/>
            </a:pPr>
            <a:r>
              <a:rPr lang="zh-CN" altLang="en-US" sz="1600" b="1" dirty="0">
                <a:solidFill>
                  <a:schemeClr val="tx1"/>
                </a:solidFill>
                <a:latin typeface="微软雅黑" panose="020B0503020204020204" pitchFamily="34" charset="-122"/>
                <a:ea typeface="微软雅黑" panose="020B0503020204020204" pitchFamily="34" charset="-122"/>
              </a:rPr>
              <a:t>当一台</a:t>
            </a:r>
            <a:r>
              <a:rPr lang="zh-CN" altLang="en-US" sz="1600" b="1" dirty="0">
                <a:solidFill>
                  <a:srgbClr val="C00000"/>
                </a:solidFill>
                <a:latin typeface="微软雅黑" panose="020B0503020204020204" pitchFamily="34" charset="-122"/>
                <a:ea typeface="微软雅黑" panose="020B0503020204020204" pitchFamily="34" charset="-122"/>
              </a:rPr>
              <a:t>主机</a:t>
            </a:r>
            <a:r>
              <a:rPr lang="zh-CN" altLang="en-US" sz="1600" b="1" dirty="0">
                <a:solidFill>
                  <a:schemeClr val="tx1"/>
                </a:solidFill>
                <a:latin typeface="微软雅黑" panose="020B0503020204020204" pitchFamily="34" charset="-122"/>
                <a:ea typeface="微软雅黑" panose="020B0503020204020204" pitchFamily="34" charset="-122"/>
              </a:rPr>
              <a:t>同时连接到</a:t>
            </a:r>
            <a:r>
              <a:rPr lang="zh-CN" altLang="en-US" sz="1600" b="1" dirty="0">
                <a:solidFill>
                  <a:srgbClr val="C00000"/>
                </a:solidFill>
                <a:latin typeface="微软雅黑" panose="020B0503020204020204" pitchFamily="34" charset="-122"/>
                <a:ea typeface="微软雅黑" panose="020B0503020204020204" pitchFamily="34" charset="-122"/>
              </a:rPr>
              <a:t>两个网络</a:t>
            </a:r>
            <a:r>
              <a:rPr lang="zh-CN" altLang="en-US" sz="1600" b="1" dirty="0">
                <a:solidFill>
                  <a:schemeClr val="tx1"/>
                </a:solidFill>
                <a:latin typeface="微软雅黑" panose="020B0503020204020204" pitchFamily="34" charset="-122"/>
                <a:ea typeface="微软雅黑" panose="020B0503020204020204" pitchFamily="34" charset="-122"/>
              </a:rPr>
              <a:t>上时，该主机就必须同时具有</a:t>
            </a:r>
            <a:r>
              <a:rPr lang="zh-CN" altLang="en-US" sz="1600" b="1" dirty="0">
                <a:solidFill>
                  <a:srgbClr val="C00000"/>
                </a:solidFill>
                <a:latin typeface="微软雅黑" panose="020B0503020204020204" pitchFamily="34" charset="-122"/>
                <a:ea typeface="微软雅黑" panose="020B0503020204020204" pitchFamily="34" charset="-122"/>
              </a:rPr>
              <a:t>两个</a:t>
            </a:r>
            <a:r>
              <a:rPr lang="zh-CN" altLang="en-US" sz="1600" b="1" dirty="0">
                <a:solidFill>
                  <a:schemeClr val="tx1"/>
                </a:solidFill>
                <a:latin typeface="微软雅黑" panose="020B0503020204020204" pitchFamily="34" charset="-122"/>
                <a:ea typeface="微软雅黑" panose="020B0503020204020204" pitchFamily="34" charset="-122"/>
              </a:rPr>
              <a:t>相应的 </a:t>
            </a:r>
            <a:r>
              <a:rPr lang="en-US" altLang="zh-CN" sz="1600" b="1" dirty="0">
                <a:solidFill>
                  <a:srgbClr val="C00000"/>
                </a:solidFill>
                <a:latin typeface="微软雅黑" panose="020B0503020204020204" pitchFamily="34" charset="-122"/>
                <a:ea typeface="微软雅黑" panose="020B0503020204020204" pitchFamily="34" charset="-122"/>
              </a:rPr>
              <a:t>IP </a:t>
            </a:r>
            <a:r>
              <a:rPr lang="zh-CN" altLang="en-US" sz="1600" b="1" dirty="0">
                <a:solidFill>
                  <a:srgbClr val="C00000"/>
                </a:solidFill>
                <a:latin typeface="微软雅黑" panose="020B0503020204020204" pitchFamily="34" charset="-122"/>
                <a:ea typeface="微软雅黑" panose="020B0503020204020204" pitchFamily="34" charset="-122"/>
              </a:rPr>
              <a:t>地址，</a:t>
            </a:r>
            <a:r>
              <a:rPr lang="zh-CN" altLang="en-US" sz="1600" b="1" dirty="0">
                <a:solidFill>
                  <a:schemeClr val="tx1"/>
                </a:solidFill>
                <a:latin typeface="微软雅黑" panose="020B0503020204020204" pitchFamily="34" charset="-122"/>
                <a:ea typeface="微软雅黑" panose="020B0503020204020204" pitchFamily="34" charset="-122"/>
              </a:rPr>
              <a:t>其</a:t>
            </a:r>
            <a:r>
              <a:rPr lang="zh-CN" altLang="en-US" sz="1600" b="1" dirty="0">
                <a:solidFill>
                  <a:srgbClr val="C00000"/>
                </a:solidFill>
                <a:latin typeface="微软雅黑" panose="020B0503020204020204" pitchFamily="34" charset="-122"/>
                <a:ea typeface="微软雅黑" panose="020B0503020204020204" pitchFamily="34" charset="-122"/>
              </a:rPr>
              <a:t>网络号必须是不同</a:t>
            </a:r>
            <a:r>
              <a:rPr lang="zh-CN" altLang="en-US" sz="1600" b="1" dirty="0">
                <a:solidFill>
                  <a:schemeClr val="tx1"/>
                </a:solidFill>
                <a:latin typeface="微软雅黑" panose="020B0503020204020204" pitchFamily="34" charset="-122"/>
                <a:ea typeface="微软雅黑" panose="020B0503020204020204" pitchFamily="34" charset="-122"/>
              </a:rPr>
              <a:t>的。这种主机称为</a:t>
            </a:r>
            <a:r>
              <a:rPr lang="zh-CN" altLang="en-US" sz="1600" b="1" dirty="0">
                <a:solidFill>
                  <a:srgbClr val="C00000"/>
                </a:solidFill>
                <a:latin typeface="微软雅黑" panose="020B0503020204020204" pitchFamily="34" charset="-122"/>
                <a:ea typeface="微软雅黑" panose="020B0503020204020204" pitchFamily="34" charset="-122"/>
              </a:rPr>
              <a:t>多归属主机 </a:t>
            </a:r>
            <a:r>
              <a:rPr lang="en-US" altLang="zh-CN" sz="1600" b="1" dirty="0">
                <a:solidFill>
                  <a:schemeClr val="tx1"/>
                </a:solidFill>
                <a:latin typeface="微软雅黑" panose="020B0503020204020204" pitchFamily="34" charset="-122"/>
                <a:ea typeface="微软雅黑" panose="020B0503020204020204" pitchFamily="34" charset="-122"/>
              </a:rPr>
              <a:t>(</a:t>
            </a:r>
            <a:r>
              <a:rPr lang="en-US" altLang="zh-CN" sz="1600" b="1" dirty="0" err="1">
                <a:solidFill>
                  <a:schemeClr val="tx1"/>
                </a:solidFill>
                <a:latin typeface="微软雅黑" panose="020B0503020204020204" pitchFamily="34" charset="-122"/>
                <a:ea typeface="微软雅黑" panose="020B0503020204020204" pitchFamily="34" charset="-122"/>
              </a:rPr>
              <a:t>multihomed</a:t>
            </a:r>
            <a:r>
              <a:rPr lang="en-US" altLang="zh-CN" sz="1600" b="1" dirty="0">
                <a:solidFill>
                  <a:schemeClr val="tx1"/>
                </a:solidFill>
                <a:latin typeface="微软雅黑" panose="020B0503020204020204" pitchFamily="34" charset="-122"/>
                <a:ea typeface="微软雅黑" panose="020B0503020204020204" pitchFamily="34" charset="-122"/>
              </a:rPr>
              <a:t> host)</a:t>
            </a:r>
            <a:r>
              <a:rPr lang="zh-CN" altLang="en-US" sz="1600" b="1" dirty="0">
                <a:solidFill>
                  <a:schemeClr val="tx1"/>
                </a:solidFill>
                <a:latin typeface="微软雅黑" panose="020B0503020204020204" pitchFamily="34" charset="-122"/>
                <a:ea typeface="微软雅黑" panose="020B0503020204020204" pitchFamily="34" charset="-122"/>
              </a:rPr>
              <a:t>。</a:t>
            </a:r>
            <a:endParaRPr lang="en-US" altLang="zh-CN" sz="1600" b="1" dirty="0">
              <a:solidFill>
                <a:schemeClr val="tx1"/>
              </a:solidFill>
              <a:latin typeface="微软雅黑" panose="020B0503020204020204" pitchFamily="34" charset="-122"/>
              <a:ea typeface="微软雅黑" panose="020B0503020204020204" pitchFamily="34" charset="-122"/>
            </a:endParaRPr>
          </a:p>
          <a:p>
            <a:pPr marL="285750" indent="-285750">
              <a:lnSpc>
                <a:spcPts val="2400"/>
              </a:lnSpc>
              <a:buFont typeface="Wingdings" panose="05000000000000000000" pitchFamily="2" charset="2"/>
              <a:buChar char="l"/>
            </a:pPr>
            <a:r>
              <a:rPr lang="zh-CN" altLang="en-US" sz="1600" b="1" dirty="0">
                <a:solidFill>
                  <a:schemeClr val="tx1"/>
                </a:solidFill>
                <a:latin typeface="微软雅黑" panose="020B0503020204020204" pitchFamily="34" charset="-122"/>
                <a:ea typeface="微软雅黑" panose="020B0503020204020204" pitchFamily="34" charset="-122"/>
              </a:rPr>
              <a:t>一个</a:t>
            </a:r>
            <a:r>
              <a:rPr lang="zh-CN" altLang="en-US" sz="1600" b="1" dirty="0">
                <a:solidFill>
                  <a:srgbClr val="0000FF"/>
                </a:solidFill>
                <a:latin typeface="微软雅黑" panose="020B0503020204020204" pitchFamily="34" charset="-122"/>
                <a:ea typeface="微软雅黑" panose="020B0503020204020204" pitchFamily="34" charset="-122"/>
              </a:rPr>
              <a:t>路由器</a:t>
            </a:r>
            <a:r>
              <a:rPr lang="zh-CN" altLang="en-US" sz="1600" b="1" dirty="0">
                <a:solidFill>
                  <a:schemeClr val="tx1"/>
                </a:solidFill>
                <a:latin typeface="微软雅黑" panose="020B0503020204020204" pitchFamily="34" charset="-122"/>
                <a:ea typeface="微软雅黑" panose="020B0503020204020204" pitchFamily="34" charset="-122"/>
              </a:rPr>
              <a:t>至少应当连接到两个网络，因此一个路由器至少应当有</a:t>
            </a:r>
            <a:r>
              <a:rPr lang="zh-CN" altLang="en-US" sz="1600" b="1" dirty="0">
                <a:solidFill>
                  <a:srgbClr val="0000FF"/>
                </a:solidFill>
                <a:latin typeface="微软雅黑" panose="020B0503020204020204" pitchFamily="34" charset="-122"/>
                <a:ea typeface="微软雅黑" panose="020B0503020204020204" pitchFamily="34" charset="-122"/>
              </a:rPr>
              <a:t>两个不同</a:t>
            </a:r>
            <a:r>
              <a:rPr lang="zh-CN" altLang="en-US" sz="1600" b="1" dirty="0">
                <a:solidFill>
                  <a:schemeClr val="tx1"/>
                </a:solidFill>
                <a:latin typeface="微软雅黑" panose="020B0503020204020204" pitchFamily="34" charset="-122"/>
                <a:ea typeface="微软雅黑" panose="020B0503020204020204" pitchFamily="34" charset="-122"/>
              </a:rPr>
              <a:t>的 </a:t>
            </a:r>
            <a:r>
              <a:rPr lang="en-US" altLang="zh-CN" sz="1600" b="1" dirty="0">
                <a:solidFill>
                  <a:schemeClr val="tx1"/>
                </a:solidFill>
                <a:latin typeface="微软雅黑" panose="020B0503020204020204" pitchFamily="34" charset="-122"/>
                <a:ea typeface="微软雅黑" panose="020B0503020204020204" pitchFamily="34" charset="-122"/>
              </a:rPr>
              <a:t>IP </a:t>
            </a:r>
            <a:r>
              <a:rPr lang="zh-CN" altLang="en-US" sz="1600" b="1" dirty="0">
                <a:solidFill>
                  <a:schemeClr val="tx1"/>
                </a:solidFill>
                <a:latin typeface="微软雅黑" panose="020B0503020204020204" pitchFamily="34" charset="-122"/>
                <a:ea typeface="微软雅黑" panose="020B0503020204020204" pitchFamily="34" charset="-122"/>
              </a:rPr>
              <a:t>地址。</a:t>
            </a:r>
          </a:p>
          <a:p>
            <a:pPr>
              <a:lnSpc>
                <a:spcPts val="2400"/>
              </a:lnSpc>
            </a:pPr>
            <a:endParaRPr lang="zh-CN" altLang="en-US" sz="1600" b="1" dirty="0">
              <a:solidFill>
                <a:schemeClr val="tx1"/>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09190817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527220" y="581433"/>
            <a:ext cx="210826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4. IP </a:t>
            </a:r>
            <a:r>
              <a:rPr lang="zh-CN" altLang="en-US" sz="2000" b="1" dirty="0">
                <a:solidFill>
                  <a:schemeClr val="bg1"/>
                </a:solidFill>
                <a:latin typeface="微软雅黑" pitchFamily="34" charset="-122"/>
                <a:ea typeface="微软雅黑" pitchFamily="34" charset="-122"/>
              </a:rPr>
              <a:t>地址的特点</a:t>
            </a:r>
          </a:p>
        </p:txBody>
      </p:sp>
      <p:grpSp>
        <p:nvGrpSpPr>
          <p:cNvPr id="13" name="组合 12"/>
          <p:cNvGrpSpPr/>
          <p:nvPr/>
        </p:nvGrpSpPr>
        <p:grpSpPr>
          <a:xfrm>
            <a:off x="618963" y="1190836"/>
            <a:ext cx="3797762" cy="2949847"/>
            <a:chOff x="670712" y="1104572"/>
            <a:chExt cx="4531017" cy="2078642"/>
          </a:xfrm>
        </p:grpSpPr>
        <p:sp>
          <p:nvSpPr>
            <p:cNvPr id="14" name="任意多边形 13"/>
            <p:cNvSpPr/>
            <p:nvPr/>
          </p:nvSpPr>
          <p:spPr>
            <a:xfrm>
              <a:off x="670712" y="1104572"/>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33CCFF"/>
            </a:solidFill>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(1) </a:t>
              </a:r>
              <a:r>
                <a:rPr lang="zh-CN" altLang="en-US" sz="1600" b="1" dirty="0">
                  <a:solidFill>
                    <a:srgbClr val="000099"/>
                  </a:solidFill>
                  <a:latin typeface="微软雅黑" panose="020B0503020204020204" pitchFamily="34" charset="-122"/>
                  <a:ea typeface="微软雅黑" panose="020B0503020204020204" pitchFamily="34" charset="-122"/>
                </a:rPr>
                <a:t>每个 </a:t>
              </a:r>
              <a:r>
                <a:rPr lang="en-US" altLang="zh-CN" sz="1600" b="1" dirty="0">
                  <a:solidFill>
                    <a:srgbClr val="000099"/>
                  </a:solidFill>
                  <a:latin typeface="微软雅黑" panose="020B0503020204020204" pitchFamily="34" charset="-122"/>
                  <a:ea typeface="微软雅黑" panose="020B0503020204020204" pitchFamily="34" charset="-122"/>
                </a:rPr>
                <a:t>IP </a:t>
              </a:r>
              <a:r>
                <a:rPr lang="zh-CN" altLang="en-US" sz="1600" b="1" dirty="0">
                  <a:solidFill>
                    <a:srgbClr val="000099"/>
                  </a:solidFill>
                  <a:latin typeface="微软雅黑" panose="020B0503020204020204" pitchFamily="34" charset="-122"/>
                  <a:ea typeface="微软雅黑" panose="020B0503020204020204" pitchFamily="34" charset="-122"/>
                </a:rPr>
                <a:t>地址都由网络前缀和主机号两部分组成。</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5" name="任意多边形 14"/>
            <p:cNvSpPr/>
            <p:nvPr/>
          </p:nvSpPr>
          <p:spPr>
            <a:xfrm>
              <a:off x="670712" y="1644815"/>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99CCFF"/>
            </a:solidFill>
          </p:spPr>
          <p:style>
            <a:lnRef idx="2">
              <a:schemeClr val="lt1">
                <a:hueOff val="0"/>
                <a:satOff val="0"/>
                <a:lumOff val="0"/>
                <a:alphaOff val="0"/>
              </a:schemeClr>
            </a:lnRef>
            <a:fillRef idx="1">
              <a:schemeClr val="accent4">
                <a:hueOff val="-1488257"/>
                <a:satOff val="8966"/>
                <a:lumOff val="719"/>
                <a:alphaOff val="0"/>
              </a:schemeClr>
            </a:fillRef>
            <a:effectRef idx="0">
              <a:schemeClr val="accent4">
                <a:hueOff val="-1488257"/>
                <a:satOff val="8966"/>
                <a:lumOff val="719"/>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(2) IP </a:t>
              </a:r>
              <a:r>
                <a:rPr lang="zh-CN" altLang="en-US" sz="1600" b="1" dirty="0">
                  <a:solidFill>
                    <a:srgbClr val="000099"/>
                  </a:solidFill>
                  <a:latin typeface="微软雅黑" panose="020B0503020204020204" pitchFamily="34" charset="-122"/>
                  <a:ea typeface="微软雅黑" panose="020B0503020204020204" pitchFamily="34" charset="-122"/>
                </a:rPr>
                <a:t>地址是标志一台主机（或路由器）和一条链路的接口。</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6" name="任意多边形 15"/>
            <p:cNvSpPr/>
            <p:nvPr/>
          </p:nvSpPr>
          <p:spPr>
            <a:xfrm>
              <a:off x="670712" y="2185057"/>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CCCCFF"/>
            </a:solidFill>
          </p:spPr>
          <p:style>
            <a:lnRef idx="2">
              <a:schemeClr val="lt1">
                <a:hueOff val="0"/>
                <a:satOff val="0"/>
                <a:lumOff val="0"/>
                <a:alphaOff val="0"/>
              </a:schemeClr>
            </a:lnRef>
            <a:fillRef idx="1">
              <a:schemeClr val="accent4">
                <a:hueOff val="-2976513"/>
                <a:satOff val="17933"/>
                <a:lumOff val="1437"/>
                <a:alphaOff val="0"/>
              </a:schemeClr>
            </a:fillRef>
            <a:effectRef idx="0">
              <a:schemeClr val="accent4">
                <a:hueOff val="-2976513"/>
                <a:satOff val="17933"/>
                <a:lumOff val="1437"/>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(3) </a:t>
              </a:r>
              <a:r>
                <a:rPr lang="zh-CN" altLang="en-US" sz="1600" b="1" dirty="0">
                  <a:solidFill>
                    <a:srgbClr val="000099"/>
                  </a:solidFill>
                  <a:latin typeface="微软雅黑" panose="020B0503020204020204" pitchFamily="34" charset="-122"/>
                  <a:ea typeface="微软雅黑" panose="020B0503020204020204" pitchFamily="34" charset="-122"/>
                </a:rPr>
                <a:t>转发器或交换机连接起来的若干个局域网仍为一个网络</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7" name="任意多边形 16"/>
            <p:cNvSpPr/>
            <p:nvPr/>
          </p:nvSpPr>
          <p:spPr>
            <a:xfrm>
              <a:off x="670712" y="2725298"/>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FFCCCC"/>
            </a:solidFill>
          </p:spPr>
          <p:style>
            <a:lnRef idx="2">
              <a:schemeClr val="lt1">
                <a:hueOff val="0"/>
                <a:satOff val="0"/>
                <a:lumOff val="0"/>
                <a:alphaOff val="0"/>
              </a:schemeClr>
            </a:lnRef>
            <a:fillRef idx="1">
              <a:schemeClr val="accent4">
                <a:hueOff val="-4464770"/>
                <a:satOff val="26899"/>
                <a:lumOff val="2156"/>
                <a:alphaOff val="0"/>
              </a:schemeClr>
            </a:fillRef>
            <a:effectRef idx="0">
              <a:schemeClr val="accent4">
                <a:hueOff val="-4464770"/>
                <a:satOff val="26899"/>
                <a:lumOff val="2156"/>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(4) </a:t>
              </a:r>
              <a:r>
                <a:rPr lang="zh-CN" altLang="en-US" sz="1600" b="1" dirty="0">
                  <a:solidFill>
                    <a:srgbClr val="000099"/>
                  </a:solidFill>
                  <a:latin typeface="微软雅黑" panose="020B0503020204020204" pitchFamily="34" charset="-122"/>
                  <a:ea typeface="微软雅黑" panose="020B0503020204020204" pitchFamily="34" charset="-122"/>
                </a:rPr>
                <a:t>在 </a:t>
              </a:r>
              <a:r>
                <a:rPr lang="en-US" altLang="zh-CN" sz="1600" b="1" dirty="0">
                  <a:solidFill>
                    <a:srgbClr val="000099"/>
                  </a:solidFill>
                  <a:latin typeface="微软雅黑" panose="020B0503020204020204" pitchFamily="34" charset="-122"/>
                  <a:ea typeface="微软雅黑" panose="020B0503020204020204" pitchFamily="34" charset="-122"/>
                </a:rPr>
                <a:t>IP </a:t>
              </a:r>
              <a:r>
                <a:rPr lang="zh-CN" altLang="en-US" sz="1600" b="1" dirty="0">
                  <a:solidFill>
                    <a:srgbClr val="000099"/>
                  </a:solidFill>
                  <a:latin typeface="微软雅黑" panose="020B0503020204020204" pitchFamily="34" charset="-122"/>
                  <a:ea typeface="微软雅黑" panose="020B0503020204020204" pitchFamily="34" charset="-122"/>
                </a:rPr>
                <a:t>地址中，所有分配到网络前缀的网络都是平等的。</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grpSp>
      <p:sp>
        <p:nvSpPr>
          <p:cNvPr id="20" name="线形标注 1 19"/>
          <p:cNvSpPr/>
          <p:nvPr/>
        </p:nvSpPr>
        <p:spPr>
          <a:xfrm>
            <a:off x="4749731" y="1245469"/>
            <a:ext cx="3856008" cy="2532901"/>
          </a:xfrm>
          <a:prstGeom prst="borderCallout1">
            <a:avLst>
              <a:gd name="adj1" fmla="val 59703"/>
              <a:gd name="adj2" fmla="val 168"/>
              <a:gd name="adj3" fmla="val 76430"/>
              <a:gd name="adj4" fmla="val -13278"/>
            </a:avLst>
          </a:prstGeom>
          <a:no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285750" indent="-285750">
              <a:lnSpc>
                <a:spcPts val="2400"/>
              </a:lnSpc>
              <a:buFont typeface="Wingdings" panose="05000000000000000000" pitchFamily="2" charset="2"/>
              <a:buChar char="l"/>
            </a:pPr>
            <a:r>
              <a:rPr lang="zh-CN" altLang="en-US" sz="1600" b="1" dirty="0">
                <a:solidFill>
                  <a:schemeClr val="tx1"/>
                </a:solidFill>
                <a:latin typeface="微软雅黑" panose="020B0503020204020204" pitchFamily="34" charset="-122"/>
                <a:ea typeface="微软雅黑" panose="020B0503020204020204" pitchFamily="34" charset="-122"/>
              </a:rPr>
              <a:t>按照互联网的观点，</a:t>
            </a:r>
            <a:r>
              <a:rPr lang="zh-CN" altLang="en-US" sz="1600" b="1" dirty="0">
                <a:solidFill>
                  <a:srgbClr val="0000FF"/>
                </a:solidFill>
                <a:latin typeface="微软雅黑" panose="020B0503020204020204" pitchFamily="34" charset="-122"/>
                <a:ea typeface="微软雅黑" panose="020B0503020204020204" pitchFamily="34" charset="-122"/>
              </a:rPr>
              <a:t>一个网络（或子网）是指具有</a:t>
            </a:r>
            <a:r>
              <a:rPr lang="zh-CN" altLang="en-US" sz="1600" b="1" dirty="0">
                <a:solidFill>
                  <a:srgbClr val="C00000"/>
                </a:solidFill>
                <a:latin typeface="微软雅黑" panose="020B0503020204020204" pitchFamily="34" charset="-122"/>
                <a:ea typeface="微软雅黑" panose="020B0503020204020204" pitchFamily="34" charset="-122"/>
              </a:rPr>
              <a:t>相同网络前缀</a:t>
            </a:r>
            <a:r>
              <a:rPr lang="zh-CN" altLang="en-US" sz="1600" b="1" dirty="0">
                <a:solidFill>
                  <a:srgbClr val="0000FF"/>
                </a:solidFill>
                <a:latin typeface="微软雅黑" panose="020B0503020204020204" pitchFamily="34" charset="-122"/>
                <a:ea typeface="微软雅黑" panose="020B0503020204020204" pitchFamily="34" charset="-122"/>
              </a:rPr>
              <a:t>的主机的集合。</a:t>
            </a:r>
            <a:endParaRPr lang="en-US" altLang="zh-CN" sz="1600" b="1" dirty="0">
              <a:solidFill>
                <a:srgbClr val="0000FF"/>
              </a:solidFill>
              <a:latin typeface="微软雅黑" panose="020B0503020204020204" pitchFamily="34" charset="-122"/>
              <a:ea typeface="微软雅黑" panose="020B0503020204020204" pitchFamily="34" charset="-122"/>
            </a:endParaRPr>
          </a:p>
          <a:p>
            <a:pPr marL="285750" indent="-285750">
              <a:lnSpc>
                <a:spcPts val="2400"/>
              </a:lnSpc>
              <a:buFont typeface="Wingdings" panose="05000000000000000000" pitchFamily="2" charset="2"/>
              <a:buChar char="l"/>
            </a:pPr>
            <a:r>
              <a:rPr lang="zh-CN" altLang="en-US" sz="1600" b="1" dirty="0">
                <a:solidFill>
                  <a:schemeClr val="tx1"/>
                </a:solidFill>
                <a:latin typeface="微软雅黑" panose="020B0503020204020204" pitchFamily="34" charset="-122"/>
                <a:ea typeface="微软雅黑" panose="020B0503020204020204" pitchFamily="34" charset="-122"/>
              </a:rPr>
              <a:t>转发器或交换机连接起来的若干个局域网都具有同样的网络号，它们仍为一个网络。</a:t>
            </a:r>
            <a:endParaRPr lang="en-US" altLang="zh-CN" sz="1600" b="1" dirty="0">
              <a:solidFill>
                <a:schemeClr val="tx1"/>
              </a:solidFill>
              <a:latin typeface="微软雅黑" panose="020B0503020204020204" pitchFamily="34" charset="-122"/>
              <a:ea typeface="微软雅黑" panose="020B0503020204020204" pitchFamily="34" charset="-122"/>
            </a:endParaRPr>
          </a:p>
          <a:p>
            <a:pPr marL="285750" indent="-285750">
              <a:lnSpc>
                <a:spcPts val="2400"/>
              </a:lnSpc>
              <a:buFont typeface="Wingdings" panose="05000000000000000000" pitchFamily="2" charset="2"/>
              <a:buChar char="l"/>
            </a:pPr>
            <a:r>
              <a:rPr lang="zh-CN" altLang="en-US" sz="1600" b="1" dirty="0">
                <a:solidFill>
                  <a:srgbClr val="C00000"/>
                </a:solidFill>
                <a:latin typeface="微软雅黑" panose="020B0503020204020204" pitchFamily="34" charset="-122"/>
                <a:ea typeface="微软雅黑" panose="020B0503020204020204" pitchFamily="34" charset="-122"/>
              </a:rPr>
              <a:t>具有</a:t>
            </a:r>
            <a:r>
              <a:rPr lang="zh-CN" altLang="en-US" sz="1600" b="1" dirty="0">
                <a:solidFill>
                  <a:srgbClr val="0000FF"/>
                </a:solidFill>
                <a:latin typeface="微软雅黑" panose="020B0503020204020204" pitchFamily="34" charset="-122"/>
                <a:ea typeface="微软雅黑" panose="020B0503020204020204" pitchFamily="34" charset="-122"/>
              </a:rPr>
              <a:t>不同网络号</a:t>
            </a:r>
            <a:r>
              <a:rPr lang="zh-CN" altLang="en-US" sz="1600" b="1" dirty="0">
                <a:solidFill>
                  <a:srgbClr val="C00000"/>
                </a:solidFill>
                <a:latin typeface="微软雅黑" panose="020B0503020204020204" pitchFamily="34" charset="-122"/>
                <a:ea typeface="微软雅黑" panose="020B0503020204020204" pitchFamily="34" charset="-122"/>
              </a:rPr>
              <a:t>的局域网必须使用路由器进行互连。</a:t>
            </a:r>
          </a:p>
        </p:txBody>
      </p:sp>
    </p:spTree>
    <p:extLst>
      <p:ext uri="{BB962C8B-B14F-4D97-AF65-F5344CB8AC3E}">
        <p14:creationId xmlns:p14="http://schemas.microsoft.com/office/powerpoint/2010/main" val="200582705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527220" y="581433"/>
            <a:ext cx="210826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4. IP </a:t>
            </a:r>
            <a:r>
              <a:rPr lang="zh-CN" altLang="en-US" sz="2000" b="1" dirty="0">
                <a:solidFill>
                  <a:schemeClr val="bg1"/>
                </a:solidFill>
                <a:latin typeface="微软雅黑" pitchFamily="34" charset="-122"/>
                <a:ea typeface="微软雅黑" pitchFamily="34" charset="-122"/>
              </a:rPr>
              <a:t>地址的特点</a:t>
            </a:r>
          </a:p>
        </p:txBody>
      </p:sp>
      <p:grpSp>
        <p:nvGrpSpPr>
          <p:cNvPr id="13" name="组合 12"/>
          <p:cNvGrpSpPr/>
          <p:nvPr/>
        </p:nvGrpSpPr>
        <p:grpSpPr>
          <a:xfrm>
            <a:off x="618963" y="1190836"/>
            <a:ext cx="3797762" cy="2949847"/>
            <a:chOff x="670712" y="1104572"/>
            <a:chExt cx="4531017" cy="2078642"/>
          </a:xfrm>
        </p:grpSpPr>
        <p:sp>
          <p:nvSpPr>
            <p:cNvPr id="14" name="任意多边形 13"/>
            <p:cNvSpPr/>
            <p:nvPr/>
          </p:nvSpPr>
          <p:spPr>
            <a:xfrm>
              <a:off x="670712" y="1104572"/>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33CCFF"/>
            </a:solidFill>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(1) </a:t>
              </a:r>
              <a:r>
                <a:rPr lang="zh-CN" altLang="en-US" sz="1600" b="1" dirty="0">
                  <a:solidFill>
                    <a:srgbClr val="000099"/>
                  </a:solidFill>
                  <a:latin typeface="微软雅黑" panose="020B0503020204020204" pitchFamily="34" charset="-122"/>
                  <a:ea typeface="微软雅黑" panose="020B0503020204020204" pitchFamily="34" charset="-122"/>
                </a:rPr>
                <a:t>每个 </a:t>
              </a:r>
              <a:r>
                <a:rPr lang="en-US" altLang="zh-CN" sz="1600" b="1" dirty="0">
                  <a:solidFill>
                    <a:srgbClr val="000099"/>
                  </a:solidFill>
                  <a:latin typeface="微软雅黑" panose="020B0503020204020204" pitchFamily="34" charset="-122"/>
                  <a:ea typeface="微软雅黑" panose="020B0503020204020204" pitchFamily="34" charset="-122"/>
                </a:rPr>
                <a:t>IP </a:t>
              </a:r>
              <a:r>
                <a:rPr lang="zh-CN" altLang="en-US" sz="1600" b="1" dirty="0">
                  <a:solidFill>
                    <a:srgbClr val="000099"/>
                  </a:solidFill>
                  <a:latin typeface="微软雅黑" panose="020B0503020204020204" pitchFamily="34" charset="-122"/>
                  <a:ea typeface="微软雅黑" panose="020B0503020204020204" pitchFamily="34" charset="-122"/>
                </a:rPr>
                <a:t>地址都由网络前缀和主机号两部分组成。</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5" name="任意多边形 14"/>
            <p:cNvSpPr/>
            <p:nvPr/>
          </p:nvSpPr>
          <p:spPr>
            <a:xfrm>
              <a:off x="670712" y="1644815"/>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99CCFF"/>
            </a:solidFill>
          </p:spPr>
          <p:style>
            <a:lnRef idx="2">
              <a:schemeClr val="lt1">
                <a:hueOff val="0"/>
                <a:satOff val="0"/>
                <a:lumOff val="0"/>
                <a:alphaOff val="0"/>
              </a:schemeClr>
            </a:lnRef>
            <a:fillRef idx="1">
              <a:schemeClr val="accent4">
                <a:hueOff val="-1488257"/>
                <a:satOff val="8966"/>
                <a:lumOff val="719"/>
                <a:alphaOff val="0"/>
              </a:schemeClr>
            </a:fillRef>
            <a:effectRef idx="0">
              <a:schemeClr val="accent4">
                <a:hueOff val="-1488257"/>
                <a:satOff val="8966"/>
                <a:lumOff val="719"/>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(2) IP </a:t>
              </a:r>
              <a:r>
                <a:rPr lang="zh-CN" altLang="en-US" sz="1600" b="1" dirty="0">
                  <a:solidFill>
                    <a:srgbClr val="000099"/>
                  </a:solidFill>
                  <a:latin typeface="微软雅黑" panose="020B0503020204020204" pitchFamily="34" charset="-122"/>
                  <a:ea typeface="微软雅黑" panose="020B0503020204020204" pitchFamily="34" charset="-122"/>
                </a:rPr>
                <a:t>地址是标志一台主机（或路由器）和一条链路的接口。</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6" name="任意多边形 15"/>
            <p:cNvSpPr/>
            <p:nvPr/>
          </p:nvSpPr>
          <p:spPr>
            <a:xfrm>
              <a:off x="670712" y="2185057"/>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CCCCFF"/>
            </a:solidFill>
          </p:spPr>
          <p:style>
            <a:lnRef idx="2">
              <a:schemeClr val="lt1">
                <a:hueOff val="0"/>
                <a:satOff val="0"/>
                <a:lumOff val="0"/>
                <a:alphaOff val="0"/>
              </a:schemeClr>
            </a:lnRef>
            <a:fillRef idx="1">
              <a:schemeClr val="accent4">
                <a:hueOff val="-2976513"/>
                <a:satOff val="17933"/>
                <a:lumOff val="1437"/>
                <a:alphaOff val="0"/>
              </a:schemeClr>
            </a:fillRef>
            <a:effectRef idx="0">
              <a:schemeClr val="accent4">
                <a:hueOff val="-2976513"/>
                <a:satOff val="17933"/>
                <a:lumOff val="1437"/>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(3) </a:t>
              </a:r>
              <a:r>
                <a:rPr lang="zh-CN" altLang="en-US" sz="1600" b="1" dirty="0">
                  <a:solidFill>
                    <a:srgbClr val="000099"/>
                  </a:solidFill>
                  <a:latin typeface="微软雅黑" panose="020B0503020204020204" pitchFamily="34" charset="-122"/>
                  <a:ea typeface="微软雅黑" panose="020B0503020204020204" pitchFamily="34" charset="-122"/>
                </a:rPr>
                <a:t>转发器或交换机连接起来的若干个局域网仍为一个网络</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7" name="任意多边形 16"/>
            <p:cNvSpPr/>
            <p:nvPr/>
          </p:nvSpPr>
          <p:spPr>
            <a:xfrm>
              <a:off x="670712" y="2725298"/>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FFCCCC"/>
            </a:solidFill>
          </p:spPr>
          <p:style>
            <a:lnRef idx="2">
              <a:schemeClr val="lt1">
                <a:hueOff val="0"/>
                <a:satOff val="0"/>
                <a:lumOff val="0"/>
                <a:alphaOff val="0"/>
              </a:schemeClr>
            </a:lnRef>
            <a:fillRef idx="1">
              <a:schemeClr val="accent4">
                <a:hueOff val="-4464770"/>
                <a:satOff val="26899"/>
                <a:lumOff val="2156"/>
                <a:alphaOff val="0"/>
              </a:schemeClr>
            </a:fillRef>
            <a:effectRef idx="0">
              <a:schemeClr val="accent4">
                <a:hueOff val="-4464770"/>
                <a:satOff val="26899"/>
                <a:lumOff val="2156"/>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(4) </a:t>
              </a:r>
              <a:r>
                <a:rPr lang="zh-CN" altLang="en-US" sz="1600" b="1" dirty="0">
                  <a:solidFill>
                    <a:srgbClr val="000099"/>
                  </a:solidFill>
                  <a:latin typeface="微软雅黑" panose="020B0503020204020204" pitchFamily="34" charset="-122"/>
                  <a:ea typeface="微软雅黑" panose="020B0503020204020204" pitchFamily="34" charset="-122"/>
                </a:rPr>
                <a:t>在 </a:t>
              </a:r>
              <a:r>
                <a:rPr lang="en-US" altLang="zh-CN" sz="1600" b="1" dirty="0">
                  <a:solidFill>
                    <a:srgbClr val="000099"/>
                  </a:solidFill>
                  <a:latin typeface="微软雅黑" panose="020B0503020204020204" pitchFamily="34" charset="-122"/>
                  <a:ea typeface="微软雅黑" panose="020B0503020204020204" pitchFamily="34" charset="-122"/>
                </a:rPr>
                <a:t>IP </a:t>
              </a:r>
              <a:r>
                <a:rPr lang="zh-CN" altLang="en-US" sz="1600" b="1" dirty="0">
                  <a:solidFill>
                    <a:srgbClr val="000099"/>
                  </a:solidFill>
                  <a:latin typeface="微软雅黑" panose="020B0503020204020204" pitchFamily="34" charset="-122"/>
                  <a:ea typeface="微软雅黑" panose="020B0503020204020204" pitchFamily="34" charset="-122"/>
                </a:rPr>
                <a:t>地址中，所有分配到网络前缀的网络都是平等的。</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grpSp>
      <p:sp>
        <p:nvSpPr>
          <p:cNvPr id="20" name="线形标注 1 19"/>
          <p:cNvSpPr/>
          <p:nvPr/>
        </p:nvSpPr>
        <p:spPr>
          <a:xfrm>
            <a:off x="4749731" y="3071003"/>
            <a:ext cx="3856008" cy="1069679"/>
          </a:xfrm>
          <a:prstGeom prst="borderCallout1">
            <a:avLst>
              <a:gd name="adj1" fmla="val 59703"/>
              <a:gd name="adj2" fmla="val 168"/>
              <a:gd name="adj3" fmla="val 76430"/>
              <a:gd name="adj4" fmla="val -13278"/>
            </a:avLst>
          </a:prstGeom>
          <a:no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285750" indent="-285750">
              <a:lnSpc>
                <a:spcPts val="2400"/>
              </a:lnSpc>
              <a:buFont typeface="Wingdings" panose="05000000000000000000" pitchFamily="2" charset="2"/>
              <a:buChar char="l"/>
            </a:pPr>
            <a:r>
              <a:rPr lang="zh-CN" altLang="en-US" sz="1600" b="1" dirty="0">
                <a:solidFill>
                  <a:schemeClr val="tx1"/>
                </a:solidFill>
                <a:latin typeface="微软雅黑" panose="020B0503020204020204" pitchFamily="34" charset="-122"/>
                <a:ea typeface="微软雅黑" panose="020B0503020204020204" pitchFamily="34" charset="-122"/>
              </a:rPr>
              <a:t>互联网</a:t>
            </a:r>
            <a:r>
              <a:rPr lang="zh-CN" altLang="en-US" sz="1600" b="1" dirty="0">
                <a:solidFill>
                  <a:srgbClr val="C00000"/>
                </a:solidFill>
                <a:latin typeface="微软雅黑" panose="020B0503020204020204" pitchFamily="34" charset="-122"/>
                <a:ea typeface="微软雅黑" panose="020B0503020204020204" pitchFamily="34" charset="-122"/>
              </a:rPr>
              <a:t>同等对待</a:t>
            </a:r>
            <a:r>
              <a:rPr lang="zh-CN" altLang="en-US" sz="1600" b="1" dirty="0">
                <a:solidFill>
                  <a:schemeClr val="tx1"/>
                </a:solidFill>
                <a:latin typeface="微软雅黑" panose="020B0503020204020204" pitchFamily="34" charset="-122"/>
                <a:ea typeface="微软雅黑" panose="020B0503020204020204" pitchFamily="34" charset="-122"/>
              </a:rPr>
              <a:t>每一个 </a:t>
            </a:r>
            <a:r>
              <a:rPr lang="en-US" altLang="zh-CN" sz="1600" b="1" dirty="0">
                <a:solidFill>
                  <a:schemeClr val="tx1"/>
                </a:solidFill>
                <a:latin typeface="微软雅黑" panose="020B0503020204020204" pitchFamily="34" charset="-122"/>
                <a:ea typeface="微软雅黑" panose="020B0503020204020204" pitchFamily="34" charset="-122"/>
              </a:rPr>
              <a:t>IP </a:t>
            </a:r>
            <a:r>
              <a:rPr lang="zh-CN" altLang="en-US" sz="1600" b="1" dirty="0">
                <a:solidFill>
                  <a:schemeClr val="tx1"/>
                </a:solidFill>
                <a:latin typeface="微软雅黑" panose="020B0503020204020204" pitchFamily="34" charset="-122"/>
                <a:ea typeface="微软雅黑" panose="020B0503020204020204" pitchFamily="34" charset="-122"/>
              </a:rPr>
              <a:t>地址，不管是范围很小的局域网，还是可能覆盖很大地理范围的广域网</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8368750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 name="圆角矩形 219"/>
          <p:cNvSpPr/>
          <p:nvPr/>
        </p:nvSpPr>
        <p:spPr>
          <a:xfrm>
            <a:off x="597048" y="99668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10" name="Text Box 438"/>
          <p:cNvSpPr txBox="1">
            <a:spLocks noChangeArrowheads="1"/>
          </p:cNvSpPr>
          <p:nvPr/>
        </p:nvSpPr>
        <p:spPr bwMode="auto">
          <a:xfrm>
            <a:off x="616085" y="1895813"/>
            <a:ext cx="2072794" cy="1175706"/>
          </a:xfrm>
          <a:prstGeom prst="rect">
            <a:avLst/>
          </a:prstGeom>
          <a:solidFill>
            <a:srgbClr val="00FFFF"/>
          </a:solidFill>
          <a:ln w="9525">
            <a:solidFill>
              <a:schemeClr val="tx2"/>
            </a:solidFill>
            <a:miter lim="800000"/>
            <a:headEnd/>
            <a:tailEnd/>
          </a:ln>
          <a:effectLst/>
        </p:spPr>
        <p:txBody>
          <a:bodyPr wrap="square">
            <a:spAutoFit/>
          </a:bodyPr>
          <a:lstStyle/>
          <a:p>
            <a:pPr algn="ctr">
              <a:lnSpc>
                <a:spcPct val="110000"/>
              </a:lnSpc>
            </a:pPr>
            <a:r>
              <a:rPr kumimoji="0" lang="zh-CN" altLang="en-US" sz="1600" b="1" dirty="0">
                <a:latin typeface="微软雅黑" pitchFamily="34" charset="-122"/>
                <a:ea typeface="微软雅黑" pitchFamily="34" charset="-122"/>
              </a:rPr>
              <a:t>同一个局域网上的</a:t>
            </a:r>
            <a:endParaRPr kumimoji="0" lang="en-US" altLang="zh-CN" sz="1600" b="1" dirty="0">
              <a:latin typeface="微软雅黑" pitchFamily="34" charset="-122"/>
              <a:ea typeface="微软雅黑" pitchFamily="34" charset="-122"/>
            </a:endParaRPr>
          </a:p>
          <a:p>
            <a:pPr algn="ctr">
              <a:lnSpc>
                <a:spcPct val="110000"/>
              </a:lnSpc>
            </a:pPr>
            <a:r>
              <a:rPr kumimoji="0" lang="zh-CN" altLang="en-US" sz="1600" b="1" dirty="0">
                <a:latin typeface="微软雅黑" pitchFamily="34" charset="-122"/>
                <a:ea typeface="微软雅黑" pitchFamily="34" charset="-122"/>
              </a:rPr>
              <a:t>主机或路由器的</a:t>
            </a:r>
          </a:p>
          <a:p>
            <a:pPr algn="ctr">
              <a:lnSpc>
                <a:spcPct val="110000"/>
              </a:lnSpc>
            </a:pPr>
            <a:r>
              <a:rPr kumimoji="0" lang="en-US" altLang="zh-CN" sz="1600" b="1" dirty="0">
                <a:latin typeface="微软雅黑" pitchFamily="34" charset="-122"/>
                <a:ea typeface="微软雅黑" pitchFamily="34" charset="-122"/>
              </a:rPr>
              <a:t>IP </a:t>
            </a:r>
            <a:r>
              <a:rPr kumimoji="0" lang="zh-CN" altLang="en-US" sz="1600" b="1" dirty="0">
                <a:latin typeface="微软雅黑" pitchFamily="34" charset="-122"/>
                <a:ea typeface="微软雅黑" pitchFamily="34" charset="-122"/>
              </a:rPr>
              <a:t>地址中的</a:t>
            </a:r>
            <a:r>
              <a:rPr kumimoji="0" lang="zh-CN" altLang="en-US" sz="1600" b="1" dirty="0">
                <a:solidFill>
                  <a:srgbClr val="C00000"/>
                </a:solidFill>
                <a:latin typeface="微软雅黑" pitchFamily="34" charset="-122"/>
                <a:ea typeface="微软雅黑" pitchFamily="34" charset="-122"/>
              </a:rPr>
              <a:t>网络号</a:t>
            </a:r>
            <a:endParaRPr kumimoji="0" lang="en-US" altLang="zh-CN" sz="1600" b="1" dirty="0">
              <a:solidFill>
                <a:srgbClr val="C00000"/>
              </a:solidFill>
              <a:latin typeface="微软雅黑" pitchFamily="34" charset="-122"/>
              <a:ea typeface="微软雅黑" pitchFamily="34" charset="-122"/>
            </a:endParaRPr>
          </a:p>
          <a:p>
            <a:pPr algn="ctr">
              <a:lnSpc>
                <a:spcPct val="110000"/>
              </a:lnSpc>
            </a:pPr>
            <a:r>
              <a:rPr kumimoji="0" lang="zh-CN" altLang="en-US" sz="1600" b="1" dirty="0">
                <a:latin typeface="微软雅黑" pitchFamily="34" charset="-122"/>
                <a:ea typeface="微软雅黑" pitchFamily="34" charset="-122"/>
              </a:rPr>
              <a:t>必须一样。</a:t>
            </a:r>
          </a:p>
        </p:txBody>
      </p:sp>
      <p:sp>
        <p:nvSpPr>
          <p:cNvPr id="215"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2" name="矩形 221"/>
          <p:cNvSpPr/>
          <p:nvPr/>
        </p:nvSpPr>
        <p:spPr>
          <a:xfrm>
            <a:off x="616085" y="574698"/>
            <a:ext cx="954107" cy="400110"/>
          </a:xfrm>
          <a:prstGeom prst="rect">
            <a:avLst/>
          </a:prstGeom>
        </p:spPr>
        <p:txBody>
          <a:bodyPr wrap="none">
            <a:spAutoFit/>
          </a:bodyPr>
          <a:lstStyle/>
          <a:p>
            <a:r>
              <a:rPr lang="zh-CN" altLang="en-US" sz="2000" b="1" dirty="0">
                <a:latin typeface="微软雅黑" pitchFamily="34" charset="-122"/>
                <a:ea typeface="微软雅黑" pitchFamily="34" charset="-122"/>
              </a:rPr>
              <a:t>注意：</a:t>
            </a:r>
          </a:p>
        </p:txBody>
      </p:sp>
      <p:sp>
        <p:nvSpPr>
          <p:cNvPr id="223" name="矩形 476"/>
          <p:cNvSpPr>
            <a:spLocks noChangeArrowheads="1"/>
          </p:cNvSpPr>
          <p:nvPr/>
        </p:nvSpPr>
        <p:spPr bwMode="auto">
          <a:xfrm>
            <a:off x="3480534" y="3636941"/>
            <a:ext cx="1298933" cy="503769"/>
          </a:xfrm>
          <a:prstGeom prst="rect">
            <a:avLst/>
          </a:prstGeom>
          <a:noFill/>
          <a:ln w="9525" cmpd="dbl"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4" name="椭圆 223"/>
          <p:cNvSpPr/>
          <p:nvPr/>
        </p:nvSpPr>
        <p:spPr bwMode="auto">
          <a:xfrm rot="19311755">
            <a:off x="5944139" y="2386474"/>
            <a:ext cx="2370599" cy="1274073"/>
          </a:xfrm>
          <a:prstGeom prst="ellipse">
            <a:avLst/>
          </a:prstGeom>
          <a:solidFill>
            <a:schemeClr val="bg1"/>
          </a:solidFill>
          <a:ln w="9525" cap="flat" cmpd="sng" algn="ctr">
            <a:solidFill>
              <a:schemeClr val="tx1"/>
            </a:solidFill>
            <a:prstDash val="dash"/>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225" name="Line 472"/>
          <p:cNvSpPr>
            <a:spLocks noChangeShapeType="1"/>
          </p:cNvSpPr>
          <p:nvPr/>
        </p:nvSpPr>
        <p:spPr bwMode="auto">
          <a:xfrm flipH="1">
            <a:off x="6724060" y="2550905"/>
            <a:ext cx="544147" cy="4608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 name="Line 472"/>
          <p:cNvSpPr>
            <a:spLocks noChangeShapeType="1"/>
          </p:cNvSpPr>
          <p:nvPr/>
        </p:nvSpPr>
        <p:spPr bwMode="auto">
          <a:xfrm flipH="1" flipV="1">
            <a:off x="7352277" y="2550905"/>
            <a:ext cx="363073" cy="26656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7" name="Line 472"/>
          <p:cNvSpPr>
            <a:spLocks noChangeShapeType="1"/>
          </p:cNvSpPr>
          <p:nvPr/>
        </p:nvSpPr>
        <p:spPr bwMode="auto">
          <a:xfrm flipH="1">
            <a:off x="7394775" y="2243674"/>
            <a:ext cx="374159" cy="25527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8" name="椭圆 227"/>
          <p:cNvSpPr/>
          <p:nvPr/>
        </p:nvSpPr>
        <p:spPr bwMode="auto">
          <a:xfrm rot="5400000">
            <a:off x="2635410" y="2144584"/>
            <a:ext cx="1278671" cy="1097332"/>
          </a:xfrm>
          <a:prstGeom prst="ellipse">
            <a:avLst/>
          </a:prstGeom>
          <a:solidFill>
            <a:schemeClr val="bg1"/>
          </a:solidFill>
          <a:ln w="9525" cap="flat" cmpd="sng" algn="ctr">
            <a:solidFill>
              <a:schemeClr val="tx1"/>
            </a:solidFill>
            <a:prstDash val="dash"/>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229" name="Line 471"/>
          <p:cNvSpPr>
            <a:spLocks noChangeShapeType="1"/>
          </p:cNvSpPr>
          <p:nvPr/>
        </p:nvSpPr>
        <p:spPr bwMode="auto">
          <a:xfrm>
            <a:off x="3094243" y="2878324"/>
            <a:ext cx="405529" cy="12265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0" name="Line 471"/>
          <p:cNvSpPr>
            <a:spLocks noChangeShapeType="1"/>
          </p:cNvSpPr>
          <p:nvPr/>
        </p:nvSpPr>
        <p:spPr bwMode="auto">
          <a:xfrm>
            <a:off x="3390756" y="2360852"/>
            <a:ext cx="182925" cy="56219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 name="椭圆 230"/>
          <p:cNvSpPr/>
          <p:nvPr/>
        </p:nvSpPr>
        <p:spPr bwMode="auto">
          <a:xfrm>
            <a:off x="4209341" y="1155939"/>
            <a:ext cx="1844004" cy="831332"/>
          </a:xfrm>
          <a:prstGeom prst="ellipse">
            <a:avLst/>
          </a:prstGeom>
          <a:solidFill>
            <a:schemeClr val="bg1"/>
          </a:solidFill>
          <a:ln w="9525" cap="flat" cmpd="sng" algn="ctr">
            <a:solidFill>
              <a:schemeClr val="tx1"/>
            </a:solidFill>
            <a:prstDash val="dash"/>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232" name="Line 467"/>
          <p:cNvSpPr>
            <a:spLocks noChangeShapeType="1"/>
          </p:cNvSpPr>
          <p:nvPr/>
        </p:nvSpPr>
        <p:spPr bwMode="auto">
          <a:xfrm>
            <a:off x="6724060" y="3114538"/>
            <a:ext cx="181998" cy="5410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 name="Line 466"/>
          <p:cNvSpPr>
            <a:spLocks noChangeShapeType="1"/>
          </p:cNvSpPr>
          <p:nvPr/>
        </p:nvSpPr>
        <p:spPr bwMode="auto">
          <a:xfrm flipH="1">
            <a:off x="6407179" y="3112279"/>
            <a:ext cx="183846" cy="54443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 name="Freeform 6"/>
          <p:cNvSpPr>
            <a:spLocks/>
          </p:cNvSpPr>
          <p:nvPr/>
        </p:nvSpPr>
        <p:spPr bwMode="auto">
          <a:xfrm>
            <a:off x="4650941" y="3047897"/>
            <a:ext cx="813911" cy="131025"/>
          </a:xfrm>
          <a:custGeom>
            <a:avLst/>
            <a:gdLst>
              <a:gd name="T0" fmla="*/ 2147483647 w 1138"/>
              <a:gd name="T1" fmla="*/ 2147483647 h 174"/>
              <a:gd name="T2" fmla="*/ 2147483647 w 1138"/>
              <a:gd name="T3" fmla="*/ 2147483647 h 174"/>
              <a:gd name="T4" fmla="*/ 2147483647 w 1138"/>
              <a:gd name="T5" fmla="*/ 2147483647 h 174"/>
              <a:gd name="T6" fmla="*/ 2147483647 w 1138"/>
              <a:gd name="T7" fmla="*/ 2147483647 h 174"/>
              <a:gd name="T8" fmla="*/ 2147483647 w 1138"/>
              <a:gd name="T9" fmla="*/ 0 h 174"/>
              <a:gd name="T10" fmla="*/ 2147483647 w 1138"/>
              <a:gd name="T11" fmla="*/ 0 h 174"/>
              <a:gd name="T12" fmla="*/ 2147483647 w 1138"/>
              <a:gd name="T13" fmla="*/ 0 h 174"/>
              <a:gd name="T14" fmla="*/ 2147483647 w 1138"/>
              <a:gd name="T15" fmla="*/ 0 h 174"/>
              <a:gd name="T16" fmla="*/ 2147483647 w 1138"/>
              <a:gd name="T17" fmla="*/ 2147483647 h 174"/>
              <a:gd name="T18" fmla="*/ 2147483647 w 1138"/>
              <a:gd name="T19" fmla="*/ 2147483647 h 174"/>
              <a:gd name="T20" fmla="*/ 2147483647 w 1138"/>
              <a:gd name="T21" fmla="*/ 2147483647 h 174"/>
              <a:gd name="T22" fmla="*/ 2147483647 w 1138"/>
              <a:gd name="T23" fmla="*/ 2147483647 h 174"/>
              <a:gd name="T24" fmla="*/ 2147483647 w 1138"/>
              <a:gd name="T25" fmla="*/ 2147483647 h 174"/>
              <a:gd name="T26" fmla="*/ 2147483647 w 1138"/>
              <a:gd name="T27" fmla="*/ 2147483647 h 174"/>
              <a:gd name="T28" fmla="*/ 2147483647 w 1138"/>
              <a:gd name="T29" fmla="*/ 2147483647 h 174"/>
              <a:gd name="T30" fmla="*/ 2147483647 w 1138"/>
              <a:gd name="T31" fmla="*/ 2147483647 h 174"/>
              <a:gd name="T32" fmla="*/ 2147483647 w 1138"/>
              <a:gd name="T33" fmla="*/ 2147483647 h 174"/>
              <a:gd name="T34" fmla="*/ 2147483647 w 1138"/>
              <a:gd name="T35" fmla="*/ 2147483647 h 174"/>
              <a:gd name="T36" fmla="*/ 2147483647 w 1138"/>
              <a:gd name="T37" fmla="*/ 2147483647 h 174"/>
              <a:gd name="T38" fmla="*/ 2147483647 w 1138"/>
              <a:gd name="T39" fmla="*/ 2147483647 h 174"/>
              <a:gd name="T40" fmla="*/ 2147483647 w 1138"/>
              <a:gd name="T41" fmla="*/ 2147483647 h 174"/>
              <a:gd name="T42" fmla="*/ 2147483647 w 1138"/>
              <a:gd name="T43" fmla="*/ 2147483647 h 174"/>
              <a:gd name="T44" fmla="*/ 2147483647 w 1138"/>
              <a:gd name="T45" fmla="*/ 2147483647 h 174"/>
              <a:gd name="T46" fmla="*/ 2147483647 w 1138"/>
              <a:gd name="T47" fmla="*/ 2147483647 h 174"/>
              <a:gd name="T48" fmla="*/ 2147483647 w 1138"/>
              <a:gd name="T49" fmla="*/ 2147483647 h 174"/>
              <a:gd name="T50" fmla="*/ 2147483647 w 1138"/>
              <a:gd name="T51" fmla="*/ 2147483647 h 174"/>
              <a:gd name="T52" fmla="*/ 2147483647 w 1138"/>
              <a:gd name="T53" fmla="*/ 2147483647 h 174"/>
              <a:gd name="T54" fmla="*/ 2147483647 w 1138"/>
              <a:gd name="T55" fmla="*/ 2147483647 h 174"/>
              <a:gd name="T56" fmla="*/ 2147483647 w 1138"/>
              <a:gd name="T57" fmla="*/ 2147483647 h 174"/>
              <a:gd name="T58" fmla="*/ 2147483647 w 1138"/>
              <a:gd name="T59" fmla="*/ 2147483647 h 174"/>
              <a:gd name="T60" fmla="*/ 2147483647 w 1138"/>
              <a:gd name="T61" fmla="*/ 2147483647 h 174"/>
              <a:gd name="T62" fmla="*/ 2147483647 w 1138"/>
              <a:gd name="T63" fmla="*/ 2147483647 h 174"/>
              <a:gd name="T64" fmla="*/ 2147483647 w 1138"/>
              <a:gd name="T65" fmla="*/ 2147483647 h 174"/>
              <a:gd name="T66" fmla="*/ 2147483647 w 1138"/>
              <a:gd name="T67" fmla="*/ 2147483647 h 174"/>
              <a:gd name="T68" fmla="*/ 2147483647 w 1138"/>
              <a:gd name="T69" fmla="*/ 2147483647 h 174"/>
              <a:gd name="T70" fmla="*/ 2147483647 w 1138"/>
              <a:gd name="T71" fmla="*/ 2147483647 h 174"/>
              <a:gd name="T72" fmla="*/ 2147483647 w 1138"/>
              <a:gd name="T73" fmla="*/ 2147483647 h 174"/>
              <a:gd name="T74" fmla="*/ 2147483647 w 1138"/>
              <a:gd name="T75" fmla="*/ 2147483647 h 174"/>
              <a:gd name="T76" fmla="*/ 2147483647 w 1138"/>
              <a:gd name="T77" fmla="*/ 2147483647 h 174"/>
              <a:gd name="T78" fmla="*/ 2147483647 w 1138"/>
              <a:gd name="T79" fmla="*/ 2147483647 h 174"/>
              <a:gd name="T80" fmla="*/ 2147483647 w 1138"/>
              <a:gd name="T81" fmla="*/ 2147483647 h 174"/>
              <a:gd name="T82" fmla="*/ 2147483647 w 1138"/>
              <a:gd name="T83" fmla="*/ 2147483647 h 174"/>
              <a:gd name="T84" fmla="*/ 2147483647 w 1138"/>
              <a:gd name="T85" fmla="*/ 2147483647 h 174"/>
              <a:gd name="T86" fmla="*/ 2147483647 w 1138"/>
              <a:gd name="T87" fmla="*/ 2147483647 h 174"/>
              <a:gd name="T88" fmla="*/ 2147483647 w 1138"/>
              <a:gd name="T89" fmla="*/ 2147483647 h 174"/>
              <a:gd name="T90" fmla="*/ 2147483647 w 1138"/>
              <a:gd name="T91" fmla="*/ 2147483647 h 174"/>
              <a:gd name="T92" fmla="*/ 2147483647 w 1138"/>
              <a:gd name="T93" fmla="*/ 2147483647 h 174"/>
              <a:gd name="T94" fmla="*/ 2147483647 w 1138"/>
              <a:gd name="T95" fmla="*/ 2147483647 h 174"/>
              <a:gd name="T96" fmla="*/ 2147483647 w 1138"/>
              <a:gd name="T97" fmla="*/ 2147483647 h 174"/>
              <a:gd name="T98" fmla="*/ 2147483647 w 1138"/>
              <a:gd name="T99" fmla="*/ 2147483647 h 174"/>
              <a:gd name="T100" fmla="*/ 2147483647 w 1138"/>
              <a:gd name="T101" fmla="*/ 2147483647 h 174"/>
              <a:gd name="T102" fmla="*/ 2147483647 w 1138"/>
              <a:gd name="T103" fmla="*/ 2147483647 h 174"/>
              <a:gd name="T104" fmla="*/ 2147483647 w 1138"/>
              <a:gd name="T105" fmla="*/ 2147483647 h 174"/>
              <a:gd name="T106" fmla="*/ 2147483647 w 1138"/>
              <a:gd name="T107" fmla="*/ 2147483647 h 174"/>
              <a:gd name="T108" fmla="*/ 2147483647 w 1138"/>
              <a:gd name="T109" fmla="*/ 2147483647 h 174"/>
              <a:gd name="T110" fmla="*/ 0 w 1138"/>
              <a:gd name="T111" fmla="*/ 2147483647 h 174"/>
              <a:gd name="T112" fmla="*/ 0 w 1138"/>
              <a:gd name="T113" fmla="*/ 2147483647 h 174"/>
              <a:gd name="T114" fmla="*/ 2147483647 w 1138"/>
              <a:gd name="T115" fmla="*/ 2147483647 h 174"/>
              <a:gd name="T116" fmla="*/ 2147483647 w 1138"/>
              <a:gd name="T117" fmla="*/ 2147483647 h 174"/>
              <a:gd name="T118" fmla="*/ 2147483647 w 1138"/>
              <a:gd name="T119" fmla="*/ 2147483647 h 174"/>
              <a:gd name="T120" fmla="*/ 2147483647 w 1138"/>
              <a:gd name="T121" fmla="*/ 2147483647 h 174"/>
              <a:gd name="T122" fmla="*/ 2147483647 w 1138"/>
              <a:gd name="T123" fmla="*/ 2147483647 h 174"/>
              <a:gd name="T124" fmla="*/ 2147483647 w 1138"/>
              <a:gd name="T125" fmla="*/ 2147483647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38"/>
              <a:gd name="T190" fmla="*/ 0 h 174"/>
              <a:gd name="T191" fmla="*/ 1138 w 1138"/>
              <a:gd name="T192" fmla="*/ 174 h 17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99CC"/>
          </a:solidFill>
          <a:ln>
            <a:noFill/>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5" name="Line 450"/>
          <p:cNvSpPr>
            <a:spLocks noChangeShapeType="1"/>
          </p:cNvSpPr>
          <p:nvPr/>
        </p:nvSpPr>
        <p:spPr bwMode="auto">
          <a:xfrm>
            <a:off x="4445846" y="3106632"/>
            <a:ext cx="116774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 name="Freeform 4"/>
          <p:cNvSpPr>
            <a:spLocks/>
          </p:cNvSpPr>
          <p:nvPr/>
        </p:nvSpPr>
        <p:spPr bwMode="auto">
          <a:xfrm>
            <a:off x="4429217" y="2313704"/>
            <a:ext cx="529366" cy="560245"/>
          </a:xfrm>
          <a:custGeom>
            <a:avLst/>
            <a:gdLst>
              <a:gd name="T0" fmla="*/ 2147483647 w 741"/>
              <a:gd name="T1" fmla="*/ 2147483647 h 744"/>
              <a:gd name="T2" fmla="*/ 2147483647 w 741"/>
              <a:gd name="T3" fmla="*/ 2147483647 h 744"/>
              <a:gd name="T4" fmla="*/ 2147483647 w 741"/>
              <a:gd name="T5" fmla="*/ 2147483647 h 744"/>
              <a:gd name="T6" fmla="*/ 2147483647 w 741"/>
              <a:gd name="T7" fmla="*/ 2147483647 h 744"/>
              <a:gd name="T8" fmla="*/ 2147483647 w 741"/>
              <a:gd name="T9" fmla="*/ 2147483647 h 744"/>
              <a:gd name="T10" fmla="*/ 2147483647 w 741"/>
              <a:gd name="T11" fmla="*/ 2147483647 h 744"/>
              <a:gd name="T12" fmla="*/ 2147483647 w 741"/>
              <a:gd name="T13" fmla="*/ 2147483647 h 744"/>
              <a:gd name="T14" fmla="*/ 2147483647 w 741"/>
              <a:gd name="T15" fmla="*/ 2147483647 h 744"/>
              <a:gd name="T16" fmla="*/ 2147483647 w 741"/>
              <a:gd name="T17" fmla="*/ 2147483647 h 744"/>
              <a:gd name="T18" fmla="*/ 2147483647 w 741"/>
              <a:gd name="T19" fmla="*/ 2147483647 h 744"/>
              <a:gd name="T20" fmla="*/ 2147483647 w 741"/>
              <a:gd name="T21" fmla="*/ 2147483647 h 744"/>
              <a:gd name="T22" fmla="*/ 2147483647 w 741"/>
              <a:gd name="T23" fmla="*/ 2147483647 h 744"/>
              <a:gd name="T24" fmla="*/ 2147483647 w 741"/>
              <a:gd name="T25" fmla="*/ 2147483647 h 744"/>
              <a:gd name="T26" fmla="*/ 2147483647 w 741"/>
              <a:gd name="T27" fmla="*/ 2147483647 h 744"/>
              <a:gd name="T28" fmla="*/ 2147483647 w 741"/>
              <a:gd name="T29" fmla="*/ 2147483647 h 744"/>
              <a:gd name="T30" fmla="*/ 2147483647 w 741"/>
              <a:gd name="T31" fmla="*/ 2147483647 h 744"/>
              <a:gd name="T32" fmla="*/ 2147483647 w 741"/>
              <a:gd name="T33" fmla="*/ 2147483647 h 744"/>
              <a:gd name="T34" fmla="*/ 2147483647 w 741"/>
              <a:gd name="T35" fmla="*/ 2147483647 h 744"/>
              <a:gd name="T36" fmla="*/ 2147483647 w 741"/>
              <a:gd name="T37" fmla="*/ 2147483647 h 744"/>
              <a:gd name="T38" fmla="*/ 2147483647 w 741"/>
              <a:gd name="T39" fmla="*/ 2147483647 h 744"/>
              <a:gd name="T40" fmla="*/ 2147483647 w 741"/>
              <a:gd name="T41" fmla="*/ 2147483647 h 744"/>
              <a:gd name="T42" fmla="*/ 2147483647 w 741"/>
              <a:gd name="T43" fmla="*/ 2147483647 h 744"/>
              <a:gd name="T44" fmla="*/ 2147483647 w 741"/>
              <a:gd name="T45" fmla="*/ 2147483647 h 744"/>
              <a:gd name="T46" fmla="*/ 2147483647 w 741"/>
              <a:gd name="T47" fmla="*/ 2147483647 h 744"/>
              <a:gd name="T48" fmla="*/ 2147483647 w 741"/>
              <a:gd name="T49" fmla="*/ 2147483647 h 744"/>
              <a:gd name="T50" fmla="*/ 2147483647 w 741"/>
              <a:gd name="T51" fmla="*/ 2147483647 h 744"/>
              <a:gd name="T52" fmla="*/ 2147483647 w 741"/>
              <a:gd name="T53" fmla="*/ 2147483647 h 744"/>
              <a:gd name="T54" fmla="*/ 2147483647 w 741"/>
              <a:gd name="T55" fmla="*/ 0 h 744"/>
              <a:gd name="T56" fmla="*/ 2147483647 w 741"/>
              <a:gd name="T57" fmla="*/ 2147483647 h 744"/>
              <a:gd name="T58" fmla="*/ 2147483647 w 741"/>
              <a:gd name="T59" fmla="*/ 2147483647 h 744"/>
              <a:gd name="T60" fmla="*/ 2147483647 w 741"/>
              <a:gd name="T61" fmla="*/ 2147483647 h 744"/>
              <a:gd name="T62" fmla="*/ 2147483647 w 741"/>
              <a:gd name="T63" fmla="*/ 2147483647 h 744"/>
              <a:gd name="T64" fmla="*/ 2147483647 w 741"/>
              <a:gd name="T65" fmla="*/ 2147483647 h 744"/>
              <a:gd name="T66" fmla="*/ 2147483647 w 741"/>
              <a:gd name="T67" fmla="*/ 2147483647 h 744"/>
              <a:gd name="T68" fmla="*/ 2147483647 w 741"/>
              <a:gd name="T69" fmla="*/ 2147483647 h 744"/>
              <a:gd name="T70" fmla="*/ 2147483647 w 741"/>
              <a:gd name="T71" fmla="*/ 2147483647 h 744"/>
              <a:gd name="T72" fmla="*/ 2147483647 w 741"/>
              <a:gd name="T73" fmla="*/ 2147483647 h 744"/>
              <a:gd name="T74" fmla="*/ 2147483647 w 741"/>
              <a:gd name="T75" fmla="*/ 2147483647 h 744"/>
              <a:gd name="T76" fmla="*/ 2147483647 w 741"/>
              <a:gd name="T77" fmla="*/ 2147483647 h 744"/>
              <a:gd name="T78" fmla="*/ 2147483647 w 741"/>
              <a:gd name="T79" fmla="*/ 2147483647 h 744"/>
              <a:gd name="T80" fmla="*/ 2147483647 w 741"/>
              <a:gd name="T81" fmla="*/ 2147483647 h 744"/>
              <a:gd name="T82" fmla="*/ 2147483647 w 741"/>
              <a:gd name="T83" fmla="*/ 2147483647 h 744"/>
              <a:gd name="T84" fmla="*/ 2147483647 w 741"/>
              <a:gd name="T85" fmla="*/ 2147483647 h 744"/>
              <a:gd name="T86" fmla="*/ 0 w 741"/>
              <a:gd name="T87" fmla="*/ 2147483647 h 744"/>
              <a:gd name="T88" fmla="*/ 2147483647 w 741"/>
              <a:gd name="T89" fmla="*/ 2147483647 h 744"/>
              <a:gd name="T90" fmla="*/ 2147483647 w 741"/>
              <a:gd name="T91" fmla="*/ 2147483647 h 744"/>
              <a:gd name="T92" fmla="*/ 2147483647 w 741"/>
              <a:gd name="T93" fmla="*/ 2147483647 h 744"/>
              <a:gd name="T94" fmla="*/ 2147483647 w 741"/>
              <a:gd name="T95" fmla="*/ 2147483647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41"/>
              <a:gd name="T145" fmla="*/ 0 h 744"/>
              <a:gd name="T146" fmla="*/ 741 w 741"/>
              <a:gd name="T147" fmla="*/ 744 h 74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99CC"/>
          </a:solidFill>
          <a:ln>
            <a:noFill/>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7" name="Freeform 5"/>
          <p:cNvSpPr>
            <a:spLocks/>
          </p:cNvSpPr>
          <p:nvPr/>
        </p:nvSpPr>
        <p:spPr bwMode="auto">
          <a:xfrm>
            <a:off x="5206174" y="2311445"/>
            <a:ext cx="470240" cy="626887"/>
          </a:xfrm>
          <a:custGeom>
            <a:avLst/>
            <a:gdLst>
              <a:gd name="T0" fmla="*/ 2147483647 w 657"/>
              <a:gd name="T1" fmla="*/ 2147483647 h 832"/>
              <a:gd name="T2" fmla="*/ 2147483647 w 657"/>
              <a:gd name="T3" fmla="*/ 2147483647 h 832"/>
              <a:gd name="T4" fmla="*/ 2147483647 w 657"/>
              <a:gd name="T5" fmla="*/ 2147483647 h 832"/>
              <a:gd name="T6" fmla="*/ 2147483647 w 657"/>
              <a:gd name="T7" fmla="*/ 2147483647 h 832"/>
              <a:gd name="T8" fmla="*/ 2147483647 w 657"/>
              <a:gd name="T9" fmla="*/ 0 h 832"/>
              <a:gd name="T10" fmla="*/ 2147483647 w 657"/>
              <a:gd name="T11" fmla="*/ 2147483647 h 832"/>
              <a:gd name="T12" fmla="*/ 2147483647 w 657"/>
              <a:gd name="T13" fmla="*/ 2147483647 h 832"/>
              <a:gd name="T14" fmla="*/ 2147483647 w 657"/>
              <a:gd name="T15" fmla="*/ 2147483647 h 832"/>
              <a:gd name="T16" fmla="*/ 2147483647 w 657"/>
              <a:gd name="T17" fmla="*/ 2147483647 h 832"/>
              <a:gd name="T18" fmla="*/ 2147483647 w 657"/>
              <a:gd name="T19" fmla="*/ 2147483647 h 832"/>
              <a:gd name="T20" fmla="*/ 2147483647 w 657"/>
              <a:gd name="T21" fmla="*/ 2147483647 h 832"/>
              <a:gd name="T22" fmla="*/ 2147483647 w 657"/>
              <a:gd name="T23" fmla="*/ 2147483647 h 832"/>
              <a:gd name="T24" fmla="*/ 2147483647 w 657"/>
              <a:gd name="T25" fmla="*/ 2147483647 h 832"/>
              <a:gd name="T26" fmla="*/ 2147483647 w 657"/>
              <a:gd name="T27" fmla="*/ 2147483647 h 832"/>
              <a:gd name="T28" fmla="*/ 2147483647 w 657"/>
              <a:gd name="T29" fmla="*/ 2147483647 h 832"/>
              <a:gd name="T30" fmla="*/ 2147483647 w 657"/>
              <a:gd name="T31" fmla="*/ 2147483647 h 832"/>
              <a:gd name="T32" fmla="*/ 2147483647 w 657"/>
              <a:gd name="T33" fmla="*/ 2147483647 h 832"/>
              <a:gd name="T34" fmla="*/ 2147483647 w 657"/>
              <a:gd name="T35" fmla="*/ 2147483647 h 832"/>
              <a:gd name="T36" fmla="*/ 2147483647 w 657"/>
              <a:gd name="T37" fmla="*/ 2147483647 h 832"/>
              <a:gd name="T38" fmla="*/ 2147483647 w 657"/>
              <a:gd name="T39" fmla="*/ 2147483647 h 832"/>
              <a:gd name="T40" fmla="*/ 2147483647 w 657"/>
              <a:gd name="T41" fmla="*/ 2147483647 h 832"/>
              <a:gd name="T42" fmla="*/ 2147483647 w 657"/>
              <a:gd name="T43" fmla="*/ 2147483647 h 832"/>
              <a:gd name="T44" fmla="*/ 0 w 657"/>
              <a:gd name="T45" fmla="*/ 2147483647 h 832"/>
              <a:gd name="T46" fmla="*/ 2147483647 w 657"/>
              <a:gd name="T47" fmla="*/ 2147483647 h 832"/>
              <a:gd name="T48" fmla="*/ 2147483647 w 657"/>
              <a:gd name="T49" fmla="*/ 2147483647 h 832"/>
              <a:gd name="T50" fmla="*/ 2147483647 w 657"/>
              <a:gd name="T51" fmla="*/ 2147483647 h 832"/>
              <a:gd name="T52" fmla="*/ 2147483647 w 657"/>
              <a:gd name="T53" fmla="*/ 2147483647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57"/>
              <a:gd name="T82" fmla="*/ 0 h 832"/>
              <a:gd name="T83" fmla="*/ 657 w 657"/>
              <a:gd name="T84" fmla="*/ 832 h 83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99CC"/>
          </a:solidFill>
          <a:ln>
            <a:noFill/>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8" name="Freeform 10"/>
          <p:cNvSpPr>
            <a:spLocks/>
          </p:cNvSpPr>
          <p:nvPr/>
        </p:nvSpPr>
        <p:spPr bwMode="auto">
          <a:xfrm>
            <a:off x="4289715" y="2190586"/>
            <a:ext cx="766795" cy="842627"/>
          </a:xfrm>
          <a:custGeom>
            <a:avLst/>
            <a:gdLst>
              <a:gd name="T0" fmla="*/ 0 w 945"/>
              <a:gd name="T1" fmla="*/ 2147483647 h 888"/>
              <a:gd name="T2" fmla="*/ 2147483647 w 945"/>
              <a:gd name="T3" fmla="*/ 2147483647 h 888"/>
              <a:gd name="T4" fmla="*/ 2147483647 w 945"/>
              <a:gd name="T5" fmla="*/ 2147483647 h 888"/>
              <a:gd name="T6" fmla="*/ 2147483647 w 945"/>
              <a:gd name="T7" fmla="*/ 0 h 888"/>
              <a:gd name="T8" fmla="*/ 0 w 945"/>
              <a:gd name="T9" fmla="*/ 2147483647 h 888"/>
              <a:gd name="T10" fmla="*/ 0 60000 65536"/>
              <a:gd name="T11" fmla="*/ 0 60000 65536"/>
              <a:gd name="T12" fmla="*/ 0 60000 65536"/>
              <a:gd name="T13" fmla="*/ 0 60000 65536"/>
              <a:gd name="T14" fmla="*/ 0 60000 65536"/>
              <a:gd name="T15" fmla="*/ 0 w 945"/>
              <a:gd name="T16" fmla="*/ 0 h 888"/>
              <a:gd name="T17" fmla="*/ 945 w 945"/>
              <a:gd name="T18" fmla="*/ 888 h 888"/>
            </a:gdLst>
            <a:ahLst/>
            <a:cxnLst>
              <a:cxn ang="T10">
                <a:pos x="T0" y="T1"/>
              </a:cxn>
              <a:cxn ang="T11">
                <a:pos x="T2" y="T3"/>
              </a:cxn>
              <a:cxn ang="T12">
                <a:pos x="T4" y="T5"/>
              </a:cxn>
              <a:cxn ang="T13">
                <a:pos x="T6" y="T7"/>
              </a:cxn>
              <a:cxn ang="T14">
                <a:pos x="T8" y="T9"/>
              </a:cxn>
            </a:cxnLst>
            <a:rect l="T15" t="T16" r="T17" b="T18"/>
            <a:pathLst>
              <a:path w="945" h="888">
                <a:moveTo>
                  <a:pt x="0" y="876"/>
                </a:moveTo>
                <a:lnTo>
                  <a:pt x="12" y="888"/>
                </a:lnTo>
                <a:lnTo>
                  <a:pt x="945" y="12"/>
                </a:lnTo>
                <a:lnTo>
                  <a:pt x="932" y="0"/>
                </a:lnTo>
                <a:lnTo>
                  <a:pt x="0" y="876"/>
                </a:lnTo>
                <a:close/>
              </a:path>
            </a:pathLst>
          </a:custGeom>
          <a:solidFill>
            <a:srgbClr val="000000"/>
          </a:solidFill>
          <a:ln w="9525">
            <a:solidFill>
              <a:srgbClr val="000000"/>
            </a:solidFill>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9" name="Freeform 15"/>
          <p:cNvSpPr>
            <a:spLocks/>
          </p:cNvSpPr>
          <p:nvPr/>
        </p:nvSpPr>
        <p:spPr bwMode="auto">
          <a:xfrm>
            <a:off x="5141505" y="2181549"/>
            <a:ext cx="574635" cy="816648"/>
          </a:xfrm>
          <a:custGeom>
            <a:avLst/>
            <a:gdLst>
              <a:gd name="T0" fmla="*/ 2147483647 w 1094"/>
              <a:gd name="T1" fmla="*/ 2147483647 h 901"/>
              <a:gd name="T2" fmla="*/ 2147483647 w 1094"/>
              <a:gd name="T3" fmla="*/ 2147483647 h 901"/>
              <a:gd name="T4" fmla="*/ 2147483647 w 1094"/>
              <a:gd name="T5" fmla="*/ 0 h 901"/>
              <a:gd name="T6" fmla="*/ 0 w 1094"/>
              <a:gd name="T7" fmla="*/ 2147483647 h 901"/>
              <a:gd name="T8" fmla="*/ 2147483647 w 1094"/>
              <a:gd name="T9" fmla="*/ 2147483647 h 901"/>
              <a:gd name="T10" fmla="*/ 0 60000 65536"/>
              <a:gd name="T11" fmla="*/ 0 60000 65536"/>
              <a:gd name="T12" fmla="*/ 0 60000 65536"/>
              <a:gd name="T13" fmla="*/ 0 60000 65536"/>
              <a:gd name="T14" fmla="*/ 0 60000 65536"/>
              <a:gd name="T15" fmla="*/ 0 w 1094"/>
              <a:gd name="T16" fmla="*/ 0 h 901"/>
              <a:gd name="T17" fmla="*/ 1094 w 1094"/>
              <a:gd name="T18" fmla="*/ 901 h 901"/>
            </a:gdLst>
            <a:ahLst/>
            <a:cxnLst>
              <a:cxn ang="T10">
                <a:pos x="T0" y="T1"/>
              </a:cxn>
              <a:cxn ang="T11">
                <a:pos x="T2" y="T3"/>
              </a:cxn>
              <a:cxn ang="T12">
                <a:pos x="T4" y="T5"/>
              </a:cxn>
              <a:cxn ang="T13">
                <a:pos x="T6" y="T7"/>
              </a:cxn>
              <a:cxn ang="T14">
                <a:pos x="T8" y="T9"/>
              </a:cxn>
            </a:cxnLst>
            <a:rect l="T15" t="T16" r="T17" b="T18"/>
            <a:pathLst>
              <a:path w="1094" h="901">
                <a:moveTo>
                  <a:pt x="1082" y="901"/>
                </a:moveTo>
                <a:lnTo>
                  <a:pt x="1094" y="887"/>
                </a:lnTo>
                <a:lnTo>
                  <a:pt x="12" y="0"/>
                </a:lnTo>
                <a:lnTo>
                  <a:pt x="0" y="15"/>
                </a:lnTo>
                <a:lnTo>
                  <a:pt x="1082" y="901"/>
                </a:lnTo>
                <a:close/>
              </a:path>
            </a:pathLst>
          </a:custGeom>
          <a:solidFill>
            <a:srgbClr val="000000"/>
          </a:solidFill>
          <a:ln w="9525">
            <a:solidFill>
              <a:srgbClr val="000000"/>
            </a:solidFill>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0" name="Rectangle 27"/>
          <p:cNvSpPr>
            <a:spLocks noChangeArrowheads="1"/>
          </p:cNvSpPr>
          <p:nvPr/>
        </p:nvSpPr>
        <p:spPr bwMode="auto">
          <a:xfrm>
            <a:off x="3931352" y="3912547"/>
            <a:ext cx="807913"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a:solidFill>
                  <a:srgbClr val="000000"/>
                </a:solidFill>
                <a:latin typeface="微软雅黑" panose="020B0503020204020204" pitchFamily="34" charset="-122"/>
                <a:ea typeface="微软雅黑" panose="020B0503020204020204" pitchFamily="34" charset="-122"/>
              </a:rPr>
              <a:t>以太网交换机</a:t>
            </a:r>
            <a:endParaRPr lang="en-US" altLang="zh-CN" sz="1050" b="1">
              <a:latin typeface="微软雅黑" panose="020B0503020204020204" pitchFamily="34" charset="-122"/>
              <a:ea typeface="微软雅黑" panose="020B0503020204020204" pitchFamily="34" charset="-122"/>
            </a:endParaRPr>
          </a:p>
        </p:txBody>
      </p:sp>
      <p:sp>
        <p:nvSpPr>
          <p:cNvPr id="241" name="Oval 28"/>
          <p:cNvSpPr>
            <a:spLocks noChangeArrowheads="1"/>
          </p:cNvSpPr>
          <p:nvPr/>
        </p:nvSpPr>
        <p:spPr bwMode="auto">
          <a:xfrm>
            <a:off x="6444133" y="3435324"/>
            <a:ext cx="57279" cy="60994"/>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 name="Group 57"/>
          <p:cNvGrpSpPr>
            <a:grpSpLocks/>
          </p:cNvGrpSpPr>
          <p:nvPr/>
        </p:nvGrpSpPr>
        <p:grpSpPr bwMode="auto">
          <a:xfrm>
            <a:off x="6270449" y="3566349"/>
            <a:ext cx="243896" cy="265439"/>
            <a:chOff x="3891" y="3616"/>
            <a:chExt cx="342" cy="353"/>
          </a:xfrm>
        </p:grpSpPr>
        <p:grpSp>
          <p:nvGrpSpPr>
            <p:cNvPr id="3" name="Group 58"/>
            <p:cNvGrpSpPr>
              <a:grpSpLocks/>
            </p:cNvGrpSpPr>
            <p:nvPr/>
          </p:nvGrpSpPr>
          <p:grpSpPr bwMode="auto">
            <a:xfrm>
              <a:off x="3899" y="3622"/>
              <a:ext cx="334" cy="347"/>
              <a:chOff x="3899" y="3622"/>
              <a:chExt cx="334" cy="347"/>
            </a:xfrm>
          </p:grpSpPr>
          <p:sp>
            <p:nvSpPr>
              <p:cNvPr id="284" name="Freeform 59"/>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5" name="Freeform 60"/>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6" name="Freeform 61"/>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7" name="Freeform 62"/>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8" name="Rectangle 63"/>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9" name="Rectangle 64"/>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0" name="Rectangle 65"/>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1" name="Line 66"/>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4" name="Group 67"/>
              <p:cNvGrpSpPr>
                <a:grpSpLocks/>
              </p:cNvGrpSpPr>
              <p:nvPr/>
            </p:nvGrpSpPr>
            <p:grpSpPr bwMode="auto">
              <a:xfrm>
                <a:off x="3899" y="3918"/>
                <a:ext cx="334" cy="51"/>
                <a:chOff x="3899" y="3918"/>
                <a:chExt cx="334" cy="51"/>
              </a:xfrm>
            </p:grpSpPr>
            <p:sp>
              <p:nvSpPr>
                <p:cNvPr id="293" name="Freeform 68"/>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 name="Freeform 69"/>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 name="Rectangle 70"/>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 name="Group 71"/>
            <p:cNvGrpSpPr>
              <a:grpSpLocks/>
            </p:cNvGrpSpPr>
            <p:nvPr/>
          </p:nvGrpSpPr>
          <p:grpSpPr bwMode="auto">
            <a:xfrm>
              <a:off x="3891" y="3616"/>
              <a:ext cx="334" cy="346"/>
              <a:chOff x="3891" y="3616"/>
              <a:chExt cx="334" cy="346"/>
            </a:xfrm>
          </p:grpSpPr>
          <p:sp>
            <p:nvSpPr>
              <p:cNvPr id="272" name="Freeform 72"/>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 name="Freeform 73"/>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4" name="Freeform 74"/>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 name="Freeform 75"/>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6" name="Rectangle 76"/>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7" name="Rectangle 77"/>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8" name="Rectangle 78"/>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9" name="Line 79"/>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6" name="Group 80"/>
              <p:cNvGrpSpPr>
                <a:grpSpLocks/>
              </p:cNvGrpSpPr>
              <p:nvPr/>
            </p:nvGrpSpPr>
            <p:grpSpPr bwMode="auto">
              <a:xfrm>
                <a:off x="3891" y="3912"/>
                <a:ext cx="334" cy="50"/>
                <a:chOff x="3891" y="3912"/>
                <a:chExt cx="334" cy="50"/>
              </a:xfrm>
            </p:grpSpPr>
            <p:sp>
              <p:nvSpPr>
                <p:cNvPr id="281" name="Freeform 81"/>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 name="Freeform 82"/>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3" name="Rectangle 83"/>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7" name="Group 84"/>
          <p:cNvGrpSpPr>
            <a:grpSpLocks/>
          </p:cNvGrpSpPr>
          <p:nvPr/>
        </p:nvGrpSpPr>
        <p:grpSpPr bwMode="auto">
          <a:xfrm>
            <a:off x="6784110" y="3544889"/>
            <a:ext cx="244820" cy="265438"/>
            <a:chOff x="4752" y="3605"/>
            <a:chExt cx="343" cy="353"/>
          </a:xfrm>
        </p:grpSpPr>
        <p:grpSp>
          <p:nvGrpSpPr>
            <p:cNvPr id="8" name="Group 85"/>
            <p:cNvGrpSpPr>
              <a:grpSpLocks/>
            </p:cNvGrpSpPr>
            <p:nvPr/>
          </p:nvGrpSpPr>
          <p:grpSpPr bwMode="auto">
            <a:xfrm>
              <a:off x="4760" y="3612"/>
              <a:ext cx="335" cy="346"/>
              <a:chOff x="4760" y="3612"/>
              <a:chExt cx="335" cy="346"/>
            </a:xfrm>
          </p:grpSpPr>
          <p:sp>
            <p:nvSpPr>
              <p:cNvPr id="311" name="Freeform 86"/>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 name="Freeform 87"/>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3" name="Freeform 88"/>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 name="Freeform 89"/>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5" name="Rectangle 90"/>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6" name="Rectangle 91"/>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7" name="Rectangle 92"/>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8" name="Line 93"/>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9" name="Group 94"/>
              <p:cNvGrpSpPr>
                <a:grpSpLocks/>
              </p:cNvGrpSpPr>
              <p:nvPr/>
            </p:nvGrpSpPr>
            <p:grpSpPr bwMode="auto">
              <a:xfrm>
                <a:off x="4760" y="3907"/>
                <a:ext cx="335" cy="51"/>
                <a:chOff x="4760" y="3907"/>
                <a:chExt cx="335" cy="51"/>
              </a:xfrm>
            </p:grpSpPr>
            <p:sp>
              <p:nvSpPr>
                <p:cNvPr id="320" name="Freeform 95"/>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1" name="Freeform 96"/>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2" name="Rectangle 97"/>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0" name="Group 98"/>
            <p:cNvGrpSpPr>
              <a:grpSpLocks/>
            </p:cNvGrpSpPr>
            <p:nvPr/>
          </p:nvGrpSpPr>
          <p:grpSpPr bwMode="auto">
            <a:xfrm>
              <a:off x="4752" y="3605"/>
              <a:ext cx="334" cy="347"/>
              <a:chOff x="4752" y="3605"/>
              <a:chExt cx="334" cy="347"/>
            </a:xfrm>
          </p:grpSpPr>
          <p:sp>
            <p:nvSpPr>
              <p:cNvPr id="299" name="Freeform 99"/>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 name="Freeform 100"/>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1" name="Freeform 101"/>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2" name="Freeform 102"/>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 name="Rectangle 103"/>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4" name="Rectangle 104"/>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5" name="Rectangle 105"/>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6" name="Line 106"/>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1" name="Group 107"/>
              <p:cNvGrpSpPr>
                <a:grpSpLocks/>
              </p:cNvGrpSpPr>
              <p:nvPr/>
            </p:nvGrpSpPr>
            <p:grpSpPr bwMode="auto">
              <a:xfrm>
                <a:off x="4752" y="3901"/>
                <a:ext cx="334" cy="51"/>
                <a:chOff x="4752" y="3901"/>
                <a:chExt cx="334" cy="51"/>
              </a:xfrm>
            </p:grpSpPr>
            <p:sp>
              <p:nvSpPr>
                <p:cNvPr id="308" name="Freeform 108"/>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9" name="Freeform 109"/>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 name="Rectangle 110"/>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12" name="Group 111"/>
          <p:cNvGrpSpPr>
            <a:grpSpLocks/>
          </p:cNvGrpSpPr>
          <p:nvPr/>
        </p:nvGrpSpPr>
        <p:grpSpPr bwMode="auto">
          <a:xfrm>
            <a:off x="3252685" y="2154439"/>
            <a:ext cx="244820" cy="265438"/>
            <a:chOff x="101" y="1539"/>
            <a:chExt cx="343" cy="352"/>
          </a:xfrm>
        </p:grpSpPr>
        <p:grpSp>
          <p:nvGrpSpPr>
            <p:cNvPr id="13" name="Group 112"/>
            <p:cNvGrpSpPr>
              <a:grpSpLocks/>
            </p:cNvGrpSpPr>
            <p:nvPr/>
          </p:nvGrpSpPr>
          <p:grpSpPr bwMode="auto">
            <a:xfrm>
              <a:off x="109" y="1545"/>
              <a:ext cx="335" cy="346"/>
              <a:chOff x="109" y="1545"/>
              <a:chExt cx="335" cy="346"/>
            </a:xfrm>
          </p:grpSpPr>
          <p:sp>
            <p:nvSpPr>
              <p:cNvPr id="338" name="Freeform 113"/>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9" name="Freeform 114"/>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0" name="Freeform 115"/>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1" name="Freeform 116"/>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2" name="Rectangle 117"/>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3" name="Rectangle 118"/>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4" name="Rectangle 119"/>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5" name="Line 120"/>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4" name="Group 121"/>
              <p:cNvGrpSpPr>
                <a:grpSpLocks/>
              </p:cNvGrpSpPr>
              <p:nvPr/>
            </p:nvGrpSpPr>
            <p:grpSpPr bwMode="auto">
              <a:xfrm>
                <a:off x="109" y="1841"/>
                <a:ext cx="335" cy="50"/>
                <a:chOff x="109" y="1841"/>
                <a:chExt cx="335" cy="50"/>
              </a:xfrm>
            </p:grpSpPr>
            <p:sp>
              <p:nvSpPr>
                <p:cNvPr id="347" name="Freeform 122"/>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8" name="Freeform 123"/>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9" name="Rectangle 124"/>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5" name="Group 125"/>
            <p:cNvGrpSpPr>
              <a:grpSpLocks/>
            </p:cNvGrpSpPr>
            <p:nvPr/>
          </p:nvGrpSpPr>
          <p:grpSpPr bwMode="auto">
            <a:xfrm>
              <a:off x="101" y="1539"/>
              <a:ext cx="335" cy="346"/>
              <a:chOff x="101" y="1539"/>
              <a:chExt cx="335" cy="346"/>
            </a:xfrm>
          </p:grpSpPr>
          <p:sp>
            <p:nvSpPr>
              <p:cNvPr id="326" name="Freeform 126"/>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7" name="Freeform 127"/>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8" name="Freeform 128"/>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9" name="Freeform 129"/>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0" name="Rectangle 130"/>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1" name="Rectangle 131"/>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2" name="Rectangle 132"/>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3" name="Line 133"/>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6" name="Group 134"/>
              <p:cNvGrpSpPr>
                <a:grpSpLocks/>
              </p:cNvGrpSpPr>
              <p:nvPr/>
            </p:nvGrpSpPr>
            <p:grpSpPr bwMode="auto">
              <a:xfrm>
                <a:off x="101" y="1834"/>
                <a:ext cx="335" cy="51"/>
                <a:chOff x="101" y="1834"/>
                <a:chExt cx="335" cy="51"/>
              </a:xfrm>
            </p:grpSpPr>
            <p:sp>
              <p:nvSpPr>
                <p:cNvPr id="335" name="Freeform 135"/>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6" name="Freeform 136"/>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7" name="Rectangle 137"/>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17" name="Group 138"/>
          <p:cNvGrpSpPr>
            <a:grpSpLocks/>
          </p:cNvGrpSpPr>
          <p:nvPr/>
        </p:nvGrpSpPr>
        <p:grpSpPr bwMode="auto">
          <a:xfrm>
            <a:off x="7667310" y="2607381"/>
            <a:ext cx="245744" cy="264309"/>
            <a:chOff x="5237" y="2322"/>
            <a:chExt cx="343" cy="352"/>
          </a:xfrm>
        </p:grpSpPr>
        <p:grpSp>
          <p:nvGrpSpPr>
            <p:cNvPr id="18" name="Group 139"/>
            <p:cNvGrpSpPr>
              <a:grpSpLocks/>
            </p:cNvGrpSpPr>
            <p:nvPr/>
          </p:nvGrpSpPr>
          <p:grpSpPr bwMode="auto">
            <a:xfrm>
              <a:off x="5245" y="2328"/>
              <a:ext cx="335" cy="346"/>
              <a:chOff x="5245" y="2328"/>
              <a:chExt cx="335" cy="346"/>
            </a:xfrm>
          </p:grpSpPr>
          <p:sp>
            <p:nvSpPr>
              <p:cNvPr id="365" name="Freeform 140"/>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6" name="Freeform 141"/>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7" name="Freeform 142"/>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8" name="Freeform 143"/>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9" name="Rectangle 144"/>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0" name="Rectangle 145"/>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1" name="Rectangle 146"/>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2" name="Line 147"/>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 name="Group 148"/>
              <p:cNvGrpSpPr>
                <a:grpSpLocks/>
              </p:cNvGrpSpPr>
              <p:nvPr/>
            </p:nvGrpSpPr>
            <p:grpSpPr bwMode="auto">
              <a:xfrm>
                <a:off x="5245" y="2624"/>
                <a:ext cx="335" cy="50"/>
                <a:chOff x="5245" y="2624"/>
                <a:chExt cx="335" cy="50"/>
              </a:xfrm>
            </p:grpSpPr>
            <p:sp>
              <p:nvSpPr>
                <p:cNvPr id="374" name="Freeform 149"/>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5" name="Freeform 150"/>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6" name="Rectangle 151"/>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0" name="Group 152"/>
            <p:cNvGrpSpPr>
              <a:grpSpLocks/>
            </p:cNvGrpSpPr>
            <p:nvPr/>
          </p:nvGrpSpPr>
          <p:grpSpPr bwMode="auto">
            <a:xfrm>
              <a:off x="5237" y="2322"/>
              <a:ext cx="335" cy="346"/>
              <a:chOff x="5237" y="2322"/>
              <a:chExt cx="335" cy="346"/>
            </a:xfrm>
          </p:grpSpPr>
          <p:sp>
            <p:nvSpPr>
              <p:cNvPr id="353" name="Freeform 153"/>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4" name="Freeform 154"/>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5" name="Freeform 155"/>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6" name="Freeform 156"/>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7" name="Rectangle 157"/>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58" name="Rectangle 158"/>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59" name="Rectangle 159"/>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60" name="Line 160"/>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 name="Group 161"/>
              <p:cNvGrpSpPr>
                <a:grpSpLocks/>
              </p:cNvGrpSpPr>
              <p:nvPr/>
            </p:nvGrpSpPr>
            <p:grpSpPr bwMode="auto">
              <a:xfrm>
                <a:off x="5237" y="2617"/>
                <a:ext cx="335" cy="51"/>
                <a:chOff x="5237" y="2617"/>
                <a:chExt cx="335" cy="51"/>
              </a:xfrm>
            </p:grpSpPr>
            <p:sp>
              <p:nvSpPr>
                <p:cNvPr id="362" name="Freeform 162"/>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3" name="Freeform 163"/>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4" name="Rectangle 164"/>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22" name="Group 165"/>
          <p:cNvGrpSpPr>
            <a:grpSpLocks/>
          </p:cNvGrpSpPr>
          <p:nvPr/>
        </p:nvGrpSpPr>
        <p:grpSpPr bwMode="auto">
          <a:xfrm>
            <a:off x="7667310" y="2053913"/>
            <a:ext cx="245744" cy="265438"/>
            <a:chOff x="5237" y="1587"/>
            <a:chExt cx="343" cy="353"/>
          </a:xfrm>
        </p:grpSpPr>
        <p:grpSp>
          <p:nvGrpSpPr>
            <p:cNvPr id="23" name="Group 166"/>
            <p:cNvGrpSpPr>
              <a:grpSpLocks/>
            </p:cNvGrpSpPr>
            <p:nvPr/>
          </p:nvGrpSpPr>
          <p:grpSpPr bwMode="auto">
            <a:xfrm>
              <a:off x="5245" y="1594"/>
              <a:ext cx="335" cy="346"/>
              <a:chOff x="5245" y="1594"/>
              <a:chExt cx="335" cy="346"/>
            </a:xfrm>
          </p:grpSpPr>
          <p:sp>
            <p:nvSpPr>
              <p:cNvPr id="392" name="Freeform 167"/>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3" name="Freeform 168"/>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4" name="Freeform 169"/>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5" name="Freeform 170"/>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6" name="Rectangle 171"/>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7" name="Rectangle 172"/>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8" name="Rectangle 173"/>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9" name="Line 174"/>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4" name="Group 175"/>
              <p:cNvGrpSpPr>
                <a:grpSpLocks/>
              </p:cNvGrpSpPr>
              <p:nvPr/>
            </p:nvGrpSpPr>
            <p:grpSpPr bwMode="auto">
              <a:xfrm>
                <a:off x="5245" y="1889"/>
                <a:ext cx="335" cy="51"/>
                <a:chOff x="5245" y="1889"/>
                <a:chExt cx="335" cy="51"/>
              </a:xfrm>
            </p:grpSpPr>
            <p:sp>
              <p:nvSpPr>
                <p:cNvPr id="401" name="Freeform 176"/>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02" name="Freeform 177"/>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03" name="Rectangle 178"/>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5" name="Group 179"/>
            <p:cNvGrpSpPr>
              <a:grpSpLocks/>
            </p:cNvGrpSpPr>
            <p:nvPr/>
          </p:nvGrpSpPr>
          <p:grpSpPr bwMode="auto">
            <a:xfrm>
              <a:off x="5237" y="1587"/>
              <a:ext cx="335" cy="346"/>
              <a:chOff x="5237" y="1587"/>
              <a:chExt cx="335" cy="346"/>
            </a:xfrm>
          </p:grpSpPr>
          <p:sp>
            <p:nvSpPr>
              <p:cNvPr id="380" name="Freeform 180"/>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1" name="Freeform 181"/>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2" name="Freeform 182"/>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3" name="Freeform 183"/>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4" name="Rectangle 184"/>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5" name="Rectangle 185"/>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6" name="Rectangle 186"/>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7" name="Line 187"/>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6" name="Group 188"/>
              <p:cNvGrpSpPr>
                <a:grpSpLocks/>
              </p:cNvGrpSpPr>
              <p:nvPr/>
            </p:nvGrpSpPr>
            <p:grpSpPr bwMode="auto">
              <a:xfrm>
                <a:off x="5237" y="1883"/>
                <a:ext cx="335" cy="50"/>
                <a:chOff x="5237" y="1883"/>
                <a:chExt cx="335" cy="50"/>
              </a:xfrm>
            </p:grpSpPr>
            <p:sp>
              <p:nvSpPr>
                <p:cNvPr id="389" name="Freeform 189"/>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0" name="Freeform 190"/>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1" name="Rectangle 191"/>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404" name="Rectangle 193"/>
          <p:cNvSpPr>
            <a:spLocks noChangeArrowheads="1"/>
          </p:cNvSpPr>
          <p:nvPr/>
        </p:nvSpPr>
        <p:spPr bwMode="auto">
          <a:xfrm>
            <a:off x="3546430" y="1311297"/>
            <a:ext cx="679673"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u="sng" dirty="0">
                <a:solidFill>
                  <a:srgbClr val="C00000"/>
                </a:solidFill>
                <a:latin typeface="微软雅黑" panose="020B0503020204020204" pitchFamily="34" charset="-122"/>
                <a:ea typeface="微软雅黑" panose="020B0503020204020204" pitchFamily="34" charset="-122"/>
              </a:rPr>
              <a:t>1.1.1.0/29</a:t>
            </a:r>
          </a:p>
        </p:txBody>
      </p:sp>
      <p:sp>
        <p:nvSpPr>
          <p:cNvPr id="405" name="Rectangle 194"/>
          <p:cNvSpPr>
            <a:spLocks noChangeArrowheads="1"/>
          </p:cNvSpPr>
          <p:nvPr/>
        </p:nvSpPr>
        <p:spPr bwMode="auto">
          <a:xfrm>
            <a:off x="4823700" y="1490279"/>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6" name="Rectangle 195"/>
          <p:cNvSpPr>
            <a:spLocks noChangeArrowheads="1"/>
          </p:cNvSpPr>
          <p:nvPr/>
        </p:nvSpPr>
        <p:spPr bwMode="auto">
          <a:xfrm>
            <a:off x="5479634" y="1681169"/>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1.1.1.1</a:t>
            </a:r>
            <a:endParaRPr lang="en-US" altLang="zh-CN" sz="1050" b="1">
              <a:latin typeface="微软雅黑" panose="020B0503020204020204" pitchFamily="34" charset="-122"/>
              <a:ea typeface="微软雅黑" panose="020B0503020204020204" pitchFamily="34" charset="-122"/>
            </a:endParaRPr>
          </a:p>
        </p:txBody>
      </p:sp>
      <p:sp>
        <p:nvSpPr>
          <p:cNvPr id="407" name="Rectangle 196"/>
          <p:cNvSpPr>
            <a:spLocks noChangeArrowheads="1"/>
          </p:cNvSpPr>
          <p:nvPr/>
        </p:nvSpPr>
        <p:spPr bwMode="auto">
          <a:xfrm>
            <a:off x="5572019" y="1490279"/>
            <a:ext cx="48779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8" name="Rectangle 197"/>
          <p:cNvSpPr>
            <a:spLocks noChangeArrowheads="1"/>
          </p:cNvSpPr>
          <p:nvPr/>
        </p:nvSpPr>
        <p:spPr bwMode="auto">
          <a:xfrm>
            <a:off x="5180307" y="1476725"/>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1.1.1.2</a:t>
            </a:r>
            <a:endParaRPr lang="en-US" altLang="zh-CN" sz="1050" b="1">
              <a:latin typeface="微软雅黑" panose="020B0503020204020204" pitchFamily="34" charset="-122"/>
              <a:ea typeface="微软雅黑" panose="020B0503020204020204" pitchFamily="34" charset="-122"/>
            </a:endParaRPr>
          </a:p>
        </p:txBody>
      </p:sp>
      <p:sp>
        <p:nvSpPr>
          <p:cNvPr id="409" name="Rectangle 199"/>
          <p:cNvSpPr>
            <a:spLocks noChangeArrowheads="1"/>
          </p:cNvSpPr>
          <p:nvPr/>
        </p:nvSpPr>
        <p:spPr bwMode="auto">
          <a:xfrm>
            <a:off x="4291220" y="1588857"/>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1.1.1.3</a:t>
            </a:r>
            <a:endParaRPr lang="en-US" altLang="zh-CN" sz="1050" b="1" dirty="0">
              <a:latin typeface="微软雅黑" panose="020B0503020204020204" pitchFamily="34" charset="-122"/>
              <a:ea typeface="微软雅黑" panose="020B0503020204020204" pitchFamily="34" charset="-122"/>
            </a:endParaRPr>
          </a:p>
        </p:txBody>
      </p:sp>
      <p:sp>
        <p:nvSpPr>
          <p:cNvPr id="410" name="Rectangle 284"/>
          <p:cNvSpPr>
            <a:spLocks noChangeArrowheads="1"/>
          </p:cNvSpPr>
          <p:nvPr/>
        </p:nvSpPr>
        <p:spPr bwMode="auto">
          <a:xfrm>
            <a:off x="5114713" y="1826878"/>
            <a:ext cx="12934" cy="276734"/>
          </a:xfrm>
          <a:prstGeom prst="rect">
            <a:avLst/>
          </a:prstGeom>
          <a:solidFill>
            <a:srgbClr val="000000"/>
          </a:solidFill>
          <a:ln w="19050">
            <a:solidFill>
              <a:srgbClr val="000000"/>
            </a:solidFill>
            <a:miter lim="800000"/>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7" name="Group 285"/>
          <p:cNvGrpSpPr>
            <a:grpSpLocks/>
          </p:cNvGrpSpPr>
          <p:nvPr/>
        </p:nvGrpSpPr>
        <p:grpSpPr bwMode="auto">
          <a:xfrm>
            <a:off x="4946573" y="2079892"/>
            <a:ext cx="314109" cy="197668"/>
            <a:chOff x="2299" y="1622"/>
            <a:chExt cx="439" cy="262"/>
          </a:xfrm>
        </p:grpSpPr>
        <p:sp>
          <p:nvSpPr>
            <p:cNvPr id="412" name="Oval 286"/>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3" name="Rectangle 28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4" name="Rectangle 288"/>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5" name="Oval 289"/>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8" name="Group 290"/>
            <p:cNvGrpSpPr>
              <a:grpSpLocks/>
            </p:cNvGrpSpPr>
            <p:nvPr/>
          </p:nvGrpSpPr>
          <p:grpSpPr bwMode="auto">
            <a:xfrm>
              <a:off x="2365" y="1640"/>
              <a:ext cx="304" cy="117"/>
              <a:chOff x="2365" y="1640"/>
              <a:chExt cx="304" cy="117"/>
            </a:xfrm>
          </p:grpSpPr>
          <p:grpSp>
            <p:nvGrpSpPr>
              <p:cNvPr id="29" name="Group 291"/>
              <p:cNvGrpSpPr>
                <a:grpSpLocks/>
              </p:cNvGrpSpPr>
              <p:nvPr/>
            </p:nvGrpSpPr>
            <p:grpSpPr bwMode="auto">
              <a:xfrm>
                <a:off x="2365" y="1640"/>
                <a:ext cx="302" cy="115"/>
                <a:chOff x="2365" y="1640"/>
                <a:chExt cx="302" cy="115"/>
              </a:xfrm>
            </p:grpSpPr>
            <p:sp>
              <p:nvSpPr>
                <p:cNvPr id="429" name="Freeform 292"/>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0" name="Freeform 293"/>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1" name="Freeform 294"/>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2" name="Freeform 295"/>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3" name="Freeform 296"/>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4" name="Freeform 297"/>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5" name="Freeform 298"/>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6" name="Freeform 299"/>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 name="Group 300"/>
              <p:cNvGrpSpPr>
                <a:grpSpLocks/>
              </p:cNvGrpSpPr>
              <p:nvPr/>
            </p:nvGrpSpPr>
            <p:grpSpPr bwMode="auto">
              <a:xfrm>
                <a:off x="2368" y="1643"/>
                <a:ext cx="301" cy="114"/>
                <a:chOff x="2368" y="1643"/>
                <a:chExt cx="301" cy="114"/>
              </a:xfrm>
            </p:grpSpPr>
            <p:sp>
              <p:nvSpPr>
                <p:cNvPr id="421" name="Freeform 301"/>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2" name="Freeform 302"/>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3" name="Freeform 303"/>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4" name="Freeform 304"/>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5" name="Freeform 305"/>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6" name="Freeform 306"/>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7" name="Freeform 307"/>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8" name="Freeform 308"/>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417" name="Line 309"/>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8" name="Line 310"/>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437" name="Rectangle 311"/>
          <p:cNvSpPr>
            <a:spLocks noChangeArrowheads="1"/>
          </p:cNvSpPr>
          <p:nvPr/>
        </p:nvSpPr>
        <p:spPr bwMode="auto">
          <a:xfrm>
            <a:off x="5167372" y="1946608"/>
            <a:ext cx="489640"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38" name="Rectangle 312"/>
          <p:cNvSpPr>
            <a:spLocks noChangeArrowheads="1"/>
          </p:cNvSpPr>
          <p:nvPr/>
        </p:nvSpPr>
        <p:spPr bwMode="auto">
          <a:xfrm>
            <a:off x="5181542" y="1916111"/>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1.1.1.4</a:t>
            </a:r>
            <a:endParaRPr lang="en-US" altLang="zh-CN" sz="1050" b="1" dirty="0">
              <a:latin typeface="微软雅黑" panose="020B0503020204020204" pitchFamily="34" charset="-122"/>
              <a:ea typeface="微软雅黑" panose="020B0503020204020204" pitchFamily="34" charset="-122"/>
            </a:endParaRPr>
          </a:p>
        </p:txBody>
      </p:sp>
      <p:sp>
        <p:nvSpPr>
          <p:cNvPr id="439" name="Rectangle 313"/>
          <p:cNvSpPr>
            <a:spLocks noChangeArrowheads="1"/>
          </p:cNvSpPr>
          <p:nvPr/>
        </p:nvSpPr>
        <p:spPr bwMode="auto">
          <a:xfrm>
            <a:off x="4764574" y="2022286"/>
            <a:ext cx="199552"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0" name="Rectangle 314"/>
          <p:cNvSpPr>
            <a:spLocks noChangeArrowheads="1"/>
          </p:cNvSpPr>
          <p:nvPr/>
        </p:nvSpPr>
        <p:spPr bwMode="auto">
          <a:xfrm>
            <a:off x="4797210" y="2009142"/>
            <a:ext cx="150682"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FF"/>
                </a:solidFill>
                <a:latin typeface="微软雅黑" panose="020B0503020204020204" pitchFamily="34" charset="-122"/>
                <a:ea typeface="微软雅黑" panose="020B0503020204020204" pitchFamily="34" charset="-122"/>
              </a:rPr>
              <a:t>R</a:t>
            </a:r>
            <a:r>
              <a:rPr lang="en-US" altLang="zh-CN" sz="1050" b="1" baseline="-25000" dirty="0">
                <a:solidFill>
                  <a:srgbClr val="0000FF"/>
                </a:solidFill>
                <a:latin typeface="微软雅黑" panose="020B0503020204020204" pitchFamily="34" charset="-122"/>
                <a:ea typeface="微软雅黑" panose="020B0503020204020204" pitchFamily="34" charset="-122"/>
              </a:rPr>
              <a:t>1</a:t>
            </a:r>
          </a:p>
        </p:txBody>
      </p:sp>
      <p:sp>
        <p:nvSpPr>
          <p:cNvPr id="441" name="Oval 319"/>
          <p:cNvSpPr>
            <a:spLocks noChangeArrowheads="1"/>
          </p:cNvSpPr>
          <p:nvPr/>
        </p:nvSpPr>
        <p:spPr bwMode="auto">
          <a:xfrm>
            <a:off x="5095312" y="1972587"/>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2" name="Oval 325"/>
          <p:cNvSpPr>
            <a:spLocks noChangeArrowheads="1"/>
          </p:cNvSpPr>
          <p:nvPr/>
        </p:nvSpPr>
        <p:spPr bwMode="auto">
          <a:xfrm>
            <a:off x="7561991" y="270452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3" name="Oval 326"/>
          <p:cNvSpPr>
            <a:spLocks noChangeArrowheads="1"/>
          </p:cNvSpPr>
          <p:nvPr/>
        </p:nvSpPr>
        <p:spPr bwMode="auto">
          <a:xfrm>
            <a:off x="7588783" y="2334036"/>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4" name="Rectangle 327"/>
          <p:cNvSpPr>
            <a:spLocks noChangeArrowheads="1"/>
          </p:cNvSpPr>
          <p:nvPr/>
        </p:nvSpPr>
        <p:spPr bwMode="auto">
          <a:xfrm>
            <a:off x="6166054" y="2622065"/>
            <a:ext cx="488716"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5" name="Rectangle 328"/>
          <p:cNvSpPr>
            <a:spLocks noChangeArrowheads="1"/>
          </p:cNvSpPr>
          <p:nvPr/>
        </p:nvSpPr>
        <p:spPr bwMode="auto">
          <a:xfrm>
            <a:off x="5912639" y="3114538"/>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1.1.1.13</a:t>
            </a:r>
            <a:endParaRPr lang="en-US" altLang="zh-CN" sz="1050" b="1" dirty="0">
              <a:latin typeface="微软雅黑" panose="020B0503020204020204" pitchFamily="34" charset="-122"/>
              <a:ea typeface="微软雅黑" panose="020B0503020204020204" pitchFamily="34" charset="-122"/>
            </a:endParaRPr>
          </a:p>
        </p:txBody>
      </p:sp>
      <p:sp>
        <p:nvSpPr>
          <p:cNvPr id="446" name="Rectangle 329"/>
          <p:cNvSpPr>
            <a:spLocks noChangeArrowheads="1"/>
          </p:cNvSpPr>
          <p:nvPr/>
        </p:nvSpPr>
        <p:spPr bwMode="auto">
          <a:xfrm>
            <a:off x="7534276" y="2884115"/>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7" name="Rectangle 330"/>
          <p:cNvSpPr>
            <a:spLocks noChangeArrowheads="1"/>
          </p:cNvSpPr>
          <p:nvPr/>
        </p:nvSpPr>
        <p:spPr bwMode="auto">
          <a:xfrm>
            <a:off x="7121563" y="2785847"/>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1.1.1.10</a:t>
            </a:r>
            <a:endParaRPr lang="en-US" altLang="zh-CN" sz="1050" b="1" dirty="0">
              <a:latin typeface="微软雅黑" panose="020B0503020204020204" pitchFamily="34" charset="-122"/>
              <a:ea typeface="微软雅黑" panose="020B0503020204020204" pitchFamily="34" charset="-122"/>
            </a:endParaRPr>
          </a:p>
        </p:txBody>
      </p:sp>
      <p:sp>
        <p:nvSpPr>
          <p:cNvPr id="448" name="Rectangle 331"/>
          <p:cNvSpPr>
            <a:spLocks noChangeArrowheads="1"/>
          </p:cNvSpPr>
          <p:nvPr/>
        </p:nvSpPr>
        <p:spPr bwMode="auto">
          <a:xfrm>
            <a:off x="7534276" y="2313704"/>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9" name="Rectangle 332"/>
          <p:cNvSpPr>
            <a:spLocks noChangeArrowheads="1"/>
          </p:cNvSpPr>
          <p:nvPr/>
        </p:nvSpPr>
        <p:spPr bwMode="auto">
          <a:xfrm>
            <a:off x="7611879" y="2381476"/>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1.1.1.9</a:t>
            </a:r>
            <a:endParaRPr lang="en-US" altLang="zh-CN" sz="1050" b="1" dirty="0">
              <a:latin typeface="微软雅黑" panose="020B0503020204020204" pitchFamily="34" charset="-122"/>
              <a:ea typeface="微软雅黑" panose="020B0503020204020204" pitchFamily="34" charset="-122"/>
            </a:endParaRPr>
          </a:p>
        </p:txBody>
      </p:sp>
      <p:sp>
        <p:nvSpPr>
          <p:cNvPr id="450" name="Rectangle 334"/>
          <p:cNvSpPr>
            <a:spLocks noChangeArrowheads="1"/>
          </p:cNvSpPr>
          <p:nvPr/>
        </p:nvSpPr>
        <p:spPr bwMode="auto">
          <a:xfrm>
            <a:off x="6921131" y="3366423"/>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1.1.1.12</a:t>
            </a:r>
            <a:endParaRPr lang="en-US" altLang="zh-CN" sz="1050" b="1" dirty="0">
              <a:latin typeface="微软雅黑" panose="020B0503020204020204" pitchFamily="34" charset="-122"/>
              <a:ea typeface="微软雅黑" panose="020B0503020204020204" pitchFamily="34" charset="-122"/>
            </a:endParaRPr>
          </a:p>
        </p:txBody>
      </p:sp>
      <p:sp>
        <p:nvSpPr>
          <p:cNvPr id="451" name="Rectangle 335"/>
          <p:cNvSpPr>
            <a:spLocks noChangeArrowheads="1"/>
          </p:cNvSpPr>
          <p:nvPr/>
        </p:nvSpPr>
        <p:spPr bwMode="auto">
          <a:xfrm>
            <a:off x="5494415" y="3608142"/>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2" name="Rectangle 336"/>
          <p:cNvSpPr>
            <a:spLocks noChangeArrowheads="1"/>
          </p:cNvSpPr>
          <p:nvPr/>
        </p:nvSpPr>
        <p:spPr bwMode="auto">
          <a:xfrm>
            <a:off x="5893152" y="3353998"/>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1.1.1.11</a:t>
            </a:r>
            <a:endParaRPr lang="en-US" altLang="zh-CN" sz="1050" b="1" dirty="0">
              <a:latin typeface="微软雅黑" panose="020B0503020204020204" pitchFamily="34" charset="-122"/>
              <a:ea typeface="微软雅黑" panose="020B0503020204020204" pitchFamily="34" charset="-122"/>
            </a:endParaRPr>
          </a:p>
        </p:txBody>
      </p:sp>
      <p:sp>
        <p:nvSpPr>
          <p:cNvPr id="453" name="Oval 337"/>
          <p:cNvSpPr>
            <a:spLocks noChangeArrowheads="1"/>
          </p:cNvSpPr>
          <p:nvPr/>
        </p:nvSpPr>
        <p:spPr bwMode="auto">
          <a:xfrm>
            <a:off x="6821988" y="3439842"/>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4" name="Rectangle 338"/>
          <p:cNvSpPr>
            <a:spLocks noChangeArrowheads="1"/>
          </p:cNvSpPr>
          <p:nvPr/>
        </p:nvSpPr>
        <p:spPr bwMode="auto">
          <a:xfrm>
            <a:off x="6397940" y="2247062"/>
            <a:ext cx="434209"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5" name="Rectangle 339"/>
          <p:cNvSpPr>
            <a:spLocks noChangeArrowheads="1"/>
          </p:cNvSpPr>
          <p:nvPr/>
        </p:nvSpPr>
        <p:spPr bwMode="auto">
          <a:xfrm>
            <a:off x="6587986" y="2058318"/>
            <a:ext cx="70224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u="sng" dirty="0">
                <a:solidFill>
                  <a:srgbClr val="C00000"/>
                </a:solidFill>
                <a:latin typeface="微软雅黑" panose="020B0503020204020204" pitchFamily="34" charset="-122"/>
                <a:ea typeface="微软雅黑" panose="020B0503020204020204" pitchFamily="34" charset="-122"/>
              </a:rPr>
              <a:t>1.1.1.8/29</a:t>
            </a:r>
          </a:p>
        </p:txBody>
      </p:sp>
      <p:sp>
        <p:nvSpPr>
          <p:cNvPr id="456" name="Rectangle 340"/>
          <p:cNvSpPr>
            <a:spLocks noChangeArrowheads="1"/>
          </p:cNvSpPr>
          <p:nvPr/>
        </p:nvSpPr>
        <p:spPr bwMode="auto">
          <a:xfrm>
            <a:off x="6433047" y="2096835"/>
            <a:ext cx="349215"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7" name="Oval 396"/>
          <p:cNvSpPr>
            <a:spLocks noChangeArrowheads="1"/>
          </p:cNvSpPr>
          <p:nvPr/>
        </p:nvSpPr>
        <p:spPr bwMode="auto">
          <a:xfrm>
            <a:off x="4635235" y="308630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8" name="Oval 397"/>
          <p:cNvSpPr>
            <a:spLocks noChangeArrowheads="1"/>
          </p:cNvSpPr>
          <p:nvPr/>
        </p:nvSpPr>
        <p:spPr bwMode="auto">
          <a:xfrm>
            <a:off x="5441756" y="3082912"/>
            <a:ext cx="45268" cy="46311"/>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9" name="Oval 398"/>
          <p:cNvSpPr>
            <a:spLocks noChangeArrowheads="1"/>
          </p:cNvSpPr>
          <p:nvPr/>
        </p:nvSpPr>
        <p:spPr bwMode="auto">
          <a:xfrm>
            <a:off x="5641308" y="2899928"/>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0" name="Oval 399"/>
          <p:cNvSpPr>
            <a:spLocks noChangeArrowheads="1"/>
          </p:cNvSpPr>
          <p:nvPr/>
        </p:nvSpPr>
        <p:spPr bwMode="auto">
          <a:xfrm>
            <a:off x="5215413" y="229789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1" name="Oval 400"/>
          <p:cNvSpPr>
            <a:spLocks noChangeArrowheads="1"/>
          </p:cNvSpPr>
          <p:nvPr/>
        </p:nvSpPr>
        <p:spPr bwMode="auto">
          <a:xfrm>
            <a:off x="4411663" y="2842323"/>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2" name="Oval 401"/>
          <p:cNvSpPr>
            <a:spLocks noChangeArrowheads="1"/>
          </p:cNvSpPr>
          <p:nvPr/>
        </p:nvSpPr>
        <p:spPr bwMode="auto">
          <a:xfrm>
            <a:off x="4891142" y="2310315"/>
            <a:ext cx="44345" cy="46311"/>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3" name="Rectangle 402"/>
          <p:cNvSpPr>
            <a:spLocks noChangeArrowheads="1"/>
          </p:cNvSpPr>
          <p:nvPr/>
        </p:nvSpPr>
        <p:spPr bwMode="auto">
          <a:xfrm>
            <a:off x="5298559" y="2127332"/>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4" name="Rectangle 403"/>
          <p:cNvSpPr>
            <a:spLocks noChangeArrowheads="1"/>
          </p:cNvSpPr>
          <p:nvPr/>
        </p:nvSpPr>
        <p:spPr bwMode="auto">
          <a:xfrm>
            <a:off x="5308722" y="2210917"/>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1.1.1.24</a:t>
            </a:r>
            <a:endParaRPr lang="en-US" altLang="zh-CN" sz="1050" b="1" dirty="0">
              <a:latin typeface="微软雅黑" panose="020B0503020204020204" pitchFamily="34" charset="-122"/>
              <a:ea typeface="微软雅黑" panose="020B0503020204020204" pitchFamily="34" charset="-122"/>
            </a:endParaRPr>
          </a:p>
        </p:txBody>
      </p:sp>
      <p:sp>
        <p:nvSpPr>
          <p:cNvPr id="465" name="Rectangle 404"/>
          <p:cNvSpPr>
            <a:spLocks noChangeArrowheads="1"/>
          </p:cNvSpPr>
          <p:nvPr/>
        </p:nvSpPr>
        <p:spPr bwMode="auto">
          <a:xfrm>
            <a:off x="4371938" y="2201881"/>
            <a:ext cx="48779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6" name="Rectangle 405"/>
          <p:cNvSpPr>
            <a:spLocks noChangeArrowheads="1"/>
          </p:cNvSpPr>
          <p:nvPr/>
        </p:nvSpPr>
        <p:spPr bwMode="auto">
          <a:xfrm>
            <a:off x="4362649" y="2195104"/>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1.1.1.26</a:t>
            </a:r>
            <a:endParaRPr lang="en-US" altLang="zh-CN" sz="1050" b="1" dirty="0">
              <a:latin typeface="微软雅黑" panose="020B0503020204020204" pitchFamily="34" charset="-122"/>
              <a:ea typeface="微软雅黑" panose="020B0503020204020204" pitchFamily="34" charset="-122"/>
            </a:endParaRPr>
          </a:p>
        </p:txBody>
      </p:sp>
      <p:sp>
        <p:nvSpPr>
          <p:cNvPr id="467" name="Rectangle 406"/>
          <p:cNvSpPr>
            <a:spLocks noChangeArrowheads="1"/>
          </p:cNvSpPr>
          <p:nvPr/>
        </p:nvSpPr>
        <p:spPr bwMode="auto">
          <a:xfrm>
            <a:off x="4015332" y="2539610"/>
            <a:ext cx="488716"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8" name="Rectangle 407"/>
          <p:cNvSpPr>
            <a:spLocks noChangeArrowheads="1"/>
          </p:cNvSpPr>
          <p:nvPr/>
        </p:nvSpPr>
        <p:spPr bwMode="auto">
          <a:xfrm>
            <a:off x="3944777" y="2674433"/>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1.1.1.27</a:t>
            </a:r>
            <a:endParaRPr lang="en-US" altLang="zh-CN" sz="1050" b="1" dirty="0">
              <a:latin typeface="微软雅黑" panose="020B0503020204020204" pitchFamily="34" charset="-122"/>
              <a:ea typeface="微软雅黑" panose="020B0503020204020204" pitchFamily="34" charset="-122"/>
            </a:endParaRPr>
          </a:p>
        </p:txBody>
      </p:sp>
      <p:sp>
        <p:nvSpPr>
          <p:cNvPr id="469" name="Rectangle 408"/>
          <p:cNvSpPr>
            <a:spLocks noChangeArrowheads="1"/>
          </p:cNvSpPr>
          <p:nvPr/>
        </p:nvSpPr>
        <p:spPr bwMode="auto">
          <a:xfrm>
            <a:off x="5631145" y="2471838"/>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0" name="Rectangle 409"/>
          <p:cNvSpPr>
            <a:spLocks noChangeArrowheads="1"/>
          </p:cNvSpPr>
          <p:nvPr/>
        </p:nvSpPr>
        <p:spPr bwMode="auto">
          <a:xfrm>
            <a:off x="5693967" y="2774551"/>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1.1.1.25</a:t>
            </a:r>
            <a:endParaRPr lang="en-US" altLang="zh-CN" sz="1050" b="1">
              <a:latin typeface="微软雅黑" panose="020B0503020204020204" pitchFamily="34" charset="-122"/>
              <a:ea typeface="微软雅黑" panose="020B0503020204020204" pitchFamily="34" charset="-122"/>
            </a:endParaRPr>
          </a:p>
        </p:txBody>
      </p:sp>
      <p:sp>
        <p:nvSpPr>
          <p:cNvPr id="471" name="Rectangle 410"/>
          <p:cNvSpPr>
            <a:spLocks noChangeArrowheads="1"/>
          </p:cNvSpPr>
          <p:nvPr/>
        </p:nvSpPr>
        <p:spPr bwMode="auto">
          <a:xfrm>
            <a:off x="5366924" y="2925908"/>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2" name="Rectangle 411"/>
          <p:cNvSpPr>
            <a:spLocks noChangeArrowheads="1"/>
          </p:cNvSpPr>
          <p:nvPr/>
        </p:nvSpPr>
        <p:spPr bwMode="auto">
          <a:xfrm>
            <a:off x="5295788" y="3158590"/>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1.1.1.29</a:t>
            </a:r>
            <a:endParaRPr lang="en-US" altLang="zh-CN" sz="1050" b="1" dirty="0">
              <a:latin typeface="微软雅黑" panose="020B0503020204020204" pitchFamily="34" charset="-122"/>
              <a:ea typeface="微软雅黑" panose="020B0503020204020204" pitchFamily="34" charset="-122"/>
            </a:endParaRPr>
          </a:p>
        </p:txBody>
      </p:sp>
      <p:sp>
        <p:nvSpPr>
          <p:cNvPr id="473" name="Rectangle 412"/>
          <p:cNvSpPr>
            <a:spLocks noChangeArrowheads="1"/>
          </p:cNvSpPr>
          <p:nvPr/>
        </p:nvSpPr>
        <p:spPr bwMode="auto">
          <a:xfrm>
            <a:off x="4505896" y="2925908"/>
            <a:ext cx="487793"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4" name="Rectangle 413"/>
          <p:cNvSpPr>
            <a:spLocks noChangeArrowheads="1"/>
          </p:cNvSpPr>
          <p:nvPr/>
        </p:nvSpPr>
        <p:spPr bwMode="auto">
          <a:xfrm>
            <a:off x="4419054" y="3149554"/>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1.1.1.28</a:t>
            </a:r>
            <a:endParaRPr lang="en-US" altLang="zh-CN" sz="1050" b="1" dirty="0">
              <a:latin typeface="微软雅黑" panose="020B0503020204020204" pitchFamily="34" charset="-122"/>
              <a:ea typeface="微软雅黑" panose="020B0503020204020204" pitchFamily="34" charset="-122"/>
            </a:endParaRPr>
          </a:p>
        </p:txBody>
      </p:sp>
      <p:sp>
        <p:nvSpPr>
          <p:cNvPr id="475" name="Rectangle 414"/>
          <p:cNvSpPr>
            <a:spLocks noChangeArrowheads="1"/>
          </p:cNvSpPr>
          <p:nvPr/>
        </p:nvSpPr>
        <p:spPr bwMode="auto">
          <a:xfrm>
            <a:off x="2822591" y="2431699"/>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6" name="Rectangle 415"/>
          <p:cNvSpPr>
            <a:spLocks noChangeArrowheads="1"/>
          </p:cNvSpPr>
          <p:nvPr/>
        </p:nvSpPr>
        <p:spPr bwMode="auto">
          <a:xfrm>
            <a:off x="2852904" y="2455549"/>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1.1.1.17</a:t>
            </a:r>
            <a:endParaRPr lang="en-US" altLang="zh-CN" sz="1050" b="1" dirty="0">
              <a:latin typeface="微软雅黑" panose="020B0503020204020204" pitchFamily="34" charset="-122"/>
              <a:ea typeface="微软雅黑" panose="020B0503020204020204" pitchFamily="34" charset="-122"/>
            </a:endParaRPr>
          </a:p>
        </p:txBody>
      </p:sp>
      <p:sp>
        <p:nvSpPr>
          <p:cNvPr id="477" name="Rectangle 416"/>
          <p:cNvSpPr>
            <a:spLocks noChangeArrowheads="1"/>
          </p:cNvSpPr>
          <p:nvPr/>
        </p:nvSpPr>
        <p:spPr bwMode="auto">
          <a:xfrm>
            <a:off x="3801922" y="2958664"/>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8" name="Rectangle 417"/>
          <p:cNvSpPr>
            <a:spLocks noChangeArrowheads="1"/>
          </p:cNvSpPr>
          <p:nvPr/>
        </p:nvSpPr>
        <p:spPr bwMode="auto">
          <a:xfrm>
            <a:off x="3631876" y="3129549"/>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1.1.1.19</a:t>
            </a:r>
            <a:endParaRPr lang="en-US" altLang="zh-CN" sz="1050" b="1" dirty="0">
              <a:latin typeface="微软雅黑" panose="020B0503020204020204" pitchFamily="34" charset="-122"/>
              <a:ea typeface="微软雅黑" panose="020B0503020204020204" pitchFamily="34" charset="-122"/>
            </a:endParaRPr>
          </a:p>
        </p:txBody>
      </p:sp>
      <p:sp>
        <p:nvSpPr>
          <p:cNvPr id="479" name="Rectangle 418"/>
          <p:cNvSpPr>
            <a:spLocks noChangeArrowheads="1"/>
          </p:cNvSpPr>
          <p:nvPr/>
        </p:nvSpPr>
        <p:spPr bwMode="auto">
          <a:xfrm>
            <a:off x="2822591" y="3164762"/>
            <a:ext cx="488717"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0" name="Rectangle 419"/>
          <p:cNvSpPr>
            <a:spLocks noChangeArrowheads="1"/>
          </p:cNvSpPr>
          <p:nvPr/>
        </p:nvSpPr>
        <p:spPr bwMode="auto">
          <a:xfrm>
            <a:off x="2922380" y="3017614"/>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1.1.1.18</a:t>
            </a:r>
            <a:endParaRPr lang="en-US" altLang="zh-CN" sz="1050" b="1" dirty="0">
              <a:latin typeface="微软雅黑" panose="020B0503020204020204" pitchFamily="34" charset="-122"/>
              <a:ea typeface="微软雅黑" panose="020B0503020204020204" pitchFamily="34" charset="-122"/>
            </a:endParaRPr>
          </a:p>
        </p:txBody>
      </p:sp>
      <p:sp>
        <p:nvSpPr>
          <p:cNvPr id="481" name="Oval 421"/>
          <p:cNvSpPr>
            <a:spLocks noChangeArrowheads="1"/>
          </p:cNvSpPr>
          <p:nvPr/>
        </p:nvSpPr>
        <p:spPr bwMode="auto">
          <a:xfrm>
            <a:off x="3416419" y="2504298"/>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2" name="Rectangle 423"/>
          <p:cNvSpPr>
            <a:spLocks noChangeArrowheads="1"/>
          </p:cNvSpPr>
          <p:nvPr/>
        </p:nvSpPr>
        <p:spPr bwMode="auto">
          <a:xfrm>
            <a:off x="4322974" y="2988031"/>
            <a:ext cx="200476"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3" name="Rectangle 424"/>
          <p:cNvSpPr>
            <a:spLocks noChangeArrowheads="1"/>
          </p:cNvSpPr>
          <p:nvPr/>
        </p:nvSpPr>
        <p:spPr bwMode="auto">
          <a:xfrm>
            <a:off x="4477257" y="2873950"/>
            <a:ext cx="150682"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FF"/>
                </a:solidFill>
                <a:latin typeface="微软雅黑" panose="020B0503020204020204" pitchFamily="34" charset="-122"/>
                <a:ea typeface="微软雅黑" panose="020B0503020204020204" pitchFamily="34" charset="-122"/>
              </a:rPr>
              <a:t>R</a:t>
            </a:r>
            <a:r>
              <a:rPr lang="en-US" altLang="zh-CN" sz="1050" b="1" baseline="-25000">
                <a:solidFill>
                  <a:srgbClr val="0000FF"/>
                </a:solidFill>
                <a:latin typeface="微软雅黑" panose="020B0503020204020204" pitchFamily="34" charset="-122"/>
                <a:ea typeface="微软雅黑" panose="020B0503020204020204" pitchFamily="34" charset="-122"/>
              </a:rPr>
              <a:t>3</a:t>
            </a:r>
          </a:p>
        </p:txBody>
      </p:sp>
      <p:sp>
        <p:nvSpPr>
          <p:cNvPr id="484" name="Rectangle 427"/>
          <p:cNvSpPr>
            <a:spLocks noChangeArrowheads="1"/>
          </p:cNvSpPr>
          <p:nvPr/>
        </p:nvSpPr>
        <p:spPr bwMode="auto">
          <a:xfrm>
            <a:off x="5454690" y="2872820"/>
            <a:ext cx="150682"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FF"/>
                </a:solidFill>
                <a:latin typeface="微软雅黑" panose="020B0503020204020204" pitchFamily="34" charset="-122"/>
                <a:ea typeface="微软雅黑" panose="020B0503020204020204" pitchFamily="34" charset="-122"/>
              </a:rPr>
              <a:t>R</a:t>
            </a:r>
            <a:r>
              <a:rPr lang="en-US" altLang="zh-CN" sz="1050" b="1" baseline="-25000">
                <a:solidFill>
                  <a:srgbClr val="0000FF"/>
                </a:solidFill>
                <a:latin typeface="微软雅黑" panose="020B0503020204020204" pitchFamily="34" charset="-122"/>
                <a:ea typeface="微软雅黑" panose="020B0503020204020204" pitchFamily="34" charset="-122"/>
              </a:rPr>
              <a:t>2</a:t>
            </a:r>
          </a:p>
        </p:txBody>
      </p:sp>
      <p:sp>
        <p:nvSpPr>
          <p:cNvPr id="485" name="Rectangle 429"/>
          <p:cNvSpPr>
            <a:spLocks noChangeArrowheads="1"/>
          </p:cNvSpPr>
          <p:nvPr/>
        </p:nvSpPr>
        <p:spPr bwMode="auto">
          <a:xfrm>
            <a:off x="3287338" y="1885613"/>
            <a:ext cx="43513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6" name="Rectangle 430"/>
          <p:cNvSpPr>
            <a:spLocks noChangeArrowheads="1"/>
          </p:cNvSpPr>
          <p:nvPr/>
        </p:nvSpPr>
        <p:spPr bwMode="auto">
          <a:xfrm>
            <a:off x="3330759" y="1837347"/>
            <a:ext cx="763029"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u="sng" dirty="0">
                <a:solidFill>
                  <a:srgbClr val="C00000"/>
                </a:solidFill>
                <a:latin typeface="微软雅黑" panose="020B0503020204020204" pitchFamily="34" charset="-122"/>
                <a:ea typeface="微软雅黑" panose="020B0503020204020204" pitchFamily="34" charset="-122"/>
              </a:rPr>
              <a:t>1.1.1.16/29</a:t>
            </a:r>
          </a:p>
        </p:txBody>
      </p:sp>
      <p:sp>
        <p:nvSpPr>
          <p:cNvPr id="487" name="Rectangle 431"/>
          <p:cNvSpPr>
            <a:spLocks noChangeArrowheads="1"/>
          </p:cNvSpPr>
          <p:nvPr/>
        </p:nvSpPr>
        <p:spPr bwMode="auto">
          <a:xfrm>
            <a:off x="3303044" y="1733128"/>
            <a:ext cx="348292"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8" name="Rectangle 432"/>
          <p:cNvSpPr>
            <a:spLocks noChangeArrowheads="1"/>
          </p:cNvSpPr>
          <p:nvPr/>
        </p:nvSpPr>
        <p:spPr bwMode="auto">
          <a:xfrm>
            <a:off x="3345541" y="1684861"/>
            <a:ext cx="344646"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LAN</a:t>
            </a:r>
            <a:r>
              <a:rPr lang="en-US" altLang="zh-CN" sz="1050" b="1" baseline="-25000" dirty="0">
                <a:solidFill>
                  <a:srgbClr val="000000"/>
                </a:solidFill>
                <a:latin typeface="微软雅黑" panose="020B0503020204020204" pitchFamily="34" charset="-122"/>
                <a:ea typeface="微软雅黑" panose="020B0503020204020204" pitchFamily="34" charset="-122"/>
              </a:rPr>
              <a:t>3</a:t>
            </a:r>
            <a:endParaRPr lang="en-US" altLang="zh-CN" sz="1050" b="1" baseline="-25000" dirty="0">
              <a:latin typeface="微软雅黑" panose="020B0503020204020204" pitchFamily="34" charset="-122"/>
              <a:ea typeface="微软雅黑" panose="020B0503020204020204" pitchFamily="34" charset="-122"/>
            </a:endParaRPr>
          </a:p>
        </p:txBody>
      </p:sp>
      <p:sp>
        <p:nvSpPr>
          <p:cNvPr id="489" name="Rectangle 434"/>
          <p:cNvSpPr>
            <a:spLocks noChangeArrowheads="1"/>
          </p:cNvSpPr>
          <p:nvPr/>
        </p:nvSpPr>
        <p:spPr bwMode="auto">
          <a:xfrm>
            <a:off x="5013090" y="2653692"/>
            <a:ext cx="201399"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0" name="Rectangle 438"/>
          <p:cNvSpPr>
            <a:spLocks noChangeArrowheads="1"/>
          </p:cNvSpPr>
          <p:nvPr/>
        </p:nvSpPr>
        <p:spPr bwMode="auto">
          <a:xfrm>
            <a:off x="5509197" y="2471838"/>
            <a:ext cx="16991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N</a:t>
            </a:r>
            <a:r>
              <a:rPr lang="en-US" altLang="zh-CN" sz="1050" b="1" baseline="-25000">
                <a:solidFill>
                  <a:srgbClr val="000000"/>
                </a:solidFill>
                <a:latin typeface="微软雅黑" panose="020B0503020204020204" pitchFamily="34" charset="-122"/>
                <a:ea typeface="微软雅黑" panose="020B0503020204020204" pitchFamily="34" charset="-122"/>
              </a:rPr>
              <a:t>1</a:t>
            </a:r>
            <a:endParaRPr lang="en-US" altLang="zh-CN" sz="1050" b="1" baseline="-25000">
              <a:latin typeface="微软雅黑" panose="020B0503020204020204" pitchFamily="34" charset="-122"/>
              <a:ea typeface="微软雅黑" panose="020B0503020204020204" pitchFamily="34" charset="-122"/>
            </a:endParaRPr>
          </a:p>
        </p:txBody>
      </p:sp>
      <p:sp>
        <p:nvSpPr>
          <p:cNvPr id="491" name="Rectangle 440"/>
          <p:cNvSpPr>
            <a:spLocks noChangeArrowheads="1"/>
          </p:cNvSpPr>
          <p:nvPr/>
        </p:nvSpPr>
        <p:spPr bwMode="auto">
          <a:xfrm>
            <a:off x="4692514" y="2501206"/>
            <a:ext cx="200476"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2" name="Rectangle 441"/>
          <p:cNvSpPr>
            <a:spLocks noChangeArrowheads="1"/>
          </p:cNvSpPr>
          <p:nvPr/>
        </p:nvSpPr>
        <p:spPr bwMode="auto">
          <a:xfrm>
            <a:off x="3823412" y="2428183"/>
            <a:ext cx="16991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N</a:t>
            </a:r>
            <a:r>
              <a:rPr lang="en-US" altLang="zh-CN" sz="1050" b="1" baseline="-25000" dirty="0">
                <a:solidFill>
                  <a:srgbClr val="000000"/>
                </a:solidFill>
                <a:latin typeface="微软雅黑" panose="020B0503020204020204" pitchFamily="34" charset="-122"/>
                <a:ea typeface="微软雅黑" panose="020B0503020204020204" pitchFamily="34" charset="-122"/>
              </a:rPr>
              <a:t>2</a:t>
            </a:r>
            <a:endParaRPr lang="en-US" altLang="zh-CN" sz="1050" b="1" baseline="-25000" dirty="0">
              <a:latin typeface="微软雅黑" panose="020B0503020204020204" pitchFamily="34" charset="-122"/>
              <a:ea typeface="微软雅黑" panose="020B0503020204020204" pitchFamily="34" charset="-122"/>
            </a:endParaRPr>
          </a:p>
        </p:txBody>
      </p:sp>
      <p:sp>
        <p:nvSpPr>
          <p:cNvPr id="493" name="Rectangle 444"/>
          <p:cNvSpPr>
            <a:spLocks noChangeArrowheads="1"/>
          </p:cNvSpPr>
          <p:nvPr/>
        </p:nvSpPr>
        <p:spPr bwMode="auto">
          <a:xfrm>
            <a:off x="4848006" y="3345394"/>
            <a:ext cx="72135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b="1" u="sng" dirty="0">
                <a:solidFill>
                  <a:srgbClr val="000000"/>
                </a:solidFill>
                <a:latin typeface="微软雅黑" panose="020B0503020204020204" pitchFamily="34" charset="-122"/>
                <a:ea typeface="微软雅黑" panose="020B0503020204020204" pitchFamily="34" charset="-122"/>
              </a:rPr>
              <a:t>1.1.1.28/31</a:t>
            </a:r>
            <a:endParaRPr lang="en-US" altLang="zh-CN" sz="1000" b="1" u="sng" dirty="0">
              <a:latin typeface="微软雅黑" panose="020B0503020204020204" pitchFamily="34" charset="-122"/>
              <a:ea typeface="微软雅黑" panose="020B0503020204020204" pitchFamily="34" charset="-122"/>
            </a:endParaRPr>
          </a:p>
        </p:txBody>
      </p:sp>
      <p:sp>
        <p:nvSpPr>
          <p:cNvPr id="494" name="Rectangle 445"/>
          <p:cNvSpPr>
            <a:spLocks noChangeArrowheads="1"/>
          </p:cNvSpPr>
          <p:nvPr/>
        </p:nvSpPr>
        <p:spPr bwMode="auto">
          <a:xfrm>
            <a:off x="4834787" y="2501206"/>
            <a:ext cx="43605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5" name="Rectangle 446"/>
          <p:cNvSpPr>
            <a:spLocks noChangeArrowheads="1"/>
          </p:cNvSpPr>
          <p:nvPr/>
        </p:nvSpPr>
        <p:spPr bwMode="auto">
          <a:xfrm>
            <a:off x="3993712" y="2436809"/>
            <a:ext cx="72135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b="1" u="sng" dirty="0">
                <a:solidFill>
                  <a:srgbClr val="000000"/>
                </a:solidFill>
                <a:latin typeface="微软雅黑" panose="020B0503020204020204" pitchFamily="34" charset="-122"/>
                <a:ea typeface="微软雅黑" panose="020B0503020204020204" pitchFamily="34" charset="-122"/>
              </a:rPr>
              <a:t>1.1.1.26/31</a:t>
            </a:r>
            <a:endParaRPr lang="en-US" altLang="zh-CN" sz="1000" b="1" u="sng" dirty="0">
              <a:latin typeface="微软雅黑" panose="020B0503020204020204" pitchFamily="34" charset="-122"/>
              <a:ea typeface="微软雅黑" panose="020B0503020204020204" pitchFamily="34" charset="-122"/>
            </a:endParaRPr>
          </a:p>
        </p:txBody>
      </p:sp>
      <p:sp>
        <p:nvSpPr>
          <p:cNvPr id="496" name="Rectangle 448"/>
          <p:cNvSpPr>
            <a:spLocks noChangeArrowheads="1"/>
          </p:cNvSpPr>
          <p:nvPr/>
        </p:nvSpPr>
        <p:spPr bwMode="auto">
          <a:xfrm>
            <a:off x="5685974" y="2479744"/>
            <a:ext cx="72135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b="1" u="sng" dirty="0">
                <a:solidFill>
                  <a:srgbClr val="000000"/>
                </a:solidFill>
                <a:latin typeface="微软雅黑" panose="020B0503020204020204" pitchFamily="34" charset="-122"/>
                <a:ea typeface="微软雅黑" panose="020B0503020204020204" pitchFamily="34" charset="-122"/>
              </a:rPr>
              <a:t>1.1.1.24/31</a:t>
            </a:r>
            <a:endParaRPr lang="en-US" altLang="zh-CN" sz="1000" b="1" u="sng" dirty="0">
              <a:latin typeface="微软雅黑" panose="020B0503020204020204" pitchFamily="34" charset="-122"/>
              <a:ea typeface="微软雅黑" panose="020B0503020204020204" pitchFamily="34" charset="-122"/>
            </a:endParaRPr>
          </a:p>
        </p:txBody>
      </p:sp>
      <p:sp>
        <p:nvSpPr>
          <p:cNvPr id="497" name="Rectangle 435"/>
          <p:cNvSpPr>
            <a:spLocks noChangeArrowheads="1"/>
          </p:cNvSpPr>
          <p:nvPr/>
        </p:nvSpPr>
        <p:spPr bwMode="auto">
          <a:xfrm>
            <a:off x="4669080" y="3337488"/>
            <a:ext cx="16991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N</a:t>
            </a:r>
            <a:r>
              <a:rPr lang="en-US" altLang="zh-CN" sz="1050" b="1" baseline="-25000" dirty="0">
                <a:solidFill>
                  <a:srgbClr val="000000"/>
                </a:solidFill>
                <a:latin typeface="微软雅黑" panose="020B0503020204020204" pitchFamily="34" charset="-122"/>
                <a:ea typeface="微软雅黑" panose="020B0503020204020204" pitchFamily="34" charset="-122"/>
              </a:rPr>
              <a:t>3</a:t>
            </a:r>
            <a:endParaRPr lang="en-US" altLang="zh-CN" sz="1050" b="1" baseline="-25000" dirty="0">
              <a:latin typeface="微软雅黑" panose="020B0503020204020204" pitchFamily="34" charset="-122"/>
              <a:ea typeface="微软雅黑" panose="020B0503020204020204" pitchFamily="34" charset="-122"/>
            </a:endParaRPr>
          </a:p>
        </p:txBody>
      </p:sp>
      <p:sp>
        <p:nvSpPr>
          <p:cNvPr id="498" name="Line 460"/>
          <p:cNvSpPr>
            <a:spLocks noChangeShapeType="1"/>
          </p:cNvSpPr>
          <p:nvPr/>
        </p:nvSpPr>
        <p:spPr bwMode="auto">
          <a:xfrm>
            <a:off x="5843630" y="3062580"/>
            <a:ext cx="67071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9" name="Oval 29"/>
          <p:cNvSpPr>
            <a:spLocks noChangeArrowheads="1"/>
          </p:cNvSpPr>
          <p:nvPr/>
        </p:nvSpPr>
        <p:spPr bwMode="auto">
          <a:xfrm>
            <a:off x="5969274" y="3034342"/>
            <a:ext cx="58203" cy="60994"/>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0" name="Rectangle 341"/>
          <p:cNvSpPr>
            <a:spLocks noChangeArrowheads="1"/>
          </p:cNvSpPr>
          <p:nvPr/>
        </p:nvSpPr>
        <p:spPr bwMode="auto">
          <a:xfrm>
            <a:off x="6650808" y="1896077"/>
            <a:ext cx="468706" cy="1627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LAN</a:t>
            </a:r>
            <a:r>
              <a:rPr lang="en-US" altLang="zh-CN" sz="1050" b="1" baseline="-25000" dirty="0">
                <a:solidFill>
                  <a:srgbClr val="000000"/>
                </a:solidFill>
                <a:latin typeface="微软雅黑" panose="020B0503020204020204" pitchFamily="34" charset="-122"/>
                <a:ea typeface="微软雅黑" panose="020B0503020204020204" pitchFamily="34" charset="-122"/>
              </a:rPr>
              <a:t>2</a:t>
            </a:r>
            <a:endParaRPr lang="en-US" altLang="zh-CN" sz="1050" b="1" baseline="-25000" dirty="0">
              <a:latin typeface="微软雅黑" panose="020B0503020204020204" pitchFamily="34" charset="-122"/>
              <a:ea typeface="微软雅黑" panose="020B0503020204020204" pitchFamily="34" charset="-122"/>
            </a:endParaRPr>
          </a:p>
        </p:txBody>
      </p:sp>
      <p:sp>
        <p:nvSpPr>
          <p:cNvPr id="501" name="Rectangle 323"/>
          <p:cNvSpPr>
            <a:spLocks noChangeArrowheads="1"/>
          </p:cNvSpPr>
          <p:nvPr/>
        </p:nvSpPr>
        <p:spPr bwMode="auto">
          <a:xfrm>
            <a:off x="3856420" y="1157681"/>
            <a:ext cx="344646"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LAN</a:t>
            </a:r>
            <a:r>
              <a:rPr lang="en-US" altLang="zh-CN" sz="1050" b="1" baseline="-25000" dirty="0">
                <a:solidFill>
                  <a:srgbClr val="000000"/>
                </a:solidFill>
                <a:latin typeface="微软雅黑" panose="020B0503020204020204" pitchFamily="34" charset="-122"/>
                <a:ea typeface="微软雅黑" panose="020B0503020204020204" pitchFamily="34" charset="-122"/>
              </a:rPr>
              <a:t>1</a:t>
            </a:r>
            <a:endParaRPr lang="en-US" altLang="zh-CN" sz="1050" b="1" baseline="-25000" dirty="0">
              <a:latin typeface="微软雅黑" panose="020B0503020204020204" pitchFamily="34" charset="-122"/>
              <a:ea typeface="微软雅黑" panose="020B0503020204020204" pitchFamily="34" charset="-122"/>
            </a:endParaRPr>
          </a:p>
        </p:txBody>
      </p:sp>
      <p:sp>
        <p:nvSpPr>
          <p:cNvPr id="502" name="Line 471"/>
          <p:cNvSpPr>
            <a:spLocks noChangeShapeType="1"/>
          </p:cNvSpPr>
          <p:nvPr/>
        </p:nvSpPr>
        <p:spPr bwMode="auto">
          <a:xfrm>
            <a:off x="4586271" y="1474466"/>
            <a:ext cx="419428" cy="3072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3" name="Oval 316"/>
          <p:cNvSpPr>
            <a:spLocks noChangeArrowheads="1"/>
          </p:cNvSpPr>
          <p:nvPr/>
        </p:nvSpPr>
        <p:spPr bwMode="auto">
          <a:xfrm>
            <a:off x="4700829" y="1551273"/>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1" name="Group 201"/>
          <p:cNvGrpSpPr>
            <a:grpSpLocks/>
          </p:cNvGrpSpPr>
          <p:nvPr/>
        </p:nvGrpSpPr>
        <p:grpSpPr bwMode="auto">
          <a:xfrm>
            <a:off x="4419054" y="1270022"/>
            <a:ext cx="244820" cy="264309"/>
            <a:chOff x="1813" y="593"/>
            <a:chExt cx="343" cy="352"/>
          </a:xfrm>
        </p:grpSpPr>
        <p:grpSp>
          <p:nvGrpSpPr>
            <p:cNvPr id="192" name="Group 202"/>
            <p:cNvGrpSpPr>
              <a:grpSpLocks/>
            </p:cNvGrpSpPr>
            <p:nvPr/>
          </p:nvGrpSpPr>
          <p:grpSpPr bwMode="auto">
            <a:xfrm>
              <a:off x="1821" y="599"/>
              <a:ext cx="335" cy="346"/>
              <a:chOff x="1821" y="599"/>
              <a:chExt cx="335" cy="346"/>
            </a:xfrm>
          </p:grpSpPr>
          <p:sp>
            <p:nvSpPr>
              <p:cNvPr id="519" name="Freeform 203"/>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0" name="Freeform 204"/>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1" name="Freeform 205"/>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2" name="Freeform 206"/>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3" name="Rectangle 207"/>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4" name="Rectangle 208"/>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5" name="Rectangle 209"/>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6" name="Line 210"/>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3" name="Group 211"/>
              <p:cNvGrpSpPr>
                <a:grpSpLocks/>
              </p:cNvGrpSpPr>
              <p:nvPr/>
            </p:nvGrpSpPr>
            <p:grpSpPr bwMode="auto">
              <a:xfrm>
                <a:off x="1821" y="895"/>
                <a:ext cx="335" cy="50"/>
                <a:chOff x="1821" y="895"/>
                <a:chExt cx="335" cy="50"/>
              </a:xfrm>
            </p:grpSpPr>
            <p:sp>
              <p:nvSpPr>
                <p:cNvPr id="528" name="Freeform 212"/>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9" name="Freeform 213"/>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0" name="Rectangle 214"/>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4" name="Group 215"/>
            <p:cNvGrpSpPr>
              <a:grpSpLocks/>
            </p:cNvGrpSpPr>
            <p:nvPr/>
          </p:nvGrpSpPr>
          <p:grpSpPr bwMode="auto">
            <a:xfrm>
              <a:off x="1813" y="593"/>
              <a:ext cx="335" cy="346"/>
              <a:chOff x="1813" y="593"/>
              <a:chExt cx="335" cy="346"/>
            </a:xfrm>
          </p:grpSpPr>
          <p:sp>
            <p:nvSpPr>
              <p:cNvPr id="507" name="Freeform 216"/>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8" name="Freeform 217"/>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9" name="Freeform 218"/>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0" name="Freeform 219"/>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1" name="Rectangle 220"/>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2" name="Rectangle 221"/>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3" name="Rectangle 222"/>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4" name="Line 223"/>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5" name="Group 224"/>
              <p:cNvGrpSpPr>
                <a:grpSpLocks/>
              </p:cNvGrpSpPr>
              <p:nvPr/>
            </p:nvGrpSpPr>
            <p:grpSpPr bwMode="auto">
              <a:xfrm>
                <a:off x="1813" y="888"/>
                <a:ext cx="335" cy="51"/>
                <a:chOff x="1813" y="888"/>
                <a:chExt cx="335" cy="51"/>
              </a:xfrm>
            </p:grpSpPr>
            <p:sp>
              <p:nvSpPr>
                <p:cNvPr id="516" name="Freeform 225"/>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7" name="Freeform 226"/>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8" name="Rectangle 227"/>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531" name="Line 472"/>
          <p:cNvSpPr>
            <a:spLocks noChangeShapeType="1"/>
          </p:cNvSpPr>
          <p:nvPr/>
        </p:nvSpPr>
        <p:spPr bwMode="auto">
          <a:xfrm flipH="1">
            <a:off x="5256986" y="1597584"/>
            <a:ext cx="500727" cy="18411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2" name="Line 473"/>
          <p:cNvSpPr>
            <a:spLocks noChangeShapeType="1"/>
          </p:cNvSpPr>
          <p:nvPr/>
        </p:nvSpPr>
        <p:spPr bwMode="auto">
          <a:xfrm>
            <a:off x="5131343" y="1413471"/>
            <a:ext cx="0" cy="39985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3" name="Oval 317"/>
          <p:cNvSpPr>
            <a:spLocks noChangeArrowheads="1"/>
          </p:cNvSpPr>
          <p:nvPr/>
        </p:nvSpPr>
        <p:spPr bwMode="auto">
          <a:xfrm>
            <a:off x="5547075" y="1647284"/>
            <a:ext cx="44345"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96" name="Group 230"/>
          <p:cNvGrpSpPr>
            <a:grpSpLocks/>
          </p:cNvGrpSpPr>
          <p:nvPr/>
        </p:nvGrpSpPr>
        <p:grpSpPr bwMode="auto">
          <a:xfrm>
            <a:off x="5005699" y="1189825"/>
            <a:ext cx="244820" cy="264309"/>
            <a:chOff x="2868" y="593"/>
            <a:chExt cx="343" cy="352"/>
          </a:xfrm>
        </p:grpSpPr>
        <p:grpSp>
          <p:nvGrpSpPr>
            <p:cNvPr id="197" name="Group 231"/>
            <p:cNvGrpSpPr>
              <a:grpSpLocks/>
            </p:cNvGrpSpPr>
            <p:nvPr/>
          </p:nvGrpSpPr>
          <p:grpSpPr bwMode="auto">
            <a:xfrm>
              <a:off x="2877" y="599"/>
              <a:ext cx="334" cy="346"/>
              <a:chOff x="2877" y="599"/>
              <a:chExt cx="334" cy="346"/>
            </a:xfrm>
          </p:grpSpPr>
          <p:sp>
            <p:nvSpPr>
              <p:cNvPr id="549" name="Freeform 232"/>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0" name="Freeform 233"/>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1" name="Freeform 234"/>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2" name="Freeform 235"/>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3" name="Rectangle 236"/>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4" name="Rectangle 237"/>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5" name="Rectangle 238"/>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6" name="Line 239"/>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8" name="Group 240"/>
              <p:cNvGrpSpPr>
                <a:grpSpLocks/>
              </p:cNvGrpSpPr>
              <p:nvPr/>
            </p:nvGrpSpPr>
            <p:grpSpPr bwMode="auto">
              <a:xfrm>
                <a:off x="2877" y="895"/>
                <a:ext cx="334" cy="50"/>
                <a:chOff x="2877" y="895"/>
                <a:chExt cx="334" cy="50"/>
              </a:xfrm>
            </p:grpSpPr>
            <p:sp>
              <p:nvSpPr>
                <p:cNvPr id="558" name="Freeform 241"/>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9" name="Freeform 242"/>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0" name="Rectangle 243"/>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9" name="Group 244"/>
            <p:cNvGrpSpPr>
              <a:grpSpLocks/>
            </p:cNvGrpSpPr>
            <p:nvPr/>
          </p:nvGrpSpPr>
          <p:grpSpPr bwMode="auto">
            <a:xfrm>
              <a:off x="2868" y="593"/>
              <a:ext cx="335" cy="346"/>
              <a:chOff x="2868" y="593"/>
              <a:chExt cx="335" cy="346"/>
            </a:xfrm>
          </p:grpSpPr>
          <p:sp>
            <p:nvSpPr>
              <p:cNvPr id="537" name="Freeform 245"/>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8" name="Freeform 246"/>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9" name="Freeform 247"/>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0" name="Freeform 248"/>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1" name="Rectangle 249"/>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2" name="Rectangle 250"/>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3" name="Rectangle 251"/>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4" name="Line 252"/>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00" name="Group 253"/>
              <p:cNvGrpSpPr>
                <a:grpSpLocks/>
              </p:cNvGrpSpPr>
              <p:nvPr/>
            </p:nvGrpSpPr>
            <p:grpSpPr bwMode="auto">
              <a:xfrm>
                <a:off x="2868" y="888"/>
                <a:ext cx="335" cy="51"/>
                <a:chOff x="2868" y="888"/>
                <a:chExt cx="335" cy="51"/>
              </a:xfrm>
            </p:grpSpPr>
            <p:sp>
              <p:nvSpPr>
                <p:cNvPr id="546" name="Freeform 254"/>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7" name="Freeform 255"/>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8" name="Rectangle 256"/>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561" name="Oval 318"/>
          <p:cNvSpPr>
            <a:spLocks noChangeArrowheads="1"/>
          </p:cNvSpPr>
          <p:nvPr/>
        </p:nvSpPr>
        <p:spPr bwMode="auto">
          <a:xfrm>
            <a:off x="5110094" y="1546755"/>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01" name="Group 257"/>
          <p:cNvGrpSpPr>
            <a:grpSpLocks/>
          </p:cNvGrpSpPr>
          <p:nvPr/>
        </p:nvGrpSpPr>
        <p:grpSpPr bwMode="auto">
          <a:xfrm>
            <a:off x="5667175" y="1401047"/>
            <a:ext cx="244820" cy="264309"/>
            <a:chOff x="3915" y="593"/>
            <a:chExt cx="343" cy="352"/>
          </a:xfrm>
        </p:grpSpPr>
        <p:grpSp>
          <p:nvGrpSpPr>
            <p:cNvPr id="202" name="Group 258"/>
            <p:cNvGrpSpPr>
              <a:grpSpLocks/>
            </p:cNvGrpSpPr>
            <p:nvPr/>
          </p:nvGrpSpPr>
          <p:grpSpPr bwMode="auto">
            <a:xfrm>
              <a:off x="3924" y="599"/>
              <a:ext cx="334" cy="346"/>
              <a:chOff x="3924" y="599"/>
              <a:chExt cx="334" cy="346"/>
            </a:xfrm>
          </p:grpSpPr>
          <p:sp>
            <p:nvSpPr>
              <p:cNvPr id="577" name="Freeform 259"/>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8" name="Freeform 260"/>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9" name="Freeform 261"/>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0" name="Freeform 262"/>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1" name="Rectangle 263"/>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2" name="Rectangle 264"/>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3" name="Rectangle 265"/>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4" name="Line 266"/>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03" name="Group 267"/>
              <p:cNvGrpSpPr>
                <a:grpSpLocks/>
              </p:cNvGrpSpPr>
              <p:nvPr/>
            </p:nvGrpSpPr>
            <p:grpSpPr bwMode="auto">
              <a:xfrm>
                <a:off x="3924" y="895"/>
                <a:ext cx="334" cy="50"/>
                <a:chOff x="3924" y="895"/>
                <a:chExt cx="334" cy="50"/>
              </a:xfrm>
            </p:grpSpPr>
            <p:sp>
              <p:nvSpPr>
                <p:cNvPr id="586" name="Freeform 268"/>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7" name="Freeform 269"/>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8" name="Rectangle 270"/>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04" name="Group 271"/>
            <p:cNvGrpSpPr>
              <a:grpSpLocks/>
            </p:cNvGrpSpPr>
            <p:nvPr/>
          </p:nvGrpSpPr>
          <p:grpSpPr bwMode="auto">
            <a:xfrm>
              <a:off x="3915" y="593"/>
              <a:ext cx="335" cy="346"/>
              <a:chOff x="3915" y="593"/>
              <a:chExt cx="335" cy="346"/>
            </a:xfrm>
          </p:grpSpPr>
          <p:sp>
            <p:nvSpPr>
              <p:cNvPr id="565" name="Freeform 272"/>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6" name="Freeform 273"/>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7" name="Freeform 274"/>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8" name="Freeform 275"/>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9" name="Rectangle 276"/>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0" name="Rectangle 277"/>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1" name="Rectangle 278"/>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2" name="Line 279"/>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05" name="Group 280"/>
              <p:cNvGrpSpPr>
                <a:grpSpLocks/>
              </p:cNvGrpSpPr>
              <p:nvPr/>
            </p:nvGrpSpPr>
            <p:grpSpPr bwMode="auto">
              <a:xfrm>
                <a:off x="3915" y="888"/>
                <a:ext cx="335" cy="51"/>
                <a:chOff x="3915" y="888"/>
                <a:chExt cx="335" cy="51"/>
              </a:xfrm>
            </p:grpSpPr>
            <p:sp>
              <p:nvSpPr>
                <p:cNvPr id="574" name="Freeform 281"/>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5" name="Freeform 282"/>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6" name="Rectangle 283"/>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206" name="Group 370"/>
          <p:cNvGrpSpPr>
            <a:grpSpLocks/>
          </p:cNvGrpSpPr>
          <p:nvPr/>
        </p:nvGrpSpPr>
        <p:grpSpPr bwMode="auto">
          <a:xfrm>
            <a:off x="5578486" y="2981254"/>
            <a:ext cx="314109" cy="197668"/>
            <a:chOff x="3488" y="2569"/>
            <a:chExt cx="439" cy="262"/>
          </a:xfrm>
        </p:grpSpPr>
        <p:sp>
          <p:nvSpPr>
            <p:cNvPr id="590" name="Oval 371"/>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1" name="Rectangle 372"/>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2" name="Rectangle 373"/>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3" name="Oval 374"/>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07" name="Group 375"/>
            <p:cNvGrpSpPr>
              <a:grpSpLocks/>
            </p:cNvGrpSpPr>
            <p:nvPr/>
          </p:nvGrpSpPr>
          <p:grpSpPr bwMode="auto">
            <a:xfrm>
              <a:off x="3555" y="2587"/>
              <a:ext cx="304" cy="117"/>
              <a:chOff x="3555" y="2587"/>
              <a:chExt cx="304" cy="117"/>
            </a:xfrm>
          </p:grpSpPr>
          <p:grpSp>
            <p:nvGrpSpPr>
              <p:cNvPr id="208" name="Group 376"/>
              <p:cNvGrpSpPr>
                <a:grpSpLocks/>
              </p:cNvGrpSpPr>
              <p:nvPr/>
            </p:nvGrpSpPr>
            <p:grpSpPr bwMode="auto">
              <a:xfrm>
                <a:off x="3555" y="2587"/>
                <a:ext cx="301" cy="115"/>
                <a:chOff x="3555" y="2587"/>
                <a:chExt cx="301" cy="115"/>
              </a:xfrm>
            </p:grpSpPr>
            <p:sp>
              <p:nvSpPr>
                <p:cNvPr id="607" name="Freeform 377"/>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8" name="Freeform 378"/>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9" name="Freeform 379"/>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0" name="Freeform 380"/>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1" name="Freeform 381"/>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2" name="Freeform 382"/>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3" name="Freeform 383"/>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4" name="Freeform 384"/>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9" name="Group 385"/>
              <p:cNvGrpSpPr>
                <a:grpSpLocks/>
              </p:cNvGrpSpPr>
              <p:nvPr/>
            </p:nvGrpSpPr>
            <p:grpSpPr bwMode="auto">
              <a:xfrm>
                <a:off x="3557" y="2590"/>
                <a:ext cx="302" cy="114"/>
                <a:chOff x="3557" y="2590"/>
                <a:chExt cx="302" cy="114"/>
              </a:xfrm>
            </p:grpSpPr>
            <p:sp>
              <p:nvSpPr>
                <p:cNvPr id="599" name="Freeform 386"/>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0" name="Freeform 387"/>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1" name="Freeform 388"/>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2" name="Freeform 389"/>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3" name="Freeform 390"/>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4" name="Freeform 391"/>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5" name="Freeform 392"/>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6" name="Freeform 393"/>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595" name="Line 394"/>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96" name="Line 395"/>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615" name="Line 474"/>
          <p:cNvSpPr>
            <a:spLocks noChangeShapeType="1"/>
          </p:cNvSpPr>
          <p:nvPr/>
        </p:nvSpPr>
        <p:spPr bwMode="auto">
          <a:xfrm>
            <a:off x="3656878" y="2957865"/>
            <a:ext cx="631914" cy="13747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1" name="Group 344"/>
          <p:cNvGrpSpPr>
            <a:grpSpLocks/>
          </p:cNvGrpSpPr>
          <p:nvPr/>
        </p:nvGrpSpPr>
        <p:grpSpPr bwMode="auto">
          <a:xfrm>
            <a:off x="4171462" y="2981254"/>
            <a:ext cx="314109" cy="197668"/>
            <a:chOff x="1304" y="2569"/>
            <a:chExt cx="439" cy="262"/>
          </a:xfrm>
        </p:grpSpPr>
        <p:sp>
          <p:nvSpPr>
            <p:cNvPr id="617" name="Oval 345"/>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8" name="Rectangle 346"/>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9" name="Rectangle 347"/>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0" name="Oval 348"/>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12" name="Group 349"/>
            <p:cNvGrpSpPr>
              <a:grpSpLocks/>
            </p:cNvGrpSpPr>
            <p:nvPr/>
          </p:nvGrpSpPr>
          <p:grpSpPr bwMode="auto">
            <a:xfrm>
              <a:off x="1371" y="2587"/>
              <a:ext cx="304" cy="117"/>
              <a:chOff x="1371" y="2587"/>
              <a:chExt cx="304" cy="117"/>
            </a:xfrm>
          </p:grpSpPr>
          <p:grpSp>
            <p:nvGrpSpPr>
              <p:cNvPr id="213" name="Group 350"/>
              <p:cNvGrpSpPr>
                <a:grpSpLocks/>
              </p:cNvGrpSpPr>
              <p:nvPr/>
            </p:nvGrpSpPr>
            <p:grpSpPr bwMode="auto">
              <a:xfrm>
                <a:off x="1371" y="2587"/>
                <a:ext cx="301" cy="115"/>
                <a:chOff x="1371" y="2587"/>
                <a:chExt cx="301" cy="115"/>
              </a:xfrm>
            </p:grpSpPr>
            <p:sp>
              <p:nvSpPr>
                <p:cNvPr id="634" name="Freeform 351"/>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5" name="Freeform 352"/>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6" name="Freeform 353"/>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7" name="Freeform 354"/>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8" name="Freeform 355"/>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9" name="Freeform 356"/>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0" name="Freeform 357"/>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1" name="Freeform 358"/>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4" name="Group 359"/>
              <p:cNvGrpSpPr>
                <a:grpSpLocks/>
              </p:cNvGrpSpPr>
              <p:nvPr/>
            </p:nvGrpSpPr>
            <p:grpSpPr bwMode="auto">
              <a:xfrm>
                <a:off x="1373" y="2590"/>
                <a:ext cx="302" cy="114"/>
                <a:chOff x="1373" y="2590"/>
                <a:chExt cx="302" cy="114"/>
              </a:xfrm>
            </p:grpSpPr>
            <p:sp>
              <p:nvSpPr>
                <p:cNvPr id="626" name="Freeform 360"/>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7" name="Freeform 361"/>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8" name="Freeform 362"/>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9" name="Freeform 363"/>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0" name="Freeform 364"/>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1" name="Freeform 365"/>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2" name="Freeform 366"/>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3" name="Freeform 367"/>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622" name="Line 368"/>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3" name="Line 369"/>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642" name="Oval 422"/>
          <p:cNvSpPr>
            <a:spLocks noChangeArrowheads="1"/>
          </p:cNvSpPr>
          <p:nvPr/>
        </p:nvSpPr>
        <p:spPr bwMode="auto">
          <a:xfrm>
            <a:off x="4028268" y="3023463"/>
            <a:ext cx="44345"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4" name="Rectangle 468"/>
          <p:cNvSpPr>
            <a:spLocks noChangeArrowheads="1"/>
          </p:cNvSpPr>
          <p:nvPr/>
        </p:nvSpPr>
        <p:spPr bwMode="auto">
          <a:xfrm>
            <a:off x="6939979" y="1353899"/>
            <a:ext cx="538609"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050" b="1" dirty="0">
                <a:solidFill>
                  <a:srgbClr val="000000"/>
                </a:solidFill>
                <a:latin typeface="微软雅黑" panose="020B0503020204020204" pitchFamily="34" charset="-122"/>
                <a:ea typeface="微软雅黑" panose="020B0503020204020204" pitchFamily="34" charset="-122"/>
              </a:rPr>
              <a:t>网络地址</a:t>
            </a:r>
            <a:endParaRPr lang="zh-CN" altLang="en-US" sz="1050" b="1" dirty="0">
              <a:latin typeface="微软雅黑" panose="020B0503020204020204" pitchFamily="34" charset="-122"/>
              <a:ea typeface="微软雅黑" panose="020B0503020204020204" pitchFamily="34" charset="-122"/>
            </a:endParaRPr>
          </a:p>
        </p:txBody>
      </p:sp>
      <p:sp>
        <p:nvSpPr>
          <p:cNvPr id="645" name="Rectangle 468"/>
          <p:cNvSpPr>
            <a:spLocks noChangeArrowheads="1"/>
          </p:cNvSpPr>
          <p:nvPr/>
        </p:nvSpPr>
        <p:spPr bwMode="auto">
          <a:xfrm>
            <a:off x="7485071" y="1571605"/>
            <a:ext cx="402354"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050" b="1">
                <a:solidFill>
                  <a:srgbClr val="000000"/>
                </a:solidFill>
                <a:latin typeface="微软雅黑" panose="020B0503020204020204" pitchFamily="34" charset="-122"/>
                <a:ea typeface="微软雅黑" panose="020B0503020204020204" pitchFamily="34" charset="-122"/>
              </a:rPr>
              <a:t>IP</a:t>
            </a:r>
            <a:r>
              <a:rPr lang="zh-CN" altLang="en-US" sz="1050" b="1">
                <a:solidFill>
                  <a:srgbClr val="000000"/>
                </a:solidFill>
                <a:latin typeface="微软雅黑" panose="020B0503020204020204" pitchFamily="34" charset="-122"/>
                <a:ea typeface="微软雅黑" panose="020B0503020204020204" pitchFamily="34" charset="-122"/>
              </a:rPr>
              <a:t>地址</a:t>
            </a:r>
            <a:endParaRPr lang="zh-CN" altLang="en-US" sz="1050" b="1">
              <a:latin typeface="微软雅黑" panose="020B0503020204020204" pitchFamily="34" charset="-122"/>
              <a:ea typeface="微软雅黑" panose="020B0503020204020204" pitchFamily="34" charset="-122"/>
            </a:endParaRPr>
          </a:p>
        </p:txBody>
      </p:sp>
      <p:sp>
        <p:nvSpPr>
          <p:cNvPr id="646" name="Line 469"/>
          <p:cNvSpPr>
            <a:spLocks noChangeShapeType="1"/>
          </p:cNvSpPr>
          <p:nvPr/>
        </p:nvSpPr>
        <p:spPr bwMode="auto">
          <a:xfrm flipH="1">
            <a:off x="7012040" y="1558343"/>
            <a:ext cx="168141" cy="51280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7" name="Line 469"/>
          <p:cNvSpPr>
            <a:spLocks noChangeShapeType="1"/>
          </p:cNvSpPr>
          <p:nvPr/>
        </p:nvSpPr>
        <p:spPr bwMode="auto">
          <a:xfrm flipH="1">
            <a:off x="7605412" y="1757977"/>
            <a:ext cx="76679" cy="54782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0" name="Oval 316"/>
          <p:cNvSpPr>
            <a:spLocks noChangeArrowheads="1"/>
          </p:cNvSpPr>
          <p:nvPr/>
        </p:nvSpPr>
        <p:spPr bwMode="auto">
          <a:xfrm>
            <a:off x="3237400" y="2910820"/>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pic>
        <p:nvPicPr>
          <p:cNvPr id="651" name="Picture 58"/>
          <p:cNvPicPr>
            <a:picLocks noChangeArrowheads="1"/>
          </p:cNvPicPr>
          <p:nvPr/>
        </p:nvPicPr>
        <p:blipFill>
          <a:blip cstate="print">
            <a:extLst>
              <a:ext uri="{28A0092B-C50C-407E-A947-70E740481C1C}">
                <a14:useLocalDpi xmlns:a14="http://schemas.microsoft.com/office/drawing/2010/main" val="0"/>
              </a:ext>
            </a:extLst>
          </a:blip>
          <a:srcRect/>
          <a:stretch>
            <a:fillRect/>
          </a:stretch>
        </p:blipFill>
        <p:spPr bwMode="auto">
          <a:xfrm>
            <a:off x="7142563" y="2397289"/>
            <a:ext cx="338129" cy="1954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216" name="Group 344"/>
          <p:cNvGrpSpPr>
            <a:grpSpLocks/>
          </p:cNvGrpSpPr>
          <p:nvPr/>
        </p:nvGrpSpPr>
        <p:grpSpPr bwMode="auto">
          <a:xfrm>
            <a:off x="3595071" y="3710360"/>
            <a:ext cx="242049" cy="128766"/>
            <a:chOff x="1304" y="2569"/>
            <a:chExt cx="439" cy="262"/>
          </a:xfrm>
        </p:grpSpPr>
        <p:sp>
          <p:nvSpPr>
            <p:cNvPr id="653" name="Oval 345"/>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4" name="Rectangle 346"/>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5" name="Rectangle 347"/>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6" name="Oval 348"/>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17" name="Group 349"/>
            <p:cNvGrpSpPr>
              <a:grpSpLocks/>
            </p:cNvGrpSpPr>
            <p:nvPr/>
          </p:nvGrpSpPr>
          <p:grpSpPr bwMode="auto">
            <a:xfrm>
              <a:off x="1371" y="2587"/>
              <a:ext cx="304" cy="117"/>
              <a:chOff x="1371" y="2587"/>
              <a:chExt cx="304" cy="117"/>
            </a:xfrm>
          </p:grpSpPr>
          <p:grpSp>
            <p:nvGrpSpPr>
              <p:cNvPr id="218" name="Group 350"/>
              <p:cNvGrpSpPr>
                <a:grpSpLocks/>
              </p:cNvGrpSpPr>
              <p:nvPr/>
            </p:nvGrpSpPr>
            <p:grpSpPr bwMode="auto">
              <a:xfrm>
                <a:off x="1371" y="2587"/>
                <a:ext cx="301" cy="115"/>
                <a:chOff x="1371" y="2587"/>
                <a:chExt cx="301" cy="115"/>
              </a:xfrm>
            </p:grpSpPr>
            <p:sp>
              <p:nvSpPr>
                <p:cNvPr id="670" name="Freeform 351"/>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1" name="Freeform 352"/>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2" name="Freeform 353"/>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3" name="Freeform 354"/>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4" name="Freeform 355"/>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5" name="Freeform 356"/>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6" name="Freeform 357"/>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7" name="Freeform 358"/>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9" name="Group 359"/>
              <p:cNvGrpSpPr>
                <a:grpSpLocks/>
              </p:cNvGrpSpPr>
              <p:nvPr/>
            </p:nvGrpSpPr>
            <p:grpSpPr bwMode="auto">
              <a:xfrm>
                <a:off x="1373" y="2590"/>
                <a:ext cx="302" cy="114"/>
                <a:chOff x="1373" y="2590"/>
                <a:chExt cx="302" cy="114"/>
              </a:xfrm>
            </p:grpSpPr>
            <p:sp>
              <p:nvSpPr>
                <p:cNvPr id="662" name="Freeform 360"/>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3" name="Freeform 361"/>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4" name="Freeform 362"/>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5" name="Freeform 363"/>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6" name="Freeform 364"/>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7" name="Freeform 365"/>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8" name="Freeform 366"/>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9" name="Freeform 367"/>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658" name="Line 368"/>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9" name="Line 369"/>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679" name="Rectangle 27"/>
          <p:cNvSpPr>
            <a:spLocks noChangeArrowheads="1"/>
          </p:cNvSpPr>
          <p:nvPr/>
        </p:nvSpPr>
        <p:spPr bwMode="auto">
          <a:xfrm>
            <a:off x="3931352" y="3708101"/>
            <a:ext cx="40395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a:latin typeface="微软雅黑" panose="020B0503020204020204" pitchFamily="34" charset="-122"/>
                <a:ea typeface="微软雅黑" panose="020B0503020204020204" pitchFamily="34" charset="-122"/>
              </a:rPr>
              <a:t>路由器</a:t>
            </a:r>
            <a:endParaRPr lang="en-US" altLang="zh-CN" sz="1050" b="1">
              <a:latin typeface="微软雅黑" panose="020B0503020204020204" pitchFamily="34" charset="-122"/>
              <a:ea typeface="微软雅黑" panose="020B0503020204020204" pitchFamily="34" charset="-122"/>
            </a:endParaRPr>
          </a:p>
        </p:txBody>
      </p:sp>
      <p:grpSp>
        <p:nvGrpSpPr>
          <p:cNvPr id="221" name="Group 30"/>
          <p:cNvGrpSpPr>
            <a:grpSpLocks/>
          </p:cNvGrpSpPr>
          <p:nvPr/>
        </p:nvGrpSpPr>
        <p:grpSpPr bwMode="auto">
          <a:xfrm>
            <a:off x="2944549" y="2679365"/>
            <a:ext cx="244820" cy="265439"/>
            <a:chOff x="101" y="2294"/>
            <a:chExt cx="343" cy="353"/>
          </a:xfrm>
        </p:grpSpPr>
        <p:grpSp>
          <p:nvGrpSpPr>
            <p:cNvPr id="242" name="Group 31"/>
            <p:cNvGrpSpPr>
              <a:grpSpLocks/>
            </p:cNvGrpSpPr>
            <p:nvPr/>
          </p:nvGrpSpPr>
          <p:grpSpPr bwMode="auto">
            <a:xfrm>
              <a:off x="109" y="2301"/>
              <a:ext cx="335" cy="346"/>
              <a:chOff x="109" y="2301"/>
              <a:chExt cx="335" cy="346"/>
            </a:xfrm>
          </p:grpSpPr>
          <p:sp>
            <p:nvSpPr>
              <p:cNvPr id="257" name="Freeform 32"/>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8" name="Freeform 33"/>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 name="Freeform 34"/>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 name="Freeform 35"/>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1" name="Rectangle 36"/>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2" name="Rectangle 37"/>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3" name="Rectangle 38"/>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4" name="Line 39"/>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43" name="Group 40"/>
              <p:cNvGrpSpPr>
                <a:grpSpLocks/>
              </p:cNvGrpSpPr>
              <p:nvPr/>
            </p:nvGrpSpPr>
            <p:grpSpPr bwMode="auto">
              <a:xfrm>
                <a:off x="109" y="2596"/>
                <a:ext cx="335" cy="51"/>
                <a:chOff x="109" y="2596"/>
                <a:chExt cx="335" cy="51"/>
              </a:xfrm>
            </p:grpSpPr>
            <p:sp>
              <p:nvSpPr>
                <p:cNvPr id="266" name="Freeform 41"/>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7" name="Freeform 42"/>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8" name="Rectangle 43"/>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44" name="Group 44"/>
            <p:cNvGrpSpPr>
              <a:grpSpLocks/>
            </p:cNvGrpSpPr>
            <p:nvPr/>
          </p:nvGrpSpPr>
          <p:grpSpPr bwMode="auto">
            <a:xfrm>
              <a:off x="101" y="2294"/>
              <a:ext cx="335" cy="347"/>
              <a:chOff x="101" y="2294"/>
              <a:chExt cx="335" cy="347"/>
            </a:xfrm>
          </p:grpSpPr>
          <p:sp>
            <p:nvSpPr>
              <p:cNvPr id="245" name="Freeform 45"/>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6" name="Freeform 46"/>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 name="Freeform 47"/>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 name="Freeform 48"/>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9" name="Rectangle 49"/>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0" name="Rectangle 50"/>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1" name="Rectangle 51"/>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2" name="Line 52"/>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53" name="Group 53"/>
              <p:cNvGrpSpPr>
                <a:grpSpLocks/>
              </p:cNvGrpSpPr>
              <p:nvPr/>
            </p:nvGrpSpPr>
            <p:grpSpPr bwMode="auto">
              <a:xfrm>
                <a:off x="101" y="2590"/>
                <a:ext cx="335" cy="51"/>
                <a:chOff x="101" y="2590"/>
                <a:chExt cx="335" cy="51"/>
              </a:xfrm>
            </p:grpSpPr>
            <p:sp>
              <p:nvSpPr>
                <p:cNvPr id="254" name="Freeform 54"/>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 name="Freeform 55"/>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6" name="Rectangle 56"/>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pic>
        <p:nvPicPr>
          <p:cNvPr id="680"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933294" y="1711264"/>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81"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567363" y="3920189"/>
            <a:ext cx="292813" cy="161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82"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353617" y="2855922"/>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83"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473681" y="2984123"/>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84"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126747" y="2457355"/>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Tree>
    <p:extLst>
      <p:ext uri="{BB962C8B-B14F-4D97-AF65-F5344CB8AC3E}">
        <p14:creationId xmlns:p14="http://schemas.microsoft.com/office/powerpoint/2010/main" val="380810154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 name="圆角矩形 219"/>
          <p:cNvSpPr/>
          <p:nvPr/>
        </p:nvSpPr>
        <p:spPr>
          <a:xfrm>
            <a:off x="597048" y="99668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15"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2" name="矩形 221"/>
          <p:cNvSpPr/>
          <p:nvPr/>
        </p:nvSpPr>
        <p:spPr>
          <a:xfrm>
            <a:off x="616085" y="574698"/>
            <a:ext cx="954107" cy="400110"/>
          </a:xfrm>
          <a:prstGeom prst="rect">
            <a:avLst/>
          </a:prstGeom>
        </p:spPr>
        <p:txBody>
          <a:bodyPr wrap="none">
            <a:spAutoFit/>
          </a:bodyPr>
          <a:lstStyle/>
          <a:p>
            <a:r>
              <a:rPr lang="zh-CN" altLang="en-US" sz="2000" b="1" dirty="0">
                <a:latin typeface="微软雅黑" pitchFamily="34" charset="-122"/>
                <a:ea typeface="微软雅黑" pitchFamily="34" charset="-122"/>
              </a:rPr>
              <a:t>注意：</a:t>
            </a:r>
          </a:p>
        </p:txBody>
      </p:sp>
      <p:sp>
        <p:nvSpPr>
          <p:cNvPr id="224" name="椭圆 223"/>
          <p:cNvSpPr/>
          <p:nvPr/>
        </p:nvSpPr>
        <p:spPr bwMode="auto">
          <a:xfrm rot="19311755">
            <a:off x="5944139" y="2386474"/>
            <a:ext cx="2370599" cy="1274073"/>
          </a:xfrm>
          <a:prstGeom prst="ellipse">
            <a:avLst/>
          </a:prstGeom>
          <a:solidFill>
            <a:schemeClr val="bg1"/>
          </a:solidFill>
          <a:ln w="9525" cap="flat" cmpd="sng" algn="ctr">
            <a:solidFill>
              <a:schemeClr val="tx1"/>
            </a:solidFill>
            <a:prstDash val="dash"/>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225" name="Line 472"/>
          <p:cNvSpPr>
            <a:spLocks noChangeShapeType="1"/>
          </p:cNvSpPr>
          <p:nvPr/>
        </p:nvSpPr>
        <p:spPr bwMode="auto">
          <a:xfrm flipH="1">
            <a:off x="6724060" y="2550905"/>
            <a:ext cx="544147" cy="4608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 name="Line 472"/>
          <p:cNvSpPr>
            <a:spLocks noChangeShapeType="1"/>
          </p:cNvSpPr>
          <p:nvPr/>
        </p:nvSpPr>
        <p:spPr bwMode="auto">
          <a:xfrm flipH="1" flipV="1">
            <a:off x="7352277" y="2550905"/>
            <a:ext cx="363073" cy="26656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7" name="Line 472"/>
          <p:cNvSpPr>
            <a:spLocks noChangeShapeType="1"/>
          </p:cNvSpPr>
          <p:nvPr/>
        </p:nvSpPr>
        <p:spPr bwMode="auto">
          <a:xfrm flipH="1">
            <a:off x="7394775" y="2243674"/>
            <a:ext cx="374159" cy="25527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8" name="椭圆 227"/>
          <p:cNvSpPr/>
          <p:nvPr/>
        </p:nvSpPr>
        <p:spPr bwMode="auto">
          <a:xfrm rot="5400000">
            <a:off x="2635410" y="2144584"/>
            <a:ext cx="1278671" cy="1097332"/>
          </a:xfrm>
          <a:prstGeom prst="ellipse">
            <a:avLst/>
          </a:prstGeom>
          <a:solidFill>
            <a:schemeClr val="bg1"/>
          </a:solidFill>
          <a:ln w="9525" cap="flat" cmpd="sng" algn="ctr">
            <a:solidFill>
              <a:schemeClr val="tx1"/>
            </a:solidFill>
            <a:prstDash val="dash"/>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229" name="Line 471"/>
          <p:cNvSpPr>
            <a:spLocks noChangeShapeType="1"/>
          </p:cNvSpPr>
          <p:nvPr/>
        </p:nvSpPr>
        <p:spPr bwMode="auto">
          <a:xfrm>
            <a:off x="3094243" y="2878324"/>
            <a:ext cx="405529" cy="12265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0" name="Line 471"/>
          <p:cNvSpPr>
            <a:spLocks noChangeShapeType="1"/>
          </p:cNvSpPr>
          <p:nvPr/>
        </p:nvSpPr>
        <p:spPr bwMode="auto">
          <a:xfrm>
            <a:off x="3390756" y="2360852"/>
            <a:ext cx="182925" cy="56219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 name="椭圆 230"/>
          <p:cNvSpPr/>
          <p:nvPr/>
        </p:nvSpPr>
        <p:spPr bwMode="auto">
          <a:xfrm>
            <a:off x="4209341" y="1155939"/>
            <a:ext cx="1844004" cy="831332"/>
          </a:xfrm>
          <a:prstGeom prst="ellipse">
            <a:avLst/>
          </a:prstGeom>
          <a:solidFill>
            <a:schemeClr val="bg1"/>
          </a:solidFill>
          <a:ln w="9525" cap="flat" cmpd="sng" algn="ctr">
            <a:solidFill>
              <a:schemeClr val="tx1"/>
            </a:solidFill>
            <a:prstDash val="dash"/>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232" name="Line 467"/>
          <p:cNvSpPr>
            <a:spLocks noChangeShapeType="1"/>
          </p:cNvSpPr>
          <p:nvPr/>
        </p:nvSpPr>
        <p:spPr bwMode="auto">
          <a:xfrm>
            <a:off x="6724060" y="3114538"/>
            <a:ext cx="181998" cy="5410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 name="Line 466"/>
          <p:cNvSpPr>
            <a:spLocks noChangeShapeType="1"/>
          </p:cNvSpPr>
          <p:nvPr/>
        </p:nvSpPr>
        <p:spPr bwMode="auto">
          <a:xfrm flipH="1">
            <a:off x="6407179" y="3112279"/>
            <a:ext cx="183846" cy="54443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 name="Freeform 6"/>
          <p:cNvSpPr>
            <a:spLocks/>
          </p:cNvSpPr>
          <p:nvPr/>
        </p:nvSpPr>
        <p:spPr bwMode="auto">
          <a:xfrm>
            <a:off x="4650941" y="3047897"/>
            <a:ext cx="813911" cy="131025"/>
          </a:xfrm>
          <a:custGeom>
            <a:avLst/>
            <a:gdLst>
              <a:gd name="T0" fmla="*/ 2147483647 w 1138"/>
              <a:gd name="T1" fmla="*/ 2147483647 h 174"/>
              <a:gd name="T2" fmla="*/ 2147483647 w 1138"/>
              <a:gd name="T3" fmla="*/ 2147483647 h 174"/>
              <a:gd name="T4" fmla="*/ 2147483647 w 1138"/>
              <a:gd name="T5" fmla="*/ 2147483647 h 174"/>
              <a:gd name="T6" fmla="*/ 2147483647 w 1138"/>
              <a:gd name="T7" fmla="*/ 2147483647 h 174"/>
              <a:gd name="T8" fmla="*/ 2147483647 w 1138"/>
              <a:gd name="T9" fmla="*/ 0 h 174"/>
              <a:gd name="T10" fmla="*/ 2147483647 w 1138"/>
              <a:gd name="T11" fmla="*/ 0 h 174"/>
              <a:gd name="T12" fmla="*/ 2147483647 w 1138"/>
              <a:gd name="T13" fmla="*/ 0 h 174"/>
              <a:gd name="T14" fmla="*/ 2147483647 w 1138"/>
              <a:gd name="T15" fmla="*/ 0 h 174"/>
              <a:gd name="T16" fmla="*/ 2147483647 w 1138"/>
              <a:gd name="T17" fmla="*/ 2147483647 h 174"/>
              <a:gd name="T18" fmla="*/ 2147483647 w 1138"/>
              <a:gd name="T19" fmla="*/ 2147483647 h 174"/>
              <a:gd name="T20" fmla="*/ 2147483647 w 1138"/>
              <a:gd name="T21" fmla="*/ 2147483647 h 174"/>
              <a:gd name="T22" fmla="*/ 2147483647 w 1138"/>
              <a:gd name="T23" fmla="*/ 2147483647 h 174"/>
              <a:gd name="T24" fmla="*/ 2147483647 w 1138"/>
              <a:gd name="T25" fmla="*/ 2147483647 h 174"/>
              <a:gd name="T26" fmla="*/ 2147483647 w 1138"/>
              <a:gd name="T27" fmla="*/ 2147483647 h 174"/>
              <a:gd name="T28" fmla="*/ 2147483647 w 1138"/>
              <a:gd name="T29" fmla="*/ 2147483647 h 174"/>
              <a:gd name="T30" fmla="*/ 2147483647 w 1138"/>
              <a:gd name="T31" fmla="*/ 2147483647 h 174"/>
              <a:gd name="T32" fmla="*/ 2147483647 w 1138"/>
              <a:gd name="T33" fmla="*/ 2147483647 h 174"/>
              <a:gd name="T34" fmla="*/ 2147483647 w 1138"/>
              <a:gd name="T35" fmla="*/ 2147483647 h 174"/>
              <a:gd name="T36" fmla="*/ 2147483647 w 1138"/>
              <a:gd name="T37" fmla="*/ 2147483647 h 174"/>
              <a:gd name="T38" fmla="*/ 2147483647 w 1138"/>
              <a:gd name="T39" fmla="*/ 2147483647 h 174"/>
              <a:gd name="T40" fmla="*/ 2147483647 w 1138"/>
              <a:gd name="T41" fmla="*/ 2147483647 h 174"/>
              <a:gd name="T42" fmla="*/ 2147483647 w 1138"/>
              <a:gd name="T43" fmla="*/ 2147483647 h 174"/>
              <a:gd name="T44" fmla="*/ 2147483647 w 1138"/>
              <a:gd name="T45" fmla="*/ 2147483647 h 174"/>
              <a:gd name="T46" fmla="*/ 2147483647 w 1138"/>
              <a:gd name="T47" fmla="*/ 2147483647 h 174"/>
              <a:gd name="T48" fmla="*/ 2147483647 w 1138"/>
              <a:gd name="T49" fmla="*/ 2147483647 h 174"/>
              <a:gd name="T50" fmla="*/ 2147483647 w 1138"/>
              <a:gd name="T51" fmla="*/ 2147483647 h 174"/>
              <a:gd name="T52" fmla="*/ 2147483647 w 1138"/>
              <a:gd name="T53" fmla="*/ 2147483647 h 174"/>
              <a:gd name="T54" fmla="*/ 2147483647 w 1138"/>
              <a:gd name="T55" fmla="*/ 2147483647 h 174"/>
              <a:gd name="T56" fmla="*/ 2147483647 w 1138"/>
              <a:gd name="T57" fmla="*/ 2147483647 h 174"/>
              <a:gd name="T58" fmla="*/ 2147483647 w 1138"/>
              <a:gd name="T59" fmla="*/ 2147483647 h 174"/>
              <a:gd name="T60" fmla="*/ 2147483647 w 1138"/>
              <a:gd name="T61" fmla="*/ 2147483647 h 174"/>
              <a:gd name="T62" fmla="*/ 2147483647 w 1138"/>
              <a:gd name="T63" fmla="*/ 2147483647 h 174"/>
              <a:gd name="T64" fmla="*/ 2147483647 w 1138"/>
              <a:gd name="T65" fmla="*/ 2147483647 h 174"/>
              <a:gd name="T66" fmla="*/ 2147483647 w 1138"/>
              <a:gd name="T67" fmla="*/ 2147483647 h 174"/>
              <a:gd name="T68" fmla="*/ 2147483647 w 1138"/>
              <a:gd name="T69" fmla="*/ 2147483647 h 174"/>
              <a:gd name="T70" fmla="*/ 2147483647 w 1138"/>
              <a:gd name="T71" fmla="*/ 2147483647 h 174"/>
              <a:gd name="T72" fmla="*/ 2147483647 w 1138"/>
              <a:gd name="T73" fmla="*/ 2147483647 h 174"/>
              <a:gd name="T74" fmla="*/ 2147483647 w 1138"/>
              <a:gd name="T75" fmla="*/ 2147483647 h 174"/>
              <a:gd name="T76" fmla="*/ 2147483647 w 1138"/>
              <a:gd name="T77" fmla="*/ 2147483647 h 174"/>
              <a:gd name="T78" fmla="*/ 2147483647 w 1138"/>
              <a:gd name="T79" fmla="*/ 2147483647 h 174"/>
              <a:gd name="T80" fmla="*/ 2147483647 w 1138"/>
              <a:gd name="T81" fmla="*/ 2147483647 h 174"/>
              <a:gd name="T82" fmla="*/ 2147483647 w 1138"/>
              <a:gd name="T83" fmla="*/ 2147483647 h 174"/>
              <a:gd name="T84" fmla="*/ 2147483647 w 1138"/>
              <a:gd name="T85" fmla="*/ 2147483647 h 174"/>
              <a:gd name="T86" fmla="*/ 2147483647 w 1138"/>
              <a:gd name="T87" fmla="*/ 2147483647 h 174"/>
              <a:gd name="T88" fmla="*/ 2147483647 w 1138"/>
              <a:gd name="T89" fmla="*/ 2147483647 h 174"/>
              <a:gd name="T90" fmla="*/ 2147483647 w 1138"/>
              <a:gd name="T91" fmla="*/ 2147483647 h 174"/>
              <a:gd name="T92" fmla="*/ 2147483647 w 1138"/>
              <a:gd name="T93" fmla="*/ 2147483647 h 174"/>
              <a:gd name="T94" fmla="*/ 2147483647 w 1138"/>
              <a:gd name="T95" fmla="*/ 2147483647 h 174"/>
              <a:gd name="T96" fmla="*/ 2147483647 w 1138"/>
              <a:gd name="T97" fmla="*/ 2147483647 h 174"/>
              <a:gd name="T98" fmla="*/ 2147483647 w 1138"/>
              <a:gd name="T99" fmla="*/ 2147483647 h 174"/>
              <a:gd name="T100" fmla="*/ 2147483647 w 1138"/>
              <a:gd name="T101" fmla="*/ 2147483647 h 174"/>
              <a:gd name="T102" fmla="*/ 2147483647 w 1138"/>
              <a:gd name="T103" fmla="*/ 2147483647 h 174"/>
              <a:gd name="T104" fmla="*/ 2147483647 w 1138"/>
              <a:gd name="T105" fmla="*/ 2147483647 h 174"/>
              <a:gd name="T106" fmla="*/ 2147483647 w 1138"/>
              <a:gd name="T107" fmla="*/ 2147483647 h 174"/>
              <a:gd name="T108" fmla="*/ 2147483647 w 1138"/>
              <a:gd name="T109" fmla="*/ 2147483647 h 174"/>
              <a:gd name="T110" fmla="*/ 0 w 1138"/>
              <a:gd name="T111" fmla="*/ 2147483647 h 174"/>
              <a:gd name="T112" fmla="*/ 0 w 1138"/>
              <a:gd name="T113" fmla="*/ 2147483647 h 174"/>
              <a:gd name="T114" fmla="*/ 2147483647 w 1138"/>
              <a:gd name="T115" fmla="*/ 2147483647 h 174"/>
              <a:gd name="T116" fmla="*/ 2147483647 w 1138"/>
              <a:gd name="T117" fmla="*/ 2147483647 h 174"/>
              <a:gd name="T118" fmla="*/ 2147483647 w 1138"/>
              <a:gd name="T119" fmla="*/ 2147483647 h 174"/>
              <a:gd name="T120" fmla="*/ 2147483647 w 1138"/>
              <a:gd name="T121" fmla="*/ 2147483647 h 174"/>
              <a:gd name="T122" fmla="*/ 2147483647 w 1138"/>
              <a:gd name="T123" fmla="*/ 2147483647 h 174"/>
              <a:gd name="T124" fmla="*/ 2147483647 w 1138"/>
              <a:gd name="T125" fmla="*/ 2147483647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38"/>
              <a:gd name="T190" fmla="*/ 0 h 174"/>
              <a:gd name="T191" fmla="*/ 1138 w 1138"/>
              <a:gd name="T192" fmla="*/ 174 h 17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99CC"/>
          </a:solidFill>
          <a:ln>
            <a:noFill/>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5" name="Line 450"/>
          <p:cNvSpPr>
            <a:spLocks noChangeShapeType="1"/>
          </p:cNvSpPr>
          <p:nvPr/>
        </p:nvSpPr>
        <p:spPr bwMode="auto">
          <a:xfrm>
            <a:off x="4445846" y="3106632"/>
            <a:ext cx="116774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 name="Freeform 4"/>
          <p:cNvSpPr>
            <a:spLocks/>
          </p:cNvSpPr>
          <p:nvPr/>
        </p:nvSpPr>
        <p:spPr bwMode="auto">
          <a:xfrm>
            <a:off x="4429217" y="2313704"/>
            <a:ext cx="529366" cy="560245"/>
          </a:xfrm>
          <a:custGeom>
            <a:avLst/>
            <a:gdLst>
              <a:gd name="T0" fmla="*/ 2147483647 w 741"/>
              <a:gd name="T1" fmla="*/ 2147483647 h 744"/>
              <a:gd name="T2" fmla="*/ 2147483647 w 741"/>
              <a:gd name="T3" fmla="*/ 2147483647 h 744"/>
              <a:gd name="T4" fmla="*/ 2147483647 w 741"/>
              <a:gd name="T5" fmla="*/ 2147483647 h 744"/>
              <a:gd name="T6" fmla="*/ 2147483647 w 741"/>
              <a:gd name="T7" fmla="*/ 2147483647 h 744"/>
              <a:gd name="T8" fmla="*/ 2147483647 w 741"/>
              <a:gd name="T9" fmla="*/ 2147483647 h 744"/>
              <a:gd name="T10" fmla="*/ 2147483647 w 741"/>
              <a:gd name="T11" fmla="*/ 2147483647 h 744"/>
              <a:gd name="T12" fmla="*/ 2147483647 w 741"/>
              <a:gd name="T13" fmla="*/ 2147483647 h 744"/>
              <a:gd name="T14" fmla="*/ 2147483647 w 741"/>
              <a:gd name="T15" fmla="*/ 2147483647 h 744"/>
              <a:gd name="T16" fmla="*/ 2147483647 w 741"/>
              <a:gd name="T17" fmla="*/ 2147483647 h 744"/>
              <a:gd name="T18" fmla="*/ 2147483647 w 741"/>
              <a:gd name="T19" fmla="*/ 2147483647 h 744"/>
              <a:gd name="T20" fmla="*/ 2147483647 w 741"/>
              <a:gd name="T21" fmla="*/ 2147483647 h 744"/>
              <a:gd name="T22" fmla="*/ 2147483647 w 741"/>
              <a:gd name="T23" fmla="*/ 2147483647 h 744"/>
              <a:gd name="T24" fmla="*/ 2147483647 w 741"/>
              <a:gd name="T25" fmla="*/ 2147483647 h 744"/>
              <a:gd name="T26" fmla="*/ 2147483647 w 741"/>
              <a:gd name="T27" fmla="*/ 2147483647 h 744"/>
              <a:gd name="T28" fmla="*/ 2147483647 w 741"/>
              <a:gd name="T29" fmla="*/ 2147483647 h 744"/>
              <a:gd name="T30" fmla="*/ 2147483647 w 741"/>
              <a:gd name="T31" fmla="*/ 2147483647 h 744"/>
              <a:gd name="T32" fmla="*/ 2147483647 w 741"/>
              <a:gd name="T33" fmla="*/ 2147483647 h 744"/>
              <a:gd name="T34" fmla="*/ 2147483647 w 741"/>
              <a:gd name="T35" fmla="*/ 2147483647 h 744"/>
              <a:gd name="T36" fmla="*/ 2147483647 w 741"/>
              <a:gd name="T37" fmla="*/ 2147483647 h 744"/>
              <a:gd name="T38" fmla="*/ 2147483647 w 741"/>
              <a:gd name="T39" fmla="*/ 2147483647 h 744"/>
              <a:gd name="T40" fmla="*/ 2147483647 w 741"/>
              <a:gd name="T41" fmla="*/ 2147483647 h 744"/>
              <a:gd name="T42" fmla="*/ 2147483647 w 741"/>
              <a:gd name="T43" fmla="*/ 2147483647 h 744"/>
              <a:gd name="T44" fmla="*/ 2147483647 w 741"/>
              <a:gd name="T45" fmla="*/ 2147483647 h 744"/>
              <a:gd name="T46" fmla="*/ 2147483647 w 741"/>
              <a:gd name="T47" fmla="*/ 2147483647 h 744"/>
              <a:gd name="T48" fmla="*/ 2147483647 w 741"/>
              <a:gd name="T49" fmla="*/ 2147483647 h 744"/>
              <a:gd name="T50" fmla="*/ 2147483647 w 741"/>
              <a:gd name="T51" fmla="*/ 2147483647 h 744"/>
              <a:gd name="T52" fmla="*/ 2147483647 w 741"/>
              <a:gd name="T53" fmla="*/ 2147483647 h 744"/>
              <a:gd name="T54" fmla="*/ 2147483647 w 741"/>
              <a:gd name="T55" fmla="*/ 0 h 744"/>
              <a:gd name="T56" fmla="*/ 2147483647 w 741"/>
              <a:gd name="T57" fmla="*/ 2147483647 h 744"/>
              <a:gd name="T58" fmla="*/ 2147483647 w 741"/>
              <a:gd name="T59" fmla="*/ 2147483647 h 744"/>
              <a:gd name="T60" fmla="*/ 2147483647 w 741"/>
              <a:gd name="T61" fmla="*/ 2147483647 h 744"/>
              <a:gd name="T62" fmla="*/ 2147483647 w 741"/>
              <a:gd name="T63" fmla="*/ 2147483647 h 744"/>
              <a:gd name="T64" fmla="*/ 2147483647 w 741"/>
              <a:gd name="T65" fmla="*/ 2147483647 h 744"/>
              <a:gd name="T66" fmla="*/ 2147483647 w 741"/>
              <a:gd name="T67" fmla="*/ 2147483647 h 744"/>
              <a:gd name="T68" fmla="*/ 2147483647 w 741"/>
              <a:gd name="T69" fmla="*/ 2147483647 h 744"/>
              <a:gd name="T70" fmla="*/ 2147483647 w 741"/>
              <a:gd name="T71" fmla="*/ 2147483647 h 744"/>
              <a:gd name="T72" fmla="*/ 2147483647 w 741"/>
              <a:gd name="T73" fmla="*/ 2147483647 h 744"/>
              <a:gd name="T74" fmla="*/ 2147483647 w 741"/>
              <a:gd name="T75" fmla="*/ 2147483647 h 744"/>
              <a:gd name="T76" fmla="*/ 2147483647 w 741"/>
              <a:gd name="T77" fmla="*/ 2147483647 h 744"/>
              <a:gd name="T78" fmla="*/ 2147483647 w 741"/>
              <a:gd name="T79" fmla="*/ 2147483647 h 744"/>
              <a:gd name="T80" fmla="*/ 2147483647 w 741"/>
              <a:gd name="T81" fmla="*/ 2147483647 h 744"/>
              <a:gd name="T82" fmla="*/ 2147483647 w 741"/>
              <a:gd name="T83" fmla="*/ 2147483647 h 744"/>
              <a:gd name="T84" fmla="*/ 2147483647 w 741"/>
              <a:gd name="T85" fmla="*/ 2147483647 h 744"/>
              <a:gd name="T86" fmla="*/ 0 w 741"/>
              <a:gd name="T87" fmla="*/ 2147483647 h 744"/>
              <a:gd name="T88" fmla="*/ 2147483647 w 741"/>
              <a:gd name="T89" fmla="*/ 2147483647 h 744"/>
              <a:gd name="T90" fmla="*/ 2147483647 w 741"/>
              <a:gd name="T91" fmla="*/ 2147483647 h 744"/>
              <a:gd name="T92" fmla="*/ 2147483647 w 741"/>
              <a:gd name="T93" fmla="*/ 2147483647 h 744"/>
              <a:gd name="T94" fmla="*/ 2147483647 w 741"/>
              <a:gd name="T95" fmla="*/ 2147483647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41"/>
              <a:gd name="T145" fmla="*/ 0 h 744"/>
              <a:gd name="T146" fmla="*/ 741 w 741"/>
              <a:gd name="T147" fmla="*/ 744 h 74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99CC"/>
          </a:solidFill>
          <a:ln>
            <a:noFill/>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7" name="Freeform 5"/>
          <p:cNvSpPr>
            <a:spLocks/>
          </p:cNvSpPr>
          <p:nvPr/>
        </p:nvSpPr>
        <p:spPr bwMode="auto">
          <a:xfrm>
            <a:off x="5206174" y="2311445"/>
            <a:ext cx="470240" cy="626887"/>
          </a:xfrm>
          <a:custGeom>
            <a:avLst/>
            <a:gdLst>
              <a:gd name="T0" fmla="*/ 2147483647 w 657"/>
              <a:gd name="T1" fmla="*/ 2147483647 h 832"/>
              <a:gd name="T2" fmla="*/ 2147483647 w 657"/>
              <a:gd name="T3" fmla="*/ 2147483647 h 832"/>
              <a:gd name="T4" fmla="*/ 2147483647 w 657"/>
              <a:gd name="T5" fmla="*/ 2147483647 h 832"/>
              <a:gd name="T6" fmla="*/ 2147483647 w 657"/>
              <a:gd name="T7" fmla="*/ 2147483647 h 832"/>
              <a:gd name="T8" fmla="*/ 2147483647 w 657"/>
              <a:gd name="T9" fmla="*/ 0 h 832"/>
              <a:gd name="T10" fmla="*/ 2147483647 w 657"/>
              <a:gd name="T11" fmla="*/ 2147483647 h 832"/>
              <a:gd name="T12" fmla="*/ 2147483647 w 657"/>
              <a:gd name="T13" fmla="*/ 2147483647 h 832"/>
              <a:gd name="T14" fmla="*/ 2147483647 w 657"/>
              <a:gd name="T15" fmla="*/ 2147483647 h 832"/>
              <a:gd name="T16" fmla="*/ 2147483647 w 657"/>
              <a:gd name="T17" fmla="*/ 2147483647 h 832"/>
              <a:gd name="T18" fmla="*/ 2147483647 w 657"/>
              <a:gd name="T19" fmla="*/ 2147483647 h 832"/>
              <a:gd name="T20" fmla="*/ 2147483647 w 657"/>
              <a:gd name="T21" fmla="*/ 2147483647 h 832"/>
              <a:gd name="T22" fmla="*/ 2147483647 w 657"/>
              <a:gd name="T23" fmla="*/ 2147483647 h 832"/>
              <a:gd name="T24" fmla="*/ 2147483647 w 657"/>
              <a:gd name="T25" fmla="*/ 2147483647 h 832"/>
              <a:gd name="T26" fmla="*/ 2147483647 w 657"/>
              <a:gd name="T27" fmla="*/ 2147483647 h 832"/>
              <a:gd name="T28" fmla="*/ 2147483647 w 657"/>
              <a:gd name="T29" fmla="*/ 2147483647 h 832"/>
              <a:gd name="T30" fmla="*/ 2147483647 w 657"/>
              <a:gd name="T31" fmla="*/ 2147483647 h 832"/>
              <a:gd name="T32" fmla="*/ 2147483647 w 657"/>
              <a:gd name="T33" fmla="*/ 2147483647 h 832"/>
              <a:gd name="T34" fmla="*/ 2147483647 w 657"/>
              <a:gd name="T35" fmla="*/ 2147483647 h 832"/>
              <a:gd name="T36" fmla="*/ 2147483647 w 657"/>
              <a:gd name="T37" fmla="*/ 2147483647 h 832"/>
              <a:gd name="T38" fmla="*/ 2147483647 w 657"/>
              <a:gd name="T39" fmla="*/ 2147483647 h 832"/>
              <a:gd name="T40" fmla="*/ 2147483647 w 657"/>
              <a:gd name="T41" fmla="*/ 2147483647 h 832"/>
              <a:gd name="T42" fmla="*/ 2147483647 w 657"/>
              <a:gd name="T43" fmla="*/ 2147483647 h 832"/>
              <a:gd name="T44" fmla="*/ 0 w 657"/>
              <a:gd name="T45" fmla="*/ 2147483647 h 832"/>
              <a:gd name="T46" fmla="*/ 2147483647 w 657"/>
              <a:gd name="T47" fmla="*/ 2147483647 h 832"/>
              <a:gd name="T48" fmla="*/ 2147483647 w 657"/>
              <a:gd name="T49" fmla="*/ 2147483647 h 832"/>
              <a:gd name="T50" fmla="*/ 2147483647 w 657"/>
              <a:gd name="T51" fmla="*/ 2147483647 h 832"/>
              <a:gd name="T52" fmla="*/ 2147483647 w 657"/>
              <a:gd name="T53" fmla="*/ 2147483647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57"/>
              <a:gd name="T82" fmla="*/ 0 h 832"/>
              <a:gd name="T83" fmla="*/ 657 w 657"/>
              <a:gd name="T84" fmla="*/ 832 h 83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99CC"/>
          </a:solidFill>
          <a:ln>
            <a:noFill/>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8" name="Freeform 10"/>
          <p:cNvSpPr>
            <a:spLocks/>
          </p:cNvSpPr>
          <p:nvPr/>
        </p:nvSpPr>
        <p:spPr bwMode="auto">
          <a:xfrm>
            <a:off x="4289715" y="2190586"/>
            <a:ext cx="766795" cy="842627"/>
          </a:xfrm>
          <a:custGeom>
            <a:avLst/>
            <a:gdLst>
              <a:gd name="T0" fmla="*/ 0 w 945"/>
              <a:gd name="T1" fmla="*/ 2147483647 h 888"/>
              <a:gd name="T2" fmla="*/ 2147483647 w 945"/>
              <a:gd name="T3" fmla="*/ 2147483647 h 888"/>
              <a:gd name="T4" fmla="*/ 2147483647 w 945"/>
              <a:gd name="T5" fmla="*/ 2147483647 h 888"/>
              <a:gd name="T6" fmla="*/ 2147483647 w 945"/>
              <a:gd name="T7" fmla="*/ 0 h 888"/>
              <a:gd name="T8" fmla="*/ 0 w 945"/>
              <a:gd name="T9" fmla="*/ 2147483647 h 888"/>
              <a:gd name="T10" fmla="*/ 0 60000 65536"/>
              <a:gd name="T11" fmla="*/ 0 60000 65536"/>
              <a:gd name="T12" fmla="*/ 0 60000 65536"/>
              <a:gd name="T13" fmla="*/ 0 60000 65536"/>
              <a:gd name="T14" fmla="*/ 0 60000 65536"/>
              <a:gd name="T15" fmla="*/ 0 w 945"/>
              <a:gd name="T16" fmla="*/ 0 h 888"/>
              <a:gd name="T17" fmla="*/ 945 w 945"/>
              <a:gd name="T18" fmla="*/ 888 h 888"/>
            </a:gdLst>
            <a:ahLst/>
            <a:cxnLst>
              <a:cxn ang="T10">
                <a:pos x="T0" y="T1"/>
              </a:cxn>
              <a:cxn ang="T11">
                <a:pos x="T2" y="T3"/>
              </a:cxn>
              <a:cxn ang="T12">
                <a:pos x="T4" y="T5"/>
              </a:cxn>
              <a:cxn ang="T13">
                <a:pos x="T6" y="T7"/>
              </a:cxn>
              <a:cxn ang="T14">
                <a:pos x="T8" y="T9"/>
              </a:cxn>
            </a:cxnLst>
            <a:rect l="T15" t="T16" r="T17" b="T18"/>
            <a:pathLst>
              <a:path w="945" h="888">
                <a:moveTo>
                  <a:pt x="0" y="876"/>
                </a:moveTo>
                <a:lnTo>
                  <a:pt x="12" y="888"/>
                </a:lnTo>
                <a:lnTo>
                  <a:pt x="945" y="12"/>
                </a:lnTo>
                <a:lnTo>
                  <a:pt x="932" y="0"/>
                </a:lnTo>
                <a:lnTo>
                  <a:pt x="0" y="876"/>
                </a:lnTo>
                <a:close/>
              </a:path>
            </a:pathLst>
          </a:custGeom>
          <a:solidFill>
            <a:srgbClr val="000000"/>
          </a:solidFill>
          <a:ln w="9525">
            <a:solidFill>
              <a:srgbClr val="000000"/>
            </a:solidFill>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9" name="Freeform 15"/>
          <p:cNvSpPr>
            <a:spLocks/>
          </p:cNvSpPr>
          <p:nvPr/>
        </p:nvSpPr>
        <p:spPr bwMode="auto">
          <a:xfrm>
            <a:off x="5141505" y="2181549"/>
            <a:ext cx="574635" cy="816648"/>
          </a:xfrm>
          <a:custGeom>
            <a:avLst/>
            <a:gdLst>
              <a:gd name="T0" fmla="*/ 2147483647 w 1094"/>
              <a:gd name="T1" fmla="*/ 2147483647 h 901"/>
              <a:gd name="T2" fmla="*/ 2147483647 w 1094"/>
              <a:gd name="T3" fmla="*/ 2147483647 h 901"/>
              <a:gd name="T4" fmla="*/ 2147483647 w 1094"/>
              <a:gd name="T5" fmla="*/ 0 h 901"/>
              <a:gd name="T6" fmla="*/ 0 w 1094"/>
              <a:gd name="T7" fmla="*/ 2147483647 h 901"/>
              <a:gd name="T8" fmla="*/ 2147483647 w 1094"/>
              <a:gd name="T9" fmla="*/ 2147483647 h 901"/>
              <a:gd name="T10" fmla="*/ 0 60000 65536"/>
              <a:gd name="T11" fmla="*/ 0 60000 65536"/>
              <a:gd name="T12" fmla="*/ 0 60000 65536"/>
              <a:gd name="T13" fmla="*/ 0 60000 65536"/>
              <a:gd name="T14" fmla="*/ 0 60000 65536"/>
              <a:gd name="T15" fmla="*/ 0 w 1094"/>
              <a:gd name="T16" fmla="*/ 0 h 901"/>
              <a:gd name="T17" fmla="*/ 1094 w 1094"/>
              <a:gd name="T18" fmla="*/ 901 h 901"/>
            </a:gdLst>
            <a:ahLst/>
            <a:cxnLst>
              <a:cxn ang="T10">
                <a:pos x="T0" y="T1"/>
              </a:cxn>
              <a:cxn ang="T11">
                <a:pos x="T2" y="T3"/>
              </a:cxn>
              <a:cxn ang="T12">
                <a:pos x="T4" y="T5"/>
              </a:cxn>
              <a:cxn ang="T13">
                <a:pos x="T6" y="T7"/>
              </a:cxn>
              <a:cxn ang="T14">
                <a:pos x="T8" y="T9"/>
              </a:cxn>
            </a:cxnLst>
            <a:rect l="T15" t="T16" r="T17" b="T18"/>
            <a:pathLst>
              <a:path w="1094" h="901">
                <a:moveTo>
                  <a:pt x="1082" y="901"/>
                </a:moveTo>
                <a:lnTo>
                  <a:pt x="1094" y="887"/>
                </a:lnTo>
                <a:lnTo>
                  <a:pt x="12" y="0"/>
                </a:lnTo>
                <a:lnTo>
                  <a:pt x="0" y="15"/>
                </a:lnTo>
                <a:lnTo>
                  <a:pt x="1082" y="901"/>
                </a:lnTo>
                <a:close/>
              </a:path>
            </a:pathLst>
          </a:custGeom>
          <a:solidFill>
            <a:srgbClr val="000000"/>
          </a:solidFill>
          <a:ln w="9525">
            <a:solidFill>
              <a:srgbClr val="000000"/>
            </a:solidFill>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1" name="Oval 28"/>
          <p:cNvSpPr>
            <a:spLocks noChangeArrowheads="1"/>
          </p:cNvSpPr>
          <p:nvPr/>
        </p:nvSpPr>
        <p:spPr bwMode="auto">
          <a:xfrm>
            <a:off x="6444133" y="3435324"/>
            <a:ext cx="57279" cy="60994"/>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 name="Group 57"/>
          <p:cNvGrpSpPr>
            <a:grpSpLocks/>
          </p:cNvGrpSpPr>
          <p:nvPr/>
        </p:nvGrpSpPr>
        <p:grpSpPr bwMode="auto">
          <a:xfrm>
            <a:off x="6270449" y="3566349"/>
            <a:ext cx="243896" cy="265439"/>
            <a:chOff x="3891" y="3616"/>
            <a:chExt cx="342" cy="353"/>
          </a:xfrm>
        </p:grpSpPr>
        <p:grpSp>
          <p:nvGrpSpPr>
            <p:cNvPr id="3" name="Group 58"/>
            <p:cNvGrpSpPr>
              <a:grpSpLocks/>
            </p:cNvGrpSpPr>
            <p:nvPr/>
          </p:nvGrpSpPr>
          <p:grpSpPr bwMode="auto">
            <a:xfrm>
              <a:off x="3899" y="3622"/>
              <a:ext cx="334" cy="347"/>
              <a:chOff x="3899" y="3622"/>
              <a:chExt cx="334" cy="347"/>
            </a:xfrm>
          </p:grpSpPr>
          <p:sp>
            <p:nvSpPr>
              <p:cNvPr id="284" name="Freeform 59"/>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5" name="Freeform 60"/>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6" name="Freeform 61"/>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7" name="Freeform 62"/>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8" name="Rectangle 63"/>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9" name="Rectangle 64"/>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0" name="Rectangle 65"/>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1" name="Line 66"/>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4" name="Group 67"/>
              <p:cNvGrpSpPr>
                <a:grpSpLocks/>
              </p:cNvGrpSpPr>
              <p:nvPr/>
            </p:nvGrpSpPr>
            <p:grpSpPr bwMode="auto">
              <a:xfrm>
                <a:off x="3899" y="3918"/>
                <a:ext cx="334" cy="51"/>
                <a:chOff x="3899" y="3918"/>
                <a:chExt cx="334" cy="51"/>
              </a:xfrm>
            </p:grpSpPr>
            <p:sp>
              <p:nvSpPr>
                <p:cNvPr id="293" name="Freeform 68"/>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 name="Freeform 69"/>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 name="Rectangle 70"/>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 name="Group 71"/>
            <p:cNvGrpSpPr>
              <a:grpSpLocks/>
            </p:cNvGrpSpPr>
            <p:nvPr/>
          </p:nvGrpSpPr>
          <p:grpSpPr bwMode="auto">
            <a:xfrm>
              <a:off x="3891" y="3616"/>
              <a:ext cx="334" cy="346"/>
              <a:chOff x="3891" y="3616"/>
              <a:chExt cx="334" cy="346"/>
            </a:xfrm>
          </p:grpSpPr>
          <p:sp>
            <p:nvSpPr>
              <p:cNvPr id="272" name="Freeform 72"/>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 name="Freeform 73"/>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4" name="Freeform 74"/>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 name="Freeform 75"/>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6" name="Rectangle 76"/>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7" name="Rectangle 77"/>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8" name="Rectangle 78"/>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9" name="Line 79"/>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6" name="Group 80"/>
              <p:cNvGrpSpPr>
                <a:grpSpLocks/>
              </p:cNvGrpSpPr>
              <p:nvPr/>
            </p:nvGrpSpPr>
            <p:grpSpPr bwMode="auto">
              <a:xfrm>
                <a:off x="3891" y="3912"/>
                <a:ext cx="334" cy="50"/>
                <a:chOff x="3891" y="3912"/>
                <a:chExt cx="334" cy="50"/>
              </a:xfrm>
            </p:grpSpPr>
            <p:sp>
              <p:nvSpPr>
                <p:cNvPr id="281" name="Freeform 81"/>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 name="Freeform 82"/>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3" name="Rectangle 83"/>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7" name="Group 84"/>
          <p:cNvGrpSpPr>
            <a:grpSpLocks/>
          </p:cNvGrpSpPr>
          <p:nvPr/>
        </p:nvGrpSpPr>
        <p:grpSpPr bwMode="auto">
          <a:xfrm>
            <a:off x="6784110" y="3544889"/>
            <a:ext cx="244820" cy="265438"/>
            <a:chOff x="4752" y="3605"/>
            <a:chExt cx="343" cy="353"/>
          </a:xfrm>
        </p:grpSpPr>
        <p:grpSp>
          <p:nvGrpSpPr>
            <p:cNvPr id="8" name="Group 85"/>
            <p:cNvGrpSpPr>
              <a:grpSpLocks/>
            </p:cNvGrpSpPr>
            <p:nvPr/>
          </p:nvGrpSpPr>
          <p:grpSpPr bwMode="auto">
            <a:xfrm>
              <a:off x="4760" y="3612"/>
              <a:ext cx="335" cy="346"/>
              <a:chOff x="4760" y="3612"/>
              <a:chExt cx="335" cy="346"/>
            </a:xfrm>
          </p:grpSpPr>
          <p:sp>
            <p:nvSpPr>
              <p:cNvPr id="311" name="Freeform 86"/>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 name="Freeform 87"/>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3" name="Freeform 88"/>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 name="Freeform 89"/>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5" name="Rectangle 90"/>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6" name="Rectangle 91"/>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7" name="Rectangle 92"/>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8" name="Line 93"/>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9" name="Group 94"/>
              <p:cNvGrpSpPr>
                <a:grpSpLocks/>
              </p:cNvGrpSpPr>
              <p:nvPr/>
            </p:nvGrpSpPr>
            <p:grpSpPr bwMode="auto">
              <a:xfrm>
                <a:off x="4760" y="3907"/>
                <a:ext cx="335" cy="51"/>
                <a:chOff x="4760" y="3907"/>
                <a:chExt cx="335" cy="51"/>
              </a:xfrm>
            </p:grpSpPr>
            <p:sp>
              <p:nvSpPr>
                <p:cNvPr id="320" name="Freeform 95"/>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1" name="Freeform 96"/>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2" name="Rectangle 97"/>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0" name="Group 98"/>
            <p:cNvGrpSpPr>
              <a:grpSpLocks/>
            </p:cNvGrpSpPr>
            <p:nvPr/>
          </p:nvGrpSpPr>
          <p:grpSpPr bwMode="auto">
            <a:xfrm>
              <a:off x="4752" y="3605"/>
              <a:ext cx="334" cy="347"/>
              <a:chOff x="4752" y="3605"/>
              <a:chExt cx="334" cy="347"/>
            </a:xfrm>
          </p:grpSpPr>
          <p:sp>
            <p:nvSpPr>
              <p:cNvPr id="299" name="Freeform 99"/>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 name="Freeform 100"/>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1" name="Freeform 101"/>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2" name="Freeform 102"/>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 name="Rectangle 103"/>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4" name="Rectangle 104"/>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5" name="Rectangle 105"/>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6" name="Line 106"/>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1" name="Group 107"/>
              <p:cNvGrpSpPr>
                <a:grpSpLocks/>
              </p:cNvGrpSpPr>
              <p:nvPr/>
            </p:nvGrpSpPr>
            <p:grpSpPr bwMode="auto">
              <a:xfrm>
                <a:off x="4752" y="3901"/>
                <a:ext cx="334" cy="51"/>
                <a:chOff x="4752" y="3901"/>
                <a:chExt cx="334" cy="51"/>
              </a:xfrm>
            </p:grpSpPr>
            <p:sp>
              <p:nvSpPr>
                <p:cNvPr id="308" name="Freeform 108"/>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9" name="Freeform 109"/>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 name="Rectangle 110"/>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12" name="Group 111"/>
          <p:cNvGrpSpPr>
            <a:grpSpLocks/>
          </p:cNvGrpSpPr>
          <p:nvPr/>
        </p:nvGrpSpPr>
        <p:grpSpPr bwMode="auto">
          <a:xfrm>
            <a:off x="3252685" y="2154439"/>
            <a:ext cx="244820" cy="265438"/>
            <a:chOff x="101" y="1539"/>
            <a:chExt cx="343" cy="352"/>
          </a:xfrm>
        </p:grpSpPr>
        <p:grpSp>
          <p:nvGrpSpPr>
            <p:cNvPr id="13" name="Group 112"/>
            <p:cNvGrpSpPr>
              <a:grpSpLocks/>
            </p:cNvGrpSpPr>
            <p:nvPr/>
          </p:nvGrpSpPr>
          <p:grpSpPr bwMode="auto">
            <a:xfrm>
              <a:off x="109" y="1545"/>
              <a:ext cx="335" cy="346"/>
              <a:chOff x="109" y="1545"/>
              <a:chExt cx="335" cy="346"/>
            </a:xfrm>
          </p:grpSpPr>
          <p:sp>
            <p:nvSpPr>
              <p:cNvPr id="338" name="Freeform 113"/>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9" name="Freeform 114"/>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0" name="Freeform 115"/>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1" name="Freeform 116"/>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2" name="Rectangle 117"/>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3" name="Rectangle 118"/>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4" name="Rectangle 119"/>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5" name="Line 120"/>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4" name="Group 121"/>
              <p:cNvGrpSpPr>
                <a:grpSpLocks/>
              </p:cNvGrpSpPr>
              <p:nvPr/>
            </p:nvGrpSpPr>
            <p:grpSpPr bwMode="auto">
              <a:xfrm>
                <a:off x="109" y="1841"/>
                <a:ext cx="335" cy="50"/>
                <a:chOff x="109" y="1841"/>
                <a:chExt cx="335" cy="50"/>
              </a:xfrm>
            </p:grpSpPr>
            <p:sp>
              <p:nvSpPr>
                <p:cNvPr id="347" name="Freeform 122"/>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8" name="Freeform 123"/>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9" name="Rectangle 124"/>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5" name="Group 125"/>
            <p:cNvGrpSpPr>
              <a:grpSpLocks/>
            </p:cNvGrpSpPr>
            <p:nvPr/>
          </p:nvGrpSpPr>
          <p:grpSpPr bwMode="auto">
            <a:xfrm>
              <a:off x="101" y="1539"/>
              <a:ext cx="335" cy="346"/>
              <a:chOff x="101" y="1539"/>
              <a:chExt cx="335" cy="346"/>
            </a:xfrm>
          </p:grpSpPr>
          <p:sp>
            <p:nvSpPr>
              <p:cNvPr id="326" name="Freeform 126"/>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7" name="Freeform 127"/>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8" name="Freeform 128"/>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9" name="Freeform 129"/>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0" name="Rectangle 130"/>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1" name="Rectangle 131"/>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2" name="Rectangle 132"/>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3" name="Line 133"/>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6" name="Group 134"/>
              <p:cNvGrpSpPr>
                <a:grpSpLocks/>
              </p:cNvGrpSpPr>
              <p:nvPr/>
            </p:nvGrpSpPr>
            <p:grpSpPr bwMode="auto">
              <a:xfrm>
                <a:off x="101" y="1834"/>
                <a:ext cx="335" cy="51"/>
                <a:chOff x="101" y="1834"/>
                <a:chExt cx="335" cy="51"/>
              </a:xfrm>
            </p:grpSpPr>
            <p:sp>
              <p:nvSpPr>
                <p:cNvPr id="335" name="Freeform 135"/>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6" name="Freeform 136"/>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7" name="Rectangle 137"/>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17" name="Group 138"/>
          <p:cNvGrpSpPr>
            <a:grpSpLocks/>
          </p:cNvGrpSpPr>
          <p:nvPr/>
        </p:nvGrpSpPr>
        <p:grpSpPr bwMode="auto">
          <a:xfrm>
            <a:off x="7667310" y="2607381"/>
            <a:ext cx="245744" cy="264309"/>
            <a:chOff x="5237" y="2322"/>
            <a:chExt cx="343" cy="352"/>
          </a:xfrm>
        </p:grpSpPr>
        <p:grpSp>
          <p:nvGrpSpPr>
            <p:cNvPr id="18" name="Group 139"/>
            <p:cNvGrpSpPr>
              <a:grpSpLocks/>
            </p:cNvGrpSpPr>
            <p:nvPr/>
          </p:nvGrpSpPr>
          <p:grpSpPr bwMode="auto">
            <a:xfrm>
              <a:off x="5245" y="2328"/>
              <a:ext cx="335" cy="346"/>
              <a:chOff x="5245" y="2328"/>
              <a:chExt cx="335" cy="346"/>
            </a:xfrm>
          </p:grpSpPr>
          <p:sp>
            <p:nvSpPr>
              <p:cNvPr id="365" name="Freeform 140"/>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6" name="Freeform 141"/>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7" name="Freeform 142"/>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8" name="Freeform 143"/>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9" name="Rectangle 144"/>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0" name="Rectangle 145"/>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1" name="Rectangle 146"/>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2" name="Line 147"/>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 name="Group 148"/>
              <p:cNvGrpSpPr>
                <a:grpSpLocks/>
              </p:cNvGrpSpPr>
              <p:nvPr/>
            </p:nvGrpSpPr>
            <p:grpSpPr bwMode="auto">
              <a:xfrm>
                <a:off x="5245" y="2624"/>
                <a:ext cx="335" cy="50"/>
                <a:chOff x="5245" y="2624"/>
                <a:chExt cx="335" cy="50"/>
              </a:xfrm>
            </p:grpSpPr>
            <p:sp>
              <p:nvSpPr>
                <p:cNvPr id="374" name="Freeform 149"/>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5" name="Freeform 150"/>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6" name="Rectangle 151"/>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0" name="Group 152"/>
            <p:cNvGrpSpPr>
              <a:grpSpLocks/>
            </p:cNvGrpSpPr>
            <p:nvPr/>
          </p:nvGrpSpPr>
          <p:grpSpPr bwMode="auto">
            <a:xfrm>
              <a:off x="5237" y="2322"/>
              <a:ext cx="335" cy="346"/>
              <a:chOff x="5237" y="2322"/>
              <a:chExt cx="335" cy="346"/>
            </a:xfrm>
          </p:grpSpPr>
          <p:sp>
            <p:nvSpPr>
              <p:cNvPr id="353" name="Freeform 153"/>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4" name="Freeform 154"/>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5" name="Freeform 155"/>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6" name="Freeform 156"/>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7" name="Rectangle 157"/>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58" name="Rectangle 158"/>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59" name="Rectangle 159"/>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60" name="Line 160"/>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 name="Group 161"/>
              <p:cNvGrpSpPr>
                <a:grpSpLocks/>
              </p:cNvGrpSpPr>
              <p:nvPr/>
            </p:nvGrpSpPr>
            <p:grpSpPr bwMode="auto">
              <a:xfrm>
                <a:off x="5237" y="2617"/>
                <a:ext cx="335" cy="51"/>
                <a:chOff x="5237" y="2617"/>
                <a:chExt cx="335" cy="51"/>
              </a:xfrm>
            </p:grpSpPr>
            <p:sp>
              <p:nvSpPr>
                <p:cNvPr id="362" name="Freeform 162"/>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3" name="Freeform 163"/>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4" name="Rectangle 164"/>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22" name="Group 165"/>
          <p:cNvGrpSpPr>
            <a:grpSpLocks/>
          </p:cNvGrpSpPr>
          <p:nvPr/>
        </p:nvGrpSpPr>
        <p:grpSpPr bwMode="auto">
          <a:xfrm>
            <a:off x="7667310" y="2053913"/>
            <a:ext cx="245744" cy="265438"/>
            <a:chOff x="5237" y="1587"/>
            <a:chExt cx="343" cy="353"/>
          </a:xfrm>
        </p:grpSpPr>
        <p:grpSp>
          <p:nvGrpSpPr>
            <p:cNvPr id="23" name="Group 166"/>
            <p:cNvGrpSpPr>
              <a:grpSpLocks/>
            </p:cNvGrpSpPr>
            <p:nvPr/>
          </p:nvGrpSpPr>
          <p:grpSpPr bwMode="auto">
            <a:xfrm>
              <a:off x="5245" y="1594"/>
              <a:ext cx="335" cy="346"/>
              <a:chOff x="5245" y="1594"/>
              <a:chExt cx="335" cy="346"/>
            </a:xfrm>
          </p:grpSpPr>
          <p:sp>
            <p:nvSpPr>
              <p:cNvPr id="392" name="Freeform 167"/>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3" name="Freeform 168"/>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4" name="Freeform 169"/>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5" name="Freeform 170"/>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6" name="Rectangle 171"/>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7" name="Rectangle 172"/>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8" name="Rectangle 173"/>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9" name="Line 174"/>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4" name="Group 175"/>
              <p:cNvGrpSpPr>
                <a:grpSpLocks/>
              </p:cNvGrpSpPr>
              <p:nvPr/>
            </p:nvGrpSpPr>
            <p:grpSpPr bwMode="auto">
              <a:xfrm>
                <a:off x="5245" y="1889"/>
                <a:ext cx="335" cy="51"/>
                <a:chOff x="5245" y="1889"/>
                <a:chExt cx="335" cy="51"/>
              </a:xfrm>
            </p:grpSpPr>
            <p:sp>
              <p:nvSpPr>
                <p:cNvPr id="401" name="Freeform 176"/>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02" name="Freeform 177"/>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03" name="Rectangle 178"/>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5" name="Group 179"/>
            <p:cNvGrpSpPr>
              <a:grpSpLocks/>
            </p:cNvGrpSpPr>
            <p:nvPr/>
          </p:nvGrpSpPr>
          <p:grpSpPr bwMode="auto">
            <a:xfrm>
              <a:off x="5237" y="1587"/>
              <a:ext cx="335" cy="346"/>
              <a:chOff x="5237" y="1587"/>
              <a:chExt cx="335" cy="346"/>
            </a:xfrm>
          </p:grpSpPr>
          <p:sp>
            <p:nvSpPr>
              <p:cNvPr id="380" name="Freeform 180"/>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1" name="Freeform 181"/>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2" name="Freeform 182"/>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3" name="Freeform 183"/>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4" name="Rectangle 184"/>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5" name="Rectangle 185"/>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6" name="Rectangle 186"/>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7" name="Line 187"/>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6" name="Group 188"/>
              <p:cNvGrpSpPr>
                <a:grpSpLocks/>
              </p:cNvGrpSpPr>
              <p:nvPr/>
            </p:nvGrpSpPr>
            <p:grpSpPr bwMode="auto">
              <a:xfrm>
                <a:off x="5237" y="1883"/>
                <a:ext cx="335" cy="50"/>
                <a:chOff x="5237" y="1883"/>
                <a:chExt cx="335" cy="50"/>
              </a:xfrm>
            </p:grpSpPr>
            <p:sp>
              <p:nvSpPr>
                <p:cNvPr id="389" name="Freeform 189"/>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0" name="Freeform 190"/>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1" name="Rectangle 191"/>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404" name="Rectangle 193"/>
          <p:cNvSpPr>
            <a:spLocks noChangeArrowheads="1"/>
          </p:cNvSpPr>
          <p:nvPr/>
        </p:nvSpPr>
        <p:spPr bwMode="auto">
          <a:xfrm>
            <a:off x="3546430" y="1311297"/>
            <a:ext cx="679673"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u="sng" dirty="0">
                <a:latin typeface="微软雅黑" panose="020B0503020204020204" pitchFamily="34" charset="-122"/>
                <a:ea typeface="微软雅黑" panose="020B0503020204020204" pitchFamily="34" charset="-122"/>
              </a:rPr>
              <a:t>1.1.1.0/29</a:t>
            </a:r>
          </a:p>
        </p:txBody>
      </p:sp>
      <p:sp>
        <p:nvSpPr>
          <p:cNvPr id="405" name="Rectangle 194"/>
          <p:cNvSpPr>
            <a:spLocks noChangeArrowheads="1"/>
          </p:cNvSpPr>
          <p:nvPr/>
        </p:nvSpPr>
        <p:spPr bwMode="auto">
          <a:xfrm>
            <a:off x="4823700" y="1490279"/>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6" name="Rectangle 195"/>
          <p:cNvSpPr>
            <a:spLocks noChangeArrowheads="1"/>
          </p:cNvSpPr>
          <p:nvPr/>
        </p:nvSpPr>
        <p:spPr bwMode="auto">
          <a:xfrm>
            <a:off x="5479634" y="1681169"/>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1.1.1.1</a:t>
            </a:r>
            <a:endParaRPr lang="en-US" altLang="zh-CN" sz="1050" b="1">
              <a:latin typeface="微软雅黑" panose="020B0503020204020204" pitchFamily="34" charset="-122"/>
              <a:ea typeface="微软雅黑" panose="020B0503020204020204" pitchFamily="34" charset="-122"/>
            </a:endParaRPr>
          </a:p>
        </p:txBody>
      </p:sp>
      <p:sp>
        <p:nvSpPr>
          <p:cNvPr id="407" name="Rectangle 196"/>
          <p:cNvSpPr>
            <a:spLocks noChangeArrowheads="1"/>
          </p:cNvSpPr>
          <p:nvPr/>
        </p:nvSpPr>
        <p:spPr bwMode="auto">
          <a:xfrm>
            <a:off x="5572019" y="1490279"/>
            <a:ext cx="48779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8" name="Rectangle 197"/>
          <p:cNvSpPr>
            <a:spLocks noChangeArrowheads="1"/>
          </p:cNvSpPr>
          <p:nvPr/>
        </p:nvSpPr>
        <p:spPr bwMode="auto">
          <a:xfrm>
            <a:off x="5180307" y="1476725"/>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1.1.1.2</a:t>
            </a:r>
            <a:endParaRPr lang="en-US" altLang="zh-CN" sz="1050" b="1">
              <a:latin typeface="微软雅黑" panose="020B0503020204020204" pitchFamily="34" charset="-122"/>
              <a:ea typeface="微软雅黑" panose="020B0503020204020204" pitchFamily="34" charset="-122"/>
            </a:endParaRPr>
          </a:p>
        </p:txBody>
      </p:sp>
      <p:sp>
        <p:nvSpPr>
          <p:cNvPr id="409" name="Rectangle 199"/>
          <p:cNvSpPr>
            <a:spLocks noChangeArrowheads="1"/>
          </p:cNvSpPr>
          <p:nvPr/>
        </p:nvSpPr>
        <p:spPr bwMode="auto">
          <a:xfrm>
            <a:off x="4291220" y="1588857"/>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1.1.1.3</a:t>
            </a:r>
            <a:endParaRPr lang="en-US" altLang="zh-CN" sz="1050" b="1" dirty="0">
              <a:latin typeface="微软雅黑" panose="020B0503020204020204" pitchFamily="34" charset="-122"/>
              <a:ea typeface="微软雅黑" panose="020B0503020204020204" pitchFamily="34" charset="-122"/>
            </a:endParaRPr>
          </a:p>
        </p:txBody>
      </p:sp>
      <p:sp>
        <p:nvSpPr>
          <p:cNvPr id="410" name="Rectangle 284"/>
          <p:cNvSpPr>
            <a:spLocks noChangeArrowheads="1"/>
          </p:cNvSpPr>
          <p:nvPr/>
        </p:nvSpPr>
        <p:spPr bwMode="auto">
          <a:xfrm>
            <a:off x="5114713" y="1826878"/>
            <a:ext cx="12934" cy="276734"/>
          </a:xfrm>
          <a:prstGeom prst="rect">
            <a:avLst/>
          </a:prstGeom>
          <a:solidFill>
            <a:srgbClr val="000000"/>
          </a:solidFill>
          <a:ln w="19050">
            <a:solidFill>
              <a:srgbClr val="000000"/>
            </a:solidFill>
            <a:miter lim="800000"/>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7" name="Group 285"/>
          <p:cNvGrpSpPr>
            <a:grpSpLocks/>
          </p:cNvGrpSpPr>
          <p:nvPr/>
        </p:nvGrpSpPr>
        <p:grpSpPr bwMode="auto">
          <a:xfrm>
            <a:off x="4946573" y="2079892"/>
            <a:ext cx="314109" cy="197668"/>
            <a:chOff x="2299" y="1622"/>
            <a:chExt cx="439" cy="262"/>
          </a:xfrm>
        </p:grpSpPr>
        <p:sp>
          <p:nvSpPr>
            <p:cNvPr id="412" name="Oval 286"/>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3" name="Rectangle 28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4" name="Rectangle 288"/>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5" name="Oval 289"/>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8" name="Group 290"/>
            <p:cNvGrpSpPr>
              <a:grpSpLocks/>
            </p:cNvGrpSpPr>
            <p:nvPr/>
          </p:nvGrpSpPr>
          <p:grpSpPr bwMode="auto">
            <a:xfrm>
              <a:off x="2365" y="1640"/>
              <a:ext cx="304" cy="117"/>
              <a:chOff x="2365" y="1640"/>
              <a:chExt cx="304" cy="117"/>
            </a:xfrm>
          </p:grpSpPr>
          <p:grpSp>
            <p:nvGrpSpPr>
              <p:cNvPr id="29" name="Group 291"/>
              <p:cNvGrpSpPr>
                <a:grpSpLocks/>
              </p:cNvGrpSpPr>
              <p:nvPr/>
            </p:nvGrpSpPr>
            <p:grpSpPr bwMode="auto">
              <a:xfrm>
                <a:off x="2365" y="1640"/>
                <a:ext cx="302" cy="115"/>
                <a:chOff x="2365" y="1640"/>
                <a:chExt cx="302" cy="115"/>
              </a:xfrm>
            </p:grpSpPr>
            <p:sp>
              <p:nvSpPr>
                <p:cNvPr id="429" name="Freeform 292"/>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0" name="Freeform 293"/>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1" name="Freeform 294"/>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2" name="Freeform 295"/>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3" name="Freeform 296"/>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4" name="Freeform 297"/>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5" name="Freeform 298"/>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6" name="Freeform 299"/>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 name="Group 300"/>
              <p:cNvGrpSpPr>
                <a:grpSpLocks/>
              </p:cNvGrpSpPr>
              <p:nvPr/>
            </p:nvGrpSpPr>
            <p:grpSpPr bwMode="auto">
              <a:xfrm>
                <a:off x="2368" y="1643"/>
                <a:ext cx="301" cy="114"/>
                <a:chOff x="2368" y="1643"/>
                <a:chExt cx="301" cy="114"/>
              </a:xfrm>
            </p:grpSpPr>
            <p:sp>
              <p:nvSpPr>
                <p:cNvPr id="421" name="Freeform 301"/>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2" name="Freeform 302"/>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3" name="Freeform 303"/>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4" name="Freeform 304"/>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5" name="Freeform 305"/>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6" name="Freeform 306"/>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7" name="Freeform 307"/>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8" name="Freeform 308"/>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417" name="Line 309"/>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8" name="Line 310"/>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437" name="Rectangle 311"/>
          <p:cNvSpPr>
            <a:spLocks noChangeArrowheads="1"/>
          </p:cNvSpPr>
          <p:nvPr/>
        </p:nvSpPr>
        <p:spPr bwMode="auto">
          <a:xfrm>
            <a:off x="5167372" y="1946608"/>
            <a:ext cx="489640"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38" name="Rectangle 312"/>
          <p:cNvSpPr>
            <a:spLocks noChangeArrowheads="1"/>
          </p:cNvSpPr>
          <p:nvPr/>
        </p:nvSpPr>
        <p:spPr bwMode="auto">
          <a:xfrm>
            <a:off x="5181542" y="1916111"/>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1.1.1.4</a:t>
            </a:r>
            <a:endParaRPr lang="en-US" altLang="zh-CN" sz="1050" b="1" dirty="0">
              <a:latin typeface="微软雅黑" panose="020B0503020204020204" pitchFamily="34" charset="-122"/>
              <a:ea typeface="微软雅黑" panose="020B0503020204020204" pitchFamily="34" charset="-122"/>
            </a:endParaRPr>
          </a:p>
        </p:txBody>
      </p:sp>
      <p:sp>
        <p:nvSpPr>
          <p:cNvPr id="439" name="Rectangle 313"/>
          <p:cNvSpPr>
            <a:spLocks noChangeArrowheads="1"/>
          </p:cNvSpPr>
          <p:nvPr/>
        </p:nvSpPr>
        <p:spPr bwMode="auto">
          <a:xfrm>
            <a:off x="4764574" y="2022286"/>
            <a:ext cx="199552"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0" name="Rectangle 314"/>
          <p:cNvSpPr>
            <a:spLocks noChangeArrowheads="1"/>
          </p:cNvSpPr>
          <p:nvPr/>
        </p:nvSpPr>
        <p:spPr bwMode="auto">
          <a:xfrm>
            <a:off x="4797210" y="2009142"/>
            <a:ext cx="150682"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FF"/>
                </a:solidFill>
                <a:latin typeface="微软雅黑" panose="020B0503020204020204" pitchFamily="34" charset="-122"/>
                <a:ea typeface="微软雅黑" panose="020B0503020204020204" pitchFamily="34" charset="-122"/>
              </a:rPr>
              <a:t>R</a:t>
            </a:r>
            <a:r>
              <a:rPr lang="en-US" altLang="zh-CN" sz="1050" b="1" baseline="-25000" dirty="0">
                <a:solidFill>
                  <a:srgbClr val="0000FF"/>
                </a:solidFill>
                <a:latin typeface="微软雅黑" panose="020B0503020204020204" pitchFamily="34" charset="-122"/>
                <a:ea typeface="微软雅黑" panose="020B0503020204020204" pitchFamily="34" charset="-122"/>
              </a:rPr>
              <a:t>1</a:t>
            </a:r>
          </a:p>
        </p:txBody>
      </p:sp>
      <p:sp>
        <p:nvSpPr>
          <p:cNvPr id="441" name="Oval 319"/>
          <p:cNvSpPr>
            <a:spLocks noChangeArrowheads="1"/>
          </p:cNvSpPr>
          <p:nvPr/>
        </p:nvSpPr>
        <p:spPr bwMode="auto">
          <a:xfrm>
            <a:off x="5095312" y="1972587"/>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2" name="Oval 325"/>
          <p:cNvSpPr>
            <a:spLocks noChangeArrowheads="1"/>
          </p:cNvSpPr>
          <p:nvPr/>
        </p:nvSpPr>
        <p:spPr bwMode="auto">
          <a:xfrm>
            <a:off x="7561991" y="270452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3" name="Oval 326"/>
          <p:cNvSpPr>
            <a:spLocks noChangeArrowheads="1"/>
          </p:cNvSpPr>
          <p:nvPr/>
        </p:nvSpPr>
        <p:spPr bwMode="auto">
          <a:xfrm>
            <a:off x="7588783" y="2334036"/>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4" name="Rectangle 327"/>
          <p:cNvSpPr>
            <a:spLocks noChangeArrowheads="1"/>
          </p:cNvSpPr>
          <p:nvPr/>
        </p:nvSpPr>
        <p:spPr bwMode="auto">
          <a:xfrm>
            <a:off x="6166054" y="2622065"/>
            <a:ext cx="488716"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5" name="Rectangle 328"/>
          <p:cNvSpPr>
            <a:spLocks noChangeArrowheads="1"/>
          </p:cNvSpPr>
          <p:nvPr/>
        </p:nvSpPr>
        <p:spPr bwMode="auto">
          <a:xfrm>
            <a:off x="5912639" y="3114538"/>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1.1.1.13</a:t>
            </a:r>
            <a:endParaRPr lang="en-US" altLang="zh-CN" sz="1050" b="1" dirty="0">
              <a:latin typeface="微软雅黑" panose="020B0503020204020204" pitchFamily="34" charset="-122"/>
              <a:ea typeface="微软雅黑" panose="020B0503020204020204" pitchFamily="34" charset="-122"/>
            </a:endParaRPr>
          </a:p>
        </p:txBody>
      </p:sp>
      <p:sp>
        <p:nvSpPr>
          <p:cNvPr id="446" name="Rectangle 329"/>
          <p:cNvSpPr>
            <a:spLocks noChangeArrowheads="1"/>
          </p:cNvSpPr>
          <p:nvPr/>
        </p:nvSpPr>
        <p:spPr bwMode="auto">
          <a:xfrm>
            <a:off x="7534276" y="2884115"/>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7" name="Rectangle 330"/>
          <p:cNvSpPr>
            <a:spLocks noChangeArrowheads="1"/>
          </p:cNvSpPr>
          <p:nvPr/>
        </p:nvSpPr>
        <p:spPr bwMode="auto">
          <a:xfrm>
            <a:off x="7121563" y="2785847"/>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1.1.1.10</a:t>
            </a:r>
            <a:endParaRPr lang="en-US" altLang="zh-CN" sz="1050" b="1" dirty="0">
              <a:latin typeface="微软雅黑" panose="020B0503020204020204" pitchFamily="34" charset="-122"/>
              <a:ea typeface="微软雅黑" panose="020B0503020204020204" pitchFamily="34" charset="-122"/>
            </a:endParaRPr>
          </a:p>
        </p:txBody>
      </p:sp>
      <p:sp>
        <p:nvSpPr>
          <p:cNvPr id="448" name="Rectangle 331"/>
          <p:cNvSpPr>
            <a:spLocks noChangeArrowheads="1"/>
          </p:cNvSpPr>
          <p:nvPr/>
        </p:nvSpPr>
        <p:spPr bwMode="auto">
          <a:xfrm>
            <a:off x="7534276" y="2313704"/>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9" name="Rectangle 332"/>
          <p:cNvSpPr>
            <a:spLocks noChangeArrowheads="1"/>
          </p:cNvSpPr>
          <p:nvPr/>
        </p:nvSpPr>
        <p:spPr bwMode="auto">
          <a:xfrm>
            <a:off x="7611879" y="2381476"/>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1.1.1.9</a:t>
            </a:r>
            <a:endParaRPr lang="en-US" altLang="zh-CN" sz="1050" b="1" dirty="0">
              <a:latin typeface="微软雅黑" panose="020B0503020204020204" pitchFamily="34" charset="-122"/>
              <a:ea typeface="微软雅黑" panose="020B0503020204020204" pitchFamily="34" charset="-122"/>
            </a:endParaRPr>
          </a:p>
        </p:txBody>
      </p:sp>
      <p:sp>
        <p:nvSpPr>
          <p:cNvPr id="450" name="Rectangle 334"/>
          <p:cNvSpPr>
            <a:spLocks noChangeArrowheads="1"/>
          </p:cNvSpPr>
          <p:nvPr/>
        </p:nvSpPr>
        <p:spPr bwMode="auto">
          <a:xfrm>
            <a:off x="6921131" y="3366423"/>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1.1.1.12</a:t>
            </a:r>
            <a:endParaRPr lang="en-US" altLang="zh-CN" sz="1050" b="1" dirty="0">
              <a:latin typeface="微软雅黑" panose="020B0503020204020204" pitchFamily="34" charset="-122"/>
              <a:ea typeface="微软雅黑" panose="020B0503020204020204" pitchFamily="34" charset="-122"/>
            </a:endParaRPr>
          </a:p>
        </p:txBody>
      </p:sp>
      <p:sp>
        <p:nvSpPr>
          <p:cNvPr id="451" name="Rectangle 335"/>
          <p:cNvSpPr>
            <a:spLocks noChangeArrowheads="1"/>
          </p:cNvSpPr>
          <p:nvPr/>
        </p:nvSpPr>
        <p:spPr bwMode="auto">
          <a:xfrm>
            <a:off x="5494415" y="3608142"/>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2" name="Rectangle 336"/>
          <p:cNvSpPr>
            <a:spLocks noChangeArrowheads="1"/>
          </p:cNvSpPr>
          <p:nvPr/>
        </p:nvSpPr>
        <p:spPr bwMode="auto">
          <a:xfrm>
            <a:off x="5893152" y="3353998"/>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1.1.1.11</a:t>
            </a:r>
            <a:endParaRPr lang="en-US" altLang="zh-CN" sz="1050" b="1" dirty="0">
              <a:latin typeface="微软雅黑" panose="020B0503020204020204" pitchFamily="34" charset="-122"/>
              <a:ea typeface="微软雅黑" panose="020B0503020204020204" pitchFamily="34" charset="-122"/>
            </a:endParaRPr>
          </a:p>
        </p:txBody>
      </p:sp>
      <p:sp>
        <p:nvSpPr>
          <p:cNvPr id="453" name="Oval 337"/>
          <p:cNvSpPr>
            <a:spLocks noChangeArrowheads="1"/>
          </p:cNvSpPr>
          <p:nvPr/>
        </p:nvSpPr>
        <p:spPr bwMode="auto">
          <a:xfrm>
            <a:off x="6821988" y="3439842"/>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4" name="Rectangle 338"/>
          <p:cNvSpPr>
            <a:spLocks noChangeArrowheads="1"/>
          </p:cNvSpPr>
          <p:nvPr/>
        </p:nvSpPr>
        <p:spPr bwMode="auto">
          <a:xfrm>
            <a:off x="6397940" y="2247062"/>
            <a:ext cx="434209"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5" name="Rectangle 339"/>
          <p:cNvSpPr>
            <a:spLocks noChangeArrowheads="1"/>
          </p:cNvSpPr>
          <p:nvPr/>
        </p:nvSpPr>
        <p:spPr bwMode="auto">
          <a:xfrm>
            <a:off x="6587986" y="2058318"/>
            <a:ext cx="70224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u="sng" dirty="0">
                <a:latin typeface="微软雅黑" panose="020B0503020204020204" pitchFamily="34" charset="-122"/>
                <a:ea typeface="微软雅黑" panose="020B0503020204020204" pitchFamily="34" charset="-122"/>
              </a:rPr>
              <a:t>1.1.1.8/29</a:t>
            </a:r>
          </a:p>
        </p:txBody>
      </p:sp>
      <p:sp>
        <p:nvSpPr>
          <p:cNvPr id="456" name="Rectangle 340"/>
          <p:cNvSpPr>
            <a:spLocks noChangeArrowheads="1"/>
          </p:cNvSpPr>
          <p:nvPr/>
        </p:nvSpPr>
        <p:spPr bwMode="auto">
          <a:xfrm>
            <a:off x="6433047" y="2096835"/>
            <a:ext cx="349215"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7" name="Oval 396"/>
          <p:cNvSpPr>
            <a:spLocks noChangeArrowheads="1"/>
          </p:cNvSpPr>
          <p:nvPr/>
        </p:nvSpPr>
        <p:spPr bwMode="auto">
          <a:xfrm>
            <a:off x="4635235" y="308630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8" name="Oval 397"/>
          <p:cNvSpPr>
            <a:spLocks noChangeArrowheads="1"/>
          </p:cNvSpPr>
          <p:nvPr/>
        </p:nvSpPr>
        <p:spPr bwMode="auto">
          <a:xfrm>
            <a:off x="5441756" y="3082912"/>
            <a:ext cx="45268" cy="46311"/>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9" name="Oval 398"/>
          <p:cNvSpPr>
            <a:spLocks noChangeArrowheads="1"/>
          </p:cNvSpPr>
          <p:nvPr/>
        </p:nvSpPr>
        <p:spPr bwMode="auto">
          <a:xfrm>
            <a:off x="5641308" y="2899928"/>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0" name="Oval 399"/>
          <p:cNvSpPr>
            <a:spLocks noChangeArrowheads="1"/>
          </p:cNvSpPr>
          <p:nvPr/>
        </p:nvSpPr>
        <p:spPr bwMode="auto">
          <a:xfrm>
            <a:off x="5215413" y="229789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1" name="Oval 400"/>
          <p:cNvSpPr>
            <a:spLocks noChangeArrowheads="1"/>
          </p:cNvSpPr>
          <p:nvPr/>
        </p:nvSpPr>
        <p:spPr bwMode="auto">
          <a:xfrm>
            <a:off x="4411663" y="2842323"/>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2" name="Oval 401"/>
          <p:cNvSpPr>
            <a:spLocks noChangeArrowheads="1"/>
          </p:cNvSpPr>
          <p:nvPr/>
        </p:nvSpPr>
        <p:spPr bwMode="auto">
          <a:xfrm>
            <a:off x="4891142" y="2310315"/>
            <a:ext cx="44345" cy="46311"/>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3" name="Rectangle 402"/>
          <p:cNvSpPr>
            <a:spLocks noChangeArrowheads="1"/>
          </p:cNvSpPr>
          <p:nvPr/>
        </p:nvSpPr>
        <p:spPr bwMode="auto">
          <a:xfrm>
            <a:off x="5298559" y="2127332"/>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4" name="Rectangle 403"/>
          <p:cNvSpPr>
            <a:spLocks noChangeArrowheads="1"/>
          </p:cNvSpPr>
          <p:nvPr/>
        </p:nvSpPr>
        <p:spPr bwMode="auto">
          <a:xfrm>
            <a:off x="5308722" y="2210917"/>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1.1.1.24</a:t>
            </a:r>
            <a:endParaRPr lang="en-US" altLang="zh-CN" sz="1050" b="1" dirty="0">
              <a:latin typeface="微软雅黑" panose="020B0503020204020204" pitchFamily="34" charset="-122"/>
              <a:ea typeface="微软雅黑" panose="020B0503020204020204" pitchFamily="34" charset="-122"/>
            </a:endParaRPr>
          </a:p>
        </p:txBody>
      </p:sp>
      <p:sp>
        <p:nvSpPr>
          <p:cNvPr id="465" name="Rectangle 404"/>
          <p:cNvSpPr>
            <a:spLocks noChangeArrowheads="1"/>
          </p:cNvSpPr>
          <p:nvPr/>
        </p:nvSpPr>
        <p:spPr bwMode="auto">
          <a:xfrm>
            <a:off x="4371938" y="2201881"/>
            <a:ext cx="48779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6" name="Rectangle 405"/>
          <p:cNvSpPr>
            <a:spLocks noChangeArrowheads="1"/>
          </p:cNvSpPr>
          <p:nvPr/>
        </p:nvSpPr>
        <p:spPr bwMode="auto">
          <a:xfrm>
            <a:off x="4362649" y="2195104"/>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1.1.1.26</a:t>
            </a:r>
            <a:endParaRPr lang="en-US" altLang="zh-CN" sz="1050" b="1" dirty="0">
              <a:latin typeface="微软雅黑" panose="020B0503020204020204" pitchFamily="34" charset="-122"/>
              <a:ea typeface="微软雅黑" panose="020B0503020204020204" pitchFamily="34" charset="-122"/>
            </a:endParaRPr>
          </a:p>
        </p:txBody>
      </p:sp>
      <p:sp>
        <p:nvSpPr>
          <p:cNvPr id="467" name="Rectangle 406"/>
          <p:cNvSpPr>
            <a:spLocks noChangeArrowheads="1"/>
          </p:cNvSpPr>
          <p:nvPr/>
        </p:nvSpPr>
        <p:spPr bwMode="auto">
          <a:xfrm>
            <a:off x="4015332" y="2539610"/>
            <a:ext cx="488716"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8" name="Rectangle 407"/>
          <p:cNvSpPr>
            <a:spLocks noChangeArrowheads="1"/>
          </p:cNvSpPr>
          <p:nvPr/>
        </p:nvSpPr>
        <p:spPr bwMode="auto">
          <a:xfrm>
            <a:off x="3944777" y="2674433"/>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C00000"/>
                </a:solidFill>
                <a:latin typeface="微软雅黑" panose="020B0503020204020204" pitchFamily="34" charset="-122"/>
                <a:ea typeface="微软雅黑" panose="020B0503020204020204" pitchFamily="34" charset="-122"/>
              </a:rPr>
              <a:t>1.1.1.27</a:t>
            </a:r>
          </a:p>
        </p:txBody>
      </p:sp>
      <p:sp>
        <p:nvSpPr>
          <p:cNvPr id="469" name="Rectangle 408"/>
          <p:cNvSpPr>
            <a:spLocks noChangeArrowheads="1"/>
          </p:cNvSpPr>
          <p:nvPr/>
        </p:nvSpPr>
        <p:spPr bwMode="auto">
          <a:xfrm>
            <a:off x="5631145" y="2471838"/>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0" name="Rectangle 409"/>
          <p:cNvSpPr>
            <a:spLocks noChangeArrowheads="1"/>
          </p:cNvSpPr>
          <p:nvPr/>
        </p:nvSpPr>
        <p:spPr bwMode="auto">
          <a:xfrm>
            <a:off x="5693967" y="2774551"/>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1.1.1.25</a:t>
            </a:r>
            <a:endParaRPr lang="en-US" altLang="zh-CN" sz="1050" b="1">
              <a:latin typeface="微软雅黑" panose="020B0503020204020204" pitchFamily="34" charset="-122"/>
              <a:ea typeface="微软雅黑" panose="020B0503020204020204" pitchFamily="34" charset="-122"/>
            </a:endParaRPr>
          </a:p>
        </p:txBody>
      </p:sp>
      <p:sp>
        <p:nvSpPr>
          <p:cNvPr id="471" name="Rectangle 410"/>
          <p:cNvSpPr>
            <a:spLocks noChangeArrowheads="1"/>
          </p:cNvSpPr>
          <p:nvPr/>
        </p:nvSpPr>
        <p:spPr bwMode="auto">
          <a:xfrm>
            <a:off x="5366924" y="2925908"/>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2" name="Rectangle 411"/>
          <p:cNvSpPr>
            <a:spLocks noChangeArrowheads="1"/>
          </p:cNvSpPr>
          <p:nvPr/>
        </p:nvSpPr>
        <p:spPr bwMode="auto">
          <a:xfrm>
            <a:off x="5295788" y="3158590"/>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1.1.1.29</a:t>
            </a:r>
            <a:endParaRPr lang="en-US" altLang="zh-CN" sz="1050" b="1" dirty="0">
              <a:latin typeface="微软雅黑" panose="020B0503020204020204" pitchFamily="34" charset="-122"/>
              <a:ea typeface="微软雅黑" panose="020B0503020204020204" pitchFamily="34" charset="-122"/>
            </a:endParaRPr>
          </a:p>
        </p:txBody>
      </p:sp>
      <p:sp>
        <p:nvSpPr>
          <p:cNvPr id="473" name="Rectangle 412"/>
          <p:cNvSpPr>
            <a:spLocks noChangeArrowheads="1"/>
          </p:cNvSpPr>
          <p:nvPr/>
        </p:nvSpPr>
        <p:spPr bwMode="auto">
          <a:xfrm>
            <a:off x="4505896" y="2925908"/>
            <a:ext cx="487793"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4" name="Rectangle 413"/>
          <p:cNvSpPr>
            <a:spLocks noChangeArrowheads="1"/>
          </p:cNvSpPr>
          <p:nvPr/>
        </p:nvSpPr>
        <p:spPr bwMode="auto">
          <a:xfrm>
            <a:off x="4419054" y="3149554"/>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C00000"/>
                </a:solidFill>
                <a:latin typeface="微软雅黑" panose="020B0503020204020204" pitchFamily="34" charset="-122"/>
                <a:ea typeface="微软雅黑" panose="020B0503020204020204" pitchFamily="34" charset="-122"/>
              </a:rPr>
              <a:t>1.1.1.28</a:t>
            </a:r>
          </a:p>
        </p:txBody>
      </p:sp>
      <p:sp>
        <p:nvSpPr>
          <p:cNvPr id="475" name="Rectangle 414"/>
          <p:cNvSpPr>
            <a:spLocks noChangeArrowheads="1"/>
          </p:cNvSpPr>
          <p:nvPr/>
        </p:nvSpPr>
        <p:spPr bwMode="auto">
          <a:xfrm>
            <a:off x="2822591" y="2431699"/>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6" name="Rectangle 415"/>
          <p:cNvSpPr>
            <a:spLocks noChangeArrowheads="1"/>
          </p:cNvSpPr>
          <p:nvPr/>
        </p:nvSpPr>
        <p:spPr bwMode="auto">
          <a:xfrm>
            <a:off x="2852904" y="2455549"/>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1.1.1.17</a:t>
            </a:r>
            <a:endParaRPr lang="en-US" altLang="zh-CN" sz="1050" b="1" dirty="0">
              <a:latin typeface="微软雅黑" panose="020B0503020204020204" pitchFamily="34" charset="-122"/>
              <a:ea typeface="微软雅黑" panose="020B0503020204020204" pitchFamily="34" charset="-122"/>
            </a:endParaRPr>
          </a:p>
        </p:txBody>
      </p:sp>
      <p:sp>
        <p:nvSpPr>
          <p:cNvPr id="477" name="Rectangle 416"/>
          <p:cNvSpPr>
            <a:spLocks noChangeArrowheads="1"/>
          </p:cNvSpPr>
          <p:nvPr/>
        </p:nvSpPr>
        <p:spPr bwMode="auto">
          <a:xfrm>
            <a:off x="3801922" y="2958664"/>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8" name="Rectangle 417"/>
          <p:cNvSpPr>
            <a:spLocks noChangeArrowheads="1"/>
          </p:cNvSpPr>
          <p:nvPr/>
        </p:nvSpPr>
        <p:spPr bwMode="auto">
          <a:xfrm>
            <a:off x="3631876" y="3129549"/>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C00000"/>
                </a:solidFill>
                <a:latin typeface="微软雅黑" panose="020B0503020204020204" pitchFamily="34" charset="-122"/>
                <a:ea typeface="微软雅黑" panose="020B0503020204020204" pitchFamily="34" charset="-122"/>
              </a:rPr>
              <a:t>1.1.1.19</a:t>
            </a:r>
          </a:p>
        </p:txBody>
      </p:sp>
      <p:sp>
        <p:nvSpPr>
          <p:cNvPr id="479" name="Rectangle 418"/>
          <p:cNvSpPr>
            <a:spLocks noChangeArrowheads="1"/>
          </p:cNvSpPr>
          <p:nvPr/>
        </p:nvSpPr>
        <p:spPr bwMode="auto">
          <a:xfrm>
            <a:off x="2822591" y="3164762"/>
            <a:ext cx="488717"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0" name="Rectangle 419"/>
          <p:cNvSpPr>
            <a:spLocks noChangeArrowheads="1"/>
          </p:cNvSpPr>
          <p:nvPr/>
        </p:nvSpPr>
        <p:spPr bwMode="auto">
          <a:xfrm>
            <a:off x="2922380" y="3017614"/>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1.1.1.18</a:t>
            </a:r>
            <a:endParaRPr lang="en-US" altLang="zh-CN" sz="1050" b="1" dirty="0">
              <a:latin typeface="微软雅黑" panose="020B0503020204020204" pitchFamily="34" charset="-122"/>
              <a:ea typeface="微软雅黑" panose="020B0503020204020204" pitchFamily="34" charset="-122"/>
            </a:endParaRPr>
          </a:p>
        </p:txBody>
      </p:sp>
      <p:sp>
        <p:nvSpPr>
          <p:cNvPr id="481" name="Oval 421"/>
          <p:cNvSpPr>
            <a:spLocks noChangeArrowheads="1"/>
          </p:cNvSpPr>
          <p:nvPr/>
        </p:nvSpPr>
        <p:spPr bwMode="auto">
          <a:xfrm>
            <a:off x="3416419" y="2504298"/>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2" name="Rectangle 423"/>
          <p:cNvSpPr>
            <a:spLocks noChangeArrowheads="1"/>
          </p:cNvSpPr>
          <p:nvPr/>
        </p:nvSpPr>
        <p:spPr bwMode="auto">
          <a:xfrm>
            <a:off x="4322974" y="2988031"/>
            <a:ext cx="200476"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3" name="Rectangle 424"/>
          <p:cNvSpPr>
            <a:spLocks noChangeArrowheads="1"/>
          </p:cNvSpPr>
          <p:nvPr/>
        </p:nvSpPr>
        <p:spPr bwMode="auto">
          <a:xfrm>
            <a:off x="4477257" y="2873950"/>
            <a:ext cx="150682"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FF"/>
                </a:solidFill>
                <a:latin typeface="微软雅黑" panose="020B0503020204020204" pitchFamily="34" charset="-122"/>
                <a:ea typeface="微软雅黑" panose="020B0503020204020204" pitchFamily="34" charset="-122"/>
              </a:rPr>
              <a:t>R</a:t>
            </a:r>
            <a:r>
              <a:rPr lang="en-US" altLang="zh-CN" sz="1050" b="1" baseline="-25000" dirty="0">
                <a:solidFill>
                  <a:srgbClr val="0000FF"/>
                </a:solidFill>
                <a:latin typeface="微软雅黑" panose="020B0503020204020204" pitchFamily="34" charset="-122"/>
                <a:ea typeface="微软雅黑" panose="020B0503020204020204" pitchFamily="34" charset="-122"/>
              </a:rPr>
              <a:t>3</a:t>
            </a:r>
          </a:p>
        </p:txBody>
      </p:sp>
      <p:sp>
        <p:nvSpPr>
          <p:cNvPr id="484" name="Rectangle 427"/>
          <p:cNvSpPr>
            <a:spLocks noChangeArrowheads="1"/>
          </p:cNvSpPr>
          <p:nvPr/>
        </p:nvSpPr>
        <p:spPr bwMode="auto">
          <a:xfrm>
            <a:off x="5454690" y="2872820"/>
            <a:ext cx="150682"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FF"/>
                </a:solidFill>
                <a:latin typeface="微软雅黑" panose="020B0503020204020204" pitchFamily="34" charset="-122"/>
                <a:ea typeface="微软雅黑" panose="020B0503020204020204" pitchFamily="34" charset="-122"/>
              </a:rPr>
              <a:t>R</a:t>
            </a:r>
            <a:r>
              <a:rPr lang="en-US" altLang="zh-CN" sz="1050" b="1" baseline="-25000">
                <a:solidFill>
                  <a:srgbClr val="0000FF"/>
                </a:solidFill>
                <a:latin typeface="微软雅黑" panose="020B0503020204020204" pitchFamily="34" charset="-122"/>
                <a:ea typeface="微软雅黑" panose="020B0503020204020204" pitchFamily="34" charset="-122"/>
              </a:rPr>
              <a:t>2</a:t>
            </a:r>
          </a:p>
        </p:txBody>
      </p:sp>
      <p:sp>
        <p:nvSpPr>
          <p:cNvPr id="485" name="Rectangle 429"/>
          <p:cNvSpPr>
            <a:spLocks noChangeArrowheads="1"/>
          </p:cNvSpPr>
          <p:nvPr/>
        </p:nvSpPr>
        <p:spPr bwMode="auto">
          <a:xfrm>
            <a:off x="3287338" y="1885613"/>
            <a:ext cx="43513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6" name="Rectangle 430"/>
          <p:cNvSpPr>
            <a:spLocks noChangeArrowheads="1"/>
          </p:cNvSpPr>
          <p:nvPr/>
        </p:nvSpPr>
        <p:spPr bwMode="auto">
          <a:xfrm>
            <a:off x="3330759" y="1837347"/>
            <a:ext cx="763029"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u="sng" dirty="0">
                <a:latin typeface="微软雅黑" panose="020B0503020204020204" pitchFamily="34" charset="-122"/>
                <a:ea typeface="微软雅黑" panose="020B0503020204020204" pitchFamily="34" charset="-122"/>
              </a:rPr>
              <a:t>1.1.1.16/29</a:t>
            </a:r>
          </a:p>
        </p:txBody>
      </p:sp>
      <p:sp>
        <p:nvSpPr>
          <p:cNvPr id="487" name="Rectangle 431"/>
          <p:cNvSpPr>
            <a:spLocks noChangeArrowheads="1"/>
          </p:cNvSpPr>
          <p:nvPr/>
        </p:nvSpPr>
        <p:spPr bwMode="auto">
          <a:xfrm>
            <a:off x="3303044" y="1733128"/>
            <a:ext cx="348292"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8" name="Rectangle 432"/>
          <p:cNvSpPr>
            <a:spLocks noChangeArrowheads="1"/>
          </p:cNvSpPr>
          <p:nvPr/>
        </p:nvSpPr>
        <p:spPr bwMode="auto">
          <a:xfrm>
            <a:off x="3345541" y="1684861"/>
            <a:ext cx="344646"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LAN</a:t>
            </a:r>
            <a:r>
              <a:rPr lang="en-US" altLang="zh-CN" sz="1050" b="1" baseline="-25000" dirty="0">
                <a:solidFill>
                  <a:srgbClr val="000000"/>
                </a:solidFill>
                <a:latin typeface="微软雅黑" panose="020B0503020204020204" pitchFamily="34" charset="-122"/>
                <a:ea typeface="微软雅黑" panose="020B0503020204020204" pitchFamily="34" charset="-122"/>
              </a:rPr>
              <a:t>3</a:t>
            </a:r>
            <a:endParaRPr lang="en-US" altLang="zh-CN" sz="1050" b="1" baseline="-25000" dirty="0">
              <a:latin typeface="微软雅黑" panose="020B0503020204020204" pitchFamily="34" charset="-122"/>
              <a:ea typeface="微软雅黑" panose="020B0503020204020204" pitchFamily="34" charset="-122"/>
            </a:endParaRPr>
          </a:p>
        </p:txBody>
      </p:sp>
      <p:sp>
        <p:nvSpPr>
          <p:cNvPr id="489" name="Rectangle 434"/>
          <p:cNvSpPr>
            <a:spLocks noChangeArrowheads="1"/>
          </p:cNvSpPr>
          <p:nvPr/>
        </p:nvSpPr>
        <p:spPr bwMode="auto">
          <a:xfrm>
            <a:off x="5013090" y="2653692"/>
            <a:ext cx="201399"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0" name="Rectangle 438"/>
          <p:cNvSpPr>
            <a:spLocks noChangeArrowheads="1"/>
          </p:cNvSpPr>
          <p:nvPr/>
        </p:nvSpPr>
        <p:spPr bwMode="auto">
          <a:xfrm>
            <a:off x="5509197" y="2471838"/>
            <a:ext cx="16991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N</a:t>
            </a:r>
            <a:r>
              <a:rPr lang="en-US" altLang="zh-CN" sz="1050" b="1" baseline="-25000">
                <a:solidFill>
                  <a:srgbClr val="000000"/>
                </a:solidFill>
                <a:latin typeface="微软雅黑" panose="020B0503020204020204" pitchFamily="34" charset="-122"/>
                <a:ea typeface="微软雅黑" panose="020B0503020204020204" pitchFamily="34" charset="-122"/>
              </a:rPr>
              <a:t>1</a:t>
            </a:r>
            <a:endParaRPr lang="en-US" altLang="zh-CN" sz="1050" b="1" baseline="-25000">
              <a:latin typeface="微软雅黑" panose="020B0503020204020204" pitchFamily="34" charset="-122"/>
              <a:ea typeface="微软雅黑" panose="020B0503020204020204" pitchFamily="34" charset="-122"/>
            </a:endParaRPr>
          </a:p>
        </p:txBody>
      </p:sp>
      <p:sp>
        <p:nvSpPr>
          <p:cNvPr id="491" name="Rectangle 440"/>
          <p:cNvSpPr>
            <a:spLocks noChangeArrowheads="1"/>
          </p:cNvSpPr>
          <p:nvPr/>
        </p:nvSpPr>
        <p:spPr bwMode="auto">
          <a:xfrm>
            <a:off x="4692514" y="2501206"/>
            <a:ext cx="200476"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2" name="Rectangle 441"/>
          <p:cNvSpPr>
            <a:spLocks noChangeArrowheads="1"/>
          </p:cNvSpPr>
          <p:nvPr/>
        </p:nvSpPr>
        <p:spPr bwMode="auto">
          <a:xfrm>
            <a:off x="3823412" y="2428183"/>
            <a:ext cx="16991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N</a:t>
            </a:r>
            <a:r>
              <a:rPr lang="en-US" altLang="zh-CN" sz="1050" b="1" baseline="-25000" dirty="0">
                <a:solidFill>
                  <a:srgbClr val="000000"/>
                </a:solidFill>
                <a:latin typeface="微软雅黑" panose="020B0503020204020204" pitchFamily="34" charset="-122"/>
                <a:ea typeface="微软雅黑" panose="020B0503020204020204" pitchFamily="34" charset="-122"/>
              </a:rPr>
              <a:t>2</a:t>
            </a:r>
            <a:endParaRPr lang="en-US" altLang="zh-CN" sz="1050" b="1" baseline="-25000" dirty="0">
              <a:latin typeface="微软雅黑" panose="020B0503020204020204" pitchFamily="34" charset="-122"/>
              <a:ea typeface="微软雅黑" panose="020B0503020204020204" pitchFamily="34" charset="-122"/>
            </a:endParaRPr>
          </a:p>
        </p:txBody>
      </p:sp>
      <p:sp>
        <p:nvSpPr>
          <p:cNvPr id="493" name="Rectangle 444"/>
          <p:cNvSpPr>
            <a:spLocks noChangeArrowheads="1"/>
          </p:cNvSpPr>
          <p:nvPr/>
        </p:nvSpPr>
        <p:spPr bwMode="auto">
          <a:xfrm>
            <a:off x="4848006" y="3345394"/>
            <a:ext cx="72135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b="1" u="sng" dirty="0">
                <a:solidFill>
                  <a:srgbClr val="000000"/>
                </a:solidFill>
                <a:latin typeface="微软雅黑" panose="020B0503020204020204" pitchFamily="34" charset="-122"/>
                <a:ea typeface="微软雅黑" panose="020B0503020204020204" pitchFamily="34" charset="-122"/>
              </a:rPr>
              <a:t>1.1.1.28/31</a:t>
            </a:r>
            <a:endParaRPr lang="en-US" altLang="zh-CN" sz="1000" b="1" u="sng" dirty="0">
              <a:latin typeface="微软雅黑" panose="020B0503020204020204" pitchFamily="34" charset="-122"/>
              <a:ea typeface="微软雅黑" panose="020B0503020204020204" pitchFamily="34" charset="-122"/>
            </a:endParaRPr>
          </a:p>
        </p:txBody>
      </p:sp>
      <p:sp>
        <p:nvSpPr>
          <p:cNvPr id="494" name="Rectangle 445"/>
          <p:cNvSpPr>
            <a:spLocks noChangeArrowheads="1"/>
          </p:cNvSpPr>
          <p:nvPr/>
        </p:nvSpPr>
        <p:spPr bwMode="auto">
          <a:xfrm>
            <a:off x="4834787" y="2501206"/>
            <a:ext cx="43605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5" name="Rectangle 446"/>
          <p:cNvSpPr>
            <a:spLocks noChangeArrowheads="1"/>
          </p:cNvSpPr>
          <p:nvPr/>
        </p:nvSpPr>
        <p:spPr bwMode="auto">
          <a:xfrm>
            <a:off x="3993712" y="2436809"/>
            <a:ext cx="72135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b="1" u="sng" dirty="0">
                <a:solidFill>
                  <a:srgbClr val="000000"/>
                </a:solidFill>
                <a:latin typeface="微软雅黑" panose="020B0503020204020204" pitchFamily="34" charset="-122"/>
                <a:ea typeface="微软雅黑" panose="020B0503020204020204" pitchFamily="34" charset="-122"/>
              </a:rPr>
              <a:t>1.1.1.26/31</a:t>
            </a:r>
            <a:endParaRPr lang="en-US" altLang="zh-CN" sz="1000" b="1" u="sng" dirty="0">
              <a:latin typeface="微软雅黑" panose="020B0503020204020204" pitchFamily="34" charset="-122"/>
              <a:ea typeface="微软雅黑" panose="020B0503020204020204" pitchFamily="34" charset="-122"/>
            </a:endParaRPr>
          </a:p>
        </p:txBody>
      </p:sp>
      <p:sp>
        <p:nvSpPr>
          <p:cNvPr id="496" name="Rectangle 448"/>
          <p:cNvSpPr>
            <a:spLocks noChangeArrowheads="1"/>
          </p:cNvSpPr>
          <p:nvPr/>
        </p:nvSpPr>
        <p:spPr bwMode="auto">
          <a:xfrm>
            <a:off x="5685974" y="2479744"/>
            <a:ext cx="72135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b="1" u="sng" dirty="0">
                <a:solidFill>
                  <a:srgbClr val="000000"/>
                </a:solidFill>
                <a:latin typeface="微软雅黑" panose="020B0503020204020204" pitchFamily="34" charset="-122"/>
                <a:ea typeface="微软雅黑" panose="020B0503020204020204" pitchFamily="34" charset="-122"/>
              </a:rPr>
              <a:t>1.1.1.24/31</a:t>
            </a:r>
            <a:endParaRPr lang="en-US" altLang="zh-CN" sz="1000" b="1" u="sng" dirty="0">
              <a:latin typeface="微软雅黑" panose="020B0503020204020204" pitchFamily="34" charset="-122"/>
              <a:ea typeface="微软雅黑" panose="020B0503020204020204" pitchFamily="34" charset="-122"/>
            </a:endParaRPr>
          </a:p>
        </p:txBody>
      </p:sp>
      <p:sp>
        <p:nvSpPr>
          <p:cNvPr id="497" name="Rectangle 435"/>
          <p:cNvSpPr>
            <a:spLocks noChangeArrowheads="1"/>
          </p:cNvSpPr>
          <p:nvPr/>
        </p:nvSpPr>
        <p:spPr bwMode="auto">
          <a:xfrm>
            <a:off x="4669080" y="3337488"/>
            <a:ext cx="16991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N</a:t>
            </a:r>
            <a:r>
              <a:rPr lang="en-US" altLang="zh-CN" sz="1050" b="1" baseline="-25000" dirty="0">
                <a:solidFill>
                  <a:srgbClr val="000000"/>
                </a:solidFill>
                <a:latin typeface="微软雅黑" panose="020B0503020204020204" pitchFamily="34" charset="-122"/>
                <a:ea typeface="微软雅黑" panose="020B0503020204020204" pitchFamily="34" charset="-122"/>
              </a:rPr>
              <a:t>3</a:t>
            </a:r>
            <a:endParaRPr lang="en-US" altLang="zh-CN" sz="1050" b="1" baseline="-25000" dirty="0">
              <a:latin typeface="微软雅黑" panose="020B0503020204020204" pitchFamily="34" charset="-122"/>
              <a:ea typeface="微软雅黑" panose="020B0503020204020204" pitchFamily="34" charset="-122"/>
            </a:endParaRPr>
          </a:p>
        </p:txBody>
      </p:sp>
      <p:sp>
        <p:nvSpPr>
          <p:cNvPr id="498" name="Line 460"/>
          <p:cNvSpPr>
            <a:spLocks noChangeShapeType="1"/>
          </p:cNvSpPr>
          <p:nvPr/>
        </p:nvSpPr>
        <p:spPr bwMode="auto">
          <a:xfrm>
            <a:off x="5843630" y="3062580"/>
            <a:ext cx="67071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9" name="Oval 29"/>
          <p:cNvSpPr>
            <a:spLocks noChangeArrowheads="1"/>
          </p:cNvSpPr>
          <p:nvPr/>
        </p:nvSpPr>
        <p:spPr bwMode="auto">
          <a:xfrm>
            <a:off x="5969274" y="3034342"/>
            <a:ext cx="58203" cy="60994"/>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0" name="Rectangle 341"/>
          <p:cNvSpPr>
            <a:spLocks noChangeArrowheads="1"/>
          </p:cNvSpPr>
          <p:nvPr/>
        </p:nvSpPr>
        <p:spPr bwMode="auto">
          <a:xfrm>
            <a:off x="6650808" y="1896077"/>
            <a:ext cx="468706" cy="1627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LAN</a:t>
            </a:r>
            <a:r>
              <a:rPr lang="en-US" altLang="zh-CN" sz="1050" b="1" baseline="-25000" dirty="0">
                <a:solidFill>
                  <a:srgbClr val="000000"/>
                </a:solidFill>
                <a:latin typeface="微软雅黑" panose="020B0503020204020204" pitchFamily="34" charset="-122"/>
                <a:ea typeface="微软雅黑" panose="020B0503020204020204" pitchFamily="34" charset="-122"/>
              </a:rPr>
              <a:t>2</a:t>
            </a:r>
            <a:endParaRPr lang="en-US" altLang="zh-CN" sz="1050" b="1" baseline="-25000" dirty="0">
              <a:latin typeface="微软雅黑" panose="020B0503020204020204" pitchFamily="34" charset="-122"/>
              <a:ea typeface="微软雅黑" panose="020B0503020204020204" pitchFamily="34" charset="-122"/>
            </a:endParaRPr>
          </a:p>
        </p:txBody>
      </p:sp>
      <p:sp>
        <p:nvSpPr>
          <p:cNvPr id="501" name="Rectangle 323"/>
          <p:cNvSpPr>
            <a:spLocks noChangeArrowheads="1"/>
          </p:cNvSpPr>
          <p:nvPr/>
        </p:nvSpPr>
        <p:spPr bwMode="auto">
          <a:xfrm>
            <a:off x="3856420" y="1157681"/>
            <a:ext cx="344646"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LAN</a:t>
            </a:r>
            <a:r>
              <a:rPr lang="en-US" altLang="zh-CN" sz="1050" b="1" baseline="-25000" dirty="0">
                <a:solidFill>
                  <a:srgbClr val="000000"/>
                </a:solidFill>
                <a:latin typeface="微软雅黑" panose="020B0503020204020204" pitchFamily="34" charset="-122"/>
                <a:ea typeface="微软雅黑" panose="020B0503020204020204" pitchFamily="34" charset="-122"/>
              </a:rPr>
              <a:t>1</a:t>
            </a:r>
            <a:endParaRPr lang="en-US" altLang="zh-CN" sz="1050" b="1" baseline="-25000" dirty="0">
              <a:latin typeface="微软雅黑" panose="020B0503020204020204" pitchFamily="34" charset="-122"/>
              <a:ea typeface="微软雅黑" panose="020B0503020204020204" pitchFamily="34" charset="-122"/>
            </a:endParaRPr>
          </a:p>
        </p:txBody>
      </p:sp>
      <p:sp>
        <p:nvSpPr>
          <p:cNvPr id="502" name="Line 471"/>
          <p:cNvSpPr>
            <a:spLocks noChangeShapeType="1"/>
          </p:cNvSpPr>
          <p:nvPr/>
        </p:nvSpPr>
        <p:spPr bwMode="auto">
          <a:xfrm>
            <a:off x="4586271" y="1474466"/>
            <a:ext cx="419428" cy="3072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3" name="Oval 316"/>
          <p:cNvSpPr>
            <a:spLocks noChangeArrowheads="1"/>
          </p:cNvSpPr>
          <p:nvPr/>
        </p:nvSpPr>
        <p:spPr bwMode="auto">
          <a:xfrm>
            <a:off x="4700829" y="1551273"/>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1" name="Group 201"/>
          <p:cNvGrpSpPr>
            <a:grpSpLocks/>
          </p:cNvGrpSpPr>
          <p:nvPr/>
        </p:nvGrpSpPr>
        <p:grpSpPr bwMode="auto">
          <a:xfrm>
            <a:off x="4419054" y="1270022"/>
            <a:ext cx="244820" cy="264309"/>
            <a:chOff x="1813" y="593"/>
            <a:chExt cx="343" cy="352"/>
          </a:xfrm>
        </p:grpSpPr>
        <p:grpSp>
          <p:nvGrpSpPr>
            <p:cNvPr id="192" name="Group 202"/>
            <p:cNvGrpSpPr>
              <a:grpSpLocks/>
            </p:cNvGrpSpPr>
            <p:nvPr/>
          </p:nvGrpSpPr>
          <p:grpSpPr bwMode="auto">
            <a:xfrm>
              <a:off x="1821" y="599"/>
              <a:ext cx="335" cy="346"/>
              <a:chOff x="1821" y="599"/>
              <a:chExt cx="335" cy="346"/>
            </a:xfrm>
          </p:grpSpPr>
          <p:sp>
            <p:nvSpPr>
              <p:cNvPr id="519" name="Freeform 203"/>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0" name="Freeform 204"/>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1" name="Freeform 205"/>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2" name="Freeform 206"/>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3" name="Rectangle 207"/>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4" name="Rectangle 208"/>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5" name="Rectangle 209"/>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6" name="Line 210"/>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3" name="Group 211"/>
              <p:cNvGrpSpPr>
                <a:grpSpLocks/>
              </p:cNvGrpSpPr>
              <p:nvPr/>
            </p:nvGrpSpPr>
            <p:grpSpPr bwMode="auto">
              <a:xfrm>
                <a:off x="1821" y="895"/>
                <a:ext cx="335" cy="50"/>
                <a:chOff x="1821" y="895"/>
                <a:chExt cx="335" cy="50"/>
              </a:xfrm>
            </p:grpSpPr>
            <p:sp>
              <p:nvSpPr>
                <p:cNvPr id="528" name="Freeform 212"/>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9" name="Freeform 213"/>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0" name="Rectangle 214"/>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4" name="Group 215"/>
            <p:cNvGrpSpPr>
              <a:grpSpLocks/>
            </p:cNvGrpSpPr>
            <p:nvPr/>
          </p:nvGrpSpPr>
          <p:grpSpPr bwMode="auto">
            <a:xfrm>
              <a:off x="1813" y="593"/>
              <a:ext cx="335" cy="346"/>
              <a:chOff x="1813" y="593"/>
              <a:chExt cx="335" cy="346"/>
            </a:xfrm>
          </p:grpSpPr>
          <p:sp>
            <p:nvSpPr>
              <p:cNvPr id="507" name="Freeform 216"/>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8" name="Freeform 217"/>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9" name="Freeform 218"/>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0" name="Freeform 219"/>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1" name="Rectangle 220"/>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2" name="Rectangle 221"/>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3" name="Rectangle 222"/>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4" name="Line 223"/>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5" name="Group 224"/>
              <p:cNvGrpSpPr>
                <a:grpSpLocks/>
              </p:cNvGrpSpPr>
              <p:nvPr/>
            </p:nvGrpSpPr>
            <p:grpSpPr bwMode="auto">
              <a:xfrm>
                <a:off x="1813" y="888"/>
                <a:ext cx="335" cy="51"/>
                <a:chOff x="1813" y="888"/>
                <a:chExt cx="335" cy="51"/>
              </a:xfrm>
            </p:grpSpPr>
            <p:sp>
              <p:nvSpPr>
                <p:cNvPr id="516" name="Freeform 225"/>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7" name="Freeform 226"/>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8" name="Rectangle 227"/>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531" name="Line 472"/>
          <p:cNvSpPr>
            <a:spLocks noChangeShapeType="1"/>
          </p:cNvSpPr>
          <p:nvPr/>
        </p:nvSpPr>
        <p:spPr bwMode="auto">
          <a:xfrm flipH="1">
            <a:off x="5256986" y="1597584"/>
            <a:ext cx="500727" cy="18411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2" name="Line 473"/>
          <p:cNvSpPr>
            <a:spLocks noChangeShapeType="1"/>
          </p:cNvSpPr>
          <p:nvPr/>
        </p:nvSpPr>
        <p:spPr bwMode="auto">
          <a:xfrm>
            <a:off x="5131343" y="1413471"/>
            <a:ext cx="0" cy="39985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3" name="Oval 317"/>
          <p:cNvSpPr>
            <a:spLocks noChangeArrowheads="1"/>
          </p:cNvSpPr>
          <p:nvPr/>
        </p:nvSpPr>
        <p:spPr bwMode="auto">
          <a:xfrm>
            <a:off x="5547075" y="1647284"/>
            <a:ext cx="44345"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96" name="Group 230"/>
          <p:cNvGrpSpPr>
            <a:grpSpLocks/>
          </p:cNvGrpSpPr>
          <p:nvPr/>
        </p:nvGrpSpPr>
        <p:grpSpPr bwMode="auto">
          <a:xfrm>
            <a:off x="5005699" y="1189825"/>
            <a:ext cx="244820" cy="264309"/>
            <a:chOff x="2868" y="593"/>
            <a:chExt cx="343" cy="352"/>
          </a:xfrm>
        </p:grpSpPr>
        <p:grpSp>
          <p:nvGrpSpPr>
            <p:cNvPr id="197" name="Group 231"/>
            <p:cNvGrpSpPr>
              <a:grpSpLocks/>
            </p:cNvGrpSpPr>
            <p:nvPr/>
          </p:nvGrpSpPr>
          <p:grpSpPr bwMode="auto">
            <a:xfrm>
              <a:off x="2877" y="599"/>
              <a:ext cx="334" cy="346"/>
              <a:chOff x="2877" y="599"/>
              <a:chExt cx="334" cy="346"/>
            </a:xfrm>
          </p:grpSpPr>
          <p:sp>
            <p:nvSpPr>
              <p:cNvPr id="549" name="Freeform 232"/>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0" name="Freeform 233"/>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1" name="Freeform 234"/>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2" name="Freeform 235"/>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3" name="Rectangle 236"/>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4" name="Rectangle 237"/>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5" name="Rectangle 238"/>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6" name="Line 239"/>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8" name="Group 240"/>
              <p:cNvGrpSpPr>
                <a:grpSpLocks/>
              </p:cNvGrpSpPr>
              <p:nvPr/>
            </p:nvGrpSpPr>
            <p:grpSpPr bwMode="auto">
              <a:xfrm>
                <a:off x="2877" y="895"/>
                <a:ext cx="334" cy="50"/>
                <a:chOff x="2877" y="895"/>
                <a:chExt cx="334" cy="50"/>
              </a:xfrm>
            </p:grpSpPr>
            <p:sp>
              <p:nvSpPr>
                <p:cNvPr id="558" name="Freeform 241"/>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9" name="Freeform 242"/>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0" name="Rectangle 243"/>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9" name="Group 244"/>
            <p:cNvGrpSpPr>
              <a:grpSpLocks/>
            </p:cNvGrpSpPr>
            <p:nvPr/>
          </p:nvGrpSpPr>
          <p:grpSpPr bwMode="auto">
            <a:xfrm>
              <a:off x="2868" y="593"/>
              <a:ext cx="335" cy="346"/>
              <a:chOff x="2868" y="593"/>
              <a:chExt cx="335" cy="346"/>
            </a:xfrm>
          </p:grpSpPr>
          <p:sp>
            <p:nvSpPr>
              <p:cNvPr id="537" name="Freeform 245"/>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8" name="Freeform 246"/>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9" name="Freeform 247"/>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0" name="Freeform 248"/>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1" name="Rectangle 249"/>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2" name="Rectangle 250"/>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3" name="Rectangle 251"/>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4" name="Line 252"/>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00" name="Group 253"/>
              <p:cNvGrpSpPr>
                <a:grpSpLocks/>
              </p:cNvGrpSpPr>
              <p:nvPr/>
            </p:nvGrpSpPr>
            <p:grpSpPr bwMode="auto">
              <a:xfrm>
                <a:off x="2868" y="888"/>
                <a:ext cx="335" cy="51"/>
                <a:chOff x="2868" y="888"/>
                <a:chExt cx="335" cy="51"/>
              </a:xfrm>
            </p:grpSpPr>
            <p:sp>
              <p:nvSpPr>
                <p:cNvPr id="546" name="Freeform 254"/>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7" name="Freeform 255"/>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8" name="Rectangle 256"/>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561" name="Oval 318"/>
          <p:cNvSpPr>
            <a:spLocks noChangeArrowheads="1"/>
          </p:cNvSpPr>
          <p:nvPr/>
        </p:nvSpPr>
        <p:spPr bwMode="auto">
          <a:xfrm>
            <a:off x="5110094" y="1546755"/>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01" name="Group 257"/>
          <p:cNvGrpSpPr>
            <a:grpSpLocks/>
          </p:cNvGrpSpPr>
          <p:nvPr/>
        </p:nvGrpSpPr>
        <p:grpSpPr bwMode="auto">
          <a:xfrm>
            <a:off x="5667175" y="1401047"/>
            <a:ext cx="244820" cy="264309"/>
            <a:chOff x="3915" y="593"/>
            <a:chExt cx="343" cy="352"/>
          </a:xfrm>
        </p:grpSpPr>
        <p:grpSp>
          <p:nvGrpSpPr>
            <p:cNvPr id="202" name="Group 258"/>
            <p:cNvGrpSpPr>
              <a:grpSpLocks/>
            </p:cNvGrpSpPr>
            <p:nvPr/>
          </p:nvGrpSpPr>
          <p:grpSpPr bwMode="auto">
            <a:xfrm>
              <a:off x="3924" y="599"/>
              <a:ext cx="334" cy="346"/>
              <a:chOff x="3924" y="599"/>
              <a:chExt cx="334" cy="346"/>
            </a:xfrm>
          </p:grpSpPr>
          <p:sp>
            <p:nvSpPr>
              <p:cNvPr id="577" name="Freeform 259"/>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8" name="Freeform 260"/>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9" name="Freeform 261"/>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0" name="Freeform 262"/>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1" name="Rectangle 263"/>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2" name="Rectangle 264"/>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3" name="Rectangle 265"/>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4" name="Line 266"/>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03" name="Group 267"/>
              <p:cNvGrpSpPr>
                <a:grpSpLocks/>
              </p:cNvGrpSpPr>
              <p:nvPr/>
            </p:nvGrpSpPr>
            <p:grpSpPr bwMode="auto">
              <a:xfrm>
                <a:off x="3924" y="895"/>
                <a:ext cx="334" cy="50"/>
                <a:chOff x="3924" y="895"/>
                <a:chExt cx="334" cy="50"/>
              </a:xfrm>
            </p:grpSpPr>
            <p:sp>
              <p:nvSpPr>
                <p:cNvPr id="586" name="Freeform 268"/>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7" name="Freeform 269"/>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8" name="Rectangle 270"/>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04" name="Group 271"/>
            <p:cNvGrpSpPr>
              <a:grpSpLocks/>
            </p:cNvGrpSpPr>
            <p:nvPr/>
          </p:nvGrpSpPr>
          <p:grpSpPr bwMode="auto">
            <a:xfrm>
              <a:off x="3915" y="593"/>
              <a:ext cx="335" cy="346"/>
              <a:chOff x="3915" y="593"/>
              <a:chExt cx="335" cy="346"/>
            </a:xfrm>
          </p:grpSpPr>
          <p:sp>
            <p:nvSpPr>
              <p:cNvPr id="565" name="Freeform 272"/>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6" name="Freeform 273"/>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7" name="Freeform 274"/>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8" name="Freeform 275"/>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9" name="Rectangle 276"/>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0" name="Rectangle 277"/>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1" name="Rectangle 278"/>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2" name="Line 279"/>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05" name="Group 280"/>
              <p:cNvGrpSpPr>
                <a:grpSpLocks/>
              </p:cNvGrpSpPr>
              <p:nvPr/>
            </p:nvGrpSpPr>
            <p:grpSpPr bwMode="auto">
              <a:xfrm>
                <a:off x="3915" y="888"/>
                <a:ext cx="335" cy="51"/>
                <a:chOff x="3915" y="888"/>
                <a:chExt cx="335" cy="51"/>
              </a:xfrm>
            </p:grpSpPr>
            <p:sp>
              <p:nvSpPr>
                <p:cNvPr id="574" name="Freeform 281"/>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5" name="Freeform 282"/>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6" name="Rectangle 283"/>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206" name="Group 370"/>
          <p:cNvGrpSpPr>
            <a:grpSpLocks/>
          </p:cNvGrpSpPr>
          <p:nvPr/>
        </p:nvGrpSpPr>
        <p:grpSpPr bwMode="auto">
          <a:xfrm>
            <a:off x="5578486" y="2981254"/>
            <a:ext cx="314109" cy="197668"/>
            <a:chOff x="3488" y="2569"/>
            <a:chExt cx="439" cy="262"/>
          </a:xfrm>
        </p:grpSpPr>
        <p:sp>
          <p:nvSpPr>
            <p:cNvPr id="590" name="Oval 371"/>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1" name="Rectangle 372"/>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2" name="Rectangle 373"/>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3" name="Oval 374"/>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07" name="Group 375"/>
            <p:cNvGrpSpPr>
              <a:grpSpLocks/>
            </p:cNvGrpSpPr>
            <p:nvPr/>
          </p:nvGrpSpPr>
          <p:grpSpPr bwMode="auto">
            <a:xfrm>
              <a:off x="3555" y="2587"/>
              <a:ext cx="304" cy="117"/>
              <a:chOff x="3555" y="2587"/>
              <a:chExt cx="304" cy="117"/>
            </a:xfrm>
          </p:grpSpPr>
          <p:grpSp>
            <p:nvGrpSpPr>
              <p:cNvPr id="208" name="Group 376"/>
              <p:cNvGrpSpPr>
                <a:grpSpLocks/>
              </p:cNvGrpSpPr>
              <p:nvPr/>
            </p:nvGrpSpPr>
            <p:grpSpPr bwMode="auto">
              <a:xfrm>
                <a:off x="3555" y="2587"/>
                <a:ext cx="301" cy="115"/>
                <a:chOff x="3555" y="2587"/>
                <a:chExt cx="301" cy="115"/>
              </a:xfrm>
            </p:grpSpPr>
            <p:sp>
              <p:nvSpPr>
                <p:cNvPr id="607" name="Freeform 377"/>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8" name="Freeform 378"/>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9" name="Freeform 379"/>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0" name="Freeform 380"/>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1" name="Freeform 381"/>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2" name="Freeform 382"/>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3" name="Freeform 383"/>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4" name="Freeform 384"/>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9" name="Group 385"/>
              <p:cNvGrpSpPr>
                <a:grpSpLocks/>
              </p:cNvGrpSpPr>
              <p:nvPr/>
            </p:nvGrpSpPr>
            <p:grpSpPr bwMode="auto">
              <a:xfrm>
                <a:off x="3557" y="2590"/>
                <a:ext cx="302" cy="114"/>
                <a:chOff x="3557" y="2590"/>
                <a:chExt cx="302" cy="114"/>
              </a:xfrm>
            </p:grpSpPr>
            <p:sp>
              <p:nvSpPr>
                <p:cNvPr id="599" name="Freeform 386"/>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0" name="Freeform 387"/>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1" name="Freeform 388"/>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2" name="Freeform 389"/>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3" name="Freeform 390"/>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4" name="Freeform 391"/>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5" name="Freeform 392"/>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6" name="Freeform 393"/>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595" name="Line 394"/>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96" name="Line 395"/>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615" name="Line 474"/>
          <p:cNvSpPr>
            <a:spLocks noChangeShapeType="1"/>
          </p:cNvSpPr>
          <p:nvPr/>
        </p:nvSpPr>
        <p:spPr bwMode="auto">
          <a:xfrm>
            <a:off x="3656878" y="2957865"/>
            <a:ext cx="631914" cy="13747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0" name="Group 344"/>
          <p:cNvGrpSpPr>
            <a:grpSpLocks/>
          </p:cNvGrpSpPr>
          <p:nvPr/>
        </p:nvGrpSpPr>
        <p:grpSpPr bwMode="auto">
          <a:xfrm>
            <a:off x="4171462" y="2981254"/>
            <a:ext cx="314109" cy="197668"/>
            <a:chOff x="1304" y="2569"/>
            <a:chExt cx="439" cy="262"/>
          </a:xfrm>
        </p:grpSpPr>
        <p:sp>
          <p:nvSpPr>
            <p:cNvPr id="617" name="Oval 345"/>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8" name="Rectangle 346"/>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9" name="Rectangle 347"/>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0" name="Oval 348"/>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11" name="Group 349"/>
            <p:cNvGrpSpPr>
              <a:grpSpLocks/>
            </p:cNvGrpSpPr>
            <p:nvPr/>
          </p:nvGrpSpPr>
          <p:grpSpPr bwMode="auto">
            <a:xfrm>
              <a:off x="1371" y="2587"/>
              <a:ext cx="304" cy="117"/>
              <a:chOff x="1371" y="2587"/>
              <a:chExt cx="304" cy="117"/>
            </a:xfrm>
          </p:grpSpPr>
          <p:grpSp>
            <p:nvGrpSpPr>
              <p:cNvPr id="212" name="Group 350"/>
              <p:cNvGrpSpPr>
                <a:grpSpLocks/>
              </p:cNvGrpSpPr>
              <p:nvPr/>
            </p:nvGrpSpPr>
            <p:grpSpPr bwMode="auto">
              <a:xfrm>
                <a:off x="1371" y="2587"/>
                <a:ext cx="301" cy="115"/>
                <a:chOff x="1371" y="2587"/>
                <a:chExt cx="301" cy="115"/>
              </a:xfrm>
            </p:grpSpPr>
            <p:sp>
              <p:nvSpPr>
                <p:cNvPr id="634" name="Freeform 351"/>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5" name="Freeform 352"/>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6" name="Freeform 353"/>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7" name="Freeform 354"/>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8" name="Freeform 355"/>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9" name="Freeform 356"/>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0" name="Freeform 357"/>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1" name="Freeform 358"/>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3" name="Group 359"/>
              <p:cNvGrpSpPr>
                <a:grpSpLocks/>
              </p:cNvGrpSpPr>
              <p:nvPr/>
            </p:nvGrpSpPr>
            <p:grpSpPr bwMode="auto">
              <a:xfrm>
                <a:off x="1373" y="2590"/>
                <a:ext cx="302" cy="114"/>
                <a:chOff x="1373" y="2590"/>
                <a:chExt cx="302" cy="114"/>
              </a:xfrm>
            </p:grpSpPr>
            <p:sp>
              <p:nvSpPr>
                <p:cNvPr id="626" name="Freeform 360"/>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7" name="Freeform 361"/>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8" name="Freeform 362"/>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9" name="Freeform 363"/>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0" name="Freeform 364"/>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1" name="Freeform 365"/>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2" name="Freeform 366"/>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3" name="Freeform 367"/>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622" name="Line 368"/>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3" name="Line 369"/>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642" name="Oval 422"/>
          <p:cNvSpPr>
            <a:spLocks noChangeArrowheads="1"/>
          </p:cNvSpPr>
          <p:nvPr/>
        </p:nvSpPr>
        <p:spPr bwMode="auto">
          <a:xfrm>
            <a:off x="4028268" y="3023463"/>
            <a:ext cx="44345"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4" name="Rectangle 468"/>
          <p:cNvSpPr>
            <a:spLocks noChangeArrowheads="1"/>
          </p:cNvSpPr>
          <p:nvPr/>
        </p:nvSpPr>
        <p:spPr bwMode="auto">
          <a:xfrm>
            <a:off x="6939979" y="1353899"/>
            <a:ext cx="538609"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050" b="1" dirty="0">
                <a:solidFill>
                  <a:srgbClr val="000000"/>
                </a:solidFill>
                <a:latin typeface="微软雅黑" panose="020B0503020204020204" pitchFamily="34" charset="-122"/>
                <a:ea typeface="微软雅黑" panose="020B0503020204020204" pitchFamily="34" charset="-122"/>
              </a:rPr>
              <a:t>网络地址</a:t>
            </a:r>
            <a:endParaRPr lang="zh-CN" altLang="en-US" sz="1050" b="1" dirty="0">
              <a:latin typeface="微软雅黑" panose="020B0503020204020204" pitchFamily="34" charset="-122"/>
              <a:ea typeface="微软雅黑" panose="020B0503020204020204" pitchFamily="34" charset="-122"/>
            </a:endParaRPr>
          </a:p>
        </p:txBody>
      </p:sp>
      <p:sp>
        <p:nvSpPr>
          <p:cNvPr id="645" name="Rectangle 468"/>
          <p:cNvSpPr>
            <a:spLocks noChangeArrowheads="1"/>
          </p:cNvSpPr>
          <p:nvPr/>
        </p:nvSpPr>
        <p:spPr bwMode="auto">
          <a:xfrm>
            <a:off x="7485071" y="1571605"/>
            <a:ext cx="402354"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050" b="1">
                <a:solidFill>
                  <a:srgbClr val="000000"/>
                </a:solidFill>
                <a:latin typeface="微软雅黑" panose="020B0503020204020204" pitchFamily="34" charset="-122"/>
                <a:ea typeface="微软雅黑" panose="020B0503020204020204" pitchFamily="34" charset="-122"/>
              </a:rPr>
              <a:t>IP</a:t>
            </a:r>
            <a:r>
              <a:rPr lang="zh-CN" altLang="en-US" sz="1050" b="1">
                <a:solidFill>
                  <a:srgbClr val="000000"/>
                </a:solidFill>
                <a:latin typeface="微软雅黑" panose="020B0503020204020204" pitchFamily="34" charset="-122"/>
                <a:ea typeface="微软雅黑" panose="020B0503020204020204" pitchFamily="34" charset="-122"/>
              </a:rPr>
              <a:t>地址</a:t>
            </a:r>
            <a:endParaRPr lang="zh-CN" altLang="en-US" sz="1050" b="1">
              <a:latin typeface="微软雅黑" panose="020B0503020204020204" pitchFamily="34" charset="-122"/>
              <a:ea typeface="微软雅黑" panose="020B0503020204020204" pitchFamily="34" charset="-122"/>
            </a:endParaRPr>
          </a:p>
        </p:txBody>
      </p:sp>
      <p:sp>
        <p:nvSpPr>
          <p:cNvPr id="646" name="Line 469"/>
          <p:cNvSpPr>
            <a:spLocks noChangeShapeType="1"/>
          </p:cNvSpPr>
          <p:nvPr/>
        </p:nvSpPr>
        <p:spPr bwMode="auto">
          <a:xfrm flipH="1">
            <a:off x="7012040" y="1558343"/>
            <a:ext cx="168141" cy="51280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7" name="Line 469"/>
          <p:cNvSpPr>
            <a:spLocks noChangeShapeType="1"/>
          </p:cNvSpPr>
          <p:nvPr/>
        </p:nvSpPr>
        <p:spPr bwMode="auto">
          <a:xfrm flipH="1">
            <a:off x="7605412" y="1757977"/>
            <a:ext cx="76679" cy="54782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0" name="Oval 316"/>
          <p:cNvSpPr>
            <a:spLocks noChangeArrowheads="1"/>
          </p:cNvSpPr>
          <p:nvPr/>
        </p:nvSpPr>
        <p:spPr bwMode="auto">
          <a:xfrm>
            <a:off x="3237400" y="2910820"/>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pic>
        <p:nvPicPr>
          <p:cNvPr id="651" name="Picture 58"/>
          <p:cNvPicPr>
            <a:picLocks noChangeArrowheads="1"/>
          </p:cNvPicPr>
          <p:nvPr/>
        </p:nvPicPr>
        <p:blipFill>
          <a:blip cstate="print">
            <a:extLst>
              <a:ext uri="{28A0092B-C50C-407E-A947-70E740481C1C}">
                <a14:useLocalDpi xmlns:a14="http://schemas.microsoft.com/office/drawing/2010/main" val="0"/>
              </a:ext>
            </a:extLst>
          </a:blip>
          <a:srcRect/>
          <a:stretch>
            <a:fillRect/>
          </a:stretch>
        </p:blipFill>
        <p:spPr bwMode="auto">
          <a:xfrm>
            <a:off x="7142563" y="2397289"/>
            <a:ext cx="338129" cy="1954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214" name="Group 30"/>
          <p:cNvGrpSpPr>
            <a:grpSpLocks/>
          </p:cNvGrpSpPr>
          <p:nvPr/>
        </p:nvGrpSpPr>
        <p:grpSpPr bwMode="auto">
          <a:xfrm>
            <a:off x="2944549" y="2679365"/>
            <a:ext cx="244820" cy="265439"/>
            <a:chOff x="101" y="2294"/>
            <a:chExt cx="343" cy="353"/>
          </a:xfrm>
        </p:grpSpPr>
        <p:grpSp>
          <p:nvGrpSpPr>
            <p:cNvPr id="216" name="Group 31"/>
            <p:cNvGrpSpPr>
              <a:grpSpLocks/>
            </p:cNvGrpSpPr>
            <p:nvPr/>
          </p:nvGrpSpPr>
          <p:grpSpPr bwMode="auto">
            <a:xfrm>
              <a:off x="109" y="2301"/>
              <a:ext cx="335" cy="346"/>
              <a:chOff x="109" y="2301"/>
              <a:chExt cx="335" cy="346"/>
            </a:xfrm>
          </p:grpSpPr>
          <p:sp>
            <p:nvSpPr>
              <p:cNvPr id="257" name="Freeform 32"/>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8" name="Freeform 33"/>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 name="Freeform 34"/>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 name="Freeform 35"/>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1" name="Rectangle 36"/>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2" name="Rectangle 37"/>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3" name="Rectangle 38"/>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4" name="Line 39"/>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7" name="Group 40"/>
              <p:cNvGrpSpPr>
                <a:grpSpLocks/>
              </p:cNvGrpSpPr>
              <p:nvPr/>
            </p:nvGrpSpPr>
            <p:grpSpPr bwMode="auto">
              <a:xfrm>
                <a:off x="109" y="2596"/>
                <a:ext cx="335" cy="51"/>
                <a:chOff x="109" y="2596"/>
                <a:chExt cx="335" cy="51"/>
              </a:xfrm>
            </p:grpSpPr>
            <p:sp>
              <p:nvSpPr>
                <p:cNvPr id="266" name="Freeform 41"/>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7" name="Freeform 42"/>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8" name="Rectangle 43"/>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18" name="Group 44"/>
            <p:cNvGrpSpPr>
              <a:grpSpLocks/>
            </p:cNvGrpSpPr>
            <p:nvPr/>
          </p:nvGrpSpPr>
          <p:grpSpPr bwMode="auto">
            <a:xfrm>
              <a:off x="101" y="2294"/>
              <a:ext cx="335" cy="347"/>
              <a:chOff x="101" y="2294"/>
              <a:chExt cx="335" cy="347"/>
            </a:xfrm>
          </p:grpSpPr>
          <p:sp>
            <p:nvSpPr>
              <p:cNvPr id="245" name="Freeform 45"/>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6" name="Freeform 46"/>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 name="Freeform 47"/>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 name="Freeform 48"/>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9" name="Rectangle 49"/>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0" name="Rectangle 50"/>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1" name="Rectangle 51"/>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2" name="Line 52"/>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9" name="Group 53"/>
              <p:cNvGrpSpPr>
                <a:grpSpLocks/>
              </p:cNvGrpSpPr>
              <p:nvPr/>
            </p:nvGrpSpPr>
            <p:grpSpPr bwMode="auto">
              <a:xfrm>
                <a:off x="101" y="2590"/>
                <a:ext cx="335" cy="51"/>
                <a:chOff x="101" y="2590"/>
                <a:chExt cx="335" cy="51"/>
              </a:xfrm>
            </p:grpSpPr>
            <p:sp>
              <p:nvSpPr>
                <p:cNvPr id="254" name="Freeform 54"/>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 name="Freeform 55"/>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6" name="Rectangle 56"/>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680" name="Text Box 438"/>
          <p:cNvSpPr txBox="1">
            <a:spLocks noChangeArrowheads="1"/>
          </p:cNvSpPr>
          <p:nvPr/>
        </p:nvSpPr>
        <p:spPr bwMode="auto">
          <a:xfrm>
            <a:off x="696234" y="1828010"/>
            <a:ext cx="1866218" cy="904863"/>
          </a:xfrm>
          <a:prstGeom prst="rect">
            <a:avLst/>
          </a:prstGeom>
          <a:solidFill>
            <a:srgbClr val="00FFFF"/>
          </a:solidFill>
          <a:ln w="9525">
            <a:solidFill>
              <a:schemeClr val="tx2"/>
            </a:solidFill>
            <a:miter lim="800000"/>
            <a:headEnd/>
            <a:tailEnd/>
          </a:ln>
          <a:effectLst/>
        </p:spPr>
        <p:txBody>
          <a:bodyPr wrap="square">
            <a:spAutoFit/>
          </a:bodyPr>
          <a:lstStyle/>
          <a:p>
            <a:pPr algn="ctr">
              <a:lnSpc>
                <a:spcPct val="110000"/>
              </a:lnSpc>
            </a:pPr>
            <a:r>
              <a:rPr lang="zh-CN" altLang="en-US" sz="1600" b="1" dirty="0">
                <a:latin typeface="微软雅黑" pitchFamily="34" charset="-122"/>
                <a:ea typeface="微软雅黑" pitchFamily="34" charset="-122"/>
              </a:rPr>
              <a:t>路由器的每一个接口都有一个</a:t>
            </a:r>
            <a:r>
              <a:rPr lang="zh-CN" altLang="en-US" sz="1600" b="1" dirty="0">
                <a:solidFill>
                  <a:srgbClr val="C00000"/>
                </a:solidFill>
                <a:latin typeface="微软雅黑" pitchFamily="34" charset="-122"/>
                <a:ea typeface="微软雅黑" pitchFamily="34" charset="-122"/>
              </a:rPr>
              <a:t>不同网络号</a:t>
            </a:r>
            <a:r>
              <a:rPr lang="zh-CN" altLang="en-US" sz="1600" b="1" dirty="0">
                <a:latin typeface="微软雅黑" pitchFamily="34" charset="-122"/>
                <a:ea typeface="微软雅黑" pitchFamily="34" charset="-122"/>
              </a:rPr>
              <a:t>的 </a:t>
            </a:r>
            <a:r>
              <a:rPr lang="en-US" altLang="zh-CN" sz="1600" b="1" dirty="0">
                <a:latin typeface="微软雅黑" pitchFamily="34" charset="-122"/>
                <a:ea typeface="微软雅黑" pitchFamily="34" charset="-122"/>
              </a:rPr>
              <a:t>IP </a:t>
            </a:r>
            <a:r>
              <a:rPr lang="zh-CN" altLang="en-US" sz="1600" b="1" dirty="0">
                <a:latin typeface="微软雅黑" pitchFamily="34" charset="-122"/>
                <a:ea typeface="微软雅黑" pitchFamily="34" charset="-122"/>
              </a:rPr>
              <a:t>地址。</a:t>
            </a:r>
          </a:p>
        </p:txBody>
      </p:sp>
      <p:sp>
        <p:nvSpPr>
          <p:cNvPr id="681" name="矩形 476"/>
          <p:cNvSpPr>
            <a:spLocks noChangeArrowheads="1"/>
          </p:cNvSpPr>
          <p:nvPr/>
        </p:nvSpPr>
        <p:spPr bwMode="auto">
          <a:xfrm>
            <a:off x="3480534" y="3636941"/>
            <a:ext cx="1298933" cy="503769"/>
          </a:xfrm>
          <a:prstGeom prst="rect">
            <a:avLst/>
          </a:prstGeom>
          <a:noFill/>
          <a:ln w="9525" cmpd="dbl"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2" name="Rectangle 27"/>
          <p:cNvSpPr>
            <a:spLocks noChangeArrowheads="1"/>
          </p:cNvSpPr>
          <p:nvPr/>
        </p:nvSpPr>
        <p:spPr bwMode="auto">
          <a:xfrm>
            <a:off x="3931352" y="3912547"/>
            <a:ext cx="807913"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a:solidFill>
                  <a:srgbClr val="000000"/>
                </a:solidFill>
                <a:latin typeface="微软雅黑" panose="020B0503020204020204" pitchFamily="34" charset="-122"/>
                <a:ea typeface="微软雅黑" panose="020B0503020204020204" pitchFamily="34" charset="-122"/>
              </a:rPr>
              <a:t>以太网交换机</a:t>
            </a:r>
            <a:endParaRPr lang="en-US" altLang="zh-CN" sz="1050" b="1">
              <a:latin typeface="微软雅黑" panose="020B0503020204020204" pitchFamily="34" charset="-122"/>
              <a:ea typeface="微软雅黑" panose="020B0503020204020204" pitchFamily="34" charset="-122"/>
            </a:endParaRPr>
          </a:p>
        </p:txBody>
      </p:sp>
      <p:grpSp>
        <p:nvGrpSpPr>
          <p:cNvPr id="221" name="Group 344"/>
          <p:cNvGrpSpPr>
            <a:grpSpLocks/>
          </p:cNvGrpSpPr>
          <p:nvPr/>
        </p:nvGrpSpPr>
        <p:grpSpPr bwMode="auto">
          <a:xfrm>
            <a:off x="3595071" y="3710360"/>
            <a:ext cx="242049" cy="128766"/>
            <a:chOff x="1304" y="2569"/>
            <a:chExt cx="439" cy="262"/>
          </a:xfrm>
        </p:grpSpPr>
        <p:sp>
          <p:nvSpPr>
            <p:cNvPr id="684" name="Oval 345"/>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5" name="Rectangle 346"/>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6" name="Rectangle 347"/>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7" name="Oval 348"/>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23" name="Group 349"/>
            <p:cNvGrpSpPr>
              <a:grpSpLocks/>
            </p:cNvGrpSpPr>
            <p:nvPr/>
          </p:nvGrpSpPr>
          <p:grpSpPr bwMode="auto">
            <a:xfrm>
              <a:off x="1371" y="2587"/>
              <a:ext cx="304" cy="117"/>
              <a:chOff x="1371" y="2587"/>
              <a:chExt cx="304" cy="117"/>
            </a:xfrm>
          </p:grpSpPr>
          <p:grpSp>
            <p:nvGrpSpPr>
              <p:cNvPr id="240" name="Group 350"/>
              <p:cNvGrpSpPr>
                <a:grpSpLocks/>
              </p:cNvGrpSpPr>
              <p:nvPr/>
            </p:nvGrpSpPr>
            <p:grpSpPr bwMode="auto">
              <a:xfrm>
                <a:off x="1371" y="2587"/>
                <a:ext cx="301" cy="115"/>
                <a:chOff x="1371" y="2587"/>
                <a:chExt cx="301" cy="115"/>
              </a:xfrm>
            </p:grpSpPr>
            <p:sp>
              <p:nvSpPr>
                <p:cNvPr id="701" name="Freeform 351"/>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2" name="Freeform 352"/>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3" name="Freeform 353"/>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4" name="Freeform 354"/>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5" name="Freeform 355"/>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6" name="Freeform 356"/>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7" name="Freeform 357"/>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8" name="Freeform 358"/>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 name="Group 359"/>
              <p:cNvGrpSpPr>
                <a:grpSpLocks/>
              </p:cNvGrpSpPr>
              <p:nvPr/>
            </p:nvGrpSpPr>
            <p:grpSpPr bwMode="auto">
              <a:xfrm>
                <a:off x="1373" y="2590"/>
                <a:ext cx="302" cy="114"/>
                <a:chOff x="1373" y="2590"/>
                <a:chExt cx="302" cy="114"/>
              </a:xfrm>
            </p:grpSpPr>
            <p:sp>
              <p:nvSpPr>
                <p:cNvPr id="693" name="Freeform 360"/>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4" name="Freeform 361"/>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5" name="Freeform 362"/>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6" name="Freeform 363"/>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7" name="Freeform 364"/>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8" name="Freeform 365"/>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9" name="Freeform 366"/>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0" name="Freeform 367"/>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689" name="Line 368"/>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0" name="Line 369"/>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710" name="Rectangle 27"/>
          <p:cNvSpPr>
            <a:spLocks noChangeArrowheads="1"/>
          </p:cNvSpPr>
          <p:nvPr/>
        </p:nvSpPr>
        <p:spPr bwMode="auto">
          <a:xfrm>
            <a:off x="3931352" y="3708101"/>
            <a:ext cx="40395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a:latin typeface="微软雅黑" panose="020B0503020204020204" pitchFamily="34" charset="-122"/>
                <a:ea typeface="微软雅黑" panose="020B0503020204020204" pitchFamily="34" charset="-122"/>
              </a:rPr>
              <a:t>路由器</a:t>
            </a:r>
            <a:endParaRPr lang="en-US" altLang="zh-CN" sz="1050" b="1">
              <a:latin typeface="微软雅黑" panose="020B0503020204020204" pitchFamily="34" charset="-122"/>
              <a:ea typeface="微软雅黑" panose="020B0503020204020204" pitchFamily="34" charset="-122"/>
            </a:endParaRPr>
          </a:p>
        </p:txBody>
      </p:sp>
      <p:pic>
        <p:nvPicPr>
          <p:cNvPr id="652"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933294" y="1711264"/>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53"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567363" y="3920189"/>
            <a:ext cx="292813" cy="161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54"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353617" y="2855922"/>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55"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473681" y="2984123"/>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56"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126747" y="2457355"/>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Tree>
    <p:extLst>
      <p:ext uri="{BB962C8B-B14F-4D97-AF65-F5344CB8AC3E}">
        <p14:creationId xmlns:p14="http://schemas.microsoft.com/office/powerpoint/2010/main" val="259548161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 name="圆角矩形 219"/>
          <p:cNvSpPr/>
          <p:nvPr/>
        </p:nvSpPr>
        <p:spPr>
          <a:xfrm>
            <a:off x="597048" y="99668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15"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2" name="矩形 221"/>
          <p:cNvSpPr/>
          <p:nvPr/>
        </p:nvSpPr>
        <p:spPr>
          <a:xfrm>
            <a:off x="616085" y="574698"/>
            <a:ext cx="954107" cy="400110"/>
          </a:xfrm>
          <a:prstGeom prst="rect">
            <a:avLst/>
          </a:prstGeom>
        </p:spPr>
        <p:txBody>
          <a:bodyPr wrap="none">
            <a:spAutoFit/>
          </a:bodyPr>
          <a:lstStyle/>
          <a:p>
            <a:r>
              <a:rPr lang="zh-CN" altLang="en-US" sz="2000" b="1" dirty="0">
                <a:latin typeface="微软雅黑" pitchFamily="34" charset="-122"/>
                <a:ea typeface="微软雅黑" pitchFamily="34" charset="-122"/>
              </a:rPr>
              <a:t>注意：</a:t>
            </a:r>
          </a:p>
        </p:txBody>
      </p:sp>
      <p:sp>
        <p:nvSpPr>
          <p:cNvPr id="224" name="椭圆 223"/>
          <p:cNvSpPr/>
          <p:nvPr/>
        </p:nvSpPr>
        <p:spPr bwMode="auto">
          <a:xfrm rot="19311755">
            <a:off x="5944139" y="2386474"/>
            <a:ext cx="2370599" cy="1274073"/>
          </a:xfrm>
          <a:prstGeom prst="ellipse">
            <a:avLst/>
          </a:prstGeom>
          <a:solidFill>
            <a:schemeClr val="bg1"/>
          </a:solidFill>
          <a:ln w="9525" cap="flat" cmpd="sng" algn="ctr">
            <a:solidFill>
              <a:schemeClr val="tx1"/>
            </a:solidFill>
            <a:prstDash val="dash"/>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225" name="Line 472"/>
          <p:cNvSpPr>
            <a:spLocks noChangeShapeType="1"/>
          </p:cNvSpPr>
          <p:nvPr/>
        </p:nvSpPr>
        <p:spPr bwMode="auto">
          <a:xfrm flipH="1">
            <a:off x="6724060" y="2550905"/>
            <a:ext cx="544147" cy="4608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 name="Line 472"/>
          <p:cNvSpPr>
            <a:spLocks noChangeShapeType="1"/>
          </p:cNvSpPr>
          <p:nvPr/>
        </p:nvSpPr>
        <p:spPr bwMode="auto">
          <a:xfrm flipH="1" flipV="1">
            <a:off x="7352277" y="2550905"/>
            <a:ext cx="363073" cy="26656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7" name="Line 472"/>
          <p:cNvSpPr>
            <a:spLocks noChangeShapeType="1"/>
          </p:cNvSpPr>
          <p:nvPr/>
        </p:nvSpPr>
        <p:spPr bwMode="auto">
          <a:xfrm flipH="1">
            <a:off x="7394775" y="2243674"/>
            <a:ext cx="374159" cy="25527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8" name="椭圆 227"/>
          <p:cNvSpPr/>
          <p:nvPr/>
        </p:nvSpPr>
        <p:spPr bwMode="auto">
          <a:xfrm rot="5400000">
            <a:off x="2635410" y="2144584"/>
            <a:ext cx="1278671" cy="1097332"/>
          </a:xfrm>
          <a:prstGeom prst="ellipse">
            <a:avLst/>
          </a:prstGeom>
          <a:solidFill>
            <a:schemeClr val="bg1"/>
          </a:solidFill>
          <a:ln w="9525" cap="flat" cmpd="sng" algn="ctr">
            <a:solidFill>
              <a:schemeClr val="tx1"/>
            </a:solidFill>
            <a:prstDash val="dash"/>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229" name="Line 471"/>
          <p:cNvSpPr>
            <a:spLocks noChangeShapeType="1"/>
          </p:cNvSpPr>
          <p:nvPr/>
        </p:nvSpPr>
        <p:spPr bwMode="auto">
          <a:xfrm>
            <a:off x="3094243" y="2878324"/>
            <a:ext cx="405529" cy="12265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0" name="Line 471"/>
          <p:cNvSpPr>
            <a:spLocks noChangeShapeType="1"/>
          </p:cNvSpPr>
          <p:nvPr/>
        </p:nvSpPr>
        <p:spPr bwMode="auto">
          <a:xfrm>
            <a:off x="3390756" y="2360852"/>
            <a:ext cx="182925" cy="56219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 name="椭圆 230"/>
          <p:cNvSpPr/>
          <p:nvPr/>
        </p:nvSpPr>
        <p:spPr bwMode="auto">
          <a:xfrm>
            <a:off x="4209341" y="1155939"/>
            <a:ext cx="1844004" cy="831332"/>
          </a:xfrm>
          <a:prstGeom prst="ellipse">
            <a:avLst/>
          </a:prstGeom>
          <a:solidFill>
            <a:schemeClr val="bg1"/>
          </a:solidFill>
          <a:ln w="9525" cap="flat" cmpd="sng" algn="ctr">
            <a:solidFill>
              <a:schemeClr val="tx1"/>
            </a:solidFill>
            <a:prstDash val="dash"/>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232" name="Line 467"/>
          <p:cNvSpPr>
            <a:spLocks noChangeShapeType="1"/>
          </p:cNvSpPr>
          <p:nvPr/>
        </p:nvSpPr>
        <p:spPr bwMode="auto">
          <a:xfrm>
            <a:off x="6724060" y="3114538"/>
            <a:ext cx="181998" cy="5410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 name="Line 466"/>
          <p:cNvSpPr>
            <a:spLocks noChangeShapeType="1"/>
          </p:cNvSpPr>
          <p:nvPr/>
        </p:nvSpPr>
        <p:spPr bwMode="auto">
          <a:xfrm flipH="1">
            <a:off x="6407179" y="3112279"/>
            <a:ext cx="183846" cy="54443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 name="Freeform 6"/>
          <p:cNvSpPr>
            <a:spLocks/>
          </p:cNvSpPr>
          <p:nvPr/>
        </p:nvSpPr>
        <p:spPr bwMode="auto">
          <a:xfrm>
            <a:off x="4650941" y="3047897"/>
            <a:ext cx="813911" cy="131025"/>
          </a:xfrm>
          <a:custGeom>
            <a:avLst/>
            <a:gdLst>
              <a:gd name="T0" fmla="*/ 2147483647 w 1138"/>
              <a:gd name="T1" fmla="*/ 2147483647 h 174"/>
              <a:gd name="T2" fmla="*/ 2147483647 w 1138"/>
              <a:gd name="T3" fmla="*/ 2147483647 h 174"/>
              <a:gd name="T4" fmla="*/ 2147483647 w 1138"/>
              <a:gd name="T5" fmla="*/ 2147483647 h 174"/>
              <a:gd name="T6" fmla="*/ 2147483647 w 1138"/>
              <a:gd name="T7" fmla="*/ 2147483647 h 174"/>
              <a:gd name="T8" fmla="*/ 2147483647 w 1138"/>
              <a:gd name="T9" fmla="*/ 0 h 174"/>
              <a:gd name="T10" fmla="*/ 2147483647 w 1138"/>
              <a:gd name="T11" fmla="*/ 0 h 174"/>
              <a:gd name="T12" fmla="*/ 2147483647 w 1138"/>
              <a:gd name="T13" fmla="*/ 0 h 174"/>
              <a:gd name="T14" fmla="*/ 2147483647 w 1138"/>
              <a:gd name="T15" fmla="*/ 0 h 174"/>
              <a:gd name="T16" fmla="*/ 2147483647 w 1138"/>
              <a:gd name="T17" fmla="*/ 2147483647 h 174"/>
              <a:gd name="T18" fmla="*/ 2147483647 w 1138"/>
              <a:gd name="T19" fmla="*/ 2147483647 h 174"/>
              <a:gd name="T20" fmla="*/ 2147483647 w 1138"/>
              <a:gd name="T21" fmla="*/ 2147483647 h 174"/>
              <a:gd name="T22" fmla="*/ 2147483647 w 1138"/>
              <a:gd name="T23" fmla="*/ 2147483647 h 174"/>
              <a:gd name="T24" fmla="*/ 2147483647 w 1138"/>
              <a:gd name="T25" fmla="*/ 2147483647 h 174"/>
              <a:gd name="T26" fmla="*/ 2147483647 w 1138"/>
              <a:gd name="T27" fmla="*/ 2147483647 h 174"/>
              <a:gd name="T28" fmla="*/ 2147483647 w 1138"/>
              <a:gd name="T29" fmla="*/ 2147483647 h 174"/>
              <a:gd name="T30" fmla="*/ 2147483647 w 1138"/>
              <a:gd name="T31" fmla="*/ 2147483647 h 174"/>
              <a:gd name="T32" fmla="*/ 2147483647 w 1138"/>
              <a:gd name="T33" fmla="*/ 2147483647 h 174"/>
              <a:gd name="T34" fmla="*/ 2147483647 w 1138"/>
              <a:gd name="T35" fmla="*/ 2147483647 h 174"/>
              <a:gd name="T36" fmla="*/ 2147483647 w 1138"/>
              <a:gd name="T37" fmla="*/ 2147483647 h 174"/>
              <a:gd name="T38" fmla="*/ 2147483647 w 1138"/>
              <a:gd name="T39" fmla="*/ 2147483647 h 174"/>
              <a:gd name="T40" fmla="*/ 2147483647 w 1138"/>
              <a:gd name="T41" fmla="*/ 2147483647 h 174"/>
              <a:gd name="T42" fmla="*/ 2147483647 w 1138"/>
              <a:gd name="T43" fmla="*/ 2147483647 h 174"/>
              <a:gd name="T44" fmla="*/ 2147483647 w 1138"/>
              <a:gd name="T45" fmla="*/ 2147483647 h 174"/>
              <a:gd name="T46" fmla="*/ 2147483647 w 1138"/>
              <a:gd name="T47" fmla="*/ 2147483647 h 174"/>
              <a:gd name="T48" fmla="*/ 2147483647 w 1138"/>
              <a:gd name="T49" fmla="*/ 2147483647 h 174"/>
              <a:gd name="T50" fmla="*/ 2147483647 w 1138"/>
              <a:gd name="T51" fmla="*/ 2147483647 h 174"/>
              <a:gd name="T52" fmla="*/ 2147483647 w 1138"/>
              <a:gd name="T53" fmla="*/ 2147483647 h 174"/>
              <a:gd name="T54" fmla="*/ 2147483647 w 1138"/>
              <a:gd name="T55" fmla="*/ 2147483647 h 174"/>
              <a:gd name="T56" fmla="*/ 2147483647 w 1138"/>
              <a:gd name="T57" fmla="*/ 2147483647 h 174"/>
              <a:gd name="T58" fmla="*/ 2147483647 w 1138"/>
              <a:gd name="T59" fmla="*/ 2147483647 h 174"/>
              <a:gd name="T60" fmla="*/ 2147483647 w 1138"/>
              <a:gd name="T61" fmla="*/ 2147483647 h 174"/>
              <a:gd name="T62" fmla="*/ 2147483647 w 1138"/>
              <a:gd name="T63" fmla="*/ 2147483647 h 174"/>
              <a:gd name="T64" fmla="*/ 2147483647 w 1138"/>
              <a:gd name="T65" fmla="*/ 2147483647 h 174"/>
              <a:gd name="T66" fmla="*/ 2147483647 w 1138"/>
              <a:gd name="T67" fmla="*/ 2147483647 h 174"/>
              <a:gd name="T68" fmla="*/ 2147483647 w 1138"/>
              <a:gd name="T69" fmla="*/ 2147483647 h 174"/>
              <a:gd name="T70" fmla="*/ 2147483647 w 1138"/>
              <a:gd name="T71" fmla="*/ 2147483647 h 174"/>
              <a:gd name="T72" fmla="*/ 2147483647 w 1138"/>
              <a:gd name="T73" fmla="*/ 2147483647 h 174"/>
              <a:gd name="T74" fmla="*/ 2147483647 w 1138"/>
              <a:gd name="T75" fmla="*/ 2147483647 h 174"/>
              <a:gd name="T76" fmla="*/ 2147483647 w 1138"/>
              <a:gd name="T77" fmla="*/ 2147483647 h 174"/>
              <a:gd name="T78" fmla="*/ 2147483647 w 1138"/>
              <a:gd name="T79" fmla="*/ 2147483647 h 174"/>
              <a:gd name="T80" fmla="*/ 2147483647 w 1138"/>
              <a:gd name="T81" fmla="*/ 2147483647 h 174"/>
              <a:gd name="T82" fmla="*/ 2147483647 w 1138"/>
              <a:gd name="T83" fmla="*/ 2147483647 h 174"/>
              <a:gd name="T84" fmla="*/ 2147483647 w 1138"/>
              <a:gd name="T85" fmla="*/ 2147483647 h 174"/>
              <a:gd name="T86" fmla="*/ 2147483647 w 1138"/>
              <a:gd name="T87" fmla="*/ 2147483647 h 174"/>
              <a:gd name="T88" fmla="*/ 2147483647 w 1138"/>
              <a:gd name="T89" fmla="*/ 2147483647 h 174"/>
              <a:gd name="T90" fmla="*/ 2147483647 w 1138"/>
              <a:gd name="T91" fmla="*/ 2147483647 h 174"/>
              <a:gd name="T92" fmla="*/ 2147483647 w 1138"/>
              <a:gd name="T93" fmla="*/ 2147483647 h 174"/>
              <a:gd name="T94" fmla="*/ 2147483647 w 1138"/>
              <a:gd name="T95" fmla="*/ 2147483647 h 174"/>
              <a:gd name="T96" fmla="*/ 2147483647 w 1138"/>
              <a:gd name="T97" fmla="*/ 2147483647 h 174"/>
              <a:gd name="T98" fmla="*/ 2147483647 w 1138"/>
              <a:gd name="T99" fmla="*/ 2147483647 h 174"/>
              <a:gd name="T100" fmla="*/ 2147483647 w 1138"/>
              <a:gd name="T101" fmla="*/ 2147483647 h 174"/>
              <a:gd name="T102" fmla="*/ 2147483647 w 1138"/>
              <a:gd name="T103" fmla="*/ 2147483647 h 174"/>
              <a:gd name="T104" fmla="*/ 2147483647 w 1138"/>
              <a:gd name="T105" fmla="*/ 2147483647 h 174"/>
              <a:gd name="T106" fmla="*/ 2147483647 w 1138"/>
              <a:gd name="T107" fmla="*/ 2147483647 h 174"/>
              <a:gd name="T108" fmla="*/ 2147483647 w 1138"/>
              <a:gd name="T109" fmla="*/ 2147483647 h 174"/>
              <a:gd name="T110" fmla="*/ 0 w 1138"/>
              <a:gd name="T111" fmla="*/ 2147483647 h 174"/>
              <a:gd name="T112" fmla="*/ 0 w 1138"/>
              <a:gd name="T113" fmla="*/ 2147483647 h 174"/>
              <a:gd name="T114" fmla="*/ 2147483647 w 1138"/>
              <a:gd name="T115" fmla="*/ 2147483647 h 174"/>
              <a:gd name="T116" fmla="*/ 2147483647 w 1138"/>
              <a:gd name="T117" fmla="*/ 2147483647 h 174"/>
              <a:gd name="T118" fmla="*/ 2147483647 w 1138"/>
              <a:gd name="T119" fmla="*/ 2147483647 h 174"/>
              <a:gd name="T120" fmla="*/ 2147483647 w 1138"/>
              <a:gd name="T121" fmla="*/ 2147483647 h 174"/>
              <a:gd name="T122" fmla="*/ 2147483647 w 1138"/>
              <a:gd name="T123" fmla="*/ 2147483647 h 174"/>
              <a:gd name="T124" fmla="*/ 2147483647 w 1138"/>
              <a:gd name="T125" fmla="*/ 2147483647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38"/>
              <a:gd name="T190" fmla="*/ 0 h 174"/>
              <a:gd name="T191" fmla="*/ 1138 w 1138"/>
              <a:gd name="T192" fmla="*/ 174 h 17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99CC"/>
          </a:solidFill>
          <a:ln>
            <a:noFill/>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5" name="Line 450"/>
          <p:cNvSpPr>
            <a:spLocks noChangeShapeType="1"/>
          </p:cNvSpPr>
          <p:nvPr/>
        </p:nvSpPr>
        <p:spPr bwMode="auto">
          <a:xfrm>
            <a:off x="4445846" y="3106632"/>
            <a:ext cx="116774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 name="Freeform 4"/>
          <p:cNvSpPr>
            <a:spLocks/>
          </p:cNvSpPr>
          <p:nvPr/>
        </p:nvSpPr>
        <p:spPr bwMode="auto">
          <a:xfrm>
            <a:off x="4429217" y="2313704"/>
            <a:ext cx="529366" cy="560245"/>
          </a:xfrm>
          <a:custGeom>
            <a:avLst/>
            <a:gdLst>
              <a:gd name="T0" fmla="*/ 2147483647 w 741"/>
              <a:gd name="T1" fmla="*/ 2147483647 h 744"/>
              <a:gd name="T2" fmla="*/ 2147483647 w 741"/>
              <a:gd name="T3" fmla="*/ 2147483647 h 744"/>
              <a:gd name="T4" fmla="*/ 2147483647 w 741"/>
              <a:gd name="T5" fmla="*/ 2147483647 h 744"/>
              <a:gd name="T6" fmla="*/ 2147483647 w 741"/>
              <a:gd name="T7" fmla="*/ 2147483647 h 744"/>
              <a:gd name="T8" fmla="*/ 2147483647 w 741"/>
              <a:gd name="T9" fmla="*/ 2147483647 h 744"/>
              <a:gd name="T10" fmla="*/ 2147483647 w 741"/>
              <a:gd name="T11" fmla="*/ 2147483647 h 744"/>
              <a:gd name="T12" fmla="*/ 2147483647 w 741"/>
              <a:gd name="T13" fmla="*/ 2147483647 h 744"/>
              <a:gd name="T14" fmla="*/ 2147483647 w 741"/>
              <a:gd name="T15" fmla="*/ 2147483647 h 744"/>
              <a:gd name="T16" fmla="*/ 2147483647 w 741"/>
              <a:gd name="T17" fmla="*/ 2147483647 h 744"/>
              <a:gd name="T18" fmla="*/ 2147483647 w 741"/>
              <a:gd name="T19" fmla="*/ 2147483647 h 744"/>
              <a:gd name="T20" fmla="*/ 2147483647 w 741"/>
              <a:gd name="T21" fmla="*/ 2147483647 h 744"/>
              <a:gd name="T22" fmla="*/ 2147483647 w 741"/>
              <a:gd name="T23" fmla="*/ 2147483647 h 744"/>
              <a:gd name="T24" fmla="*/ 2147483647 w 741"/>
              <a:gd name="T25" fmla="*/ 2147483647 h 744"/>
              <a:gd name="T26" fmla="*/ 2147483647 w 741"/>
              <a:gd name="T27" fmla="*/ 2147483647 h 744"/>
              <a:gd name="T28" fmla="*/ 2147483647 w 741"/>
              <a:gd name="T29" fmla="*/ 2147483647 h 744"/>
              <a:gd name="T30" fmla="*/ 2147483647 w 741"/>
              <a:gd name="T31" fmla="*/ 2147483647 h 744"/>
              <a:gd name="T32" fmla="*/ 2147483647 w 741"/>
              <a:gd name="T33" fmla="*/ 2147483647 h 744"/>
              <a:gd name="T34" fmla="*/ 2147483647 w 741"/>
              <a:gd name="T35" fmla="*/ 2147483647 h 744"/>
              <a:gd name="T36" fmla="*/ 2147483647 w 741"/>
              <a:gd name="T37" fmla="*/ 2147483647 h 744"/>
              <a:gd name="T38" fmla="*/ 2147483647 w 741"/>
              <a:gd name="T39" fmla="*/ 2147483647 h 744"/>
              <a:gd name="T40" fmla="*/ 2147483647 w 741"/>
              <a:gd name="T41" fmla="*/ 2147483647 h 744"/>
              <a:gd name="T42" fmla="*/ 2147483647 w 741"/>
              <a:gd name="T43" fmla="*/ 2147483647 h 744"/>
              <a:gd name="T44" fmla="*/ 2147483647 w 741"/>
              <a:gd name="T45" fmla="*/ 2147483647 h 744"/>
              <a:gd name="T46" fmla="*/ 2147483647 w 741"/>
              <a:gd name="T47" fmla="*/ 2147483647 h 744"/>
              <a:gd name="T48" fmla="*/ 2147483647 w 741"/>
              <a:gd name="T49" fmla="*/ 2147483647 h 744"/>
              <a:gd name="T50" fmla="*/ 2147483647 w 741"/>
              <a:gd name="T51" fmla="*/ 2147483647 h 744"/>
              <a:gd name="T52" fmla="*/ 2147483647 w 741"/>
              <a:gd name="T53" fmla="*/ 2147483647 h 744"/>
              <a:gd name="T54" fmla="*/ 2147483647 w 741"/>
              <a:gd name="T55" fmla="*/ 0 h 744"/>
              <a:gd name="T56" fmla="*/ 2147483647 w 741"/>
              <a:gd name="T57" fmla="*/ 2147483647 h 744"/>
              <a:gd name="T58" fmla="*/ 2147483647 w 741"/>
              <a:gd name="T59" fmla="*/ 2147483647 h 744"/>
              <a:gd name="T60" fmla="*/ 2147483647 w 741"/>
              <a:gd name="T61" fmla="*/ 2147483647 h 744"/>
              <a:gd name="T62" fmla="*/ 2147483647 w 741"/>
              <a:gd name="T63" fmla="*/ 2147483647 h 744"/>
              <a:gd name="T64" fmla="*/ 2147483647 w 741"/>
              <a:gd name="T65" fmla="*/ 2147483647 h 744"/>
              <a:gd name="T66" fmla="*/ 2147483647 w 741"/>
              <a:gd name="T67" fmla="*/ 2147483647 h 744"/>
              <a:gd name="T68" fmla="*/ 2147483647 w 741"/>
              <a:gd name="T69" fmla="*/ 2147483647 h 744"/>
              <a:gd name="T70" fmla="*/ 2147483647 w 741"/>
              <a:gd name="T71" fmla="*/ 2147483647 h 744"/>
              <a:gd name="T72" fmla="*/ 2147483647 w 741"/>
              <a:gd name="T73" fmla="*/ 2147483647 h 744"/>
              <a:gd name="T74" fmla="*/ 2147483647 w 741"/>
              <a:gd name="T75" fmla="*/ 2147483647 h 744"/>
              <a:gd name="T76" fmla="*/ 2147483647 w 741"/>
              <a:gd name="T77" fmla="*/ 2147483647 h 744"/>
              <a:gd name="T78" fmla="*/ 2147483647 w 741"/>
              <a:gd name="T79" fmla="*/ 2147483647 h 744"/>
              <a:gd name="T80" fmla="*/ 2147483647 w 741"/>
              <a:gd name="T81" fmla="*/ 2147483647 h 744"/>
              <a:gd name="T82" fmla="*/ 2147483647 w 741"/>
              <a:gd name="T83" fmla="*/ 2147483647 h 744"/>
              <a:gd name="T84" fmla="*/ 2147483647 w 741"/>
              <a:gd name="T85" fmla="*/ 2147483647 h 744"/>
              <a:gd name="T86" fmla="*/ 0 w 741"/>
              <a:gd name="T87" fmla="*/ 2147483647 h 744"/>
              <a:gd name="T88" fmla="*/ 2147483647 w 741"/>
              <a:gd name="T89" fmla="*/ 2147483647 h 744"/>
              <a:gd name="T90" fmla="*/ 2147483647 w 741"/>
              <a:gd name="T91" fmla="*/ 2147483647 h 744"/>
              <a:gd name="T92" fmla="*/ 2147483647 w 741"/>
              <a:gd name="T93" fmla="*/ 2147483647 h 744"/>
              <a:gd name="T94" fmla="*/ 2147483647 w 741"/>
              <a:gd name="T95" fmla="*/ 2147483647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41"/>
              <a:gd name="T145" fmla="*/ 0 h 744"/>
              <a:gd name="T146" fmla="*/ 741 w 741"/>
              <a:gd name="T147" fmla="*/ 744 h 74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99CC"/>
          </a:solidFill>
          <a:ln>
            <a:noFill/>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7" name="Freeform 5"/>
          <p:cNvSpPr>
            <a:spLocks/>
          </p:cNvSpPr>
          <p:nvPr/>
        </p:nvSpPr>
        <p:spPr bwMode="auto">
          <a:xfrm>
            <a:off x="5206174" y="2311445"/>
            <a:ext cx="470240" cy="626887"/>
          </a:xfrm>
          <a:custGeom>
            <a:avLst/>
            <a:gdLst>
              <a:gd name="T0" fmla="*/ 2147483647 w 657"/>
              <a:gd name="T1" fmla="*/ 2147483647 h 832"/>
              <a:gd name="T2" fmla="*/ 2147483647 w 657"/>
              <a:gd name="T3" fmla="*/ 2147483647 h 832"/>
              <a:gd name="T4" fmla="*/ 2147483647 w 657"/>
              <a:gd name="T5" fmla="*/ 2147483647 h 832"/>
              <a:gd name="T6" fmla="*/ 2147483647 w 657"/>
              <a:gd name="T7" fmla="*/ 2147483647 h 832"/>
              <a:gd name="T8" fmla="*/ 2147483647 w 657"/>
              <a:gd name="T9" fmla="*/ 0 h 832"/>
              <a:gd name="T10" fmla="*/ 2147483647 w 657"/>
              <a:gd name="T11" fmla="*/ 2147483647 h 832"/>
              <a:gd name="T12" fmla="*/ 2147483647 w 657"/>
              <a:gd name="T13" fmla="*/ 2147483647 h 832"/>
              <a:gd name="T14" fmla="*/ 2147483647 w 657"/>
              <a:gd name="T15" fmla="*/ 2147483647 h 832"/>
              <a:gd name="T16" fmla="*/ 2147483647 w 657"/>
              <a:gd name="T17" fmla="*/ 2147483647 h 832"/>
              <a:gd name="T18" fmla="*/ 2147483647 w 657"/>
              <a:gd name="T19" fmla="*/ 2147483647 h 832"/>
              <a:gd name="T20" fmla="*/ 2147483647 w 657"/>
              <a:gd name="T21" fmla="*/ 2147483647 h 832"/>
              <a:gd name="T22" fmla="*/ 2147483647 w 657"/>
              <a:gd name="T23" fmla="*/ 2147483647 h 832"/>
              <a:gd name="T24" fmla="*/ 2147483647 w 657"/>
              <a:gd name="T25" fmla="*/ 2147483647 h 832"/>
              <a:gd name="T26" fmla="*/ 2147483647 w 657"/>
              <a:gd name="T27" fmla="*/ 2147483647 h 832"/>
              <a:gd name="T28" fmla="*/ 2147483647 w 657"/>
              <a:gd name="T29" fmla="*/ 2147483647 h 832"/>
              <a:gd name="T30" fmla="*/ 2147483647 w 657"/>
              <a:gd name="T31" fmla="*/ 2147483647 h 832"/>
              <a:gd name="T32" fmla="*/ 2147483647 w 657"/>
              <a:gd name="T33" fmla="*/ 2147483647 h 832"/>
              <a:gd name="T34" fmla="*/ 2147483647 w 657"/>
              <a:gd name="T35" fmla="*/ 2147483647 h 832"/>
              <a:gd name="T36" fmla="*/ 2147483647 w 657"/>
              <a:gd name="T37" fmla="*/ 2147483647 h 832"/>
              <a:gd name="T38" fmla="*/ 2147483647 w 657"/>
              <a:gd name="T39" fmla="*/ 2147483647 h 832"/>
              <a:gd name="T40" fmla="*/ 2147483647 w 657"/>
              <a:gd name="T41" fmla="*/ 2147483647 h 832"/>
              <a:gd name="T42" fmla="*/ 2147483647 w 657"/>
              <a:gd name="T43" fmla="*/ 2147483647 h 832"/>
              <a:gd name="T44" fmla="*/ 0 w 657"/>
              <a:gd name="T45" fmla="*/ 2147483647 h 832"/>
              <a:gd name="T46" fmla="*/ 2147483647 w 657"/>
              <a:gd name="T47" fmla="*/ 2147483647 h 832"/>
              <a:gd name="T48" fmla="*/ 2147483647 w 657"/>
              <a:gd name="T49" fmla="*/ 2147483647 h 832"/>
              <a:gd name="T50" fmla="*/ 2147483647 w 657"/>
              <a:gd name="T51" fmla="*/ 2147483647 h 832"/>
              <a:gd name="T52" fmla="*/ 2147483647 w 657"/>
              <a:gd name="T53" fmla="*/ 2147483647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57"/>
              <a:gd name="T82" fmla="*/ 0 h 832"/>
              <a:gd name="T83" fmla="*/ 657 w 657"/>
              <a:gd name="T84" fmla="*/ 832 h 83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99CC"/>
          </a:solidFill>
          <a:ln>
            <a:noFill/>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8" name="Freeform 10"/>
          <p:cNvSpPr>
            <a:spLocks/>
          </p:cNvSpPr>
          <p:nvPr/>
        </p:nvSpPr>
        <p:spPr bwMode="auto">
          <a:xfrm>
            <a:off x="4289715" y="2190586"/>
            <a:ext cx="766795" cy="842627"/>
          </a:xfrm>
          <a:custGeom>
            <a:avLst/>
            <a:gdLst>
              <a:gd name="T0" fmla="*/ 0 w 945"/>
              <a:gd name="T1" fmla="*/ 2147483647 h 888"/>
              <a:gd name="T2" fmla="*/ 2147483647 w 945"/>
              <a:gd name="T3" fmla="*/ 2147483647 h 888"/>
              <a:gd name="T4" fmla="*/ 2147483647 w 945"/>
              <a:gd name="T5" fmla="*/ 2147483647 h 888"/>
              <a:gd name="T6" fmla="*/ 2147483647 w 945"/>
              <a:gd name="T7" fmla="*/ 0 h 888"/>
              <a:gd name="T8" fmla="*/ 0 w 945"/>
              <a:gd name="T9" fmla="*/ 2147483647 h 888"/>
              <a:gd name="T10" fmla="*/ 0 60000 65536"/>
              <a:gd name="T11" fmla="*/ 0 60000 65536"/>
              <a:gd name="T12" fmla="*/ 0 60000 65536"/>
              <a:gd name="T13" fmla="*/ 0 60000 65536"/>
              <a:gd name="T14" fmla="*/ 0 60000 65536"/>
              <a:gd name="T15" fmla="*/ 0 w 945"/>
              <a:gd name="T16" fmla="*/ 0 h 888"/>
              <a:gd name="T17" fmla="*/ 945 w 945"/>
              <a:gd name="T18" fmla="*/ 888 h 888"/>
            </a:gdLst>
            <a:ahLst/>
            <a:cxnLst>
              <a:cxn ang="T10">
                <a:pos x="T0" y="T1"/>
              </a:cxn>
              <a:cxn ang="T11">
                <a:pos x="T2" y="T3"/>
              </a:cxn>
              <a:cxn ang="T12">
                <a:pos x="T4" y="T5"/>
              </a:cxn>
              <a:cxn ang="T13">
                <a:pos x="T6" y="T7"/>
              </a:cxn>
              <a:cxn ang="T14">
                <a:pos x="T8" y="T9"/>
              </a:cxn>
            </a:cxnLst>
            <a:rect l="T15" t="T16" r="T17" b="T18"/>
            <a:pathLst>
              <a:path w="945" h="888">
                <a:moveTo>
                  <a:pt x="0" y="876"/>
                </a:moveTo>
                <a:lnTo>
                  <a:pt x="12" y="888"/>
                </a:lnTo>
                <a:lnTo>
                  <a:pt x="945" y="12"/>
                </a:lnTo>
                <a:lnTo>
                  <a:pt x="932" y="0"/>
                </a:lnTo>
                <a:lnTo>
                  <a:pt x="0" y="876"/>
                </a:lnTo>
                <a:close/>
              </a:path>
            </a:pathLst>
          </a:custGeom>
          <a:solidFill>
            <a:srgbClr val="000000"/>
          </a:solidFill>
          <a:ln w="9525">
            <a:solidFill>
              <a:srgbClr val="000000"/>
            </a:solidFill>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9" name="Freeform 15"/>
          <p:cNvSpPr>
            <a:spLocks/>
          </p:cNvSpPr>
          <p:nvPr/>
        </p:nvSpPr>
        <p:spPr bwMode="auto">
          <a:xfrm>
            <a:off x="5141505" y="2181549"/>
            <a:ext cx="574635" cy="816648"/>
          </a:xfrm>
          <a:custGeom>
            <a:avLst/>
            <a:gdLst>
              <a:gd name="T0" fmla="*/ 2147483647 w 1094"/>
              <a:gd name="T1" fmla="*/ 2147483647 h 901"/>
              <a:gd name="T2" fmla="*/ 2147483647 w 1094"/>
              <a:gd name="T3" fmla="*/ 2147483647 h 901"/>
              <a:gd name="T4" fmla="*/ 2147483647 w 1094"/>
              <a:gd name="T5" fmla="*/ 0 h 901"/>
              <a:gd name="T6" fmla="*/ 0 w 1094"/>
              <a:gd name="T7" fmla="*/ 2147483647 h 901"/>
              <a:gd name="T8" fmla="*/ 2147483647 w 1094"/>
              <a:gd name="T9" fmla="*/ 2147483647 h 901"/>
              <a:gd name="T10" fmla="*/ 0 60000 65536"/>
              <a:gd name="T11" fmla="*/ 0 60000 65536"/>
              <a:gd name="T12" fmla="*/ 0 60000 65536"/>
              <a:gd name="T13" fmla="*/ 0 60000 65536"/>
              <a:gd name="T14" fmla="*/ 0 60000 65536"/>
              <a:gd name="T15" fmla="*/ 0 w 1094"/>
              <a:gd name="T16" fmla="*/ 0 h 901"/>
              <a:gd name="T17" fmla="*/ 1094 w 1094"/>
              <a:gd name="T18" fmla="*/ 901 h 901"/>
            </a:gdLst>
            <a:ahLst/>
            <a:cxnLst>
              <a:cxn ang="T10">
                <a:pos x="T0" y="T1"/>
              </a:cxn>
              <a:cxn ang="T11">
                <a:pos x="T2" y="T3"/>
              </a:cxn>
              <a:cxn ang="T12">
                <a:pos x="T4" y="T5"/>
              </a:cxn>
              <a:cxn ang="T13">
                <a:pos x="T6" y="T7"/>
              </a:cxn>
              <a:cxn ang="T14">
                <a:pos x="T8" y="T9"/>
              </a:cxn>
            </a:cxnLst>
            <a:rect l="T15" t="T16" r="T17" b="T18"/>
            <a:pathLst>
              <a:path w="1094" h="901">
                <a:moveTo>
                  <a:pt x="1082" y="901"/>
                </a:moveTo>
                <a:lnTo>
                  <a:pt x="1094" y="887"/>
                </a:lnTo>
                <a:lnTo>
                  <a:pt x="12" y="0"/>
                </a:lnTo>
                <a:lnTo>
                  <a:pt x="0" y="15"/>
                </a:lnTo>
                <a:lnTo>
                  <a:pt x="1082" y="901"/>
                </a:lnTo>
                <a:close/>
              </a:path>
            </a:pathLst>
          </a:custGeom>
          <a:solidFill>
            <a:srgbClr val="000000"/>
          </a:solidFill>
          <a:ln w="9525">
            <a:solidFill>
              <a:srgbClr val="000000"/>
            </a:solidFill>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1" name="Oval 28"/>
          <p:cNvSpPr>
            <a:spLocks noChangeArrowheads="1"/>
          </p:cNvSpPr>
          <p:nvPr/>
        </p:nvSpPr>
        <p:spPr bwMode="auto">
          <a:xfrm>
            <a:off x="6444133" y="3435324"/>
            <a:ext cx="57279" cy="60994"/>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 name="Group 57"/>
          <p:cNvGrpSpPr>
            <a:grpSpLocks/>
          </p:cNvGrpSpPr>
          <p:nvPr/>
        </p:nvGrpSpPr>
        <p:grpSpPr bwMode="auto">
          <a:xfrm>
            <a:off x="6270449" y="3566349"/>
            <a:ext cx="243896" cy="265439"/>
            <a:chOff x="3891" y="3616"/>
            <a:chExt cx="342" cy="353"/>
          </a:xfrm>
        </p:grpSpPr>
        <p:grpSp>
          <p:nvGrpSpPr>
            <p:cNvPr id="3" name="Group 58"/>
            <p:cNvGrpSpPr>
              <a:grpSpLocks/>
            </p:cNvGrpSpPr>
            <p:nvPr/>
          </p:nvGrpSpPr>
          <p:grpSpPr bwMode="auto">
            <a:xfrm>
              <a:off x="3899" y="3622"/>
              <a:ext cx="334" cy="347"/>
              <a:chOff x="3899" y="3622"/>
              <a:chExt cx="334" cy="347"/>
            </a:xfrm>
          </p:grpSpPr>
          <p:sp>
            <p:nvSpPr>
              <p:cNvPr id="284" name="Freeform 59"/>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5" name="Freeform 60"/>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6" name="Freeform 61"/>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7" name="Freeform 62"/>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8" name="Rectangle 63"/>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9" name="Rectangle 64"/>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0" name="Rectangle 65"/>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1" name="Line 66"/>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4" name="Group 67"/>
              <p:cNvGrpSpPr>
                <a:grpSpLocks/>
              </p:cNvGrpSpPr>
              <p:nvPr/>
            </p:nvGrpSpPr>
            <p:grpSpPr bwMode="auto">
              <a:xfrm>
                <a:off x="3899" y="3918"/>
                <a:ext cx="334" cy="51"/>
                <a:chOff x="3899" y="3918"/>
                <a:chExt cx="334" cy="51"/>
              </a:xfrm>
            </p:grpSpPr>
            <p:sp>
              <p:nvSpPr>
                <p:cNvPr id="293" name="Freeform 68"/>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 name="Freeform 69"/>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 name="Rectangle 70"/>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 name="Group 71"/>
            <p:cNvGrpSpPr>
              <a:grpSpLocks/>
            </p:cNvGrpSpPr>
            <p:nvPr/>
          </p:nvGrpSpPr>
          <p:grpSpPr bwMode="auto">
            <a:xfrm>
              <a:off x="3891" y="3616"/>
              <a:ext cx="334" cy="346"/>
              <a:chOff x="3891" y="3616"/>
              <a:chExt cx="334" cy="346"/>
            </a:xfrm>
          </p:grpSpPr>
          <p:sp>
            <p:nvSpPr>
              <p:cNvPr id="272" name="Freeform 72"/>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 name="Freeform 73"/>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4" name="Freeform 74"/>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 name="Freeform 75"/>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6" name="Rectangle 76"/>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7" name="Rectangle 77"/>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8" name="Rectangle 78"/>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9" name="Line 79"/>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6" name="Group 80"/>
              <p:cNvGrpSpPr>
                <a:grpSpLocks/>
              </p:cNvGrpSpPr>
              <p:nvPr/>
            </p:nvGrpSpPr>
            <p:grpSpPr bwMode="auto">
              <a:xfrm>
                <a:off x="3891" y="3912"/>
                <a:ext cx="334" cy="50"/>
                <a:chOff x="3891" y="3912"/>
                <a:chExt cx="334" cy="50"/>
              </a:xfrm>
            </p:grpSpPr>
            <p:sp>
              <p:nvSpPr>
                <p:cNvPr id="281" name="Freeform 81"/>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 name="Freeform 82"/>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3" name="Rectangle 83"/>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7" name="Group 84"/>
          <p:cNvGrpSpPr>
            <a:grpSpLocks/>
          </p:cNvGrpSpPr>
          <p:nvPr/>
        </p:nvGrpSpPr>
        <p:grpSpPr bwMode="auto">
          <a:xfrm>
            <a:off x="6784110" y="3544889"/>
            <a:ext cx="244820" cy="265438"/>
            <a:chOff x="4752" y="3605"/>
            <a:chExt cx="343" cy="353"/>
          </a:xfrm>
        </p:grpSpPr>
        <p:grpSp>
          <p:nvGrpSpPr>
            <p:cNvPr id="8" name="Group 85"/>
            <p:cNvGrpSpPr>
              <a:grpSpLocks/>
            </p:cNvGrpSpPr>
            <p:nvPr/>
          </p:nvGrpSpPr>
          <p:grpSpPr bwMode="auto">
            <a:xfrm>
              <a:off x="4760" y="3612"/>
              <a:ext cx="335" cy="346"/>
              <a:chOff x="4760" y="3612"/>
              <a:chExt cx="335" cy="346"/>
            </a:xfrm>
          </p:grpSpPr>
          <p:sp>
            <p:nvSpPr>
              <p:cNvPr id="311" name="Freeform 86"/>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 name="Freeform 87"/>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3" name="Freeform 88"/>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 name="Freeform 89"/>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5" name="Rectangle 90"/>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6" name="Rectangle 91"/>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7" name="Rectangle 92"/>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8" name="Line 93"/>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9" name="Group 94"/>
              <p:cNvGrpSpPr>
                <a:grpSpLocks/>
              </p:cNvGrpSpPr>
              <p:nvPr/>
            </p:nvGrpSpPr>
            <p:grpSpPr bwMode="auto">
              <a:xfrm>
                <a:off x="4760" y="3907"/>
                <a:ext cx="335" cy="51"/>
                <a:chOff x="4760" y="3907"/>
                <a:chExt cx="335" cy="51"/>
              </a:xfrm>
            </p:grpSpPr>
            <p:sp>
              <p:nvSpPr>
                <p:cNvPr id="320" name="Freeform 95"/>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1" name="Freeform 96"/>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2" name="Rectangle 97"/>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0" name="Group 98"/>
            <p:cNvGrpSpPr>
              <a:grpSpLocks/>
            </p:cNvGrpSpPr>
            <p:nvPr/>
          </p:nvGrpSpPr>
          <p:grpSpPr bwMode="auto">
            <a:xfrm>
              <a:off x="4752" y="3605"/>
              <a:ext cx="334" cy="347"/>
              <a:chOff x="4752" y="3605"/>
              <a:chExt cx="334" cy="347"/>
            </a:xfrm>
          </p:grpSpPr>
          <p:sp>
            <p:nvSpPr>
              <p:cNvPr id="299" name="Freeform 99"/>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 name="Freeform 100"/>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1" name="Freeform 101"/>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2" name="Freeform 102"/>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 name="Rectangle 103"/>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4" name="Rectangle 104"/>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5" name="Rectangle 105"/>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6" name="Line 106"/>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1" name="Group 107"/>
              <p:cNvGrpSpPr>
                <a:grpSpLocks/>
              </p:cNvGrpSpPr>
              <p:nvPr/>
            </p:nvGrpSpPr>
            <p:grpSpPr bwMode="auto">
              <a:xfrm>
                <a:off x="4752" y="3901"/>
                <a:ext cx="334" cy="51"/>
                <a:chOff x="4752" y="3901"/>
                <a:chExt cx="334" cy="51"/>
              </a:xfrm>
            </p:grpSpPr>
            <p:sp>
              <p:nvSpPr>
                <p:cNvPr id="308" name="Freeform 108"/>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9" name="Freeform 109"/>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 name="Rectangle 110"/>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12" name="Group 111"/>
          <p:cNvGrpSpPr>
            <a:grpSpLocks/>
          </p:cNvGrpSpPr>
          <p:nvPr/>
        </p:nvGrpSpPr>
        <p:grpSpPr bwMode="auto">
          <a:xfrm>
            <a:off x="3252685" y="2154439"/>
            <a:ext cx="244820" cy="265438"/>
            <a:chOff x="101" y="1539"/>
            <a:chExt cx="343" cy="352"/>
          </a:xfrm>
        </p:grpSpPr>
        <p:grpSp>
          <p:nvGrpSpPr>
            <p:cNvPr id="13" name="Group 112"/>
            <p:cNvGrpSpPr>
              <a:grpSpLocks/>
            </p:cNvGrpSpPr>
            <p:nvPr/>
          </p:nvGrpSpPr>
          <p:grpSpPr bwMode="auto">
            <a:xfrm>
              <a:off x="109" y="1545"/>
              <a:ext cx="335" cy="346"/>
              <a:chOff x="109" y="1545"/>
              <a:chExt cx="335" cy="346"/>
            </a:xfrm>
          </p:grpSpPr>
          <p:sp>
            <p:nvSpPr>
              <p:cNvPr id="338" name="Freeform 113"/>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9" name="Freeform 114"/>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0" name="Freeform 115"/>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1" name="Freeform 116"/>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2" name="Rectangle 117"/>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3" name="Rectangle 118"/>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4" name="Rectangle 119"/>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5" name="Line 120"/>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4" name="Group 121"/>
              <p:cNvGrpSpPr>
                <a:grpSpLocks/>
              </p:cNvGrpSpPr>
              <p:nvPr/>
            </p:nvGrpSpPr>
            <p:grpSpPr bwMode="auto">
              <a:xfrm>
                <a:off x="109" y="1841"/>
                <a:ext cx="335" cy="50"/>
                <a:chOff x="109" y="1841"/>
                <a:chExt cx="335" cy="50"/>
              </a:xfrm>
            </p:grpSpPr>
            <p:sp>
              <p:nvSpPr>
                <p:cNvPr id="347" name="Freeform 122"/>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8" name="Freeform 123"/>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9" name="Rectangle 124"/>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5" name="Group 125"/>
            <p:cNvGrpSpPr>
              <a:grpSpLocks/>
            </p:cNvGrpSpPr>
            <p:nvPr/>
          </p:nvGrpSpPr>
          <p:grpSpPr bwMode="auto">
            <a:xfrm>
              <a:off x="101" y="1539"/>
              <a:ext cx="335" cy="346"/>
              <a:chOff x="101" y="1539"/>
              <a:chExt cx="335" cy="346"/>
            </a:xfrm>
          </p:grpSpPr>
          <p:sp>
            <p:nvSpPr>
              <p:cNvPr id="326" name="Freeform 126"/>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7" name="Freeform 127"/>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8" name="Freeform 128"/>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9" name="Freeform 129"/>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0" name="Rectangle 130"/>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1" name="Rectangle 131"/>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2" name="Rectangle 132"/>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3" name="Line 133"/>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6" name="Group 134"/>
              <p:cNvGrpSpPr>
                <a:grpSpLocks/>
              </p:cNvGrpSpPr>
              <p:nvPr/>
            </p:nvGrpSpPr>
            <p:grpSpPr bwMode="auto">
              <a:xfrm>
                <a:off x="101" y="1834"/>
                <a:ext cx="335" cy="51"/>
                <a:chOff x="101" y="1834"/>
                <a:chExt cx="335" cy="51"/>
              </a:xfrm>
            </p:grpSpPr>
            <p:sp>
              <p:nvSpPr>
                <p:cNvPr id="335" name="Freeform 135"/>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6" name="Freeform 136"/>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7" name="Rectangle 137"/>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17" name="Group 138"/>
          <p:cNvGrpSpPr>
            <a:grpSpLocks/>
          </p:cNvGrpSpPr>
          <p:nvPr/>
        </p:nvGrpSpPr>
        <p:grpSpPr bwMode="auto">
          <a:xfrm>
            <a:off x="7667310" y="2607381"/>
            <a:ext cx="245744" cy="264309"/>
            <a:chOff x="5237" y="2322"/>
            <a:chExt cx="343" cy="352"/>
          </a:xfrm>
        </p:grpSpPr>
        <p:grpSp>
          <p:nvGrpSpPr>
            <p:cNvPr id="18" name="Group 139"/>
            <p:cNvGrpSpPr>
              <a:grpSpLocks/>
            </p:cNvGrpSpPr>
            <p:nvPr/>
          </p:nvGrpSpPr>
          <p:grpSpPr bwMode="auto">
            <a:xfrm>
              <a:off x="5245" y="2328"/>
              <a:ext cx="335" cy="346"/>
              <a:chOff x="5245" y="2328"/>
              <a:chExt cx="335" cy="346"/>
            </a:xfrm>
          </p:grpSpPr>
          <p:sp>
            <p:nvSpPr>
              <p:cNvPr id="365" name="Freeform 140"/>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6" name="Freeform 141"/>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7" name="Freeform 142"/>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8" name="Freeform 143"/>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9" name="Rectangle 144"/>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0" name="Rectangle 145"/>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1" name="Rectangle 146"/>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2" name="Line 147"/>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 name="Group 148"/>
              <p:cNvGrpSpPr>
                <a:grpSpLocks/>
              </p:cNvGrpSpPr>
              <p:nvPr/>
            </p:nvGrpSpPr>
            <p:grpSpPr bwMode="auto">
              <a:xfrm>
                <a:off x="5245" y="2624"/>
                <a:ext cx="335" cy="50"/>
                <a:chOff x="5245" y="2624"/>
                <a:chExt cx="335" cy="50"/>
              </a:xfrm>
            </p:grpSpPr>
            <p:sp>
              <p:nvSpPr>
                <p:cNvPr id="374" name="Freeform 149"/>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5" name="Freeform 150"/>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6" name="Rectangle 151"/>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0" name="Group 152"/>
            <p:cNvGrpSpPr>
              <a:grpSpLocks/>
            </p:cNvGrpSpPr>
            <p:nvPr/>
          </p:nvGrpSpPr>
          <p:grpSpPr bwMode="auto">
            <a:xfrm>
              <a:off x="5237" y="2322"/>
              <a:ext cx="335" cy="346"/>
              <a:chOff x="5237" y="2322"/>
              <a:chExt cx="335" cy="346"/>
            </a:xfrm>
          </p:grpSpPr>
          <p:sp>
            <p:nvSpPr>
              <p:cNvPr id="353" name="Freeform 153"/>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4" name="Freeform 154"/>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5" name="Freeform 155"/>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6" name="Freeform 156"/>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7" name="Rectangle 157"/>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58" name="Rectangle 158"/>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59" name="Rectangle 159"/>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60" name="Line 160"/>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 name="Group 161"/>
              <p:cNvGrpSpPr>
                <a:grpSpLocks/>
              </p:cNvGrpSpPr>
              <p:nvPr/>
            </p:nvGrpSpPr>
            <p:grpSpPr bwMode="auto">
              <a:xfrm>
                <a:off x="5237" y="2617"/>
                <a:ext cx="335" cy="51"/>
                <a:chOff x="5237" y="2617"/>
                <a:chExt cx="335" cy="51"/>
              </a:xfrm>
            </p:grpSpPr>
            <p:sp>
              <p:nvSpPr>
                <p:cNvPr id="362" name="Freeform 162"/>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3" name="Freeform 163"/>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4" name="Rectangle 164"/>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22" name="Group 165"/>
          <p:cNvGrpSpPr>
            <a:grpSpLocks/>
          </p:cNvGrpSpPr>
          <p:nvPr/>
        </p:nvGrpSpPr>
        <p:grpSpPr bwMode="auto">
          <a:xfrm>
            <a:off x="7667310" y="2053913"/>
            <a:ext cx="245744" cy="265438"/>
            <a:chOff x="5237" y="1587"/>
            <a:chExt cx="343" cy="353"/>
          </a:xfrm>
        </p:grpSpPr>
        <p:grpSp>
          <p:nvGrpSpPr>
            <p:cNvPr id="23" name="Group 166"/>
            <p:cNvGrpSpPr>
              <a:grpSpLocks/>
            </p:cNvGrpSpPr>
            <p:nvPr/>
          </p:nvGrpSpPr>
          <p:grpSpPr bwMode="auto">
            <a:xfrm>
              <a:off x="5245" y="1594"/>
              <a:ext cx="335" cy="346"/>
              <a:chOff x="5245" y="1594"/>
              <a:chExt cx="335" cy="346"/>
            </a:xfrm>
          </p:grpSpPr>
          <p:sp>
            <p:nvSpPr>
              <p:cNvPr id="392" name="Freeform 167"/>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3" name="Freeform 168"/>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4" name="Freeform 169"/>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5" name="Freeform 170"/>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6" name="Rectangle 171"/>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7" name="Rectangle 172"/>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8" name="Rectangle 173"/>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9" name="Line 174"/>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4" name="Group 175"/>
              <p:cNvGrpSpPr>
                <a:grpSpLocks/>
              </p:cNvGrpSpPr>
              <p:nvPr/>
            </p:nvGrpSpPr>
            <p:grpSpPr bwMode="auto">
              <a:xfrm>
                <a:off x="5245" y="1889"/>
                <a:ext cx="335" cy="51"/>
                <a:chOff x="5245" y="1889"/>
                <a:chExt cx="335" cy="51"/>
              </a:xfrm>
            </p:grpSpPr>
            <p:sp>
              <p:nvSpPr>
                <p:cNvPr id="401" name="Freeform 176"/>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02" name="Freeform 177"/>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03" name="Rectangle 178"/>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5" name="Group 179"/>
            <p:cNvGrpSpPr>
              <a:grpSpLocks/>
            </p:cNvGrpSpPr>
            <p:nvPr/>
          </p:nvGrpSpPr>
          <p:grpSpPr bwMode="auto">
            <a:xfrm>
              <a:off x="5237" y="1587"/>
              <a:ext cx="335" cy="346"/>
              <a:chOff x="5237" y="1587"/>
              <a:chExt cx="335" cy="346"/>
            </a:xfrm>
          </p:grpSpPr>
          <p:sp>
            <p:nvSpPr>
              <p:cNvPr id="380" name="Freeform 180"/>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1" name="Freeform 181"/>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2" name="Freeform 182"/>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3" name="Freeform 183"/>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4" name="Rectangle 184"/>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5" name="Rectangle 185"/>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6" name="Rectangle 186"/>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7" name="Line 187"/>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6" name="Group 188"/>
              <p:cNvGrpSpPr>
                <a:grpSpLocks/>
              </p:cNvGrpSpPr>
              <p:nvPr/>
            </p:nvGrpSpPr>
            <p:grpSpPr bwMode="auto">
              <a:xfrm>
                <a:off x="5237" y="1883"/>
                <a:ext cx="335" cy="50"/>
                <a:chOff x="5237" y="1883"/>
                <a:chExt cx="335" cy="50"/>
              </a:xfrm>
            </p:grpSpPr>
            <p:sp>
              <p:nvSpPr>
                <p:cNvPr id="389" name="Freeform 189"/>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0" name="Freeform 190"/>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1" name="Rectangle 191"/>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404" name="Rectangle 193"/>
          <p:cNvSpPr>
            <a:spLocks noChangeArrowheads="1"/>
          </p:cNvSpPr>
          <p:nvPr/>
        </p:nvSpPr>
        <p:spPr bwMode="auto">
          <a:xfrm>
            <a:off x="3546430" y="1311297"/>
            <a:ext cx="679673"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u="sng" dirty="0">
                <a:latin typeface="微软雅黑" panose="020B0503020204020204" pitchFamily="34" charset="-122"/>
                <a:ea typeface="微软雅黑" panose="020B0503020204020204" pitchFamily="34" charset="-122"/>
              </a:rPr>
              <a:t>1.1.1.0/29</a:t>
            </a:r>
          </a:p>
        </p:txBody>
      </p:sp>
      <p:sp>
        <p:nvSpPr>
          <p:cNvPr id="405" name="Rectangle 194"/>
          <p:cNvSpPr>
            <a:spLocks noChangeArrowheads="1"/>
          </p:cNvSpPr>
          <p:nvPr/>
        </p:nvSpPr>
        <p:spPr bwMode="auto">
          <a:xfrm>
            <a:off x="4823700" y="1490279"/>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6" name="Rectangle 195"/>
          <p:cNvSpPr>
            <a:spLocks noChangeArrowheads="1"/>
          </p:cNvSpPr>
          <p:nvPr/>
        </p:nvSpPr>
        <p:spPr bwMode="auto">
          <a:xfrm>
            <a:off x="5479634" y="1681169"/>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1.1.1.1</a:t>
            </a:r>
            <a:endParaRPr lang="en-US" altLang="zh-CN" sz="1050" b="1">
              <a:latin typeface="微软雅黑" panose="020B0503020204020204" pitchFamily="34" charset="-122"/>
              <a:ea typeface="微软雅黑" panose="020B0503020204020204" pitchFamily="34" charset="-122"/>
            </a:endParaRPr>
          </a:p>
        </p:txBody>
      </p:sp>
      <p:sp>
        <p:nvSpPr>
          <p:cNvPr id="407" name="Rectangle 196"/>
          <p:cNvSpPr>
            <a:spLocks noChangeArrowheads="1"/>
          </p:cNvSpPr>
          <p:nvPr/>
        </p:nvSpPr>
        <p:spPr bwMode="auto">
          <a:xfrm>
            <a:off x="5572019" y="1490279"/>
            <a:ext cx="48779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8" name="Rectangle 197"/>
          <p:cNvSpPr>
            <a:spLocks noChangeArrowheads="1"/>
          </p:cNvSpPr>
          <p:nvPr/>
        </p:nvSpPr>
        <p:spPr bwMode="auto">
          <a:xfrm>
            <a:off x="5180307" y="1476725"/>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1.1.1.2</a:t>
            </a:r>
            <a:endParaRPr lang="en-US" altLang="zh-CN" sz="1050" b="1">
              <a:latin typeface="微软雅黑" panose="020B0503020204020204" pitchFamily="34" charset="-122"/>
              <a:ea typeface="微软雅黑" panose="020B0503020204020204" pitchFamily="34" charset="-122"/>
            </a:endParaRPr>
          </a:p>
        </p:txBody>
      </p:sp>
      <p:sp>
        <p:nvSpPr>
          <p:cNvPr id="409" name="Rectangle 199"/>
          <p:cNvSpPr>
            <a:spLocks noChangeArrowheads="1"/>
          </p:cNvSpPr>
          <p:nvPr/>
        </p:nvSpPr>
        <p:spPr bwMode="auto">
          <a:xfrm>
            <a:off x="4291220" y="1588857"/>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1.1.1.3</a:t>
            </a:r>
            <a:endParaRPr lang="en-US" altLang="zh-CN" sz="1050" b="1" dirty="0">
              <a:latin typeface="微软雅黑" panose="020B0503020204020204" pitchFamily="34" charset="-122"/>
              <a:ea typeface="微软雅黑" panose="020B0503020204020204" pitchFamily="34" charset="-122"/>
            </a:endParaRPr>
          </a:p>
        </p:txBody>
      </p:sp>
      <p:sp>
        <p:nvSpPr>
          <p:cNvPr id="410" name="Rectangle 284"/>
          <p:cNvSpPr>
            <a:spLocks noChangeArrowheads="1"/>
          </p:cNvSpPr>
          <p:nvPr/>
        </p:nvSpPr>
        <p:spPr bwMode="auto">
          <a:xfrm>
            <a:off x="5114713" y="1826878"/>
            <a:ext cx="12934" cy="276734"/>
          </a:xfrm>
          <a:prstGeom prst="rect">
            <a:avLst/>
          </a:prstGeom>
          <a:solidFill>
            <a:srgbClr val="000000"/>
          </a:solidFill>
          <a:ln w="19050">
            <a:solidFill>
              <a:srgbClr val="000000"/>
            </a:solidFill>
            <a:miter lim="800000"/>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7" name="Group 285"/>
          <p:cNvGrpSpPr>
            <a:grpSpLocks/>
          </p:cNvGrpSpPr>
          <p:nvPr/>
        </p:nvGrpSpPr>
        <p:grpSpPr bwMode="auto">
          <a:xfrm>
            <a:off x="4946573" y="2079892"/>
            <a:ext cx="314109" cy="197668"/>
            <a:chOff x="2299" y="1622"/>
            <a:chExt cx="439" cy="262"/>
          </a:xfrm>
        </p:grpSpPr>
        <p:sp>
          <p:nvSpPr>
            <p:cNvPr id="412" name="Oval 286"/>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3" name="Rectangle 28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4" name="Rectangle 288"/>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5" name="Oval 289"/>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8" name="Group 290"/>
            <p:cNvGrpSpPr>
              <a:grpSpLocks/>
            </p:cNvGrpSpPr>
            <p:nvPr/>
          </p:nvGrpSpPr>
          <p:grpSpPr bwMode="auto">
            <a:xfrm>
              <a:off x="2365" y="1640"/>
              <a:ext cx="304" cy="117"/>
              <a:chOff x="2365" y="1640"/>
              <a:chExt cx="304" cy="117"/>
            </a:xfrm>
          </p:grpSpPr>
          <p:grpSp>
            <p:nvGrpSpPr>
              <p:cNvPr id="29" name="Group 291"/>
              <p:cNvGrpSpPr>
                <a:grpSpLocks/>
              </p:cNvGrpSpPr>
              <p:nvPr/>
            </p:nvGrpSpPr>
            <p:grpSpPr bwMode="auto">
              <a:xfrm>
                <a:off x="2365" y="1640"/>
                <a:ext cx="302" cy="115"/>
                <a:chOff x="2365" y="1640"/>
                <a:chExt cx="302" cy="115"/>
              </a:xfrm>
            </p:grpSpPr>
            <p:sp>
              <p:nvSpPr>
                <p:cNvPr id="429" name="Freeform 292"/>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0" name="Freeform 293"/>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1" name="Freeform 294"/>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2" name="Freeform 295"/>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3" name="Freeform 296"/>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4" name="Freeform 297"/>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5" name="Freeform 298"/>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6" name="Freeform 299"/>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 name="Group 300"/>
              <p:cNvGrpSpPr>
                <a:grpSpLocks/>
              </p:cNvGrpSpPr>
              <p:nvPr/>
            </p:nvGrpSpPr>
            <p:grpSpPr bwMode="auto">
              <a:xfrm>
                <a:off x="2368" y="1643"/>
                <a:ext cx="301" cy="114"/>
                <a:chOff x="2368" y="1643"/>
                <a:chExt cx="301" cy="114"/>
              </a:xfrm>
            </p:grpSpPr>
            <p:sp>
              <p:nvSpPr>
                <p:cNvPr id="421" name="Freeform 301"/>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2" name="Freeform 302"/>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3" name="Freeform 303"/>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4" name="Freeform 304"/>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5" name="Freeform 305"/>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6" name="Freeform 306"/>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7" name="Freeform 307"/>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8" name="Freeform 308"/>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417" name="Line 309"/>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8" name="Line 310"/>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437" name="Rectangle 311"/>
          <p:cNvSpPr>
            <a:spLocks noChangeArrowheads="1"/>
          </p:cNvSpPr>
          <p:nvPr/>
        </p:nvSpPr>
        <p:spPr bwMode="auto">
          <a:xfrm>
            <a:off x="5167372" y="1946608"/>
            <a:ext cx="489640"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38" name="Rectangle 312"/>
          <p:cNvSpPr>
            <a:spLocks noChangeArrowheads="1"/>
          </p:cNvSpPr>
          <p:nvPr/>
        </p:nvSpPr>
        <p:spPr bwMode="auto">
          <a:xfrm>
            <a:off x="5181542" y="1916111"/>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1.1.1.4</a:t>
            </a:r>
            <a:endParaRPr lang="en-US" altLang="zh-CN" sz="1050" b="1" dirty="0">
              <a:latin typeface="微软雅黑" panose="020B0503020204020204" pitchFamily="34" charset="-122"/>
              <a:ea typeface="微软雅黑" panose="020B0503020204020204" pitchFamily="34" charset="-122"/>
            </a:endParaRPr>
          </a:p>
        </p:txBody>
      </p:sp>
      <p:sp>
        <p:nvSpPr>
          <p:cNvPr id="439" name="Rectangle 313"/>
          <p:cNvSpPr>
            <a:spLocks noChangeArrowheads="1"/>
          </p:cNvSpPr>
          <p:nvPr/>
        </p:nvSpPr>
        <p:spPr bwMode="auto">
          <a:xfrm>
            <a:off x="4764574" y="2022286"/>
            <a:ext cx="199552"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0" name="Rectangle 314"/>
          <p:cNvSpPr>
            <a:spLocks noChangeArrowheads="1"/>
          </p:cNvSpPr>
          <p:nvPr/>
        </p:nvSpPr>
        <p:spPr bwMode="auto">
          <a:xfrm>
            <a:off x="4797210" y="2009142"/>
            <a:ext cx="150682"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FF"/>
                </a:solidFill>
                <a:latin typeface="微软雅黑" panose="020B0503020204020204" pitchFamily="34" charset="-122"/>
                <a:ea typeface="微软雅黑" panose="020B0503020204020204" pitchFamily="34" charset="-122"/>
              </a:rPr>
              <a:t>R</a:t>
            </a:r>
            <a:r>
              <a:rPr lang="en-US" altLang="zh-CN" sz="1050" b="1" baseline="-25000" dirty="0">
                <a:solidFill>
                  <a:srgbClr val="0000FF"/>
                </a:solidFill>
                <a:latin typeface="微软雅黑" panose="020B0503020204020204" pitchFamily="34" charset="-122"/>
                <a:ea typeface="微软雅黑" panose="020B0503020204020204" pitchFamily="34" charset="-122"/>
              </a:rPr>
              <a:t>1</a:t>
            </a:r>
          </a:p>
        </p:txBody>
      </p:sp>
      <p:sp>
        <p:nvSpPr>
          <p:cNvPr id="441" name="Oval 319"/>
          <p:cNvSpPr>
            <a:spLocks noChangeArrowheads="1"/>
          </p:cNvSpPr>
          <p:nvPr/>
        </p:nvSpPr>
        <p:spPr bwMode="auto">
          <a:xfrm>
            <a:off x="5095312" y="1972587"/>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2" name="Oval 325"/>
          <p:cNvSpPr>
            <a:spLocks noChangeArrowheads="1"/>
          </p:cNvSpPr>
          <p:nvPr/>
        </p:nvSpPr>
        <p:spPr bwMode="auto">
          <a:xfrm>
            <a:off x="7561991" y="270452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3" name="Oval 326"/>
          <p:cNvSpPr>
            <a:spLocks noChangeArrowheads="1"/>
          </p:cNvSpPr>
          <p:nvPr/>
        </p:nvSpPr>
        <p:spPr bwMode="auto">
          <a:xfrm>
            <a:off x="7588783" y="2334036"/>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4" name="Rectangle 327"/>
          <p:cNvSpPr>
            <a:spLocks noChangeArrowheads="1"/>
          </p:cNvSpPr>
          <p:nvPr/>
        </p:nvSpPr>
        <p:spPr bwMode="auto">
          <a:xfrm>
            <a:off x="6166054" y="2622065"/>
            <a:ext cx="488716"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5" name="Rectangle 328"/>
          <p:cNvSpPr>
            <a:spLocks noChangeArrowheads="1"/>
          </p:cNvSpPr>
          <p:nvPr/>
        </p:nvSpPr>
        <p:spPr bwMode="auto">
          <a:xfrm>
            <a:off x="5912639" y="3114538"/>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1.1.1.13</a:t>
            </a:r>
            <a:endParaRPr lang="en-US" altLang="zh-CN" sz="1050" b="1" dirty="0">
              <a:latin typeface="微软雅黑" panose="020B0503020204020204" pitchFamily="34" charset="-122"/>
              <a:ea typeface="微软雅黑" panose="020B0503020204020204" pitchFamily="34" charset="-122"/>
            </a:endParaRPr>
          </a:p>
        </p:txBody>
      </p:sp>
      <p:sp>
        <p:nvSpPr>
          <p:cNvPr id="446" name="Rectangle 329"/>
          <p:cNvSpPr>
            <a:spLocks noChangeArrowheads="1"/>
          </p:cNvSpPr>
          <p:nvPr/>
        </p:nvSpPr>
        <p:spPr bwMode="auto">
          <a:xfrm>
            <a:off x="7534276" y="2884115"/>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7" name="Rectangle 330"/>
          <p:cNvSpPr>
            <a:spLocks noChangeArrowheads="1"/>
          </p:cNvSpPr>
          <p:nvPr/>
        </p:nvSpPr>
        <p:spPr bwMode="auto">
          <a:xfrm>
            <a:off x="7121563" y="2785847"/>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1.1.1.10</a:t>
            </a:r>
            <a:endParaRPr lang="en-US" altLang="zh-CN" sz="1050" b="1" dirty="0">
              <a:latin typeface="微软雅黑" panose="020B0503020204020204" pitchFamily="34" charset="-122"/>
              <a:ea typeface="微软雅黑" panose="020B0503020204020204" pitchFamily="34" charset="-122"/>
            </a:endParaRPr>
          </a:p>
        </p:txBody>
      </p:sp>
      <p:sp>
        <p:nvSpPr>
          <p:cNvPr id="448" name="Rectangle 331"/>
          <p:cNvSpPr>
            <a:spLocks noChangeArrowheads="1"/>
          </p:cNvSpPr>
          <p:nvPr/>
        </p:nvSpPr>
        <p:spPr bwMode="auto">
          <a:xfrm>
            <a:off x="7534276" y="2313704"/>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9" name="Rectangle 332"/>
          <p:cNvSpPr>
            <a:spLocks noChangeArrowheads="1"/>
          </p:cNvSpPr>
          <p:nvPr/>
        </p:nvSpPr>
        <p:spPr bwMode="auto">
          <a:xfrm>
            <a:off x="7611879" y="2381476"/>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1.1.1.9</a:t>
            </a:r>
            <a:endParaRPr lang="en-US" altLang="zh-CN" sz="1050" b="1" dirty="0">
              <a:latin typeface="微软雅黑" panose="020B0503020204020204" pitchFamily="34" charset="-122"/>
              <a:ea typeface="微软雅黑" panose="020B0503020204020204" pitchFamily="34" charset="-122"/>
            </a:endParaRPr>
          </a:p>
        </p:txBody>
      </p:sp>
      <p:sp>
        <p:nvSpPr>
          <p:cNvPr id="450" name="Rectangle 334"/>
          <p:cNvSpPr>
            <a:spLocks noChangeArrowheads="1"/>
          </p:cNvSpPr>
          <p:nvPr/>
        </p:nvSpPr>
        <p:spPr bwMode="auto">
          <a:xfrm>
            <a:off x="6921131" y="3366423"/>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1.1.1.12</a:t>
            </a:r>
            <a:endParaRPr lang="en-US" altLang="zh-CN" sz="1050" b="1" dirty="0">
              <a:latin typeface="微软雅黑" panose="020B0503020204020204" pitchFamily="34" charset="-122"/>
              <a:ea typeface="微软雅黑" panose="020B0503020204020204" pitchFamily="34" charset="-122"/>
            </a:endParaRPr>
          </a:p>
        </p:txBody>
      </p:sp>
      <p:sp>
        <p:nvSpPr>
          <p:cNvPr id="451" name="Rectangle 335"/>
          <p:cNvSpPr>
            <a:spLocks noChangeArrowheads="1"/>
          </p:cNvSpPr>
          <p:nvPr/>
        </p:nvSpPr>
        <p:spPr bwMode="auto">
          <a:xfrm>
            <a:off x="5494415" y="3608142"/>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2" name="Rectangle 336"/>
          <p:cNvSpPr>
            <a:spLocks noChangeArrowheads="1"/>
          </p:cNvSpPr>
          <p:nvPr/>
        </p:nvSpPr>
        <p:spPr bwMode="auto">
          <a:xfrm>
            <a:off x="5893152" y="3353998"/>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1.1.1.11</a:t>
            </a:r>
            <a:endParaRPr lang="en-US" altLang="zh-CN" sz="1050" b="1" dirty="0">
              <a:latin typeface="微软雅黑" panose="020B0503020204020204" pitchFamily="34" charset="-122"/>
              <a:ea typeface="微软雅黑" panose="020B0503020204020204" pitchFamily="34" charset="-122"/>
            </a:endParaRPr>
          </a:p>
        </p:txBody>
      </p:sp>
      <p:sp>
        <p:nvSpPr>
          <p:cNvPr id="453" name="Oval 337"/>
          <p:cNvSpPr>
            <a:spLocks noChangeArrowheads="1"/>
          </p:cNvSpPr>
          <p:nvPr/>
        </p:nvSpPr>
        <p:spPr bwMode="auto">
          <a:xfrm>
            <a:off x="6821988" y="3439842"/>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4" name="Rectangle 338"/>
          <p:cNvSpPr>
            <a:spLocks noChangeArrowheads="1"/>
          </p:cNvSpPr>
          <p:nvPr/>
        </p:nvSpPr>
        <p:spPr bwMode="auto">
          <a:xfrm>
            <a:off x="6397940" y="2247062"/>
            <a:ext cx="434209"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5" name="Rectangle 339"/>
          <p:cNvSpPr>
            <a:spLocks noChangeArrowheads="1"/>
          </p:cNvSpPr>
          <p:nvPr/>
        </p:nvSpPr>
        <p:spPr bwMode="auto">
          <a:xfrm>
            <a:off x="6587986" y="2058318"/>
            <a:ext cx="70224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u="sng" dirty="0">
                <a:latin typeface="微软雅黑" panose="020B0503020204020204" pitchFamily="34" charset="-122"/>
                <a:ea typeface="微软雅黑" panose="020B0503020204020204" pitchFamily="34" charset="-122"/>
              </a:rPr>
              <a:t>1.1.1.8/29</a:t>
            </a:r>
          </a:p>
        </p:txBody>
      </p:sp>
      <p:sp>
        <p:nvSpPr>
          <p:cNvPr id="456" name="Rectangle 340"/>
          <p:cNvSpPr>
            <a:spLocks noChangeArrowheads="1"/>
          </p:cNvSpPr>
          <p:nvPr/>
        </p:nvSpPr>
        <p:spPr bwMode="auto">
          <a:xfrm>
            <a:off x="6433047" y="2096835"/>
            <a:ext cx="349215"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7" name="Oval 396"/>
          <p:cNvSpPr>
            <a:spLocks noChangeArrowheads="1"/>
          </p:cNvSpPr>
          <p:nvPr/>
        </p:nvSpPr>
        <p:spPr bwMode="auto">
          <a:xfrm>
            <a:off x="4635235" y="308630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8" name="Oval 397"/>
          <p:cNvSpPr>
            <a:spLocks noChangeArrowheads="1"/>
          </p:cNvSpPr>
          <p:nvPr/>
        </p:nvSpPr>
        <p:spPr bwMode="auto">
          <a:xfrm>
            <a:off x="5441756" y="3082912"/>
            <a:ext cx="45268" cy="46311"/>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9" name="Oval 398"/>
          <p:cNvSpPr>
            <a:spLocks noChangeArrowheads="1"/>
          </p:cNvSpPr>
          <p:nvPr/>
        </p:nvSpPr>
        <p:spPr bwMode="auto">
          <a:xfrm>
            <a:off x="5641308" y="2899928"/>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0" name="Oval 399"/>
          <p:cNvSpPr>
            <a:spLocks noChangeArrowheads="1"/>
          </p:cNvSpPr>
          <p:nvPr/>
        </p:nvSpPr>
        <p:spPr bwMode="auto">
          <a:xfrm>
            <a:off x="5215413" y="229789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1" name="Oval 400"/>
          <p:cNvSpPr>
            <a:spLocks noChangeArrowheads="1"/>
          </p:cNvSpPr>
          <p:nvPr/>
        </p:nvSpPr>
        <p:spPr bwMode="auto">
          <a:xfrm>
            <a:off x="4411663" y="2842323"/>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2" name="Oval 401"/>
          <p:cNvSpPr>
            <a:spLocks noChangeArrowheads="1"/>
          </p:cNvSpPr>
          <p:nvPr/>
        </p:nvSpPr>
        <p:spPr bwMode="auto">
          <a:xfrm>
            <a:off x="4891142" y="2310315"/>
            <a:ext cx="44345" cy="46311"/>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3" name="Rectangle 402"/>
          <p:cNvSpPr>
            <a:spLocks noChangeArrowheads="1"/>
          </p:cNvSpPr>
          <p:nvPr/>
        </p:nvSpPr>
        <p:spPr bwMode="auto">
          <a:xfrm>
            <a:off x="5298559" y="2127332"/>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4" name="Rectangle 403"/>
          <p:cNvSpPr>
            <a:spLocks noChangeArrowheads="1"/>
          </p:cNvSpPr>
          <p:nvPr/>
        </p:nvSpPr>
        <p:spPr bwMode="auto">
          <a:xfrm>
            <a:off x="5308722" y="2210917"/>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1.1.1.24</a:t>
            </a:r>
            <a:endParaRPr lang="en-US" altLang="zh-CN" sz="1050" b="1" dirty="0">
              <a:latin typeface="微软雅黑" panose="020B0503020204020204" pitchFamily="34" charset="-122"/>
              <a:ea typeface="微软雅黑" panose="020B0503020204020204" pitchFamily="34" charset="-122"/>
            </a:endParaRPr>
          </a:p>
        </p:txBody>
      </p:sp>
      <p:sp>
        <p:nvSpPr>
          <p:cNvPr id="465" name="Rectangle 404"/>
          <p:cNvSpPr>
            <a:spLocks noChangeArrowheads="1"/>
          </p:cNvSpPr>
          <p:nvPr/>
        </p:nvSpPr>
        <p:spPr bwMode="auto">
          <a:xfrm>
            <a:off x="4371938" y="2201881"/>
            <a:ext cx="48779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6" name="Rectangle 405"/>
          <p:cNvSpPr>
            <a:spLocks noChangeArrowheads="1"/>
          </p:cNvSpPr>
          <p:nvPr/>
        </p:nvSpPr>
        <p:spPr bwMode="auto">
          <a:xfrm>
            <a:off x="4362649" y="2195104"/>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1.1.1.26</a:t>
            </a:r>
            <a:endParaRPr lang="en-US" altLang="zh-CN" sz="1050" b="1" dirty="0">
              <a:latin typeface="微软雅黑" panose="020B0503020204020204" pitchFamily="34" charset="-122"/>
              <a:ea typeface="微软雅黑" panose="020B0503020204020204" pitchFamily="34" charset="-122"/>
            </a:endParaRPr>
          </a:p>
        </p:txBody>
      </p:sp>
      <p:sp>
        <p:nvSpPr>
          <p:cNvPr id="467" name="Rectangle 406"/>
          <p:cNvSpPr>
            <a:spLocks noChangeArrowheads="1"/>
          </p:cNvSpPr>
          <p:nvPr/>
        </p:nvSpPr>
        <p:spPr bwMode="auto">
          <a:xfrm>
            <a:off x="4015332" y="2539610"/>
            <a:ext cx="488716"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8" name="Rectangle 407"/>
          <p:cNvSpPr>
            <a:spLocks noChangeArrowheads="1"/>
          </p:cNvSpPr>
          <p:nvPr/>
        </p:nvSpPr>
        <p:spPr bwMode="auto">
          <a:xfrm>
            <a:off x="3944777" y="2674433"/>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latin typeface="微软雅黑" panose="020B0503020204020204" pitchFamily="34" charset="-122"/>
                <a:ea typeface="微软雅黑" panose="020B0503020204020204" pitchFamily="34" charset="-122"/>
              </a:rPr>
              <a:t>1.1.1.27</a:t>
            </a:r>
          </a:p>
        </p:txBody>
      </p:sp>
      <p:sp>
        <p:nvSpPr>
          <p:cNvPr id="469" name="Rectangle 408"/>
          <p:cNvSpPr>
            <a:spLocks noChangeArrowheads="1"/>
          </p:cNvSpPr>
          <p:nvPr/>
        </p:nvSpPr>
        <p:spPr bwMode="auto">
          <a:xfrm>
            <a:off x="5631145" y="2471838"/>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0" name="Rectangle 409"/>
          <p:cNvSpPr>
            <a:spLocks noChangeArrowheads="1"/>
          </p:cNvSpPr>
          <p:nvPr/>
        </p:nvSpPr>
        <p:spPr bwMode="auto">
          <a:xfrm>
            <a:off x="5693967" y="2774551"/>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1.1.1.25</a:t>
            </a:r>
            <a:endParaRPr lang="en-US" altLang="zh-CN" sz="1050" b="1">
              <a:latin typeface="微软雅黑" panose="020B0503020204020204" pitchFamily="34" charset="-122"/>
              <a:ea typeface="微软雅黑" panose="020B0503020204020204" pitchFamily="34" charset="-122"/>
            </a:endParaRPr>
          </a:p>
        </p:txBody>
      </p:sp>
      <p:sp>
        <p:nvSpPr>
          <p:cNvPr id="471" name="Rectangle 410"/>
          <p:cNvSpPr>
            <a:spLocks noChangeArrowheads="1"/>
          </p:cNvSpPr>
          <p:nvPr/>
        </p:nvSpPr>
        <p:spPr bwMode="auto">
          <a:xfrm>
            <a:off x="5366924" y="2925908"/>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2" name="Rectangle 411"/>
          <p:cNvSpPr>
            <a:spLocks noChangeArrowheads="1"/>
          </p:cNvSpPr>
          <p:nvPr/>
        </p:nvSpPr>
        <p:spPr bwMode="auto">
          <a:xfrm>
            <a:off x="5295788" y="3158590"/>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1.1.1.29</a:t>
            </a:r>
            <a:endParaRPr lang="en-US" altLang="zh-CN" sz="1050" b="1" dirty="0">
              <a:latin typeface="微软雅黑" panose="020B0503020204020204" pitchFamily="34" charset="-122"/>
              <a:ea typeface="微软雅黑" panose="020B0503020204020204" pitchFamily="34" charset="-122"/>
            </a:endParaRPr>
          </a:p>
        </p:txBody>
      </p:sp>
      <p:sp>
        <p:nvSpPr>
          <p:cNvPr id="473" name="Rectangle 412"/>
          <p:cNvSpPr>
            <a:spLocks noChangeArrowheads="1"/>
          </p:cNvSpPr>
          <p:nvPr/>
        </p:nvSpPr>
        <p:spPr bwMode="auto">
          <a:xfrm>
            <a:off x="4505896" y="2925908"/>
            <a:ext cx="487793"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4" name="Rectangle 413"/>
          <p:cNvSpPr>
            <a:spLocks noChangeArrowheads="1"/>
          </p:cNvSpPr>
          <p:nvPr/>
        </p:nvSpPr>
        <p:spPr bwMode="auto">
          <a:xfrm>
            <a:off x="4419054" y="3149554"/>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latin typeface="微软雅黑" panose="020B0503020204020204" pitchFamily="34" charset="-122"/>
                <a:ea typeface="微软雅黑" panose="020B0503020204020204" pitchFamily="34" charset="-122"/>
              </a:rPr>
              <a:t>1.1.1.28</a:t>
            </a:r>
          </a:p>
        </p:txBody>
      </p:sp>
      <p:sp>
        <p:nvSpPr>
          <p:cNvPr id="475" name="Rectangle 414"/>
          <p:cNvSpPr>
            <a:spLocks noChangeArrowheads="1"/>
          </p:cNvSpPr>
          <p:nvPr/>
        </p:nvSpPr>
        <p:spPr bwMode="auto">
          <a:xfrm>
            <a:off x="2822591" y="2431699"/>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6" name="Rectangle 415"/>
          <p:cNvSpPr>
            <a:spLocks noChangeArrowheads="1"/>
          </p:cNvSpPr>
          <p:nvPr/>
        </p:nvSpPr>
        <p:spPr bwMode="auto">
          <a:xfrm>
            <a:off x="2852904" y="2455549"/>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1.1.1.17</a:t>
            </a:r>
            <a:endParaRPr lang="en-US" altLang="zh-CN" sz="1050" b="1" dirty="0">
              <a:latin typeface="微软雅黑" panose="020B0503020204020204" pitchFamily="34" charset="-122"/>
              <a:ea typeface="微软雅黑" panose="020B0503020204020204" pitchFamily="34" charset="-122"/>
            </a:endParaRPr>
          </a:p>
        </p:txBody>
      </p:sp>
      <p:sp>
        <p:nvSpPr>
          <p:cNvPr id="477" name="Rectangle 416"/>
          <p:cNvSpPr>
            <a:spLocks noChangeArrowheads="1"/>
          </p:cNvSpPr>
          <p:nvPr/>
        </p:nvSpPr>
        <p:spPr bwMode="auto">
          <a:xfrm>
            <a:off x="3801922" y="2958664"/>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8" name="Rectangle 417"/>
          <p:cNvSpPr>
            <a:spLocks noChangeArrowheads="1"/>
          </p:cNvSpPr>
          <p:nvPr/>
        </p:nvSpPr>
        <p:spPr bwMode="auto">
          <a:xfrm>
            <a:off x="3631876" y="3129549"/>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latin typeface="微软雅黑" panose="020B0503020204020204" pitchFamily="34" charset="-122"/>
                <a:ea typeface="微软雅黑" panose="020B0503020204020204" pitchFamily="34" charset="-122"/>
              </a:rPr>
              <a:t>1.1.1.19</a:t>
            </a:r>
          </a:p>
        </p:txBody>
      </p:sp>
      <p:sp>
        <p:nvSpPr>
          <p:cNvPr id="479" name="Rectangle 418"/>
          <p:cNvSpPr>
            <a:spLocks noChangeArrowheads="1"/>
          </p:cNvSpPr>
          <p:nvPr/>
        </p:nvSpPr>
        <p:spPr bwMode="auto">
          <a:xfrm>
            <a:off x="2822591" y="3164762"/>
            <a:ext cx="488717"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0" name="Rectangle 419"/>
          <p:cNvSpPr>
            <a:spLocks noChangeArrowheads="1"/>
          </p:cNvSpPr>
          <p:nvPr/>
        </p:nvSpPr>
        <p:spPr bwMode="auto">
          <a:xfrm>
            <a:off x="2922380" y="3017614"/>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1.1.1.18</a:t>
            </a:r>
            <a:endParaRPr lang="en-US" altLang="zh-CN" sz="1050" b="1" dirty="0">
              <a:latin typeface="微软雅黑" panose="020B0503020204020204" pitchFamily="34" charset="-122"/>
              <a:ea typeface="微软雅黑" panose="020B0503020204020204" pitchFamily="34" charset="-122"/>
            </a:endParaRPr>
          </a:p>
        </p:txBody>
      </p:sp>
      <p:sp>
        <p:nvSpPr>
          <p:cNvPr id="481" name="Oval 421"/>
          <p:cNvSpPr>
            <a:spLocks noChangeArrowheads="1"/>
          </p:cNvSpPr>
          <p:nvPr/>
        </p:nvSpPr>
        <p:spPr bwMode="auto">
          <a:xfrm>
            <a:off x="3416419" y="2504298"/>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2" name="Rectangle 423"/>
          <p:cNvSpPr>
            <a:spLocks noChangeArrowheads="1"/>
          </p:cNvSpPr>
          <p:nvPr/>
        </p:nvSpPr>
        <p:spPr bwMode="auto">
          <a:xfrm>
            <a:off x="4322974" y="2988031"/>
            <a:ext cx="200476"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3" name="Rectangle 424"/>
          <p:cNvSpPr>
            <a:spLocks noChangeArrowheads="1"/>
          </p:cNvSpPr>
          <p:nvPr/>
        </p:nvSpPr>
        <p:spPr bwMode="auto">
          <a:xfrm>
            <a:off x="4477257" y="2873950"/>
            <a:ext cx="150682"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FF"/>
                </a:solidFill>
                <a:latin typeface="微软雅黑" panose="020B0503020204020204" pitchFamily="34" charset="-122"/>
                <a:ea typeface="微软雅黑" panose="020B0503020204020204" pitchFamily="34" charset="-122"/>
              </a:rPr>
              <a:t>R</a:t>
            </a:r>
            <a:r>
              <a:rPr lang="en-US" altLang="zh-CN" sz="1050" b="1" baseline="-25000" dirty="0">
                <a:solidFill>
                  <a:srgbClr val="0000FF"/>
                </a:solidFill>
                <a:latin typeface="微软雅黑" panose="020B0503020204020204" pitchFamily="34" charset="-122"/>
                <a:ea typeface="微软雅黑" panose="020B0503020204020204" pitchFamily="34" charset="-122"/>
              </a:rPr>
              <a:t>3</a:t>
            </a:r>
          </a:p>
        </p:txBody>
      </p:sp>
      <p:sp>
        <p:nvSpPr>
          <p:cNvPr id="484" name="Rectangle 427"/>
          <p:cNvSpPr>
            <a:spLocks noChangeArrowheads="1"/>
          </p:cNvSpPr>
          <p:nvPr/>
        </p:nvSpPr>
        <p:spPr bwMode="auto">
          <a:xfrm>
            <a:off x="5454690" y="2872820"/>
            <a:ext cx="150682"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FF"/>
                </a:solidFill>
                <a:latin typeface="微软雅黑" panose="020B0503020204020204" pitchFamily="34" charset="-122"/>
                <a:ea typeface="微软雅黑" panose="020B0503020204020204" pitchFamily="34" charset="-122"/>
              </a:rPr>
              <a:t>R</a:t>
            </a:r>
            <a:r>
              <a:rPr lang="en-US" altLang="zh-CN" sz="1050" b="1" baseline="-25000">
                <a:solidFill>
                  <a:srgbClr val="0000FF"/>
                </a:solidFill>
                <a:latin typeface="微软雅黑" panose="020B0503020204020204" pitchFamily="34" charset="-122"/>
                <a:ea typeface="微软雅黑" panose="020B0503020204020204" pitchFamily="34" charset="-122"/>
              </a:rPr>
              <a:t>2</a:t>
            </a:r>
          </a:p>
        </p:txBody>
      </p:sp>
      <p:sp>
        <p:nvSpPr>
          <p:cNvPr id="485" name="Rectangle 429"/>
          <p:cNvSpPr>
            <a:spLocks noChangeArrowheads="1"/>
          </p:cNvSpPr>
          <p:nvPr/>
        </p:nvSpPr>
        <p:spPr bwMode="auto">
          <a:xfrm>
            <a:off x="3287338" y="1885613"/>
            <a:ext cx="43513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6" name="Rectangle 430"/>
          <p:cNvSpPr>
            <a:spLocks noChangeArrowheads="1"/>
          </p:cNvSpPr>
          <p:nvPr/>
        </p:nvSpPr>
        <p:spPr bwMode="auto">
          <a:xfrm>
            <a:off x="3330759" y="1837347"/>
            <a:ext cx="763029"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u="sng" dirty="0">
                <a:latin typeface="微软雅黑" panose="020B0503020204020204" pitchFamily="34" charset="-122"/>
                <a:ea typeface="微软雅黑" panose="020B0503020204020204" pitchFamily="34" charset="-122"/>
              </a:rPr>
              <a:t>1.1.1.16/29</a:t>
            </a:r>
          </a:p>
        </p:txBody>
      </p:sp>
      <p:sp>
        <p:nvSpPr>
          <p:cNvPr id="487" name="Rectangle 431"/>
          <p:cNvSpPr>
            <a:spLocks noChangeArrowheads="1"/>
          </p:cNvSpPr>
          <p:nvPr/>
        </p:nvSpPr>
        <p:spPr bwMode="auto">
          <a:xfrm>
            <a:off x="3303044" y="1733128"/>
            <a:ext cx="348292"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8" name="Rectangle 432"/>
          <p:cNvSpPr>
            <a:spLocks noChangeArrowheads="1"/>
          </p:cNvSpPr>
          <p:nvPr/>
        </p:nvSpPr>
        <p:spPr bwMode="auto">
          <a:xfrm>
            <a:off x="3345541" y="1684861"/>
            <a:ext cx="344646"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LAN</a:t>
            </a:r>
            <a:r>
              <a:rPr lang="en-US" altLang="zh-CN" sz="1050" b="1" baseline="-25000" dirty="0">
                <a:solidFill>
                  <a:srgbClr val="000000"/>
                </a:solidFill>
                <a:latin typeface="微软雅黑" panose="020B0503020204020204" pitchFamily="34" charset="-122"/>
                <a:ea typeface="微软雅黑" panose="020B0503020204020204" pitchFamily="34" charset="-122"/>
              </a:rPr>
              <a:t>3</a:t>
            </a:r>
            <a:endParaRPr lang="en-US" altLang="zh-CN" sz="1050" b="1" baseline="-25000" dirty="0">
              <a:latin typeface="微软雅黑" panose="020B0503020204020204" pitchFamily="34" charset="-122"/>
              <a:ea typeface="微软雅黑" panose="020B0503020204020204" pitchFamily="34" charset="-122"/>
            </a:endParaRPr>
          </a:p>
        </p:txBody>
      </p:sp>
      <p:sp>
        <p:nvSpPr>
          <p:cNvPr id="489" name="Rectangle 434"/>
          <p:cNvSpPr>
            <a:spLocks noChangeArrowheads="1"/>
          </p:cNvSpPr>
          <p:nvPr/>
        </p:nvSpPr>
        <p:spPr bwMode="auto">
          <a:xfrm>
            <a:off x="5013090" y="2653692"/>
            <a:ext cx="201399"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0" name="Rectangle 438"/>
          <p:cNvSpPr>
            <a:spLocks noChangeArrowheads="1"/>
          </p:cNvSpPr>
          <p:nvPr/>
        </p:nvSpPr>
        <p:spPr bwMode="auto">
          <a:xfrm>
            <a:off x="5509197" y="2471838"/>
            <a:ext cx="16991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C00000"/>
                </a:solidFill>
                <a:latin typeface="微软雅黑" panose="020B0503020204020204" pitchFamily="34" charset="-122"/>
                <a:ea typeface="微软雅黑" panose="020B0503020204020204" pitchFamily="34" charset="-122"/>
              </a:rPr>
              <a:t>N</a:t>
            </a:r>
            <a:r>
              <a:rPr lang="en-US" altLang="zh-CN" sz="1050" b="1" baseline="-25000">
                <a:solidFill>
                  <a:srgbClr val="C00000"/>
                </a:solidFill>
                <a:latin typeface="微软雅黑" panose="020B0503020204020204" pitchFamily="34" charset="-122"/>
                <a:ea typeface="微软雅黑" panose="020B0503020204020204" pitchFamily="34" charset="-122"/>
              </a:rPr>
              <a:t>1</a:t>
            </a:r>
          </a:p>
        </p:txBody>
      </p:sp>
      <p:sp>
        <p:nvSpPr>
          <p:cNvPr id="491" name="Rectangle 440"/>
          <p:cNvSpPr>
            <a:spLocks noChangeArrowheads="1"/>
          </p:cNvSpPr>
          <p:nvPr/>
        </p:nvSpPr>
        <p:spPr bwMode="auto">
          <a:xfrm>
            <a:off x="4692514" y="2501206"/>
            <a:ext cx="200476"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2" name="Rectangle 441"/>
          <p:cNvSpPr>
            <a:spLocks noChangeArrowheads="1"/>
          </p:cNvSpPr>
          <p:nvPr/>
        </p:nvSpPr>
        <p:spPr bwMode="auto">
          <a:xfrm>
            <a:off x="3823412" y="2428183"/>
            <a:ext cx="16991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C00000"/>
                </a:solidFill>
                <a:latin typeface="微软雅黑" panose="020B0503020204020204" pitchFamily="34" charset="-122"/>
                <a:ea typeface="微软雅黑" panose="020B0503020204020204" pitchFamily="34" charset="-122"/>
              </a:rPr>
              <a:t>N</a:t>
            </a:r>
            <a:r>
              <a:rPr lang="en-US" altLang="zh-CN" sz="1050" b="1" baseline="-25000" dirty="0">
                <a:solidFill>
                  <a:srgbClr val="C00000"/>
                </a:solidFill>
                <a:latin typeface="微软雅黑" panose="020B0503020204020204" pitchFamily="34" charset="-122"/>
                <a:ea typeface="微软雅黑" panose="020B0503020204020204" pitchFamily="34" charset="-122"/>
              </a:rPr>
              <a:t>2</a:t>
            </a:r>
          </a:p>
        </p:txBody>
      </p:sp>
      <p:sp>
        <p:nvSpPr>
          <p:cNvPr id="493" name="Rectangle 444"/>
          <p:cNvSpPr>
            <a:spLocks noChangeArrowheads="1"/>
          </p:cNvSpPr>
          <p:nvPr/>
        </p:nvSpPr>
        <p:spPr bwMode="auto">
          <a:xfrm>
            <a:off x="4848006" y="3345394"/>
            <a:ext cx="72135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b="1" u="sng" dirty="0">
                <a:solidFill>
                  <a:srgbClr val="C00000"/>
                </a:solidFill>
                <a:latin typeface="微软雅黑" panose="020B0503020204020204" pitchFamily="34" charset="-122"/>
                <a:ea typeface="微软雅黑" panose="020B0503020204020204" pitchFamily="34" charset="-122"/>
              </a:rPr>
              <a:t>1.1.1.28/31</a:t>
            </a:r>
          </a:p>
        </p:txBody>
      </p:sp>
      <p:sp>
        <p:nvSpPr>
          <p:cNvPr id="494" name="Rectangle 445"/>
          <p:cNvSpPr>
            <a:spLocks noChangeArrowheads="1"/>
          </p:cNvSpPr>
          <p:nvPr/>
        </p:nvSpPr>
        <p:spPr bwMode="auto">
          <a:xfrm>
            <a:off x="4834787" y="2501206"/>
            <a:ext cx="43605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5" name="Rectangle 446"/>
          <p:cNvSpPr>
            <a:spLocks noChangeArrowheads="1"/>
          </p:cNvSpPr>
          <p:nvPr/>
        </p:nvSpPr>
        <p:spPr bwMode="auto">
          <a:xfrm>
            <a:off x="3993712" y="2436809"/>
            <a:ext cx="72135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b="1" u="sng" dirty="0">
                <a:solidFill>
                  <a:srgbClr val="C00000"/>
                </a:solidFill>
                <a:latin typeface="微软雅黑" panose="020B0503020204020204" pitchFamily="34" charset="-122"/>
                <a:ea typeface="微软雅黑" panose="020B0503020204020204" pitchFamily="34" charset="-122"/>
              </a:rPr>
              <a:t>1.1.1.26/31</a:t>
            </a:r>
          </a:p>
        </p:txBody>
      </p:sp>
      <p:sp>
        <p:nvSpPr>
          <p:cNvPr id="496" name="Rectangle 448"/>
          <p:cNvSpPr>
            <a:spLocks noChangeArrowheads="1"/>
          </p:cNvSpPr>
          <p:nvPr/>
        </p:nvSpPr>
        <p:spPr bwMode="auto">
          <a:xfrm>
            <a:off x="5685974" y="2479744"/>
            <a:ext cx="72135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b="1" u="sng" dirty="0">
                <a:solidFill>
                  <a:srgbClr val="C00000"/>
                </a:solidFill>
                <a:latin typeface="微软雅黑" panose="020B0503020204020204" pitchFamily="34" charset="-122"/>
                <a:ea typeface="微软雅黑" panose="020B0503020204020204" pitchFamily="34" charset="-122"/>
              </a:rPr>
              <a:t>1.1.1.24/31</a:t>
            </a:r>
          </a:p>
        </p:txBody>
      </p:sp>
      <p:sp>
        <p:nvSpPr>
          <p:cNvPr id="497" name="Rectangle 435"/>
          <p:cNvSpPr>
            <a:spLocks noChangeArrowheads="1"/>
          </p:cNvSpPr>
          <p:nvPr/>
        </p:nvSpPr>
        <p:spPr bwMode="auto">
          <a:xfrm>
            <a:off x="4669080" y="3337488"/>
            <a:ext cx="16991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C00000"/>
                </a:solidFill>
                <a:latin typeface="微软雅黑" panose="020B0503020204020204" pitchFamily="34" charset="-122"/>
                <a:ea typeface="微软雅黑" panose="020B0503020204020204" pitchFamily="34" charset="-122"/>
              </a:rPr>
              <a:t>N</a:t>
            </a:r>
            <a:r>
              <a:rPr lang="en-US" altLang="zh-CN" sz="1050" b="1" baseline="-25000" dirty="0">
                <a:solidFill>
                  <a:srgbClr val="C00000"/>
                </a:solidFill>
                <a:latin typeface="微软雅黑" panose="020B0503020204020204" pitchFamily="34" charset="-122"/>
                <a:ea typeface="微软雅黑" panose="020B0503020204020204" pitchFamily="34" charset="-122"/>
              </a:rPr>
              <a:t>3</a:t>
            </a:r>
          </a:p>
        </p:txBody>
      </p:sp>
      <p:sp>
        <p:nvSpPr>
          <p:cNvPr id="498" name="Line 460"/>
          <p:cNvSpPr>
            <a:spLocks noChangeShapeType="1"/>
          </p:cNvSpPr>
          <p:nvPr/>
        </p:nvSpPr>
        <p:spPr bwMode="auto">
          <a:xfrm>
            <a:off x="5843630" y="3062580"/>
            <a:ext cx="67071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9" name="Oval 29"/>
          <p:cNvSpPr>
            <a:spLocks noChangeArrowheads="1"/>
          </p:cNvSpPr>
          <p:nvPr/>
        </p:nvSpPr>
        <p:spPr bwMode="auto">
          <a:xfrm>
            <a:off x="5969274" y="3034342"/>
            <a:ext cx="58203" cy="60994"/>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0" name="Rectangle 341"/>
          <p:cNvSpPr>
            <a:spLocks noChangeArrowheads="1"/>
          </p:cNvSpPr>
          <p:nvPr/>
        </p:nvSpPr>
        <p:spPr bwMode="auto">
          <a:xfrm>
            <a:off x="6650808" y="1896077"/>
            <a:ext cx="468706" cy="1627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LAN</a:t>
            </a:r>
            <a:r>
              <a:rPr lang="en-US" altLang="zh-CN" sz="1050" b="1" baseline="-25000" dirty="0">
                <a:solidFill>
                  <a:srgbClr val="000000"/>
                </a:solidFill>
                <a:latin typeface="微软雅黑" panose="020B0503020204020204" pitchFamily="34" charset="-122"/>
                <a:ea typeface="微软雅黑" panose="020B0503020204020204" pitchFamily="34" charset="-122"/>
              </a:rPr>
              <a:t>2</a:t>
            </a:r>
            <a:endParaRPr lang="en-US" altLang="zh-CN" sz="1050" b="1" baseline="-25000" dirty="0">
              <a:latin typeface="微软雅黑" panose="020B0503020204020204" pitchFamily="34" charset="-122"/>
              <a:ea typeface="微软雅黑" panose="020B0503020204020204" pitchFamily="34" charset="-122"/>
            </a:endParaRPr>
          </a:p>
        </p:txBody>
      </p:sp>
      <p:sp>
        <p:nvSpPr>
          <p:cNvPr id="501" name="Rectangle 323"/>
          <p:cNvSpPr>
            <a:spLocks noChangeArrowheads="1"/>
          </p:cNvSpPr>
          <p:nvPr/>
        </p:nvSpPr>
        <p:spPr bwMode="auto">
          <a:xfrm>
            <a:off x="3856420" y="1157681"/>
            <a:ext cx="344646"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LAN</a:t>
            </a:r>
            <a:r>
              <a:rPr lang="en-US" altLang="zh-CN" sz="1050" b="1" baseline="-25000" dirty="0">
                <a:solidFill>
                  <a:srgbClr val="000000"/>
                </a:solidFill>
                <a:latin typeface="微软雅黑" panose="020B0503020204020204" pitchFamily="34" charset="-122"/>
                <a:ea typeface="微软雅黑" panose="020B0503020204020204" pitchFamily="34" charset="-122"/>
              </a:rPr>
              <a:t>1</a:t>
            </a:r>
            <a:endParaRPr lang="en-US" altLang="zh-CN" sz="1050" b="1" baseline="-25000" dirty="0">
              <a:latin typeface="微软雅黑" panose="020B0503020204020204" pitchFamily="34" charset="-122"/>
              <a:ea typeface="微软雅黑" panose="020B0503020204020204" pitchFamily="34" charset="-122"/>
            </a:endParaRPr>
          </a:p>
        </p:txBody>
      </p:sp>
      <p:sp>
        <p:nvSpPr>
          <p:cNvPr id="502" name="Line 471"/>
          <p:cNvSpPr>
            <a:spLocks noChangeShapeType="1"/>
          </p:cNvSpPr>
          <p:nvPr/>
        </p:nvSpPr>
        <p:spPr bwMode="auto">
          <a:xfrm>
            <a:off x="4586271" y="1474466"/>
            <a:ext cx="419428" cy="3072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3" name="Oval 316"/>
          <p:cNvSpPr>
            <a:spLocks noChangeArrowheads="1"/>
          </p:cNvSpPr>
          <p:nvPr/>
        </p:nvSpPr>
        <p:spPr bwMode="auto">
          <a:xfrm>
            <a:off x="4700829" y="1551273"/>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1" name="Group 201"/>
          <p:cNvGrpSpPr>
            <a:grpSpLocks/>
          </p:cNvGrpSpPr>
          <p:nvPr/>
        </p:nvGrpSpPr>
        <p:grpSpPr bwMode="auto">
          <a:xfrm>
            <a:off x="4419054" y="1270022"/>
            <a:ext cx="244820" cy="264309"/>
            <a:chOff x="1813" y="593"/>
            <a:chExt cx="343" cy="352"/>
          </a:xfrm>
        </p:grpSpPr>
        <p:grpSp>
          <p:nvGrpSpPr>
            <p:cNvPr id="192" name="Group 202"/>
            <p:cNvGrpSpPr>
              <a:grpSpLocks/>
            </p:cNvGrpSpPr>
            <p:nvPr/>
          </p:nvGrpSpPr>
          <p:grpSpPr bwMode="auto">
            <a:xfrm>
              <a:off x="1821" y="599"/>
              <a:ext cx="335" cy="346"/>
              <a:chOff x="1821" y="599"/>
              <a:chExt cx="335" cy="346"/>
            </a:xfrm>
          </p:grpSpPr>
          <p:sp>
            <p:nvSpPr>
              <p:cNvPr id="519" name="Freeform 203"/>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0" name="Freeform 204"/>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1" name="Freeform 205"/>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2" name="Freeform 206"/>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3" name="Rectangle 207"/>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4" name="Rectangle 208"/>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5" name="Rectangle 209"/>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6" name="Line 210"/>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3" name="Group 211"/>
              <p:cNvGrpSpPr>
                <a:grpSpLocks/>
              </p:cNvGrpSpPr>
              <p:nvPr/>
            </p:nvGrpSpPr>
            <p:grpSpPr bwMode="auto">
              <a:xfrm>
                <a:off x="1821" y="895"/>
                <a:ext cx="335" cy="50"/>
                <a:chOff x="1821" y="895"/>
                <a:chExt cx="335" cy="50"/>
              </a:xfrm>
            </p:grpSpPr>
            <p:sp>
              <p:nvSpPr>
                <p:cNvPr id="528" name="Freeform 212"/>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9" name="Freeform 213"/>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0" name="Rectangle 214"/>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4" name="Group 215"/>
            <p:cNvGrpSpPr>
              <a:grpSpLocks/>
            </p:cNvGrpSpPr>
            <p:nvPr/>
          </p:nvGrpSpPr>
          <p:grpSpPr bwMode="auto">
            <a:xfrm>
              <a:off x="1813" y="593"/>
              <a:ext cx="335" cy="346"/>
              <a:chOff x="1813" y="593"/>
              <a:chExt cx="335" cy="346"/>
            </a:xfrm>
          </p:grpSpPr>
          <p:sp>
            <p:nvSpPr>
              <p:cNvPr id="507" name="Freeform 216"/>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8" name="Freeform 217"/>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9" name="Freeform 218"/>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0" name="Freeform 219"/>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1" name="Rectangle 220"/>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2" name="Rectangle 221"/>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3" name="Rectangle 222"/>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4" name="Line 223"/>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5" name="Group 224"/>
              <p:cNvGrpSpPr>
                <a:grpSpLocks/>
              </p:cNvGrpSpPr>
              <p:nvPr/>
            </p:nvGrpSpPr>
            <p:grpSpPr bwMode="auto">
              <a:xfrm>
                <a:off x="1813" y="888"/>
                <a:ext cx="335" cy="51"/>
                <a:chOff x="1813" y="888"/>
                <a:chExt cx="335" cy="51"/>
              </a:xfrm>
            </p:grpSpPr>
            <p:sp>
              <p:nvSpPr>
                <p:cNvPr id="516" name="Freeform 225"/>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7" name="Freeform 226"/>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8" name="Rectangle 227"/>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531" name="Line 472"/>
          <p:cNvSpPr>
            <a:spLocks noChangeShapeType="1"/>
          </p:cNvSpPr>
          <p:nvPr/>
        </p:nvSpPr>
        <p:spPr bwMode="auto">
          <a:xfrm flipH="1">
            <a:off x="5256986" y="1597584"/>
            <a:ext cx="500727" cy="18411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2" name="Line 473"/>
          <p:cNvSpPr>
            <a:spLocks noChangeShapeType="1"/>
          </p:cNvSpPr>
          <p:nvPr/>
        </p:nvSpPr>
        <p:spPr bwMode="auto">
          <a:xfrm>
            <a:off x="5131343" y="1413471"/>
            <a:ext cx="0" cy="39985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3" name="Oval 317"/>
          <p:cNvSpPr>
            <a:spLocks noChangeArrowheads="1"/>
          </p:cNvSpPr>
          <p:nvPr/>
        </p:nvSpPr>
        <p:spPr bwMode="auto">
          <a:xfrm>
            <a:off x="5547075" y="1647284"/>
            <a:ext cx="44345"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96" name="Group 230"/>
          <p:cNvGrpSpPr>
            <a:grpSpLocks/>
          </p:cNvGrpSpPr>
          <p:nvPr/>
        </p:nvGrpSpPr>
        <p:grpSpPr bwMode="auto">
          <a:xfrm>
            <a:off x="5005699" y="1189825"/>
            <a:ext cx="244820" cy="264309"/>
            <a:chOff x="2868" y="593"/>
            <a:chExt cx="343" cy="352"/>
          </a:xfrm>
        </p:grpSpPr>
        <p:grpSp>
          <p:nvGrpSpPr>
            <p:cNvPr id="197" name="Group 231"/>
            <p:cNvGrpSpPr>
              <a:grpSpLocks/>
            </p:cNvGrpSpPr>
            <p:nvPr/>
          </p:nvGrpSpPr>
          <p:grpSpPr bwMode="auto">
            <a:xfrm>
              <a:off x="2877" y="599"/>
              <a:ext cx="334" cy="346"/>
              <a:chOff x="2877" y="599"/>
              <a:chExt cx="334" cy="346"/>
            </a:xfrm>
          </p:grpSpPr>
          <p:sp>
            <p:nvSpPr>
              <p:cNvPr id="549" name="Freeform 232"/>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0" name="Freeform 233"/>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1" name="Freeform 234"/>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2" name="Freeform 235"/>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3" name="Rectangle 236"/>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4" name="Rectangle 237"/>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5" name="Rectangle 238"/>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6" name="Line 239"/>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8" name="Group 240"/>
              <p:cNvGrpSpPr>
                <a:grpSpLocks/>
              </p:cNvGrpSpPr>
              <p:nvPr/>
            </p:nvGrpSpPr>
            <p:grpSpPr bwMode="auto">
              <a:xfrm>
                <a:off x="2877" y="895"/>
                <a:ext cx="334" cy="50"/>
                <a:chOff x="2877" y="895"/>
                <a:chExt cx="334" cy="50"/>
              </a:xfrm>
            </p:grpSpPr>
            <p:sp>
              <p:nvSpPr>
                <p:cNvPr id="558" name="Freeform 241"/>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9" name="Freeform 242"/>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0" name="Rectangle 243"/>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9" name="Group 244"/>
            <p:cNvGrpSpPr>
              <a:grpSpLocks/>
            </p:cNvGrpSpPr>
            <p:nvPr/>
          </p:nvGrpSpPr>
          <p:grpSpPr bwMode="auto">
            <a:xfrm>
              <a:off x="2868" y="593"/>
              <a:ext cx="335" cy="346"/>
              <a:chOff x="2868" y="593"/>
              <a:chExt cx="335" cy="346"/>
            </a:xfrm>
          </p:grpSpPr>
          <p:sp>
            <p:nvSpPr>
              <p:cNvPr id="537" name="Freeform 245"/>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8" name="Freeform 246"/>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9" name="Freeform 247"/>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0" name="Freeform 248"/>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1" name="Rectangle 249"/>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2" name="Rectangle 250"/>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3" name="Rectangle 251"/>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4" name="Line 252"/>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00" name="Group 253"/>
              <p:cNvGrpSpPr>
                <a:grpSpLocks/>
              </p:cNvGrpSpPr>
              <p:nvPr/>
            </p:nvGrpSpPr>
            <p:grpSpPr bwMode="auto">
              <a:xfrm>
                <a:off x="2868" y="888"/>
                <a:ext cx="335" cy="51"/>
                <a:chOff x="2868" y="888"/>
                <a:chExt cx="335" cy="51"/>
              </a:xfrm>
            </p:grpSpPr>
            <p:sp>
              <p:nvSpPr>
                <p:cNvPr id="546" name="Freeform 254"/>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7" name="Freeform 255"/>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8" name="Rectangle 256"/>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561" name="Oval 318"/>
          <p:cNvSpPr>
            <a:spLocks noChangeArrowheads="1"/>
          </p:cNvSpPr>
          <p:nvPr/>
        </p:nvSpPr>
        <p:spPr bwMode="auto">
          <a:xfrm>
            <a:off x="5110094" y="1546755"/>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01" name="Group 257"/>
          <p:cNvGrpSpPr>
            <a:grpSpLocks/>
          </p:cNvGrpSpPr>
          <p:nvPr/>
        </p:nvGrpSpPr>
        <p:grpSpPr bwMode="auto">
          <a:xfrm>
            <a:off x="5667175" y="1401047"/>
            <a:ext cx="244820" cy="264309"/>
            <a:chOff x="3915" y="593"/>
            <a:chExt cx="343" cy="352"/>
          </a:xfrm>
        </p:grpSpPr>
        <p:grpSp>
          <p:nvGrpSpPr>
            <p:cNvPr id="202" name="Group 258"/>
            <p:cNvGrpSpPr>
              <a:grpSpLocks/>
            </p:cNvGrpSpPr>
            <p:nvPr/>
          </p:nvGrpSpPr>
          <p:grpSpPr bwMode="auto">
            <a:xfrm>
              <a:off x="3924" y="599"/>
              <a:ext cx="334" cy="346"/>
              <a:chOff x="3924" y="599"/>
              <a:chExt cx="334" cy="346"/>
            </a:xfrm>
          </p:grpSpPr>
          <p:sp>
            <p:nvSpPr>
              <p:cNvPr id="577" name="Freeform 259"/>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8" name="Freeform 260"/>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9" name="Freeform 261"/>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0" name="Freeform 262"/>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1" name="Rectangle 263"/>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2" name="Rectangle 264"/>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3" name="Rectangle 265"/>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4" name="Line 266"/>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03" name="Group 267"/>
              <p:cNvGrpSpPr>
                <a:grpSpLocks/>
              </p:cNvGrpSpPr>
              <p:nvPr/>
            </p:nvGrpSpPr>
            <p:grpSpPr bwMode="auto">
              <a:xfrm>
                <a:off x="3924" y="895"/>
                <a:ext cx="334" cy="50"/>
                <a:chOff x="3924" y="895"/>
                <a:chExt cx="334" cy="50"/>
              </a:xfrm>
            </p:grpSpPr>
            <p:sp>
              <p:nvSpPr>
                <p:cNvPr id="586" name="Freeform 268"/>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7" name="Freeform 269"/>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8" name="Rectangle 270"/>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04" name="Group 271"/>
            <p:cNvGrpSpPr>
              <a:grpSpLocks/>
            </p:cNvGrpSpPr>
            <p:nvPr/>
          </p:nvGrpSpPr>
          <p:grpSpPr bwMode="auto">
            <a:xfrm>
              <a:off x="3915" y="593"/>
              <a:ext cx="335" cy="346"/>
              <a:chOff x="3915" y="593"/>
              <a:chExt cx="335" cy="346"/>
            </a:xfrm>
          </p:grpSpPr>
          <p:sp>
            <p:nvSpPr>
              <p:cNvPr id="565" name="Freeform 272"/>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6" name="Freeform 273"/>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7" name="Freeform 274"/>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8" name="Freeform 275"/>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9" name="Rectangle 276"/>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0" name="Rectangle 277"/>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1" name="Rectangle 278"/>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2" name="Line 279"/>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05" name="Group 280"/>
              <p:cNvGrpSpPr>
                <a:grpSpLocks/>
              </p:cNvGrpSpPr>
              <p:nvPr/>
            </p:nvGrpSpPr>
            <p:grpSpPr bwMode="auto">
              <a:xfrm>
                <a:off x="3915" y="888"/>
                <a:ext cx="335" cy="51"/>
                <a:chOff x="3915" y="888"/>
                <a:chExt cx="335" cy="51"/>
              </a:xfrm>
            </p:grpSpPr>
            <p:sp>
              <p:nvSpPr>
                <p:cNvPr id="574" name="Freeform 281"/>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5" name="Freeform 282"/>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6" name="Rectangle 283"/>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206" name="Group 370"/>
          <p:cNvGrpSpPr>
            <a:grpSpLocks/>
          </p:cNvGrpSpPr>
          <p:nvPr/>
        </p:nvGrpSpPr>
        <p:grpSpPr bwMode="auto">
          <a:xfrm>
            <a:off x="5578486" y="2981254"/>
            <a:ext cx="314109" cy="197668"/>
            <a:chOff x="3488" y="2569"/>
            <a:chExt cx="439" cy="262"/>
          </a:xfrm>
        </p:grpSpPr>
        <p:sp>
          <p:nvSpPr>
            <p:cNvPr id="590" name="Oval 371"/>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1" name="Rectangle 372"/>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2" name="Rectangle 373"/>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3" name="Oval 374"/>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07" name="Group 375"/>
            <p:cNvGrpSpPr>
              <a:grpSpLocks/>
            </p:cNvGrpSpPr>
            <p:nvPr/>
          </p:nvGrpSpPr>
          <p:grpSpPr bwMode="auto">
            <a:xfrm>
              <a:off x="3555" y="2587"/>
              <a:ext cx="304" cy="117"/>
              <a:chOff x="3555" y="2587"/>
              <a:chExt cx="304" cy="117"/>
            </a:xfrm>
          </p:grpSpPr>
          <p:grpSp>
            <p:nvGrpSpPr>
              <p:cNvPr id="208" name="Group 376"/>
              <p:cNvGrpSpPr>
                <a:grpSpLocks/>
              </p:cNvGrpSpPr>
              <p:nvPr/>
            </p:nvGrpSpPr>
            <p:grpSpPr bwMode="auto">
              <a:xfrm>
                <a:off x="3555" y="2587"/>
                <a:ext cx="301" cy="115"/>
                <a:chOff x="3555" y="2587"/>
                <a:chExt cx="301" cy="115"/>
              </a:xfrm>
            </p:grpSpPr>
            <p:sp>
              <p:nvSpPr>
                <p:cNvPr id="607" name="Freeform 377"/>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8" name="Freeform 378"/>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9" name="Freeform 379"/>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0" name="Freeform 380"/>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1" name="Freeform 381"/>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2" name="Freeform 382"/>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3" name="Freeform 383"/>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4" name="Freeform 384"/>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9" name="Group 385"/>
              <p:cNvGrpSpPr>
                <a:grpSpLocks/>
              </p:cNvGrpSpPr>
              <p:nvPr/>
            </p:nvGrpSpPr>
            <p:grpSpPr bwMode="auto">
              <a:xfrm>
                <a:off x="3557" y="2590"/>
                <a:ext cx="302" cy="114"/>
                <a:chOff x="3557" y="2590"/>
                <a:chExt cx="302" cy="114"/>
              </a:xfrm>
            </p:grpSpPr>
            <p:sp>
              <p:nvSpPr>
                <p:cNvPr id="599" name="Freeform 386"/>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0" name="Freeform 387"/>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1" name="Freeform 388"/>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2" name="Freeform 389"/>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3" name="Freeform 390"/>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4" name="Freeform 391"/>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5" name="Freeform 392"/>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6" name="Freeform 393"/>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595" name="Line 394"/>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96" name="Line 395"/>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615" name="Line 474"/>
          <p:cNvSpPr>
            <a:spLocks noChangeShapeType="1"/>
          </p:cNvSpPr>
          <p:nvPr/>
        </p:nvSpPr>
        <p:spPr bwMode="auto">
          <a:xfrm>
            <a:off x="3656878" y="2957865"/>
            <a:ext cx="631914" cy="13747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0" name="Group 344"/>
          <p:cNvGrpSpPr>
            <a:grpSpLocks/>
          </p:cNvGrpSpPr>
          <p:nvPr/>
        </p:nvGrpSpPr>
        <p:grpSpPr bwMode="auto">
          <a:xfrm>
            <a:off x="4171462" y="2981254"/>
            <a:ext cx="314109" cy="197668"/>
            <a:chOff x="1304" y="2569"/>
            <a:chExt cx="439" cy="262"/>
          </a:xfrm>
        </p:grpSpPr>
        <p:sp>
          <p:nvSpPr>
            <p:cNvPr id="617" name="Oval 345"/>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8" name="Rectangle 346"/>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9" name="Rectangle 347"/>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0" name="Oval 348"/>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11" name="Group 349"/>
            <p:cNvGrpSpPr>
              <a:grpSpLocks/>
            </p:cNvGrpSpPr>
            <p:nvPr/>
          </p:nvGrpSpPr>
          <p:grpSpPr bwMode="auto">
            <a:xfrm>
              <a:off x="1371" y="2587"/>
              <a:ext cx="304" cy="117"/>
              <a:chOff x="1371" y="2587"/>
              <a:chExt cx="304" cy="117"/>
            </a:xfrm>
          </p:grpSpPr>
          <p:grpSp>
            <p:nvGrpSpPr>
              <p:cNvPr id="212" name="Group 350"/>
              <p:cNvGrpSpPr>
                <a:grpSpLocks/>
              </p:cNvGrpSpPr>
              <p:nvPr/>
            </p:nvGrpSpPr>
            <p:grpSpPr bwMode="auto">
              <a:xfrm>
                <a:off x="1371" y="2587"/>
                <a:ext cx="301" cy="115"/>
                <a:chOff x="1371" y="2587"/>
                <a:chExt cx="301" cy="115"/>
              </a:xfrm>
            </p:grpSpPr>
            <p:sp>
              <p:nvSpPr>
                <p:cNvPr id="634" name="Freeform 351"/>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5" name="Freeform 352"/>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6" name="Freeform 353"/>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7" name="Freeform 354"/>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8" name="Freeform 355"/>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9" name="Freeform 356"/>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0" name="Freeform 357"/>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1" name="Freeform 358"/>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3" name="Group 359"/>
              <p:cNvGrpSpPr>
                <a:grpSpLocks/>
              </p:cNvGrpSpPr>
              <p:nvPr/>
            </p:nvGrpSpPr>
            <p:grpSpPr bwMode="auto">
              <a:xfrm>
                <a:off x="1373" y="2590"/>
                <a:ext cx="302" cy="114"/>
                <a:chOff x="1373" y="2590"/>
                <a:chExt cx="302" cy="114"/>
              </a:xfrm>
            </p:grpSpPr>
            <p:sp>
              <p:nvSpPr>
                <p:cNvPr id="626" name="Freeform 360"/>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7" name="Freeform 361"/>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8" name="Freeform 362"/>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9" name="Freeform 363"/>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0" name="Freeform 364"/>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1" name="Freeform 365"/>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2" name="Freeform 366"/>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3" name="Freeform 367"/>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622" name="Line 368"/>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3" name="Line 369"/>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642" name="Oval 422"/>
          <p:cNvSpPr>
            <a:spLocks noChangeArrowheads="1"/>
          </p:cNvSpPr>
          <p:nvPr/>
        </p:nvSpPr>
        <p:spPr bwMode="auto">
          <a:xfrm>
            <a:off x="4028268" y="3023463"/>
            <a:ext cx="44345"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4" name="Rectangle 468"/>
          <p:cNvSpPr>
            <a:spLocks noChangeArrowheads="1"/>
          </p:cNvSpPr>
          <p:nvPr/>
        </p:nvSpPr>
        <p:spPr bwMode="auto">
          <a:xfrm>
            <a:off x="6939979" y="1353899"/>
            <a:ext cx="538609"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050" b="1" dirty="0">
                <a:solidFill>
                  <a:srgbClr val="000000"/>
                </a:solidFill>
                <a:latin typeface="微软雅黑" panose="020B0503020204020204" pitchFamily="34" charset="-122"/>
                <a:ea typeface="微软雅黑" panose="020B0503020204020204" pitchFamily="34" charset="-122"/>
              </a:rPr>
              <a:t>网络地址</a:t>
            </a:r>
            <a:endParaRPr lang="zh-CN" altLang="en-US" sz="1050" b="1" dirty="0">
              <a:latin typeface="微软雅黑" panose="020B0503020204020204" pitchFamily="34" charset="-122"/>
              <a:ea typeface="微软雅黑" panose="020B0503020204020204" pitchFamily="34" charset="-122"/>
            </a:endParaRPr>
          </a:p>
        </p:txBody>
      </p:sp>
      <p:sp>
        <p:nvSpPr>
          <p:cNvPr id="645" name="Rectangle 468"/>
          <p:cNvSpPr>
            <a:spLocks noChangeArrowheads="1"/>
          </p:cNvSpPr>
          <p:nvPr/>
        </p:nvSpPr>
        <p:spPr bwMode="auto">
          <a:xfrm>
            <a:off x="7485071" y="1571605"/>
            <a:ext cx="402354"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050" b="1">
                <a:solidFill>
                  <a:srgbClr val="000000"/>
                </a:solidFill>
                <a:latin typeface="微软雅黑" panose="020B0503020204020204" pitchFamily="34" charset="-122"/>
                <a:ea typeface="微软雅黑" panose="020B0503020204020204" pitchFamily="34" charset="-122"/>
              </a:rPr>
              <a:t>IP</a:t>
            </a:r>
            <a:r>
              <a:rPr lang="zh-CN" altLang="en-US" sz="1050" b="1">
                <a:solidFill>
                  <a:srgbClr val="000000"/>
                </a:solidFill>
                <a:latin typeface="微软雅黑" panose="020B0503020204020204" pitchFamily="34" charset="-122"/>
                <a:ea typeface="微软雅黑" panose="020B0503020204020204" pitchFamily="34" charset="-122"/>
              </a:rPr>
              <a:t>地址</a:t>
            </a:r>
            <a:endParaRPr lang="zh-CN" altLang="en-US" sz="1050" b="1">
              <a:latin typeface="微软雅黑" panose="020B0503020204020204" pitchFamily="34" charset="-122"/>
              <a:ea typeface="微软雅黑" panose="020B0503020204020204" pitchFamily="34" charset="-122"/>
            </a:endParaRPr>
          </a:p>
        </p:txBody>
      </p:sp>
      <p:sp>
        <p:nvSpPr>
          <p:cNvPr id="646" name="Line 469"/>
          <p:cNvSpPr>
            <a:spLocks noChangeShapeType="1"/>
          </p:cNvSpPr>
          <p:nvPr/>
        </p:nvSpPr>
        <p:spPr bwMode="auto">
          <a:xfrm flipH="1">
            <a:off x="7012040" y="1558343"/>
            <a:ext cx="168141" cy="51280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7" name="Line 469"/>
          <p:cNvSpPr>
            <a:spLocks noChangeShapeType="1"/>
          </p:cNvSpPr>
          <p:nvPr/>
        </p:nvSpPr>
        <p:spPr bwMode="auto">
          <a:xfrm flipH="1">
            <a:off x="7605412" y="1757977"/>
            <a:ext cx="76679" cy="54782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0" name="Oval 316"/>
          <p:cNvSpPr>
            <a:spLocks noChangeArrowheads="1"/>
          </p:cNvSpPr>
          <p:nvPr/>
        </p:nvSpPr>
        <p:spPr bwMode="auto">
          <a:xfrm>
            <a:off x="3237400" y="2910820"/>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14" name="Group 30"/>
          <p:cNvGrpSpPr>
            <a:grpSpLocks/>
          </p:cNvGrpSpPr>
          <p:nvPr/>
        </p:nvGrpSpPr>
        <p:grpSpPr bwMode="auto">
          <a:xfrm>
            <a:off x="2944549" y="2679365"/>
            <a:ext cx="244820" cy="265439"/>
            <a:chOff x="101" y="2294"/>
            <a:chExt cx="343" cy="353"/>
          </a:xfrm>
        </p:grpSpPr>
        <p:grpSp>
          <p:nvGrpSpPr>
            <p:cNvPr id="216" name="Group 31"/>
            <p:cNvGrpSpPr>
              <a:grpSpLocks/>
            </p:cNvGrpSpPr>
            <p:nvPr/>
          </p:nvGrpSpPr>
          <p:grpSpPr bwMode="auto">
            <a:xfrm>
              <a:off x="109" y="2301"/>
              <a:ext cx="335" cy="346"/>
              <a:chOff x="109" y="2301"/>
              <a:chExt cx="335" cy="346"/>
            </a:xfrm>
          </p:grpSpPr>
          <p:sp>
            <p:nvSpPr>
              <p:cNvPr id="257" name="Freeform 32"/>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8" name="Freeform 33"/>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 name="Freeform 34"/>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 name="Freeform 35"/>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1" name="Rectangle 36"/>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2" name="Rectangle 37"/>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3" name="Rectangle 38"/>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4" name="Line 39"/>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7" name="Group 40"/>
              <p:cNvGrpSpPr>
                <a:grpSpLocks/>
              </p:cNvGrpSpPr>
              <p:nvPr/>
            </p:nvGrpSpPr>
            <p:grpSpPr bwMode="auto">
              <a:xfrm>
                <a:off x="109" y="2596"/>
                <a:ext cx="335" cy="51"/>
                <a:chOff x="109" y="2596"/>
                <a:chExt cx="335" cy="51"/>
              </a:xfrm>
            </p:grpSpPr>
            <p:sp>
              <p:nvSpPr>
                <p:cNvPr id="266" name="Freeform 41"/>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7" name="Freeform 42"/>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8" name="Rectangle 43"/>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18" name="Group 44"/>
            <p:cNvGrpSpPr>
              <a:grpSpLocks/>
            </p:cNvGrpSpPr>
            <p:nvPr/>
          </p:nvGrpSpPr>
          <p:grpSpPr bwMode="auto">
            <a:xfrm>
              <a:off x="101" y="2294"/>
              <a:ext cx="335" cy="347"/>
              <a:chOff x="101" y="2294"/>
              <a:chExt cx="335" cy="347"/>
            </a:xfrm>
          </p:grpSpPr>
          <p:sp>
            <p:nvSpPr>
              <p:cNvPr id="245" name="Freeform 45"/>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6" name="Freeform 46"/>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 name="Freeform 47"/>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 name="Freeform 48"/>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9" name="Rectangle 49"/>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0" name="Rectangle 50"/>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1" name="Rectangle 51"/>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2" name="Line 52"/>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9" name="Group 53"/>
              <p:cNvGrpSpPr>
                <a:grpSpLocks/>
              </p:cNvGrpSpPr>
              <p:nvPr/>
            </p:nvGrpSpPr>
            <p:grpSpPr bwMode="auto">
              <a:xfrm>
                <a:off x="101" y="2590"/>
                <a:ext cx="335" cy="51"/>
                <a:chOff x="101" y="2590"/>
                <a:chExt cx="335" cy="51"/>
              </a:xfrm>
            </p:grpSpPr>
            <p:sp>
              <p:nvSpPr>
                <p:cNvPr id="254" name="Freeform 54"/>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 name="Freeform 55"/>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6" name="Rectangle 56"/>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681" name="Text Box 438"/>
          <p:cNvSpPr txBox="1">
            <a:spLocks noChangeArrowheads="1"/>
          </p:cNvSpPr>
          <p:nvPr/>
        </p:nvSpPr>
        <p:spPr bwMode="auto">
          <a:xfrm>
            <a:off x="749294" y="1365908"/>
            <a:ext cx="1896400" cy="2462213"/>
          </a:xfrm>
          <a:prstGeom prst="rect">
            <a:avLst/>
          </a:prstGeom>
          <a:solidFill>
            <a:srgbClr val="00FFFF"/>
          </a:solidFill>
          <a:ln w="9525">
            <a:solidFill>
              <a:schemeClr val="tx2"/>
            </a:solidFill>
            <a:miter lim="800000"/>
            <a:headEnd/>
            <a:tailEnd/>
          </a:ln>
          <a:effectLst/>
        </p:spPr>
        <p:txBody>
          <a:bodyPr wrap="square">
            <a:spAutoFit/>
          </a:bodyPr>
          <a:lstStyle/>
          <a:p>
            <a:pPr>
              <a:lnSpc>
                <a:spcPct val="110000"/>
              </a:lnSpc>
            </a:pPr>
            <a:r>
              <a:rPr lang="zh-CN" altLang="en-US" sz="1400" b="1" dirty="0">
                <a:latin typeface="微软雅黑" pitchFamily="34" charset="-122"/>
                <a:ea typeface="微软雅黑" pitchFamily="34" charset="-122"/>
              </a:rPr>
              <a:t>两个路由器直接相连的接口处，可指明也可不指明 </a:t>
            </a:r>
            <a:r>
              <a:rPr lang="en-US" altLang="zh-CN" sz="1400" b="1" dirty="0">
                <a:latin typeface="微软雅黑" pitchFamily="34" charset="-122"/>
                <a:ea typeface="微软雅黑" pitchFamily="34" charset="-122"/>
              </a:rPr>
              <a:t>IP </a:t>
            </a:r>
            <a:r>
              <a:rPr lang="zh-CN" altLang="en-US" sz="1400" b="1" dirty="0">
                <a:latin typeface="微软雅黑" pitchFamily="34" charset="-122"/>
                <a:ea typeface="微软雅黑" pitchFamily="34" charset="-122"/>
              </a:rPr>
              <a:t>地址。</a:t>
            </a:r>
            <a:endParaRPr lang="en-US" altLang="zh-CN" sz="1400" b="1" dirty="0">
              <a:latin typeface="微软雅黑" pitchFamily="34" charset="-122"/>
              <a:ea typeface="微软雅黑" pitchFamily="34" charset="-122"/>
            </a:endParaRPr>
          </a:p>
          <a:p>
            <a:pPr>
              <a:lnSpc>
                <a:spcPct val="110000"/>
              </a:lnSpc>
            </a:pPr>
            <a:r>
              <a:rPr lang="zh-CN" altLang="en-US" sz="1400" b="1" dirty="0">
                <a:latin typeface="微软雅黑" pitchFamily="34" charset="-122"/>
                <a:ea typeface="微软雅黑" pitchFamily="34" charset="-122"/>
              </a:rPr>
              <a:t>如指明 </a:t>
            </a:r>
            <a:r>
              <a:rPr lang="en-US" altLang="zh-CN" sz="1400" b="1" dirty="0">
                <a:latin typeface="微软雅黑" pitchFamily="34" charset="-122"/>
                <a:ea typeface="微软雅黑" pitchFamily="34" charset="-122"/>
              </a:rPr>
              <a:t>IP </a:t>
            </a:r>
            <a:r>
              <a:rPr lang="zh-CN" altLang="en-US" sz="1400" b="1" dirty="0">
                <a:latin typeface="微软雅黑" pitchFamily="34" charset="-122"/>
                <a:ea typeface="微软雅黑" pitchFamily="34" charset="-122"/>
              </a:rPr>
              <a:t>地址，则这一段连线就构成了一种只包含一段线路的特殊“网络” 。这种网络</a:t>
            </a:r>
            <a:r>
              <a:rPr lang="zh-CN" altLang="en-US" sz="1400" b="1" dirty="0">
                <a:solidFill>
                  <a:srgbClr val="C00000"/>
                </a:solidFill>
                <a:latin typeface="微软雅黑" pitchFamily="34" charset="-122"/>
                <a:ea typeface="微软雅黑" pitchFamily="34" charset="-122"/>
              </a:rPr>
              <a:t>仅需</a:t>
            </a:r>
            <a:r>
              <a:rPr lang="zh-CN" altLang="en-US" sz="1400" b="1" dirty="0">
                <a:latin typeface="微软雅黑" pitchFamily="34" charset="-122"/>
                <a:ea typeface="微软雅黑" pitchFamily="34" charset="-122"/>
              </a:rPr>
              <a:t>两个 </a:t>
            </a:r>
            <a:r>
              <a:rPr lang="en-US" altLang="zh-CN" sz="1400" b="1" dirty="0">
                <a:latin typeface="微软雅黑" pitchFamily="34" charset="-122"/>
                <a:ea typeface="微软雅黑" pitchFamily="34" charset="-122"/>
              </a:rPr>
              <a:t>IP </a:t>
            </a:r>
            <a:r>
              <a:rPr lang="zh-CN" altLang="en-US" sz="1400" b="1" dirty="0">
                <a:latin typeface="微软雅黑" pitchFamily="34" charset="-122"/>
                <a:ea typeface="微软雅黑" pitchFamily="34" charset="-122"/>
              </a:rPr>
              <a:t>地址，可以使用 </a:t>
            </a:r>
            <a:r>
              <a:rPr lang="en-US" altLang="zh-CN" sz="1400" b="1" dirty="0">
                <a:solidFill>
                  <a:srgbClr val="C00000"/>
                </a:solidFill>
                <a:latin typeface="微软雅黑" pitchFamily="34" charset="-122"/>
                <a:ea typeface="微软雅黑" pitchFamily="34" charset="-122"/>
              </a:rPr>
              <a:t>/31 </a:t>
            </a:r>
            <a:r>
              <a:rPr lang="zh-CN" altLang="en-US" sz="1400" b="1" dirty="0">
                <a:latin typeface="微软雅黑" pitchFamily="34" charset="-122"/>
                <a:ea typeface="微软雅黑" pitchFamily="34" charset="-122"/>
              </a:rPr>
              <a:t>地址块。主机号可以是 </a:t>
            </a:r>
            <a:r>
              <a:rPr lang="en-US" altLang="zh-CN" sz="1400" b="1" dirty="0">
                <a:latin typeface="微软雅黑" pitchFamily="34" charset="-122"/>
                <a:ea typeface="微软雅黑" pitchFamily="34" charset="-122"/>
              </a:rPr>
              <a:t>0 </a:t>
            </a:r>
            <a:r>
              <a:rPr lang="zh-CN" altLang="en-US" sz="1400" b="1" dirty="0">
                <a:latin typeface="微软雅黑" pitchFamily="34" charset="-122"/>
                <a:ea typeface="微软雅黑" pitchFamily="34" charset="-122"/>
              </a:rPr>
              <a:t>或 </a:t>
            </a:r>
            <a:r>
              <a:rPr lang="en-US" altLang="zh-CN" sz="1400" b="1" dirty="0">
                <a:latin typeface="微软雅黑" pitchFamily="34" charset="-122"/>
                <a:ea typeface="微软雅黑" pitchFamily="34" charset="-122"/>
              </a:rPr>
              <a:t>1</a:t>
            </a:r>
            <a:r>
              <a:rPr lang="zh-CN" altLang="en-US" sz="1400" b="1" dirty="0">
                <a:latin typeface="微软雅黑" pitchFamily="34" charset="-122"/>
                <a:ea typeface="微软雅黑" pitchFamily="34" charset="-122"/>
              </a:rPr>
              <a:t>。</a:t>
            </a:r>
            <a:endParaRPr lang="en-US" altLang="zh-CN" sz="1400" b="1" dirty="0">
              <a:latin typeface="微软雅黑" pitchFamily="34" charset="-122"/>
              <a:ea typeface="微软雅黑" pitchFamily="34" charset="-122"/>
            </a:endParaRPr>
          </a:p>
        </p:txBody>
      </p:sp>
      <p:sp>
        <p:nvSpPr>
          <p:cNvPr id="682" name="矩形 476"/>
          <p:cNvSpPr>
            <a:spLocks noChangeArrowheads="1"/>
          </p:cNvSpPr>
          <p:nvPr/>
        </p:nvSpPr>
        <p:spPr bwMode="auto">
          <a:xfrm>
            <a:off x="3480534" y="3636941"/>
            <a:ext cx="1298933" cy="503769"/>
          </a:xfrm>
          <a:prstGeom prst="rect">
            <a:avLst/>
          </a:prstGeom>
          <a:noFill/>
          <a:ln w="9525" cmpd="dbl"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3" name="Rectangle 27"/>
          <p:cNvSpPr>
            <a:spLocks noChangeArrowheads="1"/>
          </p:cNvSpPr>
          <p:nvPr/>
        </p:nvSpPr>
        <p:spPr bwMode="auto">
          <a:xfrm>
            <a:off x="3931352" y="3912547"/>
            <a:ext cx="807913"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a:solidFill>
                  <a:srgbClr val="000000"/>
                </a:solidFill>
                <a:latin typeface="微软雅黑" panose="020B0503020204020204" pitchFamily="34" charset="-122"/>
                <a:ea typeface="微软雅黑" panose="020B0503020204020204" pitchFamily="34" charset="-122"/>
              </a:rPr>
              <a:t>以太网交换机</a:t>
            </a:r>
            <a:endParaRPr lang="en-US" altLang="zh-CN" sz="1050" b="1">
              <a:latin typeface="微软雅黑" panose="020B0503020204020204" pitchFamily="34" charset="-122"/>
              <a:ea typeface="微软雅黑" panose="020B0503020204020204" pitchFamily="34" charset="-122"/>
            </a:endParaRPr>
          </a:p>
        </p:txBody>
      </p:sp>
      <p:grpSp>
        <p:nvGrpSpPr>
          <p:cNvPr id="221" name="Group 344"/>
          <p:cNvGrpSpPr>
            <a:grpSpLocks/>
          </p:cNvGrpSpPr>
          <p:nvPr/>
        </p:nvGrpSpPr>
        <p:grpSpPr bwMode="auto">
          <a:xfrm>
            <a:off x="3595071" y="3710360"/>
            <a:ext cx="242049" cy="128766"/>
            <a:chOff x="1304" y="2569"/>
            <a:chExt cx="439" cy="262"/>
          </a:xfrm>
        </p:grpSpPr>
        <p:sp>
          <p:nvSpPr>
            <p:cNvPr id="685" name="Oval 345"/>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6" name="Rectangle 346"/>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7" name="Rectangle 347"/>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8" name="Oval 348"/>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23" name="Group 349"/>
            <p:cNvGrpSpPr>
              <a:grpSpLocks/>
            </p:cNvGrpSpPr>
            <p:nvPr/>
          </p:nvGrpSpPr>
          <p:grpSpPr bwMode="auto">
            <a:xfrm>
              <a:off x="1371" y="2587"/>
              <a:ext cx="304" cy="117"/>
              <a:chOff x="1371" y="2587"/>
              <a:chExt cx="304" cy="117"/>
            </a:xfrm>
          </p:grpSpPr>
          <p:grpSp>
            <p:nvGrpSpPr>
              <p:cNvPr id="240" name="Group 350"/>
              <p:cNvGrpSpPr>
                <a:grpSpLocks/>
              </p:cNvGrpSpPr>
              <p:nvPr/>
            </p:nvGrpSpPr>
            <p:grpSpPr bwMode="auto">
              <a:xfrm>
                <a:off x="1371" y="2587"/>
                <a:ext cx="301" cy="115"/>
                <a:chOff x="1371" y="2587"/>
                <a:chExt cx="301" cy="115"/>
              </a:xfrm>
            </p:grpSpPr>
            <p:sp>
              <p:nvSpPr>
                <p:cNvPr id="702" name="Freeform 351"/>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3" name="Freeform 352"/>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4" name="Freeform 353"/>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5" name="Freeform 354"/>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6" name="Freeform 355"/>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7" name="Freeform 356"/>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8" name="Freeform 357"/>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9" name="Freeform 358"/>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 name="Group 359"/>
              <p:cNvGrpSpPr>
                <a:grpSpLocks/>
              </p:cNvGrpSpPr>
              <p:nvPr/>
            </p:nvGrpSpPr>
            <p:grpSpPr bwMode="auto">
              <a:xfrm>
                <a:off x="1373" y="2590"/>
                <a:ext cx="302" cy="114"/>
                <a:chOff x="1373" y="2590"/>
                <a:chExt cx="302" cy="114"/>
              </a:xfrm>
            </p:grpSpPr>
            <p:sp>
              <p:nvSpPr>
                <p:cNvPr id="694" name="Freeform 360"/>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5" name="Freeform 361"/>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6" name="Freeform 362"/>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7" name="Freeform 363"/>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8" name="Freeform 364"/>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9" name="Freeform 365"/>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0" name="Freeform 366"/>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1" name="Freeform 367"/>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690" name="Line 368"/>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1" name="Line 369"/>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711" name="Rectangle 27"/>
          <p:cNvSpPr>
            <a:spLocks noChangeArrowheads="1"/>
          </p:cNvSpPr>
          <p:nvPr/>
        </p:nvSpPr>
        <p:spPr bwMode="auto">
          <a:xfrm>
            <a:off x="3931352" y="3708101"/>
            <a:ext cx="40395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a:latin typeface="微软雅黑" panose="020B0503020204020204" pitchFamily="34" charset="-122"/>
                <a:ea typeface="微软雅黑" panose="020B0503020204020204" pitchFamily="34" charset="-122"/>
              </a:rPr>
              <a:t>路由器</a:t>
            </a:r>
            <a:endParaRPr lang="en-US" altLang="zh-CN" sz="1050" b="1">
              <a:latin typeface="微软雅黑" panose="020B0503020204020204" pitchFamily="34" charset="-122"/>
              <a:ea typeface="微软雅黑" panose="020B0503020204020204" pitchFamily="34" charset="-122"/>
            </a:endParaRPr>
          </a:p>
        </p:txBody>
      </p:sp>
      <p:pic>
        <p:nvPicPr>
          <p:cNvPr id="652"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933294" y="1711264"/>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54"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67363" y="3920189"/>
            <a:ext cx="292813" cy="161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55"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53617" y="2855922"/>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56"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473681" y="2984123"/>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57"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126747" y="2457355"/>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Tree>
    <p:extLst>
      <p:ext uri="{BB962C8B-B14F-4D97-AF65-F5344CB8AC3E}">
        <p14:creationId xmlns:p14="http://schemas.microsoft.com/office/powerpoint/2010/main" val="417719295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 name="AutoShape 5"/>
          <p:cNvSpPr>
            <a:spLocks noChangeArrowheads="1"/>
          </p:cNvSpPr>
          <p:nvPr/>
        </p:nvSpPr>
        <p:spPr bwMode="auto">
          <a:xfrm>
            <a:off x="545144" y="620734"/>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238" name="Rectangle 6"/>
          <p:cNvSpPr>
            <a:spLocks noChangeArrowheads="1"/>
          </p:cNvSpPr>
          <p:nvPr/>
        </p:nvSpPr>
        <p:spPr bwMode="auto">
          <a:xfrm>
            <a:off x="2583382" y="588663"/>
            <a:ext cx="397724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highlight>
                  <a:srgbClr val="FFFF00"/>
                </a:highlight>
                <a:latin typeface="微软雅黑" pitchFamily="34" charset="-122"/>
                <a:ea typeface="微软雅黑" pitchFamily="34" charset="-122"/>
              </a:rPr>
              <a:t>4.2.3  IP </a:t>
            </a:r>
            <a:r>
              <a:rPr lang="zh-CN" altLang="en-US" sz="2400" b="1" dirty="0">
                <a:highlight>
                  <a:srgbClr val="FFFF00"/>
                </a:highlight>
                <a:latin typeface="微软雅黑" pitchFamily="34" charset="-122"/>
                <a:ea typeface="微软雅黑" pitchFamily="34" charset="-122"/>
              </a:rPr>
              <a:t>地址与 </a:t>
            </a:r>
            <a:r>
              <a:rPr lang="en-US" altLang="zh-CN" sz="2400" b="1" dirty="0">
                <a:highlight>
                  <a:srgbClr val="FFFF00"/>
                </a:highlight>
                <a:latin typeface="微软雅黑" pitchFamily="34" charset="-122"/>
                <a:ea typeface="微软雅黑" pitchFamily="34" charset="-122"/>
              </a:rPr>
              <a:t>MAC </a:t>
            </a:r>
            <a:r>
              <a:rPr lang="zh-CN" altLang="en-US" sz="2400" b="1" dirty="0">
                <a:highlight>
                  <a:srgbClr val="FFFF00"/>
                </a:highlight>
                <a:latin typeface="微软雅黑" pitchFamily="34" charset="-122"/>
                <a:ea typeface="微软雅黑" pitchFamily="34" charset="-122"/>
              </a:rPr>
              <a:t>地址</a:t>
            </a:r>
          </a:p>
        </p:txBody>
      </p:sp>
      <p:graphicFrame>
        <p:nvGraphicFramePr>
          <p:cNvPr id="2" name="图示 1"/>
          <p:cNvGraphicFramePr/>
          <p:nvPr>
            <p:extLst>
              <p:ext uri="{D42A27DB-BD31-4B8C-83A1-F6EECF244321}">
                <p14:modId xmlns:p14="http://schemas.microsoft.com/office/powerpoint/2010/main" val="1940721802"/>
              </p:ext>
            </p:extLst>
          </p:nvPr>
        </p:nvGraphicFramePr>
        <p:xfrm>
          <a:off x="1204825" y="1224955"/>
          <a:ext cx="6688348" cy="2544789"/>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17472700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907307" y="581433"/>
            <a:ext cx="33480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地址与 </a:t>
            </a:r>
            <a:r>
              <a:rPr lang="en-US" altLang="zh-CN" sz="2000" b="1" dirty="0">
                <a:solidFill>
                  <a:schemeClr val="bg1"/>
                </a:solidFill>
                <a:latin typeface="微软雅黑" pitchFamily="34" charset="-122"/>
                <a:ea typeface="微软雅黑" pitchFamily="34" charset="-122"/>
              </a:rPr>
              <a:t>MAC </a:t>
            </a:r>
            <a:r>
              <a:rPr lang="zh-CN" altLang="en-US" sz="2000" b="1" dirty="0">
                <a:solidFill>
                  <a:schemeClr val="bg1"/>
                </a:solidFill>
                <a:latin typeface="微软雅黑" pitchFamily="34" charset="-122"/>
                <a:ea typeface="微软雅黑" pitchFamily="34" charset="-122"/>
              </a:rPr>
              <a:t>地址的区别</a:t>
            </a:r>
          </a:p>
        </p:txBody>
      </p:sp>
      <p:sp>
        <p:nvSpPr>
          <p:cNvPr id="4" name="圆角矩形 3"/>
          <p:cNvSpPr/>
          <p:nvPr/>
        </p:nvSpPr>
        <p:spPr>
          <a:xfrm>
            <a:off x="545144" y="1170432"/>
            <a:ext cx="8053712" cy="3200399"/>
          </a:xfrm>
          <a:prstGeom prst="roundRect">
            <a:avLst/>
          </a:prstGeom>
          <a:solidFill>
            <a:srgbClr val="C3E3F9"/>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Line 5"/>
          <p:cNvSpPr>
            <a:spLocks noChangeShapeType="1"/>
          </p:cNvSpPr>
          <p:nvPr/>
        </p:nvSpPr>
        <p:spPr bwMode="auto">
          <a:xfrm>
            <a:off x="2391321" y="3280921"/>
            <a:ext cx="3899100" cy="0"/>
          </a:xfrm>
          <a:prstGeom prst="line">
            <a:avLst/>
          </a:prstGeom>
          <a:noFill/>
          <a:ln w="28575">
            <a:solidFill>
              <a:srgbClr val="333399"/>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 name="Line 6"/>
          <p:cNvSpPr>
            <a:spLocks noChangeShapeType="1"/>
          </p:cNvSpPr>
          <p:nvPr/>
        </p:nvSpPr>
        <p:spPr bwMode="auto">
          <a:xfrm>
            <a:off x="2912547" y="2607995"/>
            <a:ext cx="2856649" cy="0"/>
          </a:xfrm>
          <a:prstGeom prst="line">
            <a:avLst/>
          </a:prstGeom>
          <a:noFill/>
          <a:ln w="28575">
            <a:solidFill>
              <a:srgbClr val="333399"/>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 name="Line 7"/>
          <p:cNvSpPr>
            <a:spLocks noChangeShapeType="1"/>
          </p:cNvSpPr>
          <p:nvPr/>
        </p:nvSpPr>
        <p:spPr bwMode="auto">
          <a:xfrm>
            <a:off x="3415963" y="1860543"/>
            <a:ext cx="2367481" cy="0"/>
          </a:xfrm>
          <a:prstGeom prst="line">
            <a:avLst/>
          </a:prstGeom>
          <a:noFill/>
          <a:ln w="28575">
            <a:solidFill>
              <a:srgbClr val="333399"/>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 name="Rectangle 8"/>
          <p:cNvSpPr>
            <a:spLocks noChangeArrowheads="1"/>
          </p:cNvSpPr>
          <p:nvPr/>
        </p:nvSpPr>
        <p:spPr bwMode="auto">
          <a:xfrm>
            <a:off x="4220953" y="1773962"/>
            <a:ext cx="778870" cy="124941"/>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9" name="Text Box 9"/>
          <p:cNvSpPr txBox="1">
            <a:spLocks noChangeArrowheads="1"/>
          </p:cNvSpPr>
          <p:nvPr/>
        </p:nvSpPr>
        <p:spPr bwMode="auto">
          <a:xfrm>
            <a:off x="4176757" y="1717157"/>
            <a:ext cx="834266" cy="276999"/>
          </a:xfrm>
          <a:prstGeom prst="rect">
            <a:avLst/>
          </a:prstGeom>
          <a:solidFill>
            <a:srgbClr val="C3E3F9"/>
          </a:solidFill>
          <a:ln>
            <a:noFill/>
          </a:ln>
          <a:effectLst/>
        </p:spPr>
        <p:txBody>
          <a:bodyPr wrap="none">
            <a:spAutoFit/>
          </a:bodyPr>
          <a:lstStyle/>
          <a:p>
            <a:pPr algn="ctr"/>
            <a:r>
              <a:rPr kumimoji="1" lang="en-US" altLang="zh-CN" sz="1200" b="1" dirty="0">
                <a:solidFill>
                  <a:srgbClr val="0000CC"/>
                </a:solidFill>
                <a:latin typeface="微软雅黑" pitchFamily="34" charset="-122"/>
                <a:ea typeface="微软雅黑" pitchFamily="34" charset="-122"/>
              </a:rPr>
              <a:t>TCP </a:t>
            </a:r>
            <a:r>
              <a:rPr kumimoji="1" lang="zh-CN" altLang="en-US" sz="1200" b="1" dirty="0">
                <a:solidFill>
                  <a:srgbClr val="0000CC"/>
                </a:solidFill>
                <a:latin typeface="微软雅黑" pitchFamily="34" charset="-122"/>
                <a:ea typeface="微软雅黑" pitchFamily="34" charset="-122"/>
              </a:rPr>
              <a:t>报文</a:t>
            </a:r>
          </a:p>
        </p:txBody>
      </p:sp>
      <p:sp>
        <p:nvSpPr>
          <p:cNvPr id="10" name="Rectangle 10"/>
          <p:cNvSpPr>
            <a:spLocks noChangeArrowheads="1"/>
          </p:cNvSpPr>
          <p:nvPr/>
        </p:nvSpPr>
        <p:spPr bwMode="auto">
          <a:xfrm>
            <a:off x="3984681" y="2536757"/>
            <a:ext cx="723067" cy="119461"/>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1" name="Text Box 11"/>
          <p:cNvSpPr txBox="1">
            <a:spLocks noChangeArrowheads="1"/>
          </p:cNvSpPr>
          <p:nvPr/>
        </p:nvSpPr>
        <p:spPr bwMode="auto">
          <a:xfrm>
            <a:off x="3977892" y="2463899"/>
            <a:ext cx="845103" cy="276999"/>
          </a:xfrm>
          <a:prstGeom prst="rect">
            <a:avLst/>
          </a:prstGeom>
          <a:solidFill>
            <a:srgbClr val="C3E3F9"/>
          </a:solidFill>
          <a:ln>
            <a:noFill/>
          </a:ln>
          <a:effectLst/>
        </p:spPr>
        <p:txBody>
          <a:bodyPr wrap="none">
            <a:spAutoFit/>
          </a:bodyPr>
          <a:lstStyle/>
          <a:p>
            <a:pPr algn="ctr"/>
            <a:r>
              <a:rPr kumimoji="1" lang="en-US" altLang="zh-CN" sz="1200" b="1" dirty="0">
                <a:solidFill>
                  <a:srgbClr val="0000CC"/>
                </a:solidFill>
                <a:latin typeface="微软雅黑" pitchFamily="34" charset="-122"/>
                <a:ea typeface="微软雅黑" pitchFamily="34" charset="-122"/>
              </a:rPr>
              <a:t>IP </a:t>
            </a:r>
            <a:r>
              <a:rPr kumimoji="1" lang="zh-CN" altLang="en-US" sz="1200" b="1" dirty="0">
                <a:solidFill>
                  <a:srgbClr val="0000CC"/>
                </a:solidFill>
                <a:latin typeface="微软雅黑" pitchFamily="34" charset="-122"/>
                <a:ea typeface="微软雅黑" pitchFamily="34" charset="-122"/>
              </a:rPr>
              <a:t>数据报</a:t>
            </a:r>
          </a:p>
        </p:txBody>
      </p:sp>
      <p:sp>
        <p:nvSpPr>
          <p:cNvPr id="12" name="Rectangle 12"/>
          <p:cNvSpPr>
            <a:spLocks noChangeArrowheads="1"/>
          </p:cNvSpPr>
          <p:nvPr/>
        </p:nvSpPr>
        <p:spPr bwMode="auto">
          <a:xfrm>
            <a:off x="4028611" y="3218451"/>
            <a:ext cx="613836" cy="12603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3" name="Text Box 13"/>
          <p:cNvSpPr txBox="1">
            <a:spLocks noChangeArrowheads="1"/>
          </p:cNvSpPr>
          <p:nvPr/>
        </p:nvSpPr>
        <p:spPr bwMode="auto">
          <a:xfrm>
            <a:off x="3997727" y="3133151"/>
            <a:ext cx="760849" cy="276999"/>
          </a:xfrm>
          <a:prstGeom prst="rect">
            <a:avLst/>
          </a:prstGeom>
          <a:solidFill>
            <a:srgbClr val="C3E3F9"/>
          </a:solidFill>
          <a:ln>
            <a:noFill/>
          </a:ln>
          <a:effectLst/>
        </p:spPr>
        <p:txBody>
          <a:bodyPr wrap="none">
            <a:spAutoFit/>
          </a:bodyPr>
          <a:lstStyle/>
          <a:p>
            <a:pPr algn="ctr"/>
            <a:r>
              <a:rPr kumimoji="1" lang="en-US" altLang="zh-CN" sz="1200" b="1" dirty="0">
                <a:solidFill>
                  <a:srgbClr val="0000CC"/>
                </a:solidFill>
                <a:latin typeface="微软雅黑" pitchFamily="34" charset="-122"/>
                <a:ea typeface="微软雅黑" pitchFamily="34" charset="-122"/>
              </a:rPr>
              <a:t>MAC </a:t>
            </a:r>
            <a:r>
              <a:rPr kumimoji="1" lang="zh-CN" altLang="en-US" sz="1200" b="1" dirty="0">
                <a:solidFill>
                  <a:srgbClr val="0000CC"/>
                </a:solidFill>
                <a:latin typeface="微软雅黑" pitchFamily="34" charset="-122"/>
                <a:ea typeface="微软雅黑" pitchFamily="34" charset="-122"/>
              </a:rPr>
              <a:t>帧</a:t>
            </a:r>
          </a:p>
        </p:txBody>
      </p:sp>
      <p:sp>
        <p:nvSpPr>
          <p:cNvPr id="14" name="Line 18"/>
          <p:cNvSpPr>
            <a:spLocks noChangeShapeType="1"/>
          </p:cNvSpPr>
          <p:nvPr/>
        </p:nvSpPr>
        <p:spPr bwMode="auto">
          <a:xfrm>
            <a:off x="2912547" y="2495110"/>
            <a:ext cx="0" cy="280569"/>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5" name="Line 19"/>
          <p:cNvSpPr>
            <a:spLocks noChangeShapeType="1"/>
          </p:cNvSpPr>
          <p:nvPr/>
        </p:nvSpPr>
        <p:spPr bwMode="auto">
          <a:xfrm>
            <a:off x="5769195" y="2495110"/>
            <a:ext cx="0" cy="280569"/>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 name="Line 20"/>
          <p:cNvSpPr>
            <a:spLocks noChangeShapeType="1"/>
          </p:cNvSpPr>
          <p:nvPr/>
        </p:nvSpPr>
        <p:spPr bwMode="auto">
          <a:xfrm>
            <a:off x="3425461" y="1718067"/>
            <a:ext cx="9498" cy="385782"/>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7" name="Line 21"/>
          <p:cNvSpPr>
            <a:spLocks noChangeShapeType="1"/>
          </p:cNvSpPr>
          <p:nvPr/>
        </p:nvSpPr>
        <p:spPr bwMode="auto">
          <a:xfrm>
            <a:off x="5769195" y="1718067"/>
            <a:ext cx="0" cy="385782"/>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8" name="Line 22"/>
          <p:cNvSpPr>
            <a:spLocks noChangeShapeType="1"/>
          </p:cNvSpPr>
          <p:nvPr/>
        </p:nvSpPr>
        <p:spPr bwMode="auto">
          <a:xfrm flipV="1">
            <a:off x="6043463" y="2620051"/>
            <a:ext cx="1722775"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9" name="Rectangle 23"/>
          <p:cNvSpPr>
            <a:spLocks noChangeArrowheads="1"/>
          </p:cNvSpPr>
          <p:nvPr/>
        </p:nvSpPr>
        <p:spPr bwMode="auto">
          <a:xfrm>
            <a:off x="3425461" y="1376124"/>
            <a:ext cx="2343734" cy="336463"/>
          </a:xfrm>
          <a:prstGeom prst="rect">
            <a:avLst/>
          </a:prstGeom>
          <a:solidFill>
            <a:srgbClr val="66FF99"/>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0" name="Line 24"/>
          <p:cNvSpPr>
            <a:spLocks noChangeShapeType="1"/>
          </p:cNvSpPr>
          <p:nvPr/>
        </p:nvSpPr>
        <p:spPr bwMode="auto">
          <a:xfrm flipH="1">
            <a:off x="3938376" y="1376124"/>
            <a:ext cx="0" cy="33646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1" name="Text Box 25"/>
          <p:cNvSpPr txBox="1">
            <a:spLocks noChangeArrowheads="1"/>
          </p:cNvSpPr>
          <p:nvPr/>
        </p:nvSpPr>
        <p:spPr bwMode="auto">
          <a:xfrm>
            <a:off x="4315937" y="1386273"/>
            <a:ext cx="108234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应用层数据</a:t>
            </a:r>
          </a:p>
        </p:txBody>
      </p:sp>
      <p:sp>
        <p:nvSpPr>
          <p:cNvPr id="22" name="Text Box 26"/>
          <p:cNvSpPr txBox="1">
            <a:spLocks noChangeArrowheads="1"/>
          </p:cNvSpPr>
          <p:nvPr/>
        </p:nvSpPr>
        <p:spPr bwMode="auto">
          <a:xfrm>
            <a:off x="3406464" y="1387370"/>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latin typeface="微软雅黑" pitchFamily="34" charset="-122"/>
                <a:ea typeface="微软雅黑" pitchFamily="34" charset="-122"/>
              </a:rPr>
              <a:t>首部</a:t>
            </a:r>
          </a:p>
        </p:txBody>
      </p:sp>
      <p:sp>
        <p:nvSpPr>
          <p:cNvPr id="23" name="Rectangle 27"/>
          <p:cNvSpPr>
            <a:spLocks noChangeArrowheads="1"/>
          </p:cNvSpPr>
          <p:nvPr/>
        </p:nvSpPr>
        <p:spPr bwMode="auto">
          <a:xfrm>
            <a:off x="2912547" y="2103849"/>
            <a:ext cx="2856649" cy="336463"/>
          </a:xfrm>
          <a:prstGeom prst="rect">
            <a:avLst/>
          </a:prstGeom>
          <a:solidFill>
            <a:srgbClr val="FF99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4" name="Line 28"/>
          <p:cNvSpPr>
            <a:spLocks noChangeShapeType="1"/>
          </p:cNvSpPr>
          <p:nvPr/>
        </p:nvSpPr>
        <p:spPr bwMode="auto">
          <a:xfrm>
            <a:off x="3425461" y="2103849"/>
            <a:ext cx="0" cy="33646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5" name="Text Box 29"/>
          <p:cNvSpPr txBox="1">
            <a:spLocks noChangeArrowheads="1"/>
          </p:cNvSpPr>
          <p:nvPr/>
        </p:nvSpPr>
        <p:spPr bwMode="auto">
          <a:xfrm>
            <a:off x="2894737" y="2107422"/>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首部</a:t>
            </a:r>
          </a:p>
        </p:txBody>
      </p:sp>
      <p:sp>
        <p:nvSpPr>
          <p:cNvPr id="26" name="Rectangle 30"/>
          <p:cNvSpPr>
            <a:spLocks noChangeArrowheads="1"/>
          </p:cNvSpPr>
          <p:nvPr/>
        </p:nvSpPr>
        <p:spPr bwMode="auto">
          <a:xfrm>
            <a:off x="2407944" y="2796502"/>
            <a:ext cx="511727" cy="315640"/>
          </a:xfrm>
          <a:prstGeom prst="rect">
            <a:avLst/>
          </a:prstGeom>
          <a:solidFill>
            <a:srgbClr val="66FFFF"/>
          </a:solidFill>
          <a:ln>
            <a:noFill/>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7" name="Rectangle 31"/>
          <p:cNvSpPr>
            <a:spLocks noChangeArrowheads="1"/>
          </p:cNvSpPr>
          <p:nvPr/>
        </p:nvSpPr>
        <p:spPr bwMode="auto">
          <a:xfrm>
            <a:off x="2400820" y="2775679"/>
            <a:ext cx="3881290" cy="336463"/>
          </a:xfrm>
          <a:prstGeom prst="rect">
            <a:avLst/>
          </a:prstGeom>
          <a:solidFill>
            <a:srgbClr val="66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8" name="Line 32"/>
          <p:cNvSpPr>
            <a:spLocks noChangeShapeType="1"/>
          </p:cNvSpPr>
          <p:nvPr/>
        </p:nvSpPr>
        <p:spPr bwMode="auto">
          <a:xfrm>
            <a:off x="2912547" y="2775679"/>
            <a:ext cx="0" cy="33646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9" name="Line 33"/>
          <p:cNvSpPr>
            <a:spLocks noChangeShapeType="1"/>
          </p:cNvSpPr>
          <p:nvPr/>
        </p:nvSpPr>
        <p:spPr bwMode="auto">
          <a:xfrm>
            <a:off x="5769195" y="2775679"/>
            <a:ext cx="0" cy="33646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0" name="Text Box 34"/>
          <p:cNvSpPr txBox="1">
            <a:spLocks noChangeArrowheads="1"/>
          </p:cNvSpPr>
          <p:nvPr/>
        </p:nvSpPr>
        <p:spPr bwMode="auto">
          <a:xfrm>
            <a:off x="5745762" y="2777128"/>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尾部</a:t>
            </a:r>
          </a:p>
        </p:txBody>
      </p:sp>
      <p:sp>
        <p:nvSpPr>
          <p:cNvPr id="31" name="Text Box 35"/>
          <p:cNvSpPr txBox="1">
            <a:spLocks noChangeArrowheads="1"/>
          </p:cNvSpPr>
          <p:nvPr/>
        </p:nvSpPr>
        <p:spPr bwMode="auto">
          <a:xfrm>
            <a:off x="2392508" y="2781444"/>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首部</a:t>
            </a:r>
          </a:p>
        </p:txBody>
      </p:sp>
      <p:grpSp>
        <p:nvGrpSpPr>
          <p:cNvPr id="32" name="Group 49"/>
          <p:cNvGrpSpPr>
            <a:grpSpLocks/>
          </p:cNvGrpSpPr>
          <p:nvPr/>
        </p:nvGrpSpPr>
        <p:grpSpPr bwMode="auto">
          <a:xfrm>
            <a:off x="1299003" y="2314278"/>
            <a:ext cx="6227405" cy="1154058"/>
            <a:chOff x="155" y="2425"/>
            <a:chExt cx="5245" cy="1053"/>
          </a:xfrm>
        </p:grpSpPr>
        <p:grpSp>
          <p:nvGrpSpPr>
            <p:cNvPr id="33" name="Group 45"/>
            <p:cNvGrpSpPr>
              <a:grpSpLocks/>
            </p:cNvGrpSpPr>
            <p:nvPr/>
          </p:nvGrpSpPr>
          <p:grpSpPr bwMode="auto">
            <a:xfrm>
              <a:off x="4467" y="2709"/>
              <a:ext cx="933" cy="769"/>
              <a:chOff x="4467" y="2709"/>
              <a:chExt cx="933" cy="769"/>
            </a:xfrm>
          </p:grpSpPr>
          <p:sp>
            <p:nvSpPr>
              <p:cNvPr id="37" name="AutoShape 15"/>
              <p:cNvSpPr>
                <a:spLocks noChangeArrowheads="1"/>
              </p:cNvSpPr>
              <p:nvPr/>
            </p:nvSpPr>
            <p:spPr bwMode="auto">
              <a:xfrm flipV="1">
                <a:off x="4831" y="2709"/>
                <a:ext cx="186" cy="358"/>
              </a:xfrm>
              <a:prstGeom prst="upArrow">
                <a:avLst>
                  <a:gd name="adj1" fmla="val 50000"/>
                  <a:gd name="adj2" fmla="val 81801"/>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sp>
            <p:nvSpPr>
              <p:cNvPr id="38" name="Text Box 17"/>
              <p:cNvSpPr txBox="1">
                <a:spLocks noChangeArrowheads="1"/>
              </p:cNvSpPr>
              <p:nvPr/>
            </p:nvSpPr>
            <p:spPr bwMode="auto">
              <a:xfrm>
                <a:off x="4467" y="3057"/>
                <a:ext cx="933" cy="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itchFamily="34" charset="-122"/>
                    <a:ea typeface="微软雅黑" pitchFamily="34" charset="-122"/>
                  </a:rPr>
                  <a:t>数据链路层</a:t>
                </a:r>
              </a:p>
              <a:p>
                <a:pPr algn="ctr"/>
                <a:r>
                  <a:rPr kumimoji="1" lang="zh-CN" altLang="en-US" sz="1200" b="1" dirty="0">
                    <a:solidFill>
                      <a:srgbClr val="0000CC"/>
                    </a:solidFill>
                    <a:latin typeface="微软雅黑" pitchFamily="34" charset="-122"/>
                    <a:ea typeface="微软雅黑" pitchFamily="34" charset="-122"/>
                  </a:rPr>
                  <a:t>使用硬件地址</a:t>
                </a:r>
              </a:p>
            </p:txBody>
          </p:sp>
        </p:grpSp>
        <p:grpSp>
          <p:nvGrpSpPr>
            <p:cNvPr id="34" name="Group 47"/>
            <p:cNvGrpSpPr>
              <a:grpSpLocks/>
            </p:cNvGrpSpPr>
            <p:nvPr/>
          </p:nvGrpSpPr>
          <p:grpSpPr bwMode="auto">
            <a:xfrm>
              <a:off x="155" y="2425"/>
              <a:ext cx="870" cy="281"/>
              <a:chOff x="155" y="2425"/>
              <a:chExt cx="870" cy="281"/>
            </a:xfrm>
          </p:grpSpPr>
          <p:sp>
            <p:nvSpPr>
              <p:cNvPr id="35" name="AutoShape 37"/>
              <p:cNvSpPr>
                <a:spLocks noChangeArrowheads="1"/>
              </p:cNvSpPr>
              <p:nvPr/>
            </p:nvSpPr>
            <p:spPr bwMode="auto">
              <a:xfrm>
                <a:off x="182" y="2427"/>
                <a:ext cx="802" cy="273"/>
              </a:xfrm>
              <a:prstGeom prst="wedgeRoundRectCallout">
                <a:avLst>
                  <a:gd name="adj1" fmla="val 72116"/>
                  <a:gd name="adj2" fmla="val 129167"/>
                  <a:gd name="adj3" fmla="val 16667"/>
                </a:avLst>
              </a:prstGeom>
              <a:solidFill>
                <a:srgbClr val="66FFFF"/>
              </a:solidFill>
              <a:ln w="9525">
                <a:solidFill>
                  <a:schemeClr val="tx1"/>
                </a:solidFill>
                <a:miter lim="800000"/>
                <a:headEnd/>
                <a:tailEnd/>
              </a:ln>
              <a:effectLst/>
            </p:spPr>
            <p:txBody>
              <a:bodyPr/>
              <a:lstStyle/>
              <a:p>
                <a:pPr algn="ctr"/>
                <a:endParaRPr kumimoji="1" lang="zh-CN" altLang="zh-CN" sz="1400" b="1">
                  <a:solidFill>
                    <a:srgbClr val="0000CC"/>
                  </a:solidFill>
                  <a:latin typeface="微软雅黑" pitchFamily="34" charset="-122"/>
                  <a:ea typeface="微软雅黑" pitchFamily="34" charset="-122"/>
                </a:endParaRPr>
              </a:p>
            </p:txBody>
          </p:sp>
          <p:sp>
            <p:nvSpPr>
              <p:cNvPr id="36" name="Text Box 38"/>
              <p:cNvSpPr txBox="1">
                <a:spLocks noChangeArrowheads="1"/>
              </p:cNvSpPr>
              <p:nvPr/>
            </p:nvSpPr>
            <p:spPr bwMode="auto">
              <a:xfrm>
                <a:off x="155" y="2425"/>
                <a:ext cx="870"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itchFamily="34" charset="-122"/>
                    <a:ea typeface="微软雅黑" pitchFamily="34" charset="-122"/>
                  </a:rPr>
                  <a:t>MAC </a:t>
                </a:r>
                <a:r>
                  <a:rPr kumimoji="1" lang="zh-CN" altLang="en-US" sz="1400" b="1" dirty="0">
                    <a:solidFill>
                      <a:srgbClr val="0000CC"/>
                    </a:solidFill>
                    <a:latin typeface="微软雅黑" pitchFamily="34" charset="-122"/>
                    <a:ea typeface="微软雅黑" pitchFamily="34" charset="-122"/>
                  </a:rPr>
                  <a:t>地址</a:t>
                </a:r>
              </a:p>
            </p:txBody>
          </p:sp>
        </p:grpSp>
      </p:grpSp>
      <p:grpSp>
        <p:nvGrpSpPr>
          <p:cNvPr id="39" name="Group 48"/>
          <p:cNvGrpSpPr>
            <a:grpSpLocks/>
          </p:cNvGrpSpPr>
          <p:nvPr/>
        </p:nvGrpSpPr>
        <p:grpSpPr bwMode="auto">
          <a:xfrm>
            <a:off x="2208477" y="1657788"/>
            <a:ext cx="5307246" cy="967742"/>
            <a:chOff x="921" y="1826"/>
            <a:chExt cx="4470" cy="883"/>
          </a:xfrm>
        </p:grpSpPr>
        <p:grpSp>
          <p:nvGrpSpPr>
            <p:cNvPr id="40" name="Group 44"/>
            <p:cNvGrpSpPr>
              <a:grpSpLocks/>
            </p:cNvGrpSpPr>
            <p:nvPr/>
          </p:nvGrpSpPr>
          <p:grpSpPr bwMode="auto">
            <a:xfrm>
              <a:off x="4458" y="1990"/>
              <a:ext cx="933" cy="719"/>
              <a:chOff x="4458" y="1990"/>
              <a:chExt cx="933" cy="719"/>
            </a:xfrm>
          </p:grpSpPr>
          <p:sp>
            <p:nvSpPr>
              <p:cNvPr id="44" name="AutoShape 14"/>
              <p:cNvSpPr>
                <a:spLocks noChangeArrowheads="1"/>
              </p:cNvSpPr>
              <p:nvPr/>
            </p:nvSpPr>
            <p:spPr bwMode="auto">
              <a:xfrm>
                <a:off x="4831" y="2352"/>
                <a:ext cx="186" cy="357"/>
              </a:xfrm>
              <a:prstGeom prst="upArrow">
                <a:avLst>
                  <a:gd name="adj1" fmla="val 50000"/>
                  <a:gd name="adj2" fmla="val 69479"/>
                </a:avLst>
              </a:prstGeom>
              <a:solidFill>
                <a:srgbClr val="FF99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sp>
            <p:nvSpPr>
              <p:cNvPr id="45" name="Text Box 16"/>
              <p:cNvSpPr txBox="1">
                <a:spLocks noChangeArrowheads="1"/>
              </p:cNvSpPr>
              <p:nvPr/>
            </p:nvSpPr>
            <p:spPr bwMode="auto">
              <a:xfrm>
                <a:off x="4458" y="1990"/>
                <a:ext cx="933" cy="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itchFamily="34" charset="-122"/>
                    <a:ea typeface="微软雅黑" pitchFamily="34" charset="-122"/>
                  </a:rPr>
                  <a:t>网络层及以上</a:t>
                </a:r>
              </a:p>
              <a:p>
                <a:pPr algn="ctr"/>
                <a:r>
                  <a:rPr kumimoji="1" lang="zh-CN" altLang="en-US" sz="1200" b="1" dirty="0">
                    <a:solidFill>
                      <a:srgbClr val="0000CC"/>
                    </a:solidFill>
                    <a:latin typeface="微软雅黑" pitchFamily="34" charset="-122"/>
                    <a:ea typeface="微软雅黑" pitchFamily="34" charset="-122"/>
                  </a:rPr>
                  <a:t> 使用 </a:t>
                </a:r>
                <a:r>
                  <a:rPr kumimoji="1" lang="en-US" altLang="zh-CN" sz="1200" b="1" dirty="0">
                    <a:solidFill>
                      <a:srgbClr val="0000CC"/>
                    </a:solidFill>
                    <a:latin typeface="微软雅黑" pitchFamily="34" charset="-122"/>
                    <a:ea typeface="微软雅黑" pitchFamily="34" charset="-122"/>
                  </a:rPr>
                  <a:t>IP </a:t>
                </a:r>
                <a:r>
                  <a:rPr kumimoji="1" lang="zh-CN" altLang="en-US" sz="1200" b="1" dirty="0">
                    <a:solidFill>
                      <a:srgbClr val="0000CC"/>
                    </a:solidFill>
                    <a:latin typeface="微软雅黑" pitchFamily="34" charset="-122"/>
                    <a:ea typeface="微软雅黑" pitchFamily="34" charset="-122"/>
                  </a:rPr>
                  <a:t>地址</a:t>
                </a:r>
              </a:p>
            </p:txBody>
          </p:sp>
        </p:grpSp>
        <p:grpSp>
          <p:nvGrpSpPr>
            <p:cNvPr id="41" name="Group 46"/>
            <p:cNvGrpSpPr>
              <a:grpSpLocks/>
            </p:cNvGrpSpPr>
            <p:nvPr/>
          </p:nvGrpSpPr>
          <p:grpSpPr bwMode="auto">
            <a:xfrm>
              <a:off x="921" y="1826"/>
              <a:ext cx="763" cy="326"/>
              <a:chOff x="921" y="1826"/>
              <a:chExt cx="763" cy="326"/>
            </a:xfrm>
          </p:grpSpPr>
          <p:sp>
            <p:nvSpPr>
              <p:cNvPr id="42" name="AutoShape 40"/>
              <p:cNvSpPr>
                <a:spLocks noChangeArrowheads="1"/>
              </p:cNvSpPr>
              <p:nvPr/>
            </p:nvSpPr>
            <p:spPr bwMode="auto">
              <a:xfrm>
                <a:off x="921" y="1826"/>
                <a:ext cx="654" cy="254"/>
              </a:xfrm>
              <a:prstGeom prst="wedgeRoundRectCallout">
                <a:avLst>
                  <a:gd name="adj1" fmla="val 72171"/>
                  <a:gd name="adj2" fmla="val 129134"/>
                  <a:gd name="adj3" fmla="val 16667"/>
                </a:avLst>
              </a:prstGeom>
              <a:solidFill>
                <a:srgbClr val="FF99FF"/>
              </a:solidFill>
              <a:ln w="9525">
                <a:solidFill>
                  <a:schemeClr val="tx1"/>
                </a:solidFill>
                <a:miter lim="800000"/>
                <a:headEnd/>
                <a:tailEnd/>
              </a:ln>
              <a:effectLst/>
            </p:spPr>
            <p:txBody>
              <a:bodyPr/>
              <a:lstStyle/>
              <a:p>
                <a:pPr algn="ctr"/>
                <a:endParaRPr kumimoji="1" lang="zh-CN" altLang="zh-CN" sz="1400" b="1">
                  <a:solidFill>
                    <a:srgbClr val="0000CC"/>
                  </a:solidFill>
                  <a:latin typeface="微软雅黑" pitchFamily="34" charset="-122"/>
                  <a:ea typeface="微软雅黑" pitchFamily="34" charset="-122"/>
                </a:endParaRPr>
              </a:p>
            </p:txBody>
          </p:sp>
          <p:sp>
            <p:nvSpPr>
              <p:cNvPr id="43" name="Text Box 41"/>
              <p:cNvSpPr txBox="1">
                <a:spLocks noChangeArrowheads="1"/>
              </p:cNvSpPr>
              <p:nvPr/>
            </p:nvSpPr>
            <p:spPr bwMode="auto">
              <a:xfrm>
                <a:off x="927" y="1827"/>
                <a:ext cx="757" cy="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itchFamily="34" charset="-122"/>
                    <a:ea typeface="微软雅黑" pitchFamily="34" charset="-122"/>
                  </a:rPr>
                  <a:t>IP </a:t>
                </a:r>
                <a:r>
                  <a:rPr kumimoji="1" lang="zh-CN" altLang="en-US" sz="1400" b="1" dirty="0">
                    <a:solidFill>
                      <a:srgbClr val="0000CC"/>
                    </a:solidFill>
                    <a:latin typeface="微软雅黑" pitchFamily="34" charset="-122"/>
                    <a:ea typeface="微软雅黑" pitchFamily="34" charset="-122"/>
                  </a:rPr>
                  <a:t>地址</a:t>
                </a:r>
              </a:p>
            </p:txBody>
          </p:sp>
        </p:grpSp>
      </p:grpSp>
      <p:sp>
        <p:nvSpPr>
          <p:cNvPr id="46" name="Rectangle 43"/>
          <p:cNvSpPr>
            <a:spLocks noChangeArrowheads="1"/>
          </p:cNvSpPr>
          <p:nvPr/>
        </p:nvSpPr>
        <p:spPr bwMode="auto">
          <a:xfrm>
            <a:off x="2927981" y="2796503"/>
            <a:ext cx="2841214" cy="299200"/>
          </a:xfrm>
          <a:prstGeom prst="rect">
            <a:avLst/>
          </a:prstGeom>
          <a:solidFill>
            <a:srgbClr val="FFFF99"/>
          </a:solidFill>
          <a:ln>
            <a:noFill/>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7" name="矩形 46"/>
          <p:cNvSpPr/>
          <p:nvPr/>
        </p:nvSpPr>
        <p:spPr>
          <a:xfrm>
            <a:off x="2407944" y="3587964"/>
            <a:ext cx="4010710" cy="646331"/>
          </a:xfrm>
          <a:prstGeom prst="rect">
            <a:avLst/>
          </a:prstGeom>
          <a:solidFill>
            <a:srgbClr val="0000CC"/>
          </a:solidFill>
        </p:spPr>
        <p:txBody>
          <a:bodyPr wrap="square">
            <a:spAutoFit/>
          </a:bodyPr>
          <a:lstStyle/>
          <a:p>
            <a:r>
              <a:rPr lang="en-US" altLang="zh-CN" b="1" dirty="0">
                <a:solidFill>
                  <a:schemeClr val="bg1"/>
                </a:solidFill>
                <a:latin typeface="微软雅黑" pitchFamily="34" charset="-122"/>
                <a:ea typeface="微软雅黑" pitchFamily="34" charset="-122"/>
              </a:rPr>
              <a:t>IP </a:t>
            </a:r>
            <a:r>
              <a:rPr lang="zh-CN" altLang="zh-CN" b="1" dirty="0">
                <a:solidFill>
                  <a:schemeClr val="bg1"/>
                </a:solidFill>
                <a:latin typeface="微软雅黑" pitchFamily="34" charset="-122"/>
                <a:ea typeface="微软雅黑" pitchFamily="34" charset="-122"/>
              </a:rPr>
              <a:t>地址放在</a:t>
            </a:r>
            <a:r>
              <a:rPr lang="en-US" altLang="zh-CN" b="1" dirty="0">
                <a:solidFill>
                  <a:schemeClr val="bg1"/>
                </a:solidFill>
                <a:latin typeface="微软雅黑" pitchFamily="34" charset="-122"/>
                <a:ea typeface="微软雅黑" pitchFamily="34" charset="-122"/>
              </a:rPr>
              <a:t> IP </a:t>
            </a:r>
            <a:r>
              <a:rPr lang="zh-CN" altLang="zh-CN" b="1" dirty="0">
                <a:solidFill>
                  <a:schemeClr val="bg1"/>
                </a:solidFill>
                <a:latin typeface="微软雅黑" pitchFamily="34" charset="-122"/>
                <a:ea typeface="微软雅黑" pitchFamily="34" charset="-122"/>
              </a:rPr>
              <a:t>数据报的首部，</a:t>
            </a:r>
            <a:endParaRPr lang="en-US" altLang="zh-CN" b="1" dirty="0">
              <a:solidFill>
                <a:schemeClr val="bg1"/>
              </a:solidFill>
              <a:latin typeface="微软雅黑" pitchFamily="34" charset="-122"/>
              <a:ea typeface="微软雅黑" pitchFamily="34" charset="-122"/>
            </a:endParaRPr>
          </a:p>
          <a:p>
            <a:r>
              <a:rPr lang="en-US" altLang="zh-CN" b="1" dirty="0">
                <a:solidFill>
                  <a:schemeClr val="bg1"/>
                </a:solidFill>
                <a:latin typeface="微软雅黑" pitchFamily="34" charset="-122"/>
                <a:ea typeface="微软雅黑" pitchFamily="34" charset="-122"/>
              </a:rPr>
              <a:t>MAC </a:t>
            </a:r>
            <a:r>
              <a:rPr lang="zh-CN" altLang="zh-CN" b="1" dirty="0">
                <a:solidFill>
                  <a:schemeClr val="bg1"/>
                </a:solidFill>
                <a:latin typeface="微软雅黑" pitchFamily="34" charset="-122"/>
                <a:ea typeface="微软雅黑" pitchFamily="34" charset="-122"/>
              </a:rPr>
              <a:t>地址则放在</a:t>
            </a:r>
            <a:r>
              <a:rPr lang="en-US" altLang="zh-CN" b="1" dirty="0">
                <a:solidFill>
                  <a:schemeClr val="bg1"/>
                </a:solidFill>
                <a:latin typeface="微软雅黑" pitchFamily="34" charset="-122"/>
                <a:ea typeface="微软雅黑" pitchFamily="34" charset="-122"/>
              </a:rPr>
              <a:t> MAC </a:t>
            </a:r>
            <a:r>
              <a:rPr lang="zh-CN" altLang="zh-CN" b="1" dirty="0">
                <a:solidFill>
                  <a:schemeClr val="bg1"/>
                </a:solidFill>
                <a:latin typeface="微软雅黑" pitchFamily="34" charset="-122"/>
                <a:ea typeface="微软雅黑" pitchFamily="34" charset="-122"/>
              </a:rPr>
              <a:t>帧的首部</a:t>
            </a:r>
            <a:r>
              <a:rPr lang="zh-CN" altLang="en-US" b="1" dirty="0">
                <a:solidFill>
                  <a:schemeClr val="bg1"/>
                </a:solidFill>
                <a:latin typeface="微软雅黑" pitchFamily="34" charset="-122"/>
                <a:ea typeface="微软雅黑" pitchFamily="34" charset="-122"/>
              </a:rPr>
              <a:t>。</a:t>
            </a:r>
          </a:p>
        </p:txBody>
      </p:sp>
    </p:spTree>
    <p:extLst>
      <p:ext uri="{BB962C8B-B14F-4D97-AF65-F5344CB8AC3E}">
        <p14:creationId xmlns:p14="http://schemas.microsoft.com/office/powerpoint/2010/main" val="282594271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nodeType="clickEffect">
                                  <p:stCondLst>
                                    <p:cond delay="0"/>
                                  </p:stCondLst>
                                  <p:childTnLst>
                                    <p:anim calcmode="discrete" valueType="str">
                                      <p:cBhvr>
                                        <p:cTn id="6"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nodeType="clickEffect">
                                  <p:stCondLst>
                                    <p:cond delay="0"/>
                                  </p:stCondLst>
                                  <p:childTnLst>
                                    <p:anim calcmode="discrete" valueType="str">
                                      <p:cBhvr>
                                        <p:cTn id="10" dur="1000" fill="hold"/>
                                        <p:tgtEl>
                                          <p:spTgt spid="3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 name="圆角矩形 121"/>
          <p:cNvSpPr/>
          <p:nvPr/>
        </p:nvSpPr>
        <p:spPr>
          <a:xfrm>
            <a:off x="545144" y="620973"/>
            <a:ext cx="8053712" cy="374071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33" name="Text Box 108"/>
          <p:cNvSpPr txBox="1">
            <a:spLocks noChangeArrowheads="1"/>
          </p:cNvSpPr>
          <p:nvPr/>
        </p:nvSpPr>
        <p:spPr bwMode="auto">
          <a:xfrm>
            <a:off x="2491015" y="2110053"/>
            <a:ext cx="4265911" cy="701731"/>
          </a:xfrm>
          <a:prstGeom prst="rect">
            <a:avLst/>
          </a:prstGeom>
          <a:solidFill>
            <a:srgbClr val="0000CC"/>
          </a:solidFill>
          <a:ln w="9525">
            <a:solidFill>
              <a:srgbClr val="333399"/>
            </a:solidFill>
            <a:miter lim="800000"/>
            <a:headEnd/>
            <a:tailEnd/>
          </a:ln>
          <a:effectLst/>
        </p:spPr>
        <p:txBody>
          <a:bodyPr wrap="none">
            <a:spAutoFit/>
          </a:bodyPr>
          <a:lstStyle/>
          <a:p>
            <a:pPr algn="ctr">
              <a:lnSpc>
                <a:spcPct val="110000"/>
              </a:lnSpc>
            </a:pPr>
            <a:r>
              <a:rPr lang="zh-CN" altLang="en-US" b="1" dirty="0">
                <a:solidFill>
                  <a:schemeClr val="bg1"/>
                </a:solidFill>
                <a:latin typeface="微软雅黑" pitchFamily="34" charset="-122"/>
                <a:ea typeface="微软雅黑" pitchFamily="34" charset="-122"/>
              </a:rPr>
              <a:t>通信的路径：</a:t>
            </a:r>
          </a:p>
          <a:p>
            <a:pPr algn="ctr">
              <a:lnSpc>
                <a:spcPct val="110000"/>
              </a:lnSpc>
              <a:spcAft>
                <a:spcPct val="30000"/>
              </a:spcAft>
            </a:pPr>
            <a:r>
              <a:rPr lang="en-US" altLang="zh-CN" b="1" dirty="0">
                <a:solidFill>
                  <a:schemeClr val="bg1"/>
                </a:solidFill>
                <a:latin typeface="微软雅黑" pitchFamily="34" charset="-122"/>
                <a:ea typeface="微软雅黑" pitchFamily="34" charset="-122"/>
              </a:rPr>
              <a:t>H</a:t>
            </a:r>
            <a:r>
              <a:rPr lang="en-US" altLang="zh-CN" b="1" baseline="-25000" dirty="0">
                <a:solidFill>
                  <a:schemeClr val="bg1"/>
                </a:solidFill>
                <a:latin typeface="微软雅黑" pitchFamily="34" charset="-122"/>
                <a:ea typeface="微软雅黑" pitchFamily="34" charset="-122"/>
              </a:rPr>
              <a:t>1</a:t>
            </a:r>
            <a:r>
              <a:rPr lang="en-US" altLang="zh-CN" b="1" dirty="0">
                <a:solidFill>
                  <a:schemeClr val="bg1"/>
                </a:solidFill>
                <a:latin typeface="微软雅黑" pitchFamily="34" charset="-122"/>
                <a:ea typeface="微软雅黑" pitchFamily="34" charset="-122"/>
              </a:rPr>
              <a:t>→</a:t>
            </a:r>
            <a:r>
              <a:rPr lang="zh-CN" altLang="en-US" b="1" dirty="0">
                <a:solidFill>
                  <a:schemeClr val="bg1"/>
                </a:solidFill>
                <a:latin typeface="微软雅黑" pitchFamily="34" charset="-122"/>
                <a:ea typeface="微软雅黑" pitchFamily="34" charset="-122"/>
              </a:rPr>
              <a:t>经过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 </a:t>
            </a:r>
            <a:r>
              <a:rPr lang="zh-CN" altLang="en-US" b="1" dirty="0">
                <a:solidFill>
                  <a:schemeClr val="bg1"/>
                </a:solidFill>
                <a:latin typeface="微软雅黑" pitchFamily="34" charset="-122"/>
                <a:ea typeface="微软雅黑" pitchFamily="34" charset="-122"/>
              </a:rPr>
              <a:t>转发→再经过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2 </a:t>
            </a:r>
            <a:r>
              <a:rPr lang="zh-CN" altLang="en-US" b="1" dirty="0">
                <a:solidFill>
                  <a:schemeClr val="bg1"/>
                </a:solidFill>
                <a:latin typeface="微软雅黑" pitchFamily="34" charset="-122"/>
                <a:ea typeface="微软雅黑" pitchFamily="34" charset="-122"/>
              </a:rPr>
              <a:t>转发→</a:t>
            </a:r>
            <a:r>
              <a:rPr lang="en-US" altLang="zh-CN" b="1" dirty="0">
                <a:solidFill>
                  <a:schemeClr val="bg1"/>
                </a:solidFill>
                <a:latin typeface="微软雅黑" pitchFamily="34" charset="-122"/>
                <a:ea typeface="微软雅黑" pitchFamily="34" charset="-122"/>
              </a:rPr>
              <a:t>H</a:t>
            </a:r>
            <a:r>
              <a:rPr lang="en-US" altLang="zh-CN" b="1" baseline="-25000" dirty="0">
                <a:solidFill>
                  <a:schemeClr val="bg1"/>
                </a:solidFill>
                <a:latin typeface="微软雅黑" pitchFamily="34" charset="-122"/>
                <a:ea typeface="微软雅黑" pitchFamily="34" charset="-122"/>
              </a:rPr>
              <a:t>2</a:t>
            </a:r>
            <a:endParaRPr lang="en-US" altLang="zh-CN" b="1" dirty="0">
              <a:solidFill>
                <a:schemeClr val="bg1"/>
              </a:solidFill>
              <a:latin typeface="微软雅黑" pitchFamily="34" charset="-122"/>
              <a:ea typeface="微软雅黑" pitchFamily="34" charset="-122"/>
            </a:endParaRPr>
          </a:p>
        </p:txBody>
      </p:sp>
      <p:sp>
        <p:nvSpPr>
          <p:cNvPr id="138" name="Text Box 112"/>
          <p:cNvSpPr txBox="1">
            <a:spLocks noChangeArrowheads="1"/>
          </p:cNvSpPr>
          <p:nvPr/>
        </p:nvSpPr>
        <p:spPr bwMode="auto">
          <a:xfrm>
            <a:off x="2884990" y="716860"/>
            <a:ext cx="1082348" cy="372410"/>
          </a:xfrm>
          <a:prstGeom prst="rect">
            <a:avLst/>
          </a:prstGeom>
          <a:solidFill>
            <a:srgbClr val="00FF99"/>
          </a:solidFill>
          <a:ln w="9525">
            <a:solidFill>
              <a:srgbClr val="333399"/>
            </a:solidFill>
            <a:miter lim="800000"/>
            <a:headEnd/>
            <a:tailEnd/>
          </a:ln>
          <a:effectLst/>
        </p:spPr>
        <p:txBody>
          <a:bodyPr wrap="none">
            <a:spAutoFit/>
          </a:bodyPr>
          <a:lstStyle/>
          <a:p>
            <a:pPr algn="ctr">
              <a:lnSpc>
                <a:spcPct val="130000"/>
              </a:lnSpc>
            </a:pPr>
            <a:r>
              <a:rPr lang="zh-CN" altLang="en-US" sz="1400" b="1" dirty="0">
                <a:latin typeface="微软雅黑" pitchFamily="34" charset="-122"/>
                <a:ea typeface="微软雅黑" pitchFamily="34" charset="-122"/>
              </a:rPr>
              <a:t>查找路由表</a:t>
            </a:r>
          </a:p>
        </p:txBody>
      </p:sp>
      <p:sp>
        <p:nvSpPr>
          <p:cNvPr id="139" name="Text Box 113"/>
          <p:cNvSpPr txBox="1">
            <a:spLocks noChangeArrowheads="1"/>
          </p:cNvSpPr>
          <p:nvPr/>
        </p:nvSpPr>
        <p:spPr bwMode="auto">
          <a:xfrm>
            <a:off x="4776690" y="716860"/>
            <a:ext cx="1082348" cy="372410"/>
          </a:xfrm>
          <a:prstGeom prst="rect">
            <a:avLst/>
          </a:prstGeom>
          <a:solidFill>
            <a:srgbClr val="00FF99"/>
          </a:solidFill>
          <a:ln w="9525">
            <a:solidFill>
              <a:srgbClr val="333399"/>
            </a:solidFill>
            <a:miter lim="800000"/>
            <a:headEnd/>
            <a:tailEnd/>
          </a:ln>
          <a:effectLst/>
        </p:spPr>
        <p:txBody>
          <a:bodyPr wrap="none">
            <a:spAutoFit/>
          </a:bodyPr>
          <a:lstStyle/>
          <a:p>
            <a:pPr algn="ctr">
              <a:lnSpc>
                <a:spcPct val="130000"/>
              </a:lnSpc>
            </a:pPr>
            <a:r>
              <a:rPr lang="zh-CN" altLang="en-US" sz="1400" b="1" dirty="0">
                <a:latin typeface="微软雅黑" pitchFamily="34" charset="-122"/>
                <a:ea typeface="微软雅黑" pitchFamily="34" charset="-122"/>
              </a:rPr>
              <a:t>查找路由表</a:t>
            </a:r>
          </a:p>
        </p:txBody>
      </p:sp>
      <p:grpSp>
        <p:nvGrpSpPr>
          <p:cNvPr id="2" name="组合 1"/>
          <p:cNvGrpSpPr/>
          <p:nvPr/>
        </p:nvGrpSpPr>
        <p:grpSpPr>
          <a:xfrm>
            <a:off x="1414301" y="708834"/>
            <a:ext cx="6169421" cy="1001954"/>
            <a:chOff x="1414301" y="708834"/>
            <a:chExt cx="6169421" cy="1001954"/>
          </a:xfrm>
        </p:grpSpPr>
        <p:sp>
          <p:nvSpPr>
            <p:cNvPr id="38" name="Freeform 2"/>
            <p:cNvSpPr>
              <a:spLocks/>
            </p:cNvSpPr>
            <p:nvPr/>
          </p:nvSpPr>
          <p:spPr bwMode="auto">
            <a:xfrm>
              <a:off x="3120664" y="1412506"/>
              <a:ext cx="170724" cy="29032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9" name="Freeform 3"/>
            <p:cNvSpPr>
              <a:spLocks/>
            </p:cNvSpPr>
            <p:nvPr/>
          </p:nvSpPr>
          <p:spPr bwMode="auto">
            <a:xfrm>
              <a:off x="5000809" y="1412506"/>
              <a:ext cx="116354" cy="289461"/>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0" name="Line 4"/>
            <p:cNvSpPr>
              <a:spLocks noChangeShapeType="1"/>
            </p:cNvSpPr>
            <p:nvPr/>
          </p:nvSpPr>
          <p:spPr bwMode="auto">
            <a:xfrm rot="16200000">
              <a:off x="7110950" y="1556581"/>
              <a:ext cx="290325" cy="217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1" name="Line 5"/>
            <p:cNvSpPr>
              <a:spLocks noChangeShapeType="1"/>
            </p:cNvSpPr>
            <p:nvPr/>
          </p:nvSpPr>
          <p:spPr bwMode="auto">
            <a:xfrm rot="16200000">
              <a:off x="1525973" y="1556581"/>
              <a:ext cx="290325" cy="217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2" name="Line 6"/>
            <p:cNvSpPr>
              <a:spLocks noChangeShapeType="1"/>
            </p:cNvSpPr>
            <p:nvPr/>
          </p:nvSpPr>
          <p:spPr bwMode="auto">
            <a:xfrm>
              <a:off x="1509111" y="1702831"/>
              <a:ext cx="1772490"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3" name="Line 11"/>
            <p:cNvSpPr>
              <a:spLocks noChangeShapeType="1"/>
            </p:cNvSpPr>
            <p:nvPr/>
          </p:nvSpPr>
          <p:spPr bwMode="auto">
            <a:xfrm>
              <a:off x="5484709" y="1702831"/>
              <a:ext cx="1987799"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4" name="Text Box 13"/>
            <p:cNvSpPr txBox="1">
              <a:spLocks noChangeArrowheads="1"/>
            </p:cNvSpPr>
            <p:nvPr/>
          </p:nvSpPr>
          <p:spPr bwMode="auto">
            <a:xfrm>
              <a:off x="1414301" y="755888"/>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45" name="Text Box 14"/>
            <p:cNvSpPr txBox="1">
              <a:spLocks noChangeArrowheads="1"/>
            </p:cNvSpPr>
            <p:nvPr/>
          </p:nvSpPr>
          <p:spPr bwMode="auto">
            <a:xfrm>
              <a:off x="6902125" y="755888"/>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46" name="Line 15"/>
            <p:cNvSpPr>
              <a:spLocks noChangeShapeType="1"/>
            </p:cNvSpPr>
            <p:nvPr/>
          </p:nvSpPr>
          <p:spPr bwMode="auto">
            <a:xfrm>
              <a:off x="3604564" y="1702831"/>
              <a:ext cx="1557182"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7" name="Freeform 16"/>
            <p:cNvSpPr>
              <a:spLocks/>
            </p:cNvSpPr>
            <p:nvPr/>
          </p:nvSpPr>
          <p:spPr bwMode="auto">
            <a:xfrm flipH="1">
              <a:off x="5484709" y="1412506"/>
              <a:ext cx="160938" cy="29032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8" name="Freeform 17"/>
            <p:cNvSpPr>
              <a:spLocks/>
            </p:cNvSpPr>
            <p:nvPr/>
          </p:nvSpPr>
          <p:spPr bwMode="auto">
            <a:xfrm flipH="1">
              <a:off x="3648060" y="1412506"/>
              <a:ext cx="117441" cy="291189"/>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9" name="Text Box 18"/>
            <p:cNvSpPr txBox="1">
              <a:spLocks noChangeArrowheads="1"/>
            </p:cNvSpPr>
            <p:nvPr/>
          </p:nvSpPr>
          <p:spPr bwMode="auto">
            <a:xfrm>
              <a:off x="3092658" y="1053174"/>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1</a:t>
              </a:r>
            </a:p>
          </p:txBody>
        </p:sp>
        <p:pic>
          <p:nvPicPr>
            <p:cNvPr id="50" name="Picture 2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054092" y="1274256"/>
              <a:ext cx="528485" cy="236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1" name="Picture 2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83734" y="1262159"/>
              <a:ext cx="527397" cy="236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2" name="AutoShape 23"/>
            <p:cNvSpPr>
              <a:spLocks noChangeArrowheads="1"/>
            </p:cNvSpPr>
            <p:nvPr/>
          </p:nvSpPr>
          <p:spPr bwMode="auto">
            <a:xfrm flipV="1">
              <a:off x="2026444" y="1105322"/>
              <a:ext cx="824144" cy="183094"/>
            </a:xfrm>
            <a:prstGeom prst="wedgeRoundRectCallout">
              <a:avLst>
                <a:gd name="adj1" fmla="val -45890"/>
                <a:gd name="adj2" fmla="val -153208"/>
                <a:gd name="adj3" fmla="val 16667"/>
              </a:avLst>
            </a:prstGeom>
            <a:solidFill>
              <a:srgbClr val="66FFFF"/>
            </a:solidFill>
            <a:ln w="9525">
              <a:solidFill>
                <a:schemeClr val="tx1"/>
              </a:solidFill>
              <a:miter lim="800000"/>
              <a:headEnd/>
              <a:tailEnd/>
            </a:ln>
            <a:effectLst/>
          </p:spPr>
          <p:txBody>
            <a:bodyPr rot="10800000" wrap="none" anchor="ctr"/>
            <a:lstStyle/>
            <a:p>
              <a:pPr algn="ctr"/>
              <a:r>
                <a:rPr kumimoji="1" lang="en-US" altLang="zh-CN" sz="1100" b="1" dirty="0">
                  <a:latin typeface="微软雅黑" pitchFamily="34" charset="-122"/>
                  <a:ea typeface="微软雅黑" pitchFamily="34" charset="-122"/>
                </a:rPr>
                <a:t>MAC </a:t>
              </a:r>
              <a:r>
                <a:rPr kumimoji="1" lang="zh-CN" altLang="en-US" sz="1100" b="1" dirty="0">
                  <a:latin typeface="微软雅黑" pitchFamily="34" charset="-122"/>
                  <a:ea typeface="微软雅黑" pitchFamily="34" charset="-122"/>
                </a:rPr>
                <a:t>地址</a:t>
              </a:r>
            </a:p>
          </p:txBody>
        </p:sp>
        <p:sp>
          <p:nvSpPr>
            <p:cNvPr id="53" name="Text Box 25"/>
            <p:cNvSpPr txBox="1">
              <a:spLocks noChangeArrowheads="1"/>
            </p:cNvSpPr>
            <p:nvPr/>
          </p:nvSpPr>
          <p:spPr bwMode="auto">
            <a:xfrm>
              <a:off x="4963812" y="1056629"/>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2</a:t>
              </a:r>
            </a:p>
          </p:txBody>
        </p:sp>
        <p:sp>
          <p:nvSpPr>
            <p:cNvPr id="54" name="Text Box 29"/>
            <p:cNvSpPr txBox="1">
              <a:spLocks noChangeArrowheads="1"/>
            </p:cNvSpPr>
            <p:nvPr/>
          </p:nvSpPr>
          <p:spPr bwMode="auto">
            <a:xfrm>
              <a:off x="2139132"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55" name="Text Box 30"/>
            <p:cNvSpPr txBox="1">
              <a:spLocks noChangeArrowheads="1"/>
            </p:cNvSpPr>
            <p:nvPr/>
          </p:nvSpPr>
          <p:spPr bwMode="auto">
            <a:xfrm>
              <a:off x="4117311"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56" name="Text Box 31"/>
            <p:cNvSpPr txBox="1">
              <a:spLocks noChangeArrowheads="1"/>
            </p:cNvSpPr>
            <p:nvPr/>
          </p:nvSpPr>
          <p:spPr bwMode="auto">
            <a:xfrm>
              <a:off x="6137566"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57" name="Text Box 7"/>
            <p:cNvSpPr txBox="1">
              <a:spLocks noChangeArrowheads="1"/>
            </p:cNvSpPr>
            <p:nvPr/>
          </p:nvSpPr>
          <p:spPr bwMode="auto">
            <a:xfrm>
              <a:off x="1629867" y="1422876"/>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1</a:t>
              </a:r>
              <a:endParaRPr kumimoji="1" lang="en-US" altLang="zh-CN" sz="1100" b="1" dirty="0">
                <a:solidFill>
                  <a:srgbClr val="0000CC"/>
                </a:solidFill>
                <a:latin typeface="微软雅黑" pitchFamily="34" charset="-122"/>
                <a:ea typeface="微软雅黑" pitchFamily="34" charset="-122"/>
              </a:endParaRPr>
            </a:p>
          </p:txBody>
        </p:sp>
        <p:sp>
          <p:nvSpPr>
            <p:cNvPr id="58" name="Text Box 8"/>
            <p:cNvSpPr txBox="1">
              <a:spLocks noChangeArrowheads="1"/>
            </p:cNvSpPr>
            <p:nvPr/>
          </p:nvSpPr>
          <p:spPr bwMode="auto">
            <a:xfrm>
              <a:off x="4570245"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5</a:t>
              </a:r>
              <a:endParaRPr kumimoji="1" lang="en-US" altLang="zh-CN" sz="1100" b="1" dirty="0">
                <a:solidFill>
                  <a:srgbClr val="0000CC"/>
                </a:solidFill>
                <a:latin typeface="微软雅黑" pitchFamily="34" charset="-122"/>
                <a:ea typeface="微软雅黑" pitchFamily="34" charset="-122"/>
              </a:endParaRPr>
            </a:p>
          </p:txBody>
        </p:sp>
        <p:sp>
          <p:nvSpPr>
            <p:cNvPr id="59" name="Text Box 9"/>
            <p:cNvSpPr txBox="1">
              <a:spLocks noChangeArrowheads="1"/>
            </p:cNvSpPr>
            <p:nvPr/>
          </p:nvSpPr>
          <p:spPr bwMode="auto">
            <a:xfrm>
              <a:off x="3702485"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4</a:t>
              </a:r>
              <a:endParaRPr kumimoji="1" lang="en-US" altLang="zh-CN" sz="1100" b="1" dirty="0">
                <a:solidFill>
                  <a:srgbClr val="0000CC"/>
                </a:solidFill>
                <a:latin typeface="微软雅黑" pitchFamily="34" charset="-122"/>
                <a:ea typeface="微软雅黑" pitchFamily="34" charset="-122"/>
              </a:endParaRPr>
            </a:p>
          </p:txBody>
        </p:sp>
        <p:sp>
          <p:nvSpPr>
            <p:cNvPr id="60" name="Text Box 10"/>
            <p:cNvSpPr txBox="1">
              <a:spLocks noChangeArrowheads="1"/>
            </p:cNvSpPr>
            <p:nvPr/>
          </p:nvSpPr>
          <p:spPr bwMode="auto">
            <a:xfrm>
              <a:off x="2612466"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3</a:t>
              </a:r>
              <a:endParaRPr kumimoji="1" lang="en-US" altLang="zh-CN" sz="1100" b="1" dirty="0">
                <a:solidFill>
                  <a:srgbClr val="0000CC"/>
                </a:solidFill>
                <a:latin typeface="微软雅黑" pitchFamily="34" charset="-122"/>
                <a:ea typeface="微软雅黑" pitchFamily="34" charset="-122"/>
              </a:endParaRPr>
            </a:p>
          </p:txBody>
        </p:sp>
        <p:sp>
          <p:nvSpPr>
            <p:cNvPr id="61" name="Text Box 12"/>
            <p:cNvSpPr txBox="1">
              <a:spLocks noChangeArrowheads="1"/>
            </p:cNvSpPr>
            <p:nvPr/>
          </p:nvSpPr>
          <p:spPr bwMode="auto">
            <a:xfrm>
              <a:off x="5582630"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6</a:t>
              </a:r>
              <a:endParaRPr kumimoji="1" lang="en-US" altLang="zh-CN" sz="1100" b="1" dirty="0">
                <a:solidFill>
                  <a:srgbClr val="0000CC"/>
                </a:solidFill>
                <a:latin typeface="微软雅黑" pitchFamily="34" charset="-122"/>
                <a:ea typeface="微软雅黑" pitchFamily="34" charset="-122"/>
              </a:endParaRPr>
            </a:p>
          </p:txBody>
        </p:sp>
        <p:sp>
          <p:nvSpPr>
            <p:cNvPr id="62" name="Text Box 26"/>
            <p:cNvSpPr txBox="1">
              <a:spLocks noChangeArrowheads="1"/>
            </p:cNvSpPr>
            <p:nvPr/>
          </p:nvSpPr>
          <p:spPr bwMode="auto">
            <a:xfrm>
              <a:off x="6812500"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2</a:t>
              </a:r>
              <a:endParaRPr kumimoji="1" lang="en-US" altLang="zh-CN" sz="1100" b="1" dirty="0">
                <a:solidFill>
                  <a:srgbClr val="0000CC"/>
                </a:solidFill>
                <a:latin typeface="微软雅黑" pitchFamily="34" charset="-122"/>
                <a:ea typeface="微软雅黑" pitchFamily="34" charset="-122"/>
              </a:endParaRPr>
            </a:p>
          </p:txBody>
        </p:sp>
        <p:pic>
          <p:nvPicPr>
            <p:cNvPr id="6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44263" y="996212"/>
              <a:ext cx="472829" cy="472829"/>
            </a:xfrm>
            <a:prstGeom prst="rect">
              <a:avLst/>
            </a:prstGeom>
            <a:noFill/>
            <a:extLst>
              <a:ext uri="{909E8E84-426E-40DD-AFC4-6F175D3DCCD1}">
                <a14:hiddenFill xmlns:a14="http://schemas.microsoft.com/office/drawing/2010/main">
                  <a:solidFill>
                    <a:srgbClr val="FFFFFF"/>
                  </a:solidFill>
                </a14:hiddenFill>
              </a:ext>
            </a:extLst>
          </p:spPr>
        </p:pic>
        <p:sp>
          <p:nvSpPr>
            <p:cNvPr id="64" name="Text Box 27"/>
            <p:cNvSpPr txBox="1">
              <a:spLocks noChangeArrowheads="1"/>
            </p:cNvSpPr>
            <p:nvPr/>
          </p:nvSpPr>
          <p:spPr bwMode="auto">
            <a:xfrm>
              <a:off x="1505520" y="1052103"/>
              <a:ext cx="3994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chemeClr val="bg1"/>
                  </a:solidFill>
                  <a:latin typeface="微软雅黑" pitchFamily="34" charset="-122"/>
                  <a:ea typeface="微软雅黑" pitchFamily="34" charset="-122"/>
                </a:rPr>
                <a:t>IP</a:t>
              </a:r>
              <a:r>
                <a:rPr kumimoji="1" lang="en-US" altLang="zh-CN" sz="1200" b="1" baseline="-25000" dirty="0">
                  <a:solidFill>
                    <a:schemeClr val="bg1"/>
                  </a:solidFill>
                  <a:latin typeface="微软雅黑" pitchFamily="34" charset="-122"/>
                  <a:ea typeface="微软雅黑" pitchFamily="34" charset="-122"/>
                </a:rPr>
                <a:t>1</a:t>
              </a:r>
              <a:endParaRPr kumimoji="1" lang="en-US" altLang="zh-CN" sz="1200" b="1" dirty="0">
                <a:solidFill>
                  <a:schemeClr val="bg1"/>
                </a:solidFill>
                <a:latin typeface="微软雅黑" pitchFamily="34" charset="-122"/>
                <a:ea typeface="微软雅黑" pitchFamily="34" charset="-122"/>
              </a:endParaRPr>
            </a:p>
          </p:txBody>
        </p:sp>
        <p:pic>
          <p:nvPicPr>
            <p:cNvPr id="65"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20272" y="996212"/>
              <a:ext cx="472829" cy="472829"/>
            </a:xfrm>
            <a:prstGeom prst="rect">
              <a:avLst/>
            </a:prstGeom>
            <a:noFill/>
            <a:extLst>
              <a:ext uri="{909E8E84-426E-40DD-AFC4-6F175D3DCCD1}">
                <a14:hiddenFill xmlns:a14="http://schemas.microsoft.com/office/drawing/2010/main">
                  <a:solidFill>
                    <a:srgbClr val="FFFFFF"/>
                  </a:solidFill>
                </a14:hiddenFill>
              </a:ext>
            </a:extLst>
          </p:spPr>
        </p:pic>
        <p:sp>
          <p:nvSpPr>
            <p:cNvPr id="66" name="Text Box 28"/>
            <p:cNvSpPr txBox="1">
              <a:spLocks noChangeArrowheads="1"/>
            </p:cNvSpPr>
            <p:nvPr/>
          </p:nvSpPr>
          <p:spPr bwMode="auto">
            <a:xfrm>
              <a:off x="7062859" y="1050777"/>
              <a:ext cx="3994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chemeClr val="bg1"/>
                  </a:solidFill>
                  <a:latin typeface="微软雅黑" pitchFamily="34" charset="-122"/>
                  <a:ea typeface="微软雅黑" pitchFamily="34" charset="-122"/>
                </a:rPr>
                <a:t>IP</a:t>
              </a:r>
              <a:r>
                <a:rPr kumimoji="1" lang="en-US" altLang="zh-CN" sz="1200" b="1" baseline="-25000" dirty="0">
                  <a:solidFill>
                    <a:schemeClr val="bg1"/>
                  </a:solidFill>
                  <a:latin typeface="微软雅黑" pitchFamily="34" charset="-122"/>
                  <a:ea typeface="微软雅黑" pitchFamily="34" charset="-122"/>
                </a:rPr>
                <a:t>2</a:t>
              </a:r>
              <a:endParaRPr kumimoji="1" lang="en-US" altLang="zh-CN" sz="1200" b="1" dirty="0">
                <a:solidFill>
                  <a:schemeClr val="bg1"/>
                </a:solidFill>
                <a:latin typeface="微软雅黑" pitchFamily="34" charset="-122"/>
                <a:ea typeface="微软雅黑" pitchFamily="34" charset="-122"/>
              </a:endParaRPr>
            </a:p>
          </p:txBody>
        </p:sp>
        <p:sp>
          <p:nvSpPr>
            <p:cNvPr id="67" name="AutoShape 23"/>
            <p:cNvSpPr>
              <a:spLocks noChangeArrowheads="1"/>
            </p:cNvSpPr>
            <p:nvPr/>
          </p:nvSpPr>
          <p:spPr bwMode="auto">
            <a:xfrm flipV="1">
              <a:off x="2022885" y="708834"/>
              <a:ext cx="824144" cy="183094"/>
            </a:xfrm>
            <a:prstGeom prst="wedgeRoundRectCallout">
              <a:avLst>
                <a:gd name="adj1" fmla="val -77292"/>
                <a:gd name="adj2" fmla="val -176765"/>
                <a:gd name="adj3" fmla="val 16667"/>
              </a:avLst>
            </a:prstGeom>
            <a:solidFill>
              <a:srgbClr val="66FFFF"/>
            </a:solidFill>
            <a:ln w="9525">
              <a:solidFill>
                <a:schemeClr val="tx1"/>
              </a:solidFill>
              <a:miter lim="800000"/>
              <a:headEnd/>
              <a:tailEnd/>
            </a:ln>
            <a:effectLst/>
          </p:spPr>
          <p:txBody>
            <a:bodyPr rot="10800000" wrap="none" anchor="ctr"/>
            <a:lstStyle/>
            <a:p>
              <a:pPr algn="ctr"/>
              <a:r>
                <a:rPr kumimoji="1" lang="en-US" altLang="zh-CN" sz="1100" b="1" dirty="0">
                  <a:latin typeface="微软雅黑" pitchFamily="34" charset="-122"/>
                  <a:ea typeface="微软雅黑" pitchFamily="34" charset="-122"/>
                </a:rPr>
                <a:t>IP </a:t>
              </a:r>
              <a:r>
                <a:rPr kumimoji="1" lang="zh-CN" altLang="en-US" sz="1100" b="1" dirty="0">
                  <a:latin typeface="微软雅黑" pitchFamily="34" charset="-122"/>
                  <a:ea typeface="微软雅黑" pitchFamily="34" charset="-122"/>
                </a:rPr>
                <a:t>地址</a:t>
              </a:r>
            </a:p>
          </p:txBody>
        </p:sp>
      </p:grpSp>
      <p:sp>
        <p:nvSpPr>
          <p:cNvPr id="134" name="Arc 109"/>
          <p:cNvSpPr>
            <a:spLocks/>
          </p:cNvSpPr>
          <p:nvPr/>
        </p:nvSpPr>
        <p:spPr bwMode="auto">
          <a:xfrm rot="2182693" flipV="1">
            <a:off x="1915570" y="1039536"/>
            <a:ext cx="1261851" cy="1017922"/>
          </a:xfrm>
          <a:custGeom>
            <a:avLst/>
            <a:gdLst>
              <a:gd name="G0" fmla="+- 6204 0 0"/>
              <a:gd name="G1" fmla="+- 21600 0 0"/>
              <a:gd name="G2" fmla="+- 21600 0 0"/>
              <a:gd name="T0" fmla="*/ 0 w 27804"/>
              <a:gd name="T1" fmla="*/ 910 h 26910"/>
              <a:gd name="T2" fmla="*/ 27141 w 27804"/>
              <a:gd name="T3" fmla="*/ 26910 h 26910"/>
              <a:gd name="T4" fmla="*/ 6204 w 27804"/>
              <a:gd name="T5" fmla="*/ 21600 h 26910"/>
            </a:gdLst>
            <a:ahLst/>
            <a:cxnLst>
              <a:cxn ang="0">
                <a:pos x="T0" y="T1"/>
              </a:cxn>
              <a:cxn ang="0">
                <a:pos x="T2" y="T3"/>
              </a:cxn>
              <a:cxn ang="0">
                <a:pos x="T4" y="T5"/>
              </a:cxn>
            </a:cxnLst>
            <a:rect l="0" t="0" r="r" b="b"/>
            <a:pathLst>
              <a:path w="27804" h="26910" fill="none" extrusionOk="0">
                <a:moveTo>
                  <a:pt x="0" y="910"/>
                </a:moveTo>
                <a:cubicBezTo>
                  <a:pt x="2012" y="306"/>
                  <a:pt x="4102" y="-1"/>
                  <a:pt x="6204" y="0"/>
                </a:cubicBezTo>
                <a:cubicBezTo>
                  <a:pt x="18133" y="0"/>
                  <a:pt x="27804" y="9670"/>
                  <a:pt x="27804" y="21600"/>
                </a:cubicBezTo>
                <a:cubicBezTo>
                  <a:pt x="27804" y="23390"/>
                  <a:pt x="27581" y="25174"/>
                  <a:pt x="27141" y="26910"/>
                </a:cubicBezTo>
              </a:path>
              <a:path w="27804" h="26910" stroke="0" extrusionOk="0">
                <a:moveTo>
                  <a:pt x="0" y="910"/>
                </a:moveTo>
                <a:cubicBezTo>
                  <a:pt x="2012" y="306"/>
                  <a:pt x="4102" y="-1"/>
                  <a:pt x="6204" y="0"/>
                </a:cubicBezTo>
                <a:cubicBezTo>
                  <a:pt x="18133" y="0"/>
                  <a:pt x="27804" y="9670"/>
                  <a:pt x="27804" y="21600"/>
                </a:cubicBezTo>
                <a:cubicBezTo>
                  <a:pt x="27804" y="23390"/>
                  <a:pt x="27581" y="25174"/>
                  <a:pt x="27141" y="26910"/>
                </a:cubicBezTo>
                <a:lnTo>
                  <a:pt x="6204" y="21600"/>
                </a:lnTo>
                <a:close/>
              </a:path>
            </a:pathLst>
          </a:custGeom>
          <a:noFill/>
          <a:ln w="38100">
            <a:solidFill>
              <a:srgbClr val="CC00CC"/>
            </a:solidFill>
            <a:round/>
            <a:headEn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35" name="Arc 110"/>
          <p:cNvSpPr>
            <a:spLocks/>
          </p:cNvSpPr>
          <p:nvPr/>
        </p:nvSpPr>
        <p:spPr bwMode="auto">
          <a:xfrm rot="2655715" flipV="1">
            <a:off x="3778906" y="913805"/>
            <a:ext cx="1209604" cy="1233693"/>
          </a:xfrm>
          <a:custGeom>
            <a:avLst/>
            <a:gdLst>
              <a:gd name="G0" fmla="+- 6204 0 0"/>
              <a:gd name="G1" fmla="+- 21600 0 0"/>
              <a:gd name="G2" fmla="+- 21600 0 0"/>
              <a:gd name="T0" fmla="*/ 0 w 27804"/>
              <a:gd name="T1" fmla="*/ 910 h 26910"/>
              <a:gd name="T2" fmla="*/ 27141 w 27804"/>
              <a:gd name="T3" fmla="*/ 26910 h 26910"/>
              <a:gd name="T4" fmla="*/ 6204 w 27804"/>
              <a:gd name="T5" fmla="*/ 21600 h 26910"/>
            </a:gdLst>
            <a:ahLst/>
            <a:cxnLst>
              <a:cxn ang="0">
                <a:pos x="T0" y="T1"/>
              </a:cxn>
              <a:cxn ang="0">
                <a:pos x="T2" y="T3"/>
              </a:cxn>
              <a:cxn ang="0">
                <a:pos x="T4" y="T5"/>
              </a:cxn>
            </a:cxnLst>
            <a:rect l="0" t="0" r="r" b="b"/>
            <a:pathLst>
              <a:path w="27804" h="26910" fill="none" extrusionOk="0">
                <a:moveTo>
                  <a:pt x="0" y="910"/>
                </a:moveTo>
                <a:cubicBezTo>
                  <a:pt x="2012" y="306"/>
                  <a:pt x="4102" y="-1"/>
                  <a:pt x="6204" y="0"/>
                </a:cubicBezTo>
                <a:cubicBezTo>
                  <a:pt x="18133" y="0"/>
                  <a:pt x="27804" y="9670"/>
                  <a:pt x="27804" y="21600"/>
                </a:cubicBezTo>
                <a:cubicBezTo>
                  <a:pt x="27804" y="23390"/>
                  <a:pt x="27581" y="25174"/>
                  <a:pt x="27141" y="26910"/>
                </a:cubicBezTo>
              </a:path>
              <a:path w="27804" h="26910" stroke="0" extrusionOk="0">
                <a:moveTo>
                  <a:pt x="0" y="910"/>
                </a:moveTo>
                <a:cubicBezTo>
                  <a:pt x="2012" y="306"/>
                  <a:pt x="4102" y="-1"/>
                  <a:pt x="6204" y="0"/>
                </a:cubicBezTo>
                <a:cubicBezTo>
                  <a:pt x="18133" y="0"/>
                  <a:pt x="27804" y="9670"/>
                  <a:pt x="27804" y="21600"/>
                </a:cubicBezTo>
                <a:cubicBezTo>
                  <a:pt x="27804" y="23390"/>
                  <a:pt x="27581" y="25174"/>
                  <a:pt x="27141" y="26910"/>
                </a:cubicBezTo>
                <a:lnTo>
                  <a:pt x="6204" y="21600"/>
                </a:lnTo>
                <a:close/>
              </a:path>
            </a:pathLst>
          </a:custGeom>
          <a:noFill/>
          <a:ln w="38100">
            <a:solidFill>
              <a:srgbClr val="CC00CC"/>
            </a:solidFill>
            <a:round/>
            <a:headEn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36" name="Arc 111"/>
          <p:cNvSpPr>
            <a:spLocks/>
          </p:cNvSpPr>
          <p:nvPr/>
        </p:nvSpPr>
        <p:spPr bwMode="auto">
          <a:xfrm rot="2655715" flipV="1">
            <a:off x="5727497" y="879465"/>
            <a:ext cx="1254695" cy="1263786"/>
          </a:xfrm>
          <a:custGeom>
            <a:avLst/>
            <a:gdLst>
              <a:gd name="G0" fmla="+- 6204 0 0"/>
              <a:gd name="G1" fmla="+- 21600 0 0"/>
              <a:gd name="G2" fmla="+- 21600 0 0"/>
              <a:gd name="T0" fmla="*/ 0 w 27804"/>
              <a:gd name="T1" fmla="*/ 910 h 26910"/>
              <a:gd name="T2" fmla="*/ 27141 w 27804"/>
              <a:gd name="T3" fmla="*/ 26910 h 26910"/>
              <a:gd name="T4" fmla="*/ 6204 w 27804"/>
              <a:gd name="T5" fmla="*/ 21600 h 26910"/>
            </a:gdLst>
            <a:ahLst/>
            <a:cxnLst>
              <a:cxn ang="0">
                <a:pos x="T0" y="T1"/>
              </a:cxn>
              <a:cxn ang="0">
                <a:pos x="T2" y="T3"/>
              </a:cxn>
              <a:cxn ang="0">
                <a:pos x="T4" y="T5"/>
              </a:cxn>
            </a:cxnLst>
            <a:rect l="0" t="0" r="r" b="b"/>
            <a:pathLst>
              <a:path w="27804" h="26910" fill="none" extrusionOk="0">
                <a:moveTo>
                  <a:pt x="0" y="910"/>
                </a:moveTo>
                <a:cubicBezTo>
                  <a:pt x="2012" y="306"/>
                  <a:pt x="4102" y="-1"/>
                  <a:pt x="6204" y="0"/>
                </a:cubicBezTo>
                <a:cubicBezTo>
                  <a:pt x="18133" y="0"/>
                  <a:pt x="27804" y="9670"/>
                  <a:pt x="27804" y="21600"/>
                </a:cubicBezTo>
                <a:cubicBezTo>
                  <a:pt x="27804" y="23390"/>
                  <a:pt x="27581" y="25174"/>
                  <a:pt x="27141" y="26910"/>
                </a:cubicBezTo>
              </a:path>
              <a:path w="27804" h="26910" stroke="0" extrusionOk="0">
                <a:moveTo>
                  <a:pt x="0" y="910"/>
                </a:moveTo>
                <a:cubicBezTo>
                  <a:pt x="2012" y="306"/>
                  <a:pt x="4102" y="-1"/>
                  <a:pt x="6204" y="0"/>
                </a:cubicBezTo>
                <a:cubicBezTo>
                  <a:pt x="18133" y="0"/>
                  <a:pt x="27804" y="9670"/>
                  <a:pt x="27804" y="21600"/>
                </a:cubicBezTo>
                <a:cubicBezTo>
                  <a:pt x="27804" y="23390"/>
                  <a:pt x="27581" y="25174"/>
                  <a:pt x="27141" y="26910"/>
                </a:cubicBezTo>
                <a:lnTo>
                  <a:pt x="6204" y="21600"/>
                </a:lnTo>
                <a:close/>
              </a:path>
            </a:pathLst>
          </a:custGeom>
          <a:noFill/>
          <a:ln w="38100">
            <a:solidFill>
              <a:srgbClr val="CC00CC"/>
            </a:solidFill>
            <a:round/>
            <a:headEn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Tree>
    <p:extLst>
      <p:ext uri="{BB962C8B-B14F-4D97-AF65-F5344CB8AC3E}">
        <p14:creationId xmlns:p14="http://schemas.microsoft.com/office/powerpoint/2010/main" val="86509831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133"/>
                                        </p:tgtEl>
                                        <p:attrNameLst>
                                          <p:attrName>style.visibility</p:attrName>
                                        </p:attrNameLst>
                                      </p:cBhvr>
                                      <p:tavLst>
                                        <p:tav tm="0">
                                          <p:val>
                                            <p:strVal val="hidden"/>
                                          </p:val>
                                        </p:tav>
                                        <p:tav tm="50000">
                                          <p:val>
                                            <p:strVal val="visible"/>
                                          </p:val>
                                        </p:tav>
                                      </p:tavLst>
                                    </p:anim>
                                  </p:childTnLst>
                                </p:cTn>
                              </p:par>
                            </p:childTnLst>
                          </p:cTn>
                        </p:par>
                        <p:par>
                          <p:cTn id="7" fill="hold">
                            <p:stCondLst>
                              <p:cond delay="3000"/>
                            </p:stCondLst>
                            <p:childTnLst>
                              <p:par>
                                <p:cTn id="8" presetID="1" presetClass="entr" presetSubtype="0" fill="hold" grpId="0" nodeType="afterEffect">
                                  <p:stCondLst>
                                    <p:cond delay="0"/>
                                  </p:stCondLst>
                                  <p:childTnLst>
                                    <p:set>
                                      <p:cBhvr>
                                        <p:cTn id="9" dur="1" fill="hold">
                                          <p:stCondLst>
                                            <p:cond delay="0"/>
                                          </p:stCondLst>
                                        </p:cTn>
                                        <p:tgtEl>
                                          <p:spTgt spid="134"/>
                                        </p:tgtEl>
                                        <p:attrNameLst>
                                          <p:attrName>style.visibility</p:attrName>
                                        </p:attrNameLst>
                                      </p:cBhvr>
                                      <p:to>
                                        <p:strVal val="visible"/>
                                      </p:to>
                                    </p:set>
                                  </p:childTnLst>
                                </p:cTn>
                              </p:par>
                            </p:childTnLst>
                          </p:cTn>
                        </p:par>
                        <p:par>
                          <p:cTn id="10" fill="hold">
                            <p:stCondLst>
                              <p:cond delay="3000"/>
                            </p:stCondLst>
                            <p:childTnLst>
                              <p:par>
                                <p:cTn id="11" presetID="22" presetClass="entr" presetSubtype="8" fill="hold" grpId="1" nodeType="afterEffect">
                                  <p:stCondLst>
                                    <p:cond delay="0"/>
                                  </p:stCondLst>
                                  <p:childTnLst>
                                    <p:set>
                                      <p:cBhvr>
                                        <p:cTn id="12" dur="1" fill="hold">
                                          <p:stCondLst>
                                            <p:cond delay="0"/>
                                          </p:stCondLst>
                                        </p:cTn>
                                        <p:tgtEl>
                                          <p:spTgt spid="134"/>
                                        </p:tgtEl>
                                        <p:attrNameLst>
                                          <p:attrName>style.visibility</p:attrName>
                                        </p:attrNameLst>
                                      </p:cBhvr>
                                      <p:to>
                                        <p:strVal val="visible"/>
                                      </p:to>
                                    </p:set>
                                    <p:animEffect transition="in" filter="wipe(left)">
                                      <p:cBhvr>
                                        <p:cTn id="13" dur="1000"/>
                                        <p:tgtEl>
                                          <p:spTgt spid="134"/>
                                        </p:tgtEl>
                                      </p:cBhvr>
                                    </p:animEffect>
                                  </p:childTnLst>
                                </p:cTn>
                              </p:par>
                            </p:childTnLst>
                          </p:cTn>
                        </p:par>
                        <p:par>
                          <p:cTn id="14" fill="hold">
                            <p:stCondLst>
                              <p:cond delay="4000"/>
                            </p:stCondLst>
                            <p:childTnLst>
                              <p:par>
                                <p:cTn id="15" presetID="1" presetClass="entr" presetSubtype="0" fill="hold" grpId="0" nodeType="afterEffect">
                                  <p:stCondLst>
                                    <p:cond delay="250"/>
                                  </p:stCondLst>
                                  <p:childTnLst>
                                    <p:set>
                                      <p:cBhvr>
                                        <p:cTn id="16" dur="1" fill="hold">
                                          <p:stCondLst>
                                            <p:cond delay="0"/>
                                          </p:stCondLst>
                                        </p:cTn>
                                        <p:tgtEl>
                                          <p:spTgt spid="138"/>
                                        </p:tgtEl>
                                        <p:attrNameLst>
                                          <p:attrName>style.visibility</p:attrName>
                                        </p:attrNameLst>
                                      </p:cBhvr>
                                      <p:to>
                                        <p:strVal val="visible"/>
                                      </p:to>
                                    </p:set>
                                  </p:childTnLst>
                                </p:cTn>
                              </p:par>
                            </p:childTnLst>
                          </p:cTn>
                        </p:par>
                        <p:par>
                          <p:cTn id="17" fill="hold">
                            <p:stCondLst>
                              <p:cond delay="4250"/>
                            </p:stCondLst>
                            <p:childTnLst>
                              <p:par>
                                <p:cTn id="18" presetID="35" presetClass="emph" presetSubtype="0" repeatCount="3000" fill="hold" grpId="1" nodeType="afterEffect">
                                  <p:stCondLst>
                                    <p:cond delay="0"/>
                                  </p:stCondLst>
                                  <p:childTnLst>
                                    <p:anim calcmode="discrete" valueType="str">
                                      <p:cBhvr>
                                        <p:cTn id="19" dur="500" fill="hold"/>
                                        <p:tgtEl>
                                          <p:spTgt spid="138"/>
                                        </p:tgtEl>
                                        <p:attrNameLst>
                                          <p:attrName>style.visibility</p:attrName>
                                        </p:attrNameLst>
                                      </p:cBhvr>
                                      <p:tavLst>
                                        <p:tav tm="0">
                                          <p:val>
                                            <p:strVal val="hidden"/>
                                          </p:val>
                                        </p:tav>
                                        <p:tav tm="50000">
                                          <p:val>
                                            <p:strVal val="visible"/>
                                          </p:val>
                                        </p:tav>
                                      </p:tavLst>
                                    </p:anim>
                                  </p:childTnLst>
                                </p:cTn>
                              </p:par>
                            </p:childTnLst>
                          </p:cTn>
                        </p:par>
                        <p:par>
                          <p:cTn id="20" fill="hold">
                            <p:stCondLst>
                              <p:cond delay="5750"/>
                            </p:stCondLst>
                            <p:childTnLst>
                              <p:par>
                                <p:cTn id="21" presetID="1" presetClass="entr" presetSubtype="0" fill="hold" grpId="0" nodeType="afterEffect">
                                  <p:stCondLst>
                                    <p:cond delay="0"/>
                                  </p:stCondLst>
                                  <p:childTnLst>
                                    <p:set>
                                      <p:cBhvr>
                                        <p:cTn id="22" dur="1" fill="hold">
                                          <p:stCondLst>
                                            <p:cond delay="0"/>
                                          </p:stCondLst>
                                        </p:cTn>
                                        <p:tgtEl>
                                          <p:spTgt spid="135"/>
                                        </p:tgtEl>
                                        <p:attrNameLst>
                                          <p:attrName>style.visibility</p:attrName>
                                        </p:attrNameLst>
                                      </p:cBhvr>
                                      <p:to>
                                        <p:strVal val="visible"/>
                                      </p:to>
                                    </p:set>
                                  </p:childTnLst>
                                </p:cTn>
                              </p:par>
                            </p:childTnLst>
                          </p:cTn>
                        </p:par>
                        <p:par>
                          <p:cTn id="23" fill="hold">
                            <p:stCondLst>
                              <p:cond delay="5750"/>
                            </p:stCondLst>
                            <p:childTnLst>
                              <p:par>
                                <p:cTn id="24" presetID="22" presetClass="entr" presetSubtype="8" fill="hold" grpId="1" nodeType="afterEffect">
                                  <p:stCondLst>
                                    <p:cond delay="0"/>
                                  </p:stCondLst>
                                  <p:childTnLst>
                                    <p:set>
                                      <p:cBhvr>
                                        <p:cTn id="25" dur="1" fill="hold">
                                          <p:stCondLst>
                                            <p:cond delay="0"/>
                                          </p:stCondLst>
                                        </p:cTn>
                                        <p:tgtEl>
                                          <p:spTgt spid="135"/>
                                        </p:tgtEl>
                                        <p:attrNameLst>
                                          <p:attrName>style.visibility</p:attrName>
                                        </p:attrNameLst>
                                      </p:cBhvr>
                                      <p:to>
                                        <p:strVal val="visible"/>
                                      </p:to>
                                    </p:set>
                                    <p:animEffect transition="in" filter="wipe(left)">
                                      <p:cBhvr>
                                        <p:cTn id="26" dur="1000"/>
                                        <p:tgtEl>
                                          <p:spTgt spid="135"/>
                                        </p:tgtEl>
                                      </p:cBhvr>
                                    </p:animEffect>
                                  </p:childTnLst>
                                </p:cTn>
                              </p:par>
                            </p:childTnLst>
                          </p:cTn>
                        </p:par>
                        <p:par>
                          <p:cTn id="27" fill="hold">
                            <p:stCondLst>
                              <p:cond delay="6750"/>
                            </p:stCondLst>
                            <p:childTnLst>
                              <p:par>
                                <p:cTn id="28" presetID="1" presetClass="entr" presetSubtype="0" fill="hold" grpId="0" nodeType="afterEffect">
                                  <p:stCondLst>
                                    <p:cond delay="250"/>
                                  </p:stCondLst>
                                  <p:childTnLst>
                                    <p:set>
                                      <p:cBhvr>
                                        <p:cTn id="29" dur="1" fill="hold">
                                          <p:stCondLst>
                                            <p:cond delay="0"/>
                                          </p:stCondLst>
                                        </p:cTn>
                                        <p:tgtEl>
                                          <p:spTgt spid="139"/>
                                        </p:tgtEl>
                                        <p:attrNameLst>
                                          <p:attrName>style.visibility</p:attrName>
                                        </p:attrNameLst>
                                      </p:cBhvr>
                                      <p:to>
                                        <p:strVal val="visible"/>
                                      </p:to>
                                    </p:set>
                                  </p:childTnLst>
                                </p:cTn>
                              </p:par>
                            </p:childTnLst>
                          </p:cTn>
                        </p:par>
                        <p:par>
                          <p:cTn id="30" fill="hold">
                            <p:stCondLst>
                              <p:cond delay="7000"/>
                            </p:stCondLst>
                            <p:childTnLst>
                              <p:par>
                                <p:cTn id="31" presetID="35" presetClass="emph" presetSubtype="0" repeatCount="3000" fill="hold" grpId="1" nodeType="afterEffect">
                                  <p:stCondLst>
                                    <p:cond delay="0"/>
                                  </p:stCondLst>
                                  <p:childTnLst>
                                    <p:anim calcmode="discrete" valueType="str">
                                      <p:cBhvr>
                                        <p:cTn id="32" dur="500" fill="hold"/>
                                        <p:tgtEl>
                                          <p:spTgt spid="139"/>
                                        </p:tgtEl>
                                        <p:attrNameLst>
                                          <p:attrName>style.visibility</p:attrName>
                                        </p:attrNameLst>
                                      </p:cBhvr>
                                      <p:tavLst>
                                        <p:tav tm="0">
                                          <p:val>
                                            <p:strVal val="hidden"/>
                                          </p:val>
                                        </p:tav>
                                        <p:tav tm="50000">
                                          <p:val>
                                            <p:strVal val="visible"/>
                                          </p:val>
                                        </p:tav>
                                      </p:tavLst>
                                    </p:anim>
                                  </p:childTnLst>
                                </p:cTn>
                              </p:par>
                            </p:childTnLst>
                          </p:cTn>
                        </p:par>
                        <p:par>
                          <p:cTn id="33" fill="hold">
                            <p:stCondLst>
                              <p:cond delay="8500"/>
                            </p:stCondLst>
                            <p:childTnLst>
                              <p:par>
                                <p:cTn id="34" presetID="22" presetClass="entr" presetSubtype="8" fill="hold" grpId="0" nodeType="afterEffect">
                                  <p:stCondLst>
                                    <p:cond delay="250"/>
                                  </p:stCondLst>
                                  <p:childTnLst>
                                    <p:set>
                                      <p:cBhvr>
                                        <p:cTn id="35" dur="1" fill="hold">
                                          <p:stCondLst>
                                            <p:cond delay="0"/>
                                          </p:stCondLst>
                                        </p:cTn>
                                        <p:tgtEl>
                                          <p:spTgt spid="136"/>
                                        </p:tgtEl>
                                        <p:attrNameLst>
                                          <p:attrName>style.visibility</p:attrName>
                                        </p:attrNameLst>
                                      </p:cBhvr>
                                      <p:to>
                                        <p:strVal val="visible"/>
                                      </p:to>
                                    </p:set>
                                    <p:animEffect transition="in" filter="wipe(left)">
                                      <p:cBhvr>
                                        <p:cTn id="36" dur="1000"/>
                                        <p:tgtEl>
                                          <p:spTgt spid="1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animBg="1"/>
      <p:bldP spid="138" grpId="0" animBg="1"/>
      <p:bldP spid="138" grpId="1" animBg="1"/>
      <p:bldP spid="139" grpId="0" animBg="1"/>
      <p:bldP spid="139" grpId="1" animBg="1"/>
      <p:bldP spid="134" grpId="0" animBg="1"/>
      <p:bldP spid="134" grpId="1" animBg="1"/>
      <p:bldP spid="135" grpId="0" animBg="1"/>
      <p:bldP spid="135" grpId="1" animBg="1"/>
      <p:bldP spid="136"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5" name="圆角矩形 174"/>
          <p:cNvSpPr/>
          <p:nvPr/>
        </p:nvSpPr>
        <p:spPr>
          <a:xfrm>
            <a:off x="545144" y="620973"/>
            <a:ext cx="8053712" cy="374071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36" name="Text Box 158"/>
          <p:cNvSpPr txBox="1">
            <a:spLocks noChangeArrowheads="1"/>
          </p:cNvSpPr>
          <p:nvPr/>
        </p:nvSpPr>
        <p:spPr bwMode="auto">
          <a:xfrm>
            <a:off x="2564396" y="728414"/>
            <a:ext cx="4004494" cy="338554"/>
          </a:xfrm>
          <a:prstGeom prst="rect">
            <a:avLst/>
          </a:prstGeom>
          <a:solidFill>
            <a:srgbClr val="0000CC"/>
          </a:solidFill>
          <a:ln w="9525">
            <a:solidFill>
              <a:schemeClr val="tx1"/>
            </a:solid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从协议栈的层次上看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地址和 </a:t>
            </a:r>
            <a:r>
              <a:rPr lang="en-US" altLang="zh-CN" sz="1600" b="1" dirty="0">
                <a:solidFill>
                  <a:schemeClr val="bg1"/>
                </a:solidFill>
                <a:latin typeface="微软雅黑" pitchFamily="34" charset="-122"/>
                <a:ea typeface="微软雅黑" pitchFamily="34" charset="-122"/>
              </a:rPr>
              <a:t>MAC </a:t>
            </a:r>
            <a:r>
              <a:rPr lang="zh-CN" altLang="en-US" sz="1600" b="1" dirty="0">
                <a:solidFill>
                  <a:schemeClr val="bg1"/>
                </a:solidFill>
                <a:latin typeface="微软雅黑" pitchFamily="34" charset="-122"/>
                <a:ea typeface="微软雅黑" pitchFamily="34" charset="-122"/>
              </a:rPr>
              <a:t>地址</a:t>
            </a:r>
          </a:p>
        </p:txBody>
      </p:sp>
      <p:grpSp>
        <p:nvGrpSpPr>
          <p:cNvPr id="4" name="组合 3"/>
          <p:cNvGrpSpPr/>
          <p:nvPr/>
        </p:nvGrpSpPr>
        <p:grpSpPr>
          <a:xfrm>
            <a:off x="1414301" y="755888"/>
            <a:ext cx="6169421" cy="954900"/>
            <a:chOff x="1414301" y="755888"/>
            <a:chExt cx="6169421" cy="954900"/>
          </a:xfrm>
        </p:grpSpPr>
        <p:sp>
          <p:nvSpPr>
            <p:cNvPr id="146" name="Freeform 2"/>
            <p:cNvSpPr>
              <a:spLocks/>
            </p:cNvSpPr>
            <p:nvPr/>
          </p:nvSpPr>
          <p:spPr bwMode="auto">
            <a:xfrm>
              <a:off x="3120664" y="1412506"/>
              <a:ext cx="170724" cy="29032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7" name="Freeform 3"/>
            <p:cNvSpPr>
              <a:spLocks/>
            </p:cNvSpPr>
            <p:nvPr/>
          </p:nvSpPr>
          <p:spPr bwMode="auto">
            <a:xfrm>
              <a:off x="5000809" y="1412506"/>
              <a:ext cx="116354" cy="289461"/>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8" name="Line 4"/>
            <p:cNvSpPr>
              <a:spLocks noChangeShapeType="1"/>
            </p:cNvSpPr>
            <p:nvPr/>
          </p:nvSpPr>
          <p:spPr bwMode="auto">
            <a:xfrm rot="16200000">
              <a:off x="7110950" y="1556581"/>
              <a:ext cx="290325" cy="217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9" name="Line 5"/>
            <p:cNvSpPr>
              <a:spLocks noChangeShapeType="1"/>
            </p:cNvSpPr>
            <p:nvPr/>
          </p:nvSpPr>
          <p:spPr bwMode="auto">
            <a:xfrm rot="16200000">
              <a:off x="1525973" y="1556581"/>
              <a:ext cx="290325" cy="217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0" name="Line 6"/>
            <p:cNvSpPr>
              <a:spLocks noChangeShapeType="1"/>
            </p:cNvSpPr>
            <p:nvPr/>
          </p:nvSpPr>
          <p:spPr bwMode="auto">
            <a:xfrm>
              <a:off x="1509111" y="1702831"/>
              <a:ext cx="1772490"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1" name="Line 11"/>
            <p:cNvSpPr>
              <a:spLocks noChangeShapeType="1"/>
            </p:cNvSpPr>
            <p:nvPr/>
          </p:nvSpPr>
          <p:spPr bwMode="auto">
            <a:xfrm>
              <a:off x="5484709" y="1702831"/>
              <a:ext cx="1987799"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2" name="Text Box 13"/>
            <p:cNvSpPr txBox="1">
              <a:spLocks noChangeArrowheads="1"/>
            </p:cNvSpPr>
            <p:nvPr/>
          </p:nvSpPr>
          <p:spPr bwMode="auto">
            <a:xfrm>
              <a:off x="1414301" y="755888"/>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153" name="Text Box 14"/>
            <p:cNvSpPr txBox="1">
              <a:spLocks noChangeArrowheads="1"/>
            </p:cNvSpPr>
            <p:nvPr/>
          </p:nvSpPr>
          <p:spPr bwMode="auto">
            <a:xfrm>
              <a:off x="6902125" y="755888"/>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154" name="Line 15"/>
            <p:cNvSpPr>
              <a:spLocks noChangeShapeType="1"/>
            </p:cNvSpPr>
            <p:nvPr/>
          </p:nvSpPr>
          <p:spPr bwMode="auto">
            <a:xfrm>
              <a:off x="3604564" y="1702831"/>
              <a:ext cx="1557182"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5" name="Freeform 16"/>
            <p:cNvSpPr>
              <a:spLocks/>
            </p:cNvSpPr>
            <p:nvPr/>
          </p:nvSpPr>
          <p:spPr bwMode="auto">
            <a:xfrm flipH="1">
              <a:off x="5484709" y="1412506"/>
              <a:ext cx="160938" cy="29032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6" name="Freeform 17"/>
            <p:cNvSpPr>
              <a:spLocks/>
            </p:cNvSpPr>
            <p:nvPr/>
          </p:nvSpPr>
          <p:spPr bwMode="auto">
            <a:xfrm flipH="1">
              <a:off x="3648060" y="1412506"/>
              <a:ext cx="117441" cy="291189"/>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7" name="Text Box 18"/>
            <p:cNvSpPr txBox="1">
              <a:spLocks noChangeArrowheads="1"/>
            </p:cNvSpPr>
            <p:nvPr/>
          </p:nvSpPr>
          <p:spPr bwMode="auto">
            <a:xfrm>
              <a:off x="3092658" y="1053174"/>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1</a:t>
              </a:r>
            </a:p>
          </p:txBody>
        </p:sp>
        <p:pic>
          <p:nvPicPr>
            <p:cNvPr id="158" name="Picture 2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054092" y="1274256"/>
              <a:ext cx="528485" cy="236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59" name="Picture 2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83734" y="1262159"/>
              <a:ext cx="527397" cy="236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61" name="Text Box 25"/>
            <p:cNvSpPr txBox="1">
              <a:spLocks noChangeArrowheads="1"/>
            </p:cNvSpPr>
            <p:nvPr/>
          </p:nvSpPr>
          <p:spPr bwMode="auto">
            <a:xfrm>
              <a:off x="4963812" y="1056629"/>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2</a:t>
              </a:r>
            </a:p>
          </p:txBody>
        </p:sp>
        <p:sp>
          <p:nvSpPr>
            <p:cNvPr id="162" name="Text Box 29"/>
            <p:cNvSpPr txBox="1">
              <a:spLocks noChangeArrowheads="1"/>
            </p:cNvSpPr>
            <p:nvPr/>
          </p:nvSpPr>
          <p:spPr bwMode="auto">
            <a:xfrm>
              <a:off x="2139132"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163" name="Text Box 30"/>
            <p:cNvSpPr txBox="1">
              <a:spLocks noChangeArrowheads="1"/>
            </p:cNvSpPr>
            <p:nvPr/>
          </p:nvSpPr>
          <p:spPr bwMode="auto">
            <a:xfrm>
              <a:off x="4117311"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164" name="Text Box 31"/>
            <p:cNvSpPr txBox="1">
              <a:spLocks noChangeArrowheads="1"/>
            </p:cNvSpPr>
            <p:nvPr/>
          </p:nvSpPr>
          <p:spPr bwMode="auto">
            <a:xfrm>
              <a:off x="6137566"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165" name="Text Box 7"/>
            <p:cNvSpPr txBox="1">
              <a:spLocks noChangeArrowheads="1"/>
            </p:cNvSpPr>
            <p:nvPr/>
          </p:nvSpPr>
          <p:spPr bwMode="auto">
            <a:xfrm>
              <a:off x="1629867" y="1422876"/>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1</a:t>
              </a:r>
              <a:endParaRPr kumimoji="1" lang="en-US" altLang="zh-CN" sz="1100" b="1" dirty="0">
                <a:solidFill>
                  <a:srgbClr val="0000CC"/>
                </a:solidFill>
                <a:latin typeface="微软雅黑" pitchFamily="34" charset="-122"/>
                <a:ea typeface="微软雅黑" pitchFamily="34" charset="-122"/>
              </a:endParaRPr>
            </a:p>
          </p:txBody>
        </p:sp>
        <p:sp>
          <p:nvSpPr>
            <p:cNvPr id="166" name="Text Box 8"/>
            <p:cNvSpPr txBox="1">
              <a:spLocks noChangeArrowheads="1"/>
            </p:cNvSpPr>
            <p:nvPr/>
          </p:nvSpPr>
          <p:spPr bwMode="auto">
            <a:xfrm>
              <a:off x="4570245"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5</a:t>
              </a:r>
              <a:endParaRPr kumimoji="1" lang="en-US" altLang="zh-CN" sz="1100" b="1" dirty="0">
                <a:solidFill>
                  <a:srgbClr val="0000CC"/>
                </a:solidFill>
                <a:latin typeface="微软雅黑" pitchFamily="34" charset="-122"/>
                <a:ea typeface="微软雅黑" pitchFamily="34" charset="-122"/>
              </a:endParaRPr>
            </a:p>
          </p:txBody>
        </p:sp>
        <p:sp>
          <p:nvSpPr>
            <p:cNvPr id="167" name="Text Box 9"/>
            <p:cNvSpPr txBox="1">
              <a:spLocks noChangeArrowheads="1"/>
            </p:cNvSpPr>
            <p:nvPr/>
          </p:nvSpPr>
          <p:spPr bwMode="auto">
            <a:xfrm>
              <a:off x="3702485"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4</a:t>
              </a:r>
              <a:endParaRPr kumimoji="1" lang="en-US" altLang="zh-CN" sz="1100" b="1" dirty="0">
                <a:solidFill>
                  <a:srgbClr val="0000CC"/>
                </a:solidFill>
                <a:latin typeface="微软雅黑" pitchFamily="34" charset="-122"/>
                <a:ea typeface="微软雅黑" pitchFamily="34" charset="-122"/>
              </a:endParaRPr>
            </a:p>
          </p:txBody>
        </p:sp>
        <p:sp>
          <p:nvSpPr>
            <p:cNvPr id="168" name="Text Box 10"/>
            <p:cNvSpPr txBox="1">
              <a:spLocks noChangeArrowheads="1"/>
            </p:cNvSpPr>
            <p:nvPr/>
          </p:nvSpPr>
          <p:spPr bwMode="auto">
            <a:xfrm>
              <a:off x="2612466"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3</a:t>
              </a:r>
              <a:endParaRPr kumimoji="1" lang="en-US" altLang="zh-CN" sz="1100" b="1" dirty="0">
                <a:solidFill>
                  <a:srgbClr val="0000CC"/>
                </a:solidFill>
                <a:latin typeface="微软雅黑" pitchFamily="34" charset="-122"/>
                <a:ea typeface="微软雅黑" pitchFamily="34" charset="-122"/>
              </a:endParaRPr>
            </a:p>
          </p:txBody>
        </p:sp>
        <p:sp>
          <p:nvSpPr>
            <p:cNvPr id="169" name="Text Box 12"/>
            <p:cNvSpPr txBox="1">
              <a:spLocks noChangeArrowheads="1"/>
            </p:cNvSpPr>
            <p:nvPr/>
          </p:nvSpPr>
          <p:spPr bwMode="auto">
            <a:xfrm>
              <a:off x="5582630"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6</a:t>
              </a:r>
              <a:endParaRPr kumimoji="1" lang="en-US" altLang="zh-CN" sz="1100" b="1" dirty="0">
                <a:solidFill>
                  <a:srgbClr val="0000CC"/>
                </a:solidFill>
                <a:latin typeface="微软雅黑" pitchFamily="34" charset="-122"/>
                <a:ea typeface="微软雅黑" pitchFamily="34" charset="-122"/>
              </a:endParaRPr>
            </a:p>
          </p:txBody>
        </p:sp>
        <p:sp>
          <p:nvSpPr>
            <p:cNvPr id="170" name="Text Box 26"/>
            <p:cNvSpPr txBox="1">
              <a:spLocks noChangeArrowheads="1"/>
            </p:cNvSpPr>
            <p:nvPr/>
          </p:nvSpPr>
          <p:spPr bwMode="auto">
            <a:xfrm>
              <a:off x="6812500"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2</a:t>
              </a:r>
              <a:endParaRPr kumimoji="1" lang="en-US" altLang="zh-CN" sz="1100" b="1" dirty="0">
                <a:solidFill>
                  <a:srgbClr val="0000CC"/>
                </a:solidFill>
                <a:latin typeface="微软雅黑" pitchFamily="34" charset="-122"/>
                <a:ea typeface="微软雅黑" pitchFamily="34" charset="-122"/>
              </a:endParaRPr>
            </a:p>
          </p:txBody>
        </p:sp>
        <p:pic>
          <p:nvPicPr>
            <p:cNvPr id="171"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44263" y="996212"/>
              <a:ext cx="472829" cy="472829"/>
            </a:xfrm>
            <a:prstGeom prst="rect">
              <a:avLst/>
            </a:prstGeom>
            <a:noFill/>
            <a:extLst>
              <a:ext uri="{909E8E84-426E-40DD-AFC4-6F175D3DCCD1}">
                <a14:hiddenFill xmlns:a14="http://schemas.microsoft.com/office/drawing/2010/main">
                  <a:solidFill>
                    <a:srgbClr val="FFFFFF"/>
                  </a:solidFill>
                </a14:hiddenFill>
              </a:ext>
            </a:extLst>
          </p:spPr>
        </p:pic>
        <p:sp>
          <p:nvSpPr>
            <p:cNvPr id="172" name="Text Box 27"/>
            <p:cNvSpPr txBox="1">
              <a:spLocks noChangeArrowheads="1"/>
            </p:cNvSpPr>
            <p:nvPr/>
          </p:nvSpPr>
          <p:spPr bwMode="auto">
            <a:xfrm>
              <a:off x="1505520" y="1052103"/>
              <a:ext cx="3994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chemeClr val="bg1"/>
                  </a:solidFill>
                  <a:latin typeface="微软雅黑" pitchFamily="34" charset="-122"/>
                  <a:ea typeface="微软雅黑" pitchFamily="34" charset="-122"/>
                </a:rPr>
                <a:t>IP</a:t>
              </a:r>
              <a:r>
                <a:rPr kumimoji="1" lang="en-US" altLang="zh-CN" sz="1200" b="1" baseline="-25000" dirty="0">
                  <a:solidFill>
                    <a:schemeClr val="bg1"/>
                  </a:solidFill>
                  <a:latin typeface="微软雅黑" pitchFamily="34" charset="-122"/>
                  <a:ea typeface="微软雅黑" pitchFamily="34" charset="-122"/>
                </a:rPr>
                <a:t>1</a:t>
              </a:r>
              <a:endParaRPr kumimoji="1" lang="en-US" altLang="zh-CN" sz="1200" b="1" dirty="0">
                <a:solidFill>
                  <a:schemeClr val="bg1"/>
                </a:solidFill>
                <a:latin typeface="微软雅黑" pitchFamily="34" charset="-122"/>
                <a:ea typeface="微软雅黑" pitchFamily="34" charset="-122"/>
              </a:endParaRPr>
            </a:p>
          </p:txBody>
        </p:sp>
        <p:pic>
          <p:nvPicPr>
            <p:cNvPr id="17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20272" y="996212"/>
              <a:ext cx="472829" cy="472829"/>
            </a:xfrm>
            <a:prstGeom prst="rect">
              <a:avLst/>
            </a:prstGeom>
            <a:noFill/>
            <a:extLst>
              <a:ext uri="{909E8E84-426E-40DD-AFC4-6F175D3DCCD1}">
                <a14:hiddenFill xmlns:a14="http://schemas.microsoft.com/office/drawing/2010/main">
                  <a:solidFill>
                    <a:srgbClr val="FFFFFF"/>
                  </a:solidFill>
                </a14:hiddenFill>
              </a:ext>
            </a:extLst>
          </p:spPr>
        </p:pic>
        <p:sp>
          <p:nvSpPr>
            <p:cNvPr id="174" name="Text Box 28"/>
            <p:cNvSpPr txBox="1">
              <a:spLocks noChangeArrowheads="1"/>
            </p:cNvSpPr>
            <p:nvPr/>
          </p:nvSpPr>
          <p:spPr bwMode="auto">
            <a:xfrm>
              <a:off x="7062859" y="1050777"/>
              <a:ext cx="3994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chemeClr val="bg1"/>
                  </a:solidFill>
                  <a:latin typeface="微软雅黑" pitchFamily="34" charset="-122"/>
                  <a:ea typeface="微软雅黑" pitchFamily="34" charset="-122"/>
                </a:rPr>
                <a:t>IP</a:t>
              </a:r>
              <a:r>
                <a:rPr kumimoji="1" lang="en-US" altLang="zh-CN" sz="1200" b="1" baseline="-25000" dirty="0">
                  <a:solidFill>
                    <a:schemeClr val="bg1"/>
                  </a:solidFill>
                  <a:latin typeface="微软雅黑" pitchFamily="34" charset="-122"/>
                  <a:ea typeface="微软雅黑" pitchFamily="34" charset="-122"/>
                </a:rPr>
                <a:t>2</a:t>
              </a:r>
              <a:endParaRPr kumimoji="1" lang="en-US" altLang="zh-CN" sz="1200" b="1" dirty="0">
                <a:solidFill>
                  <a:schemeClr val="bg1"/>
                </a:solidFill>
                <a:latin typeface="微软雅黑" pitchFamily="34" charset="-122"/>
                <a:ea typeface="微软雅黑" pitchFamily="34" charset="-122"/>
              </a:endParaRPr>
            </a:p>
          </p:txBody>
        </p:sp>
      </p:grpSp>
      <p:grpSp>
        <p:nvGrpSpPr>
          <p:cNvPr id="3" name="组合 2"/>
          <p:cNvGrpSpPr/>
          <p:nvPr/>
        </p:nvGrpSpPr>
        <p:grpSpPr>
          <a:xfrm>
            <a:off x="1374271" y="1800136"/>
            <a:ext cx="6248302" cy="2427741"/>
            <a:chOff x="1374271" y="1800136"/>
            <a:chExt cx="6248302" cy="2427741"/>
          </a:xfrm>
        </p:grpSpPr>
        <p:sp>
          <p:nvSpPr>
            <p:cNvPr id="61" name="Freeform 77"/>
            <p:cNvSpPr>
              <a:spLocks/>
            </p:cNvSpPr>
            <p:nvPr/>
          </p:nvSpPr>
          <p:spPr bwMode="auto">
            <a:xfrm>
              <a:off x="2967337" y="3546743"/>
              <a:ext cx="270768" cy="15207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2" name="Freeform 78"/>
            <p:cNvSpPr>
              <a:spLocks/>
            </p:cNvSpPr>
            <p:nvPr/>
          </p:nvSpPr>
          <p:spPr bwMode="auto">
            <a:xfrm>
              <a:off x="4740916" y="3545879"/>
              <a:ext cx="270767" cy="15207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3" name="Line 79"/>
            <p:cNvSpPr>
              <a:spLocks noChangeShapeType="1"/>
            </p:cNvSpPr>
            <p:nvPr/>
          </p:nvSpPr>
          <p:spPr bwMode="auto">
            <a:xfrm rot="16200000">
              <a:off x="6944576" y="3552568"/>
              <a:ext cx="290325" cy="2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4" name="Line 80"/>
            <p:cNvSpPr>
              <a:spLocks noChangeShapeType="1"/>
            </p:cNvSpPr>
            <p:nvPr/>
          </p:nvSpPr>
          <p:spPr bwMode="auto">
            <a:xfrm rot="16200000">
              <a:off x="1518361" y="3552568"/>
              <a:ext cx="290325" cy="2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5" name="AutoShape 81"/>
            <p:cNvSpPr>
              <a:spLocks noChangeArrowheads="1"/>
            </p:cNvSpPr>
            <p:nvPr/>
          </p:nvSpPr>
          <p:spPr bwMode="auto">
            <a:xfrm>
              <a:off x="1505848" y="2537517"/>
              <a:ext cx="469764" cy="1036876"/>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6" name="AutoShape 82"/>
            <p:cNvSpPr>
              <a:spLocks noChangeArrowheads="1"/>
            </p:cNvSpPr>
            <p:nvPr/>
          </p:nvSpPr>
          <p:spPr bwMode="auto">
            <a:xfrm>
              <a:off x="3176122" y="2578992"/>
              <a:ext cx="469764" cy="1036876"/>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7" name="AutoShape 83"/>
            <p:cNvSpPr>
              <a:spLocks noChangeArrowheads="1"/>
            </p:cNvSpPr>
            <p:nvPr/>
          </p:nvSpPr>
          <p:spPr bwMode="auto">
            <a:xfrm>
              <a:off x="6934237" y="2537517"/>
              <a:ext cx="469764" cy="1036876"/>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8" name="AutoShape 84"/>
            <p:cNvSpPr>
              <a:spLocks noChangeArrowheads="1"/>
            </p:cNvSpPr>
            <p:nvPr/>
          </p:nvSpPr>
          <p:spPr bwMode="auto">
            <a:xfrm>
              <a:off x="5001896" y="2703417"/>
              <a:ext cx="469764" cy="912451"/>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69" name="Group 85"/>
            <p:cNvGrpSpPr>
              <a:grpSpLocks/>
            </p:cNvGrpSpPr>
            <p:nvPr/>
          </p:nvGrpSpPr>
          <p:grpSpPr bwMode="auto">
            <a:xfrm>
              <a:off x="1374271" y="2055369"/>
              <a:ext cx="6248302" cy="1327202"/>
              <a:chOff x="96" y="1056"/>
              <a:chExt cx="5472" cy="1536"/>
            </a:xfrm>
            <a:solidFill>
              <a:srgbClr val="FFFF66"/>
            </a:solidFill>
          </p:grpSpPr>
          <p:sp>
            <p:nvSpPr>
              <p:cNvPr id="128" name="Oval 86"/>
              <p:cNvSpPr>
                <a:spLocks noChangeArrowheads="1"/>
              </p:cNvSpPr>
              <p:nvPr/>
            </p:nvSpPr>
            <p:spPr bwMode="auto">
              <a:xfrm>
                <a:off x="3662" y="1674"/>
                <a:ext cx="1906" cy="756"/>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29" name="Oval 87"/>
              <p:cNvSpPr>
                <a:spLocks noChangeArrowheads="1"/>
              </p:cNvSpPr>
              <p:nvPr/>
            </p:nvSpPr>
            <p:spPr bwMode="auto">
              <a:xfrm>
                <a:off x="96" y="1430"/>
                <a:ext cx="1870" cy="760"/>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0" name="Oval 88"/>
              <p:cNvSpPr>
                <a:spLocks noChangeArrowheads="1"/>
              </p:cNvSpPr>
              <p:nvPr/>
            </p:nvSpPr>
            <p:spPr bwMode="auto">
              <a:xfrm>
                <a:off x="3365" y="1163"/>
                <a:ext cx="1903" cy="73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1" name="Oval 89"/>
              <p:cNvSpPr>
                <a:spLocks noChangeArrowheads="1"/>
              </p:cNvSpPr>
              <p:nvPr/>
            </p:nvSpPr>
            <p:spPr bwMode="auto">
              <a:xfrm>
                <a:off x="2365" y="1821"/>
                <a:ext cx="1900" cy="77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2" name="Oval 90"/>
              <p:cNvSpPr>
                <a:spLocks noChangeArrowheads="1"/>
              </p:cNvSpPr>
              <p:nvPr/>
            </p:nvSpPr>
            <p:spPr bwMode="auto">
              <a:xfrm>
                <a:off x="729" y="1752"/>
                <a:ext cx="1900" cy="73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3" name="Oval 91"/>
              <p:cNvSpPr>
                <a:spLocks noChangeArrowheads="1"/>
              </p:cNvSpPr>
              <p:nvPr/>
            </p:nvSpPr>
            <p:spPr bwMode="auto">
              <a:xfrm>
                <a:off x="2197" y="1056"/>
                <a:ext cx="1870" cy="758"/>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4" name="Oval 92"/>
              <p:cNvSpPr>
                <a:spLocks noChangeArrowheads="1"/>
              </p:cNvSpPr>
              <p:nvPr/>
            </p:nvSpPr>
            <p:spPr bwMode="auto">
              <a:xfrm>
                <a:off x="996" y="1056"/>
                <a:ext cx="1867" cy="73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5" name="Oval 93"/>
              <p:cNvSpPr>
                <a:spLocks noChangeArrowheads="1"/>
              </p:cNvSpPr>
              <p:nvPr/>
            </p:nvSpPr>
            <p:spPr bwMode="auto">
              <a:xfrm>
                <a:off x="597" y="1226"/>
                <a:ext cx="4536" cy="1060"/>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CC"/>
                  </a:solidFill>
                  <a:latin typeface="微软雅黑" pitchFamily="34" charset="-122"/>
                  <a:ea typeface="微软雅黑" pitchFamily="34" charset="-122"/>
                </a:endParaRPr>
              </a:p>
            </p:txBody>
          </p:sp>
        </p:grpSp>
        <p:sp>
          <p:nvSpPr>
            <p:cNvPr id="70" name="Line 94"/>
            <p:cNvSpPr>
              <a:spLocks noChangeShapeType="1"/>
            </p:cNvSpPr>
            <p:nvPr/>
          </p:nvSpPr>
          <p:spPr bwMode="auto">
            <a:xfrm>
              <a:off x="1453652" y="3698819"/>
              <a:ext cx="1774666"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71" name="Group 95"/>
            <p:cNvGrpSpPr>
              <a:grpSpLocks/>
            </p:cNvGrpSpPr>
            <p:nvPr/>
          </p:nvGrpSpPr>
          <p:grpSpPr bwMode="auto">
            <a:xfrm>
              <a:off x="1505848" y="2055369"/>
              <a:ext cx="469764" cy="788026"/>
              <a:chOff x="672" y="528"/>
              <a:chExt cx="432" cy="912"/>
            </a:xfrm>
          </p:grpSpPr>
          <p:sp>
            <p:nvSpPr>
              <p:cNvPr id="125" name="AutoShape 96"/>
              <p:cNvSpPr>
                <a:spLocks noChangeArrowheads="1"/>
              </p:cNvSpPr>
              <p:nvPr/>
            </p:nvSpPr>
            <p:spPr bwMode="auto">
              <a:xfrm>
                <a:off x="672" y="100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6" name="AutoShape 97"/>
              <p:cNvSpPr>
                <a:spLocks noChangeArrowheads="1"/>
              </p:cNvSpPr>
              <p:nvPr/>
            </p:nvSpPr>
            <p:spPr bwMode="auto">
              <a:xfrm>
                <a:off x="672" y="720"/>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7" name="AutoShape 98"/>
              <p:cNvSpPr>
                <a:spLocks noChangeArrowheads="1"/>
              </p:cNvSpPr>
              <p:nvPr/>
            </p:nvSpPr>
            <p:spPr bwMode="auto">
              <a:xfrm>
                <a:off x="672" y="52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72" name="Text Box 99"/>
            <p:cNvSpPr txBox="1">
              <a:spLocks noChangeArrowheads="1"/>
            </p:cNvSpPr>
            <p:nvPr/>
          </p:nvSpPr>
          <p:spPr bwMode="auto">
            <a:xfrm>
              <a:off x="1530859" y="2604914"/>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itchFamily="34" charset="-122"/>
                  <a:ea typeface="微软雅黑" pitchFamily="34" charset="-122"/>
                </a:rPr>
                <a:t>IP</a:t>
              </a:r>
              <a:r>
                <a:rPr kumimoji="1" lang="en-US" altLang="zh-CN" sz="1100" b="1" baseline="-25000">
                  <a:latin typeface="微软雅黑" pitchFamily="34" charset="-122"/>
                  <a:ea typeface="微软雅黑" pitchFamily="34" charset="-122"/>
                </a:rPr>
                <a:t>1</a:t>
              </a:r>
              <a:endParaRPr kumimoji="1" lang="en-US" altLang="zh-CN" sz="1100" b="1">
                <a:latin typeface="微软雅黑" pitchFamily="34" charset="-122"/>
                <a:ea typeface="微软雅黑" pitchFamily="34" charset="-122"/>
              </a:endParaRPr>
            </a:p>
          </p:txBody>
        </p:sp>
        <p:sp>
          <p:nvSpPr>
            <p:cNvPr id="73" name="Text Box 100"/>
            <p:cNvSpPr txBox="1">
              <a:spLocks noChangeArrowheads="1"/>
            </p:cNvSpPr>
            <p:nvPr/>
          </p:nvSpPr>
          <p:spPr bwMode="auto">
            <a:xfrm>
              <a:off x="1428141" y="33411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74" name="Text Box 101"/>
            <p:cNvSpPr txBox="1">
              <a:spLocks noChangeArrowheads="1"/>
            </p:cNvSpPr>
            <p:nvPr/>
          </p:nvSpPr>
          <p:spPr bwMode="auto">
            <a:xfrm>
              <a:off x="4505146" y="3320437"/>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5</a:t>
              </a:r>
              <a:endParaRPr kumimoji="1" lang="en-US" altLang="zh-CN" sz="1100" b="1" dirty="0">
                <a:solidFill>
                  <a:srgbClr val="0000CC"/>
                </a:solidFill>
                <a:latin typeface="微软雅黑" pitchFamily="34" charset="-122"/>
                <a:ea typeface="微软雅黑" pitchFamily="34" charset="-122"/>
              </a:endParaRPr>
            </a:p>
          </p:txBody>
        </p:sp>
        <p:sp>
          <p:nvSpPr>
            <p:cNvPr id="75" name="Text Box 102"/>
            <p:cNvSpPr txBox="1">
              <a:spLocks noChangeArrowheads="1"/>
            </p:cNvSpPr>
            <p:nvPr/>
          </p:nvSpPr>
          <p:spPr bwMode="auto">
            <a:xfrm>
              <a:off x="3583222" y="3316982"/>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4</a:t>
              </a:r>
              <a:endParaRPr kumimoji="1" lang="en-US" altLang="zh-CN" sz="1100" b="1" dirty="0">
                <a:solidFill>
                  <a:srgbClr val="0000CC"/>
                </a:solidFill>
                <a:latin typeface="微软雅黑" pitchFamily="34" charset="-122"/>
                <a:ea typeface="微软雅黑" pitchFamily="34" charset="-122"/>
              </a:endParaRPr>
            </a:p>
          </p:txBody>
        </p:sp>
        <p:sp>
          <p:nvSpPr>
            <p:cNvPr id="76" name="Text Box 103"/>
            <p:cNvSpPr txBox="1">
              <a:spLocks noChangeArrowheads="1"/>
            </p:cNvSpPr>
            <p:nvPr/>
          </p:nvSpPr>
          <p:spPr bwMode="auto">
            <a:xfrm>
              <a:off x="2670598" y="3316982"/>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3</a:t>
              </a:r>
              <a:endParaRPr kumimoji="1" lang="en-US" altLang="zh-CN" sz="1100" b="1" dirty="0">
                <a:solidFill>
                  <a:srgbClr val="0000CC"/>
                </a:solidFill>
                <a:latin typeface="微软雅黑" pitchFamily="34" charset="-122"/>
                <a:ea typeface="微软雅黑" pitchFamily="34" charset="-122"/>
              </a:endParaRPr>
            </a:p>
          </p:txBody>
        </p:sp>
        <p:sp>
          <p:nvSpPr>
            <p:cNvPr id="77" name="Line 104"/>
            <p:cNvSpPr>
              <a:spLocks noChangeShapeType="1"/>
            </p:cNvSpPr>
            <p:nvPr/>
          </p:nvSpPr>
          <p:spPr bwMode="auto">
            <a:xfrm>
              <a:off x="1923416" y="2703417"/>
              <a:ext cx="1304901" cy="0"/>
            </a:xfrm>
            <a:prstGeom prst="line">
              <a:avLst/>
            </a:prstGeom>
            <a:noFill/>
            <a:ln w="28575">
              <a:solidFill>
                <a:srgbClr val="000099"/>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8" name="Line 105"/>
            <p:cNvSpPr>
              <a:spLocks noChangeShapeType="1"/>
            </p:cNvSpPr>
            <p:nvPr/>
          </p:nvSpPr>
          <p:spPr bwMode="auto">
            <a:xfrm>
              <a:off x="5420552" y="3698819"/>
              <a:ext cx="2035646"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9" name="Text Box 106"/>
            <p:cNvSpPr txBox="1">
              <a:spLocks noChangeArrowheads="1"/>
            </p:cNvSpPr>
            <p:nvPr/>
          </p:nvSpPr>
          <p:spPr bwMode="auto">
            <a:xfrm>
              <a:off x="5418783" y="331352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6</a:t>
              </a:r>
              <a:endParaRPr kumimoji="1" lang="en-US" altLang="zh-CN" sz="1100" b="1" dirty="0">
                <a:solidFill>
                  <a:srgbClr val="0000CC"/>
                </a:solidFill>
                <a:latin typeface="微软雅黑" pitchFamily="34" charset="-122"/>
                <a:ea typeface="微软雅黑" pitchFamily="34" charset="-122"/>
              </a:endParaRPr>
            </a:p>
          </p:txBody>
        </p:sp>
        <p:sp>
          <p:nvSpPr>
            <p:cNvPr id="80" name="Text Box 107"/>
            <p:cNvSpPr txBox="1">
              <a:spLocks noChangeArrowheads="1"/>
            </p:cNvSpPr>
            <p:nvPr/>
          </p:nvSpPr>
          <p:spPr bwMode="auto">
            <a:xfrm>
              <a:off x="6865082" y="332216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81" name="Text Box 108"/>
            <p:cNvSpPr txBox="1">
              <a:spLocks noChangeArrowheads="1"/>
            </p:cNvSpPr>
            <p:nvPr/>
          </p:nvSpPr>
          <p:spPr bwMode="auto">
            <a:xfrm>
              <a:off x="5391624" y="2756989"/>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IP</a:t>
              </a:r>
              <a:r>
                <a:rPr kumimoji="1" lang="en-US" altLang="zh-CN" sz="1100" b="1" baseline="-25000" dirty="0">
                  <a:solidFill>
                    <a:srgbClr val="0000CC"/>
                  </a:solidFill>
                  <a:latin typeface="微软雅黑" pitchFamily="34" charset="-122"/>
                  <a:ea typeface="微软雅黑" pitchFamily="34" charset="-122"/>
                </a:rPr>
                <a:t>6</a:t>
              </a:r>
              <a:endParaRPr kumimoji="1" lang="en-US" altLang="zh-CN" sz="1100" b="1" dirty="0">
                <a:solidFill>
                  <a:srgbClr val="0000CC"/>
                </a:solidFill>
                <a:latin typeface="微软雅黑" pitchFamily="34" charset="-122"/>
                <a:ea typeface="微软雅黑" pitchFamily="34" charset="-122"/>
              </a:endParaRPr>
            </a:p>
          </p:txBody>
        </p:sp>
        <p:sp>
          <p:nvSpPr>
            <p:cNvPr id="82" name="Text Box 109"/>
            <p:cNvSpPr txBox="1">
              <a:spLocks noChangeArrowheads="1"/>
            </p:cNvSpPr>
            <p:nvPr/>
          </p:nvSpPr>
          <p:spPr bwMode="auto">
            <a:xfrm>
              <a:off x="1423205" y="1813961"/>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83" name="Text Box 110"/>
            <p:cNvSpPr txBox="1">
              <a:spLocks noChangeArrowheads="1"/>
            </p:cNvSpPr>
            <p:nvPr/>
          </p:nvSpPr>
          <p:spPr bwMode="auto">
            <a:xfrm>
              <a:off x="6860648" y="1800136"/>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84" name="AutoShape 111"/>
            <p:cNvSpPr>
              <a:spLocks noChangeArrowheads="1"/>
            </p:cNvSpPr>
            <p:nvPr/>
          </p:nvSpPr>
          <p:spPr bwMode="auto">
            <a:xfrm>
              <a:off x="3176122" y="2511595"/>
              <a:ext cx="469764" cy="331800"/>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5" name="Text Box 112"/>
            <p:cNvSpPr txBox="1">
              <a:spLocks noChangeArrowheads="1"/>
            </p:cNvSpPr>
            <p:nvPr/>
          </p:nvSpPr>
          <p:spPr bwMode="auto">
            <a:xfrm>
              <a:off x="3114166" y="2264139"/>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86" name="Text Box 113"/>
            <p:cNvSpPr txBox="1">
              <a:spLocks noChangeArrowheads="1"/>
            </p:cNvSpPr>
            <p:nvPr/>
          </p:nvSpPr>
          <p:spPr bwMode="auto">
            <a:xfrm>
              <a:off x="4245130" y="2979997"/>
              <a:ext cx="1614545" cy="276999"/>
            </a:xfrm>
            <a:prstGeom prst="rect">
              <a:avLst/>
            </a:prstGeom>
            <a:solidFill>
              <a:srgbClr val="0000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dirty="0">
                  <a:solidFill>
                    <a:schemeClr val="bg1"/>
                  </a:solidFill>
                  <a:latin typeface="微软雅黑" pitchFamily="34" charset="-122"/>
                  <a:ea typeface="微软雅黑" pitchFamily="34" charset="-122"/>
                </a:rPr>
                <a:t>IP </a:t>
              </a:r>
              <a:r>
                <a:rPr kumimoji="1" lang="zh-CN" altLang="en-US" sz="1200" b="1" dirty="0">
                  <a:solidFill>
                    <a:schemeClr val="bg1"/>
                  </a:solidFill>
                  <a:latin typeface="微软雅黑" pitchFamily="34" charset="-122"/>
                  <a:ea typeface="微软雅黑" pitchFamily="34" charset="-122"/>
                </a:rPr>
                <a:t>层上的虚拟互联网</a:t>
              </a:r>
            </a:p>
          </p:txBody>
        </p:sp>
        <p:sp>
          <p:nvSpPr>
            <p:cNvPr id="87" name="Text Box 114"/>
            <p:cNvSpPr txBox="1">
              <a:spLocks noChangeArrowheads="1"/>
            </p:cNvSpPr>
            <p:nvPr/>
          </p:nvSpPr>
          <p:spPr bwMode="auto">
            <a:xfrm>
              <a:off x="1973491" y="3966267"/>
              <a:ext cx="71205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 </a:t>
              </a:r>
              <a:r>
                <a:rPr kumimoji="1" lang="zh-CN" altLang="en-US" sz="1100" b="1" dirty="0">
                  <a:latin typeface="微软雅黑" pitchFamily="34" charset="-122"/>
                  <a:ea typeface="微软雅黑" pitchFamily="34" charset="-122"/>
                </a:rPr>
                <a:t>帧</a:t>
              </a:r>
            </a:p>
          </p:txBody>
        </p:sp>
        <p:grpSp>
          <p:nvGrpSpPr>
            <p:cNvPr id="88" name="Group 115"/>
            <p:cNvGrpSpPr>
              <a:grpSpLocks/>
            </p:cNvGrpSpPr>
            <p:nvPr/>
          </p:nvGrpSpPr>
          <p:grpSpPr bwMode="auto">
            <a:xfrm>
              <a:off x="6934237" y="2055369"/>
              <a:ext cx="469764" cy="788026"/>
              <a:chOff x="672" y="528"/>
              <a:chExt cx="432" cy="912"/>
            </a:xfrm>
          </p:grpSpPr>
          <p:sp>
            <p:nvSpPr>
              <p:cNvPr id="122" name="AutoShape 116"/>
              <p:cNvSpPr>
                <a:spLocks noChangeArrowheads="1"/>
              </p:cNvSpPr>
              <p:nvPr/>
            </p:nvSpPr>
            <p:spPr bwMode="auto">
              <a:xfrm>
                <a:off x="672" y="100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3" name="AutoShape 117"/>
              <p:cNvSpPr>
                <a:spLocks noChangeArrowheads="1"/>
              </p:cNvSpPr>
              <p:nvPr/>
            </p:nvSpPr>
            <p:spPr bwMode="auto">
              <a:xfrm>
                <a:off x="672" y="720"/>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4" name="AutoShape 118"/>
              <p:cNvSpPr>
                <a:spLocks noChangeArrowheads="1"/>
              </p:cNvSpPr>
              <p:nvPr/>
            </p:nvSpPr>
            <p:spPr bwMode="auto">
              <a:xfrm>
                <a:off x="672" y="52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89" name="Text Box 119"/>
            <p:cNvSpPr txBox="1">
              <a:spLocks noChangeArrowheads="1"/>
            </p:cNvSpPr>
            <p:nvPr/>
          </p:nvSpPr>
          <p:spPr bwMode="auto">
            <a:xfrm>
              <a:off x="6967949" y="2607506"/>
              <a:ext cx="383438" cy="261610"/>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itchFamily="34" charset="-122"/>
                  <a:ea typeface="微软雅黑" pitchFamily="34" charset="-122"/>
                </a:rPr>
                <a:t>IP</a:t>
              </a:r>
              <a:r>
                <a:rPr kumimoji="1" lang="en-US" altLang="zh-CN" sz="1100" b="1" baseline="-25000">
                  <a:latin typeface="微软雅黑" pitchFamily="34" charset="-122"/>
                  <a:ea typeface="微软雅黑" pitchFamily="34" charset="-122"/>
                </a:rPr>
                <a:t>2</a:t>
              </a:r>
              <a:endParaRPr kumimoji="1" lang="en-US" altLang="zh-CN" sz="1100" b="1">
                <a:latin typeface="微软雅黑" pitchFamily="34" charset="-122"/>
                <a:ea typeface="微软雅黑" pitchFamily="34" charset="-122"/>
              </a:endParaRPr>
            </a:p>
          </p:txBody>
        </p:sp>
        <p:sp>
          <p:nvSpPr>
            <p:cNvPr id="90" name="Text Box 120"/>
            <p:cNvSpPr txBox="1">
              <a:spLocks noChangeArrowheads="1"/>
            </p:cNvSpPr>
            <p:nvPr/>
          </p:nvSpPr>
          <p:spPr bwMode="auto">
            <a:xfrm>
              <a:off x="3624138" y="2750077"/>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solidFill>
                    <a:srgbClr val="0000CC"/>
                  </a:solidFill>
                  <a:latin typeface="微软雅黑" pitchFamily="34" charset="-122"/>
                  <a:ea typeface="微软雅黑" pitchFamily="34" charset="-122"/>
                </a:rPr>
                <a:t>IP</a:t>
              </a:r>
              <a:r>
                <a:rPr kumimoji="1" lang="en-US" altLang="zh-CN" sz="1100" b="1" baseline="-25000">
                  <a:solidFill>
                    <a:srgbClr val="0000CC"/>
                  </a:solidFill>
                  <a:latin typeface="微软雅黑" pitchFamily="34" charset="-122"/>
                  <a:ea typeface="微软雅黑" pitchFamily="34" charset="-122"/>
                </a:rPr>
                <a:t>4</a:t>
              </a:r>
              <a:endParaRPr kumimoji="1" lang="en-US" altLang="zh-CN" sz="1100" b="1">
                <a:solidFill>
                  <a:srgbClr val="0000CC"/>
                </a:solidFill>
                <a:latin typeface="微软雅黑" pitchFamily="34" charset="-122"/>
                <a:ea typeface="微软雅黑" pitchFamily="34" charset="-122"/>
              </a:endParaRPr>
            </a:p>
          </p:txBody>
        </p:sp>
        <p:sp>
          <p:nvSpPr>
            <p:cNvPr id="91" name="Text Box 121"/>
            <p:cNvSpPr txBox="1">
              <a:spLocks noChangeArrowheads="1"/>
            </p:cNvSpPr>
            <p:nvPr/>
          </p:nvSpPr>
          <p:spPr bwMode="auto">
            <a:xfrm>
              <a:off x="2915141" y="2750077"/>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solidFill>
                    <a:srgbClr val="0000CC"/>
                  </a:solidFill>
                  <a:latin typeface="微软雅黑" pitchFamily="34" charset="-122"/>
                  <a:ea typeface="微软雅黑" pitchFamily="34" charset="-122"/>
                </a:rPr>
                <a:t>IP</a:t>
              </a:r>
              <a:r>
                <a:rPr kumimoji="1" lang="en-US" altLang="zh-CN" sz="1100" b="1" baseline="-25000">
                  <a:solidFill>
                    <a:srgbClr val="0000CC"/>
                  </a:solidFill>
                  <a:latin typeface="微软雅黑" pitchFamily="34" charset="-122"/>
                  <a:ea typeface="微软雅黑" pitchFamily="34" charset="-122"/>
                </a:rPr>
                <a:t>3</a:t>
              </a:r>
              <a:endParaRPr kumimoji="1" lang="en-US" altLang="zh-CN" sz="1100" b="1">
                <a:solidFill>
                  <a:srgbClr val="0000CC"/>
                </a:solidFill>
                <a:latin typeface="微软雅黑" pitchFamily="34" charset="-122"/>
                <a:ea typeface="微软雅黑" pitchFamily="34" charset="-122"/>
              </a:endParaRPr>
            </a:p>
          </p:txBody>
        </p:sp>
        <p:sp>
          <p:nvSpPr>
            <p:cNvPr id="92" name="Line 122"/>
            <p:cNvSpPr>
              <a:spLocks noChangeShapeType="1"/>
            </p:cNvSpPr>
            <p:nvPr/>
          </p:nvSpPr>
          <p:spPr bwMode="auto">
            <a:xfrm>
              <a:off x="3593690" y="2703417"/>
              <a:ext cx="1409293" cy="0"/>
            </a:xfrm>
            <a:prstGeom prst="line">
              <a:avLst/>
            </a:prstGeom>
            <a:noFill/>
            <a:ln w="28575">
              <a:solidFill>
                <a:srgbClr val="000099"/>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3" name="AutoShape 123"/>
            <p:cNvSpPr>
              <a:spLocks noChangeArrowheads="1"/>
            </p:cNvSpPr>
            <p:nvPr/>
          </p:nvSpPr>
          <p:spPr bwMode="auto">
            <a:xfrm>
              <a:off x="5001896" y="2496042"/>
              <a:ext cx="469764" cy="331800"/>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4" name="Line 124"/>
            <p:cNvSpPr>
              <a:spLocks noChangeShapeType="1"/>
            </p:cNvSpPr>
            <p:nvPr/>
          </p:nvSpPr>
          <p:spPr bwMode="auto">
            <a:xfrm>
              <a:off x="5420552" y="2703417"/>
              <a:ext cx="1513685" cy="0"/>
            </a:xfrm>
            <a:prstGeom prst="line">
              <a:avLst/>
            </a:prstGeom>
            <a:noFill/>
            <a:ln w="28575">
              <a:solidFill>
                <a:srgbClr val="000099"/>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5" name="Text Box 125"/>
            <p:cNvSpPr txBox="1">
              <a:spLocks noChangeArrowheads="1"/>
            </p:cNvSpPr>
            <p:nvPr/>
          </p:nvSpPr>
          <p:spPr bwMode="auto">
            <a:xfrm>
              <a:off x="4742004" y="2750077"/>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solidFill>
                    <a:srgbClr val="0000CC"/>
                  </a:solidFill>
                  <a:latin typeface="微软雅黑" pitchFamily="34" charset="-122"/>
                  <a:ea typeface="微软雅黑" pitchFamily="34" charset="-122"/>
                </a:rPr>
                <a:t>IP</a:t>
              </a:r>
              <a:r>
                <a:rPr kumimoji="1" lang="en-US" altLang="zh-CN" sz="1100" b="1" baseline="-25000">
                  <a:solidFill>
                    <a:srgbClr val="0000CC"/>
                  </a:solidFill>
                  <a:latin typeface="微软雅黑" pitchFamily="34" charset="-122"/>
                  <a:ea typeface="微软雅黑" pitchFamily="34" charset="-122"/>
                </a:rPr>
                <a:t>5</a:t>
              </a:r>
              <a:endParaRPr kumimoji="1" lang="en-US" altLang="zh-CN" sz="1100" b="1">
                <a:solidFill>
                  <a:srgbClr val="0000CC"/>
                </a:solidFill>
                <a:latin typeface="微软雅黑" pitchFamily="34" charset="-122"/>
                <a:ea typeface="微软雅黑" pitchFamily="34" charset="-122"/>
              </a:endParaRPr>
            </a:p>
          </p:txBody>
        </p:sp>
        <p:sp>
          <p:nvSpPr>
            <p:cNvPr id="96" name="Line 126"/>
            <p:cNvSpPr>
              <a:spLocks noChangeShapeType="1"/>
            </p:cNvSpPr>
            <p:nvPr/>
          </p:nvSpPr>
          <p:spPr bwMode="auto">
            <a:xfrm>
              <a:off x="3645886" y="3698819"/>
              <a:ext cx="1304901"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7" name="Freeform 127"/>
            <p:cNvSpPr>
              <a:spLocks/>
            </p:cNvSpPr>
            <p:nvPr/>
          </p:nvSpPr>
          <p:spPr bwMode="auto">
            <a:xfrm flipH="1">
              <a:off x="5405328" y="3544151"/>
              <a:ext cx="233795" cy="154668"/>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8" name="Freeform 128"/>
            <p:cNvSpPr>
              <a:spLocks/>
            </p:cNvSpPr>
            <p:nvPr/>
          </p:nvSpPr>
          <p:spPr bwMode="auto">
            <a:xfrm flipH="1">
              <a:off x="3564330" y="3547607"/>
              <a:ext cx="290340" cy="15207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9" name="Text Box 129"/>
            <p:cNvSpPr txBox="1">
              <a:spLocks noChangeArrowheads="1"/>
            </p:cNvSpPr>
            <p:nvPr/>
          </p:nvSpPr>
          <p:spPr bwMode="auto">
            <a:xfrm>
              <a:off x="4896444" y="2250313"/>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a:latin typeface="微软雅黑" pitchFamily="34" charset="-122"/>
                  <a:ea typeface="微软雅黑" pitchFamily="34" charset="-122"/>
                </a:rPr>
                <a:t>路由器 </a:t>
              </a:r>
              <a:r>
                <a:rPr kumimoji="1" lang="en-US" altLang="zh-CN" sz="1100" b="1">
                  <a:latin typeface="微软雅黑" pitchFamily="34" charset="-122"/>
                  <a:ea typeface="微软雅黑" pitchFamily="34" charset="-122"/>
                </a:rPr>
                <a:t>R</a:t>
              </a:r>
              <a:r>
                <a:rPr kumimoji="1" lang="en-US" altLang="zh-CN" sz="1100" b="1" baseline="-25000">
                  <a:latin typeface="微软雅黑" pitchFamily="34" charset="-122"/>
                  <a:ea typeface="微软雅黑" pitchFamily="34" charset="-122"/>
                </a:rPr>
                <a:t>2</a:t>
              </a:r>
              <a:endParaRPr kumimoji="1" lang="en-US" altLang="zh-CN" sz="1100" b="1">
                <a:latin typeface="微软雅黑" pitchFamily="34" charset="-122"/>
                <a:ea typeface="微软雅黑" pitchFamily="34" charset="-122"/>
              </a:endParaRPr>
            </a:p>
          </p:txBody>
        </p:sp>
        <p:sp>
          <p:nvSpPr>
            <p:cNvPr id="106" name="Text Box 148"/>
            <p:cNvSpPr txBox="1">
              <a:spLocks noChangeArrowheads="1"/>
            </p:cNvSpPr>
            <p:nvPr/>
          </p:nvSpPr>
          <p:spPr bwMode="auto">
            <a:xfrm>
              <a:off x="5956374" y="3966267"/>
              <a:ext cx="71205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 </a:t>
              </a:r>
              <a:r>
                <a:rPr kumimoji="1" lang="zh-CN" altLang="en-US" sz="1100" b="1" dirty="0">
                  <a:latin typeface="微软雅黑" pitchFamily="34" charset="-122"/>
                  <a:ea typeface="微软雅黑" pitchFamily="34" charset="-122"/>
                </a:rPr>
                <a:t>帧</a:t>
              </a:r>
            </a:p>
          </p:txBody>
        </p:sp>
        <p:sp>
          <p:nvSpPr>
            <p:cNvPr id="107" name="Text Box 149"/>
            <p:cNvSpPr txBox="1">
              <a:spLocks noChangeArrowheads="1"/>
            </p:cNvSpPr>
            <p:nvPr/>
          </p:nvSpPr>
          <p:spPr bwMode="auto">
            <a:xfrm>
              <a:off x="3973658" y="3966267"/>
              <a:ext cx="71205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 </a:t>
              </a:r>
              <a:r>
                <a:rPr kumimoji="1" lang="zh-CN" altLang="en-US" sz="1100" b="1" dirty="0">
                  <a:latin typeface="微软雅黑" pitchFamily="34" charset="-122"/>
                  <a:ea typeface="微软雅黑" pitchFamily="34" charset="-122"/>
                </a:rPr>
                <a:t>帧</a:t>
              </a:r>
            </a:p>
          </p:txBody>
        </p:sp>
        <p:grpSp>
          <p:nvGrpSpPr>
            <p:cNvPr id="177" name="Group 224"/>
            <p:cNvGrpSpPr>
              <a:grpSpLocks/>
            </p:cNvGrpSpPr>
            <p:nvPr/>
          </p:nvGrpSpPr>
          <p:grpSpPr bwMode="auto">
            <a:xfrm>
              <a:off x="2132745" y="2423009"/>
              <a:ext cx="959442" cy="261275"/>
              <a:chOff x="870" y="693"/>
              <a:chExt cx="761" cy="306"/>
            </a:xfrm>
            <a:solidFill>
              <a:srgbClr val="66FF99"/>
            </a:solidFill>
          </p:grpSpPr>
          <p:sp>
            <p:nvSpPr>
              <p:cNvPr id="178" name="AutoShape 193"/>
              <p:cNvSpPr>
                <a:spLocks noChangeArrowheads="1"/>
              </p:cNvSpPr>
              <p:nvPr/>
            </p:nvSpPr>
            <p:spPr bwMode="auto">
              <a:xfrm>
                <a:off x="1467" y="777"/>
                <a:ext cx="164" cy="150"/>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79" name="Rectangle 190"/>
              <p:cNvSpPr>
                <a:spLocks noChangeArrowheads="1"/>
              </p:cNvSpPr>
              <p:nvPr/>
            </p:nvSpPr>
            <p:spPr bwMode="auto">
              <a:xfrm>
                <a:off x="870" y="720"/>
                <a:ext cx="643" cy="252"/>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a:latin typeface="微软雅黑" panose="020B0503020204020204" pitchFamily="34" charset="-122"/>
                  <a:ea typeface="微软雅黑" panose="020B0503020204020204" pitchFamily="34" charset="-122"/>
                </a:endParaRPr>
              </a:p>
            </p:txBody>
          </p:sp>
          <p:sp>
            <p:nvSpPr>
              <p:cNvPr id="180" name="Text Box 219"/>
              <p:cNvSpPr txBox="1">
                <a:spLocks noChangeArrowheads="1"/>
              </p:cNvSpPr>
              <p:nvPr/>
            </p:nvSpPr>
            <p:spPr bwMode="auto">
              <a:xfrm>
                <a:off x="1087" y="693"/>
                <a:ext cx="495" cy="30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en-US" altLang="zh-CN" sz="1100" b="1" baseline="-25000" dirty="0">
                    <a:latin typeface="微软雅黑" panose="020B0503020204020204" pitchFamily="34" charset="-122"/>
                    <a:ea typeface="微软雅黑" panose="020B0503020204020204" pitchFamily="34" charset="-122"/>
                  </a:rPr>
                  <a:t>1</a:t>
                </a:r>
                <a:r>
                  <a:rPr lang="en-US" altLang="zh-CN" sz="1100" b="1" dirty="0">
                    <a:latin typeface="微软雅黑" panose="020B0503020204020204" pitchFamily="34" charset="-122"/>
                    <a:ea typeface="微软雅黑" panose="020B0503020204020204" pitchFamily="34" charset="-122"/>
                  </a:rPr>
                  <a:t> IP</a:t>
                </a:r>
                <a:r>
                  <a:rPr lang="en-US" altLang="zh-CN" sz="1100" b="1" baseline="-25000" dirty="0">
                    <a:latin typeface="微软雅黑" panose="020B0503020204020204" pitchFamily="34" charset="-122"/>
                    <a:ea typeface="微软雅黑" panose="020B0503020204020204" pitchFamily="34" charset="-122"/>
                  </a:rPr>
                  <a:t>2</a:t>
                </a:r>
              </a:p>
            </p:txBody>
          </p:sp>
          <p:sp>
            <p:nvSpPr>
              <p:cNvPr id="181" name="Line 221"/>
              <p:cNvSpPr>
                <a:spLocks noChangeShapeType="1"/>
              </p:cNvSpPr>
              <p:nvPr/>
            </p:nvSpPr>
            <p:spPr bwMode="auto">
              <a:xfrm>
                <a:off x="1323" y="720"/>
                <a:ext cx="0" cy="240"/>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2" name="Line 222"/>
              <p:cNvSpPr>
                <a:spLocks noChangeShapeType="1"/>
              </p:cNvSpPr>
              <p:nvPr/>
            </p:nvSpPr>
            <p:spPr bwMode="auto">
              <a:xfrm>
                <a:off x="1143" y="717"/>
                <a:ext cx="0" cy="243"/>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183" name="Group 224"/>
            <p:cNvGrpSpPr>
              <a:grpSpLocks/>
            </p:cNvGrpSpPr>
            <p:nvPr/>
          </p:nvGrpSpPr>
          <p:grpSpPr bwMode="auto">
            <a:xfrm>
              <a:off x="3876651" y="2423009"/>
              <a:ext cx="959442" cy="261275"/>
              <a:chOff x="870" y="693"/>
              <a:chExt cx="761" cy="306"/>
            </a:xfrm>
            <a:solidFill>
              <a:srgbClr val="66FF99"/>
            </a:solidFill>
          </p:grpSpPr>
          <p:sp>
            <p:nvSpPr>
              <p:cNvPr id="184" name="AutoShape 193"/>
              <p:cNvSpPr>
                <a:spLocks noChangeArrowheads="1"/>
              </p:cNvSpPr>
              <p:nvPr/>
            </p:nvSpPr>
            <p:spPr bwMode="auto">
              <a:xfrm>
                <a:off x="1467" y="777"/>
                <a:ext cx="164" cy="150"/>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85" name="Rectangle 190"/>
              <p:cNvSpPr>
                <a:spLocks noChangeArrowheads="1"/>
              </p:cNvSpPr>
              <p:nvPr/>
            </p:nvSpPr>
            <p:spPr bwMode="auto">
              <a:xfrm>
                <a:off x="870" y="720"/>
                <a:ext cx="643" cy="252"/>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a:latin typeface="微软雅黑" panose="020B0503020204020204" pitchFamily="34" charset="-122"/>
                  <a:ea typeface="微软雅黑" panose="020B0503020204020204" pitchFamily="34" charset="-122"/>
                </a:endParaRPr>
              </a:p>
            </p:txBody>
          </p:sp>
          <p:sp>
            <p:nvSpPr>
              <p:cNvPr id="186" name="Text Box 219"/>
              <p:cNvSpPr txBox="1">
                <a:spLocks noChangeArrowheads="1"/>
              </p:cNvSpPr>
              <p:nvPr/>
            </p:nvSpPr>
            <p:spPr bwMode="auto">
              <a:xfrm>
                <a:off x="1087" y="693"/>
                <a:ext cx="495" cy="30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en-US" altLang="zh-CN" sz="1100" b="1" baseline="-25000" dirty="0">
                    <a:latin typeface="微软雅黑" panose="020B0503020204020204" pitchFamily="34" charset="-122"/>
                    <a:ea typeface="微软雅黑" panose="020B0503020204020204" pitchFamily="34" charset="-122"/>
                  </a:rPr>
                  <a:t>1</a:t>
                </a:r>
                <a:r>
                  <a:rPr lang="en-US" altLang="zh-CN" sz="1100" b="1" dirty="0">
                    <a:latin typeface="微软雅黑" panose="020B0503020204020204" pitchFamily="34" charset="-122"/>
                    <a:ea typeface="微软雅黑" panose="020B0503020204020204" pitchFamily="34" charset="-122"/>
                  </a:rPr>
                  <a:t> IP</a:t>
                </a:r>
                <a:r>
                  <a:rPr lang="en-US" altLang="zh-CN" sz="1100" b="1" baseline="-25000" dirty="0">
                    <a:latin typeface="微软雅黑" panose="020B0503020204020204" pitchFamily="34" charset="-122"/>
                    <a:ea typeface="微软雅黑" panose="020B0503020204020204" pitchFamily="34" charset="-122"/>
                  </a:rPr>
                  <a:t>2</a:t>
                </a:r>
              </a:p>
            </p:txBody>
          </p:sp>
          <p:sp>
            <p:nvSpPr>
              <p:cNvPr id="187" name="Line 221"/>
              <p:cNvSpPr>
                <a:spLocks noChangeShapeType="1"/>
              </p:cNvSpPr>
              <p:nvPr/>
            </p:nvSpPr>
            <p:spPr bwMode="auto">
              <a:xfrm>
                <a:off x="1323" y="720"/>
                <a:ext cx="0" cy="240"/>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8" name="Line 222"/>
              <p:cNvSpPr>
                <a:spLocks noChangeShapeType="1"/>
              </p:cNvSpPr>
              <p:nvPr/>
            </p:nvSpPr>
            <p:spPr bwMode="auto">
              <a:xfrm>
                <a:off x="1143" y="717"/>
                <a:ext cx="0" cy="243"/>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189" name="Group 224"/>
            <p:cNvGrpSpPr>
              <a:grpSpLocks/>
            </p:cNvGrpSpPr>
            <p:nvPr/>
          </p:nvGrpSpPr>
          <p:grpSpPr bwMode="auto">
            <a:xfrm>
              <a:off x="5731087" y="2423009"/>
              <a:ext cx="959442" cy="261275"/>
              <a:chOff x="870" y="693"/>
              <a:chExt cx="761" cy="306"/>
            </a:xfrm>
            <a:solidFill>
              <a:srgbClr val="66FF99"/>
            </a:solidFill>
          </p:grpSpPr>
          <p:sp>
            <p:nvSpPr>
              <p:cNvPr id="190" name="AutoShape 193"/>
              <p:cNvSpPr>
                <a:spLocks noChangeArrowheads="1"/>
              </p:cNvSpPr>
              <p:nvPr/>
            </p:nvSpPr>
            <p:spPr bwMode="auto">
              <a:xfrm>
                <a:off x="1467" y="777"/>
                <a:ext cx="164" cy="150"/>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91" name="Rectangle 190"/>
              <p:cNvSpPr>
                <a:spLocks noChangeArrowheads="1"/>
              </p:cNvSpPr>
              <p:nvPr/>
            </p:nvSpPr>
            <p:spPr bwMode="auto">
              <a:xfrm>
                <a:off x="870" y="720"/>
                <a:ext cx="643" cy="252"/>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a:latin typeface="微软雅黑" panose="020B0503020204020204" pitchFamily="34" charset="-122"/>
                  <a:ea typeface="微软雅黑" panose="020B0503020204020204" pitchFamily="34" charset="-122"/>
                </a:endParaRPr>
              </a:p>
            </p:txBody>
          </p:sp>
          <p:sp>
            <p:nvSpPr>
              <p:cNvPr id="192" name="Text Box 219"/>
              <p:cNvSpPr txBox="1">
                <a:spLocks noChangeArrowheads="1"/>
              </p:cNvSpPr>
              <p:nvPr/>
            </p:nvSpPr>
            <p:spPr bwMode="auto">
              <a:xfrm>
                <a:off x="1087" y="693"/>
                <a:ext cx="495" cy="30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en-US" altLang="zh-CN" sz="1100" b="1" baseline="-25000" dirty="0">
                    <a:latin typeface="微软雅黑" panose="020B0503020204020204" pitchFamily="34" charset="-122"/>
                    <a:ea typeface="微软雅黑" panose="020B0503020204020204" pitchFamily="34" charset="-122"/>
                  </a:rPr>
                  <a:t>1</a:t>
                </a:r>
                <a:r>
                  <a:rPr lang="en-US" altLang="zh-CN" sz="1100" b="1" dirty="0">
                    <a:latin typeface="微软雅黑" panose="020B0503020204020204" pitchFamily="34" charset="-122"/>
                    <a:ea typeface="微软雅黑" panose="020B0503020204020204" pitchFamily="34" charset="-122"/>
                  </a:rPr>
                  <a:t> IP</a:t>
                </a:r>
                <a:r>
                  <a:rPr lang="en-US" altLang="zh-CN" sz="1100" b="1" baseline="-25000" dirty="0">
                    <a:latin typeface="微软雅黑" panose="020B0503020204020204" pitchFamily="34" charset="-122"/>
                    <a:ea typeface="微软雅黑" panose="020B0503020204020204" pitchFamily="34" charset="-122"/>
                  </a:rPr>
                  <a:t>2</a:t>
                </a:r>
              </a:p>
            </p:txBody>
          </p:sp>
          <p:sp>
            <p:nvSpPr>
              <p:cNvPr id="193" name="Line 221"/>
              <p:cNvSpPr>
                <a:spLocks noChangeShapeType="1"/>
              </p:cNvSpPr>
              <p:nvPr/>
            </p:nvSpPr>
            <p:spPr bwMode="auto">
              <a:xfrm>
                <a:off x="1323" y="720"/>
                <a:ext cx="0" cy="240"/>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2"/>
              <p:cNvSpPr>
                <a:spLocks noChangeShapeType="1"/>
              </p:cNvSpPr>
              <p:nvPr/>
            </p:nvSpPr>
            <p:spPr bwMode="auto">
              <a:xfrm>
                <a:off x="1143" y="717"/>
                <a:ext cx="0" cy="243"/>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195" name="组合 103"/>
            <p:cNvGrpSpPr>
              <a:grpSpLocks/>
            </p:cNvGrpSpPr>
            <p:nvPr/>
          </p:nvGrpSpPr>
          <p:grpSpPr bwMode="auto">
            <a:xfrm>
              <a:off x="1682148" y="3763461"/>
              <a:ext cx="1125387" cy="216189"/>
              <a:chOff x="179512" y="3575494"/>
              <a:chExt cx="2341732" cy="386906"/>
            </a:xfrm>
            <a:solidFill>
              <a:srgbClr val="00FFFF"/>
            </a:solidFill>
          </p:grpSpPr>
          <p:grpSp>
            <p:nvGrpSpPr>
              <p:cNvPr id="196" name="Group 204"/>
              <p:cNvGrpSpPr>
                <a:grpSpLocks/>
              </p:cNvGrpSpPr>
              <p:nvPr/>
            </p:nvGrpSpPr>
            <p:grpSpPr bwMode="auto">
              <a:xfrm>
                <a:off x="179512" y="3581400"/>
                <a:ext cx="2341732" cy="381000"/>
                <a:chOff x="480" y="3120"/>
                <a:chExt cx="1212" cy="240"/>
              </a:xfrm>
              <a:grpFill/>
            </p:grpSpPr>
            <p:sp>
              <p:nvSpPr>
                <p:cNvPr id="200" name="AutoShape 203"/>
                <p:cNvSpPr>
                  <a:spLocks noChangeArrowheads="1"/>
                </p:cNvSpPr>
                <p:nvPr/>
              </p:nvSpPr>
              <p:spPr bwMode="auto">
                <a:xfrm>
                  <a:off x="1500" y="3168"/>
                  <a:ext cx="192" cy="144"/>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01" name="Rectangle 202"/>
                <p:cNvSpPr>
                  <a:spLocks noChangeArrowheads="1"/>
                </p:cNvSpPr>
                <p:nvPr/>
              </p:nvSpPr>
              <p:spPr bwMode="auto">
                <a:xfrm>
                  <a:off x="480" y="3120"/>
                  <a:ext cx="1056" cy="240"/>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900" b="1" baseline="-25000">
                    <a:latin typeface="微软雅黑" panose="020B0503020204020204" pitchFamily="34" charset="-122"/>
                    <a:ea typeface="微软雅黑" panose="020B0503020204020204" pitchFamily="34" charset="-122"/>
                  </a:endParaRPr>
                </a:p>
              </p:txBody>
            </p:sp>
          </p:grpSp>
          <p:sp>
            <p:nvSpPr>
              <p:cNvPr id="197" name="Rectangle 220"/>
              <p:cNvSpPr>
                <a:spLocks noChangeArrowheads="1"/>
              </p:cNvSpPr>
              <p:nvPr/>
            </p:nvSpPr>
            <p:spPr bwMode="auto">
              <a:xfrm>
                <a:off x="716210" y="3580859"/>
                <a:ext cx="1683115" cy="381000"/>
              </a:xfrm>
              <a:prstGeom prst="rect">
                <a:avLst/>
              </a:prstGeom>
              <a:no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r>
                  <a:rPr lang="en-US" altLang="zh-CN" sz="900" b="1" dirty="0">
                    <a:latin typeface="微软雅黑" panose="020B0503020204020204" pitchFamily="34" charset="-122"/>
                    <a:ea typeface="微软雅黑" panose="020B0503020204020204" pitchFamily="34" charset="-122"/>
                  </a:rPr>
                  <a:t>MAC</a:t>
                </a:r>
                <a:r>
                  <a:rPr lang="en-US" altLang="zh-CN" sz="900" b="1" baseline="-25000" dirty="0">
                    <a:latin typeface="微软雅黑" panose="020B0503020204020204" pitchFamily="34" charset="-122"/>
                    <a:ea typeface="微软雅黑" panose="020B0503020204020204" pitchFamily="34" charset="-122"/>
                  </a:rPr>
                  <a:t>1</a:t>
                </a:r>
                <a:r>
                  <a:rPr lang="en-US" altLang="zh-CN" sz="900" b="1" dirty="0">
                    <a:latin typeface="微软雅黑" panose="020B0503020204020204" pitchFamily="34" charset="-122"/>
                    <a:ea typeface="微软雅黑" panose="020B0503020204020204" pitchFamily="34" charset="-122"/>
                  </a:rPr>
                  <a:t> MAC</a:t>
                </a:r>
                <a:r>
                  <a:rPr lang="en-US" altLang="zh-CN" sz="900" b="1" baseline="-25000" dirty="0">
                    <a:latin typeface="微软雅黑" panose="020B0503020204020204" pitchFamily="34" charset="-122"/>
                    <a:ea typeface="微软雅黑" panose="020B0503020204020204" pitchFamily="34" charset="-122"/>
                  </a:rPr>
                  <a:t>3</a:t>
                </a:r>
              </a:p>
            </p:txBody>
          </p:sp>
          <p:sp>
            <p:nvSpPr>
              <p:cNvPr id="198" name="Line 237"/>
              <p:cNvSpPr>
                <a:spLocks noChangeShapeType="1"/>
              </p:cNvSpPr>
              <p:nvPr/>
            </p:nvSpPr>
            <p:spPr bwMode="auto">
              <a:xfrm>
                <a:off x="1497867" y="3575494"/>
                <a:ext cx="0" cy="38636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199" name="Line 238"/>
              <p:cNvSpPr>
                <a:spLocks noChangeShapeType="1"/>
              </p:cNvSpPr>
              <p:nvPr/>
            </p:nvSpPr>
            <p:spPr bwMode="auto">
              <a:xfrm>
                <a:off x="738473" y="3581400"/>
                <a:ext cx="0" cy="37147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grpSp>
        <p:grpSp>
          <p:nvGrpSpPr>
            <p:cNvPr id="202" name="组合 103"/>
            <p:cNvGrpSpPr>
              <a:grpSpLocks/>
            </p:cNvGrpSpPr>
            <p:nvPr/>
          </p:nvGrpSpPr>
          <p:grpSpPr bwMode="auto">
            <a:xfrm>
              <a:off x="3709500" y="3763461"/>
              <a:ext cx="1125387" cy="216189"/>
              <a:chOff x="179512" y="3575494"/>
              <a:chExt cx="2341732" cy="386906"/>
            </a:xfrm>
            <a:solidFill>
              <a:srgbClr val="00FFFF"/>
            </a:solidFill>
          </p:grpSpPr>
          <p:grpSp>
            <p:nvGrpSpPr>
              <p:cNvPr id="203" name="Group 204"/>
              <p:cNvGrpSpPr>
                <a:grpSpLocks/>
              </p:cNvGrpSpPr>
              <p:nvPr/>
            </p:nvGrpSpPr>
            <p:grpSpPr bwMode="auto">
              <a:xfrm>
                <a:off x="179512" y="3581400"/>
                <a:ext cx="2341732" cy="381000"/>
                <a:chOff x="480" y="3120"/>
                <a:chExt cx="1212" cy="240"/>
              </a:xfrm>
              <a:grpFill/>
            </p:grpSpPr>
            <p:sp>
              <p:nvSpPr>
                <p:cNvPr id="207" name="AutoShape 203"/>
                <p:cNvSpPr>
                  <a:spLocks noChangeArrowheads="1"/>
                </p:cNvSpPr>
                <p:nvPr/>
              </p:nvSpPr>
              <p:spPr bwMode="auto">
                <a:xfrm>
                  <a:off x="1500" y="3168"/>
                  <a:ext cx="192" cy="144"/>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08" name="Rectangle 202"/>
                <p:cNvSpPr>
                  <a:spLocks noChangeArrowheads="1"/>
                </p:cNvSpPr>
                <p:nvPr/>
              </p:nvSpPr>
              <p:spPr bwMode="auto">
                <a:xfrm>
                  <a:off x="480" y="3120"/>
                  <a:ext cx="1056" cy="240"/>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900" b="1" baseline="-25000">
                    <a:latin typeface="微软雅黑" panose="020B0503020204020204" pitchFamily="34" charset="-122"/>
                    <a:ea typeface="微软雅黑" panose="020B0503020204020204" pitchFamily="34" charset="-122"/>
                  </a:endParaRPr>
                </a:p>
              </p:txBody>
            </p:sp>
          </p:grpSp>
          <p:sp>
            <p:nvSpPr>
              <p:cNvPr id="204" name="Rectangle 220"/>
              <p:cNvSpPr>
                <a:spLocks noChangeArrowheads="1"/>
              </p:cNvSpPr>
              <p:nvPr/>
            </p:nvSpPr>
            <p:spPr bwMode="auto">
              <a:xfrm>
                <a:off x="716210" y="3580859"/>
                <a:ext cx="1683115" cy="381000"/>
              </a:xfrm>
              <a:prstGeom prst="rect">
                <a:avLst/>
              </a:prstGeom>
              <a:no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r>
                  <a:rPr lang="en-US" altLang="zh-CN" sz="900" b="1" dirty="0">
                    <a:latin typeface="微软雅黑" panose="020B0503020204020204" pitchFamily="34" charset="-122"/>
                    <a:ea typeface="微软雅黑" panose="020B0503020204020204" pitchFamily="34" charset="-122"/>
                  </a:rPr>
                  <a:t>MAC</a:t>
                </a:r>
                <a:r>
                  <a:rPr lang="en-US" altLang="zh-CN" sz="900" b="1" baseline="-25000" dirty="0">
                    <a:latin typeface="微软雅黑" panose="020B0503020204020204" pitchFamily="34" charset="-122"/>
                    <a:ea typeface="微软雅黑" panose="020B0503020204020204" pitchFamily="34" charset="-122"/>
                  </a:rPr>
                  <a:t>4</a:t>
                </a:r>
                <a:r>
                  <a:rPr lang="en-US" altLang="zh-CN" sz="900" b="1" dirty="0">
                    <a:latin typeface="微软雅黑" panose="020B0503020204020204" pitchFamily="34" charset="-122"/>
                    <a:ea typeface="微软雅黑" panose="020B0503020204020204" pitchFamily="34" charset="-122"/>
                  </a:rPr>
                  <a:t> MAC</a:t>
                </a:r>
                <a:r>
                  <a:rPr lang="en-US" altLang="zh-CN" sz="900" b="1" baseline="-25000" dirty="0">
                    <a:latin typeface="微软雅黑" panose="020B0503020204020204" pitchFamily="34" charset="-122"/>
                    <a:ea typeface="微软雅黑" panose="020B0503020204020204" pitchFamily="34" charset="-122"/>
                  </a:rPr>
                  <a:t>5</a:t>
                </a:r>
              </a:p>
            </p:txBody>
          </p:sp>
          <p:sp>
            <p:nvSpPr>
              <p:cNvPr id="205" name="Line 237"/>
              <p:cNvSpPr>
                <a:spLocks noChangeShapeType="1"/>
              </p:cNvSpPr>
              <p:nvPr/>
            </p:nvSpPr>
            <p:spPr bwMode="auto">
              <a:xfrm>
                <a:off x="1497867" y="3575494"/>
                <a:ext cx="0" cy="38636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06" name="Line 238"/>
              <p:cNvSpPr>
                <a:spLocks noChangeShapeType="1"/>
              </p:cNvSpPr>
              <p:nvPr/>
            </p:nvSpPr>
            <p:spPr bwMode="auto">
              <a:xfrm>
                <a:off x="738473" y="3581400"/>
                <a:ext cx="0" cy="37147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grpSp>
        <p:grpSp>
          <p:nvGrpSpPr>
            <p:cNvPr id="209" name="组合 103"/>
            <p:cNvGrpSpPr>
              <a:grpSpLocks/>
            </p:cNvGrpSpPr>
            <p:nvPr/>
          </p:nvGrpSpPr>
          <p:grpSpPr bwMode="auto">
            <a:xfrm>
              <a:off x="5735977" y="3763461"/>
              <a:ext cx="1125387" cy="216189"/>
              <a:chOff x="179512" y="3575494"/>
              <a:chExt cx="2341732" cy="386906"/>
            </a:xfrm>
            <a:solidFill>
              <a:srgbClr val="00FFFF"/>
            </a:solidFill>
          </p:grpSpPr>
          <p:grpSp>
            <p:nvGrpSpPr>
              <p:cNvPr id="210" name="Group 204"/>
              <p:cNvGrpSpPr>
                <a:grpSpLocks/>
              </p:cNvGrpSpPr>
              <p:nvPr/>
            </p:nvGrpSpPr>
            <p:grpSpPr bwMode="auto">
              <a:xfrm>
                <a:off x="179512" y="3581400"/>
                <a:ext cx="2341732" cy="381000"/>
                <a:chOff x="480" y="3120"/>
                <a:chExt cx="1212" cy="240"/>
              </a:xfrm>
              <a:grpFill/>
            </p:grpSpPr>
            <p:sp>
              <p:nvSpPr>
                <p:cNvPr id="214" name="AutoShape 203"/>
                <p:cNvSpPr>
                  <a:spLocks noChangeArrowheads="1"/>
                </p:cNvSpPr>
                <p:nvPr/>
              </p:nvSpPr>
              <p:spPr bwMode="auto">
                <a:xfrm>
                  <a:off x="1500" y="3168"/>
                  <a:ext cx="192" cy="144"/>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15" name="Rectangle 202"/>
                <p:cNvSpPr>
                  <a:spLocks noChangeArrowheads="1"/>
                </p:cNvSpPr>
                <p:nvPr/>
              </p:nvSpPr>
              <p:spPr bwMode="auto">
                <a:xfrm>
                  <a:off x="480" y="3120"/>
                  <a:ext cx="1056" cy="240"/>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900" b="1" baseline="-25000">
                    <a:latin typeface="微软雅黑" panose="020B0503020204020204" pitchFamily="34" charset="-122"/>
                    <a:ea typeface="微软雅黑" panose="020B0503020204020204" pitchFamily="34" charset="-122"/>
                  </a:endParaRPr>
                </a:p>
              </p:txBody>
            </p:sp>
          </p:grpSp>
          <p:sp>
            <p:nvSpPr>
              <p:cNvPr id="211" name="Rectangle 220"/>
              <p:cNvSpPr>
                <a:spLocks noChangeArrowheads="1"/>
              </p:cNvSpPr>
              <p:nvPr/>
            </p:nvSpPr>
            <p:spPr bwMode="auto">
              <a:xfrm>
                <a:off x="716210" y="3580859"/>
                <a:ext cx="1683115" cy="381000"/>
              </a:xfrm>
              <a:prstGeom prst="rect">
                <a:avLst/>
              </a:prstGeom>
              <a:no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r>
                  <a:rPr lang="en-US" altLang="zh-CN" sz="900" b="1" dirty="0">
                    <a:latin typeface="微软雅黑" panose="020B0503020204020204" pitchFamily="34" charset="-122"/>
                    <a:ea typeface="微软雅黑" panose="020B0503020204020204" pitchFamily="34" charset="-122"/>
                  </a:rPr>
                  <a:t>MAC</a:t>
                </a:r>
                <a:r>
                  <a:rPr lang="en-US" altLang="zh-CN" sz="900" b="1" baseline="-25000" dirty="0">
                    <a:latin typeface="微软雅黑" panose="020B0503020204020204" pitchFamily="34" charset="-122"/>
                    <a:ea typeface="微软雅黑" panose="020B0503020204020204" pitchFamily="34" charset="-122"/>
                  </a:rPr>
                  <a:t>6</a:t>
                </a:r>
                <a:r>
                  <a:rPr lang="en-US" altLang="zh-CN" sz="900" b="1" dirty="0">
                    <a:latin typeface="微软雅黑" panose="020B0503020204020204" pitchFamily="34" charset="-122"/>
                    <a:ea typeface="微软雅黑" panose="020B0503020204020204" pitchFamily="34" charset="-122"/>
                  </a:rPr>
                  <a:t> MAC</a:t>
                </a:r>
                <a:r>
                  <a:rPr lang="en-US" altLang="zh-CN" sz="900" b="1" baseline="-25000" dirty="0">
                    <a:latin typeface="微软雅黑" panose="020B0503020204020204" pitchFamily="34" charset="-122"/>
                    <a:ea typeface="微软雅黑" panose="020B0503020204020204" pitchFamily="34" charset="-122"/>
                  </a:rPr>
                  <a:t>2</a:t>
                </a:r>
              </a:p>
            </p:txBody>
          </p:sp>
          <p:sp>
            <p:nvSpPr>
              <p:cNvPr id="212" name="Line 237"/>
              <p:cNvSpPr>
                <a:spLocks noChangeShapeType="1"/>
              </p:cNvSpPr>
              <p:nvPr/>
            </p:nvSpPr>
            <p:spPr bwMode="auto">
              <a:xfrm>
                <a:off x="1497867" y="3575494"/>
                <a:ext cx="0" cy="38636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13" name="Line 238"/>
              <p:cNvSpPr>
                <a:spLocks noChangeShapeType="1"/>
              </p:cNvSpPr>
              <p:nvPr/>
            </p:nvSpPr>
            <p:spPr bwMode="auto">
              <a:xfrm>
                <a:off x="738473" y="3581400"/>
                <a:ext cx="0" cy="37147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grpSp>
        <p:grpSp>
          <p:nvGrpSpPr>
            <p:cNvPr id="2" name="组合 1"/>
            <p:cNvGrpSpPr/>
            <p:nvPr/>
          </p:nvGrpSpPr>
          <p:grpSpPr>
            <a:xfrm>
              <a:off x="2629163" y="1918996"/>
              <a:ext cx="835137" cy="261610"/>
              <a:chOff x="2629163" y="1918996"/>
              <a:chExt cx="835137" cy="261610"/>
            </a:xfrm>
          </p:grpSpPr>
          <p:sp>
            <p:nvSpPr>
              <p:cNvPr id="108" name="AutoShape 150"/>
              <p:cNvSpPr>
                <a:spLocks noChangeArrowheads="1"/>
              </p:cNvSpPr>
              <p:nvPr/>
            </p:nvSpPr>
            <p:spPr bwMode="auto">
              <a:xfrm flipV="1">
                <a:off x="2629163" y="1942246"/>
                <a:ext cx="835137" cy="205647"/>
              </a:xfrm>
              <a:prstGeom prst="wedgeRoundRectCallout">
                <a:avLst>
                  <a:gd name="adj1" fmla="val -75782"/>
                  <a:gd name="adj2" fmla="val -203782"/>
                  <a:gd name="adj3" fmla="val 16667"/>
                </a:avLst>
              </a:prstGeom>
              <a:solidFill>
                <a:srgbClr val="FFC000"/>
              </a:solidFill>
              <a:ln w="9525">
                <a:solidFill>
                  <a:schemeClr val="tx1"/>
                </a:solidFill>
                <a:miter lim="800000"/>
                <a:headEnd/>
                <a:tailEnd/>
              </a:ln>
              <a:effectLst/>
            </p:spPr>
            <p:txBody>
              <a:bodyPr rot="10800000" wrap="none" anchor="ctr"/>
              <a:lstStyle/>
              <a:p>
                <a:pPr algn="ctr"/>
                <a:endParaRPr kumimoji="1" lang="zh-CN" altLang="zh-CN" sz="1200" b="1">
                  <a:solidFill>
                    <a:srgbClr val="0000CC"/>
                  </a:solidFill>
                  <a:latin typeface="微软雅黑" pitchFamily="34" charset="-122"/>
                  <a:ea typeface="微软雅黑" pitchFamily="34" charset="-122"/>
                </a:endParaRPr>
              </a:p>
            </p:txBody>
          </p:sp>
          <p:sp>
            <p:nvSpPr>
              <p:cNvPr id="109" name="Text Box 151"/>
              <p:cNvSpPr txBox="1">
                <a:spLocks noChangeArrowheads="1"/>
              </p:cNvSpPr>
              <p:nvPr/>
            </p:nvSpPr>
            <p:spPr bwMode="auto">
              <a:xfrm>
                <a:off x="2655261" y="1918996"/>
                <a:ext cx="79060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IP </a:t>
                </a:r>
                <a:r>
                  <a:rPr kumimoji="1" lang="zh-CN" altLang="en-US" sz="1100" b="1" dirty="0">
                    <a:latin typeface="微软雅黑" pitchFamily="34" charset="-122"/>
                    <a:ea typeface="微软雅黑" pitchFamily="34" charset="-122"/>
                  </a:rPr>
                  <a:t>数据报</a:t>
                </a:r>
              </a:p>
            </p:txBody>
          </p:sp>
        </p:grpSp>
      </p:grpSp>
      <p:sp>
        <p:nvSpPr>
          <p:cNvPr id="137" name="Line 159"/>
          <p:cNvSpPr>
            <a:spLocks noChangeShapeType="1"/>
          </p:cNvSpPr>
          <p:nvPr/>
        </p:nvSpPr>
        <p:spPr bwMode="auto">
          <a:xfrm>
            <a:off x="1670048" y="2214466"/>
            <a:ext cx="0" cy="1450763"/>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38" name="Line 161"/>
          <p:cNvSpPr>
            <a:spLocks noChangeShapeType="1"/>
          </p:cNvSpPr>
          <p:nvPr/>
        </p:nvSpPr>
        <p:spPr bwMode="auto">
          <a:xfrm>
            <a:off x="1670048" y="3704112"/>
            <a:ext cx="1282065"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39" name="Line 163"/>
          <p:cNvSpPr>
            <a:spLocks noChangeShapeType="1"/>
          </p:cNvSpPr>
          <p:nvPr/>
        </p:nvSpPr>
        <p:spPr bwMode="auto">
          <a:xfrm flipV="1">
            <a:off x="3296825" y="2645634"/>
            <a:ext cx="0" cy="979848"/>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0" name="Line 164"/>
          <p:cNvSpPr>
            <a:spLocks noChangeShapeType="1"/>
          </p:cNvSpPr>
          <p:nvPr/>
        </p:nvSpPr>
        <p:spPr bwMode="auto">
          <a:xfrm>
            <a:off x="3444714" y="2645634"/>
            <a:ext cx="0" cy="979848"/>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1" name="Line 165"/>
          <p:cNvSpPr>
            <a:spLocks noChangeShapeType="1"/>
          </p:cNvSpPr>
          <p:nvPr/>
        </p:nvSpPr>
        <p:spPr bwMode="auto">
          <a:xfrm>
            <a:off x="3692646" y="3704112"/>
            <a:ext cx="1282065"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2" name="Line 168"/>
          <p:cNvSpPr>
            <a:spLocks noChangeShapeType="1"/>
          </p:cNvSpPr>
          <p:nvPr/>
        </p:nvSpPr>
        <p:spPr bwMode="auto">
          <a:xfrm flipV="1">
            <a:off x="5122599" y="2645634"/>
            <a:ext cx="0" cy="979848"/>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3" name="Line 169"/>
          <p:cNvSpPr>
            <a:spLocks noChangeShapeType="1"/>
          </p:cNvSpPr>
          <p:nvPr/>
        </p:nvSpPr>
        <p:spPr bwMode="auto">
          <a:xfrm>
            <a:off x="5270488" y="2645634"/>
            <a:ext cx="0" cy="979848"/>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4" name="Line 170"/>
          <p:cNvSpPr>
            <a:spLocks noChangeShapeType="1"/>
          </p:cNvSpPr>
          <p:nvPr/>
        </p:nvSpPr>
        <p:spPr bwMode="auto">
          <a:xfrm>
            <a:off x="5714155" y="3704112"/>
            <a:ext cx="1282066"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5" name="Line 171"/>
          <p:cNvSpPr>
            <a:spLocks noChangeShapeType="1"/>
          </p:cNvSpPr>
          <p:nvPr/>
        </p:nvSpPr>
        <p:spPr bwMode="auto">
          <a:xfrm flipV="1">
            <a:off x="7095175" y="2253349"/>
            <a:ext cx="0" cy="1450763"/>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210338418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136"/>
                                        </p:tgtEl>
                                        <p:attrNameLst>
                                          <p:attrName>style.visibility</p:attrName>
                                        </p:attrNameLst>
                                      </p:cBhvr>
                                      <p:tavLst>
                                        <p:tav tm="0">
                                          <p:val>
                                            <p:strVal val="hidden"/>
                                          </p:val>
                                        </p:tav>
                                        <p:tav tm="50000">
                                          <p:val>
                                            <p:strVal val="visible"/>
                                          </p:val>
                                        </p:tav>
                                      </p:tavLst>
                                    </p:anim>
                                  </p:childTnLst>
                                </p:cTn>
                              </p:par>
                            </p:childTnLst>
                          </p:cTn>
                        </p:par>
                        <p:par>
                          <p:cTn id="7" fill="hold">
                            <p:stCondLst>
                              <p:cond delay="3000"/>
                            </p:stCondLst>
                            <p:childTnLst>
                              <p:par>
                                <p:cTn id="8" presetID="22" presetClass="entr" presetSubtype="1" fill="hold" grpId="0" nodeType="afterEffect">
                                  <p:stCondLst>
                                    <p:cond delay="0"/>
                                  </p:stCondLst>
                                  <p:childTnLst>
                                    <p:set>
                                      <p:cBhvr>
                                        <p:cTn id="9" dur="1" fill="hold">
                                          <p:stCondLst>
                                            <p:cond delay="0"/>
                                          </p:stCondLst>
                                        </p:cTn>
                                        <p:tgtEl>
                                          <p:spTgt spid="137"/>
                                        </p:tgtEl>
                                        <p:attrNameLst>
                                          <p:attrName>style.visibility</p:attrName>
                                        </p:attrNameLst>
                                      </p:cBhvr>
                                      <p:to>
                                        <p:strVal val="visible"/>
                                      </p:to>
                                    </p:set>
                                    <p:animEffect transition="in" filter="wipe(up)">
                                      <p:cBhvr>
                                        <p:cTn id="10" dur="1000"/>
                                        <p:tgtEl>
                                          <p:spTgt spid="137"/>
                                        </p:tgtEl>
                                      </p:cBhvr>
                                    </p:animEffect>
                                  </p:childTnLst>
                                </p:cTn>
                              </p:par>
                            </p:childTnLst>
                          </p:cTn>
                        </p:par>
                        <p:par>
                          <p:cTn id="11" fill="hold">
                            <p:stCondLst>
                              <p:cond delay="4000"/>
                            </p:stCondLst>
                            <p:childTnLst>
                              <p:par>
                                <p:cTn id="12" presetID="22" presetClass="entr" presetSubtype="8" fill="hold" grpId="0" nodeType="afterEffect">
                                  <p:stCondLst>
                                    <p:cond delay="0"/>
                                  </p:stCondLst>
                                  <p:childTnLst>
                                    <p:set>
                                      <p:cBhvr>
                                        <p:cTn id="13" dur="1" fill="hold">
                                          <p:stCondLst>
                                            <p:cond delay="0"/>
                                          </p:stCondLst>
                                        </p:cTn>
                                        <p:tgtEl>
                                          <p:spTgt spid="138"/>
                                        </p:tgtEl>
                                        <p:attrNameLst>
                                          <p:attrName>style.visibility</p:attrName>
                                        </p:attrNameLst>
                                      </p:cBhvr>
                                      <p:to>
                                        <p:strVal val="visible"/>
                                      </p:to>
                                    </p:set>
                                    <p:animEffect transition="in" filter="wipe(left)">
                                      <p:cBhvr>
                                        <p:cTn id="14" dur="1000"/>
                                        <p:tgtEl>
                                          <p:spTgt spid="138"/>
                                        </p:tgtEl>
                                      </p:cBhvr>
                                    </p:animEffect>
                                  </p:childTnLst>
                                </p:cTn>
                              </p:par>
                            </p:childTnLst>
                          </p:cTn>
                        </p:par>
                        <p:par>
                          <p:cTn id="15" fill="hold">
                            <p:stCondLst>
                              <p:cond delay="5000"/>
                            </p:stCondLst>
                            <p:childTnLst>
                              <p:par>
                                <p:cTn id="16" presetID="22" presetClass="entr" presetSubtype="4" fill="hold" grpId="0" nodeType="afterEffect">
                                  <p:stCondLst>
                                    <p:cond delay="0"/>
                                  </p:stCondLst>
                                  <p:childTnLst>
                                    <p:set>
                                      <p:cBhvr>
                                        <p:cTn id="17" dur="1" fill="hold">
                                          <p:stCondLst>
                                            <p:cond delay="0"/>
                                          </p:stCondLst>
                                        </p:cTn>
                                        <p:tgtEl>
                                          <p:spTgt spid="139"/>
                                        </p:tgtEl>
                                        <p:attrNameLst>
                                          <p:attrName>style.visibility</p:attrName>
                                        </p:attrNameLst>
                                      </p:cBhvr>
                                      <p:to>
                                        <p:strVal val="visible"/>
                                      </p:to>
                                    </p:set>
                                    <p:animEffect transition="in" filter="wipe(down)">
                                      <p:cBhvr>
                                        <p:cTn id="18" dur="1000"/>
                                        <p:tgtEl>
                                          <p:spTgt spid="139"/>
                                        </p:tgtEl>
                                      </p:cBhvr>
                                    </p:animEffect>
                                  </p:childTnLst>
                                </p:cTn>
                              </p:par>
                            </p:childTnLst>
                          </p:cTn>
                        </p:par>
                        <p:par>
                          <p:cTn id="19" fill="hold">
                            <p:stCondLst>
                              <p:cond delay="6000"/>
                            </p:stCondLst>
                            <p:childTnLst>
                              <p:par>
                                <p:cTn id="20" presetID="22" presetClass="entr" presetSubtype="1" fill="hold" grpId="0" nodeType="afterEffect">
                                  <p:stCondLst>
                                    <p:cond delay="0"/>
                                  </p:stCondLst>
                                  <p:childTnLst>
                                    <p:set>
                                      <p:cBhvr>
                                        <p:cTn id="21" dur="1" fill="hold">
                                          <p:stCondLst>
                                            <p:cond delay="0"/>
                                          </p:stCondLst>
                                        </p:cTn>
                                        <p:tgtEl>
                                          <p:spTgt spid="140"/>
                                        </p:tgtEl>
                                        <p:attrNameLst>
                                          <p:attrName>style.visibility</p:attrName>
                                        </p:attrNameLst>
                                      </p:cBhvr>
                                      <p:to>
                                        <p:strVal val="visible"/>
                                      </p:to>
                                    </p:set>
                                    <p:animEffect transition="in" filter="wipe(up)">
                                      <p:cBhvr>
                                        <p:cTn id="22" dur="1000"/>
                                        <p:tgtEl>
                                          <p:spTgt spid="140"/>
                                        </p:tgtEl>
                                      </p:cBhvr>
                                    </p:animEffect>
                                  </p:childTnLst>
                                </p:cTn>
                              </p:par>
                            </p:childTnLst>
                          </p:cTn>
                        </p:par>
                        <p:par>
                          <p:cTn id="23" fill="hold">
                            <p:stCondLst>
                              <p:cond delay="7000"/>
                            </p:stCondLst>
                            <p:childTnLst>
                              <p:par>
                                <p:cTn id="24" presetID="22" presetClass="entr" presetSubtype="8" fill="hold" grpId="0" nodeType="afterEffect">
                                  <p:stCondLst>
                                    <p:cond delay="0"/>
                                  </p:stCondLst>
                                  <p:childTnLst>
                                    <p:set>
                                      <p:cBhvr>
                                        <p:cTn id="25" dur="1" fill="hold">
                                          <p:stCondLst>
                                            <p:cond delay="0"/>
                                          </p:stCondLst>
                                        </p:cTn>
                                        <p:tgtEl>
                                          <p:spTgt spid="141"/>
                                        </p:tgtEl>
                                        <p:attrNameLst>
                                          <p:attrName>style.visibility</p:attrName>
                                        </p:attrNameLst>
                                      </p:cBhvr>
                                      <p:to>
                                        <p:strVal val="visible"/>
                                      </p:to>
                                    </p:set>
                                    <p:animEffect transition="in" filter="wipe(left)">
                                      <p:cBhvr>
                                        <p:cTn id="26" dur="1000"/>
                                        <p:tgtEl>
                                          <p:spTgt spid="141"/>
                                        </p:tgtEl>
                                      </p:cBhvr>
                                    </p:animEffect>
                                  </p:childTnLst>
                                </p:cTn>
                              </p:par>
                            </p:childTnLst>
                          </p:cTn>
                        </p:par>
                        <p:par>
                          <p:cTn id="27" fill="hold">
                            <p:stCondLst>
                              <p:cond delay="8000"/>
                            </p:stCondLst>
                            <p:childTnLst>
                              <p:par>
                                <p:cTn id="28" presetID="22" presetClass="entr" presetSubtype="4" fill="hold" grpId="0" nodeType="afterEffect">
                                  <p:stCondLst>
                                    <p:cond delay="0"/>
                                  </p:stCondLst>
                                  <p:childTnLst>
                                    <p:set>
                                      <p:cBhvr>
                                        <p:cTn id="29" dur="1" fill="hold">
                                          <p:stCondLst>
                                            <p:cond delay="0"/>
                                          </p:stCondLst>
                                        </p:cTn>
                                        <p:tgtEl>
                                          <p:spTgt spid="142"/>
                                        </p:tgtEl>
                                        <p:attrNameLst>
                                          <p:attrName>style.visibility</p:attrName>
                                        </p:attrNameLst>
                                      </p:cBhvr>
                                      <p:to>
                                        <p:strVal val="visible"/>
                                      </p:to>
                                    </p:set>
                                    <p:animEffect transition="in" filter="wipe(down)">
                                      <p:cBhvr>
                                        <p:cTn id="30" dur="1000"/>
                                        <p:tgtEl>
                                          <p:spTgt spid="142"/>
                                        </p:tgtEl>
                                      </p:cBhvr>
                                    </p:animEffect>
                                  </p:childTnLst>
                                </p:cTn>
                              </p:par>
                            </p:childTnLst>
                          </p:cTn>
                        </p:par>
                        <p:par>
                          <p:cTn id="31" fill="hold">
                            <p:stCondLst>
                              <p:cond delay="9000"/>
                            </p:stCondLst>
                            <p:childTnLst>
                              <p:par>
                                <p:cTn id="32" presetID="22" presetClass="entr" presetSubtype="1" fill="hold" grpId="0" nodeType="afterEffect">
                                  <p:stCondLst>
                                    <p:cond delay="0"/>
                                  </p:stCondLst>
                                  <p:childTnLst>
                                    <p:set>
                                      <p:cBhvr>
                                        <p:cTn id="33" dur="1" fill="hold">
                                          <p:stCondLst>
                                            <p:cond delay="0"/>
                                          </p:stCondLst>
                                        </p:cTn>
                                        <p:tgtEl>
                                          <p:spTgt spid="143"/>
                                        </p:tgtEl>
                                        <p:attrNameLst>
                                          <p:attrName>style.visibility</p:attrName>
                                        </p:attrNameLst>
                                      </p:cBhvr>
                                      <p:to>
                                        <p:strVal val="visible"/>
                                      </p:to>
                                    </p:set>
                                    <p:animEffect transition="in" filter="wipe(up)">
                                      <p:cBhvr>
                                        <p:cTn id="34" dur="1000"/>
                                        <p:tgtEl>
                                          <p:spTgt spid="143"/>
                                        </p:tgtEl>
                                      </p:cBhvr>
                                    </p:animEffect>
                                  </p:childTnLst>
                                </p:cTn>
                              </p:par>
                            </p:childTnLst>
                          </p:cTn>
                        </p:par>
                        <p:par>
                          <p:cTn id="35" fill="hold">
                            <p:stCondLst>
                              <p:cond delay="10000"/>
                            </p:stCondLst>
                            <p:childTnLst>
                              <p:par>
                                <p:cTn id="36" presetID="22" presetClass="entr" presetSubtype="8" fill="hold" grpId="0" nodeType="afterEffect">
                                  <p:stCondLst>
                                    <p:cond delay="0"/>
                                  </p:stCondLst>
                                  <p:childTnLst>
                                    <p:set>
                                      <p:cBhvr>
                                        <p:cTn id="37" dur="1" fill="hold">
                                          <p:stCondLst>
                                            <p:cond delay="0"/>
                                          </p:stCondLst>
                                        </p:cTn>
                                        <p:tgtEl>
                                          <p:spTgt spid="144"/>
                                        </p:tgtEl>
                                        <p:attrNameLst>
                                          <p:attrName>style.visibility</p:attrName>
                                        </p:attrNameLst>
                                      </p:cBhvr>
                                      <p:to>
                                        <p:strVal val="visible"/>
                                      </p:to>
                                    </p:set>
                                    <p:animEffect transition="in" filter="wipe(left)">
                                      <p:cBhvr>
                                        <p:cTn id="38" dur="1000"/>
                                        <p:tgtEl>
                                          <p:spTgt spid="144"/>
                                        </p:tgtEl>
                                      </p:cBhvr>
                                    </p:animEffect>
                                  </p:childTnLst>
                                </p:cTn>
                              </p:par>
                            </p:childTnLst>
                          </p:cTn>
                        </p:par>
                        <p:par>
                          <p:cTn id="39" fill="hold">
                            <p:stCondLst>
                              <p:cond delay="11000"/>
                            </p:stCondLst>
                            <p:childTnLst>
                              <p:par>
                                <p:cTn id="40" presetID="22" presetClass="entr" presetSubtype="4" fill="hold" grpId="0" nodeType="afterEffect">
                                  <p:stCondLst>
                                    <p:cond delay="0"/>
                                  </p:stCondLst>
                                  <p:childTnLst>
                                    <p:set>
                                      <p:cBhvr>
                                        <p:cTn id="41" dur="1" fill="hold">
                                          <p:stCondLst>
                                            <p:cond delay="0"/>
                                          </p:stCondLst>
                                        </p:cTn>
                                        <p:tgtEl>
                                          <p:spTgt spid="145"/>
                                        </p:tgtEl>
                                        <p:attrNameLst>
                                          <p:attrName>style.visibility</p:attrName>
                                        </p:attrNameLst>
                                      </p:cBhvr>
                                      <p:to>
                                        <p:strVal val="visible"/>
                                      </p:to>
                                    </p:set>
                                    <p:animEffect transition="in" filter="wipe(down)">
                                      <p:cBhvr>
                                        <p:cTn id="42" dur="1000"/>
                                        <p:tgtEl>
                                          <p:spTgt spid="1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6" grpId="0" animBg="1"/>
      <p:bldP spid="137" grpId="0" animBg="1"/>
      <p:bldP spid="138" grpId="0" animBg="1"/>
      <p:bldP spid="139" grpId="0" animBg="1"/>
      <p:bldP spid="140" grpId="0" animBg="1"/>
      <p:bldP spid="141" grpId="0" animBg="1"/>
      <p:bldP spid="142" grpId="0" animBg="1"/>
      <p:bldP spid="143" grpId="0" animBg="1"/>
      <p:bldP spid="144" grpId="0" animBg="1"/>
      <p:bldP spid="145"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5" name="圆角矩形 174"/>
          <p:cNvSpPr/>
          <p:nvPr/>
        </p:nvSpPr>
        <p:spPr>
          <a:xfrm>
            <a:off x="545144" y="620973"/>
            <a:ext cx="8053712" cy="374071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36" name="Text Box 158"/>
          <p:cNvSpPr txBox="1">
            <a:spLocks noChangeArrowheads="1"/>
          </p:cNvSpPr>
          <p:nvPr/>
        </p:nvSpPr>
        <p:spPr bwMode="auto">
          <a:xfrm>
            <a:off x="2404834" y="728414"/>
            <a:ext cx="4323620" cy="338554"/>
          </a:xfrm>
          <a:prstGeom prst="rect">
            <a:avLst/>
          </a:prstGeom>
          <a:solidFill>
            <a:srgbClr val="0000CC"/>
          </a:solidFill>
          <a:ln w="9525">
            <a:solidFill>
              <a:schemeClr val="tx1"/>
            </a:solid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在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层抽象的互联网上只能看到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数据报。</a:t>
            </a:r>
          </a:p>
        </p:txBody>
      </p:sp>
      <p:grpSp>
        <p:nvGrpSpPr>
          <p:cNvPr id="4" name="组合 3"/>
          <p:cNvGrpSpPr/>
          <p:nvPr/>
        </p:nvGrpSpPr>
        <p:grpSpPr>
          <a:xfrm>
            <a:off x="1414301" y="755888"/>
            <a:ext cx="6169421" cy="954900"/>
            <a:chOff x="1414301" y="755888"/>
            <a:chExt cx="6169421" cy="954900"/>
          </a:xfrm>
        </p:grpSpPr>
        <p:sp>
          <p:nvSpPr>
            <p:cNvPr id="146" name="Freeform 2"/>
            <p:cNvSpPr>
              <a:spLocks/>
            </p:cNvSpPr>
            <p:nvPr/>
          </p:nvSpPr>
          <p:spPr bwMode="auto">
            <a:xfrm>
              <a:off x="3120664" y="1412506"/>
              <a:ext cx="170724" cy="29032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7" name="Freeform 3"/>
            <p:cNvSpPr>
              <a:spLocks/>
            </p:cNvSpPr>
            <p:nvPr/>
          </p:nvSpPr>
          <p:spPr bwMode="auto">
            <a:xfrm>
              <a:off x="5000809" y="1412506"/>
              <a:ext cx="116354" cy="289461"/>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8" name="Line 4"/>
            <p:cNvSpPr>
              <a:spLocks noChangeShapeType="1"/>
            </p:cNvSpPr>
            <p:nvPr/>
          </p:nvSpPr>
          <p:spPr bwMode="auto">
            <a:xfrm rot="16200000">
              <a:off x="7110950" y="1556581"/>
              <a:ext cx="290325" cy="217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9" name="Line 5"/>
            <p:cNvSpPr>
              <a:spLocks noChangeShapeType="1"/>
            </p:cNvSpPr>
            <p:nvPr/>
          </p:nvSpPr>
          <p:spPr bwMode="auto">
            <a:xfrm rot="16200000">
              <a:off x="1525973" y="1556581"/>
              <a:ext cx="290325" cy="217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0" name="Line 6"/>
            <p:cNvSpPr>
              <a:spLocks noChangeShapeType="1"/>
            </p:cNvSpPr>
            <p:nvPr/>
          </p:nvSpPr>
          <p:spPr bwMode="auto">
            <a:xfrm>
              <a:off x="1509111" y="1702831"/>
              <a:ext cx="1772490"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1" name="Line 11"/>
            <p:cNvSpPr>
              <a:spLocks noChangeShapeType="1"/>
            </p:cNvSpPr>
            <p:nvPr/>
          </p:nvSpPr>
          <p:spPr bwMode="auto">
            <a:xfrm>
              <a:off x="5484709" y="1702831"/>
              <a:ext cx="1987799"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2" name="Text Box 13"/>
            <p:cNvSpPr txBox="1">
              <a:spLocks noChangeArrowheads="1"/>
            </p:cNvSpPr>
            <p:nvPr/>
          </p:nvSpPr>
          <p:spPr bwMode="auto">
            <a:xfrm>
              <a:off x="1414301" y="755888"/>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153" name="Text Box 14"/>
            <p:cNvSpPr txBox="1">
              <a:spLocks noChangeArrowheads="1"/>
            </p:cNvSpPr>
            <p:nvPr/>
          </p:nvSpPr>
          <p:spPr bwMode="auto">
            <a:xfrm>
              <a:off x="6902125" y="755888"/>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154" name="Line 15"/>
            <p:cNvSpPr>
              <a:spLocks noChangeShapeType="1"/>
            </p:cNvSpPr>
            <p:nvPr/>
          </p:nvSpPr>
          <p:spPr bwMode="auto">
            <a:xfrm>
              <a:off x="3604564" y="1702831"/>
              <a:ext cx="1557182"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5" name="Freeform 16"/>
            <p:cNvSpPr>
              <a:spLocks/>
            </p:cNvSpPr>
            <p:nvPr/>
          </p:nvSpPr>
          <p:spPr bwMode="auto">
            <a:xfrm flipH="1">
              <a:off x="5484709" y="1412506"/>
              <a:ext cx="160938" cy="29032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6" name="Freeform 17"/>
            <p:cNvSpPr>
              <a:spLocks/>
            </p:cNvSpPr>
            <p:nvPr/>
          </p:nvSpPr>
          <p:spPr bwMode="auto">
            <a:xfrm flipH="1">
              <a:off x="3648060" y="1412506"/>
              <a:ext cx="117441" cy="291189"/>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7" name="Text Box 18"/>
            <p:cNvSpPr txBox="1">
              <a:spLocks noChangeArrowheads="1"/>
            </p:cNvSpPr>
            <p:nvPr/>
          </p:nvSpPr>
          <p:spPr bwMode="auto">
            <a:xfrm>
              <a:off x="3092658" y="1053174"/>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1</a:t>
              </a:r>
            </a:p>
          </p:txBody>
        </p:sp>
        <p:pic>
          <p:nvPicPr>
            <p:cNvPr id="158" name="Picture 2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054092" y="1274256"/>
              <a:ext cx="528485" cy="236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59" name="Picture 2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83734" y="1262159"/>
              <a:ext cx="527397" cy="236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61" name="Text Box 25"/>
            <p:cNvSpPr txBox="1">
              <a:spLocks noChangeArrowheads="1"/>
            </p:cNvSpPr>
            <p:nvPr/>
          </p:nvSpPr>
          <p:spPr bwMode="auto">
            <a:xfrm>
              <a:off x="4963812" y="1056629"/>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2</a:t>
              </a:r>
            </a:p>
          </p:txBody>
        </p:sp>
        <p:sp>
          <p:nvSpPr>
            <p:cNvPr id="162" name="Text Box 29"/>
            <p:cNvSpPr txBox="1">
              <a:spLocks noChangeArrowheads="1"/>
            </p:cNvSpPr>
            <p:nvPr/>
          </p:nvSpPr>
          <p:spPr bwMode="auto">
            <a:xfrm>
              <a:off x="2139132"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163" name="Text Box 30"/>
            <p:cNvSpPr txBox="1">
              <a:spLocks noChangeArrowheads="1"/>
            </p:cNvSpPr>
            <p:nvPr/>
          </p:nvSpPr>
          <p:spPr bwMode="auto">
            <a:xfrm>
              <a:off x="4117311"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164" name="Text Box 31"/>
            <p:cNvSpPr txBox="1">
              <a:spLocks noChangeArrowheads="1"/>
            </p:cNvSpPr>
            <p:nvPr/>
          </p:nvSpPr>
          <p:spPr bwMode="auto">
            <a:xfrm>
              <a:off x="6137566"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165" name="Text Box 7"/>
            <p:cNvSpPr txBox="1">
              <a:spLocks noChangeArrowheads="1"/>
            </p:cNvSpPr>
            <p:nvPr/>
          </p:nvSpPr>
          <p:spPr bwMode="auto">
            <a:xfrm>
              <a:off x="1629867" y="1422876"/>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1</a:t>
              </a:r>
              <a:endParaRPr kumimoji="1" lang="en-US" altLang="zh-CN" sz="1100" b="1" dirty="0">
                <a:solidFill>
                  <a:srgbClr val="0000CC"/>
                </a:solidFill>
                <a:latin typeface="微软雅黑" pitchFamily="34" charset="-122"/>
                <a:ea typeface="微软雅黑" pitchFamily="34" charset="-122"/>
              </a:endParaRPr>
            </a:p>
          </p:txBody>
        </p:sp>
        <p:sp>
          <p:nvSpPr>
            <p:cNvPr id="166" name="Text Box 8"/>
            <p:cNvSpPr txBox="1">
              <a:spLocks noChangeArrowheads="1"/>
            </p:cNvSpPr>
            <p:nvPr/>
          </p:nvSpPr>
          <p:spPr bwMode="auto">
            <a:xfrm>
              <a:off x="4570245"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5</a:t>
              </a:r>
              <a:endParaRPr kumimoji="1" lang="en-US" altLang="zh-CN" sz="1100" b="1" dirty="0">
                <a:solidFill>
                  <a:srgbClr val="0000CC"/>
                </a:solidFill>
                <a:latin typeface="微软雅黑" pitchFamily="34" charset="-122"/>
                <a:ea typeface="微软雅黑" pitchFamily="34" charset="-122"/>
              </a:endParaRPr>
            </a:p>
          </p:txBody>
        </p:sp>
        <p:sp>
          <p:nvSpPr>
            <p:cNvPr id="167" name="Text Box 9"/>
            <p:cNvSpPr txBox="1">
              <a:spLocks noChangeArrowheads="1"/>
            </p:cNvSpPr>
            <p:nvPr/>
          </p:nvSpPr>
          <p:spPr bwMode="auto">
            <a:xfrm>
              <a:off x="3702485"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4</a:t>
              </a:r>
              <a:endParaRPr kumimoji="1" lang="en-US" altLang="zh-CN" sz="1100" b="1" dirty="0">
                <a:solidFill>
                  <a:srgbClr val="0000CC"/>
                </a:solidFill>
                <a:latin typeface="微软雅黑" pitchFamily="34" charset="-122"/>
                <a:ea typeface="微软雅黑" pitchFamily="34" charset="-122"/>
              </a:endParaRPr>
            </a:p>
          </p:txBody>
        </p:sp>
        <p:sp>
          <p:nvSpPr>
            <p:cNvPr id="168" name="Text Box 10"/>
            <p:cNvSpPr txBox="1">
              <a:spLocks noChangeArrowheads="1"/>
            </p:cNvSpPr>
            <p:nvPr/>
          </p:nvSpPr>
          <p:spPr bwMode="auto">
            <a:xfrm>
              <a:off x="2612466"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3</a:t>
              </a:r>
              <a:endParaRPr kumimoji="1" lang="en-US" altLang="zh-CN" sz="1100" b="1" dirty="0">
                <a:solidFill>
                  <a:srgbClr val="0000CC"/>
                </a:solidFill>
                <a:latin typeface="微软雅黑" pitchFamily="34" charset="-122"/>
                <a:ea typeface="微软雅黑" pitchFamily="34" charset="-122"/>
              </a:endParaRPr>
            </a:p>
          </p:txBody>
        </p:sp>
        <p:sp>
          <p:nvSpPr>
            <p:cNvPr id="169" name="Text Box 12"/>
            <p:cNvSpPr txBox="1">
              <a:spLocks noChangeArrowheads="1"/>
            </p:cNvSpPr>
            <p:nvPr/>
          </p:nvSpPr>
          <p:spPr bwMode="auto">
            <a:xfrm>
              <a:off x="5582630"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6</a:t>
              </a:r>
              <a:endParaRPr kumimoji="1" lang="en-US" altLang="zh-CN" sz="1100" b="1" dirty="0">
                <a:solidFill>
                  <a:srgbClr val="0000CC"/>
                </a:solidFill>
                <a:latin typeface="微软雅黑" pitchFamily="34" charset="-122"/>
                <a:ea typeface="微软雅黑" pitchFamily="34" charset="-122"/>
              </a:endParaRPr>
            </a:p>
          </p:txBody>
        </p:sp>
        <p:sp>
          <p:nvSpPr>
            <p:cNvPr id="170" name="Text Box 26"/>
            <p:cNvSpPr txBox="1">
              <a:spLocks noChangeArrowheads="1"/>
            </p:cNvSpPr>
            <p:nvPr/>
          </p:nvSpPr>
          <p:spPr bwMode="auto">
            <a:xfrm>
              <a:off x="6812500"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2</a:t>
              </a:r>
              <a:endParaRPr kumimoji="1" lang="en-US" altLang="zh-CN" sz="1100" b="1" dirty="0">
                <a:solidFill>
                  <a:srgbClr val="0000CC"/>
                </a:solidFill>
                <a:latin typeface="微软雅黑" pitchFamily="34" charset="-122"/>
                <a:ea typeface="微软雅黑" pitchFamily="34" charset="-122"/>
              </a:endParaRPr>
            </a:p>
          </p:txBody>
        </p:sp>
        <p:pic>
          <p:nvPicPr>
            <p:cNvPr id="171"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44263" y="996212"/>
              <a:ext cx="472829" cy="472829"/>
            </a:xfrm>
            <a:prstGeom prst="rect">
              <a:avLst/>
            </a:prstGeom>
            <a:noFill/>
            <a:extLst>
              <a:ext uri="{909E8E84-426E-40DD-AFC4-6F175D3DCCD1}">
                <a14:hiddenFill xmlns:a14="http://schemas.microsoft.com/office/drawing/2010/main">
                  <a:solidFill>
                    <a:srgbClr val="FFFFFF"/>
                  </a:solidFill>
                </a14:hiddenFill>
              </a:ext>
            </a:extLst>
          </p:spPr>
        </p:pic>
        <p:sp>
          <p:nvSpPr>
            <p:cNvPr id="172" name="Text Box 27"/>
            <p:cNvSpPr txBox="1">
              <a:spLocks noChangeArrowheads="1"/>
            </p:cNvSpPr>
            <p:nvPr/>
          </p:nvSpPr>
          <p:spPr bwMode="auto">
            <a:xfrm>
              <a:off x="1505520" y="1052103"/>
              <a:ext cx="3994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chemeClr val="bg1"/>
                  </a:solidFill>
                  <a:latin typeface="微软雅黑" pitchFamily="34" charset="-122"/>
                  <a:ea typeface="微软雅黑" pitchFamily="34" charset="-122"/>
                </a:rPr>
                <a:t>IP</a:t>
              </a:r>
              <a:r>
                <a:rPr kumimoji="1" lang="en-US" altLang="zh-CN" sz="1200" b="1" baseline="-25000" dirty="0">
                  <a:solidFill>
                    <a:schemeClr val="bg1"/>
                  </a:solidFill>
                  <a:latin typeface="微软雅黑" pitchFamily="34" charset="-122"/>
                  <a:ea typeface="微软雅黑" pitchFamily="34" charset="-122"/>
                </a:rPr>
                <a:t>1</a:t>
              </a:r>
              <a:endParaRPr kumimoji="1" lang="en-US" altLang="zh-CN" sz="1200" b="1" dirty="0">
                <a:solidFill>
                  <a:schemeClr val="bg1"/>
                </a:solidFill>
                <a:latin typeface="微软雅黑" pitchFamily="34" charset="-122"/>
                <a:ea typeface="微软雅黑" pitchFamily="34" charset="-122"/>
              </a:endParaRPr>
            </a:p>
          </p:txBody>
        </p:sp>
        <p:pic>
          <p:nvPicPr>
            <p:cNvPr id="17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20272" y="996212"/>
              <a:ext cx="472829" cy="472829"/>
            </a:xfrm>
            <a:prstGeom prst="rect">
              <a:avLst/>
            </a:prstGeom>
            <a:noFill/>
            <a:extLst>
              <a:ext uri="{909E8E84-426E-40DD-AFC4-6F175D3DCCD1}">
                <a14:hiddenFill xmlns:a14="http://schemas.microsoft.com/office/drawing/2010/main">
                  <a:solidFill>
                    <a:srgbClr val="FFFFFF"/>
                  </a:solidFill>
                </a14:hiddenFill>
              </a:ext>
            </a:extLst>
          </p:spPr>
        </p:pic>
        <p:sp>
          <p:nvSpPr>
            <p:cNvPr id="174" name="Text Box 28"/>
            <p:cNvSpPr txBox="1">
              <a:spLocks noChangeArrowheads="1"/>
            </p:cNvSpPr>
            <p:nvPr/>
          </p:nvSpPr>
          <p:spPr bwMode="auto">
            <a:xfrm>
              <a:off x="7062859" y="1050777"/>
              <a:ext cx="3994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chemeClr val="bg1"/>
                  </a:solidFill>
                  <a:latin typeface="微软雅黑" pitchFamily="34" charset="-122"/>
                  <a:ea typeface="微软雅黑" pitchFamily="34" charset="-122"/>
                </a:rPr>
                <a:t>IP</a:t>
              </a:r>
              <a:r>
                <a:rPr kumimoji="1" lang="en-US" altLang="zh-CN" sz="1200" b="1" baseline="-25000" dirty="0">
                  <a:solidFill>
                    <a:schemeClr val="bg1"/>
                  </a:solidFill>
                  <a:latin typeface="微软雅黑" pitchFamily="34" charset="-122"/>
                  <a:ea typeface="微软雅黑" pitchFamily="34" charset="-122"/>
                </a:rPr>
                <a:t>2</a:t>
              </a:r>
              <a:endParaRPr kumimoji="1" lang="en-US" altLang="zh-CN" sz="1200" b="1" dirty="0">
                <a:solidFill>
                  <a:schemeClr val="bg1"/>
                </a:solidFill>
                <a:latin typeface="微软雅黑" pitchFamily="34" charset="-122"/>
                <a:ea typeface="微软雅黑" pitchFamily="34" charset="-122"/>
              </a:endParaRPr>
            </a:p>
          </p:txBody>
        </p:sp>
      </p:grpSp>
      <p:grpSp>
        <p:nvGrpSpPr>
          <p:cNvPr id="3" name="组合 2"/>
          <p:cNvGrpSpPr/>
          <p:nvPr/>
        </p:nvGrpSpPr>
        <p:grpSpPr>
          <a:xfrm>
            <a:off x="1374271" y="1800136"/>
            <a:ext cx="6248302" cy="2427741"/>
            <a:chOff x="1374271" y="1800136"/>
            <a:chExt cx="6248302" cy="2427741"/>
          </a:xfrm>
        </p:grpSpPr>
        <p:sp>
          <p:nvSpPr>
            <p:cNvPr id="61" name="Freeform 77"/>
            <p:cNvSpPr>
              <a:spLocks/>
            </p:cNvSpPr>
            <p:nvPr/>
          </p:nvSpPr>
          <p:spPr bwMode="auto">
            <a:xfrm>
              <a:off x="2967337" y="3546743"/>
              <a:ext cx="270768" cy="15207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2" name="Freeform 78"/>
            <p:cNvSpPr>
              <a:spLocks/>
            </p:cNvSpPr>
            <p:nvPr/>
          </p:nvSpPr>
          <p:spPr bwMode="auto">
            <a:xfrm>
              <a:off x="4740916" y="3545879"/>
              <a:ext cx="270767" cy="15207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3" name="Line 79"/>
            <p:cNvSpPr>
              <a:spLocks noChangeShapeType="1"/>
            </p:cNvSpPr>
            <p:nvPr/>
          </p:nvSpPr>
          <p:spPr bwMode="auto">
            <a:xfrm rot="16200000">
              <a:off x="6944576" y="3552568"/>
              <a:ext cx="290325" cy="2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4" name="Line 80"/>
            <p:cNvSpPr>
              <a:spLocks noChangeShapeType="1"/>
            </p:cNvSpPr>
            <p:nvPr/>
          </p:nvSpPr>
          <p:spPr bwMode="auto">
            <a:xfrm rot="16200000">
              <a:off x="1518361" y="3552568"/>
              <a:ext cx="290325" cy="2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5" name="AutoShape 81"/>
            <p:cNvSpPr>
              <a:spLocks noChangeArrowheads="1"/>
            </p:cNvSpPr>
            <p:nvPr/>
          </p:nvSpPr>
          <p:spPr bwMode="auto">
            <a:xfrm>
              <a:off x="1505848" y="2537517"/>
              <a:ext cx="469764" cy="1036876"/>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6" name="AutoShape 82"/>
            <p:cNvSpPr>
              <a:spLocks noChangeArrowheads="1"/>
            </p:cNvSpPr>
            <p:nvPr/>
          </p:nvSpPr>
          <p:spPr bwMode="auto">
            <a:xfrm>
              <a:off x="3176122" y="2578992"/>
              <a:ext cx="469764" cy="1036876"/>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7" name="AutoShape 83"/>
            <p:cNvSpPr>
              <a:spLocks noChangeArrowheads="1"/>
            </p:cNvSpPr>
            <p:nvPr/>
          </p:nvSpPr>
          <p:spPr bwMode="auto">
            <a:xfrm>
              <a:off x="6934237" y="2537517"/>
              <a:ext cx="469764" cy="1036876"/>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8" name="AutoShape 84"/>
            <p:cNvSpPr>
              <a:spLocks noChangeArrowheads="1"/>
            </p:cNvSpPr>
            <p:nvPr/>
          </p:nvSpPr>
          <p:spPr bwMode="auto">
            <a:xfrm>
              <a:off x="5001896" y="2703417"/>
              <a:ext cx="469764" cy="912451"/>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69" name="Group 85"/>
            <p:cNvGrpSpPr>
              <a:grpSpLocks/>
            </p:cNvGrpSpPr>
            <p:nvPr/>
          </p:nvGrpSpPr>
          <p:grpSpPr bwMode="auto">
            <a:xfrm>
              <a:off x="1374271" y="2055369"/>
              <a:ext cx="6248302" cy="1327202"/>
              <a:chOff x="96" y="1056"/>
              <a:chExt cx="5472" cy="1536"/>
            </a:xfrm>
            <a:solidFill>
              <a:srgbClr val="FFFF66"/>
            </a:solidFill>
          </p:grpSpPr>
          <p:sp>
            <p:nvSpPr>
              <p:cNvPr id="128" name="Oval 86"/>
              <p:cNvSpPr>
                <a:spLocks noChangeArrowheads="1"/>
              </p:cNvSpPr>
              <p:nvPr/>
            </p:nvSpPr>
            <p:spPr bwMode="auto">
              <a:xfrm>
                <a:off x="3662" y="1674"/>
                <a:ext cx="1906" cy="756"/>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29" name="Oval 87"/>
              <p:cNvSpPr>
                <a:spLocks noChangeArrowheads="1"/>
              </p:cNvSpPr>
              <p:nvPr/>
            </p:nvSpPr>
            <p:spPr bwMode="auto">
              <a:xfrm>
                <a:off x="96" y="1430"/>
                <a:ext cx="1870" cy="760"/>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0" name="Oval 88"/>
              <p:cNvSpPr>
                <a:spLocks noChangeArrowheads="1"/>
              </p:cNvSpPr>
              <p:nvPr/>
            </p:nvSpPr>
            <p:spPr bwMode="auto">
              <a:xfrm>
                <a:off x="3365" y="1163"/>
                <a:ext cx="1903" cy="73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1" name="Oval 89"/>
              <p:cNvSpPr>
                <a:spLocks noChangeArrowheads="1"/>
              </p:cNvSpPr>
              <p:nvPr/>
            </p:nvSpPr>
            <p:spPr bwMode="auto">
              <a:xfrm>
                <a:off x="2365" y="1821"/>
                <a:ext cx="1900" cy="77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2" name="Oval 90"/>
              <p:cNvSpPr>
                <a:spLocks noChangeArrowheads="1"/>
              </p:cNvSpPr>
              <p:nvPr/>
            </p:nvSpPr>
            <p:spPr bwMode="auto">
              <a:xfrm>
                <a:off x="729" y="1752"/>
                <a:ext cx="1900" cy="73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3" name="Oval 91"/>
              <p:cNvSpPr>
                <a:spLocks noChangeArrowheads="1"/>
              </p:cNvSpPr>
              <p:nvPr/>
            </p:nvSpPr>
            <p:spPr bwMode="auto">
              <a:xfrm>
                <a:off x="2197" y="1056"/>
                <a:ext cx="1870" cy="758"/>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4" name="Oval 92"/>
              <p:cNvSpPr>
                <a:spLocks noChangeArrowheads="1"/>
              </p:cNvSpPr>
              <p:nvPr/>
            </p:nvSpPr>
            <p:spPr bwMode="auto">
              <a:xfrm>
                <a:off x="996" y="1056"/>
                <a:ext cx="1867" cy="73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5" name="Oval 93"/>
              <p:cNvSpPr>
                <a:spLocks noChangeArrowheads="1"/>
              </p:cNvSpPr>
              <p:nvPr/>
            </p:nvSpPr>
            <p:spPr bwMode="auto">
              <a:xfrm>
                <a:off x="597" y="1226"/>
                <a:ext cx="4536" cy="1060"/>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CC"/>
                  </a:solidFill>
                  <a:latin typeface="微软雅黑" pitchFamily="34" charset="-122"/>
                  <a:ea typeface="微软雅黑" pitchFamily="34" charset="-122"/>
                </a:endParaRPr>
              </a:p>
            </p:txBody>
          </p:sp>
        </p:grpSp>
        <p:sp>
          <p:nvSpPr>
            <p:cNvPr id="70" name="Line 94"/>
            <p:cNvSpPr>
              <a:spLocks noChangeShapeType="1"/>
            </p:cNvSpPr>
            <p:nvPr/>
          </p:nvSpPr>
          <p:spPr bwMode="auto">
            <a:xfrm>
              <a:off x="1453652" y="3698819"/>
              <a:ext cx="1774666"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71" name="Group 95"/>
            <p:cNvGrpSpPr>
              <a:grpSpLocks/>
            </p:cNvGrpSpPr>
            <p:nvPr/>
          </p:nvGrpSpPr>
          <p:grpSpPr bwMode="auto">
            <a:xfrm>
              <a:off x="1505848" y="2055369"/>
              <a:ext cx="469764" cy="788026"/>
              <a:chOff x="672" y="528"/>
              <a:chExt cx="432" cy="912"/>
            </a:xfrm>
          </p:grpSpPr>
          <p:sp>
            <p:nvSpPr>
              <p:cNvPr id="125" name="AutoShape 96"/>
              <p:cNvSpPr>
                <a:spLocks noChangeArrowheads="1"/>
              </p:cNvSpPr>
              <p:nvPr/>
            </p:nvSpPr>
            <p:spPr bwMode="auto">
              <a:xfrm>
                <a:off x="672" y="100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6" name="AutoShape 97"/>
              <p:cNvSpPr>
                <a:spLocks noChangeArrowheads="1"/>
              </p:cNvSpPr>
              <p:nvPr/>
            </p:nvSpPr>
            <p:spPr bwMode="auto">
              <a:xfrm>
                <a:off x="672" y="720"/>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7" name="AutoShape 98"/>
              <p:cNvSpPr>
                <a:spLocks noChangeArrowheads="1"/>
              </p:cNvSpPr>
              <p:nvPr/>
            </p:nvSpPr>
            <p:spPr bwMode="auto">
              <a:xfrm>
                <a:off x="672" y="52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72" name="Text Box 99"/>
            <p:cNvSpPr txBox="1">
              <a:spLocks noChangeArrowheads="1"/>
            </p:cNvSpPr>
            <p:nvPr/>
          </p:nvSpPr>
          <p:spPr bwMode="auto">
            <a:xfrm>
              <a:off x="1530859" y="2604914"/>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itchFamily="34" charset="-122"/>
                  <a:ea typeface="微软雅黑" pitchFamily="34" charset="-122"/>
                </a:rPr>
                <a:t>IP</a:t>
              </a:r>
              <a:r>
                <a:rPr kumimoji="1" lang="en-US" altLang="zh-CN" sz="1100" b="1" baseline="-25000">
                  <a:latin typeface="微软雅黑" pitchFamily="34" charset="-122"/>
                  <a:ea typeface="微软雅黑" pitchFamily="34" charset="-122"/>
                </a:rPr>
                <a:t>1</a:t>
              </a:r>
              <a:endParaRPr kumimoji="1" lang="en-US" altLang="zh-CN" sz="1100" b="1">
                <a:latin typeface="微软雅黑" pitchFamily="34" charset="-122"/>
                <a:ea typeface="微软雅黑" pitchFamily="34" charset="-122"/>
              </a:endParaRPr>
            </a:p>
          </p:txBody>
        </p:sp>
        <p:sp>
          <p:nvSpPr>
            <p:cNvPr id="73" name="Text Box 100"/>
            <p:cNvSpPr txBox="1">
              <a:spLocks noChangeArrowheads="1"/>
            </p:cNvSpPr>
            <p:nvPr/>
          </p:nvSpPr>
          <p:spPr bwMode="auto">
            <a:xfrm>
              <a:off x="1428141" y="33411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74" name="Text Box 101"/>
            <p:cNvSpPr txBox="1">
              <a:spLocks noChangeArrowheads="1"/>
            </p:cNvSpPr>
            <p:nvPr/>
          </p:nvSpPr>
          <p:spPr bwMode="auto">
            <a:xfrm>
              <a:off x="4505146" y="3320437"/>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5</a:t>
              </a:r>
              <a:endParaRPr kumimoji="1" lang="en-US" altLang="zh-CN" sz="1100" b="1" dirty="0">
                <a:solidFill>
                  <a:srgbClr val="0000CC"/>
                </a:solidFill>
                <a:latin typeface="微软雅黑" pitchFamily="34" charset="-122"/>
                <a:ea typeface="微软雅黑" pitchFamily="34" charset="-122"/>
              </a:endParaRPr>
            </a:p>
          </p:txBody>
        </p:sp>
        <p:sp>
          <p:nvSpPr>
            <p:cNvPr id="75" name="Text Box 102"/>
            <p:cNvSpPr txBox="1">
              <a:spLocks noChangeArrowheads="1"/>
            </p:cNvSpPr>
            <p:nvPr/>
          </p:nvSpPr>
          <p:spPr bwMode="auto">
            <a:xfrm>
              <a:off x="3583222" y="3316982"/>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4</a:t>
              </a:r>
              <a:endParaRPr kumimoji="1" lang="en-US" altLang="zh-CN" sz="1100" b="1" dirty="0">
                <a:solidFill>
                  <a:srgbClr val="0000CC"/>
                </a:solidFill>
                <a:latin typeface="微软雅黑" pitchFamily="34" charset="-122"/>
                <a:ea typeface="微软雅黑" pitchFamily="34" charset="-122"/>
              </a:endParaRPr>
            </a:p>
          </p:txBody>
        </p:sp>
        <p:sp>
          <p:nvSpPr>
            <p:cNvPr id="76" name="Text Box 103"/>
            <p:cNvSpPr txBox="1">
              <a:spLocks noChangeArrowheads="1"/>
            </p:cNvSpPr>
            <p:nvPr/>
          </p:nvSpPr>
          <p:spPr bwMode="auto">
            <a:xfrm>
              <a:off x="2670598" y="3316982"/>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3</a:t>
              </a:r>
              <a:endParaRPr kumimoji="1" lang="en-US" altLang="zh-CN" sz="1100" b="1" dirty="0">
                <a:solidFill>
                  <a:srgbClr val="0000CC"/>
                </a:solidFill>
                <a:latin typeface="微软雅黑" pitchFamily="34" charset="-122"/>
                <a:ea typeface="微软雅黑" pitchFamily="34" charset="-122"/>
              </a:endParaRPr>
            </a:p>
          </p:txBody>
        </p:sp>
        <p:sp>
          <p:nvSpPr>
            <p:cNvPr id="77" name="Line 104"/>
            <p:cNvSpPr>
              <a:spLocks noChangeShapeType="1"/>
            </p:cNvSpPr>
            <p:nvPr/>
          </p:nvSpPr>
          <p:spPr bwMode="auto">
            <a:xfrm>
              <a:off x="1923416" y="2703417"/>
              <a:ext cx="1304901" cy="0"/>
            </a:xfrm>
            <a:prstGeom prst="line">
              <a:avLst/>
            </a:prstGeom>
            <a:noFill/>
            <a:ln w="28575">
              <a:solidFill>
                <a:srgbClr val="000099"/>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8" name="Line 105"/>
            <p:cNvSpPr>
              <a:spLocks noChangeShapeType="1"/>
            </p:cNvSpPr>
            <p:nvPr/>
          </p:nvSpPr>
          <p:spPr bwMode="auto">
            <a:xfrm>
              <a:off x="5420552" y="3698819"/>
              <a:ext cx="2035646"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9" name="Text Box 106"/>
            <p:cNvSpPr txBox="1">
              <a:spLocks noChangeArrowheads="1"/>
            </p:cNvSpPr>
            <p:nvPr/>
          </p:nvSpPr>
          <p:spPr bwMode="auto">
            <a:xfrm>
              <a:off x="5418783" y="331352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6</a:t>
              </a:r>
              <a:endParaRPr kumimoji="1" lang="en-US" altLang="zh-CN" sz="1100" b="1" dirty="0">
                <a:solidFill>
                  <a:srgbClr val="0000CC"/>
                </a:solidFill>
                <a:latin typeface="微软雅黑" pitchFamily="34" charset="-122"/>
                <a:ea typeface="微软雅黑" pitchFamily="34" charset="-122"/>
              </a:endParaRPr>
            </a:p>
          </p:txBody>
        </p:sp>
        <p:sp>
          <p:nvSpPr>
            <p:cNvPr id="80" name="Text Box 107"/>
            <p:cNvSpPr txBox="1">
              <a:spLocks noChangeArrowheads="1"/>
            </p:cNvSpPr>
            <p:nvPr/>
          </p:nvSpPr>
          <p:spPr bwMode="auto">
            <a:xfrm>
              <a:off x="6865082" y="332216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81" name="Text Box 108"/>
            <p:cNvSpPr txBox="1">
              <a:spLocks noChangeArrowheads="1"/>
            </p:cNvSpPr>
            <p:nvPr/>
          </p:nvSpPr>
          <p:spPr bwMode="auto">
            <a:xfrm>
              <a:off x="5391624" y="2756989"/>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IP</a:t>
              </a:r>
              <a:r>
                <a:rPr kumimoji="1" lang="en-US" altLang="zh-CN" sz="1100" b="1" baseline="-25000" dirty="0">
                  <a:solidFill>
                    <a:srgbClr val="0000CC"/>
                  </a:solidFill>
                  <a:latin typeface="微软雅黑" pitchFamily="34" charset="-122"/>
                  <a:ea typeface="微软雅黑" pitchFamily="34" charset="-122"/>
                </a:rPr>
                <a:t>6</a:t>
              </a:r>
              <a:endParaRPr kumimoji="1" lang="en-US" altLang="zh-CN" sz="1100" b="1" dirty="0">
                <a:solidFill>
                  <a:srgbClr val="0000CC"/>
                </a:solidFill>
                <a:latin typeface="微软雅黑" pitchFamily="34" charset="-122"/>
                <a:ea typeface="微软雅黑" pitchFamily="34" charset="-122"/>
              </a:endParaRPr>
            </a:p>
          </p:txBody>
        </p:sp>
        <p:sp>
          <p:nvSpPr>
            <p:cNvPr id="82" name="Text Box 109"/>
            <p:cNvSpPr txBox="1">
              <a:spLocks noChangeArrowheads="1"/>
            </p:cNvSpPr>
            <p:nvPr/>
          </p:nvSpPr>
          <p:spPr bwMode="auto">
            <a:xfrm>
              <a:off x="1423205" y="1813961"/>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83" name="Text Box 110"/>
            <p:cNvSpPr txBox="1">
              <a:spLocks noChangeArrowheads="1"/>
            </p:cNvSpPr>
            <p:nvPr/>
          </p:nvSpPr>
          <p:spPr bwMode="auto">
            <a:xfrm>
              <a:off x="6860648" y="1800136"/>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84" name="AutoShape 111"/>
            <p:cNvSpPr>
              <a:spLocks noChangeArrowheads="1"/>
            </p:cNvSpPr>
            <p:nvPr/>
          </p:nvSpPr>
          <p:spPr bwMode="auto">
            <a:xfrm>
              <a:off x="3176122" y="2511595"/>
              <a:ext cx="469764" cy="331800"/>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5" name="Text Box 112"/>
            <p:cNvSpPr txBox="1">
              <a:spLocks noChangeArrowheads="1"/>
            </p:cNvSpPr>
            <p:nvPr/>
          </p:nvSpPr>
          <p:spPr bwMode="auto">
            <a:xfrm>
              <a:off x="3114166" y="2264139"/>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86" name="Text Box 113"/>
            <p:cNvSpPr txBox="1">
              <a:spLocks noChangeArrowheads="1"/>
            </p:cNvSpPr>
            <p:nvPr/>
          </p:nvSpPr>
          <p:spPr bwMode="auto">
            <a:xfrm>
              <a:off x="4245130" y="2979997"/>
              <a:ext cx="1614545" cy="276999"/>
            </a:xfrm>
            <a:prstGeom prst="rect">
              <a:avLst/>
            </a:prstGeom>
            <a:solidFill>
              <a:srgbClr val="0000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dirty="0">
                  <a:solidFill>
                    <a:schemeClr val="bg1"/>
                  </a:solidFill>
                  <a:latin typeface="微软雅黑" pitchFamily="34" charset="-122"/>
                  <a:ea typeface="微软雅黑" pitchFamily="34" charset="-122"/>
                </a:rPr>
                <a:t>IP </a:t>
              </a:r>
              <a:r>
                <a:rPr kumimoji="1" lang="zh-CN" altLang="en-US" sz="1200" b="1" dirty="0">
                  <a:solidFill>
                    <a:schemeClr val="bg1"/>
                  </a:solidFill>
                  <a:latin typeface="微软雅黑" pitchFamily="34" charset="-122"/>
                  <a:ea typeface="微软雅黑" pitchFamily="34" charset="-122"/>
                </a:rPr>
                <a:t>层上的虚拟互联网</a:t>
              </a:r>
            </a:p>
          </p:txBody>
        </p:sp>
        <p:sp>
          <p:nvSpPr>
            <p:cNvPr id="87" name="Text Box 114"/>
            <p:cNvSpPr txBox="1">
              <a:spLocks noChangeArrowheads="1"/>
            </p:cNvSpPr>
            <p:nvPr/>
          </p:nvSpPr>
          <p:spPr bwMode="auto">
            <a:xfrm>
              <a:off x="1973491" y="3966267"/>
              <a:ext cx="71205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 </a:t>
              </a:r>
              <a:r>
                <a:rPr kumimoji="1" lang="zh-CN" altLang="en-US" sz="1100" b="1" dirty="0">
                  <a:latin typeface="微软雅黑" pitchFamily="34" charset="-122"/>
                  <a:ea typeface="微软雅黑" pitchFamily="34" charset="-122"/>
                </a:rPr>
                <a:t>帧</a:t>
              </a:r>
            </a:p>
          </p:txBody>
        </p:sp>
        <p:grpSp>
          <p:nvGrpSpPr>
            <p:cNvPr id="88" name="Group 115"/>
            <p:cNvGrpSpPr>
              <a:grpSpLocks/>
            </p:cNvGrpSpPr>
            <p:nvPr/>
          </p:nvGrpSpPr>
          <p:grpSpPr bwMode="auto">
            <a:xfrm>
              <a:off x="6934237" y="2055369"/>
              <a:ext cx="469764" cy="788026"/>
              <a:chOff x="672" y="528"/>
              <a:chExt cx="432" cy="912"/>
            </a:xfrm>
          </p:grpSpPr>
          <p:sp>
            <p:nvSpPr>
              <p:cNvPr id="122" name="AutoShape 116"/>
              <p:cNvSpPr>
                <a:spLocks noChangeArrowheads="1"/>
              </p:cNvSpPr>
              <p:nvPr/>
            </p:nvSpPr>
            <p:spPr bwMode="auto">
              <a:xfrm>
                <a:off x="672" y="100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3" name="AutoShape 117"/>
              <p:cNvSpPr>
                <a:spLocks noChangeArrowheads="1"/>
              </p:cNvSpPr>
              <p:nvPr/>
            </p:nvSpPr>
            <p:spPr bwMode="auto">
              <a:xfrm>
                <a:off x="672" y="720"/>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4" name="AutoShape 118"/>
              <p:cNvSpPr>
                <a:spLocks noChangeArrowheads="1"/>
              </p:cNvSpPr>
              <p:nvPr/>
            </p:nvSpPr>
            <p:spPr bwMode="auto">
              <a:xfrm>
                <a:off x="672" y="52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89" name="Text Box 119"/>
            <p:cNvSpPr txBox="1">
              <a:spLocks noChangeArrowheads="1"/>
            </p:cNvSpPr>
            <p:nvPr/>
          </p:nvSpPr>
          <p:spPr bwMode="auto">
            <a:xfrm>
              <a:off x="6967949" y="2607506"/>
              <a:ext cx="383438" cy="261610"/>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itchFamily="34" charset="-122"/>
                  <a:ea typeface="微软雅黑" pitchFamily="34" charset="-122"/>
                </a:rPr>
                <a:t>IP</a:t>
              </a:r>
              <a:r>
                <a:rPr kumimoji="1" lang="en-US" altLang="zh-CN" sz="1100" b="1" baseline="-25000">
                  <a:latin typeface="微软雅黑" pitchFamily="34" charset="-122"/>
                  <a:ea typeface="微软雅黑" pitchFamily="34" charset="-122"/>
                </a:rPr>
                <a:t>2</a:t>
              </a:r>
              <a:endParaRPr kumimoji="1" lang="en-US" altLang="zh-CN" sz="1100" b="1">
                <a:latin typeface="微软雅黑" pitchFamily="34" charset="-122"/>
                <a:ea typeface="微软雅黑" pitchFamily="34" charset="-122"/>
              </a:endParaRPr>
            </a:p>
          </p:txBody>
        </p:sp>
        <p:sp>
          <p:nvSpPr>
            <p:cNvPr id="90" name="Text Box 120"/>
            <p:cNvSpPr txBox="1">
              <a:spLocks noChangeArrowheads="1"/>
            </p:cNvSpPr>
            <p:nvPr/>
          </p:nvSpPr>
          <p:spPr bwMode="auto">
            <a:xfrm>
              <a:off x="3624138" y="2750077"/>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solidFill>
                    <a:srgbClr val="0000CC"/>
                  </a:solidFill>
                  <a:latin typeface="微软雅黑" pitchFamily="34" charset="-122"/>
                  <a:ea typeface="微软雅黑" pitchFamily="34" charset="-122"/>
                </a:rPr>
                <a:t>IP</a:t>
              </a:r>
              <a:r>
                <a:rPr kumimoji="1" lang="en-US" altLang="zh-CN" sz="1100" b="1" baseline="-25000">
                  <a:solidFill>
                    <a:srgbClr val="0000CC"/>
                  </a:solidFill>
                  <a:latin typeface="微软雅黑" pitchFamily="34" charset="-122"/>
                  <a:ea typeface="微软雅黑" pitchFamily="34" charset="-122"/>
                </a:rPr>
                <a:t>4</a:t>
              </a:r>
              <a:endParaRPr kumimoji="1" lang="en-US" altLang="zh-CN" sz="1100" b="1">
                <a:solidFill>
                  <a:srgbClr val="0000CC"/>
                </a:solidFill>
                <a:latin typeface="微软雅黑" pitchFamily="34" charset="-122"/>
                <a:ea typeface="微软雅黑" pitchFamily="34" charset="-122"/>
              </a:endParaRPr>
            </a:p>
          </p:txBody>
        </p:sp>
        <p:sp>
          <p:nvSpPr>
            <p:cNvPr id="91" name="Text Box 121"/>
            <p:cNvSpPr txBox="1">
              <a:spLocks noChangeArrowheads="1"/>
            </p:cNvSpPr>
            <p:nvPr/>
          </p:nvSpPr>
          <p:spPr bwMode="auto">
            <a:xfrm>
              <a:off x="2915141" y="2750077"/>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solidFill>
                    <a:srgbClr val="0000CC"/>
                  </a:solidFill>
                  <a:latin typeface="微软雅黑" pitchFamily="34" charset="-122"/>
                  <a:ea typeface="微软雅黑" pitchFamily="34" charset="-122"/>
                </a:rPr>
                <a:t>IP</a:t>
              </a:r>
              <a:r>
                <a:rPr kumimoji="1" lang="en-US" altLang="zh-CN" sz="1100" b="1" baseline="-25000">
                  <a:solidFill>
                    <a:srgbClr val="0000CC"/>
                  </a:solidFill>
                  <a:latin typeface="微软雅黑" pitchFamily="34" charset="-122"/>
                  <a:ea typeface="微软雅黑" pitchFamily="34" charset="-122"/>
                </a:rPr>
                <a:t>3</a:t>
              </a:r>
              <a:endParaRPr kumimoji="1" lang="en-US" altLang="zh-CN" sz="1100" b="1">
                <a:solidFill>
                  <a:srgbClr val="0000CC"/>
                </a:solidFill>
                <a:latin typeface="微软雅黑" pitchFamily="34" charset="-122"/>
                <a:ea typeface="微软雅黑" pitchFamily="34" charset="-122"/>
              </a:endParaRPr>
            </a:p>
          </p:txBody>
        </p:sp>
        <p:sp>
          <p:nvSpPr>
            <p:cNvPr id="92" name="Line 122"/>
            <p:cNvSpPr>
              <a:spLocks noChangeShapeType="1"/>
            </p:cNvSpPr>
            <p:nvPr/>
          </p:nvSpPr>
          <p:spPr bwMode="auto">
            <a:xfrm>
              <a:off x="3593690" y="2703417"/>
              <a:ext cx="1409293" cy="0"/>
            </a:xfrm>
            <a:prstGeom prst="line">
              <a:avLst/>
            </a:prstGeom>
            <a:noFill/>
            <a:ln w="28575">
              <a:solidFill>
                <a:srgbClr val="000099"/>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3" name="AutoShape 123"/>
            <p:cNvSpPr>
              <a:spLocks noChangeArrowheads="1"/>
            </p:cNvSpPr>
            <p:nvPr/>
          </p:nvSpPr>
          <p:spPr bwMode="auto">
            <a:xfrm>
              <a:off x="5001896" y="2496042"/>
              <a:ext cx="469764" cy="331800"/>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4" name="Line 124"/>
            <p:cNvSpPr>
              <a:spLocks noChangeShapeType="1"/>
            </p:cNvSpPr>
            <p:nvPr/>
          </p:nvSpPr>
          <p:spPr bwMode="auto">
            <a:xfrm>
              <a:off x="5420552" y="2703417"/>
              <a:ext cx="1513685" cy="0"/>
            </a:xfrm>
            <a:prstGeom prst="line">
              <a:avLst/>
            </a:prstGeom>
            <a:noFill/>
            <a:ln w="28575">
              <a:solidFill>
                <a:srgbClr val="000099"/>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5" name="Text Box 125"/>
            <p:cNvSpPr txBox="1">
              <a:spLocks noChangeArrowheads="1"/>
            </p:cNvSpPr>
            <p:nvPr/>
          </p:nvSpPr>
          <p:spPr bwMode="auto">
            <a:xfrm>
              <a:off x="4742004" y="2750077"/>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solidFill>
                    <a:srgbClr val="0000CC"/>
                  </a:solidFill>
                  <a:latin typeface="微软雅黑" pitchFamily="34" charset="-122"/>
                  <a:ea typeface="微软雅黑" pitchFamily="34" charset="-122"/>
                </a:rPr>
                <a:t>IP</a:t>
              </a:r>
              <a:r>
                <a:rPr kumimoji="1" lang="en-US" altLang="zh-CN" sz="1100" b="1" baseline="-25000">
                  <a:solidFill>
                    <a:srgbClr val="0000CC"/>
                  </a:solidFill>
                  <a:latin typeface="微软雅黑" pitchFamily="34" charset="-122"/>
                  <a:ea typeface="微软雅黑" pitchFamily="34" charset="-122"/>
                </a:rPr>
                <a:t>5</a:t>
              </a:r>
              <a:endParaRPr kumimoji="1" lang="en-US" altLang="zh-CN" sz="1100" b="1">
                <a:solidFill>
                  <a:srgbClr val="0000CC"/>
                </a:solidFill>
                <a:latin typeface="微软雅黑" pitchFamily="34" charset="-122"/>
                <a:ea typeface="微软雅黑" pitchFamily="34" charset="-122"/>
              </a:endParaRPr>
            </a:p>
          </p:txBody>
        </p:sp>
        <p:sp>
          <p:nvSpPr>
            <p:cNvPr id="96" name="Line 126"/>
            <p:cNvSpPr>
              <a:spLocks noChangeShapeType="1"/>
            </p:cNvSpPr>
            <p:nvPr/>
          </p:nvSpPr>
          <p:spPr bwMode="auto">
            <a:xfrm>
              <a:off x="3645886" y="3698819"/>
              <a:ext cx="1304901"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7" name="Freeform 127"/>
            <p:cNvSpPr>
              <a:spLocks/>
            </p:cNvSpPr>
            <p:nvPr/>
          </p:nvSpPr>
          <p:spPr bwMode="auto">
            <a:xfrm flipH="1">
              <a:off x="5405328" y="3544151"/>
              <a:ext cx="233795" cy="154668"/>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8" name="Freeform 128"/>
            <p:cNvSpPr>
              <a:spLocks/>
            </p:cNvSpPr>
            <p:nvPr/>
          </p:nvSpPr>
          <p:spPr bwMode="auto">
            <a:xfrm flipH="1">
              <a:off x="3564330" y="3547607"/>
              <a:ext cx="290340" cy="15207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9" name="Text Box 129"/>
            <p:cNvSpPr txBox="1">
              <a:spLocks noChangeArrowheads="1"/>
            </p:cNvSpPr>
            <p:nvPr/>
          </p:nvSpPr>
          <p:spPr bwMode="auto">
            <a:xfrm>
              <a:off x="4896444" y="2250313"/>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a:latin typeface="微软雅黑" pitchFamily="34" charset="-122"/>
                  <a:ea typeface="微软雅黑" pitchFamily="34" charset="-122"/>
                </a:rPr>
                <a:t>路由器 </a:t>
              </a:r>
              <a:r>
                <a:rPr kumimoji="1" lang="en-US" altLang="zh-CN" sz="1100" b="1">
                  <a:latin typeface="微软雅黑" pitchFamily="34" charset="-122"/>
                  <a:ea typeface="微软雅黑" pitchFamily="34" charset="-122"/>
                </a:rPr>
                <a:t>R</a:t>
              </a:r>
              <a:r>
                <a:rPr kumimoji="1" lang="en-US" altLang="zh-CN" sz="1100" b="1" baseline="-25000">
                  <a:latin typeface="微软雅黑" pitchFamily="34" charset="-122"/>
                  <a:ea typeface="微软雅黑" pitchFamily="34" charset="-122"/>
                </a:rPr>
                <a:t>2</a:t>
              </a:r>
              <a:endParaRPr kumimoji="1" lang="en-US" altLang="zh-CN" sz="1100" b="1">
                <a:latin typeface="微软雅黑" pitchFamily="34" charset="-122"/>
                <a:ea typeface="微软雅黑" pitchFamily="34" charset="-122"/>
              </a:endParaRPr>
            </a:p>
          </p:txBody>
        </p:sp>
        <p:sp>
          <p:nvSpPr>
            <p:cNvPr id="106" name="Text Box 148"/>
            <p:cNvSpPr txBox="1">
              <a:spLocks noChangeArrowheads="1"/>
            </p:cNvSpPr>
            <p:nvPr/>
          </p:nvSpPr>
          <p:spPr bwMode="auto">
            <a:xfrm>
              <a:off x="5956374" y="3966267"/>
              <a:ext cx="71205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 </a:t>
              </a:r>
              <a:r>
                <a:rPr kumimoji="1" lang="zh-CN" altLang="en-US" sz="1100" b="1" dirty="0">
                  <a:latin typeface="微软雅黑" pitchFamily="34" charset="-122"/>
                  <a:ea typeface="微软雅黑" pitchFamily="34" charset="-122"/>
                </a:rPr>
                <a:t>帧</a:t>
              </a:r>
            </a:p>
          </p:txBody>
        </p:sp>
        <p:sp>
          <p:nvSpPr>
            <p:cNvPr id="107" name="Text Box 149"/>
            <p:cNvSpPr txBox="1">
              <a:spLocks noChangeArrowheads="1"/>
            </p:cNvSpPr>
            <p:nvPr/>
          </p:nvSpPr>
          <p:spPr bwMode="auto">
            <a:xfrm>
              <a:off x="3973658" y="3966267"/>
              <a:ext cx="71205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 </a:t>
              </a:r>
              <a:r>
                <a:rPr kumimoji="1" lang="zh-CN" altLang="en-US" sz="1100" b="1" dirty="0">
                  <a:latin typeface="微软雅黑" pitchFamily="34" charset="-122"/>
                  <a:ea typeface="微软雅黑" pitchFamily="34" charset="-122"/>
                </a:rPr>
                <a:t>帧</a:t>
              </a:r>
            </a:p>
          </p:txBody>
        </p:sp>
        <p:grpSp>
          <p:nvGrpSpPr>
            <p:cNvPr id="177" name="Group 224"/>
            <p:cNvGrpSpPr>
              <a:grpSpLocks/>
            </p:cNvGrpSpPr>
            <p:nvPr/>
          </p:nvGrpSpPr>
          <p:grpSpPr bwMode="auto">
            <a:xfrm>
              <a:off x="2132745" y="2423009"/>
              <a:ext cx="959442" cy="261275"/>
              <a:chOff x="870" y="693"/>
              <a:chExt cx="761" cy="306"/>
            </a:xfrm>
            <a:solidFill>
              <a:srgbClr val="66FF99"/>
            </a:solidFill>
          </p:grpSpPr>
          <p:sp>
            <p:nvSpPr>
              <p:cNvPr id="178" name="AutoShape 193"/>
              <p:cNvSpPr>
                <a:spLocks noChangeArrowheads="1"/>
              </p:cNvSpPr>
              <p:nvPr/>
            </p:nvSpPr>
            <p:spPr bwMode="auto">
              <a:xfrm>
                <a:off x="1467" y="777"/>
                <a:ext cx="164" cy="150"/>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79" name="Rectangle 190"/>
              <p:cNvSpPr>
                <a:spLocks noChangeArrowheads="1"/>
              </p:cNvSpPr>
              <p:nvPr/>
            </p:nvSpPr>
            <p:spPr bwMode="auto">
              <a:xfrm>
                <a:off x="870" y="720"/>
                <a:ext cx="643" cy="252"/>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a:latin typeface="微软雅黑" panose="020B0503020204020204" pitchFamily="34" charset="-122"/>
                  <a:ea typeface="微软雅黑" panose="020B0503020204020204" pitchFamily="34" charset="-122"/>
                </a:endParaRPr>
              </a:p>
            </p:txBody>
          </p:sp>
          <p:sp>
            <p:nvSpPr>
              <p:cNvPr id="180" name="Text Box 219"/>
              <p:cNvSpPr txBox="1">
                <a:spLocks noChangeArrowheads="1"/>
              </p:cNvSpPr>
              <p:nvPr/>
            </p:nvSpPr>
            <p:spPr bwMode="auto">
              <a:xfrm>
                <a:off x="1087" y="693"/>
                <a:ext cx="495" cy="30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en-US" altLang="zh-CN" sz="1100" b="1" baseline="-25000" dirty="0">
                    <a:latin typeface="微软雅黑" panose="020B0503020204020204" pitchFamily="34" charset="-122"/>
                    <a:ea typeface="微软雅黑" panose="020B0503020204020204" pitchFamily="34" charset="-122"/>
                  </a:rPr>
                  <a:t>1</a:t>
                </a:r>
                <a:r>
                  <a:rPr lang="en-US" altLang="zh-CN" sz="1100" b="1" dirty="0">
                    <a:latin typeface="微软雅黑" panose="020B0503020204020204" pitchFamily="34" charset="-122"/>
                    <a:ea typeface="微软雅黑" panose="020B0503020204020204" pitchFamily="34" charset="-122"/>
                  </a:rPr>
                  <a:t> IP</a:t>
                </a:r>
                <a:r>
                  <a:rPr lang="en-US" altLang="zh-CN" sz="1100" b="1" baseline="-25000" dirty="0">
                    <a:latin typeface="微软雅黑" panose="020B0503020204020204" pitchFamily="34" charset="-122"/>
                    <a:ea typeface="微软雅黑" panose="020B0503020204020204" pitchFamily="34" charset="-122"/>
                  </a:rPr>
                  <a:t>2</a:t>
                </a:r>
              </a:p>
            </p:txBody>
          </p:sp>
          <p:sp>
            <p:nvSpPr>
              <p:cNvPr id="181" name="Line 221"/>
              <p:cNvSpPr>
                <a:spLocks noChangeShapeType="1"/>
              </p:cNvSpPr>
              <p:nvPr/>
            </p:nvSpPr>
            <p:spPr bwMode="auto">
              <a:xfrm>
                <a:off x="1323" y="720"/>
                <a:ext cx="0" cy="240"/>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2" name="Line 222"/>
              <p:cNvSpPr>
                <a:spLocks noChangeShapeType="1"/>
              </p:cNvSpPr>
              <p:nvPr/>
            </p:nvSpPr>
            <p:spPr bwMode="auto">
              <a:xfrm>
                <a:off x="1143" y="717"/>
                <a:ext cx="0" cy="243"/>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183" name="Group 224"/>
            <p:cNvGrpSpPr>
              <a:grpSpLocks/>
            </p:cNvGrpSpPr>
            <p:nvPr/>
          </p:nvGrpSpPr>
          <p:grpSpPr bwMode="auto">
            <a:xfrm>
              <a:off x="3876651" y="2423009"/>
              <a:ext cx="959442" cy="261275"/>
              <a:chOff x="870" y="693"/>
              <a:chExt cx="761" cy="306"/>
            </a:xfrm>
            <a:solidFill>
              <a:srgbClr val="66FF99"/>
            </a:solidFill>
          </p:grpSpPr>
          <p:sp>
            <p:nvSpPr>
              <p:cNvPr id="184" name="AutoShape 193"/>
              <p:cNvSpPr>
                <a:spLocks noChangeArrowheads="1"/>
              </p:cNvSpPr>
              <p:nvPr/>
            </p:nvSpPr>
            <p:spPr bwMode="auto">
              <a:xfrm>
                <a:off x="1467" y="777"/>
                <a:ext cx="164" cy="150"/>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85" name="Rectangle 190"/>
              <p:cNvSpPr>
                <a:spLocks noChangeArrowheads="1"/>
              </p:cNvSpPr>
              <p:nvPr/>
            </p:nvSpPr>
            <p:spPr bwMode="auto">
              <a:xfrm>
                <a:off x="870" y="720"/>
                <a:ext cx="643" cy="252"/>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a:latin typeface="微软雅黑" panose="020B0503020204020204" pitchFamily="34" charset="-122"/>
                  <a:ea typeface="微软雅黑" panose="020B0503020204020204" pitchFamily="34" charset="-122"/>
                </a:endParaRPr>
              </a:p>
            </p:txBody>
          </p:sp>
          <p:sp>
            <p:nvSpPr>
              <p:cNvPr id="186" name="Text Box 219"/>
              <p:cNvSpPr txBox="1">
                <a:spLocks noChangeArrowheads="1"/>
              </p:cNvSpPr>
              <p:nvPr/>
            </p:nvSpPr>
            <p:spPr bwMode="auto">
              <a:xfrm>
                <a:off x="1087" y="693"/>
                <a:ext cx="495" cy="30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en-US" altLang="zh-CN" sz="1100" b="1" baseline="-25000" dirty="0">
                    <a:latin typeface="微软雅黑" panose="020B0503020204020204" pitchFamily="34" charset="-122"/>
                    <a:ea typeface="微软雅黑" panose="020B0503020204020204" pitchFamily="34" charset="-122"/>
                  </a:rPr>
                  <a:t>1</a:t>
                </a:r>
                <a:r>
                  <a:rPr lang="en-US" altLang="zh-CN" sz="1100" b="1" dirty="0">
                    <a:latin typeface="微软雅黑" panose="020B0503020204020204" pitchFamily="34" charset="-122"/>
                    <a:ea typeface="微软雅黑" panose="020B0503020204020204" pitchFamily="34" charset="-122"/>
                  </a:rPr>
                  <a:t> IP</a:t>
                </a:r>
                <a:r>
                  <a:rPr lang="en-US" altLang="zh-CN" sz="1100" b="1" baseline="-25000" dirty="0">
                    <a:latin typeface="微软雅黑" panose="020B0503020204020204" pitchFamily="34" charset="-122"/>
                    <a:ea typeface="微软雅黑" panose="020B0503020204020204" pitchFamily="34" charset="-122"/>
                  </a:rPr>
                  <a:t>2</a:t>
                </a:r>
              </a:p>
            </p:txBody>
          </p:sp>
          <p:sp>
            <p:nvSpPr>
              <p:cNvPr id="187" name="Line 221"/>
              <p:cNvSpPr>
                <a:spLocks noChangeShapeType="1"/>
              </p:cNvSpPr>
              <p:nvPr/>
            </p:nvSpPr>
            <p:spPr bwMode="auto">
              <a:xfrm>
                <a:off x="1323" y="720"/>
                <a:ext cx="0" cy="240"/>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8" name="Line 222"/>
              <p:cNvSpPr>
                <a:spLocks noChangeShapeType="1"/>
              </p:cNvSpPr>
              <p:nvPr/>
            </p:nvSpPr>
            <p:spPr bwMode="auto">
              <a:xfrm>
                <a:off x="1143" y="717"/>
                <a:ext cx="0" cy="243"/>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189" name="Group 224"/>
            <p:cNvGrpSpPr>
              <a:grpSpLocks/>
            </p:cNvGrpSpPr>
            <p:nvPr/>
          </p:nvGrpSpPr>
          <p:grpSpPr bwMode="auto">
            <a:xfrm>
              <a:off x="5731087" y="2423009"/>
              <a:ext cx="959442" cy="261275"/>
              <a:chOff x="870" y="693"/>
              <a:chExt cx="761" cy="306"/>
            </a:xfrm>
            <a:solidFill>
              <a:srgbClr val="66FF99"/>
            </a:solidFill>
          </p:grpSpPr>
          <p:sp>
            <p:nvSpPr>
              <p:cNvPr id="190" name="AutoShape 193"/>
              <p:cNvSpPr>
                <a:spLocks noChangeArrowheads="1"/>
              </p:cNvSpPr>
              <p:nvPr/>
            </p:nvSpPr>
            <p:spPr bwMode="auto">
              <a:xfrm>
                <a:off x="1467" y="777"/>
                <a:ext cx="164" cy="150"/>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91" name="Rectangle 190"/>
              <p:cNvSpPr>
                <a:spLocks noChangeArrowheads="1"/>
              </p:cNvSpPr>
              <p:nvPr/>
            </p:nvSpPr>
            <p:spPr bwMode="auto">
              <a:xfrm>
                <a:off x="870" y="720"/>
                <a:ext cx="643" cy="252"/>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a:latin typeface="微软雅黑" panose="020B0503020204020204" pitchFamily="34" charset="-122"/>
                  <a:ea typeface="微软雅黑" panose="020B0503020204020204" pitchFamily="34" charset="-122"/>
                </a:endParaRPr>
              </a:p>
            </p:txBody>
          </p:sp>
          <p:sp>
            <p:nvSpPr>
              <p:cNvPr id="192" name="Text Box 219"/>
              <p:cNvSpPr txBox="1">
                <a:spLocks noChangeArrowheads="1"/>
              </p:cNvSpPr>
              <p:nvPr/>
            </p:nvSpPr>
            <p:spPr bwMode="auto">
              <a:xfrm>
                <a:off x="1087" y="693"/>
                <a:ext cx="495" cy="30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en-US" altLang="zh-CN" sz="1100" b="1" baseline="-25000" dirty="0">
                    <a:latin typeface="微软雅黑" panose="020B0503020204020204" pitchFamily="34" charset="-122"/>
                    <a:ea typeface="微软雅黑" panose="020B0503020204020204" pitchFamily="34" charset="-122"/>
                  </a:rPr>
                  <a:t>1</a:t>
                </a:r>
                <a:r>
                  <a:rPr lang="en-US" altLang="zh-CN" sz="1100" b="1" dirty="0">
                    <a:latin typeface="微软雅黑" panose="020B0503020204020204" pitchFamily="34" charset="-122"/>
                    <a:ea typeface="微软雅黑" panose="020B0503020204020204" pitchFamily="34" charset="-122"/>
                  </a:rPr>
                  <a:t> IP</a:t>
                </a:r>
                <a:r>
                  <a:rPr lang="en-US" altLang="zh-CN" sz="1100" b="1" baseline="-25000" dirty="0">
                    <a:latin typeface="微软雅黑" panose="020B0503020204020204" pitchFamily="34" charset="-122"/>
                    <a:ea typeface="微软雅黑" panose="020B0503020204020204" pitchFamily="34" charset="-122"/>
                  </a:rPr>
                  <a:t>2</a:t>
                </a:r>
              </a:p>
            </p:txBody>
          </p:sp>
          <p:sp>
            <p:nvSpPr>
              <p:cNvPr id="193" name="Line 221"/>
              <p:cNvSpPr>
                <a:spLocks noChangeShapeType="1"/>
              </p:cNvSpPr>
              <p:nvPr/>
            </p:nvSpPr>
            <p:spPr bwMode="auto">
              <a:xfrm>
                <a:off x="1323" y="720"/>
                <a:ext cx="0" cy="240"/>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2"/>
              <p:cNvSpPr>
                <a:spLocks noChangeShapeType="1"/>
              </p:cNvSpPr>
              <p:nvPr/>
            </p:nvSpPr>
            <p:spPr bwMode="auto">
              <a:xfrm>
                <a:off x="1143" y="717"/>
                <a:ext cx="0" cy="243"/>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195" name="组合 103"/>
            <p:cNvGrpSpPr>
              <a:grpSpLocks/>
            </p:cNvGrpSpPr>
            <p:nvPr/>
          </p:nvGrpSpPr>
          <p:grpSpPr bwMode="auto">
            <a:xfrm>
              <a:off x="1682148" y="3763461"/>
              <a:ext cx="1125387" cy="216189"/>
              <a:chOff x="179512" y="3575494"/>
              <a:chExt cx="2341732" cy="386906"/>
            </a:xfrm>
            <a:solidFill>
              <a:srgbClr val="00FFFF"/>
            </a:solidFill>
          </p:grpSpPr>
          <p:grpSp>
            <p:nvGrpSpPr>
              <p:cNvPr id="196" name="Group 204"/>
              <p:cNvGrpSpPr>
                <a:grpSpLocks/>
              </p:cNvGrpSpPr>
              <p:nvPr/>
            </p:nvGrpSpPr>
            <p:grpSpPr bwMode="auto">
              <a:xfrm>
                <a:off x="179512" y="3581400"/>
                <a:ext cx="2341732" cy="381000"/>
                <a:chOff x="480" y="3120"/>
                <a:chExt cx="1212" cy="240"/>
              </a:xfrm>
              <a:grpFill/>
            </p:grpSpPr>
            <p:sp>
              <p:nvSpPr>
                <p:cNvPr id="200" name="AutoShape 203"/>
                <p:cNvSpPr>
                  <a:spLocks noChangeArrowheads="1"/>
                </p:cNvSpPr>
                <p:nvPr/>
              </p:nvSpPr>
              <p:spPr bwMode="auto">
                <a:xfrm>
                  <a:off x="1500" y="3168"/>
                  <a:ext cx="192" cy="144"/>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01" name="Rectangle 202"/>
                <p:cNvSpPr>
                  <a:spLocks noChangeArrowheads="1"/>
                </p:cNvSpPr>
                <p:nvPr/>
              </p:nvSpPr>
              <p:spPr bwMode="auto">
                <a:xfrm>
                  <a:off x="480" y="3120"/>
                  <a:ext cx="1056" cy="240"/>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900" b="1" baseline="-25000">
                    <a:latin typeface="微软雅黑" panose="020B0503020204020204" pitchFamily="34" charset="-122"/>
                    <a:ea typeface="微软雅黑" panose="020B0503020204020204" pitchFamily="34" charset="-122"/>
                  </a:endParaRPr>
                </a:p>
              </p:txBody>
            </p:sp>
          </p:grpSp>
          <p:sp>
            <p:nvSpPr>
              <p:cNvPr id="197" name="Rectangle 220"/>
              <p:cNvSpPr>
                <a:spLocks noChangeArrowheads="1"/>
              </p:cNvSpPr>
              <p:nvPr/>
            </p:nvSpPr>
            <p:spPr bwMode="auto">
              <a:xfrm>
                <a:off x="716210" y="3580859"/>
                <a:ext cx="1683115" cy="381000"/>
              </a:xfrm>
              <a:prstGeom prst="rect">
                <a:avLst/>
              </a:prstGeom>
              <a:no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r>
                  <a:rPr lang="en-US" altLang="zh-CN" sz="900" b="1" dirty="0">
                    <a:latin typeface="微软雅黑" panose="020B0503020204020204" pitchFamily="34" charset="-122"/>
                    <a:ea typeface="微软雅黑" panose="020B0503020204020204" pitchFamily="34" charset="-122"/>
                  </a:rPr>
                  <a:t>MAC</a:t>
                </a:r>
                <a:r>
                  <a:rPr lang="en-US" altLang="zh-CN" sz="900" b="1" baseline="-25000" dirty="0">
                    <a:latin typeface="微软雅黑" panose="020B0503020204020204" pitchFamily="34" charset="-122"/>
                    <a:ea typeface="微软雅黑" panose="020B0503020204020204" pitchFamily="34" charset="-122"/>
                  </a:rPr>
                  <a:t>1</a:t>
                </a:r>
                <a:r>
                  <a:rPr lang="en-US" altLang="zh-CN" sz="900" b="1" dirty="0">
                    <a:latin typeface="微软雅黑" panose="020B0503020204020204" pitchFamily="34" charset="-122"/>
                    <a:ea typeface="微软雅黑" panose="020B0503020204020204" pitchFamily="34" charset="-122"/>
                  </a:rPr>
                  <a:t> MAC</a:t>
                </a:r>
                <a:r>
                  <a:rPr lang="en-US" altLang="zh-CN" sz="900" b="1" baseline="-25000" dirty="0">
                    <a:latin typeface="微软雅黑" panose="020B0503020204020204" pitchFamily="34" charset="-122"/>
                    <a:ea typeface="微软雅黑" panose="020B0503020204020204" pitchFamily="34" charset="-122"/>
                  </a:rPr>
                  <a:t>3</a:t>
                </a:r>
              </a:p>
            </p:txBody>
          </p:sp>
          <p:sp>
            <p:nvSpPr>
              <p:cNvPr id="198" name="Line 237"/>
              <p:cNvSpPr>
                <a:spLocks noChangeShapeType="1"/>
              </p:cNvSpPr>
              <p:nvPr/>
            </p:nvSpPr>
            <p:spPr bwMode="auto">
              <a:xfrm>
                <a:off x="1497867" y="3575494"/>
                <a:ext cx="0" cy="38636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199" name="Line 238"/>
              <p:cNvSpPr>
                <a:spLocks noChangeShapeType="1"/>
              </p:cNvSpPr>
              <p:nvPr/>
            </p:nvSpPr>
            <p:spPr bwMode="auto">
              <a:xfrm>
                <a:off x="738473" y="3581400"/>
                <a:ext cx="0" cy="37147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grpSp>
        <p:grpSp>
          <p:nvGrpSpPr>
            <p:cNvPr id="202" name="组合 103"/>
            <p:cNvGrpSpPr>
              <a:grpSpLocks/>
            </p:cNvGrpSpPr>
            <p:nvPr/>
          </p:nvGrpSpPr>
          <p:grpSpPr bwMode="auto">
            <a:xfrm>
              <a:off x="3709500" y="3763461"/>
              <a:ext cx="1125387" cy="216189"/>
              <a:chOff x="179512" y="3575494"/>
              <a:chExt cx="2341732" cy="386906"/>
            </a:xfrm>
            <a:solidFill>
              <a:srgbClr val="00FFFF"/>
            </a:solidFill>
          </p:grpSpPr>
          <p:grpSp>
            <p:nvGrpSpPr>
              <p:cNvPr id="203" name="Group 204"/>
              <p:cNvGrpSpPr>
                <a:grpSpLocks/>
              </p:cNvGrpSpPr>
              <p:nvPr/>
            </p:nvGrpSpPr>
            <p:grpSpPr bwMode="auto">
              <a:xfrm>
                <a:off x="179512" y="3581400"/>
                <a:ext cx="2341732" cy="381000"/>
                <a:chOff x="480" y="3120"/>
                <a:chExt cx="1212" cy="240"/>
              </a:xfrm>
              <a:grpFill/>
            </p:grpSpPr>
            <p:sp>
              <p:nvSpPr>
                <p:cNvPr id="207" name="AutoShape 203"/>
                <p:cNvSpPr>
                  <a:spLocks noChangeArrowheads="1"/>
                </p:cNvSpPr>
                <p:nvPr/>
              </p:nvSpPr>
              <p:spPr bwMode="auto">
                <a:xfrm>
                  <a:off x="1500" y="3168"/>
                  <a:ext cx="192" cy="144"/>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08" name="Rectangle 202"/>
                <p:cNvSpPr>
                  <a:spLocks noChangeArrowheads="1"/>
                </p:cNvSpPr>
                <p:nvPr/>
              </p:nvSpPr>
              <p:spPr bwMode="auto">
                <a:xfrm>
                  <a:off x="480" y="3120"/>
                  <a:ext cx="1056" cy="240"/>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900" b="1" baseline="-25000">
                    <a:latin typeface="微软雅黑" panose="020B0503020204020204" pitchFamily="34" charset="-122"/>
                    <a:ea typeface="微软雅黑" panose="020B0503020204020204" pitchFamily="34" charset="-122"/>
                  </a:endParaRPr>
                </a:p>
              </p:txBody>
            </p:sp>
          </p:grpSp>
          <p:sp>
            <p:nvSpPr>
              <p:cNvPr id="204" name="Rectangle 220"/>
              <p:cNvSpPr>
                <a:spLocks noChangeArrowheads="1"/>
              </p:cNvSpPr>
              <p:nvPr/>
            </p:nvSpPr>
            <p:spPr bwMode="auto">
              <a:xfrm>
                <a:off x="716210" y="3580859"/>
                <a:ext cx="1683115" cy="381000"/>
              </a:xfrm>
              <a:prstGeom prst="rect">
                <a:avLst/>
              </a:prstGeom>
              <a:no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r>
                  <a:rPr lang="en-US" altLang="zh-CN" sz="900" b="1" dirty="0">
                    <a:latin typeface="微软雅黑" panose="020B0503020204020204" pitchFamily="34" charset="-122"/>
                    <a:ea typeface="微软雅黑" panose="020B0503020204020204" pitchFamily="34" charset="-122"/>
                  </a:rPr>
                  <a:t>MAC</a:t>
                </a:r>
                <a:r>
                  <a:rPr lang="en-US" altLang="zh-CN" sz="900" b="1" baseline="-25000" dirty="0">
                    <a:latin typeface="微软雅黑" panose="020B0503020204020204" pitchFamily="34" charset="-122"/>
                    <a:ea typeface="微软雅黑" panose="020B0503020204020204" pitchFamily="34" charset="-122"/>
                  </a:rPr>
                  <a:t>4</a:t>
                </a:r>
                <a:r>
                  <a:rPr lang="en-US" altLang="zh-CN" sz="900" b="1" dirty="0">
                    <a:latin typeface="微软雅黑" panose="020B0503020204020204" pitchFamily="34" charset="-122"/>
                    <a:ea typeface="微软雅黑" panose="020B0503020204020204" pitchFamily="34" charset="-122"/>
                  </a:rPr>
                  <a:t> MAC</a:t>
                </a:r>
                <a:r>
                  <a:rPr lang="en-US" altLang="zh-CN" sz="900" b="1" baseline="-25000" dirty="0">
                    <a:latin typeface="微软雅黑" panose="020B0503020204020204" pitchFamily="34" charset="-122"/>
                    <a:ea typeface="微软雅黑" panose="020B0503020204020204" pitchFamily="34" charset="-122"/>
                  </a:rPr>
                  <a:t>5</a:t>
                </a:r>
              </a:p>
            </p:txBody>
          </p:sp>
          <p:sp>
            <p:nvSpPr>
              <p:cNvPr id="205" name="Line 237"/>
              <p:cNvSpPr>
                <a:spLocks noChangeShapeType="1"/>
              </p:cNvSpPr>
              <p:nvPr/>
            </p:nvSpPr>
            <p:spPr bwMode="auto">
              <a:xfrm>
                <a:off x="1497867" y="3575494"/>
                <a:ext cx="0" cy="38636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06" name="Line 238"/>
              <p:cNvSpPr>
                <a:spLocks noChangeShapeType="1"/>
              </p:cNvSpPr>
              <p:nvPr/>
            </p:nvSpPr>
            <p:spPr bwMode="auto">
              <a:xfrm>
                <a:off x="738473" y="3581400"/>
                <a:ext cx="0" cy="37147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grpSp>
        <p:grpSp>
          <p:nvGrpSpPr>
            <p:cNvPr id="209" name="组合 103"/>
            <p:cNvGrpSpPr>
              <a:grpSpLocks/>
            </p:cNvGrpSpPr>
            <p:nvPr/>
          </p:nvGrpSpPr>
          <p:grpSpPr bwMode="auto">
            <a:xfrm>
              <a:off x="5735977" y="3763461"/>
              <a:ext cx="1125387" cy="216189"/>
              <a:chOff x="179512" y="3575494"/>
              <a:chExt cx="2341732" cy="386906"/>
            </a:xfrm>
            <a:solidFill>
              <a:srgbClr val="00FFFF"/>
            </a:solidFill>
          </p:grpSpPr>
          <p:grpSp>
            <p:nvGrpSpPr>
              <p:cNvPr id="210" name="Group 204"/>
              <p:cNvGrpSpPr>
                <a:grpSpLocks/>
              </p:cNvGrpSpPr>
              <p:nvPr/>
            </p:nvGrpSpPr>
            <p:grpSpPr bwMode="auto">
              <a:xfrm>
                <a:off x="179512" y="3581400"/>
                <a:ext cx="2341732" cy="381000"/>
                <a:chOff x="480" y="3120"/>
                <a:chExt cx="1212" cy="240"/>
              </a:xfrm>
              <a:grpFill/>
            </p:grpSpPr>
            <p:sp>
              <p:nvSpPr>
                <p:cNvPr id="214" name="AutoShape 203"/>
                <p:cNvSpPr>
                  <a:spLocks noChangeArrowheads="1"/>
                </p:cNvSpPr>
                <p:nvPr/>
              </p:nvSpPr>
              <p:spPr bwMode="auto">
                <a:xfrm>
                  <a:off x="1500" y="3168"/>
                  <a:ext cx="192" cy="144"/>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15" name="Rectangle 202"/>
                <p:cNvSpPr>
                  <a:spLocks noChangeArrowheads="1"/>
                </p:cNvSpPr>
                <p:nvPr/>
              </p:nvSpPr>
              <p:spPr bwMode="auto">
                <a:xfrm>
                  <a:off x="480" y="3120"/>
                  <a:ext cx="1056" cy="240"/>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900" b="1" baseline="-25000">
                    <a:latin typeface="微软雅黑" panose="020B0503020204020204" pitchFamily="34" charset="-122"/>
                    <a:ea typeface="微软雅黑" panose="020B0503020204020204" pitchFamily="34" charset="-122"/>
                  </a:endParaRPr>
                </a:p>
              </p:txBody>
            </p:sp>
          </p:grpSp>
          <p:sp>
            <p:nvSpPr>
              <p:cNvPr id="211" name="Rectangle 220"/>
              <p:cNvSpPr>
                <a:spLocks noChangeArrowheads="1"/>
              </p:cNvSpPr>
              <p:nvPr/>
            </p:nvSpPr>
            <p:spPr bwMode="auto">
              <a:xfrm>
                <a:off x="716210" y="3580859"/>
                <a:ext cx="1683115" cy="381000"/>
              </a:xfrm>
              <a:prstGeom prst="rect">
                <a:avLst/>
              </a:prstGeom>
              <a:no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r>
                  <a:rPr lang="en-US" altLang="zh-CN" sz="900" b="1" dirty="0">
                    <a:latin typeface="微软雅黑" panose="020B0503020204020204" pitchFamily="34" charset="-122"/>
                    <a:ea typeface="微软雅黑" panose="020B0503020204020204" pitchFamily="34" charset="-122"/>
                  </a:rPr>
                  <a:t>MAC</a:t>
                </a:r>
                <a:r>
                  <a:rPr lang="en-US" altLang="zh-CN" sz="900" b="1" baseline="-25000" dirty="0">
                    <a:latin typeface="微软雅黑" panose="020B0503020204020204" pitchFamily="34" charset="-122"/>
                    <a:ea typeface="微软雅黑" panose="020B0503020204020204" pitchFamily="34" charset="-122"/>
                  </a:rPr>
                  <a:t>6</a:t>
                </a:r>
                <a:r>
                  <a:rPr lang="en-US" altLang="zh-CN" sz="900" b="1" dirty="0">
                    <a:latin typeface="微软雅黑" panose="020B0503020204020204" pitchFamily="34" charset="-122"/>
                    <a:ea typeface="微软雅黑" panose="020B0503020204020204" pitchFamily="34" charset="-122"/>
                  </a:rPr>
                  <a:t> MAC</a:t>
                </a:r>
                <a:r>
                  <a:rPr lang="en-US" altLang="zh-CN" sz="900" b="1" baseline="-25000" dirty="0">
                    <a:latin typeface="微软雅黑" panose="020B0503020204020204" pitchFamily="34" charset="-122"/>
                    <a:ea typeface="微软雅黑" panose="020B0503020204020204" pitchFamily="34" charset="-122"/>
                  </a:rPr>
                  <a:t>2</a:t>
                </a:r>
              </a:p>
            </p:txBody>
          </p:sp>
          <p:sp>
            <p:nvSpPr>
              <p:cNvPr id="212" name="Line 237"/>
              <p:cNvSpPr>
                <a:spLocks noChangeShapeType="1"/>
              </p:cNvSpPr>
              <p:nvPr/>
            </p:nvSpPr>
            <p:spPr bwMode="auto">
              <a:xfrm>
                <a:off x="1497867" y="3575494"/>
                <a:ext cx="0" cy="38636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13" name="Line 238"/>
              <p:cNvSpPr>
                <a:spLocks noChangeShapeType="1"/>
              </p:cNvSpPr>
              <p:nvPr/>
            </p:nvSpPr>
            <p:spPr bwMode="auto">
              <a:xfrm>
                <a:off x="738473" y="3581400"/>
                <a:ext cx="0" cy="37147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grpSp>
        <p:grpSp>
          <p:nvGrpSpPr>
            <p:cNvPr id="2" name="组合 1"/>
            <p:cNvGrpSpPr/>
            <p:nvPr/>
          </p:nvGrpSpPr>
          <p:grpSpPr>
            <a:xfrm>
              <a:off x="2629163" y="1918996"/>
              <a:ext cx="835137" cy="261610"/>
              <a:chOff x="2629163" y="1918996"/>
              <a:chExt cx="835137" cy="261610"/>
            </a:xfrm>
          </p:grpSpPr>
          <p:sp>
            <p:nvSpPr>
              <p:cNvPr id="108" name="AutoShape 150"/>
              <p:cNvSpPr>
                <a:spLocks noChangeArrowheads="1"/>
              </p:cNvSpPr>
              <p:nvPr/>
            </p:nvSpPr>
            <p:spPr bwMode="auto">
              <a:xfrm flipV="1">
                <a:off x="2629163" y="1942246"/>
                <a:ext cx="835137" cy="205647"/>
              </a:xfrm>
              <a:prstGeom prst="wedgeRoundRectCallout">
                <a:avLst>
                  <a:gd name="adj1" fmla="val -75782"/>
                  <a:gd name="adj2" fmla="val -203782"/>
                  <a:gd name="adj3" fmla="val 16667"/>
                </a:avLst>
              </a:prstGeom>
              <a:solidFill>
                <a:srgbClr val="FFC000"/>
              </a:solidFill>
              <a:ln w="9525">
                <a:solidFill>
                  <a:schemeClr val="tx1"/>
                </a:solidFill>
                <a:miter lim="800000"/>
                <a:headEnd/>
                <a:tailEnd/>
              </a:ln>
              <a:effectLst/>
            </p:spPr>
            <p:txBody>
              <a:bodyPr rot="10800000" wrap="none" anchor="ctr"/>
              <a:lstStyle/>
              <a:p>
                <a:pPr algn="ctr"/>
                <a:endParaRPr kumimoji="1" lang="zh-CN" altLang="zh-CN" sz="1200" b="1">
                  <a:solidFill>
                    <a:srgbClr val="0000CC"/>
                  </a:solidFill>
                  <a:latin typeface="微软雅黑" pitchFamily="34" charset="-122"/>
                  <a:ea typeface="微软雅黑" pitchFamily="34" charset="-122"/>
                </a:endParaRPr>
              </a:p>
            </p:txBody>
          </p:sp>
          <p:sp>
            <p:nvSpPr>
              <p:cNvPr id="109" name="Text Box 151"/>
              <p:cNvSpPr txBox="1">
                <a:spLocks noChangeArrowheads="1"/>
              </p:cNvSpPr>
              <p:nvPr/>
            </p:nvSpPr>
            <p:spPr bwMode="auto">
              <a:xfrm>
                <a:off x="2655261" y="1918996"/>
                <a:ext cx="79060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IP </a:t>
                </a:r>
                <a:r>
                  <a:rPr kumimoji="1" lang="zh-CN" altLang="en-US" sz="1100" b="1" dirty="0">
                    <a:latin typeface="微软雅黑" pitchFamily="34" charset="-122"/>
                    <a:ea typeface="微软雅黑" pitchFamily="34" charset="-122"/>
                  </a:rPr>
                  <a:t>数据报</a:t>
                </a:r>
              </a:p>
            </p:txBody>
          </p:sp>
        </p:grpSp>
      </p:grpSp>
      <p:sp>
        <p:nvSpPr>
          <p:cNvPr id="160" name="Line 161"/>
          <p:cNvSpPr>
            <a:spLocks noChangeShapeType="1"/>
          </p:cNvSpPr>
          <p:nvPr/>
        </p:nvSpPr>
        <p:spPr bwMode="auto">
          <a:xfrm>
            <a:off x="1861661" y="2665434"/>
            <a:ext cx="1585771"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76" name="Line 165"/>
          <p:cNvSpPr>
            <a:spLocks noChangeShapeType="1"/>
          </p:cNvSpPr>
          <p:nvPr/>
        </p:nvSpPr>
        <p:spPr bwMode="auto">
          <a:xfrm>
            <a:off x="3565904" y="2665434"/>
            <a:ext cx="1670874"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16" name="Line 170"/>
          <p:cNvSpPr>
            <a:spLocks noChangeShapeType="1"/>
          </p:cNvSpPr>
          <p:nvPr/>
        </p:nvSpPr>
        <p:spPr bwMode="auto">
          <a:xfrm>
            <a:off x="5324876" y="2665434"/>
            <a:ext cx="1823756"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 name="矩形 4"/>
          <p:cNvSpPr/>
          <p:nvPr/>
        </p:nvSpPr>
        <p:spPr>
          <a:xfrm>
            <a:off x="4424727" y="1816579"/>
            <a:ext cx="1642294" cy="461665"/>
          </a:xfrm>
          <a:prstGeom prst="rect">
            <a:avLst/>
          </a:prstGeom>
          <a:solidFill>
            <a:srgbClr val="FF99FF"/>
          </a:solidFill>
        </p:spPr>
        <p:txBody>
          <a:bodyPr wrap="square">
            <a:spAutoFit/>
          </a:bodyPr>
          <a:lstStyle/>
          <a:p>
            <a:r>
              <a:rPr lang="zh-CN" altLang="en-US" sz="1200" b="1" dirty="0">
                <a:latin typeface="微软雅黑" panose="020B0503020204020204" pitchFamily="34" charset="-122"/>
                <a:ea typeface="微软雅黑" panose="020B0503020204020204" pitchFamily="34" charset="-122"/>
              </a:rPr>
              <a:t>路由器只根据</a:t>
            </a:r>
            <a:r>
              <a:rPr lang="zh-CN" altLang="en-US" sz="1200" b="1" dirty="0">
                <a:solidFill>
                  <a:srgbClr val="C00000"/>
                </a:solidFill>
                <a:latin typeface="微软雅黑" panose="020B0503020204020204" pitchFamily="34" charset="-122"/>
                <a:ea typeface="微软雅黑" panose="020B0503020204020204" pitchFamily="34" charset="-122"/>
              </a:rPr>
              <a:t>目的站的 </a:t>
            </a:r>
            <a:r>
              <a:rPr lang="en-US" altLang="zh-CN" sz="1200" b="1" dirty="0">
                <a:solidFill>
                  <a:srgbClr val="C00000"/>
                </a:solidFill>
                <a:latin typeface="微软雅黑" panose="020B0503020204020204" pitchFamily="34" charset="-122"/>
                <a:ea typeface="微软雅黑" panose="020B0503020204020204" pitchFamily="34" charset="-122"/>
              </a:rPr>
              <a:t>IP </a:t>
            </a:r>
            <a:r>
              <a:rPr lang="zh-CN" altLang="en-US" sz="1200" b="1" dirty="0">
                <a:solidFill>
                  <a:srgbClr val="C00000"/>
                </a:solidFill>
                <a:latin typeface="微软雅黑" panose="020B0503020204020204" pitchFamily="34" charset="-122"/>
                <a:ea typeface="微软雅黑" panose="020B0503020204020204" pitchFamily="34" charset="-122"/>
              </a:rPr>
              <a:t>地址</a:t>
            </a:r>
            <a:r>
              <a:rPr lang="zh-CN" altLang="en-US" sz="1200" b="1" dirty="0">
                <a:latin typeface="微软雅黑" panose="020B0503020204020204" pitchFamily="34" charset="-122"/>
                <a:ea typeface="微软雅黑" panose="020B0503020204020204" pitchFamily="34" charset="-122"/>
              </a:rPr>
              <a:t>进行转发。</a:t>
            </a:r>
          </a:p>
        </p:txBody>
      </p:sp>
      <p:sp>
        <p:nvSpPr>
          <p:cNvPr id="217" name="矩形 216"/>
          <p:cNvSpPr/>
          <p:nvPr/>
        </p:nvSpPr>
        <p:spPr>
          <a:xfrm>
            <a:off x="2662683" y="4250411"/>
            <a:ext cx="3639530" cy="338554"/>
          </a:xfrm>
          <a:prstGeom prst="rect">
            <a:avLst/>
          </a:prstGeom>
          <a:solidFill>
            <a:srgbClr val="FFC000"/>
          </a:solidFill>
        </p:spPr>
        <p:txBody>
          <a:bodyPr wrap="square">
            <a:spAutoFit/>
          </a:bodyPr>
          <a:lstStyle/>
          <a:p>
            <a:pPr algn="ctr"/>
            <a:r>
              <a:rPr lang="zh-CN" altLang="en-US" sz="1600" b="1" dirty="0">
                <a:latin typeface="微软雅黑" panose="020B0503020204020204" pitchFamily="34" charset="-122"/>
                <a:ea typeface="微软雅黑" panose="020B0503020204020204" pitchFamily="34" charset="-122"/>
              </a:rPr>
              <a:t>注意：数据报中 </a:t>
            </a: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地址是否有变化？</a:t>
            </a:r>
          </a:p>
        </p:txBody>
      </p:sp>
    </p:spTree>
    <p:extLst>
      <p:ext uri="{BB962C8B-B14F-4D97-AF65-F5344CB8AC3E}">
        <p14:creationId xmlns:p14="http://schemas.microsoft.com/office/powerpoint/2010/main" val="180311617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136"/>
                                        </p:tgtEl>
                                        <p:attrNameLst>
                                          <p:attrName>style.visibility</p:attrName>
                                        </p:attrNameLst>
                                      </p:cBhvr>
                                      <p:tavLst>
                                        <p:tav tm="0">
                                          <p:val>
                                            <p:strVal val="hidden"/>
                                          </p:val>
                                        </p:tav>
                                        <p:tav tm="50000">
                                          <p:val>
                                            <p:strVal val="visible"/>
                                          </p:val>
                                        </p:tav>
                                      </p:tavLst>
                                    </p:anim>
                                  </p:childTnLst>
                                </p:cTn>
                              </p:par>
                            </p:childTnLst>
                          </p:cTn>
                        </p:par>
                        <p:par>
                          <p:cTn id="7" fill="hold">
                            <p:stCondLst>
                              <p:cond delay="3000"/>
                            </p:stCondLst>
                            <p:childTnLst>
                              <p:par>
                                <p:cTn id="8" presetID="22" presetClass="entr" presetSubtype="8" fill="hold" grpId="0" nodeType="afterEffect">
                                  <p:stCondLst>
                                    <p:cond delay="0"/>
                                  </p:stCondLst>
                                  <p:childTnLst>
                                    <p:set>
                                      <p:cBhvr>
                                        <p:cTn id="9" dur="1" fill="hold">
                                          <p:stCondLst>
                                            <p:cond delay="0"/>
                                          </p:stCondLst>
                                        </p:cTn>
                                        <p:tgtEl>
                                          <p:spTgt spid="160"/>
                                        </p:tgtEl>
                                        <p:attrNameLst>
                                          <p:attrName>style.visibility</p:attrName>
                                        </p:attrNameLst>
                                      </p:cBhvr>
                                      <p:to>
                                        <p:strVal val="visible"/>
                                      </p:to>
                                    </p:set>
                                    <p:animEffect transition="in" filter="wipe(left)">
                                      <p:cBhvr>
                                        <p:cTn id="10" dur="1000"/>
                                        <p:tgtEl>
                                          <p:spTgt spid="160"/>
                                        </p:tgtEl>
                                      </p:cBhvr>
                                    </p:animEffect>
                                  </p:childTnLst>
                                </p:cTn>
                              </p:par>
                            </p:childTnLst>
                          </p:cTn>
                        </p:par>
                        <p:par>
                          <p:cTn id="11" fill="hold">
                            <p:stCondLst>
                              <p:cond delay="4000"/>
                            </p:stCondLst>
                            <p:childTnLst>
                              <p:par>
                                <p:cTn id="12" presetID="22" presetClass="entr" presetSubtype="8" fill="hold" grpId="0" nodeType="afterEffect">
                                  <p:stCondLst>
                                    <p:cond delay="0"/>
                                  </p:stCondLst>
                                  <p:childTnLst>
                                    <p:set>
                                      <p:cBhvr>
                                        <p:cTn id="13" dur="1" fill="hold">
                                          <p:stCondLst>
                                            <p:cond delay="0"/>
                                          </p:stCondLst>
                                        </p:cTn>
                                        <p:tgtEl>
                                          <p:spTgt spid="176"/>
                                        </p:tgtEl>
                                        <p:attrNameLst>
                                          <p:attrName>style.visibility</p:attrName>
                                        </p:attrNameLst>
                                      </p:cBhvr>
                                      <p:to>
                                        <p:strVal val="visible"/>
                                      </p:to>
                                    </p:set>
                                    <p:animEffect transition="in" filter="wipe(left)">
                                      <p:cBhvr>
                                        <p:cTn id="14" dur="1000"/>
                                        <p:tgtEl>
                                          <p:spTgt spid="176"/>
                                        </p:tgtEl>
                                      </p:cBhvr>
                                    </p:animEffect>
                                  </p:childTnLst>
                                </p:cTn>
                              </p:par>
                            </p:childTnLst>
                          </p:cTn>
                        </p:par>
                        <p:par>
                          <p:cTn id="15" fill="hold">
                            <p:stCondLst>
                              <p:cond delay="5000"/>
                            </p:stCondLst>
                            <p:childTnLst>
                              <p:par>
                                <p:cTn id="16" presetID="22" presetClass="entr" presetSubtype="8" fill="hold" grpId="0" nodeType="afterEffect">
                                  <p:stCondLst>
                                    <p:cond delay="0"/>
                                  </p:stCondLst>
                                  <p:childTnLst>
                                    <p:set>
                                      <p:cBhvr>
                                        <p:cTn id="17" dur="1" fill="hold">
                                          <p:stCondLst>
                                            <p:cond delay="0"/>
                                          </p:stCondLst>
                                        </p:cTn>
                                        <p:tgtEl>
                                          <p:spTgt spid="216"/>
                                        </p:tgtEl>
                                        <p:attrNameLst>
                                          <p:attrName>style.visibility</p:attrName>
                                        </p:attrNameLst>
                                      </p:cBhvr>
                                      <p:to>
                                        <p:strVal val="visible"/>
                                      </p:to>
                                    </p:set>
                                    <p:animEffect transition="in" filter="wipe(left)">
                                      <p:cBhvr>
                                        <p:cTn id="18" dur="1000"/>
                                        <p:tgtEl>
                                          <p:spTgt spid="216"/>
                                        </p:tgtEl>
                                      </p:cBhvr>
                                    </p:animEffect>
                                  </p:childTnLst>
                                </p:cTn>
                              </p:par>
                            </p:childTnLst>
                          </p:cTn>
                        </p:par>
                        <p:par>
                          <p:cTn id="19" fill="hold">
                            <p:stCondLst>
                              <p:cond delay="6000"/>
                            </p:stCondLst>
                            <p:childTnLst>
                              <p:par>
                                <p:cTn id="20" presetID="10" presetClass="entr" presetSubtype="0" repeatCount="3000" fill="hold" grpId="0" nodeType="after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1000"/>
                                        <p:tgtEl>
                                          <p:spTgt spid="5"/>
                                        </p:tgtEl>
                                      </p:cBhvr>
                                    </p:animEffect>
                                  </p:childTnLst>
                                </p:cTn>
                              </p:par>
                            </p:childTnLst>
                          </p:cTn>
                        </p:par>
                        <p:par>
                          <p:cTn id="23" fill="hold">
                            <p:stCondLst>
                              <p:cond delay="9000"/>
                            </p:stCondLst>
                            <p:childTnLst>
                              <p:par>
                                <p:cTn id="24" presetID="10" presetClass="entr" presetSubtype="0" fill="hold" grpId="0" nodeType="afterEffect">
                                  <p:stCondLst>
                                    <p:cond delay="0"/>
                                  </p:stCondLst>
                                  <p:childTnLst>
                                    <p:set>
                                      <p:cBhvr>
                                        <p:cTn id="25" dur="1" fill="hold">
                                          <p:stCondLst>
                                            <p:cond delay="0"/>
                                          </p:stCondLst>
                                        </p:cTn>
                                        <p:tgtEl>
                                          <p:spTgt spid="217"/>
                                        </p:tgtEl>
                                        <p:attrNameLst>
                                          <p:attrName>style.visibility</p:attrName>
                                        </p:attrNameLst>
                                      </p:cBhvr>
                                      <p:to>
                                        <p:strVal val="visible"/>
                                      </p:to>
                                    </p:set>
                                    <p:animEffect transition="in" filter="fade">
                                      <p:cBhvr>
                                        <p:cTn id="26" dur="1000"/>
                                        <p:tgtEl>
                                          <p:spTgt spid="2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6" grpId="0" animBg="1"/>
      <p:bldP spid="160" grpId="0" animBg="1"/>
      <p:bldP spid="176" grpId="0" animBg="1"/>
      <p:bldP spid="216" grpId="0" animBg="1"/>
      <p:bldP spid="5" grpId="0" animBg="1"/>
      <p:bldP spid="217"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5" name="圆角矩形 174"/>
          <p:cNvSpPr/>
          <p:nvPr/>
        </p:nvSpPr>
        <p:spPr>
          <a:xfrm>
            <a:off x="545144" y="620973"/>
            <a:ext cx="8053712" cy="374071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36" name="Text Box 158"/>
          <p:cNvSpPr txBox="1">
            <a:spLocks noChangeArrowheads="1"/>
          </p:cNvSpPr>
          <p:nvPr/>
        </p:nvSpPr>
        <p:spPr bwMode="auto">
          <a:xfrm>
            <a:off x="2628111" y="656599"/>
            <a:ext cx="3884268" cy="338554"/>
          </a:xfrm>
          <a:prstGeom prst="rect">
            <a:avLst/>
          </a:prstGeom>
          <a:solidFill>
            <a:srgbClr val="0000CC"/>
          </a:solidFill>
          <a:ln w="9525">
            <a:solidFill>
              <a:schemeClr val="tx1"/>
            </a:solidFill>
            <a:miter lim="800000"/>
            <a:headEnd/>
            <a:tailEnd/>
          </a:ln>
          <a:effectLst/>
        </p:spPr>
        <p:txBody>
          <a:bodyPr wrap="none">
            <a:spAutoFit/>
          </a:bodyPr>
          <a:lstStyle/>
          <a:p>
            <a:pPr algn="ctr"/>
            <a:r>
              <a:rPr lang="zh-CN" altLang="en-US" sz="1600" b="1" dirty="0">
                <a:highlight>
                  <a:srgbClr val="FFFF00"/>
                </a:highlight>
                <a:latin typeface="微软雅黑" pitchFamily="34" charset="-122"/>
                <a:ea typeface="微软雅黑" pitchFamily="34" charset="-122"/>
              </a:rPr>
              <a:t>在局域网的链路层，只能看见 </a:t>
            </a:r>
            <a:r>
              <a:rPr lang="en-US" altLang="zh-CN" sz="1600" b="1" dirty="0">
                <a:highlight>
                  <a:srgbClr val="FFFF00"/>
                </a:highlight>
                <a:latin typeface="微软雅黑" pitchFamily="34" charset="-122"/>
                <a:ea typeface="微软雅黑" pitchFamily="34" charset="-122"/>
              </a:rPr>
              <a:t>MAC </a:t>
            </a:r>
            <a:r>
              <a:rPr lang="zh-CN" altLang="en-US" sz="1600" b="1" dirty="0">
                <a:highlight>
                  <a:srgbClr val="FFFF00"/>
                </a:highlight>
                <a:latin typeface="微软雅黑" pitchFamily="34" charset="-122"/>
                <a:ea typeface="微软雅黑" pitchFamily="34" charset="-122"/>
              </a:rPr>
              <a:t>帧。</a:t>
            </a:r>
          </a:p>
        </p:txBody>
      </p:sp>
      <p:grpSp>
        <p:nvGrpSpPr>
          <p:cNvPr id="4" name="组合 3"/>
          <p:cNvGrpSpPr/>
          <p:nvPr/>
        </p:nvGrpSpPr>
        <p:grpSpPr>
          <a:xfrm>
            <a:off x="1414301" y="755888"/>
            <a:ext cx="6169421" cy="954900"/>
            <a:chOff x="1414301" y="755888"/>
            <a:chExt cx="6169421" cy="954900"/>
          </a:xfrm>
        </p:grpSpPr>
        <p:sp>
          <p:nvSpPr>
            <p:cNvPr id="146" name="Freeform 2"/>
            <p:cNvSpPr>
              <a:spLocks/>
            </p:cNvSpPr>
            <p:nvPr/>
          </p:nvSpPr>
          <p:spPr bwMode="auto">
            <a:xfrm>
              <a:off x="3120664" y="1412506"/>
              <a:ext cx="170724" cy="29032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7" name="Freeform 3"/>
            <p:cNvSpPr>
              <a:spLocks/>
            </p:cNvSpPr>
            <p:nvPr/>
          </p:nvSpPr>
          <p:spPr bwMode="auto">
            <a:xfrm>
              <a:off x="5000809" y="1412506"/>
              <a:ext cx="116354" cy="289461"/>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8" name="Line 4"/>
            <p:cNvSpPr>
              <a:spLocks noChangeShapeType="1"/>
            </p:cNvSpPr>
            <p:nvPr/>
          </p:nvSpPr>
          <p:spPr bwMode="auto">
            <a:xfrm rot="16200000">
              <a:off x="7110950" y="1556581"/>
              <a:ext cx="290325" cy="217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9" name="Line 5"/>
            <p:cNvSpPr>
              <a:spLocks noChangeShapeType="1"/>
            </p:cNvSpPr>
            <p:nvPr/>
          </p:nvSpPr>
          <p:spPr bwMode="auto">
            <a:xfrm rot="16200000">
              <a:off x="1525973" y="1556581"/>
              <a:ext cx="290325" cy="217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0" name="Line 6"/>
            <p:cNvSpPr>
              <a:spLocks noChangeShapeType="1"/>
            </p:cNvSpPr>
            <p:nvPr/>
          </p:nvSpPr>
          <p:spPr bwMode="auto">
            <a:xfrm>
              <a:off x="1509111" y="1702831"/>
              <a:ext cx="1772490"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1" name="Line 11"/>
            <p:cNvSpPr>
              <a:spLocks noChangeShapeType="1"/>
            </p:cNvSpPr>
            <p:nvPr/>
          </p:nvSpPr>
          <p:spPr bwMode="auto">
            <a:xfrm>
              <a:off x="5484709" y="1702831"/>
              <a:ext cx="1987799"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2" name="Text Box 13"/>
            <p:cNvSpPr txBox="1">
              <a:spLocks noChangeArrowheads="1"/>
            </p:cNvSpPr>
            <p:nvPr/>
          </p:nvSpPr>
          <p:spPr bwMode="auto">
            <a:xfrm>
              <a:off x="1414301" y="755888"/>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153" name="Text Box 14"/>
            <p:cNvSpPr txBox="1">
              <a:spLocks noChangeArrowheads="1"/>
            </p:cNvSpPr>
            <p:nvPr/>
          </p:nvSpPr>
          <p:spPr bwMode="auto">
            <a:xfrm>
              <a:off x="6902125" y="755888"/>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154" name="Line 15"/>
            <p:cNvSpPr>
              <a:spLocks noChangeShapeType="1"/>
            </p:cNvSpPr>
            <p:nvPr/>
          </p:nvSpPr>
          <p:spPr bwMode="auto">
            <a:xfrm>
              <a:off x="3604564" y="1702831"/>
              <a:ext cx="1557182"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5" name="Freeform 16"/>
            <p:cNvSpPr>
              <a:spLocks/>
            </p:cNvSpPr>
            <p:nvPr/>
          </p:nvSpPr>
          <p:spPr bwMode="auto">
            <a:xfrm flipH="1">
              <a:off x="5484709" y="1412506"/>
              <a:ext cx="160938" cy="29032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6" name="Freeform 17"/>
            <p:cNvSpPr>
              <a:spLocks/>
            </p:cNvSpPr>
            <p:nvPr/>
          </p:nvSpPr>
          <p:spPr bwMode="auto">
            <a:xfrm flipH="1">
              <a:off x="3648060" y="1412506"/>
              <a:ext cx="117441" cy="291189"/>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7" name="Text Box 18"/>
            <p:cNvSpPr txBox="1">
              <a:spLocks noChangeArrowheads="1"/>
            </p:cNvSpPr>
            <p:nvPr/>
          </p:nvSpPr>
          <p:spPr bwMode="auto">
            <a:xfrm>
              <a:off x="3092658" y="1053174"/>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1</a:t>
              </a:r>
            </a:p>
          </p:txBody>
        </p:sp>
        <p:pic>
          <p:nvPicPr>
            <p:cNvPr id="158" name="Picture 2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054092" y="1274256"/>
              <a:ext cx="528485" cy="236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59" name="Picture 2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83734" y="1262159"/>
              <a:ext cx="527397" cy="236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61" name="Text Box 25"/>
            <p:cNvSpPr txBox="1">
              <a:spLocks noChangeArrowheads="1"/>
            </p:cNvSpPr>
            <p:nvPr/>
          </p:nvSpPr>
          <p:spPr bwMode="auto">
            <a:xfrm>
              <a:off x="4963812" y="1056629"/>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2</a:t>
              </a:r>
            </a:p>
          </p:txBody>
        </p:sp>
        <p:sp>
          <p:nvSpPr>
            <p:cNvPr id="162" name="Text Box 29"/>
            <p:cNvSpPr txBox="1">
              <a:spLocks noChangeArrowheads="1"/>
            </p:cNvSpPr>
            <p:nvPr/>
          </p:nvSpPr>
          <p:spPr bwMode="auto">
            <a:xfrm>
              <a:off x="2139132"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163" name="Text Box 30"/>
            <p:cNvSpPr txBox="1">
              <a:spLocks noChangeArrowheads="1"/>
            </p:cNvSpPr>
            <p:nvPr/>
          </p:nvSpPr>
          <p:spPr bwMode="auto">
            <a:xfrm>
              <a:off x="4117311"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164" name="Text Box 31"/>
            <p:cNvSpPr txBox="1">
              <a:spLocks noChangeArrowheads="1"/>
            </p:cNvSpPr>
            <p:nvPr/>
          </p:nvSpPr>
          <p:spPr bwMode="auto">
            <a:xfrm>
              <a:off x="6137566"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165" name="Text Box 7"/>
            <p:cNvSpPr txBox="1">
              <a:spLocks noChangeArrowheads="1"/>
            </p:cNvSpPr>
            <p:nvPr/>
          </p:nvSpPr>
          <p:spPr bwMode="auto">
            <a:xfrm>
              <a:off x="1629867" y="1422876"/>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1</a:t>
              </a:r>
              <a:endParaRPr kumimoji="1" lang="en-US" altLang="zh-CN" sz="1100" b="1" dirty="0">
                <a:solidFill>
                  <a:srgbClr val="0000CC"/>
                </a:solidFill>
                <a:latin typeface="微软雅黑" pitchFamily="34" charset="-122"/>
                <a:ea typeface="微软雅黑" pitchFamily="34" charset="-122"/>
              </a:endParaRPr>
            </a:p>
          </p:txBody>
        </p:sp>
        <p:sp>
          <p:nvSpPr>
            <p:cNvPr id="166" name="Text Box 8"/>
            <p:cNvSpPr txBox="1">
              <a:spLocks noChangeArrowheads="1"/>
            </p:cNvSpPr>
            <p:nvPr/>
          </p:nvSpPr>
          <p:spPr bwMode="auto">
            <a:xfrm>
              <a:off x="4570245"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5</a:t>
              </a:r>
              <a:endParaRPr kumimoji="1" lang="en-US" altLang="zh-CN" sz="1100" b="1" dirty="0">
                <a:solidFill>
                  <a:srgbClr val="0000CC"/>
                </a:solidFill>
                <a:latin typeface="微软雅黑" pitchFamily="34" charset="-122"/>
                <a:ea typeface="微软雅黑" pitchFamily="34" charset="-122"/>
              </a:endParaRPr>
            </a:p>
          </p:txBody>
        </p:sp>
        <p:sp>
          <p:nvSpPr>
            <p:cNvPr id="167" name="Text Box 9"/>
            <p:cNvSpPr txBox="1">
              <a:spLocks noChangeArrowheads="1"/>
            </p:cNvSpPr>
            <p:nvPr/>
          </p:nvSpPr>
          <p:spPr bwMode="auto">
            <a:xfrm>
              <a:off x="3702485"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4</a:t>
              </a:r>
              <a:endParaRPr kumimoji="1" lang="en-US" altLang="zh-CN" sz="1100" b="1" dirty="0">
                <a:solidFill>
                  <a:srgbClr val="0000CC"/>
                </a:solidFill>
                <a:latin typeface="微软雅黑" pitchFamily="34" charset="-122"/>
                <a:ea typeface="微软雅黑" pitchFamily="34" charset="-122"/>
              </a:endParaRPr>
            </a:p>
          </p:txBody>
        </p:sp>
        <p:sp>
          <p:nvSpPr>
            <p:cNvPr id="168" name="Text Box 10"/>
            <p:cNvSpPr txBox="1">
              <a:spLocks noChangeArrowheads="1"/>
            </p:cNvSpPr>
            <p:nvPr/>
          </p:nvSpPr>
          <p:spPr bwMode="auto">
            <a:xfrm>
              <a:off x="2612466"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3</a:t>
              </a:r>
              <a:endParaRPr kumimoji="1" lang="en-US" altLang="zh-CN" sz="1100" b="1" dirty="0">
                <a:solidFill>
                  <a:srgbClr val="0000CC"/>
                </a:solidFill>
                <a:latin typeface="微软雅黑" pitchFamily="34" charset="-122"/>
                <a:ea typeface="微软雅黑" pitchFamily="34" charset="-122"/>
              </a:endParaRPr>
            </a:p>
          </p:txBody>
        </p:sp>
        <p:sp>
          <p:nvSpPr>
            <p:cNvPr id="169" name="Text Box 12"/>
            <p:cNvSpPr txBox="1">
              <a:spLocks noChangeArrowheads="1"/>
            </p:cNvSpPr>
            <p:nvPr/>
          </p:nvSpPr>
          <p:spPr bwMode="auto">
            <a:xfrm>
              <a:off x="5582630"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6</a:t>
              </a:r>
              <a:endParaRPr kumimoji="1" lang="en-US" altLang="zh-CN" sz="1100" b="1" dirty="0">
                <a:solidFill>
                  <a:srgbClr val="0000CC"/>
                </a:solidFill>
                <a:latin typeface="微软雅黑" pitchFamily="34" charset="-122"/>
                <a:ea typeface="微软雅黑" pitchFamily="34" charset="-122"/>
              </a:endParaRPr>
            </a:p>
          </p:txBody>
        </p:sp>
        <p:sp>
          <p:nvSpPr>
            <p:cNvPr id="170" name="Text Box 26"/>
            <p:cNvSpPr txBox="1">
              <a:spLocks noChangeArrowheads="1"/>
            </p:cNvSpPr>
            <p:nvPr/>
          </p:nvSpPr>
          <p:spPr bwMode="auto">
            <a:xfrm>
              <a:off x="6812500"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2</a:t>
              </a:r>
              <a:endParaRPr kumimoji="1" lang="en-US" altLang="zh-CN" sz="1100" b="1" dirty="0">
                <a:solidFill>
                  <a:srgbClr val="0000CC"/>
                </a:solidFill>
                <a:latin typeface="微软雅黑" pitchFamily="34" charset="-122"/>
                <a:ea typeface="微软雅黑" pitchFamily="34" charset="-122"/>
              </a:endParaRPr>
            </a:p>
          </p:txBody>
        </p:sp>
        <p:pic>
          <p:nvPicPr>
            <p:cNvPr id="171"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44263" y="996212"/>
              <a:ext cx="472829" cy="472829"/>
            </a:xfrm>
            <a:prstGeom prst="rect">
              <a:avLst/>
            </a:prstGeom>
            <a:noFill/>
            <a:extLst>
              <a:ext uri="{909E8E84-426E-40DD-AFC4-6F175D3DCCD1}">
                <a14:hiddenFill xmlns:a14="http://schemas.microsoft.com/office/drawing/2010/main">
                  <a:solidFill>
                    <a:srgbClr val="FFFFFF"/>
                  </a:solidFill>
                </a14:hiddenFill>
              </a:ext>
            </a:extLst>
          </p:spPr>
        </p:pic>
        <p:sp>
          <p:nvSpPr>
            <p:cNvPr id="172" name="Text Box 27"/>
            <p:cNvSpPr txBox="1">
              <a:spLocks noChangeArrowheads="1"/>
            </p:cNvSpPr>
            <p:nvPr/>
          </p:nvSpPr>
          <p:spPr bwMode="auto">
            <a:xfrm>
              <a:off x="1505520" y="1052103"/>
              <a:ext cx="3994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chemeClr val="bg1"/>
                  </a:solidFill>
                  <a:latin typeface="微软雅黑" pitchFamily="34" charset="-122"/>
                  <a:ea typeface="微软雅黑" pitchFamily="34" charset="-122"/>
                </a:rPr>
                <a:t>IP</a:t>
              </a:r>
              <a:r>
                <a:rPr kumimoji="1" lang="en-US" altLang="zh-CN" sz="1200" b="1" baseline="-25000" dirty="0">
                  <a:solidFill>
                    <a:schemeClr val="bg1"/>
                  </a:solidFill>
                  <a:latin typeface="微软雅黑" pitchFamily="34" charset="-122"/>
                  <a:ea typeface="微软雅黑" pitchFamily="34" charset="-122"/>
                </a:rPr>
                <a:t>1</a:t>
              </a:r>
              <a:endParaRPr kumimoji="1" lang="en-US" altLang="zh-CN" sz="1200" b="1" dirty="0">
                <a:solidFill>
                  <a:schemeClr val="bg1"/>
                </a:solidFill>
                <a:latin typeface="微软雅黑" pitchFamily="34" charset="-122"/>
                <a:ea typeface="微软雅黑" pitchFamily="34" charset="-122"/>
              </a:endParaRPr>
            </a:p>
          </p:txBody>
        </p:sp>
        <p:pic>
          <p:nvPicPr>
            <p:cNvPr id="17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20272" y="996212"/>
              <a:ext cx="472829" cy="472829"/>
            </a:xfrm>
            <a:prstGeom prst="rect">
              <a:avLst/>
            </a:prstGeom>
            <a:noFill/>
            <a:extLst>
              <a:ext uri="{909E8E84-426E-40DD-AFC4-6F175D3DCCD1}">
                <a14:hiddenFill xmlns:a14="http://schemas.microsoft.com/office/drawing/2010/main">
                  <a:solidFill>
                    <a:srgbClr val="FFFFFF"/>
                  </a:solidFill>
                </a14:hiddenFill>
              </a:ext>
            </a:extLst>
          </p:spPr>
        </p:pic>
        <p:sp>
          <p:nvSpPr>
            <p:cNvPr id="174" name="Text Box 28"/>
            <p:cNvSpPr txBox="1">
              <a:spLocks noChangeArrowheads="1"/>
            </p:cNvSpPr>
            <p:nvPr/>
          </p:nvSpPr>
          <p:spPr bwMode="auto">
            <a:xfrm>
              <a:off x="7062859" y="1050777"/>
              <a:ext cx="3994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chemeClr val="bg1"/>
                  </a:solidFill>
                  <a:latin typeface="微软雅黑" pitchFamily="34" charset="-122"/>
                  <a:ea typeface="微软雅黑" pitchFamily="34" charset="-122"/>
                </a:rPr>
                <a:t>IP</a:t>
              </a:r>
              <a:r>
                <a:rPr kumimoji="1" lang="en-US" altLang="zh-CN" sz="1200" b="1" baseline="-25000" dirty="0">
                  <a:solidFill>
                    <a:schemeClr val="bg1"/>
                  </a:solidFill>
                  <a:latin typeface="微软雅黑" pitchFamily="34" charset="-122"/>
                  <a:ea typeface="微软雅黑" pitchFamily="34" charset="-122"/>
                </a:rPr>
                <a:t>2</a:t>
              </a:r>
              <a:endParaRPr kumimoji="1" lang="en-US" altLang="zh-CN" sz="1200" b="1" dirty="0">
                <a:solidFill>
                  <a:schemeClr val="bg1"/>
                </a:solidFill>
                <a:latin typeface="微软雅黑" pitchFamily="34" charset="-122"/>
                <a:ea typeface="微软雅黑" pitchFamily="34" charset="-122"/>
              </a:endParaRPr>
            </a:p>
          </p:txBody>
        </p:sp>
      </p:grpSp>
      <p:grpSp>
        <p:nvGrpSpPr>
          <p:cNvPr id="3" name="组合 2"/>
          <p:cNvGrpSpPr/>
          <p:nvPr/>
        </p:nvGrpSpPr>
        <p:grpSpPr>
          <a:xfrm>
            <a:off x="1374271" y="1800136"/>
            <a:ext cx="6248302" cy="2427741"/>
            <a:chOff x="1374271" y="1800136"/>
            <a:chExt cx="6248302" cy="2427741"/>
          </a:xfrm>
        </p:grpSpPr>
        <p:sp>
          <p:nvSpPr>
            <p:cNvPr id="61" name="Freeform 77"/>
            <p:cNvSpPr>
              <a:spLocks/>
            </p:cNvSpPr>
            <p:nvPr/>
          </p:nvSpPr>
          <p:spPr bwMode="auto">
            <a:xfrm>
              <a:off x="2967337" y="3546743"/>
              <a:ext cx="270768" cy="15207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2" name="Freeform 78"/>
            <p:cNvSpPr>
              <a:spLocks/>
            </p:cNvSpPr>
            <p:nvPr/>
          </p:nvSpPr>
          <p:spPr bwMode="auto">
            <a:xfrm>
              <a:off x="4740916" y="3545879"/>
              <a:ext cx="270767" cy="15207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3" name="Line 79"/>
            <p:cNvSpPr>
              <a:spLocks noChangeShapeType="1"/>
            </p:cNvSpPr>
            <p:nvPr/>
          </p:nvSpPr>
          <p:spPr bwMode="auto">
            <a:xfrm rot="16200000">
              <a:off x="6944576" y="3552568"/>
              <a:ext cx="290325" cy="2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4" name="Line 80"/>
            <p:cNvSpPr>
              <a:spLocks noChangeShapeType="1"/>
            </p:cNvSpPr>
            <p:nvPr/>
          </p:nvSpPr>
          <p:spPr bwMode="auto">
            <a:xfrm rot="16200000">
              <a:off x="1518361" y="3552568"/>
              <a:ext cx="290325" cy="2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5" name="AutoShape 81"/>
            <p:cNvSpPr>
              <a:spLocks noChangeArrowheads="1"/>
            </p:cNvSpPr>
            <p:nvPr/>
          </p:nvSpPr>
          <p:spPr bwMode="auto">
            <a:xfrm>
              <a:off x="1505848" y="2537517"/>
              <a:ext cx="469764" cy="1036876"/>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6" name="AutoShape 82"/>
            <p:cNvSpPr>
              <a:spLocks noChangeArrowheads="1"/>
            </p:cNvSpPr>
            <p:nvPr/>
          </p:nvSpPr>
          <p:spPr bwMode="auto">
            <a:xfrm>
              <a:off x="3176122" y="2578992"/>
              <a:ext cx="469764" cy="1036876"/>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7" name="AutoShape 83"/>
            <p:cNvSpPr>
              <a:spLocks noChangeArrowheads="1"/>
            </p:cNvSpPr>
            <p:nvPr/>
          </p:nvSpPr>
          <p:spPr bwMode="auto">
            <a:xfrm>
              <a:off x="6934237" y="2537517"/>
              <a:ext cx="469764" cy="1036876"/>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8" name="AutoShape 84"/>
            <p:cNvSpPr>
              <a:spLocks noChangeArrowheads="1"/>
            </p:cNvSpPr>
            <p:nvPr/>
          </p:nvSpPr>
          <p:spPr bwMode="auto">
            <a:xfrm>
              <a:off x="5001896" y="2703417"/>
              <a:ext cx="469764" cy="912451"/>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69" name="Group 85"/>
            <p:cNvGrpSpPr>
              <a:grpSpLocks/>
            </p:cNvGrpSpPr>
            <p:nvPr/>
          </p:nvGrpSpPr>
          <p:grpSpPr bwMode="auto">
            <a:xfrm>
              <a:off x="1374271" y="2055369"/>
              <a:ext cx="6248302" cy="1327202"/>
              <a:chOff x="96" y="1056"/>
              <a:chExt cx="5472" cy="1536"/>
            </a:xfrm>
            <a:solidFill>
              <a:srgbClr val="FFFF66"/>
            </a:solidFill>
          </p:grpSpPr>
          <p:sp>
            <p:nvSpPr>
              <p:cNvPr id="128" name="Oval 86"/>
              <p:cNvSpPr>
                <a:spLocks noChangeArrowheads="1"/>
              </p:cNvSpPr>
              <p:nvPr/>
            </p:nvSpPr>
            <p:spPr bwMode="auto">
              <a:xfrm>
                <a:off x="3662" y="1674"/>
                <a:ext cx="1906" cy="756"/>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29" name="Oval 87"/>
              <p:cNvSpPr>
                <a:spLocks noChangeArrowheads="1"/>
              </p:cNvSpPr>
              <p:nvPr/>
            </p:nvSpPr>
            <p:spPr bwMode="auto">
              <a:xfrm>
                <a:off x="96" y="1430"/>
                <a:ext cx="1870" cy="760"/>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0" name="Oval 88"/>
              <p:cNvSpPr>
                <a:spLocks noChangeArrowheads="1"/>
              </p:cNvSpPr>
              <p:nvPr/>
            </p:nvSpPr>
            <p:spPr bwMode="auto">
              <a:xfrm>
                <a:off x="3365" y="1163"/>
                <a:ext cx="1903" cy="73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1" name="Oval 89"/>
              <p:cNvSpPr>
                <a:spLocks noChangeArrowheads="1"/>
              </p:cNvSpPr>
              <p:nvPr/>
            </p:nvSpPr>
            <p:spPr bwMode="auto">
              <a:xfrm>
                <a:off x="2365" y="1821"/>
                <a:ext cx="1900" cy="77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2" name="Oval 90"/>
              <p:cNvSpPr>
                <a:spLocks noChangeArrowheads="1"/>
              </p:cNvSpPr>
              <p:nvPr/>
            </p:nvSpPr>
            <p:spPr bwMode="auto">
              <a:xfrm>
                <a:off x="729" y="1752"/>
                <a:ext cx="1900" cy="73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3" name="Oval 91"/>
              <p:cNvSpPr>
                <a:spLocks noChangeArrowheads="1"/>
              </p:cNvSpPr>
              <p:nvPr/>
            </p:nvSpPr>
            <p:spPr bwMode="auto">
              <a:xfrm>
                <a:off x="2197" y="1056"/>
                <a:ext cx="1870" cy="758"/>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4" name="Oval 92"/>
              <p:cNvSpPr>
                <a:spLocks noChangeArrowheads="1"/>
              </p:cNvSpPr>
              <p:nvPr/>
            </p:nvSpPr>
            <p:spPr bwMode="auto">
              <a:xfrm>
                <a:off x="996" y="1056"/>
                <a:ext cx="1867" cy="73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5" name="Oval 93"/>
              <p:cNvSpPr>
                <a:spLocks noChangeArrowheads="1"/>
              </p:cNvSpPr>
              <p:nvPr/>
            </p:nvSpPr>
            <p:spPr bwMode="auto">
              <a:xfrm>
                <a:off x="597" y="1226"/>
                <a:ext cx="4536" cy="1060"/>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CC"/>
                  </a:solidFill>
                  <a:latin typeface="微软雅黑" pitchFamily="34" charset="-122"/>
                  <a:ea typeface="微软雅黑" pitchFamily="34" charset="-122"/>
                </a:endParaRPr>
              </a:p>
            </p:txBody>
          </p:sp>
        </p:grpSp>
        <p:sp>
          <p:nvSpPr>
            <p:cNvPr id="70" name="Line 94"/>
            <p:cNvSpPr>
              <a:spLocks noChangeShapeType="1"/>
            </p:cNvSpPr>
            <p:nvPr/>
          </p:nvSpPr>
          <p:spPr bwMode="auto">
            <a:xfrm>
              <a:off x="1453652" y="3698819"/>
              <a:ext cx="1774666"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71" name="Group 95"/>
            <p:cNvGrpSpPr>
              <a:grpSpLocks/>
            </p:cNvGrpSpPr>
            <p:nvPr/>
          </p:nvGrpSpPr>
          <p:grpSpPr bwMode="auto">
            <a:xfrm>
              <a:off x="1505848" y="2055369"/>
              <a:ext cx="469764" cy="788026"/>
              <a:chOff x="672" y="528"/>
              <a:chExt cx="432" cy="912"/>
            </a:xfrm>
          </p:grpSpPr>
          <p:sp>
            <p:nvSpPr>
              <p:cNvPr id="125" name="AutoShape 96"/>
              <p:cNvSpPr>
                <a:spLocks noChangeArrowheads="1"/>
              </p:cNvSpPr>
              <p:nvPr/>
            </p:nvSpPr>
            <p:spPr bwMode="auto">
              <a:xfrm>
                <a:off x="672" y="100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6" name="AutoShape 97"/>
              <p:cNvSpPr>
                <a:spLocks noChangeArrowheads="1"/>
              </p:cNvSpPr>
              <p:nvPr/>
            </p:nvSpPr>
            <p:spPr bwMode="auto">
              <a:xfrm>
                <a:off x="672" y="720"/>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7" name="AutoShape 98"/>
              <p:cNvSpPr>
                <a:spLocks noChangeArrowheads="1"/>
              </p:cNvSpPr>
              <p:nvPr/>
            </p:nvSpPr>
            <p:spPr bwMode="auto">
              <a:xfrm>
                <a:off x="672" y="52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72" name="Text Box 99"/>
            <p:cNvSpPr txBox="1">
              <a:spLocks noChangeArrowheads="1"/>
            </p:cNvSpPr>
            <p:nvPr/>
          </p:nvSpPr>
          <p:spPr bwMode="auto">
            <a:xfrm>
              <a:off x="1530859" y="2604914"/>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itchFamily="34" charset="-122"/>
                  <a:ea typeface="微软雅黑" pitchFamily="34" charset="-122"/>
                </a:rPr>
                <a:t>IP</a:t>
              </a:r>
              <a:r>
                <a:rPr kumimoji="1" lang="en-US" altLang="zh-CN" sz="1100" b="1" baseline="-25000">
                  <a:latin typeface="微软雅黑" pitchFamily="34" charset="-122"/>
                  <a:ea typeface="微软雅黑" pitchFamily="34" charset="-122"/>
                </a:rPr>
                <a:t>1</a:t>
              </a:r>
              <a:endParaRPr kumimoji="1" lang="en-US" altLang="zh-CN" sz="1100" b="1">
                <a:latin typeface="微软雅黑" pitchFamily="34" charset="-122"/>
                <a:ea typeface="微软雅黑" pitchFamily="34" charset="-122"/>
              </a:endParaRPr>
            </a:p>
          </p:txBody>
        </p:sp>
        <p:sp>
          <p:nvSpPr>
            <p:cNvPr id="73" name="Text Box 100"/>
            <p:cNvSpPr txBox="1">
              <a:spLocks noChangeArrowheads="1"/>
            </p:cNvSpPr>
            <p:nvPr/>
          </p:nvSpPr>
          <p:spPr bwMode="auto">
            <a:xfrm>
              <a:off x="1428141" y="33411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74" name="Text Box 101"/>
            <p:cNvSpPr txBox="1">
              <a:spLocks noChangeArrowheads="1"/>
            </p:cNvSpPr>
            <p:nvPr/>
          </p:nvSpPr>
          <p:spPr bwMode="auto">
            <a:xfrm>
              <a:off x="4505146" y="3320437"/>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5</a:t>
              </a:r>
              <a:endParaRPr kumimoji="1" lang="en-US" altLang="zh-CN" sz="1100" b="1" dirty="0">
                <a:solidFill>
                  <a:srgbClr val="0000CC"/>
                </a:solidFill>
                <a:latin typeface="微软雅黑" pitchFamily="34" charset="-122"/>
                <a:ea typeface="微软雅黑" pitchFamily="34" charset="-122"/>
              </a:endParaRPr>
            </a:p>
          </p:txBody>
        </p:sp>
        <p:sp>
          <p:nvSpPr>
            <p:cNvPr id="75" name="Text Box 102"/>
            <p:cNvSpPr txBox="1">
              <a:spLocks noChangeArrowheads="1"/>
            </p:cNvSpPr>
            <p:nvPr/>
          </p:nvSpPr>
          <p:spPr bwMode="auto">
            <a:xfrm>
              <a:off x="3583222" y="3316982"/>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4</a:t>
              </a:r>
              <a:endParaRPr kumimoji="1" lang="en-US" altLang="zh-CN" sz="1100" b="1" dirty="0">
                <a:solidFill>
                  <a:srgbClr val="0000CC"/>
                </a:solidFill>
                <a:latin typeface="微软雅黑" pitchFamily="34" charset="-122"/>
                <a:ea typeface="微软雅黑" pitchFamily="34" charset="-122"/>
              </a:endParaRPr>
            </a:p>
          </p:txBody>
        </p:sp>
        <p:sp>
          <p:nvSpPr>
            <p:cNvPr id="76" name="Text Box 103"/>
            <p:cNvSpPr txBox="1">
              <a:spLocks noChangeArrowheads="1"/>
            </p:cNvSpPr>
            <p:nvPr/>
          </p:nvSpPr>
          <p:spPr bwMode="auto">
            <a:xfrm>
              <a:off x="2670598" y="3316982"/>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3</a:t>
              </a:r>
              <a:endParaRPr kumimoji="1" lang="en-US" altLang="zh-CN" sz="1100" b="1" dirty="0">
                <a:solidFill>
                  <a:srgbClr val="0000CC"/>
                </a:solidFill>
                <a:latin typeface="微软雅黑" pitchFamily="34" charset="-122"/>
                <a:ea typeface="微软雅黑" pitchFamily="34" charset="-122"/>
              </a:endParaRPr>
            </a:p>
          </p:txBody>
        </p:sp>
        <p:sp>
          <p:nvSpPr>
            <p:cNvPr id="77" name="Line 104"/>
            <p:cNvSpPr>
              <a:spLocks noChangeShapeType="1"/>
            </p:cNvSpPr>
            <p:nvPr/>
          </p:nvSpPr>
          <p:spPr bwMode="auto">
            <a:xfrm>
              <a:off x="1923416" y="2703417"/>
              <a:ext cx="1304901" cy="0"/>
            </a:xfrm>
            <a:prstGeom prst="line">
              <a:avLst/>
            </a:prstGeom>
            <a:noFill/>
            <a:ln w="28575">
              <a:solidFill>
                <a:srgbClr val="000099"/>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8" name="Line 105"/>
            <p:cNvSpPr>
              <a:spLocks noChangeShapeType="1"/>
            </p:cNvSpPr>
            <p:nvPr/>
          </p:nvSpPr>
          <p:spPr bwMode="auto">
            <a:xfrm>
              <a:off x="5420552" y="3698819"/>
              <a:ext cx="2035646"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9" name="Text Box 106"/>
            <p:cNvSpPr txBox="1">
              <a:spLocks noChangeArrowheads="1"/>
            </p:cNvSpPr>
            <p:nvPr/>
          </p:nvSpPr>
          <p:spPr bwMode="auto">
            <a:xfrm>
              <a:off x="5418783" y="331352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6</a:t>
              </a:r>
              <a:endParaRPr kumimoji="1" lang="en-US" altLang="zh-CN" sz="1100" b="1" dirty="0">
                <a:solidFill>
                  <a:srgbClr val="0000CC"/>
                </a:solidFill>
                <a:latin typeface="微软雅黑" pitchFamily="34" charset="-122"/>
                <a:ea typeface="微软雅黑" pitchFamily="34" charset="-122"/>
              </a:endParaRPr>
            </a:p>
          </p:txBody>
        </p:sp>
        <p:sp>
          <p:nvSpPr>
            <p:cNvPr id="80" name="Text Box 107"/>
            <p:cNvSpPr txBox="1">
              <a:spLocks noChangeArrowheads="1"/>
            </p:cNvSpPr>
            <p:nvPr/>
          </p:nvSpPr>
          <p:spPr bwMode="auto">
            <a:xfrm>
              <a:off x="6865082" y="332216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81" name="Text Box 108"/>
            <p:cNvSpPr txBox="1">
              <a:spLocks noChangeArrowheads="1"/>
            </p:cNvSpPr>
            <p:nvPr/>
          </p:nvSpPr>
          <p:spPr bwMode="auto">
            <a:xfrm>
              <a:off x="5391624" y="2756989"/>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IP</a:t>
              </a:r>
              <a:r>
                <a:rPr kumimoji="1" lang="en-US" altLang="zh-CN" sz="1100" b="1" baseline="-25000" dirty="0">
                  <a:solidFill>
                    <a:srgbClr val="0000CC"/>
                  </a:solidFill>
                  <a:latin typeface="微软雅黑" pitchFamily="34" charset="-122"/>
                  <a:ea typeface="微软雅黑" pitchFamily="34" charset="-122"/>
                </a:rPr>
                <a:t>6</a:t>
              </a:r>
              <a:endParaRPr kumimoji="1" lang="en-US" altLang="zh-CN" sz="1100" b="1" dirty="0">
                <a:solidFill>
                  <a:srgbClr val="0000CC"/>
                </a:solidFill>
                <a:latin typeface="微软雅黑" pitchFamily="34" charset="-122"/>
                <a:ea typeface="微软雅黑" pitchFamily="34" charset="-122"/>
              </a:endParaRPr>
            </a:p>
          </p:txBody>
        </p:sp>
        <p:sp>
          <p:nvSpPr>
            <p:cNvPr id="82" name="Text Box 109"/>
            <p:cNvSpPr txBox="1">
              <a:spLocks noChangeArrowheads="1"/>
            </p:cNvSpPr>
            <p:nvPr/>
          </p:nvSpPr>
          <p:spPr bwMode="auto">
            <a:xfrm>
              <a:off x="1423205" y="1813961"/>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83" name="Text Box 110"/>
            <p:cNvSpPr txBox="1">
              <a:spLocks noChangeArrowheads="1"/>
            </p:cNvSpPr>
            <p:nvPr/>
          </p:nvSpPr>
          <p:spPr bwMode="auto">
            <a:xfrm>
              <a:off x="6860648" y="1800136"/>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84" name="AutoShape 111"/>
            <p:cNvSpPr>
              <a:spLocks noChangeArrowheads="1"/>
            </p:cNvSpPr>
            <p:nvPr/>
          </p:nvSpPr>
          <p:spPr bwMode="auto">
            <a:xfrm>
              <a:off x="3176122" y="2511595"/>
              <a:ext cx="469764" cy="331800"/>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5" name="Text Box 112"/>
            <p:cNvSpPr txBox="1">
              <a:spLocks noChangeArrowheads="1"/>
            </p:cNvSpPr>
            <p:nvPr/>
          </p:nvSpPr>
          <p:spPr bwMode="auto">
            <a:xfrm>
              <a:off x="3114166" y="2264139"/>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86" name="Text Box 113"/>
            <p:cNvSpPr txBox="1">
              <a:spLocks noChangeArrowheads="1"/>
            </p:cNvSpPr>
            <p:nvPr/>
          </p:nvSpPr>
          <p:spPr bwMode="auto">
            <a:xfrm>
              <a:off x="4245130" y="2979997"/>
              <a:ext cx="1614545" cy="276999"/>
            </a:xfrm>
            <a:prstGeom prst="rect">
              <a:avLst/>
            </a:prstGeom>
            <a:solidFill>
              <a:srgbClr val="0000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dirty="0">
                  <a:solidFill>
                    <a:schemeClr val="bg1"/>
                  </a:solidFill>
                  <a:latin typeface="微软雅黑" pitchFamily="34" charset="-122"/>
                  <a:ea typeface="微软雅黑" pitchFamily="34" charset="-122"/>
                </a:rPr>
                <a:t>IP </a:t>
              </a:r>
              <a:r>
                <a:rPr kumimoji="1" lang="zh-CN" altLang="en-US" sz="1200" b="1" dirty="0">
                  <a:solidFill>
                    <a:schemeClr val="bg1"/>
                  </a:solidFill>
                  <a:latin typeface="微软雅黑" pitchFamily="34" charset="-122"/>
                  <a:ea typeface="微软雅黑" pitchFamily="34" charset="-122"/>
                </a:rPr>
                <a:t>层上的虚拟互联网</a:t>
              </a:r>
            </a:p>
          </p:txBody>
        </p:sp>
        <p:sp>
          <p:nvSpPr>
            <p:cNvPr id="87" name="Text Box 114"/>
            <p:cNvSpPr txBox="1">
              <a:spLocks noChangeArrowheads="1"/>
            </p:cNvSpPr>
            <p:nvPr/>
          </p:nvSpPr>
          <p:spPr bwMode="auto">
            <a:xfrm>
              <a:off x="1973491" y="3966267"/>
              <a:ext cx="71205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 </a:t>
              </a:r>
              <a:r>
                <a:rPr kumimoji="1" lang="zh-CN" altLang="en-US" sz="1100" b="1" dirty="0">
                  <a:latin typeface="微软雅黑" pitchFamily="34" charset="-122"/>
                  <a:ea typeface="微软雅黑" pitchFamily="34" charset="-122"/>
                </a:rPr>
                <a:t>帧</a:t>
              </a:r>
            </a:p>
          </p:txBody>
        </p:sp>
        <p:grpSp>
          <p:nvGrpSpPr>
            <p:cNvPr id="88" name="Group 115"/>
            <p:cNvGrpSpPr>
              <a:grpSpLocks/>
            </p:cNvGrpSpPr>
            <p:nvPr/>
          </p:nvGrpSpPr>
          <p:grpSpPr bwMode="auto">
            <a:xfrm>
              <a:off x="6934237" y="2055369"/>
              <a:ext cx="469764" cy="788026"/>
              <a:chOff x="672" y="528"/>
              <a:chExt cx="432" cy="912"/>
            </a:xfrm>
          </p:grpSpPr>
          <p:sp>
            <p:nvSpPr>
              <p:cNvPr id="122" name="AutoShape 116"/>
              <p:cNvSpPr>
                <a:spLocks noChangeArrowheads="1"/>
              </p:cNvSpPr>
              <p:nvPr/>
            </p:nvSpPr>
            <p:spPr bwMode="auto">
              <a:xfrm>
                <a:off x="672" y="100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3" name="AutoShape 117"/>
              <p:cNvSpPr>
                <a:spLocks noChangeArrowheads="1"/>
              </p:cNvSpPr>
              <p:nvPr/>
            </p:nvSpPr>
            <p:spPr bwMode="auto">
              <a:xfrm>
                <a:off x="672" y="720"/>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4" name="AutoShape 118"/>
              <p:cNvSpPr>
                <a:spLocks noChangeArrowheads="1"/>
              </p:cNvSpPr>
              <p:nvPr/>
            </p:nvSpPr>
            <p:spPr bwMode="auto">
              <a:xfrm>
                <a:off x="672" y="52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89" name="Text Box 119"/>
            <p:cNvSpPr txBox="1">
              <a:spLocks noChangeArrowheads="1"/>
            </p:cNvSpPr>
            <p:nvPr/>
          </p:nvSpPr>
          <p:spPr bwMode="auto">
            <a:xfrm>
              <a:off x="6967949" y="2607506"/>
              <a:ext cx="383438" cy="261610"/>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itchFamily="34" charset="-122"/>
                  <a:ea typeface="微软雅黑" pitchFamily="34" charset="-122"/>
                </a:rPr>
                <a:t>IP</a:t>
              </a:r>
              <a:r>
                <a:rPr kumimoji="1" lang="en-US" altLang="zh-CN" sz="1100" b="1" baseline="-25000">
                  <a:latin typeface="微软雅黑" pitchFamily="34" charset="-122"/>
                  <a:ea typeface="微软雅黑" pitchFamily="34" charset="-122"/>
                </a:rPr>
                <a:t>2</a:t>
              </a:r>
              <a:endParaRPr kumimoji="1" lang="en-US" altLang="zh-CN" sz="1100" b="1">
                <a:latin typeface="微软雅黑" pitchFamily="34" charset="-122"/>
                <a:ea typeface="微软雅黑" pitchFamily="34" charset="-122"/>
              </a:endParaRPr>
            </a:p>
          </p:txBody>
        </p:sp>
        <p:sp>
          <p:nvSpPr>
            <p:cNvPr id="90" name="Text Box 120"/>
            <p:cNvSpPr txBox="1">
              <a:spLocks noChangeArrowheads="1"/>
            </p:cNvSpPr>
            <p:nvPr/>
          </p:nvSpPr>
          <p:spPr bwMode="auto">
            <a:xfrm>
              <a:off x="3624138" y="2750077"/>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solidFill>
                    <a:srgbClr val="0000CC"/>
                  </a:solidFill>
                  <a:latin typeface="微软雅黑" pitchFamily="34" charset="-122"/>
                  <a:ea typeface="微软雅黑" pitchFamily="34" charset="-122"/>
                </a:rPr>
                <a:t>IP</a:t>
              </a:r>
              <a:r>
                <a:rPr kumimoji="1" lang="en-US" altLang="zh-CN" sz="1100" b="1" baseline="-25000">
                  <a:solidFill>
                    <a:srgbClr val="0000CC"/>
                  </a:solidFill>
                  <a:latin typeface="微软雅黑" pitchFamily="34" charset="-122"/>
                  <a:ea typeface="微软雅黑" pitchFamily="34" charset="-122"/>
                </a:rPr>
                <a:t>4</a:t>
              </a:r>
              <a:endParaRPr kumimoji="1" lang="en-US" altLang="zh-CN" sz="1100" b="1">
                <a:solidFill>
                  <a:srgbClr val="0000CC"/>
                </a:solidFill>
                <a:latin typeface="微软雅黑" pitchFamily="34" charset="-122"/>
                <a:ea typeface="微软雅黑" pitchFamily="34" charset="-122"/>
              </a:endParaRPr>
            </a:p>
          </p:txBody>
        </p:sp>
        <p:sp>
          <p:nvSpPr>
            <p:cNvPr id="91" name="Text Box 121"/>
            <p:cNvSpPr txBox="1">
              <a:spLocks noChangeArrowheads="1"/>
            </p:cNvSpPr>
            <p:nvPr/>
          </p:nvSpPr>
          <p:spPr bwMode="auto">
            <a:xfrm>
              <a:off x="2915141" y="2750077"/>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solidFill>
                    <a:srgbClr val="0000CC"/>
                  </a:solidFill>
                  <a:latin typeface="微软雅黑" pitchFamily="34" charset="-122"/>
                  <a:ea typeface="微软雅黑" pitchFamily="34" charset="-122"/>
                </a:rPr>
                <a:t>IP</a:t>
              </a:r>
              <a:r>
                <a:rPr kumimoji="1" lang="en-US" altLang="zh-CN" sz="1100" b="1" baseline="-25000">
                  <a:solidFill>
                    <a:srgbClr val="0000CC"/>
                  </a:solidFill>
                  <a:latin typeface="微软雅黑" pitchFamily="34" charset="-122"/>
                  <a:ea typeface="微软雅黑" pitchFamily="34" charset="-122"/>
                </a:rPr>
                <a:t>3</a:t>
              </a:r>
              <a:endParaRPr kumimoji="1" lang="en-US" altLang="zh-CN" sz="1100" b="1">
                <a:solidFill>
                  <a:srgbClr val="0000CC"/>
                </a:solidFill>
                <a:latin typeface="微软雅黑" pitchFamily="34" charset="-122"/>
                <a:ea typeface="微软雅黑" pitchFamily="34" charset="-122"/>
              </a:endParaRPr>
            </a:p>
          </p:txBody>
        </p:sp>
        <p:sp>
          <p:nvSpPr>
            <p:cNvPr id="92" name="Line 122"/>
            <p:cNvSpPr>
              <a:spLocks noChangeShapeType="1"/>
            </p:cNvSpPr>
            <p:nvPr/>
          </p:nvSpPr>
          <p:spPr bwMode="auto">
            <a:xfrm>
              <a:off x="3593690" y="2703417"/>
              <a:ext cx="1409293" cy="0"/>
            </a:xfrm>
            <a:prstGeom prst="line">
              <a:avLst/>
            </a:prstGeom>
            <a:noFill/>
            <a:ln w="28575">
              <a:solidFill>
                <a:srgbClr val="000099"/>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3" name="AutoShape 123"/>
            <p:cNvSpPr>
              <a:spLocks noChangeArrowheads="1"/>
            </p:cNvSpPr>
            <p:nvPr/>
          </p:nvSpPr>
          <p:spPr bwMode="auto">
            <a:xfrm>
              <a:off x="5001896" y="2496042"/>
              <a:ext cx="469764" cy="331800"/>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4" name="Line 124"/>
            <p:cNvSpPr>
              <a:spLocks noChangeShapeType="1"/>
            </p:cNvSpPr>
            <p:nvPr/>
          </p:nvSpPr>
          <p:spPr bwMode="auto">
            <a:xfrm>
              <a:off x="5420552" y="2703417"/>
              <a:ext cx="1513685" cy="0"/>
            </a:xfrm>
            <a:prstGeom prst="line">
              <a:avLst/>
            </a:prstGeom>
            <a:noFill/>
            <a:ln w="28575">
              <a:solidFill>
                <a:srgbClr val="000099"/>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5" name="Text Box 125"/>
            <p:cNvSpPr txBox="1">
              <a:spLocks noChangeArrowheads="1"/>
            </p:cNvSpPr>
            <p:nvPr/>
          </p:nvSpPr>
          <p:spPr bwMode="auto">
            <a:xfrm>
              <a:off x="4742004" y="2750077"/>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solidFill>
                    <a:srgbClr val="0000CC"/>
                  </a:solidFill>
                  <a:latin typeface="微软雅黑" pitchFamily="34" charset="-122"/>
                  <a:ea typeface="微软雅黑" pitchFamily="34" charset="-122"/>
                </a:rPr>
                <a:t>IP</a:t>
              </a:r>
              <a:r>
                <a:rPr kumimoji="1" lang="en-US" altLang="zh-CN" sz="1100" b="1" baseline="-25000">
                  <a:solidFill>
                    <a:srgbClr val="0000CC"/>
                  </a:solidFill>
                  <a:latin typeface="微软雅黑" pitchFamily="34" charset="-122"/>
                  <a:ea typeface="微软雅黑" pitchFamily="34" charset="-122"/>
                </a:rPr>
                <a:t>5</a:t>
              </a:r>
              <a:endParaRPr kumimoji="1" lang="en-US" altLang="zh-CN" sz="1100" b="1">
                <a:solidFill>
                  <a:srgbClr val="0000CC"/>
                </a:solidFill>
                <a:latin typeface="微软雅黑" pitchFamily="34" charset="-122"/>
                <a:ea typeface="微软雅黑" pitchFamily="34" charset="-122"/>
              </a:endParaRPr>
            </a:p>
          </p:txBody>
        </p:sp>
        <p:sp>
          <p:nvSpPr>
            <p:cNvPr id="96" name="Line 126"/>
            <p:cNvSpPr>
              <a:spLocks noChangeShapeType="1"/>
            </p:cNvSpPr>
            <p:nvPr/>
          </p:nvSpPr>
          <p:spPr bwMode="auto">
            <a:xfrm>
              <a:off x="3645886" y="3698819"/>
              <a:ext cx="1304901"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7" name="Freeform 127"/>
            <p:cNvSpPr>
              <a:spLocks/>
            </p:cNvSpPr>
            <p:nvPr/>
          </p:nvSpPr>
          <p:spPr bwMode="auto">
            <a:xfrm flipH="1">
              <a:off x="5405328" y="3544151"/>
              <a:ext cx="233795" cy="154668"/>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8" name="Freeform 128"/>
            <p:cNvSpPr>
              <a:spLocks/>
            </p:cNvSpPr>
            <p:nvPr/>
          </p:nvSpPr>
          <p:spPr bwMode="auto">
            <a:xfrm flipH="1">
              <a:off x="3564330" y="3547607"/>
              <a:ext cx="290340" cy="15207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9" name="Text Box 129"/>
            <p:cNvSpPr txBox="1">
              <a:spLocks noChangeArrowheads="1"/>
            </p:cNvSpPr>
            <p:nvPr/>
          </p:nvSpPr>
          <p:spPr bwMode="auto">
            <a:xfrm>
              <a:off x="4896444" y="2250313"/>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a:latin typeface="微软雅黑" pitchFamily="34" charset="-122"/>
                  <a:ea typeface="微软雅黑" pitchFamily="34" charset="-122"/>
                </a:rPr>
                <a:t>路由器 </a:t>
              </a:r>
              <a:r>
                <a:rPr kumimoji="1" lang="en-US" altLang="zh-CN" sz="1100" b="1">
                  <a:latin typeface="微软雅黑" pitchFamily="34" charset="-122"/>
                  <a:ea typeface="微软雅黑" pitchFamily="34" charset="-122"/>
                </a:rPr>
                <a:t>R</a:t>
              </a:r>
              <a:r>
                <a:rPr kumimoji="1" lang="en-US" altLang="zh-CN" sz="1100" b="1" baseline="-25000">
                  <a:latin typeface="微软雅黑" pitchFamily="34" charset="-122"/>
                  <a:ea typeface="微软雅黑" pitchFamily="34" charset="-122"/>
                </a:rPr>
                <a:t>2</a:t>
              </a:r>
              <a:endParaRPr kumimoji="1" lang="en-US" altLang="zh-CN" sz="1100" b="1">
                <a:latin typeface="微软雅黑" pitchFamily="34" charset="-122"/>
                <a:ea typeface="微软雅黑" pitchFamily="34" charset="-122"/>
              </a:endParaRPr>
            </a:p>
          </p:txBody>
        </p:sp>
        <p:sp>
          <p:nvSpPr>
            <p:cNvPr id="106" name="Text Box 148"/>
            <p:cNvSpPr txBox="1">
              <a:spLocks noChangeArrowheads="1"/>
            </p:cNvSpPr>
            <p:nvPr/>
          </p:nvSpPr>
          <p:spPr bwMode="auto">
            <a:xfrm>
              <a:off x="5956374" y="3966267"/>
              <a:ext cx="71205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 </a:t>
              </a:r>
              <a:r>
                <a:rPr kumimoji="1" lang="zh-CN" altLang="en-US" sz="1100" b="1" dirty="0">
                  <a:latin typeface="微软雅黑" pitchFamily="34" charset="-122"/>
                  <a:ea typeface="微软雅黑" pitchFamily="34" charset="-122"/>
                </a:rPr>
                <a:t>帧</a:t>
              </a:r>
            </a:p>
          </p:txBody>
        </p:sp>
        <p:sp>
          <p:nvSpPr>
            <p:cNvPr id="107" name="Text Box 149"/>
            <p:cNvSpPr txBox="1">
              <a:spLocks noChangeArrowheads="1"/>
            </p:cNvSpPr>
            <p:nvPr/>
          </p:nvSpPr>
          <p:spPr bwMode="auto">
            <a:xfrm>
              <a:off x="3973658" y="3966267"/>
              <a:ext cx="71205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 </a:t>
              </a:r>
              <a:r>
                <a:rPr kumimoji="1" lang="zh-CN" altLang="en-US" sz="1100" b="1" dirty="0">
                  <a:latin typeface="微软雅黑" pitchFamily="34" charset="-122"/>
                  <a:ea typeface="微软雅黑" pitchFamily="34" charset="-122"/>
                </a:rPr>
                <a:t>帧</a:t>
              </a:r>
            </a:p>
          </p:txBody>
        </p:sp>
        <p:grpSp>
          <p:nvGrpSpPr>
            <p:cNvPr id="177" name="Group 224"/>
            <p:cNvGrpSpPr>
              <a:grpSpLocks/>
            </p:cNvGrpSpPr>
            <p:nvPr/>
          </p:nvGrpSpPr>
          <p:grpSpPr bwMode="auto">
            <a:xfrm>
              <a:off x="2132745" y="2423009"/>
              <a:ext cx="959442" cy="261275"/>
              <a:chOff x="870" y="693"/>
              <a:chExt cx="761" cy="306"/>
            </a:xfrm>
            <a:solidFill>
              <a:srgbClr val="66FF99"/>
            </a:solidFill>
          </p:grpSpPr>
          <p:sp>
            <p:nvSpPr>
              <p:cNvPr id="178" name="AutoShape 193"/>
              <p:cNvSpPr>
                <a:spLocks noChangeArrowheads="1"/>
              </p:cNvSpPr>
              <p:nvPr/>
            </p:nvSpPr>
            <p:spPr bwMode="auto">
              <a:xfrm>
                <a:off x="1467" y="777"/>
                <a:ext cx="164" cy="150"/>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79" name="Rectangle 190"/>
              <p:cNvSpPr>
                <a:spLocks noChangeArrowheads="1"/>
              </p:cNvSpPr>
              <p:nvPr/>
            </p:nvSpPr>
            <p:spPr bwMode="auto">
              <a:xfrm>
                <a:off x="870" y="720"/>
                <a:ext cx="643" cy="252"/>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a:latin typeface="微软雅黑" panose="020B0503020204020204" pitchFamily="34" charset="-122"/>
                  <a:ea typeface="微软雅黑" panose="020B0503020204020204" pitchFamily="34" charset="-122"/>
                </a:endParaRPr>
              </a:p>
            </p:txBody>
          </p:sp>
          <p:sp>
            <p:nvSpPr>
              <p:cNvPr id="180" name="Text Box 219"/>
              <p:cNvSpPr txBox="1">
                <a:spLocks noChangeArrowheads="1"/>
              </p:cNvSpPr>
              <p:nvPr/>
            </p:nvSpPr>
            <p:spPr bwMode="auto">
              <a:xfrm>
                <a:off x="1087" y="693"/>
                <a:ext cx="495" cy="30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en-US" altLang="zh-CN" sz="1100" b="1" baseline="-25000" dirty="0">
                    <a:latin typeface="微软雅黑" panose="020B0503020204020204" pitchFamily="34" charset="-122"/>
                    <a:ea typeface="微软雅黑" panose="020B0503020204020204" pitchFamily="34" charset="-122"/>
                  </a:rPr>
                  <a:t>1</a:t>
                </a:r>
                <a:r>
                  <a:rPr lang="en-US" altLang="zh-CN" sz="1100" b="1" dirty="0">
                    <a:latin typeface="微软雅黑" panose="020B0503020204020204" pitchFamily="34" charset="-122"/>
                    <a:ea typeface="微软雅黑" panose="020B0503020204020204" pitchFamily="34" charset="-122"/>
                  </a:rPr>
                  <a:t> IP</a:t>
                </a:r>
                <a:r>
                  <a:rPr lang="en-US" altLang="zh-CN" sz="1100" b="1" baseline="-25000" dirty="0">
                    <a:latin typeface="微软雅黑" panose="020B0503020204020204" pitchFamily="34" charset="-122"/>
                    <a:ea typeface="微软雅黑" panose="020B0503020204020204" pitchFamily="34" charset="-122"/>
                  </a:rPr>
                  <a:t>2</a:t>
                </a:r>
              </a:p>
            </p:txBody>
          </p:sp>
          <p:sp>
            <p:nvSpPr>
              <p:cNvPr id="181" name="Line 221"/>
              <p:cNvSpPr>
                <a:spLocks noChangeShapeType="1"/>
              </p:cNvSpPr>
              <p:nvPr/>
            </p:nvSpPr>
            <p:spPr bwMode="auto">
              <a:xfrm>
                <a:off x="1323" y="720"/>
                <a:ext cx="0" cy="240"/>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2" name="Line 222"/>
              <p:cNvSpPr>
                <a:spLocks noChangeShapeType="1"/>
              </p:cNvSpPr>
              <p:nvPr/>
            </p:nvSpPr>
            <p:spPr bwMode="auto">
              <a:xfrm>
                <a:off x="1143" y="717"/>
                <a:ext cx="0" cy="243"/>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183" name="Group 224"/>
            <p:cNvGrpSpPr>
              <a:grpSpLocks/>
            </p:cNvGrpSpPr>
            <p:nvPr/>
          </p:nvGrpSpPr>
          <p:grpSpPr bwMode="auto">
            <a:xfrm>
              <a:off x="3876651" y="2423009"/>
              <a:ext cx="959442" cy="261275"/>
              <a:chOff x="870" y="693"/>
              <a:chExt cx="761" cy="306"/>
            </a:xfrm>
            <a:solidFill>
              <a:srgbClr val="66FF99"/>
            </a:solidFill>
          </p:grpSpPr>
          <p:sp>
            <p:nvSpPr>
              <p:cNvPr id="184" name="AutoShape 193"/>
              <p:cNvSpPr>
                <a:spLocks noChangeArrowheads="1"/>
              </p:cNvSpPr>
              <p:nvPr/>
            </p:nvSpPr>
            <p:spPr bwMode="auto">
              <a:xfrm>
                <a:off x="1467" y="777"/>
                <a:ext cx="164" cy="150"/>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85" name="Rectangle 190"/>
              <p:cNvSpPr>
                <a:spLocks noChangeArrowheads="1"/>
              </p:cNvSpPr>
              <p:nvPr/>
            </p:nvSpPr>
            <p:spPr bwMode="auto">
              <a:xfrm>
                <a:off x="870" y="720"/>
                <a:ext cx="643" cy="252"/>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a:latin typeface="微软雅黑" panose="020B0503020204020204" pitchFamily="34" charset="-122"/>
                  <a:ea typeface="微软雅黑" panose="020B0503020204020204" pitchFamily="34" charset="-122"/>
                </a:endParaRPr>
              </a:p>
            </p:txBody>
          </p:sp>
          <p:sp>
            <p:nvSpPr>
              <p:cNvPr id="186" name="Text Box 219"/>
              <p:cNvSpPr txBox="1">
                <a:spLocks noChangeArrowheads="1"/>
              </p:cNvSpPr>
              <p:nvPr/>
            </p:nvSpPr>
            <p:spPr bwMode="auto">
              <a:xfrm>
                <a:off x="1087" y="693"/>
                <a:ext cx="495" cy="30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en-US" altLang="zh-CN" sz="1100" b="1" baseline="-25000" dirty="0">
                    <a:latin typeface="微软雅黑" panose="020B0503020204020204" pitchFamily="34" charset="-122"/>
                    <a:ea typeface="微软雅黑" panose="020B0503020204020204" pitchFamily="34" charset="-122"/>
                  </a:rPr>
                  <a:t>1</a:t>
                </a:r>
                <a:r>
                  <a:rPr lang="en-US" altLang="zh-CN" sz="1100" b="1" dirty="0">
                    <a:latin typeface="微软雅黑" panose="020B0503020204020204" pitchFamily="34" charset="-122"/>
                    <a:ea typeface="微软雅黑" panose="020B0503020204020204" pitchFamily="34" charset="-122"/>
                  </a:rPr>
                  <a:t> IP</a:t>
                </a:r>
                <a:r>
                  <a:rPr lang="en-US" altLang="zh-CN" sz="1100" b="1" baseline="-25000" dirty="0">
                    <a:latin typeface="微软雅黑" panose="020B0503020204020204" pitchFamily="34" charset="-122"/>
                    <a:ea typeface="微软雅黑" panose="020B0503020204020204" pitchFamily="34" charset="-122"/>
                  </a:rPr>
                  <a:t>2</a:t>
                </a:r>
              </a:p>
            </p:txBody>
          </p:sp>
          <p:sp>
            <p:nvSpPr>
              <p:cNvPr id="187" name="Line 221"/>
              <p:cNvSpPr>
                <a:spLocks noChangeShapeType="1"/>
              </p:cNvSpPr>
              <p:nvPr/>
            </p:nvSpPr>
            <p:spPr bwMode="auto">
              <a:xfrm>
                <a:off x="1323" y="720"/>
                <a:ext cx="0" cy="240"/>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8" name="Line 222"/>
              <p:cNvSpPr>
                <a:spLocks noChangeShapeType="1"/>
              </p:cNvSpPr>
              <p:nvPr/>
            </p:nvSpPr>
            <p:spPr bwMode="auto">
              <a:xfrm>
                <a:off x="1143" y="717"/>
                <a:ext cx="0" cy="243"/>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189" name="Group 224"/>
            <p:cNvGrpSpPr>
              <a:grpSpLocks/>
            </p:cNvGrpSpPr>
            <p:nvPr/>
          </p:nvGrpSpPr>
          <p:grpSpPr bwMode="auto">
            <a:xfrm>
              <a:off x="5731087" y="2423009"/>
              <a:ext cx="959442" cy="261275"/>
              <a:chOff x="870" y="693"/>
              <a:chExt cx="761" cy="306"/>
            </a:xfrm>
            <a:solidFill>
              <a:srgbClr val="66FF99"/>
            </a:solidFill>
          </p:grpSpPr>
          <p:sp>
            <p:nvSpPr>
              <p:cNvPr id="190" name="AutoShape 193"/>
              <p:cNvSpPr>
                <a:spLocks noChangeArrowheads="1"/>
              </p:cNvSpPr>
              <p:nvPr/>
            </p:nvSpPr>
            <p:spPr bwMode="auto">
              <a:xfrm>
                <a:off x="1467" y="777"/>
                <a:ext cx="164" cy="150"/>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91" name="Rectangle 190"/>
              <p:cNvSpPr>
                <a:spLocks noChangeArrowheads="1"/>
              </p:cNvSpPr>
              <p:nvPr/>
            </p:nvSpPr>
            <p:spPr bwMode="auto">
              <a:xfrm>
                <a:off x="870" y="720"/>
                <a:ext cx="643" cy="252"/>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a:latin typeface="微软雅黑" panose="020B0503020204020204" pitchFamily="34" charset="-122"/>
                  <a:ea typeface="微软雅黑" panose="020B0503020204020204" pitchFamily="34" charset="-122"/>
                </a:endParaRPr>
              </a:p>
            </p:txBody>
          </p:sp>
          <p:sp>
            <p:nvSpPr>
              <p:cNvPr id="192" name="Text Box 219"/>
              <p:cNvSpPr txBox="1">
                <a:spLocks noChangeArrowheads="1"/>
              </p:cNvSpPr>
              <p:nvPr/>
            </p:nvSpPr>
            <p:spPr bwMode="auto">
              <a:xfrm>
                <a:off x="1087" y="693"/>
                <a:ext cx="495" cy="30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en-US" altLang="zh-CN" sz="1100" b="1" baseline="-25000" dirty="0">
                    <a:latin typeface="微软雅黑" panose="020B0503020204020204" pitchFamily="34" charset="-122"/>
                    <a:ea typeface="微软雅黑" panose="020B0503020204020204" pitchFamily="34" charset="-122"/>
                  </a:rPr>
                  <a:t>1</a:t>
                </a:r>
                <a:r>
                  <a:rPr lang="en-US" altLang="zh-CN" sz="1100" b="1" dirty="0">
                    <a:latin typeface="微软雅黑" panose="020B0503020204020204" pitchFamily="34" charset="-122"/>
                    <a:ea typeface="微软雅黑" panose="020B0503020204020204" pitchFamily="34" charset="-122"/>
                  </a:rPr>
                  <a:t> IP</a:t>
                </a:r>
                <a:r>
                  <a:rPr lang="en-US" altLang="zh-CN" sz="1100" b="1" baseline="-25000" dirty="0">
                    <a:latin typeface="微软雅黑" panose="020B0503020204020204" pitchFamily="34" charset="-122"/>
                    <a:ea typeface="微软雅黑" panose="020B0503020204020204" pitchFamily="34" charset="-122"/>
                  </a:rPr>
                  <a:t>2</a:t>
                </a:r>
              </a:p>
            </p:txBody>
          </p:sp>
          <p:sp>
            <p:nvSpPr>
              <p:cNvPr id="193" name="Line 221"/>
              <p:cNvSpPr>
                <a:spLocks noChangeShapeType="1"/>
              </p:cNvSpPr>
              <p:nvPr/>
            </p:nvSpPr>
            <p:spPr bwMode="auto">
              <a:xfrm>
                <a:off x="1323" y="720"/>
                <a:ext cx="0" cy="240"/>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2"/>
              <p:cNvSpPr>
                <a:spLocks noChangeShapeType="1"/>
              </p:cNvSpPr>
              <p:nvPr/>
            </p:nvSpPr>
            <p:spPr bwMode="auto">
              <a:xfrm>
                <a:off x="1143" y="717"/>
                <a:ext cx="0" cy="243"/>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195" name="组合 103"/>
            <p:cNvGrpSpPr>
              <a:grpSpLocks/>
            </p:cNvGrpSpPr>
            <p:nvPr/>
          </p:nvGrpSpPr>
          <p:grpSpPr bwMode="auto">
            <a:xfrm>
              <a:off x="1682148" y="3763461"/>
              <a:ext cx="1125387" cy="216189"/>
              <a:chOff x="179512" y="3575494"/>
              <a:chExt cx="2341732" cy="386906"/>
            </a:xfrm>
            <a:solidFill>
              <a:srgbClr val="00FFFF"/>
            </a:solidFill>
          </p:grpSpPr>
          <p:grpSp>
            <p:nvGrpSpPr>
              <p:cNvPr id="196" name="Group 204"/>
              <p:cNvGrpSpPr>
                <a:grpSpLocks/>
              </p:cNvGrpSpPr>
              <p:nvPr/>
            </p:nvGrpSpPr>
            <p:grpSpPr bwMode="auto">
              <a:xfrm>
                <a:off x="179512" y="3581400"/>
                <a:ext cx="2341732" cy="381000"/>
                <a:chOff x="480" y="3120"/>
                <a:chExt cx="1212" cy="240"/>
              </a:xfrm>
              <a:grpFill/>
            </p:grpSpPr>
            <p:sp>
              <p:nvSpPr>
                <p:cNvPr id="200" name="AutoShape 203"/>
                <p:cNvSpPr>
                  <a:spLocks noChangeArrowheads="1"/>
                </p:cNvSpPr>
                <p:nvPr/>
              </p:nvSpPr>
              <p:spPr bwMode="auto">
                <a:xfrm>
                  <a:off x="1500" y="3168"/>
                  <a:ext cx="192" cy="144"/>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01" name="Rectangle 202"/>
                <p:cNvSpPr>
                  <a:spLocks noChangeArrowheads="1"/>
                </p:cNvSpPr>
                <p:nvPr/>
              </p:nvSpPr>
              <p:spPr bwMode="auto">
                <a:xfrm>
                  <a:off x="480" y="3120"/>
                  <a:ext cx="1056" cy="240"/>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900" b="1" baseline="-25000">
                    <a:latin typeface="微软雅黑" panose="020B0503020204020204" pitchFamily="34" charset="-122"/>
                    <a:ea typeface="微软雅黑" panose="020B0503020204020204" pitchFamily="34" charset="-122"/>
                  </a:endParaRPr>
                </a:p>
              </p:txBody>
            </p:sp>
          </p:grpSp>
          <p:sp>
            <p:nvSpPr>
              <p:cNvPr id="197" name="Rectangle 220"/>
              <p:cNvSpPr>
                <a:spLocks noChangeArrowheads="1"/>
              </p:cNvSpPr>
              <p:nvPr/>
            </p:nvSpPr>
            <p:spPr bwMode="auto">
              <a:xfrm>
                <a:off x="716210" y="3580859"/>
                <a:ext cx="1683115" cy="381000"/>
              </a:xfrm>
              <a:prstGeom prst="rect">
                <a:avLst/>
              </a:prstGeom>
              <a:no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r>
                  <a:rPr lang="en-US" altLang="zh-CN" sz="900" b="1" dirty="0">
                    <a:latin typeface="微软雅黑" panose="020B0503020204020204" pitchFamily="34" charset="-122"/>
                    <a:ea typeface="微软雅黑" panose="020B0503020204020204" pitchFamily="34" charset="-122"/>
                  </a:rPr>
                  <a:t>MAC</a:t>
                </a:r>
                <a:r>
                  <a:rPr lang="en-US" altLang="zh-CN" sz="900" b="1" baseline="-25000" dirty="0">
                    <a:latin typeface="微软雅黑" panose="020B0503020204020204" pitchFamily="34" charset="-122"/>
                    <a:ea typeface="微软雅黑" panose="020B0503020204020204" pitchFamily="34" charset="-122"/>
                  </a:rPr>
                  <a:t>1</a:t>
                </a:r>
                <a:r>
                  <a:rPr lang="en-US" altLang="zh-CN" sz="900" b="1" dirty="0">
                    <a:latin typeface="微软雅黑" panose="020B0503020204020204" pitchFamily="34" charset="-122"/>
                    <a:ea typeface="微软雅黑" panose="020B0503020204020204" pitchFamily="34" charset="-122"/>
                  </a:rPr>
                  <a:t> MAC</a:t>
                </a:r>
                <a:r>
                  <a:rPr lang="en-US" altLang="zh-CN" sz="900" b="1" baseline="-25000" dirty="0">
                    <a:latin typeface="微软雅黑" panose="020B0503020204020204" pitchFamily="34" charset="-122"/>
                    <a:ea typeface="微软雅黑" panose="020B0503020204020204" pitchFamily="34" charset="-122"/>
                  </a:rPr>
                  <a:t>3</a:t>
                </a:r>
              </a:p>
            </p:txBody>
          </p:sp>
          <p:sp>
            <p:nvSpPr>
              <p:cNvPr id="198" name="Line 237"/>
              <p:cNvSpPr>
                <a:spLocks noChangeShapeType="1"/>
              </p:cNvSpPr>
              <p:nvPr/>
            </p:nvSpPr>
            <p:spPr bwMode="auto">
              <a:xfrm>
                <a:off x="1497867" y="3575494"/>
                <a:ext cx="0" cy="38636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199" name="Line 238"/>
              <p:cNvSpPr>
                <a:spLocks noChangeShapeType="1"/>
              </p:cNvSpPr>
              <p:nvPr/>
            </p:nvSpPr>
            <p:spPr bwMode="auto">
              <a:xfrm>
                <a:off x="738473" y="3581400"/>
                <a:ext cx="0" cy="37147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grpSp>
        <p:grpSp>
          <p:nvGrpSpPr>
            <p:cNvPr id="202" name="组合 103"/>
            <p:cNvGrpSpPr>
              <a:grpSpLocks/>
            </p:cNvGrpSpPr>
            <p:nvPr/>
          </p:nvGrpSpPr>
          <p:grpSpPr bwMode="auto">
            <a:xfrm>
              <a:off x="3709500" y="3763461"/>
              <a:ext cx="1125387" cy="216189"/>
              <a:chOff x="179512" y="3575494"/>
              <a:chExt cx="2341732" cy="386906"/>
            </a:xfrm>
            <a:solidFill>
              <a:srgbClr val="00FFFF"/>
            </a:solidFill>
          </p:grpSpPr>
          <p:grpSp>
            <p:nvGrpSpPr>
              <p:cNvPr id="203" name="Group 204"/>
              <p:cNvGrpSpPr>
                <a:grpSpLocks/>
              </p:cNvGrpSpPr>
              <p:nvPr/>
            </p:nvGrpSpPr>
            <p:grpSpPr bwMode="auto">
              <a:xfrm>
                <a:off x="179512" y="3581400"/>
                <a:ext cx="2341732" cy="381000"/>
                <a:chOff x="480" y="3120"/>
                <a:chExt cx="1212" cy="240"/>
              </a:xfrm>
              <a:grpFill/>
            </p:grpSpPr>
            <p:sp>
              <p:nvSpPr>
                <p:cNvPr id="207" name="AutoShape 203"/>
                <p:cNvSpPr>
                  <a:spLocks noChangeArrowheads="1"/>
                </p:cNvSpPr>
                <p:nvPr/>
              </p:nvSpPr>
              <p:spPr bwMode="auto">
                <a:xfrm>
                  <a:off x="1500" y="3168"/>
                  <a:ext cx="192" cy="144"/>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08" name="Rectangle 202"/>
                <p:cNvSpPr>
                  <a:spLocks noChangeArrowheads="1"/>
                </p:cNvSpPr>
                <p:nvPr/>
              </p:nvSpPr>
              <p:spPr bwMode="auto">
                <a:xfrm>
                  <a:off x="480" y="3120"/>
                  <a:ext cx="1056" cy="240"/>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900" b="1" baseline="-25000">
                    <a:latin typeface="微软雅黑" panose="020B0503020204020204" pitchFamily="34" charset="-122"/>
                    <a:ea typeface="微软雅黑" panose="020B0503020204020204" pitchFamily="34" charset="-122"/>
                  </a:endParaRPr>
                </a:p>
              </p:txBody>
            </p:sp>
          </p:grpSp>
          <p:sp>
            <p:nvSpPr>
              <p:cNvPr id="204" name="Rectangle 220"/>
              <p:cNvSpPr>
                <a:spLocks noChangeArrowheads="1"/>
              </p:cNvSpPr>
              <p:nvPr/>
            </p:nvSpPr>
            <p:spPr bwMode="auto">
              <a:xfrm>
                <a:off x="716210" y="3580859"/>
                <a:ext cx="1683115" cy="381000"/>
              </a:xfrm>
              <a:prstGeom prst="rect">
                <a:avLst/>
              </a:prstGeom>
              <a:no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r>
                  <a:rPr lang="en-US" altLang="zh-CN" sz="900" b="1" dirty="0">
                    <a:latin typeface="微软雅黑" panose="020B0503020204020204" pitchFamily="34" charset="-122"/>
                    <a:ea typeface="微软雅黑" panose="020B0503020204020204" pitchFamily="34" charset="-122"/>
                  </a:rPr>
                  <a:t>MAC</a:t>
                </a:r>
                <a:r>
                  <a:rPr lang="en-US" altLang="zh-CN" sz="900" b="1" baseline="-25000" dirty="0">
                    <a:latin typeface="微软雅黑" panose="020B0503020204020204" pitchFamily="34" charset="-122"/>
                    <a:ea typeface="微软雅黑" panose="020B0503020204020204" pitchFamily="34" charset="-122"/>
                  </a:rPr>
                  <a:t>4</a:t>
                </a:r>
                <a:r>
                  <a:rPr lang="en-US" altLang="zh-CN" sz="900" b="1" dirty="0">
                    <a:latin typeface="微软雅黑" panose="020B0503020204020204" pitchFamily="34" charset="-122"/>
                    <a:ea typeface="微软雅黑" panose="020B0503020204020204" pitchFamily="34" charset="-122"/>
                  </a:rPr>
                  <a:t> MAC</a:t>
                </a:r>
                <a:r>
                  <a:rPr lang="en-US" altLang="zh-CN" sz="900" b="1" baseline="-25000" dirty="0">
                    <a:latin typeface="微软雅黑" panose="020B0503020204020204" pitchFamily="34" charset="-122"/>
                    <a:ea typeface="微软雅黑" panose="020B0503020204020204" pitchFamily="34" charset="-122"/>
                  </a:rPr>
                  <a:t>5</a:t>
                </a:r>
              </a:p>
            </p:txBody>
          </p:sp>
          <p:sp>
            <p:nvSpPr>
              <p:cNvPr id="205" name="Line 237"/>
              <p:cNvSpPr>
                <a:spLocks noChangeShapeType="1"/>
              </p:cNvSpPr>
              <p:nvPr/>
            </p:nvSpPr>
            <p:spPr bwMode="auto">
              <a:xfrm>
                <a:off x="1497867" y="3575494"/>
                <a:ext cx="0" cy="38636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06" name="Line 238"/>
              <p:cNvSpPr>
                <a:spLocks noChangeShapeType="1"/>
              </p:cNvSpPr>
              <p:nvPr/>
            </p:nvSpPr>
            <p:spPr bwMode="auto">
              <a:xfrm>
                <a:off x="738473" y="3581400"/>
                <a:ext cx="0" cy="37147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grpSp>
        <p:grpSp>
          <p:nvGrpSpPr>
            <p:cNvPr id="209" name="组合 103"/>
            <p:cNvGrpSpPr>
              <a:grpSpLocks/>
            </p:cNvGrpSpPr>
            <p:nvPr/>
          </p:nvGrpSpPr>
          <p:grpSpPr bwMode="auto">
            <a:xfrm>
              <a:off x="5735977" y="3763461"/>
              <a:ext cx="1125387" cy="216189"/>
              <a:chOff x="179512" y="3575494"/>
              <a:chExt cx="2341732" cy="386906"/>
            </a:xfrm>
            <a:solidFill>
              <a:srgbClr val="00FFFF"/>
            </a:solidFill>
          </p:grpSpPr>
          <p:grpSp>
            <p:nvGrpSpPr>
              <p:cNvPr id="210" name="Group 204"/>
              <p:cNvGrpSpPr>
                <a:grpSpLocks/>
              </p:cNvGrpSpPr>
              <p:nvPr/>
            </p:nvGrpSpPr>
            <p:grpSpPr bwMode="auto">
              <a:xfrm>
                <a:off x="179512" y="3581400"/>
                <a:ext cx="2341732" cy="381000"/>
                <a:chOff x="480" y="3120"/>
                <a:chExt cx="1212" cy="240"/>
              </a:xfrm>
              <a:grpFill/>
            </p:grpSpPr>
            <p:sp>
              <p:nvSpPr>
                <p:cNvPr id="214" name="AutoShape 203"/>
                <p:cNvSpPr>
                  <a:spLocks noChangeArrowheads="1"/>
                </p:cNvSpPr>
                <p:nvPr/>
              </p:nvSpPr>
              <p:spPr bwMode="auto">
                <a:xfrm>
                  <a:off x="1500" y="3168"/>
                  <a:ext cx="192" cy="144"/>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15" name="Rectangle 202"/>
                <p:cNvSpPr>
                  <a:spLocks noChangeArrowheads="1"/>
                </p:cNvSpPr>
                <p:nvPr/>
              </p:nvSpPr>
              <p:spPr bwMode="auto">
                <a:xfrm>
                  <a:off x="480" y="3120"/>
                  <a:ext cx="1056" cy="240"/>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900" b="1" baseline="-25000">
                    <a:latin typeface="微软雅黑" panose="020B0503020204020204" pitchFamily="34" charset="-122"/>
                    <a:ea typeface="微软雅黑" panose="020B0503020204020204" pitchFamily="34" charset="-122"/>
                  </a:endParaRPr>
                </a:p>
              </p:txBody>
            </p:sp>
          </p:grpSp>
          <p:sp>
            <p:nvSpPr>
              <p:cNvPr id="211" name="Rectangle 220"/>
              <p:cNvSpPr>
                <a:spLocks noChangeArrowheads="1"/>
              </p:cNvSpPr>
              <p:nvPr/>
            </p:nvSpPr>
            <p:spPr bwMode="auto">
              <a:xfrm>
                <a:off x="716210" y="3580859"/>
                <a:ext cx="1683115" cy="381000"/>
              </a:xfrm>
              <a:prstGeom prst="rect">
                <a:avLst/>
              </a:prstGeom>
              <a:no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r>
                  <a:rPr lang="en-US" altLang="zh-CN" sz="900" b="1" dirty="0">
                    <a:latin typeface="微软雅黑" panose="020B0503020204020204" pitchFamily="34" charset="-122"/>
                    <a:ea typeface="微软雅黑" panose="020B0503020204020204" pitchFamily="34" charset="-122"/>
                  </a:rPr>
                  <a:t>MAC</a:t>
                </a:r>
                <a:r>
                  <a:rPr lang="en-US" altLang="zh-CN" sz="900" b="1" baseline="-25000" dirty="0">
                    <a:latin typeface="微软雅黑" panose="020B0503020204020204" pitchFamily="34" charset="-122"/>
                    <a:ea typeface="微软雅黑" panose="020B0503020204020204" pitchFamily="34" charset="-122"/>
                  </a:rPr>
                  <a:t>6</a:t>
                </a:r>
                <a:r>
                  <a:rPr lang="en-US" altLang="zh-CN" sz="900" b="1" dirty="0">
                    <a:latin typeface="微软雅黑" panose="020B0503020204020204" pitchFamily="34" charset="-122"/>
                    <a:ea typeface="微软雅黑" panose="020B0503020204020204" pitchFamily="34" charset="-122"/>
                  </a:rPr>
                  <a:t> MAC</a:t>
                </a:r>
                <a:r>
                  <a:rPr lang="en-US" altLang="zh-CN" sz="900" b="1" baseline="-25000" dirty="0">
                    <a:latin typeface="微软雅黑" panose="020B0503020204020204" pitchFamily="34" charset="-122"/>
                    <a:ea typeface="微软雅黑" panose="020B0503020204020204" pitchFamily="34" charset="-122"/>
                  </a:rPr>
                  <a:t>2</a:t>
                </a:r>
              </a:p>
            </p:txBody>
          </p:sp>
          <p:sp>
            <p:nvSpPr>
              <p:cNvPr id="212" name="Line 237"/>
              <p:cNvSpPr>
                <a:spLocks noChangeShapeType="1"/>
              </p:cNvSpPr>
              <p:nvPr/>
            </p:nvSpPr>
            <p:spPr bwMode="auto">
              <a:xfrm>
                <a:off x="1497867" y="3575494"/>
                <a:ext cx="0" cy="38636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13" name="Line 238"/>
              <p:cNvSpPr>
                <a:spLocks noChangeShapeType="1"/>
              </p:cNvSpPr>
              <p:nvPr/>
            </p:nvSpPr>
            <p:spPr bwMode="auto">
              <a:xfrm>
                <a:off x="738473" y="3581400"/>
                <a:ext cx="0" cy="37147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grpSp>
        <p:grpSp>
          <p:nvGrpSpPr>
            <p:cNvPr id="2" name="组合 1"/>
            <p:cNvGrpSpPr/>
            <p:nvPr/>
          </p:nvGrpSpPr>
          <p:grpSpPr>
            <a:xfrm>
              <a:off x="2629163" y="1918996"/>
              <a:ext cx="835137" cy="261610"/>
              <a:chOff x="2629163" y="1918996"/>
              <a:chExt cx="835137" cy="261610"/>
            </a:xfrm>
          </p:grpSpPr>
          <p:sp>
            <p:nvSpPr>
              <p:cNvPr id="108" name="AutoShape 150"/>
              <p:cNvSpPr>
                <a:spLocks noChangeArrowheads="1"/>
              </p:cNvSpPr>
              <p:nvPr/>
            </p:nvSpPr>
            <p:spPr bwMode="auto">
              <a:xfrm flipV="1">
                <a:off x="2629163" y="1942246"/>
                <a:ext cx="835137" cy="205647"/>
              </a:xfrm>
              <a:prstGeom prst="wedgeRoundRectCallout">
                <a:avLst>
                  <a:gd name="adj1" fmla="val -75782"/>
                  <a:gd name="adj2" fmla="val -203782"/>
                  <a:gd name="adj3" fmla="val 16667"/>
                </a:avLst>
              </a:prstGeom>
              <a:solidFill>
                <a:srgbClr val="FFC000"/>
              </a:solidFill>
              <a:ln w="9525">
                <a:solidFill>
                  <a:schemeClr val="tx1"/>
                </a:solidFill>
                <a:miter lim="800000"/>
                <a:headEnd/>
                <a:tailEnd/>
              </a:ln>
              <a:effectLst/>
            </p:spPr>
            <p:txBody>
              <a:bodyPr rot="10800000" wrap="none" anchor="ctr"/>
              <a:lstStyle/>
              <a:p>
                <a:pPr algn="ctr"/>
                <a:endParaRPr kumimoji="1" lang="zh-CN" altLang="zh-CN" sz="1200" b="1">
                  <a:solidFill>
                    <a:srgbClr val="0000CC"/>
                  </a:solidFill>
                  <a:latin typeface="微软雅黑" pitchFamily="34" charset="-122"/>
                  <a:ea typeface="微软雅黑" pitchFamily="34" charset="-122"/>
                </a:endParaRPr>
              </a:p>
            </p:txBody>
          </p:sp>
          <p:sp>
            <p:nvSpPr>
              <p:cNvPr id="109" name="Text Box 151"/>
              <p:cNvSpPr txBox="1">
                <a:spLocks noChangeArrowheads="1"/>
              </p:cNvSpPr>
              <p:nvPr/>
            </p:nvSpPr>
            <p:spPr bwMode="auto">
              <a:xfrm>
                <a:off x="2655261" y="1918996"/>
                <a:ext cx="79060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IP </a:t>
                </a:r>
                <a:r>
                  <a:rPr kumimoji="1" lang="zh-CN" altLang="en-US" sz="1100" b="1" dirty="0">
                    <a:latin typeface="微软雅黑" pitchFamily="34" charset="-122"/>
                    <a:ea typeface="微软雅黑" pitchFamily="34" charset="-122"/>
                  </a:rPr>
                  <a:t>数据报</a:t>
                </a:r>
              </a:p>
            </p:txBody>
          </p:sp>
        </p:grpSp>
      </p:grpSp>
      <p:sp>
        <p:nvSpPr>
          <p:cNvPr id="137" name="Line 161"/>
          <p:cNvSpPr>
            <a:spLocks noChangeShapeType="1"/>
          </p:cNvSpPr>
          <p:nvPr/>
        </p:nvSpPr>
        <p:spPr bwMode="auto">
          <a:xfrm>
            <a:off x="1664610" y="3701670"/>
            <a:ext cx="1302727"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38" name="Line 165"/>
          <p:cNvSpPr>
            <a:spLocks noChangeShapeType="1"/>
          </p:cNvSpPr>
          <p:nvPr/>
        </p:nvSpPr>
        <p:spPr bwMode="auto">
          <a:xfrm>
            <a:off x="3854670" y="3701670"/>
            <a:ext cx="887334"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39" name="Line 170"/>
          <p:cNvSpPr>
            <a:spLocks noChangeShapeType="1"/>
          </p:cNvSpPr>
          <p:nvPr/>
        </p:nvSpPr>
        <p:spPr bwMode="auto">
          <a:xfrm>
            <a:off x="5639122" y="3701670"/>
            <a:ext cx="1423737"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0" name="矩形 139"/>
          <p:cNvSpPr/>
          <p:nvPr/>
        </p:nvSpPr>
        <p:spPr>
          <a:xfrm>
            <a:off x="2104802" y="4266739"/>
            <a:ext cx="5150223" cy="338554"/>
          </a:xfrm>
          <a:prstGeom prst="rect">
            <a:avLst/>
          </a:prstGeom>
          <a:solidFill>
            <a:srgbClr val="FFC000"/>
          </a:solidFill>
        </p:spPr>
        <p:txBody>
          <a:bodyPr wrap="square">
            <a:spAutoFit/>
          </a:bodyPr>
          <a:lstStyle/>
          <a:p>
            <a:pPr algn="ctr"/>
            <a:r>
              <a:rPr lang="zh-CN" altLang="en-US" sz="1600" b="1" dirty="0">
                <a:latin typeface="微软雅黑" panose="020B0503020204020204" pitchFamily="34" charset="-122"/>
                <a:ea typeface="微软雅黑" panose="020B0503020204020204" pitchFamily="34" charset="-122"/>
              </a:rPr>
              <a:t>注意：帧中 </a:t>
            </a:r>
            <a:r>
              <a:rPr lang="en-US" altLang="zh-CN" sz="1600" b="1" dirty="0">
                <a:latin typeface="微软雅黑" panose="020B0503020204020204" pitchFamily="34" charset="-122"/>
                <a:ea typeface="微软雅黑" panose="020B0503020204020204" pitchFamily="34" charset="-122"/>
              </a:rPr>
              <a:t>MAC </a:t>
            </a:r>
            <a:r>
              <a:rPr lang="zh-CN" altLang="en-US" sz="1600" b="1" dirty="0">
                <a:latin typeface="微软雅黑" panose="020B0503020204020204" pitchFamily="34" charset="-122"/>
                <a:ea typeface="微软雅黑" panose="020B0503020204020204" pitchFamily="34" charset="-122"/>
              </a:rPr>
              <a:t>地址是否有变化？对 </a:t>
            </a: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层有何影响？</a:t>
            </a:r>
          </a:p>
        </p:txBody>
      </p:sp>
    </p:spTree>
    <p:extLst>
      <p:ext uri="{BB962C8B-B14F-4D97-AF65-F5344CB8AC3E}">
        <p14:creationId xmlns:p14="http://schemas.microsoft.com/office/powerpoint/2010/main" val="80007628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136"/>
                                        </p:tgtEl>
                                        <p:attrNameLst>
                                          <p:attrName>style.visibility</p:attrName>
                                        </p:attrNameLst>
                                      </p:cBhvr>
                                      <p:tavLst>
                                        <p:tav tm="0">
                                          <p:val>
                                            <p:strVal val="hidden"/>
                                          </p:val>
                                        </p:tav>
                                        <p:tav tm="50000">
                                          <p:val>
                                            <p:strVal val="visible"/>
                                          </p:val>
                                        </p:tav>
                                      </p:tavLst>
                                    </p:anim>
                                  </p:childTnLst>
                                </p:cTn>
                              </p:par>
                            </p:childTnLst>
                          </p:cTn>
                        </p:par>
                        <p:par>
                          <p:cTn id="7" fill="hold">
                            <p:stCondLst>
                              <p:cond delay="4000"/>
                            </p:stCondLst>
                            <p:childTnLst>
                              <p:par>
                                <p:cTn id="8" presetID="22" presetClass="entr" presetSubtype="8" fill="hold" grpId="0" nodeType="afterEffect">
                                  <p:stCondLst>
                                    <p:cond delay="0"/>
                                  </p:stCondLst>
                                  <p:childTnLst>
                                    <p:set>
                                      <p:cBhvr>
                                        <p:cTn id="9" dur="1" fill="hold">
                                          <p:stCondLst>
                                            <p:cond delay="0"/>
                                          </p:stCondLst>
                                        </p:cTn>
                                        <p:tgtEl>
                                          <p:spTgt spid="137"/>
                                        </p:tgtEl>
                                        <p:attrNameLst>
                                          <p:attrName>style.visibility</p:attrName>
                                        </p:attrNameLst>
                                      </p:cBhvr>
                                      <p:to>
                                        <p:strVal val="visible"/>
                                      </p:to>
                                    </p:set>
                                    <p:animEffect transition="in" filter="wipe(left)">
                                      <p:cBhvr>
                                        <p:cTn id="10" dur="1000"/>
                                        <p:tgtEl>
                                          <p:spTgt spid="137"/>
                                        </p:tgtEl>
                                      </p:cBhvr>
                                    </p:animEffect>
                                  </p:childTnLst>
                                </p:cTn>
                              </p:par>
                            </p:childTnLst>
                          </p:cTn>
                        </p:par>
                        <p:par>
                          <p:cTn id="11" fill="hold">
                            <p:stCondLst>
                              <p:cond delay="5000"/>
                            </p:stCondLst>
                            <p:childTnLst>
                              <p:par>
                                <p:cTn id="12" presetID="22" presetClass="entr" presetSubtype="8" fill="hold" grpId="0" nodeType="afterEffect">
                                  <p:stCondLst>
                                    <p:cond delay="0"/>
                                  </p:stCondLst>
                                  <p:childTnLst>
                                    <p:set>
                                      <p:cBhvr>
                                        <p:cTn id="13" dur="1" fill="hold">
                                          <p:stCondLst>
                                            <p:cond delay="0"/>
                                          </p:stCondLst>
                                        </p:cTn>
                                        <p:tgtEl>
                                          <p:spTgt spid="138"/>
                                        </p:tgtEl>
                                        <p:attrNameLst>
                                          <p:attrName>style.visibility</p:attrName>
                                        </p:attrNameLst>
                                      </p:cBhvr>
                                      <p:to>
                                        <p:strVal val="visible"/>
                                      </p:to>
                                    </p:set>
                                    <p:animEffect transition="in" filter="wipe(left)">
                                      <p:cBhvr>
                                        <p:cTn id="14" dur="1000"/>
                                        <p:tgtEl>
                                          <p:spTgt spid="138"/>
                                        </p:tgtEl>
                                      </p:cBhvr>
                                    </p:animEffect>
                                  </p:childTnLst>
                                </p:cTn>
                              </p:par>
                            </p:childTnLst>
                          </p:cTn>
                        </p:par>
                        <p:par>
                          <p:cTn id="15" fill="hold">
                            <p:stCondLst>
                              <p:cond delay="6000"/>
                            </p:stCondLst>
                            <p:childTnLst>
                              <p:par>
                                <p:cTn id="16" presetID="22" presetClass="entr" presetSubtype="8" fill="hold" grpId="0" nodeType="afterEffect">
                                  <p:stCondLst>
                                    <p:cond delay="0"/>
                                  </p:stCondLst>
                                  <p:childTnLst>
                                    <p:set>
                                      <p:cBhvr>
                                        <p:cTn id="17" dur="1" fill="hold">
                                          <p:stCondLst>
                                            <p:cond delay="0"/>
                                          </p:stCondLst>
                                        </p:cTn>
                                        <p:tgtEl>
                                          <p:spTgt spid="139"/>
                                        </p:tgtEl>
                                        <p:attrNameLst>
                                          <p:attrName>style.visibility</p:attrName>
                                        </p:attrNameLst>
                                      </p:cBhvr>
                                      <p:to>
                                        <p:strVal val="visible"/>
                                      </p:to>
                                    </p:set>
                                    <p:animEffect transition="in" filter="wipe(left)">
                                      <p:cBhvr>
                                        <p:cTn id="18" dur="1000"/>
                                        <p:tgtEl>
                                          <p:spTgt spid="139"/>
                                        </p:tgtEl>
                                      </p:cBhvr>
                                    </p:animEffect>
                                  </p:childTnLst>
                                </p:cTn>
                              </p:par>
                            </p:childTnLst>
                          </p:cTn>
                        </p:par>
                        <p:par>
                          <p:cTn id="19" fill="hold">
                            <p:stCondLst>
                              <p:cond delay="7000"/>
                            </p:stCondLst>
                            <p:childTnLst>
                              <p:par>
                                <p:cTn id="20" presetID="10" presetClass="entr" presetSubtype="0" fill="hold" grpId="0" nodeType="afterEffect">
                                  <p:stCondLst>
                                    <p:cond delay="0"/>
                                  </p:stCondLst>
                                  <p:childTnLst>
                                    <p:set>
                                      <p:cBhvr>
                                        <p:cTn id="21" dur="1" fill="hold">
                                          <p:stCondLst>
                                            <p:cond delay="0"/>
                                          </p:stCondLst>
                                        </p:cTn>
                                        <p:tgtEl>
                                          <p:spTgt spid="140"/>
                                        </p:tgtEl>
                                        <p:attrNameLst>
                                          <p:attrName>style.visibility</p:attrName>
                                        </p:attrNameLst>
                                      </p:cBhvr>
                                      <p:to>
                                        <p:strVal val="visible"/>
                                      </p:to>
                                    </p:set>
                                    <p:animEffect transition="in" filter="fade">
                                      <p:cBhvr>
                                        <p:cTn id="22" dur="1000"/>
                                        <p:tgtEl>
                                          <p:spTgt spid="1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6" grpId="0" animBg="1"/>
      <p:bldP spid="137" grpId="0" animBg="1"/>
      <p:bldP spid="138" grpId="0" animBg="1"/>
      <p:bldP spid="139" grpId="0" animBg="1"/>
      <p:bldP spid="140"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AutoShape 5"/>
          <p:cNvSpPr>
            <a:spLocks noChangeArrowheads="1"/>
          </p:cNvSpPr>
          <p:nvPr/>
        </p:nvSpPr>
        <p:spPr bwMode="auto">
          <a:xfrm>
            <a:off x="545145" y="610102"/>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23" name="Rectangle 6"/>
          <p:cNvSpPr>
            <a:spLocks noChangeArrowheads="1"/>
          </p:cNvSpPr>
          <p:nvPr/>
        </p:nvSpPr>
        <p:spPr bwMode="auto">
          <a:xfrm>
            <a:off x="1924215" y="576891"/>
            <a:ext cx="53142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不同层次、不同区间使用的源地址和目的地址</a:t>
            </a:r>
          </a:p>
        </p:txBody>
      </p:sp>
      <p:graphicFrame>
        <p:nvGraphicFramePr>
          <p:cNvPr id="25" name="内容占位符 3"/>
          <p:cNvGraphicFramePr>
            <a:graphicFrameLocks/>
          </p:cNvGraphicFramePr>
          <p:nvPr>
            <p:extLst>
              <p:ext uri="{D42A27DB-BD31-4B8C-83A1-F6EECF244321}">
                <p14:modId xmlns:p14="http://schemas.microsoft.com/office/powerpoint/2010/main" val="576427055"/>
              </p:ext>
            </p:extLst>
          </p:nvPr>
        </p:nvGraphicFramePr>
        <p:xfrm>
          <a:off x="840060" y="1195745"/>
          <a:ext cx="7530788" cy="2199993"/>
        </p:xfrm>
        <a:graphic>
          <a:graphicData uri="http://schemas.openxmlformats.org/drawingml/2006/table">
            <a:tbl>
              <a:tblPr>
                <a:tableStyleId>{5C22544A-7EE6-4342-B048-85BDC9FD1C3A}</a:tableStyleId>
              </a:tblPr>
              <a:tblGrid>
                <a:gridCol w="1613208">
                  <a:extLst>
                    <a:ext uri="{9D8B030D-6E8A-4147-A177-3AD203B41FA5}">
                      <a16:colId xmlns:a16="http://schemas.microsoft.com/office/drawing/2014/main" val="20000"/>
                    </a:ext>
                  </a:extLst>
                </a:gridCol>
                <a:gridCol w="1501698">
                  <a:extLst>
                    <a:ext uri="{9D8B030D-6E8A-4147-A177-3AD203B41FA5}">
                      <a16:colId xmlns:a16="http://schemas.microsoft.com/office/drawing/2014/main" val="20001"/>
                    </a:ext>
                  </a:extLst>
                </a:gridCol>
                <a:gridCol w="1505860">
                  <a:extLst>
                    <a:ext uri="{9D8B030D-6E8A-4147-A177-3AD203B41FA5}">
                      <a16:colId xmlns:a16="http://schemas.microsoft.com/office/drawing/2014/main" val="20002"/>
                    </a:ext>
                  </a:extLst>
                </a:gridCol>
                <a:gridCol w="1455011">
                  <a:extLst>
                    <a:ext uri="{9D8B030D-6E8A-4147-A177-3AD203B41FA5}">
                      <a16:colId xmlns:a16="http://schemas.microsoft.com/office/drawing/2014/main" val="20003"/>
                    </a:ext>
                  </a:extLst>
                </a:gridCol>
                <a:gridCol w="1455011">
                  <a:extLst>
                    <a:ext uri="{9D8B030D-6E8A-4147-A177-3AD203B41FA5}">
                      <a16:colId xmlns:a16="http://schemas.microsoft.com/office/drawing/2014/main" val="20004"/>
                    </a:ext>
                  </a:extLst>
                </a:gridCol>
              </a:tblGrid>
              <a:tr h="610109">
                <a:tc rowSpan="2">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 </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2">
                  <a:txBody>
                    <a:bodyPr/>
                    <a:lstStyle/>
                    <a:p>
                      <a:pPr algn="ctr">
                        <a:lnSpc>
                          <a:spcPct val="100000"/>
                        </a:lnSpc>
                        <a:spcAft>
                          <a:spcPts val="0"/>
                        </a:spcAft>
                      </a:pPr>
                      <a:r>
                        <a:rPr lang="zh-CN" sz="1600" b="1" dirty="0">
                          <a:solidFill>
                            <a:schemeClr val="bg1"/>
                          </a:solidFill>
                          <a:effectLst/>
                          <a:latin typeface="微软雅黑" pitchFamily="34" charset="-122"/>
                          <a:ea typeface="微软雅黑" pitchFamily="34" charset="-122"/>
                        </a:rPr>
                        <a:t>在网络层</a:t>
                      </a:r>
                    </a:p>
                    <a:p>
                      <a:pPr algn="ctr">
                        <a:lnSpc>
                          <a:spcPct val="100000"/>
                        </a:lnSpc>
                        <a:spcAft>
                          <a:spcPts val="0"/>
                        </a:spcAft>
                      </a:pPr>
                      <a:r>
                        <a:rPr lang="zh-CN" sz="1600" b="1" dirty="0">
                          <a:solidFill>
                            <a:schemeClr val="bg1"/>
                          </a:solidFill>
                          <a:effectLst/>
                          <a:latin typeface="微软雅黑" pitchFamily="34" charset="-122"/>
                          <a:ea typeface="微软雅黑" pitchFamily="34" charset="-122"/>
                        </a:rPr>
                        <a:t>写入</a:t>
                      </a:r>
                      <a:r>
                        <a:rPr lang="en-US" altLang="zh-CN" sz="1600" b="1" dirty="0">
                          <a:solidFill>
                            <a:schemeClr val="bg1"/>
                          </a:solidFill>
                          <a:effectLst/>
                          <a:latin typeface="微软雅黑" pitchFamily="34" charset="-122"/>
                          <a:ea typeface="微软雅黑" pitchFamily="34" charset="-122"/>
                        </a:rPr>
                        <a:t> </a:t>
                      </a:r>
                      <a:r>
                        <a:rPr lang="en-US" sz="1600" b="1" dirty="0">
                          <a:solidFill>
                            <a:schemeClr val="bg1"/>
                          </a:solidFill>
                          <a:effectLst/>
                          <a:latin typeface="微软雅黑" pitchFamily="34" charset="-122"/>
                          <a:ea typeface="微软雅黑" pitchFamily="34" charset="-122"/>
                        </a:rPr>
                        <a:t>IP </a:t>
                      </a:r>
                      <a:r>
                        <a:rPr lang="zh-CN" sz="1600" b="1" dirty="0">
                          <a:solidFill>
                            <a:schemeClr val="bg1"/>
                          </a:solidFill>
                          <a:effectLst/>
                          <a:latin typeface="微软雅黑" pitchFamily="34" charset="-122"/>
                          <a:ea typeface="微软雅黑" pitchFamily="34" charset="-122"/>
                        </a:rPr>
                        <a:t>数据报首部的地址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0099"/>
                    </a:solidFill>
                  </a:tcPr>
                </a:tc>
                <a:tc hMerge="1">
                  <a:txBody>
                    <a:bodyPr/>
                    <a:lstStyle/>
                    <a:p>
                      <a:endParaRPr lang="zh-CN" altLang="en-US"/>
                    </a:p>
                  </a:txBody>
                  <a:tcPr/>
                </a:tc>
                <a:tc gridSpan="2">
                  <a:txBody>
                    <a:bodyPr/>
                    <a:lstStyle/>
                    <a:p>
                      <a:pPr algn="ctr">
                        <a:lnSpc>
                          <a:spcPct val="100000"/>
                        </a:lnSpc>
                        <a:spcAft>
                          <a:spcPts val="0"/>
                        </a:spcAft>
                      </a:pPr>
                      <a:r>
                        <a:rPr lang="zh-CN" sz="1600" b="1" dirty="0">
                          <a:solidFill>
                            <a:schemeClr val="bg1"/>
                          </a:solidFill>
                          <a:effectLst/>
                          <a:latin typeface="微软雅黑" pitchFamily="34" charset="-122"/>
                          <a:ea typeface="微软雅黑" pitchFamily="34" charset="-122"/>
                        </a:rPr>
                        <a:t>在数据链路层</a:t>
                      </a:r>
                    </a:p>
                    <a:p>
                      <a:pPr algn="ctr">
                        <a:lnSpc>
                          <a:spcPct val="100000"/>
                        </a:lnSpc>
                        <a:spcAft>
                          <a:spcPts val="0"/>
                        </a:spcAft>
                      </a:pPr>
                      <a:r>
                        <a:rPr lang="zh-CN" sz="1600" b="1" dirty="0">
                          <a:solidFill>
                            <a:schemeClr val="bg1"/>
                          </a:solidFill>
                          <a:effectLst/>
                          <a:latin typeface="微软雅黑" pitchFamily="34" charset="-122"/>
                          <a:ea typeface="微软雅黑" pitchFamily="34" charset="-122"/>
                        </a:rPr>
                        <a:t>写入</a:t>
                      </a:r>
                      <a:r>
                        <a:rPr lang="en-US" altLang="zh-CN" sz="1600" b="1" dirty="0">
                          <a:solidFill>
                            <a:schemeClr val="bg1"/>
                          </a:solidFill>
                          <a:effectLst/>
                          <a:latin typeface="微软雅黑" pitchFamily="34" charset="-122"/>
                          <a:ea typeface="微软雅黑" pitchFamily="34" charset="-122"/>
                        </a:rPr>
                        <a:t> </a:t>
                      </a:r>
                      <a:r>
                        <a:rPr lang="en-US" sz="1600" b="1" dirty="0">
                          <a:solidFill>
                            <a:schemeClr val="bg1"/>
                          </a:solidFill>
                          <a:effectLst/>
                          <a:latin typeface="微软雅黑" pitchFamily="34" charset="-122"/>
                          <a:ea typeface="微软雅黑" pitchFamily="34" charset="-122"/>
                        </a:rPr>
                        <a:t>MAC </a:t>
                      </a:r>
                      <a:r>
                        <a:rPr lang="zh-CN" sz="1600" b="1" dirty="0">
                          <a:solidFill>
                            <a:schemeClr val="bg1"/>
                          </a:solidFill>
                          <a:effectLst/>
                          <a:latin typeface="微软雅黑" pitchFamily="34" charset="-122"/>
                          <a:ea typeface="微软雅黑" pitchFamily="34" charset="-122"/>
                        </a:rPr>
                        <a:t>帧首部的地址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3300"/>
                    </a:solidFill>
                  </a:tcPr>
                </a:tc>
                <a:tc hMerge="1">
                  <a:txBody>
                    <a:bodyPr/>
                    <a:lstStyle/>
                    <a:p>
                      <a:endParaRPr lang="zh-CN" altLang="en-US"/>
                    </a:p>
                  </a:txBody>
                  <a:tcPr/>
                </a:tc>
                <a:extLst>
                  <a:ext uri="{0D108BD9-81ED-4DB2-BD59-A6C34878D82A}">
                    <a16:rowId xmlns:a16="http://schemas.microsoft.com/office/drawing/2014/main" val="10000"/>
                  </a:ext>
                </a:extLst>
              </a:tr>
              <a:tr h="397471">
                <a:tc vMerge="1">
                  <a:txBody>
                    <a:bodyPr/>
                    <a:lstStyle/>
                    <a:p>
                      <a:endParaRPr lang="zh-CN" altLang="en-US"/>
                    </a:p>
                  </a:txBody>
                  <a:tcPr/>
                </a:tc>
                <a:tc>
                  <a:txBody>
                    <a:bodyPr/>
                    <a:lstStyle/>
                    <a:p>
                      <a:pPr algn="ctr">
                        <a:lnSpc>
                          <a:spcPct val="100000"/>
                        </a:lnSpc>
                        <a:spcAft>
                          <a:spcPts val="0"/>
                        </a:spcAft>
                      </a:pPr>
                      <a:r>
                        <a:rPr lang="zh-CN" sz="1400" b="1" dirty="0">
                          <a:solidFill>
                            <a:schemeClr val="tx1"/>
                          </a:solidFill>
                          <a:effectLst/>
                          <a:latin typeface="微软雅黑" pitchFamily="34" charset="-122"/>
                          <a:ea typeface="微软雅黑" pitchFamily="34" charset="-122"/>
                        </a:rPr>
                        <a:t>源地址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zh-CN" sz="1400" b="1" dirty="0">
                          <a:solidFill>
                            <a:schemeClr val="tx1"/>
                          </a:solidFill>
                          <a:effectLst/>
                          <a:latin typeface="微软雅黑" pitchFamily="34" charset="-122"/>
                          <a:ea typeface="微软雅黑" pitchFamily="34" charset="-122"/>
                        </a:rPr>
                        <a:t>目的地址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FF"/>
                    </a:solidFill>
                  </a:tcPr>
                </a:tc>
                <a:tc>
                  <a:txBody>
                    <a:bodyPr/>
                    <a:lstStyle/>
                    <a:p>
                      <a:pPr algn="ctr">
                        <a:lnSpc>
                          <a:spcPct val="100000"/>
                        </a:lnSpc>
                        <a:spcAft>
                          <a:spcPts val="0"/>
                        </a:spcAft>
                      </a:pPr>
                      <a:r>
                        <a:rPr lang="zh-CN" sz="1400" b="1" dirty="0">
                          <a:solidFill>
                            <a:schemeClr val="tx1"/>
                          </a:solidFill>
                          <a:effectLst/>
                          <a:latin typeface="微软雅黑" pitchFamily="34" charset="-122"/>
                          <a:ea typeface="微软雅黑" pitchFamily="34" charset="-122"/>
                        </a:rPr>
                        <a:t>源地址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zh-CN" sz="1400" b="1" dirty="0">
                          <a:solidFill>
                            <a:schemeClr val="tx1"/>
                          </a:solidFill>
                          <a:effectLst/>
                          <a:latin typeface="微软雅黑" pitchFamily="34" charset="-122"/>
                          <a:ea typeface="微软雅黑" pitchFamily="34" charset="-122"/>
                        </a:rPr>
                        <a:t>目的地址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FF"/>
                    </a:solidFill>
                  </a:tcPr>
                </a:tc>
                <a:extLst>
                  <a:ext uri="{0D108BD9-81ED-4DB2-BD59-A6C34878D82A}">
                    <a16:rowId xmlns:a16="http://schemas.microsoft.com/office/drawing/2014/main" val="10001"/>
                  </a:ext>
                </a:extLst>
              </a:tr>
              <a:tr h="397471">
                <a:tc>
                  <a:txBody>
                    <a:bodyPr/>
                    <a:lstStyle/>
                    <a:p>
                      <a:pPr algn="ctr">
                        <a:lnSpc>
                          <a:spcPct val="100000"/>
                        </a:lnSpc>
                        <a:spcAft>
                          <a:spcPts val="0"/>
                        </a:spcAft>
                      </a:pPr>
                      <a:r>
                        <a:rPr lang="zh-CN" sz="1400" b="1" dirty="0">
                          <a:solidFill>
                            <a:schemeClr val="tx1"/>
                          </a:solidFill>
                          <a:effectLst/>
                          <a:latin typeface="微软雅黑" pitchFamily="34" charset="-122"/>
                          <a:ea typeface="微软雅黑" pitchFamily="34" charset="-122"/>
                        </a:rPr>
                        <a:t>从</a:t>
                      </a:r>
                      <a:r>
                        <a:rPr lang="en-US" altLang="zh-CN" sz="1400" b="1" dirty="0">
                          <a:solidFill>
                            <a:schemeClr val="tx1"/>
                          </a:solidFill>
                          <a:effectLst/>
                          <a:latin typeface="微软雅黑" pitchFamily="34" charset="-122"/>
                          <a:ea typeface="微软雅黑" pitchFamily="34" charset="-122"/>
                        </a:rPr>
                        <a:t> </a:t>
                      </a:r>
                      <a:r>
                        <a:rPr lang="en-US" sz="1400" b="1" dirty="0">
                          <a:solidFill>
                            <a:schemeClr val="tx1"/>
                          </a:solidFill>
                          <a:effectLst/>
                          <a:latin typeface="微软雅黑" pitchFamily="34" charset="-122"/>
                          <a:ea typeface="微软雅黑" pitchFamily="34" charset="-122"/>
                        </a:rPr>
                        <a:t>H</a:t>
                      </a:r>
                      <a:r>
                        <a:rPr lang="en-US" sz="1400" b="1" baseline="-25000" dirty="0">
                          <a:solidFill>
                            <a:schemeClr val="tx1"/>
                          </a:solidFill>
                          <a:effectLst/>
                          <a:latin typeface="微软雅黑" pitchFamily="34" charset="-122"/>
                          <a:ea typeface="微软雅黑" pitchFamily="34" charset="-122"/>
                        </a:rPr>
                        <a:t>1 </a:t>
                      </a:r>
                      <a:r>
                        <a:rPr lang="zh-CN" sz="1400" b="1" dirty="0">
                          <a:solidFill>
                            <a:schemeClr val="tx1"/>
                          </a:solidFill>
                          <a:effectLst/>
                          <a:latin typeface="微软雅黑" pitchFamily="34" charset="-122"/>
                          <a:ea typeface="微软雅黑" pitchFamily="34" charset="-122"/>
                        </a:rPr>
                        <a:t>到</a:t>
                      </a:r>
                      <a:r>
                        <a:rPr lang="en-US" altLang="zh-CN" sz="1400" b="1" dirty="0">
                          <a:solidFill>
                            <a:schemeClr val="tx1"/>
                          </a:solidFill>
                          <a:effectLst/>
                          <a:latin typeface="微软雅黑" pitchFamily="34" charset="-122"/>
                          <a:ea typeface="微软雅黑" pitchFamily="34" charset="-122"/>
                        </a:rPr>
                        <a:t> </a:t>
                      </a:r>
                      <a:r>
                        <a:rPr lang="en-US" sz="1400" b="1" dirty="0">
                          <a:solidFill>
                            <a:schemeClr val="tx1"/>
                          </a:solidFill>
                          <a:effectLst/>
                          <a:latin typeface="微软雅黑" pitchFamily="34" charset="-122"/>
                          <a:ea typeface="微软雅黑" pitchFamily="34" charset="-122"/>
                        </a:rPr>
                        <a:t>R</a:t>
                      </a:r>
                      <a:r>
                        <a:rPr lang="en-US" sz="1400" b="1" baseline="-25000" dirty="0">
                          <a:solidFill>
                            <a:schemeClr val="tx1"/>
                          </a:solidFill>
                          <a:effectLst/>
                          <a:latin typeface="微软雅黑" pitchFamily="34" charset="-122"/>
                          <a:ea typeface="微软雅黑" pitchFamily="34" charset="-122"/>
                        </a:rPr>
                        <a:t>1</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B1D8F9"/>
                    </a:solid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IP</a:t>
                      </a:r>
                      <a:r>
                        <a:rPr lang="en-US" sz="1400" b="1" baseline="-25000" dirty="0">
                          <a:solidFill>
                            <a:schemeClr val="tx1"/>
                          </a:solidFill>
                          <a:effectLst/>
                          <a:latin typeface="微软雅黑" pitchFamily="34" charset="-122"/>
                          <a:ea typeface="微软雅黑" pitchFamily="34" charset="-122"/>
                        </a:rPr>
                        <a:t>1</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IP</a:t>
                      </a:r>
                      <a:r>
                        <a:rPr lang="en-US" sz="1400" b="1" baseline="-25000" dirty="0">
                          <a:solidFill>
                            <a:schemeClr val="tx1"/>
                          </a:solidFill>
                          <a:effectLst/>
                          <a:latin typeface="微软雅黑" pitchFamily="34" charset="-122"/>
                          <a:ea typeface="微软雅黑" pitchFamily="34" charset="-122"/>
                        </a:rPr>
                        <a:t>2</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FF"/>
                    </a:solidFill>
                  </a:tcPr>
                </a:tc>
                <a:tc>
                  <a:txBody>
                    <a:bodyPr/>
                    <a:lstStyle/>
                    <a:p>
                      <a:pPr algn="ctr">
                        <a:lnSpc>
                          <a:spcPct val="100000"/>
                        </a:lnSpc>
                        <a:spcAft>
                          <a:spcPts val="0"/>
                        </a:spcAft>
                      </a:pPr>
                      <a:r>
                        <a:rPr lang="en-US" altLang="zh-CN" sz="1400" b="1" dirty="0">
                          <a:solidFill>
                            <a:schemeClr val="tx1"/>
                          </a:solidFill>
                          <a:effectLst/>
                          <a:latin typeface="微软雅黑" pitchFamily="34" charset="-122"/>
                          <a:ea typeface="微软雅黑" pitchFamily="34" charset="-122"/>
                        </a:rPr>
                        <a:t>MAC</a:t>
                      </a:r>
                      <a:r>
                        <a:rPr lang="en-US" sz="1400" b="1" baseline="-25000" dirty="0">
                          <a:solidFill>
                            <a:schemeClr val="tx1"/>
                          </a:solidFill>
                          <a:effectLst/>
                          <a:latin typeface="微软雅黑" pitchFamily="34" charset="-122"/>
                          <a:ea typeface="微软雅黑" pitchFamily="34" charset="-122"/>
                        </a:rPr>
                        <a:t>1</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MAC</a:t>
                      </a:r>
                      <a:r>
                        <a:rPr lang="en-US" sz="1400" b="1" baseline="-25000" dirty="0">
                          <a:solidFill>
                            <a:schemeClr val="tx1"/>
                          </a:solidFill>
                          <a:effectLst/>
                          <a:latin typeface="微软雅黑" pitchFamily="34" charset="-122"/>
                          <a:ea typeface="微软雅黑" pitchFamily="34" charset="-122"/>
                        </a:rPr>
                        <a:t>3</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FF"/>
                    </a:solidFill>
                  </a:tcPr>
                </a:tc>
                <a:extLst>
                  <a:ext uri="{0D108BD9-81ED-4DB2-BD59-A6C34878D82A}">
                    <a16:rowId xmlns:a16="http://schemas.microsoft.com/office/drawing/2014/main" val="10002"/>
                  </a:ext>
                </a:extLst>
              </a:tr>
              <a:tr h="397471">
                <a:tc>
                  <a:txBody>
                    <a:bodyPr/>
                    <a:lstStyle/>
                    <a:p>
                      <a:pPr algn="ctr">
                        <a:lnSpc>
                          <a:spcPct val="100000"/>
                        </a:lnSpc>
                        <a:spcAft>
                          <a:spcPts val="0"/>
                        </a:spcAft>
                      </a:pPr>
                      <a:r>
                        <a:rPr lang="zh-CN" sz="1400" b="1" dirty="0">
                          <a:solidFill>
                            <a:schemeClr val="tx1"/>
                          </a:solidFill>
                          <a:effectLst/>
                          <a:latin typeface="微软雅黑" pitchFamily="34" charset="-122"/>
                          <a:ea typeface="微软雅黑" pitchFamily="34" charset="-122"/>
                        </a:rPr>
                        <a:t>从</a:t>
                      </a:r>
                      <a:r>
                        <a:rPr lang="en-US" altLang="zh-CN" sz="1400" b="1" dirty="0">
                          <a:solidFill>
                            <a:schemeClr val="tx1"/>
                          </a:solidFill>
                          <a:effectLst/>
                          <a:latin typeface="微软雅黑" pitchFamily="34" charset="-122"/>
                          <a:ea typeface="微软雅黑" pitchFamily="34" charset="-122"/>
                        </a:rPr>
                        <a:t> </a:t>
                      </a:r>
                      <a:r>
                        <a:rPr lang="en-US" sz="1400" b="1" dirty="0">
                          <a:solidFill>
                            <a:schemeClr val="tx1"/>
                          </a:solidFill>
                          <a:effectLst/>
                          <a:latin typeface="微软雅黑" pitchFamily="34" charset="-122"/>
                          <a:ea typeface="微软雅黑" pitchFamily="34" charset="-122"/>
                        </a:rPr>
                        <a:t>R</a:t>
                      </a:r>
                      <a:r>
                        <a:rPr lang="en-US" sz="1400" b="1" baseline="-25000" dirty="0">
                          <a:solidFill>
                            <a:schemeClr val="tx1"/>
                          </a:solidFill>
                          <a:effectLst/>
                          <a:latin typeface="微软雅黑" pitchFamily="34" charset="-122"/>
                          <a:ea typeface="微软雅黑" pitchFamily="34" charset="-122"/>
                        </a:rPr>
                        <a:t>1 </a:t>
                      </a:r>
                      <a:r>
                        <a:rPr lang="zh-CN" sz="1400" b="1" dirty="0">
                          <a:solidFill>
                            <a:schemeClr val="tx1"/>
                          </a:solidFill>
                          <a:effectLst/>
                          <a:latin typeface="微软雅黑" pitchFamily="34" charset="-122"/>
                          <a:ea typeface="微软雅黑" pitchFamily="34" charset="-122"/>
                        </a:rPr>
                        <a:t>到</a:t>
                      </a:r>
                      <a:r>
                        <a:rPr lang="en-US" altLang="zh-CN" sz="1400" b="1" dirty="0">
                          <a:solidFill>
                            <a:schemeClr val="tx1"/>
                          </a:solidFill>
                          <a:effectLst/>
                          <a:latin typeface="微软雅黑" pitchFamily="34" charset="-122"/>
                          <a:ea typeface="微软雅黑" pitchFamily="34" charset="-122"/>
                        </a:rPr>
                        <a:t> </a:t>
                      </a:r>
                      <a:r>
                        <a:rPr lang="en-US" sz="1400" b="1" dirty="0">
                          <a:solidFill>
                            <a:schemeClr val="tx1"/>
                          </a:solidFill>
                          <a:effectLst/>
                          <a:latin typeface="微软雅黑" pitchFamily="34" charset="-122"/>
                          <a:ea typeface="微软雅黑" pitchFamily="34" charset="-122"/>
                        </a:rPr>
                        <a:t>R</a:t>
                      </a:r>
                      <a:r>
                        <a:rPr lang="en-US" sz="1400" b="1" baseline="-25000" dirty="0">
                          <a:solidFill>
                            <a:schemeClr val="tx1"/>
                          </a:solidFill>
                          <a:effectLst/>
                          <a:latin typeface="微软雅黑" pitchFamily="34" charset="-122"/>
                          <a:ea typeface="微软雅黑" pitchFamily="34" charset="-122"/>
                        </a:rPr>
                        <a:t>2</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B1D8F9"/>
                    </a:solid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IP</a:t>
                      </a:r>
                      <a:r>
                        <a:rPr lang="en-US" sz="1400" b="1" baseline="-25000" dirty="0">
                          <a:solidFill>
                            <a:schemeClr val="tx1"/>
                          </a:solidFill>
                          <a:effectLst/>
                          <a:latin typeface="微软雅黑" pitchFamily="34" charset="-122"/>
                          <a:ea typeface="微软雅黑" pitchFamily="34" charset="-122"/>
                        </a:rPr>
                        <a:t>1</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IP</a:t>
                      </a:r>
                      <a:r>
                        <a:rPr lang="en-US" sz="1400" b="1" baseline="-25000" dirty="0">
                          <a:solidFill>
                            <a:schemeClr val="tx1"/>
                          </a:solidFill>
                          <a:effectLst/>
                          <a:latin typeface="微软雅黑" pitchFamily="34" charset="-122"/>
                          <a:ea typeface="微软雅黑" pitchFamily="34" charset="-122"/>
                        </a:rPr>
                        <a:t>2</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FF"/>
                    </a:solidFill>
                  </a:tcPr>
                </a:tc>
                <a:tc>
                  <a:txBody>
                    <a:bodyPr/>
                    <a:lstStyle/>
                    <a:p>
                      <a:pPr algn="ctr">
                        <a:lnSpc>
                          <a:spcPct val="100000"/>
                        </a:lnSpc>
                        <a:spcAft>
                          <a:spcPts val="0"/>
                        </a:spcAft>
                      </a:pPr>
                      <a:r>
                        <a:rPr lang="en-US" altLang="zh-CN" sz="1400" b="1" dirty="0">
                          <a:solidFill>
                            <a:schemeClr val="tx1"/>
                          </a:solidFill>
                          <a:effectLst/>
                          <a:latin typeface="微软雅黑" pitchFamily="34" charset="-122"/>
                          <a:ea typeface="微软雅黑" pitchFamily="34" charset="-122"/>
                        </a:rPr>
                        <a:t>MAC</a:t>
                      </a:r>
                      <a:r>
                        <a:rPr lang="en-US" sz="1400" b="1" baseline="-25000" dirty="0">
                          <a:solidFill>
                            <a:schemeClr val="tx1"/>
                          </a:solidFill>
                          <a:effectLst/>
                          <a:latin typeface="微软雅黑" pitchFamily="34" charset="-122"/>
                          <a:ea typeface="微软雅黑" pitchFamily="34" charset="-122"/>
                        </a:rPr>
                        <a:t>4</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MAC</a:t>
                      </a:r>
                      <a:r>
                        <a:rPr lang="en-US" sz="1400" b="1" baseline="-25000" dirty="0">
                          <a:solidFill>
                            <a:schemeClr val="tx1"/>
                          </a:solidFill>
                          <a:effectLst/>
                          <a:latin typeface="微软雅黑" pitchFamily="34" charset="-122"/>
                          <a:ea typeface="微软雅黑" pitchFamily="34" charset="-122"/>
                        </a:rPr>
                        <a:t>5</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FF"/>
                    </a:solidFill>
                  </a:tcPr>
                </a:tc>
                <a:extLst>
                  <a:ext uri="{0D108BD9-81ED-4DB2-BD59-A6C34878D82A}">
                    <a16:rowId xmlns:a16="http://schemas.microsoft.com/office/drawing/2014/main" val="10003"/>
                  </a:ext>
                </a:extLst>
              </a:tr>
              <a:tr h="397471">
                <a:tc>
                  <a:txBody>
                    <a:bodyPr/>
                    <a:lstStyle/>
                    <a:p>
                      <a:pPr algn="ctr">
                        <a:lnSpc>
                          <a:spcPct val="100000"/>
                        </a:lnSpc>
                        <a:spcAft>
                          <a:spcPts val="0"/>
                        </a:spcAft>
                      </a:pPr>
                      <a:r>
                        <a:rPr lang="zh-CN" sz="1400" b="1" dirty="0">
                          <a:solidFill>
                            <a:schemeClr val="tx1"/>
                          </a:solidFill>
                          <a:effectLst/>
                          <a:latin typeface="微软雅黑" pitchFamily="34" charset="-122"/>
                          <a:ea typeface="微软雅黑" pitchFamily="34" charset="-122"/>
                        </a:rPr>
                        <a:t>从</a:t>
                      </a:r>
                      <a:r>
                        <a:rPr lang="en-US" altLang="zh-CN" sz="1400" b="1" dirty="0">
                          <a:solidFill>
                            <a:schemeClr val="tx1"/>
                          </a:solidFill>
                          <a:effectLst/>
                          <a:latin typeface="微软雅黑" pitchFamily="34" charset="-122"/>
                          <a:ea typeface="微软雅黑" pitchFamily="34" charset="-122"/>
                        </a:rPr>
                        <a:t> </a:t>
                      </a:r>
                      <a:r>
                        <a:rPr lang="en-US" sz="1400" b="1" dirty="0">
                          <a:solidFill>
                            <a:schemeClr val="tx1"/>
                          </a:solidFill>
                          <a:effectLst/>
                          <a:latin typeface="微软雅黑" pitchFamily="34" charset="-122"/>
                          <a:ea typeface="微软雅黑" pitchFamily="34" charset="-122"/>
                        </a:rPr>
                        <a:t>R</a:t>
                      </a:r>
                      <a:r>
                        <a:rPr lang="en-US" sz="1400" b="1" baseline="-25000" dirty="0">
                          <a:solidFill>
                            <a:schemeClr val="tx1"/>
                          </a:solidFill>
                          <a:effectLst/>
                          <a:latin typeface="微软雅黑" pitchFamily="34" charset="-122"/>
                          <a:ea typeface="微软雅黑" pitchFamily="34" charset="-122"/>
                        </a:rPr>
                        <a:t>2 </a:t>
                      </a:r>
                      <a:r>
                        <a:rPr lang="zh-CN" sz="1400" b="1" dirty="0">
                          <a:solidFill>
                            <a:schemeClr val="tx1"/>
                          </a:solidFill>
                          <a:effectLst/>
                          <a:latin typeface="微软雅黑" pitchFamily="34" charset="-122"/>
                          <a:ea typeface="微软雅黑" pitchFamily="34" charset="-122"/>
                        </a:rPr>
                        <a:t>到</a:t>
                      </a:r>
                      <a:r>
                        <a:rPr lang="en-US" altLang="zh-CN" sz="1400" b="1" dirty="0">
                          <a:solidFill>
                            <a:schemeClr val="tx1"/>
                          </a:solidFill>
                          <a:effectLst/>
                          <a:latin typeface="微软雅黑" pitchFamily="34" charset="-122"/>
                          <a:ea typeface="微软雅黑" pitchFamily="34" charset="-122"/>
                        </a:rPr>
                        <a:t> </a:t>
                      </a:r>
                      <a:r>
                        <a:rPr lang="en-US" sz="1400" b="1" dirty="0">
                          <a:solidFill>
                            <a:schemeClr val="tx1"/>
                          </a:solidFill>
                          <a:effectLst/>
                          <a:latin typeface="微软雅黑" pitchFamily="34" charset="-122"/>
                          <a:ea typeface="微软雅黑" pitchFamily="34" charset="-122"/>
                        </a:rPr>
                        <a:t>H</a:t>
                      </a:r>
                      <a:r>
                        <a:rPr lang="en-US" sz="1400" b="1" baseline="-25000" dirty="0">
                          <a:solidFill>
                            <a:schemeClr val="tx1"/>
                          </a:solidFill>
                          <a:effectLst/>
                          <a:latin typeface="微软雅黑" pitchFamily="34" charset="-122"/>
                          <a:ea typeface="微软雅黑" pitchFamily="34" charset="-122"/>
                        </a:rPr>
                        <a:t>2</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B1D8F9"/>
                    </a:solid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IP</a:t>
                      </a:r>
                      <a:r>
                        <a:rPr lang="en-US" sz="1400" b="1" baseline="-25000" dirty="0">
                          <a:solidFill>
                            <a:schemeClr val="tx1"/>
                          </a:solidFill>
                          <a:effectLst/>
                          <a:latin typeface="微软雅黑" pitchFamily="34" charset="-122"/>
                          <a:ea typeface="微软雅黑" pitchFamily="34" charset="-122"/>
                        </a:rPr>
                        <a:t>1</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IP</a:t>
                      </a:r>
                      <a:r>
                        <a:rPr lang="en-US" sz="1400" b="1" baseline="-25000" dirty="0">
                          <a:solidFill>
                            <a:schemeClr val="tx1"/>
                          </a:solidFill>
                          <a:effectLst/>
                          <a:latin typeface="微软雅黑" pitchFamily="34" charset="-122"/>
                          <a:ea typeface="微软雅黑" pitchFamily="34" charset="-122"/>
                        </a:rPr>
                        <a:t>2</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FF"/>
                    </a:solidFill>
                  </a:tcPr>
                </a:tc>
                <a:tc>
                  <a:txBody>
                    <a:bodyPr/>
                    <a:lstStyle/>
                    <a:p>
                      <a:pPr algn="ctr">
                        <a:lnSpc>
                          <a:spcPct val="100000"/>
                        </a:lnSpc>
                        <a:spcAft>
                          <a:spcPts val="0"/>
                        </a:spcAft>
                      </a:pPr>
                      <a:r>
                        <a:rPr lang="en-US" altLang="zh-CN" sz="1400" b="1" dirty="0">
                          <a:solidFill>
                            <a:schemeClr val="tx1"/>
                          </a:solidFill>
                          <a:effectLst/>
                          <a:latin typeface="微软雅黑" pitchFamily="34" charset="-122"/>
                          <a:ea typeface="微软雅黑" pitchFamily="34" charset="-122"/>
                        </a:rPr>
                        <a:t>MAC</a:t>
                      </a:r>
                      <a:r>
                        <a:rPr lang="en-US" sz="1400" b="1" baseline="-25000" dirty="0">
                          <a:solidFill>
                            <a:schemeClr val="tx1"/>
                          </a:solidFill>
                          <a:effectLst/>
                          <a:latin typeface="微软雅黑" pitchFamily="34" charset="-122"/>
                          <a:ea typeface="微软雅黑" pitchFamily="34" charset="-122"/>
                        </a:rPr>
                        <a:t>6</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MAC</a:t>
                      </a:r>
                      <a:r>
                        <a:rPr lang="en-US" sz="1400" b="1" baseline="-25000" dirty="0">
                          <a:solidFill>
                            <a:schemeClr val="tx1"/>
                          </a:solidFill>
                          <a:effectLst/>
                          <a:latin typeface="微软雅黑" pitchFamily="34" charset="-122"/>
                          <a:ea typeface="微软雅黑" pitchFamily="34" charset="-122"/>
                        </a:rPr>
                        <a:t>2</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FF"/>
                    </a:solidFill>
                  </a:tcPr>
                </a:tc>
                <a:extLst>
                  <a:ext uri="{0D108BD9-81ED-4DB2-BD59-A6C34878D82A}">
                    <a16:rowId xmlns:a16="http://schemas.microsoft.com/office/drawing/2014/main" val="10004"/>
                  </a:ext>
                </a:extLst>
              </a:tr>
            </a:tbl>
          </a:graphicData>
        </a:graphic>
      </p:graphicFrame>
    </p:spTree>
    <p:extLst>
      <p:ext uri="{BB962C8B-B14F-4D97-AF65-F5344CB8AC3E}">
        <p14:creationId xmlns:p14="http://schemas.microsoft.com/office/powerpoint/2010/main" val="44799456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AutoShape 5"/>
          <p:cNvSpPr>
            <a:spLocks noChangeArrowheads="1"/>
          </p:cNvSpPr>
          <p:nvPr/>
        </p:nvSpPr>
        <p:spPr bwMode="auto">
          <a:xfrm>
            <a:off x="545145" y="610102"/>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23" name="Rectangle 6"/>
          <p:cNvSpPr>
            <a:spLocks noChangeArrowheads="1"/>
          </p:cNvSpPr>
          <p:nvPr/>
        </p:nvSpPr>
        <p:spPr bwMode="auto">
          <a:xfrm>
            <a:off x="1924215" y="576891"/>
            <a:ext cx="53142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不同层次、不同区间使用的源地址和目的地址</a:t>
            </a:r>
          </a:p>
        </p:txBody>
      </p:sp>
      <p:sp>
        <p:nvSpPr>
          <p:cNvPr id="2" name="矩形 1"/>
          <p:cNvSpPr/>
          <p:nvPr/>
        </p:nvSpPr>
        <p:spPr>
          <a:xfrm>
            <a:off x="545145" y="972534"/>
            <a:ext cx="8053712"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尽管互连在一起的网络的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地址体系各不相同，但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层抽象的互联网却</a:t>
            </a:r>
            <a:r>
              <a:rPr lang="zh-CN" altLang="en-US" sz="2000" b="1" dirty="0">
                <a:solidFill>
                  <a:srgbClr val="C00000"/>
                </a:solidFill>
                <a:latin typeface="微软雅黑" pitchFamily="34" charset="-122"/>
                <a:ea typeface="微软雅黑" pitchFamily="34" charset="-122"/>
              </a:rPr>
              <a:t>屏蔽</a:t>
            </a:r>
            <a:r>
              <a:rPr lang="zh-CN" altLang="en-US" sz="2000" b="1" dirty="0">
                <a:latin typeface="微软雅黑" pitchFamily="34" charset="-122"/>
                <a:ea typeface="微软雅黑" pitchFamily="34" charset="-122"/>
              </a:rPr>
              <a:t>了下层这些很复杂的细节。</a:t>
            </a:r>
            <a:endParaRPr lang="en-US" altLang="zh-CN" sz="2000" b="1" dirty="0">
              <a:latin typeface="微软雅黑" pitchFamily="34" charset="-122"/>
              <a:ea typeface="微软雅黑" pitchFamily="34" charset="-122"/>
            </a:endParaRPr>
          </a:p>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只要我们在网络层上讨论问题，就能够使用统一的、抽象的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地址研究主机和主机或路由器之间的通信。</a:t>
            </a:r>
          </a:p>
        </p:txBody>
      </p:sp>
      <p:sp>
        <p:nvSpPr>
          <p:cNvPr id="3" name="矩形 2"/>
          <p:cNvSpPr/>
          <p:nvPr/>
        </p:nvSpPr>
        <p:spPr>
          <a:xfrm>
            <a:off x="1730829" y="2892398"/>
            <a:ext cx="5796642" cy="1169551"/>
          </a:xfrm>
          <a:prstGeom prst="rect">
            <a:avLst/>
          </a:prstGeom>
          <a:ln/>
        </p:spPr>
        <p:style>
          <a:lnRef idx="1">
            <a:schemeClr val="accent2"/>
          </a:lnRef>
          <a:fillRef idx="2">
            <a:schemeClr val="accent2"/>
          </a:fillRef>
          <a:effectRef idx="1">
            <a:schemeClr val="accent2"/>
          </a:effectRef>
          <a:fontRef idx="minor">
            <a:schemeClr val="dk1"/>
          </a:fontRef>
        </p:style>
        <p:txBody>
          <a:bodyPr wrap="square">
            <a:spAutoFit/>
          </a:bodyPr>
          <a:lstStyle/>
          <a:p>
            <a:pPr>
              <a:lnSpc>
                <a:spcPts val="2800"/>
              </a:lnSpc>
            </a:pPr>
            <a:r>
              <a:rPr lang="zh-CN" altLang="en-US" sz="2000" b="1" dirty="0">
                <a:solidFill>
                  <a:srgbClr val="000099"/>
                </a:solidFill>
                <a:latin typeface="微软雅黑" panose="020B0503020204020204" pitchFamily="34" charset="-122"/>
                <a:ea typeface="微软雅黑" panose="020B0503020204020204" pitchFamily="34" charset="-122"/>
              </a:rPr>
              <a:t>问题：</a:t>
            </a:r>
            <a:endParaRPr lang="en-US" altLang="zh-CN" sz="2000" b="1" dirty="0">
              <a:solidFill>
                <a:srgbClr val="000099"/>
              </a:solidFill>
              <a:latin typeface="微软雅黑" panose="020B0503020204020204" pitchFamily="34" charset="-122"/>
              <a:ea typeface="微软雅黑" panose="020B0503020204020204" pitchFamily="34" charset="-122"/>
            </a:endParaRPr>
          </a:p>
          <a:p>
            <a:pPr>
              <a:lnSpc>
                <a:spcPts val="2800"/>
              </a:lnSpc>
            </a:pPr>
            <a:r>
              <a:rPr lang="zh-CN" altLang="en-US" sz="2000" b="1" dirty="0">
                <a:solidFill>
                  <a:srgbClr val="000099"/>
                </a:solidFill>
                <a:latin typeface="微软雅黑" panose="020B0503020204020204" pitchFamily="34" charset="-122"/>
                <a:ea typeface="微软雅黑" panose="020B0503020204020204" pitchFamily="34" charset="-122"/>
              </a:rPr>
              <a:t>主机或路由器怎样知道应当在 </a:t>
            </a:r>
            <a:r>
              <a:rPr lang="en-US" altLang="zh-CN" sz="2000" b="1" dirty="0">
                <a:solidFill>
                  <a:srgbClr val="000099"/>
                </a:solidFill>
                <a:latin typeface="微软雅黑" panose="020B0503020204020204" pitchFamily="34" charset="-122"/>
                <a:ea typeface="微软雅黑" panose="020B0503020204020204" pitchFamily="34" charset="-122"/>
              </a:rPr>
              <a:t>MAC </a:t>
            </a:r>
            <a:r>
              <a:rPr lang="zh-CN" altLang="en-US" sz="2000" b="1" dirty="0">
                <a:solidFill>
                  <a:srgbClr val="000099"/>
                </a:solidFill>
                <a:latin typeface="微软雅黑" panose="020B0503020204020204" pitchFamily="34" charset="-122"/>
                <a:ea typeface="微软雅黑" panose="020B0503020204020204" pitchFamily="34" charset="-122"/>
              </a:rPr>
              <a:t>帧的首部填入什么样的 </a:t>
            </a:r>
            <a:r>
              <a:rPr lang="en-US" altLang="zh-CN" sz="2000" b="1" dirty="0">
                <a:solidFill>
                  <a:srgbClr val="000099"/>
                </a:solidFill>
                <a:latin typeface="微软雅黑" panose="020B0503020204020204" pitchFamily="34" charset="-122"/>
                <a:ea typeface="微软雅黑" panose="020B0503020204020204" pitchFamily="34" charset="-122"/>
              </a:rPr>
              <a:t>MAC </a:t>
            </a:r>
            <a:r>
              <a:rPr lang="zh-CN" altLang="en-US" sz="2000" b="1" dirty="0">
                <a:solidFill>
                  <a:srgbClr val="000099"/>
                </a:solidFill>
                <a:latin typeface="微软雅黑" panose="020B0503020204020204" pitchFamily="34" charset="-122"/>
                <a:ea typeface="微软雅黑" panose="020B0503020204020204" pitchFamily="34" charset="-122"/>
              </a:rPr>
              <a:t>地址？</a:t>
            </a:r>
          </a:p>
        </p:txBody>
      </p:sp>
    </p:spTree>
    <p:extLst>
      <p:ext uri="{BB962C8B-B14F-4D97-AF65-F5344CB8AC3E}">
        <p14:creationId xmlns:p14="http://schemas.microsoft.com/office/powerpoint/2010/main" val="378576567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圆角矩形 7"/>
          <p:cNvSpPr/>
          <p:nvPr/>
        </p:nvSpPr>
        <p:spPr>
          <a:xfrm>
            <a:off x="545144" y="2141432"/>
            <a:ext cx="8053711" cy="201770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45144" y="605027"/>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723580" y="572956"/>
            <a:ext cx="369684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highlight>
                  <a:srgbClr val="FFFF00"/>
                </a:highlight>
                <a:latin typeface="微软雅黑" pitchFamily="34" charset="-122"/>
                <a:ea typeface="微软雅黑" pitchFamily="34" charset="-122"/>
              </a:rPr>
              <a:t>4.2.4  </a:t>
            </a:r>
            <a:r>
              <a:rPr lang="zh-CN" altLang="en-US" sz="2400" b="1" dirty="0">
                <a:highlight>
                  <a:srgbClr val="FFFF00"/>
                </a:highlight>
                <a:latin typeface="微软雅黑" pitchFamily="34" charset="-122"/>
                <a:ea typeface="微软雅黑" pitchFamily="34" charset="-122"/>
              </a:rPr>
              <a:t>地址解析协议 </a:t>
            </a:r>
            <a:r>
              <a:rPr lang="en-US" altLang="zh-CN" sz="2400" b="1" dirty="0">
                <a:highlight>
                  <a:srgbClr val="FFFF00"/>
                </a:highlight>
                <a:latin typeface="微软雅黑" pitchFamily="34" charset="-122"/>
                <a:ea typeface="微软雅黑" pitchFamily="34" charset="-122"/>
              </a:rPr>
              <a:t>ARP</a:t>
            </a:r>
            <a:endParaRPr lang="zh-CN" altLang="en-US" sz="2400" b="1" dirty="0">
              <a:highlight>
                <a:srgbClr val="FFFF00"/>
              </a:highlight>
              <a:latin typeface="微软雅黑" pitchFamily="34" charset="-122"/>
              <a:ea typeface="微软雅黑" pitchFamily="34" charset="-122"/>
            </a:endParaRPr>
          </a:p>
        </p:txBody>
      </p:sp>
      <p:sp>
        <p:nvSpPr>
          <p:cNvPr id="7" name="Rectangle 8"/>
          <p:cNvSpPr>
            <a:spLocks noChangeArrowheads="1"/>
          </p:cNvSpPr>
          <p:nvPr/>
        </p:nvSpPr>
        <p:spPr bwMode="auto">
          <a:xfrm>
            <a:off x="545144" y="996098"/>
            <a:ext cx="7665002" cy="1169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实现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通信时使用了两个地址：</a:t>
            </a:r>
          </a:p>
          <a:p>
            <a:pPr marL="717550" indent="-357188">
              <a:lnSpc>
                <a:spcPts val="2800"/>
              </a:lnSpc>
              <a:buClr>
                <a:srgbClr val="7030A0"/>
              </a:buClr>
              <a:buFont typeface="+mj-lt"/>
              <a:buAutoNum type="arabicPeriod"/>
            </a:pP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地址（网络层地址）</a:t>
            </a:r>
          </a:p>
          <a:p>
            <a:pPr marL="717550" indent="-357188">
              <a:lnSpc>
                <a:spcPts val="2800"/>
              </a:lnSpc>
              <a:buClr>
                <a:srgbClr val="7030A0"/>
              </a:buClr>
              <a:buFont typeface="+mj-lt"/>
              <a:buAutoNum type="arabicPeriod"/>
            </a:pP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地址（数据链路层地址）</a:t>
            </a:r>
          </a:p>
        </p:txBody>
      </p:sp>
      <p:sp>
        <p:nvSpPr>
          <p:cNvPr id="14" name="矩形 13"/>
          <p:cNvSpPr/>
          <p:nvPr/>
        </p:nvSpPr>
        <p:spPr>
          <a:xfrm>
            <a:off x="5370849" y="2304398"/>
            <a:ext cx="1444626" cy="307777"/>
          </a:xfrm>
          <a:prstGeom prst="rect">
            <a:avLst/>
          </a:prstGeom>
        </p:spPr>
        <p:txBody>
          <a:bodyPr wrap="none">
            <a:spAutoFit/>
          </a:bodyPr>
          <a:lstStyle/>
          <a:p>
            <a:r>
              <a:rPr lang="en-US" altLang="zh-CN" sz="1400" b="1" dirty="0">
                <a:solidFill>
                  <a:srgbClr val="CC00CC"/>
                </a:solidFill>
                <a:latin typeface="微软雅黑" pitchFamily="34" charset="-122"/>
                <a:ea typeface="微软雅黑" pitchFamily="34" charset="-122"/>
              </a:rPr>
              <a:t>220.168.10.10</a:t>
            </a:r>
            <a:endParaRPr lang="zh-CN" altLang="en-US" sz="1400" b="1" dirty="0">
              <a:solidFill>
                <a:srgbClr val="CC00CC"/>
              </a:solidFill>
              <a:latin typeface="微软雅黑" pitchFamily="34" charset="-122"/>
              <a:ea typeface="微软雅黑" pitchFamily="34" charset="-122"/>
            </a:endParaRPr>
          </a:p>
        </p:txBody>
      </p:sp>
      <p:sp>
        <p:nvSpPr>
          <p:cNvPr id="15" name="矩形 14"/>
          <p:cNvSpPr/>
          <p:nvPr/>
        </p:nvSpPr>
        <p:spPr>
          <a:xfrm>
            <a:off x="5370849" y="2550255"/>
            <a:ext cx="1937453" cy="307777"/>
          </a:xfrm>
          <a:prstGeom prst="rect">
            <a:avLst/>
          </a:prstGeom>
        </p:spPr>
        <p:txBody>
          <a:bodyPr wrap="none">
            <a:spAutoFit/>
          </a:bodyPr>
          <a:lstStyle/>
          <a:p>
            <a:r>
              <a:rPr lang="en-US" altLang="zh-CN" sz="1400" b="1" dirty="0">
                <a:solidFill>
                  <a:srgbClr val="0000FF"/>
                </a:solidFill>
                <a:latin typeface="微软雅黑" pitchFamily="34" charset="-122"/>
                <a:ea typeface="微软雅黑" pitchFamily="34" charset="-122"/>
              </a:rPr>
              <a:t>00-15-C5-C6-CC-07</a:t>
            </a:r>
            <a:endParaRPr lang="zh-CN" altLang="en-US" sz="1400" b="1" dirty="0">
              <a:solidFill>
                <a:srgbClr val="0000FF"/>
              </a:solidFill>
              <a:latin typeface="微软雅黑" pitchFamily="34" charset="-122"/>
              <a:ea typeface="微软雅黑" pitchFamily="34" charset="-122"/>
            </a:endParaRPr>
          </a:p>
        </p:txBody>
      </p:sp>
      <p:sp>
        <p:nvSpPr>
          <p:cNvPr id="16" name="矩形 15"/>
          <p:cNvSpPr/>
          <p:nvPr/>
        </p:nvSpPr>
        <p:spPr>
          <a:xfrm>
            <a:off x="5592012" y="2957998"/>
            <a:ext cx="1444626" cy="307777"/>
          </a:xfrm>
          <a:prstGeom prst="rect">
            <a:avLst/>
          </a:prstGeom>
        </p:spPr>
        <p:txBody>
          <a:bodyPr wrap="none">
            <a:spAutoFit/>
          </a:bodyPr>
          <a:lstStyle/>
          <a:p>
            <a:pPr algn="ctr"/>
            <a:r>
              <a:rPr lang="en-US" altLang="zh-CN" sz="1400" b="1" dirty="0">
                <a:solidFill>
                  <a:srgbClr val="CC00CC"/>
                </a:solidFill>
                <a:latin typeface="微软雅黑" pitchFamily="34" charset="-122"/>
                <a:ea typeface="微软雅黑" pitchFamily="34" charset="-122"/>
              </a:rPr>
              <a:t>220.168.10.20</a:t>
            </a:r>
            <a:endParaRPr lang="zh-CN" altLang="en-US" sz="1400" b="1" dirty="0">
              <a:solidFill>
                <a:srgbClr val="CC00CC"/>
              </a:solidFill>
              <a:latin typeface="微软雅黑" pitchFamily="34" charset="-122"/>
              <a:ea typeface="微软雅黑" pitchFamily="34" charset="-122"/>
            </a:endParaRPr>
          </a:p>
        </p:txBody>
      </p:sp>
      <p:sp>
        <p:nvSpPr>
          <p:cNvPr id="17" name="矩形 16"/>
          <p:cNvSpPr/>
          <p:nvPr/>
        </p:nvSpPr>
        <p:spPr>
          <a:xfrm>
            <a:off x="5356431" y="3776593"/>
            <a:ext cx="1933542" cy="307777"/>
          </a:xfrm>
          <a:prstGeom prst="rect">
            <a:avLst/>
          </a:prstGeom>
        </p:spPr>
        <p:txBody>
          <a:bodyPr wrap="none">
            <a:spAutoFit/>
          </a:bodyPr>
          <a:lstStyle/>
          <a:p>
            <a:pPr algn="ctr"/>
            <a:r>
              <a:rPr lang="en-US" altLang="zh-CN" sz="1400" b="1" dirty="0">
                <a:solidFill>
                  <a:srgbClr val="0000FF"/>
                </a:solidFill>
                <a:latin typeface="微软雅黑" pitchFamily="34" charset="-122"/>
                <a:ea typeface="微软雅黑" pitchFamily="34" charset="-122"/>
              </a:rPr>
              <a:t>00-15-C5-C8-C4-95</a:t>
            </a:r>
            <a:endParaRPr lang="zh-CN" altLang="en-US" sz="1400" b="1" dirty="0">
              <a:solidFill>
                <a:srgbClr val="0000FF"/>
              </a:solidFill>
              <a:latin typeface="微软雅黑" pitchFamily="34" charset="-122"/>
              <a:ea typeface="微软雅黑" pitchFamily="34" charset="-122"/>
            </a:endParaRPr>
          </a:p>
        </p:txBody>
      </p:sp>
      <p:sp>
        <p:nvSpPr>
          <p:cNvPr id="18" name="矩形 17"/>
          <p:cNvSpPr/>
          <p:nvPr/>
        </p:nvSpPr>
        <p:spPr>
          <a:xfrm>
            <a:off x="2443632" y="2957998"/>
            <a:ext cx="1444626" cy="307777"/>
          </a:xfrm>
          <a:prstGeom prst="rect">
            <a:avLst/>
          </a:prstGeom>
        </p:spPr>
        <p:txBody>
          <a:bodyPr wrap="none">
            <a:spAutoFit/>
          </a:bodyPr>
          <a:lstStyle/>
          <a:p>
            <a:pPr algn="ctr"/>
            <a:r>
              <a:rPr lang="en-US" altLang="zh-CN" sz="1400" b="1" dirty="0">
                <a:solidFill>
                  <a:srgbClr val="CC00CC"/>
                </a:solidFill>
                <a:latin typeface="微软雅黑" pitchFamily="34" charset="-122"/>
                <a:ea typeface="微软雅黑" pitchFamily="34" charset="-122"/>
              </a:rPr>
              <a:t>220.168.10.16</a:t>
            </a:r>
            <a:endParaRPr lang="zh-CN" altLang="en-US" sz="1400" b="1" dirty="0">
              <a:solidFill>
                <a:srgbClr val="CC00CC"/>
              </a:solidFill>
              <a:latin typeface="微软雅黑" pitchFamily="34" charset="-122"/>
              <a:ea typeface="微软雅黑" pitchFamily="34" charset="-122"/>
            </a:endParaRPr>
          </a:p>
        </p:txBody>
      </p:sp>
      <p:sp>
        <p:nvSpPr>
          <p:cNvPr id="19" name="矩形 18"/>
          <p:cNvSpPr/>
          <p:nvPr/>
        </p:nvSpPr>
        <p:spPr>
          <a:xfrm>
            <a:off x="2113960" y="3776593"/>
            <a:ext cx="1933542" cy="307777"/>
          </a:xfrm>
          <a:prstGeom prst="rect">
            <a:avLst/>
          </a:prstGeom>
        </p:spPr>
        <p:txBody>
          <a:bodyPr wrap="none">
            <a:spAutoFit/>
          </a:bodyPr>
          <a:lstStyle/>
          <a:p>
            <a:pPr algn="ctr"/>
            <a:r>
              <a:rPr lang="en-US" altLang="zh-CN" sz="1400" b="1" dirty="0">
                <a:solidFill>
                  <a:srgbClr val="0000FF"/>
                </a:solidFill>
                <a:latin typeface="微软雅黑" pitchFamily="34" charset="-122"/>
                <a:ea typeface="微软雅黑" pitchFamily="34" charset="-122"/>
              </a:rPr>
              <a:t>00-15-C5-C6-C8-11</a:t>
            </a:r>
            <a:endParaRPr lang="zh-CN" altLang="en-US" sz="1400" b="1" dirty="0">
              <a:solidFill>
                <a:srgbClr val="0000FF"/>
              </a:solidFill>
              <a:latin typeface="微软雅黑" pitchFamily="34" charset="-122"/>
              <a:ea typeface="微软雅黑" pitchFamily="34" charset="-122"/>
            </a:endParaRPr>
          </a:p>
        </p:txBody>
      </p:sp>
      <p:sp>
        <p:nvSpPr>
          <p:cNvPr id="20" name="矩形标注 19"/>
          <p:cNvSpPr/>
          <p:nvPr/>
        </p:nvSpPr>
        <p:spPr bwMode="auto">
          <a:xfrm>
            <a:off x="7272518" y="2347356"/>
            <a:ext cx="719810" cy="252220"/>
          </a:xfrm>
          <a:prstGeom prst="wedgeRectCallout">
            <a:avLst>
              <a:gd name="adj1" fmla="val -115132"/>
              <a:gd name="adj2" fmla="val 7547"/>
            </a:avLst>
          </a:prstGeom>
          <a:solidFill>
            <a:srgbClr val="00FFFF"/>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r>
              <a:rPr kumimoji="0" lang="en-US" altLang="zh-CN" sz="1200" b="1" i="0" u="none" strike="noStrike" cap="none" normalizeH="0" baseline="0" dirty="0">
                <a:ln>
                  <a:noFill/>
                </a:ln>
                <a:solidFill>
                  <a:schemeClr val="tx1"/>
                </a:solidFill>
                <a:effectLst/>
                <a:latin typeface="微软雅黑" pitchFamily="34" charset="-122"/>
                <a:ea typeface="微软雅黑" pitchFamily="34" charset="-122"/>
              </a:rPr>
              <a:t>IP </a:t>
            </a:r>
            <a:r>
              <a:rPr kumimoji="0" lang="zh-CN" altLang="en-US" sz="1200" b="1" i="0" u="none" strike="noStrike" cap="none" normalizeH="0" baseline="0" dirty="0">
                <a:ln>
                  <a:noFill/>
                </a:ln>
                <a:solidFill>
                  <a:schemeClr val="tx1"/>
                </a:solidFill>
                <a:effectLst/>
                <a:latin typeface="微软雅黑" pitchFamily="34" charset="-122"/>
                <a:ea typeface="微软雅黑" pitchFamily="34" charset="-122"/>
              </a:rPr>
              <a:t>地址</a:t>
            </a:r>
          </a:p>
        </p:txBody>
      </p:sp>
      <p:sp>
        <p:nvSpPr>
          <p:cNvPr id="21" name="矩形标注 20"/>
          <p:cNvSpPr/>
          <p:nvPr/>
        </p:nvSpPr>
        <p:spPr bwMode="auto">
          <a:xfrm>
            <a:off x="7148331" y="2987786"/>
            <a:ext cx="968183" cy="252220"/>
          </a:xfrm>
          <a:prstGeom prst="wedgeRectCallout">
            <a:avLst>
              <a:gd name="adj1" fmla="val -79440"/>
              <a:gd name="adj2" fmla="val -134079"/>
            </a:avLst>
          </a:prstGeom>
          <a:solidFill>
            <a:srgbClr val="00FFFF"/>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r>
              <a:rPr lang="en-US" altLang="zh-CN" sz="1200" b="1" dirty="0">
                <a:latin typeface="微软雅黑" pitchFamily="34" charset="-122"/>
                <a:ea typeface="微软雅黑" pitchFamily="34" charset="-122"/>
              </a:rPr>
              <a:t>MAC</a:t>
            </a:r>
            <a:r>
              <a:rPr kumimoji="0" lang="en-US" altLang="zh-CN" sz="1200" b="1" i="0" u="none" strike="noStrike" cap="none" normalizeH="0" baseline="0" dirty="0">
                <a:ln>
                  <a:noFill/>
                </a:ln>
                <a:solidFill>
                  <a:schemeClr val="tx1"/>
                </a:solidFill>
                <a:effectLst/>
                <a:latin typeface="微软雅黑" pitchFamily="34" charset="-122"/>
                <a:ea typeface="微软雅黑" pitchFamily="34" charset="-122"/>
              </a:rPr>
              <a:t> </a:t>
            </a:r>
            <a:r>
              <a:rPr kumimoji="0" lang="zh-CN" altLang="en-US" sz="1200" b="1" i="0" u="none" strike="noStrike" cap="none" normalizeH="0" baseline="0" dirty="0">
                <a:ln>
                  <a:noFill/>
                </a:ln>
                <a:solidFill>
                  <a:schemeClr val="tx1"/>
                </a:solidFill>
                <a:effectLst/>
                <a:latin typeface="微软雅黑" pitchFamily="34" charset="-122"/>
                <a:ea typeface="微软雅黑" pitchFamily="34" charset="-122"/>
              </a:rPr>
              <a:t>地址</a:t>
            </a:r>
          </a:p>
        </p:txBody>
      </p:sp>
      <p:cxnSp>
        <p:nvCxnSpPr>
          <p:cNvPr id="22" name="直接箭头连接符 21"/>
          <p:cNvCxnSpPr/>
          <p:nvPr/>
        </p:nvCxnSpPr>
        <p:spPr bwMode="auto">
          <a:xfrm flipH="1">
            <a:off x="5146813" y="2433126"/>
            <a:ext cx="253979" cy="0"/>
          </a:xfrm>
          <a:prstGeom prst="straightConnector1">
            <a:avLst/>
          </a:prstGeom>
          <a:solidFill>
            <a:schemeClr val="accent1"/>
          </a:solidFill>
          <a:ln w="19050" cap="flat" cmpd="sng" algn="ctr">
            <a:solidFill>
              <a:schemeClr val="tx1"/>
            </a:solidFill>
            <a:prstDash val="solid"/>
            <a:round/>
            <a:headEnd type="none" w="med" len="med"/>
            <a:tailEnd type="arrow"/>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直接箭头连接符 22"/>
          <p:cNvCxnSpPr/>
          <p:nvPr/>
        </p:nvCxnSpPr>
        <p:spPr bwMode="auto">
          <a:xfrm flipH="1">
            <a:off x="5146813" y="2693672"/>
            <a:ext cx="253979" cy="0"/>
          </a:xfrm>
          <a:prstGeom prst="straightConnector1">
            <a:avLst/>
          </a:prstGeom>
          <a:solidFill>
            <a:schemeClr val="accent1"/>
          </a:solidFill>
          <a:ln w="19050" cap="flat" cmpd="sng" algn="ctr">
            <a:solidFill>
              <a:schemeClr val="tx1"/>
            </a:solidFill>
            <a:prstDash val="solid"/>
            <a:round/>
            <a:headEnd type="none" w="med" len="med"/>
            <a:tailEnd type="arrow"/>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4" name="椭圆 23"/>
          <p:cNvSpPr/>
          <p:nvPr/>
        </p:nvSpPr>
        <p:spPr bwMode="auto">
          <a:xfrm>
            <a:off x="4200086" y="3152056"/>
            <a:ext cx="1198354" cy="719012"/>
          </a:xfrm>
          <a:prstGeom prst="ellipse">
            <a:avLst/>
          </a:prstGeom>
          <a:solidFill>
            <a:srgbClr val="99FFCC"/>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ctr"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r>
              <a:rPr kumimoji="0" lang="en-US" altLang="zh-CN" sz="1400" b="1" i="0" u="none" strike="noStrike" cap="none" normalizeH="0" baseline="0" dirty="0">
                <a:ln>
                  <a:noFill/>
                </a:ln>
                <a:solidFill>
                  <a:schemeClr val="tx1"/>
                </a:solidFill>
                <a:effectLst/>
                <a:latin typeface="微软雅黑" pitchFamily="34" charset="-122"/>
                <a:ea typeface="微软雅黑" pitchFamily="34" charset="-122"/>
              </a:rPr>
              <a:t>LAN</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endParaRPr>
          </a:p>
        </p:txBody>
      </p:sp>
      <p:cxnSp>
        <p:nvCxnSpPr>
          <p:cNvPr id="25" name="直接连接符 24"/>
          <p:cNvCxnSpPr>
            <a:stCxn id="29" idx="3"/>
            <a:endCxn id="24" idx="2"/>
          </p:cNvCxnSpPr>
          <p:nvPr/>
        </p:nvCxnSpPr>
        <p:spPr bwMode="auto">
          <a:xfrm flipV="1">
            <a:off x="3458827" y="3511562"/>
            <a:ext cx="741259" cy="1"/>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直接连接符 25"/>
          <p:cNvCxnSpPr>
            <a:stCxn id="33" idx="1"/>
            <a:endCxn id="24" idx="6"/>
          </p:cNvCxnSpPr>
          <p:nvPr/>
        </p:nvCxnSpPr>
        <p:spPr bwMode="auto">
          <a:xfrm flipH="1" flipV="1">
            <a:off x="5398440" y="3511562"/>
            <a:ext cx="593008" cy="1"/>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直接连接符 26"/>
          <p:cNvCxnSpPr>
            <a:stCxn id="36" idx="2"/>
            <a:endCxn id="24" idx="0"/>
          </p:cNvCxnSpPr>
          <p:nvPr/>
        </p:nvCxnSpPr>
        <p:spPr bwMode="auto">
          <a:xfrm>
            <a:off x="4795730" y="2839354"/>
            <a:ext cx="3533" cy="312702"/>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29"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56830" y="3260564"/>
            <a:ext cx="501997" cy="501997"/>
          </a:xfrm>
          <a:prstGeom prst="rect">
            <a:avLst/>
          </a:prstGeom>
          <a:noFill/>
          <a:extLst>
            <a:ext uri="{909E8E84-426E-40DD-AFC4-6F175D3DCCD1}">
              <a14:hiddenFill xmlns:a14="http://schemas.microsoft.com/office/drawing/2010/main">
                <a:solidFill>
                  <a:srgbClr val="FFFFFF"/>
                </a:solidFill>
              </a14:hiddenFill>
            </a:ext>
          </a:extLst>
        </p:spPr>
      </p:pic>
      <p:pic>
        <p:nvPicPr>
          <p:cNvPr id="33"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991448" y="3260564"/>
            <a:ext cx="501997" cy="501997"/>
          </a:xfrm>
          <a:prstGeom prst="rect">
            <a:avLst/>
          </a:prstGeom>
          <a:noFill/>
          <a:extLst>
            <a:ext uri="{909E8E84-426E-40DD-AFC4-6F175D3DCCD1}">
              <a14:hiddenFill xmlns:a14="http://schemas.microsoft.com/office/drawing/2010/main">
                <a:solidFill>
                  <a:srgbClr val="FFFFFF"/>
                </a:solidFill>
              </a14:hiddenFill>
            </a:ext>
          </a:extLst>
        </p:spPr>
      </p:pic>
      <p:pic>
        <p:nvPicPr>
          <p:cNvPr id="36"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544731" y="2337357"/>
            <a:ext cx="501997" cy="501997"/>
          </a:xfrm>
          <a:prstGeom prst="rect">
            <a:avLst/>
          </a:prstGeom>
          <a:noFill/>
          <a:extLst>
            <a:ext uri="{909E8E84-426E-40DD-AFC4-6F175D3DCCD1}">
              <a14:hiddenFill xmlns:a14="http://schemas.microsoft.com/office/drawing/2010/main">
                <a:solidFill>
                  <a:srgbClr val="FFFFFF"/>
                </a:solidFill>
              </a14:hiddenFill>
            </a:ext>
          </a:extLst>
        </p:spPr>
      </p:pic>
      <p:pic>
        <p:nvPicPr>
          <p:cNvPr id="11268" name="Picture 4" descr="See the source imag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70513" y="3413068"/>
            <a:ext cx="324555" cy="288759"/>
          </a:xfrm>
          <a:prstGeom prst="rect">
            <a:avLst/>
          </a:prstGeom>
          <a:noFill/>
          <a:extLst>
            <a:ext uri="{909E8E84-426E-40DD-AFC4-6F175D3DCCD1}">
              <a14:hiddenFill xmlns:a14="http://schemas.microsoft.com/office/drawing/2010/main">
                <a:solidFill>
                  <a:srgbClr val="FFFFFF"/>
                </a:solidFill>
              </a14:hiddenFill>
            </a:ext>
          </a:extLst>
        </p:spPr>
      </p:pic>
      <p:pic>
        <p:nvPicPr>
          <p:cNvPr id="42" name="Picture 4" descr="See the source imag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3276354" y="3413068"/>
            <a:ext cx="324555" cy="288759"/>
          </a:xfrm>
          <a:prstGeom prst="rect">
            <a:avLst/>
          </a:prstGeom>
          <a:noFill/>
          <a:extLst>
            <a:ext uri="{909E8E84-426E-40DD-AFC4-6F175D3DCCD1}">
              <a14:hiddenFill xmlns:a14="http://schemas.microsoft.com/office/drawing/2010/main">
                <a:solidFill>
                  <a:srgbClr val="FFFFFF"/>
                </a:solidFill>
              </a14:hiddenFill>
            </a:ext>
          </a:extLst>
        </p:spPr>
      </p:pic>
      <p:pic>
        <p:nvPicPr>
          <p:cNvPr id="43" name="Picture 4" descr="See the source imag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806309" y="2548171"/>
            <a:ext cx="324555" cy="28875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8399164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 name="圆角矩形 229"/>
          <p:cNvSpPr/>
          <p:nvPr/>
        </p:nvSpPr>
        <p:spPr>
          <a:xfrm>
            <a:off x="556963" y="1790549"/>
            <a:ext cx="8048776" cy="2427316"/>
          </a:xfrm>
          <a:prstGeom prst="roundRect">
            <a:avLst/>
          </a:prstGeom>
          <a:solidFill>
            <a:srgbClr val="C3E3F9"/>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8" name="AutoShape 5"/>
          <p:cNvSpPr>
            <a:spLocks noChangeArrowheads="1"/>
          </p:cNvSpPr>
          <p:nvPr/>
        </p:nvSpPr>
        <p:spPr bwMode="auto">
          <a:xfrm>
            <a:off x="556963" y="60475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209" name="Rectangle 6"/>
          <p:cNvSpPr>
            <a:spLocks noChangeArrowheads="1"/>
          </p:cNvSpPr>
          <p:nvPr/>
        </p:nvSpPr>
        <p:spPr bwMode="auto">
          <a:xfrm>
            <a:off x="2987805" y="571548"/>
            <a:ext cx="318709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地址解析协议 </a:t>
            </a:r>
            <a:r>
              <a:rPr lang="en-US" altLang="zh-CN" sz="2000" b="1" dirty="0">
                <a:solidFill>
                  <a:schemeClr val="bg1"/>
                </a:solidFill>
                <a:latin typeface="微软雅黑" pitchFamily="34" charset="-122"/>
                <a:ea typeface="微软雅黑" pitchFamily="34" charset="-122"/>
              </a:rPr>
              <a:t>ARP </a:t>
            </a:r>
            <a:r>
              <a:rPr lang="zh-CN" altLang="en-US" sz="2000" b="1" dirty="0">
                <a:solidFill>
                  <a:schemeClr val="bg1"/>
                </a:solidFill>
                <a:latin typeface="微软雅黑" pitchFamily="34" charset="-122"/>
                <a:ea typeface="微软雅黑" pitchFamily="34" charset="-122"/>
              </a:rPr>
              <a:t>的作用</a:t>
            </a:r>
          </a:p>
        </p:txBody>
      </p:sp>
      <p:sp>
        <p:nvSpPr>
          <p:cNvPr id="210" name="Rectangle 68"/>
          <p:cNvSpPr>
            <a:spLocks noChangeArrowheads="1"/>
          </p:cNvSpPr>
          <p:nvPr/>
        </p:nvSpPr>
        <p:spPr bwMode="auto">
          <a:xfrm>
            <a:off x="448327" y="987056"/>
            <a:ext cx="8306380" cy="78483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27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问题：</a:t>
            </a:r>
            <a:r>
              <a:rPr lang="zh-CN" altLang="en-US" sz="2000" b="1" dirty="0">
                <a:latin typeface="微软雅黑" pitchFamily="34" charset="-122"/>
                <a:ea typeface="微软雅黑" pitchFamily="34" charset="-122"/>
              </a:rPr>
              <a:t>已经知道了一个机器（主机或路由器）的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地址，如何找出其相应的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地址？</a:t>
            </a:r>
          </a:p>
        </p:txBody>
      </p:sp>
      <p:grpSp>
        <p:nvGrpSpPr>
          <p:cNvPr id="5" name="组合 4"/>
          <p:cNvGrpSpPr/>
          <p:nvPr/>
        </p:nvGrpSpPr>
        <p:grpSpPr>
          <a:xfrm>
            <a:off x="1954375" y="2005187"/>
            <a:ext cx="4434604" cy="1495690"/>
            <a:chOff x="2054734" y="2247807"/>
            <a:chExt cx="4434604" cy="1495690"/>
          </a:xfrm>
        </p:grpSpPr>
        <p:sp>
          <p:nvSpPr>
            <p:cNvPr id="218" name="Line 16"/>
            <p:cNvSpPr>
              <a:spLocks noChangeShapeType="1"/>
            </p:cNvSpPr>
            <p:nvPr/>
          </p:nvSpPr>
          <p:spPr bwMode="auto">
            <a:xfrm>
              <a:off x="6127397" y="2247807"/>
              <a:ext cx="0" cy="1495690"/>
            </a:xfrm>
            <a:prstGeom prst="line">
              <a:avLst/>
            </a:prstGeom>
            <a:noFill/>
            <a:ln w="19050">
              <a:solidFill>
                <a:srgbClr val="0000CC"/>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itchFamily="34" charset="-122"/>
                <a:ea typeface="微软雅黑" pitchFamily="34" charset="-122"/>
              </a:endParaRPr>
            </a:p>
          </p:txBody>
        </p:sp>
        <p:sp>
          <p:nvSpPr>
            <p:cNvPr id="219" name="Text Box 17"/>
            <p:cNvSpPr txBox="1">
              <a:spLocks noChangeArrowheads="1"/>
            </p:cNvSpPr>
            <p:nvPr/>
          </p:nvSpPr>
          <p:spPr bwMode="auto">
            <a:xfrm>
              <a:off x="5766063" y="2823150"/>
              <a:ext cx="723275" cy="307777"/>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b="1" dirty="0">
                  <a:latin typeface="微软雅黑" pitchFamily="34" charset="-122"/>
                  <a:ea typeface="微软雅黑" pitchFamily="34" charset="-122"/>
                </a:rPr>
                <a:t>网络层</a:t>
              </a:r>
            </a:p>
          </p:txBody>
        </p:sp>
        <p:sp>
          <p:nvSpPr>
            <p:cNvPr id="220" name="Rectangle 18"/>
            <p:cNvSpPr>
              <a:spLocks noChangeArrowheads="1"/>
            </p:cNvSpPr>
            <p:nvPr/>
          </p:nvSpPr>
          <p:spPr bwMode="auto">
            <a:xfrm>
              <a:off x="2054734" y="2247808"/>
              <a:ext cx="3750687" cy="1418325"/>
            </a:xfrm>
            <a:prstGeom prst="rect">
              <a:avLst/>
            </a:prstGeom>
            <a:solidFill>
              <a:srgbClr val="00FFFF"/>
            </a:solidFill>
            <a:ln w="12700">
              <a:solidFill>
                <a:schemeClr val="tx1"/>
              </a:solidFill>
              <a:miter lim="800000"/>
              <a:headEnd/>
              <a:tailEnd/>
            </a:ln>
            <a:effectLst/>
          </p:spPr>
          <p:txBody>
            <a:bodyPr wrap="none" anchor="ctr"/>
            <a:lstStyle/>
            <a:p>
              <a:pPr algn="ctr"/>
              <a:r>
                <a:rPr lang="en-US" altLang="zh-CN" sz="1600" b="1">
                  <a:solidFill>
                    <a:srgbClr val="000099"/>
                  </a:solidFill>
                  <a:latin typeface="微软雅黑" pitchFamily="34" charset="-122"/>
                  <a:ea typeface="微软雅黑" pitchFamily="34" charset="-122"/>
                </a:rPr>
                <a:t>ARP</a:t>
              </a:r>
            </a:p>
            <a:p>
              <a:pPr algn="ctr"/>
              <a:endParaRPr lang="en-US" altLang="zh-CN" sz="1600" b="1">
                <a:solidFill>
                  <a:srgbClr val="000099"/>
                </a:solidFill>
                <a:latin typeface="微软雅黑" pitchFamily="34" charset="-122"/>
                <a:ea typeface="微软雅黑" pitchFamily="34" charset="-122"/>
              </a:endParaRPr>
            </a:p>
          </p:txBody>
        </p:sp>
        <p:sp>
          <p:nvSpPr>
            <p:cNvPr id="223" name="Rectangle 22"/>
            <p:cNvSpPr>
              <a:spLocks noChangeArrowheads="1"/>
            </p:cNvSpPr>
            <p:nvPr/>
          </p:nvSpPr>
          <p:spPr bwMode="auto">
            <a:xfrm>
              <a:off x="2892584" y="2664967"/>
              <a:ext cx="1899428" cy="562775"/>
            </a:xfrm>
            <a:prstGeom prst="rect">
              <a:avLst/>
            </a:prstGeom>
            <a:solidFill>
              <a:srgbClr val="0000CC"/>
            </a:solidFill>
            <a:ln w="9525">
              <a:solidFill>
                <a:schemeClr val="tx1"/>
              </a:solidFill>
              <a:miter lim="800000"/>
              <a:headEnd/>
              <a:tailEnd/>
            </a:ln>
            <a:effectLst/>
          </p:spPr>
          <p:txBody>
            <a:bodyPr wrap="none" anchor="ctr"/>
            <a:lstStyle/>
            <a:p>
              <a:pPr algn="ctr"/>
              <a:r>
                <a:rPr lang="en-US" altLang="zh-CN" sz="2000" b="1" dirty="0">
                  <a:solidFill>
                    <a:schemeClr val="bg1"/>
                  </a:solidFill>
                  <a:latin typeface="微软雅黑" pitchFamily="34" charset="-122"/>
                  <a:ea typeface="微软雅黑" pitchFamily="34" charset="-122"/>
                </a:rPr>
                <a:t>IP</a:t>
              </a:r>
            </a:p>
          </p:txBody>
        </p:sp>
        <p:sp>
          <p:nvSpPr>
            <p:cNvPr id="224" name="Rectangle 24"/>
            <p:cNvSpPr>
              <a:spLocks noChangeArrowheads="1"/>
            </p:cNvSpPr>
            <p:nvPr/>
          </p:nvSpPr>
          <p:spPr bwMode="auto">
            <a:xfrm>
              <a:off x="3009888" y="2300110"/>
              <a:ext cx="787673" cy="284469"/>
            </a:xfrm>
            <a:prstGeom prst="rect">
              <a:avLst/>
            </a:prstGeom>
            <a:solidFill>
              <a:schemeClr val="bg1"/>
            </a:solidFill>
            <a:ln w="9525">
              <a:solidFill>
                <a:schemeClr val="tx1"/>
              </a:solidFill>
              <a:miter lim="800000"/>
              <a:headEnd/>
              <a:tailEnd/>
            </a:ln>
            <a:effectLst/>
          </p:spPr>
          <p:txBody>
            <a:bodyPr wrap="none" anchor="ctr"/>
            <a:lstStyle/>
            <a:p>
              <a:pPr algn="ctr"/>
              <a:r>
                <a:rPr lang="en-US" altLang="zh-CN" sz="1600" b="1" dirty="0">
                  <a:latin typeface="微软雅黑" pitchFamily="34" charset="-122"/>
                  <a:ea typeface="微软雅黑" pitchFamily="34" charset="-122"/>
                </a:rPr>
                <a:t>IGMP</a:t>
              </a:r>
            </a:p>
          </p:txBody>
        </p:sp>
        <p:sp>
          <p:nvSpPr>
            <p:cNvPr id="227" name="Rectangle 29"/>
            <p:cNvSpPr>
              <a:spLocks noChangeArrowheads="1"/>
            </p:cNvSpPr>
            <p:nvPr/>
          </p:nvSpPr>
          <p:spPr bwMode="auto">
            <a:xfrm>
              <a:off x="2226045" y="2300110"/>
              <a:ext cx="787673" cy="284469"/>
            </a:xfrm>
            <a:prstGeom prst="rect">
              <a:avLst/>
            </a:prstGeom>
            <a:solidFill>
              <a:schemeClr val="bg1"/>
            </a:solidFill>
            <a:ln w="9525">
              <a:solidFill>
                <a:schemeClr val="tx1"/>
              </a:solidFill>
              <a:miter lim="800000"/>
              <a:headEnd/>
              <a:tailEnd/>
            </a:ln>
            <a:effectLst/>
          </p:spPr>
          <p:txBody>
            <a:bodyPr wrap="none" anchor="ctr"/>
            <a:lstStyle/>
            <a:p>
              <a:pPr algn="ctr"/>
              <a:r>
                <a:rPr lang="en-US" altLang="zh-CN" sz="1600" b="1" dirty="0">
                  <a:latin typeface="微软雅黑" pitchFamily="34" charset="-122"/>
                  <a:ea typeface="微软雅黑" pitchFamily="34" charset="-122"/>
                </a:rPr>
                <a:t>ICMP</a:t>
              </a:r>
            </a:p>
          </p:txBody>
        </p:sp>
        <p:sp>
          <p:nvSpPr>
            <p:cNvPr id="228" name="Rectangle 30"/>
            <p:cNvSpPr>
              <a:spLocks noChangeArrowheads="1"/>
            </p:cNvSpPr>
            <p:nvPr/>
          </p:nvSpPr>
          <p:spPr bwMode="auto">
            <a:xfrm>
              <a:off x="4957970" y="3227741"/>
              <a:ext cx="641150" cy="309453"/>
            </a:xfrm>
            <a:prstGeom prst="rect">
              <a:avLst/>
            </a:prstGeom>
            <a:solidFill>
              <a:srgbClr val="FFC000"/>
            </a:solidFill>
            <a:ln w="9525">
              <a:solidFill>
                <a:schemeClr val="tx1"/>
              </a:solidFill>
              <a:miter lim="800000"/>
              <a:headEnd/>
              <a:tailEnd/>
            </a:ln>
            <a:effectLst/>
          </p:spPr>
          <p:txBody>
            <a:bodyPr wrap="none" anchor="ctr"/>
            <a:lstStyle/>
            <a:p>
              <a:pPr algn="ctr"/>
              <a:r>
                <a:rPr lang="en-US" altLang="zh-CN" sz="1600" b="1" dirty="0">
                  <a:latin typeface="微软雅黑" pitchFamily="34" charset="-122"/>
                  <a:ea typeface="微软雅黑" pitchFamily="34" charset="-122"/>
                </a:rPr>
                <a:t>ARP</a:t>
              </a:r>
            </a:p>
          </p:txBody>
        </p:sp>
      </p:grpSp>
      <p:sp>
        <p:nvSpPr>
          <p:cNvPr id="229" name="矩形 228"/>
          <p:cNvSpPr/>
          <p:nvPr/>
        </p:nvSpPr>
        <p:spPr>
          <a:xfrm>
            <a:off x="6358891" y="2046518"/>
            <a:ext cx="2037916" cy="1446550"/>
          </a:xfrm>
          <a:prstGeom prst="rect">
            <a:avLst/>
          </a:prstGeom>
          <a:solidFill>
            <a:schemeClr val="bg1"/>
          </a:solidFill>
        </p:spPr>
        <p:txBody>
          <a:bodyPr wrap="square">
            <a:spAutoFit/>
          </a:bodyPr>
          <a:lstStyle/>
          <a:p>
            <a:pPr>
              <a:lnSpc>
                <a:spcPct val="110000"/>
              </a:lnSpc>
            </a:pPr>
            <a:r>
              <a:rPr lang="en-US" altLang="zh-CN" sz="1600" b="1" dirty="0">
                <a:solidFill>
                  <a:srgbClr val="0000FF"/>
                </a:solidFill>
                <a:latin typeface="微软雅黑" pitchFamily="34" charset="-122"/>
                <a:ea typeface="微软雅黑" pitchFamily="34" charset="-122"/>
              </a:rPr>
              <a:t>ARP </a:t>
            </a:r>
            <a:r>
              <a:rPr lang="en-US" altLang="zh-CN" sz="1600" b="1" dirty="0">
                <a:latin typeface="微软雅黑" pitchFamily="34" charset="-122"/>
                <a:ea typeface="微软雅黑" pitchFamily="34" charset="-122"/>
              </a:rPr>
              <a:t>(Address Resolution Protocol ) </a:t>
            </a:r>
            <a:r>
              <a:rPr lang="zh-CN" altLang="en-US" sz="1600" b="1" dirty="0">
                <a:solidFill>
                  <a:srgbClr val="C00000"/>
                </a:solidFill>
                <a:latin typeface="微软雅黑" pitchFamily="34" charset="-122"/>
                <a:ea typeface="微软雅黑" pitchFamily="34" charset="-122"/>
              </a:rPr>
              <a:t>作用：</a:t>
            </a:r>
            <a:endParaRPr lang="en-US" altLang="zh-CN" sz="1600" b="1" dirty="0">
              <a:solidFill>
                <a:srgbClr val="C00000"/>
              </a:solidFill>
              <a:latin typeface="微软雅黑" pitchFamily="34" charset="-122"/>
              <a:ea typeface="微软雅黑" pitchFamily="34" charset="-122"/>
            </a:endParaRPr>
          </a:p>
          <a:p>
            <a:pPr>
              <a:lnSpc>
                <a:spcPct val="110000"/>
              </a:lnSpc>
            </a:pPr>
            <a:r>
              <a:rPr lang="zh-CN" altLang="zh-CN" sz="1600" b="1" dirty="0">
                <a:latin typeface="微软雅黑" pitchFamily="34" charset="-122"/>
                <a:ea typeface="微软雅黑" pitchFamily="34" charset="-122"/>
              </a:rPr>
              <a:t>从</a:t>
            </a:r>
            <a:r>
              <a:rPr lang="en-US" altLang="zh-CN" sz="1600" b="1" dirty="0">
                <a:latin typeface="微软雅黑" pitchFamily="34" charset="-122"/>
                <a:ea typeface="微软雅黑" pitchFamily="34" charset="-122"/>
              </a:rPr>
              <a:t> IP </a:t>
            </a:r>
            <a:r>
              <a:rPr lang="zh-CN" altLang="zh-CN" sz="1600" b="1" dirty="0">
                <a:latin typeface="微软雅黑" pitchFamily="34" charset="-122"/>
                <a:ea typeface="微软雅黑" pitchFamily="34" charset="-122"/>
              </a:rPr>
              <a:t>地址解析出</a:t>
            </a:r>
            <a:r>
              <a:rPr lang="en-US" altLang="zh-CN" sz="1600" b="1" dirty="0">
                <a:latin typeface="微软雅黑" pitchFamily="34" charset="-122"/>
                <a:ea typeface="微软雅黑" pitchFamily="34" charset="-122"/>
              </a:rPr>
              <a:t> MAC </a:t>
            </a:r>
            <a:r>
              <a:rPr lang="zh-CN" altLang="zh-CN" sz="1600" b="1" dirty="0">
                <a:latin typeface="微软雅黑" pitchFamily="34" charset="-122"/>
                <a:ea typeface="微软雅黑" pitchFamily="34" charset="-122"/>
              </a:rPr>
              <a:t>地址</a:t>
            </a:r>
            <a:r>
              <a:rPr lang="zh-CN" altLang="en-US" sz="1600" b="1" dirty="0">
                <a:latin typeface="微软雅黑" pitchFamily="34" charset="-122"/>
                <a:ea typeface="微软雅黑" pitchFamily="34" charset="-122"/>
              </a:rPr>
              <a:t>。</a:t>
            </a:r>
          </a:p>
        </p:txBody>
      </p:sp>
      <p:grpSp>
        <p:nvGrpSpPr>
          <p:cNvPr id="3" name="组合 2"/>
          <p:cNvGrpSpPr/>
          <p:nvPr/>
        </p:nvGrpSpPr>
        <p:grpSpPr>
          <a:xfrm>
            <a:off x="779168" y="3079482"/>
            <a:ext cx="2425120" cy="1043117"/>
            <a:chOff x="879527" y="3322102"/>
            <a:chExt cx="2425120" cy="1043117"/>
          </a:xfrm>
        </p:grpSpPr>
        <p:sp>
          <p:nvSpPr>
            <p:cNvPr id="21" name="任意多边形 20"/>
            <p:cNvSpPr/>
            <p:nvPr/>
          </p:nvSpPr>
          <p:spPr>
            <a:xfrm>
              <a:off x="1316167" y="3534154"/>
              <a:ext cx="1737929" cy="312193"/>
            </a:xfrm>
            <a:custGeom>
              <a:avLst/>
              <a:gdLst>
                <a:gd name="connsiteX0" fmla="*/ 0 w 2159541"/>
                <a:gd name="connsiteY0" fmla="*/ 0 h 505838"/>
                <a:gd name="connsiteX1" fmla="*/ 1186775 w 2159541"/>
                <a:gd name="connsiteY1" fmla="*/ 505838 h 505838"/>
                <a:gd name="connsiteX2" fmla="*/ 1726660 w 2159541"/>
                <a:gd name="connsiteY2" fmla="*/ 500974 h 505838"/>
                <a:gd name="connsiteX3" fmla="*/ 2159541 w 2159541"/>
                <a:gd name="connsiteY3" fmla="*/ 9727 h 505838"/>
                <a:gd name="connsiteX4" fmla="*/ 0 w 2159541"/>
                <a:gd name="connsiteY4" fmla="*/ 0 h 5058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9541" h="505838">
                  <a:moveTo>
                    <a:pt x="0" y="0"/>
                  </a:moveTo>
                  <a:lnTo>
                    <a:pt x="1186775" y="505838"/>
                  </a:lnTo>
                  <a:lnTo>
                    <a:pt x="1726660" y="500974"/>
                  </a:lnTo>
                  <a:lnTo>
                    <a:pt x="2159541" y="9727"/>
                  </a:lnTo>
                  <a:lnTo>
                    <a:pt x="0" y="0"/>
                  </a:lnTo>
                  <a:close/>
                </a:path>
              </a:pathLst>
            </a:custGeom>
            <a:gradFill flip="none" rotWithShape="1">
              <a:gsLst>
                <a:gs pos="0">
                  <a:srgbClr val="FFC000">
                    <a:shade val="30000"/>
                    <a:satMod val="115000"/>
                  </a:srgbClr>
                </a:gs>
                <a:gs pos="50000">
                  <a:srgbClr val="FFC000">
                    <a:shade val="67500"/>
                    <a:satMod val="115000"/>
                  </a:srgbClr>
                </a:gs>
                <a:gs pos="100000">
                  <a:srgbClr val="FFC000">
                    <a:shade val="100000"/>
                    <a:satMod val="11500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100" b="1">
                <a:latin typeface="微软雅黑" panose="020B0503020204020204" pitchFamily="34" charset="-122"/>
                <a:ea typeface="微软雅黑" panose="020B0503020204020204" pitchFamily="34" charset="-122"/>
              </a:endParaRPr>
            </a:p>
          </p:txBody>
        </p:sp>
        <p:sp>
          <p:nvSpPr>
            <p:cNvPr id="23" name="矩形 22"/>
            <p:cNvSpPr/>
            <p:nvPr/>
          </p:nvSpPr>
          <p:spPr>
            <a:xfrm>
              <a:off x="1317443" y="3322102"/>
              <a:ext cx="1737930" cy="212053"/>
            </a:xfrm>
            <a:prstGeom prst="rect">
              <a:avLst/>
            </a:prstGeom>
            <a:solidFill>
              <a:srgbClr val="FFC0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rPr>
                <a:t>ARP </a:t>
              </a:r>
              <a:r>
                <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rPr>
                <a:t>请求或回答分组</a:t>
              </a:r>
            </a:p>
          </p:txBody>
        </p:sp>
        <p:sp>
          <p:nvSpPr>
            <p:cNvPr id="25" name="右箭头 24"/>
            <p:cNvSpPr/>
            <p:nvPr/>
          </p:nvSpPr>
          <p:spPr>
            <a:xfrm flipH="1">
              <a:off x="1200718" y="3884150"/>
              <a:ext cx="178235" cy="128293"/>
            </a:xfrm>
            <a:prstGeom prst="rightArrow">
              <a:avLst/>
            </a:prstGeom>
            <a:solidFill>
              <a:srgbClr val="9900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100" b="1">
                <a:latin typeface="微软雅黑" panose="020B0503020204020204" pitchFamily="34" charset="-122"/>
                <a:ea typeface="微软雅黑" panose="020B0503020204020204" pitchFamily="34" charset="-122"/>
              </a:endParaRPr>
            </a:p>
          </p:txBody>
        </p:sp>
        <p:sp>
          <p:nvSpPr>
            <p:cNvPr id="32" name="Text Box 7"/>
            <p:cNvSpPr txBox="1">
              <a:spLocks noChangeArrowheads="1"/>
            </p:cNvSpPr>
            <p:nvPr/>
          </p:nvSpPr>
          <p:spPr bwMode="auto">
            <a:xfrm>
              <a:off x="879527" y="3661063"/>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200" b="1" dirty="0">
                  <a:solidFill>
                    <a:srgbClr val="0000FF"/>
                  </a:solidFill>
                  <a:latin typeface="微软雅黑" panose="020B0503020204020204" pitchFamily="34" charset="-122"/>
                  <a:ea typeface="微软雅黑" panose="020B0503020204020204" pitchFamily="34" charset="-122"/>
                </a:rPr>
                <a:t>发送</a:t>
              </a:r>
            </a:p>
          </p:txBody>
        </p:sp>
        <p:sp>
          <p:nvSpPr>
            <p:cNvPr id="22" name="矩形 21"/>
            <p:cNvSpPr/>
            <p:nvPr/>
          </p:nvSpPr>
          <p:spPr>
            <a:xfrm>
              <a:off x="1360860" y="3838192"/>
              <a:ext cx="1809439" cy="210887"/>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100" b="1">
                <a:latin typeface="微软雅黑" panose="020B0503020204020204" pitchFamily="34" charset="-122"/>
                <a:ea typeface="微软雅黑" panose="020B0503020204020204" pitchFamily="34" charset="-122"/>
              </a:endParaRPr>
            </a:p>
          </p:txBody>
        </p:sp>
        <p:sp>
          <p:nvSpPr>
            <p:cNvPr id="24" name="Text Box 7"/>
            <p:cNvSpPr txBox="1">
              <a:spLocks noChangeArrowheads="1"/>
            </p:cNvSpPr>
            <p:nvPr/>
          </p:nvSpPr>
          <p:spPr bwMode="auto">
            <a:xfrm>
              <a:off x="1210804" y="4088220"/>
              <a:ext cx="20938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ARP </a:t>
              </a:r>
              <a:r>
                <a:rPr lang="zh-CN" altLang="en-US" sz="1200" b="1" dirty="0">
                  <a:latin typeface="微软雅黑" panose="020B0503020204020204" pitchFamily="34" charset="-122"/>
                  <a:ea typeface="微软雅黑" panose="020B0503020204020204" pitchFamily="34" charset="-122"/>
                </a:rPr>
                <a:t>分组封装在以太网帧中</a:t>
              </a:r>
            </a:p>
          </p:txBody>
        </p:sp>
        <p:cxnSp>
          <p:nvCxnSpPr>
            <p:cNvPr id="27" name="直接连接符 26"/>
            <p:cNvCxnSpPr/>
            <p:nvPr/>
          </p:nvCxnSpPr>
          <p:spPr>
            <a:xfrm>
              <a:off x="2692720" y="3844018"/>
              <a:ext cx="0" cy="21205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矩形 27"/>
            <p:cNvSpPr/>
            <p:nvPr/>
          </p:nvSpPr>
          <p:spPr>
            <a:xfrm>
              <a:off x="2231740" y="3842853"/>
              <a:ext cx="458426" cy="200401"/>
            </a:xfrm>
            <a:prstGeom prst="rect">
              <a:avLst/>
            </a:prstGeom>
            <a:solidFill>
              <a:schemeClr val="bg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100" b="1">
                <a:latin typeface="微软雅黑" panose="020B0503020204020204" pitchFamily="34" charset="-122"/>
                <a:ea typeface="微软雅黑" panose="020B0503020204020204" pitchFamily="34" charset="-122"/>
              </a:endParaRPr>
            </a:p>
          </p:txBody>
        </p:sp>
        <p:sp>
          <p:nvSpPr>
            <p:cNvPr id="29" name="Text Box 7"/>
            <p:cNvSpPr txBox="1">
              <a:spLocks noChangeArrowheads="1"/>
            </p:cNvSpPr>
            <p:nvPr/>
          </p:nvSpPr>
          <p:spPr bwMode="auto">
            <a:xfrm>
              <a:off x="2212586" y="3814225"/>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200" b="1" dirty="0">
                  <a:latin typeface="微软雅黑" panose="020B0503020204020204" pitchFamily="34" charset="-122"/>
                  <a:ea typeface="微软雅黑" panose="020B0503020204020204" pitchFamily="34" charset="-122"/>
                </a:rPr>
                <a:t>数据</a:t>
              </a:r>
            </a:p>
          </p:txBody>
        </p:sp>
        <p:sp>
          <p:nvSpPr>
            <p:cNvPr id="31" name="Text Box 7"/>
            <p:cNvSpPr txBox="1">
              <a:spLocks noChangeArrowheads="1"/>
            </p:cNvSpPr>
            <p:nvPr/>
          </p:nvSpPr>
          <p:spPr bwMode="auto">
            <a:xfrm>
              <a:off x="2701659" y="3821881"/>
              <a:ext cx="46839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FCS</a:t>
              </a:r>
              <a:endParaRPr lang="zh-CN" altLang="en-US" sz="1200" b="1" dirty="0">
                <a:latin typeface="微软雅黑" panose="020B0503020204020204" pitchFamily="34" charset="-122"/>
                <a:ea typeface="微软雅黑" panose="020B0503020204020204" pitchFamily="34" charset="-122"/>
              </a:endParaRPr>
            </a:p>
          </p:txBody>
        </p:sp>
        <p:cxnSp>
          <p:nvCxnSpPr>
            <p:cNvPr id="26" name="直接连接符 25"/>
            <p:cNvCxnSpPr/>
            <p:nvPr/>
          </p:nvCxnSpPr>
          <p:spPr>
            <a:xfrm>
              <a:off x="2233017" y="3844018"/>
              <a:ext cx="0" cy="21205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Text Box 7"/>
            <p:cNvSpPr txBox="1">
              <a:spLocks noChangeArrowheads="1"/>
            </p:cNvSpPr>
            <p:nvPr/>
          </p:nvSpPr>
          <p:spPr bwMode="auto">
            <a:xfrm>
              <a:off x="1360268" y="3828871"/>
              <a:ext cx="91382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100" b="1" dirty="0">
                  <a:latin typeface="微软雅黑" panose="020B0503020204020204" pitchFamily="34" charset="-122"/>
                  <a:ea typeface="微软雅黑" panose="020B0503020204020204" pitchFamily="34" charset="-122"/>
                </a:rPr>
                <a:t>以太网首部</a:t>
              </a:r>
            </a:p>
          </p:txBody>
        </p:sp>
      </p:grpSp>
      <p:grpSp>
        <p:nvGrpSpPr>
          <p:cNvPr id="6" name="组合 5"/>
          <p:cNvGrpSpPr/>
          <p:nvPr/>
        </p:nvGrpSpPr>
        <p:grpSpPr>
          <a:xfrm>
            <a:off x="4459616" y="2417791"/>
            <a:ext cx="1269385" cy="1494330"/>
            <a:chOff x="4559975" y="2660411"/>
            <a:chExt cx="1269385" cy="1494330"/>
          </a:xfrm>
        </p:grpSpPr>
        <p:sp>
          <p:nvSpPr>
            <p:cNvPr id="221" name="Text Box 19"/>
            <p:cNvSpPr txBox="1">
              <a:spLocks noChangeArrowheads="1"/>
            </p:cNvSpPr>
            <p:nvPr/>
          </p:nvSpPr>
          <p:spPr bwMode="auto">
            <a:xfrm>
              <a:off x="4883197" y="2660411"/>
              <a:ext cx="776175" cy="307777"/>
            </a:xfrm>
            <a:prstGeom prst="rect">
              <a:avLst/>
            </a:prstGeom>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en-US"/>
              </a:defPPr>
              <a:lvl1pPr>
                <a:defRPr sz="2000" b="1">
                  <a:solidFill>
                    <a:srgbClr val="0000CC"/>
                  </a:solidFill>
                  <a:latin typeface="+mn-lt"/>
                  <a:ea typeface="黑体" pitchFamily="2" charset="-122"/>
                </a:defRPr>
              </a:lvl1pPr>
            </a:lstStyle>
            <a:p>
              <a:r>
                <a:rPr lang="en-US" altLang="zh-CN" sz="1400" dirty="0">
                  <a:solidFill>
                    <a:schemeClr val="tx1"/>
                  </a:solidFill>
                  <a:latin typeface="微软雅黑" pitchFamily="34" charset="-122"/>
                  <a:ea typeface="微软雅黑" pitchFamily="34" charset="-122"/>
                </a:rPr>
                <a:t>IP </a:t>
              </a:r>
              <a:r>
                <a:rPr lang="zh-CN" altLang="en-US" sz="1400" dirty="0">
                  <a:solidFill>
                    <a:schemeClr val="tx1"/>
                  </a:solidFill>
                  <a:latin typeface="微软雅黑" pitchFamily="34" charset="-122"/>
                  <a:ea typeface="微软雅黑" pitchFamily="34" charset="-122"/>
                </a:rPr>
                <a:t>地址</a:t>
              </a:r>
            </a:p>
          </p:txBody>
        </p:sp>
        <p:sp>
          <p:nvSpPr>
            <p:cNvPr id="222" name="Text Box 20"/>
            <p:cNvSpPr txBox="1">
              <a:spLocks noChangeArrowheads="1"/>
            </p:cNvSpPr>
            <p:nvPr/>
          </p:nvSpPr>
          <p:spPr bwMode="auto">
            <a:xfrm>
              <a:off x="4796385" y="3846964"/>
              <a:ext cx="1032975" cy="307777"/>
            </a:xfrm>
            <a:prstGeom prst="rect">
              <a:avLst/>
            </a:prstGeom>
            <a:noFill/>
            <a:ln>
              <a:noFill/>
            </a:ln>
            <a:effectLst/>
            <a:extLst>
              <a:ext uri="{909E8E84-426E-40DD-AFC4-6F175D3DCCD1}">
                <a14:hiddenFill xmlns:a14="http://schemas.microsoft.com/office/drawing/2010/main">
                  <a:solidFill>
                    <a:srgbClr val="FFFF99"/>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MAC </a:t>
              </a:r>
              <a:r>
                <a:rPr lang="zh-CN" altLang="en-US" sz="1400" b="1" dirty="0">
                  <a:latin typeface="微软雅黑" pitchFamily="34" charset="-122"/>
                  <a:ea typeface="微软雅黑" pitchFamily="34" charset="-122"/>
                </a:rPr>
                <a:t>地址</a:t>
              </a:r>
            </a:p>
          </p:txBody>
        </p:sp>
        <p:sp>
          <p:nvSpPr>
            <p:cNvPr id="225" name="Freeform 25"/>
            <p:cNvSpPr>
              <a:spLocks/>
            </p:cNvSpPr>
            <p:nvPr/>
          </p:nvSpPr>
          <p:spPr bwMode="auto">
            <a:xfrm>
              <a:off x="4559975" y="2969864"/>
              <a:ext cx="725528" cy="257878"/>
            </a:xfrm>
            <a:custGeom>
              <a:avLst/>
              <a:gdLst>
                <a:gd name="T0" fmla="*/ 0 w 500"/>
                <a:gd name="T1" fmla="*/ 0 h 203"/>
                <a:gd name="T2" fmla="*/ 497 w 500"/>
                <a:gd name="T3" fmla="*/ 0 h 203"/>
                <a:gd name="T4" fmla="*/ 500 w 500"/>
                <a:gd name="T5" fmla="*/ 203 h 203"/>
              </a:gdLst>
              <a:ahLst/>
              <a:cxnLst>
                <a:cxn ang="0">
                  <a:pos x="T0" y="T1"/>
                </a:cxn>
                <a:cxn ang="0">
                  <a:pos x="T2" y="T3"/>
                </a:cxn>
                <a:cxn ang="0">
                  <a:pos x="T4" y="T5"/>
                </a:cxn>
              </a:cxnLst>
              <a:rect l="0" t="0" r="r" b="b"/>
              <a:pathLst>
                <a:path w="500" h="203">
                  <a:moveTo>
                    <a:pt x="0" y="0"/>
                  </a:moveTo>
                  <a:lnTo>
                    <a:pt x="497" y="0"/>
                  </a:lnTo>
                  <a:lnTo>
                    <a:pt x="500" y="203"/>
                  </a:lnTo>
                </a:path>
              </a:pathLst>
            </a:custGeom>
            <a:noFill/>
            <a:ln w="28575" cmpd="sng">
              <a:solidFill>
                <a:srgbClr val="0000FF"/>
              </a:solidFill>
              <a:round/>
              <a:headEnd type="none" w="med" len="med"/>
              <a:tailEnd type="triangle" w="med" len="med"/>
            </a:ln>
            <a:effectLst/>
          </p:spPr>
          <p:txBody>
            <a:bodyPr/>
            <a:lstStyle/>
            <a:p>
              <a:endParaRPr lang="zh-CN" altLang="en-US" sz="1600" b="1">
                <a:solidFill>
                  <a:srgbClr val="000099"/>
                </a:solidFill>
                <a:latin typeface="微软雅黑" pitchFamily="34" charset="-122"/>
                <a:ea typeface="微软雅黑" pitchFamily="34" charset="-122"/>
              </a:endParaRPr>
            </a:p>
          </p:txBody>
        </p:sp>
        <p:sp>
          <p:nvSpPr>
            <p:cNvPr id="226" name="Line 26"/>
            <p:cNvSpPr>
              <a:spLocks noChangeShapeType="1"/>
            </p:cNvSpPr>
            <p:nvPr/>
          </p:nvSpPr>
          <p:spPr bwMode="auto">
            <a:xfrm>
              <a:off x="5289667" y="3532638"/>
              <a:ext cx="0" cy="314325"/>
            </a:xfrm>
            <a:prstGeom prst="line">
              <a:avLst/>
            </a:prstGeom>
            <a:noFill/>
            <a:ln w="28575">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itchFamily="34" charset="-122"/>
                <a:ea typeface="微软雅黑" pitchFamily="34" charset="-122"/>
              </a:endParaRPr>
            </a:p>
          </p:txBody>
        </p:sp>
      </p:grpSp>
    </p:spTree>
    <p:extLst>
      <p:ext uri="{BB962C8B-B14F-4D97-AF65-F5344CB8AC3E}">
        <p14:creationId xmlns:p14="http://schemas.microsoft.com/office/powerpoint/2010/main" val="5357761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229"/>
                                        </p:tgtEl>
                                        <p:attrNameLst>
                                          <p:attrName>style.visibility</p:attrName>
                                        </p:attrNameLst>
                                      </p:cBhvr>
                                      <p:to>
                                        <p:strVal val="visible"/>
                                      </p:to>
                                    </p:set>
                                    <p:animEffect transition="in" filter="wipe(up)">
                                      <p:cBhvr>
                                        <p:cTn id="7" dur="1000"/>
                                        <p:tgtEl>
                                          <p:spTgt spid="229"/>
                                        </p:tgtEl>
                                      </p:cBhvr>
                                    </p:animEffect>
                                  </p:childTnLst>
                                </p:cTn>
                              </p:par>
                              <p:par>
                                <p:cTn id="8" presetID="22" presetClass="entr" presetSubtype="1" fill="hold"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wipe(up)">
                                      <p:cBhvr>
                                        <p:cTn id="10" dur="1000"/>
                                        <p:tgtEl>
                                          <p:spTgt spid="6"/>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wipe(up)">
                                      <p:cBhvr>
                                        <p:cTn id="15"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AutoShape 5"/>
          <p:cNvSpPr>
            <a:spLocks noChangeArrowheads="1"/>
          </p:cNvSpPr>
          <p:nvPr/>
        </p:nvSpPr>
        <p:spPr bwMode="auto">
          <a:xfrm>
            <a:off x="556963" y="60312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6" name="Rectangle 6"/>
          <p:cNvSpPr>
            <a:spLocks noChangeArrowheads="1"/>
          </p:cNvSpPr>
          <p:nvPr/>
        </p:nvSpPr>
        <p:spPr bwMode="auto">
          <a:xfrm>
            <a:off x="2354620" y="569913"/>
            <a:ext cx="445346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要点 </a:t>
            </a:r>
            <a:r>
              <a:rPr lang="en-US" altLang="zh-CN" sz="2000" b="1" dirty="0">
                <a:solidFill>
                  <a:schemeClr val="bg1"/>
                </a:solidFill>
                <a:latin typeface="微软雅黑" pitchFamily="34" charset="-122"/>
                <a:ea typeface="微软雅黑" pitchFamily="34" charset="-122"/>
              </a:rPr>
              <a:t>1</a:t>
            </a:r>
            <a:r>
              <a:rPr lang="zh-CN" altLang="en-US" sz="2000" b="1" dirty="0">
                <a:solidFill>
                  <a:schemeClr val="bg1"/>
                </a:solidFill>
                <a:latin typeface="微软雅黑" pitchFamily="34" charset="-122"/>
                <a:ea typeface="微软雅黑" pitchFamily="34" charset="-122"/>
              </a:rPr>
              <a:t>：</a:t>
            </a:r>
            <a:r>
              <a:rPr lang="en-US" altLang="zh-CN" sz="2000" b="1" dirty="0">
                <a:solidFill>
                  <a:schemeClr val="bg1"/>
                </a:solidFill>
                <a:latin typeface="微软雅黑" pitchFamily="34" charset="-122"/>
                <a:ea typeface="微软雅黑" pitchFamily="34" charset="-122"/>
              </a:rPr>
              <a:t>ARP </a:t>
            </a:r>
            <a:r>
              <a:rPr lang="zh-CN" altLang="en-US" sz="2000" b="1" dirty="0">
                <a:solidFill>
                  <a:schemeClr val="bg1"/>
                </a:solidFill>
                <a:latin typeface="微软雅黑" pitchFamily="34" charset="-122"/>
                <a:ea typeface="微软雅黑" pitchFamily="34" charset="-122"/>
              </a:rPr>
              <a:t>高速缓存 </a:t>
            </a:r>
            <a:r>
              <a:rPr lang="en-US" altLang="zh-CN" sz="2000" b="1" dirty="0">
                <a:solidFill>
                  <a:schemeClr val="bg1"/>
                </a:solidFill>
                <a:latin typeface="微软雅黑" pitchFamily="34" charset="-122"/>
                <a:ea typeface="微软雅黑" pitchFamily="34" charset="-122"/>
              </a:rPr>
              <a:t>(ARP cache)</a:t>
            </a:r>
            <a:endParaRPr lang="zh-CN" altLang="en-US" sz="2000" b="1" dirty="0">
              <a:solidFill>
                <a:schemeClr val="bg1"/>
              </a:solidFill>
              <a:latin typeface="微软雅黑" pitchFamily="34" charset="-122"/>
              <a:ea typeface="微软雅黑" pitchFamily="34" charset="-122"/>
            </a:endParaRPr>
          </a:p>
        </p:txBody>
      </p:sp>
      <p:sp>
        <p:nvSpPr>
          <p:cNvPr id="67" name="Rectangle 68"/>
          <p:cNvSpPr>
            <a:spLocks noChangeArrowheads="1"/>
          </p:cNvSpPr>
          <p:nvPr/>
        </p:nvSpPr>
        <p:spPr bwMode="auto">
          <a:xfrm>
            <a:off x="448327" y="958787"/>
            <a:ext cx="8306380" cy="122084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28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rPr>
              <a:t>ARP </a:t>
            </a:r>
            <a:r>
              <a:rPr lang="zh-CN" altLang="en-US" sz="2000" b="1" dirty="0">
                <a:solidFill>
                  <a:srgbClr val="C00000"/>
                </a:solidFill>
                <a:latin typeface="微软雅黑" pitchFamily="34" charset="-122"/>
                <a:ea typeface="微软雅黑" pitchFamily="34" charset="-122"/>
              </a:rPr>
              <a:t>高速缓存 </a:t>
            </a:r>
            <a:r>
              <a:rPr lang="en-US" altLang="zh-CN" sz="2000" b="1" dirty="0">
                <a:latin typeface="微软雅黑" pitchFamily="34" charset="-122"/>
                <a:ea typeface="微软雅黑" pitchFamily="34" charset="-122"/>
              </a:rPr>
              <a:t>(ARP cache)</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存放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地址到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地址的映射表。</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映射表动态更新（新增或超时删除）。</a:t>
            </a:r>
          </a:p>
        </p:txBody>
      </p:sp>
      <p:sp>
        <p:nvSpPr>
          <p:cNvPr id="84" name="Rectangle 4"/>
          <p:cNvSpPr>
            <a:spLocks noChangeArrowheads="1"/>
          </p:cNvSpPr>
          <p:nvPr/>
        </p:nvSpPr>
        <p:spPr bwMode="auto">
          <a:xfrm>
            <a:off x="1802552" y="2183603"/>
            <a:ext cx="6627740" cy="369332"/>
          </a:xfrm>
          <a:prstGeom prst="rect">
            <a:avLst/>
          </a:prstGeom>
          <a:solidFill>
            <a:srgbClr val="00FFFF"/>
          </a:solidFill>
          <a:ln w="12700">
            <a:solidFill>
              <a:schemeClr val="tx1"/>
            </a:solidFill>
          </a:ln>
          <a:effectLst/>
        </p:spPr>
        <p:txBody>
          <a:bodyPr wrap="square">
            <a:spAutoFit/>
          </a:bodyPr>
          <a:lstStyle/>
          <a:p>
            <a:pPr algn="ctr"/>
            <a:r>
              <a:rPr kumimoji="0" lang="en-US" altLang="zh-CN" b="1" dirty="0">
                <a:solidFill>
                  <a:srgbClr val="0000CC"/>
                </a:solidFill>
                <a:latin typeface="微软雅黑" pitchFamily="34" charset="-122"/>
                <a:ea typeface="微软雅黑" pitchFamily="34" charset="-122"/>
              </a:rPr>
              <a:t>&lt; IP </a:t>
            </a:r>
            <a:r>
              <a:rPr lang="zh-CN" altLang="en-US" b="1" dirty="0">
                <a:solidFill>
                  <a:srgbClr val="0000CC"/>
                </a:solidFill>
                <a:latin typeface="微软雅黑" pitchFamily="34" charset="-122"/>
                <a:ea typeface="微软雅黑" pitchFamily="34" charset="-122"/>
              </a:rPr>
              <a:t>地址</a:t>
            </a:r>
            <a:r>
              <a:rPr kumimoji="0" lang="zh-CN" altLang="en-US" b="1" dirty="0">
                <a:solidFill>
                  <a:srgbClr val="0000CC"/>
                </a:solidFill>
                <a:latin typeface="微软雅黑" pitchFamily="34" charset="-122"/>
                <a:ea typeface="微软雅黑" pitchFamily="34" charset="-122"/>
              </a:rPr>
              <a:t>；</a:t>
            </a:r>
            <a:r>
              <a:rPr kumimoji="0" lang="en-US" altLang="zh-CN" b="1" dirty="0">
                <a:solidFill>
                  <a:srgbClr val="0000CC"/>
                </a:solidFill>
                <a:latin typeface="微软雅黑" pitchFamily="34" charset="-122"/>
                <a:ea typeface="微软雅黑" pitchFamily="34" charset="-122"/>
              </a:rPr>
              <a:t>MAC </a:t>
            </a:r>
            <a:r>
              <a:rPr kumimoji="0" lang="zh-CN" altLang="en-US" b="1" dirty="0">
                <a:solidFill>
                  <a:srgbClr val="0000CC"/>
                </a:solidFill>
                <a:latin typeface="微软雅黑" pitchFamily="34" charset="-122"/>
                <a:ea typeface="微软雅黑" pitchFamily="34" charset="-122"/>
              </a:rPr>
              <a:t>地址</a:t>
            </a:r>
            <a:r>
              <a:rPr lang="zh-CN" altLang="en-US" b="1" dirty="0">
                <a:solidFill>
                  <a:srgbClr val="0000CC"/>
                </a:solidFill>
                <a:latin typeface="微软雅黑" pitchFamily="34" charset="-122"/>
                <a:ea typeface="微软雅黑" pitchFamily="34" charset="-122"/>
              </a:rPr>
              <a:t>；生存时间 </a:t>
            </a:r>
            <a:r>
              <a:rPr lang="en-US" altLang="zh-CN" b="1" dirty="0">
                <a:solidFill>
                  <a:srgbClr val="0000CC"/>
                </a:solidFill>
                <a:latin typeface="微软雅黑" pitchFamily="34" charset="-122"/>
                <a:ea typeface="微软雅黑" pitchFamily="34" charset="-122"/>
              </a:rPr>
              <a:t>(Age)</a:t>
            </a:r>
            <a:r>
              <a:rPr lang="zh-CN" altLang="en-US" b="1" dirty="0">
                <a:solidFill>
                  <a:srgbClr val="0000CC"/>
                </a:solidFill>
                <a:latin typeface="微软雅黑" pitchFamily="34" charset="-122"/>
                <a:ea typeface="微软雅黑" pitchFamily="34" charset="-122"/>
              </a:rPr>
              <a:t>；</a:t>
            </a:r>
            <a:r>
              <a:rPr kumimoji="0" lang="zh-CN" altLang="en-US" b="1" dirty="0">
                <a:solidFill>
                  <a:srgbClr val="0000CC"/>
                </a:solidFill>
                <a:latin typeface="微软雅黑" pitchFamily="34" charset="-122"/>
                <a:ea typeface="微软雅黑" pitchFamily="34" charset="-122"/>
              </a:rPr>
              <a:t>类型等</a:t>
            </a:r>
            <a:r>
              <a:rPr kumimoji="0" lang="en-US" altLang="zh-CN" b="1" dirty="0">
                <a:solidFill>
                  <a:srgbClr val="0000CC"/>
                </a:solidFill>
                <a:latin typeface="微软雅黑" pitchFamily="34" charset="-122"/>
                <a:ea typeface="微软雅黑" pitchFamily="34" charset="-122"/>
              </a:rPr>
              <a:t> &gt;</a:t>
            </a:r>
          </a:p>
        </p:txBody>
      </p:sp>
      <p:graphicFrame>
        <p:nvGraphicFramePr>
          <p:cNvPr id="3" name="表格 2"/>
          <p:cNvGraphicFramePr>
            <a:graphicFrameLocks noGrp="1"/>
          </p:cNvGraphicFramePr>
          <p:nvPr>
            <p:extLst>
              <p:ext uri="{D42A27DB-BD31-4B8C-83A1-F6EECF244321}">
                <p14:modId xmlns:p14="http://schemas.microsoft.com/office/powerpoint/2010/main" val="219214929"/>
              </p:ext>
            </p:extLst>
          </p:nvPr>
        </p:nvGraphicFramePr>
        <p:xfrm>
          <a:off x="1026530" y="2592094"/>
          <a:ext cx="6924198" cy="1483360"/>
        </p:xfrm>
        <a:graphic>
          <a:graphicData uri="http://schemas.openxmlformats.org/drawingml/2006/table">
            <a:tbl>
              <a:tblPr firstRow="1" bandRow="1">
                <a:tableStyleId>{5C22544A-7EE6-4342-B048-85BDC9FD1C3A}</a:tableStyleId>
              </a:tblPr>
              <a:tblGrid>
                <a:gridCol w="1286217">
                  <a:extLst>
                    <a:ext uri="{9D8B030D-6E8A-4147-A177-3AD203B41FA5}">
                      <a16:colId xmlns:a16="http://schemas.microsoft.com/office/drawing/2014/main" val="2806046851"/>
                    </a:ext>
                  </a:extLst>
                </a:gridCol>
                <a:gridCol w="2073784">
                  <a:extLst>
                    <a:ext uri="{9D8B030D-6E8A-4147-A177-3AD203B41FA5}">
                      <a16:colId xmlns:a16="http://schemas.microsoft.com/office/drawing/2014/main" val="2108766633"/>
                    </a:ext>
                  </a:extLst>
                </a:gridCol>
                <a:gridCol w="1565357">
                  <a:extLst>
                    <a:ext uri="{9D8B030D-6E8A-4147-A177-3AD203B41FA5}">
                      <a16:colId xmlns:a16="http://schemas.microsoft.com/office/drawing/2014/main" val="2463580703"/>
                    </a:ext>
                  </a:extLst>
                </a:gridCol>
                <a:gridCol w="1228203">
                  <a:extLst>
                    <a:ext uri="{9D8B030D-6E8A-4147-A177-3AD203B41FA5}">
                      <a16:colId xmlns:a16="http://schemas.microsoft.com/office/drawing/2014/main" val="2395055679"/>
                    </a:ext>
                  </a:extLst>
                </a:gridCol>
                <a:gridCol w="770637">
                  <a:extLst>
                    <a:ext uri="{9D8B030D-6E8A-4147-A177-3AD203B41FA5}">
                      <a16:colId xmlns:a16="http://schemas.microsoft.com/office/drawing/2014/main" val="949142939"/>
                    </a:ext>
                  </a:extLst>
                </a:gridCol>
              </a:tblGrid>
              <a:tr h="370840">
                <a:tc>
                  <a:txBody>
                    <a:bodyPr/>
                    <a:lstStyle/>
                    <a:p>
                      <a:pPr algn="ct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a:t>
                      </a:r>
                    </a:p>
                  </a:txBody>
                  <a:tcPr anchor="ctr"/>
                </a:tc>
                <a:tc>
                  <a:txBody>
                    <a:bodyPr/>
                    <a:lstStyle/>
                    <a:p>
                      <a:pPr algn="ctr"/>
                      <a:r>
                        <a:rPr lang="en-US" altLang="zh-CN" sz="1600" b="1" dirty="0">
                          <a:latin typeface="微软雅黑" panose="020B0503020204020204" pitchFamily="34" charset="-122"/>
                          <a:ea typeface="微软雅黑" panose="020B0503020204020204" pitchFamily="34" charset="-122"/>
                        </a:rPr>
                        <a:t>MAC </a:t>
                      </a:r>
                      <a:r>
                        <a:rPr lang="zh-CN" altLang="en-US" sz="1600" b="1" dirty="0">
                          <a:latin typeface="微软雅黑" panose="020B0503020204020204" pitchFamily="34" charset="-122"/>
                          <a:ea typeface="微软雅黑" panose="020B0503020204020204" pitchFamily="34" charset="-122"/>
                        </a:rPr>
                        <a:t>地址</a:t>
                      </a:r>
                    </a:p>
                  </a:txBody>
                  <a:tcPr anchor="ctr"/>
                </a:tc>
                <a:tc>
                  <a:txBody>
                    <a:bodyPr/>
                    <a:lstStyle/>
                    <a:p>
                      <a:pPr algn="ctr"/>
                      <a:r>
                        <a:rPr lang="zh-CN" altLang="en-US" sz="1600" b="1" dirty="0">
                          <a:latin typeface="微软雅黑" panose="020B0503020204020204" pitchFamily="34" charset="-122"/>
                          <a:ea typeface="微软雅黑" panose="020B0503020204020204" pitchFamily="34" charset="-122"/>
                        </a:rPr>
                        <a:t>生存时间 </a:t>
                      </a:r>
                      <a:r>
                        <a:rPr lang="en-US" altLang="zh-CN" sz="1600" b="1" dirty="0">
                          <a:latin typeface="微软雅黑" panose="020B0503020204020204" pitchFamily="34" charset="-122"/>
                          <a:ea typeface="微软雅黑" panose="020B0503020204020204" pitchFamily="34" charset="-122"/>
                        </a:rPr>
                        <a:t>(Age)</a:t>
                      </a:r>
                      <a:endParaRPr lang="zh-CN" altLang="en-US" sz="1600" b="1" dirty="0">
                        <a:latin typeface="微软雅黑" panose="020B0503020204020204" pitchFamily="34" charset="-122"/>
                        <a:ea typeface="微软雅黑" panose="020B0503020204020204" pitchFamily="34" charset="-122"/>
                      </a:endParaRPr>
                    </a:p>
                  </a:txBody>
                  <a:tcPr anchor="ctr"/>
                </a:tc>
                <a:tc>
                  <a:txBody>
                    <a:bodyPr/>
                    <a:lstStyle/>
                    <a:p>
                      <a:pPr algn="ctr"/>
                      <a:r>
                        <a:rPr lang="zh-CN" altLang="en-US" sz="1600" b="1" dirty="0">
                          <a:latin typeface="微软雅黑" panose="020B0503020204020204" pitchFamily="34" charset="-122"/>
                          <a:ea typeface="微软雅黑" panose="020B0503020204020204" pitchFamily="34" charset="-122"/>
                        </a:rPr>
                        <a:t>类型</a:t>
                      </a:r>
                    </a:p>
                  </a:txBody>
                  <a:tcPr anchor="ctr"/>
                </a:tc>
                <a:tc>
                  <a:txBody>
                    <a:bodyPr/>
                    <a:lstStyle/>
                    <a:p>
                      <a:pPr algn="ctr"/>
                      <a:r>
                        <a:rPr lang="zh-CN" altLang="en-US" sz="1600" b="1" dirty="0">
                          <a:latin typeface="微软雅黑" panose="020B0503020204020204" pitchFamily="34" charset="-122"/>
                          <a:ea typeface="微软雅黑" panose="020B0503020204020204" pitchFamily="34" charset="-122"/>
                        </a:rPr>
                        <a:t>其他</a:t>
                      </a:r>
                    </a:p>
                  </a:txBody>
                  <a:tcPr anchor="ctr"/>
                </a:tc>
                <a:extLst>
                  <a:ext uri="{0D108BD9-81ED-4DB2-BD59-A6C34878D82A}">
                    <a16:rowId xmlns:a16="http://schemas.microsoft.com/office/drawing/2014/main" val="3622401503"/>
                  </a:ext>
                </a:extLst>
              </a:tr>
              <a:tr h="370840">
                <a:tc>
                  <a:txBody>
                    <a:bodyPr/>
                    <a:lstStyle/>
                    <a:p>
                      <a:r>
                        <a:rPr lang="en-US" altLang="zh-CN" sz="1600" b="1" dirty="0">
                          <a:latin typeface="微软雅黑" panose="020B0503020204020204" pitchFamily="34" charset="-122"/>
                          <a:ea typeface="微软雅黑" panose="020B0503020204020204" pitchFamily="34" charset="-122"/>
                        </a:rPr>
                        <a:t>10.4.9.2</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r>
                        <a:rPr lang="en-US" altLang="zh-CN" sz="1600" b="1" dirty="0">
                          <a:latin typeface="微软雅黑" panose="020B0503020204020204" pitchFamily="34" charset="-122"/>
                          <a:ea typeface="微软雅黑" panose="020B0503020204020204" pitchFamily="34" charset="-122"/>
                        </a:rPr>
                        <a:t>0030.7131.abfc</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r>
                        <a:rPr lang="en-US" altLang="zh-CN" sz="1600" b="1" dirty="0">
                          <a:latin typeface="微软雅黑" panose="020B0503020204020204" pitchFamily="34" charset="-122"/>
                          <a:ea typeface="微软雅黑" panose="020B0503020204020204" pitchFamily="34" charset="-122"/>
                        </a:rPr>
                        <a:t>00:08:55</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r>
                        <a:rPr lang="en-US" altLang="zh-CN" sz="1600" b="1" dirty="0">
                          <a:latin typeface="微软雅黑" panose="020B0503020204020204" pitchFamily="34" charset="-122"/>
                          <a:ea typeface="微软雅黑" panose="020B0503020204020204" pitchFamily="34" charset="-122"/>
                        </a:rPr>
                        <a:t>Dynamic</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endParaRPr lang="zh-CN" altLang="en-US" sz="1600" b="1" dirty="0">
                        <a:latin typeface="微软雅黑" panose="020B0503020204020204" pitchFamily="34" charset="-122"/>
                        <a:ea typeface="微软雅黑" panose="020B0503020204020204" pitchFamily="34" charset="-122"/>
                      </a:endParaRPr>
                    </a:p>
                  </a:txBody>
                  <a:tcPr/>
                </a:tc>
                <a:extLst>
                  <a:ext uri="{0D108BD9-81ED-4DB2-BD59-A6C34878D82A}">
                    <a16:rowId xmlns:a16="http://schemas.microsoft.com/office/drawing/2014/main" val="4025832959"/>
                  </a:ext>
                </a:extLst>
              </a:tr>
              <a:tr h="370840">
                <a:tc>
                  <a:txBody>
                    <a:bodyPr/>
                    <a:lstStyle/>
                    <a:p>
                      <a:r>
                        <a:rPr lang="en-US" altLang="zh-CN" sz="1600" b="1" dirty="0">
                          <a:latin typeface="微软雅黑" panose="020B0503020204020204" pitchFamily="34" charset="-122"/>
                          <a:ea typeface="微软雅黑" panose="020B0503020204020204" pitchFamily="34" charset="-122"/>
                        </a:rPr>
                        <a:t>10.4.9.1</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r>
                        <a:rPr lang="en-US" altLang="zh-CN" sz="1600" b="1" dirty="0">
                          <a:latin typeface="微软雅黑" panose="020B0503020204020204" pitchFamily="34" charset="-122"/>
                          <a:ea typeface="微软雅黑" panose="020B0503020204020204" pitchFamily="34" charset="-122"/>
                        </a:rPr>
                        <a:t>0000.0c07.ac24</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r>
                        <a:rPr lang="en-US" altLang="zh-CN" sz="1600" b="1" dirty="0">
                          <a:latin typeface="微软雅黑" panose="020B0503020204020204" pitchFamily="34" charset="-122"/>
                          <a:ea typeface="微软雅黑" panose="020B0503020204020204" pitchFamily="34" charset="-122"/>
                        </a:rPr>
                        <a:t>00:02:55</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r>
                        <a:rPr lang="en-US" altLang="zh-CN" sz="1600" b="1" dirty="0">
                          <a:latin typeface="微软雅黑" panose="020B0503020204020204" pitchFamily="34" charset="-122"/>
                          <a:ea typeface="微软雅黑" panose="020B0503020204020204" pitchFamily="34" charset="-122"/>
                        </a:rPr>
                        <a:t>Dynamic</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endParaRPr lang="zh-CN" altLang="en-US" sz="1600" b="1" dirty="0">
                        <a:latin typeface="微软雅黑" panose="020B0503020204020204" pitchFamily="34" charset="-122"/>
                        <a:ea typeface="微软雅黑" panose="020B0503020204020204" pitchFamily="34" charset="-122"/>
                      </a:endParaRPr>
                    </a:p>
                  </a:txBody>
                  <a:tcPr/>
                </a:tc>
                <a:extLst>
                  <a:ext uri="{0D108BD9-81ED-4DB2-BD59-A6C34878D82A}">
                    <a16:rowId xmlns:a16="http://schemas.microsoft.com/office/drawing/2014/main" val="899956322"/>
                  </a:ext>
                </a:extLst>
              </a:tr>
              <a:tr h="370840">
                <a:tc>
                  <a:txBody>
                    <a:bodyPr/>
                    <a:lstStyle/>
                    <a:p>
                      <a:r>
                        <a:rPr lang="en-US" altLang="zh-CN" sz="1600" b="1" dirty="0">
                          <a:latin typeface="微软雅黑" panose="020B0503020204020204" pitchFamily="34" charset="-122"/>
                          <a:ea typeface="微软雅黑" panose="020B0503020204020204" pitchFamily="34" charset="-122"/>
                        </a:rPr>
                        <a:t>10.4.9.99</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r>
                        <a:rPr lang="en-US" altLang="zh-CN" sz="1600" b="1" dirty="0">
                          <a:latin typeface="微软雅黑" panose="020B0503020204020204" pitchFamily="34" charset="-122"/>
                          <a:ea typeface="微软雅黑" panose="020B0503020204020204" pitchFamily="34" charset="-122"/>
                        </a:rPr>
                        <a:t>0007.ebea.44d0 </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r>
                        <a:rPr lang="en-US" altLang="zh-CN" sz="1600" b="1" dirty="0">
                          <a:latin typeface="微软雅黑" panose="020B0503020204020204" pitchFamily="34" charset="-122"/>
                          <a:ea typeface="微软雅黑" panose="020B0503020204020204" pitchFamily="34" charset="-122"/>
                        </a:rPr>
                        <a:t>00:06:12</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r>
                        <a:rPr lang="en-US" altLang="zh-CN" sz="1600" b="1" dirty="0">
                          <a:latin typeface="微软雅黑" panose="020B0503020204020204" pitchFamily="34" charset="-122"/>
                          <a:ea typeface="微软雅黑" panose="020B0503020204020204" pitchFamily="34" charset="-122"/>
                        </a:rPr>
                        <a:t>Dynamic</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endParaRPr lang="zh-CN" altLang="en-US" sz="1600" b="1" dirty="0">
                        <a:latin typeface="微软雅黑" panose="020B0503020204020204" pitchFamily="34" charset="-122"/>
                        <a:ea typeface="微软雅黑" panose="020B0503020204020204" pitchFamily="34" charset="-122"/>
                      </a:endParaRPr>
                    </a:p>
                  </a:txBody>
                  <a:tcPr/>
                </a:tc>
                <a:extLst>
                  <a:ext uri="{0D108BD9-81ED-4DB2-BD59-A6C34878D82A}">
                    <a16:rowId xmlns:a16="http://schemas.microsoft.com/office/drawing/2014/main" val="2031722197"/>
                  </a:ext>
                </a:extLst>
              </a:tr>
            </a:tbl>
          </a:graphicData>
        </a:graphic>
      </p:graphicFrame>
      <p:sp>
        <p:nvSpPr>
          <p:cNvPr id="4" name="矩形 3"/>
          <p:cNvSpPr/>
          <p:nvPr/>
        </p:nvSpPr>
        <p:spPr>
          <a:xfrm>
            <a:off x="933809" y="4127607"/>
            <a:ext cx="7109639" cy="369332"/>
          </a:xfrm>
          <a:prstGeom prst="rect">
            <a:avLst/>
          </a:prstGeom>
        </p:spPr>
        <p:style>
          <a:lnRef idx="1">
            <a:schemeClr val="accent2"/>
          </a:lnRef>
          <a:fillRef idx="3">
            <a:schemeClr val="accent2"/>
          </a:fillRef>
          <a:effectRef idx="2">
            <a:schemeClr val="accent2"/>
          </a:effectRef>
          <a:fontRef idx="minor">
            <a:schemeClr val="lt1"/>
          </a:fontRef>
        </p:style>
        <p:txBody>
          <a:bodyPr wrap="none">
            <a:spAutoFit/>
          </a:bodyPr>
          <a:lstStyle/>
          <a:p>
            <a:r>
              <a:rPr lang="zh-CN" altLang="en-US" b="1" dirty="0">
                <a:solidFill>
                  <a:srgbClr val="FFFF00"/>
                </a:solidFill>
                <a:latin typeface="微软雅黑" panose="020B0503020204020204" pitchFamily="34" charset="-122"/>
                <a:ea typeface="微软雅黑" panose="020B0503020204020204" pitchFamily="34" charset="-122"/>
              </a:rPr>
              <a:t>超过生存时间</a:t>
            </a:r>
            <a:r>
              <a:rPr lang="zh-CN" altLang="en-US" b="1" dirty="0">
                <a:latin typeface="微软雅黑" panose="020B0503020204020204" pitchFamily="34" charset="-122"/>
                <a:ea typeface="微软雅黑" panose="020B0503020204020204" pitchFamily="34" charset="-122"/>
              </a:rPr>
              <a:t>的项目都从高速缓存中删除，以适应网络适配器变化。</a:t>
            </a:r>
          </a:p>
        </p:txBody>
      </p:sp>
      <p:sp>
        <p:nvSpPr>
          <p:cNvPr id="5" name="矩形 4"/>
          <p:cNvSpPr/>
          <p:nvPr/>
        </p:nvSpPr>
        <p:spPr>
          <a:xfrm>
            <a:off x="843764" y="2170609"/>
            <a:ext cx="877163" cy="369332"/>
          </a:xfrm>
          <a:prstGeom prst="rect">
            <a:avLst/>
          </a:prstGeom>
        </p:spPr>
        <p:txBody>
          <a:bodyPr wrap="none">
            <a:spAutoFit/>
          </a:bodyPr>
          <a:lstStyle/>
          <a:p>
            <a:r>
              <a:rPr lang="zh-CN" altLang="en-US" b="1" dirty="0">
                <a:latin typeface="微软雅黑" panose="020B0503020204020204" pitchFamily="34" charset="-122"/>
                <a:ea typeface="微软雅黑" panose="020B0503020204020204" pitchFamily="34" charset="-122"/>
              </a:rPr>
              <a:t>映射表</a:t>
            </a:r>
          </a:p>
        </p:txBody>
      </p:sp>
    </p:spTree>
    <p:extLst>
      <p:ext uri="{BB962C8B-B14F-4D97-AF65-F5344CB8AC3E}">
        <p14:creationId xmlns:p14="http://schemas.microsoft.com/office/powerpoint/2010/main" val="98092364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AutoShape 5"/>
          <p:cNvSpPr>
            <a:spLocks noChangeArrowheads="1"/>
          </p:cNvSpPr>
          <p:nvPr/>
        </p:nvSpPr>
        <p:spPr bwMode="auto">
          <a:xfrm>
            <a:off x="556963" y="60312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6" name="Rectangle 6"/>
          <p:cNvSpPr>
            <a:spLocks noChangeArrowheads="1"/>
          </p:cNvSpPr>
          <p:nvPr/>
        </p:nvSpPr>
        <p:spPr bwMode="auto">
          <a:xfrm>
            <a:off x="3421418" y="569913"/>
            <a:ext cx="231986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要点 </a:t>
            </a:r>
            <a:r>
              <a:rPr lang="en-US" altLang="zh-CN" sz="2000" b="1" dirty="0">
                <a:solidFill>
                  <a:schemeClr val="bg1"/>
                </a:solidFill>
                <a:latin typeface="微软雅黑" pitchFamily="34" charset="-122"/>
                <a:ea typeface="微软雅黑" pitchFamily="34" charset="-122"/>
              </a:rPr>
              <a:t>2</a:t>
            </a:r>
            <a:r>
              <a:rPr lang="zh-CN" altLang="en-US" sz="2000" b="1" dirty="0">
                <a:solidFill>
                  <a:schemeClr val="bg1"/>
                </a:solidFill>
                <a:latin typeface="微软雅黑" pitchFamily="34" charset="-122"/>
                <a:ea typeface="微软雅黑" pitchFamily="34" charset="-122"/>
              </a:rPr>
              <a:t>：</a:t>
            </a:r>
            <a:r>
              <a:rPr lang="en-US" altLang="zh-CN" sz="2000" b="1" dirty="0">
                <a:solidFill>
                  <a:schemeClr val="bg1"/>
                </a:solidFill>
                <a:latin typeface="微软雅黑" pitchFamily="34" charset="-122"/>
                <a:ea typeface="微软雅黑" pitchFamily="34" charset="-122"/>
              </a:rPr>
              <a:t>ARP </a:t>
            </a:r>
            <a:r>
              <a:rPr lang="zh-CN" altLang="en-US" sz="2000" b="1" dirty="0">
                <a:solidFill>
                  <a:schemeClr val="bg1"/>
                </a:solidFill>
                <a:latin typeface="微软雅黑" pitchFamily="34" charset="-122"/>
                <a:ea typeface="微软雅黑" pitchFamily="34" charset="-122"/>
              </a:rPr>
              <a:t>工作</a:t>
            </a:r>
          </a:p>
        </p:txBody>
      </p:sp>
      <p:sp>
        <p:nvSpPr>
          <p:cNvPr id="9" name="Rectangle 68"/>
          <p:cNvSpPr>
            <a:spLocks noChangeArrowheads="1"/>
          </p:cNvSpPr>
          <p:nvPr/>
        </p:nvSpPr>
        <p:spPr bwMode="auto">
          <a:xfrm>
            <a:off x="448327" y="945279"/>
            <a:ext cx="8306380" cy="5155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当主机 </a:t>
            </a:r>
            <a:r>
              <a:rPr lang="en-US" altLang="zh-CN" sz="2000" b="1" dirty="0">
                <a:latin typeface="微软雅黑" pitchFamily="34" charset="-122"/>
                <a:ea typeface="微软雅黑" pitchFamily="34" charset="-122"/>
              </a:rPr>
              <a:t>A </a:t>
            </a:r>
            <a:r>
              <a:rPr lang="zh-CN" altLang="en-US" sz="2000" b="1" dirty="0">
                <a:latin typeface="微软雅黑" pitchFamily="34" charset="-122"/>
                <a:ea typeface="微软雅黑" pitchFamily="34" charset="-122"/>
              </a:rPr>
              <a:t>欲向</a:t>
            </a:r>
            <a:r>
              <a:rPr lang="zh-CN" altLang="en-US" sz="2000" b="1" dirty="0">
                <a:solidFill>
                  <a:srgbClr val="C00000"/>
                </a:solidFill>
                <a:latin typeface="微软雅黑" pitchFamily="34" charset="-122"/>
                <a:ea typeface="微软雅黑" pitchFamily="34" charset="-122"/>
              </a:rPr>
              <a:t>本局域网上</a:t>
            </a:r>
            <a:r>
              <a:rPr lang="zh-CN" altLang="en-US" sz="2000" b="1" dirty="0">
                <a:latin typeface="微软雅黑" pitchFamily="34" charset="-122"/>
                <a:ea typeface="微软雅黑" pitchFamily="34" charset="-122"/>
              </a:rPr>
              <a:t>的某个主机 </a:t>
            </a:r>
            <a:r>
              <a:rPr lang="en-US" altLang="zh-CN" sz="2000" b="1" dirty="0">
                <a:latin typeface="微软雅黑" pitchFamily="34" charset="-122"/>
                <a:ea typeface="微软雅黑" pitchFamily="34" charset="-122"/>
              </a:rPr>
              <a:t>B </a:t>
            </a:r>
            <a:r>
              <a:rPr lang="zh-CN" altLang="en-US" sz="2000" b="1" dirty="0">
                <a:latin typeface="微软雅黑" pitchFamily="34" charset="-122"/>
                <a:ea typeface="微软雅黑" pitchFamily="34" charset="-122"/>
              </a:rPr>
              <a:t>发送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数据报时：</a:t>
            </a:r>
          </a:p>
        </p:txBody>
      </p:sp>
      <p:sp>
        <p:nvSpPr>
          <p:cNvPr id="2" name="矩形 1"/>
          <p:cNvSpPr/>
          <p:nvPr/>
        </p:nvSpPr>
        <p:spPr>
          <a:xfrm>
            <a:off x="2242713" y="1399251"/>
            <a:ext cx="2467628" cy="500252"/>
          </a:xfrm>
          <a:prstGeom prst="rect">
            <a:avLst/>
          </a:prstGeom>
          <a:solidFill>
            <a:srgbClr val="00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latin typeface="微软雅黑" panose="020B0503020204020204" pitchFamily="34" charset="-122"/>
                <a:ea typeface="微软雅黑" panose="020B0503020204020204" pitchFamily="34" charset="-122"/>
              </a:rPr>
              <a:t>在其 </a:t>
            </a:r>
            <a:r>
              <a:rPr lang="en-US" altLang="zh-CN" sz="1400" b="1" dirty="0">
                <a:latin typeface="微软雅黑" panose="020B0503020204020204" pitchFamily="34" charset="-122"/>
                <a:ea typeface="微软雅黑" panose="020B0503020204020204" pitchFamily="34" charset="-122"/>
              </a:rPr>
              <a:t>ARP </a:t>
            </a:r>
            <a:r>
              <a:rPr lang="zh-CN" altLang="en-US" sz="1400" b="1" dirty="0">
                <a:latin typeface="微软雅黑" panose="020B0503020204020204" pitchFamily="34" charset="-122"/>
                <a:ea typeface="微软雅黑" panose="020B0503020204020204" pitchFamily="34" charset="-122"/>
              </a:rPr>
              <a:t>高速缓存</a:t>
            </a:r>
            <a:endParaRPr lang="en-US" altLang="zh-CN" sz="1400" b="1" dirty="0">
              <a:latin typeface="微软雅黑" panose="020B0503020204020204" pitchFamily="34" charset="-122"/>
              <a:ea typeface="微软雅黑" panose="020B0503020204020204" pitchFamily="34" charset="-122"/>
            </a:endParaRPr>
          </a:p>
          <a:p>
            <a:pPr algn="ctr"/>
            <a:r>
              <a:rPr lang="zh-CN" altLang="en-US" sz="1400" b="1" dirty="0">
                <a:latin typeface="微软雅黑" panose="020B0503020204020204" pitchFamily="34" charset="-122"/>
                <a:ea typeface="微软雅黑" panose="020B0503020204020204" pitchFamily="34" charset="-122"/>
              </a:rPr>
              <a:t>查找主机 </a:t>
            </a:r>
            <a:r>
              <a:rPr lang="en-US" altLang="zh-CN" sz="1400" b="1" dirty="0">
                <a:latin typeface="微软雅黑" panose="020B0503020204020204" pitchFamily="34" charset="-122"/>
                <a:ea typeface="微软雅黑" panose="020B0503020204020204" pitchFamily="34" charset="-122"/>
              </a:rPr>
              <a:t>B </a:t>
            </a:r>
            <a:r>
              <a:rPr lang="zh-CN" altLang="en-US" sz="1400" b="1" dirty="0">
                <a:latin typeface="微软雅黑" panose="020B0503020204020204" pitchFamily="34" charset="-122"/>
                <a:ea typeface="微软雅黑" panose="020B0503020204020204" pitchFamily="34" charset="-122"/>
              </a:rPr>
              <a:t>的 </a:t>
            </a:r>
            <a:r>
              <a:rPr lang="en-US" altLang="zh-CN" sz="1400" b="1" dirty="0">
                <a:latin typeface="微软雅黑" panose="020B0503020204020204" pitchFamily="34" charset="-122"/>
                <a:ea typeface="微软雅黑" panose="020B0503020204020204" pitchFamily="34" charset="-122"/>
              </a:rPr>
              <a:t>IP </a:t>
            </a:r>
            <a:r>
              <a:rPr lang="zh-CN" altLang="en-US" sz="1400" b="1" dirty="0">
                <a:latin typeface="微软雅黑" panose="020B0503020204020204" pitchFamily="34" charset="-122"/>
                <a:ea typeface="微软雅黑" panose="020B0503020204020204" pitchFamily="34" charset="-122"/>
              </a:rPr>
              <a:t>地址</a:t>
            </a:r>
          </a:p>
        </p:txBody>
      </p:sp>
      <p:sp>
        <p:nvSpPr>
          <p:cNvPr id="3" name="菱形 2"/>
          <p:cNvSpPr/>
          <p:nvPr/>
        </p:nvSpPr>
        <p:spPr>
          <a:xfrm>
            <a:off x="2449393" y="2112758"/>
            <a:ext cx="2054268" cy="469625"/>
          </a:xfrm>
          <a:prstGeom prst="diamond">
            <a:avLst/>
          </a:prstGeom>
          <a:solidFill>
            <a:srgbClr val="00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latin typeface="微软雅黑" panose="020B0503020204020204" pitchFamily="34" charset="-122"/>
                <a:ea typeface="微软雅黑" panose="020B0503020204020204" pitchFamily="34" charset="-122"/>
              </a:rPr>
              <a:t>找到？</a:t>
            </a:r>
          </a:p>
        </p:txBody>
      </p:sp>
      <p:sp>
        <p:nvSpPr>
          <p:cNvPr id="7" name="矩形 6"/>
          <p:cNvSpPr/>
          <p:nvPr/>
        </p:nvSpPr>
        <p:spPr>
          <a:xfrm>
            <a:off x="2242713" y="2776294"/>
            <a:ext cx="2467628" cy="500252"/>
          </a:xfrm>
          <a:prstGeom prst="rect">
            <a:avLst/>
          </a:prstGeom>
          <a:solidFill>
            <a:srgbClr val="00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latin typeface="微软雅黑" panose="020B0503020204020204" pitchFamily="34" charset="-122"/>
                <a:ea typeface="微软雅黑" panose="020B0503020204020204" pitchFamily="34" charset="-122"/>
              </a:rPr>
              <a:t>取出 </a:t>
            </a:r>
            <a:r>
              <a:rPr lang="en-US" altLang="zh-CN" sz="1400" b="1" dirty="0">
                <a:latin typeface="微软雅黑" panose="020B0503020204020204" pitchFamily="34" charset="-122"/>
                <a:ea typeface="微软雅黑" panose="020B0503020204020204" pitchFamily="34" charset="-122"/>
              </a:rPr>
              <a:t>MAC </a:t>
            </a:r>
            <a:r>
              <a:rPr lang="zh-CN" altLang="en-US" sz="1400" b="1" dirty="0">
                <a:latin typeface="微软雅黑" panose="020B0503020204020204" pitchFamily="34" charset="-122"/>
                <a:ea typeface="微软雅黑" panose="020B0503020204020204" pitchFamily="34" charset="-122"/>
              </a:rPr>
              <a:t>地址</a:t>
            </a:r>
          </a:p>
        </p:txBody>
      </p:sp>
      <p:sp>
        <p:nvSpPr>
          <p:cNvPr id="8" name="矩形 7"/>
          <p:cNvSpPr/>
          <p:nvPr/>
        </p:nvSpPr>
        <p:spPr>
          <a:xfrm>
            <a:off x="2242713" y="3492655"/>
            <a:ext cx="2467628" cy="500252"/>
          </a:xfrm>
          <a:prstGeom prst="rect">
            <a:avLst/>
          </a:prstGeom>
          <a:solidFill>
            <a:srgbClr val="00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latin typeface="微软雅黑" panose="020B0503020204020204" pitchFamily="34" charset="-122"/>
                <a:ea typeface="微软雅黑" panose="020B0503020204020204" pitchFamily="34" charset="-122"/>
              </a:rPr>
              <a:t>将该 </a:t>
            </a:r>
            <a:r>
              <a:rPr lang="en-US" altLang="zh-CN" sz="1400" b="1" dirty="0">
                <a:latin typeface="微软雅黑" panose="020B0503020204020204" pitchFamily="34" charset="-122"/>
                <a:ea typeface="微软雅黑" panose="020B0503020204020204" pitchFamily="34" charset="-122"/>
              </a:rPr>
              <a:t>MAC </a:t>
            </a:r>
            <a:r>
              <a:rPr lang="zh-CN" altLang="en-US" sz="1400" b="1" dirty="0">
                <a:latin typeface="微软雅黑" panose="020B0503020204020204" pitchFamily="34" charset="-122"/>
                <a:ea typeface="微软雅黑" panose="020B0503020204020204" pitchFamily="34" charset="-122"/>
              </a:rPr>
              <a:t>地址写入 </a:t>
            </a:r>
            <a:r>
              <a:rPr lang="en-US" altLang="zh-CN" sz="1400" b="1" dirty="0">
                <a:latin typeface="微软雅黑" panose="020B0503020204020204" pitchFamily="34" charset="-122"/>
                <a:ea typeface="微软雅黑" panose="020B0503020204020204" pitchFamily="34" charset="-122"/>
              </a:rPr>
              <a:t>MAC </a:t>
            </a:r>
            <a:r>
              <a:rPr lang="zh-CN" altLang="en-US" sz="1400" b="1" dirty="0">
                <a:latin typeface="微软雅黑" panose="020B0503020204020204" pitchFamily="34" charset="-122"/>
                <a:ea typeface="微软雅黑" panose="020B0503020204020204" pitchFamily="34" charset="-122"/>
              </a:rPr>
              <a:t>帧的目的地址</a:t>
            </a:r>
          </a:p>
        </p:txBody>
      </p:sp>
      <p:sp>
        <p:nvSpPr>
          <p:cNvPr id="10" name="矩形 9"/>
          <p:cNvSpPr/>
          <p:nvPr/>
        </p:nvSpPr>
        <p:spPr>
          <a:xfrm>
            <a:off x="2242713" y="4209015"/>
            <a:ext cx="2467628" cy="500252"/>
          </a:xfrm>
          <a:prstGeom prst="rect">
            <a:avLst/>
          </a:prstGeom>
          <a:solidFill>
            <a:srgbClr val="00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latin typeface="微软雅黑" panose="020B0503020204020204" pitchFamily="34" charset="-122"/>
                <a:ea typeface="微软雅黑" panose="020B0503020204020204" pitchFamily="34" charset="-122"/>
              </a:rPr>
              <a:t>发送该 </a:t>
            </a:r>
            <a:r>
              <a:rPr lang="en-US" altLang="zh-CN" sz="1400" b="1" dirty="0">
                <a:latin typeface="微软雅黑" panose="020B0503020204020204" pitchFamily="34" charset="-122"/>
                <a:ea typeface="微软雅黑" panose="020B0503020204020204" pitchFamily="34" charset="-122"/>
              </a:rPr>
              <a:t>MAC </a:t>
            </a:r>
            <a:r>
              <a:rPr lang="zh-CN" altLang="en-US" sz="1400" b="1" dirty="0">
                <a:latin typeface="微软雅黑" panose="020B0503020204020204" pitchFamily="34" charset="-122"/>
                <a:ea typeface="微软雅黑" panose="020B0503020204020204" pitchFamily="34" charset="-122"/>
              </a:rPr>
              <a:t>帧</a:t>
            </a:r>
          </a:p>
        </p:txBody>
      </p:sp>
      <p:cxnSp>
        <p:nvCxnSpPr>
          <p:cNvPr id="5" name="直接箭头连接符 4"/>
          <p:cNvCxnSpPr>
            <a:stCxn id="2" idx="2"/>
            <a:endCxn id="3" idx="0"/>
          </p:cNvCxnSpPr>
          <p:nvPr/>
        </p:nvCxnSpPr>
        <p:spPr>
          <a:xfrm>
            <a:off x="3476527" y="1899503"/>
            <a:ext cx="0" cy="213255"/>
          </a:xfrm>
          <a:prstGeom prst="straightConnector1">
            <a:avLst/>
          </a:prstGeom>
          <a:ln w="12700">
            <a:solidFill>
              <a:srgbClr val="000099"/>
            </a:solidFill>
            <a:tailEnd type="triangle"/>
          </a:ln>
        </p:spPr>
        <p:style>
          <a:lnRef idx="1">
            <a:schemeClr val="accent1"/>
          </a:lnRef>
          <a:fillRef idx="0">
            <a:schemeClr val="accent1"/>
          </a:fillRef>
          <a:effectRef idx="0">
            <a:schemeClr val="accent1"/>
          </a:effectRef>
          <a:fontRef idx="minor">
            <a:schemeClr val="tx1"/>
          </a:fontRef>
        </p:style>
      </p:cxnSp>
      <p:cxnSp>
        <p:nvCxnSpPr>
          <p:cNvPr id="13" name="直接箭头连接符 12"/>
          <p:cNvCxnSpPr>
            <a:stCxn id="3" idx="2"/>
            <a:endCxn id="7" idx="0"/>
          </p:cNvCxnSpPr>
          <p:nvPr/>
        </p:nvCxnSpPr>
        <p:spPr>
          <a:xfrm>
            <a:off x="3476527" y="2582383"/>
            <a:ext cx="0" cy="193911"/>
          </a:xfrm>
          <a:prstGeom prst="straightConnector1">
            <a:avLst/>
          </a:prstGeom>
          <a:ln w="12700">
            <a:solidFill>
              <a:srgbClr val="000099"/>
            </a:solidFill>
            <a:tailEnd type="triangle"/>
          </a:ln>
        </p:spPr>
        <p:style>
          <a:lnRef idx="1">
            <a:schemeClr val="accent1"/>
          </a:lnRef>
          <a:fillRef idx="0">
            <a:schemeClr val="accent1"/>
          </a:fillRef>
          <a:effectRef idx="0">
            <a:schemeClr val="accent1"/>
          </a:effectRef>
          <a:fontRef idx="minor">
            <a:schemeClr val="tx1"/>
          </a:fontRef>
        </p:style>
      </p:cxnSp>
      <p:cxnSp>
        <p:nvCxnSpPr>
          <p:cNvPr id="16" name="直接箭头连接符 15"/>
          <p:cNvCxnSpPr>
            <a:stCxn id="7" idx="2"/>
            <a:endCxn id="8" idx="0"/>
          </p:cNvCxnSpPr>
          <p:nvPr/>
        </p:nvCxnSpPr>
        <p:spPr>
          <a:xfrm>
            <a:off x="3476527" y="3276546"/>
            <a:ext cx="0" cy="216109"/>
          </a:xfrm>
          <a:prstGeom prst="straightConnector1">
            <a:avLst/>
          </a:prstGeom>
          <a:ln w="12700">
            <a:solidFill>
              <a:srgbClr val="000099"/>
            </a:solidFill>
            <a:tailEnd type="triangle"/>
          </a:ln>
        </p:spPr>
        <p:style>
          <a:lnRef idx="1">
            <a:schemeClr val="accent1"/>
          </a:lnRef>
          <a:fillRef idx="0">
            <a:schemeClr val="accent1"/>
          </a:fillRef>
          <a:effectRef idx="0">
            <a:schemeClr val="accent1"/>
          </a:effectRef>
          <a:fontRef idx="minor">
            <a:schemeClr val="tx1"/>
          </a:fontRef>
        </p:style>
      </p:cxnSp>
      <p:cxnSp>
        <p:nvCxnSpPr>
          <p:cNvPr id="19" name="直接箭头连接符 18"/>
          <p:cNvCxnSpPr>
            <a:stCxn id="8" idx="2"/>
            <a:endCxn id="10" idx="0"/>
          </p:cNvCxnSpPr>
          <p:nvPr/>
        </p:nvCxnSpPr>
        <p:spPr>
          <a:xfrm>
            <a:off x="3476527" y="3992907"/>
            <a:ext cx="0" cy="216108"/>
          </a:xfrm>
          <a:prstGeom prst="straightConnector1">
            <a:avLst/>
          </a:prstGeom>
          <a:ln w="12700">
            <a:solidFill>
              <a:srgbClr val="000099"/>
            </a:solidFill>
            <a:tailEnd type="triangle"/>
          </a:ln>
        </p:spPr>
        <p:style>
          <a:lnRef idx="1">
            <a:schemeClr val="accent1"/>
          </a:lnRef>
          <a:fillRef idx="0">
            <a:schemeClr val="accent1"/>
          </a:fillRef>
          <a:effectRef idx="0">
            <a:schemeClr val="accent1"/>
          </a:effectRef>
          <a:fontRef idx="minor">
            <a:schemeClr val="tx1"/>
          </a:fontRef>
        </p:style>
      </p:cxnSp>
      <p:sp>
        <p:nvSpPr>
          <p:cNvPr id="20" name="文本框 19"/>
          <p:cNvSpPr txBox="1"/>
          <p:nvPr/>
        </p:nvSpPr>
        <p:spPr>
          <a:xfrm>
            <a:off x="3038116" y="2518640"/>
            <a:ext cx="501041" cy="276999"/>
          </a:xfrm>
          <a:prstGeom prst="rect">
            <a:avLst/>
          </a:prstGeom>
          <a:noFill/>
        </p:spPr>
        <p:txBody>
          <a:bodyPr wrap="square" rtlCol="0">
            <a:spAutoFit/>
          </a:bodyPr>
          <a:lstStyle/>
          <a:p>
            <a:pPr algn="ctr"/>
            <a:r>
              <a:rPr lang="zh-CN" altLang="en-US" sz="1200" b="1" dirty="0">
                <a:latin typeface="微软雅黑" panose="020B0503020204020204" pitchFamily="34" charset="-122"/>
                <a:ea typeface="微软雅黑" panose="020B0503020204020204" pitchFamily="34" charset="-122"/>
              </a:rPr>
              <a:t>是</a:t>
            </a:r>
          </a:p>
        </p:txBody>
      </p:sp>
      <p:sp>
        <p:nvSpPr>
          <p:cNvPr id="25" name="矩形 24"/>
          <p:cNvSpPr/>
          <p:nvPr/>
        </p:nvSpPr>
        <p:spPr>
          <a:xfrm>
            <a:off x="5299064" y="1899503"/>
            <a:ext cx="2467628" cy="896135"/>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latin typeface="微软雅黑" panose="020B0503020204020204" pitchFamily="34" charset="-122"/>
                <a:ea typeface="微软雅黑" panose="020B0503020204020204" pitchFamily="34" charset="-122"/>
              </a:rPr>
              <a:t>自动运行 </a:t>
            </a:r>
            <a:r>
              <a:rPr lang="en-US" altLang="zh-CN" sz="1400" b="1" dirty="0">
                <a:latin typeface="微软雅黑" panose="020B0503020204020204" pitchFamily="34" charset="-122"/>
                <a:ea typeface="微软雅黑" panose="020B0503020204020204" pitchFamily="34" charset="-122"/>
              </a:rPr>
              <a:t>ARP</a:t>
            </a:r>
            <a:r>
              <a:rPr lang="zh-CN" altLang="en-US" sz="1400" b="1" dirty="0">
                <a:latin typeface="微软雅黑" panose="020B0503020204020204" pitchFamily="34" charset="-122"/>
                <a:ea typeface="微软雅黑" panose="020B0503020204020204" pitchFamily="34" charset="-122"/>
              </a:rPr>
              <a:t>，找出主机 </a:t>
            </a:r>
            <a:r>
              <a:rPr lang="en-US" altLang="zh-CN" sz="1400" b="1" dirty="0">
                <a:latin typeface="微软雅黑" panose="020B0503020204020204" pitchFamily="34" charset="-122"/>
                <a:ea typeface="微软雅黑" panose="020B0503020204020204" pitchFamily="34" charset="-122"/>
              </a:rPr>
              <a:t>B </a:t>
            </a:r>
            <a:r>
              <a:rPr lang="zh-CN" altLang="en-US" sz="1400" b="1" dirty="0">
                <a:latin typeface="微软雅黑" panose="020B0503020204020204" pitchFamily="34" charset="-122"/>
                <a:ea typeface="微软雅黑" panose="020B0503020204020204" pitchFamily="34" charset="-122"/>
              </a:rPr>
              <a:t>的 </a:t>
            </a:r>
            <a:r>
              <a:rPr lang="en-US" altLang="zh-CN" sz="1400" b="1" dirty="0">
                <a:latin typeface="微软雅黑" panose="020B0503020204020204" pitchFamily="34" charset="-122"/>
                <a:ea typeface="微软雅黑" panose="020B0503020204020204" pitchFamily="34" charset="-122"/>
              </a:rPr>
              <a:t>MAC </a:t>
            </a:r>
            <a:r>
              <a:rPr lang="zh-CN" altLang="en-US" sz="1400" b="1" dirty="0">
                <a:latin typeface="微软雅黑" panose="020B0503020204020204" pitchFamily="34" charset="-122"/>
                <a:ea typeface="微软雅黑" panose="020B0503020204020204" pitchFamily="34" charset="-122"/>
              </a:rPr>
              <a:t>地址，</a:t>
            </a:r>
            <a:endParaRPr lang="en-US" altLang="zh-CN" sz="1400" b="1" dirty="0">
              <a:latin typeface="微软雅黑" panose="020B0503020204020204" pitchFamily="34" charset="-122"/>
              <a:ea typeface="微软雅黑" panose="020B0503020204020204" pitchFamily="34" charset="-122"/>
            </a:endParaRPr>
          </a:p>
          <a:p>
            <a:pPr algn="ctr"/>
            <a:r>
              <a:rPr lang="zh-CN" altLang="en-US" sz="1400" b="1" dirty="0">
                <a:latin typeface="微软雅黑" panose="020B0503020204020204" pitchFamily="34" charset="-122"/>
                <a:ea typeface="微软雅黑" panose="020B0503020204020204" pitchFamily="34" charset="-122"/>
              </a:rPr>
              <a:t>更新 </a:t>
            </a:r>
            <a:r>
              <a:rPr lang="en-US" altLang="zh-CN" sz="1400" b="1" dirty="0">
                <a:latin typeface="微软雅黑" panose="020B0503020204020204" pitchFamily="34" charset="-122"/>
                <a:ea typeface="微软雅黑" panose="020B0503020204020204" pitchFamily="34" charset="-122"/>
              </a:rPr>
              <a:t>ARP </a:t>
            </a:r>
            <a:r>
              <a:rPr lang="zh-CN" altLang="en-US" sz="1400" b="1" dirty="0">
                <a:latin typeface="微软雅黑" panose="020B0503020204020204" pitchFamily="34" charset="-122"/>
                <a:ea typeface="微软雅黑" panose="020B0503020204020204" pitchFamily="34" charset="-122"/>
              </a:rPr>
              <a:t>高速缓存</a:t>
            </a:r>
          </a:p>
        </p:txBody>
      </p:sp>
      <p:cxnSp>
        <p:nvCxnSpPr>
          <p:cNvPr id="26" name="直接箭头连接符 25"/>
          <p:cNvCxnSpPr>
            <a:stCxn id="3" idx="3"/>
            <a:endCxn id="25" idx="1"/>
          </p:cNvCxnSpPr>
          <p:nvPr/>
        </p:nvCxnSpPr>
        <p:spPr>
          <a:xfrm>
            <a:off x="4503661" y="2347571"/>
            <a:ext cx="795403" cy="0"/>
          </a:xfrm>
          <a:prstGeom prst="straightConnector1">
            <a:avLst/>
          </a:prstGeom>
          <a:ln w="12700">
            <a:solidFill>
              <a:srgbClr val="000099"/>
            </a:solidFill>
            <a:tailEnd type="triangle"/>
          </a:ln>
        </p:spPr>
        <p:style>
          <a:lnRef idx="1">
            <a:schemeClr val="accent1"/>
          </a:lnRef>
          <a:fillRef idx="0">
            <a:schemeClr val="accent1"/>
          </a:fillRef>
          <a:effectRef idx="0">
            <a:schemeClr val="accent1"/>
          </a:effectRef>
          <a:fontRef idx="minor">
            <a:schemeClr val="tx1"/>
          </a:fontRef>
        </p:style>
      </p:cxnSp>
      <p:cxnSp>
        <p:nvCxnSpPr>
          <p:cNvPr id="29" name="肘形连接符 28"/>
          <p:cNvCxnSpPr>
            <a:stCxn id="25" idx="2"/>
          </p:cNvCxnSpPr>
          <p:nvPr/>
        </p:nvCxnSpPr>
        <p:spPr>
          <a:xfrm rot="5400000">
            <a:off x="4724819" y="1559873"/>
            <a:ext cx="572294" cy="3043824"/>
          </a:xfrm>
          <a:prstGeom prst="bentConnector2">
            <a:avLst/>
          </a:prstGeom>
          <a:ln w="12700">
            <a:solidFill>
              <a:srgbClr val="000099"/>
            </a:solidFill>
            <a:tailEnd type="triangle"/>
          </a:ln>
        </p:spPr>
        <p:style>
          <a:lnRef idx="1">
            <a:schemeClr val="accent1"/>
          </a:lnRef>
          <a:fillRef idx="0">
            <a:schemeClr val="accent1"/>
          </a:fillRef>
          <a:effectRef idx="0">
            <a:schemeClr val="accent1"/>
          </a:effectRef>
          <a:fontRef idx="minor">
            <a:schemeClr val="tx1"/>
          </a:fontRef>
        </p:style>
      </p:cxnSp>
      <p:sp>
        <p:nvSpPr>
          <p:cNvPr id="21" name="文本框 20"/>
          <p:cNvSpPr txBox="1"/>
          <p:nvPr/>
        </p:nvSpPr>
        <p:spPr>
          <a:xfrm>
            <a:off x="4400321" y="2110088"/>
            <a:ext cx="501041" cy="276999"/>
          </a:xfrm>
          <a:prstGeom prst="rect">
            <a:avLst/>
          </a:prstGeom>
          <a:noFill/>
        </p:spPr>
        <p:txBody>
          <a:bodyPr wrap="square" rtlCol="0">
            <a:spAutoFit/>
          </a:bodyPr>
          <a:lstStyle/>
          <a:p>
            <a:pPr algn="ctr"/>
            <a:r>
              <a:rPr lang="zh-CN" altLang="en-US" sz="1200" b="1" dirty="0">
                <a:latin typeface="微软雅黑" panose="020B0503020204020204" pitchFamily="34" charset="-122"/>
                <a:ea typeface="微软雅黑" panose="020B0503020204020204" pitchFamily="34" charset="-122"/>
              </a:rPr>
              <a:t>否</a:t>
            </a:r>
          </a:p>
        </p:txBody>
      </p:sp>
    </p:spTree>
    <p:extLst>
      <p:ext uri="{BB962C8B-B14F-4D97-AF65-F5344CB8AC3E}">
        <p14:creationId xmlns:p14="http://schemas.microsoft.com/office/powerpoint/2010/main" val="34618406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AutoShape 5"/>
          <p:cNvSpPr>
            <a:spLocks noChangeArrowheads="1"/>
          </p:cNvSpPr>
          <p:nvPr/>
        </p:nvSpPr>
        <p:spPr bwMode="auto">
          <a:xfrm>
            <a:off x="556963" y="60312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6" name="Rectangle 6"/>
          <p:cNvSpPr>
            <a:spLocks noChangeArrowheads="1"/>
          </p:cNvSpPr>
          <p:nvPr/>
        </p:nvSpPr>
        <p:spPr bwMode="auto">
          <a:xfrm>
            <a:off x="1967954" y="569913"/>
            <a:ext cx="522681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highlight>
                  <a:srgbClr val="FFFF00"/>
                </a:highlight>
                <a:latin typeface="微软雅黑" pitchFamily="34" charset="-122"/>
                <a:ea typeface="微软雅黑" pitchFamily="34" charset="-122"/>
              </a:rPr>
              <a:t>要点 </a:t>
            </a:r>
            <a:r>
              <a:rPr lang="en-US" altLang="zh-CN" sz="2000" b="1" dirty="0">
                <a:highlight>
                  <a:srgbClr val="FFFF00"/>
                </a:highlight>
                <a:latin typeface="微软雅黑" pitchFamily="34" charset="-122"/>
                <a:ea typeface="微软雅黑" pitchFamily="34" charset="-122"/>
              </a:rPr>
              <a:t>3</a:t>
            </a:r>
            <a:r>
              <a:rPr lang="zh-CN" altLang="en-US" sz="2000" b="1" dirty="0">
                <a:highlight>
                  <a:srgbClr val="FFFF00"/>
                </a:highlight>
                <a:latin typeface="微软雅黑" pitchFamily="34" charset="-122"/>
                <a:ea typeface="微软雅黑" pitchFamily="34" charset="-122"/>
              </a:rPr>
              <a:t>：</a:t>
            </a:r>
            <a:r>
              <a:rPr lang="en-US" altLang="zh-CN" sz="2000" b="1" dirty="0">
                <a:highlight>
                  <a:srgbClr val="FFFF00"/>
                </a:highlight>
                <a:latin typeface="微软雅黑" pitchFamily="34" charset="-122"/>
                <a:ea typeface="微软雅黑" pitchFamily="34" charset="-122"/>
              </a:rPr>
              <a:t>ARP </a:t>
            </a:r>
            <a:r>
              <a:rPr lang="zh-CN" altLang="en-US" sz="2000" b="1" dirty="0">
                <a:highlight>
                  <a:srgbClr val="FFFF00"/>
                </a:highlight>
                <a:latin typeface="微软雅黑" pitchFamily="34" charset="-122"/>
                <a:ea typeface="微软雅黑" pitchFamily="34" charset="-122"/>
              </a:rPr>
              <a:t>查找 </a:t>
            </a:r>
            <a:r>
              <a:rPr lang="en-US" altLang="zh-CN" sz="2000" b="1" dirty="0">
                <a:highlight>
                  <a:srgbClr val="FFFF00"/>
                </a:highlight>
                <a:latin typeface="微软雅黑" pitchFamily="34" charset="-122"/>
                <a:ea typeface="微软雅黑" pitchFamily="34" charset="-122"/>
              </a:rPr>
              <a:t>IP </a:t>
            </a:r>
            <a:r>
              <a:rPr lang="zh-CN" altLang="en-US" sz="2000" b="1" dirty="0">
                <a:highlight>
                  <a:srgbClr val="FFFF00"/>
                </a:highlight>
                <a:latin typeface="微软雅黑" pitchFamily="34" charset="-122"/>
                <a:ea typeface="微软雅黑" pitchFamily="34" charset="-122"/>
              </a:rPr>
              <a:t>地址对应的 </a:t>
            </a:r>
            <a:r>
              <a:rPr lang="en-US" altLang="zh-CN" sz="2000" b="1" dirty="0">
                <a:highlight>
                  <a:srgbClr val="FFFF00"/>
                </a:highlight>
                <a:latin typeface="微软雅黑" pitchFamily="34" charset="-122"/>
                <a:ea typeface="微软雅黑" pitchFamily="34" charset="-122"/>
              </a:rPr>
              <a:t>MAC</a:t>
            </a:r>
            <a:r>
              <a:rPr lang="zh-CN" altLang="en-US" sz="2000" b="1" dirty="0">
                <a:highlight>
                  <a:srgbClr val="FFFF00"/>
                </a:highlight>
                <a:latin typeface="微软雅黑" pitchFamily="34" charset="-122"/>
                <a:ea typeface="微软雅黑" pitchFamily="34" charset="-122"/>
              </a:rPr>
              <a:t>地址</a:t>
            </a:r>
          </a:p>
        </p:txBody>
      </p:sp>
      <p:sp>
        <p:nvSpPr>
          <p:cNvPr id="22" name="Rectangle 68"/>
          <p:cNvSpPr>
            <a:spLocks noChangeArrowheads="1"/>
          </p:cNvSpPr>
          <p:nvPr/>
        </p:nvSpPr>
        <p:spPr bwMode="auto">
          <a:xfrm>
            <a:off x="448327" y="960417"/>
            <a:ext cx="8306380"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300"/>
              </a:lnSpc>
              <a:buClr>
                <a:srgbClr val="0070C0"/>
              </a:buClr>
              <a:buFont typeface="Wingdings" pitchFamily="2" charset="2"/>
              <a:buChar char="l"/>
            </a:pPr>
            <a:r>
              <a:rPr lang="zh-CN" altLang="en-US" sz="2000" b="1" dirty="0">
                <a:highlight>
                  <a:srgbClr val="FFFF00"/>
                </a:highlight>
                <a:latin typeface="微软雅黑" pitchFamily="34" charset="-122"/>
                <a:ea typeface="微软雅黑" pitchFamily="34" charset="-122"/>
              </a:rPr>
              <a:t>本局域网上广播发送 </a:t>
            </a:r>
            <a:r>
              <a:rPr lang="en-US" altLang="zh-CN" sz="2000" b="1" dirty="0">
                <a:highlight>
                  <a:srgbClr val="FFFF00"/>
                </a:highlight>
                <a:latin typeface="微软雅黑" pitchFamily="34" charset="-122"/>
                <a:ea typeface="微软雅黑" pitchFamily="34" charset="-122"/>
              </a:rPr>
              <a:t>ARP </a:t>
            </a:r>
            <a:r>
              <a:rPr lang="zh-CN" altLang="en-US" sz="2000" b="1" dirty="0">
                <a:highlight>
                  <a:srgbClr val="FFFF00"/>
                </a:highlight>
                <a:latin typeface="微软雅黑" pitchFamily="34" charset="-122"/>
                <a:ea typeface="微软雅黑" pitchFamily="34" charset="-122"/>
              </a:rPr>
              <a:t>请求（路由器不转发 </a:t>
            </a:r>
            <a:r>
              <a:rPr lang="en-US" altLang="zh-CN" sz="2000" b="1" dirty="0">
                <a:highlight>
                  <a:srgbClr val="FFFF00"/>
                </a:highlight>
                <a:latin typeface="微软雅黑" pitchFamily="34" charset="-122"/>
                <a:ea typeface="微软雅黑" pitchFamily="34" charset="-122"/>
              </a:rPr>
              <a:t>ARP </a:t>
            </a:r>
            <a:r>
              <a:rPr lang="zh-CN" altLang="en-US" sz="2000" b="1" dirty="0">
                <a:highlight>
                  <a:srgbClr val="FFFF00"/>
                </a:highlight>
                <a:latin typeface="微软雅黑" pitchFamily="34" charset="-122"/>
                <a:ea typeface="微软雅黑" pitchFamily="34" charset="-122"/>
              </a:rPr>
              <a:t>请求）。</a:t>
            </a:r>
          </a:p>
          <a:p>
            <a:pPr marL="268288" indent="-268288">
              <a:lnSpc>
                <a:spcPts val="3300"/>
              </a:lnSpc>
              <a:buClr>
                <a:srgbClr val="0070C0"/>
              </a:buClr>
              <a:buFont typeface="Wingdings" pitchFamily="2" charset="2"/>
              <a:buChar char="l"/>
            </a:pPr>
            <a:r>
              <a:rPr lang="en-US" altLang="zh-CN" sz="2000" b="1" dirty="0">
                <a:highlight>
                  <a:srgbClr val="FFFF00"/>
                </a:highlight>
                <a:latin typeface="微软雅黑" pitchFamily="34" charset="-122"/>
                <a:ea typeface="微软雅黑" pitchFamily="34" charset="-122"/>
              </a:rPr>
              <a:t>ARP </a:t>
            </a:r>
            <a:r>
              <a:rPr lang="zh-CN" altLang="en-US" sz="2000" b="1" dirty="0">
                <a:highlight>
                  <a:srgbClr val="FFFF00"/>
                </a:highlight>
                <a:latin typeface="微软雅黑" pitchFamily="34" charset="-122"/>
                <a:ea typeface="微软雅黑" pitchFamily="34" charset="-122"/>
              </a:rPr>
              <a:t>请求分组：包含发送方硬件地址 </a:t>
            </a:r>
            <a:r>
              <a:rPr lang="en-US" altLang="zh-CN" sz="2000" b="1" dirty="0">
                <a:highlight>
                  <a:srgbClr val="FFFF00"/>
                </a:highlight>
                <a:latin typeface="微软雅黑" pitchFamily="34" charset="-122"/>
                <a:ea typeface="微软雅黑" pitchFamily="34" charset="-122"/>
              </a:rPr>
              <a:t>/ </a:t>
            </a:r>
            <a:r>
              <a:rPr lang="zh-CN" altLang="en-US" sz="2000" b="1" dirty="0">
                <a:highlight>
                  <a:srgbClr val="FFFF00"/>
                </a:highlight>
                <a:latin typeface="微软雅黑" pitchFamily="34" charset="-122"/>
                <a:ea typeface="微软雅黑" pitchFamily="34" charset="-122"/>
              </a:rPr>
              <a:t>发送方 </a:t>
            </a:r>
            <a:r>
              <a:rPr lang="en-US" altLang="zh-CN" sz="2000" b="1" dirty="0">
                <a:highlight>
                  <a:srgbClr val="FFFF00"/>
                </a:highlight>
                <a:latin typeface="微软雅黑" pitchFamily="34" charset="-122"/>
                <a:ea typeface="微软雅黑" pitchFamily="34" charset="-122"/>
              </a:rPr>
              <a:t>IP </a:t>
            </a:r>
            <a:r>
              <a:rPr lang="zh-CN" altLang="en-US" sz="2000" b="1" dirty="0">
                <a:highlight>
                  <a:srgbClr val="FFFF00"/>
                </a:highlight>
                <a:latin typeface="微软雅黑" pitchFamily="34" charset="-122"/>
                <a:ea typeface="微软雅黑" pitchFamily="34" charset="-122"/>
              </a:rPr>
              <a:t>地址 </a:t>
            </a:r>
            <a:r>
              <a:rPr lang="en-US" altLang="zh-CN" sz="2000" b="1" dirty="0">
                <a:highlight>
                  <a:srgbClr val="FFFF00"/>
                </a:highlight>
                <a:latin typeface="微软雅黑" pitchFamily="34" charset="-122"/>
                <a:ea typeface="微软雅黑" pitchFamily="34" charset="-122"/>
              </a:rPr>
              <a:t>/ </a:t>
            </a:r>
            <a:r>
              <a:rPr lang="zh-CN" altLang="en-US" sz="2000" b="1" dirty="0">
                <a:highlight>
                  <a:srgbClr val="FFFF00"/>
                </a:highlight>
                <a:latin typeface="微软雅黑" pitchFamily="34" charset="-122"/>
                <a:ea typeface="微软雅黑" pitchFamily="34" charset="-122"/>
              </a:rPr>
              <a:t>目标方硬件地址</a:t>
            </a:r>
            <a:r>
              <a:rPr lang="en-US" altLang="zh-CN" sz="2000" b="1" dirty="0">
                <a:highlight>
                  <a:srgbClr val="FFFF00"/>
                </a:highlight>
                <a:latin typeface="微软雅黑" pitchFamily="34" charset="-122"/>
                <a:ea typeface="微软雅黑" pitchFamily="34" charset="-122"/>
              </a:rPr>
              <a:t>(</a:t>
            </a:r>
            <a:r>
              <a:rPr lang="zh-CN" altLang="en-US" sz="2000" b="1" dirty="0">
                <a:highlight>
                  <a:srgbClr val="FFFF00"/>
                </a:highlight>
                <a:latin typeface="微软雅黑" pitchFamily="34" charset="-122"/>
                <a:ea typeface="微软雅黑" pitchFamily="34" charset="-122"/>
              </a:rPr>
              <a:t>未知时填 </a:t>
            </a:r>
            <a:r>
              <a:rPr lang="en-US" altLang="zh-CN" sz="2000" b="1" dirty="0">
                <a:highlight>
                  <a:srgbClr val="FFFF00"/>
                </a:highlight>
                <a:latin typeface="微软雅黑" pitchFamily="34" charset="-122"/>
                <a:ea typeface="微软雅黑" pitchFamily="34" charset="-122"/>
              </a:rPr>
              <a:t>0) / </a:t>
            </a:r>
            <a:r>
              <a:rPr lang="zh-CN" altLang="en-US" sz="2000" b="1" dirty="0">
                <a:highlight>
                  <a:srgbClr val="FFFF00"/>
                </a:highlight>
                <a:latin typeface="微软雅黑" pitchFamily="34" charset="-122"/>
                <a:ea typeface="微软雅黑" pitchFamily="34" charset="-122"/>
              </a:rPr>
              <a:t>目标方 </a:t>
            </a:r>
            <a:r>
              <a:rPr lang="en-US" altLang="zh-CN" sz="2000" b="1" dirty="0">
                <a:highlight>
                  <a:srgbClr val="FFFF00"/>
                </a:highlight>
                <a:latin typeface="微软雅黑" pitchFamily="34" charset="-122"/>
                <a:ea typeface="微软雅黑" pitchFamily="34" charset="-122"/>
              </a:rPr>
              <a:t>IP </a:t>
            </a:r>
            <a:r>
              <a:rPr lang="zh-CN" altLang="en-US" sz="2000" b="1" dirty="0">
                <a:highlight>
                  <a:srgbClr val="FFFF00"/>
                </a:highlight>
                <a:latin typeface="微软雅黑" pitchFamily="34" charset="-122"/>
                <a:ea typeface="微软雅黑" pitchFamily="34" charset="-122"/>
              </a:rPr>
              <a:t>地址。</a:t>
            </a:r>
          </a:p>
          <a:p>
            <a:pPr marL="268288" indent="-268288">
              <a:lnSpc>
                <a:spcPts val="3300"/>
              </a:lnSpc>
              <a:buClr>
                <a:srgbClr val="0070C0"/>
              </a:buClr>
              <a:buFont typeface="Wingdings" pitchFamily="2" charset="2"/>
              <a:buChar char="l"/>
            </a:pPr>
            <a:r>
              <a:rPr lang="zh-CN" altLang="zh-CN" sz="2000" b="1" dirty="0">
                <a:highlight>
                  <a:srgbClr val="FFFF00"/>
                </a:highlight>
                <a:latin typeface="微软雅黑" pitchFamily="34" charset="-122"/>
                <a:ea typeface="微软雅黑" pitchFamily="34" charset="-122"/>
              </a:rPr>
              <a:t>单播</a:t>
            </a:r>
            <a:r>
              <a:rPr lang="en-US" altLang="zh-CN" sz="2000" b="1" dirty="0">
                <a:highlight>
                  <a:srgbClr val="FFFF00"/>
                </a:highlight>
                <a:latin typeface="微软雅黑" pitchFamily="34" charset="-122"/>
                <a:ea typeface="微软雅黑" pitchFamily="34" charset="-122"/>
              </a:rPr>
              <a:t> ARP </a:t>
            </a:r>
            <a:r>
              <a:rPr lang="zh-CN" altLang="en-US" sz="2000" b="1" dirty="0">
                <a:highlight>
                  <a:srgbClr val="FFFF00"/>
                </a:highlight>
                <a:latin typeface="微软雅黑" pitchFamily="34" charset="-122"/>
                <a:ea typeface="微软雅黑" pitchFamily="34" charset="-122"/>
              </a:rPr>
              <a:t>响应分组：包含发送方硬件地址 </a:t>
            </a:r>
            <a:r>
              <a:rPr lang="en-US" altLang="zh-CN" sz="2000" b="1" dirty="0">
                <a:highlight>
                  <a:srgbClr val="FFFF00"/>
                </a:highlight>
                <a:latin typeface="微软雅黑" pitchFamily="34" charset="-122"/>
                <a:ea typeface="微软雅黑" pitchFamily="34" charset="-122"/>
              </a:rPr>
              <a:t>/ </a:t>
            </a:r>
            <a:r>
              <a:rPr lang="zh-CN" altLang="en-US" sz="2000" b="1" dirty="0">
                <a:highlight>
                  <a:srgbClr val="FFFF00"/>
                </a:highlight>
                <a:latin typeface="微软雅黑" pitchFamily="34" charset="-122"/>
                <a:ea typeface="微软雅黑" pitchFamily="34" charset="-122"/>
              </a:rPr>
              <a:t>发送方 </a:t>
            </a:r>
            <a:r>
              <a:rPr lang="en-US" altLang="zh-CN" sz="2000" b="1" dirty="0">
                <a:highlight>
                  <a:srgbClr val="FFFF00"/>
                </a:highlight>
                <a:latin typeface="微软雅黑" pitchFamily="34" charset="-122"/>
                <a:ea typeface="微软雅黑" pitchFamily="34" charset="-122"/>
              </a:rPr>
              <a:t>IP</a:t>
            </a:r>
            <a:r>
              <a:rPr lang="zh-CN" altLang="en-US" sz="2000" b="1" dirty="0">
                <a:highlight>
                  <a:srgbClr val="FFFF00"/>
                </a:highlight>
                <a:latin typeface="微软雅黑" pitchFamily="34" charset="-122"/>
                <a:ea typeface="微软雅黑" pitchFamily="34" charset="-122"/>
              </a:rPr>
              <a:t>地址 </a:t>
            </a:r>
            <a:r>
              <a:rPr lang="en-US" altLang="zh-CN" sz="2000" b="1" dirty="0">
                <a:highlight>
                  <a:srgbClr val="FFFF00"/>
                </a:highlight>
                <a:latin typeface="微软雅黑" pitchFamily="34" charset="-122"/>
                <a:ea typeface="微软雅黑" pitchFamily="34" charset="-122"/>
              </a:rPr>
              <a:t>/ </a:t>
            </a:r>
            <a:r>
              <a:rPr lang="zh-CN" altLang="en-US" sz="2000" b="1" dirty="0">
                <a:highlight>
                  <a:srgbClr val="FFFF00"/>
                </a:highlight>
                <a:latin typeface="微软雅黑" pitchFamily="34" charset="-122"/>
                <a:ea typeface="微软雅黑" pitchFamily="34" charset="-122"/>
              </a:rPr>
              <a:t>目标方硬件地址 </a:t>
            </a:r>
            <a:r>
              <a:rPr lang="en-US" altLang="zh-CN" sz="2000" b="1" dirty="0">
                <a:highlight>
                  <a:srgbClr val="FFFF00"/>
                </a:highlight>
                <a:latin typeface="微软雅黑" pitchFamily="34" charset="-122"/>
                <a:ea typeface="微软雅黑" pitchFamily="34" charset="-122"/>
              </a:rPr>
              <a:t>/ </a:t>
            </a:r>
            <a:r>
              <a:rPr lang="zh-CN" altLang="en-US" sz="2000" b="1" dirty="0">
                <a:highlight>
                  <a:srgbClr val="FFFF00"/>
                </a:highlight>
                <a:latin typeface="微软雅黑" pitchFamily="34" charset="-122"/>
                <a:ea typeface="微软雅黑" pitchFamily="34" charset="-122"/>
              </a:rPr>
              <a:t>目标方 </a:t>
            </a:r>
            <a:r>
              <a:rPr lang="en-US" altLang="zh-CN" sz="2000" b="1" dirty="0">
                <a:highlight>
                  <a:srgbClr val="FFFF00"/>
                </a:highlight>
                <a:latin typeface="微软雅黑" pitchFamily="34" charset="-122"/>
                <a:ea typeface="微软雅黑" pitchFamily="34" charset="-122"/>
              </a:rPr>
              <a:t>IP </a:t>
            </a:r>
            <a:r>
              <a:rPr lang="zh-CN" altLang="en-US" sz="2000" b="1" dirty="0">
                <a:highlight>
                  <a:srgbClr val="FFFF00"/>
                </a:highlight>
                <a:latin typeface="微软雅黑" pitchFamily="34" charset="-122"/>
                <a:ea typeface="微软雅黑" pitchFamily="34" charset="-122"/>
              </a:rPr>
              <a:t>地址。</a:t>
            </a:r>
          </a:p>
          <a:p>
            <a:pPr marL="268288" indent="-268288">
              <a:lnSpc>
                <a:spcPts val="3300"/>
              </a:lnSpc>
              <a:buClr>
                <a:srgbClr val="0070C0"/>
              </a:buClr>
              <a:buFont typeface="Wingdings" pitchFamily="2" charset="2"/>
              <a:buChar char="l"/>
            </a:pPr>
            <a:r>
              <a:rPr lang="en-US" altLang="zh-CN" sz="2000" b="1" dirty="0">
                <a:highlight>
                  <a:srgbClr val="FFFF00"/>
                </a:highlight>
                <a:latin typeface="微软雅黑" pitchFamily="34" charset="-122"/>
                <a:ea typeface="微软雅黑" pitchFamily="34" charset="-122"/>
              </a:rPr>
              <a:t>ARP </a:t>
            </a:r>
            <a:r>
              <a:rPr lang="zh-CN" altLang="en-US" sz="2000" b="1" dirty="0">
                <a:highlight>
                  <a:srgbClr val="FFFF00"/>
                </a:highlight>
                <a:latin typeface="微软雅黑" pitchFamily="34" charset="-122"/>
                <a:ea typeface="微软雅黑" pitchFamily="34" charset="-122"/>
              </a:rPr>
              <a:t>分组封装在以太网帧中传输</a:t>
            </a:r>
            <a:r>
              <a:rPr lang="zh-CN" altLang="en-US" sz="2000" b="1" dirty="0">
                <a:solidFill>
                  <a:srgbClr val="0000FF"/>
                </a:solidFill>
                <a:latin typeface="微软雅黑" pitchFamily="34" charset="-122"/>
                <a:ea typeface="微软雅黑" pitchFamily="34" charset="-122"/>
              </a:rPr>
              <a:t>。</a:t>
            </a:r>
          </a:p>
        </p:txBody>
      </p:sp>
    </p:spTree>
    <p:extLst>
      <p:ext uri="{BB962C8B-B14F-4D97-AF65-F5344CB8AC3E}">
        <p14:creationId xmlns:p14="http://schemas.microsoft.com/office/powerpoint/2010/main" val="237632789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76383" y="633769"/>
            <a:ext cx="8048776" cy="3797829"/>
          </a:xfrm>
          <a:prstGeom prst="roundRect">
            <a:avLst/>
          </a:prstGeom>
          <a:solidFill>
            <a:srgbClr val="C5E5FB"/>
          </a:solidFill>
          <a:ln w="38100">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 name="Line 74"/>
          <p:cNvSpPr>
            <a:spLocks noChangeShapeType="1"/>
          </p:cNvSpPr>
          <p:nvPr/>
        </p:nvSpPr>
        <p:spPr bwMode="auto">
          <a:xfrm rot="5400000">
            <a:off x="3363448" y="3625154"/>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6" name="Line 75"/>
          <p:cNvSpPr>
            <a:spLocks noChangeShapeType="1"/>
          </p:cNvSpPr>
          <p:nvPr/>
        </p:nvSpPr>
        <p:spPr bwMode="auto">
          <a:xfrm rot="5400000">
            <a:off x="4687066" y="3619861"/>
            <a:ext cx="357050"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7" name="Line 76"/>
          <p:cNvSpPr>
            <a:spLocks noChangeShapeType="1"/>
          </p:cNvSpPr>
          <p:nvPr/>
        </p:nvSpPr>
        <p:spPr bwMode="auto">
          <a:xfrm rot="5400000">
            <a:off x="5825021" y="3625154"/>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8" name="Line 77"/>
          <p:cNvSpPr>
            <a:spLocks noChangeShapeType="1"/>
          </p:cNvSpPr>
          <p:nvPr/>
        </p:nvSpPr>
        <p:spPr bwMode="auto">
          <a:xfrm rot="5400000">
            <a:off x="7166844" y="3625154"/>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9" name="Line 78"/>
          <p:cNvSpPr>
            <a:spLocks noChangeShapeType="1"/>
          </p:cNvSpPr>
          <p:nvPr/>
        </p:nvSpPr>
        <p:spPr bwMode="auto">
          <a:xfrm rot="5400000">
            <a:off x="2504347" y="3625155"/>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1" name="Line 8"/>
          <p:cNvSpPr>
            <a:spLocks noChangeShapeType="1"/>
          </p:cNvSpPr>
          <p:nvPr/>
        </p:nvSpPr>
        <p:spPr bwMode="auto">
          <a:xfrm rot="5400000">
            <a:off x="4671827" y="1830533"/>
            <a:ext cx="357049"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2" name="Line 9"/>
          <p:cNvSpPr>
            <a:spLocks noChangeShapeType="1"/>
          </p:cNvSpPr>
          <p:nvPr/>
        </p:nvSpPr>
        <p:spPr bwMode="auto">
          <a:xfrm rot="5400000">
            <a:off x="5809783" y="1835827"/>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3" name="Line 10"/>
          <p:cNvSpPr>
            <a:spLocks noChangeShapeType="1"/>
          </p:cNvSpPr>
          <p:nvPr/>
        </p:nvSpPr>
        <p:spPr bwMode="auto">
          <a:xfrm rot="5400000">
            <a:off x="7151605" y="1835827"/>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 name="Line 11"/>
          <p:cNvSpPr>
            <a:spLocks noChangeShapeType="1"/>
          </p:cNvSpPr>
          <p:nvPr/>
        </p:nvSpPr>
        <p:spPr bwMode="auto">
          <a:xfrm rot="5400000">
            <a:off x="2489109" y="1835827"/>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9" name="Line 16"/>
          <p:cNvSpPr>
            <a:spLocks noChangeShapeType="1"/>
          </p:cNvSpPr>
          <p:nvPr/>
        </p:nvSpPr>
        <p:spPr bwMode="auto">
          <a:xfrm>
            <a:off x="2166706" y="1657784"/>
            <a:ext cx="5637326" cy="12511"/>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7" name="Text Box 56"/>
          <p:cNvSpPr txBox="1">
            <a:spLocks noChangeArrowheads="1"/>
          </p:cNvSpPr>
          <p:nvPr/>
        </p:nvSpPr>
        <p:spPr bwMode="auto">
          <a:xfrm>
            <a:off x="5961762" y="17290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209.0.0.6</a:t>
            </a:r>
          </a:p>
        </p:txBody>
      </p:sp>
      <p:grpSp>
        <p:nvGrpSpPr>
          <p:cNvPr id="80" name="组合 79"/>
          <p:cNvGrpSpPr/>
          <p:nvPr/>
        </p:nvGrpSpPr>
        <p:grpSpPr>
          <a:xfrm>
            <a:off x="2456122" y="3717885"/>
            <a:ext cx="5040745" cy="404587"/>
            <a:chOff x="2456122" y="1949511"/>
            <a:chExt cx="5040745" cy="404587"/>
          </a:xfrm>
        </p:grpSpPr>
        <p:pic>
          <p:nvPicPr>
            <p:cNvPr id="81"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56122"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82"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12431"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8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44008"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84"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796136"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85"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92280" y="1949511"/>
              <a:ext cx="404587" cy="404587"/>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7" name="Group 94"/>
          <p:cNvGrpSpPr>
            <a:grpSpLocks/>
          </p:cNvGrpSpPr>
          <p:nvPr/>
        </p:nvGrpSpPr>
        <p:grpSpPr bwMode="auto">
          <a:xfrm>
            <a:off x="4600771" y="3089097"/>
            <a:ext cx="1044683" cy="277171"/>
            <a:chOff x="249" y="627"/>
            <a:chExt cx="1002" cy="288"/>
          </a:xfrm>
          <a:solidFill>
            <a:srgbClr val="00FFFF"/>
          </a:solidFill>
        </p:grpSpPr>
        <p:sp>
          <p:nvSpPr>
            <p:cNvPr id="8" name="AutoShape 95"/>
            <p:cNvSpPr>
              <a:spLocks noChangeArrowheads="1"/>
            </p:cNvSpPr>
            <p:nvPr/>
          </p:nvSpPr>
          <p:spPr bwMode="auto">
            <a:xfrm flipH="1">
              <a:off x="249" y="709"/>
              <a:ext cx="138" cy="139"/>
            </a:xfrm>
            <a:prstGeom prst="rightArrow">
              <a:avLst>
                <a:gd name="adj1" fmla="val 50000"/>
                <a:gd name="adj2" fmla="val 25000"/>
              </a:avLst>
            </a:prstGeom>
            <a:grp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 name="Text Box 96"/>
            <p:cNvSpPr txBox="1">
              <a:spLocks noChangeArrowheads="1"/>
            </p:cNvSpPr>
            <p:nvPr/>
          </p:nvSpPr>
          <p:spPr bwMode="auto">
            <a:xfrm flipH="1">
              <a:off x="386" y="627"/>
              <a:ext cx="865" cy="288"/>
            </a:xfrm>
            <a:prstGeom prst="rect">
              <a:avLst/>
            </a:prstGeom>
            <a:grpFill/>
            <a:ln w="12700">
              <a:solidFill>
                <a:schemeClr val="tx1"/>
              </a:solidFill>
              <a:miter lim="800000"/>
              <a:headEnd/>
              <a:tailEnd/>
            </a:ln>
            <a:effectLst/>
          </p:spPr>
          <p:txBody>
            <a:bodyPr>
              <a:spAutoFit/>
            </a:bodyPr>
            <a:lstStyle/>
            <a:p>
              <a:pPr algn="ctr"/>
              <a:r>
                <a:rPr kumimoji="1" lang="en-US" altLang="zh-CN" sz="1200" b="1" dirty="0">
                  <a:latin typeface="微软雅黑" pitchFamily="34" charset="-122"/>
                  <a:ea typeface="微软雅黑" pitchFamily="34" charset="-122"/>
                </a:rPr>
                <a:t>ARP </a:t>
              </a:r>
              <a:r>
                <a:rPr kumimoji="1" lang="zh-CN" altLang="en-US" sz="1200" b="1" dirty="0">
                  <a:latin typeface="微软雅黑" pitchFamily="34" charset="-122"/>
                  <a:ea typeface="微软雅黑" pitchFamily="34" charset="-122"/>
                </a:rPr>
                <a:t>响应</a:t>
              </a:r>
            </a:p>
          </p:txBody>
        </p:sp>
      </p:grpSp>
      <p:sp>
        <p:nvSpPr>
          <p:cNvPr id="10" name="Line 7"/>
          <p:cNvSpPr>
            <a:spLocks noChangeShapeType="1"/>
          </p:cNvSpPr>
          <p:nvPr/>
        </p:nvSpPr>
        <p:spPr bwMode="auto">
          <a:xfrm rot="5400000">
            <a:off x="3348209" y="1835827"/>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0" name="Text Box 17"/>
          <p:cNvSpPr txBox="1">
            <a:spLocks noChangeArrowheads="1"/>
          </p:cNvSpPr>
          <p:nvPr/>
        </p:nvSpPr>
        <p:spPr bwMode="auto">
          <a:xfrm>
            <a:off x="3656578" y="1967677"/>
            <a:ext cx="33912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A</a:t>
            </a:r>
          </a:p>
        </p:txBody>
      </p:sp>
      <p:sp>
        <p:nvSpPr>
          <p:cNvPr id="21" name="Text Box 18"/>
          <p:cNvSpPr txBox="1">
            <a:spLocks noChangeArrowheads="1"/>
          </p:cNvSpPr>
          <p:nvPr/>
        </p:nvSpPr>
        <p:spPr bwMode="auto">
          <a:xfrm>
            <a:off x="4962952" y="1892609"/>
            <a:ext cx="321012"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Y</a:t>
            </a:r>
          </a:p>
        </p:txBody>
      </p:sp>
      <p:sp>
        <p:nvSpPr>
          <p:cNvPr id="22" name="Text Box 19"/>
          <p:cNvSpPr txBox="1">
            <a:spLocks noChangeArrowheads="1"/>
          </p:cNvSpPr>
          <p:nvPr/>
        </p:nvSpPr>
        <p:spPr bwMode="auto">
          <a:xfrm>
            <a:off x="2784965" y="1892609"/>
            <a:ext cx="330071"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X</a:t>
            </a:r>
          </a:p>
        </p:txBody>
      </p:sp>
      <p:sp>
        <p:nvSpPr>
          <p:cNvPr id="23" name="Text Box 20"/>
          <p:cNvSpPr txBox="1">
            <a:spLocks noChangeArrowheads="1"/>
          </p:cNvSpPr>
          <p:nvPr/>
        </p:nvSpPr>
        <p:spPr bwMode="auto">
          <a:xfrm>
            <a:off x="6105639" y="1967677"/>
            <a:ext cx="32825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B</a:t>
            </a:r>
          </a:p>
        </p:txBody>
      </p:sp>
      <p:sp>
        <p:nvSpPr>
          <p:cNvPr id="24" name="Text Box 21"/>
          <p:cNvSpPr txBox="1">
            <a:spLocks noChangeArrowheads="1"/>
          </p:cNvSpPr>
          <p:nvPr/>
        </p:nvSpPr>
        <p:spPr bwMode="auto">
          <a:xfrm>
            <a:off x="7451632" y="1892609"/>
            <a:ext cx="321012"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Z</a:t>
            </a:r>
          </a:p>
        </p:txBody>
      </p:sp>
      <p:sp>
        <p:nvSpPr>
          <p:cNvPr id="25" name="Text Box 45"/>
          <p:cNvSpPr txBox="1">
            <a:spLocks noChangeArrowheads="1"/>
          </p:cNvSpPr>
          <p:nvPr/>
        </p:nvSpPr>
        <p:spPr bwMode="auto">
          <a:xfrm>
            <a:off x="831848" y="2597710"/>
            <a:ext cx="2159566" cy="535531"/>
          </a:xfrm>
          <a:prstGeom prst="rect">
            <a:avLst/>
          </a:prstGeom>
          <a:solidFill>
            <a:schemeClr val="bg1"/>
          </a:solidFill>
          <a:ln w="9525">
            <a:solidFill>
              <a:schemeClr val="tx2"/>
            </a:solidFill>
            <a:miter lim="800000"/>
            <a:headEnd/>
            <a:tailEnd/>
          </a:ln>
          <a:effectLst/>
        </p:spPr>
        <p:txBody>
          <a:bodyPr wrap="none">
            <a:spAutoFit/>
          </a:bodyPr>
          <a:lstStyle/>
          <a:p>
            <a:pPr algn="ctr">
              <a:lnSpc>
                <a:spcPct val="90000"/>
              </a:lnSpc>
            </a:pPr>
            <a:r>
              <a:rPr kumimoji="1" lang="zh-CN" altLang="en-US" sz="1600" b="1" dirty="0">
                <a:solidFill>
                  <a:srgbClr val="0000FF"/>
                </a:solidFill>
                <a:highlight>
                  <a:srgbClr val="FFFF00"/>
                </a:highlight>
                <a:latin typeface="微软雅黑" pitchFamily="34" charset="-122"/>
                <a:ea typeface="微软雅黑" pitchFamily="34" charset="-122"/>
              </a:rPr>
              <a:t>主机 </a:t>
            </a:r>
            <a:r>
              <a:rPr kumimoji="1" lang="en-US" altLang="zh-CN" sz="1600" b="1" dirty="0">
                <a:solidFill>
                  <a:srgbClr val="0000FF"/>
                </a:solidFill>
                <a:highlight>
                  <a:srgbClr val="FFFF00"/>
                </a:highlight>
                <a:latin typeface="微软雅黑" pitchFamily="34" charset="-122"/>
                <a:ea typeface="微软雅黑" pitchFamily="34" charset="-122"/>
              </a:rPr>
              <a:t>B </a:t>
            </a:r>
            <a:r>
              <a:rPr kumimoji="1" lang="zh-CN" altLang="en-US" sz="1600" b="1" dirty="0">
                <a:solidFill>
                  <a:srgbClr val="0000FF"/>
                </a:solidFill>
                <a:highlight>
                  <a:srgbClr val="FFFF00"/>
                </a:highlight>
                <a:latin typeface="微软雅黑" pitchFamily="34" charset="-122"/>
                <a:ea typeface="微软雅黑" pitchFamily="34" charset="-122"/>
              </a:rPr>
              <a:t>向 </a:t>
            </a:r>
            <a:r>
              <a:rPr kumimoji="1" lang="en-US" altLang="zh-CN" sz="1600" b="1" dirty="0">
                <a:solidFill>
                  <a:srgbClr val="0000FF"/>
                </a:solidFill>
                <a:highlight>
                  <a:srgbClr val="FFFF00"/>
                </a:highlight>
                <a:latin typeface="微软雅黑" pitchFamily="34" charset="-122"/>
                <a:ea typeface="微软雅黑" pitchFamily="34" charset="-122"/>
              </a:rPr>
              <a:t>A </a:t>
            </a:r>
            <a:r>
              <a:rPr kumimoji="1" lang="zh-CN" altLang="en-US" sz="1600" b="1" dirty="0">
                <a:solidFill>
                  <a:srgbClr val="C00000"/>
                </a:solidFill>
                <a:highlight>
                  <a:srgbClr val="FFFF00"/>
                </a:highlight>
                <a:latin typeface="微软雅黑" pitchFamily="34" charset="-122"/>
                <a:ea typeface="微软雅黑" pitchFamily="34" charset="-122"/>
              </a:rPr>
              <a:t>单播</a:t>
            </a:r>
            <a:r>
              <a:rPr kumimoji="1" lang="zh-CN" altLang="en-US" sz="1600" b="1" dirty="0">
                <a:solidFill>
                  <a:srgbClr val="0000FF"/>
                </a:solidFill>
                <a:highlight>
                  <a:srgbClr val="FFFF00"/>
                </a:highlight>
                <a:latin typeface="微软雅黑" pitchFamily="34" charset="-122"/>
                <a:ea typeface="微软雅黑" pitchFamily="34" charset="-122"/>
              </a:rPr>
              <a:t>发送</a:t>
            </a:r>
          </a:p>
          <a:p>
            <a:pPr algn="ctr">
              <a:lnSpc>
                <a:spcPct val="90000"/>
              </a:lnSpc>
            </a:pPr>
            <a:r>
              <a:rPr kumimoji="1" lang="en-US" altLang="zh-CN" sz="1600" b="1" dirty="0">
                <a:solidFill>
                  <a:srgbClr val="0000FF"/>
                </a:solidFill>
                <a:highlight>
                  <a:srgbClr val="FFFF00"/>
                </a:highlight>
                <a:latin typeface="微软雅黑" pitchFamily="34" charset="-122"/>
                <a:ea typeface="微软雅黑" pitchFamily="34" charset="-122"/>
              </a:rPr>
              <a:t>ARP </a:t>
            </a:r>
            <a:r>
              <a:rPr kumimoji="1" lang="zh-CN" altLang="en-US" sz="1600" b="1" dirty="0">
                <a:solidFill>
                  <a:srgbClr val="0000FF"/>
                </a:solidFill>
                <a:highlight>
                  <a:srgbClr val="FFFF00"/>
                </a:highlight>
                <a:latin typeface="微软雅黑" pitchFamily="34" charset="-122"/>
                <a:ea typeface="微软雅黑" pitchFamily="34" charset="-122"/>
              </a:rPr>
              <a:t>响应分组 </a:t>
            </a:r>
          </a:p>
        </p:txBody>
      </p:sp>
      <p:sp>
        <p:nvSpPr>
          <p:cNvPr id="26" name="Text Box 46"/>
          <p:cNvSpPr txBox="1">
            <a:spLocks noChangeArrowheads="1"/>
          </p:cNvSpPr>
          <p:nvPr/>
        </p:nvSpPr>
        <p:spPr bwMode="auto">
          <a:xfrm>
            <a:off x="835148" y="707252"/>
            <a:ext cx="2717411" cy="535531"/>
          </a:xfrm>
          <a:prstGeom prst="rect">
            <a:avLst/>
          </a:prstGeom>
          <a:solidFill>
            <a:schemeClr val="bg1"/>
          </a:solidFill>
          <a:ln w="9525">
            <a:solidFill>
              <a:schemeClr val="tx2"/>
            </a:solidFill>
            <a:miter lim="800000"/>
            <a:headEnd/>
            <a:tailEnd/>
          </a:ln>
          <a:effectLst/>
        </p:spPr>
        <p:txBody>
          <a:bodyPr wrap="none">
            <a:spAutoFit/>
          </a:bodyPr>
          <a:lstStyle/>
          <a:p>
            <a:pPr algn="ctr">
              <a:lnSpc>
                <a:spcPct val="90000"/>
              </a:lnSpc>
            </a:pPr>
            <a:r>
              <a:rPr kumimoji="1" lang="zh-CN" altLang="en-US" sz="1600" b="1" dirty="0">
                <a:solidFill>
                  <a:srgbClr val="0000FF"/>
                </a:solidFill>
                <a:highlight>
                  <a:srgbClr val="FFFF00"/>
                </a:highlight>
                <a:latin typeface="微软雅黑" pitchFamily="34" charset="-122"/>
                <a:ea typeface="微软雅黑" pitchFamily="34" charset="-122"/>
              </a:rPr>
              <a:t>主机 </a:t>
            </a:r>
            <a:r>
              <a:rPr kumimoji="1" lang="en-US" altLang="zh-CN" sz="1600" b="1" dirty="0">
                <a:solidFill>
                  <a:srgbClr val="0000FF"/>
                </a:solidFill>
                <a:highlight>
                  <a:srgbClr val="FFFF00"/>
                </a:highlight>
                <a:latin typeface="微软雅黑" pitchFamily="34" charset="-122"/>
                <a:ea typeface="微软雅黑" pitchFamily="34" charset="-122"/>
              </a:rPr>
              <a:t>A</a:t>
            </a:r>
            <a:r>
              <a:rPr kumimoji="1" lang="en-US" altLang="zh-CN" sz="1600" b="1" dirty="0">
                <a:solidFill>
                  <a:srgbClr val="CC00CC"/>
                </a:solidFill>
                <a:highlight>
                  <a:srgbClr val="FFFF00"/>
                </a:highlight>
                <a:latin typeface="微软雅黑" pitchFamily="34" charset="-122"/>
                <a:ea typeface="微软雅黑" pitchFamily="34" charset="-122"/>
              </a:rPr>
              <a:t> </a:t>
            </a:r>
            <a:r>
              <a:rPr kumimoji="1" lang="zh-CN" altLang="en-US" sz="1600" b="1" dirty="0">
                <a:solidFill>
                  <a:srgbClr val="C00000"/>
                </a:solidFill>
                <a:highlight>
                  <a:srgbClr val="FFFF00"/>
                </a:highlight>
                <a:latin typeface="微软雅黑" pitchFamily="34" charset="-122"/>
                <a:ea typeface="微软雅黑" pitchFamily="34" charset="-122"/>
              </a:rPr>
              <a:t>本局域网上广播发送</a:t>
            </a:r>
          </a:p>
          <a:p>
            <a:pPr algn="ctr">
              <a:lnSpc>
                <a:spcPct val="90000"/>
              </a:lnSpc>
            </a:pPr>
            <a:r>
              <a:rPr kumimoji="1" lang="en-US" altLang="zh-CN" sz="1600" b="1" dirty="0">
                <a:solidFill>
                  <a:srgbClr val="0000FF"/>
                </a:solidFill>
                <a:highlight>
                  <a:srgbClr val="FFFF00"/>
                </a:highlight>
                <a:latin typeface="微软雅黑" pitchFamily="34" charset="-122"/>
                <a:ea typeface="微软雅黑" pitchFamily="34" charset="-122"/>
              </a:rPr>
              <a:t>ARP </a:t>
            </a:r>
            <a:r>
              <a:rPr kumimoji="1" lang="zh-CN" altLang="en-US" sz="1600" b="1" dirty="0">
                <a:solidFill>
                  <a:srgbClr val="0000FF"/>
                </a:solidFill>
                <a:highlight>
                  <a:srgbClr val="FFFF00"/>
                </a:highlight>
                <a:latin typeface="微软雅黑" pitchFamily="34" charset="-122"/>
                <a:ea typeface="微软雅黑" pitchFamily="34" charset="-122"/>
              </a:rPr>
              <a:t>请求分组 </a:t>
            </a:r>
          </a:p>
        </p:txBody>
      </p:sp>
      <p:sp>
        <p:nvSpPr>
          <p:cNvPr id="27" name="Text Box 48"/>
          <p:cNvSpPr txBox="1">
            <a:spLocks noChangeArrowheads="1"/>
          </p:cNvSpPr>
          <p:nvPr/>
        </p:nvSpPr>
        <p:spPr bwMode="auto">
          <a:xfrm>
            <a:off x="3709929" y="1327681"/>
            <a:ext cx="862736" cy="276999"/>
          </a:xfrm>
          <a:prstGeom prst="rect">
            <a:avLst/>
          </a:prstGeom>
          <a:solidFill>
            <a:srgbClr val="99FFCC"/>
          </a:solidFill>
          <a:ln w="12700">
            <a:solidFill>
              <a:schemeClr val="tx1"/>
            </a:solidFill>
            <a:miter lim="800000"/>
            <a:headEnd/>
            <a:tailEnd/>
          </a:ln>
          <a:effectLst/>
        </p:spPr>
        <p:txBody>
          <a:bodyPr wrap="none">
            <a:spAutoFit/>
          </a:bodyPr>
          <a:lstStyle/>
          <a:p>
            <a:pPr algn="ctr"/>
            <a:r>
              <a:rPr kumimoji="1" lang="en-US" altLang="zh-CN" sz="1200" b="1" dirty="0">
                <a:latin typeface="微软雅黑" pitchFamily="34" charset="-122"/>
                <a:ea typeface="微软雅黑" pitchFamily="34" charset="-122"/>
              </a:rPr>
              <a:t>ARP </a:t>
            </a:r>
            <a:r>
              <a:rPr kumimoji="1" lang="zh-CN" altLang="en-US" sz="1200" b="1" dirty="0">
                <a:latin typeface="微软雅黑" pitchFamily="34" charset="-122"/>
                <a:ea typeface="微软雅黑" pitchFamily="34" charset="-122"/>
              </a:rPr>
              <a:t>请求</a:t>
            </a:r>
          </a:p>
        </p:txBody>
      </p:sp>
      <p:sp>
        <p:nvSpPr>
          <p:cNvPr id="28" name="AutoShape 49"/>
          <p:cNvSpPr>
            <a:spLocks noChangeArrowheads="1"/>
          </p:cNvSpPr>
          <p:nvPr/>
        </p:nvSpPr>
        <p:spPr bwMode="auto">
          <a:xfrm>
            <a:off x="4568005" y="1386387"/>
            <a:ext cx="142836" cy="124149"/>
          </a:xfrm>
          <a:prstGeom prst="rightArrow">
            <a:avLst>
              <a:gd name="adj1" fmla="val 50000"/>
              <a:gd name="adj2" fmla="val 26550"/>
            </a:avLst>
          </a:prstGeom>
          <a:solidFill>
            <a:srgbClr val="99FFCC"/>
          </a:solidFill>
          <a:ln w="952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9" name="Text Box 50"/>
          <p:cNvSpPr txBox="1">
            <a:spLocks noChangeArrowheads="1"/>
          </p:cNvSpPr>
          <p:nvPr/>
        </p:nvSpPr>
        <p:spPr bwMode="auto">
          <a:xfrm>
            <a:off x="4973559" y="1327681"/>
            <a:ext cx="862736" cy="276999"/>
          </a:xfrm>
          <a:prstGeom prst="rect">
            <a:avLst/>
          </a:prstGeom>
          <a:solidFill>
            <a:srgbClr val="99FFCC"/>
          </a:solidFill>
          <a:ln w="12700">
            <a:solidFill>
              <a:schemeClr val="tx1"/>
            </a:solidFill>
            <a:miter lim="800000"/>
            <a:headEnd/>
            <a:tailEnd/>
          </a:ln>
          <a:effectLst/>
        </p:spPr>
        <p:txBody>
          <a:bodyPr wrap="none">
            <a:spAutoFit/>
          </a:bodyPr>
          <a:lstStyle/>
          <a:p>
            <a:pPr algn="ctr"/>
            <a:r>
              <a:rPr kumimoji="1" lang="en-US" altLang="zh-CN" sz="1200" b="1">
                <a:latin typeface="微软雅黑" pitchFamily="34" charset="-122"/>
                <a:ea typeface="微软雅黑" pitchFamily="34" charset="-122"/>
              </a:rPr>
              <a:t>ARP </a:t>
            </a:r>
            <a:r>
              <a:rPr kumimoji="1" lang="zh-CN" altLang="en-US" sz="1200" b="1">
                <a:latin typeface="微软雅黑" pitchFamily="34" charset="-122"/>
                <a:ea typeface="微软雅黑" pitchFamily="34" charset="-122"/>
              </a:rPr>
              <a:t>请求</a:t>
            </a:r>
          </a:p>
        </p:txBody>
      </p:sp>
      <p:sp>
        <p:nvSpPr>
          <p:cNvPr id="30" name="AutoShape 51"/>
          <p:cNvSpPr>
            <a:spLocks noChangeArrowheads="1"/>
          </p:cNvSpPr>
          <p:nvPr/>
        </p:nvSpPr>
        <p:spPr bwMode="auto">
          <a:xfrm>
            <a:off x="5824523" y="1401785"/>
            <a:ext cx="142836" cy="133773"/>
          </a:xfrm>
          <a:prstGeom prst="rightArrow">
            <a:avLst>
              <a:gd name="adj1" fmla="val 50000"/>
              <a:gd name="adj2" fmla="val 25000"/>
            </a:avLst>
          </a:prstGeom>
          <a:solidFill>
            <a:srgbClr val="99FFCC"/>
          </a:solidFill>
          <a:ln w="952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1" name="Text Box 52"/>
          <p:cNvSpPr txBox="1">
            <a:spLocks noChangeArrowheads="1"/>
          </p:cNvSpPr>
          <p:nvPr/>
        </p:nvSpPr>
        <p:spPr bwMode="auto">
          <a:xfrm>
            <a:off x="6212164" y="1327681"/>
            <a:ext cx="862736" cy="276999"/>
          </a:xfrm>
          <a:prstGeom prst="rect">
            <a:avLst/>
          </a:prstGeom>
          <a:solidFill>
            <a:srgbClr val="99FFCC"/>
          </a:solidFill>
          <a:ln w="12700">
            <a:solidFill>
              <a:schemeClr val="tx1"/>
            </a:solidFill>
            <a:miter lim="800000"/>
            <a:headEnd/>
            <a:tailEnd/>
          </a:ln>
          <a:effectLst/>
        </p:spPr>
        <p:txBody>
          <a:bodyPr wrap="none">
            <a:spAutoFit/>
          </a:bodyPr>
          <a:lstStyle/>
          <a:p>
            <a:pPr algn="ctr"/>
            <a:r>
              <a:rPr kumimoji="1" lang="en-US" altLang="zh-CN" sz="1200" b="1" dirty="0">
                <a:latin typeface="微软雅黑" pitchFamily="34" charset="-122"/>
                <a:ea typeface="微软雅黑" pitchFamily="34" charset="-122"/>
              </a:rPr>
              <a:t>ARP </a:t>
            </a:r>
            <a:r>
              <a:rPr kumimoji="1" lang="zh-CN" altLang="en-US" sz="1200" b="1" dirty="0">
                <a:latin typeface="微软雅黑" pitchFamily="34" charset="-122"/>
                <a:ea typeface="微软雅黑" pitchFamily="34" charset="-122"/>
              </a:rPr>
              <a:t>请求</a:t>
            </a:r>
          </a:p>
        </p:txBody>
      </p:sp>
      <p:sp>
        <p:nvSpPr>
          <p:cNvPr id="32" name="AutoShape 53"/>
          <p:cNvSpPr>
            <a:spLocks noChangeArrowheads="1"/>
          </p:cNvSpPr>
          <p:nvPr/>
        </p:nvSpPr>
        <p:spPr bwMode="auto">
          <a:xfrm>
            <a:off x="7076684" y="1379650"/>
            <a:ext cx="142836" cy="133774"/>
          </a:xfrm>
          <a:prstGeom prst="rightArrow">
            <a:avLst>
              <a:gd name="adj1" fmla="val 50000"/>
              <a:gd name="adj2" fmla="val 25000"/>
            </a:avLst>
          </a:prstGeom>
          <a:solidFill>
            <a:srgbClr val="99FFCC"/>
          </a:solidFill>
          <a:ln w="952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33" name="Group 93"/>
          <p:cNvGrpSpPr>
            <a:grpSpLocks/>
          </p:cNvGrpSpPr>
          <p:nvPr/>
        </p:nvGrpSpPr>
        <p:grpSpPr bwMode="auto">
          <a:xfrm>
            <a:off x="2426312" y="1335381"/>
            <a:ext cx="1044683" cy="277171"/>
            <a:chOff x="249" y="663"/>
            <a:chExt cx="1002" cy="288"/>
          </a:xfrm>
          <a:solidFill>
            <a:srgbClr val="99FFCC"/>
          </a:solidFill>
        </p:grpSpPr>
        <p:sp>
          <p:nvSpPr>
            <p:cNvPr id="34" name="AutoShape 5"/>
            <p:cNvSpPr>
              <a:spLocks noChangeArrowheads="1"/>
            </p:cNvSpPr>
            <p:nvPr/>
          </p:nvSpPr>
          <p:spPr bwMode="auto">
            <a:xfrm flipH="1">
              <a:off x="249" y="709"/>
              <a:ext cx="138" cy="139"/>
            </a:xfrm>
            <a:prstGeom prst="rightArrow">
              <a:avLst>
                <a:gd name="adj1" fmla="val 50000"/>
                <a:gd name="adj2" fmla="val 25000"/>
              </a:avLst>
            </a:prstGeom>
            <a:grp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Text Box 54"/>
            <p:cNvSpPr txBox="1">
              <a:spLocks noChangeArrowheads="1"/>
            </p:cNvSpPr>
            <p:nvPr/>
          </p:nvSpPr>
          <p:spPr bwMode="auto">
            <a:xfrm flipH="1">
              <a:off x="386" y="663"/>
              <a:ext cx="865" cy="288"/>
            </a:xfrm>
            <a:prstGeom prst="rect">
              <a:avLst/>
            </a:prstGeom>
            <a:grp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r>
                <a:rPr kumimoji="1" lang="en-US" altLang="zh-CN" sz="1200" b="1" dirty="0">
                  <a:latin typeface="微软雅黑" pitchFamily="34" charset="-122"/>
                  <a:ea typeface="微软雅黑" pitchFamily="34" charset="-122"/>
                </a:rPr>
                <a:t>ARP </a:t>
              </a:r>
              <a:r>
                <a:rPr kumimoji="1" lang="zh-CN" altLang="en-US" sz="1200" b="1" dirty="0">
                  <a:latin typeface="微软雅黑" pitchFamily="34" charset="-122"/>
                  <a:ea typeface="微软雅黑" pitchFamily="34" charset="-122"/>
                </a:rPr>
                <a:t>请求</a:t>
              </a:r>
            </a:p>
          </p:txBody>
        </p:sp>
      </p:grpSp>
      <p:sp>
        <p:nvSpPr>
          <p:cNvPr id="38" name="Text Box 57"/>
          <p:cNvSpPr txBox="1">
            <a:spLocks noChangeArrowheads="1"/>
          </p:cNvSpPr>
          <p:nvPr/>
        </p:nvSpPr>
        <p:spPr bwMode="auto">
          <a:xfrm>
            <a:off x="2705191" y="2256606"/>
            <a:ext cx="17139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00-00-C0-15-AD-18</a:t>
            </a:r>
          </a:p>
        </p:txBody>
      </p:sp>
      <p:sp>
        <p:nvSpPr>
          <p:cNvPr id="39" name="Text Box 58"/>
          <p:cNvSpPr txBox="1">
            <a:spLocks noChangeArrowheads="1"/>
          </p:cNvSpPr>
          <p:nvPr/>
        </p:nvSpPr>
        <p:spPr bwMode="auto">
          <a:xfrm>
            <a:off x="5247842" y="4107201"/>
            <a:ext cx="167545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08-00-2B-00-EE-0A</a:t>
            </a:r>
          </a:p>
        </p:txBody>
      </p:sp>
      <p:sp>
        <p:nvSpPr>
          <p:cNvPr id="40" name="AutoShape 59"/>
          <p:cNvSpPr>
            <a:spLocks noChangeArrowheads="1"/>
          </p:cNvSpPr>
          <p:nvPr/>
        </p:nvSpPr>
        <p:spPr bwMode="auto">
          <a:xfrm>
            <a:off x="4169536" y="700916"/>
            <a:ext cx="3700997" cy="430583"/>
          </a:xfrm>
          <a:prstGeom prst="wedgeRoundRectCallout">
            <a:avLst>
              <a:gd name="adj1" fmla="val -53383"/>
              <a:gd name="adj2" fmla="val 101764"/>
              <a:gd name="adj3" fmla="val 16667"/>
            </a:avLst>
          </a:prstGeom>
          <a:solidFill>
            <a:srgbClr val="00FFFF"/>
          </a:solidFill>
          <a:ln w="9525">
            <a:solidFill>
              <a:schemeClr val="tx1"/>
            </a:solidFill>
            <a:miter lim="800000"/>
            <a:headEnd/>
            <a:tailEnd/>
          </a:ln>
          <a:effectLst/>
        </p:spPr>
        <p:txBody>
          <a:bodyPr/>
          <a:lstStyle/>
          <a:p>
            <a:pPr algn="ctr"/>
            <a:endParaRPr kumimoji="1" lang="zh-CN" altLang="zh-CN" sz="1200" b="1">
              <a:solidFill>
                <a:srgbClr val="0000CC"/>
              </a:solidFill>
              <a:latin typeface="微软雅黑" pitchFamily="34" charset="-122"/>
              <a:ea typeface="微软雅黑" pitchFamily="34" charset="-122"/>
            </a:endParaRPr>
          </a:p>
        </p:txBody>
      </p:sp>
      <p:sp>
        <p:nvSpPr>
          <p:cNvPr id="41" name="Text Box 60"/>
          <p:cNvSpPr txBox="1">
            <a:spLocks noChangeArrowheads="1"/>
          </p:cNvSpPr>
          <p:nvPr/>
        </p:nvSpPr>
        <p:spPr bwMode="auto">
          <a:xfrm>
            <a:off x="4225505" y="682810"/>
            <a:ext cx="369977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200" b="1" dirty="0">
                <a:latin typeface="微软雅黑" pitchFamily="34" charset="-122"/>
                <a:ea typeface="微软雅黑" pitchFamily="34" charset="-122"/>
              </a:rPr>
              <a:t>我是 </a:t>
            </a:r>
            <a:r>
              <a:rPr kumimoji="1" lang="en-US" altLang="zh-CN" sz="1200" b="1" dirty="0">
                <a:latin typeface="微软雅黑" pitchFamily="34" charset="-122"/>
                <a:ea typeface="微软雅黑" pitchFamily="34" charset="-122"/>
              </a:rPr>
              <a:t>209.0.0.5</a:t>
            </a:r>
            <a:r>
              <a:rPr kumimoji="1" lang="zh-CN" altLang="en-US" sz="1200" b="1" dirty="0">
                <a:latin typeface="微软雅黑" pitchFamily="34" charset="-122"/>
                <a:ea typeface="微软雅黑" pitchFamily="34" charset="-122"/>
              </a:rPr>
              <a:t>，硬件地址是 </a:t>
            </a:r>
            <a:r>
              <a:rPr kumimoji="1" lang="en-US" altLang="zh-CN" sz="1200" b="1" dirty="0">
                <a:latin typeface="微软雅黑" pitchFamily="34" charset="-122"/>
                <a:ea typeface="微软雅黑" pitchFamily="34" charset="-122"/>
              </a:rPr>
              <a:t>00-00-C0-15-AD-18</a:t>
            </a:r>
          </a:p>
          <a:p>
            <a:r>
              <a:rPr kumimoji="1" lang="zh-CN" altLang="en-US" sz="1200" b="1" dirty="0">
                <a:latin typeface="微软雅黑" pitchFamily="34" charset="-122"/>
                <a:ea typeface="微软雅黑" pitchFamily="34" charset="-122"/>
              </a:rPr>
              <a:t>我想知道主机 </a:t>
            </a:r>
            <a:r>
              <a:rPr kumimoji="1" lang="en-US" altLang="zh-CN" sz="1200" b="1" dirty="0">
                <a:latin typeface="微软雅黑" pitchFamily="34" charset="-122"/>
                <a:ea typeface="微软雅黑" pitchFamily="34" charset="-122"/>
              </a:rPr>
              <a:t>209.0.0.6 </a:t>
            </a:r>
            <a:r>
              <a:rPr kumimoji="1" lang="zh-CN" altLang="en-US" sz="1200" b="1" dirty="0">
                <a:latin typeface="微软雅黑" pitchFamily="34" charset="-122"/>
                <a:ea typeface="微软雅黑" pitchFamily="34" charset="-122"/>
              </a:rPr>
              <a:t>的硬件地址。</a:t>
            </a:r>
          </a:p>
        </p:txBody>
      </p:sp>
      <p:sp>
        <p:nvSpPr>
          <p:cNvPr id="42" name="AutoShape 61"/>
          <p:cNvSpPr>
            <a:spLocks noChangeArrowheads="1"/>
          </p:cNvSpPr>
          <p:nvPr/>
        </p:nvSpPr>
        <p:spPr bwMode="auto">
          <a:xfrm>
            <a:off x="5359782" y="2602126"/>
            <a:ext cx="2637492" cy="440778"/>
          </a:xfrm>
          <a:prstGeom prst="wedgeRoundRectCallout">
            <a:avLst>
              <a:gd name="adj1" fmla="val -41387"/>
              <a:gd name="adj2" fmla="val 83711"/>
              <a:gd name="adj3" fmla="val 16667"/>
            </a:avLst>
          </a:prstGeom>
          <a:solidFill>
            <a:srgbClr val="00FF99"/>
          </a:solidFill>
          <a:ln w="9525">
            <a:solidFill>
              <a:schemeClr val="tx1"/>
            </a:solidFill>
            <a:miter lim="800000"/>
            <a:headEnd/>
            <a:tailEnd/>
          </a:ln>
          <a:effectLst/>
        </p:spPr>
        <p:txBody>
          <a:bodyPr/>
          <a:lstStyle/>
          <a:p>
            <a:pPr algn="ctr"/>
            <a:endParaRPr kumimoji="1" lang="zh-CN" altLang="zh-CN" sz="1200" b="1">
              <a:solidFill>
                <a:srgbClr val="0000CC"/>
              </a:solidFill>
              <a:latin typeface="微软雅黑" pitchFamily="34" charset="-122"/>
              <a:ea typeface="微软雅黑" pitchFamily="34" charset="-122"/>
            </a:endParaRPr>
          </a:p>
        </p:txBody>
      </p:sp>
      <p:sp>
        <p:nvSpPr>
          <p:cNvPr id="43" name="Text Box 62"/>
          <p:cNvSpPr txBox="1">
            <a:spLocks noChangeArrowheads="1"/>
          </p:cNvSpPr>
          <p:nvPr/>
        </p:nvSpPr>
        <p:spPr bwMode="auto">
          <a:xfrm>
            <a:off x="5437698" y="2602125"/>
            <a:ext cx="255957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200" b="1" dirty="0">
                <a:latin typeface="微软雅黑" pitchFamily="34" charset="-122"/>
                <a:ea typeface="微软雅黑" pitchFamily="34" charset="-122"/>
              </a:rPr>
              <a:t>我是 </a:t>
            </a:r>
            <a:r>
              <a:rPr kumimoji="1" lang="en-US" altLang="zh-CN" sz="1200" b="1" dirty="0">
                <a:latin typeface="微软雅黑" pitchFamily="34" charset="-122"/>
                <a:ea typeface="微软雅黑" pitchFamily="34" charset="-122"/>
              </a:rPr>
              <a:t>209.0.0.6</a:t>
            </a:r>
            <a:r>
              <a:rPr kumimoji="1" lang="zh-CN" altLang="en-US" sz="1200" b="1" dirty="0">
                <a:latin typeface="微软雅黑" pitchFamily="34" charset="-122"/>
                <a:ea typeface="微软雅黑" pitchFamily="34" charset="-122"/>
              </a:rPr>
              <a:t>，</a:t>
            </a:r>
            <a:endParaRPr kumimoji="1" lang="en-US" altLang="zh-CN" sz="1200" b="1" dirty="0">
              <a:latin typeface="微软雅黑" pitchFamily="34" charset="-122"/>
              <a:ea typeface="微软雅黑" pitchFamily="34" charset="-122"/>
            </a:endParaRPr>
          </a:p>
          <a:p>
            <a:r>
              <a:rPr kumimoji="1" lang="zh-CN" altLang="en-US" sz="1200" b="1" dirty="0">
                <a:latin typeface="微软雅黑" pitchFamily="34" charset="-122"/>
                <a:ea typeface="微软雅黑" pitchFamily="34" charset="-122"/>
              </a:rPr>
              <a:t>硬件地址是 </a:t>
            </a:r>
            <a:r>
              <a:rPr kumimoji="1" lang="en-US" altLang="zh-CN" sz="1200" b="1" dirty="0">
                <a:latin typeface="微软雅黑" pitchFamily="34" charset="-122"/>
                <a:ea typeface="微软雅黑" pitchFamily="34" charset="-122"/>
              </a:rPr>
              <a:t>08-00-2B-00-EE-0A</a:t>
            </a:r>
            <a:r>
              <a:rPr kumimoji="1" lang="zh-CN" altLang="en-US" sz="1200" b="1" dirty="0">
                <a:latin typeface="微软雅黑" pitchFamily="34" charset="-122"/>
                <a:ea typeface="微软雅黑" pitchFamily="34" charset="-122"/>
              </a:rPr>
              <a:t>。</a:t>
            </a:r>
            <a:endParaRPr kumimoji="1" lang="en-US" altLang="zh-CN" sz="1200" b="1" dirty="0">
              <a:latin typeface="微软雅黑" pitchFamily="34" charset="-122"/>
              <a:ea typeface="微软雅黑" pitchFamily="34" charset="-122"/>
            </a:endParaRPr>
          </a:p>
        </p:txBody>
      </p:sp>
      <p:sp>
        <p:nvSpPr>
          <p:cNvPr id="54" name="Line 83"/>
          <p:cNvSpPr>
            <a:spLocks noChangeShapeType="1"/>
          </p:cNvSpPr>
          <p:nvPr/>
        </p:nvSpPr>
        <p:spPr bwMode="auto">
          <a:xfrm>
            <a:off x="2181944" y="3447110"/>
            <a:ext cx="5637325" cy="12511"/>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5" name="Text Box 84"/>
          <p:cNvSpPr txBox="1">
            <a:spLocks noChangeArrowheads="1"/>
          </p:cNvSpPr>
          <p:nvPr/>
        </p:nvSpPr>
        <p:spPr bwMode="auto">
          <a:xfrm>
            <a:off x="3671817" y="3757003"/>
            <a:ext cx="33912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A</a:t>
            </a:r>
          </a:p>
        </p:txBody>
      </p:sp>
      <p:sp>
        <p:nvSpPr>
          <p:cNvPr id="56" name="Text Box 85"/>
          <p:cNvSpPr txBox="1">
            <a:spLocks noChangeArrowheads="1"/>
          </p:cNvSpPr>
          <p:nvPr/>
        </p:nvSpPr>
        <p:spPr bwMode="auto">
          <a:xfrm>
            <a:off x="4978192" y="3681935"/>
            <a:ext cx="321012"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Y</a:t>
            </a:r>
          </a:p>
        </p:txBody>
      </p:sp>
      <p:sp>
        <p:nvSpPr>
          <p:cNvPr id="57" name="Text Box 86"/>
          <p:cNvSpPr txBox="1">
            <a:spLocks noChangeArrowheads="1"/>
          </p:cNvSpPr>
          <p:nvPr/>
        </p:nvSpPr>
        <p:spPr bwMode="auto">
          <a:xfrm>
            <a:off x="2800204" y="3681935"/>
            <a:ext cx="330071"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X</a:t>
            </a:r>
          </a:p>
        </p:txBody>
      </p:sp>
      <p:sp>
        <p:nvSpPr>
          <p:cNvPr id="58" name="Text Box 87"/>
          <p:cNvSpPr txBox="1">
            <a:spLocks noChangeArrowheads="1"/>
          </p:cNvSpPr>
          <p:nvPr/>
        </p:nvSpPr>
        <p:spPr bwMode="auto">
          <a:xfrm>
            <a:off x="6120878" y="3757003"/>
            <a:ext cx="32825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B</a:t>
            </a:r>
          </a:p>
        </p:txBody>
      </p:sp>
      <p:sp>
        <p:nvSpPr>
          <p:cNvPr id="59" name="Text Box 88"/>
          <p:cNvSpPr txBox="1">
            <a:spLocks noChangeArrowheads="1"/>
          </p:cNvSpPr>
          <p:nvPr/>
        </p:nvSpPr>
        <p:spPr bwMode="auto">
          <a:xfrm>
            <a:off x="7466873" y="3681935"/>
            <a:ext cx="321012"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Z</a:t>
            </a:r>
          </a:p>
        </p:txBody>
      </p:sp>
      <p:sp>
        <p:nvSpPr>
          <p:cNvPr id="60" name="Text Box 89"/>
          <p:cNvSpPr txBox="1">
            <a:spLocks noChangeArrowheads="1"/>
          </p:cNvSpPr>
          <p:nvPr/>
        </p:nvSpPr>
        <p:spPr bwMode="auto">
          <a:xfrm>
            <a:off x="3565472" y="3582809"/>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209.0.0.5</a:t>
            </a:r>
          </a:p>
        </p:txBody>
      </p:sp>
      <p:sp>
        <p:nvSpPr>
          <p:cNvPr id="62" name="Text Box 91"/>
          <p:cNvSpPr txBox="1">
            <a:spLocks noChangeArrowheads="1"/>
          </p:cNvSpPr>
          <p:nvPr/>
        </p:nvSpPr>
        <p:spPr bwMode="auto">
          <a:xfrm>
            <a:off x="2637324" y="4127412"/>
            <a:ext cx="17139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00-00-C0-15-AD-18</a:t>
            </a:r>
          </a:p>
        </p:txBody>
      </p:sp>
      <p:sp>
        <p:nvSpPr>
          <p:cNvPr id="68" name="Freeform 103"/>
          <p:cNvSpPr>
            <a:spLocks/>
          </p:cNvSpPr>
          <p:nvPr/>
        </p:nvSpPr>
        <p:spPr bwMode="auto">
          <a:xfrm flipH="1">
            <a:off x="3515426" y="3495230"/>
            <a:ext cx="2412571" cy="416719"/>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cxnSp>
        <p:nvCxnSpPr>
          <p:cNvPr id="71" name="直接连接符 70"/>
          <p:cNvCxnSpPr/>
          <p:nvPr/>
        </p:nvCxnSpPr>
        <p:spPr>
          <a:xfrm>
            <a:off x="556963" y="2497224"/>
            <a:ext cx="8048776" cy="0"/>
          </a:xfrm>
          <a:prstGeom prst="line">
            <a:avLst/>
          </a:prstGeom>
          <a:ln w="19050">
            <a:solidFill>
              <a:srgbClr val="0000FF"/>
            </a:solidFill>
          </a:ln>
        </p:spPr>
        <p:style>
          <a:lnRef idx="1">
            <a:schemeClr val="accent1"/>
          </a:lnRef>
          <a:fillRef idx="0">
            <a:schemeClr val="accent1"/>
          </a:fillRef>
          <a:effectRef idx="0">
            <a:schemeClr val="accent1"/>
          </a:effectRef>
          <a:fontRef idx="minor">
            <a:schemeClr val="tx1"/>
          </a:fontRef>
        </p:style>
      </p:cxnSp>
      <p:sp>
        <p:nvSpPr>
          <p:cNvPr id="72" name="Text Box 90"/>
          <p:cNvSpPr txBox="1">
            <a:spLocks noChangeArrowheads="1"/>
          </p:cNvSpPr>
          <p:nvPr/>
        </p:nvSpPr>
        <p:spPr bwMode="auto">
          <a:xfrm>
            <a:off x="5976999" y="3528838"/>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209.0.0.6</a:t>
            </a:r>
          </a:p>
        </p:txBody>
      </p:sp>
      <p:grpSp>
        <p:nvGrpSpPr>
          <p:cNvPr id="79" name="组合 78"/>
          <p:cNvGrpSpPr/>
          <p:nvPr/>
        </p:nvGrpSpPr>
        <p:grpSpPr>
          <a:xfrm>
            <a:off x="2456122" y="1913299"/>
            <a:ext cx="5040745" cy="404587"/>
            <a:chOff x="2456122" y="1949511"/>
            <a:chExt cx="5040745" cy="404587"/>
          </a:xfrm>
        </p:grpSpPr>
        <p:pic>
          <p:nvPicPr>
            <p:cNvPr id="74"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56122"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75"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12431"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76"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44008"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77"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796136"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78"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92280" y="1949511"/>
              <a:ext cx="404587" cy="404587"/>
            </a:xfrm>
            <a:prstGeom prst="rect">
              <a:avLst/>
            </a:prstGeom>
            <a:noFill/>
            <a:extLst>
              <a:ext uri="{909E8E84-426E-40DD-AFC4-6F175D3DCCD1}">
                <a14:hiddenFill xmlns:a14="http://schemas.microsoft.com/office/drawing/2010/main">
                  <a:solidFill>
                    <a:srgbClr val="FFFFFF"/>
                  </a:solidFill>
                </a14:hiddenFill>
              </a:ext>
            </a:extLst>
          </p:spPr>
        </p:pic>
      </p:grpSp>
      <p:sp>
        <p:nvSpPr>
          <p:cNvPr id="64" name="Freeform 97"/>
          <p:cNvSpPr>
            <a:spLocks/>
          </p:cNvSpPr>
          <p:nvPr/>
        </p:nvSpPr>
        <p:spPr bwMode="auto">
          <a:xfrm>
            <a:off x="3514784" y="1704940"/>
            <a:ext cx="1276140" cy="416719"/>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65" name="Freeform 98"/>
          <p:cNvSpPr>
            <a:spLocks/>
          </p:cNvSpPr>
          <p:nvPr/>
        </p:nvSpPr>
        <p:spPr bwMode="auto">
          <a:xfrm>
            <a:off x="3513741" y="1704940"/>
            <a:ext cx="2412571" cy="416719"/>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66" name="Freeform 101"/>
          <p:cNvSpPr>
            <a:spLocks/>
          </p:cNvSpPr>
          <p:nvPr/>
        </p:nvSpPr>
        <p:spPr bwMode="auto">
          <a:xfrm>
            <a:off x="3513741" y="1704940"/>
            <a:ext cx="3831547" cy="416719"/>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67" name="Freeform 102"/>
          <p:cNvSpPr>
            <a:spLocks/>
          </p:cNvSpPr>
          <p:nvPr/>
        </p:nvSpPr>
        <p:spPr bwMode="auto">
          <a:xfrm flipH="1">
            <a:off x="2616065" y="1704940"/>
            <a:ext cx="897676" cy="416719"/>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6" name="Text Box 55"/>
          <p:cNvSpPr txBox="1">
            <a:spLocks noChangeArrowheads="1"/>
          </p:cNvSpPr>
          <p:nvPr/>
        </p:nvSpPr>
        <p:spPr bwMode="auto">
          <a:xfrm>
            <a:off x="3573444" y="1772461"/>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209.0.0.5</a:t>
            </a:r>
          </a:p>
        </p:txBody>
      </p:sp>
      <p:sp>
        <p:nvSpPr>
          <p:cNvPr id="69" name="矩形 68"/>
          <p:cNvSpPr/>
          <p:nvPr/>
        </p:nvSpPr>
        <p:spPr>
          <a:xfrm>
            <a:off x="5207382" y="2331604"/>
            <a:ext cx="1793216" cy="219146"/>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latin typeface="微软雅黑" panose="020B0503020204020204" pitchFamily="34" charset="-122"/>
                <a:ea typeface="微软雅黑" panose="020B0503020204020204" pitchFamily="34" charset="-122"/>
              </a:rPr>
              <a:t>更新 </a:t>
            </a:r>
            <a:r>
              <a:rPr lang="en-US" altLang="zh-CN" sz="1400" b="1" dirty="0">
                <a:latin typeface="微软雅黑" panose="020B0503020204020204" pitchFamily="34" charset="-122"/>
                <a:ea typeface="微软雅黑" panose="020B0503020204020204" pitchFamily="34" charset="-122"/>
              </a:rPr>
              <a:t>ARP </a:t>
            </a:r>
            <a:r>
              <a:rPr lang="zh-CN" altLang="en-US" sz="1400" b="1" dirty="0">
                <a:latin typeface="微软雅黑" panose="020B0503020204020204" pitchFamily="34" charset="-122"/>
                <a:ea typeface="微软雅黑" panose="020B0503020204020204" pitchFamily="34" charset="-122"/>
              </a:rPr>
              <a:t>高速缓存</a:t>
            </a:r>
          </a:p>
        </p:txBody>
      </p:sp>
      <p:sp>
        <p:nvSpPr>
          <p:cNvPr id="70" name="矩形 69"/>
          <p:cNvSpPr/>
          <p:nvPr/>
        </p:nvSpPr>
        <p:spPr>
          <a:xfrm>
            <a:off x="2655951" y="4350900"/>
            <a:ext cx="1793216" cy="219146"/>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latin typeface="微软雅黑" panose="020B0503020204020204" pitchFamily="34" charset="-122"/>
                <a:ea typeface="微软雅黑" panose="020B0503020204020204" pitchFamily="34" charset="-122"/>
              </a:rPr>
              <a:t>更新 </a:t>
            </a:r>
            <a:r>
              <a:rPr lang="en-US" altLang="zh-CN" sz="1400" b="1" dirty="0">
                <a:latin typeface="微软雅黑" panose="020B0503020204020204" pitchFamily="34" charset="-122"/>
                <a:ea typeface="微软雅黑" panose="020B0503020204020204" pitchFamily="34" charset="-122"/>
              </a:rPr>
              <a:t>ARP </a:t>
            </a:r>
            <a:r>
              <a:rPr lang="zh-CN" altLang="en-US" sz="1400" b="1" dirty="0">
                <a:latin typeface="微软雅黑" panose="020B0503020204020204" pitchFamily="34" charset="-122"/>
                <a:ea typeface="微软雅黑" panose="020B0503020204020204" pitchFamily="34" charset="-122"/>
              </a:rPr>
              <a:t>高速缓存</a:t>
            </a:r>
          </a:p>
        </p:txBody>
      </p:sp>
    </p:spTree>
    <p:extLst>
      <p:ext uri="{BB962C8B-B14F-4D97-AF65-F5344CB8AC3E}">
        <p14:creationId xmlns:p14="http://schemas.microsoft.com/office/powerpoint/2010/main" val="56225654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26"/>
                                        </p:tgtEl>
                                        <p:attrNameLst>
                                          <p:attrName>style.visibility</p:attrName>
                                        </p:attrNameLst>
                                      </p:cBhvr>
                                      <p:tavLst>
                                        <p:tav tm="0">
                                          <p:val>
                                            <p:strVal val="hidden"/>
                                          </p:val>
                                        </p:tav>
                                        <p:tav tm="50000">
                                          <p:val>
                                            <p:strVal val="visible"/>
                                          </p:val>
                                        </p:tav>
                                      </p:tavLst>
                                    </p:anim>
                                  </p:childTnLst>
                                </p:cTn>
                              </p:par>
                            </p:childTnLst>
                          </p:cTn>
                        </p:par>
                        <p:par>
                          <p:cTn id="7" fill="hold">
                            <p:stCondLst>
                              <p:cond delay="3000"/>
                            </p:stCondLst>
                            <p:childTnLst>
                              <p:par>
                                <p:cTn id="8" presetID="22" presetClass="entr" presetSubtype="2" fill="hold" grpId="0" nodeType="afterEffect">
                                  <p:stCondLst>
                                    <p:cond delay="250"/>
                                  </p:stCondLst>
                                  <p:childTnLst>
                                    <p:set>
                                      <p:cBhvr>
                                        <p:cTn id="9" dur="1" fill="hold">
                                          <p:stCondLst>
                                            <p:cond delay="0"/>
                                          </p:stCondLst>
                                        </p:cTn>
                                        <p:tgtEl>
                                          <p:spTgt spid="67"/>
                                        </p:tgtEl>
                                        <p:attrNameLst>
                                          <p:attrName>style.visibility</p:attrName>
                                        </p:attrNameLst>
                                      </p:cBhvr>
                                      <p:to>
                                        <p:strVal val="visible"/>
                                      </p:to>
                                    </p:set>
                                    <p:animEffect transition="in" filter="wipe(right)">
                                      <p:cBhvr>
                                        <p:cTn id="10" dur="1000"/>
                                        <p:tgtEl>
                                          <p:spTgt spid="67"/>
                                        </p:tgtEl>
                                      </p:cBhvr>
                                    </p:animEffect>
                                  </p:childTnLst>
                                </p:cTn>
                              </p:par>
                              <p:par>
                                <p:cTn id="11" presetID="22" presetClass="entr" presetSubtype="8" fill="hold" grpId="0" nodeType="withEffect">
                                  <p:stCondLst>
                                    <p:cond delay="250"/>
                                  </p:stCondLst>
                                  <p:childTnLst>
                                    <p:set>
                                      <p:cBhvr>
                                        <p:cTn id="12" dur="1" fill="hold">
                                          <p:stCondLst>
                                            <p:cond delay="0"/>
                                          </p:stCondLst>
                                        </p:cTn>
                                        <p:tgtEl>
                                          <p:spTgt spid="64"/>
                                        </p:tgtEl>
                                        <p:attrNameLst>
                                          <p:attrName>style.visibility</p:attrName>
                                        </p:attrNameLst>
                                      </p:cBhvr>
                                      <p:to>
                                        <p:strVal val="visible"/>
                                      </p:to>
                                    </p:set>
                                    <p:animEffect transition="in" filter="wipe(left)">
                                      <p:cBhvr>
                                        <p:cTn id="13" dur="1000"/>
                                        <p:tgtEl>
                                          <p:spTgt spid="64"/>
                                        </p:tgtEl>
                                      </p:cBhvr>
                                    </p:animEffect>
                                  </p:childTnLst>
                                </p:cTn>
                              </p:par>
                              <p:par>
                                <p:cTn id="14" presetID="22" presetClass="entr" presetSubtype="8" fill="hold" grpId="0" nodeType="withEffect">
                                  <p:stCondLst>
                                    <p:cond delay="250"/>
                                  </p:stCondLst>
                                  <p:childTnLst>
                                    <p:set>
                                      <p:cBhvr>
                                        <p:cTn id="15" dur="1" fill="hold">
                                          <p:stCondLst>
                                            <p:cond delay="0"/>
                                          </p:stCondLst>
                                        </p:cTn>
                                        <p:tgtEl>
                                          <p:spTgt spid="65"/>
                                        </p:tgtEl>
                                        <p:attrNameLst>
                                          <p:attrName>style.visibility</p:attrName>
                                        </p:attrNameLst>
                                      </p:cBhvr>
                                      <p:to>
                                        <p:strVal val="visible"/>
                                      </p:to>
                                    </p:set>
                                    <p:animEffect transition="in" filter="wipe(left)">
                                      <p:cBhvr>
                                        <p:cTn id="16" dur="1250"/>
                                        <p:tgtEl>
                                          <p:spTgt spid="65"/>
                                        </p:tgtEl>
                                      </p:cBhvr>
                                    </p:animEffect>
                                  </p:childTnLst>
                                </p:cTn>
                              </p:par>
                              <p:par>
                                <p:cTn id="17" presetID="22" presetClass="entr" presetSubtype="8" fill="hold" grpId="0" nodeType="withEffect">
                                  <p:stCondLst>
                                    <p:cond delay="250"/>
                                  </p:stCondLst>
                                  <p:childTnLst>
                                    <p:set>
                                      <p:cBhvr>
                                        <p:cTn id="18" dur="1" fill="hold">
                                          <p:stCondLst>
                                            <p:cond delay="0"/>
                                          </p:stCondLst>
                                        </p:cTn>
                                        <p:tgtEl>
                                          <p:spTgt spid="66"/>
                                        </p:tgtEl>
                                        <p:attrNameLst>
                                          <p:attrName>style.visibility</p:attrName>
                                        </p:attrNameLst>
                                      </p:cBhvr>
                                      <p:to>
                                        <p:strVal val="visible"/>
                                      </p:to>
                                    </p:set>
                                    <p:animEffect transition="in" filter="wipe(left)">
                                      <p:cBhvr>
                                        <p:cTn id="19" dur="1500"/>
                                        <p:tgtEl>
                                          <p:spTgt spid="66"/>
                                        </p:tgtEl>
                                      </p:cBhvr>
                                    </p:animEffect>
                                  </p:childTnLst>
                                </p:cTn>
                              </p:par>
                            </p:childTnLst>
                          </p:cTn>
                        </p:par>
                        <p:par>
                          <p:cTn id="20" fill="hold">
                            <p:stCondLst>
                              <p:cond delay="4750"/>
                            </p:stCondLst>
                            <p:childTnLst>
                              <p:par>
                                <p:cTn id="21" presetID="10" presetClass="entr" presetSubtype="0" repeatCount="3000" fill="hold" grpId="0" nodeType="afterEffect">
                                  <p:stCondLst>
                                    <p:cond delay="0"/>
                                  </p:stCondLst>
                                  <p:childTnLst>
                                    <p:set>
                                      <p:cBhvr>
                                        <p:cTn id="22" dur="1" fill="hold">
                                          <p:stCondLst>
                                            <p:cond delay="0"/>
                                          </p:stCondLst>
                                        </p:cTn>
                                        <p:tgtEl>
                                          <p:spTgt spid="69"/>
                                        </p:tgtEl>
                                        <p:attrNameLst>
                                          <p:attrName>style.visibility</p:attrName>
                                        </p:attrNameLst>
                                      </p:cBhvr>
                                      <p:to>
                                        <p:strVal val="visible"/>
                                      </p:to>
                                    </p:set>
                                    <p:animEffect transition="in" filter="fade">
                                      <p:cBhvr>
                                        <p:cTn id="23" dur="500"/>
                                        <p:tgtEl>
                                          <p:spTgt spid="69"/>
                                        </p:tgtEl>
                                      </p:cBhvr>
                                    </p:animEffect>
                                  </p:childTnLst>
                                </p:cTn>
                              </p:par>
                            </p:childTnLst>
                          </p:cTn>
                        </p:par>
                      </p:childTnLst>
                    </p:cTn>
                  </p:par>
                  <p:par>
                    <p:cTn id="24" fill="hold">
                      <p:stCondLst>
                        <p:cond delay="indefinite"/>
                      </p:stCondLst>
                      <p:childTnLst>
                        <p:par>
                          <p:cTn id="25" fill="hold">
                            <p:stCondLst>
                              <p:cond delay="0"/>
                            </p:stCondLst>
                            <p:childTnLst>
                              <p:par>
                                <p:cTn id="26" presetID="35" presetClass="emph" presetSubtype="0" repeatCount="3000" fill="hold" grpId="0" nodeType="clickEffect">
                                  <p:stCondLst>
                                    <p:cond delay="0"/>
                                  </p:stCondLst>
                                  <p:childTnLst>
                                    <p:anim calcmode="discrete" valueType="str">
                                      <p:cBhvr>
                                        <p:cTn id="27" dur="1000" fill="hold"/>
                                        <p:tgtEl>
                                          <p:spTgt spid="25"/>
                                        </p:tgtEl>
                                        <p:attrNameLst>
                                          <p:attrName>style.visibility</p:attrName>
                                        </p:attrNameLst>
                                      </p:cBhvr>
                                      <p:tavLst>
                                        <p:tav tm="0">
                                          <p:val>
                                            <p:strVal val="hidden"/>
                                          </p:val>
                                        </p:tav>
                                        <p:tav tm="50000">
                                          <p:val>
                                            <p:strVal val="visible"/>
                                          </p:val>
                                        </p:tav>
                                      </p:tavLst>
                                    </p:anim>
                                  </p:childTnLst>
                                </p:cTn>
                              </p:par>
                            </p:childTnLst>
                          </p:cTn>
                        </p:par>
                        <p:par>
                          <p:cTn id="28" fill="hold">
                            <p:stCondLst>
                              <p:cond delay="3000"/>
                            </p:stCondLst>
                            <p:childTnLst>
                              <p:par>
                                <p:cTn id="29" presetID="22" presetClass="entr" presetSubtype="2" fill="hold" grpId="0" nodeType="afterEffect">
                                  <p:stCondLst>
                                    <p:cond delay="250"/>
                                  </p:stCondLst>
                                  <p:childTnLst>
                                    <p:set>
                                      <p:cBhvr>
                                        <p:cTn id="30" dur="1" fill="hold">
                                          <p:stCondLst>
                                            <p:cond delay="0"/>
                                          </p:stCondLst>
                                        </p:cTn>
                                        <p:tgtEl>
                                          <p:spTgt spid="68"/>
                                        </p:tgtEl>
                                        <p:attrNameLst>
                                          <p:attrName>style.visibility</p:attrName>
                                        </p:attrNameLst>
                                      </p:cBhvr>
                                      <p:to>
                                        <p:strVal val="visible"/>
                                      </p:to>
                                    </p:set>
                                    <p:animEffect transition="in" filter="wipe(right)">
                                      <p:cBhvr>
                                        <p:cTn id="31" dur="1250"/>
                                        <p:tgtEl>
                                          <p:spTgt spid="68"/>
                                        </p:tgtEl>
                                      </p:cBhvr>
                                    </p:animEffect>
                                  </p:childTnLst>
                                </p:cTn>
                              </p:par>
                            </p:childTnLst>
                          </p:cTn>
                        </p:par>
                        <p:par>
                          <p:cTn id="32" fill="hold">
                            <p:stCondLst>
                              <p:cond delay="4500"/>
                            </p:stCondLst>
                            <p:childTnLst>
                              <p:par>
                                <p:cTn id="33" presetID="10" presetClass="entr" presetSubtype="0" repeatCount="3000" fill="hold" grpId="0" nodeType="afterEffect">
                                  <p:stCondLst>
                                    <p:cond delay="0"/>
                                  </p:stCondLst>
                                  <p:childTnLst>
                                    <p:set>
                                      <p:cBhvr>
                                        <p:cTn id="34" dur="1" fill="hold">
                                          <p:stCondLst>
                                            <p:cond delay="0"/>
                                          </p:stCondLst>
                                        </p:cTn>
                                        <p:tgtEl>
                                          <p:spTgt spid="70"/>
                                        </p:tgtEl>
                                        <p:attrNameLst>
                                          <p:attrName>style.visibility</p:attrName>
                                        </p:attrNameLst>
                                      </p:cBhvr>
                                      <p:to>
                                        <p:strVal val="visible"/>
                                      </p:to>
                                    </p:set>
                                    <p:animEffect transition="in" filter="fade">
                                      <p:cBhvr>
                                        <p:cTn id="35"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6" grpId="0" animBg="1"/>
      <p:bldP spid="68" grpId="0" animBg="1"/>
      <p:bldP spid="64" grpId="0" animBg="1"/>
      <p:bldP spid="65" grpId="0" animBg="1"/>
      <p:bldP spid="66" grpId="0" animBg="1"/>
      <p:bldP spid="67" grpId="0" animBg="1"/>
      <p:bldP spid="69" grpId="0" animBg="1"/>
      <p:bldP spid="70"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59163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282757" y="558426"/>
            <a:ext cx="259718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highlight>
                  <a:srgbClr val="FFFF00"/>
                </a:highlight>
                <a:latin typeface="微软雅黑" pitchFamily="34" charset="-122"/>
                <a:ea typeface="微软雅黑" pitchFamily="34" charset="-122"/>
              </a:rPr>
              <a:t>ARP </a:t>
            </a:r>
            <a:r>
              <a:rPr lang="zh-CN" altLang="en-US" sz="2000" b="1" dirty="0">
                <a:highlight>
                  <a:srgbClr val="FFFF00"/>
                </a:highlight>
                <a:latin typeface="微软雅黑" pitchFamily="34" charset="-122"/>
                <a:ea typeface="微软雅黑" pitchFamily="34" charset="-122"/>
              </a:rPr>
              <a:t>高速缓存的作用</a:t>
            </a:r>
          </a:p>
        </p:txBody>
      </p:sp>
      <p:sp>
        <p:nvSpPr>
          <p:cNvPr id="7" name="Rectangle 68"/>
          <p:cNvSpPr>
            <a:spLocks noChangeArrowheads="1"/>
          </p:cNvSpPr>
          <p:nvPr/>
        </p:nvSpPr>
        <p:spPr bwMode="auto">
          <a:xfrm>
            <a:off x="556963" y="935834"/>
            <a:ext cx="8048776"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存放最近获得的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地址到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地址的绑定。</a:t>
            </a:r>
            <a:endParaRPr lang="en-US" altLang="zh-CN" sz="2000" b="1" dirty="0">
              <a:latin typeface="微软雅黑" pitchFamily="34" charset="-122"/>
              <a:ea typeface="微软雅黑" pitchFamily="34" charset="-122"/>
            </a:endParaRPr>
          </a:p>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减少 </a:t>
            </a:r>
            <a:r>
              <a:rPr lang="en-US" altLang="zh-CN" sz="2000" b="1" dirty="0">
                <a:latin typeface="微软雅黑" pitchFamily="34" charset="-122"/>
                <a:ea typeface="微软雅黑" pitchFamily="34" charset="-122"/>
              </a:rPr>
              <a:t>ARP </a:t>
            </a:r>
            <a:r>
              <a:rPr lang="zh-CN" altLang="en-US" sz="2000" b="1" dirty="0">
                <a:latin typeface="微软雅黑" pitchFamily="34" charset="-122"/>
                <a:ea typeface="微软雅黑" pitchFamily="34" charset="-122"/>
              </a:rPr>
              <a:t>广播的通信量。</a:t>
            </a:r>
          </a:p>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为进一步减少 </a:t>
            </a:r>
            <a:r>
              <a:rPr lang="en-US" altLang="zh-CN" sz="2000" b="1" dirty="0">
                <a:latin typeface="微软雅黑" pitchFamily="34" charset="-122"/>
                <a:ea typeface="微软雅黑" pitchFamily="34" charset="-122"/>
              </a:rPr>
              <a:t>ARP </a:t>
            </a:r>
            <a:r>
              <a:rPr lang="zh-CN" altLang="en-US" sz="2000" b="1" dirty="0">
                <a:latin typeface="微软雅黑" pitchFamily="34" charset="-122"/>
                <a:ea typeface="微软雅黑" pitchFamily="34" charset="-122"/>
              </a:rPr>
              <a:t>通信量，主机 </a:t>
            </a:r>
            <a:r>
              <a:rPr lang="en-US" altLang="zh-CN" sz="2000" b="1" dirty="0">
                <a:latin typeface="微软雅黑" pitchFamily="34" charset="-122"/>
                <a:ea typeface="微软雅黑" pitchFamily="34" charset="-122"/>
              </a:rPr>
              <a:t>A </a:t>
            </a:r>
            <a:r>
              <a:rPr lang="zh-CN" altLang="en-US" sz="2000" b="1" dirty="0">
                <a:latin typeface="微软雅黑" pitchFamily="34" charset="-122"/>
                <a:ea typeface="微软雅黑" pitchFamily="34" charset="-122"/>
              </a:rPr>
              <a:t>在发送其 </a:t>
            </a:r>
            <a:r>
              <a:rPr lang="en-US" altLang="zh-CN" sz="2000" b="1" dirty="0">
                <a:latin typeface="微软雅黑" pitchFamily="34" charset="-122"/>
                <a:ea typeface="微软雅黑" pitchFamily="34" charset="-122"/>
              </a:rPr>
              <a:t>ARP </a:t>
            </a:r>
            <a:r>
              <a:rPr lang="zh-CN" altLang="en-US" sz="2000" b="1" dirty="0">
                <a:latin typeface="微软雅黑" pitchFamily="34" charset="-122"/>
                <a:ea typeface="微软雅黑" pitchFamily="34" charset="-122"/>
              </a:rPr>
              <a:t>请求分组时，就将自己的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地址到</a:t>
            </a:r>
            <a:r>
              <a:rPr lang="en-US" altLang="zh-CN" sz="2000" b="1" dirty="0">
                <a:latin typeface="微软雅黑" pitchFamily="34" charset="-122"/>
                <a:ea typeface="微软雅黑" pitchFamily="34" charset="-122"/>
              </a:rPr>
              <a:t> MAC </a:t>
            </a:r>
            <a:r>
              <a:rPr lang="zh-CN" altLang="en-US" sz="2000" b="1" dirty="0">
                <a:latin typeface="微软雅黑" pitchFamily="34" charset="-122"/>
                <a:ea typeface="微软雅黑" pitchFamily="34" charset="-122"/>
              </a:rPr>
              <a:t>地址的映射写入 </a:t>
            </a:r>
            <a:r>
              <a:rPr lang="en-US" altLang="zh-CN" sz="2000" b="1" dirty="0">
                <a:latin typeface="微软雅黑" pitchFamily="34" charset="-122"/>
                <a:ea typeface="微软雅黑" pitchFamily="34" charset="-122"/>
              </a:rPr>
              <a:t>ARP </a:t>
            </a:r>
            <a:r>
              <a:rPr lang="zh-CN" altLang="en-US" sz="2000" b="1" dirty="0">
                <a:latin typeface="微软雅黑" pitchFamily="34" charset="-122"/>
                <a:ea typeface="微软雅黑" pitchFamily="34" charset="-122"/>
              </a:rPr>
              <a:t>请求分组。</a:t>
            </a:r>
            <a:endParaRPr lang="en-US" altLang="zh-CN" sz="2000" b="1" dirty="0">
              <a:latin typeface="微软雅黑" pitchFamily="34" charset="-122"/>
              <a:ea typeface="微软雅黑" pitchFamily="34" charset="-122"/>
            </a:endParaRPr>
          </a:p>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当主机 </a:t>
            </a:r>
            <a:r>
              <a:rPr lang="en-US" altLang="zh-CN" sz="2000" b="1" dirty="0">
                <a:latin typeface="微软雅黑" pitchFamily="34" charset="-122"/>
                <a:ea typeface="微软雅黑" pitchFamily="34" charset="-122"/>
              </a:rPr>
              <a:t>B </a:t>
            </a:r>
            <a:r>
              <a:rPr lang="zh-CN" altLang="en-US" sz="2000" b="1" dirty="0">
                <a:latin typeface="微软雅黑" pitchFamily="34" charset="-122"/>
                <a:ea typeface="微软雅黑" pitchFamily="34" charset="-122"/>
              </a:rPr>
              <a:t>收到 </a:t>
            </a:r>
            <a:r>
              <a:rPr lang="en-US" altLang="zh-CN" sz="2000" b="1" dirty="0">
                <a:latin typeface="微软雅黑" pitchFamily="34" charset="-122"/>
                <a:ea typeface="微软雅黑" pitchFamily="34" charset="-122"/>
              </a:rPr>
              <a:t>A </a:t>
            </a:r>
            <a:r>
              <a:rPr lang="zh-CN" altLang="en-US" sz="2000" b="1" dirty="0">
                <a:latin typeface="微软雅黑" pitchFamily="34" charset="-122"/>
                <a:ea typeface="微软雅黑" pitchFamily="34" charset="-122"/>
              </a:rPr>
              <a:t>的 </a:t>
            </a:r>
            <a:r>
              <a:rPr lang="en-US" altLang="zh-CN" sz="2000" b="1" dirty="0">
                <a:latin typeface="微软雅黑" pitchFamily="34" charset="-122"/>
                <a:ea typeface="微软雅黑" pitchFamily="34" charset="-122"/>
              </a:rPr>
              <a:t>ARP </a:t>
            </a:r>
            <a:r>
              <a:rPr lang="zh-CN" altLang="en-US" sz="2000" b="1" dirty="0">
                <a:latin typeface="微软雅黑" pitchFamily="34" charset="-122"/>
                <a:ea typeface="微软雅黑" pitchFamily="34" charset="-122"/>
              </a:rPr>
              <a:t>请求分组时，就将主机 </a:t>
            </a:r>
            <a:r>
              <a:rPr lang="en-US" altLang="zh-CN" sz="2000" b="1" dirty="0">
                <a:latin typeface="微软雅黑" pitchFamily="34" charset="-122"/>
                <a:ea typeface="微软雅黑" pitchFamily="34" charset="-122"/>
              </a:rPr>
              <a:t>A </a:t>
            </a:r>
            <a:r>
              <a:rPr lang="zh-CN" altLang="en-US" sz="2000" b="1" dirty="0">
                <a:latin typeface="微软雅黑" pitchFamily="34" charset="-122"/>
                <a:ea typeface="微软雅黑" pitchFamily="34" charset="-122"/>
              </a:rPr>
              <a:t>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地址及其对应的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地址映射写入主机 </a:t>
            </a:r>
            <a:r>
              <a:rPr lang="en-US" altLang="zh-CN" sz="2000" b="1" dirty="0">
                <a:latin typeface="微软雅黑" pitchFamily="34" charset="-122"/>
                <a:ea typeface="微软雅黑" pitchFamily="34" charset="-122"/>
              </a:rPr>
              <a:t>B </a:t>
            </a:r>
            <a:r>
              <a:rPr lang="zh-CN" altLang="en-US" sz="2000" b="1" dirty="0">
                <a:latin typeface="微软雅黑" pitchFamily="34" charset="-122"/>
                <a:ea typeface="微软雅黑" pitchFamily="34" charset="-122"/>
              </a:rPr>
              <a:t>自己的 </a:t>
            </a:r>
            <a:r>
              <a:rPr lang="en-US" altLang="zh-CN" sz="2000" b="1" dirty="0">
                <a:latin typeface="微软雅黑" pitchFamily="34" charset="-122"/>
                <a:ea typeface="微软雅黑" pitchFamily="34" charset="-122"/>
              </a:rPr>
              <a:t>ARP </a:t>
            </a:r>
            <a:r>
              <a:rPr lang="zh-CN" altLang="en-US" sz="2000" b="1" dirty="0">
                <a:latin typeface="微软雅黑" pitchFamily="34" charset="-122"/>
                <a:ea typeface="微软雅黑" pitchFamily="34" charset="-122"/>
              </a:rPr>
              <a:t>高速缓存中。不必在发送 </a:t>
            </a:r>
            <a:r>
              <a:rPr lang="en-US" altLang="zh-CN" sz="2000" b="1" dirty="0">
                <a:latin typeface="微软雅黑" pitchFamily="34" charset="-122"/>
                <a:ea typeface="微软雅黑" pitchFamily="34" charset="-122"/>
              </a:rPr>
              <a:t>ARP </a:t>
            </a:r>
            <a:r>
              <a:rPr lang="zh-CN" altLang="en-US" sz="2000" b="1" dirty="0">
                <a:latin typeface="微软雅黑" pitchFamily="34" charset="-122"/>
                <a:ea typeface="微软雅黑" pitchFamily="34" charset="-122"/>
              </a:rPr>
              <a:t>请求。</a:t>
            </a:r>
          </a:p>
        </p:txBody>
      </p:sp>
    </p:spTree>
    <p:extLst>
      <p:ext uri="{BB962C8B-B14F-4D97-AF65-F5344CB8AC3E}">
        <p14:creationId xmlns:p14="http://schemas.microsoft.com/office/powerpoint/2010/main" val="243690351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59461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319358" y="561401"/>
            <a:ext cx="45239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台主机不在同一个局域网上怎么办？</a:t>
            </a:r>
          </a:p>
        </p:txBody>
      </p:sp>
      <p:grpSp>
        <p:nvGrpSpPr>
          <p:cNvPr id="2" name="组合 1"/>
          <p:cNvGrpSpPr/>
          <p:nvPr/>
        </p:nvGrpSpPr>
        <p:grpSpPr>
          <a:xfrm>
            <a:off x="1495251" y="1800409"/>
            <a:ext cx="6014215" cy="1152477"/>
            <a:chOff x="1422400" y="1686109"/>
            <a:chExt cx="6014215" cy="1152477"/>
          </a:xfrm>
        </p:grpSpPr>
        <p:sp>
          <p:nvSpPr>
            <p:cNvPr id="9" name="Line 9"/>
            <p:cNvSpPr>
              <a:spLocks noChangeShapeType="1"/>
            </p:cNvSpPr>
            <p:nvPr/>
          </p:nvSpPr>
          <p:spPr bwMode="auto">
            <a:xfrm rot="5400000">
              <a:off x="6297733" y="2356527"/>
              <a:ext cx="356087"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2" name="Line 16"/>
            <p:cNvSpPr>
              <a:spLocks noChangeShapeType="1"/>
            </p:cNvSpPr>
            <p:nvPr/>
          </p:nvSpPr>
          <p:spPr bwMode="auto">
            <a:xfrm flipV="1">
              <a:off x="1422400" y="2178483"/>
              <a:ext cx="5918200"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3" name="Text Box 56"/>
            <p:cNvSpPr txBox="1">
              <a:spLocks noChangeArrowheads="1"/>
            </p:cNvSpPr>
            <p:nvPr/>
          </p:nvSpPr>
          <p:spPr bwMode="auto">
            <a:xfrm>
              <a:off x="6554642"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219.1.0.6</a:t>
              </a:r>
            </a:p>
          </p:txBody>
        </p:sp>
        <p:sp>
          <p:nvSpPr>
            <p:cNvPr id="14" name="Line 7"/>
            <p:cNvSpPr>
              <a:spLocks noChangeShapeType="1"/>
            </p:cNvSpPr>
            <p:nvPr/>
          </p:nvSpPr>
          <p:spPr bwMode="auto">
            <a:xfrm rot="5400000">
              <a:off x="2044629" y="2356527"/>
              <a:ext cx="356087"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5" name="Text Box 17"/>
            <p:cNvSpPr txBox="1">
              <a:spLocks noChangeArrowheads="1"/>
            </p:cNvSpPr>
            <p:nvPr/>
          </p:nvSpPr>
          <p:spPr bwMode="auto">
            <a:xfrm>
              <a:off x="2352998" y="2488377"/>
              <a:ext cx="33912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A</a:t>
              </a:r>
            </a:p>
          </p:txBody>
        </p:sp>
        <p:sp>
          <p:nvSpPr>
            <p:cNvPr id="18" name="Text Box 20"/>
            <p:cNvSpPr txBox="1">
              <a:spLocks noChangeArrowheads="1"/>
            </p:cNvSpPr>
            <p:nvPr/>
          </p:nvSpPr>
          <p:spPr bwMode="auto">
            <a:xfrm>
              <a:off x="6623569" y="2488377"/>
              <a:ext cx="32825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itchFamily="34" charset="-122"/>
                  <a:ea typeface="微软雅黑" pitchFamily="34" charset="-122"/>
                </a:rPr>
                <a:t>B</a:t>
              </a:r>
            </a:p>
          </p:txBody>
        </p:sp>
        <p:pic>
          <p:nvPicPr>
            <p:cNvPr id="22"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08851" y="2433999"/>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84086" y="2433999"/>
              <a:ext cx="404587" cy="404587"/>
            </a:xfrm>
            <a:prstGeom prst="rect">
              <a:avLst/>
            </a:prstGeom>
            <a:noFill/>
            <a:extLst>
              <a:ext uri="{909E8E84-426E-40DD-AFC4-6F175D3DCCD1}">
                <a14:hiddenFill xmlns:a14="http://schemas.microsoft.com/office/drawing/2010/main">
                  <a:solidFill>
                    <a:srgbClr val="FFFFFF"/>
                  </a:solidFill>
                </a14:hiddenFill>
              </a:ext>
            </a:extLst>
          </p:spPr>
        </p:pic>
        <p:sp>
          <p:nvSpPr>
            <p:cNvPr id="30" name="Text Box 55"/>
            <p:cNvSpPr txBox="1">
              <a:spLocks noChangeArrowheads="1"/>
            </p:cNvSpPr>
            <p:nvPr/>
          </p:nvSpPr>
          <p:spPr bwMode="auto">
            <a:xfrm>
              <a:off x="2269864"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209.0.0.5</a:t>
              </a:r>
            </a:p>
          </p:txBody>
        </p:sp>
        <p:sp>
          <p:nvSpPr>
            <p:cNvPr id="31" name="Text Box 18"/>
            <p:cNvSpPr txBox="1">
              <a:spLocks noChangeArrowheads="1"/>
            </p:cNvSpPr>
            <p:nvPr/>
          </p:nvSpPr>
          <p:spPr bwMode="auto">
            <a:xfrm>
              <a:off x="4054786" y="1686109"/>
              <a:ext cx="97494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路由器 </a:t>
              </a:r>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1</a:t>
              </a:r>
            </a:p>
          </p:txBody>
        </p:sp>
        <p:pic>
          <p:nvPicPr>
            <p:cNvPr id="32" name="Picture 2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20663" y="1981098"/>
              <a:ext cx="545185" cy="3811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3" name="Text Box 55"/>
            <p:cNvSpPr txBox="1">
              <a:spLocks noChangeArrowheads="1"/>
            </p:cNvSpPr>
            <p:nvPr/>
          </p:nvSpPr>
          <p:spPr bwMode="auto">
            <a:xfrm>
              <a:off x="3450251"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209.0.0.1</a:t>
              </a:r>
            </a:p>
          </p:txBody>
        </p:sp>
        <p:sp>
          <p:nvSpPr>
            <p:cNvPr id="34" name="Text Box 55"/>
            <p:cNvSpPr txBox="1">
              <a:spLocks noChangeArrowheads="1"/>
            </p:cNvSpPr>
            <p:nvPr/>
          </p:nvSpPr>
          <p:spPr bwMode="auto">
            <a:xfrm>
              <a:off x="4679216"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219.1.0.1</a:t>
              </a:r>
            </a:p>
          </p:txBody>
        </p:sp>
      </p:grpSp>
      <p:sp>
        <p:nvSpPr>
          <p:cNvPr id="20" name="Text Box 108"/>
          <p:cNvSpPr txBox="1">
            <a:spLocks noChangeArrowheads="1"/>
          </p:cNvSpPr>
          <p:nvPr/>
        </p:nvSpPr>
        <p:spPr bwMode="auto">
          <a:xfrm>
            <a:off x="1019330" y="3325832"/>
            <a:ext cx="7075357" cy="1006429"/>
          </a:xfrm>
          <a:prstGeom prst="rect">
            <a:avLst/>
          </a:prstGeom>
          <a:solidFill>
            <a:srgbClr val="0000CC"/>
          </a:solidFill>
          <a:ln w="9525">
            <a:solidFill>
              <a:srgbClr val="333399"/>
            </a:solidFill>
            <a:miter lim="800000"/>
            <a:headEnd/>
            <a:tailEnd/>
          </a:ln>
          <a:effectLst/>
        </p:spPr>
        <p:txBody>
          <a:bodyPr wrap="square">
            <a:spAutoFit/>
          </a:bodyPr>
          <a:lstStyle/>
          <a:p>
            <a:pPr algn="ctr">
              <a:lnSpc>
                <a:spcPct val="110000"/>
              </a:lnSpc>
            </a:pPr>
            <a:r>
              <a:rPr lang="zh-CN" altLang="en-US" b="1" dirty="0">
                <a:solidFill>
                  <a:schemeClr val="bg1"/>
                </a:solidFill>
                <a:latin typeface="微软雅黑" pitchFamily="34" charset="-122"/>
                <a:ea typeface="微软雅黑" pitchFamily="34" charset="-122"/>
              </a:rPr>
              <a:t>通信的路径：</a:t>
            </a:r>
            <a:r>
              <a:rPr lang="en-US" altLang="zh-CN" b="1" dirty="0">
                <a:solidFill>
                  <a:schemeClr val="bg1"/>
                </a:solidFill>
                <a:latin typeface="微软雅黑" pitchFamily="34" charset="-122"/>
                <a:ea typeface="微软雅黑" pitchFamily="34" charset="-122"/>
              </a:rPr>
              <a:t>A → </a:t>
            </a:r>
            <a:r>
              <a:rPr lang="zh-CN" altLang="en-US" b="1" dirty="0">
                <a:solidFill>
                  <a:schemeClr val="bg1"/>
                </a:solidFill>
                <a:latin typeface="微软雅黑" pitchFamily="34" charset="-122"/>
                <a:ea typeface="微软雅黑" pitchFamily="34" charset="-122"/>
              </a:rPr>
              <a:t>经过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 </a:t>
            </a:r>
            <a:r>
              <a:rPr lang="zh-CN" altLang="en-US" b="1" dirty="0">
                <a:solidFill>
                  <a:schemeClr val="bg1"/>
                </a:solidFill>
                <a:latin typeface="微软雅黑" pitchFamily="34" charset="-122"/>
                <a:ea typeface="微软雅黑" pitchFamily="34" charset="-122"/>
              </a:rPr>
              <a:t>转发 → </a:t>
            </a:r>
            <a:r>
              <a:rPr lang="en-US" altLang="zh-CN" b="1" dirty="0">
                <a:solidFill>
                  <a:schemeClr val="bg1"/>
                </a:solidFill>
                <a:latin typeface="微软雅黑" pitchFamily="34" charset="-122"/>
                <a:ea typeface="微软雅黑" pitchFamily="34" charset="-122"/>
              </a:rPr>
              <a:t>B</a:t>
            </a:r>
            <a:r>
              <a:rPr lang="zh-CN" altLang="en-US" b="1" dirty="0">
                <a:solidFill>
                  <a:schemeClr val="bg1"/>
                </a:solidFill>
                <a:latin typeface="微软雅黑" pitchFamily="34" charset="-122"/>
                <a:ea typeface="微软雅黑" pitchFamily="34" charset="-122"/>
              </a:rPr>
              <a:t>。</a:t>
            </a:r>
            <a:endParaRPr lang="en-US" altLang="zh-CN" b="1" dirty="0">
              <a:solidFill>
                <a:schemeClr val="bg1"/>
              </a:solidFill>
              <a:latin typeface="微软雅黑" pitchFamily="34" charset="-122"/>
              <a:ea typeface="微软雅黑" pitchFamily="34" charset="-122"/>
            </a:endParaRPr>
          </a:p>
          <a:p>
            <a:pPr algn="ctr">
              <a:lnSpc>
                <a:spcPct val="110000"/>
              </a:lnSpc>
            </a:pPr>
            <a:r>
              <a:rPr lang="zh-CN" altLang="en-US" b="1" dirty="0">
                <a:solidFill>
                  <a:schemeClr val="bg1"/>
                </a:solidFill>
                <a:latin typeface="微软雅黑" pitchFamily="34" charset="-122"/>
                <a:ea typeface="微软雅黑" pitchFamily="34" charset="-122"/>
              </a:rPr>
              <a:t>因此主机 </a:t>
            </a:r>
            <a:r>
              <a:rPr lang="en-US" altLang="zh-CN" b="1" dirty="0">
                <a:solidFill>
                  <a:schemeClr val="bg1"/>
                </a:solidFill>
                <a:latin typeface="微软雅黑" pitchFamily="34" charset="-122"/>
                <a:ea typeface="微软雅黑" pitchFamily="34" charset="-122"/>
              </a:rPr>
              <a:t>A </a:t>
            </a:r>
            <a:r>
              <a:rPr lang="zh-CN" altLang="en-US" b="1" dirty="0">
                <a:solidFill>
                  <a:schemeClr val="bg1"/>
                </a:solidFill>
                <a:latin typeface="微软雅黑" pitchFamily="34" charset="-122"/>
                <a:ea typeface="微软雅黑" pitchFamily="34" charset="-122"/>
              </a:rPr>
              <a:t>必须知道路由器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a:t>
            </a:r>
            <a:r>
              <a:rPr lang="en-US" altLang="zh-CN" b="1" dirty="0">
                <a:solidFill>
                  <a:schemeClr val="bg1"/>
                </a:solidFill>
                <a:latin typeface="微软雅黑" pitchFamily="34" charset="-122"/>
                <a:ea typeface="微软雅黑" pitchFamily="34" charset="-122"/>
              </a:rPr>
              <a:t> </a:t>
            </a:r>
            <a:r>
              <a:rPr lang="zh-CN" altLang="en-US" b="1" dirty="0">
                <a:solidFill>
                  <a:schemeClr val="bg1"/>
                </a:solidFill>
                <a:latin typeface="微软雅黑" pitchFamily="34" charset="-122"/>
                <a:ea typeface="微软雅黑" pitchFamily="34" charset="-122"/>
              </a:rPr>
              <a:t>的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地址，解析出其 </a:t>
            </a:r>
            <a:r>
              <a:rPr lang="en-US" altLang="zh-CN" b="1" dirty="0">
                <a:solidFill>
                  <a:schemeClr val="bg1"/>
                </a:solidFill>
                <a:latin typeface="微软雅黑" pitchFamily="34" charset="-122"/>
                <a:ea typeface="微软雅黑" pitchFamily="34" charset="-122"/>
              </a:rPr>
              <a:t>MAC </a:t>
            </a:r>
            <a:r>
              <a:rPr lang="zh-CN" altLang="en-US" b="1" dirty="0">
                <a:solidFill>
                  <a:schemeClr val="bg1"/>
                </a:solidFill>
                <a:latin typeface="微软雅黑" pitchFamily="34" charset="-122"/>
                <a:ea typeface="微软雅黑" pitchFamily="34" charset="-122"/>
              </a:rPr>
              <a:t>地址。然后把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数据报传送到路由器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a:t>
            </a:r>
            <a:r>
              <a:rPr lang="zh-CN" altLang="en-US" b="1" dirty="0">
                <a:solidFill>
                  <a:schemeClr val="bg1"/>
                </a:solidFill>
                <a:latin typeface="微软雅黑" pitchFamily="34" charset="-122"/>
                <a:ea typeface="微软雅黑" pitchFamily="34" charset="-122"/>
              </a:rPr>
              <a:t>。</a:t>
            </a:r>
          </a:p>
        </p:txBody>
      </p:sp>
      <p:sp>
        <p:nvSpPr>
          <p:cNvPr id="29" name="Rectangle 68"/>
          <p:cNvSpPr>
            <a:spLocks noChangeArrowheads="1"/>
          </p:cNvSpPr>
          <p:nvPr/>
        </p:nvSpPr>
        <p:spPr bwMode="auto">
          <a:xfrm>
            <a:off x="556963" y="935834"/>
            <a:ext cx="8048776" cy="8939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ARP </a:t>
            </a:r>
            <a:r>
              <a:rPr lang="zh-CN" altLang="en-US" sz="2000" b="1" dirty="0">
                <a:latin typeface="微软雅黑" pitchFamily="34" charset="-122"/>
                <a:ea typeface="微软雅黑" pitchFamily="34" charset="-122"/>
              </a:rPr>
              <a:t>用于解决</a:t>
            </a:r>
            <a:r>
              <a:rPr lang="zh-CN" altLang="en-US" sz="2000" b="1" dirty="0">
                <a:solidFill>
                  <a:srgbClr val="C00000"/>
                </a:solidFill>
                <a:latin typeface="微软雅黑" pitchFamily="34" charset="-122"/>
                <a:ea typeface="微软雅黑" pitchFamily="34" charset="-122"/>
              </a:rPr>
              <a:t>同一个局域网上</a:t>
            </a:r>
            <a:r>
              <a:rPr lang="zh-CN" altLang="en-US" sz="2000" b="1" dirty="0">
                <a:latin typeface="微软雅黑" pitchFamily="34" charset="-122"/>
                <a:ea typeface="微软雅黑" pitchFamily="34" charset="-122"/>
              </a:rPr>
              <a:t>的主机或路由器的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地址和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地址的映射问题。</a:t>
            </a:r>
          </a:p>
        </p:txBody>
      </p:sp>
    </p:spTree>
    <p:extLst>
      <p:ext uri="{BB962C8B-B14F-4D97-AF65-F5344CB8AC3E}">
        <p14:creationId xmlns:p14="http://schemas.microsoft.com/office/powerpoint/2010/main" val="102946530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59461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319358" y="561401"/>
            <a:ext cx="45239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台主机不在同一个局域网上怎么办？</a:t>
            </a:r>
          </a:p>
        </p:txBody>
      </p:sp>
      <p:grpSp>
        <p:nvGrpSpPr>
          <p:cNvPr id="3" name="组合 2"/>
          <p:cNvGrpSpPr/>
          <p:nvPr/>
        </p:nvGrpSpPr>
        <p:grpSpPr>
          <a:xfrm>
            <a:off x="2890855" y="1802667"/>
            <a:ext cx="1000912" cy="276999"/>
            <a:chOff x="2890855" y="1772687"/>
            <a:chExt cx="1000912" cy="276999"/>
          </a:xfrm>
        </p:grpSpPr>
        <p:sp>
          <p:nvSpPr>
            <p:cNvPr id="21" name="Text Box 48"/>
            <p:cNvSpPr txBox="1">
              <a:spLocks noChangeArrowheads="1"/>
            </p:cNvSpPr>
            <p:nvPr/>
          </p:nvSpPr>
          <p:spPr bwMode="auto">
            <a:xfrm>
              <a:off x="2890855" y="1772687"/>
              <a:ext cx="862736" cy="276999"/>
            </a:xfrm>
            <a:prstGeom prst="rect">
              <a:avLst/>
            </a:prstGeom>
            <a:solidFill>
              <a:srgbClr val="99FFCC"/>
            </a:solidFill>
            <a:ln w="12700">
              <a:solidFill>
                <a:schemeClr val="tx1"/>
              </a:solidFill>
              <a:miter lim="800000"/>
              <a:headEnd/>
              <a:tailEnd/>
            </a:ln>
            <a:effectLst/>
          </p:spPr>
          <p:txBody>
            <a:bodyPr wrap="none">
              <a:spAutoFit/>
            </a:bodyPr>
            <a:lstStyle/>
            <a:p>
              <a:pPr algn="ctr"/>
              <a:r>
                <a:rPr kumimoji="1" lang="en-US" altLang="zh-CN" sz="1200" b="1" dirty="0">
                  <a:latin typeface="微软雅黑" pitchFamily="34" charset="-122"/>
                  <a:ea typeface="微软雅黑" pitchFamily="34" charset="-122"/>
                </a:rPr>
                <a:t>ARP </a:t>
              </a:r>
              <a:r>
                <a:rPr kumimoji="1" lang="zh-CN" altLang="en-US" sz="1200" b="1" dirty="0">
                  <a:latin typeface="微软雅黑" pitchFamily="34" charset="-122"/>
                  <a:ea typeface="微软雅黑" pitchFamily="34" charset="-122"/>
                </a:rPr>
                <a:t>请求</a:t>
              </a:r>
            </a:p>
          </p:txBody>
        </p:sp>
        <p:sp>
          <p:nvSpPr>
            <p:cNvPr id="23" name="AutoShape 49"/>
            <p:cNvSpPr>
              <a:spLocks noChangeArrowheads="1"/>
            </p:cNvSpPr>
            <p:nvPr/>
          </p:nvSpPr>
          <p:spPr bwMode="auto">
            <a:xfrm>
              <a:off x="3748931" y="1831393"/>
              <a:ext cx="142836" cy="124149"/>
            </a:xfrm>
            <a:prstGeom prst="rightArrow">
              <a:avLst>
                <a:gd name="adj1" fmla="val 50000"/>
                <a:gd name="adj2" fmla="val 26550"/>
              </a:avLst>
            </a:prstGeom>
            <a:solidFill>
              <a:srgbClr val="99FFCC"/>
            </a:solidFill>
            <a:ln w="952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25" name="AutoShape 59"/>
          <p:cNvSpPr>
            <a:spLocks noChangeArrowheads="1"/>
          </p:cNvSpPr>
          <p:nvPr/>
        </p:nvSpPr>
        <p:spPr bwMode="auto">
          <a:xfrm>
            <a:off x="3350462" y="1092622"/>
            <a:ext cx="3700997" cy="513863"/>
          </a:xfrm>
          <a:prstGeom prst="wedgeRoundRectCallout">
            <a:avLst>
              <a:gd name="adj1" fmla="val -53383"/>
              <a:gd name="adj2" fmla="val 101764"/>
              <a:gd name="adj3" fmla="val 16667"/>
            </a:avLst>
          </a:prstGeom>
          <a:solidFill>
            <a:srgbClr val="00FFFF"/>
          </a:solidFill>
          <a:ln w="9525">
            <a:solidFill>
              <a:schemeClr val="tx1"/>
            </a:solidFill>
            <a:miter lim="800000"/>
            <a:headEnd/>
            <a:tailEnd/>
          </a:ln>
          <a:effectLst/>
        </p:spPr>
        <p:txBody>
          <a:bodyPr/>
          <a:lstStyle/>
          <a:p>
            <a:pPr algn="ctr"/>
            <a:endParaRPr kumimoji="1" lang="zh-CN" altLang="zh-CN" sz="1200" b="1">
              <a:solidFill>
                <a:srgbClr val="0000CC"/>
              </a:solidFill>
              <a:latin typeface="微软雅黑" pitchFamily="34" charset="-122"/>
              <a:ea typeface="微软雅黑" pitchFamily="34" charset="-122"/>
            </a:endParaRPr>
          </a:p>
        </p:txBody>
      </p:sp>
      <p:sp>
        <p:nvSpPr>
          <p:cNvPr id="26" name="Text Box 60"/>
          <p:cNvSpPr txBox="1">
            <a:spLocks noChangeArrowheads="1"/>
          </p:cNvSpPr>
          <p:nvPr/>
        </p:nvSpPr>
        <p:spPr bwMode="auto">
          <a:xfrm>
            <a:off x="3406431" y="1127816"/>
            <a:ext cx="369977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200" b="1" dirty="0">
                <a:latin typeface="微软雅黑" pitchFamily="34" charset="-122"/>
                <a:ea typeface="微软雅黑" pitchFamily="34" charset="-122"/>
              </a:rPr>
              <a:t>我是 </a:t>
            </a:r>
            <a:r>
              <a:rPr kumimoji="1" lang="en-US" altLang="zh-CN" sz="1200" b="1" dirty="0">
                <a:latin typeface="微软雅黑" pitchFamily="34" charset="-122"/>
                <a:ea typeface="微软雅黑" pitchFamily="34" charset="-122"/>
              </a:rPr>
              <a:t>209.0.0.5</a:t>
            </a:r>
            <a:r>
              <a:rPr kumimoji="1" lang="zh-CN" altLang="en-US" sz="1200" b="1" dirty="0">
                <a:latin typeface="微软雅黑" pitchFamily="34" charset="-122"/>
                <a:ea typeface="微软雅黑" pitchFamily="34" charset="-122"/>
              </a:rPr>
              <a:t>，硬件地址是 </a:t>
            </a:r>
            <a:r>
              <a:rPr kumimoji="1" lang="en-US" altLang="zh-CN" sz="1200" b="1" dirty="0">
                <a:latin typeface="微软雅黑" pitchFamily="34" charset="-122"/>
                <a:ea typeface="微软雅黑" pitchFamily="34" charset="-122"/>
              </a:rPr>
              <a:t>00-00-C0-15-AD-18</a:t>
            </a:r>
          </a:p>
          <a:p>
            <a:r>
              <a:rPr kumimoji="1" lang="zh-CN" altLang="en-US" sz="1200" b="1" dirty="0">
                <a:latin typeface="微软雅黑" pitchFamily="34" charset="-122"/>
                <a:ea typeface="微软雅黑" pitchFamily="34" charset="-122"/>
              </a:rPr>
              <a:t>我想知道路由器 </a:t>
            </a:r>
            <a:r>
              <a:rPr kumimoji="1" lang="en-US" altLang="zh-CN" sz="1200" b="1" dirty="0">
                <a:latin typeface="微软雅黑" pitchFamily="34" charset="-122"/>
                <a:ea typeface="微软雅黑" pitchFamily="34" charset="-122"/>
              </a:rPr>
              <a:t>209.0.0.1 </a:t>
            </a:r>
            <a:r>
              <a:rPr kumimoji="1" lang="zh-CN" altLang="en-US" sz="1200" b="1" dirty="0">
                <a:latin typeface="微软雅黑" pitchFamily="34" charset="-122"/>
                <a:ea typeface="微软雅黑" pitchFamily="34" charset="-122"/>
              </a:rPr>
              <a:t>的硬件地址。</a:t>
            </a:r>
          </a:p>
        </p:txBody>
      </p:sp>
      <p:sp>
        <p:nvSpPr>
          <p:cNvPr id="27" name="任意多边形 26"/>
          <p:cNvSpPr/>
          <p:nvPr/>
        </p:nvSpPr>
        <p:spPr>
          <a:xfrm>
            <a:off x="1412319" y="2161672"/>
            <a:ext cx="936564" cy="340118"/>
          </a:xfrm>
          <a:custGeom>
            <a:avLst/>
            <a:gdLst>
              <a:gd name="connsiteX0" fmla="*/ 927100 w 927100"/>
              <a:gd name="connsiteY0" fmla="*/ 311150 h 311150"/>
              <a:gd name="connsiteX1" fmla="*/ 711200 w 927100"/>
              <a:gd name="connsiteY1" fmla="*/ 31750 h 311150"/>
              <a:gd name="connsiteX2" fmla="*/ 0 w 927100"/>
              <a:gd name="connsiteY2" fmla="*/ 6350 h 311150"/>
              <a:gd name="connsiteX3" fmla="*/ 0 w 927100"/>
              <a:gd name="connsiteY3" fmla="*/ 6350 h 311150"/>
              <a:gd name="connsiteX0" fmla="*/ 927100 w 927100"/>
              <a:gd name="connsiteY0" fmla="*/ 317915 h 317915"/>
              <a:gd name="connsiteX1" fmla="*/ 811773 w 927100"/>
              <a:gd name="connsiteY1" fmla="*/ 25815 h 317915"/>
              <a:gd name="connsiteX2" fmla="*/ 0 w 927100"/>
              <a:gd name="connsiteY2" fmla="*/ 13115 h 317915"/>
              <a:gd name="connsiteX3" fmla="*/ 0 w 927100"/>
              <a:gd name="connsiteY3" fmla="*/ 13115 h 317915"/>
            </a:gdLst>
            <a:ahLst/>
            <a:cxnLst>
              <a:cxn ang="0">
                <a:pos x="connsiteX0" y="connsiteY0"/>
              </a:cxn>
              <a:cxn ang="0">
                <a:pos x="connsiteX1" y="connsiteY1"/>
              </a:cxn>
              <a:cxn ang="0">
                <a:pos x="connsiteX2" y="connsiteY2"/>
              </a:cxn>
              <a:cxn ang="0">
                <a:pos x="connsiteX3" y="connsiteY3"/>
              </a:cxn>
            </a:cxnLst>
            <a:rect l="l" t="t" r="r" b="b"/>
            <a:pathLst>
              <a:path w="927100" h="317915">
                <a:moveTo>
                  <a:pt x="927100" y="317915"/>
                </a:moveTo>
                <a:cubicBezTo>
                  <a:pt x="896408" y="203615"/>
                  <a:pt x="966290" y="76615"/>
                  <a:pt x="811773" y="25815"/>
                </a:cubicBezTo>
                <a:cubicBezTo>
                  <a:pt x="657256" y="-24985"/>
                  <a:pt x="135295" y="15232"/>
                  <a:pt x="0" y="13115"/>
                </a:cubicBezTo>
                <a:lnTo>
                  <a:pt x="0" y="13115"/>
                </a:lnTo>
              </a:path>
            </a:pathLst>
          </a:custGeom>
          <a:noFill/>
          <a:ln w="38100">
            <a:solidFill>
              <a:srgbClr val="CC00CC"/>
            </a:solidFill>
            <a:headEnd type="none" w="med" len="med"/>
            <a:tailEnd type="triangle" w="med"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任意多边形 27"/>
          <p:cNvSpPr/>
          <p:nvPr/>
        </p:nvSpPr>
        <p:spPr>
          <a:xfrm flipH="1">
            <a:off x="2348651" y="2161672"/>
            <a:ext cx="1902914" cy="340118"/>
          </a:xfrm>
          <a:custGeom>
            <a:avLst/>
            <a:gdLst>
              <a:gd name="connsiteX0" fmla="*/ 927100 w 927100"/>
              <a:gd name="connsiteY0" fmla="*/ 311150 h 311150"/>
              <a:gd name="connsiteX1" fmla="*/ 711200 w 927100"/>
              <a:gd name="connsiteY1" fmla="*/ 31750 h 311150"/>
              <a:gd name="connsiteX2" fmla="*/ 0 w 927100"/>
              <a:gd name="connsiteY2" fmla="*/ 6350 h 311150"/>
              <a:gd name="connsiteX3" fmla="*/ 0 w 927100"/>
              <a:gd name="connsiteY3" fmla="*/ 6350 h 311150"/>
              <a:gd name="connsiteX0" fmla="*/ 927100 w 927100"/>
              <a:gd name="connsiteY0" fmla="*/ 317915 h 317915"/>
              <a:gd name="connsiteX1" fmla="*/ 811773 w 927100"/>
              <a:gd name="connsiteY1" fmla="*/ 25815 h 317915"/>
              <a:gd name="connsiteX2" fmla="*/ 0 w 927100"/>
              <a:gd name="connsiteY2" fmla="*/ 13115 h 317915"/>
              <a:gd name="connsiteX3" fmla="*/ 0 w 927100"/>
              <a:gd name="connsiteY3" fmla="*/ 13115 h 317915"/>
            </a:gdLst>
            <a:ahLst/>
            <a:cxnLst>
              <a:cxn ang="0">
                <a:pos x="connsiteX0" y="connsiteY0"/>
              </a:cxn>
              <a:cxn ang="0">
                <a:pos x="connsiteX1" y="connsiteY1"/>
              </a:cxn>
              <a:cxn ang="0">
                <a:pos x="connsiteX2" y="connsiteY2"/>
              </a:cxn>
              <a:cxn ang="0">
                <a:pos x="connsiteX3" y="connsiteY3"/>
              </a:cxn>
            </a:cxnLst>
            <a:rect l="l" t="t" r="r" b="b"/>
            <a:pathLst>
              <a:path w="927100" h="317915">
                <a:moveTo>
                  <a:pt x="927100" y="317915"/>
                </a:moveTo>
                <a:cubicBezTo>
                  <a:pt x="896408" y="203615"/>
                  <a:pt x="966290" y="76615"/>
                  <a:pt x="811773" y="25815"/>
                </a:cubicBezTo>
                <a:cubicBezTo>
                  <a:pt x="657256" y="-24985"/>
                  <a:pt x="135295" y="15232"/>
                  <a:pt x="0" y="13115"/>
                </a:cubicBezTo>
                <a:lnTo>
                  <a:pt x="0" y="13115"/>
                </a:lnTo>
              </a:path>
            </a:pathLst>
          </a:custGeom>
          <a:noFill/>
          <a:ln w="38100">
            <a:solidFill>
              <a:srgbClr val="CC00CC"/>
            </a:solidFill>
            <a:headEnd type="none" w="med" len="med"/>
            <a:tailEnd type="triangle" w="med"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6" name="组合 35"/>
          <p:cNvGrpSpPr/>
          <p:nvPr/>
        </p:nvGrpSpPr>
        <p:grpSpPr>
          <a:xfrm>
            <a:off x="1495251" y="1800409"/>
            <a:ext cx="6014215" cy="1152477"/>
            <a:chOff x="1422400" y="1686109"/>
            <a:chExt cx="6014215" cy="1152477"/>
          </a:xfrm>
        </p:grpSpPr>
        <p:sp>
          <p:nvSpPr>
            <p:cNvPr id="37" name="Line 9"/>
            <p:cNvSpPr>
              <a:spLocks noChangeShapeType="1"/>
            </p:cNvSpPr>
            <p:nvPr/>
          </p:nvSpPr>
          <p:spPr bwMode="auto">
            <a:xfrm rot="5400000">
              <a:off x="6297733" y="2356527"/>
              <a:ext cx="356087"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8" name="Line 16"/>
            <p:cNvSpPr>
              <a:spLocks noChangeShapeType="1"/>
            </p:cNvSpPr>
            <p:nvPr/>
          </p:nvSpPr>
          <p:spPr bwMode="auto">
            <a:xfrm flipV="1">
              <a:off x="1422400" y="2178483"/>
              <a:ext cx="5918200"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9" name="Text Box 56"/>
            <p:cNvSpPr txBox="1">
              <a:spLocks noChangeArrowheads="1"/>
            </p:cNvSpPr>
            <p:nvPr/>
          </p:nvSpPr>
          <p:spPr bwMode="auto">
            <a:xfrm>
              <a:off x="6554642"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219.1.0.6</a:t>
              </a:r>
            </a:p>
          </p:txBody>
        </p:sp>
        <p:sp>
          <p:nvSpPr>
            <p:cNvPr id="40" name="Line 7"/>
            <p:cNvSpPr>
              <a:spLocks noChangeShapeType="1"/>
            </p:cNvSpPr>
            <p:nvPr/>
          </p:nvSpPr>
          <p:spPr bwMode="auto">
            <a:xfrm rot="5400000">
              <a:off x="2044629" y="2356527"/>
              <a:ext cx="356087"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1" name="Text Box 17"/>
            <p:cNvSpPr txBox="1">
              <a:spLocks noChangeArrowheads="1"/>
            </p:cNvSpPr>
            <p:nvPr/>
          </p:nvSpPr>
          <p:spPr bwMode="auto">
            <a:xfrm>
              <a:off x="2352998" y="2488377"/>
              <a:ext cx="33912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A</a:t>
              </a:r>
            </a:p>
          </p:txBody>
        </p:sp>
        <p:sp>
          <p:nvSpPr>
            <p:cNvPr id="42" name="Text Box 20"/>
            <p:cNvSpPr txBox="1">
              <a:spLocks noChangeArrowheads="1"/>
            </p:cNvSpPr>
            <p:nvPr/>
          </p:nvSpPr>
          <p:spPr bwMode="auto">
            <a:xfrm>
              <a:off x="6623569" y="2488377"/>
              <a:ext cx="32825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itchFamily="34" charset="-122"/>
                  <a:ea typeface="微软雅黑" pitchFamily="34" charset="-122"/>
                </a:rPr>
                <a:t>B</a:t>
              </a:r>
            </a:p>
          </p:txBody>
        </p:sp>
        <p:pic>
          <p:nvPicPr>
            <p:cNvPr id="4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08851" y="2433999"/>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44"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84086" y="2433999"/>
              <a:ext cx="404587" cy="404587"/>
            </a:xfrm>
            <a:prstGeom prst="rect">
              <a:avLst/>
            </a:prstGeom>
            <a:noFill/>
            <a:extLst>
              <a:ext uri="{909E8E84-426E-40DD-AFC4-6F175D3DCCD1}">
                <a14:hiddenFill xmlns:a14="http://schemas.microsoft.com/office/drawing/2010/main">
                  <a:solidFill>
                    <a:srgbClr val="FFFFFF"/>
                  </a:solidFill>
                </a14:hiddenFill>
              </a:ext>
            </a:extLst>
          </p:spPr>
        </p:pic>
        <p:sp>
          <p:nvSpPr>
            <p:cNvPr id="45" name="Text Box 55"/>
            <p:cNvSpPr txBox="1">
              <a:spLocks noChangeArrowheads="1"/>
            </p:cNvSpPr>
            <p:nvPr/>
          </p:nvSpPr>
          <p:spPr bwMode="auto">
            <a:xfrm>
              <a:off x="2269864"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209.0.0.5</a:t>
              </a:r>
            </a:p>
          </p:txBody>
        </p:sp>
        <p:sp>
          <p:nvSpPr>
            <p:cNvPr id="46" name="Text Box 18"/>
            <p:cNvSpPr txBox="1">
              <a:spLocks noChangeArrowheads="1"/>
            </p:cNvSpPr>
            <p:nvPr/>
          </p:nvSpPr>
          <p:spPr bwMode="auto">
            <a:xfrm>
              <a:off x="4054786" y="1686109"/>
              <a:ext cx="97494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路由器 </a:t>
              </a:r>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1</a:t>
              </a:r>
            </a:p>
          </p:txBody>
        </p:sp>
        <p:pic>
          <p:nvPicPr>
            <p:cNvPr id="47" name="Picture 2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20663" y="1981098"/>
              <a:ext cx="545185" cy="3811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8" name="Text Box 55"/>
            <p:cNvSpPr txBox="1">
              <a:spLocks noChangeArrowheads="1"/>
            </p:cNvSpPr>
            <p:nvPr/>
          </p:nvSpPr>
          <p:spPr bwMode="auto">
            <a:xfrm>
              <a:off x="3450251"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209.0.0.1</a:t>
              </a:r>
            </a:p>
          </p:txBody>
        </p:sp>
        <p:sp>
          <p:nvSpPr>
            <p:cNvPr id="49" name="Text Box 55"/>
            <p:cNvSpPr txBox="1">
              <a:spLocks noChangeArrowheads="1"/>
            </p:cNvSpPr>
            <p:nvPr/>
          </p:nvSpPr>
          <p:spPr bwMode="auto">
            <a:xfrm>
              <a:off x="4679216"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219.1.0.1</a:t>
              </a:r>
            </a:p>
          </p:txBody>
        </p:sp>
      </p:grpSp>
      <p:sp>
        <p:nvSpPr>
          <p:cNvPr id="29" name="Text Box 108"/>
          <p:cNvSpPr txBox="1">
            <a:spLocks noChangeArrowheads="1"/>
          </p:cNvSpPr>
          <p:nvPr/>
        </p:nvSpPr>
        <p:spPr bwMode="auto">
          <a:xfrm>
            <a:off x="1019330" y="3325832"/>
            <a:ext cx="7075357" cy="1006429"/>
          </a:xfrm>
          <a:prstGeom prst="rect">
            <a:avLst/>
          </a:prstGeom>
          <a:solidFill>
            <a:srgbClr val="0000CC"/>
          </a:solidFill>
          <a:ln w="9525">
            <a:solidFill>
              <a:srgbClr val="333399"/>
            </a:solidFill>
            <a:miter lim="800000"/>
            <a:headEnd/>
            <a:tailEnd/>
          </a:ln>
          <a:effectLst/>
        </p:spPr>
        <p:txBody>
          <a:bodyPr wrap="square">
            <a:spAutoFit/>
          </a:bodyPr>
          <a:lstStyle/>
          <a:p>
            <a:pPr algn="ctr">
              <a:lnSpc>
                <a:spcPct val="110000"/>
              </a:lnSpc>
            </a:pPr>
            <a:r>
              <a:rPr lang="zh-CN" altLang="en-US" b="1" dirty="0">
                <a:solidFill>
                  <a:schemeClr val="bg1"/>
                </a:solidFill>
                <a:latin typeface="微软雅黑" pitchFamily="34" charset="-122"/>
                <a:ea typeface="微软雅黑" pitchFamily="34" charset="-122"/>
              </a:rPr>
              <a:t>通信的路径：</a:t>
            </a:r>
            <a:r>
              <a:rPr lang="en-US" altLang="zh-CN" b="1" dirty="0">
                <a:solidFill>
                  <a:schemeClr val="bg1"/>
                </a:solidFill>
                <a:latin typeface="微软雅黑" pitchFamily="34" charset="-122"/>
                <a:ea typeface="微软雅黑" pitchFamily="34" charset="-122"/>
              </a:rPr>
              <a:t>A → </a:t>
            </a:r>
            <a:r>
              <a:rPr lang="zh-CN" altLang="en-US" b="1" dirty="0">
                <a:solidFill>
                  <a:schemeClr val="bg1"/>
                </a:solidFill>
                <a:latin typeface="微软雅黑" pitchFamily="34" charset="-122"/>
                <a:ea typeface="微软雅黑" pitchFamily="34" charset="-122"/>
              </a:rPr>
              <a:t>经过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 </a:t>
            </a:r>
            <a:r>
              <a:rPr lang="zh-CN" altLang="en-US" b="1" dirty="0">
                <a:solidFill>
                  <a:schemeClr val="bg1"/>
                </a:solidFill>
                <a:latin typeface="微软雅黑" pitchFamily="34" charset="-122"/>
                <a:ea typeface="微软雅黑" pitchFamily="34" charset="-122"/>
              </a:rPr>
              <a:t>转发 → </a:t>
            </a:r>
            <a:r>
              <a:rPr lang="en-US" altLang="zh-CN" b="1" dirty="0">
                <a:solidFill>
                  <a:schemeClr val="bg1"/>
                </a:solidFill>
                <a:latin typeface="微软雅黑" pitchFamily="34" charset="-122"/>
                <a:ea typeface="微软雅黑" pitchFamily="34" charset="-122"/>
              </a:rPr>
              <a:t>B</a:t>
            </a:r>
            <a:r>
              <a:rPr lang="zh-CN" altLang="en-US" b="1" dirty="0">
                <a:solidFill>
                  <a:schemeClr val="bg1"/>
                </a:solidFill>
                <a:latin typeface="微软雅黑" pitchFamily="34" charset="-122"/>
                <a:ea typeface="微软雅黑" pitchFamily="34" charset="-122"/>
              </a:rPr>
              <a:t>。</a:t>
            </a:r>
            <a:endParaRPr lang="en-US" altLang="zh-CN" b="1" dirty="0">
              <a:solidFill>
                <a:schemeClr val="bg1"/>
              </a:solidFill>
              <a:latin typeface="微软雅黑" pitchFamily="34" charset="-122"/>
              <a:ea typeface="微软雅黑" pitchFamily="34" charset="-122"/>
            </a:endParaRPr>
          </a:p>
          <a:p>
            <a:pPr algn="ctr">
              <a:lnSpc>
                <a:spcPct val="110000"/>
              </a:lnSpc>
            </a:pPr>
            <a:r>
              <a:rPr lang="zh-CN" altLang="en-US" b="1" dirty="0">
                <a:solidFill>
                  <a:schemeClr val="bg1"/>
                </a:solidFill>
                <a:latin typeface="微软雅黑" pitchFamily="34" charset="-122"/>
                <a:ea typeface="微软雅黑" pitchFamily="34" charset="-122"/>
              </a:rPr>
              <a:t>因此主机 </a:t>
            </a:r>
            <a:r>
              <a:rPr lang="en-US" altLang="zh-CN" b="1" dirty="0">
                <a:solidFill>
                  <a:schemeClr val="bg1"/>
                </a:solidFill>
                <a:latin typeface="微软雅黑" pitchFamily="34" charset="-122"/>
                <a:ea typeface="微软雅黑" pitchFamily="34" charset="-122"/>
              </a:rPr>
              <a:t>A </a:t>
            </a:r>
            <a:r>
              <a:rPr lang="zh-CN" altLang="en-US" b="1" dirty="0">
                <a:solidFill>
                  <a:schemeClr val="bg1"/>
                </a:solidFill>
                <a:latin typeface="微软雅黑" pitchFamily="34" charset="-122"/>
                <a:ea typeface="微软雅黑" pitchFamily="34" charset="-122"/>
              </a:rPr>
              <a:t>必须知道路由器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a:t>
            </a:r>
            <a:r>
              <a:rPr lang="en-US" altLang="zh-CN" b="1" dirty="0">
                <a:solidFill>
                  <a:schemeClr val="bg1"/>
                </a:solidFill>
                <a:latin typeface="微软雅黑" pitchFamily="34" charset="-122"/>
                <a:ea typeface="微软雅黑" pitchFamily="34" charset="-122"/>
              </a:rPr>
              <a:t> </a:t>
            </a:r>
            <a:r>
              <a:rPr lang="zh-CN" altLang="en-US" b="1" dirty="0">
                <a:solidFill>
                  <a:schemeClr val="bg1"/>
                </a:solidFill>
                <a:latin typeface="微软雅黑" pitchFamily="34" charset="-122"/>
                <a:ea typeface="微软雅黑" pitchFamily="34" charset="-122"/>
              </a:rPr>
              <a:t>的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地址，解析出其 </a:t>
            </a:r>
            <a:r>
              <a:rPr lang="en-US" altLang="zh-CN" b="1" dirty="0">
                <a:solidFill>
                  <a:schemeClr val="bg1"/>
                </a:solidFill>
                <a:latin typeface="微软雅黑" pitchFamily="34" charset="-122"/>
                <a:ea typeface="微软雅黑" pitchFamily="34" charset="-122"/>
              </a:rPr>
              <a:t>MAC </a:t>
            </a:r>
            <a:r>
              <a:rPr lang="zh-CN" altLang="en-US" b="1" dirty="0">
                <a:solidFill>
                  <a:schemeClr val="bg1"/>
                </a:solidFill>
                <a:latin typeface="微软雅黑" pitchFamily="34" charset="-122"/>
                <a:ea typeface="微软雅黑" pitchFamily="34" charset="-122"/>
              </a:rPr>
              <a:t>地址。然后把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数据报传送到路由器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a:t>
            </a:r>
            <a:r>
              <a:rPr lang="zh-CN" altLang="en-US" b="1" dirty="0">
                <a:solidFill>
                  <a:schemeClr val="bg1"/>
                </a:solidFill>
                <a:latin typeface="微软雅黑" pitchFamily="34" charset="-122"/>
                <a:ea typeface="微软雅黑" pitchFamily="34" charset="-122"/>
              </a:rPr>
              <a:t>。</a:t>
            </a:r>
          </a:p>
        </p:txBody>
      </p:sp>
    </p:spTree>
    <p:extLst>
      <p:ext uri="{BB962C8B-B14F-4D97-AF65-F5344CB8AC3E}">
        <p14:creationId xmlns:p14="http://schemas.microsoft.com/office/powerpoint/2010/main" val="51834209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wipe(left)">
                                      <p:cBhvr>
                                        <p:cTn id="7" dur="1000"/>
                                        <p:tgtEl>
                                          <p:spTgt spid="28"/>
                                        </p:tgtEl>
                                      </p:cBhvr>
                                    </p:animEffect>
                                  </p:childTnLst>
                                </p:cTn>
                              </p:par>
                              <p:par>
                                <p:cTn id="8" presetID="22" presetClass="entr" presetSubtype="2" fill="hold" grpId="0" nodeType="withEffect">
                                  <p:stCondLst>
                                    <p:cond delay="250"/>
                                  </p:stCondLst>
                                  <p:childTnLst>
                                    <p:set>
                                      <p:cBhvr>
                                        <p:cTn id="9" dur="1" fill="hold">
                                          <p:stCondLst>
                                            <p:cond delay="0"/>
                                          </p:stCondLst>
                                        </p:cTn>
                                        <p:tgtEl>
                                          <p:spTgt spid="27"/>
                                        </p:tgtEl>
                                        <p:attrNameLst>
                                          <p:attrName>style.visibility</p:attrName>
                                        </p:attrNameLst>
                                      </p:cBhvr>
                                      <p:to>
                                        <p:strVal val="visible"/>
                                      </p:to>
                                    </p:set>
                                    <p:animEffect transition="in" filter="wipe(right)">
                                      <p:cBhvr>
                                        <p:cTn id="10" dur="1000"/>
                                        <p:tgtEl>
                                          <p:spTgt spid="27"/>
                                        </p:tgtEl>
                                      </p:cBhvr>
                                    </p:animEffec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28" grpId="0" animBg="1"/>
      <p:bldP spid="29"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59461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319358" y="561401"/>
            <a:ext cx="45239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台主机不在同一个局域网上怎么办？</a:t>
            </a:r>
          </a:p>
        </p:txBody>
      </p:sp>
      <p:sp>
        <p:nvSpPr>
          <p:cNvPr id="28" name="任意多边形 27"/>
          <p:cNvSpPr/>
          <p:nvPr/>
        </p:nvSpPr>
        <p:spPr>
          <a:xfrm flipH="1">
            <a:off x="2410859" y="2161671"/>
            <a:ext cx="1825716" cy="386627"/>
          </a:xfrm>
          <a:custGeom>
            <a:avLst/>
            <a:gdLst>
              <a:gd name="connsiteX0" fmla="*/ 927100 w 927100"/>
              <a:gd name="connsiteY0" fmla="*/ 311150 h 311150"/>
              <a:gd name="connsiteX1" fmla="*/ 711200 w 927100"/>
              <a:gd name="connsiteY1" fmla="*/ 31750 h 311150"/>
              <a:gd name="connsiteX2" fmla="*/ 0 w 927100"/>
              <a:gd name="connsiteY2" fmla="*/ 6350 h 311150"/>
              <a:gd name="connsiteX3" fmla="*/ 0 w 927100"/>
              <a:gd name="connsiteY3" fmla="*/ 6350 h 311150"/>
              <a:gd name="connsiteX0" fmla="*/ 927100 w 927100"/>
              <a:gd name="connsiteY0" fmla="*/ 317915 h 317915"/>
              <a:gd name="connsiteX1" fmla="*/ 811773 w 927100"/>
              <a:gd name="connsiteY1" fmla="*/ 25815 h 317915"/>
              <a:gd name="connsiteX2" fmla="*/ 0 w 927100"/>
              <a:gd name="connsiteY2" fmla="*/ 13115 h 317915"/>
              <a:gd name="connsiteX3" fmla="*/ 0 w 927100"/>
              <a:gd name="connsiteY3" fmla="*/ 13115 h 317915"/>
            </a:gdLst>
            <a:ahLst/>
            <a:cxnLst>
              <a:cxn ang="0">
                <a:pos x="connsiteX0" y="connsiteY0"/>
              </a:cxn>
              <a:cxn ang="0">
                <a:pos x="connsiteX1" y="connsiteY1"/>
              </a:cxn>
              <a:cxn ang="0">
                <a:pos x="connsiteX2" y="connsiteY2"/>
              </a:cxn>
              <a:cxn ang="0">
                <a:pos x="connsiteX3" y="connsiteY3"/>
              </a:cxn>
            </a:cxnLst>
            <a:rect l="l" t="t" r="r" b="b"/>
            <a:pathLst>
              <a:path w="927100" h="317915">
                <a:moveTo>
                  <a:pt x="927100" y="317915"/>
                </a:moveTo>
                <a:cubicBezTo>
                  <a:pt x="896408" y="203615"/>
                  <a:pt x="966290" y="76615"/>
                  <a:pt x="811773" y="25815"/>
                </a:cubicBezTo>
                <a:cubicBezTo>
                  <a:pt x="657256" y="-24985"/>
                  <a:pt x="135295" y="15232"/>
                  <a:pt x="0" y="13115"/>
                </a:cubicBezTo>
                <a:lnTo>
                  <a:pt x="0" y="13115"/>
                </a:lnTo>
              </a:path>
            </a:pathLst>
          </a:custGeom>
          <a:noFill/>
          <a:ln w="38100">
            <a:solidFill>
              <a:srgbClr val="CC00CC"/>
            </a:solidFill>
            <a:headEnd type="triangle" w="med" len="med"/>
            <a:tailEnd type="none" w="med"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6" name="组合 35"/>
          <p:cNvGrpSpPr/>
          <p:nvPr/>
        </p:nvGrpSpPr>
        <p:grpSpPr>
          <a:xfrm>
            <a:off x="1495251" y="1800409"/>
            <a:ext cx="6014215" cy="1152477"/>
            <a:chOff x="1422400" y="1686109"/>
            <a:chExt cx="6014215" cy="1152477"/>
          </a:xfrm>
        </p:grpSpPr>
        <p:sp>
          <p:nvSpPr>
            <p:cNvPr id="37" name="Line 9"/>
            <p:cNvSpPr>
              <a:spLocks noChangeShapeType="1"/>
            </p:cNvSpPr>
            <p:nvPr/>
          </p:nvSpPr>
          <p:spPr bwMode="auto">
            <a:xfrm rot="5400000">
              <a:off x="6297733" y="2356527"/>
              <a:ext cx="356087"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8" name="Line 16"/>
            <p:cNvSpPr>
              <a:spLocks noChangeShapeType="1"/>
            </p:cNvSpPr>
            <p:nvPr/>
          </p:nvSpPr>
          <p:spPr bwMode="auto">
            <a:xfrm flipV="1">
              <a:off x="1422400" y="2178483"/>
              <a:ext cx="5918200"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9" name="Text Box 56"/>
            <p:cNvSpPr txBox="1">
              <a:spLocks noChangeArrowheads="1"/>
            </p:cNvSpPr>
            <p:nvPr/>
          </p:nvSpPr>
          <p:spPr bwMode="auto">
            <a:xfrm>
              <a:off x="6554642"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219.1.0.6</a:t>
              </a:r>
            </a:p>
          </p:txBody>
        </p:sp>
        <p:sp>
          <p:nvSpPr>
            <p:cNvPr id="40" name="Line 7"/>
            <p:cNvSpPr>
              <a:spLocks noChangeShapeType="1"/>
            </p:cNvSpPr>
            <p:nvPr/>
          </p:nvSpPr>
          <p:spPr bwMode="auto">
            <a:xfrm rot="5400000">
              <a:off x="2044629" y="2356527"/>
              <a:ext cx="356087"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1" name="Text Box 17"/>
            <p:cNvSpPr txBox="1">
              <a:spLocks noChangeArrowheads="1"/>
            </p:cNvSpPr>
            <p:nvPr/>
          </p:nvSpPr>
          <p:spPr bwMode="auto">
            <a:xfrm>
              <a:off x="2352998" y="2488377"/>
              <a:ext cx="33912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A</a:t>
              </a:r>
            </a:p>
          </p:txBody>
        </p:sp>
        <p:sp>
          <p:nvSpPr>
            <p:cNvPr id="42" name="Text Box 20"/>
            <p:cNvSpPr txBox="1">
              <a:spLocks noChangeArrowheads="1"/>
            </p:cNvSpPr>
            <p:nvPr/>
          </p:nvSpPr>
          <p:spPr bwMode="auto">
            <a:xfrm>
              <a:off x="6623569" y="2488377"/>
              <a:ext cx="32825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itchFamily="34" charset="-122"/>
                  <a:ea typeface="微软雅黑" pitchFamily="34" charset="-122"/>
                </a:rPr>
                <a:t>B</a:t>
              </a:r>
            </a:p>
          </p:txBody>
        </p:sp>
        <p:pic>
          <p:nvPicPr>
            <p:cNvPr id="4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08851" y="2433999"/>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44"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84086" y="2433999"/>
              <a:ext cx="404587" cy="404587"/>
            </a:xfrm>
            <a:prstGeom prst="rect">
              <a:avLst/>
            </a:prstGeom>
            <a:noFill/>
            <a:extLst>
              <a:ext uri="{909E8E84-426E-40DD-AFC4-6F175D3DCCD1}">
                <a14:hiddenFill xmlns:a14="http://schemas.microsoft.com/office/drawing/2010/main">
                  <a:solidFill>
                    <a:srgbClr val="FFFFFF"/>
                  </a:solidFill>
                </a14:hiddenFill>
              </a:ext>
            </a:extLst>
          </p:spPr>
        </p:pic>
        <p:sp>
          <p:nvSpPr>
            <p:cNvPr id="45" name="Text Box 55"/>
            <p:cNvSpPr txBox="1">
              <a:spLocks noChangeArrowheads="1"/>
            </p:cNvSpPr>
            <p:nvPr/>
          </p:nvSpPr>
          <p:spPr bwMode="auto">
            <a:xfrm>
              <a:off x="2269864"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209.0.0.5</a:t>
              </a:r>
            </a:p>
          </p:txBody>
        </p:sp>
        <p:sp>
          <p:nvSpPr>
            <p:cNvPr id="46" name="Text Box 18"/>
            <p:cNvSpPr txBox="1">
              <a:spLocks noChangeArrowheads="1"/>
            </p:cNvSpPr>
            <p:nvPr/>
          </p:nvSpPr>
          <p:spPr bwMode="auto">
            <a:xfrm>
              <a:off x="4054786" y="1686109"/>
              <a:ext cx="97494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路由器 </a:t>
              </a:r>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1</a:t>
              </a:r>
            </a:p>
          </p:txBody>
        </p:sp>
        <p:pic>
          <p:nvPicPr>
            <p:cNvPr id="47" name="Picture 2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20663" y="1981098"/>
              <a:ext cx="545185" cy="3811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8" name="Text Box 55"/>
            <p:cNvSpPr txBox="1">
              <a:spLocks noChangeArrowheads="1"/>
            </p:cNvSpPr>
            <p:nvPr/>
          </p:nvSpPr>
          <p:spPr bwMode="auto">
            <a:xfrm>
              <a:off x="3450251"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209.0.0.1</a:t>
              </a:r>
            </a:p>
          </p:txBody>
        </p:sp>
        <p:sp>
          <p:nvSpPr>
            <p:cNvPr id="49" name="Text Box 55"/>
            <p:cNvSpPr txBox="1">
              <a:spLocks noChangeArrowheads="1"/>
            </p:cNvSpPr>
            <p:nvPr/>
          </p:nvSpPr>
          <p:spPr bwMode="auto">
            <a:xfrm>
              <a:off x="4679216"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219.1.0.1</a:t>
              </a:r>
            </a:p>
          </p:txBody>
        </p:sp>
      </p:grpSp>
      <p:grpSp>
        <p:nvGrpSpPr>
          <p:cNvPr id="29" name="Group 94"/>
          <p:cNvGrpSpPr>
            <a:grpSpLocks/>
          </p:cNvGrpSpPr>
          <p:nvPr/>
        </p:nvGrpSpPr>
        <p:grpSpPr bwMode="auto">
          <a:xfrm>
            <a:off x="2764977" y="1827360"/>
            <a:ext cx="1044683" cy="277171"/>
            <a:chOff x="249" y="627"/>
            <a:chExt cx="1002" cy="288"/>
          </a:xfrm>
          <a:solidFill>
            <a:srgbClr val="00FFFF"/>
          </a:solidFill>
        </p:grpSpPr>
        <p:sp>
          <p:nvSpPr>
            <p:cNvPr id="30" name="AutoShape 95"/>
            <p:cNvSpPr>
              <a:spLocks noChangeArrowheads="1"/>
            </p:cNvSpPr>
            <p:nvPr/>
          </p:nvSpPr>
          <p:spPr bwMode="auto">
            <a:xfrm flipH="1">
              <a:off x="249" y="709"/>
              <a:ext cx="138" cy="139"/>
            </a:xfrm>
            <a:prstGeom prst="rightArrow">
              <a:avLst>
                <a:gd name="adj1" fmla="val 50000"/>
                <a:gd name="adj2" fmla="val 25000"/>
              </a:avLst>
            </a:prstGeom>
            <a:grp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1" name="Text Box 96"/>
            <p:cNvSpPr txBox="1">
              <a:spLocks noChangeArrowheads="1"/>
            </p:cNvSpPr>
            <p:nvPr/>
          </p:nvSpPr>
          <p:spPr bwMode="auto">
            <a:xfrm flipH="1">
              <a:off x="386" y="627"/>
              <a:ext cx="865" cy="288"/>
            </a:xfrm>
            <a:prstGeom prst="rect">
              <a:avLst/>
            </a:prstGeom>
            <a:grpFill/>
            <a:ln w="12700">
              <a:solidFill>
                <a:schemeClr val="tx1"/>
              </a:solidFill>
              <a:miter lim="800000"/>
              <a:headEnd/>
              <a:tailEnd/>
            </a:ln>
            <a:effectLst/>
          </p:spPr>
          <p:txBody>
            <a:bodyPr>
              <a:spAutoFit/>
            </a:bodyPr>
            <a:lstStyle/>
            <a:p>
              <a:pPr algn="ctr"/>
              <a:r>
                <a:rPr kumimoji="1" lang="en-US" altLang="zh-CN" sz="1200" b="1" dirty="0">
                  <a:latin typeface="微软雅黑" pitchFamily="34" charset="-122"/>
                  <a:ea typeface="微软雅黑" pitchFamily="34" charset="-122"/>
                </a:rPr>
                <a:t>ARP </a:t>
              </a:r>
              <a:r>
                <a:rPr kumimoji="1" lang="zh-CN" altLang="en-US" sz="1200" b="1" dirty="0">
                  <a:latin typeface="微软雅黑" pitchFamily="34" charset="-122"/>
                  <a:ea typeface="微软雅黑" pitchFamily="34" charset="-122"/>
                </a:rPr>
                <a:t>响应</a:t>
              </a:r>
            </a:p>
          </p:txBody>
        </p:sp>
      </p:grpSp>
      <p:sp>
        <p:nvSpPr>
          <p:cNvPr id="32" name="AutoShape 61"/>
          <p:cNvSpPr>
            <a:spLocks noChangeArrowheads="1"/>
          </p:cNvSpPr>
          <p:nvPr/>
        </p:nvSpPr>
        <p:spPr bwMode="auto">
          <a:xfrm>
            <a:off x="3523988" y="1175499"/>
            <a:ext cx="2637492" cy="440778"/>
          </a:xfrm>
          <a:prstGeom prst="wedgeRoundRectCallout">
            <a:avLst>
              <a:gd name="adj1" fmla="val -42524"/>
              <a:gd name="adj2" fmla="val 104116"/>
              <a:gd name="adj3" fmla="val 16667"/>
            </a:avLst>
          </a:prstGeom>
          <a:solidFill>
            <a:srgbClr val="00FF99"/>
          </a:solidFill>
          <a:ln w="9525">
            <a:solidFill>
              <a:schemeClr val="tx1"/>
            </a:solidFill>
            <a:miter lim="800000"/>
            <a:headEnd/>
            <a:tailEnd/>
          </a:ln>
          <a:effectLst/>
        </p:spPr>
        <p:txBody>
          <a:bodyPr/>
          <a:lstStyle/>
          <a:p>
            <a:pPr algn="ctr"/>
            <a:endParaRPr kumimoji="1" lang="zh-CN" altLang="zh-CN" sz="1200" b="1">
              <a:solidFill>
                <a:srgbClr val="0000CC"/>
              </a:solidFill>
              <a:latin typeface="微软雅黑" pitchFamily="34" charset="-122"/>
              <a:ea typeface="微软雅黑" pitchFamily="34" charset="-122"/>
            </a:endParaRPr>
          </a:p>
        </p:txBody>
      </p:sp>
      <p:sp>
        <p:nvSpPr>
          <p:cNvPr id="33" name="Text Box 62"/>
          <p:cNvSpPr txBox="1">
            <a:spLocks noChangeArrowheads="1"/>
          </p:cNvSpPr>
          <p:nvPr/>
        </p:nvSpPr>
        <p:spPr bwMode="auto">
          <a:xfrm>
            <a:off x="3541944" y="1175498"/>
            <a:ext cx="255957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200" b="1" dirty="0">
                <a:latin typeface="微软雅黑" pitchFamily="34" charset="-122"/>
                <a:ea typeface="微软雅黑" pitchFamily="34" charset="-122"/>
              </a:rPr>
              <a:t>我是 </a:t>
            </a:r>
            <a:r>
              <a:rPr kumimoji="1" lang="en-US" altLang="zh-CN" sz="1200" b="1" dirty="0">
                <a:latin typeface="微软雅黑" pitchFamily="34" charset="-122"/>
                <a:ea typeface="微软雅黑" pitchFamily="34" charset="-122"/>
              </a:rPr>
              <a:t>209.0.0.1</a:t>
            </a:r>
            <a:r>
              <a:rPr kumimoji="1" lang="zh-CN" altLang="en-US" sz="1200" b="1" dirty="0">
                <a:latin typeface="微软雅黑" pitchFamily="34" charset="-122"/>
                <a:ea typeface="微软雅黑" pitchFamily="34" charset="-122"/>
              </a:rPr>
              <a:t>，</a:t>
            </a:r>
            <a:endParaRPr kumimoji="1" lang="en-US" altLang="zh-CN" sz="1200" b="1" dirty="0">
              <a:latin typeface="微软雅黑" pitchFamily="34" charset="-122"/>
              <a:ea typeface="微软雅黑" pitchFamily="34" charset="-122"/>
            </a:endParaRPr>
          </a:p>
          <a:p>
            <a:r>
              <a:rPr kumimoji="1" lang="zh-CN" altLang="en-US" sz="1200" b="1" dirty="0">
                <a:latin typeface="微软雅黑" pitchFamily="34" charset="-122"/>
                <a:ea typeface="微软雅黑" pitchFamily="34" charset="-122"/>
              </a:rPr>
              <a:t>硬件地址是 </a:t>
            </a:r>
            <a:r>
              <a:rPr kumimoji="1" lang="en-US" altLang="zh-CN" sz="1200" b="1" dirty="0">
                <a:latin typeface="微软雅黑" pitchFamily="34" charset="-122"/>
                <a:ea typeface="微软雅黑" pitchFamily="34" charset="-122"/>
              </a:rPr>
              <a:t>0C-05-20-01-2F-0D</a:t>
            </a:r>
            <a:r>
              <a:rPr kumimoji="1" lang="zh-CN" altLang="en-US" sz="1200" b="1" dirty="0">
                <a:latin typeface="微软雅黑" pitchFamily="34" charset="-122"/>
                <a:ea typeface="微软雅黑" pitchFamily="34" charset="-122"/>
              </a:rPr>
              <a:t>。</a:t>
            </a:r>
            <a:endParaRPr kumimoji="1" lang="en-US" altLang="zh-CN" sz="1200" b="1" dirty="0">
              <a:latin typeface="微软雅黑" pitchFamily="34" charset="-122"/>
              <a:ea typeface="微软雅黑" pitchFamily="34" charset="-122"/>
            </a:endParaRPr>
          </a:p>
        </p:txBody>
      </p:sp>
      <p:sp>
        <p:nvSpPr>
          <p:cNvPr id="25" name="Text Box 108"/>
          <p:cNvSpPr txBox="1">
            <a:spLocks noChangeArrowheads="1"/>
          </p:cNvSpPr>
          <p:nvPr/>
        </p:nvSpPr>
        <p:spPr bwMode="auto">
          <a:xfrm>
            <a:off x="1019330" y="3325832"/>
            <a:ext cx="7075357" cy="1006429"/>
          </a:xfrm>
          <a:prstGeom prst="rect">
            <a:avLst/>
          </a:prstGeom>
          <a:solidFill>
            <a:srgbClr val="0000CC"/>
          </a:solidFill>
          <a:ln w="9525">
            <a:solidFill>
              <a:srgbClr val="333399"/>
            </a:solidFill>
            <a:miter lim="800000"/>
            <a:headEnd/>
            <a:tailEnd/>
          </a:ln>
          <a:effectLst/>
        </p:spPr>
        <p:txBody>
          <a:bodyPr wrap="square">
            <a:spAutoFit/>
          </a:bodyPr>
          <a:lstStyle/>
          <a:p>
            <a:pPr algn="ctr">
              <a:lnSpc>
                <a:spcPct val="110000"/>
              </a:lnSpc>
            </a:pPr>
            <a:r>
              <a:rPr lang="zh-CN" altLang="en-US" b="1" dirty="0">
                <a:solidFill>
                  <a:schemeClr val="bg1"/>
                </a:solidFill>
                <a:latin typeface="微软雅黑" pitchFamily="34" charset="-122"/>
                <a:ea typeface="微软雅黑" pitchFamily="34" charset="-122"/>
              </a:rPr>
              <a:t>通信的路径：</a:t>
            </a:r>
            <a:r>
              <a:rPr lang="en-US" altLang="zh-CN" b="1" dirty="0">
                <a:solidFill>
                  <a:schemeClr val="bg1"/>
                </a:solidFill>
                <a:latin typeface="微软雅黑" pitchFamily="34" charset="-122"/>
                <a:ea typeface="微软雅黑" pitchFamily="34" charset="-122"/>
              </a:rPr>
              <a:t>A → </a:t>
            </a:r>
            <a:r>
              <a:rPr lang="zh-CN" altLang="en-US" b="1" dirty="0">
                <a:solidFill>
                  <a:schemeClr val="bg1"/>
                </a:solidFill>
                <a:latin typeface="微软雅黑" pitchFamily="34" charset="-122"/>
                <a:ea typeface="微软雅黑" pitchFamily="34" charset="-122"/>
              </a:rPr>
              <a:t>经过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 </a:t>
            </a:r>
            <a:r>
              <a:rPr lang="zh-CN" altLang="en-US" b="1" dirty="0">
                <a:solidFill>
                  <a:schemeClr val="bg1"/>
                </a:solidFill>
                <a:latin typeface="微软雅黑" pitchFamily="34" charset="-122"/>
                <a:ea typeface="微软雅黑" pitchFamily="34" charset="-122"/>
              </a:rPr>
              <a:t>转发 → </a:t>
            </a:r>
            <a:r>
              <a:rPr lang="en-US" altLang="zh-CN" b="1" dirty="0">
                <a:solidFill>
                  <a:schemeClr val="bg1"/>
                </a:solidFill>
                <a:latin typeface="微软雅黑" pitchFamily="34" charset="-122"/>
                <a:ea typeface="微软雅黑" pitchFamily="34" charset="-122"/>
              </a:rPr>
              <a:t>B</a:t>
            </a:r>
            <a:r>
              <a:rPr lang="zh-CN" altLang="en-US" b="1" dirty="0">
                <a:solidFill>
                  <a:schemeClr val="bg1"/>
                </a:solidFill>
                <a:latin typeface="微软雅黑" pitchFamily="34" charset="-122"/>
                <a:ea typeface="微软雅黑" pitchFamily="34" charset="-122"/>
              </a:rPr>
              <a:t>。</a:t>
            </a:r>
            <a:endParaRPr lang="en-US" altLang="zh-CN" b="1" dirty="0">
              <a:solidFill>
                <a:schemeClr val="bg1"/>
              </a:solidFill>
              <a:latin typeface="微软雅黑" pitchFamily="34" charset="-122"/>
              <a:ea typeface="微软雅黑" pitchFamily="34" charset="-122"/>
            </a:endParaRPr>
          </a:p>
          <a:p>
            <a:pPr algn="ctr">
              <a:lnSpc>
                <a:spcPct val="110000"/>
              </a:lnSpc>
            </a:pPr>
            <a:r>
              <a:rPr lang="zh-CN" altLang="en-US" b="1" dirty="0">
                <a:solidFill>
                  <a:schemeClr val="bg1"/>
                </a:solidFill>
                <a:latin typeface="微软雅黑" pitchFamily="34" charset="-122"/>
                <a:ea typeface="微软雅黑" pitchFamily="34" charset="-122"/>
              </a:rPr>
              <a:t>因此主机 </a:t>
            </a:r>
            <a:r>
              <a:rPr lang="en-US" altLang="zh-CN" b="1" dirty="0">
                <a:solidFill>
                  <a:schemeClr val="bg1"/>
                </a:solidFill>
                <a:latin typeface="微软雅黑" pitchFamily="34" charset="-122"/>
                <a:ea typeface="微软雅黑" pitchFamily="34" charset="-122"/>
              </a:rPr>
              <a:t>A </a:t>
            </a:r>
            <a:r>
              <a:rPr lang="zh-CN" altLang="en-US" b="1" dirty="0">
                <a:solidFill>
                  <a:schemeClr val="bg1"/>
                </a:solidFill>
                <a:latin typeface="微软雅黑" pitchFamily="34" charset="-122"/>
                <a:ea typeface="微软雅黑" pitchFamily="34" charset="-122"/>
              </a:rPr>
              <a:t>必须知道路由器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a:t>
            </a:r>
            <a:r>
              <a:rPr lang="en-US" altLang="zh-CN" b="1" dirty="0">
                <a:solidFill>
                  <a:schemeClr val="bg1"/>
                </a:solidFill>
                <a:latin typeface="微软雅黑" pitchFamily="34" charset="-122"/>
                <a:ea typeface="微软雅黑" pitchFamily="34" charset="-122"/>
              </a:rPr>
              <a:t> </a:t>
            </a:r>
            <a:r>
              <a:rPr lang="zh-CN" altLang="en-US" b="1" dirty="0">
                <a:solidFill>
                  <a:schemeClr val="bg1"/>
                </a:solidFill>
                <a:latin typeface="微软雅黑" pitchFamily="34" charset="-122"/>
                <a:ea typeface="微软雅黑" pitchFamily="34" charset="-122"/>
              </a:rPr>
              <a:t>的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地址，解析出其 </a:t>
            </a:r>
            <a:r>
              <a:rPr lang="en-US" altLang="zh-CN" b="1" dirty="0">
                <a:solidFill>
                  <a:schemeClr val="bg1"/>
                </a:solidFill>
                <a:latin typeface="微软雅黑" pitchFamily="34" charset="-122"/>
                <a:ea typeface="微软雅黑" pitchFamily="34" charset="-122"/>
              </a:rPr>
              <a:t>MAC </a:t>
            </a:r>
            <a:r>
              <a:rPr lang="zh-CN" altLang="en-US" b="1" dirty="0">
                <a:solidFill>
                  <a:schemeClr val="bg1"/>
                </a:solidFill>
                <a:latin typeface="微软雅黑" pitchFamily="34" charset="-122"/>
                <a:ea typeface="微软雅黑" pitchFamily="34" charset="-122"/>
              </a:rPr>
              <a:t>地址。然后把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数据报传送到路由器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a:t>
            </a:r>
            <a:r>
              <a:rPr lang="zh-CN" altLang="en-US" b="1" dirty="0">
                <a:solidFill>
                  <a:schemeClr val="bg1"/>
                </a:solidFill>
                <a:latin typeface="微软雅黑" pitchFamily="34" charset="-122"/>
                <a:ea typeface="微软雅黑" pitchFamily="34" charset="-122"/>
              </a:rPr>
              <a:t>。</a:t>
            </a:r>
          </a:p>
        </p:txBody>
      </p:sp>
    </p:spTree>
    <p:extLst>
      <p:ext uri="{BB962C8B-B14F-4D97-AF65-F5344CB8AC3E}">
        <p14:creationId xmlns:p14="http://schemas.microsoft.com/office/powerpoint/2010/main" val="366749804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with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wipe(right)">
                                      <p:cBhvr>
                                        <p:cTn id="7" dur="1000"/>
                                        <p:tgtEl>
                                          <p:spTgt spid="28"/>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25"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59461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319358" y="561401"/>
            <a:ext cx="45239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台主机不在同一个局域网上怎么办？</a:t>
            </a:r>
          </a:p>
        </p:txBody>
      </p:sp>
      <p:grpSp>
        <p:nvGrpSpPr>
          <p:cNvPr id="3" name="组合 2"/>
          <p:cNvGrpSpPr/>
          <p:nvPr/>
        </p:nvGrpSpPr>
        <p:grpSpPr>
          <a:xfrm>
            <a:off x="5334251" y="1802667"/>
            <a:ext cx="1000912" cy="276999"/>
            <a:chOff x="2890855" y="1772687"/>
            <a:chExt cx="1000912" cy="276999"/>
          </a:xfrm>
        </p:grpSpPr>
        <p:sp>
          <p:nvSpPr>
            <p:cNvPr id="21" name="Text Box 48"/>
            <p:cNvSpPr txBox="1">
              <a:spLocks noChangeArrowheads="1"/>
            </p:cNvSpPr>
            <p:nvPr/>
          </p:nvSpPr>
          <p:spPr bwMode="auto">
            <a:xfrm>
              <a:off x="2890855" y="1772687"/>
              <a:ext cx="862736" cy="276999"/>
            </a:xfrm>
            <a:prstGeom prst="rect">
              <a:avLst/>
            </a:prstGeom>
            <a:solidFill>
              <a:srgbClr val="99FFCC"/>
            </a:solidFill>
            <a:ln w="12700">
              <a:solidFill>
                <a:schemeClr val="tx1"/>
              </a:solidFill>
              <a:miter lim="800000"/>
              <a:headEnd/>
              <a:tailEnd/>
            </a:ln>
            <a:effectLst/>
          </p:spPr>
          <p:txBody>
            <a:bodyPr wrap="none">
              <a:spAutoFit/>
            </a:bodyPr>
            <a:lstStyle/>
            <a:p>
              <a:pPr algn="ctr"/>
              <a:r>
                <a:rPr kumimoji="1" lang="en-US" altLang="zh-CN" sz="1200" b="1" dirty="0">
                  <a:latin typeface="微软雅黑" pitchFamily="34" charset="-122"/>
                  <a:ea typeface="微软雅黑" pitchFamily="34" charset="-122"/>
                </a:rPr>
                <a:t>ARP </a:t>
              </a:r>
              <a:r>
                <a:rPr kumimoji="1" lang="zh-CN" altLang="en-US" sz="1200" b="1" dirty="0">
                  <a:latin typeface="微软雅黑" pitchFamily="34" charset="-122"/>
                  <a:ea typeface="微软雅黑" pitchFamily="34" charset="-122"/>
                </a:rPr>
                <a:t>请求</a:t>
              </a:r>
            </a:p>
          </p:txBody>
        </p:sp>
        <p:sp>
          <p:nvSpPr>
            <p:cNvPr id="23" name="AutoShape 49"/>
            <p:cNvSpPr>
              <a:spLocks noChangeArrowheads="1"/>
            </p:cNvSpPr>
            <p:nvPr/>
          </p:nvSpPr>
          <p:spPr bwMode="auto">
            <a:xfrm>
              <a:off x="3748931" y="1831393"/>
              <a:ext cx="142836" cy="124149"/>
            </a:xfrm>
            <a:prstGeom prst="rightArrow">
              <a:avLst>
                <a:gd name="adj1" fmla="val 50000"/>
                <a:gd name="adj2" fmla="val 26550"/>
              </a:avLst>
            </a:prstGeom>
            <a:solidFill>
              <a:srgbClr val="99FFCC"/>
            </a:solidFill>
            <a:ln w="952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25" name="AutoShape 59"/>
          <p:cNvSpPr>
            <a:spLocks noChangeArrowheads="1"/>
          </p:cNvSpPr>
          <p:nvPr/>
        </p:nvSpPr>
        <p:spPr bwMode="auto">
          <a:xfrm>
            <a:off x="2250553" y="1092622"/>
            <a:ext cx="3700997" cy="513863"/>
          </a:xfrm>
          <a:prstGeom prst="wedgeRoundRectCallout">
            <a:avLst>
              <a:gd name="adj1" fmla="val 42609"/>
              <a:gd name="adj2" fmla="val 95930"/>
              <a:gd name="adj3" fmla="val 16667"/>
            </a:avLst>
          </a:prstGeom>
          <a:solidFill>
            <a:srgbClr val="00FFFF"/>
          </a:solidFill>
          <a:ln w="9525">
            <a:solidFill>
              <a:schemeClr val="tx1"/>
            </a:solidFill>
            <a:miter lim="800000"/>
            <a:headEnd/>
            <a:tailEnd/>
          </a:ln>
          <a:effectLst/>
        </p:spPr>
        <p:txBody>
          <a:bodyPr/>
          <a:lstStyle/>
          <a:p>
            <a:pPr algn="ctr"/>
            <a:endParaRPr kumimoji="1" lang="zh-CN" altLang="zh-CN" sz="1200" b="1">
              <a:solidFill>
                <a:srgbClr val="0000CC"/>
              </a:solidFill>
              <a:latin typeface="微软雅黑" pitchFamily="34" charset="-122"/>
              <a:ea typeface="微软雅黑" pitchFamily="34" charset="-122"/>
            </a:endParaRPr>
          </a:p>
        </p:txBody>
      </p:sp>
      <p:sp>
        <p:nvSpPr>
          <p:cNvPr id="26" name="Text Box 60"/>
          <p:cNvSpPr txBox="1">
            <a:spLocks noChangeArrowheads="1"/>
          </p:cNvSpPr>
          <p:nvPr/>
        </p:nvSpPr>
        <p:spPr bwMode="auto">
          <a:xfrm>
            <a:off x="2306522" y="1127816"/>
            <a:ext cx="369977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200" b="1" dirty="0">
                <a:latin typeface="微软雅黑" pitchFamily="34" charset="-122"/>
                <a:ea typeface="微软雅黑" pitchFamily="34" charset="-122"/>
              </a:rPr>
              <a:t>我是 </a:t>
            </a:r>
            <a:r>
              <a:rPr kumimoji="1" lang="en-US" altLang="zh-CN" sz="1200" b="1" dirty="0">
                <a:latin typeface="微软雅黑" pitchFamily="34" charset="-122"/>
                <a:ea typeface="微软雅黑" pitchFamily="34" charset="-122"/>
              </a:rPr>
              <a:t>219.1.0.1</a:t>
            </a:r>
            <a:r>
              <a:rPr kumimoji="1" lang="zh-CN" altLang="en-US" sz="1200" b="1" dirty="0">
                <a:latin typeface="微软雅黑" pitchFamily="34" charset="-122"/>
                <a:ea typeface="微软雅黑" pitchFamily="34" charset="-122"/>
              </a:rPr>
              <a:t>，硬件地址是 </a:t>
            </a:r>
            <a:r>
              <a:rPr kumimoji="1" lang="en-US" altLang="zh-CN" sz="1200" b="1" dirty="0">
                <a:latin typeface="微软雅黑" pitchFamily="34" charset="-122"/>
                <a:ea typeface="微软雅黑" pitchFamily="34" charset="-122"/>
              </a:rPr>
              <a:t>00-00-C0-15-AD-18</a:t>
            </a:r>
          </a:p>
          <a:p>
            <a:r>
              <a:rPr kumimoji="1" lang="zh-CN" altLang="en-US" sz="1200" b="1" dirty="0">
                <a:latin typeface="微软雅黑" pitchFamily="34" charset="-122"/>
                <a:ea typeface="微软雅黑" pitchFamily="34" charset="-122"/>
              </a:rPr>
              <a:t>我想知道路由器 </a:t>
            </a:r>
            <a:r>
              <a:rPr kumimoji="1" lang="en-US" altLang="zh-CN" sz="1200" b="1" dirty="0">
                <a:latin typeface="微软雅黑" pitchFamily="34" charset="-122"/>
                <a:ea typeface="微软雅黑" pitchFamily="34" charset="-122"/>
              </a:rPr>
              <a:t>219.1.0.6 </a:t>
            </a:r>
            <a:r>
              <a:rPr kumimoji="1" lang="zh-CN" altLang="en-US" sz="1200" b="1" dirty="0">
                <a:latin typeface="微软雅黑" pitchFamily="34" charset="-122"/>
                <a:ea typeface="微软雅黑" pitchFamily="34" charset="-122"/>
              </a:rPr>
              <a:t>的硬件地址。</a:t>
            </a:r>
          </a:p>
        </p:txBody>
      </p:sp>
      <p:sp>
        <p:nvSpPr>
          <p:cNvPr id="28" name="任意多边形 27"/>
          <p:cNvSpPr/>
          <p:nvPr/>
        </p:nvSpPr>
        <p:spPr>
          <a:xfrm>
            <a:off x="4865546" y="2161671"/>
            <a:ext cx="1535289" cy="386627"/>
          </a:xfrm>
          <a:custGeom>
            <a:avLst/>
            <a:gdLst>
              <a:gd name="connsiteX0" fmla="*/ 927100 w 927100"/>
              <a:gd name="connsiteY0" fmla="*/ 311150 h 311150"/>
              <a:gd name="connsiteX1" fmla="*/ 711200 w 927100"/>
              <a:gd name="connsiteY1" fmla="*/ 31750 h 311150"/>
              <a:gd name="connsiteX2" fmla="*/ 0 w 927100"/>
              <a:gd name="connsiteY2" fmla="*/ 6350 h 311150"/>
              <a:gd name="connsiteX3" fmla="*/ 0 w 927100"/>
              <a:gd name="connsiteY3" fmla="*/ 6350 h 311150"/>
              <a:gd name="connsiteX0" fmla="*/ 927100 w 927100"/>
              <a:gd name="connsiteY0" fmla="*/ 317915 h 317915"/>
              <a:gd name="connsiteX1" fmla="*/ 811773 w 927100"/>
              <a:gd name="connsiteY1" fmla="*/ 25815 h 317915"/>
              <a:gd name="connsiteX2" fmla="*/ 0 w 927100"/>
              <a:gd name="connsiteY2" fmla="*/ 13115 h 317915"/>
              <a:gd name="connsiteX3" fmla="*/ 0 w 927100"/>
              <a:gd name="connsiteY3" fmla="*/ 13115 h 317915"/>
            </a:gdLst>
            <a:ahLst/>
            <a:cxnLst>
              <a:cxn ang="0">
                <a:pos x="connsiteX0" y="connsiteY0"/>
              </a:cxn>
              <a:cxn ang="0">
                <a:pos x="connsiteX1" y="connsiteY1"/>
              </a:cxn>
              <a:cxn ang="0">
                <a:pos x="connsiteX2" y="connsiteY2"/>
              </a:cxn>
              <a:cxn ang="0">
                <a:pos x="connsiteX3" y="connsiteY3"/>
              </a:cxn>
            </a:cxnLst>
            <a:rect l="l" t="t" r="r" b="b"/>
            <a:pathLst>
              <a:path w="927100" h="317915">
                <a:moveTo>
                  <a:pt x="927100" y="317915"/>
                </a:moveTo>
                <a:cubicBezTo>
                  <a:pt x="896408" y="203615"/>
                  <a:pt x="966290" y="76615"/>
                  <a:pt x="811773" y="25815"/>
                </a:cubicBezTo>
                <a:cubicBezTo>
                  <a:pt x="657256" y="-24985"/>
                  <a:pt x="135295" y="15232"/>
                  <a:pt x="0" y="13115"/>
                </a:cubicBezTo>
                <a:lnTo>
                  <a:pt x="0" y="13115"/>
                </a:lnTo>
              </a:path>
            </a:pathLst>
          </a:custGeom>
          <a:noFill/>
          <a:ln w="38100">
            <a:solidFill>
              <a:srgbClr val="CC00CC"/>
            </a:solidFill>
            <a:headEnd type="triangl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6" name="组合 35"/>
          <p:cNvGrpSpPr/>
          <p:nvPr/>
        </p:nvGrpSpPr>
        <p:grpSpPr>
          <a:xfrm>
            <a:off x="1495251" y="1800409"/>
            <a:ext cx="6014215" cy="1152477"/>
            <a:chOff x="1422400" y="1686109"/>
            <a:chExt cx="6014215" cy="1152477"/>
          </a:xfrm>
        </p:grpSpPr>
        <p:sp>
          <p:nvSpPr>
            <p:cNvPr id="37" name="Line 9"/>
            <p:cNvSpPr>
              <a:spLocks noChangeShapeType="1"/>
            </p:cNvSpPr>
            <p:nvPr/>
          </p:nvSpPr>
          <p:spPr bwMode="auto">
            <a:xfrm rot="5400000">
              <a:off x="6297733" y="2356527"/>
              <a:ext cx="356087"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8" name="Line 16"/>
            <p:cNvSpPr>
              <a:spLocks noChangeShapeType="1"/>
            </p:cNvSpPr>
            <p:nvPr/>
          </p:nvSpPr>
          <p:spPr bwMode="auto">
            <a:xfrm flipV="1">
              <a:off x="1422400" y="2178483"/>
              <a:ext cx="5918200"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9" name="Text Box 56"/>
            <p:cNvSpPr txBox="1">
              <a:spLocks noChangeArrowheads="1"/>
            </p:cNvSpPr>
            <p:nvPr/>
          </p:nvSpPr>
          <p:spPr bwMode="auto">
            <a:xfrm>
              <a:off x="6554642"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219.1.0.6</a:t>
              </a:r>
            </a:p>
          </p:txBody>
        </p:sp>
        <p:sp>
          <p:nvSpPr>
            <p:cNvPr id="40" name="Line 7"/>
            <p:cNvSpPr>
              <a:spLocks noChangeShapeType="1"/>
            </p:cNvSpPr>
            <p:nvPr/>
          </p:nvSpPr>
          <p:spPr bwMode="auto">
            <a:xfrm rot="5400000">
              <a:off x="2044629" y="2356527"/>
              <a:ext cx="356087"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1" name="Text Box 17"/>
            <p:cNvSpPr txBox="1">
              <a:spLocks noChangeArrowheads="1"/>
            </p:cNvSpPr>
            <p:nvPr/>
          </p:nvSpPr>
          <p:spPr bwMode="auto">
            <a:xfrm>
              <a:off x="2352998" y="2488377"/>
              <a:ext cx="33912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A</a:t>
              </a:r>
            </a:p>
          </p:txBody>
        </p:sp>
        <p:sp>
          <p:nvSpPr>
            <p:cNvPr id="42" name="Text Box 20"/>
            <p:cNvSpPr txBox="1">
              <a:spLocks noChangeArrowheads="1"/>
            </p:cNvSpPr>
            <p:nvPr/>
          </p:nvSpPr>
          <p:spPr bwMode="auto">
            <a:xfrm>
              <a:off x="6623569" y="2488377"/>
              <a:ext cx="32825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itchFamily="34" charset="-122"/>
                  <a:ea typeface="微软雅黑" pitchFamily="34" charset="-122"/>
                </a:rPr>
                <a:t>B</a:t>
              </a:r>
            </a:p>
          </p:txBody>
        </p:sp>
        <p:pic>
          <p:nvPicPr>
            <p:cNvPr id="4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08851" y="2433999"/>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44"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84086" y="2433999"/>
              <a:ext cx="404587" cy="404587"/>
            </a:xfrm>
            <a:prstGeom prst="rect">
              <a:avLst/>
            </a:prstGeom>
            <a:noFill/>
            <a:extLst>
              <a:ext uri="{909E8E84-426E-40DD-AFC4-6F175D3DCCD1}">
                <a14:hiddenFill xmlns:a14="http://schemas.microsoft.com/office/drawing/2010/main">
                  <a:solidFill>
                    <a:srgbClr val="FFFFFF"/>
                  </a:solidFill>
                </a14:hiddenFill>
              </a:ext>
            </a:extLst>
          </p:spPr>
        </p:pic>
        <p:sp>
          <p:nvSpPr>
            <p:cNvPr id="45" name="Text Box 55"/>
            <p:cNvSpPr txBox="1">
              <a:spLocks noChangeArrowheads="1"/>
            </p:cNvSpPr>
            <p:nvPr/>
          </p:nvSpPr>
          <p:spPr bwMode="auto">
            <a:xfrm>
              <a:off x="2269864"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209.0.0.5</a:t>
              </a:r>
            </a:p>
          </p:txBody>
        </p:sp>
        <p:sp>
          <p:nvSpPr>
            <p:cNvPr id="46" name="Text Box 18"/>
            <p:cNvSpPr txBox="1">
              <a:spLocks noChangeArrowheads="1"/>
            </p:cNvSpPr>
            <p:nvPr/>
          </p:nvSpPr>
          <p:spPr bwMode="auto">
            <a:xfrm>
              <a:off x="4054786" y="1686109"/>
              <a:ext cx="97494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路由器 </a:t>
              </a:r>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1</a:t>
              </a:r>
            </a:p>
          </p:txBody>
        </p:sp>
        <p:pic>
          <p:nvPicPr>
            <p:cNvPr id="47" name="Picture 2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20663" y="1981098"/>
              <a:ext cx="545185" cy="3811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8" name="Text Box 55"/>
            <p:cNvSpPr txBox="1">
              <a:spLocks noChangeArrowheads="1"/>
            </p:cNvSpPr>
            <p:nvPr/>
          </p:nvSpPr>
          <p:spPr bwMode="auto">
            <a:xfrm>
              <a:off x="3450251"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209.0.0.1</a:t>
              </a:r>
            </a:p>
          </p:txBody>
        </p:sp>
        <p:sp>
          <p:nvSpPr>
            <p:cNvPr id="49" name="Text Box 55"/>
            <p:cNvSpPr txBox="1">
              <a:spLocks noChangeArrowheads="1"/>
            </p:cNvSpPr>
            <p:nvPr/>
          </p:nvSpPr>
          <p:spPr bwMode="auto">
            <a:xfrm>
              <a:off x="4679216"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219.1.0.1</a:t>
              </a:r>
            </a:p>
          </p:txBody>
        </p:sp>
      </p:grpSp>
      <p:cxnSp>
        <p:nvCxnSpPr>
          <p:cNvPr id="4" name="直接箭头连接符 3"/>
          <p:cNvCxnSpPr/>
          <p:nvPr/>
        </p:nvCxnSpPr>
        <p:spPr>
          <a:xfrm>
            <a:off x="4901785" y="2176661"/>
            <a:ext cx="2173573" cy="0"/>
          </a:xfrm>
          <a:prstGeom prst="straightConnector1">
            <a:avLst/>
          </a:prstGeom>
          <a:ln w="38100">
            <a:solidFill>
              <a:srgbClr val="CC00CC"/>
            </a:solidFill>
            <a:tailEnd type="triangle"/>
          </a:ln>
        </p:spPr>
        <p:style>
          <a:lnRef idx="1">
            <a:schemeClr val="accent1"/>
          </a:lnRef>
          <a:fillRef idx="0">
            <a:schemeClr val="accent1"/>
          </a:fillRef>
          <a:effectRef idx="0">
            <a:schemeClr val="accent1"/>
          </a:effectRef>
          <a:fontRef idx="minor">
            <a:schemeClr val="tx1"/>
          </a:fontRef>
        </p:style>
      </p:cxnSp>
      <p:sp>
        <p:nvSpPr>
          <p:cNvPr id="27" name="Text Box 108"/>
          <p:cNvSpPr txBox="1">
            <a:spLocks noChangeArrowheads="1"/>
          </p:cNvSpPr>
          <p:nvPr/>
        </p:nvSpPr>
        <p:spPr bwMode="auto">
          <a:xfrm>
            <a:off x="1019330" y="3325832"/>
            <a:ext cx="7075357" cy="1006429"/>
          </a:xfrm>
          <a:prstGeom prst="rect">
            <a:avLst/>
          </a:prstGeom>
          <a:solidFill>
            <a:srgbClr val="0000CC"/>
          </a:solidFill>
          <a:ln w="9525">
            <a:solidFill>
              <a:srgbClr val="333399"/>
            </a:solidFill>
            <a:miter lim="800000"/>
            <a:headEnd/>
            <a:tailEnd/>
          </a:ln>
          <a:effectLst/>
        </p:spPr>
        <p:txBody>
          <a:bodyPr wrap="square">
            <a:spAutoFit/>
          </a:bodyPr>
          <a:lstStyle/>
          <a:p>
            <a:pPr algn="ctr">
              <a:lnSpc>
                <a:spcPct val="110000"/>
              </a:lnSpc>
            </a:pPr>
            <a:r>
              <a:rPr lang="zh-CN" altLang="en-US" b="1" dirty="0">
                <a:solidFill>
                  <a:schemeClr val="bg1"/>
                </a:solidFill>
                <a:latin typeface="微软雅黑" pitchFamily="34" charset="-122"/>
                <a:ea typeface="微软雅黑" pitchFamily="34" charset="-122"/>
              </a:rPr>
              <a:t>通信的路径：</a:t>
            </a:r>
            <a:r>
              <a:rPr lang="en-US" altLang="zh-CN" b="1" dirty="0">
                <a:solidFill>
                  <a:schemeClr val="bg1"/>
                </a:solidFill>
                <a:latin typeface="微软雅黑" pitchFamily="34" charset="-122"/>
                <a:ea typeface="微软雅黑" pitchFamily="34" charset="-122"/>
              </a:rPr>
              <a:t>A → </a:t>
            </a:r>
            <a:r>
              <a:rPr lang="zh-CN" altLang="en-US" b="1" dirty="0">
                <a:solidFill>
                  <a:schemeClr val="bg1"/>
                </a:solidFill>
                <a:latin typeface="微软雅黑" pitchFamily="34" charset="-122"/>
                <a:ea typeface="微软雅黑" pitchFamily="34" charset="-122"/>
              </a:rPr>
              <a:t>经过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 </a:t>
            </a:r>
            <a:r>
              <a:rPr lang="zh-CN" altLang="en-US" b="1" dirty="0">
                <a:solidFill>
                  <a:schemeClr val="bg1"/>
                </a:solidFill>
                <a:latin typeface="微软雅黑" pitchFamily="34" charset="-122"/>
                <a:ea typeface="微软雅黑" pitchFamily="34" charset="-122"/>
              </a:rPr>
              <a:t>转发 → </a:t>
            </a:r>
            <a:r>
              <a:rPr lang="en-US" altLang="zh-CN" b="1" dirty="0">
                <a:solidFill>
                  <a:schemeClr val="bg1"/>
                </a:solidFill>
                <a:latin typeface="微软雅黑" pitchFamily="34" charset="-122"/>
                <a:ea typeface="微软雅黑" pitchFamily="34" charset="-122"/>
              </a:rPr>
              <a:t>B</a:t>
            </a:r>
            <a:r>
              <a:rPr lang="zh-CN" altLang="en-US" b="1" dirty="0">
                <a:solidFill>
                  <a:schemeClr val="bg1"/>
                </a:solidFill>
                <a:latin typeface="微软雅黑" pitchFamily="34" charset="-122"/>
                <a:ea typeface="微软雅黑" pitchFamily="34" charset="-122"/>
              </a:rPr>
              <a:t>。</a:t>
            </a:r>
            <a:endParaRPr lang="en-US" altLang="zh-CN" b="1" dirty="0">
              <a:solidFill>
                <a:schemeClr val="bg1"/>
              </a:solidFill>
              <a:latin typeface="微软雅黑" pitchFamily="34" charset="-122"/>
              <a:ea typeface="微软雅黑" pitchFamily="34" charset="-122"/>
            </a:endParaRPr>
          </a:p>
          <a:p>
            <a:pPr algn="ctr">
              <a:lnSpc>
                <a:spcPct val="110000"/>
              </a:lnSpc>
            </a:pPr>
            <a:r>
              <a:rPr lang="zh-CN" altLang="en-US" b="1" dirty="0">
                <a:solidFill>
                  <a:schemeClr val="bg1"/>
                </a:solidFill>
                <a:latin typeface="微软雅黑" pitchFamily="34" charset="-122"/>
                <a:ea typeface="微软雅黑" pitchFamily="34" charset="-122"/>
              </a:rPr>
              <a:t>因此主机 </a:t>
            </a:r>
            <a:r>
              <a:rPr lang="en-US" altLang="zh-CN" b="1" dirty="0">
                <a:solidFill>
                  <a:schemeClr val="bg1"/>
                </a:solidFill>
                <a:latin typeface="微软雅黑" pitchFamily="34" charset="-122"/>
                <a:ea typeface="微软雅黑" pitchFamily="34" charset="-122"/>
              </a:rPr>
              <a:t>A </a:t>
            </a:r>
            <a:r>
              <a:rPr lang="zh-CN" altLang="en-US" b="1" dirty="0">
                <a:solidFill>
                  <a:schemeClr val="bg1"/>
                </a:solidFill>
                <a:latin typeface="微软雅黑" pitchFamily="34" charset="-122"/>
                <a:ea typeface="微软雅黑" pitchFamily="34" charset="-122"/>
              </a:rPr>
              <a:t>必须知道路由器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a:t>
            </a:r>
            <a:r>
              <a:rPr lang="en-US" altLang="zh-CN" b="1" dirty="0">
                <a:solidFill>
                  <a:schemeClr val="bg1"/>
                </a:solidFill>
                <a:latin typeface="微软雅黑" pitchFamily="34" charset="-122"/>
                <a:ea typeface="微软雅黑" pitchFamily="34" charset="-122"/>
              </a:rPr>
              <a:t> </a:t>
            </a:r>
            <a:r>
              <a:rPr lang="zh-CN" altLang="en-US" b="1" dirty="0">
                <a:solidFill>
                  <a:schemeClr val="bg1"/>
                </a:solidFill>
                <a:latin typeface="微软雅黑" pitchFamily="34" charset="-122"/>
                <a:ea typeface="微软雅黑" pitchFamily="34" charset="-122"/>
              </a:rPr>
              <a:t>的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地址，解析出其 </a:t>
            </a:r>
            <a:r>
              <a:rPr lang="en-US" altLang="zh-CN" b="1" dirty="0">
                <a:solidFill>
                  <a:schemeClr val="bg1"/>
                </a:solidFill>
                <a:latin typeface="微软雅黑" pitchFamily="34" charset="-122"/>
                <a:ea typeface="微软雅黑" pitchFamily="34" charset="-122"/>
              </a:rPr>
              <a:t>MAC </a:t>
            </a:r>
            <a:r>
              <a:rPr lang="zh-CN" altLang="en-US" b="1" dirty="0">
                <a:solidFill>
                  <a:schemeClr val="bg1"/>
                </a:solidFill>
                <a:latin typeface="微软雅黑" pitchFamily="34" charset="-122"/>
                <a:ea typeface="微软雅黑" pitchFamily="34" charset="-122"/>
              </a:rPr>
              <a:t>地址。然后把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数据报传送到路由器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a:t>
            </a:r>
            <a:r>
              <a:rPr lang="zh-CN" altLang="en-US" b="1" dirty="0">
                <a:solidFill>
                  <a:schemeClr val="bg1"/>
                </a:solidFill>
                <a:latin typeface="微软雅黑" pitchFamily="34" charset="-122"/>
                <a:ea typeface="微软雅黑" pitchFamily="34" charset="-122"/>
              </a:rPr>
              <a:t>。</a:t>
            </a:r>
          </a:p>
        </p:txBody>
      </p:sp>
    </p:spTree>
    <p:extLst>
      <p:ext uri="{BB962C8B-B14F-4D97-AF65-F5344CB8AC3E}">
        <p14:creationId xmlns:p14="http://schemas.microsoft.com/office/powerpoint/2010/main" val="234750932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wipe(left)">
                                      <p:cBhvr>
                                        <p:cTn id="7" dur="1000"/>
                                        <p:tgtEl>
                                          <p:spTgt spid="28"/>
                                        </p:tgtEl>
                                      </p:cBhvr>
                                    </p:animEffect>
                                  </p:childTnLst>
                                </p:cTn>
                              </p:par>
                              <p:par>
                                <p:cTn id="8" presetID="22" presetClass="entr" presetSubtype="8"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ipe(left)">
                                      <p:cBhvr>
                                        <p:cTn id="10" dur="1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27"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59461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319358" y="561401"/>
            <a:ext cx="45239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台主机不在同一个局域网上怎么办？</a:t>
            </a:r>
          </a:p>
        </p:txBody>
      </p:sp>
      <p:sp>
        <p:nvSpPr>
          <p:cNvPr id="28" name="任意多边形 27"/>
          <p:cNvSpPr/>
          <p:nvPr/>
        </p:nvSpPr>
        <p:spPr>
          <a:xfrm>
            <a:off x="4891866" y="2161671"/>
            <a:ext cx="1577896" cy="386627"/>
          </a:xfrm>
          <a:custGeom>
            <a:avLst/>
            <a:gdLst>
              <a:gd name="connsiteX0" fmla="*/ 927100 w 927100"/>
              <a:gd name="connsiteY0" fmla="*/ 311150 h 311150"/>
              <a:gd name="connsiteX1" fmla="*/ 711200 w 927100"/>
              <a:gd name="connsiteY1" fmla="*/ 31750 h 311150"/>
              <a:gd name="connsiteX2" fmla="*/ 0 w 927100"/>
              <a:gd name="connsiteY2" fmla="*/ 6350 h 311150"/>
              <a:gd name="connsiteX3" fmla="*/ 0 w 927100"/>
              <a:gd name="connsiteY3" fmla="*/ 6350 h 311150"/>
              <a:gd name="connsiteX0" fmla="*/ 927100 w 927100"/>
              <a:gd name="connsiteY0" fmla="*/ 317915 h 317915"/>
              <a:gd name="connsiteX1" fmla="*/ 811773 w 927100"/>
              <a:gd name="connsiteY1" fmla="*/ 25815 h 317915"/>
              <a:gd name="connsiteX2" fmla="*/ 0 w 927100"/>
              <a:gd name="connsiteY2" fmla="*/ 13115 h 317915"/>
              <a:gd name="connsiteX3" fmla="*/ 0 w 927100"/>
              <a:gd name="connsiteY3" fmla="*/ 13115 h 317915"/>
            </a:gdLst>
            <a:ahLst/>
            <a:cxnLst>
              <a:cxn ang="0">
                <a:pos x="connsiteX0" y="connsiteY0"/>
              </a:cxn>
              <a:cxn ang="0">
                <a:pos x="connsiteX1" y="connsiteY1"/>
              </a:cxn>
              <a:cxn ang="0">
                <a:pos x="connsiteX2" y="connsiteY2"/>
              </a:cxn>
              <a:cxn ang="0">
                <a:pos x="connsiteX3" y="connsiteY3"/>
              </a:cxn>
            </a:cxnLst>
            <a:rect l="l" t="t" r="r" b="b"/>
            <a:pathLst>
              <a:path w="927100" h="317915">
                <a:moveTo>
                  <a:pt x="927100" y="317915"/>
                </a:moveTo>
                <a:cubicBezTo>
                  <a:pt x="896408" y="203615"/>
                  <a:pt x="966290" y="76615"/>
                  <a:pt x="811773" y="25815"/>
                </a:cubicBezTo>
                <a:cubicBezTo>
                  <a:pt x="657256" y="-24985"/>
                  <a:pt x="135295" y="15232"/>
                  <a:pt x="0" y="13115"/>
                </a:cubicBezTo>
                <a:lnTo>
                  <a:pt x="0" y="13115"/>
                </a:lnTo>
              </a:path>
            </a:pathLst>
          </a:custGeom>
          <a:noFill/>
          <a:ln w="38100">
            <a:solidFill>
              <a:srgbClr val="CC00CC"/>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6" name="组合 35"/>
          <p:cNvGrpSpPr/>
          <p:nvPr/>
        </p:nvGrpSpPr>
        <p:grpSpPr>
          <a:xfrm>
            <a:off x="1495251" y="1800409"/>
            <a:ext cx="6014215" cy="1152477"/>
            <a:chOff x="1422400" y="1686109"/>
            <a:chExt cx="6014215" cy="1152477"/>
          </a:xfrm>
        </p:grpSpPr>
        <p:sp>
          <p:nvSpPr>
            <p:cNvPr id="37" name="Line 9"/>
            <p:cNvSpPr>
              <a:spLocks noChangeShapeType="1"/>
            </p:cNvSpPr>
            <p:nvPr/>
          </p:nvSpPr>
          <p:spPr bwMode="auto">
            <a:xfrm rot="5400000">
              <a:off x="6297733" y="2356527"/>
              <a:ext cx="356087"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8" name="Line 16"/>
            <p:cNvSpPr>
              <a:spLocks noChangeShapeType="1"/>
            </p:cNvSpPr>
            <p:nvPr/>
          </p:nvSpPr>
          <p:spPr bwMode="auto">
            <a:xfrm flipV="1">
              <a:off x="1422400" y="2178483"/>
              <a:ext cx="5918200"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9" name="Text Box 56"/>
            <p:cNvSpPr txBox="1">
              <a:spLocks noChangeArrowheads="1"/>
            </p:cNvSpPr>
            <p:nvPr/>
          </p:nvSpPr>
          <p:spPr bwMode="auto">
            <a:xfrm>
              <a:off x="6554642"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219.1.0.6</a:t>
              </a:r>
            </a:p>
          </p:txBody>
        </p:sp>
        <p:sp>
          <p:nvSpPr>
            <p:cNvPr id="40" name="Line 7"/>
            <p:cNvSpPr>
              <a:spLocks noChangeShapeType="1"/>
            </p:cNvSpPr>
            <p:nvPr/>
          </p:nvSpPr>
          <p:spPr bwMode="auto">
            <a:xfrm rot="5400000">
              <a:off x="2044629" y="2356527"/>
              <a:ext cx="356087"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1" name="Text Box 17"/>
            <p:cNvSpPr txBox="1">
              <a:spLocks noChangeArrowheads="1"/>
            </p:cNvSpPr>
            <p:nvPr/>
          </p:nvSpPr>
          <p:spPr bwMode="auto">
            <a:xfrm>
              <a:off x="2352998" y="2488377"/>
              <a:ext cx="33912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A</a:t>
              </a:r>
            </a:p>
          </p:txBody>
        </p:sp>
        <p:sp>
          <p:nvSpPr>
            <p:cNvPr id="42" name="Text Box 20"/>
            <p:cNvSpPr txBox="1">
              <a:spLocks noChangeArrowheads="1"/>
            </p:cNvSpPr>
            <p:nvPr/>
          </p:nvSpPr>
          <p:spPr bwMode="auto">
            <a:xfrm>
              <a:off x="6623569" y="2488377"/>
              <a:ext cx="32825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itchFamily="34" charset="-122"/>
                  <a:ea typeface="微软雅黑" pitchFamily="34" charset="-122"/>
                </a:rPr>
                <a:t>B</a:t>
              </a:r>
            </a:p>
          </p:txBody>
        </p:sp>
        <p:pic>
          <p:nvPicPr>
            <p:cNvPr id="4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08851" y="2433999"/>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44"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84086" y="2433999"/>
              <a:ext cx="404587" cy="404587"/>
            </a:xfrm>
            <a:prstGeom prst="rect">
              <a:avLst/>
            </a:prstGeom>
            <a:noFill/>
            <a:extLst>
              <a:ext uri="{909E8E84-426E-40DD-AFC4-6F175D3DCCD1}">
                <a14:hiddenFill xmlns:a14="http://schemas.microsoft.com/office/drawing/2010/main">
                  <a:solidFill>
                    <a:srgbClr val="FFFFFF"/>
                  </a:solidFill>
                </a14:hiddenFill>
              </a:ext>
            </a:extLst>
          </p:spPr>
        </p:pic>
        <p:sp>
          <p:nvSpPr>
            <p:cNvPr id="45" name="Text Box 55"/>
            <p:cNvSpPr txBox="1">
              <a:spLocks noChangeArrowheads="1"/>
            </p:cNvSpPr>
            <p:nvPr/>
          </p:nvSpPr>
          <p:spPr bwMode="auto">
            <a:xfrm>
              <a:off x="2269864"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209.0.0.5</a:t>
              </a:r>
            </a:p>
          </p:txBody>
        </p:sp>
        <p:sp>
          <p:nvSpPr>
            <p:cNvPr id="46" name="Text Box 18"/>
            <p:cNvSpPr txBox="1">
              <a:spLocks noChangeArrowheads="1"/>
            </p:cNvSpPr>
            <p:nvPr/>
          </p:nvSpPr>
          <p:spPr bwMode="auto">
            <a:xfrm>
              <a:off x="4054786" y="1686109"/>
              <a:ext cx="97494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路由器 </a:t>
              </a:r>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1</a:t>
              </a:r>
            </a:p>
          </p:txBody>
        </p:sp>
        <p:pic>
          <p:nvPicPr>
            <p:cNvPr id="47" name="Picture 2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20663" y="1981098"/>
              <a:ext cx="545185" cy="3811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8" name="Text Box 55"/>
            <p:cNvSpPr txBox="1">
              <a:spLocks noChangeArrowheads="1"/>
            </p:cNvSpPr>
            <p:nvPr/>
          </p:nvSpPr>
          <p:spPr bwMode="auto">
            <a:xfrm>
              <a:off x="3450251"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209.0.0.1</a:t>
              </a:r>
            </a:p>
          </p:txBody>
        </p:sp>
        <p:sp>
          <p:nvSpPr>
            <p:cNvPr id="49" name="Text Box 55"/>
            <p:cNvSpPr txBox="1">
              <a:spLocks noChangeArrowheads="1"/>
            </p:cNvSpPr>
            <p:nvPr/>
          </p:nvSpPr>
          <p:spPr bwMode="auto">
            <a:xfrm>
              <a:off x="4679216"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219.1.0.1</a:t>
              </a:r>
            </a:p>
          </p:txBody>
        </p:sp>
      </p:grpSp>
      <p:grpSp>
        <p:nvGrpSpPr>
          <p:cNvPr id="29" name="Group 94"/>
          <p:cNvGrpSpPr>
            <a:grpSpLocks/>
          </p:cNvGrpSpPr>
          <p:nvPr/>
        </p:nvGrpSpPr>
        <p:grpSpPr bwMode="auto">
          <a:xfrm>
            <a:off x="5245984" y="1827360"/>
            <a:ext cx="1044683" cy="277171"/>
            <a:chOff x="249" y="627"/>
            <a:chExt cx="1002" cy="288"/>
          </a:xfrm>
          <a:solidFill>
            <a:srgbClr val="00FFFF"/>
          </a:solidFill>
        </p:grpSpPr>
        <p:sp>
          <p:nvSpPr>
            <p:cNvPr id="30" name="AutoShape 95"/>
            <p:cNvSpPr>
              <a:spLocks noChangeArrowheads="1"/>
            </p:cNvSpPr>
            <p:nvPr/>
          </p:nvSpPr>
          <p:spPr bwMode="auto">
            <a:xfrm flipH="1">
              <a:off x="249" y="709"/>
              <a:ext cx="138" cy="139"/>
            </a:xfrm>
            <a:prstGeom prst="rightArrow">
              <a:avLst>
                <a:gd name="adj1" fmla="val 50000"/>
                <a:gd name="adj2" fmla="val 25000"/>
              </a:avLst>
            </a:prstGeom>
            <a:grp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1" name="Text Box 96"/>
            <p:cNvSpPr txBox="1">
              <a:spLocks noChangeArrowheads="1"/>
            </p:cNvSpPr>
            <p:nvPr/>
          </p:nvSpPr>
          <p:spPr bwMode="auto">
            <a:xfrm flipH="1">
              <a:off x="386" y="627"/>
              <a:ext cx="865" cy="288"/>
            </a:xfrm>
            <a:prstGeom prst="rect">
              <a:avLst/>
            </a:prstGeom>
            <a:grpFill/>
            <a:ln w="12700">
              <a:solidFill>
                <a:schemeClr val="tx1"/>
              </a:solidFill>
              <a:miter lim="800000"/>
              <a:headEnd/>
              <a:tailEnd/>
            </a:ln>
            <a:effectLst/>
          </p:spPr>
          <p:txBody>
            <a:bodyPr>
              <a:spAutoFit/>
            </a:bodyPr>
            <a:lstStyle/>
            <a:p>
              <a:pPr algn="ctr"/>
              <a:r>
                <a:rPr kumimoji="1" lang="en-US" altLang="zh-CN" sz="1200" b="1" dirty="0">
                  <a:latin typeface="微软雅黑" pitchFamily="34" charset="-122"/>
                  <a:ea typeface="微软雅黑" pitchFamily="34" charset="-122"/>
                </a:rPr>
                <a:t>ARP </a:t>
              </a:r>
              <a:r>
                <a:rPr kumimoji="1" lang="zh-CN" altLang="en-US" sz="1200" b="1" dirty="0">
                  <a:latin typeface="微软雅黑" pitchFamily="34" charset="-122"/>
                  <a:ea typeface="微软雅黑" pitchFamily="34" charset="-122"/>
                </a:rPr>
                <a:t>响应</a:t>
              </a:r>
            </a:p>
          </p:txBody>
        </p:sp>
      </p:grpSp>
      <p:sp>
        <p:nvSpPr>
          <p:cNvPr id="32" name="AutoShape 61"/>
          <p:cNvSpPr>
            <a:spLocks noChangeArrowheads="1"/>
          </p:cNvSpPr>
          <p:nvPr/>
        </p:nvSpPr>
        <p:spPr bwMode="auto">
          <a:xfrm>
            <a:off x="3719445" y="1175499"/>
            <a:ext cx="2637492" cy="440778"/>
          </a:xfrm>
          <a:prstGeom prst="wedgeRoundRectCallout">
            <a:avLst>
              <a:gd name="adj1" fmla="val 33066"/>
              <a:gd name="adj2" fmla="val 100715"/>
              <a:gd name="adj3" fmla="val 16667"/>
            </a:avLst>
          </a:prstGeom>
          <a:solidFill>
            <a:srgbClr val="00FF99"/>
          </a:solidFill>
          <a:ln w="9525">
            <a:solidFill>
              <a:schemeClr val="tx1"/>
            </a:solidFill>
            <a:miter lim="800000"/>
            <a:headEnd/>
            <a:tailEnd/>
          </a:ln>
          <a:effectLst/>
        </p:spPr>
        <p:txBody>
          <a:bodyPr/>
          <a:lstStyle/>
          <a:p>
            <a:pPr algn="ctr"/>
            <a:endParaRPr kumimoji="1" lang="zh-CN" altLang="zh-CN" sz="1200" b="1">
              <a:solidFill>
                <a:srgbClr val="0000CC"/>
              </a:solidFill>
              <a:latin typeface="微软雅黑" pitchFamily="34" charset="-122"/>
              <a:ea typeface="微软雅黑" pitchFamily="34" charset="-122"/>
            </a:endParaRPr>
          </a:p>
        </p:txBody>
      </p:sp>
      <p:sp>
        <p:nvSpPr>
          <p:cNvPr id="33" name="Text Box 62"/>
          <p:cNvSpPr txBox="1">
            <a:spLocks noChangeArrowheads="1"/>
          </p:cNvSpPr>
          <p:nvPr/>
        </p:nvSpPr>
        <p:spPr bwMode="auto">
          <a:xfrm>
            <a:off x="3737401" y="1175498"/>
            <a:ext cx="255957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200" b="1" dirty="0">
                <a:latin typeface="微软雅黑" pitchFamily="34" charset="-122"/>
                <a:ea typeface="微软雅黑" pitchFamily="34" charset="-122"/>
              </a:rPr>
              <a:t>我是 </a:t>
            </a:r>
            <a:r>
              <a:rPr kumimoji="1" lang="en-US" altLang="zh-CN" sz="1200" b="1" dirty="0">
                <a:latin typeface="微软雅黑" pitchFamily="34" charset="-122"/>
                <a:ea typeface="微软雅黑" pitchFamily="34" charset="-122"/>
              </a:rPr>
              <a:t>219.1.0.6</a:t>
            </a:r>
            <a:r>
              <a:rPr kumimoji="1" lang="zh-CN" altLang="en-US" sz="1200" b="1" dirty="0">
                <a:latin typeface="微软雅黑" pitchFamily="34" charset="-122"/>
                <a:ea typeface="微软雅黑" pitchFamily="34" charset="-122"/>
              </a:rPr>
              <a:t>，</a:t>
            </a:r>
            <a:endParaRPr kumimoji="1" lang="en-US" altLang="zh-CN" sz="1200" b="1" dirty="0">
              <a:latin typeface="微软雅黑" pitchFamily="34" charset="-122"/>
              <a:ea typeface="微软雅黑" pitchFamily="34" charset="-122"/>
            </a:endParaRPr>
          </a:p>
          <a:p>
            <a:r>
              <a:rPr kumimoji="1" lang="zh-CN" altLang="en-US" sz="1200" b="1" dirty="0">
                <a:latin typeface="微软雅黑" pitchFamily="34" charset="-122"/>
                <a:ea typeface="微软雅黑" pitchFamily="34" charset="-122"/>
              </a:rPr>
              <a:t>硬件地址是 </a:t>
            </a:r>
            <a:r>
              <a:rPr kumimoji="1" lang="en-US" altLang="zh-CN" sz="1200" b="1" dirty="0">
                <a:latin typeface="微软雅黑" pitchFamily="34" charset="-122"/>
                <a:ea typeface="微软雅黑" pitchFamily="34" charset="-122"/>
              </a:rPr>
              <a:t>08-00-2B-00-EE-0A</a:t>
            </a:r>
            <a:r>
              <a:rPr kumimoji="1" lang="zh-CN" altLang="en-US" sz="1200" b="1" dirty="0">
                <a:latin typeface="微软雅黑" pitchFamily="34" charset="-122"/>
                <a:ea typeface="微软雅黑" pitchFamily="34" charset="-122"/>
              </a:rPr>
              <a:t>。</a:t>
            </a:r>
            <a:endParaRPr kumimoji="1" lang="en-US" altLang="zh-CN" sz="1200" b="1" dirty="0">
              <a:latin typeface="微软雅黑" pitchFamily="34" charset="-122"/>
              <a:ea typeface="微软雅黑" pitchFamily="34" charset="-122"/>
            </a:endParaRPr>
          </a:p>
        </p:txBody>
      </p:sp>
      <p:sp>
        <p:nvSpPr>
          <p:cNvPr id="26" name="Text Box 108"/>
          <p:cNvSpPr txBox="1">
            <a:spLocks noChangeArrowheads="1"/>
          </p:cNvSpPr>
          <p:nvPr/>
        </p:nvSpPr>
        <p:spPr bwMode="auto">
          <a:xfrm>
            <a:off x="1019330" y="3325832"/>
            <a:ext cx="7075357" cy="1006429"/>
          </a:xfrm>
          <a:prstGeom prst="rect">
            <a:avLst/>
          </a:prstGeom>
          <a:solidFill>
            <a:srgbClr val="0000CC"/>
          </a:solidFill>
          <a:ln w="9525">
            <a:solidFill>
              <a:srgbClr val="333399"/>
            </a:solidFill>
            <a:miter lim="800000"/>
            <a:headEnd/>
            <a:tailEnd/>
          </a:ln>
          <a:effectLst/>
        </p:spPr>
        <p:txBody>
          <a:bodyPr wrap="square">
            <a:spAutoFit/>
          </a:bodyPr>
          <a:lstStyle/>
          <a:p>
            <a:pPr algn="ctr">
              <a:lnSpc>
                <a:spcPct val="110000"/>
              </a:lnSpc>
            </a:pPr>
            <a:r>
              <a:rPr lang="zh-CN" altLang="en-US" b="1" dirty="0">
                <a:solidFill>
                  <a:schemeClr val="bg1"/>
                </a:solidFill>
                <a:latin typeface="微软雅黑" pitchFamily="34" charset="-122"/>
                <a:ea typeface="微软雅黑" pitchFamily="34" charset="-122"/>
              </a:rPr>
              <a:t>通信的路径：</a:t>
            </a:r>
            <a:r>
              <a:rPr lang="en-US" altLang="zh-CN" b="1" dirty="0">
                <a:solidFill>
                  <a:schemeClr val="bg1"/>
                </a:solidFill>
                <a:latin typeface="微软雅黑" pitchFamily="34" charset="-122"/>
                <a:ea typeface="微软雅黑" pitchFamily="34" charset="-122"/>
              </a:rPr>
              <a:t>A → </a:t>
            </a:r>
            <a:r>
              <a:rPr lang="zh-CN" altLang="en-US" b="1" dirty="0">
                <a:solidFill>
                  <a:schemeClr val="bg1"/>
                </a:solidFill>
                <a:latin typeface="微软雅黑" pitchFamily="34" charset="-122"/>
                <a:ea typeface="微软雅黑" pitchFamily="34" charset="-122"/>
              </a:rPr>
              <a:t>经过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 </a:t>
            </a:r>
            <a:r>
              <a:rPr lang="zh-CN" altLang="en-US" b="1" dirty="0">
                <a:solidFill>
                  <a:schemeClr val="bg1"/>
                </a:solidFill>
                <a:latin typeface="微软雅黑" pitchFamily="34" charset="-122"/>
                <a:ea typeface="微软雅黑" pitchFamily="34" charset="-122"/>
              </a:rPr>
              <a:t>转发 → </a:t>
            </a:r>
            <a:r>
              <a:rPr lang="en-US" altLang="zh-CN" b="1" dirty="0">
                <a:solidFill>
                  <a:schemeClr val="bg1"/>
                </a:solidFill>
                <a:latin typeface="微软雅黑" pitchFamily="34" charset="-122"/>
                <a:ea typeface="微软雅黑" pitchFamily="34" charset="-122"/>
              </a:rPr>
              <a:t>B</a:t>
            </a:r>
            <a:r>
              <a:rPr lang="zh-CN" altLang="en-US" b="1" dirty="0">
                <a:solidFill>
                  <a:schemeClr val="bg1"/>
                </a:solidFill>
                <a:latin typeface="微软雅黑" pitchFamily="34" charset="-122"/>
                <a:ea typeface="微软雅黑" pitchFamily="34" charset="-122"/>
              </a:rPr>
              <a:t>。</a:t>
            </a:r>
            <a:endParaRPr lang="en-US" altLang="zh-CN" b="1" dirty="0">
              <a:solidFill>
                <a:schemeClr val="bg1"/>
              </a:solidFill>
              <a:latin typeface="微软雅黑" pitchFamily="34" charset="-122"/>
              <a:ea typeface="微软雅黑" pitchFamily="34" charset="-122"/>
            </a:endParaRPr>
          </a:p>
          <a:p>
            <a:pPr algn="ctr">
              <a:lnSpc>
                <a:spcPct val="110000"/>
              </a:lnSpc>
            </a:pPr>
            <a:r>
              <a:rPr lang="zh-CN" altLang="en-US" b="1" dirty="0">
                <a:solidFill>
                  <a:schemeClr val="bg1"/>
                </a:solidFill>
                <a:latin typeface="微软雅黑" pitchFamily="34" charset="-122"/>
                <a:ea typeface="微软雅黑" pitchFamily="34" charset="-122"/>
              </a:rPr>
              <a:t>因此主机 </a:t>
            </a:r>
            <a:r>
              <a:rPr lang="en-US" altLang="zh-CN" b="1" dirty="0">
                <a:solidFill>
                  <a:schemeClr val="bg1"/>
                </a:solidFill>
                <a:latin typeface="微软雅黑" pitchFamily="34" charset="-122"/>
                <a:ea typeface="微软雅黑" pitchFamily="34" charset="-122"/>
              </a:rPr>
              <a:t>A </a:t>
            </a:r>
            <a:r>
              <a:rPr lang="zh-CN" altLang="en-US" b="1" dirty="0">
                <a:solidFill>
                  <a:schemeClr val="bg1"/>
                </a:solidFill>
                <a:latin typeface="微软雅黑" pitchFamily="34" charset="-122"/>
                <a:ea typeface="微软雅黑" pitchFamily="34" charset="-122"/>
              </a:rPr>
              <a:t>必须知道路由器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a:t>
            </a:r>
            <a:r>
              <a:rPr lang="en-US" altLang="zh-CN" b="1" dirty="0">
                <a:solidFill>
                  <a:schemeClr val="bg1"/>
                </a:solidFill>
                <a:latin typeface="微软雅黑" pitchFamily="34" charset="-122"/>
                <a:ea typeface="微软雅黑" pitchFamily="34" charset="-122"/>
              </a:rPr>
              <a:t> </a:t>
            </a:r>
            <a:r>
              <a:rPr lang="zh-CN" altLang="en-US" b="1" dirty="0">
                <a:solidFill>
                  <a:schemeClr val="bg1"/>
                </a:solidFill>
                <a:latin typeface="微软雅黑" pitchFamily="34" charset="-122"/>
                <a:ea typeface="微软雅黑" pitchFamily="34" charset="-122"/>
              </a:rPr>
              <a:t>的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地址，解析出其 </a:t>
            </a:r>
            <a:r>
              <a:rPr lang="en-US" altLang="zh-CN" b="1" dirty="0">
                <a:solidFill>
                  <a:schemeClr val="bg1"/>
                </a:solidFill>
                <a:latin typeface="微软雅黑" pitchFamily="34" charset="-122"/>
                <a:ea typeface="微软雅黑" pitchFamily="34" charset="-122"/>
              </a:rPr>
              <a:t>MAC </a:t>
            </a:r>
            <a:r>
              <a:rPr lang="zh-CN" altLang="en-US" b="1" dirty="0">
                <a:solidFill>
                  <a:schemeClr val="bg1"/>
                </a:solidFill>
                <a:latin typeface="微软雅黑" pitchFamily="34" charset="-122"/>
                <a:ea typeface="微软雅黑" pitchFamily="34" charset="-122"/>
              </a:rPr>
              <a:t>地址。然后把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数据报传送到路由器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a:t>
            </a:r>
            <a:r>
              <a:rPr lang="zh-CN" altLang="en-US" b="1" dirty="0">
                <a:solidFill>
                  <a:schemeClr val="bg1"/>
                </a:solidFill>
                <a:latin typeface="微软雅黑" pitchFamily="34" charset="-122"/>
                <a:ea typeface="微软雅黑" pitchFamily="34" charset="-122"/>
              </a:rPr>
              <a:t>。</a:t>
            </a:r>
          </a:p>
        </p:txBody>
      </p:sp>
    </p:spTree>
    <p:extLst>
      <p:ext uri="{BB962C8B-B14F-4D97-AF65-F5344CB8AC3E}">
        <p14:creationId xmlns:p14="http://schemas.microsoft.com/office/powerpoint/2010/main" val="339948408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with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wipe(right)">
                                      <p:cBhvr>
                                        <p:cTn id="7" dur="1000"/>
                                        <p:tgtEl>
                                          <p:spTgt spid="28"/>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2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26" grpId="0" animBg="1"/>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66646"/>
            <a:ext cx="8048776" cy="217457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59748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949333" y="564275"/>
            <a:ext cx="32640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使用 </a:t>
            </a:r>
            <a:r>
              <a:rPr lang="en-US" altLang="zh-CN" sz="2000" b="1" dirty="0">
                <a:solidFill>
                  <a:schemeClr val="bg1"/>
                </a:solidFill>
                <a:latin typeface="微软雅黑" pitchFamily="34" charset="-122"/>
                <a:ea typeface="微软雅黑" pitchFamily="34" charset="-122"/>
              </a:rPr>
              <a:t>ARP </a:t>
            </a:r>
            <a:r>
              <a:rPr lang="zh-CN" altLang="en-US" sz="2000" b="1" dirty="0">
                <a:solidFill>
                  <a:schemeClr val="bg1"/>
                </a:solidFill>
                <a:latin typeface="微软雅黑" pitchFamily="34" charset="-122"/>
                <a:ea typeface="微软雅黑" pitchFamily="34" charset="-122"/>
              </a:rPr>
              <a:t>的四种典型情况</a:t>
            </a:r>
          </a:p>
        </p:txBody>
      </p:sp>
      <p:grpSp>
        <p:nvGrpSpPr>
          <p:cNvPr id="9" name="Group 244"/>
          <p:cNvGrpSpPr>
            <a:grpSpLocks/>
          </p:cNvGrpSpPr>
          <p:nvPr/>
        </p:nvGrpSpPr>
        <p:grpSpPr bwMode="auto">
          <a:xfrm>
            <a:off x="1096004" y="1622372"/>
            <a:ext cx="1359990" cy="1055356"/>
            <a:chOff x="912" y="768"/>
            <a:chExt cx="2400" cy="1584"/>
          </a:xfrm>
          <a:solidFill>
            <a:schemeClr val="bg1"/>
          </a:solidFill>
        </p:grpSpPr>
        <p:sp>
          <p:nvSpPr>
            <p:cNvPr id="70" name="Oval 245"/>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1" name="Oval 246"/>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2" name="Oval 247"/>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3" name="Oval 248"/>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4" name="Oval 249"/>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5" name="Oval 250"/>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6" name="Oval 251"/>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7" name="Oval 252"/>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8" name="Oval 253"/>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79" name="Group 254"/>
            <p:cNvGrpSpPr>
              <a:grpSpLocks/>
            </p:cNvGrpSpPr>
            <p:nvPr/>
          </p:nvGrpSpPr>
          <p:grpSpPr bwMode="auto">
            <a:xfrm>
              <a:off x="912" y="768"/>
              <a:ext cx="2386" cy="1553"/>
              <a:chOff x="912" y="768"/>
              <a:chExt cx="2386" cy="1553"/>
            </a:xfrm>
            <a:grpFill/>
          </p:grpSpPr>
          <p:sp>
            <p:nvSpPr>
              <p:cNvPr id="80" name="Oval 255"/>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1" name="Oval 256"/>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2" name="Oval 257"/>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3" name="Oval 258"/>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4" name="Oval 259"/>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5" name="Oval 260"/>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6" name="Oval 261"/>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7" name="Oval 262"/>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8" name="Oval 263"/>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sp>
        <p:nvSpPr>
          <p:cNvPr id="10" name="Line 95"/>
          <p:cNvSpPr>
            <a:spLocks noChangeShapeType="1"/>
          </p:cNvSpPr>
          <p:nvPr/>
        </p:nvSpPr>
        <p:spPr bwMode="auto">
          <a:xfrm flipV="1">
            <a:off x="2455994" y="2105430"/>
            <a:ext cx="5310269" cy="1358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grpSp>
        <p:nvGrpSpPr>
          <p:cNvPr id="11" name="Group 284"/>
          <p:cNvGrpSpPr>
            <a:grpSpLocks/>
          </p:cNvGrpSpPr>
          <p:nvPr/>
        </p:nvGrpSpPr>
        <p:grpSpPr bwMode="auto">
          <a:xfrm>
            <a:off x="6732250" y="1653412"/>
            <a:ext cx="1359990" cy="1055356"/>
            <a:chOff x="912" y="768"/>
            <a:chExt cx="2400" cy="1584"/>
          </a:xfrm>
          <a:solidFill>
            <a:schemeClr val="bg1"/>
          </a:solidFill>
        </p:grpSpPr>
        <p:sp>
          <p:nvSpPr>
            <p:cNvPr id="51" name="Oval 285"/>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2" name="Oval 286"/>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3" name="Oval 287"/>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4" name="Oval 288"/>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5" name="Oval 289"/>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6" name="Oval 290"/>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7" name="Oval 291"/>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8" name="Oval 292"/>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9" name="Oval 293"/>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60" name="Group 294"/>
            <p:cNvGrpSpPr>
              <a:grpSpLocks/>
            </p:cNvGrpSpPr>
            <p:nvPr/>
          </p:nvGrpSpPr>
          <p:grpSpPr bwMode="auto">
            <a:xfrm>
              <a:off x="912" y="768"/>
              <a:ext cx="2386" cy="1553"/>
              <a:chOff x="912" y="768"/>
              <a:chExt cx="2386" cy="1553"/>
            </a:xfrm>
            <a:grpFill/>
          </p:grpSpPr>
          <p:sp>
            <p:nvSpPr>
              <p:cNvPr id="61" name="Oval 295"/>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2" name="Oval 296"/>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3" name="Oval 297"/>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4" name="Oval 298"/>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5" name="Oval 299"/>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6" name="Oval 300"/>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7" name="Oval 301"/>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8" name="Oval 302"/>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9" name="Oval 303"/>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grpSp>
        <p:nvGrpSpPr>
          <p:cNvPr id="12" name="Group 264"/>
          <p:cNvGrpSpPr>
            <a:grpSpLocks/>
          </p:cNvGrpSpPr>
          <p:nvPr/>
        </p:nvGrpSpPr>
        <p:grpSpPr bwMode="auto">
          <a:xfrm>
            <a:off x="3956189" y="1622372"/>
            <a:ext cx="1359990" cy="1055356"/>
            <a:chOff x="912" y="768"/>
            <a:chExt cx="2400" cy="1584"/>
          </a:xfrm>
          <a:solidFill>
            <a:schemeClr val="bg1"/>
          </a:solidFill>
        </p:grpSpPr>
        <p:sp>
          <p:nvSpPr>
            <p:cNvPr id="32" name="Oval 265"/>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3" name="Oval 266"/>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4" name="Oval 267"/>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5" name="Oval 268"/>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6" name="Oval 269"/>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7" name="Oval 270"/>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8" name="Oval 271"/>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9" name="Oval 272"/>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0" name="Oval 273"/>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41" name="Group 274"/>
            <p:cNvGrpSpPr>
              <a:grpSpLocks/>
            </p:cNvGrpSpPr>
            <p:nvPr/>
          </p:nvGrpSpPr>
          <p:grpSpPr bwMode="auto">
            <a:xfrm>
              <a:off x="912" y="768"/>
              <a:ext cx="2386" cy="1553"/>
              <a:chOff x="912" y="768"/>
              <a:chExt cx="2386" cy="1553"/>
            </a:xfrm>
            <a:grpFill/>
          </p:grpSpPr>
          <p:sp>
            <p:nvSpPr>
              <p:cNvPr id="42" name="Oval 275"/>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3" name="Oval 276"/>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4" name="Oval 277"/>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5" name="Oval 278"/>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6" name="Oval 279"/>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7" name="Oval 280"/>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8" name="Oval 281"/>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9" name="Oval 282"/>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0" name="Oval 283"/>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sp>
        <p:nvSpPr>
          <p:cNvPr id="13" name="Text Box 96"/>
          <p:cNvSpPr txBox="1">
            <a:spLocks noChangeArrowheads="1"/>
          </p:cNvSpPr>
          <p:nvPr/>
        </p:nvSpPr>
        <p:spPr bwMode="auto">
          <a:xfrm>
            <a:off x="1477325" y="2012481"/>
            <a:ext cx="577401"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1</a:t>
            </a:r>
          </a:p>
        </p:txBody>
      </p:sp>
      <p:sp>
        <p:nvSpPr>
          <p:cNvPr id="14" name="Text Box 98"/>
          <p:cNvSpPr txBox="1">
            <a:spLocks noChangeArrowheads="1"/>
          </p:cNvSpPr>
          <p:nvPr/>
        </p:nvSpPr>
        <p:spPr bwMode="auto">
          <a:xfrm>
            <a:off x="7138646" y="1984263"/>
            <a:ext cx="57740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3</a:t>
            </a:r>
          </a:p>
        </p:txBody>
      </p:sp>
      <p:sp>
        <p:nvSpPr>
          <p:cNvPr id="15" name="Text Box 99"/>
          <p:cNvSpPr txBox="1">
            <a:spLocks noChangeArrowheads="1"/>
          </p:cNvSpPr>
          <p:nvPr/>
        </p:nvSpPr>
        <p:spPr bwMode="auto">
          <a:xfrm>
            <a:off x="4355574" y="1984263"/>
            <a:ext cx="57740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2</a:t>
            </a:r>
          </a:p>
        </p:txBody>
      </p:sp>
      <p:pic>
        <p:nvPicPr>
          <p:cNvPr id="16" name="Picture 23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876609" y="1909491"/>
            <a:ext cx="767623" cy="4229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 name="Text Box 235"/>
          <p:cNvSpPr txBox="1">
            <a:spLocks noChangeArrowheads="1"/>
          </p:cNvSpPr>
          <p:nvPr/>
        </p:nvSpPr>
        <p:spPr bwMode="auto">
          <a:xfrm>
            <a:off x="5913803" y="1484632"/>
            <a:ext cx="41229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a:solidFill>
                  <a:srgbClr val="0000FF"/>
                </a:solidFill>
                <a:latin typeface="微软雅黑" pitchFamily="34" charset="-122"/>
                <a:ea typeface="微软雅黑" pitchFamily="34" charset="-122"/>
              </a:rPr>
              <a:t>R</a:t>
            </a:r>
            <a:r>
              <a:rPr lang="en-US" altLang="zh-CN" sz="1600" b="1" baseline="-25000">
                <a:solidFill>
                  <a:srgbClr val="0000FF"/>
                </a:solidFill>
                <a:latin typeface="微软雅黑" pitchFamily="34" charset="-122"/>
                <a:ea typeface="微软雅黑" pitchFamily="34" charset="-122"/>
              </a:rPr>
              <a:t>2</a:t>
            </a:r>
            <a:endParaRPr lang="en-US" altLang="zh-CN" sz="1600" b="1">
              <a:solidFill>
                <a:srgbClr val="0000FF"/>
              </a:solidFill>
              <a:latin typeface="微软雅黑" pitchFamily="34" charset="-122"/>
              <a:ea typeface="微软雅黑" pitchFamily="34" charset="-122"/>
            </a:endParaRPr>
          </a:p>
        </p:txBody>
      </p:sp>
      <p:sp>
        <p:nvSpPr>
          <p:cNvPr id="18" name="Text Box 237"/>
          <p:cNvSpPr txBox="1">
            <a:spLocks noChangeArrowheads="1"/>
          </p:cNvSpPr>
          <p:nvPr/>
        </p:nvSpPr>
        <p:spPr bwMode="auto">
          <a:xfrm>
            <a:off x="2988773" y="1496272"/>
            <a:ext cx="41229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R</a:t>
            </a:r>
            <a:r>
              <a:rPr lang="en-US" altLang="zh-CN" sz="1600" b="1" baseline="-25000" dirty="0">
                <a:solidFill>
                  <a:srgbClr val="0000FF"/>
                </a:solidFill>
                <a:latin typeface="微软雅黑" pitchFamily="34" charset="-122"/>
                <a:ea typeface="微软雅黑" pitchFamily="34" charset="-122"/>
              </a:rPr>
              <a:t>1</a:t>
            </a:r>
            <a:endParaRPr lang="en-US" altLang="zh-CN" sz="1600" b="1" dirty="0">
              <a:solidFill>
                <a:srgbClr val="0000FF"/>
              </a:solidFill>
              <a:latin typeface="微软雅黑" pitchFamily="34" charset="-122"/>
              <a:ea typeface="微软雅黑" pitchFamily="34" charset="-122"/>
            </a:endParaRPr>
          </a:p>
        </p:txBody>
      </p:sp>
      <p:sp>
        <p:nvSpPr>
          <p:cNvPr id="19" name="Text Box 325"/>
          <p:cNvSpPr txBox="1">
            <a:spLocks noChangeArrowheads="1"/>
          </p:cNvSpPr>
          <p:nvPr/>
        </p:nvSpPr>
        <p:spPr bwMode="auto">
          <a:xfrm>
            <a:off x="611539" y="1496387"/>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1</a:t>
            </a:r>
          </a:p>
        </p:txBody>
      </p:sp>
      <p:pic>
        <p:nvPicPr>
          <p:cNvPr id="20" name="Picture 32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89475" y="1882331"/>
            <a:ext cx="767623" cy="4229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1" name="Oval 333"/>
          <p:cNvSpPr>
            <a:spLocks noChangeArrowheads="1"/>
          </p:cNvSpPr>
          <p:nvPr/>
        </p:nvSpPr>
        <p:spPr bwMode="auto">
          <a:xfrm>
            <a:off x="3759902" y="2070510"/>
            <a:ext cx="78866" cy="87300"/>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2" name="Oval 335"/>
          <p:cNvSpPr>
            <a:spLocks noChangeArrowheads="1"/>
          </p:cNvSpPr>
          <p:nvPr/>
        </p:nvSpPr>
        <p:spPr bwMode="auto">
          <a:xfrm>
            <a:off x="2580427" y="208021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3" name="Oval 337"/>
          <p:cNvSpPr>
            <a:spLocks noChangeArrowheads="1"/>
          </p:cNvSpPr>
          <p:nvPr/>
        </p:nvSpPr>
        <p:spPr bwMode="auto">
          <a:xfrm>
            <a:off x="6621839" y="208409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4" name="Oval 338"/>
          <p:cNvSpPr>
            <a:spLocks noChangeArrowheads="1"/>
          </p:cNvSpPr>
          <p:nvPr/>
        </p:nvSpPr>
        <p:spPr bwMode="auto">
          <a:xfrm>
            <a:off x="5524734" y="208021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9" name="Text Box 351"/>
          <p:cNvSpPr txBox="1">
            <a:spLocks noChangeArrowheads="1"/>
          </p:cNvSpPr>
          <p:nvPr/>
        </p:nvSpPr>
        <p:spPr bwMode="auto">
          <a:xfrm>
            <a:off x="909703" y="2489235"/>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2</a:t>
            </a:r>
          </a:p>
        </p:txBody>
      </p:sp>
      <p:sp>
        <p:nvSpPr>
          <p:cNvPr id="30" name="Text Box 352"/>
          <p:cNvSpPr txBox="1">
            <a:spLocks noChangeArrowheads="1"/>
          </p:cNvSpPr>
          <p:nvPr/>
        </p:nvSpPr>
        <p:spPr bwMode="auto">
          <a:xfrm>
            <a:off x="4435361" y="1242896"/>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3</a:t>
            </a:r>
          </a:p>
        </p:txBody>
      </p:sp>
      <p:sp>
        <p:nvSpPr>
          <p:cNvPr id="31" name="Text Box 353"/>
          <p:cNvSpPr txBox="1">
            <a:spLocks noChangeArrowheads="1"/>
          </p:cNvSpPr>
          <p:nvPr/>
        </p:nvSpPr>
        <p:spPr bwMode="auto">
          <a:xfrm>
            <a:off x="7295321" y="1236791"/>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4</a:t>
            </a:r>
          </a:p>
        </p:txBody>
      </p:sp>
      <p:pic>
        <p:nvPicPr>
          <p:cNvPr id="89"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67305" y="1498495"/>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90"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312590" y="2456644"/>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91"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68974" y="1333091"/>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92"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49294" y="1333091"/>
            <a:ext cx="615163" cy="615163"/>
          </a:xfrm>
          <a:prstGeom prst="rect">
            <a:avLst/>
          </a:prstGeom>
          <a:noFill/>
          <a:extLst>
            <a:ext uri="{909E8E84-426E-40DD-AFC4-6F175D3DCCD1}">
              <a14:hiddenFill xmlns:a14="http://schemas.microsoft.com/office/drawing/2010/main">
                <a:solidFill>
                  <a:srgbClr val="FFFFFF"/>
                </a:solidFill>
              </a14:hiddenFill>
            </a:ext>
          </a:extLst>
        </p:spPr>
      </p:pic>
      <p:sp>
        <p:nvSpPr>
          <p:cNvPr id="2" name="矩形 1"/>
          <p:cNvSpPr/>
          <p:nvPr/>
        </p:nvSpPr>
        <p:spPr>
          <a:xfrm>
            <a:off x="1134099" y="3241221"/>
            <a:ext cx="7012669" cy="810478"/>
          </a:xfrm>
          <a:prstGeom prst="rect">
            <a:avLst/>
          </a:prstGeom>
        </p:spPr>
        <p:txBody>
          <a:bodyPr wrap="square">
            <a:spAutoFit/>
          </a:bodyPr>
          <a:lstStyle/>
          <a:p>
            <a:pPr marL="342900" indent="-342900">
              <a:lnSpc>
                <a:spcPts val="2800"/>
              </a:lnSpc>
              <a:buClr>
                <a:srgbClr val="990099"/>
              </a:buClr>
              <a:buFont typeface="+mj-lt"/>
              <a:buAutoNum type="arabicPeriod"/>
            </a:pPr>
            <a:r>
              <a:rPr lang="zh-CN" altLang="en-US" b="1" dirty="0">
                <a:latin typeface="微软雅黑" pitchFamily="34" charset="-122"/>
                <a:ea typeface="微软雅黑" pitchFamily="34" charset="-122"/>
              </a:rPr>
              <a:t>发送方是</a:t>
            </a:r>
            <a:r>
              <a:rPr lang="zh-CN" altLang="en-US" b="1" dirty="0">
                <a:solidFill>
                  <a:srgbClr val="C00000"/>
                </a:solidFill>
                <a:latin typeface="微软雅黑" pitchFamily="34" charset="-122"/>
                <a:ea typeface="微软雅黑" pitchFamily="34" charset="-122"/>
              </a:rPr>
              <a:t>主机，</a:t>
            </a:r>
            <a:r>
              <a:rPr lang="zh-CN" altLang="en-US" b="1" dirty="0">
                <a:latin typeface="微软雅黑" pitchFamily="34" charset="-122"/>
                <a:ea typeface="微软雅黑" pitchFamily="34" charset="-122"/>
              </a:rPr>
              <a:t>要把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数据报发送到</a:t>
            </a:r>
            <a:r>
              <a:rPr lang="zh-CN" altLang="en-US" b="1" dirty="0">
                <a:solidFill>
                  <a:srgbClr val="C00000"/>
                </a:solidFill>
                <a:latin typeface="微软雅黑" pitchFamily="34" charset="-122"/>
                <a:ea typeface="微软雅黑" pitchFamily="34" charset="-122"/>
              </a:rPr>
              <a:t>本网络上的另一个主机</a:t>
            </a:r>
            <a:r>
              <a:rPr lang="zh-CN" altLang="en-US" b="1" dirty="0">
                <a:latin typeface="微软雅黑" pitchFamily="34" charset="-122"/>
                <a:ea typeface="微软雅黑" pitchFamily="34" charset="-122"/>
              </a:rPr>
              <a:t>。这时用 </a:t>
            </a:r>
            <a:r>
              <a:rPr lang="en-US" altLang="zh-CN" b="1" dirty="0">
                <a:latin typeface="微软雅黑" pitchFamily="34" charset="-122"/>
                <a:ea typeface="微软雅黑" pitchFamily="34" charset="-122"/>
              </a:rPr>
              <a:t>ARP </a:t>
            </a:r>
            <a:r>
              <a:rPr lang="zh-CN" altLang="en-US" b="1" dirty="0">
                <a:latin typeface="微软雅黑" pitchFamily="34" charset="-122"/>
                <a:ea typeface="微软雅黑" pitchFamily="34" charset="-122"/>
              </a:rPr>
              <a:t>找到目的主机的硬件地址。 </a:t>
            </a:r>
          </a:p>
        </p:txBody>
      </p:sp>
    </p:spTree>
    <p:extLst>
      <p:ext uri="{BB962C8B-B14F-4D97-AF65-F5344CB8AC3E}">
        <p14:creationId xmlns:p14="http://schemas.microsoft.com/office/powerpoint/2010/main" val="298911386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66646"/>
            <a:ext cx="8048776" cy="217457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59748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949333" y="564275"/>
            <a:ext cx="32640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使用 </a:t>
            </a:r>
            <a:r>
              <a:rPr lang="en-US" altLang="zh-CN" sz="2000" b="1" dirty="0">
                <a:solidFill>
                  <a:schemeClr val="bg1"/>
                </a:solidFill>
                <a:latin typeface="微软雅黑" pitchFamily="34" charset="-122"/>
                <a:ea typeface="微软雅黑" pitchFamily="34" charset="-122"/>
              </a:rPr>
              <a:t>ARP </a:t>
            </a:r>
            <a:r>
              <a:rPr lang="zh-CN" altLang="en-US" sz="2000" b="1" dirty="0">
                <a:solidFill>
                  <a:schemeClr val="bg1"/>
                </a:solidFill>
                <a:latin typeface="微软雅黑" pitchFamily="34" charset="-122"/>
                <a:ea typeface="微软雅黑" pitchFamily="34" charset="-122"/>
              </a:rPr>
              <a:t>的四种典型情况</a:t>
            </a:r>
          </a:p>
        </p:txBody>
      </p:sp>
      <p:grpSp>
        <p:nvGrpSpPr>
          <p:cNvPr id="9" name="Group 244"/>
          <p:cNvGrpSpPr>
            <a:grpSpLocks/>
          </p:cNvGrpSpPr>
          <p:nvPr/>
        </p:nvGrpSpPr>
        <p:grpSpPr bwMode="auto">
          <a:xfrm>
            <a:off x="1096004" y="1622372"/>
            <a:ext cx="1359990" cy="1055356"/>
            <a:chOff x="912" y="768"/>
            <a:chExt cx="2400" cy="1584"/>
          </a:xfrm>
          <a:solidFill>
            <a:schemeClr val="bg1"/>
          </a:solidFill>
        </p:grpSpPr>
        <p:sp>
          <p:nvSpPr>
            <p:cNvPr id="70" name="Oval 245"/>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1" name="Oval 246"/>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2" name="Oval 247"/>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3" name="Oval 248"/>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4" name="Oval 249"/>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5" name="Oval 250"/>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6" name="Oval 251"/>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7" name="Oval 252"/>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8" name="Oval 253"/>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79" name="Group 254"/>
            <p:cNvGrpSpPr>
              <a:grpSpLocks/>
            </p:cNvGrpSpPr>
            <p:nvPr/>
          </p:nvGrpSpPr>
          <p:grpSpPr bwMode="auto">
            <a:xfrm>
              <a:off x="912" y="768"/>
              <a:ext cx="2386" cy="1553"/>
              <a:chOff x="912" y="768"/>
              <a:chExt cx="2386" cy="1553"/>
            </a:xfrm>
            <a:grpFill/>
          </p:grpSpPr>
          <p:sp>
            <p:nvSpPr>
              <p:cNvPr id="80" name="Oval 255"/>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1" name="Oval 256"/>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2" name="Oval 257"/>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3" name="Oval 258"/>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4" name="Oval 259"/>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5" name="Oval 260"/>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6" name="Oval 261"/>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7" name="Oval 262"/>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8" name="Oval 263"/>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sp>
        <p:nvSpPr>
          <p:cNvPr id="10" name="Line 95"/>
          <p:cNvSpPr>
            <a:spLocks noChangeShapeType="1"/>
          </p:cNvSpPr>
          <p:nvPr/>
        </p:nvSpPr>
        <p:spPr bwMode="auto">
          <a:xfrm flipV="1">
            <a:off x="2455994" y="2105430"/>
            <a:ext cx="5310269" cy="1358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grpSp>
        <p:nvGrpSpPr>
          <p:cNvPr id="11" name="Group 284"/>
          <p:cNvGrpSpPr>
            <a:grpSpLocks/>
          </p:cNvGrpSpPr>
          <p:nvPr/>
        </p:nvGrpSpPr>
        <p:grpSpPr bwMode="auto">
          <a:xfrm>
            <a:off x="6732250" y="1653412"/>
            <a:ext cx="1359990" cy="1055356"/>
            <a:chOff x="912" y="768"/>
            <a:chExt cx="2400" cy="1584"/>
          </a:xfrm>
          <a:solidFill>
            <a:schemeClr val="bg1"/>
          </a:solidFill>
        </p:grpSpPr>
        <p:sp>
          <p:nvSpPr>
            <p:cNvPr id="51" name="Oval 285"/>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2" name="Oval 286"/>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3" name="Oval 287"/>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4" name="Oval 288"/>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5" name="Oval 289"/>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6" name="Oval 290"/>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7" name="Oval 291"/>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8" name="Oval 292"/>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9" name="Oval 293"/>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60" name="Group 294"/>
            <p:cNvGrpSpPr>
              <a:grpSpLocks/>
            </p:cNvGrpSpPr>
            <p:nvPr/>
          </p:nvGrpSpPr>
          <p:grpSpPr bwMode="auto">
            <a:xfrm>
              <a:off x="912" y="768"/>
              <a:ext cx="2386" cy="1553"/>
              <a:chOff x="912" y="768"/>
              <a:chExt cx="2386" cy="1553"/>
            </a:xfrm>
            <a:grpFill/>
          </p:grpSpPr>
          <p:sp>
            <p:nvSpPr>
              <p:cNvPr id="61" name="Oval 295"/>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2" name="Oval 296"/>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3" name="Oval 297"/>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4" name="Oval 298"/>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5" name="Oval 299"/>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6" name="Oval 300"/>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7" name="Oval 301"/>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8" name="Oval 302"/>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9" name="Oval 303"/>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grpSp>
        <p:nvGrpSpPr>
          <p:cNvPr id="12" name="Group 264"/>
          <p:cNvGrpSpPr>
            <a:grpSpLocks/>
          </p:cNvGrpSpPr>
          <p:nvPr/>
        </p:nvGrpSpPr>
        <p:grpSpPr bwMode="auto">
          <a:xfrm>
            <a:off x="3956189" y="1622372"/>
            <a:ext cx="1359990" cy="1055356"/>
            <a:chOff x="912" y="768"/>
            <a:chExt cx="2400" cy="1584"/>
          </a:xfrm>
          <a:solidFill>
            <a:schemeClr val="bg1"/>
          </a:solidFill>
        </p:grpSpPr>
        <p:sp>
          <p:nvSpPr>
            <p:cNvPr id="32" name="Oval 265"/>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3" name="Oval 266"/>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4" name="Oval 267"/>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5" name="Oval 268"/>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6" name="Oval 269"/>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7" name="Oval 270"/>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8" name="Oval 271"/>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9" name="Oval 272"/>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0" name="Oval 273"/>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41" name="Group 274"/>
            <p:cNvGrpSpPr>
              <a:grpSpLocks/>
            </p:cNvGrpSpPr>
            <p:nvPr/>
          </p:nvGrpSpPr>
          <p:grpSpPr bwMode="auto">
            <a:xfrm>
              <a:off x="912" y="768"/>
              <a:ext cx="2386" cy="1553"/>
              <a:chOff x="912" y="768"/>
              <a:chExt cx="2386" cy="1553"/>
            </a:xfrm>
            <a:grpFill/>
          </p:grpSpPr>
          <p:sp>
            <p:nvSpPr>
              <p:cNvPr id="42" name="Oval 275"/>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3" name="Oval 276"/>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4" name="Oval 277"/>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5" name="Oval 278"/>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6" name="Oval 279"/>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7" name="Oval 280"/>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8" name="Oval 281"/>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9" name="Oval 282"/>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0" name="Oval 283"/>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sp>
        <p:nvSpPr>
          <p:cNvPr id="13" name="Text Box 96"/>
          <p:cNvSpPr txBox="1">
            <a:spLocks noChangeArrowheads="1"/>
          </p:cNvSpPr>
          <p:nvPr/>
        </p:nvSpPr>
        <p:spPr bwMode="auto">
          <a:xfrm>
            <a:off x="1477325" y="2012481"/>
            <a:ext cx="577401"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1</a:t>
            </a:r>
          </a:p>
        </p:txBody>
      </p:sp>
      <p:sp>
        <p:nvSpPr>
          <p:cNvPr id="14" name="Text Box 98"/>
          <p:cNvSpPr txBox="1">
            <a:spLocks noChangeArrowheads="1"/>
          </p:cNvSpPr>
          <p:nvPr/>
        </p:nvSpPr>
        <p:spPr bwMode="auto">
          <a:xfrm>
            <a:off x="7138646" y="1984263"/>
            <a:ext cx="57740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3</a:t>
            </a:r>
          </a:p>
        </p:txBody>
      </p:sp>
      <p:sp>
        <p:nvSpPr>
          <p:cNvPr id="15" name="Text Box 99"/>
          <p:cNvSpPr txBox="1">
            <a:spLocks noChangeArrowheads="1"/>
          </p:cNvSpPr>
          <p:nvPr/>
        </p:nvSpPr>
        <p:spPr bwMode="auto">
          <a:xfrm>
            <a:off x="4355574" y="1984263"/>
            <a:ext cx="57740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2</a:t>
            </a:r>
          </a:p>
        </p:txBody>
      </p:sp>
      <p:pic>
        <p:nvPicPr>
          <p:cNvPr id="16" name="Picture 23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876609" y="1909491"/>
            <a:ext cx="767623" cy="4229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 name="Text Box 235"/>
          <p:cNvSpPr txBox="1">
            <a:spLocks noChangeArrowheads="1"/>
          </p:cNvSpPr>
          <p:nvPr/>
        </p:nvSpPr>
        <p:spPr bwMode="auto">
          <a:xfrm>
            <a:off x="5913803" y="1484632"/>
            <a:ext cx="41229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a:solidFill>
                  <a:srgbClr val="0000FF"/>
                </a:solidFill>
                <a:latin typeface="微软雅黑" pitchFamily="34" charset="-122"/>
                <a:ea typeface="微软雅黑" pitchFamily="34" charset="-122"/>
              </a:rPr>
              <a:t>R</a:t>
            </a:r>
            <a:r>
              <a:rPr lang="en-US" altLang="zh-CN" sz="1600" b="1" baseline="-25000">
                <a:solidFill>
                  <a:srgbClr val="0000FF"/>
                </a:solidFill>
                <a:latin typeface="微软雅黑" pitchFamily="34" charset="-122"/>
                <a:ea typeface="微软雅黑" pitchFamily="34" charset="-122"/>
              </a:rPr>
              <a:t>2</a:t>
            </a:r>
            <a:endParaRPr lang="en-US" altLang="zh-CN" sz="1600" b="1">
              <a:solidFill>
                <a:srgbClr val="0000FF"/>
              </a:solidFill>
              <a:latin typeface="微软雅黑" pitchFamily="34" charset="-122"/>
              <a:ea typeface="微软雅黑" pitchFamily="34" charset="-122"/>
            </a:endParaRPr>
          </a:p>
        </p:txBody>
      </p:sp>
      <p:sp>
        <p:nvSpPr>
          <p:cNvPr id="18" name="Text Box 237"/>
          <p:cNvSpPr txBox="1">
            <a:spLocks noChangeArrowheads="1"/>
          </p:cNvSpPr>
          <p:nvPr/>
        </p:nvSpPr>
        <p:spPr bwMode="auto">
          <a:xfrm>
            <a:off x="2988773" y="1496272"/>
            <a:ext cx="41229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R</a:t>
            </a:r>
            <a:r>
              <a:rPr lang="en-US" altLang="zh-CN" sz="1600" b="1" baseline="-25000" dirty="0">
                <a:solidFill>
                  <a:srgbClr val="0000FF"/>
                </a:solidFill>
                <a:latin typeface="微软雅黑" pitchFamily="34" charset="-122"/>
                <a:ea typeface="微软雅黑" pitchFamily="34" charset="-122"/>
              </a:rPr>
              <a:t>1</a:t>
            </a:r>
            <a:endParaRPr lang="en-US" altLang="zh-CN" sz="1600" b="1" dirty="0">
              <a:solidFill>
                <a:srgbClr val="0000FF"/>
              </a:solidFill>
              <a:latin typeface="微软雅黑" pitchFamily="34" charset="-122"/>
              <a:ea typeface="微软雅黑" pitchFamily="34" charset="-122"/>
            </a:endParaRPr>
          </a:p>
        </p:txBody>
      </p:sp>
      <p:sp>
        <p:nvSpPr>
          <p:cNvPr id="19" name="Text Box 325"/>
          <p:cNvSpPr txBox="1">
            <a:spLocks noChangeArrowheads="1"/>
          </p:cNvSpPr>
          <p:nvPr/>
        </p:nvSpPr>
        <p:spPr bwMode="auto">
          <a:xfrm>
            <a:off x="611539" y="1496387"/>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1</a:t>
            </a:r>
          </a:p>
        </p:txBody>
      </p:sp>
      <p:pic>
        <p:nvPicPr>
          <p:cNvPr id="20" name="Picture 32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89475" y="1882331"/>
            <a:ext cx="767623" cy="4229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1" name="Oval 333"/>
          <p:cNvSpPr>
            <a:spLocks noChangeArrowheads="1"/>
          </p:cNvSpPr>
          <p:nvPr/>
        </p:nvSpPr>
        <p:spPr bwMode="auto">
          <a:xfrm>
            <a:off x="3759902" y="2070510"/>
            <a:ext cx="78866" cy="87300"/>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2" name="Oval 335"/>
          <p:cNvSpPr>
            <a:spLocks noChangeArrowheads="1"/>
          </p:cNvSpPr>
          <p:nvPr/>
        </p:nvSpPr>
        <p:spPr bwMode="auto">
          <a:xfrm>
            <a:off x="2580427" y="208021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3" name="Oval 337"/>
          <p:cNvSpPr>
            <a:spLocks noChangeArrowheads="1"/>
          </p:cNvSpPr>
          <p:nvPr/>
        </p:nvSpPr>
        <p:spPr bwMode="auto">
          <a:xfrm>
            <a:off x="6621839" y="208409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4" name="Oval 338"/>
          <p:cNvSpPr>
            <a:spLocks noChangeArrowheads="1"/>
          </p:cNvSpPr>
          <p:nvPr/>
        </p:nvSpPr>
        <p:spPr bwMode="auto">
          <a:xfrm>
            <a:off x="5524734" y="208021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9" name="Text Box 351"/>
          <p:cNvSpPr txBox="1">
            <a:spLocks noChangeArrowheads="1"/>
          </p:cNvSpPr>
          <p:nvPr/>
        </p:nvSpPr>
        <p:spPr bwMode="auto">
          <a:xfrm>
            <a:off x="909703" y="2489235"/>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2</a:t>
            </a:r>
          </a:p>
        </p:txBody>
      </p:sp>
      <p:sp>
        <p:nvSpPr>
          <p:cNvPr id="30" name="Text Box 352"/>
          <p:cNvSpPr txBox="1">
            <a:spLocks noChangeArrowheads="1"/>
          </p:cNvSpPr>
          <p:nvPr/>
        </p:nvSpPr>
        <p:spPr bwMode="auto">
          <a:xfrm>
            <a:off x="4435361" y="1242896"/>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3</a:t>
            </a:r>
          </a:p>
        </p:txBody>
      </p:sp>
      <p:sp>
        <p:nvSpPr>
          <p:cNvPr id="31" name="Text Box 353"/>
          <p:cNvSpPr txBox="1">
            <a:spLocks noChangeArrowheads="1"/>
          </p:cNvSpPr>
          <p:nvPr/>
        </p:nvSpPr>
        <p:spPr bwMode="auto">
          <a:xfrm>
            <a:off x="7295321" y="1236791"/>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4</a:t>
            </a:r>
          </a:p>
        </p:txBody>
      </p:sp>
      <p:pic>
        <p:nvPicPr>
          <p:cNvPr id="89"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67305" y="1498495"/>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90"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312590" y="2456644"/>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91"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68974" y="1333091"/>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92"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49294" y="1333091"/>
            <a:ext cx="615163" cy="615163"/>
          </a:xfrm>
          <a:prstGeom prst="rect">
            <a:avLst/>
          </a:prstGeom>
          <a:noFill/>
          <a:extLst>
            <a:ext uri="{909E8E84-426E-40DD-AFC4-6F175D3DCCD1}">
              <a14:hiddenFill xmlns:a14="http://schemas.microsoft.com/office/drawing/2010/main">
                <a:solidFill>
                  <a:srgbClr val="FFFFFF"/>
                </a:solidFill>
              </a14:hiddenFill>
            </a:ext>
          </a:extLst>
        </p:spPr>
      </p:pic>
      <p:sp>
        <p:nvSpPr>
          <p:cNvPr id="2" name="矩形 1"/>
          <p:cNvSpPr/>
          <p:nvPr/>
        </p:nvSpPr>
        <p:spPr>
          <a:xfrm>
            <a:off x="1134099" y="3241221"/>
            <a:ext cx="7012669" cy="1140825"/>
          </a:xfrm>
          <a:prstGeom prst="rect">
            <a:avLst/>
          </a:prstGeom>
        </p:spPr>
        <p:txBody>
          <a:bodyPr wrap="square">
            <a:spAutoFit/>
          </a:bodyPr>
          <a:lstStyle/>
          <a:p>
            <a:pPr marL="342900" indent="-342900">
              <a:lnSpc>
                <a:spcPts val="2800"/>
              </a:lnSpc>
              <a:buClr>
                <a:srgbClr val="990099"/>
              </a:buClr>
              <a:buFont typeface="+mj-lt"/>
              <a:buAutoNum type="arabicPeriod" startAt="2"/>
            </a:pPr>
            <a:r>
              <a:rPr lang="zh-CN" altLang="en-US" b="1" dirty="0">
                <a:latin typeface="微软雅黑" pitchFamily="34" charset="-122"/>
                <a:ea typeface="微软雅黑" pitchFamily="34" charset="-122"/>
              </a:rPr>
              <a:t>发送方是</a:t>
            </a:r>
            <a:r>
              <a:rPr lang="zh-CN" altLang="en-US" b="1" dirty="0">
                <a:solidFill>
                  <a:srgbClr val="C00000"/>
                </a:solidFill>
                <a:latin typeface="微软雅黑" pitchFamily="34" charset="-122"/>
                <a:ea typeface="微软雅黑" pitchFamily="34" charset="-122"/>
              </a:rPr>
              <a:t>主机，</a:t>
            </a:r>
            <a:r>
              <a:rPr lang="zh-CN" altLang="en-US" b="1" dirty="0">
                <a:latin typeface="微软雅黑" pitchFamily="34" charset="-122"/>
                <a:ea typeface="微软雅黑" pitchFamily="34" charset="-122"/>
              </a:rPr>
              <a:t>要把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数据报发送到</a:t>
            </a:r>
            <a:r>
              <a:rPr lang="zh-CN" altLang="en-US" b="1" dirty="0">
                <a:solidFill>
                  <a:srgbClr val="C00000"/>
                </a:solidFill>
                <a:latin typeface="微软雅黑" pitchFamily="34" charset="-122"/>
                <a:ea typeface="微软雅黑" pitchFamily="34" charset="-122"/>
              </a:rPr>
              <a:t>另一个网络上的一个主机。</a:t>
            </a:r>
            <a:r>
              <a:rPr lang="zh-CN" altLang="en-US" b="1" dirty="0">
                <a:latin typeface="微软雅黑" pitchFamily="34" charset="-122"/>
                <a:ea typeface="微软雅黑" pitchFamily="34" charset="-122"/>
              </a:rPr>
              <a:t>这时用 </a:t>
            </a:r>
            <a:r>
              <a:rPr lang="en-US" altLang="zh-CN" b="1" dirty="0">
                <a:latin typeface="微软雅黑" pitchFamily="34" charset="-122"/>
                <a:ea typeface="微软雅黑" pitchFamily="34" charset="-122"/>
              </a:rPr>
              <a:t>ARP </a:t>
            </a:r>
            <a:r>
              <a:rPr lang="zh-CN" altLang="en-US" b="1" dirty="0">
                <a:latin typeface="微软雅黑" pitchFamily="34" charset="-122"/>
                <a:ea typeface="微软雅黑" pitchFamily="34" charset="-122"/>
              </a:rPr>
              <a:t>找到本网络上的一个路由器的硬件地址。剩下的工作由这个路由器来完成。 </a:t>
            </a:r>
          </a:p>
        </p:txBody>
      </p:sp>
    </p:spTree>
    <p:extLst>
      <p:ext uri="{BB962C8B-B14F-4D97-AF65-F5344CB8AC3E}">
        <p14:creationId xmlns:p14="http://schemas.microsoft.com/office/powerpoint/2010/main" val="282508952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66646"/>
            <a:ext cx="8048776" cy="217457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59748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949333" y="564275"/>
            <a:ext cx="32640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使用 </a:t>
            </a:r>
            <a:r>
              <a:rPr lang="en-US" altLang="zh-CN" sz="2000" b="1" dirty="0">
                <a:solidFill>
                  <a:schemeClr val="bg1"/>
                </a:solidFill>
                <a:latin typeface="微软雅黑" pitchFamily="34" charset="-122"/>
                <a:ea typeface="微软雅黑" pitchFamily="34" charset="-122"/>
              </a:rPr>
              <a:t>ARP </a:t>
            </a:r>
            <a:r>
              <a:rPr lang="zh-CN" altLang="en-US" sz="2000" b="1" dirty="0">
                <a:solidFill>
                  <a:schemeClr val="bg1"/>
                </a:solidFill>
                <a:latin typeface="微软雅黑" pitchFamily="34" charset="-122"/>
                <a:ea typeface="微软雅黑" pitchFamily="34" charset="-122"/>
              </a:rPr>
              <a:t>的四种典型情况</a:t>
            </a:r>
          </a:p>
        </p:txBody>
      </p:sp>
      <p:grpSp>
        <p:nvGrpSpPr>
          <p:cNvPr id="9" name="Group 244"/>
          <p:cNvGrpSpPr>
            <a:grpSpLocks/>
          </p:cNvGrpSpPr>
          <p:nvPr/>
        </p:nvGrpSpPr>
        <p:grpSpPr bwMode="auto">
          <a:xfrm>
            <a:off x="1096004" y="1622372"/>
            <a:ext cx="1359990" cy="1055356"/>
            <a:chOff x="912" y="768"/>
            <a:chExt cx="2400" cy="1584"/>
          </a:xfrm>
          <a:solidFill>
            <a:schemeClr val="bg1"/>
          </a:solidFill>
        </p:grpSpPr>
        <p:sp>
          <p:nvSpPr>
            <p:cNvPr id="70" name="Oval 245"/>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1" name="Oval 246"/>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2" name="Oval 247"/>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3" name="Oval 248"/>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4" name="Oval 249"/>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5" name="Oval 250"/>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6" name="Oval 251"/>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7" name="Oval 252"/>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8" name="Oval 253"/>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79" name="Group 254"/>
            <p:cNvGrpSpPr>
              <a:grpSpLocks/>
            </p:cNvGrpSpPr>
            <p:nvPr/>
          </p:nvGrpSpPr>
          <p:grpSpPr bwMode="auto">
            <a:xfrm>
              <a:off x="912" y="768"/>
              <a:ext cx="2386" cy="1553"/>
              <a:chOff x="912" y="768"/>
              <a:chExt cx="2386" cy="1553"/>
            </a:xfrm>
            <a:grpFill/>
          </p:grpSpPr>
          <p:sp>
            <p:nvSpPr>
              <p:cNvPr id="80" name="Oval 255"/>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1" name="Oval 256"/>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2" name="Oval 257"/>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3" name="Oval 258"/>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4" name="Oval 259"/>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5" name="Oval 260"/>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6" name="Oval 261"/>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7" name="Oval 262"/>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8" name="Oval 263"/>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sp>
        <p:nvSpPr>
          <p:cNvPr id="10" name="Line 95"/>
          <p:cNvSpPr>
            <a:spLocks noChangeShapeType="1"/>
          </p:cNvSpPr>
          <p:nvPr/>
        </p:nvSpPr>
        <p:spPr bwMode="auto">
          <a:xfrm flipV="1">
            <a:off x="2455994" y="2105430"/>
            <a:ext cx="5310269" cy="1358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grpSp>
        <p:nvGrpSpPr>
          <p:cNvPr id="11" name="Group 284"/>
          <p:cNvGrpSpPr>
            <a:grpSpLocks/>
          </p:cNvGrpSpPr>
          <p:nvPr/>
        </p:nvGrpSpPr>
        <p:grpSpPr bwMode="auto">
          <a:xfrm>
            <a:off x="6732250" y="1653412"/>
            <a:ext cx="1359990" cy="1055356"/>
            <a:chOff x="912" y="768"/>
            <a:chExt cx="2400" cy="1584"/>
          </a:xfrm>
          <a:solidFill>
            <a:schemeClr val="bg1"/>
          </a:solidFill>
        </p:grpSpPr>
        <p:sp>
          <p:nvSpPr>
            <p:cNvPr id="51" name="Oval 285"/>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2" name="Oval 286"/>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3" name="Oval 287"/>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4" name="Oval 288"/>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5" name="Oval 289"/>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6" name="Oval 290"/>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7" name="Oval 291"/>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8" name="Oval 292"/>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9" name="Oval 293"/>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60" name="Group 294"/>
            <p:cNvGrpSpPr>
              <a:grpSpLocks/>
            </p:cNvGrpSpPr>
            <p:nvPr/>
          </p:nvGrpSpPr>
          <p:grpSpPr bwMode="auto">
            <a:xfrm>
              <a:off x="912" y="768"/>
              <a:ext cx="2386" cy="1553"/>
              <a:chOff x="912" y="768"/>
              <a:chExt cx="2386" cy="1553"/>
            </a:xfrm>
            <a:grpFill/>
          </p:grpSpPr>
          <p:sp>
            <p:nvSpPr>
              <p:cNvPr id="61" name="Oval 295"/>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2" name="Oval 296"/>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3" name="Oval 297"/>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4" name="Oval 298"/>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5" name="Oval 299"/>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6" name="Oval 300"/>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7" name="Oval 301"/>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8" name="Oval 302"/>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9" name="Oval 303"/>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grpSp>
        <p:nvGrpSpPr>
          <p:cNvPr id="12" name="Group 264"/>
          <p:cNvGrpSpPr>
            <a:grpSpLocks/>
          </p:cNvGrpSpPr>
          <p:nvPr/>
        </p:nvGrpSpPr>
        <p:grpSpPr bwMode="auto">
          <a:xfrm>
            <a:off x="3956189" y="1622372"/>
            <a:ext cx="1359990" cy="1055356"/>
            <a:chOff x="912" y="768"/>
            <a:chExt cx="2400" cy="1584"/>
          </a:xfrm>
          <a:solidFill>
            <a:schemeClr val="bg1"/>
          </a:solidFill>
        </p:grpSpPr>
        <p:sp>
          <p:nvSpPr>
            <p:cNvPr id="32" name="Oval 265"/>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3" name="Oval 266"/>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4" name="Oval 267"/>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5" name="Oval 268"/>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6" name="Oval 269"/>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7" name="Oval 270"/>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8" name="Oval 271"/>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9" name="Oval 272"/>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0" name="Oval 273"/>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41" name="Group 274"/>
            <p:cNvGrpSpPr>
              <a:grpSpLocks/>
            </p:cNvGrpSpPr>
            <p:nvPr/>
          </p:nvGrpSpPr>
          <p:grpSpPr bwMode="auto">
            <a:xfrm>
              <a:off x="912" y="768"/>
              <a:ext cx="2386" cy="1553"/>
              <a:chOff x="912" y="768"/>
              <a:chExt cx="2386" cy="1553"/>
            </a:xfrm>
            <a:grpFill/>
          </p:grpSpPr>
          <p:sp>
            <p:nvSpPr>
              <p:cNvPr id="42" name="Oval 275"/>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3" name="Oval 276"/>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4" name="Oval 277"/>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5" name="Oval 278"/>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6" name="Oval 279"/>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7" name="Oval 280"/>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8" name="Oval 281"/>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9" name="Oval 282"/>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0" name="Oval 283"/>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sp>
        <p:nvSpPr>
          <p:cNvPr id="13" name="Text Box 96"/>
          <p:cNvSpPr txBox="1">
            <a:spLocks noChangeArrowheads="1"/>
          </p:cNvSpPr>
          <p:nvPr/>
        </p:nvSpPr>
        <p:spPr bwMode="auto">
          <a:xfrm>
            <a:off x="1477325" y="2012481"/>
            <a:ext cx="577401"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1</a:t>
            </a:r>
          </a:p>
        </p:txBody>
      </p:sp>
      <p:sp>
        <p:nvSpPr>
          <p:cNvPr id="14" name="Text Box 98"/>
          <p:cNvSpPr txBox="1">
            <a:spLocks noChangeArrowheads="1"/>
          </p:cNvSpPr>
          <p:nvPr/>
        </p:nvSpPr>
        <p:spPr bwMode="auto">
          <a:xfrm>
            <a:off x="7138646" y="1984263"/>
            <a:ext cx="57740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3</a:t>
            </a:r>
          </a:p>
        </p:txBody>
      </p:sp>
      <p:sp>
        <p:nvSpPr>
          <p:cNvPr id="15" name="Text Box 99"/>
          <p:cNvSpPr txBox="1">
            <a:spLocks noChangeArrowheads="1"/>
          </p:cNvSpPr>
          <p:nvPr/>
        </p:nvSpPr>
        <p:spPr bwMode="auto">
          <a:xfrm>
            <a:off x="4355574" y="1984263"/>
            <a:ext cx="57740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2</a:t>
            </a:r>
          </a:p>
        </p:txBody>
      </p:sp>
      <p:pic>
        <p:nvPicPr>
          <p:cNvPr id="16" name="Picture 23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876609" y="1909491"/>
            <a:ext cx="767623" cy="4229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 name="Text Box 235"/>
          <p:cNvSpPr txBox="1">
            <a:spLocks noChangeArrowheads="1"/>
          </p:cNvSpPr>
          <p:nvPr/>
        </p:nvSpPr>
        <p:spPr bwMode="auto">
          <a:xfrm>
            <a:off x="5913803" y="1484632"/>
            <a:ext cx="41229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a:solidFill>
                  <a:srgbClr val="0000FF"/>
                </a:solidFill>
                <a:latin typeface="微软雅黑" pitchFamily="34" charset="-122"/>
                <a:ea typeface="微软雅黑" pitchFamily="34" charset="-122"/>
              </a:rPr>
              <a:t>R</a:t>
            </a:r>
            <a:r>
              <a:rPr lang="en-US" altLang="zh-CN" sz="1600" b="1" baseline="-25000">
                <a:solidFill>
                  <a:srgbClr val="0000FF"/>
                </a:solidFill>
                <a:latin typeface="微软雅黑" pitchFamily="34" charset="-122"/>
                <a:ea typeface="微软雅黑" pitchFamily="34" charset="-122"/>
              </a:rPr>
              <a:t>2</a:t>
            </a:r>
            <a:endParaRPr lang="en-US" altLang="zh-CN" sz="1600" b="1">
              <a:solidFill>
                <a:srgbClr val="0000FF"/>
              </a:solidFill>
              <a:latin typeface="微软雅黑" pitchFamily="34" charset="-122"/>
              <a:ea typeface="微软雅黑" pitchFamily="34" charset="-122"/>
            </a:endParaRPr>
          </a:p>
        </p:txBody>
      </p:sp>
      <p:sp>
        <p:nvSpPr>
          <p:cNvPr id="18" name="Text Box 237"/>
          <p:cNvSpPr txBox="1">
            <a:spLocks noChangeArrowheads="1"/>
          </p:cNvSpPr>
          <p:nvPr/>
        </p:nvSpPr>
        <p:spPr bwMode="auto">
          <a:xfrm>
            <a:off x="2988773" y="1496272"/>
            <a:ext cx="41229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R</a:t>
            </a:r>
            <a:r>
              <a:rPr lang="en-US" altLang="zh-CN" sz="1600" b="1" baseline="-25000" dirty="0">
                <a:solidFill>
                  <a:srgbClr val="0000FF"/>
                </a:solidFill>
                <a:latin typeface="微软雅黑" pitchFamily="34" charset="-122"/>
                <a:ea typeface="微软雅黑" pitchFamily="34" charset="-122"/>
              </a:rPr>
              <a:t>1</a:t>
            </a:r>
            <a:endParaRPr lang="en-US" altLang="zh-CN" sz="1600" b="1" dirty="0">
              <a:solidFill>
                <a:srgbClr val="0000FF"/>
              </a:solidFill>
              <a:latin typeface="微软雅黑" pitchFamily="34" charset="-122"/>
              <a:ea typeface="微软雅黑" pitchFamily="34" charset="-122"/>
            </a:endParaRPr>
          </a:p>
        </p:txBody>
      </p:sp>
      <p:sp>
        <p:nvSpPr>
          <p:cNvPr id="19" name="Text Box 325"/>
          <p:cNvSpPr txBox="1">
            <a:spLocks noChangeArrowheads="1"/>
          </p:cNvSpPr>
          <p:nvPr/>
        </p:nvSpPr>
        <p:spPr bwMode="auto">
          <a:xfrm>
            <a:off x="611539" y="1496387"/>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1</a:t>
            </a:r>
          </a:p>
        </p:txBody>
      </p:sp>
      <p:pic>
        <p:nvPicPr>
          <p:cNvPr id="20" name="Picture 32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89475" y="1882331"/>
            <a:ext cx="767623" cy="4229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1" name="Oval 333"/>
          <p:cNvSpPr>
            <a:spLocks noChangeArrowheads="1"/>
          </p:cNvSpPr>
          <p:nvPr/>
        </p:nvSpPr>
        <p:spPr bwMode="auto">
          <a:xfrm>
            <a:off x="3759902" y="2070510"/>
            <a:ext cx="78866" cy="87300"/>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2" name="Oval 335"/>
          <p:cNvSpPr>
            <a:spLocks noChangeArrowheads="1"/>
          </p:cNvSpPr>
          <p:nvPr/>
        </p:nvSpPr>
        <p:spPr bwMode="auto">
          <a:xfrm>
            <a:off x="2580427" y="208021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3" name="Oval 337"/>
          <p:cNvSpPr>
            <a:spLocks noChangeArrowheads="1"/>
          </p:cNvSpPr>
          <p:nvPr/>
        </p:nvSpPr>
        <p:spPr bwMode="auto">
          <a:xfrm>
            <a:off x="6621839" y="208409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4" name="Oval 338"/>
          <p:cNvSpPr>
            <a:spLocks noChangeArrowheads="1"/>
          </p:cNvSpPr>
          <p:nvPr/>
        </p:nvSpPr>
        <p:spPr bwMode="auto">
          <a:xfrm>
            <a:off x="5524734" y="208021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9" name="Text Box 351"/>
          <p:cNvSpPr txBox="1">
            <a:spLocks noChangeArrowheads="1"/>
          </p:cNvSpPr>
          <p:nvPr/>
        </p:nvSpPr>
        <p:spPr bwMode="auto">
          <a:xfrm>
            <a:off x="909703" y="2489235"/>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2</a:t>
            </a:r>
          </a:p>
        </p:txBody>
      </p:sp>
      <p:sp>
        <p:nvSpPr>
          <p:cNvPr id="30" name="Text Box 352"/>
          <p:cNvSpPr txBox="1">
            <a:spLocks noChangeArrowheads="1"/>
          </p:cNvSpPr>
          <p:nvPr/>
        </p:nvSpPr>
        <p:spPr bwMode="auto">
          <a:xfrm>
            <a:off x="4435361" y="1242896"/>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3</a:t>
            </a:r>
          </a:p>
        </p:txBody>
      </p:sp>
      <p:sp>
        <p:nvSpPr>
          <p:cNvPr id="31" name="Text Box 353"/>
          <p:cNvSpPr txBox="1">
            <a:spLocks noChangeArrowheads="1"/>
          </p:cNvSpPr>
          <p:nvPr/>
        </p:nvSpPr>
        <p:spPr bwMode="auto">
          <a:xfrm>
            <a:off x="7295321" y="1236791"/>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4</a:t>
            </a:r>
          </a:p>
        </p:txBody>
      </p:sp>
      <p:pic>
        <p:nvPicPr>
          <p:cNvPr id="89"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67305" y="1498495"/>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90"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312590" y="2456644"/>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91"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68974" y="1333091"/>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92"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49294" y="1333091"/>
            <a:ext cx="615163" cy="615163"/>
          </a:xfrm>
          <a:prstGeom prst="rect">
            <a:avLst/>
          </a:prstGeom>
          <a:noFill/>
          <a:extLst>
            <a:ext uri="{909E8E84-426E-40DD-AFC4-6F175D3DCCD1}">
              <a14:hiddenFill xmlns:a14="http://schemas.microsoft.com/office/drawing/2010/main">
                <a:solidFill>
                  <a:srgbClr val="FFFFFF"/>
                </a:solidFill>
              </a14:hiddenFill>
            </a:ext>
          </a:extLst>
        </p:spPr>
      </p:pic>
      <p:sp>
        <p:nvSpPr>
          <p:cNvPr id="2" name="矩形 1"/>
          <p:cNvSpPr/>
          <p:nvPr/>
        </p:nvSpPr>
        <p:spPr>
          <a:xfrm>
            <a:off x="1134099" y="3241221"/>
            <a:ext cx="7012669" cy="781752"/>
          </a:xfrm>
          <a:prstGeom prst="rect">
            <a:avLst/>
          </a:prstGeom>
        </p:spPr>
        <p:txBody>
          <a:bodyPr wrap="square">
            <a:spAutoFit/>
          </a:bodyPr>
          <a:lstStyle/>
          <a:p>
            <a:pPr marL="342900" indent="-342900">
              <a:lnSpc>
                <a:spcPts val="2800"/>
              </a:lnSpc>
              <a:buClr>
                <a:srgbClr val="990099"/>
              </a:buClr>
              <a:buFont typeface="+mj-lt"/>
              <a:buAutoNum type="arabicPeriod" startAt="3"/>
            </a:pPr>
            <a:r>
              <a:rPr lang="zh-CN" altLang="en-US" b="1" dirty="0">
                <a:latin typeface="微软雅黑" pitchFamily="34" charset="-122"/>
                <a:ea typeface="微软雅黑" pitchFamily="34" charset="-122"/>
              </a:rPr>
              <a:t>发送方是</a:t>
            </a:r>
            <a:r>
              <a:rPr lang="zh-CN" altLang="en-US" b="1" dirty="0">
                <a:solidFill>
                  <a:srgbClr val="C00000"/>
                </a:solidFill>
                <a:latin typeface="微软雅黑" pitchFamily="34" charset="-122"/>
                <a:ea typeface="微软雅黑" pitchFamily="34" charset="-122"/>
              </a:rPr>
              <a:t>路由器，</a:t>
            </a:r>
            <a:r>
              <a:rPr lang="zh-CN" altLang="en-US" b="1" dirty="0">
                <a:latin typeface="微软雅黑" pitchFamily="34" charset="-122"/>
                <a:ea typeface="微软雅黑" pitchFamily="34" charset="-122"/>
              </a:rPr>
              <a:t>要把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数据报转发到</a:t>
            </a:r>
            <a:r>
              <a:rPr lang="zh-CN" altLang="en-US" b="1" dirty="0">
                <a:solidFill>
                  <a:srgbClr val="C00000"/>
                </a:solidFill>
                <a:latin typeface="微软雅黑" pitchFamily="34" charset="-122"/>
                <a:ea typeface="微软雅黑" pitchFamily="34" charset="-122"/>
              </a:rPr>
              <a:t>本网络上的一个主机。</a:t>
            </a:r>
            <a:r>
              <a:rPr lang="zh-CN" altLang="en-US" b="1" dirty="0">
                <a:latin typeface="微软雅黑" pitchFamily="34" charset="-122"/>
                <a:ea typeface="微软雅黑" pitchFamily="34" charset="-122"/>
              </a:rPr>
              <a:t>这时用 </a:t>
            </a:r>
            <a:r>
              <a:rPr lang="en-US" altLang="zh-CN" b="1" dirty="0">
                <a:latin typeface="微软雅黑" pitchFamily="34" charset="-122"/>
                <a:ea typeface="微软雅黑" pitchFamily="34" charset="-122"/>
              </a:rPr>
              <a:t>ARP </a:t>
            </a:r>
            <a:r>
              <a:rPr lang="zh-CN" altLang="en-US" b="1" dirty="0">
                <a:latin typeface="微软雅黑" pitchFamily="34" charset="-122"/>
                <a:ea typeface="微软雅黑" pitchFamily="34" charset="-122"/>
              </a:rPr>
              <a:t>找到目的主机的硬件地址。 </a:t>
            </a:r>
          </a:p>
        </p:txBody>
      </p:sp>
    </p:spTree>
    <p:extLst>
      <p:ext uri="{BB962C8B-B14F-4D97-AF65-F5344CB8AC3E}">
        <p14:creationId xmlns:p14="http://schemas.microsoft.com/office/powerpoint/2010/main" val="211062748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66646"/>
            <a:ext cx="8048776" cy="217457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59748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949333" y="564275"/>
            <a:ext cx="32640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使用 </a:t>
            </a:r>
            <a:r>
              <a:rPr lang="en-US" altLang="zh-CN" sz="2000" b="1" dirty="0">
                <a:solidFill>
                  <a:schemeClr val="bg1"/>
                </a:solidFill>
                <a:latin typeface="微软雅黑" pitchFamily="34" charset="-122"/>
                <a:ea typeface="微软雅黑" pitchFamily="34" charset="-122"/>
              </a:rPr>
              <a:t>ARP </a:t>
            </a:r>
            <a:r>
              <a:rPr lang="zh-CN" altLang="en-US" sz="2000" b="1" dirty="0">
                <a:solidFill>
                  <a:schemeClr val="bg1"/>
                </a:solidFill>
                <a:latin typeface="微软雅黑" pitchFamily="34" charset="-122"/>
                <a:ea typeface="微软雅黑" pitchFamily="34" charset="-122"/>
              </a:rPr>
              <a:t>的四种典型情况</a:t>
            </a:r>
          </a:p>
        </p:txBody>
      </p:sp>
      <p:grpSp>
        <p:nvGrpSpPr>
          <p:cNvPr id="9" name="Group 244"/>
          <p:cNvGrpSpPr>
            <a:grpSpLocks/>
          </p:cNvGrpSpPr>
          <p:nvPr/>
        </p:nvGrpSpPr>
        <p:grpSpPr bwMode="auto">
          <a:xfrm>
            <a:off x="1096004" y="1622372"/>
            <a:ext cx="1359990" cy="1055356"/>
            <a:chOff x="912" y="768"/>
            <a:chExt cx="2400" cy="1584"/>
          </a:xfrm>
          <a:solidFill>
            <a:schemeClr val="bg1"/>
          </a:solidFill>
        </p:grpSpPr>
        <p:sp>
          <p:nvSpPr>
            <p:cNvPr id="70" name="Oval 245"/>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1" name="Oval 246"/>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2" name="Oval 247"/>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3" name="Oval 248"/>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4" name="Oval 249"/>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5" name="Oval 250"/>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6" name="Oval 251"/>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7" name="Oval 252"/>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8" name="Oval 253"/>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79" name="Group 254"/>
            <p:cNvGrpSpPr>
              <a:grpSpLocks/>
            </p:cNvGrpSpPr>
            <p:nvPr/>
          </p:nvGrpSpPr>
          <p:grpSpPr bwMode="auto">
            <a:xfrm>
              <a:off x="912" y="768"/>
              <a:ext cx="2386" cy="1553"/>
              <a:chOff x="912" y="768"/>
              <a:chExt cx="2386" cy="1553"/>
            </a:xfrm>
            <a:grpFill/>
          </p:grpSpPr>
          <p:sp>
            <p:nvSpPr>
              <p:cNvPr id="80" name="Oval 255"/>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1" name="Oval 256"/>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2" name="Oval 257"/>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3" name="Oval 258"/>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4" name="Oval 259"/>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5" name="Oval 260"/>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6" name="Oval 261"/>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7" name="Oval 262"/>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8" name="Oval 263"/>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sp>
        <p:nvSpPr>
          <p:cNvPr id="10" name="Line 95"/>
          <p:cNvSpPr>
            <a:spLocks noChangeShapeType="1"/>
          </p:cNvSpPr>
          <p:nvPr/>
        </p:nvSpPr>
        <p:spPr bwMode="auto">
          <a:xfrm flipV="1">
            <a:off x="2455994" y="2105430"/>
            <a:ext cx="5310269" cy="1358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grpSp>
        <p:nvGrpSpPr>
          <p:cNvPr id="11" name="Group 284"/>
          <p:cNvGrpSpPr>
            <a:grpSpLocks/>
          </p:cNvGrpSpPr>
          <p:nvPr/>
        </p:nvGrpSpPr>
        <p:grpSpPr bwMode="auto">
          <a:xfrm>
            <a:off x="6732250" y="1653412"/>
            <a:ext cx="1359990" cy="1055356"/>
            <a:chOff x="912" y="768"/>
            <a:chExt cx="2400" cy="1584"/>
          </a:xfrm>
          <a:solidFill>
            <a:schemeClr val="bg1"/>
          </a:solidFill>
        </p:grpSpPr>
        <p:sp>
          <p:nvSpPr>
            <p:cNvPr id="51" name="Oval 285"/>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2" name="Oval 286"/>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3" name="Oval 287"/>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4" name="Oval 288"/>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5" name="Oval 289"/>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6" name="Oval 290"/>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7" name="Oval 291"/>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8" name="Oval 292"/>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9" name="Oval 293"/>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60" name="Group 294"/>
            <p:cNvGrpSpPr>
              <a:grpSpLocks/>
            </p:cNvGrpSpPr>
            <p:nvPr/>
          </p:nvGrpSpPr>
          <p:grpSpPr bwMode="auto">
            <a:xfrm>
              <a:off x="912" y="768"/>
              <a:ext cx="2386" cy="1553"/>
              <a:chOff x="912" y="768"/>
              <a:chExt cx="2386" cy="1553"/>
            </a:xfrm>
            <a:grpFill/>
          </p:grpSpPr>
          <p:sp>
            <p:nvSpPr>
              <p:cNvPr id="61" name="Oval 295"/>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2" name="Oval 296"/>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3" name="Oval 297"/>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4" name="Oval 298"/>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5" name="Oval 299"/>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6" name="Oval 300"/>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7" name="Oval 301"/>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8" name="Oval 302"/>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9" name="Oval 303"/>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grpSp>
        <p:nvGrpSpPr>
          <p:cNvPr id="12" name="Group 264"/>
          <p:cNvGrpSpPr>
            <a:grpSpLocks/>
          </p:cNvGrpSpPr>
          <p:nvPr/>
        </p:nvGrpSpPr>
        <p:grpSpPr bwMode="auto">
          <a:xfrm>
            <a:off x="3956189" y="1622372"/>
            <a:ext cx="1359990" cy="1055356"/>
            <a:chOff x="912" y="768"/>
            <a:chExt cx="2400" cy="1584"/>
          </a:xfrm>
          <a:solidFill>
            <a:schemeClr val="bg1"/>
          </a:solidFill>
        </p:grpSpPr>
        <p:sp>
          <p:nvSpPr>
            <p:cNvPr id="32" name="Oval 265"/>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3" name="Oval 266"/>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4" name="Oval 267"/>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5" name="Oval 268"/>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6" name="Oval 269"/>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7" name="Oval 270"/>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8" name="Oval 271"/>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9" name="Oval 272"/>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0" name="Oval 273"/>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41" name="Group 274"/>
            <p:cNvGrpSpPr>
              <a:grpSpLocks/>
            </p:cNvGrpSpPr>
            <p:nvPr/>
          </p:nvGrpSpPr>
          <p:grpSpPr bwMode="auto">
            <a:xfrm>
              <a:off x="912" y="768"/>
              <a:ext cx="2386" cy="1553"/>
              <a:chOff x="912" y="768"/>
              <a:chExt cx="2386" cy="1553"/>
            </a:xfrm>
            <a:grpFill/>
          </p:grpSpPr>
          <p:sp>
            <p:nvSpPr>
              <p:cNvPr id="42" name="Oval 275"/>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3" name="Oval 276"/>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4" name="Oval 277"/>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5" name="Oval 278"/>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6" name="Oval 279"/>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7" name="Oval 280"/>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8" name="Oval 281"/>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9" name="Oval 282"/>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0" name="Oval 283"/>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sp>
        <p:nvSpPr>
          <p:cNvPr id="13" name="Text Box 96"/>
          <p:cNvSpPr txBox="1">
            <a:spLocks noChangeArrowheads="1"/>
          </p:cNvSpPr>
          <p:nvPr/>
        </p:nvSpPr>
        <p:spPr bwMode="auto">
          <a:xfrm>
            <a:off x="1477325" y="2012481"/>
            <a:ext cx="577401"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1</a:t>
            </a:r>
          </a:p>
        </p:txBody>
      </p:sp>
      <p:sp>
        <p:nvSpPr>
          <p:cNvPr id="14" name="Text Box 98"/>
          <p:cNvSpPr txBox="1">
            <a:spLocks noChangeArrowheads="1"/>
          </p:cNvSpPr>
          <p:nvPr/>
        </p:nvSpPr>
        <p:spPr bwMode="auto">
          <a:xfrm>
            <a:off x="7138646" y="1984263"/>
            <a:ext cx="57740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3</a:t>
            </a:r>
          </a:p>
        </p:txBody>
      </p:sp>
      <p:sp>
        <p:nvSpPr>
          <p:cNvPr id="15" name="Text Box 99"/>
          <p:cNvSpPr txBox="1">
            <a:spLocks noChangeArrowheads="1"/>
          </p:cNvSpPr>
          <p:nvPr/>
        </p:nvSpPr>
        <p:spPr bwMode="auto">
          <a:xfrm>
            <a:off x="4355574" y="1984263"/>
            <a:ext cx="57740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2</a:t>
            </a:r>
          </a:p>
        </p:txBody>
      </p:sp>
      <p:pic>
        <p:nvPicPr>
          <p:cNvPr id="16" name="Picture 23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876609" y="1909491"/>
            <a:ext cx="767623" cy="4229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 name="Text Box 235"/>
          <p:cNvSpPr txBox="1">
            <a:spLocks noChangeArrowheads="1"/>
          </p:cNvSpPr>
          <p:nvPr/>
        </p:nvSpPr>
        <p:spPr bwMode="auto">
          <a:xfrm>
            <a:off x="5913803" y="1484632"/>
            <a:ext cx="41229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a:solidFill>
                  <a:srgbClr val="0000FF"/>
                </a:solidFill>
                <a:latin typeface="微软雅黑" pitchFamily="34" charset="-122"/>
                <a:ea typeface="微软雅黑" pitchFamily="34" charset="-122"/>
              </a:rPr>
              <a:t>R</a:t>
            </a:r>
            <a:r>
              <a:rPr lang="en-US" altLang="zh-CN" sz="1600" b="1" baseline="-25000">
                <a:solidFill>
                  <a:srgbClr val="0000FF"/>
                </a:solidFill>
                <a:latin typeface="微软雅黑" pitchFamily="34" charset="-122"/>
                <a:ea typeface="微软雅黑" pitchFamily="34" charset="-122"/>
              </a:rPr>
              <a:t>2</a:t>
            </a:r>
            <a:endParaRPr lang="en-US" altLang="zh-CN" sz="1600" b="1">
              <a:solidFill>
                <a:srgbClr val="0000FF"/>
              </a:solidFill>
              <a:latin typeface="微软雅黑" pitchFamily="34" charset="-122"/>
              <a:ea typeface="微软雅黑" pitchFamily="34" charset="-122"/>
            </a:endParaRPr>
          </a:p>
        </p:txBody>
      </p:sp>
      <p:sp>
        <p:nvSpPr>
          <p:cNvPr id="18" name="Text Box 237"/>
          <p:cNvSpPr txBox="1">
            <a:spLocks noChangeArrowheads="1"/>
          </p:cNvSpPr>
          <p:nvPr/>
        </p:nvSpPr>
        <p:spPr bwMode="auto">
          <a:xfrm>
            <a:off x="2988773" y="1496272"/>
            <a:ext cx="41229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R</a:t>
            </a:r>
            <a:r>
              <a:rPr lang="en-US" altLang="zh-CN" sz="1600" b="1" baseline="-25000" dirty="0">
                <a:solidFill>
                  <a:srgbClr val="0000FF"/>
                </a:solidFill>
                <a:latin typeface="微软雅黑" pitchFamily="34" charset="-122"/>
                <a:ea typeface="微软雅黑" pitchFamily="34" charset="-122"/>
              </a:rPr>
              <a:t>1</a:t>
            </a:r>
            <a:endParaRPr lang="en-US" altLang="zh-CN" sz="1600" b="1" dirty="0">
              <a:solidFill>
                <a:srgbClr val="0000FF"/>
              </a:solidFill>
              <a:latin typeface="微软雅黑" pitchFamily="34" charset="-122"/>
              <a:ea typeface="微软雅黑" pitchFamily="34" charset="-122"/>
            </a:endParaRPr>
          </a:p>
        </p:txBody>
      </p:sp>
      <p:sp>
        <p:nvSpPr>
          <p:cNvPr id="19" name="Text Box 325"/>
          <p:cNvSpPr txBox="1">
            <a:spLocks noChangeArrowheads="1"/>
          </p:cNvSpPr>
          <p:nvPr/>
        </p:nvSpPr>
        <p:spPr bwMode="auto">
          <a:xfrm>
            <a:off x="611539" y="1496387"/>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1</a:t>
            </a:r>
          </a:p>
        </p:txBody>
      </p:sp>
      <p:pic>
        <p:nvPicPr>
          <p:cNvPr id="20" name="Picture 32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89475" y="1882331"/>
            <a:ext cx="767623" cy="4229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1" name="Oval 333"/>
          <p:cNvSpPr>
            <a:spLocks noChangeArrowheads="1"/>
          </p:cNvSpPr>
          <p:nvPr/>
        </p:nvSpPr>
        <p:spPr bwMode="auto">
          <a:xfrm>
            <a:off x="3759902" y="2070510"/>
            <a:ext cx="78866" cy="87300"/>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2" name="Oval 335"/>
          <p:cNvSpPr>
            <a:spLocks noChangeArrowheads="1"/>
          </p:cNvSpPr>
          <p:nvPr/>
        </p:nvSpPr>
        <p:spPr bwMode="auto">
          <a:xfrm>
            <a:off x="2580427" y="208021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3" name="Oval 337"/>
          <p:cNvSpPr>
            <a:spLocks noChangeArrowheads="1"/>
          </p:cNvSpPr>
          <p:nvPr/>
        </p:nvSpPr>
        <p:spPr bwMode="auto">
          <a:xfrm>
            <a:off x="6621839" y="208409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4" name="Oval 338"/>
          <p:cNvSpPr>
            <a:spLocks noChangeArrowheads="1"/>
          </p:cNvSpPr>
          <p:nvPr/>
        </p:nvSpPr>
        <p:spPr bwMode="auto">
          <a:xfrm>
            <a:off x="5524734" y="208021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9" name="Text Box 351"/>
          <p:cNvSpPr txBox="1">
            <a:spLocks noChangeArrowheads="1"/>
          </p:cNvSpPr>
          <p:nvPr/>
        </p:nvSpPr>
        <p:spPr bwMode="auto">
          <a:xfrm>
            <a:off x="909703" y="2489235"/>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2</a:t>
            </a:r>
          </a:p>
        </p:txBody>
      </p:sp>
      <p:sp>
        <p:nvSpPr>
          <p:cNvPr id="30" name="Text Box 352"/>
          <p:cNvSpPr txBox="1">
            <a:spLocks noChangeArrowheads="1"/>
          </p:cNvSpPr>
          <p:nvPr/>
        </p:nvSpPr>
        <p:spPr bwMode="auto">
          <a:xfrm>
            <a:off x="4435361" y="1242896"/>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3</a:t>
            </a:r>
          </a:p>
        </p:txBody>
      </p:sp>
      <p:sp>
        <p:nvSpPr>
          <p:cNvPr id="31" name="Text Box 353"/>
          <p:cNvSpPr txBox="1">
            <a:spLocks noChangeArrowheads="1"/>
          </p:cNvSpPr>
          <p:nvPr/>
        </p:nvSpPr>
        <p:spPr bwMode="auto">
          <a:xfrm>
            <a:off x="7295321" y="1236791"/>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4</a:t>
            </a:r>
          </a:p>
        </p:txBody>
      </p:sp>
      <p:pic>
        <p:nvPicPr>
          <p:cNvPr id="89"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67305" y="1498495"/>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90"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312590" y="2456644"/>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91"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68974" y="1333091"/>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92"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49294" y="1333091"/>
            <a:ext cx="615163" cy="615163"/>
          </a:xfrm>
          <a:prstGeom prst="rect">
            <a:avLst/>
          </a:prstGeom>
          <a:noFill/>
          <a:extLst>
            <a:ext uri="{909E8E84-426E-40DD-AFC4-6F175D3DCCD1}">
              <a14:hiddenFill xmlns:a14="http://schemas.microsoft.com/office/drawing/2010/main">
                <a:solidFill>
                  <a:srgbClr val="FFFFFF"/>
                </a:solidFill>
              </a14:hiddenFill>
            </a:ext>
          </a:extLst>
        </p:spPr>
      </p:pic>
      <p:sp>
        <p:nvSpPr>
          <p:cNvPr id="2" name="矩形 1"/>
          <p:cNvSpPr/>
          <p:nvPr/>
        </p:nvSpPr>
        <p:spPr>
          <a:xfrm>
            <a:off x="1134099" y="3241221"/>
            <a:ext cx="7012669" cy="1140825"/>
          </a:xfrm>
          <a:prstGeom prst="rect">
            <a:avLst/>
          </a:prstGeom>
        </p:spPr>
        <p:txBody>
          <a:bodyPr wrap="square">
            <a:spAutoFit/>
          </a:bodyPr>
          <a:lstStyle/>
          <a:p>
            <a:pPr marL="342900" indent="-342900">
              <a:lnSpc>
                <a:spcPts val="2800"/>
              </a:lnSpc>
              <a:buClr>
                <a:srgbClr val="990099"/>
              </a:buClr>
              <a:buFont typeface="+mj-lt"/>
              <a:buAutoNum type="arabicPeriod" startAt="4"/>
            </a:pPr>
            <a:r>
              <a:rPr lang="zh-CN" altLang="en-US" b="1" dirty="0">
                <a:latin typeface="微软雅黑" pitchFamily="34" charset="-122"/>
                <a:ea typeface="微软雅黑" pitchFamily="34" charset="-122"/>
              </a:rPr>
              <a:t>发送方是</a:t>
            </a:r>
            <a:r>
              <a:rPr lang="zh-CN" altLang="en-US" b="1" dirty="0">
                <a:solidFill>
                  <a:srgbClr val="C00000"/>
                </a:solidFill>
                <a:latin typeface="微软雅黑" pitchFamily="34" charset="-122"/>
                <a:ea typeface="微软雅黑" pitchFamily="34" charset="-122"/>
              </a:rPr>
              <a:t>路由器，</a:t>
            </a:r>
            <a:r>
              <a:rPr lang="zh-CN" altLang="en-US" b="1" dirty="0">
                <a:latin typeface="微软雅黑" pitchFamily="34" charset="-122"/>
                <a:ea typeface="微软雅黑" pitchFamily="34" charset="-122"/>
              </a:rPr>
              <a:t>要把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数据报转发到</a:t>
            </a:r>
            <a:r>
              <a:rPr lang="zh-CN" altLang="en-US" b="1" dirty="0">
                <a:solidFill>
                  <a:srgbClr val="C00000"/>
                </a:solidFill>
                <a:latin typeface="微软雅黑" pitchFamily="34" charset="-122"/>
                <a:ea typeface="微软雅黑" pitchFamily="34" charset="-122"/>
              </a:rPr>
              <a:t>另一个网络上的一个主机。</a:t>
            </a:r>
            <a:r>
              <a:rPr lang="zh-CN" altLang="en-US" b="1" dirty="0">
                <a:latin typeface="微软雅黑" pitchFamily="34" charset="-122"/>
                <a:ea typeface="微软雅黑" pitchFamily="34" charset="-122"/>
              </a:rPr>
              <a:t>这时用 </a:t>
            </a:r>
            <a:r>
              <a:rPr lang="en-US" altLang="zh-CN" b="1" dirty="0">
                <a:latin typeface="微软雅黑" pitchFamily="34" charset="-122"/>
                <a:ea typeface="微软雅黑" pitchFamily="34" charset="-122"/>
              </a:rPr>
              <a:t>ARP </a:t>
            </a:r>
            <a:r>
              <a:rPr lang="zh-CN" altLang="en-US" b="1" dirty="0">
                <a:latin typeface="微软雅黑" pitchFamily="34" charset="-122"/>
                <a:ea typeface="微软雅黑" pitchFamily="34" charset="-122"/>
              </a:rPr>
              <a:t>找到本网络上另一个路由器的硬件地址。剩下的工作由这个路由器来完成。 </a:t>
            </a:r>
          </a:p>
        </p:txBody>
      </p:sp>
    </p:spTree>
    <p:extLst>
      <p:ext uri="{BB962C8B-B14F-4D97-AF65-F5344CB8AC3E}">
        <p14:creationId xmlns:p14="http://schemas.microsoft.com/office/powerpoint/2010/main" val="22040415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 name="AutoShape 5"/>
          <p:cNvSpPr>
            <a:spLocks noChangeArrowheads="1"/>
          </p:cNvSpPr>
          <p:nvPr/>
        </p:nvSpPr>
        <p:spPr bwMode="auto">
          <a:xfrm>
            <a:off x="556963" y="60232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98" name="Rectangle 6"/>
          <p:cNvSpPr>
            <a:spLocks noChangeArrowheads="1"/>
          </p:cNvSpPr>
          <p:nvPr/>
        </p:nvSpPr>
        <p:spPr bwMode="auto">
          <a:xfrm>
            <a:off x="1753141" y="569114"/>
            <a:ext cx="565642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highlight>
                  <a:srgbClr val="FFFF00"/>
                </a:highlight>
                <a:latin typeface="微软雅黑" pitchFamily="34" charset="-122"/>
                <a:ea typeface="微软雅黑" pitchFamily="34" charset="-122"/>
              </a:rPr>
              <a:t>为什么要使用两种地址：</a:t>
            </a:r>
            <a:r>
              <a:rPr lang="en-US" altLang="zh-CN" sz="2000" b="1" dirty="0">
                <a:highlight>
                  <a:srgbClr val="FFFF00"/>
                </a:highlight>
                <a:latin typeface="微软雅黑" pitchFamily="34" charset="-122"/>
                <a:ea typeface="微软雅黑" pitchFamily="34" charset="-122"/>
              </a:rPr>
              <a:t>IP </a:t>
            </a:r>
            <a:r>
              <a:rPr lang="zh-CN" altLang="en-US" sz="2000" b="1" dirty="0">
                <a:highlight>
                  <a:srgbClr val="FFFF00"/>
                </a:highlight>
                <a:latin typeface="微软雅黑" pitchFamily="34" charset="-122"/>
                <a:ea typeface="微软雅黑" pitchFamily="34" charset="-122"/>
              </a:rPr>
              <a:t>地址和 </a:t>
            </a:r>
            <a:r>
              <a:rPr lang="en-US" altLang="zh-CN" sz="2000" b="1" dirty="0">
                <a:highlight>
                  <a:srgbClr val="FFFF00"/>
                </a:highlight>
                <a:latin typeface="微软雅黑" pitchFamily="34" charset="-122"/>
                <a:ea typeface="微软雅黑" pitchFamily="34" charset="-122"/>
              </a:rPr>
              <a:t>MAC </a:t>
            </a:r>
            <a:r>
              <a:rPr lang="zh-CN" altLang="en-US" sz="2000" b="1" dirty="0">
                <a:highlight>
                  <a:srgbClr val="FFFF00"/>
                </a:highlight>
                <a:latin typeface="微软雅黑" pitchFamily="34" charset="-122"/>
                <a:ea typeface="微软雅黑" pitchFamily="34" charset="-122"/>
              </a:rPr>
              <a:t>地址？</a:t>
            </a:r>
          </a:p>
        </p:txBody>
      </p:sp>
      <p:sp>
        <p:nvSpPr>
          <p:cNvPr id="5" name="Rectangle 68"/>
          <p:cNvSpPr>
            <a:spLocks noChangeArrowheads="1"/>
          </p:cNvSpPr>
          <p:nvPr/>
        </p:nvSpPr>
        <p:spPr bwMode="auto">
          <a:xfrm>
            <a:off x="556963" y="962998"/>
            <a:ext cx="8048776" cy="31700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不同主机使用不同的 </a:t>
            </a:r>
            <a:r>
              <a:rPr lang="en-US" altLang="zh-CN" sz="2000" b="1" dirty="0">
                <a:latin typeface="微软雅黑" pitchFamily="34" charset="-122"/>
                <a:ea typeface="微软雅黑" pitchFamily="34" charset="-122"/>
              </a:rPr>
              <a:t>MAC</a:t>
            </a:r>
            <a:r>
              <a:rPr lang="zh-CN" altLang="en-US" sz="2000" b="1" dirty="0">
                <a:latin typeface="微软雅黑" pitchFamily="34" charset="-122"/>
                <a:ea typeface="微软雅黑" pitchFamily="34" charset="-122"/>
              </a:rPr>
              <a:t> 地址。</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地址之间的转换非常复杂。</a:t>
            </a:r>
            <a:endParaRPr lang="en-US" altLang="zh-CN" sz="2000" b="1" dirty="0">
              <a:latin typeface="微软雅黑" pitchFamily="34" charset="-122"/>
              <a:ea typeface="微软雅黑" pitchFamily="34" charset="-122"/>
            </a:endParaRPr>
          </a:p>
          <a:p>
            <a:pPr marL="268288" indent="-2682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对以太网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地址进行寻址也是极其困难的。</a:t>
            </a:r>
          </a:p>
          <a:p>
            <a:pPr marL="268288" indent="-268288">
              <a:lnSpc>
                <a:spcPts val="30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rPr>
              <a:t>IP </a:t>
            </a:r>
            <a:r>
              <a:rPr lang="zh-CN" altLang="en-US" sz="2000" b="1" dirty="0">
                <a:solidFill>
                  <a:srgbClr val="C00000"/>
                </a:solidFill>
                <a:latin typeface="微软雅黑" pitchFamily="34" charset="-122"/>
                <a:ea typeface="微软雅黑" pitchFamily="34" charset="-122"/>
              </a:rPr>
              <a:t>编址把这个复杂问题解决了。</a:t>
            </a:r>
            <a:endParaRPr lang="en-US" altLang="zh-CN" sz="2000" b="1" dirty="0">
              <a:solidFill>
                <a:srgbClr val="C00000"/>
              </a:solidFill>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连接到互联网的主机只需各自拥有一个唯一的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地址，它们之间的通信就像连接在同一个网络上那样简单方便，即使必须多次调用 </a:t>
            </a:r>
            <a:r>
              <a:rPr lang="en-US" altLang="zh-CN" sz="2000" b="1" dirty="0">
                <a:latin typeface="微软雅黑" pitchFamily="34" charset="-122"/>
                <a:ea typeface="微软雅黑" pitchFamily="34" charset="-122"/>
              </a:rPr>
              <a:t>ARP </a:t>
            </a:r>
            <a:r>
              <a:rPr lang="zh-CN" altLang="en-US" sz="2000" b="1" dirty="0">
                <a:latin typeface="微软雅黑" pitchFamily="34" charset="-122"/>
                <a:ea typeface="微软雅黑" pitchFamily="34" charset="-122"/>
              </a:rPr>
              <a:t>来找到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地址，但这个过程都是由计算机软件自动进行的，对用户来说是看不见的。</a:t>
            </a:r>
          </a:p>
          <a:p>
            <a:pPr marL="268288" indent="-268288">
              <a:lnSpc>
                <a:spcPts val="30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因此，在虚拟的 </a:t>
            </a:r>
            <a:r>
              <a:rPr lang="en-US" altLang="zh-CN" sz="2000" b="1" dirty="0">
                <a:solidFill>
                  <a:srgbClr val="0000FF"/>
                </a:solidFill>
                <a:latin typeface="微软雅黑" pitchFamily="34" charset="-122"/>
                <a:ea typeface="微软雅黑" pitchFamily="34" charset="-122"/>
              </a:rPr>
              <a:t>IP </a:t>
            </a:r>
            <a:r>
              <a:rPr lang="zh-CN" altLang="en-US" sz="2000" b="1" dirty="0">
                <a:solidFill>
                  <a:srgbClr val="0000FF"/>
                </a:solidFill>
                <a:latin typeface="微软雅黑" pitchFamily="34" charset="-122"/>
                <a:ea typeface="微软雅黑" pitchFamily="34" charset="-122"/>
              </a:rPr>
              <a:t>网络上用 </a:t>
            </a:r>
            <a:r>
              <a:rPr lang="en-US" altLang="zh-CN" sz="2000" b="1" dirty="0">
                <a:solidFill>
                  <a:srgbClr val="0000FF"/>
                </a:solidFill>
                <a:latin typeface="微软雅黑" pitchFamily="34" charset="-122"/>
                <a:ea typeface="微软雅黑" pitchFamily="34" charset="-122"/>
              </a:rPr>
              <a:t>IP </a:t>
            </a:r>
            <a:r>
              <a:rPr lang="zh-CN" altLang="en-US" sz="2000" b="1" dirty="0">
                <a:solidFill>
                  <a:srgbClr val="0000FF"/>
                </a:solidFill>
                <a:latin typeface="微软雅黑" pitchFamily="34" charset="-122"/>
                <a:ea typeface="微软雅黑" pitchFamily="34" charset="-122"/>
              </a:rPr>
              <a:t>地址进行通信非常方便。</a:t>
            </a:r>
          </a:p>
        </p:txBody>
      </p:sp>
    </p:spTree>
    <p:extLst>
      <p:ext uri="{BB962C8B-B14F-4D97-AF65-F5344CB8AC3E}">
        <p14:creationId xmlns:p14="http://schemas.microsoft.com/office/powerpoint/2010/main" val="329459934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59937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895101" y="567302"/>
            <a:ext cx="335380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4.2.5  IP </a:t>
            </a:r>
            <a:r>
              <a:rPr lang="zh-CN" altLang="en-US" sz="2400" b="1" dirty="0">
                <a:solidFill>
                  <a:schemeClr val="bg1"/>
                </a:solidFill>
                <a:latin typeface="微软雅黑" pitchFamily="34" charset="-122"/>
                <a:ea typeface="微软雅黑" pitchFamily="34" charset="-122"/>
              </a:rPr>
              <a:t>数据报的格式</a:t>
            </a:r>
          </a:p>
        </p:txBody>
      </p:sp>
      <p:sp>
        <p:nvSpPr>
          <p:cNvPr id="8" name="圆角矩形 7"/>
          <p:cNvSpPr/>
          <p:nvPr/>
        </p:nvSpPr>
        <p:spPr>
          <a:xfrm>
            <a:off x="974360" y="1045561"/>
            <a:ext cx="7255240" cy="367155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Rectangle 10"/>
          <p:cNvSpPr>
            <a:spLocks noChangeArrowheads="1"/>
          </p:cNvSpPr>
          <p:nvPr/>
        </p:nvSpPr>
        <p:spPr bwMode="auto">
          <a:xfrm>
            <a:off x="2252366" y="1757022"/>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0" name="Rectangle 44"/>
          <p:cNvSpPr>
            <a:spLocks noChangeArrowheads="1"/>
          </p:cNvSpPr>
          <p:nvPr/>
        </p:nvSpPr>
        <p:spPr bwMode="auto">
          <a:xfrm>
            <a:off x="2804398" y="1762924"/>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1" name="Rectangle 45"/>
          <p:cNvSpPr>
            <a:spLocks noChangeArrowheads="1"/>
          </p:cNvSpPr>
          <p:nvPr/>
        </p:nvSpPr>
        <p:spPr bwMode="auto">
          <a:xfrm>
            <a:off x="1805213" y="1998740"/>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2" name="Rectangle 54"/>
          <p:cNvSpPr>
            <a:spLocks noChangeArrowheads="1"/>
          </p:cNvSpPr>
          <p:nvPr/>
        </p:nvSpPr>
        <p:spPr bwMode="auto">
          <a:xfrm>
            <a:off x="1731621" y="2972145"/>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3" name="Line 6"/>
          <p:cNvSpPr>
            <a:spLocks noChangeShapeType="1"/>
          </p:cNvSpPr>
          <p:nvPr/>
        </p:nvSpPr>
        <p:spPr bwMode="auto">
          <a:xfrm>
            <a:off x="2992453" y="4299261"/>
            <a:ext cx="3451713"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 name="Rectangle 90"/>
          <p:cNvSpPr>
            <a:spLocks noChangeArrowheads="1"/>
          </p:cNvSpPr>
          <p:nvPr/>
        </p:nvSpPr>
        <p:spPr bwMode="auto">
          <a:xfrm>
            <a:off x="2973243" y="3893287"/>
            <a:ext cx="917019" cy="264116"/>
          </a:xfrm>
          <a:prstGeom prst="rect">
            <a:avLst/>
          </a:prstGeom>
          <a:solidFill>
            <a:srgbClr val="99FFCC"/>
          </a:solidFill>
          <a:ln w="127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Rectangle 11"/>
          <p:cNvSpPr>
            <a:spLocks noChangeArrowheads="1"/>
          </p:cNvSpPr>
          <p:nvPr/>
        </p:nvSpPr>
        <p:spPr bwMode="auto">
          <a:xfrm>
            <a:off x="2261466" y="3317457"/>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2"/>
          <p:cNvSpPr>
            <a:spLocks noChangeShapeType="1"/>
          </p:cNvSpPr>
          <p:nvPr/>
        </p:nvSpPr>
        <p:spPr bwMode="auto">
          <a:xfrm>
            <a:off x="2249333" y="2022072"/>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3"/>
          <p:cNvSpPr>
            <a:spLocks noChangeShapeType="1"/>
          </p:cNvSpPr>
          <p:nvPr/>
        </p:nvSpPr>
        <p:spPr bwMode="auto">
          <a:xfrm>
            <a:off x="2249333" y="228245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4"/>
          <p:cNvSpPr>
            <a:spLocks noChangeShapeType="1"/>
          </p:cNvSpPr>
          <p:nvPr/>
        </p:nvSpPr>
        <p:spPr bwMode="auto">
          <a:xfrm>
            <a:off x="2249333" y="2543773"/>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5"/>
          <p:cNvSpPr>
            <a:spLocks noChangeShapeType="1"/>
          </p:cNvSpPr>
          <p:nvPr/>
        </p:nvSpPr>
        <p:spPr bwMode="auto">
          <a:xfrm>
            <a:off x="2249333" y="280135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6"/>
          <p:cNvSpPr>
            <a:spLocks noChangeShapeType="1"/>
          </p:cNvSpPr>
          <p:nvPr/>
        </p:nvSpPr>
        <p:spPr bwMode="auto">
          <a:xfrm>
            <a:off x="2249333" y="3062673"/>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7"/>
          <p:cNvSpPr>
            <a:spLocks noChangeShapeType="1"/>
          </p:cNvSpPr>
          <p:nvPr/>
        </p:nvSpPr>
        <p:spPr bwMode="auto">
          <a:xfrm>
            <a:off x="2866072" y="1761689"/>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18"/>
          <p:cNvSpPr>
            <a:spLocks noChangeShapeType="1"/>
          </p:cNvSpPr>
          <p:nvPr/>
        </p:nvSpPr>
        <p:spPr bwMode="auto">
          <a:xfrm>
            <a:off x="3536811" y="1761689"/>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19"/>
          <p:cNvSpPr>
            <a:spLocks noChangeShapeType="1"/>
          </p:cNvSpPr>
          <p:nvPr/>
        </p:nvSpPr>
        <p:spPr bwMode="auto">
          <a:xfrm>
            <a:off x="3536811" y="2288056"/>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0"/>
          <p:cNvSpPr>
            <a:spLocks noChangeShapeType="1"/>
          </p:cNvSpPr>
          <p:nvPr/>
        </p:nvSpPr>
        <p:spPr bwMode="auto">
          <a:xfrm>
            <a:off x="4749651" y="1761689"/>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Line 21"/>
          <p:cNvSpPr>
            <a:spLocks noChangeShapeType="1"/>
          </p:cNvSpPr>
          <p:nvPr/>
        </p:nvSpPr>
        <p:spPr bwMode="auto">
          <a:xfrm flipV="1">
            <a:off x="6005371" y="3059873"/>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Line 22"/>
          <p:cNvSpPr>
            <a:spLocks noChangeShapeType="1"/>
          </p:cNvSpPr>
          <p:nvPr/>
        </p:nvSpPr>
        <p:spPr bwMode="auto">
          <a:xfrm>
            <a:off x="5260230" y="2027672"/>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7" name="Rectangle 23"/>
          <p:cNvSpPr>
            <a:spLocks noChangeArrowheads="1"/>
          </p:cNvSpPr>
          <p:nvPr/>
        </p:nvSpPr>
        <p:spPr bwMode="auto">
          <a:xfrm>
            <a:off x="2215970" y="1533970"/>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8" name="Rectangle 24"/>
          <p:cNvSpPr>
            <a:spLocks noChangeArrowheads="1"/>
          </p:cNvSpPr>
          <p:nvPr/>
        </p:nvSpPr>
        <p:spPr bwMode="auto">
          <a:xfrm>
            <a:off x="2811476" y="1533970"/>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9" name="Rectangle 25"/>
          <p:cNvSpPr>
            <a:spLocks noChangeArrowheads="1"/>
          </p:cNvSpPr>
          <p:nvPr/>
        </p:nvSpPr>
        <p:spPr bwMode="auto">
          <a:xfrm>
            <a:off x="3445402" y="1533970"/>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30" name="Rectangle 26"/>
          <p:cNvSpPr>
            <a:spLocks noChangeArrowheads="1"/>
          </p:cNvSpPr>
          <p:nvPr/>
        </p:nvSpPr>
        <p:spPr bwMode="auto">
          <a:xfrm>
            <a:off x="4687978"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31" name="Rectangle 27"/>
          <p:cNvSpPr>
            <a:spLocks noChangeArrowheads="1"/>
          </p:cNvSpPr>
          <p:nvPr/>
        </p:nvSpPr>
        <p:spPr bwMode="auto">
          <a:xfrm>
            <a:off x="5195522"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2" name="Rectangle 28"/>
          <p:cNvSpPr>
            <a:spLocks noChangeArrowheads="1"/>
          </p:cNvSpPr>
          <p:nvPr/>
        </p:nvSpPr>
        <p:spPr bwMode="auto">
          <a:xfrm>
            <a:off x="5943698"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3" name="Rectangle 29"/>
          <p:cNvSpPr>
            <a:spLocks noChangeArrowheads="1"/>
          </p:cNvSpPr>
          <p:nvPr/>
        </p:nvSpPr>
        <p:spPr bwMode="auto">
          <a:xfrm>
            <a:off x="7034617"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4" name="Rectangle 30"/>
          <p:cNvSpPr>
            <a:spLocks noChangeArrowheads="1"/>
          </p:cNvSpPr>
          <p:nvPr/>
        </p:nvSpPr>
        <p:spPr bwMode="auto">
          <a:xfrm>
            <a:off x="2311007" y="1762924"/>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5" name="Rectangle 31"/>
          <p:cNvSpPr>
            <a:spLocks noChangeArrowheads="1"/>
          </p:cNvSpPr>
          <p:nvPr/>
        </p:nvSpPr>
        <p:spPr bwMode="auto">
          <a:xfrm>
            <a:off x="4787059" y="2028277"/>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6" name="Rectangle 32"/>
          <p:cNvSpPr>
            <a:spLocks noChangeArrowheads="1"/>
          </p:cNvSpPr>
          <p:nvPr/>
        </p:nvSpPr>
        <p:spPr bwMode="auto">
          <a:xfrm>
            <a:off x="2436378" y="2280891"/>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7" name="Rectangle 33"/>
          <p:cNvSpPr>
            <a:spLocks noChangeArrowheads="1"/>
          </p:cNvSpPr>
          <p:nvPr/>
        </p:nvSpPr>
        <p:spPr bwMode="auto">
          <a:xfrm>
            <a:off x="3793201" y="228089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8" name="Rectangle 34"/>
          <p:cNvSpPr>
            <a:spLocks noChangeArrowheads="1"/>
          </p:cNvSpPr>
          <p:nvPr/>
        </p:nvSpPr>
        <p:spPr bwMode="auto">
          <a:xfrm>
            <a:off x="3165342" y="2028277"/>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9" name="Rectangle 35"/>
          <p:cNvSpPr>
            <a:spLocks noChangeArrowheads="1"/>
          </p:cNvSpPr>
          <p:nvPr/>
        </p:nvSpPr>
        <p:spPr bwMode="auto">
          <a:xfrm>
            <a:off x="3681986" y="1762924"/>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40" name="Rectangle 36"/>
          <p:cNvSpPr>
            <a:spLocks noChangeArrowheads="1"/>
          </p:cNvSpPr>
          <p:nvPr/>
        </p:nvSpPr>
        <p:spPr bwMode="auto">
          <a:xfrm>
            <a:off x="5526438" y="1762924"/>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41" name="Rectangle 37"/>
          <p:cNvSpPr>
            <a:spLocks noChangeArrowheads="1"/>
          </p:cNvSpPr>
          <p:nvPr/>
        </p:nvSpPr>
        <p:spPr bwMode="auto">
          <a:xfrm>
            <a:off x="5845627" y="2028277"/>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2" name="Rectangle 38"/>
          <p:cNvSpPr>
            <a:spLocks noChangeArrowheads="1"/>
          </p:cNvSpPr>
          <p:nvPr/>
        </p:nvSpPr>
        <p:spPr bwMode="auto">
          <a:xfrm>
            <a:off x="6306662" y="304741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3" name="Rectangle 39"/>
          <p:cNvSpPr>
            <a:spLocks noChangeArrowheads="1"/>
          </p:cNvSpPr>
          <p:nvPr/>
        </p:nvSpPr>
        <p:spPr bwMode="auto">
          <a:xfrm>
            <a:off x="5302695" y="2280891"/>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44" name="Rectangle 40"/>
          <p:cNvSpPr>
            <a:spLocks noChangeArrowheads="1"/>
          </p:cNvSpPr>
          <p:nvPr/>
        </p:nvSpPr>
        <p:spPr bwMode="auto">
          <a:xfrm>
            <a:off x="4341189" y="2543292"/>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5" name="Rectangle 41"/>
          <p:cNvSpPr>
            <a:spLocks noChangeArrowheads="1"/>
          </p:cNvSpPr>
          <p:nvPr/>
        </p:nvSpPr>
        <p:spPr bwMode="auto">
          <a:xfrm>
            <a:off x="4178410" y="2802742"/>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6" name="Rectangle 42"/>
          <p:cNvSpPr>
            <a:spLocks noChangeArrowheads="1"/>
          </p:cNvSpPr>
          <p:nvPr/>
        </p:nvSpPr>
        <p:spPr bwMode="auto">
          <a:xfrm>
            <a:off x="2947967" y="3047411"/>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7" name="Rectangle 43"/>
          <p:cNvSpPr>
            <a:spLocks noChangeArrowheads="1"/>
          </p:cNvSpPr>
          <p:nvPr/>
        </p:nvSpPr>
        <p:spPr bwMode="auto">
          <a:xfrm>
            <a:off x="1915688" y="1525571"/>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8" name="Group 46"/>
          <p:cNvGrpSpPr>
            <a:grpSpLocks/>
          </p:cNvGrpSpPr>
          <p:nvPr/>
        </p:nvGrpSpPr>
        <p:grpSpPr bwMode="auto">
          <a:xfrm>
            <a:off x="2209902" y="3159734"/>
            <a:ext cx="83917" cy="41064"/>
            <a:chOff x="833" y="3024"/>
            <a:chExt cx="78" cy="51"/>
          </a:xfrm>
        </p:grpSpPr>
        <p:sp>
          <p:nvSpPr>
            <p:cNvPr id="49"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0"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1"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52" name="Group 50"/>
          <p:cNvGrpSpPr>
            <a:grpSpLocks/>
          </p:cNvGrpSpPr>
          <p:nvPr/>
        </p:nvGrpSpPr>
        <p:grpSpPr bwMode="auto">
          <a:xfrm>
            <a:off x="7220650" y="3165334"/>
            <a:ext cx="83917" cy="39198"/>
            <a:chOff x="5432" y="3030"/>
            <a:chExt cx="78" cy="51"/>
          </a:xfrm>
        </p:grpSpPr>
        <p:sp>
          <p:nvSpPr>
            <p:cNvPr id="53"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4"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5"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56" name="Rectangle 75"/>
          <p:cNvSpPr>
            <a:spLocks noChangeArrowheads="1"/>
          </p:cNvSpPr>
          <p:nvPr/>
        </p:nvSpPr>
        <p:spPr bwMode="auto">
          <a:xfrm>
            <a:off x="3955981" y="3388536"/>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57" name="Rectangle 80"/>
          <p:cNvSpPr>
            <a:spLocks noChangeArrowheads="1"/>
          </p:cNvSpPr>
          <p:nvPr/>
        </p:nvSpPr>
        <p:spPr bwMode="auto">
          <a:xfrm>
            <a:off x="3890261" y="3893287"/>
            <a:ext cx="2536716" cy="264116"/>
          </a:xfrm>
          <a:prstGeom prst="rect">
            <a:avLst/>
          </a:prstGeom>
          <a:solidFill>
            <a:srgbClr val="00FFFF"/>
          </a:solidFill>
          <a:ln w="127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8" name="Rectangle 82"/>
          <p:cNvSpPr>
            <a:spLocks noChangeArrowheads="1"/>
          </p:cNvSpPr>
          <p:nvPr/>
        </p:nvSpPr>
        <p:spPr bwMode="auto">
          <a:xfrm>
            <a:off x="4253229" y="3888923"/>
            <a:ext cx="1971541" cy="27443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数       据       部       分</a:t>
            </a:r>
          </a:p>
        </p:txBody>
      </p:sp>
      <p:sp>
        <p:nvSpPr>
          <p:cNvPr id="59" name="Rectangle 83"/>
          <p:cNvSpPr>
            <a:spLocks noChangeArrowheads="1"/>
          </p:cNvSpPr>
          <p:nvPr/>
        </p:nvSpPr>
        <p:spPr bwMode="auto">
          <a:xfrm>
            <a:off x="3110745" y="3888923"/>
            <a:ext cx="62998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a:t>
            </a:r>
          </a:p>
        </p:txBody>
      </p:sp>
      <p:sp>
        <p:nvSpPr>
          <p:cNvPr id="60" name="Rectangle 85"/>
          <p:cNvSpPr>
            <a:spLocks noChangeArrowheads="1"/>
          </p:cNvSpPr>
          <p:nvPr/>
        </p:nvSpPr>
        <p:spPr bwMode="auto">
          <a:xfrm>
            <a:off x="4254238" y="4178869"/>
            <a:ext cx="902898" cy="293871"/>
          </a:xfrm>
          <a:prstGeom prst="rect">
            <a:avLst/>
          </a:prstGeom>
          <a:solidFill>
            <a:srgbClr val="C3E3F9"/>
          </a:solidFill>
          <a:ln>
            <a:noFill/>
          </a:ln>
          <a:effectLst/>
        </p:spPr>
        <p:txBody>
          <a:bodyPr wrap="none" lIns="90488" tIns="44450" rIns="90488" bIns="44450">
            <a:spAutoFit/>
          </a:bodyPr>
          <a:lstStyle/>
          <a:p>
            <a:pPr defTabSz="762000" eaLnBrk="0" hangingPunct="0"/>
            <a:r>
              <a:rPr kumimoji="1" lang="en-US" altLang="zh-CN" sz="1200" b="1" dirty="0">
                <a:solidFill>
                  <a:srgbClr val="0000CC"/>
                </a:solidFill>
                <a:latin typeface="微软雅黑" pitchFamily="34" charset="-122"/>
                <a:ea typeface="微软雅黑" pitchFamily="34" charset="-122"/>
              </a:rPr>
              <a:t>IP </a:t>
            </a:r>
            <a:r>
              <a:rPr kumimoji="1" lang="zh-CN" altLang="en-US" sz="1200" b="1" dirty="0">
                <a:solidFill>
                  <a:srgbClr val="0000CC"/>
                </a:solidFill>
                <a:latin typeface="微软雅黑" pitchFamily="34" charset="-122"/>
                <a:ea typeface="微软雅黑" pitchFamily="34" charset="-122"/>
              </a:rPr>
              <a:t>数据报</a:t>
            </a:r>
          </a:p>
        </p:txBody>
      </p:sp>
      <p:sp>
        <p:nvSpPr>
          <p:cNvPr id="61" name="AutoShape 97"/>
          <p:cNvSpPr>
            <a:spLocks/>
          </p:cNvSpPr>
          <p:nvPr/>
        </p:nvSpPr>
        <p:spPr bwMode="auto">
          <a:xfrm>
            <a:off x="2097554" y="1786887"/>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62" name="Group 100"/>
          <p:cNvGrpSpPr>
            <a:grpSpLocks/>
          </p:cNvGrpSpPr>
          <p:nvPr/>
        </p:nvGrpSpPr>
        <p:grpSpPr bwMode="auto">
          <a:xfrm>
            <a:off x="1912655" y="4199400"/>
            <a:ext cx="1059578" cy="454504"/>
            <a:chOff x="380" y="3475"/>
            <a:chExt cx="1048" cy="487"/>
          </a:xfrm>
        </p:grpSpPr>
        <p:sp>
          <p:nvSpPr>
            <p:cNvPr id="63" name="Line 98"/>
            <p:cNvSpPr>
              <a:spLocks noChangeShapeType="1"/>
            </p:cNvSpPr>
            <p:nvPr/>
          </p:nvSpPr>
          <p:spPr bwMode="auto">
            <a:xfrm flipV="1">
              <a:off x="1428" y="3475"/>
              <a:ext cx="0" cy="487"/>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64" name="Rectangle 99"/>
            <p:cNvSpPr>
              <a:spLocks noChangeArrowheads="1"/>
            </p:cNvSpPr>
            <p:nvPr/>
          </p:nvSpPr>
          <p:spPr bwMode="auto">
            <a:xfrm>
              <a:off x="380" y="3582"/>
              <a:ext cx="845" cy="3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CC"/>
                  </a:solidFill>
                  <a:latin typeface="微软雅黑" pitchFamily="34" charset="-122"/>
                  <a:ea typeface="微软雅黑" pitchFamily="34" charset="-122"/>
                </a:rPr>
                <a:t>发送在前</a:t>
              </a:r>
            </a:p>
          </p:txBody>
        </p:sp>
      </p:grpSp>
      <p:sp>
        <p:nvSpPr>
          <p:cNvPr id="65" name="矩形 64"/>
          <p:cNvSpPr/>
          <p:nvPr/>
        </p:nvSpPr>
        <p:spPr>
          <a:xfrm>
            <a:off x="2920480" y="1127693"/>
            <a:ext cx="3321743" cy="338554"/>
          </a:xfrm>
          <a:prstGeom prst="rect">
            <a:avLst/>
          </a:prstGeom>
          <a:solidFill>
            <a:srgbClr val="0000CC"/>
          </a:solidFill>
          <a:ln w="9525">
            <a:noFill/>
            <a:miter lim="800000"/>
            <a:headEnd/>
            <a:tailEnd/>
          </a:ln>
          <a:effectLst/>
        </p:spPr>
        <p:txBody>
          <a:bodyPr wrap="none">
            <a:spAutoFit/>
          </a:bodyPr>
          <a:lstStyle/>
          <a:p>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数据报由</a:t>
            </a:r>
            <a:r>
              <a:rPr lang="zh-CN" altLang="en-US" sz="1600" b="1" dirty="0">
                <a:solidFill>
                  <a:srgbClr val="FFFF00"/>
                </a:solidFill>
                <a:latin typeface="微软雅黑" pitchFamily="34" charset="-122"/>
                <a:ea typeface="微软雅黑" pitchFamily="34" charset="-122"/>
              </a:rPr>
              <a:t>首部</a:t>
            </a:r>
            <a:r>
              <a:rPr lang="zh-CN" altLang="en-US" sz="1600" b="1" dirty="0">
                <a:solidFill>
                  <a:schemeClr val="bg1"/>
                </a:solidFill>
                <a:latin typeface="微软雅黑" pitchFamily="34" charset="-122"/>
                <a:ea typeface="微软雅黑" pitchFamily="34" charset="-122"/>
              </a:rPr>
              <a:t>和</a:t>
            </a:r>
            <a:r>
              <a:rPr lang="zh-CN" altLang="en-US" sz="1600" b="1" dirty="0">
                <a:solidFill>
                  <a:srgbClr val="FFFF00"/>
                </a:solidFill>
                <a:latin typeface="微软雅黑" pitchFamily="34" charset="-122"/>
                <a:ea typeface="微软雅黑" pitchFamily="34" charset="-122"/>
              </a:rPr>
              <a:t>数据</a:t>
            </a:r>
            <a:r>
              <a:rPr lang="zh-CN" altLang="en-US" sz="1600" b="1" dirty="0">
                <a:solidFill>
                  <a:schemeClr val="bg1"/>
                </a:solidFill>
                <a:latin typeface="微软雅黑" pitchFamily="34" charset="-122"/>
                <a:ea typeface="微软雅黑" pitchFamily="34" charset="-122"/>
              </a:rPr>
              <a:t>两部分组成</a:t>
            </a:r>
          </a:p>
        </p:txBody>
      </p:sp>
      <p:grpSp>
        <p:nvGrpSpPr>
          <p:cNvPr id="66" name="组合 65"/>
          <p:cNvGrpSpPr/>
          <p:nvPr/>
        </p:nvGrpSpPr>
        <p:grpSpPr>
          <a:xfrm>
            <a:off x="1444206" y="1744891"/>
            <a:ext cx="5822950" cy="2411581"/>
            <a:chOff x="1444206" y="1385131"/>
            <a:chExt cx="5822950" cy="2411581"/>
          </a:xfrm>
        </p:grpSpPr>
        <p:grpSp>
          <p:nvGrpSpPr>
            <p:cNvPr id="67" name="Group 94"/>
            <p:cNvGrpSpPr>
              <a:grpSpLocks/>
            </p:cNvGrpSpPr>
            <p:nvPr/>
          </p:nvGrpSpPr>
          <p:grpSpPr bwMode="auto">
            <a:xfrm>
              <a:off x="1444206" y="1385131"/>
              <a:ext cx="336679" cy="1566034"/>
              <a:chOff x="-127" y="845"/>
              <a:chExt cx="333" cy="1678"/>
            </a:xfrm>
          </p:grpSpPr>
          <p:sp>
            <p:nvSpPr>
              <p:cNvPr id="70"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71"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sp>
          <p:nvSpPr>
            <p:cNvPr id="68" name="Rectangle 92"/>
            <p:cNvSpPr>
              <a:spLocks noChangeArrowheads="1"/>
            </p:cNvSpPr>
            <p:nvPr/>
          </p:nvSpPr>
          <p:spPr bwMode="auto">
            <a:xfrm>
              <a:off x="2970210" y="3531662"/>
              <a:ext cx="925108" cy="26505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9" name="Rectangle 92"/>
            <p:cNvSpPr>
              <a:spLocks noChangeArrowheads="1"/>
            </p:cNvSpPr>
            <p:nvPr/>
          </p:nvSpPr>
          <p:spPr bwMode="auto">
            <a:xfrm>
              <a:off x="2248865" y="1397262"/>
              <a:ext cx="5018291" cy="1553323"/>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Tree>
    <p:extLst>
      <p:ext uri="{BB962C8B-B14F-4D97-AF65-F5344CB8AC3E}">
        <p14:creationId xmlns:p14="http://schemas.microsoft.com/office/powerpoint/2010/main" val="215190590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withEffect">
                                  <p:stCondLst>
                                    <p:cond delay="500"/>
                                  </p:stCondLst>
                                  <p:childTnLst>
                                    <p:anim calcmode="discrete" valueType="str">
                                      <p:cBhvr>
                                        <p:cTn id="6" dur="1000" fill="hold"/>
                                        <p:tgtEl>
                                          <p:spTgt spid="6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59937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895101" y="567302"/>
            <a:ext cx="335380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4.2.5  IP </a:t>
            </a:r>
            <a:r>
              <a:rPr lang="zh-CN" altLang="en-US" sz="2400" b="1" dirty="0">
                <a:solidFill>
                  <a:schemeClr val="bg1"/>
                </a:solidFill>
                <a:latin typeface="微软雅黑" pitchFamily="34" charset="-122"/>
                <a:ea typeface="微软雅黑" pitchFamily="34" charset="-122"/>
              </a:rPr>
              <a:t>数据报的格式</a:t>
            </a:r>
          </a:p>
        </p:txBody>
      </p:sp>
      <p:sp>
        <p:nvSpPr>
          <p:cNvPr id="72" name="圆角矩形 71"/>
          <p:cNvSpPr/>
          <p:nvPr/>
        </p:nvSpPr>
        <p:spPr>
          <a:xfrm>
            <a:off x="959371" y="1045561"/>
            <a:ext cx="7254000" cy="367155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Rectangle 10"/>
          <p:cNvSpPr>
            <a:spLocks noChangeArrowheads="1"/>
          </p:cNvSpPr>
          <p:nvPr/>
        </p:nvSpPr>
        <p:spPr bwMode="auto">
          <a:xfrm>
            <a:off x="2252366" y="1757022"/>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4" name="Rectangle 44"/>
          <p:cNvSpPr>
            <a:spLocks noChangeArrowheads="1"/>
          </p:cNvSpPr>
          <p:nvPr/>
        </p:nvSpPr>
        <p:spPr bwMode="auto">
          <a:xfrm>
            <a:off x="2804398" y="1762924"/>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75" name="Rectangle 45"/>
          <p:cNvSpPr>
            <a:spLocks noChangeArrowheads="1"/>
          </p:cNvSpPr>
          <p:nvPr/>
        </p:nvSpPr>
        <p:spPr bwMode="auto">
          <a:xfrm>
            <a:off x="1805213" y="1998740"/>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76" name="Rectangle 54"/>
          <p:cNvSpPr>
            <a:spLocks noChangeArrowheads="1"/>
          </p:cNvSpPr>
          <p:nvPr/>
        </p:nvSpPr>
        <p:spPr bwMode="auto">
          <a:xfrm>
            <a:off x="1731621" y="2972145"/>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77" name="Line 6"/>
          <p:cNvSpPr>
            <a:spLocks noChangeShapeType="1"/>
          </p:cNvSpPr>
          <p:nvPr/>
        </p:nvSpPr>
        <p:spPr bwMode="auto">
          <a:xfrm>
            <a:off x="2992453" y="4299261"/>
            <a:ext cx="3451713"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78" name="Rectangle 90"/>
          <p:cNvSpPr>
            <a:spLocks noChangeArrowheads="1"/>
          </p:cNvSpPr>
          <p:nvPr/>
        </p:nvSpPr>
        <p:spPr bwMode="auto">
          <a:xfrm>
            <a:off x="2973243" y="3893287"/>
            <a:ext cx="917019" cy="264116"/>
          </a:xfrm>
          <a:prstGeom prst="rect">
            <a:avLst/>
          </a:prstGeom>
          <a:solidFill>
            <a:srgbClr val="99FFCC"/>
          </a:solidFill>
          <a:ln w="127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9" name="Rectangle 11"/>
          <p:cNvSpPr>
            <a:spLocks noChangeArrowheads="1"/>
          </p:cNvSpPr>
          <p:nvPr/>
        </p:nvSpPr>
        <p:spPr bwMode="auto">
          <a:xfrm>
            <a:off x="2261466" y="3317457"/>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0" name="Line 12"/>
          <p:cNvSpPr>
            <a:spLocks noChangeShapeType="1"/>
          </p:cNvSpPr>
          <p:nvPr/>
        </p:nvSpPr>
        <p:spPr bwMode="auto">
          <a:xfrm>
            <a:off x="2249333" y="2022072"/>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1" name="Line 13"/>
          <p:cNvSpPr>
            <a:spLocks noChangeShapeType="1"/>
          </p:cNvSpPr>
          <p:nvPr/>
        </p:nvSpPr>
        <p:spPr bwMode="auto">
          <a:xfrm>
            <a:off x="2249333" y="228245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2" name="Line 14"/>
          <p:cNvSpPr>
            <a:spLocks noChangeShapeType="1"/>
          </p:cNvSpPr>
          <p:nvPr/>
        </p:nvSpPr>
        <p:spPr bwMode="auto">
          <a:xfrm>
            <a:off x="2249333" y="2543773"/>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3" name="Line 15"/>
          <p:cNvSpPr>
            <a:spLocks noChangeShapeType="1"/>
          </p:cNvSpPr>
          <p:nvPr/>
        </p:nvSpPr>
        <p:spPr bwMode="auto">
          <a:xfrm>
            <a:off x="2249333" y="280135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4" name="Line 16"/>
          <p:cNvSpPr>
            <a:spLocks noChangeShapeType="1"/>
          </p:cNvSpPr>
          <p:nvPr/>
        </p:nvSpPr>
        <p:spPr bwMode="auto">
          <a:xfrm>
            <a:off x="2249333" y="3062673"/>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5" name="Line 17"/>
          <p:cNvSpPr>
            <a:spLocks noChangeShapeType="1"/>
          </p:cNvSpPr>
          <p:nvPr/>
        </p:nvSpPr>
        <p:spPr bwMode="auto">
          <a:xfrm>
            <a:off x="2866072" y="1761689"/>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6" name="Line 18"/>
          <p:cNvSpPr>
            <a:spLocks noChangeShapeType="1"/>
          </p:cNvSpPr>
          <p:nvPr/>
        </p:nvSpPr>
        <p:spPr bwMode="auto">
          <a:xfrm>
            <a:off x="3536811" y="1761689"/>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7" name="Line 19"/>
          <p:cNvSpPr>
            <a:spLocks noChangeShapeType="1"/>
          </p:cNvSpPr>
          <p:nvPr/>
        </p:nvSpPr>
        <p:spPr bwMode="auto">
          <a:xfrm>
            <a:off x="3536811" y="2288056"/>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8" name="Line 20"/>
          <p:cNvSpPr>
            <a:spLocks noChangeShapeType="1"/>
          </p:cNvSpPr>
          <p:nvPr/>
        </p:nvSpPr>
        <p:spPr bwMode="auto">
          <a:xfrm>
            <a:off x="4749651" y="1761689"/>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9" name="Line 21"/>
          <p:cNvSpPr>
            <a:spLocks noChangeShapeType="1"/>
          </p:cNvSpPr>
          <p:nvPr/>
        </p:nvSpPr>
        <p:spPr bwMode="auto">
          <a:xfrm flipV="1">
            <a:off x="6005371" y="3059873"/>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0" name="Line 22"/>
          <p:cNvSpPr>
            <a:spLocks noChangeShapeType="1"/>
          </p:cNvSpPr>
          <p:nvPr/>
        </p:nvSpPr>
        <p:spPr bwMode="auto">
          <a:xfrm>
            <a:off x="5260230" y="2027672"/>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1" name="Rectangle 23"/>
          <p:cNvSpPr>
            <a:spLocks noChangeArrowheads="1"/>
          </p:cNvSpPr>
          <p:nvPr/>
        </p:nvSpPr>
        <p:spPr bwMode="auto">
          <a:xfrm>
            <a:off x="2215970" y="1533970"/>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92" name="Rectangle 24"/>
          <p:cNvSpPr>
            <a:spLocks noChangeArrowheads="1"/>
          </p:cNvSpPr>
          <p:nvPr/>
        </p:nvSpPr>
        <p:spPr bwMode="auto">
          <a:xfrm>
            <a:off x="2811476" y="1533970"/>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93" name="Rectangle 25"/>
          <p:cNvSpPr>
            <a:spLocks noChangeArrowheads="1"/>
          </p:cNvSpPr>
          <p:nvPr/>
        </p:nvSpPr>
        <p:spPr bwMode="auto">
          <a:xfrm>
            <a:off x="3445402" y="1533970"/>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94" name="Rectangle 26"/>
          <p:cNvSpPr>
            <a:spLocks noChangeArrowheads="1"/>
          </p:cNvSpPr>
          <p:nvPr/>
        </p:nvSpPr>
        <p:spPr bwMode="auto">
          <a:xfrm>
            <a:off x="4687978"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95" name="Rectangle 27"/>
          <p:cNvSpPr>
            <a:spLocks noChangeArrowheads="1"/>
          </p:cNvSpPr>
          <p:nvPr/>
        </p:nvSpPr>
        <p:spPr bwMode="auto">
          <a:xfrm>
            <a:off x="5195522"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96" name="Rectangle 28"/>
          <p:cNvSpPr>
            <a:spLocks noChangeArrowheads="1"/>
          </p:cNvSpPr>
          <p:nvPr/>
        </p:nvSpPr>
        <p:spPr bwMode="auto">
          <a:xfrm>
            <a:off x="5943698"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97" name="Rectangle 29"/>
          <p:cNvSpPr>
            <a:spLocks noChangeArrowheads="1"/>
          </p:cNvSpPr>
          <p:nvPr/>
        </p:nvSpPr>
        <p:spPr bwMode="auto">
          <a:xfrm>
            <a:off x="7034617"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98" name="Rectangle 30"/>
          <p:cNvSpPr>
            <a:spLocks noChangeArrowheads="1"/>
          </p:cNvSpPr>
          <p:nvPr/>
        </p:nvSpPr>
        <p:spPr bwMode="auto">
          <a:xfrm>
            <a:off x="2311007" y="1762924"/>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99" name="Rectangle 31"/>
          <p:cNvSpPr>
            <a:spLocks noChangeArrowheads="1"/>
          </p:cNvSpPr>
          <p:nvPr/>
        </p:nvSpPr>
        <p:spPr bwMode="auto">
          <a:xfrm>
            <a:off x="4787059" y="2028277"/>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100" name="Rectangle 32"/>
          <p:cNvSpPr>
            <a:spLocks noChangeArrowheads="1"/>
          </p:cNvSpPr>
          <p:nvPr/>
        </p:nvSpPr>
        <p:spPr bwMode="auto">
          <a:xfrm>
            <a:off x="2436378" y="2280891"/>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101" name="Rectangle 33"/>
          <p:cNvSpPr>
            <a:spLocks noChangeArrowheads="1"/>
          </p:cNvSpPr>
          <p:nvPr/>
        </p:nvSpPr>
        <p:spPr bwMode="auto">
          <a:xfrm>
            <a:off x="3793201" y="228089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102" name="Rectangle 34"/>
          <p:cNvSpPr>
            <a:spLocks noChangeArrowheads="1"/>
          </p:cNvSpPr>
          <p:nvPr/>
        </p:nvSpPr>
        <p:spPr bwMode="auto">
          <a:xfrm>
            <a:off x="3165342" y="2028277"/>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103" name="Rectangle 35"/>
          <p:cNvSpPr>
            <a:spLocks noChangeArrowheads="1"/>
          </p:cNvSpPr>
          <p:nvPr/>
        </p:nvSpPr>
        <p:spPr bwMode="auto">
          <a:xfrm>
            <a:off x="3681986" y="1762924"/>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104" name="Rectangle 36"/>
          <p:cNvSpPr>
            <a:spLocks noChangeArrowheads="1"/>
          </p:cNvSpPr>
          <p:nvPr/>
        </p:nvSpPr>
        <p:spPr bwMode="auto">
          <a:xfrm>
            <a:off x="5526438" y="1762924"/>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105" name="Rectangle 37"/>
          <p:cNvSpPr>
            <a:spLocks noChangeArrowheads="1"/>
          </p:cNvSpPr>
          <p:nvPr/>
        </p:nvSpPr>
        <p:spPr bwMode="auto">
          <a:xfrm>
            <a:off x="5845627" y="2028277"/>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106" name="Rectangle 38"/>
          <p:cNvSpPr>
            <a:spLocks noChangeArrowheads="1"/>
          </p:cNvSpPr>
          <p:nvPr/>
        </p:nvSpPr>
        <p:spPr bwMode="auto">
          <a:xfrm>
            <a:off x="6306662" y="304741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107" name="Rectangle 39"/>
          <p:cNvSpPr>
            <a:spLocks noChangeArrowheads="1"/>
          </p:cNvSpPr>
          <p:nvPr/>
        </p:nvSpPr>
        <p:spPr bwMode="auto">
          <a:xfrm>
            <a:off x="5302695" y="2280891"/>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108" name="Rectangle 40"/>
          <p:cNvSpPr>
            <a:spLocks noChangeArrowheads="1"/>
          </p:cNvSpPr>
          <p:nvPr/>
        </p:nvSpPr>
        <p:spPr bwMode="auto">
          <a:xfrm>
            <a:off x="4341189" y="2543292"/>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109" name="Rectangle 41"/>
          <p:cNvSpPr>
            <a:spLocks noChangeArrowheads="1"/>
          </p:cNvSpPr>
          <p:nvPr/>
        </p:nvSpPr>
        <p:spPr bwMode="auto">
          <a:xfrm>
            <a:off x="4178410" y="2802742"/>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110" name="Rectangle 42"/>
          <p:cNvSpPr>
            <a:spLocks noChangeArrowheads="1"/>
          </p:cNvSpPr>
          <p:nvPr/>
        </p:nvSpPr>
        <p:spPr bwMode="auto">
          <a:xfrm>
            <a:off x="2947967" y="3047411"/>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111" name="Rectangle 43"/>
          <p:cNvSpPr>
            <a:spLocks noChangeArrowheads="1"/>
          </p:cNvSpPr>
          <p:nvPr/>
        </p:nvSpPr>
        <p:spPr bwMode="auto">
          <a:xfrm>
            <a:off x="1915688" y="1525571"/>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112" name="Group 46"/>
          <p:cNvGrpSpPr>
            <a:grpSpLocks/>
          </p:cNvGrpSpPr>
          <p:nvPr/>
        </p:nvGrpSpPr>
        <p:grpSpPr bwMode="auto">
          <a:xfrm>
            <a:off x="2209902" y="3159734"/>
            <a:ext cx="83917" cy="41064"/>
            <a:chOff x="833" y="3024"/>
            <a:chExt cx="78" cy="51"/>
          </a:xfrm>
        </p:grpSpPr>
        <p:sp>
          <p:nvSpPr>
            <p:cNvPr id="113"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14"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15"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116" name="Group 50"/>
          <p:cNvGrpSpPr>
            <a:grpSpLocks/>
          </p:cNvGrpSpPr>
          <p:nvPr/>
        </p:nvGrpSpPr>
        <p:grpSpPr bwMode="auto">
          <a:xfrm>
            <a:off x="7220650" y="3165334"/>
            <a:ext cx="83917" cy="39198"/>
            <a:chOff x="5432" y="3030"/>
            <a:chExt cx="78" cy="51"/>
          </a:xfrm>
        </p:grpSpPr>
        <p:sp>
          <p:nvSpPr>
            <p:cNvPr id="117"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18"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19"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120" name="Rectangle 75"/>
          <p:cNvSpPr>
            <a:spLocks noChangeArrowheads="1"/>
          </p:cNvSpPr>
          <p:nvPr/>
        </p:nvSpPr>
        <p:spPr bwMode="auto">
          <a:xfrm>
            <a:off x="3955981" y="3388536"/>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121" name="Rectangle 80"/>
          <p:cNvSpPr>
            <a:spLocks noChangeArrowheads="1"/>
          </p:cNvSpPr>
          <p:nvPr/>
        </p:nvSpPr>
        <p:spPr bwMode="auto">
          <a:xfrm>
            <a:off x="3890261" y="3893287"/>
            <a:ext cx="2536716" cy="264116"/>
          </a:xfrm>
          <a:prstGeom prst="rect">
            <a:avLst/>
          </a:prstGeom>
          <a:solidFill>
            <a:srgbClr val="00FFFF"/>
          </a:solidFill>
          <a:ln w="127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2" name="Rectangle 82"/>
          <p:cNvSpPr>
            <a:spLocks noChangeArrowheads="1"/>
          </p:cNvSpPr>
          <p:nvPr/>
        </p:nvSpPr>
        <p:spPr bwMode="auto">
          <a:xfrm>
            <a:off x="4253229" y="3888923"/>
            <a:ext cx="1971541" cy="27443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数       据       部       分</a:t>
            </a:r>
          </a:p>
        </p:txBody>
      </p:sp>
      <p:sp>
        <p:nvSpPr>
          <p:cNvPr id="123" name="Rectangle 83"/>
          <p:cNvSpPr>
            <a:spLocks noChangeArrowheads="1"/>
          </p:cNvSpPr>
          <p:nvPr/>
        </p:nvSpPr>
        <p:spPr bwMode="auto">
          <a:xfrm>
            <a:off x="3110745" y="3888923"/>
            <a:ext cx="62998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   部</a:t>
            </a:r>
          </a:p>
        </p:txBody>
      </p:sp>
      <p:sp>
        <p:nvSpPr>
          <p:cNvPr id="124" name="Rectangle 85"/>
          <p:cNvSpPr>
            <a:spLocks noChangeArrowheads="1"/>
          </p:cNvSpPr>
          <p:nvPr/>
        </p:nvSpPr>
        <p:spPr bwMode="auto">
          <a:xfrm>
            <a:off x="4254238" y="4178869"/>
            <a:ext cx="902898" cy="293871"/>
          </a:xfrm>
          <a:prstGeom prst="rect">
            <a:avLst/>
          </a:prstGeom>
          <a:solidFill>
            <a:srgbClr val="C3E3F9"/>
          </a:solidFill>
          <a:ln>
            <a:noFill/>
          </a:ln>
          <a:effectLst/>
        </p:spPr>
        <p:txBody>
          <a:bodyPr wrap="none" lIns="90488" tIns="44450" rIns="90488" bIns="44450">
            <a:spAutoFit/>
          </a:bodyPr>
          <a:lstStyle/>
          <a:p>
            <a:pPr defTabSz="762000" eaLnBrk="0" hangingPunct="0"/>
            <a:r>
              <a:rPr kumimoji="1" lang="en-US" altLang="zh-CN" sz="1200" b="1" dirty="0">
                <a:solidFill>
                  <a:srgbClr val="0000CC"/>
                </a:solidFill>
                <a:latin typeface="微软雅黑" pitchFamily="34" charset="-122"/>
                <a:ea typeface="微软雅黑" pitchFamily="34" charset="-122"/>
              </a:rPr>
              <a:t>IP </a:t>
            </a:r>
            <a:r>
              <a:rPr kumimoji="1" lang="zh-CN" altLang="en-US" sz="1200" b="1" dirty="0">
                <a:solidFill>
                  <a:srgbClr val="0000CC"/>
                </a:solidFill>
                <a:latin typeface="微软雅黑" pitchFamily="34" charset="-122"/>
                <a:ea typeface="微软雅黑" pitchFamily="34" charset="-122"/>
              </a:rPr>
              <a:t>数据报</a:t>
            </a:r>
          </a:p>
        </p:txBody>
      </p:sp>
      <p:sp>
        <p:nvSpPr>
          <p:cNvPr id="125" name="AutoShape 97"/>
          <p:cNvSpPr>
            <a:spLocks/>
          </p:cNvSpPr>
          <p:nvPr/>
        </p:nvSpPr>
        <p:spPr bwMode="auto">
          <a:xfrm>
            <a:off x="2097554" y="1786887"/>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126" name="Group 100"/>
          <p:cNvGrpSpPr>
            <a:grpSpLocks/>
          </p:cNvGrpSpPr>
          <p:nvPr/>
        </p:nvGrpSpPr>
        <p:grpSpPr bwMode="auto">
          <a:xfrm>
            <a:off x="1912655" y="4199400"/>
            <a:ext cx="1059578" cy="454504"/>
            <a:chOff x="380" y="3475"/>
            <a:chExt cx="1048" cy="487"/>
          </a:xfrm>
        </p:grpSpPr>
        <p:sp>
          <p:nvSpPr>
            <p:cNvPr id="127" name="Line 98"/>
            <p:cNvSpPr>
              <a:spLocks noChangeShapeType="1"/>
            </p:cNvSpPr>
            <p:nvPr/>
          </p:nvSpPr>
          <p:spPr bwMode="auto">
            <a:xfrm flipV="1">
              <a:off x="1428" y="3475"/>
              <a:ext cx="0" cy="487"/>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28" name="Rectangle 99"/>
            <p:cNvSpPr>
              <a:spLocks noChangeArrowheads="1"/>
            </p:cNvSpPr>
            <p:nvPr/>
          </p:nvSpPr>
          <p:spPr bwMode="auto">
            <a:xfrm>
              <a:off x="380" y="3582"/>
              <a:ext cx="845" cy="3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CC"/>
                  </a:solidFill>
                  <a:latin typeface="微软雅黑" pitchFamily="34" charset="-122"/>
                  <a:ea typeface="微软雅黑" pitchFamily="34" charset="-122"/>
                </a:rPr>
                <a:t>发送在前</a:t>
              </a:r>
            </a:p>
          </p:txBody>
        </p:sp>
      </p:grpSp>
      <p:sp>
        <p:nvSpPr>
          <p:cNvPr id="129" name="矩形 128"/>
          <p:cNvSpPr/>
          <p:nvPr/>
        </p:nvSpPr>
        <p:spPr>
          <a:xfrm>
            <a:off x="1163588" y="1127693"/>
            <a:ext cx="6835526" cy="338554"/>
          </a:xfrm>
          <a:prstGeom prst="rect">
            <a:avLst/>
          </a:prstGeom>
          <a:solidFill>
            <a:srgbClr val="0000CC"/>
          </a:solidFill>
          <a:ln w="9525">
            <a:noFill/>
            <a:miter lim="800000"/>
            <a:headEnd/>
            <a:tailEnd/>
          </a:ln>
          <a:effectLst/>
        </p:spPr>
        <p:txBody>
          <a:bodyPr wrap="none">
            <a:spAutoFit/>
          </a:bodyPr>
          <a:lstStyle/>
          <a:p>
            <a:r>
              <a:rPr lang="zh-CN" altLang="en-US" sz="1600" b="1" dirty="0">
                <a:solidFill>
                  <a:schemeClr val="bg1"/>
                </a:solidFill>
                <a:latin typeface="微软雅黑" pitchFamily="34" charset="-122"/>
                <a:ea typeface="微软雅黑" pitchFamily="34" charset="-122"/>
              </a:rPr>
              <a:t>首部的前一部分是</a:t>
            </a:r>
            <a:r>
              <a:rPr lang="zh-CN" altLang="en-US" sz="1600" b="1" dirty="0">
                <a:solidFill>
                  <a:srgbClr val="FFFF00"/>
                </a:solidFill>
                <a:latin typeface="微软雅黑" pitchFamily="34" charset="-122"/>
                <a:ea typeface="微软雅黑" pitchFamily="34" charset="-122"/>
              </a:rPr>
              <a:t>固定长度</a:t>
            </a:r>
            <a:r>
              <a:rPr lang="zh-CN" altLang="en-US" sz="1600" b="1" dirty="0">
                <a:solidFill>
                  <a:schemeClr val="bg1"/>
                </a:solidFill>
                <a:latin typeface="微软雅黑" pitchFamily="34" charset="-122"/>
                <a:ea typeface="微软雅黑" pitchFamily="34" charset="-122"/>
              </a:rPr>
              <a:t>，</a:t>
            </a:r>
            <a:r>
              <a:rPr lang="zh-CN" altLang="en-US" sz="1600" b="1" dirty="0">
                <a:solidFill>
                  <a:srgbClr val="FFFF00"/>
                </a:solidFill>
                <a:latin typeface="微软雅黑" pitchFamily="34" charset="-122"/>
                <a:ea typeface="微软雅黑" pitchFamily="34" charset="-122"/>
              </a:rPr>
              <a:t>共 </a:t>
            </a:r>
            <a:r>
              <a:rPr lang="en-US" altLang="zh-CN" sz="1600" b="1" dirty="0">
                <a:solidFill>
                  <a:srgbClr val="FFFF00"/>
                </a:solidFill>
                <a:latin typeface="微软雅黑" pitchFamily="34" charset="-122"/>
                <a:ea typeface="微软雅黑" pitchFamily="34" charset="-122"/>
              </a:rPr>
              <a:t>20 </a:t>
            </a:r>
            <a:r>
              <a:rPr lang="zh-CN" altLang="en-US" sz="1600" b="1" dirty="0">
                <a:solidFill>
                  <a:srgbClr val="FFFF00"/>
                </a:solidFill>
                <a:latin typeface="微软雅黑" pitchFamily="34" charset="-122"/>
                <a:ea typeface="微软雅黑" pitchFamily="34" charset="-122"/>
              </a:rPr>
              <a:t>字节</a:t>
            </a:r>
            <a:r>
              <a:rPr lang="zh-CN" altLang="en-US" sz="1600" b="1" dirty="0">
                <a:solidFill>
                  <a:schemeClr val="bg1"/>
                </a:solidFill>
                <a:latin typeface="微软雅黑" pitchFamily="34" charset="-122"/>
                <a:ea typeface="微软雅黑" pitchFamily="34" charset="-122"/>
              </a:rPr>
              <a:t>，是所有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数据报必须具有的。</a:t>
            </a:r>
          </a:p>
        </p:txBody>
      </p:sp>
      <p:grpSp>
        <p:nvGrpSpPr>
          <p:cNvPr id="130" name="组合 129"/>
          <p:cNvGrpSpPr/>
          <p:nvPr/>
        </p:nvGrpSpPr>
        <p:grpSpPr>
          <a:xfrm>
            <a:off x="1444206" y="1744891"/>
            <a:ext cx="5822950" cy="2411581"/>
            <a:chOff x="1444206" y="1385131"/>
            <a:chExt cx="5822950" cy="2411581"/>
          </a:xfrm>
        </p:grpSpPr>
        <p:grpSp>
          <p:nvGrpSpPr>
            <p:cNvPr id="131" name="Group 94"/>
            <p:cNvGrpSpPr>
              <a:grpSpLocks/>
            </p:cNvGrpSpPr>
            <p:nvPr/>
          </p:nvGrpSpPr>
          <p:grpSpPr bwMode="auto">
            <a:xfrm>
              <a:off x="1444206" y="1385131"/>
              <a:ext cx="336679" cy="1566034"/>
              <a:chOff x="-127" y="845"/>
              <a:chExt cx="333" cy="1678"/>
            </a:xfrm>
          </p:grpSpPr>
          <p:sp>
            <p:nvSpPr>
              <p:cNvPr id="134"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35"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sp>
          <p:nvSpPr>
            <p:cNvPr id="132" name="Rectangle 92"/>
            <p:cNvSpPr>
              <a:spLocks noChangeArrowheads="1"/>
            </p:cNvSpPr>
            <p:nvPr/>
          </p:nvSpPr>
          <p:spPr bwMode="auto">
            <a:xfrm>
              <a:off x="2970210" y="3531662"/>
              <a:ext cx="925108" cy="26505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33" name="Rectangle 92"/>
            <p:cNvSpPr>
              <a:spLocks noChangeArrowheads="1"/>
            </p:cNvSpPr>
            <p:nvPr/>
          </p:nvSpPr>
          <p:spPr bwMode="auto">
            <a:xfrm>
              <a:off x="2248865" y="1397262"/>
              <a:ext cx="5018291" cy="130565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Tree>
    <p:extLst>
      <p:ext uri="{BB962C8B-B14F-4D97-AF65-F5344CB8AC3E}">
        <p14:creationId xmlns:p14="http://schemas.microsoft.com/office/powerpoint/2010/main" val="81136060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withEffect">
                                  <p:stCondLst>
                                    <p:cond delay="500"/>
                                  </p:stCondLst>
                                  <p:childTnLst>
                                    <p:anim calcmode="discrete" valueType="str">
                                      <p:cBhvr>
                                        <p:cTn id="6" dur="1000" fill="hold"/>
                                        <p:tgtEl>
                                          <p:spTgt spid="13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59937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895101" y="567302"/>
            <a:ext cx="335380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4.2.5  IP </a:t>
            </a:r>
            <a:r>
              <a:rPr lang="zh-CN" altLang="en-US" sz="2400" b="1" dirty="0">
                <a:solidFill>
                  <a:schemeClr val="bg1"/>
                </a:solidFill>
                <a:latin typeface="微软雅黑" pitchFamily="34" charset="-122"/>
                <a:ea typeface="微软雅黑" pitchFamily="34" charset="-122"/>
              </a:rPr>
              <a:t>数据报的格式</a:t>
            </a:r>
          </a:p>
        </p:txBody>
      </p:sp>
      <p:sp>
        <p:nvSpPr>
          <p:cNvPr id="68" name="圆角矩形 67"/>
          <p:cNvSpPr/>
          <p:nvPr/>
        </p:nvSpPr>
        <p:spPr>
          <a:xfrm>
            <a:off x="946703" y="1045561"/>
            <a:ext cx="7254000" cy="367155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9" name="Rectangle 10"/>
          <p:cNvSpPr>
            <a:spLocks noChangeArrowheads="1"/>
          </p:cNvSpPr>
          <p:nvPr/>
        </p:nvSpPr>
        <p:spPr bwMode="auto">
          <a:xfrm>
            <a:off x="2252366" y="1757022"/>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0" name="Rectangle 44"/>
          <p:cNvSpPr>
            <a:spLocks noChangeArrowheads="1"/>
          </p:cNvSpPr>
          <p:nvPr/>
        </p:nvSpPr>
        <p:spPr bwMode="auto">
          <a:xfrm>
            <a:off x="2804398" y="1762924"/>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71" name="Rectangle 45"/>
          <p:cNvSpPr>
            <a:spLocks noChangeArrowheads="1"/>
          </p:cNvSpPr>
          <p:nvPr/>
        </p:nvSpPr>
        <p:spPr bwMode="auto">
          <a:xfrm>
            <a:off x="1805213" y="1998740"/>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36" name="Rectangle 54"/>
          <p:cNvSpPr>
            <a:spLocks noChangeArrowheads="1"/>
          </p:cNvSpPr>
          <p:nvPr/>
        </p:nvSpPr>
        <p:spPr bwMode="auto">
          <a:xfrm>
            <a:off x="1731621" y="2972145"/>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37" name="Rectangle 11"/>
          <p:cNvSpPr>
            <a:spLocks noChangeArrowheads="1"/>
          </p:cNvSpPr>
          <p:nvPr/>
        </p:nvSpPr>
        <p:spPr bwMode="auto">
          <a:xfrm>
            <a:off x="2261466" y="3317457"/>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38" name="Line 12"/>
          <p:cNvSpPr>
            <a:spLocks noChangeShapeType="1"/>
          </p:cNvSpPr>
          <p:nvPr/>
        </p:nvSpPr>
        <p:spPr bwMode="auto">
          <a:xfrm>
            <a:off x="2249333" y="2022072"/>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39" name="Line 13"/>
          <p:cNvSpPr>
            <a:spLocks noChangeShapeType="1"/>
          </p:cNvSpPr>
          <p:nvPr/>
        </p:nvSpPr>
        <p:spPr bwMode="auto">
          <a:xfrm>
            <a:off x="2249333" y="228245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0" name="Line 14"/>
          <p:cNvSpPr>
            <a:spLocks noChangeShapeType="1"/>
          </p:cNvSpPr>
          <p:nvPr/>
        </p:nvSpPr>
        <p:spPr bwMode="auto">
          <a:xfrm>
            <a:off x="2249333" y="2543773"/>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1" name="Line 15"/>
          <p:cNvSpPr>
            <a:spLocks noChangeShapeType="1"/>
          </p:cNvSpPr>
          <p:nvPr/>
        </p:nvSpPr>
        <p:spPr bwMode="auto">
          <a:xfrm>
            <a:off x="2249333" y="280135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2" name="Line 16"/>
          <p:cNvSpPr>
            <a:spLocks noChangeShapeType="1"/>
          </p:cNvSpPr>
          <p:nvPr/>
        </p:nvSpPr>
        <p:spPr bwMode="auto">
          <a:xfrm>
            <a:off x="2249333" y="3062673"/>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3" name="Line 17"/>
          <p:cNvSpPr>
            <a:spLocks noChangeShapeType="1"/>
          </p:cNvSpPr>
          <p:nvPr/>
        </p:nvSpPr>
        <p:spPr bwMode="auto">
          <a:xfrm>
            <a:off x="2866072" y="1761689"/>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4" name="Line 18"/>
          <p:cNvSpPr>
            <a:spLocks noChangeShapeType="1"/>
          </p:cNvSpPr>
          <p:nvPr/>
        </p:nvSpPr>
        <p:spPr bwMode="auto">
          <a:xfrm>
            <a:off x="3536811" y="1761689"/>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5" name="Line 19"/>
          <p:cNvSpPr>
            <a:spLocks noChangeShapeType="1"/>
          </p:cNvSpPr>
          <p:nvPr/>
        </p:nvSpPr>
        <p:spPr bwMode="auto">
          <a:xfrm>
            <a:off x="3536811" y="2288056"/>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6" name="Line 20"/>
          <p:cNvSpPr>
            <a:spLocks noChangeShapeType="1"/>
          </p:cNvSpPr>
          <p:nvPr/>
        </p:nvSpPr>
        <p:spPr bwMode="auto">
          <a:xfrm>
            <a:off x="4749651" y="1761689"/>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7" name="Line 21"/>
          <p:cNvSpPr>
            <a:spLocks noChangeShapeType="1"/>
          </p:cNvSpPr>
          <p:nvPr/>
        </p:nvSpPr>
        <p:spPr bwMode="auto">
          <a:xfrm flipV="1">
            <a:off x="6005371" y="3059873"/>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8" name="Line 22"/>
          <p:cNvSpPr>
            <a:spLocks noChangeShapeType="1"/>
          </p:cNvSpPr>
          <p:nvPr/>
        </p:nvSpPr>
        <p:spPr bwMode="auto">
          <a:xfrm>
            <a:off x="5260230" y="2027672"/>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9" name="Rectangle 23"/>
          <p:cNvSpPr>
            <a:spLocks noChangeArrowheads="1"/>
          </p:cNvSpPr>
          <p:nvPr/>
        </p:nvSpPr>
        <p:spPr bwMode="auto">
          <a:xfrm>
            <a:off x="2215970" y="1533970"/>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150" name="Rectangle 24"/>
          <p:cNvSpPr>
            <a:spLocks noChangeArrowheads="1"/>
          </p:cNvSpPr>
          <p:nvPr/>
        </p:nvSpPr>
        <p:spPr bwMode="auto">
          <a:xfrm>
            <a:off x="2811476" y="1533970"/>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151" name="Rectangle 25"/>
          <p:cNvSpPr>
            <a:spLocks noChangeArrowheads="1"/>
          </p:cNvSpPr>
          <p:nvPr/>
        </p:nvSpPr>
        <p:spPr bwMode="auto">
          <a:xfrm>
            <a:off x="3445402" y="1533970"/>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152" name="Rectangle 26"/>
          <p:cNvSpPr>
            <a:spLocks noChangeArrowheads="1"/>
          </p:cNvSpPr>
          <p:nvPr/>
        </p:nvSpPr>
        <p:spPr bwMode="auto">
          <a:xfrm>
            <a:off x="4687978"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153" name="Rectangle 27"/>
          <p:cNvSpPr>
            <a:spLocks noChangeArrowheads="1"/>
          </p:cNvSpPr>
          <p:nvPr/>
        </p:nvSpPr>
        <p:spPr bwMode="auto">
          <a:xfrm>
            <a:off x="5195522"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154" name="Rectangle 28"/>
          <p:cNvSpPr>
            <a:spLocks noChangeArrowheads="1"/>
          </p:cNvSpPr>
          <p:nvPr/>
        </p:nvSpPr>
        <p:spPr bwMode="auto">
          <a:xfrm>
            <a:off x="5943698"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155" name="Rectangle 29"/>
          <p:cNvSpPr>
            <a:spLocks noChangeArrowheads="1"/>
          </p:cNvSpPr>
          <p:nvPr/>
        </p:nvSpPr>
        <p:spPr bwMode="auto">
          <a:xfrm>
            <a:off x="7034617"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156" name="Rectangle 30"/>
          <p:cNvSpPr>
            <a:spLocks noChangeArrowheads="1"/>
          </p:cNvSpPr>
          <p:nvPr/>
        </p:nvSpPr>
        <p:spPr bwMode="auto">
          <a:xfrm>
            <a:off x="2311007" y="1762924"/>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157" name="Rectangle 31"/>
          <p:cNvSpPr>
            <a:spLocks noChangeArrowheads="1"/>
          </p:cNvSpPr>
          <p:nvPr/>
        </p:nvSpPr>
        <p:spPr bwMode="auto">
          <a:xfrm>
            <a:off x="4787059" y="2028277"/>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158" name="Rectangle 32"/>
          <p:cNvSpPr>
            <a:spLocks noChangeArrowheads="1"/>
          </p:cNvSpPr>
          <p:nvPr/>
        </p:nvSpPr>
        <p:spPr bwMode="auto">
          <a:xfrm>
            <a:off x="2436378" y="2280891"/>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159" name="Rectangle 33"/>
          <p:cNvSpPr>
            <a:spLocks noChangeArrowheads="1"/>
          </p:cNvSpPr>
          <p:nvPr/>
        </p:nvSpPr>
        <p:spPr bwMode="auto">
          <a:xfrm>
            <a:off x="3793201" y="228089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160" name="Rectangle 34"/>
          <p:cNvSpPr>
            <a:spLocks noChangeArrowheads="1"/>
          </p:cNvSpPr>
          <p:nvPr/>
        </p:nvSpPr>
        <p:spPr bwMode="auto">
          <a:xfrm>
            <a:off x="3165342" y="2028277"/>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161" name="Rectangle 35"/>
          <p:cNvSpPr>
            <a:spLocks noChangeArrowheads="1"/>
          </p:cNvSpPr>
          <p:nvPr/>
        </p:nvSpPr>
        <p:spPr bwMode="auto">
          <a:xfrm>
            <a:off x="3681986" y="1762924"/>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162" name="Rectangle 36"/>
          <p:cNvSpPr>
            <a:spLocks noChangeArrowheads="1"/>
          </p:cNvSpPr>
          <p:nvPr/>
        </p:nvSpPr>
        <p:spPr bwMode="auto">
          <a:xfrm>
            <a:off x="5526438" y="1762924"/>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163" name="Rectangle 37"/>
          <p:cNvSpPr>
            <a:spLocks noChangeArrowheads="1"/>
          </p:cNvSpPr>
          <p:nvPr/>
        </p:nvSpPr>
        <p:spPr bwMode="auto">
          <a:xfrm>
            <a:off x="5845627" y="2028277"/>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164" name="Rectangle 38"/>
          <p:cNvSpPr>
            <a:spLocks noChangeArrowheads="1"/>
          </p:cNvSpPr>
          <p:nvPr/>
        </p:nvSpPr>
        <p:spPr bwMode="auto">
          <a:xfrm>
            <a:off x="6306662" y="304741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165" name="Rectangle 39"/>
          <p:cNvSpPr>
            <a:spLocks noChangeArrowheads="1"/>
          </p:cNvSpPr>
          <p:nvPr/>
        </p:nvSpPr>
        <p:spPr bwMode="auto">
          <a:xfrm>
            <a:off x="5302695" y="2280891"/>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166" name="Rectangle 40"/>
          <p:cNvSpPr>
            <a:spLocks noChangeArrowheads="1"/>
          </p:cNvSpPr>
          <p:nvPr/>
        </p:nvSpPr>
        <p:spPr bwMode="auto">
          <a:xfrm>
            <a:off x="4341189" y="2543292"/>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167" name="Rectangle 41"/>
          <p:cNvSpPr>
            <a:spLocks noChangeArrowheads="1"/>
          </p:cNvSpPr>
          <p:nvPr/>
        </p:nvSpPr>
        <p:spPr bwMode="auto">
          <a:xfrm>
            <a:off x="4178410" y="2802742"/>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168" name="Rectangle 42"/>
          <p:cNvSpPr>
            <a:spLocks noChangeArrowheads="1"/>
          </p:cNvSpPr>
          <p:nvPr/>
        </p:nvSpPr>
        <p:spPr bwMode="auto">
          <a:xfrm>
            <a:off x="2947967" y="3047411"/>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169" name="Rectangle 43"/>
          <p:cNvSpPr>
            <a:spLocks noChangeArrowheads="1"/>
          </p:cNvSpPr>
          <p:nvPr/>
        </p:nvSpPr>
        <p:spPr bwMode="auto">
          <a:xfrm>
            <a:off x="1915688" y="1525571"/>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170" name="Group 46"/>
          <p:cNvGrpSpPr>
            <a:grpSpLocks/>
          </p:cNvGrpSpPr>
          <p:nvPr/>
        </p:nvGrpSpPr>
        <p:grpSpPr bwMode="auto">
          <a:xfrm>
            <a:off x="2209902" y="3159734"/>
            <a:ext cx="83917" cy="41064"/>
            <a:chOff x="833" y="3024"/>
            <a:chExt cx="78" cy="51"/>
          </a:xfrm>
        </p:grpSpPr>
        <p:sp>
          <p:nvSpPr>
            <p:cNvPr id="171"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2"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3"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174" name="Group 50"/>
          <p:cNvGrpSpPr>
            <a:grpSpLocks/>
          </p:cNvGrpSpPr>
          <p:nvPr/>
        </p:nvGrpSpPr>
        <p:grpSpPr bwMode="auto">
          <a:xfrm>
            <a:off x="7220650" y="3165334"/>
            <a:ext cx="83917" cy="39198"/>
            <a:chOff x="5432" y="3030"/>
            <a:chExt cx="78" cy="51"/>
          </a:xfrm>
        </p:grpSpPr>
        <p:sp>
          <p:nvSpPr>
            <p:cNvPr id="17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6"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7"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178" name="Rectangle 75"/>
          <p:cNvSpPr>
            <a:spLocks noChangeArrowheads="1"/>
          </p:cNvSpPr>
          <p:nvPr/>
        </p:nvSpPr>
        <p:spPr bwMode="auto">
          <a:xfrm>
            <a:off x="3955981" y="3388536"/>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179" name="AutoShape 97"/>
          <p:cNvSpPr>
            <a:spLocks/>
          </p:cNvSpPr>
          <p:nvPr/>
        </p:nvSpPr>
        <p:spPr bwMode="auto">
          <a:xfrm>
            <a:off x="2097554" y="1786887"/>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0" name="矩形 179"/>
          <p:cNvSpPr/>
          <p:nvPr/>
        </p:nvSpPr>
        <p:spPr>
          <a:xfrm>
            <a:off x="3257912" y="1127693"/>
            <a:ext cx="2646878" cy="338554"/>
          </a:xfrm>
          <a:prstGeom prst="rect">
            <a:avLst/>
          </a:prstGeom>
          <a:solidFill>
            <a:srgbClr val="0000CC"/>
          </a:solidFill>
          <a:ln w="9525">
            <a:no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可选字段，其长度是</a:t>
            </a:r>
            <a:r>
              <a:rPr lang="zh-CN" altLang="en-US" sz="1600" b="1" dirty="0">
                <a:solidFill>
                  <a:srgbClr val="FFFF00"/>
                </a:solidFill>
                <a:latin typeface="微软雅黑" pitchFamily="34" charset="-122"/>
                <a:ea typeface="微软雅黑" pitchFamily="34" charset="-122"/>
              </a:rPr>
              <a:t>可变</a:t>
            </a:r>
            <a:r>
              <a:rPr lang="zh-CN" altLang="en-US" sz="1600" b="1" dirty="0">
                <a:solidFill>
                  <a:schemeClr val="bg1"/>
                </a:solidFill>
                <a:latin typeface="微软雅黑" pitchFamily="34" charset="-122"/>
                <a:ea typeface="微软雅黑" pitchFamily="34" charset="-122"/>
              </a:rPr>
              <a:t>的</a:t>
            </a:r>
          </a:p>
        </p:txBody>
      </p:sp>
      <p:grpSp>
        <p:nvGrpSpPr>
          <p:cNvPr id="181" name="组合 180"/>
          <p:cNvGrpSpPr/>
          <p:nvPr/>
        </p:nvGrpSpPr>
        <p:grpSpPr>
          <a:xfrm>
            <a:off x="1444206" y="1744891"/>
            <a:ext cx="5822950" cy="1566034"/>
            <a:chOff x="1444206" y="1385131"/>
            <a:chExt cx="5822950" cy="1566034"/>
          </a:xfrm>
        </p:grpSpPr>
        <p:grpSp>
          <p:nvGrpSpPr>
            <p:cNvPr id="182" name="Group 94"/>
            <p:cNvGrpSpPr>
              <a:grpSpLocks/>
            </p:cNvGrpSpPr>
            <p:nvPr/>
          </p:nvGrpSpPr>
          <p:grpSpPr bwMode="auto">
            <a:xfrm>
              <a:off x="1444206" y="1385131"/>
              <a:ext cx="336679" cy="1566034"/>
              <a:chOff x="-127" y="845"/>
              <a:chExt cx="333" cy="1678"/>
            </a:xfrm>
          </p:grpSpPr>
          <p:sp>
            <p:nvSpPr>
              <p:cNvPr id="184"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85"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sp>
          <p:nvSpPr>
            <p:cNvPr id="183" name="Rectangle 92"/>
            <p:cNvSpPr>
              <a:spLocks noChangeArrowheads="1"/>
            </p:cNvSpPr>
            <p:nvPr/>
          </p:nvSpPr>
          <p:spPr bwMode="auto">
            <a:xfrm flipV="1">
              <a:off x="2248865" y="2702913"/>
              <a:ext cx="5018291" cy="24825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204" name="Line 6"/>
          <p:cNvSpPr>
            <a:spLocks noChangeShapeType="1"/>
          </p:cNvSpPr>
          <p:nvPr/>
        </p:nvSpPr>
        <p:spPr bwMode="auto">
          <a:xfrm>
            <a:off x="2992453" y="4299261"/>
            <a:ext cx="3451713"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05" name="Rectangle 90"/>
          <p:cNvSpPr>
            <a:spLocks noChangeArrowheads="1"/>
          </p:cNvSpPr>
          <p:nvPr/>
        </p:nvSpPr>
        <p:spPr bwMode="auto">
          <a:xfrm>
            <a:off x="2973243" y="3893287"/>
            <a:ext cx="917019" cy="264116"/>
          </a:xfrm>
          <a:prstGeom prst="rect">
            <a:avLst/>
          </a:prstGeom>
          <a:solidFill>
            <a:srgbClr val="99FFCC"/>
          </a:solidFill>
          <a:ln w="127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6" name="Rectangle 80"/>
          <p:cNvSpPr>
            <a:spLocks noChangeArrowheads="1"/>
          </p:cNvSpPr>
          <p:nvPr/>
        </p:nvSpPr>
        <p:spPr bwMode="auto">
          <a:xfrm>
            <a:off x="3890261" y="3893287"/>
            <a:ext cx="2536716" cy="264116"/>
          </a:xfrm>
          <a:prstGeom prst="rect">
            <a:avLst/>
          </a:prstGeom>
          <a:solidFill>
            <a:srgbClr val="00FFFF"/>
          </a:solidFill>
          <a:ln w="127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7" name="Rectangle 82"/>
          <p:cNvSpPr>
            <a:spLocks noChangeArrowheads="1"/>
          </p:cNvSpPr>
          <p:nvPr/>
        </p:nvSpPr>
        <p:spPr bwMode="auto">
          <a:xfrm>
            <a:off x="4253229" y="3888923"/>
            <a:ext cx="1971541" cy="27443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数       据       部       分</a:t>
            </a:r>
          </a:p>
        </p:txBody>
      </p:sp>
      <p:sp>
        <p:nvSpPr>
          <p:cNvPr id="208" name="Rectangle 83"/>
          <p:cNvSpPr>
            <a:spLocks noChangeArrowheads="1"/>
          </p:cNvSpPr>
          <p:nvPr/>
        </p:nvSpPr>
        <p:spPr bwMode="auto">
          <a:xfrm>
            <a:off x="3110745" y="3888923"/>
            <a:ext cx="62998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   部</a:t>
            </a:r>
          </a:p>
        </p:txBody>
      </p:sp>
      <p:sp>
        <p:nvSpPr>
          <p:cNvPr id="209" name="Rectangle 85"/>
          <p:cNvSpPr>
            <a:spLocks noChangeArrowheads="1"/>
          </p:cNvSpPr>
          <p:nvPr/>
        </p:nvSpPr>
        <p:spPr bwMode="auto">
          <a:xfrm>
            <a:off x="4254238" y="4178869"/>
            <a:ext cx="902898" cy="293871"/>
          </a:xfrm>
          <a:prstGeom prst="rect">
            <a:avLst/>
          </a:prstGeom>
          <a:solidFill>
            <a:srgbClr val="C3E3F9"/>
          </a:solidFill>
          <a:ln>
            <a:noFill/>
          </a:ln>
          <a:effectLst/>
        </p:spPr>
        <p:txBody>
          <a:bodyPr wrap="none" lIns="90488" tIns="44450" rIns="90488" bIns="44450">
            <a:spAutoFit/>
          </a:bodyPr>
          <a:lstStyle/>
          <a:p>
            <a:pPr defTabSz="762000" eaLnBrk="0" hangingPunct="0"/>
            <a:r>
              <a:rPr kumimoji="1" lang="en-US" altLang="zh-CN" sz="1200" b="1" dirty="0">
                <a:solidFill>
                  <a:srgbClr val="0000CC"/>
                </a:solidFill>
                <a:latin typeface="微软雅黑" pitchFamily="34" charset="-122"/>
                <a:ea typeface="微软雅黑" pitchFamily="34" charset="-122"/>
              </a:rPr>
              <a:t>IP </a:t>
            </a:r>
            <a:r>
              <a:rPr kumimoji="1" lang="zh-CN" altLang="en-US" sz="1200" b="1" dirty="0">
                <a:solidFill>
                  <a:srgbClr val="0000CC"/>
                </a:solidFill>
                <a:latin typeface="微软雅黑" pitchFamily="34" charset="-122"/>
                <a:ea typeface="微软雅黑" pitchFamily="34" charset="-122"/>
              </a:rPr>
              <a:t>数据报</a:t>
            </a:r>
          </a:p>
        </p:txBody>
      </p:sp>
      <p:grpSp>
        <p:nvGrpSpPr>
          <p:cNvPr id="210" name="Group 100"/>
          <p:cNvGrpSpPr>
            <a:grpSpLocks/>
          </p:cNvGrpSpPr>
          <p:nvPr/>
        </p:nvGrpSpPr>
        <p:grpSpPr bwMode="auto">
          <a:xfrm>
            <a:off x="1912655" y="4199400"/>
            <a:ext cx="1059578" cy="454504"/>
            <a:chOff x="380" y="3475"/>
            <a:chExt cx="1048" cy="487"/>
          </a:xfrm>
        </p:grpSpPr>
        <p:sp>
          <p:nvSpPr>
            <p:cNvPr id="211" name="Line 98"/>
            <p:cNvSpPr>
              <a:spLocks noChangeShapeType="1"/>
            </p:cNvSpPr>
            <p:nvPr/>
          </p:nvSpPr>
          <p:spPr bwMode="auto">
            <a:xfrm flipV="1">
              <a:off x="1428" y="3475"/>
              <a:ext cx="0" cy="487"/>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12" name="Rectangle 99"/>
            <p:cNvSpPr>
              <a:spLocks noChangeArrowheads="1"/>
            </p:cNvSpPr>
            <p:nvPr/>
          </p:nvSpPr>
          <p:spPr bwMode="auto">
            <a:xfrm>
              <a:off x="380" y="3582"/>
              <a:ext cx="845" cy="3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CC"/>
                  </a:solidFill>
                  <a:latin typeface="微软雅黑" pitchFamily="34" charset="-122"/>
                  <a:ea typeface="微软雅黑" pitchFamily="34" charset="-122"/>
                </a:rPr>
                <a:t>发送在前</a:t>
              </a:r>
            </a:p>
          </p:txBody>
        </p:sp>
      </p:grpSp>
      <p:sp>
        <p:nvSpPr>
          <p:cNvPr id="213" name="Rectangle 92"/>
          <p:cNvSpPr>
            <a:spLocks noChangeArrowheads="1"/>
          </p:cNvSpPr>
          <p:nvPr/>
        </p:nvSpPr>
        <p:spPr bwMode="auto">
          <a:xfrm>
            <a:off x="2970210" y="3891422"/>
            <a:ext cx="925108" cy="26505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13480894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afterEffect">
                                  <p:stCondLst>
                                    <p:cond delay="0"/>
                                  </p:stCondLst>
                                  <p:childTnLst>
                                    <p:anim calcmode="discrete" valueType="str">
                                      <p:cBhvr>
                                        <p:cTn id="6" dur="1000" fill="hold"/>
                                        <p:tgtEl>
                                          <p:spTgt spid="181"/>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21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3"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8" name="圆角矩形 7"/>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1" name="组合 60"/>
          <p:cNvGrpSpPr/>
          <p:nvPr/>
        </p:nvGrpSpPr>
        <p:grpSpPr>
          <a:xfrm>
            <a:off x="1637153" y="1084892"/>
            <a:ext cx="5962309" cy="2192261"/>
            <a:chOff x="1392642" y="1665825"/>
            <a:chExt cx="5962309" cy="2192261"/>
          </a:xfrm>
        </p:grpSpPr>
        <p:sp>
          <p:nvSpPr>
            <p:cNvPr id="9"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0"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1"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2"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3"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6"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7"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28"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29"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0"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1"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2"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3"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4"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5"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6"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7"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38"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39"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0"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1"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42"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3"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4"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5"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6" name="Group 46"/>
            <p:cNvGrpSpPr>
              <a:grpSpLocks/>
            </p:cNvGrpSpPr>
            <p:nvPr/>
          </p:nvGrpSpPr>
          <p:grpSpPr bwMode="auto">
            <a:xfrm>
              <a:off x="2158338" y="3299988"/>
              <a:ext cx="83917" cy="41064"/>
              <a:chOff x="833" y="3024"/>
              <a:chExt cx="78" cy="51"/>
            </a:xfrm>
          </p:grpSpPr>
          <p:sp>
            <p:nvSpPr>
              <p:cNvPr id="47"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8"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9"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50" name="Group 50"/>
            <p:cNvGrpSpPr>
              <a:grpSpLocks/>
            </p:cNvGrpSpPr>
            <p:nvPr/>
          </p:nvGrpSpPr>
          <p:grpSpPr bwMode="auto">
            <a:xfrm>
              <a:off x="7169086" y="3305588"/>
              <a:ext cx="83917" cy="39198"/>
              <a:chOff x="5432" y="3030"/>
              <a:chExt cx="78" cy="51"/>
            </a:xfrm>
          </p:grpSpPr>
          <p:sp>
            <p:nvSpPr>
              <p:cNvPr id="51"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2"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3"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54"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55"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57" name="Group 94"/>
            <p:cNvGrpSpPr>
              <a:grpSpLocks/>
            </p:cNvGrpSpPr>
            <p:nvPr/>
          </p:nvGrpSpPr>
          <p:grpSpPr bwMode="auto">
            <a:xfrm>
              <a:off x="1392642" y="1885145"/>
              <a:ext cx="336679" cy="1566034"/>
              <a:chOff x="-127" y="845"/>
              <a:chExt cx="333" cy="1678"/>
            </a:xfrm>
          </p:grpSpPr>
          <p:sp>
            <p:nvSpPr>
              <p:cNvPr id="59"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60"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62" name="矩形 61"/>
          <p:cNvSpPr/>
          <p:nvPr/>
        </p:nvSpPr>
        <p:spPr>
          <a:xfrm>
            <a:off x="3006163" y="3505490"/>
            <a:ext cx="3685624" cy="584775"/>
          </a:xfrm>
          <a:prstGeom prst="rect">
            <a:avLst/>
          </a:prstGeom>
          <a:solidFill>
            <a:srgbClr val="0000CC"/>
          </a:solidFill>
          <a:ln w="9525">
            <a:no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版本</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占 </a:t>
            </a:r>
            <a:r>
              <a:rPr lang="en-US" altLang="zh-CN" sz="1600" b="1" dirty="0">
                <a:solidFill>
                  <a:schemeClr val="bg1"/>
                </a:solidFill>
                <a:latin typeface="微软雅黑" pitchFamily="34" charset="-122"/>
                <a:ea typeface="微软雅黑" pitchFamily="34" charset="-122"/>
              </a:rPr>
              <a:t>4 </a:t>
            </a:r>
            <a:r>
              <a:rPr lang="zh-CN" altLang="en-US" sz="1600" b="1" dirty="0">
                <a:solidFill>
                  <a:schemeClr val="bg1"/>
                </a:solidFill>
                <a:latin typeface="微软雅黑" pitchFamily="34" charset="-122"/>
                <a:ea typeface="微软雅黑" pitchFamily="34" charset="-122"/>
              </a:rPr>
              <a:t>位，指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协议的版本。</a:t>
            </a:r>
          </a:p>
          <a:p>
            <a:pPr algn="ctr"/>
            <a:r>
              <a:rPr lang="zh-CN" altLang="en-US" sz="1600" b="1" dirty="0">
                <a:solidFill>
                  <a:schemeClr val="bg1"/>
                </a:solidFill>
                <a:latin typeface="微软雅黑" pitchFamily="34" charset="-122"/>
                <a:ea typeface="微软雅黑" pitchFamily="34" charset="-122"/>
              </a:rPr>
              <a:t>目前的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协议版本号为 </a:t>
            </a:r>
            <a:r>
              <a:rPr lang="en-US" altLang="zh-CN" sz="1600" b="1" dirty="0">
                <a:solidFill>
                  <a:schemeClr val="bg1"/>
                </a:solidFill>
                <a:latin typeface="微软雅黑" pitchFamily="34" charset="-122"/>
                <a:ea typeface="微软雅黑" pitchFamily="34" charset="-122"/>
              </a:rPr>
              <a:t>4 (</a:t>
            </a:r>
            <a:r>
              <a:rPr lang="zh-CN" altLang="en-US" sz="1600" b="1" dirty="0">
                <a:solidFill>
                  <a:schemeClr val="bg1"/>
                </a:solidFill>
                <a:latin typeface="微软雅黑" pitchFamily="34" charset="-122"/>
                <a:ea typeface="微软雅黑" pitchFamily="34" charset="-122"/>
              </a:rPr>
              <a:t>即 </a:t>
            </a:r>
            <a:r>
              <a:rPr lang="en-US" altLang="zh-CN" sz="1600" b="1" dirty="0">
                <a:solidFill>
                  <a:schemeClr val="bg1"/>
                </a:solidFill>
                <a:latin typeface="微软雅黑" pitchFamily="34" charset="-122"/>
                <a:ea typeface="微软雅黑" pitchFamily="34" charset="-122"/>
              </a:rPr>
              <a:t>IPv4)</a:t>
            </a:r>
            <a:r>
              <a:rPr lang="zh-CN" altLang="en-US" sz="1600" b="1" dirty="0">
                <a:solidFill>
                  <a:schemeClr val="bg1"/>
                </a:solidFill>
                <a:latin typeface="微软雅黑" pitchFamily="34" charset="-122"/>
                <a:ea typeface="微软雅黑" pitchFamily="34" charset="-122"/>
              </a:rPr>
              <a:t>。</a:t>
            </a:r>
          </a:p>
        </p:txBody>
      </p:sp>
      <p:sp>
        <p:nvSpPr>
          <p:cNvPr id="114" name="Rectangle 92"/>
          <p:cNvSpPr>
            <a:spLocks noChangeArrowheads="1"/>
          </p:cNvSpPr>
          <p:nvPr/>
        </p:nvSpPr>
        <p:spPr bwMode="auto">
          <a:xfrm flipV="1">
            <a:off x="2442280" y="1322244"/>
            <a:ext cx="616740" cy="26134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143363986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114"/>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6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animBg="1"/>
      <p:bldP spid="114" grpId="0" animBg="1"/>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8"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9" name="圆角矩形 8"/>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 name="组合 9"/>
          <p:cNvGrpSpPr/>
          <p:nvPr/>
        </p:nvGrpSpPr>
        <p:grpSpPr>
          <a:xfrm>
            <a:off x="1637153" y="1084892"/>
            <a:ext cx="5962309" cy="2192261"/>
            <a:chOff x="1392642" y="1665825"/>
            <a:chExt cx="5962309" cy="2192261"/>
          </a:xfrm>
        </p:grpSpPr>
        <p:sp>
          <p:nvSpPr>
            <p:cNvPr id="11"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3"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4"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5"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7"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8"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9"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30"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31"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2"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3"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4"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5"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6"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7"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8"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9"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40"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41"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2"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3"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44"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5"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6"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7"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8" name="Group 46"/>
            <p:cNvGrpSpPr>
              <a:grpSpLocks/>
            </p:cNvGrpSpPr>
            <p:nvPr/>
          </p:nvGrpSpPr>
          <p:grpSpPr bwMode="auto">
            <a:xfrm>
              <a:off x="2158338" y="3299988"/>
              <a:ext cx="83917" cy="41064"/>
              <a:chOff x="833" y="3024"/>
              <a:chExt cx="78" cy="51"/>
            </a:xfrm>
          </p:grpSpPr>
          <p:sp>
            <p:nvSpPr>
              <p:cNvPr id="58"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9"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0"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49" name="Group 50"/>
            <p:cNvGrpSpPr>
              <a:grpSpLocks/>
            </p:cNvGrpSpPr>
            <p:nvPr/>
          </p:nvGrpSpPr>
          <p:grpSpPr bwMode="auto">
            <a:xfrm>
              <a:off x="7169086" y="3305588"/>
              <a:ext cx="83917" cy="39198"/>
              <a:chOff x="5432" y="3030"/>
              <a:chExt cx="78" cy="51"/>
            </a:xfrm>
          </p:grpSpPr>
          <p:sp>
            <p:nvSpPr>
              <p:cNvPr id="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6"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7"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50"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51"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52" name="Group 94"/>
            <p:cNvGrpSpPr>
              <a:grpSpLocks/>
            </p:cNvGrpSpPr>
            <p:nvPr/>
          </p:nvGrpSpPr>
          <p:grpSpPr bwMode="auto">
            <a:xfrm>
              <a:off x="1392642" y="1885145"/>
              <a:ext cx="336679" cy="1566034"/>
              <a:chOff x="-127" y="845"/>
              <a:chExt cx="333" cy="1678"/>
            </a:xfrm>
          </p:grpSpPr>
          <p:sp>
            <p:nvSpPr>
              <p:cNvPr id="53"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4"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61" name="矩形 60"/>
          <p:cNvSpPr/>
          <p:nvPr/>
        </p:nvSpPr>
        <p:spPr>
          <a:xfrm>
            <a:off x="2930874" y="3369695"/>
            <a:ext cx="3962944" cy="830997"/>
          </a:xfrm>
          <a:prstGeom prst="rect">
            <a:avLst/>
          </a:prstGeom>
          <a:solidFill>
            <a:srgbClr val="0000CC"/>
          </a:solidFill>
          <a:ln w="9525">
            <a:no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首部长度</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占 </a:t>
            </a:r>
            <a:r>
              <a:rPr lang="en-US" altLang="zh-CN" sz="1600" b="1" dirty="0">
                <a:solidFill>
                  <a:schemeClr val="bg1"/>
                </a:solidFill>
                <a:latin typeface="微软雅黑" pitchFamily="34" charset="-122"/>
                <a:ea typeface="微软雅黑" pitchFamily="34" charset="-122"/>
              </a:rPr>
              <a:t>4 </a:t>
            </a:r>
            <a:r>
              <a:rPr lang="zh-CN" altLang="en-US" sz="1600" b="1" dirty="0">
                <a:solidFill>
                  <a:schemeClr val="bg1"/>
                </a:solidFill>
                <a:latin typeface="微软雅黑" pitchFamily="34" charset="-122"/>
                <a:ea typeface="微软雅黑" pitchFamily="34" charset="-122"/>
              </a:rPr>
              <a:t>位，可表示的最大数值</a:t>
            </a:r>
          </a:p>
          <a:p>
            <a:pPr algn="ctr"/>
            <a:r>
              <a:rPr lang="zh-CN" altLang="en-US" sz="1600" b="1" dirty="0">
                <a:solidFill>
                  <a:schemeClr val="bg1"/>
                </a:solidFill>
                <a:latin typeface="微软雅黑" pitchFamily="34" charset="-122"/>
                <a:ea typeface="微软雅黑" pitchFamily="34" charset="-122"/>
              </a:rPr>
              <a:t>是 </a:t>
            </a:r>
            <a:r>
              <a:rPr lang="en-US" altLang="zh-CN" sz="1600" b="1" dirty="0">
                <a:solidFill>
                  <a:schemeClr val="bg1"/>
                </a:solidFill>
                <a:latin typeface="微软雅黑" pitchFamily="34" charset="-122"/>
                <a:ea typeface="微软雅黑" pitchFamily="34" charset="-122"/>
              </a:rPr>
              <a:t>15 </a:t>
            </a:r>
            <a:r>
              <a:rPr lang="zh-CN" altLang="en-US" sz="1600" b="1" dirty="0">
                <a:solidFill>
                  <a:schemeClr val="bg1"/>
                </a:solidFill>
                <a:latin typeface="微软雅黑" pitchFamily="34" charset="-122"/>
                <a:ea typeface="微软雅黑" pitchFamily="34" charset="-122"/>
              </a:rPr>
              <a:t>个单位</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一个单位为 </a:t>
            </a:r>
            <a:r>
              <a:rPr lang="en-US" altLang="zh-CN" sz="1600" b="1" dirty="0">
                <a:solidFill>
                  <a:schemeClr val="bg1"/>
                </a:solidFill>
                <a:latin typeface="微软雅黑" pitchFamily="34" charset="-122"/>
                <a:ea typeface="微软雅黑" pitchFamily="34" charset="-122"/>
              </a:rPr>
              <a:t>4 </a:t>
            </a:r>
            <a:r>
              <a:rPr lang="zh-CN" altLang="en-US" sz="1600" b="1" dirty="0">
                <a:solidFill>
                  <a:schemeClr val="bg1"/>
                </a:solidFill>
                <a:latin typeface="微软雅黑" pitchFamily="34" charset="-122"/>
                <a:ea typeface="微软雅黑" pitchFamily="34" charset="-122"/>
              </a:rPr>
              <a:t>字节</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a:t>
            </a:r>
          </a:p>
          <a:p>
            <a:pPr algn="ctr"/>
            <a:r>
              <a:rPr lang="zh-CN" altLang="en-US" sz="1600" b="1" dirty="0">
                <a:solidFill>
                  <a:schemeClr val="bg1"/>
                </a:solidFill>
                <a:latin typeface="微软雅黑" pitchFamily="34" charset="-122"/>
                <a:ea typeface="微软雅黑" pitchFamily="34" charset="-122"/>
              </a:rPr>
              <a:t>因此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的首部长度的</a:t>
            </a:r>
            <a:r>
              <a:rPr lang="zh-CN" altLang="en-US" sz="1600" b="1" dirty="0">
                <a:solidFill>
                  <a:srgbClr val="FFFF00"/>
                </a:solidFill>
                <a:latin typeface="微软雅黑" pitchFamily="34" charset="-122"/>
                <a:ea typeface="微软雅黑" pitchFamily="34" charset="-122"/>
              </a:rPr>
              <a:t>最大值是 </a:t>
            </a:r>
            <a:r>
              <a:rPr lang="en-US" altLang="zh-CN" sz="1600" b="1" dirty="0">
                <a:solidFill>
                  <a:srgbClr val="FFFF00"/>
                </a:solidFill>
                <a:latin typeface="微软雅黑" pitchFamily="34" charset="-122"/>
                <a:ea typeface="微软雅黑" pitchFamily="34" charset="-122"/>
              </a:rPr>
              <a:t>60 </a:t>
            </a:r>
            <a:r>
              <a:rPr lang="zh-CN" altLang="en-US" sz="1600" b="1" dirty="0">
                <a:solidFill>
                  <a:srgbClr val="FFFF00"/>
                </a:solidFill>
                <a:latin typeface="微软雅黑" pitchFamily="34" charset="-122"/>
                <a:ea typeface="微软雅黑" pitchFamily="34" charset="-122"/>
              </a:rPr>
              <a:t>字节</a:t>
            </a:r>
            <a:r>
              <a:rPr lang="zh-CN" altLang="en-US" sz="1600" b="1" dirty="0">
                <a:solidFill>
                  <a:schemeClr val="bg1"/>
                </a:solidFill>
                <a:latin typeface="微软雅黑" pitchFamily="34" charset="-122"/>
                <a:ea typeface="微软雅黑" pitchFamily="34" charset="-122"/>
              </a:rPr>
              <a:t>。</a:t>
            </a:r>
          </a:p>
        </p:txBody>
      </p:sp>
      <p:sp>
        <p:nvSpPr>
          <p:cNvPr id="62" name="Rectangle 92"/>
          <p:cNvSpPr>
            <a:spLocks noChangeArrowheads="1"/>
          </p:cNvSpPr>
          <p:nvPr/>
        </p:nvSpPr>
        <p:spPr bwMode="auto">
          <a:xfrm flipV="1">
            <a:off x="3059018" y="1322242"/>
            <a:ext cx="670739" cy="26134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128604751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62"/>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6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62" grpId="0" animBg="1"/>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7" name="圆角矩形 6"/>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8" name="组合 7"/>
          <p:cNvGrpSpPr/>
          <p:nvPr/>
        </p:nvGrpSpPr>
        <p:grpSpPr>
          <a:xfrm>
            <a:off x="1637153" y="1084892"/>
            <a:ext cx="5962309" cy="2192261"/>
            <a:chOff x="1392642" y="1665825"/>
            <a:chExt cx="5962309" cy="2192261"/>
          </a:xfrm>
        </p:grpSpPr>
        <p:sp>
          <p:nvSpPr>
            <p:cNvPr id="9"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0"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1"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2"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3"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6"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7"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28"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29"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0"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1"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2"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3"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4"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5"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6"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7"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38"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39"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0"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1"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42"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3"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4"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5"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6" name="Group 46"/>
            <p:cNvGrpSpPr>
              <a:grpSpLocks/>
            </p:cNvGrpSpPr>
            <p:nvPr/>
          </p:nvGrpSpPr>
          <p:grpSpPr bwMode="auto">
            <a:xfrm>
              <a:off x="2158338" y="3299988"/>
              <a:ext cx="83917" cy="41064"/>
              <a:chOff x="833" y="3024"/>
              <a:chExt cx="78" cy="51"/>
            </a:xfrm>
          </p:grpSpPr>
          <p:sp>
            <p:nvSpPr>
              <p:cNvPr id="56"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7"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8"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47" name="Group 50"/>
            <p:cNvGrpSpPr>
              <a:grpSpLocks/>
            </p:cNvGrpSpPr>
            <p:nvPr/>
          </p:nvGrpSpPr>
          <p:grpSpPr bwMode="auto">
            <a:xfrm>
              <a:off x="7169086" y="3305588"/>
              <a:ext cx="83917" cy="39198"/>
              <a:chOff x="5432" y="3030"/>
              <a:chExt cx="78" cy="51"/>
            </a:xfrm>
          </p:grpSpPr>
          <p:sp>
            <p:nvSpPr>
              <p:cNvPr id="53"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4"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5"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48"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49"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50" name="Group 94"/>
            <p:cNvGrpSpPr>
              <a:grpSpLocks/>
            </p:cNvGrpSpPr>
            <p:nvPr/>
          </p:nvGrpSpPr>
          <p:grpSpPr bwMode="auto">
            <a:xfrm>
              <a:off x="1392642" y="1885145"/>
              <a:ext cx="336679" cy="1566034"/>
              <a:chOff x="-127" y="845"/>
              <a:chExt cx="333" cy="1678"/>
            </a:xfrm>
          </p:grpSpPr>
          <p:sp>
            <p:nvSpPr>
              <p:cNvPr id="51"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2"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59" name="矩形 58"/>
          <p:cNvSpPr/>
          <p:nvPr/>
        </p:nvSpPr>
        <p:spPr>
          <a:xfrm>
            <a:off x="2148428" y="3371926"/>
            <a:ext cx="5545942" cy="830997"/>
          </a:xfrm>
          <a:prstGeom prst="rect">
            <a:avLst/>
          </a:prstGeom>
          <a:solidFill>
            <a:srgbClr val="0000CC"/>
          </a:solidFill>
          <a:ln w="9525">
            <a:no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区分服务</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占 </a:t>
            </a:r>
            <a:r>
              <a:rPr lang="en-US" altLang="zh-CN" sz="1600" b="1" dirty="0">
                <a:solidFill>
                  <a:schemeClr val="bg1"/>
                </a:solidFill>
                <a:latin typeface="微软雅黑" pitchFamily="34" charset="-122"/>
                <a:ea typeface="微软雅黑" pitchFamily="34" charset="-122"/>
              </a:rPr>
              <a:t>8 </a:t>
            </a:r>
            <a:r>
              <a:rPr lang="zh-CN" altLang="en-US" sz="1600" b="1" dirty="0">
                <a:solidFill>
                  <a:schemeClr val="bg1"/>
                </a:solidFill>
                <a:latin typeface="微软雅黑" pitchFamily="34" charset="-122"/>
                <a:ea typeface="微软雅黑" pitchFamily="34" charset="-122"/>
              </a:rPr>
              <a:t>位，用来获得更好的服务。</a:t>
            </a:r>
          </a:p>
          <a:p>
            <a:pPr algn="ctr"/>
            <a:r>
              <a:rPr lang="zh-CN" altLang="en-US" sz="1600" b="1" dirty="0">
                <a:solidFill>
                  <a:schemeClr val="bg1"/>
                </a:solidFill>
                <a:latin typeface="微软雅黑" pitchFamily="34" charset="-122"/>
                <a:ea typeface="微软雅黑" pitchFamily="34" charset="-122"/>
              </a:rPr>
              <a:t>只有在使用区分服务（</a:t>
            </a:r>
            <a:r>
              <a:rPr lang="en-US" altLang="zh-CN" sz="1600" b="1" dirty="0" err="1">
                <a:solidFill>
                  <a:schemeClr val="bg1"/>
                </a:solidFill>
                <a:latin typeface="微软雅黑" pitchFamily="34" charset="-122"/>
                <a:ea typeface="微软雅黑" pitchFamily="34" charset="-122"/>
              </a:rPr>
              <a:t>DiffServ</a:t>
            </a:r>
            <a:r>
              <a:rPr lang="zh-CN" altLang="en-US" sz="1600" b="1" dirty="0">
                <a:solidFill>
                  <a:schemeClr val="bg1"/>
                </a:solidFill>
                <a:latin typeface="微软雅黑" pitchFamily="34" charset="-122"/>
                <a:ea typeface="微软雅黑" pitchFamily="34" charset="-122"/>
              </a:rPr>
              <a:t>）时，这个字段才起作用。</a:t>
            </a:r>
          </a:p>
          <a:p>
            <a:pPr algn="ctr"/>
            <a:r>
              <a:rPr lang="zh-CN" altLang="en-US" sz="1600" b="1" dirty="0">
                <a:solidFill>
                  <a:schemeClr val="bg1"/>
                </a:solidFill>
                <a:latin typeface="微软雅黑" pitchFamily="34" charset="-122"/>
                <a:ea typeface="微软雅黑" pitchFamily="34" charset="-122"/>
              </a:rPr>
              <a:t>在一般的情况下都不使用这个字段 </a:t>
            </a:r>
          </a:p>
        </p:txBody>
      </p:sp>
      <p:sp>
        <p:nvSpPr>
          <p:cNvPr id="60" name="Rectangle 92"/>
          <p:cNvSpPr>
            <a:spLocks noChangeArrowheads="1"/>
          </p:cNvSpPr>
          <p:nvPr/>
        </p:nvSpPr>
        <p:spPr bwMode="auto">
          <a:xfrm flipV="1">
            <a:off x="3729758" y="1322240"/>
            <a:ext cx="1212840" cy="26134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394632053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60"/>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5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P spid="60" grpId="0" animBg="1"/>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8"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9" name="圆角矩形 8"/>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 name="组合 9"/>
          <p:cNvGrpSpPr/>
          <p:nvPr/>
        </p:nvGrpSpPr>
        <p:grpSpPr>
          <a:xfrm>
            <a:off x="1637153" y="1084892"/>
            <a:ext cx="5962309" cy="2192261"/>
            <a:chOff x="1392642" y="1665825"/>
            <a:chExt cx="5962309" cy="2192261"/>
          </a:xfrm>
        </p:grpSpPr>
        <p:sp>
          <p:nvSpPr>
            <p:cNvPr id="11"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3"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4"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5"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7"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8"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9"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30"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31"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2"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3"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4"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5"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6"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7"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8"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9"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40"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41"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2"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3"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44"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5"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6"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7"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8" name="Group 46"/>
            <p:cNvGrpSpPr>
              <a:grpSpLocks/>
            </p:cNvGrpSpPr>
            <p:nvPr/>
          </p:nvGrpSpPr>
          <p:grpSpPr bwMode="auto">
            <a:xfrm>
              <a:off x="2158338" y="3299988"/>
              <a:ext cx="83917" cy="41064"/>
              <a:chOff x="833" y="3024"/>
              <a:chExt cx="78" cy="51"/>
            </a:xfrm>
          </p:grpSpPr>
          <p:sp>
            <p:nvSpPr>
              <p:cNvPr id="58"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9"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0"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49" name="Group 50"/>
            <p:cNvGrpSpPr>
              <a:grpSpLocks/>
            </p:cNvGrpSpPr>
            <p:nvPr/>
          </p:nvGrpSpPr>
          <p:grpSpPr bwMode="auto">
            <a:xfrm>
              <a:off x="7169086" y="3305588"/>
              <a:ext cx="83917" cy="39198"/>
              <a:chOff x="5432" y="3030"/>
              <a:chExt cx="78" cy="51"/>
            </a:xfrm>
          </p:grpSpPr>
          <p:sp>
            <p:nvSpPr>
              <p:cNvPr id="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6"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7"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50"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51"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52" name="Group 94"/>
            <p:cNvGrpSpPr>
              <a:grpSpLocks/>
            </p:cNvGrpSpPr>
            <p:nvPr/>
          </p:nvGrpSpPr>
          <p:grpSpPr bwMode="auto">
            <a:xfrm>
              <a:off x="1392642" y="1885145"/>
              <a:ext cx="336679" cy="1566034"/>
              <a:chOff x="-127" y="845"/>
              <a:chExt cx="333" cy="1678"/>
            </a:xfrm>
          </p:grpSpPr>
          <p:sp>
            <p:nvSpPr>
              <p:cNvPr id="53"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4"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61" name="矩形 60"/>
          <p:cNvSpPr/>
          <p:nvPr/>
        </p:nvSpPr>
        <p:spPr>
          <a:xfrm>
            <a:off x="2390662" y="3369695"/>
            <a:ext cx="5043368" cy="830997"/>
          </a:xfrm>
          <a:prstGeom prst="rect">
            <a:avLst/>
          </a:prstGeom>
          <a:solidFill>
            <a:srgbClr val="0000CC"/>
          </a:solidFill>
          <a:ln w="9525">
            <a:no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总长度</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占 </a:t>
            </a:r>
            <a:r>
              <a:rPr lang="en-US" altLang="zh-CN" sz="1600" b="1" dirty="0">
                <a:solidFill>
                  <a:schemeClr val="bg1"/>
                </a:solidFill>
                <a:latin typeface="微软雅黑" pitchFamily="34" charset="-122"/>
                <a:ea typeface="微软雅黑" pitchFamily="34" charset="-122"/>
              </a:rPr>
              <a:t>16 </a:t>
            </a:r>
            <a:r>
              <a:rPr lang="zh-CN" altLang="en-US" sz="1600" b="1" dirty="0">
                <a:solidFill>
                  <a:schemeClr val="bg1"/>
                </a:solidFill>
                <a:latin typeface="微软雅黑" pitchFamily="34" charset="-122"/>
                <a:ea typeface="微软雅黑" pitchFamily="34" charset="-122"/>
              </a:rPr>
              <a:t>位，指首部和数据之和的长度，</a:t>
            </a:r>
          </a:p>
          <a:p>
            <a:pPr algn="ctr"/>
            <a:r>
              <a:rPr lang="zh-CN" altLang="en-US" sz="1600" b="1" dirty="0">
                <a:solidFill>
                  <a:schemeClr val="bg1"/>
                </a:solidFill>
                <a:latin typeface="微软雅黑" pitchFamily="34" charset="-122"/>
                <a:ea typeface="微软雅黑" pitchFamily="34" charset="-122"/>
              </a:rPr>
              <a:t>单位为字节，因此数据报的最大长度为 </a:t>
            </a:r>
            <a:r>
              <a:rPr lang="en-US" altLang="zh-CN" sz="1600" b="1" dirty="0">
                <a:solidFill>
                  <a:schemeClr val="bg1"/>
                </a:solidFill>
                <a:latin typeface="微软雅黑" pitchFamily="34" charset="-122"/>
                <a:ea typeface="微软雅黑" pitchFamily="34" charset="-122"/>
              </a:rPr>
              <a:t>65535 </a:t>
            </a:r>
            <a:r>
              <a:rPr lang="zh-CN" altLang="en-US" sz="1600" b="1" dirty="0">
                <a:solidFill>
                  <a:schemeClr val="bg1"/>
                </a:solidFill>
                <a:latin typeface="微软雅黑" pitchFamily="34" charset="-122"/>
                <a:ea typeface="微软雅黑" pitchFamily="34" charset="-122"/>
              </a:rPr>
              <a:t>字节。</a:t>
            </a:r>
          </a:p>
          <a:p>
            <a:pPr algn="ctr"/>
            <a:r>
              <a:rPr lang="zh-CN" altLang="en-US" sz="1600" b="1" dirty="0">
                <a:solidFill>
                  <a:srgbClr val="FFFF00"/>
                </a:solidFill>
                <a:latin typeface="微软雅黑" pitchFamily="34" charset="-122"/>
                <a:ea typeface="微软雅黑" pitchFamily="34" charset="-122"/>
              </a:rPr>
              <a:t>总长度必须不超过最大传送单元 </a:t>
            </a:r>
            <a:r>
              <a:rPr lang="en-US" altLang="zh-CN" sz="1600" b="1" dirty="0">
                <a:solidFill>
                  <a:srgbClr val="FFFF00"/>
                </a:solidFill>
                <a:latin typeface="微软雅黑" pitchFamily="34" charset="-122"/>
                <a:ea typeface="微软雅黑" pitchFamily="34" charset="-122"/>
              </a:rPr>
              <a:t>MTU</a:t>
            </a:r>
            <a:r>
              <a:rPr lang="zh-CN" altLang="en-US" sz="1600" b="1" dirty="0">
                <a:solidFill>
                  <a:srgbClr val="FFFF00"/>
                </a:solidFill>
                <a:latin typeface="微软雅黑" pitchFamily="34" charset="-122"/>
                <a:ea typeface="微软雅黑" pitchFamily="34" charset="-122"/>
              </a:rPr>
              <a:t>。 </a:t>
            </a:r>
          </a:p>
        </p:txBody>
      </p:sp>
      <p:sp>
        <p:nvSpPr>
          <p:cNvPr id="62" name="Rectangle 92"/>
          <p:cNvSpPr>
            <a:spLocks noChangeArrowheads="1"/>
          </p:cNvSpPr>
          <p:nvPr/>
        </p:nvSpPr>
        <p:spPr bwMode="auto">
          <a:xfrm flipV="1">
            <a:off x="4942598" y="1322240"/>
            <a:ext cx="2517506" cy="26134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176489683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62"/>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6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62" grpId="0" animBg="1"/>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8"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9" name="圆角矩形 8"/>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 name="组合 9"/>
          <p:cNvGrpSpPr/>
          <p:nvPr/>
        </p:nvGrpSpPr>
        <p:grpSpPr>
          <a:xfrm>
            <a:off x="1637153" y="1084892"/>
            <a:ext cx="5962309" cy="2192261"/>
            <a:chOff x="1392642" y="1665825"/>
            <a:chExt cx="5962309" cy="2192261"/>
          </a:xfrm>
        </p:grpSpPr>
        <p:sp>
          <p:nvSpPr>
            <p:cNvPr id="11"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3"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4"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5"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7"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8"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9"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30"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31"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2"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3"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4"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5"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6"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7"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8"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9"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40"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41"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2"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3"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44"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5"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6"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7"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8" name="Group 46"/>
            <p:cNvGrpSpPr>
              <a:grpSpLocks/>
            </p:cNvGrpSpPr>
            <p:nvPr/>
          </p:nvGrpSpPr>
          <p:grpSpPr bwMode="auto">
            <a:xfrm>
              <a:off x="2158338" y="3299988"/>
              <a:ext cx="83917" cy="41064"/>
              <a:chOff x="833" y="3024"/>
              <a:chExt cx="78" cy="51"/>
            </a:xfrm>
          </p:grpSpPr>
          <p:sp>
            <p:nvSpPr>
              <p:cNvPr id="58"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9"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0"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49" name="Group 50"/>
            <p:cNvGrpSpPr>
              <a:grpSpLocks/>
            </p:cNvGrpSpPr>
            <p:nvPr/>
          </p:nvGrpSpPr>
          <p:grpSpPr bwMode="auto">
            <a:xfrm>
              <a:off x="7169086" y="3305588"/>
              <a:ext cx="83917" cy="39198"/>
              <a:chOff x="5432" y="3030"/>
              <a:chExt cx="78" cy="51"/>
            </a:xfrm>
          </p:grpSpPr>
          <p:sp>
            <p:nvSpPr>
              <p:cNvPr id="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6"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7"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50"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51"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52" name="Group 94"/>
            <p:cNvGrpSpPr>
              <a:grpSpLocks/>
            </p:cNvGrpSpPr>
            <p:nvPr/>
          </p:nvGrpSpPr>
          <p:grpSpPr bwMode="auto">
            <a:xfrm>
              <a:off x="1392642" y="1885145"/>
              <a:ext cx="336679" cy="1566034"/>
              <a:chOff x="-127" y="845"/>
              <a:chExt cx="333" cy="1678"/>
            </a:xfrm>
          </p:grpSpPr>
          <p:sp>
            <p:nvSpPr>
              <p:cNvPr id="53"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4"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61" name="矩形 60"/>
          <p:cNvSpPr/>
          <p:nvPr/>
        </p:nvSpPr>
        <p:spPr>
          <a:xfrm>
            <a:off x="2677599" y="3387638"/>
            <a:ext cx="4469493" cy="584775"/>
          </a:xfrm>
          <a:prstGeom prst="rect">
            <a:avLst/>
          </a:prstGeom>
          <a:solidFill>
            <a:srgbClr val="0000CC"/>
          </a:solidFill>
          <a:ln w="9525">
            <a:no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标识 </a:t>
            </a:r>
            <a:r>
              <a:rPr lang="en-US" altLang="zh-CN" sz="1600" b="1" dirty="0">
                <a:solidFill>
                  <a:schemeClr val="bg1"/>
                </a:solidFill>
                <a:latin typeface="微软雅黑" pitchFamily="34" charset="-122"/>
                <a:ea typeface="微软雅黑" pitchFamily="34" charset="-122"/>
              </a:rPr>
              <a:t>(identification) ——</a:t>
            </a:r>
            <a:r>
              <a:rPr lang="zh-CN" altLang="en-US" sz="1600" b="1" dirty="0">
                <a:solidFill>
                  <a:schemeClr val="bg1"/>
                </a:solidFill>
                <a:latin typeface="微软雅黑" pitchFamily="34" charset="-122"/>
                <a:ea typeface="微软雅黑" pitchFamily="34" charset="-122"/>
              </a:rPr>
              <a:t>占 </a:t>
            </a:r>
            <a:r>
              <a:rPr lang="en-US" altLang="zh-CN" sz="1600" b="1" dirty="0">
                <a:solidFill>
                  <a:schemeClr val="bg1"/>
                </a:solidFill>
                <a:latin typeface="微软雅黑" pitchFamily="34" charset="-122"/>
                <a:ea typeface="微软雅黑" pitchFamily="34" charset="-122"/>
              </a:rPr>
              <a:t>16 </a:t>
            </a:r>
            <a:r>
              <a:rPr lang="zh-CN" altLang="en-US" sz="1600" b="1" dirty="0">
                <a:solidFill>
                  <a:schemeClr val="bg1"/>
                </a:solidFill>
                <a:latin typeface="微软雅黑" pitchFamily="34" charset="-122"/>
                <a:ea typeface="微软雅黑" pitchFamily="34" charset="-122"/>
              </a:rPr>
              <a:t>位，</a:t>
            </a:r>
          </a:p>
          <a:p>
            <a:pPr algn="ctr"/>
            <a:r>
              <a:rPr lang="zh-CN" altLang="en-US" sz="1600" b="1" dirty="0">
                <a:solidFill>
                  <a:schemeClr val="bg1"/>
                </a:solidFill>
                <a:latin typeface="微软雅黑" pitchFamily="34" charset="-122"/>
                <a:ea typeface="微软雅黑" pitchFamily="34" charset="-122"/>
              </a:rPr>
              <a:t>它是一个计数器，用来产生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数据报的标识。 </a:t>
            </a:r>
          </a:p>
        </p:txBody>
      </p:sp>
      <p:sp>
        <p:nvSpPr>
          <p:cNvPr id="62" name="Rectangle 92"/>
          <p:cNvSpPr>
            <a:spLocks noChangeArrowheads="1"/>
          </p:cNvSpPr>
          <p:nvPr/>
        </p:nvSpPr>
        <p:spPr bwMode="auto">
          <a:xfrm flipV="1">
            <a:off x="2443756" y="1591638"/>
            <a:ext cx="2517506" cy="26134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355226277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62"/>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6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62"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7" name="圆角矩形 6"/>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8" name="组合 7"/>
          <p:cNvGrpSpPr/>
          <p:nvPr/>
        </p:nvGrpSpPr>
        <p:grpSpPr>
          <a:xfrm>
            <a:off x="1637153" y="1084892"/>
            <a:ext cx="5962309" cy="2192261"/>
            <a:chOff x="1392642" y="1665825"/>
            <a:chExt cx="5962309" cy="2192261"/>
          </a:xfrm>
        </p:grpSpPr>
        <p:sp>
          <p:nvSpPr>
            <p:cNvPr id="9"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0"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1"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2"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3"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6"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7"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28"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29"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0"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1"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2"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3"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4"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5"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6"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7"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38"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39"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0"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1"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42"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3"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4"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5"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6" name="Group 46"/>
            <p:cNvGrpSpPr>
              <a:grpSpLocks/>
            </p:cNvGrpSpPr>
            <p:nvPr/>
          </p:nvGrpSpPr>
          <p:grpSpPr bwMode="auto">
            <a:xfrm>
              <a:off x="2158338" y="3299988"/>
              <a:ext cx="83917" cy="41064"/>
              <a:chOff x="833" y="3024"/>
              <a:chExt cx="78" cy="51"/>
            </a:xfrm>
          </p:grpSpPr>
          <p:sp>
            <p:nvSpPr>
              <p:cNvPr id="56"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7"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8"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47" name="Group 50"/>
            <p:cNvGrpSpPr>
              <a:grpSpLocks/>
            </p:cNvGrpSpPr>
            <p:nvPr/>
          </p:nvGrpSpPr>
          <p:grpSpPr bwMode="auto">
            <a:xfrm>
              <a:off x="7169086" y="3305588"/>
              <a:ext cx="83917" cy="39198"/>
              <a:chOff x="5432" y="3030"/>
              <a:chExt cx="78" cy="51"/>
            </a:xfrm>
          </p:grpSpPr>
          <p:sp>
            <p:nvSpPr>
              <p:cNvPr id="53"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4"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5"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48"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49"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50" name="Group 94"/>
            <p:cNvGrpSpPr>
              <a:grpSpLocks/>
            </p:cNvGrpSpPr>
            <p:nvPr/>
          </p:nvGrpSpPr>
          <p:grpSpPr bwMode="auto">
            <a:xfrm>
              <a:off x="1392642" y="1885145"/>
              <a:ext cx="336679" cy="1566034"/>
              <a:chOff x="-127" y="845"/>
              <a:chExt cx="333" cy="1678"/>
            </a:xfrm>
          </p:grpSpPr>
          <p:sp>
            <p:nvSpPr>
              <p:cNvPr id="51"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2"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59" name="矩形 58"/>
          <p:cNvSpPr/>
          <p:nvPr/>
        </p:nvSpPr>
        <p:spPr>
          <a:xfrm>
            <a:off x="2408917" y="3336009"/>
            <a:ext cx="5084293" cy="1246495"/>
          </a:xfrm>
          <a:prstGeom prst="rect">
            <a:avLst/>
          </a:prstGeom>
          <a:solidFill>
            <a:srgbClr val="0000CC"/>
          </a:solidFill>
          <a:ln w="9525">
            <a:noFill/>
            <a:miter lim="800000"/>
            <a:headEnd/>
            <a:tailEnd/>
          </a:ln>
          <a:effectLst/>
        </p:spPr>
        <p:txBody>
          <a:bodyPr wrap="square">
            <a:spAutoFit/>
          </a:bodyPr>
          <a:lstStyle/>
          <a:p>
            <a:pPr algn="ctr">
              <a:lnSpc>
                <a:spcPts val="1800"/>
              </a:lnSpc>
            </a:pPr>
            <a:r>
              <a:rPr lang="zh-CN" altLang="en-US" sz="1400" b="1" dirty="0">
                <a:solidFill>
                  <a:schemeClr val="bg1"/>
                </a:solidFill>
                <a:latin typeface="微软雅黑" pitchFamily="34" charset="-122"/>
                <a:ea typeface="微软雅黑" pitchFamily="34" charset="-122"/>
              </a:rPr>
              <a:t>标志</a:t>
            </a:r>
            <a:r>
              <a:rPr lang="en-US" altLang="zh-CN" sz="1400" b="1" dirty="0">
                <a:solidFill>
                  <a:schemeClr val="bg1"/>
                </a:solidFill>
                <a:latin typeface="微软雅黑" pitchFamily="34" charset="-122"/>
                <a:ea typeface="微软雅黑" pitchFamily="34" charset="-122"/>
              </a:rPr>
              <a:t>(flag) ——</a:t>
            </a:r>
            <a:r>
              <a:rPr lang="zh-CN" altLang="en-US" sz="1400" b="1" dirty="0">
                <a:solidFill>
                  <a:schemeClr val="bg1"/>
                </a:solidFill>
                <a:latin typeface="微软雅黑" pitchFamily="34" charset="-122"/>
                <a:ea typeface="微软雅黑" pitchFamily="34" charset="-122"/>
              </a:rPr>
              <a:t>占 </a:t>
            </a:r>
            <a:r>
              <a:rPr lang="en-US" altLang="zh-CN" sz="1400" b="1" dirty="0">
                <a:solidFill>
                  <a:schemeClr val="bg1"/>
                </a:solidFill>
                <a:latin typeface="微软雅黑" pitchFamily="34" charset="-122"/>
                <a:ea typeface="微软雅黑" pitchFamily="34" charset="-122"/>
              </a:rPr>
              <a:t>3 </a:t>
            </a:r>
            <a:r>
              <a:rPr lang="zh-CN" altLang="en-US" sz="1400" b="1" dirty="0">
                <a:solidFill>
                  <a:schemeClr val="bg1"/>
                </a:solidFill>
                <a:latin typeface="微软雅黑" pitchFamily="34" charset="-122"/>
                <a:ea typeface="微软雅黑" pitchFamily="34" charset="-122"/>
              </a:rPr>
              <a:t>位，目前只有前两位有意义。</a:t>
            </a:r>
          </a:p>
          <a:p>
            <a:pPr marL="285750" indent="-285750">
              <a:lnSpc>
                <a:spcPts val="1800"/>
              </a:lnSpc>
              <a:buFont typeface="Wingdings" panose="05000000000000000000" pitchFamily="2" charset="2"/>
              <a:buChar char="l"/>
            </a:pPr>
            <a:r>
              <a:rPr lang="zh-CN" altLang="en-US" sz="1400" b="1" dirty="0">
                <a:solidFill>
                  <a:schemeClr val="bg1"/>
                </a:solidFill>
                <a:latin typeface="微软雅黑" pitchFamily="34" charset="-122"/>
                <a:ea typeface="微软雅黑" pitchFamily="34" charset="-122"/>
              </a:rPr>
              <a:t>标志字段的最低位是 </a:t>
            </a:r>
            <a:r>
              <a:rPr lang="en-US" altLang="zh-CN" sz="1400" b="1" dirty="0">
                <a:solidFill>
                  <a:srgbClr val="FFFF00"/>
                </a:solidFill>
                <a:latin typeface="微软雅黑" pitchFamily="34" charset="-122"/>
                <a:ea typeface="微软雅黑" pitchFamily="34" charset="-122"/>
              </a:rPr>
              <a:t>MF</a:t>
            </a:r>
            <a:r>
              <a:rPr lang="en-US" altLang="zh-CN" sz="1400" b="1" dirty="0">
                <a:solidFill>
                  <a:schemeClr val="bg1"/>
                </a:solidFill>
                <a:latin typeface="微软雅黑" pitchFamily="34" charset="-122"/>
                <a:ea typeface="微软雅黑" pitchFamily="34" charset="-122"/>
              </a:rPr>
              <a:t> (More Fragment)</a:t>
            </a:r>
            <a:r>
              <a:rPr lang="zh-CN" altLang="en-US" sz="1400" b="1" dirty="0">
                <a:solidFill>
                  <a:schemeClr val="bg1"/>
                </a:solidFill>
                <a:latin typeface="微软雅黑" pitchFamily="34" charset="-122"/>
                <a:ea typeface="微软雅黑" pitchFamily="34" charset="-122"/>
              </a:rPr>
              <a:t>。</a:t>
            </a:r>
            <a:endParaRPr lang="en-US" altLang="zh-CN" sz="1400" b="1" dirty="0">
              <a:solidFill>
                <a:schemeClr val="bg1"/>
              </a:solidFill>
              <a:latin typeface="微软雅黑" pitchFamily="34" charset="-122"/>
              <a:ea typeface="微软雅黑" pitchFamily="34" charset="-122"/>
            </a:endParaRPr>
          </a:p>
          <a:p>
            <a:pPr indent="269875">
              <a:lnSpc>
                <a:spcPts val="1800"/>
              </a:lnSpc>
            </a:pPr>
            <a:r>
              <a:rPr lang="en-US" altLang="zh-CN" sz="1400" b="1" dirty="0">
                <a:solidFill>
                  <a:schemeClr val="bg1"/>
                </a:solidFill>
                <a:latin typeface="微软雅黑" pitchFamily="34" charset="-122"/>
                <a:ea typeface="微软雅黑" pitchFamily="34" charset="-122"/>
              </a:rPr>
              <a:t>MF=1 </a:t>
            </a:r>
            <a:r>
              <a:rPr lang="zh-CN" altLang="en-US" sz="1400" b="1" dirty="0">
                <a:solidFill>
                  <a:schemeClr val="bg1"/>
                </a:solidFill>
                <a:latin typeface="微软雅黑" pitchFamily="34" charset="-122"/>
                <a:ea typeface="微软雅黑" pitchFamily="34" charset="-122"/>
              </a:rPr>
              <a:t>表示后面还有分片，</a:t>
            </a:r>
            <a:r>
              <a:rPr lang="en-US" altLang="zh-CN" sz="1400" b="1" dirty="0">
                <a:solidFill>
                  <a:schemeClr val="bg1"/>
                </a:solidFill>
                <a:latin typeface="微软雅黑" pitchFamily="34" charset="-122"/>
                <a:ea typeface="微软雅黑" pitchFamily="34" charset="-122"/>
              </a:rPr>
              <a:t>MF=0 </a:t>
            </a:r>
            <a:r>
              <a:rPr lang="zh-CN" altLang="en-US" sz="1400" b="1" dirty="0">
                <a:solidFill>
                  <a:schemeClr val="bg1"/>
                </a:solidFill>
                <a:latin typeface="微软雅黑" pitchFamily="34" charset="-122"/>
                <a:ea typeface="微软雅黑" pitchFamily="34" charset="-122"/>
              </a:rPr>
              <a:t>表示最后一个分片。</a:t>
            </a:r>
          </a:p>
          <a:p>
            <a:pPr marL="285750" indent="-285750">
              <a:lnSpc>
                <a:spcPts val="1800"/>
              </a:lnSpc>
              <a:buFont typeface="Wingdings" panose="05000000000000000000" pitchFamily="2" charset="2"/>
              <a:buChar char="l"/>
            </a:pPr>
            <a:r>
              <a:rPr lang="zh-CN" altLang="en-US" sz="1400" b="1" dirty="0">
                <a:solidFill>
                  <a:schemeClr val="bg1"/>
                </a:solidFill>
                <a:latin typeface="微软雅黑" pitchFamily="34" charset="-122"/>
                <a:ea typeface="微软雅黑" pitchFamily="34" charset="-122"/>
              </a:rPr>
              <a:t>标志字段中间的一位是 </a:t>
            </a:r>
            <a:r>
              <a:rPr lang="en-US" altLang="zh-CN" sz="1400" b="1" dirty="0">
                <a:solidFill>
                  <a:srgbClr val="FFFF00"/>
                </a:solidFill>
                <a:latin typeface="微软雅黑" pitchFamily="34" charset="-122"/>
                <a:ea typeface="微软雅黑" pitchFamily="34" charset="-122"/>
              </a:rPr>
              <a:t>DF</a:t>
            </a:r>
            <a:r>
              <a:rPr lang="en-US" altLang="zh-CN" sz="1400" b="1" dirty="0">
                <a:solidFill>
                  <a:schemeClr val="bg1"/>
                </a:solidFill>
                <a:latin typeface="微软雅黑" pitchFamily="34" charset="-122"/>
                <a:ea typeface="微软雅黑" pitchFamily="34" charset="-122"/>
              </a:rPr>
              <a:t> (Don't Fragment) </a:t>
            </a:r>
            <a:r>
              <a:rPr lang="zh-CN" altLang="en-US" sz="1400" b="1" dirty="0">
                <a:solidFill>
                  <a:schemeClr val="bg1"/>
                </a:solidFill>
                <a:latin typeface="微软雅黑" pitchFamily="34" charset="-122"/>
                <a:ea typeface="微软雅黑" pitchFamily="34" charset="-122"/>
              </a:rPr>
              <a:t>。</a:t>
            </a:r>
            <a:endParaRPr lang="en-US" altLang="zh-CN" sz="1400" b="1" dirty="0">
              <a:solidFill>
                <a:schemeClr val="bg1"/>
              </a:solidFill>
              <a:latin typeface="微软雅黑" pitchFamily="34" charset="-122"/>
              <a:ea typeface="微软雅黑" pitchFamily="34" charset="-122"/>
            </a:endParaRPr>
          </a:p>
          <a:p>
            <a:pPr indent="269875">
              <a:lnSpc>
                <a:spcPts val="1800"/>
              </a:lnSpc>
            </a:pPr>
            <a:r>
              <a:rPr lang="zh-CN" altLang="en-US" sz="1400" b="1" dirty="0">
                <a:solidFill>
                  <a:schemeClr val="bg1"/>
                </a:solidFill>
                <a:latin typeface="微软雅黑" pitchFamily="34" charset="-122"/>
                <a:ea typeface="微软雅黑" pitchFamily="34" charset="-122"/>
              </a:rPr>
              <a:t>只有当 </a:t>
            </a:r>
            <a:r>
              <a:rPr lang="en-US" altLang="zh-CN" sz="1400" b="1" dirty="0">
                <a:solidFill>
                  <a:schemeClr val="bg1"/>
                </a:solidFill>
                <a:latin typeface="微软雅黑" pitchFamily="34" charset="-122"/>
                <a:ea typeface="微软雅黑" pitchFamily="34" charset="-122"/>
              </a:rPr>
              <a:t>DF=0 </a:t>
            </a:r>
            <a:r>
              <a:rPr lang="zh-CN" altLang="en-US" sz="1400" b="1" dirty="0">
                <a:solidFill>
                  <a:schemeClr val="bg1"/>
                </a:solidFill>
                <a:latin typeface="微软雅黑" pitchFamily="34" charset="-122"/>
                <a:ea typeface="微软雅黑" pitchFamily="34" charset="-122"/>
              </a:rPr>
              <a:t>时才允许分片。 </a:t>
            </a:r>
          </a:p>
        </p:txBody>
      </p:sp>
      <p:sp>
        <p:nvSpPr>
          <p:cNvPr id="60" name="Rectangle 92"/>
          <p:cNvSpPr>
            <a:spLocks noChangeArrowheads="1"/>
          </p:cNvSpPr>
          <p:nvPr/>
        </p:nvSpPr>
        <p:spPr bwMode="auto">
          <a:xfrm flipH="1" flipV="1">
            <a:off x="4961261" y="1591637"/>
            <a:ext cx="496205" cy="26134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258010037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60"/>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5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P spid="60" grpId="0" animBg="1"/>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a:t>
            </a:r>
            <a:r>
              <a:rPr lang="en-US" altLang="zh-CN" sz="2000" b="1" dirty="0">
                <a:highlight>
                  <a:srgbClr val="FFFF00"/>
                </a:highlight>
                <a:latin typeface="微软雅黑" pitchFamily="34" charset="-122"/>
                <a:ea typeface="微软雅黑" pitchFamily="34" charset="-122"/>
              </a:rPr>
              <a:t>.  IP </a:t>
            </a:r>
            <a:r>
              <a:rPr lang="zh-CN" altLang="en-US" sz="2000" b="1" dirty="0">
                <a:highlight>
                  <a:srgbClr val="FFFF00"/>
                </a:highlight>
                <a:latin typeface="微软雅黑" pitchFamily="34" charset="-122"/>
                <a:ea typeface="微软雅黑" pitchFamily="34" charset="-122"/>
              </a:rPr>
              <a:t>数据报首部的固定部分中的各字段</a:t>
            </a:r>
          </a:p>
        </p:txBody>
      </p:sp>
      <p:sp>
        <p:nvSpPr>
          <p:cNvPr id="7" name="圆角矩形 6"/>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8" name="组合 7"/>
          <p:cNvGrpSpPr/>
          <p:nvPr/>
        </p:nvGrpSpPr>
        <p:grpSpPr>
          <a:xfrm>
            <a:off x="1637153" y="1084892"/>
            <a:ext cx="5962309" cy="2192261"/>
            <a:chOff x="1392642" y="1665825"/>
            <a:chExt cx="5962309" cy="2192261"/>
          </a:xfrm>
        </p:grpSpPr>
        <p:sp>
          <p:nvSpPr>
            <p:cNvPr id="9"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0"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1"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2"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3"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6"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7"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28"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29"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0"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1"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2"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3"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4"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5"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6"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7"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38"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39"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0"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1"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42"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3"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4"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5"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6" name="Group 46"/>
            <p:cNvGrpSpPr>
              <a:grpSpLocks/>
            </p:cNvGrpSpPr>
            <p:nvPr/>
          </p:nvGrpSpPr>
          <p:grpSpPr bwMode="auto">
            <a:xfrm>
              <a:off x="2158338" y="3299988"/>
              <a:ext cx="83917" cy="41064"/>
              <a:chOff x="833" y="3024"/>
              <a:chExt cx="78" cy="51"/>
            </a:xfrm>
          </p:grpSpPr>
          <p:sp>
            <p:nvSpPr>
              <p:cNvPr id="56"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7"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8"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47" name="Group 50"/>
            <p:cNvGrpSpPr>
              <a:grpSpLocks/>
            </p:cNvGrpSpPr>
            <p:nvPr/>
          </p:nvGrpSpPr>
          <p:grpSpPr bwMode="auto">
            <a:xfrm>
              <a:off x="7169086" y="3305588"/>
              <a:ext cx="83917" cy="39198"/>
              <a:chOff x="5432" y="3030"/>
              <a:chExt cx="78" cy="51"/>
            </a:xfrm>
          </p:grpSpPr>
          <p:sp>
            <p:nvSpPr>
              <p:cNvPr id="53"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4"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5"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48"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49"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50" name="Group 94"/>
            <p:cNvGrpSpPr>
              <a:grpSpLocks/>
            </p:cNvGrpSpPr>
            <p:nvPr/>
          </p:nvGrpSpPr>
          <p:grpSpPr bwMode="auto">
            <a:xfrm>
              <a:off x="1392642" y="1885145"/>
              <a:ext cx="336679" cy="1566034"/>
              <a:chOff x="-127" y="845"/>
              <a:chExt cx="333" cy="1678"/>
            </a:xfrm>
          </p:grpSpPr>
          <p:sp>
            <p:nvSpPr>
              <p:cNvPr id="51"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2"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59" name="矩形 58"/>
          <p:cNvSpPr/>
          <p:nvPr/>
        </p:nvSpPr>
        <p:spPr>
          <a:xfrm>
            <a:off x="2573640" y="3369695"/>
            <a:ext cx="4695517" cy="830997"/>
          </a:xfrm>
          <a:prstGeom prst="rect">
            <a:avLst/>
          </a:prstGeom>
          <a:solidFill>
            <a:srgbClr val="0000CC"/>
          </a:solidFill>
          <a:ln w="9525">
            <a:no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片偏移</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占 </a:t>
            </a:r>
            <a:r>
              <a:rPr lang="en-US" altLang="zh-CN" sz="1600" b="1" dirty="0">
                <a:solidFill>
                  <a:schemeClr val="bg1"/>
                </a:solidFill>
                <a:latin typeface="微软雅黑" pitchFamily="34" charset="-122"/>
                <a:ea typeface="微软雅黑" pitchFamily="34" charset="-122"/>
              </a:rPr>
              <a:t>13 </a:t>
            </a:r>
            <a:r>
              <a:rPr lang="zh-CN" altLang="en-US" sz="1600" b="1" dirty="0">
                <a:solidFill>
                  <a:schemeClr val="bg1"/>
                </a:solidFill>
                <a:latin typeface="微软雅黑" pitchFamily="34" charset="-122"/>
                <a:ea typeface="微软雅黑" pitchFamily="34" charset="-122"/>
              </a:rPr>
              <a:t>位，指出：较长的分组在分片后</a:t>
            </a:r>
          </a:p>
          <a:p>
            <a:pPr algn="ctr"/>
            <a:r>
              <a:rPr lang="zh-CN" altLang="en-US" sz="1600" b="1" dirty="0">
                <a:solidFill>
                  <a:schemeClr val="bg1"/>
                </a:solidFill>
                <a:latin typeface="微软雅黑" pitchFamily="34" charset="-122"/>
                <a:ea typeface="微软雅黑" pitchFamily="34" charset="-122"/>
              </a:rPr>
              <a:t>某片在原分组中的相对位置。</a:t>
            </a:r>
          </a:p>
          <a:p>
            <a:pPr algn="ctr"/>
            <a:r>
              <a:rPr lang="zh-CN" altLang="en-US" sz="1600" b="1" dirty="0">
                <a:solidFill>
                  <a:schemeClr val="bg1"/>
                </a:solidFill>
                <a:latin typeface="微软雅黑" pitchFamily="34" charset="-122"/>
                <a:ea typeface="微软雅黑" pitchFamily="34" charset="-122"/>
              </a:rPr>
              <a:t>片偏移以 </a:t>
            </a:r>
            <a:r>
              <a:rPr lang="en-US" altLang="zh-CN" sz="1600" b="1" dirty="0">
                <a:solidFill>
                  <a:srgbClr val="FFFF00"/>
                </a:solidFill>
                <a:latin typeface="微软雅黑" pitchFamily="34" charset="-122"/>
                <a:ea typeface="微软雅黑" pitchFamily="34" charset="-122"/>
              </a:rPr>
              <a:t>8 </a:t>
            </a:r>
            <a:r>
              <a:rPr lang="zh-CN" altLang="en-US" sz="1600" b="1" dirty="0">
                <a:solidFill>
                  <a:srgbClr val="FFFF00"/>
                </a:solidFill>
                <a:latin typeface="微软雅黑" pitchFamily="34" charset="-122"/>
                <a:ea typeface="微软雅黑" pitchFamily="34" charset="-122"/>
              </a:rPr>
              <a:t>个字节</a:t>
            </a:r>
            <a:r>
              <a:rPr lang="zh-CN" altLang="en-US" sz="1600" b="1" dirty="0">
                <a:solidFill>
                  <a:schemeClr val="bg1"/>
                </a:solidFill>
                <a:latin typeface="微软雅黑" pitchFamily="34" charset="-122"/>
                <a:ea typeface="微软雅黑" pitchFamily="34" charset="-122"/>
              </a:rPr>
              <a:t>为偏移单位。</a:t>
            </a:r>
          </a:p>
        </p:txBody>
      </p:sp>
      <p:sp>
        <p:nvSpPr>
          <p:cNvPr id="60" name="Rectangle 92"/>
          <p:cNvSpPr>
            <a:spLocks noChangeArrowheads="1"/>
          </p:cNvSpPr>
          <p:nvPr/>
        </p:nvSpPr>
        <p:spPr bwMode="auto">
          <a:xfrm flipV="1">
            <a:off x="5457465" y="1591636"/>
            <a:ext cx="2002638" cy="26134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10830772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60"/>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5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P spid="60" grpId="0" animBg="1"/>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634844"/>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5"/>
          <p:cNvSpPr/>
          <p:nvPr/>
        </p:nvSpPr>
        <p:spPr>
          <a:xfrm>
            <a:off x="616085" y="576076"/>
            <a:ext cx="3074881" cy="400110"/>
          </a:xfrm>
          <a:prstGeom prst="rect">
            <a:avLst/>
          </a:prstGeom>
        </p:spPr>
        <p:txBody>
          <a:bodyPr wrap="none">
            <a:spAutoFit/>
          </a:bodyPr>
          <a:lstStyle/>
          <a:p>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例</a:t>
            </a:r>
            <a:r>
              <a:rPr lang="en-US" altLang="zh-CN" sz="2000" b="1" dirty="0">
                <a:latin typeface="微软雅黑" pitchFamily="34" charset="-122"/>
                <a:ea typeface="微软雅黑" pitchFamily="34" charset="-122"/>
              </a:rPr>
              <a:t>4-1】 IP </a:t>
            </a:r>
            <a:r>
              <a:rPr lang="zh-CN" altLang="en-US" sz="2000" b="1" dirty="0">
                <a:latin typeface="微软雅黑" pitchFamily="34" charset="-122"/>
                <a:ea typeface="微软雅黑" pitchFamily="34" charset="-122"/>
              </a:rPr>
              <a:t>数据报分片</a:t>
            </a:r>
          </a:p>
        </p:txBody>
      </p:sp>
      <p:sp>
        <p:nvSpPr>
          <p:cNvPr id="8" name="圆角矩形 7"/>
          <p:cNvSpPr/>
          <p:nvPr/>
        </p:nvSpPr>
        <p:spPr>
          <a:xfrm>
            <a:off x="556963" y="1023043"/>
            <a:ext cx="8041892" cy="332959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9" name="组合 8"/>
          <p:cNvGrpSpPr/>
          <p:nvPr/>
        </p:nvGrpSpPr>
        <p:grpSpPr>
          <a:xfrm>
            <a:off x="1252831" y="1797916"/>
            <a:ext cx="3324816" cy="2450865"/>
            <a:chOff x="344488" y="2380134"/>
            <a:chExt cx="4755225" cy="3505282"/>
          </a:xfrm>
        </p:grpSpPr>
        <p:sp>
          <p:nvSpPr>
            <p:cNvPr id="10" name="Text Box 5"/>
            <p:cNvSpPr txBox="1">
              <a:spLocks noChangeArrowheads="1"/>
            </p:cNvSpPr>
            <p:nvPr/>
          </p:nvSpPr>
          <p:spPr bwMode="auto">
            <a:xfrm>
              <a:off x="704528" y="5445226"/>
              <a:ext cx="2066136" cy="4401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偏移 </a:t>
              </a:r>
              <a:r>
                <a:rPr kumimoji="1" lang="en-US" altLang="zh-CN" sz="1400" b="1" dirty="0">
                  <a:solidFill>
                    <a:srgbClr val="0000CC"/>
                  </a:solidFill>
                  <a:latin typeface="微软雅黑" pitchFamily="34" charset="-122"/>
                  <a:ea typeface="微软雅黑" pitchFamily="34" charset="-122"/>
                </a:rPr>
                <a:t>= 0/</a:t>
              </a:r>
              <a:r>
                <a:rPr kumimoji="1" lang="en-US" altLang="zh-CN" sz="1400" b="1" dirty="0">
                  <a:solidFill>
                    <a:srgbClr val="0000CC"/>
                  </a:solidFill>
                  <a:highlight>
                    <a:srgbClr val="FFFF00"/>
                  </a:highlight>
                  <a:latin typeface="微软雅黑" pitchFamily="34" charset="-122"/>
                  <a:ea typeface="微软雅黑" pitchFamily="34" charset="-122"/>
                </a:rPr>
                <a:t>8</a:t>
              </a:r>
              <a:r>
                <a:rPr kumimoji="1" lang="en-US" altLang="zh-CN" sz="1400" b="1" dirty="0">
                  <a:solidFill>
                    <a:srgbClr val="0000CC"/>
                  </a:solidFill>
                  <a:latin typeface="微软雅黑" pitchFamily="34" charset="-122"/>
                  <a:ea typeface="微软雅黑" pitchFamily="34" charset="-122"/>
                </a:rPr>
                <a:t> = 0</a:t>
              </a:r>
            </a:p>
          </p:txBody>
        </p:sp>
        <p:sp>
          <p:nvSpPr>
            <p:cNvPr id="11" name="Rectangle 11"/>
            <p:cNvSpPr>
              <a:spLocks noChangeArrowheads="1"/>
            </p:cNvSpPr>
            <p:nvPr/>
          </p:nvSpPr>
          <p:spPr bwMode="auto">
            <a:xfrm>
              <a:off x="1295534" y="3869208"/>
              <a:ext cx="1900369" cy="463550"/>
            </a:xfrm>
            <a:prstGeom prst="rect">
              <a:avLst/>
            </a:prstGeom>
            <a:solidFill>
              <a:srgbClr val="99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2" name="Line 12"/>
            <p:cNvSpPr>
              <a:spLocks noChangeShapeType="1"/>
            </p:cNvSpPr>
            <p:nvPr/>
          </p:nvSpPr>
          <p:spPr bwMode="auto">
            <a:xfrm>
              <a:off x="1484710"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3" name="Line 13"/>
            <p:cNvSpPr>
              <a:spLocks noChangeShapeType="1"/>
            </p:cNvSpPr>
            <p:nvPr/>
          </p:nvSpPr>
          <p:spPr bwMode="auto">
            <a:xfrm>
              <a:off x="1675606"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4" name="Line 14"/>
            <p:cNvSpPr>
              <a:spLocks noChangeShapeType="1"/>
            </p:cNvSpPr>
            <p:nvPr/>
          </p:nvSpPr>
          <p:spPr bwMode="auto">
            <a:xfrm>
              <a:off x="1866504"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5" name="Line 15"/>
            <p:cNvSpPr>
              <a:spLocks noChangeShapeType="1"/>
            </p:cNvSpPr>
            <p:nvPr/>
          </p:nvSpPr>
          <p:spPr bwMode="auto">
            <a:xfrm>
              <a:off x="3005006"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6" name="Line 21"/>
            <p:cNvSpPr>
              <a:spLocks noChangeShapeType="1"/>
            </p:cNvSpPr>
            <p:nvPr/>
          </p:nvSpPr>
          <p:spPr bwMode="auto">
            <a:xfrm flipV="1">
              <a:off x="3101314" y="4332759"/>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7" name="Text Box 30"/>
            <p:cNvSpPr txBox="1">
              <a:spLocks noChangeArrowheads="1"/>
            </p:cNvSpPr>
            <p:nvPr/>
          </p:nvSpPr>
          <p:spPr bwMode="auto">
            <a:xfrm>
              <a:off x="2629894" y="4625603"/>
              <a:ext cx="896885" cy="4401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1399</a:t>
              </a:r>
            </a:p>
          </p:txBody>
        </p:sp>
        <p:sp>
          <p:nvSpPr>
            <p:cNvPr id="18" name="Text Box 33"/>
            <p:cNvSpPr txBox="1">
              <a:spLocks noChangeArrowheads="1"/>
            </p:cNvSpPr>
            <p:nvPr/>
          </p:nvSpPr>
          <p:spPr bwMode="auto">
            <a:xfrm>
              <a:off x="990013" y="5072535"/>
              <a:ext cx="1525071"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C00CC"/>
                  </a:solidFill>
                  <a:latin typeface="微软雅黑" pitchFamily="34" charset="-122"/>
                  <a:ea typeface="微软雅黑" pitchFamily="34" charset="-122"/>
                </a:rPr>
                <a:t>数据报片 </a:t>
              </a:r>
              <a:r>
                <a:rPr kumimoji="1" lang="en-US" altLang="zh-CN" sz="1400" b="1" dirty="0">
                  <a:solidFill>
                    <a:srgbClr val="CC00CC"/>
                  </a:solidFill>
                  <a:latin typeface="微软雅黑" pitchFamily="34" charset="-122"/>
                  <a:ea typeface="微软雅黑" pitchFamily="34" charset="-122"/>
                </a:rPr>
                <a:t>1</a:t>
              </a:r>
            </a:p>
          </p:txBody>
        </p:sp>
        <p:sp>
          <p:nvSpPr>
            <p:cNvPr id="19" name="Rectangle 36"/>
            <p:cNvSpPr>
              <a:spLocks noChangeArrowheads="1"/>
            </p:cNvSpPr>
            <p:nvPr/>
          </p:nvSpPr>
          <p:spPr bwMode="auto">
            <a:xfrm>
              <a:off x="344488" y="3869208"/>
              <a:ext cx="951045" cy="463550"/>
            </a:xfrm>
            <a:prstGeom prst="rect">
              <a:avLst/>
            </a:prstGeom>
            <a:solidFill>
              <a:srgbClr val="00B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0" name="Line 39"/>
            <p:cNvSpPr>
              <a:spLocks noChangeShapeType="1"/>
            </p:cNvSpPr>
            <p:nvPr/>
          </p:nvSpPr>
          <p:spPr bwMode="auto">
            <a:xfrm flipV="1">
              <a:off x="1295534" y="2380134"/>
              <a:ext cx="1900369" cy="1489075"/>
            </a:xfrm>
            <a:prstGeom prst="line">
              <a:avLst/>
            </a:prstGeom>
            <a:noFill/>
            <a:ln w="19050">
              <a:solidFill>
                <a:srgbClr val="0000CC"/>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1" name="Line 40"/>
            <p:cNvSpPr>
              <a:spLocks noChangeShapeType="1"/>
            </p:cNvSpPr>
            <p:nvPr/>
          </p:nvSpPr>
          <p:spPr bwMode="auto">
            <a:xfrm flipV="1">
              <a:off x="3195903" y="2380134"/>
              <a:ext cx="1903810" cy="1489075"/>
            </a:xfrm>
            <a:prstGeom prst="line">
              <a:avLst/>
            </a:prstGeom>
            <a:noFill/>
            <a:ln w="19050">
              <a:solidFill>
                <a:srgbClr val="0000CC"/>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2" name="Text Box 59"/>
            <p:cNvSpPr txBox="1">
              <a:spLocks noChangeArrowheads="1"/>
            </p:cNvSpPr>
            <p:nvPr/>
          </p:nvSpPr>
          <p:spPr bwMode="auto">
            <a:xfrm>
              <a:off x="344488" y="3869209"/>
              <a:ext cx="1040474" cy="4401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400" b="1" dirty="0">
                  <a:solidFill>
                    <a:schemeClr val="bg1"/>
                  </a:solidFill>
                  <a:latin typeface="微软雅黑" pitchFamily="34" charset="-122"/>
                  <a:ea typeface="微软雅黑" pitchFamily="34" charset="-122"/>
                </a:rPr>
                <a:t>首部 </a:t>
              </a:r>
              <a:r>
                <a:rPr kumimoji="1" lang="en-US" altLang="zh-CN" sz="1400" b="1" dirty="0">
                  <a:solidFill>
                    <a:schemeClr val="bg1"/>
                  </a:solidFill>
                  <a:latin typeface="微软雅黑" pitchFamily="34" charset="-122"/>
                  <a:ea typeface="微软雅黑" pitchFamily="34" charset="-122"/>
                </a:rPr>
                <a:t>1</a:t>
              </a:r>
            </a:p>
          </p:txBody>
        </p:sp>
        <p:sp>
          <p:nvSpPr>
            <p:cNvPr id="23" name="Line 62"/>
            <p:cNvSpPr>
              <a:spLocks noChangeShapeType="1"/>
            </p:cNvSpPr>
            <p:nvPr/>
          </p:nvSpPr>
          <p:spPr bwMode="auto">
            <a:xfrm flipV="1">
              <a:off x="1384962" y="4332759"/>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4" name="Text Box 63"/>
            <p:cNvSpPr txBox="1">
              <a:spLocks noChangeArrowheads="1"/>
            </p:cNvSpPr>
            <p:nvPr/>
          </p:nvSpPr>
          <p:spPr bwMode="auto">
            <a:xfrm>
              <a:off x="564621" y="4626445"/>
              <a:ext cx="1011517"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字节 </a:t>
              </a:r>
              <a:r>
                <a:rPr kumimoji="1" lang="en-US" altLang="zh-CN" sz="1400" b="1" dirty="0">
                  <a:latin typeface="微软雅黑" pitchFamily="34" charset="-122"/>
                  <a:ea typeface="微软雅黑" pitchFamily="34" charset="-122"/>
                </a:rPr>
                <a:t>0</a:t>
              </a:r>
            </a:p>
          </p:txBody>
        </p:sp>
      </p:grpSp>
      <p:grpSp>
        <p:nvGrpSpPr>
          <p:cNvPr id="25" name="组合 24"/>
          <p:cNvGrpSpPr/>
          <p:nvPr/>
        </p:nvGrpSpPr>
        <p:grpSpPr>
          <a:xfrm>
            <a:off x="3557956" y="1797916"/>
            <a:ext cx="2349616" cy="2450863"/>
            <a:chOff x="3641329" y="2380134"/>
            <a:chExt cx="3360473" cy="3505278"/>
          </a:xfrm>
        </p:grpSpPr>
        <p:sp>
          <p:nvSpPr>
            <p:cNvPr id="26" name="Text Box 17"/>
            <p:cNvSpPr txBox="1">
              <a:spLocks noChangeArrowheads="1"/>
            </p:cNvSpPr>
            <p:nvPr/>
          </p:nvSpPr>
          <p:spPr bwMode="auto">
            <a:xfrm>
              <a:off x="3653972" y="5445223"/>
              <a:ext cx="2857101"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偏移 </a:t>
              </a:r>
              <a:r>
                <a:rPr kumimoji="1" lang="en-US" altLang="zh-CN" sz="1400" b="1" dirty="0">
                  <a:solidFill>
                    <a:srgbClr val="0000CC"/>
                  </a:solidFill>
                  <a:latin typeface="微软雅黑" pitchFamily="34" charset="-122"/>
                  <a:ea typeface="微软雅黑" pitchFamily="34" charset="-122"/>
                </a:rPr>
                <a:t>= 1400/</a:t>
              </a:r>
              <a:r>
                <a:rPr kumimoji="1" lang="en-US" altLang="zh-CN" sz="1400" b="1" dirty="0">
                  <a:solidFill>
                    <a:srgbClr val="0000CC"/>
                  </a:solidFill>
                  <a:highlight>
                    <a:srgbClr val="FFFF00"/>
                  </a:highlight>
                  <a:latin typeface="微软雅黑" pitchFamily="34" charset="-122"/>
                  <a:ea typeface="微软雅黑" pitchFamily="34" charset="-122"/>
                </a:rPr>
                <a:t>8</a:t>
              </a:r>
              <a:r>
                <a:rPr kumimoji="1" lang="en-US" altLang="zh-CN" sz="1400" b="1" dirty="0">
                  <a:solidFill>
                    <a:srgbClr val="0000CC"/>
                  </a:solidFill>
                  <a:latin typeface="微软雅黑" pitchFamily="34" charset="-122"/>
                  <a:ea typeface="微软雅黑" pitchFamily="34" charset="-122"/>
                </a:rPr>
                <a:t> = 175</a:t>
              </a:r>
            </a:p>
          </p:txBody>
        </p:sp>
        <p:sp>
          <p:nvSpPr>
            <p:cNvPr id="27" name="Line 22"/>
            <p:cNvSpPr>
              <a:spLocks noChangeShapeType="1"/>
            </p:cNvSpPr>
            <p:nvPr/>
          </p:nvSpPr>
          <p:spPr bwMode="auto">
            <a:xfrm flipV="1">
              <a:off x="4717918" y="4332759"/>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8" name="Line 23"/>
            <p:cNvSpPr>
              <a:spLocks noChangeShapeType="1"/>
            </p:cNvSpPr>
            <p:nvPr/>
          </p:nvSpPr>
          <p:spPr bwMode="auto">
            <a:xfrm flipV="1">
              <a:off x="6430831" y="4332759"/>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9" name="Text Box 26"/>
            <p:cNvSpPr txBox="1">
              <a:spLocks noChangeArrowheads="1"/>
            </p:cNvSpPr>
            <p:nvPr/>
          </p:nvSpPr>
          <p:spPr bwMode="auto">
            <a:xfrm>
              <a:off x="4246497" y="4660776"/>
              <a:ext cx="896885"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1400</a:t>
              </a:r>
            </a:p>
          </p:txBody>
        </p:sp>
        <p:sp>
          <p:nvSpPr>
            <p:cNvPr id="30" name="Text Box 29"/>
            <p:cNvSpPr txBox="1">
              <a:spLocks noChangeArrowheads="1"/>
            </p:cNvSpPr>
            <p:nvPr/>
          </p:nvSpPr>
          <p:spPr bwMode="auto">
            <a:xfrm>
              <a:off x="5968920" y="4638550"/>
              <a:ext cx="896885"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2799</a:t>
              </a:r>
            </a:p>
          </p:txBody>
        </p:sp>
        <p:sp>
          <p:nvSpPr>
            <p:cNvPr id="31" name="Rectangle 41"/>
            <p:cNvSpPr>
              <a:spLocks noChangeArrowheads="1"/>
            </p:cNvSpPr>
            <p:nvPr/>
          </p:nvSpPr>
          <p:spPr bwMode="auto">
            <a:xfrm>
              <a:off x="4625050" y="3869208"/>
              <a:ext cx="1900369" cy="463550"/>
            </a:xfrm>
            <a:prstGeom prst="rect">
              <a:avLst/>
            </a:prstGeom>
            <a:solidFill>
              <a:srgbClr val="99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2" name="Line 42"/>
            <p:cNvSpPr>
              <a:spLocks noChangeShapeType="1"/>
            </p:cNvSpPr>
            <p:nvPr/>
          </p:nvSpPr>
          <p:spPr bwMode="auto">
            <a:xfrm>
              <a:off x="4814227"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3" name="Line 43"/>
            <p:cNvSpPr>
              <a:spLocks noChangeShapeType="1"/>
            </p:cNvSpPr>
            <p:nvPr/>
          </p:nvSpPr>
          <p:spPr bwMode="auto">
            <a:xfrm>
              <a:off x="5003404"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4" name="Line 44"/>
            <p:cNvSpPr>
              <a:spLocks noChangeShapeType="1"/>
            </p:cNvSpPr>
            <p:nvPr/>
          </p:nvSpPr>
          <p:spPr bwMode="auto">
            <a:xfrm>
              <a:off x="5194300"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5" name="Line 45"/>
            <p:cNvSpPr>
              <a:spLocks noChangeShapeType="1"/>
            </p:cNvSpPr>
            <p:nvPr/>
          </p:nvSpPr>
          <p:spPr bwMode="auto">
            <a:xfrm>
              <a:off x="6334522"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6" name="Rectangle 46"/>
            <p:cNvSpPr>
              <a:spLocks noChangeArrowheads="1"/>
            </p:cNvSpPr>
            <p:nvPr/>
          </p:nvSpPr>
          <p:spPr bwMode="auto">
            <a:xfrm>
              <a:off x="3674004" y="3869208"/>
              <a:ext cx="951045" cy="463550"/>
            </a:xfrm>
            <a:prstGeom prst="rect">
              <a:avLst/>
            </a:prstGeom>
            <a:solidFill>
              <a:srgbClr val="00B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7" name="Line 47"/>
            <p:cNvSpPr>
              <a:spLocks noChangeShapeType="1"/>
            </p:cNvSpPr>
            <p:nvPr/>
          </p:nvSpPr>
          <p:spPr bwMode="auto">
            <a:xfrm flipV="1">
              <a:off x="4625049" y="2380134"/>
              <a:ext cx="474663" cy="1489075"/>
            </a:xfrm>
            <a:prstGeom prst="line">
              <a:avLst/>
            </a:prstGeom>
            <a:noFill/>
            <a:ln w="19050">
              <a:solidFill>
                <a:srgbClr val="0000CC"/>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8" name="Line 48"/>
            <p:cNvSpPr>
              <a:spLocks noChangeShapeType="1"/>
            </p:cNvSpPr>
            <p:nvPr/>
          </p:nvSpPr>
          <p:spPr bwMode="auto">
            <a:xfrm flipV="1">
              <a:off x="6525419" y="2380134"/>
              <a:ext cx="476383" cy="1489075"/>
            </a:xfrm>
            <a:prstGeom prst="line">
              <a:avLst/>
            </a:prstGeom>
            <a:noFill/>
            <a:ln w="19050">
              <a:solidFill>
                <a:srgbClr val="0000CC"/>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9" name="Text Box 60"/>
            <p:cNvSpPr txBox="1">
              <a:spLocks noChangeArrowheads="1"/>
            </p:cNvSpPr>
            <p:nvPr/>
          </p:nvSpPr>
          <p:spPr bwMode="auto">
            <a:xfrm>
              <a:off x="3641329" y="3869210"/>
              <a:ext cx="1011517"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chemeClr val="bg1"/>
                  </a:solidFill>
                  <a:latin typeface="微软雅黑" pitchFamily="34" charset="-122"/>
                  <a:ea typeface="微软雅黑" pitchFamily="34" charset="-122"/>
                </a:rPr>
                <a:t>首部 </a:t>
              </a:r>
              <a:r>
                <a:rPr kumimoji="1" lang="en-US" altLang="zh-CN" sz="1400" b="1" dirty="0">
                  <a:solidFill>
                    <a:schemeClr val="bg1"/>
                  </a:solidFill>
                  <a:latin typeface="微软雅黑" pitchFamily="34" charset="-122"/>
                  <a:ea typeface="微软雅黑" pitchFamily="34" charset="-122"/>
                </a:rPr>
                <a:t>2</a:t>
              </a:r>
            </a:p>
          </p:txBody>
        </p:sp>
        <p:sp>
          <p:nvSpPr>
            <p:cNvPr id="40" name="Text Box 64"/>
            <p:cNvSpPr txBox="1">
              <a:spLocks noChangeArrowheads="1"/>
            </p:cNvSpPr>
            <p:nvPr/>
          </p:nvSpPr>
          <p:spPr bwMode="auto">
            <a:xfrm>
              <a:off x="4254178" y="5067770"/>
              <a:ext cx="1525072"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C00CC"/>
                  </a:solidFill>
                  <a:latin typeface="微软雅黑" pitchFamily="34" charset="-122"/>
                  <a:ea typeface="微软雅黑" pitchFamily="34" charset="-122"/>
                </a:rPr>
                <a:t>数据报片 </a:t>
              </a:r>
              <a:r>
                <a:rPr kumimoji="1" lang="en-US" altLang="zh-CN" sz="1400" b="1" dirty="0">
                  <a:solidFill>
                    <a:srgbClr val="CC00CC"/>
                  </a:solidFill>
                  <a:latin typeface="微软雅黑" pitchFamily="34" charset="-122"/>
                  <a:ea typeface="微软雅黑" pitchFamily="34" charset="-122"/>
                </a:rPr>
                <a:t>2</a:t>
              </a:r>
            </a:p>
          </p:txBody>
        </p:sp>
      </p:grpSp>
      <p:grpSp>
        <p:nvGrpSpPr>
          <p:cNvPr id="41" name="组合 40"/>
          <p:cNvGrpSpPr/>
          <p:nvPr/>
        </p:nvGrpSpPr>
        <p:grpSpPr>
          <a:xfrm>
            <a:off x="5834448" y="1797916"/>
            <a:ext cx="2024564" cy="2450863"/>
            <a:chOff x="6897216" y="2380134"/>
            <a:chExt cx="2895574" cy="3505278"/>
          </a:xfrm>
        </p:grpSpPr>
        <p:sp>
          <p:nvSpPr>
            <p:cNvPr id="42" name="Text Box 18"/>
            <p:cNvSpPr txBox="1">
              <a:spLocks noChangeArrowheads="1"/>
            </p:cNvSpPr>
            <p:nvPr/>
          </p:nvSpPr>
          <p:spPr bwMode="auto">
            <a:xfrm>
              <a:off x="6897216" y="5445223"/>
              <a:ext cx="2857101"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偏移 </a:t>
              </a:r>
              <a:r>
                <a:rPr kumimoji="1" lang="en-US" altLang="zh-CN" sz="1400" b="1" dirty="0">
                  <a:solidFill>
                    <a:srgbClr val="0000CC"/>
                  </a:solidFill>
                  <a:latin typeface="微软雅黑" pitchFamily="34" charset="-122"/>
                  <a:ea typeface="微软雅黑" pitchFamily="34" charset="-122"/>
                </a:rPr>
                <a:t>= 2800/</a:t>
              </a:r>
              <a:r>
                <a:rPr kumimoji="1" lang="en-US" altLang="zh-CN" sz="1400" b="1" dirty="0">
                  <a:solidFill>
                    <a:srgbClr val="0000CC"/>
                  </a:solidFill>
                  <a:highlight>
                    <a:srgbClr val="FFFF00"/>
                  </a:highlight>
                  <a:latin typeface="微软雅黑" pitchFamily="34" charset="-122"/>
                  <a:ea typeface="微软雅黑" pitchFamily="34" charset="-122"/>
                </a:rPr>
                <a:t>8</a:t>
              </a:r>
              <a:r>
                <a:rPr kumimoji="1" lang="en-US" altLang="zh-CN" sz="1400" b="1" dirty="0">
                  <a:solidFill>
                    <a:srgbClr val="0000CC"/>
                  </a:solidFill>
                  <a:latin typeface="微软雅黑" pitchFamily="34" charset="-122"/>
                  <a:ea typeface="微软雅黑" pitchFamily="34" charset="-122"/>
                </a:rPr>
                <a:t> = 350</a:t>
              </a:r>
            </a:p>
          </p:txBody>
        </p:sp>
        <p:sp>
          <p:nvSpPr>
            <p:cNvPr id="43" name="Line 24"/>
            <p:cNvSpPr>
              <a:spLocks noChangeShapeType="1"/>
            </p:cNvSpPr>
            <p:nvPr/>
          </p:nvSpPr>
          <p:spPr bwMode="auto">
            <a:xfrm flipV="1">
              <a:off x="8126545" y="4332759"/>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4" name="Line 25"/>
            <p:cNvSpPr>
              <a:spLocks noChangeShapeType="1"/>
            </p:cNvSpPr>
            <p:nvPr/>
          </p:nvSpPr>
          <p:spPr bwMode="auto">
            <a:xfrm flipV="1">
              <a:off x="9380273" y="4332759"/>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5" name="Text Box 27"/>
            <p:cNvSpPr txBox="1">
              <a:spLocks noChangeArrowheads="1"/>
            </p:cNvSpPr>
            <p:nvPr/>
          </p:nvSpPr>
          <p:spPr bwMode="auto">
            <a:xfrm>
              <a:off x="7657655" y="4647828"/>
              <a:ext cx="896885"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2800</a:t>
              </a:r>
            </a:p>
          </p:txBody>
        </p:sp>
        <p:sp>
          <p:nvSpPr>
            <p:cNvPr id="46" name="Text Box 28"/>
            <p:cNvSpPr txBox="1">
              <a:spLocks noChangeArrowheads="1"/>
            </p:cNvSpPr>
            <p:nvPr/>
          </p:nvSpPr>
          <p:spPr bwMode="auto">
            <a:xfrm>
              <a:off x="8895905" y="4625602"/>
              <a:ext cx="896885"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3799</a:t>
              </a:r>
            </a:p>
          </p:txBody>
        </p:sp>
        <p:sp>
          <p:nvSpPr>
            <p:cNvPr id="47" name="Rectangle 49"/>
            <p:cNvSpPr>
              <a:spLocks noChangeArrowheads="1"/>
            </p:cNvSpPr>
            <p:nvPr/>
          </p:nvSpPr>
          <p:spPr bwMode="auto">
            <a:xfrm>
              <a:off x="8047436" y="3869208"/>
              <a:ext cx="1427427" cy="463550"/>
            </a:xfrm>
            <a:prstGeom prst="rect">
              <a:avLst/>
            </a:prstGeom>
            <a:solidFill>
              <a:srgbClr val="99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8" name="Line 50"/>
            <p:cNvSpPr>
              <a:spLocks noChangeShapeType="1"/>
            </p:cNvSpPr>
            <p:nvPr/>
          </p:nvSpPr>
          <p:spPr bwMode="auto">
            <a:xfrm>
              <a:off x="8238331"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9" name="Line 51"/>
            <p:cNvSpPr>
              <a:spLocks noChangeShapeType="1"/>
            </p:cNvSpPr>
            <p:nvPr/>
          </p:nvSpPr>
          <p:spPr bwMode="auto">
            <a:xfrm>
              <a:off x="8429229"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0" name="Line 52"/>
            <p:cNvSpPr>
              <a:spLocks noChangeShapeType="1"/>
            </p:cNvSpPr>
            <p:nvPr/>
          </p:nvSpPr>
          <p:spPr bwMode="auto">
            <a:xfrm>
              <a:off x="8620125"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1" name="Line 53"/>
            <p:cNvSpPr>
              <a:spLocks noChangeShapeType="1"/>
            </p:cNvSpPr>
            <p:nvPr/>
          </p:nvSpPr>
          <p:spPr bwMode="auto">
            <a:xfrm>
              <a:off x="9285685"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2" name="Rectangle 54"/>
            <p:cNvSpPr>
              <a:spLocks noChangeArrowheads="1"/>
            </p:cNvSpPr>
            <p:nvPr/>
          </p:nvSpPr>
          <p:spPr bwMode="auto">
            <a:xfrm>
              <a:off x="7098110" y="3869208"/>
              <a:ext cx="949325" cy="463550"/>
            </a:xfrm>
            <a:prstGeom prst="rect">
              <a:avLst/>
            </a:prstGeom>
            <a:solidFill>
              <a:srgbClr val="00B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3" name="Line 55"/>
            <p:cNvSpPr>
              <a:spLocks noChangeShapeType="1"/>
            </p:cNvSpPr>
            <p:nvPr/>
          </p:nvSpPr>
          <p:spPr bwMode="auto">
            <a:xfrm flipH="1" flipV="1">
              <a:off x="8429229" y="2380134"/>
              <a:ext cx="1045633" cy="1489075"/>
            </a:xfrm>
            <a:prstGeom prst="line">
              <a:avLst/>
            </a:prstGeom>
            <a:noFill/>
            <a:ln w="19050">
              <a:solidFill>
                <a:srgbClr val="0000CC"/>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4" name="Line 56"/>
            <p:cNvSpPr>
              <a:spLocks noChangeShapeType="1"/>
            </p:cNvSpPr>
            <p:nvPr/>
          </p:nvSpPr>
          <p:spPr bwMode="auto">
            <a:xfrm flipH="1" flipV="1">
              <a:off x="7001802" y="2380134"/>
              <a:ext cx="1045633" cy="1489075"/>
            </a:xfrm>
            <a:prstGeom prst="line">
              <a:avLst/>
            </a:prstGeom>
            <a:noFill/>
            <a:ln w="19050">
              <a:solidFill>
                <a:srgbClr val="0000CC"/>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5" name="Text Box 61"/>
            <p:cNvSpPr txBox="1">
              <a:spLocks noChangeArrowheads="1"/>
            </p:cNvSpPr>
            <p:nvPr/>
          </p:nvSpPr>
          <p:spPr bwMode="auto">
            <a:xfrm>
              <a:off x="7065433" y="3869210"/>
              <a:ext cx="1011517"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chemeClr val="bg1"/>
                  </a:solidFill>
                  <a:latin typeface="微软雅黑" pitchFamily="34" charset="-122"/>
                  <a:ea typeface="微软雅黑" pitchFamily="34" charset="-122"/>
                </a:rPr>
                <a:t>首部 </a:t>
              </a:r>
              <a:r>
                <a:rPr kumimoji="1" lang="en-US" altLang="zh-CN" sz="1400" b="1" dirty="0">
                  <a:solidFill>
                    <a:schemeClr val="bg1"/>
                  </a:solidFill>
                  <a:latin typeface="微软雅黑" pitchFamily="34" charset="-122"/>
                  <a:ea typeface="微软雅黑" pitchFamily="34" charset="-122"/>
                </a:rPr>
                <a:t>3</a:t>
              </a:r>
            </a:p>
          </p:txBody>
        </p:sp>
        <p:sp>
          <p:nvSpPr>
            <p:cNvPr id="56" name="Text Box 65"/>
            <p:cNvSpPr txBox="1">
              <a:spLocks noChangeArrowheads="1"/>
            </p:cNvSpPr>
            <p:nvPr/>
          </p:nvSpPr>
          <p:spPr bwMode="auto">
            <a:xfrm>
              <a:off x="7450799" y="5067770"/>
              <a:ext cx="1525071"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C00CC"/>
                  </a:solidFill>
                  <a:latin typeface="微软雅黑" pitchFamily="34" charset="-122"/>
                  <a:ea typeface="微软雅黑" pitchFamily="34" charset="-122"/>
                </a:rPr>
                <a:t>数据报片 </a:t>
              </a:r>
              <a:r>
                <a:rPr kumimoji="1" lang="en-US" altLang="zh-CN" sz="1400" b="1" dirty="0">
                  <a:solidFill>
                    <a:srgbClr val="CC00CC"/>
                  </a:solidFill>
                  <a:latin typeface="微软雅黑" pitchFamily="34" charset="-122"/>
                  <a:ea typeface="微软雅黑" pitchFamily="34" charset="-122"/>
                </a:rPr>
                <a:t>3</a:t>
              </a:r>
            </a:p>
          </p:txBody>
        </p:sp>
      </p:grpSp>
      <p:grpSp>
        <p:nvGrpSpPr>
          <p:cNvPr id="57" name="组合 56"/>
          <p:cNvGrpSpPr/>
          <p:nvPr/>
        </p:nvGrpSpPr>
        <p:grpSpPr>
          <a:xfrm>
            <a:off x="1682184" y="1126924"/>
            <a:ext cx="6333437" cy="1184111"/>
            <a:chOff x="958554" y="1420467"/>
            <a:chExt cx="9058225" cy="1693542"/>
          </a:xfrm>
        </p:grpSpPr>
        <p:sp>
          <p:nvSpPr>
            <p:cNvPr id="58" name="Rectangle 4"/>
            <p:cNvSpPr>
              <a:spLocks noChangeArrowheads="1"/>
            </p:cNvSpPr>
            <p:nvPr/>
          </p:nvSpPr>
          <p:spPr bwMode="auto">
            <a:xfrm>
              <a:off x="3195902" y="1916583"/>
              <a:ext cx="5233327" cy="463550"/>
            </a:xfrm>
            <a:prstGeom prst="rect">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9" name="Rectangle 6"/>
            <p:cNvSpPr>
              <a:spLocks noChangeArrowheads="1"/>
            </p:cNvSpPr>
            <p:nvPr/>
          </p:nvSpPr>
          <p:spPr bwMode="auto">
            <a:xfrm>
              <a:off x="2244858" y="1916583"/>
              <a:ext cx="6184371" cy="463550"/>
            </a:xfrm>
            <a:prstGeom prst="rect">
              <a:avLst/>
            </a:prstGeom>
            <a:solidFill>
              <a:srgbClr val="99FFCC"/>
            </a:solidFill>
            <a:ln w="19050">
              <a:solidFill>
                <a:schemeClr val="tx1"/>
              </a:solidFill>
              <a:miter lim="800000"/>
              <a:headEnd/>
              <a:tailEnd/>
            </a:ln>
            <a:effectLst/>
            <a:extLst>
              <a:ext uri="{AF507438-7753-43E0-B8FC-AC1667EBCBE1}">
                <a14:hiddenEffects xmlns:a14="http://schemas.microsoft.com/office/drawing/2010/main">
                  <a:effectLst>
                    <a:outerShdw dist="28398" dir="1593903"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0" name="Line 7"/>
            <p:cNvSpPr>
              <a:spLocks noChangeShapeType="1"/>
            </p:cNvSpPr>
            <p:nvPr/>
          </p:nvSpPr>
          <p:spPr bwMode="auto">
            <a:xfrm>
              <a:off x="3386800" y="191658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1" name="Line 8"/>
            <p:cNvSpPr>
              <a:spLocks noChangeShapeType="1"/>
            </p:cNvSpPr>
            <p:nvPr/>
          </p:nvSpPr>
          <p:spPr bwMode="auto">
            <a:xfrm>
              <a:off x="3577696" y="191658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2" name="Line 9"/>
            <p:cNvSpPr>
              <a:spLocks noChangeShapeType="1"/>
            </p:cNvSpPr>
            <p:nvPr/>
          </p:nvSpPr>
          <p:spPr bwMode="auto">
            <a:xfrm>
              <a:off x="3768593" y="191658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3" name="Line 10"/>
            <p:cNvSpPr>
              <a:spLocks noChangeShapeType="1"/>
            </p:cNvSpPr>
            <p:nvPr/>
          </p:nvSpPr>
          <p:spPr bwMode="auto">
            <a:xfrm>
              <a:off x="8238331" y="191658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4" name="Text Box 16"/>
            <p:cNvSpPr txBox="1">
              <a:spLocks noChangeArrowheads="1"/>
            </p:cNvSpPr>
            <p:nvPr/>
          </p:nvSpPr>
          <p:spPr bwMode="auto">
            <a:xfrm>
              <a:off x="8455025" y="1810221"/>
              <a:ext cx="1561754" cy="7175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solidFill>
                    <a:srgbClr val="0000CC"/>
                  </a:solidFill>
                  <a:latin typeface="微软雅黑" pitchFamily="34" charset="-122"/>
                  <a:ea typeface="微软雅黑" pitchFamily="34" charset="-122"/>
                </a:rPr>
                <a:t>偏移 </a:t>
              </a:r>
              <a:r>
                <a:rPr kumimoji="1" lang="en-US" altLang="zh-CN" sz="1400" b="1">
                  <a:solidFill>
                    <a:srgbClr val="0000CC"/>
                  </a:solidFill>
                  <a:latin typeface="微软雅黑" pitchFamily="34" charset="-122"/>
                  <a:ea typeface="微软雅黑" pitchFamily="34" charset="-122"/>
                </a:rPr>
                <a:t>= 0/8</a:t>
              </a:r>
            </a:p>
            <a:p>
              <a:pPr>
                <a:lnSpc>
                  <a:spcPct val="90000"/>
                </a:lnSpc>
              </a:pPr>
              <a:r>
                <a:rPr kumimoji="1" lang="en-US" altLang="zh-CN" sz="1400" b="1">
                  <a:solidFill>
                    <a:srgbClr val="0000CC"/>
                  </a:solidFill>
                  <a:latin typeface="微软雅黑" pitchFamily="34" charset="-122"/>
                  <a:ea typeface="微软雅黑" pitchFamily="34" charset="-122"/>
                </a:rPr>
                <a:t>= 0</a:t>
              </a:r>
            </a:p>
          </p:txBody>
        </p:sp>
        <p:sp>
          <p:nvSpPr>
            <p:cNvPr id="65" name="Line 19"/>
            <p:cNvSpPr>
              <a:spLocks noChangeShapeType="1"/>
            </p:cNvSpPr>
            <p:nvPr/>
          </p:nvSpPr>
          <p:spPr bwMode="auto">
            <a:xfrm flipV="1">
              <a:off x="8317442" y="2380134"/>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6" name="Line 20"/>
            <p:cNvSpPr>
              <a:spLocks noChangeShapeType="1"/>
            </p:cNvSpPr>
            <p:nvPr/>
          </p:nvSpPr>
          <p:spPr bwMode="auto">
            <a:xfrm flipV="1">
              <a:off x="3287052" y="2380134"/>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7" name="Text Box 31"/>
            <p:cNvSpPr txBox="1">
              <a:spLocks noChangeArrowheads="1"/>
            </p:cNvSpPr>
            <p:nvPr/>
          </p:nvSpPr>
          <p:spPr bwMode="auto">
            <a:xfrm>
              <a:off x="7874448" y="2634134"/>
              <a:ext cx="896885" cy="44019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3799</a:t>
              </a:r>
            </a:p>
          </p:txBody>
        </p:sp>
        <p:sp>
          <p:nvSpPr>
            <p:cNvPr id="68" name="Text Box 32"/>
            <p:cNvSpPr txBox="1">
              <a:spLocks noChangeArrowheads="1"/>
            </p:cNvSpPr>
            <p:nvPr/>
          </p:nvSpPr>
          <p:spPr bwMode="auto">
            <a:xfrm>
              <a:off x="958554" y="1788988"/>
              <a:ext cx="1291221" cy="748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solidFill>
                    <a:srgbClr val="CC00CC"/>
                  </a:solidFill>
                  <a:latin typeface="微软雅黑" pitchFamily="34" charset="-122"/>
                  <a:ea typeface="微软雅黑" pitchFamily="34" charset="-122"/>
                </a:rPr>
                <a:t>需分片的</a:t>
              </a:r>
            </a:p>
            <a:p>
              <a:pPr algn="ctr"/>
              <a:r>
                <a:rPr kumimoji="1" lang="zh-CN" altLang="en-US" sz="1400" b="1" dirty="0">
                  <a:solidFill>
                    <a:srgbClr val="CC00CC"/>
                  </a:solidFill>
                  <a:latin typeface="微软雅黑" pitchFamily="34" charset="-122"/>
                  <a:ea typeface="微软雅黑" pitchFamily="34" charset="-122"/>
                </a:rPr>
                <a:t>数据报</a:t>
              </a:r>
            </a:p>
          </p:txBody>
        </p:sp>
        <p:sp>
          <p:nvSpPr>
            <p:cNvPr id="69" name="Rectangle 76"/>
            <p:cNvSpPr>
              <a:spLocks noChangeArrowheads="1"/>
            </p:cNvSpPr>
            <p:nvPr/>
          </p:nvSpPr>
          <p:spPr bwMode="auto">
            <a:xfrm>
              <a:off x="2259192" y="1934045"/>
              <a:ext cx="925248" cy="446086"/>
            </a:xfrm>
            <a:prstGeom prst="rect">
              <a:avLst/>
            </a:prstGeom>
            <a:solidFill>
              <a:srgbClr val="0000FF"/>
            </a:solidFill>
            <a:ln>
              <a:noFill/>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0" name="Text Box 34"/>
            <p:cNvSpPr txBox="1">
              <a:spLocks noChangeArrowheads="1"/>
            </p:cNvSpPr>
            <p:nvPr/>
          </p:nvSpPr>
          <p:spPr bwMode="auto">
            <a:xfrm>
              <a:off x="2344606" y="1948770"/>
              <a:ext cx="777668" cy="4401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chemeClr val="bg1"/>
                  </a:solidFill>
                  <a:latin typeface="微软雅黑" pitchFamily="34" charset="-122"/>
                  <a:ea typeface="微软雅黑" pitchFamily="34" charset="-122"/>
                </a:rPr>
                <a:t>首部</a:t>
              </a:r>
            </a:p>
          </p:txBody>
        </p:sp>
        <p:sp>
          <p:nvSpPr>
            <p:cNvPr id="71" name="Line 35"/>
            <p:cNvSpPr>
              <a:spLocks noChangeShapeType="1"/>
            </p:cNvSpPr>
            <p:nvPr/>
          </p:nvSpPr>
          <p:spPr bwMode="auto">
            <a:xfrm>
              <a:off x="3195902" y="191658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2" name="Line 37"/>
            <p:cNvSpPr>
              <a:spLocks noChangeShapeType="1"/>
            </p:cNvSpPr>
            <p:nvPr/>
          </p:nvSpPr>
          <p:spPr bwMode="auto">
            <a:xfrm>
              <a:off x="5099712" y="191658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3" name="Line 38"/>
            <p:cNvSpPr>
              <a:spLocks noChangeShapeType="1"/>
            </p:cNvSpPr>
            <p:nvPr/>
          </p:nvSpPr>
          <p:spPr bwMode="auto">
            <a:xfrm>
              <a:off x="7001802" y="191658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4" name="Line 57"/>
            <p:cNvSpPr>
              <a:spLocks noChangeShapeType="1"/>
            </p:cNvSpPr>
            <p:nvPr/>
          </p:nvSpPr>
          <p:spPr bwMode="auto">
            <a:xfrm>
              <a:off x="3178704" y="1648280"/>
              <a:ext cx="5231606"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5" name="Text Box 58"/>
            <p:cNvSpPr txBox="1">
              <a:spLocks noChangeArrowheads="1"/>
            </p:cNvSpPr>
            <p:nvPr/>
          </p:nvSpPr>
          <p:spPr bwMode="auto">
            <a:xfrm>
              <a:off x="4150388" y="1420467"/>
              <a:ext cx="2845637" cy="440190"/>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数据部分共 </a:t>
              </a:r>
              <a:r>
                <a:rPr kumimoji="1" lang="en-US" altLang="zh-CN" sz="1400" b="1" dirty="0">
                  <a:solidFill>
                    <a:srgbClr val="0000CC"/>
                  </a:solidFill>
                  <a:latin typeface="微软雅黑" pitchFamily="34" charset="-122"/>
                  <a:ea typeface="微软雅黑" pitchFamily="34" charset="-122"/>
                </a:rPr>
                <a:t>3800 </a:t>
              </a:r>
              <a:r>
                <a:rPr kumimoji="1" lang="zh-CN" altLang="en-US" sz="1400" b="1" dirty="0">
                  <a:solidFill>
                    <a:srgbClr val="0000CC"/>
                  </a:solidFill>
                  <a:latin typeface="微软雅黑" pitchFamily="34" charset="-122"/>
                  <a:ea typeface="微软雅黑" pitchFamily="34" charset="-122"/>
                </a:rPr>
                <a:t>字节</a:t>
              </a:r>
            </a:p>
          </p:txBody>
        </p:sp>
        <p:sp>
          <p:nvSpPr>
            <p:cNvPr id="76" name="Line 66"/>
            <p:cNvSpPr>
              <a:spLocks noChangeShapeType="1"/>
            </p:cNvSpPr>
            <p:nvPr/>
          </p:nvSpPr>
          <p:spPr bwMode="auto">
            <a:xfrm flipV="1">
              <a:off x="5177102" y="2380134"/>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7" name="Text Box 67"/>
            <p:cNvSpPr txBox="1">
              <a:spLocks noChangeArrowheads="1"/>
            </p:cNvSpPr>
            <p:nvPr/>
          </p:nvSpPr>
          <p:spPr bwMode="auto">
            <a:xfrm>
              <a:off x="4731578" y="2653184"/>
              <a:ext cx="896885" cy="44019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1400</a:t>
              </a:r>
            </a:p>
          </p:txBody>
        </p:sp>
        <p:sp>
          <p:nvSpPr>
            <p:cNvPr id="78" name="Line 68"/>
            <p:cNvSpPr>
              <a:spLocks noChangeShapeType="1"/>
            </p:cNvSpPr>
            <p:nvPr/>
          </p:nvSpPr>
          <p:spPr bwMode="auto">
            <a:xfrm flipV="1">
              <a:off x="7080912" y="2380134"/>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9" name="Text Box 69"/>
            <p:cNvSpPr txBox="1">
              <a:spLocks noChangeArrowheads="1"/>
            </p:cNvSpPr>
            <p:nvPr/>
          </p:nvSpPr>
          <p:spPr bwMode="auto">
            <a:xfrm>
              <a:off x="6637918" y="2653184"/>
              <a:ext cx="896885" cy="44019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2800</a:t>
              </a:r>
            </a:p>
          </p:txBody>
        </p:sp>
        <p:sp>
          <p:nvSpPr>
            <p:cNvPr id="80" name="Line 70"/>
            <p:cNvSpPr>
              <a:spLocks noChangeShapeType="1"/>
            </p:cNvSpPr>
            <p:nvPr/>
          </p:nvSpPr>
          <p:spPr bwMode="auto">
            <a:xfrm>
              <a:off x="7190979" y="191658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1" name="Line 71"/>
            <p:cNvSpPr>
              <a:spLocks noChangeShapeType="1"/>
            </p:cNvSpPr>
            <p:nvPr/>
          </p:nvSpPr>
          <p:spPr bwMode="auto">
            <a:xfrm>
              <a:off x="5290608" y="191658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2" name="Text Box 72"/>
            <p:cNvSpPr txBox="1">
              <a:spLocks noChangeArrowheads="1"/>
            </p:cNvSpPr>
            <p:nvPr/>
          </p:nvSpPr>
          <p:spPr bwMode="auto">
            <a:xfrm>
              <a:off x="2779177" y="2673819"/>
              <a:ext cx="1011517" cy="44019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solidFill>
                    <a:srgbClr val="0000CC"/>
                  </a:solidFill>
                  <a:latin typeface="微软雅黑" pitchFamily="34" charset="-122"/>
                  <a:ea typeface="微软雅黑" pitchFamily="34" charset="-122"/>
                </a:rPr>
                <a:t>字节 </a:t>
              </a:r>
              <a:r>
                <a:rPr kumimoji="1" lang="en-US" altLang="zh-CN" sz="1400" b="1">
                  <a:solidFill>
                    <a:srgbClr val="0000CC"/>
                  </a:solidFill>
                  <a:latin typeface="微软雅黑" pitchFamily="34" charset="-122"/>
                  <a:ea typeface="微软雅黑" pitchFamily="34" charset="-122"/>
                </a:rPr>
                <a:t>0</a:t>
              </a:r>
            </a:p>
          </p:txBody>
        </p:sp>
      </p:grpSp>
    </p:spTree>
    <p:extLst>
      <p:ext uri="{BB962C8B-B14F-4D97-AF65-F5344CB8AC3E}">
        <p14:creationId xmlns:p14="http://schemas.microsoft.com/office/powerpoint/2010/main" val="22036282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par>
                          <p:cTn id="7" fill="hold">
                            <p:stCondLst>
                              <p:cond delay="0"/>
                            </p:stCondLst>
                            <p:childTnLst>
                              <p:par>
                                <p:cTn id="8" presetID="22" presetClass="entr" presetSubtype="1" fill="hold" nodeType="after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wipe(up)">
                                      <p:cBhvr>
                                        <p:cTn id="10" dur="3000"/>
                                        <p:tgtEl>
                                          <p:spTgt spid="9"/>
                                        </p:tgtEl>
                                      </p:cBhvr>
                                    </p:animEffec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5"/>
                                        </p:tgtEl>
                                        <p:attrNameLst>
                                          <p:attrName>style.visibility</p:attrName>
                                        </p:attrNameLst>
                                      </p:cBhvr>
                                      <p:to>
                                        <p:strVal val="visible"/>
                                      </p:to>
                                    </p:set>
                                  </p:childTnLst>
                                </p:cTn>
                              </p:par>
                            </p:childTnLst>
                          </p:cTn>
                        </p:par>
                        <p:par>
                          <p:cTn id="15" fill="hold">
                            <p:stCondLst>
                              <p:cond delay="0"/>
                            </p:stCondLst>
                            <p:childTnLst>
                              <p:par>
                                <p:cTn id="16" presetID="22" presetClass="entr" presetSubtype="1" fill="hold" nodeType="afterEffect">
                                  <p:stCondLst>
                                    <p:cond delay="0"/>
                                  </p:stCondLst>
                                  <p:childTnLst>
                                    <p:set>
                                      <p:cBhvr>
                                        <p:cTn id="17" dur="1" fill="hold">
                                          <p:stCondLst>
                                            <p:cond delay="0"/>
                                          </p:stCondLst>
                                        </p:cTn>
                                        <p:tgtEl>
                                          <p:spTgt spid="25"/>
                                        </p:tgtEl>
                                        <p:attrNameLst>
                                          <p:attrName>style.visibility</p:attrName>
                                        </p:attrNameLst>
                                      </p:cBhvr>
                                      <p:to>
                                        <p:strVal val="visible"/>
                                      </p:to>
                                    </p:set>
                                    <p:animEffect transition="in" filter="wipe(up)">
                                      <p:cBhvr>
                                        <p:cTn id="18" dur="3000"/>
                                        <p:tgtEl>
                                          <p:spTgt spid="25"/>
                                        </p:tgtEl>
                                      </p:cBhvr>
                                    </p:animEffec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41"/>
                                        </p:tgtEl>
                                        <p:attrNameLst>
                                          <p:attrName>style.visibility</p:attrName>
                                        </p:attrNameLst>
                                      </p:cBhvr>
                                      <p:to>
                                        <p:strVal val="visible"/>
                                      </p:to>
                                    </p:set>
                                  </p:childTnLst>
                                </p:cTn>
                              </p:par>
                            </p:childTnLst>
                          </p:cTn>
                        </p:par>
                        <p:par>
                          <p:cTn id="23" fill="hold">
                            <p:stCondLst>
                              <p:cond delay="0"/>
                            </p:stCondLst>
                            <p:childTnLst>
                              <p:par>
                                <p:cTn id="24" presetID="22" presetClass="entr" presetSubtype="1" fill="hold" nodeType="afterEffect">
                                  <p:stCondLst>
                                    <p:cond delay="0"/>
                                  </p:stCondLst>
                                  <p:childTnLst>
                                    <p:set>
                                      <p:cBhvr>
                                        <p:cTn id="25" dur="1" fill="hold">
                                          <p:stCondLst>
                                            <p:cond delay="0"/>
                                          </p:stCondLst>
                                        </p:cTn>
                                        <p:tgtEl>
                                          <p:spTgt spid="41"/>
                                        </p:tgtEl>
                                        <p:attrNameLst>
                                          <p:attrName>style.visibility</p:attrName>
                                        </p:attrNameLst>
                                      </p:cBhvr>
                                      <p:to>
                                        <p:strVal val="visible"/>
                                      </p:to>
                                    </p:set>
                                    <p:animEffect transition="in" filter="wipe(up)">
                                      <p:cBhvr>
                                        <p:cTn id="26" dur="30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624856"/>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5"/>
          <p:cNvSpPr/>
          <p:nvPr/>
        </p:nvSpPr>
        <p:spPr>
          <a:xfrm>
            <a:off x="616085" y="583672"/>
            <a:ext cx="3074881" cy="400110"/>
          </a:xfrm>
          <a:prstGeom prst="rect">
            <a:avLst/>
          </a:prstGeom>
        </p:spPr>
        <p:txBody>
          <a:bodyPr wrap="none">
            <a:spAutoFit/>
          </a:bodyPr>
          <a:lstStyle/>
          <a:p>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例</a:t>
            </a:r>
            <a:r>
              <a:rPr lang="en-US" altLang="zh-CN" sz="2000" b="1" dirty="0">
                <a:latin typeface="微软雅黑" pitchFamily="34" charset="-122"/>
                <a:ea typeface="微软雅黑" pitchFamily="34" charset="-122"/>
              </a:rPr>
              <a:t>4-1】 IP </a:t>
            </a:r>
            <a:r>
              <a:rPr lang="zh-CN" altLang="en-US" sz="2000" b="1" dirty="0">
                <a:latin typeface="微软雅黑" pitchFamily="34" charset="-122"/>
                <a:ea typeface="微软雅黑" pitchFamily="34" charset="-122"/>
              </a:rPr>
              <a:t>数据报分片</a:t>
            </a:r>
          </a:p>
        </p:txBody>
      </p:sp>
      <p:sp>
        <p:nvSpPr>
          <p:cNvPr id="7" name="矩形 6"/>
          <p:cNvSpPr/>
          <p:nvPr/>
        </p:nvSpPr>
        <p:spPr>
          <a:xfrm>
            <a:off x="2747622" y="1136776"/>
            <a:ext cx="3648756" cy="307777"/>
          </a:xfrm>
          <a:prstGeom prst="rect">
            <a:avLst/>
          </a:prstGeom>
        </p:spPr>
        <p:txBody>
          <a:bodyPr wrap="none">
            <a:spAutoFit/>
          </a:bodyPr>
          <a:lstStyle/>
          <a:p>
            <a:pPr algn="ctr"/>
            <a:r>
              <a:rPr lang="en-US" altLang="zh-CN" sz="1400" b="1" dirty="0">
                <a:latin typeface="微软雅黑" pitchFamily="34" charset="-122"/>
                <a:ea typeface="微软雅黑" pitchFamily="34" charset="-122"/>
              </a:rPr>
              <a:t>IP </a:t>
            </a:r>
            <a:r>
              <a:rPr lang="zh-CN" altLang="en-US" sz="1400" b="1" dirty="0">
                <a:latin typeface="微软雅黑" pitchFamily="34" charset="-122"/>
                <a:ea typeface="微软雅黑" pitchFamily="34" charset="-122"/>
              </a:rPr>
              <a:t>数据报首部中与分片有关的字段中的数值</a:t>
            </a:r>
          </a:p>
        </p:txBody>
      </p:sp>
      <p:graphicFrame>
        <p:nvGraphicFramePr>
          <p:cNvPr id="8" name="表格 7"/>
          <p:cNvGraphicFramePr>
            <a:graphicFrameLocks noGrp="1"/>
          </p:cNvGraphicFramePr>
          <p:nvPr>
            <p:extLst>
              <p:ext uri="{D42A27DB-BD31-4B8C-83A1-F6EECF244321}">
                <p14:modId xmlns:p14="http://schemas.microsoft.com/office/powerpoint/2010/main" val="3214580070"/>
              </p:ext>
            </p:extLst>
          </p:nvPr>
        </p:nvGraphicFramePr>
        <p:xfrm>
          <a:off x="545140" y="1510998"/>
          <a:ext cx="8053715" cy="1807405"/>
        </p:xfrm>
        <a:graphic>
          <a:graphicData uri="http://schemas.openxmlformats.org/drawingml/2006/table">
            <a:tbl>
              <a:tblPr>
                <a:tableStyleId>{5C22544A-7EE6-4342-B048-85BDC9FD1C3A}</a:tableStyleId>
              </a:tblPr>
              <a:tblGrid>
                <a:gridCol w="1698705">
                  <a:extLst>
                    <a:ext uri="{9D8B030D-6E8A-4147-A177-3AD203B41FA5}">
                      <a16:colId xmlns:a16="http://schemas.microsoft.com/office/drawing/2014/main" val="20000"/>
                    </a:ext>
                  </a:extLst>
                </a:gridCol>
                <a:gridCol w="1271002">
                  <a:extLst>
                    <a:ext uri="{9D8B030D-6E8A-4147-A177-3AD203B41FA5}">
                      <a16:colId xmlns:a16="http://schemas.microsoft.com/office/drawing/2014/main" val="20001"/>
                    </a:ext>
                  </a:extLst>
                </a:gridCol>
                <a:gridCol w="1271002">
                  <a:extLst>
                    <a:ext uri="{9D8B030D-6E8A-4147-A177-3AD203B41FA5}">
                      <a16:colId xmlns:a16="http://schemas.microsoft.com/office/drawing/2014/main" val="20002"/>
                    </a:ext>
                  </a:extLst>
                </a:gridCol>
                <a:gridCol w="1271002">
                  <a:extLst>
                    <a:ext uri="{9D8B030D-6E8A-4147-A177-3AD203B41FA5}">
                      <a16:colId xmlns:a16="http://schemas.microsoft.com/office/drawing/2014/main" val="20003"/>
                    </a:ext>
                  </a:extLst>
                </a:gridCol>
                <a:gridCol w="1271002">
                  <a:extLst>
                    <a:ext uri="{9D8B030D-6E8A-4147-A177-3AD203B41FA5}">
                      <a16:colId xmlns:a16="http://schemas.microsoft.com/office/drawing/2014/main" val="20004"/>
                    </a:ext>
                  </a:extLst>
                </a:gridCol>
                <a:gridCol w="1271002">
                  <a:extLst>
                    <a:ext uri="{9D8B030D-6E8A-4147-A177-3AD203B41FA5}">
                      <a16:colId xmlns:a16="http://schemas.microsoft.com/office/drawing/2014/main" val="20005"/>
                    </a:ext>
                  </a:extLst>
                </a:gridCol>
              </a:tblGrid>
              <a:tr h="361481">
                <a:tc>
                  <a:txBody>
                    <a:bodyPr/>
                    <a:lstStyle/>
                    <a:p>
                      <a:pPr algn="just">
                        <a:lnSpc>
                          <a:spcPct val="100000"/>
                        </a:lnSpc>
                        <a:spcAft>
                          <a:spcPts val="0"/>
                        </a:spcAft>
                      </a:pPr>
                      <a:r>
                        <a:rPr lang="en-US" sz="1400" b="1" dirty="0">
                          <a:solidFill>
                            <a:schemeClr val="bg1"/>
                          </a:solidFill>
                          <a:effectLst/>
                          <a:latin typeface="微软雅黑" pitchFamily="34" charset="-122"/>
                          <a:ea typeface="微软雅黑" pitchFamily="34" charset="-122"/>
                        </a:rPr>
                        <a:t> </a:t>
                      </a:r>
                      <a:endParaRPr lang="zh-CN" sz="1400" b="1" dirty="0">
                        <a:solidFill>
                          <a:schemeClr val="bg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00FF"/>
                    </a:solidFill>
                  </a:tcPr>
                </a:tc>
                <a:tc>
                  <a:txBody>
                    <a:bodyPr/>
                    <a:lstStyle/>
                    <a:p>
                      <a:pPr algn="ctr">
                        <a:lnSpc>
                          <a:spcPct val="100000"/>
                        </a:lnSpc>
                        <a:spcAft>
                          <a:spcPts val="0"/>
                        </a:spcAft>
                      </a:pPr>
                      <a:r>
                        <a:rPr lang="zh-CN" sz="1400" b="1" dirty="0">
                          <a:solidFill>
                            <a:schemeClr val="bg1"/>
                          </a:solidFill>
                          <a:effectLst/>
                          <a:latin typeface="微软雅黑" pitchFamily="34" charset="-122"/>
                          <a:ea typeface="微软雅黑" pitchFamily="34" charset="-122"/>
                        </a:rPr>
                        <a:t>总长度</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00FF"/>
                    </a:solidFill>
                  </a:tcPr>
                </a:tc>
                <a:tc>
                  <a:txBody>
                    <a:bodyPr/>
                    <a:lstStyle/>
                    <a:p>
                      <a:pPr algn="ctr">
                        <a:lnSpc>
                          <a:spcPct val="100000"/>
                        </a:lnSpc>
                        <a:spcAft>
                          <a:spcPts val="0"/>
                        </a:spcAft>
                      </a:pPr>
                      <a:r>
                        <a:rPr lang="zh-CN" sz="1400" b="1" dirty="0">
                          <a:solidFill>
                            <a:schemeClr val="bg1"/>
                          </a:solidFill>
                          <a:effectLst/>
                          <a:latin typeface="微软雅黑" pitchFamily="34" charset="-122"/>
                          <a:ea typeface="微软雅黑" pitchFamily="34" charset="-122"/>
                        </a:rPr>
                        <a:t>标识</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00FF"/>
                    </a:solidFill>
                  </a:tcPr>
                </a:tc>
                <a:tc>
                  <a:txBody>
                    <a:bodyPr/>
                    <a:lstStyle/>
                    <a:p>
                      <a:pPr algn="ctr">
                        <a:lnSpc>
                          <a:spcPct val="100000"/>
                        </a:lnSpc>
                        <a:spcAft>
                          <a:spcPts val="0"/>
                        </a:spcAft>
                      </a:pPr>
                      <a:r>
                        <a:rPr lang="en-US" sz="1400" b="1" dirty="0">
                          <a:solidFill>
                            <a:schemeClr val="bg1"/>
                          </a:solidFill>
                          <a:effectLst/>
                          <a:latin typeface="微软雅黑" pitchFamily="34" charset="-122"/>
                          <a:ea typeface="微软雅黑" pitchFamily="34" charset="-122"/>
                        </a:rPr>
                        <a:t>MF</a:t>
                      </a:r>
                      <a:endParaRPr lang="zh-CN" sz="1400" b="1" dirty="0">
                        <a:solidFill>
                          <a:schemeClr val="bg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00FF"/>
                    </a:solidFill>
                  </a:tcPr>
                </a:tc>
                <a:tc>
                  <a:txBody>
                    <a:bodyPr/>
                    <a:lstStyle/>
                    <a:p>
                      <a:pPr algn="ctr">
                        <a:lnSpc>
                          <a:spcPct val="100000"/>
                        </a:lnSpc>
                        <a:spcAft>
                          <a:spcPts val="0"/>
                        </a:spcAft>
                      </a:pPr>
                      <a:r>
                        <a:rPr lang="en-US" sz="1400" b="1" dirty="0">
                          <a:solidFill>
                            <a:schemeClr val="bg1"/>
                          </a:solidFill>
                          <a:effectLst/>
                          <a:latin typeface="微软雅黑" pitchFamily="34" charset="-122"/>
                          <a:ea typeface="微软雅黑" pitchFamily="34" charset="-122"/>
                        </a:rPr>
                        <a:t>DF</a:t>
                      </a:r>
                      <a:endParaRPr lang="zh-CN" sz="1400" b="1" dirty="0">
                        <a:solidFill>
                          <a:schemeClr val="bg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00FF"/>
                    </a:solidFill>
                  </a:tcPr>
                </a:tc>
                <a:tc>
                  <a:txBody>
                    <a:bodyPr/>
                    <a:lstStyle/>
                    <a:p>
                      <a:pPr algn="ctr">
                        <a:lnSpc>
                          <a:spcPct val="100000"/>
                        </a:lnSpc>
                        <a:spcAft>
                          <a:spcPts val="0"/>
                        </a:spcAft>
                      </a:pPr>
                      <a:r>
                        <a:rPr lang="zh-CN" sz="1400" b="1" dirty="0">
                          <a:solidFill>
                            <a:schemeClr val="bg1"/>
                          </a:solidFill>
                          <a:effectLst/>
                          <a:latin typeface="微软雅黑" pitchFamily="34" charset="-122"/>
                          <a:ea typeface="微软雅黑" pitchFamily="34" charset="-122"/>
                        </a:rPr>
                        <a:t>片偏移</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00FF"/>
                    </a:solidFill>
                  </a:tcPr>
                </a:tc>
                <a:extLst>
                  <a:ext uri="{0D108BD9-81ED-4DB2-BD59-A6C34878D82A}">
                    <a16:rowId xmlns:a16="http://schemas.microsoft.com/office/drawing/2014/main" val="10000"/>
                  </a:ext>
                </a:extLst>
              </a:tr>
              <a:tr h="361481">
                <a:tc>
                  <a:txBody>
                    <a:bodyPr/>
                    <a:lstStyle/>
                    <a:p>
                      <a:pPr algn="just">
                        <a:lnSpc>
                          <a:spcPct val="100000"/>
                        </a:lnSpc>
                        <a:spcAft>
                          <a:spcPts val="0"/>
                        </a:spcAft>
                      </a:pPr>
                      <a:r>
                        <a:rPr lang="zh-CN" sz="1400" b="1" dirty="0">
                          <a:solidFill>
                            <a:schemeClr val="tx1"/>
                          </a:solidFill>
                          <a:effectLst/>
                          <a:latin typeface="微软雅黑" pitchFamily="34" charset="-122"/>
                          <a:ea typeface="微软雅黑" pitchFamily="34" charset="-122"/>
                        </a:rPr>
                        <a:t>原始数据报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2637155" algn="ctr"/>
                          <a:tab pos="5274310" algn="r"/>
                          <a:tab pos="266700" algn="l"/>
                        </a:tabLst>
                      </a:pPr>
                      <a:r>
                        <a:rPr lang="en-US" sz="1400" b="1" dirty="0">
                          <a:solidFill>
                            <a:schemeClr val="tx1"/>
                          </a:solidFill>
                          <a:effectLst/>
                          <a:latin typeface="微软雅黑" pitchFamily="34" charset="-122"/>
                          <a:ea typeface="微软雅黑" pitchFamily="34" charset="-122"/>
                        </a:rPr>
                        <a:t>3820</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12345</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0</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0</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0</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361481">
                <a:tc>
                  <a:txBody>
                    <a:bodyPr/>
                    <a:lstStyle/>
                    <a:p>
                      <a:pPr algn="just">
                        <a:lnSpc>
                          <a:spcPct val="100000"/>
                        </a:lnSpc>
                        <a:spcAft>
                          <a:spcPts val="0"/>
                        </a:spcAft>
                      </a:pPr>
                      <a:r>
                        <a:rPr lang="zh-CN" sz="1400" b="1" dirty="0">
                          <a:solidFill>
                            <a:schemeClr val="tx1"/>
                          </a:solidFill>
                          <a:effectLst/>
                          <a:latin typeface="微软雅黑" pitchFamily="34" charset="-122"/>
                          <a:ea typeface="微软雅黑" pitchFamily="34" charset="-122"/>
                        </a:rPr>
                        <a:t>数据报片</a:t>
                      </a:r>
                      <a:r>
                        <a:rPr lang="en-US" sz="1400" b="1" dirty="0">
                          <a:solidFill>
                            <a:schemeClr val="tx1"/>
                          </a:solidFill>
                          <a:effectLst/>
                          <a:latin typeface="微软雅黑" pitchFamily="34" charset="-122"/>
                          <a:ea typeface="微软雅黑" pitchFamily="34" charset="-122"/>
                        </a:rPr>
                        <a:t>1</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a:solidFill>
                            <a:schemeClr val="tx1"/>
                          </a:solidFill>
                          <a:effectLst/>
                          <a:latin typeface="微软雅黑" pitchFamily="34" charset="-122"/>
                          <a:ea typeface="微软雅黑" pitchFamily="34" charset="-122"/>
                        </a:rPr>
                        <a:t>1420</a:t>
                      </a:r>
                      <a:endParaRPr lang="zh-CN" sz="14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a:solidFill>
                            <a:schemeClr val="tx1"/>
                          </a:solidFill>
                          <a:effectLst/>
                          <a:latin typeface="微软雅黑" pitchFamily="34" charset="-122"/>
                          <a:ea typeface="微软雅黑" pitchFamily="34" charset="-122"/>
                        </a:rPr>
                        <a:t>12345</a:t>
                      </a:r>
                      <a:endParaRPr lang="zh-CN" sz="14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1</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a:solidFill>
                            <a:schemeClr val="tx1"/>
                          </a:solidFill>
                          <a:effectLst/>
                          <a:latin typeface="微软雅黑" pitchFamily="34" charset="-122"/>
                          <a:ea typeface="微软雅黑" pitchFamily="34" charset="-122"/>
                        </a:rPr>
                        <a:t>0</a:t>
                      </a:r>
                      <a:endParaRPr lang="zh-CN" sz="14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0</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2"/>
                  </a:ext>
                </a:extLst>
              </a:tr>
              <a:tr h="361481">
                <a:tc>
                  <a:txBody>
                    <a:bodyPr/>
                    <a:lstStyle/>
                    <a:p>
                      <a:pPr algn="just">
                        <a:lnSpc>
                          <a:spcPct val="100000"/>
                        </a:lnSpc>
                        <a:spcAft>
                          <a:spcPts val="0"/>
                        </a:spcAft>
                      </a:pPr>
                      <a:r>
                        <a:rPr lang="zh-CN" sz="1400" b="1" dirty="0">
                          <a:solidFill>
                            <a:schemeClr val="tx1"/>
                          </a:solidFill>
                          <a:effectLst/>
                          <a:latin typeface="微软雅黑" pitchFamily="34" charset="-122"/>
                          <a:ea typeface="微软雅黑" pitchFamily="34" charset="-122"/>
                        </a:rPr>
                        <a:t>数据报片</a:t>
                      </a:r>
                      <a:r>
                        <a:rPr lang="en-US" sz="1400" b="1" dirty="0">
                          <a:solidFill>
                            <a:schemeClr val="tx1"/>
                          </a:solidFill>
                          <a:effectLst/>
                          <a:latin typeface="微软雅黑" pitchFamily="34" charset="-122"/>
                          <a:ea typeface="微软雅黑" pitchFamily="34" charset="-122"/>
                        </a:rPr>
                        <a:t>2</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400" b="1">
                          <a:solidFill>
                            <a:schemeClr val="tx1"/>
                          </a:solidFill>
                          <a:effectLst/>
                          <a:latin typeface="微软雅黑" pitchFamily="34" charset="-122"/>
                          <a:ea typeface="微软雅黑" pitchFamily="34" charset="-122"/>
                        </a:rPr>
                        <a:t>1420</a:t>
                      </a:r>
                      <a:endParaRPr lang="zh-CN" sz="14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400" b="1">
                          <a:solidFill>
                            <a:schemeClr val="tx1"/>
                          </a:solidFill>
                          <a:effectLst/>
                          <a:latin typeface="微软雅黑" pitchFamily="34" charset="-122"/>
                          <a:ea typeface="微软雅黑" pitchFamily="34" charset="-122"/>
                        </a:rPr>
                        <a:t>12345</a:t>
                      </a:r>
                      <a:endParaRPr lang="zh-CN" sz="14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400" b="1">
                          <a:solidFill>
                            <a:schemeClr val="tx1"/>
                          </a:solidFill>
                          <a:effectLst/>
                          <a:latin typeface="微软雅黑" pitchFamily="34" charset="-122"/>
                          <a:ea typeface="微软雅黑" pitchFamily="34" charset="-122"/>
                        </a:rPr>
                        <a:t>1</a:t>
                      </a:r>
                      <a:endParaRPr lang="zh-CN" sz="14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400" b="1">
                          <a:solidFill>
                            <a:schemeClr val="tx1"/>
                          </a:solidFill>
                          <a:effectLst/>
                          <a:latin typeface="微软雅黑" pitchFamily="34" charset="-122"/>
                          <a:ea typeface="微软雅黑" pitchFamily="34" charset="-122"/>
                        </a:rPr>
                        <a:t>0</a:t>
                      </a:r>
                      <a:endParaRPr lang="zh-CN" sz="14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400" b="1">
                          <a:solidFill>
                            <a:schemeClr val="tx1"/>
                          </a:solidFill>
                          <a:effectLst/>
                          <a:latin typeface="微软雅黑" pitchFamily="34" charset="-122"/>
                          <a:ea typeface="微软雅黑" pitchFamily="34" charset="-122"/>
                        </a:rPr>
                        <a:t>175</a:t>
                      </a:r>
                      <a:endParaRPr lang="zh-CN" sz="14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r h="361481">
                <a:tc>
                  <a:txBody>
                    <a:bodyPr/>
                    <a:lstStyle/>
                    <a:p>
                      <a:pPr algn="just">
                        <a:lnSpc>
                          <a:spcPct val="100000"/>
                        </a:lnSpc>
                        <a:spcAft>
                          <a:spcPts val="0"/>
                        </a:spcAft>
                      </a:pPr>
                      <a:r>
                        <a:rPr lang="zh-CN" sz="1400" b="1" dirty="0">
                          <a:solidFill>
                            <a:schemeClr val="tx1"/>
                          </a:solidFill>
                          <a:effectLst/>
                          <a:latin typeface="微软雅黑" pitchFamily="34" charset="-122"/>
                          <a:ea typeface="微软雅黑" pitchFamily="34" charset="-122"/>
                        </a:rPr>
                        <a:t>数据报片</a:t>
                      </a:r>
                      <a:r>
                        <a:rPr lang="en-US" sz="1400" b="1" dirty="0">
                          <a:solidFill>
                            <a:schemeClr val="tx1"/>
                          </a:solidFill>
                          <a:effectLst/>
                          <a:latin typeface="微软雅黑" pitchFamily="34" charset="-122"/>
                          <a:ea typeface="微软雅黑" pitchFamily="34" charset="-122"/>
                        </a:rPr>
                        <a:t>3</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kern="1200" dirty="0">
                          <a:solidFill>
                            <a:schemeClr val="tx1"/>
                          </a:solidFill>
                          <a:effectLst/>
                          <a:latin typeface="微软雅黑" pitchFamily="34" charset="-122"/>
                          <a:ea typeface="微软雅黑" pitchFamily="34" charset="-122"/>
                          <a:cs typeface="+mn-cs"/>
                        </a:rPr>
                        <a:t>1020</a:t>
                      </a:r>
                      <a:endParaRPr lang="zh-CN" sz="14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12345</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a:solidFill>
                            <a:schemeClr val="tx1"/>
                          </a:solidFill>
                          <a:effectLst/>
                          <a:latin typeface="微软雅黑" pitchFamily="34" charset="-122"/>
                          <a:ea typeface="微软雅黑" pitchFamily="34" charset="-122"/>
                        </a:rPr>
                        <a:t>0</a:t>
                      </a:r>
                      <a:endParaRPr lang="zh-CN" sz="14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a:solidFill>
                            <a:schemeClr val="tx1"/>
                          </a:solidFill>
                          <a:effectLst/>
                          <a:latin typeface="微软雅黑" pitchFamily="34" charset="-122"/>
                          <a:ea typeface="微软雅黑" pitchFamily="34" charset="-122"/>
                        </a:rPr>
                        <a:t>0</a:t>
                      </a:r>
                      <a:endParaRPr lang="zh-CN" sz="14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350</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4"/>
                  </a:ext>
                </a:extLst>
              </a:tr>
            </a:tbl>
          </a:graphicData>
        </a:graphic>
      </p:graphicFrame>
    </p:spTree>
    <p:extLst>
      <p:ext uri="{BB962C8B-B14F-4D97-AF65-F5344CB8AC3E}">
        <p14:creationId xmlns:p14="http://schemas.microsoft.com/office/powerpoint/2010/main" val="421437065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8"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9" name="圆角矩形 8"/>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 name="组合 9"/>
          <p:cNvGrpSpPr/>
          <p:nvPr/>
        </p:nvGrpSpPr>
        <p:grpSpPr>
          <a:xfrm>
            <a:off x="1637153" y="1084892"/>
            <a:ext cx="5962309" cy="2192261"/>
            <a:chOff x="1392642" y="1665825"/>
            <a:chExt cx="5962309" cy="2192261"/>
          </a:xfrm>
        </p:grpSpPr>
        <p:sp>
          <p:nvSpPr>
            <p:cNvPr id="11"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3"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4"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5"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7"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8"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9"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30"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31"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2"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3"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4"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5"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6"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7"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8"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9"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40"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41"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2"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3"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44"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5"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6"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7"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8" name="Group 46"/>
            <p:cNvGrpSpPr>
              <a:grpSpLocks/>
            </p:cNvGrpSpPr>
            <p:nvPr/>
          </p:nvGrpSpPr>
          <p:grpSpPr bwMode="auto">
            <a:xfrm>
              <a:off x="2158338" y="3299988"/>
              <a:ext cx="83917" cy="41064"/>
              <a:chOff x="833" y="3024"/>
              <a:chExt cx="78" cy="51"/>
            </a:xfrm>
          </p:grpSpPr>
          <p:sp>
            <p:nvSpPr>
              <p:cNvPr id="58"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9"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0"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49" name="Group 50"/>
            <p:cNvGrpSpPr>
              <a:grpSpLocks/>
            </p:cNvGrpSpPr>
            <p:nvPr/>
          </p:nvGrpSpPr>
          <p:grpSpPr bwMode="auto">
            <a:xfrm>
              <a:off x="7169086" y="3305588"/>
              <a:ext cx="83917" cy="39198"/>
              <a:chOff x="5432" y="3030"/>
              <a:chExt cx="78" cy="51"/>
            </a:xfrm>
          </p:grpSpPr>
          <p:sp>
            <p:nvSpPr>
              <p:cNvPr id="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6"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7"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50"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51"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52" name="Group 94"/>
            <p:cNvGrpSpPr>
              <a:grpSpLocks/>
            </p:cNvGrpSpPr>
            <p:nvPr/>
          </p:nvGrpSpPr>
          <p:grpSpPr bwMode="auto">
            <a:xfrm>
              <a:off x="1392642" y="1885145"/>
              <a:ext cx="336679" cy="1566034"/>
              <a:chOff x="-127" y="845"/>
              <a:chExt cx="333" cy="1678"/>
            </a:xfrm>
          </p:grpSpPr>
          <p:sp>
            <p:nvSpPr>
              <p:cNvPr id="53"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4"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61" name="矩形 60"/>
          <p:cNvSpPr/>
          <p:nvPr/>
        </p:nvSpPr>
        <p:spPr>
          <a:xfrm>
            <a:off x="2487334" y="3469278"/>
            <a:ext cx="4868129" cy="584775"/>
          </a:xfrm>
          <a:prstGeom prst="rect">
            <a:avLst/>
          </a:prstGeom>
          <a:solidFill>
            <a:srgbClr val="0000CC"/>
          </a:solidFill>
          <a:ln w="9525">
            <a:noFill/>
            <a:miter lim="800000"/>
            <a:headEnd/>
            <a:tailEnd/>
          </a:ln>
          <a:effectLst/>
        </p:spPr>
        <p:txBody>
          <a:bodyPr wrap="none">
            <a:spAutoFit/>
          </a:bodyPr>
          <a:lstStyle/>
          <a:p>
            <a:pPr algn="ctr"/>
            <a:r>
              <a:rPr lang="zh-CN" altLang="en-US" sz="1600" b="1" dirty="0">
                <a:highlight>
                  <a:srgbClr val="FFFF00"/>
                </a:highlight>
                <a:latin typeface="微软雅黑" pitchFamily="34" charset="-122"/>
                <a:ea typeface="微软雅黑" pitchFamily="34" charset="-122"/>
              </a:rPr>
              <a:t>生存时间</a:t>
            </a:r>
            <a:r>
              <a:rPr lang="en-US" altLang="zh-CN" sz="1600" b="1" dirty="0">
                <a:highlight>
                  <a:srgbClr val="FFFF00"/>
                </a:highlight>
                <a:latin typeface="微软雅黑" pitchFamily="34" charset="-122"/>
                <a:ea typeface="微软雅黑" pitchFamily="34" charset="-122"/>
              </a:rPr>
              <a:t>——</a:t>
            </a:r>
            <a:r>
              <a:rPr lang="zh-CN" altLang="en-US" sz="1600" b="1" dirty="0">
                <a:highlight>
                  <a:srgbClr val="FFFF00"/>
                </a:highlight>
                <a:latin typeface="微软雅黑" pitchFamily="34" charset="-122"/>
                <a:ea typeface="微软雅黑" pitchFamily="34" charset="-122"/>
              </a:rPr>
              <a:t>占 </a:t>
            </a:r>
            <a:r>
              <a:rPr lang="en-US" altLang="zh-CN" sz="1600" b="1" dirty="0">
                <a:highlight>
                  <a:srgbClr val="FFFF00"/>
                </a:highlight>
                <a:latin typeface="微软雅黑" pitchFamily="34" charset="-122"/>
                <a:ea typeface="微软雅黑" pitchFamily="34" charset="-122"/>
              </a:rPr>
              <a:t>8 </a:t>
            </a:r>
            <a:r>
              <a:rPr lang="zh-CN" altLang="en-US" sz="1600" b="1" dirty="0">
                <a:highlight>
                  <a:srgbClr val="FFFF00"/>
                </a:highlight>
                <a:latin typeface="微软雅黑" pitchFamily="34" charset="-122"/>
                <a:ea typeface="微软雅黑" pitchFamily="34" charset="-122"/>
              </a:rPr>
              <a:t>位，记为 </a:t>
            </a:r>
            <a:r>
              <a:rPr lang="en-US" altLang="zh-CN" sz="1600" b="1" dirty="0">
                <a:highlight>
                  <a:srgbClr val="FFFF00"/>
                </a:highlight>
                <a:latin typeface="微软雅黑" pitchFamily="34" charset="-122"/>
                <a:ea typeface="微软雅黑" pitchFamily="34" charset="-122"/>
              </a:rPr>
              <a:t>TTL (Time To Live)</a:t>
            </a:r>
            <a:r>
              <a:rPr lang="zh-CN" altLang="en-US" sz="1600" b="1" dirty="0">
                <a:highlight>
                  <a:srgbClr val="FFFF00"/>
                </a:highlight>
                <a:latin typeface="微软雅黑" pitchFamily="34" charset="-122"/>
                <a:ea typeface="微软雅黑" pitchFamily="34" charset="-122"/>
              </a:rPr>
              <a:t>，</a:t>
            </a:r>
          </a:p>
          <a:p>
            <a:pPr algn="ctr"/>
            <a:r>
              <a:rPr lang="zh-CN" altLang="en-US" sz="1600" b="1" dirty="0">
                <a:highlight>
                  <a:srgbClr val="FFFF00"/>
                </a:highlight>
                <a:latin typeface="微软雅黑" pitchFamily="34" charset="-122"/>
                <a:ea typeface="微软雅黑" pitchFamily="34" charset="-122"/>
              </a:rPr>
              <a:t>指示数据报在网络中可通过的路由器数的最大值。</a:t>
            </a:r>
          </a:p>
        </p:txBody>
      </p:sp>
      <p:sp>
        <p:nvSpPr>
          <p:cNvPr id="62" name="Rectangle 92"/>
          <p:cNvSpPr>
            <a:spLocks noChangeArrowheads="1"/>
          </p:cNvSpPr>
          <p:nvPr/>
        </p:nvSpPr>
        <p:spPr bwMode="auto">
          <a:xfrm flipV="1">
            <a:off x="2453697" y="1855635"/>
            <a:ext cx="1276061" cy="26134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250934169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62"/>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6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62" grpId="0" animBg="1"/>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5"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36" name="圆角矩形 35"/>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7" name="组合 36"/>
          <p:cNvGrpSpPr/>
          <p:nvPr/>
        </p:nvGrpSpPr>
        <p:grpSpPr>
          <a:xfrm>
            <a:off x="1637153" y="1084892"/>
            <a:ext cx="5962309" cy="2192261"/>
            <a:chOff x="1392642" y="1665825"/>
            <a:chExt cx="5962309" cy="2192261"/>
          </a:xfrm>
        </p:grpSpPr>
        <p:sp>
          <p:nvSpPr>
            <p:cNvPr id="38"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9"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40"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41"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42"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3"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4"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5"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6"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7"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8"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9"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0"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1"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2"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3"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4"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55"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56"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57"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58"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59"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60"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61"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62"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63"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64"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65"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66"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67"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68"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69"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70"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71"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72"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73"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74"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75" name="Group 46"/>
            <p:cNvGrpSpPr>
              <a:grpSpLocks/>
            </p:cNvGrpSpPr>
            <p:nvPr/>
          </p:nvGrpSpPr>
          <p:grpSpPr bwMode="auto">
            <a:xfrm>
              <a:off x="2158338" y="3299988"/>
              <a:ext cx="83917" cy="41064"/>
              <a:chOff x="833" y="3024"/>
              <a:chExt cx="78" cy="51"/>
            </a:xfrm>
          </p:grpSpPr>
          <p:sp>
            <p:nvSpPr>
              <p:cNvPr id="85"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6"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7"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76" name="Group 50"/>
            <p:cNvGrpSpPr>
              <a:grpSpLocks/>
            </p:cNvGrpSpPr>
            <p:nvPr/>
          </p:nvGrpSpPr>
          <p:grpSpPr bwMode="auto">
            <a:xfrm>
              <a:off x="7169086" y="3305588"/>
              <a:ext cx="83917" cy="39198"/>
              <a:chOff x="5432" y="3030"/>
              <a:chExt cx="78" cy="51"/>
            </a:xfrm>
          </p:grpSpPr>
          <p:sp>
            <p:nvSpPr>
              <p:cNvPr id="82"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3"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4"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77"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78"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79" name="Group 94"/>
            <p:cNvGrpSpPr>
              <a:grpSpLocks/>
            </p:cNvGrpSpPr>
            <p:nvPr/>
          </p:nvGrpSpPr>
          <p:grpSpPr bwMode="auto">
            <a:xfrm>
              <a:off x="1392642" y="1885145"/>
              <a:ext cx="336679" cy="1566034"/>
              <a:chOff x="-127" y="845"/>
              <a:chExt cx="333" cy="1678"/>
            </a:xfrm>
          </p:grpSpPr>
          <p:sp>
            <p:nvSpPr>
              <p:cNvPr id="80"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81"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88" name="矩形 87"/>
          <p:cNvSpPr/>
          <p:nvPr/>
        </p:nvSpPr>
        <p:spPr>
          <a:xfrm>
            <a:off x="2123998" y="3469278"/>
            <a:ext cx="5594801" cy="584775"/>
          </a:xfrm>
          <a:prstGeom prst="rect">
            <a:avLst/>
          </a:prstGeom>
          <a:solidFill>
            <a:srgbClr val="0000CC"/>
          </a:solidFill>
          <a:ln w="9525">
            <a:no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协议</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占 </a:t>
            </a:r>
            <a:r>
              <a:rPr lang="en-US" altLang="zh-CN" sz="1600" b="1" dirty="0">
                <a:solidFill>
                  <a:schemeClr val="bg1"/>
                </a:solidFill>
                <a:latin typeface="微软雅黑" pitchFamily="34" charset="-122"/>
                <a:ea typeface="微软雅黑" pitchFamily="34" charset="-122"/>
              </a:rPr>
              <a:t>8 </a:t>
            </a:r>
            <a:r>
              <a:rPr lang="zh-CN" altLang="en-US" sz="1600" b="1" dirty="0">
                <a:solidFill>
                  <a:schemeClr val="bg1"/>
                </a:solidFill>
                <a:latin typeface="微软雅黑" pitchFamily="34" charset="-122"/>
                <a:ea typeface="微软雅黑" pitchFamily="34" charset="-122"/>
              </a:rPr>
              <a:t>位，指出此数据报携带的数据使用何种协议，</a:t>
            </a:r>
          </a:p>
          <a:p>
            <a:pPr algn="ctr"/>
            <a:r>
              <a:rPr lang="zh-CN" altLang="en-US" sz="1600" b="1" dirty="0">
                <a:solidFill>
                  <a:schemeClr val="bg1"/>
                </a:solidFill>
                <a:latin typeface="微软雅黑" pitchFamily="34" charset="-122"/>
                <a:ea typeface="微软雅黑" pitchFamily="34" charset="-122"/>
              </a:rPr>
              <a:t>以便目的主机的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层将数据部分上交给那个处理过程</a:t>
            </a:r>
          </a:p>
        </p:txBody>
      </p:sp>
      <p:sp>
        <p:nvSpPr>
          <p:cNvPr id="89" name="Rectangle 92"/>
          <p:cNvSpPr>
            <a:spLocks noChangeArrowheads="1"/>
          </p:cNvSpPr>
          <p:nvPr/>
        </p:nvSpPr>
        <p:spPr bwMode="auto">
          <a:xfrm flipH="1" flipV="1">
            <a:off x="3729758" y="1855634"/>
            <a:ext cx="1221434" cy="26134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196155280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89"/>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8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8" grpId="0" animBg="1"/>
      <p:bldP spid="89"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6"/>
          <p:cNvSpPr>
            <a:spLocks noChangeArrowheads="1"/>
          </p:cNvSpPr>
          <p:nvPr/>
        </p:nvSpPr>
        <p:spPr bwMode="auto">
          <a:xfrm>
            <a:off x="2167869" y="63372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7" name="圆角矩形 6"/>
          <p:cNvSpPr/>
          <p:nvPr/>
        </p:nvSpPr>
        <p:spPr>
          <a:xfrm>
            <a:off x="556963" y="633725"/>
            <a:ext cx="8048776" cy="371891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 name="Rectangle 4"/>
          <p:cNvSpPr>
            <a:spLocks noChangeArrowheads="1"/>
          </p:cNvSpPr>
          <p:nvPr/>
        </p:nvSpPr>
        <p:spPr bwMode="auto">
          <a:xfrm>
            <a:off x="1773858" y="1603375"/>
            <a:ext cx="5806747" cy="389895"/>
          </a:xfrm>
          <a:prstGeom prst="rect">
            <a:avLst/>
          </a:prstGeom>
          <a:solidFill>
            <a:srgbClr val="00FF99"/>
          </a:solidFill>
          <a:ln w="28575">
            <a:solidFill>
              <a:schemeClr val="tx1"/>
            </a:solidFill>
            <a:miter lim="800000"/>
            <a:headEnd/>
            <a:tailEnd/>
          </a:ln>
          <a:effectLst/>
        </p:spPr>
        <p:txBody>
          <a:bodyPr wrap="none" anchor="ctr"/>
          <a:lstStyle/>
          <a:p>
            <a:pPr algn="ctr"/>
            <a:endParaRPr kumimoji="1" lang="zh-CN" altLang="zh-CN" sz="1400" b="1">
              <a:solidFill>
                <a:srgbClr val="000099"/>
              </a:solidFill>
              <a:latin typeface="微软雅黑" pitchFamily="34" charset="-122"/>
              <a:ea typeface="微软雅黑" pitchFamily="34" charset="-122"/>
            </a:endParaRPr>
          </a:p>
        </p:txBody>
      </p:sp>
      <p:sp>
        <p:nvSpPr>
          <p:cNvPr id="62" name="Rectangle 5"/>
          <p:cNvSpPr>
            <a:spLocks noChangeArrowheads="1"/>
          </p:cNvSpPr>
          <p:nvPr/>
        </p:nvSpPr>
        <p:spPr bwMode="auto">
          <a:xfrm>
            <a:off x="1773858" y="1993271"/>
            <a:ext cx="5806747" cy="1081073"/>
          </a:xfrm>
          <a:prstGeom prst="rect">
            <a:avLst/>
          </a:prstGeom>
          <a:solidFill>
            <a:srgbClr val="00FFFF"/>
          </a:solidFill>
          <a:ln w="2857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63" name="Rectangle 11"/>
          <p:cNvSpPr>
            <a:spLocks noChangeArrowheads="1"/>
          </p:cNvSpPr>
          <p:nvPr/>
        </p:nvSpPr>
        <p:spPr bwMode="auto">
          <a:xfrm>
            <a:off x="2751961" y="2383166"/>
            <a:ext cx="3850543" cy="302268"/>
          </a:xfrm>
          <a:prstGeom prst="rect">
            <a:avLst/>
          </a:prstGeom>
          <a:solidFill>
            <a:srgbClr val="FFFF00"/>
          </a:solidFill>
          <a:ln w="19050">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64" name="Rectangle 6"/>
          <p:cNvSpPr>
            <a:spLocks noChangeArrowheads="1"/>
          </p:cNvSpPr>
          <p:nvPr/>
        </p:nvSpPr>
        <p:spPr bwMode="auto">
          <a:xfrm>
            <a:off x="2751962" y="2390357"/>
            <a:ext cx="855488" cy="291137"/>
          </a:xfrm>
          <a:prstGeom prst="rect">
            <a:avLst/>
          </a:prstGeom>
          <a:solidFill>
            <a:srgbClr val="0000FF"/>
          </a:solidFill>
          <a:ln>
            <a:noFill/>
          </a:ln>
          <a:effectLst/>
        </p:spPr>
        <p:txBody>
          <a:bodyPr wrap="none" anchor="ctr"/>
          <a:lstStyle/>
          <a:p>
            <a:endParaRPr lang="zh-CN" altLang="en-US" sz="1400" b="1">
              <a:latin typeface="微软雅黑" pitchFamily="34" charset="-122"/>
              <a:ea typeface="微软雅黑" pitchFamily="34" charset="-122"/>
            </a:endParaRPr>
          </a:p>
        </p:txBody>
      </p:sp>
      <p:sp>
        <p:nvSpPr>
          <p:cNvPr id="65" name="Text Box 7"/>
          <p:cNvSpPr txBox="1">
            <a:spLocks noChangeArrowheads="1"/>
          </p:cNvSpPr>
          <p:nvPr/>
        </p:nvSpPr>
        <p:spPr bwMode="auto">
          <a:xfrm>
            <a:off x="1908772" y="165420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运输层</a:t>
            </a:r>
          </a:p>
        </p:txBody>
      </p:sp>
      <p:sp>
        <p:nvSpPr>
          <p:cNvPr id="66" name="Text Box 8"/>
          <p:cNvSpPr txBox="1">
            <a:spLocks noChangeArrowheads="1"/>
          </p:cNvSpPr>
          <p:nvPr/>
        </p:nvSpPr>
        <p:spPr bwMode="auto">
          <a:xfrm>
            <a:off x="1908772" y="2299106"/>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网络层</a:t>
            </a:r>
          </a:p>
        </p:txBody>
      </p:sp>
      <p:sp>
        <p:nvSpPr>
          <p:cNvPr id="67" name="Line 9"/>
          <p:cNvSpPr>
            <a:spLocks noChangeShapeType="1"/>
          </p:cNvSpPr>
          <p:nvPr/>
        </p:nvSpPr>
        <p:spPr bwMode="auto">
          <a:xfrm>
            <a:off x="3613799" y="2383166"/>
            <a:ext cx="0" cy="3022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8" name="Text Box 10"/>
          <p:cNvSpPr txBox="1">
            <a:spLocks noChangeArrowheads="1"/>
          </p:cNvSpPr>
          <p:nvPr/>
        </p:nvSpPr>
        <p:spPr bwMode="auto">
          <a:xfrm>
            <a:off x="2706721" y="2403643"/>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chemeClr val="bg1"/>
                </a:solidFill>
                <a:latin typeface="微软雅黑" pitchFamily="34" charset="-122"/>
                <a:ea typeface="微软雅黑" pitchFamily="34" charset="-122"/>
              </a:rPr>
              <a:t>首部</a:t>
            </a:r>
          </a:p>
        </p:txBody>
      </p:sp>
      <p:sp>
        <p:nvSpPr>
          <p:cNvPr id="69" name="Rectangle 13"/>
          <p:cNvSpPr>
            <a:spLocks noChangeArrowheads="1"/>
          </p:cNvSpPr>
          <p:nvPr/>
        </p:nvSpPr>
        <p:spPr bwMode="auto">
          <a:xfrm>
            <a:off x="4419107" y="1690018"/>
            <a:ext cx="689044" cy="216608"/>
          </a:xfrm>
          <a:prstGeom prst="rect">
            <a:avLst/>
          </a:prstGeom>
          <a:solidFill>
            <a:srgbClr val="00B050"/>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70" name="Text Box 14"/>
          <p:cNvSpPr txBox="1">
            <a:spLocks noChangeArrowheads="1"/>
          </p:cNvSpPr>
          <p:nvPr/>
        </p:nvSpPr>
        <p:spPr bwMode="auto">
          <a:xfrm>
            <a:off x="4524704" y="1656642"/>
            <a:ext cx="52873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chemeClr val="bg1"/>
                </a:solidFill>
                <a:latin typeface="微软雅黑" pitchFamily="34" charset="-122"/>
                <a:ea typeface="微软雅黑" pitchFamily="34" charset="-122"/>
              </a:rPr>
              <a:t>TCP</a:t>
            </a:r>
          </a:p>
        </p:txBody>
      </p:sp>
      <p:sp>
        <p:nvSpPr>
          <p:cNvPr id="71" name="Rectangle 15"/>
          <p:cNvSpPr>
            <a:spLocks noChangeArrowheads="1"/>
          </p:cNvSpPr>
          <p:nvPr/>
        </p:nvSpPr>
        <p:spPr bwMode="auto">
          <a:xfrm>
            <a:off x="5280945" y="1690018"/>
            <a:ext cx="690112" cy="216608"/>
          </a:xfrm>
          <a:prstGeom prst="rect">
            <a:avLst/>
          </a:prstGeom>
          <a:solidFill>
            <a:srgbClr val="00B050"/>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72" name="Text Box 16"/>
          <p:cNvSpPr txBox="1">
            <a:spLocks noChangeArrowheads="1"/>
          </p:cNvSpPr>
          <p:nvPr/>
        </p:nvSpPr>
        <p:spPr bwMode="auto">
          <a:xfrm>
            <a:off x="5371610" y="1650159"/>
            <a:ext cx="58541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chemeClr val="bg1"/>
                </a:solidFill>
                <a:latin typeface="微软雅黑" pitchFamily="34" charset="-122"/>
                <a:ea typeface="微软雅黑" pitchFamily="34" charset="-122"/>
              </a:rPr>
              <a:t>UDP</a:t>
            </a:r>
          </a:p>
        </p:txBody>
      </p:sp>
      <p:sp>
        <p:nvSpPr>
          <p:cNvPr id="73" name="Rectangle 17"/>
          <p:cNvSpPr>
            <a:spLocks noChangeArrowheads="1"/>
          </p:cNvSpPr>
          <p:nvPr/>
        </p:nvSpPr>
        <p:spPr bwMode="auto">
          <a:xfrm>
            <a:off x="2981286" y="2074006"/>
            <a:ext cx="690112" cy="216608"/>
          </a:xfrm>
          <a:prstGeom prst="rect">
            <a:avLst/>
          </a:prstGeom>
          <a:solidFill>
            <a:srgbClr val="00B050"/>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74" name="Text Box 18"/>
          <p:cNvSpPr txBox="1">
            <a:spLocks noChangeArrowheads="1"/>
          </p:cNvSpPr>
          <p:nvPr/>
        </p:nvSpPr>
        <p:spPr bwMode="auto">
          <a:xfrm>
            <a:off x="3013483" y="2039646"/>
            <a:ext cx="66877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chemeClr val="bg1"/>
                </a:solidFill>
                <a:latin typeface="微软雅黑" pitchFamily="34" charset="-122"/>
                <a:ea typeface="微软雅黑" pitchFamily="34" charset="-122"/>
              </a:rPr>
              <a:t>ICMP</a:t>
            </a:r>
          </a:p>
        </p:txBody>
      </p:sp>
      <p:sp>
        <p:nvSpPr>
          <p:cNvPr id="75" name="Rectangle 19"/>
          <p:cNvSpPr>
            <a:spLocks noChangeArrowheads="1"/>
          </p:cNvSpPr>
          <p:nvPr/>
        </p:nvSpPr>
        <p:spPr bwMode="auto">
          <a:xfrm>
            <a:off x="3786594" y="2074006"/>
            <a:ext cx="689044" cy="216608"/>
          </a:xfrm>
          <a:prstGeom prst="rect">
            <a:avLst/>
          </a:prstGeom>
          <a:solidFill>
            <a:srgbClr val="00B050"/>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76" name="Text Box 20"/>
          <p:cNvSpPr txBox="1">
            <a:spLocks noChangeArrowheads="1"/>
          </p:cNvSpPr>
          <p:nvPr/>
        </p:nvSpPr>
        <p:spPr bwMode="auto">
          <a:xfrm>
            <a:off x="3819857" y="2039646"/>
            <a:ext cx="6864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chemeClr val="bg1"/>
                </a:solidFill>
                <a:latin typeface="微软雅黑" pitchFamily="34" charset="-122"/>
                <a:ea typeface="微软雅黑" pitchFamily="34" charset="-122"/>
              </a:rPr>
              <a:t>IGMP</a:t>
            </a:r>
          </a:p>
        </p:txBody>
      </p:sp>
      <p:sp>
        <p:nvSpPr>
          <p:cNvPr id="77" name="Rectangle 21"/>
          <p:cNvSpPr>
            <a:spLocks noChangeArrowheads="1"/>
          </p:cNvSpPr>
          <p:nvPr/>
        </p:nvSpPr>
        <p:spPr bwMode="auto">
          <a:xfrm>
            <a:off x="6176917" y="2074006"/>
            <a:ext cx="689044" cy="216608"/>
          </a:xfrm>
          <a:prstGeom prst="rect">
            <a:avLst/>
          </a:prstGeom>
          <a:solidFill>
            <a:srgbClr val="00B050"/>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78" name="Text Box 22"/>
          <p:cNvSpPr txBox="1">
            <a:spLocks noChangeArrowheads="1"/>
          </p:cNvSpPr>
          <p:nvPr/>
        </p:nvSpPr>
        <p:spPr bwMode="auto">
          <a:xfrm>
            <a:off x="6203832" y="2033296"/>
            <a:ext cx="6591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chemeClr val="bg1"/>
                </a:solidFill>
                <a:latin typeface="微软雅黑" pitchFamily="34" charset="-122"/>
                <a:ea typeface="微软雅黑" pitchFamily="34" charset="-122"/>
              </a:rPr>
              <a:t>OSPF</a:t>
            </a:r>
          </a:p>
        </p:txBody>
      </p:sp>
      <p:sp>
        <p:nvSpPr>
          <p:cNvPr id="79" name="Line 25"/>
          <p:cNvSpPr>
            <a:spLocks noChangeShapeType="1"/>
          </p:cNvSpPr>
          <p:nvPr/>
        </p:nvSpPr>
        <p:spPr bwMode="auto">
          <a:xfrm flipV="1">
            <a:off x="5338544" y="1906627"/>
            <a:ext cx="287991" cy="605519"/>
          </a:xfrm>
          <a:prstGeom prst="line">
            <a:avLst/>
          </a:prstGeom>
          <a:noFill/>
          <a:ln w="38100">
            <a:solidFill>
              <a:srgbClr val="CC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0" name="Line 27"/>
          <p:cNvSpPr>
            <a:spLocks noChangeShapeType="1"/>
          </p:cNvSpPr>
          <p:nvPr/>
        </p:nvSpPr>
        <p:spPr bwMode="auto">
          <a:xfrm flipH="1" flipV="1">
            <a:off x="4762563" y="1906627"/>
            <a:ext cx="583449" cy="618319"/>
          </a:xfrm>
          <a:prstGeom prst="line">
            <a:avLst/>
          </a:prstGeom>
          <a:noFill/>
          <a:ln w="38100">
            <a:solidFill>
              <a:srgbClr val="CC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1" name="Line 28"/>
          <p:cNvSpPr>
            <a:spLocks noChangeShapeType="1"/>
          </p:cNvSpPr>
          <p:nvPr/>
        </p:nvSpPr>
        <p:spPr bwMode="auto">
          <a:xfrm flipH="1" flipV="1">
            <a:off x="4490572" y="2249262"/>
            <a:ext cx="875705" cy="287498"/>
          </a:xfrm>
          <a:prstGeom prst="line">
            <a:avLst/>
          </a:prstGeom>
          <a:noFill/>
          <a:ln w="38100">
            <a:solidFill>
              <a:srgbClr val="CC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2" name="Line 29"/>
          <p:cNvSpPr>
            <a:spLocks noChangeShapeType="1"/>
          </p:cNvSpPr>
          <p:nvPr/>
        </p:nvSpPr>
        <p:spPr bwMode="auto">
          <a:xfrm flipH="1" flipV="1">
            <a:off x="3494337" y="2299476"/>
            <a:ext cx="1869806" cy="231377"/>
          </a:xfrm>
          <a:prstGeom prst="line">
            <a:avLst/>
          </a:prstGeom>
          <a:noFill/>
          <a:ln w="38100">
            <a:solidFill>
              <a:srgbClr val="CC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3" name="Line 30"/>
          <p:cNvSpPr>
            <a:spLocks noChangeShapeType="1"/>
          </p:cNvSpPr>
          <p:nvPr/>
        </p:nvSpPr>
        <p:spPr bwMode="auto">
          <a:xfrm flipV="1">
            <a:off x="5355609" y="2248278"/>
            <a:ext cx="803175" cy="277653"/>
          </a:xfrm>
          <a:prstGeom prst="line">
            <a:avLst/>
          </a:prstGeom>
          <a:noFill/>
          <a:ln w="38100">
            <a:solidFill>
              <a:srgbClr val="CC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4" name="Text Box 31"/>
          <p:cNvSpPr txBox="1">
            <a:spLocks noChangeArrowheads="1"/>
          </p:cNvSpPr>
          <p:nvPr/>
        </p:nvSpPr>
        <p:spPr bwMode="auto">
          <a:xfrm>
            <a:off x="3690747" y="2390357"/>
            <a:ext cx="93968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数 据 部 分</a:t>
            </a:r>
          </a:p>
        </p:txBody>
      </p:sp>
      <p:sp>
        <p:nvSpPr>
          <p:cNvPr id="85" name="Line 32"/>
          <p:cNvSpPr>
            <a:spLocks noChangeShapeType="1"/>
          </p:cNvSpPr>
          <p:nvPr/>
        </p:nvSpPr>
        <p:spPr bwMode="auto">
          <a:xfrm>
            <a:off x="2751961" y="2857735"/>
            <a:ext cx="3850543"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6" name="Text Box 33"/>
          <p:cNvSpPr txBox="1">
            <a:spLocks noChangeArrowheads="1"/>
          </p:cNvSpPr>
          <p:nvPr/>
        </p:nvSpPr>
        <p:spPr bwMode="auto">
          <a:xfrm>
            <a:off x="4245246" y="2709605"/>
            <a:ext cx="955711" cy="307777"/>
          </a:xfrm>
          <a:prstGeom prst="rect">
            <a:avLst/>
          </a:prstGeom>
          <a:solidFill>
            <a:srgbClr val="00FFFF"/>
          </a:solidFill>
          <a:ln>
            <a:noFill/>
          </a:ln>
          <a:effectLst/>
        </p:spPr>
        <p:txBody>
          <a:bodyPr wrap="none">
            <a:spAutoFit/>
          </a:bodyPr>
          <a:lstStyle/>
          <a:p>
            <a:r>
              <a:rPr kumimoji="1" lang="en-US" altLang="zh-CN" sz="1400" b="1" dirty="0">
                <a:latin typeface="微软雅黑" pitchFamily="34" charset="-122"/>
                <a:ea typeface="微软雅黑" pitchFamily="34" charset="-122"/>
              </a:rPr>
              <a:t>IP </a:t>
            </a:r>
            <a:r>
              <a:rPr kumimoji="1" lang="zh-CN" altLang="en-US" sz="1400" b="1" dirty="0">
                <a:latin typeface="微软雅黑" pitchFamily="34" charset="-122"/>
                <a:ea typeface="微软雅黑" pitchFamily="34" charset="-122"/>
              </a:rPr>
              <a:t>数据报</a:t>
            </a:r>
          </a:p>
        </p:txBody>
      </p:sp>
      <p:grpSp>
        <p:nvGrpSpPr>
          <p:cNvPr id="87" name="Group 38"/>
          <p:cNvGrpSpPr>
            <a:grpSpLocks/>
          </p:cNvGrpSpPr>
          <p:nvPr/>
        </p:nvGrpSpPr>
        <p:grpSpPr bwMode="auto">
          <a:xfrm>
            <a:off x="3331141" y="2438303"/>
            <a:ext cx="2935372" cy="1439462"/>
            <a:chOff x="1618" y="2192"/>
            <a:chExt cx="2752" cy="1462"/>
          </a:xfrm>
          <a:solidFill>
            <a:schemeClr val="bg1"/>
          </a:solidFill>
        </p:grpSpPr>
        <p:sp>
          <p:nvSpPr>
            <p:cNvPr id="88" name="Rectangle 34"/>
            <p:cNvSpPr>
              <a:spLocks noChangeArrowheads="1"/>
            </p:cNvSpPr>
            <p:nvPr/>
          </p:nvSpPr>
          <p:spPr bwMode="auto">
            <a:xfrm>
              <a:off x="1618" y="2192"/>
              <a:ext cx="241" cy="210"/>
            </a:xfrm>
            <a:prstGeom prst="rect">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89" name="AutoShape 35"/>
            <p:cNvSpPr>
              <a:spLocks noChangeArrowheads="1"/>
            </p:cNvSpPr>
            <p:nvPr/>
          </p:nvSpPr>
          <p:spPr bwMode="auto">
            <a:xfrm>
              <a:off x="1937" y="3033"/>
              <a:ext cx="2374" cy="621"/>
            </a:xfrm>
            <a:prstGeom prst="wedgeRoundRectCallout">
              <a:avLst>
                <a:gd name="adj1" fmla="val -56617"/>
                <a:gd name="adj2" fmla="val -159839"/>
                <a:gd name="adj3" fmla="val 16667"/>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kumimoji="1" lang="zh-CN" altLang="zh-CN" sz="1400" b="1">
                <a:solidFill>
                  <a:srgbClr val="000099"/>
                </a:solidFill>
                <a:latin typeface="微软雅黑" pitchFamily="34" charset="-122"/>
                <a:ea typeface="微软雅黑" pitchFamily="34" charset="-122"/>
              </a:endParaRPr>
            </a:p>
          </p:txBody>
        </p:sp>
        <p:sp>
          <p:nvSpPr>
            <p:cNvPr id="90" name="Text Box 36"/>
            <p:cNvSpPr txBox="1">
              <a:spLocks noChangeArrowheads="1"/>
            </p:cNvSpPr>
            <p:nvPr/>
          </p:nvSpPr>
          <p:spPr bwMode="auto">
            <a:xfrm>
              <a:off x="1880" y="3051"/>
              <a:ext cx="2490" cy="594"/>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600" b="1" dirty="0">
                  <a:solidFill>
                    <a:srgbClr val="CC0099"/>
                  </a:solidFill>
                  <a:latin typeface="微软雅黑" pitchFamily="34" charset="-122"/>
                  <a:ea typeface="微软雅黑" pitchFamily="34" charset="-122"/>
                </a:rPr>
                <a:t>协议</a:t>
              </a:r>
              <a:r>
                <a:rPr kumimoji="1" lang="zh-CN" altLang="en-US" sz="1600" b="1" dirty="0">
                  <a:latin typeface="微软雅黑" pitchFamily="34" charset="-122"/>
                  <a:ea typeface="微软雅黑" pitchFamily="34" charset="-122"/>
                </a:rPr>
                <a:t>字段指出应将数据</a:t>
              </a:r>
            </a:p>
            <a:p>
              <a:pPr algn="ctr"/>
              <a:r>
                <a:rPr kumimoji="1" lang="zh-CN" altLang="en-US" sz="1600" b="1" dirty="0">
                  <a:latin typeface="微软雅黑" pitchFamily="34" charset="-122"/>
                  <a:ea typeface="微软雅黑" pitchFamily="34" charset="-122"/>
                </a:rPr>
                <a:t>部分交给哪一个进程</a:t>
              </a:r>
            </a:p>
          </p:txBody>
        </p:sp>
      </p:grpSp>
      <p:sp>
        <p:nvSpPr>
          <p:cNvPr id="92" name="矩形 91"/>
          <p:cNvSpPr/>
          <p:nvPr/>
        </p:nvSpPr>
        <p:spPr>
          <a:xfrm>
            <a:off x="1274164" y="972861"/>
            <a:ext cx="6730584" cy="369332"/>
          </a:xfrm>
          <a:prstGeom prst="rect">
            <a:avLst/>
          </a:prstGeom>
          <a:solidFill>
            <a:srgbClr val="00B050"/>
          </a:solidFill>
          <a:ln w="9525">
            <a:noFill/>
            <a:miter lim="800000"/>
            <a:headEnd/>
            <a:tailEnd/>
          </a:ln>
          <a:effectLst/>
        </p:spPr>
        <p:txBody>
          <a:bodyPr wrap="square">
            <a:spAutoFit/>
          </a:bodyPr>
          <a:lstStyle/>
          <a:p>
            <a:pPr algn="ct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协议支持多种协议，</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数据报可以封装多种协议 </a:t>
            </a:r>
            <a:r>
              <a:rPr lang="en-US" altLang="zh-CN" b="1" dirty="0">
                <a:solidFill>
                  <a:schemeClr val="bg1"/>
                </a:solidFill>
                <a:latin typeface="微软雅黑" pitchFamily="34" charset="-122"/>
                <a:ea typeface="微软雅黑" pitchFamily="34" charset="-122"/>
              </a:rPr>
              <a:t>PDU</a:t>
            </a:r>
            <a:r>
              <a:rPr lang="zh-CN" altLang="en-US" b="1" dirty="0">
                <a:solidFill>
                  <a:schemeClr val="bg1"/>
                </a:solidFill>
                <a:latin typeface="微软雅黑" pitchFamily="34" charset="-122"/>
                <a:ea typeface="微软雅黑" pitchFamily="34" charset="-122"/>
              </a:rPr>
              <a:t>。</a:t>
            </a:r>
          </a:p>
        </p:txBody>
      </p:sp>
    </p:spTree>
    <p:extLst>
      <p:ext uri="{BB962C8B-B14F-4D97-AF65-F5344CB8AC3E}">
        <p14:creationId xmlns:p14="http://schemas.microsoft.com/office/powerpoint/2010/main" val="283850535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nodeType="afterEffect">
                                  <p:stCondLst>
                                    <p:cond delay="0"/>
                                  </p:stCondLst>
                                  <p:childTnLst>
                                    <p:anim calcmode="discrete" valueType="str">
                                      <p:cBhvr>
                                        <p:cTn id="6" dur="1000" fill="hold"/>
                                        <p:tgtEl>
                                          <p:spTgt spid="87"/>
                                        </p:tgtEl>
                                        <p:attrNameLst>
                                          <p:attrName>style.visibility</p:attrName>
                                        </p:attrNameLst>
                                      </p:cBhvr>
                                      <p:tavLst>
                                        <p:tav tm="0">
                                          <p:val>
                                            <p:strVal val="hidden"/>
                                          </p:val>
                                        </p:tav>
                                        <p:tav tm="50000">
                                          <p:val>
                                            <p:strVal val="visible"/>
                                          </p:val>
                                        </p:tav>
                                      </p:tavLst>
                                    </p:anim>
                                  </p:childTnLst>
                                </p:cTn>
                              </p:par>
                            </p:childTnLst>
                          </p:cTn>
                        </p:par>
                        <p:par>
                          <p:cTn id="7" fill="hold">
                            <p:stCondLst>
                              <p:cond delay="4000"/>
                            </p:stCondLst>
                            <p:childTnLst>
                              <p:par>
                                <p:cTn id="8" presetID="1" presetClass="entr" presetSubtype="0" fill="hold" grpId="0" nodeType="afterEffect">
                                  <p:stCondLst>
                                    <p:cond delay="250"/>
                                  </p:stCondLst>
                                  <p:childTnLst>
                                    <p:set>
                                      <p:cBhvr>
                                        <p:cTn id="9" dur="1" fill="hold">
                                          <p:stCondLst>
                                            <p:cond delay="0"/>
                                          </p:stCondLst>
                                        </p:cTn>
                                        <p:tgtEl>
                                          <p:spTgt spid="82"/>
                                        </p:tgtEl>
                                        <p:attrNameLst>
                                          <p:attrName>style.visibility</p:attrName>
                                        </p:attrNameLst>
                                      </p:cBhvr>
                                      <p:to>
                                        <p:strVal val="visible"/>
                                      </p:to>
                                    </p:set>
                                  </p:childTnLst>
                                </p:cTn>
                              </p:par>
                            </p:childTnLst>
                          </p:cTn>
                        </p:par>
                        <p:par>
                          <p:cTn id="10" fill="hold">
                            <p:stCondLst>
                              <p:cond delay="4250"/>
                            </p:stCondLst>
                            <p:childTnLst>
                              <p:par>
                                <p:cTn id="11" presetID="22" presetClass="entr" presetSubtype="2" fill="hold" grpId="1" nodeType="afterEffect">
                                  <p:stCondLst>
                                    <p:cond delay="0"/>
                                  </p:stCondLst>
                                  <p:childTnLst>
                                    <p:set>
                                      <p:cBhvr>
                                        <p:cTn id="12" dur="1" fill="hold">
                                          <p:stCondLst>
                                            <p:cond delay="0"/>
                                          </p:stCondLst>
                                        </p:cTn>
                                        <p:tgtEl>
                                          <p:spTgt spid="82"/>
                                        </p:tgtEl>
                                        <p:attrNameLst>
                                          <p:attrName>style.visibility</p:attrName>
                                        </p:attrNameLst>
                                      </p:cBhvr>
                                      <p:to>
                                        <p:strVal val="visible"/>
                                      </p:to>
                                    </p:set>
                                    <p:animEffect transition="in" filter="wipe(right)">
                                      <p:cBhvr>
                                        <p:cTn id="13" dur="1000"/>
                                        <p:tgtEl>
                                          <p:spTgt spid="82"/>
                                        </p:tgtEl>
                                      </p:cBhvr>
                                    </p:animEffect>
                                  </p:childTnLst>
                                </p:cTn>
                              </p:par>
                            </p:childTnLst>
                          </p:cTn>
                        </p:par>
                        <p:par>
                          <p:cTn id="14" fill="hold">
                            <p:stCondLst>
                              <p:cond delay="5250"/>
                            </p:stCondLst>
                            <p:childTnLst>
                              <p:par>
                                <p:cTn id="15" presetID="1" presetClass="entr" presetSubtype="0" fill="hold" grpId="0" nodeType="afterEffect">
                                  <p:stCondLst>
                                    <p:cond delay="0"/>
                                  </p:stCondLst>
                                  <p:childTnLst>
                                    <p:set>
                                      <p:cBhvr>
                                        <p:cTn id="16" dur="1" fill="hold">
                                          <p:stCondLst>
                                            <p:cond delay="0"/>
                                          </p:stCondLst>
                                        </p:cTn>
                                        <p:tgtEl>
                                          <p:spTgt spid="81"/>
                                        </p:tgtEl>
                                        <p:attrNameLst>
                                          <p:attrName>style.visibility</p:attrName>
                                        </p:attrNameLst>
                                      </p:cBhvr>
                                      <p:to>
                                        <p:strVal val="visible"/>
                                      </p:to>
                                    </p:set>
                                  </p:childTnLst>
                                </p:cTn>
                              </p:par>
                            </p:childTnLst>
                          </p:cTn>
                        </p:par>
                        <p:par>
                          <p:cTn id="17" fill="hold">
                            <p:stCondLst>
                              <p:cond delay="5250"/>
                            </p:stCondLst>
                            <p:childTnLst>
                              <p:par>
                                <p:cTn id="18" presetID="22" presetClass="entr" presetSubtype="2" fill="hold" grpId="1" nodeType="afterEffect">
                                  <p:stCondLst>
                                    <p:cond delay="0"/>
                                  </p:stCondLst>
                                  <p:childTnLst>
                                    <p:set>
                                      <p:cBhvr>
                                        <p:cTn id="19" dur="1" fill="hold">
                                          <p:stCondLst>
                                            <p:cond delay="0"/>
                                          </p:stCondLst>
                                        </p:cTn>
                                        <p:tgtEl>
                                          <p:spTgt spid="81"/>
                                        </p:tgtEl>
                                        <p:attrNameLst>
                                          <p:attrName>style.visibility</p:attrName>
                                        </p:attrNameLst>
                                      </p:cBhvr>
                                      <p:to>
                                        <p:strVal val="visible"/>
                                      </p:to>
                                    </p:set>
                                    <p:animEffect transition="in" filter="wipe(right)">
                                      <p:cBhvr>
                                        <p:cTn id="20" dur="1000"/>
                                        <p:tgtEl>
                                          <p:spTgt spid="81"/>
                                        </p:tgtEl>
                                      </p:cBhvr>
                                    </p:animEffect>
                                  </p:childTnLst>
                                </p:cTn>
                              </p:par>
                            </p:childTnLst>
                          </p:cTn>
                        </p:par>
                        <p:par>
                          <p:cTn id="21" fill="hold">
                            <p:stCondLst>
                              <p:cond delay="6250"/>
                            </p:stCondLst>
                            <p:childTnLst>
                              <p:par>
                                <p:cTn id="22" presetID="1" presetClass="entr" presetSubtype="0" fill="hold" grpId="0" nodeType="afterEffect">
                                  <p:stCondLst>
                                    <p:cond delay="0"/>
                                  </p:stCondLst>
                                  <p:childTnLst>
                                    <p:set>
                                      <p:cBhvr>
                                        <p:cTn id="23" dur="1" fill="hold">
                                          <p:stCondLst>
                                            <p:cond delay="0"/>
                                          </p:stCondLst>
                                        </p:cTn>
                                        <p:tgtEl>
                                          <p:spTgt spid="80"/>
                                        </p:tgtEl>
                                        <p:attrNameLst>
                                          <p:attrName>style.visibility</p:attrName>
                                        </p:attrNameLst>
                                      </p:cBhvr>
                                      <p:to>
                                        <p:strVal val="visible"/>
                                      </p:to>
                                    </p:set>
                                  </p:childTnLst>
                                </p:cTn>
                              </p:par>
                            </p:childTnLst>
                          </p:cTn>
                        </p:par>
                        <p:par>
                          <p:cTn id="24" fill="hold">
                            <p:stCondLst>
                              <p:cond delay="6250"/>
                            </p:stCondLst>
                            <p:childTnLst>
                              <p:par>
                                <p:cTn id="25" presetID="22" presetClass="entr" presetSubtype="4" fill="hold" grpId="1" nodeType="afterEffect">
                                  <p:stCondLst>
                                    <p:cond delay="0"/>
                                  </p:stCondLst>
                                  <p:childTnLst>
                                    <p:set>
                                      <p:cBhvr>
                                        <p:cTn id="26" dur="1" fill="hold">
                                          <p:stCondLst>
                                            <p:cond delay="0"/>
                                          </p:stCondLst>
                                        </p:cTn>
                                        <p:tgtEl>
                                          <p:spTgt spid="80"/>
                                        </p:tgtEl>
                                        <p:attrNameLst>
                                          <p:attrName>style.visibility</p:attrName>
                                        </p:attrNameLst>
                                      </p:cBhvr>
                                      <p:to>
                                        <p:strVal val="visible"/>
                                      </p:to>
                                    </p:set>
                                    <p:animEffect transition="in" filter="wipe(down)">
                                      <p:cBhvr>
                                        <p:cTn id="27" dur="1000"/>
                                        <p:tgtEl>
                                          <p:spTgt spid="80"/>
                                        </p:tgtEl>
                                      </p:cBhvr>
                                    </p:animEffect>
                                  </p:childTnLst>
                                </p:cTn>
                              </p:par>
                            </p:childTnLst>
                          </p:cTn>
                        </p:par>
                        <p:par>
                          <p:cTn id="28" fill="hold">
                            <p:stCondLst>
                              <p:cond delay="7250"/>
                            </p:stCondLst>
                            <p:childTnLst>
                              <p:par>
                                <p:cTn id="29" presetID="1" presetClass="entr" presetSubtype="0" fill="hold" grpId="0" nodeType="afterEffect">
                                  <p:stCondLst>
                                    <p:cond delay="0"/>
                                  </p:stCondLst>
                                  <p:childTnLst>
                                    <p:set>
                                      <p:cBhvr>
                                        <p:cTn id="30" dur="1" fill="hold">
                                          <p:stCondLst>
                                            <p:cond delay="0"/>
                                          </p:stCondLst>
                                        </p:cTn>
                                        <p:tgtEl>
                                          <p:spTgt spid="79"/>
                                        </p:tgtEl>
                                        <p:attrNameLst>
                                          <p:attrName>style.visibility</p:attrName>
                                        </p:attrNameLst>
                                      </p:cBhvr>
                                      <p:to>
                                        <p:strVal val="visible"/>
                                      </p:to>
                                    </p:set>
                                  </p:childTnLst>
                                </p:cTn>
                              </p:par>
                            </p:childTnLst>
                          </p:cTn>
                        </p:par>
                        <p:par>
                          <p:cTn id="31" fill="hold">
                            <p:stCondLst>
                              <p:cond delay="7250"/>
                            </p:stCondLst>
                            <p:childTnLst>
                              <p:par>
                                <p:cTn id="32" presetID="22" presetClass="entr" presetSubtype="4" fill="hold" grpId="1" nodeType="afterEffect">
                                  <p:stCondLst>
                                    <p:cond delay="0"/>
                                  </p:stCondLst>
                                  <p:childTnLst>
                                    <p:set>
                                      <p:cBhvr>
                                        <p:cTn id="33" dur="1" fill="hold">
                                          <p:stCondLst>
                                            <p:cond delay="0"/>
                                          </p:stCondLst>
                                        </p:cTn>
                                        <p:tgtEl>
                                          <p:spTgt spid="79"/>
                                        </p:tgtEl>
                                        <p:attrNameLst>
                                          <p:attrName>style.visibility</p:attrName>
                                        </p:attrNameLst>
                                      </p:cBhvr>
                                      <p:to>
                                        <p:strVal val="visible"/>
                                      </p:to>
                                    </p:set>
                                    <p:animEffect transition="in" filter="wipe(down)">
                                      <p:cBhvr>
                                        <p:cTn id="34" dur="1000"/>
                                        <p:tgtEl>
                                          <p:spTgt spid="79"/>
                                        </p:tgtEl>
                                      </p:cBhvr>
                                    </p:animEffect>
                                  </p:childTnLst>
                                </p:cTn>
                              </p:par>
                            </p:childTnLst>
                          </p:cTn>
                        </p:par>
                        <p:par>
                          <p:cTn id="35" fill="hold">
                            <p:stCondLst>
                              <p:cond delay="8250"/>
                            </p:stCondLst>
                            <p:childTnLst>
                              <p:par>
                                <p:cTn id="36" presetID="1" presetClass="entr" presetSubtype="0" fill="hold" grpId="0" nodeType="afterEffect">
                                  <p:stCondLst>
                                    <p:cond delay="0"/>
                                  </p:stCondLst>
                                  <p:childTnLst>
                                    <p:set>
                                      <p:cBhvr>
                                        <p:cTn id="37" dur="1" fill="hold">
                                          <p:stCondLst>
                                            <p:cond delay="0"/>
                                          </p:stCondLst>
                                        </p:cTn>
                                        <p:tgtEl>
                                          <p:spTgt spid="83"/>
                                        </p:tgtEl>
                                        <p:attrNameLst>
                                          <p:attrName>style.visibility</p:attrName>
                                        </p:attrNameLst>
                                      </p:cBhvr>
                                      <p:to>
                                        <p:strVal val="visible"/>
                                      </p:to>
                                    </p:set>
                                  </p:childTnLst>
                                </p:cTn>
                              </p:par>
                            </p:childTnLst>
                          </p:cTn>
                        </p:par>
                        <p:par>
                          <p:cTn id="38" fill="hold">
                            <p:stCondLst>
                              <p:cond delay="8250"/>
                            </p:stCondLst>
                            <p:childTnLst>
                              <p:par>
                                <p:cTn id="39" presetID="22" presetClass="entr" presetSubtype="8" fill="hold" grpId="1" nodeType="afterEffect">
                                  <p:stCondLst>
                                    <p:cond delay="0"/>
                                  </p:stCondLst>
                                  <p:childTnLst>
                                    <p:set>
                                      <p:cBhvr>
                                        <p:cTn id="40" dur="1" fill="hold">
                                          <p:stCondLst>
                                            <p:cond delay="0"/>
                                          </p:stCondLst>
                                        </p:cTn>
                                        <p:tgtEl>
                                          <p:spTgt spid="83"/>
                                        </p:tgtEl>
                                        <p:attrNameLst>
                                          <p:attrName>style.visibility</p:attrName>
                                        </p:attrNameLst>
                                      </p:cBhvr>
                                      <p:to>
                                        <p:strVal val="visible"/>
                                      </p:to>
                                    </p:set>
                                    <p:animEffect transition="in" filter="wipe(left)">
                                      <p:cBhvr>
                                        <p:cTn id="41" dur="1000"/>
                                        <p:tgtEl>
                                          <p:spTgt spid="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animBg="1"/>
      <p:bldP spid="79" grpId="1" animBg="1"/>
      <p:bldP spid="80" grpId="0" animBg="1"/>
      <p:bldP spid="80" grpId="1" animBg="1"/>
      <p:bldP spid="81" grpId="0" animBg="1"/>
      <p:bldP spid="81" grpId="1" animBg="1"/>
      <p:bldP spid="82" grpId="0" animBg="1"/>
      <p:bldP spid="82" grpId="1" animBg="1"/>
      <p:bldP spid="83" grpId="0" animBg="1"/>
      <p:bldP spid="83" grpId="1" animBg="1"/>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圆角矩形 6"/>
          <p:cNvSpPr/>
          <p:nvPr/>
        </p:nvSpPr>
        <p:spPr>
          <a:xfrm>
            <a:off x="556963" y="633725"/>
            <a:ext cx="8048776" cy="371891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aphicFrame>
        <p:nvGraphicFramePr>
          <p:cNvPr id="8" name="表格 7"/>
          <p:cNvGraphicFramePr>
            <a:graphicFrameLocks noGrp="1"/>
          </p:cNvGraphicFramePr>
          <p:nvPr>
            <p:extLst>
              <p:ext uri="{D42A27DB-BD31-4B8C-83A1-F6EECF244321}">
                <p14:modId xmlns:p14="http://schemas.microsoft.com/office/powerpoint/2010/main" val="2777011087"/>
              </p:ext>
            </p:extLst>
          </p:nvPr>
        </p:nvGraphicFramePr>
        <p:xfrm>
          <a:off x="569628" y="1375850"/>
          <a:ext cx="8036107" cy="1996940"/>
        </p:xfrm>
        <a:graphic>
          <a:graphicData uri="http://schemas.openxmlformats.org/drawingml/2006/table">
            <a:tbl>
              <a:tblPr firstRow="1" firstCol="1">
                <a:tableStyleId>{00A15C55-8517-42AA-B614-E9B94910E393}</a:tableStyleId>
              </a:tblPr>
              <a:tblGrid>
                <a:gridCol w="653583">
                  <a:extLst>
                    <a:ext uri="{9D8B030D-6E8A-4147-A177-3AD203B41FA5}">
                      <a16:colId xmlns:a16="http://schemas.microsoft.com/office/drawing/2014/main" val="492773900"/>
                    </a:ext>
                  </a:extLst>
                </a:gridCol>
                <a:gridCol w="665550">
                  <a:extLst>
                    <a:ext uri="{9D8B030D-6E8A-4147-A177-3AD203B41FA5}">
                      <a16:colId xmlns:a16="http://schemas.microsoft.com/office/drawing/2014/main" val="2915053018"/>
                    </a:ext>
                  </a:extLst>
                </a:gridCol>
                <a:gridCol w="641618">
                  <a:extLst>
                    <a:ext uri="{9D8B030D-6E8A-4147-A177-3AD203B41FA5}">
                      <a16:colId xmlns:a16="http://schemas.microsoft.com/office/drawing/2014/main" val="2611645043"/>
                    </a:ext>
                  </a:extLst>
                </a:gridCol>
                <a:gridCol w="511898">
                  <a:extLst>
                    <a:ext uri="{9D8B030D-6E8A-4147-A177-3AD203B41FA5}">
                      <a16:colId xmlns:a16="http://schemas.microsoft.com/office/drawing/2014/main" val="4082806152"/>
                    </a:ext>
                  </a:extLst>
                </a:gridCol>
                <a:gridCol w="618162">
                  <a:extLst>
                    <a:ext uri="{9D8B030D-6E8A-4147-A177-3AD203B41FA5}">
                      <a16:colId xmlns:a16="http://schemas.microsoft.com/office/drawing/2014/main" val="4075642411"/>
                    </a:ext>
                  </a:extLst>
                </a:gridCol>
                <a:gridCol w="618162">
                  <a:extLst>
                    <a:ext uri="{9D8B030D-6E8A-4147-A177-3AD203B41FA5}">
                      <a16:colId xmlns:a16="http://schemas.microsoft.com/office/drawing/2014/main" val="674548363"/>
                    </a:ext>
                  </a:extLst>
                </a:gridCol>
                <a:gridCol w="618162">
                  <a:extLst>
                    <a:ext uri="{9D8B030D-6E8A-4147-A177-3AD203B41FA5}">
                      <a16:colId xmlns:a16="http://schemas.microsoft.com/office/drawing/2014/main" val="2604799252"/>
                    </a:ext>
                  </a:extLst>
                </a:gridCol>
                <a:gridCol w="618162">
                  <a:extLst>
                    <a:ext uri="{9D8B030D-6E8A-4147-A177-3AD203B41FA5}">
                      <a16:colId xmlns:a16="http://schemas.microsoft.com/office/drawing/2014/main" val="3948079557"/>
                    </a:ext>
                  </a:extLst>
                </a:gridCol>
                <a:gridCol w="618162">
                  <a:extLst>
                    <a:ext uri="{9D8B030D-6E8A-4147-A177-3AD203B41FA5}">
                      <a16:colId xmlns:a16="http://schemas.microsoft.com/office/drawing/2014/main" val="3850063060"/>
                    </a:ext>
                  </a:extLst>
                </a:gridCol>
                <a:gridCol w="618162">
                  <a:extLst>
                    <a:ext uri="{9D8B030D-6E8A-4147-A177-3AD203B41FA5}">
                      <a16:colId xmlns:a16="http://schemas.microsoft.com/office/drawing/2014/main" val="479985350"/>
                    </a:ext>
                  </a:extLst>
                </a:gridCol>
                <a:gridCol w="618162">
                  <a:extLst>
                    <a:ext uri="{9D8B030D-6E8A-4147-A177-3AD203B41FA5}">
                      <a16:colId xmlns:a16="http://schemas.microsoft.com/office/drawing/2014/main" val="374653691"/>
                    </a:ext>
                  </a:extLst>
                </a:gridCol>
                <a:gridCol w="618162">
                  <a:extLst>
                    <a:ext uri="{9D8B030D-6E8A-4147-A177-3AD203B41FA5}">
                      <a16:colId xmlns:a16="http://schemas.microsoft.com/office/drawing/2014/main" val="3917342776"/>
                    </a:ext>
                  </a:extLst>
                </a:gridCol>
                <a:gridCol w="618162">
                  <a:extLst>
                    <a:ext uri="{9D8B030D-6E8A-4147-A177-3AD203B41FA5}">
                      <a16:colId xmlns:a16="http://schemas.microsoft.com/office/drawing/2014/main" val="2157057431"/>
                    </a:ext>
                  </a:extLst>
                </a:gridCol>
              </a:tblGrid>
              <a:tr h="901661">
                <a:tc>
                  <a:txBody>
                    <a:bodyPr/>
                    <a:lstStyle/>
                    <a:p>
                      <a:pPr algn="ctr">
                        <a:lnSpc>
                          <a:spcPts val="2400"/>
                        </a:lnSpc>
                        <a:spcAft>
                          <a:spcPts val="0"/>
                        </a:spcAft>
                      </a:pPr>
                      <a:r>
                        <a:rPr lang="zh-CN" sz="1400" b="1" kern="500" dirty="0">
                          <a:effectLst/>
                          <a:latin typeface="微软雅黑" panose="020B0503020204020204" pitchFamily="34" charset="-122"/>
                          <a:ea typeface="微软雅黑" panose="020B0503020204020204" pitchFamily="34" charset="-122"/>
                        </a:rPr>
                        <a:t>协议名</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ICMP</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IGMP</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IP</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TCP</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EGP</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IGP</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UDP</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dirty="0" err="1">
                          <a:effectLst/>
                          <a:latin typeface="微软雅黑" panose="020B0503020204020204" pitchFamily="34" charset="-122"/>
                          <a:ea typeface="微软雅黑" panose="020B0503020204020204" pitchFamily="34" charset="-122"/>
                        </a:rPr>
                        <a:t>IPv6</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ESP</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AH</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dirty="0" err="1">
                          <a:effectLst/>
                          <a:latin typeface="微软雅黑" panose="020B0503020204020204" pitchFamily="34" charset="-122"/>
                          <a:ea typeface="微软雅黑" panose="020B0503020204020204" pitchFamily="34" charset="-122"/>
                        </a:rPr>
                        <a:t>ICMP-IPv6</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dirty="0">
                          <a:effectLst/>
                          <a:latin typeface="微软雅黑" panose="020B0503020204020204" pitchFamily="34" charset="-122"/>
                          <a:ea typeface="微软雅黑" panose="020B0503020204020204" pitchFamily="34" charset="-122"/>
                        </a:rPr>
                        <a:t>OSPF</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743841133"/>
                  </a:ext>
                </a:extLst>
              </a:tr>
              <a:tr h="1095279">
                <a:tc>
                  <a:txBody>
                    <a:bodyPr/>
                    <a:lstStyle/>
                    <a:p>
                      <a:pPr algn="ctr">
                        <a:lnSpc>
                          <a:spcPts val="2400"/>
                        </a:lnSpc>
                        <a:spcAft>
                          <a:spcPts val="0"/>
                        </a:spcAft>
                      </a:pPr>
                      <a:r>
                        <a:rPr lang="zh-CN" sz="1400" b="1" kern="500" dirty="0">
                          <a:effectLst/>
                          <a:latin typeface="微软雅黑" panose="020B0503020204020204" pitchFamily="34" charset="-122"/>
                          <a:ea typeface="微软雅黑" panose="020B0503020204020204" pitchFamily="34" charset="-122"/>
                        </a:rPr>
                        <a:t>协议字段值</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dirty="0">
                          <a:effectLst/>
                          <a:latin typeface="微软雅黑" panose="020B0503020204020204" pitchFamily="34" charset="-122"/>
                          <a:ea typeface="微软雅黑" panose="020B0503020204020204" pitchFamily="34" charset="-122"/>
                        </a:rPr>
                        <a:t>1</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2</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4</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6</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dirty="0">
                          <a:effectLst/>
                          <a:latin typeface="微软雅黑" panose="020B0503020204020204" pitchFamily="34" charset="-122"/>
                          <a:ea typeface="微软雅黑" panose="020B0503020204020204" pitchFamily="34" charset="-122"/>
                        </a:rPr>
                        <a:t>8</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9</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17</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41</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50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51</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58</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dirty="0">
                          <a:effectLst/>
                          <a:latin typeface="微软雅黑" panose="020B0503020204020204" pitchFamily="34" charset="-122"/>
                          <a:ea typeface="微软雅黑" panose="020B0503020204020204" pitchFamily="34" charset="-122"/>
                        </a:rPr>
                        <a:t>89</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354531033"/>
                  </a:ext>
                </a:extLst>
              </a:tr>
            </a:tbl>
          </a:graphicData>
        </a:graphic>
      </p:graphicFrame>
      <p:sp>
        <p:nvSpPr>
          <p:cNvPr id="12" name="矩形 11"/>
          <p:cNvSpPr/>
          <p:nvPr/>
        </p:nvSpPr>
        <p:spPr>
          <a:xfrm>
            <a:off x="2705621" y="1006518"/>
            <a:ext cx="3877985" cy="369332"/>
          </a:xfrm>
          <a:prstGeom prst="rect">
            <a:avLst/>
          </a:prstGeom>
        </p:spPr>
        <p:txBody>
          <a:bodyPr wrap="none">
            <a:spAutoFit/>
          </a:bodyPr>
          <a:lstStyle/>
          <a:p>
            <a:r>
              <a:rPr lang="zh-CN" altLang="en-US" b="1" dirty="0">
                <a:latin typeface="微软雅黑" panose="020B0503020204020204" pitchFamily="34" charset="-122"/>
                <a:ea typeface="微软雅黑" panose="020B0503020204020204" pitchFamily="34" charset="-122"/>
              </a:rPr>
              <a:t>常用的一些协议和相应的协议字段值</a:t>
            </a:r>
          </a:p>
        </p:txBody>
      </p:sp>
    </p:spTree>
    <p:extLst>
      <p:ext uri="{BB962C8B-B14F-4D97-AF65-F5344CB8AC3E}">
        <p14:creationId xmlns:p14="http://schemas.microsoft.com/office/powerpoint/2010/main" val="204630053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7" name="圆角矩形 6"/>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8" name="组合 7"/>
          <p:cNvGrpSpPr/>
          <p:nvPr/>
        </p:nvGrpSpPr>
        <p:grpSpPr>
          <a:xfrm>
            <a:off x="1637153" y="1084892"/>
            <a:ext cx="5962309" cy="2192261"/>
            <a:chOff x="1392642" y="1665825"/>
            <a:chExt cx="5962309" cy="2192261"/>
          </a:xfrm>
        </p:grpSpPr>
        <p:sp>
          <p:nvSpPr>
            <p:cNvPr id="9"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0"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1"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2"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3"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6"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7"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28"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29"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0"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1"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2"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3"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4"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5"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6"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7"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38"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39"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0"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1"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42"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3"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4"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5"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6" name="Group 46"/>
            <p:cNvGrpSpPr>
              <a:grpSpLocks/>
            </p:cNvGrpSpPr>
            <p:nvPr/>
          </p:nvGrpSpPr>
          <p:grpSpPr bwMode="auto">
            <a:xfrm>
              <a:off x="2158338" y="3299988"/>
              <a:ext cx="83917" cy="41064"/>
              <a:chOff x="833" y="3024"/>
              <a:chExt cx="78" cy="51"/>
            </a:xfrm>
          </p:grpSpPr>
          <p:sp>
            <p:nvSpPr>
              <p:cNvPr id="56"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7"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8"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47" name="Group 50"/>
            <p:cNvGrpSpPr>
              <a:grpSpLocks/>
            </p:cNvGrpSpPr>
            <p:nvPr/>
          </p:nvGrpSpPr>
          <p:grpSpPr bwMode="auto">
            <a:xfrm>
              <a:off x="7169086" y="3305588"/>
              <a:ext cx="83917" cy="39198"/>
              <a:chOff x="5432" y="3030"/>
              <a:chExt cx="78" cy="51"/>
            </a:xfrm>
          </p:grpSpPr>
          <p:sp>
            <p:nvSpPr>
              <p:cNvPr id="53"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4"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5"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48"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49"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50" name="Group 94"/>
            <p:cNvGrpSpPr>
              <a:grpSpLocks/>
            </p:cNvGrpSpPr>
            <p:nvPr/>
          </p:nvGrpSpPr>
          <p:grpSpPr bwMode="auto">
            <a:xfrm>
              <a:off x="1392642" y="1885145"/>
              <a:ext cx="336679" cy="1566034"/>
              <a:chOff x="-127" y="845"/>
              <a:chExt cx="333" cy="1678"/>
            </a:xfrm>
          </p:grpSpPr>
          <p:sp>
            <p:nvSpPr>
              <p:cNvPr id="51"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2"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59" name="矩形 58"/>
          <p:cNvSpPr/>
          <p:nvPr/>
        </p:nvSpPr>
        <p:spPr>
          <a:xfrm>
            <a:off x="1759732" y="3469278"/>
            <a:ext cx="6323334" cy="584775"/>
          </a:xfrm>
          <a:prstGeom prst="rect">
            <a:avLst/>
          </a:prstGeom>
          <a:solidFill>
            <a:srgbClr val="0000CC"/>
          </a:solidFill>
          <a:ln w="9525">
            <a:no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首部检验和</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占 </a:t>
            </a:r>
            <a:r>
              <a:rPr lang="en-US" altLang="zh-CN" sz="1600" b="1" dirty="0">
                <a:solidFill>
                  <a:schemeClr val="bg1"/>
                </a:solidFill>
                <a:latin typeface="微软雅黑" pitchFamily="34" charset="-122"/>
                <a:ea typeface="微软雅黑" pitchFamily="34" charset="-122"/>
              </a:rPr>
              <a:t>16 </a:t>
            </a:r>
            <a:r>
              <a:rPr lang="zh-CN" altLang="en-US" sz="1600" b="1" dirty="0">
                <a:solidFill>
                  <a:schemeClr val="bg1"/>
                </a:solidFill>
                <a:latin typeface="微软雅黑" pitchFamily="34" charset="-122"/>
                <a:ea typeface="微软雅黑" pitchFamily="34" charset="-122"/>
              </a:rPr>
              <a:t>位，只检验数据报的首部，</a:t>
            </a:r>
          </a:p>
          <a:p>
            <a:pPr algn="ctr"/>
            <a:r>
              <a:rPr lang="zh-CN" altLang="en-US" sz="1600" b="1" dirty="0">
                <a:solidFill>
                  <a:srgbClr val="FFFF00"/>
                </a:solidFill>
                <a:latin typeface="微软雅黑" pitchFamily="34" charset="-122"/>
                <a:ea typeface="微软雅黑" pitchFamily="34" charset="-122"/>
              </a:rPr>
              <a:t>不检验数据部分。</a:t>
            </a:r>
            <a:r>
              <a:rPr lang="zh-CN" altLang="en-US" sz="1600" b="1" dirty="0">
                <a:solidFill>
                  <a:schemeClr val="bg1"/>
                </a:solidFill>
                <a:latin typeface="微软雅黑" pitchFamily="34" charset="-122"/>
                <a:ea typeface="微软雅黑" pitchFamily="34" charset="-122"/>
              </a:rPr>
              <a:t>这里不采用 </a:t>
            </a:r>
            <a:r>
              <a:rPr lang="en-US" altLang="zh-CN" sz="1600" b="1" dirty="0">
                <a:solidFill>
                  <a:schemeClr val="bg1"/>
                </a:solidFill>
                <a:latin typeface="微软雅黑" pitchFamily="34" charset="-122"/>
                <a:ea typeface="微软雅黑" pitchFamily="34" charset="-122"/>
              </a:rPr>
              <a:t>CRC </a:t>
            </a:r>
            <a:r>
              <a:rPr lang="zh-CN" altLang="en-US" sz="1600" b="1" dirty="0">
                <a:solidFill>
                  <a:schemeClr val="bg1"/>
                </a:solidFill>
                <a:latin typeface="微软雅黑" pitchFamily="34" charset="-122"/>
                <a:ea typeface="微软雅黑" pitchFamily="34" charset="-122"/>
              </a:rPr>
              <a:t>检验码而采用简单的计算方法。 </a:t>
            </a:r>
          </a:p>
        </p:txBody>
      </p:sp>
      <p:sp>
        <p:nvSpPr>
          <p:cNvPr id="60" name="Rectangle 92"/>
          <p:cNvSpPr>
            <a:spLocks noChangeArrowheads="1"/>
          </p:cNvSpPr>
          <p:nvPr/>
        </p:nvSpPr>
        <p:spPr bwMode="auto">
          <a:xfrm flipV="1">
            <a:off x="4951192" y="1855633"/>
            <a:ext cx="2508912" cy="26134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392695465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60"/>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5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P spid="60" grpId="0" animBg="1"/>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圆角矩形 11"/>
          <p:cNvSpPr/>
          <p:nvPr/>
        </p:nvSpPr>
        <p:spPr>
          <a:xfrm>
            <a:off x="556963" y="633725"/>
            <a:ext cx="8048776" cy="371891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Rectangle 66"/>
          <p:cNvSpPr>
            <a:spLocks noChangeArrowheads="1"/>
          </p:cNvSpPr>
          <p:nvPr/>
        </p:nvSpPr>
        <p:spPr bwMode="auto">
          <a:xfrm>
            <a:off x="4102040" y="3457735"/>
            <a:ext cx="1136515" cy="520751"/>
          </a:xfrm>
          <a:prstGeom prst="rect">
            <a:avLst/>
          </a:prstGeom>
          <a:solidFill>
            <a:srgbClr val="00FF99"/>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6" name="Text Box 4"/>
          <p:cNvSpPr txBox="1">
            <a:spLocks noChangeArrowheads="1"/>
          </p:cNvSpPr>
          <p:nvPr/>
        </p:nvSpPr>
        <p:spPr bwMode="auto">
          <a:xfrm>
            <a:off x="2094129" y="769558"/>
            <a:ext cx="1491032" cy="307777"/>
          </a:xfrm>
          <a:prstGeom prst="rect">
            <a:avLst/>
          </a:prstGeom>
          <a:solidFill>
            <a:srgbClr val="0000FF"/>
          </a:solidFill>
          <a:ln w="9525">
            <a:solidFill>
              <a:schemeClr val="folHlink"/>
            </a:solidFill>
            <a:miter lim="800000"/>
            <a:headEnd/>
            <a:tailEnd/>
          </a:ln>
          <a:effectLst/>
        </p:spPr>
        <p:txBody>
          <a:bodyPr>
            <a:spAutoFit/>
          </a:bodyPr>
          <a:lstStyle/>
          <a:p>
            <a:pPr algn="ctr"/>
            <a:r>
              <a:rPr kumimoji="1" lang="zh-CN" altLang="en-US" sz="1400" b="1" dirty="0">
                <a:solidFill>
                  <a:schemeClr val="bg1"/>
                </a:solidFill>
                <a:latin typeface="微软雅黑" pitchFamily="34" charset="-122"/>
                <a:ea typeface="微软雅黑" pitchFamily="34" charset="-122"/>
              </a:rPr>
              <a:t>发送端</a:t>
            </a:r>
          </a:p>
        </p:txBody>
      </p:sp>
      <p:sp>
        <p:nvSpPr>
          <p:cNvPr id="17" name="Text Box 5"/>
          <p:cNvSpPr txBox="1">
            <a:spLocks noChangeArrowheads="1"/>
          </p:cNvSpPr>
          <p:nvPr/>
        </p:nvSpPr>
        <p:spPr bwMode="auto">
          <a:xfrm>
            <a:off x="5682474" y="769558"/>
            <a:ext cx="1444791" cy="307777"/>
          </a:xfrm>
          <a:prstGeom prst="rect">
            <a:avLst/>
          </a:prstGeom>
          <a:solidFill>
            <a:srgbClr val="00B050"/>
          </a:solidFill>
          <a:ln w="9525">
            <a:solidFill>
              <a:schemeClr val="folHlink"/>
            </a:solidFill>
            <a:miter lim="800000"/>
            <a:headEnd/>
            <a:tailEnd/>
          </a:ln>
          <a:effectLst/>
        </p:spPr>
        <p:txBody>
          <a:bodyPr>
            <a:spAutoFit/>
          </a:bodyPr>
          <a:lstStyle/>
          <a:p>
            <a:pPr algn="ctr"/>
            <a:r>
              <a:rPr kumimoji="1" lang="zh-CN" altLang="en-US" sz="1400" b="1" dirty="0">
                <a:solidFill>
                  <a:schemeClr val="bg1"/>
                </a:solidFill>
                <a:latin typeface="微软雅黑" pitchFamily="34" charset="-122"/>
                <a:ea typeface="微软雅黑" pitchFamily="34" charset="-122"/>
              </a:rPr>
              <a:t>接收端</a:t>
            </a:r>
          </a:p>
        </p:txBody>
      </p:sp>
      <p:sp>
        <p:nvSpPr>
          <p:cNvPr id="18" name="Rectangle 6"/>
          <p:cNvSpPr>
            <a:spLocks noChangeArrowheads="1"/>
          </p:cNvSpPr>
          <p:nvPr/>
        </p:nvSpPr>
        <p:spPr bwMode="auto">
          <a:xfrm>
            <a:off x="2707601" y="1142336"/>
            <a:ext cx="874479" cy="177378"/>
          </a:xfrm>
          <a:prstGeom prst="rect">
            <a:avLst/>
          </a:prstGeom>
          <a:solidFill>
            <a:srgbClr val="0000CC"/>
          </a:solidFill>
          <a:ln w="9525">
            <a:solidFill>
              <a:schemeClr val="tx1"/>
            </a:solidFill>
            <a:miter lim="800000"/>
            <a:headEnd/>
            <a:tailEnd/>
          </a:ln>
          <a:effectLst/>
        </p:spPr>
        <p:txBody>
          <a:bodyPr wrap="none" anchor="ctr"/>
          <a:lstStyle/>
          <a:p>
            <a:pPr algn="ctr"/>
            <a:r>
              <a:rPr kumimoji="1" lang="en-US" altLang="zh-CN" sz="1200" b="1" dirty="0">
                <a:solidFill>
                  <a:schemeClr val="bg1"/>
                </a:solidFill>
                <a:latin typeface="微软雅黑" pitchFamily="34" charset="-122"/>
                <a:ea typeface="微软雅黑" pitchFamily="34" charset="-122"/>
              </a:rPr>
              <a:t>16 </a:t>
            </a:r>
            <a:r>
              <a:rPr kumimoji="1" lang="zh-CN" altLang="en-US" sz="1200" b="1" dirty="0">
                <a:solidFill>
                  <a:schemeClr val="bg1"/>
                </a:solidFill>
                <a:latin typeface="微软雅黑" pitchFamily="34" charset="-122"/>
                <a:ea typeface="微软雅黑" pitchFamily="34" charset="-122"/>
              </a:rPr>
              <a:t>位</a:t>
            </a:r>
          </a:p>
        </p:txBody>
      </p:sp>
      <p:sp>
        <p:nvSpPr>
          <p:cNvPr id="19" name="Text Box 7"/>
          <p:cNvSpPr txBox="1">
            <a:spLocks noChangeArrowheads="1"/>
          </p:cNvSpPr>
          <p:nvPr/>
        </p:nvSpPr>
        <p:spPr bwMode="auto">
          <a:xfrm>
            <a:off x="2261626" y="1106292"/>
            <a:ext cx="457879"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a:latin typeface="微软雅黑" pitchFamily="34" charset="-122"/>
                <a:ea typeface="微软雅黑" pitchFamily="34" charset="-122"/>
              </a:rPr>
              <a:t>字 </a:t>
            </a:r>
            <a:r>
              <a:rPr kumimoji="1" lang="en-US" altLang="zh-CN" sz="1100" b="1">
                <a:latin typeface="微软雅黑" pitchFamily="34" charset="-122"/>
                <a:ea typeface="微软雅黑" pitchFamily="34" charset="-122"/>
              </a:rPr>
              <a:t>1</a:t>
            </a:r>
          </a:p>
        </p:txBody>
      </p:sp>
      <p:sp>
        <p:nvSpPr>
          <p:cNvPr id="20" name="Rectangle 8"/>
          <p:cNvSpPr>
            <a:spLocks noChangeArrowheads="1"/>
          </p:cNvSpPr>
          <p:nvPr/>
        </p:nvSpPr>
        <p:spPr bwMode="auto">
          <a:xfrm>
            <a:off x="2707601" y="1391804"/>
            <a:ext cx="874479" cy="176429"/>
          </a:xfrm>
          <a:prstGeom prst="rect">
            <a:avLst/>
          </a:prstGeom>
          <a:solidFill>
            <a:srgbClr val="0000CC"/>
          </a:solidFill>
          <a:ln w="9525">
            <a:solidFill>
              <a:schemeClr val="tx1"/>
            </a:solidFill>
            <a:miter lim="800000"/>
            <a:headEnd/>
            <a:tailEnd/>
          </a:ln>
          <a:effectLst/>
        </p:spPr>
        <p:txBody>
          <a:bodyPr wrap="none" anchor="ctr"/>
          <a:lstStyle/>
          <a:p>
            <a:pPr algn="ctr"/>
            <a:r>
              <a:rPr kumimoji="1" lang="en-US" altLang="zh-CN" sz="1200" b="1">
                <a:solidFill>
                  <a:schemeClr val="bg1"/>
                </a:solidFill>
                <a:latin typeface="微软雅黑" pitchFamily="34" charset="-122"/>
                <a:ea typeface="微软雅黑" pitchFamily="34" charset="-122"/>
              </a:rPr>
              <a:t>16 </a:t>
            </a:r>
            <a:r>
              <a:rPr kumimoji="1" lang="zh-CN" altLang="en-US" sz="1200" b="1">
                <a:solidFill>
                  <a:schemeClr val="bg1"/>
                </a:solidFill>
                <a:latin typeface="微软雅黑" pitchFamily="34" charset="-122"/>
                <a:ea typeface="微软雅黑" pitchFamily="34" charset="-122"/>
              </a:rPr>
              <a:t>位</a:t>
            </a:r>
          </a:p>
        </p:txBody>
      </p:sp>
      <p:sp>
        <p:nvSpPr>
          <p:cNvPr id="21" name="Text Box 9"/>
          <p:cNvSpPr txBox="1">
            <a:spLocks noChangeArrowheads="1"/>
          </p:cNvSpPr>
          <p:nvPr/>
        </p:nvSpPr>
        <p:spPr bwMode="auto">
          <a:xfrm>
            <a:off x="2261626" y="1354810"/>
            <a:ext cx="457879"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字 </a:t>
            </a:r>
            <a:r>
              <a:rPr kumimoji="1" lang="en-US" altLang="zh-CN" sz="1100" b="1" dirty="0">
                <a:latin typeface="微软雅黑" pitchFamily="34" charset="-122"/>
                <a:ea typeface="微软雅黑" pitchFamily="34" charset="-122"/>
              </a:rPr>
              <a:t>2</a:t>
            </a:r>
          </a:p>
        </p:txBody>
      </p:sp>
      <p:grpSp>
        <p:nvGrpSpPr>
          <p:cNvPr id="22" name="Group 67"/>
          <p:cNvGrpSpPr>
            <a:grpSpLocks/>
          </p:cNvGrpSpPr>
          <p:nvPr/>
        </p:nvGrpSpPr>
        <p:grpSpPr bwMode="auto">
          <a:xfrm>
            <a:off x="2094129" y="1710515"/>
            <a:ext cx="1487950" cy="264644"/>
            <a:chOff x="295" y="1111"/>
            <a:chExt cx="1448" cy="279"/>
          </a:xfrm>
        </p:grpSpPr>
        <p:sp>
          <p:nvSpPr>
            <p:cNvPr id="23" name="Rectangle 10"/>
            <p:cNvSpPr>
              <a:spLocks noChangeArrowheads="1"/>
            </p:cNvSpPr>
            <p:nvPr/>
          </p:nvSpPr>
          <p:spPr bwMode="auto">
            <a:xfrm>
              <a:off x="892" y="1158"/>
              <a:ext cx="851" cy="186"/>
            </a:xfrm>
            <a:prstGeom prst="rect">
              <a:avLst/>
            </a:prstGeom>
            <a:solidFill>
              <a:srgbClr val="CC00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200" b="1">
                  <a:solidFill>
                    <a:schemeClr val="bg1"/>
                  </a:solidFill>
                  <a:latin typeface="微软雅黑" pitchFamily="34" charset="-122"/>
                  <a:ea typeface="微软雅黑" pitchFamily="34" charset="-122"/>
                </a:rPr>
                <a:t>置为全 </a:t>
              </a:r>
              <a:r>
                <a:rPr kumimoji="1" lang="en-US" altLang="zh-CN" sz="1200" b="1">
                  <a:solidFill>
                    <a:schemeClr val="bg1"/>
                  </a:solidFill>
                  <a:latin typeface="微软雅黑" pitchFamily="34" charset="-122"/>
                  <a:ea typeface="微软雅黑" pitchFamily="34" charset="-122"/>
                </a:rPr>
                <a:t>0</a:t>
              </a:r>
            </a:p>
          </p:txBody>
        </p:sp>
        <p:sp>
          <p:nvSpPr>
            <p:cNvPr id="24" name="Text Box 11"/>
            <p:cNvSpPr txBox="1">
              <a:spLocks noChangeArrowheads="1"/>
            </p:cNvSpPr>
            <p:nvPr/>
          </p:nvSpPr>
          <p:spPr bwMode="auto">
            <a:xfrm>
              <a:off x="295" y="1111"/>
              <a:ext cx="60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检验和</a:t>
              </a:r>
            </a:p>
          </p:txBody>
        </p:sp>
      </p:grpSp>
      <p:sp>
        <p:nvSpPr>
          <p:cNvPr id="25" name="Rectangle 12"/>
          <p:cNvSpPr>
            <a:spLocks noChangeArrowheads="1"/>
          </p:cNvSpPr>
          <p:nvPr/>
        </p:nvSpPr>
        <p:spPr bwMode="auto">
          <a:xfrm>
            <a:off x="2707601" y="2118389"/>
            <a:ext cx="874479" cy="177378"/>
          </a:xfrm>
          <a:prstGeom prst="rect">
            <a:avLst/>
          </a:prstGeom>
          <a:solidFill>
            <a:srgbClr val="0000CC"/>
          </a:solidFill>
          <a:ln w="9525">
            <a:solidFill>
              <a:schemeClr val="tx1"/>
            </a:solidFill>
            <a:miter lim="800000"/>
            <a:headEnd/>
            <a:tailEnd/>
          </a:ln>
          <a:effectLst/>
        </p:spPr>
        <p:txBody>
          <a:bodyPr wrap="none" anchor="ctr"/>
          <a:lstStyle/>
          <a:p>
            <a:pPr algn="ctr"/>
            <a:r>
              <a:rPr kumimoji="1" lang="en-US" altLang="zh-CN" sz="1200" b="1">
                <a:solidFill>
                  <a:schemeClr val="bg1"/>
                </a:solidFill>
                <a:latin typeface="微软雅黑" pitchFamily="34" charset="-122"/>
                <a:ea typeface="微软雅黑" pitchFamily="34" charset="-122"/>
              </a:rPr>
              <a:t>16 </a:t>
            </a:r>
            <a:r>
              <a:rPr kumimoji="1" lang="zh-CN" altLang="en-US" sz="1200" b="1">
                <a:solidFill>
                  <a:schemeClr val="bg1"/>
                </a:solidFill>
                <a:latin typeface="微软雅黑" pitchFamily="34" charset="-122"/>
                <a:ea typeface="微软雅黑" pitchFamily="34" charset="-122"/>
              </a:rPr>
              <a:t>位</a:t>
            </a:r>
          </a:p>
        </p:txBody>
      </p:sp>
      <p:sp>
        <p:nvSpPr>
          <p:cNvPr id="26" name="Text Box 13"/>
          <p:cNvSpPr txBox="1">
            <a:spLocks noChangeArrowheads="1"/>
          </p:cNvSpPr>
          <p:nvPr/>
        </p:nvSpPr>
        <p:spPr bwMode="auto">
          <a:xfrm>
            <a:off x="2261626" y="2082345"/>
            <a:ext cx="462471"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a:latin typeface="微软雅黑" pitchFamily="34" charset="-122"/>
                <a:ea typeface="微软雅黑" pitchFamily="34" charset="-122"/>
              </a:rPr>
              <a:t>字 </a:t>
            </a:r>
            <a:r>
              <a:rPr kumimoji="1" lang="en-US" altLang="zh-CN" sz="1100" b="1">
                <a:latin typeface="微软雅黑" pitchFamily="34" charset="-122"/>
                <a:ea typeface="微软雅黑" pitchFamily="34" charset="-122"/>
              </a:rPr>
              <a:t>n</a:t>
            </a:r>
          </a:p>
        </p:txBody>
      </p:sp>
      <p:grpSp>
        <p:nvGrpSpPr>
          <p:cNvPr id="27" name="Group 68"/>
          <p:cNvGrpSpPr>
            <a:grpSpLocks/>
          </p:cNvGrpSpPr>
          <p:nvPr/>
        </p:nvGrpSpPr>
        <p:grpSpPr bwMode="auto">
          <a:xfrm>
            <a:off x="1961570" y="2443740"/>
            <a:ext cx="1620510" cy="441073"/>
            <a:chOff x="166" y="1884"/>
            <a:chExt cx="1577" cy="465"/>
          </a:xfrm>
        </p:grpSpPr>
        <p:sp>
          <p:nvSpPr>
            <p:cNvPr id="28" name="Rectangle 14"/>
            <p:cNvSpPr>
              <a:spLocks noChangeArrowheads="1"/>
            </p:cNvSpPr>
            <p:nvPr/>
          </p:nvSpPr>
          <p:spPr bwMode="auto">
            <a:xfrm>
              <a:off x="892" y="2000"/>
              <a:ext cx="851" cy="188"/>
            </a:xfrm>
            <a:prstGeom prst="rect">
              <a:avLst/>
            </a:prstGeom>
            <a:solidFill>
              <a:srgbClr val="0000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a:solidFill>
                    <a:schemeClr val="bg1"/>
                  </a:solidFill>
                  <a:latin typeface="微软雅黑" pitchFamily="34" charset="-122"/>
                  <a:ea typeface="微软雅黑" pitchFamily="34" charset="-122"/>
                </a:rPr>
                <a:t>16 </a:t>
              </a:r>
              <a:r>
                <a:rPr kumimoji="1" lang="zh-CN" altLang="en-US" sz="1200" b="1">
                  <a:solidFill>
                    <a:schemeClr val="bg1"/>
                  </a:solidFill>
                  <a:latin typeface="微软雅黑" pitchFamily="34" charset="-122"/>
                  <a:ea typeface="微软雅黑" pitchFamily="34" charset="-122"/>
                </a:rPr>
                <a:t>位</a:t>
              </a:r>
            </a:p>
          </p:txBody>
        </p:sp>
        <p:sp>
          <p:nvSpPr>
            <p:cNvPr id="29" name="Text Box 15"/>
            <p:cNvSpPr txBox="1">
              <a:spLocks noChangeArrowheads="1"/>
            </p:cNvSpPr>
            <p:nvPr/>
          </p:nvSpPr>
          <p:spPr bwMode="auto">
            <a:xfrm>
              <a:off x="166" y="1884"/>
              <a:ext cx="743" cy="4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solidFill>
                    <a:srgbClr val="C00000"/>
                  </a:solidFill>
                  <a:latin typeface="微软雅黑" pitchFamily="34" charset="-122"/>
                  <a:ea typeface="微软雅黑" pitchFamily="34" charset="-122"/>
                </a:rPr>
                <a:t>反码算术</a:t>
              </a:r>
            </a:p>
            <a:p>
              <a:r>
                <a:rPr kumimoji="1" lang="zh-CN" altLang="en-US" sz="1100" b="1" dirty="0">
                  <a:solidFill>
                    <a:srgbClr val="C00000"/>
                  </a:solidFill>
                  <a:latin typeface="微软雅黑" pitchFamily="34" charset="-122"/>
                  <a:ea typeface="微软雅黑" pitchFamily="34" charset="-122"/>
                </a:rPr>
                <a:t>运算求和</a:t>
              </a:r>
            </a:p>
          </p:txBody>
        </p:sp>
      </p:grpSp>
      <p:sp>
        <p:nvSpPr>
          <p:cNvPr id="30" name="Text Box 19"/>
          <p:cNvSpPr txBox="1">
            <a:spLocks noChangeArrowheads="1"/>
          </p:cNvSpPr>
          <p:nvPr/>
        </p:nvSpPr>
        <p:spPr bwMode="auto">
          <a:xfrm>
            <a:off x="2936754" y="1519856"/>
            <a:ext cx="317088"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a:t>
            </a:r>
          </a:p>
        </p:txBody>
      </p:sp>
      <p:sp>
        <p:nvSpPr>
          <p:cNvPr id="31" name="Text Box 20"/>
          <p:cNvSpPr txBox="1">
            <a:spLocks noChangeArrowheads="1"/>
          </p:cNvSpPr>
          <p:nvPr/>
        </p:nvSpPr>
        <p:spPr bwMode="auto">
          <a:xfrm>
            <a:off x="2926478" y="1872715"/>
            <a:ext cx="317088"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a:t>
            </a:r>
          </a:p>
        </p:txBody>
      </p:sp>
      <p:sp>
        <p:nvSpPr>
          <p:cNvPr id="32" name="Line 21"/>
          <p:cNvSpPr>
            <a:spLocks noChangeShapeType="1"/>
          </p:cNvSpPr>
          <p:nvPr/>
        </p:nvSpPr>
        <p:spPr bwMode="auto">
          <a:xfrm>
            <a:off x="2151674" y="2377341"/>
            <a:ext cx="174998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nvGrpSpPr>
          <p:cNvPr id="33" name="Group 69"/>
          <p:cNvGrpSpPr>
            <a:grpSpLocks/>
          </p:cNvGrpSpPr>
          <p:nvPr/>
        </p:nvGrpSpPr>
        <p:grpSpPr bwMode="auto">
          <a:xfrm>
            <a:off x="2552437" y="2778579"/>
            <a:ext cx="671017" cy="314917"/>
            <a:chOff x="741" y="2237"/>
            <a:chExt cx="653" cy="332"/>
          </a:xfrm>
        </p:grpSpPr>
        <p:sp>
          <p:nvSpPr>
            <p:cNvPr id="34" name="AutoShape 18"/>
            <p:cNvSpPr>
              <a:spLocks noChangeArrowheads="1"/>
            </p:cNvSpPr>
            <p:nvPr/>
          </p:nvSpPr>
          <p:spPr bwMode="auto">
            <a:xfrm>
              <a:off x="1293" y="2253"/>
              <a:ext cx="101" cy="316"/>
            </a:xfrm>
            <a:prstGeom prst="downArrow">
              <a:avLst>
                <a:gd name="adj1" fmla="val 50000"/>
                <a:gd name="adj2" fmla="val 78218"/>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5" name="Text Box 22"/>
            <p:cNvSpPr txBox="1">
              <a:spLocks noChangeArrowheads="1"/>
            </p:cNvSpPr>
            <p:nvPr/>
          </p:nvSpPr>
          <p:spPr bwMode="auto">
            <a:xfrm>
              <a:off x="741" y="2237"/>
              <a:ext cx="60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取反码</a:t>
              </a:r>
            </a:p>
          </p:txBody>
        </p:sp>
      </p:grpSp>
      <p:sp>
        <p:nvSpPr>
          <p:cNvPr id="36" name="AutoShape 23"/>
          <p:cNvSpPr>
            <a:spLocks/>
          </p:cNvSpPr>
          <p:nvPr/>
        </p:nvSpPr>
        <p:spPr bwMode="auto">
          <a:xfrm>
            <a:off x="2047888" y="1150874"/>
            <a:ext cx="103787" cy="1154379"/>
          </a:xfrm>
          <a:prstGeom prst="leftBrace">
            <a:avLst>
              <a:gd name="adj1" fmla="val 100412"/>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7" name="Text Box 24"/>
          <p:cNvSpPr txBox="1">
            <a:spLocks noChangeArrowheads="1"/>
          </p:cNvSpPr>
          <p:nvPr/>
        </p:nvSpPr>
        <p:spPr bwMode="auto">
          <a:xfrm>
            <a:off x="1756486" y="1222280"/>
            <a:ext cx="323209" cy="9696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数</a:t>
            </a:r>
          </a:p>
          <a:p>
            <a:r>
              <a:rPr kumimoji="1" lang="zh-CN" altLang="en-US" sz="1200" b="1" dirty="0">
                <a:latin typeface="微软雅黑" pitchFamily="34" charset="-122"/>
                <a:ea typeface="微软雅黑" pitchFamily="34" charset="-122"/>
              </a:rPr>
              <a:t>据</a:t>
            </a:r>
          </a:p>
          <a:p>
            <a:r>
              <a:rPr kumimoji="1" lang="zh-CN" altLang="en-US" sz="1200" b="1" dirty="0">
                <a:latin typeface="微软雅黑" pitchFamily="34" charset="-122"/>
                <a:ea typeface="微软雅黑" pitchFamily="34" charset="-122"/>
              </a:rPr>
              <a:t>报</a:t>
            </a:r>
          </a:p>
          <a:p>
            <a:r>
              <a:rPr kumimoji="1" lang="zh-CN" altLang="en-US" sz="1200" b="1" dirty="0">
                <a:latin typeface="微软雅黑" pitchFamily="34" charset="-122"/>
                <a:ea typeface="微软雅黑" pitchFamily="34" charset="-122"/>
              </a:rPr>
              <a:t>首</a:t>
            </a:r>
          </a:p>
          <a:p>
            <a:r>
              <a:rPr kumimoji="1" lang="zh-CN" altLang="en-US" sz="1200" b="1" dirty="0">
                <a:latin typeface="微软雅黑" pitchFamily="34" charset="-122"/>
                <a:ea typeface="微软雅黑" pitchFamily="34" charset="-122"/>
              </a:rPr>
              <a:t>部</a:t>
            </a:r>
          </a:p>
        </p:txBody>
      </p:sp>
      <p:sp>
        <p:nvSpPr>
          <p:cNvPr id="38" name="Rectangle 25"/>
          <p:cNvSpPr>
            <a:spLocks noChangeArrowheads="1"/>
          </p:cNvSpPr>
          <p:nvPr/>
        </p:nvSpPr>
        <p:spPr bwMode="auto">
          <a:xfrm>
            <a:off x="4107178" y="3007175"/>
            <a:ext cx="1131377" cy="443919"/>
          </a:xfrm>
          <a:prstGeom prst="rect">
            <a:avLst/>
          </a:prstGeom>
          <a:solidFill>
            <a:srgbClr val="00FFFF"/>
          </a:solidFill>
          <a:ln w="19050">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39" name="Rectangle 26"/>
          <p:cNvSpPr>
            <a:spLocks noChangeArrowheads="1"/>
          </p:cNvSpPr>
          <p:nvPr/>
        </p:nvSpPr>
        <p:spPr bwMode="auto">
          <a:xfrm>
            <a:off x="4679546" y="3190245"/>
            <a:ext cx="553871" cy="80626"/>
          </a:xfrm>
          <a:prstGeom prst="rect">
            <a:avLst/>
          </a:prstGeom>
          <a:solidFill>
            <a:srgbClr val="CC00CC"/>
          </a:solidFill>
          <a:ln>
            <a:noFill/>
          </a:ln>
          <a:effectLst/>
        </p:spPr>
        <p:txBody>
          <a:bodyPr wrap="none" anchor="ctr"/>
          <a:lstStyle/>
          <a:p>
            <a:endParaRPr lang="zh-CN" altLang="en-US" sz="1200" b="1">
              <a:latin typeface="微软雅黑" pitchFamily="34" charset="-122"/>
              <a:ea typeface="微软雅黑" pitchFamily="34" charset="-122"/>
            </a:endParaRPr>
          </a:p>
        </p:txBody>
      </p:sp>
      <p:sp>
        <p:nvSpPr>
          <p:cNvPr id="40" name="Text Box 27"/>
          <p:cNvSpPr txBox="1">
            <a:spLocks noChangeArrowheads="1"/>
          </p:cNvSpPr>
          <p:nvPr/>
        </p:nvSpPr>
        <p:spPr bwMode="auto">
          <a:xfrm>
            <a:off x="4234657" y="2716298"/>
            <a:ext cx="806799"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IP </a:t>
            </a:r>
            <a:r>
              <a:rPr kumimoji="1" lang="zh-CN" altLang="en-US" sz="1200" b="1" dirty="0">
                <a:latin typeface="微软雅黑" pitchFamily="34" charset="-122"/>
                <a:ea typeface="微软雅黑" pitchFamily="34" charset="-122"/>
              </a:rPr>
              <a:t>数据报</a:t>
            </a:r>
          </a:p>
        </p:txBody>
      </p:sp>
      <p:sp>
        <p:nvSpPr>
          <p:cNvPr id="41" name="Line 28"/>
          <p:cNvSpPr>
            <a:spLocks noChangeShapeType="1"/>
          </p:cNvSpPr>
          <p:nvPr/>
        </p:nvSpPr>
        <p:spPr bwMode="auto">
          <a:xfrm>
            <a:off x="4107178" y="3095390"/>
            <a:ext cx="113137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2" name="Line 29"/>
          <p:cNvSpPr>
            <a:spLocks noChangeShapeType="1"/>
          </p:cNvSpPr>
          <p:nvPr/>
        </p:nvSpPr>
        <p:spPr bwMode="auto">
          <a:xfrm>
            <a:off x="4107178" y="3185501"/>
            <a:ext cx="113137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3" name="Line 30"/>
          <p:cNvSpPr>
            <a:spLocks noChangeShapeType="1"/>
          </p:cNvSpPr>
          <p:nvPr/>
        </p:nvSpPr>
        <p:spPr bwMode="auto">
          <a:xfrm>
            <a:off x="4107178" y="3273716"/>
            <a:ext cx="113137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4" name="Line 31"/>
          <p:cNvSpPr>
            <a:spLocks noChangeShapeType="1"/>
          </p:cNvSpPr>
          <p:nvPr/>
        </p:nvSpPr>
        <p:spPr bwMode="auto">
          <a:xfrm>
            <a:off x="4107178" y="3361931"/>
            <a:ext cx="113137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5" name="Line 32"/>
          <p:cNvSpPr>
            <a:spLocks noChangeShapeType="1"/>
          </p:cNvSpPr>
          <p:nvPr/>
        </p:nvSpPr>
        <p:spPr bwMode="auto">
          <a:xfrm>
            <a:off x="4107178" y="3451094"/>
            <a:ext cx="113137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6" name="Line 33"/>
          <p:cNvSpPr>
            <a:spLocks noChangeShapeType="1"/>
          </p:cNvSpPr>
          <p:nvPr/>
        </p:nvSpPr>
        <p:spPr bwMode="auto">
          <a:xfrm>
            <a:off x="4673380" y="3007175"/>
            <a:ext cx="0" cy="26654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7" name="Line 34"/>
          <p:cNvSpPr>
            <a:spLocks noChangeShapeType="1"/>
          </p:cNvSpPr>
          <p:nvPr/>
        </p:nvSpPr>
        <p:spPr bwMode="auto">
          <a:xfrm>
            <a:off x="4415455" y="3185501"/>
            <a:ext cx="0" cy="8821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8" name="Line 35"/>
          <p:cNvSpPr>
            <a:spLocks noChangeShapeType="1"/>
          </p:cNvSpPr>
          <p:nvPr/>
        </p:nvSpPr>
        <p:spPr bwMode="auto">
          <a:xfrm>
            <a:off x="4415455" y="3007175"/>
            <a:ext cx="0" cy="8821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9" name="Line 36"/>
          <p:cNvSpPr>
            <a:spLocks noChangeShapeType="1"/>
          </p:cNvSpPr>
          <p:nvPr/>
        </p:nvSpPr>
        <p:spPr bwMode="auto">
          <a:xfrm>
            <a:off x="4262344" y="3007175"/>
            <a:ext cx="0" cy="8821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50" name="Line 37"/>
          <p:cNvSpPr>
            <a:spLocks noChangeShapeType="1"/>
          </p:cNvSpPr>
          <p:nvPr/>
        </p:nvSpPr>
        <p:spPr bwMode="auto">
          <a:xfrm>
            <a:off x="4759698" y="3095390"/>
            <a:ext cx="0" cy="9011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51" name="Line 38"/>
          <p:cNvSpPr>
            <a:spLocks noChangeShapeType="1"/>
          </p:cNvSpPr>
          <p:nvPr/>
        </p:nvSpPr>
        <p:spPr bwMode="auto">
          <a:xfrm>
            <a:off x="4930278" y="3361931"/>
            <a:ext cx="0" cy="89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nvGrpSpPr>
          <p:cNvPr id="52" name="Group 71"/>
          <p:cNvGrpSpPr>
            <a:grpSpLocks/>
          </p:cNvGrpSpPr>
          <p:nvPr/>
        </p:nvGrpSpPr>
        <p:grpSpPr bwMode="auto">
          <a:xfrm>
            <a:off x="2119819" y="3098235"/>
            <a:ext cx="1462261" cy="264644"/>
            <a:chOff x="320" y="2574"/>
            <a:chExt cx="1423" cy="279"/>
          </a:xfrm>
        </p:grpSpPr>
        <p:sp>
          <p:nvSpPr>
            <p:cNvPr id="53" name="Rectangle 16"/>
            <p:cNvSpPr>
              <a:spLocks noChangeArrowheads="1"/>
            </p:cNvSpPr>
            <p:nvPr/>
          </p:nvSpPr>
          <p:spPr bwMode="auto">
            <a:xfrm>
              <a:off x="892" y="2619"/>
              <a:ext cx="851" cy="186"/>
            </a:xfrm>
            <a:prstGeom prst="rect">
              <a:avLst/>
            </a:prstGeom>
            <a:solidFill>
              <a:srgbClr val="CC00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a:solidFill>
                    <a:schemeClr val="bg1"/>
                  </a:solidFill>
                  <a:latin typeface="微软雅黑" pitchFamily="34" charset="-122"/>
                  <a:ea typeface="微软雅黑" pitchFamily="34" charset="-122"/>
                </a:rPr>
                <a:t>16 </a:t>
              </a:r>
              <a:r>
                <a:rPr kumimoji="1" lang="zh-CN" altLang="en-US" sz="1200" b="1">
                  <a:solidFill>
                    <a:schemeClr val="bg1"/>
                  </a:solidFill>
                  <a:latin typeface="微软雅黑" pitchFamily="34" charset="-122"/>
                  <a:ea typeface="微软雅黑" pitchFamily="34" charset="-122"/>
                </a:rPr>
                <a:t>位</a:t>
              </a:r>
            </a:p>
          </p:txBody>
        </p:sp>
        <p:sp>
          <p:nvSpPr>
            <p:cNvPr id="54" name="Text Box 17"/>
            <p:cNvSpPr txBox="1">
              <a:spLocks noChangeArrowheads="1"/>
            </p:cNvSpPr>
            <p:nvPr/>
          </p:nvSpPr>
          <p:spPr bwMode="auto">
            <a:xfrm>
              <a:off x="320" y="2574"/>
              <a:ext cx="60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检验和</a:t>
              </a:r>
            </a:p>
          </p:txBody>
        </p:sp>
      </p:grpSp>
      <p:sp>
        <p:nvSpPr>
          <p:cNvPr id="55" name="Line 39"/>
          <p:cNvSpPr>
            <a:spLocks noChangeShapeType="1"/>
          </p:cNvSpPr>
          <p:nvPr/>
        </p:nvSpPr>
        <p:spPr bwMode="auto">
          <a:xfrm>
            <a:off x="3593383" y="3236723"/>
            <a:ext cx="1388274" cy="0"/>
          </a:xfrm>
          <a:prstGeom prst="line">
            <a:avLst/>
          </a:prstGeom>
          <a:noFill/>
          <a:ln w="3810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56" name="Rectangle 40"/>
          <p:cNvSpPr>
            <a:spLocks noChangeArrowheads="1"/>
          </p:cNvSpPr>
          <p:nvPr/>
        </p:nvSpPr>
        <p:spPr bwMode="auto">
          <a:xfrm>
            <a:off x="6243538" y="1142336"/>
            <a:ext cx="874479" cy="177378"/>
          </a:xfrm>
          <a:prstGeom prst="rect">
            <a:avLst/>
          </a:prstGeom>
          <a:solidFill>
            <a:srgbClr val="00B050"/>
          </a:solidFill>
          <a:ln w="9525">
            <a:solidFill>
              <a:schemeClr val="tx1"/>
            </a:solidFill>
            <a:miter lim="800000"/>
            <a:headEnd/>
            <a:tailEnd/>
          </a:ln>
          <a:effectLst/>
        </p:spPr>
        <p:txBody>
          <a:bodyPr wrap="none" anchor="ctr"/>
          <a:lstStyle/>
          <a:p>
            <a:pPr algn="ctr"/>
            <a:r>
              <a:rPr kumimoji="1" lang="en-US" altLang="zh-CN" sz="1200" b="1">
                <a:solidFill>
                  <a:schemeClr val="bg1"/>
                </a:solidFill>
                <a:latin typeface="微软雅黑" pitchFamily="34" charset="-122"/>
                <a:ea typeface="微软雅黑" pitchFamily="34" charset="-122"/>
              </a:rPr>
              <a:t>16 </a:t>
            </a:r>
            <a:r>
              <a:rPr kumimoji="1" lang="zh-CN" altLang="en-US" sz="1200" b="1">
                <a:solidFill>
                  <a:schemeClr val="bg1"/>
                </a:solidFill>
                <a:latin typeface="微软雅黑" pitchFamily="34" charset="-122"/>
                <a:ea typeface="微软雅黑" pitchFamily="34" charset="-122"/>
              </a:rPr>
              <a:t>位</a:t>
            </a:r>
          </a:p>
        </p:txBody>
      </p:sp>
      <p:sp>
        <p:nvSpPr>
          <p:cNvPr id="57" name="Text Box 41"/>
          <p:cNvSpPr txBox="1">
            <a:spLocks noChangeArrowheads="1"/>
          </p:cNvSpPr>
          <p:nvPr/>
        </p:nvSpPr>
        <p:spPr bwMode="auto">
          <a:xfrm>
            <a:off x="5796537" y="1106292"/>
            <a:ext cx="457879"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a:latin typeface="微软雅黑" pitchFamily="34" charset="-122"/>
                <a:ea typeface="微软雅黑" pitchFamily="34" charset="-122"/>
              </a:rPr>
              <a:t>字 </a:t>
            </a:r>
            <a:r>
              <a:rPr kumimoji="1" lang="en-US" altLang="zh-CN" sz="1100" b="1">
                <a:latin typeface="微软雅黑" pitchFamily="34" charset="-122"/>
                <a:ea typeface="微软雅黑" pitchFamily="34" charset="-122"/>
              </a:rPr>
              <a:t>1</a:t>
            </a:r>
          </a:p>
        </p:txBody>
      </p:sp>
      <p:sp>
        <p:nvSpPr>
          <p:cNvPr id="58" name="Rectangle 42"/>
          <p:cNvSpPr>
            <a:spLocks noChangeArrowheads="1"/>
          </p:cNvSpPr>
          <p:nvPr/>
        </p:nvSpPr>
        <p:spPr bwMode="auto">
          <a:xfrm>
            <a:off x="6243538" y="1391804"/>
            <a:ext cx="874479" cy="176429"/>
          </a:xfrm>
          <a:prstGeom prst="rect">
            <a:avLst/>
          </a:prstGeom>
          <a:solidFill>
            <a:srgbClr val="00B050"/>
          </a:solidFill>
          <a:ln w="9525">
            <a:solidFill>
              <a:schemeClr val="tx1"/>
            </a:solidFill>
            <a:miter lim="800000"/>
            <a:headEnd/>
            <a:tailEnd/>
          </a:ln>
          <a:effectLst/>
        </p:spPr>
        <p:txBody>
          <a:bodyPr wrap="none" anchor="ctr"/>
          <a:lstStyle/>
          <a:p>
            <a:pPr algn="ctr"/>
            <a:r>
              <a:rPr kumimoji="1" lang="en-US" altLang="zh-CN" sz="1200" b="1">
                <a:solidFill>
                  <a:schemeClr val="bg1"/>
                </a:solidFill>
                <a:latin typeface="微软雅黑" pitchFamily="34" charset="-122"/>
                <a:ea typeface="微软雅黑" pitchFamily="34" charset="-122"/>
              </a:rPr>
              <a:t>16 </a:t>
            </a:r>
            <a:r>
              <a:rPr kumimoji="1" lang="zh-CN" altLang="en-US" sz="1200" b="1">
                <a:solidFill>
                  <a:schemeClr val="bg1"/>
                </a:solidFill>
                <a:latin typeface="微软雅黑" pitchFamily="34" charset="-122"/>
                <a:ea typeface="微软雅黑" pitchFamily="34" charset="-122"/>
              </a:rPr>
              <a:t>位</a:t>
            </a:r>
          </a:p>
        </p:txBody>
      </p:sp>
      <p:sp>
        <p:nvSpPr>
          <p:cNvPr id="59" name="Text Box 43"/>
          <p:cNvSpPr txBox="1">
            <a:spLocks noChangeArrowheads="1"/>
          </p:cNvSpPr>
          <p:nvPr/>
        </p:nvSpPr>
        <p:spPr bwMode="auto">
          <a:xfrm>
            <a:off x="5796537" y="1354810"/>
            <a:ext cx="457879"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字 </a:t>
            </a:r>
            <a:r>
              <a:rPr kumimoji="1" lang="en-US" altLang="zh-CN" sz="1100" b="1" dirty="0">
                <a:latin typeface="微软雅黑" pitchFamily="34" charset="-122"/>
                <a:ea typeface="微软雅黑" pitchFamily="34" charset="-122"/>
              </a:rPr>
              <a:t>2</a:t>
            </a:r>
          </a:p>
        </p:txBody>
      </p:sp>
      <p:grpSp>
        <p:nvGrpSpPr>
          <p:cNvPr id="60" name="Group 73"/>
          <p:cNvGrpSpPr>
            <a:grpSpLocks/>
          </p:cNvGrpSpPr>
          <p:nvPr/>
        </p:nvGrpSpPr>
        <p:grpSpPr bwMode="auto">
          <a:xfrm>
            <a:off x="5648563" y="1701978"/>
            <a:ext cx="1469454" cy="264644"/>
            <a:chOff x="3754" y="1102"/>
            <a:chExt cx="1430" cy="279"/>
          </a:xfrm>
        </p:grpSpPr>
        <p:sp>
          <p:nvSpPr>
            <p:cNvPr id="61" name="Rectangle 44"/>
            <p:cNvSpPr>
              <a:spLocks noChangeArrowheads="1"/>
            </p:cNvSpPr>
            <p:nvPr/>
          </p:nvSpPr>
          <p:spPr bwMode="auto">
            <a:xfrm>
              <a:off x="4333" y="1158"/>
              <a:ext cx="851" cy="186"/>
            </a:xfrm>
            <a:prstGeom prst="rect">
              <a:avLst/>
            </a:prstGeom>
            <a:solidFill>
              <a:srgbClr val="CC00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a:solidFill>
                    <a:schemeClr val="bg1"/>
                  </a:solidFill>
                  <a:latin typeface="微软雅黑" pitchFamily="34" charset="-122"/>
                  <a:ea typeface="微软雅黑" pitchFamily="34" charset="-122"/>
                </a:rPr>
                <a:t>16 </a:t>
              </a:r>
              <a:r>
                <a:rPr kumimoji="1" lang="zh-CN" altLang="en-US" sz="1200" b="1">
                  <a:solidFill>
                    <a:schemeClr val="bg1"/>
                  </a:solidFill>
                  <a:latin typeface="微软雅黑" pitchFamily="34" charset="-122"/>
                  <a:ea typeface="微软雅黑" pitchFamily="34" charset="-122"/>
                </a:rPr>
                <a:t>位</a:t>
              </a:r>
            </a:p>
          </p:txBody>
        </p:sp>
        <p:sp>
          <p:nvSpPr>
            <p:cNvPr id="62" name="Text Box 45"/>
            <p:cNvSpPr txBox="1">
              <a:spLocks noChangeArrowheads="1"/>
            </p:cNvSpPr>
            <p:nvPr/>
          </p:nvSpPr>
          <p:spPr bwMode="auto">
            <a:xfrm>
              <a:off x="3754" y="1102"/>
              <a:ext cx="60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检验和</a:t>
              </a:r>
            </a:p>
          </p:txBody>
        </p:sp>
      </p:grpSp>
      <p:sp>
        <p:nvSpPr>
          <p:cNvPr id="63" name="Rectangle 46"/>
          <p:cNvSpPr>
            <a:spLocks noChangeArrowheads="1"/>
          </p:cNvSpPr>
          <p:nvPr/>
        </p:nvSpPr>
        <p:spPr bwMode="auto">
          <a:xfrm>
            <a:off x="6243538" y="2118389"/>
            <a:ext cx="874479" cy="177378"/>
          </a:xfrm>
          <a:prstGeom prst="rect">
            <a:avLst/>
          </a:prstGeom>
          <a:solidFill>
            <a:srgbClr val="00B050"/>
          </a:solidFill>
          <a:ln w="9525">
            <a:solidFill>
              <a:schemeClr val="tx1"/>
            </a:solidFill>
            <a:miter lim="800000"/>
            <a:headEnd/>
            <a:tailEnd/>
          </a:ln>
          <a:effectLst/>
        </p:spPr>
        <p:txBody>
          <a:bodyPr wrap="none" anchor="ctr"/>
          <a:lstStyle/>
          <a:p>
            <a:pPr algn="ctr"/>
            <a:r>
              <a:rPr kumimoji="1" lang="en-US" altLang="zh-CN" sz="1200" b="1">
                <a:solidFill>
                  <a:schemeClr val="bg1"/>
                </a:solidFill>
                <a:latin typeface="微软雅黑" pitchFamily="34" charset="-122"/>
                <a:ea typeface="微软雅黑" pitchFamily="34" charset="-122"/>
              </a:rPr>
              <a:t>16 </a:t>
            </a:r>
            <a:r>
              <a:rPr kumimoji="1" lang="zh-CN" altLang="en-US" sz="1200" b="1">
                <a:solidFill>
                  <a:schemeClr val="bg1"/>
                </a:solidFill>
                <a:latin typeface="微软雅黑" pitchFamily="34" charset="-122"/>
                <a:ea typeface="微软雅黑" pitchFamily="34" charset="-122"/>
              </a:rPr>
              <a:t>位</a:t>
            </a:r>
          </a:p>
        </p:txBody>
      </p:sp>
      <p:sp>
        <p:nvSpPr>
          <p:cNvPr id="64" name="Text Box 47"/>
          <p:cNvSpPr txBox="1">
            <a:spLocks noChangeArrowheads="1"/>
          </p:cNvSpPr>
          <p:nvPr/>
        </p:nvSpPr>
        <p:spPr bwMode="auto">
          <a:xfrm>
            <a:off x="5796537" y="2082345"/>
            <a:ext cx="462471"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a:latin typeface="微软雅黑" pitchFamily="34" charset="-122"/>
                <a:ea typeface="微软雅黑" pitchFamily="34" charset="-122"/>
              </a:rPr>
              <a:t>字 </a:t>
            </a:r>
            <a:r>
              <a:rPr kumimoji="1" lang="en-US" altLang="zh-CN" sz="1100" b="1">
                <a:latin typeface="微软雅黑" pitchFamily="34" charset="-122"/>
                <a:ea typeface="微软雅黑" pitchFamily="34" charset="-122"/>
              </a:rPr>
              <a:t>n</a:t>
            </a:r>
          </a:p>
        </p:txBody>
      </p:sp>
      <p:grpSp>
        <p:nvGrpSpPr>
          <p:cNvPr id="65" name="Group 74"/>
          <p:cNvGrpSpPr>
            <a:grpSpLocks/>
          </p:cNvGrpSpPr>
          <p:nvPr/>
        </p:nvGrpSpPr>
        <p:grpSpPr bwMode="auto">
          <a:xfrm>
            <a:off x="5496480" y="2435203"/>
            <a:ext cx="1621537" cy="441073"/>
            <a:chOff x="3606" y="1875"/>
            <a:chExt cx="1578" cy="465"/>
          </a:xfrm>
        </p:grpSpPr>
        <p:sp>
          <p:nvSpPr>
            <p:cNvPr id="66" name="Rectangle 48"/>
            <p:cNvSpPr>
              <a:spLocks noChangeArrowheads="1"/>
            </p:cNvSpPr>
            <p:nvPr/>
          </p:nvSpPr>
          <p:spPr bwMode="auto">
            <a:xfrm>
              <a:off x="4333" y="2000"/>
              <a:ext cx="851" cy="188"/>
            </a:xfrm>
            <a:prstGeom prst="rect">
              <a:avLst/>
            </a:prstGeom>
            <a:solidFill>
              <a:srgbClr val="00B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a:solidFill>
                    <a:schemeClr val="bg1"/>
                  </a:solidFill>
                  <a:latin typeface="微软雅黑" pitchFamily="34" charset="-122"/>
                  <a:ea typeface="微软雅黑" pitchFamily="34" charset="-122"/>
                </a:rPr>
                <a:t>16 </a:t>
              </a:r>
              <a:r>
                <a:rPr kumimoji="1" lang="zh-CN" altLang="en-US" sz="1200" b="1">
                  <a:solidFill>
                    <a:schemeClr val="bg1"/>
                  </a:solidFill>
                  <a:latin typeface="微软雅黑" pitchFamily="34" charset="-122"/>
                  <a:ea typeface="微软雅黑" pitchFamily="34" charset="-122"/>
                </a:rPr>
                <a:t>位</a:t>
              </a:r>
            </a:p>
          </p:txBody>
        </p:sp>
        <p:sp>
          <p:nvSpPr>
            <p:cNvPr id="67" name="Text Box 49"/>
            <p:cNvSpPr txBox="1">
              <a:spLocks noChangeArrowheads="1"/>
            </p:cNvSpPr>
            <p:nvPr/>
          </p:nvSpPr>
          <p:spPr bwMode="auto">
            <a:xfrm>
              <a:off x="3606" y="1875"/>
              <a:ext cx="743" cy="4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反码算术</a:t>
              </a:r>
            </a:p>
            <a:p>
              <a:r>
                <a:rPr kumimoji="1" lang="zh-CN" altLang="en-US" sz="1100" b="1" dirty="0">
                  <a:latin typeface="微软雅黑" pitchFamily="34" charset="-122"/>
                  <a:ea typeface="微软雅黑" pitchFamily="34" charset="-122"/>
                </a:rPr>
                <a:t>运算求和</a:t>
              </a:r>
            </a:p>
          </p:txBody>
        </p:sp>
      </p:grpSp>
      <p:grpSp>
        <p:nvGrpSpPr>
          <p:cNvPr id="68" name="Group 76"/>
          <p:cNvGrpSpPr>
            <a:grpSpLocks/>
          </p:cNvGrpSpPr>
          <p:nvPr/>
        </p:nvGrpSpPr>
        <p:grpSpPr bwMode="auto">
          <a:xfrm>
            <a:off x="5820171" y="3098235"/>
            <a:ext cx="1297846" cy="264644"/>
            <a:chOff x="3921" y="2574"/>
            <a:chExt cx="1263" cy="279"/>
          </a:xfrm>
        </p:grpSpPr>
        <p:sp>
          <p:nvSpPr>
            <p:cNvPr id="69" name="Rectangle 50"/>
            <p:cNvSpPr>
              <a:spLocks noChangeArrowheads="1"/>
            </p:cNvSpPr>
            <p:nvPr/>
          </p:nvSpPr>
          <p:spPr bwMode="auto">
            <a:xfrm>
              <a:off x="4333" y="2619"/>
              <a:ext cx="851" cy="186"/>
            </a:xfrm>
            <a:prstGeom prst="rect">
              <a:avLst/>
            </a:prstGeom>
            <a:solidFill>
              <a:srgbClr val="CC00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16 </a:t>
              </a:r>
              <a:r>
                <a:rPr kumimoji="1" lang="zh-CN" altLang="en-US" sz="1200" b="1" dirty="0">
                  <a:solidFill>
                    <a:schemeClr val="bg1"/>
                  </a:solidFill>
                  <a:latin typeface="微软雅黑" pitchFamily="34" charset="-122"/>
                  <a:ea typeface="微软雅黑" pitchFamily="34" charset="-122"/>
                </a:rPr>
                <a:t>位</a:t>
              </a:r>
            </a:p>
          </p:txBody>
        </p:sp>
        <p:sp>
          <p:nvSpPr>
            <p:cNvPr id="70" name="Text Box 51"/>
            <p:cNvSpPr txBox="1">
              <a:spLocks noChangeArrowheads="1"/>
            </p:cNvSpPr>
            <p:nvPr/>
          </p:nvSpPr>
          <p:spPr bwMode="auto">
            <a:xfrm>
              <a:off x="3921" y="2574"/>
              <a:ext cx="458"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结果</a:t>
              </a:r>
            </a:p>
          </p:txBody>
        </p:sp>
      </p:grpSp>
      <p:sp>
        <p:nvSpPr>
          <p:cNvPr id="71" name="Text Box 53"/>
          <p:cNvSpPr txBox="1">
            <a:spLocks noChangeArrowheads="1"/>
          </p:cNvSpPr>
          <p:nvPr/>
        </p:nvSpPr>
        <p:spPr bwMode="auto">
          <a:xfrm>
            <a:off x="6472690" y="1519856"/>
            <a:ext cx="317088"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a:t>
            </a:r>
          </a:p>
        </p:txBody>
      </p:sp>
      <p:sp>
        <p:nvSpPr>
          <p:cNvPr id="72" name="Text Box 54"/>
          <p:cNvSpPr txBox="1">
            <a:spLocks noChangeArrowheads="1"/>
          </p:cNvSpPr>
          <p:nvPr/>
        </p:nvSpPr>
        <p:spPr bwMode="auto">
          <a:xfrm>
            <a:off x="6462414" y="1872715"/>
            <a:ext cx="317088"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a:t>
            </a:r>
          </a:p>
        </p:txBody>
      </p:sp>
      <p:sp>
        <p:nvSpPr>
          <p:cNvPr id="73" name="Line 55"/>
          <p:cNvSpPr>
            <a:spLocks noChangeShapeType="1"/>
          </p:cNvSpPr>
          <p:nvPr/>
        </p:nvSpPr>
        <p:spPr bwMode="auto">
          <a:xfrm>
            <a:off x="5763653" y="2377341"/>
            <a:ext cx="167291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nvGrpSpPr>
          <p:cNvPr id="74" name="Group 75"/>
          <p:cNvGrpSpPr>
            <a:grpSpLocks/>
          </p:cNvGrpSpPr>
          <p:nvPr/>
        </p:nvGrpSpPr>
        <p:grpSpPr bwMode="auto">
          <a:xfrm>
            <a:off x="6055489" y="2793753"/>
            <a:ext cx="701844" cy="299740"/>
            <a:chOff x="4150" y="2253"/>
            <a:chExt cx="683" cy="316"/>
          </a:xfrm>
        </p:grpSpPr>
        <p:sp>
          <p:nvSpPr>
            <p:cNvPr id="75" name="AutoShape 52"/>
            <p:cNvSpPr>
              <a:spLocks noChangeArrowheads="1"/>
            </p:cNvSpPr>
            <p:nvPr/>
          </p:nvSpPr>
          <p:spPr bwMode="auto">
            <a:xfrm>
              <a:off x="4733" y="2253"/>
              <a:ext cx="100" cy="316"/>
            </a:xfrm>
            <a:prstGeom prst="downArrow">
              <a:avLst>
                <a:gd name="adj1" fmla="val 50000"/>
                <a:gd name="adj2" fmla="val 79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6" name="Text Box 56"/>
            <p:cNvSpPr txBox="1">
              <a:spLocks noChangeArrowheads="1"/>
            </p:cNvSpPr>
            <p:nvPr/>
          </p:nvSpPr>
          <p:spPr bwMode="auto">
            <a:xfrm>
              <a:off x="4150" y="2264"/>
              <a:ext cx="60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取反码</a:t>
              </a:r>
            </a:p>
          </p:txBody>
        </p:sp>
      </p:grpSp>
      <p:sp>
        <p:nvSpPr>
          <p:cNvPr id="77" name="AutoShape 57"/>
          <p:cNvSpPr>
            <a:spLocks/>
          </p:cNvSpPr>
          <p:nvPr/>
        </p:nvSpPr>
        <p:spPr bwMode="auto">
          <a:xfrm>
            <a:off x="5635204" y="1150874"/>
            <a:ext cx="102759" cy="1154379"/>
          </a:xfrm>
          <a:prstGeom prst="leftBrace">
            <a:avLst>
              <a:gd name="adj1" fmla="val 101417"/>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zh-CN" sz="1200" b="1">
              <a:latin typeface="微软雅黑" pitchFamily="34" charset="-122"/>
              <a:ea typeface="微软雅黑" pitchFamily="34" charset="-122"/>
            </a:endParaRPr>
          </a:p>
        </p:txBody>
      </p:sp>
      <p:sp>
        <p:nvSpPr>
          <p:cNvPr id="78" name="Text Box 58"/>
          <p:cNvSpPr txBox="1">
            <a:spLocks noChangeArrowheads="1"/>
          </p:cNvSpPr>
          <p:nvPr/>
        </p:nvSpPr>
        <p:spPr bwMode="auto">
          <a:xfrm>
            <a:off x="4312696" y="3585789"/>
            <a:ext cx="763949"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数据部分</a:t>
            </a:r>
          </a:p>
        </p:txBody>
      </p:sp>
      <p:sp>
        <p:nvSpPr>
          <p:cNvPr id="79" name="AutoShape 59"/>
          <p:cNvSpPr>
            <a:spLocks/>
          </p:cNvSpPr>
          <p:nvPr/>
        </p:nvSpPr>
        <p:spPr bwMode="auto">
          <a:xfrm>
            <a:off x="5238555" y="3015712"/>
            <a:ext cx="103786" cy="443919"/>
          </a:xfrm>
          <a:prstGeom prst="rightBrace">
            <a:avLst>
              <a:gd name="adj1" fmla="val 38614"/>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0" name="Freeform 60"/>
          <p:cNvSpPr>
            <a:spLocks/>
          </p:cNvSpPr>
          <p:nvPr/>
        </p:nvSpPr>
        <p:spPr bwMode="auto">
          <a:xfrm>
            <a:off x="5342341" y="1727588"/>
            <a:ext cx="293890" cy="1509135"/>
          </a:xfrm>
          <a:custGeom>
            <a:avLst/>
            <a:gdLst>
              <a:gd name="T0" fmla="*/ 0 w 464"/>
              <a:gd name="T1" fmla="*/ 1624 h 1624"/>
              <a:gd name="T2" fmla="*/ 56 w 464"/>
              <a:gd name="T3" fmla="*/ 1624 h 1624"/>
              <a:gd name="T4" fmla="*/ 56 w 464"/>
              <a:gd name="T5" fmla="*/ 0 h 1624"/>
              <a:gd name="T6" fmla="*/ 464 w 464"/>
              <a:gd name="T7" fmla="*/ 0 h 1624"/>
            </a:gdLst>
            <a:ahLst/>
            <a:cxnLst>
              <a:cxn ang="0">
                <a:pos x="T0" y="T1"/>
              </a:cxn>
              <a:cxn ang="0">
                <a:pos x="T2" y="T3"/>
              </a:cxn>
              <a:cxn ang="0">
                <a:pos x="T4" y="T5"/>
              </a:cxn>
              <a:cxn ang="0">
                <a:pos x="T6" y="T7"/>
              </a:cxn>
            </a:cxnLst>
            <a:rect l="0" t="0" r="r" b="b"/>
            <a:pathLst>
              <a:path w="464" h="1624">
                <a:moveTo>
                  <a:pt x="0" y="1624"/>
                </a:moveTo>
                <a:lnTo>
                  <a:pt x="56" y="1624"/>
                </a:lnTo>
                <a:lnTo>
                  <a:pt x="56" y="0"/>
                </a:lnTo>
                <a:lnTo>
                  <a:pt x="464" y="0"/>
                </a:lnTo>
              </a:path>
            </a:pathLst>
          </a:custGeom>
          <a:noFill/>
          <a:ln w="19050" cmpd="sng">
            <a:solidFill>
              <a:schemeClr val="tx1"/>
            </a:solidFill>
            <a:round/>
            <a:headEnd type="none" w="med" len="me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nvGrpSpPr>
          <p:cNvPr id="81" name="Group 77"/>
          <p:cNvGrpSpPr>
            <a:grpSpLocks/>
          </p:cNvGrpSpPr>
          <p:nvPr/>
        </p:nvGrpSpPr>
        <p:grpSpPr bwMode="auto">
          <a:xfrm>
            <a:off x="5944509" y="3381851"/>
            <a:ext cx="1603040" cy="829976"/>
            <a:chOff x="4042" y="2873"/>
            <a:chExt cx="1560" cy="875"/>
          </a:xfrm>
        </p:grpSpPr>
        <p:sp>
          <p:nvSpPr>
            <p:cNvPr id="82" name="AutoShape 61"/>
            <p:cNvSpPr>
              <a:spLocks noChangeArrowheads="1"/>
            </p:cNvSpPr>
            <p:nvPr/>
          </p:nvSpPr>
          <p:spPr bwMode="auto">
            <a:xfrm>
              <a:off x="4742" y="2873"/>
              <a:ext cx="101" cy="316"/>
            </a:xfrm>
            <a:prstGeom prst="downArrow">
              <a:avLst>
                <a:gd name="adj1" fmla="val 50000"/>
                <a:gd name="adj2" fmla="val 78218"/>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3" name="Rectangle 62"/>
            <p:cNvSpPr>
              <a:spLocks noChangeArrowheads="1"/>
            </p:cNvSpPr>
            <p:nvPr/>
          </p:nvSpPr>
          <p:spPr bwMode="auto">
            <a:xfrm>
              <a:off x="4042" y="3235"/>
              <a:ext cx="1560" cy="513"/>
            </a:xfrm>
            <a:prstGeom prst="rect">
              <a:avLst/>
            </a:prstGeom>
            <a:solidFill>
              <a:srgbClr val="00FFFF"/>
            </a:solidFill>
            <a:ln w="12700">
              <a:solidFill>
                <a:srgbClr val="333399"/>
              </a:solidFill>
              <a:miter lim="800000"/>
              <a:headEnd/>
              <a:tailEnd/>
            </a:ln>
            <a:effectLst/>
          </p:spPr>
          <p:txBody>
            <a:bodyPr wrap="none" anchor="ctr"/>
            <a:lstStyle/>
            <a:p>
              <a:r>
                <a:rPr kumimoji="1" lang="zh-CN" altLang="en-US" sz="1200" b="1" dirty="0">
                  <a:latin typeface="微软雅黑" pitchFamily="34" charset="-122"/>
                  <a:ea typeface="微软雅黑" pitchFamily="34" charset="-122"/>
                </a:rPr>
                <a:t>若结果为 </a:t>
              </a:r>
              <a:r>
                <a:rPr kumimoji="1" lang="en-US" altLang="zh-CN" sz="1200" b="1" dirty="0">
                  <a:latin typeface="微软雅黑" pitchFamily="34" charset="-122"/>
                  <a:ea typeface="微软雅黑" pitchFamily="34" charset="-122"/>
                </a:rPr>
                <a:t>0, </a:t>
              </a:r>
              <a:r>
                <a:rPr kumimoji="1" lang="zh-CN" altLang="en-US" sz="1200" b="1" dirty="0">
                  <a:latin typeface="微软雅黑" pitchFamily="34" charset="-122"/>
                  <a:ea typeface="微软雅黑" pitchFamily="34" charset="-122"/>
                </a:rPr>
                <a:t>则保留；</a:t>
              </a:r>
            </a:p>
            <a:p>
              <a:r>
                <a:rPr kumimoji="1" lang="zh-CN" altLang="en-US" sz="1200" b="1" dirty="0">
                  <a:latin typeface="微软雅黑" pitchFamily="34" charset="-122"/>
                  <a:ea typeface="微软雅黑" pitchFamily="34" charset="-122"/>
                </a:rPr>
                <a:t>否则，丢弃该数据报</a:t>
              </a:r>
            </a:p>
          </p:txBody>
        </p:sp>
      </p:grpSp>
      <p:grpSp>
        <p:nvGrpSpPr>
          <p:cNvPr id="84" name="Group 72"/>
          <p:cNvGrpSpPr>
            <a:grpSpLocks/>
          </p:cNvGrpSpPr>
          <p:nvPr/>
        </p:nvGrpSpPr>
        <p:grpSpPr bwMode="auto">
          <a:xfrm>
            <a:off x="2340751" y="3577253"/>
            <a:ext cx="1907207" cy="461942"/>
            <a:chOff x="535" y="3079"/>
            <a:chExt cx="1856" cy="487"/>
          </a:xfrm>
        </p:grpSpPr>
        <p:sp>
          <p:nvSpPr>
            <p:cNvPr id="85" name="Text Box 63"/>
            <p:cNvSpPr txBox="1">
              <a:spLocks noChangeArrowheads="1"/>
            </p:cNvSpPr>
            <p:nvPr/>
          </p:nvSpPr>
          <p:spPr bwMode="auto">
            <a:xfrm>
              <a:off x="535" y="3079"/>
              <a:ext cx="1528" cy="48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FF"/>
                  </a:solidFill>
                  <a:latin typeface="微软雅黑" pitchFamily="34" charset="-122"/>
                  <a:ea typeface="微软雅黑" pitchFamily="34" charset="-122"/>
                </a:rPr>
                <a:t>数据部分</a:t>
              </a:r>
            </a:p>
            <a:p>
              <a:pPr algn="ctr"/>
              <a:r>
                <a:rPr kumimoji="1" lang="zh-CN" altLang="en-US" sz="1200" b="1" dirty="0">
                  <a:solidFill>
                    <a:srgbClr val="0000FF"/>
                  </a:solidFill>
                  <a:latin typeface="微软雅黑" pitchFamily="34" charset="-122"/>
                  <a:ea typeface="微软雅黑" pitchFamily="34" charset="-122"/>
                </a:rPr>
                <a:t>不参与检验和的计算</a:t>
              </a:r>
            </a:p>
          </p:txBody>
        </p:sp>
        <p:sp>
          <p:nvSpPr>
            <p:cNvPr id="86" name="Line 64"/>
            <p:cNvSpPr>
              <a:spLocks noChangeShapeType="1"/>
            </p:cNvSpPr>
            <p:nvPr/>
          </p:nvSpPr>
          <p:spPr bwMode="auto">
            <a:xfrm>
              <a:off x="2020" y="3266"/>
              <a:ext cx="371" cy="0"/>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2" name="矩形 1"/>
          <p:cNvSpPr/>
          <p:nvPr/>
        </p:nvSpPr>
        <p:spPr>
          <a:xfrm>
            <a:off x="1064300" y="4362985"/>
            <a:ext cx="6777000" cy="338554"/>
          </a:xfrm>
          <a:prstGeom prst="rect">
            <a:avLst/>
          </a:prstGeom>
        </p:spPr>
        <p:txBody>
          <a:bodyPr wrap="square">
            <a:spAutoFit/>
          </a:bodyPr>
          <a:lstStyle/>
          <a:p>
            <a:pPr algn="ctr"/>
            <a:r>
              <a:rPr lang="zh-CN" altLang="en-US" sz="1600" b="1" dirty="0">
                <a:latin typeface="微软雅黑" panose="020B0503020204020204" pitchFamily="34" charset="-122"/>
                <a:ea typeface="微软雅黑" panose="020B0503020204020204" pitchFamily="34" charset="-122"/>
              </a:rPr>
              <a:t>数据报每经过一个路由器，路由器都要重新计算一下首部检验和</a:t>
            </a:r>
          </a:p>
        </p:txBody>
      </p:sp>
    </p:spTree>
    <p:extLst>
      <p:ext uri="{BB962C8B-B14F-4D97-AF65-F5344CB8AC3E}">
        <p14:creationId xmlns:p14="http://schemas.microsoft.com/office/powerpoint/2010/main" val="351429422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2000" fill="hold" nodeType="clickEffect">
                                  <p:stCondLst>
                                    <p:cond delay="0"/>
                                  </p:stCondLst>
                                  <p:childTnLst>
                                    <p:anim calcmode="discrete" valueType="str">
                                      <p:cBhvr>
                                        <p:cTn id="6" dur="1000" fill="hold"/>
                                        <p:tgtEl>
                                          <p:spTgt spid="22"/>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2000" fill="hold" nodeType="clickEffect">
                                  <p:stCondLst>
                                    <p:cond delay="0"/>
                                  </p:stCondLst>
                                  <p:childTnLst>
                                    <p:anim calcmode="discrete" valueType="str">
                                      <p:cBhvr>
                                        <p:cTn id="10" dur="1000" fill="hold"/>
                                        <p:tgtEl>
                                          <p:spTgt spid="84"/>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35" presetClass="emph" presetSubtype="0" repeatCount="2000" fill="hold" nodeType="clickEffect">
                                  <p:stCondLst>
                                    <p:cond delay="0"/>
                                  </p:stCondLst>
                                  <p:childTnLst>
                                    <p:anim calcmode="discrete" valueType="str">
                                      <p:cBhvr>
                                        <p:cTn id="14" dur="1000" fill="hold"/>
                                        <p:tgtEl>
                                          <p:spTgt spid="27"/>
                                        </p:tgtEl>
                                        <p:attrNameLst>
                                          <p:attrName>style.visibility</p:attrName>
                                        </p:attrNameLst>
                                      </p:cBhvr>
                                      <p:tavLst>
                                        <p:tav tm="0">
                                          <p:val>
                                            <p:strVal val="hidden"/>
                                          </p:val>
                                        </p:tav>
                                        <p:tav tm="50000">
                                          <p:val>
                                            <p:strVal val="visible"/>
                                          </p:val>
                                        </p:tav>
                                      </p:tavLst>
                                    </p:anim>
                                  </p:childTnLst>
                                </p:cTn>
                              </p:par>
                            </p:childTnLst>
                          </p:cTn>
                        </p:par>
                      </p:childTnLst>
                    </p:cTn>
                  </p:par>
                  <p:par>
                    <p:cTn id="15" fill="hold">
                      <p:stCondLst>
                        <p:cond delay="indefinite"/>
                      </p:stCondLst>
                      <p:childTnLst>
                        <p:par>
                          <p:cTn id="16" fill="hold">
                            <p:stCondLst>
                              <p:cond delay="0"/>
                            </p:stCondLst>
                            <p:childTnLst>
                              <p:par>
                                <p:cTn id="17" presetID="35" presetClass="emph" presetSubtype="0" repeatCount="2000" fill="hold" nodeType="clickEffect">
                                  <p:stCondLst>
                                    <p:cond delay="0"/>
                                  </p:stCondLst>
                                  <p:childTnLst>
                                    <p:anim calcmode="discrete" valueType="str">
                                      <p:cBhvr>
                                        <p:cTn id="18" dur="1000" fill="hold"/>
                                        <p:tgtEl>
                                          <p:spTgt spid="33"/>
                                        </p:tgtEl>
                                        <p:attrNameLst>
                                          <p:attrName>style.visibility</p:attrName>
                                        </p:attrNameLst>
                                      </p:cBhvr>
                                      <p:tavLst>
                                        <p:tav tm="0">
                                          <p:val>
                                            <p:strVal val="hidden"/>
                                          </p:val>
                                        </p:tav>
                                        <p:tav tm="50000">
                                          <p:val>
                                            <p:strVal val="visible"/>
                                          </p:val>
                                        </p:tav>
                                      </p:tavLst>
                                    </p:anim>
                                  </p:childTnLst>
                                </p:cTn>
                              </p:par>
                            </p:childTnLst>
                          </p:cTn>
                        </p:par>
                      </p:childTnLst>
                    </p:cTn>
                  </p:par>
                  <p:par>
                    <p:cTn id="19" fill="hold">
                      <p:stCondLst>
                        <p:cond delay="indefinite"/>
                      </p:stCondLst>
                      <p:childTnLst>
                        <p:par>
                          <p:cTn id="20" fill="hold">
                            <p:stCondLst>
                              <p:cond delay="0"/>
                            </p:stCondLst>
                            <p:childTnLst>
                              <p:par>
                                <p:cTn id="21" presetID="35" presetClass="emph" presetSubtype="0" repeatCount="2000" fill="hold" nodeType="clickEffect">
                                  <p:stCondLst>
                                    <p:cond delay="0"/>
                                  </p:stCondLst>
                                  <p:childTnLst>
                                    <p:anim calcmode="discrete" valueType="str">
                                      <p:cBhvr>
                                        <p:cTn id="22" dur="1000" fill="hold"/>
                                        <p:tgtEl>
                                          <p:spTgt spid="52"/>
                                        </p:tgtEl>
                                        <p:attrNameLst>
                                          <p:attrName>style.visibility</p:attrName>
                                        </p:attrNameLst>
                                      </p:cBhvr>
                                      <p:tavLst>
                                        <p:tav tm="0">
                                          <p:val>
                                            <p:strVal val="hidden"/>
                                          </p:val>
                                        </p:tav>
                                        <p:tav tm="50000">
                                          <p:val>
                                            <p:strVal val="visible"/>
                                          </p:val>
                                        </p:tav>
                                      </p:tavLst>
                                    </p:anim>
                                  </p:childTnLst>
                                </p:cTn>
                              </p:par>
                            </p:childTnLst>
                          </p:cTn>
                        </p:par>
                        <p:par>
                          <p:cTn id="23" fill="hold">
                            <p:stCondLst>
                              <p:cond delay="2000"/>
                            </p:stCondLst>
                            <p:childTnLst>
                              <p:par>
                                <p:cTn id="24" presetID="1" presetClass="entr" presetSubtype="0" fill="hold" grpId="0" nodeType="afterEffect">
                                  <p:stCondLst>
                                    <p:cond delay="0"/>
                                  </p:stCondLst>
                                  <p:childTnLst>
                                    <p:set>
                                      <p:cBhvr>
                                        <p:cTn id="25" dur="1" fill="hold">
                                          <p:stCondLst>
                                            <p:cond delay="0"/>
                                          </p:stCondLst>
                                        </p:cTn>
                                        <p:tgtEl>
                                          <p:spTgt spid="55"/>
                                        </p:tgtEl>
                                        <p:attrNameLst>
                                          <p:attrName>style.visibility</p:attrName>
                                        </p:attrNameLst>
                                      </p:cBhvr>
                                      <p:to>
                                        <p:strVal val="visible"/>
                                      </p:to>
                                    </p:set>
                                  </p:childTnLst>
                                </p:cTn>
                              </p:par>
                            </p:childTnLst>
                          </p:cTn>
                        </p:par>
                        <p:par>
                          <p:cTn id="26" fill="hold">
                            <p:stCondLst>
                              <p:cond delay="2000"/>
                            </p:stCondLst>
                            <p:childTnLst>
                              <p:par>
                                <p:cTn id="27" presetID="22" presetClass="entr" presetSubtype="8" fill="hold" grpId="1" nodeType="afterEffect">
                                  <p:stCondLst>
                                    <p:cond delay="0"/>
                                  </p:stCondLst>
                                  <p:childTnLst>
                                    <p:set>
                                      <p:cBhvr>
                                        <p:cTn id="28" dur="1" fill="hold">
                                          <p:stCondLst>
                                            <p:cond delay="0"/>
                                          </p:stCondLst>
                                        </p:cTn>
                                        <p:tgtEl>
                                          <p:spTgt spid="55"/>
                                        </p:tgtEl>
                                        <p:attrNameLst>
                                          <p:attrName>style.visibility</p:attrName>
                                        </p:attrNameLst>
                                      </p:cBhvr>
                                      <p:to>
                                        <p:strVal val="visible"/>
                                      </p:to>
                                    </p:set>
                                    <p:animEffect transition="in" filter="wipe(left)">
                                      <p:cBhvr>
                                        <p:cTn id="29" dur="1000"/>
                                        <p:tgtEl>
                                          <p:spTgt spid="55"/>
                                        </p:tgtEl>
                                      </p:cBhvr>
                                    </p:animEffect>
                                  </p:childTnLst>
                                </p:cTn>
                              </p:par>
                            </p:childTnLst>
                          </p:cTn>
                        </p:par>
                      </p:childTnLst>
                    </p:cTn>
                  </p:par>
                  <p:par>
                    <p:cTn id="30" fill="hold">
                      <p:stCondLst>
                        <p:cond delay="indefinite"/>
                      </p:stCondLst>
                      <p:childTnLst>
                        <p:par>
                          <p:cTn id="31" fill="hold">
                            <p:stCondLst>
                              <p:cond delay="0"/>
                            </p:stCondLst>
                            <p:childTnLst>
                              <p:par>
                                <p:cTn id="32" presetID="35" presetClass="emph" presetSubtype="0" repeatCount="2000" fill="hold" nodeType="clickEffect">
                                  <p:stCondLst>
                                    <p:cond delay="0"/>
                                  </p:stCondLst>
                                  <p:childTnLst>
                                    <p:anim calcmode="discrete" valueType="str">
                                      <p:cBhvr>
                                        <p:cTn id="33" dur="1000" fill="hold"/>
                                        <p:tgtEl>
                                          <p:spTgt spid="60"/>
                                        </p:tgtEl>
                                        <p:attrNameLst>
                                          <p:attrName>style.visibility</p:attrName>
                                        </p:attrNameLst>
                                      </p:cBhvr>
                                      <p:tavLst>
                                        <p:tav tm="0">
                                          <p:val>
                                            <p:strVal val="hidden"/>
                                          </p:val>
                                        </p:tav>
                                        <p:tav tm="50000">
                                          <p:val>
                                            <p:strVal val="visible"/>
                                          </p:val>
                                        </p:tav>
                                      </p:tavLst>
                                    </p:anim>
                                  </p:childTnLst>
                                </p:cTn>
                              </p:par>
                            </p:childTnLst>
                          </p:cTn>
                        </p:par>
                      </p:childTnLst>
                    </p:cTn>
                  </p:par>
                  <p:par>
                    <p:cTn id="34" fill="hold">
                      <p:stCondLst>
                        <p:cond delay="indefinite"/>
                      </p:stCondLst>
                      <p:childTnLst>
                        <p:par>
                          <p:cTn id="35" fill="hold">
                            <p:stCondLst>
                              <p:cond delay="0"/>
                            </p:stCondLst>
                            <p:childTnLst>
                              <p:par>
                                <p:cTn id="36" presetID="35" presetClass="emph" presetSubtype="0" repeatCount="2000" fill="hold" nodeType="clickEffect">
                                  <p:stCondLst>
                                    <p:cond delay="0"/>
                                  </p:stCondLst>
                                  <p:childTnLst>
                                    <p:anim calcmode="discrete" valueType="str">
                                      <p:cBhvr>
                                        <p:cTn id="37" dur="1000" fill="hold"/>
                                        <p:tgtEl>
                                          <p:spTgt spid="65"/>
                                        </p:tgtEl>
                                        <p:attrNameLst>
                                          <p:attrName>style.visibility</p:attrName>
                                        </p:attrNameLst>
                                      </p:cBhvr>
                                      <p:tavLst>
                                        <p:tav tm="0">
                                          <p:val>
                                            <p:strVal val="hidden"/>
                                          </p:val>
                                        </p:tav>
                                        <p:tav tm="50000">
                                          <p:val>
                                            <p:strVal val="visible"/>
                                          </p:val>
                                        </p:tav>
                                      </p:tavLst>
                                    </p:anim>
                                  </p:childTnLst>
                                </p:cTn>
                              </p:par>
                            </p:childTnLst>
                          </p:cTn>
                        </p:par>
                      </p:childTnLst>
                    </p:cTn>
                  </p:par>
                  <p:par>
                    <p:cTn id="38" fill="hold">
                      <p:stCondLst>
                        <p:cond delay="indefinite"/>
                      </p:stCondLst>
                      <p:childTnLst>
                        <p:par>
                          <p:cTn id="39" fill="hold">
                            <p:stCondLst>
                              <p:cond delay="0"/>
                            </p:stCondLst>
                            <p:childTnLst>
                              <p:par>
                                <p:cTn id="40" presetID="35" presetClass="emph" presetSubtype="0" repeatCount="2000" fill="hold" nodeType="clickEffect">
                                  <p:stCondLst>
                                    <p:cond delay="0"/>
                                  </p:stCondLst>
                                  <p:childTnLst>
                                    <p:anim calcmode="discrete" valueType="str">
                                      <p:cBhvr>
                                        <p:cTn id="41" dur="1000" fill="hold"/>
                                        <p:tgtEl>
                                          <p:spTgt spid="74"/>
                                        </p:tgtEl>
                                        <p:attrNameLst>
                                          <p:attrName>style.visibility</p:attrName>
                                        </p:attrNameLst>
                                      </p:cBhvr>
                                      <p:tavLst>
                                        <p:tav tm="0">
                                          <p:val>
                                            <p:strVal val="hidden"/>
                                          </p:val>
                                        </p:tav>
                                        <p:tav tm="50000">
                                          <p:val>
                                            <p:strVal val="visible"/>
                                          </p:val>
                                        </p:tav>
                                      </p:tavLst>
                                    </p:anim>
                                  </p:childTnLst>
                                </p:cTn>
                              </p:par>
                            </p:childTnLst>
                          </p:cTn>
                        </p:par>
                      </p:childTnLst>
                    </p:cTn>
                  </p:par>
                  <p:par>
                    <p:cTn id="42" fill="hold">
                      <p:stCondLst>
                        <p:cond delay="indefinite"/>
                      </p:stCondLst>
                      <p:childTnLst>
                        <p:par>
                          <p:cTn id="43" fill="hold">
                            <p:stCondLst>
                              <p:cond delay="0"/>
                            </p:stCondLst>
                            <p:childTnLst>
                              <p:par>
                                <p:cTn id="44" presetID="35" presetClass="emph" presetSubtype="0" repeatCount="2000" fill="hold" nodeType="clickEffect">
                                  <p:stCondLst>
                                    <p:cond delay="0"/>
                                  </p:stCondLst>
                                  <p:childTnLst>
                                    <p:anim calcmode="discrete" valueType="str">
                                      <p:cBhvr>
                                        <p:cTn id="45" dur="1000" fill="hold"/>
                                        <p:tgtEl>
                                          <p:spTgt spid="68"/>
                                        </p:tgtEl>
                                        <p:attrNameLst>
                                          <p:attrName>style.visibility</p:attrName>
                                        </p:attrNameLst>
                                      </p:cBhvr>
                                      <p:tavLst>
                                        <p:tav tm="0">
                                          <p:val>
                                            <p:strVal val="hidden"/>
                                          </p:val>
                                        </p:tav>
                                        <p:tav tm="50000">
                                          <p:val>
                                            <p:strVal val="visible"/>
                                          </p:val>
                                        </p:tav>
                                      </p:tavLst>
                                    </p:anim>
                                  </p:childTnLst>
                                </p:cTn>
                              </p:par>
                            </p:childTnLst>
                          </p:cTn>
                        </p:par>
                      </p:childTnLst>
                    </p:cTn>
                  </p:par>
                  <p:par>
                    <p:cTn id="46" fill="hold">
                      <p:stCondLst>
                        <p:cond delay="indefinite"/>
                      </p:stCondLst>
                      <p:childTnLst>
                        <p:par>
                          <p:cTn id="47" fill="hold">
                            <p:stCondLst>
                              <p:cond delay="0"/>
                            </p:stCondLst>
                            <p:childTnLst>
                              <p:par>
                                <p:cTn id="48" presetID="35" presetClass="emph" presetSubtype="0" repeatCount="2000" fill="hold" nodeType="clickEffect">
                                  <p:stCondLst>
                                    <p:cond delay="0"/>
                                  </p:stCondLst>
                                  <p:childTnLst>
                                    <p:anim calcmode="discrete" valueType="str">
                                      <p:cBhvr>
                                        <p:cTn id="49" dur="1000" fill="hold"/>
                                        <p:tgtEl>
                                          <p:spTgt spid="8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5" grpId="1" animBg="1"/>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20"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21" name="圆角矩形 20"/>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2" name="组合 21"/>
          <p:cNvGrpSpPr/>
          <p:nvPr/>
        </p:nvGrpSpPr>
        <p:grpSpPr>
          <a:xfrm>
            <a:off x="1637153" y="1084892"/>
            <a:ext cx="5962309" cy="2192261"/>
            <a:chOff x="1392642" y="1665825"/>
            <a:chExt cx="5962309" cy="2192261"/>
          </a:xfrm>
        </p:grpSpPr>
        <p:sp>
          <p:nvSpPr>
            <p:cNvPr id="23"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25"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26"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27"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8"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9"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0"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1"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2"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3"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4"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6"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7"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8"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9"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40"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41"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42"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43"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44"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45"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46"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47"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48"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49"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50"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51"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52"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53"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54"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55"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56"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57"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58"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59"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60" name="Group 46"/>
            <p:cNvGrpSpPr>
              <a:grpSpLocks/>
            </p:cNvGrpSpPr>
            <p:nvPr/>
          </p:nvGrpSpPr>
          <p:grpSpPr bwMode="auto">
            <a:xfrm>
              <a:off x="2158338" y="3299988"/>
              <a:ext cx="83917" cy="41064"/>
              <a:chOff x="833" y="3024"/>
              <a:chExt cx="78" cy="51"/>
            </a:xfrm>
          </p:grpSpPr>
          <p:sp>
            <p:nvSpPr>
              <p:cNvPr id="70"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1"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2"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61" name="Group 50"/>
            <p:cNvGrpSpPr>
              <a:grpSpLocks/>
            </p:cNvGrpSpPr>
            <p:nvPr/>
          </p:nvGrpSpPr>
          <p:grpSpPr bwMode="auto">
            <a:xfrm>
              <a:off x="7169086" y="3305588"/>
              <a:ext cx="83917" cy="39198"/>
              <a:chOff x="5432" y="3030"/>
              <a:chExt cx="78" cy="51"/>
            </a:xfrm>
          </p:grpSpPr>
          <p:sp>
            <p:nvSpPr>
              <p:cNvPr id="67"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8"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9"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62"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63"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64" name="Group 94"/>
            <p:cNvGrpSpPr>
              <a:grpSpLocks/>
            </p:cNvGrpSpPr>
            <p:nvPr/>
          </p:nvGrpSpPr>
          <p:grpSpPr bwMode="auto">
            <a:xfrm>
              <a:off x="1392642" y="1885145"/>
              <a:ext cx="336679" cy="1566034"/>
              <a:chOff x="-127" y="845"/>
              <a:chExt cx="333" cy="1678"/>
            </a:xfrm>
          </p:grpSpPr>
          <p:sp>
            <p:nvSpPr>
              <p:cNvPr id="65"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66"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73" name="矩形 72"/>
          <p:cNvSpPr/>
          <p:nvPr/>
        </p:nvSpPr>
        <p:spPr>
          <a:xfrm>
            <a:off x="2442280" y="3469278"/>
            <a:ext cx="5017824" cy="338554"/>
          </a:xfrm>
          <a:prstGeom prst="rect">
            <a:avLst/>
          </a:prstGeom>
          <a:solidFill>
            <a:srgbClr val="0000CC"/>
          </a:solidFill>
          <a:ln w="9525">
            <a:noFill/>
            <a:miter lim="800000"/>
            <a:headEnd/>
            <a:tailEnd/>
          </a:ln>
          <a:effectLst/>
        </p:spPr>
        <p:txBody>
          <a:bodyPr wrap="square">
            <a:spAutoFit/>
          </a:bodyPr>
          <a:lstStyle/>
          <a:p>
            <a:pPr algn="ctr"/>
            <a:r>
              <a:rPr lang="zh-CN" altLang="en-US" sz="1600" b="1" dirty="0">
                <a:solidFill>
                  <a:schemeClr val="bg1"/>
                </a:solidFill>
                <a:latin typeface="微软雅黑" pitchFamily="34" charset="-122"/>
                <a:ea typeface="微软雅黑" pitchFamily="34" charset="-122"/>
              </a:rPr>
              <a:t>源地址和目的地址都各占 </a:t>
            </a:r>
            <a:r>
              <a:rPr lang="en-US" altLang="zh-CN" sz="1600" b="1" dirty="0">
                <a:solidFill>
                  <a:schemeClr val="bg1"/>
                </a:solidFill>
                <a:latin typeface="微软雅黑" pitchFamily="34" charset="-122"/>
                <a:ea typeface="微软雅黑" pitchFamily="34" charset="-122"/>
              </a:rPr>
              <a:t>32 </a:t>
            </a:r>
            <a:r>
              <a:rPr lang="zh-CN" altLang="en-US" sz="1600" b="1" dirty="0">
                <a:solidFill>
                  <a:schemeClr val="bg1"/>
                </a:solidFill>
                <a:latin typeface="微软雅黑" pitchFamily="34" charset="-122"/>
                <a:ea typeface="微软雅黑" pitchFamily="34" charset="-122"/>
              </a:rPr>
              <a:t>位。</a:t>
            </a:r>
          </a:p>
        </p:txBody>
      </p:sp>
      <p:sp>
        <p:nvSpPr>
          <p:cNvPr id="74" name="Rectangle 92"/>
          <p:cNvSpPr>
            <a:spLocks noChangeArrowheads="1"/>
          </p:cNvSpPr>
          <p:nvPr/>
        </p:nvSpPr>
        <p:spPr bwMode="auto">
          <a:xfrm flipV="1">
            <a:off x="2454413" y="2114646"/>
            <a:ext cx="5005691" cy="52185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16556286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74"/>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7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 grpId="0" animBg="1"/>
      <p:bldP spid="74" grpId="0" animBg="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555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2809070" y="572346"/>
            <a:ext cx="354456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2.  IP </a:t>
            </a:r>
            <a:r>
              <a:rPr lang="zh-CN" altLang="en-US" sz="2000" b="1" dirty="0">
                <a:solidFill>
                  <a:schemeClr val="bg1"/>
                </a:solidFill>
                <a:latin typeface="微软雅黑" pitchFamily="34" charset="-122"/>
                <a:ea typeface="微软雅黑" pitchFamily="34" charset="-122"/>
              </a:rPr>
              <a:t>数据报首部的可变部分</a:t>
            </a:r>
          </a:p>
        </p:txBody>
      </p:sp>
      <p:sp>
        <p:nvSpPr>
          <p:cNvPr id="7" name="Rectangle 68"/>
          <p:cNvSpPr>
            <a:spLocks noChangeArrowheads="1"/>
          </p:cNvSpPr>
          <p:nvPr/>
        </p:nvSpPr>
        <p:spPr bwMode="auto">
          <a:xfrm>
            <a:off x="448327" y="943894"/>
            <a:ext cx="8306380"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首部的可变部分就是一个选项字段，用来支持排错、测量以及安全等措施，内容很丰富。</a:t>
            </a:r>
          </a:p>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长度可变：</a:t>
            </a:r>
            <a:r>
              <a:rPr lang="zh-CN" altLang="en-US" sz="2000" b="1" dirty="0">
                <a:solidFill>
                  <a:srgbClr val="0000FF"/>
                </a:solidFill>
                <a:latin typeface="微软雅黑" pitchFamily="34" charset="-122"/>
                <a:ea typeface="微软雅黑" pitchFamily="34" charset="-122"/>
              </a:rPr>
              <a:t>从 </a:t>
            </a:r>
            <a:r>
              <a:rPr lang="en-US" altLang="zh-CN" sz="2000" b="1" dirty="0">
                <a:solidFill>
                  <a:srgbClr val="0000FF"/>
                </a:solidFill>
                <a:latin typeface="微软雅黑" pitchFamily="34" charset="-122"/>
                <a:ea typeface="微软雅黑" pitchFamily="34" charset="-122"/>
              </a:rPr>
              <a:t>1 </a:t>
            </a:r>
            <a:r>
              <a:rPr lang="zh-CN" altLang="en-US" sz="2000" b="1" dirty="0">
                <a:solidFill>
                  <a:srgbClr val="0000FF"/>
                </a:solidFill>
                <a:latin typeface="微软雅黑" pitchFamily="34" charset="-122"/>
                <a:ea typeface="微软雅黑" pitchFamily="34" charset="-122"/>
              </a:rPr>
              <a:t>个字节到 </a:t>
            </a:r>
            <a:r>
              <a:rPr lang="en-US" altLang="zh-CN" sz="2000" b="1" dirty="0">
                <a:solidFill>
                  <a:srgbClr val="0000FF"/>
                </a:solidFill>
                <a:latin typeface="微软雅黑" pitchFamily="34" charset="-122"/>
                <a:ea typeface="微软雅黑" pitchFamily="34" charset="-122"/>
              </a:rPr>
              <a:t>40 </a:t>
            </a:r>
            <a:r>
              <a:rPr lang="zh-CN" altLang="en-US" sz="2000" b="1" dirty="0">
                <a:solidFill>
                  <a:srgbClr val="0000FF"/>
                </a:solidFill>
                <a:latin typeface="微软雅黑" pitchFamily="34" charset="-122"/>
                <a:ea typeface="微软雅黑" pitchFamily="34" charset="-122"/>
              </a:rPr>
              <a:t>个字节不等</a:t>
            </a:r>
            <a:r>
              <a:rPr lang="zh-CN" altLang="en-US" sz="2000" b="1" dirty="0">
                <a:latin typeface="微软雅黑" pitchFamily="34" charset="-122"/>
                <a:ea typeface="微软雅黑" pitchFamily="34" charset="-122"/>
              </a:rPr>
              <a:t>，取决于所选择的项目。</a:t>
            </a:r>
          </a:p>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增加了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数据报的功能，但这同时也使得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数据报的首部长度成为可变的，增加了每一个路由器处理数据报的开销。</a:t>
            </a:r>
          </a:p>
          <a:p>
            <a:pPr marL="268288" indent="-268288">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实际上这些选项很少被使用。</a:t>
            </a:r>
          </a:p>
        </p:txBody>
      </p:sp>
    </p:spTree>
    <p:extLst>
      <p:ext uri="{BB962C8B-B14F-4D97-AF65-F5344CB8AC3E}">
        <p14:creationId xmlns:p14="http://schemas.microsoft.com/office/powerpoint/2010/main" val="236387064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9"/>
          <p:cNvSpPr>
            <a:spLocks noChangeArrowheads="1"/>
          </p:cNvSpPr>
          <p:nvPr/>
        </p:nvSpPr>
        <p:spPr bwMode="auto">
          <a:xfrm>
            <a:off x="2629135" y="1295097"/>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2" name="Rectangle 10"/>
          <p:cNvSpPr>
            <a:spLocks noChangeArrowheads="1"/>
          </p:cNvSpPr>
          <p:nvPr/>
        </p:nvSpPr>
        <p:spPr bwMode="auto">
          <a:xfrm>
            <a:off x="2629135" y="1901522"/>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3" name="Rectangle 11"/>
          <p:cNvSpPr>
            <a:spLocks noChangeArrowheads="1"/>
          </p:cNvSpPr>
          <p:nvPr/>
        </p:nvSpPr>
        <p:spPr bwMode="auto">
          <a:xfrm>
            <a:off x="2629135" y="2519059"/>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dirty="0">
              <a:solidFill>
                <a:srgbClr val="FFFFFF"/>
              </a:solidFill>
              <a:latin typeface="宋体" charset="-122"/>
            </a:endParaRPr>
          </a:p>
        </p:txBody>
      </p:sp>
      <p:sp>
        <p:nvSpPr>
          <p:cNvPr id="14" name="Line 16"/>
          <p:cNvSpPr>
            <a:spLocks noChangeShapeType="1"/>
          </p:cNvSpPr>
          <p:nvPr/>
        </p:nvSpPr>
        <p:spPr bwMode="auto">
          <a:xfrm>
            <a:off x="3637198" y="863446"/>
            <a:ext cx="0" cy="2899216"/>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 name="Rectangle 8"/>
          <p:cNvSpPr>
            <a:spLocks noChangeArrowheads="1"/>
          </p:cNvSpPr>
          <p:nvPr/>
        </p:nvSpPr>
        <p:spPr bwMode="auto">
          <a:xfrm>
            <a:off x="2700573" y="1260553"/>
            <a:ext cx="5574294" cy="19389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zh-CN" sz="2000" b="1" dirty="0">
                <a:solidFill>
                  <a:schemeClr val="bg1"/>
                </a:solidFill>
                <a:latin typeface="微软雅黑" pitchFamily="34" charset="-122"/>
                <a:ea typeface="微软雅黑" pitchFamily="34" charset="-122"/>
              </a:rPr>
              <a:t>4.3.1                                       </a:t>
            </a:r>
            <a:r>
              <a:rPr lang="zh-CN" altLang="en-US" sz="2000" b="1" dirty="0">
                <a:solidFill>
                  <a:schemeClr val="bg1"/>
                </a:solidFill>
                <a:latin typeface="微软雅黑" pitchFamily="34" charset="-122"/>
                <a:ea typeface="微软雅黑" pitchFamily="34" charset="-122"/>
              </a:rPr>
              <a:t>基于终点的转发</a:t>
            </a:r>
            <a:endParaRPr lang="en-US" altLang="zh-CN" sz="2000" b="1" dirty="0">
              <a:solidFill>
                <a:schemeClr val="bg1"/>
              </a:solidFill>
              <a:latin typeface="微软雅黑" pitchFamily="34" charset="-122"/>
              <a:ea typeface="微软雅黑" pitchFamily="34" charset="-122"/>
            </a:endParaRPr>
          </a:p>
          <a:p>
            <a:endParaRPr lang="zh-CN" altLang="en-US"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4.3.2                                          </a:t>
            </a:r>
            <a:r>
              <a:rPr lang="zh-CN" altLang="en-US" sz="2000" b="1" dirty="0">
                <a:solidFill>
                  <a:schemeClr val="bg1"/>
                </a:solidFill>
                <a:latin typeface="微软雅黑" pitchFamily="34" charset="-122"/>
                <a:ea typeface="微软雅黑" pitchFamily="34" charset="-122"/>
              </a:rPr>
              <a:t>最长前缀匹配</a:t>
            </a:r>
            <a:endParaRPr lang="en-US" altLang="zh-CN" sz="2000" b="1" dirty="0">
              <a:solidFill>
                <a:schemeClr val="bg1"/>
              </a:solidFill>
              <a:latin typeface="微软雅黑" pitchFamily="34" charset="-122"/>
              <a:ea typeface="微软雅黑" pitchFamily="34" charset="-122"/>
            </a:endParaRPr>
          </a:p>
          <a:p>
            <a:endParaRPr lang="zh-CN" altLang="en-US"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4.3.3                             </a:t>
            </a:r>
            <a:r>
              <a:rPr lang="zh-CN" altLang="en-US" sz="2000" b="1" dirty="0">
                <a:solidFill>
                  <a:schemeClr val="bg1"/>
                </a:solidFill>
                <a:latin typeface="微软雅黑" pitchFamily="34" charset="-122"/>
                <a:ea typeface="微软雅黑" pitchFamily="34" charset="-122"/>
              </a:rPr>
              <a:t>使用二叉线索查找转发表</a:t>
            </a:r>
          </a:p>
        </p:txBody>
      </p:sp>
      <p:sp>
        <p:nvSpPr>
          <p:cNvPr id="16" name="Rectangle 27"/>
          <p:cNvSpPr>
            <a:spLocks noChangeArrowheads="1"/>
          </p:cNvSpPr>
          <p:nvPr/>
        </p:nvSpPr>
        <p:spPr bwMode="auto">
          <a:xfrm>
            <a:off x="639730" y="1295097"/>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17" name="Rectangle 29"/>
          <p:cNvSpPr>
            <a:spLocks noChangeArrowheads="1"/>
          </p:cNvSpPr>
          <p:nvPr/>
        </p:nvSpPr>
        <p:spPr bwMode="auto">
          <a:xfrm>
            <a:off x="648619" y="1390029"/>
            <a:ext cx="1627651" cy="101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4.3</a:t>
            </a:r>
          </a:p>
          <a:p>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层转发分组的过程</a:t>
            </a:r>
          </a:p>
        </p:txBody>
      </p:sp>
    </p:spTree>
    <p:extLst>
      <p:ext uri="{BB962C8B-B14F-4D97-AF65-F5344CB8AC3E}">
        <p14:creationId xmlns:p14="http://schemas.microsoft.com/office/powerpoint/2010/main" val="145376152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AutoShape 5"/>
          <p:cNvSpPr>
            <a:spLocks noChangeArrowheads="1"/>
          </p:cNvSpPr>
          <p:nvPr/>
        </p:nvSpPr>
        <p:spPr bwMode="auto">
          <a:xfrm>
            <a:off x="545144" y="61198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18" name="Rectangle 6"/>
          <p:cNvSpPr>
            <a:spLocks noChangeArrowheads="1"/>
          </p:cNvSpPr>
          <p:nvPr/>
        </p:nvSpPr>
        <p:spPr bwMode="auto">
          <a:xfrm>
            <a:off x="2939184" y="571120"/>
            <a:ext cx="326563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4.3.1  </a:t>
            </a:r>
            <a:r>
              <a:rPr lang="zh-CN" altLang="en-US" sz="2400" b="1" dirty="0">
                <a:solidFill>
                  <a:schemeClr val="bg1"/>
                </a:solidFill>
                <a:latin typeface="微软雅黑" pitchFamily="34" charset="-122"/>
                <a:ea typeface="微软雅黑" pitchFamily="34" charset="-122"/>
              </a:rPr>
              <a:t>基于终点的转发</a:t>
            </a:r>
          </a:p>
        </p:txBody>
      </p:sp>
      <p:sp>
        <p:nvSpPr>
          <p:cNvPr id="19" name="Rectangle 8"/>
          <p:cNvSpPr>
            <a:spLocks noChangeArrowheads="1"/>
          </p:cNvSpPr>
          <p:nvPr/>
        </p:nvSpPr>
        <p:spPr bwMode="auto">
          <a:xfrm>
            <a:off x="545144" y="1016867"/>
            <a:ext cx="8053712" cy="9387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分组在互联网中是</a:t>
            </a:r>
            <a:r>
              <a:rPr lang="zh-CN" altLang="en-US" sz="2000" b="1" dirty="0">
                <a:solidFill>
                  <a:srgbClr val="C00000"/>
                </a:solidFill>
                <a:latin typeface="微软雅黑" pitchFamily="34" charset="-122"/>
                <a:ea typeface="微软雅黑" pitchFamily="34" charset="-122"/>
              </a:rPr>
              <a:t>逐跳转发</a:t>
            </a:r>
            <a:r>
              <a:rPr lang="zh-CN" altLang="en-US" sz="2000" b="1" dirty="0">
                <a:latin typeface="微软雅黑" pitchFamily="34" charset="-122"/>
                <a:ea typeface="微软雅黑" pitchFamily="34" charset="-122"/>
              </a:rPr>
              <a:t>的。</a:t>
            </a:r>
            <a:endParaRPr lang="en-US" altLang="zh-CN" sz="2000" b="1" dirty="0">
              <a:latin typeface="微软雅黑" pitchFamily="34" charset="-122"/>
              <a:ea typeface="微软雅黑" pitchFamily="34" charset="-122"/>
            </a:endParaRP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基于终点的转发：基于分组首部中的</a:t>
            </a:r>
            <a:r>
              <a:rPr lang="zh-CN" altLang="en-US" sz="2000" b="1" dirty="0">
                <a:solidFill>
                  <a:srgbClr val="C00000"/>
                </a:solidFill>
                <a:latin typeface="微软雅黑" pitchFamily="34" charset="-122"/>
                <a:ea typeface="微软雅黑" pitchFamily="34" charset="-122"/>
              </a:rPr>
              <a:t>目的地址</a:t>
            </a:r>
            <a:r>
              <a:rPr lang="zh-CN" altLang="en-US" sz="2000" b="1" dirty="0">
                <a:latin typeface="微软雅黑" pitchFamily="34" charset="-122"/>
                <a:ea typeface="微软雅黑" pitchFamily="34" charset="-122"/>
              </a:rPr>
              <a:t>传送和转发。</a:t>
            </a:r>
            <a:endParaRPr lang="en-US" altLang="zh-CN" sz="2000" b="1" dirty="0">
              <a:latin typeface="微软雅黑" pitchFamily="34" charset="-122"/>
              <a:ea typeface="微软雅黑" pitchFamily="34" charset="-122"/>
            </a:endParaRPr>
          </a:p>
        </p:txBody>
      </p:sp>
      <p:sp>
        <p:nvSpPr>
          <p:cNvPr id="5" name="圆角矩形 4"/>
          <p:cNvSpPr/>
          <p:nvPr/>
        </p:nvSpPr>
        <p:spPr>
          <a:xfrm>
            <a:off x="556963" y="1973310"/>
            <a:ext cx="8048776" cy="159397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a:p>
        </p:txBody>
      </p:sp>
      <p:grpSp>
        <p:nvGrpSpPr>
          <p:cNvPr id="9" name="组合 8"/>
          <p:cNvGrpSpPr/>
          <p:nvPr/>
        </p:nvGrpSpPr>
        <p:grpSpPr>
          <a:xfrm>
            <a:off x="645100" y="2179356"/>
            <a:ext cx="7879255" cy="1021469"/>
            <a:chOff x="645100" y="1324921"/>
            <a:chExt cx="7879255" cy="1021469"/>
          </a:xfrm>
        </p:grpSpPr>
        <p:sp>
          <p:nvSpPr>
            <p:cNvPr id="10" name="Line 4"/>
            <p:cNvSpPr>
              <a:spLocks noChangeShapeType="1"/>
            </p:cNvSpPr>
            <p:nvPr/>
          </p:nvSpPr>
          <p:spPr bwMode="auto">
            <a:xfrm>
              <a:off x="1157767" y="2098354"/>
              <a:ext cx="6853921"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2" name="Rectangle 5"/>
            <p:cNvSpPr>
              <a:spLocks noChangeArrowheads="1"/>
            </p:cNvSpPr>
            <p:nvPr/>
          </p:nvSpPr>
          <p:spPr bwMode="auto">
            <a:xfrm>
              <a:off x="645100" y="1820020"/>
              <a:ext cx="704740" cy="526370"/>
            </a:xfrm>
            <a:prstGeom prst="rect">
              <a:avLst/>
            </a:prstGeom>
            <a:solidFill>
              <a:srgbClr val="0000CC"/>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zh-CN" altLang="en-US" sz="1400" b="1" kern="0" dirty="0">
                  <a:solidFill>
                    <a:schemeClr val="bg1"/>
                  </a:solidFill>
                  <a:latin typeface="微软雅黑" pitchFamily="34" charset="-122"/>
                  <a:ea typeface="微软雅黑" pitchFamily="34" charset="-122"/>
                </a:rPr>
                <a:t>源主机</a:t>
              </a:r>
              <a:endParaRPr lang="en-US" altLang="zh-CN" sz="1400" b="1" kern="0" dirty="0">
                <a:solidFill>
                  <a:schemeClr val="bg1"/>
                </a:solidFill>
                <a:latin typeface="微软雅黑" pitchFamily="34" charset="-122"/>
                <a:ea typeface="微软雅黑" pitchFamily="34" charset="-122"/>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4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H</a:t>
              </a:r>
              <a:r>
                <a:rPr kumimoji="0" lang="en-US" altLang="zh-CN" sz="1400" b="1" i="0" u="none" strike="noStrike" kern="0" cap="none" spc="0" normalizeH="0" baseline="-25000" noProof="0" dirty="0">
                  <a:ln>
                    <a:noFill/>
                  </a:ln>
                  <a:solidFill>
                    <a:schemeClr val="bg1"/>
                  </a:solidFill>
                  <a:effectLst/>
                  <a:uLnTx/>
                  <a:uFillTx/>
                  <a:latin typeface="微软雅黑" pitchFamily="34" charset="-122"/>
                  <a:ea typeface="微软雅黑" pitchFamily="34" charset="-122"/>
                </a:rPr>
                <a:t>1</a:t>
              </a:r>
              <a:endParaRPr kumimoji="0" lang="zh-CN" altLang="en-US" sz="1400" b="1" i="0" u="none" strike="noStrike" kern="0" cap="none" spc="0" normalizeH="0" baseline="-25000" noProof="0" dirty="0">
                <a:ln>
                  <a:noFill/>
                </a:ln>
                <a:solidFill>
                  <a:schemeClr val="bg1"/>
                </a:solidFill>
                <a:effectLst/>
                <a:uLnTx/>
                <a:uFillTx/>
                <a:latin typeface="微软雅黑" pitchFamily="34" charset="-122"/>
                <a:ea typeface="微软雅黑" pitchFamily="34" charset="-122"/>
              </a:endParaRPr>
            </a:p>
          </p:txBody>
        </p:sp>
        <p:sp>
          <p:nvSpPr>
            <p:cNvPr id="13" name="Rectangle 6"/>
            <p:cNvSpPr>
              <a:spLocks noChangeArrowheads="1"/>
            </p:cNvSpPr>
            <p:nvPr/>
          </p:nvSpPr>
          <p:spPr bwMode="auto">
            <a:xfrm>
              <a:off x="1830024" y="1820020"/>
              <a:ext cx="704741" cy="526370"/>
            </a:xfrm>
            <a:prstGeom prst="rect">
              <a:avLst/>
            </a:prstGeom>
            <a:solidFill>
              <a:srgbClr val="00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400" b="1" i="0" u="none" strike="noStrike" kern="0" cap="none" spc="0" normalizeH="0" baseline="0" noProof="0" dirty="0">
                  <a:ln>
                    <a:noFill/>
                  </a:ln>
                  <a:effectLst/>
                  <a:uLnTx/>
                  <a:uFillTx/>
                  <a:latin typeface="微软雅黑" pitchFamily="34" charset="-122"/>
                  <a:ea typeface="微软雅黑" pitchFamily="34" charset="-122"/>
                </a:rPr>
                <a:t>路由器</a:t>
              </a:r>
              <a:endParaRPr kumimoji="0" lang="en-US" altLang="zh-CN" sz="1400" b="1" i="0" u="none" strike="noStrike" kern="0" cap="none" spc="0" normalizeH="0" baseline="0" noProof="0" dirty="0">
                <a:ln>
                  <a:noFill/>
                </a:ln>
                <a:effectLst/>
                <a:uLnTx/>
                <a:uFillTx/>
                <a:latin typeface="微软雅黑" pitchFamily="34" charset="-122"/>
                <a:ea typeface="微软雅黑" pitchFamily="34" charset="-122"/>
              </a:endParaRPr>
            </a:p>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1400" b="1" kern="0" dirty="0">
                  <a:latin typeface="微软雅黑" pitchFamily="34" charset="-122"/>
                  <a:ea typeface="微软雅黑" pitchFamily="34" charset="-122"/>
                </a:rPr>
                <a:t>R</a:t>
              </a:r>
              <a:r>
                <a:rPr lang="en-US" altLang="zh-CN" sz="1400" b="1" kern="0" baseline="-25000" dirty="0">
                  <a:latin typeface="微软雅黑" pitchFamily="34" charset="-122"/>
                  <a:ea typeface="微软雅黑" pitchFamily="34" charset="-122"/>
                </a:rPr>
                <a:t>1</a:t>
              </a:r>
            </a:p>
          </p:txBody>
        </p:sp>
        <p:sp>
          <p:nvSpPr>
            <p:cNvPr id="14" name="Rectangle 7"/>
            <p:cNvSpPr>
              <a:spLocks noChangeArrowheads="1"/>
            </p:cNvSpPr>
            <p:nvPr/>
          </p:nvSpPr>
          <p:spPr bwMode="auto">
            <a:xfrm>
              <a:off x="4201286" y="1820020"/>
              <a:ext cx="704740" cy="526370"/>
            </a:xfrm>
            <a:prstGeom prst="rect">
              <a:avLst/>
            </a:prstGeom>
            <a:solidFill>
              <a:srgbClr val="00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ctr">
                <a:defRPr/>
              </a:pPr>
              <a:r>
                <a:rPr lang="zh-CN" altLang="en-US" sz="1400" b="1" kern="0" dirty="0">
                  <a:latin typeface="微软雅黑" pitchFamily="34" charset="-122"/>
                  <a:ea typeface="微软雅黑" pitchFamily="34" charset="-122"/>
                </a:rPr>
                <a:t>路由器</a:t>
              </a:r>
              <a:endParaRPr lang="en-US" altLang="zh-CN" sz="1400" b="1" kern="0" dirty="0">
                <a:latin typeface="微软雅黑" pitchFamily="34" charset="-122"/>
                <a:ea typeface="微软雅黑" pitchFamily="34" charset="-122"/>
              </a:endParaRPr>
            </a:p>
            <a:p>
              <a:pPr lvl="0" algn="ctr">
                <a:defRPr/>
              </a:pPr>
              <a:r>
                <a:rPr lang="en-US" altLang="zh-CN" sz="1400" b="1" kern="0" dirty="0">
                  <a:latin typeface="微软雅黑" pitchFamily="34" charset="-122"/>
                  <a:ea typeface="微软雅黑" pitchFamily="34" charset="-122"/>
                </a:rPr>
                <a:t>R</a:t>
              </a:r>
              <a:r>
                <a:rPr lang="en-US" altLang="zh-CN" sz="1400" b="1" kern="0" baseline="-25000" dirty="0">
                  <a:latin typeface="微软雅黑" pitchFamily="34" charset="-122"/>
                  <a:ea typeface="微软雅黑" pitchFamily="34" charset="-122"/>
                </a:rPr>
                <a:t>3</a:t>
              </a:r>
              <a:endParaRPr kumimoji="0" lang="zh-CN" altLang="en-US" sz="1400" b="1" i="0" u="none" strike="noStrike" kern="0" cap="none" spc="0" normalizeH="0" baseline="0" noProof="0" dirty="0">
                <a:ln>
                  <a:noFill/>
                </a:ln>
                <a:effectLst/>
                <a:uLnTx/>
                <a:uFillTx/>
                <a:latin typeface="微软雅黑" pitchFamily="34" charset="-122"/>
                <a:ea typeface="微软雅黑" pitchFamily="34" charset="-122"/>
              </a:endParaRPr>
            </a:p>
          </p:txBody>
        </p:sp>
        <p:sp>
          <p:nvSpPr>
            <p:cNvPr id="15" name="Rectangle 8"/>
            <p:cNvSpPr>
              <a:spLocks noChangeArrowheads="1"/>
            </p:cNvSpPr>
            <p:nvPr/>
          </p:nvSpPr>
          <p:spPr bwMode="auto">
            <a:xfrm>
              <a:off x="5387623" y="1820020"/>
              <a:ext cx="704740" cy="526370"/>
            </a:xfrm>
            <a:prstGeom prst="rect">
              <a:avLst/>
            </a:prstGeom>
            <a:solidFill>
              <a:srgbClr val="00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ctr">
                <a:defRPr/>
              </a:pPr>
              <a:r>
                <a:rPr lang="zh-CN" altLang="en-US" sz="1400" b="1" kern="0" dirty="0">
                  <a:latin typeface="微软雅黑" pitchFamily="34" charset="-122"/>
                  <a:ea typeface="微软雅黑" pitchFamily="34" charset="-122"/>
                </a:rPr>
                <a:t>路由器</a:t>
              </a:r>
              <a:endParaRPr lang="en-US" altLang="zh-CN" sz="1400" b="1" kern="0" dirty="0">
                <a:latin typeface="微软雅黑" pitchFamily="34" charset="-122"/>
                <a:ea typeface="微软雅黑" pitchFamily="34" charset="-122"/>
              </a:endParaRPr>
            </a:p>
            <a:p>
              <a:pPr lvl="0" algn="ctr">
                <a:defRPr/>
              </a:pPr>
              <a:r>
                <a:rPr lang="en-US" altLang="zh-CN" sz="1400" b="1" kern="0" dirty="0">
                  <a:latin typeface="微软雅黑" pitchFamily="34" charset="-122"/>
                  <a:ea typeface="微软雅黑" pitchFamily="34" charset="-122"/>
                </a:rPr>
                <a:t>R</a:t>
              </a:r>
              <a:r>
                <a:rPr lang="en-US" altLang="zh-CN" sz="1400" b="1" kern="0" baseline="-25000" dirty="0">
                  <a:latin typeface="微软雅黑" pitchFamily="34" charset="-122"/>
                  <a:ea typeface="微软雅黑" pitchFamily="34" charset="-122"/>
                </a:rPr>
                <a:t>4</a:t>
              </a:r>
              <a:endParaRPr kumimoji="0" lang="zh-CN" altLang="en-US" sz="1400" b="1" i="0" u="none" strike="noStrike" kern="0" cap="none" spc="0" normalizeH="0" baseline="0" noProof="0" dirty="0">
                <a:ln>
                  <a:noFill/>
                </a:ln>
                <a:effectLst/>
                <a:uLnTx/>
                <a:uFillTx/>
                <a:latin typeface="微软雅黑" pitchFamily="34" charset="-122"/>
                <a:ea typeface="微软雅黑" pitchFamily="34" charset="-122"/>
              </a:endParaRPr>
            </a:p>
          </p:txBody>
        </p:sp>
        <p:sp>
          <p:nvSpPr>
            <p:cNvPr id="16" name="Rectangle 9"/>
            <p:cNvSpPr>
              <a:spLocks noChangeArrowheads="1"/>
            </p:cNvSpPr>
            <p:nvPr/>
          </p:nvSpPr>
          <p:spPr bwMode="auto">
            <a:xfrm>
              <a:off x="6572547" y="1820020"/>
              <a:ext cx="704741" cy="526370"/>
            </a:xfrm>
            <a:prstGeom prst="rect">
              <a:avLst/>
            </a:prstGeom>
            <a:solidFill>
              <a:srgbClr val="00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ctr">
                <a:defRPr/>
              </a:pPr>
              <a:r>
                <a:rPr lang="zh-CN" altLang="en-US" sz="1400" b="1" kern="0" dirty="0">
                  <a:latin typeface="微软雅黑" pitchFamily="34" charset="-122"/>
                  <a:ea typeface="微软雅黑" pitchFamily="34" charset="-122"/>
                </a:rPr>
                <a:t>路由器</a:t>
              </a:r>
              <a:endParaRPr lang="en-US" altLang="zh-CN" sz="1400" b="1" kern="0" dirty="0">
                <a:latin typeface="微软雅黑" pitchFamily="34" charset="-122"/>
                <a:ea typeface="微软雅黑" pitchFamily="34" charset="-122"/>
              </a:endParaRPr>
            </a:p>
            <a:p>
              <a:pPr lvl="0" algn="ctr">
                <a:defRPr/>
              </a:pPr>
              <a:r>
                <a:rPr lang="en-US" altLang="zh-CN" sz="1400" b="1" kern="0" dirty="0">
                  <a:latin typeface="微软雅黑" pitchFamily="34" charset="-122"/>
                  <a:ea typeface="微软雅黑" pitchFamily="34" charset="-122"/>
                </a:rPr>
                <a:t>R</a:t>
              </a:r>
              <a:r>
                <a:rPr lang="en-US" altLang="zh-CN" sz="1400" b="1" kern="0" baseline="-25000" dirty="0">
                  <a:latin typeface="微软雅黑" pitchFamily="34" charset="-122"/>
                  <a:ea typeface="微软雅黑" pitchFamily="34" charset="-122"/>
                </a:rPr>
                <a:t>5</a:t>
              </a:r>
              <a:endParaRPr kumimoji="0" lang="zh-CN" altLang="en-US" sz="1400" b="1" i="0" u="none" strike="noStrike" kern="0" cap="none" spc="0" normalizeH="0" baseline="0" noProof="0" dirty="0">
                <a:ln>
                  <a:noFill/>
                </a:ln>
                <a:effectLst/>
                <a:uLnTx/>
                <a:uFillTx/>
                <a:latin typeface="微软雅黑" pitchFamily="34" charset="-122"/>
                <a:ea typeface="微软雅黑" pitchFamily="34" charset="-122"/>
              </a:endParaRPr>
            </a:p>
          </p:txBody>
        </p:sp>
        <p:sp>
          <p:nvSpPr>
            <p:cNvPr id="17" name="Rectangle 10"/>
            <p:cNvSpPr>
              <a:spLocks noChangeArrowheads="1"/>
            </p:cNvSpPr>
            <p:nvPr/>
          </p:nvSpPr>
          <p:spPr bwMode="auto">
            <a:xfrm>
              <a:off x="7758884" y="1820020"/>
              <a:ext cx="765471" cy="526370"/>
            </a:xfrm>
            <a:prstGeom prst="rect">
              <a:avLst/>
            </a:prstGeom>
            <a:solidFill>
              <a:srgbClr val="0000CC"/>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4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目的主机</a:t>
              </a:r>
              <a:endParaRPr kumimoji="0" lang="en-US" altLang="zh-CN" sz="1400" b="1" i="0" u="none" strike="noStrike" kern="0" cap="none" spc="0" normalizeH="0" baseline="0" noProof="0" dirty="0">
                <a:ln>
                  <a:noFill/>
                </a:ln>
                <a:solidFill>
                  <a:schemeClr val="bg1"/>
                </a:solidFill>
                <a:effectLst/>
                <a:uLnTx/>
                <a:uFillTx/>
                <a:latin typeface="微软雅黑" pitchFamily="34" charset="-122"/>
                <a:ea typeface="微软雅黑" pitchFamily="34" charset="-122"/>
              </a:endParaRPr>
            </a:p>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1400" b="1" kern="0" dirty="0">
                  <a:solidFill>
                    <a:schemeClr val="bg1"/>
                  </a:solidFill>
                  <a:latin typeface="微软雅黑" pitchFamily="34" charset="-122"/>
                  <a:ea typeface="微软雅黑" pitchFamily="34" charset="-122"/>
                </a:rPr>
                <a:t>H</a:t>
              </a:r>
              <a:r>
                <a:rPr lang="en-US" altLang="zh-CN" sz="1400" b="1" kern="0" baseline="-25000" dirty="0">
                  <a:solidFill>
                    <a:schemeClr val="bg1"/>
                  </a:solidFill>
                  <a:latin typeface="微软雅黑" pitchFamily="34" charset="-122"/>
                  <a:ea typeface="微软雅黑" pitchFamily="34" charset="-122"/>
                </a:rPr>
                <a:t>2</a:t>
              </a:r>
              <a:endParaRPr kumimoji="0" lang="zh-CN" altLang="en-US" sz="1400" b="1" i="0" u="none" strike="noStrike" kern="0" cap="none" spc="0" normalizeH="0" baseline="-25000" noProof="0" dirty="0">
                <a:ln>
                  <a:noFill/>
                </a:ln>
                <a:solidFill>
                  <a:schemeClr val="bg1"/>
                </a:solidFill>
                <a:effectLst/>
                <a:uLnTx/>
                <a:uFillTx/>
                <a:latin typeface="微软雅黑" pitchFamily="34" charset="-122"/>
                <a:ea typeface="微软雅黑" pitchFamily="34" charset="-122"/>
              </a:endParaRPr>
            </a:p>
          </p:txBody>
        </p:sp>
        <p:sp>
          <p:nvSpPr>
            <p:cNvPr id="20" name="Rectangle 11"/>
            <p:cNvSpPr>
              <a:spLocks noChangeArrowheads="1"/>
            </p:cNvSpPr>
            <p:nvPr/>
          </p:nvSpPr>
          <p:spPr bwMode="auto">
            <a:xfrm>
              <a:off x="3016361" y="1820020"/>
              <a:ext cx="704741" cy="526370"/>
            </a:xfrm>
            <a:prstGeom prst="rect">
              <a:avLst/>
            </a:prstGeom>
            <a:solidFill>
              <a:srgbClr val="00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ctr">
                <a:defRPr/>
              </a:pPr>
              <a:r>
                <a:rPr lang="zh-CN" altLang="en-US" sz="1400" b="1" kern="0" dirty="0">
                  <a:latin typeface="微软雅黑" pitchFamily="34" charset="-122"/>
                  <a:ea typeface="微软雅黑" pitchFamily="34" charset="-122"/>
                </a:rPr>
                <a:t>路由器</a:t>
              </a:r>
              <a:endParaRPr lang="en-US" altLang="zh-CN" sz="1400" b="1" kern="0" dirty="0">
                <a:latin typeface="微软雅黑" pitchFamily="34" charset="-122"/>
                <a:ea typeface="微软雅黑" pitchFamily="34" charset="-122"/>
              </a:endParaRPr>
            </a:p>
            <a:p>
              <a:pPr lvl="0" algn="ctr">
                <a:defRPr/>
              </a:pPr>
              <a:r>
                <a:rPr lang="en-US" altLang="zh-CN" sz="1400" b="1" kern="0" dirty="0">
                  <a:latin typeface="微软雅黑" pitchFamily="34" charset="-122"/>
                  <a:ea typeface="微软雅黑" pitchFamily="34" charset="-122"/>
                </a:rPr>
                <a:t>R</a:t>
              </a:r>
              <a:r>
                <a:rPr lang="en-US" altLang="zh-CN" sz="1400" b="1" kern="0" baseline="-25000" dirty="0">
                  <a:latin typeface="微软雅黑" pitchFamily="34" charset="-122"/>
                  <a:ea typeface="微软雅黑" pitchFamily="34" charset="-122"/>
                </a:rPr>
                <a:t>2</a:t>
              </a:r>
            </a:p>
          </p:txBody>
        </p:sp>
        <p:grpSp>
          <p:nvGrpSpPr>
            <p:cNvPr id="21" name="组合 20"/>
            <p:cNvGrpSpPr/>
            <p:nvPr/>
          </p:nvGrpSpPr>
          <p:grpSpPr>
            <a:xfrm>
              <a:off x="1195777" y="1324921"/>
              <a:ext cx="856156" cy="940368"/>
              <a:chOff x="1204403" y="1807995"/>
              <a:chExt cx="856156" cy="940368"/>
            </a:xfrm>
          </p:grpSpPr>
          <p:sp>
            <p:nvSpPr>
              <p:cNvPr id="43" name="弧形 42"/>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44"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nvGrpSpPr>
            <p:cNvPr id="22" name="组合 21"/>
            <p:cNvGrpSpPr/>
            <p:nvPr/>
          </p:nvGrpSpPr>
          <p:grpSpPr>
            <a:xfrm>
              <a:off x="2346779" y="1324921"/>
              <a:ext cx="856156" cy="940368"/>
              <a:chOff x="1204403" y="1807995"/>
              <a:chExt cx="856156" cy="940368"/>
            </a:xfrm>
          </p:grpSpPr>
          <p:sp>
            <p:nvSpPr>
              <p:cNvPr id="41" name="弧形 40"/>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42"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nvGrpSpPr>
            <p:cNvPr id="23" name="组合 22"/>
            <p:cNvGrpSpPr/>
            <p:nvPr/>
          </p:nvGrpSpPr>
          <p:grpSpPr>
            <a:xfrm>
              <a:off x="3546083" y="1324921"/>
              <a:ext cx="856156" cy="940368"/>
              <a:chOff x="1204403" y="1807995"/>
              <a:chExt cx="856156" cy="940368"/>
            </a:xfrm>
          </p:grpSpPr>
          <p:sp>
            <p:nvSpPr>
              <p:cNvPr id="39" name="弧形 38"/>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40"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nvGrpSpPr>
            <p:cNvPr id="24" name="组合 23"/>
            <p:cNvGrpSpPr/>
            <p:nvPr/>
          </p:nvGrpSpPr>
          <p:grpSpPr>
            <a:xfrm>
              <a:off x="4697085" y="1324921"/>
              <a:ext cx="856156" cy="940368"/>
              <a:chOff x="1204403" y="1807995"/>
              <a:chExt cx="856156" cy="940368"/>
            </a:xfrm>
          </p:grpSpPr>
          <p:sp>
            <p:nvSpPr>
              <p:cNvPr id="37" name="弧形 36"/>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38"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nvGrpSpPr>
            <p:cNvPr id="25" name="组合 24"/>
            <p:cNvGrpSpPr/>
            <p:nvPr/>
          </p:nvGrpSpPr>
          <p:grpSpPr>
            <a:xfrm>
              <a:off x="5888545" y="1324921"/>
              <a:ext cx="856156" cy="940368"/>
              <a:chOff x="1204403" y="1807995"/>
              <a:chExt cx="856156" cy="940368"/>
            </a:xfrm>
          </p:grpSpPr>
          <p:sp>
            <p:nvSpPr>
              <p:cNvPr id="35" name="弧形 34"/>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36"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nvGrpSpPr>
            <p:cNvPr id="26" name="组合 25"/>
            <p:cNvGrpSpPr/>
            <p:nvPr/>
          </p:nvGrpSpPr>
          <p:grpSpPr>
            <a:xfrm>
              <a:off x="7039547" y="1324921"/>
              <a:ext cx="856156" cy="940368"/>
              <a:chOff x="1204403" y="1807995"/>
              <a:chExt cx="856156" cy="940368"/>
            </a:xfrm>
          </p:grpSpPr>
          <p:sp>
            <p:nvSpPr>
              <p:cNvPr id="33" name="弧形 32"/>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34"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sp>
          <p:nvSpPr>
            <p:cNvPr id="27" name="Rectangle 21"/>
            <p:cNvSpPr>
              <a:spLocks noChangeArrowheads="1"/>
            </p:cNvSpPr>
            <p:nvPr/>
          </p:nvSpPr>
          <p:spPr bwMode="auto">
            <a:xfrm>
              <a:off x="1386132"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sp>
          <p:nvSpPr>
            <p:cNvPr id="28" name="Rectangle 21"/>
            <p:cNvSpPr>
              <a:spLocks noChangeArrowheads="1"/>
            </p:cNvSpPr>
            <p:nvPr/>
          </p:nvSpPr>
          <p:spPr bwMode="auto">
            <a:xfrm>
              <a:off x="2566352"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sp>
          <p:nvSpPr>
            <p:cNvPr id="29" name="Rectangle 21"/>
            <p:cNvSpPr>
              <a:spLocks noChangeArrowheads="1"/>
            </p:cNvSpPr>
            <p:nvPr/>
          </p:nvSpPr>
          <p:spPr bwMode="auto">
            <a:xfrm>
              <a:off x="3767294"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sp>
          <p:nvSpPr>
            <p:cNvPr id="30" name="Rectangle 21"/>
            <p:cNvSpPr>
              <a:spLocks noChangeArrowheads="1"/>
            </p:cNvSpPr>
            <p:nvPr/>
          </p:nvSpPr>
          <p:spPr bwMode="auto">
            <a:xfrm>
              <a:off x="4947514"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sp>
          <p:nvSpPr>
            <p:cNvPr id="31" name="Rectangle 21"/>
            <p:cNvSpPr>
              <a:spLocks noChangeArrowheads="1"/>
            </p:cNvSpPr>
            <p:nvPr/>
          </p:nvSpPr>
          <p:spPr bwMode="auto">
            <a:xfrm>
              <a:off x="6131401"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sp>
          <p:nvSpPr>
            <p:cNvPr id="32" name="Rectangle 21"/>
            <p:cNvSpPr>
              <a:spLocks noChangeArrowheads="1"/>
            </p:cNvSpPr>
            <p:nvPr/>
          </p:nvSpPr>
          <p:spPr bwMode="auto">
            <a:xfrm>
              <a:off x="7311621"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grpSp>
      <p:grpSp>
        <p:nvGrpSpPr>
          <p:cNvPr id="3" name="组合 2"/>
          <p:cNvGrpSpPr/>
          <p:nvPr/>
        </p:nvGrpSpPr>
        <p:grpSpPr>
          <a:xfrm>
            <a:off x="1559922" y="3205968"/>
            <a:ext cx="5987060" cy="338554"/>
            <a:chOff x="1559922" y="3985455"/>
            <a:chExt cx="5987060" cy="338554"/>
          </a:xfrm>
        </p:grpSpPr>
        <p:sp>
          <p:nvSpPr>
            <p:cNvPr id="2" name="矩形 1"/>
            <p:cNvSpPr/>
            <p:nvPr/>
          </p:nvSpPr>
          <p:spPr>
            <a:xfrm>
              <a:off x="1559922" y="3985455"/>
              <a:ext cx="1210588" cy="338554"/>
            </a:xfrm>
            <a:prstGeom prst="rect">
              <a:avLst/>
            </a:prstGeom>
          </p:spPr>
          <p:txBody>
            <a:bodyPr wrap="none">
              <a:spAutoFit/>
            </a:bodyPr>
            <a:lstStyle/>
            <a:p>
              <a:r>
                <a:rPr lang="zh-CN" altLang="en-US" sz="1600" b="1" dirty="0">
                  <a:solidFill>
                    <a:srgbClr val="C00000"/>
                  </a:solidFill>
                  <a:latin typeface="微软雅黑" panose="020B0503020204020204" pitchFamily="34" charset="-122"/>
                  <a:ea typeface="微软雅黑" panose="020B0503020204020204" pitchFamily="34" charset="-122"/>
                </a:rPr>
                <a:t>查找转发表</a:t>
              </a:r>
            </a:p>
          </p:txBody>
        </p:sp>
        <p:sp>
          <p:nvSpPr>
            <p:cNvPr id="52" name="矩形 51"/>
            <p:cNvSpPr/>
            <p:nvPr/>
          </p:nvSpPr>
          <p:spPr>
            <a:xfrm>
              <a:off x="2744036" y="3985455"/>
              <a:ext cx="1210588" cy="338554"/>
            </a:xfrm>
            <a:prstGeom prst="rect">
              <a:avLst/>
            </a:prstGeom>
          </p:spPr>
          <p:txBody>
            <a:bodyPr wrap="none">
              <a:spAutoFit/>
            </a:bodyPr>
            <a:lstStyle/>
            <a:p>
              <a:r>
                <a:rPr lang="zh-CN" altLang="en-US" sz="1600" b="1" dirty="0">
                  <a:solidFill>
                    <a:srgbClr val="C00000"/>
                  </a:solidFill>
                  <a:latin typeface="微软雅黑" panose="020B0503020204020204" pitchFamily="34" charset="-122"/>
                  <a:ea typeface="微软雅黑" panose="020B0503020204020204" pitchFamily="34" charset="-122"/>
                </a:rPr>
                <a:t>查找转发表</a:t>
              </a:r>
            </a:p>
          </p:txBody>
        </p:sp>
        <p:sp>
          <p:nvSpPr>
            <p:cNvPr id="53" name="矩形 52"/>
            <p:cNvSpPr/>
            <p:nvPr/>
          </p:nvSpPr>
          <p:spPr>
            <a:xfrm>
              <a:off x="3956216" y="3985455"/>
              <a:ext cx="1210588" cy="338554"/>
            </a:xfrm>
            <a:prstGeom prst="rect">
              <a:avLst/>
            </a:prstGeom>
          </p:spPr>
          <p:txBody>
            <a:bodyPr wrap="none">
              <a:spAutoFit/>
            </a:bodyPr>
            <a:lstStyle/>
            <a:p>
              <a:r>
                <a:rPr lang="zh-CN" altLang="en-US" sz="1600" b="1" dirty="0">
                  <a:solidFill>
                    <a:srgbClr val="C00000"/>
                  </a:solidFill>
                  <a:latin typeface="微软雅黑" panose="020B0503020204020204" pitchFamily="34" charset="-122"/>
                  <a:ea typeface="微软雅黑" panose="020B0503020204020204" pitchFamily="34" charset="-122"/>
                </a:rPr>
                <a:t>查找转发表</a:t>
              </a:r>
            </a:p>
          </p:txBody>
        </p:sp>
        <p:sp>
          <p:nvSpPr>
            <p:cNvPr id="54" name="矩形 53"/>
            <p:cNvSpPr/>
            <p:nvPr/>
          </p:nvSpPr>
          <p:spPr>
            <a:xfrm>
              <a:off x="5140330" y="3985455"/>
              <a:ext cx="1210588" cy="338554"/>
            </a:xfrm>
            <a:prstGeom prst="rect">
              <a:avLst/>
            </a:prstGeom>
          </p:spPr>
          <p:txBody>
            <a:bodyPr wrap="none">
              <a:spAutoFit/>
            </a:bodyPr>
            <a:lstStyle/>
            <a:p>
              <a:r>
                <a:rPr lang="zh-CN" altLang="en-US" sz="1600" b="1" dirty="0">
                  <a:solidFill>
                    <a:srgbClr val="C00000"/>
                  </a:solidFill>
                  <a:latin typeface="微软雅黑" panose="020B0503020204020204" pitchFamily="34" charset="-122"/>
                  <a:ea typeface="微软雅黑" panose="020B0503020204020204" pitchFamily="34" charset="-122"/>
                </a:rPr>
                <a:t>查找转发表</a:t>
              </a:r>
            </a:p>
          </p:txBody>
        </p:sp>
        <p:sp>
          <p:nvSpPr>
            <p:cNvPr id="55" name="矩形 54"/>
            <p:cNvSpPr/>
            <p:nvPr/>
          </p:nvSpPr>
          <p:spPr>
            <a:xfrm>
              <a:off x="6336394" y="3985455"/>
              <a:ext cx="1210588" cy="338554"/>
            </a:xfrm>
            <a:prstGeom prst="rect">
              <a:avLst/>
            </a:prstGeom>
          </p:spPr>
          <p:txBody>
            <a:bodyPr wrap="none">
              <a:spAutoFit/>
            </a:bodyPr>
            <a:lstStyle/>
            <a:p>
              <a:r>
                <a:rPr lang="zh-CN" altLang="en-US" sz="1600" b="1" dirty="0">
                  <a:solidFill>
                    <a:srgbClr val="C00000"/>
                  </a:solidFill>
                  <a:latin typeface="微软雅黑" panose="020B0503020204020204" pitchFamily="34" charset="-122"/>
                  <a:ea typeface="微软雅黑" panose="020B0503020204020204" pitchFamily="34" charset="-122"/>
                </a:rPr>
                <a:t>查找转发表</a:t>
              </a:r>
            </a:p>
          </p:txBody>
        </p:sp>
      </p:grpSp>
    </p:spTree>
    <p:extLst>
      <p:ext uri="{BB962C8B-B14F-4D97-AF65-F5344CB8AC3E}">
        <p14:creationId xmlns:p14="http://schemas.microsoft.com/office/powerpoint/2010/main" val="329975134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left)">
                                      <p:cBhvr>
                                        <p:cTn id="7" dur="3000"/>
                                        <p:tgtEl>
                                          <p:spTgt spid="9"/>
                                        </p:tgtEl>
                                      </p:cBhvr>
                                    </p:animEffect>
                                  </p:childTnLst>
                                </p:cTn>
                              </p:par>
                              <p:par>
                                <p:cTn id="8" presetID="22" presetClass="entr" presetSubtype="8" fill="hold" nodeType="withEffect">
                                  <p:stCondLst>
                                    <p:cond delay="500"/>
                                  </p:stCondLst>
                                  <p:childTnLst>
                                    <p:set>
                                      <p:cBhvr>
                                        <p:cTn id="9" dur="1" fill="hold">
                                          <p:stCondLst>
                                            <p:cond delay="0"/>
                                          </p:stCondLst>
                                        </p:cTn>
                                        <p:tgtEl>
                                          <p:spTgt spid="3"/>
                                        </p:tgtEl>
                                        <p:attrNameLst>
                                          <p:attrName>style.visibility</p:attrName>
                                        </p:attrNameLst>
                                      </p:cBhvr>
                                      <p:to>
                                        <p:strVal val="visible"/>
                                      </p:to>
                                    </p:set>
                                    <p:animEffect transition="in" filter="wipe(left)">
                                      <p:cBhvr>
                                        <p:cTn id="10" dur="175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圆角矩形 39"/>
          <p:cNvSpPr/>
          <p:nvPr/>
        </p:nvSpPr>
        <p:spPr>
          <a:xfrm>
            <a:off x="809469" y="633725"/>
            <a:ext cx="7629994" cy="404320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t>z</a:t>
            </a:r>
            <a:endParaRPr lang="zh-CN" altLang="en-US" dirty="0"/>
          </a:p>
        </p:txBody>
      </p:sp>
      <p:grpSp>
        <p:nvGrpSpPr>
          <p:cNvPr id="2" name="组合 1"/>
          <p:cNvGrpSpPr/>
          <p:nvPr/>
        </p:nvGrpSpPr>
        <p:grpSpPr>
          <a:xfrm>
            <a:off x="1463515" y="2138648"/>
            <a:ext cx="6321113" cy="2404494"/>
            <a:chOff x="1283635" y="1688948"/>
            <a:chExt cx="6321113" cy="2404494"/>
          </a:xfrm>
        </p:grpSpPr>
        <p:sp>
          <p:nvSpPr>
            <p:cNvPr id="44" name="Freeform 4"/>
            <p:cNvSpPr>
              <a:spLocks/>
            </p:cNvSpPr>
            <p:nvPr/>
          </p:nvSpPr>
          <p:spPr bwMode="auto">
            <a:xfrm>
              <a:off x="2769018" y="2252656"/>
              <a:ext cx="3507555" cy="659992"/>
            </a:xfrm>
            <a:custGeom>
              <a:avLst/>
              <a:gdLst>
                <a:gd name="T0" fmla="*/ 0 w 3024"/>
                <a:gd name="T1" fmla="*/ 636 h 636"/>
                <a:gd name="T2" fmla="*/ 1520 w 3024"/>
                <a:gd name="T3" fmla="*/ 0 h 636"/>
                <a:gd name="T4" fmla="*/ 3024 w 3024"/>
                <a:gd name="T5" fmla="*/ 636 h 636"/>
                <a:gd name="T6" fmla="*/ 0 w 3024"/>
                <a:gd name="T7" fmla="*/ 636 h 636"/>
              </a:gdLst>
              <a:ahLst/>
              <a:cxnLst>
                <a:cxn ang="0">
                  <a:pos x="T0" y="T1"/>
                </a:cxn>
                <a:cxn ang="0">
                  <a:pos x="T2" y="T3"/>
                </a:cxn>
                <a:cxn ang="0">
                  <a:pos x="T4" y="T5"/>
                </a:cxn>
                <a:cxn ang="0">
                  <a:pos x="T6" y="T7"/>
                </a:cxn>
              </a:cxnLst>
              <a:rect l="0" t="0" r="r" b="b"/>
              <a:pathLst>
                <a:path w="3024" h="636">
                  <a:moveTo>
                    <a:pt x="0" y="636"/>
                  </a:moveTo>
                  <a:lnTo>
                    <a:pt x="1520" y="0"/>
                  </a:lnTo>
                  <a:lnTo>
                    <a:pt x="3024" y="636"/>
                  </a:lnTo>
                  <a:lnTo>
                    <a:pt x="0" y="636"/>
                  </a:lnTo>
                  <a:close/>
                </a:path>
              </a:pathLst>
            </a:custGeom>
            <a:gradFill rotWithShape="1">
              <a:gsLst>
                <a:gs pos="0">
                  <a:srgbClr val="92D050"/>
                </a:gs>
                <a:gs pos="100000">
                  <a:srgbClr val="99FFCC"/>
                </a:gs>
              </a:gsLst>
              <a:lin ang="5400000" scaled="1"/>
            </a:gradFill>
            <a:ln>
              <a:noFill/>
            </a:ln>
            <a:effectLst/>
          </p:spPr>
          <p:txBody>
            <a:bodyPr/>
            <a:lstStyle/>
            <a:p>
              <a:endParaRPr lang="zh-CN" altLang="en-US" sz="1200" b="1">
                <a:latin typeface="微软雅黑" pitchFamily="34" charset="-122"/>
                <a:ea typeface="微软雅黑" pitchFamily="34" charset="-122"/>
              </a:endParaRPr>
            </a:p>
          </p:txBody>
        </p:sp>
        <p:grpSp>
          <p:nvGrpSpPr>
            <p:cNvPr id="45" name="Group 5"/>
            <p:cNvGrpSpPr>
              <a:grpSpLocks/>
            </p:cNvGrpSpPr>
            <p:nvPr/>
          </p:nvGrpSpPr>
          <p:grpSpPr bwMode="auto">
            <a:xfrm>
              <a:off x="1283635" y="1931727"/>
              <a:ext cx="886282" cy="587568"/>
              <a:chOff x="912" y="768"/>
              <a:chExt cx="2400" cy="1584"/>
            </a:xfrm>
            <a:solidFill>
              <a:schemeClr val="bg1"/>
            </a:solidFill>
          </p:grpSpPr>
          <p:sp>
            <p:nvSpPr>
              <p:cNvPr id="174" name="Oval 6"/>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75" name="Oval 7"/>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76" name="Oval 8"/>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77" name="Oval 9"/>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78" name="Oval 10"/>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79" name="Oval 11"/>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80" name="Oval 12"/>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81" name="Oval 13"/>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82" name="Oval 14"/>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grpSp>
            <p:nvGrpSpPr>
              <p:cNvPr id="183" name="Group 15"/>
              <p:cNvGrpSpPr>
                <a:grpSpLocks/>
              </p:cNvGrpSpPr>
              <p:nvPr/>
            </p:nvGrpSpPr>
            <p:grpSpPr bwMode="auto">
              <a:xfrm>
                <a:off x="912" y="768"/>
                <a:ext cx="2386" cy="1553"/>
                <a:chOff x="912" y="768"/>
                <a:chExt cx="2386" cy="1553"/>
              </a:xfrm>
              <a:grpFill/>
            </p:grpSpPr>
            <p:sp>
              <p:nvSpPr>
                <p:cNvPr id="184" name="Oval 16"/>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85" name="Oval 17"/>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86" name="Oval 18"/>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87" name="Oval 19"/>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88" name="Oval 20"/>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89" name="Oval 21"/>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90" name="Oval 22"/>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91" name="Oval 23"/>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92" name="Oval 24"/>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grpSp>
        </p:grpSp>
        <p:sp>
          <p:nvSpPr>
            <p:cNvPr id="46" name="Line 25"/>
            <p:cNvSpPr>
              <a:spLocks noChangeShapeType="1"/>
            </p:cNvSpPr>
            <p:nvPr/>
          </p:nvSpPr>
          <p:spPr bwMode="auto">
            <a:xfrm>
              <a:off x="2169916" y="2208169"/>
              <a:ext cx="470436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grpSp>
          <p:nvGrpSpPr>
            <p:cNvPr id="47" name="Group 26"/>
            <p:cNvGrpSpPr>
              <a:grpSpLocks/>
            </p:cNvGrpSpPr>
            <p:nvPr/>
          </p:nvGrpSpPr>
          <p:grpSpPr bwMode="auto">
            <a:xfrm>
              <a:off x="6718466" y="1931727"/>
              <a:ext cx="886282" cy="587568"/>
              <a:chOff x="912" y="768"/>
              <a:chExt cx="2400" cy="1584"/>
            </a:xfrm>
            <a:solidFill>
              <a:schemeClr val="bg1"/>
            </a:solidFill>
          </p:grpSpPr>
          <p:sp>
            <p:nvSpPr>
              <p:cNvPr id="155" name="Oval 2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56" name="Oval 2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57" name="Oval 2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58" name="Oval 3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59" name="Oval 3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60" name="Oval 3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61" name="Oval 3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62" name="Oval 3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63" name="Oval 3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grpSp>
            <p:nvGrpSpPr>
              <p:cNvPr id="164" name="Group 36"/>
              <p:cNvGrpSpPr>
                <a:grpSpLocks/>
              </p:cNvGrpSpPr>
              <p:nvPr/>
            </p:nvGrpSpPr>
            <p:grpSpPr bwMode="auto">
              <a:xfrm>
                <a:off x="912" y="768"/>
                <a:ext cx="2386" cy="1553"/>
                <a:chOff x="912" y="768"/>
                <a:chExt cx="2386" cy="1553"/>
              </a:xfrm>
              <a:grpFill/>
            </p:grpSpPr>
            <p:sp>
              <p:nvSpPr>
                <p:cNvPr id="165" name="Oval 3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66" name="Oval 3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67" name="Oval 3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68" name="Oval 4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69" name="Oval 4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70" name="Oval 4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71" name="Oval 4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72" name="Oval 4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73" name="Oval 4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grpSp>
        </p:grpSp>
        <p:grpSp>
          <p:nvGrpSpPr>
            <p:cNvPr id="48" name="Group 46"/>
            <p:cNvGrpSpPr>
              <a:grpSpLocks/>
            </p:cNvGrpSpPr>
            <p:nvPr/>
          </p:nvGrpSpPr>
          <p:grpSpPr bwMode="auto">
            <a:xfrm>
              <a:off x="4968004" y="1954169"/>
              <a:ext cx="886282" cy="588587"/>
              <a:chOff x="912" y="768"/>
              <a:chExt cx="2400" cy="1584"/>
            </a:xfrm>
            <a:solidFill>
              <a:schemeClr val="bg1"/>
            </a:solidFill>
          </p:grpSpPr>
          <p:sp>
            <p:nvSpPr>
              <p:cNvPr id="136" name="Oval 4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37" name="Oval 4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38" name="Oval 4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39" name="Oval 5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40" name="Oval 5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41" name="Oval 5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42" name="Oval 5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43" name="Oval 5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44" name="Oval 5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grpSp>
            <p:nvGrpSpPr>
              <p:cNvPr id="145" name="Group 56"/>
              <p:cNvGrpSpPr>
                <a:grpSpLocks/>
              </p:cNvGrpSpPr>
              <p:nvPr/>
            </p:nvGrpSpPr>
            <p:grpSpPr bwMode="auto">
              <a:xfrm>
                <a:off x="912" y="768"/>
                <a:ext cx="2386" cy="1553"/>
                <a:chOff x="912" y="768"/>
                <a:chExt cx="2386" cy="1553"/>
              </a:xfrm>
              <a:grpFill/>
            </p:grpSpPr>
            <p:sp>
              <p:nvSpPr>
                <p:cNvPr id="146" name="Oval 5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47" name="Oval 5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48" name="Oval 5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49" name="Oval 6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50" name="Oval 6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51" name="Oval 6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52" name="Oval 6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53" name="Oval 6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54" name="Oval 6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grpSp>
        </p:grpSp>
        <p:grpSp>
          <p:nvGrpSpPr>
            <p:cNvPr id="49" name="Group 66"/>
            <p:cNvGrpSpPr>
              <a:grpSpLocks/>
            </p:cNvGrpSpPr>
            <p:nvPr/>
          </p:nvGrpSpPr>
          <p:grpSpPr bwMode="auto">
            <a:xfrm>
              <a:off x="3146816" y="1931727"/>
              <a:ext cx="886282" cy="587568"/>
              <a:chOff x="912" y="768"/>
              <a:chExt cx="2400" cy="1584"/>
            </a:xfrm>
            <a:solidFill>
              <a:schemeClr val="bg1"/>
            </a:solidFill>
          </p:grpSpPr>
          <p:sp>
            <p:nvSpPr>
              <p:cNvPr id="117" name="Oval 6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18" name="Oval 6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19" name="Oval 6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20" name="Oval 7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21" name="Oval 7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22" name="Oval 7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23" name="Oval 7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24" name="Oval 7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25" name="Oval 7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grpSp>
            <p:nvGrpSpPr>
              <p:cNvPr id="126" name="Group 76"/>
              <p:cNvGrpSpPr>
                <a:grpSpLocks/>
              </p:cNvGrpSpPr>
              <p:nvPr/>
            </p:nvGrpSpPr>
            <p:grpSpPr bwMode="auto">
              <a:xfrm>
                <a:off x="912" y="768"/>
                <a:ext cx="2386" cy="1553"/>
                <a:chOff x="912" y="768"/>
                <a:chExt cx="2386" cy="1553"/>
              </a:xfrm>
              <a:grpFill/>
            </p:grpSpPr>
            <p:sp>
              <p:nvSpPr>
                <p:cNvPr id="127" name="Oval 7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28" name="Oval 7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29" name="Oval 7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30" name="Oval 8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31" name="Oval 8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32" name="Oval 8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33" name="Oval 8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34" name="Oval 8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35" name="Oval 8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grpSp>
        </p:grpSp>
        <p:sp>
          <p:nvSpPr>
            <p:cNvPr id="50" name="Text Box 86"/>
            <p:cNvSpPr txBox="1">
              <a:spLocks noChangeArrowheads="1"/>
            </p:cNvSpPr>
            <p:nvPr/>
          </p:nvSpPr>
          <p:spPr bwMode="auto">
            <a:xfrm>
              <a:off x="1368727" y="2010655"/>
              <a:ext cx="737702"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100" b="1" dirty="0">
                  <a:solidFill>
                    <a:srgbClr val="0000CC"/>
                  </a:solidFill>
                  <a:latin typeface="微软雅黑" pitchFamily="34" charset="-122"/>
                  <a:ea typeface="微软雅黑" pitchFamily="34" charset="-122"/>
                </a:rPr>
                <a:t>网 </a:t>
              </a:r>
              <a:r>
                <a:rPr kumimoji="1" lang="en-US" altLang="zh-CN" sz="1100" b="1" dirty="0">
                  <a:solidFill>
                    <a:srgbClr val="0000CC"/>
                  </a:solidFill>
                  <a:latin typeface="微软雅黑" pitchFamily="34" charset="-122"/>
                  <a:ea typeface="微软雅黑" pitchFamily="34" charset="-122"/>
                </a:rPr>
                <a:t>1</a:t>
              </a:r>
            </a:p>
            <a:p>
              <a:pPr algn="ctr"/>
              <a:r>
                <a:rPr kumimoji="1" lang="en-US" altLang="zh-CN" sz="1100" b="1" dirty="0">
                  <a:solidFill>
                    <a:srgbClr val="0000CC"/>
                  </a:solidFill>
                  <a:latin typeface="微软雅黑" pitchFamily="34" charset="-122"/>
                  <a:ea typeface="微软雅黑" pitchFamily="34" charset="-122"/>
                </a:rPr>
                <a:t>15.0.0.0</a:t>
              </a:r>
            </a:p>
          </p:txBody>
        </p:sp>
        <p:sp>
          <p:nvSpPr>
            <p:cNvPr id="51" name="Text Box 87"/>
            <p:cNvSpPr txBox="1">
              <a:spLocks noChangeArrowheads="1"/>
            </p:cNvSpPr>
            <p:nvPr/>
          </p:nvSpPr>
          <p:spPr bwMode="auto">
            <a:xfrm>
              <a:off x="6838072" y="2010655"/>
              <a:ext cx="737702"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100" b="1" dirty="0">
                  <a:solidFill>
                    <a:srgbClr val="0000CC"/>
                  </a:solidFill>
                  <a:latin typeface="微软雅黑" pitchFamily="34" charset="-122"/>
                  <a:ea typeface="微软雅黑" pitchFamily="34" charset="-122"/>
                </a:rPr>
                <a:t>网 </a:t>
              </a:r>
              <a:r>
                <a:rPr kumimoji="1" lang="en-US" altLang="zh-CN" sz="1100" b="1" dirty="0">
                  <a:solidFill>
                    <a:srgbClr val="0000CC"/>
                  </a:solidFill>
                  <a:latin typeface="微软雅黑" pitchFamily="34" charset="-122"/>
                  <a:ea typeface="微软雅黑" pitchFamily="34" charset="-122"/>
                </a:rPr>
                <a:t>4</a:t>
              </a:r>
            </a:p>
            <a:p>
              <a:pPr algn="ctr"/>
              <a:r>
                <a:rPr kumimoji="1" lang="en-US" altLang="zh-CN" sz="1100" b="1" dirty="0">
                  <a:solidFill>
                    <a:srgbClr val="0000CC"/>
                  </a:solidFill>
                  <a:latin typeface="微软雅黑" pitchFamily="34" charset="-122"/>
                  <a:ea typeface="微软雅黑" pitchFamily="34" charset="-122"/>
                </a:rPr>
                <a:t>40.0.0.0</a:t>
              </a:r>
            </a:p>
          </p:txBody>
        </p:sp>
        <p:sp>
          <p:nvSpPr>
            <p:cNvPr id="52" name="Text Box 88"/>
            <p:cNvSpPr txBox="1">
              <a:spLocks noChangeArrowheads="1"/>
            </p:cNvSpPr>
            <p:nvPr/>
          </p:nvSpPr>
          <p:spPr bwMode="auto">
            <a:xfrm>
              <a:off x="5065252" y="2010655"/>
              <a:ext cx="737702"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100" b="1" dirty="0">
                  <a:solidFill>
                    <a:srgbClr val="0000CC"/>
                  </a:solidFill>
                  <a:latin typeface="微软雅黑" pitchFamily="34" charset="-122"/>
                  <a:ea typeface="微软雅黑" pitchFamily="34" charset="-122"/>
                </a:rPr>
                <a:t>网 </a:t>
              </a:r>
              <a:r>
                <a:rPr kumimoji="1" lang="en-US" altLang="zh-CN" sz="1100" b="1" dirty="0">
                  <a:solidFill>
                    <a:srgbClr val="0000CC"/>
                  </a:solidFill>
                  <a:latin typeface="微软雅黑" pitchFamily="34" charset="-122"/>
                  <a:ea typeface="微软雅黑" pitchFamily="34" charset="-122"/>
                </a:rPr>
                <a:t>3</a:t>
              </a:r>
            </a:p>
            <a:p>
              <a:pPr algn="ctr"/>
              <a:r>
                <a:rPr kumimoji="1" lang="en-US" altLang="zh-CN" sz="1100" b="1" dirty="0">
                  <a:solidFill>
                    <a:srgbClr val="0000CC"/>
                  </a:solidFill>
                  <a:latin typeface="微软雅黑" pitchFamily="34" charset="-122"/>
                  <a:ea typeface="微软雅黑" pitchFamily="34" charset="-122"/>
                </a:rPr>
                <a:t>30.0.0.0</a:t>
              </a:r>
            </a:p>
          </p:txBody>
        </p:sp>
        <p:sp>
          <p:nvSpPr>
            <p:cNvPr id="53" name="Text Box 89"/>
            <p:cNvSpPr txBox="1">
              <a:spLocks noChangeArrowheads="1"/>
            </p:cNvSpPr>
            <p:nvPr/>
          </p:nvSpPr>
          <p:spPr bwMode="auto">
            <a:xfrm>
              <a:off x="3244063" y="2010655"/>
              <a:ext cx="737702"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100" b="1" dirty="0">
                  <a:solidFill>
                    <a:srgbClr val="0000CC"/>
                  </a:solidFill>
                  <a:latin typeface="微软雅黑" pitchFamily="34" charset="-122"/>
                  <a:ea typeface="微软雅黑" pitchFamily="34" charset="-122"/>
                </a:rPr>
                <a:t>网 </a:t>
              </a:r>
              <a:r>
                <a:rPr kumimoji="1" lang="en-US" altLang="zh-CN" sz="1100" b="1" dirty="0">
                  <a:solidFill>
                    <a:srgbClr val="0000CC"/>
                  </a:solidFill>
                  <a:latin typeface="微软雅黑" pitchFamily="34" charset="-122"/>
                  <a:ea typeface="微软雅黑" pitchFamily="34" charset="-122"/>
                </a:rPr>
                <a:t>2</a:t>
              </a:r>
            </a:p>
            <a:p>
              <a:pPr algn="ctr"/>
              <a:r>
                <a:rPr kumimoji="1" lang="en-US" altLang="zh-CN" sz="1100" b="1" dirty="0">
                  <a:solidFill>
                    <a:srgbClr val="0000CC"/>
                  </a:solidFill>
                  <a:latin typeface="微软雅黑" pitchFamily="34" charset="-122"/>
                  <a:ea typeface="微软雅黑" pitchFamily="34" charset="-122"/>
                </a:rPr>
                <a:t>20.0.0.0</a:t>
              </a:r>
            </a:p>
          </p:txBody>
        </p:sp>
        <p:sp>
          <p:nvSpPr>
            <p:cNvPr id="54" name="Text Box 90"/>
            <p:cNvSpPr txBox="1">
              <a:spLocks noChangeArrowheads="1"/>
            </p:cNvSpPr>
            <p:nvPr/>
          </p:nvSpPr>
          <p:spPr bwMode="auto">
            <a:xfrm>
              <a:off x="1809657" y="1688948"/>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15.0.0.4</a:t>
              </a:r>
            </a:p>
          </p:txBody>
        </p:sp>
        <p:sp>
          <p:nvSpPr>
            <p:cNvPr id="55" name="Text Box 91"/>
            <p:cNvSpPr txBox="1">
              <a:spLocks noChangeArrowheads="1"/>
            </p:cNvSpPr>
            <p:nvPr/>
          </p:nvSpPr>
          <p:spPr bwMode="auto">
            <a:xfrm>
              <a:off x="6304057" y="1688948"/>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40.0.0.4</a:t>
              </a:r>
            </a:p>
          </p:txBody>
        </p:sp>
        <p:sp>
          <p:nvSpPr>
            <p:cNvPr id="56" name="Text Box 92"/>
            <p:cNvSpPr txBox="1">
              <a:spLocks noChangeArrowheads="1"/>
            </p:cNvSpPr>
            <p:nvPr/>
          </p:nvSpPr>
          <p:spPr bwMode="auto">
            <a:xfrm>
              <a:off x="4595590" y="1688948"/>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30.0.0.2</a:t>
              </a:r>
            </a:p>
          </p:txBody>
        </p:sp>
        <p:sp>
          <p:nvSpPr>
            <p:cNvPr id="57" name="Text Box 93"/>
            <p:cNvSpPr txBox="1">
              <a:spLocks noChangeArrowheads="1"/>
            </p:cNvSpPr>
            <p:nvPr/>
          </p:nvSpPr>
          <p:spPr bwMode="auto">
            <a:xfrm>
              <a:off x="3724779" y="1688948"/>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20.0.0.9</a:t>
              </a:r>
            </a:p>
          </p:txBody>
        </p:sp>
        <p:sp>
          <p:nvSpPr>
            <p:cNvPr id="58" name="Text Box 94"/>
            <p:cNvSpPr txBox="1">
              <a:spLocks noChangeArrowheads="1"/>
            </p:cNvSpPr>
            <p:nvPr/>
          </p:nvSpPr>
          <p:spPr bwMode="auto">
            <a:xfrm>
              <a:off x="2661682" y="1688948"/>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20.0.0.7</a:t>
              </a:r>
            </a:p>
          </p:txBody>
        </p:sp>
        <p:sp>
          <p:nvSpPr>
            <p:cNvPr id="59" name="Line 95"/>
            <p:cNvSpPr>
              <a:spLocks noChangeShapeType="1"/>
            </p:cNvSpPr>
            <p:nvPr/>
          </p:nvSpPr>
          <p:spPr bwMode="auto">
            <a:xfrm>
              <a:off x="2279321" y="1948048"/>
              <a:ext cx="0" cy="260121"/>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0" name="Line 96"/>
            <p:cNvSpPr>
              <a:spLocks noChangeShapeType="1"/>
            </p:cNvSpPr>
            <p:nvPr/>
          </p:nvSpPr>
          <p:spPr bwMode="auto">
            <a:xfrm>
              <a:off x="3046253" y="1948048"/>
              <a:ext cx="0" cy="260121"/>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1" name="Line 97"/>
            <p:cNvSpPr>
              <a:spLocks noChangeShapeType="1"/>
            </p:cNvSpPr>
            <p:nvPr/>
          </p:nvSpPr>
          <p:spPr bwMode="auto">
            <a:xfrm>
              <a:off x="5896278" y="1948048"/>
              <a:ext cx="0" cy="260121"/>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2" name="Line 98"/>
            <p:cNvSpPr>
              <a:spLocks noChangeShapeType="1"/>
            </p:cNvSpPr>
            <p:nvPr/>
          </p:nvSpPr>
          <p:spPr bwMode="auto">
            <a:xfrm>
              <a:off x="4161544" y="1948048"/>
              <a:ext cx="0" cy="260121"/>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3" name="Line 99"/>
            <p:cNvSpPr>
              <a:spLocks noChangeShapeType="1"/>
            </p:cNvSpPr>
            <p:nvPr/>
          </p:nvSpPr>
          <p:spPr bwMode="auto">
            <a:xfrm>
              <a:off x="6664316" y="1934787"/>
              <a:ext cx="0" cy="259101"/>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4" name="Line 100"/>
            <p:cNvSpPr>
              <a:spLocks noChangeShapeType="1"/>
            </p:cNvSpPr>
            <p:nvPr/>
          </p:nvSpPr>
          <p:spPr bwMode="auto">
            <a:xfrm>
              <a:off x="4910539" y="1948048"/>
              <a:ext cx="0" cy="260121"/>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5" name="Rectangle 101"/>
            <p:cNvSpPr>
              <a:spLocks noChangeArrowheads="1"/>
            </p:cNvSpPr>
            <p:nvPr/>
          </p:nvSpPr>
          <p:spPr bwMode="auto">
            <a:xfrm>
              <a:off x="2769018" y="2912648"/>
              <a:ext cx="3507555" cy="1142492"/>
            </a:xfrm>
            <a:prstGeom prst="rect">
              <a:avLst/>
            </a:prstGeom>
            <a:solidFill>
              <a:srgbClr val="00FFFF"/>
            </a:solidFill>
            <a:ln w="28575">
              <a:solidFill>
                <a:srgbClr val="009900"/>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66" name="Line 102"/>
            <p:cNvSpPr>
              <a:spLocks noChangeShapeType="1"/>
            </p:cNvSpPr>
            <p:nvPr/>
          </p:nvSpPr>
          <p:spPr bwMode="auto">
            <a:xfrm>
              <a:off x="2739038" y="3224794"/>
              <a:ext cx="3507555" cy="0"/>
            </a:xfrm>
            <a:prstGeom prst="line">
              <a:avLst/>
            </a:prstGeom>
            <a:noFill/>
            <a:ln w="1905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7" name="Text Box 103"/>
            <p:cNvSpPr txBox="1">
              <a:spLocks noChangeArrowheads="1"/>
            </p:cNvSpPr>
            <p:nvPr/>
          </p:nvSpPr>
          <p:spPr bwMode="auto">
            <a:xfrm>
              <a:off x="2821722" y="2927950"/>
              <a:ext cx="156966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目的主机所在的网络</a:t>
              </a:r>
            </a:p>
          </p:txBody>
        </p:sp>
        <p:sp>
          <p:nvSpPr>
            <p:cNvPr id="68" name="Text Box 104"/>
            <p:cNvSpPr txBox="1">
              <a:spLocks noChangeArrowheads="1"/>
            </p:cNvSpPr>
            <p:nvPr/>
          </p:nvSpPr>
          <p:spPr bwMode="auto">
            <a:xfrm>
              <a:off x="4857494" y="2924889"/>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下一跳地址</a:t>
              </a:r>
            </a:p>
          </p:txBody>
        </p:sp>
        <p:sp>
          <p:nvSpPr>
            <p:cNvPr id="69" name="Line 105"/>
            <p:cNvSpPr>
              <a:spLocks noChangeShapeType="1"/>
            </p:cNvSpPr>
            <p:nvPr/>
          </p:nvSpPr>
          <p:spPr bwMode="auto">
            <a:xfrm>
              <a:off x="4492815" y="2912648"/>
              <a:ext cx="0" cy="1142492"/>
            </a:xfrm>
            <a:prstGeom prst="line">
              <a:avLst/>
            </a:prstGeom>
            <a:noFill/>
            <a:ln w="1905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0" name="Line 106"/>
            <p:cNvSpPr>
              <a:spLocks noChangeShapeType="1"/>
            </p:cNvSpPr>
            <p:nvPr/>
          </p:nvSpPr>
          <p:spPr bwMode="auto">
            <a:xfrm>
              <a:off x="2739038" y="3431870"/>
              <a:ext cx="3507555" cy="0"/>
            </a:xfrm>
            <a:prstGeom prst="line">
              <a:avLst/>
            </a:prstGeom>
            <a:noFill/>
            <a:ln w="1905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1" name="Line 107"/>
            <p:cNvSpPr>
              <a:spLocks noChangeShapeType="1"/>
            </p:cNvSpPr>
            <p:nvPr/>
          </p:nvSpPr>
          <p:spPr bwMode="auto">
            <a:xfrm>
              <a:off x="2739038" y="3639967"/>
              <a:ext cx="3507555" cy="0"/>
            </a:xfrm>
            <a:prstGeom prst="line">
              <a:avLst/>
            </a:prstGeom>
            <a:noFill/>
            <a:ln w="1905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2" name="Line 108"/>
            <p:cNvSpPr>
              <a:spLocks noChangeShapeType="1"/>
            </p:cNvSpPr>
            <p:nvPr/>
          </p:nvSpPr>
          <p:spPr bwMode="auto">
            <a:xfrm>
              <a:off x="2739038" y="3848064"/>
              <a:ext cx="3507555" cy="0"/>
            </a:xfrm>
            <a:prstGeom prst="line">
              <a:avLst/>
            </a:prstGeom>
            <a:noFill/>
            <a:ln w="1905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3" name="Text Box 109"/>
            <p:cNvSpPr txBox="1">
              <a:spLocks noChangeArrowheads="1"/>
            </p:cNvSpPr>
            <p:nvPr/>
          </p:nvSpPr>
          <p:spPr bwMode="auto">
            <a:xfrm>
              <a:off x="3213121" y="3192152"/>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20.0.0.0</a:t>
              </a:r>
            </a:p>
          </p:txBody>
        </p:sp>
        <p:sp>
          <p:nvSpPr>
            <p:cNvPr id="74" name="Text Box 110"/>
            <p:cNvSpPr txBox="1">
              <a:spLocks noChangeArrowheads="1"/>
            </p:cNvSpPr>
            <p:nvPr/>
          </p:nvSpPr>
          <p:spPr bwMode="auto">
            <a:xfrm>
              <a:off x="3213121" y="3394127"/>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30.0.0.0</a:t>
              </a:r>
            </a:p>
          </p:txBody>
        </p:sp>
        <p:sp>
          <p:nvSpPr>
            <p:cNvPr id="75" name="Text Box 111"/>
            <p:cNvSpPr txBox="1">
              <a:spLocks noChangeArrowheads="1"/>
            </p:cNvSpPr>
            <p:nvPr/>
          </p:nvSpPr>
          <p:spPr bwMode="auto">
            <a:xfrm>
              <a:off x="3213121" y="3616507"/>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15.0.0.0</a:t>
              </a:r>
            </a:p>
          </p:txBody>
        </p:sp>
        <p:sp>
          <p:nvSpPr>
            <p:cNvPr id="76" name="Text Box 112"/>
            <p:cNvSpPr txBox="1">
              <a:spLocks noChangeArrowheads="1"/>
            </p:cNvSpPr>
            <p:nvPr/>
          </p:nvSpPr>
          <p:spPr bwMode="auto">
            <a:xfrm>
              <a:off x="3213121" y="3808282"/>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40.0.0.0</a:t>
              </a:r>
            </a:p>
          </p:txBody>
        </p:sp>
        <p:sp>
          <p:nvSpPr>
            <p:cNvPr id="77" name="Text Box 113"/>
            <p:cNvSpPr txBox="1">
              <a:spLocks noChangeArrowheads="1"/>
            </p:cNvSpPr>
            <p:nvPr/>
          </p:nvSpPr>
          <p:spPr bwMode="auto">
            <a:xfrm>
              <a:off x="4922696" y="3608345"/>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20.0.0.7</a:t>
              </a:r>
            </a:p>
          </p:txBody>
        </p:sp>
        <p:sp>
          <p:nvSpPr>
            <p:cNvPr id="78" name="Text Box 114"/>
            <p:cNvSpPr txBox="1">
              <a:spLocks noChangeArrowheads="1"/>
            </p:cNvSpPr>
            <p:nvPr/>
          </p:nvSpPr>
          <p:spPr bwMode="auto">
            <a:xfrm>
              <a:off x="4922696" y="3816443"/>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30.0.0.1</a:t>
              </a:r>
            </a:p>
          </p:txBody>
        </p:sp>
        <p:sp>
          <p:nvSpPr>
            <p:cNvPr id="79" name="Text Box 115"/>
            <p:cNvSpPr txBox="1">
              <a:spLocks noChangeArrowheads="1"/>
            </p:cNvSpPr>
            <p:nvPr/>
          </p:nvSpPr>
          <p:spPr bwMode="auto">
            <a:xfrm>
              <a:off x="4616584" y="3411468"/>
              <a:ext cx="1402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直接交付，接口 </a:t>
              </a:r>
              <a:r>
                <a:rPr kumimoji="1" lang="en-US" altLang="zh-CN" sz="1200" b="1">
                  <a:latin typeface="微软雅黑" pitchFamily="34" charset="-122"/>
                  <a:ea typeface="微软雅黑" pitchFamily="34" charset="-122"/>
                </a:rPr>
                <a:t>1</a:t>
              </a:r>
            </a:p>
          </p:txBody>
        </p:sp>
        <p:sp>
          <p:nvSpPr>
            <p:cNvPr id="80" name="Text Box 116"/>
            <p:cNvSpPr txBox="1">
              <a:spLocks noChangeArrowheads="1"/>
            </p:cNvSpPr>
            <p:nvPr/>
          </p:nvSpPr>
          <p:spPr bwMode="auto">
            <a:xfrm>
              <a:off x="4616584" y="3190112"/>
              <a:ext cx="1402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直接交付，接口 </a:t>
              </a:r>
              <a:r>
                <a:rPr kumimoji="1" lang="en-US" altLang="zh-CN" sz="1200" b="1">
                  <a:latin typeface="微软雅黑" pitchFamily="34" charset="-122"/>
                  <a:ea typeface="微软雅黑" pitchFamily="34" charset="-122"/>
                </a:rPr>
                <a:t>0</a:t>
              </a:r>
            </a:p>
          </p:txBody>
        </p:sp>
        <p:sp>
          <p:nvSpPr>
            <p:cNvPr id="81" name="Text Box 117"/>
            <p:cNvSpPr txBox="1">
              <a:spLocks noChangeArrowheads="1"/>
            </p:cNvSpPr>
            <p:nvPr/>
          </p:nvSpPr>
          <p:spPr bwMode="auto">
            <a:xfrm>
              <a:off x="3630742" y="2579704"/>
              <a:ext cx="174599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itchFamily="34" charset="-122"/>
                  <a:ea typeface="微软雅黑" pitchFamily="34" charset="-122"/>
                </a:rPr>
                <a:t>路由器 </a:t>
              </a:r>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2</a:t>
              </a:r>
              <a:r>
                <a:rPr kumimoji="1" lang="en-US" altLang="zh-CN" sz="1400" b="1" dirty="0">
                  <a:latin typeface="微软雅黑" pitchFamily="34" charset="-122"/>
                  <a:ea typeface="微软雅黑" pitchFamily="34" charset="-122"/>
                </a:rPr>
                <a:t> </a:t>
              </a:r>
              <a:r>
                <a:rPr kumimoji="1" lang="zh-CN" altLang="en-US" sz="1400" b="1" dirty="0">
                  <a:latin typeface="微软雅黑" pitchFamily="34" charset="-122"/>
                  <a:ea typeface="微软雅黑" pitchFamily="34" charset="-122"/>
                </a:rPr>
                <a:t>的转发表</a:t>
              </a:r>
            </a:p>
          </p:txBody>
        </p:sp>
        <p:sp>
          <p:nvSpPr>
            <p:cNvPr id="82" name="Text Box 118"/>
            <p:cNvSpPr txBox="1">
              <a:spLocks noChangeArrowheads="1"/>
            </p:cNvSpPr>
            <p:nvPr/>
          </p:nvSpPr>
          <p:spPr bwMode="auto">
            <a:xfrm>
              <a:off x="5481872" y="1688948"/>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30.0.0.1</a:t>
              </a:r>
            </a:p>
          </p:txBody>
        </p:sp>
        <p:pic>
          <p:nvPicPr>
            <p:cNvPr id="101" name="Picture 13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43978" y="2090860"/>
              <a:ext cx="499501" cy="2366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02" name="Text Box 140"/>
            <p:cNvSpPr txBox="1">
              <a:spLocks noChangeArrowheads="1"/>
            </p:cNvSpPr>
            <p:nvPr/>
          </p:nvSpPr>
          <p:spPr bwMode="auto">
            <a:xfrm>
              <a:off x="4371512" y="1829720"/>
              <a:ext cx="3545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itchFamily="34" charset="-122"/>
                  <a:ea typeface="微软雅黑" pitchFamily="34" charset="-122"/>
                </a:rPr>
                <a:t>R</a:t>
              </a:r>
              <a:r>
                <a:rPr kumimoji="1" lang="en-US" altLang="zh-CN" sz="1200" b="1" baseline="-25000" dirty="0">
                  <a:solidFill>
                    <a:srgbClr val="0000CC"/>
                  </a:solidFill>
                  <a:latin typeface="微软雅黑" pitchFamily="34" charset="-122"/>
                  <a:ea typeface="微软雅黑" pitchFamily="34" charset="-122"/>
                </a:rPr>
                <a:t>2</a:t>
              </a:r>
              <a:endParaRPr kumimoji="1" lang="en-US" altLang="zh-CN" sz="1200" b="1" dirty="0">
                <a:solidFill>
                  <a:srgbClr val="0000CC"/>
                </a:solidFill>
                <a:latin typeface="微软雅黑" pitchFamily="34" charset="-122"/>
                <a:ea typeface="微软雅黑" pitchFamily="34" charset="-122"/>
              </a:endParaRPr>
            </a:p>
          </p:txBody>
        </p:sp>
        <p:sp>
          <p:nvSpPr>
            <p:cNvPr id="103" name="Text Box 141"/>
            <p:cNvSpPr txBox="1">
              <a:spLocks noChangeArrowheads="1"/>
            </p:cNvSpPr>
            <p:nvPr/>
          </p:nvSpPr>
          <p:spPr bwMode="auto">
            <a:xfrm>
              <a:off x="6115811" y="1829720"/>
              <a:ext cx="3545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itchFamily="34" charset="-122"/>
                  <a:ea typeface="微软雅黑" pitchFamily="34" charset="-122"/>
                </a:rPr>
                <a:t>R</a:t>
              </a:r>
              <a:r>
                <a:rPr kumimoji="1" lang="en-US" altLang="zh-CN" sz="1200" b="1" baseline="-25000" dirty="0">
                  <a:solidFill>
                    <a:srgbClr val="0000CC"/>
                  </a:solidFill>
                  <a:latin typeface="微软雅黑" pitchFamily="34" charset="-122"/>
                  <a:ea typeface="微软雅黑" pitchFamily="34" charset="-122"/>
                </a:rPr>
                <a:t>3</a:t>
              </a:r>
              <a:endParaRPr kumimoji="1" lang="en-US" altLang="zh-CN" sz="1200" b="1" dirty="0">
                <a:solidFill>
                  <a:srgbClr val="0000CC"/>
                </a:solidFill>
                <a:latin typeface="微软雅黑" pitchFamily="34" charset="-122"/>
                <a:ea typeface="微软雅黑" pitchFamily="34" charset="-122"/>
              </a:endParaRPr>
            </a:p>
          </p:txBody>
        </p:sp>
        <p:sp>
          <p:nvSpPr>
            <p:cNvPr id="104" name="Text Box 142"/>
            <p:cNvSpPr txBox="1">
              <a:spLocks noChangeArrowheads="1"/>
            </p:cNvSpPr>
            <p:nvPr/>
          </p:nvSpPr>
          <p:spPr bwMode="auto">
            <a:xfrm>
              <a:off x="2516915" y="1829720"/>
              <a:ext cx="3545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itchFamily="34" charset="-122"/>
                  <a:ea typeface="微软雅黑" pitchFamily="34" charset="-122"/>
                </a:rPr>
                <a:t>R</a:t>
              </a:r>
              <a:r>
                <a:rPr kumimoji="1" lang="en-US" altLang="zh-CN" sz="1200" b="1" baseline="-25000" dirty="0">
                  <a:solidFill>
                    <a:srgbClr val="0000CC"/>
                  </a:solidFill>
                  <a:latin typeface="微软雅黑" pitchFamily="34" charset="-122"/>
                  <a:ea typeface="微软雅黑" pitchFamily="34" charset="-122"/>
                </a:rPr>
                <a:t>1</a:t>
              </a:r>
              <a:endParaRPr kumimoji="1" lang="en-US" altLang="zh-CN" sz="1200" b="1" dirty="0">
                <a:solidFill>
                  <a:srgbClr val="0000CC"/>
                </a:solidFill>
                <a:latin typeface="微软雅黑" pitchFamily="34" charset="-122"/>
                <a:ea typeface="微软雅黑" pitchFamily="34" charset="-122"/>
              </a:endParaRPr>
            </a:p>
          </p:txBody>
        </p:sp>
        <p:sp>
          <p:nvSpPr>
            <p:cNvPr id="105" name="Text Box 146"/>
            <p:cNvSpPr txBox="1">
              <a:spLocks noChangeArrowheads="1"/>
            </p:cNvSpPr>
            <p:nvPr/>
          </p:nvSpPr>
          <p:spPr bwMode="auto">
            <a:xfrm>
              <a:off x="4025618" y="2173488"/>
              <a:ext cx="27924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0</a:t>
              </a:r>
            </a:p>
          </p:txBody>
        </p:sp>
        <p:sp>
          <p:nvSpPr>
            <p:cNvPr id="106" name="Text Box 147"/>
            <p:cNvSpPr txBox="1">
              <a:spLocks noChangeArrowheads="1"/>
            </p:cNvSpPr>
            <p:nvPr/>
          </p:nvSpPr>
          <p:spPr bwMode="auto">
            <a:xfrm>
              <a:off x="4765773" y="2177567"/>
              <a:ext cx="27924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1</a:t>
              </a:r>
            </a:p>
          </p:txBody>
        </p:sp>
        <p:pic>
          <p:nvPicPr>
            <p:cNvPr id="107" name="Picture 14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276217" y="2076579"/>
              <a:ext cx="500606" cy="2356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8" name="Picture 14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45466" y="2080659"/>
              <a:ext cx="499501" cy="2356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sp>
        <p:nvSpPr>
          <p:cNvPr id="193" name="Text Box 155"/>
          <p:cNvSpPr txBox="1">
            <a:spLocks noChangeArrowheads="1"/>
          </p:cNvSpPr>
          <p:nvPr/>
        </p:nvSpPr>
        <p:spPr bwMode="auto">
          <a:xfrm>
            <a:off x="1342352" y="739971"/>
            <a:ext cx="6557464" cy="1311128"/>
          </a:xfrm>
          <a:prstGeom prst="rect">
            <a:avLst/>
          </a:prstGeom>
          <a:solidFill>
            <a:srgbClr val="0000FF"/>
          </a:solidFill>
          <a:ln w="9525">
            <a:noFill/>
            <a:miter lim="800000"/>
            <a:headEnd/>
            <a:tailEnd/>
          </a:ln>
          <a:effectLst/>
        </p:spPr>
        <p:txBody>
          <a:bodyPr wrap="square">
            <a:spAutoFit/>
          </a:bodyPr>
          <a:lstStyle/>
          <a:p>
            <a:pPr algn="ctr">
              <a:lnSpc>
                <a:spcPct val="110000"/>
              </a:lnSpc>
            </a:pPr>
            <a:r>
              <a:rPr lang="zh-CN" altLang="en-US" b="1" dirty="0">
                <a:solidFill>
                  <a:schemeClr val="bg1"/>
                </a:solidFill>
                <a:latin typeface="微软雅黑" pitchFamily="34" charset="-122"/>
                <a:ea typeface="微软雅黑" pitchFamily="34" charset="-122"/>
              </a:rPr>
              <a:t>为了压缩转发表的大小，</a:t>
            </a:r>
            <a:endParaRPr lang="en-US" altLang="zh-CN" b="1" dirty="0">
              <a:solidFill>
                <a:schemeClr val="bg1"/>
              </a:solidFill>
              <a:latin typeface="微软雅黑" pitchFamily="34" charset="-122"/>
              <a:ea typeface="微软雅黑" pitchFamily="34" charset="-122"/>
            </a:endParaRPr>
          </a:p>
          <a:p>
            <a:pPr algn="ctr">
              <a:lnSpc>
                <a:spcPct val="110000"/>
              </a:lnSpc>
            </a:pPr>
            <a:r>
              <a:rPr lang="zh-CN" altLang="en-US" b="1" dirty="0">
                <a:solidFill>
                  <a:schemeClr val="bg1"/>
                </a:solidFill>
                <a:latin typeface="微软雅黑" pitchFamily="34" charset="-122"/>
                <a:ea typeface="微软雅黑" pitchFamily="34" charset="-122"/>
              </a:rPr>
              <a:t>转发表中最主要的路由是（目的网络地址，下一跳地址） ，</a:t>
            </a:r>
            <a:endParaRPr lang="en-US" altLang="zh-CN" b="1" dirty="0">
              <a:solidFill>
                <a:schemeClr val="bg1"/>
              </a:solidFill>
              <a:latin typeface="微软雅黑" pitchFamily="34" charset="-122"/>
              <a:ea typeface="微软雅黑" pitchFamily="34" charset="-122"/>
            </a:endParaRPr>
          </a:p>
          <a:p>
            <a:pPr algn="ctr">
              <a:lnSpc>
                <a:spcPct val="110000"/>
              </a:lnSpc>
            </a:pPr>
            <a:r>
              <a:rPr lang="zh-CN" altLang="en-US" b="1" dirty="0">
                <a:solidFill>
                  <a:schemeClr val="bg1"/>
                </a:solidFill>
                <a:latin typeface="微软雅黑" pitchFamily="34" charset="-122"/>
                <a:ea typeface="微软雅黑" pitchFamily="34" charset="-122"/>
              </a:rPr>
              <a:t>而不是（目的地址，下一跳地址）。</a:t>
            </a:r>
            <a:endParaRPr lang="en-US" altLang="zh-CN" b="1" dirty="0">
              <a:solidFill>
                <a:schemeClr val="bg1"/>
              </a:solidFill>
              <a:latin typeface="微软雅黑" pitchFamily="34" charset="-122"/>
              <a:ea typeface="微软雅黑" pitchFamily="34" charset="-122"/>
            </a:endParaRPr>
          </a:p>
          <a:p>
            <a:pPr algn="ctr">
              <a:lnSpc>
                <a:spcPct val="110000"/>
              </a:lnSpc>
            </a:pPr>
            <a:r>
              <a:rPr lang="zh-CN" altLang="en-US" b="1" dirty="0">
                <a:solidFill>
                  <a:srgbClr val="FFFF00"/>
                </a:solidFill>
                <a:latin typeface="微软雅黑" pitchFamily="34" charset="-122"/>
                <a:ea typeface="微软雅黑" pitchFamily="34" charset="-122"/>
              </a:rPr>
              <a:t>查找转发表的过程就是逐行寻找前缀匹配。</a:t>
            </a:r>
          </a:p>
        </p:txBody>
      </p:sp>
    </p:spTree>
    <p:extLst>
      <p:ext uri="{BB962C8B-B14F-4D97-AF65-F5344CB8AC3E}">
        <p14:creationId xmlns:p14="http://schemas.microsoft.com/office/powerpoint/2010/main" val="102938956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19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3" grpId="0" animBg="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圆角矩形 65"/>
          <p:cNvSpPr/>
          <p:nvPr/>
        </p:nvSpPr>
        <p:spPr>
          <a:xfrm>
            <a:off x="344776" y="633725"/>
            <a:ext cx="8469440" cy="372914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4" name="椭圆 3"/>
          <p:cNvSpPr/>
          <p:nvPr/>
        </p:nvSpPr>
        <p:spPr bwMode="auto">
          <a:xfrm rot="20475920">
            <a:off x="1042029" y="910124"/>
            <a:ext cx="3351723" cy="1002368"/>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graphicFrame>
        <p:nvGraphicFramePr>
          <p:cNvPr id="8" name="Group 125"/>
          <p:cNvGraphicFramePr>
            <a:graphicFrameLocks noGrp="1"/>
          </p:cNvGraphicFramePr>
          <p:nvPr>
            <p:extLst>
              <p:ext uri="{D42A27DB-BD31-4B8C-83A1-F6EECF244321}">
                <p14:modId xmlns:p14="http://schemas.microsoft.com/office/powerpoint/2010/main" val="3659862070"/>
              </p:ext>
            </p:extLst>
          </p:nvPr>
        </p:nvGraphicFramePr>
        <p:xfrm>
          <a:off x="5544358" y="1184245"/>
          <a:ext cx="2790174" cy="1076799"/>
        </p:xfrm>
        <a:graphic>
          <a:graphicData uri="http://schemas.openxmlformats.org/drawingml/2006/table">
            <a:tbl>
              <a:tblPr/>
              <a:tblGrid>
                <a:gridCol w="1543446">
                  <a:extLst>
                    <a:ext uri="{9D8B030D-6E8A-4147-A177-3AD203B41FA5}">
                      <a16:colId xmlns:a16="http://schemas.microsoft.com/office/drawing/2014/main" val="20000"/>
                    </a:ext>
                  </a:extLst>
                </a:gridCol>
                <a:gridCol w="1246728">
                  <a:extLst>
                    <a:ext uri="{9D8B030D-6E8A-4147-A177-3AD203B41FA5}">
                      <a16:colId xmlns:a16="http://schemas.microsoft.com/office/drawing/2014/main" val="20001"/>
                    </a:ext>
                  </a:extLst>
                </a:gridCol>
              </a:tblGrid>
              <a:tr h="286975">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highlight>
                            <a:srgbClr val="FFFF00"/>
                          </a:highlight>
                          <a:latin typeface="微软雅黑" panose="020B0503020204020204" pitchFamily="34" charset="-122"/>
                          <a:ea typeface="微软雅黑" panose="020B0503020204020204" pitchFamily="34" charset="-122"/>
                        </a:rPr>
                        <a:t>前缀匹配</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highlight>
                            <a:srgbClr val="FFFF00"/>
                          </a:highlight>
                          <a:latin typeface="微软雅黑" panose="020B0503020204020204" pitchFamily="34" charset="-122"/>
                          <a:ea typeface="微软雅黑" panose="020B0503020204020204" pitchFamily="34" charset="-122"/>
                        </a:rPr>
                        <a:t>下一跳</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789824">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highlight>
                            <a:srgbClr val="FFFF00"/>
                          </a:highlight>
                          <a:latin typeface="微软雅黑" panose="020B0503020204020204" pitchFamily="34" charset="-122"/>
                          <a:ea typeface="微软雅黑" panose="020B0503020204020204" pitchFamily="34" charset="-122"/>
                        </a:rPr>
                        <a:t>128.1.3.64/26</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highlight>
                            <a:srgbClr val="FFFF00"/>
                          </a:highlight>
                          <a:latin typeface="微软雅黑" panose="020B0503020204020204" pitchFamily="34" charset="-122"/>
                          <a:ea typeface="微软雅黑" panose="020B0503020204020204" pitchFamily="34" charset="-122"/>
                        </a:rPr>
                        <a:t>128.1.2.128/25</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highlight>
                            <a:srgbClr val="FFFF00"/>
                          </a:highlight>
                          <a:latin typeface="微软雅黑" panose="020B0503020204020204" pitchFamily="34" charset="-122"/>
                          <a:ea typeface="微软雅黑" panose="020B0503020204020204" pitchFamily="34" charset="-122"/>
                        </a:rPr>
                        <a:t>128.1.2.192/26</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defRPr/>
                      </a:pPr>
                      <a:r>
                        <a:rPr kumimoji="1" lang="en-US" altLang="zh-CN" sz="1400" b="1" i="0" u="none" strike="noStrike" cap="none" normalizeH="0" baseline="0" dirty="0">
                          <a:ln>
                            <a:noFill/>
                          </a:ln>
                          <a:solidFill>
                            <a:schemeClr val="tx1"/>
                          </a:solidFill>
                          <a:effectLst/>
                          <a:highlight>
                            <a:srgbClr val="FFFF00"/>
                          </a:highlight>
                          <a:latin typeface="微软雅黑" panose="020B0503020204020204" pitchFamily="34" charset="-122"/>
                          <a:ea typeface="微软雅黑" panose="020B0503020204020204" pitchFamily="34" charset="-122"/>
                        </a:rPr>
                        <a:t> R</a:t>
                      </a:r>
                      <a:r>
                        <a:rPr kumimoji="1" lang="en-US" altLang="zh-CN" sz="1400" b="1" i="0" u="none" strike="noStrike" cap="none" normalizeH="0" baseline="-25000" dirty="0">
                          <a:ln>
                            <a:noFill/>
                          </a:ln>
                          <a:solidFill>
                            <a:schemeClr val="tx1"/>
                          </a:solidFill>
                          <a:effectLst/>
                          <a:highlight>
                            <a:srgbClr val="FFFF00"/>
                          </a:highlight>
                          <a:latin typeface="微软雅黑" panose="020B0503020204020204" pitchFamily="34" charset="-122"/>
                          <a:ea typeface="微软雅黑" panose="020B0503020204020204" pitchFamily="34" charset="-122"/>
                        </a:rPr>
                        <a:t>2</a:t>
                      </a:r>
                      <a:r>
                        <a:rPr kumimoji="1" lang="zh-CN" altLang="en-US" sz="1400" b="1" i="0" u="none" strike="noStrike" cap="none" normalizeH="0" baseline="0" dirty="0">
                          <a:ln>
                            <a:noFill/>
                          </a:ln>
                          <a:solidFill>
                            <a:schemeClr val="tx1"/>
                          </a:solidFill>
                          <a:effectLst/>
                          <a:highlight>
                            <a:srgbClr val="FFFF00"/>
                          </a:highlight>
                          <a:latin typeface="微软雅黑" panose="020B0503020204020204" pitchFamily="34" charset="-122"/>
                          <a:ea typeface="微软雅黑" panose="020B0503020204020204" pitchFamily="34" charset="-122"/>
                        </a:rPr>
                        <a:t>，接口 </a:t>
                      </a:r>
                      <a:r>
                        <a:rPr kumimoji="1" lang="en-US" altLang="zh-CN" sz="1400" b="1" i="0" u="none" strike="noStrike" cap="none" normalizeH="0" baseline="0" dirty="0">
                          <a:ln>
                            <a:noFill/>
                          </a:ln>
                          <a:solidFill>
                            <a:schemeClr val="tx1"/>
                          </a:solidFill>
                          <a:effectLst/>
                          <a:highlight>
                            <a:srgbClr val="FFFF00"/>
                          </a:highlight>
                          <a:latin typeface="微软雅黑" panose="020B0503020204020204" pitchFamily="34" charset="-122"/>
                          <a:ea typeface="微软雅黑" panose="020B0503020204020204" pitchFamily="34" charset="-122"/>
                        </a:rPr>
                        <a:t>1</a:t>
                      </a:r>
                      <a:endParaRPr kumimoji="1" lang="en-US" altLang="zh-CN" sz="1400" b="1" i="0" u="none" strike="noStrike" cap="none" normalizeH="0" baseline="-25000" dirty="0">
                        <a:ln>
                          <a:noFill/>
                        </a:ln>
                        <a:solidFill>
                          <a:schemeClr val="tx1"/>
                        </a:solidFill>
                        <a:effectLst/>
                        <a:highlight>
                          <a:srgbClr val="FFFF00"/>
                        </a:highlight>
                        <a:latin typeface="微软雅黑" panose="020B0503020204020204" pitchFamily="34" charset="-122"/>
                        <a:ea typeface="微软雅黑" panose="020B0503020204020204" pitchFamily="34" charset="-122"/>
                      </a:endParaRP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highlight>
                            <a:srgbClr val="FFFF00"/>
                          </a:highligh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highlight>
                            <a:srgbClr val="FFFF00"/>
                          </a:highlight>
                          <a:latin typeface="微软雅黑" panose="020B0503020204020204" pitchFamily="34" charset="-122"/>
                          <a:ea typeface="微软雅黑" panose="020B0503020204020204" pitchFamily="34" charset="-122"/>
                        </a:rPr>
                        <a:t>1</a:t>
                      </a: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highlight>
                            <a:srgbClr val="FFFF00"/>
                          </a:highligh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highlight>
                            <a:srgbClr val="FFFF00"/>
                          </a:highlight>
                          <a:latin typeface="微软雅黑" panose="020B0503020204020204" pitchFamily="34" charset="-122"/>
                          <a:ea typeface="微软雅黑" panose="020B0503020204020204" pitchFamily="34" charset="-122"/>
                        </a:rPr>
                        <a:t>0</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grpSp>
        <p:nvGrpSpPr>
          <p:cNvPr id="5" name="组合 62"/>
          <p:cNvGrpSpPr/>
          <p:nvPr/>
        </p:nvGrpSpPr>
        <p:grpSpPr>
          <a:xfrm>
            <a:off x="354487" y="816458"/>
            <a:ext cx="7304424" cy="3440748"/>
            <a:chOff x="354487" y="816458"/>
            <a:chExt cx="7304424" cy="3440748"/>
          </a:xfrm>
        </p:grpSpPr>
        <p:grpSp>
          <p:nvGrpSpPr>
            <p:cNvPr id="24" name="组合 67"/>
            <p:cNvGrpSpPr/>
            <p:nvPr/>
          </p:nvGrpSpPr>
          <p:grpSpPr>
            <a:xfrm>
              <a:off x="354487" y="816458"/>
              <a:ext cx="7304424" cy="3440748"/>
              <a:chOff x="354487" y="816458"/>
              <a:chExt cx="7304424" cy="3440748"/>
            </a:xfrm>
          </p:grpSpPr>
          <p:sp>
            <p:nvSpPr>
              <p:cNvPr id="65" name="直角三角形 64"/>
              <p:cNvSpPr/>
              <p:nvPr/>
            </p:nvSpPr>
            <p:spPr>
              <a:xfrm rot="16200000">
                <a:off x="4357107" y="1079129"/>
                <a:ext cx="1089992" cy="1274054"/>
              </a:xfrm>
              <a:prstGeom prst="rtTriangle">
                <a:avLst/>
              </a:prstGeom>
              <a:gradFill flip="none" rotWithShape="1">
                <a:gsLst>
                  <a:gs pos="0">
                    <a:schemeClr val="bg1">
                      <a:lumMod val="85000"/>
                      <a:shade val="30000"/>
                      <a:satMod val="115000"/>
                    </a:schemeClr>
                  </a:gs>
                  <a:gs pos="50000">
                    <a:schemeClr val="bg1">
                      <a:lumMod val="85000"/>
                      <a:shade val="67500"/>
                      <a:satMod val="115000"/>
                    </a:schemeClr>
                  </a:gs>
                  <a:gs pos="100000">
                    <a:schemeClr val="bg1">
                      <a:lumMod val="85000"/>
                      <a:shade val="100000"/>
                      <a:satMod val="115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椭圆 1"/>
              <p:cNvSpPr/>
              <p:nvPr/>
            </p:nvSpPr>
            <p:spPr bwMode="auto">
              <a:xfrm>
                <a:off x="3607791" y="2535299"/>
                <a:ext cx="3716460" cy="1197252"/>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3" name="椭圆 2"/>
              <p:cNvSpPr/>
              <p:nvPr/>
            </p:nvSpPr>
            <p:spPr bwMode="auto">
              <a:xfrm rot="16200000">
                <a:off x="883716" y="2425929"/>
                <a:ext cx="1925637" cy="1736917"/>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6" name="Text Box 20"/>
              <p:cNvSpPr txBox="1">
                <a:spLocks noChangeArrowheads="1"/>
              </p:cNvSpPr>
              <p:nvPr/>
            </p:nvSpPr>
            <p:spPr bwMode="auto">
              <a:xfrm>
                <a:off x="2456408" y="203983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128.1.2.194</a:t>
                </a:r>
              </a:p>
            </p:txBody>
          </p:sp>
          <p:sp>
            <p:nvSpPr>
              <p:cNvPr id="7" name="Text Box 25"/>
              <p:cNvSpPr txBox="1">
                <a:spLocks noChangeArrowheads="1"/>
              </p:cNvSpPr>
              <p:nvPr/>
            </p:nvSpPr>
            <p:spPr bwMode="auto">
              <a:xfrm>
                <a:off x="3732139" y="1824581"/>
                <a:ext cx="3113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10" name="Line 19"/>
              <p:cNvSpPr>
                <a:spLocks noChangeShapeType="1"/>
              </p:cNvSpPr>
              <p:nvPr/>
            </p:nvSpPr>
            <p:spPr bwMode="auto">
              <a:xfrm>
                <a:off x="2775735" y="1678638"/>
                <a:ext cx="1301162" cy="55733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1" name="Line 16"/>
              <p:cNvSpPr>
                <a:spLocks noChangeShapeType="1"/>
              </p:cNvSpPr>
              <p:nvPr/>
            </p:nvSpPr>
            <p:spPr bwMode="auto">
              <a:xfrm flipH="1">
                <a:off x="1638141" y="1656270"/>
                <a:ext cx="947995" cy="2530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2" name="Line 8"/>
              <p:cNvSpPr>
                <a:spLocks noChangeShapeType="1"/>
              </p:cNvSpPr>
              <p:nvPr/>
            </p:nvSpPr>
            <p:spPr bwMode="auto">
              <a:xfrm flipH="1">
                <a:off x="2658440" y="1101262"/>
                <a:ext cx="956029" cy="55360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13" name="Picture 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93961" y="824458"/>
                <a:ext cx="345456"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Text Box 9"/>
              <p:cNvSpPr txBox="1">
                <a:spLocks noChangeArrowheads="1"/>
              </p:cNvSpPr>
              <p:nvPr/>
            </p:nvSpPr>
            <p:spPr bwMode="auto">
              <a:xfrm>
                <a:off x="2171247" y="91222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128.1.2.193</a:t>
                </a:r>
              </a:p>
            </p:txBody>
          </p:sp>
          <p:sp>
            <p:nvSpPr>
              <p:cNvPr id="15" name="Text Box 23"/>
              <p:cNvSpPr txBox="1">
                <a:spLocks noChangeArrowheads="1"/>
              </p:cNvSpPr>
              <p:nvPr/>
            </p:nvSpPr>
            <p:spPr bwMode="auto">
              <a:xfrm>
                <a:off x="3839945" y="816458"/>
                <a:ext cx="1225389" cy="338554"/>
              </a:xfrm>
              <a:prstGeom prst="rect">
                <a:avLst/>
              </a:prstGeom>
              <a:solidFill>
                <a:srgbClr val="00FFFF"/>
              </a:solidFill>
              <a:ln w="9525">
                <a:solidFill>
                  <a:schemeClr val="tx1"/>
                </a:solidFill>
                <a:miter lim="800000"/>
                <a:headEnd/>
                <a:tailEnd/>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源主机 </a:t>
                </a:r>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1</a:t>
                </a:r>
              </a:p>
            </p:txBody>
          </p:sp>
          <p:sp>
            <p:nvSpPr>
              <p:cNvPr id="16" name="Text Box 10"/>
              <p:cNvSpPr txBox="1">
                <a:spLocks noChangeArrowheads="1"/>
              </p:cNvSpPr>
              <p:nvPr/>
            </p:nvSpPr>
            <p:spPr bwMode="auto">
              <a:xfrm>
                <a:off x="590769" y="1099476"/>
                <a:ext cx="172675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128.1.2.192/26</a:t>
                </a:r>
              </a:p>
            </p:txBody>
          </p:sp>
          <p:sp>
            <p:nvSpPr>
              <p:cNvPr id="17" name="Line 45"/>
              <p:cNvSpPr>
                <a:spLocks noChangeShapeType="1"/>
              </p:cNvSpPr>
              <p:nvPr/>
            </p:nvSpPr>
            <p:spPr bwMode="auto">
              <a:xfrm flipH="1" flipV="1">
                <a:off x="2294019" y="3312971"/>
                <a:ext cx="808348" cy="2236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 name="Line 41"/>
              <p:cNvSpPr>
                <a:spLocks noChangeShapeType="1"/>
              </p:cNvSpPr>
              <p:nvPr/>
            </p:nvSpPr>
            <p:spPr bwMode="auto">
              <a:xfrm flipH="1">
                <a:off x="4263353" y="2793929"/>
                <a:ext cx="1332012" cy="433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9" name="Line 33"/>
              <p:cNvSpPr>
                <a:spLocks noChangeShapeType="1"/>
              </p:cNvSpPr>
              <p:nvPr/>
            </p:nvSpPr>
            <p:spPr bwMode="auto">
              <a:xfrm flipH="1">
                <a:off x="2051398" y="3354911"/>
                <a:ext cx="88372" cy="52285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0" name="Line 32"/>
              <p:cNvSpPr>
                <a:spLocks noChangeShapeType="1"/>
              </p:cNvSpPr>
              <p:nvPr/>
            </p:nvSpPr>
            <p:spPr bwMode="auto">
              <a:xfrm flipH="1">
                <a:off x="3297683" y="2900177"/>
                <a:ext cx="819453" cy="66964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1" name="Line 21"/>
              <p:cNvSpPr>
                <a:spLocks noChangeShapeType="1"/>
              </p:cNvSpPr>
              <p:nvPr/>
            </p:nvSpPr>
            <p:spPr bwMode="auto">
              <a:xfrm>
                <a:off x="4207116" y="2371732"/>
                <a:ext cx="1607" cy="4627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22" name="Picture 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74653" y="3753341"/>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 name="Picture 1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19621" y="1719179"/>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 name="Group 18"/>
              <p:cNvGrpSpPr>
                <a:grpSpLocks/>
              </p:cNvGrpSpPr>
              <p:nvPr/>
            </p:nvGrpSpPr>
            <p:grpSpPr bwMode="auto">
              <a:xfrm>
                <a:off x="3943605" y="2125684"/>
                <a:ext cx="531842" cy="303367"/>
                <a:chOff x="864" y="1824"/>
                <a:chExt cx="432" cy="288"/>
              </a:xfrm>
            </p:grpSpPr>
            <p:pic>
              <p:nvPicPr>
                <p:cNvPr id="25"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6" name="Picture 1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pic>
            <p:nvPicPr>
              <p:cNvPr id="27" name="Picture 1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02173" y="2589821"/>
                <a:ext cx="345456"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 name="Text Box 22"/>
              <p:cNvSpPr txBox="1">
                <a:spLocks noChangeArrowheads="1"/>
              </p:cNvSpPr>
              <p:nvPr/>
            </p:nvSpPr>
            <p:spPr bwMode="auto">
              <a:xfrm>
                <a:off x="2853215" y="2404897"/>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128.1.2.130</a:t>
                </a:r>
              </a:p>
            </p:txBody>
          </p:sp>
          <p:sp>
            <p:nvSpPr>
              <p:cNvPr id="29" name="Text Box 24"/>
              <p:cNvSpPr txBox="1">
                <a:spLocks noChangeArrowheads="1"/>
              </p:cNvSpPr>
              <p:nvPr/>
            </p:nvSpPr>
            <p:spPr bwMode="auto">
              <a:xfrm>
                <a:off x="4108734" y="1835693"/>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1</a:t>
                </a:r>
              </a:p>
            </p:txBody>
          </p:sp>
          <p:sp>
            <p:nvSpPr>
              <p:cNvPr id="30" name="Text Box 26"/>
              <p:cNvSpPr txBox="1">
                <a:spLocks noChangeArrowheads="1"/>
              </p:cNvSpPr>
              <p:nvPr/>
            </p:nvSpPr>
            <p:spPr bwMode="auto">
              <a:xfrm>
                <a:off x="4178194" y="2368936"/>
                <a:ext cx="3113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a:t>
                </a:r>
                <a:endParaRPr lang="en-US" altLang="zh-CN" sz="1600" b="1" baseline="-25000" dirty="0">
                  <a:latin typeface="微软雅黑" panose="020B0503020204020204" pitchFamily="34" charset="-122"/>
                  <a:ea typeface="微软雅黑" panose="020B0503020204020204" pitchFamily="34" charset="-122"/>
                </a:endParaRPr>
              </a:p>
            </p:txBody>
          </p:sp>
          <p:sp>
            <p:nvSpPr>
              <p:cNvPr id="31" name="Line 27"/>
              <p:cNvSpPr>
                <a:spLocks noChangeShapeType="1"/>
              </p:cNvSpPr>
              <p:nvPr/>
            </p:nvSpPr>
            <p:spPr bwMode="auto">
              <a:xfrm>
                <a:off x="4263353" y="2837267"/>
                <a:ext cx="1307911" cy="4627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60" name="Group 28"/>
              <p:cNvGrpSpPr>
                <a:grpSpLocks/>
              </p:cNvGrpSpPr>
              <p:nvPr/>
            </p:nvGrpSpPr>
            <p:grpSpPr bwMode="auto">
              <a:xfrm>
                <a:off x="3032567" y="3427224"/>
                <a:ext cx="531841" cy="303366"/>
                <a:chOff x="864" y="1824"/>
                <a:chExt cx="432" cy="288"/>
              </a:xfrm>
            </p:grpSpPr>
            <p:pic>
              <p:nvPicPr>
                <p:cNvPr id="33" name="Picture 2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4" name="Picture 3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35" name="Text Box 31"/>
              <p:cNvSpPr txBox="1">
                <a:spLocks noChangeArrowheads="1"/>
              </p:cNvSpPr>
              <p:nvPr/>
            </p:nvSpPr>
            <p:spPr bwMode="auto">
              <a:xfrm>
                <a:off x="3511384" y="3483144"/>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2</a:t>
                </a:r>
              </a:p>
            </p:txBody>
          </p:sp>
          <p:sp>
            <p:nvSpPr>
              <p:cNvPr id="36" name="Line 35"/>
              <p:cNvSpPr>
                <a:spLocks noChangeShapeType="1"/>
              </p:cNvSpPr>
              <p:nvPr/>
            </p:nvSpPr>
            <p:spPr bwMode="auto">
              <a:xfrm flipH="1">
                <a:off x="2147804" y="2732799"/>
                <a:ext cx="36955" cy="58017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7" name="Picture 1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39129" y="3034385"/>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 Box 37"/>
              <p:cNvSpPr txBox="1">
                <a:spLocks noChangeArrowheads="1"/>
              </p:cNvSpPr>
              <p:nvPr/>
            </p:nvSpPr>
            <p:spPr bwMode="auto">
              <a:xfrm>
                <a:off x="5909138" y="2500740"/>
                <a:ext cx="174977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128.1.2.128/25</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39" name="Text Box 39"/>
              <p:cNvSpPr txBox="1">
                <a:spLocks noChangeArrowheads="1"/>
              </p:cNvSpPr>
              <p:nvPr/>
            </p:nvSpPr>
            <p:spPr bwMode="auto">
              <a:xfrm>
                <a:off x="5888875" y="3027938"/>
                <a:ext cx="1435376" cy="338554"/>
              </a:xfrm>
              <a:prstGeom prst="rect">
                <a:avLst/>
              </a:prstGeom>
              <a:solidFill>
                <a:srgbClr val="00FFFF"/>
              </a:solidFill>
              <a:ln w="9525">
                <a:solidFill>
                  <a:schemeClr val="tx1"/>
                </a:solidFill>
                <a:miter lim="800000"/>
                <a:headEnd/>
                <a:tailEnd/>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目的主机 </a:t>
                </a:r>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2</a:t>
                </a:r>
              </a:p>
            </p:txBody>
          </p:sp>
          <p:sp>
            <p:nvSpPr>
              <p:cNvPr id="40" name="Text Box 40"/>
              <p:cNvSpPr txBox="1">
                <a:spLocks noChangeArrowheads="1"/>
              </p:cNvSpPr>
              <p:nvPr/>
            </p:nvSpPr>
            <p:spPr bwMode="auto">
              <a:xfrm>
                <a:off x="4856211" y="334497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128.1.2.132</a:t>
                </a:r>
              </a:p>
            </p:txBody>
          </p:sp>
          <p:sp>
            <p:nvSpPr>
              <p:cNvPr id="41" name="Text Box 42"/>
              <p:cNvSpPr txBox="1">
                <a:spLocks noChangeArrowheads="1"/>
              </p:cNvSpPr>
              <p:nvPr/>
            </p:nvSpPr>
            <p:spPr bwMode="auto">
              <a:xfrm>
                <a:off x="3269292" y="313659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42" name="Text Box 43"/>
              <p:cNvSpPr txBox="1">
                <a:spLocks noChangeArrowheads="1"/>
              </p:cNvSpPr>
              <p:nvPr/>
            </p:nvSpPr>
            <p:spPr bwMode="auto">
              <a:xfrm>
                <a:off x="2804933" y="315647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a:t>
                </a:r>
                <a:endParaRPr lang="en-US" altLang="zh-CN" sz="1600" b="1" baseline="-25000" dirty="0">
                  <a:latin typeface="微软雅黑" panose="020B0503020204020204" pitchFamily="34" charset="-122"/>
                  <a:ea typeface="微软雅黑" panose="020B0503020204020204" pitchFamily="34" charset="-122"/>
                </a:endParaRPr>
              </a:p>
            </p:txBody>
          </p:sp>
          <p:sp>
            <p:nvSpPr>
              <p:cNvPr id="43" name="Text Box 44"/>
              <p:cNvSpPr txBox="1">
                <a:spLocks noChangeArrowheads="1"/>
              </p:cNvSpPr>
              <p:nvPr/>
            </p:nvSpPr>
            <p:spPr bwMode="auto">
              <a:xfrm>
                <a:off x="3533879" y="321752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128.1.2.131</a:t>
                </a:r>
              </a:p>
            </p:txBody>
          </p:sp>
          <p:pic>
            <p:nvPicPr>
              <p:cNvPr id="44" name="Picture 3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19263" y="2489547"/>
                <a:ext cx="347062"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Text Box 46"/>
              <p:cNvSpPr txBox="1">
                <a:spLocks noChangeArrowheads="1"/>
              </p:cNvSpPr>
              <p:nvPr/>
            </p:nvSpPr>
            <p:spPr bwMode="auto">
              <a:xfrm>
                <a:off x="1508068" y="3842425"/>
                <a:ext cx="44325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3</a:t>
                </a:r>
              </a:p>
            </p:txBody>
          </p:sp>
          <p:sp>
            <p:nvSpPr>
              <p:cNvPr id="46" name="Text Box 48"/>
              <p:cNvSpPr txBox="1">
                <a:spLocks noChangeArrowheads="1"/>
              </p:cNvSpPr>
              <p:nvPr/>
            </p:nvSpPr>
            <p:spPr bwMode="auto">
              <a:xfrm>
                <a:off x="2285477" y="3692457"/>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128.1.3.65</a:t>
                </a:r>
              </a:p>
            </p:txBody>
          </p:sp>
          <p:sp>
            <p:nvSpPr>
              <p:cNvPr id="47" name="Text Box 38"/>
              <p:cNvSpPr txBox="1">
                <a:spLocks noChangeArrowheads="1"/>
              </p:cNvSpPr>
              <p:nvPr/>
            </p:nvSpPr>
            <p:spPr bwMode="auto">
              <a:xfrm>
                <a:off x="354487" y="2757515"/>
                <a:ext cx="160011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128.1.3.64/26</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48" name="Text Box 47"/>
              <p:cNvSpPr txBox="1">
                <a:spLocks noChangeArrowheads="1"/>
              </p:cNvSpPr>
              <p:nvPr/>
            </p:nvSpPr>
            <p:spPr bwMode="auto">
              <a:xfrm>
                <a:off x="783205" y="3498904"/>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128.1.3.66</a:t>
                </a:r>
              </a:p>
            </p:txBody>
          </p:sp>
          <p:sp>
            <p:nvSpPr>
              <p:cNvPr id="50" name="椭圆 67"/>
              <p:cNvSpPr>
                <a:spLocks noChangeArrowheads="1"/>
              </p:cNvSpPr>
              <p:nvPr/>
            </p:nvSpPr>
            <p:spPr bwMode="auto">
              <a:xfrm>
                <a:off x="2872438" y="3447105"/>
                <a:ext cx="72305"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1" name="椭圆 68"/>
              <p:cNvSpPr>
                <a:spLocks noChangeArrowheads="1"/>
              </p:cNvSpPr>
              <p:nvPr/>
            </p:nvSpPr>
            <p:spPr bwMode="auto">
              <a:xfrm>
                <a:off x="5415407" y="3222106"/>
                <a:ext cx="73911"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2" name="椭圆 69"/>
              <p:cNvSpPr>
                <a:spLocks noChangeArrowheads="1"/>
              </p:cNvSpPr>
              <p:nvPr/>
            </p:nvSpPr>
            <p:spPr bwMode="auto">
              <a:xfrm>
                <a:off x="3540306" y="3316782"/>
                <a:ext cx="73911"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3" name="椭圆 70"/>
              <p:cNvSpPr>
                <a:spLocks noChangeArrowheads="1"/>
              </p:cNvSpPr>
              <p:nvPr/>
            </p:nvSpPr>
            <p:spPr bwMode="auto">
              <a:xfrm>
                <a:off x="2046577" y="3633113"/>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4" name="椭圆 71"/>
              <p:cNvSpPr>
                <a:spLocks noChangeArrowheads="1"/>
              </p:cNvSpPr>
              <p:nvPr/>
            </p:nvSpPr>
            <p:spPr bwMode="auto">
              <a:xfrm>
                <a:off x="4163733" y="2501747"/>
                <a:ext cx="73911"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5" name="椭圆 72"/>
              <p:cNvSpPr>
                <a:spLocks noChangeArrowheads="1"/>
              </p:cNvSpPr>
              <p:nvPr/>
            </p:nvSpPr>
            <p:spPr bwMode="auto">
              <a:xfrm>
                <a:off x="3792649" y="2084212"/>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6" name="椭圆 73"/>
              <p:cNvSpPr>
                <a:spLocks noChangeArrowheads="1"/>
              </p:cNvSpPr>
              <p:nvPr/>
            </p:nvSpPr>
            <p:spPr bwMode="auto">
              <a:xfrm>
                <a:off x="3418443" y="1171162"/>
                <a:ext cx="72304"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7" name="Text Box 10"/>
              <p:cNvSpPr txBox="1">
                <a:spLocks noChangeArrowheads="1"/>
              </p:cNvSpPr>
              <p:nvPr/>
            </p:nvSpPr>
            <p:spPr bwMode="auto">
              <a:xfrm>
                <a:off x="1323351" y="861428"/>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1</a:t>
                </a:r>
                <a:endParaRPr lang="en-US" altLang="zh-CN" sz="1600" b="1" dirty="0">
                  <a:latin typeface="微软雅黑" panose="020B0503020204020204" pitchFamily="34" charset="-122"/>
                  <a:ea typeface="微软雅黑" panose="020B0503020204020204" pitchFamily="34" charset="-122"/>
                </a:endParaRPr>
              </a:p>
            </p:txBody>
          </p:sp>
          <p:sp>
            <p:nvSpPr>
              <p:cNvPr id="58" name="Text Box 37"/>
              <p:cNvSpPr txBox="1">
                <a:spLocks noChangeArrowheads="1"/>
              </p:cNvSpPr>
              <p:nvPr/>
            </p:nvSpPr>
            <p:spPr bwMode="auto">
              <a:xfrm>
                <a:off x="6571928" y="2245549"/>
                <a:ext cx="57040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2 </a:t>
                </a:r>
              </a:p>
            </p:txBody>
          </p:sp>
          <p:sp>
            <p:nvSpPr>
              <p:cNvPr id="59" name="Text Box 38"/>
              <p:cNvSpPr txBox="1">
                <a:spLocks noChangeArrowheads="1"/>
              </p:cNvSpPr>
              <p:nvPr/>
            </p:nvSpPr>
            <p:spPr bwMode="auto">
              <a:xfrm>
                <a:off x="908984" y="2489487"/>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3</a:t>
                </a:r>
              </a:p>
            </p:txBody>
          </p:sp>
          <p:sp>
            <p:nvSpPr>
              <p:cNvPr id="9" name="Text Box 98"/>
              <p:cNvSpPr txBox="1">
                <a:spLocks noChangeArrowheads="1"/>
              </p:cNvSpPr>
              <p:nvPr/>
            </p:nvSpPr>
            <p:spPr bwMode="auto">
              <a:xfrm>
                <a:off x="6138447" y="884729"/>
                <a:ext cx="15135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R</a:t>
                </a:r>
                <a:r>
                  <a:rPr lang="en-US" altLang="zh-CN" sz="1400" b="1" baseline="-25000" dirty="0">
                    <a:latin typeface="微软雅黑" panose="020B0503020204020204" pitchFamily="34" charset="-122"/>
                    <a:ea typeface="微软雅黑" panose="020B0503020204020204" pitchFamily="34" charset="-122"/>
                  </a:rPr>
                  <a:t>1</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的部分转发表</a:t>
                </a:r>
                <a:endParaRPr lang="zh-CN" altLang="en-US" sz="1400" b="1" baseline="-25000" dirty="0">
                  <a:latin typeface="微软雅黑" panose="020B0503020204020204" pitchFamily="34" charset="-122"/>
                  <a:ea typeface="微软雅黑" panose="020B0503020204020204" pitchFamily="34" charset="-122"/>
                </a:endParaRPr>
              </a:p>
            </p:txBody>
          </p:sp>
        </p:grpSp>
        <p:pic>
          <p:nvPicPr>
            <p:cNvPr id="70"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887487" y="315983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71"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922705" y="2689821"/>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72"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94672" y="150706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grpSp>
        <p:nvGrpSpPr>
          <p:cNvPr id="61" name="组合 68"/>
          <p:cNvGrpSpPr/>
          <p:nvPr/>
        </p:nvGrpSpPr>
        <p:grpSpPr>
          <a:xfrm>
            <a:off x="1172946" y="1165057"/>
            <a:ext cx="6897628" cy="3551016"/>
            <a:chOff x="1172946" y="1165057"/>
            <a:chExt cx="6897628" cy="3551016"/>
          </a:xfrm>
        </p:grpSpPr>
        <p:sp>
          <p:nvSpPr>
            <p:cNvPr id="67" name="矩形 66"/>
            <p:cNvSpPr/>
            <p:nvPr/>
          </p:nvSpPr>
          <p:spPr>
            <a:xfrm>
              <a:off x="1172946" y="4346741"/>
              <a:ext cx="6897628" cy="369332"/>
            </a:xfrm>
            <a:prstGeom prst="rect">
              <a:avLst/>
            </a:prstGeom>
          </p:spPr>
          <p:txBody>
            <a:bodyPr wrap="square">
              <a:spAutoFit/>
            </a:bodyPr>
            <a:lstStyle/>
            <a:p>
              <a:pPr algn="ctr"/>
              <a:r>
                <a:rPr lang="zh-CN" altLang="en-US" b="1" dirty="0">
                  <a:solidFill>
                    <a:srgbClr val="C00000"/>
                  </a:solidFill>
                  <a:latin typeface="微软雅黑" panose="020B0503020204020204" pitchFamily="34" charset="-122"/>
                  <a:ea typeface="微软雅黑" panose="020B0503020204020204" pitchFamily="34" charset="-122"/>
                </a:rPr>
                <a:t>主机 </a:t>
              </a:r>
              <a:r>
                <a:rPr lang="en-US" altLang="zh-CN" b="1" dirty="0">
                  <a:solidFill>
                    <a:srgbClr val="C00000"/>
                  </a:solidFill>
                  <a:latin typeface="微软雅黑" panose="020B0503020204020204" pitchFamily="34" charset="-122"/>
                  <a:ea typeface="微软雅黑" panose="020B0503020204020204" pitchFamily="34" charset="-122"/>
                </a:rPr>
                <a:t>H</a:t>
              </a:r>
              <a:r>
                <a:rPr lang="en-US" altLang="zh-CN" b="1" baseline="-25000" dirty="0">
                  <a:solidFill>
                    <a:srgbClr val="C00000"/>
                  </a:solidFill>
                  <a:latin typeface="微软雅黑" panose="020B0503020204020204" pitchFamily="34" charset="-122"/>
                  <a:ea typeface="微软雅黑" panose="020B0503020204020204" pitchFamily="34" charset="-122"/>
                </a:rPr>
                <a:t>1</a:t>
              </a:r>
              <a:r>
                <a:rPr lang="en-US" altLang="zh-CN" b="1" dirty="0">
                  <a:solidFill>
                    <a:srgbClr val="C00000"/>
                  </a:solidFill>
                  <a:latin typeface="微软雅黑" panose="020B0503020204020204" pitchFamily="34" charset="-122"/>
                  <a:ea typeface="微软雅黑" panose="020B0503020204020204" pitchFamily="34" charset="-122"/>
                </a:rPr>
                <a:t> </a:t>
              </a:r>
              <a:r>
                <a:rPr lang="zh-CN" altLang="en-US" b="1" dirty="0">
                  <a:solidFill>
                    <a:srgbClr val="C00000"/>
                  </a:solidFill>
                  <a:latin typeface="微软雅黑" panose="020B0503020204020204" pitchFamily="34" charset="-122"/>
                  <a:ea typeface="微软雅黑" panose="020B0503020204020204" pitchFamily="34" charset="-122"/>
                </a:rPr>
                <a:t>发送出的、目的地址是 </a:t>
              </a:r>
              <a:r>
                <a:rPr lang="en-US" altLang="zh-CN" b="1" dirty="0">
                  <a:solidFill>
                    <a:srgbClr val="C00000"/>
                  </a:solidFill>
                  <a:latin typeface="微软雅黑" panose="020B0503020204020204" pitchFamily="34" charset="-122"/>
                  <a:ea typeface="微软雅黑" panose="020B0503020204020204" pitchFamily="34" charset="-122"/>
                </a:rPr>
                <a:t>128.1.2.132 </a:t>
              </a:r>
              <a:r>
                <a:rPr lang="zh-CN" altLang="en-US" b="1" dirty="0">
                  <a:solidFill>
                    <a:srgbClr val="C00000"/>
                  </a:solidFill>
                  <a:latin typeface="微软雅黑" panose="020B0503020204020204" pitchFamily="34" charset="-122"/>
                  <a:ea typeface="微软雅黑" panose="020B0503020204020204" pitchFamily="34" charset="-122"/>
                </a:rPr>
                <a:t>的分组是如何转发的？</a:t>
              </a:r>
            </a:p>
          </p:txBody>
        </p:sp>
        <p:sp>
          <p:nvSpPr>
            <p:cNvPr id="49" name="Line 126"/>
            <p:cNvSpPr>
              <a:spLocks noChangeShapeType="1"/>
            </p:cNvSpPr>
            <p:nvPr/>
          </p:nvSpPr>
          <p:spPr bwMode="auto">
            <a:xfrm>
              <a:off x="3730473" y="1165057"/>
              <a:ext cx="1829419" cy="1971537"/>
            </a:xfrm>
            <a:prstGeom prst="line">
              <a:avLst/>
            </a:prstGeom>
            <a:noFill/>
            <a:ln w="57150" cap="rnd">
              <a:solidFill>
                <a:srgbClr val="C00000">
                  <a:alpha val="96000"/>
                </a:srgbClr>
              </a:solidFill>
              <a:prstDash val="sysDot"/>
              <a:round/>
              <a:headEnd/>
              <a:tailEnd type="triangle" w="med" len="me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339799192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afterEffect">
                                  <p:stCondLst>
                                    <p:cond delay="0"/>
                                  </p:stCondLst>
                                  <p:childTnLst>
                                    <p:anim calcmode="discrete" valueType="str">
                                      <p:cBhvr>
                                        <p:cTn id="6" dur="1000" fill="hold"/>
                                        <p:tgtEl>
                                          <p:spTgt spid="6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a:xfrm>
            <a:off x="1064302" y="1093145"/>
            <a:ext cx="7150307" cy="3059130"/>
          </a:xfrm>
          <a:prstGeom prst="rect">
            <a:avLst/>
          </a:prstGeom>
          <a:solidFill>
            <a:srgbClr val="C3E3F9"/>
          </a:solidFill>
          <a:ln w="28575">
            <a:solidFill>
              <a:srgbClr val="0000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 name="Text Box 64"/>
          <p:cNvSpPr txBox="1">
            <a:spLocks noChangeArrowheads="1"/>
          </p:cNvSpPr>
          <p:nvPr/>
        </p:nvSpPr>
        <p:spPr bwMode="auto">
          <a:xfrm>
            <a:off x="2159286" y="1283392"/>
            <a:ext cx="4753224" cy="7591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lvl="0">
              <a:lnSpc>
                <a:spcPts val="2600"/>
              </a:lnSpc>
              <a:defRPr/>
            </a:pPr>
            <a:r>
              <a:rPr lang="en-US" altLang="zh-CN" b="1" kern="0" dirty="0">
                <a:latin typeface="微软雅黑" pitchFamily="34" charset="-122"/>
                <a:ea typeface="微软雅黑" pitchFamily="34" charset="-122"/>
              </a:rPr>
              <a:t>N</a:t>
            </a:r>
            <a:r>
              <a:rPr lang="en-US" altLang="zh-CN" b="1" kern="0" baseline="-25000" dirty="0">
                <a:latin typeface="微软雅黑" pitchFamily="34" charset="-122"/>
                <a:ea typeface="微软雅黑" pitchFamily="34" charset="-122"/>
              </a:rPr>
              <a:t>1</a:t>
            </a:r>
            <a:r>
              <a:rPr lang="en-US" altLang="zh-CN" b="1" kern="0" dirty="0">
                <a:latin typeface="微软雅黑" pitchFamily="34" charset="-122"/>
                <a:ea typeface="微软雅黑" pitchFamily="34" charset="-122"/>
              </a:rPr>
              <a:t> </a:t>
            </a:r>
            <a:r>
              <a:rPr lang="zh-CN" altLang="en-US" b="1" kern="0" dirty="0">
                <a:latin typeface="微软雅黑" pitchFamily="34" charset="-122"/>
                <a:ea typeface="微软雅黑" pitchFamily="34" charset="-122"/>
              </a:rPr>
              <a:t>的网络地址为 </a:t>
            </a:r>
            <a:r>
              <a:rPr lang="en-US" altLang="zh-CN" b="1" kern="0" dirty="0">
                <a:solidFill>
                  <a:srgbClr val="C00000"/>
                </a:solidFill>
                <a:latin typeface="微软雅黑" pitchFamily="34" charset="-122"/>
                <a:ea typeface="微软雅黑" pitchFamily="34" charset="-122"/>
              </a:rPr>
              <a:t>128.1.2.192</a:t>
            </a:r>
            <a:endParaRPr kumimoji="0" lang="en-US" altLang="zh-CN" b="1" i="0" u="none" strike="noStrike" kern="0" cap="none" spc="0" normalizeH="0" baseline="0" noProof="0" dirty="0">
              <a:ln>
                <a:noFill/>
              </a:ln>
              <a:solidFill>
                <a:srgbClr val="C00000"/>
              </a:solidFill>
              <a:effectLst/>
              <a:uLnTx/>
              <a:uFillTx/>
              <a:latin typeface="微软雅黑" pitchFamily="34" charset="-122"/>
              <a:ea typeface="微软雅黑" pitchFamily="34" charset="-122"/>
            </a:endParaRPr>
          </a:p>
          <a:p>
            <a:pPr lvl="0">
              <a:lnSpc>
                <a:spcPts val="2600"/>
              </a:lnSpc>
              <a:defRPr/>
            </a:pPr>
            <a:r>
              <a:rPr kumimoji="0" lang="en-US" altLang="zh-CN" b="1" i="0" u="none" strike="noStrike" kern="0" cap="none" spc="0" normalizeH="0" baseline="0" noProof="0" dirty="0">
                <a:ln>
                  <a:noFill/>
                </a:ln>
                <a:effectLst/>
                <a:uLnTx/>
                <a:uFillTx/>
                <a:latin typeface="微软雅黑" pitchFamily="34" charset="-122"/>
                <a:ea typeface="微软雅黑" pitchFamily="34" charset="-122"/>
              </a:rPr>
              <a:t>N</a:t>
            </a:r>
            <a:r>
              <a:rPr kumimoji="0" lang="en-US" altLang="zh-CN" b="1" i="0" u="none" strike="noStrike" kern="0" cap="none" spc="0" normalizeH="0" baseline="-25000" noProof="0" dirty="0">
                <a:ln>
                  <a:noFill/>
                </a:ln>
                <a:effectLst/>
                <a:uLnTx/>
                <a:uFillTx/>
                <a:latin typeface="微软雅黑" pitchFamily="34" charset="-122"/>
                <a:ea typeface="微软雅黑" pitchFamily="34" charset="-122"/>
              </a:rPr>
              <a:t>1</a:t>
            </a:r>
            <a:r>
              <a:rPr kumimoji="0" lang="en-US" altLang="zh-CN" b="1" i="0" u="none" strike="noStrike" kern="0" cap="none" spc="0" normalizeH="0" baseline="0" noProof="0" dirty="0">
                <a:ln>
                  <a:noFill/>
                </a:ln>
                <a:effectLst/>
                <a:uLnTx/>
                <a:uFillTx/>
                <a:latin typeface="微软雅黑" pitchFamily="34" charset="-122"/>
                <a:ea typeface="微软雅黑" pitchFamily="34" charset="-122"/>
              </a:rPr>
              <a:t> </a:t>
            </a:r>
            <a:r>
              <a:rPr kumimoji="0" lang="zh-CN" altLang="en-US" b="1" i="0" u="none" strike="noStrike" kern="0" cap="none" spc="0" normalizeH="0" baseline="0" noProof="0" dirty="0">
                <a:ln>
                  <a:noFill/>
                </a:ln>
                <a:effectLst/>
                <a:uLnTx/>
                <a:uFillTx/>
                <a:latin typeface="微软雅黑" pitchFamily="34" charset="-122"/>
                <a:ea typeface="微软雅黑" pitchFamily="34" charset="-122"/>
              </a:rPr>
              <a:t>的网络掩码为 </a:t>
            </a:r>
            <a:r>
              <a:rPr kumimoji="0" lang="en-US" altLang="zh-CN" b="1" i="0" u="none" strike="noStrike" kern="0" cap="none" spc="0" normalizeH="0" baseline="0" noProof="0" dirty="0">
                <a:ln>
                  <a:noFill/>
                </a:ln>
                <a:solidFill>
                  <a:srgbClr val="C00000"/>
                </a:solidFill>
                <a:effectLst/>
                <a:uLnTx/>
                <a:uFillTx/>
                <a:latin typeface="微软雅黑" pitchFamily="34" charset="-122"/>
                <a:ea typeface="微软雅黑" pitchFamily="34" charset="-122"/>
              </a:rPr>
              <a:t>/26 </a:t>
            </a:r>
            <a:r>
              <a:rPr kumimoji="0" lang="en-US" altLang="zh-CN" b="1" i="0" u="none" strike="noStrike" kern="0" cap="none" spc="0" normalizeH="0" baseline="0" noProof="0" dirty="0">
                <a:ln>
                  <a:noFill/>
                </a:ln>
                <a:effectLst/>
                <a:uLnTx/>
                <a:uFillTx/>
                <a:latin typeface="微软雅黑" pitchFamily="34" charset="-122"/>
                <a:ea typeface="微软雅黑" pitchFamily="34" charset="-122"/>
              </a:rPr>
              <a:t>= 255.255.255.192 </a:t>
            </a:r>
            <a:endParaRPr kumimoji="0" lang="zh-CN" altLang="en-US" b="1" i="0" u="none" strike="noStrike" kern="0" cap="none" spc="0" normalizeH="0" baseline="0" noProof="0" dirty="0">
              <a:ln>
                <a:noFill/>
              </a:ln>
              <a:effectLst/>
              <a:uLnTx/>
              <a:uFillTx/>
              <a:latin typeface="微软雅黑" pitchFamily="34" charset="-122"/>
              <a:ea typeface="微软雅黑" pitchFamily="34" charset="-122"/>
            </a:endParaRPr>
          </a:p>
        </p:txBody>
      </p:sp>
      <p:grpSp>
        <p:nvGrpSpPr>
          <p:cNvPr id="5" name="组合 4"/>
          <p:cNvGrpSpPr/>
          <p:nvPr/>
        </p:nvGrpSpPr>
        <p:grpSpPr>
          <a:xfrm>
            <a:off x="3613546" y="2110175"/>
            <a:ext cx="2228581" cy="1200006"/>
            <a:chOff x="3613546" y="2110175"/>
            <a:chExt cx="2228581" cy="1200006"/>
          </a:xfrm>
        </p:grpSpPr>
        <p:sp>
          <p:nvSpPr>
            <p:cNvPr id="10" name="Text Box 72"/>
            <p:cNvSpPr txBox="1">
              <a:spLocks noChangeArrowheads="1"/>
            </p:cNvSpPr>
            <p:nvPr/>
          </p:nvSpPr>
          <p:spPr bwMode="auto">
            <a:xfrm>
              <a:off x="3628136" y="2110175"/>
              <a:ext cx="2093843" cy="7591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2600"/>
                </a:lnSpc>
                <a:defRPr/>
              </a:pPr>
              <a:r>
                <a:rPr lang="en-US" altLang="zh-CN" b="1" kern="0" dirty="0">
                  <a:solidFill>
                    <a:srgbClr val="CC0099"/>
                  </a:solidFill>
                  <a:latin typeface="微软雅黑" pitchFamily="34" charset="-122"/>
                  <a:ea typeface="微软雅黑" pitchFamily="34" charset="-122"/>
                </a:rPr>
                <a:t>128.  1  .  </a:t>
              </a:r>
              <a:r>
                <a:rPr lang="en-US" altLang="zh-CN" sz="500" b="1" kern="0" dirty="0">
                  <a:solidFill>
                    <a:srgbClr val="CC0099"/>
                  </a:solidFill>
                  <a:latin typeface="微软雅黑" pitchFamily="34" charset="-122"/>
                  <a:ea typeface="微软雅黑" pitchFamily="34" charset="-122"/>
                </a:rPr>
                <a:t> </a:t>
              </a:r>
              <a:r>
                <a:rPr lang="en-US" altLang="zh-CN" b="1" kern="0" dirty="0">
                  <a:solidFill>
                    <a:srgbClr val="CC0099"/>
                  </a:solidFill>
                  <a:latin typeface="微软雅黑" pitchFamily="34" charset="-122"/>
                  <a:ea typeface="微软雅黑" pitchFamily="34" charset="-122"/>
                </a:rPr>
                <a:t>2  .132</a:t>
              </a:r>
            </a:p>
            <a:p>
              <a:pPr marL="0" marR="0" lvl="0" indent="0" defTabSz="914400" eaLnBrk="1" fontAlgn="auto" latinLnBrk="0" hangingPunct="1">
                <a:lnSpc>
                  <a:spcPts val="2600"/>
                </a:lnSpc>
                <a:spcBef>
                  <a:spcPts val="0"/>
                </a:spcBef>
                <a:spcAft>
                  <a:spcPts val="0"/>
                </a:spcAft>
                <a:buClrTx/>
                <a:buSzTx/>
                <a:buFontTx/>
                <a:buNone/>
                <a:tabLst/>
                <a:defRPr/>
              </a:pPr>
              <a:r>
                <a:rPr kumimoji="0" lang="en-US" altLang="zh-CN" b="1" i="0" u="none" strike="noStrike" kern="0" cap="none" spc="0" normalizeH="0" baseline="0" noProof="0" dirty="0">
                  <a:ln>
                    <a:noFill/>
                  </a:ln>
                  <a:solidFill>
                    <a:srgbClr val="0000FF"/>
                  </a:solidFill>
                  <a:effectLst/>
                  <a:uLnTx/>
                  <a:uFillTx/>
                  <a:latin typeface="微软雅黑" pitchFamily="34" charset="-122"/>
                  <a:ea typeface="微软雅黑" pitchFamily="34" charset="-122"/>
                </a:rPr>
                <a:t>255.255.255.192</a:t>
              </a:r>
            </a:p>
          </p:txBody>
        </p:sp>
        <p:sp>
          <p:nvSpPr>
            <p:cNvPr id="11" name="Text Box 73"/>
            <p:cNvSpPr txBox="1">
              <a:spLocks noChangeArrowheads="1"/>
            </p:cNvSpPr>
            <p:nvPr/>
          </p:nvSpPr>
          <p:spPr bwMode="auto">
            <a:xfrm>
              <a:off x="3628136" y="2940878"/>
              <a:ext cx="2101832" cy="3693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b="1" i="0" u="none" strike="noStrike" kern="0" cap="none" spc="0" normalizeH="0" baseline="0" noProof="0" dirty="0">
                  <a:ln>
                    <a:noFill/>
                  </a:ln>
                  <a:solidFill>
                    <a:srgbClr val="0000FF"/>
                  </a:solidFill>
                  <a:effectLst/>
                  <a:uLnTx/>
                  <a:uFillTx/>
                  <a:latin typeface="微软雅黑" pitchFamily="34" charset="-122"/>
                  <a:ea typeface="微软雅黑" pitchFamily="34" charset="-122"/>
                </a:rPr>
                <a:t>128.  1  .  </a:t>
              </a:r>
              <a:r>
                <a:rPr kumimoji="0" lang="en-US" altLang="zh-CN" sz="700" b="1" i="0" u="none" strike="noStrike" kern="0" cap="none" spc="0" normalizeH="0" baseline="0" noProof="0" dirty="0">
                  <a:ln>
                    <a:noFill/>
                  </a:ln>
                  <a:solidFill>
                    <a:srgbClr val="0000FF"/>
                  </a:solidFill>
                  <a:effectLst/>
                  <a:uLnTx/>
                  <a:uFillTx/>
                  <a:latin typeface="微软雅黑" pitchFamily="34" charset="-122"/>
                  <a:ea typeface="微软雅黑" pitchFamily="34" charset="-122"/>
                </a:rPr>
                <a:t> </a:t>
              </a:r>
              <a:r>
                <a:rPr kumimoji="0" lang="en-US" altLang="zh-CN" b="1" i="0" u="none" strike="noStrike" kern="0" cap="none" spc="0" normalizeH="0" baseline="0" noProof="0" dirty="0">
                  <a:ln>
                    <a:noFill/>
                  </a:ln>
                  <a:solidFill>
                    <a:srgbClr val="0000FF"/>
                  </a:solidFill>
                  <a:effectLst/>
                  <a:uLnTx/>
                  <a:uFillTx/>
                  <a:latin typeface="微软雅黑" pitchFamily="34" charset="-122"/>
                  <a:ea typeface="微软雅黑" pitchFamily="34" charset="-122"/>
                </a:rPr>
                <a:t>2  .128</a:t>
              </a:r>
            </a:p>
          </p:txBody>
        </p:sp>
        <p:sp>
          <p:nvSpPr>
            <p:cNvPr id="12" name="Line 74"/>
            <p:cNvSpPr>
              <a:spLocks noChangeShapeType="1"/>
            </p:cNvSpPr>
            <p:nvPr/>
          </p:nvSpPr>
          <p:spPr bwMode="auto">
            <a:xfrm>
              <a:off x="3613546" y="2873401"/>
              <a:ext cx="2228581"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grpSp>
      <p:sp>
        <p:nvSpPr>
          <p:cNvPr id="13" name="Text Box 75"/>
          <p:cNvSpPr txBox="1">
            <a:spLocks noChangeArrowheads="1"/>
          </p:cNvSpPr>
          <p:nvPr/>
        </p:nvSpPr>
        <p:spPr bwMode="auto">
          <a:xfrm>
            <a:off x="1319312" y="2154856"/>
            <a:ext cx="2294234" cy="7076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r" defTabSz="914400" eaLnBrk="1" fontAlgn="auto" latinLnBrk="0" hangingPunct="1">
              <a:lnSpc>
                <a:spcPts val="2400"/>
              </a:lnSpc>
              <a:spcBef>
                <a:spcPts val="0"/>
              </a:spcBef>
              <a:spcAft>
                <a:spcPts val="0"/>
              </a:spcAft>
              <a:buClrTx/>
              <a:buSzTx/>
              <a:buFontTx/>
              <a:buNone/>
              <a:tabLst/>
              <a:defRPr/>
            </a:pPr>
            <a:r>
              <a:rPr kumimoji="0" lang="zh-CN" altLang="en-US" b="1" i="0" u="none" strike="noStrike" kern="0" cap="none" spc="0" normalizeH="0" baseline="0" noProof="0" dirty="0">
                <a:ln>
                  <a:noFill/>
                </a:ln>
                <a:solidFill>
                  <a:srgbClr val="C00000"/>
                </a:solidFill>
                <a:effectLst/>
                <a:uLnTx/>
                <a:uFillTx/>
                <a:latin typeface="微软雅黑" pitchFamily="34" charset="-122"/>
                <a:ea typeface="微软雅黑" pitchFamily="34" charset="-122"/>
              </a:rPr>
              <a:t>目的地址与网络掩码</a:t>
            </a:r>
            <a:endParaRPr kumimoji="0" lang="en-US" altLang="zh-CN" b="1" i="0" u="none" strike="noStrike" kern="0" cap="none" spc="0" normalizeH="0" baseline="0" noProof="0" dirty="0">
              <a:ln>
                <a:noFill/>
              </a:ln>
              <a:solidFill>
                <a:srgbClr val="C00000"/>
              </a:solidFill>
              <a:effectLst/>
              <a:uLnTx/>
              <a:uFillTx/>
              <a:latin typeface="微软雅黑" pitchFamily="34" charset="-122"/>
              <a:ea typeface="微软雅黑" pitchFamily="34" charset="-122"/>
            </a:endParaRPr>
          </a:p>
          <a:p>
            <a:pPr marL="0" marR="0" lvl="0" indent="0" algn="r" defTabSz="914400" eaLnBrk="1" fontAlgn="auto" latinLnBrk="0" hangingPunct="1">
              <a:lnSpc>
                <a:spcPts val="2400"/>
              </a:lnSpc>
              <a:spcBef>
                <a:spcPts val="0"/>
              </a:spcBef>
              <a:spcAft>
                <a:spcPts val="0"/>
              </a:spcAft>
              <a:buClrTx/>
              <a:buSzTx/>
              <a:buFontTx/>
              <a:buNone/>
              <a:tabLst/>
              <a:defRPr/>
            </a:pPr>
            <a:r>
              <a:rPr kumimoji="0" lang="zh-CN" altLang="en-US" b="1" i="0" u="none" strike="noStrike" kern="0" cap="none" spc="0" normalizeH="0" baseline="0" noProof="0" dirty="0">
                <a:ln>
                  <a:noFill/>
                </a:ln>
                <a:solidFill>
                  <a:srgbClr val="C00000"/>
                </a:solidFill>
                <a:effectLst/>
                <a:uLnTx/>
                <a:uFillTx/>
                <a:latin typeface="微软雅黑" pitchFamily="34" charset="-122"/>
                <a:ea typeface="微软雅黑" pitchFamily="34" charset="-122"/>
              </a:rPr>
              <a:t>逐比特 </a:t>
            </a:r>
            <a:r>
              <a:rPr kumimoji="0" lang="en-US" altLang="zh-CN" b="1" i="0" u="none" strike="noStrike" kern="0" cap="none" spc="0" normalizeH="0" baseline="0" noProof="0" dirty="0">
                <a:ln>
                  <a:noFill/>
                </a:ln>
                <a:solidFill>
                  <a:srgbClr val="C00000"/>
                </a:solidFill>
                <a:effectLst/>
                <a:uLnTx/>
                <a:uFillTx/>
                <a:latin typeface="微软雅黑" pitchFamily="34" charset="-122"/>
                <a:ea typeface="微软雅黑" pitchFamily="34" charset="-122"/>
              </a:rPr>
              <a:t>AND</a:t>
            </a:r>
            <a:endParaRPr kumimoji="0" lang="zh-CN" altLang="en-US" b="1" i="0" u="none" strike="noStrike" kern="0" cap="none" spc="0" normalizeH="0" baseline="0" noProof="0" dirty="0">
              <a:ln>
                <a:noFill/>
              </a:ln>
              <a:solidFill>
                <a:srgbClr val="C00000"/>
              </a:solidFill>
              <a:effectLst/>
              <a:uLnTx/>
              <a:uFillTx/>
              <a:latin typeface="微软雅黑" pitchFamily="34" charset="-122"/>
              <a:ea typeface="微软雅黑" pitchFamily="34" charset="-122"/>
            </a:endParaRPr>
          </a:p>
        </p:txBody>
      </p:sp>
      <p:sp>
        <p:nvSpPr>
          <p:cNvPr id="16" name="Text Box 78"/>
          <p:cNvSpPr txBox="1">
            <a:spLocks noChangeArrowheads="1"/>
          </p:cNvSpPr>
          <p:nvPr/>
        </p:nvSpPr>
        <p:spPr bwMode="auto">
          <a:xfrm>
            <a:off x="5840992" y="2849167"/>
            <a:ext cx="204254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400" b="1" i="0" u="none" strike="noStrike" kern="0" cap="none" spc="0" normalizeH="0" baseline="0" noProof="0" dirty="0">
                <a:ln>
                  <a:noFill/>
                </a:ln>
                <a:solidFill>
                  <a:srgbClr val="CC0099"/>
                </a:solidFill>
                <a:effectLst/>
                <a:uLnTx/>
                <a:uFillTx/>
                <a:latin typeface="微软雅黑" pitchFamily="34" charset="-122"/>
                <a:ea typeface="微软雅黑" pitchFamily="34" charset="-122"/>
                <a:sym typeface="Symbol" pitchFamily="18" charset="2"/>
              </a:rPr>
              <a:t>  </a:t>
            </a:r>
            <a:r>
              <a:rPr kumimoji="0" lang="en-US" altLang="zh-CN" b="1" i="0" u="none" strike="noStrike" kern="0" cap="none" spc="0" normalizeH="0" baseline="0" noProof="0" dirty="0">
                <a:ln>
                  <a:noFill/>
                </a:ln>
                <a:solidFill>
                  <a:srgbClr val="CC0099"/>
                </a:solidFill>
                <a:effectLst/>
                <a:uLnTx/>
                <a:uFillTx/>
                <a:latin typeface="微软雅黑" pitchFamily="34" charset="-122"/>
                <a:ea typeface="微软雅黑" pitchFamily="34" charset="-122"/>
                <a:sym typeface="Symbol" pitchFamily="18" charset="2"/>
              </a:rPr>
              <a:t>H</a:t>
            </a:r>
            <a:r>
              <a:rPr kumimoji="0" lang="en-US" altLang="zh-CN" b="1" i="0" u="none" strike="noStrike" kern="0" cap="none" spc="0" normalizeH="0" baseline="-25000" noProof="0" dirty="0">
                <a:ln>
                  <a:noFill/>
                </a:ln>
                <a:solidFill>
                  <a:srgbClr val="CC0099"/>
                </a:solidFill>
                <a:effectLst/>
                <a:uLnTx/>
                <a:uFillTx/>
                <a:latin typeface="微软雅黑" pitchFamily="34" charset="-122"/>
                <a:ea typeface="微软雅黑" pitchFamily="34" charset="-122"/>
                <a:sym typeface="Symbol" pitchFamily="18" charset="2"/>
              </a:rPr>
              <a:t>1</a:t>
            </a:r>
            <a:r>
              <a:rPr kumimoji="0" lang="en-US" altLang="zh-CN" b="1" i="0" u="none" strike="noStrike" kern="0" cap="none" spc="0" normalizeH="0" baseline="0" noProof="0" dirty="0">
                <a:ln>
                  <a:noFill/>
                </a:ln>
                <a:solidFill>
                  <a:srgbClr val="CC0099"/>
                </a:solidFill>
                <a:effectLst/>
                <a:uLnTx/>
                <a:uFillTx/>
                <a:latin typeface="微软雅黑" pitchFamily="34" charset="-122"/>
                <a:ea typeface="微软雅黑" pitchFamily="34" charset="-122"/>
                <a:sym typeface="Symbol" pitchFamily="18" charset="2"/>
              </a:rPr>
              <a:t> </a:t>
            </a:r>
            <a:r>
              <a:rPr kumimoji="0" lang="zh-CN" altLang="en-US" b="1" i="0" u="none" strike="noStrike" kern="0" cap="none" spc="0" normalizeH="0" baseline="0" noProof="0" dirty="0">
                <a:ln>
                  <a:noFill/>
                </a:ln>
                <a:solidFill>
                  <a:srgbClr val="CC0099"/>
                </a:solidFill>
                <a:effectLst/>
                <a:uLnTx/>
                <a:uFillTx/>
                <a:latin typeface="微软雅黑" pitchFamily="34" charset="-122"/>
                <a:ea typeface="微软雅黑" pitchFamily="34" charset="-122"/>
                <a:sym typeface="Symbol" pitchFamily="18" charset="2"/>
              </a:rPr>
              <a:t>的网络地址</a:t>
            </a:r>
          </a:p>
        </p:txBody>
      </p:sp>
      <p:sp>
        <p:nvSpPr>
          <p:cNvPr id="19" name="矩形 18"/>
          <p:cNvSpPr/>
          <p:nvPr/>
        </p:nvSpPr>
        <p:spPr>
          <a:xfrm>
            <a:off x="1841928" y="3327462"/>
            <a:ext cx="5575852" cy="826637"/>
          </a:xfrm>
          <a:prstGeom prst="rect">
            <a:avLst/>
          </a:prstGeom>
        </p:spPr>
        <p:txBody>
          <a:bodyPr wrap="square">
            <a:spAutoFit/>
          </a:bodyPr>
          <a:lstStyle/>
          <a:p>
            <a:pPr algn="ctr">
              <a:lnSpc>
                <a:spcPts val="3000"/>
              </a:lnSpc>
            </a:pPr>
            <a:r>
              <a:rPr lang="en-US" altLang="zh-CN" sz="2000" b="1" dirty="0">
                <a:highlight>
                  <a:srgbClr val="FFFF00"/>
                </a:highlight>
                <a:latin typeface="微软雅黑" panose="020B0503020204020204" pitchFamily="34" charset="-122"/>
                <a:ea typeface="微软雅黑" panose="020B0503020204020204" pitchFamily="34" charset="-122"/>
              </a:rPr>
              <a:t>128.1.2.132 </a:t>
            </a:r>
            <a:r>
              <a:rPr lang="zh-CN" altLang="en-US" sz="2000" b="1" dirty="0">
                <a:highlight>
                  <a:srgbClr val="FFFF00"/>
                </a:highlight>
                <a:latin typeface="微软雅黑" panose="020B0503020204020204" pitchFamily="34" charset="-122"/>
                <a:ea typeface="微软雅黑" panose="020B0503020204020204" pitchFamily="34" charset="-122"/>
              </a:rPr>
              <a:t>不在本地网络上。</a:t>
            </a:r>
            <a:endParaRPr lang="en-US" altLang="zh-CN" sz="2000" b="1" dirty="0">
              <a:highlight>
                <a:srgbClr val="FFFF00"/>
              </a:highlight>
              <a:latin typeface="微软雅黑" panose="020B0503020204020204" pitchFamily="34" charset="-122"/>
              <a:ea typeface="微软雅黑" panose="020B0503020204020204" pitchFamily="34" charset="-122"/>
            </a:endParaRPr>
          </a:p>
          <a:p>
            <a:pPr algn="ctr">
              <a:lnSpc>
                <a:spcPts val="3000"/>
              </a:lnSpc>
            </a:pPr>
            <a:r>
              <a:rPr lang="zh-CN" altLang="en-US" sz="2000" b="1" dirty="0">
                <a:highlight>
                  <a:srgbClr val="FFFF00"/>
                </a:highlight>
                <a:latin typeface="微软雅黑" panose="020B0503020204020204" pitchFamily="34" charset="-122"/>
                <a:ea typeface="微软雅黑" panose="020B0503020204020204" pitchFamily="34" charset="-122"/>
              </a:rPr>
              <a:t>源主机 </a:t>
            </a:r>
            <a:r>
              <a:rPr lang="en-US" altLang="zh-CN" sz="2000" b="1" dirty="0">
                <a:highlight>
                  <a:srgbClr val="FFFF00"/>
                </a:highlight>
                <a:latin typeface="微软雅黑" panose="020B0503020204020204" pitchFamily="34" charset="-122"/>
                <a:ea typeface="微软雅黑" panose="020B0503020204020204" pitchFamily="34" charset="-122"/>
              </a:rPr>
              <a:t>H</a:t>
            </a:r>
            <a:r>
              <a:rPr lang="en-US" altLang="zh-CN" sz="2000" b="1" baseline="-25000" dirty="0">
                <a:highlight>
                  <a:srgbClr val="FFFF00"/>
                </a:highlight>
                <a:latin typeface="微软雅黑" panose="020B0503020204020204" pitchFamily="34" charset="-122"/>
                <a:ea typeface="微软雅黑" panose="020B0503020204020204" pitchFamily="34" charset="-122"/>
              </a:rPr>
              <a:t>1</a:t>
            </a:r>
            <a:r>
              <a:rPr lang="en-US" altLang="zh-CN" sz="2000" b="1" dirty="0">
                <a:highlight>
                  <a:srgbClr val="FFFF00"/>
                </a:highlight>
                <a:latin typeface="微软雅黑" panose="020B0503020204020204" pitchFamily="34" charset="-122"/>
                <a:ea typeface="微软雅黑" panose="020B0503020204020204" pitchFamily="34" charset="-122"/>
              </a:rPr>
              <a:t> </a:t>
            </a:r>
            <a:r>
              <a:rPr lang="zh-CN" altLang="en-US" sz="2000" b="1" dirty="0">
                <a:highlight>
                  <a:srgbClr val="FFFF00"/>
                </a:highlight>
                <a:latin typeface="微软雅黑" panose="020B0503020204020204" pitchFamily="34" charset="-122"/>
                <a:ea typeface="微软雅黑" panose="020B0503020204020204" pitchFamily="34" charset="-122"/>
              </a:rPr>
              <a:t>必须把分组发送给路由器 </a:t>
            </a:r>
            <a:r>
              <a:rPr lang="en-US" altLang="zh-CN" sz="2000" b="1" dirty="0">
                <a:highlight>
                  <a:srgbClr val="FFFF00"/>
                </a:highlight>
                <a:latin typeface="微软雅黑" panose="020B0503020204020204" pitchFamily="34" charset="-122"/>
                <a:ea typeface="微软雅黑" panose="020B0503020204020204" pitchFamily="34" charset="-122"/>
              </a:rPr>
              <a:t>R</a:t>
            </a:r>
            <a:r>
              <a:rPr lang="en-US" altLang="zh-CN" sz="2000" b="1" baseline="-25000" dirty="0">
                <a:highlight>
                  <a:srgbClr val="FFFF00"/>
                </a:highlight>
                <a:latin typeface="微软雅黑" panose="020B0503020204020204" pitchFamily="34" charset="-122"/>
                <a:ea typeface="微软雅黑" panose="020B0503020204020204" pitchFamily="34" charset="-122"/>
              </a:rPr>
              <a:t>1</a:t>
            </a:r>
            <a:r>
              <a:rPr lang="zh-CN" altLang="en-US" sz="2000" b="1" dirty="0">
                <a:latin typeface="微软雅黑" panose="020B0503020204020204" pitchFamily="34" charset="-122"/>
                <a:ea typeface="微软雅黑" panose="020B0503020204020204" pitchFamily="34" charset="-122"/>
              </a:rPr>
              <a:t>。</a:t>
            </a:r>
          </a:p>
        </p:txBody>
      </p:sp>
      <p:sp>
        <p:nvSpPr>
          <p:cNvPr id="2" name="Text Box 155"/>
          <p:cNvSpPr txBox="1">
            <a:spLocks noChangeArrowheads="1"/>
          </p:cNvSpPr>
          <p:nvPr/>
        </p:nvSpPr>
        <p:spPr bwMode="auto">
          <a:xfrm>
            <a:off x="1333007" y="610084"/>
            <a:ext cx="6593695" cy="634020"/>
          </a:xfrm>
          <a:prstGeom prst="rect">
            <a:avLst/>
          </a:prstGeom>
          <a:solidFill>
            <a:srgbClr val="000099"/>
          </a:solidFill>
          <a:ln w="9525">
            <a:noFill/>
            <a:miter lim="800000"/>
            <a:headEnd/>
            <a:tailEnd/>
          </a:ln>
          <a:effectLst/>
        </p:spPr>
        <p:txBody>
          <a:bodyPr wrap="square">
            <a:spAutoFit/>
          </a:bodyPr>
          <a:lstStyle/>
          <a:p>
            <a:pPr algn="ctr">
              <a:lnSpc>
                <a:spcPct val="110000"/>
              </a:lnSpc>
            </a:pPr>
            <a:r>
              <a:rPr lang="zh-CN" altLang="en-US" sz="1600" b="1" dirty="0">
                <a:solidFill>
                  <a:schemeClr val="bg1"/>
                </a:solidFill>
                <a:latin typeface="微软雅黑" pitchFamily="34" charset="-122"/>
                <a:ea typeface="微软雅黑" pitchFamily="34" charset="-122"/>
              </a:rPr>
              <a:t> </a:t>
            </a:r>
            <a:r>
              <a:rPr lang="en-US" altLang="zh-CN" sz="1600" b="1" dirty="0">
                <a:solidFill>
                  <a:schemeClr val="bg1"/>
                </a:solidFill>
                <a:latin typeface="微软雅黑" pitchFamily="34" charset="-122"/>
                <a:ea typeface="微软雅黑" pitchFamily="34" charset="-122"/>
              </a:rPr>
              <a:t>H</a:t>
            </a:r>
            <a:r>
              <a:rPr lang="en-US" altLang="zh-CN" sz="1600" b="1" baseline="-25000" dirty="0">
                <a:solidFill>
                  <a:schemeClr val="bg1"/>
                </a:solidFill>
                <a:latin typeface="微软雅黑" pitchFamily="34" charset="-122"/>
                <a:ea typeface="微软雅黑" pitchFamily="34" charset="-122"/>
              </a:rPr>
              <a:t>1</a:t>
            </a:r>
            <a:r>
              <a:rPr lang="en-US" altLang="zh-CN" sz="1600" b="1" dirty="0">
                <a:solidFill>
                  <a:schemeClr val="bg1"/>
                </a:solidFill>
                <a:latin typeface="微软雅黑" pitchFamily="34" charset="-122"/>
                <a:ea typeface="微软雅黑" pitchFamily="34" charset="-122"/>
              </a:rPr>
              <a:t> </a:t>
            </a:r>
            <a:r>
              <a:rPr lang="zh-CN" altLang="en-US" sz="1600" b="1" dirty="0">
                <a:solidFill>
                  <a:schemeClr val="bg1"/>
                </a:solidFill>
                <a:latin typeface="微软雅黑" pitchFamily="34" charset="-122"/>
                <a:ea typeface="微软雅黑" pitchFamily="34" charset="-122"/>
              </a:rPr>
              <a:t>首先检查 </a:t>
            </a:r>
            <a:r>
              <a:rPr lang="en-US" altLang="zh-CN" sz="1600" b="1" dirty="0">
                <a:solidFill>
                  <a:srgbClr val="FFFF00"/>
                </a:solidFill>
                <a:latin typeface="微软雅黑" pitchFamily="34" charset="-122"/>
                <a:ea typeface="微软雅黑" pitchFamily="34" charset="-122"/>
              </a:rPr>
              <a:t>128.1.2.132</a:t>
            </a:r>
            <a:r>
              <a:rPr lang="en-US" altLang="zh-CN" sz="1600" b="1" dirty="0">
                <a:solidFill>
                  <a:schemeClr val="bg1"/>
                </a:solidFill>
                <a:latin typeface="微软雅黑" pitchFamily="34" charset="-122"/>
                <a:ea typeface="微软雅黑" pitchFamily="34" charset="-122"/>
              </a:rPr>
              <a:t> </a:t>
            </a:r>
            <a:r>
              <a:rPr lang="zh-CN" altLang="en-US" sz="1600" b="1" dirty="0">
                <a:solidFill>
                  <a:schemeClr val="bg1"/>
                </a:solidFill>
                <a:latin typeface="微软雅黑" pitchFamily="34" charset="-122"/>
                <a:ea typeface="微软雅黑" pitchFamily="34" charset="-122"/>
              </a:rPr>
              <a:t>是否连接在本网络上。</a:t>
            </a:r>
          </a:p>
          <a:p>
            <a:pPr algn="ctr">
              <a:lnSpc>
                <a:spcPct val="110000"/>
              </a:lnSpc>
            </a:pPr>
            <a:r>
              <a:rPr lang="zh-CN" altLang="en-US" sz="1600" b="1" dirty="0">
                <a:solidFill>
                  <a:schemeClr val="bg1"/>
                </a:solidFill>
                <a:latin typeface="微软雅黑" pitchFamily="34" charset="-122"/>
                <a:ea typeface="微软雅黑" pitchFamily="34" charset="-122"/>
              </a:rPr>
              <a:t>如果是，则直接交付；否则，就送交路由器 </a:t>
            </a:r>
            <a:r>
              <a:rPr lang="en-US" altLang="zh-CN" sz="1600" b="1" dirty="0">
                <a:solidFill>
                  <a:schemeClr val="bg1"/>
                </a:solidFill>
                <a:latin typeface="微软雅黑" pitchFamily="34" charset="-122"/>
                <a:ea typeface="微软雅黑" pitchFamily="34" charset="-122"/>
              </a:rPr>
              <a:t>R</a:t>
            </a:r>
            <a:r>
              <a:rPr lang="en-US" altLang="zh-CN" sz="1600" b="1" baseline="-25000" dirty="0">
                <a:solidFill>
                  <a:schemeClr val="bg1"/>
                </a:solidFill>
                <a:latin typeface="微软雅黑" pitchFamily="34" charset="-122"/>
                <a:ea typeface="微软雅黑" pitchFamily="34" charset="-122"/>
              </a:rPr>
              <a:t>1</a:t>
            </a:r>
            <a:r>
              <a:rPr lang="zh-CN" altLang="en-US" sz="1600" b="1" dirty="0">
                <a:solidFill>
                  <a:schemeClr val="bg1"/>
                </a:solidFill>
                <a:latin typeface="微软雅黑" pitchFamily="34" charset="-122"/>
                <a:ea typeface="微软雅黑" pitchFamily="34" charset="-122"/>
              </a:rPr>
              <a:t>。</a:t>
            </a:r>
          </a:p>
        </p:txBody>
      </p:sp>
    </p:spTree>
    <p:extLst>
      <p:ext uri="{BB962C8B-B14F-4D97-AF65-F5344CB8AC3E}">
        <p14:creationId xmlns:p14="http://schemas.microsoft.com/office/powerpoint/2010/main" val="133531515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1" fill="hold" nodeType="click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wipe(up)">
                                      <p:cBhvr>
                                        <p:cTn id="11" dur="1000"/>
                                        <p:tgtEl>
                                          <p:spTgt spid="5"/>
                                        </p:tgtEl>
                                      </p:cBhvr>
                                    </p:animEffec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16"/>
                                        </p:tgtEl>
                                        <p:attrNameLst>
                                          <p:attrName>style.visibility</p:attrName>
                                        </p:attrNameLst>
                                      </p:cBhvr>
                                      <p:to>
                                        <p:strVal val="visible"/>
                                      </p:to>
                                    </p:set>
                                  </p:childTnLst>
                                </p:cTn>
                              </p:par>
                            </p:childTnLst>
                          </p:cTn>
                        </p:par>
                        <p:par>
                          <p:cTn id="16" fill="hold">
                            <p:stCondLst>
                              <p:cond delay="0"/>
                            </p:stCondLst>
                            <p:childTnLst>
                              <p:par>
                                <p:cTn id="17" presetID="35" presetClass="emph" presetSubtype="0" repeatCount="3000" fill="hold" grpId="1" nodeType="afterEffect">
                                  <p:stCondLst>
                                    <p:cond delay="0"/>
                                  </p:stCondLst>
                                  <p:childTnLst>
                                    <p:anim calcmode="discrete" valueType="str">
                                      <p:cBhvr>
                                        <p:cTn id="18" dur="1000" fill="hold"/>
                                        <p:tgtEl>
                                          <p:spTgt spid="16"/>
                                        </p:tgtEl>
                                        <p:attrNameLst>
                                          <p:attrName>style.visibility</p:attrName>
                                        </p:attrNameLst>
                                      </p:cBhvr>
                                      <p:tavLst>
                                        <p:tav tm="0">
                                          <p:val>
                                            <p:strVal val="hidden"/>
                                          </p:val>
                                        </p:tav>
                                        <p:tav tm="50000">
                                          <p:val>
                                            <p:strVal val="visible"/>
                                          </p:val>
                                        </p:tav>
                                      </p:tavLst>
                                    </p:anim>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6" grpId="0"/>
      <p:bldP spid="16" grpId="1"/>
      <p:bldP spid="19" grpId="0"/>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 name="圆角矩形 66"/>
          <p:cNvSpPr/>
          <p:nvPr/>
        </p:nvSpPr>
        <p:spPr>
          <a:xfrm>
            <a:off x="344776" y="633725"/>
            <a:ext cx="8469440" cy="372914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aphicFrame>
        <p:nvGraphicFramePr>
          <p:cNvPr id="68" name="Group 125"/>
          <p:cNvGraphicFramePr>
            <a:graphicFrameLocks noGrp="1"/>
          </p:cNvGraphicFramePr>
          <p:nvPr>
            <p:extLst>
              <p:ext uri="{D42A27DB-BD31-4B8C-83A1-F6EECF244321}">
                <p14:modId xmlns:p14="http://schemas.microsoft.com/office/powerpoint/2010/main" val="879316691"/>
              </p:ext>
            </p:extLst>
          </p:nvPr>
        </p:nvGraphicFramePr>
        <p:xfrm>
          <a:off x="5544358" y="1184245"/>
          <a:ext cx="2790174" cy="1076799"/>
        </p:xfrm>
        <a:graphic>
          <a:graphicData uri="http://schemas.openxmlformats.org/drawingml/2006/table">
            <a:tbl>
              <a:tblPr/>
              <a:tblGrid>
                <a:gridCol w="1543446">
                  <a:extLst>
                    <a:ext uri="{9D8B030D-6E8A-4147-A177-3AD203B41FA5}">
                      <a16:colId xmlns:a16="http://schemas.microsoft.com/office/drawing/2014/main" val="20000"/>
                    </a:ext>
                  </a:extLst>
                </a:gridCol>
                <a:gridCol w="1246728">
                  <a:extLst>
                    <a:ext uri="{9D8B030D-6E8A-4147-A177-3AD203B41FA5}">
                      <a16:colId xmlns:a16="http://schemas.microsoft.com/office/drawing/2014/main" val="20001"/>
                    </a:ext>
                  </a:extLst>
                </a:gridCol>
              </a:tblGrid>
              <a:tr h="286975">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前缀匹配</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下一跳</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789824">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128.1.3.64/26</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128.1.2.128/25</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128.1.2.192/26</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defRPr/>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R</a:t>
                      </a:r>
                      <a:r>
                        <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rPr>
                        <a:t>2</a:t>
                      </a: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endPar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endParaRP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0</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51" name="Text Box 155"/>
          <p:cNvSpPr txBox="1">
            <a:spLocks noChangeArrowheads="1"/>
          </p:cNvSpPr>
          <p:nvPr/>
        </p:nvSpPr>
        <p:spPr bwMode="auto">
          <a:xfrm>
            <a:off x="1196430" y="4333600"/>
            <a:ext cx="6864206" cy="397032"/>
          </a:xfrm>
          <a:prstGeom prst="rect">
            <a:avLst/>
          </a:prstGeom>
          <a:solidFill>
            <a:srgbClr val="0070C0"/>
          </a:solidFill>
          <a:ln w="9525">
            <a:noFill/>
            <a:miter lim="800000"/>
            <a:headEnd/>
            <a:tailEnd/>
          </a:ln>
          <a:effectLst/>
        </p:spPr>
        <p:txBody>
          <a:bodyPr wrap="square">
            <a:spAutoFit/>
          </a:bodyPr>
          <a:lstStyle/>
          <a:p>
            <a:pPr algn="ctr">
              <a:lnSpc>
                <a:spcPct val="110000"/>
              </a:lnSpc>
            </a:pPr>
            <a:r>
              <a:rPr lang="en-US" altLang="zh-CN" b="1" dirty="0">
                <a:solidFill>
                  <a:srgbClr val="FFFF00"/>
                </a:solidFill>
                <a:latin typeface="微软雅黑" pitchFamily="34" charset="-122"/>
                <a:ea typeface="微软雅黑" pitchFamily="34" charset="-122"/>
              </a:rPr>
              <a:t>128.1.2.132</a:t>
            </a:r>
            <a:r>
              <a:rPr lang="en-US" altLang="zh-CN" b="1" dirty="0">
                <a:solidFill>
                  <a:schemeClr val="bg1"/>
                </a:solidFill>
                <a:latin typeface="微软雅黑" pitchFamily="34" charset="-122"/>
                <a:ea typeface="微软雅黑" pitchFamily="34" charset="-122"/>
              </a:rPr>
              <a:t> </a:t>
            </a:r>
            <a:r>
              <a:rPr lang="en-US" altLang="zh-CN" b="1" dirty="0">
                <a:solidFill>
                  <a:schemeClr val="accent6"/>
                </a:solidFill>
                <a:latin typeface="微软雅黑" pitchFamily="34" charset="-122"/>
                <a:ea typeface="微软雅黑" pitchFamily="34" charset="-122"/>
              </a:rPr>
              <a:t>AND</a:t>
            </a:r>
            <a:r>
              <a:rPr lang="en-US" altLang="zh-CN" b="1" dirty="0">
                <a:solidFill>
                  <a:schemeClr val="bg1"/>
                </a:solidFill>
                <a:latin typeface="微软雅黑" pitchFamily="34" charset="-122"/>
                <a:ea typeface="微软雅黑" pitchFamily="34" charset="-122"/>
              </a:rPr>
              <a:t> 255.255.255.192 = 128.1.2.128     </a:t>
            </a:r>
            <a:r>
              <a:rPr lang="zh-CN" altLang="en-US" b="1" dirty="0">
                <a:solidFill>
                  <a:srgbClr val="FFFF00"/>
                </a:solidFill>
                <a:latin typeface="微软雅黑" pitchFamily="34" charset="-122"/>
                <a:ea typeface="微软雅黑" pitchFamily="34" charset="-122"/>
              </a:rPr>
              <a:t>不匹配</a:t>
            </a:r>
            <a:r>
              <a:rPr lang="en-US" altLang="zh-CN" b="1" dirty="0">
                <a:solidFill>
                  <a:srgbClr val="FFFF00"/>
                </a:solidFill>
                <a:latin typeface="微软雅黑" pitchFamily="34" charset="-122"/>
                <a:ea typeface="微软雅黑" pitchFamily="34" charset="-122"/>
              </a:rPr>
              <a:t>!</a:t>
            </a:r>
          </a:p>
        </p:txBody>
      </p:sp>
      <p:sp>
        <p:nvSpPr>
          <p:cNvPr id="57" name="Line 66"/>
          <p:cNvSpPr>
            <a:spLocks noChangeShapeType="1"/>
          </p:cNvSpPr>
          <p:nvPr/>
        </p:nvSpPr>
        <p:spPr bwMode="auto">
          <a:xfrm>
            <a:off x="5637655" y="1719179"/>
            <a:ext cx="1362752"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0" name="椭圆 119"/>
          <p:cNvSpPr/>
          <p:nvPr/>
        </p:nvSpPr>
        <p:spPr bwMode="auto">
          <a:xfrm rot="20475920">
            <a:off x="1042029" y="910124"/>
            <a:ext cx="3351723" cy="1002368"/>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grpSp>
        <p:nvGrpSpPr>
          <p:cNvPr id="4" name="组合 3"/>
          <p:cNvGrpSpPr/>
          <p:nvPr/>
        </p:nvGrpSpPr>
        <p:grpSpPr>
          <a:xfrm>
            <a:off x="354487" y="816458"/>
            <a:ext cx="7304424" cy="3440748"/>
            <a:chOff x="354487" y="816458"/>
            <a:chExt cx="7304424" cy="3440748"/>
          </a:xfrm>
        </p:grpSpPr>
        <p:grpSp>
          <p:nvGrpSpPr>
            <p:cNvPr id="5" name="组合 68"/>
            <p:cNvGrpSpPr/>
            <p:nvPr/>
          </p:nvGrpSpPr>
          <p:grpSpPr>
            <a:xfrm>
              <a:off x="354487" y="816458"/>
              <a:ext cx="7304424" cy="3440748"/>
              <a:chOff x="354487" y="816458"/>
              <a:chExt cx="7304424" cy="3440748"/>
            </a:xfrm>
          </p:grpSpPr>
          <p:sp>
            <p:nvSpPr>
              <p:cNvPr id="70" name="直角三角形 69"/>
              <p:cNvSpPr/>
              <p:nvPr/>
            </p:nvSpPr>
            <p:spPr>
              <a:xfrm rot="16200000">
                <a:off x="4357107" y="1079129"/>
                <a:ext cx="1089992" cy="1274054"/>
              </a:xfrm>
              <a:prstGeom prst="rtTriangle">
                <a:avLst/>
              </a:prstGeom>
              <a:gradFill flip="none" rotWithShape="1">
                <a:gsLst>
                  <a:gs pos="0">
                    <a:schemeClr val="bg1">
                      <a:lumMod val="85000"/>
                      <a:shade val="30000"/>
                      <a:satMod val="115000"/>
                    </a:schemeClr>
                  </a:gs>
                  <a:gs pos="50000">
                    <a:schemeClr val="bg1">
                      <a:lumMod val="85000"/>
                      <a:shade val="67500"/>
                      <a:satMod val="115000"/>
                    </a:schemeClr>
                  </a:gs>
                  <a:gs pos="100000">
                    <a:schemeClr val="bg1">
                      <a:lumMod val="85000"/>
                      <a:shade val="100000"/>
                      <a:satMod val="115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椭圆 70"/>
              <p:cNvSpPr/>
              <p:nvPr/>
            </p:nvSpPr>
            <p:spPr bwMode="auto">
              <a:xfrm>
                <a:off x="3607791" y="2535299"/>
                <a:ext cx="3716460" cy="1197252"/>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72" name="椭圆 71"/>
              <p:cNvSpPr/>
              <p:nvPr/>
            </p:nvSpPr>
            <p:spPr bwMode="auto">
              <a:xfrm rot="16200000">
                <a:off x="883716" y="2425929"/>
                <a:ext cx="1925637" cy="1736917"/>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73" name="Text Box 20"/>
              <p:cNvSpPr txBox="1">
                <a:spLocks noChangeArrowheads="1"/>
              </p:cNvSpPr>
              <p:nvPr/>
            </p:nvSpPr>
            <p:spPr bwMode="auto">
              <a:xfrm>
                <a:off x="2456408" y="203983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128.1.2.194</a:t>
                </a:r>
              </a:p>
            </p:txBody>
          </p:sp>
          <p:sp>
            <p:nvSpPr>
              <p:cNvPr id="74" name="Text Box 25"/>
              <p:cNvSpPr txBox="1">
                <a:spLocks noChangeArrowheads="1"/>
              </p:cNvSpPr>
              <p:nvPr/>
            </p:nvSpPr>
            <p:spPr bwMode="auto">
              <a:xfrm>
                <a:off x="3732139" y="1824581"/>
                <a:ext cx="3113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75" name="Line 19"/>
              <p:cNvSpPr>
                <a:spLocks noChangeShapeType="1"/>
              </p:cNvSpPr>
              <p:nvPr/>
            </p:nvSpPr>
            <p:spPr bwMode="auto">
              <a:xfrm>
                <a:off x="2775735" y="1678638"/>
                <a:ext cx="1301162" cy="55733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76" name="Line 16"/>
              <p:cNvSpPr>
                <a:spLocks noChangeShapeType="1"/>
              </p:cNvSpPr>
              <p:nvPr/>
            </p:nvSpPr>
            <p:spPr bwMode="auto">
              <a:xfrm flipH="1">
                <a:off x="1638141" y="1656270"/>
                <a:ext cx="947995" cy="2530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77" name="Line 8"/>
              <p:cNvSpPr>
                <a:spLocks noChangeShapeType="1"/>
              </p:cNvSpPr>
              <p:nvPr/>
            </p:nvSpPr>
            <p:spPr bwMode="auto">
              <a:xfrm flipH="1">
                <a:off x="2658440" y="1101262"/>
                <a:ext cx="956029" cy="55360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78" name="Picture 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93961" y="824458"/>
                <a:ext cx="345456"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 name="Text Box 9"/>
              <p:cNvSpPr txBox="1">
                <a:spLocks noChangeArrowheads="1"/>
              </p:cNvSpPr>
              <p:nvPr/>
            </p:nvSpPr>
            <p:spPr bwMode="auto">
              <a:xfrm>
                <a:off x="2171247" y="91222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128.1.2.193</a:t>
                </a:r>
              </a:p>
            </p:txBody>
          </p:sp>
          <p:sp>
            <p:nvSpPr>
              <p:cNvPr id="80" name="Text Box 23"/>
              <p:cNvSpPr txBox="1">
                <a:spLocks noChangeArrowheads="1"/>
              </p:cNvSpPr>
              <p:nvPr/>
            </p:nvSpPr>
            <p:spPr bwMode="auto">
              <a:xfrm>
                <a:off x="3839945" y="816458"/>
                <a:ext cx="1225389" cy="338554"/>
              </a:xfrm>
              <a:prstGeom prst="rect">
                <a:avLst/>
              </a:prstGeom>
              <a:solidFill>
                <a:srgbClr val="00FFFF"/>
              </a:solidFill>
              <a:ln w="9525">
                <a:solidFill>
                  <a:schemeClr val="tx1"/>
                </a:solidFill>
                <a:miter lim="800000"/>
                <a:headEnd/>
                <a:tailEnd/>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源主机 </a:t>
                </a:r>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1</a:t>
                </a:r>
              </a:p>
            </p:txBody>
          </p:sp>
          <p:sp>
            <p:nvSpPr>
              <p:cNvPr id="81" name="Text Box 10"/>
              <p:cNvSpPr txBox="1">
                <a:spLocks noChangeArrowheads="1"/>
              </p:cNvSpPr>
              <p:nvPr/>
            </p:nvSpPr>
            <p:spPr bwMode="auto">
              <a:xfrm>
                <a:off x="590769" y="1099476"/>
                <a:ext cx="172675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128.1.2.192/26</a:t>
                </a:r>
              </a:p>
            </p:txBody>
          </p:sp>
          <p:sp>
            <p:nvSpPr>
              <p:cNvPr id="82" name="Line 45"/>
              <p:cNvSpPr>
                <a:spLocks noChangeShapeType="1"/>
              </p:cNvSpPr>
              <p:nvPr/>
            </p:nvSpPr>
            <p:spPr bwMode="auto">
              <a:xfrm flipH="1" flipV="1">
                <a:off x="2294019" y="3312971"/>
                <a:ext cx="808348" cy="2236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3" name="Line 41"/>
              <p:cNvSpPr>
                <a:spLocks noChangeShapeType="1"/>
              </p:cNvSpPr>
              <p:nvPr/>
            </p:nvSpPr>
            <p:spPr bwMode="auto">
              <a:xfrm flipH="1">
                <a:off x="4263353" y="2793929"/>
                <a:ext cx="1332012" cy="433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4" name="Line 33"/>
              <p:cNvSpPr>
                <a:spLocks noChangeShapeType="1"/>
              </p:cNvSpPr>
              <p:nvPr/>
            </p:nvSpPr>
            <p:spPr bwMode="auto">
              <a:xfrm flipH="1">
                <a:off x="2051398" y="3354911"/>
                <a:ext cx="88372" cy="52285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5" name="Line 32"/>
              <p:cNvSpPr>
                <a:spLocks noChangeShapeType="1"/>
              </p:cNvSpPr>
              <p:nvPr/>
            </p:nvSpPr>
            <p:spPr bwMode="auto">
              <a:xfrm flipH="1">
                <a:off x="3297683" y="2900177"/>
                <a:ext cx="819453" cy="66964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6" name="Line 21"/>
              <p:cNvSpPr>
                <a:spLocks noChangeShapeType="1"/>
              </p:cNvSpPr>
              <p:nvPr/>
            </p:nvSpPr>
            <p:spPr bwMode="auto">
              <a:xfrm>
                <a:off x="4207116" y="2371732"/>
                <a:ext cx="1607" cy="4627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87" name="Picture 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74653" y="3753341"/>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1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19621" y="1719179"/>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 name="Group 18"/>
              <p:cNvGrpSpPr>
                <a:grpSpLocks/>
              </p:cNvGrpSpPr>
              <p:nvPr/>
            </p:nvGrpSpPr>
            <p:grpSpPr bwMode="auto">
              <a:xfrm>
                <a:off x="3943605" y="2125684"/>
                <a:ext cx="531842" cy="303367"/>
                <a:chOff x="864" y="1824"/>
                <a:chExt cx="432" cy="288"/>
              </a:xfrm>
            </p:grpSpPr>
            <p:pic>
              <p:nvPicPr>
                <p:cNvPr id="126"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27" name="Picture 1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pic>
            <p:nvPicPr>
              <p:cNvPr id="90" name="Picture 1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02173" y="2589821"/>
                <a:ext cx="345456"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Text Box 22"/>
              <p:cNvSpPr txBox="1">
                <a:spLocks noChangeArrowheads="1"/>
              </p:cNvSpPr>
              <p:nvPr/>
            </p:nvSpPr>
            <p:spPr bwMode="auto">
              <a:xfrm>
                <a:off x="2853215" y="2404897"/>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128.1.2.130</a:t>
                </a:r>
              </a:p>
            </p:txBody>
          </p:sp>
          <p:sp>
            <p:nvSpPr>
              <p:cNvPr id="92" name="Text Box 24"/>
              <p:cNvSpPr txBox="1">
                <a:spLocks noChangeArrowheads="1"/>
              </p:cNvSpPr>
              <p:nvPr/>
            </p:nvSpPr>
            <p:spPr bwMode="auto">
              <a:xfrm>
                <a:off x="4108734" y="1835693"/>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1</a:t>
                </a:r>
              </a:p>
            </p:txBody>
          </p:sp>
          <p:sp>
            <p:nvSpPr>
              <p:cNvPr id="93" name="Text Box 26"/>
              <p:cNvSpPr txBox="1">
                <a:spLocks noChangeArrowheads="1"/>
              </p:cNvSpPr>
              <p:nvPr/>
            </p:nvSpPr>
            <p:spPr bwMode="auto">
              <a:xfrm>
                <a:off x="4178194" y="2368936"/>
                <a:ext cx="3113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a:t>
                </a:r>
                <a:endParaRPr lang="en-US" altLang="zh-CN" sz="1600" b="1" baseline="-25000" dirty="0">
                  <a:latin typeface="微软雅黑" panose="020B0503020204020204" pitchFamily="34" charset="-122"/>
                  <a:ea typeface="微软雅黑" panose="020B0503020204020204" pitchFamily="34" charset="-122"/>
                </a:endParaRPr>
              </a:p>
            </p:txBody>
          </p:sp>
          <p:sp>
            <p:nvSpPr>
              <p:cNvPr id="94" name="Line 27"/>
              <p:cNvSpPr>
                <a:spLocks noChangeShapeType="1"/>
              </p:cNvSpPr>
              <p:nvPr/>
            </p:nvSpPr>
            <p:spPr bwMode="auto">
              <a:xfrm>
                <a:off x="4263353" y="2837267"/>
                <a:ext cx="1307911" cy="4627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7" name="Group 28"/>
              <p:cNvGrpSpPr>
                <a:grpSpLocks/>
              </p:cNvGrpSpPr>
              <p:nvPr/>
            </p:nvGrpSpPr>
            <p:grpSpPr bwMode="auto">
              <a:xfrm>
                <a:off x="3032567" y="3427224"/>
                <a:ext cx="531841" cy="303366"/>
                <a:chOff x="864" y="1824"/>
                <a:chExt cx="432" cy="288"/>
              </a:xfrm>
            </p:grpSpPr>
            <p:pic>
              <p:nvPicPr>
                <p:cNvPr id="124" name="Picture 2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25" name="Picture 3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96" name="Text Box 31"/>
              <p:cNvSpPr txBox="1">
                <a:spLocks noChangeArrowheads="1"/>
              </p:cNvSpPr>
              <p:nvPr/>
            </p:nvSpPr>
            <p:spPr bwMode="auto">
              <a:xfrm>
                <a:off x="3511384" y="3483144"/>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2</a:t>
                </a:r>
              </a:p>
            </p:txBody>
          </p:sp>
          <p:sp>
            <p:nvSpPr>
              <p:cNvPr id="97" name="Line 35"/>
              <p:cNvSpPr>
                <a:spLocks noChangeShapeType="1"/>
              </p:cNvSpPr>
              <p:nvPr/>
            </p:nvSpPr>
            <p:spPr bwMode="auto">
              <a:xfrm flipH="1">
                <a:off x="2147804" y="2732799"/>
                <a:ext cx="36955" cy="58017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98" name="Picture 1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39129" y="3034385"/>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Text Box 37"/>
              <p:cNvSpPr txBox="1">
                <a:spLocks noChangeArrowheads="1"/>
              </p:cNvSpPr>
              <p:nvPr/>
            </p:nvSpPr>
            <p:spPr bwMode="auto">
              <a:xfrm>
                <a:off x="5909138" y="2500740"/>
                <a:ext cx="174977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128.1.2.128/25</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100" name="Text Box 39"/>
              <p:cNvSpPr txBox="1">
                <a:spLocks noChangeArrowheads="1"/>
              </p:cNvSpPr>
              <p:nvPr/>
            </p:nvSpPr>
            <p:spPr bwMode="auto">
              <a:xfrm>
                <a:off x="5888875" y="3027938"/>
                <a:ext cx="1435376" cy="338554"/>
              </a:xfrm>
              <a:prstGeom prst="rect">
                <a:avLst/>
              </a:prstGeom>
              <a:solidFill>
                <a:srgbClr val="00FFFF"/>
              </a:solidFill>
              <a:ln w="9525">
                <a:solidFill>
                  <a:schemeClr val="tx1"/>
                </a:solidFill>
                <a:miter lim="800000"/>
                <a:headEnd/>
                <a:tailEnd/>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目的主机 </a:t>
                </a:r>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2</a:t>
                </a:r>
              </a:p>
            </p:txBody>
          </p:sp>
          <p:sp>
            <p:nvSpPr>
              <p:cNvPr id="101" name="Text Box 40"/>
              <p:cNvSpPr txBox="1">
                <a:spLocks noChangeArrowheads="1"/>
              </p:cNvSpPr>
              <p:nvPr/>
            </p:nvSpPr>
            <p:spPr bwMode="auto">
              <a:xfrm>
                <a:off x="4856211" y="334497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128.1.2.132</a:t>
                </a:r>
              </a:p>
            </p:txBody>
          </p:sp>
          <p:sp>
            <p:nvSpPr>
              <p:cNvPr id="102" name="Text Box 42"/>
              <p:cNvSpPr txBox="1">
                <a:spLocks noChangeArrowheads="1"/>
              </p:cNvSpPr>
              <p:nvPr/>
            </p:nvSpPr>
            <p:spPr bwMode="auto">
              <a:xfrm>
                <a:off x="3269292" y="313659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103" name="Text Box 43"/>
              <p:cNvSpPr txBox="1">
                <a:spLocks noChangeArrowheads="1"/>
              </p:cNvSpPr>
              <p:nvPr/>
            </p:nvSpPr>
            <p:spPr bwMode="auto">
              <a:xfrm>
                <a:off x="2804933" y="315647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a:t>
                </a:r>
                <a:endParaRPr lang="en-US" altLang="zh-CN" sz="1600" b="1" baseline="-25000" dirty="0">
                  <a:latin typeface="微软雅黑" panose="020B0503020204020204" pitchFamily="34" charset="-122"/>
                  <a:ea typeface="微软雅黑" panose="020B0503020204020204" pitchFamily="34" charset="-122"/>
                </a:endParaRPr>
              </a:p>
            </p:txBody>
          </p:sp>
          <p:sp>
            <p:nvSpPr>
              <p:cNvPr id="104" name="Text Box 44"/>
              <p:cNvSpPr txBox="1">
                <a:spLocks noChangeArrowheads="1"/>
              </p:cNvSpPr>
              <p:nvPr/>
            </p:nvSpPr>
            <p:spPr bwMode="auto">
              <a:xfrm>
                <a:off x="3533879" y="321752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128.1.2.131</a:t>
                </a:r>
              </a:p>
            </p:txBody>
          </p:sp>
          <p:pic>
            <p:nvPicPr>
              <p:cNvPr id="105" name="Picture 3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19263" y="2489547"/>
                <a:ext cx="347062"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Text Box 46"/>
              <p:cNvSpPr txBox="1">
                <a:spLocks noChangeArrowheads="1"/>
              </p:cNvSpPr>
              <p:nvPr/>
            </p:nvSpPr>
            <p:spPr bwMode="auto">
              <a:xfrm>
                <a:off x="1508068" y="3842425"/>
                <a:ext cx="44325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3</a:t>
                </a:r>
              </a:p>
            </p:txBody>
          </p:sp>
          <p:sp>
            <p:nvSpPr>
              <p:cNvPr id="107" name="Text Box 48"/>
              <p:cNvSpPr txBox="1">
                <a:spLocks noChangeArrowheads="1"/>
              </p:cNvSpPr>
              <p:nvPr/>
            </p:nvSpPr>
            <p:spPr bwMode="auto">
              <a:xfrm>
                <a:off x="2285477" y="3692457"/>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128.1.3.65</a:t>
                </a:r>
              </a:p>
            </p:txBody>
          </p:sp>
          <p:sp>
            <p:nvSpPr>
              <p:cNvPr id="108" name="Text Box 38"/>
              <p:cNvSpPr txBox="1">
                <a:spLocks noChangeArrowheads="1"/>
              </p:cNvSpPr>
              <p:nvPr/>
            </p:nvSpPr>
            <p:spPr bwMode="auto">
              <a:xfrm>
                <a:off x="354487" y="2757515"/>
                <a:ext cx="160011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128.1.3.64/26</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109" name="Text Box 47"/>
              <p:cNvSpPr txBox="1">
                <a:spLocks noChangeArrowheads="1"/>
              </p:cNvSpPr>
              <p:nvPr/>
            </p:nvSpPr>
            <p:spPr bwMode="auto">
              <a:xfrm>
                <a:off x="783205" y="3498904"/>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128.1.3.66</a:t>
                </a:r>
              </a:p>
            </p:txBody>
          </p:sp>
          <p:sp>
            <p:nvSpPr>
              <p:cNvPr id="110" name="椭圆 67"/>
              <p:cNvSpPr>
                <a:spLocks noChangeArrowheads="1"/>
              </p:cNvSpPr>
              <p:nvPr/>
            </p:nvSpPr>
            <p:spPr bwMode="auto">
              <a:xfrm>
                <a:off x="2872438" y="3447105"/>
                <a:ext cx="72305"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1" name="椭圆 68"/>
              <p:cNvSpPr>
                <a:spLocks noChangeArrowheads="1"/>
              </p:cNvSpPr>
              <p:nvPr/>
            </p:nvSpPr>
            <p:spPr bwMode="auto">
              <a:xfrm>
                <a:off x="5415407" y="3222106"/>
                <a:ext cx="73911"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2" name="椭圆 69"/>
              <p:cNvSpPr>
                <a:spLocks noChangeArrowheads="1"/>
              </p:cNvSpPr>
              <p:nvPr/>
            </p:nvSpPr>
            <p:spPr bwMode="auto">
              <a:xfrm>
                <a:off x="3540306" y="3316782"/>
                <a:ext cx="73911"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3" name="椭圆 70"/>
              <p:cNvSpPr>
                <a:spLocks noChangeArrowheads="1"/>
              </p:cNvSpPr>
              <p:nvPr/>
            </p:nvSpPr>
            <p:spPr bwMode="auto">
              <a:xfrm>
                <a:off x="2046577" y="3633113"/>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4" name="椭圆 71"/>
              <p:cNvSpPr>
                <a:spLocks noChangeArrowheads="1"/>
              </p:cNvSpPr>
              <p:nvPr/>
            </p:nvSpPr>
            <p:spPr bwMode="auto">
              <a:xfrm>
                <a:off x="4163733" y="2501747"/>
                <a:ext cx="73911"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5" name="椭圆 72"/>
              <p:cNvSpPr>
                <a:spLocks noChangeArrowheads="1"/>
              </p:cNvSpPr>
              <p:nvPr/>
            </p:nvSpPr>
            <p:spPr bwMode="auto">
              <a:xfrm>
                <a:off x="3792649" y="2084212"/>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6" name="椭圆 73"/>
              <p:cNvSpPr>
                <a:spLocks noChangeArrowheads="1"/>
              </p:cNvSpPr>
              <p:nvPr/>
            </p:nvSpPr>
            <p:spPr bwMode="auto">
              <a:xfrm>
                <a:off x="3418443" y="1171162"/>
                <a:ext cx="72304"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7" name="Text Box 10"/>
              <p:cNvSpPr txBox="1">
                <a:spLocks noChangeArrowheads="1"/>
              </p:cNvSpPr>
              <p:nvPr/>
            </p:nvSpPr>
            <p:spPr bwMode="auto">
              <a:xfrm>
                <a:off x="1323351" y="861428"/>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1</a:t>
                </a:r>
                <a:endParaRPr lang="en-US" altLang="zh-CN" sz="1600" b="1" dirty="0">
                  <a:latin typeface="微软雅黑" panose="020B0503020204020204" pitchFamily="34" charset="-122"/>
                  <a:ea typeface="微软雅黑" panose="020B0503020204020204" pitchFamily="34" charset="-122"/>
                </a:endParaRPr>
              </a:p>
            </p:txBody>
          </p:sp>
          <p:sp>
            <p:nvSpPr>
              <p:cNvPr id="118" name="Text Box 37"/>
              <p:cNvSpPr txBox="1">
                <a:spLocks noChangeArrowheads="1"/>
              </p:cNvSpPr>
              <p:nvPr/>
            </p:nvSpPr>
            <p:spPr bwMode="auto">
              <a:xfrm>
                <a:off x="6571928" y="2245549"/>
                <a:ext cx="57040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2 </a:t>
                </a:r>
              </a:p>
            </p:txBody>
          </p:sp>
          <p:sp>
            <p:nvSpPr>
              <p:cNvPr id="119" name="Text Box 38"/>
              <p:cNvSpPr txBox="1">
                <a:spLocks noChangeArrowheads="1"/>
              </p:cNvSpPr>
              <p:nvPr/>
            </p:nvSpPr>
            <p:spPr bwMode="auto">
              <a:xfrm>
                <a:off x="908984" y="2489487"/>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3</a:t>
                </a:r>
              </a:p>
            </p:txBody>
          </p:sp>
          <p:sp>
            <p:nvSpPr>
              <p:cNvPr id="123" name="Text Box 98"/>
              <p:cNvSpPr txBox="1">
                <a:spLocks noChangeArrowheads="1"/>
              </p:cNvSpPr>
              <p:nvPr/>
            </p:nvSpPr>
            <p:spPr bwMode="auto">
              <a:xfrm>
                <a:off x="6138447" y="884729"/>
                <a:ext cx="15135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R</a:t>
                </a:r>
                <a:r>
                  <a:rPr lang="en-US" altLang="zh-CN" sz="1400" b="1" baseline="-25000" dirty="0">
                    <a:latin typeface="微软雅黑" panose="020B0503020204020204" pitchFamily="34" charset="-122"/>
                    <a:ea typeface="微软雅黑" panose="020B0503020204020204" pitchFamily="34" charset="-122"/>
                  </a:rPr>
                  <a:t>1</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的部分转发表</a:t>
                </a:r>
                <a:endParaRPr lang="zh-CN" altLang="en-US" sz="1400" b="1" baseline="-25000" dirty="0">
                  <a:latin typeface="微软雅黑" panose="020B0503020204020204" pitchFamily="34" charset="-122"/>
                  <a:ea typeface="微软雅黑" panose="020B0503020204020204" pitchFamily="34" charset="-122"/>
                </a:endParaRPr>
              </a:p>
            </p:txBody>
          </p:sp>
        </p:grpSp>
        <p:pic>
          <p:nvPicPr>
            <p:cNvPr id="129"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887487" y="315983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30"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922705" y="2689821"/>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31"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94672" y="150706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2" name="任意多边形 1"/>
          <p:cNvSpPr/>
          <p:nvPr/>
        </p:nvSpPr>
        <p:spPr>
          <a:xfrm>
            <a:off x="3147431" y="1274164"/>
            <a:ext cx="720031" cy="584616"/>
          </a:xfrm>
          <a:custGeom>
            <a:avLst/>
            <a:gdLst>
              <a:gd name="connsiteX0" fmla="*/ 630090 w 720031"/>
              <a:gd name="connsiteY0" fmla="*/ 0 h 584616"/>
              <a:gd name="connsiteX1" fmla="*/ 503 w 720031"/>
              <a:gd name="connsiteY1" fmla="*/ 269823 h 584616"/>
              <a:gd name="connsiteX2" fmla="*/ 720031 w 720031"/>
              <a:gd name="connsiteY2" fmla="*/ 584616 h 584616"/>
              <a:gd name="connsiteX3" fmla="*/ 720031 w 720031"/>
              <a:gd name="connsiteY3" fmla="*/ 584616 h 584616"/>
            </a:gdLst>
            <a:ahLst/>
            <a:cxnLst>
              <a:cxn ang="0">
                <a:pos x="connsiteX0" y="connsiteY0"/>
              </a:cxn>
              <a:cxn ang="0">
                <a:pos x="connsiteX1" y="connsiteY1"/>
              </a:cxn>
              <a:cxn ang="0">
                <a:pos x="connsiteX2" y="connsiteY2"/>
              </a:cxn>
              <a:cxn ang="0">
                <a:pos x="connsiteX3" y="connsiteY3"/>
              </a:cxn>
            </a:cxnLst>
            <a:rect l="l" t="t" r="r" b="b"/>
            <a:pathLst>
              <a:path w="720031" h="584616">
                <a:moveTo>
                  <a:pt x="630090" y="0"/>
                </a:moveTo>
                <a:cubicBezTo>
                  <a:pt x="307801" y="86193"/>
                  <a:pt x="-14487" y="172387"/>
                  <a:pt x="503" y="269823"/>
                </a:cubicBezTo>
                <a:cubicBezTo>
                  <a:pt x="15493" y="367259"/>
                  <a:pt x="720031" y="584616"/>
                  <a:pt x="720031" y="584616"/>
                </a:cubicBezTo>
                <a:lnTo>
                  <a:pt x="720031" y="584616"/>
                </a:lnTo>
              </a:path>
            </a:pathLst>
          </a:custGeom>
          <a:noFill/>
          <a:ln w="38100">
            <a:solidFill>
              <a:srgbClr val="CC0000"/>
            </a:solidFill>
            <a:prstDash val="sysDot"/>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8" name="AutoShape 63"/>
          <p:cNvSpPr>
            <a:spLocks noChangeArrowheads="1"/>
          </p:cNvSpPr>
          <p:nvPr/>
        </p:nvSpPr>
        <p:spPr bwMode="auto">
          <a:xfrm>
            <a:off x="5047836" y="1543263"/>
            <a:ext cx="547288" cy="142367"/>
          </a:xfrm>
          <a:prstGeom prst="rightArrow">
            <a:avLst>
              <a:gd name="adj1" fmla="val 50000"/>
              <a:gd name="adj2" fmla="val 66728"/>
            </a:avLst>
          </a:prstGeom>
          <a:solidFill>
            <a:srgbClr val="FFFF00"/>
          </a:solidFill>
          <a:ln w="12700">
            <a:solidFill>
              <a:schemeClr val="tx1"/>
            </a:solidFill>
            <a:miter lim="800000"/>
            <a:headEnd/>
            <a:tailEnd/>
          </a:ln>
          <a:effectLst/>
        </p:spPr>
        <p:txBody>
          <a:bodyPr wrap="none" anchor="ctr"/>
          <a:lstStyle/>
          <a:p>
            <a:endParaRPr lang="zh-CN" altLang="en-US">
              <a:solidFill>
                <a:srgbClr val="CC00CC"/>
              </a:solidFill>
            </a:endParaRPr>
          </a:p>
        </p:txBody>
      </p:sp>
      <p:sp>
        <p:nvSpPr>
          <p:cNvPr id="3" name="Text Box 155"/>
          <p:cNvSpPr txBox="1">
            <a:spLocks noChangeArrowheads="1"/>
          </p:cNvSpPr>
          <p:nvPr/>
        </p:nvSpPr>
        <p:spPr bwMode="auto">
          <a:xfrm>
            <a:off x="1196429" y="594101"/>
            <a:ext cx="6864206" cy="363176"/>
          </a:xfrm>
          <a:prstGeom prst="rect">
            <a:avLst/>
          </a:prstGeom>
          <a:solidFill>
            <a:srgbClr val="C00000"/>
          </a:solidFill>
          <a:ln w="9525">
            <a:noFill/>
            <a:miter lim="800000"/>
            <a:headEnd/>
            <a:tailEnd/>
          </a:ln>
          <a:effectLst/>
        </p:spPr>
        <p:txBody>
          <a:bodyPr wrap="square">
            <a:spAutoFit/>
          </a:bodyPr>
          <a:lstStyle>
            <a:defPPr>
              <a:defRPr lang="zh-CN"/>
            </a:defPPr>
            <a:lvl1pPr algn="ctr">
              <a:lnSpc>
                <a:spcPct val="110000"/>
              </a:lnSpc>
              <a:defRPr sz="1600" b="1">
                <a:solidFill>
                  <a:schemeClr val="bg1"/>
                </a:solidFill>
                <a:latin typeface="微软雅黑" pitchFamily="34" charset="-122"/>
                <a:ea typeface="微软雅黑" pitchFamily="34" charset="-122"/>
              </a:defRPr>
            </a:lvl1pPr>
          </a:lstStyle>
          <a:p>
            <a:r>
              <a:rPr lang="zh-CN" altLang="en-US" dirty="0"/>
              <a:t>路由器 </a:t>
            </a:r>
            <a:r>
              <a:rPr lang="en-US" altLang="zh-CN" dirty="0"/>
              <a:t>R</a:t>
            </a:r>
            <a:r>
              <a:rPr lang="en-US" altLang="zh-CN" baseline="-25000" dirty="0"/>
              <a:t>1</a:t>
            </a:r>
            <a:r>
              <a:rPr lang="en-US" altLang="zh-CN" dirty="0"/>
              <a:t> </a:t>
            </a:r>
            <a:r>
              <a:rPr lang="zh-CN" altLang="en-US" dirty="0"/>
              <a:t>收到分组后查找转发表。先检查第 </a:t>
            </a:r>
            <a:r>
              <a:rPr lang="en-US" altLang="zh-CN" dirty="0"/>
              <a:t>1 </a:t>
            </a:r>
            <a:r>
              <a:rPr lang="zh-CN" altLang="en-US" dirty="0"/>
              <a:t>行。 </a:t>
            </a:r>
          </a:p>
        </p:txBody>
      </p:sp>
    </p:spTree>
    <p:extLst>
      <p:ext uri="{BB962C8B-B14F-4D97-AF65-F5344CB8AC3E}">
        <p14:creationId xmlns:p14="http://schemas.microsoft.com/office/powerpoint/2010/main" val="59601722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28"/>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1" nodeType="afterEffect">
                                  <p:stCondLst>
                                    <p:cond delay="0"/>
                                  </p:stCondLst>
                                  <p:childTnLst>
                                    <p:anim calcmode="discrete" valueType="str">
                                      <p:cBhvr>
                                        <p:cTn id="9" dur="1000" fill="hold"/>
                                        <p:tgtEl>
                                          <p:spTgt spid="128"/>
                                        </p:tgtEl>
                                        <p:attrNameLst>
                                          <p:attrName>style.visibility</p:attrName>
                                        </p:attrNameLst>
                                      </p:cBhvr>
                                      <p:tavLst>
                                        <p:tav tm="0">
                                          <p:val>
                                            <p:strVal val="hidden"/>
                                          </p:val>
                                        </p:tav>
                                        <p:tav tm="50000">
                                          <p:val>
                                            <p:strVal val="visible"/>
                                          </p:val>
                                        </p:tav>
                                      </p:tavLst>
                                    </p:anim>
                                  </p:childTnLst>
                                </p:cTn>
                              </p:par>
                            </p:childTnLst>
                          </p:cTn>
                        </p:par>
                        <p:par>
                          <p:cTn id="10" fill="hold">
                            <p:stCondLst>
                              <p:cond delay="3000"/>
                            </p:stCondLst>
                            <p:childTnLst>
                              <p:par>
                                <p:cTn id="11" presetID="22" presetClass="entr" presetSubtype="1" fill="hold" grpId="0" nodeType="afterEffect">
                                  <p:stCondLst>
                                    <p:cond delay="0"/>
                                  </p:stCondLst>
                                  <p:childTnLst>
                                    <p:set>
                                      <p:cBhvr>
                                        <p:cTn id="12" dur="1" fill="hold">
                                          <p:stCondLst>
                                            <p:cond delay="0"/>
                                          </p:stCondLst>
                                        </p:cTn>
                                        <p:tgtEl>
                                          <p:spTgt spid="51"/>
                                        </p:tgtEl>
                                        <p:attrNameLst>
                                          <p:attrName>style.visibility</p:attrName>
                                        </p:attrNameLst>
                                      </p:cBhvr>
                                      <p:to>
                                        <p:strVal val="visible"/>
                                      </p:to>
                                    </p:set>
                                    <p:animEffect transition="in" filter="wipe(up)">
                                      <p:cBhvr>
                                        <p:cTn id="13"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128" grpId="0" animBg="1"/>
      <p:bldP spid="128" grpId="1"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 name="圆角矩形 66"/>
          <p:cNvSpPr/>
          <p:nvPr/>
        </p:nvSpPr>
        <p:spPr>
          <a:xfrm>
            <a:off x="344776" y="633725"/>
            <a:ext cx="8469440" cy="372914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aphicFrame>
        <p:nvGraphicFramePr>
          <p:cNvPr id="68" name="Group 125"/>
          <p:cNvGraphicFramePr>
            <a:graphicFrameLocks noGrp="1"/>
          </p:cNvGraphicFramePr>
          <p:nvPr>
            <p:extLst>
              <p:ext uri="{D42A27DB-BD31-4B8C-83A1-F6EECF244321}">
                <p14:modId xmlns:p14="http://schemas.microsoft.com/office/powerpoint/2010/main" val="1705004336"/>
              </p:ext>
            </p:extLst>
          </p:nvPr>
        </p:nvGraphicFramePr>
        <p:xfrm>
          <a:off x="5544358" y="1184245"/>
          <a:ext cx="2790174" cy="1076799"/>
        </p:xfrm>
        <a:graphic>
          <a:graphicData uri="http://schemas.openxmlformats.org/drawingml/2006/table">
            <a:tbl>
              <a:tblPr/>
              <a:tblGrid>
                <a:gridCol w="1543446">
                  <a:extLst>
                    <a:ext uri="{9D8B030D-6E8A-4147-A177-3AD203B41FA5}">
                      <a16:colId xmlns:a16="http://schemas.microsoft.com/office/drawing/2014/main" val="20000"/>
                    </a:ext>
                  </a:extLst>
                </a:gridCol>
                <a:gridCol w="1246728">
                  <a:extLst>
                    <a:ext uri="{9D8B030D-6E8A-4147-A177-3AD203B41FA5}">
                      <a16:colId xmlns:a16="http://schemas.microsoft.com/office/drawing/2014/main" val="20001"/>
                    </a:ext>
                  </a:extLst>
                </a:gridCol>
              </a:tblGrid>
              <a:tr h="286975">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前缀匹配</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下一跳</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789824">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128.1.3.64/26</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128.1.2.128/25</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128.1.2.192/26</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defRPr/>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R</a:t>
                      </a:r>
                      <a:r>
                        <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rPr>
                        <a:t>2</a:t>
                      </a: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endPar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endParaRP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0</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51" name="Text Box 155"/>
          <p:cNvSpPr txBox="1">
            <a:spLocks noChangeArrowheads="1"/>
          </p:cNvSpPr>
          <p:nvPr/>
        </p:nvSpPr>
        <p:spPr bwMode="auto">
          <a:xfrm>
            <a:off x="1196428" y="4333600"/>
            <a:ext cx="6865200" cy="397032"/>
          </a:xfrm>
          <a:prstGeom prst="rect">
            <a:avLst/>
          </a:prstGeom>
          <a:solidFill>
            <a:srgbClr val="0070C0"/>
          </a:solidFill>
          <a:ln w="9525">
            <a:noFill/>
            <a:miter lim="800000"/>
            <a:headEnd/>
            <a:tailEnd/>
          </a:ln>
          <a:effectLst/>
        </p:spPr>
        <p:txBody>
          <a:bodyPr wrap="square">
            <a:spAutoFit/>
          </a:bodyPr>
          <a:lstStyle/>
          <a:p>
            <a:pPr algn="ctr">
              <a:lnSpc>
                <a:spcPct val="110000"/>
              </a:lnSpc>
            </a:pPr>
            <a:r>
              <a:rPr lang="en-US" altLang="zh-CN" b="1" dirty="0">
                <a:solidFill>
                  <a:srgbClr val="FFFF00"/>
                </a:solidFill>
                <a:latin typeface="微软雅黑" pitchFamily="34" charset="-122"/>
                <a:ea typeface="微软雅黑" pitchFamily="34" charset="-122"/>
              </a:rPr>
              <a:t>128.1.2.132</a:t>
            </a:r>
            <a:r>
              <a:rPr lang="en-US" altLang="zh-CN" b="1" dirty="0">
                <a:solidFill>
                  <a:schemeClr val="bg1"/>
                </a:solidFill>
                <a:latin typeface="微软雅黑" pitchFamily="34" charset="-122"/>
                <a:ea typeface="微软雅黑" pitchFamily="34" charset="-122"/>
              </a:rPr>
              <a:t> </a:t>
            </a:r>
            <a:r>
              <a:rPr lang="en-US" altLang="zh-CN" b="1" dirty="0">
                <a:solidFill>
                  <a:schemeClr val="accent6"/>
                </a:solidFill>
                <a:latin typeface="微软雅黑" pitchFamily="34" charset="-122"/>
                <a:ea typeface="微软雅黑" pitchFamily="34" charset="-122"/>
              </a:rPr>
              <a:t>AND</a:t>
            </a:r>
            <a:r>
              <a:rPr lang="en-US" altLang="zh-CN" b="1" dirty="0">
                <a:solidFill>
                  <a:schemeClr val="bg1"/>
                </a:solidFill>
                <a:latin typeface="微软雅黑" pitchFamily="34" charset="-122"/>
                <a:ea typeface="微软雅黑" pitchFamily="34" charset="-122"/>
              </a:rPr>
              <a:t> 255.255.255.128 = 128.1.2.128     </a:t>
            </a:r>
            <a:r>
              <a:rPr lang="zh-CN" altLang="en-US" b="1" dirty="0">
                <a:solidFill>
                  <a:srgbClr val="FFFF00"/>
                </a:solidFill>
                <a:latin typeface="微软雅黑" pitchFamily="34" charset="-122"/>
                <a:ea typeface="微软雅黑" pitchFamily="34" charset="-122"/>
              </a:rPr>
              <a:t>匹配</a:t>
            </a:r>
            <a:r>
              <a:rPr lang="en-US" altLang="zh-CN" b="1" dirty="0">
                <a:solidFill>
                  <a:srgbClr val="FFFF00"/>
                </a:solidFill>
                <a:latin typeface="微软雅黑" pitchFamily="34" charset="-122"/>
                <a:ea typeface="微软雅黑" pitchFamily="34" charset="-122"/>
              </a:rPr>
              <a:t>!</a:t>
            </a:r>
          </a:p>
        </p:txBody>
      </p:sp>
      <p:sp>
        <p:nvSpPr>
          <p:cNvPr id="57" name="Line 66"/>
          <p:cNvSpPr>
            <a:spLocks noChangeShapeType="1"/>
          </p:cNvSpPr>
          <p:nvPr/>
        </p:nvSpPr>
        <p:spPr bwMode="auto">
          <a:xfrm>
            <a:off x="5637655" y="1944029"/>
            <a:ext cx="1362752"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0" name="椭圆 119"/>
          <p:cNvSpPr/>
          <p:nvPr/>
        </p:nvSpPr>
        <p:spPr bwMode="auto">
          <a:xfrm rot="20475920">
            <a:off x="1042029" y="910124"/>
            <a:ext cx="3351723" cy="1002368"/>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grpSp>
        <p:nvGrpSpPr>
          <p:cNvPr id="2" name="组合 1"/>
          <p:cNvGrpSpPr/>
          <p:nvPr/>
        </p:nvGrpSpPr>
        <p:grpSpPr>
          <a:xfrm>
            <a:off x="354487" y="816458"/>
            <a:ext cx="7304424" cy="3440748"/>
            <a:chOff x="354487" y="816458"/>
            <a:chExt cx="7304424" cy="3440748"/>
          </a:xfrm>
        </p:grpSpPr>
        <p:grpSp>
          <p:nvGrpSpPr>
            <p:cNvPr id="4" name="组合 68"/>
            <p:cNvGrpSpPr/>
            <p:nvPr/>
          </p:nvGrpSpPr>
          <p:grpSpPr>
            <a:xfrm>
              <a:off x="354487" y="816458"/>
              <a:ext cx="7304424" cy="3440748"/>
              <a:chOff x="354487" y="816458"/>
              <a:chExt cx="7304424" cy="3440748"/>
            </a:xfrm>
          </p:grpSpPr>
          <p:sp>
            <p:nvSpPr>
              <p:cNvPr id="70" name="直角三角形 69"/>
              <p:cNvSpPr/>
              <p:nvPr/>
            </p:nvSpPr>
            <p:spPr>
              <a:xfrm rot="16200000">
                <a:off x="4357107" y="1079129"/>
                <a:ext cx="1089992" cy="1274054"/>
              </a:xfrm>
              <a:prstGeom prst="rtTriangle">
                <a:avLst/>
              </a:prstGeom>
              <a:gradFill flip="none" rotWithShape="1">
                <a:gsLst>
                  <a:gs pos="0">
                    <a:schemeClr val="bg1">
                      <a:lumMod val="85000"/>
                      <a:shade val="30000"/>
                      <a:satMod val="115000"/>
                    </a:schemeClr>
                  </a:gs>
                  <a:gs pos="50000">
                    <a:schemeClr val="bg1">
                      <a:lumMod val="85000"/>
                      <a:shade val="67500"/>
                      <a:satMod val="115000"/>
                    </a:schemeClr>
                  </a:gs>
                  <a:gs pos="100000">
                    <a:schemeClr val="bg1">
                      <a:lumMod val="85000"/>
                      <a:shade val="100000"/>
                      <a:satMod val="115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椭圆 70"/>
              <p:cNvSpPr/>
              <p:nvPr/>
            </p:nvSpPr>
            <p:spPr bwMode="auto">
              <a:xfrm>
                <a:off x="3607791" y="2535299"/>
                <a:ext cx="3716460" cy="1197252"/>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72" name="椭圆 71"/>
              <p:cNvSpPr/>
              <p:nvPr/>
            </p:nvSpPr>
            <p:spPr bwMode="auto">
              <a:xfrm rot="16200000">
                <a:off x="883716" y="2425929"/>
                <a:ext cx="1925637" cy="1736917"/>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73" name="Text Box 20"/>
              <p:cNvSpPr txBox="1">
                <a:spLocks noChangeArrowheads="1"/>
              </p:cNvSpPr>
              <p:nvPr/>
            </p:nvSpPr>
            <p:spPr bwMode="auto">
              <a:xfrm>
                <a:off x="2456408" y="203983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128.1.2.194</a:t>
                </a:r>
              </a:p>
            </p:txBody>
          </p:sp>
          <p:sp>
            <p:nvSpPr>
              <p:cNvPr id="74" name="Text Box 25"/>
              <p:cNvSpPr txBox="1">
                <a:spLocks noChangeArrowheads="1"/>
              </p:cNvSpPr>
              <p:nvPr/>
            </p:nvSpPr>
            <p:spPr bwMode="auto">
              <a:xfrm>
                <a:off x="3732139" y="1824581"/>
                <a:ext cx="3113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75" name="Line 19"/>
              <p:cNvSpPr>
                <a:spLocks noChangeShapeType="1"/>
              </p:cNvSpPr>
              <p:nvPr/>
            </p:nvSpPr>
            <p:spPr bwMode="auto">
              <a:xfrm>
                <a:off x="2775735" y="1678638"/>
                <a:ext cx="1301162" cy="55733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76" name="Line 16"/>
              <p:cNvSpPr>
                <a:spLocks noChangeShapeType="1"/>
              </p:cNvSpPr>
              <p:nvPr/>
            </p:nvSpPr>
            <p:spPr bwMode="auto">
              <a:xfrm flipH="1">
                <a:off x="1638141" y="1656270"/>
                <a:ext cx="947995" cy="2530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77" name="Line 8"/>
              <p:cNvSpPr>
                <a:spLocks noChangeShapeType="1"/>
              </p:cNvSpPr>
              <p:nvPr/>
            </p:nvSpPr>
            <p:spPr bwMode="auto">
              <a:xfrm flipH="1">
                <a:off x="2658440" y="1101262"/>
                <a:ext cx="956029" cy="55360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78" name="Picture 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93961" y="824458"/>
                <a:ext cx="345456"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 name="Text Box 9"/>
              <p:cNvSpPr txBox="1">
                <a:spLocks noChangeArrowheads="1"/>
              </p:cNvSpPr>
              <p:nvPr/>
            </p:nvSpPr>
            <p:spPr bwMode="auto">
              <a:xfrm>
                <a:off x="2171247" y="91222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128.1.2.193</a:t>
                </a:r>
              </a:p>
            </p:txBody>
          </p:sp>
          <p:sp>
            <p:nvSpPr>
              <p:cNvPr id="80" name="Text Box 23"/>
              <p:cNvSpPr txBox="1">
                <a:spLocks noChangeArrowheads="1"/>
              </p:cNvSpPr>
              <p:nvPr/>
            </p:nvSpPr>
            <p:spPr bwMode="auto">
              <a:xfrm>
                <a:off x="3839945" y="816458"/>
                <a:ext cx="1225389" cy="338554"/>
              </a:xfrm>
              <a:prstGeom prst="rect">
                <a:avLst/>
              </a:prstGeom>
              <a:solidFill>
                <a:srgbClr val="00FFFF"/>
              </a:solidFill>
              <a:ln w="9525">
                <a:solidFill>
                  <a:schemeClr val="tx1"/>
                </a:solidFill>
                <a:miter lim="800000"/>
                <a:headEnd/>
                <a:tailEnd/>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源主机 </a:t>
                </a:r>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1</a:t>
                </a:r>
              </a:p>
            </p:txBody>
          </p:sp>
          <p:sp>
            <p:nvSpPr>
              <p:cNvPr id="81" name="Text Box 10"/>
              <p:cNvSpPr txBox="1">
                <a:spLocks noChangeArrowheads="1"/>
              </p:cNvSpPr>
              <p:nvPr/>
            </p:nvSpPr>
            <p:spPr bwMode="auto">
              <a:xfrm>
                <a:off x="590769" y="1099476"/>
                <a:ext cx="172675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128.1.2.192/26</a:t>
                </a:r>
              </a:p>
            </p:txBody>
          </p:sp>
          <p:sp>
            <p:nvSpPr>
              <p:cNvPr id="82" name="Line 45"/>
              <p:cNvSpPr>
                <a:spLocks noChangeShapeType="1"/>
              </p:cNvSpPr>
              <p:nvPr/>
            </p:nvSpPr>
            <p:spPr bwMode="auto">
              <a:xfrm flipH="1" flipV="1">
                <a:off x="2294019" y="3312971"/>
                <a:ext cx="808348" cy="2236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3" name="Line 41"/>
              <p:cNvSpPr>
                <a:spLocks noChangeShapeType="1"/>
              </p:cNvSpPr>
              <p:nvPr/>
            </p:nvSpPr>
            <p:spPr bwMode="auto">
              <a:xfrm flipH="1">
                <a:off x="4263353" y="2793929"/>
                <a:ext cx="1332012" cy="433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4" name="Line 33"/>
              <p:cNvSpPr>
                <a:spLocks noChangeShapeType="1"/>
              </p:cNvSpPr>
              <p:nvPr/>
            </p:nvSpPr>
            <p:spPr bwMode="auto">
              <a:xfrm flipH="1">
                <a:off x="2051398" y="3354911"/>
                <a:ext cx="88372" cy="52285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5" name="Line 32"/>
              <p:cNvSpPr>
                <a:spLocks noChangeShapeType="1"/>
              </p:cNvSpPr>
              <p:nvPr/>
            </p:nvSpPr>
            <p:spPr bwMode="auto">
              <a:xfrm flipH="1">
                <a:off x="3297683" y="2900177"/>
                <a:ext cx="819453" cy="66964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6" name="Line 21"/>
              <p:cNvSpPr>
                <a:spLocks noChangeShapeType="1"/>
              </p:cNvSpPr>
              <p:nvPr/>
            </p:nvSpPr>
            <p:spPr bwMode="auto">
              <a:xfrm>
                <a:off x="4207116" y="2371732"/>
                <a:ext cx="1607" cy="4627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87" name="Picture 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74653" y="3753341"/>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1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19621" y="1719179"/>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18"/>
              <p:cNvGrpSpPr>
                <a:grpSpLocks/>
              </p:cNvGrpSpPr>
              <p:nvPr/>
            </p:nvGrpSpPr>
            <p:grpSpPr bwMode="auto">
              <a:xfrm>
                <a:off x="3943605" y="2125684"/>
                <a:ext cx="531842" cy="303367"/>
                <a:chOff x="864" y="1824"/>
                <a:chExt cx="432" cy="288"/>
              </a:xfrm>
            </p:grpSpPr>
            <p:pic>
              <p:nvPicPr>
                <p:cNvPr id="126"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27" name="Picture 1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pic>
            <p:nvPicPr>
              <p:cNvPr id="90" name="Picture 1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02173" y="2589821"/>
                <a:ext cx="345456"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Text Box 22"/>
              <p:cNvSpPr txBox="1">
                <a:spLocks noChangeArrowheads="1"/>
              </p:cNvSpPr>
              <p:nvPr/>
            </p:nvSpPr>
            <p:spPr bwMode="auto">
              <a:xfrm>
                <a:off x="2853215" y="2404897"/>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128.1.2.130</a:t>
                </a:r>
              </a:p>
            </p:txBody>
          </p:sp>
          <p:sp>
            <p:nvSpPr>
              <p:cNvPr id="92" name="Text Box 24"/>
              <p:cNvSpPr txBox="1">
                <a:spLocks noChangeArrowheads="1"/>
              </p:cNvSpPr>
              <p:nvPr/>
            </p:nvSpPr>
            <p:spPr bwMode="auto">
              <a:xfrm>
                <a:off x="4108734" y="1835693"/>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1</a:t>
                </a:r>
              </a:p>
            </p:txBody>
          </p:sp>
          <p:sp>
            <p:nvSpPr>
              <p:cNvPr id="93" name="Text Box 26"/>
              <p:cNvSpPr txBox="1">
                <a:spLocks noChangeArrowheads="1"/>
              </p:cNvSpPr>
              <p:nvPr/>
            </p:nvSpPr>
            <p:spPr bwMode="auto">
              <a:xfrm>
                <a:off x="4178194" y="2368936"/>
                <a:ext cx="3113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a:t>
                </a:r>
                <a:endParaRPr lang="en-US" altLang="zh-CN" sz="1600" b="1" baseline="-25000" dirty="0">
                  <a:latin typeface="微软雅黑" panose="020B0503020204020204" pitchFamily="34" charset="-122"/>
                  <a:ea typeface="微软雅黑" panose="020B0503020204020204" pitchFamily="34" charset="-122"/>
                </a:endParaRPr>
              </a:p>
            </p:txBody>
          </p:sp>
          <p:sp>
            <p:nvSpPr>
              <p:cNvPr id="94" name="Line 27"/>
              <p:cNvSpPr>
                <a:spLocks noChangeShapeType="1"/>
              </p:cNvSpPr>
              <p:nvPr/>
            </p:nvSpPr>
            <p:spPr bwMode="auto">
              <a:xfrm>
                <a:off x="4263353" y="2837267"/>
                <a:ext cx="1307911" cy="4627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6" name="Group 28"/>
              <p:cNvGrpSpPr>
                <a:grpSpLocks/>
              </p:cNvGrpSpPr>
              <p:nvPr/>
            </p:nvGrpSpPr>
            <p:grpSpPr bwMode="auto">
              <a:xfrm>
                <a:off x="3032567" y="3427224"/>
                <a:ext cx="531841" cy="303366"/>
                <a:chOff x="864" y="1824"/>
                <a:chExt cx="432" cy="288"/>
              </a:xfrm>
            </p:grpSpPr>
            <p:pic>
              <p:nvPicPr>
                <p:cNvPr id="124" name="Picture 2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25" name="Picture 3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96" name="Text Box 31"/>
              <p:cNvSpPr txBox="1">
                <a:spLocks noChangeArrowheads="1"/>
              </p:cNvSpPr>
              <p:nvPr/>
            </p:nvSpPr>
            <p:spPr bwMode="auto">
              <a:xfrm>
                <a:off x="3511384" y="3483144"/>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2</a:t>
                </a:r>
              </a:p>
            </p:txBody>
          </p:sp>
          <p:sp>
            <p:nvSpPr>
              <p:cNvPr id="97" name="Line 35"/>
              <p:cNvSpPr>
                <a:spLocks noChangeShapeType="1"/>
              </p:cNvSpPr>
              <p:nvPr/>
            </p:nvSpPr>
            <p:spPr bwMode="auto">
              <a:xfrm flipH="1">
                <a:off x="2147804" y="2732799"/>
                <a:ext cx="36955" cy="58017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98" name="Picture 1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39129" y="3034385"/>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Text Box 37"/>
              <p:cNvSpPr txBox="1">
                <a:spLocks noChangeArrowheads="1"/>
              </p:cNvSpPr>
              <p:nvPr/>
            </p:nvSpPr>
            <p:spPr bwMode="auto">
              <a:xfrm>
                <a:off x="5909138" y="2500740"/>
                <a:ext cx="174977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128.1.2.128/25</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100" name="Text Box 39"/>
              <p:cNvSpPr txBox="1">
                <a:spLocks noChangeArrowheads="1"/>
              </p:cNvSpPr>
              <p:nvPr/>
            </p:nvSpPr>
            <p:spPr bwMode="auto">
              <a:xfrm>
                <a:off x="5888875" y="3027938"/>
                <a:ext cx="1435376" cy="338554"/>
              </a:xfrm>
              <a:prstGeom prst="rect">
                <a:avLst/>
              </a:prstGeom>
              <a:solidFill>
                <a:srgbClr val="00FFFF"/>
              </a:solidFill>
              <a:ln w="9525">
                <a:solidFill>
                  <a:schemeClr val="tx1"/>
                </a:solidFill>
                <a:miter lim="800000"/>
                <a:headEnd/>
                <a:tailEnd/>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目的主机 </a:t>
                </a:r>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2</a:t>
                </a:r>
              </a:p>
            </p:txBody>
          </p:sp>
          <p:sp>
            <p:nvSpPr>
              <p:cNvPr id="101" name="Text Box 40"/>
              <p:cNvSpPr txBox="1">
                <a:spLocks noChangeArrowheads="1"/>
              </p:cNvSpPr>
              <p:nvPr/>
            </p:nvSpPr>
            <p:spPr bwMode="auto">
              <a:xfrm>
                <a:off x="4856211" y="334497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128.1.2.132</a:t>
                </a:r>
              </a:p>
            </p:txBody>
          </p:sp>
          <p:sp>
            <p:nvSpPr>
              <p:cNvPr id="102" name="Text Box 42"/>
              <p:cNvSpPr txBox="1">
                <a:spLocks noChangeArrowheads="1"/>
              </p:cNvSpPr>
              <p:nvPr/>
            </p:nvSpPr>
            <p:spPr bwMode="auto">
              <a:xfrm>
                <a:off x="3269292" y="313659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103" name="Text Box 43"/>
              <p:cNvSpPr txBox="1">
                <a:spLocks noChangeArrowheads="1"/>
              </p:cNvSpPr>
              <p:nvPr/>
            </p:nvSpPr>
            <p:spPr bwMode="auto">
              <a:xfrm>
                <a:off x="2804933" y="315647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a:t>
                </a:r>
                <a:endParaRPr lang="en-US" altLang="zh-CN" sz="1600" b="1" baseline="-25000" dirty="0">
                  <a:latin typeface="微软雅黑" panose="020B0503020204020204" pitchFamily="34" charset="-122"/>
                  <a:ea typeface="微软雅黑" panose="020B0503020204020204" pitchFamily="34" charset="-122"/>
                </a:endParaRPr>
              </a:p>
            </p:txBody>
          </p:sp>
          <p:sp>
            <p:nvSpPr>
              <p:cNvPr id="104" name="Text Box 44"/>
              <p:cNvSpPr txBox="1">
                <a:spLocks noChangeArrowheads="1"/>
              </p:cNvSpPr>
              <p:nvPr/>
            </p:nvSpPr>
            <p:spPr bwMode="auto">
              <a:xfrm>
                <a:off x="3533879" y="321752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128.1.2.131</a:t>
                </a:r>
              </a:p>
            </p:txBody>
          </p:sp>
          <p:pic>
            <p:nvPicPr>
              <p:cNvPr id="105" name="Picture 3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19263" y="2489547"/>
                <a:ext cx="347062"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Text Box 46"/>
              <p:cNvSpPr txBox="1">
                <a:spLocks noChangeArrowheads="1"/>
              </p:cNvSpPr>
              <p:nvPr/>
            </p:nvSpPr>
            <p:spPr bwMode="auto">
              <a:xfrm>
                <a:off x="1508068" y="3842425"/>
                <a:ext cx="44325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3</a:t>
                </a:r>
              </a:p>
            </p:txBody>
          </p:sp>
          <p:sp>
            <p:nvSpPr>
              <p:cNvPr id="107" name="Text Box 48"/>
              <p:cNvSpPr txBox="1">
                <a:spLocks noChangeArrowheads="1"/>
              </p:cNvSpPr>
              <p:nvPr/>
            </p:nvSpPr>
            <p:spPr bwMode="auto">
              <a:xfrm>
                <a:off x="2285477" y="3692457"/>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128.1.3.65</a:t>
                </a:r>
              </a:p>
            </p:txBody>
          </p:sp>
          <p:sp>
            <p:nvSpPr>
              <p:cNvPr id="108" name="Text Box 38"/>
              <p:cNvSpPr txBox="1">
                <a:spLocks noChangeArrowheads="1"/>
              </p:cNvSpPr>
              <p:nvPr/>
            </p:nvSpPr>
            <p:spPr bwMode="auto">
              <a:xfrm>
                <a:off x="354487" y="2757515"/>
                <a:ext cx="160011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128.1.3.64/26</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109" name="Text Box 47"/>
              <p:cNvSpPr txBox="1">
                <a:spLocks noChangeArrowheads="1"/>
              </p:cNvSpPr>
              <p:nvPr/>
            </p:nvSpPr>
            <p:spPr bwMode="auto">
              <a:xfrm>
                <a:off x="783205" y="3498904"/>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128.1.3.66</a:t>
                </a:r>
              </a:p>
            </p:txBody>
          </p:sp>
          <p:sp>
            <p:nvSpPr>
              <p:cNvPr id="110" name="椭圆 67"/>
              <p:cNvSpPr>
                <a:spLocks noChangeArrowheads="1"/>
              </p:cNvSpPr>
              <p:nvPr/>
            </p:nvSpPr>
            <p:spPr bwMode="auto">
              <a:xfrm>
                <a:off x="2872438" y="3447105"/>
                <a:ext cx="72305"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1" name="椭圆 68"/>
              <p:cNvSpPr>
                <a:spLocks noChangeArrowheads="1"/>
              </p:cNvSpPr>
              <p:nvPr/>
            </p:nvSpPr>
            <p:spPr bwMode="auto">
              <a:xfrm>
                <a:off x="5415407" y="3222106"/>
                <a:ext cx="73911"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2" name="椭圆 69"/>
              <p:cNvSpPr>
                <a:spLocks noChangeArrowheads="1"/>
              </p:cNvSpPr>
              <p:nvPr/>
            </p:nvSpPr>
            <p:spPr bwMode="auto">
              <a:xfrm>
                <a:off x="3540306" y="3316782"/>
                <a:ext cx="73911"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3" name="椭圆 70"/>
              <p:cNvSpPr>
                <a:spLocks noChangeArrowheads="1"/>
              </p:cNvSpPr>
              <p:nvPr/>
            </p:nvSpPr>
            <p:spPr bwMode="auto">
              <a:xfrm>
                <a:off x="2046577" y="3633113"/>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4" name="椭圆 71"/>
              <p:cNvSpPr>
                <a:spLocks noChangeArrowheads="1"/>
              </p:cNvSpPr>
              <p:nvPr/>
            </p:nvSpPr>
            <p:spPr bwMode="auto">
              <a:xfrm>
                <a:off x="4163733" y="2501747"/>
                <a:ext cx="73911"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5" name="椭圆 72"/>
              <p:cNvSpPr>
                <a:spLocks noChangeArrowheads="1"/>
              </p:cNvSpPr>
              <p:nvPr/>
            </p:nvSpPr>
            <p:spPr bwMode="auto">
              <a:xfrm>
                <a:off x="3792649" y="2084212"/>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6" name="椭圆 73"/>
              <p:cNvSpPr>
                <a:spLocks noChangeArrowheads="1"/>
              </p:cNvSpPr>
              <p:nvPr/>
            </p:nvSpPr>
            <p:spPr bwMode="auto">
              <a:xfrm>
                <a:off x="3418443" y="1171162"/>
                <a:ext cx="72304"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7" name="Text Box 10"/>
              <p:cNvSpPr txBox="1">
                <a:spLocks noChangeArrowheads="1"/>
              </p:cNvSpPr>
              <p:nvPr/>
            </p:nvSpPr>
            <p:spPr bwMode="auto">
              <a:xfrm>
                <a:off x="1323351" y="861428"/>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1</a:t>
                </a:r>
                <a:endParaRPr lang="en-US" altLang="zh-CN" sz="1600" b="1" dirty="0">
                  <a:latin typeface="微软雅黑" panose="020B0503020204020204" pitchFamily="34" charset="-122"/>
                  <a:ea typeface="微软雅黑" panose="020B0503020204020204" pitchFamily="34" charset="-122"/>
                </a:endParaRPr>
              </a:p>
            </p:txBody>
          </p:sp>
          <p:sp>
            <p:nvSpPr>
              <p:cNvPr id="118" name="Text Box 37"/>
              <p:cNvSpPr txBox="1">
                <a:spLocks noChangeArrowheads="1"/>
              </p:cNvSpPr>
              <p:nvPr/>
            </p:nvSpPr>
            <p:spPr bwMode="auto">
              <a:xfrm>
                <a:off x="6571928" y="2245549"/>
                <a:ext cx="57040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2 </a:t>
                </a:r>
              </a:p>
            </p:txBody>
          </p:sp>
          <p:sp>
            <p:nvSpPr>
              <p:cNvPr id="119" name="Text Box 38"/>
              <p:cNvSpPr txBox="1">
                <a:spLocks noChangeArrowheads="1"/>
              </p:cNvSpPr>
              <p:nvPr/>
            </p:nvSpPr>
            <p:spPr bwMode="auto">
              <a:xfrm>
                <a:off x="908984" y="2489487"/>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3</a:t>
                </a:r>
              </a:p>
            </p:txBody>
          </p:sp>
          <p:sp>
            <p:nvSpPr>
              <p:cNvPr id="123" name="Text Box 98"/>
              <p:cNvSpPr txBox="1">
                <a:spLocks noChangeArrowheads="1"/>
              </p:cNvSpPr>
              <p:nvPr/>
            </p:nvSpPr>
            <p:spPr bwMode="auto">
              <a:xfrm>
                <a:off x="6138447" y="884729"/>
                <a:ext cx="15135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R</a:t>
                </a:r>
                <a:r>
                  <a:rPr lang="en-US" altLang="zh-CN" sz="1400" b="1" baseline="-25000" dirty="0">
                    <a:latin typeface="微软雅黑" panose="020B0503020204020204" pitchFamily="34" charset="-122"/>
                    <a:ea typeface="微软雅黑" panose="020B0503020204020204" pitchFamily="34" charset="-122"/>
                  </a:rPr>
                  <a:t>1</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的部分转发表</a:t>
                </a:r>
                <a:endParaRPr lang="zh-CN" altLang="en-US" sz="1400" b="1" baseline="-25000" dirty="0">
                  <a:latin typeface="微软雅黑" panose="020B0503020204020204" pitchFamily="34" charset="-122"/>
                  <a:ea typeface="微软雅黑" panose="020B0503020204020204" pitchFamily="34" charset="-122"/>
                </a:endParaRPr>
              </a:p>
            </p:txBody>
          </p:sp>
        </p:grpSp>
        <p:pic>
          <p:nvPicPr>
            <p:cNvPr id="128"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887487" y="315983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31"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922705" y="2689821"/>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32"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94672" y="150706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130" name="任意多边形 129"/>
          <p:cNvSpPr/>
          <p:nvPr/>
        </p:nvSpPr>
        <p:spPr>
          <a:xfrm>
            <a:off x="4487288" y="2442641"/>
            <a:ext cx="1057969" cy="655366"/>
          </a:xfrm>
          <a:custGeom>
            <a:avLst/>
            <a:gdLst>
              <a:gd name="connsiteX0" fmla="*/ 2833 w 1057969"/>
              <a:gd name="connsiteY0" fmla="*/ 0 h 655366"/>
              <a:gd name="connsiteX1" fmla="*/ 17823 w 1057969"/>
              <a:gd name="connsiteY1" fmla="*/ 164892 h 655366"/>
              <a:gd name="connsiteX2" fmla="*/ 137744 w 1057969"/>
              <a:gd name="connsiteY2" fmla="*/ 314793 h 655366"/>
              <a:gd name="connsiteX3" fmla="*/ 977194 w 1057969"/>
              <a:gd name="connsiteY3" fmla="*/ 629587 h 655366"/>
              <a:gd name="connsiteX4" fmla="*/ 977194 w 1057969"/>
              <a:gd name="connsiteY4" fmla="*/ 614597 h 655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7969" h="655366">
                <a:moveTo>
                  <a:pt x="2833" y="0"/>
                </a:moveTo>
                <a:cubicBezTo>
                  <a:pt x="-915" y="56213"/>
                  <a:pt x="-4662" y="112427"/>
                  <a:pt x="17823" y="164892"/>
                </a:cubicBezTo>
                <a:cubicBezTo>
                  <a:pt x="40308" y="217358"/>
                  <a:pt x="-22151" y="237344"/>
                  <a:pt x="137744" y="314793"/>
                </a:cubicBezTo>
                <a:cubicBezTo>
                  <a:pt x="297639" y="392242"/>
                  <a:pt x="977194" y="629587"/>
                  <a:pt x="977194" y="629587"/>
                </a:cubicBezTo>
                <a:cubicBezTo>
                  <a:pt x="1117102" y="679554"/>
                  <a:pt x="1047148" y="647075"/>
                  <a:pt x="977194" y="614597"/>
                </a:cubicBezTo>
              </a:path>
            </a:pathLst>
          </a:custGeom>
          <a:noFill/>
          <a:ln w="38100">
            <a:solidFill>
              <a:srgbClr val="CC0000"/>
            </a:solidFill>
            <a:prstDash val="sysDot"/>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9" name="任意多边形 128"/>
          <p:cNvSpPr/>
          <p:nvPr/>
        </p:nvSpPr>
        <p:spPr>
          <a:xfrm>
            <a:off x="3147431" y="1274164"/>
            <a:ext cx="720031" cy="584616"/>
          </a:xfrm>
          <a:custGeom>
            <a:avLst/>
            <a:gdLst>
              <a:gd name="connsiteX0" fmla="*/ 630090 w 720031"/>
              <a:gd name="connsiteY0" fmla="*/ 0 h 584616"/>
              <a:gd name="connsiteX1" fmla="*/ 503 w 720031"/>
              <a:gd name="connsiteY1" fmla="*/ 269823 h 584616"/>
              <a:gd name="connsiteX2" fmla="*/ 720031 w 720031"/>
              <a:gd name="connsiteY2" fmla="*/ 584616 h 584616"/>
              <a:gd name="connsiteX3" fmla="*/ 720031 w 720031"/>
              <a:gd name="connsiteY3" fmla="*/ 584616 h 584616"/>
            </a:gdLst>
            <a:ahLst/>
            <a:cxnLst>
              <a:cxn ang="0">
                <a:pos x="connsiteX0" y="connsiteY0"/>
              </a:cxn>
              <a:cxn ang="0">
                <a:pos x="connsiteX1" y="connsiteY1"/>
              </a:cxn>
              <a:cxn ang="0">
                <a:pos x="connsiteX2" y="connsiteY2"/>
              </a:cxn>
              <a:cxn ang="0">
                <a:pos x="connsiteX3" y="connsiteY3"/>
              </a:cxn>
            </a:cxnLst>
            <a:rect l="l" t="t" r="r" b="b"/>
            <a:pathLst>
              <a:path w="720031" h="584616">
                <a:moveTo>
                  <a:pt x="630090" y="0"/>
                </a:moveTo>
                <a:cubicBezTo>
                  <a:pt x="307801" y="86193"/>
                  <a:pt x="-14487" y="172387"/>
                  <a:pt x="503" y="269823"/>
                </a:cubicBezTo>
                <a:cubicBezTo>
                  <a:pt x="15493" y="367259"/>
                  <a:pt x="720031" y="584616"/>
                  <a:pt x="720031" y="584616"/>
                </a:cubicBezTo>
                <a:lnTo>
                  <a:pt x="720031" y="584616"/>
                </a:lnTo>
              </a:path>
            </a:pathLst>
          </a:custGeom>
          <a:noFill/>
          <a:ln w="38100">
            <a:solidFill>
              <a:srgbClr val="CC0000"/>
            </a:solidFill>
            <a:prstDash val="sysDot"/>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 name="AutoShape 63"/>
          <p:cNvSpPr>
            <a:spLocks noChangeArrowheads="1"/>
          </p:cNvSpPr>
          <p:nvPr/>
        </p:nvSpPr>
        <p:spPr bwMode="auto">
          <a:xfrm>
            <a:off x="5047836" y="1783103"/>
            <a:ext cx="547288" cy="142367"/>
          </a:xfrm>
          <a:prstGeom prst="rightArrow">
            <a:avLst>
              <a:gd name="adj1" fmla="val 50000"/>
              <a:gd name="adj2" fmla="val 66728"/>
            </a:avLst>
          </a:prstGeom>
          <a:solidFill>
            <a:srgbClr val="FFFF00"/>
          </a:solidFill>
          <a:ln w="12700">
            <a:solidFill>
              <a:schemeClr val="tx1"/>
            </a:solidFill>
            <a:miter lim="800000"/>
            <a:headEnd/>
            <a:tailEnd/>
          </a:ln>
          <a:effectLst/>
        </p:spPr>
        <p:txBody>
          <a:bodyPr wrap="none" anchor="ctr"/>
          <a:lstStyle/>
          <a:p>
            <a:endParaRPr lang="zh-CN" altLang="en-US">
              <a:solidFill>
                <a:srgbClr val="CC00CC"/>
              </a:solidFill>
            </a:endParaRPr>
          </a:p>
        </p:txBody>
      </p:sp>
      <p:sp>
        <p:nvSpPr>
          <p:cNvPr id="3" name="Text Box 155"/>
          <p:cNvSpPr txBox="1">
            <a:spLocks noChangeArrowheads="1"/>
          </p:cNvSpPr>
          <p:nvPr/>
        </p:nvSpPr>
        <p:spPr bwMode="auto">
          <a:xfrm>
            <a:off x="1196428" y="594101"/>
            <a:ext cx="6865200" cy="363176"/>
          </a:xfrm>
          <a:prstGeom prst="rect">
            <a:avLst/>
          </a:prstGeom>
          <a:solidFill>
            <a:srgbClr val="C00000"/>
          </a:solidFill>
          <a:ln w="9525">
            <a:noFill/>
            <a:miter lim="800000"/>
            <a:headEnd/>
            <a:tailEnd/>
          </a:ln>
          <a:effectLst/>
        </p:spPr>
        <p:txBody>
          <a:bodyPr wrap="square">
            <a:spAutoFit/>
          </a:bodyPr>
          <a:lstStyle>
            <a:defPPr>
              <a:defRPr lang="zh-CN"/>
            </a:defPPr>
            <a:lvl1pPr algn="ctr">
              <a:lnSpc>
                <a:spcPct val="110000"/>
              </a:lnSpc>
              <a:defRPr sz="1600" b="1">
                <a:solidFill>
                  <a:schemeClr val="bg1"/>
                </a:solidFill>
                <a:latin typeface="微软雅黑" pitchFamily="34" charset="-122"/>
                <a:ea typeface="微软雅黑" pitchFamily="34" charset="-122"/>
              </a:defRPr>
            </a:lvl1pPr>
          </a:lstStyle>
          <a:p>
            <a:r>
              <a:rPr lang="zh-CN" altLang="en-US" dirty="0"/>
              <a:t>路由器 </a:t>
            </a:r>
            <a:r>
              <a:rPr lang="en-US" altLang="zh-CN" dirty="0"/>
              <a:t>R</a:t>
            </a:r>
            <a:r>
              <a:rPr lang="en-US" altLang="zh-CN" baseline="-25000" dirty="0"/>
              <a:t>1</a:t>
            </a:r>
            <a:r>
              <a:rPr lang="en-US" altLang="zh-CN" dirty="0"/>
              <a:t> </a:t>
            </a:r>
            <a:r>
              <a:rPr lang="zh-CN" altLang="en-US" dirty="0"/>
              <a:t>收到分组后查找转发表。接着检查第 </a:t>
            </a:r>
            <a:r>
              <a:rPr lang="en-US" altLang="zh-CN" dirty="0"/>
              <a:t>2 </a:t>
            </a:r>
            <a:r>
              <a:rPr lang="zh-CN" altLang="en-US" dirty="0"/>
              <a:t>行。 </a:t>
            </a:r>
          </a:p>
        </p:txBody>
      </p:sp>
      <p:sp>
        <p:nvSpPr>
          <p:cNvPr id="121" name="Text Box 155"/>
          <p:cNvSpPr txBox="1">
            <a:spLocks noChangeArrowheads="1"/>
          </p:cNvSpPr>
          <p:nvPr/>
        </p:nvSpPr>
        <p:spPr bwMode="auto">
          <a:xfrm>
            <a:off x="1196428" y="4680631"/>
            <a:ext cx="6865200" cy="375809"/>
          </a:xfrm>
          <a:prstGeom prst="rect">
            <a:avLst/>
          </a:prstGeom>
          <a:solidFill>
            <a:srgbClr val="0070C0"/>
          </a:solidFill>
          <a:ln w="9525">
            <a:noFill/>
            <a:miter lim="800000"/>
            <a:headEnd/>
            <a:tailEnd/>
          </a:ln>
          <a:effectLst/>
        </p:spPr>
        <p:txBody>
          <a:bodyPr wrap="square">
            <a:spAutoFit/>
          </a:bodyPr>
          <a:lstStyle/>
          <a:p>
            <a:pPr algn="ctr">
              <a:lnSpc>
                <a:spcPct val="110000"/>
              </a:lnSpc>
            </a:pPr>
            <a:r>
              <a:rPr lang="zh-CN" altLang="en-US" b="1" dirty="0">
                <a:solidFill>
                  <a:schemeClr val="bg1"/>
                </a:solidFill>
                <a:latin typeface="微软雅黑" pitchFamily="34" charset="-122"/>
                <a:ea typeface="微软雅黑" pitchFamily="34" charset="-122"/>
              </a:rPr>
              <a:t>进行分组的直接交付（通过路由器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a:t>
            </a:r>
            <a:r>
              <a:rPr lang="en-US" altLang="zh-CN" b="1" dirty="0">
                <a:solidFill>
                  <a:schemeClr val="bg1"/>
                </a:solidFill>
                <a:latin typeface="微软雅黑" pitchFamily="34" charset="-122"/>
                <a:ea typeface="微软雅黑" pitchFamily="34" charset="-122"/>
              </a:rPr>
              <a:t> </a:t>
            </a:r>
            <a:r>
              <a:rPr lang="zh-CN" altLang="en-US" b="1" dirty="0">
                <a:solidFill>
                  <a:schemeClr val="bg1"/>
                </a:solidFill>
                <a:latin typeface="微软雅黑" pitchFamily="34" charset="-122"/>
                <a:ea typeface="微软雅黑" pitchFamily="34" charset="-122"/>
              </a:rPr>
              <a:t>的接口 </a:t>
            </a:r>
            <a:r>
              <a:rPr lang="en-US" altLang="zh-CN" b="1" dirty="0">
                <a:solidFill>
                  <a:schemeClr val="bg1"/>
                </a:solidFill>
                <a:latin typeface="微软雅黑" pitchFamily="34" charset="-122"/>
                <a:ea typeface="微软雅黑" pitchFamily="34" charset="-122"/>
              </a:rPr>
              <a:t>1</a:t>
            </a:r>
            <a:r>
              <a:rPr lang="zh-CN" altLang="en-US" b="1" dirty="0">
                <a:solidFill>
                  <a:schemeClr val="bg1"/>
                </a:solidFill>
                <a:latin typeface="微软雅黑" pitchFamily="34" charset="-122"/>
                <a:ea typeface="微软雅黑" pitchFamily="34" charset="-122"/>
              </a:rPr>
              <a:t>）。</a:t>
            </a:r>
            <a:endParaRPr lang="en-US" altLang="zh-CN"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197259554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66"/>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1" nodeType="afterEffect">
                                  <p:stCondLst>
                                    <p:cond delay="0"/>
                                  </p:stCondLst>
                                  <p:childTnLst>
                                    <p:anim calcmode="discrete" valueType="str">
                                      <p:cBhvr>
                                        <p:cTn id="9" dur="1000" fill="hold"/>
                                        <p:tgtEl>
                                          <p:spTgt spid="66"/>
                                        </p:tgtEl>
                                        <p:attrNameLst>
                                          <p:attrName>style.visibility</p:attrName>
                                        </p:attrNameLst>
                                      </p:cBhvr>
                                      <p:tavLst>
                                        <p:tav tm="0">
                                          <p:val>
                                            <p:strVal val="hidden"/>
                                          </p:val>
                                        </p:tav>
                                        <p:tav tm="50000">
                                          <p:val>
                                            <p:strVal val="visible"/>
                                          </p:val>
                                        </p:tav>
                                      </p:tavLst>
                                    </p:anim>
                                  </p:childTnLst>
                                </p:cTn>
                              </p:par>
                            </p:childTnLst>
                          </p:cTn>
                        </p:par>
                        <p:par>
                          <p:cTn id="10" fill="hold">
                            <p:stCondLst>
                              <p:cond delay="3000"/>
                            </p:stCondLst>
                            <p:childTnLst>
                              <p:par>
                                <p:cTn id="11" presetID="22" presetClass="entr" presetSubtype="1" fill="hold" grpId="0" nodeType="afterEffect">
                                  <p:stCondLst>
                                    <p:cond delay="0"/>
                                  </p:stCondLst>
                                  <p:childTnLst>
                                    <p:set>
                                      <p:cBhvr>
                                        <p:cTn id="12" dur="1" fill="hold">
                                          <p:stCondLst>
                                            <p:cond delay="0"/>
                                          </p:stCondLst>
                                        </p:cTn>
                                        <p:tgtEl>
                                          <p:spTgt spid="51">
                                            <p:bg/>
                                          </p:spTgt>
                                        </p:tgtEl>
                                        <p:attrNameLst>
                                          <p:attrName>style.visibility</p:attrName>
                                        </p:attrNameLst>
                                      </p:cBhvr>
                                      <p:to>
                                        <p:strVal val="visible"/>
                                      </p:to>
                                    </p:set>
                                    <p:animEffect transition="in" filter="wipe(up)">
                                      <p:cBhvr>
                                        <p:cTn id="13" dur="1000"/>
                                        <p:tgtEl>
                                          <p:spTgt spid="51">
                                            <p:bg/>
                                          </p:spTgt>
                                        </p:tgtEl>
                                      </p:cBhvr>
                                    </p:animEffect>
                                  </p:childTnLst>
                                </p:cTn>
                              </p:par>
                            </p:childTnLst>
                          </p:cTn>
                        </p:par>
                        <p:par>
                          <p:cTn id="14" fill="hold">
                            <p:stCondLst>
                              <p:cond delay="4000"/>
                            </p:stCondLst>
                            <p:childTnLst>
                              <p:par>
                                <p:cTn id="15" presetID="22" presetClass="entr" presetSubtype="1" fill="hold" grpId="0" nodeType="afterEffect">
                                  <p:stCondLst>
                                    <p:cond delay="0"/>
                                  </p:stCondLst>
                                  <p:childTnLst>
                                    <p:set>
                                      <p:cBhvr>
                                        <p:cTn id="16" dur="1" fill="hold">
                                          <p:stCondLst>
                                            <p:cond delay="0"/>
                                          </p:stCondLst>
                                        </p:cTn>
                                        <p:tgtEl>
                                          <p:spTgt spid="51">
                                            <p:txEl>
                                              <p:pRg st="0" end="0"/>
                                            </p:txEl>
                                          </p:spTgt>
                                        </p:tgtEl>
                                        <p:attrNameLst>
                                          <p:attrName>style.visibility</p:attrName>
                                        </p:attrNameLst>
                                      </p:cBhvr>
                                      <p:to>
                                        <p:strVal val="visible"/>
                                      </p:to>
                                    </p:set>
                                    <p:animEffect transition="in" filter="wipe(up)">
                                      <p:cBhvr>
                                        <p:cTn id="17" dur="1000"/>
                                        <p:tgtEl>
                                          <p:spTgt spid="51">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121">
                                            <p:bg/>
                                          </p:spTgt>
                                        </p:tgtEl>
                                        <p:attrNameLst>
                                          <p:attrName>style.visibility</p:attrName>
                                        </p:attrNameLst>
                                      </p:cBhvr>
                                      <p:to>
                                        <p:strVal val="visible"/>
                                      </p:to>
                                    </p:set>
                                    <p:animEffect transition="in" filter="wipe(up)">
                                      <p:cBhvr>
                                        <p:cTn id="22" dur="1000"/>
                                        <p:tgtEl>
                                          <p:spTgt spid="121">
                                            <p:bg/>
                                          </p:spTgt>
                                        </p:tgtEl>
                                      </p:cBhvr>
                                    </p:animEffect>
                                  </p:childTnLst>
                                </p:cTn>
                              </p:par>
                            </p:childTnLst>
                          </p:cTn>
                        </p:par>
                        <p:par>
                          <p:cTn id="23" fill="hold">
                            <p:stCondLst>
                              <p:cond delay="1000"/>
                            </p:stCondLst>
                            <p:childTnLst>
                              <p:par>
                                <p:cTn id="24" presetID="22" presetClass="entr" presetSubtype="1" fill="hold" grpId="0" nodeType="afterEffect">
                                  <p:stCondLst>
                                    <p:cond delay="0"/>
                                  </p:stCondLst>
                                  <p:childTnLst>
                                    <p:set>
                                      <p:cBhvr>
                                        <p:cTn id="25" dur="1" fill="hold">
                                          <p:stCondLst>
                                            <p:cond delay="0"/>
                                          </p:stCondLst>
                                        </p:cTn>
                                        <p:tgtEl>
                                          <p:spTgt spid="121">
                                            <p:txEl>
                                              <p:pRg st="0" end="0"/>
                                            </p:txEl>
                                          </p:spTgt>
                                        </p:tgtEl>
                                        <p:attrNameLst>
                                          <p:attrName>style.visibility</p:attrName>
                                        </p:attrNameLst>
                                      </p:cBhvr>
                                      <p:to>
                                        <p:strVal val="visible"/>
                                      </p:to>
                                    </p:set>
                                    <p:animEffect transition="in" filter="wipe(up)">
                                      <p:cBhvr>
                                        <p:cTn id="26" dur="1000"/>
                                        <p:tgtEl>
                                          <p:spTgt spid="121">
                                            <p:txEl>
                                              <p:pRg st="0" end="0"/>
                                            </p:txEl>
                                          </p:spTgt>
                                        </p:tgtEl>
                                      </p:cBhvr>
                                    </p:animEffect>
                                  </p:childTnLst>
                                </p:cTn>
                              </p:par>
                            </p:childTnLst>
                          </p:cTn>
                        </p:par>
                        <p:par>
                          <p:cTn id="27" fill="hold">
                            <p:stCondLst>
                              <p:cond delay="2000"/>
                            </p:stCondLst>
                            <p:childTnLst>
                              <p:par>
                                <p:cTn id="28" presetID="22" presetClass="entr" presetSubtype="8" fill="hold" grpId="0" nodeType="afterEffect">
                                  <p:stCondLst>
                                    <p:cond delay="0"/>
                                  </p:stCondLst>
                                  <p:childTnLst>
                                    <p:set>
                                      <p:cBhvr>
                                        <p:cTn id="29" dur="1" fill="hold">
                                          <p:stCondLst>
                                            <p:cond delay="0"/>
                                          </p:stCondLst>
                                        </p:cTn>
                                        <p:tgtEl>
                                          <p:spTgt spid="130"/>
                                        </p:tgtEl>
                                        <p:attrNameLst>
                                          <p:attrName>style.visibility</p:attrName>
                                        </p:attrNameLst>
                                      </p:cBhvr>
                                      <p:to>
                                        <p:strVal val="visible"/>
                                      </p:to>
                                    </p:set>
                                    <p:animEffect transition="in" filter="wipe(left)">
                                      <p:cBhvr>
                                        <p:cTn id="30" dur="2000"/>
                                        <p:tgtEl>
                                          <p:spTgt spid="1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build="p" animBg="1"/>
      <p:bldP spid="130" grpId="0" animBg="1"/>
      <p:bldP spid="66" grpId="0" animBg="1"/>
      <p:bldP spid="66" grpId="1" animBg="1"/>
      <p:bldP spid="121" grpId="0" build="p" animBg="1"/>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8"/>
          <p:cNvSpPr>
            <a:spLocks noChangeArrowheads="1"/>
          </p:cNvSpPr>
          <p:nvPr/>
        </p:nvSpPr>
        <p:spPr bwMode="auto">
          <a:xfrm>
            <a:off x="545143" y="1039691"/>
            <a:ext cx="8053711" cy="2208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使用 </a:t>
            </a:r>
            <a:r>
              <a:rPr lang="en-US" altLang="zh-CN" sz="2000" b="1" dirty="0">
                <a:latin typeface="微软雅黑" pitchFamily="34" charset="-122"/>
                <a:ea typeface="微软雅黑" pitchFamily="34" charset="-122"/>
              </a:rPr>
              <a:t>CIDR </a:t>
            </a:r>
            <a:r>
              <a:rPr lang="zh-CN" altLang="en-US" sz="2000" b="1" dirty="0">
                <a:latin typeface="微软雅黑" pitchFamily="34" charset="-122"/>
                <a:ea typeface="微软雅黑" pitchFamily="34" charset="-122"/>
              </a:rPr>
              <a:t>时，在查找转发表时可能会得到</a:t>
            </a:r>
            <a:r>
              <a:rPr lang="zh-CN" altLang="en-US" sz="2000" b="1" dirty="0">
                <a:solidFill>
                  <a:srgbClr val="C00000"/>
                </a:solidFill>
                <a:latin typeface="微软雅黑" pitchFamily="34" charset="-122"/>
                <a:ea typeface="微软雅黑" pitchFamily="34" charset="-122"/>
              </a:rPr>
              <a:t>不止一个匹配结果。 </a:t>
            </a:r>
          </a:p>
          <a:p>
            <a:pPr marL="357188" indent="-357188">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最长前缀匹配 </a:t>
            </a:r>
            <a:r>
              <a:rPr lang="en-US" altLang="zh-CN" sz="2000" b="1" dirty="0">
                <a:latin typeface="微软雅黑" pitchFamily="34" charset="-122"/>
                <a:ea typeface="微软雅黑" pitchFamily="34" charset="-122"/>
              </a:rPr>
              <a:t>(longest-prefix matching) </a:t>
            </a:r>
            <a:r>
              <a:rPr lang="zh-CN" altLang="en-US" sz="2000" b="1" dirty="0">
                <a:solidFill>
                  <a:srgbClr val="C00000"/>
                </a:solidFill>
                <a:latin typeface="微软雅黑" pitchFamily="34" charset="-122"/>
                <a:ea typeface="微软雅黑" pitchFamily="34" charset="-122"/>
              </a:rPr>
              <a:t>原则：</a:t>
            </a:r>
            <a:r>
              <a:rPr lang="zh-CN" altLang="en-US" sz="2000" b="1" dirty="0">
                <a:latin typeface="微软雅黑" pitchFamily="34" charset="-122"/>
                <a:ea typeface="微软雅黑" pitchFamily="34" charset="-122"/>
              </a:rPr>
              <a:t>选择前缀最长的一个作为匹配的前缀。</a:t>
            </a: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网络前缀越长，其地址块就越小，因而路由就越具体。</a:t>
            </a:r>
            <a:endParaRPr lang="en-US" altLang="zh-CN" sz="2000" b="1" dirty="0">
              <a:latin typeface="微软雅黑" pitchFamily="34" charset="-122"/>
              <a:ea typeface="微软雅黑" pitchFamily="34" charset="-122"/>
            </a:endParaRP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可以把前缀最长的排在转发表的第 </a:t>
            </a:r>
            <a:r>
              <a:rPr lang="en-US" altLang="zh-CN" sz="2000" b="1" dirty="0">
                <a:latin typeface="微软雅黑" pitchFamily="34" charset="-122"/>
                <a:ea typeface="微软雅黑" pitchFamily="34" charset="-122"/>
              </a:rPr>
              <a:t>1 </a:t>
            </a:r>
            <a:r>
              <a:rPr lang="zh-CN" altLang="en-US" sz="2000" b="1" dirty="0">
                <a:latin typeface="微软雅黑" pitchFamily="34" charset="-122"/>
                <a:ea typeface="微软雅黑" pitchFamily="34" charset="-122"/>
              </a:rPr>
              <a:t>行。</a:t>
            </a:r>
            <a:endParaRPr lang="en-US" altLang="zh-CN" sz="2000" b="1" dirty="0">
              <a:latin typeface="微软雅黑" pitchFamily="34" charset="-122"/>
              <a:ea typeface="微软雅黑" pitchFamily="34" charset="-122"/>
            </a:endParaRPr>
          </a:p>
        </p:txBody>
      </p:sp>
      <p:sp>
        <p:nvSpPr>
          <p:cNvPr id="8" name="AutoShape 5"/>
          <p:cNvSpPr>
            <a:spLocks noChangeArrowheads="1"/>
          </p:cNvSpPr>
          <p:nvPr/>
        </p:nvSpPr>
        <p:spPr bwMode="auto">
          <a:xfrm>
            <a:off x="545144" y="61198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9" name="Rectangle 6"/>
          <p:cNvSpPr>
            <a:spLocks noChangeArrowheads="1"/>
          </p:cNvSpPr>
          <p:nvPr/>
        </p:nvSpPr>
        <p:spPr bwMode="auto">
          <a:xfrm>
            <a:off x="3093072" y="571120"/>
            <a:ext cx="295786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highlight>
                  <a:srgbClr val="FFFF00"/>
                </a:highlight>
                <a:latin typeface="微软雅黑" pitchFamily="34" charset="-122"/>
                <a:ea typeface="微软雅黑" pitchFamily="34" charset="-122"/>
              </a:rPr>
              <a:t>4.3.2  </a:t>
            </a:r>
            <a:r>
              <a:rPr lang="zh-CN" altLang="en-US" sz="2400" b="1" dirty="0">
                <a:highlight>
                  <a:srgbClr val="FFFF00"/>
                </a:highlight>
                <a:latin typeface="微软雅黑" pitchFamily="34" charset="-122"/>
                <a:ea typeface="微软雅黑" pitchFamily="34" charset="-122"/>
              </a:rPr>
              <a:t>最长前缀匹配</a:t>
            </a:r>
          </a:p>
        </p:txBody>
      </p:sp>
    </p:spTree>
    <p:extLst>
      <p:ext uri="{BB962C8B-B14F-4D97-AF65-F5344CB8AC3E}">
        <p14:creationId xmlns:p14="http://schemas.microsoft.com/office/powerpoint/2010/main" val="102237771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344776" y="633725"/>
            <a:ext cx="8469440" cy="372914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1" name="椭圆 10"/>
          <p:cNvSpPr/>
          <p:nvPr/>
        </p:nvSpPr>
        <p:spPr bwMode="auto">
          <a:xfrm rot="20475920">
            <a:off x="1042029" y="910124"/>
            <a:ext cx="3351723" cy="1002368"/>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graphicFrame>
        <p:nvGraphicFramePr>
          <p:cNvPr id="12" name="Group 125"/>
          <p:cNvGraphicFramePr>
            <a:graphicFrameLocks noGrp="1"/>
          </p:cNvGraphicFramePr>
          <p:nvPr>
            <p:extLst>
              <p:ext uri="{D42A27DB-BD31-4B8C-83A1-F6EECF244321}">
                <p14:modId xmlns:p14="http://schemas.microsoft.com/office/powerpoint/2010/main" val="1284138774"/>
              </p:ext>
            </p:extLst>
          </p:nvPr>
        </p:nvGraphicFramePr>
        <p:xfrm>
          <a:off x="5544358" y="1184245"/>
          <a:ext cx="2790174" cy="1076799"/>
        </p:xfrm>
        <a:graphic>
          <a:graphicData uri="http://schemas.openxmlformats.org/drawingml/2006/table">
            <a:tbl>
              <a:tblPr/>
              <a:tblGrid>
                <a:gridCol w="1543446">
                  <a:extLst>
                    <a:ext uri="{9D8B030D-6E8A-4147-A177-3AD203B41FA5}">
                      <a16:colId xmlns:a16="http://schemas.microsoft.com/office/drawing/2014/main" val="20000"/>
                    </a:ext>
                  </a:extLst>
                </a:gridCol>
                <a:gridCol w="1246728">
                  <a:extLst>
                    <a:ext uri="{9D8B030D-6E8A-4147-A177-3AD203B41FA5}">
                      <a16:colId xmlns:a16="http://schemas.microsoft.com/office/drawing/2014/main" val="20001"/>
                    </a:ext>
                  </a:extLst>
                </a:gridCol>
              </a:tblGrid>
              <a:tr h="286975">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前缀匹配</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下一跳</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789824">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128.1.3.64/26</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128.1.2.128/25</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128.1.2.192/26</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defRPr/>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R</a:t>
                      </a:r>
                      <a:r>
                        <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rPr>
                        <a:t>2</a:t>
                      </a: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endPar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endParaRP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0</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73" name="矩形 72"/>
          <p:cNvSpPr/>
          <p:nvPr/>
        </p:nvSpPr>
        <p:spPr>
          <a:xfrm>
            <a:off x="1172946" y="4361731"/>
            <a:ext cx="6718453" cy="369332"/>
          </a:xfrm>
          <a:prstGeom prst="rect">
            <a:avLst/>
          </a:prstGeom>
        </p:spPr>
        <p:txBody>
          <a:bodyPr wrap="square">
            <a:spAutoFit/>
          </a:bodyPr>
          <a:lstStyle/>
          <a:p>
            <a:pPr algn="ctr"/>
            <a:r>
              <a:rPr lang="zh-CN" altLang="en-US" b="1" dirty="0">
                <a:solidFill>
                  <a:srgbClr val="C00000"/>
                </a:solidFill>
                <a:latin typeface="微软雅黑" panose="020B0503020204020204" pitchFamily="34" charset="-122"/>
                <a:ea typeface="微软雅黑" panose="020B0503020204020204" pitchFamily="34" charset="-122"/>
              </a:rPr>
              <a:t>路由器 </a:t>
            </a:r>
            <a:r>
              <a:rPr lang="en-US" altLang="zh-CN" b="1" dirty="0">
                <a:solidFill>
                  <a:srgbClr val="C00000"/>
                </a:solidFill>
                <a:latin typeface="微软雅黑" panose="020B0503020204020204" pitchFamily="34" charset="-122"/>
                <a:ea typeface="微软雅黑" panose="020B0503020204020204" pitchFamily="34" charset="-122"/>
              </a:rPr>
              <a:t>R</a:t>
            </a:r>
            <a:r>
              <a:rPr lang="en-US" altLang="zh-CN" b="1" baseline="-25000" dirty="0">
                <a:solidFill>
                  <a:srgbClr val="C00000"/>
                </a:solidFill>
                <a:latin typeface="微软雅黑" panose="020B0503020204020204" pitchFamily="34" charset="-122"/>
                <a:ea typeface="微软雅黑" panose="020B0503020204020204" pitchFamily="34" charset="-122"/>
              </a:rPr>
              <a:t>1</a:t>
            </a:r>
            <a:r>
              <a:rPr lang="en-US" altLang="zh-CN" b="1" dirty="0">
                <a:solidFill>
                  <a:srgbClr val="C00000"/>
                </a:solidFill>
                <a:latin typeface="微软雅黑" panose="020B0503020204020204" pitchFamily="34" charset="-122"/>
                <a:ea typeface="微软雅黑" panose="020B0503020204020204" pitchFamily="34" charset="-122"/>
              </a:rPr>
              <a:t> </a:t>
            </a:r>
            <a:r>
              <a:rPr lang="zh-CN" altLang="en-US" b="1" dirty="0">
                <a:solidFill>
                  <a:srgbClr val="C00000"/>
                </a:solidFill>
                <a:latin typeface="微软雅黑" panose="020B0503020204020204" pitchFamily="34" charset="-122"/>
                <a:ea typeface="微软雅黑" panose="020B0503020204020204" pitchFamily="34" charset="-122"/>
              </a:rPr>
              <a:t>如何转发目的地址是 </a:t>
            </a:r>
            <a:r>
              <a:rPr lang="en-US" altLang="zh-CN" b="1" dirty="0">
                <a:solidFill>
                  <a:srgbClr val="0000FF"/>
                </a:solidFill>
                <a:latin typeface="微软雅黑" panose="020B0503020204020204" pitchFamily="34" charset="-122"/>
                <a:ea typeface="微软雅黑" panose="020B0503020204020204" pitchFamily="34" charset="-122"/>
              </a:rPr>
              <a:t>128.1.2.196</a:t>
            </a:r>
            <a:r>
              <a:rPr lang="en-US" altLang="zh-CN" b="1" dirty="0">
                <a:solidFill>
                  <a:srgbClr val="C00000"/>
                </a:solidFill>
                <a:latin typeface="微软雅黑" panose="020B0503020204020204" pitchFamily="34" charset="-122"/>
                <a:ea typeface="微软雅黑" panose="020B0503020204020204" pitchFamily="34" charset="-122"/>
              </a:rPr>
              <a:t> </a:t>
            </a:r>
            <a:r>
              <a:rPr lang="zh-CN" altLang="en-US" b="1" dirty="0">
                <a:solidFill>
                  <a:srgbClr val="C00000"/>
                </a:solidFill>
                <a:latin typeface="微软雅黑" panose="020B0503020204020204" pitchFamily="34" charset="-122"/>
                <a:ea typeface="微软雅黑" panose="020B0503020204020204" pitchFamily="34" charset="-122"/>
              </a:rPr>
              <a:t>的分组？</a:t>
            </a:r>
          </a:p>
        </p:txBody>
      </p:sp>
      <p:grpSp>
        <p:nvGrpSpPr>
          <p:cNvPr id="2" name="组合 1"/>
          <p:cNvGrpSpPr/>
          <p:nvPr/>
        </p:nvGrpSpPr>
        <p:grpSpPr>
          <a:xfrm>
            <a:off x="354487" y="824458"/>
            <a:ext cx="7304424" cy="3432748"/>
            <a:chOff x="354487" y="824458"/>
            <a:chExt cx="7304424" cy="3432748"/>
          </a:xfrm>
        </p:grpSpPr>
        <p:grpSp>
          <p:nvGrpSpPr>
            <p:cNvPr id="3" name="组合 12"/>
            <p:cNvGrpSpPr/>
            <p:nvPr/>
          </p:nvGrpSpPr>
          <p:grpSpPr>
            <a:xfrm>
              <a:off x="354487" y="824458"/>
              <a:ext cx="7304424" cy="3432748"/>
              <a:chOff x="354487" y="824458"/>
              <a:chExt cx="7304424" cy="3432748"/>
            </a:xfrm>
          </p:grpSpPr>
          <p:sp>
            <p:nvSpPr>
              <p:cNvPr id="14" name="直角三角形 13"/>
              <p:cNvSpPr/>
              <p:nvPr/>
            </p:nvSpPr>
            <p:spPr>
              <a:xfrm rot="16200000">
                <a:off x="4357107" y="1079129"/>
                <a:ext cx="1089992" cy="1274054"/>
              </a:xfrm>
              <a:prstGeom prst="rtTriangle">
                <a:avLst/>
              </a:prstGeom>
              <a:gradFill flip="none" rotWithShape="1">
                <a:gsLst>
                  <a:gs pos="0">
                    <a:schemeClr val="bg1">
                      <a:lumMod val="85000"/>
                      <a:shade val="30000"/>
                      <a:satMod val="115000"/>
                    </a:schemeClr>
                  </a:gs>
                  <a:gs pos="50000">
                    <a:schemeClr val="bg1">
                      <a:lumMod val="85000"/>
                      <a:shade val="67500"/>
                      <a:satMod val="115000"/>
                    </a:schemeClr>
                  </a:gs>
                  <a:gs pos="100000">
                    <a:schemeClr val="bg1">
                      <a:lumMod val="85000"/>
                      <a:shade val="100000"/>
                      <a:satMod val="115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椭圆 14"/>
              <p:cNvSpPr/>
              <p:nvPr/>
            </p:nvSpPr>
            <p:spPr bwMode="auto">
              <a:xfrm>
                <a:off x="3607791" y="2535299"/>
                <a:ext cx="3716460" cy="1197252"/>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16" name="椭圆 15"/>
              <p:cNvSpPr/>
              <p:nvPr/>
            </p:nvSpPr>
            <p:spPr bwMode="auto">
              <a:xfrm rot="16200000">
                <a:off x="883716" y="2425929"/>
                <a:ext cx="1925637" cy="1736917"/>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17" name="Text Box 20"/>
              <p:cNvSpPr txBox="1">
                <a:spLocks noChangeArrowheads="1"/>
              </p:cNvSpPr>
              <p:nvPr/>
            </p:nvSpPr>
            <p:spPr bwMode="auto">
              <a:xfrm>
                <a:off x="2456408" y="203983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128.1.2.194</a:t>
                </a:r>
              </a:p>
            </p:txBody>
          </p:sp>
          <p:sp>
            <p:nvSpPr>
              <p:cNvPr id="18" name="Text Box 25"/>
              <p:cNvSpPr txBox="1">
                <a:spLocks noChangeArrowheads="1"/>
              </p:cNvSpPr>
              <p:nvPr/>
            </p:nvSpPr>
            <p:spPr bwMode="auto">
              <a:xfrm>
                <a:off x="3732139" y="1824581"/>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19" name="Line 19"/>
              <p:cNvSpPr>
                <a:spLocks noChangeShapeType="1"/>
              </p:cNvSpPr>
              <p:nvPr/>
            </p:nvSpPr>
            <p:spPr bwMode="auto">
              <a:xfrm>
                <a:off x="2775735" y="1678638"/>
                <a:ext cx="1301162" cy="55733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0" name="Line 16"/>
              <p:cNvSpPr>
                <a:spLocks noChangeShapeType="1"/>
              </p:cNvSpPr>
              <p:nvPr/>
            </p:nvSpPr>
            <p:spPr bwMode="auto">
              <a:xfrm flipH="1">
                <a:off x="1638141" y="1656270"/>
                <a:ext cx="947995" cy="2530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1" name="Line 8"/>
              <p:cNvSpPr>
                <a:spLocks noChangeShapeType="1"/>
              </p:cNvSpPr>
              <p:nvPr/>
            </p:nvSpPr>
            <p:spPr bwMode="auto">
              <a:xfrm flipH="1">
                <a:off x="2658440" y="1101262"/>
                <a:ext cx="956029" cy="55360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22" name="Picture 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93961" y="824458"/>
                <a:ext cx="345456"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 name="Text Box 9"/>
              <p:cNvSpPr txBox="1">
                <a:spLocks noChangeArrowheads="1"/>
              </p:cNvSpPr>
              <p:nvPr/>
            </p:nvSpPr>
            <p:spPr bwMode="auto">
              <a:xfrm>
                <a:off x="2171247" y="91222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128.1.2.193</a:t>
                </a:r>
              </a:p>
            </p:txBody>
          </p:sp>
          <p:sp>
            <p:nvSpPr>
              <p:cNvPr id="25" name="Text Box 10"/>
              <p:cNvSpPr txBox="1">
                <a:spLocks noChangeArrowheads="1"/>
              </p:cNvSpPr>
              <p:nvPr/>
            </p:nvSpPr>
            <p:spPr bwMode="auto">
              <a:xfrm>
                <a:off x="590769" y="1099476"/>
                <a:ext cx="172675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128.1.2.192/26</a:t>
                </a:r>
              </a:p>
            </p:txBody>
          </p:sp>
          <p:sp>
            <p:nvSpPr>
              <p:cNvPr id="26" name="Line 45"/>
              <p:cNvSpPr>
                <a:spLocks noChangeShapeType="1"/>
              </p:cNvSpPr>
              <p:nvPr/>
            </p:nvSpPr>
            <p:spPr bwMode="auto">
              <a:xfrm flipH="1" flipV="1">
                <a:off x="2294019" y="3312971"/>
                <a:ext cx="808348" cy="2236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7" name="Line 41"/>
              <p:cNvSpPr>
                <a:spLocks noChangeShapeType="1"/>
              </p:cNvSpPr>
              <p:nvPr/>
            </p:nvSpPr>
            <p:spPr bwMode="auto">
              <a:xfrm flipH="1">
                <a:off x="4263353" y="2793929"/>
                <a:ext cx="1332012" cy="433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8" name="Line 33"/>
              <p:cNvSpPr>
                <a:spLocks noChangeShapeType="1"/>
              </p:cNvSpPr>
              <p:nvPr/>
            </p:nvSpPr>
            <p:spPr bwMode="auto">
              <a:xfrm flipH="1">
                <a:off x="2051398" y="3354911"/>
                <a:ext cx="88372" cy="52285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 name="Line 32"/>
              <p:cNvSpPr>
                <a:spLocks noChangeShapeType="1"/>
              </p:cNvSpPr>
              <p:nvPr/>
            </p:nvSpPr>
            <p:spPr bwMode="auto">
              <a:xfrm flipH="1">
                <a:off x="3297683" y="2900177"/>
                <a:ext cx="819453" cy="66964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0" name="Line 21"/>
              <p:cNvSpPr>
                <a:spLocks noChangeShapeType="1"/>
              </p:cNvSpPr>
              <p:nvPr/>
            </p:nvSpPr>
            <p:spPr bwMode="auto">
              <a:xfrm>
                <a:off x="4207116" y="2371732"/>
                <a:ext cx="1607" cy="4627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1" name="Picture 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74653" y="3753341"/>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 name="Picture 1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19621" y="1719179"/>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 name="Group 18"/>
              <p:cNvGrpSpPr>
                <a:grpSpLocks/>
              </p:cNvGrpSpPr>
              <p:nvPr/>
            </p:nvGrpSpPr>
            <p:grpSpPr bwMode="auto">
              <a:xfrm>
                <a:off x="3943605" y="2125684"/>
                <a:ext cx="531842" cy="303367"/>
                <a:chOff x="864" y="1824"/>
                <a:chExt cx="432" cy="288"/>
              </a:xfrm>
            </p:grpSpPr>
            <p:pic>
              <p:nvPicPr>
                <p:cNvPr id="70"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71" name="Picture 1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pic>
            <p:nvPicPr>
              <p:cNvPr id="34" name="Picture 1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02173" y="2589821"/>
                <a:ext cx="345456"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Text Box 22"/>
              <p:cNvSpPr txBox="1">
                <a:spLocks noChangeArrowheads="1"/>
              </p:cNvSpPr>
              <p:nvPr/>
            </p:nvSpPr>
            <p:spPr bwMode="auto">
              <a:xfrm>
                <a:off x="2853215" y="2404897"/>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128.1.2.130</a:t>
                </a:r>
              </a:p>
            </p:txBody>
          </p:sp>
          <p:sp>
            <p:nvSpPr>
              <p:cNvPr id="36" name="Text Box 24"/>
              <p:cNvSpPr txBox="1">
                <a:spLocks noChangeArrowheads="1"/>
              </p:cNvSpPr>
              <p:nvPr/>
            </p:nvSpPr>
            <p:spPr bwMode="auto">
              <a:xfrm>
                <a:off x="4108734" y="1835693"/>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1</a:t>
                </a:r>
              </a:p>
            </p:txBody>
          </p:sp>
          <p:sp>
            <p:nvSpPr>
              <p:cNvPr id="37" name="Text Box 26"/>
              <p:cNvSpPr txBox="1">
                <a:spLocks noChangeArrowheads="1"/>
              </p:cNvSpPr>
              <p:nvPr/>
            </p:nvSpPr>
            <p:spPr bwMode="auto">
              <a:xfrm>
                <a:off x="4178194" y="2368936"/>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1</a:t>
                </a:r>
                <a:endParaRPr lang="en-US" altLang="zh-CN" sz="1600" b="1" baseline="-25000">
                  <a:latin typeface="微软雅黑" panose="020B0503020204020204" pitchFamily="34" charset="-122"/>
                  <a:ea typeface="微软雅黑" panose="020B0503020204020204" pitchFamily="34" charset="-122"/>
                </a:endParaRPr>
              </a:p>
            </p:txBody>
          </p:sp>
          <p:sp>
            <p:nvSpPr>
              <p:cNvPr id="38" name="Line 27"/>
              <p:cNvSpPr>
                <a:spLocks noChangeShapeType="1"/>
              </p:cNvSpPr>
              <p:nvPr/>
            </p:nvSpPr>
            <p:spPr bwMode="auto">
              <a:xfrm>
                <a:off x="4263353" y="2837267"/>
                <a:ext cx="1307911" cy="4627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5" name="Group 28"/>
              <p:cNvGrpSpPr>
                <a:grpSpLocks/>
              </p:cNvGrpSpPr>
              <p:nvPr/>
            </p:nvGrpSpPr>
            <p:grpSpPr bwMode="auto">
              <a:xfrm>
                <a:off x="3032567" y="3427224"/>
                <a:ext cx="531841" cy="303366"/>
                <a:chOff x="864" y="1824"/>
                <a:chExt cx="432" cy="288"/>
              </a:xfrm>
            </p:grpSpPr>
            <p:pic>
              <p:nvPicPr>
                <p:cNvPr id="68" name="Picture 2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9" name="Picture 3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40" name="Text Box 31"/>
              <p:cNvSpPr txBox="1">
                <a:spLocks noChangeArrowheads="1"/>
              </p:cNvSpPr>
              <p:nvPr/>
            </p:nvSpPr>
            <p:spPr bwMode="auto">
              <a:xfrm>
                <a:off x="3511384" y="3483144"/>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2</a:t>
                </a:r>
              </a:p>
            </p:txBody>
          </p:sp>
          <p:sp>
            <p:nvSpPr>
              <p:cNvPr id="41" name="Line 35"/>
              <p:cNvSpPr>
                <a:spLocks noChangeShapeType="1"/>
              </p:cNvSpPr>
              <p:nvPr/>
            </p:nvSpPr>
            <p:spPr bwMode="auto">
              <a:xfrm flipH="1">
                <a:off x="2147804" y="2732799"/>
                <a:ext cx="36955" cy="58017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42" name="Picture 1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39129" y="3034385"/>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 name="Text Box 37"/>
              <p:cNvSpPr txBox="1">
                <a:spLocks noChangeArrowheads="1"/>
              </p:cNvSpPr>
              <p:nvPr/>
            </p:nvSpPr>
            <p:spPr bwMode="auto">
              <a:xfrm>
                <a:off x="5909138" y="2500740"/>
                <a:ext cx="174977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128.1.2.128/25</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44" name="Text Box 39"/>
              <p:cNvSpPr txBox="1">
                <a:spLocks noChangeArrowheads="1"/>
              </p:cNvSpPr>
              <p:nvPr/>
            </p:nvSpPr>
            <p:spPr bwMode="auto">
              <a:xfrm>
                <a:off x="401517" y="1674991"/>
                <a:ext cx="1012877" cy="338554"/>
              </a:xfrm>
              <a:prstGeom prst="rect">
                <a:avLst/>
              </a:prstGeom>
              <a:solidFill>
                <a:srgbClr val="00FFFF"/>
              </a:solidFill>
              <a:ln w="9525">
                <a:solidFill>
                  <a:schemeClr val="tx1"/>
                </a:solidFill>
                <a:miter lim="800000"/>
                <a:headEnd/>
                <a:tailEnd/>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目的主机</a:t>
                </a:r>
                <a:endParaRPr lang="en-US" altLang="zh-CN" sz="1600" b="1" baseline="-25000" dirty="0">
                  <a:latin typeface="微软雅黑" panose="020B0503020204020204" pitchFamily="34" charset="-122"/>
                  <a:ea typeface="微软雅黑" panose="020B0503020204020204" pitchFamily="34" charset="-122"/>
                </a:endParaRPr>
              </a:p>
            </p:txBody>
          </p:sp>
          <p:sp>
            <p:nvSpPr>
              <p:cNvPr id="45" name="Text Box 40"/>
              <p:cNvSpPr txBox="1">
                <a:spLocks noChangeArrowheads="1"/>
              </p:cNvSpPr>
              <p:nvPr/>
            </p:nvSpPr>
            <p:spPr bwMode="auto">
              <a:xfrm>
                <a:off x="4856211" y="334497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128.1.2.132</a:t>
                </a:r>
              </a:p>
            </p:txBody>
          </p:sp>
          <p:sp>
            <p:nvSpPr>
              <p:cNvPr id="46" name="Text Box 42"/>
              <p:cNvSpPr txBox="1">
                <a:spLocks noChangeArrowheads="1"/>
              </p:cNvSpPr>
              <p:nvPr/>
            </p:nvSpPr>
            <p:spPr bwMode="auto">
              <a:xfrm>
                <a:off x="3269292" y="313659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47" name="Text Box 43"/>
              <p:cNvSpPr txBox="1">
                <a:spLocks noChangeArrowheads="1"/>
              </p:cNvSpPr>
              <p:nvPr/>
            </p:nvSpPr>
            <p:spPr bwMode="auto">
              <a:xfrm>
                <a:off x="2804933" y="315647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a:t>
                </a:r>
                <a:endParaRPr lang="en-US" altLang="zh-CN" sz="1600" b="1" baseline="-25000" dirty="0">
                  <a:latin typeface="微软雅黑" panose="020B0503020204020204" pitchFamily="34" charset="-122"/>
                  <a:ea typeface="微软雅黑" panose="020B0503020204020204" pitchFamily="34" charset="-122"/>
                </a:endParaRPr>
              </a:p>
            </p:txBody>
          </p:sp>
          <p:sp>
            <p:nvSpPr>
              <p:cNvPr id="48" name="Text Box 44"/>
              <p:cNvSpPr txBox="1">
                <a:spLocks noChangeArrowheads="1"/>
              </p:cNvSpPr>
              <p:nvPr/>
            </p:nvSpPr>
            <p:spPr bwMode="auto">
              <a:xfrm>
                <a:off x="3533879" y="321752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128.1.2.131</a:t>
                </a:r>
              </a:p>
            </p:txBody>
          </p:sp>
          <p:pic>
            <p:nvPicPr>
              <p:cNvPr id="49" name="Picture 3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19263" y="2489547"/>
                <a:ext cx="347062"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Text Box 46"/>
              <p:cNvSpPr txBox="1">
                <a:spLocks noChangeArrowheads="1"/>
              </p:cNvSpPr>
              <p:nvPr/>
            </p:nvSpPr>
            <p:spPr bwMode="auto">
              <a:xfrm>
                <a:off x="1508068" y="3842425"/>
                <a:ext cx="44325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3</a:t>
                </a:r>
              </a:p>
            </p:txBody>
          </p:sp>
          <p:sp>
            <p:nvSpPr>
              <p:cNvPr id="51" name="Text Box 48"/>
              <p:cNvSpPr txBox="1">
                <a:spLocks noChangeArrowheads="1"/>
              </p:cNvSpPr>
              <p:nvPr/>
            </p:nvSpPr>
            <p:spPr bwMode="auto">
              <a:xfrm>
                <a:off x="2285477" y="3692457"/>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128.1.3.65</a:t>
                </a:r>
              </a:p>
            </p:txBody>
          </p:sp>
          <p:sp>
            <p:nvSpPr>
              <p:cNvPr id="52" name="Text Box 38"/>
              <p:cNvSpPr txBox="1">
                <a:spLocks noChangeArrowheads="1"/>
              </p:cNvSpPr>
              <p:nvPr/>
            </p:nvSpPr>
            <p:spPr bwMode="auto">
              <a:xfrm>
                <a:off x="354487" y="2757515"/>
                <a:ext cx="160011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128.1.3.64/26</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53" name="Text Box 47"/>
              <p:cNvSpPr txBox="1">
                <a:spLocks noChangeArrowheads="1"/>
              </p:cNvSpPr>
              <p:nvPr/>
            </p:nvSpPr>
            <p:spPr bwMode="auto">
              <a:xfrm>
                <a:off x="783205" y="3498904"/>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128.1.3.66</a:t>
                </a:r>
              </a:p>
            </p:txBody>
          </p:sp>
          <p:sp>
            <p:nvSpPr>
              <p:cNvPr id="54" name="椭圆 67"/>
              <p:cNvSpPr>
                <a:spLocks noChangeArrowheads="1"/>
              </p:cNvSpPr>
              <p:nvPr/>
            </p:nvSpPr>
            <p:spPr bwMode="auto">
              <a:xfrm>
                <a:off x="2872438" y="3447105"/>
                <a:ext cx="72305"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5" name="椭圆 68"/>
              <p:cNvSpPr>
                <a:spLocks noChangeArrowheads="1"/>
              </p:cNvSpPr>
              <p:nvPr/>
            </p:nvSpPr>
            <p:spPr bwMode="auto">
              <a:xfrm>
                <a:off x="5415407" y="3222106"/>
                <a:ext cx="73911"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6" name="椭圆 69"/>
              <p:cNvSpPr>
                <a:spLocks noChangeArrowheads="1"/>
              </p:cNvSpPr>
              <p:nvPr/>
            </p:nvSpPr>
            <p:spPr bwMode="auto">
              <a:xfrm>
                <a:off x="3540306" y="3316782"/>
                <a:ext cx="73911"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7" name="椭圆 70"/>
              <p:cNvSpPr>
                <a:spLocks noChangeArrowheads="1"/>
              </p:cNvSpPr>
              <p:nvPr/>
            </p:nvSpPr>
            <p:spPr bwMode="auto">
              <a:xfrm>
                <a:off x="2046577" y="3633113"/>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8" name="椭圆 71"/>
              <p:cNvSpPr>
                <a:spLocks noChangeArrowheads="1"/>
              </p:cNvSpPr>
              <p:nvPr/>
            </p:nvSpPr>
            <p:spPr bwMode="auto">
              <a:xfrm>
                <a:off x="4163733" y="2501747"/>
                <a:ext cx="73911"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9" name="椭圆 72"/>
              <p:cNvSpPr>
                <a:spLocks noChangeArrowheads="1"/>
              </p:cNvSpPr>
              <p:nvPr/>
            </p:nvSpPr>
            <p:spPr bwMode="auto">
              <a:xfrm>
                <a:off x="3792649" y="2084212"/>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60" name="椭圆 73"/>
              <p:cNvSpPr>
                <a:spLocks noChangeArrowheads="1"/>
              </p:cNvSpPr>
              <p:nvPr/>
            </p:nvSpPr>
            <p:spPr bwMode="auto">
              <a:xfrm>
                <a:off x="3418443" y="1171162"/>
                <a:ext cx="72304"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61" name="Text Box 10"/>
              <p:cNvSpPr txBox="1">
                <a:spLocks noChangeArrowheads="1"/>
              </p:cNvSpPr>
              <p:nvPr/>
            </p:nvSpPr>
            <p:spPr bwMode="auto">
              <a:xfrm>
                <a:off x="1323351" y="861428"/>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1</a:t>
                </a:r>
                <a:endParaRPr lang="en-US" altLang="zh-CN" sz="1600" b="1" dirty="0">
                  <a:latin typeface="微软雅黑" panose="020B0503020204020204" pitchFamily="34" charset="-122"/>
                  <a:ea typeface="微软雅黑" panose="020B0503020204020204" pitchFamily="34" charset="-122"/>
                </a:endParaRPr>
              </a:p>
            </p:txBody>
          </p:sp>
          <p:sp>
            <p:nvSpPr>
              <p:cNvPr id="62" name="Text Box 37"/>
              <p:cNvSpPr txBox="1">
                <a:spLocks noChangeArrowheads="1"/>
              </p:cNvSpPr>
              <p:nvPr/>
            </p:nvSpPr>
            <p:spPr bwMode="auto">
              <a:xfrm>
                <a:off x="6571928" y="2245549"/>
                <a:ext cx="57040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2 </a:t>
                </a:r>
              </a:p>
            </p:txBody>
          </p:sp>
          <p:sp>
            <p:nvSpPr>
              <p:cNvPr id="63" name="Text Box 38"/>
              <p:cNvSpPr txBox="1">
                <a:spLocks noChangeArrowheads="1"/>
              </p:cNvSpPr>
              <p:nvPr/>
            </p:nvSpPr>
            <p:spPr bwMode="auto">
              <a:xfrm>
                <a:off x="908984" y="2489487"/>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3</a:t>
                </a:r>
              </a:p>
            </p:txBody>
          </p:sp>
          <p:sp>
            <p:nvSpPr>
              <p:cNvPr id="67" name="Text Box 98"/>
              <p:cNvSpPr txBox="1">
                <a:spLocks noChangeArrowheads="1"/>
              </p:cNvSpPr>
              <p:nvPr/>
            </p:nvSpPr>
            <p:spPr bwMode="auto">
              <a:xfrm>
                <a:off x="6138447" y="884729"/>
                <a:ext cx="15135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R</a:t>
                </a:r>
                <a:r>
                  <a:rPr lang="en-US" altLang="zh-CN" sz="1400" b="1" baseline="-25000" dirty="0">
                    <a:latin typeface="微软雅黑" panose="020B0503020204020204" pitchFamily="34" charset="-122"/>
                    <a:ea typeface="微软雅黑" panose="020B0503020204020204" pitchFamily="34" charset="-122"/>
                  </a:rPr>
                  <a:t>1</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的部分转发表</a:t>
                </a:r>
                <a:endParaRPr lang="zh-CN" altLang="en-US" sz="1400" b="1" baseline="-25000" dirty="0">
                  <a:latin typeface="微软雅黑" panose="020B0503020204020204" pitchFamily="34" charset="-122"/>
                  <a:ea typeface="微软雅黑" panose="020B0503020204020204" pitchFamily="34" charset="-122"/>
                </a:endParaRPr>
              </a:p>
            </p:txBody>
          </p:sp>
          <p:sp>
            <p:nvSpPr>
              <p:cNvPr id="66" name="Text Box 9"/>
              <p:cNvSpPr txBox="1">
                <a:spLocks noChangeArrowheads="1"/>
              </p:cNvSpPr>
              <p:nvPr/>
            </p:nvSpPr>
            <p:spPr bwMode="auto">
              <a:xfrm>
                <a:off x="482255" y="1966596"/>
                <a:ext cx="1375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128.1.2.196</a:t>
                </a:r>
              </a:p>
            </p:txBody>
          </p:sp>
        </p:grpSp>
        <p:pic>
          <p:nvPicPr>
            <p:cNvPr id="72"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887487" y="315983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74"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922705" y="2689821"/>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75"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94672" y="150706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Tree>
    <p:extLst>
      <p:ext uri="{BB962C8B-B14F-4D97-AF65-F5344CB8AC3E}">
        <p14:creationId xmlns:p14="http://schemas.microsoft.com/office/powerpoint/2010/main" val="13874923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 name="圆角矩形 66"/>
          <p:cNvSpPr/>
          <p:nvPr/>
        </p:nvSpPr>
        <p:spPr>
          <a:xfrm>
            <a:off x="344776" y="633725"/>
            <a:ext cx="8469440" cy="372914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aphicFrame>
        <p:nvGraphicFramePr>
          <p:cNvPr id="68" name="Group 125"/>
          <p:cNvGraphicFramePr>
            <a:graphicFrameLocks noGrp="1"/>
          </p:cNvGraphicFramePr>
          <p:nvPr>
            <p:extLst>
              <p:ext uri="{D42A27DB-BD31-4B8C-83A1-F6EECF244321}">
                <p14:modId xmlns:p14="http://schemas.microsoft.com/office/powerpoint/2010/main" val="2862905405"/>
              </p:ext>
            </p:extLst>
          </p:nvPr>
        </p:nvGraphicFramePr>
        <p:xfrm>
          <a:off x="5544358" y="1184245"/>
          <a:ext cx="2790174" cy="1076799"/>
        </p:xfrm>
        <a:graphic>
          <a:graphicData uri="http://schemas.openxmlformats.org/drawingml/2006/table">
            <a:tbl>
              <a:tblPr/>
              <a:tblGrid>
                <a:gridCol w="1543446">
                  <a:extLst>
                    <a:ext uri="{9D8B030D-6E8A-4147-A177-3AD203B41FA5}">
                      <a16:colId xmlns:a16="http://schemas.microsoft.com/office/drawing/2014/main" val="20000"/>
                    </a:ext>
                  </a:extLst>
                </a:gridCol>
                <a:gridCol w="1246728">
                  <a:extLst>
                    <a:ext uri="{9D8B030D-6E8A-4147-A177-3AD203B41FA5}">
                      <a16:colId xmlns:a16="http://schemas.microsoft.com/office/drawing/2014/main" val="20001"/>
                    </a:ext>
                  </a:extLst>
                </a:gridCol>
              </a:tblGrid>
              <a:tr h="286975">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前缀匹配</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下一跳</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789824">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128.1.3.64/26</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128.1.2.128/25</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128.1.2.192/26</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defRPr/>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R</a:t>
                      </a:r>
                      <a:r>
                        <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rPr>
                        <a:t>2</a:t>
                      </a: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endPar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endParaRP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0</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57" name="Line 66"/>
          <p:cNvSpPr>
            <a:spLocks noChangeShapeType="1"/>
          </p:cNvSpPr>
          <p:nvPr/>
        </p:nvSpPr>
        <p:spPr bwMode="auto">
          <a:xfrm>
            <a:off x="5637655" y="1719179"/>
            <a:ext cx="1362752"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0" name="椭圆 119"/>
          <p:cNvSpPr/>
          <p:nvPr/>
        </p:nvSpPr>
        <p:spPr bwMode="auto">
          <a:xfrm rot="20475920">
            <a:off x="1042029" y="910124"/>
            <a:ext cx="3351723" cy="1002368"/>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grpSp>
        <p:nvGrpSpPr>
          <p:cNvPr id="2" name="组合 1"/>
          <p:cNvGrpSpPr/>
          <p:nvPr/>
        </p:nvGrpSpPr>
        <p:grpSpPr>
          <a:xfrm>
            <a:off x="354487" y="824458"/>
            <a:ext cx="7304424" cy="3432748"/>
            <a:chOff x="354487" y="824458"/>
            <a:chExt cx="7304424" cy="3432748"/>
          </a:xfrm>
        </p:grpSpPr>
        <p:grpSp>
          <p:nvGrpSpPr>
            <p:cNvPr id="4" name="组合 68"/>
            <p:cNvGrpSpPr/>
            <p:nvPr/>
          </p:nvGrpSpPr>
          <p:grpSpPr>
            <a:xfrm>
              <a:off x="354487" y="824458"/>
              <a:ext cx="7304424" cy="3432748"/>
              <a:chOff x="354487" y="824458"/>
              <a:chExt cx="7304424" cy="3432748"/>
            </a:xfrm>
          </p:grpSpPr>
          <p:sp>
            <p:nvSpPr>
              <p:cNvPr id="70" name="直角三角形 69"/>
              <p:cNvSpPr/>
              <p:nvPr/>
            </p:nvSpPr>
            <p:spPr>
              <a:xfrm rot="16200000">
                <a:off x="4357107" y="1079129"/>
                <a:ext cx="1089992" cy="1274054"/>
              </a:xfrm>
              <a:prstGeom prst="rtTriangle">
                <a:avLst/>
              </a:prstGeom>
              <a:gradFill flip="none" rotWithShape="1">
                <a:gsLst>
                  <a:gs pos="0">
                    <a:schemeClr val="bg1">
                      <a:lumMod val="85000"/>
                      <a:shade val="30000"/>
                      <a:satMod val="115000"/>
                    </a:schemeClr>
                  </a:gs>
                  <a:gs pos="50000">
                    <a:schemeClr val="bg1">
                      <a:lumMod val="85000"/>
                      <a:shade val="67500"/>
                      <a:satMod val="115000"/>
                    </a:schemeClr>
                  </a:gs>
                  <a:gs pos="100000">
                    <a:schemeClr val="bg1">
                      <a:lumMod val="85000"/>
                      <a:shade val="100000"/>
                      <a:satMod val="115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椭圆 70"/>
              <p:cNvSpPr/>
              <p:nvPr/>
            </p:nvSpPr>
            <p:spPr bwMode="auto">
              <a:xfrm>
                <a:off x="3607791" y="2535299"/>
                <a:ext cx="3716460" cy="1197252"/>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72" name="椭圆 71"/>
              <p:cNvSpPr/>
              <p:nvPr/>
            </p:nvSpPr>
            <p:spPr bwMode="auto">
              <a:xfrm rot="16200000">
                <a:off x="883716" y="2425929"/>
                <a:ext cx="1925637" cy="1736917"/>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73" name="Text Box 20"/>
              <p:cNvSpPr txBox="1">
                <a:spLocks noChangeArrowheads="1"/>
              </p:cNvSpPr>
              <p:nvPr/>
            </p:nvSpPr>
            <p:spPr bwMode="auto">
              <a:xfrm>
                <a:off x="2456408" y="203983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128.1.2.194</a:t>
                </a:r>
              </a:p>
            </p:txBody>
          </p:sp>
          <p:sp>
            <p:nvSpPr>
              <p:cNvPr id="74" name="Text Box 25"/>
              <p:cNvSpPr txBox="1">
                <a:spLocks noChangeArrowheads="1"/>
              </p:cNvSpPr>
              <p:nvPr/>
            </p:nvSpPr>
            <p:spPr bwMode="auto">
              <a:xfrm>
                <a:off x="3732139" y="1824581"/>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75" name="Line 19"/>
              <p:cNvSpPr>
                <a:spLocks noChangeShapeType="1"/>
              </p:cNvSpPr>
              <p:nvPr/>
            </p:nvSpPr>
            <p:spPr bwMode="auto">
              <a:xfrm>
                <a:off x="2775735" y="1678638"/>
                <a:ext cx="1301162" cy="55733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76" name="Line 16"/>
              <p:cNvSpPr>
                <a:spLocks noChangeShapeType="1"/>
              </p:cNvSpPr>
              <p:nvPr/>
            </p:nvSpPr>
            <p:spPr bwMode="auto">
              <a:xfrm flipH="1">
                <a:off x="1638141" y="1656270"/>
                <a:ext cx="947995" cy="2530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77" name="Line 8"/>
              <p:cNvSpPr>
                <a:spLocks noChangeShapeType="1"/>
              </p:cNvSpPr>
              <p:nvPr/>
            </p:nvSpPr>
            <p:spPr bwMode="auto">
              <a:xfrm flipH="1">
                <a:off x="2658440" y="1101262"/>
                <a:ext cx="956029" cy="55360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78" name="Picture 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93961" y="824458"/>
                <a:ext cx="345456"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 name="Text Box 9"/>
              <p:cNvSpPr txBox="1">
                <a:spLocks noChangeArrowheads="1"/>
              </p:cNvSpPr>
              <p:nvPr/>
            </p:nvSpPr>
            <p:spPr bwMode="auto">
              <a:xfrm>
                <a:off x="2171247" y="91222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128.1.2.193</a:t>
                </a:r>
              </a:p>
            </p:txBody>
          </p:sp>
          <p:sp>
            <p:nvSpPr>
              <p:cNvPr id="81" name="Text Box 10"/>
              <p:cNvSpPr txBox="1">
                <a:spLocks noChangeArrowheads="1"/>
              </p:cNvSpPr>
              <p:nvPr/>
            </p:nvSpPr>
            <p:spPr bwMode="auto">
              <a:xfrm>
                <a:off x="590769" y="1099476"/>
                <a:ext cx="172675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128.1.2.192/26</a:t>
                </a:r>
              </a:p>
            </p:txBody>
          </p:sp>
          <p:sp>
            <p:nvSpPr>
              <p:cNvPr id="82" name="Line 45"/>
              <p:cNvSpPr>
                <a:spLocks noChangeShapeType="1"/>
              </p:cNvSpPr>
              <p:nvPr/>
            </p:nvSpPr>
            <p:spPr bwMode="auto">
              <a:xfrm flipH="1" flipV="1">
                <a:off x="2294019" y="3312971"/>
                <a:ext cx="808348" cy="2236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3" name="Line 41"/>
              <p:cNvSpPr>
                <a:spLocks noChangeShapeType="1"/>
              </p:cNvSpPr>
              <p:nvPr/>
            </p:nvSpPr>
            <p:spPr bwMode="auto">
              <a:xfrm flipH="1">
                <a:off x="4263353" y="2793929"/>
                <a:ext cx="1332012" cy="433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4" name="Line 33"/>
              <p:cNvSpPr>
                <a:spLocks noChangeShapeType="1"/>
              </p:cNvSpPr>
              <p:nvPr/>
            </p:nvSpPr>
            <p:spPr bwMode="auto">
              <a:xfrm flipH="1">
                <a:off x="2051398" y="3354911"/>
                <a:ext cx="88372" cy="52285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5" name="Line 32"/>
              <p:cNvSpPr>
                <a:spLocks noChangeShapeType="1"/>
              </p:cNvSpPr>
              <p:nvPr/>
            </p:nvSpPr>
            <p:spPr bwMode="auto">
              <a:xfrm flipH="1">
                <a:off x="3297683" y="2900177"/>
                <a:ext cx="819453" cy="66964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6" name="Line 21"/>
              <p:cNvSpPr>
                <a:spLocks noChangeShapeType="1"/>
              </p:cNvSpPr>
              <p:nvPr/>
            </p:nvSpPr>
            <p:spPr bwMode="auto">
              <a:xfrm>
                <a:off x="4207116" y="2371732"/>
                <a:ext cx="1607" cy="4627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87" name="Picture 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74653" y="3753341"/>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1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19621" y="1719179"/>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18"/>
              <p:cNvGrpSpPr>
                <a:grpSpLocks/>
              </p:cNvGrpSpPr>
              <p:nvPr/>
            </p:nvGrpSpPr>
            <p:grpSpPr bwMode="auto">
              <a:xfrm>
                <a:off x="3943605" y="2125684"/>
                <a:ext cx="531842" cy="303367"/>
                <a:chOff x="864" y="1824"/>
                <a:chExt cx="432" cy="288"/>
              </a:xfrm>
            </p:grpSpPr>
            <p:pic>
              <p:nvPicPr>
                <p:cNvPr id="126"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27" name="Picture 1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pic>
            <p:nvPicPr>
              <p:cNvPr id="90" name="Picture 1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02173" y="2589821"/>
                <a:ext cx="345456"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Text Box 22"/>
              <p:cNvSpPr txBox="1">
                <a:spLocks noChangeArrowheads="1"/>
              </p:cNvSpPr>
              <p:nvPr/>
            </p:nvSpPr>
            <p:spPr bwMode="auto">
              <a:xfrm>
                <a:off x="2853215" y="2404897"/>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128.1.2.130</a:t>
                </a:r>
              </a:p>
            </p:txBody>
          </p:sp>
          <p:sp>
            <p:nvSpPr>
              <p:cNvPr id="92" name="Text Box 24"/>
              <p:cNvSpPr txBox="1">
                <a:spLocks noChangeArrowheads="1"/>
              </p:cNvSpPr>
              <p:nvPr/>
            </p:nvSpPr>
            <p:spPr bwMode="auto">
              <a:xfrm>
                <a:off x="4108734" y="1835693"/>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1</a:t>
                </a:r>
              </a:p>
            </p:txBody>
          </p:sp>
          <p:sp>
            <p:nvSpPr>
              <p:cNvPr id="93" name="Text Box 26"/>
              <p:cNvSpPr txBox="1">
                <a:spLocks noChangeArrowheads="1"/>
              </p:cNvSpPr>
              <p:nvPr/>
            </p:nvSpPr>
            <p:spPr bwMode="auto">
              <a:xfrm>
                <a:off x="4178194" y="2368936"/>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1</a:t>
                </a:r>
                <a:endParaRPr lang="en-US" altLang="zh-CN" sz="1600" b="1" baseline="-25000">
                  <a:latin typeface="微软雅黑" panose="020B0503020204020204" pitchFamily="34" charset="-122"/>
                  <a:ea typeface="微软雅黑" panose="020B0503020204020204" pitchFamily="34" charset="-122"/>
                </a:endParaRPr>
              </a:p>
            </p:txBody>
          </p:sp>
          <p:sp>
            <p:nvSpPr>
              <p:cNvPr id="94" name="Line 27"/>
              <p:cNvSpPr>
                <a:spLocks noChangeShapeType="1"/>
              </p:cNvSpPr>
              <p:nvPr/>
            </p:nvSpPr>
            <p:spPr bwMode="auto">
              <a:xfrm>
                <a:off x="4263353" y="2837267"/>
                <a:ext cx="1307911" cy="4627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6" name="Group 28"/>
              <p:cNvGrpSpPr>
                <a:grpSpLocks/>
              </p:cNvGrpSpPr>
              <p:nvPr/>
            </p:nvGrpSpPr>
            <p:grpSpPr bwMode="auto">
              <a:xfrm>
                <a:off x="3032567" y="3427224"/>
                <a:ext cx="531841" cy="303366"/>
                <a:chOff x="864" y="1824"/>
                <a:chExt cx="432" cy="288"/>
              </a:xfrm>
            </p:grpSpPr>
            <p:pic>
              <p:nvPicPr>
                <p:cNvPr id="124" name="Picture 2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25" name="Picture 3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96" name="Text Box 31"/>
              <p:cNvSpPr txBox="1">
                <a:spLocks noChangeArrowheads="1"/>
              </p:cNvSpPr>
              <p:nvPr/>
            </p:nvSpPr>
            <p:spPr bwMode="auto">
              <a:xfrm>
                <a:off x="3511384" y="3483144"/>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2</a:t>
                </a:r>
              </a:p>
            </p:txBody>
          </p:sp>
          <p:sp>
            <p:nvSpPr>
              <p:cNvPr id="97" name="Line 35"/>
              <p:cNvSpPr>
                <a:spLocks noChangeShapeType="1"/>
              </p:cNvSpPr>
              <p:nvPr/>
            </p:nvSpPr>
            <p:spPr bwMode="auto">
              <a:xfrm flipH="1">
                <a:off x="2147804" y="2732799"/>
                <a:ext cx="36955" cy="58017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98" name="Picture 1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39129" y="3034385"/>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Text Box 37"/>
              <p:cNvSpPr txBox="1">
                <a:spLocks noChangeArrowheads="1"/>
              </p:cNvSpPr>
              <p:nvPr/>
            </p:nvSpPr>
            <p:spPr bwMode="auto">
              <a:xfrm>
                <a:off x="5909138" y="2500740"/>
                <a:ext cx="174977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128.1.2.128/25</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101" name="Text Box 40"/>
              <p:cNvSpPr txBox="1">
                <a:spLocks noChangeArrowheads="1"/>
              </p:cNvSpPr>
              <p:nvPr/>
            </p:nvSpPr>
            <p:spPr bwMode="auto">
              <a:xfrm>
                <a:off x="4856211" y="334497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128.1.2.132</a:t>
                </a:r>
              </a:p>
            </p:txBody>
          </p:sp>
          <p:sp>
            <p:nvSpPr>
              <p:cNvPr id="102" name="Text Box 42"/>
              <p:cNvSpPr txBox="1">
                <a:spLocks noChangeArrowheads="1"/>
              </p:cNvSpPr>
              <p:nvPr/>
            </p:nvSpPr>
            <p:spPr bwMode="auto">
              <a:xfrm>
                <a:off x="3269292" y="313659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103" name="Text Box 43"/>
              <p:cNvSpPr txBox="1">
                <a:spLocks noChangeArrowheads="1"/>
              </p:cNvSpPr>
              <p:nvPr/>
            </p:nvSpPr>
            <p:spPr bwMode="auto">
              <a:xfrm>
                <a:off x="2804933" y="315647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a:t>
                </a:r>
                <a:endParaRPr lang="en-US" altLang="zh-CN" sz="1600" b="1" baseline="-25000" dirty="0">
                  <a:latin typeface="微软雅黑" panose="020B0503020204020204" pitchFamily="34" charset="-122"/>
                  <a:ea typeface="微软雅黑" panose="020B0503020204020204" pitchFamily="34" charset="-122"/>
                </a:endParaRPr>
              </a:p>
            </p:txBody>
          </p:sp>
          <p:sp>
            <p:nvSpPr>
              <p:cNvPr id="104" name="Text Box 44"/>
              <p:cNvSpPr txBox="1">
                <a:spLocks noChangeArrowheads="1"/>
              </p:cNvSpPr>
              <p:nvPr/>
            </p:nvSpPr>
            <p:spPr bwMode="auto">
              <a:xfrm>
                <a:off x="3533879" y="321752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128.1.2.131</a:t>
                </a:r>
              </a:p>
            </p:txBody>
          </p:sp>
          <p:pic>
            <p:nvPicPr>
              <p:cNvPr id="105" name="Picture 3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19263" y="2489547"/>
                <a:ext cx="347062"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Text Box 46"/>
              <p:cNvSpPr txBox="1">
                <a:spLocks noChangeArrowheads="1"/>
              </p:cNvSpPr>
              <p:nvPr/>
            </p:nvSpPr>
            <p:spPr bwMode="auto">
              <a:xfrm>
                <a:off x="1508068" y="3842425"/>
                <a:ext cx="44325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3</a:t>
                </a:r>
              </a:p>
            </p:txBody>
          </p:sp>
          <p:sp>
            <p:nvSpPr>
              <p:cNvPr id="107" name="Text Box 48"/>
              <p:cNvSpPr txBox="1">
                <a:spLocks noChangeArrowheads="1"/>
              </p:cNvSpPr>
              <p:nvPr/>
            </p:nvSpPr>
            <p:spPr bwMode="auto">
              <a:xfrm>
                <a:off x="2285477" y="3692457"/>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128.1.3.65</a:t>
                </a:r>
              </a:p>
            </p:txBody>
          </p:sp>
          <p:sp>
            <p:nvSpPr>
              <p:cNvPr id="108" name="Text Box 38"/>
              <p:cNvSpPr txBox="1">
                <a:spLocks noChangeArrowheads="1"/>
              </p:cNvSpPr>
              <p:nvPr/>
            </p:nvSpPr>
            <p:spPr bwMode="auto">
              <a:xfrm>
                <a:off x="354487" y="2757515"/>
                <a:ext cx="160011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128.1.3.64/26</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109" name="Text Box 47"/>
              <p:cNvSpPr txBox="1">
                <a:spLocks noChangeArrowheads="1"/>
              </p:cNvSpPr>
              <p:nvPr/>
            </p:nvSpPr>
            <p:spPr bwMode="auto">
              <a:xfrm>
                <a:off x="783205" y="3498904"/>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128.1.3.68</a:t>
                </a:r>
              </a:p>
            </p:txBody>
          </p:sp>
          <p:sp>
            <p:nvSpPr>
              <p:cNvPr id="110" name="椭圆 67"/>
              <p:cNvSpPr>
                <a:spLocks noChangeArrowheads="1"/>
              </p:cNvSpPr>
              <p:nvPr/>
            </p:nvSpPr>
            <p:spPr bwMode="auto">
              <a:xfrm>
                <a:off x="2872438" y="3447105"/>
                <a:ext cx="72305"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1" name="椭圆 68"/>
              <p:cNvSpPr>
                <a:spLocks noChangeArrowheads="1"/>
              </p:cNvSpPr>
              <p:nvPr/>
            </p:nvSpPr>
            <p:spPr bwMode="auto">
              <a:xfrm>
                <a:off x="5415407" y="3222106"/>
                <a:ext cx="73911"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2" name="椭圆 69"/>
              <p:cNvSpPr>
                <a:spLocks noChangeArrowheads="1"/>
              </p:cNvSpPr>
              <p:nvPr/>
            </p:nvSpPr>
            <p:spPr bwMode="auto">
              <a:xfrm>
                <a:off x="3540306" y="3316782"/>
                <a:ext cx="73911"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3" name="椭圆 70"/>
              <p:cNvSpPr>
                <a:spLocks noChangeArrowheads="1"/>
              </p:cNvSpPr>
              <p:nvPr/>
            </p:nvSpPr>
            <p:spPr bwMode="auto">
              <a:xfrm>
                <a:off x="2046577" y="3633113"/>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4" name="椭圆 71"/>
              <p:cNvSpPr>
                <a:spLocks noChangeArrowheads="1"/>
              </p:cNvSpPr>
              <p:nvPr/>
            </p:nvSpPr>
            <p:spPr bwMode="auto">
              <a:xfrm>
                <a:off x="4163733" y="2501747"/>
                <a:ext cx="73911"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5" name="椭圆 72"/>
              <p:cNvSpPr>
                <a:spLocks noChangeArrowheads="1"/>
              </p:cNvSpPr>
              <p:nvPr/>
            </p:nvSpPr>
            <p:spPr bwMode="auto">
              <a:xfrm>
                <a:off x="3792649" y="2084212"/>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6" name="椭圆 73"/>
              <p:cNvSpPr>
                <a:spLocks noChangeArrowheads="1"/>
              </p:cNvSpPr>
              <p:nvPr/>
            </p:nvSpPr>
            <p:spPr bwMode="auto">
              <a:xfrm>
                <a:off x="3418443" y="1171162"/>
                <a:ext cx="72304"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7" name="Text Box 10"/>
              <p:cNvSpPr txBox="1">
                <a:spLocks noChangeArrowheads="1"/>
              </p:cNvSpPr>
              <p:nvPr/>
            </p:nvSpPr>
            <p:spPr bwMode="auto">
              <a:xfrm>
                <a:off x="1323351" y="861428"/>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1</a:t>
                </a:r>
                <a:endParaRPr lang="en-US" altLang="zh-CN" sz="1600" b="1" dirty="0">
                  <a:latin typeface="微软雅黑" panose="020B0503020204020204" pitchFamily="34" charset="-122"/>
                  <a:ea typeface="微软雅黑" panose="020B0503020204020204" pitchFamily="34" charset="-122"/>
                </a:endParaRPr>
              </a:p>
            </p:txBody>
          </p:sp>
          <p:sp>
            <p:nvSpPr>
              <p:cNvPr id="118" name="Text Box 37"/>
              <p:cNvSpPr txBox="1">
                <a:spLocks noChangeArrowheads="1"/>
              </p:cNvSpPr>
              <p:nvPr/>
            </p:nvSpPr>
            <p:spPr bwMode="auto">
              <a:xfrm>
                <a:off x="6571928" y="2245549"/>
                <a:ext cx="57040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2 </a:t>
                </a:r>
              </a:p>
            </p:txBody>
          </p:sp>
          <p:sp>
            <p:nvSpPr>
              <p:cNvPr id="119" name="Text Box 38"/>
              <p:cNvSpPr txBox="1">
                <a:spLocks noChangeArrowheads="1"/>
              </p:cNvSpPr>
              <p:nvPr/>
            </p:nvSpPr>
            <p:spPr bwMode="auto">
              <a:xfrm>
                <a:off x="908984" y="2489487"/>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3</a:t>
                </a:r>
              </a:p>
            </p:txBody>
          </p:sp>
          <p:sp>
            <p:nvSpPr>
              <p:cNvPr id="123" name="Text Box 98"/>
              <p:cNvSpPr txBox="1">
                <a:spLocks noChangeArrowheads="1"/>
              </p:cNvSpPr>
              <p:nvPr/>
            </p:nvSpPr>
            <p:spPr bwMode="auto">
              <a:xfrm>
                <a:off x="6138447" y="884729"/>
                <a:ext cx="15135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R</a:t>
                </a:r>
                <a:r>
                  <a:rPr lang="en-US" altLang="zh-CN" sz="1400" b="1" baseline="-25000" dirty="0">
                    <a:latin typeface="微软雅黑" panose="020B0503020204020204" pitchFamily="34" charset="-122"/>
                    <a:ea typeface="微软雅黑" panose="020B0503020204020204" pitchFamily="34" charset="-122"/>
                  </a:rPr>
                  <a:t>1</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的部分转发表</a:t>
                </a:r>
                <a:endParaRPr lang="zh-CN" altLang="en-US" sz="1400" b="1" baseline="-25000" dirty="0">
                  <a:latin typeface="微软雅黑" panose="020B0503020204020204" pitchFamily="34" charset="-122"/>
                  <a:ea typeface="微软雅黑" panose="020B0503020204020204" pitchFamily="34" charset="-122"/>
                </a:endParaRPr>
              </a:p>
            </p:txBody>
          </p:sp>
        </p:grpSp>
        <p:pic>
          <p:nvPicPr>
            <p:cNvPr id="129"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887487" y="315983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30"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922705" y="2689821"/>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31"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94672" y="150706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3" name="Text Box 155"/>
          <p:cNvSpPr txBox="1">
            <a:spLocks noChangeArrowheads="1"/>
          </p:cNvSpPr>
          <p:nvPr/>
        </p:nvSpPr>
        <p:spPr bwMode="auto">
          <a:xfrm>
            <a:off x="1196427" y="594101"/>
            <a:ext cx="6865200" cy="344325"/>
          </a:xfrm>
          <a:prstGeom prst="rect">
            <a:avLst/>
          </a:prstGeom>
          <a:solidFill>
            <a:srgbClr val="C00000"/>
          </a:solidFill>
          <a:ln w="9525">
            <a:noFill/>
            <a:miter lim="800000"/>
            <a:headEnd/>
            <a:tailEnd/>
          </a:ln>
          <a:effectLst/>
        </p:spPr>
        <p:txBody>
          <a:bodyPr wrap="square">
            <a:spAutoFit/>
          </a:bodyPr>
          <a:lstStyle>
            <a:defPPr>
              <a:defRPr lang="zh-CN"/>
            </a:defPPr>
            <a:lvl1pPr algn="ctr">
              <a:lnSpc>
                <a:spcPct val="110000"/>
              </a:lnSpc>
              <a:defRPr sz="1600" b="1">
                <a:solidFill>
                  <a:schemeClr val="bg1"/>
                </a:solidFill>
                <a:latin typeface="微软雅黑" pitchFamily="34" charset="-122"/>
                <a:ea typeface="微软雅黑" pitchFamily="34" charset="-122"/>
              </a:defRPr>
            </a:lvl1pPr>
          </a:lstStyle>
          <a:p>
            <a:r>
              <a:rPr lang="zh-CN" altLang="en-US" dirty="0"/>
              <a:t>路由器 </a:t>
            </a:r>
            <a:r>
              <a:rPr lang="en-US" altLang="zh-CN" dirty="0"/>
              <a:t>R</a:t>
            </a:r>
            <a:r>
              <a:rPr lang="en-US" altLang="zh-CN" baseline="-25000" dirty="0"/>
              <a:t>1</a:t>
            </a:r>
            <a:r>
              <a:rPr lang="en-US" altLang="zh-CN" dirty="0"/>
              <a:t> </a:t>
            </a:r>
            <a:r>
              <a:rPr lang="zh-CN" altLang="en-US" dirty="0"/>
              <a:t>收到分组后查找转发表。先检查第 </a:t>
            </a:r>
            <a:r>
              <a:rPr lang="en-US" altLang="zh-CN" dirty="0"/>
              <a:t>1 </a:t>
            </a:r>
            <a:r>
              <a:rPr lang="zh-CN" altLang="en-US" dirty="0"/>
              <a:t>行。 </a:t>
            </a:r>
          </a:p>
        </p:txBody>
      </p:sp>
      <p:sp>
        <p:nvSpPr>
          <p:cNvPr id="128" name="AutoShape 63"/>
          <p:cNvSpPr>
            <a:spLocks noChangeArrowheads="1"/>
          </p:cNvSpPr>
          <p:nvPr/>
        </p:nvSpPr>
        <p:spPr bwMode="auto">
          <a:xfrm>
            <a:off x="5047836" y="1543263"/>
            <a:ext cx="547288" cy="142367"/>
          </a:xfrm>
          <a:prstGeom prst="rightArrow">
            <a:avLst>
              <a:gd name="adj1" fmla="val 50000"/>
              <a:gd name="adj2" fmla="val 66728"/>
            </a:avLst>
          </a:prstGeom>
          <a:solidFill>
            <a:srgbClr val="FFFF00"/>
          </a:solidFill>
          <a:ln w="12700">
            <a:solidFill>
              <a:schemeClr val="tx1"/>
            </a:solidFill>
            <a:miter lim="800000"/>
            <a:headEnd/>
            <a:tailEnd/>
          </a:ln>
          <a:effectLst/>
        </p:spPr>
        <p:txBody>
          <a:bodyPr wrap="none" anchor="ctr"/>
          <a:lstStyle/>
          <a:p>
            <a:endParaRPr lang="zh-CN" altLang="en-US">
              <a:solidFill>
                <a:srgbClr val="CC00CC"/>
              </a:solidFill>
            </a:endParaRPr>
          </a:p>
        </p:txBody>
      </p:sp>
      <p:sp>
        <p:nvSpPr>
          <p:cNvPr id="122" name="Text Box 155"/>
          <p:cNvSpPr txBox="1">
            <a:spLocks noChangeArrowheads="1"/>
          </p:cNvSpPr>
          <p:nvPr/>
        </p:nvSpPr>
        <p:spPr bwMode="auto">
          <a:xfrm>
            <a:off x="1196430" y="4333600"/>
            <a:ext cx="6864206" cy="397032"/>
          </a:xfrm>
          <a:prstGeom prst="rect">
            <a:avLst/>
          </a:prstGeom>
          <a:solidFill>
            <a:srgbClr val="0070C0"/>
          </a:solidFill>
          <a:ln w="9525">
            <a:noFill/>
            <a:miter lim="800000"/>
            <a:headEnd/>
            <a:tailEnd/>
          </a:ln>
          <a:effectLst/>
        </p:spPr>
        <p:txBody>
          <a:bodyPr wrap="square">
            <a:spAutoFit/>
          </a:bodyPr>
          <a:lstStyle/>
          <a:p>
            <a:pPr algn="ctr">
              <a:lnSpc>
                <a:spcPct val="110000"/>
              </a:lnSpc>
            </a:pPr>
            <a:r>
              <a:rPr lang="en-US" altLang="zh-CN" b="1" dirty="0">
                <a:solidFill>
                  <a:srgbClr val="FFFF00"/>
                </a:solidFill>
                <a:latin typeface="微软雅黑" pitchFamily="34" charset="-122"/>
                <a:ea typeface="微软雅黑" pitchFamily="34" charset="-122"/>
              </a:rPr>
              <a:t>128.1.2.196</a:t>
            </a:r>
            <a:r>
              <a:rPr lang="en-US" altLang="zh-CN" b="1" dirty="0">
                <a:solidFill>
                  <a:schemeClr val="bg1"/>
                </a:solidFill>
                <a:latin typeface="微软雅黑" pitchFamily="34" charset="-122"/>
                <a:ea typeface="微软雅黑" pitchFamily="34" charset="-122"/>
              </a:rPr>
              <a:t> </a:t>
            </a:r>
            <a:r>
              <a:rPr lang="en-US" altLang="zh-CN" b="1" dirty="0">
                <a:solidFill>
                  <a:schemeClr val="accent6"/>
                </a:solidFill>
                <a:latin typeface="微软雅黑" pitchFamily="34" charset="-122"/>
                <a:ea typeface="微软雅黑" pitchFamily="34" charset="-122"/>
              </a:rPr>
              <a:t>AND</a:t>
            </a:r>
            <a:r>
              <a:rPr lang="en-US" altLang="zh-CN" b="1" dirty="0">
                <a:solidFill>
                  <a:schemeClr val="bg1"/>
                </a:solidFill>
                <a:latin typeface="微软雅黑" pitchFamily="34" charset="-122"/>
                <a:ea typeface="微软雅黑" pitchFamily="34" charset="-122"/>
              </a:rPr>
              <a:t> 255.255.255.192 = 128.1.2.192     </a:t>
            </a:r>
            <a:r>
              <a:rPr lang="zh-CN" altLang="en-US" b="1" dirty="0">
                <a:solidFill>
                  <a:srgbClr val="FFFF00"/>
                </a:solidFill>
                <a:latin typeface="微软雅黑" pitchFamily="34" charset="-122"/>
                <a:ea typeface="微软雅黑" pitchFamily="34" charset="-122"/>
              </a:rPr>
              <a:t>不匹配</a:t>
            </a:r>
            <a:r>
              <a:rPr lang="en-US" altLang="zh-CN" b="1" dirty="0">
                <a:solidFill>
                  <a:srgbClr val="FFFF00"/>
                </a:solidFill>
                <a:latin typeface="微软雅黑" pitchFamily="34" charset="-122"/>
                <a:ea typeface="微软雅黑" pitchFamily="34" charset="-122"/>
              </a:rPr>
              <a:t>!</a:t>
            </a:r>
          </a:p>
        </p:txBody>
      </p:sp>
      <p:sp>
        <p:nvSpPr>
          <p:cNvPr id="69" name="Text Box 9"/>
          <p:cNvSpPr txBox="1">
            <a:spLocks noChangeArrowheads="1"/>
          </p:cNvSpPr>
          <p:nvPr/>
        </p:nvSpPr>
        <p:spPr bwMode="auto">
          <a:xfrm>
            <a:off x="482255" y="1966596"/>
            <a:ext cx="1375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128.1.2.196</a:t>
            </a:r>
          </a:p>
        </p:txBody>
      </p:sp>
      <p:sp>
        <p:nvSpPr>
          <p:cNvPr id="89" name="Text Box 39"/>
          <p:cNvSpPr txBox="1">
            <a:spLocks noChangeArrowheads="1"/>
          </p:cNvSpPr>
          <p:nvPr/>
        </p:nvSpPr>
        <p:spPr bwMode="auto">
          <a:xfrm>
            <a:off x="401517" y="1674991"/>
            <a:ext cx="1012877" cy="338554"/>
          </a:xfrm>
          <a:prstGeom prst="rect">
            <a:avLst/>
          </a:prstGeom>
          <a:solidFill>
            <a:srgbClr val="00FFFF"/>
          </a:solidFill>
          <a:ln w="9525">
            <a:solidFill>
              <a:schemeClr val="tx1"/>
            </a:solidFill>
            <a:miter lim="800000"/>
            <a:headEnd/>
            <a:tailEnd/>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目的主机</a:t>
            </a:r>
            <a:endParaRPr lang="en-US" altLang="zh-CN" sz="1600" b="1" baseline="-25000"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13150104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28"/>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1" nodeType="afterEffect">
                                  <p:stCondLst>
                                    <p:cond delay="0"/>
                                  </p:stCondLst>
                                  <p:childTnLst>
                                    <p:anim calcmode="discrete" valueType="str">
                                      <p:cBhvr>
                                        <p:cTn id="9" dur="1000" fill="hold"/>
                                        <p:tgtEl>
                                          <p:spTgt spid="128"/>
                                        </p:tgtEl>
                                        <p:attrNameLst>
                                          <p:attrName>style.visibility</p:attrName>
                                        </p:attrNameLst>
                                      </p:cBhvr>
                                      <p:tavLst>
                                        <p:tav tm="0">
                                          <p:val>
                                            <p:strVal val="hidden"/>
                                          </p:val>
                                        </p:tav>
                                        <p:tav tm="50000">
                                          <p:val>
                                            <p:strVal val="visible"/>
                                          </p:val>
                                        </p:tav>
                                      </p:tavLst>
                                    </p:anim>
                                  </p:childTnLst>
                                </p:cTn>
                              </p:par>
                            </p:childTnLst>
                          </p:cTn>
                        </p:par>
                        <p:par>
                          <p:cTn id="10" fill="hold">
                            <p:stCondLst>
                              <p:cond delay="3000"/>
                            </p:stCondLst>
                            <p:childTnLst>
                              <p:par>
                                <p:cTn id="11" presetID="22" presetClass="entr" presetSubtype="1" fill="hold" grpId="0" nodeType="afterEffect">
                                  <p:stCondLst>
                                    <p:cond delay="0"/>
                                  </p:stCondLst>
                                  <p:childTnLst>
                                    <p:set>
                                      <p:cBhvr>
                                        <p:cTn id="12" dur="1" fill="hold">
                                          <p:stCondLst>
                                            <p:cond delay="0"/>
                                          </p:stCondLst>
                                        </p:cTn>
                                        <p:tgtEl>
                                          <p:spTgt spid="122"/>
                                        </p:tgtEl>
                                        <p:attrNameLst>
                                          <p:attrName>style.visibility</p:attrName>
                                        </p:attrNameLst>
                                      </p:cBhvr>
                                      <p:to>
                                        <p:strVal val="visible"/>
                                      </p:to>
                                    </p:set>
                                    <p:animEffect transition="in" filter="wipe(up)">
                                      <p:cBhvr>
                                        <p:cTn id="13" dur="500"/>
                                        <p:tgtEl>
                                          <p:spTgt spid="1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animBg="1"/>
      <p:bldP spid="128" grpId="1" animBg="1"/>
      <p:bldP spid="122" grpId="0" animBg="1"/>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 name="圆角矩形 66"/>
          <p:cNvSpPr/>
          <p:nvPr/>
        </p:nvSpPr>
        <p:spPr>
          <a:xfrm>
            <a:off x="344776" y="633725"/>
            <a:ext cx="8469440" cy="372914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aphicFrame>
        <p:nvGraphicFramePr>
          <p:cNvPr id="68" name="Group 125"/>
          <p:cNvGraphicFramePr>
            <a:graphicFrameLocks noGrp="1"/>
          </p:cNvGraphicFramePr>
          <p:nvPr>
            <p:extLst>
              <p:ext uri="{D42A27DB-BD31-4B8C-83A1-F6EECF244321}">
                <p14:modId xmlns:p14="http://schemas.microsoft.com/office/powerpoint/2010/main" val="1624065583"/>
              </p:ext>
            </p:extLst>
          </p:nvPr>
        </p:nvGraphicFramePr>
        <p:xfrm>
          <a:off x="5544358" y="1184245"/>
          <a:ext cx="2790174" cy="1076799"/>
        </p:xfrm>
        <a:graphic>
          <a:graphicData uri="http://schemas.openxmlformats.org/drawingml/2006/table">
            <a:tbl>
              <a:tblPr/>
              <a:tblGrid>
                <a:gridCol w="1543446">
                  <a:extLst>
                    <a:ext uri="{9D8B030D-6E8A-4147-A177-3AD203B41FA5}">
                      <a16:colId xmlns:a16="http://schemas.microsoft.com/office/drawing/2014/main" val="20000"/>
                    </a:ext>
                  </a:extLst>
                </a:gridCol>
                <a:gridCol w="1246728">
                  <a:extLst>
                    <a:ext uri="{9D8B030D-6E8A-4147-A177-3AD203B41FA5}">
                      <a16:colId xmlns:a16="http://schemas.microsoft.com/office/drawing/2014/main" val="20001"/>
                    </a:ext>
                  </a:extLst>
                </a:gridCol>
              </a:tblGrid>
              <a:tr h="286975">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前缀匹配</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下一跳</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789824">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128.1.3.64/26</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128.1.2.128/25</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128.1.2.192/26</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defRPr/>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R</a:t>
                      </a:r>
                      <a:r>
                        <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rPr>
                        <a:t>2</a:t>
                      </a: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endPar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endParaRP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0</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51" name="Text Box 155"/>
          <p:cNvSpPr txBox="1">
            <a:spLocks noChangeArrowheads="1"/>
          </p:cNvSpPr>
          <p:nvPr/>
        </p:nvSpPr>
        <p:spPr bwMode="auto">
          <a:xfrm>
            <a:off x="1196427" y="4333600"/>
            <a:ext cx="6865199" cy="397032"/>
          </a:xfrm>
          <a:prstGeom prst="rect">
            <a:avLst/>
          </a:prstGeom>
          <a:solidFill>
            <a:srgbClr val="0070C0"/>
          </a:solidFill>
          <a:ln w="9525">
            <a:noFill/>
            <a:miter lim="800000"/>
            <a:headEnd/>
            <a:tailEnd/>
          </a:ln>
          <a:effectLst/>
        </p:spPr>
        <p:txBody>
          <a:bodyPr wrap="square">
            <a:spAutoFit/>
          </a:bodyPr>
          <a:lstStyle/>
          <a:p>
            <a:pPr algn="ctr">
              <a:lnSpc>
                <a:spcPct val="110000"/>
              </a:lnSpc>
            </a:pPr>
            <a:r>
              <a:rPr lang="en-US" altLang="zh-CN" b="1" dirty="0">
                <a:solidFill>
                  <a:srgbClr val="FFFF00"/>
                </a:solidFill>
                <a:latin typeface="微软雅黑" pitchFamily="34" charset="-122"/>
                <a:ea typeface="微软雅黑" pitchFamily="34" charset="-122"/>
              </a:rPr>
              <a:t>128.1.2.196 </a:t>
            </a:r>
            <a:r>
              <a:rPr lang="en-US" altLang="zh-CN" b="1" dirty="0">
                <a:solidFill>
                  <a:schemeClr val="accent6"/>
                </a:solidFill>
                <a:latin typeface="微软雅黑" pitchFamily="34" charset="-122"/>
                <a:ea typeface="微软雅黑" pitchFamily="34" charset="-122"/>
              </a:rPr>
              <a:t>AND</a:t>
            </a:r>
            <a:r>
              <a:rPr lang="en-US" altLang="zh-CN" b="1" dirty="0">
                <a:solidFill>
                  <a:schemeClr val="bg1"/>
                </a:solidFill>
                <a:latin typeface="微软雅黑" pitchFamily="34" charset="-122"/>
                <a:ea typeface="微软雅黑" pitchFamily="34" charset="-122"/>
              </a:rPr>
              <a:t> 255.255.255.128 = 128.1.2.128     </a:t>
            </a:r>
            <a:r>
              <a:rPr lang="zh-CN" altLang="en-US" b="1" dirty="0">
                <a:solidFill>
                  <a:srgbClr val="FFFF00"/>
                </a:solidFill>
                <a:latin typeface="微软雅黑" pitchFamily="34" charset="-122"/>
                <a:ea typeface="微软雅黑" pitchFamily="34" charset="-122"/>
              </a:rPr>
              <a:t>匹配</a:t>
            </a:r>
            <a:r>
              <a:rPr lang="en-US" altLang="zh-CN" b="1" dirty="0">
                <a:solidFill>
                  <a:srgbClr val="FFFF00"/>
                </a:solidFill>
                <a:latin typeface="微软雅黑" pitchFamily="34" charset="-122"/>
                <a:ea typeface="微软雅黑" pitchFamily="34" charset="-122"/>
              </a:rPr>
              <a:t>!</a:t>
            </a:r>
          </a:p>
        </p:txBody>
      </p:sp>
      <p:sp>
        <p:nvSpPr>
          <p:cNvPr id="57" name="Line 66"/>
          <p:cNvSpPr>
            <a:spLocks noChangeShapeType="1"/>
          </p:cNvSpPr>
          <p:nvPr/>
        </p:nvSpPr>
        <p:spPr bwMode="auto">
          <a:xfrm>
            <a:off x="5637655" y="1944029"/>
            <a:ext cx="1362752"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0" name="椭圆 119"/>
          <p:cNvSpPr/>
          <p:nvPr/>
        </p:nvSpPr>
        <p:spPr bwMode="auto">
          <a:xfrm rot="20475920">
            <a:off x="1042029" y="910124"/>
            <a:ext cx="3351723" cy="1002368"/>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grpSp>
        <p:nvGrpSpPr>
          <p:cNvPr id="2" name="组合 1"/>
          <p:cNvGrpSpPr/>
          <p:nvPr/>
        </p:nvGrpSpPr>
        <p:grpSpPr>
          <a:xfrm>
            <a:off x="590769" y="824458"/>
            <a:ext cx="7068142" cy="3432748"/>
            <a:chOff x="590769" y="824458"/>
            <a:chExt cx="7068142" cy="3432748"/>
          </a:xfrm>
        </p:grpSpPr>
        <p:grpSp>
          <p:nvGrpSpPr>
            <p:cNvPr id="4" name="组合 68"/>
            <p:cNvGrpSpPr/>
            <p:nvPr/>
          </p:nvGrpSpPr>
          <p:grpSpPr>
            <a:xfrm>
              <a:off x="590769" y="824458"/>
              <a:ext cx="7068142" cy="3432748"/>
              <a:chOff x="590769" y="824458"/>
              <a:chExt cx="7068142" cy="3432748"/>
            </a:xfrm>
          </p:grpSpPr>
          <p:sp>
            <p:nvSpPr>
              <p:cNvPr id="70" name="直角三角形 69"/>
              <p:cNvSpPr/>
              <p:nvPr/>
            </p:nvSpPr>
            <p:spPr>
              <a:xfrm rot="16200000">
                <a:off x="4357107" y="1079129"/>
                <a:ext cx="1089992" cy="1274054"/>
              </a:xfrm>
              <a:prstGeom prst="rtTriangle">
                <a:avLst/>
              </a:prstGeom>
              <a:gradFill flip="none" rotWithShape="1">
                <a:gsLst>
                  <a:gs pos="0">
                    <a:schemeClr val="bg1">
                      <a:lumMod val="85000"/>
                      <a:shade val="30000"/>
                      <a:satMod val="115000"/>
                    </a:schemeClr>
                  </a:gs>
                  <a:gs pos="50000">
                    <a:schemeClr val="bg1">
                      <a:lumMod val="85000"/>
                      <a:shade val="67500"/>
                      <a:satMod val="115000"/>
                    </a:schemeClr>
                  </a:gs>
                  <a:gs pos="100000">
                    <a:schemeClr val="bg1">
                      <a:lumMod val="85000"/>
                      <a:shade val="100000"/>
                      <a:satMod val="115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椭圆 70"/>
              <p:cNvSpPr/>
              <p:nvPr/>
            </p:nvSpPr>
            <p:spPr bwMode="auto">
              <a:xfrm>
                <a:off x="3607791" y="2535299"/>
                <a:ext cx="3716460" cy="1197252"/>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72" name="椭圆 71"/>
              <p:cNvSpPr/>
              <p:nvPr/>
            </p:nvSpPr>
            <p:spPr bwMode="auto">
              <a:xfrm rot="16200000">
                <a:off x="883716" y="2425929"/>
                <a:ext cx="1925637" cy="1736917"/>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73" name="Text Box 20"/>
              <p:cNvSpPr txBox="1">
                <a:spLocks noChangeArrowheads="1"/>
              </p:cNvSpPr>
              <p:nvPr/>
            </p:nvSpPr>
            <p:spPr bwMode="auto">
              <a:xfrm>
                <a:off x="2456408" y="203983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128.1.2.194</a:t>
                </a:r>
              </a:p>
            </p:txBody>
          </p:sp>
          <p:sp>
            <p:nvSpPr>
              <p:cNvPr id="74" name="Text Box 25"/>
              <p:cNvSpPr txBox="1">
                <a:spLocks noChangeArrowheads="1"/>
              </p:cNvSpPr>
              <p:nvPr/>
            </p:nvSpPr>
            <p:spPr bwMode="auto">
              <a:xfrm>
                <a:off x="3732139" y="1824581"/>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75" name="Line 19"/>
              <p:cNvSpPr>
                <a:spLocks noChangeShapeType="1"/>
              </p:cNvSpPr>
              <p:nvPr/>
            </p:nvSpPr>
            <p:spPr bwMode="auto">
              <a:xfrm>
                <a:off x="2775735" y="1678638"/>
                <a:ext cx="1301162" cy="55733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76" name="Line 16"/>
              <p:cNvSpPr>
                <a:spLocks noChangeShapeType="1"/>
              </p:cNvSpPr>
              <p:nvPr/>
            </p:nvSpPr>
            <p:spPr bwMode="auto">
              <a:xfrm flipH="1">
                <a:off x="1638141" y="1656270"/>
                <a:ext cx="947995" cy="2530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77" name="Line 8"/>
              <p:cNvSpPr>
                <a:spLocks noChangeShapeType="1"/>
              </p:cNvSpPr>
              <p:nvPr/>
            </p:nvSpPr>
            <p:spPr bwMode="auto">
              <a:xfrm flipH="1">
                <a:off x="2658440" y="1101262"/>
                <a:ext cx="956029" cy="55360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78" name="Picture 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93961" y="824458"/>
                <a:ext cx="345456"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 name="Text Box 9"/>
              <p:cNvSpPr txBox="1">
                <a:spLocks noChangeArrowheads="1"/>
              </p:cNvSpPr>
              <p:nvPr/>
            </p:nvSpPr>
            <p:spPr bwMode="auto">
              <a:xfrm>
                <a:off x="2171247" y="91222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128.1.2.193</a:t>
                </a:r>
              </a:p>
            </p:txBody>
          </p:sp>
          <p:sp>
            <p:nvSpPr>
              <p:cNvPr id="81" name="Text Box 10"/>
              <p:cNvSpPr txBox="1">
                <a:spLocks noChangeArrowheads="1"/>
              </p:cNvSpPr>
              <p:nvPr/>
            </p:nvSpPr>
            <p:spPr bwMode="auto">
              <a:xfrm>
                <a:off x="590769" y="1099476"/>
                <a:ext cx="172675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128.1.2.192/26</a:t>
                </a:r>
              </a:p>
            </p:txBody>
          </p:sp>
          <p:sp>
            <p:nvSpPr>
              <p:cNvPr id="82" name="Line 45"/>
              <p:cNvSpPr>
                <a:spLocks noChangeShapeType="1"/>
              </p:cNvSpPr>
              <p:nvPr/>
            </p:nvSpPr>
            <p:spPr bwMode="auto">
              <a:xfrm flipH="1" flipV="1">
                <a:off x="2294019" y="3312971"/>
                <a:ext cx="808348" cy="2236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3" name="Line 41"/>
              <p:cNvSpPr>
                <a:spLocks noChangeShapeType="1"/>
              </p:cNvSpPr>
              <p:nvPr/>
            </p:nvSpPr>
            <p:spPr bwMode="auto">
              <a:xfrm flipH="1">
                <a:off x="4263353" y="2793929"/>
                <a:ext cx="1332012" cy="433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4" name="Line 33"/>
              <p:cNvSpPr>
                <a:spLocks noChangeShapeType="1"/>
              </p:cNvSpPr>
              <p:nvPr/>
            </p:nvSpPr>
            <p:spPr bwMode="auto">
              <a:xfrm flipH="1">
                <a:off x="2051398" y="3354911"/>
                <a:ext cx="88372" cy="52285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5" name="Line 32"/>
              <p:cNvSpPr>
                <a:spLocks noChangeShapeType="1"/>
              </p:cNvSpPr>
              <p:nvPr/>
            </p:nvSpPr>
            <p:spPr bwMode="auto">
              <a:xfrm flipH="1">
                <a:off x="3297683" y="2900177"/>
                <a:ext cx="819453" cy="66964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6" name="Line 21"/>
              <p:cNvSpPr>
                <a:spLocks noChangeShapeType="1"/>
              </p:cNvSpPr>
              <p:nvPr/>
            </p:nvSpPr>
            <p:spPr bwMode="auto">
              <a:xfrm>
                <a:off x="4207116" y="2371732"/>
                <a:ext cx="1607" cy="4627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87" name="Picture 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74653" y="3753341"/>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1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19621" y="1719179"/>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18"/>
              <p:cNvGrpSpPr>
                <a:grpSpLocks/>
              </p:cNvGrpSpPr>
              <p:nvPr/>
            </p:nvGrpSpPr>
            <p:grpSpPr bwMode="auto">
              <a:xfrm>
                <a:off x="3943605" y="2125684"/>
                <a:ext cx="531842" cy="303367"/>
                <a:chOff x="864" y="1824"/>
                <a:chExt cx="432" cy="288"/>
              </a:xfrm>
            </p:grpSpPr>
            <p:pic>
              <p:nvPicPr>
                <p:cNvPr id="126"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27" name="Picture 1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pic>
            <p:nvPicPr>
              <p:cNvPr id="90" name="Picture 1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02173" y="2589821"/>
                <a:ext cx="345456"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Text Box 22"/>
              <p:cNvSpPr txBox="1">
                <a:spLocks noChangeArrowheads="1"/>
              </p:cNvSpPr>
              <p:nvPr/>
            </p:nvSpPr>
            <p:spPr bwMode="auto">
              <a:xfrm>
                <a:off x="2853215" y="2404897"/>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128.1.2.130</a:t>
                </a:r>
              </a:p>
            </p:txBody>
          </p:sp>
          <p:sp>
            <p:nvSpPr>
              <p:cNvPr id="92" name="Text Box 24"/>
              <p:cNvSpPr txBox="1">
                <a:spLocks noChangeArrowheads="1"/>
              </p:cNvSpPr>
              <p:nvPr/>
            </p:nvSpPr>
            <p:spPr bwMode="auto">
              <a:xfrm>
                <a:off x="4108734" y="1835693"/>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1</a:t>
                </a:r>
              </a:p>
            </p:txBody>
          </p:sp>
          <p:sp>
            <p:nvSpPr>
              <p:cNvPr id="93" name="Text Box 26"/>
              <p:cNvSpPr txBox="1">
                <a:spLocks noChangeArrowheads="1"/>
              </p:cNvSpPr>
              <p:nvPr/>
            </p:nvSpPr>
            <p:spPr bwMode="auto">
              <a:xfrm>
                <a:off x="4178194" y="2368936"/>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1</a:t>
                </a:r>
                <a:endParaRPr lang="en-US" altLang="zh-CN" sz="1600" b="1" baseline="-25000">
                  <a:latin typeface="微软雅黑" panose="020B0503020204020204" pitchFamily="34" charset="-122"/>
                  <a:ea typeface="微软雅黑" panose="020B0503020204020204" pitchFamily="34" charset="-122"/>
                </a:endParaRPr>
              </a:p>
            </p:txBody>
          </p:sp>
          <p:sp>
            <p:nvSpPr>
              <p:cNvPr id="94" name="Line 27"/>
              <p:cNvSpPr>
                <a:spLocks noChangeShapeType="1"/>
              </p:cNvSpPr>
              <p:nvPr/>
            </p:nvSpPr>
            <p:spPr bwMode="auto">
              <a:xfrm>
                <a:off x="4263353" y="2837267"/>
                <a:ext cx="1307911" cy="4627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6" name="Group 28"/>
              <p:cNvGrpSpPr>
                <a:grpSpLocks/>
              </p:cNvGrpSpPr>
              <p:nvPr/>
            </p:nvGrpSpPr>
            <p:grpSpPr bwMode="auto">
              <a:xfrm>
                <a:off x="3032567" y="3427224"/>
                <a:ext cx="531841" cy="303366"/>
                <a:chOff x="864" y="1824"/>
                <a:chExt cx="432" cy="288"/>
              </a:xfrm>
            </p:grpSpPr>
            <p:pic>
              <p:nvPicPr>
                <p:cNvPr id="124" name="Picture 2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25" name="Picture 3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96" name="Text Box 31"/>
              <p:cNvSpPr txBox="1">
                <a:spLocks noChangeArrowheads="1"/>
              </p:cNvSpPr>
              <p:nvPr/>
            </p:nvSpPr>
            <p:spPr bwMode="auto">
              <a:xfrm>
                <a:off x="3511384" y="3483144"/>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2</a:t>
                </a:r>
              </a:p>
            </p:txBody>
          </p:sp>
          <p:sp>
            <p:nvSpPr>
              <p:cNvPr id="97" name="Line 35"/>
              <p:cNvSpPr>
                <a:spLocks noChangeShapeType="1"/>
              </p:cNvSpPr>
              <p:nvPr/>
            </p:nvSpPr>
            <p:spPr bwMode="auto">
              <a:xfrm flipH="1">
                <a:off x="2147804" y="2732799"/>
                <a:ext cx="36955" cy="58017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98" name="Picture 1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39129" y="3034385"/>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Text Box 37"/>
              <p:cNvSpPr txBox="1">
                <a:spLocks noChangeArrowheads="1"/>
              </p:cNvSpPr>
              <p:nvPr/>
            </p:nvSpPr>
            <p:spPr bwMode="auto">
              <a:xfrm>
                <a:off x="5909138" y="2500740"/>
                <a:ext cx="174977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128.1.2.128/25</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101" name="Text Box 40"/>
              <p:cNvSpPr txBox="1">
                <a:spLocks noChangeArrowheads="1"/>
              </p:cNvSpPr>
              <p:nvPr/>
            </p:nvSpPr>
            <p:spPr bwMode="auto">
              <a:xfrm>
                <a:off x="4856211" y="334497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128.1.2.132</a:t>
                </a:r>
              </a:p>
            </p:txBody>
          </p:sp>
          <p:sp>
            <p:nvSpPr>
              <p:cNvPr id="102" name="Text Box 42"/>
              <p:cNvSpPr txBox="1">
                <a:spLocks noChangeArrowheads="1"/>
              </p:cNvSpPr>
              <p:nvPr/>
            </p:nvSpPr>
            <p:spPr bwMode="auto">
              <a:xfrm>
                <a:off x="3269292" y="313659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103" name="Text Box 43"/>
              <p:cNvSpPr txBox="1">
                <a:spLocks noChangeArrowheads="1"/>
              </p:cNvSpPr>
              <p:nvPr/>
            </p:nvSpPr>
            <p:spPr bwMode="auto">
              <a:xfrm>
                <a:off x="2804933" y="315647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a:t>
                </a:r>
                <a:endParaRPr lang="en-US" altLang="zh-CN" sz="1600" b="1" baseline="-25000" dirty="0">
                  <a:latin typeface="微软雅黑" panose="020B0503020204020204" pitchFamily="34" charset="-122"/>
                  <a:ea typeface="微软雅黑" panose="020B0503020204020204" pitchFamily="34" charset="-122"/>
                </a:endParaRPr>
              </a:p>
            </p:txBody>
          </p:sp>
          <p:sp>
            <p:nvSpPr>
              <p:cNvPr id="104" name="Text Box 44"/>
              <p:cNvSpPr txBox="1">
                <a:spLocks noChangeArrowheads="1"/>
              </p:cNvSpPr>
              <p:nvPr/>
            </p:nvSpPr>
            <p:spPr bwMode="auto">
              <a:xfrm>
                <a:off x="3533879" y="321752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128.1.2.131</a:t>
                </a:r>
              </a:p>
            </p:txBody>
          </p:sp>
          <p:pic>
            <p:nvPicPr>
              <p:cNvPr id="105" name="Picture 3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19263" y="2489547"/>
                <a:ext cx="347062"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Text Box 46"/>
              <p:cNvSpPr txBox="1">
                <a:spLocks noChangeArrowheads="1"/>
              </p:cNvSpPr>
              <p:nvPr/>
            </p:nvSpPr>
            <p:spPr bwMode="auto">
              <a:xfrm>
                <a:off x="1508068" y="3842425"/>
                <a:ext cx="44325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3</a:t>
                </a:r>
              </a:p>
            </p:txBody>
          </p:sp>
          <p:sp>
            <p:nvSpPr>
              <p:cNvPr id="107" name="Text Box 48"/>
              <p:cNvSpPr txBox="1">
                <a:spLocks noChangeArrowheads="1"/>
              </p:cNvSpPr>
              <p:nvPr/>
            </p:nvSpPr>
            <p:spPr bwMode="auto">
              <a:xfrm>
                <a:off x="2285477" y="3692457"/>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128.1.3.65</a:t>
                </a:r>
              </a:p>
            </p:txBody>
          </p:sp>
          <p:sp>
            <p:nvSpPr>
              <p:cNvPr id="109" name="Text Box 47"/>
              <p:cNvSpPr txBox="1">
                <a:spLocks noChangeArrowheads="1"/>
              </p:cNvSpPr>
              <p:nvPr/>
            </p:nvSpPr>
            <p:spPr bwMode="auto">
              <a:xfrm>
                <a:off x="783205" y="3498904"/>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128.1.3.66</a:t>
                </a:r>
              </a:p>
            </p:txBody>
          </p:sp>
          <p:sp>
            <p:nvSpPr>
              <p:cNvPr id="110" name="椭圆 67"/>
              <p:cNvSpPr>
                <a:spLocks noChangeArrowheads="1"/>
              </p:cNvSpPr>
              <p:nvPr/>
            </p:nvSpPr>
            <p:spPr bwMode="auto">
              <a:xfrm>
                <a:off x="2872438" y="3447105"/>
                <a:ext cx="72305"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1" name="椭圆 68"/>
              <p:cNvSpPr>
                <a:spLocks noChangeArrowheads="1"/>
              </p:cNvSpPr>
              <p:nvPr/>
            </p:nvSpPr>
            <p:spPr bwMode="auto">
              <a:xfrm>
                <a:off x="5415407" y="3222106"/>
                <a:ext cx="73911"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2" name="椭圆 69"/>
              <p:cNvSpPr>
                <a:spLocks noChangeArrowheads="1"/>
              </p:cNvSpPr>
              <p:nvPr/>
            </p:nvSpPr>
            <p:spPr bwMode="auto">
              <a:xfrm>
                <a:off x="3540306" y="3316782"/>
                <a:ext cx="73911"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3" name="椭圆 70"/>
              <p:cNvSpPr>
                <a:spLocks noChangeArrowheads="1"/>
              </p:cNvSpPr>
              <p:nvPr/>
            </p:nvSpPr>
            <p:spPr bwMode="auto">
              <a:xfrm>
                <a:off x="2046577" y="3633113"/>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4" name="椭圆 71"/>
              <p:cNvSpPr>
                <a:spLocks noChangeArrowheads="1"/>
              </p:cNvSpPr>
              <p:nvPr/>
            </p:nvSpPr>
            <p:spPr bwMode="auto">
              <a:xfrm>
                <a:off x="4163733" y="2501747"/>
                <a:ext cx="73911"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5" name="椭圆 72"/>
              <p:cNvSpPr>
                <a:spLocks noChangeArrowheads="1"/>
              </p:cNvSpPr>
              <p:nvPr/>
            </p:nvSpPr>
            <p:spPr bwMode="auto">
              <a:xfrm>
                <a:off x="3792649" y="2084212"/>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6" name="椭圆 73"/>
              <p:cNvSpPr>
                <a:spLocks noChangeArrowheads="1"/>
              </p:cNvSpPr>
              <p:nvPr/>
            </p:nvSpPr>
            <p:spPr bwMode="auto">
              <a:xfrm>
                <a:off x="3418443" y="1171162"/>
                <a:ext cx="72304"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7" name="Text Box 10"/>
              <p:cNvSpPr txBox="1">
                <a:spLocks noChangeArrowheads="1"/>
              </p:cNvSpPr>
              <p:nvPr/>
            </p:nvSpPr>
            <p:spPr bwMode="auto">
              <a:xfrm>
                <a:off x="1323351" y="861428"/>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1</a:t>
                </a:r>
                <a:endParaRPr lang="en-US" altLang="zh-CN" sz="1600" b="1" dirty="0">
                  <a:latin typeface="微软雅黑" panose="020B0503020204020204" pitchFamily="34" charset="-122"/>
                  <a:ea typeface="微软雅黑" panose="020B0503020204020204" pitchFamily="34" charset="-122"/>
                </a:endParaRPr>
              </a:p>
            </p:txBody>
          </p:sp>
          <p:sp>
            <p:nvSpPr>
              <p:cNvPr id="118" name="Text Box 37"/>
              <p:cNvSpPr txBox="1">
                <a:spLocks noChangeArrowheads="1"/>
              </p:cNvSpPr>
              <p:nvPr/>
            </p:nvSpPr>
            <p:spPr bwMode="auto">
              <a:xfrm>
                <a:off x="6571928" y="2245549"/>
                <a:ext cx="57040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2 </a:t>
                </a:r>
              </a:p>
            </p:txBody>
          </p:sp>
          <p:sp>
            <p:nvSpPr>
              <p:cNvPr id="123" name="Text Box 98"/>
              <p:cNvSpPr txBox="1">
                <a:spLocks noChangeArrowheads="1"/>
              </p:cNvSpPr>
              <p:nvPr/>
            </p:nvSpPr>
            <p:spPr bwMode="auto">
              <a:xfrm>
                <a:off x="6138447" y="884729"/>
                <a:ext cx="15135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R</a:t>
                </a:r>
                <a:r>
                  <a:rPr lang="en-US" altLang="zh-CN" sz="1400" b="1" baseline="-25000" dirty="0">
                    <a:latin typeface="微软雅黑" panose="020B0503020204020204" pitchFamily="34" charset="-122"/>
                    <a:ea typeface="微软雅黑" panose="020B0503020204020204" pitchFamily="34" charset="-122"/>
                  </a:rPr>
                  <a:t>1</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的部分转发表</a:t>
                </a:r>
                <a:endParaRPr lang="zh-CN" altLang="en-US" sz="1400" b="1" baseline="-25000" dirty="0">
                  <a:latin typeface="微软雅黑" panose="020B0503020204020204" pitchFamily="34" charset="-122"/>
                  <a:ea typeface="微软雅黑" panose="020B0503020204020204" pitchFamily="34" charset="-122"/>
                </a:endParaRPr>
              </a:p>
            </p:txBody>
          </p:sp>
        </p:grpSp>
        <p:pic>
          <p:nvPicPr>
            <p:cNvPr id="128"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887487" y="315983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29"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922705" y="2689821"/>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30"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94672" y="150706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3" name="Text Box 155"/>
          <p:cNvSpPr txBox="1">
            <a:spLocks noChangeArrowheads="1"/>
          </p:cNvSpPr>
          <p:nvPr/>
        </p:nvSpPr>
        <p:spPr bwMode="auto">
          <a:xfrm>
            <a:off x="1196427" y="594101"/>
            <a:ext cx="6865200" cy="363176"/>
          </a:xfrm>
          <a:prstGeom prst="rect">
            <a:avLst/>
          </a:prstGeom>
          <a:solidFill>
            <a:srgbClr val="C00000"/>
          </a:solidFill>
          <a:ln w="9525">
            <a:noFill/>
            <a:miter lim="800000"/>
            <a:headEnd/>
            <a:tailEnd/>
          </a:ln>
          <a:effectLst/>
        </p:spPr>
        <p:txBody>
          <a:bodyPr wrap="square">
            <a:spAutoFit/>
          </a:bodyPr>
          <a:lstStyle>
            <a:defPPr>
              <a:defRPr lang="zh-CN"/>
            </a:defPPr>
            <a:lvl1pPr algn="ctr">
              <a:lnSpc>
                <a:spcPct val="110000"/>
              </a:lnSpc>
              <a:defRPr sz="1600" b="1">
                <a:solidFill>
                  <a:schemeClr val="bg1"/>
                </a:solidFill>
                <a:latin typeface="微软雅黑" pitchFamily="34" charset="-122"/>
                <a:ea typeface="微软雅黑" pitchFamily="34" charset="-122"/>
              </a:defRPr>
            </a:lvl1pPr>
          </a:lstStyle>
          <a:p>
            <a:r>
              <a:rPr lang="zh-CN" altLang="en-US" dirty="0"/>
              <a:t>路由器 </a:t>
            </a:r>
            <a:r>
              <a:rPr lang="en-US" altLang="zh-CN" dirty="0"/>
              <a:t>R</a:t>
            </a:r>
            <a:r>
              <a:rPr lang="en-US" altLang="zh-CN" baseline="-25000" dirty="0"/>
              <a:t>1</a:t>
            </a:r>
            <a:r>
              <a:rPr lang="en-US" altLang="zh-CN" dirty="0"/>
              <a:t> </a:t>
            </a:r>
            <a:r>
              <a:rPr lang="zh-CN" altLang="en-US" dirty="0"/>
              <a:t>收到分组后查找转发表。接着检查第 </a:t>
            </a:r>
            <a:r>
              <a:rPr lang="en-US" altLang="zh-CN" dirty="0"/>
              <a:t>2 </a:t>
            </a:r>
            <a:r>
              <a:rPr lang="zh-CN" altLang="en-US" dirty="0"/>
              <a:t>行。 </a:t>
            </a:r>
          </a:p>
        </p:txBody>
      </p:sp>
      <p:sp>
        <p:nvSpPr>
          <p:cNvPr id="66" name="AutoShape 63"/>
          <p:cNvSpPr>
            <a:spLocks noChangeArrowheads="1"/>
          </p:cNvSpPr>
          <p:nvPr/>
        </p:nvSpPr>
        <p:spPr bwMode="auto">
          <a:xfrm>
            <a:off x="5047835" y="1781707"/>
            <a:ext cx="547529" cy="143764"/>
          </a:xfrm>
          <a:prstGeom prst="rightArrow">
            <a:avLst>
              <a:gd name="adj1" fmla="val 50000"/>
              <a:gd name="adj2" fmla="val 66728"/>
            </a:avLst>
          </a:prstGeom>
          <a:solidFill>
            <a:srgbClr val="FFFF00"/>
          </a:solidFill>
          <a:ln w="12700">
            <a:solidFill>
              <a:schemeClr val="tx1"/>
            </a:solidFill>
            <a:miter lim="800000"/>
            <a:headEnd/>
            <a:tailEnd/>
          </a:ln>
          <a:effectLst/>
        </p:spPr>
        <p:txBody>
          <a:bodyPr wrap="none" anchor="ctr"/>
          <a:lstStyle/>
          <a:p>
            <a:endParaRPr lang="zh-CN" altLang="en-US">
              <a:solidFill>
                <a:srgbClr val="CC00CC"/>
              </a:solidFill>
            </a:endParaRPr>
          </a:p>
        </p:txBody>
      </p:sp>
      <p:sp>
        <p:nvSpPr>
          <p:cNvPr id="69" name="Text Box 38"/>
          <p:cNvSpPr txBox="1">
            <a:spLocks noChangeArrowheads="1"/>
          </p:cNvSpPr>
          <p:nvPr/>
        </p:nvSpPr>
        <p:spPr bwMode="auto">
          <a:xfrm>
            <a:off x="354487" y="2757515"/>
            <a:ext cx="160011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128.1.3.64/26</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89" name="Text Box 38"/>
          <p:cNvSpPr txBox="1">
            <a:spLocks noChangeArrowheads="1"/>
          </p:cNvSpPr>
          <p:nvPr/>
        </p:nvSpPr>
        <p:spPr bwMode="auto">
          <a:xfrm>
            <a:off x="908984" y="2489487"/>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3</a:t>
            </a:r>
          </a:p>
        </p:txBody>
      </p:sp>
      <p:sp>
        <p:nvSpPr>
          <p:cNvPr id="95" name="Text Box 9"/>
          <p:cNvSpPr txBox="1">
            <a:spLocks noChangeArrowheads="1"/>
          </p:cNvSpPr>
          <p:nvPr/>
        </p:nvSpPr>
        <p:spPr bwMode="auto">
          <a:xfrm>
            <a:off x="482255" y="1966596"/>
            <a:ext cx="1375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128.1.2.196</a:t>
            </a:r>
          </a:p>
        </p:txBody>
      </p:sp>
      <p:sp>
        <p:nvSpPr>
          <p:cNvPr id="121" name="Text Box 39"/>
          <p:cNvSpPr txBox="1">
            <a:spLocks noChangeArrowheads="1"/>
          </p:cNvSpPr>
          <p:nvPr/>
        </p:nvSpPr>
        <p:spPr bwMode="auto">
          <a:xfrm>
            <a:off x="401517" y="1674991"/>
            <a:ext cx="1012877" cy="338554"/>
          </a:xfrm>
          <a:prstGeom prst="rect">
            <a:avLst/>
          </a:prstGeom>
          <a:solidFill>
            <a:srgbClr val="00FFFF"/>
          </a:solidFill>
          <a:ln w="9525">
            <a:solidFill>
              <a:schemeClr val="tx1"/>
            </a:solidFill>
            <a:miter lim="800000"/>
            <a:headEnd/>
            <a:tailEnd/>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目的主机</a:t>
            </a:r>
            <a:endParaRPr lang="en-US" altLang="zh-CN" sz="1600" b="1" baseline="-25000"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61638965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66"/>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1" nodeType="afterEffect">
                                  <p:stCondLst>
                                    <p:cond delay="0"/>
                                  </p:stCondLst>
                                  <p:childTnLst>
                                    <p:anim calcmode="discrete" valueType="str">
                                      <p:cBhvr>
                                        <p:cTn id="9" dur="1000" fill="hold"/>
                                        <p:tgtEl>
                                          <p:spTgt spid="66"/>
                                        </p:tgtEl>
                                        <p:attrNameLst>
                                          <p:attrName>style.visibility</p:attrName>
                                        </p:attrNameLst>
                                      </p:cBhvr>
                                      <p:tavLst>
                                        <p:tav tm="0">
                                          <p:val>
                                            <p:strVal val="hidden"/>
                                          </p:val>
                                        </p:tav>
                                        <p:tav tm="50000">
                                          <p:val>
                                            <p:strVal val="visible"/>
                                          </p:val>
                                        </p:tav>
                                      </p:tavLst>
                                    </p:anim>
                                  </p:childTnLst>
                                </p:cTn>
                              </p:par>
                            </p:childTnLst>
                          </p:cTn>
                        </p:par>
                        <p:par>
                          <p:cTn id="10" fill="hold">
                            <p:stCondLst>
                              <p:cond delay="3000"/>
                            </p:stCondLst>
                            <p:childTnLst>
                              <p:par>
                                <p:cTn id="11" presetID="22" presetClass="entr" presetSubtype="1" fill="hold" grpId="0" nodeType="afterEffect">
                                  <p:stCondLst>
                                    <p:cond delay="0"/>
                                  </p:stCondLst>
                                  <p:childTnLst>
                                    <p:set>
                                      <p:cBhvr>
                                        <p:cTn id="12" dur="1" fill="hold">
                                          <p:stCondLst>
                                            <p:cond delay="0"/>
                                          </p:stCondLst>
                                        </p:cTn>
                                        <p:tgtEl>
                                          <p:spTgt spid="51"/>
                                        </p:tgtEl>
                                        <p:attrNameLst>
                                          <p:attrName>style.visibility</p:attrName>
                                        </p:attrNameLst>
                                      </p:cBhvr>
                                      <p:to>
                                        <p:strVal val="visible"/>
                                      </p:to>
                                    </p:set>
                                    <p:animEffect transition="in" filter="wipe(up)">
                                      <p:cBhvr>
                                        <p:cTn id="13"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66" grpId="0" animBg="1"/>
      <p:bldP spid="66" grpId="1" animBg="1"/>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 name="圆角矩形 66"/>
          <p:cNvSpPr/>
          <p:nvPr/>
        </p:nvSpPr>
        <p:spPr>
          <a:xfrm>
            <a:off x="344776" y="633725"/>
            <a:ext cx="8469440" cy="372914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aphicFrame>
        <p:nvGraphicFramePr>
          <p:cNvPr id="68" name="Group 125"/>
          <p:cNvGraphicFramePr>
            <a:graphicFrameLocks noGrp="1"/>
          </p:cNvGraphicFramePr>
          <p:nvPr>
            <p:extLst>
              <p:ext uri="{D42A27DB-BD31-4B8C-83A1-F6EECF244321}">
                <p14:modId xmlns:p14="http://schemas.microsoft.com/office/powerpoint/2010/main" val="2195445021"/>
              </p:ext>
            </p:extLst>
          </p:nvPr>
        </p:nvGraphicFramePr>
        <p:xfrm>
          <a:off x="5544358" y="1184245"/>
          <a:ext cx="2790174" cy="1076799"/>
        </p:xfrm>
        <a:graphic>
          <a:graphicData uri="http://schemas.openxmlformats.org/drawingml/2006/table">
            <a:tbl>
              <a:tblPr/>
              <a:tblGrid>
                <a:gridCol w="1543446">
                  <a:extLst>
                    <a:ext uri="{9D8B030D-6E8A-4147-A177-3AD203B41FA5}">
                      <a16:colId xmlns:a16="http://schemas.microsoft.com/office/drawing/2014/main" val="20000"/>
                    </a:ext>
                  </a:extLst>
                </a:gridCol>
                <a:gridCol w="1246728">
                  <a:extLst>
                    <a:ext uri="{9D8B030D-6E8A-4147-A177-3AD203B41FA5}">
                      <a16:colId xmlns:a16="http://schemas.microsoft.com/office/drawing/2014/main" val="20001"/>
                    </a:ext>
                  </a:extLst>
                </a:gridCol>
              </a:tblGrid>
              <a:tr h="286975">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前缀匹配</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下一跳</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789824">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128.1.3.64/26</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128.1.2.128/25</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128.1.2.192/26</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defRPr/>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R</a:t>
                      </a:r>
                      <a:r>
                        <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rPr>
                        <a:t>2</a:t>
                      </a: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endPar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endParaRP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0</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57" name="Line 66"/>
          <p:cNvSpPr>
            <a:spLocks noChangeShapeType="1"/>
          </p:cNvSpPr>
          <p:nvPr/>
        </p:nvSpPr>
        <p:spPr bwMode="auto">
          <a:xfrm>
            <a:off x="5637655" y="2168879"/>
            <a:ext cx="1362752"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0" name="椭圆 119"/>
          <p:cNvSpPr/>
          <p:nvPr/>
        </p:nvSpPr>
        <p:spPr bwMode="auto">
          <a:xfrm rot="20475920">
            <a:off x="1042029" y="910124"/>
            <a:ext cx="3351723" cy="1002368"/>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grpSp>
        <p:nvGrpSpPr>
          <p:cNvPr id="2" name="组合 1"/>
          <p:cNvGrpSpPr/>
          <p:nvPr/>
        </p:nvGrpSpPr>
        <p:grpSpPr>
          <a:xfrm>
            <a:off x="590769" y="824458"/>
            <a:ext cx="7068142" cy="3432748"/>
            <a:chOff x="590769" y="824458"/>
            <a:chExt cx="7068142" cy="3432748"/>
          </a:xfrm>
        </p:grpSpPr>
        <p:grpSp>
          <p:nvGrpSpPr>
            <p:cNvPr id="4" name="组合 68"/>
            <p:cNvGrpSpPr/>
            <p:nvPr/>
          </p:nvGrpSpPr>
          <p:grpSpPr>
            <a:xfrm>
              <a:off x="590769" y="824458"/>
              <a:ext cx="7068142" cy="3432748"/>
              <a:chOff x="590769" y="824458"/>
              <a:chExt cx="7068142" cy="3432748"/>
            </a:xfrm>
          </p:grpSpPr>
          <p:sp>
            <p:nvSpPr>
              <p:cNvPr id="70" name="直角三角形 69"/>
              <p:cNvSpPr/>
              <p:nvPr/>
            </p:nvSpPr>
            <p:spPr>
              <a:xfrm rot="16200000">
                <a:off x="4357107" y="1079129"/>
                <a:ext cx="1089992" cy="1274054"/>
              </a:xfrm>
              <a:prstGeom prst="rtTriangle">
                <a:avLst/>
              </a:prstGeom>
              <a:gradFill flip="none" rotWithShape="1">
                <a:gsLst>
                  <a:gs pos="0">
                    <a:schemeClr val="bg1">
                      <a:lumMod val="85000"/>
                      <a:shade val="30000"/>
                      <a:satMod val="115000"/>
                    </a:schemeClr>
                  </a:gs>
                  <a:gs pos="50000">
                    <a:schemeClr val="bg1">
                      <a:lumMod val="85000"/>
                      <a:shade val="67500"/>
                      <a:satMod val="115000"/>
                    </a:schemeClr>
                  </a:gs>
                  <a:gs pos="100000">
                    <a:schemeClr val="bg1">
                      <a:lumMod val="85000"/>
                      <a:shade val="100000"/>
                      <a:satMod val="115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椭圆 70"/>
              <p:cNvSpPr/>
              <p:nvPr/>
            </p:nvSpPr>
            <p:spPr bwMode="auto">
              <a:xfrm>
                <a:off x="3607791" y="2535299"/>
                <a:ext cx="3716460" cy="1197252"/>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72" name="椭圆 71"/>
              <p:cNvSpPr/>
              <p:nvPr/>
            </p:nvSpPr>
            <p:spPr bwMode="auto">
              <a:xfrm rot="16200000">
                <a:off x="883716" y="2425929"/>
                <a:ext cx="1925637" cy="1736917"/>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73" name="Text Box 20"/>
              <p:cNvSpPr txBox="1">
                <a:spLocks noChangeArrowheads="1"/>
              </p:cNvSpPr>
              <p:nvPr/>
            </p:nvSpPr>
            <p:spPr bwMode="auto">
              <a:xfrm>
                <a:off x="2456408" y="203983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128.1.2.194</a:t>
                </a:r>
              </a:p>
            </p:txBody>
          </p:sp>
          <p:sp>
            <p:nvSpPr>
              <p:cNvPr id="74" name="Text Box 25"/>
              <p:cNvSpPr txBox="1">
                <a:spLocks noChangeArrowheads="1"/>
              </p:cNvSpPr>
              <p:nvPr/>
            </p:nvSpPr>
            <p:spPr bwMode="auto">
              <a:xfrm>
                <a:off x="3732139" y="1824581"/>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75" name="Line 19"/>
              <p:cNvSpPr>
                <a:spLocks noChangeShapeType="1"/>
              </p:cNvSpPr>
              <p:nvPr/>
            </p:nvSpPr>
            <p:spPr bwMode="auto">
              <a:xfrm>
                <a:off x="2775735" y="1678638"/>
                <a:ext cx="1301162" cy="55733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76" name="Line 16"/>
              <p:cNvSpPr>
                <a:spLocks noChangeShapeType="1"/>
              </p:cNvSpPr>
              <p:nvPr/>
            </p:nvSpPr>
            <p:spPr bwMode="auto">
              <a:xfrm flipH="1">
                <a:off x="1638141" y="1656270"/>
                <a:ext cx="947995" cy="2530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77" name="Line 8"/>
              <p:cNvSpPr>
                <a:spLocks noChangeShapeType="1"/>
              </p:cNvSpPr>
              <p:nvPr/>
            </p:nvSpPr>
            <p:spPr bwMode="auto">
              <a:xfrm flipH="1">
                <a:off x="2658440" y="1101262"/>
                <a:ext cx="956029" cy="55360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78" name="Picture 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93961" y="824458"/>
                <a:ext cx="345456"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 name="Text Box 9"/>
              <p:cNvSpPr txBox="1">
                <a:spLocks noChangeArrowheads="1"/>
              </p:cNvSpPr>
              <p:nvPr/>
            </p:nvSpPr>
            <p:spPr bwMode="auto">
              <a:xfrm>
                <a:off x="2171247" y="91222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128.1.2.193</a:t>
                </a:r>
              </a:p>
            </p:txBody>
          </p:sp>
          <p:sp>
            <p:nvSpPr>
              <p:cNvPr id="81" name="Text Box 10"/>
              <p:cNvSpPr txBox="1">
                <a:spLocks noChangeArrowheads="1"/>
              </p:cNvSpPr>
              <p:nvPr/>
            </p:nvSpPr>
            <p:spPr bwMode="auto">
              <a:xfrm>
                <a:off x="590769" y="1099476"/>
                <a:ext cx="172675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128.1.2.192/26</a:t>
                </a:r>
              </a:p>
            </p:txBody>
          </p:sp>
          <p:sp>
            <p:nvSpPr>
              <p:cNvPr id="82" name="Line 45"/>
              <p:cNvSpPr>
                <a:spLocks noChangeShapeType="1"/>
              </p:cNvSpPr>
              <p:nvPr/>
            </p:nvSpPr>
            <p:spPr bwMode="auto">
              <a:xfrm flipH="1" flipV="1">
                <a:off x="2294019" y="3312971"/>
                <a:ext cx="808348" cy="2236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3" name="Line 41"/>
              <p:cNvSpPr>
                <a:spLocks noChangeShapeType="1"/>
              </p:cNvSpPr>
              <p:nvPr/>
            </p:nvSpPr>
            <p:spPr bwMode="auto">
              <a:xfrm flipH="1">
                <a:off x="4263353" y="2793929"/>
                <a:ext cx="1332012" cy="433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4" name="Line 33"/>
              <p:cNvSpPr>
                <a:spLocks noChangeShapeType="1"/>
              </p:cNvSpPr>
              <p:nvPr/>
            </p:nvSpPr>
            <p:spPr bwMode="auto">
              <a:xfrm flipH="1">
                <a:off x="2051398" y="3354911"/>
                <a:ext cx="88372" cy="52285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5" name="Line 32"/>
              <p:cNvSpPr>
                <a:spLocks noChangeShapeType="1"/>
              </p:cNvSpPr>
              <p:nvPr/>
            </p:nvSpPr>
            <p:spPr bwMode="auto">
              <a:xfrm flipH="1">
                <a:off x="3297683" y="2900177"/>
                <a:ext cx="819453" cy="66964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6" name="Line 21"/>
              <p:cNvSpPr>
                <a:spLocks noChangeShapeType="1"/>
              </p:cNvSpPr>
              <p:nvPr/>
            </p:nvSpPr>
            <p:spPr bwMode="auto">
              <a:xfrm>
                <a:off x="4207116" y="2371732"/>
                <a:ext cx="1607" cy="4627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87" name="Picture 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74653" y="3753341"/>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1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19621" y="1719179"/>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18"/>
              <p:cNvGrpSpPr>
                <a:grpSpLocks/>
              </p:cNvGrpSpPr>
              <p:nvPr/>
            </p:nvGrpSpPr>
            <p:grpSpPr bwMode="auto">
              <a:xfrm>
                <a:off x="3943605" y="2125684"/>
                <a:ext cx="531842" cy="303367"/>
                <a:chOff x="864" y="1824"/>
                <a:chExt cx="432" cy="288"/>
              </a:xfrm>
            </p:grpSpPr>
            <p:pic>
              <p:nvPicPr>
                <p:cNvPr id="126"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27" name="Picture 1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pic>
            <p:nvPicPr>
              <p:cNvPr id="90" name="Picture 1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02173" y="2589821"/>
                <a:ext cx="345456"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Text Box 22"/>
              <p:cNvSpPr txBox="1">
                <a:spLocks noChangeArrowheads="1"/>
              </p:cNvSpPr>
              <p:nvPr/>
            </p:nvSpPr>
            <p:spPr bwMode="auto">
              <a:xfrm>
                <a:off x="2853215" y="2404897"/>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128.1.2.130</a:t>
                </a:r>
              </a:p>
            </p:txBody>
          </p:sp>
          <p:sp>
            <p:nvSpPr>
              <p:cNvPr id="92" name="Text Box 24"/>
              <p:cNvSpPr txBox="1">
                <a:spLocks noChangeArrowheads="1"/>
              </p:cNvSpPr>
              <p:nvPr/>
            </p:nvSpPr>
            <p:spPr bwMode="auto">
              <a:xfrm>
                <a:off x="4108734" y="1835693"/>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1</a:t>
                </a:r>
              </a:p>
            </p:txBody>
          </p:sp>
          <p:sp>
            <p:nvSpPr>
              <p:cNvPr id="93" name="Text Box 26"/>
              <p:cNvSpPr txBox="1">
                <a:spLocks noChangeArrowheads="1"/>
              </p:cNvSpPr>
              <p:nvPr/>
            </p:nvSpPr>
            <p:spPr bwMode="auto">
              <a:xfrm>
                <a:off x="4178194" y="2368936"/>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1</a:t>
                </a:r>
                <a:endParaRPr lang="en-US" altLang="zh-CN" sz="1600" b="1" baseline="-25000">
                  <a:latin typeface="微软雅黑" panose="020B0503020204020204" pitchFamily="34" charset="-122"/>
                  <a:ea typeface="微软雅黑" panose="020B0503020204020204" pitchFamily="34" charset="-122"/>
                </a:endParaRPr>
              </a:p>
            </p:txBody>
          </p:sp>
          <p:sp>
            <p:nvSpPr>
              <p:cNvPr id="94" name="Line 27"/>
              <p:cNvSpPr>
                <a:spLocks noChangeShapeType="1"/>
              </p:cNvSpPr>
              <p:nvPr/>
            </p:nvSpPr>
            <p:spPr bwMode="auto">
              <a:xfrm>
                <a:off x="4263353" y="2837267"/>
                <a:ext cx="1307911" cy="4627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6" name="Group 28"/>
              <p:cNvGrpSpPr>
                <a:grpSpLocks/>
              </p:cNvGrpSpPr>
              <p:nvPr/>
            </p:nvGrpSpPr>
            <p:grpSpPr bwMode="auto">
              <a:xfrm>
                <a:off x="3032567" y="3427224"/>
                <a:ext cx="531841" cy="303366"/>
                <a:chOff x="864" y="1824"/>
                <a:chExt cx="432" cy="288"/>
              </a:xfrm>
            </p:grpSpPr>
            <p:pic>
              <p:nvPicPr>
                <p:cNvPr id="124" name="Picture 2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25" name="Picture 3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96" name="Text Box 31"/>
              <p:cNvSpPr txBox="1">
                <a:spLocks noChangeArrowheads="1"/>
              </p:cNvSpPr>
              <p:nvPr/>
            </p:nvSpPr>
            <p:spPr bwMode="auto">
              <a:xfrm>
                <a:off x="3511384" y="3483144"/>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2</a:t>
                </a:r>
              </a:p>
            </p:txBody>
          </p:sp>
          <p:sp>
            <p:nvSpPr>
              <p:cNvPr id="97" name="Line 35"/>
              <p:cNvSpPr>
                <a:spLocks noChangeShapeType="1"/>
              </p:cNvSpPr>
              <p:nvPr/>
            </p:nvSpPr>
            <p:spPr bwMode="auto">
              <a:xfrm flipH="1">
                <a:off x="2147804" y="2732799"/>
                <a:ext cx="36955" cy="58017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98" name="Picture 1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39129" y="3034385"/>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Text Box 37"/>
              <p:cNvSpPr txBox="1">
                <a:spLocks noChangeArrowheads="1"/>
              </p:cNvSpPr>
              <p:nvPr/>
            </p:nvSpPr>
            <p:spPr bwMode="auto">
              <a:xfrm>
                <a:off x="5909138" y="2500740"/>
                <a:ext cx="174977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128.1.2.128/25</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101" name="Text Box 40"/>
              <p:cNvSpPr txBox="1">
                <a:spLocks noChangeArrowheads="1"/>
              </p:cNvSpPr>
              <p:nvPr/>
            </p:nvSpPr>
            <p:spPr bwMode="auto">
              <a:xfrm>
                <a:off x="4856211" y="334497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128.1.2.132</a:t>
                </a:r>
              </a:p>
            </p:txBody>
          </p:sp>
          <p:sp>
            <p:nvSpPr>
              <p:cNvPr id="102" name="Text Box 42"/>
              <p:cNvSpPr txBox="1">
                <a:spLocks noChangeArrowheads="1"/>
              </p:cNvSpPr>
              <p:nvPr/>
            </p:nvSpPr>
            <p:spPr bwMode="auto">
              <a:xfrm>
                <a:off x="3269292" y="313659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103" name="Text Box 43"/>
              <p:cNvSpPr txBox="1">
                <a:spLocks noChangeArrowheads="1"/>
              </p:cNvSpPr>
              <p:nvPr/>
            </p:nvSpPr>
            <p:spPr bwMode="auto">
              <a:xfrm>
                <a:off x="2804933" y="315647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a:t>
                </a:r>
                <a:endParaRPr lang="en-US" altLang="zh-CN" sz="1600" b="1" baseline="-25000" dirty="0">
                  <a:latin typeface="微软雅黑" panose="020B0503020204020204" pitchFamily="34" charset="-122"/>
                  <a:ea typeface="微软雅黑" panose="020B0503020204020204" pitchFamily="34" charset="-122"/>
                </a:endParaRPr>
              </a:p>
            </p:txBody>
          </p:sp>
          <p:sp>
            <p:nvSpPr>
              <p:cNvPr id="104" name="Text Box 44"/>
              <p:cNvSpPr txBox="1">
                <a:spLocks noChangeArrowheads="1"/>
              </p:cNvSpPr>
              <p:nvPr/>
            </p:nvSpPr>
            <p:spPr bwMode="auto">
              <a:xfrm>
                <a:off x="3533879" y="321752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128.1.2.131</a:t>
                </a:r>
              </a:p>
            </p:txBody>
          </p:sp>
          <p:pic>
            <p:nvPicPr>
              <p:cNvPr id="105" name="Picture 3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19263" y="2489547"/>
                <a:ext cx="347062"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Text Box 46"/>
              <p:cNvSpPr txBox="1">
                <a:spLocks noChangeArrowheads="1"/>
              </p:cNvSpPr>
              <p:nvPr/>
            </p:nvSpPr>
            <p:spPr bwMode="auto">
              <a:xfrm>
                <a:off x="1508068" y="3842425"/>
                <a:ext cx="44325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3</a:t>
                </a:r>
              </a:p>
            </p:txBody>
          </p:sp>
          <p:sp>
            <p:nvSpPr>
              <p:cNvPr id="107" name="Text Box 48"/>
              <p:cNvSpPr txBox="1">
                <a:spLocks noChangeArrowheads="1"/>
              </p:cNvSpPr>
              <p:nvPr/>
            </p:nvSpPr>
            <p:spPr bwMode="auto">
              <a:xfrm>
                <a:off x="2285477" y="3692457"/>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128.1.3.65</a:t>
                </a:r>
              </a:p>
            </p:txBody>
          </p:sp>
          <p:sp>
            <p:nvSpPr>
              <p:cNvPr id="109" name="Text Box 47"/>
              <p:cNvSpPr txBox="1">
                <a:spLocks noChangeArrowheads="1"/>
              </p:cNvSpPr>
              <p:nvPr/>
            </p:nvSpPr>
            <p:spPr bwMode="auto">
              <a:xfrm>
                <a:off x="783205" y="3498904"/>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128.1.3.66</a:t>
                </a:r>
              </a:p>
            </p:txBody>
          </p:sp>
          <p:sp>
            <p:nvSpPr>
              <p:cNvPr id="110" name="椭圆 67"/>
              <p:cNvSpPr>
                <a:spLocks noChangeArrowheads="1"/>
              </p:cNvSpPr>
              <p:nvPr/>
            </p:nvSpPr>
            <p:spPr bwMode="auto">
              <a:xfrm>
                <a:off x="2872438" y="3447105"/>
                <a:ext cx="72305"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1" name="椭圆 68"/>
              <p:cNvSpPr>
                <a:spLocks noChangeArrowheads="1"/>
              </p:cNvSpPr>
              <p:nvPr/>
            </p:nvSpPr>
            <p:spPr bwMode="auto">
              <a:xfrm>
                <a:off x="5415407" y="3222106"/>
                <a:ext cx="73911"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2" name="椭圆 69"/>
              <p:cNvSpPr>
                <a:spLocks noChangeArrowheads="1"/>
              </p:cNvSpPr>
              <p:nvPr/>
            </p:nvSpPr>
            <p:spPr bwMode="auto">
              <a:xfrm>
                <a:off x="3540306" y="3316782"/>
                <a:ext cx="73911"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3" name="椭圆 70"/>
              <p:cNvSpPr>
                <a:spLocks noChangeArrowheads="1"/>
              </p:cNvSpPr>
              <p:nvPr/>
            </p:nvSpPr>
            <p:spPr bwMode="auto">
              <a:xfrm>
                <a:off x="2046577" y="3633113"/>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4" name="椭圆 71"/>
              <p:cNvSpPr>
                <a:spLocks noChangeArrowheads="1"/>
              </p:cNvSpPr>
              <p:nvPr/>
            </p:nvSpPr>
            <p:spPr bwMode="auto">
              <a:xfrm>
                <a:off x="4163733" y="2501747"/>
                <a:ext cx="73911"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5" name="椭圆 72"/>
              <p:cNvSpPr>
                <a:spLocks noChangeArrowheads="1"/>
              </p:cNvSpPr>
              <p:nvPr/>
            </p:nvSpPr>
            <p:spPr bwMode="auto">
              <a:xfrm>
                <a:off x="3792649" y="2084212"/>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6" name="椭圆 73"/>
              <p:cNvSpPr>
                <a:spLocks noChangeArrowheads="1"/>
              </p:cNvSpPr>
              <p:nvPr/>
            </p:nvSpPr>
            <p:spPr bwMode="auto">
              <a:xfrm>
                <a:off x="3418443" y="1171162"/>
                <a:ext cx="72304"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7" name="Text Box 10"/>
              <p:cNvSpPr txBox="1">
                <a:spLocks noChangeArrowheads="1"/>
              </p:cNvSpPr>
              <p:nvPr/>
            </p:nvSpPr>
            <p:spPr bwMode="auto">
              <a:xfrm>
                <a:off x="1323351" y="861428"/>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1</a:t>
                </a:r>
                <a:endParaRPr lang="en-US" altLang="zh-CN" sz="1600" b="1" dirty="0">
                  <a:latin typeface="微软雅黑" panose="020B0503020204020204" pitchFamily="34" charset="-122"/>
                  <a:ea typeface="微软雅黑" panose="020B0503020204020204" pitchFamily="34" charset="-122"/>
                </a:endParaRPr>
              </a:p>
            </p:txBody>
          </p:sp>
          <p:sp>
            <p:nvSpPr>
              <p:cNvPr id="118" name="Text Box 37"/>
              <p:cNvSpPr txBox="1">
                <a:spLocks noChangeArrowheads="1"/>
              </p:cNvSpPr>
              <p:nvPr/>
            </p:nvSpPr>
            <p:spPr bwMode="auto">
              <a:xfrm>
                <a:off x="6571928" y="2245549"/>
                <a:ext cx="57040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2 </a:t>
                </a:r>
              </a:p>
            </p:txBody>
          </p:sp>
          <p:sp>
            <p:nvSpPr>
              <p:cNvPr id="123" name="Text Box 98"/>
              <p:cNvSpPr txBox="1">
                <a:spLocks noChangeArrowheads="1"/>
              </p:cNvSpPr>
              <p:nvPr/>
            </p:nvSpPr>
            <p:spPr bwMode="auto">
              <a:xfrm>
                <a:off x="6138447" y="884729"/>
                <a:ext cx="15135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R</a:t>
                </a:r>
                <a:r>
                  <a:rPr lang="en-US" altLang="zh-CN" sz="1400" b="1" baseline="-25000" dirty="0">
                    <a:latin typeface="微软雅黑" panose="020B0503020204020204" pitchFamily="34" charset="-122"/>
                    <a:ea typeface="微软雅黑" panose="020B0503020204020204" pitchFamily="34" charset="-122"/>
                  </a:rPr>
                  <a:t>1</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的部分转发表</a:t>
                </a:r>
                <a:endParaRPr lang="zh-CN" altLang="en-US" sz="1400" b="1" baseline="-25000" dirty="0">
                  <a:latin typeface="微软雅黑" panose="020B0503020204020204" pitchFamily="34" charset="-122"/>
                  <a:ea typeface="微软雅黑" panose="020B0503020204020204" pitchFamily="34" charset="-122"/>
                </a:endParaRPr>
              </a:p>
            </p:txBody>
          </p:sp>
        </p:grpSp>
        <p:pic>
          <p:nvPicPr>
            <p:cNvPr id="129"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887487" y="315983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30"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922705" y="2689821"/>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31"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94672" y="150706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66" name="AutoShape 63"/>
          <p:cNvSpPr>
            <a:spLocks noChangeArrowheads="1"/>
          </p:cNvSpPr>
          <p:nvPr/>
        </p:nvSpPr>
        <p:spPr bwMode="auto">
          <a:xfrm>
            <a:off x="5047836" y="2007953"/>
            <a:ext cx="547288" cy="142367"/>
          </a:xfrm>
          <a:prstGeom prst="rightArrow">
            <a:avLst>
              <a:gd name="adj1" fmla="val 50000"/>
              <a:gd name="adj2" fmla="val 66728"/>
            </a:avLst>
          </a:prstGeom>
          <a:solidFill>
            <a:srgbClr val="FFFF00"/>
          </a:solidFill>
          <a:ln w="12700">
            <a:solidFill>
              <a:schemeClr val="tx1"/>
            </a:solidFill>
            <a:miter lim="800000"/>
            <a:headEnd/>
            <a:tailEnd/>
          </a:ln>
          <a:effectLst/>
        </p:spPr>
        <p:txBody>
          <a:bodyPr wrap="none" anchor="ctr"/>
          <a:lstStyle/>
          <a:p>
            <a:endParaRPr lang="zh-CN" altLang="en-US">
              <a:solidFill>
                <a:srgbClr val="CC00CC"/>
              </a:solidFill>
            </a:endParaRPr>
          </a:p>
        </p:txBody>
      </p:sp>
      <p:sp>
        <p:nvSpPr>
          <p:cNvPr id="3" name="Text Box 155"/>
          <p:cNvSpPr txBox="1">
            <a:spLocks noChangeArrowheads="1"/>
          </p:cNvSpPr>
          <p:nvPr/>
        </p:nvSpPr>
        <p:spPr bwMode="auto">
          <a:xfrm>
            <a:off x="1196429" y="594101"/>
            <a:ext cx="6864206" cy="363176"/>
          </a:xfrm>
          <a:prstGeom prst="rect">
            <a:avLst/>
          </a:prstGeom>
          <a:solidFill>
            <a:srgbClr val="C00000"/>
          </a:solidFill>
          <a:ln w="9525">
            <a:noFill/>
            <a:miter lim="800000"/>
            <a:headEnd/>
            <a:tailEnd/>
          </a:ln>
          <a:effectLst/>
        </p:spPr>
        <p:txBody>
          <a:bodyPr wrap="square">
            <a:spAutoFit/>
          </a:bodyPr>
          <a:lstStyle>
            <a:defPPr>
              <a:defRPr lang="zh-CN"/>
            </a:defPPr>
            <a:lvl1pPr algn="ctr">
              <a:lnSpc>
                <a:spcPct val="110000"/>
              </a:lnSpc>
              <a:defRPr sz="1600" b="1">
                <a:solidFill>
                  <a:schemeClr val="bg1"/>
                </a:solidFill>
                <a:latin typeface="微软雅黑" pitchFamily="34" charset="-122"/>
                <a:ea typeface="微软雅黑" pitchFamily="34" charset="-122"/>
              </a:defRPr>
            </a:lvl1pPr>
          </a:lstStyle>
          <a:p>
            <a:r>
              <a:rPr lang="zh-CN" altLang="en-US" dirty="0"/>
              <a:t>路由器 </a:t>
            </a:r>
            <a:r>
              <a:rPr lang="en-US" altLang="zh-CN" dirty="0"/>
              <a:t>R</a:t>
            </a:r>
            <a:r>
              <a:rPr lang="en-US" altLang="zh-CN" baseline="-25000" dirty="0"/>
              <a:t>1</a:t>
            </a:r>
            <a:r>
              <a:rPr lang="en-US" altLang="zh-CN" dirty="0"/>
              <a:t> </a:t>
            </a:r>
            <a:r>
              <a:rPr lang="zh-CN" altLang="en-US" dirty="0"/>
              <a:t>收到分组后查找转发表。接着检查第 </a:t>
            </a:r>
            <a:r>
              <a:rPr lang="en-US" altLang="zh-CN" dirty="0"/>
              <a:t>3 </a:t>
            </a:r>
            <a:r>
              <a:rPr lang="zh-CN" altLang="en-US" dirty="0"/>
              <a:t>行。 </a:t>
            </a:r>
          </a:p>
        </p:txBody>
      </p:sp>
      <p:sp>
        <p:nvSpPr>
          <p:cNvPr id="121" name="Text Box 155"/>
          <p:cNvSpPr txBox="1">
            <a:spLocks noChangeArrowheads="1"/>
          </p:cNvSpPr>
          <p:nvPr/>
        </p:nvSpPr>
        <p:spPr bwMode="auto">
          <a:xfrm>
            <a:off x="1196428" y="4333600"/>
            <a:ext cx="6865199" cy="397032"/>
          </a:xfrm>
          <a:prstGeom prst="rect">
            <a:avLst/>
          </a:prstGeom>
          <a:solidFill>
            <a:srgbClr val="0070C0"/>
          </a:solidFill>
          <a:ln w="9525">
            <a:noFill/>
            <a:miter lim="800000"/>
            <a:headEnd/>
            <a:tailEnd/>
          </a:ln>
          <a:effectLst/>
        </p:spPr>
        <p:txBody>
          <a:bodyPr wrap="square">
            <a:spAutoFit/>
          </a:bodyPr>
          <a:lstStyle/>
          <a:p>
            <a:pPr algn="ctr">
              <a:lnSpc>
                <a:spcPct val="110000"/>
              </a:lnSpc>
            </a:pPr>
            <a:r>
              <a:rPr lang="en-US" altLang="zh-CN" b="1" dirty="0">
                <a:solidFill>
                  <a:srgbClr val="FFFF00"/>
                </a:solidFill>
                <a:latin typeface="微软雅黑" pitchFamily="34" charset="-122"/>
                <a:ea typeface="微软雅黑" pitchFamily="34" charset="-122"/>
              </a:rPr>
              <a:t>128.1.2.196 </a:t>
            </a:r>
            <a:r>
              <a:rPr lang="en-US" altLang="zh-CN" b="1" dirty="0">
                <a:solidFill>
                  <a:schemeClr val="accent6"/>
                </a:solidFill>
                <a:latin typeface="微软雅黑" pitchFamily="34" charset="-122"/>
                <a:ea typeface="微软雅黑" pitchFamily="34" charset="-122"/>
              </a:rPr>
              <a:t>AND</a:t>
            </a:r>
            <a:r>
              <a:rPr lang="en-US" altLang="zh-CN" b="1" dirty="0">
                <a:solidFill>
                  <a:schemeClr val="bg1"/>
                </a:solidFill>
                <a:latin typeface="微软雅黑" pitchFamily="34" charset="-122"/>
                <a:ea typeface="微软雅黑" pitchFamily="34" charset="-122"/>
              </a:rPr>
              <a:t> 255.255.255.192 = 128.1.2.192     </a:t>
            </a:r>
            <a:r>
              <a:rPr lang="zh-CN" altLang="en-US" b="1" dirty="0">
                <a:solidFill>
                  <a:srgbClr val="FFFF00"/>
                </a:solidFill>
                <a:latin typeface="微软雅黑" pitchFamily="34" charset="-122"/>
                <a:ea typeface="微软雅黑" pitchFamily="34" charset="-122"/>
              </a:rPr>
              <a:t>匹配</a:t>
            </a:r>
            <a:r>
              <a:rPr lang="en-US" altLang="zh-CN" b="1" dirty="0">
                <a:solidFill>
                  <a:srgbClr val="FFFF00"/>
                </a:solidFill>
                <a:latin typeface="微软雅黑" pitchFamily="34" charset="-122"/>
                <a:ea typeface="微软雅黑" pitchFamily="34" charset="-122"/>
              </a:rPr>
              <a:t>!</a:t>
            </a:r>
          </a:p>
        </p:txBody>
      </p:sp>
      <p:sp>
        <p:nvSpPr>
          <p:cNvPr id="69" name="Text Box 9"/>
          <p:cNvSpPr txBox="1">
            <a:spLocks noChangeArrowheads="1"/>
          </p:cNvSpPr>
          <p:nvPr/>
        </p:nvSpPr>
        <p:spPr bwMode="auto">
          <a:xfrm>
            <a:off x="482255" y="1966596"/>
            <a:ext cx="1375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128.1.2.196</a:t>
            </a:r>
          </a:p>
        </p:txBody>
      </p:sp>
      <p:sp>
        <p:nvSpPr>
          <p:cNvPr id="89" name="Text Box 39"/>
          <p:cNvSpPr txBox="1">
            <a:spLocks noChangeArrowheads="1"/>
          </p:cNvSpPr>
          <p:nvPr/>
        </p:nvSpPr>
        <p:spPr bwMode="auto">
          <a:xfrm>
            <a:off x="401517" y="1674991"/>
            <a:ext cx="1012877" cy="338554"/>
          </a:xfrm>
          <a:prstGeom prst="rect">
            <a:avLst/>
          </a:prstGeom>
          <a:solidFill>
            <a:srgbClr val="00FFFF"/>
          </a:solidFill>
          <a:ln w="9525">
            <a:solidFill>
              <a:schemeClr val="tx1"/>
            </a:solidFill>
            <a:miter lim="800000"/>
            <a:headEnd/>
            <a:tailEnd/>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目的主机</a:t>
            </a:r>
            <a:endParaRPr lang="en-US" altLang="zh-CN" sz="1600" b="1" baseline="-25000" dirty="0">
              <a:latin typeface="微软雅黑" panose="020B0503020204020204" pitchFamily="34" charset="-122"/>
              <a:ea typeface="微软雅黑" panose="020B0503020204020204" pitchFamily="34" charset="-122"/>
            </a:endParaRPr>
          </a:p>
        </p:txBody>
      </p:sp>
      <p:sp>
        <p:nvSpPr>
          <p:cNvPr id="95" name="Text Box 38"/>
          <p:cNvSpPr txBox="1">
            <a:spLocks noChangeArrowheads="1"/>
          </p:cNvSpPr>
          <p:nvPr/>
        </p:nvSpPr>
        <p:spPr bwMode="auto">
          <a:xfrm>
            <a:off x="354487" y="2757515"/>
            <a:ext cx="160011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128.1.3.64/26</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122" name="Text Box 38"/>
          <p:cNvSpPr txBox="1">
            <a:spLocks noChangeArrowheads="1"/>
          </p:cNvSpPr>
          <p:nvPr/>
        </p:nvSpPr>
        <p:spPr bwMode="auto">
          <a:xfrm>
            <a:off x="908984" y="2489487"/>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3</a:t>
            </a:r>
          </a:p>
        </p:txBody>
      </p:sp>
    </p:spTree>
    <p:extLst>
      <p:ext uri="{BB962C8B-B14F-4D97-AF65-F5344CB8AC3E}">
        <p14:creationId xmlns:p14="http://schemas.microsoft.com/office/powerpoint/2010/main" val="310640012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66"/>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1" nodeType="afterEffect">
                                  <p:stCondLst>
                                    <p:cond delay="0"/>
                                  </p:stCondLst>
                                  <p:childTnLst>
                                    <p:anim calcmode="discrete" valueType="str">
                                      <p:cBhvr>
                                        <p:cTn id="9" dur="1000" fill="hold"/>
                                        <p:tgtEl>
                                          <p:spTgt spid="66"/>
                                        </p:tgtEl>
                                        <p:attrNameLst>
                                          <p:attrName>style.visibility</p:attrName>
                                        </p:attrNameLst>
                                      </p:cBhvr>
                                      <p:tavLst>
                                        <p:tav tm="0">
                                          <p:val>
                                            <p:strVal val="hidden"/>
                                          </p:val>
                                        </p:tav>
                                        <p:tav tm="50000">
                                          <p:val>
                                            <p:strVal val="visible"/>
                                          </p:val>
                                        </p:tav>
                                      </p:tavLst>
                                    </p:anim>
                                  </p:childTnLst>
                                </p:cTn>
                              </p:par>
                            </p:childTnLst>
                          </p:cTn>
                        </p:par>
                        <p:par>
                          <p:cTn id="10" fill="hold">
                            <p:stCondLst>
                              <p:cond delay="3000"/>
                            </p:stCondLst>
                            <p:childTnLst>
                              <p:par>
                                <p:cTn id="11" presetID="22" presetClass="entr" presetSubtype="1" fill="hold" grpId="0" nodeType="afterEffect">
                                  <p:stCondLst>
                                    <p:cond delay="0"/>
                                  </p:stCondLst>
                                  <p:childTnLst>
                                    <p:set>
                                      <p:cBhvr>
                                        <p:cTn id="12" dur="1" fill="hold">
                                          <p:stCondLst>
                                            <p:cond delay="0"/>
                                          </p:stCondLst>
                                        </p:cTn>
                                        <p:tgtEl>
                                          <p:spTgt spid="121"/>
                                        </p:tgtEl>
                                        <p:attrNameLst>
                                          <p:attrName>style.visibility</p:attrName>
                                        </p:attrNameLst>
                                      </p:cBhvr>
                                      <p:to>
                                        <p:strVal val="visible"/>
                                      </p:to>
                                    </p:set>
                                    <p:animEffect transition="in" filter="wipe(up)">
                                      <p:cBhvr>
                                        <p:cTn id="13" dur="500"/>
                                        <p:tgtEl>
                                          <p:spTgt spid="1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animBg="1"/>
      <p:bldP spid="66" grpId="1" animBg="1"/>
      <p:bldP spid="121" grpId="0" animBg="1"/>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3" y="1039691"/>
            <a:ext cx="8053711" cy="5155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问题：</a:t>
            </a:r>
            <a:r>
              <a:rPr lang="en-US" altLang="zh-CN" sz="2000" b="1" dirty="0">
                <a:latin typeface="微软雅黑" pitchFamily="34" charset="-122"/>
                <a:ea typeface="微软雅黑" pitchFamily="34" charset="-122"/>
              </a:rPr>
              <a:t>R</a:t>
            </a:r>
            <a:r>
              <a:rPr lang="en-US" altLang="zh-CN" sz="2000" b="1" baseline="-25000" dirty="0">
                <a:latin typeface="微软雅黑" pitchFamily="34" charset="-122"/>
                <a:ea typeface="微软雅黑" pitchFamily="34" charset="-122"/>
              </a:rPr>
              <a:t>1</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从哪个接口向外转发分组？</a:t>
            </a:r>
            <a:endParaRPr lang="en-US" altLang="zh-CN" sz="2000" b="1" dirty="0">
              <a:latin typeface="微软雅黑" pitchFamily="34" charset="-122"/>
              <a:ea typeface="微软雅黑" pitchFamily="34" charset="-122"/>
            </a:endParaRPr>
          </a:p>
        </p:txBody>
      </p:sp>
      <p:sp>
        <p:nvSpPr>
          <p:cNvPr id="3" name="AutoShape 5"/>
          <p:cNvSpPr>
            <a:spLocks noChangeArrowheads="1"/>
          </p:cNvSpPr>
          <p:nvPr/>
        </p:nvSpPr>
        <p:spPr bwMode="auto">
          <a:xfrm>
            <a:off x="545144" y="61198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4" name="Rectangle 6"/>
          <p:cNvSpPr>
            <a:spLocks noChangeArrowheads="1"/>
          </p:cNvSpPr>
          <p:nvPr/>
        </p:nvSpPr>
        <p:spPr bwMode="auto">
          <a:xfrm>
            <a:off x="3093072" y="571120"/>
            <a:ext cx="295786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4.3.2  </a:t>
            </a:r>
            <a:r>
              <a:rPr lang="zh-CN" altLang="en-US" sz="2400" b="1" dirty="0">
                <a:solidFill>
                  <a:schemeClr val="bg1"/>
                </a:solidFill>
                <a:latin typeface="微软雅黑" pitchFamily="34" charset="-122"/>
                <a:ea typeface="微软雅黑" pitchFamily="34" charset="-122"/>
              </a:rPr>
              <a:t>最长前缀匹配</a:t>
            </a:r>
          </a:p>
        </p:txBody>
      </p:sp>
      <p:grpSp>
        <p:nvGrpSpPr>
          <p:cNvPr id="5" name="组合 5"/>
          <p:cNvGrpSpPr/>
          <p:nvPr/>
        </p:nvGrpSpPr>
        <p:grpSpPr>
          <a:xfrm>
            <a:off x="2177631" y="1710526"/>
            <a:ext cx="5247735" cy="1148300"/>
            <a:chOff x="1524000" y="1321631"/>
            <a:chExt cx="6096000" cy="1148300"/>
          </a:xfrm>
        </p:grpSpPr>
        <p:sp>
          <p:nvSpPr>
            <p:cNvPr id="7" name="任意多边形 6"/>
            <p:cNvSpPr/>
            <p:nvPr/>
          </p:nvSpPr>
          <p:spPr>
            <a:xfrm>
              <a:off x="1524000" y="1321631"/>
              <a:ext cx="6096000" cy="439946"/>
            </a:xfrm>
            <a:custGeom>
              <a:avLst/>
              <a:gdLst>
                <a:gd name="connsiteX0" fmla="*/ 0 w 6096000"/>
                <a:gd name="connsiteY0" fmla="*/ 87784 h 526696"/>
                <a:gd name="connsiteX1" fmla="*/ 87784 w 6096000"/>
                <a:gd name="connsiteY1" fmla="*/ 0 h 526696"/>
                <a:gd name="connsiteX2" fmla="*/ 6008216 w 6096000"/>
                <a:gd name="connsiteY2" fmla="*/ 0 h 526696"/>
                <a:gd name="connsiteX3" fmla="*/ 6096000 w 6096000"/>
                <a:gd name="connsiteY3" fmla="*/ 87784 h 526696"/>
                <a:gd name="connsiteX4" fmla="*/ 6096000 w 6096000"/>
                <a:gd name="connsiteY4" fmla="*/ 438912 h 526696"/>
                <a:gd name="connsiteX5" fmla="*/ 6008216 w 6096000"/>
                <a:gd name="connsiteY5" fmla="*/ 526696 h 526696"/>
                <a:gd name="connsiteX6" fmla="*/ 87784 w 6096000"/>
                <a:gd name="connsiteY6" fmla="*/ 526696 h 526696"/>
                <a:gd name="connsiteX7" fmla="*/ 0 w 6096000"/>
                <a:gd name="connsiteY7" fmla="*/ 438912 h 526696"/>
                <a:gd name="connsiteX8" fmla="*/ 0 w 6096000"/>
                <a:gd name="connsiteY8" fmla="*/ 87784 h 526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0" h="526696">
                  <a:moveTo>
                    <a:pt x="0" y="87784"/>
                  </a:moveTo>
                  <a:cubicBezTo>
                    <a:pt x="0" y="39302"/>
                    <a:pt x="39302" y="0"/>
                    <a:pt x="87784" y="0"/>
                  </a:cubicBezTo>
                  <a:lnTo>
                    <a:pt x="6008216" y="0"/>
                  </a:lnTo>
                  <a:cubicBezTo>
                    <a:pt x="6056698" y="0"/>
                    <a:pt x="6096000" y="39302"/>
                    <a:pt x="6096000" y="87784"/>
                  </a:cubicBezTo>
                  <a:lnTo>
                    <a:pt x="6096000" y="438912"/>
                  </a:lnTo>
                  <a:cubicBezTo>
                    <a:pt x="6096000" y="487394"/>
                    <a:pt x="6056698" y="526696"/>
                    <a:pt x="6008216" y="526696"/>
                  </a:cubicBezTo>
                  <a:lnTo>
                    <a:pt x="87784" y="526696"/>
                  </a:lnTo>
                  <a:cubicBezTo>
                    <a:pt x="39302" y="526696"/>
                    <a:pt x="0" y="487394"/>
                    <a:pt x="0" y="438912"/>
                  </a:cubicBezTo>
                  <a:lnTo>
                    <a:pt x="0" y="87784"/>
                  </a:lnTo>
                  <a:close/>
                </a:path>
              </a:pathLst>
            </a:custGeom>
            <a:solidFill>
              <a:srgbClr val="00B0F0"/>
            </a:solidFill>
          </p:spPr>
          <p:style>
            <a:lnRef idx="2">
              <a:schemeClr val="lt1">
                <a:hueOff val="0"/>
                <a:satOff val="0"/>
                <a:lumOff val="0"/>
                <a:alphaOff val="0"/>
              </a:schemeClr>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txBody>
            <a:bodyPr spcFirstLastPara="0" vert="horz" wrap="square" lIns="94291" tIns="94291" rIns="94291" bIns="94291" numCol="1" spcCol="1270" anchor="ctr" anchorCtr="0">
              <a:noAutofit/>
            </a:bodyPr>
            <a:lstStyle/>
            <a:p>
              <a:pPr lvl="0" defTabSz="800100">
                <a:spcBef>
                  <a:spcPct val="0"/>
                </a:spcBef>
                <a:spcAft>
                  <a:spcPct val="35000"/>
                </a:spcAft>
              </a:pPr>
              <a:r>
                <a:rPr lang="en-US" altLang="zh-CN" sz="1800" b="1" kern="1200" dirty="0">
                  <a:solidFill>
                    <a:schemeClr val="tx1"/>
                  </a:solidFill>
                  <a:latin typeface="微软雅黑" panose="020B0503020204020204" pitchFamily="34" charset="-122"/>
                  <a:ea typeface="微软雅黑" panose="020B0503020204020204" pitchFamily="34" charset="-122"/>
                </a:rPr>
                <a:t>A.  </a:t>
              </a:r>
              <a:r>
                <a:rPr lang="zh-CN" altLang="en-US" b="1" dirty="0">
                  <a:solidFill>
                    <a:schemeClr val="tx1"/>
                  </a:solidFill>
                  <a:latin typeface="微软雅黑" panose="020B0503020204020204" pitchFamily="34" charset="-122"/>
                  <a:ea typeface="微软雅黑" panose="020B0503020204020204" pitchFamily="34" charset="-122"/>
                </a:rPr>
                <a:t>接口 </a:t>
              </a:r>
              <a:r>
                <a:rPr lang="en-US" altLang="zh-CN" b="1" dirty="0">
                  <a:solidFill>
                    <a:schemeClr val="tx1"/>
                  </a:solidFill>
                  <a:latin typeface="微软雅黑" panose="020B0503020204020204" pitchFamily="34" charset="-122"/>
                  <a:ea typeface="微软雅黑" panose="020B0503020204020204" pitchFamily="34" charset="-122"/>
                </a:rPr>
                <a:t>0 </a:t>
              </a:r>
              <a:r>
                <a:rPr lang="zh-CN" altLang="en-US" b="1" dirty="0">
                  <a:solidFill>
                    <a:schemeClr val="tx1"/>
                  </a:solidFill>
                  <a:latin typeface="微软雅黑" panose="020B0503020204020204" pitchFamily="34" charset="-122"/>
                  <a:ea typeface="微软雅黑" panose="020B0503020204020204" pitchFamily="34" charset="-122"/>
                </a:rPr>
                <a:t>？</a:t>
              </a:r>
            </a:p>
          </p:txBody>
        </p:sp>
        <p:sp>
          <p:nvSpPr>
            <p:cNvPr id="8" name="任意多边形 7"/>
            <p:cNvSpPr/>
            <p:nvPr/>
          </p:nvSpPr>
          <p:spPr>
            <a:xfrm>
              <a:off x="1524000" y="2029985"/>
              <a:ext cx="6096000" cy="439946"/>
            </a:xfrm>
            <a:custGeom>
              <a:avLst/>
              <a:gdLst>
                <a:gd name="connsiteX0" fmla="*/ 0 w 6096000"/>
                <a:gd name="connsiteY0" fmla="*/ 87784 h 526696"/>
                <a:gd name="connsiteX1" fmla="*/ 87784 w 6096000"/>
                <a:gd name="connsiteY1" fmla="*/ 0 h 526696"/>
                <a:gd name="connsiteX2" fmla="*/ 6008216 w 6096000"/>
                <a:gd name="connsiteY2" fmla="*/ 0 h 526696"/>
                <a:gd name="connsiteX3" fmla="*/ 6096000 w 6096000"/>
                <a:gd name="connsiteY3" fmla="*/ 87784 h 526696"/>
                <a:gd name="connsiteX4" fmla="*/ 6096000 w 6096000"/>
                <a:gd name="connsiteY4" fmla="*/ 438912 h 526696"/>
                <a:gd name="connsiteX5" fmla="*/ 6008216 w 6096000"/>
                <a:gd name="connsiteY5" fmla="*/ 526696 h 526696"/>
                <a:gd name="connsiteX6" fmla="*/ 87784 w 6096000"/>
                <a:gd name="connsiteY6" fmla="*/ 526696 h 526696"/>
                <a:gd name="connsiteX7" fmla="*/ 0 w 6096000"/>
                <a:gd name="connsiteY7" fmla="*/ 438912 h 526696"/>
                <a:gd name="connsiteX8" fmla="*/ 0 w 6096000"/>
                <a:gd name="connsiteY8" fmla="*/ 87784 h 526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0" h="526696">
                  <a:moveTo>
                    <a:pt x="0" y="87784"/>
                  </a:moveTo>
                  <a:cubicBezTo>
                    <a:pt x="0" y="39302"/>
                    <a:pt x="39302" y="0"/>
                    <a:pt x="87784" y="0"/>
                  </a:cubicBezTo>
                  <a:lnTo>
                    <a:pt x="6008216" y="0"/>
                  </a:lnTo>
                  <a:cubicBezTo>
                    <a:pt x="6056698" y="0"/>
                    <a:pt x="6096000" y="39302"/>
                    <a:pt x="6096000" y="87784"/>
                  </a:cubicBezTo>
                  <a:lnTo>
                    <a:pt x="6096000" y="438912"/>
                  </a:lnTo>
                  <a:cubicBezTo>
                    <a:pt x="6096000" y="487394"/>
                    <a:pt x="6056698" y="526696"/>
                    <a:pt x="6008216" y="526696"/>
                  </a:cubicBezTo>
                  <a:lnTo>
                    <a:pt x="87784" y="526696"/>
                  </a:lnTo>
                  <a:cubicBezTo>
                    <a:pt x="39302" y="526696"/>
                    <a:pt x="0" y="487394"/>
                    <a:pt x="0" y="438912"/>
                  </a:cubicBezTo>
                  <a:lnTo>
                    <a:pt x="0" y="87784"/>
                  </a:lnTo>
                  <a:close/>
                </a:path>
              </a:pathLst>
            </a:custGeom>
          </p:spPr>
          <p:style>
            <a:lnRef idx="2">
              <a:schemeClr val="lt1">
                <a:hueOff val="0"/>
                <a:satOff val="0"/>
                <a:lumOff val="0"/>
                <a:alphaOff val="0"/>
              </a:schemeClr>
            </a:lnRef>
            <a:fillRef idx="1">
              <a:schemeClr val="accent5">
                <a:hueOff val="-9933876"/>
                <a:satOff val="39811"/>
                <a:lumOff val="8628"/>
                <a:alphaOff val="0"/>
              </a:schemeClr>
            </a:fillRef>
            <a:effectRef idx="0">
              <a:schemeClr val="accent5">
                <a:hueOff val="-9933876"/>
                <a:satOff val="39811"/>
                <a:lumOff val="8628"/>
                <a:alphaOff val="0"/>
              </a:schemeClr>
            </a:effectRef>
            <a:fontRef idx="minor">
              <a:schemeClr val="lt1"/>
            </a:fontRef>
          </p:style>
          <p:txBody>
            <a:bodyPr spcFirstLastPara="0" vert="horz" wrap="square" lIns="94291" tIns="94291" rIns="94291" bIns="94291" numCol="1" spcCol="1270" anchor="ctr" anchorCtr="0">
              <a:noAutofit/>
            </a:bodyPr>
            <a:lstStyle/>
            <a:p>
              <a:pPr lvl="0" defTabSz="800100">
                <a:spcBef>
                  <a:spcPct val="0"/>
                </a:spcBef>
                <a:spcAft>
                  <a:spcPct val="35000"/>
                </a:spcAft>
              </a:pPr>
              <a:r>
                <a:rPr lang="en-US" altLang="zh-CN" sz="1800" b="1" kern="1200" dirty="0">
                  <a:solidFill>
                    <a:schemeClr val="tx1"/>
                  </a:solidFill>
                  <a:latin typeface="微软雅黑" panose="020B0503020204020204" pitchFamily="34" charset="-122"/>
                  <a:ea typeface="微软雅黑" panose="020B0503020204020204" pitchFamily="34" charset="-122"/>
                </a:rPr>
                <a:t>B.  </a:t>
              </a:r>
              <a:r>
                <a:rPr lang="zh-CN" altLang="en-US" b="1" dirty="0">
                  <a:solidFill>
                    <a:schemeClr val="tx1"/>
                  </a:solidFill>
                  <a:latin typeface="微软雅黑" panose="020B0503020204020204" pitchFamily="34" charset="-122"/>
                  <a:ea typeface="微软雅黑" panose="020B0503020204020204" pitchFamily="34" charset="-122"/>
                </a:rPr>
                <a:t>接口 </a:t>
              </a:r>
              <a:r>
                <a:rPr lang="en-US" altLang="zh-CN" b="1" dirty="0">
                  <a:solidFill>
                    <a:schemeClr val="tx1"/>
                  </a:solidFill>
                  <a:latin typeface="微软雅黑" panose="020B0503020204020204" pitchFamily="34" charset="-122"/>
                  <a:ea typeface="微软雅黑" panose="020B0503020204020204" pitchFamily="34" charset="-122"/>
                </a:rPr>
                <a:t>1 </a:t>
              </a:r>
              <a:r>
                <a:rPr lang="zh-CN" altLang="en-US" b="1" dirty="0">
                  <a:solidFill>
                    <a:schemeClr val="tx1"/>
                  </a:solidFill>
                  <a:latin typeface="微软雅黑" panose="020B0503020204020204" pitchFamily="34" charset="-122"/>
                  <a:ea typeface="微软雅黑" panose="020B0503020204020204" pitchFamily="34" charset="-122"/>
                </a:rPr>
                <a:t>？</a:t>
              </a:r>
            </a:p>
          </p:txBody>
        </p:sp>
      </p:grpSp>
      <p:sp>
        <p:nvSpPr>
          <p:cNvPr id="9" name="任意多边形 8"/>
          <p:cNvSpPr/>
          <p:nvPr/>
        </p:nvSpPr>
        <p:spPr>
          <a:xfrm>
            <a:off x="3777832" y="1710526"/>
            <a:ext cx="3298830" cy="439946"/>
          </a:xfrm>
          <a:custGeom>
            <a:avLst/>
            <a:gdLst>
              <a:gd name="connsiteX0" fmla="*/ 0 w 6096000"/>
              <a:gd name="connsiteY0" fmla="*/ 0 h 817235"/>
              <a:gd name="connsiteX1" fmla="*/ 6096000 w 6096000"/>
              <a:gd name="connsiteY1" fmla="*/ 0 h 817235"/>
              <a:gd name="connsiteX2" fmla="*/ 6096000 w 6096000"/>
              <a:gd name="connsiteY2" fmla="*/ 817235 h 817235"/>
              <a:gd name="connsiteX3" fmla="*/ 0 w 6096000"/>
              <a:gd name="connsiteY3" fmla="*/ 817235 h 817235"/>
              <a:gd name="connsiteX4" fmla="*/ 0 w 6096000"/>
              <a:gd name="connsiteY4" fmla="*/ 0 h 817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6000" h="817235">
                <a:moveTo>
                  <a:pt x="0" y="0"/>
                </a:moveTo>
                <a:lnTo>
                  <a:pt x="6096000" y="0"/>
                </a:lnTo>
                <a:lnTo>
                  <a:pt x="6096000" y="817235"/>
                </a:lnTo>
                <a:lnTo>
                  <a:pt x="0" y="817235"/>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193548" tIns="22860" rIns="128016" bIns="22860" numCol="1" spcCol="1270" anchor="ctr" anchorCtr="0">
            <a:noAutofit/>
          </a:bodyPr>
          <a:lstStyle/>
          <a:p>
            <a:pPr marL="0" lvl="1" defTabSz="800100">
              <a:spcBef>
                <a:spcPct val="0"/>
              </a:spcBef>
              <a:spcAft>
                <a:spcPts val="600"/>
              </a:spcAft>
            </a:pPr>
            <a:r>
              <a:rPr lang="zh-CN" altLang="en-US" b="1" dirty="0">
                <a:solidFill>
                  <a:srgbClr val="0000CC"/>
                </a:solidFill>
                <a:latin typeface="微软雅黑" pitchFamily="34" charset="-122"/>
                <a:ea typeface="微软雅黑" pitchFamily="34" charset="-122"/>
              </a:rPr>
              <a:t>匹配的前缀最长 </a:t>
            </a:r>
            <a:endParaRPr lang="en-US" altLang="zh-CN" b="1" dirty="0">
              <a:solidFill>
                <a:srgbClr val="0000CC"/>
              </a:solidFill>
              <a:latin typeface="微软雅黑" panose="020B0503020204020204" pitchFamily="34" charset="-122"/>
              <a:ea typeface="微软雅黑" panose="020B0503020204020204" pitchFamily="34" charset="-122"/>
            </a:endParaRPr>
          </a:p>
        </p:txBody>
      </p:sp>
      <p:grpSp>
        <p:nvGrpSpPr>
          <p:cNvPr id="6" name="组合 9"/>
          <p:cNvGrpSpPr/>
          <p:nvPr/>
        </p:nvGrpSpPr>
        <p:grpSpPr>
          <a:xfrm>
            <a:off x="1698355" y="1727583"/>
            <a:ext cx="432614" cy="1131243"/>
            <a:chOff x="1044723" y="1338688"/>
            <a:chExt cx="432614" cy="1131243"/>
          </a:xfrm>
        </p:grpSpPr>
        <p:pic>
          <p:nvPicPr>
            <p:cNvPr id="11" name="图片 1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44723" y="1338688"/>
              <a:ext cx="405830" cy="405832"/>
            </a:xfrm>
            <a:prstGeom prst="rect">
              <a:avLst/>
            </a:prstGeom>
          </p:spPr>
        </p:pic>
        <p:pic>
          <p:nvPicPr>
            <p:cNvPr id="12" name="图片 11"/>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44723" y="2029985"/>
              <a:ext cx="432614" cy="439946"/>
            </a:xfrm>
            <a:prstGeom prst="rect">
              <a:avLst/>
            </a:prstGeom>
          </p:spPr>
        </p:pic>
      </p:grpSp>
      <p:sp>
        <p:nvSpPr>
          <p:cNvPr id="10" name="矩形 9"/>
          <p:cNvSpPr/>
          <p:nvPr/>
        </p:nvSpPr>
        <p:spPr>
          <a:xfrm>
            <a:off x="1151066" y="3277849"/>
            <a:ext cx="6841863" cy="1052596"/>
          </a:xfrm>
          <a:prstGeom prst="rect">
            <a:avLst/>
          </a:prstGeom>
        </p:spPr>
        <p:txBody>
          <a:bodyPr wrap="square">
            <a:spAutoFit/>
          </a:bodyPr>
          <a:lstStyle/>
          <a:p>
            <a:pPr algn="ctr">
              <a:lnSpc>
                <a:spcPct val="130000"/>
              </a:lnSpc>
            </a:pPr>
            <a:r>
              <a:rPr lang="zh-CN" altLang="en-US" sz="2400" b="1" dirty="0">
                <a:solidFill>
                  <a:srgbClr val="CC0099"/>
                </a:solidFill>
                <a:latin typeface="微软雅黑" panose="020B0503020204020204" pitchFamily="34" charset="-122"/>
                <a:ea typeface="微软雅黑" panose="020B0503020204020204" pitchFamily="34" charset="-122"/>
              </a:rPr>
              <a:t>最长前缀匹配：</a:t>
            </a:r>
            <a:endParaRPr lang="en-US" altLang="zh-CN" sz="2400" b="1" dirty="0">
              <a:solidFill>
                <a:srgbClr val="CC0099"/>
              </a:solidFill>
              <a:latin typeface="微软雅黑" panose="020B0503020204020204" pitchFamily="34" charset="-122"/>
              <a:ea typeface="微软雅黑" panose="020B0503020204020204" pitchFamily="34" charset="-122"/>
            </a:endParaRPr>
          </a:p>
          <a:p>
            <a:pPr algn="ctr">
              <a:lnSpc>
                <a:spcPct val="130000"/>
              </a:lnSpc>
            </a:pPr>
            <a:r>
              <a:rPr lang="zh-CN" altLang="en-US" sz="2400" b="1" dirty="0">
                <a:latin typeface="微软雅黑" panose="020B0503020204020204" pitchFamily="34" charset="-122"/>
                <a:ea typeface="微软雅黑" panose="020B0503020204020204" pitchFamily="34" charset="-122"/>
              </a:rPr>
              <a:t>选择前缀最长的一个作为匹配的前缀</a:t>
            </a:r>
          </a:p>
        </p:txBody>
      </p:sp>
    </p:spTree>
    <p:extLst>
      <p:ext uri="{BB962C8B-B14F-4D97-AF65-F5344CB8AC3E}">
        <p14:creationId xmlns:p14="http://schemas.microsoft.com/office/powerpoint/2010/main" val="208522898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par>
                          <p:cTn id="11" fill="hold">
                            <p:stCondLst>
                              <p:cond delay="0"/>
                            </p:stCondLst>
                            <p:childTnLst>
                              <p:par>
                                <p:cTn id="12" presetID="10" presetClass="entr" presetSubtype="0" fill="hold" grpId="0"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fade">
                                      <p:cBhvr>
                                        <p:cTn id="14" dur="1000"/>
                                        <p:tgtEl>
                                          <p:spTgt spid="9"/>
                                        </p:tgtEl>
                                      </p:cBhvr>
                                    </p:animEffec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4" y="61198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4" name="Rectangle 6"/>
          <p:cNvSpPr>
            <a:spLocks noChangeArrowheads="1"/>
          </p:cNvSpPr>
          <p:nvPr/>
        </p:nvSpPr>
        <p:spPr bwMode="auto">
          <a:xfrm>
            <a:off x="3093072" y="571120"/>
            <a:ext cx="295786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4.3.2  </a:t>
            </a:r>
            <a:r>
              <a:rPr lang="zh-CN" altLang="en-US" sz="2400" b="1" dirty="0">
                <a:solidFill>
                  <a:schemeClr val="bg1"/>
                </a:solidFill>
                <a:latin typeface="微软雅黑" pitchFamily="34" charset="-122"/>
                <a:ea typeface="微软雅黑" pitchFamily="34" charset="-122"/>
              </a:rPr>
              <a:t>最长前缀匹配</a:t>
            </a:r>
          </a:p>
        </p:txBody>
      </p:sp>
      <p:grpSp>
        <p:nvGrpSpPr>
          <p:cNvPr id="5" name="组合 5"/>
          <p:cNvGrpSpPr/>
          <p:nvPr/>
        </p:nvGrpSpPr>
        <p:grpSpPr>
          <a:xfrm>
            <a:off x="1051877" y="1046121"/>
            <a:ext cx="7949612" cy="759182"/>
            <a:chOff x="515164" y="1143523"/>
            <a:chExt cx="7949612" cy="759182"/>
          </a:xfrm>
        </p:grpSpPr>
        <p:sp>
          <p:nvSpPr>
            <p:cNvPr id="20" name="矩形 19"/>
            <p:cNvSpPr/>
            <p:nvPr/>
          </p:nvSpPr>
          <p:spPr>
            <a:xfrm>
              <a:off x="3137152" y="1482161"/>
              <a:ext cx="4108334" cy="396647"/>
            </a:xfrm>
            <a:prstGeom prst="rect">
              <a:avLst/>
            </a:prstGeom>
            <a:solidFill>
              <a:schemeClr val="accent6">
                <a:lumMod val="60000"/>
                <a:lumOff val="4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21" name="TextBox 11"/>
            <p:cNvSpPr txBox="1"/>
            <p:nvPr/>
          </p:nvSpPr>
          <p:spPr>
            <a:xfrm>
              <a:off x="515164" y="1143523"/>
              <a:ext cx="7949612" cy="759182"/>
            </a:xfrm>
            <a:prstGeom prst="rect">
              <a:avLst/>
            </a:prstGeom>
            <a:noFill/>
          </p:spPr>
          <p:txBody>
            <a:bodyPr wrap="none" rtlCol="0">
              <a:spAutoFit/>
            </a:bodyPr>
            <a:lstStyle/>
            <a:p>
              <a:pPr>
                <a:lnSpc>
                  <a:spcPts val="2600"/>
                </a:lnSpc>
              </a:pPr>
              <a:r>
                <a:rPr lang="en-US" altLang="zh-CN" b="1" dirty="0">
                  <a:latin typeface="微软雅黑" panose="020B0503020204020204" pitchFamily="34" charset="-122"/>
                  <a:ea typeface="微软雅黑" panose="020B0503020204020204" pitchFamily="34" charset="-122"/>
                </a:rPr>
                <a:t>                                         128      .         1       .         2       .      196</a:t>
              </a:r>
            </a:p>
            <a:p>
              <a:pPr>
                <a:lnSpc>
                  <a:spcPts val="2600"/>
                </a:lnSpc>
              </a:pPr>
              <a:r>
                <a:rPr lang="zh-CN" altLang="en-US" b="1" dirty="0">
                  <a:solidFill>
                    <a:srgbClr val="C00000"/>
                  </a:solidFill>
                  <a:latin typeface="微软雅黑" panose="020B0503020204020204" pitchFamily="34" charset="-122"/>
                  <a:ea typeface="微软雅黑" panose="020B0503020204020204" pitchFamily="34" charset="-122"/>
                </a:rPr>
                <a:t>       目的主机 </a:t>
              </a:r>
              <a:r>
                <a:rPr lang="en-US" altLang="zh-CN" b="1" dirty="0">
                  <a:solidFill>
                    <a:srgbClr val="C00000"/>
                  </a:solidFill>
                  <a:latin typeface="微软雅黑" panose="020B0503020204020204" pitchFamily="34" charset="-122"/>
                  <a:ea typeface="微软雅黑" panose="020B0503020204020204" pitchFamily="34" charset="-122"/>
                </a:rPr>
                <a:t>IP </a:t>
              </a:r>
              <a:r>
                <a:rPr lang="zh-CN" altLang="en-US" b="1" dirty="0">
                  <a:solidFill>
                    <a:srgbClr val="C00000"/>
                  </a:solidFill>
                  <a:latin typeface="微软雅黑" panose="020B0503020204020204" pitchFamily="34" charset="-122"/>
                  <a:ea typeface="微软雅黑" panose="020B0503020204020204" pitchFamily="34" charset="-122"/>
                </a:rPr>
                <a:t>地址     </a:t>
              </a:r>
              <a:r>
                <a:rPr lang="en-US" altLang="zh-CN" b="1" dirty="0">
                  <a:latin typeface="微软雅黑" panose="020B0503020204020204" pitchFamily="34" charset="-122"/>
                  <a:ea typeface="微软雅黑" panose="020B0503020204020204" pitchFamily="34" charset="-122"/>
                </a:rPr>
                <a:t>10000000</a:t>
              </a:r>
              <a:r>
                <a:rPr lang="zh-CN" altLang="en-US" b="1" dirty="0">
                  <a:latin typeface="微软雅黑" panose="020B0503020204020204" pitchFamily="34" charset="-122"/>
                  <a:ea typeface="微软雅黑" panose="020B0503020204020204" pitchFamily="34" charset="-122"/>
                </a:rPr>
                <a:t>  </a:t>
              </a:r>
              <a:r>
                <a:rPr lang="en-US" altLang="zh-CN" b="1" dirty="0">
                  <a:latin typeface="微软雅黑" panose="020B0503020204020204" pitchFamily="34" charset="-122"/>
                  <a:ea typeface="微软雅黑" panose="020B0503020204020204" pitchFamily="34" charset="-122"/>
                </a:rPr>
                <a:t>00000001  00000010  11000100</a:t>
              </a:r>
              <a:r>
                <a:rPr lang="zh-CN" altLang="en-US" b="1" dirty="0">
                  <a:latin typeface="微软雅黑" panose="020B0503020204020204" pitchFamily="34" charset="-122"/>
                  <a:ea typeface="微软雅黑" panose="020B0503020204020204" pitchFamily="34" charset="-122"/>
                </a:rPr>
                <a:t>   </a:t>
              </a:r>
              <a:endParaRPr lang="en-US" altLang="zh-CN" b="1" dirty="0">
                <a:latin typeface="微软雅黑" panose="020B0503020204020204" pitchFamily="34" charset="-122"/>
                <a:ea typeface="微软雅黑" panose="020B0503020204020204" pitchFamily="34" charset="-122"/>
              </a:endParaRPr>
            </a:p>
          </p:txBody>
        </p:sp>
      </p:grpSp>
      <p:grpSp>
        <p:nvGrpSpPr>
          <p:cNvPr id="6" name="组合 7"/>
          <p:cNvGrpSpPr/>
          <p:nvPr/>
        </p:nvGrpSpPr>
        <p:grpSpPr>
          <a:xfrm>
            <a:off x="327990" y="1838207"/>
            <a:ext cx="8428383" cy="1644040"/>
            <a:chOff x="327990" y="2111474"/>
            <a:chExt cx="8428383" cy="1644040"/>
          </a:xfrm>
        </p:grpSpPr>
        <p:sp>
          <p:nvSpPr>
            <p:cNvPr id="13" name="矩形 12"/>
            <p:cNvSpPr/>
            <p:nvPr/>
          </p:nvSpPr>
          <p:spPr>
            <a:xfrm>
              <a:off x="3687561" y="3000368"/>
              <a:ext cx="3975510" cy="642825"/>
            </a:xfrm>
            <a:prstGeom prst="rect">
              <a:avLst/>
            </a:prstGeom>
            <a:solidFill>
              <a:srgbClr val="92D050"/>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p>
          </p:txBody>
        </p:sp>
        <p:sp>
          <p:nvSpPr>
            <p:cNvPr id="14" name="矩形 13"/>
            <p:cNvSpPr/>
            <p:nvPr/>
          </p:nvSpPr>
          <p:spPr>
            <a:xfrm>
              <a:off x="3691387" y="2177601"/>
              <a:ext cx="4110690" cy="642825"/>
            </a:xfrm>
            <a:prstGeom prst="rect">
              <a:avLst/>
            </a:prstGeom>
            <a:solidFill>
              <a:srgbClr val="92D050"/>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p>
          </p:txBody>
        </p:sp>
        <p:sp>
          <p:nvSpPr>
            <p:cNvPr id="15" name="TextBox 11"/>
            <p:cNvSpPr txBox="1"/>
            <p:nvPr/>
          </p:nvSpPr>
          <p:spPr>
            <a:xfrm>
              <a:off x="327990" y="2111474"/>
              <a:ext cx="8428383" cy="1644040"/>
            </a:xfrm>
            <a:prstGeom prst="rect">
              <a:avLst/>
            </a:prstGeom>
            <a:noFill/>
          </p:spPr>
          <p:txBody>
            <a:bodyPr wrap="square" rtlCol="0">
              <a:spAutoFit/>
            </a:bodyPr>
            <a:lstStyle/>
            <a:p>
              <a:pPr>
                <a:lnSpc>
                  <a:spcPts val="2800"/>
                </a:lnSpc>
              </a:pPr>
              <a:r>
                <a:rPr lang="en-US" altLang="zh-CN" b="1" dirty="0">
                  <a:latin typeface="微软雅黑" panose="020B0503020204020204" pitchFamily="34" charset="-122"/>
                  <a:ea typeface="微软雅黑" panose="020B0503020204020204" pitchFamily="34" charset="-122"/>
                </a:rPr>
                <a:t>128.1.2.192/26 </a:t>
              </a:r>
              <a:r>
                <a:rPr lang="zh-CN" altLang="en-US" b="1" dirty="0">
                  <a:latin typeface="微软雅黑" panose="020B0503020204020204" pitchFamily="34" charset="-122"/>
                  <a:ea typeface="微软雅黑" panose="020B0503020204020204" pitchFamily="34" charset="-122"/>
                </a:rPr>
                <a:t>的最小地址     </a:t>
              </a:r>
              <a:r>
                <a:rPr lang="en-US" altLang="zh-CN" b="1" dirty="0">
                  <a:latin typeface="微软雅黑" panose="020B0503020204020204" pitchFamily="34" charset="-122"/>
                  <a:ea typeface="微软雅黑" panose="020B0503020204020204" pitchFamily="34" charset="-122"/>
                </a:rPr>
                <a:t>10000000</a:t>
              </a:r>
              <a:r>
                <a:rPr lang="zh-CN" altLang="en-US" b="1" dirty="0">
                  <a:latin typeface="微软雅黑" panose="020B0503020204020204" pitchFamily="34" charset="-122"/>
                  <a:ea typeface="微软雅黑" panose="020B0503020204020204" pitchFamily="34" charset="-122"/>
                </a:rPr>
                <a:t>  </a:t>
              </a:r>
              <a:r>
                <a:rPr lang="en-US" altLang="zh-CN" b="1" dirty="0">
                  <a:latin typeface="微软雅黑" panose="020B0503020204020204" pitchFamily="34" charset="-122"/>
                  <a:ea typeface="微软雅黑" panose="020B0503020204020204" pitchFamily="34" charset="-122"/>
                </a:rPr>
                <a:t>00000001  00000010  11000000</a:t>
              </a:r>
              <a:r>
                <a:rPr lang="zh-CN" altLang="en-US" b="1" dirty="0">
                  <a:latin typeface="微软雅黑" panose="020B0503020204020204" pitchFamily="34" charset="-122"/>
                  <a:ea typeface="微软雅黑" panose="020B0503020204020204" pitchFamily="34" charset="-122"/>
                </a:rPr>
                <a:t>   </a:t>
              </a:r>
              <a:endParaRPr lang="en-US" altLang="zh-CN" b="1" dirty="0">
                <a:latin typeface="微软雅黑" panose="020B0503020204020204" pitchFamily="34" charset="-122"/>
                <a:ea typeface="微软雅黑" panose="020B0503020204020204" pitchFamily="34" charset="-122"/>
              </a:endParaRPr>
            </a:p>
            <a:p>
              <a:pPr>
                <a:lnSpc>
                  <a:spcPts val="2800"/>
                </a:lnSpc>
                <a:spcAft>
                  <a:spcPts val="900"/>
                </a:spcAft>
              </a:pPr>
              <a:r>
                <a:rPr lang="en-US" altLang="zh-CN" b="1" dirty="0">
                  <a:latin typeface="微软雅黑" panose="020B0503020204020204" pitchFamily="34" charset="-122"/>
                  <a:ea typeface="微软雅黑" panose="020B0503020204020204" pitchFamily="34" charset="-122"/>
                </a:rPr>
                <a:t>128.1.2.192/26</a:t>
              </a:r>
              <a:r>
                <a:rPr lang="en-US" altLang="zh-CN" b="1" baseline="-25000" dirty="0">
                  <a:latin typeface="微软雅黑" panose="020B0503020204020204" pitchFamily="34" charset="-122"/>
                  <a:ea typeface="微软雅黑" panose="020B0503020204020204" pitchFamily="34" charset="-122"/>
                </a:rPr>
                <a:t> </a:t>
              </a:r>
              <a:r>
                <a:rPr lang="zh-CN" altLang="en-US" b="1" dirty="0">
                  <a:latin typeface="微软雅黑" panose="020B0503020204020204" pitchFamily="34" charset="-122"/>
                  <a:ea typeface="微软雅黑" panose="020B0503020204020204" pitchFamily="34" charset="-122"/>
                </a:rPr>
                <a:t>的最大地址</a:t>
              </a:r>
              <a:r>
                <a:rPr lang="zh-CN" altLang="en-US" sz="900" b="1" dirty="0">
                  <a:latin typeface="微软雅黑" panose="020B0503020204020204" pitchFamily="34" charset="-122"/>
                  <a:ea typeface="微软雅黑" panose="020B0503020204020204" pitchFamily="34" charset="-122"/>
                </a:rPr>
                <a:t> </a:t>
              </a:r>
              <a:r>
                <a:rPr lang="zh-CN" altLang="en-US" b="1" dirty="0">
                  <a:latin typeface="微软雅黑" panose="020B0503020204020204" pitchFamily="34" charset="-122"/>
                  <a:ea typeface="微软雅黑" panose="020B0503020204020204" pitchFamily="34" charset="-122"/>
                </a:rPr>
                <a:t>     </a:t>
              </a:r>
              <a:r>
                <a:rPr lang="en-US" altLang="zh-CN" b="1" dirty="0">
                  <a:latin typeface="微软雅黑" panose="020B0503020204020204" pitchFamily="34" charset="-122"/>
                  <a:ea typeface="微软雅黑" panose="020B0503020204020204" pitchFamily="34" charset="-122"/>
                </a:rPr>
                <a:t>10000000</a:t>
              </a:r>
              <a:r>
                <a:rPr lang="zh-CN" altLang="en-US" b="1" dirty="0">
                  <a:latin typeface="微软雅黑" panose="020B0503020204020204" pitchFamily="34" charset="-122"/>
                  <a:ea typeface="微软雅黑" panose="020B0503020204020204" pitchFamily="34" charset="-122"/>
                </a:rPr>
                <a:t>  </a:t>
              </a:r>
              <a:r>
                <a:rPr lang="en-US" altLang="zh-CN" b="1" dirty="0">
                  <a:latin typeface="微软雅黑" panose="020B0503020204020204" pitchFamily="34" charset="-122"/>
                  <a:ea typeface="微软雅黑" panose="020B0503020204020204" pitchFamily="34" charset="-122"/>
                </a:rPr>
                <a:t>00000001  00000010  11111111</a:t>
              </a:r>
              <a:r>
                <a:rPr lang="zh-CN" altLang="en-US" b="1" dirty="0">
                  <a:latin typeface="微软雅黑" panose="020B0503020204020204" pitchFamily="34" charset="-122"/>
                  <a:ea typeface="微软雅黑" panose="020B0503020204020204" pitchFamily="34" charset="-122"/>
                </a:rPr>
                <a:t> </a:t>
              </a:r>
              <a:endParaRPr lang="en-US" altLang="zh-CN" b="1" dirty="0">
                <a:latin typeface="微软雅黑" panose="020B0503020204020204" pitchFamily="34" charset="-122"/>
                <a:ea typeface="微软雅黑" panose="020B0503020204020204" pitchFamily="34" charset="-122"/>
              </a:endParaRPr>
            </a:p>
            <a:p>
              <a:pPr>
                <a:lnSpc>
                  <a:spcPts val="2800"/>
                </a:lnSpc>
              </a:pPr>
              <a:r>
                <a:rPr lang="en-US" altLang="zh-CN" b="1" dirty="0">
                  <a:latin typeface="微软雅黑" panose="020B0503020204020204" pitchFamily="34" charset="-122"/>
                  <a:ea typeface="微软雅黑" panose="020B0503020204020204" pitchFamily="34" charset="-122"/>
                </a:rPr>
                <a:t>128.1.2.128/25 </a:t>
              </a:r>
              <a:r>
                <a:rPr lang="zh-CN" altLang="en-US" b="1" dirty="0">
                  <a:latin typeface="微软雅黑" panose="020B0503020204020204" pitchFamily="34" charset="-122"/>
                  <a:ea typeface="微软雅黑" panose="020B0503020204020204" pitchFamily="34" charset="-122"/>
                </a:rPr>
                <a:t>的最小地址</a:t>
              </a:r>
              <a:r>
                <a:rPr lang="zh-CN" altLang="en-US" sz="7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 </a:t>
              </a:r>
              <a:r>
                <a:rPr lang="zh-CN" altLang="en-US" b="1" dirty="0">
                  <a:latin typeface="微软雅黑" panose="020B0503020204020204" pitchFamily="34" charset="-122"/>
                  <a:ea typeface="微软雅黑" panose="020B0503020204020204" pitchFamily="34" charset="-122"/>
                </a:rPr>
                <a:t>    </a:t>
              </a:r>
              <a:r>
                <a:rPr lang="en-US" altLang="zh-CN" b="1" dirty="0">
                  <a:latin typeface="微软雅黑" panose="020B0503020204020204" pitchFamily="34" charset="-122"/>
                  <a:ea typeface="微软雅黑" panose="020B0503020204020204" pitchFamily="34" charset="-122"/>
                </a:rPr>
                <a:t>10000000  00000001  00000010  10000000</a:t>
              </a:r>
            </a:p>
            <a:p>
              <a:pPr>
                <a:lnSpc>
                  <a:spcPts val="2800"/>
                </a:lnSpc>
                <a:spcAft>
                  <a:spcPts val="900"/>
                </a:spcAft>
              </a:pPr>
              <a:r>
                <a:rPr lang="en-US" altLang="zh-CN" b="1" dirty="0">
                  <a:latin typeface="微软雅黑" panose="020B0503020204020204" pitchFamily="34" charset="-122"/>
                  <a:ea typeface="微软雅黑" panose="020B0503020204020204" pitchFamily="34" charset="-122"/>
                </a:rPr>
                <a:t>128.1.2.128/25 </a:t>
              </a:r>
              <a:r>
                <a:rPr lang="zh-CN" altLang="en-US" b="1" dirty="0">
                  <a:latin typeface="微软雅黑" panose="020B0503020204020204" pitchFamily="34" charset="-122"/>
                  <a:ea typeface="微软雅黑" panose="020B0503020204020204" pitchFamily="34" charset="-122"/>
                </a:rPr>
                <a:t>的最大地址</a:t>
              </a:r>
              <a:r>
                <a:rPr lang="zh-CN" altLang="en-US" sz="9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 </a:t>
              </a:r>
              <a:r>
                <a:rPr lang="zh-CN" altLang="en-US" b="1" dirty="0">
                  <a:latin typeface="微软雅黑" panose="020B0503020204020204" pitchFamily="34" charset="-122"/>
                  <a:ea typeface="微软雅黑" panose="020B0503020204020204" pitchFamily="34" charset="-122"/>
                </a:rPr>
                <a:t>    </a:t>
              </a:r>
              <a:r>
                <a:rPr lang="en-US" altLang="zh-CN" b="1" dirty="0">
                  <a:latin typeface="微软雅黑" panose="020B0503020204020204" pitchFamily="34" charset="-122"/>
                  <a:ea typeface="微软雅黑" panose="020B0503020204020204" pitchFamily="34" charset="-122"/>
                </a:rPr>
                <a:t>10000000  00000001  00000010  11111111</a:t>
              </a:r>
            </a:p>
          </p:txBody>
        </p:sp>
      </p:grpSp>
      <p:sp>
        <p:nvSpPr>
          <p:cNvPr id="2" name="矩形 1"/>
          <p:cNvSpPr/>
          <p:nvPr/>
        </p:nvSpPr>
        <p:spPr>
          <a:xfrm>
            <a:off x="871369" y="3989054"/>
            <a:ext cx="7282928" cy="461665"/>
          </a:xfrm>
          <a:prstGeom prst="rect">
            <a:avLst/>
          </a:prstGeom>
        </p:spPr>
        <p:style>
          <a:lnRef idx="1">
            <a:schemeClr val="accent6"/>
          </a:lnRef>
          <a:fillRef idx="2">
            <a:schemeClr val="accent6"/>
          </a:fillRef>
          <a:effectRef idx="1">
            <a:schemeClr val="accent6"/>
          </a:effectRef>
          <a:fontRef idx="minor">
            <a:schemeClr val="dk1"/>
          </a:fontRef>
        </p:style>
        <p:txBody>
          <a:bodyPr wrap="square">
            <a:spAutoFit/>
          </a:bodyPr>
          <a:lstStyle/>
          <a:p>
            <a:pPr algn="ctr"/>
            <a:r>
              <a:rPr lang="zh-CN" altLang="en-US" sz="2400" b="1" dirty="0">
                <a:latin typeface="微软雅黑" panose="020B0503020204020204" pitchFamily="34" charset="-122"/>
                <a:ea typeface="微软雅黑" panose="020B0503020204020204" pitchFamily="34" charset="-122"/>
              </a:rPr>
              <a:t>可以把前缀最长的排在转发表的第 </a:t>
            </a:r>
            <a:r>
              <a:rPr lang="en-US" altLang="zh-CN" sz="2400" b="1" dirty="0">
                <a:latin typeface="微软雅黑" panose="020B0503020204020204" pitchFamily="34" charset="-122"/>
                <a:ea typeface="微软雅黑" panose="020B0503020204020204" pitchFamily="34" charset="-122"/>
              </a:rPr>
              <a:t>1 </a:t>
            </a:r>
            <a:r>
              <a:rPr lang="zh-CN" altLang="en-US" sz="2400" b="1" dirty="0">
                <a:latin typeface="微软雅黑" panose="020B0503020204020204" pitchFamily="34" charset="-122"/>
                <a:ea typeface="微软雅黑" panose="020B0503020204020204" pitchFamily="34" charset="-122"/>
              </a:rPr>
              <a:t>行，以加快查表</a:t>
            </a:r>
          </a:p>
        </p:txBody>
      </p:sp>
      <p:sp>
        <p:nvSpPr>
          <p:cNvPr id="16" name="矩形 15"/>
          <p:cNvSpPr/>
          <p:nvPr/>
        </p:nvSpPr>
        <p:spPr>
          <a:xfrm>
            <a:off x="0" y="3469385"/>
            <a:ext cx="9144000" cy="461665"/>
          </a:xfrm>
          <a:prstGeom prst="rect">
            <a:avLst/>
          </a:prstGeom>
          <a:solidFill>
            <a:srgbClr val="92D050"/>
          </a:solidFill>
          <a:ln>
            <a:noFill/>
          </a:ln>
        </p:spPr>
        <p:style>
          <a:lnRef idx="1">
            <a:schemeClr val="accent5"/>
          </a:lnRef>
          <a:fillRef idx="2">
            <a:schemeClr val="accent5"/>
          </a:fillRef>
          <a:effectRef idx="1">
            <a:schemeClr val="accent5"/>
          </a:effectRef>
          <a:fontRef idx="minor">
            <a:schemeClr val="dk1"/>
          </a:fontRef>
        </p:style>
        <p:txBody>
          <a:bodyPr wrap="square">
            <a:spAutoFit/>
          </a:bodyPr>
          <a:lstStyle/>
          <a:p>
            <a:pPr algn="ctr"/>
            <a:r>
              <a:rPr lang="zh-CN" altLang="en-US" sz="2400" b="1" dirty="0">
                <a:latin typeface="微软雅黑" panose="020B0503020204020204" pitchFamily="34" charset="-122"/>
                <a:ea typeface="微软雅黑" panose="020B0503020204020204" pitchFamily="34" charset="-122"/>
              </a:rPr>
              <a:t>网络前缀越长，其地址块就越小，路由就越具体</a:t>
            </a:r>
            <a:r>
              <a:rPr lang="en-US" altLang="zh-CN" sz="2400" b="1" dirty="0">
                <a:latin typeface="微软雅黑" panose="020B0503020204020204" pitchFamily="34" charset="-122"/>
                <a:ea typeface="微软雅黑" panose="020B0503020204020204" pitchFamily="34" charset="-122"/>
              </a:rPr>
              <a:t>(more specific)</a:t>
            </a:r>
            <a:endParaRPr lang="zh-CN" altLang="en-US" sz="2400" b="1"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3892642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6" grpId="0" animBg="1"/>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56963" y="61421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8" name="Rectangle 6"/>
          <p:cNvSpPr>
            <a:spLocks noChangeArrowheads="1"/>
          </p:cNvSpPr>
          <p:nvPr/>
        </p:nvSpPr>
        <p:spPr bwMode="auto">
          <a:xfrm>
            <a:off x="2922084" y="581006"/>
            <a:ext cx="331853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转发表中的 </a:t>
            </a: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种特殊的路由</a:t>
            </a:r>
          </a:p>
        </p:txBody>
      </p:sp>
      <p:sp>
        <p:nvSpPr>
          <p:cNvPr id="5" name="Rectangle 68"/>
          <p:cNvSpPr>
            <a:spLocks noChangeArrowheads="1"/>
          </p:cNvSpPr>
          <p:nvPr/>
        </p:nvSpPr>
        <p:spPr bwMode="auto">
          <a:xfrm>
            <a:off x="556963" y="981522"/>
            <a:ext cx="8197744" cy="324704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主机路由 </a:t>
            </a:r>
            <a:r>
              <a:rPr lang="en-US" altLang="zh-CN" sz="2000" b="1" dirty="0">
                <a:solidFill>
                  <a:srgbClr val="C00000"/>
                </a:solidFill>
                <a:latin typeface="微软雅黑" pitchFamily="34" charset="-122"/>
                <a:ea typeface="微软雅黑" pitchFamily="34" charset="-122"/>
              </a:rPr>
              <a:t>(host route) </a:t>
            </a: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又叫做</a:t>
            </a:r>
            <a:r>
              <a:rPr lang="zh-CN" altLang="en-US" sz="2000" b="1" dirty="0">
                <a:solidFill>
                  <a:srgbClr val="0000FF"/>
                </a:solidFill>
                <a:latin typeface="微软雅黑" pitchFamily="34" charset="-122"/>
                <a:ea typeface="微软雅黑" pitchFamily="34" charset="-122"/>
              </a:rPr>
              <a:t>特定主机路由。</a:t>
            </a:r>
            <a:endParaRPr lang="en-US" altLang="zh-CN" sz="2000" b="1" dirty="0">
              <a:solidFill>
                <a:srgbClr val="0000FF"/>
              </a:solidFill>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是对特定目的主机的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地址专门指明的一个路由。</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网络前缀就是 </a:t>
            </a:r>
            <a:r>
              <a:rPr lang="en-US" altLang="zh-CN" sz="2000" b="1" dirty="0" err="1">
                <a:solidFill>
                  <a:srgbClr val="0000FF"/>
                </a:solidFill>
                <a:latin typeface="微软雅黑" pitchFamily="34" charset="-122"/>
                <a:ea typeface="微软雅黑" pitchFamily="34" charset="-122"/>
              </a:rPr>
              <a:t>a.b.c.d</a:t>
            </a:r>
            <a:r>
              <a:rPr lang="en-US" altLang="zh-CN" sz="2000" b="1" dirty="0">
                <a:solidFill>
                  <a:srgbClr val="0000FF"/>
                </a:solidFill>
                <a:latin typeface="微软雅黑" pitchFamily="34" charset="-122"/>
                <a:ea typeface="微软雅黑" pitchFamily="34" charset="-122"/>
              </a:rPr>
              <a:t>/32</a:t>
            </a: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放在转发表的</a:t>
            </a:r>
            <a:r>
              <a:rPr lang="zh-CN" altLang="en-US" sz="2000" b="1" dirty="0">
                <a:solidFill>
                  <a:srgbClr val="0000FF"/>
                </a:solidFill>
                <a:latin typeface="微软雅黑" pitchFamily="34" charset="-122"/>
                <a:ea typeface="微软雅黑" pitchFamily="34" charset="-122"/>
              </a:rPr>
              <a:t>最前面。</a:t>
            </a:r>
            <a:endParaRPr lang="en-US" altLang="zh-CN" sz="2000" b="1" dirty="0">
              <a:solidFill>
                <a:srgbClr val="0000FF"/>
              </a:solidFill>
              <a:latin typeface="微软雅黑" pitchFamily="34" charset="-122"/>
              <a:ea typeface="微软雅黑" pitchFamily="34" charset="-122"/>
            </a:endParaRPr>
          </a:p>
          <a:p>
            <a:pPr marL="268288" indent="-268288">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默认路由 </a:t>
            </a:r>
            <a:r>
              <a:rPr lang="en-US" altLang="zh-CN" sz="2000" b="1" dirty="0">
                <a:solidFill>
                  <a:srgbClr val="C00000"/>
                </a:solidFill>
                <a:latin typeface="微软雅黑" pitchFamily="34" charset="-122"/>
                <a:ea typeface="微软雅黑" pitchFamily="34" charset="-122"/>
              </a:rPr>
              <a:t>(default route)</a:t>
            </a: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不管分组的最终目的网络在哪里，都由指定的路由器 </a:t>
            </a:r>
            <a:r>
              <a:rPr lang="en-US" altLang="zh-CN" sz="2000" b="1" dirty="0">
                <a:latin typeface="微软雅黑" pitchFamily="34" charset="-122"/>
                <a:ea typeface="微软雅黑" pitchFamily="34" charset="-122"/>
              </a:rPr>
              <a:t>R </a:t>
            </a:r>
            <a:r>
              <a:rPr lang="zh-CN" altLang="en-US" sz="2000" b="1" dirty="0">
                <a:latin typeface="微软雅黑" pitchFamily="34" charset="-122"/>
                <a:ea typeface="微软雅黑" pitchFamily="34" charset="-122"/>
              </a:rPr>
              <a:t>来处理</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用特殊前缀 </a:t>
            </a:r>
            <a:r>
              <a:rPr lang="en-US" altLang="zh-CN" sz="2000" b="1" dirty="0">
                <a:solidFill>
                  <a:srgbClr val="0000FF"/>
                </a:solidFill>
                <a:latin typeface="微软雅黑" pitchFamily="34" charset="-122"/>
                <a:ea typeface="微软雅黑" pitchFamily="34" charset="-122"/>
              </a:rPr>
              <a:t>0.0.0.0/0</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表示。</a:t>
            </a:r>
            <a:endParaRPr lang="en-US" altLang="zh-CN" sz="2000" b="1" dirty="0">
              <a:latin typeface="微软雅黑" pitchFamily="34" charset="-122"/>
              <a:ea typeface="微软雅黑" pitchFamily="34" charset="-122"/>
            </a:endParaRPr>
          </a:p>
        </p:txBody>
      </p:sp>
    </p:spTree>
    <p:extLst>
      <p:ext uri="{BB962C8B-B14F-4D97-AF65-F5344CB8AC3E}">
        <p14:creationId xmlns:p14="http://schemas.microsoft.com/office/powerpoint/2010/main" val="197827444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2196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719575" y="588754"/>
            <a:ext cx="17235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默认路由举例</a:t>
            </a:r>
          </a:p>
        </p:txBody>
      </p:sp>
      <p:sp>
        <p:nvSpPr>
          <p:cNvPr id="7" name="圆角矩形 6"/>
          <p:cNvSpPr/>
          <p:nvPr/>
        </p:nvSpPr>
        <p:spPr>
          <a:xfrm>
            <a:off x="556963" y="1059553"/>
            <a:ext cx="8048776" cy="228147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9" name="Line 4"/>
          <p:cNvSpPr>
            <a:spLocks noChangeShapeType="1"/>
          </p:cNvSpPr>
          <p:nvPr/>
        </p:nvSpPr>
        <p:spPr bwMode="auto">
          <a:xfrm flipV="1">
            <a:off x="4975616" y="1432111"/>
            <a:ext cx="453405" cy="22610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0" name="Line 5"/>
          <p:cNvSpPr>
            <a:spLocks noChangeShapeType="1"/>
          </p:cNvSpPr>
          <p:nvPr/>
        </p:nvSpPr>
        <p:spPr bwMode="auto">
          <a:xfrm flipV="1">
            <a:off x="4652499" y="1714015"/>
            <a:ext cx="259536" cy="22610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1" name="Line 6"/>
          <p:cNvSpPr>
            <a:spLocks noChangeShapeType="1"/>
          </p:cNvSpPr>
          <p:nvPr/>
        </p:nvSpPr>
        <p:spPr bwMode="auto">
          <a:xfrm flipV="1">
            <a:off x="4858877" y="2084437"/>
            <a:ext cx="743167" cy="1347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2" name="Line 7"/>
          <p:cNvSpPr>
            <a:spLocks noChangeShapeType="1"/>
          </p:cNvSpPr>
          <p:nvPr/>
        </p:nvSpPr>
        <p:spPr bwMode="auto">
          <a:xfrm flipH="1">
            <a:off x="4006267" y="2165255"/>
            <a:ext cx="387739" cy="39543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3" name="Line 8"/>
          <p:cNvSpPr>
            <a:spLocks noChangeShapeType="1"/>
          </p:cNvSpPr>
          <p:nvPr/>
        </p:nvSpPr>
        <p:spPr bwMode="auto">
          <a:xfrm>
            <a:off x="4652500" y="2221059"/>
            <a:ext cx="193869" cy="39543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4" name="Line 9"/>
          <p:cNvSpPr>
            <a:spLocks noChangeShapeType="1"/>
          </p:cNvSpPr>
          <p:nvPr/>
        </p:nvSpPr>
        <p:spPr bwMode="auto">
          <a:xfrm flipV="1">
            <a:off x="3746733" y="2109452"/>
            <a:ext cx="518027" cy="5580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pic>
        <p:nvPicPr>
          <p:cNvPr id="75" name="Picture 2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105904" y="2029595"/>
            <a:ext cx="337709" cy="1693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6" name="Text Box 31"/>
          <p:cNvSpPr txBox="1">
            <a:spLocks noChangeArrowheads="1"/>
          </p:cNvSpPr>
          <p:nvPr/>
        </p:nvSpPr>
        <p:spPr bwMode="auto">
          <a:xfrm>
            <a:off x="5053940" y="1757267"/>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solidFill>
                  <a:srgbClr val="0000CC"/>
                </a:solidFill>
                <a:latin typeface="微软雅黑" pitchFamily="34" charset="-122"/>
                <a:ea typeface="微软雅黑" pitchFamily="34" charset="-122"/>
              </a:rPr>
              <a:t>R</a:t>
            </a:r>
            <a:r>
              <a:rPr lang="en-US" altLang="zh-CN" sz="1400" b="1" baseline="-25000">
                <a:solidFill>
                  <a:srgbClr val="0000CC"/>
                </a:solidFill>
                <a:latin typeface="微软雅黑" pitchFamily="34" charset="-122"/>
                <a:ea typeface="微软雅黑" pitchFamily="34" charset="-122"/>
              </a:rPr>
              <a:t>1</a:t>
            </a:r>
          </a:p>
        </p:txBody>
      </p:sp>
      <p:graphicFrame>
        <p:nvGraphicFramePr>
          <p:cNvPr id="77" name="Object 32"/>
          <p:cNvGraphicFramePr>
            <a:graphicFrameLocks noChangeAspect="1"/>
          </p:cNvGraphicFramePr>
          <p:nvPr>
            <p:extLst>
              <p:ext uri="{D42A27DB-BD31-4B8C-83A1-F6EECF244321}">
                <p14:modId xmlns:p14="http://schemas.microsoft.com/office/powerpoint/2010/main" val="563585180"/>
              </p:ext>
            </p:extLst>
          </p:nvPr>
        </p:nvGraphicFramePr>
        <p:xfrm>
          <a:off x="5558347" y="1629981"/>
          <a:ext cx="2004120" cy="1190156"/>
        </p:xfrm>
        <a:graphic>
          <a:graphicData uri="http://schemas.openxmlformats.org/presentationml/2006/ole">
            <mc:AlternateContent xmlns:mc="http://schemas.openxmlformats.org/markup-compatibility/2006">
              <mc:Choice xmlns:v="urn:schemas-microsoft-com:vml" Requires="v">
                <p:oleObj name="Visio" r:id="rId3" imgW="1689885" imgH="964337" progId="">
                  <p:embed/>
                </p:oleObj>
              </mc:Choice>
              <mc:Fallback>
                <p:oleObj name="Visio" r:id="rId3" imgW="1689885" imgH="964337" progId="">
                  <p:embed/>
                  <p:pic>
                    <p:nvPicPr>
                      <p:cNvPr id="0" name="Picture 39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558347" y="1629981"/>
                        <a:ext cx="2004120" cy="1190156"/>
                      </a:xfrm>
                      <a:prstGeom prst="rect">
                        <a:avLst/>
                      </a:prstGeom>
                      <a:noFill/>
                      <a:effectLst>
                        <a:outerShdw dist="25400" dir="5400000" algn="ctr" rotWithShape="0">
                          <a:schemeClr val="bg2"/>
                        </a:outerShdw>
                      </a:effectLst>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78" name="Text Box 33"/>
          <p:cNvSpPr txBox="1">
            <a:spLocks noChangeArrowheads="1"/>
          </p:cNvSpPr>
          <p:nvPr/>
        </p:nvSpPr>
        <p:spPr bwMode="auto">
          <a:xfrm>
            <a:off x="6169329" y="2020936"/>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b="1" dirty="0">
                <a:latin typeface="微软雅黑" pitchFamily="34" charset="-122"/>
                <a:ea typeface="微软雅黑" pitchFamily="34" charset="-122"/>
              </a:rPr>
              <a:t>互联网</a:t>
            </a:r>
            <a:endParaRPr lang="zh-CN" altLang="en-US" sz="1400" b="1" baseline="-25000" dirty="0">
              <a:latin typeface="微软雅黑" pitchFamily="34" charset="-122"/>
              <a:ea typeface="微软雅黑" pitchFamily="34" charset="-122"/>
            </a:endParaRPr>
          </a:p>
        </p:txBody>
      </p:sp>
      <p:sp>
        <p:nvSpPr>
          <p:cNvPr id="80" name="Text Box 40"/>
          <p:cNvSpPr txBox="1">
            <a:spLocks noChangeArrowheads="1"/>
          </p:cNvSpPr>
          <p:nvPr/>
        </p:nvSpPr>
        <p:spPr bwMode="auto">
          <a:xfrm>
            <a:off x="1860412" y="1405325"/>
            <a:ext cx="108234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b="1" dirty="0">
                <a:solidFill>
                  <a:srgbClr val="0000CC"/>
                </a:solidFill>
                <a:latin typeface="微软雅黑" pitchFamily="34" charset="-122"/>
                <a:ea typeface="微软雅黑" pitchFamily="34" charset="-122"/>
              </a:rPr>
              <a:t>主机路由表</a:t>
            </a:r>
            <a:endParaRPr lang="zh-CN" altLang="en-US" sz="1400" b="1" baseline="-25000" dirty="0">
              <a:solidFill>
                <a:srgbClr val="0000CC"/>
              </a:solidFill>
              <a:latin typeface="微软雅黑" pitchFamily="34" charset="-122"/>
              <a:ea typeface="微软雅黑" pitchFamily="34" charset="-122"/>
            </a:endParaRPr>
          </a:p>
        </p:txBody>
      </p:sp>
      <p:sp>
        <p:nvSpPr>
          <p:cNvPr id="81" name="Freeform 41"/>
          <p:cNvSpPr>
            <a:spLocks/>
          </p:cNvSpPr>
          <p:nvPr/>
        </p:nvSpPr>
        <p:spPr bwMode="auto">
          <a:xfrm>
            <a:off x="3255830" y="1685151"/>
            <a:ext cx="417942" cy="886123"/>
          </a:xfrm>
          <a:custGeom>
            <a:avLst/>
            <a:gdLst>
              <a:gd name="T0" fmla="*/ 4 w 368"/>
              <a:gd name="T1" fmla="*/ 0 h 524"/>
              <a:gd name="T2" fmla="*/ 368 w 368"/>
              <a:gd name="T3" fmla="*/ 256 h 524"/>
              <a:gd name="T4" fmla="*/ 367 w 368"/>
              <a:gd name="T5" fmla="*/ 277 h 524"/>
              <a:gd name="T6" fmla="*/ 0 w 368"/>
              <a:gd name="T7" fmla="*/ 524 h 524"/>
              <a:gd name="T8" fmla="*/ 4 w 368"/>
              <a:gd name="T9" fmla="*/ 0 h 524"/>
            </a:gdLst>
            <a:ahLst/>
            <a:cxnLst>
              <a:cxn ang="0">
                <a:pos x="T0" y="T1"/>
              </a:cxn>
              <a:cxn ang="0">
                <a:pos x="T2" y="T3"/>
              </a:cxn>
              <a:cxn ang="0">
                <a:pos x="T4" y="T5"/>
              </a:cxn>
              <a:cxn ang="0">
                <a:pos x="T6" y="T7"/>
              </a:cxn>
              <a:cxn ang="0">
                <a:pos x="T8" y="T9"/>
              </a:cxn>
            </a:cxnLst>
            <a:rect l="0" t="0" r="r" b="b"/>
            <a:pathLst>
              <a:path w="368" h="524">
                <a:moveTo>
                  <a:pt x="4" y="0"/>
                </a:moveTo>
                <a:lnTo>
                  <a:pt x="368" y="256"/>
                </a:lnTo>
                <a:lnTo>
                  <a:pt x="367" y="277"/>
                </a:lnTo>
                <a:lnTo>
                  <a:pt x="0" y="524"/>
                </a:lnTo>
                <a:lnTo>
                  <a:pt x="4" y="0"/>
                </a:lnTo>
                <a:close/>
              </a:path>
            </a:pathLst>
          </a:custGeom>
          <a:gradFill>
            <a:gsLst>
              <a:gs pos="0">
                <a:srgbClr val="00FFFF"/>
              </a:gs>
              <a:gs pos="100000">
                <a:srgbClr val="0000CC"/>
              </a:gs>
            </a:gsLst>
            <a:lin ang="0" scaled="0"/>
          </a:gradFill>
          <a:ln>
            <a:noFill/>
          </a:ln>
          <a:effectLst/>
        </p:spPr>
        <p:txBody>
          <a:bodyPr/>
          <a:lstStyle/>
          <a:p>
            <a:endParaRPr lang="zh-CN" altLang="en-US" sz="1400" b="1">
              <a:solidFill>
                <a:srgbClr val="0000CC"/>
              </a:solidFill>
              <a:latin typeface="微软雅黑" pitchFamily="34" charset="-122"/>
              <a:ea typeface="微软雅黑" pitchFamily="34" charset="-122"/>
            </a:endParaRPr>
          </a:p>
        </p:txBody>
      </p:sp>
      <p:grpSp>
        <p:nvGrpSpPr>
          <p:cNvPr id="84" name="Group 44"/>
          <p:cNvGrpSpPr>
            <a:grpSpLocks/>
          </p:cNvGrpSpPr>
          <p:nvPr/>
        </p:nvGrpSpPr>
        <p:grpSpPr bwMode="auto">
          <a:xfrm>
            <a:off x="5105904" y="1206973"/>
            <a:ext cx="717109" cy="425262"/>
            <a:chOff x="1776" y="2768"/>
            <a:chExt cx="1824" cy="736"/>
          </a:xfrm>
          <a:solidFill>
            <a:srgbClr val="00B0F0"/>
          </a:solidFill>
        </p:grpSpPr>
        <p:grpSp>
          <p:nvGrpSpPr>
            <p:cNvPr id="85" name="Group 45"/>
            <p:cNvGrpSpPr>
              <a:grpSpLocks/>
            </p:cNvGrpSpPr>
            <p:nvPr/>
          </p:nvGrpSpPr>
          <p:grpSpPr bwMode="auto">
            <a:xfrm>
              <a:off x="1787" y="2783"/>
              <a:ext cx="1813" cy="721"/>
              <a:chOff x="1787" y="2783"/>
              <a:chExt cx="1813" cy="721"/>
            </a:xfrm>
            <a:grpFill/>
          </p:grpSpPr>
          <p:sp>
            <p:nvSpPr>
              <p:cNvPr id="95" name="Oval 46"/>
              <p:cNvSpPr>
                <a:spLocks noChangeArrowheads="1"/>
              </p:cNvSpPr>
              <p:nvPr/>
            </p:nvSpPr>
            <p:spPr bwMode="auto">
              <a:xfrm>
                <a:off x="2413" y="2783"/>
                <a:ext cx="780" cy="29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6" name="Oval 47"/>
              <p:cNvSpPr>
                <a:spLocks noChangeArrowheads="1"/>
              </p:cNvSpPr>
              <p:nvPr/>
            </p:nvSpPr>
            <p:spPr bwMode="auto">
              <a:xfrm>
                <a:off x="1974" y="2863"/>
                <a:ext cx="593" cy="29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7" name="Oval 48"/>
              <p:cNvSpPr>
                <a:spLocks noChangeArrowheads="1"/>
              </p:cNvSpPr>
              <p:nvPr/>
            </p:nvSpPr>
            <p:spPr bwMode="auto">
              <a:xfrm>
                <a:off x="1787" y="3045"/>
                <a:ext cx="396" cy="23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8" name="Oval 49"/>
              <p:cNvSpPr>
                <a:spLocks noChangeArrowheads="1"/>
              </p:cNvSpPr>
              <p:nvPr/>
            </p:nvSpPr>
            <p:spPr bwMode="auto">
              <a:xfrm>
                <a:off x="1908" y="3154"/>
                <a:ext cx="604" cy="25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9" name="Oval 50"/>
              <p:cNvSpPr>
                <a:spLocks noChangeArrowheads="1"/>
              </p:cNvSpPr>
              <p:nvPr/>
            </p:nvSpPr>
            <p:spPr bwMode="auto">
              <a:xfrm>
                <a:off x="2347" y="3198"/>
                <a:ext cx="912" cy="30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00" name="Oval 51"/>
              <p:cNvSpPr>
                <a:spLocks noChangeArrowheads="1"/>
              </p:cNvSpPr>
              <p:nvPr/>
            </p:nvSpPr>
            <p:spPr bwMode="auto">
              <a:xfrm>
                <a:off x="2941" y="2870"/>
                <a:ext cx="571" cy="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01" name="Oval 52"/>
              <p:cNvSpPr>
                <a:spLocks noChangeArrowheads="1"/>
              </p:cNvSpPr>
              <p:nvPr/>
            </p:nvSpPr>
            <p:spPr bwMode="auto">
              <a:xfrm>
                <a:off x="3029" y="3023"/>
                <a:ext cx="571" cy="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02" name="Oval 53"/>
              <p:cNvSpPr>
                <a:spLocks noChangeArrowheads="1"/>
              </p:cNvSpPr>
              <p:nvPr/>
            </p:nvSpPr>
            <p:spPr bwMode="auto">
              <a:xfrm>
                <a:off x="2974" y="3074"/>
                <a:ext cx="571" cy="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03" name="Oval 54"/>
              <p:cNvSpPr>
                <a:spLocks noChangeArrowheads="1"/>
              </p:cNvSpPr>
              <p:nvPr/>
            </p:nvSpPr>
            <p:spPr bwMode="auto">
              <a:xfrm>
                <a:off x="2117" y="2957"/>
                <a:ext cx="1175" cy="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grpSp>
        <p:sp>
          <p:nvSpPr>
            <p:cNvPr id="86" name="Oval 55"/>
            <p:cNvSpPr>
              <a:spLocks noChangeArrowheads="1"/>
            </p:cNvSpPr>
            <p:nvPr/>
          </p:nvSpPr>
          <p:spPr bwMode="auto">
            <a:xfrm>
              <a:off x="2402" y="2768"/>
              <a:ext cx="780" cy="29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7" name="Oval 56"/>
            <p:cNvSpPr>
              <a:spLocks noChangeArrowheads="1"/>
            </p:cNvSpPr>
            <p:nvPr/>
          </p:nvSpPr>
          <p:spPr bwMode="auto">
            <a:xfrm>
              <a:off x="1963" y="2848"/>
              <a:ext cx="593" cy="29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8" name="Oval 57"/>
            <p:cNvSpPr>
              <a:spLocks noChangeArrowheads="1"/>
            </p:cNvSpPr>
            <p:nvPr/>
          </p:nvSpPr>
          <p:spPr bwMode="auto">
            <a:xfrm>
              <a:off x="1776" y="3030"/>
              <a:ext cx="396" cy="23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9" name="Oval 58"/>
            <p:cNvSpPr>
              <a:spLocks noChangeArrowheads="1"/>
            </p:cNvSpPr>
            <p:nvPr/>
          </p:nvSpPr>
          <p:spPr bwMode="auto">
            <a:xfrm>
              <a:off x="1897" y="3140"/>
              <a:ext cx="604" cy="25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0" name="Oval 59"/>
            <p:cNvSpPr>
              <a:spLocks noChangeArrowheads="1"/>
            </p:cNvSpPr>
            <p:nvPr/>
          </p:nvSpPr>
          <p:spPr bwMode="auto">
            <a:xfrm>
              <a:off x="2336" y="3183"/>
              <a:ext cx="912" cy="30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1" name="Oval 60"/>
            <p:cNvSpPr>
              <a:spLocks noChangeArrowheads="1"/>
            </p:cNvSpPr>
            <p:nvPr/>
          </p:nvSpPr>
          <p:spPr bwMode="auto">
            <a:xfrm>
              <a:off x="2930" y="2855"/>
              <a:ext cx="571" cy="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2" name="Oval 61"/>
            <p:cNvSpPr>
              <a:spLocks noChangeArrowheads="1"/>
            </p:cNvSpPr>
            <p:nvPr/>
          </p:nvSpPr>
          <p:spPr bwMode="auto">
            <a:xfrm>
              <a:off x="3018" y="3008"/>
              <a:ext cx="571" cy="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3" name="Oval 62"/>
            <p:cNvSpPr>
              <a:spLocks noChangeArrowheads="1"/>
            </p:cNvSpPr>
            <p:nvPr/>
          </p:nvSpPr>
          <p:spPr bwMode="auto">
            <a:xfrm>
              <a:off x="2963" y="3059"/>
              <a:ext cx="571" cy="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4" name="Oval 63"/>
            <p:cNvSpPr>
              <a:spLocks noChangeArrowheads="1"/>
            </p:cNvSpPr>
            <p:nvPr/>
          </p:nvSpPr>
          <p:spPr bwMode="auto">
            <a:xfrm>
              <a:off x="2106" y="2943"/>
              <a:ext cx="1175" cy="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grpSp>
      <p:sp>
        <p:nvSpPr>
          <p:cNvPr id="104" name="Text Box 64"/>
          <p:cNvSpPr txBox="1">
            <a:spLocks noChangeArrowheads="1"/>
          </p:cNvSpPr>
          <p:nvPr/>
        </p:nvSpPr>
        <p:spPr bwMode="auto">
          <a:xfrm>
            <a:off x="5292478" y="1261814"/>
            <a:ext cx="4106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N</a:t>
            </a:r>
            <a:r>
              <a:rPr lang="en-US" altLang="zh-CN" sz="1400" b="1" baseline="-25000">
                <a:latin typeface="微软雅黑" pitchFamily="34" charset="-122"/>
                <a:ea typeface="微软雅黑" pitchFamily="34" charset="-122"/>
              </a:rPr>
              <a:t>2</a:t>
            </a:r>
          </a:p>
        </p:txBody>
      </p:sp>
      <p:pic>
        <p:nvPicPr>
          <p:cNvPr id="105" name="Picture 6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781746" y="1602409"/>
            <a:ext cx="338751" cy="1683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06" name="Text Box 66"/>
          <p:cNvSpPr txBox="1">
            <a:spLocks noChangeArrowheads="1"/>
          </p:cNvSpPr>
          <p:nvPr/>
        </p:nvSpPr>
        <p:spPr bwMode="auto">
          <a:xfrm>
            <a:off x="4626442" y="1306028"/>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solidFill>
                  <a:srgbClr val="0000CC"/>
                </a:solidFill>
                <a:latin typeface="微软雅黑" pitchFamily="34" charset="-122"/>
                <a:ea typeface="微软雅黑" pitchFamily="34" charset="-122"/>
              </a:rPr>
              <a:t>R</a:t>
            </a:r>
            <a:r>
              <a:rPr lang="en-US" altLang="zh-CN" sz="1400" b="1" baseline="-25000" dirty="0">
                <a:solidFill>
                  <a:srgbClr val="0000CC"/>
                </a:solidFill>
                <a:latin typeface="微软雅黑" pitchFamily="34" charset="-122"/>
                <a:ea typeface="微软雅黑" pitchFamily="34" charset="-122"/>
              </a:rPr>
              <a:t>2</a:t>
            </a:r>
          </a:p>
        </p:txBody>
      </p:sp>
      <p:grpSp>
        <p:nvGrpSpPr>
          <p:cNvPr id="107" name="Group 44"/>
          <p:cNvGrpSpPr>
            <a:grpSpLocks/>
          </p:cNvGrpSpPr>
          <p:nvPr/>
        </p:nvGrpSpPr>
        <p:grpSpPr bwMode="auto">
          <a:xfrm>
            <a:off x="4085442" y="1773668"/>
            <a:ext cx="872414" cy="556337"/>
            <a:chOff x="1776" y="2768"/>
            <a:chExt cx="1824" cy="736"/>
          </a:xfrm>
          <a:solidFill>
            <a:srgbClr val="00B0F0"/>
          </a:solidFill>
        </p:grpSpPr>
        <p:grpSp>
          <p:nvGrpSpPr>
            <p:cNvPr id="108" name="Group 45"/>
            <p:cNvGrpSpPr>
              <a:grpSpLocks/>
            </p:cNvGrpSpPr>
            <p:nvPr/>
          </p:nvGrpSpPr>
          <p:grpSpPr bwMode="auto">
            <a:xfrm>
              <a:off x="1787" y="2783"/>
              <a:ext cx="1813" cy="721"/>
              <a:chOff x="1787" y="2783"/>
              <a:chExt cx="1813" cy="721"/>
            </a:xfrm>
            <a:grpFill/>
          </p:grpSpPr>
          <p:sp>
            <p:nvSpPr>
              <p:cNvPr id="118" name="Oval 46"/>
              <p:cNvSpPr>
                <a:spLocks noChangeArrowheads="1"/>
              </p:cNvSpPr>
              <p:nvPr/>
            </p:nvSpPr>
            <p:spPr bwMode="auto">
              <a:xfrm>
                <a:off x="2413" y="2783"/>
                <a:ext cx="780" cy="29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9" name="Oval 47"/>
              <p:cNvSpPr>
                <a:spLocks noChangeArrowheads="1"/>
              </p:cNvSpPr>
              <p:nvPr/>
            </p:nvSpPr>
            <p:spPr bwMode="auto">
              <a:xfrm>
                <a:off x="1974" y="2863"/>
                <a:ext cx="593" cy="29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0" name="Oval 48"/>
              <p:cNvSpPr>
                <a:spLocks noChangeArrowheads="1"/>
              </p:cNvSpPr>
              <p:nvPr/>
            </p:nvSpPr>
            <p:spPr bwMode="auto">
              <a:xfrm>
                <a:off x="1787" y="3045"/>
                <a:ext cx="396" cy="23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1" name="Oval 49"/>
              <p:cNvSpPr>
                <a:spLocks noChangeArrowheads="1"/>
              </p:cNvSpPr>
              <p:nvPr/>
            </p:nvSpPr>
            <p:spPr bwMode="auto">
              <a:xfrm>
                <a:off x="1908" y="3154"/>
                <a:ext cx="604" cy="25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2" name="Oval 50"/>
              <p:cNvSpPr>
                <a:spLocks noChangeArrowheads="1"/>
              </p:cNvSpPr>
              <p:nvPr/>
            </p:nvSpPr>
            <p:spPr bwMode="auto">
              <a:xfrm>
                <a:off x="2347" y="3198"/>
                <a:ext cx="912" cy="30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3" name="Oval 51"/>
              <p:cNvSpPr>
                <a:spLocks noChangeArrowheads="1"/>
              </p:cNvSpPr>
              <p:nvPr/>
            </p:nvSpPr>
            <p:spPr bwMode="auto">
              <a:xfrm>
                <a:off x="2941" y="2870"/>
                <a:ext cx="571" cy="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4" name="Oval 52"/>
              <p:cNvSpPr>
                <a:spLocks noChangeArrowheads="1"/>
              </p:cNvSpPr>
              <p:nvPr/>
            </p:nvSpPr>
            <p:spPr bwMode="auto">
              <a:xfrm>
                <a:off x="3029" y="3023"/>
                <a:ext cx="571" cy="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5" name="Oval 53"/>
              <p:cNvSpPr>
                <a:spLocks noChangeArrowheads="1"/>
              </p:cNvSpPr>
              <p:nvPr/>
            </p:nvSpPr>
            <p:spPr bwMode="auto">
              <a:xfrm>
                <a:off x="2974" y="3074"/>
                <a:ext cx="571" cy="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6" name="Oval 54"/>
              <p:cNvSpPr>
                <a:spLocks noChangeArrowheads="1"/>
              </p:cNvSpPr>
              <p:nvPr/>
            </p:nvSpPr>
            <p:spPr bwMode="auto">
              <a:xfrm>
                <a:off x="2117" y="2957"/>
                <a:ext cx="1175" cy="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grpSp>
        <p:sp>
          <p:nvSpPr>
            <p:cNvPr id="109" name="Oval 55"/>
            <p:cNvSpPr>
              <a:spLocks noChangeArrowheads="1"/>
            </p:cNvSpPr>
            <p:nvPr/>
          </p:nvSpPr>
          <p:spPr bwMode="auto">
            <a:xfrm>
              <a:off x="2402" y="2768"/>
              <a:ext cx="780" cy="29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0" name="Oval 56"/>
            <p:cNvSpPr>
              <a:spLocks noChangeArrowheads="1"/>
            </p:cNvSpPr>
            <p:nvPr/>
          </p:nvSpPr>
          <p:spPr bwMode="auto">
            <a:xfrm>
              <a:off x="1963" y="2848"/>
              <a:ext cx="593" cy="29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1" name="Oval 57"/>
            <p:cNvSpPr>
              <a:spLocks noChangeArrowheads="1"/>
            </p:cNvSpPr>
            <p:nvPr/>
          </p:nvSpPr>
          <p:spPr bwMode="auto">
            <a:xfrm>
              <a:off x="1776" y="3030"/>
              <a:ext cx="396" cy="23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2" name="Oval 58"/>
            <p:cNvSpPr>
              <a:spLocks noChangeArrowheads="1"/>
            </p:cNvSpPr>
            <p:nvPr/>
          </p:nvSpPr>
          <p:spPr bwMode="auto">
            <a:xfrm>
              <a:off x="1897" y="3140"/>
              <a:ext cx="604" cy="25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3" name="Oval 59"/>
            <p:cNvSpPr>
              <a:spLocks noChangeArrowheads="1"/>
            </p:cNvSpPr>
            <p:nvPr/>
          </p:nvSpPr>
          <p:spPr bwMode="auto">
            <a:xfrm>
              <a:off x="2336" y="3183"/>
              <a:ext cx="912" cy="30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4" name="Oval 60"/>
            <p:cNvSpPr>
              <a:spLocks noChangeArrowheads="1"/>
            </p:cNvSpPr>
            <p:nvPr/>
          </p:nvSpPr>
          <p:spPr bwMode="auto">
            <a:xfrm>
              <a:off x="2930" y="2855"/>
              <a:ext cx="571" cy="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5" name="Oval 61"/>
            <p:cNvSpPr>
              <a:spLocks noChangeArrowheads="1"/>
            </p:cNvSpPr>
            <p:nvPr/>
          </p:nvSpPr>
          <p:spPr bwMode="auto">
            <a:xfrm>
              <a:off x="3018" y="3008"/>
              <a:ext cx="571" cy="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6" name="Oval 62"/>
            <p:cNvSpPr>
              <a:spLocks noChangeArrowheads="1"/>
            </p:cNvSpPr>
            <p:nvPr/>
          </p:nvSpPr>
          <p:spPr bwMode="auto">
            <a:xfrm>
              <a:off x="2963" y="3059"/>
              <a:ext cx="571" cy="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7" name="Oval 63"/>
            <p:cNvSpPr>
              <a:spLocks noChangeArrowheads="1"/>
            </p:cNvSpPr>
            <p:nvPr/>
          </p:nvSpPr>
          <p:spPr bwMode="auto">
            <a:xfrm>
              <a:off x="2106" y="2943"/>
              <a:ext cx="1175" cy="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grpSp>
      <p:sp>
        <p:nvSpPr>
          <p:cNvPr id="127" name="Text Box 30"/>
          <p:cNvSpPr txBox="1">
            <a:spLocks noChangeArrowheads="1"/>
          </p:cNvSpPr>
          <p:nvPr/>
        </p:nvSpPr>
        <p:spPr bwMode="auto">
          <a:xfrm>
            <a:off x="4348742" y="1892753"/>
            <a:ext cx="4106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N</a:t>
            </a:r>
            <a:r>
              <a:rPr lang="en-US" altLang="zh-CN" sz="1400" b="1" baseline="-25000" dirty="0">
                <a:latin typeface="微软雅黑" pitchFamily="34" charset="-122"/>
                <a:ea typeface="微软雅黑" pitchFamily="34" charset="-122"/>
              </a:rPr>
              <a:t>1</a:t>
            </a:r>
          </a:p>
        </p:txBody>
      </p:sp>
      <p:sp>
        <p:nvSpPr>
          <p:cNvPr id="128" name="Rectangle 36"/>
          <p:cNvSpPr>
            <a:spLocks noChangeArrowheads="1"/>
          </p:cNvSpPr>
          <p:nvPr/>
        </p:nvSpPr>
        <p:spPr bwMode="auto">
          <a:xfrm>
            <a:off x="1514007" y="1688038"/>
            <a:ext cx="1741823" cy="87072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32" name="Line 39"/>
          <p:cNvSpPr>
            <a:spLocks noChangeShapeType="1"/>
          </p:cNvSpPr>
          <p:nvPr/>
        </p:nvSpPr>
        <p:spPr bwMode="auto">
          <a:xfrm>
            <a:off x="2609598" y="1688038"/>
            <a:ext cx="3127" cy="85918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nvGrpSpPr>
          <p:cNvPr id="2" name="组合 1"/>
          <p:cNvGrpSpPr/>
          <p:nvPr/>
        </p:nvGrpSpPr>
        <p:grpSpPr>
          <a:xfrm>
            <a:off x="1514007" y="1909328"/>
            <a:ext cx="1741823" cy="425263"/>
            <a:chOff x="1834120" y="1909328"/>
            <a:chExt cx="1421710" cy="425263"/>
          </a:xfrm>
        </p:grpSpPr>
        <p:sp>
          <p:nvSpPr>
            <p:cNvPr id="130" name="Line 37"/>
            <p:cNvSpPr>
              <a:spLocks noChangeShapeType="1"/>
            </p:cNvSpPr>
            <p:nvPr/>
          </p:nvSpPr>
          <p:spPr bwMode="auto">
            <a:xfrm>
              <a:off x="1834120" y="1909328"/>
              <a:ext cx="1421710" cy="0"/>
            </a:xfrm>
            <a:prstGeom prst="line">
              <a:avLst/>
            </a:prstGeom>
            <a:ln>
              <a:solidFill>
                <a:schemeClr val="tx1"/>
              </a:solidFill>
              <a:headEnd/>
              <a:tailEnd/>
            </a:ln>
          </p:spPr>
          <p:style>
            <a:lnRef idx="1">
              <a:schemeClr val="dk1"/>
            </a:lnRef>
            <a:fillRef idx="0">
              <a:schemeClr val="dk1"/>
            </a:fillRef>
            <a:effectRef idx="0">
              <a:schemeClr val="dk1"/>
            </a:effectRef>
            <a:fontRef idx="minor">
              <a:schemeClr val="tx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31" name="Line 38"/>
            <p:cNvSpPr>
              <a:spLocks noChangeShapeType="1"/>
            </p:cNvSpPr>
            <p:nvPr/>
          </p:nvSpPr>
          <p:spPr bwMode="auto">
            <a:xfrm>
              <a:off x="1834120" y="2130619"/>
              <a:ext cx="14217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3" name="Line 67"/>
            <p:cNvSpPr>
              <a:spLocks noChangeShapeType="1"/>
            </p:cNvSpPr>
            <p:nvPr/>
          </p:nvSpPr>
          <p:spPr bwMode="auto">
            <a:xfrm>
              <a:off x="1834120" y="2334591"/>
              <a:ext cx="14217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sp>
        <p:nvSpPr>
          <p:cNvPr id="136" name="矩形 135"/>
          <p:cNvSpPr/>
          <p:nvPr/>
        </p:nvSpPr>
        <p:spPr>
          <a:xfrm>
            <a:off x="1001438" y="3385219"/>
            <a:ext cx="7360078" cy="753220"/>
          </a:xfrm>
          <a:prstGeom prst="rect">
            <a:avLst/>
          </a:prstGeom>
        </p:spPr>
        <p:txBody>
          <a:bodyPr wrap="square">
            <a:spAutoFit/>
          </a:bodyPr>
          <a:lstStyle/>
          <a:p>
            <a:pPr>
              <a:lnSpc>
                <a:spcPts val="2700"/>
              </a:lnSpc>
            </a:pPr>
            <a:r>
              <a:rPr lang="zh-CN" altLang="en-US" b="1" dirty="0">
                <a:latin typeface="微软雅黑" pitchFamily="34" charset="-122"/>
                <a:ea typeface="微软雅黑" pitchFamily="34" charset="-122"/>
              </a:rPr>
              <a:t>只要目的网络不是 </a:t>
            </a:r>
            <a:r>
              <a:rPr lang="en-US" altLang="zh-CN" b="1" dirty="0">
                <a:latin typeface="微软雅黑" pitchFamily="34" charset="-122"/>
                <a:ea typeface="微软雅黑" pitchFamily="34" charset="-122"/>
              </a:rPr>
              <a:t>N</a:t>
            </a:r>
            <a:r>
              <a:rPr lang="en-US" altLang="zh-CN" b="1" baseline="-25000" dirty="0">
                <a:latin typeface="微软雅黑" pitchFamily="34" charset="-122"/>
                <a:ea typeface="微软雅黑" pitchFamily="34" charset="-122"/>
              </a:rPr>
              <a:t>1</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和 </a:t>
            </a:r>
            <a:r>
              <a:rPr lang="en-US" altLang="zh-CN" b="1" dirty="0">
                <a:latin typeface="微软雅黑" pitchFamily="34" charset="-122"/>
                <a:ea typeface="微软雅黑" pitchFamily="34" charset="-122"/>
              </a:rPr>
              <a:t>N</a:t>
            </a:r>
            <a:r>
              <a:rPr lang="en-US" altLang="zh-CN" b="1" baseline="-25000" dirty="0">
                <a:latin typeface="微软雅黑" pitchFamily="34" charset="-122"/>
                <a:ea typeface="微软雅黑" pitchFamily="34" charset="-122"/>
              </a:rPr>
              <a:t>2</a:t>
            </a:r>
            <a:r>
              <a:rPr lang="zh-CN" altLang="en-US" b="1" dirty="0">
                <a:latin typeface="微软雅黑" pitchFamily="34" charset="-122"/>
                <a:ea typeface="微软雅黑" pitchFamily="34" charset="-122"/>
              </a:rPr>
              <a:t>，就一律选择默认路由，把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数据报先间接交付默认路由器 </a:t>
            </a:r>
            <a:r>
              <a:rPr lang="en-US" altLang="zh-CN" b="1" dirty="0">
                <a:latin typeface="微软雅黑" pitchFamily="34" charset="-122"/>
                <a:ea typeface="微软雅黑" pitchFamily="34" charset="-122"/>
              </a:rPr>
              <a:t>R</a:t>
            </a:r>
            <a:r>
              <a:rPr lang="en-US" altLang="zh-CN" b="1" baseline="-25000" dirty="0">
                <a:latin typeface="微软雅黑" pitchFamily="34" charset="-122"/>
                <a:ea typeface="微软雅黑" pitchFamily="34" charset="-122"/>
              </a:rPr>
              <a:t>1</a:t>
            </a:r>
            <a:r>
              <a:rPr lang="zh-CN" altLang="en-US" b="1" dirty="0">
                <a:latin typeface="微软雅黑" pitchFamily="34" charset="-122"/>
                <a:ea typeface="微软雅黑" pitchFamily="34" charset="-122"/>
              </a:rPr>
              <a:t>，让 </a:t>
            </a:r>
            <a:r>
              <a:rPr lang="en-US" altLang="zh-CN" b="1" dirty="0">
                <a:latin typeface="微软雅黑" pitchFamily="34" charset="-122"/>
                <a:ea typeface="微软雅黑" pitchFamily="34" charset="-122"/>
              </a:rPr>
              <a:t>R</a:t>
            </a:r>
            <a:r>
              <a:rPr lang="en-US" altLang="zh-CN" b="1" baseline="-25000" dirty="0">
                <a:latin typeface="微软雅黑" pitchFamily="34" charset="-122"/>
                <a:ea typeface="微软雅黑" pitchFamily="34" charset="-122"/>
              </a:rPr>
              <a:t>1</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再转发给下一个路由器。 </a:t>
            </a:r>
          </a:p>
        </p:txBody>
      </p:sp>
      <p:sp>
        <p:nvSpPr>
          <p:cNvPr id="137" name="矩形 136"/>
          <p:cNvSpPr/>
          <p:nvPr/>
        </p:nvSpPr>
        <p:spPr>
          <a:xfrm>
            <a:off x="2068643" y="2945065"/>
            <a:ext cx="5171606" cy="369332"/>
          </a:xfrm>
          <a:prstGeom prst="rect">
            <a:avLst/>
          </a:prstGeom>
        </p:spPr>
        <p:txBody>
          <a:bodyPr wrap="square">
            <a:spAutoFit/>
          </a:bodyPr>
          <a:lstStyle/>
          <a:p>
            <a:pPr algn="ctr"/>
            <a:r>
              <a:rPr lang="zh-CN" altLang="zh-CN" b="1" dirty="0">
                <a:latin typeface="微软雅黑" pitchFamily="34" charset="-122"/>
                <a:ea typeface="微软雅黑" pitchFamily="34" charset="-122"/>
              </a:rPr>
              <a:t>路由器</a:t>
            </a:r>
            <a:r>
              <a:rPr lang="en-US" altLang="zh-CN" b="1" dirty="0">
                <a:latin typeface="微软雅黑" pitchFamily="34" charset="-122"/>
                <a:ea typeface="微软雅黑" pitchFamily="34" charset="-122"/>
              </a:rPr>
              <a:t> R</a:t>
            </a:r>
            <a:r>
              <a:rPr lang="en-US" altLang="zh-CN" b="1" baseline="-25000" dirty="0">
                <a:latin typeface="微软雅黑" pitchFamily="34" charset="-122"/>
                <a:ea typeface="微软雅黑" pitchFamily="34" charset="-122"/>
              </a:rPr>
              <a:t>1 </a:t>
            </a:r>
            <a:r>
              <a:rPr lang="zh-CN" altLang="zh-CN" b="1" dirty="0">
                <a:latin typeface="微软雅黑" pitchFamily="34" charset="-122"/>
                <a:ea typeface="微软雅黑" pitchFamily="34" charset="-122"/>
              </a:rPr>
              <a:t>充当</a:t>
            </a:r>
            <a:r>
              <a:rPr lang="zh-CN" altLang="en-US" b="1" dirty="0">
                <a:latin typeface="微软雅黑" pitchFamily="34" charset="-122"/>
                <a:ea typeface="微软雅黑" pitchFamily="34" charset="-122"/>
              </a:rPr>
              <a:t>到达互联网</a:t>
            </a:r>
            <a:r>
              <a:rPr lang="zh-CN" altLang="zh-CN" b="1" dirty="0">
                <a:latin typeface="微软雅黑" pitchFamily="34" charset="-122"/>
                <a:ea typeface="微软雅黑" pitchFamily="34" charset="-122"/>
              </a:rPr>
              <a:t>的默认路由器</a:t>
            </a:r>
            <a:endParaRPr lang="zh-CN" altLang="en-US" b="1" dirty="0">
              <a:latin typeface="微软雅黑" pitchFamily="34" charset="-122"/>
              <a:ea typeface="微软雅黑" pitchFamily="34" charset="-122"/>
            </a:endParaRPr>
          </a:p>
        </p:txBody>
      </p:sp>
      <p:sp>
        <p:nvSpPr>
          <p:cNvPr id="138" name="Text Box 35"/>
          <p:cNvSpPr txBox="1">
            <a:spLocks noChangeArrowheads="1"/>
          </p:cNvSpPr>
          <p:nvPr/>
        </p:nvSpPr>
        <p:spPr bwMode="auto">
          <a:xfrm>
            <a:off x="1539180" y="1647509"/>
            <a:ext cx="1710415" cy="9787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120000"/>
              </a:lnSpc>
            </a:pPr>
            <a:r>
              <a:rPr lang="zh-CN" altLang="en-US" sz="1200" b="1" dirty="0">
                <a:latin typeface="微软雅黑" pitchFamily="34" charset="-122"/>
                <a:ea typeface="微软雅黑" pitchFamily="34" charset="-122"/>
              </a:rPr>
              <a:t>  网络前缀        下一跳</a:t>
            </a:r>
          </a:p>
          <a:p>
            <a:pPr>
              <a:lnSpc>
                <a:spcPct val="120000"/>
              </a:lnSpc>
            </a:pPr>
            <a:r>
              <a:rPr lang="zh-CN" altLang="en-US" sz="1200" b="1" dirty="0">
                <a:latin typeface="微软雅黑" pitchFamily="34" charset="-122"/>
                <a:ea typeface="微软雅黑" pitchFamily="34" charset="-122"/>
              </a:rPr>
              <a:t>      </a:t>
            </a:r>
            <a:r>
              <a:rPr lang="en-US" altLang="zh-CN" sz="1200" b="1" dirty="0">
                <a:latin typeface="微软雅黑" pitchFamily="34" charset="-122"/>
                <a:ea typeface="微软雅黑" pitchFamily="34" charset="-122"/>
              </a:rPr>
              <a:t>N</a:t>
            </a:r>
            <a:r>
              <a:rPr lang="en-US" altLang="zh-CN" sz="1200" b="1" baseline="-25000" dirty="0">
                <a:latin typeface="微软雅黑" pitchFamily="34" charset="-122"/>
                <a:ea typeface="微软雅黑" pitchFamily="34" charset="-122"/>
              </a:rPr>
              <a:t>1</a:t>
            </a:r>
            <a:r>
              <a:rPr lang="en-US" altLang="zh-CN" sz="1200" b="1" dirty="0">
                <a:latin typeface="微软雅黑" pitchFamily="34" charset="-122"/>
                <a:ea typeface="微软雅黑" pitchFamily="34" charset="-122"/>
              </a:rPr>
              <a:t>               </a:t>
            </a:r>
            <a:r>
              <a:rPr lang="zh-CN" altLang="en-US" sz="1200" b="1" dirty="0">
                <a:latin typeface="微软雅黑" pitchFamily="34" charset="-122"/>
                <a:ea typeface="微软雅黑" pitchFamily="34" charset="-122"/>
              </a:rPr>
              <a:t>直接 </a:t>
            </a:r>
          </a:p>
          <a:p>
            <a:pPr>
              <a:lnSpc>
                <a:spcPct val="120000"/>
              </a:lnSpc>
            </a:pPr>
            <a:r>
              <a:rPr lang="zh-CN" altLang="en-US" sz="1200" b="1" dirty="0">
                <a:latin typeface="微软雅黑" pitchFamily="34" charset="-122"/>
                <a:ea typeface="微软雅黑" pitchFamily="34" charset="-122"/>
              </a:rPr>
              <a:t>      </a:t>
            </a:r>
            <a:r>
              <a:rPr lang="en-US" altLang="zh-CN" sz="1200" b="1" dirty="0">
                <a:latin typeface="微软雅黑" pitchFamily="34" charset="-122"/>
                <a:ea typeface="微软雅黑" pitchFamily="34" charset="-122"/>
              </a:rPr>
              <a:t>N</a:t>
            </a:r>
            <a:r>
              <a:rPr lang="en-US" altLang="zh-CN" sz="1200" b="1" baseline="-25000" dirty="0">
                <a:latin typeface="微软雅黑" pitchFamily="34" charset="-122"/>
                <a:ea typeface="微软雅黑" pitchFamily="34" charset="-122"/>
              </a:rPr>
              <a:t>2</a:t>
            </a:r>
            <a:r>
              <a:rPr lang="en-US" altLang="zh-CN" sz="1200" b="1" dirty="0">
                <a:latin typeface="微软雅黑" pitchFamily="34" charset="-122"/>
                <a:ea typeface="微软雅黑" pitchFamily="34" charset="-122"/>
              </a:rPr>
              <a:t>               R</a:t>
            </a:r>
            <a:r>
              <a:rPr lang="en-US" altLang="zh-CN" sz="1200" b="1" baseline="-25000" dirty="0">
                <a:latin typeface="微软雅黑" pitchFamily="34" charset="-122"/>
                <a:ea typeface="微软雅黑" pitchFamily="34" charset="-122"/>
              </a:rPr>
              <a:t>2</a:t>
            </a:r>
          </a:p>
          <a:p>
            <a:pPr>
              <a:lnSpc>
                <a:spcPct val="120000"/>
              </a:lnSpc>
            </a:pPr>
            <a:r>
              <a:rPr lang="en-US" altLang="zh-CN" sz="1200" b="1" dirty="0">
                <a:latin typeface="微软雅黑" pitchFamily="34" charset="-122"/>
                <a:ea typeface="微软雅黑" pitchFamily="34" charset="-122"/>
              </a:rPr>
              <a:t>  0.0.0.0/0</a:t>
            </a:r>
            <a:r>
              <a:rPr lang="zh-CN" altLang="en-US" sz="1200" b="1" dirty="0">
                <a:latin typeface="微软雅黑" pitchFamily="34" charset="-122"/>
                <a:ea typeface="微软雅黑" pitchFamily="34" charset="-122"/>
              </a:rPr>
              <a:t>         </a:t>
            </a:r>
            <a:r>
              <a:rPr lang="en-US" altLang="zh-CN" sz="1200" b="1" dirty="0">
                <a:latin typeface="微软雅黑" pitchFamily="34" charset="-122"/>
                <a:ea typeface="微软雅黑" pitchFamily="34" charset="-122"/>
              </a:rPr>
              <a:t>R</a:t>
            </a:r>
            <a:r>
              <a:rPr lang="en-US" altLang="zh-CN" sz="1200" b="1" baseline="-25000" dirty="0">
                <a:latin typeface="微软雅黑" pitchFamily="34" charset="-122"/>
                <a:ea typeface="微软雅黑" pitchFamily="34" charset="-122"/>
              </a:rPr>
              <a:t>1</a:t>
            </a:r>
          </a:p>
        </p:txBody>
      </p:sp>
      <p:pic>
        <p:nvPicPr>
          <p:cNvPr id="139"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552444" y="1984580"/>
            <a:ext cx="370473" cy="370473"/>
          </a:xfrm>
          <a:prstGeom prst="rect">
            <a:avLst/>
          </a:prstGeom>
          <a:noFill/>
          <a:extLst>
            <a:ext uri="{909E8E84-426E-40DD-AFC4-6F175D3DCCD1}">
              <a14:hiddenFill xmlns:a14="http://schemas.microsoft.com/office/drawing/2010/main">
                <a:solidFill>
                  <a:srgbClr val="FFFFFF"/>
                </a:solidFill>
              </a14:hiddenFill>
            </a:ext>
          </a:extLst>
        </p:spPr>
      </p:pic>
      <p:pic>
        <p:nvPicPr>
          <p:cNvPr id="140"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779912" y="2454772"/>
            <a:ext cx="370473" cy="370473"/>
          </a:xfrm>
          <a:prstGeom prst="rect">
            <a:avLst/>
          </a:prstGeom>
          <a:noFill/>
          <a:extLst>
            <a:ext uri="{909E8E84-426E-40DD-AFC4-6F175D3DCCD1}">
              <a14:hiddenFill xmlns:a14="http://schemas.microsoft.com/office/drawing/2010/main">
                <a:solidFill>
                  <a:srgbClr val="FFFFFF"/>
                </a:solidFill>
              </a14:hiddenFill>
            </a:ext>
          </a:extLst>
        </p:spPr>
      </p:pic>
      <p:pic>
        <p:nvPicPr>
          <p:cNvPr id="141"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644008" y="2454772"/>
            <a:ext cx="370473" cy="37047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3786104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AutoShape 5"/>
          <p:cNvSpPr>
            <a:spLocks noChangeArrowheads="1"/>
          </p:cNvSpPr>
          <p:nvPr/>
        </p:nvSpPr>
        <p:spPr bwMode="auto">
          <a:xfrm>
            <a:off x="556963" y="615438"/>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9" name="Rectangle 6"/>
          <p:cNvSpPr>
            <a:spLocks noChangeArrowheads="1"/>
          </p:cNvSpPr>
          <p:nvPr/>
        </p:nvSpPr>
        <p:spPr bwMode="auto">
          <a:xfrm>
            <a:off x="3296383" y="582227"/>
            <a:ext cx="25699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路由器分组转发算法</a:t>
            </a:r>
          </a:p>
        </p:txBody>
      </p:sp>
      <p:sp>
        <p:nvSpPr>
          <p:cNvPr id="2" name="矩形 1"/>
          <p:cNvSpPr/>
          <p:nvPr/>
        </p:nvSpPr>
        <p:spPr>
          <a:xfrm>
            <a:off x="681941" y="1392030"/>
            <a:ext cx="2900211" cy="441235"/>
          </a:xfrm>
          <a:prstGeom prst="rect">
            <a:avLst/>
          </a:prstGeom>
          <a:solidFill>
            <a:srgbClr val="000099"/>
          </a:solidFill>
          <a:ln>
            <a:noFill/>
          </a:ln>
        </p:spPr>
        <p:style>
          <a:lnRef idx="2">
            <a:schemeClr val="accent1"/>
          </a:lnRef>
          <a:fillRef idx="1">
            <a:schemeClr val="lt1"/>
          </a:fillRef>
          <a:effectRef idx="0">
            <a:schemeClr val="accent1"/>
          </a:effectRef>
          <a:fontRef idx="minor">
            <a:schemeClr val="dk1"/>
          </a:fontRef>
        </p:style>
        <p:txBody>
          <a:bodyPr rtlCol="0"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提取目的地址 </a:t>
            </a:r>
            <a:r>
              <a:rPr lang="en-US" altLang="zh-CN" sz="1400" b="1" dirty="0">
                <a:solidFill>
                  <a:schemeClr val="bg1"/>
                </a:solidFill>
                <a:latin typeface="微软雅黑" panose="020B0503020204020204" pitchFamily="34" charset="-122"/>
                <a:ea typeface="微软雅黑" panose="020B0503020204020204" pitchFamily="34" charset="-122"/>
              </a:rPr>
              <a:t>IP </a:t>
            </a:r>
            <a:r>
              <a:rPr lang="zh-CN" altLang="en-US" sz="1400" b="1" dirty="0">
                <a:solidFill>
                  <a:schemeClr val="bg1"/>
                </a:solidFill>
                <a:latin typeface="微软雅黑" panose="020B0503020204020204" pitchFamily="34" charset="-122"/>
                <a:ea typeface="微软雅黑" panose="020B0503020204020204" pitchFamily="34" charset="-122"/>
              </a:rPr>
              <a:t>地址</a:t>
            </a:r>
            <a:r>
              <a:rPr lang="en-US" altLang="zh-CN" sz="1400" b="1" dirty="0">
                <a:solidFill>
                  <a:schemeClr val="bg1"/>
                </a:solidFill>
                <a:latin typeface="微软雅黑" panose="020B0503020204020204" pitchFamily="34" charset="-122"/>
                <a:ea typeface="微软雅黑" panose="020B0503020204020204" pitchFamily="34" charset="-122"/>
              </a:rPr>
              <a:t> D</a:t>
            </a:r>
            <a:endParaRPr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3" name="菱形 2"/>
          <p:cNvSpPr/>
          <p:nvPr/>
        </p:nvSpPr>
        <p:spPr>
          <a:xfrm>
            <a:off x="4080677" y="1422924"/>
            <a:ext cx="2662533" cy="546168"/>
          </a:xfrm>
          <a:prstGeom prst="diamond">
            <a:avLst/>
          </a:prstGeom>
          <a:solidFill>
            <a:srgbClr val="00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找到 </a:t>
            </a:r>
            <a:r>
              <a:rPr lang="en-US" altLang="zh-CN" sz="1400" b="1" dirty="0">
                <a:solidFill>
                  <a:schemeClr val="bg1"/>
                </a:solidFill>
                <a:latin typeface="微软雅黑" panose="020B0503020204020204" pitchFamily="34" charset="-122"/>
                <a:ea typeface="微软雅黑" panose="020B0503020204020204" pitchFamily="34" charset="-122"/>
              </a:rPr>
              <a:t>D </a:t>
            </a:r>
            <a:r>
              <a:rPr lang="zh-CN" altLang="en-US" sz="1400" b="1" dirty="0">
                <a:solidFill>
                  <a:schemeClr val="bg1"/>
                </a:solidFill>
                <a:latin typeface="微软雅黑" panose="020B0503020204020204" pitchFamily="34" charset="-122"/>
                <a:ea typeface="微软雅黑" panose="020B0503020204020204" pitchFamily="34" charset="-122"/>
              </a:rPr>
              <a:t>的特定主机路由 ？</a:t>
            </a:r>
          </a:p>
        </p:txBody>
      </p:sp>
      <p:sp>
        <p:nvSpPr>
          <p:cNvPr id="9" name="菱形 8"/>
          <p:cNvSpPr/>
          <p:nvPr/>
        </p:nvSpPr>
        <p:spPr>
          <a:xfrm>
            <a:off x="4080676" y="2270681"/>
            <a:ext cx="2662534" cy="546168"/>
          </a:xfrm>
          <a:prstGeom prst="diamond">
            <a:avLst/>
          </a:prstGeom>
          <a:solidFill>
            <a:srgbClr val="00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solidFill>
                  <a:srgbClr val="FF0000"/>
                </a:solidFill>
                <a:highlight>
                  <a:srgbClr val="FFFF00"/>
                </a:highlight>
                <a:latin typeface="微软雅黑" panose="020B0503020204020204" pitchFamily="34" charset="-122"/>
                <a:ea typeface="微软雅黑" panose="020B0503020204020204" pitchFamily="34" charset="-122"/>
              </a:rPr>
              <a:t>找到 </a:t>
            </a:r>
            <a:r>
              <a:rPr lang="en-US" altLang="zh-CN" sz="1400" b="1" dirty="0">
                <a:solidFill>
                  <a:srgbClr val="FF0000"/>
                </a:solidFill>
                <a:highlight>
                  <a:srgbClr val="FFFF00"/>
                </a:highlight>
                <a:latin typeface="微软雅黑" panose="020B0503020204020204" pitchFamily="34" charset="-122"/>
                <a:ea typeface="微软雅黑" panose="020B0503020204020204" pitchFamily="34" charset="-122"/>
              </a:rPr>
              <a:t>D </a:t>
            </a:r>
            <a:r>
              <a:rPr lang="zh-CN" altLang="en-US" sz="1400" b="1" dirty="0">
                <a:solidFill>
                  <a:srgbClr val="FF0000"/>
                </a:solidFill>
                <a:highlight>
                  <a:srgbClr val="FFFF00"/>
                </a:highlight>
                <a:latin typeface="微软雅黑" panose="020B0503020204020204" pitchFamily="34" charset="-122"/>
                <a:ea typeface="微软雅黑" panose="020B0503020204020204" pitchFamily="34" charset="-122"/>
              </a:rPr>
              <a:t>的最长前缀匹配 ？</a:t>
            </a:r>
          </a:p>
        </p:txBody>
      </p:sp>
      <p:sp>
        <p:nvSpPr>
          <p:cNvPr id="10" name="菱形 9"/>
          <p:cNvSpPr/>
          <p:nvPr/>
        </p:nvSpPr>
        <p:spPr>
          <a:xfrm>
            <a:off x="4080676" y="3118439"/>
            <a:ext cx="2662534" cy="546168"/>
          </a:xfrm>
          <a:prstGeom prst="diamond">
            <a:avLst/>
          </a:prstGeom>
          <a:solidFill>
            <a:srgbClr val="00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找到默认路由？</a:t>
            </a:r>
          </a:p>
        </p:txBody>
      </p:sp>
      <p:sp>
        <p:nvSpPr>
          <p:cNvPr id="11" name="矩形 10"/>
          <p:cNvSpPr/>
          <p:nvPr/>
        </p:nvSpPr>
        <p:spPr>
          <a:xfrm>
            <a:off x="6466437" y="3927627"/>
            <a:ext cx="2219913" cy="441235"/>
          </a:xfrm>
          <a:prstGeom prst="rect">
            <a:avLst/>
          </a:prstGeom>
          <a:solidFill>
            <a:srgbClr val="990099"/>
          </a:solidFill>
          <a:ln>
            <a:noFill/>
          </a:ln>
        </p:spPr>
        <p:style>
          <a:lnRef idx="2">
            <a:schemeClr val="accent1"/>
          </a:lnRef>
          <a:fillRef idx="1">
            <a:schemeClr val="lt1"/>
          </a:fillRef>
          <a:effectRef idx="0">
            <a:schemeClr val="accent1"/>
          </a:effectRef>
          <a:fontRef idx="minor">
            <a:schemeClr val="dk1"/>
          </a:fontRef>
        </p:style>
        <p:txBody>
          <a:bodyPr rtlCol="0"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转发分组到下一跳路由器</a:t>
            </a:r>
          </a:p>
        </p:txBody>
      </p:sp>
      <p:sp>
        <p:nvSpPr>
          <p:cNvPr id="12" name="矩形 11"/>
          <p:cNvSpPr/>
          <p:nvPr/>
        </p:nvSpPr>
        <p:spPr>
          <a:xfrm>
            <a:off x="4422480" y="3927628"/>
            <a:ext cx="1978926" cy="441235"/>
          </a:xfrm>
          <a:prstGeom prst="rect">
            <a:avLst/>
          </a:prstGeom>
          <a:solidFill>
            <a:srgbClr val="009900"/>
          </a:solidFill>
          <a:ln>
            <a:noFill/>
          </a:ln>
        </p:spPr>
        <p:style>
          <a:lnRef idx="2">
            <a:schemeClr val="accent1"/>
          </a:lnRef>
          <a:fillRef idx="1">
            <a:schemeClr val="lt1"/>
          </a:fillRef>
          <a:effectRef idx="0">
            <a:schemeClr val="accent1"/>
          </a:effectRef>
          <a:fontRef idx="minor">
            <a:schemeClr val="dk1"/>
          </a:fontRef>
        </p:style>
        <p:txBody>
          <a:bodyPr rtlCol="0"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丢弃分组</a:t>
            </a:r>
          </a:p>
        </p:txBody>
      </p:sp>
      <p:cxnSp>
        <p:nvCxnSpPr>
          <p:cNvPr id="15" name="直接箭头连接符 14"/>
          <p:cNvCxnSpPr/>
          <p:nvPr/>
        </p:nvCxnSpPr>
        <p:spPr>
          <a:xfrm flipH="1">
            <a:off x="5411943" y="1969092"/>
            <a:ext cx="1" cy="301589"/>
          </a:xfrm>
          <a:prstGeom prst="straightConnector1">
            <a:avLst/>
          </a:prstGeom>
          <a:ln w="19050">
            <a:solidFill>
              <a:srgbClr val="000099"/>
            </a:solidFill>
            <a:tailEnd type="triangle"/>
          </a:ln>
        </p:spPr>
        <p:style>
          <a:lnRef idx="1">
            <a:schemeClr val="accent1"/>
          </a:lnRef>
          <a:fillRef idx="0">
            <a:schemeClr val="accent1"/>
          </a:fillRef>
          <a:effectRef idx="0">
            <a:schemeClr val="accent1"/>
          </a:effectRef>
          <a:fontRef idx="minor">
            <a:schemeClr val="tx1"/>
          </a:fontRef>
        </p:style>
      </p:cxnSp>
      <p:cxnSp>
        <p:nvCxnSpPr>
          <p:cNvPr id="21" name="直接箭头连接符 20"/>
          <p:cNvCxnSpPr/>
          <p:nvPr/>
        </p:nvCxnSpPr>
        <p:spPr>
          <a:xfrm>
            <a:off x="5411943" y="2816849"/>
            <a:ext cx="0" cy="301590"/>
          </a:xfrm>
          <a:prstGeom prst="straightConnector1">
            <a:avLst/>
          </a:prstGeom>
          <a:ln w="19050">
            <a:solidFill>
              <a:srgbClr val="000099"/>
            </a:solidFill>
            <a:tailEnd type="triangle"/>
          </a:ln>
        </p:spPr>
        <p:style>
          <a:lnRef idx="1">
            <a:schemeClr val="accent1"/>
          </a:lnRef>
          <a:fillRef idx="0">
            <a:schemeClr val="accent1"/>
          </a:fillRef>
          <a:effectRef idx="0">
            <a:schemeClr val="accent1"/>
          </a:effectRef>
          <a:fontRef idx="minor">
            <a:schemeClr val="tx1"/>
          </a:fontRef>
        </p:style>
      </p:cxnSp>
      <p:sp>
        <p:nvSpPr>
          <p:cNvPr id="31" name="矩形 30"/>
          <p:cNvSpPr/>
          <p:nvPr/>
        </p:nvSpPr>
        <p:spPr>
          <a:xfrm>
            <a:off x="681940" y="2174485"/>
            <a:ext cx="2900211" cy="441235"/>
          </a:xfrm>
          <a:prstGeom prst="rect">
            <a:avLst/>
          </a:prstGeom>
          <a:solidFill>
            <a:srgbClr val="000099"/>
          </a:solidFill>
          <a:ln>
            <a:noFill/>
          </a:ln>
        </p:spPr>
        <p:style>
          <a:lnRef idx="2">
            <a:schemeClr val="accent1"/>
          </a:lnRef>
          <a:fillRef idx="1">
            <a:schemeClr val="lt1"/>
          </a:fillRef>
          <a:effectRef idx="0">
            <a:schemeClr val="accent1"/>
          </a:effectRef>
          <a:fontRef idx="minor">
            <a:schemeClr val="dk1"/>
          </a:fontRef>
        </p:style>
        <p:txBody>
          <a:bodyPr rtlCol="0"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查找转发表</a:t>
            </a:r>
          </a:p>
        </p:txBody>
      </p:sp>
      <p:cxnSp>
        <p:nvCxnSpPr>
          <p:cNvPr id="43" name="直接箭头连接符 42"/>
          <p:cNvCxnSpPr>
            <a:stCxn id="2" idx="2"/>
            <a:endCxn id="31" idx="0"/>
          </p:cNvCxnSpPr>
          <p:nvPr/>
        </p:nvCxnSpPr>
        <p:spPr>
          <a:xfrm flipH="1">
            <a:off x="2132046" y="1833265"/>
            <a:ext cx="1" cy="341220"/>
          </a:xfrm>
          <a:prstGeom prst="straightConnector1">
            <a:avLst/>
          </a:prstGeom>
          <a:ln w="19050">
            <a:solidFill>
              <a:srgbClr val="000099"/>
            </a:solidFill>
            <a:tailEnd type="triangle"/>
          </a:ln>
        </p:spPr>
        <p:style>
          <a:lnRef idx="1">
            <a:schemeClr val="accent1"/>
          </a:lnRef>
          <a:fillRef idx="0">
            <a:schemeClr val="accent1"/>
          </a:fillRef>
          <a:effectRef idx="0">
            <a:schemeClr val="accent1"/>
          </a:effectRef>
          <a:fontRef idx="minor">
            <a:schemeClr val="tx1"/>
          </a:fontRef>
        </p:style>
      </p:cxnSp>
      <p:cxnSp>
        <p:nvCxnSpPr>
          <p:cNvPr id="48" name="肘形连接符 47"/>
          <p:cNvCxnSpPr>
            <a:stCxn id="31" idx="2"/>
            <a:endCxn id="3" idx="0"/>
          </p:cNvCxnSpPr>
          <p:nvPr/>
        </p:nvCxnSpPr>
        <p:spPr>
          <a:xfrm rot="5400000" flipH="1" flipV="1">
            <a:off x="3175597" y="379373"/>
            <a:ext cx="1192796" cy="3279898"/>
          </a:xfrm>
          <a:prstGeom prst="bentConnector5">
            <a:avLst>
              <a:gd name="adj1" fmla="val -19165"/>
              <a:gd name="adj2" fmla="val 53893"/>
              <a:gd name="adj3" fmla="val 119165"/>
            </a:avLst>
          </a:prstGeom>
          <a:ln w="19050">
            <a:solidFill>
              <a:srgbClr val="000099"/>
            </a:solidFill>
            <a:tailEnd type="triangle"/>
          </a:ln>
        </p:spPr>
        <p:style>
          <a:lnRef idx="1">
            <a:schemeClr val="accent1"/>
          </a:lnRef>
          <a:fillRef idx="0">
            <a:schemeClr val="accent1"/>
          </a:fillRef>
          <a:effectRef idx="0">
            <a:schemeClr val="accent1"/>
          </a:effectRef>
          <a:fontRef idx="minor">
            <a:schemeClr val="tx1"/>
          </a:fontRef>
        </p:style>
      </p:cxnSp>
      <p:cxnSp>
        <p:nvCxnSpPr>
          <p:cNvPr id="50" name="直接箭头连接符 49"/>
          <p:cNvCxnSpPr/>
          <p:nvPr/>
        </p:nvCxnSpPr>
        <p:spPr>
          <a:xfrm>
            <a:off x="5411943" y="3664607"/>
            <a:ext cx="0" cy="263021"/>
          </a:xfrm>
          <a:prstGeom prst="straightConnector1">
            <a:avLst/>
          </a:prstGeom>
          <a:ln w="19050">
            <a:solidFill>
              <a:srgbClr val="000099"/>
            </a:solidFill>
            <a:tailEnd type="triangle"/>
          </a:ln>
        </p:spPr>
        <p:style>
          <a:lnRef idx="1">
            <a:schemeClr val="accent1"/>
          </a:lnRef>
          <a:fillRef idx="0">
            <a:schemeClr val="accent1"/>
          </a:fillRef>
          <a:effectRef idx="0">
            <a:schemeClr val="accent1"/>
          </a:effectRef>
          <a:fontRef idx="minor">
            <a:schemeClr val="tx1"/>
          </a:fontRef>
        </p:style>
      </p:cxnSp>
      <p:cxnSp>
        <p:nvCxnSpPr>
          <p:cNvPr id="58" name="肘形连接符 57"/>
          <p:cNvCxnSpPr>
            <a:stCxn id="3" idx="3"/>
            <a:endCxn id="11" idx="0"/>
          </p:cNvCxnSpPr>
          <p:nvPr/>
        </p:nvCxnSpPr>
        <p:spPr>
          <a:xfrm>
            <a:off x="6743210" y="1696008"/>
            <a:ext cx="833184" cy="2231619"/>
          </a:xfrm>
          <a:prstGeom prst="bentConnector2">
            <a:avLst/>
          </a:prstGeom>
          <a:ln w="19050">
            <a:solidFill>
              <a:srgbClr val="000099"/>
            </a:solidFill>
            <a:tailEnd type="triangle"/>
          </a:ln>
        </p:spPr>
        <p:style>
          <a:lnRef idx="1">
            <a:schemeClr val="accent1"/>
          </a:lnRef>
          <a:fillRef idx="0">
            <a:schemeClr val="accent1"/>
          </a:fillRef>
          <a:effectRef idx="0">
            <a:schemeClr val="accent1"/>
          </a:effectRef>
          <a:fontRef idx="minor">
            <a:schemeClr val="tx1"/>
          </a:fontRef>
        </p:style>
      </p:cxnSp>
      <p:cxnSp>
        <p:nvCxnSpPr>
          <p:cNvPr id="59" name="直接箭头连接符 58"/>
          <p:cNvCxnSpPr>
            <a:stCxn id="9" idx="3"/>
          </p:cNvCxnSpPr>
          <p:nvPr/>
        </p:nvCxnSpPr>
        <p:spPr>
          <a:xfrm>
            <a:off x="6743210" y="2543765"/>
            <a:ext cx="833183" cy="0"/>
          </a:xfrm>
          <a:prstGeom prst="straightConnector1">
            <a:avLst/>
          </a:prstGeom>
          <a:ln w="19050">
            <a:solidFill>
              <a:srgbClr val="000099"/>
            </a:solidFill>
            <a:tailEnd type="triangle"/>
          </a:ln>
        </p:spPr>
        <p:style>
          <a:lnRef idx="1">
            <a:schemeClr val="accent1"/>
          </a:lnRef>
          <a:fillRef idx="0">
            <a:schemeClr val="accent1"/>
          </a:fillRef>
          <a:effectRef idx="0">
            <a:schemeClr val="accent1"/>
          </a:effectRef>
          <a:fontRef idx="minor">
            <a:schemeClr val="tx1"/>
          </a:fontRef>
        </p:style>
      </p:cxnSp>
      <p:cxnSp>
        <p:nvCxnSpPr>
          <p:cNvPr id="63" name="直接箭头连接符 62"/>
          <p:cNvCxnSpPr>
            <a:stCxn id="10" idx="3"/>
          </p:cNvCxnSpPr>
          <p:nvPr/>
        </p:nvCxnSpPr>
        <p:spPr>
          <a:xfrm>
            <a:off x="6743210" y="3391523"/>
            <a:ext cx="833183" cy="0"/>
          </a:xfrm>
          <a:prstGeom prst="straightConnector1">
            <a:avLst/>
          </a:prstGeom>
          <a:ln w="19050">
            <a:solidFill>
              <a:srgbClr val="000099"/>
            </a:solidFill>
            <a:tailEnd type="triangle"/>
          </a:ln>
        </p:spPr>
        <p:style>
          <a:lnRef idx="1">
            <a:schemeClr val="accent1"/>
          </a:lnRef>
          <a:fillRef idx="0">
            <a:schemeClr val="accent1"/>
          </a:fillRef>
          <a:effectRef idx="0">
            <a:schemeClr val="accent1"/>
          </a:effectRef>
          <a:fontRef idx="minor">
            <a:schemeClr val="tx1"/>
          </a:fontRef>
        </p:style>
      </p:cxnSp>
      <p:sp>
        <p:nvSpPr>
          <p:cNvPr id="77" name="矩形 76"/>
          <p:cNvSpPr/>
          <p:nvPr/>
        </p:nvSpPr>
        <p:spPr>
          <a:xfrm>
            <a:off x="6772090" y="1421493"/>
            <a:ext cx="364202" cy="307777"/>
          </a:xfrm>
          <a:prstGeom prst="rect">
            <a:avLst/>
          </a:prstGeom>
        </p:spPr>
        <p:txBody>
          <a:bodyPr wrap="none">
            <a:spAutoFit/>
          </a:bodyPr>
          <a:lstStyle/>
          <a:p>
            <a:r>
              <a:rPr lang="zh-CN" altLang="en-US" sz="1400" b="1" dirty="0">
                <a:latin typeface="微软雅黑" pitchFamily="34" charset="-122"/>
                <a:ea typeface="微软雅黑" pitchFamily="34" charset="-122"/>
              </a:rPr>
              <a:t>是</a:t>
            </a:r>
            <a:endParaRPr lang="zh-CN" altLang="en-US" sz="1400" dirty="0"/>
          </a:p>
        </p:txBody>
      </p:sp>
      <p:sp>
        <p:nvSpPr>
          <p:cNvPr id="78" name="矩形 77"/>
          <p:cNvSpPr/>
          <p:nvPr/>
        </p:nvSpPr>
        <p:spPr>
          <a:xfrm>
            <a:off x="5047741" y="1946714"/>
            <a:ext cx="364202" cy="307777"/>
          </a:xfrm>
          <a:prstGeom prst="rect">
            <a:avLst/>
          </a:prstGeom>
        </p:spPr>
        <p:txBody>
          <a:bodyPr wrap="none">
            <a:spAutoFit/>
          </a:bodyPr>
          <a:lstStyle/>
          <a:p>
            <a:r>
              <a:rPr lang="zh-CN" altLang="en-US" sz="1400" b="1" dirty="0">
                <a:latin typeface="微软雅黑" pitchFamily="34" charset="-122"/>
                <a:ea typeface="微软雅黑" pitchFamily="34" charset="-122"/>
              </a:rPr>
              <a:t>否</a:t>
            </a:r>
            <a:endParaRPr lang="zh-CN" altLang="en-US" sz="1400" dirty="0"/>
          </a:p>
        </p:txBody>
      </p:sp>
      <p:sp>
        <p:nvSpPr>
          <p:cNvPr id="79" name="矩形 78"/>
          <p:cNvSpPr/>
          <p:nvPr/>
        </p:nvSpPr>
        <p:spPr>
          <a:xfrm>
            <a:off x="5047741" y="2813755"/>
            <a:ext cx="364202" cy="307777"/>
          </a:xfrm>
          <a:prstGeom prst="rect">
            <a:avLst/>
          </a:prstGeom>
        </p:spPr>
        <p:txBody>
          <a:bodyPr wrap="none">
            <a:spAutoFit/>
          </a:bodyPr>
          <a:lstStyle/>
          <a:p>
            <a:r>
              <a:rPr lang="zh-CN" altLang="en-US" sz="1400" b="1" dirty="0">
                <a:latin typeface="微软雅黑" pitchFamily="34" charset="-122"/>
                <a:ea typeface="微软雅黑" pitchFamily="34" charset="-122"/>
              </a:rPr>
              <a:t>否</a:t>
            </a:r>
            <a:endParaRPr lang="zh-CN" altLang="en-US" sz="1400" dirty="0"/>
          </a:p>
        </p:txBody>
      </p:sp>
      <p:sp>
        <p:nvSpPr>
          <p:cNvPr id="80" name="矩形 79"/>
          <p:cNvSpPr/>
          <p:nvPr/>
        </p:nvSpPr>
        <p:spPr>
          <a:xfrm>
            <a:off x="5047741" y="3642458"/>
            <a:ext cx="364202" cy="307777"/>
          </a:xfrm>
          <a:prstGeom prst="rect">
            <a:avLst/>
          </a:prstGeom>
        </p:spPr>
        <p:txBody>
          <a:bodyPr wrap="none">
            <a:spAutoFit/>
          </a:bodyPr>
          <a:lstStyle/>
          <a:p>
            <a:r>
              <a:rPr lang="zh-CN" altLang="en-US" sz="1400" b="1" dirty="0">
                <a:latin typeface="微软雅黑" pitchFamily="34" charset="-122"/>
                <a:ea typeface="微软雅黑" pitchFamily="34" charset="-122"/>
              </a:rPr>
              <a:t>否</a:t>
            </a:r>
            <a:endParaRPr lang="zh-CN" altLang="en-US" sz="1400" dirty="0"/>
          </a:p>
        </p:txBody>
      </p:sp>
      <p:sp>
        <p:nvSpPr>
          <p:cNvPr id="81" name="矩形 80"/>
          <p:cNvSpPr/>
          <p:nvPr/>
        </p:nvSpPr>
        <p:spPr>
          <a:xfrm>
            <a:off x="6772090" y="2275140"/>
            <a:ext cx="364202" cy="307777"/>
          </a:xfrm>
          <a:prstGeom prst="rect">
            <a:avLst/>
          </a:prstGeom>
        </p:spPr>
        <p:txBody>
          <a:bodyPr wrap="none">
            <a:spAutoFit/>
          </a:bodyPr>
          <a:lstStyle/>
          <a:p>
            <a:r>
              <a:rPr lang="zh-CN" altLang="en-US" sz="1400" b="1" dirty="0">
                <a:latin typeface="微软雅黑" pitchFamily="34" charset="-122"/>
                <a:ea typeface="微软雅黑" pitchFamily="34" charset="-122"/>
              </a:rPr>
              <a:t>是</a:t>
            </a:r>
            <a:endParaRPr lang="zh-CN" altLang="en-US" sz="1400" dirty="0"/>
          </a:p>
        </p:txBody>
      </p:sp>
      <p:sp>
        <p:nvSpPr>
          <p:cNvPr id="82" name="矩形 81"/>
          <p:cNvSpPr/>
          <p:nvPr/>
        </p:nvSpPr>
        <p:spPr>
          <a:xfrm>
            <a:off x="6772090" y="3135531"/>
            <a:ext cx="364202" cy="307777"/>
          </a:xfrm>
          <a:prstGeom prst="rect">
            <a:avLst/>
          </a:prstGeom>
        </p:spPr>
        <p:txBody>
          <a:bodyPr wrap="none">
            <a:spAutoFit/>
          </a:bodyPr>
          <a:lstStyle/>
          <a:p>
            <a:r>
              <a:rPr lang="zh-CN" altLang="en-US" sz="1400" b="1" dirty="0">
                <a:latin typeface="微软雅黑" pitchFamily="34" charset="-122"/>
                <a:ea typeface="微软雅黑" pitchFamily="34" charset="-122"/>
              </a:rPr>
              <a:t>是</a:t>
            </a:r>
            <a:endParaRPr lang="zh-CN" altLang="en-US" sz="1400" dirty="0"/>
          </a:p>
        </p:txBody>
      </p:sp>
    </p:spTree>
    <p:extLst>
      <p:ext uri="{BB962C8B-B14F-4D97-AF65-F5344CB8AC3E}">
        <p14:creationId xmlns:p14="http://schemas.microsoft.com/office/powerpoint/2010/main" val="150357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61198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369317" y="571120"/>
            <a:ext cx="440537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4.3.3 </a:t>
            </a:r>
            <a:r>
              <a:rPr lang="zh-CN" altLang="en-US" sz="2400" b="1" dirty="0">
                <a:solidFill>
                  <a:schemeClr val="bg1"/>
                </a:solidFill>
                <a:latin typeface="微软雅黑" pitchFamily="34" charset="-122"/>
                <a:ea typeface="微软雅黑" pitchFamily="34" charset="-122"/>
              </a:rPr>
              <a:t>使用二叉线索查找转发表</a:t>
            </a:r>
          </a:p>
        </p:txBody>
      </p:sp>
      <p:sp>
        <p:nvSpPr>
          <p:cNvPr id="4" name="Rectangle 8"/>
          <p:cNvSpPr>
            <a:spLocks noChangeArrowheads="1"/>
          </p:cNvSpPr>
          <p:nvPr/>
        </p:nvSpPr>
        <p:spPr bwMode="auto">
          <a:xfrm>
            <a:off x="545143" y="969791"/>
            <a:ext cx="8053711" cy="30546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二叉线索 </a:t>
            </a:r>
            <a:r>
              <a:rPr lang="en-US" altLang="zh-CN" sz="2000" b="1" dirty="0">
                <a:latin typeface="微软雅黑" pitchFamily="34" charset="-122"/>
                <a:ea typeface="微软雅黑" pitchFamily="34" charset="-122"/>
              </a:rPr>
              <a:t>(binary </a:t>
            </a:r>
            <a:r>
              <a:rPr lang="en-US" altLang="zh-CN" sz="2000" b="1" dirty="0" err="1">
                <a:latin typeface="微软雅黑" pitchFamily="34" charset="-122"/>
                <a:ea typeface="微软雅黑" pitchFamily="34" charset="-122"/>
              </a:rPr>
              <a:t>trie</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：一种特殊结构的树，可以快速在转发表中找到匹配的叶节点。</a:t>
            </a:r>
            <a:endParaRPr lang="en-US" altLang="zh-CN" sz="2000" b="1" dirty="0">
              <a:latin typeface="微软雅黑" pitchFamily="34" charset="-122"/>
              <a:ea typeface="微软雅黑" pitchFamily="34" charset="-122"/>
            </a:endParaRP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从二叉线索的根节点</a:t>
            </a:r>
            <a:r>
              <a:rPr lang="zh-CN" altLang="en-US" sz="2000" b="1" dirty="0">
                <a:solidFill>
                  <a:srgbClr val="C00000"/>
                </a:solidFill>
                <a:latin typeface="微软雅黑" pitchFamily="34" charset="-122"/>
                <a:ea typeface="微软雅黑" pitchFamily="34" charset="-122"/>
              </a:rPr>
              <a:t>自顶向下</a:t>
            </a:r>
            <a:r>
              <a:rPr lang="zh-CN" altLang="en-US" sz="2000" b="1" dirty="0">
                <a:latin typeface="微软雅黑" pitchFamily="34" charset="-122"/>
                <a:ea typeface="微软雅黑" pitchFamily="34" charset="-122"/>
              </a:rPr>
              <a:t>的深度最多有 </a:t>
            </a:r>
            <a:r>
              <a:rPr lang="en-US" altLang="zh-CN" sz="2000" b="1" dirty="0">
                <a:solidFill>
                  <a:srgbClr val="C00000"/>
                </a:solidFill>
                <a:latin typeface="微软雅黑" pitchFamily="34" charset="-122"/>
                <a:ea typeface="微软雅黑" pitchFamily="34" charset="-122"/>
              </a:rPr>
              <a:t>32</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层，每一层对应于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地址中的一位。</a:t>
            </a:r>
            <a:endParaRPr lang="en-US" altLang="zh-CN" sz="2000" b="1" dirty="0">
              <a:latin typeface="微软雅黑" pitchFamily="34" charset="-122"/>
              <a:ea typeface="微软雅黑" pitchFamily="34" charset="-122"/>
            </a:endParaRP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为简化二叉线索的结构，可以用</a:t>
            </a:r>
            <a:r>
              <a:rPr lang="zh-CN" altLang="en-US" sz="2000" b="1" dirty="0">
                <a:solidFill>
                  <a:srgbClr val="C00000"/>
                </a:solidFill>
                <a:latin typeface="微软雅黑" pitchFamily="34" charset="-122"/>
                <a:ea typeface="微软雅黑" pitchFamily="34" charset="-122"/>
              </a:rPr>
              <a:t>唯一前缀 </a:t>
            </a:r>
            <a:r>
              <a:rPr lang="en-US" altLang="zh-CN" sz="2000" b="1" dirty="0">
                <a:latin typeface="微软雅黑" pitchFamily="34" charset="-122"/>
                <a:ea typeface="微软雅黑" pitchFamily="34" charset="-122"/>
              </a:rPr>
              <a:t>(unique prefix) </a:t>
            </a:r>
            <a:r>
              <a:rPr lang="zh-CN" altLang="en-US" sz="2000" b="1" dirty="0">
                <a:latin typeface="微软雅黑" pitchFamily="34" charset="-122"/>
                <a:ea typeface="微软雅黑" pitchFamily="34" charset="-122"/>
              </a:rPr>
              <a:t>来构造二叉线索。</a:t>
            </a:r>
            <a:endParaRPr lang="en-US" altLang="zh-CN" sz="2000" b="1" dirty="0">
              <a:latin typeface="微软雅黑" pitchFamily="34" charset="-122"/>
              <a:ea typeface="微软雅黑" pitchFamily="34" charset="-122"/>
            </a:endParaRP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为了提高二叉线索的查找速度，广泛使用了各种</a:t>
            </a:r>
            <a:r>
              <a:rPr lang="zh-CN" altLang="en-US" sz="2000" b="1" dirty="0">
                <a:solidFill>
                  <a:srgbClr val="C00000"/>
                </a:solidFill>
                <a:latin typeface="微软雅黑" pitchFamily="34" charset="-122"/>
                <a:ea typeface="微软雅黑" pitchFamily="34" charset="-122"/>
              </a:rPr>
              <a:t>压缩</a:t>
            </a:r>
            <a:r>
              <a:rPr lang="zh-CN" altLang="en-US" sz="2000" b="1" dirty="0">
                <a:latin typeface="微软雅黑" pitchFamily="34" charset="-122"/>
                <a:ea typeface="微软雅黑" pitchFamily="34" charset="-122"/>
              </a:rPr>
              <a:t>技术。 </a:t>
            </a:r>
          </a:p>
        </p:txBody>
      </p:sp>
    </p:spTree>
    <p:extLst>
      <p:ext uri="{BB962C8B-B14F-4D97-AF65-F5344CB8AC3E}">
        <p14:creationId xmlns:p14="http://schemas.microsoft.com/office/powerpoint/2010/main" val="107694857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圆角矩形 7"/>
          <p:cNvSpPr/>
          <p:nvPr/>
        </p:nvSpPr>
        <p:spPr>
          <a:xfrm>
            <a:off x="545144" y="1019908"/>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3" name="矩形 12"/>
          <p:cNvSpPr/>
          <p:nvPr/>
        </p:nvSpPr>
        <p:spPr>
          <a:xfrm>
            <a:off x="682385" y="3073260"/>
            <a:ext cx="7766343" cy="1040285"/>
          </a:xfrm>
          <a:prstGeom prst="rect">
            <a:avLst/>
          </a:prstGeom>
          <a:solidFill>
            <a:srgbClr val="00FF99"/>
          </a:solidFill>
          <a:ln>
            <a:solidFill>
              <a:srgbClr val="000099"/>
            </a:solidFill>
          </a:ln>
        </p:spPr>
        <p:txBody>
          <a:bodyPr wrap="square">
            <a:spAutoFit/>
          </a:bodyPr>
          <a:lstStyle/>
          <a:p>
            <a:pPr>
              <a:lnSpc>
                <a:spcPct val="110000"/>
              </a:lnSpc>
            </a:pPr>
            <a:r>
              <a:rPr lang="zh-CN" altLang="en-US" sz="1400" b="1" dirty="0">
                <a:solidFill>
                  <a:srgbClr val="0000FF"/>
                </a:solidFill>
                <a:latin typeface="微软雅黑" pitchFamily="34" charset="-122"/>
                <a:ea typeface="微软雅黑" pitchFamily="34" charset="-122"/>
              </a:rPr>
              <a:t>规则：</a:t>
            </a:r>
            <a:r>
              <a:rPr lang="zh-CN" altLang="en-US" sz="1400" b="1" dirty="0">
                <a:latin typeface="微软雅黑" pitchFamily="34" charset="-122"/>
                <a:ea typeface="微软雅黑" pitchFamily="34" charset="-122"/>
              </a:rPr>
              <a:t>先检查 </a:t>
            </a:r>
            <a:r>
              <a:rPr lang="en-US" altLang="zh-CN" sz="1400" b="1" dirty="0">
                <a:latin typeface="微软雅黑" pitchFamily="34" charset="-122"/>
                <a:ea typeface="微软雅黑" pitchFamily="34" charset="-122"/>
              </a:rPr>
              <a:t>IP </a:t>
            </a:r>
            <a:r>
              <a:rPr lang="zh-CN" altLang="en-US" sz="1400" b="1" dirty="0">
                <a:latin typeface="微软雅黑" pitchFamily="34" charset="-122"/>
                <a:ea typeface="微软雅黑" pitchFamily="34" charset="-122"/>
              </a:rPr>
              <a:t>地址左边的第一位，如为 </a:t>
            </a:r>
            <a:r>
              <a:rPr lang="en-US" altLang="zh-CN" sz="1400" b="1" dirty="0">
                <a:latin typeface="微软雅黑" pitchFamily="34" charset="-122"/>
                <a:ea typeface="微软雅黑" pitchFamily="34" charset="-122"/>
              </a:rPr>
              <a:t>0</a:t>
            </a:r>
            <a:r>
              <a:rPr lang="zh-CN" altLang="en-US" sz="1400" b="1" dirty="0">
                <a:latin typeface="微软雅黑" pitchFamily="34" charset="-122"/>
                <a:ea typeface="微软雅黑" pitchFamily="34" charset="-122"/>
              </a:rPr>
              <a:t>，则第一层的节点就在根节点的左下方；如为 </a:t>
            </a:r>
            <a:r>
              <a:rPr lang="en-US" altLang="zh-CN" sz="1400" b="1" dirty="0">
                <a:latin typeface="微软雅黑" pitchFamily="34" charset="-122"/>
                <a:ea typeface="微软雅黑" pitchFamily="34" charset="-122"/>
              </a:rPr>
              <a:t>1</a:t>
            </a:r>
            <a:r>
              <a:rPr lang="zh-CN" altLang="en-US" sz="1400" b="1" dirty="0">
                <a:latin typeface="微软雅黑" pitchFamily="34" charset="-122"/>
                <a:ea typeface="微软雅黑" pitchFamily="34" charset="-122"/>
              </a:rPr>
              <a:t>，则在右下方。然后再检查地址的第二位，构造出第二层的节点。依此类推，直到唯一前缀的最后一位。每个叶节点代表一个唯一前缀。</a:t>
            </a:r>
            <a:endParaRPr lang="en-US" altLang="zh-CN" sz="1400" b="1" dirty="0">
              <a:latin typeface="微软雅黑" pitchFamily="34" charset="-122"/>
              <a:ea typeface="微软雅黑" pitchFamily="34" charset="-122"/>
            </a:endParaRPr>
          </a:p>
          <a:p>
            <a:pPr>
              <a:lnSpc>
                <a:spcPct val="110000"/>
              </a:lnSpc>
            </a:pPr>
            <a:r>
              <a:rPr lang="zh-CN" altLang="en-US" sz="1400" b="1" dirty="0">
                <a:latin typeface="微软雅黑" pitchFamily="34" charset="-122"/>
                <a:ea typeface="微软雅黑" pitchFamily="34" charset="-122"/>
              </a:rPr>
              <a:t>为检查网络前缀是否匹配，必须使二叉线索中的每一个叶节点</a:t>
            </a:r>
            <a:r>
              <a:rPr lang="zh-CN" altLang="en-US" sz="1400" b="1" dirty="0">
                <a:solidFill>
                  <a:srgbClr val="C00000"/>
                </a:solidFill>
                <a:latin typeface="微软雅黑" pitchFamily="34" charset="-122"/>
                <a:ea typeface="微软雅黑" pitchFamily="34" charset="-122"/>
              </a:rPr>
              <a:t>包含</a:t>
            </a:r>
            <a:r>
              <a:rPr lang="zh-CN" altLang="en-US" sz="1400" b="1" dirty="0">
                <a:latin typeface="微软雅黑" pitchFamily="34" charset="-122"/>
                <a:ea typeface="微软雅黑" pitchFamily="34" charset="-122"/>
              </a:rPr>
              <a:t>所对应的网络前缀和子网掩码。</a:t>
            </a:r>
          </a:p>
        </p:txBody>
      </p:sp>
      <p:sp>
        <p:nvSpPr>
          <p:cNvPr id="14" name="Text Box 4"/>
          <p:cNvSpPr txBox="1">
            <a:spLocks noChangeArrowheads="1"/>
          </p:cNvSpPr>
          <p:nvPr/>
        </p:nvSpPr>
        <p:spPr bwMode="auto">
          <a:xfrm>
            <a:off x="607293" y="1159625"/>
            <a:ext cx="5525872" cy="18128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Aft>
                <a:spcPct val="30000"/>
              </a:spcAft>
            </a:pPr>
            <a:r>
              <a:rPr kumimoji="1" lang="en-US" altLang="zh-CN" sz="1400" b="1" dirty="0">
                <a:latin typeface="微软雅黑" pitchFamily="34" charset="-122"/>
                <a:ea typeface="微软雅黑" pitchFamily="34" charset="-122"/>
              </a:rPr>
              <a:t>                     </a:t>
            </a:r>
            <a:r>
              <a:rPr kumimoji="1" lang="en-US" altLang="zh-CN" sz="1600" b="1" dirty="0">
                <a:latin typeface="微软雅黑" pitchFamily="34" charset="-122"/>
                <a:ea typeface="微软雅黑" pitchFamily="34" charset="-122"/>
              </a:rPr>
              <a:t>32 </a:t>
            </a:r>
            <a:r>
              <a:rPr kumimoji="1" lang="zh-CN" altLang="en-US" sz="1600" b="1" dirty="0">
                <a:latin typeface="微软雅黑" pitchFamily="34" charset="-122"/>
                <a:ea typeface="微软雅黑" pitchFamily="34" charset="-122"/>
              </a:rPr>
              <a:t>位的 </a:t>
            </a:r>
            <a:r>
              <a:rPr kumimoji="1" lang="en-US" altLang="zh-CN" sz="1600" b="1" dirty="0">
                <a:latin typeface="微软雅黑" pitchFamily="34" charset="-122"/>
                <a:ea typeface="微软雅黑" pitchFamily="34" charset="-122"/>
              </a:rPr>
              <a:t>IP </a:t>
            </a:r>
            <a:r>
              <a:rPr kumimoji="1" lang="zh-CN" altLang="en-US" sz="1600" b="1" dirty="0">
                <a:latin typeface="微软雅黑" pitchFamily="34" charset="-122"/>
                <a:ea typeface="微软雅黑" pitchFamily="34" charset="-122"/>
              </a:rPr>
              <a:t>地址                              唯一前缀</a:t>
            </a:r>
          </a:p>
          <a:p>
            <a:pPr>
              <a:lnSpc>
                <a:spcPct val="130000"/>
              </a:lnSpc>
            </a:pPr>
            <a:r>
              <a:rPr kumimoji="1" lang="en-US" altLang="zh-CN" sz="1400" b="1" dirty="0">
                <a:solidFill>
                  <a:srgbClr val="0000CC"/>
                </a:solidFill>
                <a:latin typeface="微软雅黑" pitchFamily="34" charset="-122"/>
                <a:ea typeface="微软雅黑" pitchFamily="34" charset="-122"/>
              </a:rPr>
              <a:t>  </a:t>
            </a:r>
            <a:r>
              <a:rPr kumimoji="1" lang="en-US" altLang="zh-CN" sz="1400" b="1" dirty="0">
                <a:solidFill>
                  <a:srgbClr val="0000FF"/>
                </a:solidFill>
                <a:latin typeface="微软雅黑" pitchFamily="34" charset="-122"/>
                <a:ea typeface="微软雅黑" pitchFamily="34" charset="-122"/>
              </a:rPr>
              <a:t>01000110 00000000 00000000 00000000	0100</a:t>
            </a:r>
          </a:p>
          <a:p>
            <a:pPr>
              <a:lnSpc>
                <a:spcPct val="130000"/>
              </a:lnSpc>
            </a:pPr>
            <a:r>
              <a:rPr kumimoji="1" lang="en-US" altLang="zh-CN" sz="1400" b="1" dirty="0">
                <a:solidFill>
                  <a:srgbClr val="0000FF"/>
                </a:solidFill>
                <a:latin typeface="微软雅黑" pitchFamily="34" charset="-122"/>
                <a:ea typeface="微软雅黑" pitchFamily="34" charset="-122"/>
              </a:rPr>
              <a:t>  01010110 00000000 00000000 00000000	0101</a:t>
            </a:r>
          </a:p>
          <a:p>
            <a:pPr>
              <a:lnSpc>
                <a:spcPct val="130000"/>
              </a:lnSpc>
            </a:pPr>
            <a:r>
              <a:rPr kumimoji="1" lang="en-US" altLang="zh-CN" sz="1400" b="1" dirty="0">
                <a:solidFill>
                  <a:srgbClr val="0000FF"/>
                </a:solidFill>
                <a:latin typeface="微软雅黑" pitchFamily="34" charset="-122"/>
                <a:ea typeface="微软雅黑" pitchFamily="34" charset="-122"/>
              </a:rPr>
              <a:t>  01100001 00000000 00000000 00000000	011</a:t>
            </a:r>
          </a:p>
          <a:p>
            <a:pPr>
              <a:lnSpc>
                <a:spcPct val="130000"/>
              </a:lnSpc>
            </a:pPr>
            <a:r>
              <a:rPr kumimoji="1" lang="en-US" altLang="zh-CN" sz="1400" b="1" dirty="0">
                <a:solidFill>
                  <a:srgbClr val="0000FF"/>
                </a:solidFill>
                <a:latin typeface="微软雅黑" pitchFamily="34" charset="-122"/>
                <a:ea typeface="微软雅黑" pitchFamily="34" charset="-122"/>
              </a:rPr>
              <a:t>  10110000 00000010 00000000 00000000	10110</a:t>
            </a:r>
          </a:p>
          <a:p>
            <a:pPr>
              <a:lnSpc>
                <a:spcPct val="130000"/>
              </a:lnSpc>
            </a:pPr>
            <a:r>
              <a:rPr kumimoji="1" lang="en-US" altLang="zh-CN" sz="1400" b="1" dirty="0">
                <a:solidFill>
                  <a:srgbClr val="0000FF"/>
                </a:solidFill>
                <a:latin typeface="微软雅黑" pitchFamily="34" charset="-122"/>
                <a:ea typeface="微软雅黑" pitchFamily="34" charset="-122"/>
              </a:rPr>
              <a:t>  10111011 00001010 00000000 00000000	10111</a:t>
            </a:r>
            <a:endParaRPr kumimoji="1" lang="en-US" altLang="zh-CN" sz="1400" b="1" dirty="0">
              <a:solidFill>
                <a:srgbClr val="0000CC"/>
              </a:solidFill>
              <a:latin typeface="微软雅黑" pitchFamily="34" charset="-122"/>
              <a:ea typeface="微软雅黑" pitchFamily="34" charset="-122"/>
            </a:endParaRPr>
          </a:p>
        </p:txBody>
      </p:sp>
      <p:sp>
        <p:nvSpPr>
          <p:cNvPr id="46" name="AutoShape 5"/>
          <p:cNvSpPr>
            <a:spLocks noChangeArrowheads="1"/>
          </p:cNvSpPr>
          <p:nvPr/>
        </p:nvSpPr>
        <p:spPr bwMode="auto">
          <a:xfrm>
            <a:off x="556963" y="615438"/>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7" name="Rectangle 6"/>
          <p:cNvSpPr>
            <a:spLocks noChangeArrowheads="1"/>
          </p:cNvSpPr>
          <p:nvPr/>
        </p:nvSpPr>
        <p:spPr bwMode="auto">
          <a:xfrm>
            <a:off x="2634346" y="582227"/>
            <a:ext cx="389401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用 </a:t>
            </a:r>
            <a:r>
              <a:rPr lang="en-US" altLang="zh-CN" sz="2000" b="1" dirty="0">
                <a:solidFill>
                  <a:schemeClr val="bg1"/>
                </a:solidFill>
                <a:latin typeface="微软雅黑" pitchFamily="34" charset="-122"/>
                <a:ea typeface="微软雅黑" pitchFamily="34" charset="-122"/>
              </a:rPr>
              <a:t>5 </a:t>
            </a:r>
            <a:r>
              <a:rPr lang="zh-CN" altLang="en-US" sz="2000" b="1" dirty="0">
                <a:solidFill>
                  <a:schemeClr val="bg1"/>
                </a:solidFill>
                <a:latin typeface="微软雅黑" pitchFamily="34" charset="-122"/>
                <a:ea typeface="微软雅黑" pitchFamily="34" charset="-122"/>
              </a:rPr>
              <a:t>个唯一前缀构成的二叉线索</a:t>
            </a:r>
          </a:p>
        </p:txBody>
      </p:sp>
      <p:grpSp>
        <p:nvGrpSpPr>
          <p:cNvPr id="2" name="组合 1"/>
          <p:cNvGrpSpPr/>
          <p:nvPr/>
        </p:nvGrpSpPr>
        <p:grpSpPr>
          <a:xfrm>
            <a:off x="6375275" y="1309581"/>
            <a:ext cx="1842271" cy="1595833"/>
            <a:chOff x="6375275" y="1309581"/>
            <a:chExt cx="1842271" cy="1595833"/>
          </a:xfrm>
        </p:grpSpPr>
        <p:sp>
          <p:nvSpPr>
            <p:cNvPr id="78" name="Freeform 7"/>
            <p:cNvSpPr>
              <a:spLocks/>
            </p:cNvSpPr>
            <p:nvPr/>
          </p:nvSpPr>
          <p:spPr bwMode="auto">
            <a:xfrm>
              <a:off x="6478712" y="1406453"/>
              <a:ext cx="756725" cy="1157744"/>
            </a:xfrm>
            <a:custGeom>
              <a:avLst/>
              <a:gdLst>
                <a:gd name="T0" fmla="*/ 695 w 695"/>
                <a:gd name="T1" fmla="*/ 0 h 1117"/>
                <a:gd name="T2" fmla="*/ 0 w 695"/>
                <a:gd name="T3" fmla="*/ 285 h 1117"/>
                <a:gd name="T4" fmla="*/ 399 w 695"/>
                <a:gd name="T5" fmla="*/ 564 h 1117"/>
                <a:gd name="T6" fmla="*/ 174 w 695"/>
                <a:gd name="T7" fmla="*/ 843 h 1117"/>
                <a:gd name="T8" fmla="*/ 338 w 695"/>
                <a:gd name="T9" fmla="*/ 1117 h 1117"/>
              </a:gdLst>
              <a:ahLst/>
              <a:cxnLst>
                <a:cxn ang="0">
                  <a:pos x="T0" y="T1"/>
                </a:cxn>
                <a:cxn ang="0">
                  <a:pos x="T2" y="T3"/>
                </a:cxn>
                <a:cxn ang="0">
                  <a:pos x="T4" y="T5"/>
                </a:cxn>
                <a:cxn ang="0">
                  <a:pos x="T6" y="T7"/>
                </a:cxn>
                <a:cxn ang="0">
                  <a:pos x="T8" y="T9"/>
                </a:cxn>
              </a:cxnLst>
              <a:rect l="0" t="0" r="r" b="b"/>
              <a:pathLst>
                <a:path w="695" h="1117">
                  <a:moveTo>
                    <a:pt x="695" y="0"/>
                  </a:moveTo>
                  <a:lnTo>
                    <a:pt x="0" y="285"/>
                  </a:lnTo>
                  <a:lnTo>
                    <a:pt x="399" y="564"/>
                  </a:lnTo>
                  <a:lnTo>
                    <a:pt x="174" y="843"/>
                  </a:lnTo>
                  <a:lnTo>
                    <a:pt x="338" y="1117"/>
                  </a:lnTo>
                </a:path>
              </a:pathLst>
            </a:custGeom>
            <a:noFill/>
            <a:ln w="190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grpSp>
          <p:nvGrpSpPr>
            <p:cNvPr id="79" name="组合 78"/>
            <p:cNvGrpSpPr/>
            <p:nvPr/>
          </p:nvGrpSpPr>
          <p:grpSpPr>
            <a:xfrm>
              <a:off x="6375275" y="1309581"/>
              <a:ext cx="1842271" cy="1595833"/>
              <a:chOff x="6375275" y="1309581"/>
              <a:chExt cx="1842271" cy="1595833"/>
            </a:xfrm>
          </p:grpSpPr>
          <p:sp>
            <p:nvSpPr>
              <p:cNvPr id="80" name="Freeform 6"/>
              <p:cNvSpPr>
                <a:spLocks/>
              </p:cNvSpPr>
              <p:nvPr/>
            </p:nvSpPr>
            <p:spPr bwMode="auto">
              <a:xfrm>
                <a:off x="7228904" y="1413031"/>
                <a:ext cx="840563" cy="1442907"/>
              </a:xfrm>
              <a:custGeom>
                <a:avLst/>
                <a:gdLst>
                  <a:gd name="T0" fmla="*/ 0 w 772"/>
                  <a:gd name="T1" fmla="*/ 0 h 1392"/>
                  <a:gd name="T2" fmla="*/ 764 w 772"/>
                  <a:gd name="T3" fmla="*/ 272 h 1392"/>
                  <a:gd name="T4" fmla="*/ 318 w 772"/>
                  <a:gd name="T5" fmla="*/ 564 h 1392"/>
                  <a:gd name="T6" fmla="*/ 510 w 772"/>
                  <a:gd name="T7" fmla="*/ 840 h 1392"/>
                  <a:gd name="T8" fmla="*/ 772 w 772"/>
                  <a:gd name="T9" fmla="*/ 1392 h 1392"/>
                </a:gdLst>
                <a:ahLst/>
                <a:cxnLst>
                  <a:cxn ang="0">
                    <a:pos x="T0" y="T1"/>
                  </a:cxn>
                  <a:cxn ang="0">
                    <a:pos x="T2" y="T3"/>
                  </a:cxn>
                  <a:cxn ang="0">
                    <a:pos x="T4" y="T5"/>
                  </a:cxn>
                  <a:cxn ang="0">
                    <a:pos x="T6" y="T7"/>
                  </a:cxn>
                  <a:cxn ang="0">
                    <a:pos x="T8" y="T9"/>
                  </a:cxn>
                </a:cxnLst>
                <a:rect l="0" t="0" r="r" b="b"/>
                <a:pathLst>
                  <a:path w="772" h="1392">
                    <a:moveTo>
                      <a:pt x="0" y="0"/>
                    </a:moveTo>
                    <a:lnTo>
                      <a:pt x="764" y="272"/>
                    </a:lnTo>
                    <a:lnTo>
                      <a:pt x="318" y="564"/>
                    </a:lnTo>
                    <a:lnTo>
                      <a:pt x="510" y="840"/>
                    </a:lnTo>
                    <a:lnTo>
                      <a:pt x="772" y="1392"/>
                    </a:lnTo>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81" name="Line 8"/>
              <p:cNvSpPr>
                <a:spLocks noChangeShapeType="1"/>
              </p:cNvSpPr>
              <p:nvPr/>
            </p:nvSpPr>
            <p:spPr bwMode="auto">
              <a:xfrm flipH="1">
                <a:off x="7799442" y="2557281"/>
                <a:ext cx="121947" cy="29865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82" name="Text Box 9"/>
              <p:cNvSpPr txBox="1">
                <a:spLocks noChangeArrowheads="1"/>
              </p:cNvSpPr>
              <p:nvPr/>
            </p:nvSpPr>
            <p:spPr bwMode="auto">
              <a:xfrm>
                <a:off x="6375275" y="2226240"/>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83" name="Text Box 10"/>
              <p:cNvSpPr txBox="1">
                <a:spLocks noChangeArrowheads="1"/>
              </p:cNvSpPr>
              <p:nvPr/>
            </p:nvSpPr>
            <p:spPr bwMode="auto">
              <a:xfrm>
                <a:off x="6571261" y="193388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0</a:t>
                </a:r>
              </a:p>
            </p:txBody>
          </p:sp>
          <p:sp>
            <p:nvSpPr>
              <p:cNvPr id="84" name="Text Box 11"/>
              <p:cNvSpPr txBox="1">
                <a:spLocks noChangeArrowheads="1"/>
              </p:cNvSpPr>
              <p:nvPr/>
            </p:nvSpPr>
            <p:spPr bwMode="auto">
              <a:xfrm>
                <a:off x="7633942" y="2550085"/>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0</a:t>
                </a:r>
              </a:p>
            </p:txBody>
          </p:sp>
          <p:sp>
            <p:nvSpPr>
              <p:cNvPr id="85" name="Text Box 12"/>
              <p:cNvSpPr txBox="1">
                <a:spLocks noChangeArrowheads="1"/>
              </p:cNvSpPr>
              <p:nvPr/>
            </p:nvSpPr>
            <p:spPr bwMode="auto">
              <a:xfrm>
                <a:off x="6680143" y="130958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86" name="Line 13"/>
              <p:cNvSpPr>
                <a:spLocks noChangeShapeType="1"/>
              </p:cNvSpPr>
              <p:nvPr/>
            </p:nvSpPr>
            <p:spPr bwMode="auto">
              <a:xfrm flipH="1">
                <a:off x="6540775" y="2277516"/>
                <a:ext cx="124125" cy="28606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87" name="Freeform 14"/>
              <p:cNvSpPr>
                <a:spLocks/>
              </p:cNvSpPr>
              <p:nvPr/>
            </p:nvSpPr>
            <p:spPr bwMode="auto">
              <a:xfrm>
                <a:off x="6919681" y="2004047"/>
                <a:ext cx="182921" cy="273469"/>
              </a:xfrm>
              <a:custGeom>
                <a:avLst/>
                <a:gdLst>
                  <a:gd name="T0" fmla="*/ 0 w 168"/>
                  <a:gd name="T1" fmla="*/ 0 h 264"/>
                  <a:gd name="T2" fmla="*/ 168 w 168"/>
                  <a:gd name="T3" fmla="*/ 264 h 264"/>
                </a:gdLst>
                <a:ahLst/>
                <a:cxnLst>
                  <a:cxn ang="0">
                    <a:pos x="T0" y="T1"/>
                  </a:cxn>
                  <a:cxn ang="0">
                    <a:pos x="T2" y="T3"/>
                  </a:cxn>
                </a:cxnLst>
                <a:rect l="0" t="0" r="r" b="b"/>
                <a:pathLst>
                  <a:path w="168" h="264">
                    <a:moveTo>
                      <a:pt x="0" y="0"/>
                    </a:moveTo>
                    <a:lnTo>
                      <a:pt x="168" y="264"/>
                    </a:lnTo>
                  </a:path>
                </a:pathLst>
              </a:custGeom>
              <a:noFill/>
              <a:ln w="28575">
                <a:solidFill>
                  <a:schemeClr val="tx1"/>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88" name="Text Box 15"/>
              <p:cNvSpPr txBox="1">
                <a:spLocks noChangeArrowheads="1"/>
              </p:cNvSpPr>
              <p:nvPr/>
            </p:nvSpPr>
            <p:spPr bwMode="auto">
              <a:xfrm>
                <a:off x="7938810" y="2555482"/>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89" name="Text Box 16"/>
              <p:cNvSpPr txBox="1">
                <a:spLocks noChangeArrowheads="1"/>
              </p:cNvSpPr>
              <p:nvPr/>
            </p:nvSpPr>
            <p:spPr bwMode="auto">
              <a:xfrm>
                <a:off x="6965411" y="195457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90" name="Text Box 17"/>
              <p:cNvSpPr txBox="1">
                <a:spLocks noChangeArrowheads="1"/>
              </p:cNvSpPr>
              <p:nvPr/>
            </p:nvSpPr>
            <p:spPr bwMode="auto">
              <a:xfrm>
                <a:off x="6743294" y="2259524"/>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91" name="Text Box 18"/>
              <p:cNvSpPr txBox="1">
                <a:spLocks noChangeArrowheads="1"/>
              </p:cNvSpPr>
              <p:nvPr/>
            </p:nvSpPr>
            <p:spPr bwMode="auto">
              <a:xfrm>
                <a:off x="6671432" y="166311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92" name="Text Box 19"/>
              <p:cNvSpPr txBox="1">
                <a:spLocks noChangeArrowheads="1"/>
              </p:cNvSpPr>
              <p:nvPr/>
            </p:nvSpPr>
            <p:spPr bwMode="auto">
              <a:xfrm>
                <a:off x="7625232" y="135186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93" name="Text Box 20"/>
              <p:cNvSpPr txBox="1">
                <a:spLocks noChangeArrowheads="1"/>
              </p:cNvSpPr>
              <p:nvPr/>
            </p:nvSpPr>
            <p:spPr bwMode="auto">
              <a:xfrm>
                <a:off x="7801620" y="2256826"/>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94" name="Text Box 21"/>
              <p:cNvSpPr txBox="1">
                <a:spLocks noChangeArrowheads="1"/>
              </p:cNvSpPr>
              <p:nvPr/>
            </p:nvSpPr>
            <p:spPr bwMode="auto">
              <a:xfrm>
                <a:off x="7638298" y="1951872"/>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1</a:t>
                </a:r>
              </a:p>
            </p:txBody>
          </p:sp>
          <p:sp>
            <p:nvSpPr>
              <p:cNvPr id="95" name="Text Box 22"/>
              <p:cNvSpPr txBox="1">
                <a:spLocks noChangeArrowheads="1"/>
              </p:cNvSpPr>
              <p:nvPr/>
            </p:nvSpPr>
            <p:spPr bwMode="auto">
              <a:xfrm>
                <a:off x="7642653" y="1632526"/>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96" name="Oval 23"/>
              <p:cNvSpPr>
                <a:spLocks noChangeArrowheads="1"/>
              </p:cNvSpPr>
              <p:nvPr/>
            </p:nvSpPr>
            <p:spPr bwMode="auto">
              <a:xfrm>
                <a:off x="7553370" y="1959968"/>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97" name="Oval 24"/>
              <p:cNvSpPr>
                <a:spLocks noChangeArrowheads="1"/>
              </p:cNvSpPr>
              <p:nvPr/>
            </p:nvSpPr>
            <p:spPr bwMode="auto">
              <a:xfrm>
                <a:off x="6867418" y="1959968"/>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98" name="Oval 25"/>
              <p:cNvSpPr>
                <a:spLocks noChangeArrowheads="1"/>
              </p:cNvSpPr>
              <p:nvPr/>
            </p:nvSpPr>
            <p:spPr bwMode="auto">
              <a:xfrm>
                <a:off x="6442781" y="1667609"/>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99" name="Oval 26"/>
              <p:cNvSpPr>
                <a:spLocks noChangeArrowheads="1"/>
              </p:cNvSpPr>
              <p:nvPr/>
            </p:nvSpPr>
            <p:spPr bwMode="auto">
              <a:xfrm>
                <a:off x="7742824" y="2246031"/>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0" name="Oval 27"/>
              <p:cNvSpPr>
                <a:spLocks noChangeArrowheads="1"/>
              </p:cNvSpPr>
              <p:nvPr/>
            </p:nvSpPr>
            <p:spPr bwMode="auto">
              <a:xfrm>
                <a:off x="7880014" y="2525796"/>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1" name="Oval 28"/>
              <p:cNvSpPr>
                <a:spLocks noChangeArrowheads="1"/>
              </p:cNvSpPr>
              <p:nvPr/>
            </p:nvSpPr>
            <p:spPr bwMode="auto">
              <a:xfrm>
                <a:off x="6638768" y="2239734"/>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2" name="Oval 29"/>
              <p:cNvSpPr>
                <a:spLocks noChangeArrowheads="1"/>
              </p:cNvSpPr>
              <p:nvPr/>
            </p:nvSpPr>
            <p:spPr bwMode="auto">
              <a:xfrm>
                <a:off x="8010672" y="1661312"/>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3" name="Oval 30"/>
              <p:cNvSpPr>
                <a:spLocks noChangeArrowheads="1"/>
              </p:cNvSpPr>
              <p:nvPr/>
            </p:nvSpPr>
            <p:spPr bwMode="auto">
              <a:xfrm>
                <a:off x="7183174" y="1375249"/>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4" name="Rectangle 31"/>
              <p:cNvSpPr>
                <a:spLocks noChangeArrowheads="1"/>
              </p:cNvSpPr>
              <p:nvPr/>
            </p:nvSpPr>
            <p:spPr bwMode="auto">
              <a:xfrm>
                <a:off x="6481979" y="2513203"/>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5" name="Rectangle 32"/>
              <p:cNvSpPr>
                <a:spLocks noChangeArrowheads="1"/>
              </p:cNvSpPr>
              <p:nvPr/>
            </p:nvSpPr>
            <p:spPr bwMode="auto">
              <a:xfrm>
                <a:off x="6795557" y="2507805"/>
                <a:ext cx="104526" cy="989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6" name="Rectangle 33"/>
              <p:cNvSpPr>
                <a:spLocks noChangeArrowheads="1"/>
              </p:cNvSpPr>
              <p:nvPr/>
            </p:nvSpPr>
            <p:spPr bwMode="auto">
              <a:xfrm>
                <a:off x="7037273" y="2227140"/>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7" name="Rectangle 34"/>
              <p:cNvSpPr>
                <a:spLocks noChangeArrowheads="1"/>
              </p:cNvSpPr>
              <p:nvPr/>
            </p:nvSpPr>
            <p:spPr bwMode="auto">
              <a:xfrm>
                <a:off x="8017204" y="2805562"/>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8" name="Rectangle 35"/>
              <p:cNvSpPr>
                <a:spLocks noChangeArrowheads="1"/>
              </p:cNvSpPr>
              <p:nvPr/>
            </p:nvSpPr>
            <p:spPr bwMode="auto">
              <a:xfrm>
                <a:off x="7749357" y="2805562"/>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grpSp>
      </p:grpSp>
    </p:spTree>
    <p:extLst>
      <p:ext uri="{BB962C8B-B14F-4D97-AF65-F5344CB8AC3E}">
        <p14:creationId xmlns:p14="http://schemas.microsoft.com/office/powerpoint/2010/main" val="327923014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圆角矩形 7"/>
          <p:cNvSpPr/>
          <p:nvPr/>
        </p:nvSpPr>
        <p:spPr>
          <a:xfrm>
            <a:off x="545144" y="1019908"/>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3" name="矩形 12"/>
          <p:cNvSpPr/>
          <p:nvPr/>
        </p:nvSpPr>
        <p:spPr>
          <a:xfrm>
            <a:off x="1058078" y="2115412"/>
            <a:ext cx="4433248" cy="1717393"/>
          </a:xfrm>
          <a:prstGeom prst="rect">
            <a:avLst/>
          </a:prstGeom>
          <a:solidFill>
            <a:srgbClr val="00FF99"/>
          </a:solidFill>
          <a:ln>
            <a:solidFill>
              <a:srgbClr val="000099"/>
            </a:solidFill>
          </a:ln>
        </p:spPr>
        <p:txBody>
          <a:bodyPr wrap="square">
            <a:spAutoFit/>
          </a:bodyPr>
          <a:lstStyle/>
          <a:p>
            <a:pPr marL="342900" indent="-342900">
              <a:lnSpc>
                <a:spcPct val="110000"/>
              </a:lnSpc>
              <a:buFont typeface="+mj-lt"/>
              <a:buAutoNum type="arabicPeriod"/>
            </a:pPr>
            <a:r>
              <a:rPr lang="zh-CN" altLang="en-US" sz="1600" b="1" dirty="0">
                <a:latin typeface="微软雅黑" pitchFamily="34" charset="-122"/>
                <a:ea typeface="微软雅黑" pitchFamily="34" charset="-122"/>
              </a:rPr>
              <a:t>找到了一个叶节点。</a:t>
            </a:r>
            <a:endParaRPr lang="en-US" altLang="zh-CN" sz="1600" b="1" dirty="0">
              <a:latin typeface="微软雅黑" pitchFamily="34" charset="-122"/>
              <a:ea typeface="微软雅黑" pitchFamily="34" charset="-122"/>
            </a:endParaRPr>
          </a:p>
          <a:p>
            <a:pPr marL="342900" indent="-342900">
              <a:lnSpc>
                <a:spcPct val="110000"/>
              </a:lnSpc>
              <a:buFont typeface="+mj-lt"/>
              <a:buAutoNum type="arabicPeriod"/>
            </a:pPr>
            <a:r>
              <a:rPr lang="zh-CN" altLang="en-US" sz="1600" b="1" dirty="0">
                <a:latin typeface="微软雅黑" pitchFamily="34" charset="-122"/>
                <a:ea typeface="微软雅黑" pitchFamily="34" charset="-122"/>
              </a:rPr>
              <a:t>将目的 </a:t>
            </a:r>
            <a:r>
              <a:rPr lang="en-US" altLang="zh-CN" sz="1600" b="1" dirty="0">
                <a:latin typeface="微软雅黑" pitchFamily="34" charset="-122"/>
                <a:ea typeface="微软雅黑" pitchFamily="34" charset="-122"/>
              </a:rPr>
              <a:t>IP </a:t>
            </a:r>
            <a:r>
              <a:rPr lang="zh-CN" altLang="en-US" sz="1600" b="1" dirty="0">
                <a:latin typeface="微软雅黑" pitchFamily="34" charset="-122"/>
                <a:ea typeface="微软雅黑" pitchFamily="34" charset="-122"/>
              </a:rPr>
              <a:t>地址和该叶节点的子网掩码进行按位 </a:t>
            </a:r>
            <a:r>
              <a:rPr lang="en-US" altLang="zh-CN" sz="1600" b="1" dirty="0">
                <a:latin typeface="微软雅黑" pitchFamily="34" charset="-122"/>
                <a:ea typeface="微软雅黑" pitchFamily="34" charset="-122"/>
              </a:rPr>
              <a:t>AND </a:t>
            </a:r>
            <a:r>
              <a:rPr lang="zh-CN" altLang="en-US" sz="1600" b="1" dirty="0">
                <a:latin typeface="微软雅黑" pitchFamily="34" charset="-122"/>
                <a:ea typeface="微软雅黑" pitchFamily="34" charset="-122"/>
              </a:rPr>
              <a:t>运算，看结果是否与叶节点的网络前缀相匹配。</a:t>
            </a:r>
            <a:endParaRPr lang="en-US" altLang="zh-CN" sz="1600" b="1" dirty="0">
              <a:latin typeface="微软雅黑" pitchFamily="34" charset="-122"/>
              <a:ea typeface="微软雅黑" pitchFamily="34" charset="-122"/>
            </a:endParaRPr>
          </a:p>
          <a:p>
            <a:pPr marL="342900" indent="-342900">
              <a:lnSpc>
                <a:spcPct val="110000"/>
              </a:lnSpc>
              <a:buFont typeface="+mj-lt"/>
              <a:buAutoNum type="arabicPeriod"/>
            </a:pPr>
            <a:r>
              <a:rPr lang="zh-CN" altLang="en-US" sz="1600" b="1" dirty="0">
                <a:latin typeface="微软雅黑" pitchFamily="34" charset="-122"/>
                <a:ea typeface="微软雅黑" pitchFamily="34" charset="-122"/>
              </a:rPr>
              <a:t>若匹配，就按下一跳的接口转发该分组。否则，就丢弃该分组。</a:t>
            </a:r>
          </a:p>
        </p:txBody>
      </p:sp>
      <p:sp>
        <p:nvSpPr>
          <p:cNvPr id="14" name="Text Box 4"/>
          <p:cNvSpPr txBox="1">
            <a:spLocks noChangeArrowheads="1"/>
          </p:cNvSpPr>
          <p:nvPr/>
        </p:nvSpPr>
        <p:spPr bwMode="auto">
          <a:xfrm>
            <a:off x="975990" y="1351400"/>
            <a:ext cx="4419800" cy="7325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Aft>
                <a:spcPct val="30000"/>
              </a:spcAft>
            </a:pPr>
            <a:r>
              <a:rPr kumimoji="1" lang="en-US" altLang="zh-CN" sz="1600" b="1" dirty="0">
                <a:latin typeface="微软雅黑" pitchFamily="34" charset="-122"/>
                <a:ea typeface="微软雅黑" pitchFamily="34" charset="-122"/>
              </a:rPr>
              <a:t>                     32 </a:t>
            </a:r>
            <a:r>
              <a:rPr kumimoji="1" lang="zh-CN" altLang="en-US" sz="1600" b="1" dirty="0">
                <a:latin typeface="微软雅黑" pitchFamily="34" charset="-122"/>
                <a:ea typeface="微软雅黑" pitchFamily="34" charset="-122"/>
              </a:rPr>
              <a:t>位的 </a:t>
            </a:r>
            <a:r>
              <a:rPr kumimoji="1" lang="en-US" altLang="zh-CN" sz="1600" b="1" dirty="0">
                <a:latin typeface="微软雅黑" pitchFamily="34" charset="-122"/>
                <a:ea typeface="微软雅黑" pitchFamily="34" charset="-122"/>
              </a:rPr>
              <a:t>IP </a:t>
            </a:r>
            <a:r>
              <a:rPr kumimoji="1" lang="zh-CN" altLang="en-US" sz="1600" b="1" dirty="0">
                <a:latin typeface="微软雅黑" pitchFamily="34" charset="-122"/>
                <a:ea typeface="微软雅黑" pitchFamily="34" charset="-122"/>
              </a:rPr>
              <a:t>地址</a:t>
            </a:r>
          </a:p>
          <a:p>
            <a:pPr>
              <a:lnSpc>
                <a:spcPct val="130000"/>
              </a:lnSpc>
            </a:pPr>
            <a:r>
              <a:rPr kumimoji="1" lang="en-US" altLang="zh-CN" sz="1600" b="1" dirty="0">
                <a:solidFill>
                  <a:srgbClr val="0000FF"/>
                </a:solidFill>
                <a:latin typeface="微软雅黑" pitchFamily="34" charset="-122"/>
                <a:ea typeface="微软雅黑" pitchFamily="34" charset="-122"/>
              </a:rPr>
              <a:t>01010110 01111010 00000000 00000000</a:t>
            </a:r>
            <a:endParaRPr kumimoji="1" lang="en-US" altLang="zh-CN" sz="1600" b="1" dirty="0">
              <a:solidFill>
                <a:srgbClr val="0000CC"/>
              </a:solidFill>
              <a:latin typeface="微软雅黑" pitchFamily="34" charset="-122"/>
              <a:ea typeface="微软雅黑" pitchFamily="34" charset="-122"/>
            </a:endParaRPr>
          </a:p>
        </p:txBody>
      </p:sp>
      <p:sp>
        <p:nvSpPr>
          <p:cNvPr id="46" name="AutoShape 5"/>
          <p:cNvSpPr>
            <a:spLocks noChangeArrowheads="1"/>
          </p:cNvSpPr>
          <p:nvPr/>
        </p:nvSpPr>
        <p:spPr bwMode="auto">
          <a:xfrm>
            <a:off x="556963" y="615438"/>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7" name="Rectangle 6"/>
          <p:cNvSpPr>
            <a:spLocks noChangeArrowheads="1"/>
          </p:cNvSpPr>
          <p:nvPr/>
        </p:nvSpPr>
        <p:spPr bwMode="auto">
          <a:xfrm>
            <a:off x="2953350" y="582227"/>
            <a:ext cx="325602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在二叉线索中查找 </a:t>
            </a: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地址</a:t>
            </a:r>
          </a:p>
        </p:txBody>
      </p:sp>
      <p:grpSp>
        <p:nvGrpSpPr>
          <p:cNvPr id="49" name="组合 48"/>
          <p:cNvGrpSpPr/>
          <p:nvPr/>
        </p:nvGrpSpPr>
        <p:grpSpPr>
          <a:xfrm>
            <a:off x="6375275" y="1309581"/>
            <a:ext cx="1842271" cy="1595833"/>
            <a:chOff x="6375275" y="1309581"/>
            <a:chExt cx="1842271" cy="1595833"/>
          </a:xfrm>
        </p:grpSpPr>
        <p:sp>
          <p:nvSpPr>
            <p:cNvPr id="50" name="Freeform 7"/>
            <p:cNvSpPr>
              <a:spLocks/>
            </p:cNvSpPr>
            <p:nvPr/>
          </p:nvSpPr>
          <p:spPr bwMode="auto">
            <a:xfrm>
              <a:off x="6478712" y="1406453"/>
              <a:ext cx="756725" cy="1157744"/>
            </a:xfrm>
            <a:custGeom>
              <a:avLst/>
              <a:gdLst>
                <a:gd name="T0" fmla="*/ 695 w 695"/>
                <a:gd name="T1" fmla="*/ 0 h 1117"/>
                <a:gd name="T2" fmla="*/ 0 w 695"/>
                <a:gd name="T3" fmla="*/ 285 h 1117"/>
                <a:gd name="T4" fmla="*/ 399 w 695"/>
                <a:gd name="T5" fmla="*/ 564 h 1117"/>
                <a:gd name="T6" fmla="*/ 174 w 695"/>
                <a:gd name="T7" fmla="*/ 843 h 1117"/>
                <a:gd name="T8" fmla="*/ 338 w 695"/>
                <a:gd name="T9" fmla="*/ 1117 h 1117"/>
              </a:gdLst>
              <a:ahLst/>
              <a:cxnLst>
                <a:cxn ang="0">
                  <a:pos x="T0" y="T1"/>
                </a:cxn>
                <a:cxn ang="0">
                  <a:pos x="T2" y="T3"/>
                </a:cxn>
                <a:cxn ang="0">
                  <a:pos x="T4" y="T5"/>
                </a:cxn>
                <a:cxn ang="0">
                  <a:pos x="T6" y="T7"/>
                </a:cxn>
                <a:cxn ang="0">
                  <a:pos x="T8" y="T9"/>
                </a:cxn>
              </a:cxnLst>
              <a:rect l="0" t="0" r="r" b="b"/>
              <a:pathLst>
                <a:path w="695" h="1117">
                  <a:moveTo>
                    <a:pt x="695" y="0"/>
                  </a:moveTo>
                  <a:lnTo>
                    <a:pt x="0" y="285"/>
                  </a:lnTo>
                  <a:lnTo>
                    <a:pt x="399" y="564"/>
                  </a:lnTo>
                  <a:lnTo>
                    <a:pt x="174" y="843"/>
                  </a:lnTo>
                  <a:lnTo>
                    <a:pt x="338" y="1117"/>
                  </a:lnTo>
                </a:path>
              </a:pathLst>
            </a:custGeom>
            <a:noFill/>
            <a:ln w="190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grpSp>
          <p:nvGrpSpPr>
            <p:cNvPr id="51" name="组合 50"/>
            <p:cNvGrpSpPr/>
            <p:nvPr/>
          </p:nvGrpSpPr>
          <p:grpSpPr>
            <a:xfrm>
              <a:off x="6375275" y="1309581"/>
              <a:ext cx="1842271" cy="1595833"/>
              <a:chOff x="6375275" y="1309581"/>
              <a:chExt cx="1842271" cy="1595833"/>
            </a:xfrm>
          </p:grpSpPr>
          <p:sp>
            <p:nvSpPr>
              <p:cNvPr id="52" name="Freeform 6"/>
              <p:cNvSpPr>
                <a:spLocks/>
              </p:cNvSpPr>
              <p:nvPr/>
            </p:nvSpPr>
            <p:spPr bwMode="auto">
              <a:xfrm>
                <a:off x="7228904" y="1413031"/>
                <a:ext cx="840563" cy="1442907"/>
              </a:xfrm>
              <a:custGeom>
                <a:avLst/>
                <a:gdLst>
                  <a:gd name="T0" fmla="*/ 0 w 772"/>
                  <a:gd name="T1" fmla="*/ 0 h 1392"/>
                  <a:gd name="T2" fmla="*/ 764 w 772"/>
                  <a:gd name="T3" fmla="*/ 272 h 1392"/>
                  <a:gd name="T4" fmla="*/ 318 w 772"/>
                  <a:gd name="T5" fmla="*/ 564 h 1392"/>
                  <a:gd name="T6" fmla="*/ 510 w 772"/>
                  <a:gd name="T7" fmla="*/ 840 h 1392"/>
                  <a:gd name="T8" fmla="*/ 772 w 772"/>
                  <a:gd name="T9" fmla="*/ 1392 h 1392"/>
                </a:gdLst>
                <a:ahLst/>
                <a:cxnLst>
                  <a:cxn ang="0">
                    <a:pos x="T0" y="T1"/>
                  </a:cxn>
                  <a:cxn ang="0">
                    <a:pos x="T2" y="T3"/>
                  </a:cxn>
                  <a:cxn ang="0">
                    <a:pos x="T4" y="T5"/>
                  </a:cxn>
                  <a:cxn ang="0">
                    <a:pos x="T6" y="T7"/>
                  </a:cxn>
                  <a:cxn ang="0">
                    <a:pos x="T8" y="T9"/>
                  </a:cxn>
                </a:cxnLst>
                <a:rect l="0" t="0" r="r" b="b"/>
                <a:pathLst>
                  <a:path w="772" h="1392">
                    <a:moveTo>
                      <a:pt x="0" y="0"/>
                    </a:moveTo>
                    <a:lnTo>
                      <a:pt x="764" y="272"/>
                    </a:lnTo>
                    <a:lnTo>
                      <a:pt x="318" y="564"/>
                    </a:lnTo>
                    <a:lnTo>
                      <a:pt x="510" y="840"/>
                    </a:lnTo>
                    <a:lnTo>
                      <a:pt x="772" y="1392"/>
                    </a:lnTo>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53" name="Line 8"/>
              <p:cNvSpPr>
                <a:spLocks noChangeShapeType="1"/>
              </p:cNvSpPr>
              <p:nvPr/>
            </p:nvSpPr>
            <p:spPr bwMode="auto">
              <a:xfrm flipH="1">
                <a:off x="7799442" y="2557281"/>
                <a:ext cx="121947" cy="29865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54" name="Text Box 9"/>
              <p:cNvSpPr txBox="1">
                <a:spLocks noChangeArrowheads="1"/>
              </p:cNvSpPr>
              <p:nvPr/>
            </p:nvSpPr>
            <p:spPr bwMode="auto">
              <a:xfrm>
                <a:off x="6375275" y="2226240"/>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55" name="Text Box 10"/>
              <p:cNvSpPr txBox="1">
                <a:spLocks noChangeArrowheads="1"/>
              </p:cNvSpPr>
              <p:nvPr/>
            </p:nvSpPr>
            <p:spPr bwMode="auto">
              <a:xfrm>
                <a:off x="6571261" y="193388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0</a:t>
                </a:r>
              </a:p>
            </p:txBody>
          </p:sp>
          <p:sp>
            <p:nvSpPr>
              <p:cNvPr id="56" name="Text Box 11"/>
              <p:cNvSpPr txBox="1">
                <a:spLocks noChangeArrowheads="1"/>
              </p:cNvSpPr>
              <p:nvPr/>
            </p:nvSpPr>
            <p:spPr bwMode="auto">
              <a:xfrm>
                <a:off x="7633942" y="2550085"/>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0</a:t>
                </a:r>
              </a:p>
            </p:txBody>
          </p:sp>
          <p:sp>
            <p:nvSpPr>
              <p:cNvPr id="57" name="Text Box 12"/>
              <p:cNvSpPr txBox="1">
                <a:spLocks noChangeArrowheads="1"/>
              </p:cNvSpPr>
              <p:nvPr/>
            </p:nvSpPr>
            <p:spPr bwMode="auto">
              <a:xfrm>
                <a:off x="6680143" y="130958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58" name="Line 13"/>
              <p:cNvSpPr>
                <a:spLocks noChangeShapeType="1"/>
              </p:cNvSpPr>
              <p:nvPr/>
            </p:nvSpPr>
            <p:spPr bwMode="auto">
              <a:xfrm flipH="1">
                <a:off x="6540775" y="2277516"/>
                <a:ext cx="124125" cy="28606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59" name="Freeform 14"/>
              <p:cNvSpPr>
                <a:spLocks/>
              </p:cNvSpPr>
              <p:nvPr/>
            </p:nvSpPr>
            <p:spPr bwMode="auto">
              <a:xfrm>
                <a:off x="6919681" y="2004047"/>
                <a:ext cx="182921" cy="273469"/>
              </a:xfrm>
              <a:custGeom>
                <a:avLst/>
                <a:gdLst>
                  <a:gd name="T0" fmla="*/ 0 w 168"/>
                  <a:gd name="T1" fmla="*/ 0 h 264"/>
                  <a:gd name="T2" fmla="*/ 168 w 168"/>
                  <a:gd name="T3" fmla="*/ 264 h 264"/>
                </a:gdLst>
                <a:ahLst/>
                <a:cxnLst>
                  <a:cxn ang="0">
                    <a:pos x="T0" y="T1"/>
                  </a:cxn>
                  <a:cxn ang="0">
                    <a:pos x="T2" y="T3"/>
                  </a:cxn>
                </a:cxnLst>
                <a:rect l="0" t="0" r="r" b="b"/>
                <a:pathLst>
                  <a:path w="168" h="264">
                    <a:moveTo>
                      <a:pt x="0" y="0"/>
                    </a:moveTo>
                    <a:lnTo>
                      <a:pt x="168" y="264"/>
                    </a:lnTo>
                  </a:path>
                </a:pathLst>
              </a:custGeom>
              <a:noFill/>
              <a:ln w="28575">
                <a:solidFill>
                  <a:schemeClr val="tx1"/>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60" name="Text Box 15"/>
              <p:cNvSpPr txBox="1">
                <a:spLocks noChangeArrowheads="1"/>
              </p:cNvSpPr>
              <p:nvPr/>
            </p:nvSpPr>
            <p:spPr bwMode="auto">
              <a:xfrm>
                <a:off x="7938810" y="2555482"/>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1" name="Text Box 16"/>
              <p:cNvSpPr txBox="1">
                <a:spLocks noChangeArrowheads="1"/>
              </p:cNvSpPr>
              <p:nvPr/>
            </p:nvSpPr>
            <p:spPr bwMode="auto">
              <a:xfrm>
                <a:off x="6965411" y="195457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2" name="Text Box 17"/>
              <p:cNvSpPr txBox="1">
                <a:spLocks noChangeArrowheads="1"/>
              </p:cNvSpPr>
              <p:nvPr/>
            </p:nvSpPr>
            <p:spPr bwMode="auto">
              <a:xfrm>
                <a:off x="6743294" y="2259524"/>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3" name="Text Box 18"/>
              <p:cNvSpPr txBox="1">
                <a:spLocks noChangeArrowheads="1"/>
              </p:cNvSpPr>
              <p:nvPr/>
            </p:nvSpPr>
            <p:spPr bwMode="auto">
              <a:xfrm>
                <a:off x="6671432" y="166311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4" name="Text Box 19"/>
              <p:cNvSpPr txBox="1">
                <a:spLocks noChangeArrowheads="1"/>
              </p:cNvSpPr>
              <p:nvPr/>
            </p:nvSpPr>
            <p:spPr bwMode="auto">
              <a:xfrm>
                <a:off x="7625232" y="135186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5" name="Text Box 20"/>
              <p:cNvSpPr txBox="1">
                <a:spLocks noChangeArrowheads="1"/>
              </p:cNvSpPr>
              <p:nvPr/>
            </p:nvSpPr>
            <p:spPr bwMode="auto">
              <a:xfrm>
                <a:off x="7801620" y="2256826"/>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6" name="Text Box 21"/>
              <p:cNvSpPr txBox="1">
                <a:spLocks noChangeArrowheads="1"/>
              </p:cNvSpPr>
              <p:nvPr/>
            </p:nvSpPr>
            <p:spPr bwMode="auto">
              <a:xfrm>
                <a:off x="7638298" y="1951872"/>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1</a:t>
                </a:r>
              </a:p>
            </p:txBody>
          </p:sp>
          <p:sp>
            <p:nvSpPr>
              <p:cNvPr id="67" name="Text Box 22"/>
              <p:cNvSpPr txBox="1">
                <a:spLocks noChangeArrowheads="1"/>
              </p:cNvSpPr>
              <p:nvPr/>
            </p:nvSpPr>
            <p:spPr bwMode="auto">
              <a:xfrm>
                <a:off x="7642653" y="1632526"/>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68" name="Oval 23"/>
              <p:cNvSpPr>
                <a:spLocks noChangeArrowheads="1"/>
              </p:cNvSpPr>
              <p:nvPr/>
            </p:nvSpPr>
            <p:spPr bwMode="auto">
              <a:xfrm>
                <a:off x="7553370" y="1959968"/>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69" name="Oval 24"/>
              <p:cNvSpPr>
                <a:spLocks noChangeArrowheads="1"/>
              </p:cNvSpPr>
              <p:nvPr/>
            </p:nvSpPr>
            <p:spPr bwMode="auto">
              <a:xfrm>
                <a:off x="6867418" y="1959968"/>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0" name="Oval 25"/>
              <p:cNvSpPr>
                <a:spLocks noChangeArrowheads="1"/>
              </p:cNvSpPr>
              <p:nvPr/>
            </p:nvSpPr>
            <p:spPr bwMode="auto">
              <a:xfrm>
                <a:off x="6442781" y="1667609"/>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1" name="Oval 26"/>
              <p:cNvSpPr>
                <a:spLocks noChangeArrowheads="1"/>
              </p:cNvSpPr>
              <p:nvPr/>
            </p:nvSpPr>
            <p:spPr bwMode="auto">
              <a:xfrm>
                <a:off x="7742824" y="2246031"/>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2" name="Oval 27"/>
              <p:cNvSpPr>
                <a:spLocks noChangeArrowheads="1"/>
              </p:cNvSpPr>
              <p:nvPr/>
            </p:nvSpPr>
            <p:spPr bwMode="auto">
              <a:xfrm>
                <a:off x="7880014" y="2525796"/>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3" name="Oval 28"/>
              <p:cNvSpPr>
                <a:spLocks noChangeArrowheads="1"/>
              </p:cNvSpPr>
              <p:nvPr/>
            </p:nvSpPr>
            <p:spPr bwMode="auto">
              <a:xfrm>
                <a:off x="6638768" y="2239734"/>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4" name="Oval 29"/>
              <p:cNvSpPr>
                <a:spLocks noChangeArrowheads="1"/>
              </p:cNvSpPr>
              <p:nvPr/>
            </p:nvSpPr>
            <p:spPr bwMode="auto">
              <a:xfrm>
                <a:off x="8010672" y="1661312"/>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5" name="Oval 30"/>
              <p:cNvSpPr>
                <a:spLocks noChangeArrowheads="1"/>
              </p:cNvSpPr>
              <p:nvPr/>
            </p:nvSpPr>
            <p:spPr bwMode="auto">
              <a:xfrm>
                <a:off x="7183174" y="1375249"/>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6" name="Rectangle 31"/>
              <p:cNvSpPr>
                <a:spLocks noChangeArrowheads="1"/>
              </p:cNvSpPr>
              <p:nvPr/>
            </p:nvSpPr>
            <p:spPr bwMode="auto">
              <a:xfrm>
                <a:off x="6481979" y="2513203"/>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7" name="Rectangle 32"/>
              <p:cNvSpPr>
                <a:spLocks noChangeArrowheads="1"/>
              </p:cNvSpPr>
              <p:nvPr/>
            </p:nvSpPr>
            <p:spPr bwMode="auto">
              <a:xfrm>
                <a:off x="6795557" y="2507805"/>
                <a:ext cx="104526" cy="989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8" name="Rectangle 33"/>
              <p:cNvSpPr>
                <a:spLocks noChangeArrowheads="1"/>
              </p:cNvSpPr>
              <p:nvPr/>
            </p:nvSpPr>
            <p:spPr bwMode="auto">
              <a:xfrm>
                <a:off x="7037273" y="2227140"/>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9" name="Rectangle 34"/>
              <p:cNvSpPr>
                <a:spLocks noChangeArrowheads="1"/>
              </p:cNvSpPr>
              <p:nvPr/>
            </p:nvSpPr>
            <p:spPr bwMode="auto">
              <a:xfrm>
                <a:off x="8017204" y="2805562"/>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80" name="Rectangle 35"/>
              <p:cNvSpPr>
                <a:spLocks noChangeArrowheads="1"/>
              </p:cNvSpPr>
              <p:nvPr/>
            </p:nvSpPr>
            <p:spPr bwMode="auto">
              <a:xfrm>
                <a:off x="7749357" y="2805562"/>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grpSp>
      </p:grpSp>
      <p:grpSp>
        <p:nvGrpSpPr>
          <p:cNvPr id="4" name="组合 3"/>
          <p:cNvGrpSpPr/>
          <p:nvPr/>
        </p:nvGrpSpPr>
        <p:grpSpPr>
          <a:xfrm>
            <a:off x="6478712" y="1393425"/>
            <a:ext cx="756725" cy="1226974"/>
            <a:chOff x="6478712" y="2744561"/>
            <a:chExt cx="756725" cy="1226974"/>
          </a:xfrm>
        </p:grpSpPr>
        <p:sp>
          <p:nvSpPr>
            <p:cNvPr id="42" name="Rectangle 32"/>
            <p:cNvSpPr>
              <a:spLocks noChangeArrowheads="1"/>
            </p:cNvSpPr>
            <p:nvPr/>
          </p:nvSpPr>
          <p:spPr bwMode="auto">
            <a:xfrm>
              <a:off x="6795557" y="3872583"/>
              <a:ext cx="104526" cy="98952"/>
            </a:xfrm>
            <a:prstGeom prst="rect">
              <a:avLst/>
            </a:prstGeom>
            <a:solidFill>
              <a:srgbClr val="C00000"/>
            </a:solidFill>
            <a:ln w="19050">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48" name="Freeform 7"/>
            <p:cNvSpPr>
              <a:spLocks/>
            </p:cNvSpPr>
            <p:nvPr/>
          </p:nvSpPr>
          <p:spPr bwMode="auto">
            <a:xfrm>
              <a:off x="6478712" y="2744561"/>
              <a:ext cx="756725" cy="1157744"/>
            </a:xfrm>
            <a:custGeom>
              <a:avLst/>
              <a:gdLst>
                <a:gd name="T0" fmla="*/ 695 w 695"/>
                <a:gd name="T1" fmla="*/ 0 h 1117"/>
                <a:gd name="T2" fmla="*/ 0 w 695"/>
                <a:gd name="T3" fmla="*/ 285 h 1117"/>
                <a:gd name="T4" fmla="*/ 399 w 695"/>
                <a:gd name="T5" fmla="*/ 564 h 1117"/>
                <a:gd name="T6" fmla="*/ 174 w 695"/>
                <a:gd name="T7" fmla="*/ 843 h 1117"/>
                <a:gd name="T8" fmla="*/ 338 w 695"/>
                <a:gd name="T9" fmla="*/ 1117 h 1117"/>
              </a:gdLst>
              <a:ahLst/>
              <a:cxnLst>
                <a:cxn ang="0">
                  <a:pos x="T0" y="T1"/>
                </a:cxn>
                <a:cxn ang="0">
                  <a:pos x="T2" y="T3"/>
                </a:cxn>
                <a:cxn ang="0">
                  <a:pos x="T4" y="T5"/>
                </a:cxn>
                <a:cxn ang="0">
                  <a:pos x="T6" y="T7"/>
                </a:cxn>
                <a:cxn ang="0">
                  <a:pos x="T8" y="T9"/>
                </a:cxn>
              </a:cxnLst>
              <a:rect l="0" t="0" r="r" b="b"/>
              <a:pathLst>
                <a:path w="695" h="1117">
                  <a:moveTo>
                    <a:pt x="695" y="0"/>
                  </a:moveTo>
                  <a:lnTo>
                    <a:pt x="0" y="285"/>
                  </a:lnTo>
                  <a:lnTo>
                    <a:pt x="399" y="564"/>
                  </a:lnTo>
                  <a:lnTo>
                    <a:pt x="174" y="843"/>
                  </a:lnTo>
                  <a:lnTo>
                    <a:pt x="338" y="1117"/>
                  </a:lnTo>
                </a:path>
              </a:pathLst>
            </a:custGeom>
            <a:noFill/>
            <a:ln w="38100" cmpd="sng">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grpSp>
    </p:spTree>
    <p:extLst>
      <p:ext uri="{BB962C8B-B14F-4D97-AF65-F5344CB8AC3E}">
        <p14:creationId xmlns:p14="http://schemas.microsoft.com/office/powerpoint/2010/main" val="136500990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up)">
                                      <p:cBhvr>
                                        <p:cTn id="7" dur="1000"/>
                                        <p:tgtEl>
                                          <p:spTgt spid="4"/>
                                        </p:tgtEl>
                                      </p:cBhvr>
                                    </p:animEffect>
                                  </p:childTnLst>
                                </p:cTn>
                              </p:par>
                            </p:childTnLst>
                          </p:cTn>
                        </p:par>
                        <p:par>
                          <p:cTn id="8" fill="hold">
                            <p:stCondLst>
                              <p:cond delay="1000"/>
                            </p:stCondLst>
                            <p:childTnLst>
                              <p:par>
                                <p:cTn id="9" presetID="1" presetClass="entr" presetSubtype="0" fill="hold" grpId="0" nodeType="afterEffect">
                                  <p:stCondLst>
                                    <p:cond delay="0"/>
                                  </p:stCondLst>
                                  <p:childTnLst>
                                    <p:set>
                                      <p:cBhvr>
                                        <p:cTn id="10"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圆角矩形 7"/>
          <p:cNvSpPr/>
          <p:nvPr/>
        </p:nvSpPr>
        <p:spPr>
          <a:xfrm>
            <a:off x="545144" y="1019908"/>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3" name="矩形 12"/>
          <p:cNvSpPr/>
          <p:nvPr/>
        </p:nvSpPr>
        <p:spPr>
          <a:xfrm>
            <a:off x="1058078" y="2115412"/>
            <a:ext cx="4433248" cy="1175706"/>
          </a:xfrm>
          <a:prstGeom prst="rect">
            <a:avLst/>
          </a:prstGeom>
          <a:solidFill>
            <a:srgbClr val="00FF99"/>
          </a:solidFill>
          <a:ln>
            <a:solidFill>
              <a:srgbClr val="000099"/>
            </a:solidFill>
          </a:ln>
        </p:spPr>
        <p:txBody>
          <a:bodyPr wrap="square">
            <a:spAutoFit/>
          </a:bodyPr>
          <a:lstStyle/>
          <a:p>
            <a:pPr marL="342900" indent="-342900">
              <a:lnSpc>
                <a:spcPct val="110000"/>
              </a:lnSpc>
              <a:buFont typeface="+mj-lt"/>
              <a:buAutoNum type="arabicPeriod"/>
            </a:pPr>
            <a:r>
              <a:rPr lang="zh-CN" altLang="en-US" sz="1600" b="1" dirty="0">
                <a:latin typeface="微软雅黑" pitchFamily="34" charset="-122"/>
                <a:ea typeface="微软雅黑" pitchFamily="34" charset="-122"/>
              </a:rPr>
              <a:t>查到第三个字符 </a:t>
            </a:r>
            <a:r>
              <a:rPr lang="en-US" altLang="zh-CN" sz="1600" b="1" dirty="0">
                <a:latin typeface="微软雅黑" pitchFamily="34" charset="-122"/>
                <a:ea typeface="微软雅黑" pitchFamily="34" charset="-122"/>
              </a:rPr>
              <a:t>0 </a:t>
            </a:r>
            <a:r>
              <a:rPr lang="zh-CN" altLang="en-US" sz="1600" b="1" dirty="0">
                <a:latin typeface="微软雅黑" pitchFamily="34" charset="-122"/>
                <a:ea typeface="微软雅黑" pitchFamily="34" charset="-122"/>
              </a:rPr>
              <a:t>时，在二叉线索中找不到匹配的。说明这个地址不在这个二叉线索中。</a:t>
            </a:r>
            <a:endParaRPr lang="en-US" altLang="zh-CN" sz="1600" b="1" dirty="0">
              <a:latin typeface="微软雅黑" pitchFamily="34" charset="-122"/>
              <a:ea typeface="微软雅黑" pitchFamily="34" charset="-122"/>
            </a:endParaRPr>
          </a:p>
          <a:p>
            <a:pPr marL="342900" indent="-342900">
              <a:lnSpc>
                <a:spcPct val="110000"/>
              </a:lnSpc>
              <a:buFont typeface="+mj-lt"/>
              <a:buAutoNum type="arabicPeriod"/>
            </a:pPr>
            <a:r>
              <a:rPr lang="zh-CN" altLang="en-US" sz="1600" b="1" dirty="0">
                <a:latin typeface="微软雅黑" pitchFamily="34" charset="-122"/>
                <a:ea typeface="微软雅黑" pitchFamily="34" charset="-122"/>
              </a:rPr>
              <a:t>检查是否存在默认路由。若有，把分组传送到指明的默认路由器，否则丢弃该分组。</a:t>
            </a:r>
          </a:p>
        </p:txBody>
      </p:sp>
      <p:sp>
        <p:nvSpPr>
          <p:cNvPr id="14" name="Text Box 4"/>
          <p:cNvSpPr txBox="1">
            <a:spLocks noChangeArrowheads="1"/>
          </p:cNvSpPr>
          <p:nvPr/>
        </p:nvSpPr>
        <p:spPr bwMode="auto">
          <a:xfrm>
            <a:off x="975990" y="1351400"/>
            <a:ext cx="4419800" cy="7325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Aft>
                <a:spcPct val="30000"/>
              </a:spcAft>
            </a:pPr>
            <a:r>
              <a:rPr kumimoji="1" lang="en-US" altLang="zh-CN" sz="1600" b="1" dirty="0">
                <a:latin typeface="微软雅黑" pitchFamily="34" charset="-122"/>
                <a:ea typeface="微软雅黑" pitchFamily="34" charset="-122"/>
              </a:rPr>
              <a:t>                     32 </a:t>
            </a:r>
            <a:r>
              <a:rPr kumimoji="1" lang="zh-CN" altLang="en-US" sz="1600" b="1" dirty="0">
                <a:latin typeface="微软雅黑" pitchFamily="34" charset="-122"/>
                <a:ea typeface="微软雅黑" pitchFamily="34" charset="-122"/>
              </a:rPr>
              <a:t>位的 </a:t>
            </a:r>
            <a:r>
              <a:rPr kumimoji="1" lang="en-US" altLang="zh-CN" sz="1600" b="1" dirty="0">
                <a:latin typeface="微软雅黑" pitchFamily="34" charset="-122"/>
                <a:ea typeface="微软雅黑" pitchFamily="34" charset="-122"/>
              </a:rPr>
              <a:t>IP </a:t>
            </a:r>
            <a:r>
              <a:rPr kumimoji="1" lang="zh-CN" altLang="en-US" sz="1600" b="1" dirty="0">
                <a:latin typeface="微软雅黑" pitchFamily="34" charset="-122"/>
                <a:ea typeface="微软雅黑" pitchFamily="34" charset="-122"/>
              </a:rPr>
              <a:t>地址</a:t>
            </a:r>
          </a:p>
          <a:p>
            <a:pPr>
              <a:lnSpc>
                <a:spcPct val="130000"/>
              </a:lnSpc>
            </a:pPr>
            <a:r>
              <a:rPr kumimoji="1" lang="en-US" altLang="zh-CN" sz="1600" b="1" dirty="0">
                <a:solidFill>
                  <a:srgbClr val="0000FF"/>
                </a:solidFill>
                <a:latin typeface="微软雅黑" pitchFamily="34" charset="-122"/>
                <a:ea typeface="微软雅黑" pitchFamily="34" charset="-122"/>
              </a:rPr>
              <a:t>10011011 01111010 00000000 00000000</a:t>
            </a:r>
            <a:endParaRPr kumimoji="1" lang="en-US" altLang="zh-CN" sz="1600" b="1" dirty="0">
              <a:solidFill>
                <a:srgbClr val="0000CC"/>
              </a:solidFill>
              <a:latin typeface="微软雅黑" pitchFamily="34" charset="-122"/>
              <a:ea typeface="微软雅黑" pitchFamily="34" charset="-122"/>
            </a:endParaRPr>
          </a:p>
        </p:txBody>
      </p:sp>
      <p:sp>
        <p:nvSpPr>
          <p:cNvPr id="46" name="AutoShape 5"/>
          <p:cNvSpPr>
            <a:spLocks noChangeArrowheads="1"/>
          </p:cNvSpPr>
          <p:nvPr/>
        </p:nvSpPr>
        <p:spPr bwMode="auto">
          <a:xfrm>
            <a:off x="556963" y="615438"/>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7" name="Rectangle 6"/>
          <p:cNvSpPr>
            <a:spLocks noChangeArrowheads="1"/>
          </p:cNvSpPr>
          <p:nvPr/>
        </p:nvSpPr>
        <p:spPr bwMode="auto">
          <a:xfrm>
            <a:off x="2953350" y="582227"/>
            <a:ext cx="325602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在二叉线索中查找 </a:t>
            </a: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地址</a:t>
            </a:r>
          </a:p>
        </p:txBody>
      </p:sp>
      <p:grpSp>
        <p:nvGrpSpPr>
          <p:cNvPr id="3" name="组合 2"/>
          <p:cNvGrpSpPr/>
          <p:nvPr/>
        </p:nvGrpSpPr>
        <p:grpSpPr>
          <a:xfrm>
            <a:off x="6375275" y="1309581"/>
            <a:ext cx="1842271" cy="1595833"/>
            <a:chOff x="6375275" y="1309581"/>
            <a:chExt cx="1842271" cy="1595833"/>
          </a:xfrm>
        </p:grpSpPr>
        <p:sp>
          <p:nvSpPr>
            <p:cNvPr id="50" name="Freeform 7"/>
            <p:cNvSpPr>
              <a:spLocks/>
            </p:cNvSpPr>
            <p:nvPr/>
          </p:nvSpPr>
          <p:spPr bwMode="auto">
            <a:xfrm>
              <a:off x="6478712" y="1406453"/>
              <a:ext cx="756725" cy="1157744"/>
            </a:xfrm>
            <a:custGeom>
              <a:avLst/>
              <a:gdLst>
                <a:gd name="T0" fmla="*/ 695 w 695"/>
                <a:gd name="T1" fmla="*/ 0 h 1117"/>
                <a:gd name="T2" fmla="*/ 0 w 695"/>
                <a:gd name="T3" fmla="*/ 285 h 1117"/>
                <a:gd name="T4" fmla="*/ 399 w 695"/>
                <a:gd name="T5" fmla="*/ 564 h 1117"/>
                <a:gd name="T6" fmla="*/ 174 w 695"/>
                <a:gd name="T7" fmla="*/ 843 h 1117"/>
                <a:gd name="T8" fmla="*/ 338 w 695"/>
                <a:gd name="T9" fmla="*/ 1117 h 1117"/>
              </a:gdLst>
              <a:ahLst/>
              <a:cxnLst>
                <a:cxn ang="0">
                  <a:pos x="T0" y="T1"/>
                </a:cxn>
                <a:cxn ang="0">
                  <a:pos x="T2" y="T3"/>
                </a:cxn>
                <a:cxn ang="0">
                  <a:pos x="T4" y="T5"/>
                </a:cxn>
                <a:cxn ang="0">
                  <a:pos x="T6" y="T7"/>
                </a:cxn>
                <a:cxn ang="0">
                  <a:pos x="T8" y="T9"/>
                </a:cxn>
              </a:cxnLst>
              <a:rect l="0" t="0" r="r" b="b"/>
              <a:pathLst>
                <a:path w="695" h="1117">
                  <a:moveTo>
                    <a:pt x="695" y="0"/>
                  </a:moveTo>
                  <a:lnTo>
                    <a:pt x="0" y="285"/>
                  </a:lnTo>
                  <a:lnTo>
                    <a:pt x="399" y="564"/>
                  </a:lnTo>
                  <a:lnTo>
                    <a:pt x="174" y="843"/>
                  </a:lnTo>
                  <a:lnTo>
                    <a:pt x="338" y="1117"/>
                  </a:lnTo>
                </a:path>
              </a:pathLst>
            </a:custGeom>
            <a:noFill/>
            <a:ln w="190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grpSp>
          <p:nvGrpSpPr>
            <p:cNvPr id="2" name="组合 1"/>
            <p:cNvGrpSpPr/>
            <p:nvPr/>
          </p:nvGrpSpPr>
          <p:grpSpPr>
            <a:xfrm>
              <a:off x="6375275" y="1309581"/>
              <a:ext cx="1842271" cy="1595833"/>
              <a:chOff x="6375275" y="1309581"/>
              <a:chExt cx="1842271" cy="1595833"/>
            </a:xfrm>
          </p:grpSpPr>
          <p:sp>
            <p:nvSpPr>
              <p:cNvPr id="52" name="Freeform 6"/>
              <p:cNvSpPr>
                <a:spLocks/>
              </p:cNvSpPr>
              <p:nvPr/>
            </p:nvSpPr>
            <p:spPr bwMode="auto">
              <a:xfrm>
                <a:off x="7228904" y="1413031"/>
                <a:ext cx="840563" cy="1442907"/>
              </a:xfrm>
              <a:custGeom>
                <a:avLst/>
                <a:gdLst>
                  <a:gd name="T0" fmla="*/ 0 w 772"/>
                  <a:gd name="T1" fmla="*/ 0 h 1392"/>
                  <a:gd name="T2" fmla="*/ 764 w 772"/>
                  <a:gd name="T3" fmla="*/ 272 h 1392"/>
                  <a:gd name="T4" fmla="*/ 318 w 772"/>
                  <a:gd name="T5" fmla="*/ 564 h 1392"/>
                  <a:gd name="T6" fmla="*/ 510 w 772"/>
                  <a:gd name="T7" fmla="*/ 840 h 1392"/>
                  <a:gd name="T8" fmla="*/ 772 w 772"/>
                  <a:gd name="T9" fmla="*/ 1392 h 1392"/>
                </a:gdLst>
                <a:ahLst/>
                <a:cxnLst>
                  <a:cxn ang="0">
                    <a:pos x="T0" y="T1"/>
                  </a:cxn>
                  <a:cxn ang="0">
                    <a:pos x="T2" y="T3"/>
                  </a:cxn>
                  <a:cxn ang="0">
                    <a:pos x="T4" y="T5"/>
                  </a:cxn>
                  <a:cxn ang="0">
                    <a:pos x="T6" y="T7"/>
                  </a:cxn>
                  <a:cxn ang="0">
                    <a:pos x="T8" y="T9"/>
                  </a:cxn>
                </a:cxnLst>
                <a:rect l="0" t="0" r="r" b="b"/>
                <a:pathLst>
                  <a:path w="772" h="1392">
                    <a:moveTo>
                      <a:pt x="0" y="0"/>
                    </a:moveTo>
                    <a:lnTo>
                      <a:pt x="764" y="272"/>
                    </a:lnTo>
                    <a:lnTo>
                      <a:pt x="318" y="564"/>
                    </a:lnTo>
                    <a:lnTo>
                      <a:pt x="510" y="840"/>
                    </a:lnTo>
                    <a:lnTo>
                      <a:pt x="772" y="1392"/>
                    </a:lnTo>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53" name="Line 8"/>
              <p:cNvSpPr>
                <a:spLocks noChangeShapeType="1"/>
              </p:cNvSpPr>
              <p:nvPr/>
            </p:nvSpPr>
            <p:spPr bwMode="auto">
              <a:xfrm flipH="1">
                <a:off x="7799442" y="2557281"/>
                <a:ext cx="121947" cy="29865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54" name="Text Box 9"/>
              <p:cNvSpPr txBox="1">
                <a:spLocks noChangeArrowheads="1"/>
              </p:cNvSpPr>
              <p:nvPr/>
            </p:nvSpPr>
            <p:spPr bwMode="auto">
              <a:xfrm>
                <a:off x="6375275" y="2226240"/>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55" name="Text Box 10"/>
              <p:cNvSpPr txBox="1">
                <a:spLocks noChangeArrowheads="1"/>
              </p:cNvSpPr>
              <p:nvPr/>
            </p:nvSpPr>
            <p:spPr bwMode="auto">
              <a:xfrm>
                <a:off x="6571261" y="193388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0</a:t>
                </a:r>
              </a:p>
            </p:txBody>
          </p:sp>
          <p:sp>
            <p:nvSpPr>
              <p:cNvPr id="56" name="Text Box 11"/>
              <p:cNvSpPr txBox="1">
                <a:spLocks noChangeArrowheads="1"/>
              </p:cNvSpPr>
              <p:nvPr/>
            </p:nvSpPr>
            <p:spPr bwMode="auto">
              <a:xfrm>
                <a:off x="7633942" y="2550085"/>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0</a:t>
                </a:r>
              </a:p>
            </p:txBody>
          </p:sp>
          <p:sp>
            <p:nvSpPr>
              <p:cNvPr id="57" name="Text Box 12"/>
              <p:cNvSpPr txBox="1">
                <a:spLocks noChangeArrowheads="1"/>
              </p:cNvSpPr>
              <p:nvPr/>
            </p:nvSpPr>
            <p:spPr bwMode="auto">
              <a:xfrm>
                <a:off x="6680143" y="130958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58" name="Line 13"/>
              <p:cNvSpPr>
                <a:spLocks noChangeShapeType="1"/>
              </p:cNvSpPr>
              <p:nvPr/>
            </p:nvSpPr>
            <p:spPr bwMode="auto">
              <a:xfrm flipH="1">
                <a:off x="6540775" y="2277516"/>
                <a:ext cx="124125" cy="28606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59" name="Freeform 14"/>
              <p:cNvSpPr>
                <a:spLocks/>
              </p:cNvSpPr>
              <p:nvPr/>
            </p:nvSpPr>
            <p:spPr bwMode="auto">
              <a:xfrm>
                <a:off x="6919681" y="2004047"/>
                <a:ext cx="182921" cy="273469"/>
              </a:xfrm>
              <a:custGeom>
                <a:avLst/>
                <a:gdLst>
                  <a:gd name="T0" fmla="*/ 0 w 168"/>
                  <a:gd name="T1" fmla="*/ 0 h 264"/>
                  <a:gd name="T2" fmla="*/ 168 w 168"/>
                  <a:gd name="T3" fmla="*/ 264 h 264"/>
                </a:gdLst>
                <a:ahLst/>
                <a:cxnLst>
                  <a:cxn ang="0">
                    <a:pos x="T0" y="T1"/>
                  </a:cxn>
                  <a:cxn ang="0">
                    <a:pos x="T2" y="T3"/>
                  </a:cxn>
                </a:cxnLst>
                <a:rect l="0" t="0" r="r" b="b"/>
                <a:pathLst>
                  <a:path w="168" h="264">
                    <a:moveTo>
                      <a:pt x="0" y="0"/>
                    </a:moveTo>
                    <a:lnTo>
                      <a:pt x="168" y="264"/>
                    </a:lnTo>
                  </a:path>
                </a:pathLst>
              </a:custGeom>
              <a:noFill/>
              <a:ln w="28575">
                <a:solidFill>
                  <a:schemeClr val="tx1"/>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60" name="Text Box 15"/>
              <p:cNvSpPr txBox="1">
                <a:spLocks noChangeArrowheads="1"/>
              </p:cNvSpPr>
              <p:nvPr/>
            </p:nvSpPr>
            <p:spPr bwMode="auto">
              <a:xfrm>
                <a:off x="7938810" y="2555482"/>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1" name="Text Box 16"/>
              <p:cNvSpPr txBox="1">
                <a:spLocks noChangeArrowheads="1"/>
              </p:cNvSpPr>
              <p:nvPr/>
            </p:nvSpPr>
            <p:spPr bwMode="auto">
              <a:xfrm>
                <a:off x="6965411" y="195457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2" name="Text Box 17"/>
              <p:cNvSpPr txBox="1">
                <a:spLocks noChangeArrowheads="1"/>
              </p:cNvSpPr>
              <p:nvPr/>
            </p:nvSpPr>
            <p:spPr bwMode="auto">
              <a:xfrm>
                <a:off x="6743294" y="2259524"/>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3" name="Text Box 18"/>
              <p:cNvSpPr txBox="1">
                <a:spLocks noChangeArrowheads="1"/>
              </p:cNvSpPr>
              <p:nvPr/>
            </p:nvSpPr>
            <p:spPr bwMode="auto">
              <a:xfrm>
                <a:off x="6671432" y="166311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4" name="Text Box 19"/>
              <p:cNvSpPr txBox="1">
                <a:spLocks noChangeArrowheads="1"/>
              </p:cNvSpPr>
              <p:nvPr/>
            </p:nvSpPr>
            <p:spPr bwMode="auto">
              <a:xfrm>
                <a:off x="7625232" y="135186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5" name="Text Box 20"/>
              <p:cNvSpPr txBox="1">
                <a:spLocks noChangeArrowheads="1"/>
              </p:cNvSpPr>
              <p:nvPr/>
            </p:nvSpPr>
            <p:spPr bwMode="auto">
              <a:xfrm>
                <a:off x="7801620" y="2256826"/>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6" name="Text Box 21"/>
              <p:cNvSpPr txBox="1">
                <a:spLocks noChangeArrowheads="1"/>
              </p:cNvSpPr>
              <p:nvPr/>
            </p:nvSpPr>
            <p:spPr bwMode="auto">
              <a:xfrm>
                <a:off x="7638298" y="1951872"/>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1</a:t>
                </a:r>
              </a:p>
            </p:txBody>
          </p:sp>
          <p:sp>
            <p:nvSpPr>
              <p:cNvPr id="67" name="Text Box 22"/>
              <p:cNvSpPr txBox="1">
                <a:spLocks noChangeArrowheads="1"/>
              </p:cNvSpPr>
              <p:nvPr/>
            </p:nvSpPr>
            <p:spPr bwMode="auto">
              <a:xfrm>
                <a:off x="7642653" y="1632526"/>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68" name="Oval 23"/>
              <p:cNvSpPr>
                <a:spLocks noChangeArrowheads="1"/>
              </p:cNvSpPr>
              <p:nvPr/>
            </p:nvSpPr>
            <p:spPr bwMode="auto">
              <a:xfrm>
                <a:off x="7553370" y="1959968"/>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69" name="Oval 24"/>
              <p:cNvSpPr>
                <a:spLocks noChangeArrowheads="1"/>
              </p:cNvSpPr>
              <p:nvPr/>
            </p:nvSpPr>
            <p:spPr bwMode="auto">
              <a:xfrm>
                <a:off x="6867418" y="1959968"/>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0" name="Oval 25"/>
              <p:cNvSpPr>
                <a:spLocks noChangeArrowheads="1"/>
              </p:cNvSpPr>
              <p:nvPr/>
            </p:nvSpPr>
            <p:spPr bwMode="auto">
              <a:xfrm>
                <a:off x="6442781" y="1667609"/>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1" name="Oval 26"/>
              <p:cNvSpPr>
                <a:spLocks noChangeArrowheads="1"/>
              </p:cNvSpPr>
              <p:nvPr/>
            </p:nvSpPr>
            <p:spPr bwMode="auto">
              <a:xfrm>
                <a:off x="7742824" y="2246031"/>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2" name="Oval 27"/>
              <p:cNvSpPr>
                <a:spLocks noChangeArrowheads="1"/>
              </p:cNvSpPr>
              <p:nvPr/>
            </p:nvSpPr>
            <p:spPr bwMode="auto">
              <a:xfrm>
                <a:off x="7880014" y="2525796"/>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3" name="Oval 28"/>
              <p:cNvSpPr>
                <a:spLocks noChangeArrowheads="1"/>
              </p:cNvSpPr>
              <p:nvPr/>
            </p:nvSpPr>
            <p:spPr bwMode="auto">
              <a:xfrm>
                <a:off x="6638768" y="2239734"/>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4" name="Oval 29"/>
              <p:cNvSpPr>
                <a:spLocks noChangeArrowheads="1"/>
              </p:cNvSpPr>
              <p:nvPr/>
            </p:nvSpPr>
            <p:spPr bwMode="auto">
              <a:xfrm>
                <a:off x="8010672" y="1661312"/>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5" name="Oval 30"/>
              <p:cNvSpPr>
                <a:spLocks noChangeArrowheads="1"/>
              </p:cNvSpPr>
              <p:nvPr/>
            </p:nvSpPr>
            <p:spPr bwMode="auto">
              <a:xfrm>
                <a:off x="7183174" y="1375249"/>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6" name="Rectangle 31"/>
              <p:cNvSpPr>
                <a:spLocks noChangeArrowheads="1"/>
              </p:cNvSpPr>
              <p:nvPr/>
            </p:nvSpPr>
            <p:spPr bwMode="auto">
              <a:xfrm>
                <a:off x="6481979" y="2513203"/>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7" name="Rectangle 32"/>
              <p:cNvSpPr>
                <a:spLocks noChangeArrowheads="1"/>
              </p:cNvSpPr>
              <p:nvPr/>
            </p:nvSpPr>
            <p:spPr bwMode="auto">
              <a:xfrm>
                <a:off x="6795557" y="2507805"/>
                <a:ext cx="104526" cy="989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8" name="Rectangle 33"/>
              <p:cNvSpPr>
                <a:spLocks noChangeArrowheads="1"/>
              </p:cNvSpPr>
              <p:nvPr/>
            </p:nvSpPr>
            <p:spPr bwMode="auto">
              <a:xfrm>
                <a:off x="7037273" y="2227140"/>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9" name="Rectangle 34"/>
              <p:cNvSpPr>
                <a:spLocks noChangeArrowheads="1"/>
              </p:cNvSpPr>
              <p:nvPr/>
            </p:nvSpPr>
            <p:spPr bwMode="auto">
              <a:xfrm>
                <a:off x="8017204" y="2805562"/>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80" name="Rectangle 35"/>
              <p:cNvSpPr>
                <a:spLocks noChangeArrowheads="1"/>
              </p:cNvSpPr>
              <p:nvPr/>
            </p:nvSpPr>
            <p:spPr bwMode="auto">
              <a:xfrm>
                <a:off x="7749357" y="2805562"/>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grpSp>
      </p:grpSp>
      <p:grpSp>
        <p:nvGrpSpPr>
          <p:cNvPr id="11" name="组合 10"/>
          <p:cNvGrpSpPr/>
          <p:nvPr/>
        </p:nvGrpSpPr>
        <p:grpSpPr>
          <a:xfrm>
            <a:off x="7235437" y="1403535"/>
            <a:ext cx="816065" cy="590805"/>
            <a:chOff x="7219105" y="1375249"/>
            <a:chExt cx="861251" cy="590805"/>
          </a:xfrm>
        </p:grpSpPr>
        <p:cxnSp>
          <p:nvCxnSpPr>
            <p:cNvPr id="7" name="直接连接符 6"/>
            <p:cNvCxnSpPr>
              <a:stCxn id="75" idx="0"/>
            </p:cNvCxnSpPr>
            <p:nvPr/>
          </p:nvCxnSpPr>
          <p:spPr>
            <a:xfrm>
              <a:off x="7219105" y="1375249"/>
              <a:ext cx="861251" cy="286063"/>
            </a:xfrm>
            <a:prstGeom prst="line">
              <a:avLst/>
            </a:prstGeom>
            <a:ln w="3810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0" name="直接连接符 9"/>
            <p:cNvCxnSpPr>
              <a:endCxn id="68" idx="6"/>
            </p:cNvCxnSpPr>
            <p:nvPr/>
          </p:nvCxnSpPr>
          <p:spPr>
            <a:xfrm flipH="1">
              <a:off x="7613327" y="1661312"/>
              <a:ext cx="453813" cy="304742"/>
            </a:xfrm>
            <a:prstGeom prst="line">
              <a:avLst/>
            </a:prstGeom>
            <a:ln w="38100">
              <a:solidFill>
                <a:srgbClr val="CC00CC"/>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12347131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up)">
                                      <p:cBhvr>
                                        <p:cTn id="7" dur="1000"/>
                                        <p:tgtEl>
                                          <p:spTgt spid="11"/>
                                        </p:tgtEl>
                                      </p:cBhvr>
                                    </p:animEffect>
                                  </p:childTnLst>
                                </p:cTn>
                              </p:par>
                            </p:childTnLst>
                          </p:cTn>
                        </p:par>
                        <p:par>
                          <p:cTn id="8" fill="hold">
                            <p:stCondLst>
                              <p:cond delay="1000"/>
                            </p:stCondLst>
                            <p:childTnLst>
                              <p:par>
                                <p:cTn id="9" presetID="1" presetClass="entr" presetSubtype="0" fill="hold" grpId="0" nodeType="afterEffect">
                                  <p:stCondLst>
                                    <p:cond delay="0"/>
                                  </p:stCondLst>
                                  <p:childTnLst>
                                    <p:set>
                                      <p:cBhvr>
                                        <p:cTn id="10"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Rectangle 9"/>
          <p:cNvSpPr>
            <a:spLocks noChangeArrowheads="1"/>
          </p:cNvSpPr>
          <p:nvPr/>
        </p:nvSpPr>
        <p:spPr bwMode="auto">
          <a:xfrm>
            <a:off x="2629135" y="1233771"/>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35" name="Rectangle 10"/>
          <p:cNvSpPr>
            <a:spLocks noChangeArrowheads="1"/>
          </p:cNvSpPr>
          <p:nvPr/>
        </p:nvSpPr>
        <p:spPr bwMode="auto">
          <a:xfrm>
            <a:off x="2629135" y="1840196"/>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37" name="Line 16"/>
          <p:cNvSpPr>
            <a:spLocks noChangeShapeType="1"/>
          </p:cNvSpPr>
          <p:nvPr/>
        </p:nvSpPr>
        <p:spPr bwMode="auto">
          <a:xfrm>
            <a:off x="3637198" y="1162334"/>
            <a:ext cx="0" cy="1143306"/>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 name="Rectangle 8"/>
          <p:cNvSpPr>
            <a:spLocks noChangeArrowheads="1"/>
          </p:cNvSpPr>
          <p:nvPr/>
        </p:nvSpPr>
        <p:spPr bwMode="auto">
          <a:xfrm>
            <a:off x="2700573" y="1199227"/>
            <a:ext cx="5574294"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zh-CN" sz="2000" b="1" dirty="0">
                <a:solidFill>
                  <a:schemeClr val="bg1"/>
                </a:solidFill>
                <a:latin typeface="微软雅黑" pitchFamily="34" charset="-122"/>
                <a:ea typeface="微软雅黑" pitchFamily="34" charset="-122"/>
              </a:rPr>
              <a:t>4.4.1                                   ICMP </a:t>
            </a:r>
            <a:r>
              <a:rPr lang="zh-CN" altLang="en-US" sz="2000" b="1" dirty="0">
                <a:solidFill>
                  <a:schemeClr val="bg1"/>
                </a:solidFill>
                <a:latin typeface="微软雅黑" pitchFamily="34" charset="-122"/>
                <a:ea typeface="微软雅黑" pitchFamily="34" charset="-122"/>
              </a:rPr>
              <a:t>报文的种类</a:t>
            </a:r>
            <a:endParaRPr lang="en-US" altLang="zh-CN" sz="2000" b="1" dirty="0">
              <a:solidFill>
                <a:schemeClr val="bg1"/>
              </a:solidFill>
              <a:latin typeface="微软雅黑" pitchFamily="34" charset="-122"/>
              <a:ea typeface="微软雅黑" pitchFamily="34" charset="-122"/>
            </a:endParaRPr>
          </a:p>
          <a:p>
            <a:endParaRPr lang="zh-CN" altLang="en-US"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4.4.2                                   ICMP </a:t>
            </a:r>
            <a:r>
              <a:rPr lang="zh-CN" altLang="en-US" sz="2000" b="1" dirty="0">
                <a:solidFill>
                  <a:schemeClr val="bg1"/>
                </a:solidFill>
                <a:latin typeface="微软雅黑" pitchFamily="34" charset="-122"/>
                <a:ea typeface="微软雅黑" pitchFamily="34" charset="-122"/>
              </a:rPr>
              <a:t>的应用举例</a:t>
            </a:r>
          </a:p>
        </p:txBody>
      </p:sp>
      <p:sp>
        <p:nvSpPr>
          <p:cNvPr id="39" name="Rectangle 27"/>
          <p:cNvSpPr>
            <a:spLocks noChangeArrowheads="1"/>
          </p:cNvSpPr>
          <p:nvPr/>
        </p:nvSpPr>
        <p:spPr bwMode="auto">
          <a:xfrm>
            <a:off x="639730" y="1233771"/>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40" name="Rectangle 29"/>
          <p:cNvSpPr>
            <a:spLocks noChangeArrowheads="1"/>
          </p:cNvSpPr>
          <p:nvPr/>
        </p:nvSpPr>
        <p:spPr bwMode="auto">
          <a:xfrm>
            <a:off x="648619" y="1328703"/>
            <a:ext cx="1627651" cy="132343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4.4</a:t>
            </a:r>
          </a:p>
          <a:p>
            <a:r>
              <a:rPr lang="zh-CN" altLang="en-US" sz="2000" b="1" dirty="0">
                <a:solidFill>
                  <a:schemeClr val="bg1"/>
                </a:solidFill>
                <a:latin typeface="微软雅黑" pitchFamily="34" charset="-122"/>
                <a:ea typeface="微软雅黑" pitchFamily="34" charset="-122"/>
              </a:rPr>
              <a:t>网际控制</a:t>
            </a:r>
            <a:endParaRPr lang="en-US" altLang="zh-CN" sz="2000" b="1" dirty="0">
              <a:solidFill>
                <a:schemeClr val="bg1"/>
              </a:solidFill>
              <a:latin typeface="微软雅黑" pitchFamily="34" charset="-122"/>
              <a:ea typeface="微软雅黑" pitchFamily="34" charset="-122"/>
            </a:endParaRPr>
          </a:p>
          <a:p>
            <a:r>
              <a:rPr lang="zh-CN" altLang="en-US" sz="2000" b="1" dirty="0">
                <a:solidFill>
                  <a:schemeClr val="bg1"/>
                </a:solidFill>
                <a:latin typeface="微软雅黑" pitchFamily="34" charset="-122"/>
                <a:ea typeface="微软雅黑" pitchFamily="34" charset="-122"/>
              </a:rPr>
              <a:t>报文协议 </a:t>
            </a:r>
            <a:r>
              <a:rPr lang="en-US" altLang="zh-CN" sz="2000" b="1" dirty="0">
                <a:solidFill>
                  <a:schemeClr val="bg1"/>
                </a:solidFill>
                <a:latin typeface="微软雅黑" pitchFamily="34" charset="-122"/>
                <a:ea typeface="微软雅黑" pitchFamily="34" charset="-122"/>
              </a:rPr>
              <a:t>ICMP</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253305702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545144" y="1009002"/>
            <a:ext cx="4024412" cy="3054682"/>
          </a:xfrm>
          <a:prstGeom prst="rect">
            <a:avLst/>
          </a:prstGeom>
        </p:spPr>
        <p:txBody>
          <a:bodyPr wrap="square">
            <a:spAutoFit/>
          </a:bodyPr>
          <a:lstStyle/>
          <a:p>
            <a:pPr marL="357188" indent="-357188" eaLnBrk="0" hangingPunct="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rPr>
              <a:t>ICMP (Internet Control Message Protocol) </a:t>
            </a:r>
            <a:r>
              <a:rPr lang="zh-CN" altLang="en-US" sz="2000" b="1" dirty="0">
                <a:latin typeface="微软雅黑" pitchFamily="34" charset="-122"/>
                <a:ea typeface="微软雅黑" pitchFamily="34" charset="-122"/>
              </a:rPr>
              <a:t>允许主机或路由器</a:t>
            </a:r>
            <a:r>
              <a:rPr lang="zh-CN" altLang="en-US" sz="2000" b="1" dirty="0">
                <a:solidFill>
                  <a:srgbClr val="C00000"/>
                </a:solidFill>
                <a:latin typeface="微软雅黑" pitchFamily="34" charset="-122"/>
                <a:ea typeface="微软雅黑" pitchFamily="34" charset="-122"/>
              </a:rPr>
              <a:t>报告差错</a:t>
            </a:r>
            <a:r>
              <a:rPr lang="zh-CN" altLang="en-US" sz="2000" b="1" dirty="0">
                <a:latin typeface="微软雅黑" pitchFamily="34" charset="-122"/>
                <a:ea typeface="微软雅黑" pitchFamily="34" charset="-122"/>
              </a:rPr>
              <a:t>情况和</a:t>
            </a:r>
            <a:r>
              <a:rPr lang="zh-CN" altLang="en-US" sz="2000" b="1" dirty="0">
                <a:solidFill>
                  <a:srgbClr val="C00000"/>
                </a:solidFill>
                <a:latin typeface="微软雅黑" pitchFamily="34" charset="-122"/>
                <a:ea typeface="微软雅黑" pitchFamily="34" charset="-122"/>
              </a:rPr>
              <a:t>提供</a:t>
            </a:r>
            <a:r>
              <a:rPr lang="zh-CN" altLang="en-US" sz="2000" b="1" dirty="0">
                <a:latin typeface="微软雅黑" pitchFamily="34" charset="-122"/>
                <a:ea typeface="微软雅黑" pitchFamily="34" charset="-122"/>
              </a:rPr>
              <a:t>有关</a:t>
            </a:r>
            <a:r>
              <a:rPr lang="zh-CN" altLang="en-US" sz="2000" b="1" dirty="0">
                <a:solidFill>
                  <a:srgbClr val="C00000"/>
                </a:solidFill>
                <a:latin typeface="微软雅黑" pitchFamily="34" charset="-122"/>
                <a:ea typeface="微软雅黑" pitchFamily="34" charset="-122"/>
              </a:rPr>
              <a:t>异常</a:t>
            </a:r>
            <a:r>
              <a:rPr lang="zh-CN" altLang="en-US" sz="2000" b="1" dirty="0">
                <a:latin typeface="微软雅黑" pitchFamily="34" charset="-122"/>
                <a:ea typeface="微软雅黑" pitchFamily="34" charset="-122"/>
              </a:rPr>
              <a:t>情况的报告。</a:t>
            </a:r>
            <a:endParaRPr lang="en-US" altLang="zh-CN" sz="2000" b="1" dirty="0">
              <a:latin typeface="微软雅黑" pitchFamily="34" charset="-122"/>
              <a:ea typeface="微软雅黑" pitchFamily="34" charset="-122"/>
            </a:endParaRPr>
          </a:p>
          <a:p>
            <a:pPr marL="357188" indent="-357188" eaLnBrk="0" hangingPunct="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rPr>
              <a:t>ICMP </a:t>
            </a:r>
            <a:r>
              <a:rPr lang="zh-CN" altLang="en-US" sz="2000" b="1" dirty="0">
                <a:latin typeface="微软雅黑" pitchFamily="34" charset="-122"/>
                <a:ea typeface="微软雅黑" pitchFamily="34" charset="-122"/>
              </a:rPr>
              <a:t>是互联网的</a:t>
            </a:r>
            <a:r>
              <a:rPr lang="zh-CN" altLang="en-US" sz="2000" b="1" dirty="0">
                <a:solidFill>
                  <a:srgbClr val="C00000"/>
                </a:solidFill>
                <a:latin typeface="微软雅黑" pitchFamily="34" charset="-122"/>
                <a:ea typeface="微软雅黑" pitchFamily="34" charset="-122"/>
              </a:rPr>
              <a:t>标准协议。</a:t>
            </a:r>
            <a:endParaRPr lang="en-US" altLang="zh-CN" sz="2000" b="1" dirty="0">
              <a:solidFill>
                <a:srgbClr val="C00000"/>
              </a:solidFill>
              <a:latin typeface="微软雅黑" pitchFamily="34" charset="-122"/>
              <a:ea typeface="微软雅黑" pitchFamily="34" charset="-122"/>
            </a:endParaRPr>
          </a:p>
          <a:p>
            <a:pPr marL="357188" indent="-357188"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但 </a:t>
            </a:r>
            <a:r>
              <a:rPr lang="en-US" altLang="zh-CN" sz="2000" b="1" dirty="0">
                <a:latin typeface="微软雅黑" pitchFamily="34" charset="-122"/>
                <a:ea typeface="微软雅黑" pitchFamily="34" charset="-122"/>
              </a:rPr>
              <a:t>ICMP </a:t>
            </a:r>
            <a:r>
              <a:rPr lang="zh-CN" altLang="en-US" sz="2000" b="1" dirty="0">
                <a:latin typeface="微软雅黑" pitchFamily="34" charset="-122"/>
                <a:ea typeface="微软雅黑" pitchFamily="34" charset="-122"/>
              </a:rPr>
              <a:t>不是高层协议，而是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层的协议。</a:t>
            </a:r>
          </a:p>
        </p:txBody>
      </p:sp>
      <p:sp>
        <p:nvSpPr>
          <p:cNvPr id="5" name="AutoShape 5"/>
          <p:cNvSpPr>
            <a:spLocks noChangeArrowheads="1"/>
          </p:cNvSpPr>
          <p:nvPr/>
        </p:nvSpPr>
        <p:spPr bwMode="auto">
          <a:xfrm>
            <a:off x="545144" y="606466"/>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6" name="Rectangle 6"/>
          <p:cNvSpPr>
            <a:spLocks noChangeArrowheads="1"/>
          </p:cNvSpPr>
          <p:nvPr/>
        </p:nvSpPr>
        <p:spPr bwMode="auto">
          <a:xfrm>
            <a:off x="2156973" y="564195"/>
            <a:ext cx="483292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400" b="1" dirty="0">
                <a:solidFill>
                  <a:srgbClr val="FFFF00"/>
                </a:solidFill>
                <a:latin typeface="微软雅黑" pitchFamily="34" charset="-122"/>
                <a:ea typeface="微软雅黑" pitchFamily="34" charset="-122"/>
              </a:rPr>
              <a:t>4.4  </a:t>
            </a:r>
            <a:r>
              <a:rPr lang="zh-CN" altLang="en-US" sz="2400" b="1" dirty="0">
                <a:solidFill>
                  <a:schemeClr val="bg1"/>
                </a:solidFill>
                <a:latin typeface="微软雅黑" pitchFamily="34" charset="-122"/>
                <a:ea typeface="微软雅黑" pitchFamily="34" charset="-122"/>
              </a:rPr>
              <a:t>网际控制报文协议 </a:t>
            </a:r>
            <a:r>
              <a:rPr lang="en-US" altLang="zh-CN" sz="2400" b="1" dirty="0">
                <a:solidFill>
                  <a:schemeClr val="bg1"/>
                </a:solidFill>
                <a:latin typeface="微软雅黑" pitchFamily="34" charset="-122"/>
                <a:ea typeface="微软雅黑" pitchFamily="34" charset="-122"/>
              </a:rPr>
              <a:t>ICMP </a:t>
            </a:r>
          </a:p>
        </p:txBody>
      </p:sp>
      <p:sp>
        <p:nvSpPr>
          <p:cNvPr id="7" name="圆角矩形 6"/>
          <p:cNvSpPr/>
          <p:nvPr/>
        </p:nvSpPr>
        <p:spPr>
          <a:xfrm>
            <a:off x="4675517" y="1073959"/>
            <a:ext cx="3962378" cy="3200399"/>
          </a:xfrm>
          <a:prstGeom prst="roundRect">
            <a:avLst>
              <a:gd name="adj" fmla="val 9928"/>
            </a:avLst>
          </a:prstGeom>
          <a:solidFill>
            <a:srgbClr val="C3E3F9"/>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9" name="组合 8"/>
          <p:cNvGrpSpPr/>
          <p:nvPr/>
        </p:nvGrpSpPr>
        <p:grpSpPr>
          <a:xfrm>
            <a:off x="4842456" y="1298537"/>
            <a:ext cx="3416249" cy="2751241"/>
            <a:chOff x="2372076" y="1403136"/>
            <a:chExt cx="4224107" cy="2751241"/>
          </a:xfrm>
        </p:grpSpPr>
        <p:sp>
          <p:nvSpPr>
            <p:cNvPr id="10" name="Text Box 9"/>
            <p:cNvSpPr txBox="1">
              <a:spLocks noChangeArrowheads="1"/>
            </p:cNvSpPr>
            <p:nvPr/>
          </p:nvSpPr>
          <p:spPr bwMode="auto">
            <a:xfrm>
              <a:off x="2372076" y="3355900"/>
              <a:ext cx="1047082"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75000"/>
                </a:lnSpc>
              </a:pPr>
              <a:r>
                <a:rPr kumimoji="1" lang="en-US" altLang="zh-CN" sz="1200" b="1">
                  <a:latin typeface="微软雅黑" pitchFamily="34" charset="-122"/>
                  <a:ea typeface="微软雅黑" pitchFamily="34" charset="-122"/>
                </a:rPr>
                <a:t>  </a:t>
              </a:r>
              <a:r>
                <a:rPr kumimoji="1" lang="zh-CN" altLang="en-US" sz="1200" b="1">
                  <a:latin typeface="微软雅黑" pitchFamily="34" charset="-122"/>
                  <a:ea typeface="微软雅黑" pitchFamily="34" charset="-122"/>
                </a:rPr>
                <a:t>网络接口层</a:t>
              </a:r>
            </a:p>
          </p:txBody>
        </p:sp>
        <p:sp>
          <p:nvSpPr>
            <p:cNvPr id="11" name="Text Box 13"/>
            <p:cNvSpPr txBox="1">
              <a:spLocks noChangeArrowheads="1"/>
            </p:cNvSpPr>
            <p:nvPr/>
          </p:nvSpPr>
          <p:spPr bwMode="auto">
            <a:xfrm>
              <a:off x="2714268" y="1977466"/>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运输层</a:t>
              </a:r>
            </a:p>
          </p:txBody>
        </p:sp>
        <p:sp>
          <p:nvSpPr>
            <p:cNvPr id="12" name="Text Box 15"/>
            <p:cNvSpPr txBox="1">
              <a:spLocks noChangeArrowheads="1"/>
            </p:cNvSpPr>
            <p:nvPr/>
          </p:nvSpPr>
          <p:spPr bwMode="auto">
            <a:xfrm>
              <a:off x="2747925" y="1520750"/>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应用层</a:t>
              </a:r>
            </a:p>
          </p:txBody>
        </p:sp>
        <p:sp>
          <p:nvSpPr>
            <p:cNvPr id="13" name="Line 22"/>
            <p:cNvSpPr>
              <a:spLocks noChangeShapeType="1"/>
            </p:cNvSpPr>
            <p:nvPr/>
          </p:nvSpPr>
          <p:spPr bwMode="auto">
            <a:xfrm>
              <a:off x="2562806" y="1959860"/>
              <a:ext cx="109838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4" name="Line 23"/>
            <p:cNvSpPr>
              <a:spLocks noChangeShapeType="1"/>
            </p:cNvSpPr>
            <p:nvPr/>
          </p:nvSpPr>
          <p:spPr bwMode="auto">
            <a:xfrm>
              <a:off x="2562806" y="2313013"/>
              <a:ext cx="109838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5" name="Line 24"/>
            <p:cNvSpPr>
              <a:spLocks noChangeShapeType="1"/>
            </p:cNvSpPr>
            <p:nvPr/>
          </p:nvSpPr>
          <p:spPr bwMode="auto">
            <a:xfrm>
              <a:off x="2581879" y="3270978"/>
              <a:ext cx="1079307" cy="207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6" name="Line 25"/>
            <p:cNvSpPr>
              <a:spLocks noChangeShapeType="1"/>
            </p:cNvSpPr>
            <p:nvPr/>
          </p:nvSpPr>
          <p:spPr bwMode="auto">
            <a:xfrm>
              <a:off x="3094606" y="2313013"/>
              <a:ext cx="0" cy="960036"/>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7" name="Text Box 26"/>
            <p:cNvSpPr txBox="1">
              <a:spLocks noChangeArrowheads="1"/>
            </p:cNvSpPr>
            <p:nvPr/>
          </p:nvSpPr>
          <p:spPr bwMode="auto">
            <a:xfrm>
              <a:off x="2514069" y="2497357"/>
              <a:ext cx="1165222" cy="461665"/>
            </a:xfrm>
            <a:prstGeom prst="rect">
              <a:avLst/>
            </a:prstGeom>
            <a:solidFill>
              <a:srgbClr val="C3E3F9"/>
            </a:solidFill>
            <a:ln>
              <a:noFill/>
            </a:ln>
            <a:effectLst/>
          </p:spPr>
          <p:txBody>
            <a:bodyPr wrap="square">
              <a:spAutoFit/>
            </a:bodyPr>
            <a:lstStyle/>
            <a:p>
              <a:pPr algn="ctr"/>
              <a:r>
                <a:rPr kumimoji="1" lang="zh-CN" altLang="en-US" sz="1200" b="1" dirty="0">
                  <a:solidFill>
                    <a:srgbClr val="0000FF"/>
                  </a:solidFill>
                  <a:latin typeface="微软雅黑" pitchFamily="34" charset="-122"/>
                  <a:ea typeface="微软雅黑" pitchFamily="34" charset="-122"/>
                </a:rPr>
                <a:t>网络层</a:t>
              </a:r>
              <a:endParaRPr kumimoji="1" lang="en-US" altLang="zh-CN" sz="1200" b="1" dirty="0">
                <a:solidFill>
                  <a:srgbClr val="0000FF"/>
                </a:solidFill>
                <a:latin typeface="微软雅黑" pitchFamily="34" charset="-122"/>
                <a:ea typeface="微软雅黑" pitchFamily="34" charset="-122"/>
              </a:endParaRPr>
            </a:p>
            <a:p>
              <a:pPr algn="ctr"/>
              <a:r>
                <a:rPr kumimoji="1" lang="zh-CN" altLang="en-US" sz="1200" b="1" dirty="0">
                  <a:solidFill>
                    <a:srgbClr val="CC00CC"/>
                  </a:solidFill>
                  <a:latin typeface="微软雅黑" pitchFamily="34" charset="-122"/>
                  <a:ea typeface="微软雅黑" pitchFamily="34" charset="-122"/>
                </a:rPr>
                <a:t>（网际层）</a:t>
              </a:r>
            </a:p>
          </p:txBody>
        </p:sp>
        <p:grpSp>
          <p:nvGrpSpPr>
            <p:cNvPr id="18" name="组合 17"/>
            <p:cNvGrpSpPr/>
            <p:nvPr/>
          </p:nvGrpSpPr>
          <p:grpSpPr>
            <a:xfrm>
              <a:off x="3718405" y="1403136"/>
              <a:ext cx="2877778" cy="2751241"/>
              <a:chOff x="3718405" y="1403136"/>
              <a:chExt cx="2877778" cy="2751241"/>
            </a:xfrm>
          </p:grpSpPr>
          <p:sp>
            <p:nvSpPr>
              <p:cNvPr id="21" name="Rectangle 5"/>
              <p:cNvSpPr>
                <a:spLocks noChangeArrowheads="1"/>
              </p:cNvSpPr>
              <p:nvPr/>
            </p:nvSpPr>
            <p:spPr bwMode="auto">
              <a:xfrm>
                <a:off x="3721771" y="1403723"/>
                <a:ext cx="2874412" cy="2223514"/>
              </a:xfrm>
              <a:prstGeom prst="rect">
                <a:avLst/>
              </a:prstGeom>
              <a:solidFill>
                <a:srgbClr val="00FFFF"/>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kumimoji="1" lang="zh-CN" altLang="zh-CN" sz="1200" b="1">
                  <a:solidFill>
                    <a:srgbClr val="000099"/>
                  </a:solidFill>
                  <a:latin typeface="微软雅黑" pitchFamily="34" charset="-122"/>
                  <a:ea typeface="微软雅黑" pitchFamily="34" charset="-122"/>
                </a:endParaRPr>
              </a:p>
            </p:txBody>
          </p:sp>
          <p:sp>
            <p:nvSpPr>
              <p:cNvPr id="22" name="矩形 21"/>
              <p:cNvSpPr/>
              <p:nvPr/>
            </p:nvSpPr>
            <p:spPr>
              <a:xfrm>
                <a:off x="3721771" y="2313013"/>
                <a:ext cx="2874412" cy="9600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p>
            </p:txBody>
          </p:sp>
          <p:sp>
            <p:nvSpPr>
              <p:cNvPr id="23" name="Rectangle 4"/>
              <p:cNvSpPr>
                <a:spLocks noChangeArrowheads="1"/>
              </p:cNvSpPr>
              <p:nvPr/>
            </p:nvSpPr>
            <p:spPr bwMode="auto">
              <a:xfrm>
                <a:off x="3721771" y="2313013"/>
                <a:ext cx="2874412" cy="960036"/>
              </a:xfrm>
              <a:prstGeom prst="rect">
                <a:avLst/>
              </a:prstGeom>
              <a:solidFill>
                <a:srgbClr val="FFFF66"/>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24" name="Line 6"/>
              <p:cNvSpPr>
                <a:spLocks noChangeShapeType="1"/>
              </p:cNvSpPr>
              <p:nvPr/>
            </p:nvSpPr>
            <p:spPr bwMode="auto">
              <a:xfrm>
                <a:off x="3721771" y="1959860"/>
                <a:ext cx="2874412"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5" name="Line 7"/>
              <p:cNvSpPr>
                <a:spLocks noChangeShapeType="1"/>
              </p:cNvSpPr>
              <p:nvPr/>
            </p:nvSpPr>
            <p:spPr bwMode="auto">
              <a:xfrm>
                <a:off x="3721771" y="2313013"/>
                <a:ext cx="2874412" cy="0"/>
              </a:xfrm>
              <a:prstGeom prst="line">
                <a:avLst/>
              </a:prstGeom>
              <a:noFill/>
              <a:ln w="1905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6" name="Text Box 8"/>
              <p:cNvSpPr txBox="1">
                <a:spLocks noChangeArrowheads="1"/>
              </p:cNvSpPr>
              <p:nvPr/>
            </p:nvSpPr>
            <p:spPr bwMode="auto">
              <a:xfrm>
                <a:off x="4410642" y="1403136"/>
                <a:ext cx="12618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各种应用层协议</a:t>
                </a:r>
              </a:p>
            </p:txBody>
          </p:sp>
          <p:sp>
            <p:nvSpPr>
              <p:cNvPr id="27" name="Text Box 10"/>
              <p:cNvSpPr txBox="1">
                <a:spLocks noChangeArrowheads="1"/>
              </p:cNvSpPr>
              <p:nvPr/>
            </p:nvSpPr>
            <p:spPr bwMode="auto">
              <a:xfrm>
                <a:off x="4044889" y="1645744"/>
                <a:ext cx="17843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(HTTP, FTP, SMTP </a:t>
                </a:r>
                <a:r>
                  <a:rPr kumimoji="1" lang="zh-CN" altLang="zh-CN" sz="1200" b="1" dirty="0">
                    <a:latin typeface="微软雅黑" pitchFamily="34" charset="-122"/>
                    <a:ea typeface="微软雅黑" pitchFamily="34" charset="-122"/>
                  </a:rPr>
                  <a:t>等</a:t>
                </a:r>
                <a:r>
                  <a:rPr kumimoji="1" lang="en-US" altLang="zh-CN" sz="1200" b="1" dirty="0">
                    <a:latin typeface="微软雅黑" pitchFamily="34" charset="-122"/>
                    <a:ea typeface="微软雅黑" pitchFamily="34" charset="-122"/>
                  </a:rPr>
                  <a:t>)</a:t>
                </a:r>
              </a:p>
            </p:txBody>
          </p:sp>
          <p:sp>
            <p:nvSpPr>
              <p:cNvPr id="28" name="Rectangle 11"/>
              <p:cNvSpPr>
                <a:spLocks noChangeArrowheads="1"/>
              </p:cNvSpPr>
              <p:nvPr/>
            </p:nvSpPr>
            <p:spPr bwMode="auto">
              <a:xfrm>
                <a:off x="3718405" y="3677984"/>
                <a:ext cx="2877778" cy="476393"/>
              </a:xfrm>
              <a:prstGeom prst="rect">
                <a:avLst/>
              </a:prstGeom>
              <a:solidFill>
                <a:srgbClr val="00B0F0">
                  <a:alpha val="49001"/>
                </a:srgbClr>
              </a:solidFill>
              <a:ln w="19050">
                <a:solidFill>
                  <a:schemeClr val="tx1"/>
                </a:solidFill>
                <a:prstDash val="dash"/>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29" name="Text Box 12"/>
              <p:cNvSpPr txBox="1">
                <a:spLocks noChangeArrowheads="1"/>
              </p:cNvSpPr>
              <p:nvPr/>
            </p:nvSpPr>
            <p:spPr bwMode="auto">
              <a:xfrm>
                <a:off x="4661957" y="3760589"/>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物理硬件</a:t>
                </a:r>
              </a:p>
            </p:txBody>
          </p:sp>
          <p:sp>
            <p:nvSpPr>
              <p:cNvPr id="30" name="Text Box 14"/>
              <p:cNvSpPr txBox="1">
                <a:spLocks noChangeArrowheads="1"/>
              </p:cNvSpPr>
              <p:nvPr/>
            </p:nvSpPr>
            <p:spPr bwMode="auto">
              <a:xfrm>
                <a:off x="4739371" y="1984375"/>
                <a:ext cx="88453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TCP, UDP</a:t>
                </a:r>
              </a:p>
            </p:txBody>
          </p:sp>
          <p:sp>
            <p:nvSpPr>
              <p:cNvPr id="31" name="Rectangle 16"/>
              <p:cNvSpPr>
                <a:spLocks noChangeArrowheads="1"/>
              </p:cNvSpPr>
              <p:nvPr/>
            </p:nvSpPr>
            <p:spPr bwMode="auto">
              <a:xfrm>
                <a:off x="3781234" y="2343046"/>
                <a:ext cx="685505" cy="243375"/>
              </a:xfrm>
              <a:prstGeom prst="rect">
                <a:avLst/>
              </a:prstGeom>
              <a:solidFill>
                <a:srgbClr val="00FF99"/>
              </a:solidFill>
              <a:ln w="9525">
                <a:solidFill>
                  <a:schemeClr val="tx1"/>
                </a:solidFill>
                <a:miter lim="800000"/>
                <a:headEnd/>
                <a:tailEnd/>
              </a:ln>
              <a:effectLst/>
            </p:spPr>
            <p:txBody>
              <a:bodyPr wrap="none" anchor="ctr"/>
              <a:lstStyle/>
              <a:p>
                <a:pPr algn="ctr"/>
                <a:r>
                  <a:rPr kumimoji="1" lang="en-US" altLang="zh-CN" sz="1200" b="1" dirty="0">
                    <a:solidFill>
                      <a:srgbClr val="0000FF"/>
                    </a:solidFill>
                    <a:latin typeface="微软雅黑" pitchFamily="34" charset="-122"/>
                    <a:ea typeface="微软雅黑" pitchFamily="34" charset="-122"/>
                  </a:rPr>
                  <a:t>ICMP</a:t>
                </a:r>
              </a:p>
            </p:txBody>
          </p:sp>
          <p:sp>
            <p:nvSpPr>
              <p:cNvPr id="32" name="Text Box 17"/>
              <p:cNvSpPr txBox="1">
                <a:spLocks noChangeArrowheads="1"/>
              </p:cNvSpPr>
              <p:nvPr/>
            </p:nvSpPr>
            <p:spPr bwMode="auto">
              <a:xfrm>
                <a:off x="4975193" y="2674159"/>
                <a:ext cx="38824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solidFill>
                      <a:srgbClr val="000099"/>
                    </a:solidFill>
                    <a:latin typeface="微软雅黑" pitchFamily="34" charset="-122"/>
                    <a:ea typeface="微软雅黑" pitchFamily="34" charset="-122"/>
                  </a:rPr>
                  <a:t>IP</a:t>
                </a:r>
              </a:p>
            </p:txBody>
          </p:sp>
          <p:sp>
            <p:nvSpPr>
              <p:cNvPr id="33" name="Rectangle 19"/>
              <p:cNvSpPr>
                <a:spLocks noChangeArrowheads="1"/>
              </p:cNvSpPr>
              <p:nvPr/>
            </p:nvSpPr>
            <p:spPr bwMode="auto">
              <a:xfrm>
                <a:off x="5910678" y="2970643"/>
                <a:ext cx="624920" cy="243375"/>
              </a:xfrm>
              <a:prstGeom prst="rect">
                <a:avLst/>
              </a:prstGeom>
              <a:solidFill>
                <a:srgbClr val="00FF99"/>
              </a:solidFill>
              <a:ln w="9525">
                <a:solidFill>
                  <a:schemeClr val="tx1"/>
                </a:solidFill>
                <a:miter lim="800000"/>
                <a:headEnd/>
                <a:tailEnd/>
              </a:ln>
              <a:effectLst/>
            </p:spPr>
            <p:txBody>
              <a:bodyPr wrap="none" anchor="ctr"/>
              <a:lstStyle/>
              <a:p>
                <a:pPr algn="ctr"/>
                <a:r>
                  <a:rPr kumimoji="1" lang="en-US" altLang="zh-CN" sz="1200" b="1">
                    <a:solidFill>
                      <a:srgbClr val="0000FF"/>
                    </a:solidFill>
                    <a:latin typeface="微软雅黑" pitchFamily="34" charset="-122"/>
                    <a:ea typeface="微软雅黑" pitchFamily="34" charset="-122"/>
                  </a:rPr>
                  <a:t>ARP</a:t>
                </a:r>
              </a:p>
            </p:txBody>
          </p:sp>
          <p:sp>
            <p:nvSpPr>
              <p:cNvPr id="34" name="Text Box 20"/>
              <p:cNvSpPr txBox="1">
                <a:spLocks noChangeArrowheads="1"/>
              </p:cNvSpPr>
              <p:nvPr/>
            </p:nvSpPr>
            <p:spPr bwMode="auto">
              <a:xfrm>
                <a:off x="4375862" y="3290337"/>
                <a:ext cx="12618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与各种网络接口</a:t>
                </a:r>
              </a:p>
            </p:txBody>
          </p:sp>
          <p:sp>
            <p:nvSpPr>
              <p:cNvPr id="35" name="Line 21"/>
              <p:cNvSpPr>
                <a:spLocks noChangeShapeType="1"/>
              </p:cNvSpPr>
              <p:nvPr/>
            </p:nvSpPr>
            <p:spPr bwMode="auto">
              <a:xfrm>
                <a:off x="3721771" y="3273049"/>
                <a:ext cx="2874412" cy="0"/>
              </a:xfrm>
              <a:prstGeom prst="line">
                <a:avLst/>
              </a:prstGeom>
              <a:noFill/>
              <a:ln w="1905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36" name="Rectangle 27"/>
              <p:cNvSpPr>
                <a:spLocks noChangeArrowheads="1"/>
              </p:cNvSpPr>
              <p:nvPr/>
            </p:nvSpPr>
            <p:spPr bwMode="auto">
              <a:xfrm>
                <a:off x="4500398" y="2343046"/>
                <a:ext cx="684384" cy="243375"/>
              </a:xfrm>
              <a:prstGeom prst="rect">
                <a:avLst/>
              </a:prstGeom>
              <a:solidFill>
                <a:srgbClr val="00FF99"/>
              </a:solidFill>
              <a:ln w="9525">
                <a:solidFill>
                  <a:schemeClr val="tx1"/>
                </a:solidFill>
                <a:miter lim="800000"/>
                <a:headEnd/>
                <a:tailEnd/>
              </a:ln>
              <a:effectLst/>
            </p:spPr>
            <p:txBody>
              <a:bodyPr wrap="none" anchor="ctr"/>
              <a:lstStyle/>
              <a:p>
                <a:pPr algn="ctr"/>
                <a:r>
                  <a:rPr kumimoji="1" lang="en-US" altLang="zh-CN" sz="1200" b="1">
                    <a:solidFill>
                      <a:srgbClr val="0000FF"/>
                    </a:solidFill>
                    <a:latin typeface="微软雅黑" pitchFamily="34" charset="-122"/>
                    <a:ea typeface="微软雅黑" pitchFamily="34" charset="-122"/>
                  </a:rPr>
                  <a:t>IGMP</a:t>
                </a:r>
              </a:p>
            </p:txBody>
          </p:sp>
        </p:grpSp>
        <p:sp>
          <p:nvSpPr>
            <p:cNvPr id="19" name="Line 28"/>
            <p:cNvSpPr>
              <a:spLocks noChangeShapeType="1"/>
            </p:cNvSpPr>
            <p:nvPr/>
          </p:nvSpPr>
          <p:spPr bwMode="auto">
            <a:xfrm flipV="1">
              <a:off x="2571782" y="1403723"/>
              <a:ext cx="1089404"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0" name="Line 29"/>
            <p:cNvSpPr>
              <a:spLocks noChangeShapeType="1"/>
            </p:cNvSpPr>
            <p:nvPr/>
          </p:nvSpPr>
          <p:spPr bwMode="auto">
            <a:xfrm>
              <a:off x="2552708" y="3627237"/>
              <a:ext cx="110847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Tree>
    <p:extLst>
      <p:ext uri="{BB962C8B-B14F-4D97-AF65-F5344CB8AC3E}">
        <p14:creationId xmlns:p14="http://schemas.microsoft.com/office/powerpoint/2010/main" val="77536877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45144" y="1047600"/>
            <a:ext cx="8053712" cy="3200399"/>
          </a:xfrm>
          <a:prstGeom prst="roundRect">
            <a:avLst/>
          </a:prstGeom>
          <a:solidFill>
            <a:srgbClr val="C3E3F9"/>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9" name="AutoShape 31"/>
          <p:cNvSpPr>
            <a:spLocks noChangeArrowheads="1"/>
          </p:cNvSpPr>
          <p:nvPr/>
        </p:nvSpPr>
        <p:spPr bwMode="auto">
          <a:xfrm rot="5400000">
            <a:off x="2370617" y="3475756"/>
            <a:ext cx="226595" cy="397890"/>
          </a:xfrm>
          <a:prstGeom prst="downArrow">
            <a:avLst>
              <a:gd name="adj1" fmla="val 47222"/>
              <a:gd name="adj2" fmla="val 83745"/>
            </a:avLst>
          </a:prstGeom>
          <a:solidFill>
            <a:srgbClr val="00FFFF"/>
          </a:solidFill>
          <a:ln w="9525">
            <a:solidFill>
              <a:schemeClr val="tx1"/>
            </a:solidFill>
            <a:miter lim="800000"/>
            <a:headEnd/>
            <a:tailEnd/>
          </a:ln>
          <a:effectLst/>
        </p:spPr>
        <p:txBody>
          <a:bodyPr vert="eaVert" wrap="none" anchor="ctr"/>
          <a:lstStyle/>
          <a:p>
            <a:pPr algn="ctr"/>
            <a:endParaRPr lang="zh-CN" altLang="en-US" sz="1400" b="1">
              <a:latin typeface="微软雅黑" pitchFamily="34" charset="-122"/>
              <a:ea typeface="微软雅黑" pitchFamily="34" charset="-122"/>
            </a:endParaRPr>
          </a:p>
        </p:txBody>
      </p:sp>
      <p:sp>
        <p:nvSpPr>
          <p:cNvPr id="10" name="Rectangle 2"/>
          <p:cNvSpPr>
            <a:spLocks noChangeArrowheads="1"/>
          </p:cNvSpPr>
          <p:nvPr/>
        </p:nvSpPr>
        <p:spPr bwMode="auto">
          <a:xfrm>
            <a:off x="2659930" y="3535258"/>
            <a:ext cx="3609335" cy="306277"/>
          </a:xfrm>
          <a:prstGeom prst="rect">
            <a:avLst/>
          </a:prstGeom>
          <a:solidFill>
            <a:srgbClr val="0000FF"/>
          </a:solidFill>
          <a:ln>
            <a:headEnd/>
            <a:tailEnd/>
          </a:ln>
        </p:spPr>
        <p:style>
          <a:lnRef idx="2">
            <a:schemeClr val="dk1"/>
          </a:lnRef>
          <a:fillRef idx="1">
            <a:schemeClr val="lt1"/>
          </a:fillRef>
          <a:effectRef idx="0">
            <a:schemeClr val="dk1"/>
          </a:effectRef>
          <a:fontRef idx="minor">
            <a:schemeClr val="dk1"/>
          </a:fontRef>
        </p:style>
        <p:txBody>
          <a:bodyPr wrap="none" anchor="ctr"/>
          <a:lstStyle/>
          <a:p>
            <a:pPr algn="ctr"/>
            <a:endParaRPr lang="zh-CN" altLang="en-US" sz="1400" b="1">
              <a:latin typeface="微软雅黑" pitchFamily="34" charset="-122"/>
              <a:ea typeface="微软雅黑" pitchFamily="34" charset="-122"/>
            </a:endParaRPr>
          </a:p>
        </p:txBody>
      </p:sp>
      <p:sp>
        <p:nvSpPr>
          <p:cNvPr id="11" name="Rectangle 4"/>
          <p:cNvSpPr>
            <a:spLocks noChangeArrowheads="1"/>
          </p:cNvSpPr>
          <p:nvPr/>
        </p:nvSpPr>
        <p:spPr bwMode="auto">
          <a:xfrm>
            <a:off x="3674373" y="3569576"/>
            <a:ext cx="2581244" cy="244521"/>
          </a:xfrm>
          <a:prstGeom prst="rect">
            <a:avLst/>
          </a:prstGeom>
          <a:solidFill>
            <a:srgbClr val="00FFFF"/>
          </a:solidFill>
          <a:ln>
            <a:noFill/>
          </a:ln>
          <a:effectLst/>
        </p:spPr>
        <p:txBody>
          <a:bodyPr wrap="none" anchor="ctr"/>
          <a:lstStyle/>
          <a:p>
            <a:pPr algn="ctr"/>
            <a:endParaRPr lang="zh-CN" altLang="en-US" sz="1400" b="1">
              <a:latin typeface="微软雅黑" pitchFamily="34" charset="-122"/>
              <a:ea typeface="微软雅黑" pitchFamily="34" charset="-122"/>
            </a:endParaRPr>
          </a:p>
        </p:txBody>
      </p:sp>
      <p:sp>
        <p:nvSpPr>
          <p:cNvPr id="12" name="Freeform 5"/>
          <p:cNvSpPr>
            <a:spLocks/>
          </p:cNvSpPr>
          <p:nvPr/>
        </p:nvSpPr>
        <p:spPr bwMode="auto">
          <a:xfrm>
            <a:off x="2680162" y="2577832"/>
            <a:ext cx="4769285" cy="367283"/>
          </a:xfrm>
          <a:custGeom>
            <a:avLst/>
            <a:gdLst>
              <a:gd name="T0" fmla="*/ 0 w 2790"/>
              <a:gd name="T1" fmla="*/ 6 h 279"/>
              <a:gd name="T2" fmla="*/ 561 w 2790"/>
              <a:gd name="T3" fmla="*/ 279 h 279"/>
              <a:gd name="T4" fmla="*/ 2100 w 2790"/>
              <a:gd name="T5" fmla="*/ 276 h 279"/>
              <a:gd name="T6" fmla="*/ 2790 w 2790"/>
              <a:gd name="T7" fmla="*/ 0 h 279"/>
              <a:gd name="T8" fmla="*/ 0 w 2790"/>
              <a:gd name="T9" fmla="*/ 6 h 279"/>
            </a:gdLst>
            <a:ahLst/>
            <a:cxnLst>
              <a:cxn ang="0">
                <a:pos x="T0" y="T1"/>
              </a:cxn>
              <a:cxn ang="0">
                <a:pos x="T2" y="T3"/>
              </a:cxn>
              <a:cxn ang="0">
                <a:pos x="T4" y="T5"/>
              </a:cxn>
              <a:cxn ang="0">
                <a:pos x="T6" y="T7"/>
              </a:cxn>
              <a:cxn ang="0">
                <a:pos x="T8" y="T9"/>
              </a:cxn>
            </a:cxnLst>
            <a:rect l="0" t="0" r="r" b="b"/>
            <a:pathLst>
              <a:path w="2790" h="279">
                <a:moveTo>
                  <a:pt x="0" y="6"/>
                </a:moveTo>
                <a:lnTo>
                  <a:pt x="561" y="279"/>
                </a:lnTo>
                <a:lnTo>
                  <a:pt x="2100" y="276"/>
                </a:lnTo>
                <a:lnTo>
                  <a:pt x="2790" y="0"/>
                </a:lnTo>
                <a:lnTo>
                  <a:pt x="0" y="6"/>
                </a:lnTo>
                <a:close/>
              </a:path>
            </a:pathLst>
          </a:custGeom>
          <a:gradFill flip="none" rotWithShape="1">
            <a:gsLst>
              <a:gs pos="0">
                <a:srgbClr val="00B0F0"/>
              </a:gs>
              <a:gs pos="100000">
                <a:srgbClr val="99FFCC"/>
              </a:gs>
            </a:gsLst>
            <a:lin ang="16200000" scaled="1"/>
            <a:tileRect/>
          </a:gradFill>
          <a:ln>
            <a:noFill/>
          </a:ln>
          <a:effectLst/>
        </p:spPr>
        <p:txBody>
          <a:bodyPr/>
          <a:lstStyle/>
          <a:p>
            <a:pPr algn="ctr"/>
            <a:endParaRPr lang="zh-CN" altLang="en-US" sz="1400" b="1">
              <a:latin typeface="微软雅黑" pitchFamily="34" charset="-122"/>
              <a:ea typeface="微软雅黑" pitchFamily="34" charset="-122"/>
            </a:endParaRPr>
          </a:p>
        </p:txBody>
      </p:sp>
      <p:sp>
        <p:nvSpPr>
          <p:cNvPr id="13" name="Line 6"/>
          <p:cNvSpPr>
            <a:spLocks noChangeShapeType="1"/>
          </p:cNvSpPr>
          <p:nvPr/>
        </p:nvSpPr>
        <p:spPr bwMode="auto">
          <a:xfrm>
            <a:off x="2659930" y="4024554"/>
            <a:ext cx="3609335" cy="0"/>
          </a:xfrm>
          <a:prstGeom prst="line">
            <a:avLst/>
          </a:prstGeom>
          <a:noFill/>
          <a:ln w="28575">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400" b="1">
              <a:latin typeface="微软雅黑" pitchFamily="34" charset="-122"/>
              <a:ea typeface="微软雅黑" pitchFamily="34" charset="-122"/>
            </a:endParaRPr>
          </a:p>
        </p:txBody>
      </p:sp>
      <p:sp>
        <p:nvSpPr>
          <p:cNvPr id="14" name="Text Box 7"/>
          <p:cNvSpPr txBox="1">
            <a:spLocks noChangeArrowheads="1"/>
          </p:cNvSpPr>
          <p:nvPr/>
        </p:nvSpPr>
        <p:spPr bwMode="auto">
          <a:xfrm>
            <a:off x="2844543" y="3532768"/>
            <a:ext cx="64953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solidFill>
                  <a:schemeClr val="bg1"/>
                </a:solidFill>
                <a:latin typeface="微软雅黑" pitchFamily="34" charset="-122"/>
                <a:ea typeface="微软雅黑" pitchFamily="34" charset="-122"/>
              </a:rPr>
              <a:t>首  部</a:t>
            </a:r>
          </a:p>
        </p:txBody>
      </p:sp>
      <p:sp>
        <p:nvSpPr>
          <p:cNvPr id="15" name="Rectangle 8"/>
          <p:cNvSpPr>
            <a:spLocks noChangeArrowheads="1"/>
          </p:cNvSpPr>
          <p:nvPr/>
        </p:nvSpPr>
        <p:spPr bwMode="auto">
          <a:xfrm>
            <a:off x="3644540" y="2926439"/>
            <a:ext cx="2624726" cy="307521"/>
          </a:xfrm>
          <a:prstGeom prst="rect">
            <a:avLst/>
          </a:prstGeom>
          <a:solidFill>
            <a:srgbClr val="99FFCC"/>
          </a:solidFill>
          <a:ln w="9525">
            <a:solidFill>
              <a:schemeClr val="tx1"/>
            </a:solidFill>
            <a:miter lim="800000"/>
            <a:headEnd/>
            <a:tailEnd/>
          </a:ln>
          <a:effectLst/>
        </p:spPr>
        <p:txBody>
          <a:bodyPr wrap="none" anchor="ctr"/>
          <a:lstStyle/>
          <a:p>
            <a:pPr algn="ctr"/>
            <a:r>
              <a:rPr kumimoji="1" lang="en-US" altLang="zh-CN" sz="1400" b="1">
                <a:latin typeface="微软雅黑" pitchFamily="34" charset="-122"/>
                <a:ea typeface="微软雅黑" pitchFamily="34" charset="-122"/>
              </a:rPr>
              <a:t>ICMP </a:t>
            </a:r>
            <a:r>
              <a:rPr kumimoji="1" lang="zh-CN" altLang="en-US" sz="1400" b="1">
                <a:latin typeface="微软雅黑" pitchFamily="34" charset="-122"/>
                <a:ea typeface="微软雅黑" pitchFamily="34" charset="-122"/>
              </a:rPr>
              <a:t>报文</a:t>
            </a:r>
          </a:p>
        </p:txBody>
      </p:sp>
      <p:sp>
        <p:nvSpPr>
          <p:cNvPr id="16" name="Text Box 9"/>
          <p:cNvSpPr txBox="1">
            <a:spLocks noChangeArrowheads="1"/>
          </p:cNvSpPr>
          <p:nvPr/>
        </p:nvSpPr>
        <p:spPr bwMode="auto">
          <a:xfrm>
            <a:off x="2537330" y="1121534"/>
            <a:ext cx="2792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dirty="0">
                <a:solidFill>
                  <a:srgbClr val="0000FF"/>
                </a:solidFill>
                <a:latin typeface="微软雅黑" pitchFamily="34" charset="-122"/>
                <a:ea typeface="微软雅黑" pitchFamily="34" charset="-122"/>
              </a:rPr>
              <a:t>0</a:t>
            </a:r>
          </a:p>
        </p:txBody>
      </p:sp>
      <p:sp>
        <p:nvSpPr>
          <p:cNvPr id="17" name="Line 10"/>
          <p:cNvSpPr>
            <a:spLocks noChangeShapeType="1"/>
          </p:cNvSpPr>
          <p:nvPr/>
        </p:nvSpPr>
        <p:spPr bwMode="auto">
          <a:xfrm>
            <a:off x="3644540" y="3535258"/>
            <a:ext cx="0" cy="30627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400" b="1">
              <a:latin typeface="微软雅黑" pitchFamily="34" charset="-122"/>
              <a:ea typeface="微软雅黑" pitchFamily="34" charset="-122"/>
            </a:endParaRPr>
          </a:p>
        </p:txBody>
      </p:sp>
      <p:sp>
        <p:nvSpPr>
          <p:cNvPr id="18" name="Text Box 11"/>
          <p:cNvSpPr txBox="1">
            <a:spLocks noChangeArrowheads="1"/>
          </p:cNvSpPr>
          <p:nvPr/>
        </p:nvSpPr>
        <p:spPr bwMode="auto">
          <a:xfrm>
            <a:off x="4406029" y="3532768"/>
            <a:ext cx="12202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a:latin typeface="微软雅黑" pitchFamily="34" charset="-122"/>
                <a:ea typeface="微软雅黑" pitchFamily="34" charset="-122"/>
              </a:rPr>
              <a:t>数  据  部  分</a:t>
            </a:r>
          </a:p>
        </p:txBody>
      </p:sp>
      <p:sp>
        <p:nvSpPr>
          <p:cNvPr id="19" name="AutoShape 12"/>
          <p:cNvSpPr>
            <a:spLocks noChangeArrowheads="1"/>
          </p:cNvSpPr>
          <p:nvPr/>
        </p:nvSpPr>
        <p:spPr bwMode="auto">
          <a:xfrm>
            <a:off x="4792351" y="3233961"/>
            <a:ext cx="245478" cy="367283"/>
          </a:xfrm>
          <a:prstGeom prst="downArrow">
            <a:avLst>
              <a:gd name="adj1" fmla="val 47222"/>
              <a:gd name="adj2" fmla="val 83746"/>
            </a:avLst>
          </a:prstGeom>
          <a:solidFill>
            <a:srgbClr val="CC00CC"/>
          </a:solidFill>
          <a:ln w="9525">
            <a:noFill/>
            <a:miter lim="800000"/>
            <a:headEnd/>
            <a:tailEnd/>
          </a:ln>
          <a:effectLst/>
        </p:spPr>
        <p:txBody>
          <a:bodyPr vert="eaVert" wrap="none" anchor="ctr"/>
          <a:lstStyle/>
          <a:p>
            <a:pPr algn="ctr"/>
            <a:endParaRPr lang="zh-CN" altLang="en-US" sz="1400" b="1">
              <a:latin typeface="微软雅黑" pitchFamily="34" charset="-122"/>
              <a:ea typeface="微软雅黑" pitchFamily="34" charset="-122"/>
            </a:endParaRPr>
          </a:p>
        </p:txBody>
      </p:sp>
      <p:sp>
        <p:nvSpPr>
          <p:cNvPr id="23" name="Line 16"/>
          <p:cNvSpPr>
            <a:spLocks noChangeShapeType="1"/>
          </p:cNvSpPr>
          <p:nvPr/>
        </p:nvSpPr>
        <p:spPr bwMode="auto">
          <a:xfrm flipV="1">
            <a:off x="5037828" y="1351480"/>
            <a:ext cx="0" cy="30627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400" b="1">
              <a:latin typeface="微软雅黑" pitchFamily="34" charset="-122"/>
              <a:ea typeface="微软雅黑" pitchFamily="34" charset="-122"/>
            </a:endParaRPr>
          </a:p>
        </p:txBody>
      </p:sp>
      <p:sp>
        <p:nvSpPr>
          <p:cNvPr id="29" name="Text Box 22"/>
          <p:cNvSpPr txBox="1">
            <a:spLocks noChangeArrowheads="1"/>
          </p:cNvSpPr>
          <p:nvPr/>
        </p:nvSpPr>
        <p:spPr bwMode="auto">
          <a:xfrm>
            <a:off x="3710770" y="1121534"/>
            <a:ext cx="2792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a:solidFill>
                  <a:srgbClr val="0000FF"/>
                </a:solidFill>
                <a:latin typeface="微软雅黑" pitchFamily="34" charset="-122"/>
                <a:ea typeface="微软雅黑" pitchFamily="34" charset="-122"/>
              </a:rPr>
              <a:t>8</a:t>
            </a:r>
          </a:p>
        </p:txBody>
      </p:sp>
      <p:sp>
        <p:nvSpPr>
          <p:cNvPr id="30" name="Text Box 23"/>
          <p:cNvSpPr txBox="1">
            <a:spLocks noChangeArrowheads="1"/>
          </p:cNvSpPr>
          <p:nvPr/>
        </p:nvSpPr>
        <p:spPr bwMode="auto">
          <a:xfrm>
            <a:off x="4871758" y="1121534"/>
            <a:ext cx="37382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a:solidFill>
                  <a:srgbClr val="0000FF"/>
                </a:solidFill>
                <a:latin typeface="微软雅黑" pitchFamily="34" charset="-122"/>
                <a:ea typeface="微软雅黑" pitchFamily="34" charset="-122"/>
              </a:rPr>
              <a:t>16</a:t>
            </a:r>
          </a:p>
        </p:txBody>
      </p:sp>
      <p:sp>
        <p:nvSpPr>
          <p:cNvPr id="31" name="Rectangle 24"/>
          <p:cNvSpPr>
            <a:spLocks noChangeArrowheads="1"/>
          </p:cNvSpPr>
          <p:nvPr/>
        </p:nvSpPr>
        <p:spPr bwMode="auto">
          <a:xfrm>
            <a:off x="3875181" y="3902541"/>
            <a:ext cx="1081721" cy="224105"/>
          </a:xfrm>
          <a:prstGeom prst="rect">
            <a:avLst/>
          </a:prstGeom>
          <a:solidFill>
            <a:srgbClr val="C3E3F9"/>
          </a:solidFill>
          <a:ln>
            <a:noFill/>
          </a:ln>
          <a:effectLst/>
        </p:spPr>
        <p:txBody>
          <a:bodyPr wrap="none" anchor="ctr"/>
          <a:lstStyle/>
          <a:p>
            <a:pPr algn="ctr"/>
            <a:endParaRPr lang="zh-CN" altLang="en-US" sz="1400" b="1">
              <a:latin typeface="微软雅黑" pitchFamily="34" charset="-122"/>
              <a:ea typeface="微软雅黑" pitchFamily="34" charset="-122"/>
            </a:endParaRPr>
          </a:p>
        </p:txBody>
      </p:sp>
      <p:sp>
        <p:nvSpPr>
          <p:cNvPr id="32" name="Text Box 25"/>
          <p:cNvSpPr txBox="1">
            <a:spLocks noChangeArrowheads="1"/>
          </p:cNvSpPr>
          <p:nvPr/>
        </p:nvSpPr>
        <p:spPr bwMode="auto">
          <a:xfrm>
            <a:off x="7166832" y="1121534"/>
            <a:ext cx="37382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dirty="0">
                <a:solidFill>
                  <a:srgbClr val="0000FF"/>
                </a:solidFill>
                <a:latin typeface="微软雅黑" pitchFamily="34" charset="-122"/>
                <a:ea typeface="微软雅黑" pitchFamily="34" charset="-122"/>
              </a:rPr>
              <a:t>31</a:t>
            </a:r>
          </a:p>
        </p:txBody>
      </p:sp>
      <p:sp>
        <p:nvSpPr>
          <p:cNvPr id="33" name="Text Box 26"/>
          <p:cNvSpPr txBox="1">
            <a:spLocks noChangeArrowheads="1"/>
          </p:cNvSpPr>
          <p:nvPr/>
        </p:nvSpPr>
        <p:spPr bwMode="auto">
          <a:xfrm>
            <a:off x="3959214" y="3855077"/>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400" b="1" dirty="0">
                <a:solidFill>
                  <a:srgbClr val="0000FF"/>
                </a:solidFill>
                <a:latin typeface="微软雅黑" pitchFamily="34" charset="-122"/>
                <a:ea typeface="微软雅黑" pitchFamily="34" charset="-122"/>
              </a:rPr>
              <a:t>IP </a:t>
            </a:r>
            <a:r>
              <a:rPr kumimoji="1" lang="zh-CN" altLang="en-US" sz="1400" b="1" dirty="0">
                <a:solidFill>
                  <a:srgbClr val="0000FF"/>
                </a:solidFill>
                <a:latin typeface="微软雅黑" pitchFamily="34" charset="-122"/>
                <a:ea typeface="微软雅黑" pitchFamily="34" charset="-122"/>
              </a:rPr>
              <a:t>数据报</a:t>
            </a:r>
          </a:p>
        </p:txBody>
      </p:sp>
      <p:grpSp>
        <p:nvGrpSpPr>
          <p:cNvPr id="2" name="组合 1"/>
          <p:cNvGrpSpPr/>
          <p:nvPr/>
        </p:nvGrpSpPr>
        <p:grpSpPr>
          <a:xfrm>
            <a:off x="2659930" y="1347840"/>
            <a:ext cx="4758495" cy="1226352"/>
            <a:chOff x="2659930" y="1470672"/>
            <a:chExt cx="4758495" cy="1226352"/>
          </a:xfrm>
        </p:grpSpPr>
        <p:sp>
          <p:nvSpPr>
            <p:cNvPr id="20" name="Rectangle 13"/>
            <p:cNvSpPr>
              <a:spLocks noChangeArrowheads="1"/>
            </p:cNvSpPr>
            <p:nvPr/>
          </p:nvSpPr>
          <p:spPr bwMode="auto">
            <a:xfrm>
              <a:off x="2659930" y="1470672"/>
              <a:ext cx="4758495" cy="1226352"/>
            </a:xfrm>
            <a:prstGeom prst="rect">
              <a:avLst/>
            </a:prstGeom>
            <a:solidFill>
              <a:srgbClr val="99FFCC"/>
            </a:solidFill>
            <a:ln w="19050">
              <a:solidFill>
                <a:schemeClr val="tx1"/>
              </a:solidFill>
              <a:miter lim="800000"/>
              <a:headEnd/>
              <a:tailEnd/>
            </a:ln>
            <a:effectLst/>
          </p:spPr>
          <p:txBody>
            <a:bodyPr wrap="none" anchor="ctr"/>
            <a:lstStyle/>
            <a:p>
              <a:pPr algn="ctr"/>
              <a:endParaRPr lang="zh-CN" altLang="en-US" sz="1400" b="1">
                <a:latin typeface="微软雅黑" pitchFamily="34" charset="-122"/>
                <a:ea typeface="微软雅黑" pitchFamily="34" charset="-122"/>
              </a:endParaRPr>
            </a:p>
          </p:txBody>
        </p:sp>
        <p:sp>
          <p:nvSpPr>
            <p:cNvPr id="21" name="Line 14"/>
            <p:cNvSpPr>
              <a:spLocks noChangeShapeType="1"/>
            </p:cNvSpPr>
            <p:nvPr/>
          </p:nvSpPr>
          <p:spPr bwMode="auto">
            <a:xfrm rot="5400000" flipV="1">
              <a:off x="5039178" y="-598660"/>
              <a:ext cx="0" cy="475849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400" b="1">
                <a:latin typeface="微软雅黑" pitchFamily="34" charset="-122"/>
                <a:ea typeface="微软雅黑" pitchFamily="34" charset="-122"/>
              </a:endParaRPr>
            </a:p>
          </p:txBody>
        </p:sp>
        <p:sp>
          <p:nvSpPr>
            <p:cNvPr id="22" name="Line 15"/>
            <p:cNvSpPr>
              <a:spLocks noChangeShapeType="1"/>
            </p:cNvSpPr>
            <p:nvPr/>
          </p:nvSpPr>
          <p:spPr bwMode="auto">
            <a:xfrm flipV="1">
              <a:off x="3848205" y="1474312"/>
              <a:ext cx="0" cy="30627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400" b="1">
                <a:latin typeface="微软雅黑" pitchFamily="34" charset="-122"/>
                <a:ea typeface="微软雅黑" pitchFamily="34" charset="-122"/>
              </a:endParaRPr>
            </a:p>
          </p:txBody>
        </p:sp>
        <p:sp>
          <p:nvSpPr>
            <p:cNvPr id="24" name="Line 17"/>
            <p:cNvSpPr>
              <a:spLocks noChangeShapeType="1"/>
            </p:cNvSpPr>
            <p:nvPr/>
          </p:nvSpPr>
          <p:spPr bwMode="auto">
            <a:xfrm flipV="1">
              <a:off x="5037828" y="1474312"/>
              <a:ext cx="0" cy="30627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400" b="1">
                <a:latin typeface="微软雅黑" pitchFamily="34" charset="-122"/>
                <a:ea typeface="微软雅黑" pitchFamily="34" charset="-122"/>
              </a:endParaRPr>
            </a:p>
          </p:txBody>
        </p:sp>
        <p:sp>
          <p:nvSpPr>
            <p:cNvPr id="34" name="Line 27"/>
            <p:cNvSpPr>
              <a:spLocks noChangeShapeType="1"/>
            </p:cNvSpPr>
            <p:nvPr/>
          </p:nvSpPr>
          <p:spPr bwMode="auto">
            <a:xfrm rot="16200000">
              <a:off x="5039178" y="-291137"/>
              <a:ext cx="0" cy="475849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400" b="1">
                <a:latin typeface="微软雅黑" pitchFamily="34" charset="-122"/>
                <a:ea typeface="微软雅黑" pitchFamily="34" charset="-122"/>
              </a:endParaRPr>
            </a:p>
          </p:txBody>
        </p:sp>
      </p:grpSp>
      <p:sp>
        <p:nvSpPr>
          <p:cNvPr id="36" name="Text Box 29"/>
          <p:cNvSpPr txBox="1">
            <a:spLocks noChangeArrowheads="1"/>
          </p:cNvSpPr>
          <p:nvPr/>
        </p:nvSpPr>
        <p:spPr bwMode="auto">
          <a:xfrm>
            <a:off x="3566280" y="2120907"/>
            <a:ext cx="323518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400" b="1" dirty="0">
                <a:latin typeface="微软雅黑" pitchFamily="34" charset="-122"/>
                <a:ea typeface="微软雅黑" pitchFamily="34" charset="-122"/>
              </a:rPr>
              <a:t>ICMP </a:t>
            </a:r>
            <a:r>
              <a:rPr kumimoji="1" lang="zh-CN" altLang="en-US" sz="1400" b="1" dirty="0">
                <a:latin typeface="微软雅黑" pitchFamily="34" charset="-122"/>
                <a:ea typeface="微软雅黑" pitchFamily="34" charset="-122"/>
              </a:rPr>
              <a:t>的数据部分（长度取决于类型）</a:t>
            </a:r>
          </a:p>
        </p:txBody>
      </p:sp>
      <p:grpSp>
        <p:nvGrpSpPr>
          <p:cNvPr id="39" name="组合 38"/>
          <p:cNvGrpSpPr/>
          <p:nvPr/>
        </p:nvGrpSpPr>
        <p:grpSpPr>
          <a:xfrm>
            <a:off x="1227936" y="1277546"/>
            <a:ext cx="5387714" cy="480131"/>
            <a:chOff x="1227936" y="1400378"/>
            <a:chExt cx="5387714" cy="480131"/>
          </a:xfrm>
        </p:grpSpPr>
        <p:sp>
          <p:nvSpPr>
            <p:cNvPr id="25" name="Text Box 18"/>
            <p:cNvSpPr txBox="1">
              <a:spLocks noChangeArrowheads="1"/>
            </p:cNvSpPr>
            <p:nvPr/>
          </p:nvSpPr>
          <p:spPr bwMode="auto">
            <a:xfrm>
              <a:off x="5892375" y="1488315"/>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itchFamily="34" charset="-122"/>
                  <a:ea typeface="微软雅黑" pitchFamily="34" charset="-122"/>
                </a:rPr>
                <a:t>检验和</a:t>
              </a:r>
            </a:p>
          </p:txBody>
        </p:sp>
        <p:sp>
          <p:nvSpPr>
            <p:cNvPr id="26" name="Text Box 19"/>
            <p:cNvSpPr txBox="1">
              <a:spLocks noChangeArrowheads="1"/>
            </p:cNvSpPr>
            <p:nvPr/>
          </p:nvSpPr>
          <p:spPr bwMode="auto">
            <a:xfrm>
              <a:off x="2982352" y="1488315"/>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a:latin typeface="微软雅黑" pitchFamily="34" charset="-122"/>
                  <a:ea typeface="微软雅黑" pitchFamily="34" charset="-122"/>
                </a:rPr>
                <a:t>类型</a:t>
              </a:r>
            </a:p>
          </p:txBody>
        </p:sp>
        <p:sp>
          <p:nvSpPr>
            <p:cNvPr id="27" name="Text Box 20"/>
            <p:cNvSpPr txBox="1">
              <a:spLocks noChangeArrowheads="1"/>
            </p:cNvSpPr>
            <p:nvPr/>
          </p:nvSpPr>
          <p:spPr bwMode="auto">
            <a:xfrm>
              <a:off x="4239415" y="1488315"/>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a:latin typeface="微软雅黑" pitchFamily="34" charset="-122"/>
                  <a:ea typeface="微软雅黑" pitchFamily="34" charset="-122"/>
                </a:rPr>
                <a:t>代码</a:t>
              </a:r>
            </a:p>
          </p:txBody>
        </p:sp>
        <p:sp>
          <p:nvSpPr>
            <p:cNvPr id="35" name="Text Box 28"/>
            <p:cNvSpPr txBox="1">
              <a:spLocks noChangeArrowheads="1"/>
            </p:cNvSpPr>
            <p:nvPr/>
          </p:nvSpPr>
          <p:spPr bwMode="auto">
            <a:xfrm>
              <a:off x="1227936" y="1400378"/>
              <a:ext cx="1119217" cy="480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zh-CN" altLang="en-US" sz="1400" b="1" dirty="0">
                  <a:solidFill>
                    <a:srgbClr val="CC00CC"/>
                  </a:solidFill>
                  <a:latin typeface="微软雅黑" pitchFamily="34" charset="-122"/>
                  <a:ea typeface="微软雅黑" pitchFamily="34" charset="-122"/>
                </a:rPr>
                <a:t>前 </a:t>
              </a:r>
              <a:r>
                <a:rPr kumimoji="1" lang="en-US" altLang="zh-CN" sz="1400" b="1" dirty="0">
                  <a:solidFill>
                    <a:srgbClr val="CC00CC"/>
                  </a:solidFill>
                  <a:latin typeface="微软雅黑" pitchFamily="34" charset="-122"/>
                  <a:ea typeface="微软雅黑" pitchFamily="34" charset="-122"/>
                </a:rPr>
                <a:t>4 </a:t>
              </a:r>
              <a:r>
                <a:rPr kumimoji="1" lang="zh-CN" altLang="en-US" sz="1400" b="1" dirty="0">
                  <a:solidFill>
                    <a:srgbClr val="CC00CC"/>
                  </a:solidFill>
                  <a:latin typeface="微软雅黑" pitchFamily="34" charset="-122"/>
                  <a:ea typeface="微软雅黑" pitchFamily="34" charset="-122"/>
                </a:rPr>
                <a:t>个字节</a:t>
              </a:r>
            </a:p>
            <a:p>
              <a:pPr algn="ctr">
                <a:lnSpc>
                  <a:spcPct val="90000"/>
                </a:lnSpc>
              </a:pPr>
              <a:r>
                <a:rPr kumimoji="1" lang="zh-CN" altLang="en-US" sz="1400" b="1" dirty="0">
                  <a:solidFill>
                    <a:srgbClr val="CC00CC"/>
                  </a:solidFill>
                  <a:latin typeface="微软雅黑" pitchFamily="34" charset="-122"/>
                  <a:ea typeface="微软雅黑" pitchFamily="34" charset="-122"/>
                </a:rPr>
                <a:t>是统一格式</a:t>
              </a:r>
            </a:p>
          </p:txBody>
        </p:sp>
        <p:sp>
          <p:nvSpPr>
            <p:cNvPr id="37" name="Line 30"/>
            <p:cNvSpPr>
              <a:spLocks noChangeShapeType="1"/>
            </p:cNvSpPr>
            <p:nvPr/>
          </p:nvSpPr>
          <p:spPr bwMode="auto">
            <a:xfrm>
              <a:off x="2248552" y="1631492"/>
              <a:ext cx="411378"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400" b="1">
                <a:latin typeface="微软雅黑" pitchFamily="34" charset="-122"/>
                <a:ea typeface="微软雅黑" pitchFamily="34" charset="-122"/>
              </a:endParaRPr>
            </a:p>
          </p:txBody>
        </p:sp>
      </p:grpSp>
      <p:sp>
        <p:nvSpPr>
          <p:cNvPr id="38" name="AutoShape 5"/>
          <p:cNvSpPr>
            <a:spLocks noChangeArrowheads="1"/>
          </p:cNvSpPr>
          <p:nvPr/>
        </p:nvSpPr>
        <p:spPr bwMode="auto">
          <a:xfrm>
            <a:off x="556963" y="615438"/>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0" name="Rectangle 6"/>
          <p:cNvSpPr>
            <a:spLocks noChangeArrowheads="1"/>
          </p:cNvSpPr>
          <p:nvPr/>
        </p:nvSpPr>
        <p:spPr bwMode="auto">
          <a:xfrm>
            <a:off x="3424632" y="582227"/>
            <a:ext cx="231345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ICMP </a:t>
            </a:r>
            <a:r>
              <a:rPr lang="zh-CN" altLang="en-US" sz="2000" b="1" dirty="0">
                <a:solidFill>
                  <a:schemeClr val="bg1"/>
                </a:solidFill>
                <a:latin typeface="微软雅黑" pitchFamily="34" charset="-122"/>
                <a:ea typeface="微软雅黑" pitchFamily="34" charset="-122"/>
              </a:rPr>
              <a:t>报文的格式 </a:t>
            </a:r>
          </a:p>
        </p:txBody>
      </p:sp>
      <p:sp>
        <p:nvSpPr>
          <p:cNvPr id="28" name="Text Box 21"/>
          <p:cNvSpPr txBox="1">
            <a:spLocks noChangeArrowheads="1"/>
          </p:cNvSpPr>
          <p:nvPr/>
        </p:nvSpPr>
        <p:spPr bwMode="auto">
          <a:xfrm>
            <a:off x="3370925" y="1676740"/>
            <a:ext cx="350448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itchFamily="34" charset="-122"/>
                <a:ea typeface="微软雅黑" pitchFamily="34" charset="-122"/>
              </a:rPr>
              <a:t>（这 </a:t>
            </a:r>
            <a:r>
              <a:rPr kumimoji="1" lang="en-US" altLang="zh-CN" sz="1400" b="1" dirty="0">
                <a:latin typeface="微软雅黑" pitchFamily="34" charset="-122"/>
                <a:ea typeface="微软雅黑" pitchFamily="34" charset="-122"/>
              </a:rPr>
              <a:t>4 </a:t>
            </a:r>
            <a:r>
              <a:rPr kumimoji="1" lang="zh-CN" altLang="en-US" sz="1400" b="1" dirty="0">
                <a:latin typeface="微软雅黑" pitchFamily="34" charset="-122"/>
                <a:ea typeface="微软雅黑" pitchFamily="34" charset="-122"/>
              </a:rPr>
              <a:t>个字节取决于 </a:t>
            </a:r>
            <a:r>
              <a:rPr kumimoji="1" lang="en-US" altLang="zh-CN" sz="1400" b="1" dirty="0">
                <a:latin typeface="微软雅黑" pitchFamily="34" charset="-122"/>
                <a:ea typeface="微软雅黑" pitchFamily="34" charset="-122"/>
              </a:rPr>
              <a:t>ICMP </a:t>
            </a:r>
            <a:r>
              <a:rPr kumimoji="1" lang="zh-CN" altLang="en-US" sz="1400" b="1" dirty="0">
                <a:latin typeface="微软雅黑" pitchFamily="34" charset="-122"/>
                <a:ea typeface="微软雅黑" pitchFamily="34" charset="-122"/>
              </a:rPr>
              <a:t>报文的类型）</a:t>
            </a:r>
          </a:p>
        </p:txBody>
      </p:sp>
    </p:spTree>
    <p:extLst>
      <p:ext uri="{BB962C8B-B14F-4D97-AF65-F5344CB8AC3E}">
        <p14:creationId xmlns:p14="http://schemas.microsoft.com/office/powerpoint/2010/main" val="112826402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afterEffect">
                                  <p:stCondLst>
                                    <p:cond delay="0"/>
                                  </p:stCondLst>
                                  <p:childTnLst>
                                    <p:anim calcmode="discrete" valueType="str">
                                      <p:cBhvr>
                                        <p:cTn id="6"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AutoShape 5"/>
          <p:cNvSpPr>
            <a:spLocks noChangeArrowheads="1"/>
          </p:cNvSpPr>
          <p:nvPr/>
        </p:nvSpPr>
        <p:spPr bwMode="auto">
          <a:xfrm>
            <a:off x="545144" y="620784"/>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0" name="Rectangle 6"/>
          <p:cNvSpPr>
            <a:spLocks noChangeArrowheads="1"/>
          </p:cNvSpPr>
          <p:nvPr/>
        </p:nvSpPr>
        <p:spPr bwMode="auto">
          <a:xfrm>
            <a:off x="2805283" y="579921"/>
            <a:ext cx="356860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4.4.1  ICMP </a:t>
            </a:r>
            <a:r>
              <a:rPr lang="zh-CN" altLang="en-US" sz="2400" b="1" dirty="0">
                <a:solidFill>
                  <a:schemeClr val="bg1"/>
                </a:solidFill>
                <a:latin typeface="微软雅黑" pitchFamily="34" charset="-122"/>
                <a:ea typeface="微软雅黑" pitchFamily="34" charset="-122"/>
              </a:rPr>
              <a:t>报文的种类</a:t>
            </a:r>
          </a:p>
        </p:txBody>
      </p:sp>
      <p:sp>
        <p:nvSpPr>
          <p:cNvPr id="31" name="Rectangle 8"/>
          <p:cNvSpPr>
            <a:spLocks noChangeArrowheads="1"/>
          </p:cNvSpPr>
          <p:nvPr/>
        </p:nvSpPr>
        <p:spPr bwMode="auto">
          <a:xfrm>
            <a:off x="545144" y="1023329"/>
            <a:ext cx="8053712" cy="47077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2 </a:t>
            </a:r>
            <a:r>
              <a:rPr lang="zh-CN" altLang="en-US" sz="2000" b="1" dirty="0">
                <a:latin typeface="微软雅黑" pitchFamily="34" charset="-122"/>
                <a:ea typeface="微软雅黑" pitchFamily="34" charset="-122"/>
              </a:rPr>
              <a:t>种：</a:t>
            </a:r>
            <a:r>
              <a:rPr lang="zh-CN" altLang="en-US" sz="2000" b="1" dirty="0">
                <a:solidFill>
                  <a:srgbClr val="0000FF"/>
                </a:solidFill>
                <a:latin typeface="微软雅黑" pitchFamily="34" charset="-122"/>
                <a:ea typeface="微软雅黑" pitchFamily="34" charset="-122"/>
              </a:rPr>
              <a:t>差错报告报文</a:t>
            </a:r>
            <a:r>
              <a:rPr lang="zh-CN" altLang="en-US" sz="2000" b="1" dirty="0">
                <a:latin typeface="微软雅黑" pitchFamily="34" charset="-122"/>
                <a:ea typeface="微软雅黑" pitchFamily="34" charset="-122"/>
              </a:rPr>
              <a:t>，</a:t>
            </a:r>
            <a:r>
              <a:rPr lang="zh-CN" altLang="en-US" sz="2000" b="1" dirty="0">
                <a:solidFill>
                  <a:srgbClr val="0000FF"/>
                </a:solidFill>
                <a:latin typeface="微软雅黑" pitchFamily="34" charset="-122"/>
                <a:ea typeface="微软雅黑" pitchFamily="34" charset="-122"/>
              </a:rPr>
              <a:t>询问报文</a:t>
            </a:r>
            <a:r>
              <a:rPr lang="zh-CN" altLang="en-US" sz="2000" b="1" dirty="0">
                <a:latin typeface="微软雅黑" pitchFamily="34" charset="-122"/>
                <a:ea typeface="微软雅黑" pitchFamily="34" charset="-122"/>
              </a:rPr>
              <a:t>。 </a:t>
            </a:r>
          </a:p>
        </p:txBody>
      </p:sp>
      <p:graphicFrame>
        <p:nvGraphicFramePr>
          <p:cNvPr id="2" name="表格 1"/>
          <p:cNvGraphicFramePr>
            <a:graphicFrameLocks noGrp="1"/>
          </p:cNvGraphicFramePr>
          <p:nvPr>
            <p:extLst>
              <p:ext uri="{D42A27DB-BD31-4B8C-83A1-F6EECF244321}">
                <p14:modId xmlns:p14="http://schemas.microsoft.com/office/powerpoint/2010/main" val="3268748991"/>
              </p:ext>
            </p:extLst>
          </p:nvPr>
        </p:nvGraphicFramePr>
        <p:xfrm>
          <a:off x="845216" y="1869177"/>
          <a:ext cx="7274255" cy="2534582"/>
        </p:xfrm>
        <a:graphic>
          <a:graphicData uri="http://schemas.openxmlformats.org/drawingml/2006/table">
            <a:tbl>
              <a:tblPr firstRow="1" firstCol="1">
                <a:tableStyleId>{5C22544A-7EE6-4342-B048-85BDC9FD1C3A}</a:tableStyleId>
              </a:tblPr>
              <a:tblGrid>
                <a:gridCol w="1746912">
                  <a:extLst>
                    <a:ext uri="{9D8B030D-6E8A-4147-A177-3AD203B41FA5}">
                      <a16:colId xmlns:a16="http://schemas.microsoft.com/office/drawing/2014/main" val="2577757187"/>
                    </a:ext>
                  </a:extLst>
                </a:gridCol>
                <a:gridCol w="1433015">
                  <a:extLst>
                    <a:ext uri="{9D8B030D-6E8A-4147-A177-3AD203B41FA5}">
                      <a16:colId xmlns:a16="http://schemas.microsoft.com/office/drawing/2014/main" val="2504039375"/>
                    </a:ext>
                  </a:extLst>
                </a:gridCol>
                <a:gridCol w="4094328">
                  <a:extLst>
                    <a:ext uri="{9D8B030D-6E8A-4147-A177-3AD203B41FA5}">
                      <a16:colId xmlns:a16="http://schemas.microsoft.com/office/drawing/2014/main" val="4253697781"/>
                    </a:ext>
                  </a:extLst>
                </a:gridCol>
              </a:tblGrid>
              <a:tr h="464024">
                <a:tc>
                  <a:txBody>
                    <a:bodyPr/>
                    <a:lstStyle/>
                    <a:p>
                      <a:pPr algn="ctr">
                        <a:lnSpc>
                          <a:spcPts val="1600"/>
                        </a:lnSpc>
                        <a:spcAft>
                          <a:spcPts val="0"/>
                        </a:spcAft>
                      </a:pPr>
                      <a:r>
                        <a:rPr lang="en-US" sz="1600" b="1" kern="500" dirty="0">
                          <a:effectLst/>
                          <a:latin typeface="微软雅黑" panose="020B0503020204020204" pitchFamily="34" charset="-122"/>
                          <a:ea typeface="微软雅黑" panose="020B0503020204020204" pitchFamily="34" charset="-122"/>
                        </a:rPr>
                        <a:t>ICMP </a:t>
                      </a:r>
                      <a:r>
                        <a:rPr lang="zh-CN" sz="1600" b="1" kern="500" dirty="0">
                          <a:effectLst/>
                          <a:latin typeface="微软雅黑" panose="020B0503020204020204" pitchFamily="34" charset="-122"/>
                          <a:ea typeface="微软雅黑" panose="020B0503020204020204" pitchFamily="34" charset="-122"/>
                        </a:rPr>
                        <a:t>报文种类</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1600"/>
                        </a:lnSpc>
                        <a:spcAft>
                          <a:spcPts val="0"/>
                        </a:spcAft>
                      </a:pPr>
                      <a:r>
                        <a:rPr lang="zh-CN" sz="1600" b="1" kern="500" dirty="0">
                          <a:effectLst/>
                          <a:latin typeface="微软雅黑" panose="020B0503020204020204" pitchFamily="34" charset="-122"/>
                          <a:ea typeface="微软雅黑" panose="020B0503020204020204" pitchFamily="34" charset="-122"/>
                        </a:rPr>
                        <a:t>类型的值</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1600"/>
                        </a:lnSpc>
                        <a:spcAft>
                          <a:spcPts val="0"/>
                        </a:spcAft>
                      </a:pPr>
                      <a:r>
                        <a:rPr lang="en-US" sz="1600" b="1" kern="500" dirty="0">
                          <a:effectLst/>
                          <a:latin typeface="微软雅黑" panose="020B0503020204020204" pitchFamily="34" charset="-122"/>
                          <a:ea typeface="微软雅黑" panose="020B0503020204020204" pitchFamily="34" charset="-122"/>
                        </a:rPr>
                        <a:t>ICMP</a:t>
                      </a:r>
                      <a:r>
                        <a:rPr lang="zh-CN" sz="1600" b="1" kern="500" dirty="0">
                          <a:effectLst/>
                          <a:latin typeface="微软雅黑" panose="020B0503020204020204" pitchFamily="34" charset="-122"/>
                          <a:ea typeface="微软雅黑" panose="020B0503020204020204" pitchFamily="34" charset="-122"/>
                        </a:rPr>
                        <a:t>报文的类型</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901984704"/>
                  </a:ext>
                </a:extLst>
              </a:tr>
              <a:tr h="345093">
                <a:tc rowSpan="4">
                  <a:txBody>
                    <a:bodyPr/>
                    <a:lstStyle/>
                    <a:p>
                      <a:pPr algn="ctr">
                        <a:lnSpc>
                          <a:spcPts val="1600"/>
                        </a:lnSpc>
                        <a:spcAft>
                          <a:spcPts val="0"/>
                        </a:spcAft>
                      </a:pPr>
                      <a:r>
                        <a:rPr lang="zh-CN" sz="1600" b="1" kern="500" dirty="0">
                          <a:effectLst/>
                          <a:latin typeface="微软雅黑" panose="020B0503020204020204" pitchFamily="34" charset="-122"/>
                          <a:ea typeface="微软雅黑" panose="020B0503020204020204" pitchFamily="34" charset="-122"/>
                        </a:rPr>
                        <a:t>差错报告报文</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1600"/>
                        </a:lnSpc>
                        <a:spcAft>
                          <a:spcPts val="0"/>
                        </a:spcAft>
                      </a:pPr>
                      <a:r>
                        <a:rPr lang="en-US" sz="1600" b="1" kern="500" dirty="0">
                          <a:effectLst/>
                          <a:latin typeface="微软雅黑" panose="020B0503020204020204" pitchFamily="34" charset="-122"/>
                          <a:ea typeface="微软雅黑" panose="020B0503020204020204" pitchFamily="34" charset="-122"/>
                        </a:rPr>
                        <a:t> 3</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1600"/>
                        </a:lnSpc>
                        <a:spcAft>
                          <a:spcPts val="0"/>
                        </a:spcAft>
                      </a:pPr>
                      <a:r>
                        <a:rPr lang="zh-CN" sz="1600" b="1" kern="500" dirty="0">
                          <a:effectLst/>
                          <a:latin typeface="微软雅黑" panose="020B0503020204020204" pitchFamily="34" charset="-122"/>
                          <a:ea typeface="微软雅黑" panose="020B0503020204020204" pitchFamily="34" charset="-122"/>
                        </a:rPr>
                        <a:t>终点不可达</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3722480891"/>
                  </a:ext>
                </a:extLst>
              </a:tr>
              <a:tr h="345093">
                <a:tc vMerge="1">
                  <a:txBody>
                    <a:bodyPr/>
                    <a:lstStyle/>
                    <a:p>
                      <a:endParaRPr lang="zh-CN" altLang="en-US"/>
                    </a:p>
                  </a:txBody>
                  <a:tcPr/>
                </a:tc>
                <a:tc>
                  <a:txBody>
                    <a:bodyPr/>
                    <a:lstStyle/>
                    <a:p>
                      <a:pPr algn="ctr">
                        <a:lnSpc>
                          <a:spcPts val="1600"/>
                        </a:lnSpc>
                        <a:spcAft>
                          <a:spcPts val="0"/>
                        </a:spcAft>
                      </a:pPr>
                      <a:r>
                        <a:rPr lang="en-US" sz="1600" b="1" kern="500" dirty="0">
                          <a:effectLst/>
                          <a:latin typeface="微软雅黑" panose="020B0503020204020204" pitchFamily="34" charset="-122"/>
                          <a:ea typeface="微软雅黑" panose="020B0503020204020204" pitchFamily="34" charset="-122"/>
                        </a:rPr>
                        <a:t>11</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1600"/>
                        </a:lnSpc>
                        <a:spcAft>
                          <a:spcPts val="0"/>
                        </a:spcAft>
                      </a:pPr>
                      <a:r>
                        <a:rPr lang="zh-CN" sz="1600" b="1" kern="500" dirty="0">
                          <a:effectLst/>
                          <a:latin typeface="微软雅黑" panose="020B0503020204020204" pitchFamily="34" charset="-122"/>
                          <a:ea typeface="微软雅黑" panose="020B0503020204020204" pitchFamily="34" charset="-122"/>
                        </a:rPr>
                        <a:t>时间超过</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2425218434"/>
                  </a:ext>
                </a:extLst>
              </a:tr>
              <a:tr h="345093">
                <a:tc vMerge="1">
                  <a:txBody>
                    <a:bodyPr/>
                    <a:lstStyle/>
                    <a:p>
                      <a:endParaRPr lang="zh-CN" altLang="en-US"/>
                    </a:p>
                  </a:txBody>
                  <a:tcPr/>
                </a:tc>
                <a:tc>
                  <a:txBody>
                    <a:bodyPr/>
                    <a:lstStyle/>
                    <a:p>
                      <a:pPr algn="ctr">
                        <a:lnSpc>
                          <a:spcPts val="1600"/>
                        </a:lnSpc>
                        <a:spcAft>
                          <a:spcPts val="0"/>
                        </a:spcAft>
                      </a:pPr>
                      <a:r>
                        <a:rPr lang="en-US" sz="1600" b="1" kern="500">
                          <a:effectLst/>
                          <a:latin typeface="微软雅黑" panose="020B0503020204020204" pitchFamily="34" charset="-122"/>
                          <a:ea typeface="微软雅黑" panose="020B0503020204020204" pitchFamily="34" charset="-122"/>
                        </a:rPr>
                        <a:t>12</a:t>
                      </a:r>
                      <a:endParaRPr lang="zh-CN" sz="16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1600"/>
                        </a:lnSpc>
                        <a:spcAft>
                          <a:spcPts val="0"/>
                        </a:spcAft>
                      </a:pPr>
                      <a:r>
                        <a:rPr lang="zh-CN" sz="1600" b="1" kern="500" dirty="0">
                          <a:effectLst/>
                          <a:latin typeface="微软雅黑" panose="020B0503020204020204" pitchFamily="34" charset="-122"/>
                          <a:ea typeface="微软雅黑" panose="020B0503020204020204" pitchFamily="34" charset="-122"/>
                        </a:rPr>
                        <a:t>参数问题</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1743133543"/>
                  </a:ext>
                </a:extLst>
              </a:tr>
              <a:tr h="345093">
                <a:tc vMerge="1">
                  <a:txBody>
                    <a:bodyPr/>
                    <a:lstStyle/>
                    <a:p>
                      <a:endParaRPr lang="zh-CN" altLang="en-US"/>
                    </a:p>
                  </a:txBody>
                  <a:tcPr/>
                </a:tc>
                <a:tc>
                  <a:txBody>
                    <a:bodyPr/>
                    <a:lstStyle/>
                    <a:p>
                      <a:pPr algn="ctr">
                        <a:lnSpc>
                          <a:spcPts val="1600"/>
                        </a:lnSpc>
                        <a:spcAft>
                          <a:spcPts val="0"/>
                        </a:spcAft>
                      </a:pPr>
                      <a:r>
                        <a:rPr lang="en-US" sz="1600" b="1" kern="500">
                          <a:effectLst/>
                          <a:latin typeface="微软雅黑" panose="020B0503020204020204" pitchFamily="34" charset="-122"/>
                          <a:ea typeface="微软雅黑" panose="020B0503020204020204" pitchFamily="34" charset="-122"/>
                        </a:rPr>
                        <a:t>5</a:t>
                      </a:r>
                      <a:endParaRPr lang="zh-CN" sz="16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1600"/>
                        </a:lnSpc>
                        <a:spcAft>
                          <a:spcPts val="0"/>
                        </a:spcAft>
                      </a:pPr>
                      <a:r>
                        <a:rPr lang="zh-CN" sz="1600" b="1" kern="500" dirty="0">
                          <a:effectLst/>
                          <a:latin typeface="微软雅黑" panose="020B0503020204020204" pitchFamily="34" charset="-122"/>
                          <a:ea typeface="微软雅黑" panose="020B0503020204020204" pitchFamily="34" charset="-122"/>
                        </a:rPr>
                        <a:t>改变路由</a:t>
                      </a:r>
                      <a:r>
                        <a:rPr lang="en-US" altLang="zh-CN" sz="1600" b="1" kern="500" dirty="0">
                          <a:effectLst/>
                          <a:latin typeface="微软雅黑" panose="020B0503020204020204" pitchFamily="34" charset="-122"/>
                          <a:ea typeface="微软雅黑" panose="020B0503020204020204" pitchFamily="34" charset="-122"/>
                        </a:rPr>
                        <a:t> </a:t>
                      </a:r>
                      <a:r>
                        <a:rPr lang="en-US" sz="1600" b="1" kern="500" dirty="0">
                          <a:effectLst/>
                          <a:latin typeface="微软雅黑" panose="020B0503020204020204" pitchFamily="34" charset="-122"/>
                          <a:ea typeface="微软雅黑" panose="020B0503020204020204" pitchFamily="34" charset="-122"/>
                        </a:rPr>
                        <a:t>(Redirect)</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1321176566"/>
                  </a:ext>
                </a:extLst>
              </a:tr>
              <a:tr h="345093">
                <a:tc rowSpan="2">
                  <a:txBody>
                    <a:bodyPr/>
                    <a:lstStyle/>
                    <a:p>
                      <a:pPr algn="ctr">
                        <a:lnSpc>
                          <a:spcPts val="1600"/>
                        </a:lnSpc>
                        <a:spcAft>
                          <a:spcPts val="0"/>
                        </a:spcAft>
                      </a:pPr>
                      <a:r>
                        <a:rPr lang="zh-CN" sz="1600" b="1" kern="500" dirty="0">
                          <a:effectLst/>
                          <a:latin typeface="微软雅黑" panose="020B0503020204020204" pitchFamily="34" charset="-122"/>
                          <a:ea typeface="微软雅黑" panose="020B0503020204020204" pitchFamily="34" charset="-122"/>
                        </a:rPr>
                        <a:t>询问报文</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1600"/>
                        </a:lnSpc>
                        <a:spcAft>
                          <a:spcPts val="0"/>
                        </a:spcAft>
                      </a:pPr>
                      <a:r>
                        <a:rPr lang="en-US" sz="1600" b="1" kern="500" dirty="0">
                          <a:effectLst/>
                          <a:latin typeface="微软雅黑" panose="020B0503020204020204" pitchFamily="34" charset="-122"/>
                          <a:ea typeface="微软雅黑" panose="020B0503020204020204" pitchFamily="34" charset="-122"/>
                        </a:rPr>
                        <a:t>8 </a:t>
                      </a:r>
                      <a:r>
                        <a:rPr lang="zh-CN" sz="1600" b="1" kern="500" dirty="0">
                          <a:effectLst/>
                          <a:latin typeface="微软雅黑" panose="020B0503020204020204" pitchFamily="34" charset="-122"/>
                          <a:ea typeface="微软雅黑" panose="020B0503020204020204" pitchFamily="34" charset="-122"/>
                        </a:rPr>
                        <a:t>或</a:t>
                      </a:r>
                      <a:r>
                        <a:rPr lang="en-US" altLang="zh-CN" sz="1600" b="1" kern="500" dirty="0">
                          <a:effectLst/>
                          <a:latin typeface="微软雅黑" panose="020B0503020204020204" pitchFamily="34" charset="-122"/>
                          <a:ea typeface="微软雅黑" panose="020B0503020204020204" pitchFamily="34" charset="-122"/>
                        </a:rPr>
                        <a:t> </a:t>
                      </a:r>
                      <a:r>
                        <a:rPr lang="en-US" sz="1600" b="1" kern="500" dirty="0">
                          <a:effectLst/>
                          <a:latin typeface="微软雅黑" panose="020B0503020204020204" pitchFamily="34" charset="-122"/>
                          <a:ea typeface="微软雅黑" panose="020B0503020204020204" pitchFamily="34" charset="-122"/>
                        </a:rPr>
                        <a:t>0</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1600"/>
                        </a:lnSpc>
                        <a:spcAft>
                          <a:spcPts val="0"/>
                        </a:spcAft>
                      </a:pPr>
                      <a:r>
                        <a:rPr lang="zh-CN" sz="1600" b="1" kern="500" dirty="0">
                          <a:effectLst/>
                          <a:latin typeface="微软雅黑" panose="020B0503020204020204" pitchFamily="34" charset="-122"/>
                          <a:ea typeface="微软雅黑" panose="020B0503020204020204" pitchFamily="34" charset="-122"/>
                        </a:rPr>
                        <a:t>回送</a:t>
                      </a:r>
                      <a:r>
                        <a:rPr lang="en-US" altLang="zh-CN" sz="1600" b="1" kern="500" dirty="0">
                          <a:effectLst/>
                          <a:latin typeface="微软雅黑" panose="020B0503020204020204" pitchFamily="34" charset="-122"/>
                          <a:ea typeface="微软雅黑" panose="020B0503020204020204" pitchFamily="34" charset="-122"/>
                        </a:rPr>
                        <a:t> </a:t>
                      </a:r>
                      <a:r>
                        <a:rPr lang="en-US" sz="1600" b="1" kern="500" dirty="0">
                          <a:effectLst/>
                          <a:latin typeface="微软雅黑" panose="020B0503020204020204" pitchFamily="34" charset="-122"/>
                          <a:ea typeface="微软雅黑" panose="020B0503020204020204" pitchFamily="34" charset="-122"/>
                        </a:rPr>
                        <a:t>(Echo) </a:t>
                      </a:r>
                      <a:r>
                        <a:rPr lang="zh-CN" sz="1600" b="1" kern="500" dirty="0">
                          <a:effectLst/>
                          <a:latin typeface="微软雅黑" panose="020B0503020204020204" pitchFamily="34" charset="-122"/>
                          <a:ea typeface="微软雅黑" panose="020B0503020204020204" pitchFamily="34" charset="-122"/>
                        </a:rPr>
                        <a:t>请求或回答</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2266132482"/>
                  </a:ext>
                </a:extLst>
              </a:tr>
              <a:tr h="345093">
                <a:tc vMerge="1">
                  <a:txBody>
                    <a:bodyPr/>
                    <a:lstStyle/>
                    <a:p>
                      <a:endParaRPr lang="zh-CN" altLang="en-US"/>
                    </a:p>
                  </a:txBody>
                  <a:tcPr/>
                </a:tc>
                <a:tc>
                  <a:txBody>
                    <a:bodyPr/>
                    <a:lstStyle/>
                    <a:p>
                      <a:pPr algn="ctr">
                        <a:lnSpc>
                          <a:spcPts val="1600"/>
                        </a:lnSpc>
                        <a:spcAft>
                          <a:spcPts val="0"/>
                        </a:spcAft>
                      </a:pPr>
                      <a:r>
                        <a:rPr lang="en-US" sz="1600" b="1" kern="500" dirty="0">
                          <a:effectLst/>
                          <a:latin typeface="微软雅黑" panose="020B0503020204020204" pitchFamily="34" charset="-122"/>
                          <a:ea typeface="微软雅黑" panose="020B0503020204020204" pitchFamily="34" charset="-122"/>
                        </a:rPr>
                        <a:t>13 </a:t>
                      </a:r>
                      <a:r>
                        <a:rPr lang="zh-CN" sz="1600" b="1" kern="500" dirty="0">
                          <a:effectLst/>
                          <a:latin typeface="微软雅黑" panose="020B0503020204020204" pitchFamily="34" charset="-122"/>
                          <a:ea typeface="微软雅黑" panose="020B0503020204020204" pitchFamily="34" charset="-122"/>
                        </a:rPr>
                        <a:t>或</a:t>
                      </a:r>
                      <a:r>
                        <a:rPr lang="en-US" altLang="zh-CN" sz="1600" b="1" kern="500" dirty="0">
                          <a:effectLst/>
                          <a:latin typeface="微软雅黑" panose="020B0503020204020204" pitchFamily="34" charset="-122"/>
                          <a:ea typeface="微软雅黑" panose="020B0503020204020204" pitchFamily="34" charset="-122"/>
                        </a:rPr>
                        <a:t> </a:t>
                      </a:r>
                      <a:r>
                        <a:rPr lang="en-US" sz="1600" b="1" kern="500" dirty="0">
                          <a:effectLst/>
                          <a:latin typeface="微软雅黑" panose="020B0503020204020204" pitchFamily="34" charset="-122"/>
                          <a:ea typeface="微软雅黑" panose="020B0503020204020204" pitchFamily="34" charset="-122"/>
                        </a:rPr>
                        <a:t>14</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1600"/>
                        </a:lnSpc>
                        <a:spcAft>
                          <a:spcPts val="0"/>
                        </a:spcAft>
                      </a:pPr>
                      <a:r>
                        <a:rPr lang="zh-CN" sz="1600" b="1" kern="500" dirty="0">
                          <a:effectLst/>
                          <a:latin typeface="微软雅黑" panose="020B0503020204020204" pitchFamily="34" charset="-122"/>
                          <a:ea typeface="微软雅黑" panose="020B0503020204020204" pitchFamily="34" charset="-122"/>
                        </a:rPr>
                        <a:t>时间戳</a:t>
                      </a:r>
                      <a:r>
                        <a:rPr lang="en-US" altLang="zh-CN" sz="1600" b="1" kern="500" dirty="0">
                          <a:effectLst/>
                          <a:latin typeface="微软雅黑" panose="020B0503020204020204" pitchFamily="34" charset="-122"/>
                          <a:ea typeface="微软雅黑" panose="020B0503020204020204" pitchFamily="34" charset="-122"/>
                        </a:rPr>
                        <a:t> </a:t>
                      </a:r>
                      <a:r>
                        <a:rPr lang="en-US" sz="1600" b="1" kern="500" dirty="0">
                          <a:effectLst/>
                          <a:latin typeface="微软雅黑" panose="020B0503020204020204" pitchFamily="34" charset="-122"/>
                          <a:ea typeface="微软雅黑" panose="020B0503020204020204" pitchFamily="34" charset="-122"/>
                        </a:rPr>
                        <a:t>(Timestamp) </a:t>
                      </a:r>
                      <a:r>
                        <a:rPr lang="zh-CN" sz="1600" b="1" kern="500" dirty="0">
                          <a:effectLst/>
                          <a:latin typeface="微软雅黑" panose="020B0503020204020204" pitchFamily="34" charset="-122"/>
                          <a:ea typeface="微软雅黑" panose="020B0503020204020204" pitchFamily="34" charset="-122"/>
                        </a:rPr>
                        <a:t>请求或回答</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3810166473"/>
                  </a:ext>
                </a:extLst>
              </a:tr>
            </a:tbl>
          </a:graphicData>
        </a:graphic>
      </p:graphicFrame>
      <p:sp>
        <p:nvSpPr>
          <p:cNvPr id="3" name="矩形 2"/>
          <p:cNvSpPr/>
          <p:nvPr/>
        </p:nvSpPr>
        <p:spPr>
          <a:xfrm>
            <a:off x="3129249" y="1597706"/>
            <a:ext cx="2390398" cy="307777"/>
          </a:xfrm>
          <a:prstGeom prst="rect">
            <a:avLst/>
          </a:prstGeom>
        </p:spPr>
        <p:txBody>
          <a:bodyPr wrap="none">
            <a:spAutoFit/>
          </a:bodyPr>
          <a:lstStyle/>
          <a:p>
            <a:r>
              <a:rPr lang="zh-CN" altLang="en-US" sz="1400" b="1" dirty="0">
                <a:latin typeface="微软雅黑" panose="020B0503020204020204" pitchFamily="34" charset="-122"/>
                <a:ea typeface="微软雅黑" panose="020B0503020204020204" pitchFamily="34" charset="-122"/>
              </a:rPr>
              <a:t>几种常用的 </a:t>
            </a:r>
            <a:r>
              <a:rPr lang="en-US" altLang="zh-CN" sz="1400" b="1" dirty="0">
                <a:latin typeface="微软雅黑" panose="020B0503020204020204" pitchFamily="34" charset="-122"/>
                <a:ea typeface="微软雅黑" panose="020B0503020204020204" pitchFamily="34" charset="-122"/>
              </a:rPr>
              <a:t>ICMP </a:t>
            </a:r>
            <a:r>
              <a:rPr lang="zh-CN" altLang="en-US" sz="1400" b="1" dirty="0">
                <a:latin typeface="微软雅黑" panose="020B0503020204020204" pitchFamily="34" charset="-122"/>
                <a:ea typeface="微软雅黑" panose="020B0503020204020204" pitchFamily="34" charset="-122"/>
              </a:rPr>
              <a:t>报文类型</a:t>
            </a:r>
          </a:p>
        </p:txBody>
      </p:sp>
    </p:spTree>
    <p:extLst>
      <p:ext uri="{BB962C8B-B14F-4D97-AF65-F5344CB8AC3E}">
        <p14:creationId xmlns:p14="http://schemas.microsoft.com/office/powerpoint/2010/main" val="205141267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AutoShape 5"/>
          <p:cNvSpPr>
            <a:spLocks noChangeArrowheads="1"/>
          </p:cNvSpPr>
          <p:nvPr/>
        </p:nvSpPr>
        <p:spPr bwMode="auto">
          <a:xfrm>
            <a:off x="556963" y="62044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4" name="Rectangle 6"/>
          <p:cNvSpPr>
            <a:spLocks noChangeArrowheads="1"/>
          </p:cNvSpPr>
          <p:nvPr/>
        </p:nvSpPr>
        <p:spPr bwMode="auto">
          <a:xfrm>
            <a:off x="2270461" y="587230"/>
            <a:ext cx="462177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ICMP </a:t>
            </a:r>
            <a:r>
              <a:rPr lang="zh-CN" altLang="en-US" sz="2000" b="1" dirty="0">
                <a:solidFill>
                  <a:schemeClr val="bg1"/>
                </a:solidFill>
                <a:latin typeface="微软雅黑" pitchFamily="34" charset="-122"/>
                <a:ea typeface="微软雅黑" pitchFamily="34" charset="-122"/>
              </a:rPr>
              <a:t>差错报告报文的数据字段的内容</a:t>
            </a:r>
          </a:p>
        </p:txBody>
      </p:sp>
      <p:sp>
        <p:nvSpPr>
          <p:cNvPr id="35" name="圆角矩形 34"/>
          <p:cNvSpPr/>
          <p:nvPr/>
        </p:nvSpPr>
        <p:spPr>
          <a:xfrm>
            <a:off x="556963" y="1058029"/>
            <a:ext cx="8048776" cy="3248111"/>
          </a:xfrm>
          <a:prstGeom prst="roundRect">
            <a:avLst/>
          </a:prstGeom>
          <a:solidFill>
            <a:srgbClr val="C1E1F7"/>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 name="组合 3"/>
          <p:cNvGrpSpPr/>
          <p:nvPr/>
        </p:nvGrpSpPr>
        <p:grpSpPr>
          <a:xfrm>
            <a:off x="1094465" y="1176792"/>
            <a:ext cx="6987704" cy="2958454"/>
            <a:chOff x="650435" y="1556792"/>
            <a:chExt cx="8695053" cy="3681310"/>
          </a:xfrm>
        </p:grpSpPr>
        <p:sp>
          <p:nvSpPr>
            <p:cNvPr id="36" name="Rectangle 2"/>
            <p:cNvSpPr>
              <a:spLocks noChangeArrowheads="1"/>
            </p:cNvSpPr>
            <p:nvPr/>
          </p:nvSpPr>
          <p:spPr bwMode="auto">
            <a:xfrm>
              <a:off x="662260" y="4195216"/>
              <a:ext cx="4531651" cy="596900"/>
            </a:xfrm>
            <a:prstGeom prst="rect">
              <a:avLst/>
            </a:prstGeom>
            <a:solidFill>
              <a:srgbClr val="0000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7" name="Rectangle 5"/>
            <p:cNvSpPr>
              <a:spLocks noChangeArrowheads="1"/>
            </p:cNvSpPr>
            <p:nvPr/>
          </p:nvSpPr>
          <p:spPr bwMode="auto">
            <a:xfrm>
              <a:off x="1412089" y="4195216"/>
              <a:ext cx="3781821" cy="596900"/>
            </a:xfrm>
            <a:prstGeom prst="rect">
              <a:avLst/>
            </a:prstGeom>
            <a:solidFill>
              <a:srgbClr val="00FF99"/>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8" name="Line 6"/>
            <p:cNvSpPr>
              <a:spLocks noChangeShapeType="1"/>
            </p:cNvSpPr>
            <p:nvPr/>
          </p:nvSpPr>
          <p:spPr bwMode="auto">
            <a:xfrm>
              <a:off x="662260" y="5001667"/>
              <a:ext cx="4531651" cy="20637"/>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9" name="Text Box 7"/>
            <p:cNvSpPr txBox="1">
              <a:spLocks noChangeArrowheads="1"/>
            </p:cNvSpPr>
            <p:nvPr/>
          </p:nvSpPr>
          <p:spPr bwMode="auto">
            <a:xfrm>
              <a:off x="702315" y="4323803"/>
              <a:ext cx="676594" cy="3293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zh-CN" altLang="en-US" sz="1400" b="1" dirty="0">
                  <a:solidFill>
                    <a:schemeClr val="bg1"/>
                  </a:solidFill>
                  <a:latin typeface="微软雅黑" pitchFamily="34" charset="-122"/>
                  <a:ea typeface="微软雅黑" pitchFamily="34" charset="-122"/>
                </a:rPr>
                <a:t>首部</a:t>
              </a:r>
            </a:p>
          </p:txBody>
        </p:sp>
        <p:sp>
          <p:nvSpPr>
            <p:cNvPr id="40" name="Line 8"/>
            <p:cNvSpPr>
              <a:spLocks noChangeShapeType="1"/>
            </p:cNvSpPr>
            <p:nvPr/>
          </p:nvSpPr>
          <p:spPr bwMode="auto">
            <a:xfrm>
              <a:off x="1412089" y="4195216"/>
              <a:ext cx="0" cy="5969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2" name="Text Box 10"/>
            <p:cNvSpPr txBox="1">
              <a:spLocks noChangeArrowheads="1"/>
            </p:cNvSpPr>
            <p:nvPr/>
          </p:nvSpPr>
          <p:spPr bwMode="auto">
            <a:xfrm>
              <a:off x="2362324" y="4816827"/>
              <a:ext cx="1324863" cy="421275"/>
            </a:xfrm>
            <a:prstGeom prst="rect">
              <a:avLst/>
            </a:prstGeom>
            <a:solidFill>
              <a:srgbClr val="C1E1F7"/>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solidFill>
                    <a:srgbClr val="0000CC"/>
                  </a:solidFill>
                  <a:latin typeface="微软雅黑" pitchFamily="34" charset="-122"/>
                  <a:ea typeface="微软雅黑" pitchFamily="34" charset="-122"/>
                </a:rPr>
                <a:t>IP </a:t>
              </a:r>
              <a:r>
                <a:rPr kumimoji="1" lang="zh-CN" altLang="en-US" sz="1600" b="1" dirty="0">
                  <a:solidFill>
                    <a:srgbClr val="0000CC"/>
                  </a:solidFill>
                  <a:latin typeface="微软雅黑" pitchFamily="34" charset="-122"/>
                  <a:ea typeface="微软雅黑" pitchFamily="34" charset="-122"/>
                </a:rPr>
                <a:t>数据报</a:t>
              </a:r>
            </a:p>
          </p:txBody>
        </p:sp>
        <p:sp>
          <p:nvSpPr>
            <p:cNvPr id="43" name="Rectangle 11"/>
            <p:cNvSpPr>
              <a:spLocks noChangeArrowheads="1"/>
            </p:cNvSpPr>
            <p:nvPr/>
          </p:nvSpPr>
          <p:spPr bwMode="auto">
            <a:xfrm>
              <a:off x="1412089" y="3174454"/>
              <a:ext cx="3781821" cy="607000"/>
            </a:xfrm>
            <a:prstGeom prst="rect">
              <a:avLst/>
            </a:prstGeom>
            <a:solidFill>
              <a:srgbClr val="DDDDDD"/>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4" name="Rectangle 12"/>
            <p:cNvSpPr>
              <a:spLocks noChangeArrowheads="1"/>
            </p:cNvSpPr>
            <p:nvPr/>
          </p:nvSpPr>
          <p:spPr bwMode="auto">
            <a:xfrm>
              <a:off x="1412089" y="3174454"/>
              <a:ext cx="3781821" cy="595313"/>
            </a:xfrm>
            <a:prstGeom prst="rect">
              <a:avLst/>
            </a:prstGeom>
            <a:solidFill>
              <a:srgbClr val="00FF99"/>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5" name="Text Box 13"/>
            <p:cNvSpPr txBox="1">
              <a:spLocks noChangeArrowheads="1"/>
            </p:cNvSpPr>
            <p:nvPr/>
          </p:nvSpPr>
          <p:spPr bwMode="auto">
            <a:xfrm>
              <a:off x="1531703" y="3145153"/>
              <a:ext cx="1169279" cy="6510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400" b="1" dirty="0">
                  <a:latin typeface="微软雅黑" pitchFamily="34" charset="-122"/>
                  <a:ea typeface="微软雅黑" pitchFamily="34" charset="-122"/>
                </a:rPr>
                <a:t>ICMP </a:t>
              </a:r>
              <a:r>
                <a:rPr kumimoji="1" lang="zh-CN" altLang="en-US" sz="1400" b="1" dirty="0">
                  <a:latin typeface="微软雅黑" pitchFamily="34" charset="-122"/>
                  <a:ea typeface="微软雅黑" pitchFamily="34" charset="-122"/>
                </a:rPr>
                <a:t>的</a:t>
              </a:r>
            </a:p>
            <a:p>
              <a:pPr algn="ctr"/>
              <a:r>
                <a:rPr kumimoji="1" lang="zh-CN" altLang="en-US" sz="1400" b="1" dirty="0">
                  <a:latin typeface="微软雅黑" pitchFamily="34" charset="-122"/>
                  <a:ea typeface="微软雅黑" pitchFamily="34" charset="-122"/>
                </a:rPr>
                <a:t>前 </a:t>
              </a:r>
              <a:r>
                <a:rPr kumimoji="1" lang="en-US" altLang="zh-CN" sz="1400" b="1" dirty="0">
                  <a:latin typeface="微软雅黑" pitchFamily="34" charset="-122"/>
                  <a:ea typeface="微软雅黑" pitchFamily="34" charset="-122"/>
                </a:rPr>
                <a:t>8 </a:t>
              </a:r>
              <a:r>
                <a:rPr kumimoji="1" lang="zh-CN" altLang="en-US" sz="1400" b="1" dirty="0">
                  <a:latin typeface="微软雅黑" pitchFamily="34" charset="-122"/>
                  <a:ea typeface="微软雅黑" pitchFamily="34" charset="-122"/>
                </a:rPr>
                <a:t>字节</a:t>
              </a:r>
            </a:p>
          </p:txBody>
        </p:sp>
        <p:sp>
          <p:nvSpPr>
            <p:cNvPr id="46" name="Line 14"/>
            <p:cNvSpPr>
              <a:spLocks noChangeShapeType="1"/>
            </p:cNvSpPr>
            <p:nvPr/>
          </p:nvSpPr>
          <p:spPr bwMode="auto">
            <a:xfrm>
              <a:off x="2794801" y="3174454"/>
              <a:ext cx="0" cy="5953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7" name="Text Box 15"/>
            <p:cNvSpPr txBox="1">
              <a:spLocks noChangeArrowheads="1"/>
            </p:cNvSpPr>
            <p:nvPr/>
          </p:nvSpPr>
          <p:spPr bwMode="auto">
            <a:xfrm>
              <a:off x="5297521" y="4293642"/>
              <a:ext cx="3517010" cy="42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600" b="1" dirty="0">
                  <a:solidFill>
                    <a:srgbClr val="CC00CC"/>
                  </a:solidFill>
                  <a:latin typeface="微软雅黑" pitchFamily="34" charset="-122"/>
                  <a:ea typeface="微软雅黑" pitchFamily="34" charset="-122"/>
                </a:rPr>
                <a:t>装入 </a:t>
              </a:r>
              <a:r>
                <a:rPr kumimoji="1" lang="en-US" altLang="zh-CN" sz="1600" b="1" dirty="0">
                  <a:solidFill>
                    <a:srgbClr val="CC00CC"/>
                  </a:solidFill>
                  <a:latin typeface="微软雅黑" pitchFamily="34" charset="-122"/>
                  <a:ea typeface="微软雅黑" pitchFamily="34" charset="-122"/>
                </a:rPr>
                <a:t>ICMP </a:t>
              </a:r>
              <a:r>
                <a:rPr kumimoji="1" lang="zh-CN" altLang="en-US" sz="1600" b="1" dirty="0">
                  <a:solidFill>
                    <a:srgbClr val="CC00CC"/>
                  </a:solidFill>
                  <a:latin typeface="微软雅黑" pitchFamily="34" charset="-122"/>
                  <a:ea typeface="微软雅黑" pitchFamily="34" charset="-122"/>
                </a:rPr>
                <a:t>报文的 </a:t>
              </a:r>
              <a:r>
                <a:rPr kumimoji="1" lang="en-US" altLang="zh-CN" sz="1600" b="1" dirty="0">
                  <a:solidFill>
                    <a:srgbClr val="CC00CC"/>
                  </a:solidFill>
                  <a:latin typeface="微软雅黑" pitchFamily="34" charset="-122"/>
                  <a:ea typeface="微软雅黑" pitchFamily="34" charset="-122"/>
                </a:rPr>
                <a:t>IP </a:t>
              </a:r>
              <a:r>
                <a:rPr kumimoji="1" lang="zh-CN" altLang="en-US" sz="1600" b="1" dirty="0">
                  <a:solidFill>
                    <a:srgbClr val="CC00CC"/>
                  </a:solidFill>
                  <a:latin typeface="微软雅黑" pitchFamily="34" charset="-122"/>
                  <a:ea typeface="微软雅黑" pitchFamily="34" charset="-122"/>
                </a:rPr>
                <a:t>数据报</a:t>
              </a:r>
            </a:p>
          </p:txBody>
        </p:sp>
        <p:sp>
          <p:nvSpPr>
            <p:cNvPr id="48" name="Rectangle 16"/>
            <p:cNvSpPr>
              <a:spLocks noChangeArrowheads="1"/>
            </p:cNvSpPr>
            <p:nvPr/>
          </p:nvSpPr>
          <p:spPr bwMode="auto">
            <a:xfrm>
              <a:off x="2794802" y="2152103"/>
              <a:ext cx="6550686" cy="596900"/>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9" name="Text Box 17"/>
            <p:cNvSpPr txBox="1">
              <a:spLocks noChangeArrowheads="1"/>
            </p:cNvSpPr>
            <p:nvPr/>
          </p:nvSpPr>
          <p:spPr bwMode="auto">
            <a:xfrm>
              <a:off x="2838563" y="2296087"/>
              <a:ext cx="1648910" cy="3293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lnSpc>
                  <a:spcPct val="80000"/>
                </a:lnSpc>
              </a:pPr>
              <a:r>
                <a:rPr kumimoji="1" lang="en-US" altLang="zh-CN" sz="1400" b="1" dirty="0">
                  <a:latin typeface="微软雅黑" pitchFamily="34" charset="-122"/>
                  <a:ea typeface="微软雅黑" pitchFamily="34" charset="-122"/>
                </a:rPr>
                <a:t>IP </a:t>
              </a:r>
              <a:r>
                <a:rPr kumimoji="1" lang="zh-CN" altLang="en-US" sz="1400" b="1" dirty="0">
                  <a:latin typeface="微软雅黑" pitchFamily="34" charset="-122"/>
                  <a:ea typeface="微软雅黑" pitchFamily="34" charset="-122"/>
                </a:rPr>
                <a:t>数据报首部</a:t>
              </a:r>
            </a:p>
          </p:txBody>
        </p:sp>
        <p:sp>
          <p:nvSpPr>
            <p:cNvPr id="50" name="Line 18"/>
            <p:cNvSpPr>
              <a:spLocks noChangeShapeType="1"/>
            </p:cNvSpPr>
            <p:nvPr/>
          </p:nvSpPr>
          <p:spPr bwMode="auto">
            <a:xfrm>
              <a:off x="4547269" y="2152103"/>
              <a:ext cx="0" cy="5969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1" name="Text Box 19"/>
            <p:cNvSpPr txBox="1">
              <a:spLocks noChangeArrowheads="1"/>
            </p:cNvSpPr>
            <p:nvPr/>
          </p:nvSpPr>
          <p:spPr bwMode="auto">
            <a:xfrm>
              <a:off x="5317247" y="3285579"/>
              <a:ext cx="2525658" cy="42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solidFill>
                    <a:srgbClr val="CC00CC"/>
                  </a:solidFill>
                  <a:latin typeface="微软雅黑" pitchFamily="34" charset="-122"/>
                  <a:ea typeface="微软雅黑" pitchFamily="34" charset="-122"/>
                </a:rPr>
                <a:t>ICMP </a:t>
              </a:r>
              <a:r>
                <a:rPr kumimoji="1" lang="zh-CN" altLang="en-US" sz="1600" b="1" dirty="0">
                  <a:solidFill>
                    <a:srgbClr val="CC00CC"/>
                  </a:solidFill>
                  <a:latin typeface="微软雅黑" pitchFamily="34" charset="-122"/>
                  <a:ea typeface="微软雅黑" pitchFamily="34" charset="-122"/>
                </a:rPr>
                <a:t>差错报告报文</a:t>
              </a:r>
            </a:p>
          </p:txBody>
        </p:sp>
        <p:sp>
          <p:nvSpPr>
            <p:cNvPr id="52" name="Text Box 20"/>
            <p:cNvSpPr txBox="1">
              <a:spLocks noChangeArrowheads="1"/>
            </p:cNvSpPr>
            <p:nvPr/>
          </p:nvSpPr>
          <p:spPr bwMode="auto">
            <a:xfrm>
              <a:off x="4551210" y="2120164"/>
              <a:ext cx="676594" cy="6510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400" b="1" dirty="0">
                  <a:latin typeface="微软雅黑" pitchFamily="34" charset="-122"/>
                  <a:ea typeface="微软雅黑" pitchFamily="34" charset="-122"/>
                </a:rPr>
                <a:t>8</a:t>
              </a:r>
            </a:p>
            <a:p>
              <a:pPr algn="ctr"/>
              <a:r>
                <a:rPr kumimoji="1" lang="zh-CN" altLang="en-US" sz="1400" b="1" dirty="0">
                  <a:latin typeface="微软雅黑" pitchFamily="34" charset="-122"/>
                  <a:ea typeface="微软雅黑" pitchFamily="34" charset="-122"/>
                </a:rPr>
                <a:t>字节</a:t>
              </a:r>
            </a:p>
          </p:txBody>
        </p:sp>
        <p:sp>
          <p:nvSpPr>
            <p:cNvPr id="53" name="Line 21"/>
            <p:cNvSpPr>
              <a:spLocks noChangeShapeType="1"/>
            </p:cNvSpPr>
            <p:nvPr/>
          </p:nvSpPr>
          <p:spPr bwMode="auto">
            <a:xfrm>
              <a:off x="5193910" y="2152103"/>
              <a:ext cx="0" cy="596900"/>
            </a:xfrm>
            <a:prstGeom prst="line">
              <a:avLst/>
            </a:prstGeom>
            <a:noFill/>
            <a:ln w="12700">
              <a:solidFill>
                <a:schemeClr val="tx1"/>
              </a:solidFill>
              <a:prstDash val="sys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4" name="Text Box 22"/>
            <p:cNvSpPr txBox="1">
              <a:spLocks noChangeArrowheads="1"/>
            </p:cNvSpPr>
            <p:nvPr/>
          </p:nvSpPr>
          <p:spPr bwMode="auto">
            <a:xfrm>
              <a:off x="650435" y="2251783"/>
              <a:ext cx="2166616" cy="42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600" b="1" dirty="0">
                  <a:solidFill>
                    <a:srgbClr val="C00000"/>
                  </a:solidFill>
                  <a:latin typeface="微软雅黑" pitchFamily="34" charset="-122"/>
                  <a:ea typeface="微软雅黑" pitchFamily="34" charset="-122"/>
                </a:rPr>
                <a:t>收到的 </a:t>
              </a:r>
              <a:r>
                <a:rPr kumimoji="1" lang="en-US" altLang="zh-CN" sz="1600" b="1" dirty="0">
                  <a:solidFill>
                    <a:srgbClr val="C00000"/>
                  </a:solidFill>
                  <a:latin typeface="微软雅黑" pitchFamily="34" charset="-122"/>
                  <a:ea typeface="微软雅黑" pitchFamily="34" charset="-122"/>
                </a:rPr>
                <a:t>IP </a:t>
              </a:r>
              <a:r>
                <a:rPr kumimoji="1" lang="zh-CN" altLang="en-US" sz="1600" b="1" dirty="0">
                  <a:solidFill>
                    <a:srgbClr val="C00000"/>
                  </a:solidFill>
                  <a:latin typeface="微软雅黑" pitchFamily="34" charset="-122"/>
                  <a:ea typeface="微软雅黑" pitchFamily="34" charset="-122"/>
                </a:rPr>
                <a:t>数据报</a:t>
              </a:r>
            </a:p>
          </p:txBody>
        </p:sp>
        <p:sp>
          <p:nvSpPr>
            <p:cNvPr id="55" name="Line 23"/>
            <p:cNvSpPr>
              <a:spLocks noChangeShapeType="1"/>
            </p:cNvSpPr>
            <p:nvPr/>
          </p:nvSpPr>
          <p:spPr bwMode="auto">
            <a:xfrm>
              <a:off x="5193910" y="2749003"/>
              <a:ext cx="0" cy="425450"/>
            </a:xfrm>
            <a:prstGeom prst="line">
              <a:avLst/>
            </a:prstGeom>
            <a:noFill/>
            <a:ln w="12700">
              <a:solidFill>
                <a:schemeClr val="tx1"/>
              </a:solidFill>
              <a:prstDash val="sys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6" name="Line 24"/>
            <p:cNvSpPr>
              <a:spLocks noChangeShapeType="1"/>
            </p:cNvSpPr>
            <p:nvPr/>
          </p:nvSpPr>
          <p:spPr bwMode="auto">
            <a:xfrm>
              <a:off x="4547269" y="3174454"/>
              <a:ext cx="0" cy="595313"/>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7" name="Text Box 25"/>
            <p:cNvSpPr txBox="1">
              <a:spLocks noChangeArrowheads="1"/>
            </p:cNvSpPr>
            <p:nvPr/>
          </p:nvSpPr>
          <p:spPr bwMode="auto">
            <a:xfrm>
              <a:off x="2865968" y="3335372"/>
              <a:ext cx="1636033" cy="3293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en-US" altLang="zh-CN" sz="1400" b="1" dirty="0">
                  <a:latin typeface="微软雅黑" pitchFamily="34" charset="-122"/>
                  <a:ea typeface="微软雅黑" pitchFamily="34" charset="-122"/>
                </a:rPr>
                <a:t>IP </a:t>
              </a:r>
              <a:r>
                <a:rPr kumimoji="1" lang="zh-CN" altLang="en-US" sz="1400" b="1" dirty="0">
                  <a:latin typeface="微软雅黑" pitchFamily="34" charset="-122"/>
                  <a:ea typeface="微软雅黑" pitchFamily="34" charset="-122"/>
                </a:rPr>
                <a:t>数据报首部</a:t>
              </a:r>
            </a:p>
          </p:txBody>
        </p:sp>
        <p:sp>
          <p:nvSpPr>
            <p:cNvPr id="58" name="Text Box 26"/>
            <p:cNvSpPr txBox="1">
              <a:spLocks noChangeArrowheads="1"/>
            </p:cNvSpPr>
            <p:nvPr/>
          </p:nvSpPr>
          <p:spPr bwMode="auto">
            <a:xfrm>
              <a:off x="4559816" y="3196678"/>
              <a:ext cx="676594" cy="597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en-US" altLang="zh-CN" sz="1400" b="1" dirty="0">
                  <a:latin typeface="微软雅黑" pitchFamily="34" charset="-122"/>
                  <a:ea typeface="微软雅黑" pitchFamily="34" charset="-122"/>
                </a:rPr>
                <a:t>8</a:t>
              </a:r>
            </a:p>
            <a:p>
              <a:pPr algn="ctr"/>
              <a:r>
                <a:rPr kumimoji="1" lang="zh-CN" altLang="en-US" sz="1400" b="1" dirty="0">
                  <a:latin typeface="微软雅黑" pitchFamily="34" charset="-122"/>
                  <a:ea typeface="微软雅黑" pitchFamily="34" charset="-122"/>
                </a:rPr>
                <a:t>字节</a:t>
              </a:r>
            </a:p>
          </p:txBody>
        </p:sp>
        <p:sp>
          <p:nvSpPr>
            <p:cNvPr id="59" name="AutoShape 27"/>
            <p:cNvSpPr>
              <a:spLocks noChangeArrowheads="1"/>
            </p:cNvSpPr>
            <p:nvPr/>
          </p:nvSpPr>
          <p:spPr bwMode="auto">
            <a:xfrm>
              <a:off x="3441444" y="2720428"/>
              <a:ext cx="276886" cy="509588"/>
            </a:xfrm>
            <a:prstGeom prst="downArrow">
              <a:avLst>
                <a:gd name="adj1" fmla="val 47222"/>
                <a:gd name="adj2" fmla="val 103013"/>
              </a:avLst>
            </a:prstGeom>
            <a:solidFill>
              <a:srgbClr val="FFC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sp>
          <p:nvSpPr>
            <p:cNvPr id="60" name="AutoShape 28"/>
            <p:cNvSpPr>
              <a:spLocks noChangeArrowheads="1"/>
            </p:cNvSpPr>
            <p:nvPr/>
          </p:nvSpPr>
          <p:spPr bwMode="auto">
            <a:xfrm>
              <a:off x="4763962" y="2720428"/>
              <a:ext cx="275167" cy="509588"/>
            </a:xfrm>
            <a:prstGeom prst="downArrow">
              <a:avLst>
                <a:gd name="adj1" fmla="val 47222"/>
                <a:gd name="adj2" fmla="val 103656"/>
              </a:avLst>
            </a:prstGeom>
            <a:solidFill>
              <a:srgbClr val="FFC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sp>
          <p:nvSpPr>
            <p:cNvPr id="61" name="Text Box 29"/>
            <p:cNvSpPr txBox="1">
              <a:spLocks noChangeArrowheads="1"/>
            </p:cNvSpPr>
            <p:nvPr/>
          </p:nvSpPr>
          <p:spPr bwMode="auto">
            <a:xfrm>
              <a:off x="2183406" y="4334744"/>
              <a:ext cx="2238424" cy="3293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en-US" altLang="zh-CN" sz="1400" b="1" dirty="0">
                  <a:latin typeface="微软雅黑" pitchFamily="34" charset="-122"/>
                  <a:ea typeface="微软雅黑" pitchFamily="34" charset="-122"/>
                </a:rPr>
                <a:t>ICMP </a:t>
              </a:r>
              <a:r>
                <a:rPr kumimoji="1" lang="zh-CN" altLang="en-US" sz="1400" b="1" dirty="0">
                  <a:latin typeface="微软雅黑" pitchFamily="34" charset="-122"/>
                  <a:ea typeface="微软雅黑" pitchFamily="34" charset="-122"/>
                </a:rPr>
                <a:t>差错报告报文</a:t>
              </a:r>
            </a:p>
          </p:txBody>
        </p:sp>
        <p:sp>
          <p:nvSpPr>
            <p:cNvPr id="62" name="Text Box 30"/>
            <p:cNvSpPr txBox="1">
              <a:spLocks noChangeArrowheads="1"/>
            </p:cNvSpPr>
            <p:nvPr/>
          </p:nvSpPr>
          <p:spPr bwMode="auto">
            <a:xfrm>
              <a:off x="5721222" y="1556792"/>
              <a:ext cx="2306243" cy="3829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FF"/>
                  </a:solidFill>
                  <a:latin typeface="微软雅黑" pitchFamily="34" charset="-122"/>
                  <a:ea typeface="微软雅黑" pitchFamily="34" charset="-122"/>
                </a:rPr>
                <a:t>IP </a:t>
              </a:r>
              <a:r>
                <a:rPr kumimoji="1" lang="zh-CN" altLang="en-US" sz="1400" b="1" dirty="0">
                  <a:solidFill>
                    <a:srgbClr val="0000FF"/>
                  </a:solidFill>
                  <a:latin typeface="微软雅黑" pitchFamily="34" charset="-122"/>
                  <a:ea typeface="微软雅黑" pitchFamily="34" charset="-122"/>
                </a:rPr>
                <a:t>数据报的数据字段</a:t>
              </a:r>
            </a:p>
          </p:txBody>
        </p:sp>
        <p:sp>
          <p:nvSpPr>
            <p:cNvPr id="63" name="AutoShape 31"/>
            <p:cNvSpPr>
              <a:spLocks/>
            </p:cNvSpPr>
            <p:nvPr/>
          </p:nvSpPr>
          <p:spPr bwMode="auto">
            <a:xfrm rot="5400000">
              <a:off x="6815013" y="-371228"/>
              <a:ext cx="169862" cy="4705350"/>
            </a:xfrm>
            <a:prstGeom prst="leftBrace">
              <a:avLst>
                <a:gd name="adj1" fmla="val 213085"/>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4" name="Line 32"/>
            <p:cNvSpPr>
              <a:spLocks noChangeShapeType="1"/>
            </p:cNvSpPr>
            <p:nvPr/>
          </p:nvSpPr>
          <p:spPr bwMode="auto">
            <a:xfrm>
              <a:off x="2794801" y="2749003"/>
              <a:ext cx="0" cy="425450"/>
            </a:xfrm>
            <a:prstGeom prst="line">
              <a:avLst/>
            </a:prstGeom>
            <a:noFill/>
            <a:ln w="12700">
              <a:solidFill>
                <a:schemeClr val="tx1"/>
              </a:solidFill>
              <a:prstDash val="sys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5" name="Line 33"/>
            <p:cNvSpPr>
              <a:spLocks noChangeShapeType="1"/>
            </p:cNvSpPr>
            <p:nvPr/>
          </p:nvSpPr>
          <p:spPr bwMode="auto">
            <a:xfrm>
              <a:off x="1412089" y="3769766"/>
              <a:ext cx="0" cy="425450"/>
            </a:xfrm>
            <a:prstGeom prst="line">
              <a:avLst/>
            </a:prstGeom>
            <a:noFill/>
            <a:ln w="12700">
              <a:solidFill>
                <a:schemeClr val="tx1"/>
              </a:solidFill>
              <a:prstDash val="sys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6" name="Line 34"/>
            <p:cNvSpPr>
              <a:spLocks noChangeShapeType="1"/>
            </p:cNvSpPr>
            <p:nvPr/>
          </p:nvSpPr>
          <p:spPr bwMode="auto">
            <a:xfrm>
              <a:off x="5193910" y="3769766"/>
              <a:ext cx="0" cy="425450"/>
            </a:xfrm>
            <a:prstGeom prst="line">
              <a:avLst/>
            </a:prstGeom>
            <a:noFill/>
            <a:ln w="12700">
              <a:solidFill>
                <a:schemeClr val="tx1"/>
              </a:solidFill>
              <a:prstDash val="sys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7" name="AutoShape 35"/>
            <p:cNvSpPr>
              <a:spLocks noChangeArrowheads="1"/>
            </p:cNvSpPr>
            <p:nvPr/>
          </p:nvSpPr>
          <p:spPr bwMode="auto">
            <a:xfrm>
              <a:off x="3127239" y="3817772"/>
              <a:ext cx="278606" cy="511176"/>
            </a:xfrm>
            <a:prstGeom prst="downArrow">
              <a:avLst>
                <a:gd name="adj1" fmla="val 47222"/>
                <a:gd name="adj2" fmla="val 102695"/>
              </a:avLst>
            </a:prstGeom>
            <a:solidFill>
              <a:srgbClr val="FFC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grpSp>
    </p:spTree>
    <p:extLst>
      <p:ext uri="{BB962C8B-B14F-4D97-AF65-F5344CB8AC3E}">
        <p14:creationId xmlns:p14="http://schemas.microsoft.com/office/powerpoint/2010/main" val="237665832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8"/>
          <p:cNvSpPr>
            <a:spLocks noChangeArrowheads="1"/>
          </p:cNvSpPr>
          <p:nvPr/>
        </p:nvSpPr>
        <p:spPr bwMode="auto">
          <a:xfrm>
            <a:off x="545143" y="987670"/>
            <a:ext cx="8053711" cy="26314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对 </a:t>
            </a:r>
            <a:r>
              <a:rPr lang="en-US" altLang="zh-CN" sz="2000" b="1" dirty="0">
                <a:latin typeface="微软雅黑" pitchFamily="34" charset="-122"/>
                <a:ea typeface="微软雅黑" pitchFamily="34" charset="-122"/>
              </a:rPr>
              <a:t>ICMP </a:t>
            </a:r>
            <a:r>
              <a:rPr lang="zh-CN" altLang="en-US" sz="2000" b="1" dirty="0">
                <a:latin typeface="微软雅黑" pitchFamily="34" charset="-122"/>
                <a:ea typeface="微软雅黑" pitchFamily="34" charset="-122"/>
              </a:rPr>
              <a:t>差错报告报文不再发送 </a:t>
            </a:r>
            <a:r>
              <a:rPr lang="en-US" altLang="zh-CN" sz="2000" b="1" dirty="0">
                <a:latin typeface="微软雅黑" pitchFamily="34" charset="-122"/>
                <a:ea typeface="微软雅黑" pitchFamily="34" charset="-122"/>
              </a:rPr>
              <a:t>ICMP </a:t>
            </a:r>
            <a:r>
              <a:rPr lang="zh-CN" altLang="en-US" sz="2000" b="1" dirty="0">
                <a:latin typeface="微软雅黑" pitchFamily="34" charset="-122"/>
                <a:ea typeface="微软雅黑" pitchFamily="34" charset="-122"/>
              </a:rPr>
              <a:t>差错报告报文。</a:t>
            </a: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对第一个分片的数据报片的所有后续数据报片都不发送 </a:t>
            </a:r>
            <a:r>
              <a:rPr lang="en-US" altLang="zh-CN" sz="2000" b="1" dirty="0">
                <a:latin typeface="微软雅黑" pitchFamily="34" charset="-122"/>
                <a:ea typeface="微软雅黑" pitchFamily="34" charset="-122"/>
              </a:rPr>
              <a:t>ICMP </a:t>
            </a:r>
            <a:r>
              <a:rPr lang="zh-CN" altLang="en-US" sz="2000" b="1" dirty="0">
                <a:latin typeface="微软雅黑" pitchFamily="34" charset="-122"/>
                <a:ea typeface="微软雅黑" pitchFamily="34" charset="-122"/>
              </a:rPr>
              <a:t>差错报告报文。</a:t>
            </a: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对具有多播地址的数据报都不发送 </a:t>
            </a:r>
            <a:r>
              <a:rPr lang="en-US" altLang="zh-CN" sz="2000" b="1" dirty="0">
                <a:latin typeface="微软雅黑" pitchFamily="34" charset="-122"/>
                <a:ea typeface="微软雅黑" pitchFamily="34" charset="-122"/>
              </a:rPr>
              <a:t>ICMP </a:t>
            </a:r>
            <a:r>
              <a:rPr lang="zh-CN" altLang="en-US" sz="2000" b="1" dirty="0">
                <a:latin typeface="微软雅黑" pitchFamily="34" charset="-122"/>
                <a:ea typeface="微软雅黑" pitchFamily="34" charset="-122"/>
              </a:rPr>
              <a:t>差错报告报文。</a:t>
            </a: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对具有特殊地址（如</a:t>
            </a:r>
            <a:r>
              <a:rPr lang="en-US" altLang="zh-CN" sz="2000" b="1" dirty="0">
                <a:latin typeface="微软雅黑" pitchFamily="34" charset="-122"/>
                <a:ea typeface="微软雅黑" pitchFamily="34" charset="-122"/>
              </a:rPr>
              <a:t>127.0.0.0 </a:t>
            </a:r>
            <a:r>
              <a:rPr lang="zh-CN" altLang="en-US" sz="2000" b="1" dirty="0">
                <a:latin typeface="微软雅黑" pitchFamily="34" charset="-122"/>
                <a:ea typeface="微软雅黑" pitchFamily="34" charset="-122"/>
              </a:rPr>
              <a:t>或 </a:t>
            </a:r>
            <a:r>
              <a:rPr lang="en-US" altLang="zh-CN" sz="2000" b="1" dirty="0">
                <a:latin typeface="微软雅黑" pitchFamily="34" charset="-122"/>
                <a:ea typeface="微软雅黑" pitchFamily="34" charset="-122"/>
              </a:rPr>
              <a:t>0.0.0.0</a:t>
            </a:r>
            <a:r>
              <a:rPr lang="zh-CN" altLang="en-US" sz="2000" b="1" dirty="0">
                <a:latin typeface="微软雅黑" pitchFamily="34" charset="-122"/>
                <a:ea typeface="微软雅黑" pitchFamily="34" charset="-122"/>
              </a:rPr>
              <a:t>）的数据报不发送 </a:t>
            </a:r>
            <a:r>
              <a:rPr lang="en-US" altLang="zh-CN" sz="2000" b="1" dirty="0">
                <a:latin typeface="微软雅黑" pitchFamily="34" charset="-122"/>
                <a:ea typeface="微软雅黑" pitchFamily="34" charset="-122"/>
              </a:rPr>
              <a:t>ICMP </a:t>
            </a:r>
            <a:r>
              <a:rPr lang="zh-CN" altLang="en-US" sz="2000" b="1" dirty="0">
                <a:latin typeface="微软雅黑" pitchFamily="34" charset="-122"/>
                <a:ea typeface="微软雅黑" pitchFamily="34" charset="-122"/>
              </a:rPr>
              <a:t>差错报告报文。</a:t>
            </a:r>
          </a:p>
        </p:txBody>
      </p:sp>
      <p:sp>
        <p:nvSpPr>
          <p:cNvPr id="17" name="AutoShape 5"/>
          <p:cNvSpPr>
            <a:spLocks noChangeArrowheads="1"/>
          </p:cNvSpPr>
          <p:nvPr/>
        </p:nvSpPr>
        <p:spPr bwMode="auto">
          <a:xfrm>
            <a:off x="545144" y="619982"/>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8" name="Rectangle 6"/>
          <p:cNvSpPr>
            <a:spLocks noChangeArrowheads="1"/>
          </p:cNvSpPr>
          <p:nvPr/>
        </p:nvSpPr>
        <p:spPr bwMode="auto">
          <a:xfrm>
            <a:off x="1941968" y="586771"/>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rgbClr val="FFFF00"/>
                </a:solidFill>
                <a:latin typeface="微软雅黑" pitchFamily="34" charset="-122"/>
                <a:ea typeface="微软雅黑" pitchFamily="34" charset="-122"/>
              </a:rPr>
              <a:t>不应发送 </a:t>
            </a:r>
            <a:r>
              <a:rPr lang="en-US" altLang="zh-CN" sz="2000" b="1" dirty="0">
                <a:solidFill>
                  <a:srgbClr val="FFFF00"/>
                </a:solidFill>
                <a:latin typeface="微软雅黑" pitchFamily="34" charset="-122"/>
                <a:ea typeface="微软雅黑" pitchFamily="34" charset="-122"/>
              </a:rPr>
              <a:t>ICMP </a:t>
            </a:r>
            <a:r>
              <a:rPr lang="zh-CN" altLang="en-US" sz="2000" b="1" dirty="0">
                <a:solidFill>
                  <a:srgbClr val="FFFF00"/>
                </a:solidFill>
                <a:latin typeface="微软雅黑" pitchFamily="34" charset="-122"/>
                <a:ea typeface="微软雅黑" pitchFamily="34" charset="-122"/>
              </a:rPr>
              <a:t>差错报告报文的几种情况</a:t>
            </a:r>
          </a:p>
        </p:txBody>
      </p:sp>
    </p:spTree>
    <p:extLst>
      <p:ext uri="{BB962C8B-B14F-4D97-AF65-F5344CB8AC3E}">
        <p14:creationId xmlns:p14="http://schemas.microsoft.com/office/powerpoint/2010/main" val="292907110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AutoShape 5"/>
          <p:cNvSpPr>
            <a:spLocks noChangeArrowheads="1"/>
          </p:cNvSpPr>
          <p:nvPr/>
        </p:nvSpPr>
        <p:spPr bwMode="auto">
          <a:xfrm>
            <a:off x="545144" y="621119"/>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7" name="Rectangle 6"/>
          <p:cNvSpPr>
            <a:spLocks noChangeArrowheads="1"/>
          </p:cNvSpPr>
          <p:nvPr/>
        </p:nvSpPr>
        <p:spPr bwMode="auto">
          <a:xfrm>
            <a:off x="1941968" y="587908"/>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ICMP </a:t>
            </a:r>
            <a:r>
              <a:rPr lang="zh-CN" altLang="en-US" sz="2000" b="1" dirty="0">
                <a:solidFill>
                  <a:schemeClr val="bg1"/>
                </a:solidFill>
                <a:latin typeface="微软雅黑" pitchFamily="34" charset="-122"/>
                <a:ea typeface="微软雅黑" pitchFamily="34" charset="-122"/>
              </a:rPr>
              <a:t>询问报文</a:t>
            </a:r>
          </a:p>
        </p:txBody>
      </p:sp>
      <p:sp>
        <p:nvSpPr>
          <p:cNvPr id="5" name="Rectangle 8"/>
          <p:cNvSpPr>
            <a:spLocks noChangeArrowheads="1"/>
          </p:cNvSpPr>
          <p:nvPr/>
        </p:nvSpPr>
        <p:spPr bwMode="auto">
          <a:xfrm>
            <a:off x="545143" y="987670"/>
            <a:ext cx="8274392" cy="3554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a:lnSpc>
                <a:spcPts val="30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rPr>
              <a:t>(1) </a:t>
            </a:r>
            <a:r>
              <a:rPr lang="zh-CN" altLang="en-US" sz="2000" b="1" dirty="0">
                <a:solidFill>
                  <a:srgbClr val="C00000"/>
                </a:solidFill>
                <a:latin typeface="微软雅黑" pitchFamily="34" charset="-122"/>
                <a:ea typeface="微软雅黑" pitchFamily="34" charset="-122"/>
              </a:rPr>
              <a:t>回送请求和回答</a:t>
            </a:r>
            <a:endParaRPr lang="en-US" altLang="zh-CN" sz="2000" b="1" dirty="0">
              <a:solidFill>
                <a:srgbClr val="C00000"/>
              </a:solidFill>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由主机或路由器向一个特定的目的主机发出的询问。</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收到此报文的主机必须给源主机或路由器发送 </a:t>
            </a:r>
            <a:r>
              <a:rPr lang="en-US" altLang="zh-CN" sz="2000" b="1" dirty="0">
                <a:latin typeface="微软雅黑" pitchFamily="34" charset="-122"/>
                <a:ea typeface="微软雅黑" pitchFamily="34" charset="-122"/>
              </a:rPr>
              <a:t>ICMP </a:t>
            </a:r>
            <a:r>
              <a:rPr lang="zh-CN" altLang="en-US" sz="2000" b="1" dirty="0">
                <a:latin typeface="微软雅黑" pitchFamily="34" charset="-122"/>
                <a:ea typeface="微软雅黑" pitchFamily="34" charset="-122"/>
              </a:rPr>
              <a:t>回送回答报文。</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这种询问报文用来测试目的站是否可达，以及了解其有关状态。</a:t>
            </a:r>
          </a:p>
          <a:p>
            <a:pPr marL="357188" indent="-357188">
              <a:lnSpc>
                <a:spcPts val="30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rPr>
              <a:t>(2) </a:t>
            </a:r>
            <a:r>
              <a:rPr lang="zh-CN" altLang="en-US" sz="2000" b="1" dirty="0">
                <a:solidFill>
                  <a:srgbClr val="C00000"/>
                </a:solidFill>
                <a:latin typeface="微软雅黑" pitchFamily="34" charset="-122"/>
                <a:ea typeface="微软雅黑" pitchFamily="34" charset="-122"/>
              </a:rPr>
              <a:t>时间戳请求和回答：</a:t>
            </a:r>
            <a:endParaRPr lang="en-US" altLang="zh-CN" sz="2000" b="1" dirty="0">
              <a:solidFill>
                <a:srgbClr val="C00000"/>
              </a:solidFill>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请某台主机或路由器回答当前的日期和时间。</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时间戳回答报文中有一个 </a:t>
            </a:r>
            <a:r>
              <a:rPr lang="en-US" altLang="zh-CN" sz="2000" b="1" dirty="0">
                <a:latin typeface="微软雅黑" pitchFamily="34" charset="-122"/>
                <a:ea typeface="微软雅黑" pitchFamily="34" charset="-122"/>
              </a:rPr>
              <a:t>32 </a:t>
            </a:r>
            <a:r>
              <a:rPr lang="zh-CN" altLang="en-US" sz="2000" b="1" dirty="0">
                <a:latin typeface="微软雅黑" pitchFamily="34" charset="-122"/>
                <a:ea typeface="微软雅黑" pitchFamily="34" charset="-122"/>
              </a:rPr>
              <a:t>位的字段，其中写入的整数代表从</a:t>
            </a:r>
            <a:r>
              <a:rPr lang="en-US" altLang="zh-CN" sz="2000" b="1" dirty="0">
                <a:latin typeface="微软雅黑" pitchFamily="34" charset="-122"/>
                <a:ea typeface="微软雅黑" pitchFamily="34" charset="-122"/>
              </a:rPr>
              <a:t>1900 </a:t>
            </a:r>
            <a:r>
              <a:rPr lang="zh-CN" altLang="en-US" sz="2000" b="1" dirty="0">
                <a:latin typeface="微软雅黑" pitchFamily="34" charset="-122"/>
                <a:ea typeface="微软雅黑" pitchFamily="34" charset="-122"/>
              </a:rPr>
              <a:t>年 </a:t>
            </a:r>
            <a:r>
              <a:rPr lang="en-US" altLang="zh-CN" sz="2000" b="1" dirty="0">
                <a:latin typeface="微软雅黑" pitchFamily="34" charset="-122"/>
                <a:ea typeface="微软雅黑" pitchFamily="34" charset="-122"/>
              </a:rPr>
              <a:t>1 </a:t>
            </a:r>
            <a:r>
              <a:rPr lang="zh-CN" altLang="en-US" sz="2000" b="1" dirty="0">
                <a:latin typeface="微软雅黑" pitchFamily="34" charset="-122"/>
                <a:ea typeface="微软雅黑" pitchFamily="34" charset="-122"/>
              </a:rPr>
              <a:t>月 </a:t>
            </a:r>
            <a:r>
              <a:rPr lang="en-US" altLang="zh-CN" sz="2000" b="1" dirty="0">
                <a:latin typeface="微软雅黑" pitchFamily="34" charset="-122"/>
                <a:ea typeface="微软雅黑" pitchFamily="34" charset="-122"/>
              </a:rPr>
              <a:t>1 </a:t>
            </a:r>
            <a:r>
              <a:rPr lang="zh-CN" altLang="en-US" sz="2000" b="1" dirty="0">
                <a:latin typeface="微软雅黑" pitchFamily="34" charset="-122"/>
                <a:ea typeface="微软雅黑" pitchFamily="34" charset="-122"/>
              </a:rPr>
              <a:t>日起到当前时刻一共有多少秒。</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时间戳请求与回答可用于时钟同步和时间测量。</a:t>
            </a:r>
          </a:p>
        </p:txBody>
      </p:sp>
    </p:spTree>
    <p:extLst>
      <p:ext uri="{BB962C8B-B14F-4D97-AF65-F5344CB8AC3E}">
        <p14:creationId xmlns:p14="http://schemas.microsoft.com/office/powerpoint/2010/main" val="88834908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 name="AutoShape 5"/>
          <p:cNvSpPr>
            <a:spLocks noChangeArrowheads="1"/>
          </p:cNvSpPr>
          <p:nvPr/>
        </p:nvSpPr>
        <p:spPr bwMode="auto">
          <a:xfrm>
            <a:off x="545144" y="62514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76" name="Rectangle 6"/>
          <p:cNvSpPr>
            <a:spLocks noChangeArrowheads="1"/>
          </p:cNvSpPr>
          <p:nvPr/>
        </p:nvSpPr>
        <p:spPr bwMode="auto">
          <a:xfrm>
            <a:off x="2787699" y="593072"/>
            <a:ext cx="356860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4.4.2  ICMP </a:t>
            </a:r>
            <a:r>
              <a:rPr lang="zh-CN" altLang="en-US" sz="2400" b="1" dirty="0">
                <a:solidFill>
                  <a:schemeClr val="bg1"/>
                </a:solidFill>
                <a:latin typeface="微软雅黑" pitchFamily="34" charset="-122"/>
                <a:ea typeface="微软雅黑" pitchFamily="34" charset="-122"/>
              </a:rPr>
              <a:t>的应用举例</a:t>
            </a:r>
          </a:p>
        </p:txBody>
      </p:sp>
      <p:sp>
        <p:nvSpPr>
          <p:cNvPr id="77" name="Rectangle 8"/>
          <p:cNvSpPr>
            <a:spLocks noChangeArrowheads="1"/>
          </p:cNvSpPr>
          <p:nvPr/>
        </p:nvSpPr>
        <p:spPr bwMode="auto">
          <a:xfrm>
            <a:off x="545144" y="1057184"/>
            <a:ext cx="8053712" cy="2208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ts val="3300"/>
              </a:lnSpc>
              <a:buClr>
                <a:srgbClr val="0070C0"/>
              </a:buClr>
            </a:pPr>
            <a:r>
              <a:rPr lang="en-US" altLang="zh-CN" sz="2000" b="1" dirty="0">
                <a:solidFill>
                  <a:srgbClr val="C00000"/>
                </a:solidFill>
                <a:latin typeface="微软雅黑" pitchFamily="34" charset="-122"/>
                <a:ea typeface="微软雅黑" pitchFamily="34" charset="-122"/>
              </a:rPr>
              <a:t>PING</a:t>
            </a:r>
            <a:r>
              <a:rPr lang="en-US" altLang="zh-CN" sz="2000" b="1" dirty="0">
                <a:latin typeface="微软雅黑" pitchFamily="34" charset="-122"/>
                <a:ea typeface="微软雅黑" pitchFamily="34" charset="-122"/>
              </a:rPr>
              <a:t> (Packet </a:t>
            </a:r>
            <a:r>
              <a:rPr lang="en-US" altLang="zh-CN" sz="2000" b="1" dirty="0" err="1">
                <a:latin typeface="微软雅黑" pitchFamily="34" charset="-122"/>
                <a:ea typeface="微软雅黑" pitchFamily="34" charset="-122"/>
              </a:rPr>
              <a:t>InterNet</a:t>
            </a:r>
            <a:r>
              <a:rPr lang="en-US" altLang="zh-CN" sz="2000" b="1" dirty="0">
                <a:latin typeface="微软雅黑" pitchFamily="34" charset="-122"/>
                <a:ea typeface="微软雅黑" pitchFamily="34" charset="-122"/>
              </a:rPr>
              <a:t> Groper) </a:t>
            </a: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用来测试两个主机之间的</a:t>
            </a:r>
            <a:r>
              <a:rPr lang="zh-CN" altLang="en-US" sz="2000" b="1" dirty="0">
                <a:solidFill>
                  <a:srgbClr val="0000FF"/>
                </a:solidFill>
                <a:latin typeface="微软雅黑" pitchFamily="34" charset="-122"/>
                <a:ea typeface="微软雅黑" pitchFamily="34" charset="-122"/>
              </a:rPr>
              <a:t>连通性。</a:t>
            </a: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使用了 </a:t>
            </a:r>
            <a:r>
              <a:rPr lang="en-US" altLang="zh-CN" sz="2000" b="1" dirty="0">
                <a:solidFill>
                  <a:srgbClr val="0000FF"/>
                </a:solidFill>
                <a:latin typeface="微软雅黑" pitchFamily="34" charset="-122"/>
                <a:ea typeface="微软雅黑" pitchFamily="34" charset="-122"/>
              </a:rPr>
              <a:t>ICMP </a:t>
            </a:r>
            <a:r>
              <a:rPr lang="zh-CN" altLang="en-US" sz="2000" b="1" dirty="0">
                <a:solidFill>
                  <a:srgbClr val="0000FF"/>
                </a:solidFill>
                <a:latin typeface="微软雅黑" pitchFamily="34" charset="-122"/>
                <a:ea typeface="微软雅黑" pitchFamily="34" charset="-122"/>
              </a:rPr>
              <a:t>回送请求与回送回答报文。</a:t>
            </a: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是应用层直接使用网络层 </a:t>
            </a:r>
            <a:r>
              <a:rPr lang="en-US" altLang="zh-CN" sz="2000" b="1" dirty="0">
                <a:latin typeface="微软雅黑" pitchFamily="34" charset="-122"/>
                <a:ea typeface="微软雅黑" pitchFamily="34" charset="-122"/>
              </a:rPr>
              <a:t>ICMP </a:t>
            </a:r>
            <a:r>
              <a:rPr lang="zh-CN" altLang="en-US" sz="2000" b="1" dirty="0">
                <a:latin typeface="微软雅黑" pitchFamily="34" charset="-122"/>
                <a:ea typeface="微软雅黑" pitchFamily="34" charset="-122"/>
              </a:rPr>
              <a:t>的例子，没有通过运输层的 </a:t>
            </a: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或 </a:t>
            </a:r>
            <a:r>
              <a:rPr lang="en-US" altLang="zh-CN" sz="2000" b="1" dirty="0">
                <a:latin typeface="微软雅黑" pitchFamily="34" charset="-122"/>
                <a:ea typeface="微软雅黑" pitchFamily="34" charset="-122"/>
              </a:rPr>
              <a:t>UDP</a:t>
            </a:r>
            <a:r>
              <a:rPr lang="zh-CN" altLang="en-US" sz="2000" b="1" dirty="0">
                <a:latin typeface="微软雅黑" pitchFamily="34" charset="-122"/>
                <a:ea typeface="微软雅黑" pitchFamily="34" charset="-122"/>
              </a:rPr>
              <a:t>。 </a:t>
            </a:r>
          </a:p>
        </p:txBody>
      </p:sp>
    </p:spTree>
    <p:extLst>
      <p:ext uri="{BB962C8B-B14F-4D97-AF65-F5344CB8AC3E}">
        <p14:creationId xmlns:p14="http://schemas.microsoft.com/office/powerpoint/2010/main" val="252437704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 name="AutoShape 5"/>
          <p:cNvSpPr>
            <a:spLocks noChangeArrowheads="1"/>
          </p:cNvSpPr>
          <p:nvPr/>
        </p:nvSpPr>
        <p:spPr bwMode="auto">
          <a:xfrm>
            <a:off x="556963" y="62269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05" name="Rectangle 6"/>
          <p:cNvSpPr>
            <a:spLocks noChangeArrowheads="1"/>
          </p:cNvSpPr>
          <p:nvPr/>
        </p:nvSpPr>
        <p:spPr bwMode="auto">
          <a:xfrm>
            <a:off x="3475118" y="589480"/>
            <a:ext cx="22124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PING </a:t>
            </a:r>
            <a:r>
              <a:rPr lang="zh-CN" altLang="en-US" sz="2000" b="1" dirty="0">
                <a:solidFill>
                  <a:schemeClr val="bg1"/>
                </a:solidFill>
                <a:latin typeface="微软雅黑" pitchFamily="34" charset="-122"/>
                <a:ea typeface="微软雅黑" pitchFamily="34" charset="-122"/>
              </a:rPr>
              <a:t>的应用举例</a:t>
            </a:r>
          </a:p>
        </p:txBody>
      </p:sp>
      <p:sp>
        <p:nvSpPr>
          <p:cNvPr id="106" name="圆角矩形 105"/>
          <p:cNvSpPr/>
          <p:nvPr/>
        </p:nvSpPr>
        <p:spPr>
          <a:xfrm>
            <a:off x="556963" y="1060279"/>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8" name="矩形 107"/>
          <p:cNvSpPr/>
          <p:nvPr/>
        </p:nvSpPr>
        <p:spPr>
          <a:xfrm>
            <a:off x="1932338" y="4308390"/>
            <a:ext cx="5298024" cy="307777"/>
          </a:xfrm>
          <a:prstGeom prst="rect">
            <a:avLst/>
          </a:prstGeom>
        </p:spPr>
        <p:txBody>
          <a:bodyPr wrap="square">
            <a:spAutoFit/>
          </a:bodyPr>
          <a:lstStyle/>
          <a:p>
            <a:pPr algn="ctr"/>
            <a:r>
              <a:rPr lang="zh-CN" altLang="zh-CN" sz="1400" b="1" dirty="0">
                <a:latin typeface="微软雅黑" pitchFamily="34" charset="-122"/>
                <a:ea typeface="微软雅黑" pitchFamily="34" charset="-122"/>
              </a:rPr>
              <a:t>用</a:t>
            </a:r>
            <a:r>
              <a:rPr lang="en-US" altLang="zh-CN" sz="1400" b="1" dirty="0">
                <a:latin typeface="微软雅黑" pitchFamily="34" charset="-122"/>
                <a:ea typeface="微软雅黑" pitchFamily="34" charset="-122"/>
              </a:rPr>
              <a:t> PING </a:t>
            </a:r>
            <a:r>
              <a:rPr lang="zh-CN" altLang="zh-CN" sz="1400" b="1" dirty="0">
                <a:latin typeface="微软雅黑" pitchFamily="34" charset="-122"/>
                <a:ea typeface="微软雅黑" pitchFamily="34" charset="-122"/>
              </a:rPr>
              <a:t>测试</a:t>
            </a:r>
            <a:r>
              <a:rPr lang="zh-CN" altLang="en-US" sz="1400" b="1" dirty="0">
                <a:latin typeface="微软雅黑" pitchFamily="34" charset="-122"/>
                <a:ea typeface="微软雅黑" pitchFamily="34" charset="-122"/>
              </a:rPr>
              <a:t>邮件服务器 </a:t>
            </a:r>
            <a:r>
              <a:rPr lang="en-US" altLang="zh-CN" sz="1400" b="1" dirty="0">
                <a:latin typeface="微软雅黑" pitchFamily="34" charset="-122"/>
                <a:ea typeface="微软雅黑" pitchFamily="34" charset="-122"/>
              </a:rPr>
              <a:t>mail.sina.com.cn </a:t>
            </a:r>
            <a:r>
              <a:rPr lang="zh-CN" altLang="en-US" sz="1400" b="1" dirty="0">
                <a:latin typeface="微软雅黑" pitchFamily="34" charset="-122"/>
                <a:ea typeface="微软雅黑" pitchFamily="34" charset="-122"/>
              </a:rPr>
              <a:t>的连通性</a:t>
            </a:r>
          </a:p>
        </p:txBody>
      </p:sp>
      <p:pic>
        <p:nvPicPr>
          <p:cNvPr id="9" name="Picture 5" descr="2006-2-19-pi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79871" y="1200616"/>
            <a:ext cx="7011354" cy="291652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0457948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230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787699" y="590232"/>
            <a:ext cx="356860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4.4.2  ICMP </a:t>
            </a:r>
            <a:r>
              <a:rPr lang="zh-CN" altLang="en-US" sz="2400" b="1" dirty="0">
                <a:solidFill>
                  <a:schemeClr val="bg1"/>
                </a:solidFill>
                <a:latin typeface="微软雅黑" pitchFamily="34" charset="-122"/>
                <a:ea typeface="微软雅黑" pitchFamily="34" charset="-122"/>
              </a:rPr>
              <a:t>的应用举例</a:t>
            </a:r>
          </a:p>
        </p:txBody>
      </p:sp>
      <p:sp>
        <p:nvSpPr>
          <p:cNvPr id="4" name="Rectangle 8"/>
          <p:cNvSpPr>
            <a:spLocks noChangeArrowheads="1"/>
          </p:cNvSpPr>
          <p:nvPr/>
        </p:nvSpPr>
        <p:spPr bwMode="auto">
          <a:xfrm>
            <a:off x="545144" y="1054344"/>
            <a:ext cx="8053712" cy="26314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ts val="3300"/>
              </a:lnSpc>
              <a:buClr>
                <a:srgbClr val="0070C0"/>
              </a:buClr>
            </a:pPr>
            <a:r>
              <a:rPr lang="en-US" altLang="zh-CN" sz="2000" b="1" dirty="0">
                <a:solidFill>
                  <a:srgbClr val="C00000"/>
                </a:solidFill>
                <a:latin typeface="微软雅黑" pitchFamily="34" charset="-122"/>
                <a:ea typeface="微软雅黑" pitchFamily="34" charset="-122"/>
              </a:rPr>
              <a:t>Traceroute</a:t>
            </a:r>
            <a:endParaRPr lang="zh-CN" altLang="en-US" sz="2000" b="1" dirty="0">
              <a:latin typeface="微软雅黑" pitchFamily="34" charset="-122"/>
              <a:ea typeface="微软雅黑" pitchFamily="34" charset="-122"/>
            </a:endParaRP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这是</a:t>
            </a:r>
            <a:r>
              <a:rPr lang="en-US" altLang="zh-CN" sz="2000" b="1" dirty="0">
                <a:latin typeface="微软雅黑" pitchFamily="34" charset="-122"/>
                <a:ea typeface="微软雅黑" pitchFamily="34" charset="-122"/>
              </a:rPr>
              <a:t>UNIX</a:t>
            </a:r>
            <a:r>
              <a:rPr lang="zh-CN" altLang="en-US" sz="2000" b="1" dirty="0">
                <a:latin typeface="微软雅黑" pitchFamily="34" charset="-122"/>
                <a:ea typeface="微软雅黑" pitchFamily="34" charset="-122"/>
              </a:rPr>
              <a:t>操作系统中名字。在 </a:t>
            </a:r>
            <a:r>
              <a:rPr lang="en-US" altLang="zh-CN" sz="2000" b="1" dirty="0">
                <a:latin typeface="微软雅黑" pitchFamily="34" charset="-122"/>
                <a:ea typeface="微软雅黑" pitchFamily="34" charset="-122"/>
              </a:rPr>
              <a:t>Windows </a:t>
            </a:r>
            <a:r>
              <a:rPr lang="zh-CN" altLang="en-US" sz="2000" b="1" dirty="0">
                <a:latin typeface="微软雅黑" pitchFamily="34" charset="-122"/>
                <a:ea typeface="微软雅黑" pitchFamily="34" charset="-122"/>
              </a:rPr>
              <a:t>操作系统中这个命令是 </a:t>
            </a:r>
            <a:r>
              <a:rPr lang="en-US" altLang="zh-CN" sz="2000" b="1" dirty="0" err="1">
                <a:latin typeface="微软雅黑" pitchFamily="34" charset="-122"/>
                <a:ea typeface="微软雅黑" pitchFamily="34" charset="-122"/>
              </a:rPr>
              <a:t>tracert</a:t>
            </a:r>
            <a:r>
              <a:rPr lang="zh-CN" altLang="en-US" sz="2000" b="1" dirty="0">
                <a:latin typeface="微软雅黑" pitchFamily="34" charset="-122"/>
                <a:ea typeface="微软雅黑" pitchFamily="34" charset="-122"/>
              </a:rPr>
              <a:t>。</a:t>
            </a: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用来跟踪一个分组从源点到终点的</a:t>
            </a:r>
            <a:r>
              <a:rPr lang="zh-CN" altLang="en-US" sz="2000" b="1" dirty="0">
                <a:solidFill>
                  <a:srgbClr val="0000FF"/>
                </a:solidFill>
                <a:latin typeface="微软雅黑" pitchFamily="34" charset="-122"/>
                <a:ea typeface="微软雅黑" pitchFamily="34" charset="-122"/>
              </a:rPr>
              <a:t>路径。</a:t>
            </a: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它利用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数据报中的 </a:t>
            </a:r>
            <a:r>
              <a:rPr lang="en-US" altLang="zh-CN" sz="2000" b="1" dirty="0">
                <a:solidFill>
                  <a:srgbClr val="0000FF"/>
                </a:solidFill>
                <a:latin typeface="微软雅黑" pitchFamily="34" charset="-122"/>
                <a:ea typeface="微软雅黑" pitchFamily="34" charset="-122"/>
              </a:rPr>
              <a:t>TTL </a:t>
            </a:r>
            <a:r>
              <a:rPr lang="zh-CN" altLang="en-US" sz="2000" b="1" dirty="0">
                <a:solidFill>
                  <a:srgbClr val="0000FF"/>
                </a:solidFill>
                <a:latin typeface="微软雅黑" pitchFamily="34" charset="-122"/>
                <a:ea typeface="微软雅黑" pitchFamily="34" charset="-122"/>
              </a:rPr>
              <a:t>字段、</a:t>
            </a:r>
            <a:r>
              <a:rPr lang="en-US" altLang="zh-CN" sz="2000" b="1" dirty="0">
                <a:solidFill>
                  <a:srgbClr val="0000FF"/>
                </a:solidFill>
                <a:latin typeface="微软雅黑" pitchFamily="34" charset="-122"/>
                <a:ea typeface="微软雅黑" pitchFamily="34" charset="-122"/>
              </a:rPr>
              <a:t>ICMP </a:t>
            </a:r>
            <a:r>
              <a:rPr lang="zh-CN" altLang="en-US" sz="2000" b="1" dirty="0">
                <a:solidFill>
                  <a:srgbClr val="0000FF"/>
                </a:solidFill>
                <a:latin typeface="微软雅黑" pitchFamily="34" charset="-122"/>
                <a:ea typeface="微软雅黑" pitchFamily="34" charset="-122"/>
              </a:rPr>
              <a:t>时间超过差错报告报文</a:t>
            </a:r>
            <a:r>
              <a:rPr lang="zh-CN" altLang="en-US" sz="2000" b="1" dirty="0">
                <a:latin typeface="微软雅黑" pitchFamily="34" charset="-122"/>
                <a:ea typeface="微软雅黑" pitchFamily="34" charset="-122"/>
              </a:rPr>
              <a:t>和</a:t>
            </a:r>
            <a:r>
              <a:rPr lang="en-US" altLang="zh-CN" sz="2000" b="1" dirty="0">
                <a:solidFill>
                  <a:srgbClr val="0000FF"/>
                </a:solidFill>
                <a:latin typeface="微软雅黑" pitchFamily="34" charset="-122"/>
                <a:ea typeface="微软雅黑" pitchFamily="34" charset="-122"/>
              </a:rPr>
              <a:t>ICMP </a:t>
            </a:r>
            <a:r>
              <a:rPr lang="zh-CN" altLang="en-US" sz="2000" b="1" dirty="0">
                <a:solidFill>
                  <a:srgbClr val="0000FF"/>
                </a:solidFill>
                <a:latin typeface="微软雅黑" pitchFamily="34" charset="-122"/>
                <a:ea typeface="微软雅黑" pitchFamily="34" charset="-122"/>
              </a:rPr>
              <a:t>终点不可达差错报告报文</a:t>
            </a:r>
            <a:r>
              <a:rPr lang="zh-CN" altLang="en-US" sz="2000" b="1" dirty="0">
                <a:latin typeface="微软雅黑" pitchFamily="34" charset="-122"/>
                <a:ea typeface="微软雅黑" pitchFamily="34" charset="-122"/>
              </a:rPr>
              <a:t>实现对从源点到终点的路径的跟踪。</a:t>
            </a:r>
          </a:p>
        </p:txBody>
      </p:sp>
    </p:spTree>
    <p:extLst>
      <p:ext uri="{BB962C8B-B14F-4D97-AF65-F5344CB8AC3E}">
        <p14:creationId xmlns:p14="http://schemas.microsoft.com/office/powerpoint/2010/main" val="160109985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圆角矩形 3"/>
          <p:cNvSpPr/>
          <p:nvPr/>
        </p:nvSpPr>
        <p:spPr>
          <a:xfrm>
            <a:off x="556963" y="110452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矩形 5"/>
          <p:cNvSpPr/>
          <p:nvPr/>
        </p:nvSpPr>
        <p:spPr>
          <a:xfrm>
            <a:off x="1504332" y="4353117"/>
            <a:ext cx="6151905" cy="307777"/>
          </a:xfrm>
          <a:prstGeom prst="rect">
            <a:avLst/>
          </a:prstGeom>
        </p:spPr>
        <p:txBody>
          <a:bodyPr wrap="square">
            <a:spAutoFit/>
          </a:bodyPr>
          <a:lstStyle/>
          <a:p>
            <a:pPr algn="ctr"/>
            <a:r>
              <a:rPr lang="zh-CN" altLang="en-US" sz="1400" b="1" dirty="0">
                <a:latin typeface="微软雅黑" pitchFamily="34" charset="-122"/>
                <a:ea typeface="微软雅黑" pitchFamily="34" charset="-122"/>
              </a:rPr>
              <a:t>用 </a:t>
            </a:r>
            <a:r>
              <a:rPr lang="en-US" altLang="zh-CN" sz="1400" b="1" dirty="0" err="1">
                <a:latin typeface="微软雅黑" pitchFamily="34" charset="-122"/>
                <a:ea typeface="微软雅黑" pitchFamily="34" charset="-122"/>
              </a:rPr>
              <a:t>tracert</a:t>
            </a:r>
            <a:r>
              <a:rPr lang="en-US" altLang="zh-CN" sz="1400" b="1" dirty="0">
                <a:latin typeface="微软雅黑" pitchFamily="34" charset="-122"/>
                <a:ea typeface="微软雅黑" pitchFamily="34" charset="-122"/>
              </a:rPr>
              <a:t> </a:t>
            </a:r>
            <a:r>
              <a:rPr lang="zh-CN" altLang="en-US" sz="1400" b="1" dirty="0">
                <a:latin typeface="微软雅黑" pitchFamily="34" charset="-122"/>
                <a:ea typeface="微软雅黑" pitchFamily="34" charset="-122"/>
              </a:rPr>
              <a:t>命令获得到新浪网的邮件服务器 </a:t>
            </a:r>
            <a:r>
              <a:rPr lang="en-US" altLang="zh-CN" sz="1400" b="1" dirty="0">
                <a:latin typeface="微软雅黑" pitchFamily="34" charset="-122"/>
                <a:ea typeface="微软雅黑" pitchFamily="34" charset="-122"/>
              </a:rPr>
              <a:t>mail.sina.com.cn </a:t>
            </a:r>
            <a:r>
              <a:rPr lang="zh-CN" altLang="en-US" sz="1400" b="1" dirty="0">
                <a:latin typeface="微软雅黑" pitchFamily="34" charset="-122"/>
                <a:ea typeface="微软雅黑" pitchFamily="34" charset="-122"/>
              </a:rPr>
              <a:t>的路由信息</a:t>
            </a:r>
          </a:p>
        </p:txBody>
      </p:sp>
      <p:sp>
        <p:nvSpPr>
          <p:cNvPr id="7" name="AutoShape 5"/>
          <p:cNvSpPr>
            <a:spLocks noChangeArrowheads="1"/>
          </p:cNvSpPr>
          <p:nvPr/>
        </p:nvSpPr>
        <p:spPr bwMode="auto">
          <a:xfrm>
            <a:off x="545145" y="636674"/>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8" name="Rectangle 6"/>
          <p:cNvSpPr>
            <a:spLocks noChangeArrowheads="1"/>
          </p:cNvSpPr>
          <p:nvPr/>
        </p:nvSpPr>
        <p:spPr bwMode="auto">
          <a:xfrm>
            <a:off x="2787699" y="595811"/>
            <a:ext cx="356860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4.4.2  ICMP </a:t>
            </a:r>
            <a:r>
              <a:rPr lang="zh-CN" altLang="en-US" sz="2400" b="1" dirty="0">
                <a:solidFill>
                  <a:schemeClr val="bg1"/>
                </a:solidFill>
                <a:latin typeface="微软雅黑" pitchFamily="34" charset="-122"/>
                <a:ea typeface="微软雅黑" pitchFamily="34" charset="-122"/>
              </a:rPr>
              <a:t>的应用举例</a:t>
            </a:r>
          </a:p>
        </p:txBody>
      </p:sp>
      <p:pic>
        <p:nvPicPr>
          <p:cNvPr id="10" name="Picture 4" descr="Printscreen-2006-2-19-t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05748" y="1183655"/>
            <a:ext cx="5932505" cy="308984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3903571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9"/>
          <p:cNvSpPr>
            <a:spLocks noChangeArrowheads="1"/>
          </p:cNvSpPr>
          <p:nvPr/>
        </p:nvSpPr>
        <p:spPr bwMode="auto">
          <a:xfrm>
            <a:off x="2629135" y="1172169"/>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3" name="Rectangle 10"/>
          <p:cNvSpPr>
            <a:spLocks noChangeArrowheads="1"/>
          </p:cNvSpPr>
          <p:nvPr/>
        </p:nvSpPr>
        <p:spPr bwMode="auto">
          <a:xfrm>
            <a:off x="2629135" y="1778594"/>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4" name="Rectangle 27"/>
          <p:cNvSpPr>
            <a:spLocks noChangeArrowheads="1"/>
          </p:cNvSpPr>
          <p:nvPr/>
        </p:nvSpPr>
        <p:spPr bwMode="auto">
          <a:xfrm>
            <a:off x="639730" y="1172169"/>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5" name="Rectangle 29"/>
          <p:cNvSpPr>
            <a:spLocks noChangeArrowheads="1"/>
          </p:cNvSpPr>
          <p:nvPr/>
        </p:nvSpPr>
        <p:spPr bwMode="auto">
          <a:xfrm>
            <a:off x="648619" y="1267101"/>
            <a:ext cx="1627651" cy="7078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4.</a:t>
            </a:r>
            <a:r>
              <a:rPr lang="en-US" altLang="zh-CN" sz="2000" b="1" dirty="0">
                <a:solidFill>
                  <a:srgbClr val="FFFF00"/>
                </a:solidFill>
                <a:latin typeface="微软雅黑" pitchFamily="34" charset="-122"/>
                <a:ea typeface="微软雅黑" pitchFamily="34" charset="-122"/>
              </a:rPr>
              <a:t>5</a:t>
            </a:r>
            <a:endParaRPr lang="fr-FR" altLang="zh-CN" sz="2000" b="1" dirty="0">
              <a:solidFill>
                <a:srgbClr val="FFFF00"/>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IPv6</a:t>
            </a:r>
            <a:endParaRPr lang="zh-CN" altLang="en-US" sz="2000" b="1" dirty="0">
              <a:solidFill>
                <a:schemeClr val="bg1"/>
              </a:solidFill>
              <a:latin typeface="微软雅黑" pitchFamily="34" charset="-122"/>
              <a:ea typeface="微软雅黑" pitchFamily="34" charset="-122"/>
            </a:endParaRPr>
          </a:p>
        </p:txBody>
      </p:sp>
      <p:sp>
        <p:nvSpPr>
          <p:cNvPr id="6" name="Rectangle 9"/>
          <p:cNvSpPr>
            <a:spLocks noChangeArrowheads="1"/>
          </p:cNvSpPr>
          <p:nvPr/>
        </p:nvSpPr>
        <p:spPr bwMode="auto">
          <a:xfrm>
            <a:off x="2629135" y="2391805"/>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7" name="Rectangle 10"/>
          <p:cNvSpPr>
            <a:spLocks noChangeArrowheads="1"/>
          </p:cNvSpPr>
          <p:nvPr/>
        </p:nvSpPr>
        <p:spPr bwMode="auto">
          <a:xfrm>
            <a:off x="2629135" y="2998230"/>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9" name="Line 16"/>
          <p:cNvSpPr>
            <a:spLocks noChangeShapeType="1"/>
          </p:cNvSpPr>
          <p:nvPr/>
        </p:nvSpPr>
        <p:spPr bwMode="auto">
          <a:xfrm>
            <a:off x="3637198" y="1091496"/>
            <a:ext cx="0" cy="2283662"/>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 name="Rectangle 8"/>
          <p:cNvSpPr>
            <a:spLocks noChangeArrowheads="1"/>
          </p:cNvSpPr>
          <p:nvPr/>
        </p:nvSpPr>
        <p:spPr bwMode="auto">
          <a:xfrm>
            <a:off x="2700573" y="1137625"/>
            <a:ext cx="5621391" cy="22467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zh-CN" sz="2000" b="1" dirty="0">
                <a:solidFill>
                  <a:schemeClr val="bg1"/>
                </a:solidFill>
                <a:latin typeface="微软雅黑" pitchFamily="34" charset="-122"/>
                <a:ea typeface="微软雅黑" pitchFamily="34" charset="-122"/>
              </a:rPr>
              <a:t>4.5.1                                     IPv6 </a:t>
            </a:r>
            <a:r>
              <a:rPr lang="zh-CN" altLang="en-US" sz="2000" b="1" dirty="0">
                <a:solidFill>
                  <a:schemeClr val="bg1"/>
                </a:solidFill>
                <a:latin typeface="微软雅黑" pitchFamily="34" charset="-122"/>
                <a:ea typeface="微软雅黑" pitchFamily="34" charset="-122"/>
              </a:rPr>
              <a:t>的基本首部</a:t>
            </a:r>
            <a:endParaRPr lang="en-US" altLang="zh-CN" sz="2000" b="1" dirty="0">
              <a:solidFill>
                <a:schemeClr val="bg1"/>
              </a:solidFill>
              <a:latin typeface="微软雅黑" pitchFamily="34" charset="-122"/>
              <a:ea typeface="微软雅黑" pitchFamily="34" charset="-122"/>
            </a:endParaRPr>
          </a:p>
          <a:p>
            <a:endParaRPr lang="zh-CN" altLang="en-US"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4.5.2                                            IPv6 </a:t>
            </a:r>
            <a:r>
              <a:rPr lang="zh-CN" altLang="en-US" sz="2000" b="1" dirty="0">
                <a:solidFill>
                  <a:schemeClr val="bg1"/>
                </a:solidFill>
                <a:latin typeface="微软雅黑" pitchFamily="34" charset="-122"/>
                <a:ea typeface="微软雅黑" pitchFamily="34" charset="-122"/>
              </a:rPr>
              <a:t>的地址</a:t>
            </a:r>
            <a:endParaRPr lang="en-US" altLang="zh-CN" sz="2000" b="1" dirty="0">
              <a:solidFill>
                <a:schemeClr val="bg1"/>
              </a:solidFill>
              <a:latin typeface="微软雅黑" pitchFamily="34" charset="-122"/>
              <a:ea typeface="微软雅黑" pitchFamily="34" charset="-122"/>
            </a:endParaRPr>
          </a:p>
          <a:p>
            <a:endParaRPr lang="zh-CN" altLang="en-US"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4.5.3                              </a:t>
            </a:r>
            <a:r>
              <a:rPr lang="zh-CN" altLang="en-US" sz="2000" b="1" dirty="0">
                <a:solidFill>
                  <a:schemeClr val="bg1"/>
                </a:solidFill>
                <a:latin typeface="微软雅黑" pitchFamily="34" charset="-122"/>
                <a:ea typeface="微软雅黑" pitchFamily="34" charset="-122"/>
              </a:rPr>
              <a:t>从 </a:t>
            </a:r>
            <a:r>
              <a:rPr lang="en-US" altLang="zh-CN" sz="2000" b="1" dirty="0">
                <a:solidFill>
                  <a:schemeClr val="bg1"/>
                </a:solidFill>
                <a:latin typeface="微软雅黑" pitchFamily="34" charset="-122"/>
                <a:ea typeface="微软雅黑" pitchFamily="34" charset="-122"/>
              </a:rPr>
              <a:t>IPv4 </a:t>
            </a:r>
            <a:r>
              <a:rPr lang="zh-CN" altLang="en-US" sz="2000" b="1" dirty="0">
                <a:solidFill>
                  <a:schemeClr val="bg1"/>
                </a:solidFill>
                <a:latin typeface="微软雅黑" pitchFamily="34" charset="-122"/>
                <a:ea typeface="微软雅黑" pitchFamily="34" charset="-122"/>
              </a:rPr>
              <a:t>向 </a:t>
            </a:r>
            <a:r>
              <a:rPr lang="en-US" altLang="zh-CN" sz="2000" b="1" dirty="0">
                <a:solidFill>
                  <a:schemeClr val="bg1"/>
                </a:solidFill>
                <a:latin typeface="微软雅黑" pitchFamily="34" charset="-122"/>
                <a:ea typeface="微软雅黑" pitchFamily="34" charset="-122"/>
              </a:rPr>
              <a:t>IPv6 </a:t>
            </a:r>
            <a:r>
              <a:rPr lang="zh-CN" altLang="en-US" sz="2000" b="1" dirty="0">
                <a:solidFill>
                  <a:schemeClr val="bg1"/>
                </a:solidFill>
                <a:latin typeface="微软雅黑" pitchFamily="34" charset="-122"/>
                <a:ea typeface="微软雅黑" pitchFamily="34" charset="-122"/>
              </a:rPr>
              <a:t>过渡</a:t>
            </a:r>
            <a:endParaRPr lang="en-US" altLang="zh-CN" sz="2000" b="1" dirty="0">
              <a:solidFill>
                <a:schemeClr val="bg1"/>
              </a:solidFill>
              <a:latin typeface="微软雅黑" pitchFamily="34" charset="-122"/>
              <a:ea typeface="微软雅黑" pitchFamily="34" charset="-122"/>
            </a:endParaRPr>
          </a:p>
          <a:p>
            <a:endParaRPr lang="zh-CN" altLang="en-US"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4.5.4                                                 ICMPv6</a:t>
            </a:r>
          </a:p>
        </p:txBody>
      </p:sp>
    </p:spTree>
    <p:extLst>
      <p:ext uri="{BB962C8B-B14F-4D97-AF65-F5344CB8AC3E}">
        <p14:creationId xmlns:p14="http://schemas.microsoft.com/office/powerpoint/2010/main" val="122885400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545145" y="995494"/>
            <a:ext cx="8053712" cy="2900794"/>
          </a:xfrm>
          <a:prstGeom prst="rect">
            <a:avLst/>
          </a:prstGeom>
        </p:spPr>
        <p:txBody>
          <a:bodyPr wrap="square">
            <a:spAutoFit/>
          </a:bodyPr>
          <a:lstStyle/>
          <a:p>
            <a:pPr marL="357188" indent="-357188"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是互联网的核心协议。</a:t>
            </a:r>
          </a:p>
          <a:p>
            <a:pPr marL="357188" indent="-357188"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IPv4 </a:t>
            </a:r>
            <a:r>
              <a:rPr lang="zh-CN" altLang="en-US" sz="2000" b="1" dirty="0">
                <a:latin typeface="微软雅黑" pitchFamily="34" charset="-122"/>
                <a:ea typeface="微软雅黑" pitchFamily="34" charset="-122"/>
              </a:rPr>
              <a:t>地址耗尽问题：</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到 </a:t>
            </a:r>
            <a:r>
              <a:rPr lang="en-US" altLang="zh-CN" sz="2000" b="1" dirty="0">
                <a:latin typeface="微软雅黑" pitchFamily="34" charset="-122"/>
                <a:ea typeface="微软雅黑" pitchFamily="34" charset="-122"/>
              </a:rPr>
              <a:t>2011 </a:t>
            </a:r>
            <a:r>
              <a:rPr lang="zh-CN" altLang="en-US" sz="2000" b="1" dirty="0">
                <a:latin typeface="微软雅黑" pitchFamily="34" charset="-122"/>
                <a:ea typeface="微软雅黑" pitchFamily="34" charset="-122"/>
              </a:rPr>
              <a:t>年 </a:t>
            </a:r>
            <a:r>
              <a:rPr lang="en-US" altLang="zh-CN" sz="2000" b="1" dirty="0">
                <a:latin typeface="微软雅黑" pitchFamily="34" charset="-122"/>
                <a:ea typeface="微软雅黑" pitchFamily="34" charset="-122"/>
              </a:rPr>
              <a:t>2 </a:t>
            </a:r>
            <a:r>
              <a:rPr lang="zh-CN" altLang="en-US" sz="2000" b="1" dirty="0">
                <a:latin typeface="微软雅黑" pitchFamily="34" charset="-122"/>
                <a:ea typeface="微软雅黑" pitchFamily="34" charset="-122"/>
              </a:rPr>
              <a:t>月，</a:t>
            </a:r>
            <a:r>
              <a:rPr lang="en-US" altLang="zh-CN" sz="2000" b="1" dirty="0">
                <a:latin typeface="微软雅黑" pitchFamily="34" charset="-122"/>
                <a:ea typeface="微软雅黑" pitchFamily="34" charset="-122"/>
              </a:rPr>
              <a:t>IANA IPv4 </a:t>
            </a:r>
            <a:r>
              <a:rPr lang="zh-CN" altLang="en-US" sz="2000" b="1" dirty="0">
                <a:latin typeface="微软雅黑" pitchFamily="34" charset="-122"/>
                <a:ea typeface="微软雅黑" pitchFamily="34" charset="-122"/>
              </a:rPr>
              <a:t>的 </a:t>
            </a:r>
            <a:r>
              <a:rPr lang="en-US" altLang="zh-CN" sz="2000" b="1" dirty="0">
                <a:latin typeface="微软雅黑" pitchFamily="34" charset="-122"/>
                <a:ea typeface="微软雅黑" pitchFamily="34" charset="-122"/>
              </a:rPr>
              <a:t>32 </a:t>
            </a:r>
            <a:r>
              <a:rPr lang="zh-CN" altLang="en-US" sz="2000" b="1" dirty="0">
                <a:latin typeface="微软雅黑" pitchFamily="34" charset="-122"/>
                <a:ea typeface="微软雅黑" pitchFamily="34" charset="-122"/>
              </a:rPr>
              <a:t>位地址已经耗尽。</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各地区互联网地址分配机构也相继宣布地址耗尽。</a:t>
            </a: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我国在 </a:t>
            </a:r>
            <a:r>
              <a:rPr lang="en-US" altLang="zh-CN" sz="2000" b="1" dirty="0">
                <a:latin typeface="微软雅黑" pitchFamily="34" charset="-122"/>
                <a:ea typeface="微软雅黑" pitchFamily="34" charset="-122"/>
              </a:rPr>
              <a:t>2014 – 2015 </a:t>
            </a:r>
            <a:r>
              <a:rPr lang="zh-CN" altLang="en-US" sz="2000" b="1" dirty="0">
                <a:latin typeface="微软雅黑" pitchFamily="34" charset="-122"/>
                <a:ea typeface="微软雅黑" pitchFamily="34" charset="-122"/>
              </a:rPr>
              <a:t>年也逐步停止了向新用户和应用分配 </a:t>
            </a:r>
            <a:r>
              <a:rPr lang="en-US" altLang="zh-CN" sz="2000" b="1" dirty="0">
                <a:latin typeface="微软雅黑" pitchFamily="34" charset="-122"/>
                <a:ea typeface="微软雅黑" pitchFamily="34" charset="-122"/>
              </a:rPr>
              <a:t>IPv4 </a:t>
            </a:r>
            <a:r>
              <a:rPr lang="zh-CN" altLang="en-US" sz="2000" b="1" dirty="0">
                <a:latin typeface="微软雅黑" pitchFamily="34" charset="-122"/>
                <a:ea typeface="微软雅黑" pitchFamily="34" charset="-122"/>
              </a:rPr>
              <a:t>地址。</a:t>
            </a:r>
          </a:p>
          <a:p>
            <a:pPr marL="357188" indent="-357188" eaLnBrk="0" hangingPunct="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根本解决措施：</a:t>
            </a:r>
            <a:r>
              <a:rPr lang="zh-CN" altLang="en-US" sz="2000" b="1" dirty="0">
                <a:latin typeface="微软雅黑" pitchFamily="34" charset="-122"/>
                <a:ea typeface="微软雅黑" pitchFamily="34" charset="-122"/>
              </a:rPr>
              <a:t>采用具有更大地址空间的新版本的 </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，即 </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a:t>
            </a:r>
          </a:p>
        </p:txBody>
      </p:sp>
      <p:sp>
        <p:nvSpPr>
          <p:cNvPr id="5" name="AutoShape 5"/>
          <p:cNvSpPr>
            <a:spLocks noChangeArrowheads="1"/>
          </p:cNvSpPr>
          <p:nvPr/>
        </p:nvSpPr>
        <p:spPr bwMode="auto">
          <a:xfrm>
            <a:off x="545144" y="605478"/>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6" name="Rectangle 6"/>
          <p:cNvSpPr>
            <a:spLocks noChangeArrowheads="1"/>
          </p:cNvSpPr>
          <p:nvPr/>
        </p:nvSpPr>
        <p:spPr bwMode="auto">
          <a:xfrm>
            <a:off x="2156973" y="580791"/>
            <a:ext cx="483292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400" b="1" dirty="0">
                <a:solidFill>
                  <a:srgbClr val="FFFF00"/>
                </a:solidFill>
                <a:latin typeface="微软雅黑" pitchFamily="34" charset="-122"/>
                <a:ea typeface="微软雅黑" pitchFamily="34" charset="-122"/>
              </a:rPr>
              <a:t>4.5  </a:t>
            </a:r>
            <a:r>
              <a:rPr lang="en-US" altLang="zh-CN" sz="2400" b="1" dirty="0">
                <a:solidFill>
                  <a:schemeClr val="bg1"/>
                </a:solidFill>
                <a:latin typeface="微软雅黑" pitchFamily="34" charset="-122"/>
                <a:ea typeface="微软雅黑" pitchFamily="34" charset="-122"/>
              </a:rPr>
              <a:t>IPv6</a:t>
            </a:r>
          </a:p>
        </p:txBody>
      </p:sp>
    </p:spTree>
    <p:extLst>
      <p:ext uri="{BB962C8B-B14F-4D97-AF65-F5344CB8AC3E}">
        <p14:creationId xmlns:p14="http://schemas.microsoft.com/office/powerpoint/2010/main" val="421415829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8"/>
          <p:cNvSpPr>
            <a:spLocks noChangeArrowheads="1"/>
          </p:cNvSpPr>
          <p:nvPr/>
        </p:nvSpPr>
        <p:spPr bwMode="auto">
          <a:xfrm>
            <a:off x="545143" y="1002588"/>
            <a:ext cx="8159242" cy="3477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IPv6 </a:t>
            </a:r>
            <a:r>
              <a:rPr lang="zh-CN" altLang="en-US" sz="2000" b="1" dirty="0">
                <a:latin typeface="微软雅黑" pitchFamily="34" charset="-122"/>
                <a:ea typeface="微软雅黑" pitchFamily="34" charset="-122"/>
              </a:rPr>
              <a:t>仍支持</a:t>
            </a:r>
            <a:r>
              <a:rPr lang="zh-CN" altLang="en-US" sz="2000" b="1" dirty="0">
                <a:solidFill>
                  <a:srgbClr val="0000FF"/>
                </a:solidFill>
                <a:latin typeface="微软雅黑" pitchFamily="34" charset="-122"/>
                <a:ea typeface="微软雅黑" pitchFamily="34" charset="-122"/>
              </a:rPr>
              <a:t>无连接的传送</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将协议数据单元 </a:t>
            </a:r>
            <a:r>
              <a:rPr lang="en-US" altLang="zh-CN" sz="2000" b="1" dirty="0">
                <a:latin typeface="微软雅黑" pitchFamily="34" charset="-122"/>
                <a:ea typeface="微软雅黑" pitchFamily="34" charset="-122"/>
              </a:rPr>
              <a:t>PDU </a:t>
            </a:r>
            <a:r>
              <a:rPr lang="zh-CN" altLang="en-US" sz="2000" b="1" dirty="0">
                <a:latin typeface="微软雅黑" pitchFamily="34" charset="-122"/>
                <a:ea typeface="微软雅黑" pitchFamily="34" charset="-122"/>
              </a:rPr>
              <a:t>称为</a:t>
            </a:r>
            <a:r>
              <a:rPr lang="zh-CN" altLang="en-US" sz="2000" b="1" dirty="0">
                <a:solidFill>
                  <a:srgbClr val="0000FF"/>
                </a:solidFill>
                <a:latin typeface="微软雅黑" pitchFamily="34" charset="-122"/>
                <a:ea typeface="微软雅黑" pitchFamily="34" charset="-122"/>
              </a:rPr>
              <a:t>分组 </a:t>
            </a:r>
            <a:r>
              <a:rPr lang="en-US" altLang="zh-CN" sz="2000" b="1" dirty="0">
                <a:latin typeface="微软雅黑" pitchFamily="34" charset="-122"/>
                <a:ea typeface="微软雅黑" pitchFamily="34" charset="-122"/>
              </a:rPr>
              <a:t>(packet)</a:t>
            </a:r>
            <a:r>
              <a:rPr lang="zh-CN" altLang="en-US" sz="2000" b="1" dirty="0">
                <a:latin typeface="微软雅黑" pitchFamily="34" charset="-122"/>
                <a:ea typeface="微软雅黑" pitchFamily="34" charset="-122"/>
              </a:rPr>
              <a:t> 。</a:t>
            </a:r>
          </a:p>
          <a:p>
            <a:pPr marL="285750" indent="-28575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主要变化（</a:t>
            </a:r>
            <a:r>
              <a:rPr lang="en-US" altLang="zh-CN" sz="2000" b="1" dirty="0">
                <a:solidFill>
                  <a:srgbClr val="C00000"/>
                </a:solidFill>
                <a:latin typeface="微软雅黑" pitchFamily="34" charset="-122"/>
                <a:ea typeface="微软雅黑" pitchFamily="34" charset="-122"/>
              </a:rPr>
              <a:t>1/2</a:t>
            </a:r>
            <a:r>
              <a:rPr lang="zh-CN" altLang="en-US" sz="2000" b="1" dirty="0">
                <a:solidFill>
                  <a:srgbClr val="C00000"/>
                </a:solidFill>
                <a:latin typeface="微软雅黑" pitchFamily="34" charset="-122"/>
                <a:ea typeface="微软雅黑" pitchFamily="34" charset="-122"/>
              </a:rPr>
              <a:t>）：</a:t>
            </a:r>
          </a:p>
          <a:p>
            <a:pPr marL="623888" indent="-342900">
              <a:lnSpc>
                <a:spcPts val="3300"/>
              </a:lnSpc>
              <a:buClr>
                <a:srgbClr val="7030A0"/>
              </a:buClr>
              <a:buFont typeface="+mj-lt"/>
              <a:buAutoNum type="arabicPeriod"/>
            </a:pPr>
            <a:r>
              <a:rPr lang="zh-CN" altLang="en-US" sz="2000" b="1" dirty="0">
                <a:solidFill>
                  <a:srgbClr val="0000FF"/>
                </a:solidFill>
                <a:highlight>
                  <a:srgbClr val="FFFF00"/>
                </a:highlight>
                <a:latin typeface="微软雅黑" pitchFamily="34" charset="-122"/>
                <a:ea typeface="微软雅黑" pitchFamily="34" charset="-122"/>
              </a:rPr>
              <a:t>更大的地址空间。</a:t>
            </a:r>
            <a:r>
              <a:rPr lang="en-US" altLang="zh-CN" sz="2000" b="1" dirty="0">
                <a:highlight>
                  <a:srgbClr val="FFFF00"/>
                </a:highlight>
                <a:latin typeface="微软雅黑" pitchFamily="34" charset="-122"/>
                <a:ea typeface="微软雅黑" pitchFamily="34" charset="-122"/>
              </a:rPr>
              <a:t> </a:t>
            </a:r>
            <a:r>
              <a:rPr lang="zh-CN" altLang="en-US" sz="2000" b="1" dirty="0">
                <a:highlight>
                  <a:srgbClr val="FFFF00"/>
                </a:highlight>
                <a:latin typeface="微软雅黑" pitchFamily="34" charset="-122"/>
                <a:ea typeface="微软雅黑" pitchFamily="34" charset="-122"/>
              </a:rPr>
              <a:t>将地址从 </a:t>
            </a:r>
            <a:r>
              <a:rPr lang="en-US" altLang="zh-CN" sz="2000" b="1" dirty="0">
                <a:highlight>
                  <a:srgbClr val="FFFF00"/>
                </a:highlight>
                <a:latin typeface="微软雅黑" pitchFamily="34" charset="-122"/>
                <a:ea typeface="微软雅黑" pitchFamily="34" charset="-122"/>
              </a:rPr>
              <a:t>IPv4 </a:t>
            </a:r>
            <a:r>
              <a:rPr lang="zh-CN" altLang="en-US" sz="2000" b="1" dirty="0">
                <a:highlight>
                  <a:srgbClr val="FFFF00"/>
                </a:highlight>
                <a:latin typeface="微软雅黑" pitchFamily="34" charset="-122"/>
                <a:ea typeface="微软雅黑" pitchFamily="34" charset="-122"/>
              </a:rPr>
              <a:t>的 </a:t>
            </a:r>
            <a:r>
              <a:rPr lang="en-US" altLang="zh-CN" sz="2000" b="1" dirty="0">
                <a:highlight>
                  <a:srgbClr val="FFFF00"/>
                </a:highlight>
                <a:latin typeface="微软雅黑" pitchFamily="34" charset="-122"/>
                <a:ea typeface="微软雅黑" pitchFamily="34" charset="-122"/>
              </a:rPr>
              <a:t>32 </a:t>
            </a:r>
            <a:r>
              <a:rPr lang="zh-CN" altLang="en-US" sz="2000" b="1" dirty="0">
                <a:highlight>
                  <a:srgbClr val="FFFF00"/>
                </a:highlight>
                <a:latin typeface="微软雅黑" pitchFamily="34" charset="-122"/>
                <a:ea typeface="微软雅黑" pitchFamily="34" charset="-122"/>
              </a:rPr>
              <a:t>位 增大到了 </a:t>
            </a:r>
            <a:r>
              <a:rPr lang="en-US" altLang="zh-CN" sz="2000" b="1" dirty="0">
                <a:solidFill>
                  <a:srgbClr val="C00000"/>
                </a:solidFill>
                <a:highlight>
                  <a:srgbClr val="FFFF00"/>
                </a:highlight>
                <a:latin typeface="微软雅黑" pitchFamily="34" charset="-122"/>
                <a:ea typeface="微软雅黑" pitchFamily="34" charset="-122"/>
              </a:rPr>
              <a:t>128 </a:t>
            </a:r>
            <a:r>
              <a:rPr lang="zh-CN" altLang="en-US" sz="2000" b="1" dirty="0">
                <a:solidFill>
                  <a:srgbClr val="C00000"/>
                </a:solidFill>
                <a:highlight>
                  <a:srgbClr val="FFFF00"/>
                </a:highlight>
                <a:latin typeface="微软雅黑" pitchFamily="34" charset="-122"/>
                <a:ea typeface="微软雅黑" pitchFamily="34" charset="-122"/>
              </a:rPr>
              <a:t>位</a:t>
            </a:r>
            <a:r>
              <a:rPr lang="zh-CN" altLang="en-US" sz="2000" b="1" dirty="0">
                <a:solidFill>
                  <a:srgbClr val="C00000"/>
                </a:solidFill>
                <a:latin typeface="微软雅黑" pitchFamily="34" charset="-122"/>
                <a:ea typeface="微软雅黑" pitchFamily="34" charset="-122"/>
              </a:rPr>
              <a:t>。</a:t>
            </a:r>
            <a:r>
              <a:rPr lang="zh-CN" altLang="en-US" sz="2000" b="1" dirty="0">
                <a:latin typeface="微软雅黑" pitchFamily="34" charset="-122"/>
                <a:ea typeface="微软雅黑" pitchFamily="34" charset="-122"/>
              </a:rPr>
              <a:t> </a:t>
            </a:r>
          </a:p>
          <a:p>
            <a:pPr marL="623888" indent="-342900">
              <a:lnSpc>
                <a:spcPts val="3300"/>
              </a:lnSpc>
              <a:buClr>
                <a:srgbClr val="7030A0"/>
              </a:buClr>
              <a:buFont typeface="+mj-lt"/>
              <a:buAutoNum type="arabicPeriod"/>
            </a:pPr>
            <a:r>
              <a:rPr lang="zh-CN" altLang="en-US" sz="2000" b="1" dirty="0">
                <a:solidFill>
                  <a:srgbClr val="0000FF"/>
                </a:solidFill>
                <a:latin typeface="微软雅黑" pitchFamily="34" charset="-122"/>
                <a:ea typeface="微软雅黑" pitchFamily="34" charset="-122"/>
              </a:rPr>
              <a:t>扩展的地址层次结构。</a:t>
            </a:r>
            <a:r>
              <a:rPr lang="zh-CN" altLang="en-US" sz="2000" b="1" dirty="0">
                <a:latin typeface="微软雅黑" pitchFamily="34" charset="-122"/>
                <a:ea typeface="微软雅黑" pitchFamily="34" charset="-122"/>
              </a:rPr>
              <a:t>可以划分为</a:t>
            </a:r>
            <a:r>
              <a:rPr lang="zh-CN" altLang="en-US" sz="2000" b="1" dirty="0">
                <a:solidFill>
                  <a:srgbClr val="C00000"/>
                </a:solidFill>
                <a:latin typeface="微软雅黑" pitchFamily="34" charset="-122"/>
                <a:ea typeface="微软雅黑" pitchFamily="34" charset="-122"/>
              </a:rPr>
              <a:t>更多的层次。 </a:t>
            </a:r>
          </a:p>
          <a:p>
            <a:pPr marL="623888" indent="-342900">
              <a:lnSpc>
                <a:spcPts val="3300"/>
              </a:lnSpc>
              <a:buClr>
                <a:srgbClr val="7030A0"/>
              </a:buClr>
              <a:buFont typeface="+mj-lt"/>
              <a:buAutoNum type="arabicPeriod"/>
            </a:pPr>
            <a:r>
              <a:rPr lang="zh-CN" altLang="en-US" sz="2000" b="1" dirty="0">
                <a:solidFill>
                  <a:srgbClr val="0000FF"/>
                </a:solidFill>
                <a:latin typeface="微软雅黑" pitchFamily="34" charset="-122"/>
                <a:ea typeface="微软雅黑" pitchFamily="34" charset="-122"/>
              </a:rPr>
              <a:t>灵活的首部格式。</a:t>
            </a:r>
            <a:r>
              <a:rPr lang="zh-CN" altLang="en-US" sz="2000" b="1" dirty="0">
                <a:latin typeface="微软雅黑" pitchFamily="34" charset="-122"/>
                <a:ea typeface="微软雅黑" pitchFamily="34" charset="-122"/>
              </a:rPr>
              <a:t>定义了许多可选的</a:t>
            </a:r>
            <a:r>
              <a:rPr lang="zh-CN" altLang="en-US" sz="2000" b="1" dirty="0">
                <a:solidFill>
                  <a:srgbClr val="C00000"/>
                </a:solidFill>
                <a:latin typeface="微软雅黑" pitchFamily="34" charset="-122"/>
                <a:ea typeface="微软雅黑" pitchFamily="34" charset="-122"/>
              </a:rPr>
              <a:t>扩展首部。</a:t>
            </a:r>
          </a:p>
          <a:p>
            <a:pPr marL="623888" indent="-342900">
              <a:lnSpc>
                <a:spcPts val="3300"/>
              </a:lnSpc>
              <a:buClr>
                <a:srgbClr val="7030A0"/>
              </a:buClr>
              <a:buFont typeface="+mj-lt"/>
              <a:buAutoNum type="arabicPeriod"/>
            </a:pPr>
            <a:r>
              <a:rPr lang="zh-CN" altLang="en-US" sz="2000" b="1" dirty="0">
                <a:solidFill>
                  <a:srgbClr val="0000FF"/>
                </a:solidFill>
                <a:latin typeface="微软雅黑" pitchFamily="34" charset="-122"/>
                <a:ea typeface="微软雅黑" pitchFamily="34" charset="-122"/>
              </a:rPr>
              <a:t>改进的选项。</a:t>
            </a:r>
            <a:r>
              <a:rPr lang="zh-CN" altLang="en-US" sz="2000" b="1" dirty="0">
                <a:latin typeface="微软雅黑" pitchFamily="34" charset="-122"/>
                <a:ea typeface="微软雅黑" pitchFamily="34" charset="-122"/>
              </a:rPr>
              <a:t>允许数据报包含有选项的控制信息，其选项放在</a:t>
            </a:r>
            <a:r>
              <a:rPr lang="zh-CN" altLang="en-US" sz="2000" b="1" dirty="0">
                <a:solidFill>
                  <a:srgbClr val="C00000"/>
                </a:solidFill>
                <a:latin typeface="微软雅黑" pitchFamily="34" charset="-122"/>
                <a:ea typeface="微软雅黑" pitchFamily="34" charset="-122"/>
              </a:rPr>
              <a:t>有效载荷</a:t>
            </a:r>
            <a:r>
              <a:rPr lang="zh-CN" altLang="en-US" sz="2000" b="1" dirty="0">
                <a:latin typeface="微软雅黑" pitchFamily="34" charset="-122"/>
                <a:ea typeface="微软雅黑" pitchFamily="34" charset="-122"/>
              </a:rPr>
              <a:t>中。</a:t>
            </a:r>
          </a:p>
        </p:txBody>
      </p:sp>
      <p:sp>
        <p:nvSpPr>
          <p:cNvPr id="5" name="AutoShape 5"/>
          <p:cNvSpPr>
            <a:spLocks noChangeArrowheads="1"/>
          </p:cNvSpPr>
          <p:nvPr/>
        </p:nvSpPr>
        <p:spPr bwMode="auto">
          <a:xfrm>
            <a:off x="545144" y="611161"/>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865444" y="579090"/>
            <a:ext cx="341311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4.5.1  IPv6 </a:t>
            </a:r>
            <a:r>
              <a:rPr lang="zh-CN" altLang="en-US" sz="2400" b="1" dirty="0">
                <a:solidFill>
                  <a:schemeClr val="bg1"/>
                </a:solidFill>
                <a:latin typeface="微软雅黑" pitchFamily="34" charset="-122"/>
                <a:ea typeface="微软雅黑" pitchFamily="34" charset="-122"/>
              </a:rPr>
              <a:t>的基本首部</a:t>
            </a:r>
          </a:p>
        </p:txBody>
      </p:sp>
    </p:spTree>
    <p:extLst>
      <p:ext uri="{BB962C8B-B14F-4D97-AF65-F5344CB8AC3E}">
        <p14:creationId xmlns:p14="http://schemas.microsoft.com/office/powerpoint/2010/main" val="197231072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11161"/>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865444" y="579090"/>
            <a:ext cx="341311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4.5.1  IPv6 </a:t>
            </a:r>
            <a:r>
              <a:rPr lang="zh-CN" altLang="en-US" sz="2400" b="1" dirty="0">
                <a:solidFill>
                  <a:schemeClr val="bg1"/>
                </a:solidFill>
                <a:latin typeface="微软雅黑" pitchFamily="34" charset="-122"/>
                <a:ea typeface="微软雅黑" pitchFamily="34" charset="-122"/>
              </a:rPr>
              <a:t>的基本首部</a:t>
            </a:r>
          </a:p>
        </p:txBody>
      </p:sp>
      <p:sp>
        <p:nvSpPr>
          <p:cNvPr id="4" name="Rectangle 8"/>
          <p:cNvSpPr>
            <a:spLocks noChangeArrowheads="1"/>
          </p:cNvSpPr>
          <p:nvPr/>
        </p:nvSpPr>
        <p:spPr bwMode="auto">
          <a:xfrm>
            <a:off x="545144" y="995192"/>
            <a:ext cx="8053712" cy="26314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主要变化（</a:t>
            </a:r>
            <a:r>
              <a:rPr lang="en-US" altLang="zh-CN" sz="2000" b="1" dirty="0">
                <a:solidFill>
                  <a:srgbClr val="C00000"/>
                </a:solidFill>
                <a:latin typeface="微软雅黑" pitchFamily="34" charset="-122"/>
                <a:ea typeface="微软雅黑" pitchFamily="34" charset="-122"/>
              </a:rPr>
              <a:t>2/2</a:t>
            </a:r>
            <a:r>
              <a:rPr lang="zh-CN" altLang="en-US" sz="2000" b="1" dirty="0">
                <a:solidFill>
                  <a:srgbClr val="C00000"/>
                </a:solidFill>
                <a:latin typeface="微软雅黑" pitchFamily="34" charset="-122"/>
                <a:ea typeface="微软雅黑" pitchFamily="34" charset="-122"/>
              </a:rPr>
              <a:t>）：</a:t>
            </a:r>
          </a:p>
          <a:p>
            <a:pPr marL="541338" indent="-260350">
              <a:lnSpc>
                <a:spcPts val="3300"/>
              </a:lnSpc>
              <a:buClr>
                <a:srgbClr val="7030A0"/>
              </a:buClr>
              <a:buFont typeface="+mj-lt"/>
              <a:buAutoNum type="arabicPeriod" startAt="5"/>
            </a:pPr>
            <a:r>
              <a:rPr lang="zh-CN" altLang="en-US" sz="2000" b="1" dirty="0">
                <a:solidFill>
                  <a:srgbClr val="0000FF"/>
                </a:solidFill>
                <a:latin typeface="微软雅黑" pitchFamily="34" charset="-122"/>
                <a:ea typeface="微软雅黑" pitchFamily="34" charset="-122"/>
              </a:rPr>
              <a:t>允许协议继续扩充。</a:t>
            </a:r>
            <a:r>
              <a:rPr lang="zh-CN" altLang="en-US" sz="2000" b="1" dirty="0">
                <a:latin typeface="微软雅黑" pitchFamily="34" charset="-122"/>
                <a:ea typeface="微软雅黑" pitchFamily="34" charset="-122"/>
              </a:rPr>
              <a:t>更好地适应新的应用。</a:t>
            </a:r>
          </a:p>
          <a:p>
            <a:pPr marL="541338" indent="-260350">
              <a:lnSpc>
                <a:spcPts val="3300"/>
              </a:lnSpc>
              <a:buClr>
                <a:srgbClr val="7030A0"/>
              </a:buClr>
              <a:buFont typeface="+mj-lt"/>
              <a:buAutoNum type="arabicPeriod" startAt="5"/>
            </a:pPr>
            <a:r>
              <a:rPr lang="zh-CN" altLang="en-US" sz="2000" b="1" dirty="0">
                <a:solidFill>
                  <a:srgbClr val="0000FF"/>
                </a:solidFill>
                <a:latin typeface="微软雅黑" pitchFamily="34" charset="-122"/>
                <a:ea typeface="微软雅黑" pitchFamily="34" charset="-122"/>
              </a:rPr>
              <a:t>支持即插即用（即自动配置）。</a:t>
            </a:r>
            <a:r>
              <a:rPr lang="zh-CN" altLang="en-US" sz="2000" b="1" dirty="0">
                <a:latin typeface="微软雅黑" pitchFamily="34" charset="-122"/>
                <a:ea typeface="微软雅黑" pitchFamily="34" charset="-122"/>
              </a:rPr>
              <a:t>不需要使用 </a:t>
            </a:r>
            <a:r>
              <a:rPr lang="en-US" altLang="zh-CN" sz="2000" b="1" dirty="0">
                <a:latin typeface="微软雅黑" pitchFamily="34" charset="-122"/>
                <a:ea typeface="微软雅黑" pitchFamily="34" charset="-122"/>
              </a:rPr>
              <a:t>DHCP</a:t>
            </a:r>
            <a:r>
              <a:rPr lang="zh-CN" altLang="en-US" sz="2000" b="1" dirty="0">
                <a:latin typeface="微软雅黑" pitchFamily="34" charset="-122"/>
                <a:ea typeface="微软雅黑" pitchFamily="34" charset="-122"/>
              </a:rPr>
              <a:t>。</a:t>
            </a:r>
          </a:p>
          <a:p>
            <a:pPr marL="541338" indent="-260350">
              <a:lnSpc>
                <a:spcPts val="3300"/>
              </a:lnSpc>
              <a:buClr>
                <a:srgbClr val="7030A0"/>
              </a:buClr>
              <a:buFont typeface="+mj-lt"/>
              <a:buAutoNum type="arabicPeriod" startAt="5"/>
            </a:pPr>
            <a:r>
              <a:rPr lang="zh-CN" altLang="en-US" sz="2000" b="1" dirty="0">
                <a:solidFill>
                  <a:srgbClr val="0000FF"/>
                </a:solidFill>
                <a:latin typeface="微软雅黑" pitchFamily="34" charset="-122"/>
                <a:ea typeface="微软雅黑" pitchFamily="34" charset="-122"/>
              </a:rPr>
              <a:t>支持资源的预分配。</a:t>
            </a:r>
            <a:r>
              <a:rPr lang="zh-CN" altLang="en-US" sz="2000" b="1" dirty="0">
                <a:latin typeface="微软雅黑" pitchFamily="34" charset="-122"/>
                <a:ea typeface="微软雅黑" pitchFamily="34" charset="-122"/>
              </a:rPr>
              <a:t>支持实时视像等要求保证一定的带宽和时延的应用。</a:t>
            </a:r>
          </a:p>
          <a:p>
            <a:pPr marL="541338" indent="-260350">
              <a:lnSpc>
                <a:spcPts val="3300"/>
              </a:lnSpc>
              <a:buClr>
                <a:srgbClr val="7030A0"/>
              </a:buClr>
              <a:buFont typeface="+mj-lt"/>
              <a:buAutoNum type="arabicPeriod" startAt="5"/>
            </a:pPr>
            <a:r>
              <a:rPr lang="en-US" altLang="zh-CN" sz="2000" b="1" dirty="0">
                <a:solidFill>
                  <a:srgbClr val="0000FF"/>
                </a:solidFill>
                <a:latin typeface="微软雅黑" pitchFamily="34" charset="-122"/>
                <a:ea typeface="微软雅黑" pitchFamily="34" charset="-122"/>
              </a:rPr>
              <a:t>IPv6 </a:t>
            </a:r>
            <a:r>
              <a:rPr lang="zh-CN" altLang="en-US" sz="2000" b="1" dirty="0">
                <a:solidFill>
                  <a:srgbClr val="0000FF"/>
                </a:solidFill>
                <a:latin typeface="微软雅黑" pitchFamily="34" charset="-122"/>
                <a:ea typeface="微软雅黑" pitchFamily="34" charset="-122"/>
              </a:rPr>
              <a:t>首部改为 </a:t>
            </a:r>
            <a:r>
              <a:rPr lang="en-US" altLang="zh-CN" sz="2000" b="1" dirty="0">
                <a:solidFill>
                  <a:srgbClr val="0000FF"/>
                </a:solidFill>
                <a:latin typeface="微软雅黑" pitchFamily="34" charset="-122"/>
                <a:ea typeface="微软雅黑" pitchFamily="34" charset="-122"/>
              </a:rPr>
              <a:t>8 </a:t>
            </a:r>
            <a:r>
              <a:rPr lang="zh-CN" altLang="en-US" sz="2000" b="1" dirty="0">
                <a:solidFill>
                  <a:srgbClr val="0000FF"/>
                </a:solidFill>
                <a:latin typeface="微软雅黑" pitchFamily="34" charset="-122"/>
                <a:ea typeface="微软雅黑" pitchFamily="34" charset="-122"/>
              </a:rPr>
              <a:t>字节对齐。</a:t>
            </a:r>
            <a:r>
              <a:rPr lang="zh-CN" altLang="en-US" sz="2000" b="1" dirty="0">
                <a:latin typeface="微软雅黑" pitchFamily="34" charset="-122"/>
                <a:ea typeface="微软雅黑" pitchFamily="34" charset="-122"/>
              </a:rPr>
              <a:t>首部长度必须是 </a:t>
            </a:r>
            <a:r>
              <a:rPr lang="en-US" altLang="zh-CN" sz="2000" b="1" dirty="0">
                <a:latin typeface="微软雅黑" pitchFamily="34" charset="-122"/>
                <a:ea typeface="微软雅黑" pitchFamily="34" charset="-122"/>
              </a:rPr>
              <a:t>8 </a:t>
            </a:r>
            <a:r>
              <a:rPr lang="zh-CN" altLang="en-US" sz="2000" b="1" dirty="0">
                <a:latin typeface="微软雅黑" pitchFamily="34" charset="-122"/>
                <a:ea typeface="微软雅黑" pitchFamily="34" charset="-122"/>
              </a:rPr>
              <a:t>字节的整数倍。</a:t>
            </a:r>
          </a:p>
        </p:txBody>
      </p:sp>
    </p:spTree>
    <p:extLst>
      <p:ext uri="{BB962C8B-B14F-4D97-AF65-F5344CB8AC3E}">
        <p14:creationId xmlns:p14="http://schemas.microsoft.com/office/powerpoint/2010/main" val="35236345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圆角矩形 35"/>
          <p:cNvSpPr/>
          <p:nvPr/>
        </p:nvSpPr>
        <p:spPr>
          <a:xfrm>
            <a:off x="934719" y="2560962"/>
            <a:ext cx="7000241" cy="1929758"/>
          </a:xfrm>
          <a:prstGeom prst="roundRect">
            <a:avLst/>
          </a:prstGeom>
          <a:solidFill>
            <a:srgbClr val="C3E3F9"/>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 name="Rectangle 8"/>
          <p:cNvSpPr>
            <a:spLocks noChangeArrowheads="1"/>
          </p:cNvSpPr>
          <p:nvPr/>
        </p:nvSpPr>
        <p:spPr bwMode="auto">
          <a:xfrm>
            <a:off x="545144" y="968763"/>
            <a:ext cx="8053711" cy="15286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由两大部分组成：</a:t>
            </a:r>
          </a:p>
          <a:p>
            <a:pPr marL="342900" indent="-342900">
              <a:lnSpc>
                <a:spcPts val="2800"/>
              </a:lnSpc>
              <a:buClr>
                <a:srgbClr val="7030A0"/>
              </a:buClr>
              <a:buFont typeface="+mj-lt"/>
              <a:buAutoNum type="arabicPeriod"/>
            </a:pPr>
            <a:r>
              <a:rPr lang="zh-CN" altLang="en-US" sz="2000" b="1" dirty="0">
                <a:solidFill>
                  <a:srgbClr val="0000FF"/>
                </a:solidFill>
                <a:latin typeface="微软雅黑" pitchFamily="34" charset="-122"/>
                <a:ea typeface="微软雅黑" pitchFamily="34" charset="-122"/>
              </a:rPr>
              <a:t>基本首部 </a:t>
            </a:r>
            <a:r>
              <a:rPr lang="en-US" altLang="zh-CN" sz="2000" b="1" dirty="0">
                <a:latin typeface="微软雅黑" pitchFamily="34" charset="-122"/>
                <a:ea typeface="微软雅黑" pitchFamily="34" charset="-122"/>
              </a:rPr>
              <a:t>(base header)</a:t>
            </a:r>
          </a:p>
          <a:p>
            <a:pPr marL="342900" indent="-342900">
              <a:lnSpc>
                <a:spcPts val="2800"/>
              </a:lnSpc>
              <a:buClr>
                <a:srgbClr val="7030A0"/>
              </a:buClr>
              <a:buFont typeface="+mj-lt"/>
              <a:buAutoNum type="arabicPeriod"/>
            </a:pPr>
            <a:r>
              <a:rPr lang="zh-CN" altLang="en-US" sz="2000" b="1" dirty="0">
                <a:solidFill>
                  <a:srgbClr val="0000FF"/>
                </a:solidFill>
                <a:latin typeface="微软雅黑" pitchFamily="34" charset="-122"/>
                <a:ea typeface="微软雅黑" pitchFamily="34" charset="-122"/>
              </a:rPr>
              <a:t>有效载荷</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(payload)</a:t>
            </a:r>
            <a:r>
              <a:rPr lang="zh-CN" altLang="en-US" sz="2000" b="1" dirty="0">
                <a:latin typeface="微软雅黑" pitchFamily="34" charset="-122"/>
                <a:ea typeface="微软雅黑" pitchFamily="34" charset="-122"/>
              </a:rPr>
              <a:t>。有效载荷也称为净负荷。有效载荷允许有零个或多个</a:t>
            </a:r>
            <a:r>
              <a:rPr lang="zh-CN" altLang="en-US" sz="2000" b="1" dirty="0">
                <a:solidFill>
                  <a:srgbClr val="C00000"/>
                </a:solidFill>
                <a:latin typeface="微软雅黑" pitchFamily="34" charset="-122"/>
                <a:ea typeface="微软雅黑" pitchFamily="34" charset="-122"/>
              </a:rPr>
              <a:t>扩展首部 </a:t>
            </a:r>
            <a:r>
              <a:rPr lang="en-US" altLang="zh-CN" sz="2000" b="1" dirty="0">
                <a:latin typeface="微软雅黑" pitchFamily="34" charset="-122"/>
                <a:ea typeface="微软雅黑" pitchFamily="34" charset="-122"/>
              </a:rPr>
              <a:t>(extension header)</a:t>
            </a:r>
            <a:r>
              <a:rPr lang="zh-CN" altLang="en-US" sz="2000" b="1" dirty="0">
                <a:latin typeface="微软雅黑" pitchFamily="34" charset="-122"/>
                <a:ea typeface="微软雅黑" pitchFamily="34" charset="-122"/>
              </a:rPr>
              <a:t>，再后面是数据部分。</a:t>
            </a:r>
          </a:p>
        </p:txBody>
      </p:sp>
      <p:sp>
        <p:nvSpPr>
          <p:cNvPr id="3" name="AutoShape 5"/>
          <p:cNvSpPr>
            <a:spLocks noChangeArrowheads="1"/>
          </p:cNvSpPr>
          <p:nvPr/>
        </p:nvSpPr>
        <p:spPr bwMode="auto">
          <a:xfrm>
            <a:off x="545144" y="612218"/>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79007"/>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IPv6 </a:t>
            </a:r>
            <a:r>
              <a:rPr lang="zh-CN" altLang="en-US" sz="2000" b="1" dirty="0">
                <a:solidFill>
                  <a:schemeClr val="bg1"/>
                </a:solidFill>
                <a:latin typeface="微软雅黑" pitchFamily="34" charset="-122"/>
                <a:ea typeface="微软雅黑" pitchFamily="34" charset="-122"/>
              </a:rPr>
              <a:t>数据报的一般形式</a:t>
            </a:r>
          </a:p>
        </p:txBody>
      </p:sp>
      <p:grpSp>
        <p:nvGrpSpPr>
          <p:cNvPr id="38" name="组合 37"/>
          <p:cNvGrpSpPr/>
          <p:nvPr/>
        </p:nvGrpSpPr>
        <p:grpSpPr>
          <a:xfrm>
            <a:off x="1688153" y="2690135"/>
            <a:ext cx="5586407" cy="1680982"/>
            <a:chOff x="1688153" y="2730775"/>
            <a:chExt cx="5586407" cy="1680982"/>
          </a:xfrm>
        </p:grpSpPr>
        <p:sp>
          <p:nvSpPr>
            <p:cNvPr id="5" name="Rectangle 2"/>
            <p:cNvSpPr>
              <a:spLocks noChangeArrowheads="1"/>
            </p:cNvSpPr>
            <p:nvPr/>
          </p:nvSpPr>
          <p:spPr bwMode="auto">
            <a:xfrm>
              <a:off x="2725001" y="3008694"/>
              <a:ext cx="4548321" cy="373441"/>
            </a:xfrm>
            <a:prstGeom prst="rect">
              <a:avLst/>
            </a:prstGeom>
            <a:solidFill>
              <a:srgbClr val="0000FF"/>
            </a:solidFill>
            <a:ln w="19050">
              <a:solidFill>
                <a:schemeClr val="tx1"/>
              </a:solidFill>
              <a:miter lim="800000"/>
              <a:headEnd/>
              <a:tailEnd/>
            </a:ln>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6" name="Rectangle 30"/>
            <p:cNvSpPr>
              <a:spLocks noChangeArrowheads="1"/>
            </p:cNvSpPr>
            <p:nvPr/>
          </p:nvSpPr>
          <p:spPr bwMode="auto">
            <a:xfrm>
              <a:off x="3541048" y="3761052"/>
              <a:ext cx="3732273" cy="372323"/>
            </a:xfrm>
            <a:prstGeom prst="rect">
              <a:avLst/>
            </a:prstGeom>
            <a:solidFill>
              <a:srgbClr val="00FFFF"/>
            </a:solidFill>
            <a:ln w="19050">
              <a:solidFill>
                <a:schemeClr val="tx1"/>
              </a:solidFill>
              <a:miter lim="800000"/>
              <a:headEnd/>
              <a:tailEnd/>
            </a:ln>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7" name="Line 3"/>
            <p:cNvSpPr>
              <a:spLocks noChangeShapeType="1"/>
            </p:cNvSpPr>
            <p:nvPr/>
          </p:nvSpPr>
          <p:spPr bwMode="auto">
            <a:xfrm>
              <a:off x="3537334" y="3766643"/>
              <a:ext cx="0" cy="37344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8" name="Line 4"/>
            <p:cNvSpPr>
              <a:spLocks noChangeShapeType="1"/>
            </p:cNvSpPr>
            <p:nvPr/>
          </p:nvSpPr>
          <p:spPr bwMode="auto">
            <a:xfrm>
              <a:off x="4072284" y="3766643"/>
              <a:ext cx="0" cy="37344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9" name="Line 5"/>
            <p:cNvSpPr>
              <a:spLocks noChangeShapeType="1"/>
            </p:cNvSpPr>
            <p:nvPr/>
          </p:nvSpPr>
          <p:spPr bwMode="auto">
            <a:xfrm>
              <a:off x="4410343" y="3766643"/>
              <a:ext cx="0" cy="37344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10" name="Line 6"/>
            <p:cNvSpPr>
              <a:spLocks noChangeShapeType="1"/>
            </p:cNvSpPr>
            <p:nvPr/>
          </p:nvSpPr>
          <p:spPr bwMode="auto">
            <a:xfrm>
              <a:off x="4971299" y="3766643"/>
              <a:ext cx="0" cy="37344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11" name="Text Box 15"/>
            <p:cNvSpPr txBox="1">
              <a:spLocks noChangeArrowheads="1"/>
            </p:cNvSpPr>
            <p:nvPr/>
          </p:nvSpPr>
          <p:spPr bwMode="auto">
            <a:xfrm>
              <a:off x="2636456" y="3062081"/>
              <a:ext cx="999889"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algn="ctr" eaLnBrk="1" hangingPunct="1">
                <a:lnSpc>
                  <a:spcPct val="90000"/>
                </a:lnSpc>
              </a:pPr>
              <a:r>
                <a:rPr lang="zh-CN" altLang="en-US" sz="1400" b="1" dirty="0">
                  <a:solidFill>
                    <a:schemeClr val="bg1"/>
                  </a:solidFill>
                  <a:latin typeface="微软雅黑" pitchFamily="34" charset="-122"/>
                  <a:ea typeface="微软雅黑" pitchFamily="34" charset="-122"/>
                </a:rPr>
                <a:t>基本首部</a:t>
              </a:r>
            </a:p>
          </p:txBody>
        </p:sp>
        <p:sp>
          <p:nvSpPr>
            <p:cNvPr id="12" name="Text Box 16"/>
            <p:cNvSpPr txBox="1">
              <a:spLocks noChangeArrowheads="1"/>
            </p:cNvSpPr>
            <p:nvPr/>
          </p:nvSpPr>
          <p:spPr bwMode="auto">
            <a:xfrm>
              <a:off x="3499559" y="3758003"/>
              <a:ext cx="659018"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algn="ctr" eaLnBrk="1" hangingPunct="1">
                <a:lnSpc>
                  <a:spcPct val="90000"/>
                </a:lnSpc>
              </a:pPr>
              <a:r>
                <a:rPr lang="en-US" altLang="zh-CN" sz="1100" b="1" dirty="0">
                  <a:latin typeface="微软雅黑" pitchFamily="34" charset="-122"/>
                  <a:ea typeface="微软雅黑" pitchFamily="34" charset="-122"/>
                </a:rPr>
                <a:t> </a:t>
              </a:r>
              <a:r>
                <a:rPr lang="zh-CN" altLang="en-US" sz="1100" b="1" dirty="0">
                  <a:latin typeface="微软雅黑" pitchFamily="34" charset="-122"/>
                  <a:ea typeface="微软雅黑" pitchFamily="34" charset="-122"/>
                </a:rPr>
                <a:t>扩展</a:t>
              </a:r>
            </a:p>
            <a:p>
              <a:pPr algn="ctr" eaLnBrk="1" hangingPunct="1">
                <a:lnSpc>
                  <a:spcPct val="90000"/>
                </a:lnSpc>
              </a:pPr>
              <a:r>
                <a:rPr lang="zh-CN" altLang="en-US" sz="1100" b="1" dirty="0">
                  <a:latin typeface="微软雅黑" pitchFamily="34" charset="-122"/>
                  <a:ea typeface="微软雅黑" pitchFamily="34" charset="-122"/>
                </a:rPr>
                <a:t>首部 </a:t>
              </a:r>
              <a:r>
                <a:rPr lang="en-US" altLang="zh-CN" sz="1100" b="1" dirty="0">
                  <a:latin typeface="微软雅黑" pitchFamily="34" charset="-122"/>
                  <a:ea typeface="微软雅黑" pitchFamily="34" charset="-122"/>
                </a:rPr>
                <a:t>1</a:t>
              </a:r>
            </a:p>
          </p:txBody>
        </p:sp>
        <p:sp>
          <p:nvSpPr>
            <p:cNvPr id="13" name="Text Box 17"/>
            <p:cNvSpPr txBox="1">
              <a:spLocks noChangeArrowheads="1"/>
            </p:cNvSpPr>
            <p:nvPr/>
          </p:nvSpPr>
          <p:spPr bwMode="auto">
            <a:xfrm>
              <a:off x="4340305" y="3749058"/>
              <a:ext cx="696301"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algn="ctr" eaLnBrk="1" hangingPunct="1">
                <a:lnSpc>
                  <a:spcPct val="90000"/>
                </a:lnSpc>
              </a:pPr>
              <a:r>
                <a:rPr lang="en-US" altLang="zh-CN" sz="1100" b="1" dirty="0">
                  <a:latin typeface="微软雅黑" pitchFamily="34" charset="-122"/>
                  <a:ea typeface="微软雅黑" pitchFamily="34" charset="-122"/>
                </a:rPr>
                <a:t> </a:t>
              </a:r>
              <a:r>
                <a:rPr lang="zh-CN" altLang="en-US" sz="1100" b="1" dirty="0">
                  <a:latin typeface="微软雅黑" pitchFamily="34" charset="-122"/>
                  <a:ea typeface="微软雅黑" pitchFamily="34" charset="-122"/>
                </a:rPr>
                <a:t>扩展</a:t>
              </a:r>
            </a:p>
            <a:p>
              <a:pPr algn="ctr" eaLnBrk="1" hangingPunct="1">
                <a:lnSpc>
                  <a:spcPct val="90000"/>
                </a:lnSpc>
              </a:pPr>
              <a:r>
                <a:rPr lang="zh-CN" altLang="en-US" sz="1100" b="1" dirty="0">
                  <a:latin typeface="微软雅黑" pitchFamily="34" charset="-122"/>
                  <a:ea typeface="微软雅黑" pitchFamily="34" charset="-122"/>
                </a:rPr>
                <a:t>首部 </a:t>
              </a:r>
              <a:r>
                <a:rPr lang="en-US" altLang="zh-CN" sz="1100" b="1" dirty="0">
                  <a:latin typeface="微软雅黑" pitchFamily="34" charset="-122"/>
                  <a:ea typeface="微软雅黑" pitchFamily="34" charset="-122"/>
                </a:rPr>
                <a:t>N</a:t>
              </a:r>
            </a:p>
          </p:txBody>
        </p:sp>
        <p:sp>
          <p:nvSpPr>
            <p:cNvPr id="14" name="Text Box 18"/>
            <p:cNvSpPr txBox="1">
              <a:spLocks noChangeArrowheads="1"/>
            </p:cNvSpPr>
            <p:nvPr/>
          </p:nvSpPr>
          <p:spPr bwMode="auto">
            <a:xfrm>
              <a:off x="4033335" y="3786109"/>
              <a:ext cx="40159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en-US" altLang="zh-CN" sz="1100" b="1" dirty="0">
                  <a:solidFill>
                    <a:srgbClr val="000099"/>
                  </a:solidFill>
                  <a:latin typeface="微软雅黑" pitchFamily="34" charset="-122"/>
                  <a:ea typeface="微软雅黑" pitchFamily="34" charset="-122"/>
                </a:rPr>
                <a:t> …</a:t>
              </a:r>
            </a:p>
          </p:txBody>
        </p:sp>
        <p:sp>
          <p:nvSpPr>
            <p:cNvPr id="15" name="Text Box 19"/>
            <p:cNvSpPr txBox="1">
              <a:spLocks noChangeArrowheads="1"/>
            </p:cNvSpPr>
            <p:nvPr/>
          </p:nvSpPr>
          <p:spPr bwMode="auto">
            <a:xfrm>
              <a:off x="5462456" y="3829410"/>
              <a:ext cx="138337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zh-CN" altLang="en-US" sz="1100" b="1" dirty="0">
                  <a:latin typeface="微软雅黑" pitchFamily="34" charset="-122"/>
                  <a:ea typeface="微软雅黑" pitchFamily="34" charset="-122"/>
                </a:rPr>
                <a:t>数    据    部    分</a:t>
              </a:r>
            </a:p>
          </p:txBody>
        </p:sp>
        <p:sp>
          <p:nvSpPr>
            <p:cNvPr id="16" name="Line 22"/>
            <p:cNvSpPr>
              <a:spLocks noChangeShapeType="1"/>
            </p:cNvSpPr>
            <p:nvPr/>
          </p:nvSpPr>
          <p:spPr bwMode="auto">
            <a:xfrm>
              <a:off x="3511329" y="4268663"/>
              <a:ext cx="1459971" cy="0"/>
            </a:xfrm>
            <a:prstGeom prst="line">
              <a:avLst/>
            </a:prstGeom>
            <a:noFill/>
            <a:ln w="1905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17" name="Text Box 23"/>
            <p:cNvSpPr txBox="1">
              <a:spLocks noChangeArrowheads="1"/>
            </p:cNvSpPr>
            <p:nvPr/>
          </p:nvSpPr>
          <p:spPr bwMode="auto">
            <a:xfrm>
              <a:off x="4012845" y="4150147"/>
              <a:ext cx="516988" cy="261610"/>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zh-CN" altLang="en-US" sz="1100" b="1" dirty="0">
                  <a:solidFill>
                    <a:srgbClr val="0000FF"/>
                  </a:solidFill>
                  <a:latin typeface="微软雅黑" pitchFamily="34" charset="-122"/>
                  <a:ea typeface="微软雅黑" pitchFamily="34" charset="-122"/>
                </a:rPr>
                <a:t>选项</a:t>
              </a:r>
            </a:p>
          </p:txBody>
        </p:sp>
        <p:grpSp>
          <p:nvGrpSpPr>
            <p:cNvPr id="18" name="组合 26"/>
            <p:cNvGrpSpPr>
              <a:grpSpLocks/>
            </p:cNvGrpSpPr>
            <p:nvPr/>
          </p:nvGrpSpPr>
          <p:grpSpPr bwMode="auto">
            <a:xfrm>
              <a:off x="2725001" y="2784185"/>
              <a:ext cx="4549559" cy="191192"/>
              <a:chOff x="1331640" y="1700808"/>
              <a:chExt cx="5832648" cy="344488"/>
            </a:xfrm>
          </p:grpSpPr>
          <p:sp>
            <p:nvSpPr>
              <p:cNvPr id="19" name="Line 25"/>
              <p:cNvSpPr>
                <a:spLocks noChangeShapeType="1"/>
              </p:cNvSpPr>
              <p:nvPr/>
            </p:nvSpPr>
            <p:spPr bwMode="auto">
              <a:xfrm>
                <a:off x="1331640" y="1700808"/>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20" name="Line 26"/>
              <p:cNvSpPr>
                <a:spLocks noChangeShapeType="1"/>
              </p:cNvSpPr>
              <p:nvPr/>
            </p:nvSpPr>
            <p:spPr bwMode="auto">
              <a:xfrm>
                <a:off x="7164288" y="1707158"/>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grpSp>
        <p:sp>
          <p:nvSpPr>
            <p:cNvPr id="21" name="Line 27"/>
            <p:cNvSpPr>
              <a:spLocks noChangeShapeType="1"/>
            </p:cNvSpPr>
            <p:nvPr/>
          </p:nvSpPr>
          <p:spPr bwMode="auto">
            <a:xfrm flipV="1">
              <a:off x="2725001" y="2876985"/>
              <a:ext cx="4540890" cy="0"/>
            </a:xfrm>
            <a:prstGeom prst="line">
              <a:avLst/>
            </a:prstGeom>
            <a:noFill/>
            <a:ln w="1905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22" name="Text Box 28"/>
            <p:cNvSpPr txBox="1">
              <a:spLocks noChangeArrowheads="1"/>
            </p:cNvSpPr>
            <p:nvPr/>
          </p:nvSpPr>
          <p:spPr bwMode="auto">
            <a:xfrm>
              <a:off x="4487119" y="2730775"/>
              <a:ext cx="1062029" cy="261610"/>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en-US" altLang="zh-CN" sz="1100" b="1" dirty="0">
                  <a:solidFill>
                    <a:srgbClr val="0000FF"/>
                  </a:solidFill>
                  <a:latin typeface="微软雅黑" pitchFamily="34" charset="-122"/>
                  <a:ea typeface="微软雅黑" pitchFamily="34" charset="-122"/>
                </a:rPr>
                <a:t>IPv6 </a:t>
              </a:r>
              <a:r>
                <a:rPr lang="zh-CN" altLang="en-US" sz="1100" b="1" dirty="0">
                  <a:solidFill>
                    <a:srgbClr val="0000FF"/>
                  </a:solidFill>
                  <a:latin typeface="微软雅黑" pitchFamily="34" charset="-122"/>
                  <a:ea typeface="微软雅黑" pitchFamily="34" charset="-122"/>
                </a:rPr>
                <a:t>数据报</a:t>
              </a:r>
            </a:p>
          </p:txBody>
        </p:sp>
        <p:cxnSp>
          <p:nvCxnSpPr>
            <p:cNvPr id="23" name="直接连接符 32"/>
            <p:cNvCxnSpPr>
              <a:cxnSpLocks noChangeShapeType="1"/>
            </p:cNvCxnSpPr>
            <p:nvPr/>
          </p:nvCxnSpPr>
          <p:spPr bwMode="auto">
            <a:xfrm>
              <a:off x="3545017" y="3406959"/>
              <a:ext cx="0" cy="422451"/>
            </a:xfrm>
            <a:prstGeom prst="line">
              <a:avLst/>
            </a:prstGeom>
            <a:noFill/>
            <a:ln w="19050" algn="ctr">
              <a:solidFill>
                <a:schemeClr val="tx1"/>
              </a:solidFill>
              <a:prstDash val="dash"/>
              <a:round/>
              <a:headEnd/>
              <a:tailEnd/>
            </a:ln>
            <a:extLst>
              <a:ext uri="{909E8E84-426E-40DD-AFC4-6F175D3DCCD1}">
                <a14:hiddenFill xmlns:a14="http://schemas.microsoft.com/office/drawing/2010/main">
                  <a:noFill/>
                </a14:hiddenFill>
              </a:ext>
            </a:extLst>
          </p:spPr>
        </p:cxnSp>
        <p:cxnSp>
          <p:nvCxnSpPr>
            <p:cNvPr id="24" name="直接连接符 34"/>
            <p:cNvCxnSpPr>
              <a:cxnSpLocks noChangeShapeType="1"/>
            </p:cNvCxnSpPr>
            <p:nvPr/>
          </p:nvCxnSpPr>
          <p:spPr bwMode="auto">
            <a:xfrm>
              <a:off x="7273321" y="3406959"/>
              <a:ext cx="0" cy="422451"/>
            </a:xfrm>
            <a:prstGeom prst="line">
              <a:avLst/>
            </a:prstGeom>
            <a:noFill/>
            <a:ln w="19050" algn="ctr">
              <a:solidFill>
                <a:schemeClr val="tx1"/>
              </a:solidFill>
              <a:prstDash val="dash"/>
              <a:round/>
              <a:headEnd/>
              <a:tailEnd/>
            </a:ln>
            <a:extLst>
              <a:ext uri="{909E8E84-426E-40DD-AFC4-6F175D3DCCD1}">
                <a14:hiddenFill xmlns:a14="http://schemas.microsoft.com/office/drawing/2010/main">
                  <a:noFill/>
                </a14:hiddenFill>
              </a:ext>
            </a:extLst>
          </p:spPr>
        </p:cxnSp>
        <p:sp>
          <p:nvSpPr>
            <p:cNvPr id="25" name="Text Box 23"/>
            <p:cNvSpPr txBox="1">
              <a:spLocks noChangeArrowheads="1"/>
            </p:cNvSpPr>
            <p:nvPr/>
          </p:nvSpPr>
          <p:spPr bwMode="auto">
            <a:xfrm>
              <a:off x="2771341" y="3398014"/>
              <a:ext cx="728084"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en-US" altLang="zh-CN" sz="1200" b="1" dirty="0">
                  <a:solidFill>
                    <a:srgbClr val="CC0099"/>
                  </a:solidFill>
                  <a:latin typeface="微软雅黑" pitchFamily="34" charset="-122"/>
                  <a:ea typeface="微软雅黑" pitchFamily="34" charset="-122"/>
                </a:rPr>
                <a:t>40 </a:t>
              </a:r>
              <a:r>
                <a:rPr lang="zh-CN" altLang="en-US" sz="1200" b="1" dirty="0">
                  <a:solidFill>
                    <a:srgbClr val="CC0099"/>
                  </a:solidFill>
                  <a:latin typeface="微软雅黑" pitchFamily="34" charset="-122"/>
                  <a:ea typeface="微软雅黑" pitchFamily="34" charset="-122"/>
                </a:rPr>
                <a:t>字节</a:t>
              </a:r>
            </a:p>
          </p:txBody>
        </p:sp>
        <p:sp>
          <p:nvSpPr>
            <p:cNvPr id="26" name="Line 27"/>
            <p:cNvSpPr>
              <a:spLocks noChangeShapeType="1"/>
            </p:cNvSpPr>
            <p:nvPr/>
          </p:nvSpPr>
          <p:spPr bwMode="auto">
            <a:xfrm>
              <a:off x="3539810" y="3541129"/>
              <a:ext cx="3734750" cy="3355"/>
            </a:xfrm>
            <a:prstGeom prst="line">
              <a:avLst/>
            </a:prstGeom>
            <a:noFill/>
            <a:ln w="1905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27" name="Text Box 23"/>
            <p:cNvSpPr txBox="1">
              <a:spLocks noChangeArrowheads="1"/>
            </p:cNvSpPr>
            <p:nvPr/>
          </p:nvSpPr>
          <p:spPr bwMode="auto">
            <a:xfrm>
              <a:off x="4593614" y="3412550"/>
              <a:ext cx="1557357" cy="261610"/>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zh-CN" altLang="en-US" sz="1100" b="1">
                  <a:solidFill>
                    <a:srgbClr val="0000FF"/>
                  </a:solidFill>
                  <a:latin typeface="微软雅黑" pitchFamily="34" charset="-122"/>
                  <a:ea typeface="微软雅黑" pitchFamily="34" charset="-122"/>
                </a:rPr>
                <a:t>不超过 </a:t>
              </a:r>
              <a:r>
                <a:rPr lang="en-US" altLang="zh-CN" sz="1100" b="1">
                  <a:solidFill>
                    <a:srgbClr val="0000FF"/>
                  </a:solidFill>
                  <a:latin typeface="微软雅黑" pitchFamily="34" charset="-122"/>
                  <a:ea typeface="微软雅黑" pitchFamily="34" charset="-122"/>
                </a:rPr>
                <a:t>65535 </a:t>
              </a:r>
              <a:r>
                <a:rPr lang="zh-CN" altLang="en-US" sz="1100" b="1">
                  <a:solidFill>
                    <a:srgbClr val="0000FF"/>
                  </a:solidFill>
                  <a:latin typeface="微软雅黑" pitchFamily="34" charset="-122"/>
                  <a:ea typeface="微软雅黑" pitchFamily="34" charset="-122"/>
                </a:rPr>
                <a:t>字节</a:t>
              </a:r>
            </a:p>
          </p:txBody>
        </p:sp>
        <p:sp>
          <p:nvSpPr>
            <p:cNvPr id="28" name="右箭头 28"/>
            <p:cNvSpPr>
              <a:spLocks noChangeArrowheads="1"/>
            </p:cNvSpPr>
            <p:nvPr/>
          </p:nvSpPr>
          <p:spPr bwMode="auto">
            <a:xfrm rot="10800000">
              <a:off x="2162806" y="3119157"/>
              <a:ext cx="562194" cy="143115"/>
            </a:xfrm>
            <a:prstGeom prst="rightArrow">
              <a:avLst>
                <a:gd name="adj1" fmla="val 50000"/>
                <a:gd name="adj2" fmla="val 162073"/>
              </a:avLst>
            </a:prstGeom>
            <a:solidFill>
              <a:srgbClr val="FF00FF"/>
            </a:solidFill>
            <a:ln w="9525" algn="ctr">
              <a:solidFill>
                <a:schemeClr val="tx1"/>
              </a:solidFill>
              <a:round/>
              <a:headEnd/>
              <a:tailEnd/>
            </a:ln>
          </p:spPr>
          <p:txBody>
            <a:bodyPr/>
            <a:lstStyle/>
            <a:p>
              <a:endParaRPr lang="zh-CN" altLang="en-US" sz="1100" b="1">
                <a:solidFill>
                  <a:srgbClr val="000099"/>
                </a:solidFill>
                <a:latin typeface="微软雅黑" pitchFamily="34" charset="-122"/>
                <a:ea typeface="微软雅黑" pitchFamily="34" charset="-122"/>
              </a:endParaRPr>
            </a:p>
          </p:txBody>
        </p:sp>
        <p:sp>
          <p:nvSpPr>
            <p:cNvPr id="29" name="Text Box 23"/>
            <p:cNvSpPr txBox="1">
              <a:spLocks noChangeArrowheads="1"/>
            </p:cNvSpPr>
            <p:nvPr/>
          </p:nvSpPr>
          <p:spPr bwMode="auto">
            <a:xfrm>
              <a:off x="1688153" y="3337862"/>
              <a:ext cx="82945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zh-CN" altLang="en-US" sz="1100" b="1" dirty="0">
                  <a:solidFill>
                    <a:srgbClr val="0000FF"/>
                  </a:solidFill>
                  <a:latin typeface="微软雅黑" pitchFamily="34" charset="-122"/>
                  <a:ea typeface="微软雅黑" pitchFamily="34" charset="-122"/>
                </a:rPr>
                <a:t>发送在前</a:t>
              </a:r>
            </a:p>
          </p:txBody>
        </p:sp>
        <p:sp>
          <p:nvSpPr>
            <p:cNvPr id="30" name="Line 3"/>
            <p:cNvSpPr>
              <a:spLocks noChangeShapeType="1"/>
            </p:cNvSpPr>
            <p:nvPr/>
          </p:nvSpPr>
          <p:spPr bwMode="auto">
            <a:xfrm>
              <a:off x="3537334" y="3006684"/>
              <a:ext cx="0" cy="37344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31" name="矩形 30"/>
            <p:cNvSpPr/>
            <p:nvPr/>
          </p:nvSpPr>
          <p:spPr bwMode="auto">
            <a:xfrm>
              <a:off x="3543525" y="3017865"/>
              <a:ext cx="3722367" cy="362260"/>
            </a:xfrm>
            <a:prstGeom prst="rect">
              <a:avLst/>
            </a:prstGeom>
            <a:solidFill>
              <a:srgbClr val="99FFCC"/>
            </a:solidFill>
            <a:ln w="9525" cap="flat" cmpd="sng" algn="ctr">
              <a:noFill/>
              <a:prstDash val="solid"/>
              <a:round/>
              <a:headEnd type="none" w="med" len="med"/>
              <a:tailEnd type="none" w="med" len="med"/>
            </a:ln>
            <a:effectLst/>
          </p:spPr>
          <p:txBody>
            <a:bodyPr/>
            <a:lstStyle/>
            <a:p>
              <a:pPr>
                <a:defRPr/>
              </a:pPr>
              <a:endParaRPr lang="zh-CN" altLang="en-US" sz="1100" b="1">
                <a:solidFill>
                  <a:srgbClr val="000099"/>
                </a:solidFill>
                <a:latin typeface="微软雅黑" pitchFamily="34" charset="-122"/>
                <a:ea typeface="微软雅黑" pitchFamily="34" charset="-122"/>
              </a:endParaRPr>
            </a:p>
          </p:txBody>
        </p:sp>
        <p:sp>
          <p:nvSpPr>
            <p:cNvPr id="32" name="Text Box 33"/>
            <p:cNvSpPr txBox="1">
              <a:spLocks noChangeArrowheads="1"/>
            </p:cNvSpPr>
            <p:nvPr/>
          </p:nvSpPr>
          <p:spPr bwMode="auto">
            <a:xfrm>
              <a:off x="3894722" y="3046735"/>
              <a:ext cx="311882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algn="ctr" eaLnBrk="1" hangingPunct="1"/>
              <a:r>
                <a:rPr lang="zh-CN" altLang="en-US" sz="1400" b="1" dirty="0">
                  <a:latin typeface="微软雅黑" pitchFamily="34" charset="-122"/>
                  <a:ea typeface="微软雅黑" pitchFamily="34" charset="-122"/>
                </a:rPr>
                <a:t>有     效     载     荷</a:t>
              </a:r>
            </a:p>
          </p:txBody>
        </p:sp>
      </p:grpSp>
    </p:spTree>
    <p:extLst>
      <p:ext uri="{BB962C8B-B14F-4D97-AF65-F5344CB8AC3E}">
        <p14:creationId xmlns:p14="http://schemas.microsoft.com/office/powerpoint/2010/main" val="10174951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4" y="969615"/>
            <a:ext cx="8053711" cy="8361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a:lnSpc>
                <a:spcPts val="2900"/>
              </a:lnSpc>
              <a:buClr>
                <a:srgbClr val="0070C0"/>
              </a:buClr>
              <a:buFont typeface="Wingdings" pitchFamily="2" charset="2"/>
              <a:buChar char="l"/>
            </a:pPr>
            <a:r>
              <a:rPr lang="zh-CN" altLang="en-US" sz="2000" b="1" dirty="0">
                <a:latin typeface="微软雅黑" pitchFamily="34" charset="-122"/>
                <a:ea typeface="微软雅黑" pitchFamily="34" charset="-122"/>
              </a:rPr>
              <a:t>首部长度：</a:t>
            </a:r>
            <a:r>
              <a:rPr lang="zh-CN" altLang="en-US" sz="2000" b="1" dirty="0">
                <a:solidFill>
                  <a:srgbClr val="0000FF"/>
                </a:solidFill>
                <a:latin typeface="微软雅黑" pitchFamily="34" charset="-122"/>
                <a:ea typeface="微软雅黑" pitchFamily="34" charset="-122"/>
              </a:rPr>
              <a:t>固定的 </a:t>
            </a:r>
            <a:r>
              <a:rPr lang="en-US" altLang="zh-CN" sz="2000" b="1" dirty="0">
                <a:solidFill>
                  <a:srgbClr val="0000FF"/>
                </a:solidFill>
                <a:latin typeface="微软雅黑" pitchFamily="34" charset="-122"/>
                <a:ea typeface="微软雅黑" pitchFamily="34" charset="-122"/>
              </a:rPr>
              <a:t>40 </a:t>
            </a:r>
            <a:r>
              <a:rPr lang="zh-CN" altLang="en-US" sz="2000" b="1" dirty="0">
                <a:solidFill>
                  <a:srgbClr val="0000FF"/>
                </a:solidFill>
                <a:latin typeface="微软雅黑" pitchFamily="34" charset="-122"/>
                <a:ea typeface="微软雅黑" pitchFamily="34" charset="-122"/>
              </a:rPr>
              <a:t>字节</a:t>
            </a:r>
            <a:r>
              <a:rPr lang="zh-CN" altLang="en-US" sz="2000" b="1" dirty="0">
                <a:latin typeface="微软雅黑" pitchFamily="34" charset="-122"/>
                <a:ea typeface="微软雅黑" pitchFamily="34" charset="-122"/>
              </a:rPr>
              <a:t>，称为</a:t>
            </a:r>
            <a:r>
              <a:rPr lang="zh-CN" altLang="en-US" sz="2000" b="1" dirty="0">
                <a:solidFill>
                  <a:srgbClr val="0000FF"/>
                </a:solidFill>
                <a:latin typeface="微软雅黑" pitchFamily="34" charset="-122"/>
                <a:ea typeface="微软雅黑" pitchFamily="34" charset="-122"/>
              </a:rPr>
              <a:t>基本首部</a:t>
            </a:r>
            <a:r>
              <a:rPr lang="zh-CN" altLang="en-US" sz="2000" b="1" dirty="0">
                <a:latin typeface="微软雅黑" pitchFamily="34" charset="-122"/>
                <a:ea typeface="微软雅黑" pitchFamily="34" charset="-122"/>
              </a:rPr>
              <a:t>。</a:t>
            </a:r>
          </a:p>
          <a:p>
            <a:pPr marL="342900" indent="-342900">
              <a:lnSpc>
                <a:spcPts val="2900"/>
              </a:lnSpc>
              <a:buClr>
                <a:srgbClr val="0070C0"/>
              </a:buClr>
              <a:buFont typeface="Wingdings" pitchFamily="2" charset="2"/>
              <a:buChar char="l"/>
            </a:pPr>
            <a:r>
              <a:rPr lang="zh-CN" altLang="en-US" sz="2000" b="1" dirty="0">
                <a:latin typeface="微软雅黑" pitchFamily="34" charset="-122"/>
                <a:ea typeface="微软雅黑" pitchFamily="34" charset="-122"/>
              </a:rPr>
              <a:t>首部字段数：只有 </a:t>
            </a:r>
            <a:r>
              <a:rPr lang="en-US" altLang="zh-CN" sz="2000" b="1" dirty="0">
                <a:latin typeface="微软雅黑" pitchFamily="34" charset="-122"/>
                <a:ea typeface="微软雅黑" pitchFamily="34" charset="-122"/>
              </a:rPr>
              <a:t>8 </a:t>
            </a:r>
            <a:r>
              <a:rPr lang="zh-CN" altLang="en-US" sz="2000" b="1" dirty="0">
                <a:latin typeface="微软雅黑" pitchFamily="34" charset="-122"/>
                <a:ea typeface="微软雅黑" pitchFamily="34" charset="-122"/>
              </a:rPr>
              <a:t>个。</a:t>
            </a:r>
          </a:p>
        </p:txBody>
      </p:sp>
      <p:sp>
        <p:nvSpPr>
          <p:cNvPr id="3" name="AutoShape 5"/>
          <p:cNvSpPr>
            <a:spLocks noChangeArrowheads="1"/>
          </p:cNvSpPr>
          <p:nvPr/>
        </p:nvSpPr>
        <p:spPr bwMode="auto">
          <a:xfrm>
            <a:off x="545144" y="613326"/>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0115"/>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IPv6 </a:t>
            </a:r>
            <a:r>
              <a:rPr lang="zh-CN" altLang="en-US" sz="2000" b="1" dirty="0">
                <a:solidFill>
                  <a:schemeClr val="bg1"/>
                </a:solidFill>
                <a:latin typeface="微软雅黑" pitchFamily="34" charset="-122"/>
                <a:ea typeface="微软雅黑" pitchFamily="34" charset="-122"/>
              </a:rPr>
              <a:t>数据报的基本首部</a:t>
            </a:r>
          </a:p>
        </p:txBody>
      </p:sp>
      <p:graphicFrame>
        <p:nvGraphicFramePr>
          <p:cNvPr id="35" name="表格 34"/>
          <p:cNvGraphicFramePr>
            <a:graphicFrameLocks noGrp="1"/>
          </p:cNvGraphicFramePr>
          <p:nvPr>
            <p:extLst>
              <p:ext uri="{D42A27DB-BD31-4B8C-83A1-F6EECF244321}">
                <p14:modId xmlns:p14="http://schemas.microsoft.com/office/powerpoint/2010/main" val="78395050"/>
              </p:ext>
            </p:extLst>
          </p:nvPr>
        </p:nvGraphicFramePr>
        <p:xfrm>
          <a:off x="615346" y="2152261"/>
          <a:ext cx="7685374" cy="2190560"/>
        </p:xfrm>
        <a:graphic>
          <a:graphicData uri="http://schemas.openxmlformats.org/drawingml/2006/table">
            <a:tbl>
              <a:tblPr firstRow="1" bandRow="1">
                <a:tableStyleId>{5C22544A-7EE6-4342-B048-85BDC9FD1C3A}</a:tableStyleId>
              </a:tblPr>
              <a:tblGrid>
                <a:gridCol w="3599373">
                  <a:extLst>
                    <a:ext uri="{9D8B030D-6E8A-4147-A177-3AD203B41FA5}">
                      <a16:colId xmlns:a16="http://schemas.microsoft.com/office/drawing/2014/main" val="20000"/>
                    </a:ext>
                  </a:extLst>
                </a:gridCol>
                <a:gridCol w="4086001">
                  <a:extLst>
                    <a:ext uri="{9D8B030D-6E8A-4147-A177-3AD203B41FA5}">
                      <a16:colId xmlns:a16="http://schemas.microsoft.com/office/drawing/2014/main" val="20001"/>
                    </a:ext>
                  </a:extLst>
                </a:gridCol>
              </a:tblGrid>
              <a:tr h="1257129">
                <a:tc>
                  <a:txBody>
                    <a:bodyPr/>
                    <a:lstStyle/>
                    <a:p>
                      <a:pPr marL="342900" lvl="0" indent="-342900">
                        <a:lnSpc>
                          <a:spcPts val="2800"/>
                        </a:lnSpc>
                        <a:buClr>
                          <a:srgbClr val="CC00CC"/>
                        </a:buClr>
                        <a:buSzPct val="80000"/>
                        <a:buFont typeface="Wingdings" pitchFamily="2" charset="2"/>
                        <a:buChar char="l"/>
                      </a:pPr>
                      <a:r>
                        <a:rPr lang="zh-CN" altLang="zh-CN" sz="1800" dirty="0">
                          <a:solidFill>
                            <a:schemeClr val="tx1"/>
                          </a:solidFill>
                          <a:latin typeface="微软雅黑" pitchFamily="34" charset="-122"/>
                          <a:ea typeface="微软雅黑" pitchFamily="34" charset="-122"/>
                        </a:rPr>
                        <a:t>取消了首部长度字段</a:t>
                      </a:r>
                      <a:r>
                        <a:rPr lang="zh-CN" altLang="en-US" sz="1800" b="1" kern="1200" dirty="0">
                          <a:solidFill>
                            <a:schemeClr val="tx1"/>
                          </a:solidFill>
                          <a:latin typeface="微软雅黑" pitchFamily="34" charset="-122"/>
                          <a:ea typeface="微软雅黑" pitchFamily="34" charset="-122"/>
                          <a:cs typeface="+mn-cs"/>
                        </a:rPr>
                        <a:t>；</a:t>
                      </a:r>
                      <a:endParaRPr lang="en-US" altLang="zh-CN" sz="1800" b="1" kern="1200" dirty="0">
                        <a:solidFill>
                          <a:schemeClr val="tx1"/>
                        </a:solidFill>
                        <a:latin typeface="微软雅黑" pitchFamily="34" charset="-122"/>
                        <a:ea typeface="微软雅黑" pitchFamily="34" charset="-122"/>
                        <a:cs typeface="+mn-cs"/>
                      </a:endParaRPr>
                    </a:p>
                    <a:p>
                      <a:pPr marL="342900" lvl="0" indent="-342900">
                        <a:lnSpc>
                          <a:spcPts val="2800"/>
                        </a:lnSpc>
                        <a:buClr>
                          <a:srgbClr val="CC00CC"/>
                        </a:buClr>
                        <a:buSzPct val="80000"/>
                        <a:buFont typeface="Wingdings" pitchFamily="2" charset="2"/>
                        <a:buChar char="l"/>
                      </a:pPr>
                      <a:r>
                        <a:rPr lang="zh-CN" altLang="zh-CN" sz="1800" dirty="0">
                          <a:solidFill>
                            <a:schemeClr val="tx1"/>
                          </a:solidFill>
                          <a:latin typeface="微软雅黑" pitchFamily="34" charset="-122"/>
                          <a:ea typeface="微软雅黑" pitchFamily="34" charset="-122"/>
                        </a:rPr>
                        <a:t>取消了服务类型字段</a:t>
                      </a:r>
                      <a:r>
                        <a:rPr lang="zh-CN" altLang="en-US" sz="1800" dirty="0">
                          <a:solidFill>
                            <a:schemeClr val="tx1"/>
                          </a:solidFill>
                          <a:latin typeface="微软雅黑" pitchFamily="34" charset="-122"/>
                          <a:ea typeface="微软雅黑" pitchFamily="34" charset="-122"/>
                        </a:rPr>
                        <a:t>；</a:t>
                      </a:r>
                      <a:endParaRPr lang="en-US" altLang="zh-CN" sz="1800" dirty="0">
                        <a:solidFill>
                          <a:schemeClr val="tx1"/>
                        </a:solidFill>
                        <a:latin typeface="微软雅黑" pitchFamily="34" charset="-122"/>
                        <a:ea typeface="微软雅黑" pitchFamily="34" charset="-122"/>
                      </a:endParaRPr>
                    </a:p>
                    <a:p>
                      <a:pPr marL="342900" lvl="0" indent="-342900">
                        <a:lnSpc>
                          <a:spcPts val="2800"/>
                        </a:lnSpc>
                        <a:buClr>
                          <a:srgbClr val="CC00CC"/>
                        </a:buClr>
                        <a:buSzPct val="80000"/>
                        <a:buFont typeface="Wingdings" pitchFamily="2" charset="2"/>
                        <a:buChar char="l"/>
                      </a:pPr>
                      <a:r>
                        <a:rPr lang="zh-CN" altLang="zh-CN" sz="1800" dirty="0">
                          <a:solidFill>
                            <a:schemeClr val="tx1"/>
                          </a:solidFill>
                          <a:latin typeface="微软雅黑" pitchFamily="34" charset="-122"/>
                          <a:ea typeface="微软雅黑" pitchFamily="34" charset="-122"/>
                        </a:rPr>
                        <a:t>取消了总长度字段</a:t>
                      </a:r>
                      <a:r>
                        <a:rPr lang="zh-CN" altLang="en-US" sz="1800" dirty="0">
                          <a:solidFill>
                            <a:schemeClr val="tx1"/>
                          </a:solidFill>
                          <a:latin typeface="微软雅黑" pitchFamily="34" charset="-122"/>
                          <a:ea typeface="微软雅黑" pitchFamily="34" charset="-122"/>
                        </a:rPr>
                        <a:t>，</a:t>
                      </a:r>
                      <a:r>
                        <a:rPr lang="zh-CN" altLang="zh-CN" sz="1800" dirty="0">
                          <a:solidFill>
                            <a:schemeClr val="tx1"/>
                          </a:solidFill>
                          <a:latin typeface="微软雅黑" pitchFamily="34" charset="-122"/>
                          <a:ea typeface="微软雅黑" pitchFamily="34" charset="-122"/>
                        </a:rPr>
                        <a:t>改用有效载荷长度字段</a:t>
                      </a:r>
                      <a:r>
                        <a:rPr lang="zh-CN" altLang="en-US" sz="1800" dirty="0">
                          <a:solidFill>
                            <a:schemeClr val="tx1"/>
                          </a:solidFill>
                          <a:latin typeface="微软雅黑" pitchFamily="34" charset="-122"/>
                          <a:ea typeface="微软雅黑" pitchFamily="34" charset="-122"/>
                        </a:rPr>
                        <a:t>；</a:t>
                      </a:r>
                      <a:endParaRPr lang="en-US" altLang="zh-CN" sz="1800" dirty="0">
                        <a:solidFill>
                          <a:schemeClr val="tx1"/>
                        </a:solidFill>
                        <a:latin typeface="微软雅黑" pitchFamily="34" charset="-122"/>
                        <a:ea typeface="微软雅黑"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marL="342900" marR="0" lvl="0" indent="-342900" algn="l" defTabSz="914400" rtl="0" eaLnBrk="1" fontAlgn="auto" latinLnBrk="0" hangingPunct="1">
                        <a:lnSpc>
                          <a:spcPts val="2800"/>
                        </a:lnSpc>
                        <a:spcBef>
                          <a:spcPts val="0"/>
                        </a:spcBef>
                        <a:spcAft>
                          <a:spcPts val="0"/>
                        </a:spcAft>
                        <a:buClr>
                          <a:srgbClr val="CC00CC"/>
                        </a:buClr>
                        <a:buSzPct val="80000"/>
                        <a:buFont typeface="Wingdings" pitchFamily="2" charset="2"/>
                        <a:buChar char="l"/>
                        <a:tabLst/>
                        <a:defRPr/>
                      </a:pPr>
                      <a:r>
                        <a:rPr lang="zh-CN" altLang="zh-CN" sz="1800" dirty="0">
                          <a:solidFill>
                            <a:schemeClr val="tx1"/>
                          </a:solidFill>
                          <a:latin typeface="微软雅黑" pitchFamily="34" charset="-122"/>
                          <a:ea typeface="微软雅黑" pitchFamily="34" charset="-122"/>
                        </a:rPr>
                        <a:t>把</a:t>
                      </a:r>
                      <a:r>
                        <a:rPr lang="en-US" altLang="zh-CN" sz="1800" dirty="0">
                          <a:solidFill>
                            <a:schemeClr val="tx1"/>
                          </a:solidFill>
                          <a:latin typeface="微软雅黑" pitchFamily="34" charset="-122"/>
                          <a:ea typeface="微软雅黑" pitchFamily="34" charset="-122"/>
                        </a:rPr>
                        <a:t> TTL </a:t>
                      </a:r>
                      <a:r>
                        <a:rPr lang="zh-CN" altLang="zh-CN" sz="1800" dirty="0">
                          <a:solidFill>
                            <a:schemeClr val="tx1"/>
                          </a:solidFill>
                          <a:latin typeface="微软雅黑" pitchFamily="34" charset="-122"/>
                          <a:ea typeface="微软雅黑" pitchFamily="34" charset="-122"/>
                        </a:rPr>
                        <a:t>字段改称为跳数限制字段</a:t>
                      </a:r>
                      <a:r>
                        <a:rPr lang="zh-CN" altLang="en-US" sz="1800" dirty="0">
                          <a:solidFill>
                            <a:schemeClr val="tx1"/>
                          </a:solidFill>
                          <a:latin typeface="微软雅黑" pitchFamily="34" charset="-122"/>
                          <a:ea typeface="微软雅黑" pitchFamily="34" charset="-122"/>
                        </a:rPr>
                        <a:t>；</a:t>
                      </a:r>
                      <a:endParaRPr lang="en-US" altLang="zh-CN" sz="1800" dirty="0">
                        <a:solidFill>
                          <a:schemeClr val="tx1"/>
                        </a:solidFill>
                        <a:latin typeface="微软雅黑" pitchFamily="34" charset="-122"/>
                        <a:ea typeface="微软雅黑" pitchFamily="34" charset="-122"/>
                      </a:endParaRPr>
                    </a:p>
                    <a:p>
                      <a:pPr marL="342900" lvl="0" indent="-342900">
                        <a:lnSpc>
                          <a:spcPts val="2800"/>
                        </a:lnSpc>
                        <a:buClr>
                          <a:srgbClr val="CC00CC"/>
                        </a:buClr>
                        <a:buSzPct val="80000"/>
                        <a:buFont typeface="Wingdings" pitchFamily="2" charset="2"/>
                        <a:buChar char="l"/>
                      </a:pPr>
                      <a:r>
                        <a:rPr lang="zh-CN" altLang="zh-CN" sz="1800" dirty="0">
                          <a:solidFill>
                            <a:schemeClr val="tx1"/>
                          </a:solidFill>
                          <a:latin typeface="微软雅黑" pitchFamily="34" charset="-122"/>
                          <a:ea typeface="微软雅黑" pitchFamily="34" charset="-122"/>
                        </a:rPr>
                        <a:t>取消了协议字段，改用下一个首部字段</a:t>
                      </a:r>
                      <a:r>
                        <a:rPr lang="zh-CN" altLang="en-US" sz="1800" dirty="0">
                          <a:solidFill>
                            <a:schemeClr val="tx1"/>
                          </a:solidFill>
                          <a:latin typeface="微软雅黑" pitchFamily="34" charset="-122"/>
                          <a:ea typeface="微软雅黑" pitchFamily="34" charset="-122"/>
                        </a:rPr>
                        <a:t>；</a:t>
                      </a:r>
                      <a:endParaRPr lang="en-US" altLang="zh-CN" sz="1800" dirty="0">
                        <a:solidFill>
                          <a:schemeClr val="tx1"/>
                        </a:solidFill>
                        <a:latin typeface="微软雅黑" pitchFamily="34" charset="-122"/>
                        <a:ea typeface="微软雅黑" pitchFamily="34" charset="-122"/>
                      </a:endParaRPr>
                    </a:p>
                    <a:p>
                      <a:pPr marL="342900" lvl="0" indent="-342900">
                        <a:lnSpc>
                          <a:spcPts val="2800"/>
                        </a:lnSpc>
                        <a:buClr>
                          <a:srgbClr val="CC00CC"/>
                        </a:buClr>
                        <a:buSzPct val="80000"/>
                        <a:buFont typeface="Wingdings" pitchFamily="2" charset="2"/>
                        <a:buChar char="l"/>
                      </a:pPr>
                      <a:r>
                        <a:rPr lang="zh-CN" altLang="zh-CN" sz="1800" dirty="0">
                          <a:solidFill>
                            <a:schemeClr val="tx1"/>
                          </a:solidFill>
                          <a:latin typeface="微软雅黑" pitchFamily="34" charset="-122"/>
                          <a:ea typeface="微软雅黑" pitchFamily="34" charset="-122"/>
                        </a:rPr>
                        <a:t>取消了检验和字段</a:t>
                      </a:r>
                      <a:r>
                        <a:rPr lang="zh-CN" altLang="en-US" sz="1800" dirty="0">
                          <a:solidFill>
                            <a:schemeClr val="tx1"/>
                          </a:solidFill>
                          <a:latin typeface="微软雅黑" pitchFamily="34" charset="-122"/>
                          <a:ea typeface="微软雅黑" pitchFamily="34" charset="-122"/>
                        </a:rPr>
                        <a:t>；</a:t>
                      </a:r>
                      <a:endParaRPr lang="en-US" altLang="zh-CN" sz="1800" dirty="0">
                        <a:solidFill>
                          <a:schemeClr val="tx1"/>
                        </a:solidFill>
                        <a:latin typeface="微软雅黑" pitchFamily="34" charset="-122"/>
                        <a:ea typeface="微软雅黑" pitchFamily="34" charset="-122"/>
                      </a:endParaRPr>
                    </a:p>
                    <a:p>
                      <a:pPr marL="342900" lvl="0" indent="-342900">
                        <a:lnSpc>
                          <a:spcPts val="2800"/>
                        </a:lnSpc>
                        <a:buClr>
                          <a:srgbClr val="CC00CC"/>
                        </a:buClr>
                        <a:buSzPct val="80000"/>
                        <a:buFont typeface="Wingdings" pitchFamily="2" charset="2"/>
                        <a:buChar char="l"/>
                      </a:pPr>
                      <a:r>
                        <a:rPr lang="zh-CN" altLang="zh-CN" sz="1800" dirty="0">
                          <a:solidFill>
                            <a:schemeClr val="tx1"/>
                          </a:solidFill>
                          <a:latin typeface="微软雅黑" pitchFamily="34" charset="-122"/>
                          <a:ea typeface="微软雅黑" pitchFamily="34" charset="-122"/>
                        </a:rPr>
                        <a:t>取消了选项字段，而用扩展首部来实现选项功能。</a:t>
                      </a:r>
                      <a:endParaRPr lang="zh-CN" altLang="en-US" sz="1800" dirty="0">
                        <a:solidFill>
                          <a:schemeClr val="tx1"/>
                        </a:solidFill>
                        <a:latin typeface="微软雅黑" pitchFamily="34" charset="-122"/>
                        <a:ea typeface="微软雅黑" pitchFamily="34" charset="-122"/>
                      </a:endParaRPr>
                    </a:p>
                  </a:txBody>
                  <a:tcPr marL="180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0"/>
                  </a:ext>
                </a:extLst>
              </a:tr>
            </a:tbl>
          </a:graphicData>
        </a:graphic>
      </p:graphicFrame>
      <p:sp>
        <p:nvSpPr>
          <p:cNvPr id="5" name="矩形 4"/>
          <p:cNvSpPr/>
          <p:nvPr/>
        </p:nvSpPr>
        <p:spPr>
          <a:xfrm>
            <a:off x="2082373" y="1803249"/>
            <a:ext cx="5119659" cy="369332"/>
          </a:xfrm>
          <a:prstGeom prst="rect">
            <a:avLst/>
          </a:prstGeom>
        </p:spPr>
        <p:txBody>
          <a:bodyPr wrap="square">
            <a:spAutoFit/>
          </a:bodyPr>
          <a:lstStyle/>
          <a:p>
            <a:pPr algn="ctr">
              <a:buClr>
                <a:srgbClr val="0070C0"/>
              </a:buClr>
            </a:pPr>
            <a:r>
              <a:rPr lang="en-US" altLang="zh-CN" b="1" dirty="0">
                <a:latin typeface="微软雅黑" pitchFamily="34" charset="-122"/>
                <a:ea typeface="微软雅黑" pitchFamily="34" charset="-122"/>
              </a:rPr>
              <a:t>IPv6 </a:t>
            </a:r>
            <a:r>
              <a:rPr lang="zh-CN" altLang="en-US" b="1" dirty="0">
                <a:latin typeface="微软雅黑" pitchFamily="34" charset="-122"/>
                <a:ea typeface="微软雅黑" pitchFamily="34" charset="-122"/>
              </a:rPr>
              <a:t>对首部的主要</a:t>
            </a:r>
            <a:r>
              <a:rPr lang="zh-CN" altLang="en-US" b="1" dirty="0">
                <a:solidFill>
                  <a:srgbClr val="0000FF"/>
                </a:solidFill>
                <a:latin typeface="微软雅黑" pitchFamily="34" charset="-122"/>
                <a:ea typeface="微软雅黑" pitchFamily="34" charset="-122"/>
              </a:rPr>
              <a:t>更改</a:t>
            </a:r>
            <a:endParaRPr lang="zh-CN" altLang="en-US" b="1" dirty="0">
              <a:latin typeface="微软雅黑" pitchFamily="34" charset="-122"/>
              <a:ea typeface="微软雅黑" pitchFamily="34" charset="-122"/>
            </a:endParaRPr>
          </a:p>
        </p:txBody>
      </p:sp>
    </p:spTree>
    <p:extLst>
      <p:ext uri="{BB962C8B-B14F-4D97-AF65-F5344CB8AC3E}">
        <p14:creationId xmlns:p14="http://schemas.microsoft.com/office/powerpoint/2010/main" val="394067475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Rectangle 2"/>
          <p:cNvSpPr>
            <a:spLocks noChangeArrowheads="1"/>
          </p:cNvSpPr>
          <p:nvPr/>
        </p:nvSpPr>
        <p:spPr bwMode="auto">
          <a:xfrm>
            <a:off x="2630958" y="847062"/>
            <a:ext cx="4042800" cy="3148312"/>
          </a:xfrm>
          <a:prstGeom prst="rect">
            <a:avLst/>
          </a:prstGeom>
          <a:solidFill>
            <a:srgbClr val="99FFCC"/>
          </a:solidFill>
          <a:ln w="381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 name="Line 3"/>
          <p:cNvSpPr>
            <a:spLocks noChangeShapeType="1"/>
          </p:cNvSpPr>
          <p:nvPr/>
        </p:nvSpPr>
        <p:spPr bwMode="auto">
          <a:xfrm>
            <a:off x="2635360" y="1058358"/>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 name="Line 4"/>
          <p:cNvSpPr>
            <a:spLocks noChangeShapeType="1"/>
          </p:cNvSpPr>
          <p:nvPr/>
        </p:nvSpPr>
        <p:spPr bwMode="auto">
          <a:xfrm>
            <a:off x="3134547" y="847943"/>
            <a:ext cx="0" cy="21129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 name="Line 5"/>
          <p:cNvSpPr>
            <a:spLocks noChangeShapeType="1"/>
          </p:cNvSpPr>
          <p:nvPr/>
        </p:nvSpPr>
        <p:spPr bwMode="auto">
          <a:xfrm>
            <a:off x="4654119"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 name="Rectangle 6"/>
          <p:cNvSpPr>
            <a:spLocks noChangeArrowheads="1"/>
          </p:cNvSpPr>
          <p:nvPr/>
        </p:nvSpPr>
        <p:spPr bwMode="auto">
          <a:xfrm>
            <a:off x="2588699"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0</a:t>
            </a:r>
          </a:p>
        </p:txBody>
      </p:sp>
      <p:sp>
        <p:nvSpPr>
          <p:cNvPr id="8" name="Rectangle 7"/>
          <p:cNvSpPr>
            <a:spLocks noChangeArrowheads="1"/>
          </p:cNvSpPr>
          <p:nvPr/>
        </p:nvSpPr>
        <p:spPr bwMode="auto">
          <a:xfrm>
            <a:off x="3089647"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4</a:t>
            </a:r>
          </a:p>
        </p:txBody>
      </p:sp>
      <p:sp>
        <p:nvSpPr>
          <p:cNvPr id="9" name="Rectangle 8"/>
          <p:cNvSpPr>
            <a:spLocks noChangeArrowheads="1"/>
          </p:cNvSpPr>
          <p:nvPr/>
        </p:nvSpPr>
        <p:spPr bwMode="auto">
          <a:xfrm>
            <a:off x="4603936"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16</a:t>
            </a:r>
          </a:p>
        </p:txBody>
      </p:sp>
      <p:sp>
        <p:nvSpPr>
          <p:cNvPr id="10" name="Rectangle 9"/>
          <p:cNvSpPr>
            <a:spLocks noChangeArrowheads="1"/>
          </p:cNvSpPr>
          <p:nvPr/>
        </p:nvSpPr>
        <p:spPr bwMode="auto">
          <a:xfrm>
            <a:off x="6487993"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31</a:t>
            </a:r>
          </a:p>
        </p:txBody>
      </p:sp>
      <p:sp>
        <p:nvSpPr>
          <p:cNvPr id="11" name="Rectangle 10"/>
          <p:cNvSpPr>
            <a:spLocks noChangeArrowheads="1"/>
          </p:cNvSpPr>
          <p:nvPr/>
        </p:nvSpPr>
        <p:spPr bwMode="auto">
          <a:xfrm>
            <a:off x="2670612" y="820698"/>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版本</a:t>
            </a:r>
          </a:p>
        </p:txBody>
      </p:sp>
      <p:sp>
        <p:nvSpPr>
          <p:cNvPr id="12" name="Rectangle 11"/>
          <p:cNvSpPr>
            <a:spLocks noChangeArrowheads="1"/>
          </p:cNvSpPr>
          <p:nvPr/>
        </p:nvSpPr>
        <p:spPr bwMode="auto">
          <a:xfrm>
            <a:off x="2246223" y="631364"/>
            <a:ext cx="32380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dirty="0">
                <a:solidFill>
                  <a:srgbClr val="0000CC"/>
                </a:solidFill>
                <a:latin typeface="微软雅黑" pitchFamily="34" charset="-122"/>
                <a:ea typeface="微软雅黑" pitchFamily="34" charset="-122"/>
              </a:rPr>
              <a:t>位</a:t>
            </a:r>
          </a:p>
        </p:txBody>
      </p:sp>
      <p:sp>
        <p:nvSpPr>
          <p:cNvPr id="13" name="Line 12"/>
          <p:cNvSpPr>
            <a:spLocks noChangeShapeType="1"/>
          </p:cNvSpPr>
          <p:nvPr/>
        </p:nvSpPr>
        <p:spPr bwMode="auto">
          <a:xfrm>
            <a:off x="2630958" y="1292545"/>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3"/>
          <p:cNvSpPr>
            <a:spLocks noChangeShapeType="1"/>
          </p:cNvSpPr>
          <p:nvPr/>
        </p:nvSpPr>
        <p:spPr bwMode="auto">
          <a:xfrm>
            <a:off x="2631838" y="1526731"/>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4"/>
          <p:cNvSpPr>
            <a:spLocks noChangeShapeType="1"/>
          </p:cNvSpPr>
          <p:nvPr/>
        </p:nvSpPr>
        <p:spPr bwMode="auto">
          <a:xfrm>
            <a:off x="2631838" y="1761798"/>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5"/>
          <p:cNvSpPr>
            <a:spLocks noChangeShapeType="1"/>
          </p:cNvSpPr>
          <p:nvPr/>
        </p:nvSpPr>
        <p:spPr bwMode="auto">
          <a:xfrm>
            <a:off x="2631838" y="199686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6"/>
          <p:cNvSpPr>
            <a:spLocks noChangeShapeType="1"/>
          </p:cNvSpPr>
          <p:nvPr/>
        </p:nvSpPr>
        <p:spPr bwMode="auto">
          <a:xfrm>
            <a:off x="2631838" y="223193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7"/>
          <p:cNvSpPr>
            <a:spLocks noChangeShapeType="1"/>
          </p:cNvSpPr>
          <p:nvPr/>
        </p:nvSpPr>
        <p:spPr bwMode="auto">
          <a:xfrm>
            <a:off x="2631838" y="2466119"/>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8"/>
          <p:cNvSpPr>
            <a:spLocks noChangeShapeType="1"/>
          </p:cNvSpPr>
          <p:nvPr/>
        </p:nvSpPr>
        <p:spPr bwMode="auto">
          <a:xfrm>
            <a:off x="2631838" y="270118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9"/>
          <p:cNvSpPr>
            <a:spLocks noChangeShapeType="1"/>
          </p:cNvSpPr>
          <p:nvPr/>
        </p:nvSpPr>
        <p:spPr bwMode="auto">
          <a:xfrm>
            <a:off x="2631838" y="293537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Rectangle 20"/>
          <p:cNvSpPr>
            <a:spLocks noChangeArrowheads="1"/>
          </p:cNvSpPr>
          <p:nvPr/>
        </p:nvSpPr>
        <p:spPr bwMode="auto">
          <a:xfrm>
            <a:off x="2756855" y="2387763"/>
            <a:ext cx="3798929" cy="62596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Rectangle 21"/>
          <p:cNvSpPr>
            <a:spLocks noChangeArrowheads="1"/>
          </p:cNvSpPr>
          <p:nvPr/>
        </p:nvSpPr>
        <p:spPr bwMode="auto">
          <a:xfrm>
            <a:off x="2756855" y="1469987"/>
            <a:ext cx="3798929" cy="62684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Rectangle 22"/>
          <p:cNvSpPr>
            <a:spLocks noChangeArrowheads="1"/>
          </p:cNvSpPr>
          <p:nvPr/>
        </p:nvSpPr>
        <p:spPr bwMode="auto">
          <a:xfrm>
            <a:off x="4240663" y="247056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目的地址</a:t>
            </a:r>
          </a:p>
        </p:txBody>
      </p:sp>
      <p:sp>
        <p:nvSpPr>
          <p:cNvPr id="24" name="Rectangle 23"/>
          <p:cNvSpPr>
            <a:spLocks noChangeArrowheads="1"/>
          </p:cNvSpPr>
          <p:nvPr/>
        </p:nvSpPr>
        <p:spPr bwMode="auto">
          <a:xfrm>
            <a:off x="4317607" y="1531181"/>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源地址</a:t>
            </a:r>
          </a:p>
        </p:txBody>
      </p:sp>
      <p:sp>
        <p:nvSpPr>
          <p:cNvPr id="25" name="Line 24"/>
          <p:cNvSpPr>
            <a:spLocks noChangeShapeType="1"/>
          </p:cNvSpPr>
          <p:nvPr/>
        </p:nvSpPr>
        <p:spPr bwMode="auto">
          <a:xfrm>
            <a:off x="5669221"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Rectangle 25"/>
          <p:cNvSpPr>
            <a:spLocks noChangeArrowheads="1"/>
          </p:cNvSpPr>
          <p:nvPr/>
        </p:nvSpPr>
        <p:spPr bwMode="auto">
          <a:xfrm>
            <a:off x="4600594" y="1041678"/>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下一个首部</a:t>
            </a:r>
          </a:p>
        </p:txBody>
      </p:sp>
      <p:sp>
        <p:nvSpPr>
          <p:cNvPr id="27" name="Rectangle 26"/>
          <p:cNvSpPr>
            <a:spLocks noChangeArrowheads="1"/>
          </p:cNvSpPr>
          <p:nvPr/>
        </p:nvSpPr>
        <p:spPr bwMode="auto">
          <a:xfrm>
            <a:off x="5079909" y="820698"/>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流标号</a:t>
            </a:r>
          </a:p>
        </p:txBody>
      </p:sp>
      <p:sp>
        <p:nvSpPr>
          <p:cNvPr id="28" name="Rectangle 27"/>
          <p:cNvSpPr>
            <a:spLocks noChangeArrowheads="1"/>
          </p:cNvSpPr>
          <p:nvPr/>
        </p:nvSpPr>
        <p:spPr bwMode="auto">
          <a:xfrm>
            <a:off x="4066011"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12</a:t>
            </a:r>
          </a:p>
        </p:txBody>
      </p:sp>
      <p:sp>
        <p:nvSpPr>
          <p:cNvPr id="29" name="Rectangle 28"/>
          <p:cNvSpPr>
            <a:spLocks noChangeArrowheads="1"/>
          </p:cNvSpPr>
          <p:nvPr/>
        </p:nvSpPr>
        <p:spPr bwMode="auto">
          <a:xfrm>
            <a:off x="3248167" y="82069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通信量类</a:t>
            </a:r>
          </a:p>
        </p:txBody>
      </p:sp>
      <p:sp>
        <p:nvSpPr>
          <p:cNvPr id="30" name="Rectangle 29"/>
          <p:cNvSpPr>
            <a:spLocks noChangeArrowheads="1"/>
          </p:cNvSpPr>
          <p:nvPr/>
        </p:nvSpPr>
        <p:spPr bwMode="auto">
          <a:xfrm>
            <a:off x="4175741" y="1716945"/>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1" name="Rectangle 30"/>
          <p:cNvSpPr>
            <a:spLocks noChangeArrowheads="1"/>
          </p:cNvSpPr>
          <p:nvPr/>
        </p:nvSpPr>
        <p:spPr bwMode="auto">
          <a:xfrm>
            <a:off x="4175741" y="2657783"/>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2" name="Rectangle 31"/>
          <p:cNvSpPr>
            <a:spLocks noChangeArrowheads="1"/>
          </p:cNvSpPr>
          <p:nvPr/>
        </p:nvSpPr>
        <p:spPr bwMode="auto">
          <a:xfrm>
            <a:off x="2966475" y="1037276"/>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有效载荷长度</a:t>
            </a:r>
          </a:p>
        </p:txBody>
      </p:sp>
      <p:sp>
        <p:nvSpPr>
          <p:cNvPr id="33" name="Rectangle 32"/>
          <p:cNvSpPr>
            <a:spLocks noChangeArrowheads="1"/>
          </p:cNvSpPr>
          <p:nvPr/>
        </p:nvSpPr>
        <p:spPr bwMode="auto">
          <a:xfrm>
            <a:off x="5774061" y="1039049"/>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跳数限制</a:t>
            </a:r>
          </a:p>
        </p:txBody>
      </p:sp>
      <p:sp>
        <p:nvSpPr>
          <p:cNvPr id="34" name="Line 33"/>
          <p:cNvSpPr>
            <a:spLocks noChangeShapeType="1"/>
          </p:cNvSpPr>
          <p:nvPr/>
        </p:nvSpPr>
        <p:spPr bwMode="auto">
          <a:xfrm>
            <a:off x="4142606" y="847062"/>
            <a:ext cx="3522" cy="2121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Rectangle 34"/>
          <p:cNvSpPr>
            <a:spLocks noChangeArrowheads="1"/>
          </p:cNvSpPr>
          <p:nvPr/>
        </p:nvSpPr>
        <p:spPr bwMode="auto">
          <a:xfrm>
            <a:off x="5611114"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24</a:t>
            </a:r>
          </a:p>
        </p:txBody>
      </p:sp>
      <p:sp>
        <p:nvSpPr>
          <p:cNvPr id="36" name="Line 35"/>
          <p:cNvSpPr>
            <a:spLocks noChangeShapeType="1"/>
          </p:cNvSpPr>
          <p:nvPr/>
        </p:nvSpPr>
        <p:spPr bwMode="auto">
          <a:xfrm>
            <a:off x="2630958" y="3173961"/>
            <a:ext cx="40516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7" name="Rectangle 36"/>
          <p:cNvSpPr>
            <a:spLocks noChangeArrowheads="1"/>
          </p:cNvSpPr>
          <p:nvPr/>
        </p:nvSpPr>
        <p:spPr bwMode="auto">
          <a:xfrm>
            <a:off x="2652176" y="3196060"/>
            <a:ext cx="4005293" cy="779486"/>
          </a:xfrm>
          <a:prstGeom prst="rect">
            <a:avLst/>
          </a:prstGeom>
          <a:solidFill>
            <a:srgbClr val="00FFFF"/>
          </a:solidFill>
          <a:ln w="12700">
            <a:no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8" name="Rectangle 37"/>
          <p:cNvSpPr>
            <a:spLocks noChangeArrowheads="1"/>
          </p:cNvSpPr>
          <p:nvPr/>
        </p:nvSpPr>
        <p:spPr bwMode="auto">
          <a:xfrm>
            <a:off x="3453252" y="3245272"/>
            <a:ext cx="2194513" cy="274434"/>
          </a:xfrm>
          <a:prstGeom prst="rect">
            <a:avLst/>
          </a:prstGeom>
          <a:noFill/>
          <a:ln>
            <a:noFill/>
          </a:ln>
          <a:effec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有效载荷（扩展首部 </a:t>
            </a:r>
            <a:r>
              <a:rPr kumimoji="1" lang="en-US" altLang="zh-CN" sz="1200" b="1" dirty="0">
                <a:latin typeface="微软雅黑" pitchFamily="34" charset="-122"/>
                <a:ea typeface="微软雅黑" pitchFamily="34" charset="-122"/>
              </a:rPr>
              <a:t>/ </a:t>
            </a:r>
            <a:r>
              <a:rPr kumimoji="1" lang="zh-CN" altLang="en-US" sz="1200" b="1" dirty="0">
                <a:latin typeface="微软雅黑" pitchFamily="34" charset="-122"/>
                <a:ea typeface="微软雅黑" pitchFamily="34" charset="-122"/>
              </a:rPr>
              <a:t>数据）</a:t>
            </a:r>
          </a:p>
        </p:txBody>
      </p:sp>
      <p:sp>
        <p:nvSpPr>
          <p:cNvPr id="39" name="Freeform 38"/>
          <p:cNvSpPr>
            <a:spLocks/>
          </p:cNvSpPr>
          <p:nvPr/>
        </p:nvSpPr>
        <p:spPr bwMode="auto">
          <a:xfrm>
            <a:off x="2585177" y="3550792"/>
            <a:ext cx="4090642" cy="165495"/>
          </a:xfrm>
          <a:custGeom>
            <a:avLst/>
            <a:gdLst>
              <a:gd name="T0" fmla="*/ 0 w 4778"/>
              <a:gd name="T1" fmla="*/ 203 h 214"/>
              <a:gd name="T2" fmla="*/ 475 w 4778"/>
              <a:gd name="T3" fmla="*/ 34 h 214"/>
              <a:gd name="T4" fmla="*/ 926 w 4778"/>
              <a:gd name="T5" fmla="*/ 214 h 214"/>
              <a:gd name="T6" fmla="*/ 1265 w 4778"/>
              <a:gd name="T7" fmla="*/ 113 h 214"/>
              <a:gd name="T8" fmla="*/ 1717 w 4778"/>
              <a:gd name="T9" fmla="*/ 214 h 214"/>
              <a:gd name="T10" fmla="*/ 2056 w 4778"/>
              <a:gd name="T11" fmla="*/ 68 h 214"/>
              <a:gd name="T12" fmla="*/ 2361 w 4778"/>
              <a:gd name="T13" fmla="*/ 169 h 214"/>
              <a:gd name="T14" fmla="*/ 2677 w 4778"/>
              <a:gd name="T15" fmla="*/ 68 h 214"/>
              <a:gd name="T16" fmla="*/ 2869 w 4778"/>
              <a:gd name="T17" fmla="*/ 180 h 214"/>
              <a:gd name="T18" fmla="*/ 3332 w 4778"/>
              <a:gd name="T19" fmla="*/ 11 h 214"/>
              <a:gd name="T20" fmla="*/ 3818 w 4778"/>
              <a:gd name="T21" fmla="*/ 192 h 214"/>
              <a:gd name="T22" fmla="*/ 3908 w 4778"/>
              <a:gd name="T23" fmla="*/ 11 h 214"/>
              <a:gd name="T24" fmla="*/ 4089 w 4778"/>
              <a:gd name="T25" fmla="*/ 180 h 214"/>
              <a:gd name="T26" fmla="*/ 4303 w 4778"/>
              <a:gd name="T27" fmla="*/ 11 h 214"/>
              <a:gd name="T28" fmla="*/ 4507 w 4778"/>
              <a:gd name="T29" fmla="*/ 135 h 214"/>
              <a:gd name="T30" fmla="*/ 4778 w 4778"/>
              <a:gd name="T31" fmla="*/ 0 h 214"/>
              <a:gd name="connsiteX0" fmla="*/ 0 w 9905"/>
              <a:gd name="connsiteY0" fmla="*/ 8972 h 9486"/>
              <a:gd name="connsiteX1" fmla="*/ 994 w 9905"/>
              <a:gd name="connsiteY1" fmla="*/ 1075 h 9486"/>
              <a:gd name="connsiteX2" fmla="*/ 1938 w 9905"/>
              <a:gd name="connsiteY2" fmla="*/ 9486 h 9486"/>
              <a:gd name="connsiteX3" fmla="*/ 2648 w 9905"/>
              <a:gd name="connsiteY3" fmla="*/ 4766 h 9486"/>
              <a:gd name="connsiteX4" fmla="*/ 3594 w 9905"/>
              <a:gd name="connsiteY4" fmla="*/ 9486 h 9486"/>
              <a:gd name="connsiteX5" fmla="*/ 4303 w 9905"/>
              <a:gd name="connsiteY5" fmla="*/ 2664 h 9486"/>
              <a:gd name="connsiteX6" fmla="*/ 4941 w 9905"/>
              <a:gd name="connsiteY6" fmla="*/ 7383 h 9486"/>
              <a:gd name="connsiteX7" fmla="*/ 5603 w 9905"/>
              <a:gd name="connsiteY7" fmla="*/ 2664 h 9486"/>
              <a:gd name="connsiteX8" fmla="*/ 6005 w 9905"/>
              <a:gd name="connsiteY8" fmla="*/ 7897 h 9486"/>
              <a:gd name="connsiteX9" fmla="*/ 6974 w 9905"/>
              <a:gd name="connsiteY9" fmla="*/ 0 h 9486"/>
              <a:gd name="connsiteX10" fmla="*/ 7991 w 9905"/>
              <a:gd name="connsiteY10" fmla="*/ 8458 h 9486"/>
              <a:gd name="connsiteX11" fmla="*/ 8179 w 9905"/>
              <a:gd name="connsiteY11" fmla="*/ 0 h 9486"/>
              <a:gd name="connsiteX12" fmla="*/ 8558 w 9905"/>
              <a:gd name="connsiteY12" fmla="*/ 7897 h 9486"/>
              <a:gd name="connsiteX13" fmla="*/ 9006 w 9905"/>
              <a:gd name="connsiteY13" fmla="*/ 0 h 9486"/>
              <a:gd name="connsiteX14" fmla="*/ 9433 w 9905"/>
              <a:gd name="connsiteY14" fmla="*/ 5794 h 9486"/>
              <a:gd name="connsiteX15" fmla="*/ 9905 w 9905"/>
              <a:gd name="connsiteY15" fmla="*/ 1778 h 9486"/>
              <a:gd name="connsiteX0" fmla="*/ 0 w 9828"/>
              <a:gd name="connsiteY0" fmla="*/ 9517 h 10059"/>
              <a:gd name="connsiteX1" fmla="*/ 1004 w 9828"/>
              <a:gd name="connsiteY1" fmla="*/ 1192 h 10059"/>
              <a:gd name="connsiteX2" fmla="*/ 1957 w 9828"/>
              <a:gd name="connsiteY2" fmla="*/ 10059 h 10059"/>
              <a:gd name="connsiteX3" fmla="*/ 2673 w 9828"/>
              <a:gd name="connsiteY3" fmla="*/ 5083 h 10059"/>
              <a:gd name="connsiteX4" fmla="*/ 3628 w 9828"/>
              <a:gd name="connsiteY4" fmla="*/ 10059 h 10059"/>
              <a:gd name="connsiteX5" fmla="*/ 4344 w 9828"/>
              <a:gd name="connsiteY5" fmla="*/ 2867 h 10059"/>
              <a:gd name="connsiteX6" fmla="*/ 4988 w 9828"/>
              <a:gd name="connsiteY6" fmla="*/ 7842 h 10059"/>
              <a:gd name="connsiteX7" fmla="*/ 5657 w 9828"/>
              <a:gd name="connsiteY7" fmla="*/ 2867 h 10059"/>
              <a:gd name="connsiteX8" fmla="*/ 6063 w 9828"/>
              <a:gd name="connsiteY8" fmla="*/ 8384 h 10059"/>
              <a:gd name="connsiteX9" fmla="*/ 7041 w 9828"/>
              <a:gd name="connsiteY9" fmla="*/ 59 h 10059"/>
              <a:gd name="connsiteX10" fmla="*/ 8068 w 9828"/>
              <a:gd name="connsiteY10" fmla="*/ 8975 h 10059"/>
              <a:gd name="connsiteX11" fmla="*/ 8257 w 9828"/>
              <a:gd name="connsiteY11" fmla="*/ 59 h 10059"/>
              <a:gd name="connsiteX12" fmla="*/ 8640 w 9828"/>
              <a:gd name="connsiteY12" fmla="*/ 8384 h 10059"/>
              <a:gd name="connsiteX13" fmla="*/ 9092 w 9828"/>
              <a:gd name="connsiteY13" fmla="*/ 59 h 10059"/>
              <a:gd name="connsiteX14" fmla="*/ 9523 w 9828"/>
              <a:gd name="connsiteY14" fmla="*/ 6167 h 10059"/>
              <a:gd name="connsiteX15" fmla="*/ 9828 w 9828"/>
              <a:gd name="connsiteY15" fmla="*/ 0 h 10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828" h="10059">
                <a:moveTo>
                  <a:pt x="0" y="9517"/>
                </a:moveTo>
                <a:lnTo>
                  <a:pt x="1004" y="1192"/>
                </a:lnTo>
                <a:lnTo>
                  <a:pt x="1957" y="10059"/>
                </a:lnTo>
                <a:cubicBezTo>
                  <a:pt x="2196" y="8401"/>
                  <a:pt x="2434" y="6741"/>
                  <a:pt x="2673" y="5083"/>
                </a:cubicBezTo>
                <a:lnTo>
                  <a:pt x="3628" y="10059"/>
                </a:lnTo>
                <a:cubicBezTo>
                  <a:pt x="3867" y="7662"/>
                  <a:pt x="4106" y="5265"/>
                  <a:pt x="4344" y="2867"/>
                </a:cubicBezTo>
                <a:lnTo>
                  <a:pt x="4988" y="7842"/>
                </a:lnTo>
                <a:cubicBezTo>
                  <a:pt x="5212" y="6184"/>
                  <a:pt x="5434" y="4526"/>
                  <a:pt x="5657" y="2867"/>
                </a:cubicBezTo>
                <a:cubicBezTo>
                  <a:pt x="5792" y="4706"/>
                  <a:pt x="5928" y="6545"/>
                  <a:pt x="6063" y="8384"/>
                </a:cubicBezTo>
                <a:lnTo>
                  <a:pt x="7041" y="59"/>
                </a:lnTo>
                <a:lnTo>
                  <a:pt x="8068" y="8975"/>
                </a:lnTo>
                <a:cubicBezTo>
                  <a:pt x="8131" y="6004"/>
                  <a:pt x="8194" y="3031"/>
                  <a:pt x="8257" y="59"/>
                </a:cubicBezTo>
                <a:cubicBezTo>
                  <a:pt x="8385" y="2834"/>
                  <a:pt x="8513" y="5609"/>
                  <a:pt x="8640" y="8384"/>
                </a:cubicBezTo>
                <a:cubicBezTo>
                  <a:pt x="8791" y="5609"/>
                  <a:pt x="8942" y="2834"/>
                  <a:pt x="9092" y="59"/>
                </a:cubicBezTo>
                <a:cubicBezTo>
                  <a:pt x="9236" y="2095"/>
                  <a:pt x="9380" y="4131"/>
                  <a:pt x="9523" y="6167"/>
                </a:cubicBezTo>
                <a:cubicBezTo>
                  <a:pt x="9714" y="3950"/>
                  <a:pt x="9637" y="2217"/>
                  <a:pt x="9828" y="0"/>
                </a:cubicBezTo>
              </a:path>
            </a:pathLst>
          </a:custGeom>
          <a:noFill/>
          <a:ln w="57150" cap="flat" cmpd="sng">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2" name="AutoShape 41"/>
          <p:cNvSpPr>
            <a:spLocks/>
          </p:cNvSpPr>
          <p:nvPr/>
        </p:nvSpPr>
        <p:spPr bwMode="auto">
          <a:xfrm>
            <a:off x="2482170" y="3194210"/>
            <a:ext cx="126778" cy="801164"/>
          </a:xfrm>
          <a:prstGeom prst="leftBrace">
            <a:avLst>
              <a:gd name="adj1" fmla="val 52662"/>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48" name="组合 47"/>
          <p:cNvGrpSpPr/>
          <p:nvPr/>
        </p:nvGrpSpPr>
        <p:grpSpPr>
          <a:xfrm>
            <a:off x="1711709" y="840899"/>
            <a:ext cx="4966450" cy="2333062"/>
            <a:chOff x="1711709" y="840899"/>
            <a:chExt cx="4966450" cy="2333062"/>
          </a:xfrm>
        </p:grpSpPr>
        <p:sp>
          <p:nvSpPr>
            <p:cNvPr id="40" name="AutoShape 39"/>
            <p:cNvSpPr>
              <a:spLocks/>
            </p:cNvSpPr>
            <p:nvPr/>
          </p:nvSpPr>
          <p:spPr bwMode="auto">
            <a:xfrm>
              <a:off x="2461921" y="865551"/>
              <a:ext cx="126778" cy="2308410"/>
            </a:xfrm>
            <a:prstGeom prst="leftBrace">
              <a:avLst>
                <a:gd name="adj1" fmla="val 15173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1" name="Rectangle 40"/>
            <p:cNvSpPr>
              <a:spLocks noChangeArrowheads="1"/>
            </p:cNvSpPr>
            <p:nvPr/>
          </p:nvSpPr>
          <p:spPr bwMode="auto">
            <a:xfrm>
              <a:off x="1711709" y="1759157"/>
              <a:ext cx="775854" cy="5975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1100" b="1" dirty="0">
                  <a:solidFill>
                    <a:srgbClr val="0000CC"/>
                  </a:solidFill>
                  <a:latin typeface="微软雅黑" pitchFamily="34" charset="-122"/>
                  <a:ea typeface="微软雅黑" pitchFamily="34" charset="-122"/>
                </a:rPr>
                <a:t>IPv6 </a:t>
              </a:r>
              <a:r>
                <a:rPr kumimoji="1" lang="zh-CN" altLang="en-US" sz="1100" b="1" dirty="0">
                  <a:solidFill>
                    <a:srgbClr val="0000CC"/>
                  </a:solidFill>
                  <a:latin typeface="微软雅黑" pitchFamily="34" charset="-122"/>
                  <a:ea typeface="微软雅黑" pitchFamily="34" charset="-122"/>
                </a:rPr>
                <a:t>的</a:t>
              </a:r>
            </a:p>
            <a:p>
              <a:pPr algn="ctr" defTabSz="762000" eaLnBrk="0" hangingPunct="0"/>
              <a:r>
                <a:rPr kumimoji="1" lang="zh-CN" altLang="en-US" sz="1100" b="1" dirty="0">
                  <a:solidFill>
                    <a:srgbClr val="0000CC"/>
                  </a:solidFill>
                  <a:latin typeface="微软雅黑" pitchFamily="34" charset="-122"/>
                  <a:ea typeface="微软雅黑" pitchFamily="34" charset="-122"/>
                </a:rPr>
                <a:t>基本首部</a:t>
              </a:r>
            </a:p>
            <a:p>
              <a:pPr algn="ctr" defTabSz="762000" eaLnBrk="0" hangingPunct="0"/>
              <a:r>
                <a:rPr kumimoji="1" lang="zh-CN" altLang="en-US" sz="1100" b="1" dirty="0">
                  <a:solidFill>
                    <a:srgbClr val="0000CC"/>
                  </a:solidFill>
                  <a:latin typeface="微软雅黑" pitchFamily="34" charset="-122"/>
                  <a:ea typeface="微软雅黑" pitchFamily="34" charset="-122"/>
                </a:rPr>
                <a:t>（</a:t>
              </a:r>
              <a:r>
                <a:rPr kumimoji="1" lang="en-US" altLang="zh-CN" sz="1100" b="1" dirty="0">
                  <a:solidFill>
                    <a:srgbClr val="0000CC"/>
                  </a:solidFill>
                  <a:latin typeface="微软雅黑" pitchFamily="34" charset="-122"/>
                  <a:ea typeface="微软雅黑" pitchFamily="34" charset="-122"/>
                </a:rPr>
                <a:t>40 B</a:t>
              </a:r>
              <a:r>
                <a:rPr kumimoji="1" lang="zh-CN" altLang="en-US" sz="1100" b="1" dirty="0">
                  <a:solidFill>
                    <a:srgbClr val="0000CC"/>
                  </a:solidFill>
                  <a:latin typeface="微软雅黑" pitchFamily="34" charset="-122"/>
                  <a:ea typeface="微软雅黑" pitchFamily="34" charset="-122"/>
                </a:rPr>
                <a:t>）</a:t>
              </a:r>
            </a:p>
          </p:txBody>
        </p:sp>
        <p:sp>
          <p:nvSpPr>
            <p:cNvPr id="43" name="Rectangle 43"/>
            <p:cNvSpPr>
              <a:spLocks noChangeArrowheads="1"/>
            </p:cNvSpPr>
            <p:nvPr/>
          </p:nvSpPr>
          <p:spPr bwMode="auto">
            <a:xfrm>
              <a:off x="2635360" y="840899"/>
              <a:ext cx="4042799" cy="2333062"/>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44" name="矩形 43"/>
          <p:cNvSpPr/>
          <p:nvPr/>
        </p:nvSpPr>
        <p:spPr>
          <a:xfrm>
            <a:off x="3308876" y="4049822"/>
            <a:ext cx="2624501" cy="307777"/>
          </a:xfrm>
          <a:prstGeom prst="rect">
            <a:avLst/>
          </a:prstGeom>
        </p:spPr>
        <p:txBody>
          <a:bodyPr wrap="square">
            <a:spAutoFit/>
          </a:bodyPr>
          <a:lstStyle/>
          <a:p>
            <a:pPr algn="ctr"/>
            <a:endParaRPr lang="zh-CN" altLang="en-US" sz="1400" b="1" dirty="0">
              <a:latin typeface="微软雅黑" pitchFamily="34" charset="-122"/>
              <a:ea typeface="微软雅黑" pitchFamily="34" charset="-122"/>
            </a:endParaRPr>
          </a:p>
        </p:txBody>
      </p:sp>
      <p:sp>
        <p:nvSpPr>
          <p:cNvPr id="46" name="矩形 45"/>
          <p:cNvSpPr/>
          <p:nvPr/>
        </p:nvSpPr>
        <p:spPr>
          <a:xfrm>
            <a:off x="3382347" y="4008475"/>
            <a:ext cx="2395207" cy="307777"/>
          </a:xfrm>
          <a:prstGeom prst="rect">
            <a:avLst/>
          </a:prstGeom>
        </p:spPr>
        <p:txBody>
          <a:bodyPr wrap="none">
            <a:spAutoFit/>
          </a:bodyPr>
          <a:lstStyle/>
          <a:p>
            <a:pPr algn="ctr"/>
            <a:r>
              <a:rPr lang="en-US" altLang="zh-CN" sz="1400" b="1" dirty="0">
                <a:latin typeface="微软雅黑" pitchFamily="34" charset="-122"/>
                <a:ea typeface="微软雅黑" pitchFamily="34" charset="-122"/>
              </a:rPr>
              <a:t>40 </a:t>
            </a:r>
            <a:r>
              <a:rPr lang="zh-CN" altLang="zh-CN" sz="1400" b="1" dirty="0">
                <a:latin typeface="微软雅黑" pitchFamily="34" charset="-122"/>
                <a:ea typeface="微软雅黑" pitchFamily="34" charset="-122"/>
              </a:rPr>
              <a:t>字节长的</a:t>
            </a:r>
            <a:r>
              <a:rPr lang="en-US" altLang="zh-CN" sz="1400" b="1" dirty="0">
                <a:latin typeface="微软雅黑" pitchFamily="34" charset="-122"/>
                <a:ea typeface="微软雅黑" pitchFamily="34" charset="-122"/>
              </a:rPr>
              <a:t> IPv6 </a:t>
            </a:r>
            <a:r>
              <a:rPr lang="zh-CN" altLang="zh-CN" sz="1400" b="1" dirty="0">
                <a:latin typeface="微软雅黑" pitchFamily="34" charset="-122"/>
                <a:ea typeface="微软雅黑" pitchFamily="34" charset="-122"/>
              </a:rPr>
              <a:t>基本首部</a:t>
            </a:r>
            <a:endParaRPr lang="zh-CN" altLang="en-US" sz="1400" b="1" dirty="0">
              <a:latin typeface="微软雅黑" pitchFamily="34" charset="-122"/>
              <a:ea typeface="微软雅黑" pitchFamily="34" charset="-122"/>
            </a:endParaRPr>
          </a:p>
        </p:txBody>
      </p:sp>
      <p:sp>
        <p:nvSpPr>
          <p:cNvPr id="47" name="Rectangle 42"/>
          <p:cNvSpPr>
            <a:spLocks noChangeArrowheads="1"/>
          </p:cNvSpPr>
          <p:nvPr/>
        </p:nvSpPr>
        <p:spPr bwMode="auto">
          <a:xfrm>
            <a:off x="1570819" y="3290066"/>
            <a:ext cx="1056379" cy="5975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1100" b="1" dirty="0">
                <a:solidFill>
                  <a:srgbClr val="0000CC"/>
                </a:solidFill>
                <a:latin typeface="微软雅黑" pitchFamily="34" charset="-122"/>
                <a:ea typeface="微软雅黑" pitchFamily="34" charset="-122"/>
              </a:rPr>
              <a:t>IPv6 </a:t>
            </a:r>
            <a:r>
              <a:rPr kumimoji="1" lang="zh-CN" altLang="en-US" sz="1100" b="1" dirty="0">
                <a:solidFill>
                  <a:srgbClr val="0000CC"/>
                </a:solidFill>
                <a:latin typeface="微软雅黑" pitchFamily="34" charset="-122"/>
                <a:ea typeface="微软雅黑" pitchFamily="34" charset="-122"/>
              </a:rPr>
              <a:t>的</a:t>
            </a:r>
          </a:p>
          <a:p>
            <a:pPr algn="ctr" defTabSz="762000" eaLnBrk="0" hangingPunct="0"/>
            <a:r>
              <a:rPr kumimoji="1" lang="zh-CN" altLang="en-US" sz="1100" b="1" dirty="0">
                <a:solidFill>
                  <a:srgbClr val="0000CC"/>
                </a:solidFill>
                <a:latin typeface="微软雅黑" pitchFamily="34" charset="-122"/>
                <a:ea typeface="微软雅黑" pitchFamily="34" charset="-122"/>
              </a:rPr>
              <a:t>有效载荷</a:t>
            </a:r>
          </a:p>
          <a:p>
            <a:pPr algn="ctr" defTabSz="762000" eaLnBrk="0" hangingPunct="0"/>
            <a:r>
              <a:rPr kumimoji="1" lang="zh-CN" altLang="en-US" sz="1100" b="1" dirty="0">
                <a:solidFill>
                  <a:srgbClr val="0000CC"/>
                </a:solidFill>
                <a:latin typeface="微软雅黑" pitchFamily="34" charset="-122"/>
                <a:ea typeface="微软雅黑" pitchFamily="34" charset="-122"/>
              </a:rPr>
              <a:t>（至 </a:t>
            </a:r>
            <a:r>
              <a:rPr kumimoji="1" lang="en-US" altLang="zh-CN" sz="1100" b="1" dirty="0">
                <a:solidFill>
                  <a:srgbClr val="0000CC"/>
                </a:solidFill>
                <a:latin typeface="微软雅黑" pitchFamily="34" charset="-122"/>
                <a:ea typeface="微软雅黑" pitchFamily="34" charset="-122"/>
              </a:rPr>
              <a:t>64 KB</a:t>
            </a:r>
            <a:r>
              <a:rPr kumimoji="1" lang="zh-CN" altLang="en-US" sz="1100" b="1" dirty="0">
                <a:solidFill>
                  <a:srgbClr val="0000CC"/>
                </a:solidFill>
                <a:latin typeface="微软雅黑" pitchFamily="34" charset="-122"/>
                <a:ea typeface="微软雅黑" pitchFamily="34" charset="-122"/>
              </a:rPr>
              <a:t>）</a:t>
            </a:r>
          </a:p>
        </p:txBody>
      </p:sp>
    </p:spTree>
    <p:extLst>
      <p:ext uri="{BB962C8B-B14F-4D97-AF65-F5344CB8AC3E}">
        <p14:creationId xmlns:p14="http://schemas.microsoft.com/office/powerpoint/2010/main" val="182143491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nodeType="afterEffect">
                                  <p:stCondLst>
                                    <p:cond delay="0"/>
                                  </p:stCondLst>
                                  <p:endCondLst>
                                    <p:cond evt="onNext" delay="0">
                                      <p:tgtEl>
                                        <p:sldTgt/>
                                      </p:tgtEl>
                                    </p:cond>
                                  </p:endCondLst>
                                  <p:childTnLst>
                                    <p:anim calcmode="discrete" valueType="str">
                                      <p:cBhvr>
                                        <p:cTn id="6" dur="1000" fill="hold"/>
                                        <p:tgtEl>
                                          <p:spTgt spid="4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圆角矩形 45"/>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Rectangle 2"/>
          <p:cNvSpPr>
            <a:spLocks noChangeArrowheads="1"/>
          </p:cNvSpPr>
          <p:nvPr/>
        </p:nvSpPr>
        <p:spPr bwMode="auto">
          <a:xfrm>
            <a:off x="2630958" y="847062"/>
            <a:ext cx="4042800" cy="2326899"/>
          </a:xfrm>
          <a:prstGeom prst="rect">
            <a:avLst/>
          </a:prstGeom>
          <a:solidFill>
            <a:srgbClr val="99FFCC"/>
          </a:solidFill>
          <a:ln w="381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 name="Line 3"/>
          <p:cNvSpPr>
            <a:spLocks noChangeShapeType="1"/>
          </p:cNvSpPr>
          <p:nvPr/>
        </p:nvSpPr>
        <p:spPr bwMode="auto">
          <a:xfrm>
            <a:off x="2635360" y="1058358"/>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 name="Line 4"/>
          <p:cNvSpPr>
            <a:spLocks noChangeShapeType="1"/>
          </p:cNvSpPr>
          <p:nvPr/>
        </p:nvSpPr>
        <p:spPr bwMode="auto">
          <a:xfrm>
            <a:off x="3134547" y="847943"/>
            <a:ext cx="0" cy="21129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 name="Line 5"/>
          <p:cNvSpPr>
            <a:spLocks noChangeShapeType="1"/>
          </p:cNvSpPr>
          <p:nvPr/>
        </p:nvSpPr>
        <p:spPr bwMode="auto">
          <a:xfrm>
            <a:off x="4654119"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 name="Rectangle 6"/>
          <p:cNvSpPr>
            <a:spLocks noChangeArrowheads="1"/>
          </p:cNvSpPr>
          <p:nvPr/>
        </p:nvSpPr>
        <p:spPr bwMode="auto">
          <a:xfrm>
            <a:off x="2588699"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0</a:t>
            </a:r>
          </a:p>
        </p:txBody>
      </p:sp>
      <p:sp>
        <p:nvSpPr>
          <p:cNvPr id="8" name="Rectangle 7"/>
          <p:cNvSpPr>
            <a:spLocks noChangeArrowheads="1"/>
          </p:cNvSpPr>
          <p:nvPr/>
        </p:nvSpPr>
        <p:spPr bwMode="auto">
          <a:xfrm>
            <a:off x="3089647"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4</a:t>
            </a:r>
          </a:p>
        </p:txBody>
      </p:sp>
      <p:sp>
        <p:nvSpPr>
          <p:cNvPr id="9" name="Rectangle 8"/>
          <p:cNvSpPr>
            <a:spLocks noChangeArrowheads="1"/>
          </p:cNvSpPr>
          <p:nvPr/>
        </p:nvSpPr>
        <p:spPr bwMode="auto">
          <a:xfrm>
            <a:off x="4603936"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16</a:t>
            </a:r>
          </a:p>
        </p:txBody>
      </p:sp>
      <p:sp>
        <p:nvSpPr>
          <p:cNvPr id="10" name="Rectangle 9"/>
          <p:cNvSpPr>
            <a:spLocks noChangeArrowheads="1"/>
          </p:cNvSpPr>
          <p:nvPr/>
        </p:nvSpPr>
        <p:spPr bwMode="auto">
          <a:xfrm>
            <a:off x="6487993"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31</a:t>
            </a:r>
          </a:p>
        </p:txBody>
      </p:sp>
      <p:sp>
        <p:nvSpPr>
          <p:cNvPr id="11" name="Rectangle 10"/>
          <p:cNvSpPr>
            <a:spLocks noChangeArrowheads="1"/>
          </p:cNvSpPr>
          <p:nvPr/>
        </p:nvSpPr>
        <p:spPr bwMode="auto">
          <a:xfrm>
            <a:off x="2670612" y="820698"/>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版本</a:t>
            </a:r>
          </a:p>
        </p:txBody>
      </p:sp>
      <p:sp>
        <p:nvSpPr>
          <p:cNvPr id="12" name="Rectangle 11"/>
          <p:cNvSpPr>
            <a:spLocks noChangeArrowheads="1"/>
          </p:cNvSpPr>
          <p:nvPr/>
        </p:nvSpPr>
        <p:spPr bwMode="auto">
          <a:xfrm>
            <a:off x="2246223" y="631364"/>
            <a:ext cx="32380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dirty="0">
                <a:solidFill>
                  <a:srgbClr val="0000CC"/>
                </a:solidFill>
                <a:latin typeface="微软雅黑" pitchFamily="34" charset="-122"/>
                <a:ea typeface="微软雅黑" pitchFamily="34" charset="-122"/>
              </a:rPr>
              <a:t>位</a:t>
            </a:r>
          </a:p>
        </p:txBody>
      </p:sp>
      <p:sp>
        <p:nvSpPr>
          <p:cNvPr id="13" name="Line 12"/>
          <p:cNvSpPr>
            <a:spLocks noChangeShapeType="1"/>
          </p:cNvSpPr>
          <p:nvPr/>
        </p:nvSpPr>
        <p:spPr bwMode="auto">
          <a:xfrm>
            <a:off x="2630958" y="1292545"/>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3"/>
          <p:cNvSpPr>
            <a:spLocks noChangeShapeType="1"/>
          </p:cNvSpPr>
          <p:nvPr/>
        </p:nvSpPr>
        <p:spPr bwMode="auto">
          <a:xfrm>
            <a:off x="2631838" y="1526731"/>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4"/>
          <p:cNvSpPr>
            <a:spLocks noChangeShapeType="1"/>
          </p:cNvSpPr>
          <p:nvPr/>
        </p:nvSpPr>
        <p:spPr bwMode="auto">
          <a:xfrm>
            <a:off x="2631838" y="1761798"/>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5"/>
          <p:cNvSpPr>
            <a:spLocks noChangeShapeType="1"/>
          </p:cNvSpPr>
          <p:nvPr/>
        </p:nvSpPr>
        <p:spPr bwMode="auto">
          <a:xfrm>
            <a:off x="2631838" y="199686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6"/>
          <p:cNvSpPr>
            <a:spLocks noChangeShapeType="1"/>
          </p:cNvSpPr>
          <p:nvPr/>
        </p:nvSpPr>
        <p:spPr bwMode="auto">
          <a:xfrm>
            <a:off x="2631838" y="223193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7"/>
          <p:cNvSpPr>
            <a:spLocks noChangeShapeType="1"/>
          </p:cNvSpPr>
          <p:nvPr/>
        </p:nvSpPr>
        <p:spPr bwMode="auto">
          <a:xfrm>
            <a:off x="2631838" y="2466119"/>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8"/>
          <p:cNvSpPr>
            <a:spLocks noChangeShapeType="1"/>
          </p:cNvSpPr>
          <p:nvPr/>
        </p:nvSpPr>
        <p:spPr bwMode="auto">
          <a:xfrm>
            <a:off x="2631838" y="270118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9"/>
          <p:cNvSpPr>
            <a:spLocks noChangeShapeType="1"/>
          </p:cNvSpPr>
          <p:nvPr/>
        </p:nvSpPr>
        <p:spPr bwMode="auto">
          <a:xfrm>
            <a:off x="2631838" y="293537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Rectangle 20"/>
          <p:cNvSpPr>
            <a:spLocks noChangeArrowheads="1"/>
          </p:cNvSpPr>
          <p:nvPr/>
        </p:nvSpPr>
        <p:spPr bwMode="auto">
          <a:xfrm>
            <a:off x="2756855" y="2387763"/>
            <a:ext cx="3798929" cy="62596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Rectangle 21"/>
          <p:cNvSpPr>
            <a:spLocks noChangeArrowheads="1"/>
          </p:cNvSpPr>
          <p:nvPr/>
        </p:nvSpPr>
        <p:spPr bwMode="auto">
          <a:xfrm>
            <a:off x="2756855" y="1469987"/>
            <a:ext cx="3798929" cy="62684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Rectangle 22"/>
          <p:cNvSpPr>
            <a:spLocks noChangeArrowheads="1"/>
          </p:cNvSpPr>
          <p:nvPr/>
        </p:nvSpPr>
        <p:spPr bwMode="auto">
          <a:xfrm>
            <a:off x="4240663" y="247056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目的地址</a:t>
            </a:r>
          </a:p>
        </p:txBody>
      </p:sp>
      <p:sp>
        <p:nvSpPr>
          <p:cNvPr id="24" name="Rectangle 23"/>
          <p:cNvSpPr>
            <a:spLocks noChangeArrowheads="1"/>
          </p:cNvSpPr>
          <p:nvPr/>
        </p:nvSpPr>
        <p:spPr bwMode="auto">
          <a:xfrm>
            <a:off x="4317607" y="1531181"/>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源地址</a:t>
            </a:r>
          </a:p>
        </p:txBody>
      </p:sp>
      <p:sp>
        <p:nvSpPr>
          <p:cNvPr id="25" name="Line 24"/>
          <p:cNvSpPr>
            <a:spLocks noChangeShapeType="1"/>
          </p:cNvSpPr>
          <p:nvPr/>
        </p:nvSpPr>
        <p:spPr bwMode="auto">
          <a:xfrm>
            <a:off x="5669221"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Rectangle 25"/>
          <p:cNvSpPr>
            <a:spLocks noChangeArrowheads="1"/>
          </p:cNvSpPr>
          <p:nvPr/>
        </p:nvSpPr>
        <p:spPr bwMode="auto">
          <a:xfrm>
            <a:off x="4600594" y="1041678"/>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下一个首部</a:t>
            </a:r>
          </a:p>
        </p:txBody>
      </p:sp>
      <p:sp>
        <p:nvSpPr>
          <p:cNvPr id="27" name="Rectangle 26"/>
          <p:cNvSpPr>
            <a:spLocks noChangeArrowheads="1"/>
          </p:cNvSpPr>
          <p:nvPr/>
        </p:nvSpPr>
        <p:spPr bwMode="auto">
          <a:xfrm>
            <a:off x="5079909" y="820698"/>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流标号</a:t>
            </a:r>
          </a:p>
        </p:txBody>
      </p:sp>
      <p:sp>
        <p:nvSpPr>
          <p:cNvPr id="28" name="Rectangle 27"/>
          <p:cNvSpPr>
            <a:spLocks noChangeArrowheads="1"/>
          </p:cNvSpPr>
          <p:nvPr/>
        </p:nvSpPr>
        <p:spPr bwMode="auto">
          <a:xfrm>
            <a:off x="4066011"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12</a:t>
            </a:r>
          </a:p>
        </p:txBody>
      </p:sp>
      <p:sp>
        <p:nvSpPr>
          <p:cNvPr id="29" name="Rectangle 28"/>
          <p:cNvSpPr>
            <a:spLocks noChangeArrowheads="1"/>
          </p:cNvSpPr>
          <p:nvPr/>
        </p:nvSpPr>
        <p:spPr bwMode="auto">
          <a:xfrm>
            <a:off x="3248167" y="82069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通信量类</a:t>
            </a:r>
          </a:p>
        </p:txBody>
      </p:sp>
      <p:sp>
        <p:nvSpPr>
          <p:cNvPr id="30" name="Rectangle 29"/>
          <p:cNvSpPr>
            <a:spLocks noChangeArrowheads="1"/>
          </p:cNvSpPr>
          <p:nvPr/>
        </p:nvSpPr>
        <p:spPr bwMode="auto">
          <a:xfrm>
            <a:off x="4175741" y="1716945"/>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1" name="Rectangle 30"/>
          <p:cNvSpPr>
            <a:spLocks noChangeArrowheads="1"/>
          </p:cNvSpPr>
          <p:nvPr/>
        </p:nvSpPr>
        <p:spPr bwMode="auto">
          <a:xfrm>
            <a:off x="4175741" y="2657783"/>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2" name="Rectangle 31"/>
          <p:cNvSpPr>
            <a:spLocks noChangeArrowheads="1"/>
          </p:cNvSpPr>
          <p:nvPr/>
        </p:nvSpPr>
        <p:spPr bwMode="auto">
          <a:xfrm>
            <a:off x="2966475" y="1037276"/>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有效载荷长度</a:t>
            </a:r>
          </a:p>
        </p:txBody>
      </p:sp>
      <p:sp>
        <p:nvSpPr>
          <p:cNvPr id="33" name="Rectangle 32"/>
          <p:cNvSpPr>
            <a:spLocks noChangeArrowheads="1"/>
          </p:cNvSpPr>
          <p:nvPr/>
        </p:nvSpPr>
        <p:spPr bwMode="auto">
          <a:xfrm>
            <a:off x="5774061" y="1039049"/>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跳数限制</a:t>
            </a:r>
          </a:p>
        </p:txBody>
      </p:sp>
      <p:sp>
        <p:nvSpPr>
          <p:cNvPr id="34" name="Line 33"/>
          <p:cNvSpPr>
            <a:spLocks noChangeShapeType="1"/>
          </p:cNvSpPr>
          <p:nvPr/>
        </p:nvSpPr>
        <p:spPr bwMode="auto">
          <a:xfrm>
            <a:off x="4142606" y="847062"/>
            <a:ext cx="3522" cy="2121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Rectangle 34"/>
          <p:cNvSpPr>
            <a:spLocks noChangeArrowheads="1"/>
          </p:cNvSpPr>
          <p:nvPr/>
        </p:nvSpPr>
        <p:spPr bwMode="auto">
          <a:xfrm>
            <a:off x="5611114"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24</a:t>
            </a:r>
          </a:p>
        </p:txBody>
      </p:sp>
      <p:sp>
        <p:nvSpPr>
          <p:cNvPr id="36" name="Line 35"/>
          <p:cNvSpPr>
            <a:spLocks noChangeShapeType="1"/>
          </p:cNvSpPr>
          <p:nvPr/>
        </p:nvSpPr>
        <p:spPr bwMode="auto">
          <a:xfrm>
            <a:off x="2630958" y="3173961"/>
            <a:ext cx="40516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2" name="AutoShape 39"/>
          <p:cNvSpPr>
            <a:spLocks/>
          </p:cNvSpPr>
          <p:nvPr/>
        </p:nvSpPr>
        <p:spPr bwMode="auto">
          <a:xfrm>
            <a:off x="2461921" y="865551"/>
            <a:ext cx="126778" cy="2308410"/>
          </a:xfrm>
          <a:prstGeom prst="leftBrace">
            <a:avLst>
              <a:gd name="adj1" fmla="val 15173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3" name="Rectangle 40"/>
          <p:cNvSpPr>
            <a:spLocks noChangeArrowheads="1"/>
          </p:cNvSpPr>
          <p:nvPr/>
        </p:nvSpPr>
        <p:spPr bwMode="auto">
          <a:xfrm>
            <a:off x="1711709" y="1759157"/>
            <a:ext cx="775854" cy="5975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1100" b="1" dirty="0">
                <a:solidFill>
                  <a:srgbClr val="0000CC"/>
                </a:solidFill>
                <a:latin typeface="微软雅黑" pitchFamily="34" charset="-122"/>
                <a:ea typeface="微软雅黑" pitchFamily="34" charset="-122"/>
              </a:rPr>
              <a:t>IPv6 </a:t>
            </a:r>
            <a:r>
              <a:rPr kumimoji="1" lang="zh-CN" altLang="en-US" sz="1100" b="1" dirty="0">
                <a:solidFill>
                  <a:srgbClr val="0000CC"/>
                </a:solidFill>
                <a:latin typeface="微软雅黑" pitchFamily="34" charset="-122"/>
                <a:ea typeface="微软雅黑" pitchFamily="34" charset="-122"/>
              </a:rPr>
              <a:t>的</a:t>
            </a:r>
          </a:p>
          <a:p>
            <a:pPr algn="ctr" defTabSz="762000" eaLnBrk="0" hangingPunct="0"/>
            <a:r>
              <a:rPr kumimoji="1" lang="zh-CN" altLang="en-US" sz="1100" b="1" dirty="0">
                <a:solidFill>
                  <a:srgbClr val="0000CC"/>
                </a:solidFill>
                <a:latin typeface="微软雅黑" pitchFamily="34" charset="-122"/>
                <a:ea typeface="微软雅黑" pitchFamily="34" charset="-122"/>
              </a:rPr>
              <a:t>基本首部</a:t>
            </a:r>
          </a:p>
          <a:p>
            <a:pPr algn="ctr" defTabSz="762000" eaLnBrk="0" hangingPunct="0"/>
            <a:r>
              <a:rPr kumimoji="1" lang="zh-CN" altLang="en-US" sz="1100" b="1" dirty="0">
                <a:solidFill>
                  <a:srgbClr val="0000CC"/>
                </a:solidFill>
                <a:latin typeface="微软雅黑" pitchFamily="34" charset="-122"/>
                <a:ea typeface="微软雅黑" pitchFamily="34" charset="-122"/>
              </a:rPr>
              <a:t>（</a:t>
            </a:r>
            <a:r>
              <a:rPr kumimoji="1" lang="en-US" altLang="zh-CN" sz="1100" b="1" dirty="0">
                <a:solidFill>
                  <a:srgbClr val="0000CC"/>
                </a:solidFill>
                <a:latin typeface="微软雅黑" pitchFamily="34" charset="-122"/>
                <a:ea typeface="微软雅黑" pitchFamily="34" charset="-122"/>
              </a:rPr>
              <a:t>40 B</a:t>
            </a:r>
            <a:r>
              <a:rPr kumimoji="1" lang="zh-CN" altLang="en-US" sz="1100" b="1" dirty="0">
                <a:solidFill>
                  <a:srgbClr val="0000CC"/>
                </a:solidFill>
                <a:latin typeface="微软雅黑" pitchFamily="34" charset="-122"/>
                <a:ea typeface="微软雅黑" pitchFamily="34" charset="-122"/>
              </a:rPr>
              <a:t>）</a:t>
            </a:r>
          </a:p>
        </p:txBody>
      </p:sp>
      <p:sp>
        <p:nvSpPr>
          <p:cNvPr id="44" name="Rectangle 43"/>
          <p:cNvSpPr>
            <a:spLocks noChangeArrowheads="1"/>
          </p:cNvSpPr>
          <p:nvPr/>
        </p:nvSpPr>
        <p:spPr bwMode="auto">
          <a:xfrm>
            <a:off x="2635360" y="840900"/>
            <a:ext cx="499187" cy="21834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8" name="对角圆角矩形 47"/>
          <p:cNvSpPr/>
          <p:nvPr/>
        </p:nvSpPr>
        <p:spPr>
          <a:xfrm>
            <a:off x="1885750" y="3392007"/>
            <a:ext cx="5394293" cy="876103"/>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矩形 48"/>
          <p:cNvSpPr/>
          <p:nvPr/>
        </p:nvSpPr>
        <p:spPr>
          <a:xfrm>
            <a:off x="2086918" y="3435469"/>
            <a:ext cx="5060049" cy="747128"/>
          </a:xfrm>
          <a:prstGeom prst="rect">
            <a:avLst/>
          </a:prstGeom>
        </p:spPr>
        <p:txBody>
          <a:bodyPr wrap="square">
            <a:spAutoFit/>
          </a:bodyPr>
          <a:lstStyle/>
          <a:p>
            <a:pPr>
              <a:lnSpc>
                <a:spcPts val="2700"/>
              </a:lnSpc>
            </a:pPr>
            <a:r>
              <a:rPr lang="zh-CN" altLang="en-US" sz="1600" b="1" dirty="0">
                <a:solidFill>
                  <a:schemeClr val="bg1"/>
                </a:solidFill>
                <a:latin typeface="微软雅黑" pitchFamily="34" charset="-122"/>
                <a:ea typeface="微软雅黑" pitchFamily="34" charset="-122"/>
              </a:rPr>
              <a:t>版本</a:t>
            </a:r>
            <a:r>
              <a:rPr lang="en-US" altLang="zh-CN" sz="1600" b="1" dirty="0">
                <a:solidFill>
                  <a:schemeClr val="bg1"/>
                </a:solidFill>
                <a:latin typeface="微软雅黑" pitchFamily="34" charset="-122"/>
                <a:ea typeface="微软雅黑" pitchFamily="34" charset="-122"/>
              </a:rPr>
              <a:t>(version)—— 4 </a:t>
            </a:r>
            <a:r>
              <a:rPr lang="zh-CN" altLang="en-US" sz="1600" b="1" dirty="0">
                <a:solidFill>
                  <a:schemeClr val="bg1"/>
                </a:solidFill>
                <a:latin typeface="微软雅黑" pitchFamily="34" charset="-122"/>
                <a:ea typeface="微软雅黑" pitchFamily="34" charset="-122"/>
              </a:rPr>
              <a:t>位。它指明了协议的版本，对 </a:t>
            </a:r>
            <a:r>
              <a:rPr lang="en-US" altLang="zh-CN" sz="1600" b="1" dirty="0">
                <a:solidFill>
                  <a:schemeClr val="bg1"/>
                </a:solidFill>
                <a:latin typeface="微软雅黑" pitchFamily="34" charset="-122"/>
                <a:ea typeface="微软雅黑" pitchFamily="34" charset="-122"/>
              </a:rPr>
              <a:t>IPv6 </a:t>
            </a:r>
            <a:r>
              <a:rPr lang="zh-CN" altLang="en-US" sz="1600" b="1" dirty="0">
                <a:solidFill>
                  <a:schemeClr val="bg1"/>
                </a:solidFill>
                <a:latin typeface="微软雅黑" pitchFamily="34" charset="-122"/>
                <a:ea typeface="微软雅黑" pitchFamily="34" charset="-122"/>
              </a:rPr>
              <a:t>该字段总是 </a:t>
            </a:r>
            <a:r>
              <a:rPr lang="en-US" altLang="zh-CN" sz="1600" b="1" dirty="0">
                <a:solidFill>
                  <a:schemeClr val="bg1"/>
                </a:solidFill>
                <a:latin typeface="微软雅黑" pitchFamily="34" charset="-122"/>
                <a:ea typeface="微软雅黑" pitchFamily="34" charset="-122"/>
              </a:rPr>
              <a:t>6</a:t>
            </a:r>
            <a:r>
              <a:rPr lang="zh-CN" altLang="en-US" sz="1600" b="1" dirty="0">
                <a:solidFill>
                  <a:schemeClr val="bg1"/>
                </a:solidFill>
                <a:latin typeface="微软雅黑" pitchFamily="34" charset="-122"/>
                <a:ea typeface="微软雅黑" pitchFamily="34" charset="-122"/>
              </a:rPr>
              <a:t>。 </a:t>
            </a:r>
          </a:p>
        </p:txBody>
      </p:sp>
    </p:spTree>
    <p:extLst>
      <p:ext uri="{BB962C8B-B14F-4D97-AF65-F5344CB8AC3E}">
        <p14:creationId xmlns:p14="http://schemas.microsoft.com/office/powerpoint/2010/main" val="120222540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4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圆角矩形 42"/>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Rectangle 2"/>
          <p:cNvSpPr>
            <a:spLocks noChangeArrowheads="1"/>
          </p:cNvSpPr>
          <p:nvPr/>
        </p:nvSpPr>
        <p:spPr bwMode="auto">
          <a:xfrm>
            <a:off x="2630958" y="847062"/>
            <a:ext cx="4042800" cy="2326899"/>
          </a:xfrm>
          <a:prstGeom prst="rect">
            <a:avLst/>
          </a:prstGeom>
          <a:solidFill>
            <a:srgbClr val="99FFCC"/>
          </a:solidFill>
          <a:ln w="381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 name="Line 3"/>
          <p:cNvSpPr>
            <a:spLocks noChangeShapeType="1"/>
          </p:cNvSpPr>
          <p:nvPr/>
        </p:nvSpPr>
        <p:spPr bwMode="auto">
          <a:xfrm>
            <a:off x="2635360" y="1058358"/>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 name="Line 4"/>
          <p:cNvSpPr>
            <a:spLocks noChangeShapeType="1"/>
          </p:cNvSpPr>
          <p:nvPr/>
        </p:nvSpPr>
        <p:spPr bwMode="auto">
          <a:xfrm>
            <a:off x="3134547" y="847943"/>
            <a:ext cx="0" cy="21129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 name="Line 5"/>
          <p:cNvSpPr>
            <a:spLocks noChangeShapeType="1"/>
          </p:cNvSpPr>
          <p:nvPr/>
        </p:nvSpPr>
        <p:spPr bwMode="auto">
          <a:xfrm>
            <a:off x="4654119"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 name="Rectangle 6"/>
          <p:cNvSpPr>
            <a:spLocks noChangeArrowheads="1"/>
          </p:cNvSpPr>
          <p:nvPr/>
        </p:nvSpPr>
        <p:spPr bwMode="auto">
          <a:xfrm>
            <a:off x="2588699"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0</a:t>
            </a:r>
          </a:p>
        </p:txBody>
      </p:sp>
      <p:sp>
        <p:nvSpPr>
          <p:cNvPr id="8" name="Rectangle 7"/>
          <p:cNvSpPr>
            <a:spLocks noChangeArrowheads="1"/>
          </p:cNvSpPr>
          <p:nvPr/>
        </p:nvSpPr>
        <p:spPr bwMode="auto">
          <a:xfrm>
            <a:off x="3089647"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4</a:t>
            </a:r>
          </a:p>
        </p:txBody>
      </p:sp>
      <p:sp>
        <p:nvSpPr>
          <p:cNvPr id="9" name="Rectangle 8"/>
          <p:cNvSpPr>
            <a:spLocks noChangeArrowheads="1"/>
          </p:cNvSpPr>
          <p:nvPr/>
        </p:nvSpPr>
        <p:spPr bwMode="auto">
          <a:xfrm>
            <a:off x="4603936"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16</a:t>
            </a:r>
          </a:p>
        </p:txBody>
      </p:sp>
      <p:sp>
        <p:nvSpPr>
          <p:cNvPr id="10" name="Rectangle 9"/>
          <p:cNvSpPr>
            <a:spLocks noChangeArrowheads="1"/>
          </p:cNvSpPr>
          <p:nvPr/>
        </p:nvSpPr>
        <p:spPr bwMode="auto">
          <a:xfrm>
            <a:off x="6487993"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31</a:t>
            </a:r>
          </a:p>
        </p:txBody>
      </p:sp>
      <p:sp>
        <p:nvSpPr>
          <p:cNvPr id="11" name="Rectangle 10"/>
          <p:cNvSpPr>
            <a:spLocks noChangeArrowheads="1"/>
          </p:cNvSpPr>
          <p:nvPr/>
        </p:nvSpPr>
        <p:spPr bwMode="auto">
          <a:xfrm>
            <a:off x="2670612" y="820698"/>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版本</a:t>
            </a:r>
          </a:p>
        </p:txBody>
      </p:sp>
      <p:sp>
        <p:nvSpPr>
          <p:cNvPr id="12" name="Rectangle 11"/>
          <p:cNvSpPr>
            <a:spLocks noChangeArrowheads="1"/>
          </p:cNvSpPr>
          <p:nvPr/>
        </p:nvSpPr>
        <p:spPr bwMode="auto">
          <a:xfrm>
            <a:off x="2246223" y="631364"/>
            <a:ext cx="32380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dirty="0">
                <a:solidFill>
                  <a:srgbClr val="0000CC"/>
                </a:solidFill>
                <a:latin typeface="微软雅黑" pitchFamily="34" charset="-122"/>
                <a:ea typeface="微软雅黑" pitchFamily="34" charset="-122"/>
              </a:rPr>
              <a:t>位</a:t>
            </a:r>
          </a:p>
        </p:txBody>
      </p:sp>
      <p:sp>
        <p:nvSpPr>
          <p:cNvPr id="13" name="Line 12"/>
          <p:cNvSpPr>
            <a:spLocks noChangeShapeType="1"/>
          </p:cNvSpPr>
          <p:nvPr/>
        </p:nvSpPr>
        <p:spPr bwMode="auto">
          <a:xfrm>
            <a:off x="2630958" y="1292545"/>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3"/>
          <p:cNvSpPr>
            <a:spLocks noChangeShapeType="1"/>
          </p:cNvSpPr>
          <p:nvPr/>
        </p:nvSpPr>
        <p:spPr bwMode="auto">
          <a:xfrm>
            <a:off x="2631838" y="1526731"/>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4"/>
          <p:cNvSpPr>
            <a:spLocks noChangeShapeType="1"/>
          </p:cNvSpPr>
          <p:nvPr/>
        </p:nvSpPr>
        <p:spPr bwMode="auto">
          <a:xfrm>
            <a:off x="2631838" y="1761798"/>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5"/>
          <p:cNvSpPr>
            <a:spLocks noChangeShapeType="1"/>
          </p:cNvSpPr>
          <p:nvPr/>
        </p:nvSpPr>
        <p:spPr bwMode="auto">
          <a:xfrm>
            <a:off x="2631838" y="199686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6"/>
          <p:cNvSpPr>
            <a:spLocks noChangeShapeType="1"/>
          </p:cNvSpPr>
          <p:nvPr/>
        </p:nvSpPr>
        <p:spPr bwMode="auto">
          <a:xfrm>
            <a:off x="2631838" y="223193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7"/>
          <p:cNvSpPr>
            <a:spLocks noChangeShapeType="1"/>
          </p:cNvSpPr>
          <p:nvPr/>
        </p:nvSpPr>
        <p:spPr bwMode="auto">
          <a:xfrm>
            <a:off x="2631838" y="2466119"/>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8"/>
          <p:cNvSpPr>
            <a:spLocks noChangeShapeType="1"/>
          </p:cNvSpPr>
          <p:nvPr/>
        </p:nvSpPr>
        <p:spPr bwMode="auto">
          <a:xfrm>
            <a:off x="2631838" y="270118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9"/>
          <p:cNvSpPr>
            <a:spLocks noChangeShapeType="1"/>
          </p:cNvSpPr>
          <p:nvPr/>
        </p:nvSpPr>
        <p:spPr bwMode="auto">
          <a:xfrm>
            <a:off x="2631838" y="293537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Rectangle 20"/>
          <p:cNvSpPr>
            <a:spLocks noChangeArrowheads="1"/>
          </p:cNvSpPr>
          <p:nvPr/>
        </p:nvSpPr>
        <p:spPr bwMode="auto">
          <a:xfrm>
            <a:off x="2756855" y="2387763"/>
            <a:ext cx="3798929" cy="62596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Rectangle 21"/>
          <p:cNvSpPr>
            <a:spLocks noChangeArrowheads="1"/>
          </p:cNvSpPr>
          <p:nvPr/>
        </p:nvSpPr>
        <p:spPr bwMode="auto">
          <a:xfrm>
            <a:off x="2756855" y="1469987"/>
            <a:ext cx="3798929" cy="62684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Rectangle 22"/>
          <p:cNvSpPr>
            <a:spLocks noChangeArrowheads="1"/>
          </p:cNvSpPr>
          <p:nvPr/>
        </p:nvSpPr>
        <p:spPr bwMode="auto">
          <a:xfrm>
            <a:off x="4240663" y="247056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目的地址</a:t>
            </a:r>
          </a:p>
        </p:txBody>
      </p:sp>
      <p:sp>
        <p:nvSpPr>
          <p:cNvPr id="24" name="Rectangle 23"/>
          <p:cNvSpPr>
            <a:spLocks noChangeArrowheads="1"/>
          </p:cNvSpPr>
          <p:nvPr/>
        </p:nvSpPr>
        <p:spPr bwMode="auto">
          <a:xfrm>
            <a:off x="4317607" y="1531181"/>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源地址</a:t>
            </a:r>
          </a:p>
        </p:txBody>
      </p:sp>
      <p:sp>
        <p:nvSpPr>
          <p:cNvPr id="25" name="Line 24"/>
          <p:cNvSpPr>
            <a:spLocks noChangeShapeType="1"/>
          </p:cNvSpPr>
          <p:nvPr/>
        </p:nvSpPr>
        <p:spPr bwMode="auto">
          <a:xfrm>
            <a:off x="5669221"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Rectangle 25"/>
          <p:cNvSpPr>
            <a:spLocks noChangeArrowheads="1"/>
          </p:cNvSpPr>
          <p:nvPr/>
        </p:nvSpPr>
        <p:spPr bwMode="auto">
          <a:xfrm>
            <a:off x="4600594" y="1041678"/>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下一个首部</a:t>
            </a:r>
          </a:p>
        </p:txBody>
      </p:sp>
      <p:sp>
        <p:nvSpPr>
          <p:cNvPr id="27" name="Rectangle 26"/>
          <p:cNvSpPr>
            <a:spLocks noChangeArrowheads="1"/>
          </p:cNvSpPr>
          <p:nvPr/>
        </p:nvSpPr>
        <p:spPr bwMode="auto">
          <a:xfrm>
            <a:off x="5079909" y="820698"/>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流标号</a:t>
            </a:r>
          </a:p>
        </p:txBody>
      </p:sp>
      <p:sp>
        <p:nvSpPr>
          <p:cNvPr id="28" name="Rectangle 27"/>
          <p:cNvSpPr>
            <a:spLocks noChangeArrowheads="1"/>
          </p:cNvSpPr>
          <p:nvPr/>
        </p:nvSpPr>
        <p:spPr bwMode="auto">
          <a:xfrm>
            <a:off x="4066011"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12</a:t>
            </a:r>
          </a:p>
        </p:txBody>
      </p:sp>
      <p:sp>
        <p:nvSpPr>
          <p:cNvPr id="29" name="Rectangle 28"/>
          <p:cNvSpPr>
            <a:spLocks noChangeArrowheads="1"/>
          </p:cNvSpPr>
          <p:nvPr/>
        </p:nvSpPr>
        <p:spPr bwMode="auto">
          <a:xfrm>
            <a:off x="3248167" y="82069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通信量类</a:t>
            </a:r>
          </a:p>
        </p:txBody>
      </p:sp>
      <p:sp>
        <p:nvSpPr>
          <p:cNvPr id="30" name="Rectangle 29"/>
          <p:cNvSpPr>
            <a:spLocks noChangeArrowheads="1"/>
          </p:cNvSpPr>
          <p:nvPr/>
        </p:nvSpPr>
        <p:spPr bwMode="auto">
          <a:xfrm>
            <a:off x="4175741" y="1716945"/>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1" name="Rectangle 30"/>
          <p:cNvSpPr>
            <a:spLocks noChangeArrowheads="1"/>
          </p:cNvSpPr>
          <p:nvPr/>
        </p:nvSpPr>
        <p:spPr bwMode="auto">
          <a:xfrm>
            <a:off x="4175741" y="2657783"/>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2" name="Rectangle 31"/>
          <p:cNvSpPr>
            <a:spLocks noChangeArrowheads="1"/>
          </p:cNvSpPr>
          <p:nvPr/>
        </p:nvSpPr>
        <p:spPr bwMode="auto">
          <a:xfrm>
            <a:off x="2966475" y="1037276"/>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有效载荷长度</a:t>
            </a:r>
          </a:p>
        </p:txBody>
      </p:sp>
      <p:sp>
        <p:nvSpPr>
          <p:cNvPr id="33" name="Rectangle 32"/>
          <p:cNvSpPr>
            <a:spLocks noChangeArrowheads="1"/>
          </p:cNvSpPr>
          <p:nvPr/>
        </p:nvSpPr>
        <p:spPr bwMode="auto">
          <a:xfrm>
            <a:off x="5774061" y="1039049"/>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跳数限制</a:t>
            </a:r>
          </a:p>
        </p:txBody>
      </p:sp>
      <p:sp>
        <p:nvSpPr>
          <p:cNvPr id="34" name="Line 33"/>
          <p:cNvSpPr>
            <a:spLocks noChangeShapeType="1"/>
          </p:cNvSpPr>
          <p:nvPr/>
        </p:nvSpPr>
        <p:spPr bwMode="auto">
          <a:xfrm>
            <a:off x="4142606" y="847062"/>
            <a:ext cx="3522" cy="2121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Rectangle 34"/>
          <p:cNvSpPr>
            <a:spLocks noChangeArrowheads="1"/>
          </p:cNvSpPr>
          <p:nvPr/>
        </p:nvSpPr>
        <p:spPr bwMode="auto">
          <a:xfrm>
            <a:off x="5611114"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24</a:t>
            </a:r>
          </a:p>
        </p:txBody>
      </p:sp>
      <p:sp>
        <p:nvSpPr>
          <p:cNvPr id="36" name="Line 35"/>
          <p:cNvSpPr>
            <a:spLocks noChangeShapeType="1"/>
          </p:cNvSpPr>
          <p:nvPr/>
        </p:nvSpPr>
        <p:spPr bwMode="auto">
          <a:xfrm>
            <a:off x="2630958" y="3173961"/>
            <a:ext cx="40516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7" name="AutoShape 39"/>
          <p:cNvSpPr>
            <a:spLocks/>
          </p:cNvSpPr>
          <p:nvPr/>
        </p:nvSpPr>
        <p:spPr bwMode="auto">
          <a:xfrm>
            <a:off x="2461921" y="865551"/>
            <a:ext cx="126778" cy="2308410"/>
          </a:xfrm>
          <a:prstGeom prst="leftBrace">
            <a:avLst>
              <a:gd name="adj1" fmla="val 15173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8" name="Rectangle 40"/>
          <p:cNvSpPr>
            <a:spLocks noChangeArrowheads="1"/>
          </p:cNvSpPr>
          <p:nvPr/>
        </p:nvSpPr>
        <p:spPr bwMode="auto">
          <a:xfrm>
            <a:off x="1711709" y="1759157"/>
            <a:ext cx="775854" cy="5975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1100" b="1" dirty="0">
                <a:solidFill>
                  <a:srgbClr val="0000CC"/>
                </a:solidFill>
                <a:latin typeface="微软雅黑" pitchFamily="34" charset="-122"/>
                <a:ea typeface="微软雅黑" pitchFamily="34" charset="-122"/>
              </a:rPr>
              <a:t>IPv6 </a:t>
            </a:r>
            <a:r>
              <a:rPr kumimoji="1" lang="zh-CN" altLang="en-US" sz="1100" b="1" dirty="0">
                <a:solidFill>
                  <a:srgbClr val="0000CC"/>
                </a:solidFill>
                <a:latin typeface="微软雅黑" pitchFamily="34" charset="-122"/>
                <a:ea typeface="微软雅黑" pitchFamily="34" charset="-122"/>
              </a:rPr>
              <a:t>的</a:t>
            </a:r>
          </a:p>
          <a:p>
            <a:pPr algn="ctr" defTabSz="762000" eaLnBrk="0" hangingPunct="0"/>
            <a:r>
              <a:rPr kumimoji="1" lang="zh-CN" altLang="en-US" sz="1100" b="1" dirty="0">
                <a:solidFill>
                  <a:srgbClr val="0000CC"/>
                </a:solidFill>
                <a:latin typeface="微软雅黑" pitchFamily="34" charset="-122"/>
                <a:ea typeface="微软雅黑" pitchFamily="34" charset="-122"/>
              </a:rPr>
              <a:t>基本首部</a:t>
            </a:r>
          </a:p>
          <a:p>
            <a:pPr algn="ctr" defTabSz="762000" eaLnBrk="0" hangingPunct="0"/>
            <a:r>
              <a:rPr kumimoji="1" lang="zh-CN" altLang="en-US" sz="1100" b="1" dirty="0">
                <a:solidFill>
                  <a:srgbClr val="0000CC"/>
                </a:solidFill>
                <a:latin typeface="微软雅黑" pitchFamily="34" charset="-122"/>
                <a:ea typeface="微软雅黑" pitchFamily="34" charset="-122"/>
              </a:rPr>
              <a:t>（</a:t>
            </a:r>
            <a:r>
              <a:rPr kumimoji="1" lang="en-US" altLang="zh-CN" sz="1100" b="1" dirty="0">
                <a:solidFill>
                  <a:srgbClr val="0000CC"/>
                </a:solidFill>
                <a:latin typeface="微软雅黑" pitchFamily="34" charset="-122"/>
                <a:ea typeface="微软雅黑" pitchFamily="34" charset="-122"/>
              </a:rPr>
              <a:t>40 B</a:t>
            </a:r>
            <a:r>
              <a:rPr kumimoji="1" lang="zh-CN" altLang="en-US" sz="1100" b="1" dirty="0">
                <a:solidFill>
                  <a:srgbClr val="0000CC"/>
                </a:solidFill>
                <a:latin typeface="微软雅黑" pitchFamily="34" charset="-122"/>
                <a:ea typeface="微软雅黑" pitchFamily="34" charset="-122"/>
              </a:rPr>
              <a:t>）</a:t>
            </a:r>
          </a:p>
        </p:txBody>
      </p:sp>
      <p:sp>
        <p:nvSpPr>
          <p:cNvPr id="39" name="Rectangle 43"/>
          <p:cNvSpPr>
            <a:spLocks noChangeArrowheads="1"/>
          </p:cNvSpPr>
          <p:nvPr/>
        </p:nvSpPr>
        <p:spPr bwMode="auto">
          <a:xfrm flipH="1">
            <a:off x="3134547" y="840900"/>
            <a:ext cx="1008059" cy="21834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1" name="对角圆角矩形 40"/>
          <p:cNvSpPr/>
          <p:nvPr/>
        </p:nvSpPr>
        <p:spPr>
          <a:xfrm>
            <a:off x="1046286" y="3368955"/>
            <a:ext cx="6998676" cy="876103"/>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p>
        </p:txBody>
      </p:sp>
      <p:sp>
        <p:nvSpPr>
          <p:cNvPr id="42" name="矩形 41"/>
          <p:cNvSpPr/>
          <p:nvPr/>
        </p:nvSpPr>
        <p:spPr>
          <a:xfrm>
            <a:off x="1169377" y="3412417"/>
            <a:ext cx="6875585" cy="747128"/>
          </a:xfrm>
          <a:prstGeom prst="rect">
            <a:avLst/>
          </a:prstGeom>
        </p:spPr>
        <p:txBody>
          <a:bodyPr wrap="square">
            <a:spAutoFit/>
          </a:bodyPr>
          <a:lstStyle/>
          <a:p>
            <a:pPr>
              <a:lnSpc>
                <a:spcPts val="2700"/>
              </a:lnSpc>
            </a:pPr>
            <a:r>
              <a:rPr lang="zh-CN" altLang="en-US" sz="1600" b="1" dirty="0">
                <a:solidFill>
                  <a:schemeClr val="bg1"/>
                </a:solidFill>
                <a:latin typeface="微软雅黑" pitchFamily="34" charset="-122"/>
                <a:ea typeface="微软雅黑" pitchFamily="34" charset="-122"/>
              </a:rPr>
              <a:t>通信量类</a:t>
            </a:r>
            <a:r>
              <a:rPr lang="en-US" altLang="zh-CN" sz="1600" b="1" dirty="0">
                <a:solidFill>
                  <a:schemeClr val="bg1"/>
                </a:solidFill>
                <a:latin typeface="微软雅黑" pitchFamily="34" charset="-122"/>
                <a:ea typeface="微软雅黑" pitchFamily="34" charset="-122"/>
              </a:rPr>
              <a:t>(traffic class)—— 8 </a:t>
            </a:r>
            <a:r>
              <a:rPr lang="zh-CN" altLang="en-US" sz="1600" b="1" dirty="0">
                <a:solidFill>
                  <a:schemeClr val="bg1"/>
                </a:solidFill>
                <a:latin typeface="微软雅黑" pitchFamily="34" charset="-122"/>
                <a:ea typeface="微软雅黑" pitchFamily="34" charset="-122"/>
              </a:rPr>
              <a:t>位。这是为了区分不同的 </a:t>
            </a:r>
            <a:r>
              <a:rPr lang="en-US" altLang="zh-CN" sz="1600" b="1" dirty="0">
                <a:solidFill>
                  <a:schemeClr val="bg1"/>
                </a:solidFill>
                <a:latin typeface="微软雅黑" pitchFamily="34" charset="-122"/>
                <a:ea typeface="微软雅黑" pitchFamily="34" charset="-122"/>
              </a:rPr>
              <a:t>IPv6 </a:t>
            </a:r>
            <a:r>
              <a:rPr lang="zh-CN" altLang="en-US" sz="1600" b="1" dirty="0">
                <a:solidFill>
                  <a:schemeClr val="bg1"/>
                </a:solidFill>
                <a:latin typeface="微软雅黑" pitchFamily="34" charset="-122"/>
                <a:ea typeface="微软雅黑" pitchFamily="34" charset="-122"/>
              </a:rPr>
              <a:t>数据报的类别或优先级。目前正在进行不同的通信量类性能的实验。 </a:t>
            </a:r>
          </a:p>
        </p:txBody>
      </p:sp>
    </p:spTree>
    <p:extLst>
      <p:ext uri="{BB962C8B-B14F-4D97-AF65-F5344CB8AC3E}">
        <p14:creationId xmlns:p14="http://schemas.microsoft.com/office/powerpoint/2010/main" val="60144890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圆角矩形 42"/>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Rectangle 2"/>
          <p:cNvSpPr>
            <a:spLocks noChangeArrowheads="1"/>
          </p:cNvSpPr>
          <p:nvPr/>
        </p:nvSpPr>
        <p:spPr bwMode="auto">
          <a:xfrm>
            <a:off x="2630958" y="847062"/>
            <a:ext cx="4042800" cy="2326899"/>
          </a:xfrm>
          <a:prstGeom prst="rect">
            <a:avLst/>
          </a:prstGeom>
          <a:solidFill>
            <a:srgbClr val="99FFCC"/>
          </a:solidFill>
          <a:ln w="381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 name="Line 3"/>
          <p:cNvSpPr>
            <a:spLocks noChangeShapeType="1"/>
          </p:cNvSpPr>
          <p:nvPr/>
        </p:nvSpPr>
        <p:spPr bwMode="auto">
          <a:xfrm>
            <a:off x="2635360" y="1058358"/>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 name="Line 4"/>
          <p:cNvSpPr>
            <a:spLocks noChangeShapeType="1"/>
          </p:cNvSpPr>
          <p:nvPr/>
        </p:nvSpPr>
        <p:spPr bwMode="auto">
          <a:xfrm>
            <a:off x="3134547" y="847943"/>
            <a:ext cx="0" cy="21129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 name="Line 5"/>
          <p:cNvSpPr>
            <a:spLocks noChangeShapeType="1"/>
          </p:cNvSpPr>
          <p:nvPr/>
        </p:nvSpPr>
        <p:spPr bwMode="auto">
          <a:xfrm>
            <a:off x="4654119"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 name="Rectangle 6"/>
          <p:cNvSpPr>
            <a:spLocks noChangeArrowheads="1"/>
          </p:cNvSpPr>
          <p:nvPr/>
        </p:nvSpPr>
        <p:spPr bwMode="auto">
          <a:xfrm>
            <a:off x="2588699"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0</a:t>
            </a:r>
          </a:p>
        </p:txBody>
      </p:sp>
      <p:sp>
        <p:nvSpPr>
          <p:cNvPr id="8" name="Rectangle 7"/>
          <p:cNvSpPr>
            <a:spLocks noChangeArrowheads="1"/>
          </p:cNvSpPr>
          <p:nvPr/>
        </p:nvSpPr>
        <p:spPr bwMode="auto">
          <a:xfrm>
            <a:off x="3089647"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4</a:t>
            </a:r>
          </a:p>
        </p:txBody>
      </p:sp>
      <p:sp>
        <p:nvSpPr>
          <p:cNvPr id="9" name="Rectangle 8"/>
          <p:cNvSpPr>
            <a:spLocks noChangeArrowheads="1"/>
          </p:cNvSpPr>
          <p:nvPr/>
        </p:nvSpPr>
        <p:spPr bwMode="auto">
          <a:xfrm>
            <a:off x="4603936"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16</a:t>
            </a:r>
          </a:p>
        </p:txBody>
      </p:sp>
      <p:sp>
        <p:nvSpPr>
          <p:cNvPr id="10" name="Rectangle 9"/>
          <p:cNvSpPr>
            <a:spLocks noChangeArrowheads="1"/>
          </p:cNvSpPr>
          <p:nvPr/>
        </p:nvSpPr>
        <p:spPr bwMode="auto">
          <a:xfrm>
            <a:off x="6487993"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31</a:t>
            </a:r>
          </a:p>
        </p:txBody>
      </p:sp>
      <p:sp>
        <p:nvSpPr>
          <p:cNvPr id="11" name="Rectangle 10"/>
          <p:cNvSpPr>
            <a:spLocks noChangeArrowheads="1"/>
          </p:cNvSpPr>
          <p:nvPr/>
        </p:nvSpPr>
        <p:spPr bwMode="auto">
          <a:xfrm>
            <a:off x="2670612" y="820698"/>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版本</a:t>
            </a:r>
          </a:p>
        </p:txBody>
      </p:sp>
      <p:sp>
        <p:nvSpPr>
          <p:cNvPr id="12" name="Rectangle 11"/>
          <p:cNvSpPr>
            <a:spLocks noChangeArrowheads="1"/>
          </p:cNvSpPr>
          <p:nvPr/>
        </p:nvSpPr>
        <p:spPr bwMode="auto">
          <a:xfrm>
            <a:off x="2246223" y="631364"/>
            <a:ext cx="32380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dirty="0">
                <a:solidFill>
                  <a:srgbClr val="0000CC"/>
                </a:solidFill>
                <a:latin typeface="微软雅黑" pitchFamily="34" charset="-122"/>
                <a:ea typeface="微软雅黑" pitchFamily="34" charset="-122"/>
              </a:rPr>
              <a:t>位</a:t>
            </a:r>
          </a:p>
        </p:txBody>
      </p:sp>
      <p:sp>
        <p:nvSpPr>
          <p:cNvPr id="13" name="Line 12"/>
          <p:cNvSpPr>
            <a:spLocks noChangeShapeType="1"/>
          </p:cNvSpPr>
          <p:nvPr/>
        </p:nvSpPr>
        <p:spPr bwMode="auto">
          <a:xfrm>
            <a:off x="2630958" y="1292545"/>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3"/>
          <p:cNvSpPr>
            <a:spLocks noChangeShapeType="1"/>
          </p:cNvSpPr>
          <p:nvPr/>
        </p:nvSpPr>
        <p:spPr bwMode="auto">
          <a:xfrm>
            <a:off x="2631838" y="1526731"/>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4"/>
          <p:cNvSpPr>
            <a:spLocks noChangeShapeType="1"/>
          </p:cNvSpPr>
          <p:nvPr/>
        </p:nvSpPr>
        <p:spPr bwMode="auto">
          <a:xfrm>
            <a:off x="2631838" y="1761798"/>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5"/>
          <p:cNvSpPr>
            <a:spLocks noChangeShapeType="1"/>
          </p:cNvSpPr>
          <p:nvPr/>
        </p:nvSpPr>
        <p:spPr bwMode="auto">
          <a:xfrm>
            <a:off x="2631838" y="199686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6"/>
          <p:cNvSpPr>
            <a:spLocks noChangeShapeType="1"/>
          </p:cNvSpPr>
          <p:nvPr/>
        </p:nvSpPr>
        <p:spPr bwMode="auto">
          <a:xfrm>
            <a:off x="2631838" y="223193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7"/>
          <p:cNvSpPr>
            <a:spLocks noChangeShapeType="1"/>
          </p:cNvSpPr>
          <p:nvPr/>
        </p:nvSpPr>
        <p:spPr bwMode="auto">
          <a:xfrm>
            <a:off x="2631838" y="2466119"/>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8"/>
          <p:cNvSpPr>
            <a:spLocks noChangeShapeType="1"/>
          </p:cNvSpPr>
          <p:nvPr/>
        </p:nvSpPr>
        <p:spPr bwMode="auto">
          <a:xfrm>
            <a:off x="2631838" y="270118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9"/>
          <p:cNvSpPr>
            <a:spLocks noChangeShapeType="1"/>
          </p:cNvSpPr>
          <p:nvPr/>
        </p:nvSpPr>
        <p:spPr bwMode="auto">
          <a:xfrm>
            <a:off x="2631838" y="293537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Rectangle 20"/>
          <p:cNvSpPr>
            <a:spLocks noChangeArrowheads="1"/>
          </p:cNvSpPr>
          <p:nvPr/>
        </p:nvSpPr>
        <p:spPr bwMode="auto">
          <a:xfrm>
            <a:off x="2756855" y="2387763"/>
            <a:ext cx="3798929" cy="62596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Rectangle 21"/>
          <p:cNvSpPr>
            <a:spLocks noChangeArrowheads="1"/>
          </p:cNvSpPr>
          <p:nvPr/>
        </p:nvSpPr>
        <p:spPr bwMode="auto">
          <a:xfrm>
            <a:off x="2756855" y="1469987"/>
            <a:ext cx="3798929" cy="62684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Rectangle 22"/>
          <p:cNvSpPr>
            <a:spLocks noChangeArrowheads="1"/>
          </p:cNvSpPr>
          <p:nvPr/>
        </p:nvSpPr>
        <p:spPr bwMode="auto">
          <a:xfrm>
            <a:off x="4240663" y="247056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目的地址</a:t>
            </a:r>
          </a:p>
        </p:txBody>
      </p:sp>
      <p:sp>
        <p:nvSpPr>
          <p:cNvPr id="24" name="Rectangle 23"/>
          <p:cNvSpPr>
            <a:spLocks noChangeArrowheads="1"/>
          </p:cNvSpPr>
          <p:nvPr/>
        </p:nvSpPr>
        <p:spPr bwMode="auto">
          <a:xfrm>
            <a:off x="4317607" y="1531181"/>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源地址</a:t>
            </a:r>
          </a:p>
        </p:txBody>
      </p:sp>
      <p:sp>
        <p:nvSpPr>
          <p:cNvPr id="25" name="Line 24"/>
          <p:cNvSpPr>
            <a:spLocks noChangeShapeType="1"/>
          </p:cNvSpPr>
          <p:nvPr/>
        </p:nvSpPr>
        <p:spPr bwMode="auto">
          <a:xfrm>
            <a:off x="5669221"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Rectangle 25"/>
          <p:cNvSpPr>
            <a:spLocks noChangeArrowheads="1"/>
          </p:cNvSpPr>
          <p:nvPr/>
        </p:nvSpPr>
        <p:spPr bwMode="auto">
          <a:xfrm>
            <a:off x="4600594" y="1041678"/>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下一个首部</a:t>
            </a:r>
          </a:p>
        </p:txBody>
      </p:sp>
      <p:sp>
        <p:nvSpPr>
          <p:cNvPr id="27" name="Rectangle 26"/>
          <p:cNvSpPr>
            <a:spLocks noChangeArrowheads="1"/>
          </p:cNvSpPr>
          <p:nvPr/>
        </p:nvSpPr>
        <p:spPr bwMode="auto">
          <a:xfrm>
            <a:off x="5079909" y="820698"/>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流标号</a:t>
            </a:r>
          </a:p>
        </p:txBody>
      </p:sp>
      <p:sp>
        <p:nvSpPr>
          <p:cNvPr id="28" name="Rectangle 27"/>
          <p:cNvSpPr>
            <a:spLocks noChangeArrowheads="1"/>
          </p:cNvSpPr>
          <p:nvPr/>
        </p:nvSpPr>
        <p:spPr bwMode="auto">
          <a:xfrm>
            <a:off x="4066011"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12</a:t>
            </a:r>
          </a:p>
        </p:txBody>
      </p:sp>
      <p:sp>
        <p:nvSpPr>
          <p:cNvPr id="29" name="Rectangle 28"/>
          <p:cNvSpPr>
            <a:spLocks noChangeArrowheads="1"/>
          </p:cNvSpPr>
          <p:nvPr/>
        </p:nvSpPr>
        <p:spPr bwMode="auto">
          <a:xfrm>
            <a:off x="3248167" y="82069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通信量类</a:t>
            </a:r>
          </a:p>
        </p:txBody>
      </p:sp>
      <p:sp>
        <p:nvSpPr>
          <p:cNvPr id="30" name="Rectangle 29"/>
          <p:cNvSpPr>
            <a:spLocks noChangeArrowheads="1"/>
          </p:cNvSpPr>
          <p:nvPr/>
        </p:nvSpPr>
        <p:spPr bwMode="auto">
          <a:xfrm>
            <a:off x="4175741" y="1716945"/>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1" name="Rectangle 30"/>
          <p:cNvSpPr>
            <a:spLocks noChangeArrowheads="1"/>
          </p:cNvSpPr>
          <p:nvPr/>
        </p:nvSpPr>
        <p:spPr bwMode="auto">
          <a:xfrm>
            <a:off x="4175741" y="2657783"/>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2" name="Rectangle 31"/>
          <p:cNvSpPr>
            <a:spLocks noChangeArrowheads="1"/>
          </p:cNvSpPr>
          <p:nvPr/>
        </p:nvSpPr>
        <p:spPr bwMode="auto">
          <a:xfrm>
            <a:off x="2966475" y="1037276"/>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有效载荷长度</a:t>
            </a:r>
          </a:p>
        </p:txBody>
      </p:sp>
      <p:sp>
        <p:nvSpPr>
          <p:cNvPr id="33" name="Rectangle 32"/>
          <p:cNvSpPr>
            <a:spLocks noChangeArrowheads="1"/>
          </p:cNvSpPr>
          <p:nvPr/>
        </p:nvSpPr>
        <p:spPr bwMode="auto">
          <a:xfrm>
            <a:off x="5774061" y="1039049"/>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跳数限制</a:t>
            </a:r>
          </a:p>
        </p:txBody>
      </p:sp>
      <p:sp>
        <p:nvSpPr>
          <p:cNvPr id="34" name="Line 33"/>
          <p:cNvSpPr>
            <a:spLocks noChangeShapeType="1"/>
          </p:cNvSpPr>
          <p:nvPr/>
        </p:nvSpPr>
        <p:spPr bwMode="auto">
          <a:xfrm>
            <a:off x="4142606" y="847062"/>
            <a:ext cx="3522" cy="2121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Rectangle 34"/>
          <p:cNvSpPr>
            <a:spLocks noChangeArrowheads="1"/>
          </p:cNvSpPr>
          <p:nvPr/>
        </p:nvSpPr>
        <p:spPr bwMode="auto">
          <a:xfrm>
            <a:off x="5611114"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24</a:t>
            </a:r>
          </a:p>
        </p:txBody>
      </p:sp>
      <p:sp>
        <p:nvSpPr>
          <p:cNvPr id="36" name="Line 35"/>
          <p:cNvSpPr>
            <a:spLocks noChangeShapeType="1"/>
          </p:cNvSpPr>
          <p:nvPr/>
        </p:nvSpPr>
        <p:spPr bwMode="auto">
          <a:xfrm>
            <a:off x="2630958" y="3173961"/>
            <a:ext cx="40516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7" name="AutoShape 39"/>
          <p:cNvSpPr>
            <a:spLocks/>
          </p:cNvSpPr>
          <p:nvPr/>
        </p:nvSpPr>
        <p:spPr bwMode="auto">
          <a:xfrm>
            <a:off x="2461921" y="865551"/>
            <a:ext cx="126778" cy="2308410"/>
          </a:xfrm>
          <a:prstGeom prst="leftBrace">
            <a:avLst>
              <a:gd name="adj1" fmla="val 15173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8" name="Rectangle 40"/>
          <p:cNvSpPr>
            <a:spLocks noChangeArrowheads="1"/>
          </p:cNvSpPr>
          <p:nvPr/>
        </p:nvSpPr>
        <p:spPr bwMode="auto">
          <a:xfrm>
            <a:off x="1711709" y="1759157"/>
            <a:ext cx="775854" cy="5975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1100" b="1" dirty="0">
                <a:solidFill>
                  <a:srgbClr val="0000CC"/>
                </a:solidFill>
                <a:latin typeface="微软雅黑" pitchFamily="34" charset="-122"/>
                <a:ea typeface="微软雅黑" pitchFamily="34" charset="-122"/>
              </a:rPr>
              <a:t>IPv6 </a:t>
            </a:r>
            <a:r>
              <a:rPr kumimoji="1" lang="zh-CN" altLang="en-US" sz="1100" b="1" dirty="0">
                <a:solidFill>
                  <a:srgbClr val="0000CC"/>
                </a:solidFill>
                <a:latin typeface="微软雅黑" pitchFamily="34" charset="-122"/>
                <a:ea typeface="微软雅黑" pitchFamily="34" charset="-122"/>
              </a:rPr>
              <a:t>的</a:t>
            </a:r>
          </a:p>
          <a:p>
            <a:pPr algn="ctr" defTabSz="762000" eaLnBrk="0" hangingPunct="0"/>
            <a:r>
              <a:rPr kumimoji="1" lang="zh-CN" altLang="en-US" sz="1100" b="1" dirty="0">
                <a:solidFill>
                  <a:srgbClr val="0000CC"/>
                </a:solidFill>
                <a:latin typeface="微软雅黑" pitchFamily="34" charset="-122"/>
                <a:ea typeface="微软雅黑" pitchFamily="34" charset="-122"/>
              </a:rPr>
              <a:t>基本首部</a:t>
            </a:r>
          </a:p>
          <a:p>
            <a:pPr algn="ctr" defTabSz="762000" eaLnBrk="0" hangingPunct="0"/>
            <a:r>
              <a:rPr kumimoji="1" lang="zh-CN" altLang="en-US" sz="1100" b="1" dirty="0">
                <a:solidFill>
                  <a:srgbClr val="0000CC"/>
                </a:solidFill>
                <a:latin typeface="微软雅黑" pitchFamily="34" charset="-122"/>
                <a:ea typeface="微软雅黑" pitchFamily="34" charset="-122"/>
              </a:rPr>
              <a:t>（</a:t>
            </a:r>
            <a:r>
              <a:rPr kumimoji="1" lang="en-US" altLang="zh-CN" sz="1100" b="1" dirty="0">
                <a:solidFill>
                  <a:srgbClr val="0000CC"/>
                </a:solidFill>
                <a:latin typeface="微软雅黑" pitchFamily="34" charset="-122"/>
                <a:ea typeface="微软雅黑" pitchFamily="34" charset="-122"/>
              </a:rPr>
              <a:t>40 B</a:t>
            </a:r>
            <a:r>
              <a:rPr kumimoji="1" lang="zh-CN" altLang="en-US" sz="1100" b="1" dirty="0">
                <a:solidFill>
                  <a:srgbClr val="0000CC"/>
                </a:solidFill>
                <a:latin typeface="微软雅黑" pitchFamily="34" charset="-122"/>
                <a:ea typeface="微软雅黑" pitchFamily="34" charset="-122"/>
              </a:rPr>
              <a:t>）</a:t>
            </a:r>
          </a:p>
        </p:txBody>
      </p:sp>
      <p:sp>
        <p:nvSpPr>
          <p:cNvPr id="39" name="Rectangle 43"/>
          <p:cNvSpPr>
            <a:spLocks noChangeArrowheads="1"/>
          </p:cNvSpPr>
          <p:nvPr/>
        </p:nvSpPr>
        <p:spPr bwMode="auto">
          <a:xfrm>
            <a:off x="4142605" y="840900"/>
            <a:ext cx="2524894" cy="21834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1" name="对角圆角矩形 40"/>
          <p:cNvSpPr/>
          <p:nvPr/>
        </p:nvSpPr>
        <p:spPr>
          <a:xfrm>
            <a:off x="1046286" y="3270739"/>
            <a:ext cx="6998676" cy="1081896"/>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矩形 41"/>
          <p:cNvSpPr/>
          <p:nvPr/>
        </p:nvSpPr>
        <p:spPr>
          <a:xfrm>
            <a:off x="1169377" y="3344153"/>
            <a:ext cx="6875585" cy="938719"/>
          </a:xfrm>
          <a:prstGeom prst="rect">
            <a:avLst/>
          </a:prstGeom>
        </p:spPr>
        <p:txBody>
          <a:bodyPr wrap="square">
            <a:spAutoFit/>
          </a:bodyPr>
          <a:lstStyle/>
          <a:p>
            <a:pPr>
              <a:lnSpc>
                <a:spcPts val="2200"/>
              </a:lnSpc>
            </a:pPr>
            <a:r>
              <a:rPr lang="zh-CN" altLang="en-US" sz="1600" b="1" dirty="0">
                <a:solidFill>
                  <a:schemeClr val="bg1"/>
                </a:solidFill>
                <a:latin typeface="微软雅黑" pitchFamily="34" charset="-122"/>
                <a:ea typeface="微软雅黑" pitchFamily="34" charset="-122"/>
              </a:rPr>
              <a:t>流标号</a:t>
            </a:r>
            <a:r>
              <a:rPr lang="en-US" altLang="zh-CN" sz="1600" b="1" dirty="0">
                <a:solidFill>
                  <a:schemeClr val="bg1"/>
                </a:solidFill>
                <a:latin typeface="微软雅黑" pitchFamily="34" charset="-122"/>
                <a:ea typeface="微软雅黑" pitchFamily="34" charset="-122"/>
              </a:rPr>
              <a:t>(flow label)—— 20 </a:t>
            </a:r>
            <a:r>
              <a:rPr lang="zh-CN" altLang="en-US" sz="1600" b="1" dirty="0">
                <a:solidFill>
                  <a:schemeClr val="bg1"/>
                </a:solidFill>
                <a:latin typeface="微软雅黑" pitchFamily="34" charset="-122"/>
                <a:ea typeface="微软雅黑" pitchFamily="34" charset="-122"/>
              </a:rPr>
              <a:t>位。 “流”是互联网络上从特定源点到特定终点的一系列数据报， “流”所经过的路径上的路由器都保证指明的服务质量。所有属于同一个流的数据报都具有同样的流标号。 </a:t>
            </a:r>
          </a:p>
        </p:txBody>
      </p:sp>
    </p:spTree>
    <p:extLst>
      <p:ext uri="{BB962C8B-B14F-4D97-AF65-F5344CB8AC3E}">
        <p14:creationId xmlns:p14="http://schemas.microsoft.com/office/powerpoint/2010/main" val="239107713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圆角矩形 42"/>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Rectangle 2"/>
          <p:cNvSpPr>
            <a:spLocks noChangeArrowheads="1"/>
          </p:cNvSpPr>
          <p:nvPr/>
        </p:nvSpPr>
        <p:spPr bwMode="auto">
          <a:xfrm>
            <a:off x="2630958" y="847062"/>
            <a:ext cx="4042800" cy="2326899"/>
          </a:xfrm>
          <a:prstGeom prst="rect">
            <a:avLst/>
          </a:prstGeom>
          <a:solidFill>
            <a:srgbClr val="99FFCC"/>
          </a:solidFill>
          <a:ln w="381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 name="Line 3"/>
          <p:cNvSpPr>
            <a:spLocks noChangeShapeType="1"/>
          </p:cNvSpPr>
          <p:nvPr/>
        </p:nvSpPr>
        <p:spPr bwMode="auto">
          <a:xfrm>
            <a:off x="2635360" y="1058358"/>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 name="Line 4"/>
          <p:cNvSpPr>
            <a:spLocks noChangeShapeType="1"/>
          </p:cNvSpPr>
          <p:nvPr/>
        </p:nvSpPr>
        <p:spPr bwMode="auto">
          <a:xfrm>
            <a:off x="3134547" y="847943"/>
            <a:ext cx="0" cy="21129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 name="Line 5"/>
          <p:cNvSpPr>
            <a:spLocks noChangeShapeType="1"/>
          </p:cNvSpPr>
          <p:nvPr/>
        </p:nvSpPr>
        <p:spPr bwMode="auto">
          <a:xfrm>
            <a:off x="4654119"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 name="Rectangle 6"/>
          <p:cNvSpPr>
            <a:spLocks noChangeArrowheads="1"/>
          </p:cNvSpPr>
          <p:nvPr/>
        </p:nvSpPr>
        <p:spPr bwMode="auto">
          <a:xfrm>
            <a:off x="2588699"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0</a:t>
            </a:r>
          </a:p>
        </p:txBody>
      </p:sp>
      <p:sp>
        <p:nvSpPr>
          <p:cNvPr id="8" name="Rectangle 7"/>
          <p:cNvSpPr>
            <a:spLocks noChangeArrowheads="1"/>
          </p:cNvSpPr>
          <p:nvPr/>
        </p:nvSpPr>
        <p:spPr bwMode="auto">
          <a:xfrm>
            <a:off x="3089647"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4</a:t>
            </a:r>
          </a:p>
        </p:txBody>
      </p:sp>
      <p:sp>
        <p:nvSpPr>
          <p:cNvPr id="9" name="Rectangle 8"/>
          <p:cNvSpPr>
            <a:spLocks noChangeArrowheads="1"/>
          </p:cNvSpPr>
          <p:nvPr/>
        </p:nvSpPr>
        <p:spPr bwMode="auto">
          <a:xfrm>
            <a:off x="4603936"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16</a:t>
            </a:r>
          </a:p>
        </p:txBody>
      </p:sp>
      <p:sp>
        <p:nvSpPr>
          <p:cNvPr id="10" name="Rectangle 9"/>
          <p:cNvSpPr>
            <a:spLocks noChangeArrowheads="1"/>
          </p:cNvSpPr>
          <p:nvPr/>
        </p:nvSpPr>
        <p:spPr bwMode="auto">
          <a:xfrm>
            <a:off x="6487993"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31</a:t>
            </a:r>
          </a:p>
        </p:txBody>
      </p:sp>
      <p:sp>
        <p:nvSpPr>
          <p:cNvPr id="11" name="Rectangle 10"/>
          <p:cNvSpPr>
            <a:spLocks noChangeArrowheads="1"/>
          </p:cNvSpPr>
          <p:nvPr/>
        </p:nvSpPr>
        <p:spPr bwMode="auto">
          <a:xfrm>
            <a:off x="2670612" y="820698"/>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版本</a:t>
            </a:r>
          </a:p>
        </p:txBody>
      </p:sp>
      <p:sp>
        <p:nvSpPr>
          <p:cNvPr id="12" name="Rectangle 11"/>
          <p:cNvSpPr>
            <a:spLocks noChangeArrowheads="1"/>
          </p:cNvSpPr>
          <p:nvPr/>
        </p:nvSpPr>
        <p:spPr bwMode="auto">
          <a:xfrm>
            <a:off x="2246223" y="631364"/>
            <a:ext cx="32380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dirty="0">
                <a:solidFill>
                  <a:srgbClr val="0000CC"/>
                </a:solidFill>
                <a:latin typeface="微软雅黑" pitchFamily="34" charset="-122"/>
                <a:ea typeface="微软雅黑" pitchFamily="34" charset="-122"/>
              </a:rPr>
              <a:t>位</a:t>
            </a:r>
          </a:p>
        </p:txBody>
      </p:sp>
      <p:sp>
        <p:nvSpPr>
          <p:cNvPr id="13" name="Line 12"/>
          <p:cNvSpPr>
            <a:spLocks noChangeShapeType="1"/>
          </p:cNvSpPr>
          <p:nvPr/>
        </p:nvSpPr>
        <p:spPr bwMode="auto">
          <a:xfrm>
            <a:off x="2630958" y="1292545"/>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3"/>
          <p:cNvSpPr>
            <a:spLocks noChangeShapeType="1"/>
          </p:cNvSpPr>
          <p:nvPr/>
        </p:nvSpPr>
        <p:spPr bwMode="auto">
          <a:xfrm>
            <a:off x="2631838" y="1526731"/>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4"/>
          <p:cNvSpPr>
            <a:spLocks noChangeShapeType="1"/>
          </p:cNvSpPr>
          <p:nvPr/>
        </p:nvSpPr>
        <p:spPr bwMode="auto">
          <a:xfrm>
            <a:off x="2631838" y="1761798"/>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5"/>
          <p:cNvSpPr>
            <a:spLocks noChangeShapeType="1"/>
          </p:cNvSpPr>
          <p:nvPr/>
        </p:nvSpPr>
        <p:spPr bwMode="auto">
          <a:xfrm>
            <a:off x="2631838" y="199686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6"/>
          <p:cNvSpPr>
            <a:spLocks noChangeShapeType="1"/>
          </p:cNvSpPr>
          <p:nvPr/>
        </p:nvSpPr>
        <p:spPr bwMode="auto">
          <a:xfrm>
            <a:off x="2631838" y="223193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7"/>
          <p:cNvSpPr>
            <a:spLocks noChangeShapeType="1"/>
          </p:cNvSpPr>
          <p:nvPr/>
        </p:nvSpPr>
        <p:spPr bwMode="auto">
          <a:xfrm>
            <a:off x="2631838" y="2466119"/>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8"/>
          <p:cNvSpPr>
            <a:spLocks noChangeShapeType="1"/>
          </p:cNvSpPr>
          <p:nvPr/>
        </p:nvSpPr>
        <p:spPr bwMode="auto">
          <a:xfrm>
            <a:off x="2631838" y="270118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9"/>
          <p:cNvSpPr>
            <a:spLocks noChangeShapeType="1"/>
          </p:cNvSpPr>
          <p:nvPr/>
        </p:nvSpPr>
        <p:spPr bwMode="auto">
          <a:xfrm>
            <a:off x="2631838" y="293537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Rectangle 20"/>
          <p:cNvSpPr>
            <a:spLocks noChangeArrowheads="1"/>
          </p:cNvSpPr>
          <p:nvPr/>
        </p:nvSpPr>
        <p:spPr bwMode="auto">
          <a:xfrm>
            <a:off x="2756855" y="2387763"/>
            <a:ext cx="3798929" cy="62596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Rectangle 21"/>
          <p:cNvSpPr>
            <a:spLocks noChangeArrowheads="1"/>
          </p:cNvSpPr>
          <p:nvPr/>
        </p:nvSpPr>
        <p:spPr bwMode="auto">
          <a:xfrm>
            <a:off x="2756855" y="1469987"/>
            <a:ext cx="3798929" cy="62684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Rectangle 22"/>
          <p:cNvSpPr>
            <a:spLocks noChangeArrowheads="1"/>
          </p:cNvSpPr>
          <p:nvPr/>
        </p:nvSpPr>
        <p:spPr bwMode="auto">
          <a:xfrm>
            <a:off x="4240663" y="247056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目的地址</a:t>
            </a:r>
          </a:p>
        </p:txBody>
      </p:sp>
      <p:sp>
        <p:nvSpPr>
          <p:cNvPr id="24" name="Rectangle 23"/>
          <p:cNvSpPr>
            <a:spLocks noChangeArrowheads="1"/>
          </p:cNvSpPr>
          <p:nvPr/>
        </p:nvSpPr>
        <p:spPr bwMode="auto">
          <a:xfrm>
            <a:off x="4317607" y="1531181"/>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源地址</a:t>
            </a:r>
          </a:p>
        </p:txBody>
      </p:sp>
      <p:sp>
        <p:nvSpPr>
          <p:cNvPr id="25" name="Line 24"/>
          <p:cNvSpPr>
            <a:spLocks noChangeShapeType="1"/>
          </p:cNvSpPr>
          <p:nvPr/>
        </p:nvSpPr>
        <p:spPr bwMode="auto">
          <a:xfrm>
            <a:off x="5669221"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Rectangle 25"/>
          <p:cNvSpPr>
            <a:spLocks noChangeArrowheads="1"/>
          </p:cNvSpPr>
          <p:nvPr/>
        </p:nvSpPr>
        <p:spPr bwMode="auto">
          <a:xfrm>
            <a:off x="4600594" y="1041678"/>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下一个首部</a:t>
            </a:r>
          </a:p>
        </p:txBody>
      </p:sp>
      <p:sp>
        <p:nvSpPr>
          <p:cNvPr id="27" name="Rectangle 26"/>
          <p:cNvSpPr>
            <a:spLocks noChangeArrowheads="1"/>
          </p:cNvSpPr>
          <p:nvPr/>
        </p:nvSpPr>
        <p:spPr bwMode="auto">
          <a:xfrm>
            <a:off x="5079909" y="820698"/>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流标号</a:t>
            </a:r>
          </a:p>
        </p:txBody>
      </p:sp>
      <p:sp>
        <p:nvSpPr>
          <p:cNvPr id="28" name="Rectangle 27"/>
          <p:cNvSpPr>
            <a:spLocks noChangeArrowheads="1"/>
          </p:cNvSpPr>
          <p:nvPr/>
        </p:nvSpPr>
        <p:spPr bwMode="auto">
          <a:xfrm>
            <a:off x="4066011"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12</a:t>
            </a:r>
          </a:p>
        </p:txBody>
      </p:sp>
      <p:sp>
        <p:nvSpPr>
          <p:cNvPr id="29" name="Rectangle 28"/>
          <p:cNvSpPr>
            <a:spLocks noChangeArrowheads="1"/>
          </p:cNvSpPr>
          <p:nvPr/>
        </p:nvSpPr>
        <p:spPr bwMode="auto">
          <a:xfrm>
            <a:off x="3248167" y="82069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通信量类</a:t>
            </a:r>
          </a:p>
        </p:txBody>
      </p:sp>
      <p:sp>
        <p:nvSpPr>
          <p:cNvPr id="30" name="Rectangle 29"/>
          <p:cNvSpPr>
            <a:spLocks noChangeArrowheads="1"/>
          </p:cNvSpPr>
          <p:nvPr/>
        </p:nvSpPr>
        <p:spPr bwMode="auto">
          <a:xfrm>
            <a:off x="4175741" y="1716945"/>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1" name="Rectangle 30"/>
          <p:cNvSpPr>
            <a:spLocks noChangeArrowheads="1"/>
          </p:cNvSpPr>
          <p:nvPr/>
        </p:nvSpPr>
        <p:spPr bwMode="auto">
          <a:xfrm>
            <a:off x="4175741" y="2657783"/>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2" name="Rectangle 31"/>
          <p:cNvSpPr>
            <a:spLocks noChangeArrowheads="1"/>
          </p:cNvSpPr>
          <p:nvPr/>
        </p:nvSpPr>
        <p:spPr bwMode="auto">
          <a:xfrm>
            <a:off x="2966475" y="1037276"/>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有效载荷长度</a:t>
            </a:r>
          </a:p>
        </p:txBody>
      </p:sp>
      <p:sp>
        <p:nvSpPr>
          <p:cNvPr id="33" name="Rectangle 32"/>
          <p:cNvSpPr>
            <a:spLocks noChangeArrowheads="1"/>
          </p:cNvSpPr>
          <p:nvPr/>
        </p:nvSpPr>
        <p:spPr bwMode="auto">
          <a:xfrm>
            <a:off x="5774061" y="1039049"/>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跳数限制</a:t>
            </a:r>
          </a:p>
        </p:txBody>
      </p:sp>
      <p:sp>
        <p:nvSpPr>
          <p:cNvPr id="34" name="Line 33"/>
          <p:cNvSpPr>
            <a:spLocks noChangeShapeType="1"/>
          </p:cNvSpPr>
          <p:nvPr/>
        </p:nvSpPr>
        <p:spPr bwMode="auto">
          <a:xfrm>
            <a:off x="4142606" y="847062"/>
            <a:ext cx="3522" cy="2121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Rectangle 34"/>
          <p:cNvSpPr>
            <a:spLocks noChangeArrowheads="1"/>
          </p:cNvSpPr>
          <p:nvPr/>
        </p:nvSpPr>
        <p:spPr bwMode="auto">
          <a:xfrm>
            <a:off x="5611114"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24</a:t>
            </a:r>
          </a:p>
        </p:txBody>
      </p:sp>
      <p:sp>
        <p:nvSpPr>
          <p:cNvPr id="36" name="Line 35"/>
          <p:cNvSpPr>
            <a:spLocks noChangeShapeType="1"/>
          </p:cNvSpPr>
          <p:nvPr/>
        </p:nvSpPr>
        <p:spPr bwMode="auto">
          <a:xfrm>
            <a:off x="2630958" y="3173961"/>
            <a:ext cx="40516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7" name="AutoShape 39"/>
          <p:cNvSpPr>
            <a:spLocks/>
          </p:cNvSpPr>
          <p:nvPr/>
        </p:nvSpPr>
        <p:spPr bwMode="auto">
          <a:xfrm>
            <a:off x="2461921" y="865551"/>
            <a:ext cx="126778" cy="2308410"/>
          </a:xfrm>
          <a:prstGeom prst="leftBrace">
            <a:avLst>
              <a:gd name="adj1" fmla="val 15173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8" name="Rectangle 40"/>
          <p:cNvSpPr>
            <a:spLocks noChangeArrowheads="1"/>
          </p:cNvSpPr>
          <p:nvPr/>
        </p:nvSpPr>
        <p:spPr bwMode="auto">
          <a:xfrm>
            <a:off x="1711709" y="1759157"/>
            <a:ext cx="775854" cy="5975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1100" b="1" dirty="0">
                <a:solidFill>
                  <a:srgbClr val="0000CC"/>
                </a:solidFill>
                <a:latin typeface="微软雅黑" pitchFamily="34" charset="-122"/>
                <a:ea typeface="微软雅黑" pitchFamily="34" charset="-122"/>
              </a:rPr>
              <a:t>IPv6 </a:t>
            </a:r>
            <a:r>
              <a:rPr kumimoji="1" lang="zh-CN" altLang="en-US" sz="1100" b="1" dirty="0">
                <a:solidFill>
                  <a:srgbClr val="0000CC"/>
                </a:solidFill>
                <a:latin typeface="微软雅黑" pitchFamily="34" charset="-122"/>
                <a:ea typeface="微软雅黑" pitchFamily="34" charset="-122"/>
              </a:rPr>
              <a:t>的</a:t>
            </a:r>
          </a:p>
          <a:p>
            <a:pPr algn="ctr" defTabSz="762000" eaLnBrk="0" hangingPunct="0"/>
            <a:r>
              <a:rPr kumimoji="1" lang="zh-CN" altLang="en-US" sz="1100" b="1" dirty="0">
                <a:solidFill>
                  <a:srgbClr val="0000CC"/>
                </a:solidFill>
                <a:latin typeface="微软雅黑" pitchFamily="34" charset="-122"/>
                <a:ea typeface="微软雅黑" pitchFamily="34" charset="-122"/>
              </a:rPr>
              <a:t>基本首部</a:t>
            </a:r>
          </a:p>
          <a:p>
            <a:pPr algn="ctr" defTabSz="762000" eaLnBrk="0" hangingPunct="0"/>
            <a:r>
              <a:rPr kumimoji="1" lang="zh-CN" altLang="en-US" sz="1100" b="1" dirty="0">
                <a:solidFill>
                  <a:srgbClr val="0000CC"/>
                </a:solidFill>
                <a:latin typeface="微软雅黑" pitchFamily="34" charset="-122"/>
                <a:ea typeface="微软雅黑" pitchFamily="34" charset="-122"/>
              </a:rPr>
              <a:t>（</a:t>
            </a:r>
            <a:r>
              <a:rPr kumimoji="1" lang="en-US" altLang="zh-CN" sz="1100" b="1" dirty="0">
                <a:solidFill>
                  <a:srgbClr val="0000CC"/>
                </a:solidFill>
                <a:latin typeface="微软雅黑" pitchFamily="34" charset="-122"/>
                <a:ea typeface="微软雅黑" pitchFamily="34" charset="-122"/>
              </a:rPr>
              <a:t>40 B</a:t>
            </a:r>
            <a:r>
              <a:rPr kumimoji="1" lang="zh-CN" altLang="en-US" sz="1100" b="1" dirty="0">
                <a:solidFill>
                  <a:srgbClr val="0000CC"/>
                </a:solidFill>
                <a:latin typeface="微软雅黑" pitchFamily="34" charset="-122"/>
                <a:ea typeface="微软雅黑" pitchFamily="34" charset="-122"/>
              </a:rPr>
              <a:t>）</a:t>
            </a:r>
          </a:p>
        </p:txBody>
      </p:sp>
      <p:sp>
        <p:nvSpPr>
          <p:cNvPr id="39" name="Rectangle 43"/>
          <p:cNvSpPr>
            <a:spLocks noChangeArrowheads="1"/>
          </p:cNvSpPr>
          <p:nvPr/>
        </p:nvSpPr>
        <p:spPr bwMode="auto">
          <a:xfrm>
            <a:off x="2630958" y="1071593"/>
            <a:ext cx="2029323" cy="21834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1" name="对角圆角矩形 40"/>
          <p:cNvSpPr/>
          <p:nvPr/>
        </p:nvSpPr>
        <p:spPr>
          <a:xfrm>
            <a:off x="1046286" y="3270739"/>
            <a:ext cx="6998676" cy="1081896"/>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矩形 41"/>
          <p:cNvSpPr/>
          <p:nvPr/>
        </p:nvSpPr>
        <p:spPr>
          <a:xfrm>
            <a:off x="1306286" y="3344153"/>
            <a:ext cx="6615581" cy="938719"/>
          </a:xfrm>
          <a:prstGeom prst="rect">
            <a:avLst/>
          </a:prstGeom>
        </p:spPr>
        <p:txBody>
          <a:bodyPr wrap="square">
            <a:spAutoFit/>
          </a:bodyPr>
          <a:lstStyle/>
          <a:p>
            <a:pPr>
              <a:lnSpc>
                <a:spcPts val="2200"/>
              </a:lnSpc>
            </a:pPr>
            <a:r>
              <a:rPr lang="zh-CN" altLang="en-US" sz="1600" b="1" dirty="0">
                <a:solidFill>
                  <a:schemeClr val="bg1"/>
                </a:solidFill>
                <a:latin typeface="微软雅黑" pitchFamily="34" charset="-122"/>
                <a:ea typeface="微软雅黑" pitchFamily="34" charset="-122"/>
              </a:rPr>
              <a:t>有效载荷长度</a:t>
            </a:r>
            <a:r>
              <a:rPr lang="en-US" altLang="zh-CN" sz="1600" b="1" dirty="0">
                <a:solidFill>
                  <a:schemeClr val="bg1"/>
                </a:solidFill>
                <a:latin typeface="微软雅黑" pitchFamily="34" charset="-122"/>
                <a:ea typeface="微软雅黑" pitchFamily="34" charset="-122"/>
              </a:rPr>
              <a:t>(payload length)—— 16 </a:t>
            </a:r>
            <a:r>
              <a:rPr lang="zh-CN" altLang="en-US" sz="1600" b="1" dirty="0">
                <a:solidFill>
                  <a:schemeClr val="bg1"/>
                </a:solidFill>
                <a:latin typeface="微软雅黑" pitchFamily="34" charset="-122"/>
                <a:ea typeface="微软雅黑" pitchFamily="34" charset="-122"/>
              </a:rPr>
              <a:t>位。它指明 </a:t>
            </a:r>
            <a:r>
              <a:rPr lang="en-US" altLang="zh-CN" sz="1600" b="1" dirty="0">
                <a:solidFill>
                  <a:schemeClr val="bg1"/>
                </a:solidFill>
                <a:latin typeface="微软雅黑" pitchFamily="34" charset="-122"/>
                <a:ea typeface="微软雅黑" pitchFamily="34" charset="-122"/>
              </a:rPr>
              <a:t>IPv6 </a:t>
            </a:r>
            <a:r>
              <a:rPr lang="zh-CN" altLang="en-US" sz="1600" b="1" dirty="0">
                <a:solidFill>
                  <a:schemeClr val="bg1"/>
                </a:solidFill>
                <a:latin typeface="微软雅黑" pitchFamily="34" charset="-122"/>
                <a:ea typeface="微软雅黑" pitchFamily="34" charset="-122"/>
              </a:rPr>
              <a:t>数据报除基本首部以外的字节数（所有扩展首部都算在有效载荷之内），其最大值是 </a:t>
            </a:r>
            <a:r>
              <a:rPr lang="en-US" altLang="zh-CN" sz="1600" b="1" dirty="0">
                <a:solidFill>
                  <a:schemeClr val="bg1"/>
                </a:solidFill>
                <a:latin typeface="微软雅黑" pitchFamily="34" charset="-122"/>
                <a:ea typeface="微软雅黑" pitchFamily="34" charset="-122"/>
              </a:rPr>
              <a:t>64 KB</a:t>
            </a:r>
            <a:r>
              <a:rPr lang="zh-CN" altLang="en-US" sz="1600" b="1" dirty="0">
                <a:solidFill>
                  <a:schemeClr val="bg1"/>
                </a:solidFill>
                <a:latin typeface="微软雅黑" pitchFamily="34" charset="-122"/>
                <a:ea typeface="微软雅黑" pitchFamily="34" charset="-122"/>
              </a:rPr>
              <a:t>。 </a:t>
            </a:r>
          </a:p>
        </p:txBody>
      </p:sp>
    </p:spTree>
    <p:extLst>
      <p:ext uri="{BB962C8B-B14F-4D97-AF65-F5344CB8AC3E}">
        <p14:creationId xmlns:p14="http://schemas.microsoft.com/office/powerpoint/2010/main" val="52993835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圆角矩形 42"/>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Rectangle 2"/>
          <p:cNvSpPr>
            <a:spLocks noChangeArrowheads="1"/>
          </p:cNvSpPr>
          <p:nvPr/>
        </p:nvSpPr>
        <p:spPr bwMode="auto">
          <a:xfrm>
            <a:off x="2630958" y="847062"/>
            <a:ext cx="4042800" cy="2326899"/>
          </a:xfrm>
          <a:prstGeom prst="rect">
            <a:avLst/>
          </a:prstGeom>
          <a:solidFill>
            <a:srgbClr val="99FFCC"/>
          </a:solidFill>
          <a:ln w="381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 name="Line 3"/>
          <p:cNvSpPr>
            <a:spLocks noChangeShapeType="1"/>
          </p:cNvSpPr>
          <p:nvPr/>
        </p:nvSpPr>
        <p:spPr bwMode="auto">
          <a:xfrm>
            <a:off x="2635360" y="1058358"/>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 name="Line 4"/>
          <p:cNvSpPr>
            <a:spLocks noChangeShapeType="1"/>
          </p:cNvSpPr>
          <p:nvPr/>
        </p:nvSpPr>
        <p:spPr bwMode="auto">
          <a:xfrm>
            <a:off x="3134547" y="847943"/>
            <a:ext cx="0" cy="21129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 name="Line 5"/>
          <p:cNvSpPr>
            <a:spLocks noChangeShapeType="1"/>
          </p:cNvSpPr>
          <p:nvPr/>
        </p:nvSpPr>
        <p:spPr bwMode="auto">
          <a:xfrm>
            <a:off x="4654119"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 name="Rectangle 6"/>
          <p:cNvSpPr>
            <a:spLocks noChangeArrowheads="1"/>
          </p:cNvSpPr>
          <p:nvPr/>
        </p:nvSpPr>
        <p:spPr bwMode="auto">
          <a:xfrm>
            <a:off x="2588699"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0</a:t>
            </a:r>
          </a:p>
        </p:txBody>
      </p:sp>
      <p:sp>
        <p:nvSpPr>
          <p:cNvPr id="8" name="Rectangle 7"/>
          <p:cNvSpPr>
            <a:spLocks noChangeArrowheads="1"/>
          </p:cNvSpPr>
          <p:nvPr/>
        </p:nvSpPr>
        <p:spPr bwMode="auto">
          <a:xfrm>
            <a:off x="3089647"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4</a:t>
            </a:r>
          </a:p>
        </p:txBody>
      </p:sp>
      <p:sp>
        <p:nvSpPr>
          <p:cNvPr id="9" name="Rectangle 8"/>
          <p:cNvSpPr>
            <a:spLocks noChangeArrowheads="1"/>
          </p:cNvSpPr>
          <p:nvPr/>
        </p:nvSpPr>
        <p:spPr bwMode="auto">
          <a:xfrm>
            <a:off x="4603936"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16</a:t>
            </a:r>
          </a:p>
        </p:txBody>
      </p:sp>
      <p:sp>
        <p:nvSpPr>
          <p:cNvPr id="10" name="Rectangle 9"/>
          <p:cNvSpPr>
            <a:spLocks noChangeArrowheads="1"/>
          </p:cNvSpPr>
          <p:nvPr/>
        </p:nvSpPr>
        <p:spPr bwMode="auto">
          <a:xfrm>
            <a:off x="6487993"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31</a:t>
            </a:r>
          </a:p>
        </p:txBody>
      </p:sp>
      <p:sp>
        <p:nvSpPr>
          <p:cNvPr id="11" name="Rectangle 10"/>
          <p:cNvSpPr>
            <a:spLocks noChangeArrowheads="1"/>
          </p:cNvSpPr>
          <p:nvPr/>
        </p:nvSpPr>
        <p:spPr bwMode="auto">
          <a:xfrm>
            <a:off x="2670612" y="820698"/>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版本</a:t>
            </a:r>
          </a:p>
        </p:txBody>
      </p:sp>
      <p:sp>
        <p:nvSpPr>
          <p:cNvPr id="12" name="Rectangle 11"/>
          <p:cNvSpPr>
            <a:spLocks noChangeArrowheads="1"/>
          </p:cNvSpPr>
          <p:nvPr/>
        </p:nvSpPr>
        <p:spPr bwMode="auto">
          <a:xfrm>
            <a:off x="2246223" y="631364"/>
            <a:ext cx="32380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dirty="0">
                <a:solidFill>
                  <a:srgbClr val="0000CC"/>
                </a:solidFill>
                <a:latin typeface="微软雅黑" pitchFamily="34" charset="-122"/>
                <a:ea typeface="微软雅黑" pitchFamily="34" charset="-122"/>
              </a:rPr>
              <a:t>位</a:t>
            </a:r>
          </a:p>
        </p:txBody>
      </p:sp>
      <p:sp>
        <p:nvSpPr>
          <p:cNvPr id="13" name="Line 12"/>
          <p:cNvSpPr>
            <a:spLocks noChangeShapeType="1"/>
          </p:cNvSpPr>
          <p:nvPr/>
        </p:nvSpPr>
        <p:spPr bwMode="auto">
          <a:xfrm>
            <a:off x="2630958" y="1292545"/>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3"/>
          <p:cNvSpPr>
            <a:spLocks noChangeShapeType="1"/>
          </p:cNvSpPr>
          <p:nvPr/>
        </p:nvSpPr>
        <p:spPr bwMode="auto">
          <a:xfrm>
            <a:off x="2631838" y="1526731"/>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4"/>
          <p:cNvSpPr>
            <a:spLocks noChangeShapeType="1"/>
          </p:cNvSpPr>
          <p:nvPr/>
        </p:nvSpPr>
        <p:spPr bwMode="auto">
          <a:xfrm>
            <a:off x="2631838" y="1761798"/>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5"/>
          <p:cNvSpPr>
            <a:spLocks noChangeShapeType="1"/>
          </p:cNvSpPr>
          <p:nvPr/>
        </p:nvSpPr>
        <p:spPr bwMode="auto">
          <a:xfrm>
            <a:off x="2631838" y="199686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6"/>
          <p:cNvSpPr>
            <a:spLocks noChangeShapeType="1"/>
          </p:cNvSpPr>
          <p:nvPr/>
        </p:nvSpPr>
        <p:spPr bwMode="auto">
          <a:xfrm>
            <a:off x="2631838" y="223193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7"/>
          <p:cNvSpPr>
            <a:spLocks noChangeShapeType="1"/>
          </p:cNvSpPr>
          <p:nvPr/>
        </p:nvSpPr>
        <p:spPr bwMode="auto">
          <a:xfrm>
            <a:off x="2631838" y="2466119"/>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8"/>
          <p:cNvSpPr>
            <a:spLocks noChangeShapeType="1"/>
          </p:cNvSpPr>
          <p:nvPr/>
        </p:nvSpPr>
        <p:spPr bwMode="auto">
          <a:xfrm>
            <a:off x="2631838" y="270118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9"/>
          <p:cNvSpPr>
            <a:spLocks noChangeShapeType="1"/>
          </p:cNvSpPr>
          <p:nvPr/>
        </p:nvSpPr>
        <p:spPr bwMode="auto">
          <a:xfrm>
            <a:off x="2631838" y="293537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Rectangle 20"/>
          <p:cNvSpPr>
            <a:spLocks noChangeArrowheads="1"/>
          </p:cNvSpPr>
          <p:nvPr/>
        </p:nvSpPr>
        <p:spPr bwMode="auto">
          <a:xfrm>
            <a:off x="2756855" y="2387763"/>
            <a:ext cx="3798929" cy="62596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Rectangle 21"/>
          <p:cNvSpPr>
            <a:spLocks noChangeArrowheads="1"/>
          </p:cNvSpPr>
          <p:nvPr/>
        </p:nvSpPr>
        <p:spPr bwMode="auto">
          <a:xfrm>
            <a:off x="2756855" y="1469987"/>
            <a:ext cx="3798929" cy="62684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Rectangle 22"/>
          <p:cNvSpPr>
            <a:spLocks noChangeArrowheads="1"/>
          </p:cNvSpPr>
          <p:nvPr/>
        </p:nvSpPr>
        <p:spPr bwMode="auto">
          <a:xfrm>
            <a:off x="4240663" y="247056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目的地址</a:t>
            </a:r>
          </a:p>
        </p:txBody>
      </p:sp>
      <p:sp>
        <p:nvSpPr>
          <p:cNvPr id="24" name="Rectangle 23"/>
          <p:cNvSpPr>
            <a:spLocks noChangeArrowheads="1"/>
          </p:cNvSpPr>
          <p:nvPr/>
        </p:nvSpPr>
        <p:spPr bwMode="auto">
          <a:xfrm>
            <a:off x="4317607" y="1531181"/>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源地址</a:t>
            </a:r>
          </a:p>
        </p:txBody>
      </p:sp>
      <p:sp>
        <p:nvSpPr>
          <p:cNvPr id="25" name="Line 24"/>
          <p:cNvSpPr>
            <a:spLocks noChangeShapeType="1"/>
          </p:cNvSpPr>
          <p:nvPr/>
        </p:nvSpPr>
        <p:spPr bwMode="auto">
          <a:xfrm>
            <a:off x="5669221"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Rectangle 25"/>
          <p:cNvSpPr>
            <a:spLocks noChangeArrowheads="1"/>
          </p:cNvSpPr>
          <p:nvPr/>
        </p:nvSpPr>
        <p:spPr bwMode="auto">
          <a:xfrm>
            <a:off x="4600594" y="1041678"/>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下一个首部</a:t>
            </a:r>
          </a:p>
        </p:txBody>
      </p:sp>
      <p:sp>
        <p:nvSpPr>
          <p:cNvPr id="27" name="Rectangle 26"/>
          <p:cNvSpPr>
            <a:spLocks noChangeArrowheads="1"/>
          </p:cNvSpPr>
          <p:nvPr/>
        </p:nvSpPr>
        <p:spPr bwMode="auto">
          <a:xfrm>
            <a:off x="5079909" y="820698"/>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流标号</a:t>
            </a:r>
          </a:p>
        </p:txBody>
      </p:sp>
      <p:sp>
        <p:nvSpPr>
          <p:cNvPr id="28" name="Rectangle 27"/>
          <p:cNvSpPr>
            <a:spLocks noChangeArrowheads="1"/>
          </p:cNvSpPr>
          <p:nvPr/>
        </p:nvSpPr>
        <p:spPr bwMode="auto">
          <a:xfrm>
            <a:off x="4066011"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12</a:t>
            </a:r>
          </a:p>
        </p:txBody>
      </p:sp>
      <p:sp>
        <p:nvSpPr>
          <p:cNvPr id="29" name="Rectangle 28"/>
          <p:cNvSpPr>
            <a:spLocks noChangeArrowheads="1"/>
          </p:cNvSpPr>
          <p:nvPr/>
        </p:nvSpPr>
        <p:spPr bwMode="auto">
          <a:xfrm>
            <a:off x="3248167" y="82069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通信量类</a:t>
            </a:r>
          </a:p>
        </p:txBody>
      </p:sp>
      <p:sp>
        <p:nvSpPr>
          <p:cNvPr id="30" name="Rectangle 29"/>
          <p:cNvSpPr>
            <a:spLocks noChangeArrowheads="1"/>
          </p:cNvSpPr>
          <p:nvPr/>
        </p:nvSpPr>
        <p:spPr bwMode="auto">
          <a:xfrm>
            <a:off x="4175741" y="1716945"/>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1" name="Rectangle 30"/>
          <p:cNvSpPr>
            <a:spLocks noChangeArrowheads="1"/>
          </p:cNvSpPr>
          <p:nvPr/>
        </p:nvSpPr>
        <p:spPr bwMode="auto">
          <a:xfrm>
            <a:off x="4175741" y="2657783"/>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2" name="Rectangle 31"/>
          <p:cNvSpPr>
            <a:spLocks noChangeArrowheads="1"/>
          </p:cNvSpPr>
          <p:nvPr/>
        </p:nvSpPr>
        <p:spPr bwMode="auto">
          <a:xfrm>
            <a:off x="2966475" y="1037276"/>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有效载荷长度</a:t>
            </a:r>
          </a:p>
        </p:txBody>
      </p:sp>
      <p:sp>
        <p:nvSpPr>
          <p:cNvPr id="33" name="Rectangle 32"/>
          <p:cNvSpPr>
            <a:spLocks noChangeArrowheads="1"/>
          </p:cNvSpPr>
          <p:nvPr/>
        </p:nvSpPr>
        <p:spPr bwMode="auto">
          <a:xfrm>
            <a:off x="5774061" y="1039049"/>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跳数限制</a:t>
            </a:r>
          </a:p>
        </p:txBody>
      </p:sp>
      <p:sp>
        <p:nvSpPr>
          <p:cNvPr id="34" name="Line 33"/>
          <p:cNvSpPr>
            <a:spLocks noChangeShapeType="1"/>
          </p:cNvSpPr>
          <p:nvPr/>
        </p:nvSpPr>
        <p:spPr bwMode="auto">
          <a:xfrm>
            <a:off x="4142606" y="847062"/>
            <a:ext cx="3522" cy="2121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Rectangle 34"/>
          <p:cNvSpPr>
            <a:spLocks noChangeArrowheads="1"/>
          </p:cNvSpPr>
          <p:nvPr/>
        </p:nvSpPr>
        <p:spPr bwMode="auto">
          <a:xfrm>
            <a:off x="5611114"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24</a:t>
            </a:r>
          </a:p>
        </p:txBody>
      </p:sp>
      <p:sp>
        <p:nvSpPr>
          <p:cNvPr id="36" name="Line 35"/>
          <p:cNvSpPr>
            <a:spLocks noChangeShapeType="1"/>
          </p:cNvSpPr>
          <p:nvPr/>
        </p:nvSpPr>
        <p:spPr bwMode="auto">
          <a:xfrm>
            <a:off x="2630958" y="3173961"/>
            <a:ext cx="40516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7" name="AutoShape 39"/>
          <p:cNvSpPr>
            <a:spLocks/>
          </p:cNvSpPr>
          <p:nvPr/>
        </p:nvSpPr>
        <p:spPr bwMode="auto">
          <a:xfrm>
            <a:off x="2461921" y="865551"/>
            <a:ext cx="126778" cy="2308410"/>
          </a:xfrm>
          <a:prstGeom prst="leftBrace">
            <a:avLst>
              <a:gd name="adj1" fmla="val 15173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8" name="Rectangle 40"/>
          <p:cNvSpPr>
            <a:spLocks noChangeArrowheads="1"/>
          </p:cNvSpPr>
          <p:nvPr/>
        </p:nvSpPr>
        <p:spPr bwMode="auto">
          <a:xfrm>
            <a:off x="1711709" y="1759157"/>
            <a:ext cx="775854" cy="5975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1100" b="1" dirty="0">
                <a:solidFill>
                  <a:srgbClr val="0000CC"/>
                </a:solidFill>
                <a:latin typeface="微软雅黑" pitchFamily="34" charset="-122"/>
                <a:ea typeface="微软雅黑" pitchFamily="34" charset="-122"/>
              </a:rPr>
              <a:t>IPv6 </a:t>
            </a:r>
            <a:r>
              <a:rPr kumimoji="1" lang="zh-CN" altLang="en-US" sz="1100" b="1" dirty="0">
                <a:solidFill>
                  <a:srgbClr val="0000CC"/>
                </a:solidFill>
                <a:latin typeface="微软雅黑" pitchFamily="34" charset="-122"/>
                <a:ea typeface="微软雅黑" pitchFamily="34" charset="-122"/>
              </a:rPr>
              <a:t>的</a:t>
            </a:r>
          </a:p>
          <a:p>
            <a:pPr algn="ctr" defTabSz="762000" eaLnBrk="0" hangingPunct="0"/>
            <a:r>
              <a:rPr kumimoji="1" lang="zh-CN" altLang="en-US" sz="1100" b="1" dirty="0">
                <a:solidFill>
                  <a:srgbClr val="0000CC"/>
                </a:solidFill>
                <a:latin typeface="微软雅黑" pitchFamily="34" charset="-122"/>
                <a:ea typeface="微软雅黑" pitchFamily="34" charset="-122"/>
              </a:rPr>
              <a:t>基本首部</a:t>
            </a:r>
          </a:p>
          <a:p>
            <a:pPr algn="ctr" defTabSz="762000" eaLnBrk="0" hangingPunct="0"/>
            <a:r>
              <a:rPr kumimoji="1" lang="zh-CN" altLang="en-US" sz="1100" b="1" dirty="0">
                <a:solidFill>
                  <a:srgbClr val="0000CC"/>
                </a:solidFill>
                <a:latin typeface="微软雅黑" pitchFamily="34" charset="-122"/>
                <a:ea typeface="微软雅黑" pitchFamily="34" charset="-122"/>
              </a:rPr>
              <a:t>（</a:t>
            </a:r>
            <a:r>
              <a:rPr kumimoji="1" lang="en-US" altLang="zh-CN" sz="1100" b="1" dirty="0">
                <a:solidFill>
                  <a:srgbClr val="0000CC"/>
                </a:solidFill>
                <a:latin typeface="微软雅黑" pitchFamily="34" charset="-122"/>
                <a:ea typeface="微软雅黑" pitchFamily="34" charset="-122"/>
              </a:rPr>
              <a:t>40 B</a:t>
            </a:r>
            <a:r>
              <a:rPr kumimoji="1" lang="zh-CN" altLang="en-US" sz="1100" b="1" dirty="0">
                <a:solidFill>
                  <a:srgbClr val="0000CC"/>
                </a:solidFill>
                <a:latin typeface="微软雅黑" pitchFamily="34" charset="-122"/>
                <a:ea typeface="微软雅黑" pitchFamily="34" charset="-122"/>
              </a:rPr>
              <a:t>）</a:t>
            </a:r>
          </a:p>
        </p:txBody>
      </p:sp>
      <p:sp>
        <p:nvSpPr>
          <p:cNvPr id="39" name="Rectangle 43"/>
          <p:cNvSpPr>
            <a:spLocks noChangeArrowheads="1"/>
          </p:cNvSpPr>
          <p:nvPr/>
        </p:nvSpPr>
        <p:spPr bwMode="auto">
          <a:xfrm flipH="1">
            <a:off x="4656760" y="1062913"/>
            <a:ext cx="1008059" cy="21834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1" name="对角圆角矩形 40"/>
          <p:cNvSpPr/>
          <p:nvPr/>
        </p:nvSpPr>
        <p:spPr>
          <a:xfrm>
            <a:off x="1046286" y="3384324"/>
            <a:ext cx="7198682" cy="537774"/>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矩形 41"/>
          <p:cNvSpPr/>
          <p:nvPr/>
        </p:nvSpPr>
        <p:spPr>
          <a:xfrm>
            <a:off x="1169377" y="3427785"/>
            <a:ext cx="7075591" cy="438582"/>
          </a:xfrm>
          <a:prstGeom prst="rect">
            <a:avLst/>
          </a:prstGeom>
        </p:spPr>
        <p:txBody>
          <a:bodyPr wrap="square">
            <a:spAutoFit/>
          </a:bodyPr>
          <a:lstStyle/>
          <a:p>
            <a:pPr>
              <a:lnSpc>
                <a:spcPts val="2700"/>
              </a:lnSpc>
            </a:pPr>
            <a:r>
              <a:rPr lang="zh-CN" altLang="en-US" sz="1600" b="1" dirty="0">
                <a:solidFill>
                  <a:schemeClr val="bg1"/>
                </a:solidFill>
                <a:latin typeface="微软雅黑" pitchFamily="34" charset="-122"/>
                <a:ea typeface="微软雅黑" pitchFamily="34" charset="-122"/>
              </a:rPr>
              <a:t>下一个首部</a:t>
            </a:r>
            <a:r>
              <a:rPr lang="en-US" altLang="zh-CN" sz="1600" b="1" dirty="0">
                <a:solidFill>
                  <a:schemeClr val="bg1"/>
                </a:solidFill>
                <a:latin typeface="微软雅黑" pitchFamily="34" charset="-122"/>
                <a:ea typeface="微软雅黑" pitchFamily="34" charset="-122"/>
              </a:rPr>
              <a:t>(next header)—— 8 </a:t>
            </a:r>
            <a:r>
              <a:rPr lang="zh-CN" altLang="en-US" sz="1600" b="1" dirty="0">
                <a:solidFill>
                  <a:schemeClr val="bg1"/>
                </a:solidFill>
                <a:latin typeface="微软雅黑" pitchFamily="34" charset="-122"/>
                <a:ea typeface="微软雅黑" pitchFamily="34" charset="-122"/>
              </a:rPr>
              <a:t>位。相当于 </a:t>
            </a:r>
            <a:r>
              <a:rPr lang="en-US" altLang="zh-CN" sz="1600" b="1" dirty="0">
                <a:solidFill>
                  <a:schemeClr val="bg1"/>
                </a:solidFill>
                <a:latin typeface="微软雅黑" pitchFamily="34" charset="-122"/>
                <a:ea typeface="微软雅黑" pitchFamily="34" charset="-122"/>
              </a:rPr>
              <a:t>IPv4 </a:t>
            </a:r>
            <a:r>
              <a:rPr lang="zh-CN" altLang="en-US" sz="1600" b="1" dirty="0">
                <a:solidFill>
                  <a:schemeClr val="bg1"/>
                </a:solidFill>
                <a:latin typeface="微软雅黑" pitchFamily="34" charset="-122"/>
                <a:ea typeface="微软雅黑" pitchFamily="34" charset="-122"/>
              </a:rPr>
              <a:t>的协议字段或可选字段。 </a:t>
            </a:r>
          </a:p>
        </p:txBody>
      </p:sp>
    </p:spTree>
    <p:extLst>
      <p:ext uri="{BB962C8B-B14F-4D97-AF65-F5344CB8AC3E}">
        <p14:creationId xmlns:p14="http://schemas.microsoft.com/office/powerpoint/2010/main" val="180757982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圆角矩形 42"/>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Rectangle 2"/>
          <p:cNvSpPr>
            <a:spLocks noChangeArrowheads="1"/>
          </p:cNvSpPr>
          <p:nvPr/>
        </p:nvSpPr>
        <p:spPr bwMode="auto">
          <a:xfrm>
            <a:off x="2630958" y="847062"/>
            <a:ext cx="4042800" cy="2326899"/>
          </a:xfrm>
          <a:prstGeom prst="rect">
            <a:avLst/>
          </a:prstGeom>
          <a:solidFill>
            <a:srgbClr val="99FFCC"/>
          </a:solidFill>
          <a:ln w="381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 name="Line 3"/>
          <p:cNvSpPr>
            <a:spLocks noChangeShapeType="1"/>
          </p:cNvSpPr>
          <p:nvPr/>
        </p:nvSpPr>
        <p:spPr bwMode="auto">
          <a:xfrm>
            <a:off x="2635360" y="1058358"/>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 name="Line 4"/>
          <p:cNvSpPr>
            <a:spLocks noChangeShapeType="1"/>
          </p:cNvSpPr>
          <p:nvPr/>
        </p:nvSpPr>
        <p:spPr bwMode="auto">
          <a:xfrm>
            <a:off x="3134547" y="847943"/>
            <a:ext cx="0" cy="21129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 name="Line 5"/>
          <p:cNvSpPr>
            <a:spLocks noChangeShapeType="1"/>
          </p:cNvSpPr>
          <p:nvPr/>
        </p:nvSpPr>
        <p:spPr bwMode="auto">
          <a:xfrm>
            <a:off x="4654119"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 name="Rectangle 6"/>
          <p:cNvSpPr>
            <a:spLocks noChangeArrowheads="1"/>
          </p:cNvSpPr>
          <p:nvPr/>
        </p:nvSpPr>
        <p:spPr bwMode="auto">
          <a:xfrm>
            <a:off x="2588699"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0</a:t>
            </a:r>
          </a:p>
        </p:txBody>
      </p:sp>
      <p:sp>
        <p:nvSpPr>
          <p:cNvPr id="8" name="Rectangle 7"/>
          <p:cNvSpPr>
            <a:spLocks noChangeArrowheads="1"/>
          </p:cNvSpPr>
          <p:nvPr/>
        </p:nvSpPr>
        <p:spPr bwMode="auto">
          <a:xfrm>
            <a:off x="3089647"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4</a:t>
            </a:r>
          </a:p>
        </p:txBody>
      </p:sp>
      <p:sp>
        <p:nvSpPr>
          <p:cNvPr id="9" name="Rectangle 8"/>
          <p:cNvSpPr>
            <a:spLocks noChangeArrowheads="1"/>
          </p:cNvSpPr>
          <p:nvPr/>
        </p:nvSpPr>
        <p:spPr bwMode="auto">
          <a:xfrm>
            <a:off x="4603936"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16</a:t>
            </a:r>
          </a:p>
        </p:txBody>
      </p:sp>
      <p:sp>
        <p:nvSpPr>
          <p:cNvPr id="10" name="Rectangle 9"/>
          <p:cNvSpPr>
            <a:spLocks noChangeArrowheads="1"/>
          </p:cNvSpPr>
          <p:nvPr/>
        </p:nvSpPr>
        <p:spPr bwMode="auto">
          <a:xfrm>
            <a:off x="6487993"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31</a:t>
            </a:r>
          </a:p>
        </p:txBody>
      </p:sp>
      <p:sp>
        <p:nvSpPr>
          <p:cNvPr id="11" name="Rectangle 10"/>
          <p:cNvSpPr>
            <a:spLocks noChangeArrowheads="1"/>
          </p:cNvSpPr>
          <p:nvPr/>
        </p:nvSpPr>
        <p:spPr bwMode="auto">
          <a:xfrm>
            <a:off x="2670612" y="820698"/>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版本</a:t>
            </a:r>
          </a:p>
        </p:txBody>
      </p:sp>
      <p:sp>
        <p:nvSpPr>
          <p:cNvPr id="12" name="Rectangle 11"/>
          <p:cNvSpPr>
            <a:spLocks noChangeArrowheads="1"/>
          </p:cNvSpPr>
          <p:nvPr/>
        </p:nvSpPr>
        <p:spPr bwMode="auto">
          <a:xfrm>
            <a:off x="2246223" y="631364"/>
            <a:ext cx="32380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dirty="0">
                <a:solidFill>
                  <a:srgbClr val="0000CC"/>
                </a:solidFill>
                <a:latin typeface="微软雅黑" pitchFamily="34" charset="-122"/>
                <a:ea typeface="微软雅黑" pitchFamily="34" charset="-122"/>
              </a:rPr>
              <a:t>位</a:t>
            </a:r>
          </a:p>
        </p:txBody>
      </p:sp>
      <p:sp>
        <p:nvSpPr>
          <p:cNvPr id="13" name="Line 12"/>
          <p:cNvSpPr>
            <a:spLocks noChangeShapeType="1"/>
          </p:cNvSpPr>
          <p:nvPr/>
        </p:nvSpPr>
        <p:spPr bwMode="auto">
          <a:xfrm>
            <a:off x="2630958" y="1292545"/>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3"/>
          <p:cNvSpPr>
            <a:spLocks noChangeShapeType="1"/>
          </p:cNvSpPr>
          <p:nvPr/>
        </p:nvSpPr>
        <p:spPr bwMode="auto">
          <a:xfrm>
            <a:off x="2631838" y="1526731"/>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4"/>
          <p:cNvSpPr>
            <a:spLocks noChangeShapeType="1"/>
          </p:cNvSpPr>
          <p:nvPr/>
        </p:nvSpPr>
        <p:spPr bwMode="auto">
          <a:xfrm>
            <a:off x="2631838" y="1761798"/>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5"/>
          <p:cNvSpPr>
            <a:spLocks noChangeShapeType="1"/>
          </p:cNvSpPr>
          <p:nvPr/>
        </p:nvSpPr>
        <p:spPr bwMode="auto">
          <a:xfrm>
            <a:off x="2631838" y="199686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6"/>
          <p:cNvSpPr>
            <a:spLocks noChangeShapeType="1"/>
          </p:cNvSpPr>
          <p:nvPr/>
        </p:nvSpPr>
        <p:spPr bwMode="auto">
          <a:xfrm>
            <a:off x="2631838" y="223193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7"/>
          <p:cNvSpPr>
            <a:spLocks noChangeShapeType="1"/>
          </p:cNvSpPr>
          <p:nvPr/>
        </p:nvSpPr>
        <p:spPr bwMode="auto">
          <a:xfrm>
            <a:off x="2631838" y="2466119"/>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8"/>
          <p:cNvSpPr>
            <a:spLocks noChangeShapeType="1"/>
          </p:cNvSpPr>
          <p:nvPr/>
        </p:nvSpPr>
        <p:spPr bwMode="auto">
          <a:xfrm>
            <a:off x="2631838" y="270118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9"/>
          <p:cNvSpPr>
            <a:spLocks noChangeShapeType="1"/>
          </p:cNvSpPr>
          <p:nvPr/>
        </p:nvSpPr>
        <p:spPr bwMode="auto">
          <a:xfrm>
            <a:off x="2631838" y="293537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Rectangle 20"/>
          <p:cNvSpPr>
            <a:spLocks noChangeArrowheads="1"/>
          </p:cNvSpPr>
          <p:nvPr/>
        </p:nvSpPr>
        <p:spPr bwMode="auto">
          <a:xfrm>
            <a:off x="2756855" y="2387763"/>
            <a:ext cx="3798929" cy="62596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Rectangle 21"/>
          <p:cNvSpPr>
            <a:spLocks noChangeArrowheads="1"/>
          </p:cNvSpPr>
          <p:nvPr/>
        </p:nvSpPr>
        <p:spPr bwMode="auto">
          <a:xfrm>
            <a:off x="2756855" y="1469987"/>
            <a:ext cx="3798929" cy="62684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Rectangle 22"/>
          <p:cNvSpPr>
            <a:spLocks noChangeArrowheads="1"/>
          </p:cNvSpPr>
          <p:nvPr/>
        </p:nvSpPr>
        <p:spPr bwMode="auto">
          <a:xfrm>
            <a:off x="4240663" y="247056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目的地址</a:t>
            </a:r>
          </a:p>
        </p:txBody>
      </p:sp>
      <p:sp>
        <p:nvSpPr>
          <p:cNvPr id="24" name="Rectangle 23"/>
          <p:cNvSpPr>
            <a:spLocks noChangeArrowheads="1"/>
          </p:cNvSpPr>
          <p:nvPr/>
        </p:nvSpPr>
        <p:spPr bwMode="auto">
          <a:xfrm>
            <a:off x="4317607" y="1531181"/>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源地址</a:t>
            </a:r>
          </a:p>
        </p:txBody>
      </p:sp>
      <p:sp>
        <p:nvSpPr>
          <p:cNvPr id="25" name="Line 24"/>
          <p:cNvSpPr>
            <a:spLocks noChangeShapeType="1"/>
          </p:cNvSpPr>
          <p:nvPr/>
        </p:nvSpPr>
        <p:spPr bwMode="auto">
          <a:xfrm>
            <a:off x="5669221"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Rectangle 25"/>
          <p:cNvSpPr>
            <a:spLocks noChangeArrowheads="1"/>
          </p:cNvSpPr>
          <p:nvPr/>
        </p:nvSpPr>
        <p:spPr bwMode="auto">
          <a:xfrm>
            <a:off x="4600594" y="1041678"/>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下一个首部</a:t>
            </a:r>
          </a:p>
        </p:txBody>
      </p:sp>
      <p:sp>
        <p:nvSpPr>
          <p:cNvPr id="27" name="Rectangle 26"/>
          <p:cNvSpPr>
            <a:spLocks noChangeArrowheads="1"/>
          </p:cNvSpPr>
          <p:nvPr/>
        </p:nvSpPr>
        <p:spPr bwMode="auto">
          <a:xfrm>
            <a:off x="5079909" y="820698"/>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流标号</a:t>
            </a:r>
          </a:p>
        </p:txBody>
      </p:sp>
      <p:sp>
        <p:nvSpPr>
          <p:cNvPr id="28" name="Rectangle 27"/>
          <p:cNvSpPr>
            <a:spLocks noChangeArrowheads="1"/>
          </p:cNvSpPr>
          <p:nvPr/>
        </p:nvSpPr>
        <p:spPr bwMode="auto">
          <a:xfrm>
            <a:off x="4066011"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12</a:t>
            </a:r>
          </a:p>
        </p:txBody>
      </p:sp>
      <p:sp>
        <p:nvSpPr>
          <p:cNvPr id="29" name="Rectangle 28"/>
          <p:cNvSpPr>
            <a:spLocks noChangeArrowheads="1"/>
          </p:cNvSpPr>
          <p:nvPr/>
        </p:nvSpPr>
        <p:spPr bwMode="auto">
          <a:xfrm>
            <a:off x="3248167" y="82069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通信量类</a:t>
            </a:r>
          </a:p>
        </p:txBody>
      </p:sp>
      <p:sp>
        <p:nvSpPr>
          <p:cNvPr id="30" name="Rectangle 29"/>
          <p:cNvSpPr>
            <a:spLocks noChangeArrowheads="1"/>
          </p:cNvSpPr>
          <p:nvPr/>
        </p:nvSpPr>
        <p:spPr bwMode="auto">
          <a:xfrm>
            <a:off x="4175741" y="1716945"/>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1" name="Rectangle 30"/>
          <p:cNvSpPr>
            <a:spLocks noChangeArrowheads="1"/>
          </p:cNvSpPr>
          <p:nvPr/>
        </p:nvSpPr>
        <p:spPr bwMode="auto">
          <a:xfrm>
            <a:off x="4175741" y="2657783"/>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2" name="Rectangle 31"/>
          <p:cNvSpPr>
            <a:spLocks noChangeArrowheads="1"/>
          </p:cNvSpPr>
          <p:nvPr/>
        </p:nvSpPr>
        <p:spPr bwMode="auto">
          <a:xfrm>
            <a:off x="2966475" y="1037276"/>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有效载荷长度</a:t>
            </a:r>
          </a:p>
        </p:txBody>
      </p:sp>
      <p:sp>
        <p:nvSpPr>
          <p:cNvPr id="33" name="Rectangle 32"/>
          <p:cNvSpPr>
            <a:spLocks noChangeArrowheads="1"/>
          </p:cNvSpPr>
          <p:nvPr/>
        </p:nvSpPr>
        <p:spPr bwMode="auto">
          <a:xfrm>
            <a:off x="5774061" y="1030257"/>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跳数限制</a:t>
            </a:r>
          </a:p>
        </p:txBody>
      </p:sp>
      <p:sp>
        <p:nvSpPr>
          <p:cNvPr id="34" name="Line 33"/>
          <p:cNvSpPr>
            <a:spLocks noChangeShapeType="1"/>
          </p:cNvSpPr>
          <p:nvPr/>
        </p:nvSpPr>
        <p:spPr bwMode="auto">
          <a:xfrm>
            <a:off x="4142606" y="847062"/>
            <a:ext cx="3522" cy="2121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Rectangle 34"/>
          <p:cNvSpPr>
            <a:spLocks noChangeArrowheads="1"/>
          </p:cNvSpPr>
          <p:nvPr/>
        </p:nvSpPr>
        <p:spPr bwMode="auto">
          <a:xfrm>
            <a:off x="5611114"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24</a:t>
            </a:r>
          </a:p>
        </p:txBody>
      </p:sp>
      <p:sp>
        <p:nvSpPr>
          <p:cNvPr id="36" name="Line 35"/>
          <p:cNvSpPr>
            <a:spLocks noChangeShapeType="1"/>
          </p:cNvSpPr>
          <p:nvPr/>
        </p:nvSpPr>
        <p:spPr bwMode="auto">
          <a:xfrm>
            <a:off x="2630958" y="3173961"/>
            <a:ext cx="40516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7" name="AutoShape 39"/>
          <p:cNvSpPr>
            <a:spLocks/>
          </p:cNvSpPr>
          <p:nvPr/>
        </p:nvSpPr>
        <p:spPr bwMode="auto">
          <a:xfrm>
            <a:off x="2461921" y="865551"/>
            <a:ext cx="126778" cy="2308410"/>
          </a:xfrm>
          <a:prstGeom prst="leftBrace">
            <a:avLst>
              <a:gd name="adj1" fmla="val 15173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8" name="Rectangle 40"/>
          <p:cNvSpPr>
            <a:spLocks noChangeArrowheads="1"/>
          </p:cNvSpPr>
          <p:nvPr/>
        </p:nvSpPr>
        <p:spPr bwMode="auto">
          <a:xfrm>
            <a:off x="1711709" y="1759157"/>
            <a:ext cx="775854" cy="5975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1100" b="1" dirty="0">
                <a:solidFill>
                  <a:srgbClr val="0000CC"/>
                </a:solidFill>
                <a:latin typeface="微软雅黑" pitchFamily="34" charset="-122"/>
                <a:ea typeface="微软雅黑" pitchFamily="34" charset="-122"/>
              </a:rPr>
              <a:t>IPv6 </a:t>
            </a:r>
            <a:r>
              <a:rPr kumimoji="1" lang="zh-CN" altLang="en-US" sz="1100" b="1" dirty="0">
                <a:solidFill>
                  <a:srgbClr val="0000CC"/>
                </a:solidFill>
                <a:latin typeface="微软雅黑" pitchFamily="34" charset="-122"/>
                <a:ea typeface="微软雅黑" pitchFamily="34" charset="-122"/>
              </a:rPr>
              <a:t>的</a:t>
            </a:r>
          </a:p>
          <a:p>
            <a:pPr algn="ctr" defTabSz="762000" eaLnBrk="0" hangingPunct="0"/>
            <a:r>
              <a:rPr kumimoji="1" lang="zh-CN" altLang="en-US" sz="1100" b="1" dirty="0">
                <a:solidFill>
                  <a:srgbClr val="0000CC"/>
                </a:solidFill>
                <a:latin typeface="微软雅黑" pitchFamily="34" charset="-122"/>
                <a:ea typeface="微软雅黑" pitchFamily="34" charset="-122"/>
              </a:rPr>
              <a:t>基本首部</a:t>
            </a:r>
          </a:p>
          <a:p>
            <a:pPr algn="ctr" defTabSz="762000" eaLnBrk="0" hangingPunct="0"/>
            <a:r>
              <a:rPr kumimoji="1" lang="zh-CN" altLang="en-US" sz="1100" b="1" dirty="0">
                <a:solidFill>
                  <a:srgbClr val="0000CC"/>
                </a:solidFill>
                <a:latin typeface="微软雅黑" pitchFamily="34" charset="-122"/>
                <a:ea typeface="微软雅黑" pitchFamily="34" charset="-122"/>
              </a:rPr>
              <a:t>（</a:t>
            </a:r>
            <a:r>
              <a:rPr kumimoji="1" lang="en-US" altLang="zh-CN" sz="1100" b="1" dirty="0">
                <a:solidFill>
                  <a:srgbClr val="0000CC"/>
                </a:solidFill>
                <a:latin typeface="微软雅黑" pitchFamily="34" charset="-122"/>
                <a:ea typeface="微软雅黑" pitchFamily="34" charset="-122"/>
              </a:rPr>
              <a:t>40 B</a:t>
            </a:r>
            <a:r>
              <a:rPr kumimoji="1" lang="zh-CN" altLang="en-US" sz="1100" b="1" dirty="0">
                <a:solidFill>
                  <a:srgbClr val="0000CC"/>
                </a:solidFill>
                <a:latin typeface="微软雅黑" pitchFamily="34" charset="-122"/>
                <a:ea typeface="微软雅黑" pitchFamily="34" charset="-122"/>
              </a:rPr>
              <a:t>）</a:t>
            </a:r>
          </a:p>
        </p:txBody>
      </p:sp>
      <p:sp>
        <p:nvSpPr>
          <p:cNvPr id="39" name="Rectangle 43"/>
          <p:cNvSpPr>
            <a:spLocks noChangeArrowheads="1"/>
          </p:cNvSpPr>
          <p:nvPr/>
        </p:nvSpPr>
        <p:spPr bwMode="auto">
          <a:xfrm>
            <a:off x="5669221" y="1059683"/>
            <a:ext cx="998278" cy="21834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1" name="对角圆角矩形 40"/>
          <p:cNvSpPr/>
          <p:nvPr/>
        </p:nvSpPr>
        <p:spPr>
          <a:xfrm>
            <a:off x="1046286" y="3270739"/>
            <a:ext cx="6998676" cy="1081896"/>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矩形 41"/>
          <p:cNvSpPr/>
          <p:nvPr/>
        </p:nvSpPr>
        <p:spPr>
          <a:xfrm>
            <a:off x="1169377" y="3344153"/>
            <a:ext cx="6875585" cy="938719"/>
          </a:xfrm>
          <a:prstGeom prst="rect">
            <a:avLst/>
          </a:prstGeom>
        </p:spPr>
        <p:txBody>
          <a:bodyPr wrap="square">
            <a:spAutoFit/>
          </a:bodyPr>
          <a:lstStyle/>
          <a:p>
            <a:pPr>
              <a:lnSpc>
                <a:spcPts val="2200"/>
              </a:lnSpc>
            </a:pPr>
            <a:r>
              <a:rPr lang="zh-CN" altLang="en-US" sz="1600" b="1" dirty="0">
                <a:solidFill>
                  <a:schemeClr val="bg1"/>
                </a:solidFill>
                <a:latin typeface="微软雅黑" pitchFamily="34" charset="-122"/>
                <a:ea typeface="微软雅黑" pitchFamily="34" charset="-122"/>
              </a:rPr>
              <a:t>跳数限制</a:t>
            </a:r>
            <a:r>
              <a:rPr lang="en-US" altLang="zh-CN" sz="1600" b="1" dirty="0">
                <a:solidFill>
                  <a:schemeClr val="bg1"/>
                </a:solidFill>
                <a:latin typeface="微软雅黑" pitchFamily="34" charset="-122"/>
                <a:ea typeface="微软雅黑" pitchFamily="34" charset="-122"/>
              </a:rPr>
              <a:t>(hop limit)—— 8 </a:t>
            </a:r>
            <a:r>
              <a:rPr lang="zh-CN" altLang="en-US" sz="1600" b="1" dirty="0">
                <a:solidFill>
                  <a:schemeClr val="bg1"/>
                </a:solidFill>
                <a:latin typeface="微软雅黑" pitchFamily="34" charset="-122"/>
                <a:ea typeface="微软雅黑" pitchFamily="34" charset="-122"/>
              </a:rPr>
              <a:t>位。源站在数据报发出时即设定跳数限制。路由器在转发数据报时将跳数限制字段中的值减 </a:t>
            </a:r>
            <a:r>
              <a:rPr lang="en-US" altLang="zh-CN" sz="1600" b="1" dirty="0">
                <a:solidFill>
                  <a:schemeClr val="bg1"/>
                </a:solidFill>
                <a:latin typeface="微软雅黑" pitchFamily="34" charset="-122"/>
                <a:ea typeface="微软雅黑" pitchFamily="34" charset="-122"/>
              </a:rPr>
              <a:t>1</a:t>
            </a:r>
            <a:r>
              <a:rPr lang="zh-CN" altLang="en-US" sz="1600" b="1" dirty="0">
                <a:solidFill>
                  <a:schemeClr val="bg1"/>
                </a:solidFill>
                <a:latin typeface="微软雅黑" pitchFamily="34" charset="-122"/>
                <a:ea typeface="微软雅黑" pitchFamily="34" charset="-122"/>
              </a:rPr>
              <a:t>。当跳数限制的值为零时，就要将此数据报丢弃。 </a:t>
            </a:r>
          </a:p>
        </p:txBody>
      </p:sp>
    </p:spTree>
    <p:extLst>
      <p:ext uri="{BB962C8B-B14F-4D97-AF65-F5344CB8AC3E}">
        <p14:creationId xmlns:p14="http://schemas.microsoft.com/office/powerpoint/2010/main" val="367405134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圆角矩形 42"/>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Rectangle 2"/>
          <p:cNvSpPr>
            <a:spLocks noChangeArrowheads="1"/>
          </p:cNvSpPr>
          <p:nvPr/>
        </p:nvSpPr>
        <p:spPr bwMode="auto">
          <a:xfrm>
            <a:off x="2630958" y="847062"/>
            <a:ext cx="4042800" cy="2326899"/>
          </a:xfrm>
          <a:prstGeom prst="rect">
            <a:avLst/>
          </a:prstGeom>
          <a:solidFill>
            <a:srgbClr val="99FFCC"/>
          </a:solidFill>
          <a:ln w="381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 name="Line 3"/>
          <p:cNvSpPr>
            <a:spLocks noChangeShapeType="1"/>
          </p:cNvSpPr>
          <p:nvPr/>
        </p:nvSpPr>
        <p:spPr bwMode="auto">
          <a:xfrm>
            <a:off x="2635360" y="1058358"/>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 name="Line 4"/>
          <p:cNvSpPr>
            <a:spLocks noChangeShapeType="1"/>
          </p:cNvSpPr>
          <p:nvPr/>
        </p:nvSpPr>
        <p:spPr bwMode="auto">
          <a:xfrm>
            <a:off x="3134547" y="847943"/>
            <a:ext cx="0" cy="21129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 name="Line 5"/>
          <p:cNvSpPr>
            <a:spLocks noChangeShapeType="1"/>
          </p:cNvSpPr>
          <p:nvPr/>
        </p:nvSpPr>
        <p:spPr bwMode="auto">
          <a:xfrm>
            <a:off x="4654119"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 name="Rectangle 6"/>
          <p:cNvSpPr>
            <a:spLocks noChangeArrowheads="1"/>
          </p:cNvSpPr>
          <p:nvPr/>
        </p:nvSpPr>
        <p:spPr bwMode="auto">
          <a:xfrm>
            <a:off x="2588699"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0</a:t>
            </a:r>
          </a:p>
        </p:txBody>
      </p:sp>
      <p:sp>
        <p:nvSpPr>
          <p:cNvPr id="8" name="Rectangle 7"/>
          <p:cNvSpPr>
            <a:spLocks noChangeArrowheads="1"/>
          </p:cNvSpPr>
          <p:nvPr/>
        </p:nvSpPr>
        <p:spPr bwMode="auto">
          <a:xfrm>
            <a:off x="3089647"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4</a:t>
            </a:r>
          </a:p>
        </p:txBody>
      </p:sp>
      <p:sp>
        <p:nvSpPr>
          <p:cNvPr id="9" name="Rectangle 8"/>
          <p:cNvSpPr>
            <a:spLocks noChangeArrowheads="1"/>
          </p:cNvSpPr>
          <p:nvPr/>
        </p:nvSpPr>
        <p:spPr bwMode="auto">
          <a:xfrm>
            <a:off x="4603936"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16</a:t>
            </a:r>
          </a:p>
        </p:txBody>
      </p:sp>
      <p:sp>
        <p:nvSpPr>
          <p:cNvPr id="10" name="Rectangle 9"/>
          <p:cNvSpPr>
            <a:spLocks noChangeArrowheads="1"/>
          </p:cNvSpPr>
          <p:nvPr/>
        </p:nvSpPr>
        <p:spPr bwMode="auto">
          <a:xfrm>
            <a:off x="6487993"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31</a:t>
            </a:r>
          </a:p>
        </p:txBody>
      </p:sp>
      <p:sp>
        <p:nvSpPr>
          <p:cNvPr id="11" name="Rectangle 10"/>
          <p:cNvSpPr>
            <a:spLocks noChangeArrowheads="1"/>
          </p:cNvSpPr>
          <p:nvPr/>
        </p:nvSpPr>
        <p:spPr bwMode="auto">
          <a:xfrm>
            <a:off x="2670612" y="820698"/>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版本</a:t>
            </a:r>
          </a:p>
        </p:txBody>
      </p:sp>
      <p:sp>
        <p:nvSpPr>
          <p:cNvPr id="12" name="Rectangle 11"/>
          <p:cNvSpPr>
            <a:spLocks noChangeArrowheads="1"/>
          </p:cNvSpPr>
          <p:nvPr/>
        </p:nvSpPr>
        <p:spPr bwMode="auto">
          <a:xfrm>
            <a:off x="2246223" y="631364"/>
            <a:ext cx="32380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dirty="0">
                <a:solidFill>
                  <a:srgbClr val="0000CC"/>
                </a:solidFill>
                <a:latin typeface="微软雅黑" pitchFamily="34" charset="-122"/>
                <a:ea typeface="微软雅黑" pitchFamily="34" charset="-122"/>
              </a:rPr>
              <a:t>位</a:t>
            </a:r>
          </a:p>
        </p:txBody>
      </p:sp>
      <p:sp>
        <p:nvSpPr>
          <p:cNvPr id="13" name="Line 12"/>
          <p:cNvSpPr>
            <a:spLocks noChangeShapeType="1"/>
          </p:cNvSpPr>
          <p:nvPr/>
        </p:nvSpPr>
        <p:spPr bwMode="auto">
          <a:xfrm>
            <a:off x="2630958" y="1292545"/>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3"/>
          <p:cNvSpPr>
            <a:spLocks noChangeShapeType="1"/>
          </p:cNvSpPr>
          <p:nvPr/>
        </p:nvSpPr>
        <p:spPr bwMode="auto">
          <a:xfrm>
            <a:off x="2631838" y="1526731"/>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4"/>
          <p:cNvSpPr>
            <a:spLocks noChangeShapeType="1"/>
          </p:cNvSpPr>
          <p:nvPr/>
        </p:nvSpPr>
        <p:spPr bwMode="auto">
          <a:xfrm>
            <a:off x="2631838" y="1761798"/>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5"/>
          <p:cNvSpPr>
            <a:spLocks noChangeShapeType="1"/>
          </p:cNvSpPr>
          <p:nvPr/>
        </p:nvSpPr>
        <p:spPr bwMode="auto">
          <a:xfrm>
            <a:off x="2631838" y="199686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6"/>
          <p:cNvSpPr>
            <a:spLocks noChangeShapeType="1"/>
          </p:cNvSpPr>
          <p:nvPr/>
        </p:nvSpPr>
        <p:spPr bwMode="auto">
          <a:xfrm>
            <a:off x="2631838" y="223193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7"/>
          <p:cNvSpPr>
            <a:spLocks noChangeShapeType="1"/>
          </p:cNvSpPr>
          <p:nvPr/>
        </p:nvSpPr>
        <p:spPr bwMode="auto">
          <a:xfrm>
            <a:off x="2631838" y="2466119"/>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8"/>
          <p:cNvSpPr>
            <a:spLocks noChangeShapeType="1"/>
          </p:cNvSpPr>
          <p:nvPr/>
        </p:nvSpPr>
        <p:spPr bwMode="auto">
          <a:xfrm>
            <a:off x="2631838" y="270118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9"/>
          <p:cNvSpPr>
            <a:spLocks noChangeShapeType="1"/>
          </p:cNvSpPr>
          <p:nvPr/>
        </p:nvSpPr>
        <p:spPr bwMode="auto">
          <a:xfrm>
            <a:off x="2631838" y="293537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Rectangle 20"/>
          <p:cNvSpPr>
            <a:spLocks noChangeArrowheads="1"/>
          </p:cNvSpPr>
          <p:nvPr/>
        </p:nvSpPr>
        <p:spPr bwMode="auto">
          <a:xfrm>
            <a:off x="2756855" y="2387763"/>
            <a:ext cx="3798929" cy="62596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Rectangle 21"/>
          <p:cNvSpPr>
            <a:spLocks noChangeArrowheads="1"/>
          </p:cNvSpPr>
          <p:nvPr/>
        </p:nvSpPr>
        <p:spPr bwMode="auto">
          <a:xfrm>
            <a:off x="2756855" y="1469987"/>
            <a:ext cx="3798929" cy="62684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Rectangle 22"/>
          <p:cNvSpPr>
            <a:spLocks noChangeArrowheads="1"/>
          </p:cNvSpPr>
          <p:nvPr/>
        </p:nvSpPr>
        <p:spPr bwMode="auto">
          <a:xfrm>
            <a:off x="4240663" y="247056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目的地址</a:t>
            </a:r>
          </a:p>
        </p:txBody>
      </p:sp>
      <p:sp>
        <p:nvSpPr>
          <p:cNvPr id="24" name="Rectangle 23"/>
          <p:cNvSpPr>
            <a:spLocks noChangeArrowheads="1"/>
          </p:cNvSpPr>
          <p:nvPr/>
        </p:nvSpPr>
        <p:spPr bwMode="auto">
          <a:xfrm>
            <a:off x="4317607" y="1531181"/>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源地址</a:t>
            </a:r>
          </a:p>
        </p:txBody>
      </p:sp>
      <p:sp>
        <p:nvSpPr>
          <p:cNvPr id="25" name="Line 24"/>
          <p:cNvSpPr>
            <a:spLocks noChangeShapeType="1"/>
          </p:cNvSpPr>
          <p:nvPr/>
        </p:nvSpPr>
        <p:spPr bwMode="auto">
          <a:xfrm>
            <a:off x="5669221"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Rectangle 25"/>
          <p:cNvSpPr>
            <a:spLocks noChangeArrowheads="1"/>
          </p:cNvSpPr>
          <p:nvPr/>
        </p:nvSpPr>
        <p:spPr bwMode="auto">
          <a:xfrm>
            <a:off x="4600594" y="1041678"/>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下一个首部</a:t>
            </a:r>
          </a:p>
        </p:txBody>
      </p:sp>
      <p:sp>
        <p:nvSpPr>
          <p:cNvPr id="27" name="Rectangle 26"/>
          <p:cNvSpPr>
            <a:spLocks noChangeArrowheads="1"/>
          </p:cNvSpPr>
          <p:nvPr/>
        </p:nvSpPr>
        <p:spPr bwMode="auto">
          <a:xfrm>
            <a:off x="5079909" y="820698"/>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流标号</a:t>
            </a:r>
          </a:p>
        </p:txBody>
      </p:sp>
      <p:sp>
        <p:nvSpPr>
          <p:cNvPr id="28" name="Rectangle 27"/>
          <p:cNvSpPr>
            <a:spLocks noChangeArrowheads="1"/>
          </p:cNvSpPr>
          <p:nvPr/>
        </p:nvSpPr>
        <p:spPr bwMode="auto">
          <a:xfrm>
            <a:off x="4066011"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12</a:t>
            </a:r>
          </a:p>
        </p:txBody>
      </p:sp>
      <p:sp>
        <p:nvSpPr>
          <p:cNvPr id="29" name="Rectangle 28"/>
          <p:cNvSpPr>
            <a:spLocks noChangeArrowheads="1"/>
          </p:cNvSpPr>
          <p:nvPr/>
        </p:nvSpPr>
        <p:spPr bwMode="auto">
          <a:xfrm>
            <a:off x="3248167" y="82069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通信量类</a:t>
            </a:r>
          </a:p>
        </p:txBody>
      </p:sp>
      <p:sp>
        <p:nvSpPr>
          <p:cNvPr id="30" name="Rectangle 29"/>
          <p:cNvSpPr>
            <a:spLocks noChangeArrowheads="1"/>
          </p:cNvSpPr>
          <p:nvPr/>
        </p:nvSpPr>
        <p:spPr bwMode="auto">
          <a:xfrm>
            <a:off x="4175741" y="1716945"/>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1" name="Rectangle 30"/>
          <p:cNvSpPr>
            <a:spLocks noChangeArrowheads="1"/>
          </p:cNvSpPr>
          <p:nvPr/>
        </p:nvSpPr>
        <p:spPr bwMode="auto">
          <a:xfrm>
            <a:off x="4175741" y="2657783"/>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2" name="Rectangle 31"/>
          <p:cNvSpPr>
            <a:spLocks noChangeArrowheads="1"/>
          </p:cNvSpPr>
          <p:nvPr/>
        </p:nvSpPr>
        <p:spPr bwMode="auto">
          <a:xfrm>
            <a:off x="2966475" y="1037276"/>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有效载荷长度</a:t>
            </a:r>
          </a:p>
        </p:txBody>
      </p:sp>
      <p:sp>
        <p:nvSpPr>
          <p:cNvPr id="33" name="Rectangle 32"/>
          <p:cNvSpPr>
            <a:spLocks noChangeArrowheads="1"/>
          </p:cNvSpPr>
          <p:nvPr/>
        </p:nvSpPr>
        <p:spPr bwMode="auto">
          <a:xfrm>
            <a:off x="5774061" y="1039049"/>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跳数限制</a:t>
            </a:r>
          </a:p>
        </p:txBody>
      </p:sp>
      <p:sp>
        <p:nvSpPr>
          <p:cNvPr id="34" name="Line 33"/>
          <p:cNvSpPr>
            <a:spLocks noChangeShapeType="1"/>
          </p:cNvSpPr>
          <p:nvPr/>
        </p:nvSpPr>
        <p:spPr bwMode="auto">
          <a:xfrm>
            <a:off x="4142606" y="847062"/>
            <a:ext cx="3522" cy="2121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Rectangle 34"/>
          <p:cNvSpPr>
            <a:spLocks noChangeArrowheads="1"/>
          </p:cNvSpPr>
          <p:nvPr/>
        </p:nvSpPr>
        <p:spPr bwMode="auto">
          <a:xfrm>
            <a:off x="5611114"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24</a:t>
            </a:r>
          </a:p>
        </p:txBody>
      </p:sp>
      <p:sp>
        <p:nvSpPr>
          <p:cNvPr id="36" name="Line 35"/>
          <p:cNvSpPr>
            <a:spLocks noChangeShapeType="1"/>
          </p:cNvSpPr>
          <p:nvPr/>
        </p:nvSpPr>
        <p:spPr bwMode="auto">
          <a:xfrm>
            <a:off x="2630958" y="3173961"/>
            <a:ext cx="40516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7" name="AutoShape 39"/>
          <p:cNvSpPr>
            <a:spLocks/>
          </p:cNvSpPr>
          <p:nvPr/>
        </p:nvSpPr>
        <p:spPr bwMode="auto">
          <a:xfrm>
            <a:off x="2461921" y="865551"/>
            <a:ext cx="126778" cy="2308410"/>
          </a:xfrm>
          <a:prstGeom prst="leftBrace">
            <a:avLst>
              <a:gd name="adj1" fmla="val 15173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8" name="Rectangle 40"/>
          <p:cNvSpPr>
            <a:spLocks noChangeArrowheads="1"/>
          </p:cNvSpPr>
          <p:nvPr/>
        </p:nvSpPr>
        <p:spPr bwMode="auto">
          <a:xfrm>
            <a:off x="1711709" y="1759157"/>
            <a:ext cx="775854" cy="5975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1100" b="1" dirty="0">
                <a:solidFill>
                  <a:srgbClr val="0000CC"/>
                </a:solidFill>
                <a:latin typeface="微软雅黑" pitchFamily="34" charset="-122"/>
                <a:ea typeface="微软雅黑" pitchFamily="34" charset="-122"/>
              </a:rPr>
              <a:t>IPv6 </a:t>
            </a:r>
            <a:r>
              <a:rPr kumimoji="1" lang="zh-CN" altLang="en-US" sz="1100" b="1" dirty="0">
                <a:solidFill>
                  <a:srgbClr val="0000CC"/>
                </a:solidFill>
                <a:latin typeface="微软雅黑" pitchFamily="34" charset="-122"/>
                <a:ea typeface="微软雅黑" pitchFamily="34" charset="-122"/>
              </a:rPr>
              <a:t>的</a:t>
            </a:r>
          </a:p>
          <a:p>
            <a:pPr algn="ctr" defTabSz="762000" eaLnBrk="0" hangingPunct="0"/>
            <a:r>
              <a:rPr kumimoji="1" lang="zh-CN" altLang="en-US" sz="1100" b="1" dirty="0">
                <a:solidFill>
                  <a:srgbClr val="0000CC"/>
                </a:solidFill>
                <a:latin typeface="微软雅黑" pitchFamily="34" charset="-122"/>
                <a:ea typeface="微软雅黑" pitchFamily="34" charset="-122"/>
              </a:rPr>
              <a:t>基本首部</a:t>
            </a:r>
          </a:p>
          <a:p>
            <a:pPr algn="ctr" defTabSz="762000" eaLnBrk="0" hangingPunct="0"/>
            <a:r>
              <a:rPr kumimoji="1" lang="zh-CN" altLang="en-US" sz="1100" b="1" dirty="0">
                <a:solidFill>
                  <a:srgbClr val="0000CC"/>
                </a:solidFill>
                <a:latin typeface="微软雅黑" pitchFamily="34" charset="-122"/>
                <a:ea typeface="微软雅黑" pitchFamily="34" charset="-122"/>
              </a:rPr>
              <a:t>（</a:t>
            </a:r>
            <a:r>
              <a:rPr kumimoji="1" lang="en-US" altLang="zh-CN" sz="1100" b="1" dirty="0">
                <a:solidFill>
                  <a:srgbClr val="0000CC"/>
                </a:solidFill>
                <a:latin typeface="微软雅黑" pitchFamily="34" charset="-122"/>
                <a:ea typeface="微软雅黑" pitchFamily="34" charset="-122"/>
              </a:rPr>
              <a:t>40 B</a:t>
            </a:r>
            <a:r>
              <a:rPr kumimoji="1" lang="zh-CN" altLang="en-US" sz="1100" b="1" dirty="0">
                <a:solidFill>
                  <a:srgbClr val="0000CC"/>
                </a:solidFill>
                <a:latin typeface="微软雅黑" pitchFamily="34" charset="-122"/>
                <a:ea typeface="微软雅黑" pitchFamily="34" charset="-122"/>
              </a:rPr>
              <a:t>）</a:t>
            </a:r>
          </a:p>
        </p:txBody>
      </p:sp>
      <p:sp>
        <p:nvSpPr>
          <p:cNvPr id="39" name="Rectangle 43"/>
          <p:cNvSpPr>
            <a:spLocks noChangeArrowheads="1"/>
          </p:cNvSpPr>
          <p:nvPr/>
        </p:nvSpPr>
        <p:spPr bwMode="auto">
          <a:xfrm flipH="1">
            <a:off x="2630515" y="1300662"/>
            <a:ext cx="4035411" cy="93127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1" name="对角圆角矩形 40"/>
          <p:cNvSpPr/>
          <p:nvPr/>
        </p:nvSpPr>
        <p:spPr>
          <a:xfrm>
            <a:off x="1046286" y="3344795"/>
            <a:ext cx="6998676" cy="573291"/>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矩形 41"/>
          <p:cNvSpPr/>
          <p:nvPr/>
        </p:nvSpPr>
        <p:spPr>
          <a:xfrm>
            <a:off x="1169377" y="3412417"/>
            <a:ext cx="6875585" cy="406971"/>
          </a:xfrm>
          <a:prstGeom prst="rect">
            <a:avLst/>
          </a:prstGeom>
        </p:spPr>
        <p:txBody>
          <a:bodyPr wrap="square">
            <a:spAutoFit/>
          </a:bodyPr>
          <a:lstStyle/>
          <a:p>
            <a:pPr>
              <a:lnSpc>
                <a:spcPts val="2700"/>
              </a:lnSpc>
            </a:pPr>
            <a:r>
              <a:rPr lang="zh-CN" altLang="en-US" sz="1600" b="1" dirty="0">
                <a:solidFill>
                  <a:schemeClr val="bg1"/>
                </a:solidFill>
                <a:latin typeface="微软雅黑" pitchFamily="34" charset="-122"/>
                <a:ea typeface="微软雅黑" pitchFamily="34" charset="-122"/>
              </a:rPr>
              <a:t>源地址</a:t>
            </a:r>
            <a:r>
              <a:rPr lang="en-US" altLang="zh-CN" sz="1600" b="1" dirty="0">
                <a:solidFill>
                  <a:schemeClr val="bg1"/>
                </a:solidFill>
                <a:latin typeface="微软雅黑" pitchFamily="34" charset="-122"/>
                <a:ea typeface="微软雅黑" pitchFamily="34" charset="-122"/>
              </a:rPr>
              <a:t>—— 128 </a:t>
            </a:r>
            <a:r>
              <a:rPr lang="zh-CN" altLang="en-US" sz="1600" b="1" dirty="0">
                <a:solidFill>
                  <a:schemeClr val="bg1"/>
                </a:solidFill>
                <a:latin typeface="微软雅黑" pitchFamily="34" charset="-122"/>
                <a:ea typeface="微软雅黑" pitchFamily="34" charset="-122"/>
              </a:rPr>
              <a:t>位。是数据报的发送站的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地址。 </a:t>
            </a:r>
          </a:p>
        </p:txBody>
      </p:sp>
    </p:spTree>
    <p:extLst>
      <p:ext uri="{BB962C8B-B14F-4D97-AF65-F5344CB8AC3E}">
        <p14:creationId xmlns:p14="http://schemas.microsoft.com/office/powerpoint/2010/main" val="299564219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圆角矩形 41"/>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Rectangle 2"/>
          <p:cNvSpPr>
            <a:spLocks noChangeArrowheads="1"/>
          </p:cNvSpPr>
          <p:nvPr/>
        </p:nvSpPr>
        <p:spPr bwMode="auto">
          <a:xfrm>
            <a:off x="2630958" y="847062"/>
            <a:ext cx="4042800" cy="2326899"/>
          </a:xfrm>
          <a:prstGeom prst="rect">
            <a:avLst/>
          </a:prstGeom>
          <a:solidFill>
            <a:srgbClr val="99FFCC"/>
          </a:solidFill>
          <a:ln w="381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 name="Line 3"/>
          <p:cNvSpPr>
            <a:spLocks noChangeShapeType="1"/>
          </p:cNvSpPr>
          <p:nvPr/>
        </p:nvSpPr>
        <p:spPr bwMode="auto">
          <a:xfrm>
            <a:off x="2635360" y="1058358"/>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 name="Line 4"/>
          <p:cNvSpPr>
            <a:spLocks noChangeShapeType="1"/>
          </p:cNvSpPr>
          <p:nvPr/>
        </p:nvSpPr>
        <p:spPr bwMode="auto">
          <a:xfrm>
            <a:off x="3134547" y="847943"/>
            <a:ext cx="0" cy="21129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 name="Line 5"/>
          <p:cNvSpPr>
            <a:spLocks noChangeShapeType="1"/>
          </p:cNvSpPr>
          <p:nvPr/>
        </p:nvSpPr>
        <p:spPr bwMode="auto">
          <a:xfrm>
            <a:off x="4654119"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 name="Rectangle 6"/>
          <p:cNvSpPr>
            <a:spLocks noChangeArrowheads="1"/>
          </p:cNvSpPr>
          <p:nvPr/>
        </p:nvSpPr>
        <p:spPr bwMode="auto">
          <a:xfrm>
            <a:off x="2588699"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0</a:t>
            </a:r>
          </a:p>
        </p:txBody>
      </p:sp>
      <p:sp>
        <p:nvSpPr>
          <p:cNvPr id="8" name="Rectangle 7"/>
          <p:cNvSpPr>
            <a:spLocks noChangeArrowheads="1"/>
          </p:cNvSpPr>
          <p:nvPr/>
        </p:nvSpPr>
        <p:spPr bwMode="auto">
          <a:xfrm>
            <a:off x="3089647"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4</a:t>
            </a:r>
          </a:p>
        </p:txBody>
      </p:sp>
      <p:sp>
        <p:nvSpPr>
          <p:cNvPr id="9" name="Rectangle 8"/>
          <p:cNvSpPr>
            <a:spLocks noChangeArrowheads="1"/>
          </p:cNvSpPr>
          <p:nvPr/>
        </p:nvSpPr>
        <p:spPr bwMode="auto">
          <a:xfrm>
            <a:off x="4603936"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16</a:t>
            </a:r>
          </a:p>
        </p:txBody>
      </p:sp>
      <p:sp>
        <p:nvSpPr>
          <p:cNvPr id="10" name="Rectangle 9"/>
          <p:cNvSpPr>
            <a:spLocks noChangeArrowheads="1"/>
          </p:cNvSpPr>
          <p:nvPr/>
        </p:nvSpPr>
        <p:spPr bwMode="auto">
          <a:xfrm>
            <a:off x="6487993"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31</a:t>
            </a:r>
          </a:p>
        </p:txBody>
      </p:sp>
      <p:sp>
        <p:nvSpPr>
          <p:cNvPr id="11" name="Rectangle 10"/>
          <p:cNvSpPr>
            <a:spLocks noChangeArrowheads="1"/>
          </p:cNvSpPr>
          <p:nvPr/>
        </p:nvSpPr>
        <p:spPr bwMode="auto">
          <a:xfrm>
            <a:off x="2670612" y="820698"/>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版本</a:t>
            </a:r>
          </a:p>
        </p:txBody>
      </p:sp>
      <p:sp>
        <p:nvSpPr>
          <p:cNvPr id="12" name="Rectangle 11"/>
          <p:cNvSpPr>
            <a:spLocks noChangeArrowheads="1"/>
          </p:cNvSpPr>
          <p:nvPr/>
        </p:nvSpPr>
        <p:spPr bwMode="auto">
          <a:xfrm>
            <a:off x="2246223" y="631364"/>
            <a:ext cx="32380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dirty="0">
                <a:solidFill>
                  <a:srgbClr val="0000CC"/>
                </a:solidFill>
                <a:latin typeface="微软雅黑" pitchFamily="34" charset="-122"/>
                <a:ea typeface="微软雅黑" pitchFamily="34" charset="-122"/>
              </a:rPr>
              <a:t>位</a:t>
            </a:r>
          </a:p>
        </p:txBody>
      </p:sp>
      <p:sp>
        <p:nvSpPr>
          <p:cNvPr id="13" name="Line 12"/>
          <p:cNvSpPr>
            <a:spLocks noChangeShapeType="1"/>
          </p:cNvSpPr>
          <p:nvPr/>
        </p:nvSpPr>
        <p:spPr bwMode="auto">
          <a:xfrm>
            <a:off x="2630958" y="1292545"/>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3"/>
          <p:cNvSpPr>
            <a:spLocks noChangeShapeType="1"/>
          </p:cNvSpPr>
          <p:nvPr/>
        </p:nvSpPr>
        <p:spPr bwMode="auto">
          <a:xfrm>
            <a:off x="2631838" y="1526731"/>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4"/>
          <p:cNvSpPr>
            <a:spLocks noChangeShapeType="1"/>
          </p:cNvSpPr>
          <p:nvPr/>
        </p:nvSpPr>
        <p:spPr bwMode="auto">
          <a:xfrm>
            <a:off x="2631838" y="1761798"/>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5"/>
          <p:cNvSpPr>
            <a:spLocks noChangeShapeType="1"/>
          </p:cNvSpPr>
          <p:nvPr/>
        </p:nvSpPr>
        <p:spPr bwMode="auto">
          <a:xfrm>
            <a:off x="2631838" y="199686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6"/>
          <p:cNvSpPr>
            <a:spLocks noChangeShapeType="1"/>
          </p:cNvSpPr>
          <p:nvPr/>
        </p:nvSpPr>
        <p:spPr bwMode="auto">
          <a:xfrm>
            <a:off x="2631838" y="223193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7"/>
          <p:cNvSpPr>
            <a:spLocks noChangeShapeType="1"/>
          </p:cNvSpPr>
          <p:nvPr/>
        </p:nvSpPr>
        <p:spPr bwMode="auto">
          <a:xfrm>
            <a:off x="2631838" y="2466119"/>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8"/>
          <p:cNvSpPr>
            <a:spLocks noChangeShapeType="1"/>
          </p:cNvSpPr>
          <p:nvPr/>
        </p:nvSpPr>
        <p:spPr bwMode="auto">
          <a:xfrm>
            <a:off x="2631838" y="270118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9"/>
          <p:cNvSpPr>
            <a:spLocks noChangeShapeType="1"/>
          </p:cNvSpPr>
          <p:nvPr/>
        </p:nvSpPr>
        <p:spPr bwMode="auto">
          <a:xfrm>
            <a:off x="2631838" y="293537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Rectangle 20"/>
          <p:cNvSpPr>
            <a:spLocks noChangeArrowheads="1"/>
          </p:cNvSpPr>
          <p:nvPr/>
        </p:nvSpPr>
        <p:spPr bwMode="auto">
          <a:xfrm>
            <a:off x="2756855" y="2387763"/>
            <a:ext cx="3798929" cy="62596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Rectangle 21"/>
          <p:cNvSpPr>
            <a:spLocks noChangeArrowheads="1"/>
          </p:cNvSpPr>
          <p:nvPr/>
        </p:nvSpPr>
        <p:spPr bwMode="auto">
          <a:xfrm>
            <a:off x="2756855" y="1469987"/>
            <a:ext cx="3798929" cy="62684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Rectangle 22"/>
          <p:cNvSpPr>
            <a:spLocks noChangeArrowheads="1"/>
          </p:cNvSpPr>
          <p:nvPr/>
        </p:nvSpPr>
        <p:spPr bwMode="auto">
          <a:xfrm>
            <a:off x="4240663" y="247056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目的地址</a:t>
            </a:r>
          </a:p>
        </p:txBody>
      </p:sp>
      <p:sp>
        <p:nvSpPr>
          <p:cNvPr id="24" name="Rectangle 23"/>
          <p:cNvSpPr>
            <a:spLocks noChangeArrowheads="1"/>
          </p:cNvSpPr>
          <p:nvPr/>
        </p:nvSpPr>
        <p:spPr bwMode="auto">
          <a:xfrm>
            <a:off x="4317607" y="1531181"/>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源地址</a:t>
            </a:r>
          </a:p>
        </p:txBody>
      </p:sp>
      <p:sp>
        <p:nvSpPr>
          <p:cNvPr id="25" name="Line 24"/>
          <p:cNvSpPr>
            <a:spLocks noChangeShapeType="1"/>
          </p:cNvSpPr>
          <p:nvPr/>
        </p:nvSpPr>
        <p:spPr bwMode="auto">
          <a:xfrm>
            <a:off x="5669221"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Rectangle 25"/>
          <p:cNvSpPr>
            <a:spLocks noChangeArrowheads="1"/>
          </p:cNvSpPr>
          <p:nvPr/>
        </p:nvSpPr>
        <p:spPr bwMode="auto">
          <a:xfrm>
            <a:off x="4600594" y="1041678"/>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下一个首部</a:t>
            </a:r>
          </a:p>
        </p:txBody>
      </p:sp>
      <p:sp>
        <p:nvSpPr>
          <p:cNvPr id="27" name="Rectangle 26"/>
          <p:cNvSpPr>
            <a:spLocks noChangeArrowheads="1"/>
          </p:cNvSpPr>
          <p:nvPr/>
        </p:nvSpPr>
        <p:spPr bwMode="auto">
          <a:xfrm>
            <a:off x="5079909" y="820698"/>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流标号</a:t>
            </a:r>
          </a:p>
        </p:txBody>
      </p:sp>
      <p:sp>
        <p:nvSpPr>
          <p:cNvPr id="28" name="Rectangle 27"/>
          <p:cNvSpPr>
            <a:spLocks noChangeArrowheads="1"/>
          </p:cNvSpPr>
          <p:nvPr/>
        </p:nvSpPr>
        <p:spPr bwMode="auto">
          <a:xfrm>
            <a:off x="4066011"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12</a:t>
            </a:r>
          </a:p>
        </p:txBody>
      </p:sp>
      <p:sp>
        <p:nvSpPr>
          <p:cNvPr id="29" name="Rectangle 28"/>
          <p:cNvSpPr>
            <a:spLocks noChangeArrowheads="1"/>
          </p:cNvSpPr>
          <p:nvPr/>
        </p:nvSpPr>
        <p:spPr bwMode="auto">
          <a:xfrm>
            <a:off x="3248167" y="82069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通信量类</a:t>
            </a:r>
          </a:p>
        </p:txBody>
      </p:sp>
      <p:sp>
        <p:nvSpPr>
          <p:cNvPr id="30" name="Rectangle 29"/>
          <p:cNvSpPr>
            <a:spLocks noChangeArrowheads="1"/>
          </p:cNvSpPr>
          <p:nvPr/>
        </p:nvSpPr>
        <p:spPr bwMode="auto">
          <a:xfrm>
            <a:off x="4175741" y="1716945"/>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1" name="Rectangle 30"/>
          <p:cNvSpPr>
            <a:spLocks noChangeArrowheads="1"/>
          </p:cNvSpPr>
          <p:nvPr/>
        </p:nvSpPr>
        <p:spPr bwMode="auto">
          <a:xfrm>
            <a:off x="4175741" y="2657783"/>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2" name="Rectangle 31"/>
          <p:cNvSpPr>
            <a:spLocks noChangeArrowheads="1"/>
          </p:cNvSpPr>
          <p:nvPr/>
        </p:nvSpPr>
        <p:spPr bwMode="auto">
          <a:xfrm>
            <a:off x="2966475" y="1037276"/>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有效载荷长度</a:t>
            </a:r>
          </a:p>
        </p:txBody>
      </p:sp>
      <p:sp>
        <p:nvSpPr>
          <p:cNvPr id="33" name="Rectangle 32"/>
          <p:cNvSpPr>
            <a:spLocks noChangeArrowheads="1"/>
          </p:cNvSpPr>
          <p:nvPr/>
        </p:nvSpPr>
        <p:spPr bwMode="auto">
          <a:xfrm>
            <a:off x="5774061" y="1039049"/>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跳数限制</a:t>
            </a:r>
          </a:p>
        </p:txBody>
      </p:sp>
      <p:sp>
        <p:nvSpPr>
          <p:cNvPr id="34" name="Line 33"/>
          <p:cNvSpPr>
            <a:spLocks noChangeShapeType="1"/>
          </p:cNvSpPr>
          <p:nvPr/>
        </p:nvSpPr>
        <p:spPr bwMode="auto">
          <a:xfrm>
            <a:off x="4142606" y="847062"/>
            <a:ext cx="3522" cy="2121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Rectangle 34"/>
          <p:cNvSpPr>
            <a:spLocks noChangeArrowheads="1"/>
          </p:cNvSpPr>
          <p:nvPr/>
        </p:nvSpPr>
        <p:spPr bwMode="auto">
          <a:xfrm>
            <a:off x="5611114"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24</a:t>
            </a:r>
          </a:p>
        </p:txBody>
      </p:sp>
      <p:sp>
        <p:nvSpPr>
          <p:cNvPr id="36" name="Line 35"/>
          <p:cNvSpPr>
            <a:spLocks noChangeShapeType="1"/>
          </p:cNvSpPr>
          <p:nvPr/>
        </p:nvSpPr>
        <p:spPr bwMode="auto">
          <a:xfrm>
            <a:off x="2630958" y="3173961"/>
            <a:ext cx="40516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7" name="AutoShape 39"/>
          <p:cNvSpPr>
            <a:spLocks/>
          </p:cNvSpPr>
          <p:nvPr/>
        </p:nvSpPr>
        <p:spPr bwMode="auto">
          <a:xfrm>
            <a:off x="2461921" y="865551"/>
            <a:ext cx="126778" cy="2308410"/>
          </a:xfrm>
          <a:prstGeom prst="leftBrace">
            <a:avLst>
              <a:gd name="adj1" fmla="val 15173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8" name="Rectangle 40"/>
          <p:cNvSpPr>
            <a:spLocks noChangeArrowheads="1"/>
          </p:cNvSpPr>
          <p:nvPr/>
        </p:nvSpPr>
        <p:spPr bwMode="auto">
          <a:xfrm>
            <a:off x="1711709" y="1759157"/>
            <a:ext cx="775854" cy="5975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1100" b="1" dirty="0">
                <a:solidFill>
                  <a:srgbClr val="0000CC"/>
                </a:solidFill>
                <a:latin typeface="微软雅黑" pitchFamily="34" charset="-122"/>
                <a:ea typeface="微软雅黑" pitchFamily="34" charset="-122"/>
              </a:rPr>
              <a:t>IPv6 </a:t>
            </a:r>
            <a:r>
              <a:rPr kumimoji="1" lang="zh-CN" altLang="en-US" sz="1100" b="1" dirty="0">
                <a:solidFill>
                  <a:srgbClr val="0000CC"/>
                </a:solidFill>
                <a:latin typeface="微软雅黑" pitchFamily="34" charset="-122"/>
                <a:ea typeface="微软雅黑" pitchFamily="34" charset="-122"/>
              </a:rPr>
              <a:t>的</a:t>
            </a:r>
          </a:p>
          <a:p>
            <a:pPr algn="ctr" defTabSz="762000" eaLnBrk="0" hangingPunct="0"/>
            <a:r>
              <a:rPr kumimoji="1" lang="zh-CN" altLang="en-US" sz="1100" b="1" dirty="0">
                <a:solidFill>
                  <a:srgbClr val="0000CC"/>
                </a:solidFill>
                <a:latin typeface="微软雅黑" pitchFamily="34" charset="-122"/>
                <a:ea typeface="微软雅黑" pitchFamily="34" charset="-122"/>
              </a:rPr>
              <a:t>基本首部</a:t>
            </a:r>
          </a:p>
          <a:p>
            <a:pPr algn="ctr" defTabSz="762000" eaLnBrk="0" hangingPunct="0"/>
            <a:r>
              <a:rPr kumimoji="1" lang="zh-CN" altLang="en-US" sz="1100" b="1" dirty="0">
                <a:solidFill>
                  <a:srgbClr val="0000CC"/>
                </a:solidFill>
                <a:latin typeface="微软雅黑" pitchFamily="34" charset="-122"/>
                <a:ea typeface="微软雅黑" pitchFamily="34" charset="-122"/>
              </a:rPr>
              <a:t>（</a:t>
            </a:r>
            <a:r>
              <a:rPr kumimoji="1" lang="en-US" altLang="zh-CN" sz="1100" b="1" dirty="0">
                <a:solidFill>
                  <a:srgbClr val="0000CC"/>
                </a:solidFill>
                <a:latin typeface="微软雅黑" pitchFamily="34" charset="-122"/>
                <a:ea typeface="微软雅黑" pitchFamily="34" charset="-122"/>
              </a:rPr>
              <a:t>40 B</a:t>
            </a:r>
            <a:r>
              <a:rPr kumimoji="1" lang="zh-CN" altLang="en-US" sz="1100" b="1" dirty="0">
                <a:solidFill>
                  <a:srgbClr val="0000CC"/>
                </a:solidFill>
                <a:latin typeface="微软雅黑" pitchFamily="34" charset="-122"/>
                <a:ea typeface="微软雅黑" pitchFamily="34" charset="-122"/>
              </a:rPr>
              <a:t>）</a:t>
            </a:r>
          </a:p>
        </p:txBody>
      </p:sp>
      <p:sp>
        <p:nvSpPr>
          <p:cNvPr id="39" name="Rectangle 43"/>
          <p:cNvSpPr>
            <a:spLocks noChangeArrowheads="1"/>
          </p:cNvSpPr>
          <p:nvPr/>
        </p:nvSpPr>
        <p:spPr bwMode="auto">
          <a:xfrm flipH="1" flipV="1">
            <a:off x="2630514" y="2231931"/>
            <a:ext cx="4035411" cy="942029"/>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3" name="对角圆角矩形 42"/>
          <p:cNvSpPr/>
          <p:nvPr/>
        </p:nvSpPr>
        <p:spPr>
          <a:xfrm>
            <a:off x="1046286" y="3344795"/>
            <a:ext cx="6998676" cy="573291"/>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 name="矩形 43"/>
          <p:cNvSpPr/>
          <p:nvPr/>
        </p:nvSpPr>
        <p:spPr>
          <a:xfrm>
            <a:off x="1169377" y="3412417"/>
            <a:ext cx="6875585" cy="406971"/>
          </a:xfrm>
          <a:prstGeom prst="rect">
            <a:avLst/>
          </a:prstGeom>
        </p:spPr>
        <p:txBody>
          <a:bodyPr wrap="square">
            <a:spAutoFit/>
          </a:bodyPr>
          <a:lstStyle/>
          <a:p>
            <a:pPr>
              <a:lnSpc>
                <a:spcPts val="2700"/>
              </a:lnSpc>
            </a:pPr>
            <a:r>
              <a:rPr lang="zh-CN" altLang="en-US" sz="1600" b="1" dirty="0">
                <a:solidFill>
                  <a:schemeClr val="bg1"/>
                </a:solidFill>
                <a:latin typeface="微软雅黑" pitchFamily="34" charset="-122"/>
                <a:ea typeface="微软雅黑" pitchFamily="34" charset="-122"/>
              </a:rPr>
              <a:t>目的地址</a:t>
            </a:r>
            <a:r>
              <a:rPr lang="en-US" altLang="zh-CN" sz="1600" b="1" dirty="0">
                <a:solidFill>
                  <a:schemeClr val="bg1"/>
                </a:solidFill>
                <a:latin typeface="微软雅黑" pitchFamily="34" charset="-122"/>
                <a:ea typeface="微软雅黑" pitchFamily="34" charset="-122"/>
              </a:rPr>
              <a:t>—— 128 </a:t>
            </a:r>
            <a:r>
              <a:rPr lang="zh-CN" altLang="en-US" sz="1600" b="1" dirty="0">
                <a:solidFill>
                  <a:schemeClr val="bg1"/>
                </a:solidFill>
                <a:latin typeface="微软雅黑" pitchFamily="34" charset="-122"/>
                <a:ea typeface="微软雅黑" pitchFamily="34" charset="-122"/>
              </a:rPr>
              <a:t>位。是数据报的接收站的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地址。</a:t>
            </a:r>
          </a:p>
        </p:txBody>
      </p:sp>
    </p:spTree>
    <p:extLst>
      <p:ext uri="{BB962C8B-B14F-4D97-AF65-F5344CB8AC3E}">
        <p14:creationId xmlns:p14="http://schemas.microsoft.com/office/powerpoint/2010/main" val="216682683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5" y="975767"/>
            <a:ext cx="8053710" cy="26314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逐跳选项</a:t>
            </a:r>
          </a:p>
          <a:p>
            <a:pPr marL="342900" indent="-34290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路由选择</a:t>
            </a:r>
          </a:p>
          <a:p>
            <a:pPr marL="342900" indent="-34290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分片</a:t>
            </a:r>
          </a:p>
          <a:p>
            <a:pPr marL="342900" indent="-34290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鉴别</a:t>
            </a:r>
          </a:p>
          <a:p>
            <a:pPr marL="342900" indent="-34290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封装安全有效载荷</a:t>
            </a:r>
          </a:p>
          <a:p>
            <a:pPr marL="342900" indent="-34290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目的站选项 </a:t>
            </a:r>
          </a:p>
        </p:txBody>
      </p:sp>
      <p:sp>
        <p:nvSpPr>
          <p:cNvPr id="3" name="AutoShape 5"/>
          <p:cNvSpPr>
            <a:spLocks noChangeArrowheads="1"/>
          </p:cNvSpPr>
          <p:nvPr/>
        </p:nvSpPr>
        <p:spPr bwMode="auto">
          <a:xfrm>
            <a:off x="545145" y="619478"/>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6267"/>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IPv6 </a:t>
            </a:r>
            <a:r>
              <a:rPr lang="zh-CN" altLang="en-US" sz="2000" b="1" dirty="0">
                <a:solidFill>
                  <a:schemeClr val="bg1"/>
                </a:solidFill>
                <a:latin typeface="微软雅黑" pitchFamily="34" charset="-122"/>
                <a:ea typeface="微软雅黑" pitchFamily="34" charset="-122"/>
              </a:rPr>
              <a:t>的六种扩展首部</a:t>
            </a:r>
          </a:p>
        </p:txBody>
      </p:sp>
    </p:spTree>
    <p:extLst>
      <p:ext uri="{BB962C8B-B14F-4D97-AF65-F5344CB8AC3E}">
        <p14:creationId xmlns:p14="http://schemas.microsoft.com/office/powerpoint/2010/main" val="364610829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19205"/>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3173220" y="578342"/>
            <a:ext cx="279756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4.5.2  IPv6 </a:t>
            </a:r>
            <a:r>
              <a:rPr lang="zh-CN" altLang="en-US" sz="2400" b="1" dirty="0">
                <a:solidFill>
                  <a:schemeClr val="bg1"/>
                </a:solidFill>
                <a:latin typeface="微软雅黑" pitchFamily="34" charset="-122"/>
                <a:ea typeface="微软雅黑" pitchFamily="34" charset="-122"/>
              </a:rPr>
              <a:t>的地址</a:t>
            </a:r>
          </a:p>
        </p:txBody>
      </p:sp>
      <p:sp>
        <p:nvSpPr>
          <p:cNvPr id="4" name="Rectangle 8"/>
          <p:cNvSpPr>
            <a:spLocks noChangeArrowheads="1"/>
          </p:cNvSpPr>
          <p:nvPr/>
        </p:nvSpPr>
        <p:spPr bwMode="auto">
          <a:xfrm>
            <a:off x="545143" y="1003236"/>
            <a:ext cx="8053711" cy="2554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三种基本类型：</a:t>
            </a:r>
          </a:p>
          <a:p>
            <a:pPr marL="623888" indent="-342900">
              <a:lnSpc>
                <a:spcPts val="3200"/>
              </a:lnSpc>
              <a:buClr>
                <a:srgbClr val="7030A0"/>
              </a:buClr>
              <a:buFont typeface="+mj-lt"/>
              <a:buAutoNum type="arabicPeriod"/>
            </a:pPr>
            <a:r>
              <a:rPr lang="zh-CN" altLang="en-US" sz="2000" b="1" dirty="0">
                <a:solidFill>
                  <a:srgbClr val="0000FF"/>
                </a:solidFill>
                <a:latin typeface="微软雅黑" pitchFamily="34" charset="-122"/>
                <a:ea typeface="微软雅黑" pitchFamily="34" charset="-122"/>
              </a:rPr>
              <a:t>单播 </a:t>
            </a:r>
            <a:r>
              <a:rPr lang="en-US" altLang="zh-CN" sz="2000" b="1" dirty="0">
                <a:latin typeface="微软雅黑" pitchFamily="34" charset="-122"/>
                <a:ea typeface="微软雅黑" pitchFamily="34" charset="-122"/>
              </a:rPr>
              <a:t>(unicast)</a:t>
            </a:r>
            <a:r>
              <a:rPr lang="zh-CN" altLang="en-US" sz="2000" b="1" dirty="0">
                <a:latin typeface="微软雅黑" pitchFamily="34" charset="-122"/>
                <a:ea typeface="微软雅黑" pitchFamily="34" charset="-122"/>
              </a:rPr>
              <a:t>：传统的点对点通信。</a:t>
            </a:r>
          </a:p>
          <a:p>
            <a:pPr marL="623888" indent="-342900">
              <a:lnSpc>
                <a:spcPts val="3200"/>
              </a:lnSpc>
              <a:buClr>
                <a:srgbClr val="7030A0"/>
              </a:buClr>
              <a:buFont typeface="+mj-lt"/>
              <a:buAutoNum type="arabicPeriod"/>
            </a:pPr>
            <a:r>
              <a:rPr lang="zh-CN" altLang="en-US" sz="2000" b="1" dirty="0">
                <a:solidFill>
                  <a:srgbClr val="0000FF"/>
                </a:solidFill>
                <a:latin typeface="微软雅黑" pitchFamily="34" charset="-122"/>
                <a:ea typeface="微软雅黑" pitchFamily="34" charset="-122"/>
              </a:rPr>
              <a:t>多播 </a:t>
            </a:r>
            <a:r>
              <a:rPr lang="en-US" altLang="zh-CN" sz="2000" b="1" dirty="0">
                <a:latin typeface="微软雅黑" pitchFamily="34" charset="-122"/>
                <a:ea typeface="微软雅黑" pitchFamily="34" charset="-122"/>
              </a:rPr>
              <a:t>(multicast)</a:t>
            </a:r>
            <a:r>
              <a:rPr lang="zh-CN" altLang="en-US" sz="2000" b="1" dirty="0">
                <a:latin typeface="微软雅黑" pitchFamily="34" charset="-122"/>
                <a:ea typeface="微软雅黑" pitchFamily="34" charset="-122"/>
              </a:rPr>
              <a:t>：一点对多点的通信。</a:t>
            </a:r>
          </a:p>
          <a:p>
            <a:pPr marL="623888" indent="-342900">
              <a:lnSpc>
                <a:spcPts val="3200"/>
              </a:lnSpc>
              <a:buClr>
                <a:srgbClr val="7030A0"/>
              </a:buClr>
              <a:buFont typeface="+mj-lt"/>
              <a:buAutoNum type="arabicPeriod"/>
            </a:pPr>
            <a:r>
              <a:rPr lang="zh-CN" altLang="en-US" sz="2000" b="1" dirty="0">
                <a:solidFill>
                  <a:srgbClr val="0000FF"/>
                </a:solidFill>
                <a:latin typeface="微软雅黑" pitchFamily="34" charset="-122"/>
                <a:ea typeface="微软雅黑" pitchFamily="34" charset="-122"/>
              </a:rPr>
              <a:t>任播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anycast</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IPv6 </a:t>
            </a:r>
            <a:r>
              <a:rPr lang="zh-CN" altLang="en-US" sz="2000" b="1" dirty="0">
                <a:latin typeface="微软雅黑" pitchFamily="34" charset="-122"/>
                <a:ea typeface="微软雅黑" pitchFamily="34" charset="-122"/>
              </a:rPr>
              <a:t>增加的一种类型。任播的终点是一组计算机，但数据报在交付时只交付其中的一个。通常是按照路由算法得出的距离最近的一个。 </a:t>
            </a:r>
          </a:p>
        </p:txBody>
      </p:sp>
    </p:spTree>
    <p:extLst>
      <p:ext uri="{BB962C8B-B14F-4D97-AF65-F5344CB8AC3E}">
        <p14:creationId xmlns:p14="http://schemas.microsoft.com/office/powerpoint/2010/main" val="151321353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5" y="974350"/>
            <a:ext cx="7930640" cy="2208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rPr>
              <a:t>IPv6 </a:t>
            </a:r>
            <a:r>
              <a:rPr lang="zh-CN" altLang="en-US" sz="2000" b="1" dirty="0">
                <a:latin typeface="微软雅黑" pitchFamily="34" charset="-122"/>
                <a:ea typeface="微软雅黑" pitchFamily="34" charset="-122"/>
              </a:rPr>
              <a:t>将实现 </a:t>
            </a:r>
            <a:r>
              <a:rPr lang="en-US" altLang="zh-CN" sz="2000" b="1" dirty="0">
                <a:latin typeface="微软雅黑" pitchFamily="34" charset="-122"/>
                <a:ea typeface="微软雅黑" pitchFamily="34" charset="-122"/>
              </a:rPr>
              <a:t>IPv6 </a:t>
            </a:r>
            <a:r>
              <a:rPr lang="zh-CN" altLang="en-US" sz="2000" b="1" dirty="0">
                <a:latin typeface="微软雅黑" pitchFamily="34" charset="-122"/>
                <a:ea typeface="微软雅黑" pitchFamily="34" charset="-122"/>
              </a:rPr>
              <a:t>的主机和路由器均称为</a:t>
            </a:r>
            <a:r>
              <a:rPr lang="zh-CN" altLang="en-US" sz="2000" b="1" dirty="0">
                <a:solidFill>
                  <a:srgbClr val="0000FF"/>
                </a:solidFill>
                <a:latin typeface="微软雅黑" pitchFamily="34" charset="-122"/>
                <a:ea typeface="微软雅黑" pitchFamily="34" charset="-122"/>
              </a:rPr>
              <a:t>节点</a:t>
            </a:r>
            <a:r>
              <a:rPr lang="zh-CN" altLang="en-US" sz="2000" b="1" dirty="0">
                <a:latin typeface="微软雅黑" pitchFamily="34" charset="-122"/>
                <a:ea typeface="微软雅黑" pitchFamily="34" charset="-122"/>
              </a:rPr>
              <a:t>。</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一个节点可能有多个与链路相连的接口。</a:t>
            </a:r>
          </a:p>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IPv6 </a:t>
            </a:r>
            <a:r>
              <a:rPr lang="zh-CN" altLang="en-US" sz="2000" b="1" dirty="0">
                <a:latin typeface="微软雅黑" pitchFamily="34" charset="-122"/>
                <a:ea typeface="微软雅黑" pitchFamily="34" charset="-122"/>
              </a:rPr>
              <a:t>地址是分配给节点上</a:t>
            </a:r>
            <a:r>
              <a:rPr lang="zh-CN" altLang="en-US" sz="2000" b="1" dirty="0">
                <a:solidFill>
                  <a:srgbClr val="C00000"/>
                </a:solidFill>
                <a:latin typeface="微软雅黑" pitchFamily="34" charset="-122"/>
                <a:ea typeface="微软雅黑" pitchFamily="34" charset="-122"/>
              </a:rPr>
              <a:t>接口</a:t>
            </a:r>
            <a:r>
              <a:rPr lang="zh-CN" altLang="en-US" sz="2000" b="1" dirty="0">
                <a:latin typeface="微软雅黑" pitchFamily="34" charset="-122"/>
                <a:ea typeface="微软雅黑" pitchFamily="34" charset="-122"/>
              </a:rPr>
              <a:t>的。</a:t>
            </a:r>
          </a:p>
          <a:p>
            <a:pPr marL="623888" indent="-342900">
              <a:lnSpc>
                <a:spcPts val="3300"/>
              </a:lnSpc>
              <a:buClr>
                <a:srgbClr val="7030A0"/>
              </a:buClr>
              <a:buFont typeface="+mj-lt"/>
              <a:buAutoNum type="arabicPeriod"/>
            </a:pPr>
            <a:r>
              <a:rPr lang="zh-CN" altLang="en-US" sz="2000" b="1" dirty="0">
                <a:latin typeface="微软雅黑" pitchFamily="34" charset="-122"/>
                <a:ea typeface="微软雅黑" pitchFamily="34" charset="-122"/>
              </a:rPr>
              <a:t>一个具有多个接口的节点可以有多个单播地址。</a:t>
            </a:r>
          </a:p>
          <a:p>
            <a:pPr marL="623888" indent="-342900">
              <a:lnSpc>
                <a:spcPts val="3300"/>
              </a:lnSpc>
              <a:buClr>
                <a:srgbClr val="7030A0"/>
              </a:buClr>
              <a:buFont typeface="+mj-lt"/>
              <a:buAutoNum type="arabicPeriod"/>
            </a:pPr>
            <a:r>
              <a:rPr lang="zh-CN" altLang="en-US" sz="2000" b="1" dirty="0">
                <a:latin typeface="微软雅黑" pitchFamily="34" charset="-122"/>
                <a:ea typeface="微软雅黑" pitchFamily="34" charset="-122"/>
              </a:rPr>
              <a:t>其中的任何一个地址都可以当作到达该节点的目的地址。</a:t>
            </a:r>
          </a:p>
        </p:txBody>
      </p:sp>
      <p:sp>
        <p:nvSpPr>
          <p:cNvPr id="3" name="AutoShape 5"/>
          <p:cNvSpPr>
            <a:spLocks noChangeArrowheads="1"/>
          </p:cNvSpPr>
          <p:nvPr/>
        </p:nvSpPr>
        <p:spPr bwMode="auto">
          <a:xfrm>
            <a:off x="545145" y="625745"/>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92534"/>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节点与接口</a:t>
            </a:r>
          </a:p>
        </p:txBody>
      </p:sp>
    </p:spTree>
    <p:extLst>
      <p:ext uri="{BB962C8B-B14F-4D97-AF65-F5344CB8AC3E}">
        <p14:creationId xmlns:p14="http://schemas.microsoft.com/office/powerpoint/2010/main" val="201731716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圆角矩形 19"/>
          <p:cNvSpPr/>
          <p:nvPr/>
        </p:nvSpPr>
        <p:spPr>
          <a:xfrm>
            <a:off x="64655" y="2371285"/>
            <a:ext cx="8894617" cy="172042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 name="Rectangle 8"/>
          <p:cNvSpPr>
            <a:spLocks noChangeArrowheads="1"/>
          </p:cNvSpPr>
          <p:nvPr/>
        </p:nvSpPr>
        <p:spPr bwMode="auto">
          <a:xfrm>
            <a:off x="545145" y="1009374"/>
            <a:ext cx="8053710" cy="13619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在 </a:t>
            </a:r>
            <a:r>
              <a:rPr lang="en-US" altLang="zh-CN" sz="2000" b="1" dirty="0">
                <a:latin typeface="微软雅黑" pitchFamily="34" charset="-122"/>
                <a:ea typeface="微软雅黑" pitchFamily="34" charset="-122"/>
              </a:rPr>
              <a:t>IPv6 </a:t>
            </a:r>
            <a:r>
              <a:rPr lang="zh-CN" altLang="en-US" sz="2000" b="1" dirty="0">
                <a:latin typeface="微软雅黑" pitchFamily="34" charset="-122"/>
                <a:ea typeface="微软雅黑" pitchFamily="34" charset="-122"/>
              </a:rPr>
              <a:t>中，每个地址占 </a:t>
            </a:r>
            <a:r>
              <a:rPr lang="en-US" altLang="zh-CN" sz="2000" b="1" dirty="0">
                <a:latin typeface="微软雅黑" pitchFamily="34" charset="-122"/>
                <a:ea typeface="微软雅黑" pitchFamily="34" charset="-122"/>
              </a:rPr>
              <a:t>128 </a:t>
            </a:r>
            <a:r>
              <a:rPr lang="zh-CN" altLang="en-US" sz="2000" b="1" dirty="0">
                <a:latin typeface="微软雅黑" pitchFamily="34" charset="-122"/>
                <a:ea typeface="微软雅黑" pitchFamily="34" charset="-122"/>
              </a:rPr>
              <a:t>位，地址空间大于 </a:t>
            </a:r>
            <a:r>
              <a:rPr lang="en-US" altLang="zh-CN" sz="2000" b="1" dirty="0">
                <a:latin typeface="微软雅黑" pitchFamily="34" charset="-122"/>
                <a:ea typeface="微软雅黑" pitchFamily="34" charset="-122"/>
              </a:rPr>
              <a:t>3.4</a:t>
            </a:r>
            <a:r>
              <a:rPr lang="en-US" altLang="zh-CN" sz="2000" b="1" dirty="0">
                <a:sym typeface="Symbol"/>
              </a:rPr>
              <a:t> </a:t>
            </a:r>
            <a:r>
              <a:rPr lang="en-US" altLang="zh-CN" sz="2000" b="1" dirty="0">
                <a:latin typeface="微软雅黑" pitchFamily="34" charset="-122"/>
                <a:ea typeface="微软雅黑" pitchFamily="34" charset="-122"/>
                <a:sym typeface="Symbol"/>
              </a:rPr>
              <a:t></a:t>
            </a:r>
            <a:r>
              <a:rPr lang="en-US" altLang="zh-CN" sz="2000" b="1" dirty="0">
                <a:sym typeface="Symbol"/>
              </a:rPr>
              <a:t> </a:t>
            </a:r>
            <a:r>
              <a:rPr lang="en-US" altLang="zh-CN" sz="2000" b="1" dirty="0">
                <a:latin typeface="微软雅黑" pitchFamily="34" charset="-122"/>
                <a:ea typeface="微软雅黑" pitchFamily="34" charset="-122"/>
              </a:rPr>
              <a:t>10</a:t>
            </a:r>
            <a:r>
              <a:rPr lang="en-US" altLang="zh-CN" sz="2000" b="1" baseline="30000" dirty="0">
                <a:latin typeface="微软雅黑" pitchFamily="34" charset="-122"/>
                <a:ea typeface="微软雅黑" pitchFamily="34" charset="-122"/>
              </a:rPr>
              <a:t>38</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使用</a:t>
            </a:r>
            <a:r>
              <a:rPr lang="zh-CN" altLang="en-US" sz="2000" b="1" dirty="0">
                <a:solidFill>
                  <a:srgbClr val="0000FF"/>
                </a:solidFill>
                <a:latin typeface="微软雅黑" pitchFamily="34" charset="-122"/>
                <a:ea typeface="微软雅黑" pitchFamily="34" charset="-122"/>
              </a:rPr>
              <a:t>冒号十六进制记法</a:t>
            </a:r>
            <a:r>
              <a:rPr lang="en-US" altLang="zh-CN" sz="2000" b="1" dirty="0">
                <a:latin typeface="微软雅黑" pitchFamily="34" charset="-122"/>
                <a:ea typeface="微软雅黑" pitchFamily="34" charset="-122"/>
              </a:rPr>
              <a:t>(colon hexadecimal notation, </a:t>
            </a:r>
            <a:r>
              <a:rPr lang="zh-CN" altLang="en-US" sz="2000" b="1" dirty="0">
                <a:latin typeface="微软雅黑" pitchFamily="34" charset="-122"/>
                <a:ea typeface="微软雅黑" pitchFamily="34" charset="-122"/>
              </a:rPr>
              <a:t>简写为 </a:t>
            </a:r>
            <a:r>
              <a:rPr lang="en-US" altLang="zh-CN" sz="2000" b="1" dirty="0">
                <a:latin typeface="微软雅黑" pitchFamily="34" charset="-122"/>
                <a:ea typeface="微软雅黑" pitchFamily="34" charset="-122"/>
              </a:rPr>
              <a:t>colon hex)</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16 </a:t>
            </a:r>
            <a:r>
              <a:rPr lang="zh-CN" altLang="en-US" sz="2000" b="1" dirty="0">
                <a:latin typeface="微软雅黑" pitchFamily="34" charset="-122"/>
                <a:ea typeface="微软雅黑" pitchFamily="34" charset="-122"/>
              </a:rPr>
              <a:t>位的值用十六进制值表示，各值之间用冒号分隔。</a:t>
            </a:r>
          </a:p>
        </p:txBody>
      </p:sp>
      <p:sp>
        <p:nvSpPr>
          <p:cNvPr id="3" name="AutoShape 5"/>
          <p:cNvSpPr>
            <a:spLocks noChangeArrowheads="1"/>
          </p:cNvSpPr>
          <p:nvPr/>
        </p:nvSpPr>
        <p:spPr bwMode="auto">
          <a:xfrm>
            <a:off x="545145" y="622349"/>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9138"/>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冒号十六进制记法</a:t>
            </a:r>
          </a:p>
        </p:txBody>
      </p:sp>
      <p:sp>
        <p:nvSpPr>
          <p:cNvPr id="9" name="矩形 8"/>
          <p:cNvSpPr/>
          <p:nvPr/>
        </p:nvSpPr>
        <p:spPr>
          <a:xfrm>
            <a:off x="2270929" y="2494848"/>
            <a:ext cx="6607866" cy="338554"/>
          </a:xfrm>
          <a:prstGeom prst="rect">
            <a:avLst/>
          </a:prstGeom>
        </p:spPr>
        <p:txBody>
          <a:bodyPr wrap="square">
            <a:spAutoFit/>
          </a:bodyPr>
          <a:lstStyle/>
          <a:p>
            <a:pPr algn="ctr">
              <a:buClr>
                <a:srgbClr val="0070C0"/>
              </a:buClr>
            </a:pPr>
            <a:r>
              <a:rPr lang="en-US" altLang="zh-CN" sz="1600" b="1" dirty="0">
                <a:solidFill>
                  <a:srgbClr val="0000FF"/>
                </a:solidFill>
                <a:latin typeface="微软雅黑" pitchFamily="34" charset="-122"/>
                <a:ea typeface="微软雅黑" pitchFamily="34" charset="-122"/>
              </a:rPr>
              <a:t>104.230.140.100.255.255.255.255.0.0.17.128.150.10.255.255</a:t>
            </a:r>
            <a:endParaRPr lang="zh-CN" altLang="zh-CN" sz="1600" b="1" dirty="0">
              <a:solidFill>
                <a:srgbClr val="0000FF"/>
              </a:solidFill>
              <a:latin typeface="微软雅黑" pitchFamily="34" charset="-122"/>
              <a:ea typeface="微软雅黑" pitchFamily="34" charset="-122"/>
            </a:endParaRPr>
          </a:p>
        </p:txBody>
      </p:sp>
      <p:sp>
        <p:nvSpPr>
          <p:cNvPr id="12" name="矩形 11"/>
          <p:cNvSpPr/>
          <p:nvPr/>
        </p:nvSpPr>
        <p:spPr>
          <a:xfrm>
            <a:off x="265966" y="2463282"/>
            <a:ext cx="2262158" cy="369332"/>
          </a:xfrm>
          <a:prstGeom prst="rect">
            <a:avLst/>
          </a:prstGeom>
        </p:spPr>
        <p:txBody>
          <a:bodyPr wrap="none">
            <a:spAutoFit/>
          </a:bodyPr>
          <a:lstStyle/>
          <a:p>
            <a:r>
              <a:rPr lang="zh-CN" altLang="zh-CN" b="1" kern="500" dirty="0">
                <a:latin typeface="微软雅黑" panose="020B0503020204020204" pitchFamily="34" charset="-122"/>
                <a:ea typeface="微软雅黑" panose="020B0503020204020204" pitchFamily="34" charset="-122"/>
                <a:cs typeface="Times New Roman" panose="02020603050405020304" pitchFamily="18" charset="0"/>
              </a:rPr>
              <a:t>点分十进制数记法</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zh-CN" altLang="en-US" b="1" dirty="0">
              <a:latin typeface="微软雅黑" panose="020B0503020204020204" pitchFamily="34" charset="-122"/>
              <a:ea typeface="微软雅黑" panose="020B0503020204020204" pitchFamily="34" charset="-122"/>
            </a:endParaRPr>
          </a:p>
        </p:txBody>
      </p:sp>
      <p:grpSp>
        <p:nvGrpSpPr>
          <p:cNvPr id="16" name="组合 15"/>
          <p:cNvGrpSpPr/>
          <p:nvPr/>
        </p:nvGrpSpPr>
        <p:grpSpPr>
          <a:xfrm>
            <a:off x="275203" y="2829544"/>
            <a:ext cx="7880507" cy="607901"/>
            <a:chOff x="182843" y="2863156"/>
            <a:chExt cx="7880507" cy="607901"/>
          </a:xfrm>
        </p:grpSpPr>
        <p:grpSp>
          <p:nvGrpSpPr>
            <p:cNvPr id="11" name="组合 10"/>
            <p:cNvGrpSpPr/>
            <p:nvPr/>
          </p:nvGrpSpPr>
          <p:grpSpPr>
            <a:xfrm>
              <a:off x="2829043" y="2863156"/>
              <a:ext cx="5234307" cy="607901"/>
              <a:chOff x="2052959" y="2863156"/>
              <a:chExt cx="5234307" cy="607901"/>
            </a:xfrm>
          </p:grpSpPr>
          <p:sp>
            <p:nvSpPr>
              <p:cNvPr id="8" name="矩形 7"/>
              <p:cNvSpPr/>
              <p:nvPr/>
            </p:nvSpPr>
            <p:spPr>
              <a:xfrm>
                <a:off x="2052959" y="3101725"/>
                <a:ext cx="5234307" cy="369332"/>
              </a:xfrm>
              <a:prstGeom prst="rect">
                <a:avLst/>
              </a:prstGeom>
            </p:spPr>
            <p:txBody>
              <a:bodyPr wrap="square">
                <a:spAutoFit/>
              </a:bodyPr>
              <a:lstStyle/>
              <a:p>
                <a:pPr algn="ctr">
                  <a:buClr>
                    <a:srgbClr val="0070C0"/>
                  </a:buClr>
                </a:pPr>
                <a:r>
                  <a:rPr lang="en-US" altLang="zh-CN" b="1" dirty="0">
                    <a:solidFill>
                      <a:srgbClr val="0000FF"/>
                    </a:solidFill>
                    <a:latin typeface="微软雅黑" pitchFamily="34" charset="-122"/>
                    <a:ea typeface="微软雅黑" pitchFamily="34" charset="-122"/>
                  </a:rPr>
                  <a:t>68E6:8C64:FFFF:FFFF:0000:1180:960A:FFFF</a:t>
                </a:r>
              </a:p>
            </p:txBody>
          </p:sp>
          <p:sp>
            <p:nvSpPr>
              <p:cNvPr id="10" name="下箭头 9"/>
              <p:cNvSpPr/>
              <p:nvPr/>
            </p:nvSpPr>
            <p:spPr>
              <a:xfrm>
                <a:off x="4840940" y="2863156"/>
                <a:ext cx="207469" cy="286235"/>
              </a:xfrm>
              <a:prstGeom prst="downArrow">
                <a:avLst/>
              </a:prstGeom>
              <a:solidFill>
                <a:srgbClr val="99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3" name="矩形 12"/>
            <p:cNvSpPr/>
            <p:nvPr/>
          </p:nvSpPr>
          <p:spPr>
            <a:xfrm>
              <a:off x="182843" y="3101725"/>
              <a:ext cx="2262158" cy="369332"/>
            </a:xfrm>
            <a:prstGeom prst="rect">
              <a:avLst/>
            </a:prstGeom>
          </p:spPr>
          <p:txBody>
            <a:bodyPr wrap="none">
              <a:spAutoFit/>
            </a:bodyPr>
            <a:lstStyle/>
            <a:p>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冒号十六进制</a:t>
              </a:r>
              <a:r>
                <a:rPr lang="zh-CN" altLang="zh-CN" b="1" kern="500" dirty="0">
                  <a:latin typeface="微软雅黑" panose="020B0503020204020204" pitchFamily="34" charset="-122"/>
                  <a:ea typeface="微软雅黑" panose="020B0503020204020204" pitchFamily="34" charset="-122"/>
                  <a:cs typeface="Times New Roman" panose="02020603050405020304" pitchFamily="18" charset="0"/>
                </a:rPr>
                <a:t>记法</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zh-CN" altLang="en-US" b="1" dirty="0">
                <a:latin typeface="微软雅黑" panose="020B0503020204020204" pitchFamily="34" charset="-122"/>
                <a:ea typeface="微软雅黑" panose="020B0503020204020204" pitchFamily="34" charset="-122"/>
              </a:endParaRPr>
            </a:p>
          </p:txBody>
        </p:sp>
      </p:grpSp>
      <p:sp>
        <p:nvSpPr>
          <p:cNvPr id="14" name="矩形 13"/>
          <p:cNvSpPr/>
          <p:nvPr/>
        </p:nvSpPr>
        <p:spPr>
          <a:xfrm>
            <a:off x="5552994" y="3115779"/>
            <a:ext cx="504000" cy="234711"/>
          </a:xfrm>
          <a:prstGeom prst="rect">
            <a:avLst/>
          </a:prstGeom>
          <a:no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矩形 14"/>
          <p:cNvSpPr/>
          <p:nvPr/>
        </p:nvSpPr>
        <p:spPr>
          <a:xfrm>
            <a:off x="5750479" y="3636821"/>
            <a:ext cx="144000" cy="234711"/>
          </a:xfrm>
          <a:prstGeom prst="rect">
            <a:avLst/>
          </a:prstGeom>
          <a:no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8" name="组合 17"/>
          <p:cNvGrpSpPr/>
          <p:nvPr/>
        </p:nvGrpSpPr>
        <p:grpSpPr>
          <a:xfrm>
            <a:off x="284437" y="3350490"/>
            <a:ext cx="7647499" cy="616741"/>
            <a:chOff x="192077" y="3384102"/>
            <a:chExt cx="7647499" cy="616741"/>
          </a:xfrm>
        </p:grpSpPr>
        <p:grpSp>
          <p:nvGrpSpPr>
            <p:cNvPr id="7" name="组合 6"/>
            <p:cNvGrpSpPr/>
            <p:nvPr/>
          </p:nvGrpSpPr>
          <p:grpSpPr>
            <a:xfrm>
              <a:off x="3096434" y="3384102"/>
              <a:ext cx="4743142" cy="616741"/>
              <a:chOff x="1902550" y="2800118"/>
              <a:chExt cx="5278446" cy="616741"/>
            </a:xfrm>
          </p:grpSpPr>
          <p:sp>
            <p:nvSpPr>
              <p:cNvPr id="5" name="下箭头 4"/>
              <p:cNvSpPr/>
              <p:nvPr/>
            </p:nvSpPr>
            <p:spPr>
              <a:xfrm>
                <a:off x="4707604" y="2800118"/>
                <a:ext cx="230884" cy="296547"/>
              </a:xfrm>
              <a:prstGeom prst="downArrow">
                <a:avLst/>
              </a:prstGeom>
              <a:solidFill>
                <a:srgbClr val="99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矩形 5"/>
              <p:cNvSpPr/>
              <p:nvPr/>
            </p:nvSpPr>
            <p:spPr>
              <a:xfrm>
                <a:off x="1902550" y="3047527"/>
                <a:ext cx="5278446" cy="369332"/>
              </a:xfrm>
              <a:prstGeom prst="rect">
                <a:avLst/>
              </a:prstGeom>
            </p:spPr>
            <p:txBody>
              <a:bodyPr wrap="square">
                <a:spAutoFit/>
              </a:bodyPr>
              <a:lstStyle/>
              <a:p>
                <a:pPr algn="ctr">
                  <a:buClr>
                    <a:srgbClr val="0070C0"/>
                  </a:buClr>
                </a:pPr>
                <a:r>
                  <a:rPr lang="en-US" altLang="zh-CN" b="1" dirty="0">
                    <a:solidFill>
                      <a:srgbClr val="0000FF"/>
                    </a:solidFill>
                    <a:latin typeface="微软雅黑" pitchFamily="34" charset="-122"/>
                    <a:ea typeface="微软雅黑" pitchFamily="34" charset="-122"/>
                  </a:rPr>
                  <a:t>68E6:8C64:FFFF:FFFF:0:1180:960A:FFFF</a:t>
                </a:r>
              </a:p>
            </p:txBody>
          </p:sp>
        </p:grpSp>
        <p:sp>
          <p:nvSpPr>
            <p:cNvPr id="17" name="矩形 16"/>
            <p:cNvSpPr/>
            <p:nvPr/>
          </p:nvSpPr>
          <p:spPr>
            <a:xfrm>
              <a:off x="192077" y="3618511"/>
              <a:ext cx="2262158" cy="369332"/>
            </a:xfrm>
            <a:prstGeom prst="rect">
              <a:avLst/>
            </a:prstGeom>
          </p:spPr>
          <p:txBody>
            <a:bodyPr wrap="none">
              <a:spAutoFit/>
            </a:bodyPr>
            <a:lstStyle/>
            <a:p>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冒号十六进制</a:t>
              </a:r>
              <a:r>
                <a:rPr lang="zh-CN" altLang="zh-CN" b="1" kern="500" dirty="0">
                  <a:latin typeface="微软雅黑" panose="020B0503020204020204" pitchFamily="34" charset="-122"/>
                  <a:ea typeface="微软雅黑" panose="020B0503020204020204" pitchFamily="34" charset="-122"/>
                  <a:cs typeface="Times New Roman" panose="02020603050405020304" pitchFamily="18" charset="0"/>
                </a:rPr>
                <a:t>记法</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zh-CN" altLang="en-US" b="1" dirty="0">
                <a:latin typeface="微软雅黑" panose="020B0503020204020204" pitchFamily="34" charset="-122"/>
                <a:ea typeface="微软雅黑" panose="020B0503020204020204" pitchFamily="34" charset="-122"/>
              </a:endParaRPr>
            </a:p>
          </p:txBody>
        </p:sp>
      </p:grpSp>
      <p:sp>
        <p:nvSpPr>
          <p:cNvPr id="19" name="矩形 18"/>
          <p:cNvSpPr/>
          <p:nvPr/>
        </p:nvSpPr>
        <p:spPr>
          <a:xfrm>
            <a:off x="2171343" y="4185339"/>
            <a:ext cx="4801314" cy="369332"/>
          </a:xfrm>
          <a:prstGeom prst="rect">
            <a:avLst/>
          </a:prstGeom>
          <a:solidFill>
            <a:srgbClr val="CCFF99"/>
          </a:solidFill>
        </p:spPr>
        <p:style>
          <a:lnRef idx="1">
            <a:schemeClr val="accent3"/>
          </a:lnRef>
          <a:fillRef idx="2">
            <a:schemeClr val="accent3"/>
          </a:fillRef>
          <a:effectRef idx="1">
            <a:schemeClr val="accent3"/>
          </a:effectRef>
          <a:fontRef idx="minor">
            <a:schemeClr val="dk1"/>
          </a:fontRef>
        </p:style>
        <p:txBody>
          <a:bodyPr wrap="none">
            <a:spAutoFit/>
          </a:bodyPr>
          <a:lstStyle/>
          <a:p>
            <a:pPr algn="ctr"/>
            <a:r>
              <a:rPr lang="zh-CN" altLang="en-US" b="1" dirty="0">
                <a:solidFill>
                  <a:srgbClr val="C00000"/>
                </a:solidFill>
                <a:latin typeface="微软雅黑" panose="020B0503020204020204" pitchFamily="34" charset="-122"/>
                <a:ea typeface="微软雅黑" panose="020B0503020204020204" pitchFamily="34" charset="-122"/>
              </a:rPr>
              <a:t>两个技术：</a:t>
            </a:r>
            <a:r>
              <a:rPr lang="zh-CN" altLang="en-US" b="1" dirty="0">
                <a:latin typeface="微软雅黑" panose="020B0503020204020204" pitchFamily="34" charset="-122"/>
                <a:ea typeface="微软雅黑" panose="020B0503020204020204" pitchFamily="34" charset="-122"/>
              </a:rPr>
              <a:t>零压缩，点分十进制记法的后缀。</a:t>
            </a:r>
          </a:p>
        </p:txBody>
      </p:sp>
    </p:spTree>
    <p:extLst>
      <p:ext uri="{BB962C8B-B14F-4D97-AF65-F5344CB8AC3E}">
        <p14:creationId xmlns:p14="http://schemas.microsoft.com/office/powerpoint/2010/main" val="233843498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up)">
                                      <p:cBhvr>
                                        <p:cTn id="7" dur="10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childTnLst>
                                </p:cTn>
                              </p:par>
                              <p:par>
                                <p:cTn id="12" presetID="35" presetClass="emph" presetSubtype="0" repeatCount="3000" fill="hold" grpId="1" nodeType="withEffect">
                                  <p:stCondLst>
                                    <p:cond delay="0"/>
                                  </p:stCondLst>
                                  <p:childTnLst>
                                    <p:anim calcmode="discrete" valueType="str">
                                      <p:cBhvr>
                                        <p:cTn id="13" dur="1000" fill="hold"/>
                                        <p:tgtEl>
                                          <p:spTgt spid="14"/>
                                        </p:tgtEl>
                                        <p:attrNameLst>
                                          <p:attrName>style.visibility</p:attrName>
                                        </p:attrNameLst>
                                      </p:cBhvr>
                                      <p:tavLst>
                                        <p:tav tm="0">
                                          <p:val>
                                            <p:strVal val="hidden"/>
                                          </p:val>
                                        </p:tav>
                                        <p:tav tm="50000">
                                          <p:val>
                                            <p:strVal val="visible"/>
                                          </p:val>
                                        </p:tav>
                                      </p:tavLst>
                                    </p:anim>
                                  </p:childTnLst>
                                </p:cTn>
                              </p:par>
                            </p:childTnLst>
                          </p:cTn>
                        </p:par>
                        <p:par>
                          <p:cTn id="14" fill="hold">
                            <p:stCondLst>
                              <p:cond delay="3000"/>
                            </p:stCondLst>
                            <p:childTnLst>
                              <p:par>
                                <p:cTn id="15" presetID="22" presetClass="entr" presetSubtype="1" fill="hold" nodeType="after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wipe(up)">
                                      <p:cBhvr>
                                        <p:cTn id="17" dur="1000"/>
                                        <p:tgtEl>
                                          <p:spTgt spid="18"/>
                                        </p:tgtEl>
                                      </p:cBhvr>
                                    </p:animEffect>
                                  </p:childTnLst>
                                </p:cTn>
                              </p:par>
                            </p:childTnLst>
                          </p:cTn>
                        </p:par>
                        <p:par>
                          <p:cTn id="18" fill="hold">
                            <p:stCondLst>
                              <p:cond delay="4000"/>
                            </p:stCondLst>
                            <p:childTnLst>
                              <p:par>
                                <p:cTn id="19" presetID="1" presetClass="entr" presetSubtype="0" fill="hold" grpId="0" nodeType="afterEffect">
                                  <p:stCondLst>
                                    <p:cond delay="0"/>
                                  </p:stCondLst>
                                  <p:childTnLst>
                                    <p:set>
                                      <p:cBhvr>
                                        <p:cTn id="20" dur="1" fill="hold">
                                          <p:stCondLst>
                                            <p:cond delay="0"/>
                                          </p:stCondLst>
                                        </p:cTn>
                                        <p:tgtEl>
                                          <p:spTgt spid="15"/>
                                        </p:tgtEl>
                                        <p:attrNameLst>
                                          <p:attrName>style.visibility</p:attrName>
                                        </p:attrNameLst>
                                      </p:cBhvr>
                                      <p:to>
                                        <p:strVal val="visible"/>
                                      </p:to>
                                    </p:set>
                                  </p:childTnLst>
                                </p:cTn>
                              </p:par>
                            </p:childTnLst>
                          </p:cTn>
                        </p:par>
                        <p:par>
                          <p:cTn id="21" fill="hold">
                            <p:stCondLst>
                              <p:cond delay="4000"/>
                            </p:stCondLst>
                            <p:childTnLst>
                              <p:par>
                                <p:cTn id="22" presetID="35" presetClass="emph" presetSubtype="0" repeatCount="3000" fill="hold" grpId="1" nodeType="afterEffect">
                                  <p:stCondLst>
                                    <p:cond delay="0"/>
                                  </p:stCondLst>
                                  <p:childTnLst>
                                    <p:anim calcmode="discrete" valueType="str">
                                      <p:cBhvr>
                                        <p:cTn id="23" dur="1000" fill="hold"/>
                                        <p:tgtEl>
                                          <p:spTgt spid="15"/>
                                        </p:tgtEl>
                                        <p:attrNameLst>
                                          <p:attrName>style.visibility</p:attrName>
                                        </p:attrNameLst>
                                      </p:cBhvr>
                                      <p:tavLst>
                                        <p:tav tm="0">
                                          <p:val>
                                            <p:strVal val="hidden"/>
                                          </p:val>
                                        </p:tav>
                                        <p:tav tm="50000">
                                          <p:val>
                                            <p:strVal val="visible"/>
                                          </p:val>
                                        </p:tav>
                                      </p:tavLst>
                                    </p:anim>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9"/>
                                        </p:tgtEl>
                                        <p:attrNameLst>
                                          <p:attrName>style.visibility</p:attrName>
                                        </p:attrNameLst>
                                      </p:cBhvr>
                                      <p:to>
                                        <p:strVal val="visible"/>
                                      </p:to>
                                    </p:set>
                                    <p:animEffect transition="in" filter="fade">
                                      <p:cBhvr>
                                        <p:cTn id="28"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15" grpId="0" animBg="1"/>
      <p:bldP spid="15" grpId="1" animBg="1"/>
      <p:bldP spid="19" grpId="0" animBg="1"/>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圆角矩形 22"/>
          <p:cNvSpPr/>
          <p:nvPr/>
        </p:nvSpPr>
        <p:spPr>
          <a:xfrm>
            <a:off x="545146" y="2222363"/>
            <a:ext cx="8053710" cy="186934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 name="Rectangle 8"/>
          <p:cNvSpPr>
            <a:spLocks noChangeArrowheads="1"/>
          </p:cNvSpPr>
          <p:nvPr/>
        </p:nvSpPr>
        <p:spPr bwMode="auto">
          <a:xfrm>
            <a:off x="545145" y="977890"/>
            <a:ext cx="8053710" cy="4611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零压缩 </a:t>
            </a:r>
            <a:r>
              <a:rPr lang="en-US" altLang="zh-CN" sz="2000" b="1" dirty="0">
                <a:latin typeface="微软雅黑" pitchFamily="34" charset="-122"/>
                <a:ea typeface="微软雅黑" pitchFamily="34" charset="-122"/>
              </a:rPr>
              <a:t>(zero compression)</a:t>
            </a:r>
            <a:r>
              <a:rPr lang="zh-CN" altLang="en-US" sz="2000" b="1" dirty="0">
                <a:latin typeface="微软雅黑" pitchFamily="34" charset="-122"/>
                <a:ea typeface="微软雅黑" pitchFamily="34" charset="-122"/>
              </a:rPr>
              <a:t>：一串连续的零可以用</a:t>
            </a:r>
            <a:r>
              <a:rPr lang="zh-CN" altLang="en-US" sz="2000" b="1" dirty="0">
                <a:solidFill>
                  <a:srgbClr val="C00000"/>
                </a:solidFill>
                <a:latin typeface="微软雅黑" pitchFamily="34" charset="-122"/>
                <a:ea typeface="微软雅黑" pitchFamily="34" charset="-122"/>
              </a:rPr>
              <a:t>一对冒号</a:t>
            </a:r>
            <a:r>
              <a:rPr lang="zh-CN" altLang="en-US" sz="2000" b="1" dirty="0">
                <a:latin typeface="微软雅黑" pitchFamily="34" charset="-122"/>
                <a:ea typeface="微软雅黑" pitchFamily="34" charset="-122"/>
              </a:rPr>
              <a:t>取代。</a:t>
            </a:r>
          </a:p>
        </p:txBody>
      </p:sp>
      <p:sp>
        <p:nvSpPr>
          <p:cNvPr id="3" name="AutoShape 5"/>
          <p:cNvSpPr>
            <a:spLocks noChangeArrowheads="1"/>
          </p:cNvSpPr>
          <p:nvPr/>
        </p:nvSpPr>
        <p:spPr bwMode="auto">
          <a:xfrm>
            <a:off x="545145" y="621601"/>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839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零压缩</a:t>
            </a:r>
          </a:p>
        </p:txBody>
      </p:sp>
      <p:sp>
        <p:nvSpPr>
          <p:cNvPr id="5" name="矩形 4"/>
          <p:cNvSpPr/>
          <p:nvPr/>
        </p:nvSpPr>
        <p:spPr>
          <a:xfrm>
            <a:off x="3081294" y="1430076"/>
            <a:ext cx="3265713" cy="810478"/>
          </a:xfrm>
          <a:prstGeom prst="rect">
            <a:avLst/>
          </a:prstGeom>
        </p:spPr>
        <p:txBody>
          <a:bodyPr wrap="square">
            <a:spAutoFit/>
          </a:bodyPr>
          <a:lstStyle/>
          <a:p>
            <a:pPr>
              <a:lnSpc>
                <a:spcPts val="2800"/>
              </a:lnSpc>
              <a:buClr>
                <a:srgbClr val="0070C0"/>
              </a:buClr>
            </a:pPr>
            <a:r>
              <a:rPr lang="en-US" altLang="zh-CN" sz="2000" b="1" dirty="0">
                <a:solidFill>
                  <a:srgbClr val="0000FF"/>
                </a:solidFill>
                <a:latin typeface="微软雅黑" pitchFamily="34" charset="-122"/>
                <a:ea typeface="微软雅黑" pitchFamily="34" charset="-122"/>
              </a:rPr>
              <a:t>FF05:0:0:0:0:0:0:B3</a:t>
            </a:r>
            <a:endParaRPr lang="zh-CN" altLang="en-US" sz="2000" b="1" dirty="0">
              <a:solidFill>
                <a:srgbClr val="0000FF"/>
              </a:solidFill>
              <a:latin typeface="微软雅黑" pitchFamily="34" charset="-122"/>
              <a:ea typeface="微软雅黑" pitchFamily="34" charset="-122"/>
            </a:endParaRPr>
          </a:p>
          <a:p>
            <a:pPr>
              <a:lnSpc>
                <a:spcPts val="2800"/>
              </a:lnSpc>
              <a:buClr>
                <a:srgbClr val="0070C0"/>
              </a:buClr>
            </a:pPr>
            <a:r>
              <a:rPr lang="en-US" altLang="zh-CN" sz="2000" b="1" dirty="0">
                <a:solidFill>
                  <a:srgbClr val="0000FF"/>
                </a:solidFill>
                <a:latin typeface="微软雅黑" pitchFamily="34" charset="-122"/>
                <a:ea typeface="微软雅黑" pitchFamily="34" charset="-122"/>
              </a:rPr>
              <a:t>FF05::B3</a:t>
            </a:r>
          </a:p>
        </p:txBody>
      </p:sp>
      <p:sp>
        <p:nvSpPr>
          <p:cNvPr id="6" name="矩形 5"/>
          <p:cNvSpPr/>
          <p:nvPr/>
        </p:nvSpPr>
        <p:spPr>
          <a:xfrm>
            <a:off x="1709969" y="4172335"/>
            <a:ext cx="5611437" cy="369332"/>
          </a:xfrm>
          <a:prstGeom prst="rect">
            <a:avLst/>
          </a:prstGeom>
        </p:spPr>
        <p:style>
          <a:lnRef idx="1">
            <a:schemeClr val="accent2"/>
          </a:lnRef>
          <a:fillRef idx="2">
            <a:schemeClr val="accent2"/>
          </a:fillRef>
          <a:effectRef idx="1">
            <a:schemeClr val="accent2"/>
          </a:effectRef>
          <a:fontRef idx="minor">
            <a:schemeClr val="dk1"/>
          </a:fontRef>
        </p:style>
        <p:txBody>
          <a:bodyPr wrap="square">
            <a:spAutoFit/>
          </a:bodyPr>
          <a:lstStyle/>
          <a:p>
            <a:pPr algn="ctr">
              <a:buClr>
                <a:srgbClr val="0070C0"/>
              </a:buClr>
            </a:pPr>
            <a:r>
              <a:rPr lang="zh-CN" altLang="en-US" b="1" dirty="0">
                <a:solidFill>
                  <a:schemeClr val="tx1"/>
                </a:solidFill>
                <a:latin typeface="微软雅黑" pitchFamily="34" charset="-122"/>
                <a:ea typeface="微软雅黑" pitchFamily="34" charset="-122"/>
              </a:rPr>
              <a:t>注意：在任一地址中，只能使用一次零压缩。</a:t>
            </a:r>
          </a:p>
        </p:txBody>
      </p:sp>
      <p:sp>
        <p:nvSpPr>
          <p:cNvPr id="7" name="矩形 6"/>
          <p:cNvSpPr/>
          <p:nvPr/>
        </p:nvSpPr>
        <p:spPr>
          <a:xfrm>
            <a:off x="1743852" y="1791264"/>
            <a:ext cx="1544914" cy="400110"/>
          </a:xfrm>
          <a:prstGeom prst="rect">
            <a:avLst/>
          </a:prstGeom>
        </p:spPr>
        <p:txBody>
          <a:bodyPr wrap="square">
            <a:spAutoFit/>
          </a:bodyPr>
          <a:lstStyle/>
          <a:p>
            <a:pPr algn="r"/>
            <a:r>
              <a:rPr lang="zh-CN" altLang="en-US" sz="2000" b="1" dirty="0">
                <a:latin typeface="微软雅黑" pitchFamily="34" charset="-122"/>
                <a:ea typeface="微软雅黑" pitchFamily="34" charset="-122"/>
              </a:rPr>
              <a:t>可压缩为： </a:t>
            </a:r>
            <a:endParaRPr lang="zh-CN" altLang="en-US" sz="2000" dirty="0"/>
          </a:p>
        </p:txBody>
      </p:sp>
      <p:sp>
        <p:nvSpPr>
          <p:cNvPr id="8" name="矩形 7"/>
          <p:cNvSpPr/>
          <p:nvPr/>
        </p:nvSpPr>
        <p:spPr>
          <a:xfrm>
            <a:off x="873889" y="2222363"/>
            <a:ext cx="2630848" cy="369332"/>
          </a:xfrm>
          <a:prstGeom prst="rect">
            <a:avLst/>
          </a:prstGeom>
        </p:spPr>
        <p:txBody>
          <a:bodyPr wrap="none">
            <a:spAutoFit/>
          </a:bodyPr>
          <a:lstStyle/>
          <a:p>
            <a:pPr>
              <a:buClr>
                <a:srgbClr val="0070C0"/>
              </a:buClr>
            </a:pPr>
            <a:r>
              <a:rPr lang="en-US" altLang="zh-CN" b="1" dirty="0">
                <a:solidFill>
                  <a:srgbClr val="0000FF"/>
                </a:solidFill>
                <a:latin typeface="微软雅黑" pitchFamily="34" charset="-122"/>
                <a:ea typeface="微软雅黑" pitchFamily="34" charset="-122"/>
              </a:rPr>
              <a:t>0:0:0:0:0:0:128.10.2.1</a:t>
            </a:r>
          </a:p>
        </p:txBody>
      </p:sp>
      <p:sp>
        <p:nvSpPr>
          <p:cNvPr id="9" name="矩形 8"/>
          <p:cNvSpPr/>
          <p:nvPr/>
        </p:nvSpPr>
        <p:spPr>
          <a:xfrm>
            <a:off x="5109936" y="2222363"/>
            <a:ext cx="1511952" cy="369332"/>
          </a:xfrm>
          <a:prstGeom prst="rect">
            <a:avLst/>
          </a:prstGeom>
        </p:spPr>
        <p:txBody>
          <a:bodyPr wrap="none">
            <a:spAutoFit/>
          </a:bodyPr>
          <a:lstStyle/>
          <a:p>
            <a:r>
              <a:rPr lang="en-US" altLang="zh-CN" b="1" dirty="0">
                <a:solidFill>
                  <a:srgbClr val="0000FF"/>
                </a:solidFill>
                <a:latin typeface="微软雅黑" pitchFamily="34" charset="-122"/>
                <a:ea typeface="微软雅黑" pitchFamily="34" charset="-122"/>
              </a:rPr>
              <a:t>::128.10.2.1</a:t>
            </a:r>
            <a:endParaRPr lang="zh-CN" altLang="en-US" dirty="0"/>
          </a:p>
        </p:txBody>
      </p:sp>
      <p:sp>
        <p:nvSpPr>
          <p:cNvPr id="10" name="矩形 9"/>
          <p:cNvSpPr/>
          <p:nvPr/>
        </p:nvSpPr>
        <p:spPr>
          <a:xfrm>
            <a:off x="873889" y="2580384"/>
            <a:ext cx="3467616" cy="369332"/>
          </a:xfrm>
          <a:prstGeom prst="rect">
            <a:avLst/>
          </a:prstGeom>
        </p:spPr>
        <p:txBody>
          <a:bodyPr wrap="none">
            <a:spAutoFit/>
          </a:bodyPr>
          <a:lstStyle/>
          <a:p>
            <a:pPr>
              <a:buClr>
                <a:srgbClr val="0070C0"/>
              </a:buClr>
            </a:pPr>
            <a:r>
              <a:rPr lang="en-US" altLang="zh-CN" b="1" dirty="0">
                <a:solidFill>
                  <a:srgbClr val="0000FF"/>
                </a:solidFill>
                <a:latin typeface="微软雅黑" pitchFamily="34" charset="-122"/>
                <a:ea typeface="微软雅黑" pitchFamily="34" charset="-122"/>
              </a:rPr>
              <a:t>1080:0:0:0:8:800:200C:417A </a:t>
            </a:r>
            <a:endParaRPr lang="zh-CN" altLang="en-US" b="1" dirty="0">
              <a:solidFill>
                <a:srgbClr val="0000FF"/>
              </a:solidFill>
              <a:latin typeface="微软雅黑" pitchFamily="34" charset="-122"/>
              <a:ea typeface="微软雅黑" pitchFamily="34" charset="-122"/>
            </a:endParaRPr>
          </a:p>
        </p:txBody>
      </p:sp>
      <p:sp>
        <p:nvSpPr>
          <p:cNvPr id="11" name="矩形 10"/>
          <p:cNvSpPr/>
          <p:nvPr/>
        </p:nvSpPr>
        <p:spPr>
          <a:xfrm>
            <a:off x="873889" y="2938405"/>
            <a:ext cx="3855543" cy="369332"/>
          </a:xfrm>
          <a:prstGeom prst="rect">
            <a:avLst/>
          </a:prstGeom>
        </p:spPr>
        <p:txBody>
          <a:bodyPr wrap="none">
            <a:spAutoFit/>
          </a:bodyPr>
          <a:lstStyle/>
          <a:p>
            <a:pPr>
              <a:buClr>
                <a:srgbClr val="0070C0"/>
              </a:buClr>
            </a:pPr>
            <a:r>
              <a:rPr lang="en-US" altLang="zh-CN" b="1" dirty="0">
                <a:solidFill>
                  <a:srgbClr val="0000FF"/>
                </a:solidFill>
                <a:latin typeface="微软雅黑" pitchFamily="34" charset="-122"/>
                <a:ea typeface="微软雅黑" pitchFamily="34" charset="-122"/>
              </a:rPr>
              <a:t>FF01:0:0:0:0:0:0:101</a:t>
            </a:r>
            <a:r>
              <a:rPr lang="zh-CN" altLang="en-US" b="1" dirty="0">
                <a:solidFill>
                  <a:srgbClr val="0000FF"/>
                </a:solidFill>
                <a:latin typeface="微软雅黑" pitchFamily="34" charset="-122"/>
                <a:ea typeface="微软雅黑" pitchFamily="34" charset="-122"/>
              </a:rPr>
              <a:t>（多播地址）</a:t>
            </a:r>
          </a:p>
        </p:txBody>
      </p:sp>
      <p:sp>
        <p:nvSpPr>
          <p:cNvPr id="12" name="矩形 11"/>
          <p:cNvSpPr/>
          <p:nvPr/>
        </p:nvSpPr>
        <p:spPr>
          <a:xfrm>
            <a:off x="873889" y="3296426"/>
            <a:ext cx="3171061" cy="369332"/>
          </a:xfrm>
          <a:prstGeom prst="rect">
            <a:avLst/>
          </a:prstGeom>
        </p:spPr>
        <p:txBody>
          <a:bodyPr wrap="none">
            <a:spAutoFit/>
          </a:bodyPr>
          <a:lstStyle/>
          <a:p>
            <a:pPr>
              <a:buClr>
                <a:srgbClr val="0070C0"/>
              </a:buClr>
            </a:pPr>
            <a:r>
              <a:rPr lang="en-US" altLang="zh-CN" b="1" dirty="0">
                <a:solidFill>
                  <a:srgbClr val="0000FF"/>
                </a:solidFill>
                <a:latin typeface="微软雅黑" pitchFamily="34" charset="-122"/>
                <a:ea typeface="微软雅黑" pitchFamily="34" charset="-122"/>
              </a:rPr>
              <a:t>0:0:0:0:0:0:0:1</a:t>
            </a:r>
            <a:r>
              <a:rPr lang="zh-CN" altLang="en-US" b="1" dirty="0">
                <a:solidFill>
                  <a:srgbClr val="0000FF"/>
                </a:solidFill>
                <a:latin typeface="微软雅黑" pitchFamily="34" charset="-122"/>
                <a:ea typeface="微软雅黑" pitchFamily="34" charset="-122"/>
              </a:rPr>
              <a:t>（环回地址）</a:t>
            </a:r>
          </a:p>
        </p:txBody>
      </p:sp>
      <p:sp>
        <p:nvSpPr>
          <p:cNvPr id="13" name="矩形 12"/>
          <p:cNvSpPr/>
          <p:nvPr/>
        </p:nvSpPr>
        <p:spPr>
          <a:xfrm>
            <a:off x="873889" y="3654448"/>
            <a:ext cx="3401893" cy="369332"/>
          </a:xfrm>
          <a:prstGeom prst="rect">
            <a:avLst/>
          </a:prstGeom>
        </p:spPr>
        <p:txBody>
          <a:bodyPr wrap="none">
            <a:spAutoFit/>
          </a:bodyPr>
          <a:lstStyle/>
          <a:p>
            <a:pPr>
              <a:buClr>
                <a:srgbClr val="0070C0"/>
              </a:buClr>
            </a:pPr>
            <a:r>
              <a:rPr lang="en-US" altLang="zh-CN" b="1" dirty="0">
                <a:solidFill>
                  <a:srgbClr val="0000FF"/>
                </a:solidFill>
                <a:latin typeface="微软雅黑" pitchFamily="34" charset="-122"/>
                <a:ea typeface="微软雅黑" pitchFamily="34" charset="-122"/>
              </a:rPr>
              <a:t>0:0:0:0:0:0:0:0</a:t>
            </a:r>
            <a:r>
              <a:rPr lang="zh-CN" altLang="en-US" b="1" dirty="0">
                <a:solidFill>
                  <a:srgbClr val="0000FF"/>
                </a:solidFill>
                <a:latin typeface="微软雅黑" pitchFamily="34" charset="-122"/>
                <a:ea typeface="微软雅黑" pitchFamily="34" charset="-122"/>
              </a:rPr>
              <a:t>（未指明地址）</a:t>
            </a:r>
          </a:p>
        </p:txBody>
      </p:sp>
      <p:sp>
        <p:nvSpPr>
          <p:cNvPr id="14" name="矩形 13"/>
          <p:cNvSpPr/>
          <p:nvPr/>
        </p:nvSpPr>
        <p:spPr>
          <a:xfrm>
            <a:off x="5109936" y="2580384"/>
            <a:ext cx="2839239" cy="369332"/>
          </a:xfrm>
          <a:prstGeom prst="rect">
            <a:avLst/>
          </a:prstGeom>
        </p:spPr>
        <p:txBody>
          <a:bodyPr wrap="none">
            <a:spAutoFit/>
          </a:bodyPr>
          <a:lstStyle/>
          <a:p>
            <a:r>
              <a:rPr lang="en-US" altLang="zh-CN" b="1" dirty="0">
                <a:solidFill>
                  <a:srgbClr val="0000FF"/>
                </a:solidFill>
                <a:latin typeface="微软雅黑" pitchFamily="34" charset="-122"/>
                <a:ea typeface="微软雅黑" pitchFamily="34" charset="-122"/>
              </a:rPr>
              <a:t>1080::8:800:200C:417A</a:t>
            </a:r>
            <a:endParaRPr lang="zh-CN" altLang="en-US" b="1" dirty="0">
              <a:solidFill>
                <a:srgbClr val="0000FF"/>
              </a:solidFill>
              <a:latin typeface="微软雅黑" pitchFamily="34" charset="-122"/>
              <a:ea typeface="微软雅黑" pitchFamily="34" charset="-122"/>
            </a:endParaRPr>
          </a:p>
        </p:txBody>
      </p:sp>
      <p:sp>
        <p:nvSpPr>
          <p:cNvPr id="15" name="矩形 14"/>
          <p:cNvSpPr/>
          <p:nvPr/>
        </p:nvSpPr>
        <p:spPr>
          <a:xfrm>
            <a:off x="5109936" y="2938405"/>
            <a:ext cx="1285929" cy="369332"/>
          </a:xfrm>
          <a:prstGeom prst="rect">
            <a:avLst/>
          </a:prstGeom>
        </p:spPr>
        <p:txBody>
          <a:bodyPr wrap="none">
            <a:spAutoFit/>
          </a:bodyPr>
          <a:lstStyle/>
          <a:p>
            <a:r>
              <a:rPr lang="en-US" altLang="zh-CN" b="1" dirty="0">
                <a:solidFill>
                  <a:srgbClr val="0000FF"/>
                </a:solidFill>
                <a:latin typeface="微软雅黑" pitchFamily="34" charset="-122"/>
                <a:ea typeface="微软雅黑" pitchFamily="34" charset="-122"/>
              </a:rPr>
              <a:t>FF01::101</a:t>
            </a:r>
          </a:p>
        </p:txBody>
      </p:sp>
      <p:sp>
        <p:nvSpPr>
          <p:cNvPr id="16" name="矩形 15"/>
          <p:cNvSpPr/>
          <p:nvPr/>
        </p:nvSpPr>
        <p:spPr>
          <a:xfrm>
            <a:off x="5109936" y="3296426"/>
            <a:ext cx="458780" cy="369332"/>
          </a:xfrm>
          <a:prstGeom prst="rect">
            <a:avLst/>
          </a:prstGeom>
        </p:spPr>
        <p:txBody>
          <a:bodyPr wrap="none">
            <a:spAutoFit/>
          </a:bodyPr>
          <a:lstStyle/>
          <a:p>
            <a:r>
              <a:rPr lang="en-US" altLang="zh-CN" b="1" dirty="0">
                <a:solidFill>
                  <a:srgbClr val="0000FF"/>
                </a:solidFill>
                <a:latin typeface="微软雅黑" pitchFamily="34" charset="-122"/>
                <a:ea typeface="微软雅黑" pitchFamily="34" charset="-122"/>
              </a:rPr>
              <a:t>::1</a:t>
            </a:r>
            <a:endParaRPr lang="zh-CN" altLang="en-US" b="1" dirty="0">
              <a:solidFill>
                <a:srgbClr val="0000FF"/>
              </a:solidFill>
              <a:latin typeface="微软雅黑" pitchFamily="34" charset="-122"/>
              <a:ea typeface="微软雅黑" pitchFamily="34" charset="-122"/>
            </a:endParaRPr>
          </a:p>
        </p:txBody>
      </p:sp>
      <p:sp>
        <p:nvSpPr>
          <p:cNvPr id="17" name="矩形 16"/>
          <p:cNvSpPr/>
          <p:nvPr/>
        </p:nvSpPr>
        <p:spPr>
          <a:xfrm>
            <a:off x="5109936" y="3654448"/>
            <a:ext cx="316112" cy="369332"/>
          </a:xfrm>
          <a:prstGeom prst="rect">
            <a:avLst/>
          </a:prstGeom>
        </p:spPr>
        <p:txBody>
          <a:bodyPr wrap="none">
            <a:spAutoFit/>
          </a:bodyPr>
          <a:lstStyle/>
          <a:p>
            <a:r>
              <a:rPr lang="en-US" altLang="zh-CN" b="1" dirty="0">
                <a:solidFill>
                  <a:srgbClr val="0000FF"/>
                </a:solidFill>
                <a:latin typeface="微软雅黑" pitchFamily="34" charset="-122"/>
                <a:ea typeface="微软雅黑" pitchFamily="34" charset="-122"/>
              </a:rPr>
              <a:t>::</a:t>
            </a:r>
          </a:p>
        </p:txBody>
      </p:sp>
      <p:sp>
        <p:nvSpPr>
          <p:cNvPr id="18" name="右箭头 17"/>
          <p:cNvSpPr/>
          <p:nvPr/>
        </p:nvSpPr>
        <p:spPr>
          <a:xfrm>
            <a:off x="4664210" y="2317573"/>
            <a:ext cx="391886" cy="184666"/>
          </a:xfrm>
          <a:prstGeom prst="rightArrow">
            <a:avLst/>
          </a:prstGeom>
          <a:solidFill>
            <a:srgbClr val="CC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右箭头 18"/>
          <p:cNvSpPr/>
          <p:nvPr/>
        </p:nvSpPr>
        <p:spPr>
          <a:xfrm>
            <a:off x="4664210" y="2675595"/>
            <a:ext cx="391886" cy="184666"/>
          </a:xfrm>
          <a:prstGeom prst="rightArrow">
            <a:avLst/>
          </a:prstGeom>
          <a:solidFill>
            <a:srgbClr val="CC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右箭头 19"/>
          <p:cNvSpPr/>
          <p:nvPr/>
        </p:nvSpPr>
        <p:spPr>
          <a:xfrm>
            <a:off x="4664210" y="3033617"/>
            <a:ext cx="391886" cy="184666"/>
          </a:xfrm>
          <a:prstGeom prst="rightArrow">
            <a:avLst/>
          </a:prstGeom>
          <a:solidFill>
            <a:srgbClr val="CC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右箭头 20"/>
          <p:cNvSpPr/>
          <p:nvPr/>
        </p:nvSpPr>
        <p:spPr>
          <a:xfrm>
            <a:off x="4664210" y="3391639"/>
            <a:ext cx="391886" cy="184666"/>
          </a:xfrm>
          <a:prstGeom prst="rightArrow">
            <a:avLst/>
          </a:prstGeom>
          <a:solidFill>
            <a:srgbClr val="CC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右箭头 21"/>
          <p:cNvSpPr/>
          <p:nvPr/>
        </p:nvSpPr>
        <p:spPr>
          <a:xfrm>
            <a:off x="4664210" y="3749661"/>
            <a:ext cx="391886" cy="184666"/>
          </a:xfrm>
          <a:prstGeom prst="rightArrow">
            <a:avLst/>
          </a:prstGeom>
          <a:solidFill>
            <a:srgbClr val="CC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109935638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圆角矩形 11"/>
          <p:cNvSpPr/>
          <p:nvPr/>
        </p:nvSpPr>
        <p:spPr>
          <a:xfrm>
            <a:off x="572855" y="3367672"/>
            <a:ext cx="7730636" cy="113836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 name="Rectangle 8"/>
          <p:cNvSpPr>
            <a:spLocks noChangeArrowheads="1"/>
          </p:cNvSpPr>
          <p:nvPr/>
        </p:nvSpPr>
        <p:spPr bwMode="auto">
          <a:xfrm>
            <a:off x="545145" y="974134"/>
            <a:ext cx="8053710" cy="2169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2700"/>
              </a:lnSpc>
              <a:buClr>
                <a:srgbClr val="0070C0"/>
              </a:buClr>
              <a:buFont typeface="Wingdings" pitchFamily="2" charset="2"/>
              <a:buChar char="l"/>
            </a:pPr>
            <a:r>
              <a:rPr lang="zh-CN" altLang="en-US" b="1" dirty="0">
                <a:latin typeface="微软雅黑" pitchFamily="34" charset="-122"/>
                <a:ea typeface="微软雅黑" pitchFamily="34" charset="-122"/>
              </a:rPr>
              <a:t>结合使用点分十进制记法的</a:t>
            </a:r>
            <a:r>
              <a:rPr lang="zh-CN" altLang="en-US" b="1" dirty="0">
                <a:solidFill>
                  <a:srgbClr val="C00000"/>
                </a:solidFill>
                <a:latin typeface="微软雅黑" pitchFamily="34" charset="-122"/>
                <a:ea typeface="微软雅黑" pitchFamily="34" charset="-122"/>
              </a:rPr>
              <a:t>后缀</a:t>
            </a:r>
            <a:r>
              <a:rPr lang="zh-CN" altLang="en-US" b="1" dirty="0">
                <a:latin typeface="微软雅黑" pitchFamily="34" charset="-122"/>
                <a:ea typeface="微软雅黑" pitchFamily="34" charset="-122"/>
              </a:rPr>
              <a:t>在 </a:t>
            </a:r>
            <a:r>
              <a:rPr lang="en-US" altLang="zh-CN" b="1" dirty="0">
                <a:latin typeface="微软雅黑" pitchFamily="34" charset="-122"/>
                <a:ea typeface="微软雅黑" pitchFamily="34" charset="-122"/>
              </a:rPr>
              <a:t>IPv4 </a:t>
            </a:r>
            <a:r>
              <a:rPr lang="zh-CN" altLang="en-US" b="1" dirty="0">
                <a:latin typeface="微软雅黑" pitchFamily="34" charset="-122"/>
                <a:ea typeface="微软雅黑" pitchFamily="34" charset="-122"/>
              </a:rPr>
              <a:t>向 </a:t>
            </a:r>
            <a:r>
              <a:rPr lang="en-US" altLang="zh-CN" b="1" dirty="0">
                <a:latin typeface="微软雅黑" pitchFamily="34" charset="-122"/>
                <a:ea typeface="微软雅黑" pitchFamily="34" charset="-122"/>
              </a:rPr>
              <a:t>IPv6 </a:t>
            </a:r>
            <a:r>
              <a:rPr lang="zh-CN" altLang="en-US" b="1" dirty="0">
                <a:latin typeface="微软雅黑" pitchFamily="34" charset="-122"/>
                <a:ea typeface="微软雅黑" pitchFamily="34" charset="-122"/>
              </a:rPr>
              <a:t>的转换阶段特别有用。</a:t>
            </a:r>
          </a:p>
          <a:p>
            <a:pPr marL="285750" indent="-285750">
              <a:lnSpc>
                <a:spcPts val="2700"/>
              </a:lnSpc>
              <a:buClr>
                <a:srgbClr val="0070C0"/>
              </a:buClr>
              <a:buFont typeface="Wingdings" pitchFamily="2" charset="2"/>
              <a:buChar char="l"/>
            </a:pPr>
            <a:r>
              <a:rPr lang="zh-CN" altLang="en-US" b="1" dirty="0">
                <a:latin typeface="微软雅黑" pitchFamily="34" charset="-122"/>
                <a:ea typeface="微软雅黑" pitchFamily="34" charset="-122"/>
              </a:rPr>
              <a:t>例如：</a:t>
            </a:r>
            <a:endParaRPr lang="en-US" altLang="zh-CN" b="1" dirty="0">
              <a:latin typeface="微软雅黑" pitchFamily="34" charset="-122"/>
              <a:ea typeface="微软雅黑" pitchFamily="34" charset="-122"/>
            </a:endParaRPr>
          </a:p>
          <a:p>
            <a:pPr marL="285750" indent="-285750">
              <a:lnSpc>
                <a:spcPts val="2700"/>
              </a:lnSpc>
              <a:buClr>
                <a:srgbClr val="0070C0"/>
              </a:buClr>
              <a:buFont typeface="Wingdings" pitchFamily="2" charset="2"/>
              <a:buChar char="l"/>
            </a:pPr>
            <a:r>
              <a:rPr lang="en-US" altLang="zh-CN" b="1" dirty="0">
                <a:latin typeface="微软雅黑" pitchFamily="34" charset="-122"/>
                <a:ea typeface="微软雅黑" pitchFamily="34" charset="-122"/>
              </a:rPr>
              <a:t>CIDR </a:t>
            </a:r>
            <a:r>
              <a:rPr lang="zh-CN" altLang="en-US" b="1" dirty="0">
                <a:latin typeface="微软雅黑" pitchFamily="34" charset="-122"/>
                <a:ea typeface="微软雅黑" pitchFamily="34" charset="-122"/>
              </a:rPr>
              <a:t>的</a:t>
            </a:r>
            <a:r>
              <a:rPr lang="zh-CN" altLang="en-US" b="1" dirty="0">
                <a:solidFill>
                  <a:srgbClr val="C00000"/>
                </a:solidFill>
                <a:latin typeface="微软雅黑" pitchFamily="34" charset="-122"/>
                <a:ea typeface="微软雅黑" pitchFamily="34" charset="-122"/>
              </a:rPr>
              <a:t>斜线表示法</a:t>
            </a:r>
            <a:r>
              <a:rPr lang="zh-CN" altLang="en-US" b="1" dirty="0">
                <a:latin typeface="微软雅黑" pitchFamily="34" charset="-122"/>
                <a:ea typeface="微软雅黑" pitchFamily="34" charset="-122"/>
              </a:rPr>
              <a:t>仍然可用，</a:t>
            </a:r>
            <a:r>
              <a:rPr lang="zh-CN" altLang="en-US" b="1" dirty="0">
                <a:solidFill>
                  <a:srgbClr val="C00000"/>
                </a:solidFill>
                <a:latin typeface="微软雅黑" pitchFamily="34" charset="-122"/>
                <a:ea typeface="微软雅黑" pitchFamily="34" charset="-122"/>
              </a:rPr>
              <a:t>但取消了子网掩码。</a:t>
            </a:r>
            <a:endParaRPr lang="en-US" altLang="zh-CN" b="1" dirty="0">
              <a:solidFill>
                <a:srgbClr val="C00000"/>
              </a:solidFill>
              <a:latin typeface="微软雅黑" pitchFamily="34" charset="-122"/>
              <a:ea typeface="微软雅黑" pitchFamily="34" charset="-122"/>
            </a:endParaRPr>
          </a:p>
          <a:p>
            <a:pPr marL="285750" indent="-285750">
              <a:lnSpc>
                <a:spcPts val="2700"/>
              </a:lnSpc>
              <a:buClr>
                <a:srgbClr val="0070C0"/>
              </a:buClr>
              <a:buFont typeface="Wingdings" pitchFamily="2" charset="2"/>
              <a:buChar char="l"/>
            </a:pPr>
            <a:r>
              <a:rPr lang="zh-CN" altLang="en-US" b="1" dirty="0">
                <a:latin typeface="微软雅黑" pitchFamily="34" charset="-122"/>
                <a:ea typeface="微软雅黑" pitchFamily="34" charset="-122"/>
              </a:rPr>
              <a:t>例如：</a:t>
            </a:r>
            <a:r>
              <a:rPr lang="en-US" altLang="zh-CN" b="1" dirty="0">
                <a:latin typeface="微软雅黑" pitchFamily="34" charset="-122"/>
                <a:ea typeface="微软雅黑" pitchFamily="34" charset="-122"/>
              </a:rPr>
              <a:t>60 </a:t>
            </a:r>
            <a:r>
              <a:rPr lang="zh-CN" altLang="en-US" b="1" dirty="0">
                <a:latin typeface="微软雅黑" pitchFamily="34" charset="-122"/>
                <a:ea typeface="微软雅黑" pitchFamily="34" charset="-122"/>
              </a:rPr>
              <a:t>位的前缀 </a:t>
            </a:r>
            <a:r>
              <a:rPr lang="en-US" altLang="zh-CN" b="1" dirty="0">
                <a:latin typeface="微软雅黑" pitchFamily="34" charset="-122"/>
                <a:ea typeface="微软雅黑" pitchFamily="34" charset="-122"/>
              </a:rPr>
              <a:t>12AB00000000CD3 </a:t>
            </a:r>
            <a:r>
              <a:rPr lang="zh-CN" altLang="en-US" b="1" dirty="0">
                <a:latin typeface="微软雅黑" pitchFamily="34" charset="-122"/>
                <a:ea typeface="微软雅黑" pitchFamily="34" charset="-122"/>
              </a:rPr>
              <a:t>可记为：</a:t>
            </a:r>
          </a:p>
          <a:p>
            <a:pPr marL="285750" indent="-285750">
              <a:lnSpc>
                <a:spcPts val="2700"/>
              </a:lnSpc>
              <a:buClr>
                <a:srgbClr val="0070C0"/>
              </a:buClr>
              <a:buFont typeface="Wingdings" pitchFamily="2" charset="2"/>
              <a:buChar char="l"/>
            </a:pPr>
            <a:endParaRPr lang="zh-CN" altLang="en-US" b="1" dirty="0">
              <a:latin typeface="微软雅黑" pitchFamily="34" charset="-122"/>
              <a:ea typeface="微软雅黑" pitchFamily="34" charset="-122"/>
            </a:endParaRPr>
          </a:p>
          <a:p>
            <a:pPr marL="285750" indent="-285750">
              <a:lnSpc>
                <a:spcPts val="2700"/>
              </a:lnSpc>
              <a:buClr>
                <a:srgbClr val="0070C0"/>
              </a:buClr>
              <a:buFont typeface="Wingdings" pitchFamily="2" charset="2"/>
              <a:buChar char="l"/>
            </a:pPr>
            <a:endParaRPr lang="en-US" altLang="zh-CN" b="1" dirty="0">
              <a:latin typeface="微软雅黑" pitchFamily="34" charset="-122"/>
              <a:ea typeface="微软雅黑" pitchFamily="34" charset="-122"/>
            </a:endParaRPr>
          </a:p>
        </p:txBody>
      </p:sp>
      <p:sp>
        <p:nvSpPr>
          <p:cNvPr id="3" name="AutoShape 5"/>
          <p:cNvSpPr>
            <a:spLocks noChangeArrowheads="1"/>
          </p:cNvSpPr>
          <p:nvPr/>
        </p:nvSpPr>
        <p:spPr bwMode="auto">
          <a:xfrm>
            <a:off x="545145" y="625529"/>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92318"/>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点分十进制记法的后缀</a:t>
            </a:r>
          </a:p>
        </p:txBody>
      </p:sp>
      <p:sp>
        <p:nvSpPr>
          <p:cNvPr id="5" name="矩形 4"/>
          <p:cNvSpPr/>
          <p:nvPr/>
        </p:nvSpPr>
        <p:spPr>
          <a:xfrm>
            <a:off x="1644934" y="1406707"/>
            <a:ext cx="2630848" cy="369332"/>
          </a:xfrm>
          <a:prstGeom prst="rect">
            <a:avLst/>
          </a:prstGeom>
        </p:spPr>
        <p:txBody>
          <a:bodyPr wrap="none">
            <a:spAutoFit/>
          </a:bodyPr>
          <a:lstStyle/>
          <a:p>
            <a:pPr>
              <a:buClr>
                <a:srgbClr val="0070C0"/>
              </a:buClr>
            </a:pPr>
            <a:r>
              <a:rPr lang="en-US" altLang="zh-CN" b="1" dirty="0">
                <a:solidFill>
                  <a:srgbClr val="0000FF"/>
                </a:solidFill>
                <a:latin typeface="微软雅黑" pitchFamily="34" charset="-122"/>
                <a:ea typeface="微软雅黑" pitchFamily="34" charset="-122"/>
              </a:rPr>
              <a:t>0:0:0:0:0:0:128.10.2.1</a:t>
            </a:r>
          </a:p>
        </p:txBody>
      </p:sp>
      <p:sp>
        <p:nvSpPr>
          <p:cNvPr id="6" name="矩形 5"/>
          <p:cNvSpPr/>
          <p:nvPr/>
        </p:nvSpPr>
        <p:spPr>
          <a:xfrm>
            <a:off x="4751433" y="1406707"/>
            <a:ext cx="1511952" cy="369332"/>
          </a:xfrm>
          <a:prstGeom prst="rect">
            <a:avLst/>
          </a:prstGeom>
        </p:spPr>
        <p:txBody>
          <a:bodyPr wrap="none">
            <a:spAutoFit/>
          </a:bodyPr>
          <a:lstStyle/>
          <a:p>
            <a:r>
              <a:rPr lang="en-US" altLang="zh-CN" b="1" dirty="0">
                <a:solidFill>
                  <a:srgbClr val="0000FF"/>
                </a:solidFill>
                <a:latin typeface="微软雅黑" pitchFamily="34" charset="-122"/>
                <a:ea typeface="微软雅黑" pitchFamily="34" charset="-122"/>
              </a:rPr>
              <a:t>::128.10.2.1</a:t>
            </a:r>
            <a:endParaRPr lang="zh-CN" altLang="en-US" dirty="0"/>
          </a:p>
        </p:txBody>
      </p:sp>
      <p:sp>
        <p:nvSpPr>
          <p:cNvPr id="8" name="矩形 7"/>
          <p:cNvSpPr/>
          <p:nvPr/>
        </p:nvSpPr>
        <p:spPr>
          <a:xfrm>
            <a:off x="1678750" y="2387715"/>
            <a:ext cx="5771132" cy="369332"/>
          </a:xfrm>
          <a:prstGeom prst="rect">
            <a:avLst/>
          </a:prstGeom>
        </p:spPr>
        <p:txBody>
          <a:bodyPr wrap="none">
            <a:spAutoFit/>
          </a:bodyPr>
          <a:lstStyle/>
          <a:p>
            <a:pPr>
              <a:buClr>
                <a:srgbClr val="0070C0"/>
              </a:buClr>
            </a:pPr>
            <a:r>
              <a:rPr lang="en-US" altLang="zh-CN" b="1" dirty="0">
                <a:solidFill>
                  <a:srgbClr val="0000FF"/>
                </a:solidFill>
                <a:latin typeface="微软雅黑" pitchFamily="34" charset="-122"/>
                <a:ea typeface="微软雅黑" pitchFamily="34" charset="-122"/>
              </a:rPr>
              <a:t>12AB:0000:0000:CD30:0000:0000:0000:0000</a:t>
            </a:r>
            <a:r>
              <a:rPr lang="en-US" altLang="zh-CN" b="1" dirty="0">
                <a:solidFill>
                  <a:srgbClr val="C00000"/>
                </a:solidFill>
                <a:latin typeface="微软雅黑" pitchFamily="34" charset="-122"/>
                <a:ea typeface="微软雅黑" pitchFamily="34" charset="-122"/>
              </a:rPr>
              <a:t>/60</a:t>
            </a:r>
            <a:endParaRPr lang="zh-CN" altLang="en-US" b="1" dirty="0">
              <a:solidFill>
                <a:srgbClr val="C00000"/>
              </a:solidFill>
              <a:latin typeface="微软雅黑" pitchFamily="34" charset="-122"/>
              <a:ea typeface="微软雅黑" pitchFamily="34" charset="-122"/>
            </a:endParaRPr>
          </a:p>
        </p:txBody>
      </p:sp>
      <p:sp>
        <p:nvSpPr>
          <p:cNvPr id="16" name="右箭头 15"/>
          <p:cNvSpPr/>
          <p:nvPr/>
        </p:nvSpPr>
        <p:spPr>
          <a:xfrm>
            <a:off x="4305707" y="1501917"/>
            <a:ext cx="391886" cy="184666"/>
          </a:xfrm>
          <a:prstGeom prst="rightArrow">
            <a:avLst/>
          </a:prstGeom>
          <a:solidFill>
            <a:srgbClr val="CC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矩形 21"/>
          <p:cNvSpPr/>
          <p:nvPr/>
        </p:nvSpPr>
        <p:spPr>
          <a:xfrm>
            <a:off x="1381661" y="2704934"/>
            <a:ext cx="4305987" cy="369332"/>
          </a:xfrm>
          <a:prstGeom prst="rect">
            <a:avLst/>
          </a:prstGeom>
        </p:spPr>
        <p:txBody>
          <a:bodyPr wrap="none">
            <a:spAutoFit/>
          </a:bodyPr>
          <a:lstStyle/>
          <a:p>
            <a:pPr>
              <a:buClr>
                <a:srgbClr val="0070C0"/>
              </a:buClr>
            </a:pPr>
            <a:r>
              <a:rPr lang="zh-CN" altLang="en-US" b="1" dirty="0">
                <a:latin typeface="微软雅黑" pitchFamily="34" charset="-122"/>
                <a:ea typeface="微软雅黑" pitchFamily="34" charset="-122"/>
              </a:rPr>
              <a:t>或 </a:t>
            </a:r>
            <a:r>
              <a:rPr lang="en-US" altLang="zh-CN" b="1" dirty="0">
                <a:solidFill>
                  <a:srgbClr val="0000FF"/>
                </a:solidFill>
                <a:latin typeface="微软雅黑" pitchFamily="34" charset="-122"/>
                <a:ea typeface="微软雅黑" pitchFamily="34" charset="-122"/>
              </a:rPr>
              <a:t>12AB::CD30:0:0:0:0</a:t>
            </a:r>
            <a:r>
              <a:rPr lang="en-US" altLang="zh-CN" b="1" dirty="0">
                <a:solidFill>
                  <a:srgbClr val="C00000"/>
                </a:solidFill>
                <a:latin typeface="微软雅黑" pitchFamily="34" charset="-122"/>
                <a:ea typeface="微软雅黑" pitchFamily="34" charset="-122"/>
              </a:rPr>
              <a:t>/60</a:t>
            </a:r>
            <a:r>
              <a:rPr lang="en-US" altLang="zh-CN" b="1" dirty="0">
                <a:solidFill>
                  <a:srgbClr val="0000FF"/>
                </a:solidFill>
                <a:latin typeface="微软雅黑" pitchFamily="34" charset="-122"/>
                <a:ea typeface="微软雅黑" pitchFamily="34" charset="-122"/>
              </a:rPr>
              <a:t> </a:t>
            </a:r>
            <a:r>
              <a:rPr lang="zh-CN" altLang="en-US" b="1" dirty="0">
                <a:solidFill>
                  <a:srgbClr val="0000FF"/>
                </a:solidFill>
                <a:latin typeface="微软雅黑" pitchFamily="34" charset="-122"/>
                <a:ea typeface="微软雅黑" pitchFamily="34" charset="-122"/>
              </a:rPr>
              <a:t>（零压缩）</a:t>
            </a:r>
          </a:p>
        </p:txBody>
      </p:sp>
      <p:sp>
        <p:nvSpPr>
          <p:cNvPr id="23" name="矩形 22"/>
          <p:cNvSpPr/>
          <p:nvPr/>
        </p:nvSpPr>
        <p:spPr>
          <a:xfrm>
            <a:off x="1384397" y="3035339"/>
            <a:ext cx="3954929" cy="369332"/>
          </a:xfrm>
          <a:prstGeom prst="rect">
            <a:avLst/>
          </a:prstGeom>
        </p:spPr>
        <p:txBody>
          <a:bodyPr wrap="none">
            <a:spAutoFit/>
          </a:bodyPr>
          <a:lstStyle/>
          <a:p>
            <a:r>
              <a:rPr lang="zh-CN" altLang="en-US" b="1" dirty="0">
                <a:latin typeface="微软雅黑" pitchFamily="34" charset="-122"/>
                <a:ea typeface="微软雅黑" pitchFamily="34" charset="-122"/>
              </a:rPr>
              <a:t>或 </a:t>
            </a:r>
            <a:r>
              <a:rPr lang="en-US" altLang="zh-CN" b="1" dirty="0">
                <a:solidFill>
                  <a:srgbClr val="0000FF"/>
                </a:solidFill>
                <a:latin typeface="微软雅黑" pitchFamily="34" charset="-122"/>
                <a:ea typeface="微软雅黑" pitchFamily="34" charset="-122"/>
              </a:rPr>
              <a:t>12AB:0:0:CD30</a:t>
            </a:r>
            <a:r>
              <a:rPr lang="en-US" altLang="zh-CN" b="1" dirty="0">
                <a:solidFill>
                  <a:srgbClr val="C00000"/>
                </a:solidFill>
                <a:latin typeface="微软雅黑" pitchFamily="34" charset="-122"/>
                <a:ea typeface="微软雅黑" pitchFamily="34" charset="-122"/>
              </a:rPr>
              <a:t>::/60 </a:t>
            </a:r>
            <a:r>
              <a:rPr lang="zh-CN" altLang="en-US" b="1" dirty="0">
                <a:solidFill>
                  <a:srgbClr val="0000FF"/>
                </a:solidFill>
                <a:latin typeface="微软雅黑" pitchFamily="34" charset="-122"/>
                <a:ea typeface="微软雅黑" pitchFamily="34" charset="-122"/>
              </a:rPr>
              <a:t>（零压缩）</a:t>
            </a:r>
            <a:endParaRPr lang="zh-CN" altLang="en-US" dirty="0"/>
          </a:p>
        </p:txBody>
      </p:sp>
      <p:sp>
        <p:nvSpPr>
          <p:cNvPr id="24" name="矩形 23"/>
          <p:cNvSpPr/>
          <p:nvPr/>
        </p:nvSpPr>
        <p:spPr>
          <a:xfrm>
            <a:off x="766816" y="3382893"/>
            <a:ext cx="7388891" cy="1092607"/>
          </a:xfrm>
          <a:prstGeom prst="rect">
            <a:avLst/>
          </a:prstGeom>
          <a:noFill/>
        </p:spPr>
        <p:txBody>
          <a:bodyPr wrap="square">
            <a:spAutoFit/>
          </a:bodyPr>
          <a:lstStyle/>
          <a:p>
            <a:pPr>
              <a:lnSpc>
                <a:spcPts val="2600"/>
              </a:lnSpc>
              <a:spcAft>
                <a:spcPts val="0"/>
              </a:spcAft>
            </a:pPr>
            <a:r>
              <a:rPr lang="en-US" altLang="zh-CN" sz="1600" b="1" kern="500" dirty="0">
                <a:solidFill>
                  <a:srgbClr val="000000"/>
                </a:solidFill>
                <a:latin typeface="微软雅黑" panose="020B0503020204020204" pitchFamily="34" charset="-122"/>
                <a:ea typeface="微软雅黑" panose="020B0503020204020204" pitchFamily="34" charset="-122"/>
              </a:rPr>
              <a:t>CIDR </a:t>
            </a:r>
            <a:r>
              <a:rPr lang="zh-CN" altLang="zh-CN" sz="1600" b="1" kern="500" dirty="0">
                <a:solidFill>
                  <a:srgbClr val="000000"/>
                </a:solidFill>
                <a:latin typeface="微软雅黑" panose="020B0503020204020204" pitchFamily="34" charset="-122"/>
                <a:ea typeface="微软雅黑" panose="020B0503020204020204" pitchFamily="34" charset="-122"/>
              </a:rPr>
              <a:t>记法</a:t>
            </a:r>
            <a:r>
              <a:rPr lang="zh-CN" altLang="en-US" sz="1600" b="1" kern="500" dirty="0">
                <a:solidFill>
                  <a:srgbClr val="000000"/>
                </a:solidFill>
                <a:latin typeface="微软雅黑" panose="020B0503020204020204" pitchFamily="34" charset="-122"/>
                <a:ea typeface="微软雅黑" panose="020B0503020204020204" pitchFamily="34" charset="-122"/>
              </a:rPr>
              <a:t>地址：</a:t>
            </a:r>
            <a:r>
              <a:rPr lang="en-US" altLang="zh-CN" sz="1600" b="1" kern="500" dirty="0">
                <a:solidFill>
                  <a:srgbClr val="000000"/>
                </a:solidFill>
                <a:latin typeface="微软雅黑" panose="020B0503020204020204" pitchFamily="34" charset="-122"/>
                <a:ea typeface="微软雅黑" panose="020B0503020204020204" pitchFamily="34" charset="-122"/>
              </a:rPr>
              <a:t>	2001:0DB8:0:CD30:123:4567:89AB:CDEF/60</a:t>
            </a:r>
            <a:r>
              <a:rPr lang="zh-CN" altLang="zh-CN" sz="1600" b="1" kern="500" dirty="0">
                <a:solidFill>
                  <a:srgbClr val="000000"/>
                </a:solidFill>
                <a:latin typeface="微软雅黑" panose="020B0503020204020204" pitchFamily="34" charset="-122"/>
                <a:ea typeface="微软雅黑" panose="020B0503020204020204" pitchFamily="34" charset="-122"/>
              </a:rPr>
              <a:t>，表示</a:t>
            </a:r>
            <a:r>
              <a:rPr lang="zh-CN" altLang="en-US" sz="1600" b="1" kern="500" dirty="0">
                <a:solidFill>
                  <a:srgbClr val="000000"/>
                </a:solidFill>
                <a:latin typeface="微软雅黑" panose="020B0503020204020204" pitchFamily="34" charset="-122"/>
                <a:ea typeface="微软雅黑" panose="020B0503020204020204" pitchFamily="34" charset="-122"/>
              </a:rPr>
              <a:t>：</a:t>
            </a:r>
            <a:endParaRPr lang="zh-CN" altLang="zh-CN" sz="1600" b="1" kern="500" dirty="0">
              <a:latin typeface="微软雅黑" panose="020B0503020204020204" pitchFamily="34" charset="-122"/>
              <a:ea typeface="微软雅黑" panose="020B0503020204020204" pitchFamily="34" charset="-122"/>
            </a:endParaRPr>
          </a:p>
          <a:p>
            <a:pPr>
              <a:lnSpc>
                <a:spcPts val="2600"/>
              </a:lnSpc>
              <a:spcAft>
                <a:spcPts val="0"/>
              </a:spcAft>
            </a:pPr>
            <a:r>
              <a:rPr lang="en-US" altLang="zh-CN" sz="1600" b="1" kern="500" dirty="0">
                <a:solidFill>
                  <a:srgbClr val="000000"/>
                </a:solidFill>
                <a:latin typeface="微软雅黑" panose="020B0503020204020204" pitchFamily="34" charset="-122"/>
                <a:ea typeface="微软雅黑" panose="020B0503020204020204" pitchFamily="34" charset="-122"/>
              </a:rPr>
              <a:t>IPv6 </a:t>
            </a:r>
            <a:r>
              <a:rPr lang="zh-CN" altLang="zh-CN" sz="1600" b="1" kern="500" dirty="0">
                <a:solidFill>
                  <a:srgbClr val="000000"/>
                </a:solidFill>
                <a:latin typeface="微软雅黑" panose="020B0503020204020204" pitchFamily="34" charset="-122"/>
                <a:ea typeface="微软雅黑" panose="020B0503020204020204" pitchFamily="34" charset="-122"/>
              </a:rPr>
              <a:t>的地址是：</a:t>
            </a:r>
            <a:r>
              <a:rPr lang="en-US" altLang="zh-CN" sz="1600" b="1" kern="500" dirty="0">
                <a:solidFill>
                  <a:srgbClr val="000000"/>
                </a:solidFill>
                <a:latin typeface="微软雅黑" panose="020B0503020204020204" pitchFamily="34" charset="-122"/>
                <a:ea typeface="微软雅黑" panose="020B0503020204020204" pitchFamily="34" charset="-122"/>
              </a:rPr>
              <a:t>	2001:0DB8:0:CD30:123:4567:89AB:CDEF</a:t>
            </a:r>
            <a:endParaRPr lang="zh-CN" altLang="zh-CN" sz="1600" b="1" kern="500" dirty="0">
              <a:latin typeface="微软雅黑" panose="020B0503020204020204" pitchFamily="34" charset="-122"/>
              <a:ea typeface="微软雅黑" panose="020B0503020204020204" pitchFamily="34" charset="-122"/>
            </a:endParaRPr>
          </a:p>
          <a:p>
            <a:pPr>
              <a:lnSpc>
                <a:spcPts val="2600"/>
              </a:lnSpc>
              <a:spcAft>
                <a:spcPts val="0"/>
              </a:spcAft>
            </a:pPr>
            <a:r>
              <a:rPr lang="zh-CN" altLang="zh-CN" sz="1600" b="1" kern="500" dirty="0">
                <a:latin typeface="微软雅黑" panose="020B0503020204020204" pitchFamily="34" charset="-122"/>
                <a:ea typeface="微软雅黑" panose="020B0503020204020204" pitchFamily="34" charset="-122"/>
              </a:rPr>
              <a:t>其子网号是：</a:t>
            </a:r>
            <a:r>
              <a:rPr lang="en-US" altLang="zh-CN" sz="1600" b="1" kern="500" dirty="0">
                <a:latin typeface="微软雅黑" panose="020B0503020204020204" pitchFamily="34" charset="-122"/>
                <a:ea typeface="微软雅黑" panose="020B0503020204020204" pitchFamily="34" charset="-122"/>
              </a:rPr>
              <a:t>	</a:t>
            </a:r>
            <a:r>
              <a:rPr lang="en-US" altLang="zh-CN" sz="1600" b="1" kern="500" dirty="0">
                <a:solidFill>
                  <a:srgbClr val="000000"/>
                </a:solidFill>
                <a:latin typeface="微软雅黑" panose="020B0503020204020204" pitchFamily="34" charset="-122"/>
                <a:ea typeface="微软雅黑" panose="020B0503020204020204" pitchFamily="34" charset="-122"/>
              </a:rPr>
              <a:t>2001:0DB8:0:CD30::/60</a:t>
            </a:r>
            <a:endParaRPr lang="zh-CN" altLang="zh-CN" sz="1600" b="1" kern="500"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52332453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5" y="62367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41968" y="59046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IPv6 </a:t>
            </a:r>
            <a:r>
              <a:rPr lang="zh-CN" altLang="en-US" sz="2000" b="1" dirty="0">
                <a:solidFill>
                  <a:schemeClr val="bg1"/>
                </a:solidFill>
                <a:latin typeface="微软雅黑" pitchFamily="34" charset="-122"/>
                <a:ea typeface="微软雅黑" pitchFamily="34" charset="-122"/>
              </a:rPr>
              <a:t>地址分类</a:t>
            </a:r>
          </a:p>
        </p:txBody>
      </p:sp>
      <p:graphicFrame>
        <p:nvGraphicFramePr>
          <p:cNvPr id="4" name="内容占位符 3"/>
          <p:cNvGraphicFramePr>
            <a:graphicFrameLocks/>
          </p:cNvGraphicFramePr>
          <p:nvPr>
            <p:extLst>
              <p:ext uri="{D42A27DB-BD31-4B8C-83A1-F6EECF244321}">
                <p14:modId xmlns:p14="http://schemas.microsoft.com/office/powerpoint/2010/main" val="2427238539"/>
              </p:ext>
            </p:extLst>
          </p:nvPr>
        </p:nvGraphicFramePr>
        <p:xfrm>
          <a:off x="545145" y="1119916"/>
          <a:ext cx="8053709" cy="2564142"/>
        </p:xfrm>
        <a:graphic>
          <a:graphicData uri="http://schemas.openxmlformats.org/drawingml/2006/table">
            <a:tbl>
              <a:tblPr firstRow="1" firstCol="1" bandCol="1">
                <a:tableStyleId>{5C22544A-7EE6-4342-B048-85BDC9FD1C3A}</a:tableStyleId>
              </a:tblPr>
              <a:tblGrid>
                <a:gridCol w="1817729">
                  <a:extLst>
                    <a:ext uri="{9D8B030D-6E8A-4147-A177-3AD203B41FA5}">
                      <a16:colId xmlns:a16="http://schemas.microsoft.com/office/drawing/2014/main" val="20000"/>
                    </a:ext>
                  </a:extLst>
                </a:gridCol>
                <a:gridCol w="3932730">
                  <a:extLst>
                    <a:ext uri="{9D8B030D-6E8A-4147-A177-3AD203B41FA5}">
                      <a16:colId xmlns:a16="http://schemas.microsoft.com/office/drawing/2014/main" val="20001"/>
                    </a:ext>
                  </a:extLst>
                </a:gridCol>
                <a:gridCol w="2303250">
                  <a:extLst>
                    <a:ext uri="{9D8B030D-6E8A-4147-A177-3AD203B41FA5}">
                      <a16:colId xmlns:a16="http://schemas.microsoft.com/office/drawing/2014/main" val="20002"/>
                    </a:ext>
                  </a:extLst>
                </a:gridCol>
              </a:tblGrid>
              <a:tr h="396471">
                <a:tc>
                  <a:txBody>
                    <a:bodyPr/>
                    <a:lstStyle/>
                    <a:p>
                      <a:pPr algn="ctr">
                        <a:lnSpc>
                          <a:spcPts val="2400"/>
                        </a:lnSpc>
                        <a:spcAft>
                          <a:spcPts val="0"/>
                        </a:spcAft>
                      </a:pPr>
                      <a:r>
                        <a:rPr lang="zh-CN" sz="1600" b="1" dirty="0">
                          <a:effectLst/>
                          <a:latin typeface="微软雅黑" panose="020B0503020204020204" pitchFamily="34" charset="-122"/>
                          <a:ea typeface="微软雅黑" panose="020B0503020204020204" pitchFamily="34" charset="-122"/>
                        </a:rPr>
                        <a:t>地址类型</a:t>
                      </a:r>
                      <a:endParaRPr lang="zh-CN" sz="1600" b="1" dirty="0">
                        <a:solidFill>
                          <a:schemeClr val="bg1"/>
                        </a:solidFill>
                        <a:effectLst/>
                        <a:latin typeface="微软雅黑" pitchFamily="34" charset="-122"/>
                        <a:ea typeface="微软雅黑" pitchFamily="34" charset="-122"/>
                      </a:endParaRPr>
                    </a:p>
                  </a:txBody>
                  <a:tcPr marL="68580" marR="68580" marT="0" marB="0" anchor="ctr"/>
                </a:tc>
                <a:tc>
                  <a:txBody>
                    <a:bodyPr/>
                    <a:lstStyle/>
                    <a:p>
                      <a:pPr algn="ctr">
                        <a:lnSpc>
                          <a:spcPts val="2400"/>
                        </a:lnSpc>
                        <a:spcAft>
                          <a:spcPts val="0"/>
                        </a:spcAft>
                      </a:pPr>
                      <a:r>
                        <a:rPr lang="zh-CN" sz="1600" b="1" dirty="0">
                          <a:effectLst/>
                          <a:latin typeface="微软雅黑" panose="020B0503020204020204" pitchFamily="34" charset="-122"/>
                          <a:ea typeface="微软雅黑" panose="020B0503020204020204" pitchFamily="34" charset="-122"/>
                        </a:rPr>
                        <a:t>二进制前缀</a:t>
                      </a:r>
                      <a:endParaRPr lang="zh-CN" sz="1600" b="1" dirty="0">
                        <a:solidFill>
                          <a:schemeClr val="bg1"/>
                        </a:solidFill>
                        <a:effectLst/>
                        <a:latin typeface="微软雅黑" pitchFamily="34" charset="-122"/>
                        <a:ea typeface="微软雅黑" pitchFamily="34" charset="-122"/>
                      </a:endParaRPr>
                    </a:p>
                  </a:txBody>
                  <a:tcPr marL="68580" marR="68580" marT="0" marB="0" anchor="ctr"/>
                </a:tc>
                <a:tc>
                  <a:txBody>
                    <a:bodyPr/>
                    <a:lstStyle/>
                    <a:p>
                      <a:pPr algn="ctr">
                        <a:lnSpc>
                          <a:spcPts val="2400"/>
                        </a:lnSpc>
                        <a:spcAft>
                          <a:spcPts val="0"/>
                        </a:spcAft>
                      </a:pPr>
                      <a:r>
                        <a:rPr lang="en-US" altLang="zh-CN" sz="1600" b="1" dirty="0" err="1">
                          <a:solidFill>
                            <a:schemeClr val="bg1"/>
                          </a:solidFill>
                          <a:latin typeface="微软雅黑" pitchFamily="34" charset="-122"/>
                          <a:ea typeface="微软雅黑" pitchFamily="34" charset="-122"/>
                        </a:rPr>
                        <a:t>IPv6</a:t>
                      </a:r>
                      <a:r>
                        <a:rPr lang="zh-CN" altLang="en-US" sz="1600" b="1" dirty="0">
                          <a:solidFill>
                            <a:schemeClr val="bg1"/>
                          </a:solidFill>
                          <a:latin typeface="微软雅黑" pitchFamily="34" charset="-122"/>
                          <a:ea typeface="微软雅黑" pitchFamily="34" charset="-122"/>
                        </a:rPr>
                        <a:t>记法</a:t>
                      </a:r>
                      <a:endParaRPr lang="zh-CN" sz="1600" b="1" dirty="0">
                        <a:solidFill>
                          <a:schemeClr val="bg1"/>
                        </a:solidFill>
                        <a:effectLst/>
                        <a:latin typeface="微软雅黑" pitchFamily="34" charset="-122"/>
                        <a:ea typeface="微软雅黑" pitchFamily="34" charset="-122"/>
                      </a:endParaRPr>
                    </a:p>
                  </a:txBody>
                  <a:tcPr marL="68580" marR="68580" marT="0" marB="0" anchor="ctr"/>
                </a:tc>
                <a:extLst>
                  <a:ext uri="{0D108BD9-81ED-4DB2-BD59-A6C34878D82A}">
                    <a16:rowId xmlns:a16="http://schemas.microsoft.com/office/drawing/2014/main" val="10000"/>
                  </a:ext>
                </a:extLst>
              </a:tr>
              <a:tr h="396471">
                <a:tc>
                  <a:txBody>
                    <a:bodyPr/>
                    <a:lstStyle/>
                    <a:p>
                      <a:pPr algn="just">
                        <a:lnSpc>
                          <a:spcPts val="2400"/>
                        </a:lnSpc>
                        <a:spcAft>
                          <a:spcPts val="0"/>
                        </a:spcAft>
                      </a:pPr>
                      <a:r>
                        <a:rPr lang="zh-CN" sz="1600" b="1" dirty="0">
                          <a:effectLst/>
                          <a:latin typeface="微软雅黑" panose="020B0503020204020204" pitchFamily="34" charset="-122"/>
                          <a:ea typeface="微软雅黑" panose="020B0503020204020204" pitchFamily="34" charset="-122"/>
                        </a:rPr>
                        <a:t>未指明地址</a:t>
                      </a:r>
                      <a:endParaRPr lang="zh-CN" sz="1600" b="1" dirty="0">
                        <a:solidFill>
                          <a:schemeClr val="tx1"/>
                        </a:solidFill>
                        <a:effectLst/>
                        <a:latin typeface="微软雅黑" pitchFamily="34" charset="-122"/>
                        <a:ea typeface="微软雅黑" pitchFamily="34" charset="-122"/>
                      </a:endParaRPr>
                    </a:p>
                  </a:txBody>
                  <a:tcPr marL="68580" marR="68580" marT="0" marB="0" anchor="ctr"/>
                </a:tc>
                <a:tc>
                  <a:txBody>
                    <a:bodyPr/>
                    <a:lstStyle/>
                    <a:p>
                      <a:pPr algn="just">
                        <a:lnSpc>
                          <a:spcPts val="2400"/>
                        </a:lnSpc>
                        <a:spcAft>
                          <a:spcPts val="0"/>
                        </a:spcAft>
                      </a:pPr>
                      <a:r>
                        <a:rPr lang="en-US" sz="1600" b="1" dirty="0">
                          <a:effectLst/>
                          <a:latin typeface="微软雅黑" panose="020B0503020204020204" pitchFamily="34" charset="-122"/>
                          <a:ea typeface="微软雅黑" panose="020B0503020204020204" pitchFamily="34" charset="-122"/>
                        </a:rPr>
                        <a:t>00…0</a:t>
                      </a:r>
                      <a:r>
                        <a:rPr lang="zh-CN" sz="1600" b="1" dirty="0">
                          <a:effectLst/>
                          <a:latin typeface="微软雅黑" panose="020B0503020204020204" pitchFamily="34" charset="-122"/>
                          <a:ea typeface="微软雅黑" panose="020B0503020204020204" pitchFamily="34" charset="-122"/>
                        </a:rPr>
                        <a:t>（</a:t>
                      </a:r>
                      <a:r>
                        <a:rPr lang="en-US" sz="1600" b="1" dirty="0">
                          <a:effectLst/>
                          <a:latin typeface="微软雅黑" panose="020B0503020204020204" pitchFamily="34" charset="-122"/>
                          <a:ea typeface="微软雅黑" panose="020B0503020204020204" pitchFamily="34" charset="-122"/>
                        </a:rPr>
                        <a:t>128</a:t>
                      </a:r>
                      <a:r>
                        <a:rPr lang="zh-CN" sz="1600" b="1" dirty="0">
                          <a:effectLst/>
                          <a:latin typeface="微软雅黑" panose="020B0503020204020204" pitchFamily="34" charset="-122"/>
                          <a:ea typeface="微软雅黑" panose="020B0503020204020204" pitchFamily="34" charset="-122"/>
                        </a:rPr>
                        <a:t>位），</a:t>
                      </a:r>
                      <a:r>
                        <a:rPr lang="zh-CN" altLang="en-US" sz="1600" b="1" dirty="0">
                          <a:solidFill>
                            <a:srgbClr val="C00000"/>
                          </a:solidFill>
                          <a:latin typeface="微软雅黑" pitchFamily="34" charset="-122"/>
                          <a:ea typeface="微软雅黑" pitchFamily="34" charset="-122"/>
                        </a:rPr>
                        <a:t>仅此一个</a:t>
                      </a:r>
                      <a:endParaRPr lang="zh-CN" sz="1600" b="1" dirty="0">
                        <a:solidFill>
                          <a:schemeClr val="tx1"/>
                        </a:solidFill>
                        <a:effectLst/>
                        <a:latin typeface="微软雅黑" pitchFamily="34" charset="-122"/>
                        <a:ea typeface="微软雅黑" pitchFamily="34" charset="-122"/>
                      </a:endParaRPr>
                    </a:p>
                  </a:txBody>
                  <a:tcPr marL="68580" marR="68580" marT="0" marB="0" anchor="ctr"/>
                </a:tc>
                <a:tc>
                  <a:txBody>
                    <a:bodyPr/>
                    <a:lstStyle/>
                    <a:p>
                      <a:pPr algn="just">
                        <a:lnSpc>
                          <a:spcPts val="2400"/>
                        </a:lnSpc>
                        <a:spcAft>
                          <a:spcPts val="0"/>
                        </a:spcAft>
                      </a:pPr>
                      <a:r>
                        <a:rPr lang="en-US" sz="1600" b="1" dirty="0">
                          <a:effectLst/>
                          <a:latin typeface="微软雅黑" panose="020B0503020204020204" pitchFamily="34" charset="-122"/>
                          <a:ea typeface="微软雅黑" panose="020B0503020204020204" pitchFamily="34" charset="-122"/>
                        </a:rPr>
                        <a:t>::/128</a:t>
                      </a:r>
                      <a:endParaRPr lang="zh-CN" sz="1600" b="1" dirty="0">
                        <a:solidFill>
                          <a:schemeClr val="tx1"/>
                        </a:solidFill>
                        <a:effectLst/>
                        <a:latin typeface="微软雅黑" pitchFamily="34" charset="-122"/>
                        <a:ea typeface="微软雅黑" pitchFamily="34" charset="-122"/>
                      </a:endParaRPr>
                    </a:p>
                  </a:txBody>
                  <a:tcPr marL="68580" marR="68580" marT="0" marB="0" anchor="ctr"/>
                </a:tc>
                <a:extLst>
                  <a:ext uri="{0D108BD9-81ED-4DB2-BD59-A6C34878D82A}">
                    <a16:rowId xmlns:a16="http://schemas.microsoft.com/office/drawing/2014/main" val="10001"/>
                  </a:ext>
                </a:extLst>
              </a:tr>
              <a:tr h="396471">
                <a:tc>
                  <a:txBody>
                    <a:bodyPr/>
                    <a:lstStyle/>
                    <a:p>
                      <a:pPr algn="just">
                        <a:lnSpc>
                          <a:spcPts val="2400"/>
                        </a:lnSpc>
                        <a:spcAft>
                          <a:spcPts val="0"/>
                        </a:spcAft>
                      </a:pPr>
                      <a:r>
                        <a:rPr lang="zh-CN" sz="1600" b="1" dirty="0">
                          <a:effectLst/>
                          <a:latin typeface="微软雅黑" panose="020B0503020204020204" pitchFamily="34" charset="-122"/>
                          <a:ea typeface="微软雅黑" panose="020B0503020204020204" pitchFamily="34" charset="-122"/>
                        </a:rPr>
                        <a:t>环回地址</a:t>
                      </a:r>
                      <a:endParaRPr lang="zh-CN" sz="1600" b="1" dirty="0">
                        <a:solidFill>
                          <a:schemeClr val="tx1"/>
                        </a:solidFill>
                        <a:effectLst/>
                        <a:latin typeface="微软雅黑" pitchFamily="34" charset="-122"/>
                        <a:ea typeface="微软雅黑" pitchFamily="34" charset="-122"/>
                      </a:endParaRPr>
                    </a:p>
                  </a:txBody>
                  <a:tcPr marL="68580" marR="68580" marT="0" marB="0" anchor="ctr"/>
                </a:tc>
                <a:tc>
                  <a:txBody>
                    <a:bodyPr/>
                    <a:lstStyle/>
                    <a:p>
                      <a:pPr algn="just">
                        <a:lnSpc>
                          <a:spcPts val="2400"/>
                        </a:lnSpc>
                        <a:spcAft>
                          <a:spcPts val="0"/>
                        </a:spcAft>
                      </a:pPr>
                      <a:r>
                        <a:rPr lang="en-US" sz="1600" b="1" dirty="0">
                          <a:effectLst/>
                          <a:latin typeface="微软雅黑" panose="020B0503020204020204" pitchFamily="34" charset="-122"/>
                          <a:ea typeface="微软雅黑" panose="020B0503020204020204" pitchFamily="34" charset="-122"/>
                        </a:rPr>
                        <a:t>00…1</a:t>
                      </a:r>
                      <a:r>
                        <a:rPr lang="zh-CN" sz="1600" b="1" dirty="0">
                          <a:effectLst/>
                          <a:latin typeface="微软雅黑" panose="020B0503020204020204" pitchFamily="34" charset="-122"/>
                          <a:ea typeface="微软雅黑" panose="020B0503020204020204" pitchFamily="34" charset="-122"/>
                        </a:rPr>
                        <a:t>（</a:t>
                      </a:r>
                      <a:r>
                        <a:rPr lang="en-US" sz="1600" b="1" dirty="0">
                          <a:effectLst/>
                          <a:latin typeface="微软雅黑" panose="020B0503020204020204" pitchFamily="34" charset="-122"/>
                          <a:ea typeface="微软雅黑" panose="020B0503020204020204" pitchFamily="34" charset="-122"/>
                        </a:rPr>
                        <a:t>128</a:t>
                      </a:r>
                      <a:r>
                        <a:rPr lang="zh-CN" sz="1600" b="1" dirty="0">
                          <a:effectLst/>
                          <a:latin typeface="微软雅黑" panose="020B0503020204020204" pitchFamily="34" charset="-122"/>
                          <a:ea typeface="微软雅黑" panose="020B0503020204020204" pitchFamily="34" charset="-122"/>
                        </a:rPr>
                        <a:t>位），</a:t>
                      </a:r>
                      <a:r>
                        <a:rPr lang="zh-CN" altLang="en-US" sz="1600" b="1" dirty="0">
                          <a:solidFill>
                            <a:srgbClr val="C00000"/>
                          </a:solidFill>
                          <a:latin typeface="微软雅黑" pitchFamily="34" charset="-122"/>
                          <a:ea typeface="微软雅黑" pitchFamily="34" charset="-122"/>
                        </a:rPr>
                        <a:t>仅此一个</a:t>
                      </a:r>
                      <a:endParaRPr lang="zh-CN" sz="1600" b="1" dirty="0">
                        <a:solidFill>
                          <a:schemeClr val="tx1"/>
                        </a:solidFill>
                        <a:effectLst/>
                        <a:latin typeface="微软雅黑" pitchFamily="34" charset="-122"/>
                        <a:ea typeface="微软雅黑" pitchFamily="34" charset="-122"/>
                      </a:endParaRPr>
                    </a:p>
                  </a:txBody>
                  <a:tcPr marL="68580" marR="68580" marT="0" marB="0" anchor="ctr"/>
                </a:tc>
                <a:tc>
                  <a:txBody>
                    <a:bodyPr/>
                    <a:lstStyle/>
                    <a:p>
                      <a:pPr algn="just">
                        <a:lnSpc>
                          <a:spcPts val="2400"/>
                        </a:lnSpc>
                        <a:spcAft>
                          <a:spcPts val="0"/>
                        </a:spcAft>
                      </a:pPr>
                      <a:r>
                        <a:rPr lang="en-US" sz="1600" b="1" dirty="0">
                          <a:effectLst/>
                          <a:latin typeface="微软雅黑" panose="020B0503020204020204" pitchFamily="34" charset="-122"/>
                          <a:ea typeface="微软雅黑" panose="020B0503020204020204" pitchFamily="34" charset="-122"/>
                        </a:rPr>
                        <a:t>::1/128</a:t>
                      </a:r>
                      <a:endParaRPr lang="zh-CN" sz="1600" b="1" dirty="0">
                        <a:solidFill>
                          <a:schemeClr val="tx1"/>
                        </a:solidFill>
                        <a:effectLst/>
                        <a:latin typeface="微软雅黑" pitchFamily="34" charset="-122"/>
                        <a:ea typeface="微软雅黑" pitchFamily="34" charset="-122"/>
                      </a:endParaRPr>
                    </a:p>
                  </a:txBody>
                  <a:tcPr marL="68580" marR="68580" marT="0" marB="0" anchor="ctr"/>
                </a:tc>
                <a:extLst>
                  <a:ext uri="{0D108BD9-81ED-4DB2-BD59-A6C34878D82A}">
                    <a16:rowId xmlns:a16="http://schemas.microsoft.com/office/drawing/2014/main" val="10002"/>
                  </a:ext>
                </a:extLst>
              </a:tr>
              <a:tr h="396471">
                <a:tc>
                  <a:txBody>
                    <a:bodyPr/>
                    <a:lstStyle/>
                    <a:p>
                      <a:pPr algn="just">
                        <a:lnSpc>
                          <a:spcPts val="2400"/>
                        </a:lnSpc>
                        <a:spcAft>
                          <a:spcPts val="0"/>
                        </a:spcAft>
                      </a:pPr>
                      <a:r>
                        <a:rPr lang="zh-CN" sz="1600" b="1" dirty="0">
                          <a:effectLst/>
                          <a:latin typeface="微软雅黑" panose="020B0503020204020204" pitchFamily="34" charset="-122"/>
                          <a:ea typeface="微软雅黑" panose="020B0503020204020204" pitchFamily="34" charset="-122"/>
                        </a:rPr>
                        <a:t>多播地址</a:t>
                      </a:r>
                      <a:endParaRPr lang="zh-CN" sz="1600" b="1" dirty="0">
                        <a:solidFill>
                          <a:schemeClr val="tx1"/>
                        </a:solidFill>
                        <a:effectLst/>
                        <a:latin typeface="微软雅黑" pitchFamily="34" charset="-122"/>
                        <a:ea typeface="微软雅黑" pitchFamily="34" charset="-122"/>
                      </a:endParaRPr>
                    </a:p>
                  </a:txBody>
                  <a:tcPr marL="68580" marR="68580" marT="0" marB="0" anchor="ctr"/>
                </a:tc>
                <a:tc>
                  <a:txBody>
                    <a:bodyPr/>
                    <a:lstStyle/>
                    <a:p>
                      <a:pPr marL="0" marR="0" indent="0" algn="just" defTabSz="914400" rtl="0" eaLnBrk="1" fontAlgn="auto" latinLnBrk="0" hangingPunct="1">
                        <a:lnSpc>
                          <a:spcPts val="2400"/>
                        </a:lnSpc>
                        <a:spcBef>
                          <a:spcPts val="0"/>
                        </a:spcBef>
                        <a:spcAft>
                          <a:spcPts val="0"/>
                        </a:spcAft>
                        <a:buClrTx/>
                        <a:buSzTx/>
                        <a:buFontTx/>
                        <a:buNone/>
                        <a:tabLst/>
                        <a:defRPr/>
                      </a:pPr>
                      <a:r>
                        <a:rPr lang="en-US" sz="1600" b="1" dirty="0">
                          <a:effectLst/>
                          <a:latin typeface="微软雅黑" panose="020B0503020204020204" pitchFamily="34" charset="-122"/>
                          <a:ea typeface="微软雅黑" panose="020B0503020204020204" pitchFamily="34" charset="-122"/>
                        </a:rPr>
                        <a:t>11111111</a:t>
                      </a:r>
                      <a:r>
                        <a:rPr lang="zh-CN" sz="1600" b="1" dirty="0">
                          <a:effectLst/>
                          <a:latin typeface="微软雅黑" panose="020B0503020204020204" pitchFamily="34" charset="-122"/>
                          <a:ea typeface="微软雅黑" panose="020B0503020204020204" pitchFamily="34" charset="-122"/>
                        </a:rPr>
                        <a:t>（</a:t>
                      </a:r>
                      <a:r>
                        <a:rPr lang="en-US" sz="1600" b="1" dirty="0">
                          <a:effectLst/>
                          <a:latin typeface="微软雅黑" panose="020B0503020204020204" pitchFamily="34" charset="-122"/>
                          <a:ea typeface="微软雅黑" panose="020B0503020204020204" pitchFamily="34" charset="-122"/>
                        </a:rPr>
                        <a:t>8</a:t>
                      </a:r>
                      <a:r>
                        <a:rPr lang="zh-CN" sz="1600" b="1" dirty="0">
                          <a:effectLst/>
                          <a:latin typeface="微软雅黑" panose="020B0503020204020204" pitchFamily="34" charset="-122"/>
                          <a:ea typeface="微软雅黑" panose="020B0503020204020204" pitchFamily="34" charset="-122"/>
                        </a:rPr>
                        <a:t>位），</a:t>
                      </a:r>
                      <a:r>
                        <a:rPr lang="zh-CN" altLang="en-US" sz="1600" b="1" kern="1200" dirty="0">
                          <a:solidFill>
                            <a:srgbClr val="C00000"/>
                          </a:solidFill>
                          <a:latin typeface="微软雅黑" pitchFamily="34" charset="-122"/>
                          <a:ea typeface="微软雅黑" pitchFamily="34" charset="-122"/>
                          <a:cs typeface="+mn-cs"/>
                        </a:rPr>
                        <a:t>功能和 </a:t>
                      </a:r>
                      <a:r>
                        <a:rPr lang="en-US" altLang="zh-CN" sz="1600" b="1" kern="1200" dirty="0" err="1">
                          <a:solidFill>
                            <a:srgbClr val="C00000"/>
                          </a:solidFill>
                          <a:latin typeface="微软雅黑" pitchFamily="34" charset="-122"/>
                          <a:ea typeface="微软雅黑" pitchFamily="34" charset="-122"/>
                          <a:cs typeface="+mn-cs"/>
                        </a:rPr>
                        <a:t>IPv4</a:t>
                      </a:r>
                      <a:r>
                        <a:rPr lang="en-US" altLang="zh-CN" sz="1600" b="1" kern="1200" dirty="0">
                          <a:solidFill>
                            <a:srgbClr val="C00000"/>
                          </a:solidFill>
                          <a:latin typeface="微软雅黑" pitchFamily="34" charset="-122"/>
                          <a:ea typeface="微软雅黑" pitchFamily="34" charset="-122"/>
                          <a:cs typeface="+mn-cs"/>
                        </a:rPr>
                        <a:t> </a:t>
                      </a:r>
                      <a:r>
                        <a:rPr lang="zh-CN" altLang="en-US" sz="1600" b="1" kern="1200" dirty="0">
                          <a:solidFill>
                            <a:srgbClr val="C00000"/>
                          </a:solidFill>
                          <a:latin typeface="微软雅黑" pitchFamily="34" charset="-122"/>
                          <a:ea typeface="微软雅黑" pitchFamily="34" charset="-122"/>
                          <a:cs typeface="+mn-cs"/>
                        </a:rPr>
                        <a:t>的一样</a:t>
                      </a:r>
                    </a:p>
                  </a:txBody>
                  <a:tcPr marL="68580" marR="68580" marT="0" marB="0" anchor="ctr"/>
                </a:tc>
                <a:tc>
                  <a:txBody>
                    <a:bodyPr/>
                    <a:lstStyle/>
                    <a:p>
                      <a:pPr marL="0" marR="0" indent="0" algn="just" defTabSz="914400" rtl="0" eaLnBrk="1" fontAlgn="auto" latinLnBrk="0" hangingPunct="1">
                        <a:lnSpc>
                          <a:spcPts val="2400"/>
                        </a:lnSpc>
                        <a:spcBef>
                          <a:spcPts val="0"/>
                        </a:spcBef>
                        <a:spcAft>
                          <a:spcPts val="0"/>
                        </a:spcAft>
                        <a:buClrTx/>
                        <a:buSzTx/>
                        <a:buFontTx/>
                        <a:buNone/>
                        <a:tabLst/>
                        <a:defRPr/>
                      </a:pPr>
                      <a:r>
                        <a:rPr lang="en-US" sz="1600" b="1" dirty="0" err="1">
                          <a:effectLst/>
                          <a:latin typeface="微软雅黑" panose="020B0503020204020204" pitchFamily="34" charset="-122"/>
                          <a:ea typeface="微软雅黑" panose="020B0503020204020204" pitchFamily="34" charset="-122"/>
                        </a:rPr>
                        <a:t>FF00</a:t>
                      </a:r>
                      <a:r>
                        <a:rPr lang="en-US" sz="1600" b="1" dirty="0">
                          <a:effectLst/>
                          <a:latin typeface="微软雅黑" panose="020B0503020204020204" pitchFamily="34" charset="-122"/>
                          <a:ea typeface="微软雅黑" panose="020B0503020204020204" pitchFamily="34" charset="-122"/>
                        </a:rPr>
                        <a:t>::/8</a:t>
                      </a:r>
                      <a:endParaRPr lang="zh-CN" altLang="en-US" sz="1600" b="1" kern="1200" dirty="0">
                        <a:solidFill>
                          <a:srgbClr val="C00000"/>
                        </a:solidFill>
                        <a:latin typeface="微软雅黑" pitchFamily="34" charset="-122"/>
                        <a:ea typeface="微软雅黑" pitchFamily="34" charset="-122"/>
                        <a:cs typeface="+mn-cs"/>
                      </a:endParaRPr>
                    </a:p>
                  </a:txBody>
                  <a:tcPr marL="68580" marR="68580" marT="0" marB="0" anchor="ctr"/>
                </a:tc>
                <a:extLst>
                  <a:ext uri="{0D108BD9-81ED-4DB2-BD59-A6C34878D82A}">
                    <a16:rowId xmlns:a16="http://schemas.microsoft.com/office/drawing/2014/main" val="10003"/>
                  </a:ext>
                </a:extLst>
              </a:tr>
              <a:tr h="396471">
                <a:tc>
                  <a:txBody>
                    <a:bodyPr/>
                    <a:lstStyle/>
                    <a:p>
                      <a:pPr algn="just">
                        <a:lnSpc>
                          <a:spcPts val="2400"/>
                        </a:lnSpc>
                        <a:spcAft>
                          <a:spcPts val="0"/>
                        </a:spcAft>
                      </a:pPr>
                      <a:r>
                        <a:rPr lang="zh-CN" sz="1600" b="1" dirty="0">
                          <a:effectLst/>
                          <a:latin typeface="微软雅黑" panose="020B0503020204020204" pitchFamily="34" charset="-122"/>
                          <a:ea typeface="微软雅黑" panose="020B0503020204020204" pitchFamily="34" charset="-122"/>
                        </a:rPr>
                        <a:t>本地链路单播地址</a:t>
                      </a:r>
                      <a:endParaRPr lang="zh-CN" sz="1600" b="1" dirty="0">
                        <a:solidFill>
                          <a:schemeClr val="tx1"/>
                        </a:solidFill>
                        <a:effectLst/>
                        <a:latin typeface="微软雅黑" pitchFamily="34" charset="-122"/>
                        <a:ea typeface="微软雅黑" pitchFamily="34" charset="-122"/>
                      </a:endParaRPr>
                    </a:p>
                  </a:txBody>
                  <a:tcPr marL="68580" marR="68580" marT="0" marB="0" anchor="ctr"/>
                </a:tc>
                <a:tc>
                  <a:txBody>
                    <a:bodyPr/>
                    <a:lstStyle/>
                    <a:p>
                      <a:pPr algn="just">
                        <a:lnSpc>
                          <a:spcPts val="2400"/>
                        </a:lnSpc>
                        <a:spcAft>
                          <a:spcPts val="0"/>
                        </a:spcAft>
                      </a:pPr>
                      <a:r>
                        <a:rPr lang="en-US" sz="1600" b="1" dirty="0">
                          <a:effectLst/>
                          <a:latin typeface="微软雅黑" panose="020B0503020204020204" pitchFamily="34" charset="-122"/>
                          <a:ea typeface="微软雅黑" panose="020B0503020204020204" pitchFamily="34" charset="-122"/>
                        </a:rPr>
                        <a:t>1111111010</a:t>
                      </a:r>
                      <a:r>
                        <a:rPr lang="zh-CN" sz="1600" b="1" dirty="0">
                          <a:effectLst/>
                          <a:latin typeface="微软雅黑" panose="020B0503020204020204" pitchFamily="34" charset="-122"/>
                          <a:ea typeface="微软雅黑" panose="020B0503020204020204" pitchFamily="34" charset="-122"/>
                        </a:rPr>
                        <a:t>（</a:t>
                      </a:r>
                      <a:r>
                        <a:rPr lang="en-US" sz="1600" b="1" dirty="0">
                          <a:effectLst/>
                          <a:latin typeface="微软雅黑" panose="020B0503020204020204" pitchFamily="34" charset="-122"/>
                          <a:ea typeface="微软雅黑" panose="020B0503020204020204" pitchFamily="34" charset="-122"/>
                        </a:rPr>
                        <a:t>10</a:t>
                      </a:r>
                      <a:r>
                        <a:rPr lang="zh-CN" sz="1600" b="1" dirty="0">
                          <a:effectLst/>
                          <a:latin typeface="微软雅黑" panose="020B0503020204020204" pitchFamily="34" charset="-122"/>
                          <a:ea typeface="微软雅黑" panose="020B0503020204020204" pitchFamily="34" charset="-122"/>
                        </a:rPr>
                        <a:t>位）</a:t>
                      </a:r>
                      <a:r>
                        <a:rPr lang="en-US" sz="1600" b="1" dirty="0">
                          <a:effectLst/>
                          <a:latin typeface="微软雅黑" panose="020B0503020204020204" pitchFamily="34" charset="-122"/>
                          <a:ea typeface="微软雅黑" panose="020B0503020204020204" pitchFamily="34" charset="-122"/>
                        </a:rPr>
                        <a:t>, </a:t>
                      </a:r>
                      <a:r>
                        <a:rPr lang="zh-CN" altLang="en-US" sz="1600" b="1" dirty="0">
                          <a:solidFill>
                            <a:srgbClr val="C00000"/>
                          </a:solidFill>
                          <a:latin typeface="微软雅黑" pitchFamily="34" charset="-122"/>
                          <a:ea typeface="微软雅黑" pitchFamily="34" charset="-122"/>
                        </a:rPr>
                        <a:t>未连接到互联网，不能和互联网上的其他主机通信</a:t>
                      </a:r>
                    </a:p>
                  </a:txBody>
                  <a:tcPr marL="68580" marR="68580" marT="0" marB="0" anchor="ctr"/>
                </a:tc>
                <a:tc>
                  <a:txBody>
                    <a:bodyPr/>
                    <a:lstStyle/>
                    <a:p>
                      <a:pPr algn="just">
                        <a:lnSpc>
                          <a:spcPts val="2400"/>
                        </a:lnSpc>
                        <a:spcAft>
                          <a:spcPts val="0"/>
                        </a:spcAft>
                      </a:pPr>
                      <a:r>
                        <a:rPr lang="en-US" sz="1600" b="1" dirty="0" err="1">
                          <a:effectLst/>
                          <a:latin typeface="微软雅黑" panose="020B0503020204020204" pitchFamily="34" charset="-122"/>
                          <a:ea typeface="微软雅黑" panose="020B0503020204020204" pitchFamily="34" charset="-122"/>
                        </a:rPr>
                        <a:t>FE80</a:t>
                      </a:r>
                      <a:r>
                        <a:rPr lang="en-US" sz="1600" b="1" dirty="0">
                          <a:effectLst/>
                          <a:latin typeface="微软雅黑" panose="020B0503020204020204" pitchFamily="34" charset="-122"/>
                          <a:ea typeface="微软雅黑" panose="020B0503020204020204" pitchFamily="34" charset="-122"/>
                        </a:rPr>
                        <a:t>::/10</a:t>
                      </a:r>
                      <a:endParaRPr lang="zh-CN" altLang="en-US" sz="1600" b="1" dirty="0">
                        <a:solidFill>
                          <a:srgbClr val="C00000"/>
                        </a:solidFill>
                        <a:latin typeface="微软雅黑" pitchFamily="34" charset="-122"/>
                        <a:ea typeface="微软雅黑" pitchFamily="34" charset="-122"/>
                      </a:endParaRPr>
                    </a:p>
                  </a:txBody>
                  <a:tcPr marL="68580" marR="68580" marT="0" marB="0" anchor="ctr"/>
                </a:tc>
                <a:extLst>
                  <a:ext uri="{0D108BD9-81ED-4DB2-BD59-A6C34878D82A}">
                    <a16:rowId xmlns:a16="http://schemas.microsoft.com/office/drawing/2014/main" val="10004"/>
                  </a:ext>
                </a:extLst>
              </a:tr>
              <a:tr h="396471">
                <a:tc>
                  <a:txBody>
                    <a:bodyPr/>
                    <a:lstStyle/>
                    <a:p>
                      <a:pPr algn="just">
                        <a:lnSpc>
                          <a:spcPts val="2400"/>
                        </a:lnSpc>
                        <a:spcAft>
                          <a:spcPts val="0"/>
                        </a:spcAft>
                      </a:pPr>
                      <a:r>
                        <a:rPr lang="zh-CN" sz="1600" b="1">
                          <a:effectLst/>
                          <a:latin typeface="微软雅黑" panose="020B0503020204020204" pitchFamily="34" charset="-122"/>
                          <a:ea typeface="微软雅黑" panose="020B0503020204020204" pitchFamily="34" charset="-122"/>
                        </a:rPr>
                        <a:t>全球单播地址</a:t>
                      </a:r>
                      <a:endParaRPr lang="zh-CN" sz="1600" b="1">
                        <a:solidFill>
                          <a:schemeClr val="tx1"/>
                        </a:solidFill>
                        <a:effectLst/>
                        <a:latin typeface="微软雅黑" pitchFamily="34" charset="-122"/>
                        <a:ea typeface="微软雅黑" pitchFamily="34" charset="-122"/>
                      </a:endParaRPr>
                    </a:p>
                  </a:txBody>
                  <a:tcPr marL="68580" marR="68580" marT="0" marB="0" anchor="ctr"/>
                </a:tc>
                <a:tc gridSpan="2">
                  <a:txBody>
                    <a:bodyPr/>
                    <a:lstStyle/>
                    <a:p>
                      <a:pPr algn="just">
                        <a:lnSpc>
                          <a:spcPts val="2400"/>
                        </a:lnSpc>
                        <a:spcAft>
                          <a:spcPts val="0"/>
                        </a:spcAft>
                      </a:pPr>
                      <a:r>
                        <a:rPr lang="zh-CN" sz="1600" b="1" dirty="0">
                          <a:effectLst/>
                          <a:latin typeface="微软雅黑" panose="020B0503020204020204" pitchFamily="34" charset="-122"/>
                          <a:ea typeface="微软雅黑" panose="020B0503020204020204" pitchFamily="34" charset="-122"/>
                        </a:rPr>
                        <a:t>除上述四种外，所有其他的二进制前缀</a:t>
                      </a:r>
                      <a:endParaRPr lang="zh-CN" sz="1600" b="1" dirty="0">
                        <a:solidFill>
                          <a:schemeClr val="tx1"/>
                        </a:solidFill>
                        <a:effectLst/>
                        <a:latin typeface="微软雅黑" pitchFamily="34" charset="-122"/>
                        <a:ea typeface="微软雅黑" pitchFamily="34" charset="-122"/>
                      </a:endParaRPr>
                    </a:p>
                  </a:txBody>
                  <a:tcPr marL="68580" marR="68580" marT="0" marB="0" anchor="ctr"/>
                </a:tc>
                <a:tc hMerge="1">
                  <a:txBody>
                    <a:bodyPr/>
                    <a:lstStyle/>
                    <a:p>
                      <a:pPr algn="just">
                        <a:lnSpc>
                          <a:spcPts val="2400"/>
                        </a:lnSpc>
                        <a:spcAft>
                          <a:spcPts val="0"/>
                        </a:spcAft>
                      </a:pPr>
                      <a:endParaRPr lang="zh-CN" sz="1600" b="1" dirty="0">
                        <a:solidFill>
                          <a:schemeClr val="tx1"/>
                        </a:solidFill>
                        <a:effectLst/>
                        <a:latin typeface="微软雅黑" pitchFamily="34" charset="-122"/>
                        <a:ea typeface="微软雅黑" pitchFamily="34" charset="-122"/>
                      </a:endParaRPr>
                    </a:p>
                  </a:txBody>
                  <a:tcPr marL="68580" marR="68580" marT="0" marB="0" anchor="ctr"/>
                </a:tc>
                <a:extLst>
                  <a:ext uri="{0D108BD9-81ED-4DB2-BD59-A6C34878D82A}">
                    <a16:rowId xmlns:a16="http://schemas.microsoft.com/office/drawing/2014/main" val="10005"/>
                  </a:ext>
                </a:extLst>
              </a:tr>
            </a:tbl>
          </a:graphicData>
        </a:graphic>
      </p:graphicFrame>
    </p:spTree>
    <p:extLst>
      <p:ext uri="{BB962C8B-B14F-4D97-AF65-F5344CB8AC3E}">
        <p14:creationId xmlns:p14="http://schemas.microsoft.com/office/powerpoint/2010/main" val="383675651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圆角矩形 21"/>
          <p:cNvSpPr/>
          <p:nvPr/>
        </p:nvSpPr>
        <p:spPr>
          <a:xfrm>
            <a:off x="545145" y="1208139"/>
            <a:ext cx="8053710" cy="181215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45145" y="625385"/>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92174"/>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IPv6 </a:t>
            </a:r>
            <a:r>
              <a:rPr lang="zh-CN" altLang="en-US" sz="2000" b="1" dirty="0">
                <a:solidFill>
                  <a:schemeClr val="bg1"/>
                </a:solidFill>
                <a:latin typeface="微软雅黑" pitchFamily="34" charset="-122"/>
                <a:ea typeface="微软雅黑" pitchFamily="34" charset="-122"/>
              </a:rPr>
              <a:t>单播地址的划分方法</a:t>
            </a:r>
          </a:p>
        </p:txBody>
      </p:sp>
      <p:grpSp>
        <p:nvGrpSpPr>
          <p:cNvPr id="23" name="组合 22"/>
          <p:cNvGrpSpPr/>
          <p:nvPr/>
        </p:nvGrpSpPr>
        <p:grpSpPr>
          <a:xfrm>
            <a:off x="998507" y="1410676"/>
            <a:ext cx="7174153" cy="1390651"/>
            <a:chOff x="933855" y="1761657"/>
            <a:chExt cx="7174153" cy="1390651"/>
          </a:xfrm>
        </p:grpSpPr>
        <p:sp>
          <p:nvSpPr>
            <p:cNvPr id="6" name="Rectangle 2"/>
            <p:cNvSpPr>
              <a:spLocks noChangeArrowheads="1"/>
            </p:cNvSpPr>
            <p:nvPr/>
          </p:nvSpPr>
          <p:spPr bwMode="auto">
            <a:xfrm>
              <a:off x="933855" y="2806529"/>
              <a:ext cx="7172653" cy="335566"/>
            </a:xfrm>
            <a:prstGeom prst="rect">
              <a:avLst/>
            </a:prstGeom>
            <a:solidFill>
              <a:srgbClr val="0000FF"/>
            </a:solidFill>
            <a:ln w="19050">
              <a:solidFill>
                <a:schemeClr val="tx1"/>
              </a:solidFill>
              <a:miter lim="800000"/>
              <a:headEnd/>
              <a:tailEnd/>
            </a:ln>
            <a:effectLst/>
          </p:spPr>
          <p:txBody>
            <a:bodyPr wrap="none" anchor="ctr"/>
            <a:lstStyle/>
            <a:p>
              <a:pPr>
                <a:defRPr/>
              </a:pPr>
              <a:endParaRPr lang="zh-CN" altLang="en-US" sz="1400" b="1" dirty="0">
                <a:solidFill>
                  <a:srgbClr val="000099"/>
                </a:solidFill>
                <a:latin typeface="微软雅黑" pitchFamily="34" charset="-122"/>
                <a:ea typeface="微软雅黑" pitchFamily="34" charset="-122"/>
              </a:endParaRPr>
            </a:p>
          </p:txBody>
        </p:sp>
        <p:sp>
          <p:nvSpPr>
            <p:cNvPr id="7" name="Rectangle 110"/>
            <p:cNvSpPr>
              <a:spLocks noChangeArrowheads="1"/>
            </p:cNvSpPr>
            <p:nvPr/>
          </p:nvSpPr>
          <p:spPr bwMode="auto">
            <a:xfrm>
              <a:off x="5504730" y="2837799"/>
              <a:ext cx="2603278" cy="30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pPr algn="ctr" defTabSz="762000"/>
              <a:r>
                <a:rPr lang="zh-CN" altLang="en-US" sz="1400" b="1" dirty="0">
                  <a:solidFill>
                    <a:schemeClr val="bg1"/>
                  </a:solidFill>
                  <a:latin typeface="微软雅黑" pitchFamily="34" charset="-122"/>
                  <a:ea typeface="微软雅黑" pitchFamily="34" charset="-122"/>
                </a:rPr>
                <a:t>接口标识符</a:t>
              </a:r>
              <a:r>
                <a:rPr lang="en-US" altLang="zh-CN" sz="1400" b="1" dirty="0">
                  <a:solidFill>
                    <a:schemeClr val="bg1"/>
                  </a:solidFill>
                  <a:latin typeface="微软雅黑" pitchFamily="34" charset="-122"/>
                  <a:ea typeface="微软雅黑" pitchFamily="34" charset="-122"/>
                </a:rPr>
                <a:t>(128 – </a:t>
              </a:r>
              <a:r>
                <a:rPr lang="en-US" altLang="zh-CN" sz="1400" b="1" i="1" dirty="0">
                  <a:solidFill>
                    <a:schemeClr val="bg1"/>
                  </a:solidFill>
                  <a:latin typeface="微软雅黑" pitchFamily="34" charset="-122"/>
                  <a:ea typeface="微软雅黑" pitchFamily="34" charset="-122"/>
                </a:rPr>
                <a:t>n</a:t>
              </a:r>
              <a:r>
                <a:rPr lang="en-US" altLang="zh-CN" sz="1400" b="1" dirty="0">
                  <a:solidFill>
                    <a:schemeClr val="bg1"/>
                  </a:solidFill>
                  <a:latin typeface="微软雅黑" pitchFamily="34" charset="-122"/>
                  <a:ea typeface="微软雅黑" pitchFamily="34" charset="-122"/>
                </a:rPr>
                <a:t> – </a:t>
              </a:r>
              <a:r>
                <a:rPr lang="en-US" altLang="zh-CN" sz="1400" b="1" i="1" dirty="0">
                  <a:solidFill>
                    <a:schemeClr val="bg1"/>
                  </a:solidFill>
                  <a:latin typeface="微软雅黑" pitchFamily="34" charset="-122"/>
                  <a:ea typeface="微软雅黑" pitchFamily="34" charset="-122"/>
                </a:rPr>
                <a:t>m</a:t>
              </a:r>
              <a:r>
                <a:rPr lang="en-US" altLang="zh-CN" sz="1400" b="1" dirty="0">
                  <a:solidFill>
                    <a:schemeClr val="bg1"/>
                  </a:solidFill>
                  <a:latin typeface="微软雅黑" pitchFamily="34" charset="-122"/>
                  <a:ea typeface="微软雅黑" pitchFamily="34" charset="-122"/>
                </a:rPr>
                <a:t> ) bit</a:t>
              </a:r>
              <a:endParaRPr lang="zh-CN" altLang="en-US" sz="1400" b="1" dirty="0">
                <a:solidFill>
                  <a:schemeClr val="bg1"/>
                </a:solidFill>
                <a:latin typeface="微软雅黑" pitchFamily="34" charset="-122"/>
                <a:ea typeface="微软雅黑" pitchFamily="34" charset="-122"/>
              </a:endParaRPr>
            </a:p>
          </p:txBody>
        </p:sp>
        <p:sp>
          <p:nvSpPr>
            <p:cNvPr id="8" name="Line 165"/>
            <p:cNvSpPr>
              <a:spLocks noChangeShapeType="1"/>
            </p:cNvSpPr>
            <p:nvPr/>
          </p:nvSpPr>
          <p:spPr bwMode="auto">
            <a:xfrm>
              <a:off x="3664655" y="2806529"/>
              <a:ext cx="1435" cy="345779"/>
            </a:xfrm>
            <a:prstGeom prst="line">
              <a:avLst/>
            </a:prstGeom>
            <a:noFill/>
            <a:ln w="12700">
              <a:solidFill>
                <a:srgbClr val="FFC000"/>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 name="Line 166"/>
            <p:cNvSpPr>
              <a:spLocks noChangeShapeType="1"/>
            </p:cNvSpPr>
            <p:nvPr/>
          </p:nvSpPr>
          <p:spPr bwMode="auto">
            <a:xfrm>
              <a:off x="5552120" y="2806529"/>
              <a:ext cx="0" cy="341402"/>
            </a:xfrm>
            <a:prstGeom prst="line">
              <a:avLst/>
            </a:prstGeom>
            <a:noFill/>
            <a:ln w="12700">
              <a:solidFill>
                <a:srgbClr val="FFC000"/>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 name="Rectangle 2"/>
            <p:cNvSpPr>
              <a:spLocks noChangeArrowheads="1"/>
            </p:cNvSpPr>
            <p:nvPr/>
          </p:nvSpPr>
          <p:spPr bwMode="auto">
            <a:xfrm>
              <a:off x="933855" y="2294550"/>
              <a:ext cx="7172653" cy="335566"/>
            </a:xfrm>
            <a:prstGeom prst="rect">
              <a:avLst/>
            </a:prstGeom>
            <a:solidFill>
              <a:srgbClr val="0000FF"/>
            </a:solidFill>
            <a:ln w="19050">
              <a:solidFill>
                <a:schemeClr val="tx1"/>
              </a:solidFill>
              <a:miter lim="800000"/>
              <a:headEnd/>
              <a:tailEnd/>
            </a:ln>
            <a:effectLst/>
          </p:spPr>
          <p:txBody>
            <a:bodyPr wrap="none" anchor="ctr"/>
            <a:lstStyle/>
            <a:p>
              <a:pPr>
                <a:defRPr/>
              </a:pPr>
              <a:endParaRPr lang="zh-CN" altLang="en-US" sz="1400" b="1">
                <a:solidFill>
                  <a:srgbClr val="000099"/>
                </a:solidFill>
                <a:latin typeface="微软雅黑" pitchFamily="34" charset="-122"/>
                <a:ea typeface="微软雅黑" pitchFamily="34" charset="-122"/>
              </a:endParaRPr>
            </a:p>
          </p:txBody>
        </p:sp>
        <p:sp>
          <p:nvSpPr>
            <p:cNvPr id="11" name="Rectangle 2"/>
            <p:cNvSpPr>
              <a:spLocks noChangeArrowheads="1"/>
            </p:cNvSpPr>
            <p:nvPr/>
          </p:nvSpPr>
          <p:spPr bwMode="auto">
            <a:xfrm>
              <a:off x="933855" y="1774261"/>
              <a:ext cx="7172653" cy="335566"/>
            </a:xfrm>
            <a:prstGeom prst="rect">
              <a:avLst/>
            </a:prstGeom>
            <a:solidFill>
              <a:srgbClr val="00FFFF"/>
            </a:solidFill>
            <a:ln w="19050">
              <a:solidFill>
                <a:schemeClr val="tx1"/>
              </a:solidFill>
              <a:miter lim="800000"/>
              <a:headEnd/>
              <a:tailEnd/>
            </a:ln>
            <a:effectLst/>
          </p:spPr>
          <p:txBody>
            <a:bodyPr wrap="none" anchor="ctr"/>
            <a:lstStyle/>
            <a:p>
              <a:pPr>
                <a:defRPr/>
              </a:pPr>
              <a:endParaRPr lang="zh-CN" altLang="en-US" sz="1400" b="1">
                <a:solidFill>
                  <a:srgbClr val="000099"/>
                </a:solidFill>
                <a:latin typeface="微软雅黑" pitchFamily="34" charset="-122"/>
                <a:ea typeface="微软雅黑" pitchFamily="34" charset="-122"/>
              </a:endParaRPr>
            </a:p>
          </p:txBody>
        </p:sp>
        <p:sp>
          <p:nvSpPr>
            <p:cNvPr id="12" name="Rectangle 126"/>
            <p:cNvSpPr>
              <a:spLocks noChangeArrowheads="1"/>
            </p:cNvSpPr>
            <p:nvPr/>
          </p:nvSpPr>
          <p:spPr bwMode="auto">
            <a:xfrm>
              <a:off x="2660076" y="1761657"/>
              <a:ext cx="3879272" cy="3359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90488" tIns="44450" rIns="90488" bIns="44450">
              <a:spAutoFit/>
            </a:bodyPr>
            <a:lstStyle/>
            <a:p>
              <a:pPr algn="ctr" defTabSz="762000"/>
              <a:r>
                <a:rPr lang="zh-CN" altLang="en-US" sz="1600" b="1" dirty="0">
                  <a:latin typeface="微软雅黑" pitchFamily="34" charset="-122"/>
                  <a:ea typeface="微软雅黑" pitchFamily="34" charset="-122"/>
                </a:rPr>
                <a:t>节 点 地 址 </a:t>
              </a:r>
              <a:r>
                <a:rPr lang="en-US" altLang="zh-CN" sz="1600" b="1" dirty="0">
                  <a:latin typeface="微软雅黑" pitchFamily="34" charset="-122"/>
                  <a:ea typeface="微软雅黑" pitchFamily="34" charset="-122"/>
                </a:rPr>
                <a:t>(128 bit)</a:t>
              </a:r>
              <a:endParaRPr lang="zh-CN" altLang="en-US" sz="1600" b="1" dirty="0">
                <a:latin typeface="微软雅黑" pitchFamily="34" charset="-122"/>
                <a:ea typeface="微软雅黑" pitchFamily="34" charset="-122"/>
              </a:endParaRPr>
            </a:p>
          </p:txBody>
        </p:sp>
        <p:sp>
          <p:nvSpPr>
            <p:cNvPr id="13" name="Line 166"/>
            <p:cNvSpPr>
              <a:spLocks noChangeShapeType="1"/>
            </p:cNvSpPr>
            <p:nvPr/>
          </p:nvSpPr>
          <p:spPr bwMode="auto">
            <a:xfrm>
              <a:off x="4788632" y="2294550"/>
              <a:ext cx="0" cy="341402"/>
            </a:xfrm>
            <a:prstGeom prst="line">
              <a:avLst/>
            </a:prstGeom>
            <a:noFill/>
            <a:ln w="12700">
              <a:solidFill>
                <a:srgbClr val="FFC000"/>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4" name="Rectangle 110"/>
            <p:cNvSpPr>
              <a:spLocks noChangeArrowheads="1"/>
            </p:cNvSpPr>
            <p:nvPr/>
          </p:nvSpPr>
          <p:spPr bwMode="auto">
            <a:xfrm>
              <a:off x="5293811" y="2321286"/>
              <a:ext cx="2277868" cy="30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pPr algn="ctr" defTabSz="762000"/>
              <a:r>
                <a:rPr lang="zh-CN" altLang="en-US" sz="1400" b="1" dirty="0">
                  <a:solidFill>
                    <a:schemeClr val="bg1"/>
                  </a:solidFill>
                  <a:latin typeface="微软雅黑" pitchFamily="34" charset="-122"/>
                  <a:ea typeface="微软雅黑" pitchFamily="34" charset="-122"/>
                </a:rPr>
                <a:t>接口标识符 </a:t>
              </a:r>
              <a:r>
                <a:rPr lang="en-US" altLang="zh-CN" sz="1400" b="1" dirty="0">
                  <a:solidFill>
                    <a:schemeClr val="bg1"/>
                  </a:solidFill>
                  <a:latin typeface="微软雅黑" pitchFamily="34" charset="-122"/>
                  <a:ea typeface="微软雅黑" pitchFamily="34" charset="-122"/>
                </a:rPr>
                <a:t>(128 – </a:t>
              </a:r>
              <a:r>
                <a:rPr lang="en-US" altLang="zh-CN" sz="1400" b="1" i="1" dirty="0">
                  <a:solidFill>
                    <a:schemeClr val="bg1"/>
                  </a:solidFill>
                  <a:latin typeface="微软雅黑" pitchFamily="34" charset="-122"/>
                  <a:ea typeface="微软雅黑" pitchFamily="34" charset="-122"/>
                </a:rPr>
                <a:t>n</a:t>
              </a:r>
              <a:r>
                <a:rPr lang="en-US" altLang="zh-CN" sz="1400" b="1" dirty="0">
                  <a:solidFill>
                    <a:schemeClr val="bg1"/>
                  </a:solidFill>
                  <a:latin typeface="微软雅黑" pitchFamily="34" charset="-122"/>
                  <a:ea typeface="微软雅黑" pitchFamily="34" charset="-122"/>
                </a:rPr>
                <a:t> ) bit</a:t>
              </a:r>
              <a:endParaRPr lang="zh-CN" altLang="en-US" sz="1400" b="1" dirty="0">
                <a:solidFill>
                  <a:schemeClr val="bg1"/>
                </a:solidFill>
                <a:latin typeface="微软雅黑" pitchFamily="34" charset="-122"/>
                <a:ea typeface="微软雅黑" pitchFamily="34" charset="-122"/>
              </a:endParaRPr>
            </a:p>
          </p:txBody>
        </p:sp>
        <p:sp>
          <p:nvSpPr>
            <p:cNvPr id="15" name="矩形 14"/>
            <p:cNvSpPr/>
            <p:nvPr/>
          </p:nvSpPr>
          <p:spPr bwMode="auto">
            <a:xfrm>
              <a:off x="963629" y="2309803"/>
              <a:ext cx="3795720" cy="305060"/>
            </a:xfrm>
            <a:prstGeom prst="rect">
              <a:avLst/>
            </a:prstGeom>
            <a:solidFill>
              <a:srgbClr val="FF99FF"/>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400" b="0" i="0" u="none" strike="noStrike" cap="none" normalizeH="0" baseline="0">
                <a:ln>
                  <a:noFill/>
                </a:ln>
                <a:solidFill>
                  <a:srgbClr val="000099"/>
                </a:solidFill>
                <a:effectLst/>
                <a:latin typeface="微软雅黑" pitchFamily="34" charset="-122"/>
                <a:ea typeface="微软雅黑" pitchFamily="34" charset="-122"/>
              </a:endParaRPr>
            </a:p>
          </p:txBody>
        </p:sp>
        <p:sp>
          <p:nvSpPr>
            <p:cNvPr id="16" name="Rectangle 126"/>
            <p:cNvSpPr>
              <a:spLocks noChangeArrowheads="1"/>
            </p:cNvSpPr>
            <p:nvPr/>
          </p:nvSpPr>
          <p:spPr bwMode="auto">
            <a:xfrm>
              <a:off x="2123587" y="2319438"/>
              <a:ext cx="1511633" cy="30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pPr algn="ctr" defTabSz="762000"/>
              <a:r>
                <a:rPr lang="zh-CN" altLang="en-US" sz="1400" b="1" dirty="0">
                  <a:latin typeface="微软雅黑" pitchFamily="34" charset="-122"/>
                  <a:ea typeface="微软雅黑" pitchFamily="34" charset="-122"/>
                </a:rPr>
                <a:t>子网前缀 </a:t>
              </a:r>
              <a:r>
                <a:rPr lang="en-US" altLang="zh-CN" sz="1400" b="1" dirty="0">
                  <a:latin typeface="微软雅黑" pitchFamily="34" charset="-122"/>
                  <a:ea typeface="微软雅黑" pitchFamily="34" charset="-122"/>
                </a:rPr>
                <a:t>(</a:t>
              </a:r>
              <a:r>
                <a:rPr lang="en-US" altLang="zh-CN" sz="1400" b="1" i="1" dirty="0">
                  <a:latin typeface="微软雅黑" pitchFamily="34" charset="-122"/>
                  <a:ea typeface="微软雅黑" pitchFamily="34" charset="-122"/>
                </a:rPr>
                <a:t>n</a:t>
              </a:r>
              <a:r>
                <a:rPr lang="en-US" altLang="zh-CN" sz="1400" b="1" dirty="0">
                  <a:latin typeface="微软雅黑" pitchFamily="34" charset="-122"/>
                  <a:ea typeface="微软雅黑" pitchFamily="34" charset="-122"/>
                </a:rPr>
                <a:t> bit)</a:t>
              </a:r>
              <a:endParaRPr lang="zh-CN" altLang="en-US" sz="1400" b="1" dirty="0">
                <a:latin typeface="微软雅黑" pitchFamily="34" charset="-122"/>
                <a:ea typeface="微软雅黑" pitchFamily="34" charset="-122"/>
              </a:endParaRPr>
            </a:p>
          </p:txBody>
        </p:sp>
        <p:sp>
          <p:nvSpPr>
            <p:cNvPr id="17" name="矩形 16"/>
            <p:cNvSpPr/>
            <p:nvPr/>
          </p:nvSpPr>
          <p:spPr bwMode="auto">
            <a:xfrm>
              <a:off x="3695998" y="2823875"/>
              <a:ext cx="1829473" cy="305060"/>
            </a:xfrm>
            <a:prstGeom prst="rect">
              <a:avLst/>
            </a:prstGeom>
            <a:solidFill>
              <a:srgbClr val="FF99FF"/>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400" b="0" i="0" u="none" strike="noStrike" cap="none" normalizeH="0" baseline="0">
                <a:ln>
                  <a:noFill/>
                </a:ln>
                <a:solidFill>
                  <a:srgbClr val="000099"/>
                </a:solidFill>
                <a:effectLst/>
                <a:latin typeface="微软雅黑" pitchFamily="34" charset="-122"/>
                <a:ea typeface="微软雅黑" pitchFamily="34" charset="-122"/>
              </a:endParaRPr>
            </a:p>
          </p:txBody>
        </p:sp>
        <p:sp>
          <p:nvSpPr>
            <p:cNvPr id="18" name="Rectangle 126"/>
            <p:cNvSpPr>
              <a:spLocks noChangeArrowheads="1"/>
            </p:cNvSpPr>
            <p:nvPr/>
          </p:nvSpPr>
          <p:spPr bwMode="auto">
            <a:xfrm>
              <a:off x="3726694" y="2837798"/>
              <a:ext cx="1750480" cy="30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pPr algn="ctr" defTabSz="762000"/>
              <a:r>
                <a:rPr lang="zh-CN" altLang="en-US" sz="1400" b="1" dirty="0">
                  <a:latin typeface="微软雅黑" pitchFamily="34" charset="-122"/>
                  <a:ea typeface="微软雅黑" pitchFamily="34" charset="-122"/>
                </a:rPr>
                <a:t>子网标识符 </a:t>
              </a:r>
              <a:r>
                <a:rPr lang="en-US" altLang="zh-CN" sz="1400" b="1" dirty="0">
                  <a:latin typeface="微软雅黑" pitchFamily="34" charset="-122"/>
                  <a:ea typeface="微软雅黑" pitchFamily="34" charset="-122"/>
                </a:rPr>
                <a:t>(</a:t>
              </a:r>
              <a:r>
                <a:rPr lang="en-US" altLang="zh-CN" sz="1400" b="1" i="1" dirty="0">
                  <a:latin typeface="微软雅黑" pitchFamily="34" charset="-122"/>
                  <a:ea typeface="微软雅黑" pitchFamily="34" charset="-122"/>
                </a:rPr>
                <a:t>m</a:t>
              </a:r>
              <a:r>
                <a:rPr lang="en-US" altLang="zh-CN" sz="1400" b="1" dirty="0">
                  <a:latin typeface="微软雅黑" pitchFamily="34" charset="-122"/>
                  <a:ea typeface="微软雅黑" pitchFamily="34" charset="-122"/>
                </a:rPr>
                <a:t> bit)</a:t>
              </a:r>
              <a:endParaRPr lang="zh-CN" altLang="en-US" sz="1400" b="1" dirty="0">
                <a:latin typeface="微软雅黑" pitchFamily="34" charset="-122"/>
                <a:ea typeface="微软雅黑" pitchFamily="34" charset="-122"/>
              </a:endParaRPr>
            </a:p>
          </p:txBody>
        </p:sp>
        <p:sp>
          <p:nvSpPr>
            <p:cNvPr id="19" name="矩形 18"/>
            <p:cNvSpPr/>
            <p:nvPr/>
          </p:nvSpPr>
          <p:spPr bwMode="auto">
            <a:xfrm>
              <a:off x="963629" y="2824700"/>
              <a:ext cx="2675206" cy="304236"/>
            </a:xfrm>
            <a:prstGeom prst="rect">
              <a:avLst/>
            </a:prstGeom>
            <a:solidFill>
              <a:srgbClr val="00FF99"/>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400" b="0" i="0" u="none" strike="noStrike" cap="none" normalizeH="0" baseline="0">
                <a:ln>
                  <a:noFill/>
                </a:ln>
                <a:solidFill>
                  <a:srgbClr val="000099"/>
                </a:solidFill>
                <a:effectLst/>
                <a:latin typeface="微软雅黑" pitchFamily="34" charset="-122"/>
                <a:ea typeface="微软雅黑" pitchFamily="34" charset="-122"/>
              </a:endParaRPr>
            </a:p>
          </p:txBody>
        </p:sp>
        <p:sp>
          <p:nvSpPr>
            <p:cNvPr id="20" name="Rectangle 126"/>
            <p:cNvSpPr>
              <a:spLocks noChangeArrowheads="1"/>
            </p:cNvSpPr>
            <p:nvPr/>
          </p:nvSpPr>
          <p:spPr bwMode="auto">
            <a:xfrm>
              <a:off x="1172893" y="2837798"/>
              <a:ext cx="2229779" cy="30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pPr algn="ctr" defTabSz="762000"/>
              <a:r>
                <a:rPr lang="zh-CN" altLang="en-US" sz="1400" b="1" dirty="0">
                  <a:latin typeface="微软雅黑" pitchFamily="34" charset="-122"/>
                  <a:ea typeface="微软雅黑" pitchFamily="34" charset="-122"/>
                </a:rPr>
                <a:t>全球路由选择前缀 </a:t>
              </a:r>
              <a:r>
                <a:rPr lang="en-US" altLang="zh-CN" sz="1400" b="1" dirty="0">
                  <a:latin typeface="微软雅黑" pitchFamily="34" charset="-122"/>
                  <a:ea typeface="微软雅黑" pitchFamily="34" charset="-122"/>
                </a:rPr>
                <a:t>(</a:t>
              </a:r>
              <a:r>
                <a:rPr lang="en-US" altLang="zh-CN" sz="1400" b="1" i="1" dirty="0">
                  <a:latin typeface="微软雅黑" pitchFamily="34" charset="-122"/>
                  <a:ea typeface="微软雅黑" pitchFamily="34" charset="-122"/>
                </a:rPr>
                <a:t>n</a:t>
              </a:r>
              <a:r>
                <a:rPr lang="en-US" altLang="zh-CN" sz="1400" b="1" dirty="0">
                  <a:latin typeface="微软雅黑" pitchFamily="34" charset="-122"/>
                  <a:ea typeface="微软雅黑" pitchFamily="34" charset="-122"/>
                </a:rPr>
                <a:t> bit)</a:t>
              </a:r>
              <a:endParaRPr lang="zh-CN" altLang="en-US" sz="1400" b="1" dirty="0">
                <a:latin typeface="微软雅黑" pitchFamily="34" charset="-122"/>
                <a:ea typeface="微软雅黑" pitchFamily="34" charset="-122"/>
              </a:endParaRPr>
            </a:p>
          </p:txBody>
        </p:sp>
      </p:grpSp>
    </p:spTree>
    <p:extLst>
      <p:ext uri="{BB962C8B-B14F-4D97-AF65-F5344CB8AC3E}">
        <p14:creationId xmlns:p14="http://schemas.microsoft.com/office/powerpoint/2010/main" val="327534598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2313"/>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546446" y="581450"/>
            <a:ext cx="405111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highlight>
                  <a:srgbClr val="FFFF00"/>
                </a:highlight>
                <a:latin typeface="微软雅黑" pitchFamily="34" charset="-122"/>
                <a:ea typeface="微软雅黑" pitchFamily="34" charset="-122"/>
              </a:rPr>
              <a:t>4.5.3  </a:t>
            </a:r>
            <a:r>
              <a:rPr lang="zh-CN" altLang="en-US" sz="2400" b="1" dirty="0">
                <a:highlight>
                  <a:srgbClr val="FFFF00"/>
                </a:highlight>
                <a:latin typeface="微软雅黑" pitchFamily="34" charset="-122"/>
                <a:ea typeface="微软雅黑" pitchFamily="34" charset="-122"/>
              </a:rPr>
              <a:t>从 </a:t>
            </a:r>
            <a:r>
              <a:rPr lang="en-US" altLang="zh-CN" sz="2400" b="1" dirty="0">
                <a:highlight>
                  <a:srgbClr val="FFFF00"/>
                </a:highlight>
                <a:latin typeface="微软雅黑" pitchFamily="34" charset="-122"/>
                <a:ea typeface="微软雅黑" pitchFamily="34" charset="-122"/>
              </a:rPr>
              <a:t>IPv4 </a:t>
            </a:r>
            <a:r>
              <a:rPr lang="zh-CN" altLang="en-US" sz="2400" b="1" dirty="0">
                <a:highlight>
                  <a:srgbClr val="FFFF00"/>
                </a:highlight>
                <a:latin typeface="微软雅黑" pitchFamily="34" charset="-122"/>
                <a:ea typeface="微软雅黑" pitchFamily="34" charset="-122"/>
              </a:rPr>
              <a:t>向 </a:t>
            </a:r>
            <a:r>
              <a:rPr lang="en-US" altLang="zh-CN" sz="2400" b="1" dirty="0">
                <a:highlight>
                  <a:srgbClr val="FFFF00"/>
                </a:highlight>
                <a:latin typeface="微软雅黑" pitchFamily="34" charset="-122"/>
                <a:ea typeface="微软雅黑" pitchFamily="34" charset="-122"/>
              </a:rPr>
              <a:t>IPv6 </a:t>
            </a:r>
            <a:r>
              <a:rPr lang="zh-CN" altLang="en-US" sz="2400" b="1" dirty="0">
                <a:highlight>
                  <a:srgbClr val="FFFF00"/>
                </a:highlight>
                <a:latin typeface="微软雅黑" pitchFamily="34" charset="-122"/>
                <a:ea typeface="微软雅黑" pitchFamily="34" charset="-122"/>
              </a:rPr>
              <a:t>过渡</a:t>
            </a:r>
          </a:p>
        </p:txBody>
      </p:sp>
      <p:sp>
        <p:nvSpPr>
          <p:cNvPr id="4" name="Rectangle 8"/>
          <p:cNvSpPr>
            <a:spLocks noChangeArrowheads="1"/>
          </p:cNvSpPr>
          <p:nvPr/>
        </p:nvSpPr>
        <p:spPr bwMode="auto">
          <a:xfrm>
            <a:off x="545143" y="1014028"/>
            <a:ext cx="8053711" cy="2554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方法：</a:t>
            </a:r>
            <a:r>
              <a:rPr lang="zh-CN" altLang="en-US" sz="2000" b="1" dirty="0">
                <a:solidFill>
                  <a:srgbClr val="C00000"/>
                </a:solidFill>
                <a:latin typeface="微软雅黑" pitchFamily="34" charset="-122"/>
                <a:ea typeface="微软雅黑" pitchFamily="34" charset="-122"/>
              </a:rPr>
              <a:t>逐步演进，向后兼容。</a:t>
            </a:r>
            <a:endParaRPr lang="en-US" altLang="zh-CN" sz="2000" b="1" dirty="0">
              <a:solidFill>
                <a:srgbClr val="C00000"/>
              </a:solidFill>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向后兼容：</a:t>
            </a:r>
            <a:r>
              <a:rPr lang="en-US" altLang="zh-CN" sz="2000" b="1" dirty="0">
                <a:latin typeface="微软雅黑" pitchFamily="34" charset="-122"/>
                <a:ea typeface="微软雅黑" pitchFamily="34" charset="-122"/>
              </a:rPr>
              <a:t>IPv6 </a:t>
            </a:r>
            <a:r>
              <a:rPr lang="zh-CN" altLang="en-US" sz="2000" b="1" dirty="0">
                <a:latin typeface="微软雅黑" pitchFamily="34" charset="-122"/>
                <a:ea typeface="微软雅黑" pitchFamily="34" charset="-122"/>
              </a:rPr>
              <a:t>系统必须能够接收和转发 </a:t>
            </a:r>
            <a:r>
              <a:rPr lang="en-US" altLang="zh-CN" sz="2000" b="1" dirty="0">
                <a:latin typeface="微软雅黑" pitchFamily="34" charset="-122"/>
                <a:ea typeface="微软雅黑" pitchFamily="34" charset="-122"/>
              </a:rPr>
              <a:t>IPv4 </a:t>
            </a:r>
            <a:r>
              <a:rPr lang="zh-CN" altLang="en-US" sz="2000" b="1" dirty="0">
                <a:latin typeface="微软雅黑" pitchFamily="34" charset="-122"/>
                <a:ea typeface="微软雅黑" pitchFamily="34" charset="-122"/>
              </a:rPr>
              <a:t>分组，并且能够为 </a:t>
            </a:r>
            <a:r>
              <a:rPr lang="en-US" altLang="zh-CN" sz="2000" b="1" dirty="0">
                <a:latin typeface="微软雅黑" pitchFamily="34" charset="-122"/>
                <a:ea typeface="微软雅黑" pitchFamily="34" charset="-122"/>
              </a:rPr>
              <a:t>IPv4 </a:t>
            </a:r>
            <a:r>
              <a:rPr lang="zh-CN" altLang="en-US" sz="2000" b="1" dirty="0">
                <a:latin typeface="微软雅黑" pitchFamily="34" charset="-122"/>
                <a:ea typeface="微软雅黑" pitchFamily="34" charset="-122"/>
              </a:rPr>
              <a:t>分组选择路由。</a:t>
            </a:r>
          </a:p>
          <a:p>
            <a:pPr marL="285750" indent="-285750">
              <a:lnSpc>
                <a:spcPts val="32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两种过渡策略：</a:t>
            </a:r>
          </a:p>
          <a:p>
            <a:pPr marL="623888" indent="-342900">
              <a:lnSpc>
                <a:spcPts val="3200"/>
              </a:lnSpc>
              <a:buClr>
                <a:srgbClr val="7030A0"/>
              </a:buClr>
              <a:buFont typeface="+mj-lt"/>
              <a:buAutoNum type="arabicPeriod"/>
            </a:pPr>
            <a:r>
              <a:rPr lang="zh-CN" altLang="en-US" sz="2000" b="1" dirty="0">
                <a:highlight>
                  <a:srgbClr val="FFFF00"/>
                </a:highlight>
                <a:latin typeface="微软雅黑" pitchFamily="34" charset="-122"/>
                <a:ea typeface="微软雅黑" pitchFamily="34" charset="-122"/>
              </a:rPr>
              <a:t>使用双协议栈</a:t>
            </a:r>
          </a:p>
          <a:p>
            <a:pPr marL="623888" indent="-342900">
              <a:lnSpc>
                <a:spcPts val="3200"/>
              </a:lnSpc>
              <a:buClr>
                <a:srgbClr val="7030A0"/>
              </a:buClr>
              <a:buFont typeface="+mj-lt"/>
              <a:buAutoNum type="arabicPeriod"/>
            </a:pPr>
            <a:r>
              <a:rPr lang="zh-CN" altLang="en-US" sz="2000" b="1" dirty="0">
                <a:highlight>
                  <a:srgbClr val="FFFF00"/>
                </a:highlight>
                <a:latin typeface="微软雅黑" pitchFamily="34" charset="-122"/>
                <a:ea typeface="微软雅黑" pitchFamily="34" charset="-122"/>
              </a:rPr>
              <a:t>使用隧道技术</a:t>
            </a:r>
          </a:p>
        </p:txBody>
      </p:sp>
    </p:spTree>
    <p:extLst>
      <p:ext uri="{BB962C8B-B14F-4D97-AF65-F5344CB8AC3E}">
        <p14:creationId xmlns:p14="http://schemas.microsoft.com/office/powerpoint/2010/main" val="7961776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圆角矩形 18"/>
          <p:cNvSpPr/>
          <p:nvPr/>
        </p:nvSpPr>
        <p:spPr>
          <a:xfrm>
            <a:off x="545145" y="1071419"/>
            <a:ext cx="8053710" cy="24199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p:cNvSpPr>
            <a:spLocks noChangeArrowheads="1"/>
          </p:cNvSpPr>
          <p:nvPr/>
        </p:nvSpPr>
        <p:spPr bwMode="auto">
          <a:xfrm>
            <a:off x="545145" y="621169"/>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7958"/>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双协议栈</a:t>
            </a:r>
          </a:p>
        </p:txBody>
      </p:sp>
      <p:sp>
        <p:nvSpPr>
          <p:cNvPr id="5" name="Rectangle 47"/>
          <p:cNvSpPr>
            <a:spLocks noChangeArrowheads="1"/>
          </p:cNvSpPr>
          <p:nvPr/>
        </p:nvSpPr>
        <p:spPr bwMode="auto">
          <a:xfrm>
            <a:off x="3042946" y="1321524"/>
            <a:ext cx="3097212" cy="1584325"/>
          </a:xfrm>
          <a:prstGeom prst="rect">
            <a:avLst/>
          </a:prstGeom>
          <a:solidFill>
            <a:schemeClr val="bg1"/>
          </a:solidFill>
          <a:ln w="28575">
            <a:solidFill>
              <a:schemeClr val="tx1"/>
            </a:solidFill>
            <a:miter lim="800000"/>
            <a:headEnd/>
            <a:tailEnd/>
          </a:ln>
          <a:effectLst/>
        </p:spPr>
        <p:txBody>
          <a:bodyPr wrap="none" anchor="ctr"/>
          <a:lstStyle/>
          <a:p>
            <a:pPr>
              <a:defRPr/>
            </a:pPr>
            <a:endParaRPr lang="zh-CN" altLang="en-US" b="1">
              <a:latin typeface="微软雅黑" panose="020B0503020204020204" pitchFamily="34" charset="-122"/>
              <a:ea typeface="微软雅黑" panose="020B0503020204020204" pitchFamily="34" charset="-122"/>
            </a:endParaRPr>
          </a:p>
        </p:txBody>
      </p:sp>
      <p:sp>
        <p:nvSpPr>
          <p:cNvPr id="6" name="Line 89"/>
          <p:cNvSpPr>
            <a:spLocks noChangeShapeType="1"/>
          </p:cNvSpPr>
          <p:nvPr/>
        </p:nvSpPr>
        <p:spPr bwMode="auto">
          <a:xfrm>
            <a:off x="3042946" y="2042249"/>
            <a:ext cx="3103562" cy="63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7" name="Text Box 90"/>
          <p:cNvSpPr txBox="1">
            <a:spLocks noChangeArrowheads="1"/>
          </p:cNvSpPr>
          <p:nvPr/>
        </p:nvSpPr>
        <p:spPr bwMode="auto">
          <a:xfrm>
            <a:off x="3395371" y="1704111"/>
            <a:ext cx="80010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a:latin typeface="微软雅黑" panose="020B0503020204020204" pitchFamily="34" charset="-122"/>
                <a:ea typeface="微软雅黑" panose="020B0503020204020204" pitchFamily="34" charset="-122"/>
              </a:rPr>
              <a:t>运输层</a:t>
            </a:r>
          </a:p>
        </p:txBody>
      </p:sp>
      <p:sp>
        <p:nvSpPr>
          <p:cNvPr id="8" name="Line 89"/>
          <p:cNvSpPr>
            <a:spLocks noChangeShapeType="1"/>
          </p:cNvSpPr>
          <p:nvPr/>
        </p:nvSpPr>
        <p:spPr bwMode="auto">
          <a:xfrm>
            <a:off x="3042946" y="2467699"/>
            <a:ext cx="3103562" cy="63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cxnSp>
        <p:nvCxnSpPr>
          <p:cNvPr id="9" name="直接连接符 69"/>
          <p:cNvCxnSpPr>
            <a:cxnSpLocks noChangeShapeType="1"/>
          </p:cNvCxnSpPr>
          <p:nvPr/>
        </p:nvCxnSpPr>
        <p:spPr bwMode="auto">
          <a:xfrm>
            <a:off x="4593933" y="2048599"/>
            <a:ext cx="1588" cy="43815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0" name="Rectangle 47"/>
          <p:cNvSpPr>
            <a:spLocks noChangeArrowheads="1"/>
          </p:cNvSpPr>
          <p:nvPr/>
        </p:nvSpPr>
        <p:spPr bwMode="auto">
          <a:xfrm>
            <a:off x="3149308" y="2110511"/>
            <a:ext cx="1360488" cy="271463"/>
          </a:xfrm>
          <a:prstGeom prst="rect">
            <a:avLst/>
          </a:prstGeom>
          <a:solidFill>
            <a:srgbClr val="00B0F0"/>
          </a:solidFill>
          <a:ln w="9525">
            <a:noFill/>
            <a:miter lim="800000"/>
            <a:headEnd/>
            <a:tailEnd/>
          </a:ln>
          <a:effectLst>
            <a:glow rad="63500">
              <a:schemeClr val="accent2">
                <a:satMod val="175000"/>
                <a:alpha val="40000"/>
              </a:schemeClr>
            </a:glow>
            <a:outerShdw blurRad="50800" dist="38100" dir="2700000" algn="tl" rotWithShape="0">
              <a:prstClr val="black">
                <a:alpha val="40000"/>
              </a:prstClr>
            </a:outerShdw>
          </a:effectLst>
        </p:spPr>
        <p:txBody>
          <a:bodyPr wrap="none" anchor="ctr"/>
          <a:lstStyle/>
          <a:p>
            <a:pPr algn="ctr">
              <a:defRPr/>
            </a:pPr>
            <a:r>
              <a:rPr lang="en-US" altLang="zh-CN" sz="1600" b="1" dirty="0">
                <a:latin typeface="微软雅黑" panose="020B0503020204020204" pitchFamily="34" charset="-122"/>
                <a:ea typeface="微软雅黑" panose="020B0503020204020204" pitchFamily="34" charset="-122"/>
              </a:rPr>
              <a:t>IPv4</a:t>
            </a:r>
            <a:endParaRPr lang="zh-CN" altLang="en-US" sz="1600" b="1" dirty="0">
              <a:latin typeface="微软雅黑" panose="020B0503020204020204" pitchFamily="34" charset="-122"/>
              <a:ea typeface="微软雅黑" panose="020B0503020204020204" pitchFamily="34" charset="-122"/>
            </a:endParaRPr>
          </a:p>
        </p:txBody>
      </p:sp>
      <p:sp>
        <p:nvSpPr>
          <p:cNvPr id="11" name="Rectangle 47"/>
          <p:cNvSpPr>
            <a:spLocks noChangeArrowheads="1"/>
          </p:cNvSpPr>
          <p:nvPr/>
        </p:nvSpPr>
        <p:spPr bwMode="auto">
          <a:xfrm>
            <a:off x="4700296" y="2113686"/>
            <a:ext cx="1358900" cy="273050"/>
          </a:xfrm>
          <a:prstGeom prst="rect">
            <a:avLst/>
          </a:prstGeom>
          <a:solidFill>
            <a:srgbClr val="00B050"/>
          </a:solidFill>
          <a:ln w="9525">
            <a:noFill/>
            <a:miter lim="800000"/>
            <a:headEnd/>
            <a:tailEnd/>
          </a:ln>
          <a:effectLst>
            <a:glow rad="63500">
              <a:schemeClr val="accent2">
                <a:satMod val="175000"/>
                <a:alpha val="40000"/>
              </a:schemeClr>
            </a:glow>
            <a:outerShdw blurRad="50800" dist="38100" dir="2700000" algn="tl" rotWithShape="0">
              <a:prstClr val="black">
                <a:alpha val="40000"/>
              </a:prstClr>
            </a:outerShdw>
          </a:effectLst>
        </p:spPr>
        <p:txBody>
          <a:bodyPr wrap="none" anchor="ctr"/>
          <a:lstStyle/>
          <a:p>
            <a:pPr algn="ctr">
              <a:defRPr/>
            </a:pPr>
            <a:r>
              <a:rPr lang="en-US" altLang="zh-CN" sz="1600" b="1" dirty="0">
                <a:latin typeface="微软雅黑" panose="020B0503020204020204" pitchFamily="34" charset="-122"/>
                <a:ea typeface="微软雅黑" panose="020B0503020204020204" pitchFamily="34" charset="-122"/>
              </a:rPr>
              <a:t>IPv6</a:t>
            </a:r>
            <a:endParaRPr lang="zh-CN" altLang="en-US" sz="1600" b="1" dirty="0">
              <a:latin typeface="微软雅黑" panose="020B0503020204020204" pitchFamily="34" charset="-122"/>
              <a:ea typeface="微软雅黑" panose="020B0503020204020204" pitchFamily="34" charset="-122"/>
            </a:endParaRPr>
          </a:p>
        </p:txBody>
      </p:sp>
      <p:sp>
        <p:nvSpPr>
          <p:cNvPr id="12" name="Text Box 90"/>
          <p:cNvSpPr txBox="1">
            <a:spLocks noChangeArrowheads="1"/>
          </p:cNvSpPr>
          <p:nvPr/>
        </p:nvSpPr>
        <p:spPr bwMode="auto">
          <a:xfrm>
            <a:off x="2989980" y="2545486"/>
            <a:ext cx="14160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链路层和以下</a:t>
            </a:r>
          </a:p>
        </p:txBody>
      </p:sp>
      <p:sp>
        <p:nvSpPr>
          <p:cNvPr id="13" name="Line 89"/>
          <p:cNvSpPr>
            <a:spLocks noChangeShapeType="1"/>
          </p:cNvSpPr>
          <p:nvPr/>
        </p:nvSpPr>
        <p:spPr bwMode="auto">
          <a:xfrm>
            <a:off x="3042946" y="1681886"/>
            <a:ext cx="3103562" cy="63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4" name="Text Box 90"/>
          <p:cNvSpPr txBox="1">
            <a:spLocks noChangeArrowheads="1"/>
          </p:cNvSpPr>
          <p:nvPr/>
        </p:nvSpPr>
        <p:spPr bwMode="auto">
          <a:xfrm>
            <a:off x="3395371" y="1321524"/>
            <a:ext cx="80010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a:latin typeface="微软雅黑" panose="020B0503020204020204" pitchFamily="34" charset="-122"/>
                <a:ea typeface="微软雅黑" panose="020B0503020204020204" pitchFamily="34" charset="-122"/>
              </a:rPr>
              <a:t>应用层</a:t>
            </a:r>
          </a:p>
        </p:txBody>
      </p:sp>
      <p:sp>
        <p:nvSpPr>
          <p:cNvPr id="15" name="Text Box 18"/>
          <p:cNvSpPr txBox="1">
            <a:spLocks noChangeArrowheads="1"/>
          </p:cNvSpPr>
          <p:nvPr/>
        </p:nvSpPr>
        <p:spPr bwMode="auto">
          <a:xfrm>
            <a:off x="2001108" y="2978874"/>
            <a:ext cx="13708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到 </a:t>
            </a:r>
            <a:r>
              <a:rPr lang="en-US" altLang="zh-CN" sz="1600" b="1" dirty="0">
                <a:latin typeface="微软雅黑" panose="020B0503020204020204" pitchFamily="34" charset="-122"/>
                <a:ea typeface="微软雅黑" panose="020B0503020204020204" pitchFamily="34" charset="-122"/>
              </a:rPr>
              <a:t>IPv4 </a:t>
            </a:r>
            <a:r>
              <a:rPr lang="zh-CN" altLang="en-US" sz="1600" b="1" dirty="0">
                <a:latin typeface="微软雅黑" panose="020B0503020204020204" pitchFamily="34" charset="-122"/>
                <a:ea typeface="微软雅黑" panose="020B0503020204020204" pitchFamily="34" charset="-122"/>
              </a:rPr>
              <a:t>系统</a:t>
            </a:r>
            <a:endParaRPr lang="en-US" altLang="zh-CN" sz="1600" b="1" dirty="0">
              <a:latin typeface="微软雅黑" panose="020B0503020204020204" pitchFamily="34" charset="-122"/>
              <a:ea typeface="微软雅黑" panose="020B0503020204020204" pitchFamily="34" charset="-122"/>
            </a:endParaRPr>
          </a:p>
        </p:txBody>
      </p:sp>
      <p:sp>
        <p:nvSpPr>
          <p:cNvPr id="16" name="Text Box 18"/>
          <p:cNvSpPr txBox="1">
            <a:spLocks noChangeArrowheads="1"/>
          </p:cNvSpPr>
          <p:nvPr/>
        </p:nvSpPr>
        <p:spPr bwMode="auto">
          <a:xfrm>
            <a:off x="5811108" y="2978874"/>
            <a:ext cx="13708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a:latin typeface="微软雅黑" panose="020B0503020204020204" pitchFamily="34" charset="-122"/>
                <a:ea typeface="微软雅黑" panose="020B0503020204020204" pitchFamily="34" charset="-122"/>
              </a:rPr>
              <a:t>到 </a:t>
            </a:r>
            <a:r>
              <a:rPr lang="en-US" altLang="zh-CN" sz="1600" b="1">
                <a:latin typeface="微软雅黑" panose="020B0503020204020204" pitchFamily="34" charset="-122"/>
                <a:ea typeface="微软雅黑" panose="020B0503020204020204" pitchFamily="34" charset="-122"/>
              </a:rPr>
              <a:t>IPv6 </a:t>
            </a:r>
            <a:r>
              <a:rPr lang="zh-CN" altLang="en-US" sz="1600" b="1">
                <a:latin typeface="微软雅黑" panose="020B0503020204020204" pitchFamily="34" charset="-122"/>
                <a:ea typeface="微软雅黑" panose="020B0503020204020204" pitchFamily="34" charset="-122"/>
              </a:rPr>
              <a:t>系统</a:t>
            </a:r>
            <a:endParaRPr lang="en-US" altLang="zh-CN" sz="1600" b="1">
              <a:latin typeface="微软雅黑" panose="020B0503020204020204" pitchFamily="34" charset="-122"/>
              <a:ea typeface="微软雅黑" panose="020B0503020204020204" pitchFamily="34" charset="-122"/>
            </a:endParaRPr>
          </a:p>
        </p:txBody>
      </p:sp>
      <p:sp>
        <p:nvSpPr>
          <p:cNvPr id="17" name="任意多边形 87"/>
          <p:cNvSpPr>
            <a:spLocks/>
          </p:cNvSpPr>
          <p:nvPr/>
        </p:nvSpPr>
        <p:spPr bwMode="auto">
          <a:xfrm>
            <a:off x="4801896" y="1470749"/>
            <a:ext cx="1069975" cy="1685925"/>
          </a:xfrm>
          <a:custGeom>
            <a:avLst/>
            <a:gdLst>
              <a:gd name="T0" fmla="*/ 4213 w 1070311"/>
              <a:gd name="T1" fmla="*/ 0 h 1685530"/>
              <a:gd name="T2" fmla="*/ 0 w 1070311"/>
              <a:gd name="T3" fmla="*/ 1685925 h 1685530"/>
              <a:gd name="T4" fmla="*/ 1069975 w 1070311"/>
              <a:gd name="T5" fmla="*/ 1681710 h 1685530"/>
              <a:gd name="T6" fmla="*/ 0 60000 65536"/>
              <a:gd name="T7" fmla="*/ 0 60000 65536"/>
              <a:gd name="T8" fmla="*/ 0 60000 65536"/>
              <a:gd name="T9" fmla="*/ 0 w 1070311"/>
              <a:gd name="T10" fmla="*/ 0 h 1685530"/>
              <a:gd name="T11" fmla="*/ 1070311 w 1070311"/>
              <a:gd name="T12" fmla="*/ 1685530 h 1685530"/>
            </a:gdLst>
            <a:ahLst/>
            <a:cxnLst>
              <a:cxn ang="T6">
                <a:pos x="T0" y="T1"/>
              </a:cxn>
              <a:cxn ang="T7">
                <a:pos x="T2" y="T3"/>
              </a:cxn>
              <a:cxn ang="T8">
                <a:pos x="T4" y="T5"/>
              </a:cxn>
            </a:cxnLst>
            <a:rect l="T9" t="T10" r="T11" b="T12"/>
            <a:pathLst>
              <a:path w="1070311" h="1685530">
                <a:moveTo>
                  <a:pt x="4214" y="0"/>
                </a:moveTo>
                <a:cubicBezTo>
                  <a:pt x="2809" y="561843"/>
                  <a:pt x="1405" y="1123687"/>
                  <a:pt x="0" y="1685530"/>
                </a:cubicBezTo>
                <a:lnTo>
                  <a:pt x="1070311" y="1681316"/>
                </a:lnTo>
              </a:path>
            </a:pathLst>
          </a:custGeom>
          <a:noFill/>
          <a:ln w="38100" cap="flat" cmpd="sng" algn="ctr">
            <a:solidFill>
              <a:srgbClr val="990099"/>
            </a:solidFill>
            <a:prstDash val="solid"/>
            <a:round/>
            <a:headEnd type="triangle" w="sm" len="lg"/>
            <a:tailEnd type="triangle" w="sm" len="lg"/>
          </a:ln>
          <a:extLst>
            <a:ext uri="{909E8E84-426E-40DD-AFC4-6F175D3DCCD1}">
              <a14:hiddenFill xmlns:a14="http://schemas.microsoft.com/office/drawing/2010/main">
                <a:solidFill>
                  <a:srgbClr val="FFFFFF"/>
                </a:solid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8" name="任意多边形 88"/>
          <p:cNvSpPr>
            <a:spLocks/>
          </p:cNvSpPr>
          <p:nvPr/>
        </p:nvSpPr>
        <p:spPr bwMode="auto">
          <a:xfrm flipH="1">
            <a:off x="3269958" y="1465986"/>
            <a:ext cx="1069975" cy="1685925"/>
          </a:xfrm>
          <a:custGeom>
            <a:avLst/>
            <a:gdLst>
              <a:gd name="T0" fmla="*/ 4213 w 1070311"/>
              <a:gd name="T1" fmla="*/ 0 h 1685530"/>
              <a:gd name="T2" fmla="*/ 0 w 1070311"/>
              <a:gd name="T3" fmla="*/ 1685925 h 1685530"/>
              <a:gd name="T4" fmla="*/ 1069975 w 1070311"/>
              <a:gd name="T5" fmla="*/ 1681710 h 1685530"/>
              <a:gd name="T6" fmla="*/ 0 60000 65536"/>
              <a:gd name="T7" fmla="*/ 0 60000 65536"/>
              <a:gd name="T8" fmla="*/ 0 60000 65536"/>
              <a:gd name="T9" fmla="*/ 0 w 1070311"/>
              <a:gd name="T10" fmla="*/ 0 h 1685530"/>
              <a:gd name="T11" fmla="*/ 1070311 w 1070311"/>
              <a:gd name="T12" fmla="*/ 1685530 h 1685530"/>
            </a:gdLst>
            <a:ahLst/>
            <a:cxnLst>
              <a:cxn ang="T6">
                <a:pos x="T0" y="T1"/>
              </a:cxn>
              <a:cxn ang="T7">
                <a:pos x="T2" y="T3"/>
              </a:cxn>
              <a:cxn ang="T8">
                <a:pos x="T4" y="T5"/>
              </a:cxn>
            </a:cxnLst>
            <a:rect l="T9" t="T10" r="T11" b="T12"/>
            <a:pathLst>
              <a:path w="1070311" h="1685530">
                <a:moveTo>
                  <a:pt x="4214" y="0"/>
                </a:moveTo>
                <a:cubicBezTo>
                  <a:pt x="2809" y="561843"/>
                  <a:pt x="1405" y="1123687"/>
                  <a:pt x="0" y="1685530"/>
                </a:cubicBezTo>
                <a:lnTo>
                  <a:pt x="1070311" y="1681316"/>
                </a:lnTo>
              </a:path>
            </a:pathLst>
          </a:custGeom>
          <a:noFill/>
          <a:ln w="38100" cap="flat" cmpd="sng" algn="ctr">
            <a:solidFill>
              <a:srgbClr val="990099"/>
            </a:solidFill>
            <a:prstDash val="solid"/>
            <a:round/>
            <a:headEnd type="triangle" w="sm" len="lg"/>
            <a:tailEnd type="triangle" w="sm" len="lg"/>
          </a:ln>
          <a:extLst>
            <a:ext uri="{909E8E84-426E-40DD-AFC4-6F175D3DCCD1}">
              <a14:hiddenFill xmlns:a14="http://schemas.microsoft.com/office/drawing/2010/main">
                <a:solidFill>
                  <a:srgbClr val="FFFFFF"/>
                </a:solid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0" name="矩形 19"/>
          <p:cNvSpPr/>
          <p:nvPr/>
        </p:nvSpPr>
        <p:spPr>
          <a:xfrm>
            <a:off x="2305552" y="3497228"/>
            <a:ext cx="4896480" cy="338554"/>
          </a:xfrm>
          <a:prstGeom prst="rect">
            <a:avLst/>
          </a:prstGeom>
        </p:spPr>
        <p:txBody>
          <a:bodyPr wrap="square">
            <a:spAutoFit/>
          </a:bodyPr>
          <a:lstStyle/>
          <a:p>
            <a:pPr algn="ctr">
              <a:buClr>
                <a:srgbClr val="0070C0"/>
              </a:buClr>
            </a:pPr>
            <a:r>
              <a:rPr lang="en-US" altLang="zh-CN" sz="1600" b="1" dirty="0">
                <a:latin typeface="微软雅黑" pitchFamily="34" charset="-122"/>
                <a:ea typeface="微软雅黑" pitchFamily="34" charset="-122"/>
              </a:rPr>
              <a:t>IPv6/IPv4 </a:t>
            </a:r>
            <a:r>
              <a:rPr lang="zh-CN" altLang="en-US" sz="1600" b="1" dirty="0">
                <a:latin typeface="微软雅黑" pitchFamily="34" charset="-122"/>
                <a:ea typeface="微软雅黑" pitchFamily="34" charset="-122"/>
              </a:rPr>
              <a:t>双协议栈主机（或路由器）</a:t>
            </a:r>
            <a:endParaRPr lang="en-US" altLang="zh-CN" sz="1600" b="1" dirty="0">
              <a:latin typeface="微软雅黑" pitchFamily="34" charset="-122"/>
              <a:ea typeface="微软雅黑" pitchFamily="34" charset="-122"/>
            </a:endParaRPr>
          </a:p>
        </p:txBody>
      </p:sp>
    </p:spTree>
    <p:extLst>
      <p:ext uri="{BB962C8B-B14F-4D97-AF65-F5344CB8AC3E}">
        <p14:creationId xmlns:p14="http://schemas.microsoft.com/office/powerpoint/2010/main" val="241371911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5" y="622831"/>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双协议栈</a:t>
            </a:r>
          </a:p>
        </p:txBody>
      </p:sp>
      <p:sp>
        <p:nvSpPr>
          <p:cNvPr id="4" name="圆角矩形 3"/>
          <p:cNvSpPr/>
          <p:nvPr/>
        </p:nvSpPr>
        <p:spPr>
          <a:xfrm>
            <a:off x="545145" y="1071330"/>
            <a:ext cx="8053710" cy="298343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grpSp>
        <p:nvGrpSpPr>
          <p:cNvPr id="5" name="Group 3"/>
          <p:cNvGrpSpPr>
            <a:grpSpLocks/>
          </p:cNvGrpSpPr>
          <p:nvPr/>
        </p:nvGrpSpPr>
        <p:grpSpPr bwMode="auto">
          <a:xfrm>
            <a:off x="3194398" y="1277486"/>
            <a:ext cx="2864834" cy="802708"/>
            <a:chOff x="912" y="768"/>
            <a:chExt cx="2400" cy="1584"/>
          </a:xfrm>
          <a:solidFill>
            <a:srgbClr val="3399FF"/>
          </a:solidFill>
        </p:grpSpPr>
        <p:sp>
          <p:nvSpPr>
            <p:cNvPr id="6" name="Oval 4"/>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7" name="Oval 5"/>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8" name="Oval 6"/>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9" name="Oval 7"/>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0" name="Oval 8"/>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1" name="Oval 9"/>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2" name="Oval 10"/>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3" name="Oval 11"/>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4" name="Oval 12"/>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grpSp>
          <p:nvGrpSpPr>
            <p:cNvPr id="15" name="Group 13"/>
            <p:cNvGrpSpPr>
              <a:grpSpLocks/>
            </p:cNvGrpSpPr>
            <p:nvPr/>
          </p:nvGrpSpPr>
          <p:grpSpPr bwMode="auto">
            <a:xfrm>
              <a:off x="912" y="768"/>
              <a:ext cx="2386" cy="1553"/>
              <a:chOff x="912" y="768"/>
              <a:chExt cx="2386" cy="1553"/>
            </a:xfrm>
            <a:grpFill/>
          </p:grpSpPr>
          <p:sp>
            <p:nvSpPr>
              <p:cNvPr id="16" name="Oval 14"/>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7" name="Oval 15"/>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8" name="Oval 16"/>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9" name="Oval 17"/>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20" name="Oval 18"/>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21" name="Oval 19"/>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22" name="Oval 20"/>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23" name="Oval 21"/>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24" name="Oval 22"/>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grpSp>
      </p:grpSp>
      <p:sp>
        <p:nvSpPr>
          <p:cNvPr id="25" name="Freeform 23"/>
          <p:cNvSpPr>
            <a:spLocks/>
          </p:cNvSpPr>
          <p:nvPr/>
        </p:nvSpPr>
        <p:spPr bwMode="auto">
          <a:xfrm flipH="1">
            <a:off x="6087429" y="2181184"/>
            <a:ext cx="491759" cy="787092"/>
          </a:xfrm>
          <a:custGeom>
            <a:avLst/>
            <a:gdLst>
              <a:gd name="T0" fmla="*/ 0 w 576"/>
              <a:gd name="T1" fmla="*/ 0 h 756"/>
              <a:gd name="T2" fmla="*/ 576 w 576"/>
              <a:gd name="T3" fmla="*/ 4 h 756"/>
              <a:gd name="T4" fmla="*/ 576 w 576"/>
              <a:gd name="T5" fmla="*/ 564 h 756"/>
              <a:gd name="T6" fmla="*/ 4 w 576"/>
              <a:gd name="T7" fmla="*/ 756 h 756"/>
              <a:gd name="T8" fmla="*/ 0 w 576"/>
              <a:gd name="T9" fmla="*/ 0 h 756"/>
            </a:gdLst>
            <a:ahLst/>
            <a:cxnLst>
              <a:cxn ang="0">
                <a:pos x="T0" y="T1"/>
              </a:cxn>
              <a:cxn ang="0">
                <a:pos x="T2" y="T3"/>
              </a:cxn>
              <a:cxn ang="0">
                <a:pos x="T4" y="T5"/>
              </a:cxn>
              <a:cxn ang="0">
                <a:pos x="T6" y="T7"/>
              </a:cxn>
              <a:cxn ang="0">
                <a:pos x="T8" y="T9"/>
              </a:cxn>
            </a:cxnLst>
            <a:rect l="0" t="0" r="r" b="b"/>
            <a:pathLst>
              <a:path w="576" h="756">
                <a:moveTo>
                  <a:pt x="0" y="0"/>
                </a:moveTo>
                <a:lnTo>
                  <a:pt x="576" y="4"/>
                </a:lnTo>
                <a:lnTo>
                  <a:pt x="576" y="564"/>
                </a:lnTo>
                <a:lnTo>
                  <a:pt x="4" y="756"/>
                </a:lnTo>
                <a:lnTo>
                  <a:pt x="0" y="0"/>
                </a:lnTo>
                <a:close/>
              </a:path>
            </a:pathLst>
          </a:custGeom>
          <a:solidFill>
            <a:srgbClr val="00FFFF"/>
          </a:solidFill>
          <a:ln>
            <a:noFill/>
          </a:ln>
          <a:effectLst/>
        </p:spPr>
        <p:txBody>
          <a:bodyPr/>
          <a:lstStyle/>
          <a:p>
            <a:endParaRPr lang="zh-CN" altLang="en-US" sz="1200" b="1">
              <a:latin typeface="微软雅黑" pitchFamily="34" charset="-122"/>
              <a:ea typeface="微软雅黑" pitchFamily="34" charset="-122"/>
            </a:endParaRPr>
          </a:p>
        </p:txBody>
      </p:sp>
      <p:sp>
        <p:nvSpPr>
          <p:cNvPr id="26" name="Freeform 24"/>
          <p:cNvSpPr>
            <a:spLocks/>
          </p:cNvSpPr>
          <p:nvPr/>
        </p:nvSpPr>
        <p:spPr bwMode="auto">
          <a:xfrm>
            <a:off x="2559398" y="2185348"/>
            <a:ext cx="649663" cy="787092"/>
          </a:xfrm>
          <a:custGeom>
            <a:avLst/>
            <a:gdLst>
              <a:gd name="T0" fmla="*/ 0 w 576"/>
              <a:gd name="T1" fmla="*/ 0 h 756"/>
              <a:gd name="T2" fmla="*/ 576 w 576"/>
              <a:gd name="T3" fmla="*/ 4 h 756"/>
              <a:gd name="T4" fmla="*/ 576 w 576"/>
              <a:gd name="T5" fmla="*/ 564 h 756"/>
              <a:gd name="T6" fmla="*/ 4 w 576"/>
              <a:gd name="T7" fmla="*/ 756 h 756"/>
              <a:gd name="T8" fmla="*/ 0 w 576"/>
              <a:gd name="T9" fmla="*/ 0 h 756"/>
            </a:gdLst>
            <a:ahLst/>
            <a:cxnLst>
              <a:cxn ang="0">
                <a:pos x="T0" y="T1"/>
              </a:cxn>
              <a:cxn ang="0">
                <a:pos x="T2" y="T3"/>
              </a:cxn>
              <a:cxn ang="0">
                <a:pos x="T4" y="T5"/>
              </a:cxn>
              <a:cxn ang="0">
                <a:pos x="T6" y="T7"/>
              </a:cxn>
              <a:cxn ang="0">
                <a:pos x="T8" y="T9"/>
              </a:cxn>
            </a:cxnLst>
            <a:rect l="0" t="0" r="r" b="b"/>
            <a:pathLst>
              <a:path w="576" h="756">
                <a:moveTo>
                  <a:pt x="0" y="0"/>
                </a:moveTo>
                <a:lnTo>
                  <a:pt x="576" y="4"/>
                </a:lnTo>
                <a:lnTo>
                  <a:pt x="576" y="564"/>
                </a:lnTo>
                <a:lnTo>
                  <a:pt x="4" y="756"/>
                </a:lnTo>
                <a:lnTo>
                  <a:pt x="0" y="0"/>
                </a:lnTo>
                <a:close/>
              </a:path>
            </a:pathLst>
          </a:custGeom>
          <a:solidFill>
            <a:srgbClr val="00FFFF"/>
          </a:solidFill>
          <a:ln>
            <a:noFill/>
          </a:ln>
          <a:effectLst/>
        </p:spPr>
        <p:txBody>
          <a:bodyPr/>
          <a:lstStyle/>
          <a:p>
            <a:endParaRPr lang="zh-CN" altLang="en-US" sz="1200" b="1">
              <a:latin typeface="微软雅黑" pitchFamily="34" charset="-122"/>
              <a:ea typeface="微软雅黑" pitchFamily="34" charset="-122"/>
            </a:endParaRPr>
          </a:p>
        </p:txBody>
      </p:sp>
      <p:sp>
        <p:nvSpPr>
          <p:cNvPr id="27" name="Line 25"/>
          <p:cNvSpPr>
            <a:spLocks noChangeShapeType="1"/>
          </p:cNvSpPr>
          <p:nvPr/>
        </p:nvSpPr>
        <p:spPr bwMode="auto">
          <a:xfrm>
            <a:off x="1814992" y="1773062"/>
            <a:ext cx="5738690" cy="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pic>
        <p:nvPicPr>
          <p:cNvPr id="29" name="Picture 2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46645" y="1609263"/>
            <a:ext cx="369947" cy="2290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0" name="Text Box 28"/>
          <p:cNvSpPr txBox="1">
            <a:spLocks noChangeArrowheads="1"/>
          </p:cNvSpPr>
          <p:nvPr/>
        </p:nvSpPr>
        <p:spPr bwMode="auto">
          <a:xfrm>
            <a:off x="2588859" y="1177163"/>
            <a:ext cx="92685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latin typeface="微软雅黑" pitchFamily="34" charset="-122"/>
                <a:ea typeface="微软雅黑" pitchFamily="34" charset="-122"/>
              </a:rPr>
              <a:t>双协议栈</a:t>
            </a:r>
          </a:p>
          <a:p>
            <a:pPr algn="ctr"/>
            <a:r>
              <a:rPr kumimoji="1" lang="en-US" altLang="zh-CN" sz="1200" b="1" dirty="0">
                <a:latin typeface="微软雅黑" pitchFamily="34" charset="-122"/>
                <a:ea typeface="微软雅黑" pitchFamily="34" charset="-122"/>
              </a:rPr>
              <a:t>IPv6/IPv4</a:t>
            </a:r>
          </a:p>
        </p:txBody>
      </p:sp>
      <p:pic>
        <p:nvPicPr>
          <p:cNvPr id="31" name="Picture 2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989559" y="1609263"/>
            <a:ext cx="369947" cy="2290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2" name="Picture 3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964053" y="1609263"/>
            <a:ext cx="369947" cy="2290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3" name="Picture 3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902455" y="1609263"/>
            <a:ext cx="369947" cy="2290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5" name="Text Box 33"/>
          <p:cNvSpPr txBox="1">
            <a:spLocks noChangeArrowheads="1"/>
          </p:cNvSpPr>
          <p:nvPr/>
        </p:nvSpPr>
        <p:spPr bwMode="auto">
          <a:xfrm>
            <a:off x="1484142" y="1318838"/>
            <a:ext cx="51969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IPv6</a:t>
            </a:r>
          </a:p>
        </p:txBody>
      </p:sp>
      <p:sp>
        <p:nvSpPr>
          <p:cNvPr id="36" name="Text Box 34"/>
          <p:cNvSpPr txBox="1">
            <a:spLocks noChangeArrowheads="1"/>
          </p:cNvSpPr>
          <p:nvPr/>
        </p:nvSpPr>
        <p:spPr bwMode="auto">
          <a:xfrm>
            <a:off x="7234950" y="1318838"/>
            <a:ext cx="51969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IPv6</a:t>
            </a:r>
          </a:p>
        </p:txBody>
      </p:sp>
      <p:sp>
        <p:nvSpPr>
          <p:cNvPr id="37" name="Text Box 35"/>
          <p:cNvSpPr txBox="1">
            <a:spLocks noChangeArrowheads="1"/>
          </p:cNvSpPr>
          <p:nvPr/>
        </p:nvSpPr>
        <p:spPr bwMode="auto">
          <a:xfrm>
            <a:off x="4334692" y="1291831"/>
            <a:ext cx="87395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chemeClr val="bg1"/>
                </a:solidFill>
                <a:latin typeface="微软雅黑" pitchFamily="34" charset="-122"/>
                <a:ea typeface="微软雅黑" pitchFamily="34" charset="-122"/>
              </a:rPr>
              <a:t>IPv4 </a:t>
            </a:r>
            <a:r>
              <a:rPr kumimoji="1" lang="zh-CN" altLang="en-US" sz="1200" b="1" dirty="0">
                <a:solidFill>
                  <a:schemeClr val="bg1"/>
                </a:solidFill>
                <a:latin typeface="微软雅黑" pitchFamily="34" charset="-122"/>
                <a:ea typeface="微软雅黑" pitchFamily="34" charset="-122"/>
              </a:rPr>
              <a:t>网络</a:t>
            </a:r>
          </a:p>
        </p:txBody>
      </p:sp>
      <p:sp>
        <p:nvSpPr>
          <p:cNvPr id="38" name="Text Box 36"/>
          <p:cNvSpPr txBox="1">
            <a:spLocks noChangeArrowheads="1"/>
          </p:cNvSpPr>
          <p:nvPr/>
        </p:nvSpPr>
        <p:spPr bwMode="auto">
          <a:xfrm>
            <a:off x="1294888" y="1565536"/>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A</a:t>
            </a:r>
          </a:p>
        </p:txBody>
      </p:sp>
      <p:sp>
        <p:nvSpPr>
          <p:cNvPr id="39" name="Text Box 37"/>
          <p:cNvSpPr txBox="1">
            <a:spLocks noChangeArrowheads="1"/>
          </p:cNvSpPr>
          <p:nvPr/>
        </p:nvSpPr>
        <p:spPr bwMode="auto">
          <a:xfrm>
            <a:off x="2830091" y="1558247"/>
            <a:ext cx="2904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00000"/>
                </a:solidFill>
                <a:latin typeface="微软雅黑" pitchFamily="34" charset="-122"/>
                <a:ea typeface="微软雅黑" pitchFamily="34" charset="-122"/>
              </a:rPr>
              <a:t>B</a:t>
            </a:r>
          </a:p>
        </p:txBody>
      </p:sp>
      <p:sp>
        <p:nvSpPr>
          <p:cNvPr id="40" name="Text Box 38"/>
          <p:cNvSpPr txBox="1">
            <a:spLocks noChangeArrowheads="1"/>
          </p:cNvSpPr>
          <p:nvPr/>
        </p:nvSpPr>
        <p:spPr bwMode="auto">
          <a:xfrm>
            <a:off x="3753831" y="1550960"/>
            <a:ext cx="28886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C</a:t>
            </a:r>
          </a:p>
        </p:txBody>
      </p:sp>
      <p:sp>
        <p:nvSpPr>
          <p:cNvPr id="41" name="Text Box 39"/>
          <p:cNvSpPr txBox="1">
            <a:spLocks noChangeArrowheads="1"/>
          </p:cNvSpPr>
          <p:nvPr/>
        </p:nvSpPr>
        <p:spPr bwMode="auto">
          <a:xfrm>
            <a:off x="4739169" y="1543672"/>
            <a:ext cx="30649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D</a:t>
            </a:r>
          </a:p>
        </p:txBody>
      </p:sp>
      <p:sp>
        <p:nvSpPr>
          <p:cNvPr id="42" name="Text Box 40"/>
          <p:cNvSpPr txBox="1">
            <a:spLocks noChangeArrowheads="1"/>
          </p:cNvSpPr>
          <p:nvPr/>
        </p:nvSpPr>
        <p:spPr bwMode="auto">
          <a:xfrm>
            <a:off x="6175205" y="1545620"/>
            <a:ext cx="27283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00000"/>
                </a:solidFill>
                <a:latin typeface="微软雅黑" pitchFamily="34" charset="-122"/>
                <a:ea typeface="微软雅黑" pitchFamily="34" charset="-122"/>
              </a:rPr>
              <a:t>E</a:t>
            </a:r>
          </a:p>
        </p:txBody>
      </p:sp>
      <p:sp>
        <p:nvSpPr>
          <p:cNvPr id="43" name="Text Box 41"/>
          <p:cNvSpPr txBox="1">
            <a:spLocks noChangeArrowheads="1"/>
          </p:cNvSpPr>
          <p:nvPr/>
        </p:nvSpPr>
        <p:spPr bwMode="auto">
          <a:xfrm>
            <a:off x="7109090" y="1529096"/>
            <a:ext cx="27122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F</a:t>
            </a:r>
          </a:p>
        </p:txBody>
      </p:sp>
      <p:sp>
        <p:nvSpPr>
          <p:cNvPr id="44" name="Rectangle 42"/>
          <p:cNvSpPr>
            <a:spLocks noChangeArrowheads="1"/>
          </p:cNvSpPr>
          <p:nvPr/>
        </p:nvSpPr>
        <p:spPr bwMode="auto">
          <a:xfrm>
            <a:off x="1640170" y="2180142"/>
            <a:ext cx="920356" cy="1349300"/>
          </a:xfrm>
          <a:prstGeom prst="rect">
            <a:avLst/>
          </a:prstGeom>
          <a:solidFill>
            <a:srgbClr val="0000FF"/>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45" name="Rectangle 43"/>
          <p:cNvSpPr>
            <a:spLocks noChangeArrowheads="1"/>
          </p:cNvSpPr>
          <p:nvPr/>
        </p:nvSpPr>
        <p:spPr bwMode="auto">
          <a:xfrm>
            <a:off x="1663856" y="2193678"/>
            <a:ext cx="897798" cy="772516"/>
          </a:xfrm>
          <a:prstGeom prst="rect">
            <a:avLst/>
          </a:prstGeom>
          <a:solidFill>
            <a:srgbClr val="00FFFF"/>
          </a:solidFill>
          <a:ln>
            <a:noFill/>
          </a:ln>
          <a:effectLst/>
        </p:spPr>
        <p:txBody>
          <a:bodyPr wrap="none" anchor="ctr"/>
          <a:lstStyle/>
          <a:p>
            <a:endParaRPr lang="zh-CN" altLang="en-US" sz="1200" b="1">
              <a:latin typeface="微软雅黑" pitchFamily="34" charset="-122"/>
              <a:ea typeface="微软雅黑" pitchFamily="34" charset="-122"/>
            </a:endParaRPr>
          </a:p>
        </p:txBody>
      </p:sp>
      <p:sp>
        <p:nvSpPr>
          <p:cNvPr id="47" name="Rectangle 45"/>
          <p:cNvSpPr>
            <a:spLocks noChangeArrowheads="1"/>
          </p:cNvSpPr>
          <p:nvPr/>
        </p:nvSpPr>
        <p:spPr bwMode="auto">
          <a:xfrm>
            <a:off x="6579188" y="2180142"/>
            <a:ext cx="920356" cy="1349300"/>
          </a:xfrm>
          <a:prstGeom prst="rect">
            <a:avLst/>
          </a:prstGeom>
          <a:solidFill>
            <a:srgbClr val="0000FF"/>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48" name="Rectangle 46"/>
          <p:cNvSpPr>
            <a:spLocks noChangeArrowheads="1"/>
          </p:cNvSpPr>
          <p:nvPr/>
        </p:nvSpPr>
        <p:spPr bwMode="auto">
          <a:xfrm>
            <a:off x="6592722" y="2193678"/>
            <a:ext cx="906822" cy="772516"/>
          </a:xfrm>
          <a:prstGeom prst="rect">
            <a:avLst/>
          </a:prstGeom>
          <a:solidFill>
            <a:srgbClr val="00FFFF"/>
          </a:solidFill>
          <a:ln>
            <a:noFill/>
          </a:ln>
          <a:effectLst/>
        </p:spPr>
        <p:txBody>
          <a:bodyPr wrap="none" anchor="ctr"/>
          <a:lstStyle/>
          <a:p>
            <a:endParaRPr lang="zh-CN" altLang="en-US" sz="1200" b="1">
              <a:latin typeface="微软雅黑" pitchFamily="34" charset="-122"/>
              <a:ea typeface="微软雅黑" pitchFamily="34" charset="-122"/>
            </a:endParaRPr>
          </a:p>
        </p:txBody>
      </p:sp>
      <p:sp>
        <p:nvSpPr>
          <p:cNvPr id="50" name="Line 48"/>
          <p:cNvSpPr>
            <a:spLocks noChangeShapeType="1"/>
          </p:cNvSpPr>
          <p:nvPr/>
        </p:nvSpPr>
        <p:spPr bwMode="auto">
          <a:xfrm>
            <a:off x="1760854" y="2106570"/>
            <a:ext cx="649663"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51" name="Line 49"/>
          <p:cNvSpPr>
            <a:spLocks noChangeShapeType="1"/>
          </p:cNvSpPr>
          <p:nvPr/>
        </p:nvSpPr>
        <p:spPr bwMode="auto">
          <a:xfrm>
            <a:off x="3276734" y="2106570"/>
            <a:ext cx="649663"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52" name="Line 50"/>
          <p:cNvSpPr>
            <a:spLocks noChangeShapeType="1"/>
          </p:cNvSpPr>
          <p:nvPr/>
        </p:nvSpPr>
        <p:spPr bwMode="auto">
          <a:xfrm>
            <a:off x="5279862" y="2106570"/>
            <a:ext cx="649663"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53" name="Line 51"/>
          <p:cNvSpPr>
            <a:spLocks noChangeShapeType="1"/>
          </p:cNvSpPr>
          <p:nvPr/>
        </p:nvSpPr>
        <p:spPr bwMode="auto">
          <a:xfrm>
            <a:off x="6741604" y="2106570"/>
            <a:ext cx="649663"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54" name="Text Box 52"/>
          <p:cNvSpPr txBox="1">
            <a:spLocks noChangeArrowheads="1"/>
          </p:cNvSpPr>
          <p:nvPr/>
        </p:nvSpPr>
        <p:spPr bwMode="auto">
          <a:xfrm>
            <a:off x="5838303" y="1177163"/>
            <a:ext cx="92685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latin typeface="微软雅黑" pitchFamily="34" charset="-122"/>
                <a:ea typeface="微软雅黑" pitchFamily="34" charset="-122"/>
              </a:rPr>
              <a:t>双协议栈</a:t>
            </a:r>
          </a:p>
          <a:p>
            <a:pPr algn="ctr"/>
            <a:r>
              <a:rPr kumimoji="1" lang="en-US" altLang="zh-CN" sz="1200" b="1" dirty="0">
                <a:latin typeface="微软雅黑" pitchFamily="34" charset="-122"/>
                <a:ea typeface="微软雅黑" pitchFamily="34" charset="-122"/>
              </a:rPr>
              <a:t>IPv6/IPv4</a:t>
            </a:r>
          </a:p>
        </p:txBody>
      </p:sp>
      <p:sp>
        <p:nvSpPr>
          <p:cNvPr id="55" name="Text Box 53"/>
          <p:cNvSpPr txBox="1">
            <a:spLocks noChangeArrowheads="1"/>
          </p:cNvSpPr>
          <p:nvPr/>
        </p:nvSpPr>
        <p:spPr bwMode="auto">
          <a:xfrm>
            <a:off x="4486957" y="2358176"/>
            <a:ext cx="33214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a:t>
            </a:r>
          </a:p>
        </p:txBody>
      </p:sp>
      <p:sp>
        <p:nvSpPr>
          <p:cNvPr id="56" name="Text Box 54"/>
          <p:cNvSpPr txBox="1">
            <a:spLocks noChangeArrowheads="1"/>
          </p:cNvSpPr>
          <p:nvPr/>
        </p:nvSpPr>
        <p:spPr bwMode="auto">
          <a:xfrm>
            <a:off x="1607054" y="3503645"/>
            <a:ext cx="102784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IPv6 </a:t>
            </a:r>
            <a:r>
              <a:rPr kumimoji="1" lang="zh-CN" altLang="en-US" sz="1200" b="1" dirty="0">
                <a:latin typeface="微软雅黑" pitchFamily="34" charset="-122"/>
                <a:ea typeface="微软雅黑" pitchFamily="34" charset="-122"/>
              </a:rPr>
              <a:t>数据报</a:t>
            </a:r>
          </a:p>
        </p:txBody>
      </p:sp>
      <p:grpSp>
        <p:nvGrpSpPr>
          <p:cNvPr id="57" name="组合 56"/>
          <p:cNvGrpSpPr/>
          <p:nvPr/>
        </p:nvGrpSpPr>
        <p:grpSpPr>
          <a:xfrm>
            <a:off x="3132831" y="1885536"/>
            <a:ext cx="3031761" cy="1936219"/>
            <a:chOff x="2822251" y="2637309"/>
            <a:chExt cx="4622801" cy="2590800"/>
          </a:xfrm>
        </p:grpSpPr>
        <p:sp>
          <p:nvSpPr>
            <p:cNvPr id="58" name="Line 55"/>
            <p:cNvSpPr>
              <a:spLocks noChangeShapeType="1"/>
            </p:cNvSpPr>
            <p:nvPr/>
          </p:nvSpPr>
          <p:spPr bwMode="auto">
            <a:xfrm>
              <a:off x="2822251" y="2637309"/>
              <a:ext cx="0" cy="2590800"/>
            </a:xfrm>
            <a:prstGeom prst="line">
              <a:avLst/>
            </a:prstGeom>
            <a:noFill/>
            <a:ln w="1905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59" name="Line 56"/>
            <p:cNvSpPr>
              <a:spLocks noChangeShapeType="1"/>
            </p:cNvSpPr>
            <p:nvPr/>
          </p:nvSpPr>
          <p:spPr bwMode="auto">
            <a:xfrm>
              <a:off x="7445052" y="2637309"/>
              <a:ext cx="0" cy="2590800"/>
            </a:xfrm>
            <a:prstGeom prst="line">
              <a:avLst/>
            </a:prstGeom>
            <a:noFill/>
            <a:ln w="1905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60" name="Text Box 57"/>
          <p:cNvSpPr txBox="1">
            <a:spLocks noChangeArrowheads="1"/>
          </p:cNvSpPr>
          <p:nvPr/>
        </p:nvSpPr>
        <p:spPr bwMode="auto">
          <a:xfrm>
            <a:off x="6556223" y="3503645"/>
            <a:ext cx="102784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IPv6 </a:t>
            </a:r>
            <a:r>
              <a:rPr kumimoji="1" lang="zh-CN" altLang="en-US" sz="1200" b="1">
                <a:latin typeface="微软雅黑" pitchFamily="34" charset="-122"/>
                <a:ea typeface="微软雅黑" pitchFamily="34" charset="-122"/>
              </a:rPr>
              <a:t>数据报</a:t>
            </a:r>
          </a:p>
        </p:txBody>
      </p:sp>
      <p:sp>
        <p:nvSpPr>
          <p:cNvPr id="61" name="Line 58"/>
          <p:cNvSpPr>
            <a:spLocks noChangeShapeType="1"/>
          </p:cNvSpPr>
          <p:nvPr/>
        </p:nvSpPr>
        <p:spPr bwMode="auto">
          <a:xfrm>
            <a:off x="1652577" y="2972440"/>
            <a:ext cx="92035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62" name="Line 59"/>
          <p:cNvSpPr>
            <a:spLocks noChangeShapeType="1"/>
          </p:cNvSpPr>
          <p:nvPr/>
        </p:nvSpPr>
        <p:spPr bwMode="auto">
          <a:xfrm>
            <a:off x="6579188" y="2972440"/>
            <a:ext cx="92035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63" name="Rectangle 60"/>
          <p:cNvSpPr>
            <a:spLocks noChangeArrowheads="1"/>
          </p:cNvSpPr>
          <p:nvPr/>
        </p:nvSpPr>
        <p:spPr bwMode="auto">
          <a:xfrm>
            <a:off x="3210189" y="2180142"/>
            <a:ext cx="920356" cy="1142116"/>
          </a:xfrm>
          <a:prstGeom prst="rect">
            <a:avLst/>
          </a:prstGeom>
          <a:solidFill>
            <a:srgbClr val="0000FF"/>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64" name="Rectangle 61"/>
          <p:cNvSpPr>
            <a:spLocks noChangeArrowheads="1"/>
          </p:cNvSpPr>
          <p:nvPr/>
        </p:nvSpPr>
        <p:spPr bwMode="auto">
          <a:xfrm>
            <a:off x="3219212" y="2186390"/>
            <a:ext cx="906822" cy="580949"/>
          </a:xfrm>
          <a:prstGeom prst="rect">
            <a:avLst/>
          </a:prstGeom>
          <a:solidFill>
            <a:srgbClr val="00FFFF"/>
          </a:solidFill>
          <a:ln>
            <a:noFill/>
          </a:ln>
          <a:effectLst/>
        </p:spPr>
        <p:txBody>
          <a:bodyPr wrap="none" anchor="ctr"/>
          <a:lstStyle/>
          <a:p>
            <a:endParaRPr lang="zh-CN" altLang="en-US" sz="1200" b="1">
              <a:latin typeface="微软雅黑" pitchFamily="34" charset="-122"/>
              <a:ea typeface="微软雅黑" pitchFamily="34" charset="-122"/>
            </a:endParaRPr>
          </a:p>
        </p:txBody>
      </p:sp>
      <p:sp>
        <p:nvSpPr>
          <p:cNvPr id="66" name="Line 63"/>
          <p:cNvSpPr>
            <a:spLocks noChangeShapeType="1"/>
          </p:cNvSpPr>
          <p:nvPr/>
        </p:nvSpPr>
        <p:spPr bwMode="auto">
          <a:xfrm>
            <a:off x="3222596" y="2772544"/>
            <a:ext cx="92035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67" name="Text Box 64"/>
          <p:cNvSpPr txBox="1">
            <a:spLocks noChangeArrowheads="1"/>
          </p:cNvSpPr>
          <p:nvPr/>
        </p:nvSpPr>
        <p:spPr bwMode="auto">
          <a:xfrm>
            <a:off x="3308112" y="2931835"/>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chemeClr val="bg1"/>
                </a:solidFill>
                <a:latin typeface="微软雅黑" pitchFamily="34" charset="-122"/>
                <a:ea typeface="微软雅黑" pitchFamily="34" charset="-122"/>
              </a:rPr>
              <a:t>数据部分</a:t>
            </a:r>
          </a:p>
        </p:txBody>
      </p:sp>
      <p:sp>
        <p:nvSpPr>
          <p:cNvPr id="68" name="Rectangle 65"/>
          <p:cNvSpPr>
            <a:spLocks noChangeArrowheads="1"/>
          </p:cNvSpPr>
          <p:nvPr/>
        </p:nvSpPr>
        <p:spPr bwMode="auto">
          <a:xfrm>
            <a:off x="5159178" y="2180142"/>
            <a:ext cx="920356" cy="1142116"/>
          </a:xfrm>
          <a:prstGeom prst="rect">
            <a:avLst/>
          </a:prstGeom>
          <a:solidFill>
            <a:srgbClr val="0000FF"/>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69" name="Rectangle 66"/>
          <p:cNvSpPr>
            <a:spLocks noChangeArrowheads="1"/>
          </p:cNvSpPr>
          <p:nvPr/>
        </p:nvSpPr>
        <p:spPr bwMode="auto">
          <a:xfrm>
            <a:off x="5174968" y="2190554"/>
            <a:ext cx="896670" cy="580949"/>
          </a:xfrm>
          <a:prstGeom prst="rect">
            <a:avLst/>
          </a:prstGeom>
          <a:solidFill>
            <a:srgbClr val="00FFFF"/>
          </a:solidFill>
          <a:ln>
            <a:noFill/>
          </a:ln>
          <a:effectLst/>
        </p:spPr>
        <p:txBody>
          <a:bodyPr wrap="none" anchor="ctr"/>
          <a:lstStyle/>
          <a:p>
            <a:endParaRPr lang="zh-CN" altLang="en-US" sz="1200" b="1">
              <a:latin typeface="微软雅黑" pitchFamily="34" charset="-122"/>
              <a:ea typeface="微软雅黑" pitchFamily="34" charset="-122"/>
            </a:endParaRPr>
          </a:p>
        </p:txBody>
      </p:sp>
      <p:sp>
        <p:nvSpPr>
          <p:cNvPr id="71" name="Line 68"/>
          <p:cNvSpPr>
            <a:spLocks noChangeShapeType="1"/>
          </p:cNvSpPr>
          <p:nvPr/>
        </p:nvSpPr>
        <p:spPr bwMode="auto">
          <a:xfrm>
            <a:off x="5171585" y="2772544"/>
            <a:ext cx="92035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72" name="Text Box 69"/>
          <p:cNvSpPr txBox="1">
            <a:spLocks noChangeArrowheads="1"/>
          </p:cNvSpPr>
          <p:nvPr/>
        </p:nvSpPr>
        <p:spPr bwMode="auto">
          <a:xfrm>
            <a:off x="5274685" y="2931835"/>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chemeClr val="bg1"/>
                </a:solidFill>
                <a:latin typeface="微软雅黑" pitchFamily="34" charset="-122"/>
                <a:ea typeface="微软雅黑" pitchFamily="34" charset="-122"/>
              </a:rPr>
              <a:t>数据部分</a:t>
            </a:r>
          </a:p>
        </p:txBody>
      </p:sp>
      <p:sp>
        <p:nvSpPr>
          <p:cNvPr id="73" name="Line 70"/>
          <p:cNvSpPr>
            <a:spLocks noChangeShapeType="1"/>
          </p:cNvSpPr>
          <p:nvPr/>
        </p:nvSpPr>
        <p:spPr bwMode="auto">
          <a:xfrm>
            <a:off x="3132831" y="3699266"/>
            <a:ext cx="3031761" cy="0"/>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74" name="Text Box 71"/>
          <p:cNvSpPr txBox="1">
            <a:spLocks noChangeArrowheads="1"/>
          </p:cNvSpPr>
          <p:nvPr/>
        </p:nvSpPr>
        <p:spPr bwMode="auto">
          <a:xfrm>
            <a:off x="4265230" y="3579536"/>
            <a:ext cx="873957" cy="276999"/>
          </a:xfrm>
          <a:prstGeom prst="rect">
            <a:avLst/>
          </a:prstGeom>
          <a:solidFill>
            <a:srgbClr val="C3E3F9"/>
          </a:solidFill>
          <a:ln>
            <a:noFill/>
          </a:ln>
          <a:effectLst/>
        </p:spPr>
        <p:txBody>
          <a:bodyPr wrap="none">
            <a:spAutoFit/>
          </a:bodyPr>
          <a:lstStyle/>
          <a:p>
            <a:r>
              <a:rPr kumimoji="1" lang="en-US" altLang="zh-CN" sz="1200" b="1" dirty="0">
                <a:solidFill>
                  <a:srgbClr val="0000FF"/>
                </a:solidFill>
                <a:latin typeface="微软雅黑" pitchFamily="34" charset="-122"/>
                <a:ea typeface="微软雅黑" pitchFamily="34" charset="-122"/>
              </a:rPr>
              <a:t>IPv4 </a:t>
            </a:r>
            <a:r>
              <a:rPr kumimoji="1" lang="zh-CN" altLang="en-US" sz="1200" b="1" dirty="0">
                <a:solidFill>
                  <a:srgbClr val="0000FF"/>
                </a:solidFill>
                <a:latin typeface="微软雅黑" pitchFamily="34" charset="-122"/>
                <a:ea typeface="微软雅黑" pitchFamily="34" charset="-122"/>
              </a:rPr>
              <a:t>网络</a:t>
            </a:r>
          </a:p>
        </p:txBody>
      </p:sp>
      <p:sp>
        <p:nvSpPr>
          <p:cNvPr id="75" name="矩形 74"/>
          <p:cNvSpPr/>
          <p:nvPr/>
        </p:nvSpPr>
        <p:spPr>
          <a:xfrm>
            <a:off x="2471888" y="4054943"/>
            <a:ext cx="4460639" cy="338554"/>
          </a:xfrm>
          <a:prstGeom prst="rect">
            <a:avLst/>
          </a:prstGeom>
        </p:spPr>
        <p:txBody>
          <a:bodyPr wrap="square">
            <a:spAutoFit/>
          </a:bodyPr>
          <a:lstStyle/>
          <a:p>
            <a:pPr algn="ctr"/>
            <a:r>
              <a:rPr lang="zh-CN" altLang="zh-CN" sz="1600" b="1" dirty="0">
                <a:latin typeface="微软雅黑" pitchFamily="34" charset="-122"/>
                <a:ea typeface="微软雅黑" pitchFamily="34" charset="-122"/>
              </a:rPr>
              <a:t>使用双协议栈进行从</a:t>
            </a:r>
            <a:r>
              <a:rPr lang="en-US" altLang="zh-CN" sz="1600" b="1" dirty="0">
                <a:latin typeface="微软雅黑" pitchFamily="34" charset="-122"/>
                <a:ea typeface="微软雅黑" pitchFamily="34" charset="-122"/>
              </a:rPr>
              <a:t> IPv4 </a:t>
            </a:r>
            <a:r>
              <a:rPr lang="zh-CN" altLang="zh-CN" sz="1600" b="1" dirty="0">
                <a:latin typeface="微软雅黑" pitchFamily="34" charset="-122"/>
                <a:ea typeface="微软雅黑" pitchFamily="34" charset="-122"/>
              </a:rPr>
              <a:t>到</a:t>
            </a:r>
            <a:r>
              <a:rPr lang="en-US" altLang="zh-CN" sz="1600" b="1" dirty="0">
                <a:latin typeface="微软雅黑" pitchFamily="34" charset="-122"/>
                <a:ea typeface="微软雅黑" pitchFamily="34" charset="-122"/>
              </a:rPr>
              <a:t> IPv6 </a:t>
            </a:r>
            <a:r>
              <a:rPr lang="zh-CN" altLang="zh-CN" sz="1600" b="1" dirty="0">
                <a:latin typeface="微软雅黑" pitchFamily="34" charset="-122"/>
                <a:ea typeface="微软雅黑" pitchFamily="34" charset="-122"/>
              </a:rPr>
              <a:t>的过渡</a:t>
            </a:r>
            <a:endParaRPr lang="zh-CN" altLang="en-US" sz="1600" b="1" dirty="0">
              <a:latin typeface="微软雅黑" pitchFamily="34" charset="-122"/>
              <a:ea typeface="微软雅黑" pitchFamily="34" charset="-122"/>
            </a:endParaRPr>
          </a:p>
        </p:txBody>
      </p:sp>
      <p:sp>
        <p:nvSpPr>
          <p:cNvPr id="76" name="Text Box 64"/>
          <p:cNvSpPr txBox="1">
            <a:spLocks noChangeArrowheads="1"/>
          </p:cNvSpPr>
          <p:nvPr/>
        </p:nvSpPr>
        <p:spPr bwMode="auto">
          <a:xfrm>
            <a:off x="3168063" y="3328429"/>
            <a:ext cx="102784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IPv4 </a:t>
            </a:r>
            <a:r>
              <a:rPr kumimoji="1" lang="zh-CN" altLang="en-US" sz="1200" b="1" dirty="0">
                <a:latin typeface="微软雅黑" pitchFamily="34" charset="-122"/>
                <a:ea typeface="微软雅黑" pitchFamily="34" charset="-122"/>
              </a:rPr>
              <a:t>数据报</a:t>
            </a:r>
          </a:p>
        </p:txBody>
      </p:sp>
      <p:sp>
        <p:nvSpPr>
          <p:cNvPr id="77" name="Text Box 65"/>
          <p:cNvSpPr txBox="1">
            <a:spLocks noChangeArrowheads="1"/>
          </p:cNvSpPr>
          <p:nvPr/>
        </p:nvSpPr>
        <p:spPr bwMode="auto">
          <a:xfrm>
            <a:off x="5110286" y="3328429"/>
            <a:ext cx="102784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IPv4 </a:t>
            </a:r>
            <a:r>
              <a:rPr kumimoji="1" lang="zh-CN" altLang="en-US" sz="1200" b="1">
                <a:latin typeface="微软雅黑" pitchFamily="34" charset="-122"/>
                <a:ea typeface="微软雅黑" pitchFamily="34" charset="-122"/>
              </a:rPr>
              <a:t>数据报</a:t>
            </a:r>
          </a:p>
        </p:txBody>
      </p:sp>
      <p:sp>
        <p:nvSpPr>
          <p:cNvPr id="79" name="Text Box 44"/>
          <p:cNvSpPr txBox="1">
            <a:spLocks noChangeArrowheads="1"/>
          </p:cNvSpPr>
          <p:nvPr/>
        </p:nvSpPr>
        <p:spPr bwMode="auto">
          <a:xfrm>
            <a:off x="1587417" y="2180142"/>
            <a:ext cx="1065065"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200" b="1" dirty="0">
                <a:latin typeface="微软雅黑" pitchFamily="34" charset="-122"/>
                <a:ea typeface="微软雅黑" pitchFamily="34" charset="-122"/>
              </a:rPr>
              <a:t>流标号：</a:t>
            </a:r>
            <a:r>
              <a:rPr kumimoji="1" lang="en-US" altLang="zh-CN" sz="1200" b="1" dirty="0">
                <a:latin typeface="微软雅黑" pitchFamily="34" charset="-122"/>
                <a:ea typeface="微软雅黑" pitchFamily="34" charset="-122"/>
              </a:rPr>
              <a:t>X</a:t>
            </a:r>
          </a:p>
          <a:p>
            <a:r>
              <a:rPr kumimoji="1" lang="zh-CN" altLang="en-US" sz="1200" b="1" dirty="0">
                <a:latin typeface="微软雅黑" pitchFamily="34" charset="-122"/>
                <a:ea typeface="微软雅黑" pitchFamily="34" charset="-122"/>
              </a:rPr>
              <a:t>源地址：</a:t>
            </a:r>
            <a:r>
              <a:rPr kumimoji="1" lang="en-US" altLang="zh-CN" sz="1200" b="1" dirty="0">
                <a:latin typeface="微软雅黑" pitchFamily="34" charset="-122"/>
                <a:ea typeface="微软雅黑" pitchFamily="34" charset="-122"/>
              </a:rPr>
              <a:t>A</a:t>
            </a:r>
          </a:p>
          <a:p>
            <a:r>
              <a:rPr kumimoji="1" lang="zh-CN" altLang="en-US" sz="1200" b="1" dirty="0">
                <a:latin typeface="微软雅黑" pitchFamily="34" charset="-122"/>
                <a:ea typeface="微软雅黑" pitchFamily="34" charset="-122"/>
              </a:rPr>
              <a:t>目的地址：</a:t>
            </a:r>
            <a:r>
              <a:rPr kumimoji="1" lang="en-US" altLang="zh-CN" sz="1200" b="1" dirty="0">
                <a:latin typeface="微软雅黑" pitchFamily="34" charset="-122"/>
                <a:ea typeface="微软雅黑" pitchFamily="34" charset="-122"/>
              </a:rPr>
              <a:t>F</a:t>
            </a:r>
          </a:p>
          <a:p>
            <a:r>
              <a:rPr kumimoji="1" lang="en-US" altLang="zh-CN" sz="1200" b="1" dirty="0">
                <a:latin typeface="微软雅黑" pitchFamily="34" charset="-122"/>
                <a:ea typeface="微软雅黑" pitchFamily="34" charset="-122"/>
              </a:rPr>
              <a:t>……</a:t>
            </a:r>
          </a:p>
          <a:p>
            <a:endParaRPr kumimoji="1" lang="en-US" altLang="zh-CN" sz="1200" b="1" dirty="0">
              <a:latin typeface="微软雅黑" pitchFamily="34" charset="-122"/>
              <a:ea typeface="微软雅黑" pitchFamily="34" charset="-122"/>
            </a:endParaRPr>
          </a:p>
          <a:p>
            <a:r>
              <a:rPr kumimoji="1" lang="en-US" altLang="zh-CN" sz="1200" b="1" dirty="0">
                <a:latin typeface="微软雅黑" pitchFamily="34" charset="-122"/>
                <a:ea typeface="微软雅黑" pitchFamily="34" charset="-122"/>
              </a:rPr>
              <a:t>   </a:t>
            </a:r>
            <a:r>
              <a:rPr kumimoji="1" lang="zh-CN" altLang="en-US" sz="1200" b="1" dirty="0">
                <a:solidFill>
                  <a:schemeClr val="bg1"/>
                </a:solidFill>
                <a:latin typeface="微软雅黑" pitchFamily="34" charset="-122"/>
                <a:ea typeface="微软雅黑" pitchFamily="34" charset="-122"/>
              </a:rPr>
              <a:t>数据部分</a:t>
            </a:r>
          </a:p>
        </p:txBody>
      </p:sp>
      <p:sp>
        <p:nvSpPr>
          <p:cNvPr id="80" name="Text Box 47"/>
          <p:cNvSpPr txBox="1">
            <a:spLocks noChangeArrowheads="1"/>
          </p:cNvSpPr>
          <p:nvPr/>
        </p:nvSpPr>
        <p:spPr bwMode="auto">
          <a:xfrm>
            <a:off x="6526436" y="2180142"/>
            <a:ext cx="1071287"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200" b="1" dirty="0">
                <a:latin typeface="微软雅黑" pitchFamily="34" charset="-122"/>
                <a:ea typeface="微软雅黑" pitchFamily="34" charset="-122"/>
              </a:rPr>
              <a:t>流标号：</a:t>
            </a:r>
            <a:r>
              <a:rPr kumimoji="1" lang="en-US" altLang="zh-CN" sz="1200" b="1" dirty="0">
                <a:latin typeface="微软雅黑" pitchFamily="34" charset="-122"/>
                <a:ea typeface="微软雅黑" pitchFamily="34" charset="-122"/>
              </a:rPr>
              <a:t>X</a:t>
            </a:r>
            <a:endParaRPr kumimoji="1" lang="zh-CN" altLang="en-US" sz="1200" b="1" dirty="0">
              <a:latin typeface="微软雅黑" pitchFamily="34" charset="-122"/>
              <a:ea typeface="微软雅黑" pitchFamily="34" charset="-122"/>
            </a:endParaRPr>
          </a:p>
          <a:p>
            <a:r>
              <a:rPr kumimoji="1" lang="zh-CN" altLang="en-US" sz="1200" b="1" dirty="0">
                <a:latin typeface="微软雅黑" pitchFamily="34" charset="-122"/>
                <a:ea typeface="微软雅黑" pitchFamily="34" charset="-122"/>
              </a:rPr>
              <a:t>源地址：</a:t>
            </a:r>
            <a:r>
              <a:rPr kumimoji="1" lang="en-US" altLang="zh-CN" sz="1200" b="1" dirty="0">
                <a:latin typeface="微软雅黑" pitchFamily="34" charset="-122"/>
                <a:ea typeface="微软雅黑" pitchFamily="34" charset="-122"/>
              </a:rPr>
              <a:t>A</a:t>
            </a:r>
          </a:p>
          <a:p>
            <a:r>
              <a:rPr kumimoji="1" lang="zh-CN" altLang="en-US" sz="1200" b="1" dirty="0">
                <a:latin typeface="微软雅黑" pitchFamily="34" charset="-122"/>
                <a:ea typeface="微软雅黑" pitchFamily="34" charset="-122"/>
              </a:rPr>
              <a:t>目的地址：</a:t>
            </a:r>
            <a:r>
              <a:rPr kumimoji="1" lang="en-US" altLang="zh-CN" sz="1200" b="1" dirty="0">
                <a:latin typeface="微软雅黑" pitchFamily="34" charset="-122"/>
                <a:ea typeface="微软雅黑" pitchFamily="34" charset="-122"/>
              </a:rPr>
              <a:t>F</a:t>
            </a:r>
          </a:p>
          <a:p>
            <a:r>
              <a:rPr kumimoji="1" lang="en-US" altLang="zh-CN" sz="1200" b="1" dirty="0">
                <a:latin typeface="微软雅黑" pitchFamily="34" charset="-122"/>
                <a:ea typeface="微软雅黑" pitchFamily="34" charset="-122"/>
              </a:rPr>
              <a:t>……</a:t>
            </a:r>
          </a:p>
          <a:p>
            <a:endParaRPr kumimoji="1" lang="en-US" altLang="zh-CN" sz="1200" b="1" dirty="0">
              <a:latin typeface="微软雅黑" pitchFamily="34" charset="-122"/>
              <a:ea typeface="微软雅黑" pitchFamily="34" charset="-122"/>
            </a:endParaRPr>
          </a:p>
          <a:p>
            <a:r>
              <a:rPr kumimoji="1" lang="en-US" altLang="zh-CN" sz="1200" b="1" dirty="0">
                <a:latin typeface="微软雅黑" pitchFamily="34" charset="-122"/>
                <a:ea typeface="微软雅黑" pitchFamily="34" charset="-122"/>
              </a:rPr>
              <a:t>   </a:t>
            </a:r>
            <a:r>
              <a:rPr kumimoji="1" lang="zh-CN" altLang="en-US" sz="1200" b="1" dirty="0">
                <a:solidFill>
                  <a:schemeClr val="bg1"/>
                </a:solidFill>
                <a:latin typeface="微软雅黑" pitchFamily="34" charset="-122"/>
                <a:ea typeface="微软雅黑" pitchFamily="34" charset="-122"/>
              </a:rPr>
              <a:t>数据部分</a:t>
            </a:r>
          </a:p>
        </p:txBody>
      </p:sp>
      <p:sp>
        <p:nvSpPr>
          <p:cNvPr id="81" name="Text Box 62"/>
          <p:cNvSpPr txBox="1">
            <a:spLocks noChangeArrowheads="1"/>
          </p:cNvSpPr>
          <p:nvPr/>
        </p:nvSpPr>
        <p:spPr bwMode="auto">
          <a:xfrm>
            <a:off x="3157437" y="2180142"/>
            <a:ext cx="105504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square">
            <a:spAutoFit/>
          </a:bodyPr>
          <a:lstStyle/>
          <a:p>
            <a:r>
              <a:rPr kumimoji="1" lang="zh-CN" altLang="en-US" sz="1200" b="1" dirty="0">
                <a:latin typeface="微软雅黑" pitchFamily="34" charset="-122"/>
                <a:ea typeface="微软雅黑" pitchFamily="34" charset="-122"/>
              </a:rPr>
              <a:t>源地址：</a:t>
            </a:r>
            <a:r>
              <a:rPr kumimoji="1" lang="en-US" altLang="zh-CN" sz="1200" b="1" dirty="0">
                <a:latin typeface="微软雅黑" pitchFamily="34" charset="-122"/>
                <a:ea typeface="微软雅黑" pitchFamily="34" charset="-122"/>
              </a:rPr>
              <a:t>B</a:t>
            </a:r>
          </a:p>
          <a:p>
            <a:r>
              <a:rPr kumimoji="1" lang="zh-CN" altLang="en-US" sz="1200" b="1" dirty="0">
                <a:latin typeface="微软雅黑" pitchFamily="34" charset="-122"/>
                <a:ea typeface="微软雅黑" pitchFamily="34" charset="-122"/>
              </a:rPr>
              <a:t>目的地址：</a:t>
            </a:r>
            <a:r>
              <a:rPr kumimoji="1" lang="en-US" altLang="zh-CN" sz="1200" b="1" dirty="0">
                <a:latin typeface="微软雅黑" pitchFamily="34" charset="-122"/>
                <a:ea typeface="微软雅黑" pitchFamily="34" charset="-122"/>
              </a:rPr>
              <a:t>E</a:t>
            </a:r>
          </a:p>
          <a:p>
            <a:r>
              <a:rPr kumimoji="1" lang="en-US" altLang="zh-CN" sz="1200" b="1" dirty="0">
                <a:latin typeface="微软雅黑" pitchFamily="34" charset="-122"/>
                <a:ea typeface="微软雅黑" pitchFamily="34" charset="-122"/>
              </a:rPr>
              <a:t>……</a:t>
            </a:r>
          </a:p>
        </p:txBody>
      </p:sp>
      <p:sp>
        <p:nvSpPr>
          <p:cNvPr id="82" name="Text Box 67"/>
          <p:cNvSpPr txBox="1">
            <a:spLocks noChangeArrowheads="1"/>
          </p:cNvSpPr>
          <p:nvPr/>
        </p:nvSpPr>
        <p:spPr bwMode="auto">
          <a:xfrm>
            <a:off x="5106427" y="2180142"/>
            <a:ext cx="1049288"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200" b="1" dirty="0">
                <a:latin typeface="微软雅黑" pitchFamily="34" charset="-122"/>
                <a:ea typeface="微软雅黑" pitchFamily="34" charset="-122"/>
              </a:rPr>
              <a:t>源地址：</a:t>
            </a:r>
            <a:r>
              <a:rPr kumimoji="1" lang="en-US" altLang="zh-CN" sz="1200" b="1" dirty="0">
                <a:latin typeface="微软雅黑" pitchFamily="34" charset="-122"/>
                <a:ea typeface="微软雅黑" pitchFamily="34" charset="-122"/>
              </a:rPr>
              <a:t>B</a:t>
            </a:r>
          </a:p>
          <a:p>
            <a:r>
              <a:rPr kumimoji="1" lang="zh-CN" altLang="en-US" sz="1200" b="1" dirty="0">
                <a:latin typeface="微软雅黑" pitchFamily="34" charset="-122"/>
                <a:ea typeface="微软雅黑" pitchFamily="34" charset="-122"/>
              </a:rPr>
              <a:t>目的地址：</a:t>
            </a:r>
            <a:r>
              <a:rPr kumimoji="1" lang="en-US" altLang="zh-CN" sz="1200" b="1" dirty="0">
                <a:latin typeface="微软雅黑" pitchFamily="34" charset="-122"/>
                <a:ea typeface="微软雅黑" pitchFamily="34" charset="-122"/>
              </a:rPr>
              <a:t>E</a:t>
            </a:r>
          </a:p>
          <a:p>
            <a:r>
              <a:rPr kumimoji="1" lang="en-US" altLang="zh-CN" sz="1200" b="1" dirty="0">
                <a:latin typeface="微软雅黑" pitchFamily="34" charset="-122"/>
                <a:ea typeface="微软雅黑" pitchFamily="34" charset="-122"/>
              </a:rPr>
              <a:t>……</a:t>
            </a:r>
          </a:p>
        </p:txBody>
      </p:sp>
      <p:pic>
        <p:nvPicPr>
          <p:cNvPr id="8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559727" y="1592982"/>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84"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336352" y="1592982"/>
            <a:ext cx="352881" cy="35288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6359308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圆角矩形 3"/>
          <p:cNvSpPr/>
          <p:nvPr/>
        </p:nvSpPr>
        <p:spPr>
          <a:xfrm>
            <a:off x="545145" y="1089802"/>
            <a:ext cx="8053710" cy="324454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69" name="矩形 68"/>
          <p:cNvSpPr/>
          <p:nvPr/>
        </p:nvSpPr>
        <p:spPr>
          <a:xfrm>
            <a:off x="2412325" y="3969844"/>
            <a:ext cx="4460639" cy="307777"/>
          </a:xfrm>
          <a:prstGeom prst="rect">
            <a:avLst/>
          </a:prstGeom>
        </p:spPr>
        <p:txBody>
          <a:bodyPr wrap="square">
            <a:spAutoFit/>
          </a:bodyPr>
          <a:lstStyle/>
          <a:p>
            <a:pPr algn="ctr"/>
            <a:r>
              <a:rPr lang="zh-CN" altLang="en-US" sz="1400" b="1" dirty="0">
                <a:latin typeface="微软雅黑" pitchFamily="34" charset="-122"/>
                <a:ea typeface="微软雅黑" pitchFamily="34" charset="-122"/>
              </a:rPr>
              <a:t>使用隧道技术进行从 </a:t>
            </a:r>
            <a:r>
              <a:rPr lang="en-US" altLang="zh-CN" sz="1400" b="1" dirty="0">
                <a:latin typeface="微软雅黑" pitchFamily="34" charset="-122"/>
                <a:ea typeface="微软雅黑" pitchFamily="34" charset="-122"/>
              </a:rPr>
              <a:t>IPv4 </a:t>
            </a:r>
            <a:r>
              <a:rPr lang="zh-CN" altLang="en-US" sz="1400" b="1" dirty="0">
                <a:latin typeface="微软雅黑" pitchFamily="34" charset="-122"/>
                <a:ea typeface="微软雅黑" pitchFamily="34" charset="-122"/>
              </a:rPr>
              <a:t>到 </a:t>
            </a:r>
            <a:r>
              <a:rPr lang="en-US" altLang="zh-CN" sz="1400" b="1" dirty="0">
                <a:latin typeface="微软雅黑" pitchFamily="34" charset="-122"/>
                <a:ea typeface="微软雅黑" pitchFamily="34" charset="-122"/>
              </a:rPr>
              <a:t>IPv6 </a:t>
            </a:r>
            <a:r>
              <a:rPr lang="zh-CN" altLang="en-US" sz="1400" b="1" dirty="0">
                <a:latin typeface="微软雅黑" pitchFamily="34" charset="-122"/>
                <a:ea typeface="微软雅黑" pitchFamily="34" charset="-122"/>
              </a:rPr>
              <a:t>的过渡</a:t>
            </a:r>
          </a:p>
        </p:txBody>
      </p:sp>
      <p:grpSp>
        <p:nvGrpSpPr>
          <p:cNvPr id="78" name="Group 23"/>
          <p:cNvGrpSpPr>
            <a:grpSpLocks/>
          </p:cNvGrpSpPr>
          <p:nvPr/>
        </p:nvGrpSpPr>
        <p:grpSpPr bwMode="auto">
          <a:xfrm>
            <a:off x="2917282" y="1265316"/>
            <a:ext cx="3307033" cy="744129"/>
            <a:chOff x="904" y="768"/>
            <a:chExt cx="2569" cy="1584"/>
          </a:xfrm>
          <a:solidFill>
            <a:srgbClr val="3399FF"/>
          </a:solidFill>
          <a:effectLst/>
        </p:grpSpPr>
        <p:sp>
          <p:nvSpPr>
            <p:cNvPr id="79" name="Oval 24"/>
            <p:cNvSpPr>
              <a:spLocks noChangeArrowheads="1"/>
            </p:cNvSpPr>
            <p:nvPr/>
          </p:nvSpPr>
          <p:spPr bwMode="auto">
            <a:xfrm>
              <a:off x="1751" y="799"/>
              <a:ext cx="1026" cy="62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80" name="Oval 25"/>
            <p:cNvSpPr>
              <a:spLocks noChangeArrowheads="1"/>
            </p:cNvSpPr>
            <p:nvPr/>
          </p:nvSpPr>
          <p:spPr bwMode="auto">
            <a:xfrm>
              <a:off x="1172" y="972"/>
              <a:ext cx="781" cy="62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81" name="Oval 26"/>
            <p:cNvSpPr>
              <a:spLocks noChangeArrowheads="1"/>
            </p:cNvSpPr>
            <p:nvPr/>
          </p:nvSpPr>
          <p:spPr bwMode="auto">
            <a:xfrm>
              <a:off x="926" y="1364"/>
              <a:ext cx="521" cy="502"/>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82" name="Oval 27"/>
            <p:cNvSpPr>
              <a:spLocks noChangeArrowheads="1"/>
            </p:cNvSpPr>
            <p:nvPr/>
          </p:nvSpPr>
          <p:spPr bwMode="auto">
            <a:xfrm>
              <a:off x="1085" y="1599"/>
              <a:ext cx="796" cy="54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83" name="Oval 28"/>
            <p:cNvSpPr>
              <a:spLocks noChangeArrowheads="1"/>
            </p:cNvSpPr>
            <p:nvPr/>
          </p:nvSpPr>
          <p:spPr bwMode="auto">
            <a:xfrm>
              <a:off x="1664" y="1693"/>
              <a:ext cx="1200" cy="65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84" name="Oval 29"/>
            <p:cNvSpPr>
              <a:spLocks noChangeArrowheads="1"/>
            </p:cNvSpPr>
            <p:nvPr/>
          </p:nvSpPr>
          <p:spPr bwMode="auto">
            <a:xfrm>
              <a:off x="2445" y="988"/>
              <a:ext cx="751" cy="48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85" name="Oval 30"/>
            <p:cNvSpPr>
              <a:spLocks noChangeArrowheads="1"/>
            </p:cNvSpPr>
            <p:nvPr/>
          </p:nvSpPr>
          <p:spPr bwMode="auto">
            <a:xfrm>
              <a:off x="2560" y="1317"/>
              <a:ext cx="752" cy="48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86" name="Oval 31"/>
            <p:cNvSpPr>
              <a:spLocks noChangeArrowheads="1"/>
            </p:cNvSpPr>
            <p:nvPr/>
          </p:nvSpPr>
          <p:spPr bwMode="auto">
            <a:xfrm>
              <a:off x="2488" y="1427"/>
              <a:ext cx="752" cy="815"/>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87" name="Oval 32"/>
            <p:cNvSpPr>
              <a:spLocks noChangeArrowheads="1"/>
            </p:cNvSpPr>
            <p:nvPr/>
          </p:nvSpPr>
          <p:spPr bwMode="auto">
            <a:xfrm>
              <a:off x="1360" y="1176"/>
              <a:ext cx="1547" cy="815"/>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grpSp>
          <p:nvGrpSpPr>
            <p:cNvPr id="88" name="Group 33"/>
            <p:cNvGrpSpPr>
              <a:grpSpLocks/>
            </p:cNvGrpSpPr>
            <p:nvPr/>
          </p:nvGrpSpPr>
          <p:grpSpPr bwMode="auto">
            <a:xfrm>
              <a:off x="904" y="768"/>
              <a:ext cx="2569" cy="1553"/>
              <a:chOff x="904" y="768"/>
              <a:chExt cx="2569" cy="1553"/>
            </a:xfrm>
            <a:grpFill/>
          </p:grpSpPr>
          <p:sp>
            <p:nvSpPr>
              <p:cNvPr id="89" name="Oval 34"/>
              <p:cNvSpPr>
                <a:spLocks noChangeArrowheads="1"/>
              </p:cNvSpPr>
              <p:nvPr/>
            </p:nvSpPr>
            <p:spPr bwMode="auto">
              <a:xfrm>
                <a:off x="1736" y="768"/>
                <a:ext cx="1027" cy="62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90" name="Oval 35"/>
              <p:cNvSpPr>
                <a:spLocks noChangeArrowheads="1"/>
              </p:cNvSpPr>
              <p:nvPr/>
            </p:nvSpPr>
            <p:spPr bwMode="auto">
              <a:xfrm>
                <a:off x="1158" y="941"/>
                <a:ext cx="781" cy="62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91" name="Oval 36"/>
              <p:cNvSpPr>
                <a:spLocks noChangeArrowheads="1"/>
              </p:cNvSpPr>
              <p:nvPr/>
            </p:nvSpPr>
            <p:spPr bwMode="auto">
              <a:xfrm>
                <a:off x="912" y="1333"/>
                <a:ext cx="520" cy="50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92" name="Oval 38"/>
              <p:cNvSpPr>
                <a:spLocks noChangeArrowheads="1"/>
              </p:cNvSpPr>
              <p:nvPr/>
            </p:nvSpPr>
            <p:spPr bwMode="auto">
              <a:xfrm>
                <a:off x="1649" y="1662"/>
                <a:ext cx="1200" cy="65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93" name="Oval 39"/>
              <p:cNvSpPr>
                <a:spLocks noChangeArrowheads="1"/>
              </p:cNvSpPr>
              <p:nvPr/>
            </p:nvSpPr>
            <p:spPr bwMode="auto">
              <a:xfrm>
                <a:off x="2430" y="956"/>
                <a:ext cx="752" cy="48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94" name="Oval 40"/>
              <p:cNvSpPr>
                <a:spLocks noChangeArrowheads="1"/>
              </p:cNvSpPr>
              <p:nvPr/>
            </p:nvSpPr>
            <p:spPr bwMode="auto">
              <a:xfrm>
                <a:off x="2546" y="1286"/>
                <a:ext cx="752" cy="48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95" name="Oval 41"/>
              <p:cNvSpPr>
                <a:spLocks noChangeArrowheads="1"/>
              </p:cNvSpPr>
              <p:nvPr/>
            </p:nvSpPr>
            <p:spPr bwMode="auto">
              <a:xfrm>
                <a:off x="2473" y="1395"/>
                <a:ext cx="752" cy="81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96" name="Oval 42"/>
              <p:cNvSpPr>
                <a:spLocks noChangeArrowheads="1"/>
              </p:cNvSpPr>
              <p:nvPr/>
            </p:nvSpPr>
            <p:spPr bwMode="auto">
              <a:xfrm>
                <a:off x="1346" y="1144"/>
                <a:ext cx="1547" cy="81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97" name="Oval 37"/>
              <p:cNvSpPr>
                <a:spLocks noChangeArrowheads="1"/>
              </p:cNvSpPr>
              <p:nvPr/>
            </p:nvSpPr>
            <p:spPr bwMode="auto">
              <a:xfrm>
                <a:off x="904" y="1175"/>
                <a:ext cx="922" cy="665"/>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pPr algn="ctr"/>
                <a:r>
                  <a:rPr lang="en-US" altLang="zh-CN" sz="1050" b="1" dirty="0">
                    <a:solidFill>
                      <a:schemeClr val="bg1"/>
                    </a:solidFill>
                    <a:latin typeface="微软雅黑" pitchFamily="34" charset="-122"/>
                    <a:ea typeface="微软雅黑" pitchFamily="34" charset="-122"/>
                  </a:rPr>
                  <a:t>IPv6 </a:t>
                </a:r>
                <a:r>
                  <a:rPr lang="zh-CN" altLang="en-US" sz="1050" b="1" dirty="0">
                    <a:solidFill>
                      <a:schemeClr val="bg1"/>
                    </a:solidFill>
                    <a:latin typeface="微软雅黑" pitchFamily="34" charset="-122"/>
                    <a:ea typeface="微软雅黑" pitchFamily="34" charset="-122"/>
                  </a:rPr>
                  <a:t>隧道</a:t>
                </a:r>
              </a:p>
            </p:txBody>
          </p:sp>
          <p:sp>
            <p:nvSpPr>
              <p:cNvPr id="98" name="Oval 37"/>
              <p:cNvSpPr>
                <a:spLocks noChangeArrowheads="1"/>
              </p:cNvSpPr>
              <p:nvPr/>
            </p:nvSpPr>
            <p:spPr bwMode="auto">
              <a:xfrm>
                <a:off x="1776" y="1175"/>
                <a:ext cx="984" cy="72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r>
                  <a:rPr lang="en-US" altLang="zh-CN" sz="1050" b="1" dirty="0">
                    <a:solidFill>
                      <a:schemeClr val="bg1"/>
                    </a:solidFill>
                    <a:latin typeface="微软雅黑" pitchFamily="34" charset="-122"/>
                    <a:ea typeface="微软雅黑" pitchFamily="34" charset="-122"/>
                  </a:rPr>
                  <a:t>IPv6 </a:t>
                </a:r>
                <a:r>
                  <a:rPr lang="zh-CN" altLang="en-US" sz="1050" b="1" dirty="0">
                    <a:solidFill>
                      <a:schemeClr val="bg1"/>
                    </a:solidFill>
                    <a:latin typeface="微软雅黑" pitchFamily="34" charset="-122"/>
                    <a:ea typeface="微软雅黑" pitchFamily="34" charset="-122"/>
                  </a:rPr>
                  <a:t>隧道</a:t>
                </a:r>
              </a:p>
            </p:txBody>
          </p:sp>
          <p:sp>
            <p:nvSpPr>
              <p:cNvPr id="99" name="Oval 37"/>
              <p:cNvSpPr>
                <a:spLocks noChangeArrowheads="1"/>
              </p:cNvSpPr>
              <p:nvPr/>
            </p:nvSpPr>
            <p:spPr bwMode="auto">
              <a:xfrm>
                <a:off x="2533" y="1175"/>
                <a:ext cx="940" cy="7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pPr algn="ctr"/>
                <a:r>
                  <a:rPr lang="en-US" altLang="zh-CN" sz="1050" b="1" dirty="0">
                    <a:solidFill>
                      <a:schemeClr val="bg1"/>
                    </a:solidFill>
                    <a:latin typeface="微软雅黑" pitchFamily="34" charset="-122"/>
                    <a:ea typeface="微软雅黑" pitchFamily="34" charset="-122"/>
                  </a:rPr>
                  <a:t>IPv6 </a:t>
                </a:r>
                <a:r>
                  <a:rPr lang="zh-CN" altLang="en-US" sz="1050" b="1" dirty="0">
                    <a:solidFill>
                      <a:schemeClr val="bg1"/>
                    </a:solidFill>
                    <a:latin typeface="微软雅黑" pitchFamily="34" charset="-122"/>
                    <a:ea typeface="微软雅黑" pitchFamily="34" charset="-122"/>
                  </a:rPr>
                  <a:t>隧道</a:t>
                </a:r>
              </a:p>
            </p:txBody>
          </p:sp>
        </p:grpSp>
      </p:grpSp>
      <p:sp>
        <p:nvSpPr>
          <p:cNvPr id="100" name="Line 44"/>
          <p:cNvSpPr>
            <a:spLocks noChangeShapeType="1"/>
          </p:cNvSpPr>
          <p:nvPr/>
        </p:nvSpPr>
        <p:spPr bwMode="auto">
          <a:xfrm>
            <a:off x="1824567" y="1751606"/>
            <a:ext cx="5648060" cy="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03" name="Text Box 51"/>
          <p:cNvSpPr txBox="1">
            <a:spLocks noChangeArrowheads="1"/>
          </p:cNvSpPr>
          <p:nvPr/>
        </p:nvSpPr>
        <p:spPr bwMode="auto">
          <a:xfrm>
            <a:off x="1567543" y="1314067"/>
            <a:ext cx="51969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IPv6</a:t>
            </a:r>
          </a:p>
        </p:txBody>
      </p:sp>
      <p:sp>
        <p:nvSpPr>
          <p:cNvPr id="104" name="Text Box 52"/>
          <p:cNvSpPr txBox="1">
            <a:spLocks noChangeArrowheads="1"/>
          </p:cNvSpPr>
          <p:nvPr/>
        </p:nvSpPr>
        <p:spPr bwMode="auto">
          <a:xfrm>
            <a:off x="7124403" y="1314067"/>
            <a:ext cx="51969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IPv6</a:t>
            </a:r>
          </a:p>
        </p:txBody>
      </p:sp>
      <p:sp>
        <p:nvSpPr>
          <p:cNvPr id="105" name="Text Box 53"/>
          <p:cNvSpPr txBox="1">
            <a:spLocks noChangeArrowheads="1"/>
          </p:cNvSpPr>
          <p:nvPr/>
        </p:nvSpPr>
        <p:spPr bwMode="auto">
          <a:xfrm>
            <a:off x="1419191" y="1548671"/>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A</a:t>
            </a:r>
          </a:p>
        </p:txBody>
      </p:sp>
      <p:sp>
        <p:nvSpPr>
          <p:cNvPr id="106" name="Text Box 58"/>
          <p:cNvSpPr txBox="1">
            <a:spLocks noChangeArrowheads="1"/>
          </p:cNvSpPr>
          <p:nvPr/>
        </p:nvSpPr>
        <p:spPr bwMode="auto">
          <a:xfrm>
            <a:off x="6988576" y="1512806"/>
            <a:ext cx="27122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F</a:t>
            </a:r>
          </a:p>
        </p:txBody>
      </p:sp>
      <p:sp>
        <p:nvSpPr>
          <p:cNvPr id="107" name="Line 59"/>
          <p:cNvSpPr>
            <a:spLocks noChangeShapeType="1"/>
          </p:cNvSpPr>
          <p:nvPr/>
        </p:nvSpPr>
        <p:spPr bwMode="auto">
          <a:xfrm>
            <a:off x="1771284" y="2087663"/>
            <a:ext cx="639403"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08" name="Line 60"/>
          <p:cNvSpPr>
            <a:spLocks noChangeShapeType="1"/>
          </p:cNvSpPr>
          <p:nvPr/>
        </p:nvSpPr>
        <p:spPr bwMode="auto">
          <a:xfrm>
            <a:off x="3263224" y="2087663"/>
            <a:ext cx="639403"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09" name="Line 61"/>
          <p:cNvSpPr>
            <a:spLocks noChangeShapeType="1"/>
          </p:cNvSpPr>
          <p:nvPr/>
        </p:nvSpPr>
        <p:spPr bwMode="auto">
          <a:xfrm>
            <a:off x="5234717" y="2087663"/>
            <a:ext cx="639403"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10" name="Line 62"/>
          <p:cNvSpPr>
            <a:spLocks noChangeShapeType="1"/>
          </p:cNvSpPr>
          <p:nvPr/>
        </p:nvSpPr>
        <p:spPr bwMode="auto">
          <a:xfrm>
            <a:off x="6673374" y="2087663"/>
            <a:ext cx="639403"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11" name="Text Box 63"/>
          <p:cNvSpPr txBox="1">
            <a:spLocks noChangeArrowheads="1"/>
          </p:cNvSpPr>
          <p:nvPr/>
        </p:nvSpPr>
        <p:spPr bwMode="auto">
          <a:xfrm>
            <a:off x="4484306" y="2481141"/>
            <a:ext cx="33214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a:t>
            </a:r>
          </a:p>
        </p:txBody>
      </p:sp>
      <p:sp>
        <p:nvSpPr>
          <p:cNvPr id="112" name="Text Box 64"/>
          <p:cNvSpPr txBox="1">
            <a:spLocks noChangeArrowheads="1"/>
          </p:cNvSpPr>
          <p:nvPr/>
        </p:nvSpPr>
        <p:spPr bwMode="auto">
          <a:xfrm>
            <a:off x="3158345" y="3202400"/>
            <a:ext cx="102784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IPv4 </a:t>
            </a:r>
            <a:r>
              <a:rPr kumimoji="1" lang="zh-CN" altLang="en-US" sz="1200" b="1" dirty="0">
                <a:latin typeface="微软雅黑" pitchFamily="34" charset="-122"/>
                <a:ea typeface="微软雅黑" pitchFamily="34" charset="-122"/>
              </a:rPr>
              <a:t>数据报</a:t>
            </a:r>
          </a:p>
        </p:txBody>
      </p:sp>
      <p:sp>
        <p:nvSpPr>
          <p:cNvPr id="113" name="Text Box 65"/>
          <p:cNvSpPr txBox="1">
            <a:spLocks noChangeArrowheads="1"/>
          </p:cNvSpPr>
          <p:nvPr/>
        </p:nvSpPr>
        <p:spPr bwMode="auto">
          <a:xfrm>
            <a:off x="5025934" y="3202400"/>
            <a:ext cx="102784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IPv4 </a:t>
            </a:r>
            <a:r>
              <a:rPr kumimoji="1" lang="zh-CN" altLang="en-US" sz="1200" b="1" dirty="0">
                <a:latin typeface="微软雅黑" pitchFamily="34" charset="-122"/>
                <a:ea typeface="微软雅黑" pitchFamily="34" charset="-122"/>
              </a:rPr>
              <a:t>数据报</a:t>
            </a:r>
          </a:p>
        </p:txBody>
      </p:sp>
      <p:sp>
        <p:nvSpPr>
          <p:cNvPr id="114" name="Rectangle 80"/>
          <p:cNvSpPr>
            <a:spLocks noChangeArrowheads="1"/>
          </p:cNvSpPr>
          <p:nvPr/>
        </p:nvSpPr>
        <p:spPr bwMode="auto">
          <a:xfrm>
            <a:off x="3197730" y="2186033"/>
            <a:ext cx="905821" cy="1044153"/>
          </a:xfrm>
          <a:prstGeom prst="rect">
            <a:avLst/>
          </a:prstGeom>
          <a:solidFill>
            <a:srgbClr val="00FFFF"/>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15" name="Text Box 81"/>
          <p:cNvSpPr txBox="1">
            <a:spLocks noChangeArrowheads="1"/>
          </p:cNvSpPr>
          <p:nvPr/>
        </p:nvSpPr>
        <p:spPr bwMode="auto">
          <a:xfrm>
            <a:off x="3197729" y="2186033"/>
            <a:ext cx="971314" cy="7694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100" b="1" dirty="0">
                <a:latin typeface="微软雅黑" pitchFamily="34" charset="-122"/>
                <a:ea typeface="微软雅黑" pitchFamily="34" charset="-122"/>
              </a:rPr>
              <a:t>源地址：</a:t>
            </a:r>
            <a:r>
              <a:rPr kumimoji="1" lang="en-US" altLang="zh-CN" sz="1100" b="1" dirty="0">
                <a:latin typeface="微软雅黑" pitchFamily="34" charset="-122"/>
                <a:ea typeface="微软雅黑" pitchFamily="34" charset="-122"/>
              </a:rPr>
              <a:t>B</a:t>
            </a:r>
          </a:p>
          <a:p>
            <a:r>
              <a:rPr kumimoji="1" lang="zh-CN" altLang="en-US" sz="1100" b="1" dirty="0">
                <a:latin typeface="微软雅黑" pitchFamily="34" charset="-122"/>
                <a:ea typeface="微软雅黑" pitchFamily="34" charset="-122"/>
              </a:rPr>
              <a:t>目的地址：</a:t>
            </a:r>
            <a:r>
              <a:rPr kumimoji="1" lang="en-US" altLang="zh-CN" sz="1100" b="1" dirty="0">
                <a:latin typeface="微软雅黑" pitchFamily="34" charset="-122"/>
                <a:ea typeface="微软雅黑" pitchFamily="34" charset="-122"/>
              </a:rPr>
              <a:t>E</a:t>
            </a:r>
          </a:p>
          <a:p>
            <a:endParaRPr kumimoji="1" lang="en-US" altLang="zh-CN" sz="1100" b="1" dirty="0">
              <a:latin typeface="微软雅黑" pitchFamily="34" charset="-122"/>
              <a:ea typeface="微软雅黑" pitchFamily="34" charset="-122"/>
            </a:endParaRPr>
          </a:p>
          <a:p>
            <a:endParaRPr kumimoji="1" lang="en-US" altLang="zh-CN" sz="1100" b="1" dirty="0">
              <a:latin typeface="微软雅黑" pitchFamily="34" charset="-122"/>
              <a:ea typeface="微软雅黑" pitchFamily="34" charset="-122"/>
            </a:endParaRPr>
          </a:p>
        </p:txBody>
      </p:sp>
      <p:sp>
        <p:nvSpPr>
          <p:cNvPr id="116" name="Rectangle 82"/>
          <p:cNvSpPr>
            <a:spLocks noChangeArrowheads="1"/>
          </p:cNvSpPr>
          <p:nvPr/>
        </p:nvSpPr>
        <p:spPr bwMode="auto">
          <a:xfrm>
            <a:off x="3274324" y="2623140"/>
            <a:ext cx="745970" cy="525663"/>
          </a:xfrm>
          <a:prstGeom prst="rect">
            <a:avLst/>
          </a:prstGeom>
          <a:solidFill>
            <a:srgbClr val="FFFF00"/>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17" name="Text Box 83"/>
          <p:cNvSpPr txBox="1">
            <a:spLocks noChangeArrowheads="1"/>
          </p:cNvSpPr>
          <p:nvPr/>
        </p:nvSpPr>
        <p:spPr bwMode="auto">
          <a:xfrm>
            <a:off x="3314153" y="2628302"/>
            <a:ext cx="64633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dirty="0">
                <a:latin typeface="微软雅黑" pitchFamily="34" charset="-122"/>
                <a:ea typeface="微软雅黑" pitchFamily="34" charset="-122"/>
              </a:rPr>
              <a:t>IPv6</a:t>
            </a:r>
          </a:p>
          <a:p>
            <a:pPr algn="ctr"/>
            <a:r>
              <a:rPr kumimoji="1" lang="zh-CN" altLang="en-US" sz="1200" b="1" dirty="0">
                <a:latin typeface="微软雅黑" pitchFamily="34" charset="-122"/>
                <a:ea typeface="微软雅黑" pitchFamily="34" charset="-122"/>
              </a:rPr>
              <a:t>数据报</a:t>
            </a:r>
          </a:p>
        </p:txBody>
      </p:sp>
      <p:sp>
        <p:nvSpPr>
          <p:cNvPr id="119" name="Text Box 88"/>
          <p:cNvSpPr txBox="1">
            <a:spLocks noChangeArrowheads="1"/>
          </p:cNvSpPr>
          <p:nvPr/>
        </p:nvSpPr>
        <p:spPr bwMode="auto">
          <a:xfrm>
            <a:off x="5823499" y="1128268"/>
            <a:ext cx="92685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latin typeface="微软雅黑" pitchFamily="34" charset="-122"/>
                <a:ea typeface="微软雅黑" pitchFamily="34" charset="-122"/>
              </a:rPr>
              <a:t>双协议栈</a:t>
            </a:r>
          </a:p>
          <a:p>
            <a:pPr algn="ctr"/>
            <a:r>
              <a:rPr kumimoji="1" lang="en-US" altLang="zh-CN" sz="1200" b="1" dirty="0">
                <a:latin typeface="微软雅黑" pitchFamily="34" charset="-122"/>
                <a:ea typeface="微软雅黑" pitchFamily="34" charset="-122"/>
              </a:rPr>
              <a:t>IPv6/IPv4</a:t>
            </a:r>
          </a:p>
        </p:txBody>
      </p:sp>
      <p:sp>
        <p:nvSpPr>
          <p:cNvPr id="120" name="Rectangle 90"/>
          <p:cNvSpPr>
            <a:spLocks noChangeArrowheads="1"/>
          </p:cNvSpPr>
          <p:nvPr/>
        </p:nvSpPr>
        <p:spPr bwMode="auto">
          <a:xfrm>
            <a:off x="1652506" y="2186033"/>
            <a:ext cx="905821" cy="1044153"/>
          </a:xfrm>
          <a:prstGeom prst="rect">
            <a:avLst/>
          </a:prstGeom>
          <a:solidFill>
            <a:srgbClr val="0000FF"/>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21" name="Text Box 91"/>
          <p:cNvSpPr txBox="1">
            <a:spLocks noChangeArrowheads="1"/>
          </p:cNvSpPr>
          <p:nvPr/>
        </p:nvSpPr>
        <p:spPr bwMode="auto">
          <a:xfrm>
            <a:off x="1652505" y="2212409"/>
            <a:ext cx="1105389" cy="1028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100" b="1" dirty="0">
                <a:solidFill>
                  <a:schemeClr val="bg1"/>
                </a:solidFill>
                <a:latin typeface="微软雅黑" pitchFamily="34" charset="-122"/>
                <a:ea typeface="微软雅黑" pitchFamily="34" charset="-122"/>
              </a:rPr>
              <a:t>流标号：</a:t>
            </a:r>
            <a:r>
              <a:rPr kumimoji="1" lang="en-US" altLang="zh-CN" sz="1100" b="1" dirty="0">
                <a:solidFill>
                  <a:schemeClr val="bg1"/>
                </a:solidFill>
                <a:latin typeface="微软雅黑" pitchFamily="34" charset="-122"/>
                <a:ea typeface="微软雅黑" pitchFamily="34" charset="-122"/>
              </a:rPr>
              <a:t>X</a:t>
            </a:r>
          </a:p>
          <a:p>
            <a:r>
              <a:rPr kumimoji="1" lang="zh-CN" altLang="en-US" sz="1100" b="1" dirty="0">
                <a:solidFill>
                  <a:schemeClr val="bg1"/>
                </a:solidFill>
                <a:latin typeface="微软雅黑" pitchFamily="34" charset="-122"/>
                <a:ea typeface="微软雅黑" pitchFamily="34" charset="-122"/>
              </a:rPr>
              <a:t>源地址：</a:t>
            </a:r>
            <a:r>
              <a:rPr kumimoji="1" lang="en-US" altLang="zh-CN" sz="1100" b="1" dirty="0">
                <a:solidFill>
                  <a:schemeClr val="bg1"/>
                </a:solidFill>
                <a:latin typeface="微软雅黑" pitchFamily="34" charset="-122"/>
                <a:ea typeface="微软雅黑" pitchFamily="34" charset="-122"/>
              </a:rPr>
              <a:t>A</a:t>
            </a:r>
          </a:p>
          <a:p>
            <a:r>
              <a:rPr kumimoji="1" lang="zh-CN" altLang="en-US" sz="1100" b="1" dirty="0">
                <a:solidFill>
                  <a:schemeClr val="bg1"/>
                </a:solidFill>
                <a:latin typeface="微软雅黑" pitchFamily="34" charset="-122"/>
                <a:ea typeface="微软雅黑" pitchFamily="34" charset="-122"/>
              </a:rPr>
              <a:t>目的地址：</a:t>
            </a:r>
            <a:r>
              <a:rPr kumimoji="1" lang="en-US" altLang="zh-CN" sz="1100" b="1" dirty="0">
                <a:solidFill>
                  <a:schemeClr val="bg1"/>
                </a:solidFill>
                <a:latin typeface="微软雅黑" pitchFamily="34" charset="-122"/>
                <a:ea typeface="微软雅黑" pitchFamily="34" charset="-122"/>
              </a:rPr>
              <a:t>F</a:t>
            </a:r>
          </a:p>
          <a:p>
            <a:r>
              <a:rPr kumimoji="1" lang="en-US" altLang="zh-CN" sz="1100" b="1" dirty="0">
                <a:solidFill>
                  <a:schemeClr val="bg1"/>
                </a:solidFill>
                <a:latin typeface="微软雅黑" pitchFamily="34" charset="-122"/>
                <a:ea typeface="微软雅黑" pitchFamily="34" charset="-122"/>
              </a:rPr>
              <a:t>……</a:t>
            </a:r>
          </a:p>
          <a:p>
            <a:pPr>
              <a:spcBef>
                <a:spcPts val="700"/>
              </a:spcBef>
            </a:pPr>
            <a:r>
              <a:rPr kumimoji="1" lang="en-US" altLang="zh-CN" sz="1100" b="1" dirty="0">
                <a:solidFill>
                  <a:schemeClr val="bg1"/>
                </a:solidFill>
                <a:latin typeface="微软雅黑" pitchFamily="34" charset="-122"/>
                <a:ea typeface="微软雅黑" pitchFamily="34" charset="-122"/>
              </a:rPr>
              <a:t>   </a:t>
            </a:r>
            <a:r>
              <a:rPr kumimoji="1" lang="zh-CN" altLang="en-US" sz="1100" b="1" dirty="0">
                <a:solidFill>
                  <a:schemeClr val="bg1"/>
                </a:solidFill>
                <a:latin typeface="微软雅黑" pitchFamily="34" charset="-122"/>
                <a:ea typeface="微软雅黑" pitchFamily="34" charset="-122"/>
              </a:rPr>
              <a:t>数据部分</a:t>
            </a:r>
          </a:p>
        </p:txBody>
      </p:sp>
      <p:sp>
        <p:nvSpPr>
          <p:cNvPr id="122" name="Text Box 92"/>
          <p:cNvSpPr txBox="1">
            <a:spLocks noChangeArrowheads="1"/>
          </p:cNvSpPr>
          <p:nvPr/>
        </p:nvSpPr>
        <p:spPr bwMode="auto">
          <a:xfrm>
            <a:off x="1584791" y="3220563"/>
            <a:ext cx="102784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IPv6 </a:t>
            </a:r>
            <a:r>
              <a:rPr kumimoji="1" lang="zh-CN" altLang="en-US" sz="1200" b="1" dirty="0">
                <a:latin typeface="微软雅黑" pitchFamily="34" charset="-122"/>
                <a:ea typeface="微软雅黑" pitchFamily="34" charset="-122"/>
              </a:rPr>
              <a:t>数据报</a:t>
            </a:r>
          </a:p>
        </p:txBody>
      </p:sp>
      <p:sp>
        <p:nvSpPr>
          <p:cNvPr id="123" name="Line 93"/>
          <p:cNvSpPr>
            <a:spLocks noChangeShapeType="1"/>
          </p:cNvSpPr>
          <p:nvPr/>
        </p:nvSpPr>
        <p:spPr bwMode="auto">
          <a:xfrm>
            <a:off x="1664717" y="2974792"/>
            <a:ext cx="87584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24" name="Line 94"/>
          <p:cNvSpPr>
            <a:spLocks noChangeShapeType="1"/>
          </p:cNvSpPr>
          <p:nvPr/>
        </p:nvSpPr>
        <p:spPr bwMode="auto">
          <a:xfrm>
            <a:off x="2570539" y="2211650"/>
            <a:ext cx="692686" cy="40799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25" name="Line 95"/>
          <p:cNvSpPr>
            <a:spLocks noChangeShapeType="1"/>
          </p:cNvSpPr>
          <p:nvPr/>
        </p:nvSpPr>
        <p:spPr bwMode="auto">
          <a:xfrm flipV="1">
            <a:off x="2570538" y="3148803"/>
            <a:ext cx="703786" cy="103926"/>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26" name="Rectangle 96"/>
          <p:cNvSpPr>
            <a:spLocks noChangeArrowheads="1"/>
          </p:cNvSpPr>
          <p:nvPr/>
        </p:nvSpPr>
        <p:spPr bwMode="auto">
          <a:xfrm>
            <a:off x="6513523" y="2186033"/>
            <a:ext cx="905821" cy="1044153"/>
          </a:xfrm>
          <a:prstGeom prst="rect">
            <a:avLst/>
          </a:prstGeom>
          <a:solidFill>
            <a:srgbClr val="0000FF"/>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27" name="Text Box 97"/>
          <p:cNvSpPr txBox="1">
            <a:spLocks noChangeArrowheads="1"/>
          </p:cNvSpPr>
          <p:nvPr/>
        </p:nvSpPr>
        <p:spPr bwMode="auto">
          <a:xfrm>
            <a:off x="6513523" y="2212409"/>
            <a:ext cx="994627" cy="1028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100" b="1" dirty="0">
                <a:solidFill>
                  <a:schemeClr val="bg1"/>
                </a:solidFill>
                <a:latin typeface="微软雅黑" pitchFamily="34" charset="-122"/>
                <a:ea typeface="微软雅黑" pitchFamily="34" charset="-122"/>
              </a:rPr>
              <a:t>流标号：</a:t>
            </a:r>
            <a:r>
              <a:rPr kumimoji="1" lang="en-US" altLang="zh-CN" sz="1100" b="1" dirty="0">
                <a:solidFill>
                  <a:schemeClr val="bg1"/>
                </a:solidFill>
                <a:latin typeface="微软雅黑" pitchFamily="34" charset="-122"/>
                <a:ea typeface="微软雅黑" pitchFamily="34" charset="-122"/>
              </a:rPr>
              <a:t>X</a:t>
            </a:r>
          </a:p>
          <a:p>
            <a:r>
              <a:rPr kumimoji="1" lang="zh-CN" altLang="en-US" sz="1100" b="1" dirty="0">
                <a:solidFill>
                  <a:schemeClr val="bg1"/>
                </a:solidFill>
                <a:latin typeface="微软雅黑" pitchFamily="34" charset="-122"/>
                <a:ea typeface="微软雅黑" pitchFamily="34" charset="-122"/>
              </a:rPr>
              <a:t>源地址：</a:t>
            </a:r>
            <a:r>
              <a:rPr kumimoji="1" lang="en-US" altLang="zh-CN" sz="1100" b="1" dirty="0">
                <a:solidFill>
                  <a:schemeClr val="bg1"/>
                </a:solidFill>
                <a:latin typeface="微软雅黑" pitchFamily="34" charset="-122"/>
                <a:ea typeface="微软雅黑" pitchFamily="34" charset="-122"/>
              </a:rPr>
              <a:t>A</a:t>
            </a:r>
          </a:p>
          <a:p>
            <a:r>
              <a:rPr kumimoji="1" lang="zh-CN" altLang="en-US" sz="1100" b="1" dirty="0">
                <a:solidFill>
                  <a:schemeClr val="bg1"/>
                </a:solidFill>
                <a:latin typeface="微软雅黑" pitchFamily="34" charset="-122"/>
                <a:ea typeface="微软雅黑" pitchFamily="34" charset="-122"/>
              </a:rPr>
              <a:t>目的地址：</a:t>
            </a:r>
            <a:r>
              <a:rPr kumimoji="1" lang="en-US" altLang="zh-CN" sz="1100" b="1" dirty="0">
                <a:solidFill>
                  <a:schemeClr val="bg1"/>
                </a:solidFill>
                <a:latin typeface="微软雅黑" pitchFamily="34" charset="-122"/>
                <a:ea typeface="微软雅黑" pitchFamily="34" charset="-122"/>
              </a:rPr>
              <a:t>F</a:t>
            </a:r>
          </a:p>
          <a:p>
            <a:r>
              <a:rPr kumimoji="1" lang="en-US" altLang="zh-CN" sz="1100" b="1" dirty="0">
                <a:solidFill>
                  <a:schemeClr val="bg1"/>
                </a:solidFill>
                <a:latin typeface="微软雅黑" pitchFamily="34" charset="-122"/>
                <a:ea typeface="微软雅黑" pitchFamily="34" charset="-122"/>
              </a:rPr>
              <a:t>……</a:t>
            </a:r>
          </a:p>
          <a:p>
            <a:pPr>
              <a:spcBef>
                <a:spcPts val="700"/>
              </a:spcBef>
            </a:pPr>
            <a:r>
              <a:rPr kumimoji="1" lang="en-US" altLang="zh-CN" sz="1100" b="1" dirty="0">
                <a:solidFill>
                  <a:schemeClr val="bg1"/>
                </a:solidFill>
                <a:latin typeface="微软雅黑" pitchFamily="34" charset="-122"/>
                <a:ea typeface="微软雅黑" pitchFamily="34" charset="-122"/>
              </a:rPr>
              <a:t>   </a:t>
            </a:r>
            <a:r>
              <a:rPr kumimoji="1" lang="zh-CN" altLang="en-US" sz="1100" b="1" dirty="0">
                <a:solidFill>
                  <a:schemeClr val="bg1"/>
                </a:solidFill>
                <a:latin typeface="微软雅黑" pitchFamily="34" charset="-122"/>
                <a:ea typeface="微软雅黑" pitchFamily="34" charset="-122"/>
              </a:rPr>
              <a:t>数据部分</a:t>
            </a:r>
          </a:p>
        </p:txBody>
      </p:sp>
      <p:sp>
        <p:nvSpPr>
          <p:cNvPr id="128" name="Text Box 98"/>
          <p:cNvSpPr txBox="1">
            <a:spLocks noChangeArrowheads="1"/>
          </p:cNvSpPr>
          <p:nvPr/>
        </p:nvSpPr>
        <p:spPr bwMode="auto">
          <a:xfrm>
            <a:off x="6463393" y="3216106"/>
            <a:ext cx="102784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IPv6 </a:t>
            </a:r>
            <a:r>
              <a:rPr kumimoji="1" lang="zh-CN" altLang="en-US" sz="1200" b="1" dirty="0">
                <a:latin typeface="微软雅黑" pitchFamily="34" charset="-122"/>
                <a:ea typeface="微软雅黑" pitchFamily="34" charset="-122"/>
              </a:rPr>
              <a:t>数据报</a:t>
            </a:r>
          </a:p>
        </p:txBody>
      </p:sp>
      <p:sp>
        <p:nvSpPr>
          <p:cNvPr id="129" name="Line 99"/>
          <p:cNvSpPr>
            <a:spLocks noChangeShapeType="1"/>
          </p:cNvSpPr>
          <p:nvPr/>
        </p:nvSpPr>
        <p:spPr bwMode="auto">
          <a:xfrm>
            <a:off x="6525734" y="2974792"/>
            <a:ext cx="87584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30" name="Rectangle 100"/>
          <p:cNvSpPr>
            <a:spLocks noChangeArrowheads="1"/>
          </p:cNvSpPr>
          <p:nvPr/>
        </p:nvSpPr>
        <p:spPr bwMode="auto">
          <a:xfrm>
            <a:off x="5062655" y="2186033"/>
            <a:ext cx="905821" cy="1044153"/>
          </a:xfrm>
          <a:prstGeom prst="rect">
            <a:avLst/>
          </a:prstGeom>
          <a:solidFill>
            <a:srgbClr val="00FFFF"/>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31" name="Text Box 101"/>
          <p:cNvSpPr txBox="1">
            <a:spLocks noChangeArrowheads="1"/>
          </p:cNvSpPr>
          <p:nvPr/>
        </p:nvSpPr>
        <p:spPr bwMode="auto">
          <a:xfrm>
            <a:off x="5062655" y="2186033"/>
            <a:ext cx="971314" cy="7694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100" b="1">
                <a:latin typeface="微软雅黑" pitchFamily="34" charset="-122"/>
                <a:ea typeface="微软雅黑" pitchFamily="34" charset="-122"/>
              </a:rPr>
              <a:t>源地址：</a:t>
            </a:r>
            <a:r>
              <a:rPr kumimoji="1" lang="en-US" altLang="zh-CN" sz="1100" b="1">
                <a:latin typeface="微软雅黑" pitchFamily="34" charset="-122"/>
                <a:ea typeface="微软雅黑" pitchFamily="34" charset="-122"/>
              </a:rPr>
              <a:t>B</a:t>
            </a:r>
          </a:p>
          <a:p>
            <a:r>
              <a:rPr kumimoji="1" lang="zh-CN" altLang="en-US" sz="1100" b="1">
                <a:latin typeface="微软雅黑" pitchFamily="34" charset="-122"/>
                <a:ea typeface="微软雅黑" pitchFamily="34" charset="-122"/>
              </a:rPr>
              <a:t>目的地址：</a:t>
            </a:r>
            <a:r>
              <a:rPr kumimoji="1" lang="en-US" altLang="zh-CN" sz="1100" b="1">
                <a:latin typeface="微软雅黑" pitchFamily="34" charset="-122"/>
                <a:ea typeface="微软雅黑" pitchFamily="34" charset="-122"/>
              </a:rPr>
              <a:t>E</a:t>
            </a:r>
          </a:p>
          <a:p>
            <a:endParaRPr kumimoji="1" lang="en-US" altLang="zh-CN" sz="1100" b="1">
              <a:latin typeface="微软雅黑" pitchFamily="34" charset="-122"/>
              <a:ea typeface="微软雅黑" pitchFamily="34" charset="-122"/>
            </a:endParaRPr>
          </a:p>
          <a:p>
            <a:endParaRPr kumimoji="1" lang="en-US" altLang="zh-CN" sz="1100" b="1">
              <a:latin typeface="微软雅黑" pitchFamily="34" charset="-122"/>
              <a:ea typeface="微软雅黑" pitchFamily="34" charset="-122"/>
            </a:endParaRPr>
          </a:p>
        </p:txBody>
      </p:sp>
      <p:sp>
        <p:nvSpPr>
          <p:cNvPr id="132" name="Rectangle 102"/>
          <p:cNvSpPr>
            <a:spLocks noChangeArrowheads="1"/>
          </p:cNvSpPr>
          <p:nvPr/>
        </p:nvSpPr>
        <p:spPr bwMode="auto">
          <a:xfrm>
            <a:off x="5139250" y="2623140"/>
            <a:ext cx="745970" cy="525663"/>
          </a:xfrm>
          <a:prstGeom prst="rect">
            <a:avLst/>
          </a:prstGeom>
          <a:solidFill>
            <a:srgbClr val="FFFF00"/>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33" name="Text Box 103"/>
          <p:cNvSpPr txBox="1">
            <a:spLocks noChangeArrowheads="1"/>
          </p:cNvSpPr>
          <p:nvPr/>
        </p:nvSpPr>
        <p:spPr bwMode="auto">
          <a:xfrm>
            <a:off x="5179080" y="2628302"/>
            <a:ext cx="64633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a:latin typeface="微软雅黑" pitchFamily="34" charset="-122"/>
                <a:ea typeface="微软雅黑" pitchFamily="34" charset="-122"/>
              </a:rPr>
              <a:t>IPv6</a:t>
            </a:r>
          </a:p>
          <a:p>
            <a:pPr algn="ctr"/>
            <a:r>
              <a:rPr kumimoji="1" lang="zh-CN" altLang="en-US" sz="1200" b="1">
                <a:latin typeface="微软雅黑" pitchFamily="34" charset="-122"/>
                <a:ea typeface="微软雅黑" pitchFamily="34" charset="-122"/>
              </a:rPr>
              <a:t>数据报</a:t>
            </a:r>
          </a:p>
        </p:txBody>
      </p:sp>
      <p:sp>
        <p:nvSpPr>
          <p:cNvPr id="134" name="Line 104"/>
          <p:cNvSpPr>
            <a:spLocks noChangeShapeType="1"/>
          </p:cNvSpPr>
          <p:nvPr/>
        </p:nvSpPr>
        <p:spPr bwMode="auto">
          <a:xfrm flipV="1">
            <a:off x="5885220" y="2195254"/>
            <a:ext cx="643844" cy="42438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35" name="Line 105"/>
          <p:cNvSpPr>
            <a:spLocks noChangeShapeType="1"/>
          </p:cNvSpPr>
          <p:nvPr/>
        </p:nvSpPr>
        <p:spPr bwMode="auto">
          <a:xfrm>
            <a:off x="5885220" y="3148803"/>
            <a:ext cx="616092" cy="98803"/>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cxnSp>
        <p:nvCxnSpPr>
          <p:cNvPr id="137" name="直接连接符 136"/>
          <p:cNvCxnSpPr/>
          <p:nvPr/>
        </p:nvCxnSpPr>
        <p:spPr bwMode="auto">
          <a:xfrm>
            <a:off x="2945603" y="1745201"/>
            <a:ext cx="3242113" cy="0"/>
          </a:xfrm>
          <a:prstGeom prst="line">
            <a:avLst/>
          </a:prstGeom>
          <a:solidFill>
            <a:schemeClr val="accent1"/>
          </a:solidFill>
          <a:ln w="76200" cap="flat" cmpd="sng" algn="ctr">
            <a:solidFill>
              <a:srgbClr val="CC00CC"/>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8" name="Text Box 43"/>
          <p:cNvSpPr txBox="1">
            <a:spLocks noChangeArrowheads="1"/>
          </p:cNvSpPr>
          <p:nvPr/>
        </p:nvSpPr>
        <p:spPr bwMode="auto">
          <a:xfrm>
            <a:off x="4246313" y="1253448"/>
            <a:ext cx="87395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chemeClr val="bg1"/>
                </a:solidFill>
                <a:latin typeface="微软雅黑" pitchFamily="34" charset="-122"/>
                <a:ea typeface="微软雅黑" pitchFamily="34" charset="-122"/>
              </a:rPr>
              <a:t>IPv4 </a:t>
            </a:r>
            <a:r>
              <a:rPr kumimoji="1" lang="zh-CN" altLang="en-US" sz="1200" b="1" dirty="0">
                <a:solidFill>
                  <a:schemeClr val="bg1"/>
                </a:solidFill>
                <a:latin typeface="微软雅黑" pitchFamily="34" charset="-122"/>
                <a:ea typeface="微软雅黑" pitchFamily="34" charset="-122"/>
              </a:rPr>
              <a:t>网络</a:t>
            </a:r>
          </a:p>
        </p:txBody>
      </p:sp>
      <p:pic>
        <p:nvPicPr>
          <p:cNvPr id="139"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757895" y="1604051"/>
            <a:ext cx="364105" cy="2254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0"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64791" y="1604051"/>
            <a:ext cx="364105" cy="2254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1" name="Picture 4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923896" y="1604051"/>
            <a:ext cx="364105" cy="2254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2" name="Picture 4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66723" y="1604051"/>
            <a:ext cx="364105" cy="2254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43" name="Text Box 54"/>
          <p:cNvSpPr txBox="1">
            <a:spLocks noChangeArrowheads="1"/>
          </p:cNvSpPr>
          <p:nvPr/>
        </p:nvSpPr>
        <p:spPr bwMode="auto">
          <a:xfrm>
            <a:off x="2531341" y="1520751"/>
            <a:ext cx="2904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00000"/>
                </a:solidFill>
                <a:latin typeface="微软雅黑" pitchFamily="34" charset="-122"/>
                <a:ea typeface="微软雅黑" pitchFamily="34" charset="-122"/>
              </a:rPr>
              <a:t>B</a:t>
            </a:r>
          </a:p>
        </p:txBody>
      </p:sp>
      <p:sp>
        <p:nvSpPr>
          <p:cNvPr id="144" name="Text Box 55"/>
          <p:cNvSpPr txBox="1">
            <a:spLocks noChangeArrowheads="1"/>
          </p:cNvSpPr>
          <p:nvPr/>
        </p:nvSpPr>
        <p:spPr bwMode="auto">
          <a:xfrm>
            <a:off x="3995350" y="1376532"/>
            <a:ext cx="28886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C</a:t>
            </a:r>
          </a:p>
        </p:txBody>
      </p:sp>
      <p:sp>
        <p:nvSpPr>
          <p:cNvPr id="145" name="Text Box 56"/>
          <p:cNvSpPr txBox="1">
            <a:spLocks noChangeArrowheads="1"/>
          </p:cNvSpPr>
          <p:nvPr/>
        </p:nvSpPr>
        <p:spPr bwMode="auto">
          <a:xfrm>
            <a:off x="4953403" y="1376532"/>
            <a:ext cx="30649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D</a:t>
            </a:r>
          </a:p>
        </p:txBody>
      </p:sp>
      <p:sp>
        <p:nvSpPr>
          <p:cNvPr id="146" name="Text Box 57"/>
          <p:cNvSpPr txBox="1">
            <a:spLocks noChangeArrowheads="1"/>
          </p:cNvSpPr>
          <p:nvPr/>
        </p:nvSpPr>
        <p:spPr bwMode="auto">
          <a:xfrm>
            <a:off x="6357889" y="1510099"/>
            <a:ext cx="27283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00000"/>
                </a:solidFill>
                <a:latin typeface="微软雅黑" pitchFamily="34" charset="-122"/>
                <a:ea typeface="微软雅黑" pitchFamily="34" charset="-122"/>
              </a:rPr>
              <a:t>E</a:t>
            </a:r>
          </a:p>
        </p:txBody>
      </p:sp>
      <p:sp>
        <p:nvSpPr>
          <p:cNvPr id="147" name="Text Box 87"/>
          <p:cNvSpPr txBox="1">
            <a:spLocks noChangeArrowheads="1"/>
          </p:cNvSpPr>
          <p:nvPr/>
        </p:nvSpPr>
        <p:spPr bwMode="auto">
          <a:xfrm>
            <a:off x="2439456" y="1127144"/>
            <a:ext cx="92685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latin typeface="微软雅黑" pitchFamily="34" charset="-122"/>
                <a:ea typeface="微软雅黑" pitchFamily="34" charset="-122"/>
              </a:rPr>
              <a:t>双协议栈</a:t>
            </a:r>
          </a:p>
          <a:p>
            <a:pPr algn="ctr"/>
            <a:r>
              <a:rPr kumimoji="1" lang="en-US" altLang="zh-CN" sz="1200" b="1" dirty="0">
                <a:latin typeface="微软雅黑" pitchFamily="34" charset="-122"/>
                <a:ea typeface="微软雅黑" pitchFamily="34" charset="-122"/>
              </a:rPr>
              <a:t>IPv6/IPv4</a:t>
            </a:r>
          </a:p>
        </p:txBody>
      </p:sp>
      <p:grpSp>
        <p:nvGrpSpPr>
          <p:cNvPr id="148" name="组合 147"/>
          <p:cNvGrpSpPr/>
          <p:nvPr/>
        </p:nvGrpSpPr>
        <p:grpSpPr>
          <a:xfrm>
            <a:off x="2902885" y="1884639"/>
            <a:ext cx="3384042" cy="2045077"/>
            <a:chOff x="2922487" y="2420888"/>
            <a:chExt cx="4622801" cy="2590800"/>
          </a:xfrm>
        </p:grpSpPr>
        <p:sp>
          <p:nvSpPr>
            <p:cNvPr id="149" name="Line 55"/>
            <p:cNvSpPr>
              <a:spLocks noChangeShapeType="1"/>
            </p:cNvSpPr>
            <p:nvPr/>
          </p:nvSpPr>
          <p:spPr bwMode="auto">
            <a:xfrm>
              <a:off x="2922487" y="2420888"/>
              <a:ext cx="0" cy="2590800"/>
            </a:xfrm>
            <a:prstGeom prst="line">
              <a:avLst/>
            </a:prstGeom>
            <a:noFill/>
            <a:ln w="1905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50" name="Line 56"/>
            <p:cNvSpPr>
              <a:spLocks noChangeShapeType="1"/>
            </p:cNvSpPr>
            <p:nvPr/>
          </p:nvSpPr>
          <p:spPr bwMode="auto">
            <a:xfrm>
              <a:off x="7545288" y="2420888"/>
              <a:ext cx="0" cy="2590800"/>
            </a:xfrm>
            <a:prstGeom prst="line">
              <a:avLst/>
            </a:prstGeom>
            <a:noFill/>
            <a:ln w="1905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151" name="Line 70"/>
          <p:cNvSpPr>
            <a:spLocks noChangeShapeType="1"/>
          </p:cNvSpPr>
          <p:nvPr/>
        </p:nvSpPr>
        <p:spPr bwMode="auto">
          <a:xfrm>
            <a:off x="2912657" y="3726851"/>
            <a:ext cx="3332255" cy="0"/>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52" name="Text Box 66"/>
          <p:cNvSpPr txBox="1">
            <a:spLocks noChangeArrowheads="1"/>
          </p:cNvSpPr>
          <p:nvPr/>
        </p:nvSpPr>
        <p:spPr bwMode="auto">
          <a:xfrm>
            <a:off x="4190523" y="3587415"/>
            <a:ext cx="988835" cy="276999"/>
          </a:xfrm>
          <a:prstGeom prst="rect">
            <a:avLst/>
          </a:prstGeom>
          <a:solidFill>
            <a:srgbClr val="C3E3F9"/>
          </a:solidFill>
          <a:ln>
            <a:noFill/>
          </a:ln>
          <a:effectLst/>
        </p:spPr>
        <p:txBody>
          <a:bodyPr wrap="square">
            <a:spAutoFit/>
          </a:bodyPr>
          <a:lstStyle/>
          <a:p>
            <a:pPr algn="ctr"/>
            <a:r>
              <a:rPr kumimoji="1" lang="en-US" altLang="zh-CN" sz="1200" b="1" dirty="0">
                <a:solidFill>
                  <a:srgbClr val="0000FF"/>
                </a:solidFill>
                <a:latin typeface="微软雅黑" pitchFamily="34" charset="-122"/>
                <a:ea typeface="微软雅黑" pitchFamily="34" charset="-122"/>
              </a:rPr>
              <a:t>IPv4 </a:t>
            </a:r>
            <a:r>
              <a:rPr kumimoji="1" lang="zh-CN" altLang="en-US" sz="1200" b="1" dirty="0">
                <a:solidFill>
                  <a:srgbClr val="0000FF"/>
                </a:solidFill>
                <a:latin typeface="微软雅黑" pitchFamily="34" charset="-122"/>
                <a:ea typeface="微软雅黑" pitchFamily="34" charset="-122"/>
              </a:rPr>
              <a:t>网络 </a:t>
            </a:r>
          </a:p>
        </p:txBody>
      </p:sp>
      <p:pic>
        <p:nvPicPr>
          <p:cNvPr id="154"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648126" y="1586140"/>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155"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228408" y="1586140"/>
            <a:ext cx="352881" cy="352881"/>
          </a:xfrm>
          <a:prstGeom prst="rect">
            <a:avLst/>
          </a:prstGeom>
          <a:noFill/>
          <a:extLst>
            <a:ext uri="{909E8E84-426E-40DD-AFC4-6F175D3DCCD1}">
              <a14:hiddenFill xmlns:a14="http://schemas.microsoft.com/office/drawing/2010/main">
                <a:solidFill>
                  <a:srgbClr val="FFFFFF"/>
                </a:solidFill>
              </a14:hiddenFill>
            </a:ext>
          </a:extLst>
        </p:spPr>
      </p:pic>
      <p:sp>
        <p:nvSpPr>
          <p:cNvPr id="118" name="AutoShape 84"/>
          <p:cNvSpPr>
            <a:spLocks noChangeArrowheads="1"/>
          </p:cNvSpPr>
          <p:nvPr/>
        </p:nvSpPr>
        <p:spPr bwMode="auto">
          <a:xfrm>
            <a:off x="2623821" y="2777275"/>
            <a:ext cx="799254" cy="147555"/>
          </a:xfrm>
          <a:prstGeom prst="rightArrow">
            <a:avLst>
              <a:gd name="adj1" fmla="val 50000"/>
              <a:gd name="adj2" fmla="val 125000"/>
            </a:avLst>
          </a:prstGeom>
          <a:solidFill>
            <a:srgbClr val="009900"/>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36" name="AutoShape 106"/>
          <p:cNvSpPr>
            <a:spLocks noChangeArrowheads="1"/>
          </p:cNvSpPr>
          <p:nvPr/>
        </p:nvSpPr>
        <p:spPr bwMode="auto">
          <a:xfrm>
            <a:off x="5826600" y="2777275"/>
            <a:ext cx="702464" cy="147555"/>
          </a:xfrm>
          <a:prstGeom prst="rightArrow">
            <a:avLst>
              <a:gd name="adj1" fmla="val 50000"/>
              <a:gd name="adj2" fmla="val 99132"/>
            </a:avLst>
          </a:prstGeom>
          <a:solidFill>
            <a:srgbClr val="009900"/>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01" name="AutoShape 5"/>
          <p:cNvSpPr>
            <a:spLocks noChangeArrowheads="1"/>
          </p:cNvSpPr>
          <p:nvPr/>
        </p:nvSpPr>
        <p:spPr bwMode="auto">
          <a:xfrm>
            <a:off x="545145" y="62834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02" name="Rectangle 6"/>
          <p:cNvSpPr>
            <a:spLocks noChangeArrowheads="1"/>
          </p:cNvSpPr>
          <p:nvPr/>
        </p:nvSpPr>
        <p:spPr bwMode="auto">
          <a:xfrm>
            <a:off x="1941968" y="59513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highlight>
                  <a:srgbClr val="FFFF00"/>
                </a:highlight>
                <a:latin typeface="微软雅黑" pitchFamily="34" charset="-122"/>
                <a:ea typeface="微软雅黑" pitchFamily="34" charset="-122"/>
              </a:rPr>
              <a:t>隧道技术</a:t>
            </a:r>
          </a:p>
        </p:txBody>
      </p:sp>
    </p:spTree>
    <p:extLst>
      <p:ext uri="{BB962C8B-B14F-4D97-AF65-F5344CB8AC3E}">
        <p14:creationId xmlns:p14="http://schemas.microsoft.com/office/powerpoint/2010/main" val="290191129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6822"/>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3419281" y="594751"/>
            <a:ext cx="230543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4.5.4  ICMPv6</a:t>
            </a:r>
            <a:endParaRPr lang="zh-CN" altLang="en-US" sz="2400" b="1" dirty="0">
              <a:solidFill>
                <a:schemeClr val="bg1"/>
              </a:solidFill>
              <a:latin typeface="微软雅黑" pitchFamily="34" charset="-122"/>
              <a:ea typeface="微软雅黑" pitchFamily="34" charset="-122"/>
            </a:endParaRPr>
          </a:p>
        </p:txBody>
      </p:sp>
      <p:sp>
        <p:nvSpPr>
          <p:cNvPr id="4" name="Rectangle 8"/>
          <p:cNvSpPr>
            <a:spLocks noChangeArrowheads="1"/>
          </p:cNvSpPr>
          <p:nvPr/>
        </p:nvSpPr>
        <p:spPr bwMode="auto">
          <a:xfrm>
            <a:off x="545143" y="1024593"/>
            <a:ext cx="8441839" cy="5155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IPv6 </a:t>
            </a:r>
            <a:r>
              <a:rPr lang="zh-CN" altLang="en-US" sz="2000" b="1" dirty="0">
                <a:latin typeface="微软雅黑" pitchFamily="34" charset="-122"/>
                <a:ea typeface="微软雅黑" pitchFamily="34" charset="-122"/>
              </a:rPr>
              <a:t>也需要使用 </a:t>
            </a:r>
            <a:r>
              <a:rPr lang="en-US" altLang="zh-CN" sz="2000" b="1" dirty="0">
                <a:latin typeface="微软雅黑" pitchFamily="34" charset="-122"/>
                <a:ea typeface="微软雅黑" pitchFamily="34" charset="-122"/>
              </a:rPr>
              <a:t>ICMP </a:t>
            </a:r>
            <a:r>
              <a:rPr lang="zh-CN" altLang="en-US" sz="2000" b="1" dirty="0">
                <a:latin typeface="微软雅黑" pitchFamily="34" charset="-122"/>
                <a:ea typeface="微软雅黑" pitchFamily="34" charset="-122"/>
              </a:rPr>
              <a:t>来反馈一些差错信息。新的版本称为 </a:t>
            </a:r>
            <a:r>
              <a:rPr lang="en-US" altLang="zh-CN" sz="2000" b="1" dirty="0">
                <a:latin typeface="微软雅黑" pitchFamily="34" charset="-122"/>
                <a:ea typeface="微软雅黑" pitchFamily="34" charset="-122"/>
              </a:rPr>
              <a:t>ICMPv6</a:t>
            </a:r>
            <a:r>
              <a:rPr lang="zh-CN" altLang="en-US" sz="2000" b="1" dirty="0">
                <a:latin typeface="微软雅黑" pitchFamily="34" charset="-122"/>
                <a:ea typeface="微软雅黑" pitchFamily="34" charset="-122"/>
              </a:rPr>
              <a:t>。</a:t>
            </a:r>
          </a:p>
        </p:txBody>
      </p:sp>
      <p:sp>
        <p:nvSpPr>
          <p:cNvPr id="5" name="圆角矩形 4"/>
          <p:cNvSpPr/>
          <p:nvPr/>
        </p:nvSpPr>
        <p:spPr>
          <a:xfrm>
            <a:off x="545145" y="1549170"/>
            <a:ext cx="8053710" cy="189514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6" name="Text Box 4"/>
          <p:cNvSpPr txBox="1">
            <a:spLocks noChangeArrowheads="1"/>
          </p:cNvSpPr>
          <p:nvPr/>
        </p:nvSpPr>
        <p:spPr bwMode="auto">
          <a:xfrm>
            <a:off x="1524425" y="2890390"/>
            <a:ext cx="2081056" cy="338554"/>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600" b="1" dirty="0">
                <a:solidFill>
                  <a:srgbClr val="0000FF"/>
                </a:solidFill>
                <a:latin typeface="微软雅黑" pitchFamily="34" charset="-122"/>
                <a:ea typeface="微软雅黑" pitchFamily="34" charset="-122"/>
              </a:rPr>
              <a:t>版本 </a:t>
            </a:r>
            <a:r>
              <a:rPr kumimoji="1" lang="en-US" altLang="zh-CN" sz="1600" b="1" dirty="0">
                <a:solidFill>
                  <a:srgbClr val="0000FF"/>
                </a:solidFill>
                <a:latin typeface="微软雅黑" pitchFamily="34" charset="-122"/>
                <a:ea typeface="微软雅黑" pitchFamily="34" charset="-122"/>
              </a:rPr>
              <a:t>4 </a:t>
            </a:r>
            <a:r>
              <a:rPr kumimoji="1" lang="zh-CN" altLang="en-US" sz="1600" b="1" dirty="0">
                <a:solidFill>
                  <a:srgbClr val="0000FF"/>
                </a:solidFill>
                <a:latin typeface="微软雅黑" pitchFamily="34" charset="-122"/>
                <a:ea typeface="微软雅黑" pitchFamily="34" charset="-122"/>
              </a:rPr>
              <a:t>中的网络层</a:t>
            </a:r>
          </a:p>
        </p:txBody>
      </p:sp>
      <p:sp>
        <p:nvSpPr>
          <p:cNvPr id="7" name="Rectangle 6"/>
          <p:cNvSpPr>
            <a:spLocks noChangeArrowheads="1"/>
          </p:cNvSpPr>
          <p:nvPr/>
        </p:nvSpPr>
        <p:spPr bwMode="auto">
          <a:xfrm>
            <a:off x="1293090" y="1843114"/>
            <a:ext cx="2481774" cy="1054335"/>
          </a:xfrm>
          <a:prstGeom prst="rect">
            <a:avLst/>
          </a:prstGeom>
          <a:solidFill>
            <a:srgbClr val="00FFFF"/>
          </a:solidFill>
          <a:ln w="28575">
            <a:solidFill>
              <a:schemeClr val="tx1"/>
            </a:solidFill>
            <a:miter lim="800000"/>
            <a:headEnd/>
            <a:tailEnd/>
          </a:ln>
          <a:effectLst/>
        </p:spPr>
        <p:txBody>
          <a:bodyPr wrap="none" anchor="ctr"/>
          <a:lstStyle/>
          <a:p>
            <a:pPr algn="ctr"/>
            <a:endParaRPr kumimoji="1" lang="zh-CN" altLang="zh-CN" sz="1600" b="1">
              <a:solidFill>
                <a:srgbClr val="000099"/>
              </a:solidFill>
              <a:latin typeface="微软雅黑" pitchFamily="34" charset="-122"/>
              <a:ea typeface="微软雅黑" pitchFamily="34" charset="-122"/>
            </a:endParaRPr>
          </a:p>
        </p:txBody>
      </p:sp>
      <p:sp>
        <p:nvSpPr>
          <p:cNvPr id="8" name="Rectangle 7"/>
          <p:cNvSpPr>
            <a:spLocks noChangeArrowheads="1"/>
          </p:cNvSpPr>
          <p:nvPr/>
        </p:nvSpPr>
        <p:spPr bwMode="auto">
          <a:xfrm>
            <a:off x="1413812" y="1890499"/>
            <a:ext cx="591870" cy="259776"/>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600" b="1" dirty="0">
                <a:solidFill>
                  <a:srgbClr val="0000FF"/>
                </a:solidFill>
                <a:latin typeface="微软雅黑" pitchFamily="34" charset="-122"/>
                <a:ea typeface="微软雅黑" pitchFamily="34" charset="-122"/>
              </a:rPr>
              <a:t>ICMP</a:t>
            </a:r>
          </a:p>
        </p:txBody>
      </p:sp>
      <p:sp>
        <p:nvSpPr>
          <p:cNvPr id="9" name="Text Box 8"/>
          <p:cNvSpPr txBox="1">
            <a:spLocks noChangeArrowheads="1"/>
          </p:cNvSpPr>
          <p:nvPr/>
        </p:nvSpPr>
        <p:spPr bwMode="auto">
          <a:xfrm>
            <a:off x="2178160" y="2290740"/>
            <a:ext cx="70522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600" b="1" dirty="0">
                <a:latin typeface="微软雅黑" pitchFamily="34" charset="-122"/>
                <a:ea typeface="微软雅黑" pitchFamily="34" charset="-122"/>
              </a:rPr>
              <a:t>IPv4</a:t>
            </a:r>
          </a:p>
        </p:txBody>
      </p:sp>
      <p:sp>
        <p:nvSpPr>
          <p:cNvPr id="10" name="Rectangle 9"/>
          <p:cNvSpPr>
            <a:spLocks noChangeArrowheads="1"/>
          </p:cNvSpPr>
          <p:nvPr/>
        </p:nvSpPr>
        <p:spPr bwMode="auto">
          <a:xfrm>
            <a:off x="3105745" y="2599882"/>
            <a:ext cx="538806" cy="260622"/>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600" b="1">
                <a:solidFill>
                  <a:srgbClr val="0000FF"/>
                </a:solidFill>
                <a:latin typeface="微软雅黑" pitchFamily="34" charset="-122"/>
                <a:ea typeface="微软雅黑" pitchFamily="34" charset="-122"/>
              </a:rPr>
              <a:t>ARP</a:t>
            </a:r>
          </a:p>
        </p:txBody>
      </p:sp>
      <p:sp>
        <p:nvSpPr>
          <p:cNvPr id="11" name="Rectangle 10"/>
          <p:cNvSpPr>
            <a:spLocks noChangeArrowheads="1"/>
          </p:cNvSpPr>
          <p:nvPr/>
        </p:nvSpPr>
        <p:spPr bwMode="auto">
          <a:xfrm>
            <a:off x="2008163" y="1890499"/>
            <a:ext cx="590849" cy="259776"/>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600" b="1" dirty="0">
                <a:solidFill>
                  <a:srgbClr val="0000FF"/>
                </a:solidFill>
                <a:latin typeface="微软雅黑" pitchFamily="34" charset="-122"/>
                <a:ea typeface="微软雅黑" pitchFamily="34" charset="-122"/>
              </a:rPr>
              <a:t>IGMP</a:t>
            </a:r>
          </a:p>
        </p:txBody>
      </p:sp>
      <p:sp>
        <p:nvSpPr>
          <p:cNvPr id="12" name="Text Box 11"/>
          <p:cNvSpPr txBox="1">
            <a:spLocks noChangeArrowheads="1"/>
          </p:cNvSpPr>
          <p:nvPr/>
        </p:nvSpPr>
        <p:spPr bwMode="auto">
          <a:xfrm>
            <a:off x="4370409" y="2886158"/>
            <a:ext cx="2081056" cy="338554"/>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600" b="1" dirty="0">
                <a:solidFill>
                  <a:srgbClr val="0000FF"/>
                </a:solidFill>
                <a:latin typeface="微软雅黑" pitchFamily="34" charset="-122"/>
                <a:ea typeface="微软雅黑" pitchFamily="34" charset="-122"/>
              </a:rPr>
              <a:t>版本 </a:t>
            </a:r>
            <a:r>
              <a:rPr kumimoji="1" lang="en-US" altLang="zh-CN" sz="1600" b="1" dirty="0">
                <a:solidFill>
                  <a:srgbClr val="0000FF"/>
                </a:solidFill>
                <a:latin typeface="微软雅黑" pitchFamily="34" charset="-122"/>
                <a:ea typeface="微软雅黑" pitchFamily="34" charset="-122"/>
              </a:rPr>
              <a:t>6 </a:t>
            </a:r>
            <a:r>
              <a:rPr kumimoji="1" lang="zh-CN" altLang="en-US" sz="1600" b="1" dirty="0">
                <a:solidFill>
                  <a:srgbClr val="0000FF"/>
                </a:solidFill>
                <a:latin typeface="微软雅黑" pitchFamily="34" charset="-122"/>
                <a:ea typeface="微软雅黑" pitchFamily="34" charset="-122"/>
              </a:rPr>
              <a:t>中的网络层</a:t>
            </a:r>
          </a:p>
        </p:txBody>
      </p:sp>
      <p:sp>
        <p:nvSpPr>
          <p:cNvPr id="13" name="Rectangle 13"/>
          <p:cNvSpPr>
            <a:spLocks noChangeArrowheads="1"/>
          </p:cNvSpPr>
          <p:nvPr/>
        </p:nvSpPr>
        <p:spPr bwMode="auto">
          <a:xfrm>
            <a:off x="4091605" y="1843114"/>
            <a:ext cx="2481774" cy="1054335"/>
          </a:xfrm>
          <a:prstGeom prst="rect">
            <a:avLst/>
          </a:prstGeom>
          <a:solidFill>
            <a:srgbClr val="99FFCC"/>
          </a:solidFill>
          <a:ln w="28575">
            <a:solidFill>
              <a:schemeClr val="tx1"/>
            </a:solidFill>
            <a:miter lim="800000"/>
            <a:headEnd/>
            <a:tailEnd/>
          </a:ln>
          <a:effectLst/>
        </p:spPr>
        <p:txBody>
          <a:bodyPr wrap="none" anchor="ctr"/>
          <a:lstStyle/>
          <a:p>
            <a:pPr algn="ctr"/>
            <a:endParaRPr kumimoji="1" lang="zh-CN" altLang="zh-CN" sz="1600" b="1">
              <a:solidFill>
                <a:srgbClr val="000099"/>
              </a:solidFill>
              <a:latin typeface="微软雅黑" pitchFamily="34" charset="-122"/>
              <a:ea typeface="微软雅黑" pitchFamily="34" charset="-122"/>
            </a:endParaRPr>
          </a:p>
        </p:txBody>
      </p:sp>
      <p:sp>
        <p:nvSpPr>
          <p:cNvPr id="14" name="Rectangle 14"/>
          <p:cNvSpPr>
            <a:spLocks noChangeArrowheads="1"/>
          </p:cNvSpPr>
          <p:nvPr/>
        </p:nvSpPr>
        <p:spPr bwMode="auto">
          <a:xfrm>
            <a:off x="4221976" y="1886269"/>
            <a:ext cx="941889" cy="259776"/>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600" b="1" dirty="0">
                <a:solidFill>
                  <a:srgbClr val="0000FF"/>
                </a:solidFill>
                <a:latin typeface="微软雅黑" pitchFamily="34" charset="-122"/>
                <a:ea typeface="微软雅黑" pitchFamily="34" charset="-122"/>
              </a:rPr>
              <a:t>ICMPv6</a:t>
            </a:r>
          </a:p>
        </p:txBody>
      </p:sp>
      <p:sp>
        <p:nvSpPr>
          <p:cNvPr id="15" name="Text Box 15"/>
          <p:cNvSpPr txBox="1">
            <a:spLocks noChangeArrowheads="1"/>
          </p:cNvSpPr>
          <p:nvPr/>
        </p:nvSpPr>
        <p:spPr bwMode="auto">
          <a:xfrm>
            <a:off x="5038220" y="2286509"/>
            <a:ext cx="70522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600" b="1" dirty="0">
                <a:latin typeface="微软雅黑" pitchFamily="34" charset="-122"/>
                <a:ea typeface="微软雅黑" pitchFamily="34" charset="-122"/>
              </a:rPr>
              <a:t>IPv6</a:t>
            </a:r>
          </a:p>
        </p:txBody>
      </p:sp>
      <p:sp>
        <p:nvSpPr>
          <p:cNvPr id="16" name="矩形 15"/>
          <p:cNvSpPr/>
          <p:nvPr/>
        </p:nvSpPr>
        <p:spPr>
          <a:xfrm>
            <a:off x="2285999" y="3451731"/>
            <a:ext cx="3984171" cy="369332"/>
          </a:xfrm>
          <a:prstGeom prst="rect">
            <a:avLst/>
          </a:prstGeom>
        </p:spPr>
        <p:txBody>
          <a:bodyPr wrap="square">
            <a:spAutoFit/>
          </a:bodyPr>
          <a:lstStyle/>
          <a:p>
            <a:pPr algn="ctr"/>
            <a:r>
              <a:rPr lang="zh-CN" altLang="zh-CN" b="1" dirty="0">
                <a:latin typeface="微软雅黑" pitchFamily="34" charset="-122"/>
                <a:ea typeface="微软雅黑" pitchFamily="34" charset="-122"/>
              </a:rPr>
              <a:t>新旧版本中的网络层的比较</a:t>
            </a:r>
            <a:endParaRPr lang="zh-CN" altLang="en-US" b="1" dirty="0">
              <a:latin typeface="微软雅黑" pitchFamily="34" charset="-122"/>
              <a:ea typeface="微软雅黑" pitchFamily="34" charset="-122"/>
            </a:endParaRPr>
          </a:p>
        </p:txBody>
      </p:sp>
      <p:sp>
        <p:nvSpPr>
          <p:cNvPr id="17" name="矩形 16"/>
          <p:cNvSpPr/>
          <p:nvPr/>
        </p:nvSpPr>
        <p:spPr>
          <a:xfrm>
            <a:off x="6756326" y="1862449"/>
            <a:ext cx="1691367" cy="1015663"/>
          </a:xfrm>
          <a:prstGeom prst="rect">
            <a:avLst/>
          </a:prstGeom>
          <a:solidFill>
            <a:schemeClr val="bg1"/>
          </a:solidFill>
        </p:spPr>
        <p:txBody>
          <a:bodyPr wrap="square">
            <a:spAutoFit/>
          </a:bodyPr>
          <a:lstStyle/>
          <a:p>
            <a:pPr algn="ctr">
              <a:lnSpc>
                <a:spcPts val="2400"/>
              </a:lnSpc>
              <a:buClr>
                <a:srgbClr val="0070C0"/>
              </a:buClr>
            </a:pPr>
            <a:r>
              <a:rPr lang="en-US" altLang="zh-CN" sz="1600" b="1" dirty="0">
                <a:latin typeface="微软雅黑" pitchFamily="34" charset="-122"/>
                <a:ea typeface="微软雅黑" pitchFamily="34" charset="-122"/>
              </a:rPr>
              <a:t>ICMPv6 </a:t>
            </a:r>
            <a:r>
              <a:rPr lang="zh-CN" altLang="en-US" sz="1600" b="1" dirty="0">
                <a:latin typeface="微软雅黑" pitchFamily="34" charset="-122"/>
                <a:ea typeface="微软雅黑" pitchFamily="34" charset="-122"/>
              </a:rPr>
              <a:t>包含了 </a:t>
            </a:r>
            <a:r>
              <a:rPr lang="en-US" altLang="zh-CN" sz="1600" b="1" dirty="0">
                <a:latin typeface="微软雅黑" pitchFamily="34" charset="-122"/>
                <a:ea typeface="微软雅黑" pitchFamily="34" charset="-122"/>
              </a:rPr>
              <a:t>ARP </a:t>
            </a:r>
            <a:r>
              <a:rPr lang="zh-CN" altLang="en-US" sz="1600" b="1" dirty="0">
                <a:latin typeface="微软雅黑" pitchFamily="34" charset="-122"/>
                <a:ea typeface="微软雅黑" pitchFamily="34" charset="-122"/>
              </a:rPr>
              <a:t>和 </a:t>
            </a:r>
            <a:r>
              <a:rPr lang="en-US" altLang="zh-CN" sz="1600" b="1" dirty="0">
                <a:latin typeface="微软雅黑" pitchFamily="34" charset="-122"/>
                <a:ea typeface="微软雅黑" pitchFamily="34" charset="-122"/>
              </a:rPr>
              <a:t>IGMP </a:t>
            </a:r>
            <a:r>
              <a:rPr lang="zh-CN" altLang="en-US" sz="1600" b="1" dirty="0">
                <a:latin typeface="微软雅黑" pitchFamily="34" charset="-122"/>
                <a:ea typeface="微软雅黑" pitchFamily="34" charset="-122"/>
              </a:rPr>
              <a:t>协议的功能中。</a:t>
            </a:r>
          </a:p>
        </p:txBody>
      </p:sp>
    </p:spTree>
    <p:extLst>
      <p:ext uri="{BB962C8B-B14F-4D97-AF65-F5344CB8AC3E}">
        <p14:creationId xmlns:p14="http://schemas.microsoft.com/office/powerpoint/2010/main" val="91118796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5" y="62383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9062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ICMPv6 </a:t>
            </a:r>
            <a:r>
              <a:rPr lang="zh-CN" altLang="en-US" sz="2000" b="1" dirty="0">
                <a:solidFill>
                  <a:schemeClr val="bg1"/>
                </a:solidFill>
                <a:latin typeface="微软雅黑" pitchFamily="34" charset="-122"/>
                <a:ea typeface="微软雅黑" pitchFamily="34" charset="-122"/>
              </a:rPr>
              <a:t>报文的分类</a:t>
            </a:r>
          </a:p>
        </p:txBody>
      </p:sp>
      <p:sp>
        <p:nvSpPr>
          <p:cNvPr id="5" name="圆角矩形 4"/>
          <p:cNvSpPr/>
          <p:nvPr/>
        </p:nvSpPr>
        <p:spPr>
          <a:xfrm>
            <a:off x="545145" y="1091660"/>
            <a:ext cx="8053710" cy="252899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grpSp>
        <p:nvGrpSpPr>
          <p:cNvPr id="6" name="组合 5"/>
          <p:cNvGrpSpPr/>
          <p:nvPr/>
        </p:nvGrpSpPr>
        <p:grpSpPr>
          <a:xfrm>
            <a:off x="1274619" y="1271070"/>
            <a:ext cx="6660441" cy="2181976"/>
            <a:chOff x="1274619" y="1271070"/>
            <a:chExt cx="6660441" cy="2181976"/>
          </a:xfrm>
        </p:grpSpPr>
        <p:sp>
          <p:nvSpPr>
            <p:cNvPr id="20" name="Rectangle 5"/>
            <p:cNvSpPr>
              <a:spLocks noChangeArrowheads="1"/>
            </p:cNvSpPr>
            <p:nvPr/>
          </p:nvSpPr>
          <p:spPr bwMode="auto">
            <a:xfrm>
              <a:off x="3516598" y="1271070"/>
              <a:ext cx="1448135" cy="340023"/>
            </a:xfrm>
            <a:prstGeom prst="rect">
              <a:avLst/>
            </a:prstGeom>
            <a:solidFill>
              <a:srgbClr val="00FFFF"/>
            </a:solidFill>
            <a:ln w="9525">
              <a:solidFill>
                <a:schemeClr val="tx1"/>
              </a:solidFill>
              <a:miter lim="800000"/>
              <a:headEnd/>
              <a:tailEnd/>
            </a:ln>
            <a:effectLst/>
          </p:spPr>
          <p:txBody>
            <a:bodyPr wrap="none" anchor="ctr"/>
            <a:lstStyle/>
            <a:p>
              <a:pPr algn="ctr"/>
              <a:r>
                <a:rPr kumimoji="1" lang="en-US" altLang="zh-CN" sz="1600" b="1" dirty="0">
                  <a:latin typeface="微软雅黑" pitchFamily="34" charset="-122"/>
                  <a:ea typeface="微软雅黑" pitchFamily="34" charset="-122"/>
                </a:rPr>
                <a:t>ICMPv6 </a:t>
              </a:r>
              <a:r>
                <a:rPr kumimoji="1" lang="zh-CN" altLang="en-US" sz="1600" b="1" dirty="0">
                  <a:latin typeface="微软雅黑" pitchFamily="34" charset="-122"/>
                  <a:ea typeface="微软雅黑" pitchFamily="34" charset="-122"/>
                </a:rPr>
                <a:t>报文</a:t>
              </a:r>
            </a:p>
          </p:txBody>
        </p:sp>
        <p:sp>
          <p:nvSpPr>
            <p:cNvPr id="21" name="Rectangle 6"/>
            <p:cNvSpPr>
              <a:spLocks noChangeArrowheads="1"/>
            </p:cNvSpPr>
            <p:nvPr/>
          </p:nvSpPr>
          <p:spPr bwMode="auto">
            <a:xfrm>
              <a:off x="1274619" y="2002206"/>
              <a:ext cx="1371842" cy="345361"/>
            </a:xfrm>
            <a:prstGeom prst="rect">
              <a:avLst/>
            </a:prstGeom>
            <a:solidFill>
              <a:srgbClr val="00FF99"/>
            </a:solidFill>
            <a:ln w="9525">
              <a:solidFill>
                <a:schemeClr val="tx1"/>
              </a:solidFill>
              <a:miter lim="800000"/>
              <a:headEnd/>
              <a:tailEnd/>
            </a:ln>
            <a:effectLst/>
          </p:spPr>
          <p:txBody>
            <a:bodyPr wrap="none" anchor="ctr"/>
            <a:lstStyle/>
            <a:p>
              <a:pPr algn="ctr"/>
              <a:r>
                <a:rPr kumimoji="1" lang="zh-CN" altLang="en-US" sz="1600" b="1" dirty="0">
                  <a:latin typeface="微软雅黑" pitchFamily="34" charset="-122"/>
                  <a:ea typeface="微软雅黑" pitchFamily="34" charset="-122"/>
                </a:rPr>
                <a:t>差错报文</a:t>
              </a:r>
            </a:p>
          </p:txBody>
        </p:sp>
        <p:sp>
          <p:nvSpPr>
            <p:cNvPr id="22" name="Rectangle 7"/>
            <p:cNvSpPr>
              <a:spLocks noChangeArrowheads="1"/>
            </p:cNvSpPr>
            <p:nvPr/>
          </p:nvSpPr>
          <p:spPr bwMode="auto">
            <a:xfrm>
              <a:off x="5995034" y="2002206"/>
              <a:ext cx="1828162" cy="345361"/>
            </a:xfrm>
            <a:prstGeom prst="rect">
              <a:avLst/>
            </a:prstGeom>
            <a:solidFill>
              <a:srgbClr val="FF99FF"/>
            </a:solidFill>
            <a:ln w="9525">
              <a:solidFill>
                <a:schemeClr val="tx1"/>
              </a:solidFill>
              <a:miter lim="800000"/>
              <a:headEnd/>
              <a:tailEnd/>
            </a:ln>
            <a:effectLst/>
          </p:spPr>
          <p:txBody>
            <a:bodyPr wrap="none" anchor="ctr"/>
            <a:lstStyle/>
            <a:p>
              <a:pPr algn="ctr"/>
              <a:r>
                <a:rPr kumimoji="1" lang="zh-CN" altLang="en-US" sz="1600" b="1">
                  <a:latin typeface="微软雅黑" pitchFamily="34" charset="-122"/>
                  <a:ea typeface="微软雅黑" pitchFamily="34" charset="-122"/>
                </a:rPr>
                <a:t>组成员关系报文</a:t>
              </a:r>
            </a:p>
          </p:txBody>
        </p:sp>
        <p:sp>
          <p:nvSpPr>
            <p:cNvPr id="23" name="Rectangle 8"/>
            <p:cNvSpPr>
              <a:spLocks noChangeArrowheads="1"/>
            </p:cNvSpPr>
            <p:nvPr/>
          </p:nvSpPr>
          <p:spPr bwMode="auto">
            <a:xfrm>
              <a:off x="4300371" y="2002206"/>
              <a:ext cx="1566173" cy="345361"/>
            </a:xfrm>
            <a:prstGeom prst="rect">
              <a:avLst/>
            </a:prstGeom>
            <a:solidFill>
              <a:srgbClr val="FF99FF"/>
            </a:solidFill>
            <a:ln w="9525">
              <a:solidFill>
                <a:schemeClr val="tx1"/>
              </a:solidFill>
              <a:miter lim="800000"/>
              <a:headEnd/>
              <a:tailEnd/>
            </a:ln>
            <a:effectLst/>
          </p:spPr>
          <p:txBody>
            <a:bodyPr wrap="none" anchor="ctr"/>
            <a:lstStyle/>
            <a:p>
              <a:pPr algn="ctr"/>
              <a:r>
                <a:rPr kumimoji="1" lang="zh-CN" altLang="en-US" sz="1600" b="1">
                  <a:latin typeface="微软雅黑" pitchFamily="34" charset="-122"/>
                  <a:ea typeface="微软雅黑" pitchFamily="34" charset="-122"/>
                </a:rPr>
                <a:t>邻站发现报文</a:t>
              </a:r>
            </a:p>
          </p:txBody>
        </p:sp>
        <p:sp>
          <p:nvSpPr>
            <p:cNvPr id="24" name="Rectangle 9"/>
            <p:cNvSpPr>
              <a:spLocks noChangeArrowheads="1"/>
            </p:cNvSpPr>
            <p:nvPr/>
          </p:nvSpPr>
          <p:spPr bwMode="auto">
            <a:xfrm>
              <a:off x="2793376" y="2002206"/>
              <a:ext cx="1371842" cy="345361"/>
            </a:xfrm>
            <a:prstGeom prst="rect">
              <a:avLst/>
            </a:prstGeom>
            <a:solidFill>
              <a:srgbClr val="00FF99"/>
            </a:solidFill>
            <a:ln w="9525">
              <a:solidFill>
                <a:schemeClr val="tx1"/>
              </a:solidFill>
              <a:miter lim="800000"/>
              <a:headEnd/>
              <a:tailEnd/>
            </a:ln>
            <a:effectLst/>
          </p:spPr>
          <p:txBody>
            <a:bodyPr wrap="none" anchor="ctr"/>
            <a:lstStyle/>
            <a:p>
              <a:pPr algn="ctr"/>
              <a:r>
                <a:rPr kumimoji="1" lang="zh-CN" altLang="en-US" sz="1600" b="1">
                  <a:latin typeface="微软雅黑" pitchFamily="34" charset="-122"/>
                  <a:ea typeface="微软雅黑" pitchFamily="34" charset="-122"/>
                </a:rPr>
                <a:t>信息报文</a:t>
              </a:r>
            </a:p>
          </p:txBody>
        </p:sp>
        <p:sp>
          <p:nvSpPr>
            <p:cNvPr id="25" name="Freeform 10"/>
            <p:cNvSpPr>
              <a:spLocks/>
            </p:cNvSpPr>
            <p:nvPr/>
          </p:nvSpPr>
          <p:spPr bwMode="auto">
            <a:xfrm>
              <a:off x="1958110" y="1806649"/>
              <a:ext cx="4922982" cy="195557"/>
            </a:xfrm>
            <a:custGeom>
              <a:avLst/>
              <a:gdLst>
                <a:gd name="T0" fmla="*/ 0 w 3311"/>
                <a:gd name="T1" fmla="*/ 136 h 136"/>
                <a:gd name="T2" fmla="*/ 0 w 3311"/>
                <a:gd name="T3" fmla="*/ 0 h 136"/>
                <a:gd name="T4" fmla="*/ 3311 w 3311"/>
                <a:gd name="T5" fmla="*/ 0 h 136"/>
                <a:gd name="T6" fmla="*/ 3311 w 3311"/>
                <a:gd name="T7" fmla="*/ 136 h 136"/>
              </a:gdLst>
              <a:ahLst/>
              <a:cxnLst>
                <a:cxn ang="0">
                  <a:pos x="T0" y="T1"/>
                </a:cxn>
                <a:cxn ang="0">
                  <a:pos x="T2" y="T3"/>
                </a:cxn>
                <a:cxn ang="0">
                  <a:pos x="T4" y="T5"/>
                </a:cxn>
                <a:cxn ang="0">
                  <a:pos x="T6" y="T7"/>
                </a:cxn>
              </a:cxnLst>
              <a:rect l="0" t="0" r="r" b="b"/>
              <a:pathLst>
                <a:path w="3311" h="136">
                  <a:moveTo>
                    <a:pt x="0" y="136"/>
                  </a:moveTo>
                  <a:lnTo>
                    <a:pt x="0" y="0"/>
                  </a:lnTo>
                  <a:lnTo>
                    <a:pt x="3311" y="0"/>
                  </a:lnTo>
                  <a:lnTo>
                    <a:pt x="3311" y="136"/>
                  </a:lnTo>
                </a:path>
              </a:pathLst>
            </a:custGeom>
            <a:noFill/>
            <a:ln w="28575">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26" name="Line 11"/>
            <p:cNvSpPr>
              <a:spLocks noChangeShapeType="1"/>
            </p:cNvSpPr>
            <p:nvPr/>
          </p:nvSpPr>
          <p:spPr bwMode="auto">
            <a:xfrm>
              <a:off x="3461722" y="1806649"/>
              <a:ext cx="0" cy="19555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27" name="Line 12"/>
            <p:cNvSpPr>
              <a:spLocks noChangeShapeType="1"/>
            </p:cNvSpPr>
            <p:nvPr/>
          </p:nvSpPr>
          <p:spPr bwMode="auto">
            <a:xfrm>
              <a:off x="5006400" y="1806649"/>
              <a:ext cx="0" cy="19555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28" name="Line 13"/>
            <p:cNvSpPr>
              <a:spLocks noChangeShapeType="1"/>
            </p:cNvSpPr>
            <p:nvPr/>
          </p:nvSpPr>
          <p:spPr bwMode="auto">
            <a:xfrm>
              <a:off x="4231115" y="1611093"/>
              <a:ext cx="0" cy="19555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29" name="Text Box 14"/>
            <p:cNvSpPr txBox="1">
              <a:spLocks noChangeArrowheads="1"/>
            </p:cNvSpPr>
            <p:nvPr/>
          </p:nvSpPr>
          <p:spPr bwMode="auto">
            <a:xfrm>
              <a:off x="4440705" y="2350570"/>
              <a:ext cx="1212667" cy="27979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en-US" altLang="zh-CN" sz="1600" b="1" dirty="0">
                  <a:solidFill>
                    <a:srgbClr val="CC00CC"/>
                  </a:solidFill>
                  <a:latin typeface="微软雅黑" pitchFamily="34" charset="-122"/>
                  <a:ea typeface="微软雅黑" pitchFamily="34" charset="-122"/>
                </a:rPr>
                <a:t>ND </a:t>
              </a:r>
              <a:r>
                <a:rPr kumimoji="1" lang="zh-CN" altLang="en-US" sz="1600" b="1" dirty="0">
                  <a:solidFill>
                    <a:srgbClr val="CC00CC"/>
                  </a:solidFill>
                  <a:latin typeface="微软雅黑" pitchFamily="34" charset="-122"/>
                  <a:ea typeface="微软雅黑" pitchFamily="34" charset="-122"/>
                </a:rPr>
                <a:t>协议</a:t>
              </a:r>
            </a:p>
          </p:txBody>
        </p:sp>
        <p:sp>
          <p:nvSpPr>
            <p:cNvPr id="30" name="Text Box 15"/>
            <p:cNvSpPr txBox="1">
              <a:spLocks noChangeArrowheads="1"/>
            </p:cNvSpPr>
            <p:nvPr/>
          </p:nvSpPr>
          <p:spPr bwMode="auto">
            <a:xfrm>
              <a:off x="6195082" y="2350570"/>
              <a:ext cx="1394802" cy="27979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en-US" altLang="zh-CN" sz="1600" b="1" dirty="0">
                  <a:solidFill>
                    <a:srgbClr val="CC00CC"/>
                  </a:solidFill>
                  <a:latin typeface="微软雅黑" pitchFamily="34" charset="-122"/>
                  <a:ea typeface="微软雅黑" pitchFamily="34" charset="-122"/>
                </a:rPr>
                <a:t>MLD </a:t>
              </a:r>
              <a:r>
                <a:rPr kumimoji="1" lang="zh-CN" altLang="en-US" sz="1600" b="1" dirty="0">
                  <a:solidFill>
                    <a:srgbClr val="CC00CC"/>
                  </a:solidFill>
                  <a:latin typeface="微软雅黑" pitchFamily="34" charset="-122"/>
                  <a:ea typeface="微软雅黑" pitchFamily="34" charset="-122"/>
                </a:rPr>
                <a:t>协议</a:t>
              </a:r>
            </a:p>
          </p:txBody>
        </p:sp>
        <p:sp>
          <p:nvSpPr>
            <p:cNvPr id="19" name="矩形 18"/>
            <p:cNvSpPr/>
            <p:nvPr/>
          </p:nvSpPr>
          <p:spPr>
            <a:xfrm>
              <a:off x="1723280" y="2745160"/>
              <a:ext cx="6211780" cy="707886"/>
            </a:xfrm>
            <a:prstGeom prst="rect">
              <a:avLst/>
            </a:prstGeom>
          </p:spPr>
          <p:txBody>
            <a:bodyPr wrap="square">
              <a:spAutoFit/>
            </a:bodyPr>
            <a:lstStyle/>
            <a:p>
              <a:pPr>
                <a:lnSpc>
                  <a:spcPts val="2400"/>
                </a:lnSpc>
              </a:pPr>
              <a:r>
                <a:rPr lang="en-US" altLang="zh-CN" sz="1600" b="1" dirty="0">
                  <a:solidFill>
                    <a:srgbClr val="0000FF"/>
                  </a:solidFill>
                  <a:latin typeface="微软雅黑" pitchFamily="34" charset="-122"/>
                  <a:ea typeface="微软雅黑" pitchFamily="34" charset="-122"/>
                </a:rPr>
                <a:t>ND (Neighbor-Discovery)</a:t>
              </a:r>
              <a:r>
                <a:rPr lang="zh-CN" altLang="en-US" sz="1600" b="1" dirty="0">
                  <a:solidFill>
                    <a:srgbClr val="0000FF"/>
                  </a:solidFill>
                  <a:latin typeface="微软雅黑" pitchFamily="34" charset="-122"/>
                  <a:ea typeface="微软雅黑" pitchFamily="34" charset="-122"/>
                </a:rPr>
                <a:t>：</a:t>
              </a:r>
              <a:r>
                <a:rPr lang="zh-CN" altLang="zh-CN" sz="1600" b="1" dirty="0">
                  <a:solidFill>
                    <a:srgbClr val="0000FF"/>
                  </a:solidFill>
                  <a:latin typeface="微软雅黑" pitchFamily="34" charset="-122"/>
                  <a:ea typeface="微软雅黑" pitchFamily="34" charset="-122"/>
                </a:rPr>
                <a:t>邻站发现</a:t>
              </a:r>
              <a:endParaRPr lang="en-US" altLang="zh-CN" sz="1600" b="1" dirty="0">
                <a:solidFill>
                  <a:srgbClr val="0000FF"/>
                </a:solidFill>
                <a:latin typeface="微软雅黑" pitchFamily="34" charset="-122"/>
                <a:ea typeface="微软雅黑" pitchFamily="34" charset="-122"/>
              </a:endParaRPr>
            </a:p>
            <a:p>
              <a:pPr>
                <a:lnSpc>
                  <a:spcPts val="2400"/>
                </a:lnSpc>
              </a:pPr>
              <a:r>
                <a:rPr lang="en-US" altLang="zh-CN" sz="1600" b="1" dirty="0">
                  <a:solidFill>
                    <a:srgbClr val="0000FF"/>
                  </a:solidFill>
                  <a:latin typeface="微软雅黑" pitchFamily="34" charset="-122"/>
                  <a:ea typeface="微软雅黑" pitchFamily="34" charset="-122"/>
                </a:rPr>
                <a:t>MLD (Multicast Listener Delivery)</a:t>
              </a:r>
              <a:r>
                <a:rPr lang="zh-CN" altLang="en-US" sz="1600" b="1" dirty="0">
                  <a:solidFill>
                    <a:srgbClr val="0000FF"/>
                  </a:solidFill>
                  <a:latin typeface="微软雅黑" pitchFamily="34" charset="-122"/>
                  <a:ea typeface="微软雅黑" pitchFamily="34" charset="-122"/>
                </a:rPr>
                <a:t>：</a:t>
              </a:r>
              <a:r>
                <a:rPr lang="zh-CN" altLang="zh-CN" sz="1600" b="1" dirty="0">
                  <a:solidFill>
                    <a:srgbClr val="0000FF"/>
                  </a:solidFill>
                  <a:latin typeface="微软雅黑" pitchFamily="34" charset="-122"/>
                  <a:ea typeface="微软雅黑" pitchFamily="34" charset="-122"/>
                </a:rPr>
                <a:t>多播听众交付</a:t>
              </a:r>
              <a:endParaRPr lang="zh-CN" altLang="en-US" sz="1600" b="1" dirty="0">
                <a:solidFill>
                  <a:srgbClr val="0000FF"/>
                </a:solidFill>
                <a:latin typeface="微软雅黑" pitchFamily="34" charset="-122"/>
                <a:ea typeface="微软雅黑" pitchFamily="34" charset="-122"/>
              </a:endParaRPr>
            </a:p>
          </p:txBody>
        </p:sp>
      </p:grpSp>
    </p:spTree>
    <p:extLst>
      <p:ext uri="{BB962C8B-B14F-4D97-AF65-F5344CB8AC3E}">
        <p14:creationId xmlns:p14="http://schemas.microsoft.com/office/powerpoint/2010/main" val="99377123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9"/>
          <p:cNvSpPr>
            <a:spLocks noChangeArrowheads="1"/>
          </p:cNvSpPr>
          <p:nvPr/>
        </p:nvSpPr>
        <p:spPr bwMode="auto">
          <a:xfrm>
            <a:off x="2629135" y="1058909"/>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3" name="Rectangle 10"/>
          <p:cNvSpPr>
            <a:spLocks noChangeArrowheads="1"/>
          </p:cNvSpPr>
          <p:nvPr/>
        </p:nvSpPr>
        <p:spPr bwMode="auto">
          <a:xfrm>
            <a:off x="2629135" y="1665334"/>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6" name="Rectangle 27"/>
          <p:cNvSpPr>
            <a:spLocks noChangeArrowheads="1"/>
          </p:cNvSpPr>
          <p:nvPr/>
        </p:nvSpPr>
        <p:spPr bwMode="auto">
          <a:xfrm>
            <a:off x="639730" y="1058909"/>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7" name="Rectangle 29"/>
          <p:cNvSpPr>
            <a:spLocks noChangeArrowheads="1"/>
          </p:cNvSpPr>
          <p:nvPr/>
        </p:nvSpPr>
        <p:spPr bwMode="auto">
          <a:xfrm>
            <a:off x="648619" y="1153841"/>
            <a:ext cx="1627651" cy="101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4.</a:t>
            </a:r>
            <a:r>
              <a:rPr lang="en-US" altLang="zh-CN" sz="2000" b="1" dirty="0">
                <a:solidFill>
                  <a:srgbClr val="FFFF00"/>
                </a:solidFill>
                <a:latin typeface="微软雅黑" pitchFamily="34" charset="-122"/>
                <a:ea typeface="微软雅黑" pitchFamily="34" charset="-122"/>
              </a:rPr>
              <a:t>6</a:t>
            </a:r>
            <a:endParaRPr lang="fr-FR" altLang="zh-CN" sz="2000" b="1" dirty="0">
              <a:solidFill>
                <a:srgbClr val="FFFF00"/>
              </a:solidFill>
              <a:latin typeface="微软雅黑" pitchFamily="34" charset="-122"/>
              <a:ea typeface="微软雅黑" pitchFamily="34" charset="-122"/>
            </a:endParaRPr>
          </a:p>
          <a:p>
            <a:r>
              <a:rPr lang="zh-CN" altLang="en-US" sz="2000" b="1" dirty="0">
                <a:solidFill>
                  <a:schemeClr val="bg1"/>
                </a:solidFill>
                <a:latin typeface="微软雅黑" pitchFamily="34" charset="-122"/>
                <a:ea typeface="微软雅黑" pitchFamily="34" charset="-122"/>
              </a:rPr>
              <a:t>互连网的路由选择协议</a:t>
            </a:r>
          </a:p>
        </p:txBody>
      </p:sp>
      <p:sp>
        <p:nvSpPr>
          <p:cNvPr id="8" name="Rectangle 9"/>
          <p:cNvSpPr>
            <a:spLocks noChangeArrowheads="1"/>
          </p:cNvSpPr>
          <p:nvPr/>
        </p:nvSpPr>
        <p:spPr bwMode="auto">
          <a:xfrm>
            <a:off x="2629135" y="2278545"/>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9" name="Rectangle 10"/>
          <p:cNvSpPr>
            <a:spLocks noChangeArrowheads="1"/>
          </p:cNvSpPr>
          <p:nvPr/>
        </p:nvSpPr>
        <p:spPr bwMode="auto">
          <a:xfrm>
            <a:off x="2629135" y="2884970"/>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0" name="Rectangle 9"/>
          <p:cNvSpPr>
            <a:spLocks noChangeArrowheads="1"/>
          </p:cNvSpPr>
          <p:nvPr/>
        </p:nvSpPr>
        <p:spPr bwMode="auto">
          <a:xfrm>
            <a:off x="2629135" y="3494530"/>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4" name="Line 16"/>
          <p:cNvSpPr>
            <a:spLocks noChangeShapeType="1"/>
          </p:cNvSpPr>
          <p:nvPr/>
        </p:nvSpPr>
        <p:spPr bwMode="auto">
          <a:xfrm>
            <a:off x="3637198" y="987472"/>
            <a:ext cx="0" cy="2963298"/>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 name="Rectangle 8"/>
          <p:cNvSpPr>
            <a:spLocks noChangeArrowheads="1"/>
          </p:cNvSpPr>
          <p:nvPr/>
        </p:nvSpPr>
        <p:spPr bwMode="auto">
          <a:xfrm>
            <a:off x="2700573" y="1024365"/>
            <a:ext cx="5574294" cy="28623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zh-CN" sz="2000" b="1" dirty="0">
                <a:solidFill>
                  <a:schemeClr val="bg1"/>
                </a:solidFill>
                <a:latin typeface="微软雅黑" pitchFamily="34" charset="-122"/>
                <a:ea typeface="微软雅黑" pitchFamily="34" charset="-122"/>
              </a:rPr>
              <a:t>4.6.1            </a:t>
            </a:r>
            <a:r>
              <a:rPr lang="zh-CN" altLang="en-US" sz="2000" b="1" dirty="0">
                <a:solidFill>
                  <a:schemeClr val="bg1"/>
                </a:solidFill>
                <a:latin typeface="微软雅黑" pitchFamily="34" charset="-122"/>
                <a:ea typeface="微软雅黑" pitchFamily="34" charset="-122"/>
              </a:rPr>
              <a:t>有关路由选择协议的几个基本概念</a:t>
            </a:r>
            <a:endParaRPr lang="en-US" altLang="zh-CN" sz="2000" b="1" dirty="0">
              <a:solidFill>
                <a:schemeClr val="bg1"/>
              </a:solidFill>
              <a:latin typeface="微软雅黑" pitchFamily="34" charset="-122"/>
              <a:ea typeface="微软雅黑" pitchFamily="34" charset="-122"/>
            </a:endParaRPr>
          </a:p>
          <a:p>
            <a:endParaRPr lang="zh-CN" altLang="en-US"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4.6.2                                   </a:t>
            </a:r>
            <a:r>
              <a:rPr lang="zh-CN" altLang="en-US" sz="2000" b="1" dirty="0">
                <a:solidFill>
                  <a:schemeClr val="bg1"/>
                </a:solidFill>
                <a:latin typeface="微软雅黑" pitchFamily="34" charset="-122"/>
                <a:ea typeface="微软雅黑" pitchFamily="34" charset="-122"/>
              </a:rPr>
              <a:t>内部网关协议 </a:t>
            </a:r>
            <a:r>
              <a:rPr lang="en-US" altLang="zh-CN" sz="2000" b="1" dirty="0">
                <a:solidFill>
                  <a:schemeClr val="bg1"/>
                </a:solidFill>
                <a:latin typeface="微软雅黑" pitchFamily="34" charset="-122"/>
                <a:ea typeface="微软雅黑" pitchFamily="34" charset="-122"/>
              </a:rPr>
              <a:t>RIP</a:t>
            </a:r>
          </a:p>
          <a:p>
            <a:endParaRPr lang="en-US" altLang="zh-CN"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4.6.3                                </a:t>
            </a:r>
            <a:r>
              <a:rPr lang="zh-CN" altLang="en-US" sz="2000" b="1" dirty="0">
                <a:solidFill>
                  <a:schemeClr val="bg1"/>
                </a:solidFill>
                <a:latin typeface="微软雅黑" pitchFamily="34" charset="-122"/>
                <a:ea typeface="微软雅黑" pitchFamily="34" charset="-122"/>
              </a:rPr>
              <a:t>内部网关协议 </a:t>
            </a:r>
            <a:r>
              <a:rPr lang="en-US" altLang="zh-CN" sz="2000" b="1" dirty="0">
                <a:solidFill>
                  <a:schemeClr val="bg1"/>
                </a:solidFill>
                <a:latin typeface="微软雅黑" pitchFamily="34" charset="-122"/>
                <a:ea typeface="微软雅黑" pitchFamily="34" charset="-122"/>
              </a:rPr>
              <a:t>OSPF</a:t>
            </a:r>
          </a:p>
          <a:p>
            <a:endParaRPr lang="en-US" altLang="zh-CN"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4.6.4                                  </a:t>
            </a:r>
            <a:r>
              <a:rPr lang="zh-CN" altLang="en-US" sz="2000" b="1" dirty="0">
                <a:solidFill>
                  <a:schemeClr val="bg1"/>
                </a:solidFill>
                <a:latin typeface="微软雅黑" pitchFamily="34" charset="-122"/>
                <a:ea typeface="微软雅黑" pitchFamily="34" charset="-122"/>
              </a:rPr>
              <a:t>外部网关协议 </a:t>
            </a:r>
            <a:r>
              <a:rPr lang="en-US" altLang="zh-CN" sz="2000" b="1" dirty="0">
                <a:solidFill>
                  <a:schemeClr val="bg1"/>
                </a:solidFill>
                <a:latin typeface="微软雅黑" pitchFamily="34" charset="-122"/>
                <a:ea typeface="微软雅黑" pitchFamily="34" charset="-122"/>
              </a:rPr>
              <a:t>BGP</a:t>
            </a:r>
          </a:p>
          <a:p>
            <a:endParaRPr lang="en-US" altLang="zh-CN"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4.6.5                                          </a:t>
            </a:r>
            <a:r>
              <a:rPr lang="zh-CN" altLang="en-US" sz="2000" b="1" dirty="0">
                <a:solidFill>
                  <a:schemeClr val="bg1"/>
                </a:solidFill>
                <a:latin typeface="微软雅黑" pitchFamily="34" charset="-122"/>
                <a:ea typeface="微软雅黑" pitchFamily="34" charset="-122"/>
              </a:rPr>
              <a:t>路由器的构成</a:t>
            </a:r>
          </a:p>
        </p:txBody>
      </p:sp>
    </p:spTree>
    <p:extLst>
      <p:ext uri="{BB962C8B-B14F-4D97-AF65-F5344CB8AC3E}">
        <p14:creationId xmlns:p14="http://schemas.microsoft.com/office/powerpoint/2010/main" val="128801637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6220"/>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1708076" y="585357"/>
            <a:ext cx="572785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4.6.1  </a:t>
            </a:r>
            <a:r>
              <a:rPr lang="zh-CN" altLang="en-US" sz="2400" b="1" dirty="0">
                <a:solidFill>
                  <a:schemeClr val="bg1"/>
                </a:solidFill>
                <a:latin typeface="微软雅黑" pitchFamily="34" charset="-122"/>
                <a:ea typeface="微软雅黑" pitchFamily="34" charset="-122"/>
              </a:rPr>
              <a:t>有关路由选择协议的几个基本概念</a:t>
            </a:r>
          </a:p>
        </p:txBody>
      </p:sp>
      <p:sp>
        <p:nvSpPr>
          <p:cNvPr id="7" name="圆角矩形 6"/>
          <p:cNvSpPr/>
          <p:nvPr/>
        </p:nvSpPr>
        <p:spPr>
          <a:xfrm>
            <a:off x="545144" y="1095236"/>
            <a:ext cx="8053712" cy="311689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8" name="组合 7"/>
          <p:cNvGrpSpPr/>
          <p:nvPr/>
        </p:nvGrpSpPr>
        <p:grpSpPr>
          <a:xfrm>
            <a:off x="957532" y="1300244"/>
            <a:ext cx="7040366" cy="2667520"/>
            <a:chOff x="957532" y="1263300"/>
            <a:chExt cx="7040366" cy="2667520"/>
          </a:xfrm>
        </p:grpSpPr>
        <p:sp>
          <p:nvSpPr>
            <p:cNvPr id="9" name="Line 151"/>
            <p:cNvSpPr>
              <a:spLocks noChangeShapeType="1"/>
            </p:cNvSpPr>
            <p:nvPr/>
          </p:nvSpPr>
          <p:spPr bwMode="auto">
            <a:xfrm>
              <a:off x="4778385" y="2851395"/>
              <a:ext cx="936104" cy="504056"/>
            </a:xfrm>
            <a:prstGeom prst="line">
              <a:avLst/>
            </a:prstGeom>
            <a:noFill/>
            <a:ln w="2857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0" name="Line 79"/>
            <p:cNvSpPr>
              <a:spLocks noChangeShapeType="1"/>
            </p:cNvSpPr>
            <p:nvPr/>
          </p:nvSpPr>
          <p:spPr bwMode="auto">
            <a:xfrm>
              <a:off x="2978185" y="3355451"/>
              <a:ext cx="720502" cy="216545"/>
            </a:xfrm>
            <a:prstGeom prst="line">
              <a:avLst/>
            </a:prstGeom>
            <a:noFill/>
            <a:ln w="952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1" name="Line 99"/>
            <p:cNvSpPr>
              <a:spLocks noChangeShapeType="1"/>
            </p:cNvSpPr>
            <p:nvPr/>
          </p:nvSpPr>
          <p:spPr bwMode="auto">
            <a:xfrm>
              <a:off x="3914289" y="3643483"/>
              <a:ext cx="1296417" cy="215206"/>
            </a:xfrm>
            <a:prstGeom prst="line">
              <a:avLst/>
            </a:prstGeom>
            <a:noFill/>
            <a:ln w="2857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2" name="Line 100"/>
            <p:cNvSpPr>
              <a:spLocks noChangeShapeType="1"/>
            </p:cNvSpPr>
            <p:nvPr/>
          </p:nvSpPr>
          <p:spPr bwMode="auto">
            <a:xfrm flipV="1">
              <a:off x="3914587" y="3427458"/>
              <a:ext cx="1799902" cy="144536"/>
            </a:xfrm>
            <a:prstGeom prst="line">
              <a:avLst/>
            </a:prstGeom>
            <a:noFill/>
            <a:ln w="2857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3" name="Line 101"/>
            <p:cNvSpPr>
              <a:spLocks noChangeShapeType="1"/>
            </p:cNvSpPr>
            <p:nvPr/>
          </p:nvSpPr>
          <p:spPr bwMode="auto">
            <a:xfrm>
              <a:off x="6002521" y="3427459"/>
              <a:ext cx="936253" cy="215974"/>
            </a:xfrm>
            <a:prstGeom prst="line">
              <a:avLst/>
            </a:prstGeom>
            <a:noFill/>
            <a:ln w="2857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4" name="Line 102"/>
            <p:cNvSpPr>
              <a:spLocks noChangeShapeType="1"/>
            </p:cNvSpPr>
            <p:nvPr/>
          </p:nvSpPr>
          <p:spPr bwMode="auto">
            <a:xfrm flipV="1">
              <a:off x="5498465" y="3716459"/>
              <a:ext cx="1440309" cy="143048"/>
            </a:xfrm>
            <a:prstGeom prst="line">
              <a:avLst/>
            </a:prstGeom>
            <a:noFill/>
            <a:ln w="2857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5" name="Line 103"/>
            <p:cNvSpPr>
              <a:spLocks noChangeShapeType="1"/>
            </p:cNvSpPr>
            <p:nvPr/>
          </p:nvSpPr>
          <p:spPr bwMode="auto">
            <a:xfrm flipV="1">
              <a:off x="7010211" y="3355451"/>
              <a:ext cx="864517" cy="287983"/>
            </a:xfrm>
            <a:prstGeom prst="line">
              <a:avLst/>
            </a:prstGeom>
            <a:noFill/>
            <a:ln w="952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6" name="Line 107"/>
            <p:cNvSpPr>
              <a:spLocks noChangeShapeType="1"/>
            </p:cNvSpPr>
            <p:nvPr/>
          </p:nvSpPr>
          <p:spPr bwMode="auto">
            <a:xfrm flipV="1">
              <a:off x="3914587" y="2851394"/>
              <a:ext cx="647774" cy="649161"/>
            </a:xfrm>
            <a:prstGeom prst="line">
              <a:avLst/>
            </a:prstGeom>
            <a:noFill/>
            <a:ln w="2857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7" name="Line 108"/>
            <p:cNvSpPr>
              <a:spLocks noChangeShapeType="1"/>
            </p:cNvSpPr>
            <p:nvPr/>
          </p:nvSpPr>
          <p:spPr bwMode="auto">
            <a:xfrm>
              <a:off x="4922401" y="2779387"/>
              <a:ext cx="2087811" cy="792608"/>
            </a:xfrm>
            <a:prstGeom prst="line">
              <a:avLst/>
            </a:prstGeom>
            <a:noFill/>
            <a:ln w="2857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 name="Picture 109"/>
            <p:cNvPicPr>
              <a:picLocks noChangeArrowheads="1"/>
            </p:cNvPicPr>
            <p:nvPr/>
          </p:nvPicPr>
          <p:blipFill>
            <a:blip r:embed="rId3" cstate="print"/>
            <a:srcRect/>
            <a:stretch>
              <a:fillRect/>
            </a:stretch>
          </p:blipFill>
          <p:spPr bwMode="auto">
            <a:xfrm>
              <a:off x="3609787" y="3427534"/>
              <a:ext cx="520700" cy="287337"/>
            </a:xfrm>
            <a:prstGeom prst="rect">
              <a:avLst/>
            </a:prstGeom>
            <a:noFill/>
            <a:ln w="12699">
              <a:noFill/>
              <a:miter lim="800000"/>
              <a:headEnd/>
              <a:tailEnd/>
            </a:ln>
          </p:spPr>
        </p:pic>
        <p:pic>
          <p:nvPicPr>
            <p:cNvPr id="19" name="Picture 110"/>
            <p:cNvPicPr>
              <a:picLocks noChangeArrowheads="1"/>
            </p:cNvPicPr>
            <p:nvPr/>
          </p:nvPicPr>
          <p:blipFill>
            <a:blip r:embed="rId3" cstate="print"/>
            <a:srcRect/>
            <a:stretch>
              <a:fillRect/>
            </a:stretch>
          </p:blipFill>
          <p:spPr bwMode="auto">
            <a:xfrm>
              <a:off x="5642481" y="3283443"/>
              <a:ext cx="520700" cy="287337"/>
            </a:xfrm>
            <a:prstGeom prst="rect">
              <a:avLst/>
            </a:prstGeom>
            <a:noFill/>
            <a:ln w="12699">
              <a:noFill/>
              <a:miter lim="800000"/>
              <a:headEnd/>
              <a:tailEnd/>
            </a:ln>
          </p:spPr>
        </p:pic>
        <p:pic>
          <p:nvPicPr>
            <p:cNvPr id="20" name="Picture 111"/>
            <p:cNvPicPr>
              <a:picLocks noChangeArrowheads="1"/>
            </p:cNvPicPr>
            <p:nvPr/>
          </p:nvPicPr>
          <p:blipFill>
            <a:blip r:embed="rId3" cstate="print"/>
            <a:srcRect/>
            <a:stretch>
              <a:fillRect/>
            </a:stretch>
          </p:blipFill>
          <p:spPr bwMode="auto">
            <a:xfrm>
              <a:off x="5066417" y="3643483"/>
              <a:ext cx="520700" cy="287337"/>
            </a:xfrm>
            <a:prstGeom prst="rect">
              <a:avLst/>
            </a:prstGeom>
            <a:noFill/>
            <a:ln w="12699">
              <a:noFill/>
              <a:miter lim="800000"/>
              <a:headEnd/>
              <a:tailEnd/>
            </a:ln>
          </p:spPr>
        </p:pic>
        <p:pic>
          <p:nvPicPr>
            <p:cNvPr id="21" name="Picture 112"/>
            <p:cNvPicPr>
              <a:picLocks noChangeArrowheads="1"/>
            </p:cNvPicPr>
            <p:nvPr/>
          </p:nvPicPr>
          <p:blipFill>
            <a:blip r:embed="rId3" cstate="print"/>
            <a:srcRect/>
            <a:stretch>
              <a:fillRect/>
            </a:stretch>
          </p:blipFill>
          <p:spPr bwMode="auto">
            <a:xfrm>
              <a:off x="6722874" y="3500559"/>
              <a:ext cx="520700" cy="287337"/>
            </a:xfrm>
            <a:prstGeom prst="rect">
              <a:avLst/>
            </a:prstGeom>
            <a:noFill/>
            <a:ln w="12699">
              <a:noFill/>
              <a:miter lim="800000"/>
              <a:headEnd/>
              <a:tailEnd/>
            </a:ln>
          </p:spPr>
        </p:pic>
        <p:pic>
          <p:nvPicPr>
            <p:cNvPr id="22" name="Picture 113"/>
            <p:cNvPicPr>
              <a:picLocks noChangeArrowheads="1"/>
            </p:cNvPicPr>
            <p:nvPr/>
          </p:nvPicPr>
          <p:blipFill>
            <a:blip r:embed="rId3" cstate="print"/>
            <a:srcRect/>
            <a:stretch>
              <a:fillRect/>
            </a:stretch>
          </p:blipFill>
          <p:spPr bwMode="auto">
            <a:xfrm>
              <a:off x="4418345" y="2635371"/>
              <a:ext cx="520700" cy="287338"/>
            </a:xfrm>
            <a:prstGeom prst="rect">
              <a:avLst/>
            </a:prstGeom>
            <a:noFill/>
            <a:ln w="12699">
              <a:noFill/>
              <a:miter lim="800000"/>
              <a:headEnd/>
              <a:tailEnd/>
            </a:ln>
          </p:spPr>
        </p:pic>
        <p:pic>
          <p:nvPicPr>
            <p:cNvPr id="23" name="Picture 113"/>
            <p:cNvPicPr>
              <a:picLocks noChangeArrowheads="1"/>
            </p:cNvPicPr>
            <p:nvPr/>
          </p:nvPicPr>
          <p:blipFill>
            <a:blip r:embed="rId3" cstate="print"/>
            <a:srcRect/>
            <a:stretch>
              <a:fillRect/>
            </a:stretch>
          </p:blipFill>
          <p:spPr bwMode="auto">
            <a:xfrm>
              <a:off x="3557370" y="1365789"/>
              <a:ext cx="351656" cy="189462"/>
            </a:xfrm>
            <a:prstGeom prst="rect">
              <a:avLst/>
            </a:prstGeom>
            <a:noFill/>
            <a:ln w="12699">
              <a:noFill/>
              <a:miter lim="800000"/>
              <a:headEnd/>
              <a:tailEnd/>
            </a:ln>
          </p:spPr>
        </p:pic>
        <p:sp>
          <p:nvSpPr>
            <p:cNvPr id="24" name="矩形 23"/>
            <p:cNvSpPr/>
            <p:nvPr/>
          </p:nvSpPr>
          <p:spPr>
            <a:xfrm>
              <a:off x="3625186" y="2131315"/>
              <a:ext cx="216024" cy="288032"/>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cxnSp>
          <p:nvCxnSpPr>
            <p:cNvPr id="25" name="直接连接符 24"/>
            <p:cNvCxnSpPr/>
            <p:nvPr/>
          </p:nvCxnSpPr>
          <p:spPr>
            <a:xfrm>
              <a:off x="3625186" y="218892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接连接符 25"/>
            <p:cNvCxnSpPr/>
            <p:nvPr/>
          </p:nvCxnSpPr>
          <p:spPr>
            <a:xfrm>
              <a:off x="3625186" y="2246528"/>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直接连接符 26"/>
            <p:cNvCxnSpPr/>
            <p:nvPr/>
          </p:nvCxnSpPr>
          <p:spPr>
            <a:xfrm>
              <a:off x="3625186" y="23108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a:off x="3625186" y="23617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a:off x="3733198" y="2140897"/>
              <a:ext cx="0" cy="2773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椭圆 29"/>
            <p:cNvSpPr/>
            <p:nvPr/>
          </p:nvSpPr>
          <p:spPr>
            <a:xfrm>
              <a:off x="3554249" y="1621774"/>
              <a:ext cx="357899" cy="144016"/>
            </a:xfrm>
            <a:prstGeom prst="ellipse">
              <a:avLst/>
            </a:prstGeom>
            <a:solidFill>
              <a:schemeClr val="bg1"/>
            </a:solidFill>
            <a:ln w="1270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31" name="下箭头 30"/>
            <p:cNvSpPr/>
            <p:nvPr/>
          </p:nvSpPr>
          <p:spPr>
            <a:xfrm>
              <a:off x="3697194" y="1765790"/>
              <a:ext cx="72008" cy="360040"/>
            </a:xfrm>
            <a:prstGeom prst="downArrow">
              <a:avLst/>
            </a:prstGeom>
            <a:solidFill>
              <a:schemeClr val="bg1"/>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pic>
          <p:nvPicPr>
            <p:cNvPr id="32" name="Picture 113"/>
            <p:cNvPicPr>
              <a:picLocks noChangeArrowheads="1"/>
            </p:cNvPicPr>
            <p:nvPr/>
          </p:nvPicPr>
          <p:blipFill>
            <a:blip r:embed="rId3" cstate="print"/>
            <a:srcRect/>
            <a:stretch>
              <a:fillRect/>
            </a:stretch>
          </p:blipFill>
          <p:spPr bwMode="auto">
            <a:xfrm>
              <a:off x="4423607" y="1365789"/>
              <a:ext cx="351656" cy="189462"/>
            </a:xfrm>
            <a:prstGeom prst="rect">
              <a:avLst/>
            </a:prstGeom>
            <a:noFill/>
            <a:ln w="12699">
              <a:noFill/>
              <a:miter lim="800000"/>
              <a:headEnd/>
              <a:tailEnd/>
            </a:ln>
          </p:spPr>
        </p:pic>
        <p:sp>
          <p:nvSpPr>
            <p:cNvPr id="33" name="矩形 32"/>
            <p:cNvSpPr/>
            <p:nvPr/>
          </p:nvSpPr>
          <p:spPr>
            <a:xfrm>
              <a:off x="4491423" y="2131315"/>
              <a:ext cx="216024" cy="288032"/>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cxnSp>
          <p:nvCxnSpPr>
            <p:cNvPr id="34" name="直接连接符 33"/>
            <p:cNvCxnSpPr/>
            <p:nvPr/>
          </p:nvCxnSpPr>
          <p:spPr>
            <a:xfrm>
              <a:off x="4491423" y="218892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直接连接符 34"/>
            <p:cNvCxnSpPr/>
            <p:nvPr/>
          </p:nvCxnSpPr>
          <p:spPr>
            <a:xfrm>
              <a:off x="4491423" y="2246528"/>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p:cNvCxnSpPr/>
            <p:nvPr/>
          </p:nvCxnSpPr>
          <p:spPr>
            <a:xfrm>
              <a:off x="4491423" y="23108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连接符 36"/>
            <p:cNvCxnSpPr/>
            <p:nvPr/>
          </p:nvCxnSpPr>
          <p:spPr>
            <a:xfrm>
              <a:off x="4491423" y="23617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直接连接符 37"/>
            <p:cNvCxnSpPr/>
            <p:nvPr/>
          </p:nvCxnSpPr>
          <p:spPr>
            <a:xfrm>
              <a:off x="4599435" y="2140897"/>
              <a:ext cx="0" cy="2773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椭圆 38"/>
            <p:cNvSpPr/>
            <p:nvPr/>
          </p:nvSpPr>
          <p:spPr>
            <a:xfrm>
              <a:off x="4420486" y="1621774"/>
              <a:ext cx="357899" cy="144016"/>
            </a:xfrm>
            <a:prstGeom prst="ellipse">
              <a:avLst/>
            </a:prstGeom>
            <a:solidFill>
              <a:schemeClr val="bg1"/>
            </a:solidFill>
            <a:ln w="1270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40" name="下箭头 39"/>
            <p:cNvSpPr/>
            <p:nvPr/>
          </p:nvSpPr>
          <p:spPr>
            <a:xfrm>
              <a:off x="4563431" y="1765790"/>
              <a:ext cx="72008" cy="360040"/>
            </a:xfrm>
            <a:prstGeom prst="downArrow">
              <a:avLst/>
            </a:prstGeom>
            <a:solidFill>
              <a:schemeClr val="bg1"/>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pic>
          <p:nvPicPr>
            <p:cNvPr id="41" name="Picture 113"/>
            <p:cNvPicPr>
              <a:picLocks noChangeArrowheads="1"/>
            </p:cNvPicPr>
            <p:nvPr/>
          </p:nvPicPr>
          <p:blipFill>
            <a:blip r:embed="rId3" cstate="print"/>
            <a:srcRect/>
            <a:stretch>
              <a:fillRect/>
            </a:stretch>
          </p:blipFill>
          <p:spPr bwMode="auto">
            <a:xfrm>
              <a:off x="5143687" y="1365789"/>
              <a:ext cx="351656" cy="189462"/>
            </a:xfrm>
            <a:prstGeom prst="rect">
              <a:avLst/>
            </a:prstGeom>
            <a:noFill/>
            <a:ln w="12699">
              <a:noFill/>
              <a:miter lim="800000"/>
              <a:headEnd/>
              <a:tailEnd/>
            </a:ln>
          </p:spPr>
        </p:pic>
        <p:sp>
          <p:nvSpPr>
            <p:cNvPr id="42" name="矩形 41"/>
            <p:cNvSpPr/>
            <p:nvPr/>
          </p:nvSpPr>
          <p:spPr>
            <a:xfrm>
              <a:off x="5211503" y="2131315"/>
              <a:ext cx="216024" cy="288032"/>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cxnSp>
          <p:nvCxnSpPr>
            <p:cNvPr id="43" name="直接连接符 42"/>
            <p:cNvCxnSpPr/>
            <p:nvPr/>
          </p:nvCxnSpPr>
          <p:spPr>
            <a:xfrm>
              <a:off x="5211503" y="218892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直接连接符 43"/>
            <p:cNvCxnSpPr/>
            <p:nvPr/>
          </p:nvCxnSpPr>
          <p:spPr>
            <a:xfrm>
              <a:off x="5211503" y="2246528"/>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接连接符 44"/>
            <p:cNvCxnSpPr/>
            <p:nvPr/>
          </p:nvCxnSpPr>
          <p:spPr>
            <a:xfrm>
              <a:off x="5211503" y="23108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p:cNvCxnSpPr/>
            <p:nvPr/>
          </p:nvCxnSpPr>
          <p:spPr>
            <a:xfrm>
              <a:off x="5211503" y="23617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p:cNvCxnSpPr/>
            <p:nvPr/>
          </p:nvCxnSpPr>
          <p:spPr>
            <a:xfrm>
              <a:off x="5319515" y="2140897"/>
              <a:ext cx="0" cy="2773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椭圆 47"/>
            <p:cNvSpPr/>
            <p:nvPr/>
          </p:nvSpPr>
          <p:spPr>
            <a:xfrm>
              <a:off x="5140566" y="1621774"/>
              <a:ext cx="357899" cy="144016"/>
            </a:xfrm>
            <a:prstGeom prst="ellipse">
              <a:avLst/>
            </a:prstGeom>
            <a:solidFill>
              <a:schemeClr val="bg1"/>
            </a:solidFill>
            <a:ln w="1270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49" name="下箭头 48"/>
            <p:cNvSpPr/>
            <p:nvPr/>
          </p:nvSpPr>
          <p:spPr>
            <a:xfrm>
              <a:off x="5283511" y="1765790"/>
              <a:ext cx="72008" cy="360040"/>
            </a:xfrm>
            <a:prstGeom prst="downArrow">
              <a:avLst/>
            </a:prstGeom>
            <a:solidFill>
              <a:schemeClr val="bg1"/>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pic>
          <p:nvPicPr>
            <p:cNvPr id="50" name="Picture 113"/>
            <p:cNvPicPr>
              <a:picLocks noChangeArrowheads="1"/>
            </p:cNvPicPr>
            <p:nvPr/>
          </p:nvPicPr>
          <p:blipFill>
            <a:blip r:embed="rId3" cstate="print"/>
            <a:srcRect/>
            <a:stretch>
              <a:fillRect/>
            </a:stretch>
          </p:blipFill>
          <p:spPr bwMode="auto">
            <a:xfrm>
              <a:off x="6727863" y="1365789"/>
              <a:ext cx="351656" cy="189462"/>
            </a:xfrm>
            <a:prstGeom prst="rect">
              <a:avLst/>
            </a:prstGeom>
            <a:noFill/>
            <a:ln w="12699">
              <a:noFill/>
              <a:miter lim="800000"/>
              <a:headEnd/>
              <a:tailEnd/>
            </a:ln>
          </p:spPr>
        </p:pic>
        <p:sp>
          <p:nvSpPr>
            <p:cNvPr id="51" name="矩形 50"/>
            <p:cNvSpPr/>
            <p:nvPr/>
          </p:nvSpPr>
          <p:spPr>
            <a:xfrm>
              <a:off x="6795679" y="2131315"/>
              <a:ext cx="216024" cy="288032"/>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cxnSp>
          <p:nvCxnSpPr>
            <p:cNvPr id="52" name="直接连接符 51"/>
            <p:cNvCxnSpPr/>
            <p:nvPr/>
          </p:nvCxnSpPr>
          <p:spPr>
            <a:xfrm>
              <a:off x="6795679" y="218892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p:cNvCxnSpPr/>
            <p:nvPr/>
          </p:nvCxnSpPr>
          <p:spPr>
            <a:xfrm>
              <a:off x="6795679" y="2246528"/>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直接连接符 53"/>
            <p:cNvCxnSpPr/>
            <p:nvPr/>
          </p:nvCxnSpPr>
          <p:spPr>
            <a:xfrm>
              <a:off x="6795679" y="23108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6795679" y="23617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903691" y="2140897"/>
              <a:ext cx="0" cy="2773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57" name="椭圆 56"/>
            <p:cNvSpPr/>
            <p:nvPr/>
          </p:nvSpPr>
          <p:spPr>
            <a:xfrm>
              <a:off x="6724742" y="1621774"/>
              <a:ext cx="357899" cy="144016"/>
            </a:xfrm>
            <a:prstGeom prst="ellipse">
              <a:avLst/>
            </a:prstGeom>
            <a:solidFill>
              <a:schemeClr val="bg1"/>
            </a:solidFill>
            <a:ln w="1270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58" name="下箭头 57"/>
            <p:cNvSpPr/>
            <p:nvPr/>
          </p:nvSpPr>
          <p:spPr>
            <a:xfrm>
              <a:off x="6867687" y="1765790"/>
              <a:ext cx="72008" cy="360040"/>
            </a:xfrm>
            <a:prstGeom prst="downArrow">
              <a:avLst/>
            </a:prstGeom>
            <a:solidFill>
              <a:schemeClr val="bg1"/>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pic>
          <p:nvPicPr>
            <p:cNvPr id="59" name="Picture 113"/>
            <p:cNvPicPr>
              <a:picLocks noChangeArrowheads="1"/>
            </p:cNvPicPr>
            <p:nvPr/>
          </p:nvPicPr>
          <p:blipFill>
            <a:blip r:embed="rId3" cstate="print"/>
            <a:srcRect/>
            <a:stretch>
              <a:fillRect/>
            </a:stretch>
          </p:blipFill>
          <p:spPr bwMode="auto">
            <a:xfrm>
              <a:off x="5791759" y="1365789"/>
              <a:ext cx="351656" cy="189462"/>
            </a:xfrm>
            <a:prstGeom prst="rect">
              <a:avLst/>
            </a:prstGeom>
            <a:noFill/>
            <a:ln w="12699">
              <a:noFill/>
              <a:miter lim="800000"/>
              <a:headEnd/>
              <a:tailEnd/>
            </a:ln>
          </p:spPr>
        </p:pic>
        <p:sp>
          <p:nvSpPr>
            <p:cNvPr id="60" name="矩形 59"/>
            <p:cNvSpPr/>
            <p:nvPr/>
          </p:nvSpPr>
          <p:spPr>
            <a:xfrm>
              <a:off x="5859575" y="2131315"/>
              <a:ext cx="216024" cy="288032"/>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cxnSp>
          <p:nvCxnSpPr>
            <p:cNvPr id="61" name="直接连接符 60"/>
            <p:cNvCxnSpPr/>
            <p:nvPr/>
          </p:nvCxnSpPr>
          <p:spPr>
            <a:xfrm>
              <a:off x="5859575" y="218892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直接连接符 61"/>
            <p:cNvCxnSpPr/>
            <p:nvPr/>
          </p:nvCxnSpPr>
          <p:spPr>
            <a:xfrm>
              <a:off x="5859575" y="2246528"/>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直接连接符 62"/>
            <p:cNvCxnSpPr/>
            <p:nvPr/>
          </p:nvCxnSpPr>
          <p:spPr>
            <a:xfrm>
              <a:off x="5859575" y="23108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直接连接符 63"/>
            <p:cNvCxnSpPr/>
            <p:nvPr/>
          </p:nvCxnSpPr>
          <p:spPr>
            <a:xfrm>
              <a:off x="5859575" y="23617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nvCxnSpPr>
          <p:spPr>
            <a:xfrm>
              <a:off x="5967587" y="2140897"/>
              <a:ext cx="0" cy="2773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椭圆 65"/>
            <p:cNvSpPr/>
            <p:nvPr/>
          </p:nvSpPr>
          <p:spPr>
            <a:xfrm>
              <a:off x="5788638" y="1621774"/>
              <a:ext cx="357899" cy="144016"/>
            </a:xfrm>
            <a:prstGeom prst="ellipse">
              <a:avLst/>
            </a:prstGeom>
            <a:solidFill>
              <a:schemeClr val="bg1"/>
            </a:solidFill>
            <a:ln w="1270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67" name="下箭头 66"/>
            <p:cNvSpPr/>
            <p:nvPr/>
          </p:nvSpPr>
          <p:spPr>
            <a:xfrm>
              <a:off x="5931583" y="1765790"/>
              <a:ext cx="72008" cy="360040"/>
            </a:xfrm>
            <a:prstGeom prst="downArrow">
              <a:avLst/>
            </a:prstGeom>
            <a:solidFill>
              <a:schemeClr val="bg1"/>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68" name="TextBox 175"/>
            <p:cNvSpPr txBox="1"/>
            <p:nvPr/>
          </p:nvSpPr>
          <p:spPr>
            <a:xfrm>
              <a:off x="2453417" y="1339227"/>
              <a:ext cx="902811" cy="523220"/>
            </a:xfrm>
            <a:prstGeom prst="rect">
              <a:avLst/>
            </a:prstGeom>
            <a:noFill/>
          </p:spPr>
          <p:txBody>
            <a:bodyPr wrap="none" rtlCol="0">
              <a:spAutoFit/>
            </a:bodyPr>
            <a:lstStyle/>
            <a:p>
              <a:pPr algn="ctr"/>
              <a:r>
                <a:rPr lang="zh-CN" altLang="en-US" sz="1400" b="1" dirty="0">
                  <a:solidFill>
                    <a:srgbClr val="0000FF"/>
                  </a:solidFill>
                  <a:latin typeface="微软雅黑" panose="020B0503020204020204" pitchFamily="34" charset="-122"/>
                  <a:ea typeface="微软雅黑" panose="020B0503020204020204" pitchFamily="34" charset="-122"/>
                </a:rPr>
                <a:t>路由选择</a:t>
              </a:r>
              <a:endParaRPr lang="en-US" altLang="zh-CN" sz="1400" b="1" dirty="0">
                <a:solidFill>
                  <a:srgbClr val="0000FF"/>
                </a:solidFill>
                <a:latin typeface="微软雅黑" panose="020B0503020204020204" pitchFamily="34" charset="-122"/>
                <a:ea typeface="微软雅黑" panose="020B0503020204020204" pitchFamily="34" charset="-122"/>
              </a:endParaRPr>
            </a:p>
            <a:p>
              <a:pPr algn="ctr"/>
              <a:r>
                <a:rPr lang="zh-CN" altLang="en-US" sz="1400" b="1" dirty="0">
                  <a:solidFill>
                    <a:srgbClr val="0000FF"/>
                  </a:solidFill>
                  <a:latin typeface="微软雅黑" panose="020B0503020204020204" pitchFamily="34" charset="-122"/>
                  <a:ea typeface="微软雅黑" panose="020B0503020204020204" pitchFamily="34" charset="-122"/>
                </a:rPr>
                <a:t>算法</a:t>
              </a:r>
            </a:p>
          </p:txBody>
        </p:sp>
        <p:sp>
          <p:nvSpPr>
            <p:cNvPr id="69" name="TextBox 176"/>
            <p:cNvSpPr txBox="1"/>
            <p:nvPr/>
          </p:nvSpPr>
          <p:spPr>
            <a:xfrm>
              <a:off x="2549711" y="2103292"/>
              <a:ext cx="723275" cy="307777"/>
            </a:xfrm>
            <a:prstGeom prst="rect">
              <a:avLst/>
            </a:prstGeom>
            <a:noFill/>
          </p:spPr>
          <p:txBody>
            <a:bodyPr wrap="none" rtlCol="0">
              <a:spAutoFit/>
            </a:bodyPr>
            <a:lstStyle/>
            <a:p>
              <a:pPr algn="ctr"/>
              <a:r>
                <a:rPr lang="zh-CN" altLang="en-US" sz="1400" b="1" dirty="0">
                  <a:solidFill>
                    <a:srgbClr val="0000FF"/>
                  </a:solidFill>
                  <a:latin typeface="微软雅黑" panose="020B0503020204020204" pitchFamily="34" charset="-122"/>
                  <a:ea typeface="微软雅黑" panose="020B0503020204020204" pitchFamily="34" charset="-122"/>
                </a:rPr>
                <a:t>转发表</a:t>
              </a:r>
            </a:p>
          </p:txBody>
        </p:sp>
        <p:cxnSp>
          <p:nvCxnSpPr>
            <p:cNvPr id="70" name="直接连接符 69"/>
            <p:cNvCxnSpPr/>
            <p:nvPr/>
          </p:nvCxnSpPr>
          <p:spPr>
            <a:xfrm>
              <a:off x="957532" y="1915291"/>
              <a:ext cx="7040366" cy="0"/>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71" name="TextBox 179"/>
            <p:cNvSpPr txBox="1"/>
            <p:nvPr/>
          </p:nvSpPr>
          <p:spPr>
            <a:xfrm>
              <a:off x="1249993" y="1559485"/>
              <a:ext cx="1049536" cy="338554"/>
            </a:xfrm>
            <a:prstGeom prst="rect">
              <a:avLst/>
            </a:prstGeom>
            <a:solidFill>
              <a:srgbClr val="33CC33"/>
            </a:solidFill>
            <a:ln>
              <a:noFill/>
            </a:ln>
          </p:spPr>
          <p:txBody>
            <a:bodyPr wrap="square" rtlCol="0">
              <a:spAutoFit/>
            </a:bodyPr>
            <a:lstStyle/>
            <a:p>
              <a:pPr algn="ctr"/>
              <a:r>
                <a:rPr lang="zh-CN" altLang="en-US" sz="1600" b="1" dirty="0">
                  <a:latin typeface="微软雅黑" panose="020B0503020204020204" pitchFamily="34" charset="-122"/>
                  <a:ea typeface="微软雅黑" panose="020B0503020204020204" pitchFamily="34" charset="-122"/>
                </a:rPr>
                <a:t>控制层面</a:t>
              </a:r>
            </a:p>
          </p:txBody>
        </p:sp>
        <p:sp>
          <p:nvSpPr>
            <p:cNvPr id="72" name="TextBox 180"/>
            <p:cNvSpPr txBox="1"/>
            <p:nvPr/>
          </p:nvSpPr>
          <p:spPr>
            <a:xfrm>
              <a:off x="1249993" y="1932543"/>
              <a:ext cx="1049536" cy="338554"/>
            </a:xfrm>
            <a:prstGeom prst="rect">
              <a:avLst/>
            </a:prstGeom>
            <a:solidFill>
              <a:schemeClr val="accent6">
                <a:lumMod val="75000"/>
              </a:schemeClr>
            </a:solidFill>
          </p:spPr>
          <p:txBody>
            <a:bodyPr wrap="square" rtlCol="0">
              <a:spAutoFit/>
            </a:bodyPr>
            <a:lstStyle/>
            <a:p>
              <a:pPr algn="ctr"/>
              <a:r>
                <a:rPr lang="zh-CN" altLang="en-US" sz="1600" b="1" dirty="0">
                  <a:latin typeface="微软雅黑" panose="020B0503020204020204" pitchFamily="34" charset="-122"/>
                  <a:ea typeface="微软雅黑" panose="020B0503020204020204" pitchFamily="34" charset="-122"/>
                </a:rPr>
                <a:t>数据层面</a:t>
              </a:r>
            </a:p>
          </p:txBody>
        </p:sp>
        <p:cxnSp>
          <p:nvCxnSpPr>
            <p:cNvPr id="73" name="直接箭头连接符 72"/>
            <p:cNvCxnSpPr/>
            <p:nvPr/>
          </p:nvCxnSpPr>
          <p:spPr>
            <a:xfrm>
              <a:off x="3728325" y="2439765"/>
              <a:ext cx="113956" cy="987694"/>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74" name="直接箭头连接符 73"/>
            <p:cNvCxnSpPr>
              <a:endCxn id="21" idx="0"/>
            </p:cNvCxnSpPr>
            <p:nvPr/>
          </p:nvCxnSpPr>
          <p:spPr>
            <a:xfrm>
              <a:off x="6904588" y="2444485"/>
              <a:ext cx="78636" cy="1056074"/>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75" name="直接箭头连接符 74"/>
            <p:cNvCxnSpPr/>
            <p:nvPr/>
          </p:nvCxnSpPr>
          <p:spPr>
            <a:xfrm flipH="1">
              <a:off x="5934197" y="2435059"/>
              <a:ext cx="32424" cy="886112"/>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76" name="直接箭头连接符 75"/>
            <p:cNvCxnSpPr/>
            <p:nvPr/>
          </p:nvCxnSpPr>
          <p:spPr>
            <a:xfrm>
              <a:off x="5320885" y="2439772"/>
              <a:ext cx="33564" cy="1258471"/>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77" name="直接箭头连接符 76"/>
            <p:cNvCxnSpPr/>
            <p:nvPr/>
          </p:nvCxnSpPr>
          <p:spPr>
            <a:xfrm>
              <a:off x="4604448" y="2436365"/>
              <a:ext cx="80698" cy="234357"/>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78" name="直接箭头连接符 77"/>
            <p:cNvCxnSpPr/>
            <p:nvPr/>
          </p:nvCxnSpPr>
          <p:spPr>
            <a:xfrm flipV="1">
              <a:off x="3212645" y="2249184"/>
              <a:ext cx="380641" cy="1"/>
            </a:xfrm>
            <a:prstGeom prst="straightConnector1">
              <a:avLst/>
            </a:prstGeom>
            <a:ln w="12700">
              <a:solidFill>
                <a:schemeClr val="tx1"/>
              </a:solidFill>
              <a:prstDash val="sysDot"/>
              <a:headEnd type="none" w="med" len="med"/>
              <a:tailEnd type="triangle" w="med" len="lg"/>
            </a:ln>
          </p:spPr>
          <p:style>
            <a:lnRef idx="1">
              <a:schemeClr val="accent1"/>
            </a:lnRef>
            <a:fillRef idx="0">
              <a:schemeClr val="accent1"/>
            </a:fillRef>
            <a:effectRef idx="0">
              <a:schemeClr val="accent1"/>
            </a:effectRef>
            <a:fontRef idx="minor">
              <a:schemeClr val="tx1"/>
            </a:fontRef>
          </p:style>
        </p:cxnSp>
        <p:sp>
          <p:nvSpPr>
            <p:cNvPr id="79" name="矩形 78"/>
            <p:cNvSpPr/>
            <p:nvPr/>
          </p:nvSpPr>
          <p:spPr>
            <a:xfrm>
              <a:off x="3516221" y="1275104"/>
              <a:ext cx="428921" cy="1211796"/>
            </a:xfrm>
            <a:prstGeom prst="rect">
              <a:avLst/>
            </a:prstGeom>
            <a:noFill/>
            <a:ln w="12700">
              <a:solidFill>
                <a:srgbClr val="00006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80" name="矩形 79"/>
            <p:cNvSpPr/>
            <p:nvPr/>
          </p:nvSpPr>
          <p:spPr>
            <a:xfrm>
              <a:off x="4374060" y="1272726"/>
              <a:ext cx="428921" cy="1211796"/>
            </a:xfrm>
            <a:prstGeom prst="rect">
              <a:avLst/>
            </a:prstGeom>
            <a:noFill/>
            <a:ln w="12700">
              <a:solidFill>
                <a:srgbClr val="00006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81" name="矩形 80"/>
            <p:cNvSpPr/>
            <p:nvPr/>
          </p:nvSpPr>
          <p:spPr>
            <a:xfrm>
              <a:off x="6682000" y="1279560"/>
              <a:ext cx="428921" cy="1211796"/>
            </a:xfrm>
            <a:prstGeom prst="rect">
              <a:avLst/>
            </a:prstGeom>
            <a:noFill/>
            <a:ln w="12700">
              <a:solidFill>
                <a:srgbClr val="00006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82" name="矩形 81"/>
            <p:cNvSpPr/>
            <p:nvPr/>
          </p:nvSpPr>
          <p:spPr>
            <a:xfrm>
              <a:off x="5099924" y="1263300"/>
              <a:ext cx="428921" cy="1211796"/>
            </a:xfrm>
            <a:prstGeom prst="rect">
              <a:avLst/>
            </a:prstGeom>
            <a:noFill/>
            <a:ln w="12700">
              <a:solidFill>
                <a:srgbClr val="00006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83" name="矩形 82"/>
            <p:cNvSpPr/>
            <p:nvPr/>
          </p:nvSpPr>
          <p:spPr>
            <a:xfrm>
              <a:off x="5742533" y="1267220"/>
              <a:ext cx="428921" cy="1211796"/>
            </a:xfrm>
            <a:prstGeom prst="rect">
              <a:avLst/>
            </a:prstGeom>
            <a:noFill/>
            <a:ln w="12700">
              <a:solidFill>
                <a:srgbClr val="00006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grpSp>
          <p:nvGrpSpPr>
            <p:cNvPr id="84" name="组合 83"/>
            <p:cNvGrpSpPr/>
            <p:nvPr/>
          </p:nvGrpSpPr>
          <p:grpSpPr>
            <a:xfrm>
              <a:off x="1062847" y="1267219"/>
              <a:ext cx="206062" cy="1296144"/>
              <a:chOff x="199861" y="1988840"/>
              <a:chExt cx="288414" cy="1440160"/>
            </a:xfrm>
          </p:grpSpPr>
          <p:sp>
            <p:nvSpPr>
              <p:cNvPr id="88" name="上箭头 87"/>
              <p:cNvSpPr/>
              <p:nvPr/>
            </p:nvSpPr>
            <p:spPr>
              <a:xfrm>
                <a:off x="199861" y="1988840"/>
                <a:ext cx="288032" cy="688444"/>
              </a:xfrm>
              <a:prstGeom prst="upArrow">
                <a:avLst>
                  <a:gd name="adj1" fmla="val 50000"/>
                  <a:gd name="adj2" fmla="val 102911"/>
                </a:avLst>
              </a:prstGeom>
              <a:solidFill>
                <a:srgbClr val="33CC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89" name="上箭头 88"/>
              <p:cNvSpPr/>
              <p:nvPr/>
            </p:nvSpPr>
            <p:spPr>
              <a:xfrm flipV="1">
                <a:off x="200243" y="2737490"/>
                <a:ext cx="288032" cy="691510"/>
              </a:xfrm>
              <a:prstGeom prst="upArrow">
                <a:avLst>
                  <a:gd name="adj1" fmla="val 50000"/>
                  <a:gd name="adj2" fmla="val 102911"/>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grpSp>
        <p:pic>
          <p:nvPicPr>
            <p:cNvPr id="85"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786604" y="3216269"/>
              <a:ext cx="442344" cy="442344"/>
            </a:xfrm>
            <a:prstGeom prst="rect">
              <a:avLst/>
            </a:prstGeom>
            <a:noFill/>
            <a:extLst>
              <a:ext uri="{909E8E84-426E-40DD-AFC4-6F175D3DCCD1}">
                <a14:hiddenFill xmlns:a14="http://schemas.microsoft.com/office/drawing/2010/main">
                  <a:solidFill>
                    <a:srgbClr val="FFFFFF"/>
                  </a:solidFill>
                </a14:hiddenFill>
              </a:ext>
            </a:extLst>
          </p:spPr>
        </p:pic>
        <p:pic>
          <p:nvPicPr>
            <p:cNvPr id="86"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555554" y="3216269"/>
              <a:ext cx="442344" cy="442344"/>
            </a:xfrm>
            <a:prstGeom prst="rect">
              <a:avLst/>
            </a:prstGeom>
            <a:noFill/>
            <a:extLst>
              <a:ext uri="{909E8E84-426E-40DD-AFC4-6F175D3DCCD1}">
                <a14:hiddenFill xmlns:a14="http://schemas.microsoft.com/office/drawing/2010/main">
                  <a:solidFill>
                    <a:srgbClr val="FFFFFF"/>
                  </a:solidFill>
                </a14:hiddenFill>
              </a:ext>
            </a:extLst>
          </p:spPr>
        </p:pic>
        <p:cxnSp>
          <p:nvCxnSpPr>
            <p:cNvPr id="87" name="直接箭头连接符 86"/>
            <p:cNvCxnSpPr/>
            <p:nvPr/>
          </p:nvCxnSpPr>
          <p:spPr>
            <a:xfrm flipV="1">
              <a:off x="3212645" y="1688364"/>
              <a:ext cx="380641" cy="1"/>
            </a:xfrm>
            <a:prstGeom prst="straightConnector1">
              <a:avLst/>
            </a:prstGeom>
            <a:ln w="12700">
              <a:solidFill>
                <a:schemeClr val="tx1"/>
              </a:solidFill>
              <a:prstDash val="sysDot"/>
              <a:headEnd type="none" w="med" len="med"/>
              <a:tailEnd type="triangle" w="med" len="lg"/>
            </a:ln>
          </p:spPr>
          <p:style>
            <a:lnRef idx="1">
              <a:schemeClr val="accent1"/>
            </a:lnRef>
            <a:fillRef idx="0">
              <a:schemeClr val="accent1"/>
            </a:fillRef>
            <a:effectRef idx="0">
              <a:schemeClr val="accent1"/>
            </a:effectRef>
            <a:fontRef idx="minor">
              <a:schemeClr val="tx1"/>
            </a:fontRef>
          </p:style>
        </p:cxnSp>
      </p:grpSp>
      <p:sp>
        <p:nvSpPr>
          <p:cNvPr id="90" name="矩形 89"/>
          <p:cNvSpPr/>
          <p:nvPr/>
        </p:nvSpPr>
        <p:spPr>
          <a:xfrm>
            <a:off x="2453417" y="4209242"/>
            <a:ext cx="4965299" cy="369332"/>
          </a:xfrm>
          <a:prstGeom prst="rect">
            <a:avLst/>
          </a:prstGeom>
        </p:spPr>
        <p:txBody>
          <a:bodyPr wrap="square">
            <a:spAutoFit/>
          </a:bodyPr>
          <a:lstStyle/>
          <a:p>
            <a:pPr algn="ctr"/>
            <a:r>
              <a:rPr lang="zh-CN" altLang="en-US" b="1" dirty="0">
                <a:latin typeface="微软雅黑" panose="020B0503020204020204" pitchFamily="34" charset="-122"/>
                <a:ea typeface="微软雅黑" panose="020B0503020204020204" pitchFamily="34" charset="-122"/>
              </a:rPr>
              <a:t>路由选择协议属于</a:t>
            </a:r>
            <a:r>
              <a:rPr lang="zh-CN" altLang="en-US" b="1" dirty="0">
                <a:solidFill>
                  <a:srgbClr val="C00000"/>
                </a:solidFill>
                <a:latin typeface="微软雅黑" panose="020B0503020204020204" pitchFamily="34" charset="-122"/>
                <a:ea typeface="微软雅黑" panose="020B0503020204020204" pitchFamily="34" charset="-122"/>
              </a:rPr>
              <a:t>网络层控制层面</a:t>
            </a:r>
            <a:r>
              <a:rPr lang="zh-CN" altLang="en-US" b="1" dirty="0">
                <a:latin typeface="微软雅黑" panose="020B0503020204020204" pitchFamily="34" charset="-122"/>
                <a:ea typeface="微软雅黑" panose="020B0503020204020204" pitchFamily="34" charset="-122"/>
              </a:rPr>
              <a:t>的内容</a:t>
            </a:r>
          </a:p>
        </p:txBody>
      </p:sp>
    </p:spTree>
    <p:extLst>
      <p:ext uri="{BB962C8B-B14F-4D97-AF65-F5344CB8AC3E}">
        <p14:creationId xmlns:p14="http://schemas.microsoft.com/office/powerpoint/2010/main" val="16108165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5" y="630148"/>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1941968" y="596937"/>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理想的路由算法</a:t>
            </a:r>
          </a:p>
        </p:txBody>
      </p:sp>
      <p:graphicFrame>
        <p:nvGraphicFramePr>
          <p:cNvPr id="16" name="图示 15"/>
          <p:cNvGraphicFramePr/>
          <p:nvPr>
            <p:extLst>
              <p:ext uri="{D42A27DB-BD31-4B8C-83A1-F6EECF244321}">
                <p14:modId xmlns:p14="http://schemas.microsoft.com/office/powerpoint/2010/main" val="949914576"/>
              </p:ext>
            </p:extLst>
          </p:nvPr>
        </p:nvGraphicFramePr>
        <p:xfrm>
          <a:off x="2382983" y="1154546"/>
          <a:ext cx="4819049" cy="2863273"/>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196762194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图示 1"/>
          <p:cNvGraphicFramePr/>
          <p:nvPr>
            <p:extLst>
              <p:ext uri="{D42A27DB-BD31-4B8C-83A1-F6EECF244321}">
                <p14:modId xmlns:p14="http://schemas.microsoft.com/office/powerpoint/2010/main" val="2055392491"/>
              </p:ext>
            </p:extLst>
          </p:nvPr>
        </p:nvGraphicFramePr>
        <p:xfrm>
          <a:off x="1440873" y="613640"/>
          <a:ext cx="6520872" cy="347806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87617018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5" y="620912"/>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1941968" y="587701"/>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路由算法分类（自适应）</a:t>
            </a:r>
          </a:p>
        </p:txBody>
      </p:sp>
      <p:graphicFrame>
        <p:nvGraphicFramePr>
          <p:cNvPr id="2" name="图示 1"/>
          <p:cNvGraphicFramePr/>
          <p:nvPr>
            <p:extLst>
              <p:ext uri="{D42A27DB-BD31-4B8C-83A1-F6EECF244321}">
                <p14:modId xmlns:p14="http://schemas.microsoft.com/office/powerpoint/2010/main" val="2406667029"/>
              </p:ext>
            </p:extLst>
          </p:nvPr>
        </p:nvGraphicFramePr>
        <p:xfrm>
          <a:off x="992908" y="1200729"/>
          <a:ext cx="7449128" cy="2087417"/>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244262529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3" y="977168"/>
            <a:ext cx="8053711" cy="3631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互联网：</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采用自适应的（即动态的）、分布式路由选择协议。</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把整个互联网划分为许多较小的自治系统 </a:t>
            </a:r>
            <a:r>
              <a:rPr lang="en-US" altLang="zh-CN" sz="2000" b="1" dirty="0">
                <a:latin typeface="微软雅黑" pitchFamily="34" charset="-122"/>
                <a:ea typeface="微软雅黑" pitchFamily="34" charset="-122"/>
              </a:rPr>
              <a:t>AS</a:t>
            </a:r>
            <a:r>
              <a:rPr lang="zh-CN" altLang="en-US" sz="2000" b="1" dirty="0">
                <a:latin typeface="微软雅黑" pitchFamily="34" charset="-122"/>
                <a:ea typeface="微软雅黑" pitchFamily="34" charset="-122"/>
              </a:rPr>
              <a:t>，采用分层次的路由选择协议。</a:t>
            </a:r>
            <a:endParaRPr lang="en-US" altLang="zh-CN" sz="2000" b="1" dirty="0">
              <a:latin typeface="微软雅黑" pitchFamily="34" charset="-122"/>
              <a:ea typeface="微软雅黑" pitchFamily="34" charset="-122"/>
            </a:endParaRPr>
          </a:p>
          <a:p>
            <a:pPr marL="285750" lvl="1" indent="-285750">
              <a:lnSpc>
                <a:spcPts val="3300"/>
              </a:lnSpc>
              <a:buClr>
                <a:srgbClr val="0070C0"/>
              </a:buClr>
              <a:buSzPct val="75000"/>
              <a:buFont typeface="Wingdings" pitchFamily="2" charset="2"/>
              <a:buChar char="l"/>
            </a:pPr>
            <a:r>
              <a:rPr lang="zh-CN" altLang="en-US" sz="2000" b="1" dirty="0">
                <a:solidFill>
                  <a:srgbClr val="C00000"/>
                </a:solidFill>
                <a:latin typeface="微软雅黑" pitchFamily="34" charset="-122"/>
                <a:ea typeface="微软雅黑" pitchFamily="34" charset="-122"/>
              </a:rPr>
              <a:t>分为 </a:t>
            </a:r>
            <a:r>
              <a:rPr lang="en-US" altLang="zh-CN" sz="2000" b="1" dirty="0">
                <a:solidFill>
                  <a:srgbClr val="C00000"/>
                </a:solidFill>
                <a:latin typeface="微软雅黑" pitchFamily="34" charset="-122"/>
                <a:ea typeface="微软雅黑" pitchFamily="34" charset="-122"/>
              </a:rPr>
              <a:t>2 </a:t>
            </a:r>
            <a:r>
              <a:rPr lang="zh-CN" altLang="en-US" sz="2000" b="1" dirty="0">
                <a:solidFill>
                  <a:srgbClr val="C00000"/>
                </a:solidFill>
                <a:latin typeface="微软雅黑" pitchFamily="34" charset="-122"/>
                <a:ea typeface="微软雅黑" pitchFamily="34" charset="-122"/>
              </a:rPr>
              <a:t>个层次：</a:t>
            </a:r>
            <a:endParaRPr lang="en-US" altLang="zh-CN" sz="2000" b="1" dirty="0">
              <a:solidFill>
                <a:srgbClr val="C00000"/>
              </a:solidFill>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自治系统之间的路由选择 或 </a:t>
            </a:r>
            <a:r>
              <a:rPr lang="zh-CN" altLang="en-US" sz="2000" b="1" dirty="0">
                <a:solidFill>
                  <a:srgbClr val="0000FF"/>
                </a:solidFill>
                <a:latin typeface="微软雅黑" pitchFamily="34" charset="-122"/>
                <a:ea typeface="微软雅黑" pitchFamily="34" charset="-122"/>
              </a:rPr>
              <a:t>域间路由选择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interdomain</a:t>
            </a:r>
            <a:r>
              <a:rPr lang="en-US" altLang="zh-CN" sz="2000" b="1" dirty="0">
                <a:latin typeface="微软雅黑" pitchFamily="34" charset="-122"/>
                <a:ea typeface="微软雅黑" pitchFamily="34" charset="-122"/>
              </a:rPr>
              <a:t> routing)</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自治系统内部的路由选择 或 </a:t>
            </a:r>
            <a:r>
              <a:rPr lang="zh-CN" altLang="en-US" sz="2000" b="1" dirty="0">
                <a:solidFill>
                  <a:srgbClr val="0000FF"/>
                </a:solidFill>
                <a:latin typeface="微软雅黑" pitchFamily="34" charset="-122"/>
                <a:ea typeface="微软雅黑" pitchFamily="34" charset="-122"/>
              </a:rPr>
              <a:t>域内路由选择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intradomain</a:t>
            </a:r>
            <a:r>
              <a:rPr lang="en-US" altLang="zh-CN" sz="2000" b="1" dirty="0">
                <a:latin typeface="微软雅黑" pitchFamily="34" charset="-122"/>
                <a:ea typeface="微软雅黑" pitchFamily="34" charset="-122"/>
              </a:rPr>
              <a:t> routing)</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p:txBody>
      </p:sp>
      <p:sp>
        <p:nvSpPr>
          <p:cNvPr id="3" name="AutoShape 5"/>
          <p:cNvSpPr>
            <a:spLocks noChangeArrowheads="1"/>
          </p:cNvSpPr>
          <p:nvPr/>
        </p:nvSpPr>
        <p:spPr bwMode="auto">
          <a:xfrm>
            <a:off x="545144" y="62082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761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分层次的路由选择协议</a:t>
            </a:r>
          </a:p>
        </p:txBody>
      </p:sp>
    </p:spTree>
    <p:extLst>
      <p:ext uri="{BB962C8B-B14F-4D97-AF65-F5344CB8AC3E}">
        <p14:creationId xmlns:p14="http://schemas.microsoft.com/office/powerpoint/2010/main" val="314130791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992200"/>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45144" y="620859"/>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5" y="570883"/>
            <a:ext cx="4670317" cy="400110"/>
          </a:xfrm>
          <a:prstGeom prst="rect">
            <a:avLst/>
          </a:prstGeom>
        </p:spPr>
        <p:txBody>
          <a:bodyPr wrap="none">
            <a:spAutoFit/>
          </a:bodyPr>
          <a:lstStyle/>
          <a:p>
            <a:r>
              <a:rPr lang="zh-CN" altLang="en-US" sz="2000" b="1" dirty="0">
                <a:latin typeface="微软雅黑" pitchFamily="34" charset="-122"/>
                <a:ea typeface="微软雅黑" pitchFamily="34" charset="-122"/>
              </a:rPr>
              <a:t>自治系统 </a:t>
            </a:r>
            <a:r>
              <a:rPr lang="en-US" altLang="zh-CN" sz="2000" b="1" dirty="0">
                <a:latin typeface="微软雅黑" pitchFamily="34" charset="-122"/>
                <a:ea typeface="微软雅黑" pitchFamily="34" charset="-122"/>
              </a:rPr>
              <a:t>AS (Autonomous System) </a:t>
            </a:r>
            <a:endParaRPr lang="zh-CN" altLang="en-US" sz="2000" b="1" dirty="0">
              <a:latin typeface="微软雅黑" pitchFamily="34" charset="-122"/>
              <a:ea typeface="微软雅黑" pitchFamily="34" charset="-122"/>
            </a:endParaRPr>
          </a:p>
        </p:txBody>
      </p:sp>
      <p:grpSp>
        <p:nvGrpSpPr>
          <p:cNvPr id="128" name="组合 127"/>
          <p:cNvGrpSpPr/>
          <p:nvPr/>
        </p:nvGrpSpPr>
        <p:grpSpPr>
          <a:xfrm>
            <a:off x="862523" y="1086132"/>
            <a:ext cx="4615393" cy="3173300"/>
            <a:chOff x="862523" y="1132312"/>
            <a:chExt cx="4615393" cy="3173300"/>
          </a:xfrm>
        </p:grpSpPr>
        <p:sp>
          <p:nvSpPr>
            <p:cNvPr id="8" name="Text Box 7"/>
            <p:cNvSpPr txBox="1">
              <a:spLocks noChangeArrowheads="1"/>
            </p:cNvSpPr>
            <p:nvPr/>
          </p:nvSpPr>
          <p:spPr bwMode="auto">
            <a:xfrm>
              <a:off x="2183407" y="1644965"/>
              <a:ext cx="419876" cy="3078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solidFill>
                    <a:srgbClr val="0000FF"/>
                  </a:solidFill>
                  <a:latin typeface="微软雅黑" pitchFamily="34" charset="-122"/>
                  <a:ea typeface="微软雅黑" pitchFamily="34" charset="-122"/>
                </a:rPr>
                <a:t>R1</a:t>
              </a:r>
            </a:p>
          </p:txBody>
        </p:sp>
        <p:grpSp>
          <p:nvGrpSpPr>
            <p:cNvPr id="9" name="Group 8"/>
            <p:cNvGrpSpPr>
              <a:grpSpLocks/>
            </p:cNvGrpSpPr>
            <p:nvPr/>
          </p:nvGrpSpPr>
          <p:grpSpPr bwMode="auto">
            <a:xfrm>
              <a:off x="862523" y="2861677"/>
              <a:ext cx="2084903" cy="1443935"/>
              <a:chOff x="672" y="2304"/>
              <a:chExt cx="1872" cy="1290"/>
            </a:xfrm>
          </p:grpSpPr>
          <p:sp>
            <p:nvSpPr>
              <p:cNvPr id="94" name="Rectangle 9"/>
              <p:cNvSpPr>
                <a:spLocks noChangeArrowheads="1"/>
              </p:cNvSpPr>
              <p:nvPr/>
            </p:nvSpPr>
            <p:spPr bwMode="auto">
              <a:xfrm>
                <a:off x="672" y="2304"/>
                <a:ext cx="1872" cy="1008"/>
              </a:xfrm>
              <a:prstGeom prst="rect">
                <a:avLst/>
              </a:prstGeom>
              <a:solidFill>
                <a:srgbClr val="99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95" name="Oval 10"/>
              <p:cNvSpPr>
                <a:spLocks noChangeArrowheads="1"/>
              </p:cNvSpPr>
              <p:nvPr/>
            </p:nvSpPr>
            <p:spPr bwMode="auto">
              <a:xfrm>
                <a:off x="1008" y="2448"/>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grpSp>
            <p:nvGrpSpPr>
              <p:cNvPr id="96" name="Group 11"/>
              <p:cNvGrpSpPr>
                <a:grpSpLocks/>
              </p:cNvGrpSpPr>
              <p:nvPr/>
            </p:nvGrpSpPr>
            <p:grpSpPr bwMode="auto">
              <a:xfrm>
                <a:off x="2064" y="2880"/>
                <a:ext cx="320" cy="184"/>
                <a:chOff x="1000" y="3128"/>
                <a:chExt cx="320" cy="184"/>
              </a:xfrm>
            </p:grpSpPr>
            <p:sp>
              <p:nvSpPr>
                <p:cNvPr id="124" name="AutoShape 12"/>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125" name="Line 13"/>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26" name="Line 14"/>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97" name="Oval 15"/>
              <p:cNvSpPr>
                <a:spLocks noChangeArrowheads="1"/>
              </p:cNvSpPr>
              <p:nvPr/>
            </p:nvSpPr>
            <p:spPr bwMode="auto">
              <a:xfrm>
                <a:off x="960" y="3024"/>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grpSp>
            <p:nvGrpSpPr>
              <p:cNvPr id="99" name="Group 17"/>
              <p:cNvGrpSpPr>
                <a:grpSpLocks/>
              </p:cNvGrpSpPr>
              <p:nvPr/>
            </p:nvGrpSpPr>
            <p:grpSpPr bwMode="auto">
              <a:xfrm>
                <a:off x="864" y="2736"/>
                <a:ext cx="240" cy="96"/>
                <a:chOff x="1000" y="3128"/>
                <a:chExt cx="320" cy="184"/>
              </a:xfrm>
            </p:grpSpPr>
            <p:sp>
              <p:nvSpPr>
                <p:cNvPr id="121" name="AutoShape 18"/>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122" name="Line 19"/>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23" name="Line 20"/>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100" name="Line 21"/>
              <p:cNvSpPr>
                <a:spLocks noChangeShapeType="1"/>
              </p:cNvSpPr>
              <p:nvPr/>
            </p:nvSpPr>
            <p:spPr bwMode="auto">
              <a:xfrm>
                <a:off x="1200" y="2496"/>
                <a:ext cx="816" cy="0"/>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01" name="Line 22"/>
              <p:cNvSpPr>
                <a:spLocks noChangeShapeType="1"/>
              </p:cNvSpPr>
              <p:nvPr/>
            </p:nvSpPr>
            <p:spPr bwMode="auto">
              <a:xfrm flipH="1">
                <a:off x="1008" y="2544"/>
                <a:ext cx="48" cy="192"/>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02" name="Line 23"/>
              <p:cNvSpPr>
                <a:spLocks noChangeShapeType="1"/>
              </p:cNvSpPr>
              <p:nvPr/>
            </p:nvSpPr>
            <p:spPr bwMode="auto">
              <a:xfrm>
                <a:off x="1008" y="2832"/>
                <a:ext cx="48" cy="192"/>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03" name="Line 24"/>
              <p:cNvSpPr>
                <a:spLocks noChangeShapeType="1"/>
              </p:cNvSpPr>
              <p:nvPr/>
            </p:nvSpPr>
            <p:spPr bwMode="auto">
              <a:xfrm>
                <a:off x="1152" y="3072"/>
                <a:ext cx="336" cy="0"/>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04" name="Line 25"/>
              <p:cNvSpPr>
                <a:spLocks noChangeShapeType="1"/>
              </p:cNvSpPr>
              <p:nvPr/>
            </p:nvSpPr>
            <p:spPr bwMode="auto">
              <a:xfrm flipV="1">
                <a:off x="1680" y="2976"/>
                <a:ext cx="384" cy="96"/>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05" name="Oval 26"/>
              <p:cNvSpPr>
                <a:spLocks noChangeArrowheads="1"/>
              </p:cNvSpPr>
              <p:nvPr/>
            </p:nvSpPr>
            <p:spPr bwMode="auto">
              <a:xfrm>
                <a:off x="1296" y="2832"/>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106" name="Oval 27"/>
              <p:cNvSpPr>
                <a:spLocks noChangeArrowheads="1"/>
              </p:cNvSpPr>
              <p:nvPr/>
            </p:nvSpPr>
            <p:spPr bwMode="auto">
              <a:xfrm>
                <a:off x="1488" y="3024"/>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107" name="Line 28"/>
              <p:cNvSpPr>
                <a:spLocks noChangeShapeType="1"/>
              </p:cNvSpPr>
              <p:nvPr/>
            </p:nvSpPr>
            <p:spPr bwMode="auto">
              <a:xfrm>
                <a:off x="1152" y="2544"/>
                <a:ext cx="192" cy="288"/>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nvGrpSpPr>
              <p:cNvPr id="108" name="Group 29"/>
              <p:cNvGrpSpPr>
                <a:grpSpLocks/>
              </p:cNvGrpSpPr>
              <p:nvPr/>
            </p:nvGrpSpPr>
            <p:grpSpPr bwMode="auto">
              <a:xfrm>
                <a:off x="1152" y="2640"/>
                <a:ext cx="240" cy="96"/>
                <a:chOff x="1000" y="3128"/>
                <a:chExt cx="320" cy="184"/>
              </a:xfrm>
            </p:grpSpPr>
            <p:sp>
              <p:nvSpPr>
                <p:cNvPr id="118" name="AutoShape 30"/>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119" name="Line 31"/>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20" name="Line 32"/>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109" name="Line 33"/>
              <p:cNvSpPr>
                <a:spLocks noChangeShapeType="1"/>
              </p:cNvSpPr>
              <p:nvPr/>
            </p:nvSpPr>
            <p:spPr bwMode="auto">
              <a:xfrm flipV="1">
                <a:off x="1488" y="2784"/>
                <a:ext cx="240" cy="96"/>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10" name="Line 34"/>
              <p:cNvSpPr>
                <a:spLocks noChangeShapeType="1"/>
              </p:cNvSpPr>
              <p:nvPr/>
            </p:nvSpPr>
            <p:spPr bwMode="auto">
              <a:xfrm flipH="1">
                <a:off x="1632" y="2544"/>
                <a:ext cx="384" cy="480"/>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nvGrpSpPr>
              <p:cNvPr id="111" name="Group 35"/>
              <p:cNvGrpSpPr>
                <a:grpSpLocks/>
              </p:cNvGrpSpPr>
              <p:nvPr/>
            </p:nvGrpSpPr>
            <p:grpSpPr bwMode="auto">
              <a:xfrm>
                <a:off x="1728" y="2736"/>
                <a:ext cx="240" cy="96"/>
                <a:chOff x="1000" y="3128"/>
                <a:chExt cx="320" cy="184"/>
              </a:xfrm>
            </p:grpSpPr>
            <p:sp>
              <p:nvSpPr>
                <p:cNvPr id="115" name="AutoShape 36"/>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116" name="Line 37"/>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17" name="Line 38"/>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112" name="Line 39"/>
              <p:cNvSpPr>
                <a:spLocks noChangeShapeType="1"/>
              </p:cNvSpPr>
              <p:nvPr/>
            </p:nvSpPr>
            <p:spPr bwMode="auto">
              <a:xfrm>
                <a:off x="2064" y="2544"/>
                <a:ext cx="144" cy="336"/>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13" name="Text Box 40"/>
              <p:cNvSpPr txBox="1">
                <a:spLocks noChangeArrowheads="1"/>
              </p:cNvSpPr>
              <p:nvPr/>
            </p:nvSpPr>
            <p:spPr bwMode="auto">
              <a:xfrm>
                <a:off x="1920" y="3041"/>
                <a:ext cx="377" cy="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solidFill>
                      <a:srgbClr val="0000FF"/>
                    </a:solidFill>
                    <a:latin typeface="微软雅黑" pitchFamily="34" charset="-122"/>
                    <a:ea typeface="微软雅黑" pitchFamily="34" charset="-122"/>
                  </a:rPr>
                  <a:t>R4</a:t>
                </a:r>
              </a:p>
            </p:txBody>
          </p:sp>
          <p:sp>
            <p:nvSpPr>
              <p:cNvPr id="114" name="Text Box 41"/>
              <p:cNvSpPr txBox="1">
                <a:spLocks noChangeArrowheads="1"/>
              </p:cNvSpPr>
              <p:nvPr/>
            </p:nvSpPr>
            <p:spPr bwMode="auto">
              <a:xfrm>
                <a:off x="1164" y="3319"/>
                <a:ext cx="811" cy="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b="1" dirty="0">
                    <a:solidFill>
                      <a:srgbClr val="0000FF"/>
                    </a:solidFill>
                    <a:latin typeface="微软雅黑" pitchFamily="34" charset="-122"/>
                    <a:ea typeface="微软雅黑" pitchFamily="34" charset="-122"/>
                  </a:rPr>
                  <a:t>自治系统</a:t>
                </a:r>
              </a:p>
            </p:txBody>
          </p:sp>
          <p:sp>
            <p:nvSpPr>
              <p:cNvPr id="98" name="Oval 16"/>
              <p:cNvSpPr>
                <a:spLocks noChangeArrowheads="1"/>
              </p:cNvSpPr>
              <p:nvPr/>
            </p:nvSpPr>
            <p:spPr bwMode="auto">
              <a:xfrm>
                <a:off x="1920" y="2448"/>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grpSp>
        <p:grpSp>
          <p:nvGrpSpPr>
            <p:cNvPr id="10" name="Group 126"/>
            <p:cNvGrpSpPr>
              <a:grpSpLocks/>
            </p:cNvGrpSpPr>
            <p:nvPr/>
          </p:nvGrpSpPr>
          <p:grpSpPr bwMode="auto">
            <a:xfrm>
              <a:off x="3393013" y="2861677"/>
              <a:ext cx="2084903" cy="1443935"/>
              <a:chOff x="3153" y="2625"/>
              <a:chExt cx="1872" cy="1290"/>
            </a:xfrm>
          </p:grpSpPr>
          <p:sp>
            <p:nvSpPr>
              <p:cNvPr id="69" name="Rectangle 43"/>
              <p:cNvSpPr>
                <a:spLocks noChangeArrowheads="1"/>
              </p:cNvSpPr>
              <p:nvPr/>
            </p:nvSpPr>
            <p:spPr bwMode="auto">
              <a:xfrm>
                <a:off x="3153" y="2625"/>
                <a:ext cx="1872" cy="1008"/>
              </a:xfrm>
              <a:prstGeom prst="rect">
                <a:avLst/>
              </a:prstGeom>
              <a:solidFill>
                <a:srgbClr val="99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72" name="Oval 46"/>
              <p:cNvSpPr>
                <a:spLocks noChangeArrowheads="1"/>
              </p:cNvSpPr>
              <p:nvPr/>
            </p:nvSpPr>
            <p:spPr bwMode="auto">
              <a:xfrm>
                <a:off x="4689" y="3057"/>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73" name="Line 47"/>
              <p:cNvSpPr>
                <a:spLocks noChangeShapeType="1"/>
              </p:cNvSpPr>
              <p:nvPr/>
            </p:nvSpPr>
            <p:spPr bwMode="auto">
              <a:xfrm>
                <a:off x="3489" y="2865"/>
                <a:ext cx="432" cy="0"/>
              </a:xfrm>
              <a:prstGeom prst="line">
                <a:avLst/>
              </a:prstGeom>
              <a:noFill/>
              <a:ln w="28575">
                <a:solidFill>
                  <a:schemeClr val="tx1"/>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74" name="Line 48"/>
              <p:cNvSpPr>
                <a:spLocks noChangeShapeType="1"/>
              </p:cNvSpPr>
              <p:nvPr/>
            </p:nvSpPr>
            <p:spPr bwMode="auto">
              <a:xfrm>
                <a:off x="3537" y="3441"/>
                <a:ext cx="576" cy="0"/>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75" name="Line 49"/>
              <p:cNvSpPr>
                <a:spLocks noChangeShapeType="1"/>
              </p:cNvSpPr>
              <p:nvPr/>
            </p:nvSpPr>
            <p:spPr bwMode="auto">
              <a:xfrm flipV="1">
                <a:off x="4257" y="3345"/>
                <a:ext cx="288" cy="96"/>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76" name="Oval 50"/>
              <p:cNvSpPr>
                <a:spLocks noChangeArrowheads="1"/>
              </p:cNvSpPr>
              <p:nvPr/>
            </p:nvSpPr>
            <p:spPr bwMode="auto">
              <a:xfrm>
                <a:off x="4113" y="3393"/>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grpSp>
            <p:nvGrpSpPr>
              <p:cNvPr id="77" name="Group 51"/>
              <p:cNvGrpSpPr>
                <a:grpSpLocks/>
              </p:cNvGrpSpPr>
              <p:nvPr/>
            </p:nvGrpSpPr>
            <p:grpSpPr bwMode="auto">
              <a:xfrm>
                <a:off x="3729" y="3393"/>
                <a:ext cx="240" cy="96"/>
                <a:chOff x="1000" y="3128"/>
                <a:chExt cx="320" cy="184"/>
              </a:xfrm>
            </p:grpSpPr>
            <p:sp>
              <p:nvSpPr>
                <p:cNvPr id="91" name="AutoShape 52"/>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92" name="Line 53"/>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93" name="Line 54"/>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78" name="Line 55"/>
              <p:cNvSpPr>
                <a:spLocks noChangeShapeType="1"/>
              </p:cNvSpPr>
              <p:nvPr/>
            </p:nvSpPr>
            <p:spPr bwMode="auto">
              <a:xfrm flipV="1">
                <a:off x="4641" y="3153"/>
                <a:ext cx="144" cy="144"/>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79" name="Line 56"/>
              <p:cNvSpPr>
                <a:spLocks noChangeShapeType="1"/>
              </p:cNvSpPr>
              <p:nvPr/>
            </p:nvSpPr>
            <p:spPr bwMode="auto">
              <a:xfrm flipH="1">
                <a:off x="3441" y="2950"/>
                <a:ext cx="553" cy="491"/>
              </a:xfrm>
              <a:prstGeom prst="line">
                <a:avLst/>
              </a:prstGeom>
              <a:noFill/>
              <a:ln w="28575">
                <a:solidFill>
                  <a:schemeClr val="tx1"/>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nvGrpSpPr>
              <p:cNvPr id="80" name="Group 57"/>
              <p:cNvGrpSpPr>
                <a:grpSpLocks/>
              </p:cNvGrpSpPr>
              <p:nvPr/>
            </p:nvGrpSpPr>
            <p:grpSpPr bwMode="auto">
              <a:xfrm>
                <a:off x="4449" y="3297"/>
                <a:ext cx="240" cy="96"/>
                <a:chOff x="1000" y="3128"/>
                <a:chExt cx="320" cy="184"/>
              </a:xfrm>
            </p:grpSpPr>
            <p:sp>
              <p:nvSpPr>
                <p:cNvPr id="88" name="AutoShape 58"/>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89" name="Line 59"/>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90" name="Line 60"/>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81" name="Line 61"/>
              <p:cNvSpPr>
                <a:spLocks noChangeShapeType="1"/>
              </p:cNvSpPr>
              <p:nvPr/>
            </p:nvSpPr>
            <p:spPr bwMode="auto">
              <a:xfrm>
                <a:off x="4209" y="2913"/>
                <a:ext cx="480" cy="192"/>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nvGrpSpPr>
              <p:cNvPr id="82" name="Group 62"/>
              <p:cNvGrpSpPr>
                <a:grpSpLocks/>
              </p:cNvGrpSpPr>
              <p:nvPr/>
            </p:nvGrpSpPr>
            <p:grpSpPr bwMode="auto">
              <a:xfrm>
                <a:off x="3921" y="2769"/>
                <a:ext cx="320" cy="184"/>
                <a:chOff x="1000" y="3128"/>
                <a:chExt cx="320" cy="184"/>
              </a:xfrm>
            </p:grpSpPr>
            <p:sp>
              <p:nvSpPr>
                <p:cNvPr id="85" name="AutoShape 63"/>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86" name="Line 64"/>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87" name="Line 65"/>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83" name="Text Box 66"/>
              <p:cNvSpPr txBox="1">
                <a:spLocks noChangeArrowheads="1"/>
              </p:cNvSpPr>
              <p:nvPr/>
            </p:nvSpPr>
            <p:spPr bwMode="auto">
              <a:xfrm>
                <a:off x="4209" y="2642"/>
                <a:ext cx="377" cy="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solidFill>
                      <a:srgbClr val="0000FF"/>
                    </a:solidFill>
                    <a:latin typeface="微软雅黑" pitchFamily="34" charset="-122"/>
                    <a:ea typeface="微软雅黑" pitchFamily="34" charset="-122"/>
                  </a:rPr>
                  <a:t>R3</a:t>
                </a:r>
              </a:p>
            </p:txBody>
          </p:sp>
          <p:sp>
            <p:nvSpPr>
              <p:cNvPr id="84" name="Text Box 67"/>
              <p:cNvSpPr txBox="1">
                <a:spLocks noChangeArrowheads="1"/>
              </p:cNvSpPr>
              <p:nvPr/>
            </p:nvSpPr>
            <p:spPr bwMode="auto">
              <a:xfrm>
                <a:off x="3729" y="3640"/>
                <a:ext cx="811" cy="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b="1" dirty="0">
                    <a:solidFill>
                      <a:srgbClr val="0000FF"/>
                    </a:solidFill>
                    <a:latin typeface="微软雅黑" pitchFamily="34" charset="-122"/>
                    <a:ea typeface="微软雅黑" pitchFamily="34" charset="-122"/>
                  </a:rPr>
                  <a:t>自治系统</a:t>
                </a:r>
              </a:p>
            </p:txBody>
          </p:sp>
          <p:sp>
            <p:nvSpPr>
              <p:cNvPr id="70" name="Oval 44"/>
              <p:cNvSpPr>
                <a:spLocks noChangeArrowheads="1"/>
              </p:cNvSpPr>
              <p:nvPr/>
            </p:nvSpPr>
            <p:spPr bwMode="auto">
              <a:xfrm>
                <a:off x="3297" y="2817"/>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71" name="Oval 45"/>
              <p:cNvSpPr>
                <a:spLocks noChangeArrowheads="1"/>
              </p:cNvSpPr>
              <p:nvPr/>
            </p:nvSpPr>
            <p:spPr bwMode="auto">
              <a:xfrm>
                <a:off x="3345" y="3393"/>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grpSp>
        <p:grpSp>
          <p:nvGrpSpPr>
            <p:cNvPr id="11" name="Group 68"/>
            <p:cNvGrpSpPr>
              <a:grpSpLocks/>
            </p:cNvGrpSpPr>
            <p:nvPr/>
          </p:nvGrpSpPr>
          <p:grpSpPr bwMode="auto">
            <a:xfrm>
              <a:off x="862523" y="1132312"/>
              <a:ext cx="2084903" cy="1406998"/>
              <a:chOff x="672" y="759"/>
              <a:chExt cx="1872" cy="1257"/>
            </a:xfrm>
          </p:grpSpPr>
          <p:sp>
            <p:nvSpPr>
              <p:cNvPr id="46" name="Rectangle 69"/>
              <p:cNvSpPr>
                <a:spLocks noChangeArrowheads="1"/>
              </p:cNvSpPr>
              <p:nvPr/>
            </p:nvSpPr>
            <p:spPr bwMode="auto">
              <a:xfrm>
                <a:off x="672" y="1008"/>
                <a:ext cx="1872" cy="1008"/>
              </a:xfrm>
              <a:prstGeom prst="rect">
                <a:avLst/>
              </a:prstGeom>
              <a:solidFill>
                <a:srgbClr val="99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47" name="Oval 70"/>
              <p:cNvSpPr>
                <a:spLocks noChangeArrowheads="1"/>
              </p:cNvSpPr>
              <p:nvPr/>
            </p:nvSpPr>
            <p:spPr bwMode="auto">
              <a:xfrm>
                <a:off x="1008" y="1152"/>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grpSp>
            <p:nvGrpSpPr>
              <p:cNvPr id="48" name="Group 71"/>
              <p:cNvGrpSpPr>
                <a:grpSpLocks/>
              </p:cNvGrpSpPr>
              <p:nvPr/>
            </p:nvGrpSpPr>
            <p:grpSpPr bwMode="auto">
              <a:xfrm>
                <a:off x="2016" y="1104"/>
                <a:ext cx="320" cy="184"/>
                <a:chOff x="1000" y="3128"/>
                <a:chExt cx="320" cy="184"/>
              </a:xfrm>
            </p:grpSpPr>
            <p:sp>
              <p:nvSpPr>
                <p:cNvPr id="66" name="AutoShape 72"/>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67" name="Line 73"/>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68" name="Line 74"/>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49" name="Oval 75"/>
              <p:cNvSpPr>
                <a:spLocks noChangeArrowheads="1"/>
              </p:cNvSpPr>
              <p:nvPr/>
            </p:nvSpPr>
            <p:spPr bwMode="auto">
              <a:xfrm>
                <a:off x="960" y="1728"/>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50" name="Oval 76"/>
              <p:cNvSpPr>
                <a:spLocks noChangeArrowheads="1"/>
              </p:cNvSpPr>
              <p:nvPr/>
            </p:nvSpPr>
            <p:spPr bwMode="auto">
              <a:xfrm>
                <a:off x="2064" y="1632"/>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grpSp>
            <p:nvGrpSpPr>
              <p:cNvPr id="51" name="Group 77"/>
              <p:cNvGrpSpPr>
                <a:grpSpLocks/>
              </p:cNvGrpSpPr>
              <p:nvPr/>
            </p:nvGrpSpPr>
            <p:grpSpPr bwMode="auto">
              <a:xfrm>
                <a:off x="864" y="1440"/>
                <a:ext cx="240" cy="96"/>
                <a:chOff x="1000" y="3128"/>
                <a:chExt cx="320" cy="184"/>
              </a:xfrm>
            </p:grpSpPr>
            <p:sp>
              <p:nvSpPr>
                <p:cNvPr id="63" name="AutoShape 78"/>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64" name="Line 79"/>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65" name="Line 80"/>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grpSp>
            <p:nvGrpSpPr>
              <p:cNvPr id="52" name="Group 81"/>
              <p:cNvGrpSpPr>
                <a:grpSpLocks/>
              </p:cNvGrpSpPr>
              <p:nvPr/>
            </p:nvGrpSpPr>
            <p:grpSpPr bwMode="auto">
              <a:xfrm>
                <a:off x="1488" y="1776"/>
                <a:ext cx="240" cy="96"/>
                <a:chOff x="1000" y="3128"/>
                <a:chExt cx="320" cy="184"/>
              </a:xfrm>
            </p:grpSpPr>
            <p:sp>
              <p:nvSpPr>
                <p:cNvPr id="60" name="AutoShape 82"/>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61" name="Line 83"/>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62" name="Line 84"/>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53" name="Line 85"/>
              <p:cNvSpPr>
                <a:spLocks noChangeShapeType="1"/>
              </p:cNvSpPr>
              <p:nvPr/>
            </p:nvSpPr>
            <p:spPr bwMode="auto">
              <a:xfrm>
                <a:off x="1200" y="1200"/>
                <a:ext cx="816" cy="0"/>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54" name="Line 86"/>
              <p:cNvSpPr>
                <a:spLocks noChangeShapeType="1"/>
              </p:cNvSpPr>
              <p:nvPr/>
            </p:nvSpPr>
            <p:spPr bwMode="auto">
              <a:xfrm flipH="1">
                <a:off x="1008" y="1248"/>
                <a:ext cx="48" cy="192"/>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55" name="Line 87"/>
              <p:cNvSpPr>
                <a:spLocks noChangeShapeType="1"/>
              </p:cNvSpPr>
              <p:nvPr/>
            </p:nvSpPr>
            <p:spPr bwMode="auto">
              <a:xfrm>
                <a:off x="1008" y="1536"/>
                <a:ext cx="48" cy="192"/>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56" name="Line 88"/>
              <p:cNvSpPr>
                <a:spLocks noChangeShapeType="1"/>
              </p:cNvSpPr>
              <p:nvPr/>
            </p:nvSpPr>
            <p:spPr bwMode="auto">
              <a:xfrm>
                <a:off x="1152" y="1776"/>
                <a:ext cx="336" cy="48"/>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57" name="Line 89"/>
              <p:cNvSpPr>
                <a:spLocks noChangeShapeType="1"/>
              </p:cNvSpPr>
              <p:nvPr/>
            </p:nvSpPr>
            <p:spPr bwMode="auto">
              <a:xfrm flipV="1">
                <a:off x="1728" y="1680"/>
                <a:ext cx="336" cy="144"/>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58" name="Line 90"/>
              <p:cNvSpPr>
                <a:spLocks noChangeShapeType="1"/>
              </p:cNvSpPr>
              <p:nvPr/>
            </p:nvSpPr>
            <p:spPr bwMode="auto">
              <a:xfrm>
                <a:off x="2160" y="1296"/>
                <a:ext cx="0" cy="336"/>
              </a:xfrm>
              <a:prstGeom prst="line">
                <a:avLst/>
              </a:prstGeom>
              <a:noFill/>
              <a:ln w="28575">
                <a:solidFill>
                  <a:schemeClr val="tx1"/>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59" name="Text Box 91"/>
              <p:cNvSpPr txBox="1">
                <a:spLocks noChangeArrowheads="1"/>
              </p:cNvSpPr>
              <p:nvPr/>
            </p:nvSpPr>
            <p:spPr bwMode="auto">
              <a:xfrm>
                <a:off x="1212" y="759"/>
                <a:ext cx="811" cy="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b="1" dirty="0">
                    <a:solidFill>
                      <a:srgbClr val="0000FF"/>
                    </a:solidFill>
                    <a:latin typeface="微软雅黑" pitchFamily="34" charset="-122"/>
                    <a:ea typeface="微软雅黑" pitchFamily="34" charset="-122"/>
                  </a:rPr>
                  <a:t>自治系统</a:t>
                </a:r>
              </a:p>
            </p:txBody>
          </p:sp>
        </p:grpSp>
        <p:grpSp>
          <p:nvGrpSpPr>
            <p:cNvPr id="12" name="Group 92"/>
            <p:cNvGrpSpPr>
              <a:grpSpLocks/>
            </p:cNvGrpSpPr>
            <p:nvPr/>
          </p:nvGrpSpPr>
          <p:grpSpPr bwMode="auto">
            <a:xfrm>
              <a:off x="3393013" y="1132312"/>
              <a:ext cx="2084903" cy="1406998"/>
              <a:chOff x="3168" y="759"/>
              <a:chExt cx="1872" cy="1257"/>
            </a:xfrm>
          </p:grpSpPr>
          <p:sp>
            <p:nvSpPr>
              <p:cNvPr id="16" name="Rectangle 93"/>
              <p:cNvSpPr>
                <a:spLocks noChangeArrowheads="1"/>
              </p:cNvSpPr>
              <p:nvPr/>
            </p:nvSpPr>
            <p:spPr bwMode="auto">
              <a:xfrm>
                <a:off x="3168" y="1008"/>
                <a:ext cx="1872" cy="1008"/>
              </a:xfrm>
              <a:prstGeom prst="rect">
                <a:avLst/>
              </a:prstGeom>
              <a:solidFill>
                <a:srgbClr val="99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17" name="Oval 94"/>
              <p:cNvSpPr>
                <a:spLocks noChangeArrowheads="1"/>
              </p:cNvSpPr>
              <p:nvPr/>
            </p:nvSpPr>
            <p:spPr bwMode="auto">
              <a:xfrm>
                <a:off x="3360" y="1344"/>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19" name="Oval 96"/>
              <p:cNvSpPr>
                <a:spLocks noChangeArrowheads="1"/>
              </p:cNvSpPr>
              <p:nvPr/>
            </p:nvSpPr>
            <p:spPr bwMode="auto">
              <a:xfrm>
                <a:off x="4704" y="1776"/>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20" name="Line 97"/>
              <p:cNvSpPr>
                <a:spLocks noChangeShapeType="1"/>
              </p:cNvSpPr>
              <p:nvPr/>
            </p:nvSpPr>
            <p:spPr bwMode="auto">
              <a:xfrm>
                <a:off x="4224" y="1200"/>
                <a:ext cx="528" cy="576"/>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21" name="Line 98"/>
              <p:cNvSpPr>
                <a:spLocks noChangeShapeType="1"/>
              </p:cNvSpPr>
              <p:nvPr/>
            </p:nvSpPr>
            <p:spPr bwMode="auto">
              <a:xfrm flipH="1">
                <a:off x="3504" y="1152"/>
                <a:ext cx="624" cy="240"/>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22" name="Line 99"/>
              <p:cNvSpPr>
                <a:spLocks noChangeShapeType="1"/>
              </p:cNvSpPr>
              <p:nvPr/>
            </p:nvSpPr>
            <p:spPr bwMode="auto">
              <a:xfrm>
                <a:off x="4752" y="1200"/>
                <a:ext cx="48" cy="624"/>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23" name="Line 100"/>
              <p:cNvSpPr>
                <a:spLocks noChangeShapeType="1"/>
              </p:cNvSpPr>
              <p:nvPr/>
            </p:nvSpPr>
            <p:spPr bwMode="auto">
              <a:xfrm>
                <a:off x="3648" y="1824"/>
                <a:ext cx="336" cy="0"/>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24" name="Line 101"/>
              <p:cNvSpPr>
                <a:spLocks noChangeShapeType="1"/>
              </p:cNvSpPr>
              <p:nvPr/>
            </p:nvSpPr>
            <p:spPr bwMode="auto">
              <a:xfrm flipV="1">
                <a:off x="4080" y="1152"/>
                <a:ext cx="624" cy="624"/>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nvGrpSpPr>
              <p:cNvPr id="25" name="Group 102"/>
              <p:cNvGrpSpPr>
                <a:grpSpLocks/>
              </p:cNvGrpSpPr>
              <p:nvPr/>
            </p:nvGrpSpPr>
            <p:grpSpPr bwMode="auto">
              <a:xfrm>
                <a:off x="4304" y="1392"/>
                <a:ext cx="240" cy="96"/>
                <a:chOff x="1000" y="3128"/>
                <a:chExt cx="320" cy="184"/>
              </a:xfrm>
            </p:grpSpPr>
            <p:sp>
              <p:nvSpPr>
                <p:cNvPr id="43" name="AutoShape 103"/>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44" name="Line 104"/>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45" name="Line 105"/>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26" name="Line 106"/>
              <p:cNvSpPr>
                <a:spLocks noChangeShapeType="1"/>
              </p:cNvSpPr>
              <p:nvPr/>
            </p:nvSpPr>
            <p:spPr bwMode="auto">
              <a:xfrm flipH="1">
                <a:off x="3456" y="1440"/>
                <a:ext cx="0" cy="288"/>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27" name="Oval 107"/>
              <p:cNvSpPr>
                <a:spLocks noChangeArrowheads="1"/>
              </p:cNvSpPr>
              <p:nvPr/>
            </p:nvSpPr>
            <p:spPr bwMode="auto">
              <a:xfrm>
                <a:off x="4080" y="1104"/>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28" name="Oval 108"/>
              <p:cNvSpPr>
                <a:spLocks noChangeArrowheads="1"/>
              </p:cNvSpPr>
              <p:nvPr/>
            </p:nvSpPr>
            <p:spPr bwMode="auto">
              <a:xfrm>
                <a:off x="4656" y="1104"/>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grpSp>
            <p:nvGrpSpPr>
              <p:cNvPr id="29" name="Group 109"/>
              <p:cNvGrpSpPr>
                <a:grpSpLocks/>
              </p:cNvGrpSpPr>
              <p:nvPr/>
            </p:nvGrpSpPr>
            <p:grpSpPr bwMode="auto">
              <a:xfrm>
                <a:off x="3696" y="1200"/>
                <a:ext cx="240" cy="96"/>
                <a:chOff x="1000" y="3128"/>
                <a:chExt cx="320" cy="184"/>
              </a:xfrm>
            </p:grpSpPr>
            <p:sp>
              <p:nvSpPr>
                <p:cNvPr id="40" name="AutoShape 110"/>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41" name="Line 111"/>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42" name="Line 112"/>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grpSp>
            <p:nvGrpSpPr>
              <p:cNvPr id="30" name="Group 113"/>
              <p:cNvGrpSpPr>
                <a:grpSpLocks/>
              </p:cNvGrpSpPr>
              <p:nvPr/>
            </p:nvGrpSpPr>
            <p:grpSpPr bwMode="auto">
              <a:xfrm>
                <a:off x="4656" y="1392"/>
                <a:ext cx="240" cy="96"/>
                <a:chOff x="1000" y="3128"/>
                <a:chExt cx="320" cy="184"/>
              </a:xfrm>
            </p:grpSpPr>
            <p:sp>
              <p:nvSpPr>
                <p:cNvPr id="37" name="AutoShape 114"/>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38" name="Line 115"/>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39" name="Line 116"/>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grpSp>
            <p:nvGrpSpPr>
              <p:cNvPr id="31" name="Group 117"/>
              <p:cNvGrpSpPr>
                <a:grpSpLocks/>
              </p:cNvGrpSpPr>
              <p:nvPr/>
            </p:nvGrpSpPr>
            <p:grpSpPr bwMode="auto">
              <a:xfrm>
                <a:off x="3328" y="1688"/>
                <a:ext cx="320" cy="184"/>
                <a:chOff x="1000" y="3128"/>
                <a:chExt cx="320" cy="184"/>
              </a:xfrm>
            </p:grpSpPr>
            <p:sp>
              <p:nvSpPr>
                <p:cNvPr id="34" name="AutoShape 118"/>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35" name="Line 119"/>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36" name="Line 120"/>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32" name="Text Box 121"/>
              <p:cNvSpPr txBox="1">
                <a:spLocks noChangeArrowheads="1"/>
              </p:cNvSpPr>
              <p:nvPr/>
            </p:nvSpPr>
            <p:spPr bwMode="auto">
              <a:xfrm>
                <a:off x="3586" y="1505"/>
                <a:ext cx="377" cy="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solidFill>
                      <a:srgbClr val="0000FF"/>
                    </a:solidFill>
                    <a:latin typeface="微软雅黑" pitchFamily="34" charset="-122"/>
                    <a:ea typeface="微软雅黑" pitchFamily="34" charset="-122"/>
                  </a:rPr>
                  <a:t>R2</a:t>
                </a:r>
              </a:p>
            </p:txBody>
          </p:sp>
          <p:sp>
            <p:nvSpPr>
              <p:cNvPr id="33" name="Text Box 122"/>
              <p:cNvSpPr txBox="1">
                <a:spLocks noChangeArrowheads="1"/>
              </p:cNvSpPr>
              <p:nvPr/>
            </p:nvSpPr>
            <p:spPr bwMode="auto">
              <a:xfrm>
                <a:off x="3704" y="759"/>
                <a:ext cx="811" cy="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b="1" dirty="0">
                    <a:solidFill>
                      <a:srgbClr val="0000FF"/>
                    </a:solidFill>
                    <a:latin typeface="微软雅黑" pitchFamily="34" charset="-122"/>
                    <a:ea typeface="微软雅黑" pitchFamily="34" charset="-122"/>
                  </a:rPr>
                  <a:t>自治系统</a:t>
                </a:r>
              </a:p>
            </p:txBody>
          </p:sp>
          <p:sp>
            <p:nvSpPr>
              <p:cNvPr id="18" name="Oval 95"/>
              <p:cNvSpPr>
                <a:spLocks noChangeArrowheads="1"/>
              </p:cNvSpPr>
              <p:nvPr/>
            </p:nvSpPr>
            <p:spPr bwMode="auto">
              <a:xfrm>
                <a:off x="3936" y="1776"/>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grpSp>
        <p:sp>
          <p:nvSpPr>
            <p:cNvPr id="13" name="Line 123"/>
            <p:cNvSpPr>
              <a:spLocks noChangeShapeType="1"/>
            </p:cNvSpPr>
            <p:nvPr/>
          </p:nvSpPr>
          <p:spPr bwMode="auto">
            <a:xfrm>
              <a:off x="2656741" y="1663314"/>
              <a:ext cx="938971" cy="553629"/>
            </a:xfrm>
            <a:prstGeom prst="line">
              <a:avLst/>
            </a:prstGeom>
            <a:noFill/>
            <a:ln w="28575">
              <a:solidFill>
                <a:schemeClr val="tx1"/>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4" name="Line 124"/>
            <p:cNvSpPr>
              <a:spLocks noChangeShapeType="1"/>
            </p:cNvSpPr>
            <p:nvPr/>
          </p:nvSpPr>
          <p:spPr bwMode="auto">
            <a:xfrm>
              <a:off x="3838505" y="2349705"/>
              <a:ext cx="481132" cy="698462"/>
            </a:xfrm>
            <a:prstGeom prst="line">
              <a:avLst/>
            </a:prstGeom>
            <a:noFill/>
            <a:ln w="28575">
              <a:solidFill>
                <a:schemeClr val="tx1"/>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5" name="Line 125"/>
            <p:cNvSpPr>
              <a:spLocks noChangeShapeType="1"/>
            </p:cNvSpPr>
            <p:nvPr/>
          </p:nvSpPr>
          <p:spPr bwMode="auto">
            <a:xfrm flipH="1">
              <a:off x="2787049" y="3191879"/>
              <a:ext cx="1488772" cy="421986"/>
            </a:xfrm>
            <a:prstGeom prst="line">
              <a:avLst/>
            </a:prstGeom>
            <a:noFill/>
            <a:ln w="28575">
              <a:solidFill>
                <a:schemeClr val="tx1"/>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7" name="Rectangle 249"/>
          <p:cNvSpPr>
            <a:spLocks noChangeArrowheads="1"/>
          </p:cNvSpPr>
          <p:nvPr/>
        </p:nvSpPr>
        <p:spPr bwMode="auto">
          <a:xfrm>
            <a:off x="2055328" y="1650274"/>
            <a:ext cx="419876" cy="3078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solidFill>
                  <a:srgbClr val="0000FF"/>
                </a:solidFill>
                <a:latin typeface="微软雅黑" pitchFamily="34" charset="-122"/>
                <a:ea typeface="微软雅黑" pitchFamily="34" charset="-122"/>
              </a:rPr>
              <a:t>R1</a:t>
            </a:r>
          </a:p>
        </p:txBody>
      </p:sp>
      <p:sp>
        <p:nvSpPr>
          <p:cNvPr id="127" name="矩形 126"/>
          <p:cNvSpPr/>
          <p:nvPr/>
        </p:nvSpPr>
        <p:spPr>
          <a:xfrm>
            <a:off x="5703920" y="1250108"/>
            <a:ext cx="2570739" cy="2862322"/>
          </a:xfrm>
          <a:prstGeom prst="rect">
            <a:avLst/>
          </a:prstGeom>
          <a:solidFill>
            <a:schemeClr val="bg1"/>
          </a:solidFill>
        </p:spPr>
        <p:txBody>
          <a:bodyPr wrap="square">
            <a:spAutoFit/>
          </a:bodyPr>
          <a:lstStyle/>
          <a:p>
            <a:pPr>
              <a:lnSpc>
                <a:spcPts val="2400"/>
              </a:lnSpc>
            </a:pPr>
            <a:r>
              <a:rPr lang="zh-CN" altLang="en-US" sz="1600" b="1" dirty="0">
                <a:solidFill>
                  <a:srgbClr val="C00000"/>
                </a:solidFill>
                <a:latin typeface="微软雅黑" panose="020B0503020204020204" pitchFamily="34" charset="-122"/>
                <a:ea typeface="微软雅黑" panose="020B0503020204020204" pitchFamily="34" charset="-122"/>
              </a:rPr>
              <a:t>自治系统 </a:t>
            </a:r>
            <a:r>
              <a:rPr lang="en-US" altLang="zh-CN" sz="1600" b="1" dirty="0">
                <a:solidFill>
                  <a:srgbClr val="C00000"/>
                </a:solidFill>
                <a:latin typeface="微软雅黑" panose="020B0503020204020204" pitchFamily="34" charset="-122"/>
                <a:ea typeface="微软雅黑" panose="020B0503020204020204" pitchFamily="34" charset="-122"/>
              </a:rPr>
              <a:t>AS </a:t>
            </a:r>
            <a:r>
              <a:rPr lang="zh-CN" altLang="en-US" sz="1600" b="1" dirty="0">
                <a:solidFill>
                  <a:srgbClr val="C00000"/>
                </a:solidFill>
                <a:latin typeface="微软雅黑" panose="020B0503020204020204" pitchFamily="34" charset="-122"/>
                <a:ea typeface="微软雅黑" panose="020B0503020204020204" pitchFamily="34" charset="-122"/>
              </a:rPr>
              <a:t>：</a:t>
            </a:r>
            <a:endParaRPr lang="en-US" altLang="zh-CN" sz="1600" b="1" dirty="0">
              <a:solidFill>
                <a:srgbClr val="C00000"/>
              </a:solidFill>
              <a:latin typeface="微软雅黑" panose="020B0503020204020204" pitchFamily="34" charset="-122"/>
              <a:ea typeface="微软雅黑" panose="020B0503020204020204" pitchFamily="34" charset="-122"/>
            </a:endParaRPr>
          </a:p>
          <a:p>
            <a:pPr>
              <a:lnSpc>
                <a:spcPts val="2400"/>
              </a:lnSpc>
            </a:pPr>
            <a:r>
              <a:rPr lang="zh-CN" altLang="en-US" sz="1600" b="1" dirty="0">
                <a:latin typeface="微软雅黑" panose="020B0503020204020204" pitchFamily="34" charset="-122"/>
                <a:ea typeface="微软雅黑" panose="020B0503020204020204" pitchFamily="34" charset="-122"/>
              </a:rPr>
              <a:t>是在单一技术管理下的许多网络、</a:t>
            </a:r>
            <a:r>
              <a:rPr lang="en-US" altLang="zh-CN" sz="1600" b="1" dirty="0">
                <a:latin typeface="微软雅黑" panose="020B0503020204020204" pitchFamily="34" charset="-122"/>
                <a:ea typeface="微软雅黑" panose="020B0503020204020204" pitchFamily="34" charset="-122"/>
              </a:rPr>
              <a:t>IP</a:t>
            </a:r>
            <a:r>
              <a:rPr lang="zh-CN" altLang="en-US" sz="1600" b="1" dirty="0">
                <a:latin typeface="微软雅黑" panose="020B0503020204020204" pitchFamily="34" charset="-122"/>
                <a:ea typeface="微软雅黑" panose="020B0503020204020204" pitchFamily="34" charset="-122"/>
              </a:rPr>
              <a:t>地址以及路由器，而这些路由器使用一种自治系统内部的路由选择协议和共同的度量。每一个 </a:t>
            </a:r>
            <a:r>
              <a:rPr lang="en-US" altLang="zh-CN" sz="1600" b="1" dirty="0">
                <a:latin typeface="微软雅黑" panose="020B0503020204020204" pitchFamily="34" charset="-122"/>
                <a:ea typeface="微软雅黑" panose="020B0503020204020204" pitchFamily="34" charset="-122"/>
              </a:rPr>
              <a:t>AS </a:t>
            </a:r>
            <a:r>
              <a:rPr lang="zh-CN" altLang="en-US" sz="1600" b="1" dirty="0">
                <a:latin typeface="微软雅黑" panose="020B0503020204020204" pitchFamily="34" charset="-122"/>
                <a:ea typeface="微软雅黑" panose="020B0503020204020204" pitchFamily="34" charset="-122"/>
              </a:rPr>
              <a:t>对其他 </a:t>
            </a:r>
            <a:r>
              <a:rPr lang="en-US" altLang="zh-CN" sz="1600" b="1" dirty="0">
                <a:latin typeface="微软雅黑" panose="020B0503020204020204" pitchFamily="34" charset="-122"/>
                <a:ea typeface="微软雅黑" panose="020B0503020204020204" pitchFamily="34" charset="-122"/>
              </a:rPr>
              <a:t>AS </a:t>
            </a:r>
            <a:r>
              <a:rPr lang="zh-CN" altLang="en-US" sz="1600" b="1" dirty="0">
                <a:latin typeface="微软雅黑" panose="020B0503020204020204" pitchFamily="34" charset="-122"/>
                <a:ea typeface="微软雅黑" panose="020B0503020204020204" pitchFamily="34" charset="-122"/>
              </a:rPr>
              <a:t>表现出的是一个</a:t>
            </a:r>
            <a:r>
              <a:rPr lang="zh-CN" altLang="en-US" sz="1600" b="1" dirty="0">
                <a:solidFill>
                  <a:srgbClr val="C00000"/>
                </a:solidFill>
                <a:latin typeface="微软雅黑" panose="020B0503020204020204" pitchFamily="34" charset="-122"/>
                <a:ea typeface="微软雅黑" panose="020B0503020204020204" pitchFamily="34" charset="-122"/>
              </a:rPr>
              <a:t>单一的和一致的</a:t>
            </a:r>
            <a:r>
              <a:rPr lang="zh-CN" altLang="en-US" sz="1600" b="1" dirty="0">
                <a:latin typeface="微软雅黑" panose="020B0503020204020204" pitchFamily="34" charset="-122"/>
                <a:ea typeface="微软雅黑" panose="020B0503020204020204" pitchFamily="34" charset="-122"/>
              </a:rPr>
              <a:t>路由选择策略。</a:t>
            </a:r>
          </a:p>
        </p:txBody>
      </p:sp>
    </p:spTree>
    <p:extLst>
      <p:ext uri="{BB962C8B-B14F-4D97-AF65-F5344CB8AC3E}">
        <p14:creationId xmlns:p14="http://schemas.microsoft.com/office/powerpoint/2010/main" val="50440028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1954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69568"/>
            <a:ext cx="2472152" cy="400110"/>
          </a:xfrm>
          <a:prstGeom prst="rect">
            <a:avLst/>
          </a:prstGeom>
        </p:spPr>
        <p:txBody>
          <a:bodyPr wrap="none">
            <a:spAutoFit/>
          </a:bodyPr>
          <a:lstStyle/>
          <a:p>
            <a:r>
              <a:rPr lang="en-US" altLang="zh-CN" sz="2000" b="1" dirty="0">
                <a:latin typeface="微软雅黑" pitchFamily="34" charset="-122"/>
                <a:ea typeface="微软雅黑" pitchFamily="34" charset="-122"/>
              </a:rPr>
              <a:t>2 </a:t>
            </a:r>
            <a:r>
              <a:rPr lang="zh-CN" altLang="en-US" sz="2000" b="1" dirty="0">
                <a:latin typeface="微软雅黑" pitchFamily="34" charset="-122"/>
                <a:ea typeface="微软雅黑" pitchFamily="34" charset="-122"/>
              </a:rPr>
              <a:t>大类路由选择协议</a:t>
            </a:r>
          </a:p>
        </p:txBody>
      </p:sp>
      <p:graphicFrame>
        <p:nvGraphicFramePr>
          <p:cNvPr id="6" name="图示 5"/>
          <p:cNvGraphicFramePr/>
          <p:nvPr>
            <p:extLst>
              <p:ext uri="{D42A27DB-BD31-4B8C-83A1-F6EECF244321}">
                <p14:modId xmlns:p14="http://schemas.microsoft.com/office/powerpoint/2010/main" val="3572960983"/>
              </p:ext>
            </p:extLst>
          </p:nvPr>
        </p:nvGraphicFramePr>
        <p:xfrm>
          <a:off x="992908" y="1191492"/>
          <a:ext cx="7449128" cy="285403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73370194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19908"/>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45144" y="620859"/>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5" y="579675"/>
            <a:ext cx="4878259" cy="400110"/>
          </a:xfrm>
          <a:prstGeom prst="rect">
            <a:avLst/>
          </a:prstGeom>
        </p:spPr>
        <p:txBody>
          <a:bodyPr wrap="none">
            <a:spAutoFit/>
          </a:bodyPr>
          <a:lstStyle/>
          <a:p>
            <a:r>
              <a:rPr lang="zh-CN" altLang="en-US" sz="2000" b="1" dirty="0">
                <a:latin typeface="微软雅黑" pitchFamily="34" charset="-122"/>
                <a:ea typeface="微软雅黑" pitchFamily="34" charset="-122"/>
              </a:rPr>
              <a:t>自治系统和内部网关协议、外部网关协议 </a:t>
            </a:r>
          </a:p>
        </p:txBody>
      </p:sp>
      <p:grpSp>
        <p:nvGrpSpPr>
          <p:cNvPr id="8" name="Group 136"/>
          <p:cNvGrpSpPr>
            <a:grpSpLocks/>
          </p:cNvGrpSpPr>
          <p:nvPr/>
        </p:nvGrpSpPr>
        <p:grpSpPr bwMode="auto">
          <a:xfrm>
            <a:off x="1026144" y="1753094"/>
            <a:ext cx="2192014" cy="1263027"/>
            <a:chOff x="912" y="768"/>
            <a:chExt cx="2400" cy="1584"/>
          </a:xfrm>
          <a:solidFill>
            <a:srgbClr val="009900"/>
          </a:solidFill>
          <a:effectLst/>
        </p:grpSpPr>
        <p:sp>
          <p:nvSpPr>
            <p:cNvPr id="39" name="Oval 13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0" name="Oval 13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1" name="Oval 13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2" name="Oval 14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3" name="Oval 14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4" name="Oval 14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5" name="Oval 14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6" name="Oval 14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7" name="Oval 14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grpSp>
          <p:nvGrpSpPr>
            <p:cNvPr id="48" name="Group 146"/>
            <p:cNvGrpSpPr>
              <a:grpSpLocks/>
            </p:cNvGrpSpPr>
            <p:nvPr/>
          </p:nvGrpSpPr>
          <p:grpSpPr bwMode="auto">
            <a:xfrm>
              <a:off x="912" y="768"/>
              <a:ext cx="2386" cy="1553"/>
              <a:chOff x="912" y="768"/>
              <a:chExt cx="2386" cy="1553"/>
            </a:xfrm>
            <a:grpFill/>
          </p:grpSpPr>
          <p:sp>
            <p:nvSpPr>
              <p:cNvPr id="49" name="Oval 14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0" name="Oval 14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1" name="Oval 14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2" name="Oval 15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3" name="Oval 15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4" name="Oval 15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5" name="Oval 15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6" name="Oval 15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7" name="Oval 15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grpSp>
      </p:grpSp>
      <p:grpSp>
        <p:nvGrpSpPr>
          <p:cNvPr id="9" name="Group 156"/>
          <p:cNvGrpSpPr>
            <a:grpSpLocks/>
          </p:cNvGrpSpPr>
          <p:nvPr/>
        </p:nvGrpSpPr>
        <p:grpSpPr bwMode="auto">
          <a:xfrm>
            <a:off x="5581205" y="1659064"/>
            <a:ext cx="2404550" cy="1453410"/>
            <a:chOff x="912" y="768"/>
            <a:chExt cx="2400" cy="1584"/>
          </a:xfrm>
          <a:solidFill>
            <a:srgbClr val="009900"/>
          </a:solidFill>
          <a:effectLst/>
        </p:grpSpPr>
        <p:sp>
          <p:nvSpPr>
            <p:cNvPr id="20" name="Oval 15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1" name="Oval 15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2" name="Oval 15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3" name="Oval 16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4" name="Oval 16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5" name="Oval 16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6" name="Oval 16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7" name="Oval 16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8" name="Oval 16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grpSp>
          <p:nvGrpSpPr>
            <p:cNvPr id="29" name="Group 166"/>
            <p:cNvGrpSpPr>
              <a:grpSpLocks/>
            </p:cNvGrpSpPr>
            <p:nvPr/>
          </p:nvGrpSpPr>
          <p:grpSpPr bwMode="auto">
            <a:xfrm>
              <a:off x="912" y="768"/>
              <a:ext cx="2386" cy="1553"/>
              <a:chOff x="912" y="768"/>
              <a:chExt cx="2386" cy="1553"/>
            </a:xfrm>
            <a:grpFill/>
          </p:grpSpPr>
          <p:sp>
            <p:nvSpPr>
              <p:cNvPr id="30" name="Oval 16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1" name="Oval 16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2" name="Oval 16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3" name="Oval 17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4" name="Oval 17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5" name="Oval 17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6" name="Oval 17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7" name="Oval 17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8" name="Oval 17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grpSp>
      </p:grpSp>
      <p:sp>
        <p:nvSpPr>
          <p:cNvPr id="10" name="Text Box 176"/>
          <p:cNvSpPr txBox="1">
            <a:spLocks noChangeArrowheads="1"/>
          </p:cNvSpPr>
          <p:nvPr/>
        </p:nvSpPr>
        <p:spPr bwMode="auto">
          <a:xfrm>
            <a:off x="1373103" y="2158383"/>
            <a:ext cx="1494319" cy="52322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400" b="1" dirty="0">
                <a:solidFill>
                  <a:schemeClr val="bg1"/>
                </a:solidFill>
                <a:latin typeface="微软雅黑" pitchFamily="34" charset="-122"/>
                <a:ea typeface="微软雅黑" pitchFamily="34" charset="-122"/>
              </a:rPr>
              <a:t> </a:t>
            </a:r>
            <a:r>
              <a:rPr kumimoji="1" lang="zh-CN" altLang="en-US" sz="1400" b="1" dirty="0">
                <a:solidFill>
                  <a:schemeClr val="bg1"/>
                </a:solidFill>
                <a:latin typeface="微软雅黑" pitchFamily="34" charset="-122"/>
                <a:ea typeface="微软雅黑" pitchFamily="34" charset="-122"/>
              </a:rPr>
              <a:t>用内部网关协议</a:t>
            </a:r>
          </a:p>
          <a:p>
            <a:pPr algn="ctr"/>
            <a:r>
              <a:rPr kumimoji="1" lang="zh-CN" altLang="en-US" sz="1400" b="1" dirty="0">
                <a:solidFill>
                  <a:schemeClr val="bg1"/>
                </a:solidFill>
                <a:latin typeface="微软雅黑" pitchFamily="34" charset="-122"/>
                <a:ea typeface="微软雅黑" pitchFamily="34" charset="-122"/>
              </a:rPr>
              <a:t>（例如，</a:t>
            </a:r>
            <a:r>
              <a:rPr kumimoji="1" lang="en-US" altLang="zh-CN" sz="1400" b="1" dirty="0">
                <a:solidFill>
                  <a:schemeClr val="bg1"/>
                </a:solidFill>
                <a:latin typeface="微软雅黑" pitchFamily="34" charset="-122"/>
                <a:ea typeface="微软雅黑" pitchFamily="34" charset="-122"/>
              </a:rPr>
              <a:t>RIP</a:t>
            </a:r>
            <a:r>
              <a:rPr kumimoji="1" lang="zh-CN" altLang="en-US" sz="1400" b="1" dirty="0">
                <a:solidFill>
                  <a:schemeClr val="bg1"/>
                </a:solidFill>
                <a:latin typeface="微软雅黑" pitchFamily="34" charset="-122"/>
                <a:ea typeface="微软雅黑" pitchFamily="34" charset="-122"/>
              </a:rPr>
              <a:t>）</a:t>
            </a:r>
          </a:p>
        </p:txBody>
      </p:sp>
      <p:sp>
        <p:nvSpPr>
          <p:cNvPr id="11" name="Text Box 177"/>
          <p:cNvSpPr txBox="1">
            <a:spLocks noChangeArrowheads="1"/>
          </p:cNvSpPr>
          <p:nvPr/>
        </p:nvSpPr>
        <p:spPr bwMode="auto">
          <a:xfrm>
            <a:off x="6293188" y="1359251"/>
            <a:ext cx="107914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solidFill>
                  <a:srgbClr val="CC00CC"/>
                </a:solidFill>
                <a:latin typeface="微软雅黑" pitchFamily="34" charset="-122"/>
                <a:ea typeface="微软雅黑" pitchFamily="34" charset="-122"/>
              </a:rPr>
              <a:t>自治系统 </a:t>
            </a:r>
            <a:r>
              <a:rPr kumimoji="1" lang="en-US" altLang="zh-CN" sz="1400" b="1">
                <a:solidFill>
                  <a:srgbClr val="CC00CC"/>
                </a:solidFill>
                <a:latin typeface="微软雅黑" pitchFamily="34" charset="-122"/>
                <a:ea typeface="微软雅黑" pitchFamily="34" charset="-122"/>
              </a:rPr>
              <a:t>B</a:t>
            </a:r>
          </a:p>
        </p:txBody>
      </p:sp>
      <p:sp>
        <p:nvSpPr>
          <p:cNvPr id="12" name="Text Box 178"/>
          <p:cNvSpPr txBox="1">
            <a:spLocks noChangeArrowheads="1"/>
          </p:cNvSpPr>
          <p:nvPr/>
        </p:nvSpPr>
        <p:spPr bwMode="auto">
          <a:xfrm>
            <a:off x="1553257" y="1453282"/>
            <a:ext cx="109036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C00CC"/>
                </a:solidFill>
                <a:latin typeface="微软雅黑" pitchFamily="34" charset="-122"/>
                <a:ea typeface="微软雅黑" pitchFamily="34" charset="-122"/>
              </a:rPr>
              <a:t>自治系统 </a:t>
            </a:r>
            <a:r>
              <a:rPr kumimoji="1" lang="en-US" altLang="zh-CN" sz="1400" b="1" dirty="0">
                <a:solidFill>
                  <a:srgbClr val="CC00CC"/>
                </a:solidFill>
                <a:latin typeface="微软雅黑" pitchFamily="34" charset="-122"/>
                <a:ea typeface="微软雅黑" pitchFamily="34" charset="-122"/>
              </a:rPr>
              <a:t>A</a:t>
            </a:r>
          </a:p>
        </p:txBody>
      </p:sp>
      <p:pic>
        <p:nvPicPr>
          <p:cNvPr id="13" name="Picture 17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05621" y="2044474"/>
            <a:ext cx="523165" cy="327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 name="Picture 18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368670" y="2044473"/>
            <a:ext cx="523165" cy="3296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5" name="Text Box 181"/>
          <p:cNvSpPr txBox="1">
            <a:spLocks noChangeArrowheads="1"/>
          </p:cNvSpPr>
          <p:nvPr/>
        </p:nvSpPr>
        <p:spPr bwMode="auto">
          <a:xfrm>
            <a:off x="3733221" y="1734368"/>
            <a:ext cx="1439817" cy="46166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latin typeface="微软雅黑" pitchFamily="34" charset="-122"/>
                <a:ea typeface="微软雅黑" pitchFamily="34" charset="-122"/>
              </a:rPr>
              <a:t>用外部网关协议</a:t>
            </a:r>
          </a:p>
          <a:p>
            <a:pPr algn="ctr"/>
            <a:r>
              <a:rPr kumimoji="1" lang="zh-CN" altLang="en-US" sz="1200" b="1" dirty="0">
                <a:latin typeface="微软雅黑" pitchFamily="34" charset="-122"/>
                <a:ea typeface="微软雅黑" pitchFamily="34" charset="-122"/>
              </a:rPr>
              <a:t>（例如，</a:t>
            </a:r>
            <a:r>
              <a:rPr kumimoji="1" lang="en-US" altLang="zh-CN" sz="1200" b="1" dirty="0">
                <a:latin typeface="微软雅黑" pitchFamily="34" charset="-122"/>
                <a:ea typeface="微软雅黑" pitchFamily="34" charset="-122"/>
              </a:rPr>
              <a:t>BGP-4</a:t>
            </a:r>
            <a:r>
              <a:rPr kumimoji="1" lang="zh-CN" altLang="en-US" sz="1200" b="1" dirty="0">
                <a:latin typeface="微软雅黑" pitchFamily="34" charset="-122"/>
                <a:ea typeface="微软雅黑" pitchFamily="34" charset="-122"/>
              </a:rPr>
              <a:t>）</a:t>
            </a:r>
          </a:p>
        </p:txBody>
      </p:sp>
      <p:sp>
        <p:nvSpPr>
          <p:cNvPr id="16" name="Text Box 182"/>
          <p:cNvSpPr txBox="1">
            <a:spLocks noChangeArrowheads="1"/>
          </p:cNvSpPr>
          <p:nvPr/>
        </p:nvSpPr>
        <p:spPr bwMode="auto">
          <a:xfrm>
            <a:off x="3040789" y="174845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itchFamily="34" charset="-122"/>
                <a:ea typeface="微软雅黑" pitchFamily="34" charset="-122"/>
              </a:rPr>
              <a:t>R</a:t>
            </a:r>
            <a:r>
              <a:rPr kumimoji="1" lang="en-US" altLang="zh-CN" sz="1400" b="1" baseline="-25000" dirty="0">
                <a:solidFill>
                  <a:srgbClr val="0000CC"/>
                </a:solidFill>
                <a:latin typeface="微软雅黑" pitchFamily="34" charset="-122"/>
                <a:ea typeface="微软雅黑" pitchFamily="34" charset="-122"/>
              </a:rPr>
              <a:t>1</a:t>
            </a:r>
          </a:p>
        </p:txBody>
      </p:sp>
      <p:sp>
        <p:nvSpPr>
          <p:cNvPr id="17" name="Text Box 183"/>
          <p:cNvSpPr txBox="1">
            <a:spLocks noChangeArrowheads="1"/>
          </p:cNvSpPr>
          <p:nvPr/>
        </p:nvSpPr>
        <p:spPr bwMode="auto">
          <a:xfrm>
            <a:off x="5518370" y="1768187"/>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itchFamily="34" charset="-122"/>
                <a:ea typeface="微软雅黑" pitchFamily="34" charset="-122"/>
              </a:rPr>
              <a:t>R</a:t>
            </a:r>
            <a:r>
              <a:rPr kumimoji="1" lang="en-US" altLang="zh-CN" sz="1400" b="1" baseline="-25000" dirty="0">
                <a:solidFill>
                  <a:srgbClr val="0000CC"/>
                </a:solidFill>
                <a:latin typeface="微软雅黑" pitchFamily="34" charset="-122"/>
                <a:ea typeface="微软雅黑" pitchFamily="34" charset="-122"/>
              </a:rPr>
              <a:t>2</a:t>
            </a:r>
          </a:p>
        </p:txBody>
      </p:sp>
      <p:sp>
        <p:nvSpPr>
          <p:cNvPr id="18" name="Text Box 184"/>
          <p:cNvSpPr txBox="1">
            <a:spLocks noChangeArrowheads="1"/>
          </p:cNvSpPr>
          <p:nvPr/>
        </p:nvSpPr>
        <p:spPr bwMode="auto">
          <a:xfrm>
            <a:off x="6111959" y="2149096"/>
            <a:ext cx="1556836" cy="52322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400" b="1" dirty="0">
                <a:solidFill>
                  <a:schemeClr val="bg1"/>
                </a:solidFill>
                <a:latin typeface="微软雅黑" pitchFamily="34" charset="-122"/>
                <a:ea typeface="微软雅黑" pitchFamily="34" charset="-122"/>
              </a:rPr>
              <a:t> </a:t>
            </a:r>
            <a:r>
              <a:rPr kumimoji="1" lang="zh-CN" altLang="en-US" sz="1400" b="1" dirty="0">
                <a:solidFill>
                  <a:schemeClr val="bg1"/>
                </a:solidFill>
                <a:latin typeface="微软雅黑" pitchFamily="34" charset="-122"/>
                <a:ea typeface="微软雅黑" pitchFamily="34" charset="-122"/>
              </a:rPr>
              <a:t>用内部网关协议</a:t>
            </a:r>
          </a:p>
          <a:p>
            <a:pPr algn="ctr"/>
            <a:r>
              <a:rPr kumimoji="1" lang="zh-CN" altLang="en-US" sz="1400" b="1" dirty="0">
                <a:solidFill>
                  <a:schemeClr val="bg1"/>
                </a:solidFill>
                <a:latin typeface="微软雅黑" pitchFamily="34" charset="-122"/>
                <a:ea typeface="微软雅黑" pitchFamily="34" charset="-122"/>
              </a:rPr>
              <a:t>（例如，</a:t>
            </a:r>
            <a:r>
              <a:rPr kumimoji="1" lang="en-US" altLang="zh-CN" sz="1400" b="1" dirty="0">
                <a:solidFill>
                  <a:schemeClr val="bg1"/>
                </a:solidFill>
                <a:latin typeface="微软雅黑" pitchFamily="34" charset="-122"/>
                <a:ea typeface="微软雅黑" pitchFamily="34" charset="-122"/>
              </a:rPr>
              <a:t>OSPF</a:t>
            </a:r>
            <a:r>
              <a:rPr kumimoji="1" lang="zh-CN" altLang="en-US" sz="1400" b="1" dirty="0">
                <a:solidFill>
                  <a:schemeClr val="bg1"/>
                </a:solidFill>
                <a:latin typeface="微软雅黑" pitchFamily="34" charset="-122"/>
                <a:ea typeface="微软雅黑" pitchFamily="34" charset="-122"/>
              </a:rPr>
              <a:t>）</a:t>
            </a:r>
          </a:p>
        </p:txBody>
      </p:sp>
      <p:sp>
        <p:nvSpPr>
          <p:cNvPr id="19" name="Line 185"/>
          <p:cNvSpPr>
            <a:spLocks noChangeShapeType="1"/>
          </p:cNvSpPr>
          <p:nvPr/>
        </p:nvSpPr>
        <p:spPr bwMode="auto">
          <a:xfrm>
            <a:off x="3493574" y="2213961"/>
            <a:ext cx="1925401" cy="2322"/>
          </a:xfrm>
          <a:prstGeom prst="line">
            <a:avLst/>
          </a:prstGeom>
          <a:noFill/>
          <a:ln w="571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8" name="矩形 57"/>
          <p:cNvSpPr/>
          <p:nvPr/>
        </p:nvSpPr>
        <p:spPr>
          <a:xfrm>
            <a:off x="847676" y="3297868"/>
            <a:ext cx="7448648" cy="757130"/>
          </a:xfrm>
          <a:prstGeom prst="rect">
            <a:avLst/>
          </a:prstGeom>
          <a:solidFill>
            <a:srgbClr val="99FFCC"/>
          </a:solidFill>
          <a:ln>
            <a:solidFill>
              <a:srgbClr val="000099"/>
            </a:solidFill>
          </a:ln>
        </p:spPr>
        <p:txBody>
          <a:bodyPr wrap="square">
            <a:spAutoFit/>
          </a:bodyPr>
          <a:lstStyle/>
          <a:p>
            <a:pPr>
              <a:lnSpc>
                <a:spcPct val="120000"/>
              </a:lnSpc>
            </a:pPr>
            <a:r>
              <a:rPr lang="zh-CN" altLang="en-US" b="1" dirty="0">
                <a:latin typeface="微软雅黑" pitchFamily="34" charset="-122"/>
                <a:ea typeface="微软雅黑" pitchFamily="34" charset="-122"/>
              </a:rPr>
              <a:t>自治系统之间的路由选择也叫做</a:t>
            </a:r>
            <a:r>
              <a:rPr lang="zh-CN" altLang="en-US" b="1" dirty="0">
                <a:solidFill>
                  <a:srgbClr val="0000FF"/>
                </a:solidFill>
                <a:latin typeface="微软雅黑" pitchFamily="34" charset="-122"/>
                <a:ea typeface="微软雅黑" pitchFamily="34" charset="-122"/>
              </a:rPr>
              <a:t>域间路由选择 </a:t>
            </a:r>
            <a:r>
              <a:rPr lang="en-US" altLang="zh-CN" b="1" dirty="0">
                <a:latin typeface="微软雅黑" pitchFamily="34" charset="-122"/>
                <a:ea typeface="微软雅黑" pitchFamily="34" charset="-122"/>
              </a:rPr>
              <a:t>(</a:t>
            </a:r>
            <a:r>
              <a:rPr lang="en-US" altLang="zh-CN" b="1" dirty="0" err="1">
                <a:latin typeface="微软雅黑" pitchFamily="34" charset="-122"/>
                <a:ea typeface="微软雅黑" pitchFamily="34" charset="-122"/>
              </a:rPr>
              <a:t>interdomain</a:t>
            </a:r>
            <a:r>
              <a:rPr lang="en-US" altLang="zh-CN" b="1" dirty="0">
                <a:latin typeface="微软雅黑" pitchFamily="34" charset="-122"/>
                <a:ea typeface="微软雅黑" pitchFamily="34" charset="-122"/>
              </a:rPr>
              <a:t> routing)</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a:lnSpc>
                <a:spcPct val="120000"/>
              </a:lnSpc>
            </a:pPr>
            <a:r>
              <a:rPr lang="zh-CN" altLang="en-US" b="1" dirty="0">
                <a:latin typeface="微软雅黑" pitchFamily="34" charset="-122"/>
                <a:ea typeface="微软雅黑" pitchFamily="34" charset="-122"/>
              </a:rPr>
              <a:t>自治系统内部的路由选择叫做</a:t>
            </a:r>
            <a:r>
              <a:rPr lang="zh-CN" altLang="en-US" b="1" dirty="0">
                <a:solidFill>
                  <a:srgbClr val="0000FF"/>
                </a:solidFill>
                <a:latin typeface="微软雅黑" pitchFamily="34" charset="-122"/>
                <a:ea typeface="微软雅黑" pitchFamily="34" charset="-122"/>
              </a:rPr>
              <a:t>域内路由选择</a:t>
            </a:r>
            <a:r>
              <a:rPr lang="zh-CN" altLang="en-US" b="1" dirty="0">
                <a:latin typeface="微软雅黑" pitchFamily="34" charset="-122"/>
                <a:ea typeface="微软雅黑" pitchFamily="34" charset="-122"/>
              </a:rPr>
              <a:t> </a:t>
            </a:r>
            <a:r>
              <a:rPr lang="en-US" altLang="zh-CN" b="1" dirty="0">
                <a:latin typeface="微软雅黑" pitchFamily="34" charset="-122"/>
                <a:ea typeface="微软雅黑" pitchFamily="34" charset="-122"/>
              </a:rPr>
              <a:t>(</a:t>
            </a:r>
            <a:r>
              <a:rPr lang="en-US" altLang="zh-CN" b="1" dirty="0" err="1">
                <a:latin typeface="微软雅黑" pitchFamily="34" charset="-122"/>
                <a:ea typeface="微软雅黑" pitchFamily="34" charset="-122"/>
              </a:rPr>
              <a:t>intradomain</a:t>
            </a:r>
            <a:r>
              <a:rPr lang="en-US" altLang="zh-CN" b="1" dirty="0">
                <a:latin typeface="微软雅黑" pitchFamily="34" charset="-122"/>
                <a:ea typeface="微软雅黑" pitchFamily="34" charset="-122"/>
              </a:rPr>
              <a:t> routing) </a:t>
            </a:r>
            <a:r>
              <a:rPr lang="zh-CN" altLang="en-US" b="1" dirty="0">
                <a:latin typeface="微软雅黑" pitchFamily="34" charset="-122"/>
                <a:ea typeface="微软雅黑" pitchFamily="34" charset="-122"/>
              </a:rPr>
              <a:t>。</a:t>
            </a:r>
          </a:p>
        </p:txBody>
      </p:sp>
    </p:spTree>
    <p:extLst>
      <p:ext uri="{BB962C8B-B14F-4D97-AF65-F5344CB8AC3E}">
        <p14:creationId xmlns:p14="http://schemas.microsoft.com/office/powerpoint/2010/main" val="315542076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animBg="1"/>
    </p:bld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2224"/>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787698" y="572569"/>
            <a:ext cx="356860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4.6.2  </a:t>
            </a:r>
            <a:r>
              <a:rPr lang="zh-CN" altLang="en-US" sz="2400" b="1" dirty="0">
                <a:solidFill>
                  <a:schemeClr val="bg1"/>
                </a:solidFill>
                <a:latin typeface="微软雅黑" pitchFamily="34" charset="-122"/>
                <a:ea typeface="微软雅黑" pitchFamily="34" charset="-122"/>
              </a:rPr>
              <a:t>内部网关协议 </a:t>
            </a:r>
            <a:r>
              <a:rPr lang="en-US" altLang="zh-CN" sz="2400" b="1" dirty="0">
                <a:solidFill>
                  <a:schemeClr val="bg1"/>
                </a:solidFill>
                <a:latin typeface="微软雅黑" pitchFamily="34" charset="-122"/>
                <a:ea typeface="微软雅黑" pitchFamily="34" charset="-122"/>
              </a:rPr>
              <a:t>RIP</a:t>
            </a:r>
            <a:endParaRPr lang="zh-CN" altLang="en-US" sz="2400" b="1" dirty="0">
              <a:solidFill>
                <a:schemeClr val="bg1"/>
              </a:solidFill>
              <a:latin typeface="微软雅黑" pitchFamily="34" charset="-122"/>
              <a:ea typeface="微软雅黑" pitchFamily="34" charset="-122"/>
            </a:endParaRPr>
          </a:p>
        </p:txBody>
      </p:sp>
      <p:grpSp>
        <p:nvGrpSpPr>
          <p:cNvPr id="28" name="组合 27"/>
          <p:cNvGrpSpPr/>
          <p:nvPr/>
        </p:nvGrpSpPr>
        <p:grpSpPr>
          <a:xfrm>
            <a:off x="1442748" y="1258813"/>
            <a:ext cx="6258503" cy="2809692"/>
            <a:chOff x="1113847" y="1369650"/>
            <a:chExt cx="6258503" cy="2809692"/>
          </a:xfrm>
        </p:grpSpPr>
        <p:sp>
          <p:nvSpPr>
            <p:cNvPr id="8" name="矩形 7"/>
            <p:cNvSpPr/>
            <p:nvPr/>
          </p:nvSpPr>
          <p:spPr>
            <a:xfrm>
              <a:off x="3408795" y="1369650"/>
              <a:ext cx="2540000" cy="424873"/>
            </a:xfrm>
            <a:prstGeom prst="rect">
              <a:avLst/>
            </a:prstGeom>
            <a:solidFill>
              <a:srgbClr val="009900"/>
            </a:solidFill>
            <a:ln w="19050">
              <a:solidFill>
                <a:schemeClr val="tx1"/>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微软雅黑" panose="020B0503020204020204" pitchFamily="34" charset="-122"/>
                  <a:ea typeface="微软雅黑" panose="020B0503020204020204" pitchFamily="34" charset="-122"/>
                </a:rPr>
                <a:t>互联网路由选择协议</a:t>
              </a:r>
            </a:p>
          </p:txBody>
        </p:sp>
        <p:sp>
          <p:nvSpPr>
            <p:cNvPr id="10" name="矩形 9"/>
            <p:cNvSpPr/>
            <p:nvPr/>
          </p:nvSpPr>
          <p:spPr>
            <a:xfrm>
              <a:off x="2156303" y="2239529"/>
              <a:ext cx="1802444" cy="424873"/>
            </a:xfrm>
            <a:prstGeom prst="rect">
              <a:avLst/>
            </a:prstGeom>
            <a:solidFill>
              <a:srgbClr val="0099CC"/>
            </a:solidFill>
            <a:ln w="19050">
              <a:solidFill>
                <a:schemeClr val="tx1"/>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微软雅黑" panose="020B0503020204020204" pitchFamily="34" charset="-122"/>
                  <a:ea typeface="微软雅黑" panose="020B0503020204020204" pitchFamily="34" charset="-122"/>
                </a:rPr>
                <a:t>域内路由选择</a:t>
              </a:r>
            </a:p>
          </p:txBody>
        </p:sp>
        <p:sp>
          <p:nvSpPr>
            <p:cNvPr id="11" name="矩形 10"/>
            <p:cNvSpPr/>
            <p:nvPr/>
          </p:nvSpPr>
          <p:spPr>
            <a:xfrm>
              <a:off x="5569906" y="2239530"/>
              <a:ext cx="1802444" cy="424873"/>
            </a:xfrm>
            <a:prstGeom prst="rect">
              <a:avLst/>
            </a:prstGeom>
            <a:solidFill>
              <a:srgbClr val="0099CC"/>
            </a:solidFill>
            <a:ln w="19050">
              <a:solidFill>
                <a:schemeClr val="tx1"/>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微软雅黑" panose="020B0503020204020204" pitchFamily="34" charset="-122"/>
                  <a:ea typeface="微软雅黑" panose="020B0503020204020204" pitchFamily="34" charset="-122"/>
                </a:rPr>
                <a:t>域间路由选择</a:t>
              </a:r>
            </a:p>
          </p:txBody>
        </p:sp>
        <p:sp>
          <p:nvSpPr>
            <p:cNvPr id="12" name="矩形 11"/>
            <p:cNvSpPr/>
            <p:nvPr/>
          </p:nvSpPr>
          <p:spPr>
            <a:xfrm>
              <a:off x="1113847" y="3109407"/>
              <a:ext cx="1802444" cy="670653"/>
            </a:xfrm>
            <a:prstGeom prst="rect">
              <a:avLst/>
            </a:prstGeom>
            <a:solidFill>
              <a:srgbClr val="CC6600"/>
            </a:solidFill>
            <a:ln w="19050">
              <a:solidFill>
                <a:schemeClr val="tx1"/>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rgbClr val="000099"/>
                  </a:solidFill>
                  <a:latin typeface="微软雅黑" panose="020B0503020204020204" pitchFamily="34" charset="-122"/>
                  <a:ea typeface="微软雅黑" panose="020B0503020204020204" pitchFamily="34" charset="-122"/>
                </a:rPr>
                <a:t>距离向量</a:t>
              </a:r>
              <a:endParaRPr lang="en-US" altLang="zh-CN" b="1" dirty="0">
                <a:solidFill>
                  <a:srgbClr val="000099"/>
                </a:solidFill>
                <a:latin typeface="微软雅黑" panose="020B0503020204020204" pitchFamily="34" charset="-122"/>
                <a:ea typeface="微软雅黑" panose="020B0503020204020204" pitchFamily="34" charset="-122"/>
              </a:endParaRPr>
            </a:p>
            <a:p>
              <a:pPr algn="ctr"/>
              <a:r>
                <a:rPr lang="en-US" altLang="zh-CN" sz="1400" b="1" dirty="0">
                  <a:solidFill>
                    <a:srgbClr val="000099"/>
                  </a:solidFill>
                  <a:latin typeface="微软雅黑" panose="020B0503020204020204" pitchFamily="34" charset="-122"/>
                  <a:ea typeface="微软雅黑" panose="020B0503020204020204" pitchFamily="34" charset="-122"/>
                </a:rPr>
                <a:t>(Distance Vector)</a:t>
              </a:r>
              <a:endParaRPr lang="zh-CN" altLang="en-US" sz="1400" b="1" dirty="0">
                <a:solidFill>
                  <a:srgbClr val="000099"/>
                </a:solidFill>
                <a:latin typeface="微软雅黑" panose="020B0503020204020204" pitchFamily="34" charset="-122"/>
                <a:ea typeface="微软雅黑" panose="020B0503020204020204" pitchFamily="34" charset="-122"/>
              </a:endParaRPr>
            </a:p>
          </p:txBody>
        </p:sp>
        <p:sp>
          <p:nvSpPr>
            <p:cNvPr id="13" name="矩形 12"/>
            <p:cNvSpPr/>
            <p:nvPr/>
          </p:nvSpPr>
          <p:spPr>
            <a:xfrm>
              <a:off x="3220430" y="3109408"/>
              <a:ext cx="1802444" cy="670653"/>
            </a:xfrm>
            <a:prstGeom prst="rect">
              <a:avLst/>
            </a:prstGeom>
            <a:solidFill>
              <a:srgbClr val="CC6600"/>
            </a:solidFill>
            <a:ln w="19050">
              <a:solidFill>
                <a:schemeClr val="tx1"/>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微软雅黑" panose="020B0503020204020204" pitchFamily="34" charset="-122"/>
                  <a:ea typeface="微软雅黑" panose="020B0503020204020204" pitchFamily="34" charset="-122"/>
                </a:rPr>
                <a:t>链路状态</a:t>
              </a:r>
              <a:endParaRPr lang="en-US" altLang="zh-CN" b="1" dirty="0">
                <a:latin typeface="微软雅黑" panose="020B0503020204020204" pitchFamily="34" charset="-122"/>
                <a:ea typeface="微软雅黑" panose="020B0503020204020204" pitchFamily="34" charset="-122"/>
              </a:endParaRPr>
            </a:p>
            <a:p>
              <a:pPr algn="ctr"/>
              <a:r>
                <a:rPr lang="en-US" altLang="zh-CN" b="1" dirty="0">
                  <a:latin typeface="微软雅黑" panose="020B0503020204020204" pitchFamily="34" charset="-122"/>
                  <a:ea typeface="微软雅黑" panose="020B0503020204020204" pitchFamily="34" charset="-122"/>
                </a:rPr>
                <a:t>(Link State)</a:t>
              </a:r>
              <a:endParaRPr lang="zh-CN" altLang="en-US" b="1" dirty="0">
                <a:latin typeface="微软雅黑" panose="020B0503020204020204" pitchFamily="34" charset="-122"/>
                <a:ea typeface="微软雅黑" panose="020B0503020204020204" pitchFamily="34" charset="-122"/>
              </a:endParaRPr>
            </a:p>
          </p:txBody>
        </p:sp>
        <p:sp>
          <p:nvSpPr>
            <p:cNvPr id="14" name="矩形 13"/>
            <p:cNvSpPr/>
            <p:nvPr/>
          </p:nvSpPr>
          <p:spPr>
            <a:xfrm>
              <a:off x="5569907" y="3109408"/>
              <a:ext cx="1802443" cy="671608"/>
            </a:xfrm>
            <a:prstGeom prst="rect">
              <a:avLst/>
            </a:prstGeom>
            <a:solidFill>
              <a:srgbClr val="CC6600"/>
            </a:solidFill>
            <a:ln w="19050">
              <a:solidFill>
                <a:schemeClr val="tx1"/>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微软雅黑" panose="020B0503020204020204" pitchFamily="34" charset="-122"/>
                  <a:ea typeface="微软雅黑" panose="020B0503020204020204" pitchFamily="34" charset="-122"/>
                </a:rPr>
                <a:t>路径向量</a:t>
              </a:r>
              <a:endParaRPr lang="en-US" altLang="zh-CN" b="1" dirty="0">
                <a:latin typeface="微软雅黑" panose="020B0503020204020204" pitchFamily="34" charset="-122"/>
                <a:ea typeface="微软雅黑" panose="020B0503020204020204" pitchFamily="34" charset="-122"/>
              </a:endParaRPr>
            </a:p>
            <a:p>
              <a:pPr algn="ctr"/>
              <a:r>
                <a:rPr lang="en-US" altLang="zh-CN" b="1" dirty="0">
                  <a:latin typeface="微软雅黑" panose="020B0503020204020204" pitchFamily="34" charset="-122"/>
                  <a:ea typeface="微软雅黑" panose="020B0503020204020204" pitchFamily="34" charset="-122"/>
                </a:rPr>
                <a:t>(path vector)</a:t>
              </a:r>
              <a:endParaRPr lang="zh-CN" altLang="en-US" b="1" dirty="0">
                <a:latin typeface="微软雅黑" panose="020B0503020204020204" pitchFamily="34" charset="-122"/>
                <a:ea typeface="微软雅黑" panose="020B0503020204020204" pitchFamily="34" charset="-122"/>
              </a:endParaRPr>
            </a:p>
          </p:txBody>
        </p:sp>
        <p:cxnSp>
          <p:nvCxnSpPr>
            <p:cNvPr id="15" name="直接连接符 14"/>
            <p:cNvCxnSpPr>
              <a:endCxn id="10" idx="0"/>
            </p:cNvCxnSpPr>
            <p:nvPr/>
          </p:nvCxnSpPr>
          <p:spPr>
            <a:xfrm flipH="1">
              <a:off x="3057525" y="1794523"/>
              <a:ext cx="1009650" cy="44500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直接连接符 16"/>
            <p:cNvCxnSpPr>
              <a:endCxn id="11" idx="0"/>
            </p:cNvCxnSpPr>
            <p:nvPr/>
          </p:nvCxnSpPr>
          <p:spPr>
            <a:xfrm>
              <a:off x="5461478" y="1794523"/>
              <a:ext cx="1009650" cy="44500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直接连接符 18"/>
            <p:cNvCxnSpPr>
              <a:stCxn id="10" idx="2"/>
              <a:endCxn id="12" idx="0"/>
            </p:cNvCxnSpPr>
            <p:nvPr/>
          </p:nvCxnSpPr>
          <p:spPr>
            <a:xfrm flipH="1">
              <a:off x="2015069" y="2664402"/>
              <a:ext cx="1042456" cy="44500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直接连接符 21"/>
            <p:cNvCxnSpPr>
              <a:stCxn id="10" idx="2"/>
              <a:endCxn id="13" idx="0"/>
            </p:cNvCxnSpPr>
            <p:nvPr/>
          </p:nvCxnSpPr>
          <p:spPr>
            <a:xfrm>
              <a:off x="3057525" y="2664402"/>
              <a:ext cx="1064127" cy="44500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直接连接符 24"/>
            <p:cNvCxnSpPr>
              <a:stCxn id="11" idx="2"/>
              <a:endCxn id="14" idx="0"/>
            </p:cNvCxnSpPr>
            <p:nvPr/>
          </p:nvCxnSpPr>
          <p:spPr>
            <a:xfrm>
              <a:off x="6471128" y="2664403"/>
              <a:ext cx="1" cy="44500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矩形 26"/>
            <p:cNvSpPr/>
            <p:nvPr/>
          </p:nvSpPr>
          <p:spPr>
            <a:xfrm>
              <a:off x="1727169" y="3779232"/>
              <a:ext cx="619080" cy="400110"/>
            </a:xfrm>
            <a:prstGeom prst="rect">
              <a:avLst/>
            </a:prstGeom>
          </p:spPr>
          <p:txBody>
            <a:bodyPr wrap="none">
              <a:spAutoFit/>
            </a:bodyPr>
            <a:lstStyle/>
            <a:p>
              <a:r>
                <a:rPr lang="en-US" altLang="zh-CN" sz="2000" b="1" dirty="0">
                  <a:solidFill>
                    <a:srgbClr val="000099"/>
                  </a:solidFill>
                  <a:latin typeface="微软雅黑" pitchFamily="34" charset="-122"/>
                  <a:ea typeface="微软雅黑" pitchFamily="34" charset="-122"/>
                </a:rPr>
                <a:t>RIP</a:t>
              </a:r>
              <a:endParaRPr lang="zh-CN" altLang="en-US" sz="2000" dirty="0">
                <a:solidFill>
                  <a:srgbClr val="000099"/>
                </a:solidFill>
              </a:endParaRPr>
            </a:p>
          </p:txBody>
        </p:sp>
        <p:sp>
          <p:nvSpPr>
            <p:cNvPr id="29" name="矩形 28"/>
            <p:cNvSpPr/>
            <p:nvPr/>
          </p:nvSpPr>
          <p:spPr>
            <a:xfrm>
              <a:off x="3691886" y="3779232"/>
              <a:ext cx="859531" cy="400110"/>
            </a:xfrm>
            <a:prstGeom prst="rect">
              <a:avLst/>
            </a:prstGeom>
          </p:spPr>
          <p:txBody>
            <a:bodyPr wrap="none">
              <a:spAutoFit/>
            </a:bodyPr>
            <a:lstStyle/>
            <a:p>
              <a:r>
                <a:rPr lang="en-US" altLang="zh-CN" sz="2000" b="1" dirty="0">
                  <a:latin typeface="微软雅黑" pitchFamily="34" charset="-122"/>
                  <a:ea typeface="微软雅黑" pitchFamily="34" charset="-122"/>
                </a:rPr>
                <a:t>OSPF</a:t>
              </a:r>
              <a:endParaRPr lang="zh-CN" altLang="en-US" sz="2000" dirty="0"/>
            </a:p>
          </p:txBody>
        </p:sp>
        <p:sp>
          <p:nvSpPr>
            <p:cNvPr id="30" name="矩形 29"/>
            <p:cNvSpPr/>
            <p:nvPr/>
          </p:nvSpPr>
          <p:spPr>
            <a:xfrm>
              <a:off x="5974036" y="3779232"/>
              <a:ext cx="994183" cy="400110"/>
            </a:xfrm>
            <a:prstGeom prst="rect">
              <a:avLst/>
            </a:prstGeom>
          </p:spPr>
          <p:txBody>
            <a:bodyPr wrap="none">
              <a:spAutoFit/>
            </a:bodyPr>
            <a:lstStyle/>
            <a:p>
              <a:r>
                <a:rPr lang="en-US" altLang="zh-CN" sz="2000" b="1" dirty="0">
                  <a:latin typeface="微软雅黑" pitchFamily="34" charset="-122"/>
                  <a:ea typeface="微软雅黑" pitchFamily="34" charset="-122"/>
                </a:rPr>
                <a:t>BGP-4</a:t>
              </a:r>
              <a:endParaRPr lang="zh-CN" altLang="en-US" sz="2000" dirty="0"/>
            </a:p>
          </p:txBody>
        </p:sp>
      </p:grpSp>
    </p:spTree>
    <p:extLst>
      <p:ext uri="{BB962C8B-B14F-4D97-AF65-F5344CB8AC3E}">
        <p14:creationId xmlns:p14="http://schemas.microsoft.com/office/powerpoint/2010/main" val="368500408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8"/>
          <p:cNvSpPr>
            <a:spLocks noChangeArrowheads="1"/>
          </p:cNvSpPr>
          <p:nvPr/>
        </p:nvSpPr>
        <p:spPr bwMode="auto">
          <a:xfrm>
            <a:off x="545143" y="1001699"/>
            <a:ext cx="8053711" cy="26314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路由信息协议 </a:t>
            </a:r>
            <a:r>
              <a:rPr lang="en-US" altLang="zh-CN" sz="2000" b="1" dirty="0">
                <a:latin typeface="微软雅黑" pitchFamily="34" charset="-122"/>
                <a:ea typeface="微软雅黑" pitchFamily="34" charset="-122"/>
              </a:rPr>
              <a:t>RIP (Routing Information Protocol) </a:t>
            </a:r>
            <a:r>
              <a:rPr lang="zh-CN" altLang="en-US" sz="2000" b="1" dirty="0">
                <a:latin typeface="微软雅黑" pitchFamily="34" charset="-122"/>
                <a:ea typeface="微软雅黑" pitchFamily="34" charset="-122"/>
              </a:rPr>
              <a:t>是一种</a:t>
            </a:r>
            <a:r>
              <a:rPr lang="zh-CN" altLang="en-US" sz="2000" b="1" dirty="0">
                <a:solidFill>
                  <a:srgbClr val="0000FF"/>
                </a:solidFill>
                <a:latin typeface="微软雅黑" pitchFamily="34" charset="-122"/>
                <a:ea typeface="微软雅黑" pitchFamily="34" charset="-122"/>
              </a:rPr>
              <a:t>分布式的、基于距离向量的</a:t>
            </a:r>
            <a:r>
              <a:rPr lang="zh-CN" altLang="en-US" sz="2000" b="1" dirty="0">
                <a:latin typeface="微软雅黑" pitchFamily="34" charset="-122"/>
                <a:ea typeface="微软雅黑" pitchFamily="34" charset="-122"/>
              </a:rPr>
              <a:t>路由选择协议。</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互联网的标准协议。</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最大优点：</a:t>
            </a:r>
            <a:r>
              <a:rPr lang="zh-CN" altLang="en-US" sz="2000" b="1" dirty="0">
                <a:solidFill>
                  <a:srgbClr val="C00000"/>
                </a:solidFill>
                <a:latin typeface="微软雅黑" pitchFamily="34" charset="-122"/>
                <a:ea typeface="微软雅黑" pitchFamily="34" charset="-122"/>
              </a:rPr>
              <a:t>简单。</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要求网络中的每个路由器都要</a:t>
            </a:r>
            <a:r>
              <a:rPr lang="zh-CN" altLang="en-US" sz="2000" b="1" dirty="0">
                <a:solidFill>
                  <a:srgbClr val="C00000"/>
                </a:solidFill>
                <a:latin typeface="微软雅黑" pitchFamily="34" charset="-122"/>
                <a:ea typeface="微软雅黑" pitchFamily="34" charset="-122"/>
              </a:rPr>
              <a:t>维护</a:t>
            </a:r>
            <a:r>
              <a:rPr lang="zh-CN" altLang="en-US" sz="2000" b="1" dirty="0">
                <a:latin typeface="微软雅黑" pitchFamily="34" charset="-122"/>
                <a:ea typeface="微软雅黑" pitchFamily="34" charset="-122"/>
              </a:rPr>
              <a:t>从它自己到其他每一个目的网络的</a:t>
            </a:r>
            <a:r>
              <a:rPr lang="zh-CN" altLang="en-US" sz="2000" b="1" dirty="0">
                <a:solidFill>
                  <a:srgbClr val="C00000"/>
                </a:solidFill>
                <a:latin typeface="微软雅黑" pitchFamily="34" charset="-122"/>
                <a:ea typeface="微软雅黑" pitchFamily="34" charset="-122"/>
              </a:rPr>
              <a:t>距离记录。 </a:t>
            </a:r>
          </a:p>
        </p:txBody>
      </p:sp>
      <p:sp>
        <p:nvSpPr>
          <p:cNvPr id="5" name="AutoShape 5"/>
          <p:cNvSpPr>
            <a:spLocks noChangeArrowheads="1"/>
          </p:cNvSpPr>
          <p:nvPr/>
        </p:nvSpPr>
        <p:spPr bwMode="auto">
          <a:xfrm>
            <a:off x="545144" y="61467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1941968" y="58146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协议 </a:t>
            </a:r>
            <a:r>
              <a:rPr lang="en-US" altLang="zh-CN" sz="2000" b="1" dirty="0">
                <a:solidFill>
                  <a:schemeClr val="bg1"/>
                </a:solidFill>
                <a:latin typeface="微软雅黑" pitchFamily="34" charset="-122"/>
                <a:ea typeface="微软雅黑" pitchFamily="34" charset="-122"/>
              </a:rPr>
              <a:t>RIP </a:t>
            </a:r>
            <a:r>
              <a:rPr lang="zh-CN" altLang="en-US" sz="2000" b="1" dirty="0">
                <a:solidFill>
                  <a:schemeClr val="bg1"/>
                </a:solidFill>
                <a:latin typeface="微软雅黑" pitchFamily="34" charset="-122"/>
                <a:ea typeface="微软雅黑" pitchFamily="34" charset="-122"/>
              </a:rPr>
              <a:t>的工作原理</a:t>
            </a:r>
          </a:p>
        </p:txBody>
      </p:sp>
    </p:spTree>
    <p:extLst>
      <p:ext uri="{BB962C8B-B14F-4D97-AF65-F5344CB8AC3E}">
        <p14:creationId xmlns:p14="http://schemas.microsoft.com/office/powerpoint/2010/main" val="420950164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 name="圆角矩形 164"/>
          <p:cNvSpPr/>
          <p:nvPr/>
        </p:nvSpPr>
        <p:spPr>
          <a:xfrm>
            <a:off x="545144" y="2417498"/>
            <a:ext cx="8053712" cy="179670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 name="AutoShape 5"/>
          <p:cNvSpPr>
            <a:spLocks noChangeArrowheads="1"/>
          </p:cNvSpPr>
          <p:nvPr/>
        </p:nvSpPr>
        <p:spPr bwMode="auto">
          <a:xfrm>
            <a:off x="545144" y="617573"/>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58805"/>
            <a:ext cx="2492990" cy="400110"/>
          </a:xfrm>
          <a:prstGeom prst="rect">
            <a:avLst/>
          </a:prstGeom>
        </p:spPr>
        <p:txBody>
          <a:bodyPr wrap="none">
            <a:spAutoFit/>
          </a:bodyPr>
          <a:lstStyle/>
          <a:p>
            <a:r>
              <a:rPr lang="en-US" altLang="zh-CN" sz="2000" b="1" dirty="0">
                <a:latin typeface="微软雅黑" pitchFamily="34" charset="-122"/>
                <a:ea typeface="微软雅黑" pitchFamily="34" charset="-122"/>
              </a:rPr>
              <a:t>RIP</a:t>
            </a:r>
            <a:r>
              <a:rPr lang="zh-CN" altLang="en-US" sz="2000" b="1" dirty="0">
                <a:latin typeface="微软雅黑" pitchFamily="34" charset="-122"/>
                <a:ea typeface="微软雅黑" pitchFamily="34" charset="-122"/>
              </a:rPr>
              <a:t>“距离”的定义</a:t>
            </a:r>
          </a:p>
        </p:txBody>
      </p:sp>
      <p:sp>
        <p:nvSpPr>
          <p:cNvPr id="4" name="矩形 3"/>
          <p:cNvSpPr/>
          <p:nvPr/>
        </p:nvSpPr>
        <p:spPr>
          <a:xfrm>
            <a:off x="545144" y="932661"/>
            <a:ext cx="8053712" cy="1528624"/>
          </a:xfrm>
          <a:prstGeom prst="rect">
            <a:avLst/>
          </a:prstGeom>
        </p:spPr>
        <p:txBody>
          <a:bodyPr wrap="square">
            <a:spAutoFit/>
          </a:bodyPr>
          <a:lstStyle/>
          <a:p>
            <a:pPr marL="285750" indent="-28575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路由器到</a:t>
            </a:r>
            <a:r>
              <a:rPr lang="zh-CN" altLang="en-US" sz="2000" b="1" dirty="0">
                <a:solidFill>
                  <a:srgbClr val="0000FF"/>
                </a:solidFill>
                <a:latin typeface="微软雅黑" pitchFamily="34" charset="-122"/>
                <a:ea typeface="微软雅黑" pitchFamily="34" charset="-122"/>
              </a:rPr>
              <a:t>直接连接</a:t>
            </a:r>
            <a:r>
              <a:rPr lang="zh-CN" altLang="en-US" sz="2000" b="1" dirty="0">
                <a:latin typeface="微软雅黑" pitchFamily="34" charset="-122"/>
                <a:ea typeface="微软雅黑" pitchFamily="34" charset="-122"/>
              </a:rPr>
              <a:t>的网络的距离 </a:t>
            </a:r>
            <a:r>
              <a:rPr lang="en-US" altLang="zh-CN" sz="2000" b="1" dirty="0">
                <a:latin typeface="微软雅黑" pitchFamily="34" charset="-122"/>
                <a:ea typeface="微软雅黑" pitchFamily="34" charset="-122"/>
              </a:rPr>
              <a:t>= 1</a:t>
            </a:r>
            <a:r>
              <a:rPr lang="zh-CN" altLang="en-US" sz="2000" b="1" dirty="0">
                <a:latin typeface="微软雅黑" pitchFamily="34" charset="-122"/>
                <a:ea typeface="微软雅黑" pitchFamily="34" charset="-122"/>
              </a:rPr>
              <a:t>。</a:t>
            </a:r>
          </a:p>
          <a:p>
            <a:pPr marL="285750" indent="-28575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路由器到</a:t>
            </a:r>
            <a:r>
              <a:rPr lang="zh-CN" altLang="en-US" sz="2000" b="1" dirty="0">
                <a:solidFill>
                  <a:srgbClr val="0000FF"/>
                </a:solidFill>
                <a:latin typeface="微软雅黑" pitchFamily="34" charset="-122"/>
                <a:ea typeface="微软雅黑" pitchFamily="34" charset="-122"/>
              </a:rPr>
              <a:t>非直接连接</a:t>
            </a:r>
            <a:r>
              <a:rPr lang="zh-CN" altLang="en-US" sz="2000" b="1" dirty="0">
                <a:latin typeface="微软雅黑" pitchFamily="34" charset="-122"/>
                <a:ea typeface="微软雅黑" pitchFamily="34" charset="-122"/>
              </a:rPr>
              <a:t>的网络的距离 </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所经过的路由器数 </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1</a:t>
            </a:r>
            <a:r>
              <a:rPr lang="zh-CN" altLang="en-US" sz="2000" b="1" dirty="0">
                <a:latin typeface="微软雅黑" pitchFamily="34" charset="-122"/>
                <a:ea typeface="微软雅黑" pitchFamily="34" charset="-122"/>
              </a:rPr>
              <a:t>。</a:t>
            </a:r>
          </a:p>
          <a:p>
            <a:pPr marL="285750" indent="-285750">
              <a:lnSpc>
                <a:spcPts val="2800"/>
              </a:lnSpc>
              <a:buClr>
                <a:srgbClr val="0070C0"/>
              </a:buClr>
              <a:buFont typeface="Wingdings" pitchFamily="2" charset="2"/>
              <a:buChar char="l"/>
            </a:pPr>
            <a:r>
              <a:rPr lang="en-US" altLang="zh-CN" sz="2000" b="1" dirty="0">
                <a:latin typeface="微软雅黑" pitchFamily="34" charset="-122"/>
                <a:ea typeface="微软雅黑" pitchFamily="34" charset="-122"/>
              </a:rPr>
              <a:t>RIP </a:t>
            </a:r>
            <a:r>
              <a:rPr lang="zh-CN" altLang="en-US" sz="2000" b="1" dirty="0">
                <a:latin typeface="微软雅黑" pitchFamily="34" charset="-122"/>
                <a:ea typeface="微软雅黑" pitchFamily="34" charset="-122"/>
              </a:rPr>
              <a:t>协议中的“距离”也称为“</a:t>
            </a:r>
            <a:r>
              <a:rPr lang="zh-CN" altLang="en-US" sz="2000" b="1" dirty="0">
                <a:solidFill>
                  <a:srgbClr val="0000FF"/>
                </a:solidFill>
                <a:latin typeface="微软雅黑" pitchFamily="34" charset="-122"/>
                <a:ea typeface="微软雅黑" pitchFamily="34" charset="-122"/>
              </a:rPr>
              <a:t>跳数</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(hop count)</a:t>
            </a:r>
            <a:r>
              <a:rPr lang="zh-CN" altLang="en-US" sz="2000" b="1" dirty="0">
                <a:latin typeface="微软雅黑" pitchFamily="34" charset="-122"/>
                <a:ea typeface="微软雅黑" pitchFamily="34" charset="-122"/>
              </a:rPr>
              <a:t>，每经过一个路由器，跳数就加 </a:t>
            </a:r>
            <a:r>
              <a:rPr lang="en-US" altLang="zh-CN" sz="2000" b="1" dirty="0">
                <a:latin typeface="微软雅黑" pitchFamily="34" charset="-122"/>
                <a:ea typeface="微软雅黑" pitchFamily="34" charset="-122"/>
              </a:rPr>
              <a:t>1</a:t>
            </a:r>
            <a:r>
              <a:rPr lang="zh-CN" altLang="en-US" sz="2000" b="1" dirty="0">
                <a:latin typeface="微软雅黑" pitchFamily="34" charset="-122"/>
                <a:ea typeface="微软雅黑" pitchFamily="34" charset="-122"/>
              </a:rPr>
              <a:t>。</a:t>
            </a:r>
          </a:p>
        </p:txBody>
      </p:sp>
      <p:grpSp>
        <p:nvGrpSpPr>
          <p:cNvPr id="5" name="组合 4"/>
          <p:cNvGrpSpPr/>
          <p:nvPr/>
        </p:nvGrpSpPr>
        <p:grpSpPr>
          <a:xfrm>
            <a:off x="7301733" y="3563697"/>
            <a:ext cx="1244484" cy="489218"/>
            <a:chOff x="6276334" y="3615919"/>
            <a:chExt cx="1298933" cy="503769"/>
          </a:xfrm>
        </p:grpSpPr>
        <p:sp>
          <p:nvSpPr>
            <p:cNvPr id="6" name="矩形 476"/>
            <p:cNvSpPr>
              <a:spLocks noChangeArrowheads="1"/>
            </p:cNvSpPr>
            <p:nvPr/>
          </p:nvSpPr>
          <p:spPr bwMode="auto">
            <a:xfrm>
              <a:off x="6276334" y="3615919"/>
              <a:ext cx="1298933" cy="503769"/>
            </a:xfrm>
            <a:prstGeom prst="rect">
              <a:avLst/>
            </a:prstGeom>
            <a:noFill/>
            <a:ln w="9525" cmpd="dbl"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 name="Rectangle 27"/>
            <p:cNvSpPr>
              <a:spLocks noChangeArrowheads="1"/>
            </p:cNvSpPr>
            <p:nvPr/>
          </p:nvSpPr>
          <p:spPr bwMode="auto">
            <a:xfrm>
              <a:off x="6664261" y="3891525"/>
              <a:ext cx="807913"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dirty="0">
                  <a:solidFill>
                    <a:srgbClr val="000000"/>
                  </a:solidFill>
                  <a:latin typeface="微软雅黑" panose="020B0503020204020204" pitchFamily="34" charset="-122"/>
                  <a:ea typeface="微软雅黑" panose="020B0503020204020204" pitchFamily="34" charset="-122"/>
                </a:rPr>
                <a:t>以太网交换机</a:t>
              </a:r>
              <a:endParaRPr lang="en-US" altLang="zh-CN" sz="1050" b="1" dirty="0">
                <a:latin typeface="微软雅黑" panose="020B0503020204020204" pitchFamily="34" charset="-122"/>
                <a:ea typeface="微软雅黑" panose="020B0503020204020204" pitchFamily="34" charset="-122"/>
              </a:endParaRPr>
            </a:p>
          </p:txBody>
        </p:sp>
        <p:grpSp>
          <p:nvGrpSpPr>
            <p:cNvPr id="8" name="Group 344"/>
            <p:cNvGrpSpPr>
              <a:grpSpLocks/>
            </p:cNvGrpSpPr>
            <p:nvPr/>
          </p:nvGrpSpPr>
          <p:grpSpPr bwMode="auto">
            <a:xfrm>
              <a:off x="6390871" y="3689338"/>
              <a:ext cx="242049" cy="128766"/>
              <a:chOff x="1304" y="2569"/>
              <a:chExt cx="439" cy="262"/>
            </a:xfrm>
          </p:grpSpPr>
          <p:sp>
            <p:nvSpPr>
              <p:cNvPr id="11" name="Oval 345"/>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 name="Rectangle 346"/>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 name="Rectangle 347"/>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Oval 348"/>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5" name="Group 349"/>
              <p:cNvGrpSpPr>
                <a:grpSpLocks/>
              </p:cNvGrpSpPr>
              <p:nvPr/>
            </p:nvGrpSpPr>
            <p:grpSpPr bwMode="auto">
              <a:xfrm>
                <a:off x="1371" y="2587"/>
                <a:ext cx="304" cy="117"/>
                <a:chOff x="1371" y="2587"/>
                <a:chExt cx="304" cy="117"/>
              </a:xfrm>
            </p:grpSpPr>
            <p:grpSp>
              <p:nvGrpSpPr>
                <p:cNvPr id="18" name="Group 350"/>
                <p:cNvGrpSpPr>
                  <a:grpSpLocks/>
                </p:cNvGrpSpPr>
                <p:nvPr/>
              </p:nvGrpSpPr>
              <p:grpSpPr bwMode="auto">
                <a:xfrm>
                  <a:off x="1371" y="2587"/>
                  <a:ext cx="301" cy="115"/>
                  <a:chOff x="1371" y="2587"/>
                  <a:chExt cx="301" cy="115"/>
                </a:xfrm>
              </p:grpSpPr>
              <p:sp>
                <p:nvSpPr>
                  <p:cNvPr id="28" name="Freeform 351"/>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 name="Freeform 352"/>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 name="Freeform 353"/>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 name="Freeform 354"/>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 name="Freeform 355"/>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 name="Freeform 356"/>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 name="Freeform 357"/>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 name="Freeform 358"/>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 name="Group 359"/>
                <p:cNvGrpSpPr>
                  <a:grpSpLocks/>
                </p:cNvGrpSpPr>
                <p:nvPr/>
              </p:nvGrpSpPr>
              <p:grpSpPr bwMode="auto">
                <a:xfrm>
                  <a:off x="1373" y="2590"/>
                  <a:ext cx="302" cy="114"/>
                  <a:chOff x="1373" y="2590"/>
                  <a:chExt cx="302" cy="114"/>
                </a:xfrm>
              </p:grpSpPr>
              <p:sp>
                <p:nvSpPr>
                  <p:cNvPr id="20" name="Freeform 360"/>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 name="Freeform 361"/>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 name="Freeform 362"/>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 name="Freeform 363"/>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 name="Freeform 364"/>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 name="Freeform 365"/>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 name="Freeform 366"/>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 name="Freeform 367"/>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16" name="Line 368"/>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 name="Line 369"/>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9" name="Rectangle 27"/>
            <p:cNvSpPr>
              <a:spLocks noChangeArrowheads="1"/>
            </p:cNvSpPr>
            <p:nvPr/>
          </p:nvSpPr>
          <p:spPr bwMode="auto">
            <a:xfrm>
              <a:off x="6664261" y="3687079"/>
              <a:ext cx="40395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a:latin typeface="微软雅黑" panose="020B0503020204020204" pitchFamily="34" charset="-122"/>
                  <a:ea typeface="微软雅黑" panose="020B0503020204020204" pitchFamily="34" charset="-122"/>
                </a:rPr>
                <a:t>路由器</a:t>
              </a:r>
              <a:endParaRPr lang="en-US" altLang="zh-CN" sz="1050" b="1">
                <a:latin typeface="微软雅黑" panose="020B0503020204020204" pitchFamily="34" charset="-122"/>
                <a:ea typeface="微软雅黑" panose="020B0503020204020204" pitchFamily="34" charset="-122"/>
              </a:endParaRPr>
            </a:p>
          </p:txBody>
        </p:sp>
        <p:pic>
          <p:nvPicPr>
            <p:cNvPr id="10"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363163" y="3899167"/>
              <a:ext cx="292813" cy="161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grpSp>
        <p:nvGrpSpPr>
          <p:cNvPr id="36" name="组合 35"/>
          <p:cNvGrpSpPr/>
          <p:nvPr/>
        </p:nvGrpSpPr>
        <p:grpSpPr>
          <a:xfrm>
            <a:off x="775857" y="2481642"/>
            <a:ext cx="6375229" cy="1571272"/>
            <a:chOff x="845544" y="1680812"/>
            <a:chExt cx="7304675" cy="1865024"/>
          </a:xfrm>
        </p:grpSpPr>
        <p:sp>
          <p:nvSpPr>
            <p:cNvPr id="37" name="Line 1480"/>
            <p:cNvSpPr>
              <a:spLocks noChangeShapeType="1"/>
            </p:cNvSpPr>
            <p:nvPr/>
          </p:nvSpPr>
          <p:spPr bwMode="auto">
            <a:xfrm flipH="1" flipV="1">
              <a:off x="2622849" y="2912384"/>
              <a:ext cx="971677" cy="306326"/>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8" name="Line 1440"/>
            <p:cNvSpPr>
              <a:spLocks noChangeShapeType="1"/>
            </p:cNvSpPr>
            <p:nvPr/>
          </p:nvSpPr>
          <p:spPr bwMode="auto">
            <a:xfrm flipH="1">
              <a:off x="2730276" y="2283880"/>
              <a:ext cx="1787622" cy="504308"/>
            </a:xfrm>
            <a:prstGeom prst="line">
              <a:avLst/>
            </a:prstGeom>
            <a:noFill/>
            <a:ln w="19050">
              <a:solidFill>
                <a:srgbClr val="000000"/>
              </a:solidFill>
              <a:round/>
              <a:headEnd/>
              <a:tailEnd/>
            </a:ln>
          </p:spPr>
          <p:txBody>
            <a:bodyPr wrap="none" anchor="ct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9" name="Line 1453"/>
            <p:cNvSpPr>
              <a:spLocks noChangeShapeType="1"/>
            </p:cNvSpPr>
            <p:nvPr/>
          </p:nvSpPr>
          <p:spPr bwMode="auto">
            <a:xfrm flipH="1" flipV="1">
              <a:off x="3709561" y="3230776"/>
              <a:ext cx="1361865" cy="0"/>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grpSp>
          <p:nvGrpSpPr>
            <p:cNvPr id="40" name="Group 1356"/>
            <p:cNvGrpSpPr>
              <a:grpSpLocks/>
            </p:cNvGrpSpPr>
            <p:nvPr/>
          </p:nvGrpSpPr>
          <p:grpSpPr bwMode="auto">
            <a:xfrm rot="20527939">
              <a:off x="3245534" y="2330323"/>
              <a:ext cx="653019" cy="359453"/>
              <a:chOff x="2949" y="196"/>
              <a:chExt cx="941" cy="598"/>
            </a:xfrm>
            <a:solidFill>
              <a:srgbClr val="FF9933"/>
            </a:solidFill>
          </p:grpSpPr>
          <p:sp>
            <p:nvSpPr>
              <p:cNvPr id="153" name="Oval 1357"/>
              <p:cNvSpPr>
                <a:spLocks noChangeArrowheads="1"/>
              </p:cNvSpPr>
              <p:nvPr/>
            </p:nvSpPr>
            <p:spPr bwMode="auto">
              <a:xfrm>
                <a:off x="3168" y="196"/>
                <a:ext cx="407" cy="162"/>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4" name="Oval 1358"/>
              <p:cNvSpPr>
                <a:spLocks noChangeArrowheads="1"/>
              </p:cNvSpPr>
              <p:nvPr/>
            </p:nvSpPr>
            <p:spPr bwMode="auto">
              <a:xfrm rot="900000">
                <a:off x="3512" y="252"/>
                <a:ext cx="275" cy="131"/>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5" name="Oval 1359"/>
              <p:cNvSpPr>
                <a:spLocks noChangeArrowheads="1"/>
              </p:cNvSpPr>
              <p:nvPr/>
            </p:nvSpPr>
            <p:spPr bwMode="auto">
              <a:xfrm rot="1500000">
                <a:off x="3650" y="385"/>
                <a:ext cx="240" cy="153"/>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6" name="Oval 1360"/>
              <p:cNvSpPr>
                <a:spLocks noChangeArrowheads="1"/>
              </p:cNvSpPr>
              <p:nvPr/>
            </p:nvSpPr>
            <p:spPr bwMode="auto">
              <a:xfrm rot="-1560000">
                <a:off x="3573" y="537"/>
                <a:ext cx="291" cy="18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7" name="Oval 1361"/>
              <p:cNvSpPr>
                <a:spLocks noChangeArrowheads="1"/>
              </p:cNvSpPr>
              <p:nvPr/>
            </p:nvSpPr>
            <p:spPr bwMode="auto">
              <a:xfrm>
                <a:off x="3216" y="555"/>
                <a:ext cx="471" cy="23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8" name="Oval 1362"/>
              <p:cNvSpPr>
                <a:spLocks noChangeArrowheads="1"/>
              </p:cNvSpPr>
              <p:nvPr/>
            </p:nvSpPr>
            <p:spPr bwMode="auto">
              <a:xfrm rot="1080000">
                <a:off x="3023" y="555"/>
                <a:ext cx="26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9" name="Oval 1363"/>
              <p:cNvSpPr>
                <a:spLocks noChangeArrowheads="1"/>
              </p:cNvSpPr>
              <p:nvPr/>
            </p:nvSpPr>
            <p:spPr bwMode="auto">
              <a:xfrm>
                <a:off x="2949" y="432"/>
                <a:ext cx="217"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60" name="Oval 1364"/>
              <p:cNvSpPr>
                <a:spLocks noChangeArrowheads="1"/>
              </p:cNvSpPr>
              <p:nvPr/>
            </p:nvSpPr>
            <p:spPr bwMode="auto">
              <a:xfrm rot="-1860000">
                <a:off x="2984" y="310"/>
                <a:ext cx="29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b="1">
                  <a:solidFill>
                    <a:srgbClr val="000000"/>
                  </a:solidFill>
                </a:endParaRPr>
              </a:p>
            </p:txBody>
          </p:sp>
          <p:sp>
            <p:nvSpPr>
              <p:cNvPr id="161"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62"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63"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grpSp>
        <p:sp>
          <p:nvSpPr>
            <p:cNvPr id="41" name="Text Box 1524"/>
            <p:cNvSpPr txBox="1">
              <a:spLocks noChangeArrowheads="1"/>
            </p:cNvSpPr>
            <p:nvPr/>
          </p:nvSpPr>
          <p:spPr bwMode="auto">
            <a:xfrm>
              <a:off x="3307423" y="2364960"/>
              <a:ext cx="534848" cy="310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b="1">
                  <a:latin typeface="Times New Roman" pitchFamily="18" charset="0"/>
                  <a:ea typeface="微软雅黑" pitchFamily="34" charset="-122"/>
                </a:rPr>
                <a:t>网络</a:t>
              </a:r>
            </a:p>
          </p:txBody>
        </p:sp>
        <p:grpSp>
          <p:nvGrpSpPr>
            <p:cNvPr id="42" name="组合 41"/>
            <p:cNvGrpSpPr/>
            <p:nvPr/>
          </p:nvGrpSpPr>
          <p:grpSpPr>
            <a:xfrm>
              <a:off x="845544" y="1887389"/>
              <a:ext cx="1816110" cy="1658447"/>
              <a:chOff x="845544" y="1923633"/>
              <a:chExt cx="1816110" cy="1658447"/>
            </a:xfrm>
          </p:grpSpPr>
          <p:sp>
            <p:nvSpPr>
              <p:cNvPr id="135" name="Line 1453"/>
              <p:cNvSpPr>
                <a:spLocks noChangeShapeType="1"/>
              </p:cNvSpPr>
              <p:nvPr/>
            </p:nvSpPr>
            <p:spPr bwMode="auto">
              <a:xfrm flipH="1" flipV="1">
                <a:off x="1078336" y="2552461"/>
                <a:ext cx="771926" cy="298324"/>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136" name="Line 1448"/>
              <p:cNvSpPr>
                <a:spLocks noChangeShapeType="1"/>
              </p:cNvSpPr>
              <p:nvPr/>
            </p:nvSpPr>
            <p:spPr bwMode="auto">
              <a:xfrm>
                <a:off x="1911384" y="2850218"/>
                <a:ext cx="750270" cy="0"/>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137" name="Line 1453"/>
              <p:cNvSpPr>
                <a:spLocks noChangeShapeType="1"/>
              </p:cNvSpPr>
              <p:nvPr/>
            </p:nvSpPr>
            <p:spPr bwMode="auto">
              <a:xfrm flipH="1" flipV="1">
                <a:off x="1007843" y="2071704"/>
                <a:ext cx="848145" cy="722847"/>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138" name="Line 1453"/>
              <p:cNvSpPr>
                <a:spLocks noChangeShapeType="1"/>
              </p:cNvSpPr>
              <p:nvPr/>
            </p:nvSpPr>
            <p:spPr bwMode="auto">
              <a:xfrm flipH="1">
                <a:off x="1048919" y="2865763"/>
                <a:ext cx="828791" cy="126594"/>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139" name="Line 1453"/>
              <p:cNvSpPr>
                <a:spLocks noChangeShapeType="1"/>
              </p:cNvSpPr>
              <p:nvPr/>
            </p:nvSpPr>
            <p:spPr bwMode="auto">
              <a:xfrm flipH="1">
                <a:off x="1030887" y="2889815"/>
                <a:ext cx="870738" cy="534921"/>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pic>
            <p:nvPicPr>
              <p:cNvPr id="140"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488777" y="2662388"/>
                <a:ext cx="647170" cy="3546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141" name="Group 198"/>
              <p:cNvGrpSpPr>
                <a:grpSpLocks/>
              </p:cNvGrpSpPr>
              <p:nvPr/>
            </p:nvGrpSpPr>
            <p:grpSpPr bwMode="auto">
              <a:xfrm>
                <a:off x="845544" y="2789099"/>
                <a:ext cx="370687" cy="360247"/>
                <a:chOff x="975" y="2584"/>
                <a:chExt cx="407" cy="438"/>
              </a:xfrm>
            </p:grpSpPr>
            <p:sp>
              <p:nvSpPr>
                <p:cNvPr id="151"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52"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2" name="Group 198"/>
              <p:cNvGrpSpPr>
                <a:grpSpLocks/>
              </p:cNvGrpSpPr>
              <p:nvPr/>
            </p:nvGrpSpPr>
            <p:grpSpPr bwMode="auto">
              <a:xfrm>
                <a:off x="848794" y="2356366"/>
                <a:ext cx="370687" cy="360247"/>
                <a:chOff x="975" y="2584"/>
                <a:chExt cx="407" cy="438"/>
              </a:xfrm>
            </p:grpSpPr>
            <p:sp>
              <p:nvSpPr>
                <p:cNvPr id="149"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50"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3" name="Group 198"/>
              <p:cNvGrpSpPr>
                <a:grpSpLocks/>
              </p:cNvGrpSpPr>
              <p:nvPr/>
            </p:nvGrpSpPr>
            <p:grpSpPr bwMode="auto">
              <a:xfrm>
                <a:off x="863576" y="1923633"/>
                <a:ext cx="370687" cy="360247"/>
                <a:chOff x="975" y="2584"/>
                <a:chExt cx="407" cy="438"/>
              </a:xfrm>
            </p:grpSpPr>
            <p:sp>
              <p:nvSpPr>
                <p:cNvPr id="147"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48"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198"/>
              <p:cNvGrpSpPr>
                <a:grpSpLocks/>
              </p:cNvGrpSpPr>
              <p:nvPr/>
            </p:nvGrpSpPr>
            <p:grpSpPr bwMode="auto">
              <a:xfrm>
                <a:off x="845544" y="3221833"/>
                <a:ext cx="370687" cy="360247"/>
                <a:chOff x="975" y="2584"/>
                <a:chExt cx="407" cy="438"/>
              </a:xfrm>
            </p:grpSpPr>
            <p:sp>
              <p:nvSpPr>
                <p:cNvPr id="145"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46"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pic>
          <p:nvPicPr>
            <p:cNvPr id="43" name="Picture 146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503966" y="3068755"/>
              <a:ext cx="477837"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4" name="Group 1356"/>
            <p:cNvGrpSpPr>
              <a:grpSpLocks/>
            </p:cNvGrpSpPr>
            <p:nvPr/>
          </p:nvGrpSpPr>
          <p:grpSpPr bwMode="auto">
            <a:xfrm rot="20527939">
              <a:off x="2802169" y="2930521"/>
              <a:ext cx="653019" cy="359453"/>
              <a:chOff x="2949" y="196"/>
              <a:chExt cx="941" cy="598"/>
            </a:xfrm>
            <a:solidFill>
              <a:srgbClr val="FF9933"/>
            </a:solidFill>
          </p:grpSpPr>
          <p:sp>
            <p:nvSpPr>
              <p:cNvPr id="124" name="Oval 1357"/>
              <p:cNvSpPr>
                <a:spLocks noChangeArrowheads="1"/>
              </p:cNvSpPr>
              <p:nvPr/>
            </p:nvSpPr>
            <p:spPr bwMode="auto">
              <a:xfrm>
                <a:off x="3168" y="196"/>
                <a:ext cx="407" cy="162"/>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5" name="Oval 1358"/>
              <p:cNvSpPr>
                <a:spLocks noChangeArrowheads="1"/>
              </p:cNvSpPr>
              <p:nvPr/>
            </p:nvSpPr>
            <p:spPr bwMode="auto">
              <a:xfrm rot="900000">
                <a:off x="3512" y="252"/>
                <a:ext cx="275" cy="131"/>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6" name="Oval 1359"/>
              <p:cNvSpPr>
                <a:spLocks noChangeArrowheads="1"/>
              </p:cNvSpPr>
              <p:nvPr/>
            </p:nvSpPr>
            <p:spPr bwMode="auto">
              <a:xfrm rot="1500000">
                <a:off x="3650" y="385"/>
                <a:ext cx="240" cy="153"/>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7" name="Oval 1360"/>
              <p:cNvSpPr>
                <a:spLocks noChangeArrowheads="1"/>
              </p:cNvSpPr>
              <p:nvPr/>
            </p:nvSpPr>
            <p:spPr bwMode="auto">
              <a:xfrm rot="-1560000">
                <a:off x="3573" y="537"/>
                <a:ext cx="291" cy="18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8" name="Oval 1361"/>
              <p:cNvSpPr>
                <a:spLocks noChangeArrowheads="1"/>
              </p:cNvSpPr>
              <p:nvPr/>
            </p:nvSpPr>
            <p:spPr bwMode="auto">
              <a:xfrm>
                <a:off x="3216" y="555"/>
                <a:ext cx="471" cy="23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9" name="Oval 1362"/>
              <p:cNvSpPr>
                <a:spLocks noChangeArrowheads="1"/>
              </p:cNvSpPr>
              <p:nvPr/>
            </p:nvSpPr>
            <p:spPr bwMode="auto">
              <a:xfrm rot="1080000">
                <a:off x="3023" y="555"/>
                <a:ext cx="26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30" name="Oval 1363"/>
              <p:cNvSpPr>
                <a:spLocks noChangeArrowheads="1"/>
              </p:cNvSpPr>
              <p:nvPr/>
            </p:nvSpPr>
            <p:spPr bwMode="auto">
              <a:xfrm>
                <a:off x="2949" y="432"/>
                <a:ext cx="217"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31" name="Oval 1364"/>
              <p:cNvSpPr>
                <a:spLocks noChangeArrowheads="1"/>
              </p:cNvSpPr>
              <p:nvPr/>
            </p:nvSpPr>
            <p:spPr bwMode="auto">
              <a:xfrm rot="-1860000">
                <a:off x="2984" y="310"/>
                <a:ext cx="29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b="1">
                  <a:solidFill>
                    <a:srgbClr val="000000"/>
                  </a:solidFill>
                </a:endParaRPr>
              </a:p>
            </p:txBody>
          </p:sp>
          <p:sp>
            <p:nvSpPr>
              <p:cNvPr id="132"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33"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34"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grpSp>
        <p:sp>
          <p:nvSpPr>
            <p:cNvPr id="45" name="Text Box 1524"/>
            <p:cNvSpPr txBox="1">
              <a:spLocks noChangeArrowheads="1"/>
            </p:cNvSpPr>
            <p:nvPr/>
          </p:nvSpPr>
          <p:spPr bwMode="auto">
            <a:xfrm>
              <a:off x="2864059" y="2965158"/>
              <a:ext cx="534848" cy="310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b="1" dirty="0">
                  <a:latin typeface="Times New Roman" pitchFamily="18" charset="0"/>
                  <a:ea typeface="微软雅黑" pitchFamily="34" charset="-122"/>
                </a:rPr>
                <a:t>网络</a:t>
              </a:r>
            </a:p>
          </p:txBody>
        </p:sp>
        <p:grpSp>
          <p:nvGrpSpPr>
            <p:cNvPr id="46" name="Group 1356"/>
            <p:cNvGrpSpPr>
              <a:grpSpLocks/>
            </p:cNvGrpSpPr>
            <p:nvPr/>
          </p:nvGrpSpPr>
          <p:grpSpPr bwMode="auto">
            <a:xfrm rot="20527939">
              <a:off x="4076210" y="3031866"/>
              <a:ext cx="653019" cy="359453"/>
              <a:chOff x="2949" y="196"/>
              <a:chExt cx="941" cy="598"/>
            </a:xfrm>
            <a:solidFill>
              <a:srgbClr val="FF9933"/>
            </a:solidFill>
          </p:grpSpPr>
          <p:sp>
            <p:nvSpPr>
              <p:cNvPr id="113" name="Oval 1357"/>
              <p:cNvSpPr>
                <a:spLocks noChangeArrowheads="1"/>
              </p:cNvSpPr>
              <p:nvPr/>
            </p:nvSpPr>
            <p:spPr bwMode="auto">
              <a:xfrm>
                <a:off x="3168" y="196"/>
                <a:ext cx="407" cy="162"/>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4" name="Oval 1358"/>
              <p:cNvSpPr>
                <a:spLocks noChangeArrowheads="1"/>
              </p:cNvSpPr>
              <p:nvPr/>
            </p:nvSpPr>
            <p:spPr bwMode="auto">
              <a:xfrm rot="900000">
                <a:off x="3512" y="252"/>
                <a:ext cx="275" cy="131"/>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5" name="Oval 1359"/>
              <p:cNvSpPr>
                <a:spLocks noChangeArrowheads="1"/>
              </p:cNvSpPr>
              <p:nvPr/>
            </p:nvSpPr>
            <p:spPr bwMode="auto">
              <a:xfrm rot="1500000">
                <a:off x="3650" y="385"/>
                <a:ext cx="240" cy="153"/>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6" name="Oval 1360"/>
              <p:cNvSpPr>
                <a:spLocks noChangeArrowheads="1"/>
              </p:cNvSpPr>
              <p:nvPr/>
            </p:nvSpPr>
            <p:spPr bwMode="auto">
              <a:xfrm rot="-1560000">
                <a:off x="3573" y="537"/>
                <a:ext cx="291" cy="18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7" name="Oval 1361"/>
              <p:cNvSpPr>
                <a:spLocks noChangeArrowheads="1"/>
              </p:cNvSpPr>
              <p:nvPr/>
            </p:nvSpPr>
            <p:spPr bwMode="auto">
              <a:xfrm>
                <a:off x="3216" y="555"/>
                <a:ext cx="471" cy="23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8" name="Oval 1362"/>
              <p:cNvSpPr>
                <a:spLocks noChangeArrowheads="1"/>
              </p:cNvSpPr>
              <p:nvPr/>
            </p:nvSpPr>
            <p:spPr bwMode="auto">
              <a:xfrm rot="1080000">
                <a:off x="3023" y="555"/>
                <a:ext cx="26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9" name="Oval 1363"/>
              <p:cNvSpPr>
                <a:spLocks noChangeArrowheads="1"/>
              </p:cNvSpPr>
              <p:nvPr/>
            </p:nvSpPr>
            <p:spPr bwMode="auto">
              <a:xfrm>
                <a:off x="2949" y="432"/>
                <a:ext cx="217"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0" name="Oval 1364"/>
              <p:cNvSpPr>
                <a:spLocks noChangeArrowheads="1"/>
              </p:cNvSpPr>
              <p:nvPr/>
            </p:nvSpPr>
            <p:spPr bwMode="auto">
              <a:xfrm rot="-1860000">
                <a:off x="2984" y="310"/>
                <a:ext cx="29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b="1">
                  <a:solidFill>
                    <a:srgbClr val="000000"/>
                  </a:solidFill>
                </a:endParaRPr>
              </a:p>
            </p:txBody>
          </p:sp>
          <p:sp>
            <p:nvSpPr>
              <p:cNvPr id="121"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22"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23"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grpSp>
        <p:sp>
          <p:nvSpPr>
            <p:cNvPr id="47" name="Text Box 1524"/>
            <p:cNvSpPr txBox="1">
              <a:spLocks noChangeArrowheads="1"/>
            </p:cNvSpPr>
            <p:nvPr/>
          </p:nvSpPr>
          <p:spPr bwMode="auto">
            <a:xfrm>
              <a:off x="4138099" y="3066503"/>
              <a:ext cx="534848" cy="310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b="1">
                  <a:latin typeface="Times New Roman" pitchFamily="18" charset="0"/>
                  <a:ea typeface="微软雅黑" pitchFamily="34" charset="-122"/>
                </a:rPr>
                <a:t>网络</a:t>
              </a:r>
            </a:p>
          </p:txBody>
        </p:sp>
        <p:grpSp>
          <p:nvGrpSpPr>
            <p:cNvPr id="48" name="组合 47"/>
            <p:cNvGrpSpPr/>
            <p:nvPr/>
          </p:nvGrpSpPr>
          <p:grpSpPr>
            <a:xfrm flipH="1">
              <a:off x="6334109" y="1887389"/>
              <a:ext cx="1816110" cy="1658447"/>
              <a:chOff x="7402793" y="1449868"/>
              <a:chExt cx="1816110" cy="1658447"/>
            </a:xfrm>
          </p:grpSpPr>
          <p:sp>
            <p:nvSpPr>
              <p:cNvPr id="95" name="Line 1453"/>
              <p:cNvSpPr>
                <a:spLocks noChangeShapeType="1"/>
              </p:cNvSpPr>
              <p:nvPr/>
            </p:nvSpPr>
            <p:spPr bwMode="auto">
              <a:xfrm flipH="1" flipV="1">
                <a:off x="7635585" y="2078696"/>
                <a:ext cx="771926" cy="298324"/>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96" name="Line 1448"/>
              <p:cNvSpPr>
                <a:spLocks noChangeShapeType="1"/>
              </p:cNvSpPr>
              <p:nvPr/>
            </p:nvSpPr>
            <p:spPr bwMode="auto">
              <a:xfrm>
                <a:off x="8468633" y="2376453"/>
                <a:ext cx="750270" cy="0"/>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97" name="Line 1453"/>
              <p:cNvSpPr>
                <a:spLocks noChangeShapeType="1"/>
              </p:cNvSpPr>
              <p:nvPr/>
            </p:nvSpPr>
            <p:spPr bwMode="auto">
              <a:xfrm flipH="1" flipV="1">
                <a:off x="7565092" y="1597939"/>
                <a:ext cx="848145" cy="722847"/>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98" name="Line 1453"/>
              <p:cNvSpPr>
                <a:spLocks noChangeShapeType="1"/>
              </p:cNvSpPr>
              <p:nvPr/>
            </p:nvSpPr>
            <p:spPr bwMode="auto">
              <a:xfrm flipH="1">
                <a:off x="7606168" y="2391998"/>
                <a:ext cx="828791" cy="126594"/>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99" name="Line 1453"/>
              <p:cNvSpPr>
                <a:spLocks noChangeShapeType="1"/>
              </p:cNvSpPr>
              <p:nvPr/>
            </p:nvSpPr>
            <p:spPr bwMode="auto">
              <a:xfrm flipH="1">
                <a:off x="7588136" y="2416050"/>
                <a:ext cx="870738" cy="534921"/>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pic>
            <p:nvPicPr>
              <p:cNvPr id="100"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046026" y="2188623"/>
                <a:ext cx="647170" cy="3546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101" name="Group 198"/>
              <p:cNvGrpSpPr>
                <a:grpSpLocks/>
              </p:cNvGrpSpPr>
              <p:nvPr/>
            </p:nvGrpSpPr>
            <p:grpSpPr bwMode="auto">
              <a:xfrm>
                <a:off x="7402793" y="2315334"/>
                <a:ext cx="370687" cy="360247"/>
                <a:chOff x="975" y="2584"/>
                <a:chExt cx="407" cy="438"/>
              </a:xfrm>
            </p:grpSpPr>
            <p:sp>
              <p:nvSpPr>
                <p:cNvPr id="111"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12"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2" name="Group 198"/>
              <p:cNvGrpSpPr>
                <a:grpSpLocks/>
              </p:cNvGrpSpPr>
              <p:nvPr/>
            </p:nvGrpSpPr>
            <p:grpSpPr bwMode="auto">
              <a:xfrm>
                <a:off x="7406043" y="1882601"/>
                <a:ext cx="370687" cy="360247"/>
                <a:chOff x="975" y="2584"/>
                <a:chExt cx="407" cy="438"/>
              </a:xfrm>
            </p:grpSpPr>
            <p:sp>
              <p:nvSpPr>
                <p:cNvPr id="109"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10"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3" name="Group 198"/>
              <p:cNvGrpSpPr>
                <a:grpSpLocks/>
              </p:cNvGrpSpPr>
              <p:nvPr/>
            </p:nvGrpSpPr>
            <p:grpSpPr bwMode="auto">
              <a:xfrm>
                <a:off x="7420825" y="1449868"/>
                <a:ext cx="370687" cy="360247"/>
                <a:chOff x="975" y="2584"/>
                <a:chExt cx="407" cy="438"/>
              </a:xfrm>
            </p:grpSpPr>
            <p:sp>
              <p:nvSpPr>
                <p:cNvPr id="107"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08"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4" name="Group 198"/>
              <p:cNvGrpSpPr>
                <a:grpSpLocks/>
              </p:cNvGrpSpPr>
              <p:nvPr/>
            </p:nvGrpSpPr>
            <p:grpSpPr bwMode="auto">
              <a:xfrm>
                <a:off x="7402793" y="2748068"/>
                <a:ext cx="370687" cy="360247"/>
                <a:chOff x="975" y="2584"/>
                <a:chExt cx="407" cy="438"/>
              </a:xfrm>
            </p:grpSpPr>
            <p:sp>
              <p:nvSpPr>
                <p:cNvPr id="105"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06"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49" name="Line 1440"/>
            <p:cNvSpPr>
              <a:spLocks noChangeShapeType="1"/>
            </p:cNvSpPr>
            <p:nvPr/>
          </p:nvSpPr>
          <p:spPr bwMode="auto">
            <a:xfrm flipH="1" flipV="1">
              <a:off x="4767840" y="2331160"/>
              <a:ext cx="1699237" cy="414649"/>
            </a:xfrm>
            <a:prstGeom prst="line">
              <a:avLst/>
            </a:prstGeom>
            <a:noFill/>
            <a:ln w="19050">
              <a:solidFill>
                <a:srgbClr val="000000"/>
              </a:solidFill>
              <a:round/>
              <a:headEnd/>
              <a:tailEnd/>
            </a:ln>
          </p:spPr>
          <p:txBody>
            <a:bodyPr wrap="none" anchor="ctr"/>
            <a:lstStyle/>
            <a:p>
              <a:pPr fontAlgn="auto">
                <a:spcBef>
                  <a:spcPts val="0"/>
                </a:spcBef>
                <a:spcAft>
                  <a:spcPts val="0"/>
                </a:spcAft>
                <a:defRPr/>
              </a:pPr>
              <a:endParaRPr lang="zh-CN" altLang="en-US" sz="2000" b="1" kern="0">
                <a:solidFill>
                  <a:sysClr val="windowText" lastClr="000000"/>
                </a:solidFill>
                <a:latin typeface="+mn-lt"/>
                <a:ea typeface="+mn-ea"/>
              </a:endParaRPr>
            </a:p>
          </p:txBody>
        </p:sp>
        <p:grpSp>
          <p:nvGrpSpPr>
            <p:cNvPr id="50" name="Group 1356"/>
            <p:cNvGrpSpPr>
              <a:grpSpLocks/>
            </p:cNvGrpSpPr>
            <p:nvPr/>
          </p:nvGrpSpPr>
          <p:grpSpPr bwMode="auto">
            <a:xfrm rot="20527939">
              <a:off x="5111738" y="2271586"/>
              <a:ext cx="653019" cy="359453"/>
              <a:chOff x="2949" y="196"/>
              <a:chExt cx="941" cy="598"/>
            </a:xfrm>
            <a:solidFill>
              <a:srgbClr val="FF9933"/>
            </a:solidFill>
          </p:grpSpPr>
          <p:sp>
            <p:nvSpPr>
              <p:cNvPr id="84" name="Oval 1357"/>
              <p:cNvSpPr>
                <a:spLocks noChangeArrowheads="1"/>
              </p:cNvSpPr>
              <p:nvPr/>
            </p:nvSpPr>
            <p:spPr bwMode="auto">
              <a:xfrm>
                <a:off x="3168" y="196"/>
                <a:ext cx="407" cy="162"/>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5" name="Oval 1358"/>
              <p:cNvSpPr>
                <a:spLocks noChangeArrowheads="1"/>
              </p:cNvSpPr>
              <p:nvPr/>
            </p:nvSpPr>
            <p:spPr bwMode="auto">
              <a:xfrm rot="900000">
                <a:off x="3512" y="252"/>
                <a:ext cx="275" cy="131"/>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6" name="Oval 1359"/>
              <p:cNvSpPr>
                <a:spLocks noChangeArrowheads="1"/>
              </p:cNvSpPr>
              <p:nvPr/>
            </p:nvSpPr>
            <p:spPr bwMode="auto">
              <a:xfrm rot="1500000">
                <a:off x="3650" y="385"/>
                <a:ext cx="240" cy="153"/>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7" name="Oval 1360"/>
              <p:cNvSpPr>
                <a:spLocks noChangeArrowheads="1"/>
              </p:cNvSpPr>
              <p:nvPr/>
            </p:nvSpPr>
            <p:spPr bwMode="auto">
              <a:xfrm rot="-1560000">
                <a:off x="3573" y="537"/>
                <a:ext cx="291" cy="18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8" name="Oval 1361"/>
              <p:cNvSpPr>
                <a:spLocks noChangeArrowheads="1"/>
              </p:cNvSpPr>
              <p:nvPr/>
            </p:nvSpPr>
            <p:spPr bwMode="auto">
              <a:xfrm>
                <a:off x="3216" y="555"/>
                <a:ext cx="471" cy="23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9" name="Oval 1362"/>
              <p:cNvSpPr>
                <a:spLocks noChangeArrowheads="1"/>
              </p:cNvSpPr>
              <p:nvPr/>
            </p:nvSpPr>
            <p:spPr bwMode="auto">
              <a:xfrm rot="1080000">
                <a:off x="3023" y="555"/>
                <a:ext cx="26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90" name="Oval 1363"/>
              <p:cNvSpPr>
                <a:spLocks noChangeArrowheads="1"/>
              </p:cNvSpPr>
              <p:nvPr/>
            </p:nvSpPr>
            <p:spPr bwMode="auto">
              <a:xfrm>
                <a:off x="2949" y="432"/>
                <a:ext cx="217"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91" name="Oval 1364"/>
              <p:cNvSpPr>
                <a:spLocks noChangeArrowheads="1"/>
              </p:cNvSpPr>
              <p:nvPr/>
            </p:nvSpPr>
            <p:spPr bwMode="auto">
              <a:xfrm rot="-1860000">
                <a:off x="2984" y="310"/>
                <a:ext cx="29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b="1">
                  <a:solidFill>
                    <a:srgbClr val="000000"/>
                  </a:solidFill>
                </a:endParaRPr>
              </a:p>
            </p:txBody>
          </p:sp>
          <p:sp>
            <p:nvSpPr>
              <p:cNvPr id="92"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93"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94"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grpSp>
        <p:sp>
          <p:nvSpPr>
            <p:cNvPr id="51" name="Text Box 1524"/>
            <p:cNvSpPr txBox="1">
              <a:spLocks noChangeArrowheads="1"/>
            </p:cNvSpPr>
            <p:nvPr/>
          </p:nvSpPr>
          <p:spPr bwMode="auto">
            <a:xfrm>
              <a:off x="5173628" y="2306223"/>
              <a:ext cx="534848" cy="310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b="1">
                  <a:latin typeface="Times New Roman" pitchFamily="18" charset="0"/>
                  <a:ea typeface="微软雅黑" pitchFamily="34" charset="-122"/>
                </a:rPr>
                <a:t>网络</a:t>
              </a:r>
            </a:p>
          </p:txBody>
        </p:sp>
        <p:sp>
          <p:nvSpPr>
            <p:cNvPr id="52" name="Line 1480"/>
            <p:cNvSpPr>
              <a:spLocks noChangeShapeType="1"/>
            </p:cNvSpPr>
            <p:nvPr/>
          </p:nvSpPr>
          <p:spPr bwMode="auto">
            <a:xfrm flipH="1">
              <a:off x="5264823" y="2836209"/>
              <a:ext cx="1011511" cy="389174"/>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pic>
          <p:nvPicPr>
            <p:cNvPr id="53" name="Picture 146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07997" y="3078094"/>
              <a:ext cx="477837"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4" name="Group 1356"/>
            <p:cNvGrpSpPr>
              <a:grpSpLocks/>
            </p:cNvGrpSpPr>
            <p:nvPr/>
          </p:nvGrpSpPr>
          <p:grpSpPr bwMode="auto">
            <a:xfrm rot="20527939">
              <a:off x="5424528" y="2830940"/>
              <a:ext cx="653019" cy="359453"/>
              <a:chOff x="2949" y="196"/>
              <a:chExt cx="941" cy="598"/>
            </a:xfrm>
            <a:solidFill>
              <a:srgbClr val="FF9933"/>
            </a:solidFill>
          </p:grpSpPr>
          <p:sp>
            <p:nvSpPr>
              <p:cNvPr id="73" name="Oval 1357"/>
              <p:cNvSpPr>
                <a:spLocks noChangeArrowheads="1"/>
              </p:cNvSpPr>
              <p:nvPr/>
            </p:nvSpPr>
            <p:spPr bwMode="auto">
              <a:xfrm>
                <a:off x="3168" y="196"/>
                <a:ext cx="407" cy="162"/>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4" name="Oval 1358"/>
              <p:cNvSpPr>
                <a:spLocks noChangeArrowheads="1"/>
              </p:cNvSpPr>
              <p:nvPr/>
            </p:nvSpPr>
            <p:spPr bwMode="auto">
              <a:xfrm rot="900000">
                <a:off x="3512" y="252"/>
                <a:ext cx="275" cy="131"/>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5" name="Oval 1359"/>
              <p:cNvSpPr>
                <a:spLocks noChangeArrowheads="1"/>
              </p:cNvSpPr>
              <p:nvPr/>
            </p:nvSpPr>
            <p:spPr bwMode="auto">
              <a:xfrm rot="1500000">
                <a:off x="3650" y="385"/>
                <a:ext cx="240" cy="153"/>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6" name="Oval 1360"/>
              <p:cNvSpPr>
                <a:spLocks noChangeArrowheads="1"/>
              </p:cNvSpPr>
              <p:nvPr/>
            </p:nvSpPr>
            <p:spPr bwMode="auto">
              <a:xfrm rot="-1560000">
                <a:off x="3573" y="537"/>
                <a:ext cx="291" cy="18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7" name="Oval 1361"/>
              <p:cNvSpPr>
                <a:spLocks noChangeArrowheads="1"/>
              </p:cNvSpPr>
              <p:nvPr/>
            </p:nvSpPr>
            <p:spPr bwMode="auto">
              <a:xfrm>
                <a:off x="3216" y="555"/>
                <a:ext cx="471" cy="23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8" name="Oval 1362"/>
              <p:cNvSpPr>
                <a:spLocks noChangeArrowheads="1"/>
              </p:cNvSpPr>
              <p:nvPr/>
            </p:nvSpPr>
            <p:spPr bwMode="auto">
              <a:xfrm rot="1080000">
                <a:off x="3023" y="555"/>
                <a:ext cx="26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9" name="Oval 1363"/>
              <p:cNvSpPr>
                <a:spLocks noChangeArrowheads="1"/>
              </p:cNvSpPr>
              <p:nvPr/>
            </p:nvSpPr>
            <p:spPr bwMode="auto">
              <a:xfrm>
                <a:off x="2949" y="432"/>
                <a:ext cx="217"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0" name="Oval 1364"/>
              <p:cNvSpPr>
                <a:spLocks noChangeArrowheads="1"/>
              </p:cNvSpPr>
              <p:nvPr/>
            </p:nvSpPr>
            <p:spPr bwMode="auto">
              <a:xfrm rot="-1860000">
                <a:off x="2984" y="310"/>
                <a:ext cx="29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b="1">
                  <a:solidFill>
                    <a:srgbClr val="000000"/>
                  </a:solidFill>
                </a:endParaRPr>
              </a:p>
            </p:txBody>
          </p:sp>
          <p:sp>
            <p:nvSpPr>
              <p:cNvPr id="81"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82"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83"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grpSp>
        <p:sp>
          <p:nvSpPr>
            <p:cNvPr id="55" name="Text Box 1524"/>
            <p:cNvSpPr txBox="1">
              <a:spLocks noChangeArrowheads="1"/>
            </p:cNvSpPr>
            <p:nvPr/>
          </p:nvSpPr>
          <p:spPr bwMode="auto">
            <a:xfrm>
              <a:off x="5486418" y="2865577"/>
              <a:ext cx="534848" cy="310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b="1">
                  <a:latin typeface="Times New Roman" pitchFamily="18" charset="0"/>
                  <a:ea typeface="微软雅黑" pitchFamily="34" charset="-122"/>
                </a:rPr>
                <a:t>网络</a:t>
              </a:r>
            </a:p>
          </p:txBody>
        </p:sp>
        <p:pic>
          <p:nvPicPr>
            <p:cNvPr id="56" name="Picture 146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379063" y="2690391"/>
              <a:ext cx="477837"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7" name="Text Box 178"/>
            <p:cNvSpPr txBox="1">
              <a:spLocks noChangeArrowheads="1"/>
            </p:cNvSpPr>
            <p:nvPr/>
          </p:nvSpPr>
          <p:spPr bwMode="auto">
            <a:xfrm>
              <a:off x="2329938" y="2503502"/>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A</a:t>
              </a:r>
            </a:p>
          </p:txBody>
        </p:sp>
        <p:sp>
          <p:nvSpPr>
            <p:cNvPr id="58" name="Text Box 178"/>
            <p:cNvSpPr txBox="1">
              <a:spLocks noChangeArrowheads="1"/>
            </p:cNvSpPr>
            <p:nvPr/>
          </p:nvSpPr>
          <p:spPr bwMode="auto">
            <a:xfrm>
              <a:off x="4410798" y="2420607"/>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B</a:t>
              </a:r>
            </a:p>
          </p:txBody>
        </p:sp>
        <p:sp>
          <p:nvSpPr>
            <p:cNvPr id="59" name="Text Box 178"/>
            <p:cNvSpPr txBox="1">
              <a:spLocks noChangeArrowheads="1"/>
            </p:cNvSpPr>
            <p:nvPr/>
          </p:nvSpPr>
          <p:spPr bwMode="auto">
            <a:xfrm>
              <a:off x="3578563" y="2864869"/>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C</a:t>
              </a:r>
            </a:p>
          </p:txBody>
        </p:sp>
        <p:sp>
          <p:nvSpPr>
            <p:cNvPr id="60" name="Text Box 178"/>
            <p:cNvSpPr txBox="1">
              <a:spLocks noChangeArrowheads="1"/>
            </p:cNvSpPr>
            <p:nvPr/>
          </p:nvSpPr>
          <p:spPr bwMode="auto">
            <a:xfrm>
              <a:off x="4976249" y="2872273"/>
              <a:ext cx="30649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D</a:t>
              </a:r>
            </a:p>
          </p:txBody>
        </p:sp>
        <p:cxnSp>
          <p:nvCxnSpPr>
            <p:cNvPr id="62" name="直接连接符 61"/>
            <p:cNvCxnSpPr>
              <a:stCxn id="56" idx="0"/>
            </p:cNvCxnSpPr>
            <p:nvPr/>
          </p:nvCxnSpPr>
          <p:spPr>
            <a:xfrm flipH="1" flipV="1">
              <a:off x="2422461" y="2276855"/>
              <a:ext cx="195521" cy="413536"/>
            </a:xfrm>
            <a:prstGeom prst="line">
              <a:avLst/>
            </a:prstGeom>
            <a:ln w="19050">
              <a:solidFill>
                <a:schemeClr val="tx1"/>
              </a:solidFill>
            </a:ln>
          </p:spPr>
          <p:style>
            <a:lnRef idx="1">
              <a:schemeClr val="dk1"/>
            </a:lnRef>
            <a:fillRef idx="0">
              <a:schemeClr val="dk1"/>
            </a:fillRef>
            <a:effectRef idx="0">
              <a:schemeClr val="dk1"/>
            </a:effectRef>
            <a:fontRef idx="minor">
              <a:schemeClr val="tx1"/>
            </a:fontRef>
          </p:style>
        </p:cxnSp>
        <p:cxnSp>
          <p:nvCxnSpPr>
            <p:cNvPr id="63" name="直接连接符 62"/>
            <p:cNvCxnSpPr>
              <a:stCxn id="68" idx="0"/>
            </p:cNvCxnSpPr>
            <p:nvPr/>
          </p:nvCxnSpPr>
          <p:spPr>
            <a:xfrm flipH="1" flipV="1">
              <a:off x="4370339" y="1720658"/>
              <a:ext cx="191893" cy="434017"/>
            </a:xfrm>
            <a:prstGeom prst="line">
              <a:avLst/>
            </a:prstGeom>
            <a:ln w="19050">
              <a:solidFill>
                <a:schemeClr val="tx1"/>
              </a:solidFill>
            </a:ln>
          </p:spPr>
          <p:style>
            <a:lnRef idx="1">
              <a:schemeClr val="dk1"/>
            </a:lnRef>
            <a:fillRef idx="0">
              <a:schemeClr val="dk1"/>
            </a:fillRef>
            <a:effectRef idx="0">
              <a:schemeClr val="dk1"/>
            </a:effectRef>
            <a:fontRef idx="minor">
              <a:schemeClr val="tx1"/>
            </a:fontRef>
          </p:style>
        </p:cxnSp>
        <p:cxnSp>
          <p:nvCxnSpPr>
            <p:cNvPr id="64" name="直接箭头连接符 63"/>
            <p:cNvCxnSpPr/>
            <p:nvPr/>
          </p:nvCxnSpPr>
          <p:spPr>
            <a:xfrm flipV="1">
              <a:off x="2507687" y="1868917"/>
              <a:ext cx="1924638" cy="616113"/>
            </a:xfrm>
            <a:prstGeom prst="straightConnector1">
              <a:avLst/>
            </a:prstGeom>
            <a:ln w="9525">
              <a:solidFill>
                <a:schemeClr val="tx1"/>
              </a:solidFill>
              <a:headEnd type="triangle"/>
              <a:tailEnd type="triangle"/>
            </a:ln>
          </p:spPr>
          <p:style>
            <a:lnRef idx="1">
              <a:schemeClr val="dk1"/>
            </a:lnRef>
            <a:fillRef idx="0">
              <a:schemeClr val="dk1"/>
            </a:fillRef>
            <a:effectRef idx="0">
              <a:schemeClr val="dk1"/>
            </a:effectRef>
            <a:fontRef idx="minor">
              <a:schemeClr val="tx1"/>
            </a:fontRef>
          </p:style>
        </p:cxnSp>
        <p:sp>
          <p:nvSpPr>
            <p:cNvPr id="65" name="Text Box 178"/>
            <p:cNvSpPr txBox="1">
              <a:spLocks noChangeArrowheads="1"/>
            </p:cNvSpPr>
            <p:nvPr/>
          </p:nvSpPr>
          <p:spPr bwMode="auto">
            <a:xfrm rot="20617256">
              <a:off x="2955477" y="1837177"/>
              <a:ext cx="1027085" cy="3653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FF"/>
                  </a:solidFill>
                  <a:latin typeface="微软雅黑" pitchFamily="34" charset="-122"/>
                  <a:ea typeface="微软雅黑" pitchFamily="34" charset="-122"/>
                </a:rPr>
                <a:t>跳数 </a:t>
              </a:r>
              <a:r>
                <a:rPr kumimoji="1" lang="en-US" altLang="zh-CN" sz="1400" b="1" dirty="0">
                  <a:solidFill>
                    <a:srgbClr val="0000FF"/>
                  </a:solidFill>
                  <a:latin typeface="微软雅黑" pitchFamily="34" charset="-122"/>
                  <a:ea typeface="微软雅黑" pitchFamily="34" charset="-122"/>
                </a:rPr>
                <a:t>= 1</a:t>
              </a:r>
            </a:p>
          </p:txBody>
        </p:sp>
        <p:grpSp>
          <p:nvGrpSpPr>
            <p:cNvPr id="66" name="组合 65"/>
            <p:cNvGrpSpPr/>
            <p:nvPr/>
          </p:nvGrpSpPr>
          <p:grpSpPr>
            <a:xfrm rot="21386230" flipH="1">
              <a:off x="4615031" y="1680812"/>
              <a:ext cx="1982724" cy="1151238"/>
              <a:chOff x="5293476" y="872107"/>
              <a:chExt cx="1982724" cy="1151238"/>
            </a:xfrm>
          </p:grpSpPr>
          <p:cxnSp>
            <p:nvCxnSpPr>
              <p:cNvPr id="69" name="直接连接符 68"/>
              <p:cNvCxnSpPr/>
              <p:nvPr/>
            </p:nvCxnSpPr>
            <p:spPr>
              <a:xfrm rot="21386230" flipH="1" flipV="1">
                <a:off x="5293476" y="1411915"/>
                <a:ext cx="231465" cy="611430"/>
              </a:xfrm>
              <a:prstGeom prst="line">
                <a:avLst/>
              </a:prstGeom>
              <a:ln w="19050">
                <a:solidFill>
                  <a:schemeClr val="tx1"/>
                </a:solidFill>
              </a:ln>
            </p:spPr>
            <p:style>
              <a:lnRef idx="1">
                <a:schemeClr val="dk1"/>
              </a:lnRef>
              <a:fillRef idx="0">
                <a:schemeClr val="dk1"/>
              </a:fillRef>
              <a:effectRef idx="0">
                <a:schemeClr val="dk1"/>
              </a:effectRef>
              <a:fontRef idx="minor">
                <a:schemeClr val="tx1"/>
              </a:fontRef>
            </p:style>
          </p:cxnSp>
          <p:cxnSp>
            <p:nvCxnSpPr>
              <p:cNvPr id="70" name="直接连接符 69"/>
              <p:cNvCxnSpPr/>
              <p:nvPr/>
            </p:nvCxnSpPr>
            <p:spPr>
              <a:xfrm flipH="1" flipV="1">
                <a:off x="7084307" y="872107"/>
                <a:ext cx="191893" cy="434017"/>
              </a:xfrm>
              <a:prstGeom prst="line">
                <a:avLst/>
              </a:prstGeom>
              <a:ln w="19050">
                <a:solidFill>
                  <a:schemeClr val="tx1"/>
                </a:solidFill>
              </a:ln>
            </p:spPr>
            <p:style>
              <a:lnRef idx="1">
                <a:schemeClr val="dk1"/>
              </a:lnRef>
              <a:fillRef idx="0">
                <a:schemeClr val="dk1"/>
              </a:fillRef>
              <a:effectRef idx="0">
                <a:schemeClr val="dk1"/>
              </a:effectRef>
              <a:fontRef idx="minor">
                <a:schemeClr val="tx1"/>
              </a:fontRef>
            </p:style>
          </p:cxnSp>
          <p:cxnSp>
            <p:nvCxnSpPr>
              <p:cNvPr id="71" name="直接箭头连接符 70"/>
              <p:cNvCxnSpPr/>
              <p:nvPr/>
            </p:nvCxnSpPr>
            <p:spPr>
              <a:xfrm rot="21386230" flipV="1">
                <a:off x="5346994" y="1076328"/>
                <a:ext cx="1815356" cy="460323"/>
              </a:xfrm>
              <a:prstGeom prst="straightConnector1">
                <a:avLst/>
              </a:prstGeom>
              <a:ln w="9525">
                <a:solidFill>
                  <a:schemeClr val="tx1"/>
                </a:solidFill>
                <a:headEnd type="triangle"/>
                <a:tailEnd type="triangle"/>
              </a:ln>
            </p:spPr>
            <p:style>
              <a:lnRef idx="1">
                <a:schemeClr val="dk1"/>
              </a:lnRef>
              <a:fillRef idx="0">
                <a:schemeClr val="dk1"/>
              </a:fillRef>
              <a:effectRef idx="0">
                <a:schemeClr val="dk1"/>
              </a:effectRef>
              <a:fontRef idx="minor">
                <a:schemeClr val="tx1"/>
              </a:fontRef>
            </p:style>
          </p:cxnSp>
          <p:sp>
            <p:nvSpPr>
              <p:cNvPr id="72" name="Text Box 178"/>
              <p:cNvSpPr txBox="1">
                <a:spLocks noChangeArrowheads="1"/>
              </p:cNvSpPr>
              <p:nvPr/>
            </p:nvSpPr>
            <p:spPr bwMode="auto">
              <a:xfrm rot="20617256">
                <a:off x="5657135" y="985903"/>
                <a:ext cx="1027085" cy="365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FF"/>
                    </a:solidFill>
                    <a:latin typeface="微软雅黑" pitchFamily="34" charset="-122"/>
                    <a:ea typeface="微软雅黑" pitchFamily="34" charset="-122"/>
                  </a:rPr>
                  <a:t>跳数 </a:t>
                </a:r>
                <a:r>
                  <a:rPr kumimoji="1" lang="en-US" altLang="zh-CN" sz="1400" b="1" dirty="0">
                    <a:solidFill>
                      <a:srgbClr val="0000FF"/>
                    </a:solidFill>
                    <a:latin typeface="微软雅黑" pitchFamily="34" charset="-122"/>
                    <a:ea typeface="微软雅黑" pitchFamily="34" charset="-122"/>
                  </a:rPr>
                  <a:t>= 1</a:t>
                </a:r>
              </a:p>
            </p:txBody>
          </p:sp>
        </p:grpSp>
        <p:pic>
          <p:nvPicPr>
            <p:cNvPr id="67" name="Picture 146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182547" y="2652108"/>
              <a:ext cx="477837"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 name="Picture 146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324107" y="2154675"/>
              <a:ext cx="476250"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Text Box 178"/>
            <p:cNvSpPr txBox="1">
              <a:spLocks noChangeArrowheads="1"/>
            </p:cNvSpPr>
            <p:nvPr/>
          </p:nvSpPr>
          <p:spPr bwMode="auto">
            <a:xfrm>
              <a:off x="6398986" y="2466197"/>
              <a:ext cx="27283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E</a:t>
              </a:r>
            </a:p>
          </p:txBody>
        </p:sp>
      </p:grpSp>
      <p:sp>
        <p:nvSpPr>
          <p:cNvPr id="164" name="Text Box 178"/>
          <p:cNvSpPr txBox="1">
            <a:spLocks noChangeArrowheads="1"/>
          </p:cNvSpPr>
          <p:nvPr/>
        </p:nvSpPr>
        <p:spPr bwMode="auto">
          <a:xfrm>
            <a:off x="1887135" y="4206537"/>
            <a:ext cx="5753498" cy="3744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2200"/>
              </a:lnSpc>
            </a:pPr>
            <a:r>
              <a:rPr kumimoji="1" lang="zh-CN" altLang="en-US" b="1" dirty="0">
                <a:latin typeface="微软雅黑" pitchFamily="34" charset="-122"/>
                <a:ea typeface="微软雅黑" pitchFamily="34" charset="-122"/>
              </a:rPr>
              <a:t>路由 </a:t>
            </a:r>
            <a:r>
              <a:rPr kumimoji="1" lang="en-US" altLang="zh-CN" b="1" dirty="0">
                <a:latin typeface="微软雅黑" pitchFamily="34" charset="-122"/>
                <a:ea typeface="微软雅黑" pitchFamily="34" charset="-122"/>
              </a:rPr>
              <a:t>A-B-E </a:t>
            </a:r>
            <a:r>
              <a:rPr kumimoji="1" lang="zh-CN" altLang="en-US" b="1" dirty="0">
                <a:latin typeface="微软雅黑" pitchFamily="34" charset="-122"/>
                <a:ea typeface="微软雅黑" pitchFamily="34" charset="-122"/>
              </a:rPr>
              <a:t>的距离 </a:t>
            </a:r>
            <a:r>
              <a:rPr kumimoji="1" lang="en-US" altLang="zh-CN" b="1" dirty="0">
                <a:latin typeface="微软雅黑" pitchFamily="34" charset="-122"/>
                <a:ea typeface="微软雅黑" pitchFamily="34" charset="-122"/>
              </a:rPr>
              <a:t>= 2</a:t>
            </a:r>
            <a:r>
              <a:rPr kumimoji="1" lang="zh-CN" altLang="en-US" b="1" dirty="0">
                <a:latin typeface="微软雅黑" pitchFamily="34" charset="-122"/>
                <a:ea typeface="微软雅黑" pitchFamily="34" charset="-122"/>
              </a:rPr>
              <a:t>，路由 </a:t>
            </a:r>
            <a:r>
              <a:rPr kumimoji="1" lang="en-US" altLang="zh-CN" b="1" dirty="0">
                <a:latin typeface="微软雅黑" pitchFamily="34" charset="-122"/>
                <a:ea typeface="微软雅黑" pitchFamily="34" charset="-122"/>
              </a:rPr>
              <a:t>A-C-D-E </a:t>
            </a:r>
            <a:r>
              <a:rPr kumimoji="1" lang="zh-CN" altLang="en-US" b="1" dirty="0">
                <a:latin typeface="微软雅黑" pitchFamily="34" charset="-122"/>
                <a:ea typeface="微软雅黑" pitchFamily="34" charset="-122"/>
              </a:rPr>
              <a:t>的距离 </a:t>
            </a:r>
            <a:r>
              <a:rPr kumimoji="1" lang="en-US" altLang="zh-CN" b="1" dirty="0">
                <a:latin typeface="微软雅黑" pitchFamily="34" charset="-122"/>
                <a:ea typeface="微软雅黑" pitchFamily="34" charset="-122"/>
              </a:rPr>
              <a:t>= 3</a:t>
            </a:r>
            <a:r>
              <a:rPr kumimoji="1" lang="zh-CN" altLang="en-US" b="1" dirty="0">
                <a:latin typeface="微软雅黑" pitchFamily="34" charset="-122"/>
                <a:ea typeface="微软雅黑" pitchFamily="34" charset="-122"/>
              </a:rPr>
              <a:t>。</a:t>
            </a:r>
            <a:endParaRPr kumimoji="1" lang="en-US" altLang="zh-CN" b="1" dirty="0">
              <a:latin typeface="微软雅黑" pitchFamily="34" charset="-122"/>
              <a:ea typeface="微软雅黑" pitchFamily="34" charset="-122"/>
            </a:endParaRPr>
          </a:p>
        </p:txBody>
      </p:sp>
    </p:spTree>
    <p:extLst>
      <p:ext uri="{BB962C8B-B14F-4D97-AF65-F5344CB8AC3E}">
        <p14:creationId xmlns:p14="http://schemas.microsoft.com/office/powerpoint/2010/main" val="238285624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 name="圆角矩形 164"/>
          <p:cNvSpPr/>
          <p:nvPr/>
        </p:nvSpPr>
        <p:spPr>
          <a:xfrm>
            <a:off x="545144" y="2417498"/>
            <a:ext cx="8053712" cy="179670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 name="AutoShape 5"/>
          <p:cNvSpPr>
            <a:spLocks noChangeArrowheads="1"/>
          </p:cNvSpPr>
          <p:nvPr/>
        </p:nvSpPr>
        <p:spPr bwMode="auto">
          <a:xfrm>
            <a:off x="545144" y="617573"/>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58805"/>
            <a:ext cx="2492990" cy="400110"/>
          </a:xfrm>
          <a:prstGeom prst="rect">
            <a:avLst/>
          </a:prstGeom>
        </p:spPr>
        <p:txBody>
          <a:bodyPr wrap="none">
            <a:spAutoFit/>
          </a:bodyPr>
          <a:lstStyle/>
          <a:p>
            <a:r>
              <a:rPr lang="en-US" altLang="zh-CN" sz="2000" b="1" dirty="0">
                <a:highlight>
                  <a:srgbClr val="FFFF00"/>
                </a:highlight>
                <a:latin typeface="微软雅黑" pitchFamily="34" charset="-122"/>
                <a:ea typeface="微软雅黑" pitchFamily="34" charset="-122"/>
              </a:rPr>
              <a:t>RIP</a:t>
            </a:r>
            <a:r>
              <a:rPr lang="zh-CN" altLang="en-US" sz="2000" b="1" dirty="0">
                <a:highlight>
                  <a:srgbClr val="FFFF00"/>
                </a:highlight>
                <a:latin typeface="微软雅黑" pitchFamily="34" charset="-122"/>
                <a:ea typeface="微软雅黑" pitchFamily="34" charset="-122"/>
              </a:rPr>
              <a:t>“距离”的定义</a:t>
            </a:r>
          </a:p>
        </p:txBody>
      </p:sp>
      <p:sp>
        <p:nvSpPr>
          <p:cNvPr id="4" name="矩形 3"/>
          <p:cNvSpPr/>
          <p:nvPr/>
        </p:nvSpPr>
        <p:spPr>
          <a:xfrm>
            <a:off x="545144" y="932661"/>
            <a:ext cx="8053712" cy="1528624"/>
          </a:xfrm>
          <a:prstGeom prst="rect">
            <a:avLst/>
          </a:prstGeom>
        </p:spPr>
        <p:txBody>
          <a:bodyPr wrap="square">
            <a:spAutoFit/>
          </a:bodyPr>
          <a:lstStyle/>
          <a:p>
            <a:pPr marL="285750" indent="-285750">
              <a:lnSpc>
                <a:spcPts val="2800"/>
              </a:lnSpc>
              <a:buClr>
                <a:srgbClr val="0070C0"/>
              </a:buClr>
              <a:buFont typeface="Wingdings" pitchFamily="2" charset="2"/>
              <a:buChar char="l"/>
            </a:pPr>
            <a:r>
              <a:rPr lang="zh-CN" altLang="en-US" b="1" dirty="0">
                <a:latin typeface="微软雅黑" pitchFamily="34" charset="-122"/>
                <a:ea typeface="微软雅黑" pitchFamily="34" charset="-122"/>
              </a:rPr>
              <a:t>好路由 </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“距离短”的路由。</a:t>
            </a:r>
            <a:r>
              <a:rPr lang="zh-CN" altLang="en-US" b="1" dirty="0">
                <a:solidFill>
                  <a:srgbClr val="C00000"/>
                </a:solidFill>
                <a:highlight>
                  <a:srgbClr val="FFFF00"/>
                </a:highlight>
                <a:latin typeface="微软雅黑" pitchFamily="34" charset="-122"/>
                <a:ea typeface="微软雅黑" pitchFamily="34" charset="-122"/>
              </a:rPr>
              <a:t>最佳路由 </a:t>
            </a:r>
            <a:r>
              <a:rPr lang="en-US" altLang="zh-CN" b="1" dirty="0">
                <a:solidFill>
                  <a:srgbClr val="C00000"/>
                </a:solidFill>
                <a:highlight>
                  <a:srgbClr val="FFFF00"/>
                </a:highlight>
                <a:latin typeface="微软雅黑" pitchFamily="34" charset="-122"/>
                <a:ea typeface="微软雅黑" pitchFamily="34" charset="-122"/>
              </a:rPr>
              <a:t>= </a:t>
            </a:r>
            <a:r>
              <a:rPr lang="zh-CN" altLang="en-US" b="1" dirty="0">
                <a:solidFill>
                  <a:srgbClr val="C00000"/>
                </a:solidFill>
                <a:highlight>
                  <a:srgbClr val="FFFF00"/>
                </a:highlight>
                <a:latin typeface="微软雅黑" pitchFamily="34" charset="-122"/>
                <a:ea typeface="微软雅黑" pitchFamily="34" charset="-122"/>
              </a:rPr>
              <a:t>“距离最短”的路由</a:t>
            </a:r>
            <a:r>
              <a:rPr lang="zh-CN" altLang="en-US" b="1" dirty="0">
                <a:solidFill>
                  <a:srgbClr val="C00000"/>
                </a:solidFill>
                <a:latin typeface="微软雅黑" pitchFamily="34" charset="-122"/>
                <a:ea typeface="微软雅黑" pitchFamily="34" charset="-122"/>
              </a:rPr>
              <a:t>。</a:t>
            </a:r>
            <a:endParaRPr lang="en-US" altLang="zh-CN" b="1" dirty="0">
              <a:solidFill>
                <a:srgbClr val="C00000"/>
              </a:solidFill>
              <a:latin typeface="微软雅黑" pitchFamily="34" charset="-122"/>
              <a:ea typeface="微软雅黑" pitchFamily="34" charset="-122"/>
            </a:endParaRPr>
          </a:p>
          <a:p>
            <a:pPr marL="285750" indent="-285750">
              <a:lnSpc>
                <a:spcPts val="2800"/>
              </a:lnSpc>
              <a:buClr>
                <a:srgbClr val="0070C0"/>
              </a:buClr>
              <a:buFont typeface="Wingdings" pitchFamily="2" charset="2"/>
              <a:buChar char="l"/>
            </a:pPr>
            <a:r>
              <a:rPr lang="zh-CN" altLang="en-US" b="1" dirty="0">
                <a:highlight>
                  <a:srgbClr val="FFFF00"/>
                </a:highlight>
                <a:latin typeface="微软雅黑" pitchFamily="34" charset="-122"/>
                <a:ea typeface="微软雅黑" pitchFamily="34" charset="-122"/>
              </a:rPr>
              <a:t>一条路径</a:t>
            </a:r>
            <a:r>
              <a:rPr lang="zh-CN" altLang="en-US" b="1" dirty="0">
                <a:solidFill>
                  <a:srgbClr val="C00000"/>
                </a:solidFill>
                <a:highlight>
                  <a:srgbClr val="FFFF00"/>
                </a:highlight>
                <a:latin typeface="微软雅黑" pitchFamily="34" charset="-122"/>
                <a:ea typeface="微软雅黑" pitchFamily="34" charset="-122"/>
              </a:rPr>
              <a:t>最多</a:t>
            </a:r>
            <a:r>
              <a:rPr lang="zh-CN" altLang="en-US" b="1" dirty="0">
                <a:highlight>
                  <a:srgbClr val="FFFF00"/>
                </a:highlight>
                <a:latin typeface="微软雅黑" pitchFamily="34" charset="-122"/>
                <a:ea typeface="微软雅黑" pitchFamily="34" charset="-122"/>
              </a:rPr>
              <a:t>只能包含 </a:t>
            </a:r>
            <a:r>
              <a:rPr lang="en-US" altLang="zh-CN" b="1" dirty="0">
                <a:solidFill>
                  <a:srgbClr val="C00000"/>
                </a:solidFill>
                <a:highlight>
                  <a:srgbClr val="FFFF00"/>
                </a:highlight>
                <a:latin typeface="微软雅黑" pitchFamily="34" charset="-122"/>
                <a:ea typeface="微软雅黑" pitchFamily="34" charset="-122"/>
              </a:rPr>
              <a:t>15</a:t>
            </a:r>
            <a:r>
              <a:rPr lang="en-US" altLang="zh-CN" b="1" dirty="0">
                <a:highlight>
                  <a:srgbClr val="FFFF00"/>
                </a:highlight>
                <a:latin typeface="微软雅黑" pitchFamily="34" charset="-122"/>
                <a:ea typeface="微软雅黑" pitchFamily="34" charset="-122"/>
              </a:rPr>
              <a:t> </a:t>
            </a:r>
            <a:r>
              <a:rPr lang="zh-CN" altLang="en-US" b="1" dirty="0">
                <a:highlight>
                  <a:srgbClr val="FFFF00"/>
                </a:highlight>
                <a:latin typeface="微软雅黑" pitchFamily="34" charset="-122"/>
                <a:ea typeface="微软雅黑" pitchFamily="34" charset="-122"/>
              </a:rPr>
              <a:t>个路由器。</a:t>
            </a:r>
            <a:endParaRPr lang="en-US" altLang="zh-CN" b="1" dirty="0">
              <a:highlight>
                <a:srgbClr val="FFFF00"/>
              </a:highlight>
              <a:latin typeface="微软雅黑" pitchFamily="34" charset="-122"/>
              <a:ea typeface="微软雅黑" pitchFamily="34" charset="-122"/>
            </a:endParaRPr>
          </a:p>
          <a:p>
            <a:pPr marL="285750" indent="-285750">
              <a:lnSpc>
                <a:spcPts val="2800"/>
              </a:lnSpc>
              <a:buClr>
                <a:srgbClr val="0070C0"/>
              </a:buClr>
              <a:buFont typeface="Wingdings" pitchFamily="2" charset="2"/>
              <a:buChar char="l"/>
            </a:pPr>
            <a:r>
              <a:rPr lang="zh-CN" altLang="en-US" b="1" dirty="0">
                <a:highlight>
                  <a:srgbClr val="FFFF00"/>
                </a:highlight>
                <a:latin typeface="微软雅黑" pitchFamily="34" charset="-122"/>
                <a:ea typeface="微软雅黑" pitchFamily="34" charset="-122"/>
              </a:rPr>
              <a:t>“距离”的</a:t>
            </a:r>
            <a:r>
              <a:rPr lang="zh-CN" altLang="en-US" b="1" dirty="0">
                <a:solidFill>
                  <a:srgbClr val="C00000"/>
                </a:solidFill>
                <a:highlight>
                  <a:srgbClr val="FFFF00"/>
                </a:highlight>
                <a:latin typeface="微软雅黑" pitchFamily="34" charset="-122"/>
                <a:ea typeface="微软雅黑" pitchFamily="34" charset="-122"/>
              </a:rPr>
              <a:t>最大值</a:t>
            </a:r>
            <a:r>
              <a:rPr lang="zh-CN" altLang="en-US" b="1" dirty="0">
                <a:highlight>
                  <a:srgbClr val="FFFF00"/>
                </a:highlight>
                <a:latin typeface="微软雅黑" pitchFamily="34" charset="-122"/>
                <a:ea typeface="微软雅黑" pitchFamily="34" charset="-122"/>
              </a:rPr>
              <a:t>为 </a:t>
            </a:r>
            <a:r>
              <a:rPr lang="en-US" altLang="zh-CN" b="1" dirty="0">
                <a:solidFill>
                  <a:srgbClr val="C00000"/>
                </a:solidFill>
                <a:highlight>
                  <a:srgbClr val="FFFF00"/>
                </a:highlight>
                <a:latin typeface="微软雅黑" pitchFamily="34" charset="-122"/>
                <a:ea typeface="微软雅黑" pitchFamily="34" charset="-122"/>
              </a:rPr>
              <a:t>16</a:t>
            </a:r>
            <a:r>
              <a:rPr lang="en-US" altLang="zh-CN" b="1" dirty="0">
                <a:highlight>
                  <a:srgbClr val="FFFF00"/>
                </a:highlight>
                <a:latin typeface="微软雅黑" pitchFamily="34" charset="-122"/>
                <a:ea typeface="微软雅黑" pitchFamily="34" charset="-122"/>
              </a:rPr>
              <a:t> </a:t>
            </a:r>
            <a:r>
              <a:rPr lang="zh-CN" altLang="en-US" b="1" dirty="0">
                <a:highlight>
                  <a:srgbClr val="FFFF00"/>
                </a:highlight>
                <a:latin typeface="微软雅黑" pitchFamily="34" charset="-122"/>
                <a:ea typeface="微软雅黑" pitchFamily="34" charset="-122"/>
              </a:rPr>
              <a:t>时即相当于</a:t>
            </a:r>
            <a:r>
              <a:rPr lang="zh-CN" altLang="en-US" b="1" dirty="0">
                <a:solidFill>
                  <a:srgbClr val="C00000"/>
                </a:solidFill>
                <a:highlight>
                  <a:srgbClr val="FFFF00"/>
                </a:highlight>
                <a:latin typeface="微软雅黑" pitchFamily="34" charset="-122"/>
                <a:ea typeface="微软雅黑" pitchFamily="34" charset="-122"/>
              </a:rPr>
              <a:t>不可达</a:t>
            </a:r>
            <a:r>
              <a:rPr lang="zh-CN" altLang="en-US" b="1" dirty="0">
                <a:solidFill>
                  <a:srgbClr val="C00000"/>
                </a:solidFill>
                <a:latin typeface="微软雅黑" pitchFamily="34" charset="-122"/>
                <a:ea typeface="微软雅黑" pitchFamily="34" charset="-122"/>
              </a:rPr>
              <a:t>。</a:t>
            </a:r>
            <a:endParaRPr lang="en-US" altLang="zh-CN" b="1" dirty="0">
              <a:solidFill>
                <a:srgbClr val="C00000"/>
              </a:solidFill>
              <a:latin typeface="微软雅黑" pitchFamily="34" charset="-122"/>
              <a:ea typeface="微软雅黑" pitchFamily="34" charset="-122"/>
            </a:endParaRPr>
          </a:p>
          <a:p>
            <a:pPr marL="285750" indent="-285750">
              <a:lnSpc>
                <a:spcPts val="2800"/>
              </a:lnSpc>
              <a:buClr>
                <a:srgbClr val="0070C0"/>
              </a:buClr>
              <a:buFont typeface="Wingdings" pitchFamily="2" charset="2"/>
              <a:buChar char="l"/>
            </a:pPr>
            <a:r>
              <a:rPr lang="en-US" altLang="zh-CN" b="1" dirty="0">
                <a:latin typeface="微软雅黑" pitchFamily="34" charset="-122"/>
                <a:ea typeface="微软雅黑" pitchFamily="34" charset="-122"/>
              </a:rPr>
              <a:t>RIP </a:t>
            </a:r>
            <a:r>
              <a:rPr lang="zh-CN" altLang="en-US" b="1" dirty="0">
                <a:solidFill>
                  <a:srgbClr val="C00000"/>
                </a:solidFill>
                <a:latin typeface="微软雅黑" pitchFamily="34" charset="-122"/>
                <a:ea typeface="微软雅黑" pitchFamily="34" charset="-122"/>
              </a:rPr>
              <a:t>不能</a:t>
            </a:r>
            <a:r>
              <a:rPr lang="zh-CN" altLang="en-US" b="1" dirty="0">
                <a:latin typeface="微软雅黑" pitchFamily="34" charset="-122"/>
                <a:ea typeface="微软雅黑" pitchFamily="34" charset="-122"/>
              </a:rPr>
              <a:t>在两个网络之间同时使用多条路由，</a:t>
            </a:r>
            <a:r>
              <a:rPr lang="zh-CN" altLang="en-US" b="1" dirty="0">
                <a:solidFill>
                  <a:srgbClr val="C00000"/>
                </a:solidFill>
                <a:latin typeface="微软雅黑" pitchFamily="34" charset="-122"/>
                <a:ea typeface="微软雅黑" pitchFamily="34" charset="-122"/>
              </a:rPr>
              <a:t>只选择</a:t>
            </a:r>
            <a:r>
              <a:rPr lang="zh-CN" altLang="en-US" b="1" dirty="0">
                <a:latin typeface="微软雅黑" pitchFamily="34" charset="-122"/>
                <a:ea typeface="微软雅黑" pitchFamily="34" charset="-122"/>
              </a:rPr>
              <a:t>距离最短”的路由。</a:t>
            </a:r>
          </a:p>
        </p:txBody>
      </p:sp>
      <p:grpSp>
        <p:nvGrpSpPr>
          <p:cNvPr id="5" name="组合 4"/>
          <p:cNvGrpSpPr/>
          <p:nvPr/>
        </p:nvGrpSpPr>
        <p:grpSpPr>
          <a:xfrm>
            <a:off x="7301733" y="3563697"/>
            <a:ext cx="1244484" cy="489218"/>
            <a:chOff x="6276334" y="3615919"/>
            <a:chExt cx="1298933" cy="503769"/>
          </a:xfrm>
        </p:grpSpPr>
        <p:sp>
          <p:nvSpPr>
            <p:cNvPr id="6" name="矩形 476"/>
            <p:cNvSpPr>
              <a:spLocks noChangeArrowheads="1"/>
            </p:cNvSpPr>
            <p:nvPr/>
          </p:nvSpPr>
          <p:spPr bwMode="auto">
            <a:xfrm>
              <a:off x="6276334" y="3615919"/>
              <a:ext cx="1298933" cy="503769"/>
            </a:xfrm>
            <a:prstGeom prst="rect">
              <a:avLst/>
            </a:prstGeom>
            <a:noFill/>
            <a:ln w="9525" cmpd="dbl"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 name="Rectangle 27"/>
            <p:cNvSpPr>
              <a:spLocks noChangeArrowheads="1"/>
            </p:cNvSpPr>
            <p:nvPr/>
          </p:nvSpPr>
          <p:spPr bwMode="auto">
            <a:xfrm>
              <a:off x="6664261" y="3891525"/>
              <a:ext cx="807913"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dirty="0">
                  <a:solidFill>
                    <a:srgbClr val="000000"/>
                  </a:solidFill>
                  <a:latin typeface="微软雅黑" panose="020B0503020204020204" pitchFamily="34" charset="-122"/>
                  <a:ea typeface="微软雅黑" panose="020B0503020204020204" pitchFamily="34" charset="-122"/>
                </a:rPr>
                <a:t>以太网交换机</a:t>
              </a:r>
              <a:endParaRPr lang="en-US" altLang="zh-CN" sz="1050" b="1" dirty="0">
                <a:latin typeface="微软雅黑" panose="020B0503020204020204" pitchFamily="34" charset="-122"/>
                <a:ea typeface="微软雅黑" panose="020B0503020204020204" pitchFamily="34" charset="-122"/>
              </a:endParaRPr>
            </a:p>
          </p:txBody>
        </p:sp>
        <p:grpSp>
          <p:nvGrpSpPr>
            <p:cNvPr id="8" name="Group 344"/>
            <p:cNvGrpSpPr>
              <a:grpSpLocks/>
            </p:cNvGrpSpPr>
            <p:nvPr/>
          </p:nvGrpSpPr>
          <p:grpSpPr bwMode="auto">
            <a:xfrm>
              <a:off x="6390871" y="3689338"/>
              <a:ext cx="242049" cy="128766"/>
              <a:chOff x="1304" y="2569"/>
              <a:chExt cx="439" cy="262"/>
            </a:xfrm>
          </p:grpSpPr>
          <p:sp>
            <p:nvSpPr>
              <p:cNvPr id="11" name="Oval 345"/>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 name="Rectangle 346"/>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 name="Rectangle 347"/>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Oval 348"/>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5" name="Group 349"/>
              <p:cNvGrpSpPr>
                <a:grpSpLocks/>
              </p:cNvGrpSpPr>
              <p:nvPr/>
            </p:nvGrpSpPr>
            <p:grpSpPr bwMode="auto">
              <a:xfrm>
                <a:off x="1371" y="2587"/>
                <a:ext cx="304" cy="117"/>
                <a:chOff x="1371" y="2587"/>
                <a:chExt cx="304" cy="117"/>
              </a:xfrm>
            </p:grpSpPr>
            <p:grpSp>
              <p:nvGrpSpPr>
                <p:cNvPr id="18" name="Group 350"/>
                <p:cNvGrpSpPr>
                  <a:grpSpLocks/>
                </p:cNvGrpSpPr>
                <p:nvPr/>
              </p:nvGrpSpPr>
              <p:grpSpPr bwMode="auto">
                <a:xfrm>
                  <a:off x="1371" y="2587"/>
                  <a:ext cx="301" cy="115"/>
                  <a:chOff x="1371" y="2587"/>
                  <a:chExt cx="301" cy="115"/>
                </a:xfrm>
              </p:grpSpPr>
              <p:sp>
                <p:nvSpPr>
                  <p:cNvPr id="28" name="Freeform 351"/>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 name="Freeform 352"/>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 name="Freeform 353"/>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 name="Freeform 354"/>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 name="Freeform 355"/>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 name="Freeform 356"/>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 name="Freeform 357"/>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 name="Freeform 358"/>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 name="Group 359"/>
                <p:cNvGrpSpPr>
                  <a:grpSpLocks/>
                </p:cNvGrpSpPr>
                <p:nvPr/>
              </p:nvGrpSpPr>
              <p:grpSpPr bwMode="auto">
                <a:xfrm>
                  <a:off x="1373" y="2590"/>
                  <a:ext cx="302" cy="114"/>
                  <a:chOff x="1373" y="2590"/>
                  <a:chExt cx="302" cy="114"/>
                </a:xfrm>
              </p:grpSpPr>
              <p:sp>
                <p:nvSpPr>
                  <p:cNvPr id="20" name="Freeform 360"/>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 name="Freeform 361"/>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 name="Freeform 362"/>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 name="Freeform 363"/>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 name="Freeform 364"/>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 name="Freeform 365"/>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 name="Freeform 366"/>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 name="Freeform 367"/>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16" name="Line 368"/>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 name="Line 369"/>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9" name="Rectangle 27"/>
            <p:cNvSpPr>
              <a:spLocks noChangeArrowheads="1"/>
            </p:cNvSpPr>
            <p:nvPr/>
          </p:nvSpPr>
          <p:spPr bwMode="auto">
            <a:xfrm>
              <a:off x="6664261" y="3687079"/>
              <a:ext cx="40395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a:latin typeface="微软雅黑" panose="020B0503020204020204" pitchFamily="34" charset="-122"/>
                  <a:ea typeface="微软雅黑" panose="020B0503020204020204" pitchFamily="34" charset="-122"/>
                </a:rPr>
                <a:t>路由器</a:t>
              </a:r>
              <a:endParaRPr lang="en-US" altLang="zh-CN" sz="1050" b="1">
                <a:latin typeface="微软雅黑" panose="020B0503020204020204" pitchFamily="34" charset="-122"/>
                <a:ea typeface="微软雅黑" panose="020B0503020204020204" pitchFamily="34" charset="-122"/>
              </a:endParaRPr>
            </a:p>
          </p:txBody>
        </p:sp>
        <p:pic>
          <p:nvPicPr>
            <p:cNvPr id="10"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63163" y="3899167"/>
              <a:ext cx="292813" cy="161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grpSp>
        <p:nvGrpSpPr>
          <p:cNvPr id="36" name="组合 35"/>
          <p:cNvGrpSpPr/>
          <p:nvPr/>
        </p:nvGrpSpPr>
        <p:grpSpPr>
          <a:xfrm>
            <a:off x="791097" y="2481643"/>
            <a:ext cx="6375229" cy="1571272"/>
            <a:chOff x="845544" y="1680812"/>
            <a:chExt cx="7304675" cy="1865024"/>
          </a:xfrm>
        </p:grpSpPr>
        <p:sp>
          <p:nvSpPr>
            <p:cNvPr id="37" name="Line 1480"/>
            <p:cNvSpPr>
              <a:spLocks noChangeShapeType="1"/>
            </p:cNvSpPr>
            <p:nvPr/>
          </p:nvSpPr>
          <p:spPr bwMode="auto">
            <a:xfrm flipH="1" flipV="1">
              <a:off x="2622849" y="2912384"/>
              <a:ext cx="971677" cy="306326"/>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8" name="Line 1440"/>
            <p:cNvSpPr>
              <a:spLocks noChangeShapeType="1"/>
            </p:cNvSpPr>
            <p:nvPr/>
          </p:nvSpPr>
          <p:spPr bwMode="auto">
            <a:xfrm flipH="1">
              <a:off x="2730276" y="2283880"/>
              <a:ext cx="1787622" cy="504308"/>
            </a:xfrm>
            <a:prstGeom prst="line">
              <a:avLst/>
            </a:prstGeom>
            <a:noFill/>
            <a:ln w="19050">
              <a:solidFill>
                <a:srgbClr val="000000"/>
              </a:solidFill>
              <a:round/>
              <a:headEnd/>
              <a:tailEnd/>
            </a:ln>
          </p:spPr>
          <p:txBody>
            <a:bodyPr wrap="none" anchor="ct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9" name="Line 1453"/>
            <p:cNvSpPr>
              <a:spLocks noChangeShapeType="1"/>
            </p:cNvSpPr>
            <p:nvPr/>
          </p:nvSpPr>
          <p:spPr bwMode="auto">
            <a:xfrm flipH="1" flipV="1">
              <a:off x="3709561" y="3230776"/>
              <a:ext cx="1361865" cy="0"/>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grpSp>
          <p:nvGrpSpPr>
            <p:cNvPr id="40" name="Group 1356"/>
            <p:cNvGrpSpPr>
              <a:grpSpLocks/>
            </p:cNvGrpSpPr>
            <p:nvPr/>
          </p:nvGrpSpPr>
          <p:grpSpPr bwMode="auto">
            <a:xfrm rot="20527939">
              <a:off x="3245534" y="2330323"/>
              <a:ext cx="653019" cy="359453"/>
              <a:chOff x="2949" y="196"/>
              <a:chExt cx="941" cy="598"/>
            </a:xfrm>
            <a:solidFill>
              <a:srgbClr val="FF9933"/>
            </a:solidFill>
          </p:grpSpPr>
          <p:sp>
            <p:nvSpPr>
              <p:cNvPr id="153" name="Oval 1357"/>
              <p:cNvSpPr>
                <a:spLocks noChangeArrowheads="1"/>
              </p:cNvSpPr>
              <p:nvPr/>
            </p:nvSpPr>
            <p:spPr bwMode="auto">
              <a:xfrm>
                <a:off x="3168" y="196"/>
                <a:ext cx="407" cy="162"/>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4" name="Oval 1358"/>
              <p:cNvSpPr>
                <a:spLocks noChangeArrowheads="1"/>
              </p:cNvSpPr>
              <p:nvPr/>
            </p:nvSpPr>
            <p:spPr bwMode="auto">
              <a:xfrm rot="900000">
                <a:off x="3512" y="252"/>
                <a:ext cx="275" cy="131"/>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5" name="Oval 1359"/>
              <p:cNvSpPr>
                <a:spLocks noChangeArrowheads="1"/>
              </p:cNvSpPr>
              <p:nvPr/>
            </p:nvSpPr>
            <p:spPr bwMode="auto">
              <a:xfrm rot="1500000">
                <a:off x="3650" y="385"/>
                <a:ext cx="240" cy="153"/>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6" name="Oval 1360"/>
              <p:cNvSpPr>
                <a:spLocks noChangeArrowheads="1"/>
              </p:cNvSpPr>
              <p:nvPr/>
            </p:nvSpPr>
            <p:spPr bwMode="auto">
              <a:xfrm rot="-1560000">
                <a:off x="3573" y="537"/>
                <a:ext cx="291" cy="18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7" name="Oval 1361"/>
              <p:cNvSpPr>
                <a:spLocks noChangeArrowheads="1"/>
              </p:cNvSpPr>
              <p:nvPr/>
            </p:nvSpPr>
            <p:spPr bwMode="auto">
              <a:xfrm>
                <a:off x="3216" y="555"/>
                <a:ext cx="471" cy="23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8" name="Oval 1362"/>
              <p:cNvSpPr>
                <a:spLocks noChangeArrowheads="1"/>
              </p:cNvSpPr>
              <p:nvPr/>
            </p:nvSpPr>
            <p:spPr bwMode="auto">
              <a:xfrm rot="1080000">
                <a:off x="3023" y="555"/>
                <a:ext cx="26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9" name="Oval 1363"/>
              <p:cNvSpPr>
                <a:spLocks noChangeArrowheads="1"/>
              </p:cNvSpPr>
              <p:nvPr/>
            </p:nvSpPr>
            <p:spPr bwMode="auto">
              <a:xfrm>
                <a:off x="2949" y="432"/>
                <a:ext cx="217"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60" name="Oval 1364"/>
              <p:cNvSpPr>
                <a:spLocks noChangeArrowheads="1"/>
              </p:cNvSpPr>
              <p:nvPr/>
            </p:nvSpPr>
            <p:spPr bwMode="auto">
              <a:xfrm rot="-1860000">
                <a:off x="2984" y="310"/>
                <a:ext cx="29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b="1">
                  <a:solidFill>
                    <a:srgbClr val="000000"/>
                  </a:solidFill>
                </a:endParaRPr>
              </a:p>
            </p:txBody>
          </p:sp>
          <p:sp>
            <p:nvSpPr>
              <p:cNvPr id="161"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62"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63"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grpSp>
        <p:sp>
          <p:nvSpPr>
            <p:cNvPr id="41" name="Text Box 1524"/>
            <p:cNvSpPr txBox="1">
              <a:spLocks noChangeArrowheads="1"/>
            </p:cNvSpPr>
            <p:nvPr/>
          </p:nvSpPr>
          <p:spPr bwMode="auto">
            <a:xfrm>
              <a:off x="3307423" y="2364960"/>
              <a:ext cx="534848" cy="310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b="1" dirty="0">
                  <a:latin typeface="Times New Roman" pitchFamily="18" charset="0"/>
                  <a:ea typeface="微软雅黑" pitchFamily="34" charset="-122"/>
                </a:rPr>
                <a:t>网络</a:t>
              </a:r>
            </a:p>
          </p:txBody>
        </p:sp>
        <p:grpSp>
          <p:nvGrpSpPr>
            <p:cNvPr id="42" name="组合 41"/>
            <p:cNvGrpSpPr/>
            <p:nvPr/>
          </p:nvGrpSpPr>
          <p:grpSpPr>
            <a:xfrm>
              <a:off x="845544" y="1887389"/>
              <a:ext cx="1816110" cy="1658447"/>
              <a:chOff x="845544" y="1923633"/>
              <a:chExt cx="1816110" cy="1658447"/>
            </a:xfrm>
          </p:grpSpPr>
          <p:sp>
            <p:nvSpPr>
              <p:cNvPr id="135" name="Line 1453"/>
              <p:cNvSpPr>
                <a:spLocks noChangeShapeType="1"/>
              </p:cNvSpPr>
              <p:nvPr/>
            </p:nvSpPr>
            <p:spPr bwMode="auto">
              <a:xfrm flipH="1" flipV="1">
                <a:off x="1078336" y="2552461"/>
                <a:ext cx="771926" cy="298324"/>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136" name="Line 1448"/>
              <p:cNvSpPr>
                <a:spLocks noChangeShapeType="1"/>
              </p:cNvSpPr>
              <p:nvPr/>
            </p:nvSpPr>
            <p:spPr bwMode="auto">
              <a:xfrm>
                <a:off x="1911384" y="2850218"/>
                <a:ext cx="750270" cy="0"/>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137" name="Line 1453"/>
              <p:cNvSpPr>
                <a:spLocks noChangeShapeType="1"/>
              </p:cNvSpPr>
              <p:nvPr/>
            </p:nvSpPr>
            <p:spPr bwMode="auto">
              <a:xfrm flipH="1" flipV="1">
                <a:off x="1007843" y="2071704"/>
                <a:ext cx="848145" cy="722847"/>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138" name="Line 1453"/>
              <p:cNvSpPr>
                <a:spLocks noChangeShapeType="1"/>
              </p:cNvSpPr>
              <p:nvPr/>
            </p:nvSpPr>
            <p:spPr bwMode="auto">
              <a:xfrm flipH="1">
                <a:off x="1048919" y="2865763"/>
                <a:ext cx="828791" cy="126594"/>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139" name="Line 1453"/>
              <p:cNvSpPr>
                <a:spLocks noChangeShapeType="1"/>
              </p:cNvSpPr>
              <p:nvPr/>
            </p:nvSpPr>
            <p:spPr bwMode="auto">
              <a:xfrm flipH="1">
                <a:off x="1030887" y="2889815"/>
                <a:ext cx="870738" cy="534921"/>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pic>
            <p:nvPicPr>
              <p:cNvPr id="140"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88777" y="2662388"/>
                <a:ext cx="647170" cy="3546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141" name="Group 198"/>
              <p:cNvGrpSpPr>
                <a:grpSpLocks/>
              </p:cNvGrpSpPr>
              <p:nvPr/>
            </p:nvGrpSpPr>
            <p:grpSpPr bwMode="auto">
              <a:xfrm>
                <a:off x="845544" y="2789099"/>
                <a:ext cx="370687" cy="360247"/>
                <a:chOff x="975" y="2584"/>
                <a:chExt cx="407" cy="438"/>
              </a:xfrm>
            </p:grpSpPr>
            <p:sp>
              <p:nvSpPr>
                <p:cNvPr id="151"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52"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2" name="Group 198"/>
              <p:cNvGrpSpPr>
                <a:grpSpLocks/>
              </p:cNvGrpSpPr>
              <p:nvPr/>
            </p:nvGrpSpPr>
            <p:grpSpPr bwMode="auto">
              <a:xfrm>
                <a:off x="848794" y="2356366"/>
                <a:ext cx="370687" cy="360247"/>
                <a:chOff x="975" y="2584"/>
                <a:chExt cx="407" cy="438"/>
              </a:xfrm>
            </p:grpSpPr>
            <p:sp>
              <p:nvSpPr>
                <p:cNvPr id="149"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50"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3" name="Group 198"/>
              <p:cNvGrpSpPr>
                <a:grpSpLocks/>
              </p:cNvGrpSpPr>
              <p:nvPr/>
            </p:nvGrpSpPr>
            <p:grpSpPr bwMode="auto">
              <a:xfrm>
                <a:off x="863576" y="1923633"/>
                <a:ext cx="370687" cy="360247"/>
                <a:chOff x="975" y="2584"/>
                <a:chExt cx="407" cy="438"/>
              </a:xfrm>
            </p:grpSpPr>
            <p:sp>
              <p:nvSpPr>
                <p:cNvPr id="147"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48"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198"/>
              <p:cNvGrpSpPr>
                <a:grpSpLocks/>
              </p:cNvGrpSpPr>
              <p:nvPr/>
            </p:nvGrpSpPr>
            <p:grpSpPr bwMode="auto">
              <a:xfrm>
                <a:off x="845544" y="3221833"/>
                <a:ext cx="370687" cy="360247"/>
                <a:chOff x="975" y="2584"/>
                <a:chExt cx="407" cy="438"/>
              </a:xfrm>
            </p:grpSpPr>
            <p:sp>
              <p:nvSpPr>
                <p:cNvPr id="145"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46"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pic>
          <p:nvPicPr>
            <p:cNvPr id="43" name="Picture 1464"/>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503966" y="3068755"/>
              <a:ext cx="477837"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4" name="Group 1356"/>
            <p:cNvGrpSpPr>
              <a:grpSpLocks/>
            </p:cNvGrpSpPr>
            <p:nvPr/>
          </p:nvGrpSpPr>
          <p:grpSpPr bwMode="auto">
            <a:xfrm rot="20527939">
              <a:off x="2802169" y="2930521"/>
              <a:ext cx="653019" cy="359453"/>
              <a:chOff x="2949" y="196"/>
              <a:chExt cx="941" cy="598"/>
            </a:xfrm>
            <a:solidFill>
              <a:srgbClr val="FF9933"/>
            </a:solidFill>
          </p:grpSpPr>
          <p:sp>
            <p:nvSpPr>
              <p:cNvPr id="124" name="Oval 1357"/>
              <p:cNvSpPr>
                <a:spLocks noChangeArrowheads="1"/>
              </p:cNvSpPr>
              <p:nvPr/>
            </p:nvSpPr>
            <p:spPr bwMode="auto">
              <a:xfrm>
                <a:off x="3168" y="196"/>
                <a:ext cx="407" cy="162"/>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5" name="Oval 1358"/>
              <p:cNvSpPr>
                <a:spLocks noChangeArrowheads="1"/>
              </p:cNvSpPr>
              <p:nvPr/>
            </p:nvSpPr>
            <p:spPr bwMode="auto">
              <a:xfrm rot="900000">
                <a:off x="3512" y="252"/>
                <a:ext cx="275" cy="131"/>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6" name="Oval 1359"/>
              <p:cNvSpPr>
                <a:spLocks noChangeArrowheads="1"/>
              </p:cNvSpPr>
              <p:nvPr/>
            </p:nvSpPr>
            <p:spPr bwMode="auto">
              <a:xfrm rot="1500000">
                <a:off x="3650" y="385"/>
                <a:ext cx="240" cy="153"/>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7" name="Oval 1360"/>
              <p:cNvSpPr>
                <a:spLocks noChangeArrowheads="1"/>
              </p:cNvSpPr>
              <p:nvPr/>
            </p:nvSpPr>
            <p:spPr bwMode="auto">
              <a:xfrm rot="-1560000">
                <a:off x="3573" y="537"/>
                <a:ext cx="291" cy="18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8" name="Oval 1361"/>
              <p:cNvSpPr>
                <a:spLocks noChangeArrowheads="1"/>
              </p:cNvSpPr>
              <p:nvPr/>
            </p:nvSpPr>
            <p:spPr bwMode="auto">
              <a:xfrm>
                <a:off x="3216" y="555"/>
                <a:ext cx="471" cy="23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9" name="Oval 1362"/>
              <p:cNvSpPr>
                <a:spLocks noChangeArrowheads="1"/>
              </p:cNvSpPr>
              <p:nvPr/>
            </p:nvSpPr>
            <p:spPr bwMode="auto">
              <a:xfrm rot="1080000">
                <a:off x="3023" y="555"/>
                <a:ext cx="26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30" name="Oval 1363"/>
              <p:cNvSpPr>
                <a:spLocks noChangeArrowheads="1"/>
              </p:cNvSpPr>
              <p:nvPr/>
            </p:nvSpPr>
            <p:spPr bwMode="auto">
              <a:xfrm>
                <a:off x="2949" y="432"/>
                <a:ext cx="217"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31" name="Oval 1364"/>
              <p:cNvSpPr>
                <a:spLocks noChangeArrowheads="1"/>
              </p:cNvSpPr>
              <p:nvPr/>
            </p:nvSpPr>
            <p:spPr bwMode="auto">
              <a:xfrm rot="-1860000">
                <a:off x="2984" y="310"/>
                <a:ext cx="29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b="1">
                  <a:solidFill>
                    <a:srgbClr val="000000"/>
                  </a:solidFill>
                </a:endParaRPr>
              </a:p>
            </p:txBody>
          </p:sp>
          <p:sp>
            <p:nvSpPr>
              <p:cNvPr id="132"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33"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34"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grpSp>
        <p:sp>
          <p:nvSpPr>
            <p:cNvPr id="45" name="Text Box 1524"/>
            <p:cNvSpPr txBox="1">
              <a:spLocks noChangeArrowheads="1"/>
            </p:cNvSpPr>
            <p:nvPr/>
          </p:nvSpPr>
          <p:spPr bwMode="auto">
            <a:xfrm>
              <a:off x="2882411" y="2907582"/>
              <a:ext cx="534848" cy="310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b="1" dirty="0">
                  <a:latin typeface="Times New Roman" pitchFamily="18" charset="0"/>
                  <a:ea typeface="微软雅黑" pitchFamily="34" charset="-122"/>
                </a:rPr>
                <a:t>网络</a:t>
              </a:r>
            </a:p>
          </p:txBody>
        </p:sp>
        <p:grpSp>
          <p:nvGrpSpPr>
            <p:cNvPr id="46" name="Group 1356"/>
            <p:cNvGrpSpPr>
              <a:grpSpLocks/>
            </p:cNvGrpSpPr>
            <p:nvPr/>
          </p:nvGrpSpPr>
          <p:grpSpPr bwMode="auto">
            <a:xfrm rot="20527939">
              <a:off x="4076210" y="3031866"/>
              <a:ext cx="653019" cy="359453"/>
              <a:chOff x="2949" y="196"/>
              <a:chExt cx="941" cy="598"/>
            </a:xfrm>
            <a:solidFill>
              <a:srgbClr val="FF9933"/>
            </a:solidFill>
          </p:grpSpPr>
          <p:sp>
            <p:nvSpPr>
              <p:cNvPr id="113" name="Oval 1357"/>
              <p:cNvSpPr>
                <a:spLocks noChangeArrowheads="1"/>
              </p:cNvSpPr>
              <p:nvPr/>
            </p:nvSpPr>
            <p:spPr bwMode="auto">
              <a:xfrm>
                <a:off x="3168" y="196"/>
                <a:ext cx="407" cy="162"/>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4" name="Oval 1358"/>
              <p:cNvSpPr>
                <a:spLocks noChangeArrowheads="1"/>
              </p:cNvSpPr>
              <p:nvPr/>
            </p:nvSpPr>
            <p:spPr bwMode="auto">
              <a:xfrm rot="900000">
                <a:off x="3512" y="252"/>
                <a:ext cx="275" cy="131"/>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5" name="Oval 1359"/>
              <p:cNvSpPr>
                <a:spLocks noChangeArrowheads="1"/>
              </p:cNvSpPr>
              <p:nvPr/>
            </p:nvSpPr>
            <p:spPr bwMode="auto">
              <a:xfrm rot="1500000">
                <a:off x="3650" y="385"/>
                <a:ext cx="240" cy="153"/>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6" name="Oval 1360"/>
              <p:cNvSpPr>
                <a:spLocks noChangeArrowheads="1"/>
              </p:cNvSpPr>
              <p:nvPr/>
            </p:nvSpPr>
            <p:spPr bwMode="auto">
              <a:xfrm rot="-1560000">
                <a:off x="3573" y="537"/>
                <a:ext cx="291" cy="18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7" name="Oval 1361"/>
              <p:cNvSpPr>
                <a:spLocks noChangeArrowheads="1"/>
              </p:cNvSpPr>
              <p:nvPr/>
            </p:nvSpPr>
            <p:spPr bwMode="auto">
              <a:xfrm>
                <a:off x="3216" y="555"/>
                <a:ext cx="471" cy="23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8" name="Oval 1362"/>
              <p:cNvSpPr>
                <a:spLocks noChangeArrowheads="1"/>
              </p:cNvSpPr>
              <p:nvPr/>
            </p:nvSpPr>
            <p:spPr bwMode="auto">
              <a:xfrm rot="1080000">
                <a:off x="3023" y="555"/>
                <a:ext cx="26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9" name="Oval 1363"/>
              <p:cNvSpPr>
                <a:spLocks noChangeArrowheads="1"/>
              </p:cNvSpPr>
              <p:nvPr/>
            </p:nvSpPr>
            <p:spPr bwMode="auto">
              <a:xfrm>
                <a:off x="2949" y="432"/>
                <a:ext cx="217"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0" name="Oval 1364"/>
              <p:cNvSpPr>
                <a:spLocks noChangeArrowheads="1"/>
              </p:cNvSpPr>
              <p:nvPr/>
            </p:nvSpPr>
            <p:spPr bwMode="auto">
              <a:xfrm rot="-1860000">
                <a:off x="2984" y="310"/>
                <a:ext cx="29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b="1">
                  <a:solidFill>
                    <a:srgbClr val="000000"/>
                  </a:solidFill>
                </a:endParaRPr>
              </a:p>
            </p:txBody>
          </p:sp>
          <p:sp>
            <p:nvSpPr>
              <p:cNvPr id="121"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22"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23"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grpSp>
        <p:sp>
          <p:nvSpPr>
            <p:cNvPr id="47" name="Text Box 1524"/>
            <p:cNvSpPr txBox="1">
              <a:spLocks noChangeArrowheads="1"/>
            </p:cNvSpPr>
            <p:nvPr/>
          </p:nvSpPr>
          <p:spPr bwMode="auto">
            <a:xfrm>
              <a:off x="4138099" y="3066503"/>
              <a:ext cx="534848" cy="310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b="1">
                  <a:latin typeface="Times New Roman" pitchFamily="18" charset="0"/>
                  <a:ea typeface="微软雅黑" pitchFamily="34" charset="-122"/>
                </a:rPr>
                <a:t>网络</a:t>
              </a:r>
            </a:p>
          </p:txBody>
        </p:sp>
        <p:grpSp>
          <p:nvGrpSpPr>
            <p:cNvPr id="48" name="组合 47"/>
            <p:cNvGrpSpPr/>
            <p:nvPr/>
          </p:nvGrpSpPr>
          <p:grpSpPr>
            <a:xfrm flipH="1">
              <a:off x="6334109" y="1887389"/>
              <a:ext cx="1816110" cy="1658447"/>
              <a:chOff x="7402793" y="1449868"/>
              <a:chExt cx="1816110" cy="1658447"/>
            </a:xfrm>
          </p:grpSpPr>
          <p:sp>
            <p:nvSpPr>
              <p:cNvPr id="95" name="Line 1453"/>
              <p:cNvSpPr>
                <a:spLocks noChangeShapeType="1"/>
              </p:cNvSpPr>
              <p:nvPr/>
            </p:nvSpPr>
            <p:spPr bwMode="auto">
              <a:xfrm flipH="1" flipV="1">
                <a:off x="7635585" y="2078696"/>
                <a:ext cx="771926" cy="298324"/>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96" name="Line 1448"/>
              <p:cNvSpPr>
                <a:spLocks noChangeShapeType="1"/>
              </p:cNvSpPr>
              <p:nvPr/>
            </p:nvSpPr>
            <p:spPr bwMode="auto">
              <a:xfrm>
                <a:off x="8468633" y="2376453"/>
                <a:ext cx="750270" cy="0"/>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97" name="Line 1453"/>
              <p:cNvSpPr>
                <a:spLocks noChangeShapeType="1"/>
              </p:cNvSpPr>
              <p:nvPr/>
            </p:nvSpPr>
            <p:spPr bwMode="auto">
              <a:xfrm flipH="1" flipV="1">
                <a:off x="7565092" y="1597939"/>
                <a:ext cx="848145" cy="722847"/>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98" name="Line 1453"/>
              <p:cNvSpPr>
                <a:spLocks noChangeShapeType="1"/>
              </p:cNvSpPr>
              <p:nvPr/>
            </p:nvSpPr>
            <p:spPr bwMode="auto">
              <a:xfrm flipH="1">
                <a:off x="7606168" y="2391998"/>
                <a:ext cx="828791" cy="126594"/>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99" name="Line 1453"/>
              <p:cNvSpPr>
                <a:spLocks noChangeShapeType="1"/>
              </p:cNvSpPr>
              <p:nvPr/>
            </p:nvSpPr>
            <p:spPr bwMode="auto">
              <a:xfrm flipH="1">
                <a:off x="7588136" y="2416050"/>
                <a:ext cx="870738" cy="534921"/>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pic>
            <p:nvPicPr>
              <p:cNvPr id="100"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046026" y="2188623"/>
                <a:ext cx="647170" cy="3546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101" name="Group 198"/>
              <p:cNvGrpSpPr>
                <a:grpSpLocks/>
              </p:cNvGrpSpPr>
              <p:nvPr/>
            </p:nvGrpSpPr>
            <p:grpSpPr bwMode="auto">
              <a:xfrm>
                <a:off x="7402793" y="2315334"/>
                <a:ext cx="370687" cy="360247"/>
                <a:chOff x="975" y="2584"/>
                <a:chExt cx="407" cy="438"/>
              </a:xfrm>
            </p:grpSpPr>
            <p:sp>
              <p:nvSpPr>
                <p:cNvPr id="111"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12"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2" name="Group 198"/>
              <p:cNvGrpSpPr>
                <a:grpSpLocks/>
              </p:cNvGrpSpPr>
              <p:nvPr/>
            </p:nvGrpSpPr>
            <p:grpSpPr bwMode="auto">
              <a:xfrm>
                <a:off x="7406043" y="1882601"/>
                <a:ext cx="370687" cy="360247"/>
                <a:chOff x="975" y="2584"/>
                <a:chExt cx="407" cy="438"/>
              </a:xfrm>
            </p:grpSpPr>
            <p:sp>
              <p:nvSpPr>
                <p:cNvPr id="109"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10"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3" name="Group 198"/>
              <p:cNvGrpSpPr>
                <a:grpSpLocks/>
              </p:cNvGrpSpPr>
              <p:nvPr/>
            </p:nvGrpSpPr>
            <p:grpSpPr bwMode="auto">
              <a:xfrm>
                <a:off x="7420825" y="1449868"/>
                <a:ext cx="370687" cy="360247"/>
                <a:chOff x="975" y="2584"/>
                <a:chExt cx="407" cy="438"/>
              </a:xfrm>
            </p:grpSpPr>
            <p:sp>
              <p:nvSpPr>
                <p:cNvPr id="107"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08"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4" name="Group 198"/>
              <p:cNvGrpSpPr>
                <a:grpSpLocks/>
              </p:cNvGrpSpPr>
              <p:nvPr/>
            </p:nvGrpSpPr>
            <p:grpSpPr bwMode="auto">
              <a:xfrm>
                <a:off x="7402793" y="2748068"/>
                <a:ext cx="370687" cy="360247"/>
                <a:chOff x="975" y="2584"/>
                <a:chExt cx="407" cy="438"/>
              </a:xfrm>
            </p:grpSpPr>
            <p:sp>
              <p:nvSpPr>
                <p:cNvPr id="105"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06"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49" name="Line 1440"/>
            <p:cNvSpPr>
              <a:spLocks noChangeShapeType="1"/>
            </p:cNvSpPr>
            <p:nvPr/>
          </p:nvSpPr>
          <p:spPr bwMode="auto">
            <a:xfrm flipH="1" flipV="1">
              <a:off x="4767840" y="2331160"/>
              <a:ext cx="1699237" cy="414649"/>
            </a:xfrm>
            <a:prstGeom prst="line">
              <a:avLst/>
            </a:prstGeom>
            <a:noFill/>
            <a:ln w="19050">
              <a:solidFill>
                <a:srgbClr val="000000"/>
              </a:solidFill>
              <a:round/>
              <a:headEnd/>
              <a:tailEnd/>
            </a:ln>
          </p:spPr>
          <p:txBody>
            <a:bodyPr wrap="none" anchor="ctr"/>
            <a:lstStyle/>
            <a:p>
              <a:pPr fontAlgn="auto">
                <a:spcBef>
                  <a:spcPts val="0"/>
                </a:spcBef>
                <a:spcAft>
                  <a:spcPts val="0"/>
                </a:spcAft>
                <a:defRPr/>
              </a:pPr>
              <a:endParaRPr lang="zh-CN" altLang="en-US" sz="2000" b="1" kern="0">
                <a:solidFill>
                  <a:sysClr val="windowText" lastClr="000000"/>
                </a:solidFill>
                <a:latin typeface="+mn-lt"/>
                <a:ea typeface="+mn-ea"/>
              </a:endParaRPr>
            </a:p>
          </p:txBody>
        </p:sp>
        <p:grpSp>
          <p:nvGrpSpPr>
            <p:cNvPr id="50" name="Group 1356"/>
            <p:cNvGrpSpPr>
              <a:grpSpLocks/>
            </p:cNvGrpSpPr>
            <p:nvPr/>
          </p:nvGrpSpPr>
          <p:grpSpPr bwMode="auto">
            <a:xfrm rot="20527939">
              <a:off x="5111738" y="2271586"/>
              <a:ext cx="653019" cy="359453"/>
              <a:chOff x="2949" y="196"/>
              <a:chExt cx="941" cy="598"/>
            </a:xfrm>
            <a:solidFill>
              <a:srgbClr val="FF9933"/>
            </a:solidFill>
          </p:grpSpPr>
          <p:sp>
            <p:nvSpPr>
              <p:cNvPr id="84" name="Oval 1357"/>
              <p:cNvSpPr>
                <a:spLocks noChangeArrowheads="1"/>
              </p:cNvSpPr>
              <p:nvPr/>
            </p:nvSpPr>
            <p:spPr bwMode="auto">
              <a:xfrm>
                <a:off x="3168" y="196"/>
                <a:ext cx="407" cy="162"/>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5" name="Oval 1358"/>
              <p:cNvSpPr>
                <a:spLocks noChangeArrowheads="1"/>
              </p:cNvSpPr>
              <p:nvPr/>
            </p:nvSpPr>
            <p:spPr bwMode="auto">
              <a:xfrm rot="900000">
                <a:off x="3512" y="252"/>
                <a:ext cx="275" cy="131"/>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6" name="Oval 1359"/>
              <p:cNvSpPr>
                <a:spLocks noChangeArrowheads="1"/>
              </p:cNvSpPr>
              <p:nvPr/>
            </p:nvSpPr>
            <p:spPr bwMode="auto">
              <a:xfrm rot="1500000">
                <a:off x="3650" y="385"/>
                <a:ext cx="240" cy="153"/>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7" name="Oval 1360"/>
              <p:cNvSpPr>
                <a:spLocks noChangeArrowheads="1"/>
              </p:cNvSpPr>
              <p:nvPr/>
            </p:nvSpPr>
            <p:spPr bwMode="auto">
              <a:xfrm rot="-1560000">
                <a:off x="3573" y="537"/>
                <a:ext cx="291" cy="18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8" name="Oval 1361"/>
              <p:cNvSpPr>
                <a:spLocks noChangeArrowheads="1"/>
              </p:cNvSpPr>
              <p:nvPr/>
            </p:nvSpPr>
            <p:spPr bwMode="auto">
              <a:xfrm>
                <a:off x="3216" y="555"/>
                <a:ext cx="471" cy="23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9" name="Oval 1362"/>
              <p:cNvSpPr>
                <a:spLocks noChangeArrowheads="1"/>
              </p:cNvSpPr>
              <p:nvPr/>
            </p:nvSpPr>
            <p:spPr bwMode="auto">
              <a:xfrm rot="1080000">
                <a:off x="3023" y="555"/>
                <a:ext cx="26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90" name="Oval 1363"/>
              <p:cNvSpPr>
                <a:spLocks noChangeArrowheads="1"/>
              </p:cNvSpPr>
              <p:nvPr/>
            </p:nvSpPr>
            <p:spPr bwMode="auto">
              <a:xfrm>
                <a:off x="2949" y="432"/>
                <a:ext cx="217"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91" name="Oval 1364"/>
              <p:cNvSpPr>
                <a:spLocks noChangeArrowheads="1"/>
              </p:cNvSpPr>
              <p:nvPr/>
            </p:nvSpPr>
            <p:spPr bwMode="auto">
              <a:xfrm rot="-1860000">
                <a:off x="2984" y="310"/>
                <a:ext cx="29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b="1">
                  <a:solidFill>
                    <a:srgbClr val="000000"/>
                  </a:solidFill>
                </a:endParaRPr>
              </a:p>
            </p:txBody>
          </p:sp>
          <p:sp>
            <p:nvSpPr>
              <p:cNvPr id="92"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93"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94"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grpSp>
        <p:sp>
          <p:nvSpPr>
            <p:cNvPr id="51" name="Text Box 1524"/>
            <p:cNvSpPr txBox="1">
              <a:spLocks noChangeArrowheads="1"/>
            </p:cNvSpPr>
            <p:nvPr/>
          </p:nvSpPr>
          <p:spPr bwMode="auto">
            <a:xfrm>
              <a:off x="5173628" y="2306223"/>
              <a:ext cx="534848" cy="310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b="1">
                  <a:latin typeface="Times New Roman" pitchFamily="18" charset="0"/>
                  <a:ea typeface="微软雅黑" pitchFamily="34" charset="-122"/>
                </a:rPr>
                <a:t>网络</a:t>
              </a:r>
            </a:p>
          </p:txBody>
        </p:sp>
        <p:sp>
          <p:nvSpPr>
            <p:cNvPr id="52" name="Line 1480"/>
            <p:cNvSpPr>
              <a:spLocks noChangeShapeType="1"/>
            </p:cNvSpPr>
            <p:nvPr/>
          </p:nvSpPr>
          <p:spPr bwMode="auto">
            <a:xfrm flipH="1">
              <a:off x="5264823" y="2836209"/>
              <a:ext cx="1011511" cy="389174"/>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pic>
          <p:nvPicPr>
            <p:cNvPr id="53" name="Picture 1464"/>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907997" y="3078094"/>
              <a:ext cx="477837"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4" name="Group 1356"/>
            <p:cNvGrpSpPr>
              <a:grpSpLocks/>
            </p:cNvGrpSpPr>
            <p:nvPr/>
          </p:nvGrpSpPr>
          <p:grpSpPr bwMode="auto">
            <a:xfrm rot="20527939">
              <a:off x="5424528" y="2830940"/>
              <a:ext cx="653019" cy="359453"/>
              <a:chOff x="2949" y="196"/>
              <a:chExt cx="941" cy="598"/>
            </a:xfrm>
            <a:solidFill>
              <a:srgbClr val="FF9933"/>
            </a:solidFill>
          </p:grpSpPr>
          <p:sp>
            <p:nvSpPr>
              <p:cNvPr id="73" name="Oval 1357"/>
              <p:cNvSpPr>
                <a:spLocks noChangeArrowheads="1"/>
              </p:cNvSpPr>
              <p:nvPr/>
            </p:nvSpPr>
            <p:spPr bwMode="auto">
              <a:xfrm>
                <a:off x="3168" y="196"/>
                <a:ext cx="407" cy="162"/>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4" name="Oval 1358"/>
              <p:cNvSpPr>
                <a:spLocks noChangeArrowheads="1"/>
              </p:cNvSpPr>
              <p:nvPr/>
            </p:nvSpPr>
            <p:spPr bwMode="auto">
              <a:xfrm rot="900000">
                <a:off x="3512" y="252"/>
                <a:ext cx="275" cy="131"/>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5" name="Oval 1359"/>
              <p:cNvSpPr>
                <a:spLocks noChangeArrowheads="1"/>
              </p:cNvSpPr>
              <p:nvPr/>
            </p:nvSpPr>
            <p:spPr bwMode="auto">
              <a:xfrm rot="1500000">
                <a:off x="3650" y="385"/>
                <a:ext cx="240" cy="153"/>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6" name="Oval 1360"/>
              <p:cNvSpPr>
                <a:spLocks noChangeArrowheads="1"/>
              </p:cNvSpPr>
              <p:nvPr/>
            </p:nvSpPr>
            <p:spPr bwMode="auto">
              <a:xfrm rot="-1560000">
                <a:off x="3573" y="537"/>
                <a:ext cx="291" cy="18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7" name="Oval 1361"/>
              <p:cNvSpPr>
                <a:spLocks noChangeArrowheads="1"/>
              </p:cNvSpPr>
              <p:nvPr/>
            </p:nvSpPr>
            <p:spPr bwMode="auto">
              <a:xfrm>
                <a:off x="3216" y="555"/>
                <a:ext cx="471" cy="23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8" name="Oval 1362"/>
              <p:cNvSpPr>
                <a:spLocks noChangeArrowheads="1"/>
              </p:cNvSpPr>
              <p:nvPr/>
            </p:nvSpPr>
            <p:spPr bwMode="auto">
              <a:xfrm rot="1080000">
                <a:off x="3023" y="555"/>
                <a:ext cx="26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9" name="Oval 1363"/>
              <p:cNvSpPr>
                <a:spLocks noChangeArrowheads="1"/>
              </p:cNvSpPr>
              <p:nvPr/>
            </p:nvSpPr>
            <p:spPr bwMode="auto">
              <a:xfrm>
                <a:off x="2949" y="432"/>
                <a:ext cx="217"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0" name="Oval 1364"/>
              <p:cNvSpPr>
                <a:spLocks noChangeArrowheads="1"/>
              </p:cNvSpPr>
              <p:nvPr/>
            </p:nvSpPr>
            <p:spPr bwMode="auto">
              <a:xfrm rot="-1860000">
                <a:off x="2984" y="310"/>
                <a:ext cx="29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b="1">
                  <a:solidFill>
                    <a:srgbClr val="000000"/>
                  </a:solidFill>
                </a:endParaRPr>
              </a:p>
            </p:txBody>
          </p:sp>
          <p:sp>
            <p:nvSpPr>
              <p:cNvPr id="81"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82"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83"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grpSp>
        <p:sp>
          <p:nvSpPr>
            <p:cNvPr id="55" name="Text Box 1524"/>
            <p:cNvSpPr txBox="1">
              <a:spLocks noChangeArrowheads="1"/>
            </p:cNvSpPr>
            <p:nvPr/>
          </p:nvSpPr>
          <p:spPr bwMode="auto">
            <a:xfrm>
              <a:off x="5486418" y="2865577"/>
              <a:ext cx="534848" cy="310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b="1">
                  <a:latin typeface="Times New Roman" pitchFamily="18" charset="0"/>
                  <a:ea typeface="微软雅黑" pitchFamily="34" charset="-122"/>
                </a:rPr>
                <a:t>网络</a:t>
              </a:r>
            </a:p>
          </p:txBody>
        </p:sp>
        <p:pic>
          <p:nvPicPr>
            <p:cNvPr id="56" name="Picture 1462"/>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79063" y="2690391"/>
              <a:ext cx="477837"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7" name="Text Box 178"/>
            <p:cNvSpPr txBox="1">
              <a:spLocks noChangeArrowheads="1"/>
            </p:cNvSpPr>
            <p:nvPr/>
          </p:nvSpPr>
          <p:spPr bwMode="auto">
            <a:xfrm>
              <a:off x="2329938" y="2503502"/>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A</a:t>
              </a:r>
            </a:p>
          </p:txBody>
        </p:sp>
        <p:sp>
          <p:nvSpPr>
            <p:cNvPr id="58" name="Text Box 178"/>
            <p:cNvSpPr txBox="1">
              <a:spLocks noChangeArrowheads="1"/>
            </p:cNvSpPr>
            <p:nvPr/>
          </p:nvSpPr>
          <p:spPr bwMode="auto">
            <a:xfrm>
              <a:off x="4410798" y="2420607"/>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B</a:t>
              </a:r>
            </a:p>
          </p:txBody>
        </p:sp>
        <p:sp>
          <p:nvSpPr>
            <p:cNvPr id="59" name="Text Box 178"/>
            <p:cNvSpPr txBox="1">
              <a:spLocks noChangeArrowheads="1"/>
            </p:cNvSpPr>
            <p:nvPr/>
          </p:nvSpPr>
          <p:spPr bwMode="auto">
            <a:xfrm>
              <a:off x="3578563" y="2864869"/>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C</a:t>
              </a:r>
            </a:p>
          </p:txBody>
        </p:sp>
        <p:sp>
          <p:nvSpPr>
            <p:cNvPr id="60" name="Text Box 178"/>
            <p:cNvSpPr txBox="1">
              <a:spLocks noChangeArrowheads="1"/>
            </p:cNvSpPr>
            <p:nvPr/>
          </p:nvSpPr>
          <p:spPr bwMode="auto">
            <a:xfrm>
              <a:off x="4976249" y="2872273"/>
              <a:ext cx="30649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D</a:t>
              </a:r>
            </a:p>
          </p:txBody>
        </p:sp>
        <p:cxnSp>
          <p:nvCxnSpPr>
            <p:cNvPr id="62" name="直接连接符 61"/>
            <p:cNvCxnSpPr>
              <a:stCxn id="56" idx="0"/>
            </p:cNvCxnSpPr>
            <p:nvPr/>
          </p:nvCxnSpPr>
          <p:spPr>
            <a:xfrm flipH="1" flipV="1">
              <a:off x="2422461" y="2276855"/>
              <a:ext cx="195521" cy="413536"/>
            </a:xfrm>
            <a:prstGeom prst="line">
              <a:avLst/>
            </a:prstGeom>
            <a:ln w="19050">
              <a:solidFill>
                <a:schemeClr val="tx1"/>
              </a:solidFill>
            </a:ln>
          </p:spPr>
          <p:style>
            <a:lnRef idx="1">
              <a:schemeClr val="dk1"/>
            </a:lnRef>
            <a:fillRef idx="0">
              <a:schemeClr val="dk1"/>
            </a:fillRef>
            <a:effectRef idx="0">
              <a:schemeClr val="dk1"/>
            </a:effectRef>
            <a:fontRef idx="minor">
              <a:schemeClr val="tx1"/>
            </a:fontRef>
          </p:style>
        </p:cxnSp>
        <p:cxnSp>
          <p:nvCxnSpPr>
            <p:cNvPr id="63" name="直接连接符 62"/>
            <p:cNvCxnSpPr>
              <a:stCxn id="68" idx="0"/>
            </p:cNvCxnSpPr>
            <p:nvPr/>
          </p:nvCxnSpPr>
          <p:spPr>
            <a:xfrm flipH="1" flipV="1">
              <a:off x="4370339" y="1720658"/>
              <a:ext cx="191893" cy="434017"/>
            </a:xfrm>
            <a:prstGeom prst="line">
              <a:avLst/>
            </a:prstGeom>
            <a:ln w="19050">
              <a:solidFill>
                <a:schemeClr val="tx1"/>
              </a:solidFill>
            </a:ln>
          </p:spPr>
          <p:style>
            <a:lnRef idx="1">
              <a:schemeClr val="dk1"/>
            </a:lnRef>
            <a:fillRef idx="0">
              <a:schemeClr val="dk1"/>
            </a:fillRef>
            <a:effectRef idx="0">
              <a:schemeClr val="dk1"/>
            </a:effectRef>
            <a:fontRef idx="minor">
              <a:schemeClr val="tx1"/>
            </a:fontRef>
          </p:style>
        </p:cxnSp>
        <p:cxnSp>
          <p:nvCxnSpPr>
            <p:cNvPr id="64" name="直接箭头连接符 63"/>
            <p:cNvCxnSpPr/>
            <p:nvPr/>
          </p:nvCxnSpPr>
          <p:spPr>
            <a:xfrm flipV="1">
              <a:off x="2507687" y="1868917"/>
              <a:ext cx="1924638" cy="616113"/>
            </a:xfrm>
            <a:prstGeom prst="straightConnector1">
              <a:avLst/>
            </a:prstGeom>
            <a:ln w="9525">
              <a:solidFill>
                <a:schemeClr val="tx1"/>
              </a:solidFill>
              <a:headEnd type="triangle"/>
              <a:tailEnd type="triangle"/>
            </a:ln>
          </p:spPr>
          <p:style>
            <a:lnRef idx="1">
              <a:schemeClr val="dk1"/>
            </a:lnRef>
            <a:fillRef idx="0">
              <a:schemeClr val="dk1"/>
            </a:fillRef>
            <a:effectRef idx="0">
              <a:schemeClr val="dk1"/>
            </a:effectRef>
            <a:fontRef idx="minor">
              <a:schemeClr val="tx1"/>
            </a:fontRef>
          </p:style>
        </p:cxnSp>
        <p:sp>
          <p:nvSpPr>
            <p:cNvPr id="65" name="Text Box 178"/>
            <p:cNvSpPr txBox="1">
              <a:spLocks noChangeArrowheads="1"/>
            </p:cNvSpPr>
            <p:nvPr/>
          </p:nvSpPr>
          <p:spPr bwMode="auto">
            <a:xfrm rot="20617256">
              <a:off x="2955477" y="1837177"/>
              <a:ext cx="1027085" cy="3653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FF"/>
                  </a:solidFill>
                  <a:latin typeface="微软雅黑" pitchFamily="34" charset="-122"/>
                  <a:ea typeface="微软雅黑" pitchFamily="34" charset="-122"/>
                </a:rPr>
                <a:t>跳数 </a:t>
              </a:r>
              <a:r>
                <a:rPr kumimoji="1" lang="en-US" altLang="zh-CN" sz="1400" b="1" dirty="0">
                  <a:solidFill>
                    <a:srgbClr val="0000FF"/>
                  </a:solidFill>
                  <a:latin typeface="微软雅黑" pitchFamily="34" charset="-122"/>
                  <a:ea typeface="微软雅黑" pitchFamily="34" charset="-122"/>
                </a:rPr>
                <a:t>= 1</a:t>
              </a:r>
            </a:p>
          </p:txBody>
        </p:sp>
        <p:grpSp>
          <p:nvGrpSpPr>
            <p:cNvPr id="66" name="组合 65"/>
            <p:cNvGrpSpPr/>
            <p:nvPr/>
          </p:nvGrpSpPr>
          <p:grpSpPr>
            <a:xfrm rot="21386230" flipH="1">
              <a:off x="4615031" y="1680812"/>
              <a:ext cx="1982724" cy="1151238"/>
              <a:chOff x="5293476" y="872107"/>
              <a:chExt cx="1982724" cy="1151238"/>
            </a:xfrm>
          </p:grpSpPr>
          <p:cxnSp>
            <p:nvCxnSpPr>
              <p:cNvPr id="69" name="直接连接符 68"/>
              <p:cNvCxnSpPr/>
              <p:nvPr/>
            </p:nvCxnSpPr>
            <p:spPr>
              <a:xfrm rot="21386230" flipH="1" flipV="1">
                <a:off x="5293476" y="1411915"/>
                <a:ext cx="231465" cy="611430"/>
              </a:xfrm>
              <a:prstGeom prst="line">
                <a:avLst/>
              </a:prstGeom>
              <a:ln w="19050">
                <a:solidFill>
                  <a:schemeClr val="tx1"/>
                </a:solidFill>
              </a:ln>
            </p:spPr>
            <p:style>
              <a:lnRef idx="1">
                <a:schemeClr val="dk1"/>
              </a:lnRef>
              <a:fillRef idx="0">
                <a:schemeClr val="dk1"/>
              </a:fillRef>
              <a:effectRef idx="0">
                <a:schemeClr val="dk1"/>
              </a:effectRef>
              <a:fontRef idx="minor">
                <a:schemeClr val="tx1"/>
              </a:fontRef>
            </p:style>
          </p:cxnSp>
          <p:cxnSp>
            <p:nvCxnSpPr>
              <p:cNvPr id="70" name="直接连接符 69"/>
              <p:cNvCxnSpPr/>
              <p:nvPr/>
            </p:nvCxnSpPr>
            <p:spPr>
              <a:xfrm flipH="1" flipV="1">
                <a:off x="7084307" y="872107"/>
                <a:ext cx="191893" cy="434017"/>
              </a:xfrm>
              <a:prstGeom prst="line">
                <a:avLst/>
              </a:prstGeom>
              <a:ln w="19050">
                <a:solidFill>
                  <a:schemeClr val="tx1"/>
                </a:solidFill>
              </a:ln>
            </p:spPr>
            <p:style>
              <a:lnRef idx="1">
                <a:schemeClr val="dk1"/>
              </a:lnRef>
              <a:fillRef idx="0">
                <a:schemeClr val="dk1"/>
              </a:fillRef>
              <a:effectRef idx="0">
                <a:schemeClr val="dk1"/>
              </a:effectRef>
              <a:fontRef idx="minor">
                <a:schemeClr val="tx1"/>
              </a:fontRef>
            </p:style>
          </p:cxnSp>
          <p:cxnSp>
            <p:nvCxnSpPr>
              <p:cNvPr id="71" name="直接箭头连接符 70"/>
              <p:cNvCxnSpPr/>
              <p:nvPr/>
            </p:nvCxnSpPr>
            <p:spPr>
              <a:xfrm rot="21386230" flipV="1">
                <a:off x="5346994" y="1076328"/>
                <a:ext cx="1815356" cy="460323"/>
              </a:xfrm>
              <a:prstGeom prst="straightConnector1">
                <a:avLst/>
              </a:prstGeom>
              <a:ln w="9525">
                <a:solidFill>
                  <a:schemeClr val="tx1"/>
                </a:solidFill>
                <a:headEnd type="triangle"/>
                <a:tailEnd type="triangle"/>
              </a:ln>
            </p:spPr>
            <p:style>
              <a:lnRef idx="1">
                <a:schemeClr val="dk1"/>
              </a:lnRef>
              <a:fillRef idx="0">
                <a:schemeClr val="dk1"/>
              </a:fillRef>
              <a:effectRef idx="0">
                <a:schemeClr val="dk1"/>
              </a:effectRef>
              <a:fontRef idx="minor">
                <a:schemeClr val="tx1"/>
              </a:fontRef>
            </p:style>
          </p:cxnSp>
          <p:sp>
            <p:nvSpPr>
              <p:cNvPr id="72" name="Text Box 178"/>
              <p:cNvSpPr txBox="1">
                <a:spLocks noChangeArrowheads="1"/>
              </p:cNvSpPr>
              <p:nvPr/>
            </p:nvSpPr>
            <p:spPr bwMode="auto">
              <a:xfrm rot="20617256">
                <a:off x="5657135" y="985903"/>
                <a:ext cx="1027085" cy="365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FF"/>
                    </a:solidFill>
                    <a:latin typeface="微软雅黑" pitchFamily="34" charset="-122"/>
                    <a:ea typeface="微软雅黑" pitchFamily="34" charset="-122"/>
                  </a:rPr>
                  <a:t>跳数 </a:t>
                </a:r>
                <a:r>
                  <a:rPr kumimoji="1" lang="en-US" altLang="zh-CN" sz="1400" b="1" dirty="0">
                    <a:solidFill>
                      <a:srgbClr val="0000FF"/>
                    </a:solidFill>
                    <a:latin typeface="微软雅黑" pitchFamily="34" charset="-122"/>
                    <a:ea typeface="微软雅黑" pitchFamily="34" charset="-122"/>
                  </a:rPr>
                  <a:t>= 1</a:t>
                </a:r>
              </a:p>
            </p:txBody>
          </p:sp>
        </p:grpSp>
        <p:pic>
          <p:nvPicPr>
            <p:cNvPr id="67" name="Picture 1462"/>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182547" y="2652108"/>
              <a:ext cx="477837"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 name="Picture 1466"/>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324107" y="2154675"/>
              <a:ext cx="476250"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Text Box 178"/>
            <p:cNvSpPr txBox="1">
              <a:spLocks noChangeArrowheads="1"/>
            </p:cNvSpPr>
            <p:nvPr/>
          </p:nvSpPr>
          <p:spPr bwMode="auto">
            <a:xfrm>
              <a:off x="6398986" y="2466197"/>
              <a:ext cx="27283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E</a:t>
              </a:r>
            </a:p>
          </p:txBody>
        </p:sp>
      </p:grpSp>
      <p:sp>
        <p:nvSpPr>
          <p:cNvPr id="164" name="Text Box 178"/>
          <p:cNvSpPr txBox="1">
            <a:spLocks noChangeArrowheads="1"/>
          </p:cNvSpPr>
          <p:nvPr/>
        </p:nvSpPr>
        <p:spPr bwMode="auto">
          <a:xfrm>
            <a:off x="1887135" y="4206537"/>
            <a:ext cx="5753498" cy="6565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2200"/>
              </a:lnSpc>
            </a:pPr>
            <a:r>
              <a:rPr kumimoji="1" lang="zh-CN" altLang="en-US" b="1" dirty="0">
                <a:latin typeface="微软雅黑" pitchFamily="34" charset="-122"/>
                <a:ea typeface="微软雅黑" pitchFamily="34" charset="-122"/>
              </a:rPr>
              <a:t>路由 </a:t>
            </a:r>
            <a:r>
              <a:rPr kumimoji="1" lang="en-US" altLang="zh-CN" b="1" dirty="0">
                <a:latin typeface="微软雅黑" pitchFamily="34" charset="-122"/>
                <a:ea typeface="微软雅黑" pitchFamily="34" charset="-122"/>
              </a:rPr>
              <a:t>A-B-E </a:t>
            </a:r>
            <a:r>
              <a:rPr kumimoji="1" lang="zh-CN" altLang="en-US" b="1" dirty="0">
                <a:latin typeface="微软雅黑" pitchFamily="34" charset="-122"/>
                <a:ea typeface="微软雅黑" pitchFamily="34" charset="-122"/>
              </a:rPr>
              <a:t>的距离 </a:t>
            </a:r>
            <a:r>
              <a:rPr kumimoji="1" lang="en-US" altLang="zh-CN" b="1" dirty="0">
                <a:latin typeface="微软雅黑" pitchFamily="34" charset="-122"/>
                <a:ea typeface="微软雅黑" pitchFamily="34" charset="-122"/>
              </a:rPr>
              <a:t>= 2</a:t>
            </a:r>
            <a:r>
              <a:rPr kumimoji="1" lang="zh-CN" altLang="en-US" b="1" dirty="0">
                <a:latin typeface="微软雅黑" pitchFamily="34" charset="-122"/>
                <a:ea typeface="微软雅黑" pitchFamily="34" charset="-122"/>
              </a:rPr>
              <a:t>，路由 </a:t>
            </a:r>
            <a:r>
              <a:rPr kumimoji="1" lang="en-US" altLang="zh-CN" b="1" dirty="0">
                <a:latin typeface="微软雅黑" pitchFamily="34" charset="-122"/>
                <a:ea typeface="微软雅黑" pitchFamily="34" charset="-122"/>
              </a:rPr>
              <a:t>A-C-D-E </a:t>
            </a:r>
            <a:r>
              <a:rPr kumimoji="1" lang="zh-CN" altLang="en-US" b="1" dirty="0">
                <a:latin typeface="微软雅黑" pitchFamily="34" charset="-122"/>
                <a:ea typeface="微软雅黑" pitchFamily="34" charset="-122"/>
              </a:rPr>
              <a:t>的距离 </a:t>
            </a:r>
            <a:r>
              <a:rPr kumimoji="1" lang="en-US" altLang="zh-CN" b="1" dirty="0">
                <a:latin typeface="微软雅黑" pitchFamily="34" charset="-122"/>
                <a:ea typeface="微软雅黑" pitchFamily="34" charset="-122"/>
              </a:rPr>
              <a:t>= 3</a:t>
            </a:r>
            <a:r>
              <a:rPr kumimoji="1" lang="zh-CN" altLang="en-US" b="1" dirty="0">
                <a:latin typeface="微软雅黑" pitchFamily="34" charset="-122"/>
                <a:ea typeface="微软雅黑" pitchFamily="34" charset="-122"/>
              </a:rPr>
              <a:t>。</a:t>
            </a:r>
            <a:endParaRPr kumimoji="1" lang="en-US" altLang="zh-CN" b="1" dirty="0">
              <a:latin typeface="微软雅黑" pitchFamily="34" charset="-122"/>
              <a:ea typeface="微软雅黑" pitchFamily="34" charset="-122"/>
            </a:endParaRPr>
          </a:p>
          <a:p>
            <a:pPr>
              <a:lnSpc>
                <a:spcPts val="2200"/>
              </a:lnSpc>
            </a:pPr>
            <a:r>
              <a:rPr kumimoji="1" lang="zh-CN" altLang="en-US" b="1" dirty="0">
                <a:solidFill>
                  <a:srgbClr val="C00000"/>
                </a:solidFill>
                <a:latin typeface="微软雅黑" pitchFamily="34" charset="-122"/>
                <a:ea typeface="微软雅黑" pitchFamily="34" charset="-122"/>
              </a:rPr>
              <a:t>最佳路由为 </a:t>
            </a:r>
            <a:r>
              <a:rPr kumimoji="1" lang="en-US" altLang="zh-CN" b="1" dirty="0">
                <a:solidFill>
                  <a:srgbClr val="C00000"/>
                </a:solidFill>
                <a:latin typeface="微软雅黑" pitchFamily="34" charset="-122"/>
                <a:ea typeface="微软雅黑" pitchFamily="34" charset="-122"/>
              </a:rPr>
              <a:t>A-B-E</a:t>
            </a:r>
            <a:r>
              <a:rPr kumimoji="1" lang="zh-CN" altLang="en-US" b="1" dirty="0">
                <a:solidFill>
                  <a:srgbClr val="C00000"/>
                </a:solidFill>
                <a:latin typeface="微软雅黑" pitchFamily="34" charset="-122"/>
                <a:ea typeface="微软雅黑" pitchFamily="34" charset="-122"/>
              </a:rPr>
              <a:t>。</a:t>
            </a:r>
            <a:endParaRPr kumimoji="1" lang="en-US" altLang="zh-CN" b="1" dirty="0">
              <a:solidFill>
                <a:srgbClr val="C00000"/>
              </a:solidFill>
              <a:latin typeface="微软雅黑" pitchFamily="34" charset="-122"/>
              <a:ea typeface="微软雅黑" pitchFamily="34" charset="-122"/>
            </a:endParaRPr>
          </a:p>
        </p:txBody>
      </p:sp>
    </p:spTree>
    <p:extLst>
      <p:ext uri="{BB962C8B-B14F-4D97-AF65-F5344CB8AC3E}">
        <p14:creationId xmlns:p14="http://schemas.microsoft.com/office/powerpoint/2010/main" val="185512322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616085" y="616488"/>
            <a:ext cx="7853464"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57720"/>
            <a:ext cx="2491388" cy="400110"/>
          </a:xfrm>
          <a:prstGeom prst="rect">
            <a:avLst/>
          </a:prstGeom>
        </p:spPr>
        <p:txBody>
          <a:bodyPr wrap="none">
            <a:spAutoFit/>
          </a:bodyPr>
          <a:lstStyle/>
          <a:p>
            <a:r>
              <a:rPr lang="en-US" altLang="zh-CN" sz="2000" b="1" dirty="0">
                <a:latin typeface="微软雅黑" pitchFamily="34" charset="-122"/>
                <a:ea typeface="微软雅黑" pitchFamily="34" charset="-122"/>
              </a:rPr>
              <a:t>RIP </a:t>
            </a:r>
            <a:r>
              <a:rPr lang="zh-CN" altLang="en-US" sz="2000" b="1" dirty="0">
                <a:latin typeface="微软雅黑" pitchFamily="34" charset="-122"/>
                <a:ea typeface="微软雅黑" pitchFamily="34" charset="-122"/>
              </a:rPr>
              <a:t>协议的三个特点</a:t>
            </a:r>
          </a:p>
        </p:txBody>
      </p:sp>
      <p:sp>
        <p:nvSpPr>
          <p:cNvPr id="4" name="矩形 3"/>
          <p:cNvSpPr/>
          <p:nvPr/>
        </p:nvSpPr>
        <p:spPr>
          <a:xfrm>
            <a:off x="616084" y="950048"/>
            <a:ext cx="7957547" cy="1692258"/>
          </a:xfrm>
          <a:prstGeom prst="rect">
            <a:avLst/>
          </a:prstGeom>
        </p:spPr>
        <p:txBody>
          <a:bodyPr wrap="square">
            <a:spAutoFit/>
          </a:bodyPr>
          <a:lstStyle/>
          <a:p>
            <a:pPr marL="360363" indent="-342900">
              <a:lnSpc>
                <a:spcPts val="3200"/>
              </a:lnSpc>
              <a:buClr>
                <a:srgbClr val="7030A0"/>
              </a:buClr>
              <a:buFont typeface="+mj-lt"/>
              <a:buAutoNum type="arabicPeriod"/>
            </a:pPr>
            <a:r>
              <a:rPr lang="zh-CN" altLang="en-US" sz="2000" b="1" dirty="0">
                <a:latin typeface="微软雅黑" pitchFamily="34" charset="-122"/>
                <a:ea typeface="微软雅黑" pitchFamily="34" charset="-122"/>
              </a:rPr>
              <a:t>仅和</a:t>
            </a:r>
            <a:r>
              <a:rPr lang="zh-CN" altLang="en-US" sz="2000" b="1" dirty="0">
                <a:solidFill>
                  <a:srgbClr val="C00000"/>
                </a:solidFill>
                <a:latin typeface="微软雅黑" pitchFamily="34" charset="-122"/>
                <a:ea typeface="微软雅黑" pitchFamily="34" charset="-122"/>
              </a:rPr>
              <a:t>相邻</a:t>
            </a:r>
            <a:r>
              <a:rPr lang="zh-CN" altLang="en-US" sz="2000" b="1" dirty="0">
                <a:latin typeface="微软雅黑" pitchFamily="34" charset="-122"/>
                <a:ea typeface="微软雅黑" pitchFamily="34" charset="-122"/>
              </a:rPr>
              <a:t>路由器交换信息。 </a:t>
            </a:r>
          </a:p>
          <a:p>
            <a:pPr marL="360363" indent="-342900">
              <a:lnSpc>
                <a:spcPts val="3200"/>
              </a:lnSpc>
              <a:buClr>
                <a:srgbClr val="7030A0"/>
              </a:buClr>
              <a:buFont typeface="+mj-lt"/>
              <a:buAutoNum type="arabicPeriod"/>
            </a:pPr>
            <a:r>
              <a:rPr lang="zh-CN" altLang="en-US" sz="2000" b="1" dirty="0">
                <a:latin typeface="微软雅黑" pitchFamily="34" charset="-122"/>
                <a:ea typeface="微软雅黑" pitchFamily="34" charset="-122"/>
              </a:rPr>
              <a:t>交换的信息是当前本路由器所知道的</a:t>
            </a:r>
            <a:r>
              <a:rPr lang="zh-CN" altLang="en-US" sz="2000" b="1" dirty="0">
                <a:solidFill>
                  <a:srgbClr val="C00000"/>
                </a:solidFill>
                <a:latin typeface="微软雅黑" pitchFamily="34" charset="-122"/>
                <a:ea typeface="微软雅黑" pitchFamily="34" charset="-122"/>
              </a:rPr>
              <a:t>全部</a:t>
            </a:r>
            <a:r>
              <a:rPr lang="zh-CN" altLang="en-US" sz="2000" b="1" dirty="0">
                <a:latin typeface="微软雅黑" pitchFamily="34" charset="-122"/>
                <a:ea typeface="微软雅黑" pitchFamily="34" charset="-122"/>
              </a:rPr>
              <a:t>信息，即自己的路由表。 </a:t>
            </a:r>
          </a:p>
          <a:p>
            <a:pPr marL="360363" indent="-342900">
              <a:lnSpc>
                <a:spcPts val="3200"/>
              </a:lnSpc>
              <a:buClr>
                <a:srgbClr val="7030A0"/>
              </a:buClr>
              <a:buFont typeface="+mj-lt"/>
              <a:buAutoNum type="arabicPeriod"/>
            </a:pPr>
            <a:r>
              <a:rPr lang="zh-CN" altLang="en-US" sz="2000" b="1" dirty="0">
                <a:latin typeface="微软雅黑" pitchFamily="34" charset="-122"/>
                <a:ea typeface="微软雅黑" pitchFamily="34" charset="-122"/>
              </a:rPr>
              <a:t>按</a:t>
            </a:r>
            <a:r>
              <a:rPr lang="zh-CN" altLang="en-US" sz="2000" b="1" dirty="0">
                <a:solidFill>
                  <a:srgbClr val="C00000"/>
                </a:solidFill>
                <a:latin typeface="微软雅黑" pitchFamily="34" charset="-122"/>
                <a:ea typeface="微软雅黑" pitchFamily="34" charset="-122"/>
              </a:rPr>
              <a:t>固定时间间隔</a:t>
            </a:r>
            <a:r>
              <a:rPr lang="zh-CN" altLang="en-US" sz="2000" b="1" dirty="0">
                <a:latin typeface="微软雅黑" pitchFamily="34" charset="-122"/>
                <a:ea typeface="微软雅黑" pitchFamily="34" charset="-122"/>
              </a:rPr>
              <a:t>交换路由信息，例如，每隔 </a:t>
            </a:r>
            <a:r>
              <a:rPr lang="en-US" altLang="zh-CN" sz="2000" b="1" dirty="0">
                <a:latin typeface="微软雅黑" pitchFamily="34" charset="-122"/>
                <a:ea typeface="微软雅黑" pitchFamily="34" charset="-122"/>
              </a:rPr>
              <a:t>30 </a:t>
            </a:r>
            <a:r>
              <a:rPr lang="zh-CN" altLang="en-US" sz="2000" b="1" dirty="0">
                <a:latin typeface="微软雅黑" pitchFamily="34" charset="-122"/>
                <a:ea typeface="微软雅黑" pitchFamily="34" charset="-122"/>
              </a:rPr>
              <a:t>秒。当网络拓扑发生变化时，路由器也及时向相邻路由器通告拓扑变化后的路由信息。</a:t>
            </a:r>
          </a:p>
        </p:txBody>
      </p:sp>
    </p:spTree>
    <p:extLst>
      <p:ext uri="{BB962C8B-B14F-4D97-AF65-F5344CB8AC3E}">
        <p14:creationId xmlns:p14="http://schemas.microsoft.com/office/powerpoint/2010/main" val="38606265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616870"/>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5"/>
          <p:cNvSpPr/>
          <p:nvPr/>
        </p:nvSpPr>
        <p:spPr>
          <a:xfrm>
            <a:off x="616085" y="558102"/>
            <a:ext cx="1723549" cy="400110"/>
          </a:xfrm>
          <a:prstGeom prst="rect">
            <a:avLst/>
          </a:prstGeom>
        </p:spPr>
        <p:txBody>
          <a:bodyPr wrap="none">
            <a:spAutoFit/>
          </a:bodyPr>
          <a:lstStyle/>
          <a:p>
            <a:r>
              <a:rPr lang="zh-CN" altLang="en-US" sz="2000" b="1" dirty="0">
                <a:latin typeface="微软雅黑" pitchFamily="34" charset="-122"/>
                <a:ea typeface="微软雅黑" pitchFamily="34" charset="-122"/>
              </a:rPr>
              <a:t>路由表的建立</a:t>
            </a:r>
          </a:p>
        </p:txBody>
      </p:sp>
      <p:sp>
        <p:nvSpPr>
          <p:cNvPr id="7" name="矩形 6"/>
          <p:cNvSpPr/>
          <p:nvPr/>
        </p:nvSpPr>
        <p:spPr>
          <a:xfrm>
            <a:off x="545144" y="950430"/>
            <a:ext cx="8053712" cy="3477875"/>
          </a:xfrm>
          <a:prstGeom prst="rect">
            <a:avLst/>
          </a:prstGeom>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路由器在</a:t>
            </a:r>
            <a:r>
              <a:rPr lang="zh-CN" altLang="en-US" sz="2000" b="1" dirty="0">
                <a:solidFill>
                  <a:srgbClr val="0000FF"/>
                </a:solidFill>
                <a:latin typeface="微软雅黑" pitchFamily="34" charset="-122"/>
                <a:ea typeface="微软雅黑" pitchFamily="34" charset="-122"/>
              </a:rPr>
              <a:t>刚刚开始工作</a:t>
            </a:r>
            <a:r>
              <a:rPr lang="zh-CN" altLang="en-US" sz="2000" b="1" dirty="0">
                <a:latin typeface="微软雅黑" pitchFamily="34" charset="-122"/>
                <a:ea typeface="微软雅黑" pitchFamily="34" charset="-122"/>
              </a:rPr>
              <a:t>时，</a:t>
            </a:r>
            <a:r>
              <a:rPr lang="zh-CN" altLang="en-US" sz="2000" b="1" dirty="0">
                <a:solidFill>
                  <a:srgbClr val="0000FF"/>
                </a:solidFill>
                <a:latin typeface="微软雅黑" pitchFamily="34" charset="-122"/>
                <a:ea typeface="微软雅黑" pitchFamily="34" charset="-122"/>
              </a:rPr>
              <a:t>路由表是空的</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然后，得到</a:t>
            </a:r>
            <a:r>
              <a:rPr lang="zh-CN" altLang="en-US" sz="2000" b="1" dirty="0">
                <a:solidFill>
                  <a:srgbClr val="0000FF"/>
                </a:solidFill>
                <a:latin typeface="微软雅黑" pitchFamily="34" charset="-122"/>
                <a:ea typeface="微软雅黑" pitchFamily="34" charset="-122"/>
              </a:rPr>
              <a:t>直接连接</a:t>
            </a:r>
            <a:r>
              <a:rPr lang="zh-CN" altLang="en-US" sz="2000" b="1" dirty="0">
                <a:latin typeface="微软雅黑" pitchFamily="34" charset="-122"/>
                <a:ea typeface="微软雅黑" pitchFamily="34" charset="-122"/>
              </a:rPr>
              <a:t>的网络的距离（此距离定义为 </a:t>
            </a:r>
            <a:r>
              <a:rPr lang="en-US" altLang="zh-CN" sz="2000" b="1" dirty="0">
                <a:latin typeface="微软雅黑" pitchFamily="34" charset="-122"/>
                <a:ea typeface="微软雅黑" pitchFamily="34" charset="-122"/>
              </a:rPr>
              <a:t>1</a:t>
            </a:r>
            <a:r>
              <a:rPr lang="zh-CN" altLang="en-US" sz="2000" b="1" dirty="0">
                <a:latin typeface="微软雅黑" pitchFamily="34" charset="-122"/>
                <a:ea typeface="微软雅黑" pitchFamily="34" charset="-122"/>
              </a:rPr>
              <a:t>）。</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之后，每一个路由器也只和数目非常有限的相邻路由器</a:t>
            </a:r>
            <a:r>
              <a:rPr lang="zh-CN" altLang="en-US" sz="2000" b="1" dirty="0">
                <a:solidFill>
                  <a:srgbClr val="0000FF"/>
                </a:solidFill>
                <a:latin typeface="微软雅黑" pitchFamily="34" charset="-122"/>
                <a:ea typeface="微软雅黑" pitchFamily="34" charset="-122"/>
              </a:rPr>
              <a:t>交换并更新</a:t>
            </a:r>
            <a:r>
              <a:rPr lang="zh-CN" altLang="en-US" sz="2000" b="1" dirty="0">
                <a:latin typeface="微软雅黑" pitchFamily="34" charset="-122"/>
                <a:ea typeface="微软雅黑" pitchFamily="34" charset="-122"/>
              </a:rPr>
              <a:t>路由信息。</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经过若干次更新后，所有的路由器</a:t>
            </a:r>
            <a:r>
              <a:rPr lang="zh-CN" altLang="en-US" sz="2000" b="1" dirty="0">
                <a:solidFill>
                  <a:srgbClr val="0000FF"/>
                </a:solidFill>
                <a:latin typeface="微软雅黑" pitchFamily="34" charset="-122"/>
                <a:ea typeface="微软雅黑" pitchFamily="34" charset="-122"/>
              </a:rPr>
              <a:t>最终</a:t>
            </a:r>
            <a:r>
              <a:rPr lang="zh-CN" altLang="en-US" sz="2000" b="1" dirty="0">
                <a:latin typeface="微软雅黑" pitchFamily="34" charset="-122"/>
                <a:ea typeface="微软雅黑" pitchFamily="34" charset="-122"/>
              </a:rPr>
              <a:t>都会知道到达本自治系统中任何一个网络的</a:t>
            </a:r>
            <a:r>
              <a:rPr lang="zh-CN" altLang="en-US" sz="2000" b="1" dirty="0">
                <a:solidFill>
                  <a:srgbClr val="0000FF"/>
                </a:solidFill>
                <a:latin typeface="微软雅黑" pitchFamily="34" charset="-122"/>
                <a:ea typeface="微软雅黑" pitchFamily="34" charset="-122"/>
              </a:rPr>
              <a:t>最短距离</a:t>
            </a:r>
            <a:r>
              <a:rPr lang="zh-CN" altLang="en-US" sz="2000" b="1" dirty="0">
                <a:latin typeface="微软雅黑" pitchFamily="34" charset="-122"/>
                <a:ea typeface="微软雅黑" pitchFamily="34" charset="-122"/>
              </a:rPr>
              <a:t>和下一跳路由器的地址。</a:t>
            </a:r>
          </a:p>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RIP </a:t>
            </a:r>
            <a:r>
              <a:rPr lang="zh-CN" altLang="en-US" sz="2000" b="1" dirty="0">
                <a:latin typeface="微软雅黑" pitchFamily="34" charset="-122"/>
                <a:ea typeface="微软雅黑" pitchFamily="34" charset="-122"/>
              </a:rPr>
              <a:t>协议的</a:t>
            </a:r>
            <a:r>
              <a:rPr lang="zh-CN" altLang="en-US" sz="2000" b="1" dirty="0">
                <a:solidFill>
                  <a:srgbClr val="0000FF"/>
                </a:solidFill>
                <a:latin typeface="微软雅黑" pitchFamily="34" charset="-122"/>
                <a:ea typeface="微软雅黑" pitchFamily="34" charset="-122"/>
              </a:rPr>
              <a:t>收敛</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(convergence) </a:t>
            </a:r>
            <a:r>
              <a:rPr lang="zh-CN" altLang="en-US" sz="2000" b="1" dirty="0">
                <a:latin typeface="微软雅黑" pitchFamily="34" charset="-122"/>
                <a:ea typeface="微软雅黑" pitchFamily="34" charset="-122"/>
              </a:rPr>
              <a:t>过程较快。“收敛”就是在自治系统中所有的结点都得到正确的路由选择信息的过程。 </a:t>
            </a:r>
          </a:p>
        </p:txBody>
      </p:sp>
    </p:spTree>
    <p:extLst>
      <p:ext uri="{BB962C8B-B14F-4D97-AF65-F5344CB8AC3E}">
        <p14:creationId xmlns:p14="http://schemas.microsoft.com/office/powerpoint/2010/main" val="81083272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616870"/>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5"/>
          <p:cNvSpPr/>
          <p:nvPr/>
        </p:nvSpPr>
        <p:spPr>
          <a:xfrm>
            <a:off x="616085" y="558102"/>
            <a:ext cx="3262432" cy="400110"/>
          </a:xfrm>
          <a:prstGeom prst="rect">
            <a:avLst/>
          </a:prstGeom>
        </p:spPr>
        <p:txBody>
          <a:bodyPr wrap="none">
            <a:spAutoFit/>
          </a:bodyPr>
          <a:lstStyle/>
          <a:p>
            <a:r>
              <a:rPr lang="zh-CN" altLang="en-US" sz="2000" b="1" dirty="0">
                <a:latin typeface="微软雅黑" pitchFamily="34" charset="-122"/>
                <a:ea typeface="微软雅黑" pitchFamily="34" charset="-122"/>
              </a:rPr>
              <a:t>路由表主要信息和更新规则</a:t>
            </a:r>
          </a:p>
        </p:txBody>
      </p:sp>
      <p:sp>
        <p:nvSpPr>
          <p:cNvPr id="7" name="矩形 6"/>
          <p:cNvSpPr/>
          <p:nvPr/>
        </p:nvSpPr>
        <p:spPr>
          <a:xfrm>
            <a:off x="545144" y="950430"/>
            <a:ext cx="8053712" cy="3054682"/>
          </a:xfrm>
          <a:prstGeom prst="rect">
            <a:avLst/>
          </a:prstGeom>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路由表主要信息：</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路由表更新规则：</a:t>
            </a:r>
            <a:endParaRPr lang="en-US" altLang="zh-CN" sz="2000" b="1" dirty="0">
              <a:latin typeface="微软雅黑" pitchFamily="34" charset="-122"/>
              <a:ea typeface="微软雅黑" pitchFamily="34" charset="-122"/>
            </a:endParaRPr>
          </a:p>
          <a:p>
            <a:pPr>
              <a:lnSpc>
                <a:spcPts val="3300"/>
              </a:lnSpc>
              <a:buClr>
                <a:srgbClr val="0070C0"/>
              </a:buClr>
            </a:pPr>
            <a:r>
              <a:rPr lang="en-US" altLang="zh-CN" sz="2000" b="1" dirty="0">
                <a:latin typeface="微软雅黑" pitchFamily="34" charset="-122"/>
                <a:ea typeface="微软雅黑" pitchFamily="34" charset="-122"/>
              </a:rPr>
              <a:t>    </a:t>
            </a:r>
            <a:r>
              <a:rPr lang="zh-CN" altLang="en-US" sz="2000" b="1" dirty="0">
                <a:solidFill>
                  <a:srgbClr val="C00000"/>
                </a:solidFill>
                <a:latin typeface="微软雅黑" pitchFamily="34" charset="-122"/>
                <a:ea typeface="微软雅黑" pitchFamily="34" charset="-122"/>
              </a:rPr>
              <a:t>使用</a:t>
            </a:r>
            <a:r>
              <a:rPr lang="zh-CN" altLang="en-US" sz="2000" b="1" dirty="0">
                <a:solidFill>
                  <a:srgbClr val="0000FF"/>
                </a:solidFill>
                <a:latin typeface="微软雅黑" pitchFamily="34" charset="-122"/>
                <a:ea typeface="微软雅黑" pitchFamily="34" charset="-122"/>
              </a:rPr>
              <a:t>距离向量算法</a:t>
            </a:r>
            <a:r>
              <a:rPr lang="zh-CN" altLang="en-US" sz="2000" b="1" dirty="0">
                <a:solidFill>
                  <a:srgbClr val="C00000"/>
                </a:solidFill>
                <a:latin typeface="微软雅黑" pitchFamily="34" charset="-122"/>
                <a:ea typeface="微软雅黑" pitchFamily="34" charset="-122"/>
              </a:rPr>
              <a:t>找出到达每个目的网络的</a:t>
            </a:r>
            <a:r>
              <a:rPr lang="zh-CN" altLang="en-US" sz="2000" b="1" dirty="0">
                <a:solidFill>
                  <a:srgbClr val="0000FF"/>
                </a:solidFill>
                <a:latin typeface="微软雅黑" pitchFamily="34" charset="-122"/>
                <a:ea typeface="微软雅黑" pitchFamily="34" charset="-122"/>
              </a:rPr>
              <a:t>最短距离。</a:t>
            </a:r>
          </a:p>
        </p:txBody>
      </p:sp>
      <p:graphicFrame>
        <p:nvGraphicFramePr>
          <p:cNvPr id="2" name="表格 1"/>
          <p:cNvGraphicFramePr>
            <a:graphicFrameLocks noGrp="1"/>
          </p:cNvGraphicFramePr>
          <p:nvPr>
            <p:extLst>
              <p:ext uri="{D42A27DB-BD31-4B8C-83A1-F6EECF244321}">
                <p14:modId xmlns:p14="http://schemas.microsoft.com/office/powerpoint/2010/main" val="1311060397"/>
              </p:ext>
            </p:extLst>
          </p:nvPr>
        </p:nvGraphicFramePr>
        <p:xfrm>
          <a:off x="1413164" y="1518804"/>
          <a:ext cx="6096000" cy="1341120"/>
        </p:xfrm>
        <a:graphic>
          <a:graphicData uri="http://schemas.openxmlformats.org/drawingml/2006/table">
            <a:tbl>
              <a:tblPr firstRow="1" bandRow="1">
                <a:tableStyleId>{5C22544A-7EE6-4342-B048-85BDC9FD1C3A}</a:tableStyleId>
              </a:tblPr>
              <a:tblGrid>
                <a:gridCol w="2032000">
                  <a:extLst>
                    <a:ext uri="{9D8B030D-6E8A-4147-A177-3AD203B41FA5}">
                      <a16:colId xmlns:a16="http://schemas.microsoft.com/office/drawing/2014/main" val="4066635892"/>
                    </a:ext>
                  </a:extLst>
                </a:gridCol>
                <a:gridCol w="2032000">
                  <a:extLst>
                    <a:ext uri="{9D8B030D-6E8A-4147-A177-3AD203B41FA5}">
                      <a16:colId xmlns:a16="http://schemas.microsoft.com/office/drawing/2014/main" val="2958364535"/>
                    </a:ext>
                  </a:extLst>
                </a:gridCol>
                <a:gridCol w="2032000">
                  <a:extLst>
                    <a:ext uri="{9D8B030D-6E8A-4147-A177-3AD203B41FA5}">
                      <a16:colId xmlns:a16="http://schemas.microsoft.com/office/drawing/2014/main" val="3111467422"/>
                    </a:ext>
                  </a:extLst>
                </a:gridCol>
              </a:tblGrid>
              <a:tr h="283008">
                <a:tc>
                  <a:txBody>
                    <a:bodyPr/>
                    <a:lstStyle/>
                    <a:p>
                      <a:pPr algn="ctr"/>
                      <a:r>
                        <a:rPr lang="zh-CN" altLang="en-US" sz="1600" dirty="0">
                          <a:solidFill>
                            <a:schemeClr val="bg1"/>
                          </a:solidFill>
                          <a:latin typeface="微软雅黑" panose="020B0503020204020204" pitchFamily="34" charset="-122"/>
                          <a:ea typeface="微软雅黑" panose="020B0503020204020204" pitchFamily="34" charset="-122"/>
                        </a:rPr>
                        <a:t>目的网络</a:t>
                      </a:r>
                      <a:endParaRPr lang="zh-CN" altLang="en-US" sz="1600" b="1" dirty="0">
                        <a:solidFill>
                          <a:schemeClr val="bg1"/>
                        </a:solidFill>
                        <a:latin typeface="微软雅黑" panose="020B0503020204020204" pitchFamily="34" charset="-122"/>
                        <a:ea typeface="微软雅黑" panose="020B0503020204020204" pitchFamily="34" charset="-122"/>
                      </a:endParaRPr>
                    </a:p>
                  </a:txBody>
                  <a:tcPr anchor="ctr"/>
                </a:tc>
                <a:tc>
                  <a:txBody>
                    <a:bodyPr/>
                    <a:lstStyle/>
                    <a:p>
                      <a:pPr algn="ctr"/>
                      <a:r>
                        <a:rPr lang="zh-CN" altLang="en-US" sz="1600" dirty="0">
                          <a:solidFill>
                            <a:schemeClr val="bg1"/>
                          </a:solidFill>
                          <a:latin typeface="微软雅黑" panose="020B0503020204020204" pitchFamily="34" charset="-122"/>
                          <a:ea typeface="微软雅黑" panose="020B0503020204020204" pitchFamily="34" charset="-122"/>
                        </a:rPr>
                        <a:t>距离（最短）</a:t>
                      </a:r>
                      <a:endParaRPr lang="zh-CN" altLang="en-US" sz="1600" b="1" dirty="0">
                        <a:solidFill>
                          <a:schemeClr val="bg1"/>
                        </a:solidFill>
                        <a:latin typeface="微软雅黑" panose="020B0503020204020204" pitchFamily="34" charset="-122"/>
                        <a:ea typeface="微软雅黑" panose="020B0503020204020204" pitchFamily="34" charset="-122"/>
                      </a:endParaRPr>
                    </a:p>
                  </a:txBody>
                  <a:tcPr anchor="ctr"/>
                </a:tc>
                <a:tc>
                  <a:txBody>
                    <a:bodyPr/>
                    <a:lstStyle/>
                    <a:p>
                      <a:pPr algn="ctr"/>
                      <a:r>
                        <a:rPr lang="zh-CN" altLang="en-US" sz="1600" dirty="0">
                          <a:solidFill>
                            <a:schemeClr val="bg1"/>
                          </a:solidFill>
                          <a:latin typeface="微软雅黑" panose="020B0503020204020204" pitchFamily="34" charset="-122"/>
                          <a:ea typeface="微软雅黑" panose="020B0503020204020204" pitchFamily="34" charset="-122"/>
                        </a:rPr>
                        <a:t>下一跳地址</a:t>
                      </a:r>
                      <a:endParaRPr lang="zh-CN" altLang="en-US" sz="1600" b="1" dirty="0">
                        <a:solidFill>
                          <a:schemeClr val="bg1"/>
                        </a:solidFill>
                        <a:latin typeface="微软雅黑" panose="020B0503020204020204" pitchFamily="34" charset="-122"/>
                        <a:ea typeface="微软雅黑" panose="020B0503020204020204" pitchFamily="34" charset="-122"/>
                      </a:endParaRPr>
                    </a:p>
                  </a:txBody>
                  <a:tcPr anchor="ctr"/>
                </a:tc>
                <a:extLst>
                  <a:ext uri="{0D108BD9-81ED-4DB2-BD59-A6C34878D82A}">
                    <a16:rowId xmlns:a16="http://schemas.microsoft.com/office/drawing/2014/main" val="687519655"/>
                  </a:ext>
                </a:extLst>
              </a:tr>
              <a:tr h="283008">
                <a:tc>
                  <a:txBody>
                    <a:bodyPr/>
                    <a:lstStyle/>
                    <a:p>
                      <a:pPr algn="ctr"/>
                      <a:endParaRPr lang="zh-CN" altLang="en-US" sz="1600" b="1" dirty="0">
                        <a:solidFill>
                          <a:schemeClr val="tx1"/>
                        </a:solidFill>
                        <a:latin typeface="微软雅黑" panose="020B0503020204020204" pitchFamily="34" charset="-122"/>
                        <a:ea typeface="微软雅黑" panose="020B0503020204020204" pitchFamily="34" charset="-122"/>
                      </a:endParaRPr>
                    </a:p>
                  </a:txBody>
                  <a:tcPr anchor="ctr"/>
                </a:tc>
                <a:tc>
                  <a:txBody>
                    <a:bodyPr/>
                    <a:lstStyle/>
                    <a:p>
                      <a:pPr algn="ctr"/>
                      <a:endParaRPr lang="zh-CN" altLang="en-US" sz="1600" b="1">
                        <a:solidFill>
                          <a:schemeClr val="tx1"/>
                        </a:solidFill>
                        <a:latin typeface="微软雅黑" panose="020B0503020204020204" pitchFamily="34" charset="-122"/>
                        <a:ea typeface="微软雅黑" panose="020B0503020204020204" pitchFamily="34" charset="-122"/>
                      </a:endParaRPr>
                    </a:p>
                  </a:txBody>
                  <a:tcPr anchor="ctr"/>
                </a:tc>
                <a:tc>
                  <a:txBody>
                    <a:bodyPr/>
                    <a:lstStyle/>
                    <a:p>
                      <a:pPr algn="ctr"/>
                      <a:endParaRPr lang="zh-CN" altLang="en-US" sz="1600" b="1">
                        <a:solidFill>
                          <a:schemeClr val="tx1"/>
                        </a:solidFill>
                        <a:latin typeface="微软雅黑" panose="020B0503020204020204" pitchFamily="34" charset="-122"/>
                        <a:ea typeface="微软雅黑" panose="020B0503020204020204" pitchFamily="34" charset="-122"/>
                      </a:endParaRPr>
                    </a:p>
                  </a:txBody>
                  <a:tcPr anchor="ctr"/>
                </a:tc>
                <a:extLst>
                  <a:ext uri="{0D108BD9-81ED-4DB2-BD59-A6C34878D82A}">
                    <a16:rowId xmlns:a16="http://schemas.microsoft.com/office/drawing/2014/main" val="2001858409"/>
                  </a:ext>
                </a:extLst>
              </a:tr>
              <a:tr h="283008">
                <a:tc>
                  <a:txBody>
                    <a:bodyPr/>
                    <a:lstStyle/>
                    <a:p>
                      <a:pPr algn="ctr"/>
                      <a:endParaRPr lang="zh-CN" altLang="en-US" sz="1600" b="1" dirty="0">
                        <a:solidFill>
                          <a:schemeClr val="tx1"/>
                        </a:solidFill>
                        <a:latin typeface="微软雅黑" panose="020B0503020204020204" pitchFamily="34" charset="-122"/>
                        <a:ea typeface="微软雅黑" panose="020B0503020204020204" pitchFamily="34" charset="-122"/>
                      </a:endParaRPr>
                    </a:p>
                  </a:txBody>
                  <a:tcPr anchor="ctr"/>
                </a:tc>
                <a:tc>
                  <a:txBody>
                    <a:bodyPr/>
                    <a:lstStyle/>
                    <a:p>
                      <a:pPr algn="ctr"/>
                      <a:endParaRPr lang="zh-CN" altLang="en-US" sz="1600" b="1" dirty="0">
                        <a:solidFill>
                          <a:schemeClr val="tx1"/>
                        </a:solidFill>
                        <a:latin typeface="微软雅黑" panose="020B0503020204020204" pitchFamily="34" charset="-122"/>
                        <a:ea typeface="微软雅黑" panose="020B0503020204020204" pitchFamily="34" charset="-122"/>
                      </a:endParaRPr>
                    </a:p>
                  </a:txBody>
                  <a:tcPr anchor="ctr"/>
                </a:tc>
                <a:tc>
                  <a:txBody>
                    <a:bodyPr/>
                    <a:lstStyle/>
                    <a:p>
                      <a:pPr algn="ctr"/>
                      <a:endParaRPr lang="zh-CN" altLang="en-US" sz="1600" b="1" dirty="0">
                        <a:solidFill>
                          <a:schemeClr val="tx1"/>
                        </a:solidFill>
                        <a:latin typeface="微软雅黑" panose="020B0503020204020204" pitchFamily="34" charset="-122"/>
                        <a:ea typeface="微软雅黑" panose="020B0503020204020204" pitchFamily="34" charset="-122"/>
                      </a:endParaRPr>
                    </a:p>
                  </a:txBody>
                  <a:tcPr anchor="ctr"/>
                </a:tc>
                <a:extLst>
                  <a:ext uri="{0D108BD9-81ED-4DB2-BD59-A6C34878D82A}">
                    <a16:rowId xmlns:a16="http://schemas.microsoft.com/office/drawing/2014/main" val="3888851160"/>
                  </a:ext>
                </a:extLst>
              </a:tr>
              <a:tr h="283008">
                <a:tc>
                  <a:txBody>
                    <a:bodyPr/>
                    <a:lstStyle/>
                    <a:p>
                      <a:pPr algn="ctr"/>
                      <a:endParaRPr lang="zh-CN" altLang="en-US" sz="1600" b="1">
                        <a:solidFill>
                          <a:schemeClr val="tx1"/>
                        </a:solidFill>
                        <a:latin typeface="微软雅黑" panose="020B0503020204020204" pitchFamily="34" charset="-122"/>
                        <a:ea typeface="微软雅黑" panose="020B0503020204020204" pitchFamily="34" charset="-122"/>
                      </a:endParaRPr>
                    </a:p>
                  </a:txBody>
                  <a:tcPr anchor="ctr"/>
                </a:tc>
                <a:tc>
                  <a:txBody>
                    <a:bodyPr/>
                    <a:lstStyle/>
                    <a:p>
                      <a:pPr algn="ctr"/>
                      <a:endParaRPr lang="zh-CN" altLang="en-US" sz="1600" b="1">
                        <a:solidFill>
                          <a:schemeClr val="tx1"/>
                        </a:solidFill>
                        <a:latin typeface="微软雅黑" panose="020B0503020204020204" pitchFamily="34" charset="-122"/>
                        <a:ea typeface="微软雅黑" panose="020B0503020204020204" pitchFamily="34" charset="-122"/>
                      </a:endParaRPr>
                    </a:p>
                  </a:txBody>
                  <a:tcPr anchor="ctr"/>
                </a:tc>
                <a:tc>
                  <a:txBody>
                    <a:bodyPr/>
                    <a:lstStyle/>
                    <a:p>
                      <a:pPr algn="ctr"/>
                      <a:endParaRPr lang="zh-CN" altLang="en-US" sz="1600" b="1" dirty="0">
                        <a:solidFill>
                          <a:schemeClr val="tx1"/>
                        </a:solidFill>
                        <a:latin typeface="微软雅黑" panose="020B0503020204020204" pitchFamily="34" charset="-122"/>
                        <a:ea typeface="微软雅黑" panose="020B0503020204020204" pitchFamily="34" charset="-122"/>
                      </a:endParaRPr>
                    </a:p>
                  </a:txBody>
                  <a:tcPr anchor="ctr"/>
                </a:tc>
                <a:extLst>
                  <a:ext uri="{0D108BD9-81ED-4DB2-BD59-A6C34878D82A}">
                    <a16:rowId xmlns:a16="http://schemas.microsoft.com/office/drawing/2014/main" val="2402472287"/>
                  </a:ext>
                </a:extLst>
              </a:tr>
            </a:tbl>
          </a:graphicData>
        </a:graphic>
      </p:graphicFrame>
    </p:spTree>
    <p:extLst>
      <p:ext uri="{BB962C8B-B14F-4D97-AF65-F5344CB8AC3E}">
        <p14:creationId xmlns:p14="http://schemas.microsoft.com/office/powerpoint/2010/main" val="48658569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3" y="635800"/>
            <a:ext cx="8053713"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highlight>
                  <a:srgbClr val="FFFF00"/>
                </a:highlight>
                <a:latin typeface="微软雅黑" pitchFamily="34" charset="-122"/>
                <a:ea typeface="微软雅黑" pitchFamily="34" charset="-122"/>
              </a:rPr>
              <a:t>2. </a:t>
            </a:r>
            <a:r>
              <a:rPr lang="zh-CN" altLang="en-US" sz="2000" b="1" dirty="0">
                <a:highlight>
                  <a:srgbClr val="FFFF00"/>
                </a:highlight>
                <a:latin typeface="微软雅黑" pitchFamily="34" charset="-122"/>
                <a:ea typeface="微软雅黑" pitchFamily="34" charset="-122"/>
              </a:rPr>
              <a:t>距离向量算法</a:t>
            </a:r>
          </a:p>
        </p:txBody>
      </p:sp>
      <p:sp>
        <p:nvSpPr>
          <p:cNvPr id="5" name="圆角矩形 4"/>
          <p:cNvSpPr/>
          <p:nvPr/>
        </p:nvSpPr>
        <p:spPr>
          <a:xfrm>
            <a:off x="545143" y="1328084"/>
            <a:ext cx="8053713" cy="3114607"/>
          </a:xfrm>
          <a:prstGeom prst="roundRect">
            <a:avLst>
              <a:gd name="adj" fmla="val 10626"/>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 name="Text Box 3"/>
          <p:cNvSpPr txBox="1">
            <a:spLocks noChangeArrowheads="1"/>
          </p:cNvSpPr>
          <p:nvPr/>
        </p:nvSpPr>
        <p:spPr bwMode="auto">
          <a:xfrm>
            <a:off x="696617" y="1343256"/>
            <a:ext cx="7763892" cy="3041858"/>
          </a:xfrm>
          <a:prstGeom prst="rect">
            <a:avLst/>
          </a:prstGeom>
          <a:noFill/>
          <a:ln w="9525">
            <a:noFill/>
            <a:miter lim="800000"/>
            <a:headEnd/>
            <a:tailEnd/>
          </a:ln>
          <a:effectLst/>
        </p:spPr>
        <p:txBody>
          <a:bodyPr wrap="square">
            <a:spAutoFit/>
          </a:bodyPr>
          <a:lstStyle/>
          <a:p>
            <a:pPr>
              <a:lnSpc>
                <a:spcPts val="2300"/>
              </a:lnSpc>
            </a:pPr>
            <a:r>
              <a:rPr kumimoji="0" lang="en-US" altLang="zh-CN" sz="1500" b="1" dirty="0">
                <a:latin typeface="微软雅黑" pitchFamily="34" charset="-122"/>
                <a:ea typeface="微软雅黑" pitchFamily="34" charset="-122"/>
              </a:rPr>
              <a:t>(1) </a:t>
            </a:r>
            <a:r>
              <a:rPr kumimoji="0" lang="zh-CN" altLang="en-US" sz="1500" b="1" dirty="0">
                <a:solidFill>
                  <a:srgbClr val="C00000"/>
                </a:solidFill>
                <a:latin typeface="微软雅黑" pitchFamily="34" charset="-122"/>
                <a:ea typeface="微软雅黑" pitchFamily="34" charset="-122"/>
              </a:rPr>
              <a:t>修改</a:t>
            </a:r>
            <a:r>
              <a:rPr kumimoji="0" lang="zh-CN" altLang="en-US" sz="1500" b="1" dirty="0">
                <a:latin typeface="微软雅黑" pitchFamily="34" charset="-122"/>
                <a:ea typeface="微软雅黑" pitchFamily="34" charset="-122"/>
              </a:rPr>
              <a:t> </a:t>
            </a:r>
            <a:r>
              <a:rPr kumimoji="0" lang="en-US" altLang="zh-CN" sz="1500" b="1" dirty="0">
                <a:latin typeface="微软雅黑" pitchFamily="34" charset="-122"/>
                <a:ea typeface="微软雅黑" pitchFamily="34" charset="-122"/>
              </a:rPr>
              <a:t>RIP </a:t>
            </a:r>
            <a:r>
              <a:rPr kumimoji="0" lang="zh-CN" altLang="en-US" sz="1500" b="1" dirty="0">
                <a:latin typeface="微软雅黑" pitchFamily="34" charset="-122"/>
                <a:ea typeface="微软雅黑" pitchFamily="34" charset="-122"/>
              </a:rPr>
              <a:t>报文中的所有项目（即路由）：把“下一跳”字段中的地址都改为 </a:t>
            </a:r>
            <a:r>
              <a:rPr kumimoji="0" lang="en-US" altLang="zh-CN" sz="1500" b="1" dirty="0">
                <a:latin typeface="微软雅黑" pitchFamily="34" charset="-122"/>
                <a:ea typeface="微软雅黑" pitchFamily="34" charset="-122"/>
              </a:rPr>
              <a:t>X</a:t>
            </a:r>
            <a:r>
              <a:rPr kumimoji="0" lang="zh-CN" altLang="en-US" sz="1500" b="1" dirty="0">
                <a:latin typeface="微软雅黑" pitchFamily="34" charset="-122"/>
                <a:ea typeface="微软雅黑" pitchFamily="34" charset="-122"/>
              </a:rPr>
              <a:t>，并把</a:t>
            </a:r>
            <a:r>
              <a:rPr kumimoji="0" lang="zh-CN" altLang="en-US" sz="1500" b="1" dirty="0">
                <a:highlight>
                  <a:srgbClr val="FFFF00"/>
                </a:highlight>
                <a:latin typeface="微软雅黑" pitchFamily="34" charset="-122"/>
                <a:ea typeface="微软雅黑" pitchFamily="34" charset="-122"/>
              </a:rPr>
              <a:t>所有的“距离”字段的值加 </a:t>
            </a:r>
            <a:r>
              <a:rPr kumimoji="0" lang="en-US" altLang="zh-CN" sz="1500" b="1" dirty="0">
                <a:highlight>
                  <a:srgbClr val="FFFF00"/>
                </a:highlight>
                <a:latin typeface="微软雅黑" pitchFamily="34" charset="-122"/>
                <a:ea typeface="微软雅黑" pitchFamily="34" charset="-122"/>
              </a:rPr>
              <a:t>1</a:t>
            </a:r>
            <a:r>
              <a:rPr kumimoji="0" lang="zh-CN" altLang="en-US" sz="1500" b="1" dirty="0">
                <a:latin typeface="微软雅黑" pitchFamily="34" charset="-122"/>
                <a:ea typeface="微软雅黑" pitchFamily="34" charset="-122"/>
              </a:rPr>
              <a:t>。</a:t>
            </a:r>
          </a:p>
          <a:p>
            <a:pPr>
              <a:lnSpc>
                <a:spcPts val="2300"/>
              </a:lnSpc>
            </a:pPr>
            <a:r>
              <a:rPr kumimoji="0" lang="en-US" altLang="zh-CN" sz="1500" b="1" dirty="0">
                <a:latin typeface="微软雅黑" pitchFamily="34" charset="-122"/>
                <a:ea typeface="微软雅黑" pitchFamily="34" charset="-122"/>
              </a:rPr>
              <a:t>(2) </a:t>
            </a:r>
            <a:r>
              <a:rPr kumimoji="0" lang="zh-CN" altLang="en-US" sz="1500" b="1" dirty="0">
                <a:latin typeface="微软雅黑" pitchFamily="34" charset="-122"/>
                <a:ea typeface="微软雅黑" pitchFamily="34" charset="-122"/>
              </a:rPr>
              <a:t>对修改后的 </a:t>
            </a:r>
            <a:r>
              <a:rPr kumimoji="0" lang="en-US" altLang="zh-CN" sz="1500" b="1" dirty="0">
                <a:latin typeface="微软雅黑" pitchFamily="34" charset="-122"/>
                <a:ea typeface="微软雅黑" pitchFamily="34" charset="-122"/>
              </a:rPr>
              <a:t>RIP </a:t>
            </a:r>
            <a:r>
              <a:rPr kumimoji="0" lang="zh-CN" altLang="en-US" sz="1500" b="1" dirty="0">
                <a:latin typeface="微软雅黑" pitchFamily="34" charset="-122"/>
                <a:ea typeface="微软雅黑" pitchFamily="34" charset="-122"/>
              </a:rPr>
              <a:t>报文中的每一个项目，</a:t>
            </a:r>
            <a:r>
              <a:rPr kumimoji="0" lang="zh-CN" altLang="en-US" sz="1500" b="1" dirty="0">
                <a:solidFill>
                  <a:srgbClr val="C00000"/>
                </a:solidFill>
                <a:latin typeface="微软雅黑" pitchFamily="34" charset="-122"/>
                <a:ea typeface="微软雅黑" pitchFamily="34" charset="-122"/>
              </a:rPr>
              <a:t>重复以下步骤：</a:t>
            </a:r>
            <a:endParaRPr kumimoji="0" lang="en-US" altLang="zh-CN" sz="1500" b="1" dirty="0">
              <a:solidFill>
                <a:srgbClr val="C00000"/>
              </a:solidFill>
              <a:latin typeface="微软雅黑" pitchFamily="34" charset="-122"/>
              <a:ea typeface="微软雅黑" pitchFamily="34" charset="-122"/>
            </a:endParaRPr>
          </a:p>
          <a:p>
            <a:pPr>
              <a:lnSpc>
                <a:spcPts val="2300"/>
              </a:lnSpc>
            </a:pPr>
            <a:r>
              <a:rPr lang="en-US" altLang="zh-CN" sz="1500" b="1" dirty="0">
                <a:solidFill>
                  <a:srgbClr val="000099"/>
                </a:solidFill>
                <a:latin typeface="微软雅黑" pitchFamily="34" charset="-122"/>
                <a:ea typeface="微软雅黑" pitchFamily="34" charset="-122"/>
              </a:rPr>
              <a:t>    </a:t>
            </a:r>
            <a:r>
              <a:rPr lang="zh-CN" altLang="en-US" sz="1400" b="1" dirty="0">
                <a:solidFill>
                  <a:srgbClr val="000099"/>
                </a:solidFill>
                <a:highlight>
                  <a:srgbClr val="FFFF00"/>
                </a:highlight>
                <a:latin typeface="微软雅黑" pitchFamily="34" charset="-122"/>
                <a:ea typeface="微软雅黑" pitchFamily="34" charset="-122"/>
              </a:rPr>
              <a:t>若路由表中</a:t>
            </a:r>
            <a:r>
              <a:rPr lang="zh-CN" altLang="en-US" sz="1400" b="1" dirty="0">
                <a:solidFill>
                  <a:srgbClr val="C00000"/>
                </a:solidFill>
                <a:highlight>
                  <a:srgbClr val="FFFF00"/>
                </a:highlight>
                <a:latin typeface="微软雅黑" pitchFamily="34" charset="-122"/>
                <a:ea typeface="微软雅黑" pitchFamily="34" charset="-122"/>
              </a:rPr>
              <a:t>没有</a:t>
            </a:r>
            <a:r>
              <a:rPr lang="zh-CN" altLang="en-US" sz="1400" b="1" dirty="0">
                <a:solidFill>
                  <a:srgbClr val="000099"/>
                </a:solidFill>
                <a:highlight>
                  <a:srgbClr val="FFFF00"/>
                </a:highlight>
                <a:latin typeface="微软雅黑" pitchFamily="34" charset="-122"/>
                <a:ea typeface="微软雅黑" pitchFamily="34" charset="-122"/>
              </a:rPr>
              <a:t>目的网络</a:t>
            </a:r>
            <a:r>
              <a:rPr lang="en-US" altLang="zh-CN" sz="1400" b="1" dirty="0">
                <a:solidFill>
                  <a:srgbClr val="000099"/>
                </a:solidFill>
                <a:highlight>
                  <a:srgbClr val="FFFF00"/>
                </a:highlight>
                <a:latin typeface="微软雅黑" pitchFamily="34" charset="-122"/>
                <a:ea typeface="微软雅黑" pitchFamily="34" charset="-122"/>
              </a:rPr>
              <a:t>N</a:t>
            </a:r>
            <a:r>
              <a:rPr lang="zh-CN" altLang="en-US" sz="1400" b="1" dirty="0">
                <a:solidFill>
                  <a:srgbClr val="000099"/>
                </a:solidFill>
                <a:highlight>
                  <a:srgbClr val="FFFF00"/>
                </a:highlight>
                <a:latin typeface="微软雅黑" pitchFamily="34" charset="-122"/>
                <a:ea typeface="微软雅黑" pitchFamily="34" charset="-122"/>
              </a:rPr>
              <a:t>，</a:t>
            </a:r>
            <a:r>
              <a:rPr kumimoji="0" lang="zh-CN" altLang="en-US" sz="1400" b="1" dirty="0">
                <a:solidFill>
                  <a:srgbClr val="000099"/>
                </a:solidFill>
                <a:highlight>
                  <a:srgbClr val="FFFF00"/>
                </a:highlight>
                <a:latin typeface="微软雅黑" pitchFamily="34" charset="-122"/>
                <a:ea typeface="微软雅黑" pitchFamily="34" charset="-122"/>
              </a:rPr>
              <a:t>则把该项目</a:t>
            </a:r>
            <a:r>
              <a:rPr lang="zh-CN" altLang="en-US" sz="1400" b="1" dirty="0">
                <a:solidFill>
                  <a:srgbClr val="C00000"/>
                </a:solidFill>
                <a:highlight>
                  <a:srgbClr val="FFFF00"/>
                </a:highlight>
                <a:latin typeface="微软雅黑" pitchFamily="34" charset="-122"/>
                <a:ea typeface="微软雅黑" pitchFamily="34" charset="-122"/>
              </a:rPr>
              <a:t>添加</a:t>
            </a:r>
            <a:r>
              <a:rPr kumimoji="0" lang="zh-CN" altLang="en-US" sz="1400" b="1" dirty="0">
                <a:solidFill>
                  <a:srgbClr val="000099"/>
                </a:solidFill>
                <a:highlight>
                  <a:srgbClr val="FFFF00"/>
                </a:highlight>
                <a:latin typeface="微软雅黑" pitchFamily="34" charset="-122"/>
                <a:ea typeface="微软雅黑" pitchFamily="34" charset="-122"/>
              </a:rPr>
              <a:t>到路由表中</a:t>
            </a:r>
            <a:r>
              <a:rPr lang="zh-CN" altLang="en-US" sz="1400" b="1" dirty="0">
                <a:solidFill>
                  <a:srgbClr val="000099"/>
                </a:solidFill>
                <a:latin typeface="微软雅黑" pitchFamily="34" charset="-122"/>
                <a:ea typeface="微软雅黑" pitchFamily="34" charset="-122"/>
              </a:rPr>
              <a:t>。否则</a:t>
            </a:r>
            <a:endParaRPr lang="en-US" altLang="zh-CN" sz="1400" b="1" dirty="0">
              <a:solidFill>
                <a:srgbClr val="000099"/>
              </a:solidFill>
              <a:latin typeface="微软雅黑" pitchFamily="34" charset="-122"/>
              <a:ea typeface="微软雅黑" pitchFamily="34" charset="-122"/>
            </a:endParaRPr>
          </a:p>
          <a:p>
            <a:pPr>
              <a:lnSpc>
                <a:spcPts val="2300"/>
              </a:lnSpc>
            </a:pPr>
            <a:r>
              <a:rPr kumimoji="0" lang="en-US" altLang="zh-CN" sz="1400" b="1" dirty="0">
                <a:solidFill>
                  <a:srgbClr val="000099"/>
                </a:solidFill>
                <a:latin typeface="微软雅黑" pitchFamily="34" charset="-122"/>
                <a:ea typeface="微软雅黑" pitchFamily="34" charset="-122"/>
              </a:rPr>
              <a:t>        </a:t>
            </a:r>
            <a:r>
              <a:rPr lang="zh-CN" altLang="en-US" sz="1400" b="1" dirty="0">
                <a:solidFill>
                  <a:srgbClr val="000099"/>
                </a:solidFill>
                <a:highlight>
                  <a:srgbClr val="FFFF00"/>
                </a:highlight>
                <a:latin typeface="微软雅黑" pitchFamily="34" charset="-122"/>
                <a:ea typeface="微软雅黑" pitchFamily="34" charset="-122"/>
              </a:rPr>
              <a:t>若路由表中网络 </a:t>
            </a:r>
            <a:r>
              <a:rPr lang="en-US" altLang="zh-CN" sz="1400" b="1" dirty="0">
                <a:solidFill>
                  <a:srgbClr val="000099"/>
                </a:solidFill>
                <a:highlight>
                  <a:srgbClr val="FFFF00"/>
                </a:highlight>
                <a:latin typeface="微软雅黑" pitchFamily="34" charset="-122"/>
                <a:ea typeface="微软雅黑" pitchFamily="34" charset="-122"/>
              </a:rPr>
              <a:t>N </a:t>
            </a:r>
            <a:r>
              <a:rPr lang="zh-CN" altLang="en-US" sz="1400" b="1" dirty="0">
                <a:solidFill>
                  <a:srgbClr val="000099"/>
                </a:solidFill>
                <a:highlight>
                  <a:srgbClr val="FFFF00"/>
                </a:highlight>
                <a:latin typeface="微软雅黑" pitchFamily="34" charset="-122"/>
                <a:ea typeface="微软雅黑" pitchFamily="34" charset="-122"/>
              </a:rPr>
              <a:t>的</a:t>
            </a:r>
            <a:r>
              <a:rPr kumimoji="0" lang="zh-CN" altLang="en-US" sz="1400" b="1" dirty="0">
                <a:solidFill>
                  <a:srgbClr val="C00000"/>
                </a:solidFill>
                <a:highlight>
                  <a:srgbClr val="FFFF00"/>
                </a:highlight>
                <a:latin typeface="微软雅黑" pitchFamily="34" charset="-122"/>
                <a:ea typeface="微软雅黑" pitchFamily="34" charset="-122"/>
              </a:rPr>
              <a:t>下一跳</a:t>
            </a:r>
            <a:r>
              <a:rPr lang="zh-CN" altLang="en-US" sz="1400" b="1" dirty="0">
                <a:solidFill>
                  <a:srgbClr val="000099"/>
                </a:solidFill>
                <a:highlight>
                  <a:srgbClr val="FFFF00"/>
                </a:highlight>
                <a:latin typeface="微软雅黑" pitchFamily="34" charset="-122"/>
                <a:ea typeface="微软雅黑" pitchFamily="34" charset="-122"/>
              </a:rPr>
              <a:t>路由器</a:t>
            </a:r>
            <a:r>
              <a:rPr kumimoji="0" lang="zh-CN" altLang="en-US" sz="1400" b="1" dirty="0">
                <a:solidFill>
                  <a:srgbClr val="000099"/>
                </a:solidFill>
                <a:highlight>
                  <a:srgbClr val="FFFF00"/>
                </a:highlight>
                <a:latin typeface="微软雅黑" pitchFamily="34" charset="-122"/>
                <a:ea typeface="微软雅黑" pitchFamily="34" charset="-122"/>
              </a:rPr>
              <a:t>为 </a:t>
            </a:r>
            <a:r>
              <a:rPr kumimoji="0" lang="en-US" altLang="zh-CN" sz="1400" b="1" dirty="0">
                <a:solidFill>
                  <a:srgbClr val="000099"/>
                </a:solidFill>
                <a:highlight>
                  <a:srgbClr val="FFFF00"/>
                </a:highlight>
                <a:latin typeface="微软雅黑" pitchFamily="34" charset="-122"/>
                <a:ea typeface="微软雅黑" pitchFamily="34" charset="-122"/>
              </a:rPr>
              <a:t>X</a:t>
            </a:r>
            <a:r>
              <a:rPr kumimoji="0" lang="zh-CN" altLang="en-US" sz="1400" b="1" dirty="0">
                <a:solidFill>
                  <a:srgbClr val="000099"/>
                </a:solidFill>
                <a:highlight>
                  <a:srgbClr val="FFFF00"/>
                </a:highlight>
                <a:latin typeface="微软雅黑" pitchFamily="34" charset="-122"/>
                <a:ea typeface="微软雅黑" pitchFamily="34" charset="-122"/>
              </a:rPr>
              <a:t>，则用收到的项目</a:t>
            </a:r>
            <a:r>
              <a:rPr kumimoji="0" lang="zh-CN" altLang="en-US" sz="1400" b="1" dirty="0">
                <a:solidFill>
                  <a:srgbClr val="C00000"/>
                </a:solidFill>
                <a:highlight>
                  <a:srgbClr val="FFFF00"/>
                </a:highlight>
                <a:latin typeface="微软雅黑" pitchFamily="34" charset="-122"/>
                <a:ea typeface="微软雅黑" pitchFamily="34" charset="-122"/>
              </a:rPr>
              <a:t>替换</a:t>
            </a:r>
            <a:r>
              <a:rPr kumimoji="0" lang="zh-CN" altLang="en-US" sz="1400" b="1" dirty="0">
                <a:solidFill>
                  <a:srgbClr val="000099"/>
                </a:solidFill>
                <a:highlight>
                  <a:srgbClr val="FFFF00"/>
                </a:highlight>
                <a:latin typeface="微软雅黑" pitchFamily="34" charset="-122"/>
                <a:ea typeface="微软雅黑" pitchFamily="34" charset="-122"/>
              </a:rPr>
              <a:t>原路由表中的项目</a:t>
            </a:r>
            <a:r>
              <a:rPr kumimoji="0" lang="zh-CN" altLang="en-US" sz="1400" b="1" dirty="0">
                <a:solidFill>
                  <a:srgbClr val="000099"/>
                </a:solidFill>
                <a:latin typeface="微软雅黑" pitchFamily="34" charset="-122"/>
                <a:ea typeface="微软雅黑" pitchFamily="34" charset="-122"/>
              </a:rPr>
              <a:t>。</a:t>
            </a:r>
            <a:r>
              <a:rPr lang="zh-CN" altLang="en-US" sz="1400" b="1" dirty="0">
                <a:solidFill>
                  <a:srgbClr val="000099"/>
                </a:solidFill>
                <a:latin typeface="微软雅黑" pitchFamily="34" charset="-122"/>
                <a:ea typeface="微软雅黑" pitchFamily="34" charset="-122"/>
              </a:rPr>
              <a:t>否则</a:t>
            </a:r>
            <a:endParaRPr lang="en-US" altLang="zh-CN" sz="1400" b="1" dirty="0">
              <a:solidFill>
                <a:srgbClr val="000099"/>
              </a:solidFill>
              <a:latin typeface="微软雅黑" pitchFamily="34" charset="-122"/>
              <a:ea typeface="微软雅黑" pitchFamily="34" charset="-122"/>
            </a:endParaRPr>
          </a:p>
          <a:p>
            <a:pPr>
              <a:lnSpc>
                <a:spcPts val="2300"/>
              </a:lnSpc>
            </a:pPr>
            <a:r>
              <a:rPr kumimoji="0" lang="en-US" altLang="zh-CN" sz="1400" b="1" dirty="0">
                <a:solidFill>
                  <a:srgbClr val="000099"/>
                </a:solidFill>
                <a:latin typeface="微软雅黑" pitchFamily="34" charset="-122"/>
                <a:ea typeface="微软雅黑" pitchFamily="34" charset="-122"/>
              </a:rPr>
              <a:t>           </a:t>
            </a:r>
            <a:r>
              <a:rPr kumimoji="0" lang="zh-CN" altLang="en-US" sz="1400" b="1" dirty="0">
                <a:solidFill>
                  <a:srgbClr val="000099"/>
                </a:solidFill>
                <a:highlight>
                  <a:srgbClr val="FFFF00"/>
                </a:highlight>
                <a:latin typeface="微软雅黑" pitchFamily="34" charset="-122"/>
                <a:ea typeface="微软雅黑" pitchFamily="34" charset="-122"/>
              </a:rPr>
              <a:t>若收到项目中的距离</a:t>
            </a:r>
            <a:r>
              <a:rPr kumimoji="0" lang="zh-CN" altLang="en-US" sz="1400" b="1" dirty="0">
                <a:solidFill>
                  <a:srgbClr val="C00000"/>
                </a:solidFill>
                <a:highlight>
                  <a:srgbClr val="FFFF00"/>
                </a:highlight>
                <a:latin typeface="微软雅黑" pitchFamily="34" charset="-122"/>
                <a:ea typeface="微软雅黑" pitchFamily="34" charset="-122"/>
              </a:rPr>
              <a:t>小于</a:t>
            </a:r>
            <a:r>
              <a:rPr kumimoji="0" lang="zh-CN" altLang="en-US" sz="1400" b="1" dirty="0">
                <a:solidFill>
                  <a:srgbClr val="000099"/>
                </a:solidFill>
                <a:highlight>
                  <a:srgbClr val="FFFF00"/>
                </a:highlight>
                <a:latin typeface="微软雅黑" pitchFamily="34" charset="-122"/>
                <a:ea typeface="微软雅黑" pitchFamily="34" charset="-122"/>
              </a:rPr>
              <a:t>路由表中的距离，</a:t>
            </a:r>
            <a:r>
              <a:rPr lang="zh-CN" altLang="en-US" sz="1400" b="1" dirty="0">
                <a:solidFill>
                  <a:srgbClr val="000099"/>
                </a:solidFill>
                <a:highlight>
                  <a:srgbClr val="FFFF00"/>
                </a:highlight>
                <a:latin typeface="微软雅黑" pitchFamily="34" charset="-122"/>
                <a:ea typeface="微软雅黑" pitchFamily="34" charset="-122"/>
              </a:rPr>
              <a:t>则用收到项目</a:t>
            </a:r>
            <a:r>
              <a:rPr lang="zh-CN" altLang="en-US" sz="1400" b="1" dirty="0">
                <a:solidFill>
                  <a:srgbClr val="C00000"/>
                </a:solidFill>
                <a:highlight>
                  <a:srgbClr val="FFFF00"/>
                </a:highlight>
                <a:latin typeface="微软雅黑" pitchFamily="34" charset="-122"/>
                <a:ea typeface="微软雅黑" pitchFamily="34" charset="-122"/>
              </a:rPr>
              <a:t>更新</a:t>
            </a:r>
            <a:r>
              <a:rPr lang="zh-CN" altLang="en-US" sz="1400" b="1" dirty="0">
                <a:solidFill>
                  <a:srgbClr val="000099"/>
                </a:solidFill>
                <a:highlight>
                  <a:srgbClr val="FFFF00"/>
                </a:highlight>
                <a:latin typeface="微软雅黑" pitchFamily="34" charset="-122"/>
                <a:ea typeface="微软雅黑" pitchFamily="34" charset="-122"/>
              </a:rPr>
              <a:t>原路由表中的项目</a:t>
            </a:r>
            <a:r>
              <a:rPr lang="zh-CN" altLang="en-US" sz="1400" b="1" dirty="0">
                <a:solidFill>
                  <a:srgbClr val="000099"/>
                </a:solidFill>
                <a:latin typeface="微软雅黑" pitchFamily="34" charset="-122"/>
                <a:ea typeface="微软雅黑" pitchFamily="34" charset="-122"/>
              </a:rPr>
              <a:t>。</a:t>
            </a:r>
            <a:r>
              <a:rPr kumimoji="0" lang="zh-CN" altLang="en-US" sz="1400" b="1" dirty="0">
                <a:solidFill>
                  <a:srgbClr val="000099"/>
                </a:solidFill>
                <a:highlight>
                  <a:srgbClr val="FFFF00"/>
                </a:highlight>
                <a:latin typeface="微软雅黑" pitchFamily="34" charset="-122"/>
                <a:ea typeface="微软雅黑" pitchFamily="34" charset="-122"/>
              </a:rPr>
              <a:t>否则</a:t>
            </a:r>
            <a:endParaRPr kumimoji="0" lang="en-US" altLang="zh-CN" sz="1400" b="1" dirty="0">
              <a:solidFill>
                <a:srgbClr val="000099"/>
              </a:solidFill>
              <a:highlight>
                <a:srgbClr val="FFFF00"/>
              </a:highlight>
              <a:latin typeface="微软雅黑" pitchFamily="34" charset="-122"/>
              <a:ea typeface="微软雅黑" pitchFamily="34" charset="-122"/>
            </a:endParaRPr>
          </a:p>
          <a:p>
            <a:pPr>
              <a:lnSpc>
                <a:spcPts val="2300"/>
              </a:lnSpc>
            </a:pPr>
            <a:r>
              <a:rPr kumimoji="0" lang="zh-CN" altLang="en-US" sz="1400" b="1" dirty="0">
                <a:solidFill>
                  <a:srgbClr val="000099"/>
                </a:solidFill>
                <a:highlight>
                  <a:srgbClr val="FFFF00"/>
                </a:highlight>
                <a:latin typeface="微软雅黑" pitchFamily="34" charset="-122"/>
                <a:ea typeface="微软雅黑" pitchFamily="34" charset="-122"/>
              </a:rPr>
              <a:t>               什么也不做。</a:t>
            </a:r>
          </a:p>
          <a:p>
            <a:pPr>
              <a:lnSpc>
                <a:spcPts val="2300"/>
              </a:lnSpc>
            </a:pPr>
            <a:r>
              <a:rPr kumimoji="0" lang="en-US" altLang="zh-CN" sz="1500" b="1" dirty="0">
                <a:latin typeface="微软雅黑" pitchFamily="34" charset="-122"/>
                <a:ea typeface="微软雅黑" pitchFamily="34" charset="-122"/>
              </a:rPr>
              <a:t>(3) </a:t>
            </a:r>
            <a:r>
              <a:rPr kumimoji="0" lang="zh-CN" altLang="en-US" sz="1500" b="1" dirty="0">
                <a:latin typeface="微软雅黑" pitchFamily="34" charset="-122"/>
                <a:ea typeface="微软雅黑" pitchFamily="34" charset="-122"/>
              </a:rPr>
              <a:t>若 </a:t>
            </a:r>
            <a:r>
              <a:rPr kumimoji="0" lang="en-US" altLang="zh-CN" sz="1500" b="1" dirty="0">
                <a:latin typeface="微软雅黑" pitchFamily="34" charset="-122"/>
                <a:ea typeface="微软雅黑" pitchFamily="34" charset="-122"/>
              </a:rPr>
              <a:t>3 </a:t>
            </a:r>
            <a:r>
              <a:rPr kumimoji="0" lang="zh-CN" altLang="en-US" sz="1500" b="1" dirty="0">
                <a:latin typeface="微软雅黑" pitchFamily="34" charset="-122"/>
                <a:ea typeface="微软雅黑" pitchFamily="34" charset="-122"/>
              </a:rPr>
              <a:t>分钟还未收到相邻路由器的更新路由表，则把此相邻路由器记为</a:t>
            </a:r>
            <a:r>
              <a:rPr kumimoji="0" lang="zh-CN" altLang="en-US" sz="1500" b="1" dirty="0">
                <a:solidFill>
                  <a:srgbClr val="C00000"/>
                </a:solidFill>
                <a:latin typeface="微软雅黑" pitchFamily="34" charset="-122"/>
                <a:ea typeface="微软雅黑" pitchFamily="34" charset="-122"/>
              </a:rPr>
              <a:t>不可达</a:t>
            </a:r>
            <a:r>
              <a:rPr kumimoji="0" lang="zh-CN" altLang="en-US" sz="1500" b="1" dirty="0">
                <a:latin typeface="微软雅黑" pitchFamily="34" charset="-122"/>
                <a:ea typeface="微软雅黑" pitchFamily="34" charset="-122"/>
              </a:rPr>
              <a:t>路由器，即将距离置为 </a:t>
            </a:r>
            <a:r>
              <a:rPr kumimoji="0" lang="en-US" altLang="zh-CN" sz="1500" b="1" dirty="0">
                <a:latin typeface="微软雅黑" pitchFamily="34" charset="-122"/>
                <a:ea typeface="微软雅黑" pitchFamily="34" charset="-122"/>
              </a:rPr>
              <a:t>16</a:t>
            </a:r>
            <a:r>
              <a:rPr kumimoji="0" lang="zh-CN" altLang="en-US" sz="1500" b="1" dirty="0">
                <a:latin typeface="微软雅黑" pitchFamily="34" charset="-122"/>
                <a:ea typeface="微软雅黑" pitchFamily="34" charset="-122"/>
              </a:rPr>
              <a:t>（表示不可达）。</a:t>
            </a:r>
          </a:p>
          <a:p>
            <a:pPr>
              <a:lnSpc>
                <a:spcPts val="2300"/>
              </a:lnSpc>
            </a:pPr>
            <a:r>
              <a:rPr kumimoji="0" lang="en-US" altLang="zh-CN" sz="1500" b="1" dirty="0">
                <a:latin typeface="微软雅黑" pitchFamily="34" charset="-122"/>
                <a:ea typeface="微软雅黑" pitchFamily="34" charset="-122"/>
              </a:rPr>
              <a:t>(4) </a:t>
            </a:r>
            <a:r>
              <a:rPr kumimoji="0" lang="zh-CN" altLang="en-US" sz="1500" b="1" dirty="0">
                <a:latin typeface="微软雅黑" pitchFamily="34" charset="-122"/>
                <a:ea typeface="微软雅黑" pitchFamily="34" charset="-122"/>
              </a:rPr>
              <a:t>返回。</a:t>
            </a:r>
          </a:p>
        </p:txBody>
      </p:sp>
      <p:sp>
        <p:nvSpPr>
          <p:cNvPr id="2" name="矩形 1"/>
          <p:cNvSpPr/>
          <p:nvPr/>
        </p:nvSpPr>
        <p:spPr>
          <a:xfrm>
            <a:off x="545142" y="983146"/>
            <a:ext cx="8053713" cy="338554"/>
          </a:xfrm>
          <a:prstGeom prst="rect">
            <a:avLst/>
          </a:prstGeom>
        </p:spPr>
        <p:txBody>
          <a:bodyPr wrap="square">
            <a:spAutoFit/>
          </a:bodyPr>
          <a:lstStyle/>
          <a:p>
            <a:r>
              <a:rPr lang="zh-CN" altLang="en-US" sz="1600" b="1" dirty="0">
                <a:latin typeface="微软雅黑" panose="020B0503020204020204" pitchFamily="34" charset="-122"/>
                <a:ea typeface="微软雅黑" panose="020B0503020204020204" pitchFamily="34" charset="-122"/>
              </a:rPr>
              <a:t>对每个相邻路由器（假设其地址为 </a:t>
            </a:r>
            <a:r>
              <a:rPr lang="en-US" altLang="zh-CN" sz="1600" b="1" dirty="0">
                <a:latin typeface="微软雅黑" panose="020B0503020204020204" pitchFamily="34" charset="-122"/>
                <a:ea typeface="微软雅黑" panose="020B0503020204020204" pitchFamily="34" charset="-122"/>
              </a:rPr>
              <a:t>X</a:t>
            </a:r>
            <a:r>
              <a:rPr lang="zh-CN" altLang="en-US" sz="1600" b="1" dirty="0">
                <a:latin typeface="微软雅黑" panose="020B0503020204020204" pitchFamily="34" charset="-122"/>
                <a:ea typeface="微软雅黑" panose="020B0503020204020204" pitchFamily="34" charset="-122"/>
              </a:rPr>
              <a:t>）发送过来的 </a:t>
            </a:r>
            <a:r>
              <a:rPr lang="en-US" altLang="zh-CN" sz="1600" b="1" dirty="0">
                <a:latin typeface="微软雅黑" panose="020B0503020204020204" pitchFamily="34" charset="-122"/>
                <a:ea typeface="微软雅黑" panose="020B0503020204020204" pitchFamily="34" charset="-122"/>
              </a:rPr>
              <a:t>RIP </a:t>
            </a:r>
            <a:r>
              <a:rPr lang="zh-CN" altLang="en-US" sz="1600" b="1" dirty="0">
                <a:latin typeface="微软雅黑" panose="020B0503020204020204" pitchFamily="34" charset="-122"/>
                <a:ea typeface="微软雅黑" panose="020B0503020204020204" pitchFamily="34" charset="-122"/>
              </a:rPr>
              <a:t>报文，路由器：</a:t>
            </a:r>
          </a:p>
        </p:txBody>
      </p:sp>
    </p:spTree>
    <p:extLst>
      <p:ext uri="{BB962C8B-B14F-4D97-AF65-F5344CB8AC3E}">
        <p14:creationId xmlns:p14="http://schemas.microsoft.com/office/powerpoint/2010/main" val="4795048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3" y="974269"/>
            <a:ext cx="8053711" cy="21026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算法基础：</a:t>
            </a:r>
            <a:r>
              <a:rPr lang="en-US" altLang="zh-CN" sz="2000" b="1" dirty="0">
                <a:latin typeface="微软雅黑" pitchFamily="34" charset="-122"/>
                <a:ea typeface="微软雅黑" pitchFamily="34" charset="-122"/>
              </a:rPr>
              <a:t>Bellman-Ford </a:t>
            </a:r>
            <a:r>
              <a:rPr lang="zh-CN" altLang="en-US" sz="2000" b="1" dirty="0">
                <a:latin typeface="微软雅黑" pitchFamily="34" charset="-122"/>
                <a:ea typeface="微软雅黑" pitchFamily="34" charset="-122"/>
              </a:rPr>
              <a:t>算法（或 </a:t>
            </a:r>
            <a:r>
              <a:rPr lang="en-US" altLang="zh-CN" sz="2000" b="1" dirty="0">
                <a:latin typeface="微软雅黑" pitchFamily="34" charset="-122"/>
                <a:ea typeface="微软雅黑" pitchFamily="34" charset="-122"/>
              </a:rPr>
              <a:t>Ford-Fulkerson </a:t>
            </a:r>
            <a:r>
              <a:rPr lang="zh-CN" altLang="en-US" sz="2000" b="1" dirty="0">
                <a:latin typeface="微软雅黑" pitchFamily="34" charset="-122"/>
                <a:ea typeface="微软雅黑" pitchFamily="34" charset="-122"/>
              </a:rPr>
              <a:t>算法）。</a:t>
            </a: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算法要点：</a:t>
            </a:r>
          </a:p>
          <a:p>
            <a:pPr marL="273050">
              <a:lnSpc>
                <a:spcPts val="3200"/>
              </a:lnSpc>
              <a:buClr>
                <a:srgbClr val="0070C0"/>
              </a:buClr>
            </a:pPr>
            <a:r>
              <a:rPr lang="zh-CN" altLang="en-US" sz="2000" b="1" dirty="0">
                <a:latin typeface="微软雅黑" pitchFamily="34" charset="-122"/>
                <a:ea typeface="微软雅黑" pitchFamily="34" charset="-122"/>
              </a:rPr>
              <a:t>设 </a:t>
            </a:r>
            <a:r>
              <a:rPr lang="en-US" altLang="zh-CN" sz="2000" b="1" dirty="0">
                <a:latin typeface="微软雅黑" pitchFamily="34" charset="-122"/>
                <a:ea typeface="微软雅黑" pitchFamily="34" charset="-122"/>
              </a:rPr>
              <a:t>X </a:t>
            </a:r>
            <a:r>
              <a:rPr lang="zh-CN" altLang="en-US" sz="2000" b="1" dirty="0">
                <a:latin typeface="微软雅黑" pitchFamily="34" charset="-122"/>
                <a:ea typeface="微软雅黑" pitchFamily="34" charset="-122"/>
              </a:rPr>
              <a:t>是结点 </a:t>
            </a:r>
            <a:r>
              <a:rPr lang="en-US" altLang="zh-CN" sz="2000" b="1" dirty="0">
                <a:latin typeface="微软雅黑" pitchFamily="34" charset="-122"/>
                <a:ea typeface="微软雅黑" pitchFamily="34" charset="-122"/>
              </a:rPr>
              <a:t>A </a:t>
            </a:r>
            <a:r>
              <a:rPr lang="zh-CN" altLang="en-US" sz="2000" b="1" dirty="0">
                <a:latin typeface="微软雅黑" pitchFamily="34" charset="-122"/>
                <a:ea typeface="微软雅黑" pitchFamily="34" charset="-122"/>
              </a:rPr>
              <a:t>到 </a:t>
            </a:r>
            <a:r>
              <a:rPr lang="en-US" altLang="zh-CN" sz="2000" b="1" dirty="0">
                <a:latin typeface="微软雅黑" pitchFamily="34" charset="-122"/>
                <a:ea typeface="微软雅黑" pitchFamily="34" charset="-122"/>
              </a:rPr>
              <a:t>B </a:t>
            </a:r>
            <a:r>
              <a:rPr lang="zh-CN" altLang="en-US" sz="2000" b="1" dirty="0">
                <a:latin typeface="微软雅黑" pitchFamily="34" charset="-122"/>
                <a:ea typeface="微软雅黑" pitchFamily="34" charset="-122"/>
              </a:rPr>
              <a:t>的最短路径上的一个结点。</a:t>
            </a:r>
          </a:p>
          <a:p>
            <a:pPr marL="273050">
              <a:lnSpc>
                <a:spcPts val="3200"/>
              </a:lnSpc>
              <a:buClr>
                <a:srgbClr val="0070C0"/>
              </a:buClr>
            </a:pPr>
            <a:r>
              <a:rPr lang="zh-CN" altLang="en-US" sz="2000" b="1" dirty="0">
                <a:latin typeface="微软雅黑" pitchFamily="34" charset="-122"/>
                <a:ea typeface="微软雅黑" pitchFamily="34" charset="-122"/>
              </a:rPr>
              <a:t>若把路径 </a:t>
            </a:r>
            <a:r>
              <a:rPr lang="en-US" altLang="zh-CN" sz="2000" b="1" dirty="0">
                <a:latin typeface="微软雅黑" pitchFamily="34" charset="-122"/>
                <a:ea typeface="微软雅黑" pitchFamily="34" charset="-122"/>
              </a:rPr>
              <a:t>A→B </a:t>
            </a:r>
            <a:r>
              <a:rPr lang="zh-CN" altLang="en-US" sz="2000" b="1" dirty="0">
                <a:latin typeface="微软雅黑" pitchFamily="34" charset="-122"/>
                <a:ea typeface="微软雅黑" pitchFamily="34" charset="-122"/>
              </a:rPr>
              <a:t>拆成两段路径 </a:t>
            </a:r>
            <a:r>
              <a:rPr lang="en-US" altLang="zh-CN" sz="2000" b="1" dirty="0">
                <a:latin typeface="微软雅黑" pitchFamily="34" charset="-122"/>
                <a:ea typeface="微软雅黑" pitchFamily="34" charset="-122"/>
              </a:rPr>
              <a:t>A→X </a:t>
            </a:r>
            <a:r>
              <a:rPr lang="zh-CN" altLang="en-US" sz="2000" b="1" dirty="0">
                <a:latin typeface="微软雅黑" pitchFamily="34" charset="-122"/>
                <a:ea typeface="微软雅黑" pitchFamily="34" charset="-122"/>
              </a:rPr>
              <a:t>和 </a:t>
            </a:r>
            <a:r>
              <a:rPr lang="en-US" altLang="zh-CN" sz="2000" b="1" dirty="0">
                <a:latin typeface="微软雅黑" pitchFamily="34" charset="-122"/>
                <a:ea typeface="微软雅黑" pitchFamily="34" charset="-122"/>
              </a:rPr>
              <a:t>X→B</a:t>
            </a:r>
            <a:r>
              <a:rPr lang="zh-CN" altLang="en-US" sz="2000" b="1" dirty="0">
                <a:latin typeface="微软雅黑" pitchFamily="34" charset="-122"/>
                <a:ea typeface="微软雅黑" pitchFamily="34" charset="-122"/>
              </a:rPr>
              <a:t>，则每一段路径 </a:t>
            </a:r>
            <a:r>
              <a:rPr lang="en-US" altLang="zh-CN" sz="2000" b="1" dirty="0">
                <a:latin typeface="微软雅黑" pitchFamily="34" charset="-122"/>
                <a:ea typeface="微软雅黑" pitchFamily="34" charset="-122"/>
              </a:rPr>
              <a:t>A→X </a:t>
            </a:r>
            <a:r>
              <a:rPr lang="zh-CN" altLang="en-US" sz="2000" b="1" dirty="0">
                <a:latin typeface="微软雅黑" pitchFamily="34" charset="-122"/>
                <a:ea typeface="微软雅黑" pitchFamily="34" charset="-122"/>
              </a:rPr>
              <a:t>和 </a:t>
            </a:r>
            <a:r>
              <a:rPr lang="en-US" altLang="zh-CN" sz="2000" b="1" dirty="0">
                <a:latin typeface="微软雅黑" pitchFamily="34" charset="-122"/>
                <a:ea typeface="微软雅黑" pitchFamily="34" charset="-122"/>
              </a:rPr>
              <a:t>X→B </a:t>
            </a:r>
            <a:r>
              <a:rPr lang="zh-CN" altLang="en-US" sz="2000" b="1" dirty="0">
                <a:latin typeface="微软雅黑" pitchFamily="34" charset="-122"/>
                <a:ea typeface="微软雅黑" pitchFamily="34" charset="-122"/>
              </a:rPr>
              <a:t>也都分别是结点 </a:t>
            </a:r>
            <a:r>
              <a:rPr lang="en-US" altLang="zh-CN" sz="2000" b="1" dirty="0">
                <a:latin typeface="微软雅黑" pitchFamily="34" charset="-122"/>
                <a:ea typeface="微软雅黑" pitchFamily="34" charset="-122"/>
              </a:rPr>
              <a:t>A </a:t>
            </a:r>
            <a:r>
              <a:rPr lang="zh-CN" altLang="en-US" sz="2000" b="1" dirty="0">
                <a:latin typeface="微软雅黑" pitchFamily="34" charset="-122"/>
                <a:ea typeface="微软雅黑" pitchFamily="34" charset="-122"/>
              </a:rPr>
              <a:t>到 </a:t>
            </a:r>
            <a:r>
              <a:rPr lang="en-US" altLang="zh-CN" sz="2000" b="1" dirty="0">
                <a:latin typeface="微软雅黑" pitchFamily="34" charset="-122"/>
                <a:ea typeface="微软雅黑" pitchFamily="34" charset="-122"/>
              </a:rPr>
              <a:t>X </a:t>
            </a:r>
            <a:r>
              <a:rPr lang="zh-CN" altLang="en-US" sz="2000" b="1" dirty="0">
                <a:latin typeface="微软雅黑" pitchFamily="34" charset="-122"/>
                <a:ea typeface="微软雅黑" pitchFamily="34" charset="-122"/>
              </a:rPr>
              <a:t>和结点 </a:t>
            </a:r>
            <a:r>
              <a:rPr lang="en-US" altLang="zh-CN" sz="2000" b="1" dirty="0">
                <a:latin typeface="微软雅黑" pitchFamily="34" charset="-122"/>
                <a:ea typeface="微软雅黑" pitchFamily="34" charset="-122"/>
              </a:rPr>
              <a:t>X </a:t>
            </a:r>
            <a:r>
              <a:rPr lang="zh-CN" altLang="en-US" sz="2000" b="1" dirty="0">
                <a:latin typeface="微软雅黑" pitchFamily="34" charset="-122"/>
                <a:ea typeface="微软雅黑" pitchFamily="34" charset="-122"/>
              </a:rPr>
              <a:t>到 </a:t>
            </a:r>
            <a:r>
              <a:rPr lang="en-US" altLang="zh-CN" sz="2000" b="1" dirty="0">
                <a:latin typeface="微软雅黑" pitchFamily="34" charset="-122"/>
                <a:ea typeface="微软雅黑" pitchFamily="34" charset="-122"/>
              </a:rPr>
              <a:t>B </a:t>
            </a:r>
            <a:r>
              <a:rPr lang="zh-CN" altLang="en-US" sz="2000" b="1" dirty="0">
                <a:latin typeface="微软雅黑" pitchFamily="34" charset="-122"/>
                <a:ea typeface="微软雅黑" pitchFamily="34" charset="-122"/>
              </a:rPr>
              <a:t>的最短路径。</a:t>
            </a:r>
          </a:p>
        </p:txBody>
      </p:sp>
      <p:sp>
        <p:nvSpPr>
          <p:cNvPr id="3" name="AutoShape 5"/>
          <p:cNvSpPr>
            <a:spLocks noChangeArrowheads="1"/>
          </p:cNvSpPr>
          <p:nvPr/>
        </p:nvSpPr>
        <p:spPr bwMode="auto">
          <a:xfrm>
            <a:off x="545144" y="614952"/>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90977"/>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距离向量算法</a:t>
            </a:r>
          </a:p>
        </p:txBody>
      </p:sp>
      <p:grpSp>
        <p:nvGrpSpPr>
          <p:cNvPr id="28" name="组合 27"/>
          <p:cNvGrpSpPr/>
          <p:nvPr/>
        </p:nvGrpSpPr>
        <p:grpSpPr>
          <a:xfrm>
            <a:off x="2488044" y="3332202"/>
            <a:ext cx="3480976" cy="670591"/>
            <a:chOff x="2488044" y="3332202"/>
            <a:chExt cx="3480976" cy="670591"/>
          </a:xfrm>
        </p:grpSpPr>
        <p:cxnSp>
          <p:nvCxnSpPr>
            <p:cNvPr id="9" name="直接连接符 8"/>
            <p:cNvCxnSpPr/>
            <p:nvPr/>
          </p:nvCxnSpPr>
          <p:spPr>
            <a:xfrm>
              <a:off x="2530761" y="4002793"/>
              <a:ext cx="3438259" cy="0"/>
            </a:xfrm>
            <a:prstGeom prst="line">
              <a:avLst/>
            </a:prstGeom>
            <a:ln w="38100">
              <a:solidFill>
                <a:srgbClr val="CC0099"/>
              </a:solidFill>
            </a:ln>
          </p:spPr>
          <p:style>
            <a:lnRef idx="1">
              <a:schemeClr val="dk1"/>
            </a:lnRef>
            <a:fillRef idx="0">
              <a:schemeClr val="dk1"/>
            </a:fillRef>
            <a:effectRef idx="0">
              <a:schemeClr val="dk1"/>
            </a:effectRef>
            <a:fontRef idx="minor">
              <a:schemeClr val="tx1"/>
            </a:fontRef>
          </p:style>
        </p:cxnSp>
        <p:sp>
          <p:nvSpPr>
            <p:cNvPr id="10" name="右大括号 9"/>
            <p:cNvSpPr/>
            <p:nvPr/>
          </p:nvSpPr>
          <p:spPr>
            <a:xfrm rot="16200000" flipV="1">
              <a:off x="4106156" y="2032715"/>
              <a:ext cx="202035" cy="3438259"/>
            </a:xfrm>
            <a:prstGeom prst="rightBrace">
              <a:avLst>
                <a:gd name="adj1" fmla="val 23718"/>
                <a:gd name="adj2" fmla="val 50000"/>
              </a:avLst>
            </a:prstGeom>
            <a:ln w="19050"/>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1" name="文本框 10"/>
            <p:cNvSpPr txBox="1"/>
            <p:nvPr/>
          </p:nvSpPr>
          <p:spPr>
            <a:xfrm>
              <a:off x="3701007" y="3332202"/>
              <a:ext cx="1005403" cy="338554"/>
            </a:xfrm>
            <a:prstGeom prst="rect">
              <a:avLst/>
            </a:prstGeom>
            <a:noFill/>
          </p:spPr>
          <p:txBody>
            <a:bodyPr wrap="none" rtlCol="0">
              <a:spAutoFit/>
            </a:bodyPr>
            <a:lstStyle/>
            <a:p>
              <a:r>
                <a:rPr lang="zh-CN" altLang="en-US" sz="1600" b="1" dirty="0">
                  <a:latin typeface="微软雅黑" panose="020B0503020204020204" pitchFamily="34" charset="-122"/>
                  <a:ea typeface="微软雅黑" panose="020B0503020204020204" pitchFamily="34" charset="-122"/>
                </a:rPr>
                <a:t>最短路径</a:t>
              </a:r>
            </a:p>
          </p:txBody>
        </p:sp>
      </p:grpSp>
      <p:sp>
        <p:nvSpPr>
          <p:cNvPr id="17" name="椭圆 16"/>
          <p:cNvSpPr/>
          <p:nvPr/>
        </p:nvSpPr>
        <p:spPr>
          <a:xfrm>
            <a:off x="2623146" y="3179095"/>
            <a:ext cx="404068" cy="404068"/>
          </a:xfrm>
          <a:prstGeom prst="ellipse">
            <a:avLst/>
          </a:prstGeom>
          <a:solidFill>
            <a:schemeClr val="accent1">
              <a:lumMod val="40000"/>
              <a:lumOff val="60000"/>
            </a:schemeClr>
          </a:solidFill>
          <a:ln w="1905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latin typeface="微软雅黑" panose="020B0503020204020204" pitchFamily="34" charset="-122"/>
                <a:ea typeface="微软雅黑" panose="020B0503020204020204" pitchFamily="34" charset="-122"/>
              </a:rPr>
              <a:t>Z</a:t>
            </a:r>
            <a:endParaRPr lang="zh-CN" altLang="en-US" b="1" dirty="0">
              <a:solidFill>
                <a:schemeClr val="tx1"/>
              </a:solidFill>
              <a:latin typeface="微软雅黑" panose="020B0503020204020204" pitchFamily="34" charset="-122"/>
              <a:ea typeface="微软雅黑" panose="020B0503020204020204" pitchFamily="34" charset="-122"/>
            </a:endParaRPr>
          </a:p>
        </p:txBody>
      </p:sp>
      <p:cxnSp>
        <p:nvCxnSpPr>
          <p:cNvPr id="18" name="直接连接符 17"/>
          <p:cNvCxnSpPr>
            <a:stCxn id="5" idx="0"/>
            <a:endCxn id="17" idx="3"/>
          </p:cNvCxnSpPr>
          <p:nvPr/>
        </p:nvCxnSpPr>
        <p:spPr>
          <a:xfrm flipV="1">
            <a:off x="2268691" y="3523989"/>
            <a:ext cx="413629" cy="253677"/>
          </a:xfrm>
          <a:prstGeom prst="line">
            <a:avLst/>
          </a:prstGeom>
          <a:ln w="19050">
            <a:solidFill>
              <a:srgbClr val="0000FF"/>
            </a:solidFill>
            <a:prstDash val="sysDash"/>
          </a:ln>
        </p:spPr>
        <p:style>
          <a:lnRef idx="1">
            <a:schemeClr val="dk1"/>
          </a:lnRef>
          <a:fillRef idx="0">
            <a:schemeClr val="dk1"/>
          </a:fillRef>
          <a:effectRef idx="0">
            <a:schemeClr val="dk1"/>
          </a:effectRef>
          <a:fontRef idx="minor">
            <a:schemeClr val="tx1"/>
          </a:fontRef>
        </p:style>
      </p:cxnSp>
      <p:grpSp>
        <p:nvGrpSpPr>
          <p:cNvPr id="29" name="组合 28"/>
          <p:cNvGrpSpPr/>
          <p:nvPr/>
        </p:nvGrpSpPr>
        <p:grpSpPr>
          <a:xfrm>
            <a:off x="2468067" y="4079010"/>
            <a:ext cx="1379246" cy="608079"/>
            <a:chOff x="2468067" y="4079010"/>
            <a:chExt cx="1379246" cy="608079"/>
          </a:xfrm>
        </p:grpSpPr>
        <p:cxnSp>
          <p:nvCxnSpPr>
            <p:cNvPr id="12" name="直接连接符 11"/>
            <p:cNvCxnSpPr/>
            <p:nvPr/>
          </p:nvCxnSpPr>
          <p:spPr>
            <a:xfrm>
              <a:off x="2468067" y="4079010"/>
              <a:ext cx="1379246" cy="0"/>
            </a:xfrm>
            <a:prstGeom prst="line">
              <a:avLst/>
            </a:prstGeom>
            <a:ln w="38100">
              <a:solidFill>
                <a:srgbClr val="0000FF"/>
              </a:solidFill>
            </a:ln>
          </p:spPr>
          <p:style>
            <a:lnRef idx="1">
              <a:schemeClr val="dk1"/>
            </a:lnRef>
            <a:fillRef idx="0">
              <a:schemeClr val="dk1"/>
            </a:fillRef>
            <a:effectRef idx="0">
              <a:schemeClr val="dk1"/>
            </a:effectRef>
            <a:fontRef idx="minor">
              <a:schemeClr val="tx1"/>
            </a:fontRef>
          </p:style>
        </p:cxnSp>
        <p:sp>
          <p:nvSpPr>
            <p:cNvPr id="24" name="右大括号 23"/>
            <p:cNvSpPr/>
            <p:nvPr/>
          </p:nvSpPr>
          <p:spPr>
            <a:xfrm rot="5400000">
              <a:off x="3066283" y="3621244"/>
              <a:ext cx="158583" cy="1315062"/>
            </a:xfrm>
            <a:prstGeom prst="rightBrace">
              <a:avLst>
                <a:gd name="adj1" fmla="val 23718"/>
                <a:gd name="adj2" fmla="val 50000"/>
              </a:avLst>
            </a:prstGeom>
            <a:ln w="19050"/>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25" name="文本框 24"/>
            <p:cNvSpPr txBox="1"/>
            <p:nvPr/>
          </p:nvSpPr>
          <p:spPr>
            <a:xfrm>
              <a:off x="2654988" y="4348535"/>
              <a:ext cx="1005403" cy="338554"/>
            </a:xfrm>
            <a:prstGeom prst="rect">
              <a:avLst/>
            </a:prstGeom>
            <a:noFill/>
          </p:spPr>
          <p:txBody>
            <a:bodyPr wrap="none" rtlCol="0">
              <a:spAutoFit/>
            </a:bodyPr>
            <a:lstStyle/>
            <a:p>
              <a:r>
                <a:rPr lang="zh-CN" altLang="en-US" sz="1600" b="1" dirty="0">
                  <a:latin typeface="微软雅黑" panose="020B0503020204020204" pitchFamily="34" charset="-122"/>
                  <a:ea typeface="微软雅黑" panose="020B0503020204020204" pitchFamily="34" charset="-122"/>
                </a:rPr>
                <a:t>最短路径</a:t>
              </a:r>
            </a:p>
          </p:txBody>
        </p:sp>
      </p:grpSp>
      <p:grpSp>
        <p:nvGrpSpPr>
          <p:cNvPr id="30" name="组合 29"/>
          <p:cNvGrpSpPr/>
          <p:nvPr/>
        </p:nvGrpSpPr>
        <p:grpSpPr>
          <a:xfrm>
            <a:off x="4078118" y="4079010"/>
            <a:ext cx="1971268" cy="608079"/>
            <a:chOff x="4078118" y="4079010"/>
            <a:chExt cx="1971268" cy="608079"/>
          </a:xfrm>
        </p:grpSpPr>
        <p:cxnSp>
          <p:nvCxnSpPr>
            <p:cNvPr id="15" name="直接连接符 14"/>
            <p:cNvCxnSpPr/>
            <p:nvPr/>
          </p:nvCxnSpPr>
          <p:spPr>
            <a:xfrm>
              <a:off x="4078118" y="4079010"/>
              <a:ext cx="1971268" cy="0"/>
            </a:xfrm>
            <a:prstGeom prst="line">
              <a:avLst/>
            </a:prstGeom>
            <a:ln w="38100">
              <a:solidFill>
                <a:srgbClr val="993300"/>
              </a:solidFill>
            </a:ln>
          </p:spPr>
          <p:style>
            <a:lnRef idx="1">
              <a:schemeClr val="dk1"/>
            </a:lnRef>
            <a:fillRef idx="0">
              <a:schemeClr val="dk1"/>
            </a:fillRef>
            <a:effectRef idx="0">
              <a:schemeClr val="dk1"/>
            </a:effectRef>
            <a:fontRef idx="minor">
              <a:schemeClr val="tx1"/>
            </a:fontRef>
          </p:style>
        </p:cxnSp>
        <p:sp>
          <p:nvSpPr>
            <p:cNvPr id="26" name="右大括号 25"/>
            <p:cNvSpPr/>
            <p:nvPr/>
          </p:nvSpPr>
          <p:spPr>
            <a:xfrm rot="5400000">
              <a:off x="5002603" y="3382121"/>
              <a:ext cx="149052" cy="1783781"/>
            </a:xfrm>
            <a:prstGeom prst="rightBrace">
              <a:avLst>
                <a:gd name="adj1" fmla="val 23718"/>
                <a:gd name="adj2" fmla="val 50000"/>
              </a:avLst>
            </a:prstGeom>
            <a:ln w="19050"/>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27" name="文本框 26"/>
            <p:cNvSpPr txBox="1"/>
            <p:nvPr/>
          </p:nvSpPr>
          <p:spPr>
            <a:xfrm>
              <a:off x="4536910" y="4348535"/>
              <a:ext cx="1005403" cy="338554"/>
            </a:xfrm>
            <a:prstGeom prst="rect">
              <a:avLst/>
            </a:prstGeom>
            <a:noFill/>
          </p:spPr>
          <p:txBody>
            <a:bodyPr wrap="none" rtlCol="0">
              <a:spAutoFit/>
            </a:bodyPr>
            <a:lstStyle/>
            <a:p>
              <a:r>
                <a:rPr lang="zh-CN" altLang="en-US" sz="1600" b="1" dirty="0">
                  <a:latin typeface="微软雅黑" panose="020B0503020204020204" pitchFamily="34" charset="-122"/>
                  <a:ea typeface="微软雅黑" panose="020B0503020204020204" pitchFamily="34" charset="-122"/>
                </a:rPr>
                <a:t>最短路径</a:t>
              </a:r>
            </a:p>
          </p:txBody>
        </p:sp>
      </p:grpSp>
      <p:sp>
        <p:nvSpPr>
          <p:cNvPr id="5" name="椭圆 4"/>
          <p:cNvSpPr/>
          <p:nvPr/>
        </p:nvSpPr>
        <p:spPr>
          <a:xfrm>
            <a:off x="2006620" y="3777666"/>
            <a:ext cx="524141" cy="524141"/>
          </a:xfrm>
          <a:prstGeom prst="ellipse">
            <a:avLst/>
          </a:prstGeom>
          <a:solidFill>
            <a:srgbClr val="00B050"/>
          </a:solidFill>
          <a:ln w="1905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latin typeface="微软雅黑" panose="020B0503020204020204" pitchFamily="34" charset="-122"/>
                <a:ea typeface="微软雅黑" panose="020B0503020204020204" pitchFamily="34" charset="-122"/>
              </a:rPr>
              <a:t>A</a:t>
            </a: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6" name="椭圆 5"/>
          <p:cNvSpPr/>
          <p:nvPr/>
        </p:nvSpPr>
        <p:spPr>
          <a:xfrm>
            <a:off x="5969020" y="3777666"/>
            <a:ext cx="524141" cy="524141"/>
          </a:xfrm>
          <a:prstGeom prst="ellipse">
            <a:avLst/>
          </a:prstGeom>
          <a:solidFill>
            <a:srgbClr val="00B050"/>
          </a:solidFill>
          <a:ln w="1905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latin typeface="微软雅黑" panose="020B0503020204020204" pitchFamily="34" charset="-122"/>
                <a:ea typeface="微软雅黑" panose="020B0503020204020204" pitchFamily="34" charset="-122"/>
              </a:rPr>
              <a:t>B</a:t>
            </a: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7" name="椭圆 6"/>
          <p:cNvSpPr/>
          <p:nvPr/>
        </p:nvSpPr>
        <p:spPr>
          <a:xfrm>
            <a:off x="3803106" y="3837702"/>
            <a:ext cx="404068" cy="404068"/>
          </a:xfrm>
          <a:prstGeom prst="ellipse">
            <a:avLst/>
          </a:prstGeom>
          <a:solidFill>
            <a:srgbClr val="FFFF00"/>
          </a:solidFill>
          <a:ln w="1905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latin typeface="微软雅黑" panose="020B0503020204020204" pitchFamily="34" charset="-122"/>
                <a:ea typeface="微软雅黑" panose="020B0503020204020204" pitchFamily="34" charset="-122"/>
              </a:rPr>
              <a:t>X</a:t>
            </a:r>
            <a:endParaRPr lang="zh-CN" altLang="en-US" b="1" dirty="0">
              <a:solidFill>
                <a:schemeClr val="tx1"/>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71229146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Text Box 155"/>
          <p:cNvSpPr txBox="1">
            <a:spLocks noChangeArrowheads="1"/>
          </p:cNvSpPr>
          <p:nvPr/>
        </p:nvSpPr>
        <p:spPr bwMode="auto">
          <a:xfrm>
            <a:off x="1081454" y="723313"/>
            <a:ext cx="6980782" cy="634020"/>
          </a:xfrm>
          <a:prstGeom prst="rect">
            <a:avLst/>
          </a:prstGeom>
          <a:solidFill>
            <a:srgbClr val="0000FF"/>
          </a:solidFill>
          <a:ln w="9525">
            <a:noFill/>
            <a:miter lim="800000"/>
            <a:headEnd/>
            <a:tailEnd/>
          </a:ln>
          <a:effectLst/>
        </p:spPr>
        <p:txBody>
          <a:bodyPr wrap="square">
            <a:spAutoFit/>
          </a:bodyPr>
          <a:lstStyle/>
          <a:p>
            <a:pPr>
              <a:lnSpc>
                <a:spcPct val="110000"/>
              </a:lnSpc>
            </a:pPr>
            <a:r>
              <a:rPr lang="en-US" altLang="zh-CN" sz="1600" b="1" dirty="0">
                <a:highlight>
                  <a:srgbClr val="FFFF00"/>
                </a:highlight>
                <a:latin typeface="微软雅黑" pitchFamily="34" charset="-122"/>
                <a:ea typeface="微软雅黑" pitchFamily="34" charset="-122"/>
              </a:rPr>
              <a:t>【</a:t>
            </a:r>
            <a:r>
              <a:rPr lang="zh-CN" altLang="en-US" sz="1600" b="1" dirty="0">
                <a:highlight>
                  <a:srgbClr val="FFFF00"/>
                </a:highlight>
                <a:latin typeface="微软雅黑" pitchFamily="34" charset="-122"/>
                <a:ea typeface="微软雅黑" pitchFamily="34" charset="-122"/>
              </a:rPr>
              <a:t>例</a:t>
            </a:r>
            <a:r>
              <a:rPr lang="en-US" altLang="zh-CN" sz="1600" b="1" dirty="0">
                <a:highlight>
                  <a:srgbClr val="FFFF00"/>
                </a:highlight>
                <a:latin typeface="微软雅黑" pitchFamily="34" charset="-122"/>
                <a:ea typeface="微软雅黑" pitchFamily="34" charset="-122"/>
              </a:rPr>
              <a:t>】</a:t>
            </a:r>
            <a:r>
              <a:rPr lang="zh-CN" altLang="en-US" sz="1600" b="1" dirty="0">
                <a:highlight>
                  <a:srgbClr val="FFFF00"/>
                </a:highlight>
                <a:latin typeface="微软雅黑" pitchFamily="34" charset="-122"/>
                <a:ea typeface="微软雅黑" pitchFamily="34" charset="-122"/>
              </a:rPr>
              <a:t>已知路由器 </a:t>
            </a:r>
            <a:r>
              <a:rPr lang="en-US" altLang="zh-CN" sz="1600" b="1" dirty="0">
                <a:highlight>
                  <a:srgbClr val="FFFF00"/>
                </a:highlight>
                <a:latin typeface="微软雅黑" pitchFamily="34" charset="-122"/>
                <a:ea typeface="微软雅黑" pitchFamily="34" charset="-122"/>
              </a:rPr>
              <a:t>R</a:t>
            </a:r>
            <a:r>
              <a:rPr lang="en-US" altLang="zh-CN" sz="1600" b="1" baseline="-25000" dirty="0">
                <a:highlight>
                  <a:srgbClr val="FFFF00"/>
                </a:highlight>
                <a:latin typeface="微软雅黑" pitchFamily="34" charset="-122"/>
                <a:ea typeface="微软雅黑" pitchFamily="34" charset="-122"/>
              </a:rPr>
              <a:t>6</a:t>
            </a:r>
            <a:r>
              <a:rPr lang="en-US" altLang="zh-CN" sz="1600" b="1" dirty="0">
                <a:highlight>
                  <a:srgbClr val="FFFF00"/>
                </a:highlight>
                <a:latin typeface="微软雅黑" pitchFamily="34" charset="-122"/>
                <a:ea typeface="微软雅黑" pitchFamily="34" charset="-122"/>
              </a:rPr>
              <a:t> </a:t>
            </a:r>
            <a:r>
              <a:rPr lang="zh-CN" altLang="en-US" sz="1600" b="1" dirty="0">
                <a:highlight>
                  <a:srgbClr val="FFFF00"/>
                </a:highlight>
                <a:latin typeface="微软雅黑" pitchFamily="34" charset="-122"/>
                <a:ea typeface="微软雅黑" pitchFamily="34" charset="-122"/>
              </a:rPr>
              <a:t>有表 </a:t>
            </a:r>
            <a:r>
              <a:rPr lang="en-US" altLang="zh-CN" sz="1600" b="1" dirty="0">
                <a:highlight>
                  <a:srgbClr val="FFFF00"/>
                </a:highlight>
                <a:latin typeface="微软雅黑" pitchFamily="34" charset="-122"/>
                <a:ea typeface="微软雅黑" pitchFamily="34" charset="-122"/>
              </a:rPr>
              <a:t>4-8(a) </a:t>
            </a:r>
            <a:r>
              <a:rPr lang="zh-CN" altLang="en-US" sz="1600" b="1" dirty="0">
                <a:highlight>
                  <a:srgbClr val="FFFF00"/>
                </a:highlight>
                <a:latin typeface="微软雅黑" pitchFamily="34" charset="-122"/>
                <a:ea typeface="微软雅黑" pitchFamily="34" charset="-122"/>
              </a:rPr>
              <a:t>所示的路由表。现在收到相邻路由器 </a:t>
            </a:r>
            <a:r>
              <a:rPr lang="en-US" altLang="zh-CN" sz="1600" b="1" dirty="0">
                <a:highlight>
                  <a:srgbClr val="FFFF00"/>
                </a:highlight>
                <a:latin typeface="微软雅黑" pitchFamily="34" charset="-122"/>
                <a:ea typeface="微软雅黑" pitchFamily="34" charset="-122"/>
              </a:rPr>
              <a:t>R</a:t>
            </a:r>
            <a:r>
              <a:rPr lang="en-US" altLang="zh-CN" sz="1600" b="1" baseline="-25000" dirty="0">
                <a:highlight>
                  <a:srgbClr val="FFFF00"/>
                </a:highlight>
                <a:latin typeface="微软雅黑" pitchFamily="34" charset="-122"/>
                <a:ea typeface="微软雅黑" pitchFamily="34" charset="-122"/>
              </a:rPr>
              <a:t>4 </a:t>
            </a:r>
            <a:r>
              <a:rPr lang="zh-CN" altLang="en-US" sz="1600" b="1" dirty="0">
                <a:highlight>
                  <a:srgbClr val="FFFF00"/>
                </a:highlight>
                <a:latin typeface="微软雅黑" pitchFamily="34" charset="-122"/>
                <a:ea typeface="微软雅黑" pitchFamily="34" charset="-122"/>
              </a:rPr>
              <a:t>发来的路由更新信息，如表 </a:t>
            </a:r>
            <a:r>
              <a:rPr lang="en-US" altLang="zh-CN" sz="1600" b="1" dirty="0">
                <a:highlight>
                  <a:srgbClr val="FFFF00"/>
                </a:highlight>
                <a:latin typeface="微软雅黑" pitchFamily="34" charset="-122"/>
                <a:ea typeface="微软雅黑" pitchFamily="34" charset="-122"/>
              </a:rPr>
              <a:t>4-8(b) </a:t>
            </a:r>
            <a:r>
              <a:rPr lang="zh-CN" altLang="en-US" sz="1600" b="1" dirty="0">
                <a:highlight>
                  <a:srgbClr val="FFFF00"/>
                </a:highlight>
                <a:latin typeface="微软雅黑" pitchFamily="34" charset="-122"/>
                <a:ea typeface="微软雅黑" pitchFamily="34" charset="-122"/>
              </a:rPr>
              <a:t>所示。试更新路由器 </a:t>
            </a:r>
            <a:r>
              <a:rPr lang="en-US" altLang="zh-CN" sz="1600" b="1" dirty="0">
                <a:highlight>
                  <a:srgbClr val="FFFF00"/>
                </a:highlight>
                <a:latin typeface="微软雅黑" pitchFamily="34" charset="-122"/>
                <a:ea typeface="微软雅黑" pitchFamily="34" charset="-122"/>
              </a:rPr>
              <a:t>R</a:t>
            </a:r>
            <a:r>
              <a:rPr lang="en-US" altLang="zh-CN" sz="1600" b="1" baseline="-25000" dirty="0">
                <a:highlight>
                  <a:srgbClr val="FFFF00"/>
                </a:highlight>
                <a:latin typeface="微软雅黑" pitchFamily="34" charset="-122"/>
                <a:ea typeface="微软雅黑" pitchFamily="34" charset="-122"/>
              </a:rPr>
              <a:t>6</a:t>
            </a:r>
            <a:r>
              <a:rPr lang="en-US" altLang="zh-CN" sz="1600" b="1" dirty="0">
                <a:highlight>
                  <a:srgbClr val="FFFF00"/>
                </a:highlight>
                <a:latin typeface="微软雅黑" pitchFamily="34" charset="-122"/>
                <a:ea typeface="微软雅黑" pitchFamily="34" charset="-122"/>
              </a:rPr>
              <a:t> </a:t>
            </a:r>
            <a:r>
              <a:rPr lang="zh-CN" altLang="en-US" sz="1600" b="1" dirty="0">
                <a:highlight>
                  <a:srgbClr val="FFFF00"/>
                </a:highlight>
                <a:latin typeface="微软雅黑" pitchFamily="34" charset="-122"/>
                <a:ea typeface="微软雅黑" pitchFamily="34" charset="-122"/>
              </a:rPr>
              <a:t>的路由表。</a:t>
            </a:r>
          </a:p>
        </p:txBody>
      </p:sp>
      <p:graphicFrame>
        <p:nvGraphicFramePr>
          <p:cNvPr id="51" name="表格 50"/>
          <p:cNvGraphicFramePr>
            <a:graphicFrameLocks noGrp="1"/>
          </p:cNvGraphicFramePr>
          <p:nvPr>
            <p:extLst>
              <p:ext uri="{D42A27DB-BD31-4B8C-83A1-F6EECF244321}">
                <p14:modId xmlns:p14="http://schemas.microsoft.com/office/powerpoint/2010/main" val="3916673970"/>
              </p:ext>
            </p:extLst>
          </p:nvPr>
        </p:nvGraphicFramePr>
        <p:xfrm>
          <a:off x="980316" y="1654923"/>
          <a:ext cx="2948791" cy="942454"/>
        </p:xfrm>
        <a:graphic>
          <a:graphicData uri="http://schemas.openxmlformats.org/drawingml/2006/table">
            <a:tbl>
              <a:tblPr firstRow="1" firstCol="1" lastRow="1" lastCol="1" bandRow="1" bandCol="1">
                <a:tableStyleId>{5C22544A-7EE6-4342-B048-85BDC9FD1C3A}</a:tableStyleId>
              </a:tblPr>
              <a:tblGrid>
                <a:gridCol w="982930">
                  <a:extLst>
                    <a:ext uri="{9D8B030D-6E8A-4147-A177-3AD203B41FA5}">
                      <a16:colId xmlns:a16="http://schemas.microsoft.com/office/drawing/2014/main" val="20000"/>
                    </a:ext>
                  </a:extLst>
                </a:gridCol>
                <a:gridCol w="657750">
                  <a:extLst>
                    <a:ext uri="{9D8B030D-6E8A-4147-A177-3AD203B41FA5}">
                      <a16:colId xmlns:a16="http://schemas.microsoft.com/office/drawing/2014/main" val="20001"/>
                    </a:ext>
                  </a:extLst>
                </a:gridCol>
                <a:gridCol w="1308111">
                  <a:extLst>
                    <a:ext uri="{9D8B030D-6E8A-4147-A177-3AD203B41FA5}">
                      <a16:colId xmlns:a16="http://schemas.microsoft.com/office/drawing/2014/main" val="20002"/>
                    </a:ext>
                  </a:extLst>
                </a:gridCol>
              </a:tblGrid>
              <a:tr h="302141">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目的网络</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距离</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下一跳路由器</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extLst>
                  <a:ext uri="{0D108BD9-81ED-4DB2-BD59-A6C34878D82A}">
                    <a16:rowId xmlns:a16="http://schemas.microsoft.com/office/drawing/2014/main" val="10000"/>
                  </a:ext>
                </a:extLst>
              </a:tr>
              <a:tr h="20893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Net2</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a:solidFill>
                            <a:schemeClr val="tx1"/>
                          </a:solidFill>
                          <a:effectLst/>
                          <a:latin typeface="微软雅黑" pitchFamily="34" charset="-122"/>
                          <a:ea typeface="微软雅黑" pitchFamily="34" charset="-122"/>
                        </a:rPr>
                        <a:t>3</a:t>
                      </a:r>
                      <a:endParaRPr lang="zh-CN" sz="12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R</a:t>
                      </a:r>
                      <a:r>
                        <a:rPr lang="en-US" sz="1200" b="1" baseline="-25000" dirty="0">
                          <a:solidFill>
                            <a:schemeClr val="tx1"/>
                          </a:solidFill>
                          <a:effectLst/>
                          <a:latin typeface="微软雅黑" pitchFamily="34" charset="-122"/>
                          <a:ea typeface="微软雅黑" pitchFamily="34" charset="-122"/>
                        </a:rPr>
                        <a:t>4</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1569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Net3</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4</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R</a:t>
                      </a:r>
                      <a:r>
                        <a:rPr lang="en-US" sz="1200" b="1" baseline="-25000" dirty="0">
                          <a:solidFill>
                            <a:schemeClr val="tx1"/>
                          </a:solidFill>
                          <a:effectLst/>
                          <a:latin typeface="微软雅黑" pitchFamily="34" charset="-122"/>
                          <a:ea typeface="微软雅黑" pitchFamily="34" charset="-122"/>
                        </a:rPr>
                        <a:t>5</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2"/>
                  </a:ext>
                </a:extLst>
              </a:tr>
              <a:tr h="21569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a:t>
                      </a:r>
                      <a:endParaRPr lang="zh-CN" sz="1200" b="1" dirty="0">
                        <a:solidFill>
                          <a:schemeClr val="tx1"/>
                        </a:solidFill>
                        <a:effectLst/>
                        <a:latin typeface="微软雅黑" pitchFamily="34" charset="-122"/>
                        <a:ea typeface="微软雅黑" pitchFamily="34"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a:t>
                      </a:r>
                      <a:endParaRPr lang="zh-CN" sz="1200" b="1" dirty="0">
                        <a:solidFill>
                          <a:schemeClr val="tx1"/>
                        </a:solidFill>
                        <a:effectLst/>
                        <a:latin typeface="微软雅黑" pitchFamily="34" charset="-122"/>
                        <a:ea typeface="微软雅黑" pitchFamily="34"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a:t>
                      </a:r>
                      <a:endParaRPr lang="zh-CN" sz="1200" b="1" dirty="0">
                        <a:solidFill>
                          <a:schemeClr val="tx1"/>
                        </a:solidFill>
                        <a:effectLst/>
                        <a:latin typeface="微软雅黑" pitchFamily="34" charset="-122"/>
                        <a:ea typeface="微软雅黑" pitchFamily="34"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65" name="矩形 64"/>
          <p:cNvSpPr/>
          <p:nvPr/>
        </p:nvSpPr>
        <p:spPr>
          <a:xfrm>
            <a:off x="1322029" y="1373208"/>
            <a:ext cx="2265364" cy="276999"/>
          </a:xfrm>
          <a:prstGeom prst="rect">
            <a:avLst/>
          </a:prstGeom>
        </p:spPr>
        <p:txBody>
          <a:bodyPr wrap="none">
            <a:spAutoFit/>
          </a:bodyPr>
          <a:lstStyle/>
          <a:p>
            <a:pPr algn="ctr"/>
            <a:r>
              <a:rPr lang="zh-CN" altLang="zh-CN" sz="1200" b="1" dirty="0">
                <a:latin typeface="微软雅黑" pitchFamily="34" charset="-122"/>
                <a:ea typeface="微软雅黑" pitchFamily="34" charset="-122"/>
              </a:rPr>
              <a:t>表</a:t>
            </a:r>
            <a:r>
              <a:rPr lang="en-US" altLang="zh-CN" sz="1200" b="1" dirty="0">
                <a:latin typeface="微软雅黑" pitchFamily="34" charset="-122"/>
                <a:ea typeface="微软雅黑" pitchFamily="34" charset="-122"/>
              </a:rPr>
              <a:t> 4-8(a)  </a:t>
            </a:r>
            <a:r>
              <a:rPr lang="zh-CN" altLang="zh-CN" sz="1200" b="1" dirty="0">
                <a:latin typeface="微软雅黑" pitchFamily="34" charset="-122"/>
                <a:ea typeface="微软雅黑" pitchFamily="34" charset="-122"/>
              </a:rPr>
              <a:t>路由器</a:t>
            </a:r>
            <a:r>
              <a:rPr lang="en-US" altLang="zh-CN" sz="1200" b="1" dirty="0">
                <a:latin typeface="微软雅黑" pitchFamily="34" charset="-122"/>
                <a:ea typeface="微软雅黑" pitchFamily="34" charset="-122"/>
              </a:rPr>
              <a:t> R</a:t>
            </a:r>
            <a:r>
              <a:rPr lang="en-US" altLang="zh-CN" sz="1200" b="1" baseline="-25000" dirty="0">
                <a:latin typeface="微软雅黑" pitchFamily="34" charset="-122"/>
                <a:ea typeface="微软雅黑" pitchFamily="34" charset="-122"/>
              </a:rPr>
              <a:t>6 </a:t>
            </a:r>
            <a:r>
              <a:rPr lang="zh-CN" altLang="zh-CN" sz="1200" b="1" dirty="0">
                <a:latin typeface="微软雅黑" pitchFamily="34" charset="-122"/>
                <a:ea typeface="微软雅黑" pitchFamily="34" charset="-122"/>
              </a:rPr>
              <a:t>的路由表</a:t>
            </a:r>
            <a:endParaRPr lang="zh-CN" altLang="en-US" sz="1200" b="1" dirty="0">
              <a:latin typeface="微软雅黑" pitchFamily="34" charset="-122"/>
              <a:ea typeface="微软雅黑" pitchFamily="34" charset="-122"/>
            </a:endParaRPr>
          </a:p>
        </p:txBody>
      </p:sp>
      <p:graphicFrame>
        <p:nvGraphicFramePr>
          <p:cNvPr id="66" name="表格 65"/>
          <p:cNvGraphicFramePr>
            <a:graphicFrameLocks noGrp="1"/>
          </p:cNvGraphicFramePr>
          <p:nvPr>
            <p:extLst>
              <p:ext uri="{D42A27DB-BD31-4B8C-83A1-F6EECF244321}">
                <p14:modId xmlns:p14="http://schemas.microsoft.com/office/powerpoint/2010/main" val="4227897987"/>
              </p:ext>
            </p:extLst>
          </p:nvPr>
        </p:nvGraphicFramePr>
        <p:xfrm>
          <a:off x="5258087" y="1654923"/>
          <a:ext cx="2948791" cy="942454"/>
        </p:xfrm>
        <a:graphic>
          <a:graphicData uri="http://schemas.openxmlformats.org/drawingml/2006/table">
            <a:tbl>
              <a:tblPr firstRow="1" firstCol="1" lastRow="1" lastCol="1" bandRow="1" bandCol="1">
                <a:tableStyleId>{5C22544A-7EE6-4342-B048-85BDC9FD1C3A}</a:tableStyleId>
              </a:tblPr>
              <a:tblGrid>
                <a:gridCol w="982930">
                  <a:extLst>
                    <a:ext uri="{9D8B030D-6E8A-4147-A177-3AD203B41FA5}">
                      <a16:colId xmlns:a16="http://schemas.microsoft.com/office/drawing/2014/main" val="20000"/>
                    </a:ext>
                  </a:extLst>
                </a:gridCol>
                <a:gridCol w="657750">
                  <a:extLst>
                    <a:ext uri="{9D8B030D-6E8A-4147-A177-3AD203B41FA5}">
                      <a16:colId xmlns:a16="http://schemas.microsoft.com/office/drawing/2014/main" val="20001"/>
                    </a:ext>
                  </a:extLst>
                </a:gridCol>
                <a:gridCol w="1308111">
                  <a:extLst>
                    <a:ext uri="{9D8B030D-6E8A-4147-A177-3AD203B41FA5}">
                      <a16:colId xmlns:a16="http://schemas.microsoft.com/office/drawing/2014/main" val="20002"/>
                    </a:ext>
                  </a:extLst>
                </a:gridCol>
              </a:tblGrid>
              <a:tr h="302141">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目的网络</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距离</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下一跳路由器</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extLst>
                  <a:ext uri="{0D108BD9-81ED-4DB2-BD59-A6C34878D82A}">
                    <a16:rowId xmlns:a16="http://schemas.microsoft.com/office/drawing/2014/main" val="10000"/>
                  </a:ext>
                </a:extLst>
              </a:tr>
              <a:tr h="20893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Net1</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3</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a:solidFill>
                            <a:schemeClr val="tx1"/>
                          </a:solidFill>
                          <a:effectLst/>
                          <a:latin typeface="微软雅黑" pitchFamily="34" charset="-122"/>
                          <a:ea typeface="微软雅黑" pitchFamily="34" charset="-122"/>
                        </a:rPr>
                        <a:t>R</a:t>
                      </a:r>
                      <a:r>
                        <a:rPr lang="en-US" sz="1200" b="1" baseline="-25000">
                          <a:solidFill>
                            <a:schemeClr val="tx1"/>
                          </a:solidFill>
                          <a:effectLst/>
                          <a:latin typeface="微软雅黑" pitchFamily="34" charset="-122"/>
                          <a:ea typeface="微软雅黑" pitchFamily="34" charset="-122"/>
                        </a:rPr>
                        <a:t>1</a:t>
                      </a:r>
                      <a:endParaRPr lang="zh-CN" sz="12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1569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Net2</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4</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R</a:t>
                      </a:r>
                      <a:r>
                        <a:rPr lang="en-US" sz="1200" b="1" baseline="-25000" dirty="0">
                          <a:solidFill>
                            <a:schemeClr val="tx1"/>
                          </a:solidFill>
                          <a:effectLst/>
                          <a:latin typeface="微软雅黑" pitchFamily="34" charset="-122"/>
                          <a:ea typeface="微软雅黑" pitchFamily="34" charset="-122"/>
                        </a:rPr>
                        <a:t>2</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2"/>
                  </a:ext>
                </a:extLst>
              </a:tr>
              <a:tr h="21569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Net3</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1</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zh-CN" sz="1200" b="1" dirty="0">
                          <a:solidFill>
                            <a:schemeClr val="tx1"/>
                          </a:solidFill>
                          <a:effectLst/>
                          <a:latin typeface="微软雅黑" pitchFamily="34" charset="-122"/>
                          <a:ea typeface="微软雅黑" pitchFamily="34" charset="-122"/>
                        </a:rPr>
                        <a:t>直接交付</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67" name="矩形 66"/>
          <p:cNvSpPr/>
          <p:nvPr/>
        </p:nvSpPr>
        <p:spPr>
          <a:xfrm>
            <a:off x="5437897" y="1373208"/>
            <a:ext cx="2589170" cy="276999"/>
          </a:xfrm>
          <a:prstGeom prst="rect">
            <a:avLst/>
          </a:prstGeom>
        </p:spPr>
        <p:txBody>
          <a:bodyPr wrap="none">
            <a:spAutoFit/>
          </a:bodyPr>
          <a:lstStyle/>
          <a:p>
            <a:pPr algn="ctr"/>
            <a:r>
              <a:rPr lang="zh-CN" altLang="en-US" sz="1200" b="1" dirty="0">
                <a:latin typeface="微软雅黑" pitchFamily="34" charset="-122"/>
                <a:ea typeface="微软雅黑" pitchFamily="34" charset="-122"/>
              </a:rPr>
              <a:t>表 </a:t>
            </a:r>
            <a:r>
              <a:rPr lang="en-US" altLang="zh-CN" sz="1200" b="1" dirty="0">
                <a:latin typeface="微软雅黑" pitchFamily="34" charset="-122"/>
                <a:ea typeface="微软雅黑" pitchFamily="34" charset="-122"/>
              </a:rPr>
              <a:t>4-8(b)  R4 </a:t>
            </a:r>
            <a:r>
              <a:rPr lang="zh-CN" altLang="en-US" sz="1200" b="1" dirty="0">
                <a:latin typeface="微软雅黑" pitchFamily="34" charset="-122"/>
                <a:ea typeface="微软雅黑" pitchFamily="34" charset="-122"/>
              </a:rPr>
              <a:t>发来的路由更新信息</a:t>
            </a:r>
          </a:p>
        </p:txBody>
      </p:sp>
      <p:graphicFrame>
        <p:nvGraphicFramePr>
          <p:cNvPr id="68" name="表格 67"/>
          <p:cNvGraphicFramePr>
            <a:graphicFrameLocks noGrp="1"/>
          </p:cNvGraphicFramePr>
          <p:nvPr>
            <p:extLst>
              <p:ext uri="{D42A27DB-BD31-4B8C-83A1-F6EECF244321}">
                <p14:modId xmlns:p14="http://schemas.microsoft.com/office/powerpoint/2010/main" val="2582743477"/>
              </p:ext>
            </p:extLst>
          </p:nvPr>
        </p:nvGraphicFramePr>
        <p:xfrm>
          <a:off x="5258087" y="3250629"/>
          <a:ext cx="2948791" cy="942454"/>
        </p:xfrm>
        <a:graphic>
          <a:graphicData uri="http://schemas.openxmlformats.org/drawingml/2006/table">
            <a:tbl>
              <a:tblPr firstRow="1" firstCol="1" lastRow="1" lastCol="1" bandRow="1" bandCol="1">
                <a:tableStyleId>{5C22544A-7EE6-4342-B048-85BDC9FD1C3A}</a:tableStyleId>
              </a:tblPr>
              <a:tblGrid>
                <a:gridCol w="982930">
                  <a:extLst>
                    <a:ext uri="{9D8B030D-6E8A-4147-A177-3AD203B41FA5}">
                      <a16:colId xmlns:a16="http://schemas.microsoft.com/office/drawing/2014/main" val="20000"/>
                    </a:ext>
                  </a:extLst>
                </a:gridCol>
                <a:gridCol w="657750">
                  <a:extLst>
                    <a:ext uri="{9D8B030D-6E8A-4147-A177-3AD203B41FA5}">
                      <a16:colId xmlns:a16="http://schemas.microsoft.com/office/drawing/2014/main" val="20001"/>
                    </a:ext>
                  </a:extLst>
                </a:gridCol>
                <a:gridCol w="1308111">
                  <a:extLst>
                    <a:ext uri="{9D8B030D-6E8A-4147-A177-3AD203B41FA5}">
                      <a16:colId xmlns:a16="http://schemas.microsoft.com/office/drawing/2014/main" val="20002"/>
                    </a:ext>
                  </a:extLst>
                </a:gridCol>
              </a:tblGrid>
              <a:tr h="302141">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目的网络</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距离</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下一跳路由器</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extLst>
                  <a:ext uri="{0D108BD9-81ED-4DB2-BD59-A6C34878D82A}">
                    <a16:rowId xmlns:a16="http://schemas.microsoft.com/office/drawing/2014/main" val="10000"/>
                  </a:ext>
                </a:extLst>
              </a:tr>
              <a:tr h="20893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Net1</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a:solidFill>
                            <a:schemeClr val="tx1"/>
                          </a:solidFill>
                          <a:effectLst/>
                          <a:latin typeface="微软雅黑" pitchFamily="34" charset="-122"/>
                          <a:ea typeface="微软雅黑" pitchFamily="34" charset="-122"/>
                        </a:rPr>
                        <a:t>4</a:t>
                      </a:r>
                      <a:endParaRPr lang="zh-CN" sz="12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R</a:t>
                      </a:r>
                      <a:r>
                        <a:rPr lang="en-US" sz="1200" b="1" baseline="-25000" dirty="0">
                          <a:solidFill>
                            <a:schemeClr val="tx1"/>
                          </a:solidFill>
                          <a:effectLst/>
                          <a:latin typeface="微软雅黑" pitchFamily="34" charset="-122"/>
                          <a:ea typeface="微软雅黑" pitchFamily="34" charset="-122"/>
                        </a:rPr>
                        <a:t>4</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1569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Net2</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5</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R</a:t>
                      </a:r>
                      <a:r>
                        <a:rPr lang="en-US" sz="1200" b="1" baseline="-25000" dirty="0">
                          <a:solidFill>
                            <a:schemeClr val="tx1"/>
                          </a:solidFill>
                          <a:effectLst/>
                          <a:latin typeface="微软雅黑" pitchFamily="34" charset="-122"/>
                          <a:ea typeface="微软雅黑" pitchFamily="34" charset="-122"/>
                        </a:rPr>
                        <a:t>4</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2"/>
                  </a:ext>
                </a:extLst>
              </a:tr>
              <a:tr h="21569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Net3</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2</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R</a:t>
                      </a:r>
                      <a:r>
                        <a:rPr lang="en-US" sz="1200" b="1" baseline="-25000" dirty="0">
                          <a:solidFill>
                            <a:schemeClr val="tx1"/>
                          </a:solidFill>
                          <a:effectLst/>
                          <a:latin typeface="微软雅黑" pitchFamily="34" charset="-122"/>
                          <a:ea typeface="微软雅黑" pitchFamily="34" charset="-122"/>
                        </a:rPr>
                        <a:t>4</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69" name="矩形 68"/>
          <p:cNvSpPr/>
          <p:nvPr/>
        </p:nvSpPr>
        <p:spPr>
          <a:xfrm>
            <a:off x="5619035" y="2968914"/>
            <a:ext cx="2226893" cy="276999"/>
          </a:xfrm>
          <a:prstGeom prst="rect">
            <a:avLst/>
          </a:prstGeom>
        </p:spPr>
        <p:txBody>
          <a:bodyPr wrap="none">
            <a:spAutoFit/>
          </a:bodyPr>
          <a:lstStyle/>
          <a:p>
            <a:pPr algn="ctr"/>
            <a:r>
              <a:rPr lang="zh-CN" altLang="en-US" sz="1200" b="1" dirty="0">
                <a:latin typeface="微软雅黑" pitchFamily="34" charset="-122"/>
                <a:ea typeface="微软雅黑" pitchFamily="34" charset="-122"/>
              </a:rPr>
              <a:t>表 </a:t>
            </a:r>
            <a:r>
              <a:rPr lang="en-US" altLang="zh-CN" sz="1200" b="1" dirty="0">
                <a:latin typeface="微软雅黑" pitchFamily="34" charset="-122"/>
                <a:ea typeface="微软雅黑" pitchFamily="34" charset="-122"/>
              </a:rPr>
              <a:t>4-8(c)  </a:t>
            </a:r>
            <a:r>
              <a:rPr lang="zh-CN" altLang="en-US" sz="1200" b="1" dirty="0">
                <a:latin typeface="微软雅黑" pitchFamily="34" charset="-122"/>
                <a:ea typeface="微软雅黑" pitchFamily="34" charset="-122"/>
              </a:rPr>
              <a:t>修改后的表 </a:t>
            </a:r>
            <a:r>
              <a:rPr lang="en-US" altLang="zh-CN" sz="1200" b="1" dirty="0">
                <a:latin typeface="微软雅黑" pitchFamily="34" charset="-122"/>
                <a:ea typeface="微软雅黑" pitchFamily="34" charset="-122"/>
              </a:rPr>
              <a:t>4-9(b)</a:t>
            </a:r>
          </a:p>
        </p:txBody>
      </p:sp>
      <p:graphicFrame>
        <p:nvGraphicFramePr>
          <p:cNvPr id="70" name="表格 69"/>
          <p:cNvGraphicFramePr>
            <a:graphicFrameLocks noGrp="1"/>
          </p:cNvGraphicFramePr>
          <p:nvPr>
            <p:extLst>
              <p:ext uri="{D42A27DB-BD31-4B8C-83A1-F6EECF244321}">
                <p14:modId xmlns:p14="http://schemas.microsoft.com/office/powerpoint/2010/main" val="1738129026"/>
              </p:ext>
            </p:extLst>
          </p:nvPr>
        </p:nvGraphicFramePr>
        <p:xfrm>
          <a:off x="980316" y="3056921"/>
          <a:ext cx="2948791" cy="1158145"/>
        </p:xfrm>
        <a:graphic>
          <a:graphicData uri="http://schemas.openxmlformats.org/drawingml/2006/table">
            <a:tbl>
              <a:tblPr firstRow="1" firstCol="1" lastRow="1" lastCol="1" bandRow="1" bandCol="1">
                <a:tableStyleId>{5C22544A-7EE6-4342-B048-85BDC9FD1C3A}</a:tableStyleId>
              </a:tblPr>
              <a:tblGrid>
                <a:gridCol w="982930">
                  <a:extLst>
                    <a:ext uri="{9D8B030D-6E8A-4147-A177-3AD203B41FA5}">
                      <a16:colId xmlns:a16="http://schemas.microsoft.com/office/drawing/2014/main" val="20000"/>
                    </a:ext>
                  </a:extLst>
                </a:gridCol>
                <a:gridCol w="657750">
                  <a:extLst>
                    <a:ext uri="{9D8B030D-6E8A-4147-A177-3AD203B41FA5}">
                      <a16:colId xmlns:a16="http://schemas.microsoft.com/office/drawing/2014/main" val="20001"/>
                    </a:ext>
                  </a:extLst>
                </a:gridCol>
                <a:gridCol w="1308111">
                  <a:extLst>
                    <a:ext uri="{9D8B030D-6E8A-4147-A177-3AD203B41FA5}">
                      <a16:colId xmlns:a16="http://schemas.microsoft.com/office/drawing/2014/main" val="20002"/>
                    </a:ext>
                  </a:extLst>
                </a:gridCol>
              </a:tblGrid>
              <a:tr h="302141">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目的网络</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距离</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下一跳路由器</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extLst>
                  <a:ext uri="{0D108BD9-81ED-4DB2-BD59-A6C34878D82A}">
                    <a16:rowId xmlns:a16="http://schemas.microsoft.com/office/drawing/2014/main" val="10000"/>
                  </a:ext>
                </a:extLst>
              </a:tr>
              <a:tr h="20893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Net1</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4</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a:solidFill>
                            <a:schemeClr val="tx1"/>
                          </a:solidFill>
                          <a:effectLst/>
                          <a:latin typeface="微软雅黑" pitchFamily="34" charset="-122"/>
                          <a:ea typeface="微软雅黑" pitchFamily="34" charset="-122"/>
                        </a:rPr>
                        <a:t>R</a:t>
                      </a:r>
                      <a:r>
                        <a:rPr lang="en-US" sz="1200" b="1" baseline="-25000">
                          <a:solidFill>
                            <a:schemeClr val="tx1"/>
                          </a:solidFill>
                          <a:effectLst/>
                          <a:latin typeface="微软雅黑" pitchFamily="34" charset="-122"/>
                          <a:ea typeface="微软雅黑" pitchFamily="34" charset="-122"/>
                        </a:rPr>
                        <a:t>4</a:t>
                      </a:r>
                      <a:endParaRPr lang="zh-CN" sz="12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1569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Net2</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5</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R</a:t>
                      </a:r>
                      <a:r>
                        <a:rPr lang="en-US" sz="1200" b="1" baseline="-25000" dirty="0">
                          <a:solidFill>
                            <a:schemeClr val="tx1"/>
                          </a:solidFill>
                          <a:effectLst/>
                          <a:latin typeface="微软雅黑" pitchFamily="34" charset="-122"/>
                          <a:ea typeface="微软雅黑" pitchFamily="34" charset="-122"/>
                        </a:rPr>
                        <a:t>4</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2"/>
                  </a:ext>
                </a:extLst>
              </a:tr>
              <a:tr h="21569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Net3</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2</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R</a:t>
                      </a:r>
                      <a:r>
                        <a:rPr lang="en-US" sz="1200" b="1" baseline="-25000" dirty="0">
                          <a:solidFill>
                            <a:schemeClr val="tx1"/>
                          </a:solidFill>
                          <a:effectLst/>
                          <a:latin typeface="微软雅黑" pitchFamily="34" charset="-122"/>
                          <a:ea typeface="微软雅黑" pitchFamily="34" charset="-122"/>
                        </a:rPr>
                        <a:t>4</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21569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a:t>
                      </a:r>
                      <a:endParaRPr lang="zh-CN" sz="1200" b="1" dirty="0">
                        <a:solidFill>
                          <a:schemeClr val="tx1"/>
                        </a:solidFill>
                        <a:effectLst/>
                        <a:latin typeface="微软雅黑" pitchFamily="34" charset="-122"/>
                        <a:ea typeface="微软雅黑" pitchFamily="34"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a:t>
                      </a:r>
                      <a:endParaRPr lang="zh-CN" sz="1200" b="1" dirty="0">
                        <a:solidFill>
                          <a:schemeClr val="tx1"/>
                        </a:solidFill>
                        <a:effectLst/>
                        <a:latin typeface="微软雅黑" pitchFamily="34" charset="-122"/>
                        <a:ea typeface="微软雅黑" pitchFamily="34"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a:t>
                      </a:r>
                      <a:endParaRPr lang="zh-CN" sz="1200" b="1" dirty="0">
                        <a:solidFill>
                          <a:schemeClr val="tx1"/>
                        </a:solidFill>
                        <a:effectLst/>
                        <a:latin typeface="微软雅黑" pitchFamily="34" charset="-122"/>
                        <a:ea typeface="微软雅黑" pitchFamily="34"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4"/>
                  </a:ext>
                </a:extLst>
              </a:tr>
            </a:tbl>
          </a:graphicData>
        </a:graphic>
      </p:graphicFrame>
      <p:sp>
        <p:nvSpPr>
          <p:cNvPr id="71" name="矩形 70"/>
          <p:cNvSpPr/>
          <p:nvPr/>
        </p:nvSpPr>
        <p:spPr>
          <a:xfrm>
            <a:off x="864183" y="2775206"/>
            <a:ext cx="2741456" cy="276999"/>
          </a:xfrm>
          <a:prstGeom prst="rect">
            <a:avLst/>
          </a:prstGeom>
        </p:spPr>
        <p:txBody>
          <a:bodyPr wrap="none">
            <a:spAutoFit/>
          </a:bodyPr>
          <a:lstStyle/>
          <a:p>
            <a:pPr algn="ctr"/>
            <a:r>
              <a:rPr lang="zh-CN" altLang="en-US" sz="1200" b="1" dirty="0">
                <a:latin typeface="微软雅黑" pitchFamily="34" charset="-122"/>
                <a:ea typeface="微软雅黑" pitchFamily="34" charset="-122"/>
              </a:rPr>
              <a:t>表 </a:t>
            </a:r>
            <a:r>
              <a:rPr lang="en-US" altLang="zh-CN" sz="1200" b="1" dirty="0">
                <a:latin typeface="微软雅黑" pitchFamily="34" charset="-122"/>
                <a:ea typeface="微软雅黑" pitchFamily="34" charset="-122"/>
              </a:rPr>
              <a:t>4-8(d)  </a:t>
            </a:r>
            <a:r>
              <a:rPr lang="zh-CN" altLang="en-US" sz="1200" b="1" dirty="0">
                <a:latin typeface="微软雅黑" pitchFamily="34" charset="-122"/>
                <a:ea typeface="微软雅黑" pitchFamily="34" charset="-122"/>
              </a:rPr>
              <a:t>路由器 </a:t>
            </a:r>
            <a:r>
              <a:rPr lang="en-US" altLang="zh-CN" sz="1200" b="1" dirty="0">
                <a:latin typeface="微软雅黑" pitchFamily="34" charset="-122"/>
                <a:ea typeface="微软雅黑" pitchFamily="34" charset="-122"/>
              </a:rPr>
              <a:t>R</a:t>
            </a:r>
            <a:r>
              <a:rPr lang="en-US" altLang="zh-CN" sz="1200" b="1" baseline="-25000" dirty="0">
                <a:latin typeface="微软雅黑" pitchFamily="34" charset="-122"/>
                <a:ea typeface="微软雅黑" pitchFamily="34" charset="-122"/>
              </a:rPr>
              <a:t>6 </a:t>
            </a:r>
            <a:r>
              <a:rPr lang="zh-CN" altLang="en-US" sz="1200" b="1" dirty="0">
                <a:latin typeface="微软雅黑" pitchFamily="34" charset="-122"/>
                <a:ea typeface="微软雅黑" pitchFamily="34" charset="-122"/>
              </a:rPr>
              <a:t>更新后的路由表</a:t>
            </a:r>
          </a:p>
        </p:txBody>
      </p:sp>
      <p:grpSp>
        <p:nvGrpSpPr>
          <p:cNvPr id="7" name="组合 6"/>
          <p:cNvGrpSpPr/>
          <p:nvPr/>
        </p:nvGrpSpPr>
        <p:grpSpPr>
          <a:xfrm>
            <a:off x="3578156" y="1953579"/>
            <a:ext cx="1653268" cy="1768676"/>
            <a:chOff x="3578156" y="1953579"/>
            <a:chExt cx="1653268" cy="1768676"/>
          </a:xfrm>
        </p:grpSpPr>
        <p:grpSp>
          <p:nvGrpSpPr>
            <p:cNvPr id="72" name="组合 71"/>
            <p:cNvGrpSpPr/>
            <p:nvPr/>
          </p:nvGrpSpPr>
          <p:grpSpPr>
            <a:xfrm>
              <a:off x="3578156" y="1953579"/>
              <a:ext cx="1653268" cy="1768676"/>
              <a:chOff x="3239516" y="1802855"/>
              <a:chExt cx="2342104" cy="2505589"/>
            </a:xfrm>
          </p:grpSpPr>
          <p:sp>
            <p:nvSpPr>
              <p:cNvPr id="61" name="椭圆 60"/>
              <p:cNvSpPr/>
              <p:nvPr/>
            </p:nvSpPr>
            <p:spPr bwMode="auto">
              <a:xfrm>
                <a:off x="4146775" y="2403831"/>
                <a:ext cx="1180985" cy="936105"/>
              </a:xfrm>
              <a:prstGeom prst="ellipse">
                <a:avLst/>
              </a:prstGeom>
              <a:solidFill>
                <a:srgbClr val="99FFCC"/>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indent="0" algn="r" defTabSz="914400" rtl="0" eaLnBrk="0" fontAlgn="base" latinLnBrk="0" hangingPunct="0">
                  <a:lnSpc>
                    <a:spcPct val="100000"/>
                  </a:lnSpc>
                  <a:spcBef>
                    <a:spcPct val="0"/>
                  </a:spcBef>
                  <a:spcAft>
                    <a:spcPct val="0"/>
                  </a:spcAft>
                  <a:buClrTx/>
                  <a:buSzTx/>
                  <a:buFontTx/>
                  <a:buNone/>
                  <a:tabLst/>
                </a:pPr>
                <a:r>
                  <a:rPr kumimoji="0" lang="zh-CN" altLang="en-US" sz="1400" b="1" i="0" u="none" strike="noStrike" cap="none" normalizeH="0" baseline="0" dirty="0">
                    <a:ln>
                      <a:noFill/>
                    </a:ln>
                    <a:effectLst/>
                    <a:latin typeface="微软雅黑" pitchFamily="34" charset="-122"/>
                    <a:ea typeface="微软雅黑" pitchFamily="34" charset="-122"/>
                  </a:rPr>
                  <a:t>计算更新</a:t>
                </a:r>
              </a:p>
            </p:txBody>
          </p:sp>
          <p:sp>
            <p:nvSpPr>
              <p:cNvPr id="62" name="直角上箭头 61"/>
              <p:cNvSpPr/>
              <p:nvPr/>
            </p:nvSpPr>
            <p:spPr bwMode="auto">
              <a:xfrm flipH="1">
                <a:off x="4552757" y="3359220"/>
                <a:ext cx="1028863" cy="949224"/>
              </a:xfrm>
              <a:prstGeom prst="bentUpArrow">
                <a:avLst>
                  <a:gd name="adj1" fmla="val 17604"/>
                  <a:gd name="adj2" fmla="val 26017"/>
                  <a:gd name="adj3" fmla="val 33446"/>
                </a:avLst>
              </a:prstGeom>
              <a:solidFill>
                <a:srgbClr val="FF9933"/>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800" b="0" i="0" u="none" strike="noStrike" cap="none" normalizeH="0" baseline="0">
                  <a:ln>
                    <a:noFill/>
                  </a:ln>
                  <a:solidFill>
                    <a:schemeClr val="tx1"/>
                  </a:solidFill>
                  <a:effectLst/>
                  <a:latin typeface="微软雅黑" pitchFamily="34" charset="-122"/>
                  <a:ea typeface="微软雅黑" pitchFamily="34" charset="-122"/>
                </a:endParaRPr>
              </a:p>
            </p:txBody>
          </p:sp>
          <p:sp>
            <p:nvSpPr>
              <p:cNvPr id="63" name="直角上箭头 62"/>
              <p:cNvSpPr/>
              <p:nvPr/>
            </p:nvSpPr>
            <p:spPr bwMode="auto">
              <a:xfrm flipV="1">
                <a:off x="3706033" y="1802855"/>
                <a:ext cx="1196826" cy="576064"/>
              </a:xfrm>
              <a:prstGeom prst="bentUpArrow">
                <a:avLst>
                  <a:gd name="adj1" fmla="val 25000"/>
                  <a:gd name="adj2" fmla="val 37144"/>
                  <a:gd name="adj3" fmla="val 42348"/>
                </a:avLst>
              </a:prstGeom>
              <a:solidFill>
                <a:srgbClr val="FF9933"/>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800" b="0" i="0" u="none" strike="noStrike" cap="none" normalizeH="0" baseline="0">
                  <a:ln>
                    <a:noFill/>
                  </a:ln>
                  <a:solidFill>
                    <a:schemeClr val="tx1"/>
                  </a:solidFill>
                  <a:effectLst/>
                  <a:latin typeface="微软雅黑" pitchFamily="34" charset="-122"/>
                  <a:ea typeface="微软雅黑" pitchFamily="34" charset="-122"/>
                </a:endParaRPr>
              </a:p>
            </p:txBody>
          </p:sp>
          <p:sp>
            <p:nvSpPr>
              <p:cNvPr id="64" name="直角上箭头 63"/>
              <p:cNvSpPr/>
              <p:nvPr/>
            </p:nvSpPr>
            <p:spPr bwMode="auto">
              <a:xfrm flipH="1" flipV="1">
                <a:off x="3239516" y="2838050"/>
                <a:ext cx="906865" cy="521169"/>
              </a:xfrm>
              <a:prstGeom prst="bentUpArrow">
                <a:avLst>
                  <a:gd name="adj1" fmla="val 28080"/>
                  <a:gd name="adj2" fmla="val 37144"/>
                  <a:gd name="adj3" fmla="val 42348"/>
                </a:avLst>
              </a:prstGeom>
              <a:solidFill>
                <a:srgbClr val="990099"/>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800" b="0" i="0" u="none" strike="noStrike" cap="none" normalizeH="0" baseline="0">
                  <a:ln>
                    <a:noFill/>
                  </a:ln>
                  <a:solidFill>
                    <a:schemeClr val="tx1"/>
                  </a:solidFill>
                  <a:effectLst/>
                  <a:latin typeface="微软雅黑" pitchFamily="34" charset="-122"/>
                  <a:ea typeface="微软雅黑" pitchFamily="34" charset="-122"/>
                </a:endParaRPr>
              </a:p>
            </p:txBody>
          </p:sp>
        </p:grpSp>
        <p:sp>
          <p:nvSpPr>
            <p:cNvPr id="20" name="矩形 19"/>
            <p:cNvSpPr/>
            <p:nvPr/>
          </p:nvSpPr>
          <p:spPr>
            <a:xfrm>
              <a:off x="4160240" y="2523927"/>
              <a:ext cx="413896" cy="400110"/>
            </a:xfrm>
            <a:prstGeom prst="rect">
              <a:avLst/>
            </a:prstGeom>
          </p:spPr>
          <p:txBody>
            <a:bodyPr wrap="none">
              <a:spAutoFit/>
            </a:bodyPr>
            <a:lstStyle/>
            <a:p>
              <a:r>
                <a:rPr lang="en-US" altLang="zh-CN" sz="2000" b="1" dirty="0">
                  <a:solidFill>
                    <a:srgbClr val="0000FF"/>
                  </a:solidFill>
                  <a:latin typeface="微软雅黑" pitchFamily="34" charset="-122"/>
                  <a:ea typeface="微软雅黑" pitchFamily="34" charset="-122"/>
                  <a:sym typeface="Wingdings 2" panose="05020102010507070707" pitchFamily="18" charset="2"/>
                </a:rPr>
                <a:t></a:t>
              </a:r>
              <a:endParaRPr lang="zh-CN" altLang="en-US" sz="2000" dirty="0">
                <a:solidFill>
                  <a:srgbClr val="0000FF"/>
                </a:solidFill>
              </a:endParaRPr>
            </a:p>
          </p:txBody>
        </p:sp>
      </p:grpSp>
      <p:grpSp>
        <p:nvGrpSpPr>
          <p:cNvPr id="6" name="组合 5"/>
          <p:cNvGrpSpPr/>
          <p:nvPr/>
        </p:nvGrpSpPr>
        <p:grpSpPr>
          <a:xfrm>
            <a:off x="5682698" y="2571145"/>
            <a:ext cx="2722681" cy="443441"/>
            <a:chOff x="6638192" y="2560871"/>
            <a:chExt cx="2722681" cy="443441"/>
          </a:xfrm>
        </p:grpSpPr>
        <p:sp>
          <p:nvSpPr>
            <p:cNvPr id="73" name="下箭头 72"/>
            <p:cNvSpPr/>
            <p:nvPr/>
          </p:nvSpPr>
          <p:spPr bwMode="auto">
            <a:xfrm>
              <a:off x="6638192" y="2560871"/>
              <a:ext cx="253526" cy="443441"/>
            </a:xfrm>
            <a:prstGeom prst="downArrow">
              <a:avLst/>
            </a:prstGeom>
            <a:solidFill>
              <a:srgbClr val="00FFCC"/>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800" b="0" i="0" u="none" strike="noStrike" cap="none" normalizeH="0" baseline="0">
                <a:ln>
                  <a:noFill/>
                </a:ln>
                <a:solidFill>
                  <a:schemeClr val="tx1"/>
                </a:solidFill>
                <a:effectLst/>
                <a:latin typeface="Arial" charset="0"/>
              </a:endParaRPr>
            </a:p>
          </p:txBody>
        </p:sp>
        <p:sp>
          <p:nvSpPr>
            <p:cNvPr id="4" name="矩形 3"/>
            <p:cNvSpPr/>
            <p:nvPr/>
          </p:nvSpPr>
          <p:spPr>
            <a:xfrm>
              <a:off x="6814308" y="2574385"/>
              <a:ext cx="413896" cy="400110"/>
            </a:xfrm>
            <a:prstGeom prst="rect">
              <a:avLst/>
            </a:prstGeom>
          </p:spPr>
          <p:txBody>
            <a:bodyPr wrap="none">
              <a:spAutoFit/>
            </a:bodyPr>
            <a:lstStyle/>
            <a:p>
              <a:r>
                <a:rPr lang="en-US" altLang="zh-CN" sz="2000" b="1" dirty="0">
                  <a:solidFill>
                    <a:srgbClr val="0000FF"/>
                  </a:solidFill>
                  <a:latin typeface="微软雅黑" pitchFamily="34" charset="-122"/>
                  <a:ea typeface="微软雅黑" pitchFamily="34" charset="-122"/>
                  <a:sym typeface="Wingdings 2" panose="05020102010507070707" pitchFamily="18" charset="2"/>
                </a:rPr>
                <a:t></a:t>
              </a:r>
              <a:endParaRPr lang="zh-CN" altLang="en-US" sz="1600" dirty="0"/>
            </a:p>
          </p:txBody>
        </p:sp>
        <p:sp>
          <p:nvSpPr>
            <p:cNvPr id="5" name="矩形 4"/>
            <p:cNvSpPr/>
            <p:nvPr/>
          </p:nvSpPr>
          <p:spPr>
            <a:xfrm>
              <a:off x="7057037" y="2617395"/>
              <a:ext cx="2303836" cy="307777"/>
            </a:xfrm>
            <a:prstGeom prst="rect">
              <a:avLst/>
            </a:prstGeom>
          </p:spPr>
          <p:txBody>
            <a:bodyPr wrap="none">
              <a:spAutoFit/>
            </a:bodyPr>
            <a:lstStyle/>
            <a:p>
              <a:r>
                <a:rPr lang="zh-CN" altLang="en-US" sz="1400" b="1" dirty="0">
                  <a:latin typeface="微软雅黑" pitchFamily="34" charset="-122"/>
                  <a:ea typeface="微软雅黑" pitchFamily="34" charset="-122"/>
                  <a:sym typeface="Wingdings 2" panose="05020102010507070707" pitchFamily="18" charset="2"/>
                </a:rPr>
                <a:t>距离</a:t>
              </a:r>
              <a:r>
                <a:rPr lang="en-US" altLang="zh-CN" sz="1400" b="1" dirty="0">
                  <a:latin typeface="微软雅黑" pitchFamily="34" charset="-122"/>
                  <a:ea typeface="微软雅黑" pitchFamily="34" charset="-122"/>
                  <a:sym typeface="Wingdings 2" panose="05020102010507070707" pitchFamily="18" charset="2"/>
                </a:rPr>
                <a:t>+1</a:t>
              </a:r>
              <a:r>
                <a:rPr lang="zh-CN" altLang="en-US" sz="1400" b="1" dirty="0">
                  <a:latin typeface="微软雅黑" pitchFamily="34" charset="-122"/>
                  <a:ea typeface="微软雅黑" pitchFamily="34" charset="-122"/>
                  <a:sym typeface="Wingdings 2" panose="05020102010507070707" pitchFamily="18" charset="2"/>
                </a:rPr>
                <a:t>，修改下一跳地址</a:t>
              </a:r>
              <a:endParaRPr lang="zh-CN" altLang="en-US" sz="1400" dirty="0"/>
            </a:p>
          </p:txBody>
        </p:sp>
      </p:grpSp>
    </p:spTree>
    <p:extLst>
      <p:ext uri="{BB962C8B-B14F-4D97-AF65-F5344CB8AC3E}">
        <p14:creationId xmlns:p14="http://schemas.microsoft.com/office/powerpoint/2010/main" val="343018231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1000"/>
                                        <p:tgtEl>
                                          <p:spTgt spid="6"/>
                                        </p:tgtEl>
                                      </p:cBhvr>
                                    </p:animEffect>
                                  </p:childTnLst>
                                </p:cTn>
                              </p:par>
                            </p:childTnLst>
                          </p:cTn>
                        </p:par>
                        <p:par>
                          <p:cTn id="8" fill="hold">
                            <p:stCondLst>
                              <p:cond delay="1000"/>
                            </p:stCondLst>
                            <p:childTnLst>
                              <p:par>
                                <p:cTn id="9" presetID="22" presetClass="entr" presetSubtype="1" fill="hold" grpId="0" nodeType="afterEffect">
                                  <p:stCondLst>
                                    <p:cond delay="0"/>
                                  </p:stCondLst>
                                  <p:childTnLst>
                                    <p:set>
                                      <p:cBhvr>
                                        <p:cTn id="10" dur="1" fill="hold">
                                          <p:stCondLst>
                                            <p:cond delay="0"/>
                                          </p:stCondLst>
                                        </p:cTn>
                                        <p:tgtEl>
                                          <p:spTgt spid="69"/>
                                        </p:tgtEl>
                                        <p:attrNameLst>
                                          <p:attrName>style.visibility</p:attrName>
                                        </p:attrNameLst>
                                      </p:cBhvr>
                                      <p:to>
                                        <p:strVal val="visible"/>
                                      </p:to>
                                    </p:set>
                                    <p:animEffect transition="in" filter="wipe(up)">
                                      <p:cBhvr>
                                        <p:cTn id="11" dur="1000"/>
                                        <p:tgtEl>
                                          <p:spTgt spid="69"/>
                                        </p:tgtEl>
                                      </p:cBhvr>
                                    </p:animEffect>
                                  </p:childTnLst>
                                </p:cTn>
                              </p:par>
                            </p:childTnLst>
                          </p:cTn>
                        </p:par>
                        <p:par>
                          <p:cTn id="12" fill="hold">
                            <p:stCondLst>
                              <p:cond delay="2000"/>
                            </p:stCondLst>
                            <p:childTnLst>
                              <p:par>
                                <p:cTn id="13" presetID="22" presetClass="entr" presetSubtype="1" fill="hold" nodeType="afterEffect">
                                  <p:stCondLst>
                                    <p:cond delay="0"/>
                                  </p:stCondLst>
                                  <p:childTnLst>
                                    <p:set>
                                      <p:cBhvr>
                                        <p:cTn id="14" dur="1" fill="hold">
                                          <p:stCondLst>
                                            <p:cond delay="0"/>
                                          </p:stCondLst>
                                        </p:cTn>
                                        <p:tgtEl>
                                          <p:spTgt spid="68"/>
                                        </p:tgtEl>
                                        <p:attrNameLst>
                                          <p:attrName>style.visibility</p:attrName>
                                        </p:attrNameLst>
                                      </p:cBhvr>
                                      <p:to>
                                        <p:strVal val="visible"/>
                                      </p:to>
                                    </p:set>
                                    <p:animEffect transition="in" filter="wipe(up)">
                                      <p:cBhvr>
                                        <p:cTn id="15" dur="1000"/>
                                        <p:tgtEl>
                                          <p:spTgt spid="68"/>
                                        </p:tgtEl>
                                      </p:cBhvr>
                                    </p:animEffect>
                                  </p:childTnLst>
                                </p:cTn>
                              </p:par>
                            </p:childTnLst>
                          </p:cTn>
                        </p:par>
                      </p:childTnLst>
                    </p:cTn>
                  </p:par>
                  <p:par>
                    <p:cTn id="16" fill="hold">
                      <p:stCondLst>
                        <p:cond delay="indefinite"/>
                      </p:stCondLst>
                      <p:childTnLst>
                        <p:par>
                          <p:cTn id="17" fill="hold">
                            <p:stCondLst>
                              <p:cond delay="0"/>
                            </p:stCondLst>
                            <p:childTnLst>
                              <p:par>
                                <p:cTn id="18" presetID="16" presetClass="entr" presetSubtype="26" fill="hold" nodeType="clickEffect">
                                  <p:stCondLst>
                                    <p:cond delay="0"/>
                                  </p:stCondLst>
                                  <p:childTnLst>
                                    <p:set>
                                      <p:cBhvr>
                                        <p:cTn id="19" dur="1" fill="hold">
                                          <p:stCondLst>
                                            <p:cond delay="0"/>
                                          </p:stCondLst>
                                        </p:cTn>
                                        <p:tgtEl>
                                          <p:spTgt spid="7"/>
                                        </p:tgtEl>
                                        <p:attrNameLst>
                                          <p:attrName>style.visibility</p:attrName>
                                        </p:attrNameLst>
                                      </p:cBhvr>
                                      <p:to>
                                        <p:strVal val="visible"/>
                                      </p:to>
                                    </p:set>
                                    <p:animEffect transition="in" filter="barn(inHorizontal)">
                                      <p:cBhvr>
                                        <p:cTn id="20" dur="1000"/>
                                        <p:tgtEl>
                                          <p:spTgt spid="7"/>
                                        </p:tgtEl>
                                      </p:cBhvr>
                                    </p:animEffect>
                                  </p:childTnLst>
                                </p:cTn>
                              </p:par>
                            </p:childTnLst>
                          </p:cTn>
                        </p:par>
                        <p:par>
                          <p:cTn id="21" fill="hold">
                            <p:stCondLst>
                              <p:cond delay="1000"/>
                            </p:stCondLst>
                            <p:childTnLst>
                              <p:par>
                                <p:cTn id="22" presetID="22" presetClass="entr" presetSubtype="1" fill="hold" grpId="0" nodeType="afterEffect">
                                  <p:stCondLst>
                                    <p:cond delay="0"/>
                                  </p:stCondLst>
                                  <p:childTnLst>
                                    <p:set>
                                      <p:cBhvr>
                                        <p:cTn id="23" dur="1" fill="hold">
                                          <p:stCondLst>
                                            <p:cond delay="0"/>
                                          </p:stCondLst>
                                        </p:cTn>
                                        <p:tgtEl>
                                          <p:spTgt spid="71"/>
                                        </p:tgtEl>
                                        <p:attrNameLst>
                                          <p:attrName>style.visibility</p:attrName>
                                        </p:attrNameLst>
                                      </p:cBhvr>
                                      <p:to>
                                        <p:strVal val="visible"/>
                                      </p:to>
                                    </p:set>
                                    <p:animEffect transition="in" filter="wipe(up)">
                                      <p:cBhvr>
                                        <p:cTn id="24" dur="1000"/>
                                        <p:tgtEl>
                                          <p:spTgt spid="71"/>
                                        </p:tgtEl>
                                      </p:cBhvr>
                                    </p:animEffect>
                                  </p:childTnLst>
                                </p:cTn>
                              </p:par>
                            </p:childTnLst>
                          </p:cTn>
                        </p:par>
                        <p:par>
                          <p:cTn id="25" fill="hold">
                            <p:stCondLst>
                              <p:cond delay="2000"/>
                            </p:stCondLst>
                            <p:childTnLst>
                              <p:par>
                                <p:cTn id="26" presetID="22" presetClass="entr" presetSubtype="1" fill="hold" nodeType="afterEffect">
                                  <p:stCondLst>
                                    <p:cond delay="0"/>
                                  </p:stCondLst>
                                  <p:childTnLst>
                                    <p:set>
                                      <p:cBhvr>
                                        <p:cTn id="27" dur="1" fill="hold">
                                          <p:stCondLst>
                                            <p:cond delay="0"/>
                                          </p:stCondLst>
                                        </p:cTn>
                                        <p:tgtEl>
                                          <p:spTgt spid="70"/>
                                        </p:tgtEl>
                                        <p:attrNameLst>
                                          <p:attrName>style.visibility</p:attrName>
                                        </p:attrNameLst>
                                      </p:cBhvr>
                                      <p:to>
                                        <p:strVal val="visible"/>
                                      </p:to>
                                    </p:set>
                                    <p:animEffect transition="in" filter="wipe(up)">
                                      <p:cBhvr>
                                        <p:cTn id="28" dur="10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p:bldP spid="71" grpId="0"/>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Freeform 1365">
            <a:extLst>
              <a:ext uri="{FF2B5EF4-FFF2-40B4-BE49-F238E27FC236}">
                <a16:creationId xmlns:a16="http://schemas.microsoft.com/office/drawing/2014/main" id="{BD23CCAA-B81B-ADC3-0817-757F737953E0}"/>
              </a:ext>
            </a:extLst>
          </p:cNvPr>
          <p:cNvSpPr>
            <a:spLocks/>
          </p:cNvSpPr>
          <p:nvPr/>
        </p:nvSpPr>
        <p:spPr bwMode="auto">
          <a:xfrm rot="357387">
            <a:off x="7355654" y="3182687"/>
            <a:ext cx="446979" cy="206111"/>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FF99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2" name="圆角矩形 1"/>
          <p:cNvSpPr/>
          <p:nvPr/>
        </p:nvSpPr>
        <p:spPr>
          <a:xfrm>
            <a:off x="137890" y="646414"/>
            <a:ext cx="8945149" cy="377850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127" name="Group 20"/>
          <p:cNvGrpSpPr>
            <a:grpSpLocks/>
          </p:cNvGrpSpPr>
          <p:nvPr/>
        </p:nvGrpSpPr>
        <p:grpSpPr bwMode="auto">
          <a:xfrm>
            <a:off x="184790" y="1172666"/>
            <a:ext cx="6349502" cy="2968515"/>
            <a:chOff x="-451" y="756"/>
            <a:chExt cx="5788" cy="2706"/>
          </a:xfrm>
        </p:grpSpPr>
        <p:sp>
          <p:nvSpPr>
            <p:cNvPr id="128" name="Rectangle 6"/>
            <p:cNvSpPr>
              <a:spLocks noChangeArrowheads="1"/>
            </p:cNvSpPr>
            <p:nvPr/>
          </p:nvSpPr>
          <p:spPr bwMode="auto">
            <a:xfrm>
              <a:off x="37" y="1008"/>
              <a:ext cx="1384" cy="1008"/>
            </a:xfrm>
            <a:prstGeom prst="rect">
              <a:avLst/>
            </a:prstGeom>
            <a:solidFill>
              <a:srgbClr val="99FFCC"/>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Net2	4</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Net3	8</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Net6	4</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Net8	3</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Net9	5</a:t>
              </a:r>
            </a:p>
          </p:txBody>
        </p:sp>
        <p:sp>
          <p:nvSpPr>
            <p:cNvPr id="129" name="Rectangle 7"/>
            <p:cNvSpPr>
              <a:spLocks noChangeArrowheads="1"/>
            </p:cNvSpPr>
            <p:nvPr/>
          </p:nvSpPr>
          <p:spPr bwMode="auto">
            <a:xfrm>
              <a:off x="1924" y="1200"/>
              <a:ext cx="1211" cy="1008"/>
            </a:xfrm>
            <a:prstGeom prst="rect">
              <a:avLst/>
            </a:prstGeom>
            <a:solidFill>
              <a:srgbClr val="99FFCC"/>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just"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Net2</a:t>
              </a:r>
              <a:r>
                <a:rPr lang="en-US" altLang="zh-CN" sz="1300" b="1" kern="0" dirty="0">
                  <a:solidFill>
                    <a:sysClr val="windowText" lastClr="000000"/>
                  </a:solidFill>
                  <a:latin typeface="微软雅黑" pitchFamily="34" charset="-122"/>
                  <a:ea typeface="微软雅黑" pitchFamily="34" charset="-122"/>
                </a:rPr>
                <a:t>      </a:t>
              </a: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5   C</a:t>
              </a:r>
            </a:p>
            <a:p>
              <a:pPr marL="0" marR="0" lvl="0" indent="0" algn="just"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Net3      9   C</a:t>
              </a:r>
            </a:p>
            <a:p>
              <a:pPr marL="0" marR="0" lvl="0" indent="0" algn="just"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Net6      5   C </a:t>
              </a:r>
            </a:p>
            <a:p>
              <a:pPr marL="0" marR="0" lvl="0" indent="0" algn="just"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Net8      4   C </a:t>
              </a:r>
            </a:p>
            <a:p>
              <a:pPr marL="0" marR="0" lvl="0" indent="0" algn="just"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Net9      6   C </a:t>
              </a:r>
            </a:p>
          </p:txBody>
        </p:sp>
        <p:sp>
          <p:nvSpPr>
            <p:cNvPr id="130" name="Rectangle 8"/>
            <p:cNvSpPr>
              <a:spLocks noChangeArrowheads="1"/>
            </p:cNvSpPr>
            <p:nvPr/>
          </p:nvSpPr>
          <p:spPr bwMode="auto">
            <a:xfrm>
              <a:off x="-451" y="2448"/>
              <a:ext cx="2044" cy="1008"/>
            </a:xfrm>
            <a:prstGeom prst="rect">
              <a:avLst/>
            </a:prstGeom>
            <a:solidFill>
              <a:srgbClr val="66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Net1	7	A</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Net2	2	C</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Net6	8	F</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Net8	4	E</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Net9	4	F</a:t>
              </a:r>
            </a:p>
          </p:txBody>
        </p:sp>
        <p:sp>
          <p:nvSpPr>
            <p:cNvPr id="131" name="Text Box 9"/>
            <p:cNvSpPr txBox="1">
              <a:spLocks noChangeArrowheads="1"/>
            </p:cNvSpPr>
            <p:nvPr/>
          </p:nvSpPr>
          <p:spPr bwMode="auto">
            <a:xfrm>
              <a:off x="-8" y="756"/>
              <a:ext cx="1469" cy="2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从 </a:t>
              </a:r>
              <a:r>
                <a:rPr kumimoji="0" lang="en-US" altLang="zh-CN" sz="1300" b="1" i="0" u="none" strike="noStrike" kern="0" cap="none" spc="0" normalizeH="0" baseline="0" noProof="0" dirty="0">
                  <a:ln>
                    <a:noFill/>
                  </a:ln>
                  <a:effectLst/>
                  <a:uLnTx/>
                  <a:uFillTx/>
                  <a:latin typeface="微软雅黑" pitchFamily="34" charset="-122"/>
                  <a:ea typeface="微软雅黑" pitchFamily="34" charset="-122"/>
                </a:rPr>
                <a:t>C </a:t>
              </a: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来的 </a:t>
              </a:r>
              <a:r>
                <a:rPr kumimoji="0" lang="en-US" altLang="zh-CN" sz="1300" b="1" i="0" u="none" strike="noStrike" kern="0" cap="none" spc="0" normalizeH="0" baseline="0" noProof="0" dirty="0">
                  <a:ln>
                    <a:noFill/>
                  </a:ln>
                  <a:effectLst/>
                  <a:uLnTx/>
                  <a:uFillTx/>
                  <a:latin typeface="微软雅黑" pitchFamily="34" charset="-122"/>
                  <a:ea typeface="微软雅黑" pitchFamily="34" charset="-122"/>
                </a:rPr>
                <a:t>RIP </a:t>
              </a: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报文</a:t>
              </a:r>
            </a:p>
          </p:txBody>
        </p:sp>
        <p:sp>
          <p:nvSpPr>
            <p:cNvPr id="132" name="Text Box 10"/>
            <p:cNvSpPr txBox="1">
              <a:spLocks noChangeArrowheads="1"/>
            </p:cNvSpPr>
            <p:nvPr/>
          </p:nvSpPr>
          <p:spPr bwMode="auto">
            <a:xfrm>
              <a:off x="1803" y="768"/>
              <a:ext cx="1469" cy="4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增加跳数以后</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从 </a:t>
              </a:r>
              <a:r>
                <a:rPr kumimoji="0" lang="en-US" altLang="zh-CN" sz="1300" b="1" i="0" u="none" strike="noStrike" kern="0" cap="none" spc="0" normalizeH="0" baseline="0" noProof="0" dirty="0">
                  <a:ln>
                    <a:noFill/>
                  </a:ln>
                  <a:effectLst/>
                  <a:uLnTx/>
                  <a:uFillTx/>
                  <a:latin typeface="微软雅黑" pitchFamily="34" charset="-122"/>
                  <a:ea typeface="微软雅黑" pitchFamily="34" charset="-122"/>
                </a:rPr>
                <a:t>C </a:t>
              </a: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来的 </a:t>
              </a:r>
              <a:r>
                <a:rPr kumimoji="0" lang="en-US" altLang="zh-CN" sz="1300" b="1" i="0" u="none" strike="noStrike" kern="0" cap="none" spc="0" normalizeH="0" baseline="0" noProof="0" dirty="0">
                  <a:ln>
                    <a:noFill/>
                  </a:ln>
                  <a:effectLst/>
                  <a:uLnTx/>
                  <a:uFillTx/>
                  <a:latin typeface="微软雅黑" pitchFamily="34" charset="-122"/>
                  <a:ea typeface="微软雅黑" pitchFamily="34" charset="-122"/>
                </a:rPr>
                <a:t>RIP </a:t>
              </a: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报文</a:t>
              </a:r>
            </a:p>
          </p:txBody>
        </p:sp>
        <p:sp>
          <p:nvSpPr>
            <p:cNvPr id="133" name="Text Box 11"/>
            <p:cNvSpPr txBox="1">
              <a:spLocks noChangeArrowheads="1"/>
            </p:cNvSpPr>
            <p:nvPr/>
          </p:nvSpPr>
          <p:spPr bwMode="auto">
            <a:xfrm>
              <a:off x="214" y="2208"/>
              <a:ext cx="776" cy="2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旧路由表</a:t>
              </a:r>
            </a:p>
          </p:txBody>
        </p:sp>
        <p:sp>
          <p:nvSpPr>
            <p:cNvPr id="134" name="Rectangle 12"/>
            <p:cNvSpPr>
              <a:spLocks noChangeArrowheads="1"/>
            </p:cNvSpPr>
            <p:nvPr/>
          </p:nvSpPr>
          <p:spPr bwMode="auto">
            <a:xfrm>
              <a:off x="1881" y="2544"/>
              <a:ext cx="1104" cy="384"/>
            </a:xfrm>
            <a:prstGeom prst="rect">
              <a:avLst/>
            </a:prstGeom>
            <a:solidFill>
              <a:schemeClr val="accent6">
                <a:lumMod val="60000"/>
                <a:lumOff val="40000"/>
              </a:schemeClr>
            </a:solidFill>
            <a:ln w="9525">
              <a:solidFill>
                <a:srgbClr val="000000"/>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更新算法</a:t>
              </a:r>
            </a:p>
          </p:txBody>
        </p:sp>
        <p:sp>
          <p:nvSpPr>
            <p:cNvPr id="135" name="Rectangle 13"/>
            <p:cNvSpPr>
              <a:spLocks noChangeArrowheads="1"/>
            </p:cNvSpPr>
            <p:nvPr/>
          </p:nvSpPr>
          <p:spPr bwMode="auto">
            <a:xfrm>
              <a:off x="3321" y="2310"/>
              <a:ext cx="2016" cy="1152"/>
            </a:xfrm>
            <a:prstGeom prst="rect">
              <a:avLst/>
            </a:prstGeom>
            <a:solidFill>
              <a:srgbClr val="0000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Net1	7	A</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Net2	5	C</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Net3	9	C</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Net6	5	C</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Net8	4	E</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Net9	4	F</a:t>
              </a:r>
            </a:p>
          </p:txBody>
        </p:sp>
        <p:sp>
          <p:nvSpPr>
            <p:cNvPr id="136" name="Text Box 14"/>
            <p:cNvSpPr txBox="1">
              <a:spLocks noChangeArrowheads="1"/>
            </p:cNvSpPr>
            <p:nvPr/>
          </p:nvSpPr>
          <p:spPr bwMode="auto">
            <a:xfrm>
              <a:off x="4011" y="2076"/>
              <a:ext cx="776" cy="2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300" b="1" i="0" u="none" strike="noStrike" kern="0" cap="none" spc="0" normalizeH="0" baseline="0" noProof="0" dirty="0">
                  <a:ln>
                    <a:noFill/>
                  </a:ln>
                  <a:solidFill>
                    <a:srgbClr val="0000CC"/>
                  </a:solidFill>
                  <a:effectLst/>
                  <a:uLnTx/>
                  <a:uFillTx/>
                  <a:latin typeface="微软雅黑" pitchFamily="34" charset="-122"/>
                  <a:ea typeface="微软雅黑" pitchFamily="34" charset="-122"/>
                </a:rPr>
                <a:t>新路由表</a:t>
              </a:r>
            </a:p>
          </p:txBody>
        </p:sp>
        <p:sp>
          <p:nvSpPr>
            <p:cNvPr id="137" name="AutoShape 15"/>
            <p:cNvSpPr>
              <a:spLocks noChangeArrowheads="1"/>
            </p:cNvSpPr>
            <p:nvPr/>
          </p:nvSpPr>
          <p:spPr bwMode="auto">
            <a:xfrm>
              <a:off x="1641" y="2688"/>
              <a:ext cx="192" cy="144"/>
            </a:xfrm>
            <a:prstGeom prst="rightArrow">
              <a:avLst>
                <a:gd name="adj1" fmla="val 50000"/>
                <a:gd name="adj2" fmla="val 33333"/>
              </a:avLst>
            </a:prstGeom>
            <a:solidFill>
              <a:srgbClr val="CC00FF"/>
            </a:solidFill>
            <a:ln w="9525">
              <a:solidFill>
                <a:srgbClr val="000066"/>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3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138" name="AutoShape 16"/>
            <p:cNvSpPr>
              <a:spLocks noChangeArrowheads="1"/>
            </p:cNvSpPr>
            <p:nvPr/>
          </p:nvSpPr>
          <p:spPr bwMode="auto">
            <a:xfrm>
              <a:off x="3081" y="2688"/>
              <a:ext cx="192" cy="144"/>
            </a:xfrm>
            <a:prstGeom prst="rightArrow">
              <a:avLst>
                <a:gd name="adj1" fmla="val 50000"/>
                <a:gd name="adj2" fmla="val 33333"/>
              </a:avLst>
            </a:prstGeom>
            <a:solidFill>
              <a:srgbClr val="CC00FF"/>
            </a:solidFill>
            <a:ln w="9525">
              <a:solidFill>
                <a:srgbClr val="000066"/>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3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139" name="AutoShape 17"/>
            <p:cNvSpPr>
              <a:spLocks noChangeArrowheads="1"/>
            </p:cNvSpPr>
            <p:nvPr/>
          </p:nvSpPr>
          <p:spPr bwMode="auto">
            <a:xfrm>
              <a:off x="2361" y="2304"/>
              <a:ext cx="144" cy="192"/>
            </a:xfrm>
            <a:prstGeom prst="downArrow">
              <a:avLst>
                <a:gd name="adj1" fmla="val 50000"/>
                <a:gd name="adj2" fmla="val 33333"/>
              </a:avLst>
            </a:prstGeom>
            <a:solidFill>
              <a:srgbClr val="CC00FF"/>
            </a:solidFill>
            <a:ln w="9525">
              <a:solidFill>
                <a:srgbClr val="000066"/>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3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140" name="AutoShape 18"/>
            <p:cNvSpPr>
              <a:spLocks noChangeArrowheads="1"/>
            </p:cNvSpPr>
            <p:nvPr/>
          </p:nvSpPr>
          <p:spPr bwMode="auto">
            <a:xfrm>
              <a:off x="1497" y="1584"/>
              <a:ext cx="384" cy="144"/>
            </a:xfrm>
            <a:prstGeom prst="rightArrow">
              <a:avLst>
                <a:gd name="adj1" fmla="val 50000"/>
                <a:gd name="adj2" fmla="val 66667"/>
              </a:avLst>
            </a:prstGeom>
            <a:solidFill>
              <a:srgbClr val="CC00FF"/>
            </a:solidFill>
            <a:ln w="9525">
              <a:solidFill>
                <a:srgbClr val="000066"/>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3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grpSp>
      <p:sp>
        <p:nvSpPr>
          <p:cNvPr id="20" name="Text Box 155"/>
          <p:cNvSpPr txBox="1">
            <a:spLocks noChangeArrowheads="1"/>
          </p:cNvSpPr>
          <p:nvPr/>
        </p:nvSpPr>
        <p:spPr bwMode="auto">
          <a:xfrm>
            <a:off x="662354" y="723313"/>
            <a:ext cx="6980782" cy="344325"/>
          </a:xfrm>
          <a:prstGeom prst="rect">
            <a:avLst/>
          </a:prstGeom>
          <a:solidFill>
            <a:srgbClr val="0000FF"/>
          </a:solidFill>
          <a:ln w="9525">
            <a:noFill/>
            <a:miter lim="800000"/>
            <a:headEnd/>
            <a:tailEnd/>
          </a:ln>
          <a:effectLst/>
        </p:spPr>
        <p:txBody>
          <a:bodyPr wrap="square">
            <a:spAutoFit/>
          </a:bodyPr>
          <a:lstStyle/>
          <a:p>
            <a:pPr>
              <a:lnSpc>
                <a:spcPct val="110000"/>
              </a:lnSpc>
            </a:pP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例</a:t>
            </a:r>
            <a:r>
              <a:rPr lang="en-US" altLang="zh-CN" sz="1600" b="1" dirty="0">
                <a:solidFill>
                  <a:schemeClr val="bg1"/>
                </a:solidFill>
                <a:latin typeface="微软雅黑" pitchFamily="34" charset="-122"/>
                <a:ea typeface="微软雅黑" pitchFamily="34" charset="-122"/>
              </a:rPr>
              <a:t>】</a:t>
            </a:r>
            <a:r>
              <a:rPr lang="zh-CN" altLang="en-US" sz="1600" b="1" dirty="0">
                <a:highlight>
                  <a:srgbClr val="FFFF00"/>
                </a:highlight>
                <a:latin typeface="微软雅黑" pitchFamily="34" charset="-122"/>
                <a:ea typeface="微软雅黑" pitchFamily="34" charset="-122"/>
              </a:rPr>
              <a:t>路由表更新。</a:t>
            </a:r>
          </a:p>
        </p:txBody>
      </p:sp>
      <p:sp>
        <p:nvSpPr>
          <p:cNvPr id="3" name="Line 1440">
            <a:extLst>
              <a:ext uri="{FF2B5EF4-FFF2-40B4-BE49-F238E27FC236}">
                <a16:creationId xmlns:a16="http://schemas.microsoft.com/office/drawing/2014/main" id="{A73CEB72-85A2-0851-7083-F4A823428714}"/>
              </a:ext>
            </a:extLst>
          </p:cNvPr>
          <p:cNvSpPr>
            <a:spLocks noChangeShapeType="1"/>
          </p:cNvSpPr>
          <p:nvPr/>
        </p:nvSpPr>
        <p:spPr bwMode="auto">
          <a:xfrm flipH="1">
            <a:off x="7082299" y="3266782"/>
            <a:ext cx="948237" cy="14919"/>
          </a:xfrm>
          <a:prstGeom prst="line">
            <a:avLst/>
          </a:prstGeom>
          <a:noFill/>
          <a:ln w="19050">
            <a:solidFill>
              <a:srgbClr val="000000"/>
            </a:solidFill>
            <a:round/>
            <a:headEnd/>
            <a:tailEnd/>
          </a:ln>
        </p:spPr>
        <p:txBody>
          <a:bodyPr wrap="none" anchor="ctr"/>
          <a:lstStyle/>
          <a:p>
            <a:pPr fontAlgn="auto">
              <a:spcBef>
                <a:spcPts val="0"/>
              </a:spcBef>
              <a:spcAft>
                <a:spcPts val="0"/>
              </a:spcAft>
              <a:defRPr/>
            </a:pPr>
            <a:endParaRPr lang="zh-CN" altLang="en-US" sz="2000" b="1" kern="0">
              <a:solidFill>
                <a:sysClr val="windowText" lastClr="000000"/>
              </a:solidFill>
              <a:latin typeface="+mn-lt"/>
              <a:ea typeface="+mn-ea"/>
            </a:endParaRPr>
          </a:p>
        </p:txBody>
      </p:sp>
      <p:pic>
        <p:nvPicPr>
          <p:cNvPr id="5" name="Picture 1462">
            <a:extLst>
              <a:ext uri="{FF2B5EF4-FFF2-40B4-BE49-F238E27FC236}">
                <a16:creationId xmlns:a16="http://schemas.microsoft.com/office/drawing/2014/main" id="{1966BF1B-3359-132A-1C56-2AD5FE0985F1}"/>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665264" y="3177222"/>
            <a:ext cx="417037" cy="2728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6" name="直接箭头连接符 5">
            <a:extLst>
              <a:ext uri="{FF2B5EF4-FFF2-40B4-BE49-F238E27FC236}">
                <a16:creationId xmlns:a16="http://schemas.microsoft.com/office/drawing/2014/main" id="{A2FC4437-072D-6099-F445-F940D4910B78}"/>
              </a:ext>
            </a:extLst>
          </p:cNvPr>
          <p:cNvCxnSpPr>
            <a:cxnSpLocks/>
          </p:cNvCxnSpPr>
          <p:nvPr/>
        </p:nvCxnSpPr>
        <p:spPr>
          <a:xfrm>
            <a:off x="6858683" y="3081336"/>
            <a:ext cx="1324846" cy="0"/>
          </a:xfrm>
          <a:prstGeom prst="straightConnector1">
            <a:avLst/>
          </a:prstGeom>
          <a:ln w="9525">
            <a:solidFill>
              <a:schemeClr val="tx1"/>
            </a:solidFill>
            <a:headEnd type="triangle"/>
            <a:tailEnd type="triangle"/>
          </a:ln>
        </p:spPr>
        <p:style>
          <a:lnRef idx="1">
            <a:schemeClr val="dk1"/>
          </a:lnRef>
          <a:fillRef idx="0">
            <a:schemeClr val="dk1"/>
          </a:fillRef>
          <a:effectRef idx="0">
            <a:schemeClr val="dk1"/>
          </a:effectRef>
          <a:fontRef idx="minor">
            <a:schemeClr val="tx1"/>
          </a:fontRef>
        </p:style>
      </p:cxnSp>
      <p:sp>
        <p:nvSpPr>
          <p:cNvPr id="7" name="Text Box 178">
            <a:extLst>
              <a:ext uri="{FF2B5EF4-FFF2-40B4-BE49-F238E27FC236}">
                <a16:creationId xmlns:a16="http://schemas.microsoft.com/office/drawing/2014/main" id="{86403A9D-5146-6519-9152-2FAC973AE4C2}"/>
              </a:ext>
            </a:extLst>
          </p:cNvPr>
          <p:cNvSpPr txBox="1">
            <a:spLocks noChangeArrowheads="1"/>
          </p:cNvSpPr>
          <p:nvPr/>
        </p:nvSpPr>
        <p:spPr bwMode="auto">
          <a:xfrm rot="21497625">
            <a:off x="7240001" y="2766556"/>
            <a:ext cx="89639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400" b="1" dirty="0">
                <a:solidFill>
                  <a:srgbClr val="0000FF"/>
                </a:solidFill>
                <a:latin typeface="微软雅黑" pitchFamily="34" charset="-122"/>
                <a:ea typeface="微软雅黑" pitchFamily="34" charset="-122"/>
              </a:rPr>
              <a:t>跳数 </a:t>
            </a:r>
            <a:r>
              <a:rPr kumimoji="1" lang="en-US" altLang="zh-CN" sz="1400" b="1" dirty="0">
                <a:solidFill>
                  <a:srgbClr val="0000FF"/>
                </a:solidFill>
                <a:latin typeface="微软雅黑" pitchFamily="34" charset="-122"/>
                <a:ea typeface="微软雅黑" pitchFamily="34" charset="-122"/>
              </a:rPr>
              <a:t>= 1</a:t>
            </a:r>
          </a:p>
        </p:txBody>
      </p:sp>
      <p:pic>
        <p:nvPicPr>
          <p:cNvPr id="8" name="Picture 1466">
            <a:extLst>
              <a:ext uri="{FF2B5EF4-FFF2-40B4-BE49-F238E27FC236}">
                <a16:creationId xmlns:a16="http://schemas.microsoft.com/office/drawing/2014/main" id="{BC268B5F-F4B9-F536-F3A8-4FE7CD079630}"/>
              </a:ext>
            </a:extLst>
          </p:cNvPr>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006765" y="3174077"/>
            <a:ext cx="415652" cy="271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4" name="直接连接符 13">
            <a:extLst>
              <a:ext uri="{FF2B5EF4-FFF2-40B4-BE49-F238E27FC236}">
                <a16:creationId xmlns:a16="http://schemas.microsoft.com/office/drawing/2014/main" id="{AEBB3C52-57FF-39AD-B00E-7EAE10F622DB}"/>
              </a:ext>
            </a:extLst>
          </p:cNvPr>
          <p:cNvCxnSpPr>
            <a:cxnSpLocks/>
          </p:cNvCxnSpPr>
          <p:nvPr/>
        </p:nvCxnSpPr>
        <p:spPr>
          <a:xfrm flipV="1">
            <a:off x="6843302" y="2844381"/>
            <a:ext cx="9873" cy="380096"/>
          </a:xfrm>
          <a:prstGeom prst="line">
            <a:avLst/>
          </a:prstGeom>
          <a:ln w="19050">
            <a:solidFill>
              <a:schemeClr val="tx1"/>
            </a:solidFill>
          </a:ln>
        </p:spPr>
        <p:style>
          <a:lnRef idx="1">
            <a:schemeClr val="dk1"/>
          </a:lnRef>
          <a:fillRef idx="0">
            <a:schemeClr val="dk1"/>
          </a:fillRef>
          <a:effectRef idx="0">
            <a:schemeClr val="dk1"/>
          </a:effectRef>
          <a:fontRef idx="minor">
            <a:schemeClr val="tx1"/>
          </a:fontRef>
        </p:style>
      </p:cxnSp>
      <p:cxnSp>
        <p:nvCxnSpPr>
          <p:cNvPr id="16" name="直接连接符 15">
            <a:extLst>
              <a:ext uri="{FF2B5EF4-FFF2-40B4-BE49-F238E27FC236}">
                <a16:creationId xmlns:a16="http://schemas.microsoft.com/office/drawing/2014/main" id="{09EC6060-532D-6BEC-6E30-B457B20B6A78}"/>
              </a:ext>
            </a:extLst>
          </p:cNvPr>
          <p:cNvCxnSpPr>
            <a:cxnSpLocks/>
          </p:cNvCxnSpPr>
          <p:nvPr/>
        </p:nvCxnSpPr>
        <p:spPr>
          <a:xfrm flipV="1">
            <a:off x="8183529" y="2844381"/>
            <a:ext cx="0" cy="313516"/>
          </a:xfrm>
          <a:prstGeom prst="line">
            <a:avLst/>
          </a:prstGeom>
          <a:ln w="19050">
            <a:solidFill>
              <a:schemeClr val="tx1"/>
            </a:solidFill>
          </a:ln>
        </p:spPr>
        <p:style>
          <a:lnRef idx="1">
            <a:schemeClr val="dk1"/>
          </a:lnRef>
          <a:fillRef idx="0">
            <a:schemeClr val="dk1"/>
          </a:fillRef>
          <a:effectRef idx="0">
            <a:schemeClr val="dk1"/>
          </a:effectRef>
          <a:fontRef idx="minor">
            <a:schemeClr val="tx1"/>
          </a:fontRef>
        </p:style>
      </p:cxnSp>
      <p:sp>
        <p:nvSpPr>
          <p:cNvPr id="21" name="文本框 20">
            <a:extLst>
              <a:ext uri="{FF2B5EF4-FFF2-40B4-BE49-F238E27FC236}">
                <a16:creationId xmlns:a16="http://schemas.microsoft.com/office/drawing/2014/main" id="{3A492243-5DC7-F498-DC1C-B74B0E289A79}"/>
              </a:ext>
            </a:extLst>
          </p:cNvPr>
          <p:cNvSpPr txBox="1"/>
          <p:nvPr/>
        </p:nvSpPr>
        <p:spPr>
          <a:xfrm>
            <a:off x="8030537" y="3413211"/>
            <a:ext cx="323335" cy="369332"/>
          </a:xfrm>
          <a:prstGeom prst="rect">
            <a:avLst/>
          </a:prstGeom>
          <a:noFill/>
        </p:spPr>
        <p:txBody>
          <a:bodyPr wrap="square">
            <a:spAutoFit/>
          </a:bodyPr>
          <a:lstStyle/>
          <a:p>
            <a:r>
              <a:rPr kumimoji="0" lang="en-US" altLang="zh-CN" sz="1800" b="1" i="0" u="none" strike="noStrike" kern="0" cap="none" spc="0" normalizeH="0" baseline="0" noProof="0" dirty="0">
                <a:ln>
                  <a:noFill/>
                </a:ln>
                <a:effectLst/>
                <a:uLnTx/>
                <a:uFillTx/>
                <a:latin typeface="微软雅黑" pitchFamily="34" charset="-122"/>
                <a:ea typeface="微软雅黑" pitchFamily="34" charset="-122"/>
              </a:rPr>
              <a:t>C</a:t>
            </a:r>
            <a:endParaRPr lang="zh-CN" altLang="en-US" dirty="0"/>
          </a:p>
        </p:txBody>
      </p:sp>
      <p:sp>
        <p:nvSpPr>
          <p:cNvPr id="22" name="文本框 21">
            <a:extLst>
              <a:ext uri="{FF2B5EF4-FFF2-40B4-BE49-F238E27FC236}">
                <a16:creationId xmlns:a16="http://schemas.microsoft.com/office/drawing/2014/main" id="{237E4AC1-46F1-6A4F-6927-B9F0BB6B0004}"/>
              </a:ext>
            </a:extLst>
          </p:cNvPr>
          <p:cNvSpPr txBox="1"/>
          <p:nvPr/>
        </p:nvSpPr>
        <p:spPr>
          <a:xfrm>
            <a:off x="6691507" y="3410413"/>
            <a:ext cx="323335" cy="369332"/>
          </a:xfrm>
          <a:prstGeom prst="rect">
            <a:avLst/>
          </a:prstGeom>
          <a:noFill/>
        </p:spPr>
        <p:txBody>
          <a:bodyPr wrap="square">
            <a:spAutoFit/>
          </a:bodyPr>
          <a:lstStyle/>
          <a:p>
            <a:r>
              <a:rPr lang="en-US" altLang="zh-CN" b="1" kern="0" dirty="0">
                <a:latin typeface="微软雅黑" pitchFamily="34" charset="-122"/>
                <a:ea typeface="微软雅黑" pitchFamily="34" charset="-122"/>
              </a:rPr>
              <a:t>R</a:t>
            </a:r>
            <a:endParaRPr lang="zh-CN" altLang="en-US" dirty="0"/>
          </a:p>
        </p:txBody>
      </p:sp>
      <p:sp>
        <p:nvSpPr>
          <p:cNvPr id="23" name="Rectangle 19"/>
          <p:cNvSpPr>
            <a:spLocks noChangeArrowheads="1"/>
          </p:cNvSpPr>
          <p:nvPr/>
        </p:nvSpPr>
        <p:spPr bwMode="auto">
          <a:xfrm>
            <a:off x="5079655" y="1185830"/>
            <a:ext cx="2876607" cy="1353713"/>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ct val="20000"/>
              </a:spcBef>
              <a:spcAft>
                <a:spcPts val="0"/>
              </a:spcAft>
              <a:buClrTx/>
              <a:buSzTx/>
              <a:buFontTx/>
              <a:buNone/>
              <a:tabLst/>
              <a:defRPr/>
            </a:pP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Net1: </a:t>
            </a: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没有新信息，不变</a:t>
            </a:r>
          </a:p>
          <a:p>
            <a:pPr marL="0" marR="0" lvl="0" indent="0" defTabSz="914400" eaLnBrk="1" fontAlgn="auto" latinLnBrk="0" hangingPunct="1">
              <a:lnSpc>
                <a:spcPct val="100000"/>
              </a:lnSpc>
              <a:spcBef>
                <a:spcPct val="20000"/>
              </a:spcBef>
              <a:spcAft>
                <a:spcPts val="0"/>
              </a:spcAft>
              <a:buClrTx/>
              <a:buSzTx/>
              <a:buFontTx/>
              <a:buNone/>
              <a:tabLst/>
              <a:defRPr/>
            </a:pP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Net2: </a:t>
            </a: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相同的下一跳，替换</a:t>
            </a:r>
          </a:p>
          <a:p>
            <a:pPr marL="0" marR="0" lvl="0" indent="0" defTabSz="914400" eaLnBrk="1" fontAlgn="auto" latinLnBrk="0" hangingPunct="1">
              <a:lnSpc>
                <a:spcPct val="100000"/>
              </a:lnSpc>
              <a:spcBef>
                <a:spcPct val="20000"/>
              </a:spcBef>
              <a:spcAft>
                <a:spcPts val="0"/>
              </a:spcAft>
              <a:buClrTx/>
              <a:buSzTx/>
              <a:buFontTx/>
              <a:buNone/>
              <a:tabLst/>
              <a:defRPr/>
            </a:pP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Net3: </a:t>
            </a: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一条新路由，增加</a:t>
            </a:r>
          </a:p>
          <a:p>
            <a:pPr marL="0" marR="0" lvl="0" indent="0" defTabSz="914400" eaLnBrk="1" fontAlgn="auto" latinLnBrk="0" hangingPunct="1">
              <a:lnSpc>
                <a:spcPct val="100000"/>
              </a:lnSpc>
              <a:spcBef>
                <a:spcPct val="20000"/>
              </a:spcBef>
              <a:spcAft>
                <a:spcPts val="0"/>
              </a:spcAft>
              <a:buClrTx/>
              <a:buSzTx/>
              <a:buFontTx/>
              <a:buNone/>
              <a:tabLst/>
              <a:defRPr/>
            </a:pP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Net6: </a:t>
            </a: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不同的下一跳，新跳数小，替换</a:t>
            </a:r>
          </a:p>
          <a:p>
            <a:pPr marL="0" marR="0" lvl="0" indent="0" defTabSz="914400" eaLnBrk="1" fontAlgn="auto" latinLnBrk="0" hangingPunct="1">
              <a:lnSpc>
                <a:spcPct val="100000"/>
              </a:lnSpc>
              <a:spcBef>
                <a:spcPct val="20000"/>
              </a:spcBef>
              <a:spcAft>
                <a:spcPts val="0"/>
              </a:spcAft>
              <a:buClrTx/>
              <a:buSzTx/>
              <a:buFontTx/>
              <a:buNone/>
              <a:tabLst/>
              <a:defRPr/>
            </a:pP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Net8: </a:t>
            </a: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不同的下一跳，跳数相同，不变</a:t>
            </a:r>
          </a:p>
          <a:p>
            <a:pPr marL="0" marR="0" lvl="0" indent="0" defTabSz="914400" eaLnBrk="1" fontAlgn="auto" latinLnBrk="0" hangingPunct="1">
              <a:lnSpc>
                <a:spcPct val="100000"/>
              </a:lnSpc>
              <a:spcBef>
                <a:spcPct val="20000"/>
              </a:spcBef>
              <a:spcAft>
                <a:spcPts val="0"/>
              </a:spcAft>
              <a:buClrTx/>
              <a:buSzTx/>
              <a:buFontTx/>
              <a:buNone/>
              <a:tabLst/>
              <a:defRPr/>
            </a:pP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Net9: </a:t>
            </a: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不同的下一跳，新跳数大，不变</a:t>
            </a:r>
          </a:p>
        </p:txBody>
      </p:sp>
      <p:sp>
        <p:nvSpPr>
          <p:cNvPr id="25" name="Line 1440">
            <a:extLst>
              <a:ext uri="{FF2B5EF4-FFF2-40B4-BE49-F238E27FC236}">
                <a16:creationId xmlns:a16="http://schemas.microsoft.com/office/drawing/2014/main" id="{EB7419EB-3293-D832-3A34-BEBC9F1636B7}"/>
              </a:ext>
            </a:extLst>
          </p:cNvPr>
          <p:cNvSpPr>
            <a:spLocks noChangeShapeType="1"/>
          </p:cNvSpPr>
          <p:nvPr/>
        </p:nvSpPr>
        <p:spPr bwMode="auto">
          <a:xfrm flipH="1">
            <a:off x="8408265" y="3281701"/>
            <a:ext cx="415651" cy="27179"/>
          </a:xfrm>
          <a:prstGeom prst="line">
            <a:avLst/>
          </a:prstGeom>
          <a:noFill/>
          <a:ln w="19050">
            <a:solidFill>
              <a:srgbClr val="000000"/>
            </a:solidFill>
            <a:round/>
            <a:headEnd/>
            <a:tailEnd/>
          </a:ln>
        </p:spPr>
        <p:txBody>
          <a:bodyPr wrap="none" anchor="ct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26" name="Freeform 1365">
            <a:extLst>
              <a:ext uri="{FF2B5EF4-FFF2-40B4-BE49-F238E27FC236}">
                <a16:creationId xmlns:a16="http://schemas.microsoft.com/office/drawing/2014/main" id="{AA5343AB-1624-7531-2219-7D4BF70D0859}"/>
              </a:ext>
            </a:extLst>
          </p:cNvPr>
          <p:cNvSpPr>
            <a:spLocks/>
          </p:cNvSpPr>
          <p:nvPr/>
        </p:nvSpPr>
        <p:spPr bwMode="auto">
          <a:xfrm rot="357387">
            <a:off x="8532714" y="3163727"/>
            <a:ext cx="446979" cy="206111"/>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FF99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27" name="Freeform 1365">
            <a:extLst>
              <a:ext uri="{FF2B5EF4-FFF2-40B4-BE49-F238E27FC236}">
                <a16:creationId xmlns:a16="http://schemas.microsoft.com/office/drawing/2014/main" id="{CB7D9179-CD47-F42E-1EE2-EEB89FC7E97F}"/>
              </a:ext>
            </a:extLst>
          </p:cNvPr>
          <p:cNvSpPr>
            <a:spLocks/>
          </p:cNvSpPr>
          <p:nvPr/>
        </p:nvSpPr>
        <p:spPr bwMode="auto">
          <a:xfrm rot="357387">
            <a:off x="7329479" y="3156174"/>
            <a:ext cx="446979" cy="206111"/>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FF99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4" name="Text Box 1524">
            <a:extLst>
              <a:ext uri="{FF2B5EF4-FFF2-40B4-BE49-F238E27FC236}">
                <a16:creationId xmlns:a16="http://schemas.microsoft.com/office/drawing/2014/main" id="{4099EB6A-8B65-83DC-9496-5FA59A72BD46}"/>
              </a:ext>
            </a:extLst>
          </p:cNvPr>
          <p:cNvSpPr txBox="1">
            <a:spLocks noChangeArrowheads="1"/>
          </p:cNvSpPr>
          <p:nvPr/>
        </p:nvSpPr>
        <p:spPr bwMode="auto">
          <a:xfrm>
            <a:off x="7307871" y="3147785"/>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b="1" dirty="0">
                <a:latin typeface="Times New Roman" pitchFamily="18" charset="0"/>
                <a:ea typeface="微软雅黑" pitchFamily="34" charset="-122"/>
              </a:rPr>
              <a:t>网络</a:t>
            </a:r>
          </a:p>
        </p:txBody>
      </p:sp>
      <p:sp>
        <p:nvSpPr>
          <p:cNvPr id="29" name="Text Box 1524">
            <a:extLst>
              <a:ext uri="{FF2B5EF4-FFF2-40B4-BE49-F238E27FC236}">
                <a16:creationId xmlns:a16="http://schemas.microsoft.com/office/drawing/2014/main" id="{54AA83B9-C7AB-C9C2-3FB6-E15AC12C8B06}"/>
              </a:ext>
            </a:extLst>
          </p:cNvPr>
          <p:cNvSpPr txBox="1">
            <a:spLocks noChangeArrowheads="1"/>
          </p:cNvSpPr>
          <p:nvPr/>
        </p:nvSpPr>
        <p:spPr bwMode="auto">
          <a:xfrm>
            <a:off x="8511978" y="3141091"/>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b="1" dirty="0">
                <a:latin typeface="Times New Roman" pitchFamily="18" charset="0"/>
                <a:ea typeface="微软雅黑" pitchFamily="34" charset="-122"/>
              </a:rPr>
              <a:t>网络</a:t>
            </a:r>
          </a:p>
        </p:txBody>
      </p:sp>
    </p:spTree>
    <p:extLst>
      <p:ext uri="{BB962C8B-B14F-4D97-AF65-F5344CB8AC3E}">
        <p14:creationId xmlns:p14="http://schemas.microsoft.com/office/powerpoint/2010/main" val="34643749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圆角矩形 6"/>
          <p:cNvSpPr/>
          <p:nvPr/>
        </p:nvSpPr>
        <p:spPr>
          <a:xfrm>
            <a:off x="545145" y="1088764"/>
            <a:ext cx="8053710" cy="3244544"/>
          </a:xfrm>
          <a:prstGeom prst="roundRect">
            <a:avLst/>
          </a:prstGeom>
          <a:solidFill>
            <a:srgbClr val="C3E3F9"/>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8" name="AutoShape 54"/>
          <p:cNvSpPr>
            <a:spLocks noChangeArrowheads="1"/>
          </p:cNvSpPr>
          <p:nvPr/>
        </p:nvSpPr>
        <p:spPr bwMode="auto">
          <a:xfrm rot="5400000">
            <a:off x="1301693" y="3407501"/>
            <a:ext cx="144795" cy="301338"/>
          </a:xfrm>
          <a:prstGeom prst="downArrow">
            <a:avLst>
              <a:gd name="adj1" fmla="val 50000"/>
              <a:gd name="adj2" fmla="val 48026"/>
            </a:avLst>
          </a:prstGeom>
          <a:solidFill>
            <a:srgbClr val="FFFF00"/>
          </a:solidFill>
          <a:ln w="9525">
            <a:solidFill>
              <a:srgbClr val="000099"/>
            </a:solidFill>
            <a:miter lim="800000"/>
            <a:headEnd/>
            <a:tailEnd/>
          </a:ln>
          <a:effectLst/>
        </p:spPr>
        <p:txBody>
          <a:bodyPr vert="eaVert" wrap="none" anchor="ctr"/>
          <a:lstStyle/>
          <a:p>
            <a:endParaRPr lang="zh-CN" altLang="en-US" sz="1200" b="1">
              <a:latin typeface="微软雅黑" pitchFamily="34" charset="-122"/>
              <a:ea typeface="微软雅黑" pitchFamily="34" charset="-122"/>
            </a:endParaRPr>
          </a:p>
        </p:txBody>
      </p:sp>
      <p:sp>
        <p:nvSpPr>
          <p:cNvPr id="9" name="Line 2"/>
          <p:cNvSpPr>
            <a:spLocks noChangeShapeType="1"/>
          </p:cNvSpPr>
          <p:nvPr/>
        </p:nvSpPr>
        <p:spPr bwMode="auto">
          <a:xfrm>
            <a:off x="3615552" y="1282988"/>
            <a:ext cx="2359107" cy="0"/>
          </a:xfrm>
          <a:prstGeom prst="line">
            <a:avLst/>
          </a:prstGeom>
          <a:noFill/>
          <a:ln w="19050">
            <a:solidFill>
              <a:srgbClr val="0070C0"/>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0" name="Text Box 3"/>
          <p:cNvSpPr txBox="1">
            <a:spLocks noChangeArrowheads="1"/>
          </p:cNvSpPr>
          <p:nvPr/>
        </p:nvSpPr>
        <p:spPr bwMode="auto">
          <a:xfrm>
            <a:off x="4562910" y="1154053"/>
            <a:ext cx="636713" cy="261610"/>
          </a:xfrm>
          <a:prstGeom prst="rect">
            <a:avLst/>
          </a:prstGeom>
          <a:solidFill>
            <a:srgbClr val="C3E3F9"/>
          </a:solidFill>
          <a:ln>
            <a:noFill/>
          </a:ln>
          <a:effectLst/>
        </p:spPr>
        <p:txBody>
          <a:bodyPr wrap="none">
            <a:spAutoFit/>
          </a:bodyPr>
          <a:lstStyle/>
          <a:p>
            <a:r>
              <a:rPr kumimoji="1" lang="en-US" altLang="zh-CN" sz="1050" b="1" dirty="0">
                <a:solidFill>
                  <a:srgbClr val="0000FF"/>
                </a:solidFill>
                <a:latin typeface="微软雅黑" pitchFamily="34" charset="-122"/>
                <a:ea typeface="微软雅黑" pitchFamily="34" charset="-122"/>
              </a:rPr>
              <a:t> 4 </a:t>
            </a:r>
            <a:r>
              <a:rPr kumimoji="1" lang="zh-CN" altLang="en-US" sz="1050" b="1" dirty="0">
                <a:solidFill>
                  <a:srgbClr val="0000FF"/>
                </a:solidFill>
                <a:latin typeface="微软雅黑" pitchFamily="34" charset="-122"/>
                <a:ea typeface="微软雅黑" pitchFamily="34" charset="-122"/>
              </a:rPr>
              <a:t>字节</a:t>
            </a:r>
          </a:p>
        </p:txBody>
      </p:sp>
      <p:sp>
        <p:nvSpPr>
          <p:cNvPr id="11" name="Rectangle 4"/>
          <p:cNvSpPr>
            <a:spLocks noChangeArrowheads="1"/>
          </p:cNvSpPr>
          <p:nvPr/>
        </p:nvSpPr>
        <p:spPr bwMode="auto">
          <a:xfrm>
            <a:off x="1512376" y="3367650"/>
            <a:ext cx="3756408" cy="388660"/>
          </a:xfrm>
          <a:prstGeom prst="rect">
            <a:avLst/>
          </a:prstGeom>
          <a:solidFill>
            <a:srgbClr val="FF66FF"/>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2" name="Line 5"/>
          <p:cNvSpPr>
            <a:spLocks noChangeShapeType="1"/>
          </p:cNvSpPr>
          <p:nvPr/>
        </p:nvSpPr>
        <p:spPr bwMode="auto">
          <a:xfrm flipV="1">
            <a:off x="2788939" y="3227402"/>
            <a:ext cx="2475717" cy="0"/>
          </a:xfrm>
          <a:prstGeom prst="line">
            <a:avLst/>
          </a:prstGeom>
          <a:noFill/>
          <a:ln w="19050">
            <a:solidFill>
              <a:srgbClr val="0070C0"/>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3" name="Text Box 6"/>
          <p:cNvSpPr txBox="1">
            <a:spLocks noChangeArrowheads="1"/>
          </p:cNvSpPr>
          <p:nvPr/>
        </p:nvSpPr>
        <p:spPr bwMode="auto">
          <a:xfrm>
            <a:off x="3619680" y="3105988"/>
            <a:ext cx="747320" cy="261610"/>
          </a:xfrm>
          <a:prstGeom prst="rect">
            <a:avLst/>
          </a:prstGeom>
          <a:solidFill>
            <a:srgbClr val="C3E3F9"/>
          </a:solidFill>
          <a:ln>
            <a:noFill/>
          </a:ln>
          <a:effectLst/>
        </p:spPr>
        <p:txBody>
          <a:bodyPr wrap="none">
            <a:spAutoFit/>
          </a:bodyPr>
          <a:lstStyle/>
          <a:p>
            <a:r>
              <a:rPr kumimoji="1" lang="en-US" altLang="zh-CN" sz="1050" b="1" dirty="0">
                <a:solidFill>
                  <a:srgbClr val="0000FF"/>
                </a:solidFill>
                <a:latin typeface="微软雅黑" pitchFamily="34" charset="-122"/>
                <a:ea typeface="微软雅黑" pitchFamily="34" charset="-122"/>
              </a:rPr>
              <a:t>RIP </a:t>
            </a:r>
            <a:r>
              <a:rPr kumimoji="1" lang="zh-CN" altLang="en-US" sz="1050" b="1" dirty="0">
                <a:solidFill>
                  <a:srgbClr val="0000FF"/>
                </a:solidFill>
                <a:latin typeface="微软雅黑" pitchFamily="34" charset="-122"/>
                <a:ea typeface="微软雅黑" pitchFamily="34" charset="-122"/>
              </a:rPr>
              <a:t>报文</a:t>
            </a:r>
          </a:p>
        </p:txBody>
      </p:sp>
      <p:sp>
        <p:nvSpPr>
          <p:cNvPr id="14" name="Freeform 8"/>
          <p:cNvSpPr>
            <a:spLocks/>
          </p:cNvSpPr>
          <p:nvPr/>
        </p:nvSpPr>
        <p:spPr bwMode="auto">
          <a:xfrm>
            <a:off x="3243006" y="2601226"/>
            <a:ext cx="2786623" cy="125958"/>
          </a:xfrm>
          <a:custGeom>
            <a:avLst/>
            <a:gdLst>
              <a:gd name="T0" fmla="*/ 306 w 2328"/>
              <a:gd name="T1" fmla="*/ 6 h 204"/>
              <a:gd name="T2" fmla="*/ 2328 w 2328"/>
              <a:gd name="T3" fmla="*/ 0 h 204"/>
              <a:gd name="T4" fmla="*/ 1716 w 2328"/>
              <a:gd name="T5" fmla="*/ 204 h 204"/>
              <a:gd name="T6" fmla="*/ 0 w 2328"/>
              <a:gd name="T7" fmla="*/ 204 h 204"/>
              <a:gd name="T8" fmla="*/ 306 w 2328"/>
              <a:gd name="T9" fmla="*/ 6 h 204"/>
            </a:gdLst>
            <a:ahLst/>
            <a:cxnLst>
              <a:cxn ang="0">
                <a:pos x="T0" y="T1"/>
              </a:cxn>
              <a:cxn ang="0">
                <a:pos x="T2" y="T3"/>
              </a:cxn>
              <a:cxn ang="0">
                <a:pos x="T4" y="T5"/>
              </a:cxn>
              <a:cxn ang="0">
                <a:pos x="T6" y="T7"/>
              </a:cxn>
              <a:cxn ang="0">
                <a:pos x="T8" y="T9"/>
              </a:cxn>
            </a:cxnLst>
            <a:rect l="0" t="0" r="r" b="b"/>
            <a:pathLst>
              <a:path w="2328" h="204">
                <a:moveTo>
                  <a:pt x="306" y="6"/>
                </a:moveTo>
                <a:lnTo>
                  <a:pt x="2328" y="0"/>
                </a:lnTo>
                <a:lnTo>
                  <a:pt x="1716" y="204"/>
                </a:lnTo>
                <a:lnTo>
                  <a:pt x="0" y="204"/>
                </a:lnTo>
                <a:lnTo>
                  <a:pt x="306" y="6"/>
                </a:lnTo>
                <a:close/>
              </a:path>
            </a:pathLst>
          </a:custGeom>
          <a:gradFill>
            <a:gsLst>
              <a:gs pos="0">
                <a:srgbClr val="3399FF"/>
              </a:gs>
              <a:gs pos="100000">
                <a:srgbClr val="00FF99"/>
              </a:gs>
            </a:gsLst>
            <a:lin ang="16200000" scaled="1"/>
          </a:gradFill>
          <a:ln>
            <a:noFill/>
          </a:ln>
          <a:effectLst/>
        </p:spPr>
        <p:txBody>
          <a:bodyPr/>
          <a:lstStyle/>
          <a:p>
            <a:endParaRPr lang="zh-CN" altLang="en-US" sz="1200" b="1">
              <a:latin typeface="微软雅黑" pitchFamily="34" charset="-122"/>
              <a:ea typeface="微软雅黑" pitchFamily="34" charset="-122"/>
            </a:endParaRPr>
          </a:p>
        </p:txBody>
      </p:sp>
      <p:sp>
        <p:nvSpPr>
          <p:cNvPr id="15" name="Rectangle 9"/>
          <p:cNvSpPr>
            <a:spLocks noChangeArrowheads="1"/>
          </p:cNvSpPr>
          <p:nvPr/>
        </p:nvSpPr>
        <p:spPr bwMode="auto">
          <a:xfrm>
            <a:off x="3609360" y="1384759"/>
            <a:ext cx="2385938" cy="1216467"/>
          </a:xfrm>
          <a:prstGeom prst="rect">
            <a:avLst/>
          </a:prstGeom>
          <a:solidFill>
            <a:srgbClr val="99FFCC"/>
          </a:solidFill>
          <a:ln w="12700">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6" name="Line 10"/>
          <p:cNvSpPr>
            <a:spLocks noChangeShapeType="1"/>
          </p:cNvSpPr>
          <p:nvPr/>
        </p:nvSpPr>
        <p:spPr bwMode="auto">
          <a:xfrm>
            <a:off x="2285328" y="3900760"/>
            <a:ext cx="2975200" cy="0"/>
          </a:xfrm>
          <a:prstGeom prst="line">
            <a:avLst/>
          </a:prstGeom>
          <a:noFill/>
          <a:ln w="19050">
            <a:solidFill>
              <a:srgbClr val="0070C0"/>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7" name="Text Box 11"/>
          <p:cNvSpPr txBox="1">
            <a:spLocks noChangeArrowheads="1"/>
          </p:cNvSpPr>
          <p:nvPr/>
        </p:nvSpPr>
        <p:spPr bwMode="auto">
          <a:xfrm>
            <a:off x="5974659" y="3012113"/>
            <a:ext cx="1673904" cy="830997"/>
          </a:xfrm>
          <a:prstGeom prst="rect">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latin typeface="微软雅黑" pitchFamily="34" charset="-122"/>
                <a:ea typeface="微软雅黑" pitchFamily="34" charset="-122"/>
              </a:rPr>
              <a:t>路由信息</a:t>
            </a:r>
          </a:p>
          <a:p>
            <a:pPr algn="ctr"/>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20 </a:t>
            </a:r>
            <a:r>
              <a:rPr kumimoji="1" lang="zh-CN" altLang="en-US" sz="1200" b="1" dirty="0">
                <a:latin typeface="微软雅黑" pitchFamily="34" charset="-122"/>
                <a:ea typeface="微软雅黑" pitchFamily="34" charset="-122"/>
              </a:rPr>
              <a:t>字节</a:t>
            </a:r>
            <a:r>
              <a:rPr kumimoji="1" lang="en-US" altLang="zh-CN" sz="1200" b="1" dirty="0">
                <a:latin typeface="微软雅黑" pitchFamily="34" charset="-122"/>
                <a:ea typeface="微软雅黑" pitchFamily="34" charset="-122"/>
              </a:rPr>
              <a:t>/</a:t>
            </a:r>
            <a:r>
              <a:rPr kumimoji="1" lang="zh-CN" altLang="en-US" sz="1200" b="1" dirty="0">
                <a:latin typeface="微软雅黑" pitchFamily="34" charset="-122"/>
                <a:ea typeface="微软雅黑" pitchFamily="34" charset="-122"/>
              </a:rPr>
              <a:t>路由）</a:t>
            </a:r>
          </a:p>
          <a:p>
            <a:pPr algn="ctr"/>
            <a:r>
              <a:rPr kumimoji="1" lang="zh-CN" altLang="en-US" sz="1200" b="1" dirty="0">
                <a:latin typeface="微软雅黑" pitchFamily="34" charset="-122"/>
                <a:ea typeface="微软雅黑" pitchFamily="34" charset="-122"/>
              </a:rPr>
              <a:t>可重复出现</a:t>
            </a:r>
          </a:p>
          <a:p>
            <a:pPr algn="ctr"/>
            <a:r>
              <a:rPr kumimoji="1" lang="zh-CN" altLang="en-US" sz="1200" b="1" dirty="0">
                <a:latin typeface="微软雅黑" pitchFamily="34" charset="-122"/>
                <a:ea typeface="微软雅黑" pitchFamily="34" charset="-122"/>
              </a:rPr>
              <a:t>最多 </a:t>
            </a:r>
            <a:r>
              <a:rPr kumimoji="1" lang="en-US" altLang="zh-CN" sz="1200" b="1" dirty="0">
                <a:latin typeface="微软雅黑" pitchFamily="34" charset="-122"/>
                <a:ea typeface="微软雅黑" pitchFamily="34" charset="-122"/>
              </a:rPr>
              <a:t>25 </a:t>
            </a:r>
            <a:r>
              <a:rPr kumimoji="1" lang="zh-CN" altLang="en-US" sz="1200" b="1" dirty="0">
                <a:latin typeface="微软雅黑" pitchFamily="34" charset="-122"/>
                <a:ea typeface="微软雅黑" pitchFamily="34" charset="-122"/>
              </a:rPr>
              <a:t>个</a:t>
            </a:r>
          </a:p>
        </p:txBody>
      </p:sp>
      <p:sp>
        <p:nvSpPr>
          <p:cNvPr id="18" name="Rectangle 12"/>
          <p:cNvSpPr>
            <a:spLocks noChangeArrowheads="1"/>
          </p:cNvSpPr>
          <p:nvPr/>
        </p:nvSpPr>
        <p:spPr bwMode="auto">
          <a:xfrm>
            <a:off x="2764168" y="2743379"/>
            <a:ext cx="2496361" cy="372466"/>
          </a:xfrm>
          <a:prstGeom prst="rect">
            <a:avLst/>
          </a:prstGeom>
          <a:solidFill>
            <a:srgbClr val="99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9" name="Freeform 13"/>
          <p:cNvSpPr>
            <a:spLocks/>
          </p:cNvSpPr>
          <p:nvPr/>
        </p:nvSpPr>
        <p:spPr bwMode="auto">
          <a:xfrm>
            <a:off x="984002" y="2157317"/>
            <a:ext cx="2343627" cy="586062"/>
          </a:xfrm>
          <a:custGeom>
            <a:avLst/>
            <a:gdLst>
              <a:gd name="T0" fmla="*/ 0 w 1992"/>
              <a:gd name="T1" fmla="*/ 12 h 612"/>
              <a:gd name="T2" fmla="*/ 1992 w 1992"/>
              <a:gd name="T3" fmla="*/ 0 h 612"/>
              <a:gd name="T4" fmla="*/ 1890 w 1992"/>
              <a:gd name="T5" fmla="*/ 606 h 612"/>
              <a:gd name="T6" fmla="*/ 1506 w 1992"/>
              <a:gd name="T7" fmla="*/ 612 h 612"/>
              <a:gd name="T8" fmla="*/ 0 w 1992"/>
              <a:gd name="T9" fmla="*/ 12 h 612"/>
            </a:gdLst>
            <a:ahLst/>
            <a:cxnLst>
              <a:cxn ang="0">
                <a:pos x="T0" y="T1"/>
              </a:cxn>
              <a:cxn ang="0">
                <a:pos x="T2" y="T3"/>
              </a:cxn>
              <a:cxn ang="0">
                <a:pos x="T4" y="T5"/>
              </a:cxn>
              <a:cxn ang="0">
                <a:pos x="T6" y="T7"/>
              </a:cxn>
              <a:cxn ang="0">
                <a:pos x="T8" y="T9"/>
              </a:cxn>
            </a:cxnLst>
            <a:rect l="0" t="0" r="r" b="b"/>
            <a:pathLst>
              <a:path w="1992" h="612">
                <a:moveTo>
                  <a:pt x="0" y="12"/>
                </a:moveTo>
                <a:lnTo>
                  <a:pt x="1992" y="0"/>
                </a:lnTo>
                <a:lnTo>
                  <a:pt x="1890" y="606"/>
                </a:lnTo>
                <a:lnTo>
                  <a:pt x="1506" y="612"/>
                </a:lnTo>
                <a:lnTo>
                  <a:pt x="0" y="12"/>
                </a:lnTo>
                <a:close/>
              </a:path>
            </a:pathLst>
          </a:custGeom>
          <a:gradFill>
            <a:gsLst>
              <a:gs pos="0">
                <a:srgbClr val="0000FF"/>
              </a:gs>
              <a:gs pos="100000">
                <a:srgbClr val="00FFFF"/>
              </a:gs>
            </a:gsLst>
            <a:lin ang="16200000" scaled="1"/>
          </a:gradFill>
          <a:ln>
            <a:noFill/>
          </a:ln>
          <a:effectLst/>
        </p:spPr>
        <p:txBody>
          <a:bodyPr/>
          <a:lstStyle/>
          <a:p>
            <a:endParaRPr lang="zh-CN" altLang="en-US" sz="1200" b="1">
              <a:latin typeface="微软雅黑" pitchFamily="34" charset="-122"/>
              <a:ea typeface="微软雅黑" pitchFamily="34" charset="-122"/>
            </a:endParaRPr>
          </a:p>
        </p:txBody>
      </p:sp>
      <p:sp>
        <p:nvSpPr>
          <p:cNvPr id="20" name="Rectangle 14"/>
          <p:cNvSpPr>
            <a:spLocks noChangeArrowheads="1"/>
          </p:cNvSpPr>
          <p:nvPr/>
        </p:nvSpPr>
        <p:spPr bwMode="auto">
          <a:xfrm>
            <a:off x="2764168" y="2735758"/>
            <a:ext cx="2504616" cy="387707"/>
          </a:xfrm>
          <a:prstGeom prst="rect">
            <a:avLst/>
          </a:prstGeom>
          <a:noFill/>
          <a:ln w="1905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1" name="Line 15"/>
          <p:cNvSpPr>
            <a:spLocks noChangeShapeType="1"/>
          </p:cNvSpPr>
          <p:nvPr/>
        </p:nvSpPr>
        <p:spPr bwMode="auto">
          <a:xfrm>
            <a:off x="1512375" y="3733186"/>
            <a:ext cx="0" cy="411193"/>
          </a:xfrm>
          <a:prstGeom prst="line">
            <a:avLst/>
          </a:prstGeom>
          <a:noFill/>
          <a:ln w="127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2" name="Rectangle 16"/>
          <p:cNvSpPr>
            <a:spLocks noChangeArrowheads="1"/>
          </p:cNvSpPr>
          <p:nvPr/>
        </p:nvSpPr>
        <p:spPr bwMode="auto">
          <a:xfrm>
            <a:off x="3390581" y="3849403"/>
            <a:ext cx="930846" cy="16765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3" name="Line 17"/>
          <p:cNvSpPr>
            <a:spLocks noChangeShapeType="1"/>
          </p:cNvSpPr>
          <p:nvPr/>
        </p:nvSpPr>
        <p:spPr bwMode="auto">
          <a:xfrm>
            <a:off x="1512376" y="4110059"/>
            <a:ext cx="3756408" cy="0"/>
          </a:xfrm>
          <a:prstGeom prst="line">
            <a:avLst/>
          </a:prstGeom>
          <a:noFill/>
          <a:ln w="19050">
            <a:solidFill>
              <a:srgbClr val="0070C0"/>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4" name="Text Box 18"/>
          <p:cNvSpPr txBox="1">
            <a:spLocks noChangeArrowheads="1"/>
          </p:cNvSpPr>
          <p:nvPr/>
        </p:nvSpPr>
        <p:spPr bwMode="auto">
          <a:xfrm>
            <a:off x="2400056" y="3986696"/>
            <a:ext cx="790601" cy="261610"/>
          </a:xfrm>
          <a:prstGeom prst="rect">
            <a:avLst/>
          </a:prstGeom>
          <a:solidFill>
            <a:srgbClr val="C3E3F9"/>
          </a:solidFill>
          <a:ln>
            <a:noFill/>
          </a:ln>
          <a:effectLst/>
        </p:spPr>
        <p:txBody>
          <a:bodyPr wrap="none">
            <a:spAutoFit/>
          </a:bodyPr>
          <a:lstStyle/>
          <a:p>
            <a:r>
              <a:rPr kumimoji="1" lang="en-US" altLang="zh-CN" sz="1050" b="1" dirty="0">
                <a:solidFill>
                  <a:srgbClr val="0000FF"/>
                </a:solidFill>
                <a:latin typeface="微软雅黑" pitchFamily="34" charset="-122"/>
                <a:ea typeface="微软雅黑" pitchFamily="34" charset="-122"/>
              </a:rPr>
              <a:t>IP </a:t>
            </a:r>
            <a:r>
              <a:rPr kumimoji="1" lang="zh-CN" altLang="en-US" sz="1050" b="1" dirty="0">
                <a:solidFill>
                  <a:srgbClr val="0000FF"/>
                </a:solidFill>
                <a:latin typeface="微软雅黑" pitchFamily="34" charset="-122"/>
                <a:ea typeface="微软雅黑" pitchFamily="34" charset="-122"/>
              </a:rPr>
              <a:t>数据报</a:t>
            </a:r>
          </a:p>
        </p:txBody>
      </p:sp>
      <p:sp>
        <p:nvSpPr>
          <p:cNvPr id="25" name="Line 19"/>
          <p:cNvSpPr>
            <a:spLocks noChangeShapeType="1"/>
          </p:cNvSpPr>
          <p:nvPr/>
        </p:nvSpPr>
        <p:spPr bwMode="auto">
          <a:xfrm>
            <a:off x="3616583" y="1618146"/>
            <a:ext cx="23859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6" name="Line 20"/>
          <p:cNvSpPr>
            <a:spLocks noChangeShapeType="1"/>
          </p:cNvSpPr>
          <p:nvPr/>
        </p:nvSpPr>
        <p:spPr bwMode="auto">
          <a:xfrm>
            <a:off x="3616583" y="1872489"/>
            <a:ext cx="23859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7" name="Line 21"/>
          <p:cNvSpPr>
            <a:spLocks noChangeShapeType="1"/>
          </p:cNvSpPr>
          <p:nvPr/>
        </p:nvSpPr>
        <p:spPr bwMode="auto">
          <a:xfrm>
            <a:off x="3616583" y="2114449"/>
            <a:ext cx="23859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8" name="Line 22"/>
          <p:cNvSpPr>
            <a:spLocks noChangeShapeType="1"/>
          </p:cNvSpPr>
          <p:nvPr/>
        </p:nvSpPr>
        <p:spPr bwMode="auto">
          <a:xfrm>
            <a:off x="3616583" y="2344977"/>
            <a:ext cx="23859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9" name="Line 23"/>
          <p:cNvSpPr>
            <a:spLocks noChangeShapeType="1"/>
          </p:cNvSpPr>
          <p:nvPr/>
        </p:nvSpPr>
        <p:spPr bwMode="auto">
          <a:xfrm rot="5400000" flipH="1">
            <a:off x="4690954" y="1510979"/>
            <a:ext cx="23719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0" name="Text Box 24"/>
          <p:cNvSpPr txBox="1">
            <a:spLocks noChangeArrowheads="1"/>
          </p:cNvSpPr>
          <p:nvPr/>
        </p:nvSpPr>
        <p:spPr bwMode="auto">
          <a:xfrm>
            <a:off x="5086123" y="1346656"/>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路由标记</a:t>
            </a:r>
          </a:p>
        </p:txBody>
      </p:sp>
      <p:sp>
        <p:nvSpPr>
          <p:cNvPr id="31" name="Text Box 25"/>
          <p:cNvSpPr txBox="1">
            <a:spLocks noChangeArrowheads="1"/>
          </p:cNvSpPr>
          <p:nvPr/>
        </p:nvSpPr>
        <p:spPr bwMode="auto">
          <a:xfrm>
            <a:off x="4442167" y="1599095"/>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网络地址</a:t>
            </a:r>
          </a:p>
        </p:txBody>
      </p:sp>
      <p:sp>
        <p:nvSpPr>
          <p:cNvPr id="32" name="Text Box 26"/>
          <p:cNvSpPr txBox="1">
            <a:spLocks noChangeArrowheads="1"/>
          </p:cNvSpPr>
          <p:nvPr/>
        </p:nvSpPr>
        <p:spPr bwMode="auto">
          <a:xfrm>
            <a:off x="3730101" y="1358087"/>
            <a:ext cx="110799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地址族标识符</a:t>
            </a:r>
          </a:p>
        </p:txBody>
      </p:sp>
      <p:sp>
        <p:nvSpPr>
          <p:cNvPr id="33" name="Text Box 27"/>
          <p:cNvSpPr txBox="1">
            <a:spLocks noChangeArrowheads="1"/>
          </p:cNvSpPr>
          <p:nvPr/>
        </p:nvSpPr>
        <p:spPr bwMode="auto">
          <a:xfrm>
            <a:off x="4407081" y="2346883"/>
            <a:ext cx="100860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距离 </a:t>
            </a:r>
            <a:r>
              <a:rPr kumimoji="1" lang="en-US" altLang="zh-CN" sz="1200" b="1" dirty="0">
                <a:latin typeface="微软雅黑" pitchFamily="34" charset="-122"/>
                <a:ea typeface="微软雅黑" pitchFamily="34" charset="-122"/>
              </a:rPr>
              <a:t>(1-16)</a:t>
            </a:r>
          </a:p>
        </p:txBody>
      </p:sp>
      <p:sp>
        <p:nvSpPr>
          <p:cNvPr id="34" name="Rectangle 28"/>
          <p:cNvSpPr>
            <a:spLocks noChangeArrowheads="1"/>
          </p:cNvSpPr>
          <p:nvPr/>
        </p:nvSpPr>
        <p:spPr bwMode="auto">
          <a:xfrm>
            <a:off x="2764168" y="3375271"/>
            <a:ext cx="2496361" cy="373418"/>
          </a:xfrm>
          <a:prstGeom prst="rect">
            <a:avLst/>
          </a:prstGeom>
          <a:solidFill>
            <a:srgbClr val="99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5" name="Line 29"/>
          <p:cNvSpPr>
            <a:spLocks noChangeShapeType="1"/>
          </p:cNvSpPr>
          <p:nvPr/>
        </p:nvSpPr>
        <p:spPr bwMode="auto">
          <a:xfrm>
            <a:off x="2294617" y="3367650"/>
            <a:ext cx="0" cy="3886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6" name="Text Box 30"/>
          <p:cNvSpPr txBox="1">
            <a:spLocks noChangeArrowheads="1"/>
          </p:cNvSpPr>
          <p:nvPr/>
        </p:nvSpPr>
        <p:spPr bwMode="auto">
          <a:xfrm>
            <a:off x="1675429" y="3369847"/>
            <a:ext cx="492443" cy="4247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en-US" altLang="zh-CN" sz="1200" b="1" dirty="0">
                <a:latin typeface="微软雅黑" pitchFamily="34" charset="-122"/>
                <a:ea typeface="微软雅黑" pitchFamily="34" charset="-122"/>
              </a:rPr>
              <a:t>  IP </a:t>
            </a:r>
          </a:p>
          <a:p>
            <a:pPr>
              <a:lnSpc>
                <a:spcPct val="90000"/>
              </a:lnSpc>
            </a:pPr>
            <a:r>
              <a:rPr kumimoji="1" lang="zh-CN" altLang="en-US" sz="1200" b="1" dirty="0">
                <a:latin typeface="微软雅黑" pitchFamily="34" charset="-122"/>
                <a:ea typeface="微软雅黑" pitchFamily="34" charset="-122"/>
              </a:rPr>
              <a:t>首部</a:t>
            </a:r>
          </a:p>
        </p:txBody>
      </p:sp>
      <p:sp>
        <p:nvSpPr>
          <p:cNvPr id="37" name="AutoShape 32"/>
          <p:cNvSpPr>
            <a:spLocks noChangeArrowheads="1"/>
          </p:cNvSpPr>
          <p:nvPr/>
        </p:nvSpPr>
        <p:spPr bwMode="auto">
          <a:xfrm>
            <a:off x="3883984" y="3310367"/>
            <a:ext cx="125648" cy="237949"/>
          </a:xfrm>
          <a:prstGeom prst="downArrow">
            <a:avLst>
              <a:gd name="adj1" fmla="val 50000"/>
              <a:gd name="adj2" fmla="val 48026"/>
            </a:avLst>
          </a:prstGeom>
          <a:solidFill>
            <a:srgbClr val="FFFF00"/>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200" b="1">
              <a:latin typeface="微软雅黑" pitchFamily="34" charset="-122"/>
              <a:ea typeface="微软雅黑" pitchFamily="34" charset="-122"/>
            </a:endParaRPr>
          </a:p>
        </p:txBody>
      </p:sp>
      <p:sp>
        <p:nvSpPr>
          <p:cNvPr id="38" name="Text Box 33"/>
          <p:cNvSpPr txBox="1">
            <a:spLocks noChangeArrowheads="1"/>
          </p:cNvSpPr>
          <p:nvPr/>
        </p:nvSpPr>
        <p:spPr bwMode="auto">
          <a:xfrm>
            <a:off x="2281998" y="3369847"/>
            <a:ext cx="574196" cy="4247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en-US" altLang="zh-CN" sz="1200" b="1" dirty="0">
                <a:latin typeface="微软雅黑" pitchFamily="34" charset="-122"/>
                <a:ea typeface="微软雅黑" pitchFamily="34" charset="-122"/>
              </a:rPr>
              <a:t>UDP </a:t>
            </a:r>
          </a:p>
          <a:p>
            <a:pPr>
              <a:lnSpc>
                <a:spcPct val="90000"/>
              </a:lnSpc>
            </a:pPr>
            <a:r>
              <a:rPr kumimoji="1" lang="zh-CN" altLang="en-US" sz="1200" b="1" dirty="0">
                <a:latin typeface="微软雅黑" pitchFamily="34" charset="-122"/>
                <a:ea typeface="微软雅黑" pitchFamily="34" charset="-122"/>
              </a:rPr>
              <a:t>首部</a:t>
            </a:r>
          </a:p>
        </p:txBody>
      </p:sp>
      <p:sp>
        <p:nvSpPr>
          <p:cNvPr id="39" name="Line 34"/>
          <p:cNvSpPr>
            <a:spLocks noChangeShapeType="1"/>
          </p:cNvSpPr>
          <p:nvPr/>
        </p:nvSpPr>
        <p:spPr bwMode="auto">
          <a:xfrm>
            <a:off x="2764168" y="3375271"/>
            <a:ext cx="0" cy="38770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0" name="AutoShape 35"/>
          <p:cNvSpPr>
            <a:spLocks/>
          </p:cNvSpPr>
          <p:nvPr/>
        </p:nvSpPr>
        <p:spPr bwMode="auto">
          <a:xfrm>
            <a:off x="6029629" y="1395239"/>
            <a:ext cx="159957" cy="1185983"/>
          </a:xfrm>
          <a:prstGeom prst="rightBrace">
            <a:avLst>
              <a:gd name="adj1" fmla="val 66936"/>
              <a:gd name="adj2" fmla="val 50000"/>
            </a:avLst>
          </a:prstGeom>
          <a:noFill/>
          <a:ln w="19050">
            <a:solidFill>
              <a:srgbClr val="0070C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1" name="Line 36"/>
          <p:cNvSpPr>
            <a:spLocks noChangeShapeType="1"/>
          </p:cNvSpPr>
          <p:nvPr/>
        </p:nvSpPr>
        <p:spPr bwMode="auto">
          <a:xfrm>
            <a:off x="3205855" y="2733853"/>
            <a:ext cx="0" cy="38770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2" name="Line 37"/>
          <p:cNvSpPr>
            <a:spLocks noChangeShapeType="1"/>
          </p:cNvSpPr>
          <p:nvPr/>
        </p:nvSpPr>
        <p:spPr bwMode="auto">
          <a:xfrm>
            <a:off x="2764168" y="3115874"/>
            <a:ext cx="0" cy="193378"/>
          </a:xfrm>
          <a:prstGeom prst="line">
            <a:avLst/>
          </a:prstGeom>
          <a:noFill/>
          <a:ln w="127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3" name="Line 38"/>
          <p:cNvSpPr>
            <a:spLocks noChangeShapeType="1"/>
          </p:cNvSpPr>
          <p:nvPr/>
        </p:nvSpPr>
        <p:spPr bwMode="auto">
          <a:xfrm>
            <a:off x="5269853" y="3097775"/>
            <a:ext cx="0" cy="193377"/>
          </a:xfrm>
          <a:prstGeom prst="line">
            <a:avLst/>
          </a:prstGeom>
          <a:noFill/>
          <a:ln w="127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4" name="Text Box 40"/>
          <p:cNvSpPr txBox="1">
            <a:spLocks noChangeArrowheads="1"/>
          </p:cNvSpPr>
          <p:nvPr/>
        </p:nvSpPr>
        <p:spPr bwMode="auto">
          <a:xfrm>
            <a:off x="3766221" y="2779691"/>
            <a:ext cx="800219" cy="276999"/>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路由部分</a:t>
            </a:r>
          </a:p>
        </p:txBody>
      </p:sp>
      <p:sp>
        <p:nvSpPr>
          <p:cNvPr id="45" name="Line 47"/>
          <p:cNvSpPr>
            <a:spLocks noChangeShapeType="1"/>
          </p:cNvSpPr>
          <p:nvPr/>
        </p:nvSpPr>
        <p:spPr bwMode="auto">
          <a:xfrm>
            <a:off x="990194" y="1801498"/>
            <a:ext cx="2358074" cy="0"/>
          </a:xfrm>
          <a:prstGeom prst="line">
            <a:avLst/>
          </a:prstGeom>
          <a:noFill/>
          <a:ln w="19050">
            <a:solidFill>
              <a:srgbClr val="0070C0"/>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6" name="Text Box 48"/>
          <p:cNvSpPr txBox="1">
            <a:spLocks noChangeArrowheads="1"/>
          </p:cNvSpPr>
          <p:nvPr/>
        </p:nvSpPr>
        <p:spPr bwMode="auto">
          <a:xfrm>
            <a:off x="1936519" y="1672563"/>
            <a:ext cx="636713" cy="261610"/>
          </a:xfrm>
          <a:prstGeom prst="rect">
            <a:avLst/>
          </a:prstGeom>
          <a:solidFill>
            <a:srgbClr val="C3E3F9"/>
          </a:solidFill>
          <a:ln>
            <a:noFill/>
          </a:ln>
          <a:effectLst/>
        </p:spPr>
        <p:txBody>
          <a:bodyPr wrap="none">
            <a:spAutoFit/>
          </a:bodyPr>
          <a:lstStyle/>
          <a:p>
            <a:r>
              <a:rPr kumimoji="1" lang="en-US" altLang="zh-CN" sz="1050" b="1" dirty="0">
                <a:solidFill>
                  <a:srgbClr val="0000FF"/>
                </a:solidFill>
                <a:latin typeface="微软雅黑" pitchFamily="34" charset="-122"/>
                <a:ea typeface="微软雅黑" pitchFamily="34" charset="-122"/>
              </a:rPr>
              <a:t> 4 </a:t>
            </a:r>
            <a:r>
              <a:rPr kumimoji="1" lang="zh-CN" altLang="en-US" sz="1050" b="1" dirty="0">
                <a:solidFill>
                  <a:srgbClr val="0000FF"/>
                </a:solidFill>
                <a:latin typeface="微软雅黑" pitchFamily="34" charset="-122"/>
                <a:ea typeface="微软雅黑" pitchFamily="34" charset="-122"/>
              </a:rPr>
              <a:t>字节</a:t>
            </a:r>
          </a:p>
        </p:txBody>
      </p:sp>
      <p:sp>
        <p:nvSpPr>
          <p:cNvPr id="47" name="Text Box 49"/>
          <p:cNvSpPr txBox="1">
            <a:spLocks noChangeArrowheads="1"/>
          </p:cNvSpPr>
          <p:nvPr/>
        </p:nvSpPr>
        <p:spPr bwMode="auto">
          <a:xfrm>
            <a:off x="4442167" y="1858201"/>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子网掩码</a:t>
            </a:r>
          </a:p>
        </p:txBody>
      </p:sp>
      <p:sp>
        <p:nvSpPr>
          <p:cNvPr id="48" name="Text Box 50"/>
          <p:cNvSpPr txBox="1">
            <a:spLocks noChangeArrowheads="1"/>
          </p:cNvSpPr>
          <p:nvPr/>
        </p:nvSpPr>
        <p:spPr bwMode="auto">
          <a:xfrm>
            <a:off x="4186237" y="2087777"/>
            <a:ext cx="141577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下一跳路由器地址</a:t>
            </a:r>
          </a:p>
        </p:txBody>
      </p:sp>
      <p:sp>
        <p:nvSpPr>
          <p:cNvPr id="49" name="Text Box 51"/>
          <p:cNvSpPr txBox="1">
            <a:spLocks noChangeArrowheads="1"/>
          </p:cNvSpPr>
          <p:nvPr/>
        </p:nvSpPr>
        <p:spPr bwMode="auto">
          <a:xfrm>
            <a:off x="3225464" y="3789122"/>
            <a:ext cx="1196161" cy="253916"/>
          </a:xfrm>
          <a:prstGeom prst="rect">
            <a:avLst/>
          </a:prstGeom>
          <a:solidFill>
            <a:srgbClr val="C3E3F9"/>
          </a:solidFill>
          <a:ln>
            <a:noFill/>
          </a:ln>
          <a:effectLst/>
        </p:spPr>
        <p:txBody>
          <a:bodyPr wrap="none">
            <a:spAutoFit/>
          </a:bodyPr>
          <a:lstStyle/>
          <a:p>
            <a:r>
              <a:rPr kumimoji="1" lang="en-US" altLang="zh-CN" sz="1050" b="1" dirty="0">
                <a:solidFill>
                  <a:srgbClr val="0000FF"/>
                </a:solidFill>
                <a:latin typeface="微软雅黑" pitchFamily="34" charset="-122"/>
                <a:ea typeface="微软雅黑" pitchFamily="34" charset="-122"/>
              </a:rPr>
              <a:t>UDP </a:t>
            </a:r>
            <a:r>
              <a:rPr kumimoji="1" lang="zh-CN" altLang="en-US" sz="1050" b="1" dirty="0">
                <a:solidFill>
                  <a:srgbClr val="0000FF"/>
                </a:solidFill>
                <a:latin typeface="微软雅黑" pitchFamily="34" charset="-122"/>
                <a:ea typeface="微软雅黑" pitchFamily="34" charset="-122"/>
              </a:rPr>
              <a:t>用户数据报</a:t>
            </a:r>
          </a:p>
        </p:txBody>
      </p:sp>
      <p:sp>
        <p:nvSpPr>
          <p:cNvPr id="50" name="Line 52"/>
          <p:cNvSpPr>
            <a:spLocks noChangeShapeType="1"/>
          </p:cNvSpPr>
          <p:nvPr/>
        </p:nvSpPr>
        <p:spPr bwMode="auto">
          <a:xfrm>
            <a:off x="2296681" y="3733187"/>
            <a:ext cx="0" cy="200045"/>
          </a:xfrm>
          <a:prstGeom prst="line">
            <a:avLst/>
          </a:prstGeom>
          <a:noFill/>
          <a:ln w="127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2" name="矩形 51"/>
          <p:cNvSpPr/>
          <p:nvPr/>
        </p:nvSpPr>
        <p:spPr bwMode="auto">
          <a:xfrm>
            <a:off x="2764168" y="2743379"/>
            <a:ext cx="441687" cy="370561"/>
          </a:xfrm>
          <a:prstGeom prst="rect">
            <a:avLst/>
          </a:prstGeom>
          <a:solidFill>
            <a:srgbClr val="0000FF"/>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200" b="0" i="0" u="none" strike="noStrike" cap="none" normalizeH="0" baseline="0">
              <a:ln>
                <a:noFill/>
              </a:ln>
              <a:effectLst/>
              <a:latin typeface="微软雅黑" pitchFamily="34" charset="-122"/>
              <a:ea typeface="微软雅黑" pitchFamily="34" charset="-122"/>
            </a:endParaRPr>
          </a:p>
        </p:txBody>
      </p:sp>
      <p:sp>
        <p:nvSpPr>
          <p:cNvPr id="53" name="Text Box 39"/>
          <p:cNvSpPr txBox="1">
            <a:spLocks noChangeArrowheads="1"/>
          </p:cNvSpPr>
          <p:nvPr/>
        </p:nvSpPr>
        <p:spPr bwMode="auto">
          <a:xfrm>
            <a:off x="2749184" y="2799710"/>
            <a:ext cx="492443" cy="276999"/>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chemeClr val="bg1"/>
                </a:solidFill>
                <a:latin typeface="微软雅黑" pitchFamily="34" charset="-122"/>
                <a:ea typeface="微软雅黑" pitchFamily="34" charset="-122"/>
              </a:rPr>
              <a:t>首部</a:t>
            </a:r>
          </a:p>
        </p:txBody>
      </p:sp>
      <p:sp>
        <p:nvSpPr>
          <p:cNvPr id="54" name="Line 15"/>
          <p:cNvSpPr>
            <a:spLocks noChangeShapeType="1"/>
          </p:cNvSpPr>
          <p:nvPr/>
        </p:nvSpPr>
        <p:spPr bwMode="auto">
          <a:xfrm>
            <a:off x="5269853" y="3733186"/>
            <a:ext cx="0" cy="411193"/>
          </a:xfrm>
          <a:prstGeom prst="line">
            <a:avLst/>
          </a:prstGeom>
          <a:noFill/>
          <a:ln w="127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5" name="Rectangle 41"/>
          <p:cNvSpPr>
            <a:spLocks noChangeArrowheads="1"/>
          </p:cNvSpPr>
          <p:nvPr/>
        </p:nvSpPr>
        <p:spPr bwMode="auto">
          <a:xfrm>
            <a:off x="976778" y="1916309"/>
            <a:ext cx="2359107" cy="241007"/>
          </a:xfrm>
          <a:prstGeom prst="rect">
            <a:avLst/>
          </a:prstGeom>
          <a:solidFill>
            <a:srgbClr val="00FFFF"/>
          </a:solidFill>
          <a:ln w="12700">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56" name="Line 42"/>
          <p:cNvSpPr>
            <a:spLocks noChangeShapeType="1"/>
          </p:cNvSpPr>
          <p:nvPr/>
        </p:nvSpPr>
        <p:spPr bwMode="auto">
          <a:xfrm rot="16200000">
            <a:off x="1444106" y="2038241"/>
            <a:ext cx="24386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7" name="Line 43"/>
          <p:cNvSpPr>
            <a:spLocks noChangeShapeType="1"/>
          </p:cNvSpPr>
          <p:nvPr/>
        </p:nvSpPr>
        <p:spPr bwMode="auto">
          <a:xfrm rot="16200000">
            <a:off x="2033923" y="2038718"/>
            <a:ext cx="24481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8" name="Text Box 44"/>
          <p:cNvSpPr txBox="1">
            <a:spLocks noChangeArrowheads="1"/>
          </p:cNvSpPr>
          <p:nvPr/>
        </p:nvSpPr>
        <p:spPr bwMode="auto">
          <a:xfrm>
            <a:off x="2458702" y="1915395"/>
            <a:ext cx="6335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必为 </a:t>
            </a:r>
            <a:r>
              <a:rPr kumimoji="1" lang="en-US" altLang="zh-CN" sz="1200" b="1">
                <a:latin typeface="微软雅黑" pitchFamily="34" charset="-122"/>
                <a:ea typeface="微软雅黑" pitchFamily="34" charset="-122"/>
              </a:rPr>
              <a:t>0</a:t>
            </a:r>
          </a:p>
        </p:txBody>
      </p:sp>
      <p:sp>
        <p:nvSpPr>
          <p:cNvPr id="59" name="Text Box 45"/>
          <p:cNvSpPr txBox="1">
            <a:spLocks noChangeArrowheads="1"/>
          </p:cNvSpPr>
          <p:nvPr/>
        </p:nvSpPr>
        <p:spPr bwMode="auto">
          <a:xfrm>
            <a:off x="1647565" y="1911584"/>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版本</a:t>
            </a:r>
          </a:p>
        </p:txBody>
      </p:sp>
      <p:sp>
        <p:nvSpPr>
          <p:cNvPr id="60" name="Text Box 46"/>
          <p:cNvSpPr txBox="1">
            <a:spLocks noChangeArrowheads="1"/>
          </p:cNvSpPr>
          <p:nvPr/>
        </p:nvSpPr>
        <p:spPr bwMode="auto">
          <a:xfrm>
            <a:off x="1046953" y="1904916"/>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命令</a:t>
            </a:r>
          </a:p>
        </p:txBody>
      </p:sp>
      <p:cxnSp>
        <p:nvCxnSpPr>
          <p:cNvPr id="63" name="肘形连接符 62"/>
          <p:cNvCxnSpPr/>
          <p:nvPr/>
        </p:nvCxnSpPr>
        <p:spPr>
          <a:xfrm rot="16200000" flipH="1">
            <a:off x="5960690" y="2217125"/>
            <a:ext cx="1023883" cy="566091"/>
          </a:xfrm>
          <a:prstGeom prst="bentConnector3">
            <a:avLst/>
          </a:prstGeom>
          <a:ln w="12700">
            <a:solidFill>
              <a:srgbClr val="0070C0"/>
            </a:solidFill>
          </a:ln>
        </p:spPr>
        <p:style>
          <a:lnRef idx="1">
            <a:schemeClr val="accent1"/>
          </a:lnRef>
          <a:fillRef idx="0">
            <a:schemeClr val="accent1"/>
          </a:fillRef>
          <a:effectRef idx="0">
            <a:schemeClr val="accent1"/>
          </a:effectRef>
          <a:fontRef idx="minor">
            <a:schemeClr val="tx1"/>
          </a:fontRef>
        </p:style>
      </p:cxnSp>
      <p:sp>
        <p:nvSpPr>
          <p:cNvPr id="2" name="矩形 1"/>
          <p:cNvSpPr/>
          <p:nvPr/>
        </p:nvSpPr>
        <p:spPr>
          <a:xfrm>
            <a:off x="6341744" y="1253822"/>
            <a:ext cx="2036373" cy="1077218"/>
          </a:xfrm>
          <a:prstGeom prst="rect">
            <a:avLst/>
          </a:prstGeom>
          <a:solidFill>
            <a:schemeClr val="bg1"/>
          </a:solidFill>
        </p:spPr>
        <p:txBody>
          <a:bodyPr wrap="square">
            <a:spAutoFit/>
          </a:bodyPr>
          <a:lstStyle/>
          <a:p>
            <a:r>
              <a:rPr lang="en-US" altLang="zh-CN" sz="1600" b="1" dirty="0">
                <a:latin typeface="微软雅黑" panose="020B0503020204020204" pitchFamily="34" charset="-122"/>
                <a:ea typeface="微软雅黑" panose="020B0503020204020204" pitchFamily="34" charset="-122"/>
              </a:rPr>
              <a:t>RIP2 </a:t>
            </a:r>
            <a:r>
              <a:rPr lang="zh-CN" altLang="en-US" sz="1600" b="1" dirty="0">
                <a:latin typeface="微软雅黑" panose="020B0503020204020204" pitchFamily="34" charset="-122"/>
                <a:ea typeface="微软雅黑" panose="020B0503020204020204" pitchFamily="34" charset="-122"/>
              </a:rPr>
              <a:t>支持无分类域间路由选择 </a:t>
            </a:r>
            <a:r>
              <a:rPr lang="en-US" altLang="zh-CN" sz="1600" b="1" dirty="0">
                <a:latin typeface="微软雅黑" panose="020B0503020204020204" pitchFamily="34" charset="-122"/>
                <a:ea typeface="微软雅黑" panose="020B0503020204020204" pitchFamily="34" charset="-122"/>
              </a:rPr>
              <a:t>CIDR</a:t>
            </a:r>
            <a:r>
              <a:rPr lang="zh-CN" altLang="en-US" sz="1600" b="1" dirty="0">
                <a:latin typeface="微软雅黑" panose="020B0503020204020204" pitchFamily="34" charset="-122"/>
                <a:ea typeface="微软雅黑" panose="020B0503020204020204" pitchFamily="34" charset="-122"/>
              </a:rPr>
              <a:t>，提供简单的鉴别，支持多播。</a:t>
            </a:r>
          </a:p>
        </p:txBody>
      </p:sp>
      <p:sp>
        <p:nvSpPr>
          <p:cNvPr id="3" name="矩形 2"/>
          <p:cNvSpPr/>
          <p:nvPr/>
        </p:nvSpPr>
        <p:spPr>
          <a:xfrm>
            <a:off x="1218957" y="4331211"/>
            <a:ext cx="6929549" cy="338554"/>
          </a:xfrm>
          <a:prstGeom prst="rect">
            <a:avLst/>
          </a:prstGeom>
          <a:solidFill>
            <a:schemeClr val="bg1"/>
          </a:solidFill>
        </p:spPr>
        <p:txBody>
          <a:bodyPr wrap="square">
            <a:spAutoFit/>
          </a:bodyPr>
          <a:lstStyle/>
          <a:p>
            <a:pPr algn="ctr"/>
            <a:r>
              <a:rPr lang="en-US" altLang="zh-CN" sz="1600" b="1" dirty="0">
                <a:latin typeface="微软雅黑" panose="020B0503020204020204" pitchFamily="34" charset="-122"/>
                <a:ea typeface="微软雅黑" panose="020B0503020204020204" pitchFamily="34" charset="-122"/>
              </a:rPr>
              <a:t>RIP2 </a:t>
            </a:r>
            <a:r>
              <a:rPr lang="zh-CN" altLang="en-US" sz="1600" b="1" dirty="0">
                <a:latin typeface="微软雅黑" panose="020B0503020204020204" pitchFamily="34" charset="-122"/>
                <a:ea typeface="微软雅黑" panose="020B0503020204020204" pitchFamily="34" charset="-122"/>
              </a:rPr>
              <a:t>的报文用使用 </a:t>
            </a:r>
            <a:r>
              <a:rPr lang="en-US" altLang="zh-CN" sz="1600" b="1" dirty="0">
                <a:latin typeface="微软雅黑" panose="020B0503020204020204" pitchFamily="34" charset="-122"/>
                <a:ea typeface="微软雅黑" panose="020B0503020204020204" pitchFamily="34" charset="-122"/>
              </a:rPr>
              <a:t>UDP </a:t>
            </a:r>
            <a:r>
              <a:rPr lang="zh-CN" altLang="en-US" sz="1600" b="1" dirty="0">
                <a:latin typeface="微软雅黑" panose="020B0503020204020204" pitchFamily="34" charset="-122"/>
                <a:ea typeface="微软雅黑" panose="020B0503020204020204" pitchFamily="34" charset="-122"/>
              </a:rPr>
              <a:t>传送（使用 </a:t>
            </a:r>
            <a:r>
              <a:rPr lang="en-US" altLang="zh-CN" sz="1600" b="1" dirty="0">
                <a:latin typeface="微软雅黑" panose="020B0503020204020204" pitchFamily="34" charset="-122"/>
                <a:ea typeface="微软雅黑" panose="020B0503020204020204" pitchFamily="34" charset="-122"/>
              </a:rPr>
              <a:t>UDP </a:t>
            </a:r>
            <a:r>
              <a:rPr lang="zh-CN" altLang="en-US" sz="1600" b="1" dirty="0">
                <a:latin typeface="微软雅黑" panose="020B0503020204020204" pitchFamily="34" charset="-122"/>
                <a:ea typeface="微软雅黑" panose="020B0503020204020204" pitchFamily="34" charset="-122"/>
              </a:rPr>
              <a:t>端口 </a:t>
            </a:r>
            <a:r>
              <a:rPr lang="en-US" altLang="zh-CN" sz="1600" b="1" dirty="0">
                <a:latin typeface="微软雅黑" panose="020B0503020204020204" pitchFamily="34" charset="-122"/>
                <a:ea typeface="微软雅黑" panose="020B0503020204020204" pitchFamily="34" charset="-122"/>
              </a:rPr>
              <a:t>520</a:t>
            </a:r>
            <a:r>
              <a:rPr lang="zh-CN" altLang="en-US" sz="1600" b="1" dirty="0">
                <a:latin typeface="微软雅黑" panose="020B0503020204020204" pitchFamily="34" charset="-122"/>
                <a:ea typeface="微软雅黑" panose="020B0503020204020204" pitchFamily="34" charset="-122"/>
              </a:rPr>
              <a:t>）。</a:t>
            </a:r>
          </a:p>
        </p:txBody>
      </p:sp>
      <p:sp>
        <p:nvSpPr>
          <p:cNvPr id="61" name="AutoShape 5"/>
          <p:cNvSpPr>
            <a:spLocks noChangeArrowheads="1"/>
          </p:cNvSpPr>
          <p:nvPr/>
        </p:nvSpPr>
        <p:spPr bwMode="auto">
          <a:xfrm>
            <a:off x="545144" y="625769"/>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2" name="矩形 61"/>
          <p:cNvSpPr/>
          <p:nvPr/>
        </p:nvSpPr>
        <p:spPr>
          <a:xfrm>
            <a:off x="616085" y="575793"/>
            <a:ext cx="1367682" cy="400110"/>
          </a:xfrm>
          <a:prstGeom prst="rect">
            <a:avLst/>
          </a:prstGeom>
        </p:spPr>
        <p:txBody>
          <a:bodyPr wrap="none">
            <a:spAutoFit/>
          </a:bodyPr>
          <a:lstStyle/>
          <a:p>
            <a:r>
              <a:rPr lang="en-US" altLang="zh-CN" sz="2000" b="1" dirty="0">
                <a:latin typeface="微软雅黑" pitchFamily="34" charset="-122"/>
                <a:ea typeface="微软雅黑" pitchFamily="34" charset="-122"/>
              </a:rPr>
              <a:t>RIP2 </a:t>
            </a:r>
            <a:r>
              <a:rPr lang="zh-CN" altLang="en-US" sz="2000" b="1" dirty="0">
                <a:latin typeface="微软雅黑" pitchFamily="34" charset="-122"/>
                <a:ea typeface="微软雅黑" pitchFamily="34" charset="-122"/>
              </a:rPr>
              <a:t>报文</a:t>
            </a:r>
          </a:p>
        </p:txBody>
      </p:sp>
    </p:spTree>
    <p:extLst>
      <p:ext uri="{BB962C8B-B14F-4D97-AF65-F5344CB8AC3E}">
        <p14:creationId xmlns:p14="http://schemas.microsoft.com/office/powerpoint/2010/main" val="180721100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5769"/>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75793"/>
            <a:ext cx="1367682" cy="400110"/>
          </a:xfrm>
          <a:prstGeom prst="rect">
            <a:avLst/>
          </a:prstGeom>
        </p:spPr>
        <p:txBody>
          <a:bodyPr wrap="none">
            <a:spAutoFit/>
          </a:bodyPr>
          <a:lstStyle/>
          <a:p>
            <a:r>
              <a:rPr lang="en-US" altLang="zh-CN" sz="2000" b="1" dirty="0">
                <a:latin typeface="微软雅黑" pitchFamily="34" charset="-122"/>
                <a:ea typeface="微软雅黑" pitchFamily="34" charset="-122"/>
              </a:rPr>
              <a:t>RIP2 </a:t>
            </a:r>
            <a:r>
              <a:rPr lang="zh-CN" altLang="en-US" sz="2000" b="1" dirty="0">
                <a:latin typeface="微软雅黑" pitchFamily="34" charset="-122"/>
                <a:ea typeface="微软雅黑" pitchFamily="34" charset="-122"/>
              </a:rPr>
              <a:t>报文</a:t>
            </a:r>
          </a:p>
        </p:txBody>
      </p:sp>
      <p:sp>
        <p:nvSpPr>
          <p:cNvPr id="4" name="矩形 3"/>
          <p:cNvSpPr/>
          <p:nvPr/>
        </p:nvSpPr>
        <p:spPr>
          <a:xfrm>
            <a:off x="545144" y="924161"/>
            <a:ext cx="8257111" cy="3554819"/>
          </a:xfrm>
          <a:prstGeom prst="rect">
            <a:avLst/>
          </a:prstGeom>
        </p:spPr>
        <p:txBody>
          <a:bodyPr wrap="square">
            <a:spAutoFit/>
          </a:bodyPr>
          <a:lstStyle/>
          <a:p>
            <a:pPr marL="285750" indent="-28575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组成：</a:t>
            </a:r>
            <a:r>
              <a:rPr lang="zh-CN" altLang="en-US" sz="2000" b="1" dirty="0">
                <a:solidFill>
                  <a:srgbClr val="0000FF"/>
                </a:solidFill>
                <a:latin typeface="微软雅黑" pitchFamily="34" charset="-122"/>
                <a:ea typeface="微软雅黑" pitchFamily="34" charset="-122"/>
              </a:rPr>
              <a:t>首部</a:t>
            </a:r>
            <a:r>
              <a:rPr lang="zh-CN" altLang="en-US" sz="2000" b="1" dirty="0">
                <a:latin typeface="微软雅黑" pitchFamily="34" charset="-122"/>
                <a:ea typeface="微软雅黑" pitchFamily="34" charset="-122"/>
              </a:rPr>
              <a:t>和</a:t>
            </a:r>
            <a:r>
              <a:rPr lang="zh-CN" altLang="en-US" sz="2000" b="1" dirty="0">
                <a:solidFill>
                  <a:srgbClr val="0000FF"/>
                </a:solidFill>
                <a:latin typeface="微软雅黑" pitchFamily="34" charset="-122"/>
                <a:ea typeface="微软雅黑" pitchFamily="34" charset="-122"/>
              </a:rPr>
              <a:t>路由 </a:t>
            </a:r>
            <a:r>
              <a:rPr lang="en-US" altLang="zh-CN" sz="2000" b="1" dirty="0">
                <a:latin typeface="微软雅黑" pitchFamily="34" charset="-122"/>
                <a:ea typeface="微软雅黑" pitchFamily="34" charset="-122"/>
              </a:rPr>
              <a:t>2 </a:t>
            </a:r>
            <a:r>
              <a:rPr lang="zh-CN" altLang="en-US" sz="2000" b="1" dirty="0">
                <a:latin typeface="微软雅黑" pitchFamily="34" charset="-122"/>
                <a:ea typeface="微软雅黑" pitchFamily="34" charset="-122"/>
              </a:rPr>
              <a:t>个部分。</a:t>
            </a:r>
          </a:p>
          <a:p>
            <a:pPr marL="285750" indent="-285750">
              <a:lnSpc>
                <a:spcPts val="30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路由部分：</a:t>
            </a:r>
            <a:r>
              <a:rPr lang="zh-CN" altLang="en-US" sz="2000" b="1" dirty="0">
                <a:latin typeface="微软雅黑" pitchFamily="34" charset="-122"/>
                <a:ea typeface="微软雅黑" pitchFamily="34" charset="-122"/>
              </a:rPr>
              <a:t>由若干个路由信息组成。每个路由信息共 </a:t>
            </a:r>
            <a:r>
              <a:rPr lang="en-US" altLang="zh-CN" sz="2000" b="1" dirty="0">
                <a:latin typeface="微软雅黑" pitchFamily="34" charset="-122"/>
                <a:ea typeface="微软雅黑" pitchFamily="34" charset="-122"/>
              </a:rPr>
              <a:t>20 </a:t>
            </a:r>
            <a:r>
              <a:rPr lang="zh-CN" altLang="en-US" sz="2000" b="1" dirty="0">
                <a:latin typeface="微软雅黑" pitchFamily="34" charset="-122"/>
                <a:ea typeface="微软雅黑" pitchFamily="34" charset="-122"/>
              </a:rPr>
              <a:t>个字节。</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solidFill>
                  <a:srgbClr val="C00000"/>
                </a:solidFill>
                <a:latin typeface="微软雅黑" pitchFamily="34" charset="-122"/>
                <a:ea typeface="微软雅黑" pitchFamily="34" charset="-122"/>
              </a:rPr>
              <a:t>地址族标识符</a:t>
            </a:r>
            <a:r>
              <a:rPr lang="zh-CN" altLang="en-US" sz="2000" b="1" dirty="0">
                <a:latin typeface="微软雅黑" pitchFamily="34" charset="-122"/>
                <a:ea typeface="微软雅黑" pitchFamily="34" charset="-122"/>
              </a:rPr>
              <a:t>（又称为地址类别）字段用来标志所使用的地址协议。</a:t>
            </a:r>
          </a:p>
          <a:p>
            <a:pPr marL="598488" lvl="1" indent="-342900">
              <a:lnSpc>
                <a:spcPts val="3000"/>
              </a:lnSpc>
              <a:buClr>
                <a:srgbClr val="7030A0"/>
              </a:buClr>
              <a:buSzPct val="75000"/>
              <a:buFont typeface="Wingdings" pitchFamily="2" charset="2"/>
              <a:buChar char="u"/>
            </a:pPr>
            <a:r>
              <a:rPr lang="zh-CN" altLang="en-US" sz="2000" b="1" dirty="0">
                <a:solidFill>
                  <a:srgbClr val="C00000"/>
                </a:solidFill>
                <a:latin typeface="微软雅黑" pitchFamily="34" charset="-122"/>
                <a:ea typeface="微软雅黑" pitchFamily="34" charset="-122"/>
              </a:rPr>
              <a:t>路由标记</a:t>
            </a:r>
            <a:r>
              <a:rPr lang="zh-CN" altLang="en-US" sz="2000" b="1" dirty="0">
                <a:latin typeface="微软雅黑" pitchFamily="34" charset="-122"/>
                <a:ea typeface="微软雅黑" pitchFamily="34" charset="-122"/>
              </a:rPr>
              <a:t>填入自治系统的号码。</a:t>
            </a: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后面为</a:t>
            </a:r>
            <a:r>
              <a:rPr lang="zh-CN" altLang="en-US" sz="2000" b="1" dirty="0">
                <a:solidFill>
                  <a:srgbClr val="C00000"/>
                </a:solidFill>
                <a:latin typeface="微软雅黑" pitchFamily="34" charset="-122"/>
                <a:ea typeface="微软雅黑" pitchFamily="34" charset="-122"/>
              </a:rPr>
              <a:t>具体路由</a:t>
            </a:r>
            <a:r>
              <a:rPr lang="zh-CN" altLang="en-US" sz="2000" b="1" dirty="0">
                <a:latin typeface="微软雅黑" pitchFamily="34" charset="-122"/>
                <a:ea typeface="微软雅黑" pitchFamily="34" charset="-122"/>
              </a:rPr>
              <a:t>，指出某个网络地址、该网络的子网掩码、下一跳路由器地址以及到此网络的距离。 </a:t>
            </a:r>
            <a:endParaRPr lang="en-US" altLang="zh-CN" sz="2000" b="1" dirty="0">
              <a:latin typeface="微软雅黑" pitchFamily="34" charset="-122"/>
              <a:ea typeface="微软雅黑" pitchFamily="34" charset="-122"/>
            </a:endParaRPr>
          </a:p>
          <a:p>
            <a:pPr marL="285750" lvl="1" indent="-285750">
              <a:lnSpc>
                <a:spcPts val="3000"/>
              </a:lnSpc>
              <a:buClr>
                <a:srgbClr val="0070C0"/>
              </a:buClr>
              <a:buSzPct val="75000"/>
              <a:buFont typeface="Wingdings" pitchFamily="2" charset="2"/>
              <a:buChar char="l"/>
            </a:pPr>
            <a:r>
              <a:rPr lang="zh-CN" altLang="en-US" sz="2000" b="1" dirty="0">
                <a:latin typeface="微软雅黑" pitchFamily="34" charset="-122"/>
                <a:ea typeface="微软雅黑" pitchFamily="34" charset="-122"/>
              </a:rPr>
              <a:t>一个 </a:t>
            </a:r>
            <a:r>
              <a:rPr lang="en-US" altLang="zh-CN" sz="2000" b="1" dirty="0">
                <a:latin typeface="微软雅黑" pitchFamily="34" charset="-122"/>
                <a:ea typeface="微软雅黑" pitchFamily="34" charset="-122"/>
              </a:rPr>
              <a:t>RIP </a:t>
            </a:r>
            <a:r>
              <a:rPr lang="zh-CN" altLang="en-US" sz="2000" b="1" dirty="0">
                <a:latin typeface="微软雅黑" pitchFamily="34" charset="-122"/>
                <a:ea typeface="微软雅黑" pitchFamily="34" charset="-122"/>
              </a:rPr>
              <a:t>报文</a:t>
            </a:r>
            <a:r>
              <a:rPr lang="zh-CN" altLang="en-US" sz="2000" b="1" dirty="0">
                <a:solidFill>
                  <a:srgbClr val="C00000"/>
                </a:solidFill>
                <a:latin typeface="微软雅黑" pitchFamily="34" charset="-122"/>
                <a:ea typeface="微软雅黑" pitchFamily="34" charset="-122"/>
              </a:rPr>
              <a:t>最多</a:t>
            </a:r>
            <a:r>
              <a:rPr lang="zh-CN" altLang="en-US" sz="2000" b="1" dirty="0">
                <a:latin typeface="微软雅黑" pitchFamily="34" charset="-122"/>
                <a:ea typeface="微软雅黑" pitchFamily="34" charset="-122"/>
              </a:rPr>
              <a:t>可包括 </a:t>
            </a:r>
            <a:r>
              <a:rPr lang="en-US" altLang="zh-CN" sz="2000" b="1" dirty="0">
                <a:latin typeface="微软雅黑" pitchFamily="34" charset="-122"/>
                <a:ea typeface="微软雅黑" pitchFamily="34" charset="-122"/>
              </a:rPr>
              <a:t>25 </a:t>
            </a:r>
            <a:r>
              <a:rPr lang="zh-CN" altLang="en-US" sz="2000" b="1" dirty="0">
                <a:latin typeface="微软雅黑" pitchFamily="34" charset="-122"/>
                <a:ea typeface="微软雅黑" pitchFamily="34" charset="-122"/>
              </a:rPr>
              <a:t>个路由，因而 </a:t>
            </a:r>
            <a:r>
              <a:rPr lang="en-US" altLang="zh-CN" sz="2000" b="1" dirty="0">
                <a:latin typeface="微软雅黑" pitchFamily="34" charset="-122"/>
                <a:ea typeface="微软雅黑" pitchFamily="34" charset="-122"/>
              </a:rPr>
              <a:t>RIP </a:t>
            </a:r>
            <a:r>
              <a:rPr lang="zh-CN" altLang="en-US" sz="2000" b="1" dirty="0">
                <a:latin typeface="微软雅黑" pitchFamily="34" charset="-122"/>
                <a:ea typeface="微软雅黑" pitchFamily="34" charset="-122"/>
              </a:rPr>
              <a:t>报文的最大长度是 </a:t>
            </a:r>
            <a:r>
              <a:rPr lang="en-US" altLang="zh-CN" sz="2000" b="1" dirty="0">
                <a:latin typeface="微软雅黑" pitchFamily="34" charset="-122"/>
                <a:ea typeface="微软雅黑" pitchFamily="34" charset="-122"/>
              </a:rPr>
              <a:t>4+20 x25=504 </a:t>
            </a:r>
            <a:r>
              <a:rPr lang="zh-CN" altLang="en-US" sz="2000" b="1" dirty="0">
                <a:latin typeface="微软雅黑" pitchFamily="34" charset="-122"/>
                <a:ea typeface="微软雅黑" pitchFamily="34" charset="-122"/>
              </a:rPr>
              <a:t>字节。如超过，必须再用一个 </a:t>
            </a:r>
            <a:r>
              <a:rPr lang="en-US" altLang="zh-CN" sz="2000" b="1" dirty="0">
                <a:latin typeface="微软雅黑" pitchFamily="34" charset="-122"/>
                <a:ea typeface="微软雅黑" pitchFamily="34" charset="-122"/>
              </a:rPr>
              <a:t>RIP </a:t>
            </a:r>
            <a:r>
              <a:rPr lang="zh-CN" altLang="en-US" sz="2000" b="1" dirty="0">
                <a:latin typeface="微软雅黑" pitchFamily="34" charset="-122"/>
                <a:ea typeface="微软雅黑" pitchFamily="34" charset="-122"/>
              </a:rPr>
              <a:t>报文来传送。</a:t>
            </a:r>
          </a:p>
          <a:p>
            <a:pPr marL="285750" lvl="1" indent="-285750">
              <a:lnSpc>
                <a:spcPts val="3000"/>
              </a:lnSpc>
              <a:buClr>
                <a:srgbClr val="0070C0"/>
              </a:buClr>
              <a:buSzPct val="75000"/>
              <a:buFont typeface="Wingdings" pitchFamily="2" charset="2"/>
              <a:buChar char="l"/>
            </a:pPr>
            <a:r>
              <a:rPr lang="en-US" altLang="zh-CN" sz="2000" b="1" dirty="0">
                <a:latin typeface="微软雅黑" pitchFamily="34" charset="-122"/>
                <a:ea typeface="微软雅黑" pitchFamily="34" charset="-122"/>
              </a:rPr>
              <a:t>RIP2 </a:t>
            </a:r>
            <a:r>
              <a:rPr lang="zh-CN" altLang="en-US" sz="2000" b="1" dirty="0">
                <a:latin typeface="微软雅黑" pitchFamily="34" charset="-122"/>
                <a:ea typeface="微软雅黑" pitchFamily="34" charset="-122"/>
              </a:rPr>
              <a:t>具有简单的鉴别功能。</a:t>
            </a:r>
          </a:p>
        </p:txBody>
      </p:sp>
    </p:spTree>
    <p:extLst>
      <p:ext uri="{BB962C8B-B14F-4D97-AF65-F5344CB8AC3E}">
        <p14:creationId xmlns:p14="http://schemas.microsoft.com/office/powerpoint/2010/main" val="144751880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1793"/>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41968" y="58858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坏消息传播得慢</a:t>
            </a:r>
          </a:p>
        </p:txBody>
      </p:sp>
      <p:sp>
        <p:nvSpPr>
          <p:cNvPr id="5" name="矩形 4"/>
          <p:cNvSpPr/>
          <p:nvPr/>
        </p:nvSpPr>
        <p:spPr>
          <a:xfrm>
            <a:off x="545144" y="986921"/>
            <a:ext cx="8053712" cy="938719"/>
          </a:xfrm>
          <a:prstGeom prst="rect">
            <a:avLst/>
          </a:prstGeom>
        </p:spPr>
        <p:txBody>
          <a:bodyPr wrap="square">
            <a:spAutoFit/>
          </a:bodyPr>
          <a:lstStyle/>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RIP </a:t>
            </a:r>
            <a:r>
              <a:rPr lang="zh-CN" altLang="en-US" sz="2000" b="1" dirty="0">
                <a:latin typeface="微软雅黑" pitchFamily="34" charset="-122"/>
                <a:ea typeface="微软雅黑" pitchFamily="34" charset="-122"/>
              </a:rPr>
              <a:t>协议</a:t>
            </a:r>
            <a:r>
              <a:rPr lang="zh-CN" altLang="en-US" sz="2000" b="1" dirty="0">
                <a:solidFill>
                  <a:srgbClr val="0000FF"/>
                </a:solidFill>
                <a:latin typeface="微软雅黑" pitchFamily="34" charset="-122"/>
                <a:ea typeface="微软雅黑" pitchFamily="34" charset="-122"/>
              </a:rPr>
              <a:t>特点：</a:t>
            </a:r>
            <a:r>
              <a:rPr lang="zh-CN" altLang="en-US" sz="2000" b="1" dirty="0">
                <a:latin typeface="微软雅黑" pitchFamily="34" charset="-122"/>
                <a:ea typeface="微软雅黑" pitchFamily="34" charset="-122"/>
              </a:rPr>
              <a:t>好消息传播得快，坏消息传播得慢。</a:t>
            </a:r>
          </a:p>
          <a:p>
            <a:pPr marL="285750" indent="-28575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问题：</a:t>
            </a:r>
            <a:r>
              <a:rPr lang="zh-CN" altLang="en-US" sz="2000" b="1" dirty="0">
                <a:latin typeface="微软雅黑" pitchFamily="34" charset="-122"/>
                <a:ea typeface="微软雅黑" pitchFamily="34" charset="-122"/>
              </a:rPr>
              <a:t>坏消息传播得慢（</a:t>
            </a:r>
            <a:r>
              <a:rPr lang="zh-CN" altLang="en-US" sz="2000" b="1" dirty="0">
                <a:solidFill>
                  <a:srgbClr val="C00000"/>
                </a:solidFill>
                <a:latin typeface="微软雅黑" pitchFamily="34" charset="-122"/>
                <a:ea typeface="微软雅黑" pitchFamily="34" charset="-122"/>
              </a:rPr>
              <a:t>慢收敛</a:t>
            </a:r>
            <a:r>
              <a:rPr lang="zh-CN" altLang="en-US" sz="2000" b="1" dirty="0">
                <a:latin typeface="微软雅黑" pitchFamily="34" charset="-122"/>
                <a:ea typeface="微软雅黑" pitchFamily="34" charset="-122"/>
              </a:rPr>
              <a:t>）。</a:t>
            </a:r>
          </a:p>
        </p:txBody>
      </p:sp>
      <p:sp>
        <p:nvSpPr>
          <p:cNvPr id="7" name="对角圆角矩形 6"/>
          <p:cNvSpPr/>
          <p:nvPr/>
        </p:nvSpPr>
        <p:spPr>
          <a:xfrm>
            <a:off x="944686" y="2088650"/>
            <a:ext cx="6813859" cy="1208732"/>
          </a:xfrm>
          <a:prstGeom prst="round2Diag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矩形 7"/>
          <p:cNvSpPr/>
          <p:nvPr/>
        </p:nvSpPr>
        <p:spPr>
          <a:xfrm>
            <a:off x="1095486" y="2261225"/>
            <a:ext cx="6542986" cy="861774"/>
          </a:xfrm>
          <a:prstGeom prst="rect">
            <a:avLst/>
          </a:prstGeom>
        </p:spPr>
        <p:txBody>
          <a:bodyPr wrap="square">
            <a:spAutoFit/>
          </a:bodyPr>
          <a:lstStyle/>
          <a:p>
            <a:pPr>
              <a:lnSpc>
                <a:spcPts val="3000"/>
              </a:lnSpc>
            </a:pPr>
            <a:r>
              <a:rPr lang="zh-CN" altLang="en-US" sz="2000" b="1" dirty="0">
                <a:solidFill>
                  <a:schemeClr val="bg1"/>
                </a:solidFill>
                <a:latin typeface="微软雅黑" pitchFamily="34" charset="-122"/>
                <a:ea typeface="微软雅黑" pitchFamily="34" charset="-122"/>
              </a:rPr>
              <a:t>当网络出现故障时，要经过比较长的时间才能将此信息（坏消息）传送到所有的路由器。</a:t>
            </a:r>
          </a:p>
        </p:txBody>
      </p:sp>
    </p:spTree>
    <p:extLst>
      <p:ext uri="{BB962C8B-B14F-4D97-AF65-F5344CB8AC3E}">
        <p14:creationId xmlns:p14="http://schemas.microsoft.com/office/powerpoint/2010/main" val="180161334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圆角矩形 129"/>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Line 2"/>
          <p:cNvSpPr>
            <a:spLocks noChangeShapeType="1"/>
          </p:cNvSpPr>
          <p:nvPr/>
        </p:nvSpPr>
        <p:spPr bwMode="auto">
          <a:xfrm>
            <a:off x="2416723" y="1233220"/>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pic>
        <p:nvPicPr>
          <p:cNvPr id="6" name="Picture 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47028" y="1137872"/>
            <a:ext cx="483796"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 name="Text Box 4"/>
          <p:cNvSpPr txBox="1">
            <a:spLocks noChangeArrowheads="1"/>
          </p:cNvSpPr>
          <p:nvPr/>
        </p:nvSpPr>
        <p:spPr bwMode="auto">
          <a:xfrm>
            <a:off x="5578787" y="1290624"/>
            <a:ext cx="37061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solidFill>
                  <a:srgbClr val="0000FF"/>
                </a:solidFill>
                <a:latin typeface="微软雅黑" pitchFamily="34" charset="-122"/>
                <a:ea typeface="微软雅黑" pitchFamily="34" charset="-122"/>
              </a:rPr>
              <a:t>R</a:t>
            </a:r>
            <a:r>
              <a:rPr kumimoji="1" lang="en-US" altLang="zh-CN" sz="1300" b="1" baseline="-25000">
                <a:solidFill>
                  <a:srgbClr val="0000FF"/>
                </a:solidFill>
                <a:latin typeface="微软雅黑" pitchFamily="34" charset="-122"/>
                <a:ea typeface="微软雅黑" pitchFamily="34" charset="-122"/>
              </a:rPr>
              <a:t>2</a:t>
            </a:r>
            <a:endParaRPr kumimoji="1" lang="en-US" altLang="zh-CN" sz="1300" b="1">
              <a:solidFill>
                <a:srgbClr val="0000FF"/>
              </a:solidFill>
              <a:latin typeface="微软雅黑" pitchFamily="34" charset="-122"/>
              <a:ea typeface="微软雅黑" pitchFamily="34" charset="-122"/>
            </a:endParaRPr>
          </a:p>
        </p:txBody>
      </p:sp>
      <p:sp>
        <p:nvSpPr>
          <p:cNvPr id="8" name="Text Box 5"/>
          <p:cNvSpPr txBox="1">
            <a:spLocks noChangeArrowheads="1"/>
          </p:cNvSpPr>
          <p:nvPr/>
        </p:nvSpPr>
        <p:spPr bwMode="auto">
          <a:xfrm>
            <a:off x="3190375" y="1290624"/>
            <a:ext cx="37061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dirty="0">
                <a:solidFill>
                  <a:srgbClr val="0000FF"/>
                </a:solidFill>
                <a:latin typeface="微软雅黑" pitchFamily="34" charset="-122"/>
                <a:ea typeface="微软雅黑" pitchFamily="34" charset="-122"/>
              </a:rPr>
              <a:t>R</a:t>
            </a:r>
            <a:r>
              <a:rPr kumimoji="1" lang="en-US" altLang="zh-CN" sz="1300" b="1" baseline="-25000" dirty="0">
                <a:solidFill>
                  <a:srgbClr val="0000FF"/>
                </a:solidFill>
                <a:latin typeface="微软雅黑" pitchFamily="34" charset="-122"/>
                <a:ea typeface="微软雅黑" pitchFamily="34" charset="-122"/>
              </a:rPr>
              <a:t>1</a:t>
            </a:r>
            <a:endParaRPr kumimoji="1" lang="en-US" altLang="zh-CN" sz="1300" b="1" dirty="0">
              <a:solidFill>
                <a:srgbClr val="0000FF"/>
              </a:solidFill>
              <a:latin typeface="微软雅黑" pitchFamily="34" charset="-122"/>
              <a:ea typeface="微软雅黑" pitchFamily="34" charset="-122"/>
            </a:endParaRPr>
          </a:p>
        </p:txBody>
      </p:sp>
      <p:pic>
        <p:nvPicPr>
          <p:cNvPr id="9" name="Picture 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34387" y="1137872"/>
            <a:ext cx="484850"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0" name="Group 7"/>
          <p:cNvGrpSpPr>
            <a:grpSpLocks/>
          </p:cNvGrpSpPr>
          <p:nvPr/>
        </p:nvGrpSpPr>
        <p:grpSpPr bwMode="auto">
          <a:xfrm>
            <a:off x="1793796" y="968580"/>
            <a:ext cx="783138" cy="526362"/>
            <a:chOff x="4830" y="1752"/>
            <a:chExt cx="667" cy="477"/>
          </a:xfrm>
          <a:solidFill>
            <a:srgbClr val="00FFFF"/>
          </a:solidFill>
        </p:grpSpPr>
        <p:grpSp>
          <p:nvGrpSpPr>
            <p:cNvPr id="11" name="Group 8"/>
            <p:cNvGrpSpPr>
              <a:grpSpLocks/>
            </p:cNvGrpSpPr>
            <p:nvPr/>
          </p:nvGrpSpPr>
          <p:grpSpPr bwMode="auto">
            <a:xfrm>
              <a:off x="4830" y="1752"/>
              <a:ext cx="667" cy="477"/>
              <a:chOff x="2949" y="196"/>
              <a:chExt cx="941" cy="598"/>
            </a:xfrm>
            <a:grpFill/>
          </p:grpSpPr>
          <p:sp>
            <p:nvSpPr>
              <p:cNvPr id="13" name="Oval 9"/>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14" name="Oval 10"/>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15" name="Oval 11"/>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16" name="Oval 12"/>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17" name="Oval 13"/>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18" name="Oval 14"/>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19" name="Oval 15"/>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20" name="Oval 16"/>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21" name="Freeform 1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sp>
            <p:nvSpPr>
              <p:cNvPr id="22" name="Freeform 1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sp>
            <p:nvSpPr>
              <p:cNvPr id="23" name="Freeform 1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grpSp>
        <p:sp>
          <p:nvSpPr>
            <p:cNvPr id="12" name="Text Box 20"/>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dirty="0">
                  <a:solidFill>
                    <a:srgbClr val="0000FF"/>
                  </a:solidFill>
                  <a:latin typeface="微软雅黑" pitchFamily="34" charset="-122"/>
                  <a:ea typeface="微软雅黑" pitchFamily="34" charset="-122"/>
                </a:rPr>
                <a:t>网 </a:t>
              </a:r>
              <a:r>
                <a:rPr kumimoji="1" lang="en-US" altLang="zh-CN" sz="1300" b="1" dirty="0">
                  <a:solidFill>
                    <a:srgbClr val="0000FF"/>
                  </a:solidFill>
                  <a:latin typeface="微软雅黑" pitchFamily="34" charset="-122"/>
                  <a:ea typeface="微软雅黑" pitchFamily="34" charset="-122"/>
                </a:rPr>
                <a:t>1</a:t>
              </a:r>
            </a:p>
          </p:txBody>
        </p:sp>
      </p:grpSp>
      <p:grpSp>
        <p:nvGrpSpPr>
          <p:cNvPr id="24" name="Group 21"/>
          <p:cNvGrpSpPr>
            <a:grpSpLocks/>
          </p:cNvGrpSpPr>
          <p:nvPr/>
        </p:nvGrpSpPr>
        <p:grpSpPr bwMode="auto">
          <a:xfrm>
            <a:off x="6444139" y="968580"/>
            <a:ext cx="783138" cy="526362"/>
            <a:chOff x="4830" y="1752"/>
            <a:chExt cx="667" cy="477"/>
          </a:xfrm>
          <a:solidFill>
            <a:srgbClr val="00FFFF"/>
          </a:solidFill>
        </p:grpSpPr>
        <p:grpSp>
          <p:nvGrpSpPr>
            <p:cNvPr id="25" name="Group 22"/>
            <p:cNvGrpSpPr>
              <a:grpSpLocks/>
            </p:cNvGrpSpPr>
            <p:nvPr/>
          </p:nvGrpSpPr>
          <p:grpSpPr bwMode="auto">
            <a:xfrm>
              <a:off x="4830" y="1752"/>
              <a:ext cx="667" cy="477"/>
              <a:chOff x="2949" y="196"/>
              <a:chExt cx="941" cy="598"/>
            </a:xfrm>
            <a:grpFill/>
          </p:grpSpPr>
          <p:sp>
            <p:nvSpPr>
              <p:cNvPr id="27" name="Oval 23"/>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28" name="Oval 24"/>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29" name="Oval 25"/>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30" name="Oval 26"/>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31" name="Oval 27"/>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32" name="Oval 28"/>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33" name="Oval 29"/>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34" name="Oval 30"/>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35" name="Freeform 31"/>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sp>
            <p:nvSpPr>
              <p:cNvPr id="36" name="Freeform 32"/>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sp>
            <p:nvSpPr>
              <p:cNvPr id="37" name="Freeform 33"/>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grpSp>
        <p:sp>
          <p:nvSpPr>
            <p:cNvPr id="26" name="Text Box 34"/>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solidFill>
                    <a:srgbClr val="0000FF"/>
                  </a:solidFill>
                  <a:latin typeface="微软雅黑" pitchFamily="34" charset="-122"/>
                  <a:ea typeface="微软雅黑" pitchFamily="34" charset="-122"/>
                </a:rPr>
                <a:t>网 </a:t>
              </a:r>
              <a:r>
                <a:rPr kumimoji="1" lang="en-US" altLang="zh-CN" sz="1300" b="1">
                  <a:solidFill>
                    <a:srgbClr val="0000FF"/>
                  </a:solidFill>
                  <a:latin typeface="微软雅黑" pitchFamily="34" charset="-122"/>
                  <a:ea typeface="微软雅黑" pitchFamily="34" charset="-122"/>
                </a:rPr>
                <a:t>3</a:t>
              </a:r>
            </a:p>
          </p:txBody>
        </p:sp>
      </p:grpSp>
      <p:grpSp>
        <p:nvGrpSpPr>
          <p:cNvPr id="38" name="Group 35"/>
          <p:cNvGrpSpPr>
            <a:grpSpLocks/>
          </p:cNvGrpSpPr>
          <p:nvPr/>
        </p:nvGrpSpPr>
        <p:grpSpPr bwMode="auto">
          <a:xfrm>
            <a:off x="4099995" y="968580"/>
            <a:ext cx="783138" cy="526362"/>
            <a:chOff x="4830" y="1752"/>
            <a:chExt cx="667" cy="477"/>
          </a:xfrm>
          <a:solidFill>
            <a:srgbClr val="00FFFF"/>
          </a:solidFill>
        </p:grpSpPr>
        <p:grpSp>
          <p:nvGrpSpPr>
            <p:cNvPr id="39" name="Group 36"/>
            <p:cNvGrpSpPr>
              <a:grpSpLocks/>
            </p:cNvGrpSpPr>
            <p:nvPr/>
          </p:nvGrpSpPr>
          <p:grpSpPr bwMode="auto">
            <a:xfrm>
              <a:off x="4830" y="1752"/>
              <a:ext cx="667" cy="477"/>
              <a:chOff x="2949" y="196"/>
              <a:chExt cx="941" cy="598"/>
            </a:xfrm>
            <a:grpFill/>
          </p:grpSpPr>
          <p:sp>
            <p:nvSpPr>
              <p:cNvPr id="41" name="Oval 37"/>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42" name="Oval 38"/>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43" name="Oval 39"/>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44" name="Oval 40"/>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45" name="Oval 41"/>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46" name="Oval 42"/>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47" name="Oval 43"/>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48" name="Oval 44"/>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49" name="Freeform 4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sp>
            <p:nvSpPr>
              <p:cNvPr id="50" name="Freeform 4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sp>
            <p:nvSpPr>
              <p:cNvPr id="51" name="Freeform 4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grpSp>
        <p:sp>
          <p:nvSpPr>
            <p:cNvPr id="40" name="Text Box 48"/>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solidFill>
                    <a:srgbClr val="0000FF"/>
                  </a:solidFill>
                  <a:latin typeface="微软雅黑" pitchFamily="34" charset="-122"/>
                  <a:ea typeface="微软雅黑" pitchFamily="34" charset="-122"/>
                </a:rPr>
                <a:t>网 </a:t>
              </a:r>
              <a:r>
                <a:rPr kumimoji="1" lang="en-US" altLang="zh-CN" sz="1300" b="1">
                  <a:solidFill>
                    <a:srgbClr val="0000FF"/>
                  </a:solidFill>
                  <a:latin typeface="微软雅黑" pitchFamily="34" charset="-122"/>
                  <a:ea typeface="微软雅黑" pitchFamily="34" charset="-122"/>
                </a:rPr>
                <a:t>2</a:t>
              </a:r>
            </a:p>
          </p:txBody>
        </p:sp>
      </p:grpSp>
      <p:sp>
        <p:nvSpPr>
          <p:cNvPr id="104" name="Text Box 101"/>
          <p:cNvSpPr txBox="1">
            <a:spLocks noChangeArrowheads="1"/>
          </p:cNvSpPr>
          <p:nvPr/>
        </p:nvSpPr>
        <p:spPr bwMode="auto">
          <a:xfrm>
            <a:off x="1486022" y="768154"/>
            <a:ext cx="351378" cy="8925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dirty="0">
                <a:solidFill>
                  <a:srgbClr val="CC00CC"/>
                </a:solidFill>
                <a:latin typeface="微软雅黑" pitchFamily="34" charset="-122"/>
                <a:ea typeface="微软雅黑" pitchFamily="34" charset="-122"/>
              </a:rPr>
              <a:t>正</a:t>
            </a:r>
          </a:p>
          <a:p>
            <a:r>
              <a:rPr kumimoji="1" lang="zh-CN" altLang="en-US" sz="1300" b="1" dirty="0">
                <a:solidFill>
                  <a:srgbClr val="CC00CC"/>
                </a:solidFill>
                <a:latin typeface="微软雅黑" pitchFamily="34" charset="-122"/>
                <a:ea typeface="微软雅黑" pitchFamily="34" charset="-122"/>
              </a:rPr>
              <a:t>常</a:t>
            </a:r>
          </a:p>
          <a:p>
            <a:r>
              <a:rPr kumimoji="1" lang="zh-CN" altLang="en-US" sz="1300" b="1" dirty="0">
                <a:solidFill>
                  <a:srgbClr val="CC00CC"/>
                </a:solidFill>
                <a:latin typeface="微软雅黑" pitchFamily="34" charset="-122"/>
                <a:ea typeface="微软雅黑" pitchFamily="34" charset="-122"/>
              </a:rPr>
              <a:t>情</a:t>
            </a:r>
          </a:p>
          <a:p>
            <a:r>
              <a:rPr kumimoji="1" lang="zh-CN" altLang="en-US" sz="1300" b="1" dirty="0">
                <a:solidFill>
                  <a:srgbClr val="CC00CC"/>
                </a:solidFill>
                <a:latin typeface="微软雅黑" pitchFamily="34" charset="-122"/>
                <a:ea typeface="微软雅黑" pitchFamily="34" charset="-122"/>
              </a:rPr>
              <a:t>况</a:t>
            </a:r>
          </a:p>
        </p:txBody>
      </p:sp>
      <p:grpSp>
        <p:nvGrpSpPr>
          <p:cNvPr id="105" name="Group 102"/>
          <p:cNvGrpSpPr>
            <a:grpSpLocks/>
          </p:cNvGrpSpPr>
          <p:nvPr/>
        </p:nvGrpSpPr>
        <p:grpSpPr bwMode="auto">
          <a:xfrm>
            <a:off x="2816198" y="886853"/>
            <a:ext cx="977077" cy="191669"/>
            <a:chOff x="1491" y="212"/>
            <a:chExt cx="853" cy="240"/>
          </a:xfrm>
          <a:solidFill>
            <a:srgbClr val="FFFF00"/>
          </a:solidFill>
        </p:grpSpPr>
        <p:sp>
          <p:nvSpPr>
            <p:cNvPr id="106" name="AutoShape 10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07" name="Rectangle 104"/>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08" name="Text Box 105"/>
          <p:cNvSpPr txBox="1">
            <a:spLocks noChangeArrowheads="1"/>
          </p:cNvSpPr>
          <p:nvPr/>
        </p:nvSpPr>
        <p:spPr bwMode="auto">
          <a:xfrm>
            <a:off x="2828846" y="932581"/>
            <a:ext cx="679994" cy="206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a:latin typeface="微软雅黑" pitchFamily="34" charset="-122"/>
                <a:ea typeface="微软雅黑" pitchFamily="34" charset="-122"/>
              </a:rPr>
              <a:t>1  1  </a:t>
            </a:r>
            <a:r>
              <a:rPr kumimoji="1" lang="en-US" altLang="zh-CN" sz="1300" b="1">
                <a:latin typeface="微软雅黑" pitchFamily="34" charset="-122"/>
                <a:ea typeface="微软雅黑" pitchFamily="34" charset="-122"/>
                <a:sym typeface="Symbol" pitchFamily="18" charset="2"/>
              </a:rPr>
              <a:t></a:t>
            </a:r>
            <a:endParaRPr kumimoji="1" lang="en-US" altLang="zh-CN" sz="1300" b="1" baseline="-25000">
              <a:latin typeface="微软雅黑" pitchFamily="34" charset="-122"/>
              <a:ea typeface="微软雅黑" pitchFamily="34" charset="-122"/>
              <a:sym typeface="Symbol" pitchFamily="18" charset="2"/>
            </a:endParaRPr>
          </a:p>
        </p:txBody>
      </p:sp>
      <p:grpSp>
        <p:nvGrpSpPr>
          <p:cNvPr id="114" name="Group 111"/>
          <p:cNvGrpSpPr>
            <a:grpSpLocks/>
          </p:cNvGrpSpPr>
          <p:nvPr/>
        </p:nvGrpSpPr>
        <p:grpSpPr bwMode="auto">
          <a:xfrm flipH="1">
            <a:off x="5027534" y="900474"/>
            <a:ext cx="977077" cy="191669"/>
            <a:chOff x="1491" y="212"/>
            <a:chExt cx="853" cy="240"/>
          </a:xfrm>
          <a:solidFill>
            <a:srgbClr val="66FF66"/>
          </a:solidFill>
        </p:grpSpPr>
        <p:sp>
          <p:nvSpPr>
            <p:cNvPr id="115" name="AutoShape 112"/>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16" name="Rectangle 113"/>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17" name="Text Box 114"/>
          <p:cNvSpPr txBox="1">
            <a:spLocks noChangeArrowheads="1"/>
          </p:cNvSpPr>
          <p:nvPr/>
        </p:nvSpPr>
        <p:spPr bwMode="auto">
          <a:xfrm>
            <a:off x="5286823" y="958851"/>
            <a:ext cx="774571" cy="206980"/>
          </a:xfrm>
          <a:prstGeom prst="rect">
            <a:avLst/>
          </a:prstGeom>
          <a:noFill/>
          <a:ln>
            <a:noFill/>
          </a:ln>
          <a:effectLst/>
        </p:spPr>
        <p:txBody>
          <a:bodyPr wrap="none">
            <a:spAutoFit/>
          </a:bodyPr>
          <a:lstStyle/>
          <a:p>
            <a:pPr>
              <a:lnSpc>
                <a:spcPct val="50000"/>
              </a:lnSpc>
            </a:pPr>
            <a:r>
              <a:rPr kumimoji="1" lang="en-US" altLang="zh-CN" sz="1300" b="1" dirty="0">
                <a:latin typeface="微软雅黑" pitchFamily="34" charset="-122"/>
                <a:ea typeface="微软雅黑" pitchFamily="34" charset="-122"/>
              </a:rPr>
              <a:t>1  2  </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1</a:t>
            </a:r>
          </a:p>
        </p:txBody>
      </p:sp>
      <p:sp>
        <p:nvSpPr>
          <p:cNvPr id="131" name="Text Box 120"/>
          <p:cNvSpPr txBox="1">
            <a:spLocks noChangeArrowheads="1"/>
          </p:cNvSpPr>
          <p:nvPr/>
        </p:nvSpPr>
        <p:spPr bwMode="auto">
          <a:xfrm>
            <a:off x="1558753" y="2877698"/>
            <a:ext cx="3875634" cy="292388"/>
          </a:xfrm>
          <a:prstGeom prst="rect">
            <a:avLst/>
          </a:prstGeom>
          <a:solidFill>
            <a:srgbClr val="00FFFF"/>
          </a:solidFill>
          <a:ln w="9525">
            <a:solidFill>
              <a:schemeClr val="tx2"/>
            </a:solidFill>
            <a:miter lim="800000"/>
            <a:headEnd/>
            <a:tailEnd/>
          </a:ln>
          <a:effectLst/>
        </p:spPr>
        <p:txBody>
          <a:bodyPr wrap="square">
            <a:spAutoFit/>
          </a:bodyPr>
          <a:lstStyle/>
          <a:p>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1</a:t>
            </a:r>
            <a:r>
              <a:rPr kumimoji="1" lang="en-US" altLang="zh-CN" sz="1300" b="1" dirty="0">
                <a:latin typeface="微软雅黑" pitchFamily="34" charset="-122"/>
                <a:ea typeface="微软雅黑" pitchFamily="34" charset="-122"/>
              </a:rPr>
              <a:t> </a:t>
            </a:r>
            <a:r>
              <a:rPr kumimoji="1" lang="zh-CN" altLang="en-US" sz="1300" b="1" dirty="0">
                <a:latin typeface="微软雅黑" pitchFamily="34" charset="-122"/>
                <a:ea typeface="微软雅黑" pitchFamily="34" charset="-122"/>
              </a:rPr>
              <a:t>说：“我到网 </a:t>
            </a:r>
            <a:r>
              <a:rPr kumimoji="1" lang="en-US" altLang="zh-CN" sz="1300" b="1" dirty="0">
                <a:latin typeface="微软雅黑" pitchFamily="34" charset="-122"/>
                <a:ea typeface="微软雅黑" pitchFamily="34" charset="-122"/>
              </a:rPr>
              <a:t>1 </a:t>
            </a:r>
            <a:r>
              <a:rPr kumimoji="1" lang="zh-CN" altLang="en-US" sz="1300" b="1" dirty="0">
                <a:latin typeface="微软雅黑" pitchFamily="34" charset="-122"/>
                <a:ea typeface="微软雅黑" pitchFamily="34" charset="-122"/>
              </a:rPr>
              <a:t>的距离是 </a:t>
            </a:r>
            <a:r>
              <a:rPr kumimoji="1" lang="en-US" altLang="zh-CN" sz="1300" b="1" dirty="0">
                <a:latin typeface="微软雅黑" pitchFamily="34" charset="-122"/>
                <a:ea typeface="微软雅黑" pitchFamily="34" charset="-122"/>
              </a:rPr>
              <a:t>1</a:t>
            </a:r>
            <a:r>
              <a:rPr kumimoji="1" lang="zh-CN" altLang="en-US" sz="1300" b="1" dirty="0">
                <a:latin typeface="微软雅黑" pitchFamily="34" charset="-122"/>
                <a:ea typeface="微软雅黑" pitchFamily="34" charset="-122"/>
              </a:rPr>
              <a:t>，是直接交付。”</a:t>
            </a:r>
          </a:p>
        </p:txBody>
      </p:sp>
      <p:sp>
        <p:nvSpPr>
          <p:cNvPr id="137" name="AutoShape 59"/>
          <p:cNvSpPr>
            <a:spLocks noChangeArrowheads="1"/>
          </p:cNvSpPr>
          <p:nvPr/>
        </p:nvSpPr>
        <p:spPr bwMode="auto">
          <a:xfrm>
            <a:off x="760678" y="1969726"/>
            <a:ext cx="2850203" cy="313225"/>
          </a:xfrm>
          <a:prstGeom prst="wedgeRoundRectCallout">
            <a:avLst>
              <a:gd name="adj1" fmla="val 26072"/>
              <a:gd name="adj2" fmla="val -341672"/>
              <a:gd name="adj3" fmla="val 16667"/>
            </a:avLst>
          </a:prstGeom>
          <a:solidFill>
            <a:srgbClr val="99FFCC"/>
          </a:solidFill>
          <a:ln w="9525">
            <a:solidFill>
              <a:schemeClr val="tx1"/>
            </a:solidFill>
            <a:miter lim="800000"/>
            <a:headEnd/>
            <a:tailEnd/>
          </a:ln>
          <a:effectLst/>
        </p:spPr>
        <p:txBody>
          <a:bodyPr/>
          <a:lstStyle/>
          <a:p>
            <a:pPr algn="ctr"/>
            <a:r>
              <a:rPr lang="en-US" altLang="zh-CN" sz="1400" b="1">
                <a:latin typeface="微软雅黑" pitchFamily="34" charset="-122"/>
                <a:ea typeface="微软雅黑" pitchFamily="34" charset="-122"/>
              </a:rPr>
              <a:t>“1”</a:t>
            </a:r>
            <a:r>
              <a:rPr lang="zh-CN" altLang="en-US" sz="1400" b="1">
                <a:latin typeface="微软雅黑" pitchFamily="34" charset="-122"/>
                <a:ea typeface="微软雅黑" pitchFamily="34" charset="-122"/>
              </a:rPr>
              <a:t>表示“从本路由器到网 </a:t>
            </a:r>
            <a:r>
              <a:rPr lang="en-US" altLang="zh-CN" sz="1400" b="1">
                <a:latin typeface="微软雅黑" pitchFamily="34" charset="-122"/>
                <a:ea typeface="微软雅黑" pitchFamily="34" charset="-122"/>
              </a:rPr>
              <a:t>1”</a:t>
            </a:r>
          </a:p>
        </p:txBody>
      </p:sp>
      <p:sp>
        <p:nvSpPr>
          <p:cNvPr id="138" name="AutoShape 60"/>
          <p:cNvSpPr>
            <a:spLocks noChangeArrowheads="1"/>
          </p:cNvSpPr>
          <p:nvPr/>
        </p:nvSpPr>
        <p:spPr bwMode="auto">
          <a:xfrm>
            <a:off x="3726193" y="2316620"/>
            <a:ext cx="2260298" cy="325803"/>
          </a:xfrm>
          <a:prstGeom prst="wedgeRoundRectCallout">
            <a:avLst>
              <a:gd name="adj1" fmla="val -72610"/>
              <a:gd name="adj2" fmla="val -433233"/>
              <a:gd name="adj3" fmla="val 16667"/>
            </a:avLst>
          </a:prstGeom>
          <a:solidFill>
            <a:srgbClr val="99FFCC"/>
          </a:solidFill>
          <a:ln w="9525">
            <a:solidFill>
              <a:schemeClr val="tx1"/>
            </a:solidFill>
            <a:miter lim="800000"/>
            <a:headEnd/>
            <a:tailEnd/>
          </a:ln>
          <a:effectLst/>
        </p:spPr>
        <p:txBody>
          <a:bodyPr/>
          <a:lstStyle/>
          <a:p>
            <a:pPr algn="ctr"/>
            <a:r>
              <a:rPr lang="en-US" altLang="zh-CN" sz="1400" b="1">
                <a:latin typeface="微软雅黑" pitchFamily="34" charset="-122"/>
                <a:ea typeface="微软雅黑" pitchFamily="34" charset="-122"/>
              </a:rPr>
              <a:t>“1”</a:t>
            </a:r>
            <a:r>
              <a:rPr lang="zh-CN" altLang="en-US" sz="1400" b="1">
                <a:latin typeface="微软雅黑" pitchFamily="34" charset="-122"/>
                <a:ea typeface="微软雅黑" pitchFamily="34" charset="-122"/>
              </a:rPr>
              <a:t>表示“距离是 </a:t>
            </a:r>
            <a:r>
              <a:rPr lang="en-US" altLang="zh-CN" sz="1400" b="1">
                <a:latin typeface="微软雅黑" pitchFamily="34" charset="-122"/>
                <a:ea typeface="微软雅黑" pitchFamily="34" charset="-122"/>
              </a:rPr>
              <a:t>1”</a:t>
            </a:r>
          </a:p>
        </p:txBody>
      </p:sp>
      <p:sp>
        <p:nvSpPr>
          <p:cNvPr id="139" name="AutoShape 61"/>
          <p:cNvSpPr>
            <a:spLocks noChangeArrowheads="1"/>
          </p:cNvSpPr>
          <p:nvPr/>
        </p:nvSpPr>
        <p:spPr bwMode="auto">
          <a:xfrm>
            <a:off x="4914407" y="1828824"/>
            <a:ext cx="2238172" cy="297514"/>
          </a:xfrm>
          <a:prstGeom prst="wedgeRoundRectCallout">
            <a:avLst>
              <a:gd name="adj1" fmla="val -116201"/>
              <a:gd name="adj2" fmla="val -312756"/>
              <a:gd name="adj3" fmla="val 16667"/>
            </a:avLst>
          </a:prstGeom>
          <a:solidFill>
            <a:srgbClr val="99FFCC"/>
          </a:solidFill>
          <a:ln w="9525">
            <a:solidFill>
              <a:schemeClr val="tx1"/>
            </a:solidFill>
            <a:miter lim="800000"/>
            <a:headEnd/>
            <a:tailEnd/>
          </a:ln>
          <a:effectLst/>
        </p:spPr>
        <p:txBody>
          <a:bodyPr/>
          <a:lstStyle/>
          <a:p>
            <a:pPr algn="ctr"/>
            <a:r>
              <a:rPr lang="en-US" altLang="zh-CN" sz="1400" b="1" dirty="0">
                <a:latin typeface="微软雅黑" pitchFamily="34" charset="-122"/>
                <a:ea typeface="微软雅黑" pitchFamily="34" charset="-122"/>
              </a:rPr>
              <a:t>“</a:t>
            </a:r>
            <a:r>
              <a:rPr lang="en-US" altLang="zh-CN" sz="1400" b="1" dirty="0">
                <a:latin typeface="微软雅黑" pitchFamily="34" charset="-122"/>
                <a:ea typeface="微软雅黑" pitchFamily="34" charset="-122"/>
                <a:sym typeface="Symbol" pitchFamily="18" charset="2"/>
              </a:rPr>
              <a:t></a:t>
            </a:r>
            <a:r>
              <a:rPr lang="en-US" altLang="zh-CN" sz="1400" b="1" dirty="0">
                <a:latin typeface="微软雅黑" pitchFamily="34" charset="-122"/>
                <a:ea typeface="微软雅黑" pitchFamily="34" charset="-122"/>
              </a:rPr>
              <a:t>”</a:t>
            </a:r>
            <a:r>
              <a:rPr lang="zh-CN" altLang="en-US" sz="1400" b="1" dirty="0">
                <a:latin typeface="微软雅黑" pitchFamily="34" charset="-122"/>
                <a:ea typeface="微软雅黑" pitchFamily="34" charset="-122"/>
              </a:rPr>
              <a:t>表示“直接交付”</a:t>
            </a:r>
          </a:p>
        </p:txBody>
      </p:sp>
    </p:spTree>
    <p:extLst>
      <p:ext uri="{BB962C8B-B14F-4D97-AF65-F5344CB8AC3E}">
        <p14:creationId xmlns:p14="http://schemas.microsoft.com/office/powerpoint/2010/main" val="167693824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3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3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7" grpId="0" animBg="1"/>
      <p:bldP spid="138" grpId="0" animBg="1"/>
      <p:bldP spid="139" grpId="0" animBg="1"/>
    </p:bld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圆角矩形 62"/>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Line 2"/>
          <p:cNvSpPr>
            <a:spLocks noChangeShapeType="1"/>
          </p:cNvSpPr>
          <p:nvPr/>
        </p:nvSpPr>
        <p:spPr bwMode="auto">
          <a:xfrm>
            <a:off x="2416723" y="1233220"/>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pic>
        <p:nvPicPr>
          <p:cNvPr id="6" name="Picture 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47028" y="1137872"/>
            <a:ext cx="483796"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 name="Text Box 4"/>
          <p:cNvSpPr txBox="1">
            <a:spLocks noChangeArrowheads="1"/>
          </p:cNvSpPr>
          <p:nvPr/>
        </p:nvSpPr>
        <p:spPr bwMode="auto">
          <a:xfrm>
            <a:off x="5578787" y="1290624"/>
            <a:ext cx="37061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solidFill>
                  <a:srgbClr val="0000FF"/>
                </a:solidFill>
                <a:latin typeface="微软雅黑" pitchFamily="34" charset="-122"/>
                <a:ea typeface="微软雅黑" pitchFamily="34" charset="-122"/>
              </a:rPr>
              <a:t>R</a:t>
            </a:r>
            <a:r>
              <a:rPr kumimoji="1" lang="en-US" altLang="zh-CN" sz="1300" b="1" baseline="-25000">
                <a:solidFill>
                  <a:srgbClr val="0000FF"/>
                </a:solidFill>
                <a:latin typeface="微软雅黑" pitchFamily="34" charset="-122"/>
                <a:ea typeface="微软雅黑" pitchFamily="34" charset="-122"/>
              </a:rPr>
              <a:t>2</a:t>
            </a:r>
            <a:endParaRPr kumimoji="1" lang="en-US" altLang="zh-CN" sz="1300" b="1">
              <a:solidFill>
                <a:srgbClr val="0000FF"/>
              </a:solidFill>
              <a:latin typeface="微软雅黑" pitchFamily="34" charset="-122"/>
              <a:ea typeface="微软雅黑" pitchFamily="34" charset="-122"/>
            </a:endParaRPr>
          </a:p>
        </p:txBody>
      </p:sp>
      <p:sp>
        <p:nvSpPr>
          <p:cNvPr id="8" name="Text Box 5"/>
          <p:cNvSpPr txBox="1">
            <a:spLocks noChangeArrowheads="1"/>
          </p:cNvSpPr>
          <p:nvPr/>
        </p:nvSpPr>
        <p:spPr bwMode="auto">
          <a:xfrm>
            <a:off x="3190375" y="1290624"/>
            <a:ext cx="37061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dirty="0">
                <a:solidFill>
                  <a:srgbClr val="0000FF"/>
                </a:solidFill>
                <a:latin typeface="微软雅黑" pitchFamily="34" charset="-122"/>
                <a:ea typeface="微软雅黑" pitchFamily="34" charset="-122"/>
              </a:rPr>
              <a:t>R</a:t>
            </a:r>
            <a:r>
              <a:rPr kumimoji="1" lang="en-US" altLang="zh-CN" sz="1300" b="1" baseline="-25000" dirty="0">
                <a:solidFill>
                  <a:srgbClr val="0000FF"/>
                </a:solidFill>
                <a:latin typeface="微软雅黑" pitchFamily="34" charset="-122"/>
                <a:ea typeface="微软雅黑" pitchFamily="34" charset="-122"/>
              </a:rPr>
              <a:t>1</a:t>
            </a:r>
            <a:endParaRPr kumimoji="1" lang="en-US" altLang="zh-CN" sz="1300" b="1" dirty="0">
              <a:solidFill>
                <a:srgbClr val="0000FF"/>
              </a:solidFill>
              <a:latin typeface="微软雅黑" pitchFamily="34" charset="-122"/>
              <a:ea typeface="微软雅黑" pitchFamily="34" charset="-122"/>
            </a:endParaRPr>
          </a:p>
        </p:txBody>
      </p:sp>
      <p:pic>
        <p:nvPicPr>
          <p:cNvPr id="9" name="Picture 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34387" y="1137872"/>
            <a:ext cx="484850"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0" name="Group 7"/>
          <p:cNvGrpSpPr>
            <a:grpSpLocks/>
          </p:cNvGrpSpPr>
          <p:nvPr/>
        </p:nvGrpSpPr>
        <p:grpSpPr bwMode="auto">
          <a:xfrm>
            <a:off x="1793796" y="968580"/>
            <a:ext cx="783138" cy="526362"/>
            <a:chOff x="4830" y="1752"/>
            <a:chExt cx="667" cy="477"/>
          </a:xfrm>
          <a:solidFill>
            <a:srgbClr val="00FFFF"/>
          </a:solidFill>
        </p:grpSpPr>
        <p:grpSp>
          <p:nvGrpSpPr>
            <p:cNvPr id="11" name="Group 8"/>
            <p:cNvGrpSpPr>
              <a:grpSpLocks/>
            </p:cNvGrpSpPr>
            <p:nvPr/>
          </p:nvGrpSpPr>
          <p:grpSpPr bwMode="auto">
            <a:xfrm>
              <a:off x="4830" y="1752"/>
              <a:ext cx="667" cy="477"/>
              <a:chOff x="2949" y="196"/>
              <a:chExt cx="941" cy="598"/>
            </a:xfrm>
            <a:grpFill/>
          </p:grpSpPr>
          <p:sp>
            <p:nvSpPr>
              <p:cNvPr id="13" name="Oval 9"/>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14" name="Oval 10"/>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15" name="Oval 11"/>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16" name="Oval 12"/>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17" name="Oval 13"/>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18" name="Oval 14"/>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19" name="Oval 15"/>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20" name="Oval 16"/>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21" name="Freeform 1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sp>
            <p:nvSpPr>
              <p:cNvPr id="22" name="Freeform 1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sp>
            <p:nvSpPr>
              <p:cNvPr id="23" name="Freeform 1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grpSp>
        <p:sp>
          <p:nvSpPr>
            <p:cNvPr id="12" name="Text Box 20"/>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dirty="0">
                  <a:solidFill>
                    <a:srgbClr val="0000FF"/>
                  </a:solidFill>
                  <a:latin typeface="微软雅黑" pitchFamily="34" charset="-122"/>
                  <a:ea typeface="微软雅黑" pitchFamily="34" charset="-122"/>
                </a:rPr>
                <a:t>网 </a:t>
              </a:r>
              <a:r>
                <a:rPr kumimoji="1" lang="en-US" altLang="zh-CN" sz="1300" b="1" dirty="0">
                  <a:solidFill>
                    <a:srgbClr val="0000FF"/>
                  </a:solidFill>
                  <a:latin typeface="微软雅黑" pitchFamily="34" charset="-122"/>
                  <a:ea typeface="微软雅黑" pitchFamily="34" charset="-122"/>
                </a:rPr>
                <a:t>1</a:t>
              </a:r>
            </a:p>
          </p:txBody>
        </p:sp>
      </p:grpSp>
      <p:grpSp>
        <p:nvGrpSpPr>
          <p:cNvPr id="24" name="Group 21"/>
          <p:cNvGrpSpPr>
            <a:grpSpLocks/>
          </p:cNvGrpSpPr>
          <p:nvPr/>
        </p:nvGrpSpPr>
        <p:grpSpPr bwMode="auto">
          <a:xfrm>
            <a:off x="6444139" y="968580"/>
            <a:ext cx="783138" cy="526362"/>
            <a:chOff x="4830" y="1752"/>
            <a:chExt cx="667" cy="477"/>
          </a:xfrm>
          <a:solidFill>
            <a:srgbClr val="00FFFF"/>
          </a:solidFill>
        </p:grpSpPr>
        <p:grpSp>
          <p:nvGrpSpPr>
            <p:cNvPr id="25" name="Group 22"/>
            <p:cNvGrpSpPr>
              <a:grpSpLocks/>
            </p:cNvGrpSpPr>
            <p:nvPr/>
          </p:nvGrpSpPr>
          <p:grpSpPr bwMode="auto">
            <a:xfrm>
              <a:off x="4830" y="1752"/>
              <a:ext cx="667" cy="477"/>
              <a:chOff x="2949" y="196"/>
              <a:chExt cx="941" cy="598"/>
            </a:xfrm>
            <a:grpFill/>
          </p:grpSpPr>
          <p:sp>
            <p:nvSpPr>
              <p:cNvPr id="27" name="Oval 23"/>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28" name="Oval 24"/>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29" name="Oval 25"/>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30" name="Oval 26"/>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31" name="Oval 27"/>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32" name="Oval 28"/>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33" name="Oval 29"/>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34" name="Oval 30"/>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35" name="Freeform 31"/>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sp>
            <p:nvSpPr>
              <p:cNvPr id="36" name="Freeform 32"/>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sp>
            <p:nvSpPr>
              <p:cNvPr id="37" name="Freeform 33"/>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grpSp>
        <p:sp>
          <p:nvSpPr>
            <p:cNvPr id="26" name="Text Box 34"/>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solidFill>
                    <a:srgbClr val="0000FF"/>
                  </a:solidFill>
                  <a:latin typeface="微软雅黑" pitchFamily="34" charset="-122"/>
                  <a:ea typeface="微软雅黑" pitchFamily="34" charset="-122"/>
                </a:rPr>
                <a:t>网 </a:t>
              </a:r>
              <a:r>
                <a:rPr kumimoji="1" lang="en-US" altLang="zh-CN" sz="1300" b="1">
                  <a:solidFill>
                    <a:srgbClr val="0000FF"/>
                  </a:solidFill>
                  <a:latin typeface="微软雅黑" pitchFamily="34" charset="-122"/>
                  <a:ea typeface="微软雅黑" pitchFamily="34" charset="-122"/>
                </a:rPr>
                <a:t>3</a:t>
              </a:r>
            </a:p>
          </p:txBody>
        </p:sp>
      </p:grpSp>
      <p:grpSp>
        <p:nvGrpSpPr>
          <p:cNvPr id="38" name="Group 35"/>
          <p:cNvGrpSpPr>
            <a:grpSpLocks/>
          </p:cNvGrpSpPr>
          <p:nvPr/>
        </p:nvGrpSpPr>
        <p:grpSpPr bwMode="auto">
          <a:xfrm>
            <a:off x="4099995" y="968580"/>
            <a:ext cx="783138" cy="526362"/>
            <a:chOff x="4830" y="1752"/>
            <a:chExt cx="667" cy="477"/>
          </a:xfrm>
          <a:solidFill>
            <a:srgbClr val="00FFFF"/>
          </a:solidFill>
        </p:grpSpPr>
        <p:grpSp>
          <p:nvGrpSpPr>
            <p:cNvPr id="39" name="Group 36"/>
            <p:cNvGrpSpPr>
              <a:grpSpLocks/>
            </p:cNvGrpSpPr>
            <p:nvPr/>
          </p:nvGrpSpPr>
          <p:grpSpPr bwMode="auto">
            <a:xfrm>
              <a:off x="4830" y="1752"/>
              <a:ext cx="667" cy="477"/>
              <a:chOff x="2949" y="196"/>
              <a:chExt cx="941" cy="598"/>
            </a:xfrm>
            <a:grpFill/>
          </p:grpSpPr>
          <p:sp>
            <p:nvSpPr>
              <p:cNvPr id="41" name="Oval 37"/>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42" name="Oval 38"/>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43" name="Oval 39"/>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44" name="Oval 40"/>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45" name="Oval 41"/>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46" name="Oval 42"/>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47" name="Oval 43"/>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48" name="Oval 44"/>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49" name="Freeform 4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sp>
            <p:nvSpPr>
              <p:cNvPr id="50" name="Freeform 4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sp>
            <p:nvSpPr>
              <p:cNvPr id="51" name="Freeform 4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grpSp>
        <p:sp>
          <p:nvSpPr>
            <p:cNvPr id="40" name="Text Box 48"/>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solidFill>
                    <a:srgbClr val="0000FF"/>
                  </a:solidFill>
                  <a:latin typeface="微软雅黑" pitchFamily="34" charset="-122"/>
                  <a:ea typeface="微软雅黑" pitchFamily="34" charset="-122"/>
                </a:rPr>
                <a:t>网 </a:t>
              </a:r>
              <a:r>
                <a:rPr kumimoji="1" lang="en-US" altLang="zh-CN" sz="1300" b="1">
                  <a:solidFill>
                    <a:srgbClr val="0000FF"/>
                  </a:solidFill>
                  <a:latin typeface="微软雅黑" pitchFamily="34" charset="-122"/>
                  <a:ea typeface="微软雅黑" pitchFamily="34" charset="-122"/>
                </a:rPr>
                <a:t>2</a:t>
              </a:r>
            </a:p>
          </p:txBody>
        </p:sp>
      </p:grpSp>
      <p:sp>
        <p:nvSpPr>
          <p:cNvPr id="104" name="Text Box 101"/>
          <p:cNvSpPr txBox="1">
            <a:spLocks noChangeArrowheads="1"/>
          </p:cNvSpPr>
          <p:nvPr/>
        </p:nvSpPr>
        <p:spPr bwMode="auto">
          <a:xfrm>
            <a:off x="1486022" y="768154"/>
            <a:ext cx="351378" cy="8925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dirty="0">
                <a:solidFill>
                  <a:srgbClr val="CC00CC"/>
                </a:solidFill>
                <a:latin typeface="微软雅黑" pitchFamily="34" charset="-122"/>
                <a:ea typeface="微软雅黑" pitchFamily="34" charset="-122"/>
              </a:rPr>
              <a:t>正</a:t>
            </a:r>
          </a:p>
          <a:p>
            <a:r>
              <a:rPr kumimoji="1" lang="zh-CN" altLang="en-US" sz="1300" b="1" dirty="0">
                <a:solidFill>
                  <a:srgbClr val="CC00CC"/>
                </a:solidFill>
                <a:latin typeface="微软雅黑" pitchFamily="34" charset="-122"/>
                <a:ea typeface="微软雅黑" pitchFamily="34" charset="-122"/>
              </a:rPr>
              <a:t>常</a:t>
            </a:r>
          </a:p>
          <a:p>
            <a:r>
              <a:rPr kumimoji="1" lang="zh-CN" altLang="en-US" sz="1300" b="1" dirty="0">
                <a:solidFill>
                  <a:srgbClr val="CC00CC"/>
                </a:solidFill>
                <a:latin typeface="微软雅黑" pitchFamily="34" charset="-122"/>
                <a:ea typeface="微软雅黑" pitchFamily="34" charset="-122"/>
              </a:rPr>
              <a:t>情</a:t>
            </a:r>
          </a:p>
          <a:p>
            <a:r>
              <a:rPr kumimoji="1" lang="zh-CN" altLang="en-US" sz="1300" b="1" dirty="0">
                <a:solidFill>
                  <a:srgbClr val="CC00CC"/>
                </a:solidFill>
                <a:latin typeface="微软雅黑" pitchFamily="34" charset="-122"/>
                <a:ea typeface="微软雅黑" pitchFamily="34" charset="-122"/>
              </a:rPr>
              <a:t>况</a:t>
            </a:r>
          </a:p>
        </p:txBody>
      </p:sp>
      <p:grpSp>
        <p:nvGrpSpPr>
          <p:cNvPr id="105" name="Group 102"/>
          <p:cNvGrpSpPr>
            <a:grpSpLocks/>
          </p:cNvGrpSpPr>
          <p:nvPr/>
        </p:nvGrpSpPr>
        <p:grpSpPr bwMode="auto">
          <a:xfrm>
            <a:off x="2816198" y="886853"/>
            <a:ext cx="977077" cy="191669"/>
            <a:chOff x="1491" y="212"/>
            <a:chExt cx="853" cy="240"/>
          </a:xfrm>
          <a:solidFill>
            <a:srgbClr val="FFFF00"/>
          </a:solidFill>
        </p:grpSpPr>
        <p:sp>
          <p:nvSpPr>
            <p:cNvPr id="106" name="AutoShape 10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07" name="Rectangle 104"/>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08" name="Text Box 105"/>
          <p:cNvSpPr txBox="1">
            <a:spLocks noChangeArrowheads="1"/>
          </p:cNvSpPr>
          <p:nvPr/>
        </p:nvSpPr>
        <p:spPr bwMode="auto">
          <a:xfrm>
            <a:off x="2828846" y="932581"/>
            <a:ext cx="679994" cy="206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a:latin typeface="微软雅黑" pitchFamily="34" charset="-122"/>
                <a:ea typeface="微软雅黑" pitchFamily="34" charset="-122"/>
              </a:rPr>
              <a:t>1  1  </a:t>
            </a:r>
            <a:r>
              <a:rPr kumimoji="1" lang="en-US" altLang="zh-CN" sz="1300" b="1">
                <a:latin typeface="微软雅黑" pitchFamily="34" charset="-122"/>
                <a:ea typeface="微软雅黑" pitchFamily="34" charset="-122"/>
                <a:sym typeface="Symbol" pitchFamily="18" charset="2"/>
              </a:rPr>
              <a:t></a:t>
            </a:r>
            <a:endParaRPr kumimoji="1" lang="en-US" altLang="zh-CN" sz="1300" b="1" baseline="-25000">
              <a:latin typeface="微软雅黑" pitchFamily="34" charset="-122"/>
              <a:ea typeface="微软雅黑" pitchFamily="34" charset="-122"/>
              <a:sym typeface="Symbol" pitchFamily="18" charset="2"/>
            </a:endParaRPr>
          </a:p>
        </p:txBody>
      </p:sp>
      <p:grpSp>
        <p:nvGrpSpPr>
          <p:cNvPr id="114" name="Group 111"/>
          <p:cNvGrpSpPr>
            <a:grpSpLocks/>
          </p:cNvGrpSpPr>
          <p:nvPr/>
        </p:nvGrpSpPr>
        <p:grpSpPr bwMode="auto">
          <a:xfrm flipH="1">
            <a:off x="5027534" y="900474"/>
            <a:ext cx="977077" cy="191669"/>
            <a:chOff x="1491" y="212"/>
            <a:chExt cx="853" cy="240"/>
          </a:xfrm>
          <a:solidFill>
            <a:srgbClr val="66FF66"/>
          </a:solidFill>
        </p:grpSpPr>
        <p:sp>
          <p:nvSpPr>
            <p:cNvPr id="115" name="AutoShape 112"/>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16" name="Rectangle 113"/>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17" name="Text Box 114"/>
          <p:cNvSpPr txBox="1">
            <a:spLocks noChangeArrowheads="1"/>
          </p:cNvSpPr>
          <p:nvPr/>
        </p:nvSpPr>
        <p:spPr bwMode="auto">
          <a:xfrm>
            <a:off x="5286823" y="958851"/>
            <a:ext cx="774571" cy="206980"/>
          </a:xfrm>
          <a:prstGeom prst="rect">
            <a:avLst/>
          </a:prstGeom>
          <a:noFill/>
          <a:ln>
            <a:noFill/>
          </a:ln>
          <a:effectLst/>
        </p:spPr>
        <p:txBody>
          <a:bodyPr wrap="none">
            <a:spAutoFit/>
          </a:bodyPr>
          <a:lstStyle/>
          <a:p>
            <a:pPr>
              <a:lnSpc>
                <a:spcPct val="50000"/>
              </a:lnSpc>
            </a:pPr>
            <a:r>
              <a:rPr kumimoji="1" lang="en-US" altLang="zh-CN" sz="1300" b="1" dirty="0">
                <a:latin typeface="微软雅黑" pitchFamily="34" charset="-122"/>
                <a:ea typeface="微软雅黑" pitchFamily="34" charset="-122"/>
              </a:rPr>
              <a:t>1  2  </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1</a:t>
            </a:r>
          </a:p>
        </p:txBody>
      </p:sp>
      <p:sp>
        <p:nvSpPr>
          <p:cNvPr id="131" name="Text Box 120"/>
          <p:cNvSpPr txBox="1">
            <a:spLocks noChangeArrowheads="1"/>
          </p:cNvSpPr>
          <p:nvPr/>
        </p:nvSpPr>
        <p:spPr bwMode="auto">
          <a:xfrm>
            <a:off x="1558753" y="2877698"/>
            <a:ext cx="3875634" cy="292388"/>
          </a:xfrm>
          <a:prstGeom prst="rect">
            <a:avLst/>
          </a:prstGeom>
          <a:solidFill>
            <a:srgbClr val="00FFFF"/>
          </a:solidFill>
          <a:ln w="9525">
            <a:solidFill>
              <a:schemeClr val="tx2"/>
            </a:solidFill>
            <a:miter lim="800000"/>
            <a:headEnd/>
            <a:tailEnd/>
          </a:ln>
          <a:effectLst/>
        </p:spPr>
        <p:txBody>
          <a:bodyPr wrap="square">
            <a:spAutoFit/>
          </a:bodyPr>
          <a:lstStyle/>
          <a:p>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2</a:t>
            </a:r>
            <a:r>
              <a:rPr kumimoji="1" lang="en-US" altLang="zh-CN" sz="1300" b="1" dirty="0">
                <a:latin typeface="微软雅黑" pitchFamily="34" charset="-122"/>
                <a:ea typeface="微软雅黑" pitchFamily="34" charset="-122"/>
              </a:rPr>
              <a:t> </a:t>
            </a:r>
            <a:r>
              <a:rPr kumimoji="1" lang="zh-CN" altLang="en-US" sz="1300" b="1" dirty="0">
                <a:latin typeface="微软雅黑" pitchFamily="34" charset="-122"/>
                <a:ea typeface="微软雅黑" pitchFamily="34" charset="-122"/>
              </a:rPr>
              <a:t>说：“我到网 </a:t>
            </a:r>
            <a:r>
              <a:rPr kumimoji="1" lang="en-US" altLang="zh-CN" sz="1300" b="1" dirty="0">
                <a:latin typeface="微软雅黑" pitchFamily="34" charset="-122"/>
                <a:ea typeface="微软雅黑" pitchFamily="34" charset="-122"/>
              </a:rPr>
              <a:t>1 </a:t>
            </a:r>
            <a:r>
              <a:rPr kumimoji="1" lang="zh-CN" altLang="en-US" sz="1300" b="1" dirty="0">
                <a:latin typeface="微软雅黑" pitchFamily="34" charset="-122"/>
                <a:ea typeface="微软雅黑" pitchFamily="34" charset="-122"/>
              </a:rPr>
              <a:t>的距离是 </a:t>
            </a:r>
            <a:r>
              <a:rPr kumimoji="1" lang="en-US" altLang="zh-CN" sz="1300" b="1" dirty="0">
                <a:latin typeface="微软雅黑" pitchFamily="34" charset="-122"/>
                <a:ea typeface="微软雅黑" pitchFamily="34" charset="-122"/>
              </a:rPr>
              <a:t>2</a:t>
            </a:r>
            <a:r>
              <a:rPr kumimoji="1" lang="zh-CN" altLang="en-US" sz="1300" b="1" dirty="0">
                <a:latin typeface="微软雅黑" pitchFamily="34" charset="-122"/>
                <a:ea typeface="微软雅黑" pitchFamily="34" charset="-122"/>
              </a:rPr>
              <a:t>，是经过 </a:t>
            </a: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1</a:t>
            </a:r>
            <a:r>
              <a:rPr kumimoji="1" lang="zh-CN" altLang="en-US" sz="1300" b="1" dirty="0">
                <a:latin typeface="微软雅黑" pitchFamily="34" charset="-122"/>
                <a:ea typeface="微软雅黑" pitchFamily="34" charset="-122"/>
              </a:rPr>
              <a:t>。”</a:t>
            </a:r>
          </a:p>
        </p:txBody>
      </p:sp>
      <p:sp>
        <p:nvSpPr>
          <p:cNvPr id="137" name="AutoShape 59"/>
          <p:cNvSpPr>
            <a:spLocks noChangeArrowheads="1"/>
          </p:cNvSpPr>
          <p:nvPr/>
        </p:nvSpPr>
        <p:spPr bwMode="auto">
          <a:xfrm>
            <a:off x="2105722" y="1846638"/>
            <a:ext cx="2850203" cy="313225"/>
          </a:xfrm>
          <a:prstGeom prst="wedgeRoundRectCallout">
            <a:avLst>
              <a:gd name="adj1" fmla="val 65558"/>
              <a:gd name="adj2" fmla="val -307988"/>
              <a:gd name="adj3" fmla="val 16667"/>
            </a:avLst>
          </a:prstGeom>
          <a:solidFill>
            <a:srgbClr val="99FFCC"/>
          </a:solidFill>
          <a:ln w="9525">
            <a:solidFill>
              <a:schemeClr val="tx1"/>
            </a:solidFill>
            <a:miter lim="800000"/>
            <a:headEnd/>
            <a:tailEnd/>
          </a:ln>
          <a:effectLst/>
        </p:spPr>
        <p:txBody>
          <a:bodyPr/>
          <a:lstStyle/>
          <a:p>
            <a:pPr algn="ctr"/>
            <a:r>
              <a:rPr lang="zh-CN" altLang="en-US" sz="1400" b="1" dirty="0">
                <a:latin typeface="微软雅黑" pitchFamily="34" charset="-122"/>
                <a:ea typeface="微软雅黑" pitchFamily="34" charset="-122"/>
              </a:rPr>
              <a:t>“</a:t>
            </a:r>
            <a:r>
              <a:rPr lang="en-US" altLang="zh-CN" sz="1400" b="1" dirty="0">
                <a:latin typeface="微软雅黑" pitchFamily="34" charset="-122"/>
                <a:ea typeface="微软雅黑" pitchFamily="34" charset="-122"/>
              </a:rPr>
              <a:t>1”</a:t>
            </a:r>
            <a:r>
              <a:rPr lang="zh-CN" altLang="en-US" sz="1400" b="1" dirty="0">
                <a:latin typeface="微软雅黑" pitchFamily="34" charset="-122"/>
                <a:ea typeface="微软雅黑" pitchFamily="34" charset="-122"/>
              </a:rPr>
              <a:t>表示“从本路由器到网 </a:t>
            </a:r>
            <a:r>
              <a:rPr lang="en-US" altLang="zh-CN" sz="1400" b="1" dirty="0">
                <a:latin typeface="微软雅黑" pitchFamily="34" charset="-122"/>
                <a:ea typeface="微软雅黑" pitchFamily="34" charset="-122"/>
              </a:rPr>
              <a:t>1”</a:t>
            </a:r>
          </a:p>
        </p:txBody>
      </p:sp>
      <p:sp>
        <p:nvSpPr>
          <p:cNvPr id="138" name="AutoShape 60"/>
          <p:cNvSpPr>
            <a:spLocks noChangeArrowheads="1"/>
          </p:cNvSpPr>
          <p:nvPr/>
        </p:nvSpPr>
        <p:spPr bwMode="auto">
          <a:xfrm>
            <a:off x="3726193" y="2316620"/>
            <a:ext cx="2260298" cy="325803"/>
          </a:xfrm>
          <a:prstGeom prst="wedgeRoundRectCallout">
            <a:avLst>
              <a:gd name="adj1" fmla="val 34362"/>
              <a:gd name="adj2" fmla="val -422439"/>
              <a:gd name="adj3" fmla="val 16667"/>
            </a:avLst>
          </a:prstGeom>
          <a:solidFill>
            <a:srgbClr val="99FFCC"/>
          </a:solidFill>
          <a:ln w="9525">
            <a:solidFill>
              <a:schemeClr val="tx1"/>
            </a:solidFill>
            <a:miter lim="800000"/>
            <a:headEnd/>
            <a:tailEnd/>
          </a:ln>
          <a:effectLst/>
        </p:spPr>
        <p:txBody>
          <a:bodyPr/>
          <a:lstStyle/>
          <a:p>
            <a:pPr algn="ctr"/>
            <a:r>
              <a:rPr lang="zh-CN" altLang="en-US" sz="1400" b="1" dirty="0">
                <a:latin typeface="微软雅黑" pitchFamily="34" charset="-122"/>
                <a:ea typeface="微软雅黑" pitchFamily="34" charset="-122"/>
              </a:rPr>
              <a:t>“</a:t>
            </a:r>
            <a:r>
              <a:rPr lang="en-US" altLang="zh-CN" sz="1400" b="1" dirty="0">
                <a:latin typeface="微软雅黑" pitchFamily="34" charset="-122"/>
                <a:ea typeface="微软雅黑" pitchFamily="34" charset="-122"/>
              </a:rPr>
              <a:t>2”</a:t>
            </a:r>
            <a:r>
              <a:rPr lang="zh-CN" altLang="en-US" sz="1400" b="1" dirty="0">
                <a:latin typeface="微软雅黑" pitchFamily="34" charset="-122"/>
                <a:ea typeface="微软雅黑" pitchFamily="34" charset="-122"/>
              </a:rPr>
              <a:t>表示“距离是 </a:t>
            </a:r>
            <a:r>
              <a:rPr lang="en-US" altLang="zh-CN" sz="1400" b="1" dirty="0">
                <a:latin typeface="微软雅黑" pitchFamily="34" charset="-122"/>
                <a:ea typeface="微软雅黑" pitchFamily="34" charset="-122"/>
              </a:rPr>
              <a:t>2”</a:t>
            </a:r>
          </a:p>
        </p:txBody>
      </p:sp>
      <p:sp>
        <p:nvSpPr>
          <p:cNvPr id="139" name="AutoShape 61"/>
          <p:cNvSpPr>
            <a:spLocks noChangeArrowheads="1"/>
          </p:cNvSpPr>
          <p:nvPr/>
        </p:nvSpPr>
        <p:spPr bwMode="auto">
          <a:xfrm>
            <a:off x="6110762" y="1828824"/>
            <a:ext cx="2238172" cy="297514"/>
          </a:xfrm>
          <a:prstGeom prst="wedgeRoundRectCallout">
            <a:avLst>
              <a:gd name="adj1" fmla="val -54919"/>
              <a:gd name="adj2" fmla="val -306845"/>
              <a:gd name="adj3" fmla="val 16667"/>
            </a:avLst>
          </a:prstGeom>
          <a:solidFill>
            <a:srgbClr val="99FFCC"/>
          </a:solidFill>
          <a:ln w="9525">
            <a:solidFill>
              <a:schemeClr val="tx1"/>
            </a:solidFill>
            <a:miter lim="800000"/>
            <a:headEnd/>
            <a:tailEnd/>
          </a:ln>
          <a:effectLst/>
        </p:spPr>
        <p:txBody>
          <a:bodyPr/>
          <a:lstStyle/>
          <a:p>
            <a:pPr algn="ctr"/>
            <a:r>
              <a:rPr lang="en-US" altLang="zh-CN" sz="1400" b="1" dirty="0">
                <a:latin typeface="微软雅黑" pitchFamily="34" charset="-122"/>
                <a:ea typeface="微软雅黑" pitchFamily="34" charset="-122"/>
              </a:rPr>
              <a:t>“R</a:t>
            </a:r>
            <a:r>
              <a:rPr lang="en-US" altLang="zh-CN" sz="1400" b="1" baseline="-25000" dirty="0">
                <a:latin typeface="微软雅黑" pitchFamily="34" charset="-122"/>
                <a:ea typeface="微软雅黑" pitchFamily="34" charset="-122"/>
              </a:rPr>
              <a:t>1</a:t>
            </a:r>
            <a:r>
              <a:rPr lang="en-US" altLang="zh-CN" sz="1400" b="1" dirty="0">
                <a:latin typeface="微软雅黑" pitchFamily="34" charset="-122"/>
                <a:ea typeface="微软雅黑" pitchFamily="34" charset="-122"/>
              </a:rPr>
              <a:t>”</a:t>
            </a:r>
            <a:r>
              <a:rPr lang="zh-CN" altLang="en-US" sz="1400" b="1" dirty="0">
                <a:latin typeface="微软雅黑" pitchFamily="34" charset="-122"/>
                <a:ea typeface="微软雅黑" pitchFamily="34" charset="-122"/>
              </a:rPr>
              <a:t>表示经过 </a:t>
            </a:r>
            <a:r>
              <a:rPr lang="en-US" altLang="zh-CN" sz="1400" b="1" dirty="0">
                <a:latin typeface="微软雅黑" pitchFamily="34" charset="-122"/>
                <a:ea typeface="微软雅黑" pitchFamily="34" charset="-122"/>
              </a:rPr>
              <a:t>R</a:t>
            </a:r>
            <a:r>
              <a:rPr lang="en-US" altLang="zh-CN" sz="1400" b="1" baseline="-25000" dirty="0">
                <a:latin typeface="微软雅黑" pitchFamily="34" charset="-122"/>
                <a:ea typeface="微软雅黑" pitchFamily="34" charset="-122"/>
              </a:rPr>
              <a:t>1</a:t>
            </a:r>
            <a:endParaRPr lang="en-US" altLang="zh-CN" sz="1400" b="1" dirty="0">
              <a:latin typeface="微软雅黑" pitchFamily="34" charset="-122"/>
              <a:ea typeface="微软雅黑" pitchFamily="34" charset="-122"/>
            </a:endParaRPr>
          </a:p>
        </p:txBody>
      </p:sp>
    </p:spTree>
    <p:extLst>
      <p:ext uri="{BB962C8B-B14F-4D97-AF65-F5344CB8AC3E}">
        <p14:creationId xmlns:p14="http://schemas.microsoft.com/office/powerpoint/2010/main" val="413004692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3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3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7" grpId="0" animBg="1"/>
      <p:bldP spid="138" grpId="0" animBg="1"/>
      <p:bldP spid="139" grpId="0" animBg="1"/>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 name="圆角矩形 122"/>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Line 2"/>
          <p:cNvSpPr>
            <a:spLocks noChangeShapeType="1"/>
          </p:cNvSpPr>
          <p:nvPr/>
        </p:nvSpPr>
        <p:spPr bwMode="auto">
          <a:xfrm>
            <a:off x="2416723" y="1233220"/>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pic>
        <p:nvPicPr>
          <p:cNvPr id="4" name="Picture 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47028" y="1137872"/>
            <a:ext cx="483796"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 name="Text Box 4"/>
          <p:cNvSpPr txBox="1">
            <a:spLocks noChangeArrowheads="1"/>
          </p:cNvSpPr>
          <p:nvPr/>
        </p:nvSpPr>
        <p:spPr bwMode="auto">
          <a:xfrm>
            <a:off x="5578787" y="1290624"/>
            <a:ext cx="37061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2</a:t>
            </a:r>
            <a:endParaRPr kumimoji="1" lang="en-US" altLang="zh-CN" sz="1300" b="1">
              <a:latin typeface="微软雅黑" pitchFamily="34" charset="-122"/>
              <a:ea typeface="微软雅黑" pitchFamily="34" charset="-122"/>
            </a:endParaRPr>
          </a:p>
        </p:txBody>
      </p:sp>
      <p:sp>
        <p:nvSpPr>
          <p:cNvPr id="6" name="Text Box 5"/>
          <p:cNvSpPr txBox="1">
            <a:spLocks noChangeArrowheads="1"/>
          </p:cNvSpPr>
          <p:nvPr/>
        </p:nvSpPr>
        <p:spPr bwMode="auto">
          <a:xfrm>
            <a:off x="3190375" y="1290624"/>
            <a:ext cx="37061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1</a:t>
            </a:r>
            <a:endParaRPr kumimoji="1" lang="en-US" altLang="zh-CN" sz="1300" b="1">
              <a:latin typeface="微软雅黑" pitchFamily="34" charset="-122"/>
              <a:ea typeface="微软雅黑" pitchFamily="34" charset="-122"/>
            </a:endParaRPr>
          </a:p>
        </p:txBody>
      </p:sp>
      <p:pic>
        <p:nvPicPr>
          <p:cNvPr id="7" name="Picture 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34387" y="1137872"/>
            <a:ext cx="484850"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8" name="Group 7"/>
          <p:cNvGrpSpPr>
            <a:grpSpLocks/>
          </p:cNvGrpSpPr>
          <p:nvPr/>
        </p:nvGrpSpPr>
        <p:grpSpPr bwMode="auto">
          <a:xfrm>
            <a:off x="1793796" y="968580"/>
            <a:ext cx="783138" cy="526362"/>
            <a:chOff x="4830" y="1752"/>
            <a:chExt cx="667" cy="477"/>
          </a:xfrm>
          <a:solidFill>
            <a:srgbClr val="00FFFF"/>
          </a:solidFill>
        </p:grpSpPr>
        <p:grpSp>
          <p:nvGrpSpPr>
            <p:cNvPr id="9" name="Group 8"/>
            <p:cNvGrpSpPr>
              <a:grpSpLocks/>
            </p:cNvGrpSpPr>
            <p:nvPr/>
          </p:nvGrpSpPr>
          <p:grpSpPr bwMode="auto">
            <a:xfrm>
              <a:off x="4830" y="1752"/>
              <a:ext cx="667" cy="477"/>
              <a:chOff x="2949" y="196"/>
              <a:chExt cx="941" cy="598"/>
            </a:xfrm>
            <a:grpFill/>
          </p:grpSpPr>
          <p:sp>
            <p:nvSpPr>
              <p:cNvPr id="11" name="Oval 9"/>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2" name="Oval 10"/>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3" name="Oval 11"/>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4" name="Oval 12"/>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5" name="Oval 13"/>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6" name="Oval 14"/>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7" name="Oval 15"/>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8" name="Oval 16"/>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9" name="Freeform 1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20" name="Freeform 1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21" name="Freeform 1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10" name="Text Box 20"/>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1</a:t>
              </a:r>
            </a:p>
          </p:txBody>
        </p:sp>
      </p:grpSp>
      <p:grpSp>
        <p:nvGrpSpPr>
          <p:cNvPr id="22" name="Group 21"/>
          <p:cNvGrpSpPr>
            <a:grpSpLocks/>
          </p:cNvGrpSpPr>
          <p:nvPr/>
        </p:nvGrpSpPr>
        <p:grpSpPr bwMode="auto">
          <a:xfrm>
            <a:off x="6444139" y="968580"/>
            <a:ext cx="783138" cy="526362"/>
            <a:chOff x="4830" y="1752"/>
            <a:chExt cx="667" cy="477"/>
          </a:xfrm>
          <a:solidFill>
            <a:srgbClr val="00FFFF"/>
          </a:solidFill>
        </p:grpSpPr>
        <p:grpSp>
          <p:nvGrpSpPr>
            <p:cNvPr id="23" name="Group 22"/>
            <p:cNvGrpSpPr>
              <a:grpSpLocks/>
            </p:cNvGrpSpPr>
            <p:nvPr/>
          </p:nvGrpSpPr>
          <p:grpSpPr bwMode="auto">
            <a:xfrm>
              <a:off x="4830" y="1752"/>
              <a:ext cx="667" cy="477"/>
              <a:chOff x="2949" y="196"/>
              <a:chExt cx="941" cy="598"/>
            </a:xfrm>
            <a:grpFill/>
          </p:grpSpPr>
          <p:sp>
            <p:nvSpPr>
              <p:cNvPr id="25" name="Oval 23"/>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6" name="Oval 24"/>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7" name="Oval 25"/>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8" name="Oval 26"/>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9" name="Oval 27"/>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30" name="Oval 28"/>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31" name="Oval 29"/>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32" name="Oval 30"/>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33" name="Freeform 31"/>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34" name="Freeform 32"/>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35" name="Freeform 33"/>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24" name="Text Box 34"/>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3</a:t>
              </a:r>
            </a:p>
          </p:txBody>
        </p:sp>
      </p:grpSp>
      <p:grpSp>
        <p:nvGrpSpPr>
          <p:cNvPr id="36" name="Group 35"/>
          <p:cNvGrpSpPr>
            <a:grpSpLocks/>
          </p:cNvGrpSpPr>
          <p:nvPr/>
        </p:nvGrpSpPr>
        <p:grpSpPr bwMode="auto">
          <a:xfrm>
            <a:off x="4099995" y="968580"/>
            <a:ext cx="783138" cy="526362"/>
            <a:chOff x="4830" y="1752"/>
            <a:chExt cx="667" cy="477"/>
          </a:xfrm>
          <a:solidFill>
            <a:srgbClr val="00FFFF"/>
          </a:solidFill>
        </p:grpSpPr>
        <p:grpSp>
          <p:nvGrpSpPr>
            <p:cNvPr id="37" name="Group 36"/>
            <p:cNvGrpSpPr>
              <a:grpSpLocks/>
            </p:cNvGrpSpPr>
            <p:nvPr/>
          </p:nvGrpSpPr>
          <p:grpSpPr bwMode="auto">
            <a:xfrm>
              <a:off x="4830" y="1752"/>
              <a:ext cx="667" cy="477"/>
              <a:chOff x="2949" y="196"/>
              <a:chExt cx="941" cy="598"/>
            </a:xfrm>
            <a:grpFill/>
          </p:grpSpPr>
          <p:sp>
            <p:nvSpPr>
              <p:cNvPr id="39" name="Oval 37"/>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0" name="Oval 38"/>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1" name="Oval 39"/>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2" name="Oval 40"/>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3" name="Oval 41"/>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4" name="Oval 42"/>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5" name="Oval 43"/>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6" name="Oval 44"/>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7" name="Freeform 4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48" name="Freeform 4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49" name="Freeform 4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38" name="Text Box 48"/>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2</a:t>
              </a:r>
            </a:p>
          </p:txBody>
        </p:sp>
      </p:grpSp>
      <p:grpSp>
        <p:nvGrpSpPr>
          <p:cNvPr id="127" name="组合 126"/>
          <p:cNvGrpSpPr/>
          <p:nvPr/>
        </p:nvGrpSpPr>
        <p:grpSpPr>
          <a:xfrm>
            <a:off x="1780094" y="1755788"/>
            <a:ext cx="5447183" cy="669385"/>
            <a:chOff x="1780094" y="1755788"/>
            <a:chExt cx="5447183" cy="669385"/>
          </a:xfrm>
        </p:grpSpPr>
        <p:sp>
          <p:nvSpPr>
            <p:cNvPr id="50" name="Line 50"/>
            <p:cNvSpPr>
              <a:spLocks noChangeShapeType="1"/>
            </p:cNvSpPr>
            <p:nvPr/>
          </p:nvSpPr>
          <p:spPr bwMode="auto">
            <a:xfrm>
              <a:off x="2416723" y="2074913"/>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pic>
          <p:nvPicPr>
            <p:cNvPr id="51" name="Picture 5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47028" y="1980538"/>
              <a:ext cx="483796"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2" name="Text Box 52"/>
            <p:cNvSpPr txBox="1">
              <a:spLocks noChangeArrowheads="1"/>
            </p:cNvSpPr>
            <p:nvPr/>
          </p:nvSpPr>
          <p:spPr bwMode="auto">
            <a:xfrm>
              <a:off x="5578787" y="2132317"/>
              <a:ext cx="371016" cy="2928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2</a:t>
              </a:r>
              <a:endParaRPr kumimoji="1" lang="en-US" altLang="zh-CN" sz="1300" b="1">
                <a:latin typeface="微软雅黑" pitchFamily="34" charset="-122"/>
                <a:ea typeface="微软雅黑" pitchFamily="34" charset="-122"/>
              </a:endParaRPr>
            </a:p>
          </p:txBody>
        </p:sp>
        <p:sp>
          <p:nvSpPr>
            <p:cNvPr id="53" name="Text Box 53"/>
            <p:cNvSpPr txBox="1">
              <a:spLocks noChangeArrowheads="1"/>
            </p:cNvSpPr>
            <p:nvPr/>
          </p:nvSpPr>
          <p:spPr bwMode="auto">
            <a:xfrm>
              <a:off x="3190375" y="2132317"/>
              <a:ext cx="371016" cy="2928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1</a:t>
              </a:r>
              <a:endParaRPr kumimoji="1" lang="en-US" altLang="zh-CN" sz="1300" b="1">
                <a:latin typeface="微软雅黑" pitchFamily="34" charset="-122"/>
                <a:ea typeface="微软雅黑" pitchFamily="34" charset="-122"/>
              </a:endParaRPr>
            </a:p>
          </p:txBody>
        </p:sp>
        <p:pic>
          <p:nvPicPr>
            <p:cNvPr id="54" name="Picture 5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34386" y="1980538"/>
              <a:ext cx="484850"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5" name="Group 55"/>
            <p:cNvGrpSpPr>
              <a:grpSpLocks/>
            </p:cNvGrpSpPr>
            <p:nvPr/>
          </p:nvGrpSpPr>
          <p:grpSpPr bwMode="auto">
            <a:xfrm>
              <a:off x="1793796" y="1810273"/>
              <a:ext cx="783138" cy="526362"/>
              <a:chOff x="4830" y="1752"/>
              <a:chExt cx="667" cy="477"/>
            </a:xfrm>
            <a:solidFill>
              <a:srgbClr val="00FFFF"/>
            </a:solidFill>
          </p:grpSpPr>
          <p:grpSp>
            <p:nvGrpSpPr>
              <p:cNvPr id="56" name="Group 56"/>
              <p:cNvGrpSpPr>
                <a:grpSpLocks/>
              </p:cNvGrpSpPr>
              <p:nvPr/>
            </p:nvGrpSpPr>
            <p:grpSpPr bwMode="auto">
              <a:xfrm>
                <a:off x="4830" y="1752"/>
                <a:ext cx="667" cy="477"/>
                <a:chOff x="2949" y="196"/>
                <a:chExt cx="941" cy="598"/>
              </a:xfrm>
              <a:grpFill/>
            </p:grpSpPr>
            <p:sp>
              <p:nvSpPr>
                <p:cNvPr id="58" name="Oval 57"/>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59" name="Oval 58"/>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0" name="Oval 59"/>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1" name="Oval 60"/>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2" name="Oval 61"/>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3" name="Oval 62"/>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4" name="Oval 63"/>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5" name="Oval 64"/>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6" name="Freeform 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67" name="Freeform 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68" name="Freeform 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57" name="Text Box 68"/>
              <p:cNvSpPr txBox="1">
                <a:spLocks noChangeArrowheads="1"/>
              </p:cNvSpPr>
              <p:nvPr/>
            </p:nvSpPr>
            <p:spPr bwMode="auto">
              <a:xfrm>
                <a:off x="4965"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1</a:t>
                </a:r>
              </a:p>
            </p:txBody>
          </p:sp>
        </p:grpSp>
        <p:grpSp>
          <p:nvGrpSpPr>
            <p:cNvPr id="69" name="Group 69"/>
            <p:cNvGrpSpPr>
              <a:grpSpLocks/>
            </p:cNvGrpSpPr>
            <p:nvPr/>
          </p:nvGrpSpPr>
          <p:grpSpPr bwMode="auto">
            <a:xfrm>
              <a:off x="6444139" y="1810273"/>
              <a:ext cx="783138" cy="526362"/>
              <a:chOff x="4830" y="1752"/>
              <a:chExt cx="667" cy="477"/>
            </a:xfrm>
            <a:solidFill>
              <a:srgbClr val="00FFFF"/>
            </a:solidFill>
          </p:grpSpPr>
          <p:grpSp>
            <p:nvGrpSpPr>
              <p:cNvPr id="70" name="Group 70"/>
              <p:cNvGrpSpPr>
                <a:grpSpLocks/>
              </p:cNvGrpSpPr>
              <p:nvPr/>
            </p:nvGrpSpPr>
            <p:grpSpPr bwMode="auto">
              <a:xfrm>
                <a:off x="4830" y="1752"/>
                <a:ext cx="667" cy="477"/>
                <a:chOff x="2949" y="196"/>
                <a:chExt cx="941" cy="598"/>
              </a:xfrm>
              <a:grpFill/>
            </p:grpSpPr>
            <p:sp>
              <p:nvSpPr>
                <p:cNvPr id="72" name="Oval 71"/>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3" name="Oval 72"/>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4" name="Oval 73"/>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5" name="Oval 74"/>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6" name="Oval 75"/>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7" name="Oval 76"/>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8" name="Oval 77"/>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9" name="Oval 78"/>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0" name="Freeform 79"/>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81" name="Freeform 80"/>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82" name="Freeform 81"/>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71" name="Text Box 82"/>
              <p:cNvSpPr txBox="1">
                <a:spLocks noChangeArrowheads="1"/>
              </p:cNvSpPr>
              <p:nvPr/>
            </p:nvSpPr>
            <p:spPr bwMode="auto">
              <a:xfrm>
                <a:off x="4965"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3</a:t>
                </a:r>
              </a:p>
            </p:txBody>
          </p:sp>
        </p:grpSp>
        <p:grpSp>
          <p:nvGrpSpPr>
            <p:cNvPr id="83" name="Group 83"/>
            <p:cNvGrpSpPr>
              <a:grpSpLocks/>
            </p:cNvGrpSpPr>
            <p:nvPr/>
          </p:nvGrpSpPr>
          <p:grpSpPr bwMode="auto">
            <a:xfrm>
              <a:off x="4099995" y="1810273"/>
              <a:ext cx="783138" cy="526362"/>
              <a:chOff x="4830" y="1752"/>
              <a:chExt cx="667" cy="477"/>
            </a:xfrm>
            <a:solidFill>
              <a:srgbClr val="00FFFF"/>
            </a:solidFill>
          </p:grpSpPr>
          <p:grpSp>
            <p:nvGrpSpPr>
              <p:cNvPr id="84" name="Group 84"/>
              <p:cNvGrpSpPr>
                <a:grpSpLocks/>
              </p:cNvGrpSpPr>
              <p:nvPr/>
            </p:nvGrpSpPr>
            <p:grpSpPr bwMode="auto">
              <a:xfrm>
                <a:off x="4830" y="1752"/>
                <a:ext cx="667" cy="477"/>
                <a:chOff x="2949" y="196"/>
                <a:chExt cx="941" cy="598"/>
              </a:xfrm>
              <a:grpFill/>
            </p:grpSpPr>
            <p:sp>
              <p:nvSpPr>
                <p:cNvPr id="86" name="Oval 85"/>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7" name="Oval 86"/>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8" name="Oval 87"/>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9" name="Oval 88"/>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0" name="Oval 89"/>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1" name="Oval 90"/>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2" name="Oval 91"/>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3" name="Oval 92"/>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4" name="Freeform 93"/>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95" name="Freeform 94"/>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96" name="Freeform 95"/>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85" name="Text Box 96"/>
              <p:cNvSpPr txBox="1">
                <a:spLocks noChangeArrowheads="1"/>
              </p:cNvSpPr>
              <p:nvPr/>
            </p:nvSpPr>
            <p:spPr bwMode="auto">
              <a:xfrm>
                <a:off x="4965"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2</a:t>
                </a:r>
              </a:p>
            </p:txBody>
          </p:sp>
        </p:grpSp>
        <p:grpSp>
          <p:nvGrpSpPr>
            <p:cNvPr id="97" name="Group 97"/>
            <p:cNvGrpSpPr>
              <a:grpSpLocks/>
            </p:cNvGrpSpPr>
            <p:nvPr/>
          </p:nvGrpSpPr>
          <p:grpSpPr bwMode="auto">
            <a:xfrm>
              <a:off x="1780094" y="1755788"/>
              <a:ext cx="795786" cy="595441"/>
              <a:chOff x="434" y="1298"/>
              <a:chExt cx="755" cy="612"/>
            </a:xfrm>
          </p:grpSpPr>
          <p:sp>
            <p:nvSpPr>
              <p:cNvPr id="98" name="Line 98"/>
              <p:cNvSpPr>
                <a:spLocks noChangeShapeType="1"/>
              </p:cNvSpPr>
              <p:nvPr/>
            </p:nvSpPr>
            <p:spPr bwMode="auto">
              <a:xfrm>
                <a:off x="434" y="1298"/>
                <a:ext cx="755" cy="612"/>
              </a:xfrm>
              <a:prstGeom prst="line">
                <a:avLst/>
              </a:prstGeom>
              <a:noFill/>
              <a:ln w="5715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99" name="Line 99"/>
              <p:cNvSpPr>
                <a:spLocks noChangeShapeType="1"/>
              </p:cNvSpPr>
              <p:nvPr/>
            </p:nvSpPr>
            <p:spPr bwMode="auto">
              <a:xfrm flipH="1">
                <a:off x="434" y="1298"/>
                <a:ext cx="755" cy="612"/>
              </a:xfrm>
              <a:prstGeom prst="line">
                <a:avLst/>
              </a:prstGeom>
              <a:noFill/>
              <a:ln w="5715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grpSp>
      <p:sp>
        <p:nvSpPr>
          <p:cNvPr id="100" name="Text Box 100"/>
          <p:cNvSpPr txBox="1">
            <a:spLocks noChangeArrowheads="1"/>
          </p:cNvSpPr>
          <p:nvPr/>
        </p:nvSpPr>
        <p:spPr bwMode="auto">
          <a:xfrm>
            <a:off x="1596284" y="2462144"/>
            <a:ext cx="1220206" cy="2723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1300" b="1" dirty="0">
                <a:solidFill>
                  <a:srgbClr val="CC00CC"/>
                </a:solidFill>
                <a:latin typeface="微软雅黑" pitchFamily="34" charset="-122"/>
                <a:ea typeface="微软雅黑" pitchFamily="34" charset="-122"/>
              </a:rPr>
              <a:t>网 </a:t>
            </a:r>
            <a:r>
              <a:rPr kumimoji="1" lang="en-US" altLang="zh-CN" sz="1300" b="1" dirty="0">
                <a:solidFill>
                  <a:srgbClr val="CC00CC"/>
                </a:solidFill>
                <a:latin typeface="微软雅黑" pitchFamily="34" charset="-122"/>
                <a:ea typeface="微软雅黑" pitchFamily="34" charset="-122"/>
              </a:rPr>
              <a:t>1 </a:t>
            </a:r>
            <a:r>
              <a:rPr kumimoji="1" lang="zh-CN" altLang="en-US" sz="1300" b="1" dirty="0">
                <a:solidFill>
                  <a:srgbClr val="CC00CC"/>
                </a:solidFill>
                <a:latin typeface="微软雅黑" pitchFamily="34" charset="-122"/>
                <a:ea typeface="微软雅黑" pitchFamily="34" charset="-122"/>
              </a:rPr>
              <a:t>出了故障</a:t>
            </a:r>
          </a:p>
        </p:txBody>
      </p:sp>
      <p:sp>
        <p:nvSpPr>
          <p:cNvPr id="101" name="Text Box 101"/>
          <p:cNvSpPr txBox="1">
            <a:spLocks noChangeArrowheads="1"/>
          </p:cNvSpPr>
          <p:nvPr/>
        </p:nvSpPr>
        <p:spPr bwMode="auto">
          <a:xfrm>
            <a:off x="1486022" y="768154"/>
            <a:ext cx="351378" cy="8925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dirty="0">
                <a:solidFill>
                  <a:srgbClr val="CC00CC"/>
                </a:solidFill>
                <a:latin typeface="微软雅黑" pitchFamily="34" charset="-122"/>
                <a:ea typeface="微软雅黑" pitchFamily="34" charset="-122"/>
              </a:rPr>
              <a:t>正</a:t>
            </a:r>
          </a:p>
          <a:p>
            <a:r>
              <a:rPr kumimoji="1" lang="zh-CN" altLang="en-US" sz="1300" b="1" dirty="0">
                <a:solidFill>
                  <a:srgbClr val="CC00CC"/>
                </a:solidFill>
                <a:latin typeface="微软雅黑" pitchFamily="34" charset="-122"/>
                <a:ea typeface="微软雅黑" pitchFamily="34" charset="-122"/>
              </a:rPr>
              <a:t>常</a:t>
            </a:r>
          </a:p>
          <a:p>
            <a:r>
              <a:rPr kumimoji="1" lang="zh-CN" altLang="en-US" sz="1300" b="1" dirty="0">
                <a:solidFill>
                  <a:srgbClr val="CC00CC"/>
                </a:solidFill>
                <a:latin typeface="微软雅黑" pitchFamily="34" charset="-122"/>
                <a:ea typeface="微软雅黑" pitchFamily="34" charset="-122"/>
              </a:rPr>
              <a:t>情</a:t>
            </a:r>
          </a:p>
          <a:p>
            <a:r>
              <a:rPr kumimoji="1" lang="zh-CN" altLang="en-US" sz="1300" b="1" dirty="0">
                <a:solidFill>
                  <a:srgbClr val="CC00CC"/>
                </a:solidFill>
                <a:latin typeface="微软雅黑" pitchFamily="34" charset="-122"/>
                <a:ea typeface="微软雅黑" pitchFamily="34" charset="-122"/>
              </a:rPr>
              <a:t>况</a:t>
            </a:r>
          </a:p>
        </p:txBody>
      </p:sp>
      <p:grpSp>
        <p:nvGrpSpPr>
          <p:cNvPr id="102" name="Group 102"/>
          <p:cNvGrpSpPr>
            <a:grpSpLocks/>
          </p:cNvGrpSpPr>
          <p:nvPr/>
        </p:nvGrpSpPr>
        <p:grpSpPr bwMode="auto">
          <a:xfrm>
            <a:off x="2816198" y="886853"/>
            <a:ext cx="977077" cy="191669"/>
            <a:chOff x="1491" y="212"/>
            <a:chExt cx="853" cy="240"/>
          </a:xfrm>
          <a:solidFill>
            <a:srgbClr val="FFFF00"/>
          </a:solidFill>
        </p:grpSpPr>
        <p:sp>
          <p:nvSpPr>
            <p:cNvPr id="103" name="AutoShape 10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04" name="Rectangle 104"/>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05" name="Text Box 105"/>
          <p:cNvSpPr txBox="1">
            <a:spLocks noChangeArrowheads="1"/>
          </p:cNvSpPr>
          <p:nvPr/>
        </p:nvSpPr>
        <p:spPr bwMode="auto">
          <a:xfrm>
            <a:off x="2828846" y="932581"/>
            <a:ext cx="679994" cy="206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a:latin typeface="微软雅黑" pitchFamily="34" charset="-122"/>
                <a:ea typeface="微软雅黑" pitchFamily="34" charset="-122"/>
              </a:rPr>
              <a:t>1  1  </a:t>
            </a:r>
            <a:r>
              <a:rPr kumimoji="1" lang="en-US" altLang="zh-CN" sz="1300" b="1">
                <a:latin typeface="微软雅黑" pitchFamily="34" charset="-122"/>
                <a:ea typeface="微软雅黑" pitchFamily="34" charset="-122"/>
                <a:sym typeface="Symbol" pitchFamily="18" charset="2"/>
              </a:rPr>
              <a:t></a:t>
            </a:r>
            <a:endParaRPr kumimoji="1" lang="en-US" altLang="zh-CN" sz="1300" b="1" baseline="-25000">
              <a:latin typeface="微软雅黑" pitchFamily="34" charset="-122"/>
              <a:ea typeface="微软雅黑" pitchFamily="34" charset="-122"/>
              <a:sym typeface="Symbol" pitchFamily="18" charset="2"/>
            </a:endParaRPr>
          </a:p>
        </p:txBody>
      </p:sp>
      <p:grpSp>
        <p:nvGrpSpPr>
          <p:cNvPr id="106" name="Group 106"/>
          <p:cNvGrpSpPr>
            <a:grpSpLocks/>
          </p:cNvGrpSpPr>
          <p:nvPr/>
        </p:nvGrpSpPr>
        <p:grpSpPr bwMode="auto">
          <a:xfrm>
            <a:off x="2973246" y="2505923"/>
            <a:ext cx="1001320" cy="247128"/>
            <a:chOff x="1566" y="2024"/>
            <a:chExt cx="950" cy="254"/>
          </a:xfrm>
          <a:solidFill>
            <a:srgbClr val="FFFF00"/>
          </a:solidFill>
        </p:grpSpPr>
        <p:grpSp>
          <p:nvGrpSpPr>
            <p:cNvPr id="107" name="Group 107"/>
            <p:cNvGrpSpPr>
              <a:grpSpLocks/>
            </p:cNvGrpSpPr>
            <p:nvPr/>
          </p:nvGrpSpPr>
          <p:grpSpPr bwMode="auto">
            <a:xfrm>
              <a:off x="1589" y="2024"/>
              <a:ext cx="927" cy="197"/>
              <a:chOff x="1491" y="212"/>
              <a:chExt cx="853" cy="240"/>
            </a:xfrm>
            <a:grpFill/>
          </p:grpSpPr>
          <p:sp>
            <p:nvSpPr>
              <p:cNvPr id="109" name="AutoShape 108"/>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10" name="Rectangle 109"/>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08" name="Text Box 110"/>
            <p:cNvSpPr txBox="1">
              <a:spLocks noChangeArrowheads="1"/>
            </p:cNvSpPr>
            <p:nvPr/>
          </p:nvSpPr>
          <p:spPr bwMode="auto">
            <a:xfrm>
              <a:off x="1566" y="2066"/>
              <a:ext cx="742" cy="212"/>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dirty="0">
                  <a:latin typeface="微软雅黑" pitchFamily="34" charset="-122"/>
                  <a:ea typeface="微软雅黑" pitchFamily="34" charset="-122"/>
                </a:rPr>
                <a:t>1  16  </a:t>
              </a:r>
              <a:r>
                <a:rPr kumimoji="1" lang="en-US" altLang="zh-CN" sz="1300" b="1" dirty="0">
                  <a:latin typeface="微软雅黑" pitchFamily="34" charset="-122"/>
                  <a:ea typeface="微软雅黑" pitchFamily="34" charset="-122"/>
                  <a:sym typeface="Symbol" pitchFamily="18" charset="2"/>
                </a:rPr>
                <a:t></a:t>
              </a:r>
              <a:endParaRPr kumimoji="1" lang="en-US" altLang="zh-CN" sz="1300" b="1" baseline="-25000" dirty="0">
                <a:latin typeface="微软雅黑" pitchFamily="34" charset="-122"/>
                <a:ea typeface="微软雅黑" pitchFamily="34" charset="-122"/>
                <a:sym typeface="Symbol" pitchFamily="18" charset="2"/>
              </a:endParaRPr>
            </a:p>
          </p:txBody>
        </p:sp>
      </p:grpSp>
      <p:grpSp>
        <p:nvGrpSpPr>
          <p:cNvPr id="111" name="Group 111"/>
          <p:cNvGrpSpPr>
            <a:grpSpLocks/>
          </p:cNvGrpSpPr>
          <p:nvPr/>
        </p:nvGrpSpPr>
        <p:grpSpPr bwMode="auto">
          <a:xfrm flipH="1">
            <a:off x="5027534" y="900474"/>
            <a:ext cx="977077" cy="191669"/>
            <a:chOff x="1491" y="212"/>
            <a:chExt cx="853" cy="240"/>
          </a:xfrm>
          <a:solidFill>
            <a:srgbClr val="66FF66"/>
          </a:solidFill>
        </p:grpSpPr>
        <p:sp>
          <p:nvSpPr>
            <p:cNvPr id="112" name="AutoShape 112"/>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13" name="Rectangle 113"/>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14" name="Text Box 114"/>
          <p:cNvSpPr txBox="1">
            <a:spLocks noChangeArrowheads="1"/>
          </p:cNvSpPr>
          <p:nvPr/>
        </p:nvSpPr>
        <p:spPr bwMode="auto">
          <a:xfrm>
            <a:off x="5286823" y="960619"/>
            <a:ext cx="774571" cy="206980"/>
          </a:xfrm>
          <a:prstGeom prst="rect">
            <a:avLst/>
          </a:prstGeom>
          <a:noFill/>
          <a:ln>
            <a:noFill/>
          </a:ln>
          <a:effectLst/>
        </p:spPr>
        <p:txBody>
          <a:bodyPr wrap="none">
            <a:spAutoFit/>
          </a:bodyPr>
          <a:lstStyle/>
          <a:p>
            <a:pPr>
              <a:lnSpc>
                <a:spcPct val="50000"/>
              </a:lnSpc>
            </a:pPr>
            <a:r>
              <a:rPr kumimoji="1" lang="en-US" altLang="zh-CN" sz="1300" b="1" dirty="0">
                <a:latin typeface="微软雅黑" pitchFamily="34" charset="-122"/>
                <a:ea typeface="微软雅黑" pitchFamily="34" charset="-122"/>
              </a:rPr>
              <a:t>1  2  </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1</a:t>
            </a:r>
          </a:p>
        </p:txBody>
      </p:sp>
      <p:grpSp>
        <p:nvGrpSpPr>
          <p:cNvPr id="115" name="Group 115"/>
          <p:cNvGrpSpPr>
            <a:grpSpLocks/>
          </p:cNvGrpSpPr>
          <p:nvPr/>
        </p:nvGrpSpPr>
        <p:grpSpPr bwMode="auto">
          <a:xfrm>
            <a:off x="5027535" y="2473801"/>
            <a:ext cx="1033995" cy="265611"/>
            <a:chOff x="3515" y="1991"/>
            <a:chExt cx="981" cy="273"/>
          </a:xfrm>
          <a:solidFill>
            <a:srgbClr val="66FF66"/>
          </a:solidFill>
        </p:grpSpPr>
        <p:grpSp>
          <p:nvGrpSpPr>
            <p:cNvPr id="116" name="Group 116"/>
            <p:cNvGrpSpPr>
              <a:grpSpLocks/>
            </p:cNvGrpSpPr>
            <p:nvPr/>
          </p:nvGrpSpPr>
          <p:grpSpPr bwMode="auto">
            <a:xfrm flipH="1">
              <a:off x="3515" y="1991"/>
              <a:ext cx="927" cy="197"/>
              <a:chOff x="1491" y="212"/>
              <a:chExt cx="853" cy="240"/>
            </a:xfrm>
            <a:grpFill/>
          </p:grpSpPr>
          <p:sp>
            <p:nvSpPr>
              <p:cNvPr id="118" name="AutoShape 117"/>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19" name="Rectangle 118"/>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17" name="Text Box 119"/>
            <p:cNvSpPr txBox="1">
              <a:spLocks noChangeArrowheads="1"/>
            </p:cNvSpPr>
            <p:nvPr/>
          </p:nvSpPr>
          <p:spPr bwMode="auto">
            <a:xfrm>
              <a:off x="3761" y="2051"/>
              <a:ext cx="735" cy="213"/>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dirty="0">
                  <a:latin typeface="微软雅黑" pitchFamily="34" charset="-122"/>
                  <a:ea typeface="微软雅黑" pitchFamily="34" charset="-122"/>
                </a:rPr>
                <a:t>1  2  </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1</a:t>
              </a:r>
            </a:p>
          </p:txBody>
        </p:sp>
      </p:grpSp>
      <p:sp>
        <p:nvSpPr>
          <p:cNvPr id="125" name="Text Box 120"/>
          <p:cNvSpPr txBox="1">
            <a:spLocks noChangeArrowheads="1"/>
          </p:cNvSpPr>
          <p:nvPr/>
        </p:nvSpPr>
        <p:spPr bwMode="auto">
          <a:xfrm>
            <a:off x="1558752" y="3469443"/>
            <a:ext cx="4612010" cy="605294"/>
          </a:xfrm>
          <a:prstGeom prst="rect">
            <a:avLst/>
          </a:prstGeom>
          <a:solidFill>
            <a:srgbClr val="00FF99"/>
          </a:solidFill>
          <a:ln w="9525">
            <a:solidFill>
              <a:schemeClr val="tx2"/>
            </a:solidFill>
            <a:miter lim="800000"/>
            <a:headEnd/>
            <a:tailEnd/>
          </a:ln>
          <a:effectLst/>
        </p:spPr>
        <p:txBody>
          <a:bodyPr wrap="square">
            <a:spAutoFit/>
          </a:bodyPr>
          <a:lstStyle/>
          <a:p>
            <a:pPr>
              <a:lnSpc>
                <a:spcPts val="2000"/>
              </a:lnSpc>
            </a:pPr>
            <a:r>
              <a:rPr kumimoji="1" lang="zh-CN" altLang="en-US" sz="1300" b="1" dirty="0">
                <a:latin typeface="微软雅黑" pitchFamily="34" charset="-122"/>
                <a:ea typeface="微软雅黑" pitchFamily="34" charset="-122"/>
              </a:rPr>
              <a:t>但 </a:t>
            </a: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2</a:t>
            </a:r>
            <a:r>
              <a:rPr kumimoji="1" lang="en-US" altLang="zh-CN" sz="1300" b="1" dirty="0">
                <a:latin typeface="微软雅黑" pitchFamily="34" charset="-122"/>
                <a:ea typeface="微软雅黑" pitchFamily="34" charset="-122"/>
              </a:rPr>
              <a:t> </a:t>
            </a:r>
            <a:r>
              <a:rPr kumimoji="1" lang="zh-CN" altLang="en-US" sz="1300" b="1" dirty="0">
                <a:latin typeface="微软雅黑" pitchFamily="34" charset="-122"/>
                <a:ea typeface="微软雅黑" pitchFamily="34" charset="-122"/>
              </a:rPr>
              <a:t>在收到 </a:t>
            </a: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1 </a:t>
            </a:r>
            <a:r>
              <a:rPr kumimoji="1" lang="zh-CN" altLang="en-US" sz="1300" b="1" dirty="0">
                <a:latin typeface="微软雅黑" pitchFamily="34" charset="-122"/>
                <a:ea typeface="微软雅黑" pitchFamily="34" charset="-122"/>
              </a:rPr>
              <a:t>的更新报文之前，还发送原来的报文，</a:t>
            </a:r>
          </a:p>
          <a:p>
            <a:pPr>
              <a:lnSpc>
                <a:spcPts val="2000"/>
              </a:lnSpc>
            </a:pPr>
            <a:r>
              <a:rPr kumimoji="1" lang="zh-CN" altLang="en-US" sz="1300" b="1" dirty="0">
                <a:latin typeface="微软雅黑" pitchFamily="34" charset="-122"/>
                <a:ea typeface="微软雅黑" pitchFamily="34" charset="-122"/>
              </a:rPr>
              <a:t>因为这时 </a:t>
            </a: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2 </a:t>
            </a:r>
            <a:r>
              <a:rPr kumimoji="1" lang="zh-CN" altLang="en-US" sz="1300" b="1" dirty="0">
                <a:latin typeface="微软雅黑" pitchFamily="34" charset="-122"/>
                <a:ea typeface="微软雅黑" pitchFamily="34" charset="-122"/>
              </a:rPr>
              <a:t>并不知道 </a:t>
            </a: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1</a:t>
            </a:r>
            <a:r>
              <a:rPr kumimoji="1" lang="en-US" altLang="zh-CN" sz="1300" b="1" dirty="0">
                <a:latin typeface="微软雅黑" pitchFamily="34" charset="-122"/>
                <a:ea typeface="微软雅黑" pitchFamily="34" charset="-122"/>
              </a:rPr>
              <a:t> </a:t>
            </a:r>
            <a:r>
              <a:rPr kumimoji="1" lang="zh-CN" altLang="en-US" sz="1300" b="1" dirty="0">
                <a:latin typeface="微软雅黑" pitchFamily="34" charset="-122"/>
                <a:ea typeface="微软雅黑" pitchFamily="34" charset="-122"/>
              </a:rPr>
              <a:t>出了故障。</a:t>
            </a:r>
          </a:p>
        </p:txBody>
      </p:sp>
      <p:sp>
        <p:nvSpPr>
          <p:cNvPr id="126" name="Text Box 120"/>
          <p:cNvSpPr txBox="1">
            <a:spLocks noChangeArrowheads="1"/>
          </p:cNvSpPr>
          <p:nvPr/>
        </p:nvSpPr>
        <p:spPr bwMode="auto">
          <a:xfrm>
            <a:off x="1558752" y="3016928"/>
            <a:ext cx="5237009" cy="348813"/>
          </a:xfrm>
          <a:prstGeom prst="rect">
            <a:avLst/>
          </a:prstGeom>
          <a:solidFill>
            <a:srgbClr val="00FFFF"/>
          </a:solidFill>
          <a:ln w="9525">
            <a:solidFill>
              <a:schemeClr val="tx2"/>
            </a:solidFill>
            <a:miter lim="800000"/>
            <a:headEnd/>
            <a:tailEnd/>
          </a:ln>
          <a:effectLst/>
        </p:spPr>
        <p:txBody>
          <a:bodyPr wrap="square">
            <a:spAutoFit/>
          </a:bodyPr>
          <a:lstStyle/>
          <a:p>
            <a:pPr>
              <a:lnSpc>
                <a:spcPts val="2000"/>
              </a:lnSpc>
            </a:pP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1</a:t>
            </a:r>
            <a:r>
              <a:rPr kumimoji="1" lang="en-US" altLang="zh-CN" sz="1300" b="1" dirty="0">
                <a:latin typeface="微软雅黑" pitchFamily="34" charset="-122"/>
                <a:ea typeface="微软雅黑" pitchFamily="34" charset="-122"/>
              </a:rPr>
              <a:t> </a:t>
            </a:r>
            <a:r>
              <a:rPr kumimoji="1" lang="zh-CN" altLang="en-US" sz="1300" b="1" dirty="0">
                <a:latin typeface="微软雅黑" pitchFamily="34" charset="-122"/>
                <a:ea typeface="微软雅黑" pitchFamily="34" charset="-122"/>
              </a:rPr>
              <a:t>说：“我到网 </a:t>
            </a:r>
            <a:r>
              <a:rPr kumimoji="1" lang="en-US" altLang="zh-CN" sz="1300" b="1" dirty="0">
                <a:latin typeface="微软雅黑" pitchFamily="34" charset="-122"/>
                <a:ea typeface="微软雅黑" pitchFamily="34" charset="-122"/>
              </a:rPr>
              <a:t>1 </a:t>
            </a:r>
            <a:r>
              <a:rPr kumimoji="1" lang="zh-CN" altLang="en-US" sz="1300" b="1" dirty="0">
                <a:latin typeface="微软雅黑" pitchFamily="34" charset="-122"/>
                <a:ea typeface="微软雅黑" pitchFamily="34" charset="-122"/>
              </a:rPr>
              <a:t>的距离是 </a:t>
            </a:r>
            <a:r>
              <a:rPr kumimoji="1" lang="en-US" altLang="zh-CN" sz="1300" b="1" dirty="0">
                <a:latin typeface="微软雅黑" pitchFamily="34" charset="-122"/>
                <a:ea typeface="微软雅黑" pitchFamily="34" charset="-122"/>
              </a:rPr>
              <a:t>16 </a:t>
            </a:r>
            <a:r>
              <a:rPr kumimoji="1" lang="zh-CN" altLang="en-US" sz="1300" b="1" dirty="0">
                <a:latin typeface="微软雅黑" pitchFamily="34" charset="-122"/>
                <a:ea typeface="微软雅黑" pitchFamily="34" charset="-122"/>
              </a:rPr>
              <a:t>（表示无法到达），是直接交付。”</a:t>
            </a:r>
          </a:p>
        </p:txBody>
      </p:sp>
    </p:spTree>
    <p:extLst>
      <p:ext uri="{BB962C8B-B14F-4D97-AF65-F5344CB8AC3E}">
        <p14:creationId xmlns:p14="http://schemas.microsoft.com/office/powerpoint/2010/main" val="140243095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2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26"/>
                                        </p:tgtEl>
                                        <p:attrNameLst>
                                          <p:attrName>style.visibility</p:attrName>
                                        </p:attrNameLst>
                                      </p:cBhvr>
                                      <p:to>
                                        <p:strVal val="visible"/>
                                      </p:to>
                                    </p:set>
                                  </p:childTnLst>
                                </p:cTn>
                              </p:par>
                            </p:childTnLst>
                          </p:cTn>
                        </p:par>
                        <p:par>
                          <p:cTn id="11" fill="hold">
                            <p:stCondLst>
                              <p:cond delay="0"/>
                            </p:stCondLst>
                            <p:childTnLst>
                              <p:par>
                                <p:cTn id="12" presetID="1" presetClass="entr" presetSubtype="0" fill="hold" nodeType="afterEffect">
                                  <p:stCondLst>
                                    <p:cond delay="0"/>
                                  </p:stCondLst>
                                  <p:childTnLst>
                                    <p:set>
                                      <p:cBhvr>
                                        <p:cTn id="13" dur="1" fill="hold">
                                          <p:stCondLst>
                                            <p:cond delay="0"/>
                                          </p:stCondLst>
                                        </p:cTn>
                                        <p:tgtEl>
                                          <p:spTgt spid="106"/>
                                        </p:tgtEl>
                                        <p:attrNameLst>
                                          <p:attrName>style.visibility</p:attrName>
                                        </p:attrNameLst>
                                      </p:cBhvr>
                                      <p:to>
                                        <p:strVal val="visible"/>
                                      </p:to>
                                    </p:set>
                                  </p:childTnLst>
                                </p:cTn>
                              </p:par>
                              <p:par>
                                <p:cTn id="14" presetID="1" presetClass="entr" presetSubtype="0" fill="hold" grpId="0" nodeType="withEffect">
                                  <p:stCondLst>
                                    <p:cond delay="0"/>
                                  </p:stCondLst>
                                  <p:childTnLst>
                                    <p:set>
                                      <p:cBhvr>
                                        <p:cTn id="15" dur="1" fill="hold">
                                          <p:stCondLst>
                                            <p:cond delay="0"/>
                                          </p:stCondLst>
                                        </p:cTn>
                                        <p:tgtEl>
                                          <p:spTgt spid="100"/>
                                        </p:tgtEl>
                                        <p:attrNameLst>
                                          <p:attrName>style.visibility</p:attrName>
                                        </p:attrNameLst>
                                      </p:cBhvr>
                                      <p:to>
                                        <p:strVal val="visible"/>
                                      </p:to>
                                    </p:set>
                                  </p:childTnLst>
                                </p:cTn>
                              </p:par>
                            </p:childTnLst>
                          </p:cTn>
                        </p:par>
                        <p:par>
                          <p:cTn id="16" fill="hold">
                            <p:stCondLst>
                              <p:cond delay="0"/>
                            </p:stCondLst>
                            <p:childTnLst>
                              <p:par>
                                <p:cTn id="17" presetID="35" presetClass="emph" presetSubtype="0" repeatCount="3000" fill="hold" nodeType="afterEffect">
                                  <p:stCondLst>
                                    <p:cond delay="0"/>
                                  </p:stCondLst>
                                  <p:childTnLst>
                                    <p:anim calcmode="discrete" valueType="str">
                                      <p:cBhvr>
                                        <p:cTn id="18" dur="1000" fill="hold"/>
                                        <p:tgtEl>
                                          <p:spTgt spid="106"/>
                                        </p:tgtEl>
                                        <p:attrNameLst>
                                          <p:attrName>style.visibility</p:attrName>
                                        </p:attrNameLst>
                                      </p:cBhvr>
                                      <p:tavLst>
                                        <p:tav tm="0">
                                          <p:val>
                                            <p:strVal val="hidden"/>
                                          </p:val>
                                        </p:tav>
                                        <p:tav tm="50000">
                                          <p:val>
                                            <p:strVal val="visible"/>
                                          </p:val>
                                        </p:tav>
                                      </p:tavLst>
                                    </p:anim>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25"/>
                                        </p:tgtEl>
                                        <p:attrNameLst>
                                          <p:attrName>style.visibility</p:attrName>
                                        </p:attrNameLst>
                                      </p:cBhvr>
                                      <p:to>
                                        <p:strVal val="visible"/>
                                      </p:to>
                                    </p:set>
                                  </p:childTnLst>
                                </p:cTn>
                              </p:par>
                            </p:childTnLst>
                          </p:cTn>
                        </p:par>
                        <p:par>
                          <p:cTn id="23" fill="hold">
                            <p:stCondLst>
                              <p:cond delay="0"/>
                            </p:stCondLst>
                            <p:childTnLst>
                              <p:par>
                                <p:cTn id="24" presetID="1" presetClass="entr" presetSubtype="0" fill="hold" nodeType="afterEffect">
                                  <p:stCondLst>
                                    <p:cond delay="0"/>
                                  </p:stCondLst>
                                  <p:childTnLst>
                                    <p:set>
                                      <p:cBhvr>
                                        <p:cTn id="25" dur="1" fill="hold">
                                          <p:stCondLst>
                                            <p:cond delay="0"/>
                                          </p:stCondLst>
                                        </p:cTn>
                                        <p:tgtEl>
                                          <p:spTgt spid="115"/>
                                        </p:tgtEl>
                                        <p:attrNameLst>
                                          <p:attrName>style.visibility</p:attrName>
                                        </p:attrNameLst>
                                      </p:cBhvr>
                                      <p:to>
                                        <p:strVal val="visible"/>
                                      </p:to>
                                    </p:set>
                                  </p:childTnLst>
                                </p:cTn>
                              </p:par>
                            </p:childTnLst>
                          </p:cTn>
                        </p:par>
                        <p:par>
                          <p:cTn id="26" fill="hold">
                            <p:stCondLst>
                              <p:cond delay="0"/>
                            </p:stCondLst>
                            <p:childTnLst>
                              <p:par>
                                <p:cTn id="27" presetID="35" presetClass="emph" presetSubtype="0" repeatCount="3000" fill="hold" nodeType="afterEffect">
                                  <p:stCondLst>
                                    <p:cond delay="0"/>
                                  </p:stCondLst>
                                  <p:childTnLst>
                                    <p:anim calcmode="discrete" valueType="str">
                                      <p:cBhvr>
                                        <p:cTn id="28" dur="1000" fill="hold"/>
                                        <p:tgtEl>
                                          <p:spTgt spid="11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0" grpId="0"/>
      <p:bldP spid="125" grpId="0" animBg="1"/>
      <p:bldP spid="126" grpId="0" animBg="1"/>
    </p:bld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 name="圆角矩形 125"/>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Line 2"/>
          <p:cNvSpPr>
            <a:spLocks noChangeShapeType="1"/>
          </p:cNvSpPr>
          <p:nvPr/>
        </p:nvSpPr>
        <p:spPr bwMode="auto">
          <a:xfrm>
            <a:off x="2416723" y="1233220"/>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pic>
        <p:nvPicPr>
          <p:cNvPr id="4" name="Picture 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47028" y="1137872"/>
            <a:ext cx="483796"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 name="Text Box 4"/>
          <p:cNvSpPr txBox="1">
            <a:spLocks noChangeArrowheads="1"/>
          </p:cNvSpPr>
          <p:nvPr/>
        </p:nvSpPr>
        <p:spPr bwMode="auto">
          <a:xfrm>
            <a:off x="5578787" y="1290624"/>
            <a:ext cx="37061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2</a:t>
            </a:r>
            <a:endParaRPr kumimoji="1" lang="en-US" altLang="zh-CN" sz="1300" b="1">
              <a:latin typeface="微软雅黑" pitchFamily="34" charset="-122"/>
              <a:ea typeface="微软雅黑" pitchFamily="34" charset="-122"/>
            </a:endParaRPr>
          </a:p>
        </p:txBody>
      </p:sp>
      <p:sp>
        <p:nvSpPr>
          <p:cNvPr id="6" name="Text Box 5"/>
          <p:cNvSpPr txBox="1">
            <a:spLocks noChangeArrowheads="1"/>
          </p:cNvSpPr>
          <p:nvPr/>
        </p:nvSpPr>
        <p:spPr bwMode="auto">
          <a:xfrm>
            <a:off x="3190375" y="1290624"/>
            <a:ext cx="37061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1</a:t>
            </a:r>
            <a:endParaRPr kumimoji="1" lang="en-US" altLang="zh-CN" sz="1300" b="1">
              <a:latin typeface="微软雅黑" pitchFamily="34" charset="-122"/>
              <a:ea typeface="微软雅黑" pitchFamily="34" charset="-122"/>
            </a:endParaRPr>
          </a:p>
        </p:txBody>
      </p:sp>
      <p:pic>
        <p:nvPicPr>
          <p:cNvPr id="7" name="Picture 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34387" y="1137872"/>
            <a:ext cx="484850"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8" name="Group 7"/>
          <p:cNvGrpSpPr>
            <a:grpSpLocks/>
          </p:cNvGrpSpPr>
          <p:nvPr/>
        </p:nvGrpSpPr>
        <p:grpSpPr bwMode="auto">
          <a:xfrm>
            <a:off x="1793796" y="968580"/>
            <a:ext cx="783138" cy="526362"/>
            <a:chOff x="4830" y="1752"/>
            <a:chExt cx="667" cy="477"/>
          </a:xfrm>
          <a:solidFill>
            <a:srgbClr val="00FFFF"/>
          </a:solidFill>
        </p:grpSpPr>
        <p:grpSp>
          <p:nvGrpSpPr>
            <p:cNvPr id="9" name="Group 8"/>
            <p:cNvGrpSpPr>
              <a:grpSpLocks/>
            </p:cNvGrpSpPr>
            <p:nvPr/>
          </p:nvGrpSpPr>
          <p:grpSpPr bwMode="auto">
            <a:xfrm>
              <a:off x="4830" y="1752"/>
              <a:ext cx="667" cy="477"/>
              <a:chOff x="2949" y="196"/>
              <a:chExt cx="941" cy="598"/>
            </a:xfrm>
            <a:grpFill/>
          </p:grpSpPr>
          <p:sp>
            <p:nvSpPr>
              <p:cNvPr id="11" name="Oval 9"/>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2" name="Oval 10"/>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3" name="Oval 11"/>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4" name="Oval 12"/>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5" name="Oval 13"/>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6" name="Oval 14"/>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7" name="Oval 15"/>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8" name="Oval 16"/>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9" name="Freeform 1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20" name="Freeform 1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21" name="Freeform 1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10" name="Text Box 20"/>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1</a:t>
              </a:r>
            </a:p>
          </p:txBody>
        </p:sp>
      </p:grpSp>
      <p:grpSp>
        <p:nvGrpSpPr>
          <p:cNvPr id="22" name="Group 21"/>
          <p:cNvGrpSpPr>
            <a:grpSpLocks/>
          </p:cNvGrpSpPr>
          <p:nvPr/>
        </p:nvGrpSpPr>
        <p:grpSpPr bwMode="auto">
          <a:xfrm>
            <a:off x="6444139" y="968580"/>
            <a:ext cx="783138" cy="526362"/>
            <a:chOff x="4830" y="1752"/>
            <a:chExt cx="667" cy="477"/>
          </a:xfrm>
          <a:solidFill>
            <a:srgbClr val="00FFFF"/>
          </a:solidFill>
        </p:grpSpPr>
        <p:grpSp>
          <p:nvGrpSpPr>
            <p:cNvPr id="23" name="Group 22"/>
            <p:cNvGrpSpPr>
              <a:grpSpLocks/>
            </p:cNvGrpSpPr>
            <p:nvPr/>
          </p:nvGrpSpPr>
          <p:grpSpPr bwMode="auto">
            <a:xfrm>
              <a:off x="4830" y="1752"/>
              <a:ext cx="667" cy="477"/>
              <a:chOff x="2949" y="196"/>
              <a:chExt cx="941" cy="598"/>
            </a:xfrm>
            <a:grpFill/>
          </p:grpSpPr>
          <p:sp>
            <p:nvSpPr>
              <p:cNvPr id="25" name="Oval 23"/>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6" name="Oval 24"/>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7" name="Oval 25"/>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8" name="Oval 26"/>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9" name="Oval 27"/>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30" name="Oval 28"/>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31" name="Oval 29"/>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32" name="Oval 30"/>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33" name="Freeform 31"/>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34" name="Freeform 32"/>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35" name="Freeform 33"/>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24" name="Text Box 34"/>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3</a:t>
              </a:r>
            </a:p>
          </p:txBody>
        </p:sp>
      </p:grpSp>
      <p:grpSp>
        <p:nvGrpSpPr>
          <p:cNvPr id="36" name="Group 35"/>
          <p:cNvGrpSpPr>
            <a:grpSpLocks/>
          </p:cNvGrpSpPr>
          <p:nvPr/>
        </p:nvGrpSpPr>
        <p:grpSpPr bwMode="auto">
          <a:xfrm>
            <a:off x="4099995" y="968580"/>
            <a:ext cx="783138" cy="526362"/>
            <a:chOff x="4830" y="1752"/>
            <a:chExt cx="667" cy="477"/>
          </a:xfrm>
          <a:solidFill>
            <a:srgbClr val="00FFFF"/>
          </a:solidFill>
        </p:grpSpPr>
        <p:grpSp>
          <p:nvGrpSpPr>
            <p:cNvPr id="37" name="Group 36"/>
            <p:cNvGrpSpPr>
              <a:grpSpLocks/>
            </p:cNvGrpSpPr>
            <p:nvPr/>
          </p:nvGrpSpPr>
          <p:grpSpPr bwMode="auto">
            <a:xfrm>
              <a:off x="4830" y="1752"/>
              <a:ext cx="667" cy="477"/>
              <a:chOff x="2949" y="196"/>
              <a:chExt cx="941" cy="598"/>
            </a:xfrm>
            <a:grpFill/>
          </p:grpSpPr>
          <p:sp>
            <p:nvSpPr>
              <p:cNvPr id="39" name="Oval 37"/>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0" name="Oval 38"/>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1" name="Oval 39"/>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2" name="Oval 40"/>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3" name="Oval 41"/>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4" name="Oval 42"/>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5" name="Oval 43"/>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6" name="Oval 44"/>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7" name="Freeform 4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48" name="Freeform 4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49" name="Freeform 4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38" name="Text Box 48"/>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2</a:t>
              </a:r>
            </a:p>
          </p:txBody>
        </p:sp>
      </p:grpSp>
      <p:sp>
        <p:nvSpPr>
          <p:cNvPr id="50" name="Line 50"/>
          <p:cNvSpPr>
            <a:spLocks noChangeShapeType="1"/>
          </p:cNvSpPr>
          <p:nvPr/>
        </p:nvSpPr>
        <p:spPr bwMode="auto">
          <a:xfrm>
            <a:off x="2416723" y="2074913"/>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pic>
        <p:nvPicPr>
          <p:cNvPr id="51" name="Picture 5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47028" y="1980538"/>
            <a:ext cx="483796"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2" name="Text Box 52"/>
          <p:cNvSpPr txBox="1">
            <a:spLocks noChangeArrowheads="1"/>
          </p:cNvSpPr>
          <p:nvPr/>
        </p:nvSpPr>
        <p:spPr bwMode="auto">
          <a:xfrm>
            <a:off x="5578787" y="2132317"/>
            <a:ext cx="371016" cy="2928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2</a:t>
            </a:r>
            <a:endParaRPr kumimoji="1" lang="en-US" altLang="zh-CN" sz="1300" b="1">
              <a:latin typeface="微软雅黑" pitchFamily="34" charset="-122"/>
              <a:ea typeface="微软雅黑" pitchFamily="34" charset="-122"/>
            </a:endParaRPr>
          </a:p>
        </p:txBody>
      </p:sp>
      <p:sp>
        <p:nvSpPr>
          <p:cNvPr id="53" name="Text Box 53"/>
          <p:cNvSpPr txBox="1">
            <a:spLocks noChangeArrowheads="1"/>
          </p:cNvSpPr>
          <p:nvPr/>
        </p:nvSpPr>
        <p:spPr bwMode="auto">
          <a:xfrm>
            <a:off x="3190375" y="2132317"/>
            <a:ext cx="371016" cy="2928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1</a:t>
            </a:r>
            <a:endParaRPr kumimoji="1" lang="en-US" altLang="zh-CN" sz="1300" b="1">
              <a:latin typeface="微软雅黑" pitchFamily="34" charset="-122"/>
              <a:ea typeface="微软雅黑" pitchFamily="34" charset="-122"/>
            </a:endParaRPr>
          </a:p>
        </p:txBody>
      </p:sp>
      <p:pic>
        <p:nvPicPr>
          <p:cNvPr id="54" name="Picture 5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34386" y="1980538"/>
            <a:ext cx="484850"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5" name="Group 55"/>
          <p:cNvGrpSpPr>
            <a:grpSpLocks/>
          </p:cNvGrpSpPr>
          <p:nvPr/>
        </p:nvGrpSpPr>
        <p:grpSpPr bwMode="auto">
          <a:xfrm>
            <a:off x="1793796" y="1810273"/>
            <a:ext cx="783138" cy="526362"/>
            <a:chOff x="4830" y="1752"/>
            <a:chExt cx="667" cy="477"/>
          </a:xfrm>
          <a:solidFill>
            <a:srgbClr val="00FFFF"/>
          </a:solidFill>
        </p:grpSpPr>
        <p:grpSp>
          <p:nvGrpSpPr>
            <p:cNvPr id="56" name="Group 56"/>
            <p:cNvGrpSpPr>
              <a:grpSpLocks/>
            </p:cNvGrpSpPr>
            <p:nvPr/>
          </p:nvGrpSpPr>
          <p:grpSpPr bwMode="auto">
            <a:xfrm>
              <a:off x="4830" y="1752"/>
              <a:ext cx="667" cy="477"/>
              <a:chOff x="2949" y="196"/>
              <a:chExt cx="941" cy="598"/>
            </a:xfrm>
            <a:grpFill/>
          </p:grpSpPr>
          <p:sp>
            <p:nvSpPr>
              <p:cNvPr id="58" name="Oval 57"/>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59" name="Oval 58"/>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0" name="Oval 59"/>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1" name="Oval 60"/>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2" name="Oval 61"/>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3" name="Oval 62"/>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4" name="Oval 63"/>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5" name="Oval 64"/>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6" name="Freeform 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67" name="Freeform 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68" name="Freeform 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57" name="Text Box 68"/>
            <p:cNvSpPr txBox="1">
              <a:spLocks noChangeArrowheads="1"/>
            </p:cNvSpPr>
            <p:nvPr/>
          </p:nvSpPr>
          <p:spPr bwMode="auto">
            <a:xfrm>
              <a:off x="4965"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1</a:t>
              </a:r>
            </a:p>
          </p:txBody>
        </p:sp>
      </p:grpSp>
      <p:grpSp>
        <p:nvGrpSpPr>
          <p:cNvPr id="69" name="Group 69"/>
          <p:cNvGrpSpPr>
            <a:grpSpLocks/>
          </p:cNvGrpSpPr>
          <p:nvPr/>
        </p:nvGrpSpPr>
        <p:grpSpPr bwMode="auto">
          <a:xfrm>
            <a:off x="6444139" y="1810273"/>
            <a:ext cx="783138" cy="526362"/>
            <a:chOff x="4830" y="1752"/>
            <a:chExt cx="667" cy="477"/>
          </a:xfrm>
          <a:solidFill>
            <a:srgbClr val="00FFFF"/>
          </a:solidFill>
        </p:grpSpPr>
        <p:grpSp>
          <p:nvGrpSpPr>
            <p:cNvPr id="70" name="Group 70"/>
            <p:cNvGrpSpPr>
              <a:grpSpLocks/>
            </p:cNvGrpSpPr>
            <p:nvPr/>
          </p:nvGrpSpPr>
          <p:grpSpPr bwMode="auto">
            <a:xfrm>
              <a:off x="4830" y="1752"/>
              <a:ext cx="667" cy="477"/>
              <a:chOff x="2949" y="196"/>
              <a:chExt cx="941" cy="598"/>
            </a:xfrm>
            <a:grpFill/>
          </p:grpSpPr>
          <p:sp>
            <p:nvSpPr>
              <p:cNvPr id="72" name="Oval 71"/>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3" name="Oval 72"/>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4" name="Oval 73"/>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5" name="Oval 74"/>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6" name="Oval 75"/>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7" name="Oval 76"/>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8" name="Oval 77"/>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9" name="Oval 78"/>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0" name="Freeform 79"/>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81" name="Freeform 80"/>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82" name="Freeform 81"/>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71" name="Text Box 82"/>
            <p:cNvSpPr txBox="1">
              <a:spLocks noChangeArrowheads="1"/>
            </p:cNvSpPr>
            <p:nvPr/>
          </p:nvSpPr>
          <p:spPr bwMode="auto">
            <a:xfrm>
              <a:off x="4965"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3</a:t>
              </a:r>
            </a:p>
          </p:txBody>
        </p:sp>
      </p:grpSp>
      <p:grpSp>
        <p:nvGrpSpPr>
          <p:cNvPr id="83" name="Group 83"/>
          <p:cNvGrpSpPr>
            <a:grpSpLocks/>
          </p:cNvGrpSpPr>
          <p:nvPr/>
        </p:nvGrpSpPr>
        <p:grpSpPr bwMode="auto">
          <a:xfrm>
            <a:off x="4099995" y="1810273"/>
            <a:ext cx="783138" cy="526362"/>
            <a:chOff x="4830" y="1752"/>
            <a:chExt cx="667" cy="477"/>
          </a:xfrm>
          <a:solidFill>
            <a:srgbClr val="00FFFF"/>
          </a:solidFill>
        </p:grpSpPr>
        <p:grpSp>
          <p:nvGrpSpPr>
            <p:cNvPr id="84" name="Group 84"/>
            <p:cNvGrpSpPr>
              <a:grpSpLocks/>
            </p:cNvGrpSpPr>
            <p:nvPr/>
          </p:nvGrpSpPr>
          <p:grpSpPr bwMode="auto">
            <a:xfrm>
              <a:off x="4830" y="1752"/>
              <a:ext cx="667" cy="477"/>
              <a:chOff x="2949" y="196"/>
              <a:chExt cx="941" cy="598"/>
            </a:xfrm>
            <a:grpFill/>
          </p:grpSpPr>
          <p:sp>
            <p:nvSpPr>
              <p:cNvPr id="86" name="Oval 85"/>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7" name="Oval 86"/>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8" name="Oval 87"/>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9" name="Oval 88"/>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0" name="Oval 89"/>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1" name="Oval 90"/>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2" name="Oval 91"/>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3" name="Oval 92"/>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4" name="Freeform 93"/>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95" name="Freeform 94"/>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96" name="Freeform 95"/>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85" name="Text Box 96"/>
            <p:cNvSpPr txBox="1">
              <a:spLocks noChangeArrowheads="1"/>
            </p:cNvSpPr>
            <p:nvPr/>
          </p:nvSpPr>
          <p:spPr bwMode="auto">
            <a:xfrm>
              <a:off x="4965"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2</a:t>
              </a:r>
            </a:p>
          </p:txBody>
        </p:sp>
      </p:grpSp>
      <p:grpSp>
        <p:nvGrpSpPr>
          <p:cNvPr id="97" name="Group 97"/>
          <p:cNvGrpSpPr>
            <a:grpSpLocks/>
          </p:cNvGrpSpPr>
          <p:nvPr/>
        </p:nvGrpSpPr>
        <p:grpSpPr bwMode="auto">
          <a:xfrm>
            <a:off x="1780094" y="1755788"/>
            <a:ext cx="795786" cy="595441"/>
            <a:chOff x="434" y="1298"/>
            <a:chExt cx="755" cy="612"/>
          </a:xfrm>
        </p:grpSpPr>
        <p:sp>
          <p:nvSpPr>
            <p:cNvPr id="98" name="Line 98"/>
            <p:cNvSpPr>
              <a:spLocks noChangeShapeType="1"/>
            </p:cNvSpPr>
            <p:nvPr/>
          </p:nvSpPr>
          <p:spPr bwMode="auto">
            <a:xfrm>
              <a:off x="434" y="1298"/>
              <a:ext cx="755" cy="612"/>
            </a:xfrm>
            <a:prstGeom prst="line">
              <a:avLst/>
            </a:prstGeom>
            <a:noFill/>
            <a:ln w="5715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99" name="Line 99"/>
            <p:cNvSpPr>
              <a:spLocks noChangeShapeType="1"/>
            </p:cNvSpPr>
            <p:nvPr/>
          </p:nvSpPr>
          <p:spPr bwMode="auto">
            <a:xfrm flipH="1">
              <a:off x="434" y="1298"/>
              <a:ext cx="755" cy="612"/>
            </a:xfrm>
            <a:prstGeom prst="line">
              <a:avLst/>
            </a:prstGeom>
            <a:noFill/>
            <a:ln w="5715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101" name="Text Box 101"/>
          <p:cNvSpPr txBox="1">
            <a:spLocks noChangeArrowheads="1"/>
          </p:cNvSpPr>
          <p:nvPr/>
        </p:nvSpPr>
        <p:spPr bwMode="auto">
          <a:xfrm>
            <a:off x="1486022" y="768154"/>
            <a:ext cx="351378" cy="8925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dirty="0">
                <a:solidFill>
                  <a:srgbClr val="CC00CC"/>
                </a:solidFill>
                <a:latin typeface="微软雅黑" pitchFamily="34" charset="-122"/>
                <a:ea typeface="微软雅黑" pitchFamily="34" charset="-122"/>
              </a:rPr>
              <a:t>正</a:t>
            </a:r>
          </a:p>
          <a:p>
            <a:r>
              <a:rPr kumimoji="1" lang="zh-CN" altLang="en-US" sz="1300" b="1" dirty="0">
                <a:solidFill>
                  <a:srgbClr val="CC00CC"/>
                </a:solidFill>
                <a:latin typeface="微软雅黑" pitchFamily="34" charset="-122"/>
                <a:ea typeface="微软雅黑" pitchFamily="34" charset="-122"/>
              </a:rPr>
              <a:t>常</a:t>
            </a:r>
          </a:p>
          <a:p>
            <a:r>
              <a:rPr kumimoji="1" lang="zh-CN" altLang="en-US" sz="1300" b="1" dirty="0">
                <a:solidFill>
                  <a:srgbClr val="CC00CC"/>
                </a:solidFill>
                <a:latin typeface="微软雅黑" pitchFamily="34" charset="-122"/>
                <a:ea typeface="微软雅黑" pitchFamily="34" charset="-122"/>
              </a:rPr>
              <a:t>情</a:t>
            </a:r>
          </a:p>
          <a:p>
            <a:r>
              <a:rPr kumimoji="1" lang="zh-CN" altLang="en-US" sz="1300" b="1" dirty="0">
                <a:solidFill>
                  <a:srgbClr val="CC00CC"/>
                </a:solidFill>
                <a:latin typeface="微软雅黑" pitchFamily="34" charset="-122"/>
                <a:ea typeface="微软雅黑" pitchFamily="34" charset="-122"/>
              </a:rPr>
              <a:t>况</a:t>
            </a:r>
          </a:p>
        </p:txBody>
      </p:sp>
      <p:grpSp>
        <p:nvGrpSpPr>
          <p:cNvPr id="102" name="Group 102"/>
          <p:cNvGrpSpPr>
            <a:grpSpLocks/>
          </p:cNvGrpSpPr>
          <p:nvPr/>
        </p:nvGrpSpPr>
        <p:grpSpPr bwMode="auto">
          <a:xfrm>
            <a:off x="2816198" y="886853"/>
            <a:ext cx="977077" cy="191669"/>
            <a:chOff x="1491" y="212"/>
            <a:chExt cx="853" cy="240"/>
          </a:xfrm>
          <a:solidFill>
            <a:srgbClr val="FFFF00"/>
          </a:solidFill>
        </p:grpSpPr>
        <p:sp>
          <p:nvSpPr>
            <p:cNvPr id="103" name="AutoShape 10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04" name="Rectangle 104"/>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05" name="Text Box 105"/>
          <p:cNvSpPr txBox="1">
            <a:spLocks noChangeArrowheads="1"/>
          </p:cNvSpPr>
          <p:nvPr/>
        </p:nvSpPr>
        <p:spPr bwMode="auto">
          <a:xfrm>
            <a:off x="2828846" y="932581"/>
            <a:ext cx="679994" cy="206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a:latin typeface="微软雅黑" pitchFamily="34" charset="-122"/>
                <a:ea typeface="微软雅黑" pitchFamily="34" charset="-122"/>
              </a:rPr>
              <a:t>1  1  </a:t>
            </a:r>
            <a:r>
              <a:rPr kumimoji="1" lang="en-US" altLang="zh-CN" sz="1300" b="1">
                <a:latin typeface="微软雅黑" pitchFamily="34" charset="-122"/>
                <a:ea typeface="微软雅黑" pitchFamily="34" charset="-122"/>
                <a:sym typeface="Symbol" pitchFamily="18" charset="2"/>
              </a:rPr>
              <a:t></a:t>
            </a:r>
            <a:endParaRPr kumimoji="1" lang="en-US" altLang="zh-CN" sz="1300" b="1" baseline="-25000">
              <a:latin typeface="微软雅黑" pitchFamily="34" charset="-122"/>
              <a:ea typeface="微软雅黑" pitchFamily="34" charset="-122"/>
              <a:sym typeface="Symbol" pitchFamily="18" charset="2"/>
            </a:endParaRPr>
          </a:p>
        </p:txBody>
      </p:sp>
      <p:grpSp>
        <p:nvGrpSpPr>
          <p:cNvPr id="106" name="Group 106"/>
          <p:cNvGrpSpPr>
            <a:grpSpLocks/>
          </p:cNvGrpSpPr>
          <p:nvPr/>
        </p:nvGrpSpPr>
        <p:grpSpPr bwMode="auto">
          <a:xfrm>
            <a:off x="2973246" y="2505923"/>
            <a:ext cx="1001320" cy="247128"/>
            <a:chOff x="1566" y="2024"/>
            <a:chExt cx="950" cy="254"/>
          </a:xfrm>
          <a:solidFill>
            <a:srgbClr val="FFFF00"/>
          </a:solidFill>
        </p:grpSpPr>
        <p:grpSp>
          <p:nvGrpSpPr>
            <p:cNvPr id="107" name="Group 107"/>
            <p:cNvGrpSpPr>
              <a:grpSpLocks/>
            </p:cNvGrpSpPr>
            <p:nvPr/>
          </p:nvGrpSpPr>
          <p:grpSpPr bwMode="auto">
            <a:xfrm>
              <a:off x="1589" y="2024"/>
              <a:ext cx="927" cy="197"/>
              <a:chOff x="1491" y="212"/>
              <a:chExt cx="853" cy="240"/>
            </a:xfrm>
            <a:grpFill/>
          </p:grpSpPr>
          <p:sp>
            <p:nvSpPr>
              <p:cNvPr id="109" name="AutoShape 108"/>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10" name="Rectangle 109"/>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08" name="Text Box 110"/>
            <p:cNvSpPr txBox="1">
              <a:spLocks noChangeArrowheads="1"/>
            </p:cNvSpPr>
            <p:nvPr/>
          </p:nvSpPr>
          <p:spPr bwMode="auto">
            <a:xfrm>
              <a:off x="1566" y="2066"/>
              <a:ext cx="742" cy="212"/>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dirty="0">
                  <a:latin typeface="微软雅黑" pitchFamily="34" charset="-122"/>
                  <a:ea typeface="微软雅黑" pitchFamily="34" charset="-122"/>
                </a:rPr>
                <a:t>1  16  </a:t>
              </a:r>
              <a:r>
                <a:rPr kumimoji="1" lang="en-US" altLang="zh-CN" sz="1300" b="1" dirty="0">
                  <a:latin typeface="微软雅黑" pitchFamily="34" charset="-122"/>
                  <a:ea typeface="微软雅黑" pitchFamily="34" charset="-122"/>
                  <a:sym typeface="Symbol" pitchFamily="18" charset="2"/>
                </a:rPr>
                <a:t></a:t>
              </a:r>
              <a:endParaRPr kumimoji="1" lang="en-US" altLang="zh-CN" sz="1300" b="1" baseline="-25000" dirty="0">
                <a:latin typeface="微软雅黑" pitchFamily="34" charset="-122"/>
                <a:ea typeface="微软雅黑" pitchFamily="34" charset="-122"/>
                <a:sym typeface="Symbol" pitchFamily="18" charset="2"/>
              </a:endParaRPr>
            </a:p>
          </p:txBody>
        </p:sp>
      </p:grpSp>
      <p:grpSp>
        <p:nvGrpSpPr>
          <p:cNvPr id="111" name="Group 111"/>
          <p:cNvGrpSpPr>
            <a:grpSpLocks/>
          </p:cNvGrpSpPr>
          <p:nvPr/>
        </p:nvGrpSpPr>
        <p:grpSpPr bwMode="auto">
          <a:xfrm flipH="1">
            <a:off x="5027534" y="900474"/>
            <a:ext cx="977077" cy="191669"/>
            <a:chOff x="1491" y="212"/>
            <a:chExt cx="853" cy="240"/>
          </a:xfrm>
          <a:solidFill>
            <a:srgbClr val="66FF66"/>
          </a:solidFill>
        </p:grpSpPr>
        <p:sp>
          <p:nvSpPr>
            <p:cNvPr id="112" name="AutoShape 112"/>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13" name="Rectangle 113"/>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14" name="Text Box 114"/>
          <p:cNvSpPr txBox="1">
            <a:spLocks noChangeArrowheads="1"/>
          </p:cNvSpPr>
          <p:nvPr/>
        </p:nvSpPr>
        <p:spPr bwMode="auto">
          <a:xfrm>
            <a:off x="5286823" y="958851"/>
            <a:ext cx="774571" cy="206980"/>
          </a:xfrm>
          <a:prstGeom prst="rect">
            <a:avLst/>
          </a:prstGeom>
          <a:noFill/>
          <a:ln>
            <a:noFill/>
          </a:ln>
          <a:effectLst/>
        </p:spPr>
        <p:txBody>
          <a:bodyPr wrap="none">
            <a:spAutoFit/>
          </a:bodyPr>
          <a:lstStyle/>
          <a:p>
            <a:pPr>
              <a:lnSpc>
                <a:spcPct val="50000"/>
              </a:lnSpc>
            </a:pPr>
            <a:r>
              <a:rPr kumimoji="1" lang="en-US" altLang="zh-CN" sz="1300" b="1" dirty="0">
                <a:latin typeface="微软雅黑" pitchFamily="34" charset="-122"/>
                <a:ea typeface="微软雅黑" pitchFamily="34" charset="-122"/>
              </a:rPr>
              <a:t>1  2  </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1</a:t>
            </a:r>
          </a:p>
        </p:txBody>
      </p:sp>
      <p:grpSp>
        <p:nvGrpSpPr>
          <p:cNvPr id="115" name="Group 115"/>
          <p:cNvGrpSpPr>
            <a:grpSpLocks/>
          </p:cNvGrpSpPr>
          <p:nvPr/>
        </p:nvGrpSpPr>
        <p:grpSpPr bwMode="auto">
          <a:xfrm>
            <a:off x="5027535" y="2473823"/>
            <a:ext cx="1033995" cy="265614"/>
            <a:chOff x="3515" y="1991"/>
            <a:chExt cx="981" cy="273"/>
          </a:xfrm>
          <a:solidFill>
            <a:srgbClr val="66FF66"/>
          </a:solidFill>
        </p:grpSpPr>
        <p:grpSp>
          <p:nvGrpSpPr>
            <p:cNvPr id="116" name="Group 116"/>
            <p:cNvGrpSpPr>
              <a:grpSpLocks/>
            </p:cNvGrpSpPr>
            <p:nvPr/>
          </p:nvGrpSpPr>
          <p:grpSpPr bwMode="auto">
            <a:xfrm flipH="1">
              <a:off x="3515" y="1991"/>
              <a:ext cx="927" cy="197"/>
              <a:chOff x="1491" y="212"/>
              <a:chExt cx="853" cy="240"/>
            </a:xfrm>
            <a:grpFill/>
          </p:grpSpPr>
          <p:sp>
            <p:nvSpPr>
              <p:cNvPr id="118" name="AutoShape 117"/>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19" name="Rectangle 118"/>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17" name="Text Box 119"/>
            <p:cNvSpPr txBox="1">
              <a:spLocks noChangeArrowheads="1"/>
            </p:cNvSpPr>
            <p:nvPr/>
          </p:nvSpPr>
          <p:spPr bwMode="auto">
            <a:xfrm>
              <a:off x="3761" y="2051"/>
              <a:ext cx="735" cy="213"/>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dirty="0">
                  <a:latin typeface="微软雅黑" pitchFamily="34" charset="-122"/>
                  <a:ea typeface="微软雅黑" pitchFamily="34" charset="-122"/>
                </a:rPr>
                <a:t>1  2  </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1</a:t>
              </a:r>
            </a:p>
          </p:txBody>
        </p:sp>
      </p:grpSp>
      <p:grpSp>
        <p:nvGrpSpPr>
          <p:cNvPr id="120" name="Group 121"/>
          <p:cNvGrpSpPr>
            <a:grpSpLocks/>
          </p:cNvGrpSpPr>
          <p:nvPr/>
        </p:nvGrpSpPr>
        <p:grpSpPr bwMode="auto">
          <a:xfrm>
            <a:off x="2972193" y="2814357"/>
            <a:ext cx="1002374" cy="246155"/>
            <a:chOff x="1565" y="2478"/>
            <a:chExt cx="951" cy="253"/>
          </a:xfrm>
          <a:solidFill>
            <a:srgbClr val="FFFF00"/>
          </a:solidFill>
        </p:grpSpPr>
        <p:grpSp>
          <p:nvGrpSpPr>
            <p:cNvPr id="121" name="Group 122"/>
            <p:cNvGrpSpPr>
              <a:grpSpLocks/>
            </p:cNvGrpSpPr>
            <p:nvPr/>
          </p:nvGrpSpPr>
          <p:grpSpPr bwMode="auto">
            <a:xfrm>
              <a:off x="1589" y="2478"/>
              <a:ext cx="927" cy="197"/>
              <a:chOff x="1491" y="212"/>
              <a:chExt cx="853" cy="240"/>
            </a:xfrm>
            <a:grpFill/>
          </p:grpSpPr>
          <p:sp>
            <p:nvSpPr>
              <p:cNvPr id="123" name="AutoShape 12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24" name="Rectangle 124"/>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22" name="Text Box 125"/>
            <p:cNvSpPr txBox="1">
              <a:spLocks noChangeArrowheads="1"/>
            </p:cNvSpPr>
            <p:nvPr/>
          </p:nvSpPr>
          <p:spPr bwMode="auto">
            <a:xfrm>
              <a:off x="1565" y="2518"/>
              <a:ext cx="735" cy="213"/>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dirty="0">
                  <a:latin typeface="微软雅黑" pitchFamily="34" charset="-122"/>
                  <a:ea typeface="微软雅黑" pitchFamily="34" charset="-122"/>
                </a:rPr>
                <a:t>1  3  </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2</a:t>
              </a:r>
            </a:p>
          </p:txBody>
        </p:sp>
      </p:grpSp>
      <p:sp>
        <p:nvSpPr>
          <p:cNvPr id="125" name="Text Box 120"/>
          <p:cNvSpPr txBox="1">
            <a:spLocks noChangeArrowheads="1"/>
          </p:cNvSpPr>
          <p:nvPr/>
        </p:nvSpPr>
        <p:spPr bwMode="auto">
          <a:xfrm>
            <a:off x="1839563" y="3273353"/>
            <a:ext cx="4949184" cy="861774"/>
          </a:xfrm>
          <a:prstGeom prst="rect">
            <a:avLst/>
          </a:prstGeom>
          <a:solidFill>
            <a:srgbClr val="00FF99"/>
          </a:solidFill>
          <a:ln w="9525">
            <a:solidFill>
              <a:schemeClr val="tx2"/>
            </a:solidFill>
            <a:miter lim="800000"/>
            <a:headEnd/>
            <a:tailEnd/>
          </a:ln>
          <a:effectLst/>
        </p:spPr>
        <p:txBody>
          <a:bodyPr wrap="square">
            <a:spAutoFit/>
          </a:bodyPr>
          <a:lstStyle/>
          <a:p>
            <a:pPr>
              <a:lnSpc>
                <a:spcPts val="2000"/>
              </a:lnSpc>
            </a:pP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1 </a:t>
            </a:r>
            <a:r>
              <a:rPr kumimoji="1" lang="zh-CN" altLang="en-US" sz="1300" b="1" dirty="0">
                <a:latin typeface="微软雅黑" pitchFamily="34" charset="-122"/>
                <a:ea typeface="微软雅黑" pitchFamily="34" charset="-122"/>
              </a:rPr>
              <a:t>收到 </a:t>
            </a: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2 </a:t>
            </a:r>
            <a:r>
              <a:rPr kumimoji="1" lang="zh-CN" altLang="en-US" sz="1300" b="1" dirty="0">
                <a:latin typeface="微软雅黑" pitchFamily="34" charset="-122"/>
                <a:ea typeface="微软雅黑" pitchFamily="34" charset="-122"/>
              </a:rPr>
              <a:t>的更新报文后，误认为可经过 </a:t>
            </a: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2</a:t>
            </a:r>
            <a:r>
              <a:rPr kumimoji="1" lang="en-US" altLang="zh-CN" sz="1300" b="1" dirty="0">
                <a:latin typeface="微软雅黑" pitchFamily="34" charset="-122"/>
                <a:ea typeface="微软雅黑" pitchFamily="34" charset="-122"/>
              </a:rPr>
              <a:t> </a:t>
            </a:r>
            <a:r>
              <a:rPr kumimoji="1" lang="zh-CN" altLang="en-US" sz="1300" b="1" dirty="0">
                <a:latin typeface="微软雅黑" pitchFamily="34" charset="-122"/>
                <a:ea typeface="微软雅黑" pitchFamily="34" charset="-122"/>
              </a:rPr>
              <a:t>到达网 </a:t>
            </a:r>
            <a:r>
              <a:rPr kumimoji="1" lang="en-US" altLang="zh-CN" sz="1300" b="1" dirty="0">
                <a:latin typeface="微软雅黑" pitchFamily="34" charset="-122"/>
                <a:ea typeface="微软雅黑" pitchFamily="34" charset="-122"/>
              </a:rPr>
              <a:t>1</a:t>
            </a:r>
            <a:r>
              <a:rPr kumimoji="1" lang="zh-CN" altLang="en-US" sz="1300" b="1" dirty="0">
                <a:latin typeface="微软雅黑" pitchFamily="34" charset="-122"/>
                <a:ea typeface="微软雅黑" pitchFamily="34" charset="-122"/>
              </a:rPr>
              <a:t>，于是更新自己的路由表，说：“我到网 </a:t>
            </a:r>
            <a:r>
              <a:rPr kumimoji="1" lang="en-US" altLang="zh-CN" sz="1300" b="1" dirty="0">
                <a:latin typeface="微软雅黑" pitchFamily="34" charset="-122"/>
                <a:ea typeface="微软雅黑" pitchFamily="34" charset="-122"/>
              </a:rPr>
              <a:t>1 </a:t>
            </a:r>
            <a:r>
              <a:rPr kumimoji="1" lang="zh-CN" altLang="en-US" sz="1300" b="1" dirty="0">
                <a:latin typeface="微软雅黑" pitchFamily="34" charset="-122"/>
                <a:ea typeface="微软雅黑" pitchFamily="34" charset="-122"/>
              </a:rPr>
              <a:t>的距离是 </a:t>
            </a:r>
            <a:r>
              <a:rPr kumimoji="1" lang="en-US" altLang="zh-CN" sz="1300" b="1" dirty="0">
                <a:latin typeface="微软雅黑" pitchFamily="34" charset="-122"/>
                <a:ea typeface="微软雅黑" pitchFamily="34" charset="-122"/>
              </a:rPr>
              <a:t>3</a:t>
            </a:r>
            <a:r>
              <a:rPr kumimoji="1" lang="zh-CN" altLang="en-US" sz="1300" b="1" dirty="0">
                <a:latin typeface="微软雅黑" pitchFamily="34" charset="-122"/>
                <a:ea typeface="微软雅黑" pitchFamily="34" charset="-122"/>
              </a:rPr>
              <a:t>，下一跳经过 </a:t>
            </a: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2</a:t>
            </a:r>
            <a:r>
              <a:rPr kumimoji="1" lang="en-US" altLang="zh-CN" sz="1300" b="1" dirty="0">
                <a:latin typeface="微软雅黑" pitchFamily="34" charset="-122"/>
                <a:ea typeface="微软雅黑" pitchFamily="34" charset="-122"/>
              </a:rPr>
              <a:t>”</a:t>
            </a:r>
            <a:r>
              <a:rPr kumimoji="1" lang="zh-CN" altLang="en-US" sz="1300" b="1" dirty="0">
                <a:latin typeface="微软雅黑" pitchFamily="34" charset="-122"/>
                <a:ea typeface="微软雅黑" pitchFamily="34" charset="-122"/>
              </a:rPr>
              <a:t>。然后将此更新信息发送给 </a:t>
            </a: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2</a:t>
            </a:r>
            <a:r>
              <a:rPr kumimoji="1" lang="zh-CN" altLang="en-US" sz="1300" b="1" dirty="0">
                <a:latin typeface="微软雅黑" pitchFamily="34" charset="-122"/>
                <a:ea typeface="微软雅黑" pitchFamily="34" charset="-122"/>
              </a:rPr>
              <a:t>。</a:t>
            </a:r>
          </a:p>
        </p:txBody>
      </p:sp>
      <p:sp>
        <p:nvSpPr>
          <p:cNvPr id="127" name="Text Box 100"/>
          <p:cNvSpPr txBox="1">
            <a:spLocks noChangeArrowheads="1"/>
          </p:cNvSpPr>
          <p:nvPr/>
        </p:nvSpPr>
        <p:spPr bwMode="auto">
          <a:xfrm>
            <a:off x="1596284" y="2462144"/>
            <a:ext cx="1220206" cy="2723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1300" b="1" dirty="0">
                <a:solidFill>
                  <a:srgbClr val="CC00CC"/>
                </a:solidFill>
                <a:latin typeface="微软雅黑" pitchFamily="34" charset="-122"/>
                <a:ea typeface="微软雅黑" pitchFamily="34" charset="-122"/>
              </a:rPr>
              <a:t>网 </a:t>
            </a:r>
            <a:r>
              <a:rPr kumimoji="1" lang="en-US" altLang="zh-CN" sz="1300" b="1" dirty="0">
                <a:solidFill>
                  <a:srgbClr val="CC00CC"/>
                </a:solidFill>
                <a:latin typeface="微软雅黑" pitchFamily="34" charset="-122"/>
                <a:ea typeface="微软雅黑" pitchFamily="34" charset="-122"/>
              </a:rPr>
              <a:t>1 </a:t>
            </a:r>
            <a:r>
              <a:rPr kumimoji="1" lang="zh-CN" altLang="en-US" sz="1300" b="1" dirty="0">
                <a:solidFill>
                  <a:srgbClr val="CC00CC"/>
                </a:solidFill>
                <a:latin typeface="微软雅黑" pitchFamily="34" charset="-122"/>
                <a:ea typeface="微软雅黑" pitchFamily="34" charset="-122"/>
              </a:rPr>
              <a:t>出了故障</a:t>
            </a:r>
          </a:p>
        </p:txBody>
      </p:sp>
    </p:spTree>
    <p:extLst>
      <p:ext uri="{BB962C8B-B14F-4D97-AF65-F5344CB8AC3E}">
        <p14:creationId xmlns:p14="http://schemas.microsoft.com/office/powerpoint/2010/main" val="112172117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25"/>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nodeType="afterEffect">
                                  <p:stCondLst>
                                    <p:cond delay="0"/>
                                  </p:stCondLst>
                                  <p:childTnLst>
                                    <p:set>
                                      <p:cBhvr>
                                        <p:cTn id="9" dur="1" fill="hold">
                                          <p:stCondLst>
                                            <p:cond delay="0"/>
                                          </p:stCondLst>
                                        </p:cTn>
                                        <p:tgtEl>
                                          <p:spTgt spid="120"/>
                                        </p:tgtEl>
                                        <p:attrNameLst>
                                          <p:attrName>style.visibility</p:attrName>
                                        </p:attrNameLst>
                                      </p:cBhvr>
                                      <p:to>
                                        <p:strVal val="visible"/>
                                      </p:to>
                                    </p:set>
                                  </p:childTnLst>
                                </p:cTn>
                              </p:par>
                            </p:childTnLst>
                          </p:cTn>
                        </p:par>
                        <p:par>
                          <p:cTn id="10" fill="hold">
                            <p:stCondLst>
                              <p:cond delay="0"/>
                            </p:stCondLst>
                            <p:childTnLst>
                              <p:par>
                                <p:cTn id="11" presetID="35" presetClass="emph" presetSubtype="0" repeatCount="3000" fill="hold" nodeType="afterEffect">
                                  <p:stCondLst>
                                    <p:cond delay="0"/>
                                  </p:stCondLst>
                                  <p:childTnLst>
                                    <p:anim calcmode="discrete" valueType="str">
                                      <p:cBhvr>
                                        <p:cTn id="12" dur="1000" fill="hold"/>
                                        <p:tgtEl>
                                          <p:spTgt spid="120"/>
                                        </p:tgtEl>
                                        <p:attrNameLst>
                                          <p:attrName>style.visibility</p:attrName>
                                        </p:attrNameLst>
                                      </p:cBhvr>
                                      <p:tavLst>
                                        <p:tav tm="0">
                                          <p:val>
                                            <p:strVal val="hidden"/>
                                          </p:val>
                                        </p:tav>
                                        <p:tav tm="50000">
                                          <p:val>
                                            <p:strVal val="visible"/>
                                          </p:val>
                                        </p:tav>
                                      </p:tavLst>
                                    </p:anim>
                                  </p:childTnLst>
                                </p:cTn>
                              </p:par>
                              <p:par>
                                <p:cTn id="13" presetID="1" presetClass="entr" presetSubtype="0" fill="hold" grpId="0" nodeType="withEffect">
                                  <p:stCondLst>
                                    <p:cond delay="0"/>
                                  </p:stCondLst>
                                  <p:childTnLst>
                                    <p:set>
                                      <p:cBhvr>
                                        <p:cTn id="14" dur="1" fill="hold">
                                          <p:stCondLst>
                                            <p:cond delay="0"/>
                                          </p:stCondLst>
                                        </p:cTn>
                                        <p:tgtEl>
                                          <p:spTgt spid="12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5" grpId="0" animBg="1"/>
      <p:bldP spid="127" grpId="0"/>
    </p:bld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 name="圆角矩形 130"/>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Line 2"/>
          <p:cNvSpPr>
            <a:spLocks noChangeShapeType="1"/>
          </p:cNvSpPr>
          <p:nvPr/>
        </p:nvSpPr>
        <p:spPr bwMode="auto">
          <a:xfrm>
            <a:off x="2416723" y="1233220"/>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pic>
        <p:nvPicPr>
          <p:cNvPr id="4" name="Picture 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47028" y="1137872"/>
            <a:ext cx="483796"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 name="Text Box 4"/>
          <p:cNvSpPr txBox="1">
            <a:spLocks noChangeArrowheads="1"/>
          </p:cNvSpPr>
          <p:nvPr/>
        </p:nvSpPr>
        <p:spPr bwMode="auto">
          <a:xfrm>
            <a:off x="5578787" y="1290624"/>
            <a:ext cx="37061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2</a:t>
            </a:r>
            <a:endParaRPr kumimoji="1" lang="en-US" altLang="zh-CN" sz="1300" b="1">
              <a:latin typeface="微软雅黑" pitchFamily="34" charset="-122"/>
              <a:ea typeface="微软雅黑" pitchFamily="34" charset="-122"/>
            </a:endParaRPr>
          </a:p>
        </p:txBody>
      </p:sp>
      <p:sp>
        <p:nvSpPr>
          <p:cNvPr id="6" name="Text Box 5"/>
          <p:cNvSpPr txBox="1">
            <a:spLocks noChangeArrowheads="1"/>
          </p:cNvSpPr>
          <p:nvPr/>
        </p:nvSpPr>
        <p:spPr bwMode="auto">
          <a:xfrm>
            <a:off x="3190375" y="1290624"/>
            <a:ext cx="37061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1</a:t>
            </a:r>
            <a:endParaRPr kumimoji="1" lang="en-US" altLang="zh-CN" sz="1300" b="1">
              <a:latin typeface="微软雅黑" pitchFamily="34" charset="-122"/>
              <a:ea typeface="微软雅黑" pitchFamily="34" charset="-122"/>
            </a:endParaRPr>
          </a:p>
        </p:txBody>
      </p:sp>
      <p:pic>
        <p:nvPicPr>
          <p:cNvPr id="7" name="Picture 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34387" y="1137872"/>
            <a:ext cx="484850"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8" name="Group 7"/>
          <p:cNvGrpSpPr>
            <a:grpSpLocks/>
          </p:cNvGrpSpPr>
          <p:nvPr/>
        </p:nvGrpSpPr>
        <p:grpSpPr bwMode="auto">
          <a:xfrm>
            <a:off x="1793796" y="968580"/>
            <a:ext cx="783138" cy="526362"/>
            <a:chOff x="4830" y="1752"/>
            <a:chExt cx="667" cy="477"/>
          </a:xfrm>
          <a:solidFill>
            <a:srgbClr val="00FFFF"/>
          </a:solidFill>
        </p:grpSpPr>
        <p:grpSp>
          <p:nvGrpSpPr>
            <p:cNvPr id="9" name="Group 8"/>
            <p:cNvGrpSpPr>
              <a:grpSpLocks/>
            </p:cNvGrpSpPr>
            <p:nvPr/>
          </p:nvGrpSpPr>
          <p:grpSpPr bwMode="auto">
            <a:xfrm>
              <a:off x="4830" y="1752"/>
              <a:ext cx="667" cy="477"/>
              <a:chOff x="2949" y="196"/>
              <a:chExt cx="941" cy="598"/>
            </a:xfrm>
            <a:grpFill/>
          </p:grpSpPr>
          <p:sp>
            <p:nvSpPr>
              <p:cNvPr id="11" name="Oval 9"/>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2" name="Oval 10"/>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3" name="Oval 11"/>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4" name="Oval 12"/>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5" name="Oval 13"/>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6" name="Oval 14"/>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7" name="Oval 15"/>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8" name="Oval 16"/>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9" name="Freeform 1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20" name="Freeform 1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21" name="Freeform 1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10" name="Text Box 20"/>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1</a:t>
              </a:r>
            </a:p>
          </p:txBody>
        </p:sp>
      </p:grpSp>
      <p:grpSp>
        <p:nvGrpSpPr>
          <p:cNvPr id="22" name="Group 21"/>
          <p:cNvGrpSpPr>
            <a:grpSpLocks/>
          </p:cNvGrpSpPr>
          <p:nvPr/>
        </p:nvGrpSpPr>
        <p:grpSpPr bwMode="auto">
          <a:xfrm>
            <a:off x="6444139" y="968580"/>
            <a:ext cx="783138" cy="526362"/>
            <a:chOff x="4830" y="1752"/>
            <a:chExt cx="667" cy="477"/>
          </a:xfrm>
          <a:solidFill>
            <a:srgbClr val="00FFFF"/>
          </a:solidFill>
        </p:grpSpPr>
        <p:grpSp>
          <p:nvGrpSpPr>
            <p:cNvPr id="23" name="Group 22"/>
            <p:cNvGrpSpPr>
              <a:grpSpLocks/>
            </p:cNvGrpSpPr>
            <p:nvPr/>
          </p:nvGrpSpPr>
          <p:grpSpPr bwMode="auto">
            <a:xfrm>
              <a:off x="4830" y="1752"/>
              <a:ext cx="667" cy="477"/>
              <a:chOff x="2949" y="196"/>
              <a:chExt cx="941" cy="598"/>
            </a:xfrm>
            <a:grpFill/>
          </p:grpSpPr>
          <p:sp>
            <p:nvSpPr>
              <p:cNvPr id="25" name="Oval 23"/>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6" name="Oval 24"/>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7" name="Oval 25"/>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8" name="Oval 26"/>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9" name="Oval 27"/>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30" name="Oval 28"/>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31" name="Oval 29"/>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32" name="Oval 30"/>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33" name="Freeform 31"/>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34" name="Freeform 32"/>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35" name="Freeform 33"/>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24" name="Text Box 34"/>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3</a:t>
              </a:r>
            </a:p>
          </p:txBody>
        </p:sp>
      </p:grpSp>
      <p:grpSp>
        <p:nvGrpSpPr>
          <p:cNvPr id="36" name="Group 35"/>
          <p:cNvGrpSpPr>
            <a:grpSpLocks/>
          </p:cNvGrpSpPr>
          <p:nvPr/>
        </p:nvGrpSpPr>
        <p:grpSpPr bwMode="auto">
          <a:xfrm>
            <a:off x="4099995" y="968580"/>
            <a:ext cx="783138" cy="526362"/>
            <a:chOff x="4830" y="1752"/>
            <a:chExt cx="667" cy="477"/>
          </a:xfrm>
          <a:solidFill>
            <a:srgbClr val="00FFFF"/>
          </a:solidFill>
        </p:grpSpPr>
        <p:grpSp>
          <p:nvGrpSpPr>
            <p:cNvPr id="37" name="Group 36"/>
            <p:cNvGrpSpPr>
              <a:grpSpLocks/>
            </p:cNvGrpSpPr>
            <p:nvPr/>
          </p:nvGrpSpPr>
          <p:grpSpPr bwMode="auto">
            <a:xfrm>
              <a:off x="4830" y="1752"/>
              <a:ext cx="667" cy="477"/>
              <a:chOff x="2949" y="196"/>
              <a:chExt cx="941" cy="598"/>
            </a:xfrm>
            <a:grpFill/>
          </p:grpSpPr>
          <p:sp>
            <p:nvSpPr>
              <p:cNvPr id="39" name="Oval 37"/>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0" name="Oval 38"/>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1" name="Oval 39"/>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2" name="Oval 40"/>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3" name="Oval 41"/>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4" name="Oval 42"/>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5" name="Oval 43"/>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6" name="Oval 44"/>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7" name="Freeform 4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48" name="Freeform 4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49" name="Freeform 4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38" name="Text Box 48"/>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2</a:t>
              </a:r>
            </a:p>
          </p:txBody>
        </p:sp>
      </p:grpSp>
      <p:sp>
        <p:nvSpPr>
          <p:cNvPr id="50" name="Line 50"/>
          <p:cNvSpPr>
            <a:spLocks noChangeShapeType="1"/>
          </p:cNvSpPr>
          <p:nvPr/>
        </p:nvSpPr>
        <p:spPr bwMode="auto">
          <a:xfrm>
            <a:off x="2416723" y="2074913"/>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pic>
        <p:nvPicPr>
          <p:cNvPr id="51" name="Picture 5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47028" y="1980538"/>
            <a:ext cx="483796"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2" name="Text Box 52"/>
          <p:cNvSpPr txBox="1">
            <a:spLocks noChangeArrowheads="1"/>
          </p:cNvSpPr>
          <p:nvPr/>
        </p:nvSpPr>
        <p:spPr bwMode="auto">
          <a:xfrm>
            <a:off x="5578787" y="2132317"/>
            <a:ext cx="371016" cy="2928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2</a:t>
            </a:r>
            <a:endParaRPr kumimoji="1" lang="en-US" altLang="zh-CN" sz="1300" b="1">
              <a:latin typeface="微软雅黑" pitchFamily="34" charset="-122"/>
              <a:ea typeface="微软雅黑" pitchFamily="34" charset="-122"/>
            </a:endParaRPr>
          </a:p>
        </p:txBody>
      </p:sp>
      <p:sp>
        <p:nvSpPr>
          <p:cNvPr id="53" name="Text Box 53"/>
          <p:cNvSpPr txBox="1">
            <a:spLocks noChangeArrowheads="1"/>
          </p:cNvSpPr>
          <p:nvPr/>
        </p:nvSpPr>
        <p:spPr bwMode="auto">
          <a:xfrm>
            <a:off x="3190375" y="2132317"/>
            <a:ext cx="371016" cy="2928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1</a:t>
            </a:r>
            <a:endParaRPr kumimoji="1" lang="en-US" altLang="zh-CN" sz="1300" b="1">
              <a:latin typeface="微软雅黑" pitchFamily="34" charset="-122"/>
              <a:ea typeface="微软雅黑" pitchFamily="34" charset="-122"/>
            </a:endParaRPr>
          </a:p>
        </p:txBody>
      </p:sp>
      <p:pic>
        <p:nvPicPr>
          <p:cNvPr id="54" name="Picture 5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34386" y="1980538"/>
            <a:ext cx="484850"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5" name="Group 55"/>
          <p:cNvGrpSpPr>
            <a:grpSpLocks/>
          </p:cNvGrpSpPr>
          <p:nvPr/>
        </p:nvGrpSpPr>
        <p:grpSpPr bwMode="auto">
          <a:xfrm>
            <a:off x="1793796" y="1810273"/>
            <a:ext cx="783138" cy="526362"/>
            <a:chOff x="4830" y="1752"/>
            <a:chExt cx="667" cy="477"/>
          </a:xfrm>
          <a:solidFill>
            <a:srgbClr val="00FFFF"/>
          </a:solidFill>
        </p:grpSpPr>
        <p:grpSp>
          <p:nvGrpSpPr>
            <p:cNvPr id="56" name="Group 56"/>
            <p:cNvGrpSpPr>
              <a:grpSpLocks/>
            </p:cNvGrpSpPr>
            <p:nvPr/>
          </p:nvGrpSpPr>
          <p:grpSpPr bwMode="auto">
            <a:xfrm>
              <a:off x="4830" y="1752"/>
              <a:ext cx="667" cy="477"/>
              <a:chOff x="2949" y="196"/>
              <a:chExt cx="941" cy="598"/>
            </a:xfrm>
            <a:grpFill/>
          </p:grpSpPr>
          <p:sp>
            <p:nvSpPr>
              <p:cNvPr id="58" name="Oval 57"/>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59" name="Oval 58"/>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0" name="Oval 59"/>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1" name="Oval 60"/>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2" name="Oval 61"/>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3" name="Oval 62"/>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4" name="Oval 63"/>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5" name="Oval 64"/>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6" name="Freeform 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67" name="Freeform 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68" name="Freeform 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57" name="Text Box 68"/>
            <p:cNvSpPr txBox="1">
              <a:spLocks noChangeArrowheads="1"/>
            </p:cNvSpPr>
            <p:nvPr/>
          </p:nvSpPr>
          <p:spPr bwMode="auto">
            <a:xfrm>
              <a:off x="4965"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1</a:t>
              </a:r>
            </a:p>
          </p:txBody>
        </p:sp>
      </p:grpSp>
      <p:grpSp>
        <p:nvGrpSpPr>
          <p:cNvPr id="69" name="Group 69"/>
          <p:cNvGrpSpPr>
            <a:grpSpLocks/>
          </p:cNvGrpSpPr>
          <p:nvPr/>
        </p:nvGrpSpPr>
        <p:grpSpPr bwMode="auto">
          <a:xfrm>
            <a:off x="6444139" y="1810273"/>
            <a:ext cx="783138" cy="526362"/>
            <a:chOff x="4830" y="1752"/>
            <a:chExt cx="667" cy="477"/>
          </a:xfrm>
          <a:solidFill>
            <a:srgbClr val="00FFFF"/>
          </a:solidFill>
        </p:grpSpPr>
        <p:grpSp>
          <p:nvGrpSpPr>
            <p:cNvPr id="70" name="Group 70"/>
            <p:cNvGrpSpPr>
              <a:grpSpLocks/>
            </p:cNvGrpSpPr>
            <p:nvPr/>
          </p:nvGrpSpPr>
          <p:grpSpPr bwMode="auto">
            <a:xfrm>
              <a:off x="4830" y="1752"/>
              <a:ext cx="667" cy="477"/>
              <a:chOff x="2949" y="196"/>
              <a:chExt cx="941" cy="598"/>
            </a:xfrm>
            <a:grpFill/>
          </p:grpSpPr>
          <p:sp>
            <p:nvSpPr>
              <p:cNvPr id="72" name="Oval 71"/>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3" name="Oval 72"/>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4" name="Oval 73"/>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5" name="Oval 74"/>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6" name="Oval 75"/>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7" name="Oval 76"/>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8" name="Oval 77"/>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9" name="Oval 78"/>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0" name="Freeform 79"/>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81" name="Freeform 80"/>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82" name="Freeform 81"/>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71" name="Text Box 82"/>
            <p:cNvSpPr txBox="1">
              <a:spLocks noChangeArrowheads="1"/>
            </p:cNvSpPr>
            <p:nvPr/>
          </p:nvSpPr>
          <p:spPr bwMode="auto">
            <a:xfrm>
              <a:off x="4965"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3</a:t>
              </a:r>
            </a:p>
          </p:txBody>
        </p:sp>
      </p:grpSp>
      <p:grpSp>
        <p:nvGrpSpPr>
          <p:cNvPr id="83" name="Group 83"/>
          <p:cNvGrpSpPr>
            <a:grpSpLocks/>
          </p:cNvGrpSpPr>
          <p:nvPr/>
        </p:nvGrpSpPr>
        <p:grpSpPr bwMode="auto">
          <a:xfrm>
            <a:off x="4099995" y="1810273"/>
            <a:ext cx="783138" cy="526362"/>
            <a:chOff x="4830" y="1752"/>
            <a:chExt cx="667" cy="477"/>
          </a:xfrm>
          <a:solidFill>
            <a:srgbClr val="00FFFF"/>
          </a:solidFill>
        </p:grpSpPr>
        <p:grpSp>
          <p:nvGrpSpPr>
            <p:cNvPr id="84" name="Group 84"/>
            <p:cNvGrpSpPr>
              <a:grpSpLocks/>
            </p:cNvGrpSpPr>
            <p:nvPr/>
          </p:nvGrpSpPr>
          <p:grpSpPr bwMode="auto">
            <a:xfrm>
              <a:off x="4830" y="1752"/>
              <a:ext cx="667" cy="477"/>
              <a:chOff x="2949" y="196"/>
              <a:chExt cx="941" cy="598"/>
            </a:xfrm>
            <a:grpFill/>
          </p:grpSpPr>
          <p:sp>
            <p:nvSpPr>
              <p:cNvPr id="86" name="Oval 85"/>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7" name="Oval 86"/>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8" name="Oval 87"/>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9" name="Oval 88"/>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0" name="Oval 89"/>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1" name="Oval 90"/>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2" name="Oval 91"/>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3" name="Oval 92"/>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4" name="Freeform 93"/>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95" name="Freeform 94"/>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96" name="Freeform 95"/>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85" name="Text Box 96"/>
            <p:cNvSpPr txBox="1">
              <a:spLocks noChangeArrowheads="1"/>
            </p:cNvSpPr>
            <p:nvPr/>
          </p:nvSpPr>
          <p:spPr bwMode="auto">
            <a:xfrm>
              <a:off x="4965"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2</a:t>
              </a:r>
            </a:p>
          </p:txBody>
        </p:sp>
      </p:grpSp>
      <p:grpSp>
        <p:nvGrpSpPr>
          <p:cNvPr id="97" name="Group 97"/>
          <p:cNvGrpSpPr>
            <a:grpSpLocks/>
          </p:cNvGrpSpPr>
          <p:nvPr/>
        </p:nvGrpSpPr>
        <p:grpSpPr bwMode="auto">
          <a:xfrm>
            <a:off x="1780094" y="1755788"/>
            <a:ext cx="795786" cy="595441"/>
            <a:chOff x="434" y="1298"/>
            <a:chExt cx="755" cy="612"/>
          </a:xfrm>
        </p:grpSpPr>
        <p:sp>
          <p:nvSpPr>
            <p:cNvPr id="98" name="Line 98"/>
            <p:cNvSpPr>
              <a:spLocks noChangeShapeType="1"/>
            </p:cNvSpPr>
            <p:nvPr/>
          </p:nvSpPr>
          <p:spPr bwMode="auto">
            <a:xfrm>
              <a:off x="434" y="1298"/>
              <a:ext cx="755" cy="612"/>
            </a:xfrm>
            <a:prstGeom prst="line">
              <a:avLst/>
            </a:prstGeom>
            <a:noFill/>
            <a:ln w="5715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99" name="Line 99"/>
            <p:cNvSpPr>
              <a:spLocks noChangeShapeType="1"/>
            </p:cNvSpPr>
            <p:nvPr/>
          </p:nvSpPr>
          <p:spPr bwMode="auto">
            <a:xfrm flipH="1">
              <a:off x="434" y="1298"/>
              <a:ext cx="755" cy="612"/>
            </a:xfrm>
            <a:prstGeom prst="line">
              <a:avLst/>
            </a:prstGeom>
            <a:noFill/>
            <a:ln w="5715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101" name="Text Box 101"/>
          <p:cNvSpPr txBox="1">
            <a:spLocks noChangeArrowheads="1"/>
          </p:cNvSpPr>
          <p:nvPr/>
        </p:nvSpPr>
        <p:spPr bwMode="auto">
          <a:xfrm>
            <a:off x="1486022" y="768154"/>
            <a:ext cx="351378" cy="8925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dirty="0">
                <a:solidFill>
                  <a:srgbClr val="CC00CC"/>
                </a:solidFill>
                <a:latin typeface="微软雅黑" pitchFamily="34" charset="-122"/>
                <a:ea typeface="微软雅黑" pitchFamily="34" charset="-122"/>
              </a:rPr>
              <a:t>正</a:t>
            </a:r>
          </a:p>
          <a:p>
            <a:r>
              <a:rPr kumimoji="1" lang="zh-CN" altLang="en-US" sz="1300" b="1" dirty="0">
                <a:solidFill>
                  <a:srgbClr val="CC00CC"/>
                </a:solidFill>
                <a:latin typeface="微软雅黑" pitchFamily="34" charset="-122"/>
                <a:ea typeface="微软雅黑" pitchFamily="34" charset="-122"/>
              </a:rPr>
              <a:t>常</a:t>
            </a:r>
          </a:p>
          <a:p>
            <a:r>
              <a:rPr kumimoji="1" lang="zh-CN" altLang="en-US" sz="1300" b="1" dirty="0">
                <a:solidFill>
                  <a:srgbClr val="CC00CC"/>
                </a:solidFill>
                <a:latin typeface="微软雅黑" pitchFamily="34" charset="-122"/>
                <a:ea typeface="微软雅黑" pitchFamily="34" charset="-122"/>
              </a:rPr>
              <a:t>情</a:t>
            </a:r>
          </a:p>
          <a:p>
            <a:r>
              <a:rPr kumimoji="1" lang="zh-CN" altLang="en-US" sz="1300" b="1" dirty="0">
                <a:solidFill>
                  <a:srgbClr val="CC00CC"/>
                </a:solidFill>
                <a:latin typeface="微软雅黑" pitchFamily="34" charset="-122"/>
                <a:ea typeface="微软雅黑" pitchFamily="34" charset="-122"/>
              </a:rPr>
              <a:t>况</a:t>
            </a:r>
          </a:p>
        </p:txBody>
      </p:sp>
      <p:grpSp>
        <p:nvGrpSpPr>
          <p:cNvPr id="102" name="Group 102"/>
          <p:cNvGrpSpPr>
            <a:grpSpLocks/>
          </p:cNvGrpSpPr>
          <p:nvPr/>
        </p:nvGrpSpPr>
        <p:grpSpPr bwMode="auto">
          <a:xfrm>
            <a:off x="2816198" y="886853"/>
            <a:ext cx="977077" cy="191669"/>
            <a:chOff x="1491" y="212"/>
            <a:chExt cx="853" cy="240"/>
          </a:xfrm>
          <a:solidFill>
            <a:srgbClr val="FFFF00"/>
          </a:solidFill>
        </p:grpSpPr>
        <p:sp>
          <p:nvSpPr>
            <p:cNvPr id="103" name="AutoShape 10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04" name="Rectangle 104"/>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05" name="Text Box 105"/>
          <p:cNvSpPr txBox="1">
            <a:spLocks noChangeArrowheads="1"/>
          </p:cNvSpPr>
          <p:nvPr/>
        </p:nvSpPr>
        <p:spPr bwMode="auto">
          <a:xfrm>
            <a:off x="2828846" y="932581"/>
            <a:ext cx="679994" cy="206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a:latin typeface="微软雅黑" pitchFamily="34" charset="-122"/>
                <a:ea typeface="微软雅黑" pitchFamily="34" charset="-122"/>
              </a:rPr>
              <a:t>1  1  </a:t>
            </a:r>
            <a:r>
              <a:rPr kumimoji="1" lang="en-US" altLang="zh-CN" sz="1300" b="1">
                <a:latin typeface="微软雅黑" pitchFamily="34" charset="-122"/>
                <a:ea typeface="微软雅黑" pitchFamily="34" charset="-122"/>
                <a:sym typeface="Symbol" pitchFamily="18" charset="2"/>
              </a:rPr>
              <a:t></a:t>
            </a:r>
            <a:endParaRPr kumimoji="1" lang="en-US" altLang="zh-CN" sz="1300" b="1" baseline="-25000">
              <a:latin typeface="微软雅黑" pitchFamily="34" charset="-122"/>
              <a:ea typeface="微软雅黑" pitchFamily="34" charset="-122"/>
              <a:sym typeface="Symbol" pitchFamily="18" charset="2"/>
            </a:endParaRPr>
          </a:p>
        </p:txBody>
      </p:sp>
      <p:grpSp>
        <p:nvGrpSpPr>
          <p:cNvPr id="106" name="Group 106"/>
          <p:cNvGrpSpPr>
            <a:grpSpLocks/>
          </p:cNvGrpSpPr>
          <p:nvPr/>
        </p:nvGrpSpPr>
        <p:grpSpPr bwMode="auto">
          <a:xfrm>
            <a:off x="2973246" y="2505923"/>
            <a:ext cx="1001320" cy="247128"/>
            <a:chOff x="1566" y="2024"/>
            <a:chExt cx="950" cy="254"/>
          </a:xfrm>
          <a:solidFill>
            <a:srgbClr val="FFFF00"/>
          </a:solidFill>
        </p:grpSpPr>
        <p:grpSp>
          <p:nvGrpSpPr>
            <p:cNvPr id="107" name="Group 107"/>
            <p:cNvGrpSpPr>
              <a:grpSpLocks/>
            </p:cNvGrpSpPr>
            <p:nvPr/>
          </p:nvGrpSpPr>
          <p:grpSpPr bwMode="auto">
            <a:xfrm>
              <a:off x="1589" y="2024"/>
              <a:ext cx="927" cy="197"/>
              <a:chOff x="1491" y="212"/>
              <a:chExt cx="853" cy="240"/>
            </a:xfrm>
            <a:grpFill/>
          </p:grpSpPr>
          <p:sp>
            <p:nvSpPr>
              <p:cNvPr id="109" name="AutoShape 108"/>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10" name="Rectangle 109"/>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08" name="Text Box 110"/>
            <p:cNvSpPr txBox="1">
              <a:spLocks noChangeArrowheads="1"/>
            </p:cNvSpPr>
            <p:nvPr/>
          </p:nvSpPr>
          <p:spPr bwMode="auto">
            <a:xfrm>
              <a:off x="1566" y="2066"/>
              <a:ext cx="742" cy="212"/>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dirty="0">
                  <a:latin typeface="微软雅黑" pitchFamily="34" charset="-122"/>
                  <a:ea typeface="微软雅黑" pitchFamily="34" charset="-122"/>
                </a:rPr>
                <a:t>1  16  </a:t>
              </a:r>
              <a:r>
                <a:rPr kumimoji="1" lang="en-US" altLang="zh-CN" sz="1300" b="1" dirty="0">
                  <a:latin typeface="微软雅黑" pitchFamily="34" charset="-122"/>
                  <a:ea typeface="微软雅黑" pitchFamily="34" charset="-122"/>
                  <a:sym typeface="Symbol" pitchFamily="18" charset="2"/>
                </a:rPr>
                <a:t></a:t>
              </a:r>
              <a:endParaRPr kumimoji="1" lang="en-US" altLang="zh-CN" sz="1300" b="1" baseline="-25000" dirty="0">
                <a:latin typeface="微软雅黑" pitchFamily="34" charset="-122"/>
                <a:ea typeface="微软雅黑" pitchFamily="34" charset="-122"/>
                <a:sym typeface="Symbol" pitchFamily="18" charset="2"/>
              </a:endParaRPr>
            </a:p>
          </p:txBody>
        </p:sp>
      </p:grpSp>
      <p:grpSp>
        <p:nvGrpSpPr>
          <p:cNvPr id="111" name="Group 111"/>
          <p:cNvGrpSpPr>
            <a:grpSpLocks/>
          </p:cNvGrpSpPr>
          <p:nvPr/>
        </p:nvGrpSpPr>
        <p:grpSpPr bwMode="auto">
          <a:xfrm flipH="1">
            <a:off x="5027534" y="900474"/>
            <a:ext cx="977077" cy="191669"/>
            <a:chOff x="1491" y="212"/>
            <a:chExt cx="853" cy="240"/>
          </a:xfrm>
          <a:solidFill>
            <a:srgbClr val="66FF66"/>
          </a:solidFill>
        </p:grpSpPr>
        <p:sp>
          <p:nvSpPr>
            <p:cNvPr id="112" name="AutoShape 112"/>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13" name="Rectangle 113"/>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14" name="Text Box 114"/>
          <p:cNvSpPr txBox="1">
            <a:spLocks noChangeArrowheads="1"/>
          </p:cNvSpPr>
          <p:nvPr/>
        </p:nvSpPr>
        <p:spPr bwMode="auto">
          <a:xfrm>
            <a:off x="5286823" y="958851"/>
            <a:ext cx="774571" cy="206980"/>
          </a:xfrm>
          <a:prstGeom prst="rect">
            <a:avLst/>
          </a:prstGeom>
          <a:noFill/>
          <a:ln>
            <a:noFill/>
          </a:ln>
          <a:effectLst/>
        </p:spPr>
        <p:txBody>
          <a:bodyPr wrap="none">
            <a:spAutoFit/>
          </a:bodyPr>
          <a:lstStyle/>
          <a:p>
            <a:pPr>
              <a:lnSpc>
                <a:spcPct val="50000"/>
              </a:lnSpc>
            </a:pPr>
            <a:r>
              <a:rPr kumimoji="1" lang="en-US" altLang="zh-CN" sz="1300" b="1" dirty="0">
                <a:latin typeface="微软雅黑" pitchFamily="34" charset="-122"/>
                <a:ea typeface="微软雅黑" pitchFamily="34" charset="-122"/>
              </a:rPr>
              <a:t>1  2  </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1</a:t>
            </a:r>
          </a:p>
        </p:txBody>
      </p:sp>
      <p:grpSp>
        <p:nvGrpSpPr>
          <p:cNvPr id="115" name="Group 115"/>
          <p:cNvGrpSpPr>
            <a:grpSpLocks/>
          </p:cNvGrpSpPr>
          <p:nvPr/>
        </p:nvGrpSpPr>
        <p:grpSpPr bwMode="auto">
          <a:xfrm>
            <a:off x="5027535" y="2473823"/>
            <a:ext cx="1033995" cy="265614"/>
            <a:chOff x="3515" y="1991"/>
            <a:chExt cx="981" cy="273"/>
          </a:xfrm>
          <a:solidFill>
            <a:srgbClr val="66FF66"/>
          </a:solidFill>
        </p:grpSpPr>
        <p:grpSp>
          <p:nvGrpSpPr>
            <p:cNvPr id="116" name="Group 116"/>
            <p:cNvGrpSpPr>
              <a:grpSpLocks/>
            </p:cNvGrpSpPr>
            <p:nvPr/>
          </p:nvGrpSpPr>
          <p:grpSpPr bwMode="auto">
            <a:xfrm flipH="1">
              <a:off x="3515" y="1991"/>
              <a:ext cx="927" cy="197"/>
              <a:chOff x="1491" y="212"/>
              <a:chExt cx="853" cy="240"/>
            </a:xfrm>
            <a:grpFill/>
          </p:grpSpPr>
          <p:sp>
            <p:nvSpPr>
              <p:cNvPr id="118" name="AutoShape 117"/>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19" name="Rectangle 118"/>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17" name="Text Box 119"/>
            <p:cNvSpPr txBox="1">
              <a:spLocks noChangeArrowheads="1"/>
            </p:cNvSpPr>
            <p:nvPr/>
          </p:nvSpPr>
          <p:spPr bwMode="auto">
            <a:xfrm>
              <a:off x="3761" y="2051"/>
              <a:ext cx="735" cy="213"/>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dirty="0">
                  <a:latin typeface="微软雅黑" pitchFamily="34" charset="-122"/>
                  <a:ea typeface="微软雅黑" pitchFamily="34" charset="-122"/>
                </a:rPr>
                <a:t>1  2  </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1</a:t>
              </a:r>
            </a:p>
          </p:txBody>
        </p:sp>
      </p:grpSp>
      <p:grpSp>
        <p:nvGrpSpPr>
          <p:cNvPr id="120" name="Group 121"/>
          <p:cNvGrpSpPr>
            <a:grpSpLocks/>
          </p:cNvGrpSpPr>
          <p:nvPr/>
        </p:nvGrpSpPr>
        <p:grpSpPr bwMode="auto">
          <a:xfrm>
            <a:off x="2972193" y="2814357"/>
            <a:ext cx="1002374" cy="246155"/>
            <a:chOff x="1565" y="2478"/>
            <a:chExt cx="951" cy="253"/>
          </a:xfrm>
          <a:solidFill>
            <a:srgbClr val="FFFF00"/>
          </a:solidFill>
        </p:grpSpPr>
        <p:grpSp>
          <p:nvGrpSpPr>
            <p:cNvPr id="121" name="Group 122"/>
            <p:cNvGrpSpPr>
              <a:grpSpLocks/>
            </p:cNvGrpSpPr>
            <p:nvPr/>
          </p:nvGrpSpPr>
          <p:grpSpPr bwMode="auto">
            <a:xfrm>
              <a:off x="1589" y="2478"/>
              <a:ext cx="927" cy="197"/>
              <a:chOff x="1491" y="212"/>
              <a:chExt cx="853" cy="240"/>
            </a:xfrm>
            <a:grpFill/>
          </p:grpSpPr>
          <p:sp>
            <p:nvSpPr>
              <p:cNvPr id="123" name="AutoShape 12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24" name="Rectangle 124"/>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22" name="Text Box 125"/>
            <p:cNvSpPr txBox="1">
              <a:spLocks noChangeArrowheads="1"/>
            </p:cNvSpPr>
            <p:nvPr/>
          </p:nvSpPr>
          <p:spPr bwMode="auto">
            <a:xfrm>
              <a:off x="1565" y="2518"/>
              <a:ext cx="735" cy="213"/>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dirty="0">
                  <a:latin typeface="微软雅黑" pitchFamily="34" charset="-122"/>
                  <a:ea typeface="微软雅黑" pitchFamily="34" charset="-122"/>
                </a:rPr>
                <a:t>1  3  </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2</a:t>
              </a:r>
            </a:p>
          </p:txBody>
        </p:sp>
      </p:grpSp>
      <p:sp>
        <p:nvSpPr>
          <p:cNvPr id="125" name="Text Box 120"/>
          <p:cNvSpPr txBox="1">
            <a:spLocks noChangeArrowheads="1"/>
          </p:cNvSpPr>
          <p:nvPr/>
        </p:nvSpPr>
        <p:spPr bwMode="auto">
          <a:xfrm>
            <a:off x="1839563" y="3273353"/>
            <a:ext cx="4949184" cy="605294"/>
          </a:xfrm>
          <a:prstGeom prst="rect">
            <a:avLst/>
          </a:prstGeom>
          <a:solidFill>
            <a:srgbClr val="00FF99"/>
          </a:solidFill>
          <a:ln w="9525">
            <a:solidFill>
              <a:schemeClr val="tx2"/>
            </a:solidFill>
            <a:miter lim="800000"/>
            <a:headEnd/>
            <a:tailEnd/>
          </a:ln>
          <a:effectLst/>
        </p:spPr>
        <p:txBody>
          <a:bodyPr wrap="square">
            <a:spAutoFit/>
          </a:bodyPr>
          <a:lstStyle/>
          <a:p>
            <a:pPr>
              <a:lnSpc>
                <a:spcPts val="2000"/>
              </a:lnSpc>
            </a:pP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2</a:t>
            </a:r>
            <a:r>
              <a:rPr kumimoji="1" lang="en-US" altLang="zh-CN" sz="1300" b="1" dirty="0">
                <a:latin typeface="微软雅黑" pitchFamily="34" charset="-122"/>
                <a:ea typeface="微软雅黑" pitchFamily="34" charset="-122"/>
              </a:rPr>
              <a:t> </a:t>
            </a:r>
            <a:r>
              <a:rPr kumimoji="1" lang="zh-CN" altLang="en-US" sz="1300" b="1" dirty="0">
                <a:latin typeface="微软雅黑" pitchFamily="34" charset="-122"/>
                <a:ea typeface="微软雅黑" pitchFamily="34" charset="-122"/>
              </a:rPr>
              <a:t>以后又更新自己的路由表为“</a:t>
            </a:r>
            <a:r>
              <a:rPr kumimoji="1" lang="en-US" altLang="zh-CN" sz="1300" b="1" dirty="0">
                <a:latin typeface="微软雅黑" pitchFamily="34" charset="-122"/>
                <a:ea typeface="微软雅黑" pitchFamily="34" charset="-122"/>
              </a:rPr>
              <a:t>1, 4, R</a:t>
            </a:r>
            <a:r>
              <a:rPr kumimoji="1" lang="en-US" altLang="zh-CN" sz="1300" b="1" baseline="-25000" dirty="0">
                <a:latin typeface="微软雅黑" pitchFamily="34" charset="-122"/>
                <a:ea typeface="微软雅黑" pitchFamily="34" charset="-122"/>
              </a:rPr>
              <a:t>1</a:t>
            </a:r>
            <a:r>
              <a:rPr kumimoji="1" lang="en-US" altLang="zh-CN" sz="1300" b="1" dirty="0">
                <a:latin typeface="微软雅黑" pitchFamily="34" charset="-122"/>
                <a:ea typeface="微软雅黑" pitchFamily="34" charset="-122"/>
              </a:rPr>
              <a:t>”</a:t>
            </a:r>
            <a:r>
              <a:rPr kumimoji="1" lang="zh-CN" altLang="en-US" sz="1300" b="1" dirty="0">
                <a:latin typeface="微软雅黑" pitchFamily="34" charset="-122"/>
                <a:ea typeface="微软雅黑" pitchFamily="34" charset="-122"/>
              </a:rPr>
              <a:t>，表明 “我到网 </a:t>
            </a:r>
            <a:r>
              <a:rPr kumimoji="1" lang="en-US" altLang="zh-CN" sz="1300" b="1" dirty="0">
                <a:latin typeface="微软雅黑" pitchFamily="34" charset="-122"/>
                <a:ea typeface="微软雅黑" pitchFamily="34" charset="-122"/>
              </a:rPr>
              <a:t>1 </a:t>
            </a:r>
            <a:r>
              <a:rPr kumimoji="1" lang="zh-CN" altLang="en-US" sz="1300" b="1" dirty="0">
                <a:latin typeface="微软雅黑" pitchFamily="34" charset="-122"/>
                <a:ea typeface="微软雅黑" pitchFamily="34" charset="-122"/>
              </a:rPr>
              <a:t>距离是 </a:t>
            </a:r>
            <a:r>
              <a:rPr kumimoji="1" lang="en-US" altLang="zh-CN" sz="1300" b="1" dirty="0">
                <a:latin typeface="微软雅黑" pitchFamily="34" charset="-122"/>
                <a:ea typeface="微软雅黑" pitchFamily="34" charset="-122"/>
              </a:rPr>
              <a:t>4</a:t>
            </a:r>
            <a:r>
              <a:rPr kumimoji="1" lang="zh-CN" altLang="en-US" sz="1300" b="1" dirty="0">
                <a:latin typeface="微软雅黑" pitchFamily="34" charset="-122"/>
                <a:ea typeface="微软雅黑" pitchFamily="34" charset="-122"/>
              </a:rPr>
              <a:t>，下一跳经过 </a:t>
            </a: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1</a:t>
            </a:r>
            <a:r>
              <a:rPr kumimoji="1" lang="en-US" altLang="zh-CN" sz="1300" b="1" dirty="0">
                <a:latin typeface="微软雅黑" pitchFamily="34" charset="-122"/>
                <a:ea typeface="微软雅黑" pitchFamily="34" charset="-122"/>
              </a:rPr>
              <a:t>”</a:t>
            </a:r>
            <a:r>
              <a:rPr kumimoji="1" lang="zh-CN" altLang="en-US" sz="1300" b="1" dirty="0">
                <a:latin typeface="微软雅黑" pitchFamily="34" charset="-122"/>
                <a:ea typeface="微软雅黑" pitchFamily="34" charset="-122"/>
              </a:rPr>
              <a:t>。 </a:t>
            </a:r>
          </a:p>
        </p:txBody>
      </p:sp>
      <p:grpSp>
        <p:nvGrpSpPr>
          <p:cNvPr id="126" name="Group 115"/>
          <p:cNvGrpSpPr>
            <a:grpSpLocks/>
          </p:cNvGrpSpPr>
          <p:nvPr/>
        </p:nvGrpSpPr>
        <p:grpSpPr bwMode="auto">
          <a:xfrm>
            <a:off x="5027535" y="2875695"/>
            <a:ext cx="1033995" cy="251020"/>
            <a:chOff x="3515" y="1991"/>
            <a:chExt cx="981" cy="258"/>
          </a:xfrm>
          <a:solidFill>
            <a:srgbClr val="66FF66"/>
          </a:solidFill>
        </p:grpSpPr>
        <p:grpSp>
          <p:nvGrpSpPr>
            <p:cNvPr id="127" name="Group 116"/>
            <p:cNvGrpSpPr>
              <a:grpSpLocks/>
            </p:cNvGrpSpPr>
            <p:nvPr/>
          </p:nvGrpSpPr>
          <p:grpSpPr bwMode="auto">
            <a:xfrm flipH="1">
              <a:off x="3515" y="1991"/>
              <a:ext cx="927" cy="197"/>
              <a:chOff x="1491" y="212"/>
              <a:chExt cx="853" cy="240"/>
            </a:xfrm>
            <a:grpFill/>
          </p:grpSpPr>
          <p:sp>
            <p:nvSpPr>
              <p:cNvPr id="129" name="AutoShape 117"/>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30" name="Rectangle 118"/>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28" name="Text Box 119"/>
            <p:cNvSpPr txBox="1">
              <a:spLocks noChangeArrowheads="1"/>
            </p:cNvSpPr>
            <p:nvPr/>
          </p:nvSpPr>
          <p:spPr bwMode="auto">
            <a:xfrm>
              <a:off x="3761" y="2051"/>
              <a:ext cx="735" cy="198"/>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dirty="0">
                  <a:latin typeface="微软雅黑" pitchFamily="34" charset="-122"/>
                  <a:ea typeface="微软雅黑" pitchFamily="34" charset="-122"/>
                </a:rPr>
                <a:t>1  4  </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1</a:t>
              </a:r>
            </a:p>
          </p:txBody>
        </p:sp>
      </p:grpSp>
      <p:sp>
        <p:nvSpPr>
          <p:cNvPr id="132" name="Text Box 100"/>
          <p:cNvSpPr txBox="1">
            <a:spLocks noChangeArrowheads="1"/>
          </p:cNvSpPr>
          <p:nvPr/>
        </p:nvSpPr>
        <p:spPr bwMode="auto">
          <a:xfrm>
            <a:off x="1596284" y="2462144"/>
            <a:ext cx="1220206" cy="2723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1300" b="1" dirty="0">
                <a:solidFill>
                  <a:srgbClr val="CC00CC"/>
                </a:solidFill>
                <a:latin typeface="微软雅黑" pitchFamily="34" charset="-122"/>
                <a:ea typeface="微软雅黑" pitchFamily="34" charset="-122"/>
              </a:rPr>
              <a:t>网 </a:t>
            </a:r>
            <a:r>
              <a:rPr kumimoji="1" lang="en-US" altLang="zh-CN" sz="1300" b="1" dirty="0">
                <a:solidFill>
                  <a:srgbClr val="CC00CC"/>
                </a:solidFill>
                <a:latin typeface="微软雅黑" pitchFamily="34" charset="-122"/>
                <a:ea typeface="微软雅黑" pitchFamily="34" charset="-122"/>
              </a:rPr>
              <a:t>1 </a:t>
            </a:r>
            <a:r>
              <a:rPr kumimoji="1" lang="zh-CN" altLang="en-US" sz="1300" b="1" dirty="0">
                <a:solidFill>
                  <a:srgbClr val="CC00CC"/>
                </a:solidFill>
                <a:latin typeface="微软雅黑" pitchFamily="34" charset="-122"/>
                <a:ea typeface="微软雅黑" pitchFamily="34" charset="-122"/>
              </a:rPr>
              <a:t>出了故障</a:t>
            </a:r>
          </a:p>
        </p:txBody>
      </p:sp>
    </p:spTree>
    <p:extLst>
      <p:ext uri="{BB962C8B-B14F-4D97-AF65-F5344CB8AC3E}">
        <p14:creationId xmlns:p14="http://schemas.microsoft.com/office/powerpoint/2010/main" val="61520576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126"/>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nodeType="afterEffect">
                                  <p:stCondLst>
                                    <p:cond delay="0"/>
                                  </p:stCondLst>
                                  <p:childTnLst>
                                    <p:anim calcmode="discrete" valueType="str">
                                      <p:cBhvr>
                                        <p:cTn id="9" dur="1000" fill="hold"/>
                                        <p:tgtEl>
                                          <p:spTgt spid="126"/>
                                        </p:tgtEl>
                                        <p:attrNameLst>
                                          <p:attrName>style.visibility</p:attrName>
                                        </p:attrNameLst>
                                      </p:cBhvr>
                                      <p:tavLst>
                                        <p:tav tm="0">
                                          <p:val>
                                            <p:strVal val="hidden"/>
                                          </p:val>
                                        </p:tav>
                                        <p:tav tm="50000">
                                          <p:val>
                                            <p:strVal val="visible"/>
                                          </p:val>
                                        </p:tav>
                                      </p:tavLst>
                                    </p:anim>
                                  </p:childTnLst>
                                </p:cTn>
                              </p:par>
                              <p:par>
                                <p:cTn id="10" presetID="1" presetClass="entr" presetSubtype="0" fill="hold" grpId="0" nodeType="withEffect">
                                  <p:stCondLst>
                                    <p:cond delay="0"/>
                                  </p:stCondLst>
                                  <p:childTnLst>
                                    <p:set>
                                      <p:cBhvr>
                                        <p:cTn id="11" dur="1" fill="hold">
                                          <p:stCondLst>
                                            <p:cond delay="0"/>
                                          </p:stCondLst>
                                        </p:cTn>
                                        <p:tgtEl>
                                          <p:spTgt spid="13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2" grpId="0"/>
    </p:bld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 name="圆角矩形 205"/>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0" name="Line 50"/>
          <p:cNvSpPr>
            <a:spLocks noChangeShapeType="1"/>
          </p:cNvSpPr>
          <p:nvPr/>
        </p:nvSpPr>
        <p:spPr bwMode="auto">
          <a:xfrm>
            <a:off x="2416723" y="1786039"/>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pic>
        <p:nvPicPr>
          <p:cNvPr id="51" name="Picture 5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47028" y="1691664"/>
            <a:ext cx="483796"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2" name="Text Box 52"/>
          <p:cNvSpPr txBox="1">
            <a:spLocks noChangeArrowheads="1"/>
          </p:cNvSpPr>
          <p:nvPr/>
        </p:nvSpPr>
        <p:spPr bwMode="auto">
          <a:xfrm>
            <a:off x="5578787" y="1843443"/>
            <a:ext cx="371016" cy="2928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2</a:t>
            </a:r>
            <a:endParaRPr kumimoji="1" lang="en-US" altLang="zh-CN" sz="1300" b="1">
              <a:latin typeface="微软雅黑" pitchFamily="34" charset="-122"/>
              <a:ea typeface="微软雅黑" pitchFamily="34" charset="-122"/>
            </a:endParaRPr>
          </a:p>
        </p:txBody>
      </p:sp>
      <p:sp>
        <p:nvSpPr>
          <p:cNvPr id="53" name="Text Box 53"/>
          <p:cNvSpPr txBox="1">
            <a:spLocks noChangeArrowheads="1"/>
          </p:cNvSpPr>
          <p:nvPr/>
        </p:nvSpPr>
        <p:spPr bwMode="auto">
          <a:xfrm>
            <a:off x="3190375" y="1843443"/>
            <a:ext cx="371016" cy="2928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1</a:t>
            </a:r>
            <a:endParaRPr kumimoji="1" lang="en-US" altLang="zh-CN" sz="1300" b="1">
              <a:latin typeface="微软雅黑" pitchFamily="34" charset="-122"/>
              <a:ea typeface="微软雅黑" pitchFamily="34" charset="-122"/>
            </a:endParaRPr>
          </a:p>
        </p:txBody>
      </p:sp>
      <p:pic>
        <p:nvPicPr>
          <p:cNvPr id="54" name="Picture 5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34386" y="1691664"/>
            <a:ext cx="484850"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5" name="Group 55"/>
          <p:cNvGrpSpPr>
            <a:grpSpLocks/>
          </p:cNvGrpSpPr>
          <p:nvPr/>
        </p:nvGrpSpPr>
        <p:grpSpPr bwMode="auto">
          <a:xfrm>
            <a:off x="1793796" y="1521399"/>
            <a:ext cx="783138" cy="526362"/>
            <a:chOff x="4830" y="1752"/>
            <a:chExt cx="667" cy="477"/>
          </a:xfrm>
          <a:solidFill>
            <a:srgbClr val="00FFFF"/>
          </a:solidFill>
        </p:grpSpPr>
        <p:grpSp>
          <p:nvGrpSpPr>
            <p:cNvPr id="56" name="Group 56"/>
            <p:cNvGrpSpPr>
              <a:grpSpLocks/>
            </p:cNvGrpSpPr>
            <p:nvPr/>
          </p:nvGrpSpPr>
          <p:grpSpPr bwMode="auto">
            <a:xfrm>
              <a:off x="4830" y="1752"/>
              <a:ext cx="667" cy="477"/>
              <a:chOff x="2949" y="196"/>
              <a:chExt cx="941" cy="598"/>
            </a:xfrm>
            <a:grpFill/>
          </p:grpSpPr>
          <p:sp>
            <p:nvSpPr>
              <p:cNvPr id="58" name="Oval 57"/>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59" name="Oval 58"/>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0" name="Oval 59"/>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1" name="Oval 60"/>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2" name="Oval 61"/>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3" name="Oval 62"/>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4" name="Oval 63"/>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5" name="Oval 64"/>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6" name="Freeform 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67" name="Freeform 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68" name="Freeform 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57" name="Text Box 68"/>
            <p:cNvSpPr txBox="1">
              <a:spLocks noChangeArrowheads="1"/>
            </p:cNvSpPr>
            <p:nvPr/>
          </p:nvSpPr>
          <p:spPr bwMode="auto">
            <a:xfrm>
              <a:off x="4965"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1</a:t>
              </a:r>
            </a:p>
          </p:txBody>
        </p:sp>
      </p:grpSp>
      <p:grpSp>
        <p:nvGrpSpPr>
          <p:cNvPr id="69" name="Group 69"/>
          <p:cNvGrpSpPr>
            <a:grpSpLocks/>
          </p:cNvGrpSpPr>
          <p:nvPr/>
        </p:nvGrpSpPr>
        <p:grpSpPr bwMode="auto">
          <a:xfrm>
            <a:off x="6444139" y="1521399"/>
            <a:ext cx="783138" cy="526362"/>
            <a:chOff x="4830" y="1752"/>
            <a:chExt cx="667" cy="477"/>
          </a:xfrm>
          <a:solidFill>
            <a:srgbClr val="00FFFF"/>
          </a:solidFill>
        </p:grpSpPr>
        <p:grpSp>
          <p:nvGrpSpPr>
            <p:cNvPr id="70" name="Group 70"/>
            <p:cNvGrpSpPr>
              <a:grpSpLocks/>
            </p:cNvGrpSpPr>
            <p:nvPr/>
          </p:nvGrpSpPr>
          <p:grpSpPr bwMode="auto">
            <a:xfrm>
              <a:off x="4830" y="1752"/>
              <a:ext cx="667" cy="477"/>
              <a:chOff x="2949" y="196"/>
              <a:chExt cx="941" cy="598"/>
            </a:xfrm>
            <a:grpFill/>
          </p:grpSpPr>
          <p:sp>
            <p:nvSpPr>
              <p:cNvPr id="72" name="Oval 71"/>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3" name="Oval 72"/>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4" name="Oval 73"/>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5" name="Oval 74"/>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6" name="Oval 75"/>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7" name="Oval 76"/>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8" name="Oval 77"/>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9" name="Oval 78"/>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0" name="Freeform 79"/>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81" name="Freeform 80"/>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82" name="Freeform 81"/>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71" name="Text Box 82"/>
            <p:cNvSpPr txBox="1">
              <a:spLocks noChangeArrowheads="1"/>
            </p:cNvSpPr>
            <p:nvPr/>
          </p:nvSpPr>
          <p:spPr bwMode="auto">
            <a:xfrm>
              <a:off x="4965"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3</a:t>
              </a:r>
            </a:p>
          </p:txBody>
        </p:sp>
      </p:grpSp>
      <p:grpSp>
        <p:nvGrpSpPr>
          <p:cNvPr id="83" name="Group 83"/>
          <p:cNvGrpSpPr>
            <a:grpSpLocks/>
          </p:cNvGrpSpPr>
          <p:nvPr/>
        </p:nvGrpSpPr>
        <p:grpSpPr bwMode="auto">
          <a:xfrm>
            <a:off x="4099995" y="1521399"/>
            <a:ext cx="783138" cy="526362"/>
            <a:chOff x="4830" y="1752"/>
            <a:chExt cx="667" cy="477"/>
          </a:xfrm>
          <a:solidFill>
            <a:srgbClr val="00FFFF"/>
          </a:solidFill>
        </p:grpSpPr>
        <p:grpSp>
          <p:nvGrpSpPr>
            <p:cNvPr id="84" name="Group 84"/>
            <p:cNvGrpSpPr>
              <a:grpSpLocks/>
            </p:cNvGrpSpPr>
            <p:nvPr/>
          </p:nvGrpSpPr>
          <p:grpSpPr bwMode="auto">
            <a:xfrm>
              <a:off x="4830" y="1752"/>
              <a:ext cx="667" cy="477"/>
              <a:chOff x="2949" y="196"/>
              <a:chExt cx="941" cy="598"/>
            </a:xfrm>
            <a:grpFill/>
          </p:grpSpPr>
          <p:sp>
            <p:nvSpPr>
              <p:cNvPr id="86" name="Oval 85"/>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7" name="Oval 86"/>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8" name="Oval 87"/>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9" name="Oval 88"/>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0" name="Oval 89"/>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1" name="Oval 90"/>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2" name="Oval 91"/>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3" name="Oval 92"/>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4" name="Freeform 93"/>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95" name="Freeform 94"/>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96" name="Freeform 95"/>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85" name="Text Box 96"/>
            <p:cNvSpPr txBox="1">
              <a:spLocks noChangeArrowheads="1"/>
            </p:cNvSpPr>
            <p:nvPr/>
          </p:nvSpPr>
          <p:spPr bwMode="auto">
            <a:xfrm>
              <a:off x="4965"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2</a:t>
              </a:r>
            </a:p>
          </p:txBody>
        </p:sp>
      </p:grpSp>
      <p:grpSp>
        <p:nvGrpSpPr>
          <p:cNvPr id="97" name="Group 97"/>
          <p:cNvGrpSpPr>
            <a:grpSpLocks/>
          </p:cNvGrpSpPr>
          <p:nvPr/>
        </p:nvGrpSpPr>
        <p:grpSpPr bwMode="auto">
          <a:xfrm>
            <a:off x="1780094" y="1466914"/>
            <a:ext cx="795786" cy="595441"/>
            <a:chOff x="434" y="1298"/>
            <a:chExt cx="755" cy="612"/>
          </a:xfrm>
        </p:grpSpPr>
        <p:sp>
          <p:nvSpPr>
            <p:cNvPr id="98" name="Line 98"/>
            <p:cNvSpPr>
              <a:spLocks noChangeShapeType="1"/>
            </p:cNvSpPr>
            <p:nvPr/>
          </p:nvSpPr>
          <p:spPr bwMode="auto">
            <a:xfrm>
              <a:off x="434" y="1298"/>
              <a:ext cx="755" cy="612"/>
            </a:xfrm>
            <a:prstGeom prst="line">
              <a:avLst/>
            </a:prstGeom>
            <a:noFill/>
            <a:ln w="5715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99" name="Line 99"/>
            <p:cNvSpPr>
              <a:spLocks noChangeShapeType="1"/>
            </p:cNvSpPr>
            <p:nvPr/>
          </p:nvSpPr>
          <p:spPr bwMode="auto">
            <a:xfrm flipH="1">
              <a:off x="434" y="1298"/>
              <a:ext cx="755" cy="612"/>
            </a:xfrm>
            <a:prstGeom prst="line">
              <a:avLst/>
            </a:prstGeom>
            <a:noFill/>
            <a:ln w="5715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100" name="Text Box 100"/>
          <p:cNvSpPr txBox="1">
            <a:spLocks noChangeArrowheads="1"/>
          </p:cNvSpPr>
          <p:nvPr/>
        </p:nvSpPr>
        <p:spPr bwMode="auto">
          <a:xfrm>
            <a:off x="1614756" y="2173270"/>
            <a:ext cx="1220206" cy="2723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1300" b="1" dirty="0">
                <a:solidFill>
                  <a:srgbClr val="CC00CC"/>
                </a:solidFill>
                <a:latin typeface="微软雅黑" pitchFamily="34" charset="-122"/>
                <a:ea typeface="微软雅黑" pitchFamily="34" charset="-122"/>
              </a:rPr>
              <a:t>网 </a:t>
            </a:r>
            <a:r>
              <a:rPr kumimoji="1" lang="en-US" altLang="zh-CN" sz="1300" b="1" dirty="0">
                <a:solidFill>
                  <a:srgbClr val="CC00CC"/>
                </a:solidFill>
                <a:latin typeface="微软雅黑" pitchFamily="34" charset="-122"/>
                <a:ea typeface="微软雅黑" pitchFamily="34" charset="-122"/>
              </a:rPr>
              <a:t>1 </a:t>
            </a:r>
            <a:r>
              <a:rPr kumimoji="1" lang="zh-CN" altLang="en-US" sz="1300" b="1" dirty="0">
                <a:solidFill>
                  <a:srgbClr val="CC00CC"/>
                </a:solidFill>
                <a:latin typeface="微软雅黑" pitchFamily="34" charset="-122"/>
                <a:ea typeface="微软雅黑" pitchFamily="34" charset="-122"/>
              </a:rPr>
              <a:t>出了故障</a:t>
            </a:r>
          </a:p>
        </p:txBody>
      </p:sp>
      <p:grpSp>
        <p:nvGrpSpPr>
          <p:cNvPr id="106" name="Group 106"/>
          <p:cNvGrpSpPr>
            <a:grpSpLocks/>
          </p:cNvGrpSpPr>
          <p:nvPr/>
        </p:nvGrpSpPr>
        <p:grpSpPr bwMode="auto">
          <a:xfrm>
            <a:off x="2973246" y="2217049"/>
            <a:ext cx="1001320" cy="247128"/>
            <a:chOff x="1566" y="2024"/>
            <a:chExt cx="950" cy="254"/>
          </a:xfrm>
          <a:solidFill>
            <a:srgbClr val="FFFF00"/>
          </a:solidFill>
        </p:grpSpPr>
        <p:grpSp>
          <p:nvGrpSpPr>
            <p:cNvPr id="107" name="Group 107"/>
            <p:cNvGrpSpPr>
              <a:grpSpLocks/>
            </p:cNvGrpSpPr>
            <p:nvPr/>
          </p:nvGrpSpPr>
          <p:grpSpPr bwMode="auto">
            <a:xfrm>
              <a:off x="1589" y="2024"/>
              <a:ext cx="927" cy="197"/>
              <a:chOff x="1491" y="212"/>
              <a:chExt cx="853" cy="240"/>
            </a:xfrm>
            <a:grpFill/>
          </p:grpSpPr>
          <p:sp>
            <p:nvSpPr>
              <p:cNvPr id="109" name="AutoShape 108"/>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10" name="Rectangle 109"/>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08" name="Text Box 110"/>
            <p:cNvSpPr txBox="1">
              <a:spLocks noChangeArrowheads="1"/>
            </p:cNvSpPr>
            <p:nvPr/>
          </p:nvSpPr>
          <p:spPr bwMode="auto">
            <a:xfrm>
              <a:off x="1566" y="2066"/>
              <a:ext cx="742" cy="212"/>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dirty="0">
                  <a:latin typeface="微软雅黑" pitchFamily="34" charset="-122"/>
                  <a:ea typeface="微软雅黑" pitchFamily="34" charset="-122"/>
                </a:rPr>
                <a:t>1  16  </a:t>
              </a:r>
              <a:r>
                <a:rPr kumimoji="1" lang="en-US" altLang="zh-CN" sz="1300" b="1" dirty="0">
                  <a:latin typeface="微软雅黑" pitchFamily="34" charset="-122"/>
                  <a:ea typeface="微软雅黑" pitchFamily="34" charset="-122"/>
                  <a:sym typeface="Symbol" pitchFamily="18" charset="2"/>
                </a:rPr>
                <a:t></a:t>
              </a:r>
              <a:endParaRPr kumimoji="1" lang="en-US" altLang="zh-CN" sz="1300" b="1" baseline="-25000" dirty="0">
                <a:latin typeface="微软雅黑" pitchFamily="34" charset="-122"/>
                <a:ea typeface="微软雅黑" pitchFamily="34" charset="-122"/>
                <a:sym typeface="Symbol" pitchFamily="18" charset="2"/>
              </a:endParaRPr>
            </a:p>
          </p:txBody>
        </p:sp>
      </p:grpSp>
      <p:grpSp>
        <p:nvGrpSpPr>
          <p:cNvPr id="115" name="Group 115"/>
          <p:cNvGrpSpPr>
            <a:grpSpLocks/>
          </p:cNvGrpSpPr>
          <p:nvPr/>
        </p:nvGrpSpPr>
        <p:grpSpPr bwMode="auto">
          <a:xfrm>
            <a:off x="5027535" y="2184949"/>
            <a:ext cx="1033995" cy="265614"/>
            <a:chOff x="3515" y="1991"/>
            <a:chExt cx="981" cy="273"/>
          </a:xfrm>
          <a:solidFill>
            <a:srgbClr val="66FF66"/>
          </a:solidFill>
        </p:grpSpPr>
        <p:grpSp>
          <p:nvGrpSpPr>
            <p:cNvPr id="116" name="Group 116"/>
            <p:cNvGrpSpPr>
              <a:grpSpLocks/>
            </p:cNvGrpSpPr>
            <p:nvPr/>
          </p:nvGrpSpPr>
          <p:grpSpPr bwMode="auto">
            <a:xfrm flipH="1">
              <a:off x="3515" y="1991"/>
              <a:ext cx="927" cy="197"/>
              <a:chOff x="1491" y="212"/>
              <a:chExt cx="853" cy="240"/>
            </a:xfrm>
            <a:grpFill/>
          </p:grpSpPr>
          <p:sp>
            <p:nvSpPr>
              <p:cNvPr id="118" name="AutoShape 117"/>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19" name="Rectangle 118"/>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17" name="Text Box 119"/>
            <p:cNvSpPr txBox="1">
              <a:spLocks noChangeArrowheads="1"/>
            </p:cNvSpPr>
            <p:nvPr/>
          </p:nvSpPr>
          <p:spPr bwMode="auto">
            <a:xfrm>
              <a:off x="3761" y="2051"/>
              <a:ext cx="735" cy="213"/>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dirty="0">
                  <a:latin typeface="微软雅黑" pitchFamily="34" charset="-122"/>
                  <a:ea typeface="微软雅黑" pitchFamily="34" charset="-122"/>
                </a:rPr>
                <a:t>1  2  </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1</a:t>
              </a:r>
            </a:p>
          </p:txBody>
        </p:sp>
      </p:grpSp>
      <p:grpSp>
        <p:nvGrpSpPr>
          <p:cNvPr id="120" name="Group 121"/>
          <p:cNvGrpSpPr>
            <a:grpSpLocks/>
          </p:cNvGrpSpPr>
          <p:nvPr/>
        </p:nvGrpSpPr>
        <p:grpSpPr bwMode="auto">
          <a:xfrm>
            <a:off x="2972193" y="2525483"/>
            <a:ext cx="1002374" cy="246155"/>
            <a:chOff x="1565" y="2478"/>
            <a:chExt cx="951" cy="253"/>
          </a:xfrm>
          <a:solidFill>
            <a:srgbClr val="FFFF00"/>
          </a:solidFill>
        </p:grpSpPr>
        <p:grpSp>
          <p:nvGrpSpPr>
            <p:cNvPr id="121" name="Group 122"/>
            <p:cNvGrpSpPr>
              <a:grpSpLocks/>
            </p:cNvGrpSpPr>
            <p:nvPr/>
          </p:nvGrpSpPr>
          <p:grpSpPr bwMode="auto">
            <a:xfrm>
              <a:off x="1589" y="2478"/>
              <a:ext cx="927" cy="197"/>
              <a:chOff x="1491" y="212"/>
              <a:chExt cx="853" cy="240"/>
            </a:xfrm>
            <a:grpFill/>
          </p:grpSpPr>
          <p:sp>
            <p:nvSpPr>
              <p:cNvPr id="123" name="AutoShape 12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24" name="Rectangle 124"/>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22" name="Text Box 125"/>
            <p:cNvSpPr txBox="1">
              <a:spLocks noChangeArrowheads="1"/>
            </p:cNvSpPr>
            <p:nvPr/>
          </p:nvSpPr>
          <p:spPr bwMode="auto">
            <a:xfrm>
              <a:off x="1565" y="2518"/>
              <a:ext cx="735" cy="213"/>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dirty="0">
                  <a:latin typeface="微软雅黑" pitchFamily="34" charset="-122"/>
                  <a:ea typeface="微软雅黑" pitchFamily="34" charset="-122"/>
                </a:rPr>
                <a:t>1  3  </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2</a:t>
              </a:r>
            </a:p>
          </p:txBody>
        </p:sp>
      </p:grpSp>
      <p:sp>
        <p:nvSpPr>
          <p:cNvPr id="125" name="Text Box 120"/>
          <p:cNvSpPr txBox="1">
            <a:spLocks noChangeArrowheads="1"/>
          </p:cNvSpPr>
          <p:nvPr/>
        </p:nvSpPr>
        <p:spPr bwMode="auto">
          <a:xfrm>
            <a:off x="1839563" y="3704177"/>
            <a:ext cx="4949184" cy="605294"/>
          </a:xfrm>
          <a:prstGeom prst="rect">
            <a:avLst/>
          </a:prstGeom>
          <a:solidFill>
            <a:srgbClr val="00FF99"/>
          </a:solidFill>
          <a:ln w="9525">
            <a:solidFill>
              <a:schemeClr val="tx2"/>
            </a:solidFill>
            <a:miter lim="800000"/>
            <a:headEnd/>
            <a:tailEnd/>
          </a:ln>
          <a:effectLst/>
        </p:spPr>
        <p:txBody>
          <a:bodyPr wrap="square">
            <a:spAutoFit/>
          </a:bodyPr>
          <a:lstStyle/>
          <a:p>
            <a:pPr>
              <a:lnSpc>
                <a:spcPts val="2000"/>
              </a:lnSpc>
            </a:pPr>
            <a:r>
              <a:rPr kumimoji="1" lang="zh-CN" altLang="en-US" sz="1300" b="1" dirty="0">
                <a:latin typeface="微软雅黑" pitchFamily="34" charset="-122"/>
                <a:ea typeface="微软雅黑" pitchFamily="34" charset="-122"/>
              </a:rPr>
              <a:t>这样不断更新下去，直到 </a:t>
            </a: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1</a:t>
            </a:r>
            <a:r>
              <a:rPr kumimoji="1" lang="en-US" altLang="zh-CN" sz="1300" b="1" dirty="0">
                <a:latin typeface="微软雅黑" pitchFamily="34" charset="-122"/>
                <a:ea typeface="微软雅黑" pitchFamily="34" charset="-122"/>
              </a:rPr>
              <a:t> </a:t>
            </a:r>
            <a:r>
              <a:rPr kumimoji="1" lang="zh-CN" altLang="en-US" sz="1300" b="1" dirty="0">
                <a:latin typeface="微软雅黑" pitchFamily="34" charset="-122"/>
                <a:ea typeface="微软雅黑" pitchFamily="34" charset="-122"/>
              </a:rPr>
              <a:t>和 </a:t>
            </a: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2 </a:t>
            </a:r>
            <a:r>
              <a:rPr kumimoji="1" lang="zh-CN" altLang="en-US" sz="1300" b="1" dirty="0">
                <a:latin typeface="微软雅黑" pitchFamily="34" charset="-122"/>
                <a:ea typeface="微软雅黑" pitchFamily="34" charset="-122"/>
              </a:rPr>
              <a:t>到网 </a:t>
            </a:r>
            <a:r>
              <a:rPr kumimoji="1" lang="en-US" altLang="zh-CN" sz="1300" b="1" dirty="0">
                <a:latin typeface="微软雅黑" pitchFamily="34" charset="-122"/>
                <a:ea typeface="微软雅黑" pitchFamily="34" charset="-122"/>
              </a:rPr>
              <a:t>1 </a:t>
            </a:r>
            <a:r>
              <a:rPr kumimoji="1" lang="zh-CN" altLang="en-US" sz="1300" b="1" dirty="0">
                <a:latin typeface="微软雅黑" pitchFamily="34" charset="-122"/>
                <a:ea typeface="微软雅黑" pitchFamily="34" charset="-122"/>
              </a:rPr>
              <a:t>的距离都增大到 </a:t>
            </a:r>
            <a:r>
              <a:rPr kumimoji="1" lang="en-US" altLang="zh-CN" sz="1300" b="1" dirty="0">
                <a:latin typeface="微软雅黑" pitchFamily="34" charset="-122"/>
                <a:ea typeface="微软雅黑" pitchFamily="34" charset="-122"/>
              </a:rPr>
              <a:t>16 </a:t>
            </a:r>
            <a:r>
              <a:rPr kumimoji="1" lang="zh-CN" altLang="en-US" sz="1300" b="1" dirty="0">
                <a:latin typeface="微软雅黑" pitchFamily="34" charset="-122"/>
                <a:ea typeface="微软雅黑" pitchFamily="34" charset="-122"/>
              </a:rPr>
              <a:t>时，</a:t>
            </a:r>
            <a:r>
              <a:rPr kumimoji="1" lang="en-US" altLang="zh-CN" sz="1300" b="1" dirty="0">
                <a:latin typeface="微软雅黑" pitchFamily="34" charset="-122"/>
                <a:ea typeface="微软雅黑" pitchFamily="34" charset="-122"/>
              </a:rPr>
              <a:t> R</a:t>
            </a:r>
            <a:r>
              <a:rPr kumimoji="1" lang="en-US" altLang="zh-CN" sz="1300" b="1" baseline="-25000" dirty="0">
                <a:latin typeface="微软雅黑" pitchFamily="34" charset="-122"/>
                <a:ea typeface="微软雅黑" pitchFamily="34" charset="-122"/>
              </a:rPr>
              <a:t>1</a:t>
            </a:r>
            <a:r>
              <a:rPr kumimoji="1" lang="en-US" altLang="zh-CN" sz="1300" b="1" dirty="0">
                <a:latin typeface="微软雅黑" pitchFamily="34" charset="-122"/>
                <a:ea typeface="微软雅黑" pitchFamily="34" charset="-122"/>
              </a:rPr>
              <a:t> </a:t>
            </a:r>
            <a:r>
              <a:rPr kumimoji="1" lang="zh-CN" altLang="en-US" sz="1300" b="1" dirty="0">
                <a:latin typeface="微软雅黑" pitchFamily="34" charset="-122"/>
                <a:ea typeface="微软雅黑" pitchFamily="34" charset="-122"/>
              </a:rPr>
              <a:t>和 </a:t>
            </a: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2 </a:t>
            </a:r>
            <a:r>
              <a:rPr kumimoji="1" lang="zh-CN" altLang="en-US" sz="1300" b="1" dirty="0">
                <a:latin typeface="微软雅黑" pitchFamily="34" charset="-122"/>
                <a:ea typeface="微软雅黑" pitchFamily="34" charset="-122"/>
              </a:rPr>
              <a:t>才知道网 </a:t>
            </a:r>
            <a:r>
              <a:rPr kumimoji="1" lang="en-US" altLang="zh-CN" sz="1300" b="1" dirty="0">
                <a:latin typeface="微软雅黑" pitchFamily="34" charset="-122"/>
                <a:ea typeface="微软雅黑" pitchFamily="34" charset="-122"/>
              </a:rPr>
              <a:t>1 </a:t>
            </a:r>
            <a:r>
              <a:rPr kumimoji="1" lang="zh-CN" altLang="en-US" sz="1300" b="1" dirty="0">
                <a:latin typeface="微软雅黑" pitchFamily="34" charset="-122"/>
                <a:ea typeface="微软雅黑" pitchFamily="34" charset="-122"/>
              </a:rPr>
              <a:t>是不可达的。 </a:t>
            </a:r>
          </a:p>
        </p:txBody>
      </p:sp>
      <p:grpSp>
        <p:nvGrpSpPr>
          <p:cNvPr id="126" name="Group 115"/>
          <p:cNvGrpSpPr>
            <a:grpSpLocks/>
          </p:cNvGrpSpPr>
          <p:nvPr/>
        </p:nvGrpSpPr>
        <p:grpSpPr bwMode="auto">
          <a:xfrm>
            <a:off x="5027535" y="2586821"/>
            <a:ext cx="1033995" cy="251020"/>
            <a:chOff x="3515" y="1991"/>
            <a:chExt cx="981" cy="258"/>
          </a:xfrm>
          <a:solidFill>
            <a:srgbClr val="66FF66"/>
          </a:solidFill>
        </p:grpSpPr>
        <p:grpSp>
          <p:nvGrpSpPr>
            <p:cNvPr id="127" name="Group 116"/>
            <p:cNvGrpSpPr>
              <a:grpSpLocks/>
            </p:cNvGrpSpPr>
            <p:nvPr/>
          </p:nvGrpSpPr>
          <p:grpSpPr bwMode="auto">
            <a:xfrm flipH="1">
              <a:off x="3515" y="1991"/>
              <a:ext cx="927" cy="197"/>
              <a:chOff x="1491" y="212"/>
              <a:chExt cx="853" cy="240"/>
            </a:xfrm>
            <a:grpFill/>
          </p:grpSpPr>
          <p:sp>
            <p:nvSpPr>
              <p:cNvPr id="129" name="AutoShape 117"/>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30" name="Rectangle 118"/>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28" name="Text Box 119"/>
            <p:cNvSpPr txBox="1">
              <a:spLocks noChangeArrowheads="1"/>
            </p:cNvSpPr>
            <p:nvPr/>
          </p:nvSpPr>
          <p:spPr bwMode="auto">
            <a:xfrm>
              <a:off x="3761" y="2051"/>
              <a:ext cx="735" cy="198"/>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dirty="0">
                  <a:latin typeface="微软雅黑" pitchFamily="34" charset="-122"/>
                  <a:ea typeface="微软雅黑" pitchFamily="34" charset="-122"/>
                </a:rPr>
                <a:t>1  4  </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1</a:t>
              </a:r>
            </a:p>
          </p:txBody>
        </p:sp>
      </p:grpSp>
      <p:grpSp>
        <p:nvGrpSpPr>
          <p:cNvPr id="131" name="Group 121"/>
          <p:cNvGrpSpPr>
            <a:grpSpLocks/>
          </p:cNvGrpSpPr>
          <p:nvPr/>
        </p:nvGrpSpPr>
        <p:grpSpPr bwMode="auto">
          <a:xfrm>
            <a:off x="2972193" y="2839686"/>
            <a:ext cx="1002374" cy="231561"/>
            <a:chOff x="1565" y="2478"/>
            <a:chExt cx="951" cy="238"/>
          </a:xfrm>
          <a:solidFill>
            <a:srgbClr val="FFFF00"/>
          </a:solidFill>
        </p:grpSpPr>
        <p:grpSp>
          <p:nvGrpSpPr>
            <p:cNvPr id="132" name="Group 122"/>
            <p:cNvGrpSpPr>
              <a:grpSpLocks/>
            </p:cNvGrpSpPr>
            <p:nvPr/>
          </p:nvGrpSpPr>
          <p:grpSpPr bwMode="auto">
            <a:xfrm>
              <a:off x="1589" y="2478"/>
              <a:ext cx="927" cy="197"/>
              <a:chOff x="1491" y="212"/>
              <a:chExt cx="853" cy="240"/>
            </a:xfrm>
            <a:grpFill/>
          </p:grpSpPr>
          <p:sp>
            <p:nvSpPr>
              <p:cNvPr id="134" name="AutoShape 12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35" name="Rectangle 124"/>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33" name="Text Box 125"/>
            <p:cNvSpPr txBox="1">
              <a:spLocks noChangeArrowheads="1"/>
            </p:cNvSpPr>
            <p:nvPr/>
          </p:nvSpPr>
          <p:spPr bwMode="auto">
            <a:xfrm>
              <a:off x="1565" y="2518"/>
              <a:ext cx="735" cy="198"/>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dirty="0">
                  <a:latin typeface="微软雅黑" pitchFamily="34" charset="-122"/>
                  <a:ea typeface="微软雅黑" pitchFamily="34" charset="-122"/>
                </a:rPr>
                <a:t>1  5  </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2</a:t>
              </a:r>
            </a:p>
          </p:txBody>
        </p:sp>
      </p:grpSp>
      <p:grpSp>
        <p:nvGrpSpPr>
          <p:cNvPr id="137" name="Group 121"/>
          <p:cNvGrpSpPr>
            <a:grpSpLocks/>
          </p:cNvGrpSpPr>
          <p:nvPr/>
        </p:nvGrpSpPr>
        <p:grpSpPr bwMode="auto">
          <a:xfrm>
            <a:off x="2930033" y="3389799"/>
            <a:ext cx="1044534" cy="222804"/>
            <a:chOff x="1525" y="2478"/>
            <a:chExt cx="991" cy="229"/>
          </a:xfrm>
          <a:solidFill>
            <a:srgbClr val="FFFF00"/>
          </a:solidFill>
        </p:grpSpPr>
        <p:grpSp>
          <p:nvGrpSpPr>
            <p:cNvPr id="138" name="Group 122"/>
            <p:cNvGrpSpPr>
              <a:grpSpLocks/>
            </p:cNvGrpSpPr>
            <p:nvPr/>
          </p:nvGrpSpPr>
          <p:grpSpPr bwMode="auto">
            <a:xfrm>
              <a:off x="1589" y="2478"/>
              <a:ext cx="927" cy="197"/>
              <a:chOff x="1491" y="212"/>
              <a:chExt cx="853" cy="240"/>
            </a:xfrm>
            <a:grpFill/>
          </p:grpSpPr>
          <p:sp>
            <p:nvSpPr>
              <p:cNvPr id="140" name="AutoShape 12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41" name="Rectangle 124"/>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39" name="Text Box 125"/>
            <p:cNvSpPr txBox="1">
              <a:spLocks noChangeArrowheads="1"/>
            </p:cNvSpPr>
            <p:nvPr/>
          </p:nvSpPr>
          <p:spPr bwMode="auto">
            <a:xfrm>
              <a:off x="1525" y="2509"/>
              <a:ext cx="832" cy="198"/>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dirty="0">
                  <a:latin typeface="微软雅黑" pitchFamily="34" charset="-122"/>
                  <a:ea typeface="微软雅黑" pitchFamily="34" charset="-122"/>
                </a:rPr>
                <a:t>1  16  </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2</a:t>
              </a:r>
            </a:p>
          </p:txBody>
        </p:sp>
      </p:grpSp>
      <p:grpSp>
        <p:nvGrpSpPr>
          <p:cNvPr id="142" name="Group 115"/>
          <p:cNvGrpSpPr>
            <a:grpSpLocks/>
          </p:cNvGrpSpPr>
          <p:nvPr/>
        </p:nvGrpSpPr>
        <p:grpSpPr bwMode="auto">
          <a:xfrm>
            <a:off x="5027543" y="3389801"/>
            <a:ext cx="1068779" cy="224750"/>
            <a:chOff x="3515" y="1991"/>
            <a:chExt cx="1014" cy="231"/>
          </a:xfrm>
          <a:solidFill>
            <a:srgbClr val="66FF66"/>
          </a:solidFill>
        </p:grpSpPr>
        <p:grpSp>
          <p:nvGrpSpPr>
            <p:cNvPr id="143" name="Group 116"/>
            <p:cNvGrpSpPr>
              <a:grpSpLocks/>
            </p:cNvGrpSpPr>
            <p:nvPr/>
          </p:nvGrpSpPr>
          <p:grpSpPr bwMode="auto">
            <a:xfrm flipH="1">
              <a:off x="3515" y="1991"/>
              <a:ext cx="927" cy="197"/>
              <a:chOff x="1491" y="212"/>
              <a:chExt cx="853" cy="240"/>
            </a:xfrm>
            <a:grpFill/>
          </p:grpSpPr>
          <p:sp>
            <p:nvSpPr>
              <p:cNvPr id="145" name="AutoShape 117"/>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46" name="Rectangle 118"/>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44" name="Text Box 119"/>
            <p:cNvSpPr txBox="1">
              <a:spLocks noChangeArrowheads="1"/>
            </p:cNvSpPr>
            <p:nvPr/>
          </p:nvSpPr>
          <p:spPr bwMode="auto">
            <a:xfrm>
              <a:off x="3697" y="2024"/>
              <a:ext cx="832" cy="198"/>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dirty="0">
                  <a:latin typeface="微软雅黑" pitchFamily="34" charset="-122"/>
                  <a:ea typeface="微软雅黑" pitchFamily="34" charset="-122"/>
                </a:rPr>
                <a:t>1  16  </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1</a:t>
              </a:r>
            </a:p>
          </p:txBody>
        </p:sp>
      </p:grpSp>
      <p:sp>
        <p:nvSpPr>
          <p:cNvPr id="147" name="Text Box 105"/>
          <p:cNvSpPr txBox="1">
            <a:spLocks noChangeArrowheads="1"/>
          </p:cNvSpPr>
          <p:nvPr/>
        </p:nvSpPr>
        <p:spPr bwMode="auto">
          <a:xfrm rot="5400000">
            <a:off x="5545373" y="3055316"/>
            <a:ext cx="348172"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dirty="0">
                <a:latin typeface="+mn-lt"/>
                <a:ea typeface="黑体" pitchFamily="2" charset="-122"/>
              </a:rPr>
              <a:t>…</a:t>
            </a:r>
          </a:p>
        </p:txBody>
      </p:sp>
      <p:sp>
        <p:nvSpPr>
          <p:cNvPr id="148" name="Text Box 142"/>
          <p:cNvSpPr txBox="1">
            <a:spLocks noChangeArrowheads="1"/>
          </p:cNvSpPr>
          <p:nvPr/>
        </p:nvSpPr>
        <p:spPr bwMode="auto">
          <a:xfrm rot="5400000">
            <a:off x="3303952" y="3055316"/>
            <a:ext cx="348172"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a:latin typeface="+mn-lt"/>
                <a:ea typeface="黑体" pitchFamily="2" charset="-122"/>
              </a:rPr>
              <a:t>…</a:t>
            </a:r>
          </a:p>
        </p:txBody>
      </p:sp>
      <p:grpSp>
        <p:nvGrpSpPr>
          <p:cNvPr id="205" name="组合 204"/>
          <p:cNvGrpSpPr/>
          <p:nvPr/>
        </p:nvGrpSpPr>
        <p:grpSpPr>
          <a:xfrm>
            <a:off x="1486022" y="619952"/>
            <a:ext cx="5741255" cy="892552"/>
            <a:chOff x="1486022" y="768154"/>
            <a:chExt cx="5741255" cy="892552"/>
          </a:xfrm>
        </p:grpSpPr>
        <p:sp>
          <p:nvSpPr>
            <p:cNvPr id="149" name="Line 2"/>
            <p:cNvSpPr>
              <a:spLocks noChangeShapeType="1"/>
            </p:cNvSpPr>
            <p:nvPr/>
          </p:nvSpPr>
          <p:spPr bwMode="auto">
            <a:xfrm>
              <a:off x="2416723" y="1233220"/>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pic>
          <p:nvPicPr>
            <p:cNvPr id="150" name="Picture 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47028" y="1137872"/>
              <a:ext cx="483796"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51" name="Text Box 4"/>
            <p:cNvSpPr txBox="1">
              <a:spLocks noChangeArrowheads="1"/>
            </p:cNvSpPr>
            <p:nvPr/>
          </p:nvSpPr>
          <p:spPr bwMode="auto">
            <a:xfrm>
              <a:off x="5578787" y="1290624"/>
              <a:ext cx="37061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2</a:t>
              </a:r>
              <a:endParaRPr kumimoji="1" lang="en-US" altLang="zh-CN" sz="1300" b="1">
                <a:latin typeface="微软雅黑" pitchFamily="34" charset="-122"/>
                <a:ea typeface="微软雅黑" pitchFamily="34" charset="-122"/>
              </a:endParaRPr>
            </a:p>
          </p:txBody>
        </p:sp>
        <p:sp>
          <p:nvSpPr>
            <p:cNvPr id="152" name="Text Box 5"/>
            <p:cNvSpPr txBox="1">
              <a:spLocks noChangeArrowheads="1"/>
            </p:cNvSpPr>
            <p:nvPr/>
          </p:nvSpPr>
          <p:spPr bwMode="auto">
            <a:xfrm>
              <a:off x="3190375" y="1290624"/>
              <a:ext cx="37061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1</a:t>
              </a:r>
              <a:endParaRPr kumimoji="1" lang="en-US" altLang="zh-CN" sz="1300" b="1">
                <a:latin typeface="微软雅黑" pitchFamily="34" charset="-122"/>
                <a:ea typeface="微软雅黑" pitchFamily="34" charset="-122"/>
              </a:endParaRPr>
            </a:p>
          </p:txBody>
        </p:sp>
        <p:pic>
          <p:nvPicPr>
            <p:cNvPr id="153" name="Picture 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34387" y="1137872"/>
              <a:ext cx="484850"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54" name="Group 7"/>
            <p:cNvGrpSpPr>
              <a:grpSpLocks/>
            </p:cNvGrpSpPr>
            <p:nvPr/>
          </p:nvGrpSpPr>
          <p:grpSpPr bwMode="auto">
            <a:xfrm>
              <a:off x="1793796" y="968580"/>
              <a:ext cx="783138" cy="526362"/>
              <a:chOff x="4830" y="1752"/>
              <a:chExt cx="667" cy="477"/>
            </a:xfrm>
            <a:solidFill>
              <a:srgbClr val="00FFFF"/>
            </a:solidFill>
          </p:grpSpPr>
          <p:grpSp>
            <p:nvGrpSpPr>
              <p:cNvPr id="155" name="Group 8"/>
              <p:cNvGrpSpPr>
                <a:grpSpLocks/>
              </p:cNvGrpSpPr>
              <p:nvPr/>
            </p:nvGrpSpPr>
            <p:grpSpPr bwMode="auto">
              <a:xfrm>
                <a:off x="4830" y="1752"/>
                <a:ext cx="667" cy="477"/>
                <a:chOff x="2949" y="196"/>
                <a:chExt cx="941" cy="598"/>
              </a:xfrm>
              <a:grpFill/>
            </p:grpSpPr>
            <p:sp>
              <p:nvSpPr>
                <p:cNvPr id="157" name="Oval 9"/>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58" name="Oval 10"/>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59" name="Oval 11"/>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60" name="Oval 12"/>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61" name="Oval 13"/>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62" name="Oval 14"/>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63" name="Oval 15"/>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64" name="Oval 16"/>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65" name="Freeform 1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166" name="Freeform 1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167" name="Freeform 1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156" name="Text Box 20"/>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1</a:t>
                </a:r>
              </a:p>
            </p:txBody>
          </p:sp>
        </p:grpSp>
        <p:grpSp>
          <p:nvGrpSpPr>
            <p:cNvPr id="168" name="Group 21"/>
            <p:cNvGrpSpPr>
              <a:grpSpLocks/>
            </p:cNvGrpSpPr>
            <p:nvPr/>
          </p:nvGrpSpPr>
          <p:grpSpPr bwMode="auto">
            <a:xfrm>
              <a:off x="6444139" y="968580"/>
              <a:ext cx="783138" cy="526362"/>
              <a:chOff x="4830" y="1752"/>
              <a:chExt cx="667" cy="477"/>
            </a:xfrm>
            <a:solidFill>
              <a:srgbClr val="00FFFF"/>
            </a:solidFill>
          </p:grpSpPr>
          <p:grpSp>
            <p:nvGrpSpPr>
              <p:cNvPr id="169" name="Group 22"/>
              <p:cNvGrpSpPr>
                <a:grpSpLocks/>
              </p:cNvGrpSpPr>
              <p:nvPr/>
            </p:nvGrpSpPr>
            <p:grpSpPr bwMode="auto">
              <a:xfrm>
                <a:off x="4830" y="1752"/>
                <a:ext cx="667" cy="477"/>
                <a:chOff x="2949" y="196"/>
                <a:chExt cx="941" cy="598"/>
              </a:xfrm>
              <a:grpFill/>
            </p:grpSpPr>
            <p:sp>
              <p:nvSpPr>
                <p:cNvPr id="171" name="Oval 23"/>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72" name="Oval 24"/>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73" name="Oval 25"/>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74" name="Oval 26"/>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75" name="Oval 27"/>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76" name="Oval 28"/>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77" name="Oval 29"/>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78" name="Oval 30"/>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79" name="Freeform 31"/>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180" name="Freeform 32"/>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181" name="Freeform 33"/>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170" name="Text Box 34"/>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3</a:t>
                </a:r>
              </a:p>
            </p:txBody>
          </p:sp>
        </p:grpSp>
        <p:grpSp>
          <p:nvGrpSpPr>
            <p:cNvPr id="182" name="Group 35"/>
            <p:cNvGrpSpPr>
              <a:grpSpLocks/>
            </p:cNvGrpSpPr>
            <p:nvPr/>
          </p:nvGrpSpPr>
          <p:grpSpPr bwMode="auto">
            <a:xfrm>
              <a:off x="4099995" y="968580"/>
              <a:ext cx="783138" cy="526362"/>
              <a:chOff x="4830" y="1752"/>
              <a:chExt cx="667" cy="477"/>
            </a:xfrm>
            <a:solidFill>
              <a:srgbClr val="00FFFF"/>
            </a:solidFill>
          </p:grpSpPr>
          <p:grpSp>
            <p:nvGrpSpPr>
              <p:cNvPr id="183" name="Group 36"/>
              <p:cNvGrpSpPr>
                <a:grpSpLocks/>
              </p:cNvGrpSpPr>
              <p:nvPr/>
            </p:nvGrpSpPr>
            <p:grpSpPr bwMode="auto">
              <a:xfrm>
                <a:off x="4830" y="1752"/>
                <a:ext cx="667" cy="477"/>
                <a:chOff x="2949" y="196"/>
                <a:chExt cx="941" cy="598"/>
              </a:xfrm>
              <a:grpFill/>
            </p:grpSpPr>
            <p:sp>
              <p:nvSpPr>
                <p:cNvPr id="185" name="Oval 37"/>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86" name="Oval 38"/>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87" name="Oval 39"/>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88" name="Oval 40"/>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89" name="Oval 41"/>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90" name="Oval 42"/>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91" name="Oval 43"/>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92" name="Oval 44"/>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93" name="Freeform 4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194" name="Freeform 4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195" name="Freeform 4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184" name="Text Box 48"/>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2</a:t>
                </a:r>
              </a:p>
            </p:txBody>
          </p:sp>
        </p:grpSp>
        <p:sp>
          <p:nvSpPr>
            <p:cNvPr id="196" name="Text Box 101"/>
            <p:cNvSpPr txBox="1">
              <a:spLocks noChangeArrowheads="1"/>
            </p:cNvSpPr>
            <p:nvPr/>
          </p:nvSpPr>
          <p:spPr bwMode="auto">
            <a:xfrm>
              <a:off x="1486022" y="768154"/>
              <a:ext cx="351378" cy="8925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dirty="0">
                  <a:solidFill>
                    <a:srgbClr val="CC00CC"/>
                  </a:solidFill>
                  <a:latin typeface="微软雅黑" pitchFamily="34" charset="-122"/>
                  <a:ea typeface="微软雅黑" pitchFamily="34" charset="-122"/>
                </a:rPr>
                <a:t>正</a:t>
              </a:r>
            </a:p>
            <a:p>
              <a:r>
                <a:rPr kumimoji="1" lang="zh-CN" altLang="en-US" sz="1300" b="1" dirty="0">
                  <a:solidFill>
                    <a:srgbClr val="CC00CC"/>
                  </a:solidFill>
                  <a:latin typeface="微软雅黑" pitchFamily="34" charset="-122"/>
                  <a:ea typeface="微软雅黑" pitchFamily="34" charset="-122"/>
                </a:rPr>
                <a:t>常</a:t>
              </a:r>
            </a:p>
            <a:p>
              <a:r>
                <a:rPr kumimoji="1" lang="zh-CN" altLang="en-US" sz="1300" b="1" dirty="0">
                  <a:solidFill>
                    <a:srgbClr val="CC00CC"/>
                  </a:solidFill>
                  <a:latin typeface="微软雅黑" pitchFamily="34" charset="-122"/>
                  <a:ea typeface="微软雅黑" pitchFamily="34" charset="-122"/>
                </a:rPr>
                <a:t>情</a:t>
              </a:r>
            </a:p>
            <a:p>
              <a:r>
                <a:rPr kumimoji="1" lang="zh-CN" altLang="en-US" sz="1300" b="1" dirty="0">
                  <a:solidFill>
                    <a:srgbClr val="CC00CC"/>
                  </a:solidFill>
                  <a:latin typeface="微软雅黑" pitchFamily="34" charset="-122"/>
                  <a:ea typeface="微软雅黑" pitchFamily="34" charset="-122"/>
                </a:rPr>
                <a:t>况</a:t>
              </a:r>
            </a:p>
          </p:txBody>
        </p:sp>
        <p:grpSp>
          <p:nvGrpSpPr>
            <p:cNvPr id="197" name="Group 102"/>
            <p:cNvGrpSpPr>
              <a:grpSpLocks/>
            </p:cNvGrpSpPr>
            <p:nvPr/>
          </p:nvGrpSpPr>
          <p:grpSpPr bwMode="auto">
            <a:xfrm>
              <a:off x="2816198" y="886853"/>
              <a:ext cx="977077" cy="191669"/>
              <a:chOff x="1491" y="212"/>
              <a:chExt cx="853" cy="240"/>
            </a:xfrm>
            <a:solidFill>
              <a:srgbClr val="FFFF00"/>
            </a:solidFill>
          </p:grpSpPr>
          <p:sp>
            <p:nvSpPr>
              <p:cNvPr id="198" name="AutoShape 10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99" name="Rectangle 104"/>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200" name="Text Box 105"/>
            <p:cNvSpPr txBox="1">
              <a:spLocks noChangeArrowheads="1"/>
            </p:cNvSpPr>
            <p:nvPr/>
          </p:nvSpPr>
          <p:spPr bwMode="auto">
            <a:xfrm>
              <a:off x="2828846" y="932581"/>
              <a:ext cx="679994" cy="206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a:latin typeface="微软雅黑" pitchFamily="34" charset="-122"/>
                  <a:ea typeface="微软雅黑" pitchFamily="34" charset="-122"/>
                </a:rPr>
                <a:t>1  1  </a:t>
              </a:r>
              <a:r>
                <a:rPr kumimoji="1" lang="en-US" altLang="zh-CN" sz="1300" b="1">
                  <a:latin typeface="微软雅黑" pitchFamily="34" charset="-122"/>
                  <a:ea typeface="微软雅黑" pitchFamily="34" charset="-122"/>
                  <a:sym typeface="Symbol" pitchFamily="18" charset="2"/>
                </a:rPr>
                <a:t></a:t>
              </a:r>
              <a:endParaRPr kumimoji="1" lang="en-US" altLang="zh-CN" sz="1300" b="1" baseline="-25000">
                <a:latin typeface="微软雅黑" pitchFamily="34" charset="-122"/>
                <a:ea typeface="微软雅黑" pitchFamily="34" charset="-122"/>
                <a:sym typeface="Symbol" pitchFamily="18" charset="2"/>
              </a:endParaRPr>
            </a:p>
          </p:txBody>
        </p:sp>
        <p:grpSp>
          <p:nvGrpSpPr>
            <p:cNvPr id="201" name="Group 111"/>
            <p:cNvGrpSpPr>
              <a:grpSpLocks/>
            </p:cNvGrpSpPr>
            <p:nvPr/>
          </p:nvGrpSpPr>
          <p:grpSpPr bwMode="auto">
            <a:xfrm flipH="1">
              <a:off x="5027534" y="900474"/>
              <a:ext cx="977077" cy="191669"/>
              <a:chOff x="1491" y="212"/>
              <a:chExt cx="853" cy="240"/>
            </a:xfrm>
            <a:solidFill>
              <a:srgbClr val="66FF66"/>
            </a:solidFill>
          </p:grpSpPr>
          <p:sp>
            <p:nvSpPr>
              <p:cNvPr id="202" name="AutoShape 112"/>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03" name="Rectangle 113"/>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204" name="Text Box 114"/>
            <p:cNvSpPr txBox="1">
              <a:spLocks noChangeArrowheads="1"/>
            </p:cNvSpPr>
            <p:nvPr/>
          </p:nvSpPr>
          <p:spPr bwMode="auto">
            <a:xfrm>
              <a:off x="5286823" y="958851"/>
              <a:ext cx="774571" cy="206980"/>
            </a:xfrm>
            <a:prstGeom prst="rect">
              <a:avLst/>
            </a:prstGeom>
            <a:noFill/>
            <a:ln>
              <a:noFill/>
            </a:ln>
            <a:effectLst/>
          </p:spPr>
          <p:txBody>
            <a:bodyPr wrap="none">
              <a:spAutoFit/>
            </a:bodyPr>
            <a:lstStyle/>
            <a:p>
              <a:pPr>
                <a:lnSpc>
                  <a:spcPct val="50000"/>
                </a:lnSpc>
              </a:pPr>
              <a:r>
                <a:rPr kumimoji="1" lang="en-US" altLang="zh-CN" sz="1300" b="1" dirty="0">
                  <a:latin typeface="微软雅黑" pitchFamily="34" charset="-122"/>
                  <a:ea typeface="微软雅黑" pitchFamily="34" charset="-122"/>
                </a:rPr>
                <a:t>1  2  </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1</a:t>
              </a:r>
            </a:p>
          </p:txBody>
        </p:sp>
      </p:grpSp>
      <p:sp>
        <p:nvSpPr>
          <p:cNvPr id="136" name="Text Box 155"/>
          <p:cNvSpPr txBox="1">
            <a:spLocks noChangeArrowheads="1"/>
          </p:cNvSpPr>
          <p:nvPr/>
        </p:nvSpPr>
        <p:spPr bwMode="auto">
          <a:xfrm>
            <a:off x="1298256" y="4354196"/>
            <a:ext cx="6593695" cy="344325"/>
          </a:xfrm>
          <a:prstGeom prst="rect">
            <a:avLst/>
          </a:prstGeom>
          <a:noFill/>
          <a:ln w="9525">
            <a:noFill/>
            <a:miter lim="800000"/>
            <a:headEnd/>
            <a:tailEnd/>
          </a:ln>
          <a:effectLst/>
        </p:spPr>
        <p:txBody>
          <a:bodyPr wrap="square">
            <a:spAutoFit/>
          </a:bodyPr>
          <a:lstStyle/>
          <a:p>
            <a:pPr algn="ctr">
              <a:lnSpc>
                <a:spcPct val="110000"/>
              </a:lnSpc>
            </a:pPr>
            <a:r>
              <a:rPr lang="zh-CN" altLang="en-US" sz="1600" b="1" dirty="0">
                <a:solidFill>
                  <a:srgbClr val="C00000"/>
                </a:solidFill>
                <a:latin typeface="微软雅黑" pitchFamily="34" charset="-122"/>
                <a:ea typeface="微软雅黑" pitchFamily="34" charset="-122"/>
              </a:rPr>
              <a:t>这就是好消息传播得快，而坏消息传播得慢。这是 </a:t>
            </a:r>
            <a:r>
              <a:rPr lang="en-US" altLang="zh-CN" sz="1600" b="1" dirty="0">
                <a:solidFill>
                  <a:srgbClr val="C00000"/>
                </a:solidFill>
                <a:latin typeface="微软雅黑" pitchFamily="34" charset="-122"/>
                <a:ea typeface="微软雅黑" pitchFamily="34" charset="-122"/>
              </a:rPr>
              <a:t>RIP </a:t>
            </a:r>
            <a:r>
              <a:rPr lang="zh-CN" altLang="en-US" sz="1600" b="1" dirty="0">
                <a:solidFill>
                  <a:srgbClr val="C00000"/>
                </a:solidFill>
                <a:latin typeface="微软雅黑" pitchFamily="34" charset="-122"/>
                <a:ea typeface="微软雅黑" pitchFamily="34" charset="-122"/>
              </a:rPr>
              <a:t>的一个</a:t>
            </a:r>
            <a:r>
              <a:rPr lang="zh-CN" altLang="en-US" sz="1600" b="1" dirty="0">
                <a:solidFill>
                  <a:srgbClr val="0000CC"/>
                </a:solidFill>
                <a:latin typeface="微软雅黑" pitchFamily="34" charset="-122"/>
                <a:ea typeface="微软雅黑" pitchFamily="34" charset="-122"/>
              </a:rPr>
              <a:t>主要缺点。 </a:t>
            </a:r>
          </a:p>
        </p:txBody>
      </p:sp>
    </p:spTree>
    <p:extLst>
      <p:ext uri="{BB962C8B-B14F-4D97-AF65-F5344CB8AC3E}">
        <p14:creationId xmlns:p14="http://schemas.microsoft.com/office/powerpoint/2010/main" val="199007237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6" grpId="0"/>
    </p:bld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32674"/>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73906"/>
            <a:ext cx="2234907" cy="400110"/>
          </a:xfrm>
          <a:prstGeom prst="rect">
            <a:avLst/>
          </a:prstGeom>
        </p:spPr>
        <p:txBody>
          <a:bodyPr wrap="none">
            <a:spAutoFit/>
          </a:bodyPr>
          <a:lstStyle/>
          <a:p>
            <a:r>
              <a:rPr lang="en-US" altLang="zh-CN" sz="2000" b="1" dirty="0">
                <a:latin typeface="微软雅黑" pitchFamily="34" charset="-122"/>
                <a:ea typeface="微软雅黑" pitchFamily="34" charset="-122"/>
              </a:rPr>
              <a:t>RIP </a:t>
            </a:r>
            <a:r>
              <a:rPr lang="zh-CN" altLang="en-US" sz="2000" b="1" dirty="0">
                <a:latin typeface="微软雅黑" pitchFamily="34" charset="-122"/>
                <a:ea typeface="微软雅黑" pitchFamily="34" charset="-122"/>
              </a:rPr>
              <a:t>协议的优缺点</a:t>
            </a:r>
          </a:p>
        </p:txBody>
      </p:sp>
      <p:sp>
        <p:nvSpPr>
          <p:cNvPr id="4" name="矩形 3"/>
          <p:cNvSpPr/>
          <p:nvPr/>
        </p:nvSpPr>
        <p:spPr>
          <a:xfrm>
            <a:off x="545144" y="942078"/>
            <a:ext cx="8053711" cy="2554545"/>
          </a:xfrm>
          <a:prstGeom prst="rect">
            <a:avLst/>
          </a:prstGeom>
        </p:spPr>
        <p:txBody>
          <a:bodyPr wrap="square">
            <a:spAutoFit/>
          </a:bodyPr>
          <a:lstStyle/>
          <a:p>
            <a:pPr marL="285750" indent="-285750">
              <a:lnSpc>
                <a:spcPts val="32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优点：</a:t>
            </a:r>
          </a:p>
          <a:p>
            <a:pPr marL="623888" indent="-342900">
              <a:lnSpc>
                <a:spcPts val="3200"/>
              </a:lnSpc>
              <a:buClr>
                <a:srgbClr val="7030A0"/>
              </a:buClr>
              <a:buFont typeface="+mj-lt"/>
              <a:buAutoNum type="arabicPeriod"/>
            </a:pPr>
            <a:r>
              <a:rPr lang="zh-CN" altLang="en-US" sz="2000" b="1" dirty="0">
                <a:latin typeface="微软雅黑" pitchFamily="34" charset="-122"/>
                <a:ea typeface="微软雅黑" pitchFamily="34" charset="-122"/>
              </a:rPr>
              <a:t>实现简单，开销较小。</a:t>
            </a:r>
          </a:p>
          <a:p>
            <a:pPr marL="285750" indent="-285750">
              <a:lnSpc>
                <a:spcPts val="3200"/>
              </a:lnSpc>
              <a:buClr>
                <a:srgbClr val="0070C0"/>
              </a:buClr>
              <a:buFont typeface="Wingdings" pitchFamily="2" charset="2"/>
              <a:buChar char="l"/>
            </a:pPr>
            <a:r>
              <a:rPr lang="zh-CN" altLang="en-US" sz="2000" b="1" dirty="0">
                <a:solidFill>
                  <a:srgbClr val="0000CC"/>
                </a:solidFill>
                <a:latin typeface="微软雅黑" pitchFamily="34" charset="-122"/>
                <a:ea typeface="微软雅黑" pitchFamily="34" charset="-122"/>
              </a:rPr>
              <a:t>缺点：</a:t>
            </a:r>
          </a:p>
          <a:p>
            <a:pPr marL="623888" indent="-342900">
              <a:lnSpc>
                <a:spcPts val="3200"/>
              </a:lnSpc>
              <a:buClr>
                <a:srgbClr val="7030A0"/>
              </a:buClr>
              <a:buFont typeface="+mj-lt"/>
              <a:buAutoNum type="arabicPeriod"/>
            </a:pPr>
            <a:r>
              <a:rPr lang="zh-CN" altLang="en-US" sz="2000" b="1" dirty="0">
                <a:latin typeface="微软雅黑" pitchFamily="34" charset="-122"/>
                <a:ea typeface="微软雅黑" pitchFamily="34" charset="-122"/>
              </a:rPr>
              <a:t>网络规模有限。最大距离为 </a:t>
            </a:r>
            <a:r>
              <a:rPr lang="en-US" altLang="zh-CN" sz="2000" b="1" dirty="0">
                <a:latin typeface="微软雅黑" pitchFamily="34" charset="-122"/>
                <a:ea typeface="微软雅黑" pitchFamily="34" charset="-122"/>
              </a:rPr>
              <a:t>15</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16 </a:t>
            </a:r>
            <a:r>
              <a:rPr lang="zh-CN" altLang="en-US" sz="2000" b="1" dirty="0">
                <a:latin typeface="微软雅黑" pitchFamily="34" charset="-122"/>
                <a:ea typeface="微软雅黑" pitchFamily="34" charset="-122"/>
              </a:rPr>
              <a:t>表示不可达）。</a:t>
            </a:r>
          </a:p>
          <a:p>
            <a:pPr marL="623888" indent="-342900">
              <a:lnSpc>
                <a:spcPts val="3200"/>
              </a:lnSpc>
              <a:buClr>
                <a:srgbClr val="7030A0"/>
              </a:buClr>
              <a:buFont typeface="+mj-lt"/>
              <a:buAutoNum type="arabicPeriod"/>
            </a:pPr>
            <a:r>
              <a:rPr lang="zh-CN" altLang="en-US" sz="2000" b="1" dirty="0">
                <a:latin typeface="微软雅黑" pitchFamily="34" charset="-122"/>
                <a:ea typeface="微软雅黑" pitchFamily="34" charset="-122"/>
              </a:rPr>
              <a:t>交换的路由信息为完整路由表，开销较大。 </a:t>
            </a:r>
          </a:p>
          <a:p>
            <a:pPr marL="623888" indent="-342900">
              <a:lnSpc>
                <a:spcPts val="3200"/>
              </a:lnSpc>
              <a:buClr>
                <a:srgbClr val="7030A0"/>
              </a:buClr>
              <a:buFont typeface="+mj-lt"/>
              <a:buAutoNum type="arabicPeriod"/>
            </a:pPr>
            <a:r>
              <a:rPr lang="zh-CN" altLang="en-US" sz="2000" b="1" dirty="0">
                <a:latin typeface="微软雅黑" pitchFamily="34" charset="-122"/>
                <a:ea typeface="微软雅黑" pitchFamily="34" charset="-122"/>
              </a:rPr>
              <a:t>坏消息传播得慢，收敛时间过长。</a:t>
            </a:r>
          </a:p>
        </p:txBody>
      </p:sp>
    </p:spTree>
    <p:extLst>
      <p:ext uri="{BB962C8B-B14F-4D97-AF65-F5344CB8AC3E}">
        <p14:creationId xmlns:p14="http://schemas.microsoft.com/office/powerpoint/2010/main" val="116068376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9839"/>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641825" y="588976"/>
            <a:ext cx="386035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4.6.3  </a:t>
            </a:r>
            <a:r>
              <a:rPr lang="zh-CN" altLang="en-US" sz="2400" b="1" dirty="0">
                <a:solidFill>
                  <a:schemeClr val="bg1"/>
                </a:solidFill>
                <a:latin typeface="微软雅黑" pitchFamily="34" charset="-122"/>
                <a:ea typeface="微软雅黑" pitchFamily="34" charset="-122"/>
              </a:rPr>
              <a:t>内部网关协议 </a:t>
            </a:r>
            <a:r>
              <a:rPr lang="en-US" altLang="zh-CN" sz="2400" b="1" dirty="0">
                <a:solidFill>
                  <a:schemeClr val="bg1"/>
                </a:solidFill>
                <a:latin typeface="微软雅黑" pitchFamily="34" charset="-122"/>
                <a:ea typeface="微软雅黑" pitchFamily="34" charset="-122"/>
              </a:rPr>
              <a:t>OSPF</a:t>
            </a:r>
            <a:endParaRPr lang="zh-CN" altLang="en-US" sz="2400" b="1" dirty="0">
              <a:solidFill>
                <a:schemeClr val="bg1"/>
              </a:solidFill>
              <a:latin typeface="微软雅黑" pitchFamily="34" charset="-122"/>
              <a:ea typeface="微软雅黑" pitchFamily="34" charset="-122"/>
            </a:endParaRPr>
          </a:p>
        </p:txBody>
      </p:sp>
      <p:grpSp>
        <p:nvGrpSpPr>
          <p:cNvPr id="5" name="组合 4"/>
          <p:cNvGrpSpPr/>
          <p:nvPr/>
        </p:nvGrpSpPr>
        <p:grpSpPr>
          <a:xfrm>
            <a:off x="1442748" y="1258813"/>
            <a:ext cx="6258503" cy="2809692"/>
            <a:chOff x="1113847" y="1369650"/>
            <a:chExt cx="6258503" cy="2809692"/>
          </a:xfrm>
        </p:grpSpPr>
        <p:sp>
          <p:nvSpPr>
            <p:cNvPr id="6" name="矩形 5"/>
            <p:cNvSpPr/>
            <p:nvPr/>
          </p:nvSpPr>
          <p:spPr>
            <a:xfrm>
              <a:off x="3408795" y="1369650"/>
              <a:ext cx="2540000" cy="424873"/>
            </a:xfrm>
            <a:prstGeom prst="rect">
              <a:avLst/>
            </a:prstGeom>
            <a:solidFill>
              <a:srgbClr val="009900"/>
            </a:solidFill>
            <a:ln w="19050">
              <a:solidFill>
                <a:schemeClr val="tx1"/>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微软雅黑" panose="020B0503020204020204" pitchFamily="34" charset="-122"/>
                  <a:ea typeface="微软雅黑" panose="020B0503020204020204" pitchFamily="34" charset="-122"/>
                </a:rPr>
                <a:t>互联网路由选择协议</a:t>
              </a:r>
            </a:p>
          </p:txBody>
        </p:sp>
        <p:sp>
          <p:nvSpPr>
            <p:cNvPr id="7" name="矩形 6"/>
            <p:cNvSpPr/>
            <p:nvPr/>
          </p:nvSpPr>
          <p:spPr>
            <a:xfrm>
              <a:off x="2156303" y="2239529"/>
              <a:ext cx="1802444" cy="424873"/>
            </a:xfrm>
            <a:prstGeom prst="rect">
              <a:avLst/>
            </a:prstGeom>
            <a:solidFill>
              <a:srgbClr val="0099CC"/>
            </a:solidFill>
            <a:ln w="19050">
              <a:solidFill>
                <a:schemeClr val="tx1"/>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微软雅黑" panose="020B0503020204020204" pitchFamily="34" charset="-122"/>
                  <a:ea typeface="微软雅黑" panose="020B0503020204020204" pitchFamily="34" charset="-122"/>
                </a:rPr>
                <a:t>域内路由选择</a:t>
              </a:r>
            </a:p>
          </p:txBody>
        </p:sp>
        <p:sp>
          <p:nvSpPr>
            <p:cNvPr id="8" name="矩形 7"/>
            <p:cNvSpPr/>
            <p:nvPr/>
          </p:nvSpPr>
          <p:spPr>
            <a:xfrm>
              <a:off x="5569906" y="2239530"/>
              <a:ext cx="1802444" cy="424873"/>
            </a:xfrm>
            <a:prstGeom prst="rect">
              <a:avLst/>
            </a:prstGeom>
            <a:solidFill>
              <a:srgbClr val="0099CC"/>
            </a:solidFill>
            <a:ln w="19050">
              <a:solidFill>
                <a:schemeClr val="tx1"/>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微软雅黑" panose="020B0503020204020204" pitchFamily="34" charset="-122"/>
                  <a:ea typeface="微软雅黑" panose="020B0503020204020204" pitchFamily="34" charset="-122"/>
                </a:rPr>
                <a:t>域间路由选择</a:t>
              </a:r>
            </a:p>
          </p:txBody>
        </p:sp>
        <p:sp>
          <p:nvSpPr>
            <p:cNvPr id="9" name="矩形 8"/>
            <p:cNvSpPr/>
            <p:nvPr/>
          </p:nvSpPr>
          <p:spPr>
            <a:xfrm>
              <a:off x="1113847" y="3109407"/>
              <a:ext cx="1802444" cy="670653"/>
            </a:xfrm>
            <a:prstGeom prst="rect">
              <a:avLst/>
            </a:prstGeom>
            <a:solidFill>
              <a:srgbClr val="CC6600"/>
            </a:solidFill>
            <a:ln w="19050">
              <a:solidFill>
                <a:schemeClr val="tx1"/>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latin typeface="微软雅黑" panose="020B0503020204020204" pitchFamily="34" charset="-122"/>
                  <a:ea typeface="微软雅黑" panose="020B0503020204020204" pitchFamily="34" charset="-122"/>
                </a:rPr>
                <a:t>距离向量</a:t>
              </a:r>
              <a:endParaRPr lang="en-US" altLang="zh-CN" b="1" dirty="0">
                <a:solidFill>
                  <a:schemeClr val="bg1"/>
                </a:solidFill>
                <a:latin typeface="微软雅黑" panose="020B0503020204020204" pitchFamily="34" charset="-122"/>
                <a:ea typeface="微软雅黑" panose="020B0503020204020204" pitchFamily="34" charset="-122"/>
              </a:endParaRPr>
            </a:p>
            <a:p>
              <a:pPr algn="ctr"/>
              <a:r>
                <a:rPr lang="en-US" altLang="zh-CN" sz="1400" b="1" dirty="0">
                  <a:solidFill>
                    <a:schemeClr val="bg1"/>
                  </a:solidFill>
                  <a:latin typeface="微软雅黑" panose="020B0503020204020204" pitchFamily="34" charset="-122"/>
                  <a:ea typeface="微软雅黑" panose="020B0503020204020204" pitchFamily="34" charset="-122"/>
                </a:rPr>
                <a:t>(Distance Vector)</a:t>
              </a:r>
              <a:endParaRPr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10" name="矩形 9"/>
            <p:cNvSpPr/>
            <p:nvPr/>
          </p:nvSpPr>
          <p:spPr>
            <a:xfrm>
              <a:off x="3220430" y="3109408"/>
              <a:ext cx="1802444" cy="670653"/>
            </a:xfrm>
            <a:prstGeom prst="rect">
              <a:avLst/>
            </a:prstGeom>
            <a:solidFill>
              <a:srgbClr val="CC6600"/>
            </a:solidFill>
            <a:ln w="19050">
              <a:solidFill>
                <a:schemeClr val="tx1"/>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rgbClr val="000099"/>
                  </a:solidFill>
                  <a:latin typeface="微软雅黑" panose="020B0503020204020204" pitchFamily="34" charset="-122"/>
                  <a:ea typeface="微软雅黑" panose="020B0503020204020204" pitchFamily="34" charset="-122"/>
                </a:rPr>
                <a:t>链路状态</a:t>
              </a:r>
              <a:endParaRPr lang="en-US" altLang="zh-CN" b="1" dirty="0">
                <a:solidFill>
                  <a:srgbClr val="000099"/>
                </a:solidFill>
                <a:latin typeface="微软雅黑" panose="020B0503020204020204" pitchFamily="34" charset="-122"/>
                <a:ea typeface="微软雅黑" panose="020B0503020204020204" pitchFamily="34" charset="-122"/>
              </a:endParaRPr>
            </a:p>
            <a:p>
              <a:pPr algn="ctr"/>
              <a:r>
                <a:rPr lang="en-US" altLang="zh-CN" b="1" dirty="0">
                  <a:solidFill>
                    <a:srgbClr val="000099"/>
                  </a:solidFill>
                  <a:latin typeface="微软雅黑" panose="020B0503020204020204" pitchFamily="34" charset="-122"/>
                  <a:ea typeface="微软雅黑" panose="020B0503020204020204" pitchFamily="34" charset="-122"/>
                </a:rPr>
                <a:t>(Link State)</a:t>
              </a:r>
              <a:endParaRPr lang="zh-CN" altLang="en-US" b="1" dirty="0">
                <a:solidFill>
                  <a:srgbClr val="000099"/>
                </a:solidFill>
                <a:latin typeface="微软雅黑" panose="020B0503020204020204" pitchFamily="34" charset="-122"/>
                <a:ea typeface="微软雅黑" panose="020B0503020204020204" pitchFamily="34" charset="-122"/>
              </a:endParaRPr>
            </a:p>
          </p:txBody>
        </p:sp>
        <p:sp>
          <p:nvSpPr>
            <p:cNvPr id="11" name="矩形 10"/>
            <p:cNvSpPr/>
            <p:nvPr/>
          </p:nvSpPr>
          <p:spPr>
            <a:xfrm>
              <a:off x="5569907" y="3109408"/>
              <a:ext cx="1802443" cy="671608"/>
            </a:xfrm>
            <a:prstGeom prst="rect">
              <a:avLst/>
            </a:prstGeom>
            <a:solidFill>
              <a:srgbClr val="CC6600"/>
            </a:solidFill>
            <a:ln w="19050">
              <a:solidFill>
                <a:schemeClr val="tx1"/>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微软雅黑" panose="020B0503020204020204" pitchFamily="34" charset="-122"/>
                  <a:ea typeface="微软雅黑" panose="020B0503020204020204" pitchFamily="34" charset="-122"/>
                </a:rPr>
                <a:t>路径向量</a:t>
              </a:r>
              <a:endParaRPr lang="en-US" altLang="zh-CN" b="1" dirty="0">
                <a:latin typeface="微软雅黑" panose="020B0503020204020204" pitchFamily="34" charset="-122"/>
                <a:ea typeface="微软雅黑" panose="020B0503020204020204" pitchFamily="34" charset="-122"/>
              </a:endParaRPr>
            </a:p>
            <a:p>
              <a:pPr algn="ctr"/>
              <a:r>
                <a:rPr lang="en-US" altLang="zh-CN" b="1" dirty="0">
                  <a:latin typeface="微软雅黑" panose="020B0503020204020204" pitchFamily="34" charset="-122"/>
                  <a:ea typeface="微软雅黑" panose="020B0503020204020204" pitchFamily="34" charset="-122"/>
                </a:rPr>
                <a:t>(path vector)</a:t>
              </a:r>
              <a:endParaRPr lang="zh-CN" altLang="en-US" b="1" dirty="0">
                <a:latin typeface="微软雅黑" panose="020B0503020204020204" pitchFamily="34" charset="-122"/>
                <a:ea typeface="微软雅黑" panose="020B0503020204020204" pitchFamily="34" charset="-122"/>
              </a:endParaRPr>
            </a:p>
          </p:txBody>
        </p:sp>
        <p:cxnSp>
          <p:nvCxnSpPr>
            <p:cNvPr id="12" name="直接连接符 11"/>
            <p:cNvCxnSpPr>
              <a:endCxn id="7" idx="0"/>
            </p:cNvCxnSpPr>
            <p:nvPr/>
          </p:nvCxnSpPr>
          <p:spPr>
            <a:xfrm flipH="1">
              <a:off x="3057525" y="1794523"/>
              <a:ext cx="1009650" cy="44500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直接连接符 12"/>
            <p:cNvCxnSpPr>
              <a:endCxn id="8" idx="0"/>
            </p:cNvCxnSpPr>
            <p:nvPr/>
          </p:nvCxnSpPr>
          <p:spPr>
            <a:xfrm>
              <a:off x="5461478" y="1794523"/>
              <a:ext cx="1009650" cy="44500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直接连接符 13"/>
            <p:cNvCxnSpPr>
              <a:stCxn id="7" idx="2"/>
              <a:endCxn id="9" idx="0"/>
            </p:cNvCxnSpPr>
            <p:nvPr/>
          </p:nvCxnSpPr>
          <p:spPr>
            <a:xfrm flipH="1">
              <a:off x="2015069" y="2664402"/>
              <a:ext cx="1042456" cy="44500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直接连接符 14"/>
            <p:cNvCxnSpPr>
              <a:stCxn id="7" idx="2"/>
              <a:endCxn id="10" idx="0"/>
            </p:cNvCxnSpPr>
            <p:nvPr/>
          </p:nvCxnSpPr>
          <p:spPr>
            <a:xfrm>
              <a:off x="3057525" y="2664402"/>
              <a:ext cx="1064127" cy="44500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直接连接符 15"/>
            <p:cNvCxnSpPr>
              <a:stCxn id="8" idx="2"/>
              <a:endCxn id="11" idx="0"/>
            </p:cNvCxnSpPr>
            <p:nvPr/>
          </p:nvCxnSpPr>
          <p:spPr>
            <a:xfrm>
              <a:off x="6471128" y="2664403"/>
              <a:ext cx="1" cy="44500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矩形 16"/>
            <p:cNvSpPr/>
            <p:nvPr/>
          </p:nvSpPr>
          <p:spPr>
            <a:xfrm>
              <a:off x="1727169" y="3779232"/>
              <a:ext cx="619080" cy="400110"/>
            </a:xfrm>
            <a:prstGeom prst="rect">
              <a:avLst/>
            </a:prstGeom>
          </p:spPr>
          <p:txBody>
            <a:bodyPr wrap="none">
              <a:spAutoFit/>
            </a:bodyPr>
            <a:lstStyle/>
            <a:p>
              <a:r>
                <a:rPr lang="en-US" altLang="zh-CN" sz="2000" b="1" dirty="0">
                  <a:latin typeface="微软雅黑" pitchFamily="34" charset="-122"/>
                  <a:ea typeface="微软雅黑" pitchFamily="34" charset="-122"/>
                </a:rPr>
                <a:t>RIP</a:t>
              </a:r>
              <a:endParaRPr lang="zh-CN" altLang="en-US" sz="2000" dirty="0"/>
            </a:p>
          </p:txBody>
        </p:sp>
        <p:sp>
          <p:nvSpPr>
            <p:cNvPr id="18" name="矩形 17"/>
            <p:cNvSpPr/>
            <p:nvPr/>
          </p:nvSpPr>
          <p:spPr>
            <a:xfrm>
              <a:off x="3691886" y="3779232"/>
              <a:ext cx="859531" cy="400110"/>
            </a:xfrm>
            <a:prstGeom prst="rect">
              <a:avLst/>
            </a:prstGeom>
          </p:spPr>
          <p:txBody>
            <a:bodyPr wrap="none">
              <a:spAutoFit/>
            </a:bodyPr>
            <a:lstStyle/>
            <a:p>
              <a:r>
                <a:rPr lang="en-US" altLang="zh-CN" sz="2000" b="1" dirty="0">
                  <a:solidFill>
                    <a:srgbClr val="000099"/>
                  </a:solidFill>
                  <a:latin typeface="微软雅黑" pitchFamily="34" charset="-122"/>
                  <a:ea typeface="微软雅黑" pitchFamily="34" charset="-122"/>
                </a:rPr>
                <a:t>OSPF</a:t>
              </a:r>
              <a:endParaRPr lang="zh-CN" altLang="en-US" sz="2000" dirty="0">
                <a:solidFill>
                  <a:srgbClr val="000099"/>
                </a:solidFill>
              </a:endParaRPr>
            </a:p>
          </p:txBody>
        </p:sp>
        <p:sp>
          <p:nvSpPr>
            <p:cNvPr id="19" name="矩形 18"/>
            <p:cNvSpPr/>
            <p:nvPr/>
          </p:nvSpPr>
          <p:spPr>
            <a:xfrm>
              <a:off x="5974036" y="3779232"/>
              <a:ext cx="994183" cy="400110"/>
            </a:xfrm>
            <a:prstGeom prst="rect">
              <a:avLst/>
            </a:prstGeom>
          </p:spPr>
          <p:txBody>
            <a:bodyPr wrap="none">
              <a:spAutoFit/>
            </a:bodyPr>
            <a:lstStyle/>
            <a:p>
              <a:r>
                <a:rPr lang="en-US" altLang="zh-CN" sz="2000" b="1" dirty="0">
                  <a:latin typeface="微软雅黑" pitchFamily="34" charset="-122"/>
                  <a:ea typeface="微软雅黑" pitchFamily="34" charset="-122"/>
                </a:rPr>
                <a:t>BGP-4</a:t>
              </a:r>
              <a:endParaRPr lang="zh-CN" altLang="en-US" sz="2000" dirty="0"/>
            </a:p>
          </p:txBody>
        </p:sp>
      </p:grpSp>
    </p:spTree>
    <p:extLst>
      <p:ext uri="{BB962C8B-B14F-4D97-AF65-F5344CB8AC3E}">
        <p14:creationId xmlns:p14="http://schemas.microsoft.com/office/powerpoint/2010/main" val="416086717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9839"/>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641825" y="588976"/>
            <a:ext cx="386035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highlight>
                  <a:srgbClr val="FFFF00"/>
                </a:highlight>
                <a:latin typeface="微软雅黑" pitchFamily="34" charset="-122"/>
                <a:ea typeface="微软雅黑" pitchFamily="34" charset="-122"/>
              </a:rPr>
              <a:t>4.6.3  </a:t>
            </a:r>
            <a:r>
              <a:rPr lang="zh-CN" altLang="en-US" sz="2400" b="1" dirty="0">
                <a:highlight>
                  <a:srgbClr val="FFFF00"/>
                </a:highlight>
                <a:latin typeface="微软雅黑" pitchFamily="34" charset="-122"/>
                <a:ea typeface="微软雅黑" pitchFamily="34" charset="-122"/>
              </a:rPr>
              <a:t>内部网关协议 </a:t>
            </a:r>
            <a:r>
              <a:rPr lang="en-US" altLang="zh-CN" sz="2400" b="1" dirty="0">
                <a:highlight>
                  <a:srgbClr val="FFFF00"/>
                </a:highlight>
                <a:latin typeface="微软雅黑" pitchFamily="34" charset="-122"/>
                <a:ea typeface="微软雅黑" pitchFamily="34" charset="-122"/>
              </a:rPr>
              <a:t>OSPF</a:t>
            </a:r>
            <a:endParaRPr lang="zh-CN" altLang="en-US" sz="2400" b="1" dirty="0">
              <a:highlight>
                <a:srgbClr val="FFFF00"/>
              </a:highlight>
              <a:latin typeface="微软雅黑" pitchFamily="34" charset="-122"/>
              <a:ea typeface="微软雅黑" pitchFamily="34" charset="-122"/>
            </a:endParaRPr>
          </a:p>
        </p:txBody>
      </p:sp>
      <p:sp>
        <p:nvSpPr>
          <p:cNvPr id="4" name="Rectangle 8"/>
          <p:cNvSpPr>
            <a:spLocks noChangeArrowheads="1"/>
          </p:cNvSpPr>
          <p:nvPr/>
        </p:nvSpPr>
        <p:spPr bwMode="auto">
          <a:xfrm>
            <a:off x="545144" y="1027610"/>
            <a:ext cx="8053712" cy="26314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highlight>
                  <a:srgbClr val="FFFF00"/>
                </a:highlight>
                <a:latin typeface="微软雅黑" pitchFamily="34" charset="-122"/>
                <a:ea typeface="微软雅黑" pitchFamily="34" charset="-122"/>
              </a:rPr>
              <a:t>开放最短路径优先 </a:t>
            </a:r>
            <a:r>
              <a:rPr lang="en-US" altLang="zh-CN" sz="2000" b="1" dirty="0">
                <a:highlight>
                  <a:srgbClr val="FFFF00"/>
                </a:highlight>
                <a:latin typeface="微软雅黑" pitchFamily="34" charset="-122"/>
                <a:ea typeface="微软雅黑" pitchFamily="34" charset="-122"/>
              </a:rPr>
              <a:t>OSPF (Open Shortest Path First)</a:t>
            </a:r>
            <a:r>
              <a:rPr lang="zh-CN" altLang="en-US" sz="2000" b="1" dirty="0">
                <a:highlight>
                  <a:srgbClr val="FFFF00"/>
                </a:highlight>
                <a:latin typeface="微软雅黑" pitchFamily="34" charset="-122"/>
                <a:ea typeface="微软雅黑" pitchFamily="34" charset="-122"/>
              </a:rPr>
              <a:t>是为克服 </a:t>
            </a:r>
            <a:r>
              <a:rPr lang="en-US" altLang="zh-CN" sz="2000" b="1" dirty="0">
                <a:highlight>
                  <a:srgbClr val="FFFF00"/>
                </a:highlight>
                <a:latin typeface="微软雅黑" pitchFamily="34" charset="-122"/>
                <a:ea typeface="微软雅黑" pitchFamily="34" charset="-122"/>
              </a:rPr>
              <a:t>RIP </a:t>
            </a:r>
            <a:r>
              <a:rPr lang="zh-CN" altLang="en-US" sz="2000" b="1" dirty="0">
                <a:highlight>
                  <a:srgbClr val="FFFF00"/>
                </a:highlight>
                <a:latin typeface="微软雅黑" pitchFamily="34" charset="-122"/>
                <a:ea typeface="微软雅黑" pitchFamily="34" charset="-122"/>
              </a:rPr>
              <a:t>的缺点在 </a:t>
            </a:r>
            <a:r>
              <a:rPr lang="en-US" altLang="zh-CN" sz="2000" b="1" dirty="0">
                <a:highlight>
                  <a:srgbClr val="FFFF00"/>
                </a:highlight>
                <a:latin typeface="微软雅黑" pitchFamily="34" charset="-122"/>
                <a:ea typeface="微软雅黑" pitchFamily="34" charset="-122"/>
              </a:rPr>
              <a:t>1989 </a:t>
            </a:r>
            <a:r>
              <a:rPr lang="zh-CN" altLang="en-US" sz="2000" b="1" dirty="0">
                <a:highlight>
                  <a:srgbClr val="FFFF00"/>
                </a:highlight>
                <a:latin typeface="微软雅黑" pitchFamily="34" charset="-122"/>
                <a:ea typeface="微软雅黑" pitchFamily="34" charset="-122"/>
              </a:rPr>
              <a:t>年开发出来的。</a:t>
            </a:r>
          </a:p>
          <a:p>
            <a:pPr marL="285750" indent="-285750">
              <a:lnSpc>
                <a:spcPts val="3300"/>
              </a:lnSpc>
              <a:buClr>
                <a:srgbClr val="0070C0"/>
              </a:buClr>
              <a:buFont typeface="Wingdings" pitchFamily="2" charset="2"/>
              <a:buChar char="l"/>
            </a:pPr>
            <a:r>
              <a:rPr lang="zh-CN" altLang="en-US" sz="2000" b="1" dirty="0">
                <a:solidFill>
                  <a:srgbClr val="0000FF"/>
                </a:solidFill>
                <a:highlight>
                  <a:srgbClr val="FFFF00"/>
                </a:highlight>
                <a:latin typeface="微软雅黑" pitchFamily="34" charset="-122"/>
                <a:ea typeface="微软雅黑" pitchFamily="34" charset="-122"/>
              </a:rPr>
              <a:t>原理很简单，但实现很复杂。</a:t>
            </a:r>
            <a:endParaRPr lang="en-US" altLang="zh-CN" sz="2000" b="1" dirty="0">
              <a:solidFill>
                <a:srgbClr val="0000FF"/>
              </a:solidFill>
              <a:highlight>
                <a:srgbClr val="FFFF00"/>
              </a:highlight>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highlight>
                  <a:srgbClr val="FFFF00"/>
                </a:highlight>
                <a:latin typeface="微软雅黑" pitchFamily="34" charset="-122"/>
                <a:ea typeface="微软雅黑" pitchFamily="34" charset="-122"/>
              </a:rPr>
              <a:t>使用了 </a:t>
            </a:r>
            <a:r>
              <a:rPr lang="en-US" altLang="zh-CN" sz="2000" b="1" dirty="0" err="1">
                <a:solidFill>
                  <a:srgbClr val="C00000"/>
                </a:solidFill>
                <a:highlight>
                  <a:srgbClr val="FFFF00"/>
                </a:highlight>
                <a:latin typeface="微软雅黑" pitchFamily="34" charset="-122"/>
                <a:ea typeface="微软雅黑" pitchFamily="34" charset="-122"/>
              </a:rPr>
              <a:t>Dijkstra</a:t>
            </a:r>
            <a:r>
              <a:rPr lang="en-US" altLang="zh-CN" sz="2000" b="1" dirty="0">
                <a:highlight>
                  <a:srgbClr val="FFFF00"/>
                </a:highlight>
                <a:latin typeface="微软雅黑" pitchFamily="34" charset="-122"/>
                <a:ea typeface="微软雅黑" pitchFamily="34" charset="-122"/>
              </a:rPr>
              <a:t> </a:t>
            </a:r>
            <a:r>
              <a:rPr lang="zh-CN" altLang="en-US" sz="2000" b="1" dirty="0">
                <a:highlight>
                  <a:srgbClr val="FFFF00"/>
                </a:highlight>
                <a:latin typeface="微软雅黑" pitchFamily="34" charset="-122"/>
                <a:ea typeface="微软雅黑" pitchFamily="34" charset="-122"/>
              </a:rPr>
              <a:t>提出的最短路径算法 </a:t>
            </a:r>
            <a:r>
              <a:rPr lang="en-US" altLang="zh-CN" sz="2000" b="1" dirty="0">
                <a:highlight>
                  <a:srgbClr val="FFFF00"/>
                </a:highlight>
                <a:latin typeface="微软雅黑" pitchFamily="34" charset="-122"/>
                <a:ea typeface="微软雅黑" pitchFamily="34" charset="-122"/>
              </a:rPr>
              <a:t>SPF</a:t>
            </a:r>
            <a:r>
              <a:rPr lang="zh-CN" altLang="en-US" sz="2000" b="1" dirty="0">
                <a:highlight>
                  <a:srgbClr val="FFFF00"/>
                </a:highlight>
                <a:latin typeface="微软雅黑" pitchFamily="34" charset="-122"/>
                <a:ea typeface="微软雅黑" pitchFamily="34" charset="-122"/>
              </a:rPr>
              <a:t>。</a:t>
            </a:r>
            <a:endParaRPr lang="en-US" altLang="zh-CN" sz="2000" b="1" dirty="0">
              <a:highlight>
                <a:srgbClr val="FFFF00"/>
              </a:highlight>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highlight>
                  <a:srgbClr val="FFFF00"/>
                </a:highlight>
                <a:latin typeface="微软雅黑" pitchFamily="34" charset="-122"/>
                <a:ea typeface="微软雅黑" pitchFamily="34" charset="-122"/>
              </a:rPr>
              <a:t>采用</a:t>
            </a:r>
            <a:r>
              <a:rPr lang="zh-CN" altLang="en-US" sz="2000" b="1" dirty="0">
                <a:solidFill>
                  <a:srgbClr val="C00000"/>
                </a:solidFill>
                <a:highlight>
                  <a:srgbClr val="FFFF00"/>
                </a:highlight>
                <a:latin typeface="微软雅黑" pitchFamily="34" charset="-122"/>
                <a:ea typeface="微软雅黑" pitchFamily="34" charset="-122"/>
              </a:rPr>
              <a:t>分布式的链路状态协议 </a:t>
            </a:r>
            <a:r>
              <a:rPr lang="en-US" altLang="zh-CN" sz="2000" b="1" dirty="0">
                <a:highlight>
                  <a:srgbClr val="FFFF00"/>
                </a:highlight>
                <a:latin typeface="微软雅黑" pitchFamily="34" charset="-122"/>
                <a:ea typeface="微软雅黑" pitchFamily="34" charset="-122"/>
              </a:rPr>
              <a:t>(link state protocol)</a:t>
            </a:r>
            <a:r>
              <a:rPr lang="zh-CN" altLang="en-US" sz="2000" b="1" dirty="0">
                <a:highlight>
                  <a:srgbClr val="FFFF00"/>
                </a:highlight>
                <a:latin typeface="微软雅黑" pitchFamily="34" charset="-122"/>
                <a:ea typeface="微软雅黑" pitchFamily="34" charset="-122"/>
              </a:rPr>
              <a:t>。 </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现在使用 </a:t>
            </a:r>
            <a:r>
              <a:rPr lang="en-US" altLang="zh-CN" sz="2000" b="1" dirty="0">
                <a:latin typeface="微软雅黑" pitchFamily="34" charset="-122"/>
                <a:ea typeface="微软雅黑" pitchFamily="34" charset="-122"/>
              </a:rPr>
              <a:t>OSPFv2</a:t>
            </a:r>
            <a:r>
              <a:rPr lang="zh-CN" altLang="en-US" sz="2000" b="1" dirty="0">
                <a:latin typeface="微软雅黑" pitchFamily="34" charset="-122"/>
                <a:ea typeface="微软雅黑" pitchFamily="34" charset="-122"/>
              </a:rPr>
              <a:t>。</a:t>
            </a:r>
          </a:p>
        </p:txBody>
      </p:sp>
    </p:spTree>
    <p:extLst>
      <p:ext uri="{BB962C8B-B14F-4D97-AF65-F5344CB8AC3E}">
        <p14:creationId xmlns:p14="http://schemas.microsoft.com/office/powerpoint/2010/main" val="361846032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31248"/>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72480"/>
            <a:ext cx="1723549" cy="400110"/>
          </a:xfrm>
          <a:prstGeom prst="rect">
            <a:avLst/>
          </a:prstGeom>
        </p:spPr>
        <p:txBody>
          <a:bodyPr wrap="none">
            <a:spAutoFit/>
          </a:bodyPr>
          <a:lstStyle/>
          <a:p>
            <a:r>
              <a:rPr lang="zh-CN" altLang="en-US" sz="2000" b="1" dirty="0">
                <a:latin typeface="微软雅黑" pitchFamily="34" charset="-122"/>
                <a:ea typeface="微软雅黑" pitchFamily="34" charset="-122"/>
              </a:rPr>
              <a:t>三个主要特点</a:t>
            </a:r>
          </a:p>
        </p:txBody>
      </p:sp>
      <p:sp>
        <p:nvSpPr>
          <p:cNvPr id="4" name="矩形 3"/>
          <p:cNvSpPr/>
          <p:nvPr/>
        </p:nvSpPr>
        <p:spPr>
          <a:xfrm>
            <a:off x="545144" y="938876"/>
            <a:ext cx="8028487" cy="2964914"/>
          </a:xfrm>
          <a:prstGeom prst="rect">
            <a:avLst/>
          </a:prstGeom>
        </p:spPr>
        <p:txBody>
          <a:bodyPr wrap="square">
            <a:spAutoFit/>
          </a:bodyPr>
          <a:lstStyle/>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采用</a:t>
            </a:r>
            <a:r>
              <a:rPr lang="zh-CN" altLang="en-US" sz="2000" b="1" dirty="0">
                <a:solidFill>
                  <a:srgbClr val="C00000"/>
                </a:solidFill>
                <a:latin typeface="微软雅黑" pitchFamily="34" charset="-122"/>
                <a:ea typeface="微软雅黑" pitchFamily="34" charset="-122"/>
              </a:rPr>
              <a:t>洪泛法</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(flooding)</a:t>
            </a:r>
            <a:r>
              <a:rPr lang="zh-CN" altLang="en-US" sz="2000" b="1" dirty="0">
                <a:latin typeface="微软雅黑" pitchFamily="34" charset="-122"/>
                <a:ea typeface="微软雅黑" pitchFamily="34" charset="-122"/>
              </a:rPr>
              <a:t>，向本自治系统中</a:t>
            </a:r>
            <a:r>
              <a:rPr lang="zh-CN" altLang="en-US" sz="2000" b="1" dirty="0">
                <a:solidFill>
                  <a:srgbClr val="C00000"/>
                </a:solidFill>
                <a:latin typeface="微软雅黑" pitchFamily="34" charset="-122"/>
                <a:ea typeface="微软雅黑" pitchFamily="34" charset="-122"/>
              </a:rPr>
              <a:t>所有路由器</a:t>
            </a:r>
            <a:r>
              <a:rPr lang="zh-CN" altLang="en-US" sz="2000" b="1" dirty="0">
                <a:latin typeface="微软雅黑" pitchFamily="34" charset="-122"/>
                <a:ea typeface="微软雅黑" pitchFamily="34" charset="-122"/>
              </a:rPr>
              <a:t>发送信息。</a:t>
            </a:r>
          </a:p>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发送的信息是与本路由器相邻的所有路由器的</a:t>
            </a:r>
            <a:r>
              <a:rPr lang="zh-CN" altLang="en-US" sz="2000" b="1" dirty="0">
                <a:solidFill>
                  <a:srgbClr val="C00000"/>
                </a:solidFill>
                <a:latin typeface="微软雅黑" pitchFamily="34" charset="-122"/>
                <a:ea typeface="微软雅黑" pitchFamily="34" charset="-122"/>
              </a:rPr>
              <a:t>链路状态，</a:t>
            </a:r>
            <a:r>
              <a:rPr lang="zh-CN" altLang="en-US" sz="2000" b="1" dirty="0">
                <a:latin typeface="微软雅黑" pitchFamily="34" charset="-122"/>
                <a:ea typeface="微软雅黑" pitchFamily="34" charset="-122"/>
              </a:rPr>
              <a:t>但这只是路由器所知道的部分信息。</a:t>
            </a:r>
          </a:p>
          <a:p>
            <a:pPr marL="534988" lvl="1" indent="-279400">
              <a:lnSpc>
                <a:spcPts val="3200"/>
              </a:lnSpc>
              <a:buClr>
                <a:srgbClr val="7030A0"/>
              </a:buClr>
              <a:buSzPct val="75000"/>
              <a:buFont typeface="Wingdings" pitchFamily="2" charset="2"/>
              <a:buChar char="u"/>
            </a:pPr>
            <a:r>
              <a:rPr lang="zh-CN" altLang="en-US" sz="2000" b="1" dirty="0">
                <a:solidFill>
                  <a:srgbClr val="0000FF"/>
                </a:solidFill>
                <a:latin typeface="微软雅黑" pitchFamily="34" charset="-122"/>
                <a:ea typeface="微软雅黑" pitchFamily="34" charset="-122"/>
              </a:rPr>
              <a:t>链路状态：</a:t>
            </a:r>
            <a:r>
              <a:rPr lang="zh-CN" altLang="en-US" sz="2000" b="1" dirty="0">
                <a:latin typeface="微软雅黑" pitchFamily="34" charset="-122"/>
                <a:ea typeface="微软雅黑" pitchFamily="34" charset="-122"/>
              </a:rPr>
              <a:t>说明本路由器都和哪些路由器</a:t>
            </a:r>
            <a:r>
              <a:rPr lang="zh-CN" altLang="en-US" sz="2000" b="1" dirty="0">
                <a:solidFill>
                  <a:srgbClr val="C00000"/>
                </a:solidFill>
                <a:latin typeface="微软雅黑" pitchFamily="34" charset="-122"/>
                <a:ea typeface="微软雅黑" pitchFamily="34" charset="-122"/>
              </a:rPr>
              <a:t>相邻</a:t>
            </a:r>
            <a:r>
              <a:rPr lang="zh-CN" altLang="en-US" sz="2000" b="1" dirty="0">
                <a:latin typeface="微软雅黑" pitchFamily="34" charset="-122"/>
                <a:ea typeface="微软雅黑" pitchFamily="34" charset="-122"/>
              </a:rPr>
              <a:t>，以及该链路的</a:t>
            </a:r>
            <a:r>
              <a:rPr lang="zh-CN" altLang="en-US" sz="2000" b="1" dirty="0">
                <a:solidFill>
                  <a:srgbClr val="C00000"/>
                </a:solidFill>
                <a:latin typeface="微软雅黑" pitchFamily="34" charset="-122"/>
                <a:ea typeface="微软雅黑" pitchFamily="34" charset="-122"/>
              </a:rPr>
              <a:t>度量</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(metric)</a:t>
            </a:r>
            <a:r>
              <a:rPr lang="zh-CN" altLang="en-US" sz="2000" b="1" dirty="0">
                <a:latin typeface="微软雅黑" pitchFamily="34" charset="-122"/>
                <a:ea typeface="微软雅黑" pitchFamily="34" charset="-122"/>
              </a:rPr>
              <a:t>。 </a:t>
            </a:r>
          </a:p>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当链路状态发生变化或每隔一段时间（如</a:t>
            </a:r>
            <a:r>
              <a:rPr lang="en-US" altLang="zh-CN" sz="2000" b="1" dirty="0">
                <a:latin typeface="微软雅黑" pitchFamily="34" charset="-122"/>
                <a:ea typeface="微软雅黑" pitchFamily="34" charset="-122"/>
              </a:rPr>
              <a:t>30</a:t>
            </a:r>
            <a:r>
              <a:rPr lang="zh-CN" altLang="en-US" sz="2000" b="1" dirty="0">
                <a:latin typeface="微软雅黑" pitchFamily="34" charset="-122"/>
                <a:ea typeface="微软雅黑" pitchFamily="34" charset="-122"/>
              </a:rPr>
              <a:t>分钟），路由器才用洪泛法向所有路由器发送此信息。 </a:t>
            </a:r>
          </a:p>
        </p:txBody>
      </p:sp>
    </p:spTree>
    <p:extLst>
      <p:ext uri="{BB962C8B-B14F-4D97-AF65-F5344CB8AC3E}">
        <p14:creationId xmlns:p14="http://schemas.microsoft.com/office/powerpoint/2010/main" val="144928439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4676"/>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65908"/>
            <a:ext cx="4771756" cy="400110"/>
          </a:xfrm>
          <a:prstGeom prst="rect">
            <a:avLst/>
          </a:prstGeom>
        </p:spPr>
        <p:txBody>
          <a:bodyPr wrap="none">
            <a:spAutoFit/>
          </a:bodyPr>
          <a:lstStyle/>
          <a:p>
            <a:r>
              <a:rPr lang="zh-CN" altLang="en-US" sz="2000" b="1" dirty="0">
                <a:latin typeface="微软雅黑" pitchFamily="34" charset="-122"/>
                <a:ea typeface="微软雅黑" pitchFamily="34" charset="-122"/>
              </a:rPr>
              <a:t>链路状态数据库 </a:t>
            </a:r>
            <a:r>
              <a:rPr lang="en-US" altLang="zh-CN" sz="2000" b="1" dirty="0">
                <a:latin typeface="微软雅黑" pitchFamily="34" charset="-122"/>
                <a:ea typeface="微软雅黑" pitchFamily="34" charset="-122"/>
              </a:rPr>
              <a:t>(link-state database) </a:t>
            </a:r>
            <a:endParaRPr lang="zh-CN" altLang="en-US" sz="2000" b="1" dirty="0">
              <a:latin typeface="微软雅黑" pitchFamily="34" charset="-122"/>
              <a:ea typeface="微软雅黑" pitchFamily="34" charset="-122"/>
            </a:endParaRPr>
          </a:p>
        </p:txBody>
      </p:sp>
      <p:sp>
        <p:nvSpPr>
          <p:cNvPr id="4" name="矩形 3"/>
          <p:cNvSpPr/>
          <p:nvPr/>
        </p:nvSpPr>
        <p:spPr>
          <a:xfrm>
            <a:off x="545144" y="932304"/>
            <a:ext cx="8053712" cy="2208297"/>
          </a:xfrm>
          <a:prstGeom prst="rect">
            <a:avLst/>
          </a:prstGeom>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每个路由器最终都能建立。</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全网的拓扑结构图。</a:t>
            </a:r>
            <a:endParaRPr lang="en-US" altLang="zh-CN" sz="2000" b="1" dirty="0">
              <a:solidFill>
                <a:srgbClr val="0000FF"/>
              </a:solidFill>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在全网范围内是一致的</a:t>
            </a:r>
            <a:r>
              <a:rPr lang="zh-CN" altLang="en-US" sz="2000" b="1" dirty="0">
                <a:latin typeface="微软雅黑" pitchFamily="34" charset="-122"/>
                <a:ea typeface="微软雅黑" pitchFamily="34" charset="-122"/>
              </a:rPr>
              <a:t>（这称为链路状态数据库的同步）。</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每个路由器使用链路状态数据库中的数据构造自己的路由表（例如，使用</a:t>
            </a:r>
            <a:r>
              <a:rPr lang="en-US" altLang="zh-CN" sz="2000" b="1" dirty="0" err="1">
                <a:latin typeface="微软雅黑" pitchFamily="34" charset="-122"/>
                <a:ea typeface="微软雅黑" pitchFamily="34" charset="-122"/>
              </a:rPr>
              <a:t>Dijkstra</a:t>
            </a:r>
            <a:r>
              <a:rPr lang="zh-CN" altLang="en-US" sz="2000" b="1" dirty="0">
                <a:latin typeface="微软雅黑" pitchFamily="34" charset="-122"/>
                <a:ea typeface="微软雅黑" pitchFamily="34" charset="-122"/>
              </a:rPr>
              <a:t>的最短路径路由算法）。</a:t>
            </a:r>
            <a:endParaRPr lang="en-US" altLang="zh-CN" sz="2000" b="1" dirty="0">
              <a:latin typeface="微软雅黑" pitchFamily="34" charset="-122"/>
              <a:ea typeface="微软雅黑" pitchFamily="34" charset="-122"/>
            </a:endParaRPr>
          </a:p>
        </p:txBody>
      </p:sp>
      <p:sp>
        <p:nvSpPr>
          <p:cNvPr id="5" name="对角圆角矩形 4"/>
          <p:cNvSpPr/>
          <p:nvPr/>
        </p:nvSpPr>
        <p:spPr>
          <a:xfrm>
            <a:off x="667598" y="3131365"/>
            <a:ext cx="7654170" cy="1126599"/>
          </a:xfrm>
          <a:prstGeom prst="round2DiagRect">
            <a:avLst/>
          </a:prstGeom>
          <a:solidFill>
            <a:srgbClr val="0099CC"/>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矩形 5"/>
          <p:cNvSpPr/>
          <p:nvPr/>
        </p:nvSpPr>
        <p:spPr>
          <a:xfrm>
            <a:off x="827633" y="3259904"/>
            <a:ext cx="7355787" cy="861774"/>
          </a:xfrm>
          <a:prstGeom prst="rect">
            <a:avLst/>
          </a:prstGeom>
        </p:spPr>
        <p:txBody>
          <a:bodyPr wrap="square">
            <a:spAutoFit/>
          </a:bodyPr>
          <a:lstStyle/>
          <a:p>
            <a:pPr>
              <a:lnSpc>
                <a:spcPts val="3000"/>
              </a:lnSpc>
            </a:pPr>
            <a:r>
              <a:rPr lang="zh-CN" altLang="en-US" b="1" dirty="0">
                <a:solidFill>
                  <a:schemeClr val="bg1"/>
                </a:solidFill>
                <a:latin typeface="微软雅黑" pitchFamily="34" charset="-122"/>
                <a:ea typeface="微软雅黑" pitchFamily="34" charset="-122"/>
              </a:rPr>
              <a:t>链路状态数据库能较快地进行更新，使各个路由器能及时更新其路由表。</a:t>
            </a:r>
          </a:p>
          <a:p>
            <a:pPr>
              <a:lnSpc>
                <a:spcPts val="3000"/>
              </a:lnSpc>
            </a:pPr>
            <a:r>
              <a:rPr lang="zh-CN" altLang="en-US" b="1" dirty="0">
                <a:solidFill>
                  <a:schemeClr val="bg1"/>
                </a:solidFill>
                <a:latin typeface="微软雅黑" pitchFamily="34" charset="-122"/>
                <a:ea typeface="微软雅黑" pitchFamily="34" charset="-122"/>
              </a:rPr>
              <a:t>重要优点：</a:t>
            </a:r>
            <a:r>
              <a:rPr lang="en-US" altLang="zh-CN" b="1" dirty="0">
                <a:solidFill>
                  <a:srgbClr val="FFFF00"/>
                </a:solidFill>
                <a:latin typeface="微软雅黑" pitchFamily="34" charset="-122"/>
                <a:ea typeface="微软雅黑" pitchFamily="34" charset="-122"/>
              </a:rPr>
              <a:t>OSPF </a:t>
            </a:r>
            <a:r>
              <a:rPr lang="zh-CN" altLang="en-US" b="1" dirty="0">
                <a:solidFill>
                  <a:srgbClr val="FFFF00"/>
                </a:solidFill>
                <a:latin typeface="微软雅黑" pitchFamily="34" charset="-122"/>
                <a:ea typeface="微软雅黑" pitchFamily="34" charset="-122"/>
              </a:rPr>
              <a:t>更新过程收敛速度快。</a:t>
            </a:r>
          </a:p>
        </p:txBody>
      </p:sp>
    </p:spTree>
    <p:extLst>
      <p:ext uri="{BB962C8B-B14F-4D97-AF65-F5344CB8AC3E}">
        <p14:creationId xmlns:p14="http://schemas.microsoft.com/office/powerpoint/2010/main" val="270307763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19619"/>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45144" y="630095"/>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5" y="588911"/>
            <a:ext cx="5611151" cy="400110"/>
          </a:xfrm>
          <a:prstGeom prst="rect">
            <a:avLst/>
          </a:prstGeom>
        </p:spPr>
        <p:txBody>
          <a:bodyPr wrap="none">
            <a:spAutoFit/>
          </a:bodyPr>
          <a:lstStyle/>
          <a:p>
            <a:r>
              <a:rPr lang="en-US" altLang="zh-CN" sz="2000" b="1" dirty="0">
                <a:latin typeface="微软雅黑" pitchFamily="34" charset="-122"/>
                <a:ea typeface="微软雅黑" pitchFamily="34" charset="-122"/>
              </a:rPr>
              <a:t>OSPF </a:t>
            </a:r>
            <a:r>
              <a:rPr lang="zh-CN" altLang="en-US" sz="2000" b="1" dirty="0">
                <a:latin typeface="微软雅黑" pitchFamily="34" charset="-122"/>
                <a:ea typeface="微软雅黑" pitchFamily="34" charset="-122"/>
              </a:rPr>
              <a:t>将自治系统划分为</a:t>
            </a:r>
            <a:r>
              <a:rPr lang="zh-CN" altLang="en-US" sz="2000" b="1" dirty="0">
                <a:solidFill>
                  <a:srgbClr val="C00000"/>
                </a:solidFill>
                <a:latin typeface="微软雅黑" pitchFamily="34" charset="-122"/>
                <a:ea typeface="微软雅黑" pitchFamily="34" charset="-122"/>
              </a:rPr>
              <a:t>两种</a:t>
            </a:r>
            <a:r>
              <a:rPr lang="zh-CN" altLang="en-US" sz="2000" b="1" dirty="0">
                <a:latin typeface="微软雅黑" pitchFamily="34" charset="-122"/>
                <a:ea typeface="微软雅黑" pitchFamily="34" charset="-122"/>
              </a:rPr>
              <a:t>不同的区域 </a:t>
            </a:r>
            <a:r>
              <a:rPr lang="en-US" altLang="zh-CN" sz="2000" b="1" dirty="0">
                <a:latin typeface="微软雅黑" pitchFamily="34" charset="-122"/>
                <a:ea typeface="微软雅黑" pitchFamily="34" charset="-122"/>
              </a:rPr>
              <a:t>(area)</a:t>
            </a:r>
            <a:endParaRPr lang="zh-CN" altLang="en-US" sz="2000" b="1" dirty="0">
              <a:latin typeface="微软雅黑" pitchFamily="34" charset="-122"/>
              <a:ea typeface="微软雅黑" pitchFamily="34" charset="-122"/>
            </a:endParaRPr>
          </a:p>
        </p:txBody>
      </p:sp>
      <p:sp>
        <p:nvSpPr>
          <p:cNvPr id="21" name="AutoShape 3"/>
          <p:cNvSpPr>
            <a:spLocks noChangeArrowheads="1"/>
          </p:cNvSpPr>
          <p:nvPr/>
        </p:nvSpPr>
        <p:spPr bwMode="auto">
          <a:xfrm>
            <a:off x="1018636" y="1402811"/>
            <a:ext cx="7086532" cy="2764456"/>
          </a:xfrm>
          <a:prstGeom prst="roundRect">
            <a:avLst>
              <a:gd name="adj" fmla="val 16667"/>
            </a:avLst>
          </a:prstGeom>
          <a:solidFill>
            <a:schemeClr val="bg1"/>
          </a:solidFill>
          <a:ln w="12700">
            <a:solidFill>
              <a:srgbClr val="00B0F0"/>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2" name="Text Box 4"/>
          <p:cNvSpPr txBox="1">
            <a:spLocks noChangeArrowheads="1"/>
          </p:cNvSpPr>
          <p:nvPr/>
        </p:nvSpPr>
        <p:spPr bwMode="auto">
          <a:xfrm>
            <a:off x="1213446" y="1432832"/>
            <a:ext cx="1197169" cy="3082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自治系统 </a:t>
            </a:r>
            <a:r>
              <a:rPr kumimoji="1" lang="en-US" altLang="zh-CN" sz="1400" b="1" dirty="0">
                <a:latin typeface="微软雅黑" pitchFamily="34" charset="-122"/>
                <a:ea typeface="微软雅黑" pitchFamily="34" charset="-122"/>
              </a:rPr>
              <a:t>AS</a:t>
            </a:r>
          </a:p>
        </p:txBody>
      </p:sp>
      <p:grpSp>
        <p:nvGrpSpPr>
          <p:cNvPr id="182" name="组合 181"/>
          <p:cNvGrpSpPr/>
          <p:nvPr/>
        </p:nvGrpSpPr>
        <p:grpSpPr>
          <a:xfrm>
            <a:off x="1101155" y="1773123"/>
            <a:ext cx="2532718" cy="2064420"/>
            <a:chOff x="1101155" y="1773412"/>
            <a:chExt cx="2532718" cy="2064420"/>
          </a:xfrm>
        </p:grpSpPr>
        <p:sp>
          <p:nvSpPr>
            <p:cNvPr id="24" name="Oval 7"/>
            <p:cNvSpPr>
              <a:spLocks noChangeArrowheads="1"/>
            </p:cNvSpPr>
            <p:nvPr/>
          </p:nvSpPr>
          <p:spPr bwMode="auto">
            <a:xfrm>
              <a:off x="1101155" y="1773412"/>
              <a:ext cx="2532718" cy="1776564"/>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6" name="Text Box 9"/>
            <p:cNvSpPr txBox="1">
              <a:spLocks noChangeArrowheads="1"/>
            </p:cNvSpPr>
            <p:nvPr/>
          </p:nvSpPr>
          <p:spPr bwMode="auto">
            <a:xfrm>
              <a:off x="1812343" y="3530055"/>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0.0.0.1</a:t>
              </a:r>
            </a:p>
          </p:txBody>
        </p:sp>
      </p:grpSp>
      <p:grpSp>
        <p:nvGrpSpPr>
          <p:cNvPr id="184" name="组合 183"/>
          <p:cNvGrpSpPr/>
          <p:nvPr/>
        </p:nvGrpSpPr>
        <p:grpSpPr>
          <a:xfrm>
            <a:off x="6095497" y="1773123"/>
            <a:ext cx="1923343" cy="2117154"/>
            <a:chOff x="6095497" y="1773412"/>
            <a:chExt cx="1923343" cy="2117154"/>
          </a:xfrm>
        </p:grpSpPr>
        <p:sp>
          <p:nvSpPr>
            <p:cNvPr id="25" name="Oval 8"/>
            <p:cNvSpPr>
              <a:spLocks noChangeArrowheads="1"/>
            </p:cNvSpPr>
            <p:nvPr/>
          </p:nvSpPr>
          <p:spPr bwMode="auto">
            <a:xfrm>
              <a:off x="6095497" y="1773412"/>
              <a:ext cx="1923343" cy="1776564"/>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7" name="Text Box 10"/>
            <p:cNvSpPr txBox="1">
              <a:spLocks noChangeArrowheads="1"/>
            </p:cNvSpPr>
            <p:nvPr/>
          </p:nvSpPr>
          <p:spPr bwMode="auto">
            <a:xfrm>
              <a:off x="6496859" y="3582789"/>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0.0.0.3</a:t>
              </a:r>
            </a:p>
          </p:txBody>
        </p:sp>
      </p:grpSp>
      <p:grpSp>
        <p:nvGrpSpPr>
          <p:cNvPr id="181" name="组合 180"/>
          <p:cNvGrpSpPr/>
          <p:nvPr/>
        </p:nvGrpSpPr>
        <p:grpSpPr>
          <a:xfrm>
            <a:off x="3720201" y="1518518"/>
            <a:ext cx="2314358" cy="1421794"/>
            <a:chOff x="3720201" y="1518807"/>
            <a:chExt cx="2314358" cy="1421794"/>
          </a:xfrm>
        </p:grpSpPr>
        <p:sp>
          <p:nvSpPr>
            <p:cNvPr id="23" name="Oval 6"/>
            <p:cNvSpPr>
              <a:spLocks noChangeArrowheads="1"/>
            </p:cNvSpPr>
            <p:nvPr/>
          </p:nvSpPr>
          <p:spPr bwMode="auto">
            <a:xfrm>
              <a:off x="3720201" y="1824975"/>
              <a:ext cx="2314358" cy="1115626"/>
            </a:xfrm>
            <a:prstGeom prst="ellipse">
              <a:avLst/>
            </a:prstGeom>
            <a:solidFill>
              <a:srgbClr val="FFCCFF"/>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8" name="Text Box 11"/>
            <p:cNvSpPr txBox="1">
              <a:spLocks noChangeArrowheads="1"/>
            </p:cNvSpPr>
            <p:nvPr/>
          </p:nvSpPr>
          <p:spPr bwMode="auto">
            <a:xfrm>
              <a:off x="3722740" y="1518807"/>
              <a:ext cx="155202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00000"/>
                  </a:solidFill>
                  <a:latin typeface="微软雅黑" pitchFamily="34" charset="-122"/>
                  <a:ea typeface="微软雅黑" pitchFamily="34" charset="-122"/>
                </a:rPr>
                <a:t>主干区域 </a:t>
              </a:r>
              <a:r>
                <a:rPr kumimoji="1" lang="en-US" altLang="zh-CN" sz="1400" b="1" dirty="0">
                  <a:solidFill>
                    <a:srgbClr val="C00000"/>
                  </a:solidFill>
                  <a:latin typeface="微软雅黑" pitchFamily="34" charset="-122"/>
                  <a:ea typeface="微软雅黑" pitchFamily="34" charset="-122"/>
                </a:rPr>
                <a:t>0.0.0.0</a:t>
              </a:r>
            </a:p>
          </p:txBody>
        </p:sp>
      </p:grpSp>
      <p:sp>
        <p:nvSpPr>
          <p:cNvPr id="29" name="Line 12"/>
          <p:cNvSpPr>
            <a:spLocks noChangeShapeType="1"/>
          </p:cNvSpPr>
          <p:nvPr/>
        </p:nvSpPr>
        <p:spPr bwMode="auto">
          <a:xfrm flipV="1">
            <a:off x="4878015" y="1317265"/>
            <a:ext cx="851856" cy="710157"/>
          </a:xfrm>
          <a:prstGeom prst="line">
            <a:avLst/>
          </a:prstGeom>
          <a:noFill/>
          <a:ln w="38100">
            <a:solidFill>
              <a:srgbClr val="CC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0" name="Text Box 13"/>
          <p:cNvSpPr txBox="1">
            <a:spLocks noChangeArrowheads="1"/>
          </p:cNvSpPr>
          <p:nvPr/>
        </p:nvSpPr>
        <p:spPr bwMode="auto">
          <a:xfrm>
            <a:off x="5115298" y="1054787"/>
            <a:ext cx="144142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C00CC"/>
                </a:solidFill>
                <a:latin typeface="微软雅黑" pitchFamily="34" charset="-122"/>
                <a:ea typeface="微软雅黑" pitchFamily="34" charset="-122"/>
              </a:rPr>
              <a:t>至其他自治系统</a:t>
            </a:r>
          </a:p>
        </p:txBody>
      </p:sp>
      <p:sp>
        <p:nvSpPr>
          <p:cNvPr id="31" name="Line 14"/>
          <p:cNvSpPr>
            <a:spLocks noChangeShapeType="1"/>
          </p:cNvSpPr>
          <p:nvPr/>
        </p:nvSpPr>
        <p:spPr bwMode="auto">
          <a:xfrm>
            <a:off x="6095496" y="2432890"/>
            <a:ext cx="670313" cy="20156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2" name="Line 15"/>
          <p:cNvSpPr>
            <a:spLocks noChangeShapeType="1"/>
          </p:cNvSpPr>
          <p:nvPr/>
        </p:nvSpPr>
        <p:spPr bwMode="auto">
          <a:xfrm flipV="1">
            <a:off x="6887685" y="2585235"/>
            <a:ext cx="608107" cy="100781"/>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3" name="Line 16"/>
          <p:cNvSpPr>
            <a:spLocks noChangeShapeType="1"/>
          </p:cNvSpPr>
          <p:nvPr/>
        </p:nvSpPr>
        <p:spPr bwMode="auto">
          <a:xfrm>
            <a:off x="7192373" y="2077811"/>
            <a:ext cx="303419" cy="50742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4" name="Line 17"/>
          <p:cNvSpPr>
            <a:spLocks noChangeShapeType="1"/>
          </p:cNvSpPr>
          <p:nvPr/>
        </p:nvSpPr>
        <p:spPr bwMode="auto">
          <a:xfrm flipH="1">
            <a:off x="7130166" y="2634454"/>
            <a:ext cx="365625" cy="55898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5" name="Line 18"/>
          <p:cNvSpPr>
            <a:spLocks noChangeShapeType="1"/>
          </p:cNvSpPr>
          <p:nvPr/>
        </p:nvSpPr>
        <p:spPr bwMode="auto">
          <a:xfrm flipV="1">
            <a:off x="5181433" y="2432890"/>
            <a:ext cx="790920" cy="10195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6" name="Line 19"/>
          <p:cNvSpPr>
            <a:spLocks noChangeShapeType="1"/>
          </p:cNvSpPr>
          <p:nvPr/>
        </p:nvSpPr>
        <p:spPr bwMode="auto">
          <a:xfrm>
            <a:off x="4938953" y="2027421"/>
            <a:ext cx="120605" cy="455860"/>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7" name="Line 20"/>
          <p:cNvSpPr>
            <a:spLocks noChangeShapeType="1"/>
          </p:cNvSpPr>
          <p:nvPr/>
        </p:nvSpPr>
        <p:spPr bwMode="auto">
          <a:xfrm flipH="1">
            <a:off x="4878015" y="2585234"/>
            <a:ext cx="181543" cy="35507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8" name="Line 21"/>
          <p:cNvSpPr>
            <a:spLocks noChangeShapeType="1"/>
          </p:cNvSpPr>
          <p:nvPr/>
        </p:nvSpPr>
        <p:spPr bwMode="auto">
          <a:xfrm>
            <a:off x="3598326" y="2332109"/>
            <a:ext cx="1279689" cy="202734"/>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9" name="Line 22"/>
          <p:cNvSpPr>
            <a:spLocks noChangeShapeType="1"/>
          </p:cNvSpPr>
          <p:nvPr/>
        </p:nvSpPr>
        <p:spPr bwMode="auto">
          <a:xfrm flipV="1">
            <a:off x="3659264" y="2077811"/>
            <a:ext cx="1157814" cy="25429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0" name="Line 23"/>
          <p:cNvSpPr>
            <a:spLocks noChangeShapeType="1"/>
          </p:cNvSpPr>
          <p:nvPr/>
        </p:nvSpPr>
        <p:spPr bwMode="auto">
          <a:xfrm flipH="1">
            <a:off x="1710530" y="2077811"/>
            <a:ext cx="912795" cy="25429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1" name="Line 24"/>
          <p:cNvSpPr>
            <a:spLocks noChangeShapeType="1"/>
          </p:cNvSpPr>
          <p:nvPr/>
        </p:nvSpPr>
        <p:spPr bwMode="auto">
          <a:xfrm>
            <a:off x="2623325" y="2127030"/>
            <a:ext cx="366894" cy="55898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2" name="Line 25"/>
          <p:cNvSpPr>
            <a:spLocks noChangeShapeType="1"/>
          </p:cNvSpPr>
          <p:nvPr/>
        </p:nvSpPr>
        <p:spPr bwMode="auto">
          <a:xfrm flipV="1">
            <a:off x="3049888" y="2381328"/>
            <a:ext cx="548438" cy="3046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3" name="Line 26"/>
          <p:cNvSpPr>
            <a:spLocks noChangeShapeType="1"/>
          </p:cNvSpPr>
          <p:nvPr/>
        </p:nvSpPr>
        <p:spPr bwMode="auto">
          <a:xfrm flipH="1">
            <a:off x="2135824" y="2737578"/>
            <a:ext cx="793457" cy="10195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4" name="Line 27"/>
          <p:cNvSpPr>
            <a:spLocks noChangeShapeType="1"/>
          </p:cNvSpPr>
          <p:nvPr/>
        </p:nvSpPr>
        <p:spPr bwMode="auto">
          <a:xfrm>
            <a:off x="2135824" y="2888750"/>
            <a:ext cx="305957" cy="3046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45" name="Group 28"/>
          <p:cNvGrpSpPr>
            <a:grpSpLocks/>
          </p:cNvGrpSpPr>
          <p:nvPr/>
        </p:nvGrpSpPr>
        <p:grpSpPr bwMode="auto">
          <a:xfrm>
            <a:off x="2745200" y="2534844"/>
            <a:ext cx="548438" cy="353907"/>
            <a:chOff x="2949" y="196"/>
            <a:chExt cx="941" cy="598"/>
          </a:xfrm>
          <a:solidFill>
            <a:srgbClr val="00FFFF"/>
          </a:solidFill>
        </p:grpSpPr>
        <p:sp>
          <p:nvSpPr>
            <p:cNvPr id="46" name="Oval 29"/>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7" name="Oval 30"/>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8" name="Oval 31"/>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9" name="Oval 32"/>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0" name="Oval 33"/>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1" name="Oval 34"/>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2" name="Oval 35"/>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3" name="Oval 36"/>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4" name="Freeform 3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5" name="Freeform 3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6" name="Freeform 3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pic>
        <p:nvPicPr>
          <p:cNvPr id="57" name="Picture 4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32405" y="2737579"/>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 name="Picture 4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80844" y="1975858"/>
            <a:ext cx="416407" cy="2332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 name="Picture 4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15513" y="2230155"/>
            <a:ext cx="41513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0" name="Picture 4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93932" y="1925468"/>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1" name="Picture 4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78015" y="2432890"/>
            <a:ext cx="41513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2" name="Picture 4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314248" y="2483281"/>
            <a:ext cx="415137" cy="2332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3"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51747" y="2332109"/>
            <a:ext cx="415137" cy="2308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64" name="Group 47"/>
          <p:cNvGrpSpPr>
            <a:grpSpLocks/>
          </p:cNvGrpSpPr>
          <p:nvPr/>
        </p:nvGrpSpPr>
        <p:grpSpPr bwMode="auto">
          <a:xfrm>
            <a:off x="2196762" y="3042267"/>
            <a:ext cx="548438" cy="353907"/>
            <a:chOff x="2949" y="196"/>
            <a:chExt cx="941" cy="598"/>
          </a:xfrm>
          <a:solidFill>
            <a:srgbClr val="00FFFF"/>
          </a:solidFill>
        </p:grpSpPr>
        <p:sp>
          <p:nvSpPr>
            <p:cNvPr id="65" name="Oval 48"/>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6" name="Oval 49"/>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7" name="Oval 50"/>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8" name="Oval 51"/>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9" name="Oval 52"/>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0" name="Oval 53"/>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1" name="Oval 54"/>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2" name="Oval 55"/>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3" name="Freeform 56"/>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4" name="Freeform 57"/>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5" name="Freeform 58"/>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76" name="Group 59"/>
          <p:cNvGrpSpPr>
            <a:grpSpLocks/>
          </p:cNvGrpSpPr>
          <p:nvPr/>
        </p:nvGrpSpPr>
        <p:grpSpPr bwMode="auto">
          <a:xfrm>
            <a:off x="1466780" y="2178593"/>
            <a:ext cx="548438" cy="356250"/>
            <a:chOff x="2949" y="196"/>
            <a:chExt cx="941" cy="598"/>
          </a:xfrm>
          <a:solidFill>
            <a:srgbClr val="00FFFF"/>
          </a:solidFill>
        </p:grpSpPr>
        <p:sp>
          <p:nvSpPr>
            <p:cNvPr id="77" name="Oval 60"/>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8" name="Oval 61"/>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9" name="Oval 62"/>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0" name="Oval 63"/>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1" name="Oval 64"/>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2" name="Oval 65"/>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3" name="Oval 66"/>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4" name="Oval 67"/>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5" name="Freeform 6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6" name="Freeform 6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7" name="Freeform 7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88" name="Group 71"/>
          <p:cNvGrpSpPr>
            <a:grpSpLocks/>
          </p:cNvGrpSpPr>
          <p:nvPr/>
        </p:nvGrpSpPr>
        <p:grpSpPr bwMode="auto">
          <a:xfrm>
            <a:off x="6887685" y="1875077"/>
            <a:ext cx="547169" cy="355078"/>
            <a:chOff x="2949" y="196"/>
            <a:chExt cx="941" cy="598"/>
          </a:xfrm>
          <a:solidFill>
            <a:srgbClr val="00FFFF"/>
          </a:solidFill>
        </p:grpSpPr>
        <p:sp>
          <p:nvSpPr>
            <p:cNvPr id="89" name="Oval 72"/>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0" name="Oval 73"/>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1" name="Oval 74"/>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2" name="Oval 75"/>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3" name="Oval 76"/>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4" name="Oval 77"/>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5" name="Oval 78"/>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6" name="Oval 79"/>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7" name="Freeform 80"/>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8" name="Freeform 81"/>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9" name="Freeform 82"/>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100" name="Group 83"/>
          <p:cNvGrpSpPr>
            <a:grpSpLocks/>
          </p:cNvGrpSpPr>
          <p:nvPr/>
        </p:nvGrpSpPr>
        <p:grpSpPr bwMode="auto">
          <a:xfrm>
            <a:off x="6826747" y="3042267"/>
            <a:ext cx="548438" cy="353907"/>
            <a:chOff x="2949" y="196"/>
            <a:chExt cx="941" cy="598"/>
          </a:xfrm>
          <a:solidFill>
            <a:srgbClr val="00FFFF"/>
          </a:solidFill>
        </p:grpSpPr>
        <p:sp>
          <p:nvSpPr>
            <p:cNvPr id="101" name="Oval 84"/>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2" name="Oval 85"/>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3" name="Oval 86"/>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4" name="Oval 87"/>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5" name="Oval 88"/>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6" name="Oval 89"/>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7" name="Oval 90"/>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8" name="Oval 91"/>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9" name="Freeform 92"/>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0" name="Freeform 93"/>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1" name="Freeform 94"/>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112" name="Group 95"/>
          <p:cNvGrpSpPr>
            <a:grpSpLocks/>
          </p:cNvGrpSpPr>
          <p:nvPr/>
        </p:nvGrpSpPr>
        <p:grpSpPr bwMode="auto">
          <a:xfrm>
            <a:off x="6520790" y="2483280"/>
            <a:ext cx="548438" cy="356250"/>
            <a:chOff x="2949" y="196"/>
            <a:chExt cx="941" cy="598"/>
          </a:xfrm>
          <a:solidFill>
            <a:srgbClr val="00FFFF"/>
          </a:solidFill>
        </p:grpSpPr>
        <p:sp>
          <p:nvSpPr>
            <p:cNvPr id="113" name="Oval 96"/>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4" name="Oval 97"/>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5" name="Oval 98"/>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6" name="Oval 99"/>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7" name="Oval 100"/>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8" name="Oval 101"/>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9" name="Oval 102"/>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0" name="Oval 103"/>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1" name="Freeform 10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2" name="Freeform 10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3" name="Freeform 10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24" name="Text Box 107"/>
          <p:cNvSpPr txBox="1">
            <a:spLocks noChangeArrowheads="1"/>
          </p:cNvSpPr>
          <p:nvPr/>
        </p:nvSpPr>
        <p:spPr bwMode="auto">
          <a:xfrm>
            <a:off x="7527530" y="2212578"/>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9</a:t>
            </a:r>
          </a:p>
        </p:txBody>
      </p:sp>
      <p:sp>
        <p:nvSpPr>
          <p:cNvPr id="125" name="Text Box 108"/>
          <p:cNvSpPr txBox="1">
            <a:spLocks noChangeArrowheads="1"/>
          </p:cNvSpPr>
          <p:nvPr/>
        </p:nvSpPr>
        <p:spPr bwMode="auto">
          <a:xfrm>
            <a:off x="5605457" y="207781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7</a:t>
            </a:r>
          </a:p>
        </p:txBody>
      </p:sp>
      <p:sp>
        <p:nvSpPr>
          <p:cNvPr id="126" name="Text Box 109"/>
          <p:cNvSpPr txBox="1">
            <a:spLocks noChangeArrowheads="1"/>
          </p:cNvSpPr>
          <p:nvPr/>
        </p:nvSpPr>
        <p:spPr bwMode="auto">
          <a:xfrm>
            <a:off x="5100183" y="183406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6</a:t>
            </a:r>
          </a:p>
        </p:txBody>
      </p:sp>
      <p:sp>
        <p:nvSpPr>
          <p:cNvPr id="127" name="Text Box 110"/>
          <p:cNvSpPr txBox="1">
            <a:spLocks noChangeArrowheads="1"/>
          </p:cNvSpPr>
          <p:nvPr/>
        </p:nvSpPr>
        <p:spPr bwMode="auto">
          <a:xfrm>
            <a:off x="4643151" y="2168047"/>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5</a:t>
            </a:r>
          </a:p>
        </p:txBody>
      </p:sp>
      <p:sp>
        <p:nvSpPr>
          <p:cNvPr id="128" name="Text Box 111"/>
          <p:cNvSpPr txBox="1">
            <a:spLocks noChangeArrowheads="1"/>
          </p:cNvSpPr>
          <p:nvPr/>
        </p:nvSpPr>
        <p:spPr bwMode="auto">
          <a:xfrm>
            <a:off x="4432409" y="2579375"/>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4</a:t>
            </a:r>
          </a:p>
        </p:txBody>
      </p:sp>
      <p:sp>
        <p:nvSpPr>
          <p:cNvPr id="129" name="Text Box 112"/>
          <p:cNvSpPr txBox="1">
            <a:spLocks noChangeArrowheads="1"/>
          </p:cNvSpPr>
          <p:nvPr/>
        </p:nvSpPr>
        <p:spPr bwMode="auto">
          <a:xfrm>
            <a:off x="3421861" y="193367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3</a:t>
            </a:r>
          </a:p>
        </p:txBody>
      </p:sp>
      <p:sp>
        <p:nvSpPr>
          <p:cNvPr id="130" name="Text Box 113"/>
          <p:cNvSpPr txBox="1">
            <a:spLocks noChangeArrowheads="1"/>
          </p:cNvSpPr>
          <p:nvPr/>
        </p:nvSpPr>
        <p:spPr bwMode="auto">
          <a:xfrm>
            <a:off x="1525179" y="2648516"/>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2</a:t>
            </a:r>
          </a:p>
        </p:txBody>
      </p:sp>
      <p:sp>
        <p:nvSpPr>
          <p:cNvPr id="131" name="Text Box 114"/>
          <p:cNvSpPr txBox="1">
            <a:spLocks noChangeArrowheads="1"/>
          </p:cNvSpPr>
          <p:nvPr/>
        </p:nvSpPr>
        <p:spPr bwMode="auto">
          <a:xfrm>
            <a:off x="2107895" y="1763749"/>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1</a:t>
            </a:r>
          </a:p>
        </p:txBody>
      </p:sp>
      <p:grpSp>
        <p:nvGrpSpPr>
          <p:cNvPr id="183" name="组合 182"/>
          <p:cNvGrpSpPr/>
          <p:nvPr/>
        </p:nvGrpSpPr>
        <p:grpSpPr>
          <a:xfrm>
            <a:off x="3598326" y="3003594"/>
            <a:ext cx="2497171" cy="1046059"/>
            <a:chOff x="3598326" y="3003883"/>
            <a:chExt cx="2497171" cy="1046059"/>
          </a:xfrm>
        </p:grpSpPr>
        <p:sp>
          <p:nvSpPr>
            <p:cNvPr id="138" name="Oval 121"/>
            <p:cNvSpPr>
              <a:spLocks noChangeArrowheads="1"/>
            </p:cNvSpPr>
            <p:nvPr/>
          </p:nvSpPr>
          <p:spPr bwMode="auto">
            <a:xfrm>
              <a:off x="3598326" y="3003883"/>
              <a:ext cx="2497171" cy="767579"/>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139" name="Text Box 122"/>
            <p:cNvSpPr txBox="1">
              <a:spLocks noChangeArrowheads="1"/>
            </p:cNvSpPr>
            <p:nvPr/>
          </p:nvSpPr>
          <p:spPr bwMode="auto">
            <a:xfrm>
              <a:off x="4305485" y="3742165"/>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0.0.0.2</a:t>
              </a:r>
            </a:p>
          </p:txBody>
        </p:sp>
      </p:grpSp>
      <p:sp>
        <p:nvSpPr>
          <p:cNvPr id="140" name="Line 123"/>
          <p:cNvSpPr>
            <a:spLocks noChangeShapeType="1"/>
          </p:cNvSpPr>
          <p:nvPr/>
        </p:nvSpPr>
        <p:spPr bwMode="auto">
          <a:xfrm>
            <a:off x="4817078" y="2940312"/>
            <a:ext cx="729981" cy="38437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1" name="Line 124"/>
          <p:cNvSpPr>
            <a:spLocks noChangeShapeType="1"/>
          </p:cNvSpPr>
          <p:nvPr/>
        </p:nvSpPr>
        <p:spPr bwMode="auto">
          <a:xfrm flipV="1">
            <a:off x="4938953" y="3387969"/>
            <a:ext cx="669044" cy="1921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142" name="Group 125"/>
          <p:cNvGrpSpPr>
            <a:grpSpLocks/>
          </p:cNvGrpSpPr>
          <p:nvPr/>
        </p:nvGrpSpPr>
        <p:grpSpPr bwMode="auto">
          <a:xfrm>
            <a:off x="5365516" y="3131328"/>
            <a:ext cx="547168" cy="448828"/>
            <a:chOff x="2949" y="196"/>
            <a:chExt cx="941" cy="598"/>
          </a:xfrm>
          <a:solidFill>
            <a:srgbClr val="00FFFF"/>
          </a:solidFill>
        </p:grpSpPr>
        <p:sp>
          <p:nvSpPr>
            <p:cNvPr id="143" name="Oval 126"/>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4" name="Oval 127"/>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5" name="Oval 128"/>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6" name="Oval 129"/>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7" name="Oval 130"/>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8" name="Oval 131"/>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9" name="Oval 132"/>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0" name="Oval 133"/>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1" name="Freeform 13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2" name="Freeform 13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3" name="Freeform 13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55" name="Line 138"/>
          <p:cNvSpPr>
            <a:spLocks noChangeShapeType="1"/>
          </p:cNvSpPr>
          <p:nvPr/>
        </p:nvSpPr>
        <p:spPr bwMode="auto">
          <a:xfrm>
            <a:off x="4084557" y="3450079"/>
            <a:ext cx="732521" cy="13007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156" name="Group 139"/>
          <p:cNvGrpSpPr>
            <a:grpSpLocks/>
          </p:cNvGrpSpPr>
          <p:nvPr/>
        </p:nvGrpSpPr>
        <p:grpSpPr bwMode="auto">
          <a:xfrm>
            <a:off x="3842076" y="3194610"/>
            <a:ext cx="548438" cy="448828"/>
            <a:chOff x="2949" y="196"/>
            <a:chExt cx="941" cy="598"/>
          </a:xfrm>
          <a:solidFill>
            <a:srgbClr val="00FFFF"/>
          </a:solidFill>
        </p:grpSpPr>
        <p:sp>
          <p:nvSpPr>
            <p:cNvPr id="157" name="Oval 140"/>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8" name="Oval 141"/>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9" name="Oval 142"/>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0" name="Oval 143"/>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1" name="Oval 144"/>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2" name="Oval 145"/>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3" name="Oval 146"/>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4" name="Oval 147"/>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5" name="Freeform 14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6" name="Freeform 14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7" name="Freeform 15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pic>
        <p:nvPicPr>
          <p:cNvPr id="169" name="Picture 1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93932" y="3414922"/>
            <a:ext cx="416407" cy="2941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0" name="Text Box 153"/>
          <p:cNvSpPr txBox="1">
            <a:spLocks noChangeArrowheads="1"/>
          </p:cNvSpPr>
          <p:nvPr/>
        </p:nvSpPr>
        <p:spPr bwMode="auto">
          <a:xfrm>
            <a:off x="4459070" y="318406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8</a:t>
            </a:r>
          </a:p>
        </p:txBody>
      </p:sp>
      <p:pic>
        <p:nvPicPr>
          <p:cNvPr id="171" name="Picture 15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43151" y="2841875"/>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3" name="Text Box 115"/>
          <p:cNvSpPr txBox="1">
            <a:spLocks noChangeArrowheads="1"/>
          </p:cNvSpPr>
          <p:nvPr/>
        </p:nvSpPr>
        <p:spPr bwMode="auto">
          <a:xfrm>
            <a:off x="6861812" y="3068053"/>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8</a:t>
            </a:r>
          </a:p>
        </p:txBody>
      </p:sp>
      <p:sp>
        <p:nvSpPr>
          <p:cNvPr id="174" name="Text Box 116"/>
          <p:cNvSpPr txBox="1">
            <a:spLocks noChangeArrowheads="1"/>
          </p:cNvSpPr>
          <p:nvPr/>
        </p:nvSpPr>
        <p:spPr bwMode="auto">
          <a:xfrm>
            <a:off x="6915228" y="1904380"/>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6</a:t>
            </a:r>
          </a:p>
        </p:txBody>
      </p:sp>
      <p:sp>
        <p:nvSpPr>
          <p:cNvPr id="175" name="Text Box 117"/>
          <p:cNvSpPr txBox="1">
            <a:spLocks noChangeArrowheads="1"/>
          </p:cNvSpPr>
          <p:nvPr/>
        </p:nvSpPr>
        <p:spPr bwMode="auto">
          <a:xfrm>
            <a:off x="2237984" y="3077423"/>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3</a:t>
            </a:r>
          </a:p>
        </p:txBody>
      </p:sp>
      <p:sp>
        <p:nvSpPr>
          <p:cNvPr id="176" name="Text Box 118"/>
          <p:cNvSpPr txBox="1">
            <a:spLocks noChangeArrowheads="1"/>
          </p:cNvSpPr>
          <p:nvPr/>
        </p:nvSpPr>
        <p:spPr bwMode="auto">
          <a:xfrm>
            <a:off x="2789151" y="2554760"/>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2</a:t>
            </a:r>
          </a:p>
        </p:txBody>
      </p:sp>
      <p:sp>
        <p:nvSpPr>
          <p:cNvPr id="177" name="Text Box 119"/>
          <p:cNvSpPr txBox="1">
            <a:spLocks noChangeArrowheads="1"/>
          </p:cNvSpPr>
          <p:nvPr/>
        </p:nvSpPr>
        <p:spPr bwMode="auto">
          <a:xfrm>
            <a:off x="1505747" y="2200859"/>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1</a:t>
            </a:r>
          </a:p>
        </p:txBody>
      </p:sp>
      <p:sp>
        <p:nvSpPr>
          <p:cNvPr id="178" name="Text Box 120"/>
          <p:cNvSpPr txBox="1">
            <a:spLocks noChangeArrowheads="1"/>
          </p:cNvSpPr>
          <p:nvPr/>
        </p:nvSpPr>
        <p:spPr bwMode="auto">
          <a:xfrm>
            <a:off x="6550398" y="2521959"/>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7</a:t>
            </a:r>
          </a:p>
        </p:txBody>
      </p:sp>
      <p:sp>
        <p:nvSpPr>
          <p:cNvPr id="179" name="Text Box 137"/>
          <p:cNvSpPr txBox="1">
            <a:spLocks noChangeArrowheads="1"/>
          </p:cNvSpPr>
          <p:nvPr/>
        </p:nvSpPr>
        <p:spPr bwMode="auto">
          <a:xfrm>
            <a:off x="5407913" y="3218065"/>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4</a:t>
            </a:r>
          </a:p>
        </p:txBody>
      </p:sp>
      <p:sp>
        <p:nvSpPr>
          <p:cNvPr id="180" name="Text Box 151"/>
          <p:cNvSpPr txBox="1">
            <a:spLocks noChangeArrowheads="1"/>
          </p:cNvSpPr>
          <p:nvPr/>
        </p:nvSpPr>
        <p:spPr bwMode="auto">
          <a:xfrm>
            <a:off x="3872858" y="3277813"/>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5</a:t>
            </a:r>
          </a:p>
        </p:txBody>
      </p:sp>
      <p:sp>
        <p:nvSpPr>
          <p:cNvPr id="5" name="矩形 4"/>
          <p:cNvSpPr/>
          <p:nvPr/>
        </p:nvSpPr>
        <p:spPr>
          <a:xfrm>
            <a:off x="1037109" y="4331760"/>
            <a:ext cx="7174018" cy="374461"/>
          </a:xfrm>
          <a:prstGeom prst="rect">
            <a:avLst/>
          </a:prstGeom>
        </p:spPr>
        <p:txBody>
          <a:bodyPr wrap="square">
            <a:spAutoFit/>
          </a:bodyPr>
          <a:lstStyle/>
          <a:p>
            <a:pPr>
              <a:lnSpc>
                <a:spcPts val="2200"/>
              </a:lnSpc>
              <a:buClr>
                <a:srgbClr val="0070C0"/>
              </a:buClr>
            </a:pPr>
            <a:r>
              <a:rPr lang="zh-CN" altLang="en-US" sz="1600" b="1" dirty="0">
                <a:latin typeface="微软雅黑" pitchFamily="34" charset="-122"/>
                <a:ea typeface="微软雅黑" pitchFamily="34" charset="-122"/>
              </a:rPr>
              <a:t>主干区域 </a:t>
            </a:r>
            <a:r>
              <a:rPr lang="en-US" altLang="zh-CN" sz="1600" b="1" dirty="0">
                <a:latin typeface="微软雅黑" pitchFamily="34" charset="-122"/>
                <a:ea typeface="微软雅黑" pitchFamily="34" charset="-122"/>
              </a:rPr>
              <a:t>(backbone area) </a:t>
            </a:r>
            <a:r>
              <a:rPr lang="zh-CN" altLang="en-US" sz="1600" b="1" dirty="0">
                <a:solidFill>
                  <a:srgbClr val="C00000"/>
                </a:solidFill>
                <a:latin typeface="微软雅黑" pitchFamily="34" charset="-122"/>
                <a:ea typeface="微软雅黑" pitchFamily="34" charset="-122"/>
              </a:rPr>
              <a:t>标识符</a:t>
            </a:r>
            <a:r>
              <a:rPr lang="en-US" altLang="zh-CN" sz="1600" b="1" dirty="0">
                <a:latin typeface="微软雅黑" pitchFamily="34" charset="-122"/>
                <a:ea typeface="微软雅黑" pitchFamily="34" charset="-122"/>
              </a:rPr>
              <a:t>=</a:t>
            </a:r>
            <a:r>
              <a:rPr lang="zh-CN" altLang="en-US" sz="1600" b="1" dirty="0">
                <a:latin typeface="微软雅黑" pitchFamily="34" charset="-122"/>
                <a:ea typeface="微软雅黑" pitchFamily="34" charset="-122"/>
              </a:rPr>
              <a:t> </a:t>
            </a:r>
            <a:r>
              <a:rPr lang="en-US" altLang="zh-CN" sz="1600" b="1" dirty="0">
                <a:latin typeface="微软雅黑" pitchFamily="34" charset="-122"/>
                <a:ea typeface="微软雅黑" pitchFamily="34" charset="-122"/>
              </a:rPr>
              <a:t>0.0.0.0</a:t>
            </a:r>
            <a:r>
              <a:rPr lang="zh-CN" altLang="en-US" sz="1600" b="1" dirty="0">
                <a:latin typeface="微软雅黑" pitchFamily="34" charset="-122"/>
                <a:ea typeface="微软雅黑" pitchFamily="34" charset="-122"/>
              </a:rPr>
              <a:t>，</a:t>
            </a:r>
            <a:r>
              <a:rPr lang="zh-CN" altLang="en-US" sz="1600" b="1" dirty="0">
                <a:solidFill>
                  <a:srgbClr val="C00000"/>
                </a:solidFill>
                <a:latin typeface="微软雅黑" pitchFamily="34" charset="-122"/>
                <a:ea typeface="微软雅黑" pitchFamily="34" charset="-122"/>
              </a:rPr>
              <a:t>作用</a:t>
            </a:r>
            <a:r>
              <a:rPr lang="en-US" altLang="zh-CN" sz="1600" b="1" dirty="0">
                <a:latin typeface="微软雅黑" pitchFamily="34" charset="-122"/>
                <a:ea typeface="微软雅黑" pitchFamily="34" charset="-122"/>
              </a:rPr>
              <a:t>=</a:t>
            </a:r>
            <a:r>
              <a:rPr lang="zh-CN" altLang="en-US" sz="1600" b="1" dirty="0">
                <a:latin typeface="微软雅黑" pitchFamily="34" charset="-122"/>
                <a:ea typeface="微软雅黑" pitchFamily="34" charset="-122"/>
              </a:rPr>
              <a:t>用来连通其他下层区域。 </a:t>
            </a:r>
          </a:p>
        </p:txBody>
      </p:sp>
    </p:spTree>
    <p:extLst>
      <p:ext uri="{BB962C8B-B14F-4D97-AF65-F5344CB8AC3E}">
        <p14:creationId xmlns:p14="http://schemas.microsoft.com/office/powerpoint/2010/main" val="93277727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1000"/>
                                  </p:stCondLst>
                                  <p:childTnLst>
                                    <p:set>
                                      <p:cBhvr>
                                        <p:cTn id="6" dur="1" fill="hold">
                                          <p:stCondLst>
                                            <p:cond delay="0"/>
                                          </p:stCondLst>
                                        </p:cTn>
                                        <p:tgtEl>
                                          <p:spTgt spid="181"/>
                                        </p:tgtEl>
                                        <p:attrNameLst>
                                          <p:attrName>style.visibility</p:attrName>
                                        </p:attrNameLst>
                                      </p:cBhvr>
                                      <p:to>
                                        <p:strVal val="visible"/>
                                      </p:to>
                                    </p:set>
                                  </p:childTnLst>
                                </p:cTn>
                              </p:par>
                              <p:par>
                                <p:cTn id="7" presetID="1" presetClass="entr" presetSubtype="0" fill="hold" nodeType="withEffect">
                                  <p:stCondLst>
                                    <p:cond delay="1000"/>
                                  </p:stCondLst>
                                  <p:childTnLst>
                                    <p:set>
                                      <p:cBhvr>
                                        <p:cTn id="8" dur="1" fill="hold">
                                          <p:stCondLst>
                                            <p:cond delay="0"/>
                                          </p:stCondLst>
                                        </p:cTn>
                                        <p:tgtEl>
                                          <p:spTgt spid="182"/>
                                        </p:tgtEl>
                                        <p:attrNameLst>
                                          <p:attrName>style.visibility</p:attrName>
                                        </p:attrNameLst>
                                      </p:cBhvr>
                                      <p:to>
                                        <p:strVal val="visible"/>
                                      </p:to>
                                    </p:set>
                                  </p:childTnLst>
                                </p:cTn>
                              </p:par>
                              <p:par>
                                <p:cTn id="9" presetID="1" presetClass="entr" presetSubtype="0" fill="hold" nodeType="withEffect">
                                  <p:stCondLst>
                                    <p:cond delay="1000"/>
                                  </p:stCondLst>
                                  <p:childTnLst>
                                    <p:set>
                                      <p:cBhvr>
                                        <p:cTn id="10" dur="1" fill="hold">
                                          <p:stCondLst>
                                            <p:cond delay="0"/>
                                          </p:stCondLst>
                                        </p:cTn>
                                        <p:tgtEl>
                                          <p:spTgt spid="183"/>
                                        </p:tgtEl>
                                        <p:attrNameLst>
                                          <p:attrName>style.visibility</p:attrName>
                                        </p:attrNameLst>
                                      </p:cBhvr>
                                      <p:to>
                                        <p:strVal val="visible"/>
                                      </p:to>
                                    </p:set>
                                  </p:childTnLst>
                                </p:cTn>
                              </p:par>
                              <p:par>
                                <p:cTn id="11" presetID="1" presetClass="entr" presetSubtype="0" fill="hold" nodeType="withEffect">
                                  <p:stCondLst>
                                    <p:cond delay="1000"/>
                                  </p:stCondLst>
                                  <p:childTnLst>
                                    <p:set>
                                      <p:cBhvr>
                                        <p:cTn id="12" dur="1" fill="hold">
                                          <p:stCondLst>
                                            <p:cond delay="0"/>
                                          </p:stCondLst>
                                        </p:cTn>
                                        <p:tgtEl>
                                          <p:spTgt spid="184"/>
                                        </p:tgtEl>
                                        <p:attrNameLst>
                                          <p:attrName>style.visibility</p:attrName>
                                        </p:attrNameLst>
                                      </p:cBhvr>
                                      <p:to>
                                        <p:strVal val="visible"/>
                                      </p:to>
                                    </p:set>
                                  </p:childTnLst>
                                </p:cTn>
                              </p:par>
                            </p:childTnLst>
                          </p:cTn>
                        </p:par>
                        <p:par>
                          <p:cTn id="13" fill="hold">
                            <p:stCondLst>
                              <p:cond delay="1000"/>
                            </p:stCondLst>
                            <p:childTnLst>
                              <p:par>
                                <p:cTn id="14" presetID="35" presetClass="emph" presetSubtype="0" repeatCount="3000" fill="hold" nodeType="afterEffect">
                                  <p:stCondLst>
                                    <p:cond delay="0"/>
                                  </p:stCondLst>
                                  <p:childTnLst>
                                    <p:anim calcmode="discrete" valueType="str">
                                      <p:cBhvr>
                                        <p:cTn id="15" dur="1000" fill="hold"/>
                                        <p:tgtEl>
                                          <p:spTgt spid="181"/>
                                        </p:tgtEl>
                                        <p:attrNameLst>
                                          <p:attrName>style.visibility</p:attrName>
                                        </p:attrNameLst>
                                      </p:cBhvr>
                                      <p:tavLst>
                                        <p:tav tm="0">
                                          <p:val>
                                            <p:strVal val="hidden"/>
                                          </p:val>
                                        </p:tav>
                                        <p:tav tm="50000">
                                          <p:val>
                                            <p:strVal val="visible"/>
                                          </p:val>
                                        </p:tav>
                                      </p:tavLst>
                                    </p:anim>
                                  </p:childTnLst>
                                </p:cTn>
                              </p:par>
                              <p:par>
                                <p:cTn id="16" presetID="35" presetClass="emph" presetSubtype="0" repeatCount="3000" fill="hold" nodeType="withEffect">
                                  <p:stCondLst>
                                    <p:cond delay="0"/>
                                  </p:stCondLst>
                                  <p:childTnLst>
                                    <p:anim calcmode="discrete" valueType="str">
                                      <p:cBhvr>
                                        <p:cTn id="17" dur="1000" fill="hold"/>
                                        <p:tgtEl>
                                          <p:spTgt spid="182"/>
                                        </p:tgtEl>
                                        <p:attrNameLst>
                                          <p:attrName>style.visibility</p:attrName>
                                        </p:attrNameLst>
                                      </p:cBhvr>
                                      <p:tavLst>
                                        <p:tav tm="0">
                                          <p:val>
                                            <p:strVal val="hidden"/>
                                          </p:val>
                                        </p:tav>
                                        <p:tav tm="50000">
                                          <p:val>
                                            <p:strVal val="visible"/>
                                          </p:val>
                                        </p:tav>
                                      </p:tavLst>
                                    </p:anim>
                                  </p:childTnLst>
                                </p:cTn>
                              </p:par>
                              <p:par>
                                <p:cTn id="18" presetID="35" presetClass="emph" presetSubtype="0" repeatCount="3000" fill="hold" nodeType="withEffect">
                                  <p:stCondLst>
                                    <p:cond delay="0"/>
                                  </p:stCondLst>
                                  <p:childTnLst>
                                    <p:anim calcmode="discrete" valueType="str">
                                      <p:cBhvr>
                                        <p:cTn id="19" dur="1000" fill="hold"/>
                                        <p:tgtEl>
                                          <p:spTgt spid="183"/>
                                        </p:tgtEl>
                                        <p:attrNameLst>
                                          <p:attrName>style.visibility</p:attrName>
                                        </p:attrNameLst>
                                      </p:cBhvr>
                                      <p:tavLst>
                                        <p:tav tm="0">
                                          <p:val>
                                            <p:strVal val="hidden"/>
                                          </p:val>
                                        </p:tav>
                                        <p:tav tm="50000">
                                          <p:val>
                                            <p:strVal val="visible"/>
                                          </p:val>
                                        </p:tav>
                                      </p:tavLst>
                                    </p:anim>
                                  </p:childTnLst>
                                </p:cTn>
                              </p:par>
                              <p:par>
                                <p:cTn id="20" presetID="35" presetClass="emph" presetSubtype="0" repeatCount="3000" fill="hold" nodeType="withEffect">
                                  <p:stCondLst>
                                    <p:cond delay="0"/>
                                  </p:stCondLst>
                                  <p:childTnLst>
                                    <p:anim calcmode="discrete" valueType="str">
                                      <p:cBhvr>
                                        <p:cTn id="21" dur="1000" fill="hold"/>
                                        <p:tgtEl>
                                          <p:spTgt spid="184"/>
                                        </p:tgtEl>
                                        <p:attrNameLst>
                                          <p:attrName>style.visibility</p:attrName>
                                        </p:attrNameLst>
                                      </p:cBhvr>
                                      <p:tavLst>
                                        <p:tav tm="0">
                                          <p:val>
                                            <p:strVal val="hidden"/>
                                          </p:val>
                                        </p:tav>
                                        <p:tav tm="50000">
                                          <p:val>
                                            <p:strVal val="visible"/>
                                          </p:val>
                                        </p:tav>
                                      </p:tavLst>
                                    </p:anim>
                                  </p:childTnLst>
                                </p:cTn>
                              </p:par>
                            </p:childTnLst>
                          </p:cTn>
                        </p:par>
                        <p:par>
                          <p:cTn id="22" fill="hold">
                            <p:stCondLst>
                              <p:cond delay="4000"/>
                            </p:stCondLst>
                            <p:childTnLst>
                              <p:par>
                                <p:cTn id="23" presetID="10" presetClass="entr" presetSubtype="0" fill="hold" grpId="0" nodeType="afterEffect">
                                  <p:stCondLst>
                                    <p:cond delay="0"/>
                                  </p:stCondLst>
                                  <p:childTnLst>
                                    <p:set>
                                      <p:cBhvr>
                                        <p:cTn id="24" dur="1" fill="hold">
                                          <p:stCondLst>
                                            <p:cond delay="0"/>
                                          </p:stCondLst>
                                        </p:cTn>
                                        <p:tgtEl>
                                          <p:spTgt spid="5"/>
                                        </p:tgtEl>
                                        <p:attrNameLst>
                                          <p:attrName>style.visibility</p:attrName>
                                        </p:attrNameLst>
                                      </p:cBhvr>
                                      <p:to>
                                        <p:strVal val="visible"/>
                                      </p:to>
                                    </p:set>
                                    <p:animEffect transition="in" filter="fade">
                                      <p:cBhvr>
                                        <p:cTn id="2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19908"/>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45144" y="630673"/>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5" y="580697"/>
            <a:ext cx="7556684" cy="400110"/>
          </a:xfrm>
          <a:prstGeom prst="rect">
            <a:avLst/>
          </a:prstGeom>
        </p:spPr>
        <p:txBody>
          <a:bodyPr wrap="none">
            <a:spAutoFit/>
          </a:bodyPr>
          <a:lstStyle/>
          <a:p>
            <a:r>
              <a:rPr lang="en-US" altLang="zh-CN" sz="2000" b="1" dirty="0">
                <a:latin typeface="微软雅黑" pitchFamily="34" charset="-122"/>
                <a:ea typeface="微软雅黑" pitchFamily="34" charset="-122"/>
              </a:rPr>
              <a:t>OSPF </a:t>
            </a:r>
            <a:r>
              <a:rPr lang="zh-CN" altLang="en-US" sz="2000" b="1" dirty="0">
                <a:latin typeface="微软雅黑" pitchFamily="34" charset="-122"/>
                <a:ea typeface="微软雅黑" pitchFamily="34" charset="-122"/>
              </a:rPr>
              <a:t>中的路由器：区域边界路由器 </a:t>
            </a:r>
            <a:r>
              <a:rPr lang="en-US" altLang="zh-CN" sz="2000" b="1" dirty="0">
                <a:solidFill>
                  <a:srgbClr val="0000FF"/>
                </a:solidFill>
                <a:latin typeface="微软雅黑" pitchFamily="34" charset="-122"/>
                <a:ea typeface="微软雅黑" pitchFamily="34" charset="-122"/>
              </a:rPr>
              <a:t>ABR</a:t>
            </a:r>
            <a:r>
              <a:rPr lang="en-US" altLang="zh-CN" sz="2000" b="1" dirty="0">
                <a:latin typeface="微软雅黑" pitchFamily="34" charset="-122"/>
                <a:ea typeface="微软雅黑" pitchFamily="34" charset="-122"/>
              </a:rPr>
              <a:t> (area border router)</a:t>
            </a:r>
            <a:endParaRPr lang="zh-CN" altLang="en-US" sz="2000" b="1" dirty="0">
              <a:latin typeface="微软雅黑" pitchFamily="34" charset="-122"/>
              <a:ea typeface="微软雅黑" pitchFamily="34" charset="-122"/>
            </a:endParaRPr>
          </a:p>
        </p:txBody>
      </p:sp>
      <p:sp>
        <p:nvSpPr>
          <p:cNvPr id="5" name="AutoShape 3"/>
          <p:cNvSpPr>
            <a:spLocks noChangeArrowheads="1"/>
          </p:cNvSpPr>
          <p:nvPr/>
        </p:nvSpPr>
        <p:spPr bwMode="auto">
          <a:xfrm>
            <a:off x="1018636" y="1403100"/>
            <a:ext cx="7086532" cy="2764456"/>
          </a:xfrm>
          <a:prstGeom prst="roundRect">
            <a:avLst>
              <a:gd name="adj" fmla="val 16667"/>
            </a:avLst>
          </a:prstGeom>
          <a:solidFill>
            <a:schemeClr val="bg1"/>
          </a:solidFill>
          <a:ln w="12700">
            <a:solidFill>
              <a:srgbClr val="00B0F0"/>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grpSp>
        <p:nvGrpSpPr>
          <p:cNvPr id="7" name="组合 6"/>
          <p:cNvGrpSpPr/>
          <p:nvPr/>
        </p:nvGrpSpPr>
        <p:grpSpPr>
          <a:xfrm>
            <a:off x="1101155" y="1773412"/>
            <a:ext cx="2532718" cy="2064420"/>
            <a:chOff x="1101155" y="1773412"/>
            <a:chExt cx="2532718" cy="2064420"/>
          </a:xfrm>
        </p:grpSpPr>
        <p:sp>
          <p:nvSpPr>
            <p:cNvPr id="8" name="Oval 7"/>
            <p:cNvSpPr>
              <a:spLocks noChangeArrowheads="1"/>
            </p:cNvSpPr>
            <p:nvPr/>
          </p:nvSpPr>
          <p:spPr bwMode="auto">
            <a:xfrm>
              <a:off x="1101155" y="1773412"/>
              <a:ext cx="2532718" cy="1776564"/>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9" name="Text Box 9"/>
            <p:cNvSpPr txBox="1">
              <a:spLocks noChangeArrowheads="1"/>
            </p:cNvSpPr>
            <p:nvPr/>
          </p:nvSpPr>
          <p:spPr bwMode="auto">
            <a:xfrm>
              <a:off x="1812343" y="3530055"/>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0.0.0.1</a:t>
              </a:r>
            </a:p>
          </p:txBody>
        </p:sp>
      </p:grpSp>
      <p:grpSp>
        <p:nvGrpSpPr>
          <p:cNvPr id="10" name="组合 9"/>
          <p:cNvGrpSpPr/>
          <p:nvPr/>
        </p:nvGrpSpPr>
        <p:grpSpPr>
          <a:xfrm>
            <a:off x="6095497" y="1773412"/>
            <a:ext cx="1923343" cy="2117154"/>
            <a:chOff x="6095497" y="1773412"/>
            <a:chExt cx="1923343" cy="2117154"/>
          </a:xfrm>
        </p:grpSpPr>
        <p:sp>
          <p:nvSpPr>
            <p:cNvPr id="11" name="Oval 8"/>
            <p:cNvSpPr>
              <a:spLocks noChangeArrowheads="1"/>
            </p:cNvSpPr>
            <p:nvPr/>
          </p:nvSpPr>
          <p:spPr bwMode="auto">
            <a:xfrm>
              <a:off x="6095497" y="1773412"/>
              <a:ext cx="1923343" cy="1776564"/>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12" name="Text Box 10"/>
            <p:cNvSpPr txBox="1">
              <a:spLocks noChangeArrowheads="1"/>
            </p:cNvSpPr>
            <p:nvPr/>
          </p:nvSpPr>
          <p:spPr bwMode="auto">
            <a:xfrm>
              <a:off x="6496859" y="3582789"/>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0.0.0.3</a:t>
              </a:r>
            </a:p>
          </p:txBody>
        </p:sp>
      </p:grpSp>
      <p:grpSp>
        <p:nvGrpSpPr>
          <p:cNvPr id="13" name="组合 12"/>
          <p:cNvGrpSpPr/>
          <p:nvPr/>
        </p:nvGrpSpPr>
        <p:grpSpPr>
          <a:xfrm>
            <a:off x="3720201" y="1518807"/>
            <a:ext cx="2314358" cy="1421794"/>
            <a:chOff x="3720201" y="1518807"/>
            <a:chExt cx="2314358" cy="1421794"/>
          </a:xfrm>
        </p:grpSpPr>
        <p:sp>
          <p:nvSpPr>
            <p:cNvPr id="14" name="Oval 6"/>
            <p:cNvSpPr>
              <a:spLocks noChangeArrowheads="1"/>
            </p:cNvSpPr>
            <p:nvPr/>
          </p:nvSpPr>
          <p:spPr bwMode="auto">
            <a:xfrm>
              <a:off x="3720201" y="1824975"/>
              <a:ext cx="2314358" cy="1115626"/>
            </a:xfrm>
            <a:prstGeom prst="ellipse">
              <a:avLst/>
            </a:prstGeom>
            <a:solidFill>
              <a:srgbClr val="FFCCFF"/>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15" name="Text Box 11"/>
            <p:cNvSpPr txBox="1">
              <a:spLocks noChangeArrowheads="1"/>
            </p:cNvSpPr>
            <p:nvPr/>
          </p:nvSpPr>
          <p:spPr bwMode="auto">
            <a:xfrm>
              <a:off x="3722740" y="1518807"/>
              <a:ext cx="155202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00000"/>
                  </a:solidFill>
                  <a:latin typeface="微软雅黑" pitchFamily="34" charset="-122"/>
                  <a:ea typeface="微软雅黑" pitchFamily="34" charset="-122"/>
                </a:rPr>
                <a:t>主干区域 </a:t>
              </a:r>
              <a:r>
                <a:rPr kumimoji="1" lang="en-US" altLang="zh-CN" sz="1400" b="1" dirty="0">
                  <a:solidFill>
                    <a:srgbClr val="C00000"/>
                  </a:solidFill>
                  <a:latin typeface="微软雅黑" pitchFamily="34" charset="-122"/>
                  <a:ea typeface="微软雅黑" pitchFamily="34" charset="-122"/>
                </a:rPr>
                <a:t>0.0.0.0</a:t>
              </a:r>
            </a:p>
          </p:txBody>
        </p:sp>
      </p:grpSp>
      <p:sp>
        <p:nvSpPr>
          <p:cNvPr id="16" name="Line 12"/>
          <p:cNvSpPr>
            <a:spLocks noChangeShapeType="1"/>
          </p:cNvSpPr>
          <p:nvPr/>
        </p:nvSpPr>
        <p:spPr bwMode="auto">
          <a:xfrm flipV="1">
            <a:off x="4878015" y="1317554"/>
            <a:ext cx="851856" cy="710157"/>
          </a:xfrm>
          <a:prstGeom prst="line">
            <a:avLst/>
          </a:prstGeom>
          <a:noFill/>
          <a:ln w="38100">
            <a:solidFill>
              <a:srgbClr val="CC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7" name="Text Box 13"/>
          <p:cNvSpPr txBox="1">
            <a:spLocks noChangeArrowheads="1"/>
          </p:cNvSpPr>
          <p:nvPr/>
        </p:nvSpPr>
        <p:spPr bwMode="auto">
          <a:xfrm>
            <a:off x="5115298" y="1055076"/>
            <a:ext cx="144142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C00CC"/>
                </a:solidFill>
                <a:latin typeface="微软雅黑" pitchFamily="34" charset="-122"/>
                <a:ea typeface="微软雅黑" pitchFamily="34" charset="-122"/>
              </a:rPr>
              <a:t>至其他自治系统</a:t>
            </a:r>
          </a:p>
        </p:txBody>
      </p:sp>
      <p:sp>
        <p:nvSpPr>
          <p:cNvPr id="18" name="Line 14"/>
          <p:cNvSpPr>
            <a:spLocks noChangeShapeType="1"/>
          </p:cNvSpPr>
          <p:nvPr/>
        </p:nvSpPr>
        <p:spPr bwMode="auto">
          <a:xfrm>
            <a:off x="6095496" y="2433179"/>
            <a:ext cx="670313" cy="20156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9" name="Line 15"/>
          <p:cNvSpPr>
            <a:spLocks noChangeShapeType="1"/>
          </p:cNvSpPr>
          <p:nvPr/>
        </p:nvSpPr>
        <p:spPr bwMode="auto">
          <a:xfrm flipV="1">
            <a:off x="6887685" y="2585524"/>
            <a:ext cx="608107" cy="100781"/>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0" name="Line 16"/>
          <p:cNvSpPr>
            <a:spLocks noChangeShapeType="1"/>
          </p:cNvSpPr>
          <p:nvPr/>
        </p:nvSpPr>
        <p:spPr bwMode="auto">
          <a:xfrm>
            <a:off x="7192373" y="2078100"/>
            <a:ext cx="303419" cy="50742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1" name="Line 17"/>
          <p:cNvSpPr>
            <a:spLocks noChangeShapeType="1"/>
          </p:cNvSpPr>
          <p:nvPr/>
        </p:nvSpPr>
        <p:spPr bwMode="auto">
          <a:xfrm flipH="1">
            <a:off x="7130166" y="2634743"/>
            <a:ext cx="365625" cy="55898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2" name="Line 18"/>
          <p:cNvSpPr>
            <a:spLocks noChangeShapeType="1"/>
          </p:cNvSpPr>
          <p:nvPr/>
        </p:nvSpPr>
        <p:spPr bwMode="auto">
          <a:xfrm flipV="1">
            <a:off x="5181433" y="2433179"/>
            <a:ext cx="790920" cy="10195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3" name="Line 19"/>
          <p:cNvSpPr>
            <a:spLocks noChangeShapeType="1"/>
          </p:cNvSpPr>
          <p:nvPr/>
        </p:nvSpPr>
        <p:spPr bwMode="auto">
          <a:xfrm>
            <a:off x="4938953" y="2027710"/>
            <a:ext cx="120605" cy="455860"/>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4" name="Line 20"/>
          <p:cNvSpPr>
            <a:spLocks noChangeShapeType="1"/>
          </p:cNvSpPr>
          <p:nvPr/>
        </p:nvSpPr>
        <p:spPr bwMode="auto">
          <a:xfrm flipH="1">
            <a:off x="4878015" y="2585523"/>
            <a:ext cx="181543" cy="35507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5" name="Line 21"/>
          <p:cNvSpPr>
            <a:spLocks noChangeShapeType="1"/>
          </p:cNvSpPr>
          <p:nvPr/>
        </p:nvSpPr>
        <p:spPr bwMode="auto">
          <a:xfrm>
            <a:off x="3598326" y="2332398"/>
            <a:ext cx="1279689" cy="202734"/>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6" name="Line 22"/>
          <p:cNvSpPr>
            <a:spLocks noChangeShapeType="1"/>
          </p:cNvSpPr>
          <p:nvPr/>
        </p:nvSpPr>
        <p:spPr bwMode="auto">
          <a:xfrm flipV="1">
            <a:off x="3659264" y="2078100"/>
            <a:ext cx="1157814" cy="25429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7" name="Line 23"/>
          <p:cNvSpPr>
            <a:spLocks noChangeShapeType="1"/>
          </p:cNvSpPr>
          <p:nvPr/>
        </p:nvSpPr>
        <p:spPr bwMode="auto">
          <a:xfrm flipH="1">
            <a:off x="1710530" y="2078100"/>
            <a:ext cx="912795" cy="25429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8" name="Line 24"/>
          <p:cNvSpPr>
            <a:spLocks noChangeShapeType="1"/>
          </p:cNvSpPr>
          <p:nvPr/>
        </p:nvSpPr>
        <p:spPr bwMode="auto">
          <a:xfrm>
            <a:off x="2623325" y="2127319"/>
            <a:ext cx="366894" cy="55898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9" name="Line 25"/>
          <p:cNvSpPr>
            <a:spLocks noChangeShapeType="1"/>
          </p:cNvSpPr>
          <p:nvPr/>
        </p:nvSpPr>
        <p:spPr bwMode="auto">
          <a:xfrm flipV="1">
            <a:off x="3049888" y="2381617"/>
            <a:ext cx="548438" cy="3046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0" name="Line 26"/>
          <p:cNvSpPr>
            <a:spLocks noChangeShapeType="1"/>
          </p:cNvSpPr>
          <p:nvPr/>
        </p:nvSpPr>
        <p:spPr bwMode="auto">
          <a:xfrm flipH="1">
            <a:off x="2135824" y="2737867"/>
            <a:ext cx="793457" cy="10195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1" name="Line 27"/>
          <p:cNvSpPr>
            <a:spLocks noChangeShapeType="1"/>
          </p:cNvSpPr>
          <p:nvPr/>
        </p:nvSpPr>
        <p:spPr bwMode="auto">
          <a:xfrm>
            <a:off x="2135824" y="2889039"/>
            <a:ext cx="305957" cy="3046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32" name="Group 28"/>
          <p:cNvGrpSpPr>
            <a:grpSpLocks/>
          </p:cNvGrpSpPr>
          <p:nvPr/>
        </p:nvGrpSpPr>
        <p:grpSpPr bwMode="auto">
          <a:xfrm>
            <a:off x="2745200" y="2535133"/>
            <a:ext cx="548438" cy="353907"/>
            <a:chOff x="2949" y="196"/>
            <a:chExt cx="941" cy="598"/>
          </a:xfrm>
          <a:solidFill>
            <a:srgbClr val="00FFFF"/>
          </a:solidFill>
        </p:grpSpPr>
        <p:sp>
          <p:nvSpPr>
            <p:cNvPr id="33" name="Oval 29"/>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4" name="Oval 30"/>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5" name="Oval 31"/>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6" name="Oval 32"/>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7" name="Oval 33"/>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8" name="Oval 34"/>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9" name="Oval 35"/>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0" name="Oval 36"/>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1" name="Freeform 3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2" name="Freeform 3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3" name="Freeform 3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pic>
        <p:nvPicPr>
          <p:cNvPr id="44" name="Picture 4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832405" y="2737868"/>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5" name="Picture 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380844" y="1976147"/>
            <a:ext cx="416407" cy="2332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6" name="Picture 4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415513" y="2230444"/>
            <a:ext cx="41513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7" name="Picture 4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693932" y="1925757"/>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8" name="Picture 4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878015" y="2433179"/>
            <a:ext cx="41513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9" name="Picture 4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314248" y="2483570"/>
            <a:ext cx="415137" cy="2332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0" name="Picture 4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851747" y="2332398"/>
            <a:ext cx="415137" cy="2308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1" name="Group 47"/>
          <p:cNvGrpSpPr>
            <a:grpSpLocks/>
          </p:cNvGrpSpPr>
          <p:nvPr/>
        </p:nvGrpSpPr>
        <p:grpSpPr bwMode="auto">
          <a:xfrm>
            <a:off x="2196762" y="3042556"/>
            <a:ext cx="548438" cy="353907"/>
            <a:chOff x="2949" y="196"/>
            <a:chExt cx="941" cy="598"/>
          </a:xfrm>
          <a:solidFill>
            <a:srgbClr val="00FFFF"/>
          </a:solidFill>
        </p:grpSpPr>
        <p:sp>
          <p:nvSpPr>
            <p:cNvPr id="52" name="Oval 48"/>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3" name="Oval 49"/>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4" name="Oval 50"/>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5" name="Oval 51"/>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6" name="Oval 52"/>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7" name="Oval 53"/>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8" name="Oval 54"/>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9" name="Oval 55"/>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0" name="Freeform 56"/>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61" name="Freeform 57"/>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62" name="Freeform 58"/>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63" name="Group 59"/>
          <p:cNvGrpSpPr>
            <a:grpSpLocks/>
          </p:cNvGrpSpPr>
          <p:nvPr/>
        </p:nvGrpSpPr>
        <p:grpSpPr bwMode="auto">
          <a:xfrm>
            <a:off x="1466780" y="2178882"/>
            <a:ext cx="548438" cy="356250"/>
            <a:chOff x="2949" y="196"/>
            <a:chExt cx="941" cy="598"/>
          </a:xfrm>
          <a:solidFill>
            <a:srgbClr val="00FFFF"/>
          </a:solidFill>
        </p:grpSpPr>
        <p:sp>
          <p:nvSpPr>
            <p:cNvPr id="64" name="Oval 60"/>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5" name="Oval 61"/>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6" name="Oval 62"/>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7" name="Oval 63"/>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8" name="Oval 64"/>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9" name="Oval 65"/>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0" name="Oval 66"/>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1" name="Oval 67"/>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2" name="Freeform 6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3" name="Freeform 6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4" name="Freeform 7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75" name="Group 71"/>
          <p:cNvGrpSpPr>
            <a:grpSpLocks/>
          </p:cNvGrpSpPr>
          <p:nvPr/>
        </p:nvGrpSpPr>
        <p:grpSpPr bwMode="auto">
          <a:xfrm>
            <a:off x="6887685" y="1875366"/>
            <a:ext cx="547169" cy="355078"/>
            <a:chOff x="2949" y="196"/>
            <a:chExt cx="941" cy="598"/>
          </a:xfrm>
          <a:solidFill>
            <a:srgbClr val="00FFFF"/>
          </a:solidFill>
        </p:grpSpPr>
        <p:sp>
          <p:nvSpPr>
            <p:cNvPr id="76" name="Oval 72"/>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7" name="Oval 73"/>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8" name="Oval 74"/>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9" name="Oval 75"/>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0" name="Oval 76"/>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1" name="Oval 77"/>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2" name="Oval 78"/>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3" name="Oval 79"/>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4" name="Freeform 80"/>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5" name="Freeform 81"/>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6" name="Freeform 82"/>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87" name="Group 83"/>
          <p:cNvGrpSpPr>
            <a:grpSpLocks/>
          </p:cNvGrpSpPr>
          <p:nvPr/>
        </p:nvGrpSpPr>
        <p:grpSpPr bwMode="auto">
          <a:xfrm>
            <a:off x="6826747" y="3042556"/>
            <a:ext cx="548438" cy="353907"/>
            <a:chOff x="2949" y="196"/>
            <a:chExt cx="941" cy="598"/>
          </a:xfrm>
          <a:solidFill>
            <a:srgbClr val="00FFFF"/>
          </a:solidFill>
        </p:grpSpPr>
        <p:sp>
          <p:nvSpPr>
            <p:cNvPr id="88" name="Oval 84"/>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9" name="Oval 85"/>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0" name="Oval 86"/>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1" name="Oval 87"/>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2" name="Oval 88"/>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3" name="Oval 89"/>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4" name="Oval 90"/>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5" name="Oval 91"/>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6" name="Freeform 92"/>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7" name="Freeform 93"/>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8" name="Freeform 94"/>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99" name="Group 95"/>
          <p:cNvGrpSpPr>
            <a:grpSpLocks/>
          </p:cNvGrpSpPr>
          <p:nvPr/>
        </p:nvGrpSpPr>
        <p:grpSpPr bwMode="auto">
          <a:xfrm>
            <a:off x="6520790" y="2483569"/>
            <a:ext cx="548438" cy="356250"/>
            <a:chOff x="2949" y="196"/>
            <a:chExt cx="941" cy="598"/>
          </a:xfrm>
          <a:solidFill>
            <a:srgbClr val="00FFFF"/>
          </a:solidFill>
        </p:grpSpPr>
        <p:sp>
          <p:nvSpPr>
            <p:cNvPr id="100" name="Oval 96"/>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1" name="Oval 97"/>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2" name="Oval 98"/>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3" name="Oval 99"/>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4" name="Oval 100"/>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5" name="Oval 101"/>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6" name="Oval 102"/>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7" name="Oval 103"/>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8" name="Freeform 10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09" name="Freeform 10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0" name="Freeform 10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11" name="Text Box 107"/>
          <p:cNvSpPr txBox="1">
            <a:spLocks noChangeArrowheads="1"/>
          </p:cNvSpPr>
          <p:nvPr/>
        </p:nvSpPr>
        <p:spPr bwMode="auto">
          <a:xfrm>
            <a:off x="7527530" y="2212867"/>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9</a:t>
            </a:r>
          </a:p>
        </p:txBody>
      </p:sp>
      <p:grpSp>
        <p:nvGrpSpPr>
          <p:cNvPr id="160" name="组合 159"/>
          <p:cNvGrpSpPr/>
          <p:nvPr/>
        </p:nvGrpSpPr>
        <p:grpSpPr>
          <a:xfrm>
            <a:off x="3421861" y="1933961"/>
            <a:ext cx="2567034" cy="953480"/>
            <a:chOff x="3421861" y="1933961"/>
            <a:chExt cx="2567034" cy="953480"/>
          </a:xfrm>
        </p:grpSpPr>
        <p:sp>
          <p:nvSpPr>
            <p:cNvPr id="112" name="Text Box 108"/>
            <p:cNvSpPr txBox="1">
              <a:spLocks noChangeArrowheads="1"/>
            </p:cNvSpPr>
            <p:nvPr/>
          </p:nvSpPr>
          <p:spPr bwMode="auto">
            <a:xfrm>
              <a:off x="5605457" y="2078101"/>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CC00CC"/>
                  </a:solidFill>
                  <a:latin typeface="微软雅黑" pitchFamily="34" charset="-122"/>
                  <a:ea typeface="微软雅黑" pitchFamily="34" charset="-122"/>
                </a:rPr>
                <a:t>R</a:t>
              </a:r>
              <a:r>
                <a:rPr kumimoji="1" lang="en-US" altLang="zh-CN" sz="1400" b="1" baseline="-25000">
                  <a:solidFill>
                    <a:srgbClr val="CC00CC"/>
                  </a:solidFill>
                  <a:latin typeface="微软雅黑" pitchFamily="34" charset="-122"/>
                  <a:ea typeface="微软雅黑" pitchFamily="34" charset="-122"/>
                </a:rPr>
                <a:t>7</a:t>
              </a:r>
            </a:p>
          </p:txBody>
        </p:sp>
        <p:sp>
          <p:nvSpPr>
            <p:cNvPr id="115" name="Text Box 111"/>
            <p:cNvSpPr txBox="1">
              <a:spLocks noChangeArrowheads="1"/>
            </p:cNvSpPr>
            <p:nvPr/>
          </p:nvSpPr>
          <p:spPr bwMode="auto">
            <a:xfrm>
              <a:off x="4432409" y="2579664"/>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CC00CC"/>
                  </a:solidFill>
                  <a:latin typeface="微软雅黑" pitchFamily="34" charset="-122"/>
                  <a:ea typeface="微软雅黑" pitchFamily="34" charset="-122"/>
                </a:rPr>
                <a:t>R</a:t>
              </a:r>
              <a:r>
                <a:rPr kumimoji="1" lang="en-US" altLang="zh-CN" sz="1400" b="1" baseline="-25000">
                  <a:solidFill>
                    <a:srgbClr val="CC00CC"/>
                  </a:solidFill>
                  <a:latin typeface="微软雅黑" pitchFamily="34" charset="-122"/>
                  <a:ea typeface="微软雅黑" pitchFamily="34" charset="-122"/>
                </a:rPr>
                <a:t>4</a:t>
              </a:r>
            </a:p>
          </p:txBody>
        </p:sp>
        <p:sp>
          <p:nvSpPr>
            <p:cNvPr id="116" name="Text Box 112"/>
            <p:cNvSpPr txBox="1">
              <a:spLocks noChangeArrowheads="1"/>
            </p:cNvSpPr>
            <p:nvPr/>
          </p:nvSpPr>
          <p:spPr bwMode="auto">
            <a:xfrm>
              <a:off x="3421861" y="1933961"/>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CC00CC"/>
                  </a:solidFill>
                  <a:latin typeface="微软雅黑" pitchFamily="34" charset="-122"/>
                  <a:ea typeface="微软雅黑" pitchFamily="34" charset="-122"/>
                </a:rPr>
                <a:t>R</a:t>
              </a:r>
              <a:r>
                <a:rPr kumimoji="1" lang="en-US" altLang="zh-CN" sz="1400" b="1" baseline="-25000" dirty="0">
                  <a:solidFill>
                    <a:srgbClr val="CC00CC"/>
                  </a:solidFill>
                  <a:latin typeface="微软雅黑" pitchFamily="34" charset="-122"/>
                  <a:ea typeface="微软雅黑" pitchFamily="34" charset="-122"/>
                </a:rPr>
                <a:t>3</a:t>
              </a:r>
            </a:p>
          </p:txBody>
        </p:sp>
      </p:grpSp>
      <p:sp>
        <p:nvSpPr>
          <p:cNvPr id="117" name="Text Box 113"/>
          <p:cNvSpPr txBox="1">
            <a:spLocks noChangeArrowheads="1"/>
          </p:cNvSpPr>
          <p:nvPr/>
        </p:nvSpPr>
        <p:spPr bwMode="auto">
          <a:xfrm>
            <a:off x="1525179" y="2648805"/>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2</a:t>
            </a:r>
          </a:p>
        </p:txBody>
      </p:sp>
      <p:sp>
        <p:nvSpPr>
          <p:cNvPr id="118" name="Text Box 114"/>
          <p:cNvSpPr txBox="1">
            <a:spLocks noChangeArrowheads="1"/>
          </p:cNvSpPr>
          <p:nvPr/>
        </p:nvSpPr>
        <p:spPr bwMode="auto">
          <a:xfrm>
            <a:off x="2107895" y="1764038"/>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1</a:t>
            </a:r>
          </a:p>
        </p:txBody>
      </p:sp>
      <p:grpSp>
        <p:nvGrpSpPr>
          <p:cNvPr id="119" name="组合 118"/>
          <p:cNvGrpSpPr/>
          <p:nvPr/>
        </p:nvGrpSpPr>
        <p:grpSpPr>
          <a:xfrm>
            <a:off x="3598326" y="3003883"/>
            <a:ext cx="2497171" cy="1046059"/>
            <a:chOff x="3598326" y="3003883"/>
            <a:chExt cx="2497171" cy="1046059"/>
          </a:xfrm>
        </p:grpSpPr>
        <p:sp>
          <p:nvSpPr>
            <p:cNvPr id="120" name="Oval 121"/>
            <p:cNvSpPr>
              <a:spLocks noChangeArrowheads="1"/>
            </p:cNvSpPr>
            <p:nvPr/>
          </p:nvSpPr>
          <p:spPr bwMode="auto">
            <a:xfrm>
              <a:off x="3598326" y="3003883"/>
              <a:ext cx="2497171" cy="767579"/>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121" name="Text Box 122"/>
            <p:cNvSpPr txBox="1">
              <a:spLocks noChangeArrowheads="1"/>
            </p:cNvSpPr>
            <p:nvPr/>
          </p:nvSpPr>
          <p:spPr bwMode="auto">
            <a:xfrm>
              <a:off x="4305485" y="3742165"/>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0.0.0.2</a:t>
              </a:r>
            </a:p>
          </p:txBody>
        </p:sp>
      </p:grpSp>
      <p:sp>
        <p:nvSpPr>
          <p:cNvPr id="122" name="Line 123"/>
          <p:cNvSpPr>
            <a:spLocks noChangeShapeType="1"/>
          </p:cNvSpPr>
          <p:nvPr/>
        </p:nvSpPr>
        <p:spPr bwMode="auto">
          <a:xfrm>
            <a:off x="4817078" y="2940601"/>
            <a:ext cx="729981" cy="38437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3" name="Line 124"/>
          <p:cNvSpPr>
            <a:spLocks noChangeShapeType="1"/>
          </p:cNvSpPr>
          <p:nvPr/>
        </p:nvSpPr>
        <p:spPr bwMode="auto">
          <a:xfrm flipV="1">
            <a:off x="4938953" y="3388258"/>
            <a:ext cx="669044" cy="1921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124" name="Group 125"/>
          <p:cNvGrpSpPr>
            <a:grpSpLocks/>
          </p:cNvGrpSpPr>
          <p:nvPr/>
        </p:nvGrpSpPr>
        <p:grpSpPr bwMode="auto">
          <a:xfrm>
            <a:off x="5365516" y="3131617"/>
            <a:ext cx="547168" cy="448828"/>
            <a:chOff x="2949" y="196"/>
            <a:chExt cx="941" cy="598"/>
          </a:xfrm>
          <a:solidFill>
            <a:srgbClr val="00FFFF"/>
          </a:solidFill>
        </p:grpSpPr>
        <p:sp>
          <p:nvSpPr>
            <p:cNvPr id="125" name="Oval 126"/>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6" name="Oval 127"/>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7" name="Oval 128"/>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8" name="Oval 129"/>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9" name="Oval 130"/>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30" name="Oval 131"/>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31" name="Oval 132"/>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32" name="Oval 133"/>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33" name="Freeform 13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4" name="Freeform 13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5" name="Freeform 13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36" name="Line 138"/>
          <p:cNvSpPr>
            <a:spLocks noChangeShapeType="1"/>
          </p:cNvSpPr>
          <p:nvPr/>
        </p:nvSpPr>
        <p:spPr bwMode="auto">
          <a:xfrm>
            <a:off x="4084557" y="3450368"/>
            <a:ext cx="732521" cy="13007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137" name="Group 139"/>
          <p:cNvGrpSpPr>
            <a:grpSpLocks/>
          </p:cNvGrpSpPr>
          <p:nvPr/>
        </p:nvGrpSpPr>
        <p:grpSpPr bwMode="auto">
          <a:xfrm>
            <a:off x="3842076" y="3194899"/>
            <a:ext cx="548438" cy="448828"/>
            <a:chOff x="2949" y="196"/>
            <a:chExt cx="941" cy="598"/>
          </a:xfrm>
          <a:solidFill>
            <a:srgbClr val="00FFFF"/>
          </a:solidFill>
        </p:grpSpPr>
        <p:sp>
          <p:nvSpPr>
            <p:cNvPr id="138" name="Oval 140"/>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39" name="Oval 141"/>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0" name="Oval 142"/>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1" name="Oval 143"/>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2" name="Oval 144"/>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3" name="Oval 145"/>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4" name="Oval 146"/>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5" name="Oval 147"/>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6" name="Freeform 14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7" name="Freeform 14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8" name="Freeform 15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pic>
        <p:nvPicPr>
          <p:cNvPr id="149" name="Picture 15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693932" y="3415211"/>
            <a:ext cx="416407" cy="2941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50" name="Text Box 153"/>
          <p:cNvSpPr txBox="1">
            <a:spLocks noChangeArrowheads="1"/>
          </p:cNvSpPr>
          <p:nvPr/>
        </p:nvSpPr>
        <p:spPr bwMode="auto">
          <a:xfrm>
            <a:off x="4459070" y="3184351"/>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8</a:t>
            </a:r>
          </a:p>
        </p:txBody>
      </p:sp>
      <p:pic>
        <p:nvPicPr>
          <p:cNvPr id="151" name="Picture 15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643151" y="2842164"/>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52" name="Text Box 115"/>
          <p:cNvSpPr txBox="1">
            <a:spLocks noChangeArrowheads="1"/>
          </p:cNvSpPr>
          <p:nvPr/>
        </p:nvSpPr>
        <p:spPr bwMode="auto">
          <a:xfrm>
            <a:off x="6861812" y="3068342"/>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8</a:t>
            </a:r>
          </a:p>
        </p:txBody>
      </p:sp>
      <p:sp>
        <p:nvSpPr>
          <p:cNvPr id="153" name="Text Box 116"/>
          <p:cNvSpPr txBox="1">
            <a:spLocks noChangeArrowheads="1"/>
          </p:cNvSpPr>
          <p:nvPr/>
        </p:nvSpPr>
        <p:spPr bwMode="auto">
          <a:xfrm>
            <a:off x="6915228" y="1904669"/>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6</a:t>
            </a:r>
          </a:p>
        </p:txBody>
      </p:sp>
      <p:sp>
        <p:nvSpPr>
          <p:cNvPr id="154" name="Text Box 117"/>
          <p:cNvSpPr txBox="1">
            <a:spLocks noChangeArrowheads="1"/>
          </p:cNvSpPr>
          <p:nvPr/>
        </p:nvSpPr>
        <p:spPr bwMode="auto">
          <a:xfrm>
            <a:off x="2237984" y="3077712"/>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3</a:t>
            </a:r>
          </a:p>
        </p:txBody>
      </p:sp>
      <p:sp>
        <p:nvSpPr>
          <p:cNvPr id="155" name="Text Box 118"/>
          <p:cNvSpPr txBox="1">
            <a:spLocks noChangeArrowheads="1"/>
          </p:cNvSpPr>
          <p:nvPr/>
        </p:nvSpPr>
        <p:spPr bwMode="auto">
          <a:xfrm>
            <a:off x="2789151" y="2555049"/>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2</a:t>
            </a:r>
          </a:p>
        </p:txBody>
      </p:sp>
      <p:sp>
        <p:nvSpPr>
          <p:cNvPr id="156" name="Text Box 119"/>
          <p:cNvSpPr txBox="1">
            <a:spLocks noChangeArrowheads="1"/>
          </p:cNvSpPr>
          <p:nvPr/>
        </p:nvSpPr>
        <p:spPr bwMode="auto">
          <a:xfrm>
            <a:off x="1505747" y="2201148"/>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1</a:t>
            </a:r>
          </a:p>
        </p:txBody>
      </p:sp>
      <p:sp>
        <p:nvSpPr>
          <p:cNvPr id="157" name="Text Box 120"/>
          <p:cNvSpPr txBox="1">
            <a:spLocks noChangeArrowheads="1"/>
          </p:cNvSpPr>
          <p:nvPr/>
        </p:nvSpPr>
        <p:spPr bwMode="auto">
          <a:xfrm>
            <a:off x="6550398" y="2522248"/>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7</a:t>
            </a:r>
          </a:p>
        </p:txBody>
      </p:sp>
      <p:sp>
        <p:nvSpPr>
          <p:cNvPr id="158" name="Text Box 137"/>
          <p:cNvSpPr txBox="1">
            <a:spLocks noChangeArrowheads="1"/>
          </p:cNvSpPr>
          <p:nvPr/>
        </p:nvSpPr>
        <p:spPr bwMode="auto">
          <a:xfrm>
            <a:off x="5407913" y="3218354"/>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4</a:t>
            </a:r>
          </a:p>
        </p:txBody>
      </p:sp>
      <p:sp>
        <p:nvSpPr>
          <p:cNvPr id="159" name="Text Box 151"/>
          <p:cNvSpPr txBox="1">
            <a:spLocks noChangeArrowheads="1"/>
          </p:cNvSpPr>
          <p:nvPr/>
        </p:nvSpPr>
        <p:spPr bwMode="auto">
          <a:xfrm>
            <a:off x="3872858" y="3278102"/>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5</a:t>
            </a:r>
          </a:p>
        </p:txBody>
      </p:sp>
      <p:sp>
        <p:nvSpPr>
          <p:cNvPr id="161" name="Text Box 109"/>
          <p:cNvSpPr txBox="1">
            <a:spLocks noChangeArrowheads="1"/>
          </p:cNvSpPr>
          <p:nvPr/>
        </p:nvSpPr>
        <p:spPr bwMode="auto">
          <a:xfrm>
            <a:off x="5100183" y="1834351"/>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6</a:t>
            </a:r>
          </a:p>
        </p:txBody>
      </p:sp>
      <p:sp>
        <p:nvSpPr>
          <p:cNvPr id="162" name="Text Box 110"/>
          <p:cNvSpPr txBox="1">
            <a:spLocks noChangeArrowheads="1"/>
          </p:cNvSpPr>
          <p:nvPr/>
        </p:nvSpPr>
        <p:spPr bwMode="auto">
          <a:xfrm>
            <a:off x="4643151" y="2168336"/>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5</a:t>
            </a:r>
          </a:p>
        </p:txBody>
      </p:sp>
      <p:sp>
        <p:nvSpPr>
          <p:cNvPr id="163" name="Text Box 4"/>
          <p:cNvSpPr txBox="1">
            <a:spLocks noChangeArrowheads="1"/>
          </p:cNvSpPr>
          <p:nvPr/>
        </p:nvSpPr>
        <p:spPr bwMode="auto">
          <a:xfrm>
            <a:off x="1213446" y="1432832"/>
            <a:ext cx="1197169" cy="3082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自治系统 </a:t>
            </a:r>
            <a:r>
              <a:rPr kumimoji="1" lang="en-US" altLang="zh-CN" sz="1400" b="1" dirty="0">
                <a:latin typeface="微软雅黑" pitchFamily="34" charset="-122"/>
                <a:ea typeface="微软雅黑" pitchFamily="34" charset="-122"/>
              </a:rPr>
              <a:t>AS</a:t>
            </a:r>
          </a:p>
        </p:txBody>
      </p:sp>
    </p:spTree>
    <p:extLst>
      <p:ext uri="{BB962C8B-B14F-4D97-AF65-F5344CB8AC3E}">
        <p14:creationId xmlns:p14="http://schemas.microsoft.com/office/powerpoint/2010/main" val="165415466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5000" fill="hold" nodeType="afterEffect">
                                  <p:stCondLst>
                                    <p:cond delay="0"/>
                                  </p:stCondLst>
                                  <p:childTnLst>
                                    <p:anim calcmode="discrete" valueType="str">
                                      <p:cBhvr>
                                        <p:cTn id="6" dur="1000" fill="hold"/>
                                        <p:tgtEl>
                                          <p:spTgt spid="16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19908"/>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45144" y="630673"/>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5" y="580697"/>
            <a:ext cx="6719468" cy="400110"/>
          </a:xfrm>
          <a:prstGeom prst="rect">
            <a:avLst/>
          </a:prstGeom>
        </p:spPr>
        <p:txBody>
          <a:bodyPr wrap="none">
            <a:spAutoFit/>
          </a:bodyPr>
          <a:lstStyle/>
          <a:p>
            <a:r>
              <a:rPr lang="en-US" altLang="zh-CN" sz="2000" b="1" dirty="0">
                <a:latin typeface="微软雅黑" pitchFamily="34" charset="-122"/>
                <a:ea typeface="微软雅黑" pitchFamily="34" charset="-122"/>
              </a:rPr>
              <a:t>OSPF </a:t>
            </a:r>
            <a:r>
              <a:rPr lang="zh-CN" altLang="en-US" sz="2000" b="1" dirty="0">
                <a:latin typeface="微软雅黑" pitchFamily="34" charset="-122"/>
                <a:ea typeface="微软雅黑" pitchFamily="34" charset="-122"/>
              </a:rPr>
              <a:t>中的路由器：主干路由器 </a:t>
            </a:r>
            <a:r>
              <a:rPr lang="en-US" altLang="zh-CN" sz="2000" b="1" dirty="0">
                <a:solidFill>
                  <a:srgbClr val="0000FF"/>
                </a:solidFill>
                <a:latin typeface="微软雅黑" pitchFamily="34" charset="-122"/>
                <a:ea typeface="微软雅黑" pitchFamily="34" charset="-122"/>
              </a:rPr>
              <a:t>BR</a:t>
            </a:r>
            <a:r>
              <a:rPr lang="en-US" altLang="zh-CN" sz="2000" b="1" dirty="0">
                <a:latin typeface="微软雅黑" pitchFamily="34" charset="-122"/>
                <a:ea typeface="微软雅黑" pitchFamily="34" charset="-122"/>
              </a:rPr>
              <a:t> (backbone router)</a:t>
            </a:r>
            <a:endParaRPr lang="zh-CN" altLang="en-US" sz="2000" b="1" dirty="0">
              <a:latin typeface="微软雅黑" pitchFamily="34" charset="-122"/>
              <a:ea typeface="微软雅黑" pitchFamily="34" charset="-122"/>
            </a:endParaRPr>
          </a:p>
        </p:txBody>
      </p:sp>
      <p:sp>
        <p:nvSpPr>
          <p:cNvPr id="5" name="AutoShape 3"/>
          <p:cNvSpPr>
            <a:spLocks noChangeArrowheads="1"/>
          </p:cNvSpPr>
          <p:nvPr/>
        </p:nvSpPr>
        <p:spPr bwMode="auto">
          <a:xfrm>
            <a:off x="1018636" y="1403100"/>
            <a:ext cx="7086532" cy="2764456"/>
          </a:xfrm>
          <a:prstGeom prst="roundRect">
            <a:avLst>
              <a:gd name="adj" fmla="val 16667"/>
            </a:avLst>
          </a:prstGeom>
          <a:solidFill>
            <a:schemeClr val="bg1"/>
          </a:solidFill>
          <a:ln w="12700">
            <a:solidFill>
              <a:srgbClr val="00B0F0"/>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grpSp>
        <p:nvGrpSpPr>
          <p:cNvPr id="7" name="组合 6"/>
          <p:cNvGrpSpPr/>
          <p:nvPr/>
        </p:nvGrpSpPr>
        <p:grpSpPr>
          <a:xfrm>
            <a:off x="1101155" y="1773412"/>
            <a:ext cx="2532718" cy="2064420"/>
            <a:chOff x="1101155" y="1773412"/>
            <a:chExt cx="2532718" cy="2064420"/>
          </a:xfrm>
        </p:grpSpPr>
        <p:sp>
          <p:nvSpPr>
            <p:cNvPr id="8" name="Oval 7"/>
            <p:cNvSpPr>
              <a:spLocks noChangeArrowheads="1"/>
            </p:cNvSpPr>
            <p:nvPr/>
          </p:nvSpPr>
          <p:spPr bwMode="auto">
            <a:xfrm>
              <a:off x="1101155" y="1773412"/>
              <a:ext cx="2532718" cy="1776564"/>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9" name="Text Box 9"/>
            <p:cNvSpPr txBox="1">
              <a:spLocks noChangeArrowheads="1"/>
            </p:cNvSpPr>
            <p:nvPr/>
          </p:nvSpPr>
          <p:spPr bwMode="auto">
            <a:xfrm>
              <a:off x="1812343" y="3530055"/>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0.0.0.1</a:t>
              </a:r>
            </a:p>
          </p:txBody>
        </p:sp>
      </p:grpSp>
      <p:grpSp>
        <p:nvGrpSpPr>
          <p:cNvPr id="10" name="组合 9"/>
          <p:cNvGrpSpPr/>
          <p:nvPr/>
        </p:nvGrpSpPr>
        <p:grpSpPr>
          <a:xfrm>
            <a:off x="6095497" y="1773412"/>
            <a:ext cx="1923343" cy="2117154"/>
            <a:chOff x="6095497" y="1773412"/>
            <a:chExt cx="1923343" cy="2117154"/>
          </a:xfrm>
        </p:grpSpPr>
        <p:sp>
          <p:nvSpPr>
            <p:cNvPr id="11" name="Oval 8"/>
            <p:cNvSpPr>
              <a:spLocks noChangeArrowheads="1"/>
            </p:cNvSpPr>
            <p:nvPr/>
          </p:nvSpPr>
          <p:spPr bwMode="auto">
            <a:xfrm>
              <a:off x="6095497" y="1773412"/>
              <a:ext cx="1923343" cy="1776564"/>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12" name="Text Box 10"/>
            <p:cNvSpPr txBox="1">
              <a:spLocks noChangeArrowheads="1"/>
            </p:cNvSpPr>
            <p:nvPr/>
          </p:nvSpPr>
          <p:spPr bwMode="auto">
            <a:xfrm>
              <a:off x="6496859" y="3582789"/>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0.0.0.3</a:t>
              </a:r>
            </a:p>
          </p:txBody>
        </p:sp>
      </p:grpSp>
      <p:grpSp>
        <p:nvGrpSpPr>
          <p:cNvPr id="13" name="组合 12"/>
          <p:cNvGrpSpPr/>
          <p:nvPr/>
        </p:nvGrpSpPr>
        <p:grpSpPr>
          <a:xfrm>
            <a:off x="3720201" y="1518807"/>
            <a:ext cx="2314358" cy="1421794"/>
            <a:chOff x="3720201" y="1518807"/>
            <a:chExt cx="2314358" cy="1421794"/>
          </a:xfrm>
        </p:grpSpPr>
        <p:sp>
          <p:nvSpPr>
            <p:cNvPr id="14" name="Oval 6"/>
            <p:cNvSpPr>
              <a:spLocks noChangeArrowheads="1"/>
            </p:cNvSpPr>
            <p:nvPr/>
          </p:nvSpPr>
          <p:spPr bwMode="auto">
            <a:xfrm>
              <a:off x="3720201" y="1824975"/>
              <a:ext cx="2314358" cy="1115626"/>
            </a:xfrm>
            <a:prstGeom prst="ellipse">
              <a:avLst/>
            </a:prstGeom>
            <a:solidFill>
              <a:srgbClr val="FFCCFF"/>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15" name="Text Box 11"/>
            <p:cNvSpPr txBox="1">
              <a:spLocks noChangeArrowheads="1"/>
            </p:cNvSpPr>
            <p:nvPr/>
          </p:nvSpPr>
          <p:spPr bwMode="auto">
            <a:xfrm>
              <a:off x="3722740" y="1518807"/>
              <a:ext cx="155202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00000"/>
                  </a:solidFill>
                  <a:latin typeface="微软雅黑" pitchFamily="34" charset="-122"/>
                  <a:ea typeface="微软雅黑" pitchFamily="34" charset="-122"/>
                </a:rPr>
                <a:t>主干区域 </a:t>
              </a:r>
              <a:r>
                <a:rPr kumimoji="1" lang="en-US" altLang="zh-CN" sz="1400" b="1" dirty="0">
                  <a:solidFill>
                    <a:srgbClr val="C00000"/>
                  </a:solidFill>
                  <a:latin typeface="微软雅黑" pitchFamily="34" charset="-122"/>
                  <a:ea typeface="微软雅黑" pitchFamily="34" charset="-122"/>
                </a:rPr>
                <a:t>0.0.0.0</a:t>
              </a:r>
            </a:p>
          </p:txBody>
        </p:sp>
      </p:grpSp>
      <p:sp>
        <p:nvSpPr>
          <p:cNvPr id="16" name="Line 12"/>
          <p:cNvSpPr>
            <a:spLocks noChangeShapeType="1"/>
          </p:cNvSpPr>
          <p:nvPr/>
        </p:nvSpPr>
        <p:spPr bwMode="auto">
          <a:xfrm flipV="1">
            <a:off x="4878015" y="1317554"/>
            <a:ext cx="851856" cy="710157"/>
          </a:xfrm>
          <a:prstGeom prst="line">
            <a:avLst/>
          </a:prstGeom>
          <a:noFill/>
          <a:ln w="38100">
            <a:solidFill>
              <a:srgbClr val="CC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7" name="Text Box 13"/>
          <p:cNvSpPr txBox="1">
            <a:spLocks noChangeArrowheads="1"/>
          </p:cNvSpPr>
          <p:nvPr/>
        </p:nvSpPr>
        <p:spPr bwMode="auto">
          <a:xfrm>
            <a:off x="5115298" y="1055076"/>
            <a:ext cx="144142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C00CC"/>
                </a:solidFill>
                <a:latin typeface="微软雅黑" pitchFamily="34" charset="-122"/>
                <a:ea typeface="微软雅黑" pitchFamily="34" charset="-122"/>
              </a:rPr>
              <a:t>至其他自治系统</a:t>
            </a:r>
          </a:p>
        </p:txBody>
      </p:sp>
      <p:sp>
        <p:nvSpPr>
          <p:cNvPr id="18" name="Line 14"/>
          <p:cNvSpPr>
            <a:spLocks noChangeShapeType="1"/>
          </p:cNvSpPr>
          <p:nvPr/>
        </p:nvSpPr>
        <p:spPr bwMode="auto">
          <a:xfrm>
            <a:off x="6095496" y="2433179"/>
            <a:ext cx="670313" cy="20156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9" name="Line 15"/>
          <p:cNvSpPr>
            <a:spLocks noChangeShapeType="1"/>
          </p:cNvSpPr>
          <p:nvPr/>
        </p:nvSpPr>
        <p:spPr bwMode="auto">
          <a:xfrm flipV="1">
            <a:off x="6887685" y="2585524"/>
            <a:ext cx="608107" cy="100781"/>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0" name="Line 16"/>
          <p:cNvSpPr>
            <a:spLocks noChangeShapeType="1"/>
          </p:cNvSpPr>
          <p:nvPr/>
        </p:nvSpPr>
        <p:spPr bwMode="auto">
          <a:xfrm>
            <a:off x="7192373" y="2078100"/>
            <a:ext cx="303419" cy="50742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1" name="Line 17"/>
          <p:cNvSpPr>
            <a:spLocks noChangeShapeType="1"/>
          </p:cNvSpPr>
          <p:nvPr/>
        </p:nvSpPr>
        <p:spPr bwMode="auto">
          <a:xfrm flipH="1">
            <a:off x="7130166" y="2634743"/>
            <a:ext cx="365625" cy="55898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2" name="Line 18"/>
          <p:cNvSpPr>
            <a:spLocks noChangeShapeType="1"/>
          </p:cNvSpPr>
          <p:nvPr/>
        </p:nvSpPr>
        <p:spPr bwMode="auto">
          <a:xfrm flipV="1">
            <a:off x="5181433" y="2433179"/>
            <a:ext cx="790920" cy="10195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3" name="Line 19"/>
          <p:cNvSpPr>
            <a:spLocks noChangeShapeType="1"/>
          </p:cNvSpPr>
          <p:nvPr/>
        </p:nvSpPr>
        <p:spPr bwMode="auto">
          <a:xfrm>
            <a:off x="4938953" y="2027710"/>
            <a:ext cx="120605" cy="455860"/>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4" name="Line 20"/>
          <p:cNvSpPr>
            <a:spLocks noChangeShapeType="1"/>
          </p:cNvSpPr>
          <p:nvPr/>
        </p:nvSpPr>
        <p:spPr bwMode="auto">
          <a:xfrm flipH="1">
            <a:off x="4878015" y="2585523"/>
            <a:ext cx="181543" cy="35507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5" name="Line 21"/>
          <p:cNvSpPr>
            <a:spLocks noChangeShapeType="1"/>
          </p:cNvSpPr>
          <p:nvPr/>
        </p:nvSpPr>
        <p:spPr bwMode="auto">
          <a:xfrm>
            <a:off x="3598326" y="2332398"/>
            <a:ext cx="1279689" cy="202734"/>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6" name="Line 22"/>
          <p:cNvSpPr>
            <a:spLocks noChangeShapeType="1"/>
          </p:cNvSpPr>
          <p:nvPr/>
        </p:nvSpPr>
        <p:spPr bwMode="auto">
          <a:xfrm flipV="1">
            <a:off x="3659264" y="2078100"/>
            <a:ext cx="1157814" cy="25429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7" name="Line 23"/>
          <p:cNvSpPr>
            <a:spLocks noChangeShapeType="1"/>
          </p:cNvSpPr>
          <p:nvPr/>
        </p:nvSpPr>
        <p:spPr bwMode="auto">
          <a:xfrm flipH="1">
            <a:off x="1710530" y="2078100"/>
            <a:ext cx="912795" cy="25429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8" name="Line 24"/>
          <p:cNvSpPr>
            <a:spLocks noChangeShapeType="1"/>
          </p:cNvSpPr>
          <p:nvPr/>
        </p:nvSpPr>
        <p:spPr bwMode="auto">
          <a:xfrm>
            <a:off x="2623325" y="2127319"/>
            <a:ext cx="366894" cy="55898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9" name="Line 25"/>
          <p:cNvSpPr>
            <a:spLocks noChangeShapeType="1"/>
          </p:cNvSpPr>
          <p:nvPr/>
        </p:nvSpPr>
        <p:spPr bwMode="auto">
          <a:xfrm flipV="1">
            <a:off x="3049888" y="2381617"/>
            <a:ext cx="548438" cy="3046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0" name="Line 26"/>
          <p:cNvSpPr>
            <a:spLocks noChangeShapeType="1"/>
          </p:cNvSpPr>
          <p:nvPr/>
        </p:nvSpPr>
        <p:spPr bwMode="auto">
          <a:xfrm flipH="1">
            <a:off x="2135824" y="2737867"/>
            <a:ext cx="793457" cy="10195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1" name="Line 27"/>
          <p:cNvSpPr>
            <a:spLocks noChangeShapeType="1"/>
          </p:cNvSpPr>
          <p:nvPr/>
        </p:nvSpPr>
        <p:spPr bwMode="auto">
          <a:xfrm>
            <a:off x="2135824" y="2889039"/>
            <a:ext cx="305957" cy="3046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32" name="Group 28"/>
          <p:cNvGrpSpPr>
            <a:grpSpLocks/>
          </p:cNvGrpSpPr>
          <p:nvPr/>
        </p:nvGrpSpPr>
        <p:grpSpPr bwMode="auto">
          <a:xfrm>
            <a:off x="2745200" y="2535133"/>
            <a:ext cx="548438" cy="353907"/>
            <a:chOff x="2949" y="196"/>
            <a:chExt cx="941" cy="598"/>
          </a:xfrm>
          <a:solidFill>
            <a:srgbClr val="00FFFF"/>
          </a:solidFill>
        </p:grpSpPr>
        <p:sp>
          <p:nvSpPr>
            <p:cNvPr id="33" name="Oval 29"/>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4" name="Oval 30"/>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5" name="Oval 31"/>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6" name="Oval 32"/>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7" name="Oval 33"/>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8" name="Oval 34"/>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9" name="Oval 35"/>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0" name="Oval 36"/>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1" name="Freeform 3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2" name="Freeform 3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3" name="Freeform 3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pic>
        <p:nvPicPr>
          <p:cNvPr id="44" name="Picture 4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832405" y="2737868"/>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5" name="Picture 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380844" y="1976147"/>
            <a:ext cx="416407" cy="2332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6" name="Picture 4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415513" y="2230444"/>
            <a:ext cx="41513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7" name="Picture 4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693932" y="1925757"/>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8" name="Picture 4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878015" y="2433179"/>
            <a:ext cx="41513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9" name="Picture 4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314248" y="2483570"/>
            <a:ext cx="415137" cy="2332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0" name="Picture 4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851747" y="2332398"/>
            <a:ext cx="415137" cy="2308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1" name="Group 47"/>
          <p:cNvGrpSpPr>
            <a:grpSpLocks/>
          </p:cNvGrpSpPr>
          <p:nvPr/>
        </p:nvGrpSpPr>
        <p:grpSpPr bwMode="auto">
          <a:xfrm>
            <a:off x="2196762" y="3042556"/>
            <a:ext cx="548438" cy="353907"/>
            <a:chOff x="2949" y="196"/>
            <a:chExt cx="941" cy="598"/>
          </a:xfrm>
          <a:solidFill>
            <a:srgbClr val="00FFFF"/>
          </a:solidFill>
        </p:grpSpPr>
        <p:sp>
          <p:nvSpPr>
            <p:cNvPr id="52" name="Oval 48"/>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3" name="Oval 49"/>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4" name="Oval 50"/>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5" name="Oval 51"/>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6" name="Oval 52"/>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7" name="Oval 53"/>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8" name="Oval 54"/>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9" name="Oval 55"/>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0" name="Freeform 56"/>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61" name="Freeform 57"/>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62" name="Freeform 58"/>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63" name="Group 59"/>
          <p:cNvGrpSpPr>
            <a:grpSpLocks/>
          </p:cNvGrpSpPr>
          <p:nvPr/>
        </p:nvGrpSpPr>
        <p:grpSpPr bwMode="auto">
          <a:xfrm>
            <a:off x="1466780" y="2178882"/>
            <a:ext cx="548438" cy="356250"/>
            <a:chOff x="2949" y="196"/>
            <a:chExt cx="941" cy="598"/>
          </a:xfrm>
          <a:solidFill>
            <a:srgbClr val="00FFFF"/>
          </a:solidFill>
        </p:grpSpPr>
        <p:sp>
          <p:nvSpPr>
            <p:cNvPr id="64" name="Oval 60"/>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5" name="Oval 61"/>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6" name="Oval 62"/>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7" name="Oval 63"/>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8" name="Oval 64"/>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9" name="Oval 65"/>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0" name="Oval 66"/>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1" name="Oval 67"/>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2" name="Freeform 6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3" name="Freeform 6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4" name="Freeform 7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75" name="Group 71"/>
          <p:cNvGrpSpPr>
            <a:grpSpLocks/>
          </p:cNvGrpSpPr>
          <p:nvPr/>
        </p:nvGrpSpPr>
        <p:grpSpPr bwMode="auto">
          <a:xfrm>
            <a:off x="6887685" y="1875366"/>
            <a:ext cx="547169" cy="355078"/>
            <a:chOff x="2949" y="196"/>
            <a:chExt cx="941" cy="598"/>
          </a:xfrm>
          <a:solidFill>
            <a:srgbClr val="00FFFF"/>
          </a:solidFill>
        </p:grpSpPr>
        <p:sp>
          <p:nvSpPr>
            <p:cNvPr id="76" name="Oval 72"/>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7" name="Oval 73"/>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8" name="Oval 74"/>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9" name="Oval 75"/>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0" name="Oval 76"/>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1" name="Oval 77"/>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2" name="Oval 78"/>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3" name="Oval 79"/>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4" name="Freeform 80"/>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5" name="Freeform 81"/>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6" name="Freeform 82"/>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87" name="Group 83"/>
          <p:cNvGrpSpPr>
            <a:grpSpLocks/>
          </p:cNvGrpSpPr>
          <p:nvPr/>
        </p:nvGrpSpPr>
        <p:grpSpPr bwMode="auto">
          <a:xfrm>
            <a:off x="6826747" y="3042556"/>
            <a:ext cx="548438" cy="353907"/>
            <a:chOff x="2949" y="196"/>
            <a:chExt cx="941" cy="598"/>
          </a:xfrm>
          <a:solidFill>
            <a:srgbClr val="00FFFF"/>
          </a:solidFill>
        </p:grpSpPr>
        <p:sp>
          <p:nvSpPr>
            <p:cNvPr id="88" name="Oval 84"/>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9" name="Oval 85"/>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0" name="Oval 86"/>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1" name="Oval 87"/>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2" name="Oval 88"/>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3" name="Oval 89"/>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4" name="Oval 90"/>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5" name="Oval 91"/>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6" name="Freeform 92"/>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7" name="Freeform 93"/>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8" name="Freeform 94"/>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99" name="Group 95"/>
          <p:cNvGrpSpPr>
            <a:grpSpLocks/>
          </p:cNvGrpSpPr>
          <p:nvPr/>
        </p:nvGrpSpPr>
        <p:grpSpPr bwMode="auto">
          <a:xfrm>
            <a:off x="6520790" y="2483569"/>
            <a:ext cx="548438" cy="356250"/>
            <a:chOff x="2949" y="196"/>
            <a:chExt cx="941" cy="598"/>
          </a:xfrm>
          <a:solidFill>
            <a:srgbClr val="00FFFF"/>
          </a:solidFill>
        </p:grpSpPr>
        <p:sp>
          <p:nvSpPr>
            <p:cNvPr id="100" name="Oval 96"/>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1" name="Oval 97"/>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2" name="Oval 98"/>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3" name="Oval 99"/>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4" name="Oval 100"/>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5" name="Oval 101"/>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6" name="Oval 102"/>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7" name="Oval 103"/>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8" name="Freeform 10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09" name="Freeform 10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0" name="Freeform 10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11" name="Text Box 107"/>
          <p:cNvSpPr txBox="1">
            <a:spLocks noChangeArrowheads="1"/>
          </p:cNvSpPr>
          <p:nvPr/>
        </p:nvSpPr>
        <p:spPr bwMode="auto">
          <a:xfrm>
            <a:off x="7527530" y="2212867"/>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9</a:t>
            </a:r>
          </a:p>
        </p:txBody>
      </p:sp>
      <p:sp>
        <p:nvSpPr>
          <p:cNvPr id="117" name="Text Box 113"/>
          <p:cNvSpPr txBox="1">
            <a:spLocks noChangeArrowheads="1"/>
          </p:cNvSpPr>
          <p:nvPr/>
        </p:nvSpPr>
        <p:spPr bwMode="auto">
          <a:xfrm>
            <a:off x="1525179" y="2648805"/>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2</a:t>
            </a:r>
          </a:p>
        </p:txBody>
      </p:sp>
      <p:sp>
        <p:nvSpPr>
          <p:cNvPr id="118" name="Text Box 114"/>
          <p:cNvSpPr txBox="1">
            <a:spLocks noChangeArrowheads="1"/>
          </p:cNvSpPr>
          <p:nvPr/>
        </p:nvSpPr>
        <p:spPr bwMode="auto">
          <a:xfrm>
            <a:off x="2107895" y="1764038"/>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1</a:t>
            </a:r>
          </a:p>
        </p:txBody>
      </p:sp>
      <p:grpSp>
        <p:nvGrpSpPr>
          <p:cNvPr id="119" name="组合 118"/>
          <p:cNvGrpSpPr/>
          <p:nvPr/>
        </p:nvGrpSpPr>
        <p:grpSpPr>
          <a:xfrm>
            <a:off x="3598326" y="3003883"/>
            <a:ext cx="2497171" cy="1046059"/>
            <a:chOff x="3598326" y="3003883"/>
            <a:chExt cx="2497171" cy="1046059"/>
          </a:xfrm>
        </p:grpSpPr>
        <p:sp>
          <p:nvSpPr>
            <p:cNvPr id="120" name="Oval 121"/>
            <p:cNvSpPr>
              <a:spLocks noChangeArrowheads="1"/>
            </p:cNvSpPr>
            <p:nvPr/>
          </p:nvSpPr>
          <p:spPr bwMode="auto">
            <a:xfrm>
              <a:off x="3598326" y="3003883"/>
              <a:ext cx="2497171" cy="767579"/>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121" name="Text Box 122"/>
            <p:cNvSpPr txBox="1">
              <a:spLocks noChangeArrowheads="1"/>
            </p:cNvSpPr>
            <p:nvPr/>
          </p:nvSpPr>
          <p:spPr bwMode="auto">
            <a:xfrm>
              <a:off x="4305485" y="3742165"/>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0.0.0.2</a:t>
              </a:r>
            </a:p>
          </p:txBody>
        </p:sp>
      </p:grpSp>
      <p:sp>
        <p:nvSpPr>
          <p:cNvPr id="122" name="Line 123"/>
          <p:cNvSpPr>
            <a:spLocks noChangeShapeType="1"/>
          </p:cNvSpPr>
          <p:nvPr/>
        </p:nvSpPr>
        <p:spPr bwMode="auto">
          <a:xfrm>
            <a:off x="4817078" y="2940601"/>
            <a:ext cx="729981" cy="38437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3" name="Line 124"/>
          <p:cNvSpPr>
            <a:spLocks noChangeShapeType="1"/>
          </p:cNvSpPr>
          <p:nvPr/>
        </p:nvSpPr>
        <p:spPr bwMode="auto">
          <a:xfrm flipV="1">
            <a:off x="4938953" y="3388258"/>
            <a:ext cx="669044" cy="1921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124" name="Group 125"/>
          <p:cNvGrpSpPr>
            <a:grpSpLocks/>
          </p:cNvGrpSpPr>
          <p:nvPr/>
        </p:nvGrpSpPr>
        <p:grpSpPr bwMode="auto">
          <a:xfrm>
            <a:off x="5365516" y="3131617"/>
            <a:ext cx="547168" cy="448828"/>
            <a:chOff x="2949" y="196"/>
            <a:chExt cx="941" cy="598"/>
          </a:xfrm>
          <a:solidFill>
            <a:srgbClr val="00FFFF"/>
          </a:solidFill>
        </p:grpSpPr>
        <p:sp>
          <p:nvSpPr>
            <p:cNvPr id="125" name="Oval 126"/>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6" name="Oval 127"/>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7" name="Oval 128"/>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8" name="Oval 129"/>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9" name="Oval 130"/>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30" name="Oval 131"/>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31" name="Oval 132"/>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32" name="Oval 133"/>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33" name="Freeform 13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4" name="Freeform 13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5" name="Freeform 13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36" name="Line 138"/>
          <p:cNvSpPr>
            <a:spLocks noChangeShapeType="1"/>
          </p:cNvSpPr>
          <p:nvPr/>
        </p:nvSpPr>
        <p:spPr bwMode="auto">
          <a:xfrm>
            <a:off x="4084557" y="3450368"/>
            <a:ext cx="732521" cy="13007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137" name="Group 139"/>
          <p:cNvGrpSpPr>
            <a:grpSpLocks/>
          </p:cNvGrpSpPr>
          <p:nvPr/>
        </p:nvGrpSpPr>
        <p:grpSpPr bwMode="auto">
          <a:xfrm>
            <a:off x="3842076" y="3194899"/>
            <a:ext cx="548438" cy="448828"/>
            <a:chOff x="2949" y="196"/>
            <a:chExt cx="941" cy="598"/>
          </a:xfrm>
          <a:solidFill>
            <a:srgbClr val="00FFFF"/>
          </a:solidFill>
        </p:grpSpPr>
        <p:sp>
          <p:nvSpPr>
            <p:cNvPr id="138" name="Oval 140"/>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39" name="Oval 141"/>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0" name="Oval 142"/>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1" name="Oval 143"/>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2" name="Oval 144"/>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3" name="Oval 145"/>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4" name="Oval 146"/>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5" name="Oval 147"/>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6" name="Freeform 14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7" name="Freeform 14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8" name="Freeform 15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pic>
        <p:nvPicPr>
          <p:cNvPr id="149" name="Picture 15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693932" y="3415211"/>
            <a:ext cx="416407" cy="2941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50" name="Text Box 153"/>
          <p:cNvSpPr txBox="1">
            <a:spLocks noChangeArrowheads="1"/>
          </p:cNvSpPr>
          <p:nvPr/>
        </p:nvSpPr>
        <p:spPr bwMode="auto">
          <a:xfrm>
            <a:off x="4459070" y="3184351"/>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8</a:t>
            </a:r>
          </a:p>
        </p:txBody>
      </p:sp>
      <p:pic>
        <p:nvPicPr>
          <p:cNvPr id="151" name="Picture 15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643151" y="2842164"/>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52" name="Text Box 115"/>
          <p:cNvSpPr txBox="1">
            <a:spLocks noChangeArrowheads="1"/>
          </p:cNvSpPr>
          <p:nvPr/>
        </p:nvSpPr>
        <p:spPr bwMode="auto">
          <a:xfrm>
            <a:off x="6861812" y="3068342"/>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8</a:t>
            </a:r>
          </a:p>
        </p:txBody>
      </p:sp>
      <p:sp>
        <p:nvSpPr>
          <p:cNvPr id="153" name="Text Box 116"/>
          <p:cNvSpPr txBox="1">
            <a:spLocks noChangeArrowheads="1"/>
          </p:cNvSpPr>
          <p:nvPr/>
        </p:nvSpPr>
        <p:spPr bwMode="auto">
          <a:xfrm>
            <a:off x="6915228" y="1904669"/>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6</a:t>
            </a:r>
          </a:p>
        </p:txBody>
      </p:sp>
      <p:sp>
        <p:nvSpPr>
          <p:cNvPr id="154" name="Text Box 117"/>
          <p:cNvSpPr txBox="1">
            <a:spLocks noChangeArrowheads="1"/>
          </p:cNvSpPr>
          <p:nvPr/>
        </p:nvSpPr>
        <p:spPr bwMode="auto">
          <a:xfrm>
            <a:off x="2237984" y="3077712"/>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3</a:t>
            </a:r>
          </a:p>
        </p:txBody>
      </p:sp>
      <p:sp>
        <p:nvSpPr>
          <p:cNvPr id="155" name="Text Box 118"/>
          <p:cNvSpPr txBox="1">
            <a:spLocks noChangeArrowheads="1"/>
          </p:cNvSpPr>
          <p:nvPr/>
        </p:nvSpPr>
        <p:spPr bwMode="auto">
          <a:xfrm>
            <a:off x="2789151" y="2555049"/>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2</a:t>
            </a:r>
          </a:p>
        </p:txBody>
      </p:sp>
      <p:sp>
        <p:nvSpPr>
          <p:cNvPr id="156" name="Text Box 119"/>
          <p:cNvSpPr txBox="1">
            <a:spLocks noChangeArrowheads="1"/>
          </p:cNvSpPr>
          <p:nvPr/>
        </p:nvSpPr>
        <p:spPr bwMode="auto">
          <a:xfrm>
            <a:off x="1505747" y="2201148"/>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1</a:t>
            </a:r>
          </a:p>
        </p:txBody>
      </p:sp>
      <p:sp>
        <p:nvSpPr>
          <p:cNvPr id="157" name="Text Box 120"/>
          <p:cNvSpPr txBox="1">
            <a:spLocks noChangeArrowheads="1"/>
          </p:cNvSpPr>
          <p:nvPr/>
        </p:nvSpPr>
        <p:spPr bwMode="auto">
          <a:xfrm>
            <a:off x="6550398" y="2522248"/>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7</a:t>
            </a:r>
          </a:p>
        </p:txBody>
      </p:sp>
      <p:sp>
        <p:nvSpPr>
          <p:cNvPr id="158" name="Text Box 137"/>
          <p:cNvSpPr txBox="1">
            <a:spLocks noChangeArrowheads="1"/>
          </p:cNvSpPr>
          <p:nvPr/>
        </p:nvSpPr>
        <p:spPr bwMode="auto">
          <a:xfrm>
            <a:off x="5407913" y="3218354"/>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4</a:t>
            </a:r>
          </a:p>
        </p:txBody>
      </p:sp>
      <p:sp>
        <p:nvSpPr>
          <p:cNvPr id="159" name="Text Box 151"/>
          <p:cNvSpPr txBox="1">
            <a:spLocks noChangeArrowheads="1"/>
          </p:cNvSpPr>
          <p:nvPr/>
        </p:nvSpPr>
        <p:spPr bwMode="auto">
          <a:xfrm>
            <a:off x="3872858" y="3278102"/>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5</a:t>
            </a:r>
          </a:p>
        </p:txBody>
      </p:sp>
      <p:grpSp>
        <p:nvGrpSpPr>
          <p:cNvPr id="6" name="组合 5"/>
          <p:cNvGrpSpPr/>
          <p:nvPr/>
        </p:nvGrpSpPr>
        <p:grpSpPr>
          <a:xfrm>
            <a:off x="3421861" y="1834351"/>
            <a:ext cx="2567034" cy="1053090"/>
            <a:chOff x="3421861" y="1834351"/>
            <a:chExt cx="2567034" cy="1053090"/>
          </a:xfrm>
        </p:grpSpPr>
        <p:grpSp>
          <p:nvGrpSpPr>
            <p:cNvPr id="160" name="组合 159"/>
            <p:cNvGrpSpPr/>
            <p:nvPr/>
          </p:nvGrpSpPr>
          <p:grpSpPr>
            <a:xfrm>
              <a:off x="3421861" y="1933961"/>
              <a:ext cx="2567034" cy="953480"/>
              <a:chOff x="3421861" y="1933961"/>
              <a:chExt cx="2567034" cy="953480"/>
            </a:xfrm>
          </p:grpSpPr>
          <p:sp>
            <p:nvSpPr>
              <p:cNvPr id="112" name="Text Box 108"/>
              <p:cNvSpPr txBox="1">
                <a:spLocks noChangeArrowheads="1"/>
              </p:cNvSpPr>
              <p:nvPr/>
            </p:nvSpPr>
            <p:spPr bwMode="auto">
              <a:xfrm>
                <a:off x="5605457" y="2078101"/>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CC00CC"/>
                    </a:solidFill>
                    <a:latin typeface="微软雅黑" pitchFamily="34" charset="-122"/>
                    <a:ea typeface="微软雅黑" pitchFamily="34" charset="-122"/>
                  </a:rPr>
                  <a:t>R</a:t>
                </a:r>
                <a:r>
                  <a:rPr kumimoji="1" lang="en-US" altLang="zh-CN" sz="1400" b="1" baseline="-25000" dirty="0">
                    <a:solidFill>
                      <a:srgbClr val="CC00CC"/>
                    </a:solidFill>
                    <a:latin typeface="微软雅黑" pitchFamily="34" charset="-122"/>
                    <a:ea typeface="微软雅黑" pitchFamily="34" charset="-122"/>
                  </a:rPr>
                  <a:t>7</a:t>
                </a:r>
              </a:p>
            </p:txBody>
          </p:sp>
          <p:sp>
            <p:nvSpPr>
              <p:cNvPr id="115" name="Text Box 111"/>
              <p:cNvSpPr txBox="1">
                <a:spLocks noChangeArrowheads="1"/>
              </p:cNvSpPr>
              <p:nvPr/>
            </p:nvSpPr>
            <p:spPr bwMode="auto">
              <a:xfrm>
                <a:off x="4432409" y="2579664"/>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CC00CC"/>
                    </a:solidFill>
                    <a:latin typeface="微软雅黑" pitchFamily="34" charset="-122"/>
                    <a:ea typeface="微软雅黑" pitchFamily="34" charset="-122"/>
                  </a:rPr>
                  <a:t>R</a:t>
                </a:r>
                <a:r>
                  <a:rPr kumimoji="1" lang="en-US" altLang="zh-CN" sz="1400" b="1" baseline="-25000">
                    <a:solidFill>
                      <a:srgbClr val="CC00CC"/>
                    </a:solidFill>
                    <a:latin typeface="微软雅黑" pitchFamily="34" charset="-122"/>
                    <a:ea typeface="微软雅黑" pitchFamily="34" charset="-122"/>
                  </a:rPr>
                  <a:t>4</a:t>
                </a:r>
              </a:p>
            </p:txBody>
          </p:sp>
          <p:sp>
            <p:nvSpPr>
              <p:cNvPr id="116" name="Text Box 112"/>
              <p:cNvSpPr txBox="1">
                <a:spLocks noChangeArrowheads="1"/>
              </p:cNvSpPr>
              <p:nvPr/>
            </p:nvSpPr>
            <p:spPr bwMode="auto">
              <a:xfrm>
                <a:off x="3421861" y="1933961"/>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CC00CC"/>
                    </a:solidFill>
                    <a:latin typeface="微软雅黑" pitchFamily="34" charset="-122"/>
                    <a:ea typeface="微软雅黑" pitchFamily="34" charset="-122"/>
                  </a:rPr>
                  <a:t>R</a:t>
                </a:r>
                <a:r>
                  <a:rPr kumimoji="1" lang="en-US" altLang="zh-CN" sz="1400" b="1" baseline="-25000" dirty="0">
                    <a:solidFill>
                      <a:srgbClr val="CC00CC"/>
                    </a:solidFill>
                    <a:latin typeface="微软雅黑" pitchFamily="34" charset="-122"/>
                    <a:ea typeface="微软雅黑" pitchFamily="34" charset="-122"/>
                  </a:rPr>
                  <a:t>3</a:t>
                </a:r>
              </a:p>
            </p:txBody>
          </p:sp>
        </p:grpSp>
        <p:sp>
          <p:nvSpPr>
            <p:cNvPr id="161" name="Text Box 109"/>
            <p:cNvSpPr txBox="1">
              <a:spLocks noChangeArrowheads="1"/>
            </p:cNvSpPr>
            <p:nvPr/>
          </p:nvSpPr>
          <p:spPr bwMode="auto">
            <a:xfrm>
              <a:off x="5100183" y="1834351"/>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CC00FF"/>
                  </a:solidFill>
                  <a:latin typeface="微软雅黑" pitchFamily="34" charset="-122"/>
                  <a:ea typeface="微软雅黑" pitchFamily="34" charset="-122"/>
                </a:rPr>
                <a:t>R</a:t>
              </a:r>
              <a:r>
                <a:rPr kumimoji="1" lang="en-US" altLang="zh-CN" sz="1400" b="1" baseline="-25000" dirty="0">
                  <a:solidFill>
                    <a:srgbClr val="CC00FF"/>
                  </a:solidFill>
                  <a:latin typeface="微软雅黑" pitchFamily="34" charset="-122"/>
                  <a:ea typeface="微软雅黑" pitchFamily="34" charset="-122"/>
                </a:rPr>
                <a:t>6</a:t>
              </a:r>
            </a:p>
          </p:txBody>
        </p:sp>
        <p:sp>
          <p:nvSpPr>
            <p:cNvPr id="162" name="Text Box 110"/>
            <p:cNvSpPr txBox="1">
              <a:spLocks noChangeArrowheads="1"/>
            </p:cNvSpPr>
            <p:nvPr/>
          </p:nvSpPr>
          <p:spPr bwMode="auto">
            <a:xfrm>
              <a:off x="4643151" y="2168336"/>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CC00FF"/>
                  </a:solidFill>
                  <a:latin typeface="微软雅黑" pitchFamily="34" charset="-122"/>
                  <a:ea typeface="微软雅黑" pitchFamily="34" charset="-122"/>
                </a:rPr>
                <a:t>R</a:t>
              </a:r>
              <a:r>
                <a:rPr kumimoji="1" lang="en-US" altLang="zh-CN" sz="1400" b="1" baseline="-25000" dirty="0">
                  <a:solidFill>
                    <a:srgbClr val="CC00FF"/>
                  </a:solidFill>
                  <a:latin typeface="微软雅黑" pitchFamily="34" charset="-122"/>
                  <a:ea typeface="微软雅黑" pitchFamily="34" charset="-122"/>
                </a:rPr>
                <a:t>5</a:t>
              </a:r>
            </a:p>
          </p:txBody>
        </p:sp>
      </p:grpSp>
      <p:sp>
        <p:nvSpPr>
          <p:cNvPr id="163" name="Text Box 4"/>
          <p:cNvSpPr txBox="1">
            <a:spLocks noChangeArrowheads="1"/>
          </p:cNvSpPr>
          <p:nvPr/>
        </p:nvSpPr>
        <p:spPr bwMode="auto">
          <a:xfrm>
            <a:off x="1213446" y="1432832"/>
            <a:ext cx="1197169" cy="3082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自治系统 </a:t>
            </a:r>
            <a:r>
              <a:rPr kumimoji="1" lang="en-US" altLang="zh-CN" sz="1400" b="1" dirty="0">
                <a:latin typeface="微软雅黑" pitchFamily="34" charset="-122"/>
                <a:ea typeface="微软雅黑" pitchFamily="34" charset="-122"/>
              </a:rPr>
              <a:t>AS</a:t>
            </a:r>
          </a:p>
        </p:txBody>
      </p:sp>
    </p:spTree>
    <p:extLst>
      <p:ext uri="{BB962C8B-B14F-4D97-AF65-F5344CB8AC3E}">
        <p14:creationId xmlns:p14="http://schemas.microsoft.com/office/powerpoint/2010/main" val="357090816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5000" fill="hold" nodeType="afterEffect">
                                  <p:stCondLst>
                                    <p:cond delay="0"/>
                                  </p:stCondLst>
                                  <p:childTnLst>
                                    <p:anim calcmode="discrete" valueType="str">
                                      <p:cBhvr>
                                        <p:cTn id="6" dur="1000" fill="hold"/>
                                        <p:tgtEl>
                                          <p:spTgt spid="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19908"/>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45144" y="630673"/>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5" y="580697"/>
            <a:ext cx="8018029" cy="400110"/>
          </a:xfrm>
          <a:prstGeom prst="rect">
            <a:avLst/>
          </a:prstGeom>
        </p:spPr>
        <p:txBody>
          <a:bodyPr wrap="none">
            <a:spAutoFit/>
          </a:bodyPr>
          <a:lstStyle/>
          <a:p>
            <a:r>
              <a:rPr lang="en-US" altLang="zh-CN" sz="2000" b="1" dirty="0">
                <a:latin typeface="微软雅黑" pitchFamily="34" charset="-122"/>
                <a:ea typeface="微软雅黑" pitchFamily="34" charset="-122"/>
              </a:rPr>
              <a:t>OSPF </a:t>
            </a:r>
            <a:r>
              <a:rPr lang="zh-CN" altLang="en-US" sz="2000" b="1" dirty="0">
                <a:latin typeface="微软雅黑" pitchFamily="34" charset="-122"/>
                <a:ea typeface="微软雅黑" pitchFamily="34" charset="-122"/>
              </a:rPr>
              <a:t>中的路由器：自治系统边界路由器 </a:t>
            </a:r>
            <a:r>
              <a:rPr lang="en-US" altLang="zh-CN" sz="2000" b="1" dirty="0">
                <a:solidFill>
                  <a:srgbClr val="0000FF"/>
                </a:solidFill>
                <a:latin typeface="微软雅黑" pitchFamily="34" charset="-122"/>
                <a:ea typeface="微软雅黑" pitchFamily="34" charset="-122"/>
              </a:rPr>
              <a:t>ASBR</a:t>
            </a:r>
            <a:r>
              <a:rPr lang="en-US" altLang="zh-CN" sz="2000" b="1" dirty="0">
                <a:latin typeface="微软雅黑" pitchFamily="34" charset="-122"/>
                <a:ea typeface="微软雅黑" pitchFamily="34" charset="-122"/>
              </a:rPr>
              <a:t> (AS border router)</a:t>
            </a:r>
            <a:endParaRPr lang="zh-CN" altLang="en-US" sz="2000" b="1" dirty="0">
              <a:latin typeface="微软雅黑" pitchFamily="34" charset="-122"/>
              <a:ea typeface="微软雅黑" pitchFamily="34" charset="-122"/>
            </a:endParaRPr>
          </a:p>
        </p:txBody>
      </p:sp>
      <p:sp>
        <p:nvSpPr>
          <p:cNvPr id="5" name="AutoShape 3"/>
          <p:cNvSpPr>
            <a:spLocks noChangeArrowheads="1"/>
          </p:cNvSpPr>
          <p:nvPr/>
        </p:nvSpPr>
        <p:spPr bwMode="auto">
          <a:xfrm>
            <a:off x="1018636" y="1403100"/>
            <a:ext cx="7086532" cy="2764456"/>
          </a:xfrm>
          <a:prstGeom prst="roundRect">
            <a:avLst>
              <a:gd name="adj" fmla="val 16667"/>
            </a:avLst>
          </a:prstGeom>
          <a:solidFill>
            <a:schemeClr val="bg1"/>
          </a:solidFill>
          <a:ln w="12700">
            <a:solidFill>
              <a:srgbClr val="00B0F0"/>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grpSp>
        <p:nvGrpSpPr>
          <p:cNvPr id="7" name="组合 6"/>
          <p:cNvGrpSpPr/>
          <p:nvPr/>
        </p:nvGrpSpPr>
        <p:grpSpPr>
          <a:xfrm>
            <a:off x="1101155" y="1773412"/>
            <a:ext cx="2532718" cy="2064420"/>
            <a:chOff x="1101155" y="1773412"/>
            <a:chExt cx="2532718" cy="2064420"/>
          </a:xfrm>
        </p:grpSpPr>
        <p:sp>
          <p:nvSpPr>
            <p:cNvPr id="8" name="Oval 7"/>
            <p:cNvSpPr>
              <a:spLocks noChangeArrowheads="1"/>
            </p:cNvSpPr>
            <p:nvPr/>
          </p:nvSpPr>
          <p:spPr bwMode="auto">
            <a:xfrm>
              <a:off x="1101155" y="1773412"/>
              <a:ext cx="2532718" cy="1776564"/>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9" name="Text Box 9"/>
            <p:cNvSpPr txBox="1">
              <a:spLocks noChangeArrowheads="1"/>
            </p:cNvSpPr>
            <p:nvPr/>
          </p:nvSpPr>
          <p:spPr bwMode="auto">
            <a:xfrm>
              <a:off x="1812343" y="3530055"/>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0.0.0.1</a:t>
              </a:r>
            </a:p>
          </p:txBody>
        </p:sp>
      </p:grpSp>
      <p:grpSp>
        <p:nvGrpSpPr>
          <p:cNvPr id="10" name="组合 9"/>
          <p:cNvGrpSpPr/>
          <p:nvPr/>
        </p:nvGrpSpPr>
        <p:grpSpPr>
          <a:xfrm>
            <a:off x="6095497" y="1773412"/>
            <a:ext cx="1923343" cy="2117154"/>
            <a:chOff x="6095497" y="1773412"/>
            <a:chExt cx="1923343" cy="2117154"/>
          </a:xfrm>
        </p:grpSpPr>
        <p:sp>
          <p:nvSpPr>
            <p:cNvPr id="11" name="Oval 8"/>
            <p:cNvSpPr>
              <a:spLocks noChangeArrowheads="1"/>
            </p:cNvSpPr>
            <p:nvPr/>
          </p:nvSpPr>
          <p:spPr bwMode="auto">
            <a:xfrm>
              <a:off x="6095497" y="1773412"/>
              <a:ext cx="1923343" cy="1776564"/>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12" name="Text Box 10"/>
            <p:cNvSpPr txBox="1">
              <a:spLocks noChangeArrowheads="1"/>
            </p:cNvSpPr>
            <p:nvPr/>
          </p:nvSpPr>
          <p:spPr bwMode="auto">
            <a:xfrm>
              <a:off x="6496859" y="3582789"/>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0.0.0.3</a:t>
              </a:r>
            </a:p>
          </p:txBody>
        </p:sp>
      </p:grpSp>
      <p:grpSp>
        <p:nvGrpSpPr>
          <p:cNvPr id="13" name="组合 12"/>
          <p:cNvGrpSpPr/>
          <p:nvPr/>
        </p:nvGrpSpPr>
        <p:grpSpPr>
          <a:xfrm>
            <a:off x="3720201" y="1518807"/>
            <a:ext cx="2314358" cy="1421794"/>
            <a:chOff x="3720201" y="1518807"/>
            <a:chExt cx="2314358" cy="1421794"/>
          </a:xfrm>
        </p:grpSpPr>
        <p:sp>
          <p:nvSpPr>
            <p:cNvPr id="14" name="Oval 6"/>
            <p:cNvSpPr>
              <a:spLocks noChangeArrowheads="1"/>
            </p:cNvSpPr>
            <p:nvPr/>
          </p:nvSpPr>
          <p:spPr bwMode="auto">
            <a:xfrm>
              <a:off x="3720201" y="1824975"/>
              <a:ext cx="2314358" cy="1115626"/>
            </a:xfrm>
            <a:prstGeom prst="ellipse">
              <a:avLst/>
            </a:prstGeom>
            <a:solidFill>
              <a:srgbClr val="FFCCFF"/>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15" name="Text Box 11"/>
            <p:cNvSpPr txBox="1">
              <a:spLocks noChangeArrowheads="1"/>
            </p:cNvSpPr>
            <p:nvPr/>
          </p:nvSpPr>
          <p:spPr bwMode="auto">
            <a:xfrm>
              <a:off x="3722740" y="1518807"/>
              <a:ext cx="155202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00000"/>
                  </a:solidFill>
                  <a:latin typeface="微软雅黑" pitchFamily="34" charset="-122"/>
                  <a:ea typeface="微软雅黑" pitchFamily="34" charset="-122"/>
                </a:rPr>
                <a:t>主干区域 </a:t>
              </a:r>
              <a:r>
                <a:rPr kumimoji="1" lang="en-US" altLang="zh-CN" sz="1400" b="1" dirty="0">
                  <a:solidFill>
                    <a:srgbClr val="C00000"/>
                  </a:solidFill>
                  <a:latin typeface="微软雅黑" pitchFamily="34" charset="-122"/>
                  <a:ea typeface="微软雅黑" pitchFamily="34" charset="-122"/>
                </a:rPr>
                <a:t>0.0.0.0</a:t>
              </a:r>
            </a:p>
          </p:txBody>
        </p:sp>
      </p:grpSp>
      <p:sp>
        <p:nvSpPr>
          <p:cNvPr id="16" name="Line 12"/>
          <p:cNvSpPr>
            <a:spLocks noChangeShapeType="1"/>
          </p:cNvSpPr>
          <p:nvPr/>
        </p:nvSpPr>
        <p:spPr bwMode="auto">
          <a:xfrm flipV="1">
            <a:off x="4878015" y="1317554"/>
            <a:ext cx="851856" cy="710157"/>
          </a:xfrm>
          <a:prstGeom prst="line">
            <a:avLst/>
          </a:prstGeom>
          <a:noFill/>
          <a:ln w="38100">
            <a:solidFill>
              <a:srgbClr val="CC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7" name="Text Box 13"/>
          <p:cNvSpPr txBox="1">
            <a:spLocks noChangeArrowheads="1"/>
          </p:cNvSpPr>
          <p:nvPr/>
        </p:nvSpPr>
        <p:spPr bwMode="auto">
          <a:xfrm>
            <a:off x="5115298" y="1055076"/>
            <a:ext cx="144142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C00CC"/>
                </a:solidFill>
                <a:latin typeface="微软雅黑" pitchFamily="34" charset="-122"/>
                <a:ea typeface="微软雅黑" pitchFamily="34" charset="-122"/>
              </a:rPr>
              <a:t>至其他自治系统</a:t>
            </a:r>
          </a:p>
        </p:txBody>
      </p:sp>
      <p:sp>
        <p:nvSpPr>
          <p:cNvPr id="18" name="Line 14"/>
          <p:cNvSpPr>
            <a:spLocks noChangeShapeType="1"/>
          </p:cNvSpPr>
          <p:nvPr/>
        </p:nvSpPr>
        <p:spPr bwMode="auto">
          <a:xfrm>
            <a:off x="6095496" y="2433179"/>
            <a:ext cx="670313" cy="20156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9" name="Line 15"/>
          <p:cNvSpPr>
            <a:spLocks noChangeShapeType="1"/>
          </p:cNvSpPr>
          <p:nvPr/>
        </p:nvSpPr>
        <p:spPr bwMode="auto">
          <a:xfrm flipV="1">
            <a:off x="6887685" y="2585524"/>
            <a:ext cx="608107" cy="100781"/>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0" name="Line 16"/>
          <p:cNvSpPr>
            <a:spLocks noChangeShapeType="1"/>
          </p:cNvSpPr>
          <p:nvPr/>
        </p:nvSpPr>
        <p:spPr bwMode="auto">
          <a:xfrm>
            <a:off x="7192373" y="2078100"/>
            <a:ext cx="303419" cy="50742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1" name="Line 17"/>
          <p:cNvSpPr>
            <a:spLocks noChangeShapeType="1"/>
          </p:cNvSpPr>
          <p:nvPr/>
        </p:nvSpPr>
        <p:spPr bwMode="auto">
          <a:xfrm flipH="1">
            <a:off x="7130166" y="2634743"/>
            <a:ext cx="365625" cy="55898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2" name="Line 18"/>
          <p:cNvSpPr>
            <a:spLocks noChangeShapeType="1"/>
          </p:cNvSpPr>
          <p:nvPr/>
        </p:nvSpPr>
        <p:spPr bwMode="auto">
          <a:xfrm flipV="1">
            <a:off x="5181433" y="2433179"/>
            <a:ext cx="790920" cy="10195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3" name="Line 19"/>
          <p:cNvSpPr>
            <a:spLocks noChangeShapeType="1"/>
          </p:cNvSpPr>
          <p:nvPr/>
        </p:nvSpPr>
        <p:spPr bwMode="auto">
          <a:xfrm>
            <a:off x="4938953" y="2027710"/>
            <a:ext cx="120605" cy="455860"/>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4" name="Line 20"/>
          <p:cNvSpPr>
            <a:spLocks noChangeShapeType="1"/>
          </p:cNvSpPr>
          <p:nvPr/>
        </p:nvSpPr>
        <p:spPr bwMode="auto">
          <a:xfrm flipH="1">
            <a:off x="4878015" y="2585523"/>
            <a:ext cx="181543" cy="35507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5" name="Line 21"/>
          <p:cNvSpPr>
            <a:spLocks noChangeShapeType="1"/>
          </p:cNvSpPr>
          <p:nvPr/>
        </p:nvSpPr>
        <p:spPr bwMode="auto">
          <a:xfrm>
            <a:off x="3598326" y="2332398"/>
            <a:ext cx="1279689" cy="202734"/>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6" name="Line 22"/>
          <p:cNvSpPr>
            <a:spLocks noChangeShapeType="1"/>
          </p:cNvSpPr>
          <p:nvPr/>
        </p:nvSpPr>
        <p:spPr bwMode="auto">
          <a:xfrm flipV="1">
            <a:off x="3659264" y="2078100"/>
            <a:ext cx="1157814" cy="25429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7" name="Line 23"/>
          <p:cNvSpPr>
            <a:spLocks noChangeShapeType="1"/>
          </p:cNvSpPr>
          <p:nvPr/>
        </p:nvSpPr>
        <p:spPr bwMode="auto">
          <a:xfrm flipH="1">
            <a:off x="1710530" y="2078100"/>
            <a:ext cx="912795" cy="25429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8" name="Line 24"/>
          <p:cNvSpPr>
            <a:spLocks noChangeShapeType="1"/>
          </p:cNvSpPr>
          <p:nvPr/>
        </p:nvSpPr>
        <p:spPr bwMode="auto">
          <a:xfrm>
            <a:off x="2623325" y="2127319"/>
            <a:ext cx="366894" cy="55898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9" name="Line 25"/>
          <p:cNvSpPr>
            <a:spLocks noChangeShapeType="1"/>
          </p:cNvSpPr>
          <p:nvPr/>
        </p:nvSpPr>
        <p:spPr bwMode="auto">
          <a:xfrm flipV="1">
            <a:off x="3049888" y="2381617"/>
            <a:ext cx="548438" cy="3046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0" name="Line 26"/>
          <p:cNvSpPr>
            <a:spLocks noChangeShapeType="1"/>
          </p:cNvSpPr>
          <p:nvPr/>
        </p:nvSpPr>
        <p:spPr bwMode="auto">
          <a:xfrm flipH="1">
            <a:off x="2135824" y="2737867"/>
            <a:ext cx="793457" cy="10195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1" name="Line 27"/>
          <p:cNvSpPr>
            <a:spLocks noChangeShapeType="1"/>
          </p:cNvSpPr>
          <p:nvPr/>
        </p:nvSpPr>
        <p:spPr bwMode="auto">
          <a:xfrm>
            <a:off x="2135824" y="2889039"/>
            <a:ext cx="305957" cy="3046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32" name="Group 28"/>
          <p:cNvGrpSpPr>
            <a:grpSpLocks/>
          </p:cNvGrpSpPr>
          <p:nvPr/>
        </p:nvGrpSpPr>
        <p:grpSpPr bwMode="auto">
          <a:xfrm>
            <a:off x="2745200" y="2535133"/>
            <a:ext cx="548438" cy="353907"/>
            <a:chOff x="2949" y="196"/>
            <a:chExt cx="941" cy="598"/>
          </a:xfrm>
          <a:solidFill>
            <a:srgbClr val="00FFFF"/>
          </a:solidFill>
        </p:grpSpPr>
        <p:sp>
          <p:nvSpPr>
            <p:cNvPr id="33" name="Oval 29"/>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4" name="Oval 30"/>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5" name="Oval 31"/>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6" name="Oval 32"/>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7" name="Oval 33"/>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8" name="Oval 34"/>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9" name="Oval 35"/>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0" name="Oval 36"/>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1" name="Freeform 3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2" name="Freeform 3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3" name="Freeform 3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pic>
        <p:nvPicPr>
          <p:cNvPr id="44" name="Picture 4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832405" y="2737868"/>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5" name="Picture 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380844" y="1976147"/>
            <a:ext cx="416407" cy="2332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6" name="Picture 4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415513" y="2230444"/>
            <a:ext cx="41513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7" name="Picture 4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693932" y="1925757"/>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8" name="Picture 4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878015" y="2433179"/>
            <a:ext cx="41513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9" name="Picture 4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314248" y="2483570"/>
            <a:ext cx="415137" cy="2332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0" name="Picture 4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851747" y="2332398"/>
            <a:ext cx="415137" cy="2308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1" name="Group 47"/>
          <p:cNvGrpSpPr>
            <a:grpSpLocks/>
          </p:cNvGrpSpPr>
          <p:nvPr/>
        </p:nvGrpSpPr>
        <p:grpSpPr bwMode="auto">
          <a:xfrm>
            <a:off x="2196762" y="3042556"/>
            <a:ext cx="548438" cy="353907"/>
            <a:chOff x="2949" y="196"/>
            <a:chExt cx="941" cy="598"/>
          </a:xfrm>
          <a:solidFill>
            <a:srgbClr val="00FFFF"/>
          </a:solidFill>
        </p:grpSpPr>
        <p:sp>
          <p:nvSpPr>
            <p:cNvPr id="52" name="Oval 48"/>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3" name="Oval 49"/>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4" name="Oval 50"/>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5" name="Oval 51"/>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6" name="Oval 52"/>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7" name="Oval 53"/>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8" name="Oval 54"/>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9" name="Oval 55"/>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0" name="Freeform 56"/>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61" name="Freeform 57"/>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62" name="Freeform 58"/>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63" name="Group 59"/>
          <p:cNvGrpSpPr>
            <a:grpSpLocks/>
          </p:cNvGrpSpPr>
          <p:nvPr/>
        </p:nvGrpSpPr>
        <p:grpSpPr bwMode="auto">
          <a:xfrm>
            <a:off x="1466780" y="2178882"/>
            <a:ext cx="548438" cy="356250"/>
            <a:chOff x="2949" y="196"/>
            <a:chExt cx="941" cy="598"/>
          </a:xfrm>
          <a:solidFill>
            <a:srgbClr val="00FFFF"/>
          </a:solidFill>
        </p:grpSpPr>
        <p:sp>
          <p:nvSpPr>
            <p:cNvPr id="64" name="Oval 60"/>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5" name="Oval 61"/>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6" name="Oval 62"/>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7" name="Oval 63"/>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8" name="Oval 64"/>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9" name="Oval 65"/>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0" name="Oval 66"/>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1" name="Oval 67"/>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2" name="Freeform 6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3" name="Freeform 6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4" name="Freeform 7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75" name="Group 71"/>
          <p:cNvGrpSpPr>
            <a:grpSpLocks/>
          </p:cNvGrpSpPr>
          <p:nvPr/>
        </p:nvGrpSpPr>
        <p:grpSpPr bwMode="auto">
          <a:xfrm>
            <a:off x="6887685" y="1875366"/>
            <a:ext cx="547169" cy="355078"/>
            <a:chOff x="2949" y="196"/>
            <a:chExt cx="941" cy="598"/>
          </a:xfrm>
          <a:solidFill>
            <a:srgbClr val="00FFFF"/>
          </a:solidFill>
        </p:grpSpPr>
        <p:sp>
          <p:nvSpPr>
            <p:cNvPr id="76" name="Oval 72"/>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7" name="Oval 73"/>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8" name="Oval 74"/>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9" name="Oval 75"/>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0" name="Oval 76"/>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1" name="Oval 77"/>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2" name="Oval 78"/>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3" name="Oval 79"/>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4" name="Freeform 80"/>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5" name="Freeform 81"/>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6" name="Freeform 82"/>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87" name="Group 83"/>
          <p:cNvGrpSpPr>
            <a:grpSpLocks/>
          </p:cNvGrpSpPr>
          <p:nvPr/>
        </p:nvGrpSpPr>
        <p:grpSpPr bwMode="auto">
          <a:xfrm>
            <a:off x="6826747" y="3042556"/>
            <a:ext cx="548438" cy="353907"/>
            <a:chOff x="2949" y="196"/>
            <a:chExt cx="941" cy="598"/>
          </a:xfrm>
          <a:solidFill>
            <a:srgbClr val="00FFFF"/>
          </a:solidFill>
        </p:grpSpPr>
        <p:sp>
          <p:nvSpPr>
            <p:cNvPr id="88" name="Oval 84"/>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9" name="Oval 85"/>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0" name="Oval 86"/>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1" name="Oval 87"/>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2" name="Oval 88"/>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3" name="Oval 89"/>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4" name="Oval 90"/>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5" name="Oval 91"/>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6" name="Freeform 92"/>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7" name="Freeform 93"/>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8" name="Freeform 94"/>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99" name="Group 95"/>
          <p:cNvGrpSpPr>
            <a:grpSpLocks/>
          </p:cNvGrpSpPr>
          <p:nvPr/>
        </p:nvGrpSpPr>
        <p:grpSpPr bwMode="auto">
          <a:xfrm>
            <a:off x="6520790" y="2483569"/>
            <a:ext cx="548438" cy="356250"/>
            <a:chOff x="2949" y="196"/>
            <a:chExt cx="941" cy="598"/>
          </a:xfrm>
          <a:solidFill>
            <a:srgbClr val="00FFFF"/>
          </a:solidFill>
        </p:grpSpPr>
        <p:sp>
          <p:nvSpPr>
            <p:cNvPr id="100" name="Oval 96"/>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1" name="Oval 97"/>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2" name="Oval 98"/>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3" name="Oval 99"/>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4" name="Oval 100"/>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5" name="Oval 101"/>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6" name="Oval 102"/>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7" name="Oval 103"/>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8" name="Freeform 10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09" name="Freeform 10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0" name="Freeform 10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11" name="Text Box 107"/>
          <p:cNvSpPr txBox="1">
            <a:spLocks noChangeArrowheads="1"/>
          </p:cNvSpPr>
          <p:nvPr/>
        </p:nvSpPr>
        <p:spPr bwMode="auto">
          <a:xfrm>
            <a:off x="7527530" y="2212867"/>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9</a:t>
            </a:r>
          </a:p>
        </p:txBody>
      </p:sp>
      <p:sp>
        <p:nvSpPr>
          <p:cNvPr id="117" name="Text Box 113"/>
          <p:cNvSpPr txBox="1">
            <a:spLocks noChangeArrowheads="1"/>
          </p:cNvSpPr>
          <p:nvPr/>
        </p:nvSpPr>
        <p:spPr bwMode="auto">
          <a:xfrm>
            <a:off x="1525179" y="2648805"/>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2</a:t>
            </a:r>
          </a:p>
        </p:txBody>
      </p:sp>
      <p:sp>
        <p:nvSpPr>
          <p:cNvPr id="118" name="Text Box 114"/>
          <p:cNvSpPr txBox="1">
            <a:spLocks noChangeArrowheads="1"/>
          </p:cNvSpPr>
          <p:nvPr/>
        </p:nvSpPr>
        <p:spPr bwMode="auto">
          <a:xfrm>
            <a:off x="2107895" y="1764038"/>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1</a:t>
            </a:r>
          </a:p>
        </p:txBody>
      </p:sp>
      <p:grpSp>
        <p:nvGrpSpPr>
          <p:cNvPr id="119" name="组合 118"/>
          <p:cNvGrpSpPr/>
          <p:nvPr/>
        </p:nvGrpSpPr>
        <p:grpSpPr>
          <a:xfrm>
            <a:off x="3598326" y="3003883"/>
            <a:ext cx="2497171" cy="1046059"/>
            <a:chOff x="3598326" y="3003883"/>
            <a:chExt cx="2497171" cy="1046059"/>
          </a:xfrm>
        </p:grpSpPr>
        <p:sp>
          <p:nvSpPr>
            <p:cNvPr id="120" name="Oval 121"/>
            <p:cNvSpPr>
              <a:spLocks noChangeArrowheads="1"/>
            </p:cNvSpPr>
            <p:nvPr/>
          </p:nvSpPr>
          <p:spPr bwMode="auto">
            <a:xfrm>
              <a:off x="3598326" y="3003883"/>
              <a:ext cx="2497171" cy="767579"/>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121" name="Text Box 122"/>
            <p:cNvSpPr txBox="1">
              <a:spLocks noChangeArrowheads="1"/>
            </p:cNvSpPr>
            <p:nvPr/>
          </p:nvSpPr>
          <p:spPr bwMode="auto">
            <a:xfrm>
              <a:off x="4305485" y="3742165"/>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0.0.0.2</a:t>
              </a:r>
            </a:p>
          </p:txBody>
        </p:sp>
      </p:grpSp>
      <p:sp>
        <p:nvSpPr>
          <p:cNvPr id="122" name="Line 123"/>
          <p:cNvSpPr>
            <a:spLocks noChangeShapeType="1"/>
          </p:cNvSpPr>
          <p:nvPr/>
        </p:nvSpPr>
        <p:spPr bwMode="auto">
          <a:xfrm>
            <a:off x="4817078" y="2940601"/>
            <a:ext cx="729981" cy="38437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3" name="Line 124"/>
          <p:cNvSpPr>
            <a:spLocks noChangeShapeType="1"/>
          </p:cNvSpPr>
          <p:nvPr/>
        </p:nvSpPr>
        <p:spPr bwMode="auto">
          <a:xfrm flipV="1">
            <a:off x="4938953" y="3388258"/>
            <a:ext cx="669044" cy="1921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124" name="Group 125"/>
          <p:cNvGrpSpPr>
            <a:grpSpLocks/>
          </p:cNvGrpSpPr>
          <p:nvPr/>
        </p:nvGrpSpPr>
        <p:grpSpPr bwMode="auto">
          <a:xfrm>
            <a:off x="5365516" y="3131617"/>
            <a:ext cx="547168" cy="448828"/>
            <a:chOff x="2949" y="196"/>
            <a:chExt cx="941" cy="598"/>
          </a:xfrm>
          <a:solidFill>
            <a:srgbClr val="00FFFF"/>
          </a:solidFill>
        </p:grpSpPr>
        <p:sp>
          <p:nvSpPr>
            <p:cNvPr id="125" name="Oval 126"/>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6" name="Oval 127"/>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7" name="Oval 128"/>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8" name="Oval 129"/>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9" name="Oval 130"/>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30" name="Oval 131"/>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31" name="Oval 132"/>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32" name="Oval 133"/>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33" name="Freeform 13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4" name="Freeform 13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5" name="Freeform 13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36" name="Line 138"/>
          <p:cNvSpPr>
            <a:spLocks noChangeShapeType="1"/>
          </p:cNvSpPr>
          <p:nvPr/>
        </p:nvSpPr>
        <p:spPr bwMode="auto">
          <a:xfrm>
            <a:off x="4084557" y="3450368"/>
            <a:ext cx="732521" cy="13007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137" name="Group 139"/>
          <p:cNvGrpSpPr>
            <a:grpSpLocks/>
          </p:cNvGrpSpPr>
          <p:nvPr/>
        </p:nvGrpSpPr>
        <p:grpSpPr bwMode="auto">
          <a:xfrm>
            <a:off x="3842076" y="3194899"/>
            <a:ext cx="548438" cy="448828"/>
            <a:chOff x="2949" y="196"/>
            <a:chExt cx="941" cy="598"/>
          </a:xfrm>
          <a:solidFill>
            <a:srgbClr val="00FFFF"/>
          </a:solidFill>
        </p:grpSpPr>
        <p:sp>
          <p:nvSpPr>
            <p:cNvPr id="138" name="Oval 140"/>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39" name="Oval 141"/>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0" name="Oval 142"/>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1" name="Oval 143"/>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2" name="Oval 144"/>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3" name="Oval 145"/>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4" name="Oval 146"/>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5" name="Oval 147"/>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6" name="Freeform 14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7" name="Freeform 14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8" name="Freeform 15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pic>
        <p:nvPicPr>
          <p:cNvPr id="149" name="Picture 15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693932" y="3415211"/>
            <a:ext cx="416407" cy="2941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50" name="Text Box 153"/>
          <p:cNvSpPr txBox="1">
            <a:spLocks noChangeArrowheads="1"/>
          </p:cNvSpPr>
          <p:nvPr/>
        </p:nvSpPr>
        <p:spPr bwMode="auto">
          <a:xfrm>
            <a:off x="4459070" y="3184351"/>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8</a:t>
            </a:r>
          </a:p>
        </p:txBody>
      </p:sp>
      <p:pic>
        <p:nvPicPr>
          <p:cNvPr id="151" name="Picture 15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643151" y="2842164"/>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52" name="Text Box 115"/>
          <p:cNvSpPr txBox="1">
            <a:spLocks noChangeArrowheads="1"/>
          </p:cNvSpPr>
          <p:nvPr/>
        </p:nvSpPr>
        <p:spPr bwMode="auto">
          <a:xfrm>
            <a:off x="6861812" y="3068342"/>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8</a:t>
            </a:r>
          </a:p>
        </p:txBody>
      </p:sp>
      <p:sp>
        <p:nvSpPr>
          <p:cNvPr id="153" name="Text Box 116"/>
          <p:cNvSpPr txBox="1">
            <a:spLocks noChangeArrowheads="1"/>
          </p:cNvSpPr>
          <p:nvPr/>
        </p:nvSpPr>
        <p:spPr bwMode="auto">
          <a:xfrm>
            <a:off x="6915228" y="1904669"/>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6</a:t>
            </a:r>
          </a:p>
        </p:txBody>
      </p:sp>
      <p:sp>
        <p:nvSpPr>
          <p:cNvPr id="154" name="Text Box 117"/>
          <p:cNvSpPr txBox="1">
            <a:spLocks noChangeArrowheads="1"/>
          </p:cNvSpPr>
          <p:nvPr/>
        </p:nvSpPr>
        <p:spPr bwMode="auto">
          <a:xfrm>
            <a:off x="2237984" y="3077712"/>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3</a:t>
            </a:r>
          </a:p>
        </p:txBody>
      </p:sp>
      <p:sp>
        <p:nvSpPr>
          <p:cNvPr id="155" name="Text Box 118"/>
          <p:cNvSpPr txBox="1">
            <a:spLocks noChangeArrowheads="1"/>
          </p:cNvSpPr>
          <p:nvPr/>
        </p:nvSpPr>
        <p:spPr bwMode="auto">
          <a:xfrm>
            <a:off x="2789151" y="2555049"/>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2</a:t>
            </a:r>
          </a:p>
        </p:txBody>
      </p:sp>
      <p:sp>
        <p:nvSpPr>
          <p:cNvPr id="156" name="Text Box 119"/>
          <p:cNvSpPr txBox="1">
            <a:spLocks noChangeArrowheads="1"/>
          </p:cNvSpPr>
          <p:nvPr/>
        </p:nvSpPr>
        <p:spPr bwMode="auto">
          <a:xfrm>
            <a:off x="1505747" y="2201148"/>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1</a:t>
            </a:r>
          </a:p>
        </p:txBody>
      </p:sp>
      <p:sp>
        <p:nvSpPr>
          <p:cNvPr id="157" name="Text Box 120"/>
          <p:cNvSpPr txBox="1">
            <a:spLocks noChangeArrowheads="1"/>
          </p:cNvSpPr>
          <p:nvPr/>
        </p:nvSpPr>
        <p:spPr bwMode="auto">
          <a:xfrm>
            <a:off x="6550398" y="2522248"/>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7</a:t>
            </a:r>
          </a:p>
        </p:txBody>
      </p:sp>
      <p:sp>
        <p:nvSpPr>
          <p:cNvPr id="158" name="Text Box 137"/>
          <p:cNvSpPr txBox="1">
            <a:spLocks noChangeArrowheads="1"/>
          </p:cNvSpPr>
          <p:nvPr/>
        </p:nvSpPr>
        <p:spPr bwMode="auto">
          <a:xfrm>
            <a:off x="5407913" y="3218354"/>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4</a:t>
            </a:r>
          </a:p>
        </p:txBody>
      </p:sp>
      <p:sp>
        <p:nvSpPr>
          <p:cNvPr id="159" name="Text Box 151"/>
          <p:cNvSpPr txBox="1">
            <a:spLocks noChangeArrowheads="1"/>
          </p:cNvSpPr>
          <p:nvPr/>
        </p:nvSpPr>
        <p:spPr bwMode="auto">
          <a:xfrm>
            <a:off x="3872858" y="3278102"/>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5</a:t>
            </a:r>
          </a:p>
        </p:txBody>
      </p:sp>
      <p:grpSp>
        <p:nvGrpSpPr>
          <p:cNvPr id="160" name="组合 159"/>
          <p:cNvGrpSpPr/>
          <p:nvPr/>
        </p:nvGrpSpPr>
        <p:grpSpPr>
          <a:xfrm>
            <a:off x="3421861" y="1933961"/>
            <a:ext cx="2567034" cy="953480"/>
            <a:chOff x="3421861" y="1933961"/>
            <a:chExt cx="2567034" cy="953480"/>
          </a:xfrm>
        </p:grpSpPr>
        <p:sp>
          <p:nvSpPr>
            <p:cNvPr id="112" name="Text Box 108"/>
            <p:cNvSpPr txBox="1">
              <a:spLocks noChangeArrowheads="1"/>
            </p:cNvSpPr>
            <p:nvPr/>
          </p:nvSpPr>
          <p:spPr bwMode="auto">
            <a:xfrm>
              <a:off x="5605457" y="2078101"/>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7</a:t>
              </a:r>
            </a:p>
          </p:txBody>
        </p:sp>
        <p:sp>
          <p:nvSpPr>
            <p:cNvPr id="115" name="Text Box 111"/>
            <p:cNvSpPr txBox="1">
              <a:spLocks noChangeArrowheads="1"/>
            </p:cNvSpPr>
            <p:nvPr/>
          </p:nvSpPr>
          <p:spPr bwMode="auto">
            <a:xfrm>
              <a:off x="4432409" y="2579664"/>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4</a:t>
              </a:r>
            </a:p>
          </p:txBody>
        </p:sp>
        <p:sp>
          <p:nvSpPr>
            <p:cNvPr id="116" name="Text Box 112"/>
            <p:cNvSpPr txBox="1">
              <a:spLocks noChangeArrowheads="1"/>
            </p:cNvSpPr>
            <p:nvPr/>
          </p:nvSpPr>
          <p:spPr bwMode="auto">
            <a:xfrm>
              <a:off x="3421861" y="1933961"/>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3</a:t>
              </a:r>
            </a:p>
          </p:txBody>
        </p:sp>
      </p:grpSp>
      <p:sp>
        <p:nvSpPr>
          <p:cNvPr id="161" name="Text Box 109"/>
          <p:cNvSpPr txBox="1">
            <a:spLocks noChangeArrowheads="1"/>
          </p:cNvSpPr>
          <p:nvPr/>
        </p:nvSpPr>
        <p:spPr bwMode="auto">
          <a:xfrm>
            <a:off x="5100183" y="1834351"/>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CC00FF"/>
                </a:solidFill>
                <a:latin typeface="微软雅黑" pitchFamily="34" charset="-122"/>
                <a:ea typeface="微软雅黑" pitchFamily="34" charset="-122"/>
              </a:rPr>
              <a:t>R</a:t>
            </a:r>
            <a:r>
              <a:rPr kumimoji="1" lang="en-US" altLang="zh-CN" sz="1400" b="1" baseline="-25000" dirty="0">
                <a:solidFill>
                  <a:srgbClr val="CC00FF"/>
                </a:solidFill>
                <a:latin typeface="微软雅黑" pitchFamily="34" charset="-122"/>
                <a:ea typeface="微软雅黑" pitchFamily="34" charset="-122"/>
              </a:rPr>
              <a:t>6</a:t>
            </a:r>
          </a:p>
        </p:txBody>
      </p:sp>
      <p:sp>
        <p:nvSpPr>
          <p:cNvPr id="162" name="Text Box 110"/>
          <p:cNvSpPr txBox="1">
            <a:spLocks noChangeArrowheads="1"/>
          </p:cNvSpPr>
          <p:nvPr/>
        </p:nvSpPr>
        <p:spPr bwMode="auto">
          <a:xfrm>
            <a:off x="4643151" y="2168336"/>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5</a:t>
            </a:r>
          </a:p>
        </p:txBody>
      </p:sp>
      <p:sp>
        <p:nvSpPr>
          <p:cNvPr id="163" name="Text Box 4"/>
          <p:cNvSpPr txBox="1">
            <a:spLocks noChangeArrowheads="1"/>
          </p:cNvSpPr>
          <p:nvPr/>
        </p:nvSpPr>
        <p:spPr bwMode="auto">
          <a:xfrm>
            <a:off x="1213446" y="1432832"/>
            <a:ext cx="1197169" cy="3082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自治系统 </a:t>
            </a:r>
            <a:r>
              <a:rPr kumimoji="1" lang="en-US" altLang="zh-CN" sz="1400" b="1" dirty="0">
                <a:latin typeface="微软雅黑" pitchFamily="34" charset="-122"/>
                <a:ea typeface="微软雅黑" pitchFamily="34" charset="-122"/>
              </a:rPr>
              <a:t>AS</a:t>
            </a:r>
          </a:p>
        </p:txBody>
      </p:sp>
    </p:spTree>
    <p:extLst>
      <p:ext uri="{BB962C8B-B14F-4D97-AF65-F5344CB8AC3E}">
        <p14:creationId xmlns:p14="http://schemas.microsoft.com/office/powerpoint/2010/main" val="348665664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5000" fill="hold" grpId="0" nodeType="afterEffect">
                                  <p:stCondLst>
                                    <p:cond delay="0"/>
                                  </p:stCondLst>
                                  <p:childTnLst>
                                    <p:anim calcmode="discrete" valueType="str">
                                      <p:cBhvr>
                                        <p:cTn id="6" dur="1000" fill="hold"/>
                                        <p:tgtEl>
                                          <p:spTgt spid="16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1" grpId="0"/>
    </p:bld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31342"/>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81366"/>
            <a:ext cx="2492990" cy="400110"/>
          </a:xfrm>
          <a:prstGeom prst="rect">
            <a:avLst/>
          </a:prstGeom>
        </p:spPr>
        <p:txBody>
          <a:bodyPr wrap="none">
            <a:spAutoFit/>
          </a:bodyPr>
          <a:lstStyle/>
          <a:p>
            <a:r>
              <a:rPr lang="zh-CN" altLang="en-US" sz="2000" b="1" dirty="0">
                <a:latin typeface="微软雅黑" pitchFamily="34" charset="-122"/>
                <a:ea typeface="微软雅黑" pitchFamily="34" charset="-122"/>
              </a:rPr>
              <a:t>划分区域优点和缺点</a:t>
            </a:r>
          </a:p>
        </p:txBody>
      </p:sp>
      <p:sp>
        <p:nvSpPr>
          <p:cNvPr id="4" name="矩形 3"/>
          <p:cNvSpPr/>
          <p:nvPr/>
        </p:nvSpPr>
        <p:spPr>
          <a:xfrm>
            <a:off x="545145" y="947607"/>
            <a:ext cx="8053712" cy="2365519"/>
          </a:xfrm>
          <a:prstGeom prst="rect">
            <a:avLst/>
          </a:prstGeom>
        </p:spPr>
        <p:txBody>
          <a:bodyPr wrap="square">
            <a:spAutoFit/>
          </a:bodyPr>
          <a:lstStyle/>
          <a:p>
            <a:pPr marL="285750" indent="-28575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优点：</a:t>
            </a:r>
            <a:endParaRPr lang="en-US" altLang="zh-CN" sz="2000" b="1" dirty="0">
              <a:solidFill>
                <a:srgbClr val="C00000"/>
              </a:solidFill>
              <a:latin typeface="微软雅黑" pitchFamily="34" charset="-122"/>
              <a:ea typeface="微软雅黑" pitchFamily="34" charset="-122"/>
            </a:endParaRPr>
          </a:p>
          <a:p>
            <a:pPr marL="534988" lvl="1" indent="-2794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减少了整个网络上的通信量。</a:t>
            </a:r>
          </a:p>
          <a:p>
            <a:pPr marL="534988" lvl="1" indent="-2794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减少了需要维护的状态数量。</a:t>
            </a:r>
          </a:p>
          <a:p>
            <a:pPr marL="285750" indent="-285750">
              <a:lnSpc>
                <a:spcPts val="3000"/>
              </a:lnSpc>
              <a:buClr>
                <a:srgbClr val="0070C0"/>
              </a:buClr>
              <a:buSzPct val="75000"/>
              <a:buFont typeface="Wingdings" pitchFamily="2" charset="2"/>
              <a:buChar char="l"/>
            </a:pPr>
            <a:r>
              <a:rPr lang="zh-CN" altLang="en-US" sz="2000" b="1" dirty="0">
                <a:solidFill>
                  <a:srgbClr val="0000FF"/>
                </a:solidFill>
                <a:latin typeface="微软雅黑" pitchFamily="34" charset="-122"/>
                <a:ea typeface="微软雅黑" pitchFamily="34" charset="-122"/>
              </a:rPr>
              <a:t>缺点：</a:t>
            </a:r>
            <a:endParaRPr lang="en-US" altLang="zh-CN" sz="2000" b="1" dirty="0">
              <a:solidFill>
                <a:srgbClr val="0000FF"/>
              </a:solidFill>
              <a:latin typeface="微软雅黑" pitchFamily="34" charset="-122"/>
              <a:ea typeface="微软雅黑" pitchFamily="34" charset="-122"/>
            </a:endParaRPr>
          </a:p>
          <a:p>
            <a:pPr marL="534988" lvl="1" indent="-2794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交换信息的种类增多了。</a:t>
            </a:r>
            <a:endParaRPr lang="en-US" altLang="zh-CN" sz="2000" b="1" dirty="0">
              <a:latin typeface="微软雅黑" pitchFamily="34" charset="-122"/>
              <a:ea typeface="微软雅黑" pitchFamily="34" charset="-122"/>
            </a:endParaRPr>
          </a:p>
          <a:p>
            <a:pPr marL="534988" lvl="1" indent="-2794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使 </a:t>
            </a:r>
            <a:r>
              <a:rPr lang="en-US" altLang="zh-CN" sz="2000" b="1" dirty="0">
                <a:latin typeface="微软雅黑" pitchFamily="34" charset="-122"/>
                <a:ea typeface="微软雅黑" pitchFamily="34" charset="-122"/>
              </a:rPr>
              <a:t>OSPF </a:t>
            </a:r>
            <a:r>
              <a:rPr lang="zh-CN" altLang="en-US" sz="2000" b="1" dirty="0">
                <a:latin typeface="微软雅黑" pitchFamily="34" charset="-122"/>
                <a:ea typeface="微软雅黑" pitchFamily="34" charset="-122"/>
              </a:rPr>
              <a:t>协议更加复杂了。</a:t>
            </a:r>
            <a:endParaRPr lang="en-US" altLang="zh-CN" sz="2000" b="1" dirty="0">
              <a:latin typeface="微软雅黑" pitchFamily="34" charset="-122"/>
              <a:ea typeface="微软雅黑" pitchFamily="34" charset="-122"/>
            </a:endParaRPr>
          </a:p>
        </p:txBody>
      </p:sp>
      <p:sp>
        <p:nvSpPr>
          <p:cNvPr id="6" name="矩形 5"/>
          <p:cNvSpPr/>
          <p:nvPr/>
        </p:nvSpPr>
        <p:spPr>
          <a:xfrm>
            <a:off x="4655862" y="1345193"/>
            <a:ext cx="3771544" cy="1631216"/>
          </a:xfrm>
          <a:prstGeom prst="rect">
            <a:avLst/>
          </a:prstGeom>
        </p:spPr>
        <p:style>
          <a:lnRef idx="1">
            <a:schemeClr val="accent1"/>
          </a:lnRef>
          <a:fillRef idx="3">
            <a:schemeClr val="accent1"/>
          </a:fillRef>
          <a:effectRef idx="2">
            <a:schemeClr val="accent1"/>
          </a:effectRef>
          <a:fontRef idx="minor">
            <a:schemeClr val="lt1"/>
          </a:fontRef>
        </p:style>
        <p:txBody>
          <a:bodyPr wrap="square">
            <a:spAutoFit/>
          </a:bodyPr>
          <a:lstStyle/>
          <a:p>
            <a:pPr>
              <a:lnSpc>
                <a:spcPts val="3000"/>
              </a:lnSpc>
            </a:pPr>
            <a:r>
              <a:rPr lang="zh-CN" altLang="en-US" b="1" dirty="0">
                <a:latin typeface="微软雅黑" pitchFamily="34" charset="-122"/>
                <a:ea typeface="微软雅黑" pitchFamily="34" charset="-122"/>
              </a:rPr>
              <a:t>分层次划分区域的</a:t>
            </a:r>
            <a:r>
              <a:rPr lang="zh-CN" altLang="en-US" b="1" dirty="0">
                <a:solidFill>
                  <a:srgbClr val="FFFF00"/>
                </a:solidFill>
                <a:latin typeface="微软雅黑" pitchFamily="34" charset="-122"/>
                <a:ea typeface="微软雅黑" pitchFamily="34" charset="-122"/>
              </a:rPr>
              <a:t>好处：</a:t>
            </a:r>
            <a:endParaRPr lang="en-US" altLang="zh-CN" b="1" dirty="0">
              <a:solidFill>
                <a:srgbClr val="FFFF00"/>
              </a:solidFill>
              <a:latin typeface="微软雅黑" pitchFamily="34" charset="-122"/>
              <a:ea typeface="微软雅黑" pitchFamily="34" charset="-122"/>
            </a:endParaRPr>
          </a:p>
          <a:p>
            <a:pPr>
              <a:lnSpc>
                <a:spcPts val="3000"/>
              </a:lnSpc>
            </a:pPr>
            <a:r>
              <a:rPr lang="zh-CN" altLang="en-US" b="1" dirty="0">
                <a:latin typeface="微软雅黑" pitchFamily="34" charset="-122"/>
                <a:ea typeface="微软雅黑" pitchFamily="34" charset="-122"/>
              </a:rPr>
              <a:t>使每一个区域内部交换路由信息的通信量大大减小，因而使 </a:t>
            </a:r>
            <a:r>
              <a:rPr lang="en-US" altLang="zh-CN" b="1" dirty="0">
                <a:latin typeface="微软雅黑" pitchFamily="34" charset="-122"/>
                <a:ea typeface="微软雅黑" pitchFamily="34" charset="-122"/>
              </a:rPr>
              <a:t>OSPF </a:t>
            </a:r>
            <a:r>
              <a:rPr lang="zh-CN" altLang="en-US" b="1" dirty="0">
                <a:latin typeface="微软雅黑" pitchFamily="34" charset="-122"/>
                <a:ea typeface="微软雅黑" pitchFamily="34" charset="-122"/>
              </a:rPr>
              <a:t>协议能够用于规模很大的自治系统中。</a:t>
            </a:r>
          </a:p>
        </p:txBody>
      </p:sp>
    </p:spTree>
    <p:extLst>
      <p:ext uri="{BB962C8B-B14F-4D97-AF65-F5344CB8AC3E}">
        <p14:creationId xmlns:p14="http://schemas.microsoft.com/office/powerpoint/2010/main" val="246136901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31246"/>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81270"/>
            <a:ext cx="1210588" cy="400110"/>
          </a:xfrm>
          <a:prstGeom prst="rect">
            <a:avLst/>
          </a:prstGeom>
        </p:spPr>
        <p:txBody>
          <a:bodyPr wrap="none">
            <a:spAutoFit/>
          </a:bodyPr>
          <a:lstStyle/>
          <a:p>
            <a:r>
              <a:rPr lang="zh-CN" altLang="en-US" sz="2000" b="1" dirty="0">
                <a:latin typeface="微软雅黑" pitchFamily="34" charset="-122"/>
                <a:ea typeface="微软雅黑" pitchFamily="34" charset="-122"/>
              </a:rPr>
              <a:t>其他特点</a:t>
            </a:r>
          </a:p>
        </p:txBody>
      </p:sp>
      <p:sp>
        <p:nvSpPr>
          <p:cNvPr id="4" name="矩形 3"/>
          <p:cNvSpPr/>
          <p:nvPr/>
        </p:nvSpPr>
        <p:spPr>
          <a:xfrm>
            <a:off x="545145" y="946778"/>
            <a:ext cx="8053712" cy="2631490"/>
          </a:xfrm>
          <a:prstGeom prst="rect">
            <a:avLst/>
          </a:prstGeom>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对于不同类型的业务可计算出</a:t>
            </a:r>
            <a:r>
              <a:rPr lang="zh-CN" altLang="en-US" sz="2000" b="1" dirty="0">
                <a:solidFill>
                  <a:srgbClr val="0000FF"/>
                </a:solidFill>
                <a:latin typeface="微软雅黑" pitchFamily="34" charset="-122"/>
                <a:ea typeface="微软雅黑" pitchFamily="34" charset="-122"/>
              </a:rPr>
              <a:t>不同的路由。</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可实现多路径间的</a:t>
            </a:r>
            <a:r>
              <a:rPr lang="zh-CN" altLang="en-US" sz="2000" b="1" dirty="0">
                <a:solidFill>
                  <a:srgbClr val="0000FF"/>
                </a:solidFill>
                <a:latin typeface="微软雅黑" pitchFamily="34" charset="-122"/>
                <a:ea typeface="微软雅黑" pitchFamily="34" charset="-122"/>
              </a:rPr>
              <a:t>负载均衡</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load balancing</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所有在 </a:t>
            </a:r>
            <a:r>
              <a:rPr lang="en-US" altLang="zh-CN" sz="2000" b="1" dirty="0">
                <a:latin typeface="微软雅黑" pitchFamily="34" charset="-122"/>
                <a:ea typeface="微软雅黑" pitchFamily="34" charset="-122"/>
              </a:rPr>
              <a:t>OSPF </a:t>
            </a:r>
            <a:r>
              <a:rPr lang="zh-CN" altLang="en-US" sz="2000" b="1" dirty="0">
                <a:latin typeface="微软雅黑" pitchFamily="34" charset="-122"/>
                <a:ea typeface="微软雅黑" pitchFamily="34" charset="-122"/>
              </a:rPr>
              <a:t>路由器之间交换的分组都具有</a:t>
            </a:r>
            <a:r>
              <a:rPr lang="zh-CN" altLang="en-US" sz="2000" b="1" dirty="0">
                <a:solidFill>
                  <a:srgbClr val="0000FF"/>
                </a:solidFill>
                <a:latin typeface="微软雅黑" pitchFamily="34" charset="-122"/>
                <a:ea typeface="微软雅黑" pitchFamily="34" charset="-122"/>
              </a:rPr>
              <a:t>鉴别</a:t>
            </a:r>
            <a:r>
              <a:rPr lang="zh-CN" altLang="en-US" sz="2000" b="1" dirty="0">
                <a:latin typeface="微软雅黑" pitchFamily="34" charset="-122"/>
                <a:ea typeface="微软雅黑" pitchFamily="34" charset="-122"/>
              </a:rPr>
              <a:t>的功能。</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支持</a:t>
            </a:r>
            <a:r>
              <a:rPr lang="zh-CN" altLang="en-US" sz="2000" b="1" dirty="0">
                <a:solidFill>
                  <a:srgbClr val="0000FF"/>
                </a:solidFill>
                <a:latin typeface="微软雅黑" pitchFamily="34" charset="-122"/>
                <a:ea typeface="微软雅黑" pitchFamily="34" charset="-122"/>
              </a:rPr>
              <a:t>可变长度的子网划分</a:t>
            </a:r>
            <a:r>
              <a:rPr lang="zh-CN" altLang="en-US" sz="2000" b="1" dirty="0">
                <a:latin typeface="微软雅黑" pitchFamily="34" charset="-122"/>
                <a:ea typeface="微软雅黑" pitchFamily="34" charset="-122"/>
              </a:rPr>
              <a:t>和</a:t>
            </a:r>
            <a:r>
              <a:rPr lang="zh-CN" altLang="en-US" sz="2000" b="1" dirty="0">
                <a:solidFill>
                  <a:srgbClr val="0000FF"/>
                </a:solidFill>
                <a:latin typeface="微软雅黑" pitchFamily="34" charset="-122"/>
                <a:ea typeface="微软雅黑" pitchFamily="34" charset="-122"/>
              </a:rPr>
              <a:t>无分类编址 </a:t>
            </a:r>
            <a:r>
              <a:rPr lang="en-US" altLang="zh-CN" sz="2000" b="1" dirty="0">
                <a:solidFill>
                  <a:srgbClr val="0000FF"/>
                </a:solidFill>
                <a:latin typeface="微软雅黑" pitchFamily="34" charset="-122"/>
                <a:ea typeface="微软雅黑" pitchFamily="34" charset="-122"/>
              </a:rPr>
              <a:t>CIDR</a:t>
            </a:r>
            <a:r>
              <a:rPr lang="zh-CN" altLang="en-US" sz="2000" b="1" dirty="0">
                <a:solidFill>
                  <a:srgbClr val="0000FF"/>
                </a:solidFill>
                <a:latin typeface="微软雅黑" pitchFamily="34" charset="-122"/>
                <a:ea typeface="微软雅黑" pitchFamily="34" charset="-122"/>
              </a:rPr>
              <a:t>。</a:t>
            </a:r>
          </a:p>
          <a:p>
            <a:pPr marL="285750" indent="-285750">
              <a:lnSpc>
                <a:spcPts val="33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32 </a:t>
            </a:r>
            <a:r>
              <a:rPr lang="zh-CN" altLang="en-US" sz="2000" b="1" dirty="0">
                <a:solidFill>
                  <a:srgbClr val="0000FF"/>
                </a:solidFill>
                <a:latin typeface="微软雅黑" pitchFamily="34" charset="-122"/>
                <a:ea typeface="微软雅黑" pitchFamily="34" charset="-122"/>
              </a:rPr>
              <a:t>位的序号，</a:t>
            </a:r>
            <a:r>
              <a:rPr lang="zh-CN" altLang="en-US" sz="2000" b="1" dirty="0">
                <a:latin typeface="微软雅黑" pitchFamily="34" charset="-122"/>
                <a:ea typeface="微软雅黑" pitchFamily="34" charset="-122"/>
              </a:rPr>
              <a:t>序号越大状态就越新。全部序号空间在 </a:t>
            </a:r>
            <a:r>
              <a:rPr lang="en-US" altLang="zh-CN" sz="2000" b="1" dirty="0">
                <a:latin typeface="微软雅黑" pitchFamily="34" charset="-122"/>
                <a:ea typeface="微软雅黑" pitchFamily="34" charset="-122"/>
              </a:rPr>
              <a:t>600 </a:t>
            </a:r>
            <a:r>
              <a:rPr lang="zh-CN" altLang="en-US" sz="2000" b="1" dirty="0">
                <a:latin typeface="微软雅黑" pitchFamily="34" charset="-122"/>
                <a:ea typeface="微软雅黑" pitchFamily="34" charset="-122"/>
              </a:rPr>
              <a:t>年内不会产生重复号。</a:t>
            </a:r>
          </a:p>
        </p:txBody>
      </p:sp>
    </p:spTree>
    <p:extLst>
      <p:ext uri="{BB962C8B-B14F-4D97-AF65-F5344CB8AC3E}">
        <p14:creationId xmlns:p14="http://schemas.microsoft.com/office/powerpoint/2010/main" val="363749285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3" y="991408"/>
            <a:ext cx="8053711" cy="2208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8775" indent="-358775">
              <a:lnSpc>
                <a:spcPts val="3300"/>
              </a:lnSpc>
              <a:buClr>
                <a:srgbClr val="9900CC"/>
              </a:buClr>
              <a:buFont typeface="+mj-lt"/>
              <a:buAutoNum type="arabicPeriod"/>
            </a:pPr>
            <a:r>
              <a:rPr lang="zh-CN" altLang="en-US" sz="2000" b="1" dirty="0">
                <a:latin typeface="微软雅黑" pitchFamily="34" charset="-122"/>
                <a:ea typeface="微软雅黑" pitchFamily="34" charset="-122"/>
              </a:rPr>
              <a:t>问候 </a:t>
            </a:r>
            <a:r>
              <a:rPr lang="en-US" altLang="zh-CN" sz="2000" b="1" dirty="0">
                <a:latin typeface="微软雅黑" pitchFamily="34" charset="-122"/>
                <a:ea typeface="微软雅黑" pitchFamily="34" charset="-122"/>
              </a:rPr>
              <a:t>(Hello) </a:t>
            </a:r>
            <a:r>
              <a:rPr lang="zh-CN" altLang="en-US" sz="2000" b="1" dirty="0">
                <a:latin typeface="微软雅黑" pitchFamily="34" charset="-122"/>
                <a:ea typeface="微软雅黑" pitchFamily="34" charset="-122"/>
              </a:rPr>
              <a:t>分组。</a:t>
            </a:r>
          </a:p>
          <a:p>
            <a:pPr marL="358775" indent="-358775">
              <a:lnSpc>
                <a:spcPts val="3300"/>
              </a:lnSpc>
              <a:buClr>
                <a:srgbClr val="9900CC"/>
              </a:buClr>
              <a:buFont typeface="+mj-lt"/>
              <a:buAutoNum type="arabicPeriod"/>
            </a:pPr>
            <a:r>
              <a:rPr lang="zh-CN" altLang="en-US" sz="2000" b="1" dirty="0">
                <a:latin typeface="微软雅黑" pitchFamily="34" charset="-122"/>
                <a:ea typeface="微软雅黑" pitchFamily="34" charset="-122"/>
              </a:rPr>
              <a:t>数据库描述 </a:t>
            </a:r>
            <a:r>
              <a:rPr lang="en-US" altLang="zh-CN" sz="2000" b="1" dirty="0">
                <a:latin typeface="微软雅黑" pitchFamily="34" charset="-122"/>
                <a:ea typeface="微软雅黑" pitchFamily="34" charset="-122"/>
              </a:rPr>
              <a:t>(Database Description) </a:t>
            </a:r>
            <a:r>
              <a:rPr lang="zh-CN" altLang="en-US" sz="2000" b="1" dirty="0">
                <a:latin typeface="微软雅黑" pitchFamily="34" charset="-122"/>
                <a:ea typeface="微软雅黑" pitchFamily="34" charset="-122"/>
              </a:rPr>
              <a:t>分组。</a:t>
            </a:r>
          </a:p>
          <a:p>
            <a:pPr marL="358775" indent="-358775">
              <a:lnSpc>
                <a:spcPts val="3300"/>
              </a:lnSpc>
              <a:buClr>
                <a:srgbClr val="9900CC"/>
              </a:buClr>
              <a:buFont typeface="+mj-lt"/>
              <a:buAutoNum type="arabicPeriod"/>
            </a:pPr>
            <a:r>
              <a:rPr lang="zh-CN" altLang="en-US" sz="2000" b="1" dirty="0">
                <a:latin typeface="微软雅黑" pitchFamily="34" charset="-122"/>
                <a:ea typeface="微软雅黑" pitchFamily="34" charset="-122"/>
              </a:rPr>
              <a:t>链路状态请求 </a:t>
            </a:r>
            <a:r>
              <a:rPr lang="en-US" altLang="zh-CN" sz="2000" b="1" dirty="0">
                <a:latin typeface="微软雅黑" pitchFamily="34" charset="-122"/>
                <a:ea typeface="微软雅黑" pitchFamily="34" charset="-122"/>
              </a:rPr>
              <a:t>(Link State Request) </a:t>
            </a:r>
            <a:r>
              <a:rPr lang="zh-CN" altLang="en-US" sz="2000" b="1" dirty="0">
                <a:latin typeface="微软雅黑" pitchFamily="34" charset="-122"/>
                <a:ea typeface="微软雅黑" pitchFamily="34" charset="-122"/>
              </a:rPr>
              <a:t>分组。</a:t>
            </a:r>
          </a:p>
          <a:p>
            <a:pPr marL="358775" indent="-358775">
              <a:lnSpc>
                <a:spcPts val="3300"/>
              </a:lnSpc>
              <a:buClr>
                <a:srgbClr val="9900CC"/>
              </a:buClr>
              <a:buFont typeface="+mj-lt"/>
              <a:buAutoNum type="arabicPeriod"/>
            </a:pPr>
            <a:r>
              <a:rPr lang="zh-CN" altLang="en-US" sz="2000" b="1" dirty="0">
                <a:latin typeface="微软雅黑" pitchFamily="34" charset="-122"/>
                <a:ea typeface="微软雅黑" pitchFamily="34" charset="-122"/>
              </a:rPr>
              <a:t>链路状态更新 </a:t>
            </a:r>
            <a:r>
              <a:rPr lang="en-US" altLang="zh-CN" sz="2000" b="1" dirty="0">
                <a:latin typeface="微软雅黑" pitchFamily="34" charset="-122"/>
                <a:ea typeface="微软雅黑" pitchFamily="34" charset="-122"/>
              </a:rPr>
              <a:t>(Link State Update) </a:t>
            </a:r>
            <a:r>
              <a:rPr lang="zh-CN" altLang="en-US" sz="2000" b="1" dirty="0">
                <a:latin typeface="微软雅黑" pitchFamily="34" charset="-122"/>
                <a:ea typeface="微软雅黑" pitchFamily="34" charset="-122"/>
              </a:rPr>
              <a:t>分组。</a:t>
            </a:r>
          </a:p>
          <a:p>
            <a:pPr marL="358775" indent="-358775">
              <a:lnSpc>
                <a:spcPts val="3300"/>
              </a:lnSpc>
              <a:buClr>
                <a:srgbClr val="9900CC"/>
              </a:buClr>
              <a:buFont typeface="+mj-lt"/>
              <a:buAutoNum type="arabicPeriod"/>
            </a:pPr>
            <a:r>
              <a:rPr lang="zh-CN" altLang="en-US" sz="2000" b="1" dirty="0">
                <a:latin typeface="微软雅黑" pitchFamily="34" charset="-122"/>
                <a:ea typeface="微软雅黑" pitchFamily="34" charset="-122"/>
              </a:rPr>
              <a:t>链路状态确认 </a:t>
            </a:r>
            <a:r>
              <a:rPr lang="en-US" altLang="zh-CN" sz="2000" b="1" dirty="0">
                <a:latin typeface="微软雅黑" pitchFamily="34" charset="-122"/>
                <a:ea typeface="微软雅黑" pitchFamily="34" charset="-122"/>
              </a:rPr>
              <a:t>(Link State Acknowledgment)</a:t>
            </a:r>
            <a:r>
              <a:rPr lang="zh-CN" altLang="en-US" sz="2000" b="1" dirty="0">
                <a:latin typeface="微软雅黑" pitchFamily="34" charset="-122"/>
                <a:ea typeface="微软雅黑" pitchFamily="34" charset="-122"/>
              </a:rPr>
              <a:t>分组。 </a:t>
            </a:r>
          </a:p>
        </p:txBody>
      </p:sp>
      <p:sp>
        <p:nvSpPr>
          <p:cNvPr id="3" name="AutoShape 5"/>
          <p:cNvSpPr>
            <a:spLocks noChangeArrowheads="1"/>
          </p:cNvSpPr>
          <p:nvPr/>
        </p:nvSpPr>
        <p:spPr bwMode="auto">
          <a:xfrm>
            <a:off x="545144" y="632091"/>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9888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OSPF </a:t>
            </a:r>
            <a:r>
              <a:rPr lang="zh-CN" altLang="en-US" sz="2000" b="1" dirty="0">
                <a:solidFill>
                  <a:schemeClr val="bg1"/>
                </a:solidFill>
                <a:latin typeface="微软雅黑" pitchFamily="34" charset="-122"/>
                <a:ea typeface="微软雅黑" pitchFamily="34" charset="-122"/>
              </a:rPr>
              <a:t>的五种分组类型</a:t>
            </a:r>
          </a:p>
        </p:txBody>
      </p:sp>
    </p:spTree>
    <p:extLst>
      <p:ext uri="{BB962C8B-B14F-4D97-AF65-F5344CB8AC3E}">
        <p14:creationId xmlns:p14="http://schemas.microsoft.com/office/powerpoint/2010/main" val="107040585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19908"/>
            <a:ext cx="8053712" cy="318263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45144" y="630095"/>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5" y="588911"/>
            <a:ext cx="3397084" cy="400110"/>
          </a:xfrm>
          <a:prstGeom prst="rect">
            <a:avLst/>
          </a:prstGeom>
        </p:spPr>
        <p:txBody>
          <a:bodyPr wrap="none">
            <a:spAutoFit/>
          </a:bodyPr>
          <a:lstStyle/>
          <a:p>
            <a:r>
              <a:rPr lang="en-US" altLang="zh-CN" sz="2000" b="1" dirty="0">
                <a:latin typeface="微软雅黑" pitchFamily="34" charset="-122"/>
                <a:ea typeface="微软雅黑" pitchFamily="34" charset="-122"/>
              </a:rPr>
              <a:t>OSPF </a:t>
            </a:r>
            <a:r>
              <a:rPr lang="zh-CN" altLang="en-US" sz="2000" b="1" dirty="0">
                <a:latin typeface="微软雅黑" pitchFamily="34" charset="-122"/>
                <a:ea typeface="微软雅黑" pitchFamily="34" charset="-122"/>
              </a:rPr>
              <a:t>分组用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数据报传送</a:t>
            </a:r>
          </a:p>
        </p:txBody>
      </p:sp>
      <p:sp>
        <p:nvSpPr>
          <p:cNvPr id="160" name="AutoShape 47"/>
          <p:cNvSpPr>
            <a:spLocks noChangeArrowheads="1"/>
          </p:cNvSpPr>
          <p:nvPr/>
        </p:nvSpPr>
        <p:spPr bwMode="auto">
          <a:xfrm>
            <a:off x="2671739" y="3474885"/>
            <a:ext cx="402414" cy="120451"/>
          </a:xfrm>
          <a:prstGeom prst="leftArrow">
            <a:avLst>
              <a:gd name="adj1" fmla="val 50000"/>
              <a:gd name="adj2" fmla="val 77098"/>
            </a:avLst>
          </a:prstGeom>
          <a:solidFill>
            <a:srgbClr val="CC00CC"/>
          </a:solidFill>
          <a:ln w="9525">
            <a:solidFill>
              <a:srgbClr val="000099"/>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61" name="Line 2"/>
          <p:cNvSpPr>
            <a:spLocks noChangeShapeType="1"/>
          </p:cNvSpPr>
          <p:nvPr/>
        </p:nvSpPr>
        <p:spPr bwMode="auto">
          <a:xfrm>
            <a:off x="3031265" y="3857293"/>
            <a:ext cx="3296871" cy="0"/>
          </a:xfrm>
          <a:prstGeom prst="line">
            <a:avLst/>
          </a:prstGeom>
          <a:noFill/>
          <a:ln w="9525">
            <a:solidFill>
              <a:schemeClr val="tx1"/>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62" name="Text Box 3"/>
          <p:cNvSpPr txBox="1">
            <a:spLocks noChangeArrowheads="1"/>
          </p:cNvSpPr>
          <p:nvPr/>
        </p:nvSpPr>
        <p:spPr bwMode="auto">
          <a:xfrm>
            <a:off x="4316069" y="3722525"/>
            <a:ext cx="845103" cy="276999"/>
          </a:xfrm>
          <a:prstGeom prst="rect">
            <a:avLst/>
          </a:prstGeom>
          <a:solidFill>
            <a:srgbClr val="C3E3F9"/>
          </a:solidFill>
          <a:ln>
            <a:noFill/>
          </a:ln>
          <a:effectLst/>
        </p:spPr>
        <p:txBody>
          <a:bodyPr wrap="none">
            <a:spAutoFit/>
          </a:bodyPr>
          <a:lstStyle/>
          <a:p>
            <a:r>
              <a:rPr kumimoji="1" lang="en-US" altLang="zh-CN" sz="1200" b="1">
                <a:latin typeface="微软雅黑" pitchFamily="34" charset="-122"/>
                <a:ea typeface="微软雅黑" pitchFamily="34" charset="-122"/>
              </a:rPr>
              <a:t>IP </a:t>
            </a:r>
            <a:r>
              <a:rPr kumimoji="1" lang="zh-CN" altLang="en-US" sz="1200" b="1">
                <a:latin typeface="微软雅黑" pitchFamily="34" charset="-122"/>
                <a:ea typeface="微软雅黑" pitchFamily="34" charset="-122"/>
              </a:rPr>
              <a:t>数据报</a:t>
            </a:r>
          </a:p>
        </p:txBody>
      </p:sp>
      <p:sp>
        <p:nvSpPr>
          <p:cNvPr id="163" name="Freeform 5"/>
          <p:cNvSpPr>
            <a:spLocks/>
          </p:cNvSpPr>
          <p:nvPr/>
        </p:nvSpPr>
        <p:spPr bwMode="auto">
          <a:xfrm>
            <a:off x="2208189" y="2511448"/>
            <a:ext cx="4652849" cy="339972"/>
          </a:xfrm>
          <a:custGeom>
            <a:avLst/>
            <a:gdLst>
              <a:gd name="T0" fmla="*/ 48 w 4608"/>
              <a:gd name="T1" fmla="*/ 0 h 576"/>
              <a:gd name="T2" fmla="*/ 4608 w 4608"/>
              <a:gd name="T3" fmla="*/ 0 h 576"/>
              <a:gd name="T4" fmla="*/ 2208 w 4608"/>
              <a:gd name="T5" fmla="*/ 576 h 576"/>
              <a:gd name="T6" fmla="*/ 1152 w 4608"/>
              <a:gd name="T7" fmla="*/ 576 h 576"/>
              <a:gd name="T8" fmla="*/ 0 w 4608"/>
              <a:gd name="T9" fmla="*/ 0 h 576"/>
            </a:gdLst>
            <a:ahLst/>
            <a:cxnLst>
              <a:cxn ang="0">
                <a:pos x="T0" y="T1"/>
              </a:cxn>
              <a:cxn ang="0">
                <a:pos x="T2" y="T3"/>
              </a:cxn>
              <a:cxn ang="0">
                <a:pos x="T4" y="T5"/>
              </a:cxn>
              <a:cxn ang="0">
                <a:pos x="T6" y="T7"/>
              </a:cxn>
              <a:cxn ang="0">
                <a:pos x="T8" y="T9"/>
              </a:cxn>
            </a:cxnLst>
            <a:rect l="0" t="0" r="r" b="b"/>
            <a:pathLst>
              <a:path w="4608" h="576">
                <a:moveTo>
                  <a:pt x="48" y="0"/>
                </a:moveTo>
                <a:lnTo>
                  <a:pt x="4608" y="0"/>
                </a:lnTo>
                <a:lnTo>
                  <a:pt x="2208" y="576"/>
                </a:lnTo>
                <a:lnTo>
                  <a:pt x="1152" y="576"/>
                </a:lnTo>
                <a:lnTo>
                  <a:pt x="0" y="0"/>
                </a:lnTo>
              </a:path>
            </a:pathLst>
          </a:custGeom>
          <a:gradFill rotWithShape="1">
            <a:gsLst>
              <a:gs pos="0">
                <a:srgbClr val="99FFCC"/>
              </a:gs>
              <a:gs pos="100000">
                <a:srgbClr val="00B0F0"/>
              </a:gs>
            </a:gsLst>
            <a:lin ang="5400000" scaled="1"/>
          </a:gradFill>
          <a:ln>
            <a:noFill/>
          </a:ln>
          <a:effectLst/>
        </p:spPr>
        <p:txBody>
          <a:bodyPr/>
          <a:lstStyle/>
          <a:p>
            <a:endParaRPr lang="zh-CN" altLang="en-US" sz="1200" b="1">
              <a:latin typeface="微软雅黑" pitchFamily="34" charset="-122"/>
              <a:ea typeface="微软雅黑" pitchFamily="34" charset="-122"/>
            </a:endParaRPr>
          </a:p>
        </p:txBody>
      </p:sp>
      <p:sp>
        <p:nvSpPr>
          <p:cNvPr id="164" name="Freeform 6"/>
          <p:cNvSpPr>
            <a:spLocks/>
          </p:cNvSpPr>
          <p:nvPr/>
        </p:nvSpPr>
        <p:spPr bwMode="auto">
          <a:xfrm>
            <a:off x="3396266" y="3171497"/>
            <a:ext cx="3271321" cy="216631"/>
          </a:xfrm>
          <a:custGeom>
            <a:avLst/>
            <a:gdLst>
              <a:gd name="T0" fmla="*/ 0 w 3240"/>
              <a:gd name="T1" fmla="*/ 0 h 369"/>
              <a:gd name="T2" fmla="*/ 564 w 3240"/>
              <a:gd name="T3" fmla="*/ 369 h 369"/>
              <a:gd name="T4" fmla="*/ 2922 w 3240"/>
              <a:gd name="T5" fmla="*/ 363 h 369"/>
              <a:gd name="T6" fmla="*/ 3240 w 3240"/>
              <a:gd name="T7" fmla="*/ 9 h 369"/>
              <a:gd name="T8" fmla="*/ 0 w 3240"/>
              <a:gd name="T9" fmla="*/ 3 h 369"/>
            </a:gdLst>
            <a:ahLst/>
            <a:cxnLst>
              <a:cxn ang="0">
                <a:pos x="T0" y="T1"/>
              </a:cxn>
              <a:cxn ang="0">
                <a:pos x="T2" y="T3"/>
              </a:cxn>
              <a:cxn ang="0">
                <a:pos x="T4" y="T5"/>
              </a:cxn>
              <a:cxn ang="0">
                <a:pos x="T6" y="T7"/>
              </a:cxn>
              <a:cxn ang="0">
                <a:pos x="T8" y="T9"/>
              </a:cxn>
            </a:cxnLst>
            <a:rect l="0" t="0" r="r" b="b"/>
            <a:pathLst>
              <a:path w="3240" h="369">
                <a:moveTo>
                  <a:pt x="0" y="0"/>
                </a:moveTo>
                <a:lnTo>
                  <a:pt x="564" y="369"/>
                </a:lnTo>
                <a:lnTo>
                  <a:pt x="2922" y="363"/>
                </a:lnTo>
                <a:lnTo>
                  <a:pt x="3240" y="9"/>
                </a:lnTo>
                <a:lnTo>
                  <a:pt x="0" y="3"/>
                </a:lnTo>
              </a:path>
            </a:pathLst>
          </a:custGeom>
          <a:gradFill rotWithShape="1">
            <a:gsLst>
              <a:gs pos="0">
                <a:srgbClr val="00B0F0"/>
              </a:gs>
              <a:gs pos="100000">
                <a:srgbClr val="99FFCC"/>
              </a:gs>
            </a:gsLst>
            <a:lin ang="5400000" scaled="1"/>
          </a:gradFill>
          <a:ln>
            <a:noFill/>
          </a:ln>
          <a:effectLst/>
        </p:spPr>
        <p:txBody>
          <a:bodyPr/>
          <a:lstStyle/>
          <a:p>
            <a:endParaRPr lang="zh-CN" altLang="en-US" sz="1200" b="1">
              <a:latin typeface="微软雅黑" pitchFamily="34" charset="-122"/>
              <a:ea typeface="微软雅黑" pitchFamily="34" charset="-122"/>
            </a:endParaRPr>
          </a:p>
        </p:txBody>
      </p:sp>
      <p:sp>
        <p:nvSpPr>
          <p:cNvPr id="165" name="Rectangle 7"/>
          <p:cNvSpPr>
            <a:spLocks noChangeArrowheads="1"/>
          </p:cNvSpPr>
          <p:nvPr/>
        </p:nvSpPr>
        <p:spPr bwMode="auto">
          <a:xfrm>
            <a:off x="3031265" y="3388127"/>
            <a:ext cx="3296871" cy="313339"/>
          </a:xfrm>
          <a:prstGeom prst="rect">
            <a:avLst/>
          </a:prstGeom>
          <a:solidFill>
            <a:srgbClr val="00B050"/>
          </a:solidFill>
          <a:ln w="19050">
            <a:solidFill>
              <a:srgbClr val="333399"/>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66" name="Rectangle 8"/>
          <p:cNvSpPr>
            <a:spLocks noChangeArrowheads="1"/>
          </p:cNvSpPr>
          <p:nvPr/>
        </p:nvSpPr>
        <p:spPr bwMode="auto">
          <a:xfrm>
            <a:off x="3957456" y="3403202"/>
            <a:ext cx="2366118" cy="279494"/>
          </a:xfrm>
          <a:prstGeom prst="rect">
            <a:avLst/>
          </a:prstGeom>
          <a:solidFill>
            <a:srgbClr val="00FF99"/>
          </a:solidFill>
          <a:ln>
            <a:noFill/>
          </a:ln>
          <a:effectLst/>
        </p:spPr>
        <p:txBody>
          <a:bodyPr wrap="none" anchor="ctr"/>
          <a:lstStyle/>
          <a:p>
            <a:endParaRPr lang="zh-CN" altLang="en-US" sz="1200" b="1">
              <a:latin typeface="微软雅黑" pitchFamily="34" charset="-122"/>
              <a:ea typeface="微软雅黑" pitchFamily="34" charset="-122"/>
            </a:endParaRPr>
          </a:p>
        </p:txBody>
      </p:sp>
      <p:sp>
        <p:nvSpPr>
          <p:cNvPr id="167" name="Line 9"/>
          <p:cNvSpPr>
            <a:spLocks noChangeShapeType="1"/>
          </p:cNvSpPr>
          <p:nvPr/>
        </p:nvSpPr>
        <p:spPr bwMode="auto">
          <a:xfrm>
            <a:off x="3952893" y="3388127"/>
            <a:ext cx="0" cy="31333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68" name="Text Box 10"/>
          <p:cNvSpPr txBox="1">
            <a:spLocks noChangeArrowheads="1"/>
          </p:cNvSpPr>
          <p:nvPr/>
        </p:nvSpPr>
        <p:spPr bwMode="auto">
          <a:xfrm>
            <a:off x="2962090" y="3417214"/>
            <a:ext cx="107273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chemeClr val="bg1"/>
                </a:solidFill>
                <a:latin typeface="微软雅黑" pitchFamily="34" charset="-122"/>
                <a:ea typeface="微软雅黑" pitchFamily="34" charset="-122"/>
              </a:rPr>
              <a:t>IP </a:t>
            </a:r>
            <a:r>
              <a:rPr kumimoji="1" lang="zh-CN" altLang="zh-CN" sz="1100" b="1" dirty="0">
                <a:solidFill>
                  <a:schemeClr val="bg1"/>
                </a:solidFill>
                <a:latin typeface="微软雅黑" pitchFamily="34" charset="-122"/>
                <a:ea typeface="微软雅黑" pitchFamily="34" charset="-122"/>
              </a:rPr>
              <a:t>数据报首部</a:t>
            </a:r>
            <a:endParaRPr kumimoji="1" lang="zh-CN" altLang="en-US" sz="1100" b="1" dirty="0">
              <a:solidFill>
                <a:schemeClr val="bg1"/>
              </a:solidFill>
              <a:latin typeface="微软雅黑" pitchFamily="34" charset="-122"/>
              <a:ea typeface="微软雅黑" pitchFamily="34" charset="-122"/>
            </a:endParaRPr>
          </a:p>
        </p:txBody>
      </p:sp>
      <p:sp>
        <p:nvSpPr>
          <p:cNvPr id="169" name="Text Box 11"/>
          <p:cNvSpPr txBox="1">
            <a:spLocks noChangeArrowheads="1"/>
          </p:cNvSpPr>
          <p:nvPr/>
        </p:nvSpPr>
        <p:spPr bwMode="auto">
          <a:xfrm>
            <a:off x="4602054" y="3414388"/>
            <a:ext cx="94609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OSPF </a:t>
            </a:r>
            <a:r>
              <a:rPr kumimoji="1" lang="zh-CN" altLang="en-US" sz="1200" b="1" dirty="0">
                <a:latin typeface="微软雅黑" pitchFamily="34" charset="-122"/>
                <a:ea typeface="微软雅黑" pitchFamily="34" charset="-122"/>
              </a:rPr>
              <a:t>分组</a:t>
            </a:r>
          </a:p>
        </p:txBody>
      </p:sp>
      <p:sp>
        <p:nvSpPr>
          <p:cNvPr id="170" name="Rectangle 12"/>
          <p:cNvSpPr>
            <a:spLocks noChangeArrowheads="1"/>
          </p:cNvSpPr>
          <p:nvPr/>
        </p:nvSpPr>
        <p:spPr bwMode="auto">
          <a:xfrm>
            <a:off x="3371629" y="2851418"/>
            <a:ext cx="3295958" cy="313339"/>
          </a:xfrm>
          <a:prstGeom prst="rect">
            <a:avLst/>
          </a:prstGeom>
          <a:solidFill>
            <a:srgbClr val="0000FF"/>
          </a:solidFill>
          <a:ln w="19050">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71" name="Line 13"/>
          <p:cNvSpPr>
            <a:spLocks noChangeShapeType="1"/>
          </p:cNvSpPr>
          <p:nvPr/>
        </p:nvSpPr>
        <p:spPr bwMode="auto">
          <a:xfrm>
            <a:off x="6328136" y="3701467"/>
            <a:ext cx="0" cy="1962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72" name="Rectangle 14"/>
          <p:cNvSpPr>
            <a:spLocks noChangeArrowheads="1"/>
          </p:cNvSpPr>
          <p:nvPr/>
        </p:nvSpPr>
        <p:spPr bwMode="auto">
          <a:xfrm>
            <a:off x="4443819" y="2866580"/>
            <a:ext cx="2219205" cy="296493"/>
          </a:xfrm>
          <a:prstGeom prst="rect">
            <a:avLst/>
          </a:prstGeom>
          <a:solidFill>
            <a:srgbClr val="00FFFF"/>
          </a:solidFill>
          <a:ln>
            <a:noFill/>
          </a:ln>
          <a:effectLst/>
        </p:spPr>
        <p:txBody>
          <a:bodyPr wrap="none" anchor="ctr"/>
          <a:lstStyle/>
          <a:p>
            <a:endParaRPr lang="zh-CN" altLang="en-US" sz="1200" b="1">
              <a:latin typeface="微软雅黑" pitchFamily="34" charset="-122"/>
              <a:ea typeface="微软雅黑" pitchFamily="34" charset="-122"/>
            </a:endParaRPr>
          </a:p>
        </p:txBody>
      </p:sp>
      <p:sp>
        <p:nvSpPr>
          <p:cNvPr id="173" name="Line 15"/>
          <p:cNvSpPr>
            <a:spLocks noChangeShapeType="1"/>
          </p:cNvSpPr>
          <p:nvPr/>
        </p:nvSpPr>
        <p:spPr bwMode="auto">
          <a:xfrm>
            <a:off x="4438344" y="2851418"/>
            <a:ext cx="0" cy="31333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74" name="Text Box 16"/>
          <p:cNvSpPr txBox="1">
            <a:spLocks noChangeArrowheads="1"/>
          </p:cNvSpPr>
          <p:nvPr/>
        </p:nvSpPr>
        <p:spPr bwMode="auto">
          <a:xfrm>
            <a:off x="3327695" y="2891293"/>
            <a:ext cx="116249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chemeClr val="bg1"/>
                </a:solidFill>
                <a:latin typeface="微软雅黑" pitchFamily="34" charset="-122"/>
                <a:ea typeface="微软雅黑" pitchFamily="34" charset="-122"/>
              </a:rPr>
              <a:t>OSPF </a:t>
            </a:r>
            <a:r>
              <a:rPr kumimoji="1" lang="zh-CN" altLang="en-US" sz="1100" b="1" dirty="0">
                <a:solidFill>
                  <a:schemeClr val="bg1"/>
                </a:solidFill>
                <a:latin typeface="微软雅黑" pitchFamily="34" charset="-122"/>
                <a:ea typeface="微软雅黑" pitchFamily="34" charset="-122"/>
              </a:rPr>
              <a:t>分组首部</a:t>
            </a:r>
          </a:p>
        </p:txBody>
      </p:sp>
      <p:sp>
        <p:nvSpPr>
          <p:cNvPr id="176" name="Line 18"/>
          <p:cNvSpPr>
            <a:spLocks noChangeShapeType="1"/>
          </p:cNvSpPr>
          <p:nvPr/>
        </p:nvSpPr>
        <p:spPr bwMode="auto">
          <a:xfrm>
            <a:off x="3031265" y="3740213"/>
            <a:ext cx="0" cy="1575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77" name="Line 19"/>
          <p:cNvSpPr>
            <a:spLocks noChangeShapeType="1"/>
          </p:cNvSpPr>
          <p:nvPr/>
        </p:nvSpPr>
        <p:spPr bwMode="auto">
          <a:xfrm>
            <a:off x="3371629" y="2676218"/>
            <a:ext cx="0" cy="15667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78" name="Line 20"/>
          <p:cNvSpPr>
            <a:spLocks noChangeShapeType="1"/>
          </p:cNvSpPr>
          <p:nvPr/>
        </p:nvSpPr>
        <p:spPr bwMode="auto">
          <a:xfrm>
            <a:off x="4438344" y="2676218"/>
            <a:ext cx="0" cy="15667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79" name="Line 21"/>
          <p:cNvSpPr>
            <a:spLocks noChangeShapeType="1"/>
          </p:cNvSpPr>
          <p:nvPr/>
        </p:nvSpPr>
        <p:spPr bwMode="auto">
          <a:xfrm flipV="1">
            <a:off x="4146343" y="2751183"/>
            <a:ext cx="288351" cy="0"/>
          </a:xfrm>
          <a:prstGeom prst="line">
            <a:avLst/>
          </a:prstGeom>
          <a:noFill/>
          <a:ln w="9525">
            <a:solidFill>
              <a:schemeClr val="tx1"/>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0" name="Text Box 22"/>
          <p:cNvSpPr txBox="1">
            <a:spLocks noChangeArrowheads="1"/>
          </p:cNvSpPr>
          <p:nvPr/>
        </p:nvSpPr>
        <p:spPr bwMode="auto">
          <a:xfrm>
            <a:off x="3579782" y="2623994"/>
            <a:ext cx="681597" cy="261610"/>
          </a:xfrm>
          <a:prstGeom prst="rect">
            <a:avLst/>
          </a:prstGeom>
          <a:noFill/>
          <a:ln>
            <a:noFill/>
          </a:ln>
          <a:effectLst/>
          <a:extLst>
            <a:ext uri="{909E8E84-426E-40DD-AFC4-6F175D3DCCD1}">
              <a14:hiddenFill xmlns:a14="http://schemas.microsoft.com/office/drawing/2010/main">
                <a:gradFill rotWithShape="0">
                  <a:gsLst>
                    <a:gs pos="0">
                      <a:srgbClr val="EAEAEA">
                        <a:gamma/>
                        <a:tint val="69804"/>
                        <a:invGamma/>
                      </a:srgbClr>
                    </a:gs>
                    <a:gs pos="100000">
                      <a:srgbClr val="EAEAEA"/>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050" b="1" dirty="0">
                <a:latin typeface="微软雅黑" pitchFamily="34" charset="-122"/>
                <a:ea typeface="微软雅黑" pitchFamily="34" charset="-122"/>
              </a:rPr>
              <a:t>24 </a:t>
            </a:r>
            <a:r>
              <a:rPr kumimoji="1" lang="zh-CN" altLang="en-US" sz="1050" b="1" dirty="0">
                <a:latin typeface="微软雅黑" pitchFamily="34" charset="-122"/>
                <a:ea typeface="微软雅黑" pitchFamily="34" charset="-122"/>
              </a:rPr>
              <a:t>字节</a:t>
            </a:r>
          </a:p>
        </p:txBody>
      </p:sp>
      <p:sp>
        <p:nvSpPr>
          <p:cNvPr id="181" name="Rectangle 23"/>
          <p:cNvSpPr>
            <a:spLocks noChangeArrowheads="1"/>
          </p:cNvSpPr>
          <p:nvPr/>
        </p:nvSpPr>
        <p:spPr bwMode="auto">
          <a:xfrm>
            <a:off x="2217313" y="1327160"/>
            <a:ext cx="4643724" cy="1184287"/>
          </a:xfrm>
          <a:prstGeom prst="rect">
            <a:avLst/>
          </a:prstGeom>
          <a:solidFill>
            <a:srgbClr val="99FFCC"/>
          </a:solidFill>
          <a:ln w="9525">
            <a:solidFill>
              <a:srgbClr val="333399"/>
            </a:solidFill>
            <a:miter lim="800000"/>
            <a:headEnd/>
            <a:tailEnd/>
          </a:ln>
          <a:effectLst/>
        </p:spPr>
        <p:txBody>
          <a:bodyPr wrap="none" anchor="ctr"/>
          <a:lstStyle/>
          <a:p>
            <a:endParaRPr lang="zh-CN" altLang="en-US" sz="1100" b="1">
              <a:latin typeface="微软雅黑" pitchFamily="34" charset="-122"/>
              <a:ea typeface="微软雅黑" pitchFamily="34" charset="-122"/>
            </a:endParaRPr>
          </a:p>
        </p:txBody>
      </p:sp>
      <p:sp>
        <p:nvSpPr>
          <p:cNvPr id="182" name="Line 24"/>
          <p:cNvSpPr>
            <a:spLocks noChangeShapeType="1"/>
          </p:cNvSpPr>
          <p:nvPr/>
        </p:nvSpPr>
        <p:spPr bwMode="auto">
          <a:xfrm>
            <a:off x="2212751" y="1557374"/>
            <a:ext cx="465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3" name="Line 25"/>
          <p:cNvSpPr>
            <a:spLocks noChangeShapeType="1"/>
          </p:cNvSpPr>
          <p:nvPr/>
        </p:nvSpPr>
        <p:spPr bwMode="auto">
          <a:xfrm>
            <a:off x="2212751" y="1752790"/>
            <a:ext cx="465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4" name="Line 26"/>
          <p:cNvSpPr>
            <a:spLocks noChangeShapeType="1"/>
          </p:cNvSpPr>
          <p:nvPr/>
        </p:nvSpPr>
        <p:spPr bwMode="auto">
          <a:xfrm>
            <a:off x="2212751" y="1949890"/>
            <a:ext cx="465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5" name="Line 27"/>
          <p:cNvSpPr>
            <a:spLocks noChangeShapeType="1"/>
          </p:cNvSpPr>
          <p:nvPr/>
        </p:nvSpPr>
        <p:spPr bwMode="auto">
          <a:xfrm>
            <a:off x="2212751" y="2145306"/>
            <a:ext cx="465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6" name="Line 28"/>
          <p:cNvSpPr>
            <a:spLocks noChangeShapeType="1"/>
          </p:cNvSpPr>
          <p:nvPr/>
        </p:nvSpPr>
        <p:spPr bwMode="auto">
          <a:xfrm>
            <a:off x="2212751" y="2342407"/>
            <a:ext cx="465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7" name="Line 29"/>
          <p:cNvSpPr>
            <a:spLocks noChangeShapeType="1"/>
          </p:cNvSpPr>
          <p:nvPr/>
        </p:nvSpPr>
        <p:spPr bwMode="auto">
          <a:xfrm>
            <a:off x="3371629" y="1327160"/>
            <a:ext cx="0" cy="23021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8" name="Line 30"/>
          <p:cNvSpPr>
            <a:spLocks noChangeShapeType="1"/>
          </p:cNvSpPr>
          <p:nvPr/>
        </p:nvSpPr>
        <p:spPr bwMode="auto">
          <a:xfrm>
            <a:off x="4535069" y="1326317"/>
            <a:ext cx="0" cy="23105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9" name="Rectangle 31"/>
          <p:cNvSpPr>
            <a:spLocks noChangeArrowheads="1"/>
          </p:cNvSpPr>
          <p:nvPr/>
        </p:nvSpPr>
        <p:spPr bwMode="auto">
          <a:xfrm>
            <a:off x="2105335" y="1141273"/>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0</a:t>
            </a:r>
          </a:p>
        </p:txBody>
      </p:sp>
      <p:sp>
        <p:nvSpPr>
          <p:cNvPr id="190" name="Rectangle 32"/>
          <p:cNvSpPr>
            <a:spLocks noChangeArrowheads="1"/>
          </p:cNvSpPr>
          <p:nvPr/>
        </p:nvSpPr>
        <p:spPr bwMode="auto">
          <a:xfrm>
            <a:off x="3244138" y="1141273"/>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8</a:t>
            </a:r>
          </a:p>
        </p:txBody>
      </p:sp>
      <p:sp>
        <p:nvSpPr>
          <p:cNvPr id="191" name="Rectangle 33"/>
          <p:cNvSpPr>
            <a:spLocks noChangeArrowheads="1"/>
          </p:cNvSpPr>
          <p:nvPr/>
        </p:nvSpPr>
        <p:spPr bwMode="auto">
          <a:xfrm>
            <a:off x="4394804" y="1141273"/>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16</a:t>
            </a:r>
          </a:p>
        </p:txBody>
      </p:sp>
      <p:sp>
        <p:nvSpPr>
          <p:cNvPr id="192" name="Rectangle 34"/>
          <p:cNvSpPr>
            <a:spLocks noChangeArrowheads="1"/>
          </p:cNvSpPr>
          <p:nvPr/>
        </p:nvSpPr>
        <p:spPr bwMode="auto">
          <a:xfrm>
            <a:off x="6630840" y="1141273"/>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rgbClr val="0000CC"/>
                </a:solidFill>
                <a:latin typeface="微软雅黑" pitchFamily="34" charset="-122"/>
                <a:ea typeface="微软雅黑" pitchFamily="34" charset="-122"/>
              </a:rPr>
              <a:t>31</a:t>
            </a:r>
          </a:p>
        </p:txBody>
      </p:sp>
      <p:sp>
        <p:nvSpPr>
          <p:cNvPr id="193" name="Rectangle 35"/>
          <p:cNvSpPr>
            <a:spLocks noChangeArrowheads="1"/>
          </p:cNvSpPr>
          <p:nvPr/>
        </p:nvSpPr>
        <p:spPr bwMode="auto">
          <a:xfrm>
            <a:off x="2545815" y="1352693"/>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版    本</a:t>
            </a:r>
          </a:p>
        </p:txBody>
      </p:sp>
      <p:sp>
        <p:nvSpPr>
          <p:cNvPr id="194" name="Rectangle 36"/>
          <p:cNvSpPr>
            <a:spLocks noChangeArrowheads="1"/>
          </p:cNvSpPr>
          <p:nvPr/>
        </p:nvSpPr>
        <p:spPr bwMode="auto">
          <a:xfrm>
            <a:off x="3662717" y="1540264"/>
            <a:ext cx="1862690"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a:latin typeface="微软雅黑" pitchFamily="34" charset="-122"/>
                <a:ea typeface="微软雅黑" pitchFamily="34" charset="-122"/>
              </a:rPr>
              <a:t>路    由    器    标    识    符</a:t>
            </a:r>
          </a:p>
        </p:txBody>
      </p:sp>
      <p:sp>
        <p:nvSpPr>
          <p:cNvPr id="195" name="Rectangle 37"/>
          <p:cNvSpPr>
            <a:spLocks noChangeArrowheads="1"/>
          </p:cNvSpPr>
          <p:nvPr/>
        </p:nvSpPr>
        <p:spPr bwMode="auto">
          <a:xfrm>
            <a:off x="3728417" y="1326317"/>
            <a:ext cx="631584"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dirty="0">
                <a:latin typeface="微软雅黑" pitchFamily="34" charset="-122"/>
                <a:ea typeface="微软雅黑" pitchFamily="34" charset="-122"/>
              </a:rPr>
              <a:t>类    型</a:t>
            </a:r>
          </a:p>
        </p:txBody>
      </p:sp>
      <p:sp>
        <p:nvSpPr>
          <p:cNvPr id="196" name="Rectangle 38"/>
          <p:cNvSpPr>
            <a:spLocks noChangeArrowheads="1"/>
          </p:cNvSpPr>
          <p:nvPr/>
        </p:nvSpPr>
        <p:spPr bwMode="auto">
          <a:xfrm>
            <a:off x="5133671" y="1326317"/>
            <a:ext cx="1247137"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a:latin typeface="微软雅黑" pitchFamily="34" charset="-122"/>
                <a:ea typeface="微软雅黑" pitchFamily="34" charset="-122"/>
              </a:rPr>
              <a:t>分    组    长    度</a:t>
            </a:r>
          </a:p>
        </p:txBody>
      </p:sp>
      <p:sp>
        <p:nvSpPr>
          <p:cNvPr id="197" name="Rectangle 39"/>
          <p:cNvSpPr>
            <a:spLocks noChangeArrowheads="1"/>
          </p:cNvSpPr>
          <p:nvPr/>
        </p:nvSpPr>
        <p:spPr bwMode="auto">
          <a:xfrm>
            <a:off x="2990203" y="1932780"/>
            <a:ext cx="856005"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a:latin typeface="微软雅黑" pitchFamily="34" charset="-122"/>
                <a:ea typeface="微软雅黑" pitchFamily="34" charset="-122"/>
              </a:rPr>
              <a:t>检   验   和</a:t>
            </a:r>
          </a:p>
        </p:txBody>
      </p:sp>
      <p:sp>
        <p:nvSpPr>
          <p:cNvPr id="198" name="Rectangle 40"/>
          <p:cNvSpPr>
            <a:spLocks noChangeArrowheads="1"/>
          </p:cNvSpPr>
          <p:nvPr/>
        </p:nvSpPr>
        <p:spPr bwMode="auto">
          <a:xfrm>
            <a:off x="4129006" y="2119773"/>
            <a:ext cx="965009"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a:latin typeface="微软雅黑" pitchFamily="34" charset="-122"/>
                <a:ea typeface="微软雅黑" pitchFamily="34" charset="-122"/>
              </a:rPr>
              <a:t>鉴            别</a:t>
            </a:r>
          </a:p>
        </p:txBody>
      </p:sp>
      <p:sp>
        <p:nvSpPr>
          <p:cNvPr id="199" name="Rectangle 41"/>
          <p:cNvSpPr>
            <a:spLocks noChangeArrowheads="1"/>
          </p:cNvSpPr>
          <p:nvPr/>
        </p:nvSpPr>
        <p:spPr bwMode="auto">
          <a:xfrm>
            <a:off x="1804210" y="1132850"/>
            <a:ext cx="32380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dirty="0">
                <a:solidFill>
                  <a:srgbClr val="0000CC"/>
                </a:solidFill>
                <a:latin typeface="微软雅黑" pitchFamily="34" charset="-122"/>
                <a:ea typeface="微软雅黑" pitchFamily="34" charset="-122"/>
              </a:rPr>
              <a:t>位</a:t>
            </a:r>
          </a:p>
        </p:txBody>
      </p:sp>
      <p:sp>
        <p:nvSpPr>
          <p:cNvPr id="200" name="Rectangle 42"/>
          <p:cNvSpPr>
            <a:spLocks noChangeArrowheads="1"/>
          </p:cNvSpPr>
          <p:nvPr/>
        </p:nvSpPr>
        <p:spPr bwMode="auto">
          <a:xfrm>
            <a:off x="4129006" y="2316031"/>
            <a:ext cx="965009"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a:latin typeface="微软雅黑" pitchFamily="34" charset="-122"/>
                <a:ea typeface="微软雅黑" pitchFamily="34" charset="-122"/>
              </a:rPr>
              <a:t>鉴            别</a:t>
            </a:r>
          </a:p>
        </p:txBody>
      </p:sp>
      <p:sp>
        <p:nvSpPr>
          <p:cNvPr id="201" name="Rectangle 43"/>
          <p:cNvSpPr>
            <a:spLocks noChangeArrowheads="1"/>
          </p:cNvSpPr>
          <p:nvPr/>
        </p:nvSpPr>
        <p:spPr bwMode="auto">
          <a:xfrm>
            <a:off x="3838831" y="1735679"/>
            <a:ext cx="1554914"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a:latin typeface="微软雅黑" pitchFamily="34" charset="-122"/>
                <a:ea typeface="微软雅黑" pitchFamily="34" charset="-122"/>
              </a:rPr>
              <a:t>区    域    标    识    符</a:t>
            </a:r>
          </a:p>
        </p:txBody>
      </p:sp>
      <p:sp>
        <p:nvSpPr>
          <p:cNvPr id="202" name="Rectangle 44"/>
          <p:cNvSpPr>
            <a:spLocks noChangeArrowheads="1"/>
          </p:cNvSpPr>
          <p:nvPr/>
        </p:nvSpPr>
        <p:spPr bwMode="auto">
          <a:xfrm>
            <a:off x="5146446" y="1932780"/>
            <a:ext cx="1247137"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a:latin typeface="微软雅黑" pitchFamily="34" charset="-122"/>
                <a:ea typeface="微软雅黑" pitchFamily="34" charset="-122"/>
              </a:rPr>
              <a:t>鉴    别    类    型</a:t>
            </a:r>
          </a:p>
        </p:txBody>
      </p:sp>
      <p:sp>
        <p:nvSpPr>
          <p:cNvPr id="203" name="Line 45"/>
          <p:cNvSpPr>
            <a:spLocks noChangeShapeType="1"/>
          </p:cNvSpPr>
          <p:nvPr/>
        </p:nvSpPr>
        <p:spPr bwMode="auto">
          <a:xfrm flipH="1">
            <a:off x="4537807" y="1949890"/>
            <a:ext cx="0" cy="1954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04" name="Line 46"/>
          <p:cNvSpPr>
            <a:spLocks noChangeShapeType="1"/>
          </p:cNvSpPr>
          <p:nvPr/>
        </p:nvSpPr>
        <p:spPr bwMode="auto">
          <a:xfrm flipH="1" flipV="1">
            <a:off x="3371629" y="2757079"/>
            <a:ext cx="287438" cy="843"/>
          </a:xfrm>
          <a:prstGeom prst="line">
            <a:avLst/>
          </a:prstGeom>
          <a:noFill/>
          <a:ln w="9525">
            <a:solidFill>
              <a:schemeClr val="tx1"/>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07" name="Text Box 17"/>
          <p:cNvSpPr txBox="1">
            <a:spLocks noChangeArrowheads="1"/>
          </p:cNvSpPr>
          <p:nvPr/>
        </p:nvSpPr>
        <p:spPr bwMode="auto">
          <a:xfrm>
            <a:off x="4421957" y="2880073"/>
            <a:ext cx="229101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类型 </a:t>
            </a:r>
            <a:r>
              <a:rPr kumimoji="1" lang="en-US" altLang="zh-CN" sz="1200" b="1" dirty="0">
                <a:latin typeface="微软雅黑" pitchFamily="34" charset="-122"/>
                <a:ea typeface="微软雅黑" pitchFamily="34" charset="-122"/>
              </a:rPr>
              <a:t>1 </a:t>
            </a:r>
            <a:r>
              <a:rPr kumimoji="1" lang="zh-CN" altLang="en-US" sz="1200" b="1" dirty="0">
                <a:latin typeface="微软雅黑" pitchFamily="34" charset="-122"/>
                <a:ea typeface="微软雅黑" pitchFamily="34" charset="-122"/>
              </a:rPr>
              <a:t>至类型 </a:t>
            </a:r>
            <a:r>
              <a:rPr kumimoji="1" lang="en-US" altLang="zh-CN" sz="1200" b="1" dirty="0">
                <a:latin typeface="微软雅黑" pitchFamily="34" charset="-122"/>
                <a:ea typeface="微软雅黑" pitchFamily="34" charset="-122"/>
              </a:rPr>
              <a:t>5 </a:t>
            </a:r>
            <a:r>
              <a:rPr kumimoji="1" lang="zh-CN" altLang="en-US" sz="1200" b="1" dirty="0">
                <a:latin typeface="微软雅黑" pitchFamily="34" charset="-122"/>
                <a:ea typeface="微软雅黑" pitchFamily="34" charset="-122"/>
              </a:rPr>
              <a:t>的 </a:t>
            </a:r>
            <a:r>
              <a:rPr kumimoji="1" lang="en-US" altLang="zh-CN" sz="1200" b="1" dirty="0">
                <a:latin typeface="微软雅黑" pitchFamily="34" charset="-122"/>
                <a:ea typeface="微软雅黑" pitchFamily="34" charset="-122"/>
              </a:rPr>
              <a:t>OSPF </a:t>
            </a:r>
            <a:r>
              <a:rPr kumimoji="1" lang="zh-CN" altLang="en-US" sz="1200" b="1" dirty="0">
                <a:latin typeface="微软雅黑" pitchFamily="34" charset="-122"/>
                <a:ea typeface="微软雅黑" pitchFamily="34" charset="-122"/>
              </a:rPr>
              <a:t>分组</a:t>
            </a:r>
          </a:p>
        </p:txBody>
      </p:sp>
      <p:sp>
        <p:nvSpPr>
          <p:cNvPr id="5" name="矩形 4"/>
          <p:cNvSpPr/>
          <p:nvPr/>
        </p:nvSpPr>
        <p:spPr>
          <a:xfrm>
            <a:off x="942579" y="2638755"/>
            <a:ext cx="1390796" cy="738664"/>
          </a:xfrm>
          <a:prstGeom prst="rect">
            <a:avLst/>
          </a:prstGeom>
          <a:solidFill>
            <a:schemeClr val="bg1"/>
          </a:solidFill>
        </p:spPr>
        <p:txBody>
          <a:bodyPr wrap="square">
            <a:spAutoFit/>
          </a:bodyPr>
          <a:lstStyle/>
          <a:p>
            <a:r>
              <a:rPr lang="zh-CN" altLang="en-US" sz="1400" b="1" dirty="0">
                <a:latin typeface="微软雅黑" panose="020B0503020204020204" pitchFamily="34" charset="-122"/>
                <a:ea typeface="微软雅黑" panose="020B0503020204020204" pitchFamily="34" charset="-122"/>
              </a:rPr>
              <a:t>其 </a:t>
            </a:r>
            <a:r>
              <a:rPr lang="en-US" altLang="zh-CN" sz="1400" b="1" dirty="0">
                <a:latin typeface="微软雅黑" panose="020B0503020204020204" pitchFamily="34" charset="-122"/>
                <a:ea typeface="微软雅黑" panose="020B0503020204020204" pitchFamily="34" charset="-122"/>
              </a:rPr>
              <a:t>IP </a:t>
            </a:r>
            <a:r>
              <a:rPr lang="zh-CN" altLang="en-US" sz="1400" b="1" dirty="0">
                <a:latin typeface="微软雅黑" panose="020B0503020204020204" pitchFamily="34" charset="-122"/>
                <a:ea typeface="微软雅黑" panose="020B0503020204020204" pitchFamily="34" charset="-122"/>
              </a:rPr>
              <a:t>数据报首部的协议字段值为 </a:t>
            </a:r>
            <a:r>
              <a:rPr lang="en-US" altLang="zh-CN" sz="1400" b="1" dirty="0">
                <a:latin typeface="微软雅黑" panose="020B0503020204020204" pitchFamily="34" charset="-122"/>
                <a:ea typeface="微软雅黑" panose="020B0503020204020204" pitchFamily="34" charset="-122"/>
              </a:rPr>
              <a:t>89</a:t>
            </a:r>
            <a:endParaRPr lang="zh-CN" altLang="en-US" sz="1400" b="1" dirty="0">
              <a:latin typeface="微软雅黑" panose="020B0503020204020204" pitchFamily="34" charset="-122"/>
              <a:ea typeface="微软雅黑" panose="020B0503020204020204" pitchFamily="34" charset="-122"/>
            </a:endParaRPr>
          </a:p>
        </p:txBody>
      </p:sp>
      <p:cxnSp>
        <p:nvCxnSpPr>
          <p:cNvPr id="7" name="直接箭头连接符 6"/>
          <p:cNvCxnSpPr/>
          <p:nvPr/>
        </p:nvCxnSpPr>
        <p:spPr>
          <a:xfrm flipH="1" flipV="1">
            <a:off x="2138994" y="3029226"/>
            <a:ext cx="1614240" cy="406167"/>
          </a:xfrm>
          <a:prstGeom prst="straightConnector1">
            <a:avLst/>
          </a:prstGeom>
          <a:ln w="19050">
            <a:solidFill>
              <a:srgbClr val="990099"/>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3926969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4" y="630095"/>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5" y="588911"/>
            <a:ext cx="1996059" cy="400110"/>
          </a:xfrm>
          <a:prstGeom prst="rect">
            <a:avLst/>
          </a:prstGeom>
        </p:spPr>
        <p:txBody>
          <a:bodyPr wrap="none">
            <a:spAutoFit/>
          </a:bodyPr>
          <a:lstStyle/>
          <a:p>
            <a:r>
              <a:rPr lang="en-US" altLang="zh-CN" sz="2000" b="1" dirty="0">
                <a:latin typeface="微软雅黑" pitchFamily="34" charset="-122"/>
                <a:ea typeface="微软雅黑" pitchFamily="34" charset="-122"/>
              </a:rPr>
              <a:t>OSPF </a:t>
            </a:r>
            <a:r>
              <a:rPr lang="zh-CN" altLang="en-US" sz="2000" b="1" dirty="0">
                <a:latin typeface="微软雅黑" pitchFamily="34" charset="-122"/>
                <a:ea typeface="微软雅黑" pitchFamily="34" charset="-122"/>
              </a:rPr>
              <a:t>工作过程</a:t>
            </a:r>
          </a:p>
        </p:txBody>
      </p:sp>
      <p:sp>
        <p:nvSpPr>
          <p:cNvPr id="50" name="矩形 49"/>
          <p:cNvSpPr/>
          <p:nvPr/>
        </p:nvSpPr>
        <p:spPr>
          <a:xfrm>
            <a:off x="545145" y="946778"/>
            <a:ext cx="8053712" cy="2862322"/>
          </a:xfrm>
          <a:prstGeom prst="rect">
            <a:avLst/>
          </a:prstGeom>
        </p:spPr>
        <p:txBody>
          <a:bodyPr wrap="square">
            <a:spAutoFit/>
          </a:bodyPr>
          <a:lstStyle/>
          <a:p>
            <a:pPr marL="285750" indent="-285750">
              <a:lnSpc>
                <a:spcPts val="33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1</a:t>
            </a:r>
            <a:r>
              <a:rPr lang="zh-CN" altLang="en-US" sz="2000" b="1" dirty="0">
                <a:solidFill>
                  <a:srgbClr val="0000FF"/>
                </a:solidFill>
                <a:latin typeface="微软雅黑" pitchFamily="34" charset="-122"/>
                <a:ea typeface="微软雅黑" pitchFamily="34" charset="-122"/>
              </a:rPr>
              <a:t>，确定邻站可达。</a:t>
            </a:r>
            <a:endParaRPr lang="en-US" altLang="zh-CN" sz="2000" b="1" dirty="0">
              <a:solidFill>
                <a:srgbClr val="0000FF"/>
              </a:solidFill>
              <a:latin typeface="微软雅黑" pitchFamily="34" charset="-122"/>
              <a:ea typeface="微软雅黑" pitchFamily="34" charset="-122"/>
            </a:endParaRPr>
          </a:p>
          <a:p>
            <a:pPr marL="534988" lvl="1" indent="-2794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相邻路由器每隔 </a:t>
            </a:r>
            <a:r>
              <a:rPr lang="en-US" altLang="zh-CN" sz="2000" b="1" dirty="0">
                <a:latin typeface="微软雅黑" pitchFamily="34" charset="-122"/>
                <a:ea typeface="微软雅黑" pitchFamily="34" charset="-122"/>
              </a:rPr>
              <a:t>10 </a:t>
            </a:r>
            <a:r>
              <a:rPr lang="zh-CN" altLang="en-US" sz="2000" b="1" dirty="0">
                <a:latin typeface="微软雅黑" pitchFamily="34" charset="-122"/>
                <a:ea typeface="微软雅黑" pitchFamily="34" charset="-122"/>
              </a:rPr>
              <a:t>秒钟要交换一次问候分组。</a:t>
            </a:r>
            <a:endParaRPr lang="en-US" altLang="zh-CN" sz="2000" b="1" dirty="0">
              <a:latin typeface="微软雅黑" pitchFamily="34" charset="-122"/>
              <a:ea typeface="微软雅黑" pitchFamily="34" charset="-122"/>
            </a:endParaRPr>
          </a:p>
          <a:p>
            <a:pPr marL="534988" lvl="1" indent="-2794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若有 </a:t>
            </a:r>
            <a:r>
              <a:rPr lang="en-US" altLang="zh-CN" sz="2000" b="1" dirty="0">
                <a:latin typeface="微软雅黑" pitchFamily="34" charset="-122"/>
                <a:ea typeface="微软雅黑" pitchFamily="34" charset="-122"/>
              </a:rPr>
              <a:t>40 </a:t>
            </a:r>
            <a:r>
              <a:rPr lang="zh-CN" altLang="en-US" sz="2000" b="1" dirty="0">
                <a:latin typeface="微软雅黑" pitchFamily="34" charset="-122"/>
                <a:ea typeface="微软雅黑" pitchFamily="34" charset="-122"/>
              </a:rPr>
              <a:t>秒钟没有收到某个相邻路由器发来的问候分组，则可认为该相邻路由器是不可达的。</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2</a:t>
            </a:r>
            <a:r>
              <a:rPr lang="zh-CN" altLang="en-US" sz="2000" b="1" dirty="0">
                <a:solidFill>
                  <a:srgbClr val="0000FF"/>
                </a:solidFill>
                <a:latin typeface="微软雅黑" pitchFamily="34" charset="-122"/>
                <a:ea typeface="微软雅黑" pitchFamily="34" charset="-122"/>
              </a:rPr>
              <a:t>，同步链路状态数据库。</a:t>
            </a:r>
            <a:endParaRPr lang="en-US" altLang="zh-CN" sz="2000" b="1" dirty="0">
              <a:solidFill>
                <a:srgbClr val="0000FF"/>
              </a:solidFill>
              <a:latin typeface="微软雅黑" pitchFamily="34" charset="-122"/>
              <a:ea typeface="微软雅黑" pitchFamily="34" charset="-122"/>
            </a:endParaRPr>
          </a:p>
          <a:p>
            <a:pPr marL="534988" lvl="1" indent="-279400">
              <a:lnSpc>
                <a:spcPts val="3000"/>
              </a:lnSpc>
              <a:buClr>
                <a:srgbClr val="7030A0"/>
              </a:buClr>
              <a:buSzPct val="75000"/>
              <a:buFont typeface="Wingdings" pitchFamily="2" charset="2"/>
              <a:buChar char="u"/>
            </a:pPr>
            <a:r>
              <a:rPr lang="zh-CN" altLang="en-US" sz="2000" b="1" dirty="0">
                <a:solidFill>
                  <a:srgbClr val="C00000"/>
                </a:solidFill>
                <a:latin typeface="微软雅黑" pitchFamily="34" charset="-122"/>
                <a:ea typeface="微软雅黑" pitchFamily="34" charset="-122"/>
              </a:rPr>
              <a:t>同步：</a:t>
            </a:r>
            <a:r>
              <a:rPr lang="zh-CN" altLang="en-US" sz="2000" b="1" dirty="0">
                <a:latin typeface="微软雅黑" pitchFamily="34" charset="-122"/>
                <a:ea typeface="微软雅黑" pitchFamily="34" charset="-122"/>
              </a:rPr>
              <a:t>指不同路由器的</a:t>
            </a:r>
            <a:r>
              <a:rPr lang="zh-CN" altLang="en-US" sz="2000" b="1" dirty="0">
                <a:solidFill>
                  <a:srgbClr val="C00000"/>
                </a:solidFill>
                <a:latin typeface="微软雅黑" pitchFamily="34" charset="-122"/>
                <a:ea typeface="微软雅黑" pitchFamily="34" charset="-122"/>
              </a:rPr>
              <a:t>链路状态数据库的内容</a:t>
            </a:r>
            <a:r>
              <a:rPr lang="zh-CN" altLang="en-US" sz="2000" b="1" dirty="0">
                <a:latin typeface="微软雅黑" pitchFamily="34" charset="-122"/>
                <a:ea typeface="微软雅黑" pitchFamily="34" charset="-122"/>
              </a:rPr>
              <a:t>是一样的。</a:t>
            </a:r>
            <a:endParaRPr lang="en-US" altLang="zh-CN" sz="2000" b="1" dirty="0">
              <a:latin typeface="微软雅黑" pitchFamily="34" charset="-122"/>
              <a:ea typeface="微软雅黑" pitchFamily="34" charset="-122"/>
            </a:endParaRPr>
          </a:p>
          <a:p>
            <a:pPr marL="534988" lvl="1" indent="-2794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两个同步的路由器叫做</a:t>
            </a:r>
            <a:r>
              <a:rPr lang="zh-CN" altLang="en-US" sz="2000" b="1" dirty="0">
                <a:solidFill>
                  <a:srgbClr val="C00000"/>
                </a:solidFill>
                <a:latin typeface="微软雅黑" pitchFamily="34" charset="-122"/>
                <a:ea typeface="微软雅黑" pitchFamily="34" charset="-122"/>
              </a:rPr>
              <a:t>完全邻接的 </a:t>
            </a:r>
            <a:r>
              <a:rPr lang="en-US" altLang="zh-CN" sz="2000" b="1" dirty="0">
                <a:latin typeface="微软雅黑" pitchFamily="34" charset="-122"/>
                <a:ea typeface="微软雅黑" pitchFamily="34" charset="-122"/>
              </a:rPr>
              <a:t>(fully adjacent) </a:t>
            </a:r>
            <a:r>
              <a:rPr lang="zh-CN" altLang="en-US" sz="2000" b="1" dirty="0">
                <a:latin typeface="微软雅黑" pitchFamily="34" charset="-122"/>
                <a:ea typeface="微软雅黑" pitchFamily="34" charset="-122"/>
              </a:rPr>
              <a:t>路由器。</a:t>
            </a:r>
            <a:endParaRPr lang="en-US" altLang="zh-CN" sz="2000" b="1" dirty="0">
              <a:latin typeface="微软雅黑" pitchFamily="34" charset="-122"/>
              <a:ea typeface="微软雅黑" pitchFamily="34" charset="-122"/>
            </a:endParaRPr>
          </a:p>
        </p:txBody>
      </p:sp>
      <p:sp>
        <p:nvSpPr>
          <p:cNvPr id="49" name="矩形 48"/>
          <p:cNvSpPr/>
          <p:nvPr/>
        </p:nvSpPr>
        <p:spPr>
          <a:xfrm>
            <a:off x="1607127" y="3803582"/>
            <a:ext cx="5735782" cy="759182"/>
          </a:xfrm>
          <a:prstGeom prst="rect">
            <a:avLst/>
          </a:prstGeom>
          <a:solidFill>
            <a:srgbClr val="000066"/>
          </a:solidFill>
          <a:ln>
            <a:noFill/>
          </a:ln>
        </p:spPr>
        <p:style>
          <a:lnRef idx="2">
            <a:schemeClr val="accent2">
              <a:shade val="50000"/>
            </a:schemeClr>
          </a:lnRef>
          <a:fillRef idx="1">
            <a:schemeClr val="accent2"/>
          </a:fillRef>
          <a:effectRef idx="0">
            <a:schemeClr val="accent2"/>
          </a:effectRef>
          <a:fontRef idx="minor">
            <a:schemeClr val="lt1"/>
          </a:fontRef>
        </p:style>
        <p:txBody>
          <a:bodyPr wrap="square">
            <a:spAutoFit/>
          </a:bodyPr>
          <a:lstStyle/>
          <a:p>
            <a:pPr>
              <a:lnSpc>
                <a:spcPts val="2600"/>
              </a:lnSpc>
            </a:pPr>
            <a:r>
              <a:rPr lang="zh-CN" altLang="en-US" b="1" dirty="0">
                <a:latin typeface="微软雅黑" panose="020B0503020204020204" pitchFamily="34" charset="-122"/>
                <a:ea typeface="微软雅黑" panose="020B0503020204020204" pitchFamily="34" charset="-122"/>
              </a:rPr>
              <a:t>不是完全邻接的路由器：它们虽然在物理上是相邻的，但其链路状态数据库并没有达到一致。</a:t>
            </a:r>
          </a:p>
        </p:txBody>
      </p:sp>
    </p:spTree>
    <p:extLst>
      <p:ext uri="{BB962C8B-B14F-4D97-AF65-F5344CB8AC3E}">
        <p14:creationId xmlns:p14="http://schemas.microsoft.com/office/powerpoint/2010/main" val="202530685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4" y="630095"/>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5" y="588911"/>
            <a:ext cx="1962397" cy="400110"/>
          </a:xfrm>
          <a:prstGeom prst="rect">
            <a:avLst/>
          </a:prstGeom>
        </p:spPr>
        <p:txBody>
          <a:bodyPr wrap="none">
            <a:spAutoFit/>
          </a:bodyPr>
          <a:lstStyle/>
          <a:p>
            <a:r>
              <a:rPr lang="en-US" altLang="zh-CN" sz="2000" b="1" dirty="0">
                <a:latin typeface="微软雅黑" pitchFamily="34" charset="-122"/>
                <a:ea typeface="微软雅黑" pitchFamily="34" charset="-122"/>
              </a:rPr>
              <a:t>OSPF </a:t>
            </a:r>
            <a:r>
              <a:rPr lang="zh-CN" altLang="en-US" sz="2000" b="1" dirty="0">
                <a:latin typeface="微软雅黑" pitchFamily="34" charset="-122"/>
                <a:ea typeface="微软雅黑" pitchFamily="34" charset="-122"/>
              </a:rPr>
              <a:t>工作过程</a:t>
            </a:r>
          </a:p>
        </p:txBody>
      </p:sp>
      <p:sp>
        <p:nvSpPr>
          <p:cNvPr id="50" name="矩形 49"/>
          <p:cNvSpPr/>
          <p:nvPr/>
        </p:nvSpPr>
        <p:spPr>
          <a:xfrm>
            <a:off x="545145" y="946778"/>
            <a:ext cx="8053712" cy="2054409"/>
          </a:xfrm>
          <a:prstGeom prst="rect">
            <a:avLst/>
          </a:prstGeom>
        </p:spPr>
        <p:txBody>
          <a:bodyPr wrap="square">
            <a:spAutoFit/>
          </a:bodyPr>
          <a:lstStyle/>
          <a:p>
            <a:pPr marL="285750" indent="-285750">
              <a:lnSpc>
                <a:spcPts val="33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3</a:t>
            </a:r>
            <a:r>
              <a:rPr lang="zh-CN" altLang="en-US" sz="2000" b="1" dirty="0">
                <a:solidFill>
                  <a:srgbClr val="0000FF"/>
                </a:solidFill>
                <a:latin typeface="微软雅黑" pitchFamily="34" charset="-122"/>
                <a:ea typeface="微软雅黑" pitchFamily="34" charset="-122"/>
              </a:rPr>
              <a:t>，更新链路状态。</a:t>
            </a:r>
            <a:endParaRPr lang="en-US" altLang="zh-CN" sz="2000" b="1" dirty="0">
              <a:solidFill>
                <a:srgbClr val="0000FF"/>
              </a:solidFill>
              <a:latin typeface="微软雅黑" pitchFamily="34" charset="-122"/>
              <a:ea typeface="微软雅黑" pitchFamily="34" charset="-122"/>
            </a:endParaRPr>
          </a:p>
          <a:p>
            <a:pPr marL="534988" lvl="1" indent="-2794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只要链路状态发生变化，路由器就使用链路状态更新分组，采用</a:t>
            </a:r>
            <a:r>
              <a:rPr lang="zh-CN" altLang="en-US" sz="2000" b="1" dirty="0">
                <a:solidFill>
                  <a:srgbClr val="C00000"/>
                </a:solidFill>
                <a:latin typeface="微软雅黑" pitchFamily="34" charset="-122"/>
                <a:ea typeface="微软雅黑" pitchFamily="34" charset="-122"/>
              </a:rPr>
              <a:t>可靠的洪泛法</a:t>
            </a:r>
            <a:r>
              <a:rPr lang="zh-CN" altLang="en-US" sz="2000" b="1" dirty="0">
                <a:latin typeface="微软雅黑" pitchFamily="34" charset="-122"/>
                <a:ea typeface="微软雅黑" pitchFamily="34" charset="-122"/>
              </a:rPr>
              <a:t>向全网更新链路状态。</a:t>
            </a:r>
            <a:endParaRPr lang="en-US" altLang="zh-CN" sz="2000" b="1" dirty="0">
              <a:latin typeface="微软雅黑" pitchFamily="34" charset="-122"/>
              <a:ea typeface="微软雅黑" pitchFamily="34" charset="-122"/>
            </a:endParaRPr>
          </a:p>
          <a:p>
            <a:pPr marL="534988" lvl="1" indent="-2794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为确保链路状态数据库与全网的状态保持一致，</a:t>
            </a:r>
            <a:r>
              <a:rPr lang="en-US" altLang="zh-CN" sz="2000" b="1" dirty="0">
                <a:latin typeface="微软雅黑" pitchFamily="34" charset="-122"/>
                <a:ea typeface="微软雅黑" pitchFamily="34" charset="-122"/>
              </a:rPr>
              <a:t>OSPF </a:t>
            </a:r>
            <a:r>
              <a:rPr lang="zh-CN" altLang="en-US" sz="2000" b="1" dirty="0">
                <a:latin typeface="微软雅黑" pitchFamily="34" charset="-122"/>
                <a:ea typeface="微软雅黑" pitchFamily="34" charset="-122"/>
              </a:rPr>
              <a:t>还规定：每隔一段时间，如 </a:t>
            </a:r>
            <a:r>
              <a:rPr lang="en-US" altLang="zh-CN" sz="2000" b="1" dirty="0">
                <a:latin typeface="微软雅黑" pitchFamily="34" charset="-122"/>
                <a:ea typeface="微软雅黑" pitchFamily="34" charset="-122"/>
              </a:rPr>
              <a:t>30 </a:t>
            </a:r>
            <a:r>
              <a:rPr lang="zh-CN" altLang="en-US" sz="2000" b="1" dirty="0">
                <a:latin typeface="微软雅黑" pitchFamily="34" charset="-122"/>
                <a:ea typeface="微软雅黑" pitchFamily="34" charset="-122"/>
              </a:rPr>
              <a:t>分钟，要刷新一次数据库中的链路状态。</a:t>
            </a:r>
            <a:endParaRPr lang="en-US" altLang="zh-CN" sz="2000" b="1" dirty="0">
              <a:latin typeface="微软雅黑" pitchFamily="34" charset="-122"/>
              <a:ea typeface="微软雅黑" pitchFamily="34" charset="-122"/>
            </a:endParaRPr>
          </a:p>
        </p:txBody>
      </p:sp>
      <p:sp>
        <p:nvSpPr>
          <p:cNvPr id="5" name="对角圆角矩形 4"/>
          <p:cNvSpPr/>
          <p:nvPr/>
        </p:nvSpPr>
        <p:spPr>
          <a:xfrm>
            <a:off x="686070" y="2965111"/>
            <a:ext cx="7691312" cy="1311325"/>
          </a:xfrm>
          <a:prstGeom prst="round2DiagRect">
            <a:avLst/>
          </a:prstGeom>
          <a:solidFill>
            <a:srgbClr val="0099CC"/>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矩形 5"/>
          <p:cNvSpPr/>
          <p:nvPr/>
        </p:nvSpPr>
        <p:spPr>
          <a:xfrm>
            <a:off x="846106" y="3063797"/>
            <a:ext cx="7651348" cy="1092607"/>
          </a:xfrm>
          <a:prstGeom prst="rect">
            <a:avLst/>
          </a:prstGeom>
        </p:spPr>
        <p:txBody>
          <a:bodyPr wrap="square">
            <a:spAutoFit/>
          </a:bodyPr>
          <a:lstStyle/>
          <a:p>
            <a:pPr>
              <a:lnSpc>
                <a:spcPts val="2600"/>
              </a:lnSpc>
            </a:pPr>
            <a:r>
              <a:rPr lang="en-US" altLang="zh-CN" b="1" dirty="0">
                <a:solidFill>
                  <a:schemeClr val="bg1"/>
                </a:solidFill>
                <a:latin typeface="微软雅黑" pitchFamily="34" charset="-122"/>
                <a:ea typeface="微软雅黑" pitchFamily="34" charset="-122"/>
              </a:rPr>
              <a:t>OSPF </a:t>
            </a:r>
            <a:r>
              <a:rPr lang="zh-CN" altLang="en-US" b="1" dirty="0">
                <a:solidFill>
                  <a:schemeClr val="bg1"/>
                </a:solidFill>
                <a:latin typeface="微软雅黑" pitchFamily="34" charset="-122"/>
                <a:ea typeface="微软雅黑" pitchFamily="34" charset="-122"/>
              </a:rPr>
              <a:t>链路状态只涉及相邻路由器，与整个互联网的规模并无直接关系，因此当互联网规模很大时，</a:t>
            </a:r>
            <a:r>
              <a:rPr lang="en-US" altLang="zh-CN" b="1" dirty="0">
                <a:solidFill>
                  <a:schemeClr val="bg1"/>
                </a:solidFill>
                <a:latin typeface="微软雅黑" pitchFamily="34" charset="-122"/>
                <a:ea typeface="微软雅黑" pitchFamily="34" charset="-122"/>
              </a:rPr>
              <a:t>OSPF </a:t>
            </a:r>
            <a:r>
              <a:rPr lang="zh-CN" altLang="en-US" b="1" dirty="0">
                <a:solidFill>
                  <a:schemeClr val="bg1"/>
                </a:solidFill>
                <a:latin typeface="微软雅黑" pitchFamily="34" charset="-122"/>
                <a:ea typeface="微软雅黑" pitchFamily="34" charset="-122"/>
              </a:rPr>
              <a:t>协议要比距离向量协议 </a:t>
            </a:r>
            <a:r>
              <a:rPr lang="en-US" altLang="zh-CN" b="1" dirty="0">
                <a:solidFill>
                  <a:schemeClr val="bg1"/>
                </a:solidFill>
                <a:latin typeface="微软雅黑" pitchFamily="34" charset="-122"/>
                <a:ea typeface="微软雅黑" pitchFamily="34" charset="-122"/>
              </a:rPr>
              <a:t>RIP </a:t>
            </a:r>
            <a:r>
              <a:rPr lang="zh-CN" altLang="en-US" b="1" dirty="0">
                <a:solidFill>
                  <a:schemeClr val="bg1"/>
                </a:solidFill>
                <a:latin typeface="微软雅黑" pitchFamily="34" charset="-122"/>
                <a:ea typeface="微软雅黑" pitchFamily="34" charset="-122"/>
              </a:rPr>
              <a:t>好得多。</a:t>
            </a:r>
            <a:endParaRPr lang="en-US" altLang="zh-CN" b="1" dirty="0">
              <a:solidFill>
                <a:schemeClr val="bg1"/>
              </a:solidFill>
              <a:latin typeface="微软雅黑" pitchFamily="34" charset="-122"/>
              <a:ea typeface="微软雅黑" pitchFamily="34" charset="-122"/>
            </a:endParaRPr>
          </a:p>
          <a:p>
            <a:pPr>
              <a:lnSpc>
                <a:spcPts val="2600"/>
              </a:lnSpc>
            </a:pPr>
            <a:r>
              <a:rPr lang="en-US" altLang="zh-CN" b="1" dirty="0">
                <a:solidFill>
                  <a:schemeClr val="bg1"/>
                </a:solidFill>
                <a:latin typeface="微软雅黑" pitchFamily="34" charset="-122"/>
                <a:ea typeface="微软雅黑" pitchFamily="34" charset="-122"/>
              </a:rPr>
              <a:t>OSPF </a:t>
            </a:r>
            <a:r>
              <a:rPr lang="zh-CN" altLang="en-US" b="1" dirty="0">
                <a:solidFill>
                  <a:schemeClr val="bg1"/>
                </a:solidFill>
                <a:latin typeface="微软雅黑" pitchFamily="34" charset="-122"/>
                <a:ea typeface="微软雅黑" pitchFamily="34" charset="-122"/>
              </a:rPr>
              <a:t>没有“坏消息传播得慢”的问题，收敛数度快。</a:t>
            </a:r>
          </a:p>
        </p:txBody>
      </p:sp>
    </p:spTree>
    <p:extLst>
      <p:ext uri="{BB962C8B-B14F-4D97-AF65-F5344CB8AC3E}">
        <p14:creationId xmlns:p14="http://schemas.microsoft.com/office/powerpoint/2010/main" val="257929039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19908"/>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45144" y="630095"/>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5" y="588911"/>
            <a:ext cx="1962397" cy="400110"/>
          </a:xfrm>
          <a:prstGeom prst="rect">
            <a:avLst/>
          </a:prstGeom>
        </p:spPr>
        <p:txBody>
          <a:bodyPr wrap="none">
            <a:spAutoFit/>
          </a:bodyPr>
          <a:lstStyle/>
          <a:p>
            <a:r>
              <a:rPr lang="en-US" altLang="zh-CN" sz="2000" b="1" dirty="0">
                <a:latin typeface="微软雅黑" pitchFamily="34" charset="-122"/>
                <a:ea typeface="微软雅黑" pitchFamily="34" charset="-122"/>
              </a:rPr>
              <a:t>OSPF </a:t>
            </a:r>
            <a:r>
              <a:rPr lang="zh-CN" altLang="en-US" sz="2000" b="1" dirty="0">
                <a:latin typeface="微软雅黑" pitchFamily="34" charset="-122"/>
                <a:ea typeface="微软雅黑" pitchFamily="34" charset="-122"/>
              </a:rPr>
              <a:t>工作过程</a:t>
            </a:r>
          </a:p>
        </p:txBody>
      </p:sp>
      <p:sp>
        <p:nvSpPr>
          <p:cNvPr id="5" name="Rectangle 2"/>
          <p:cNvSpPr>
            <a:spLocks noChangeArrowheads="1"/>
          </p:cNvSpPr>
          <p:nvPr/>
        </p:nvSpPr>
        <p:spPr bwMode="auto">
          <a:xfrm>
            <a:off x="1345098" y="2013851"/>
            <a:ext cx="6644146" cy="1209846"/>
          </a:xfrm>
          <a:prstGeom prst="rect">
            <a:avLst/>
          </a:prstGeom>
          <a:solidFill>
            <a:schemeClr val="accent6">
              <a:lumMod val="40000"/>
              <a:lumOff val="60000"/>
            </a:schemeClr>
          </a:solidFill>
          <a:ln>
            <a:noFill/>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 name="AutoShape 6"/>
          <p:cNvSpPr>
            <a:spLocks noChangeArrowheads="1"/>
          </p:cNvSpPr>
          <p:nvPr/>
        </p:nvSpPr>
        <p:spPr bwMode="auto">
          <a:xfrm rot="16200000">
            <a:off x="5132802" y="-147017"/>
            <a:ext cx="66788" cy="2904817"/>
          </a:xfrm>
          <a:prstGeom prst="can">
            <a:avLst>
              <a:gd name="adj" fmla="val 105945"/>
            </a:avLst>
          </a:prstGeom>
          <a:solidFill>
            <a:srgbClr val="CC00CC"/>
          </a:solidFill>
          <a:ln w="9525">
            <a:noFill/>
            <a:round/>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pic>
        <p:nvPicPr>
          <p:cNvPr id="9" name="Picture 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429117" y="1153273"/>
            <a:ext cx="568153" cy="2726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 name="Picture 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476270" y="1153273"/>
            <a:ext cx="566967" cy="2726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1" name="Group 9"/>
          <p:cNvGrpSpPr>
            <a:grpSpLocks/>
          </p:cNvGrpSpPr>
          <p:nvPr/>
        </p:nvGrpSpPr>
        <p:grpSpPr bwMode="auto">
          <a:xfrm>
            <a:off x="3783768" y="1371158"/>
            <a:ext cx="2906003" cy="307663"/>
            <a:chOff x="2056" y="1482"/>
            <a:chExt cx="2450" cy="281"/>
          </a:xfrm>
        </p:grpSpPr>
        <p:sp>
          <p:nvSpPr>
            <p:cNvPr id="12" name="Text Box 10"/>
            <p:cNvSpPr txBox="1">
              <a:spLocks noChangeArrowheads="1"/>
            </p:cNvSpPr>
            <p:nvPr/>
          </p:nvSpPr>
          <p:spPr bwMode="auto">
            <a:xfrm>
              <a:off x="2991" y="1482"/>
              <a:ext cx="458"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问候</a:t>
              </a:r>
            </a:p>
          </p:txBody>
        </p:sp>
        <p:sp>
          <p:nvSpPr>
            <p:cNvPr id="13" name="Line 11"/>
            <p:cNvSpPr>
              <a:spLocks noChangeShapeType="1"/>
            </p:cNvSpPr>
            <p:nvPr/>
          </p:nvSpPr>
          <p:spPr bwMode="auto">
            <a:xfrm>
              <a:off x="2056" y="1731"/>
              <a:ext cx="2450"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grpSp>
      <p:grpSp>
        <p:nvGrpSpPr>
          <p:cNvPr id="14" name="Group 12"/>
          <p:cNvGrpSpPr>
            <a:grpSpLocks/>
          </p:cNvGrpSpPr>
          <p:nvPr/>
        </p:nvGrpSpPr>
        <p:grpSpPr bwMode="auto">
          <a:xfrm>
            <a:off x="3783768" y="1635022"/>
            <a:ext cx="2906003" cy="307662"/>
            <a:chOff x="2056" y="1723"/>
            <a:chExt cx="2450" cy="281"/>
          </a:xfrm>
        </p:grpSpPr>
        <p:sp>
          <p:nvSpPr>
            <p:cNvPr id="15" name="Line 13"/>
            <p:cNvSpPr>
              <a:spLocks noChangeShapeType="1"/>
            </p:cNvSpPr>
            <p:nvPr/>
          </p:nvSpPr>
          <p:spPr bwMode="auto">
            <a:xfrm flipH="1">
              <a:off x="2056" y="1980"/>
              <a:ext cx="2450"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6" name="Text Box 14"/>
            <p:cNvSpPr txBox="1">
              <a:spLocks noChangeArrowheads="1"/>
            </p:cNvSpPr>
            <p:nvPr/>
          </p:nvSpPr>
          <p:spPr bwMode="auto">
            <a:xfrm>
              <a:off x="2987" y="1723"/>
              <a:ext cx="458"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问候</a:t>
              </a:r>
            </a:p>
          </p:txBody>
        </p:sp>
      </p:grpSp>
      <p:grpSp>
        <p:nvGrpSpPr>
          <p:cNvPr id="17" name="Group 15"/>
          <p:cNvGrpSpPr>
            <a:grpSpLocks/>
          </p:cNvGrpSpPr>
          <p:nvPr/>
        </p:nvGrpSpPr>
        <p:grpSpPr bwMode="auto">
          <a:xfrm>
            <a:off x="3783768" y="2023708"/>
            <a:ext cx="2906003" cy="307663"/>
            <a:chOff x="2056" y="2078"/>
            <a:chExt cx="2450" cy="281"/>
          </a:xfrm>
        </p:grpSpPr>
        <p:sp>
          <p:nvSpPr>
            <p:cNvPr id="18" name="Line 16"/>
            <p:cNvSpPr>
              <a:spLocks noChangeShapeType="1"/>
            </p:cNvSpPr>
            <p:nvPr/>
          </p:nvSpPr>
          <p:spPr bwMode="auto">
            <a:xfrm>
              <a:off x="2056" y="2328"/>
              <a:ext cx="2450"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9" name="Text Box 17"/>
            <p:cNvSpPr txBox="1">
              <a:spLocks noChangeArrowheads="1"/>
            </p:cNvSpPr>
            <p:nvPr/>
          </p:nvSpPr>
          <p:spPr bwMode="auto">
            <a:xfrm>
              <a:off x="2713" y="2078"/>
              <a:ext cx="913"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数据库描述</a:t>
              </a:r>
            </a:p>
          </p:txBody>
        </p:sp>
      </p:grpSp>
      <p:grpSp>
        <p:nvGrpSpPr>
          <p:cNvPr id="20" name="Group 18"/>
          <p:cNvGrpSpPr>
            <a:grpSpLocks/>
          </p:cNvGrpSpPr>
          <p:nvPr/>
        </p:nvGrpSpPr>
        <p:grpSpPr bwMode="auto">
          <a:xfrm>
            <a:off x="3783768" y="2288666"/>
            <a:ext cx="2906003" cy="307663"/>
            <a:chOff x="2056" y="2320"/>
            <a:chExt cx="2450" cy="281"/>
          </a:xfrm>
        </p:grpSpPr>
        <p:sp>
          <p:nvSpPr>
            <p:cNvPr id="21" name="Line 19"/>
            <p:cNvSpPr>
              <a:spLocks noChangeShapeType="1"/>
            </p:cNvSpPr>
            <p:nvPr/>
          </p:nvSpPr>
          <p:spPr bwMode="auto">
            <a:xfrm flipH="1">
              <a:off x="2056" y="2577"/>
              <a:ext cx="2450"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2" name="Text Box 20"/>
            <p:cNvSpPr txBox="1">
              <a:spLocks noChangeArrowheads="1"/>
            </p:cNvSpPr>
            <p:nvPr/>
          </p:nvSpPr>
          <p:spPr bwMode="auto">
            <a:xfrm>
              <a:off x="2713" y="2320"/>
              <a:ext cx="913"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latin typeface="微软雅黑" pitchFamily="34" charset="-122"/>
                  <a:ea typeface="微软雅黑" pitchFamily="34" charset="-122"/>
                </a:rPr>
                <a:t>数据库描述</a:t>
              </a:r>
            </a:p>
          </p:txBody>
        </p:sp>
      </p:grpSp>
      <p:grpSp>
        <p:nvGrpSpPr>
          <p:cNvPr id="23" name="Group 21"/>
          <p:cNvGrpSpPr>
            <a:grpSpLocks/>
          </p:cNvGrpSpPr>
          <p:nvPr/>
        </p:nvGrpSpPr>
        <p:grpSpPr bwMode="auto">
          <a:xfrm>
            <a:off x="3783768" y="2561296"/>
            <a:ext cx="2906003" cy="307663"/>
            <a:chOff x="2056" y="2569"/>
            <a:chExt cx="2450" cy="281"/>
          </a:xfrm>
        </p:grpSpPr>
        <p:sp>
          <p:nvSpPr>
            <p:cNvPr id="24" name="Line 22"/>
            <p:cNvSpPr>
              <a:spLocks noChangeShapeType="1"/>
            </p:cNvSpPr>
            <p:nvPr/>
          </p:nvSpPr>
          <p:spPr bwMode="auto">
            <a:xfrm>
              <a:off x="2056" y="2825"/>
              <a:ext cx="2450"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5" name="Text Box 23"/>
            <p:cNvSpPr txBox="1">
              <a:spLocks noChangeArrowheads="1"/>
            </p:cNvSpPr>
            <p:nvPr/>
          </p:nvSpPr>
          <p:spPr bwMode="auto">
            <a:xfrm>
              <a:off x="2713" y="2569"/>
              <a:ext cx="913"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latin typeface="微软雅黑" pitchFamily="34" charset="-122"/>
                  <a:ea typeface="微软雅黑" pitchFamily="34" charset="-122"/>
                </a:rPr>
                <a:t>数据库描述</a:t>
              </a:r>
            </a:p>
          </p:txBody>
        </p:sp>
      </p:grpSp>
      <p:grpSp>
        <p:nvGrpSpPr>
          <p:cNvPr id="26" name="Group 24"/>
          <p:cNvGrpSpPr>
            <a:grpSpLocks/>
          </p:cNvGrpSpPr>
          <p:nvPr/>
        </p:nvGrpSpPr>
        <p:grpSpPr bwMode="auto">
          <a:xfrm>
            <a:off x="3783768" y="2827349"/>
            <a:ext cx="2906003" cy="307663"/>
            <a:chOff x="2056" y="2812"/>
            <a:chExt cx="2450" cy="281"/>
          </a:xfrm>
        </p:grpSpPr>
        <p:sp>
          <p:nvSpPr>
            <p:cNvPr id="27" name="Line 25"/>
            <p:cNvSpPr>
              <a:spLocks noChangeShapeType="1"/>
            </p:cNvSpPr>
            <p:nvPr/>
          </p:nvSpPr>
          <p:spPr bwMode="auto">
            <a:xfrm flipH="1">
              <a:off x="2056" y="3075"/>
              <a:ext cx="2450"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8" name="Text Box 26"/>
            <p:cNvSpPr txBox="1">
              <a:spLocks noChangeArrowheads="1"/>
            </p:cNvSpPr>
            <p:nvPr/>
          </p:nvSpPr>
          <p:spPr bwMode="auto">
            <a:xfrm>
              <a:off x="2713" y="2812"/>
              <a:ext cx="913"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latin typeface="微软雅黑" pitchFamily="34" charset="-122"/>
                  <a:ea typeface="微软雅黑" pitchFamily="34" charset="-122"/>
                </a:rPr>
                <a:t>数据库描述</a:t>
              </a:r>
            </a:p>
          </p:txBody>
        </p:sp>
      </p:grpSp>
      <p:grpSp>
        <p:nvGrpSpPr>
          <p:cNvPr id="29" name="Group 27"/>
          <p:cNvGrpSpPr>
            <a:grpSpLocks/>
          </p:cNvGrpSpPr>
          <p:nvPr/>
        </p:nvGrpSpPr>
        <p:grpSpPr bwMode="auto">
          <a:xfrm>
            <a:off x="3783768" y="3232459"/>
            <a:ext cx="2906003" cy="307663"/>
            <a:chOff x="2056" y="3182"/>
            <a:chExt cx="2450" cy="281"/>
          </a:xfrm>
        </p:grpSpPr>
        <p:sp>
          <p:nvSpPr>
            <p:cNvPr id="30" name="Line 28"/>
            <p:cNvSpPr>
              <a:spLocks noChangeShapeType="1"/>
            </p:cNvSpPr>
            <p:nvPr/>
          </p:nvSpPr>
          <p:spPr bwMode="auto">
            <a:xfrm>
              <a:off x="2056" y="3423"/>
              <a:ext cx="2450"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1" name="Text Box 29"/>
            <p:cNvSpPr txBox="1">
              <a:spLocks noChangeArrowheads="1"/>
            </p:cNvSpPr>
            <p:nvPr/>
          </p:nvSpPr>
          <p:spPr bwMode="auto">
            <a:xfrm>
              <a:off x="2624" y="3182"/>
              <a:ext cx="1064"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latin typeface="微软雅黑" pitchFamily="34" charset="-122"/>
                  <a:ea typeface="微软雅黑" pitchFamily="34" charset="-122"/>
                </a:rPr>
                <a:t>链路状态请求</a:t>
              </a:r>
            </a:p>
          </p:txBody>
        </p:sp>
      </p:grpSp>
      <p:grpSp>
        <p:nvGrpSpPr>
          <p:cNvPr id="32" name="Group 30"/>
          <p:cNvGrpSpPr>
            <a:grpSpLocks/>
          </p:cNvGrpSpPr>
          <p:nvPr/>
        </p:nvGrpSpPr>
        <p:grpSpPr bwMode="auto">
          <a:xfrm>
            <a:off x="3783768" y="3506184"/>
            <a:ext cx="2906003" cy="307663"/>
            <a:chOff x="2056" y="3432"/>
            <a:chExt cx="2450" cy="281"/>
          </a:xfrm>
        </p:grpSpPr>
        <p:sp>
          <p:nvSpPr>
            <p:cNvPr id="33" name="Line 31"/>
            <p:cNvSpPr>
              <a:spLocks noChangeShapeType="1"/>
            </p:cNvSpPr>
            <p:nvPr/>
          </p:nvSpPr>
          <p:spPr bwMode="auto">
            <a:xfrm flipH="1">
              <a:off x="2056" y="3672"/>
              <a:ext cx="2450"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4" name="Text Box 32"/>
            <p:cNvSpPr txBox="1">
              <a:spLocks noChangeArrowheads="1"/>
            </p:cNvSpPr>
            <p:nvPr/>
          </p:nvSpPr>
          <p:spPr bwMode="auto">
            <a:xfrm>
              <a:off x="2629" y="3432"/>
              <a:ext cx="1064"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latin typeface="微软雅黑" pitchFamily="34" charset="-122"/>
                  <a:ea typeface="微软雅黑" pitchFamily="34" charset="-122"/>
                </a:rPr>
                <a:t>链路状态更新</a:t>
              </a:r>
            </a:p>
          </p:txBody>
        </p:sp>
      </p:grpSp>
      <p:sp>
        <p:nvSpPr>
          <p:cNvPr id="35" name="Line 33"/>
          <p:cNvSpPr>
            <a:spLocks noChangeShapeType="1"/>
          </p:cNvSpPr>
          <p:nvPr/>
        </p:nvSpPr>
        <p:spPr bwMode="auto">
          <a:xfrm>
            <a:off x="1633326" y="3232455"/>
            <a:ext cx="5764562" cy="0"/>
          </a:xfrm>
          <a:prstGeom prst="line">
            <a:avLst/>
          </a:prstGeom>
          <a:noFill/>
          <a:ln w="19050">
            <a:solidFill>
              <a:srgbClr val="3333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6" name="Line 34"/>
          <p:cNvSpPr>
            <a:spLocks noChangeShapeType="1"/>
          </p:cNvSpPr>
          <p:nvPr/>
        </p:nvSpPr>
        <p:spPr bwMode="auto">
          <a:xfrm>
            <a:off x="1657048" y="2025894"/>
            <a:ext cx="5740839" cy="0"/>
          </a:xfrm>
          <a:prstGeom prst="line">
            <a:avLst/>
          </a:prstGeom>
          <a:noFill/>
          <a:ln w="19050">
            <a:solidFill>
              <a:srgbClr val="3333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grpSp>
        <p:nvGrpSpPr>
          <p:cNvPr id="37" name="Group 35"/>
          <p:cNvGrpSpPr>
            <a:grpSpLocks/>
          </p:cNvGrpSpPr>
          <p:nvPr/>
        </p:nvGrpSpPr>
        <p:grpSpPr bwMode="auto">
          <a:xfrm>
            <a:off x="3783768" y="3777716"/>
            <a:ext cx="2906003" cy="307663"/>
            <a:chOff x="2056" y="3680"/>
            <a:chExt cx="2450" cy="281"/>
          </a:xfrm>
        </p:grpSpPr>
        <p:sp>
          <p:nvSpPr>
            <p:cNvPr id="38" name="Line 36"/>
            <p:cNvSpPr>
              <a:spLocks noChangeShapeType="1"/>
            </p:cNvSpPr>
            <p:nvPr/>
          </p:nvSpPr>
          <p:spPr bwMode="auto">
            <a:xfrm>
              <a:off x="2056" y="3920"/>
              <a:ext cx="2450"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9" name="Text Box 37"/>
            <p:cNvSpPr txBox="1">
              <a:spLocks noChangeArrowheads="1"/>
            </p:cNvSpPr>
            <p:nvPr/>
          </p:nvSpPr>
          <p:spPr bwMode="auto">
            <a:xfrm>
              <a:off x="2629" y="3680"/>
              <a:ext cx="1064"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latin typeface="微软雅黑" pitchFamily="34" charset="-122"/>
                  <a:ea typeface="微软雅黑" pitchFamily="34" charset="-122"/>
                </a:rPr>
                <a:t>链路状态确认</a:t>
              </a:r>
            </a:p>
          </p:txBody>
        </p:sp>
      </p:grpSp>
      <p:grpSp>
        <p:nvGrpSpPr>
          <p:cNvPr id="52" name="组合 51"/>
          <p:cNvGrpSpPr/>
          <p:nvPr/>
        </p:nvGrpSpPr>
        <p:grpSpPr>
          <a:xfrm>
            <a:off x="1899017" y="1317505"/>
            <a:ext cx="1087676" cy="708389"/>
            <a:chOff x="1899017" y="1317505"/>
            <a:chExt cx="1087676" cy="708389"/>
          </a:xfrm>
          <a:noFill/>
        </p:grpSpPr>
        <p:sp>
          <p:nvSpPr>
            <p:cNvPr id="6" name="Line 4"/>
            <p:cNvSpPr>
              <a:spLocks noChangeShapeType="1"/>
            </p:cNvSpPr>
            <p:nvPr/>
          </p:nvSpPr>
          <p:spPr bwMode="auto">
            <a:xfrm>
              <a:off x="2437518" y="1317505"/>
              <a:ext cx="0" cy="708389"/>
            </a:xfrm>
            <a:prstGeom prst="line">
              <a:avLst/>
            </a:prstGeom>
            <a:grpFill/>
            <a:ln w="28575">
              <a:solidFill>
                <a:srgbClr val="333399"/>
              </a:solidFill>
              <a:round/>
              <a:headEnd type="triangle" w="med" len="lg"/>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 name="Rectangle 5"/>
            <p:cNvSpPr>
              <a:spLocks noChangeArrowheads="1"/>
            </p:cNvSpPr>
            <p:nvPr/>
          </p:nvSpPr>
          <p:spPr bwMode="auto">
            <a:xfrm>
              <a:off x="1919181" y="1527723"/>
              <a:ext cx="1067512" cy="224451"/>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0" name="Text Box 38"/>
            <p:cNvSpPr txBox="1">
              <a:spLocks noChangeArrowheads="1"/>
            </p:cNvSpPr>
            <p:nvPr/>
          </p:nvSpPr>
          <p:spPr bwMode="auto">
            <a:xfrm>
              <a:off x="1899017" y="1490496"/>
              <a:ext cx="1082348" cy="307777"/>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确定可达性</a:t>
              </a:r>
            </a:p>
          </p:txBody>
        </p:sp>
      </p:grpSp>
      <p:grpSp>
        <p:nvGrpSpPr>
          <p:cNvPr id="41" name="Group 39"/>
          <p:cNvGrpSpPr>
            <a:grpSpLocks/>
          </p:cNvGrpSpPr>
          <p:nvPr/>
        </p:nvGrpSpPr>
        <p:grpSpPr bwMode="auto">
          <a:xfrm>
            <a:off x="1600114" y="2025895"/>
            <a:ext cx="1800536" cy="1198897"/>
            <a:chOff x="215" y="2080"/>
            <a:chExt cx="1518" cy="1095"/>
          </a:xfrm>
        </p:grpSpPr>
        <p:sp>
          <p:nvSpPr>
            <p:cNvPr id="42" name="Line 40"/>
            <p:cNvSpPr>
              <a:spLocks noChangeShapeType="1"/>
            </p:cNvSpPr>
            <p:nvPr/>
          </p:nvSpPr>
          <p:spPr bwMode="auto">
            <a:xfrm>
              <a:off x="921" y="2080"/>
              <a:ext cx="0" cy="1095"/>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3" name="Text Box 41"/>
            <p:cNvSpPr txBox="1">
              <a:spLocks noChangeArrowheads="1"/>
            </p:cNvSpPr>
            <p:nvPr/>
          </p:nvSpPr>
          <p:spPr bwMode="auto">
            <a:xfrm>
              <a:off x="215" y="2469"/>
              <a:ext cx="1518" cy="281"/>
            </a:xfrm>
            <a:prstGeom prst="rect">
              <a:avLst/>
            </a:prstGeom>
            <a:solidFill>
              <a:schemeClr val="accent6">
                <a:lumMod val="40000"/>
                <a:lumOff val="60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同步链路状态数据库</a:t>
              </a:r>
            </a:p>
          </p:txBody>
        </p:sp>
      </p:grpSp>
      <p:sp>
        <p:nvSpPr>
          <p:cNvPr id="44" name="Line 42"/>
          <p:cNvSpPr>
            <a:spLocks noChangeShapeType="1"/>
          </p:cNvSpPr>
          <p:nvPr/>
        </p:nvSpPr>
        <p:spPr bwMode="auto">
          <a:xfrm>
            <a:off x="1657048" y="4149967"/>
            <a:ext cx="5740839" cy="0"/>
          </a:xfrm>
          <a:prstGeom prst="line">
            <a:avLst/>
          </a:prstGeom>
          <a:noFill/>
          <a:ln w="19050">
            <a:solidFill>
              <a:srgbClr val="3333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5" name="Line 43"/>
          <p:cNvSpPr>
            <a:spLocks noChangeShapeType="1"/>
          </p:cNvSpPr>
          <p:nvPr/>
        </p:nvSpPr>
        <p:spPr bwMode="auto">
          <a:xfrm>
            <a:off x="1657048" y="1326741"/>
            <a:ext cx="1702088" cy="0"/>
          </a:xfrm>
          <a:prstGeom prst="line">
            <a:avLst/>
          </a:prstGeom>
          <a:noFill/>
          <a:ln w="19050">
            <a:solidFill>
              <a:srgbClr val="3333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grpSp>
        <p:nvGrpSpPr>
          <p:cNvPr id="46" name="Group 44"/>
          <p:cNvGrpSpPr>
            <a:grpSpLocks/>
          </p:cNvGrpSpPr>
          <p:nvPr/>
        </p:nvGrpSpPr>
        <p:grpSpPr bwMode="auto">
          <a:xfrm>
            <a:off x="1736519" y="3224792"/>
            <a:ext cx="1262035" cy="925176"/>
            <a:chOff x="330" y="3175"/>
            <a:chExt cx="1064" cy="845"/>
          </a:xfrm>
        </p:grpSpPr>
        <p:sp>
          <p:nvSpPr>
            <p:cNvPr id="47" name="Line 45"/>
            <p:cNvSpPr>
              <a:spLocks noChangeShapeType="1"/>
            </p:cNvSpPr>
            <p:nvPr/>
          </p:nvSpPr>
          <p:spPr bwMode="auto">
            <a:xfrm>
              <a:off x="921" y="3175"/>
              <a:ext cx="0" cy="845"/>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8" name="Text Box 46"/>
            <p:cNvSpPr txBox="1">
              <a:spLocks noChangeArrowheads="1"/>
            </p:cNvSpPr>
            <p:nvPr/>
          </p:nvSpPr>
          <p:spPr bwMode="auto">
            <a:xfrm>
              <a:off x="330" y="3414"/>
              <a:ext cx="1064" cy="281"/>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更新链路状态</a:t>
              </a:r>
            </a:p>
          </p:txBody>
        </p:sp>
      </p:grpSp>
    </p:spTree>
    <p:extLst>
      <p:ext uri="{BB962C8B-B14F-4D97-AF65-F5344CB8AC3E}">
        <p14:creationId xmlns:p14="http://schemas.microsoft.com/office/powerpoint/2010/main" val="113004642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left)">
                                      <p:cBhvr>
                                        <p:cTn id="7" dur="2000"/>
                                        <p:tgtEl>
                                          <p:spTgt spid="11"/>
                                        </p:tgtEl>
                                      </p:cBhvr>
                                    </p:animEffect>
                                  </p:childTnLst>
                                </p:cTn>
                              </p:par>
                            </p:childTnLst>
                          </p:cTn>
                        </p:par>
                        <p:par>
                          <p:cTn id="8" fill="hold">
                            <p:stCondLst>
                              <p:cond delay="2000"/>
                            </p:stCondLst>
                            <p:childTnLst>
                              <p:par>
                                <p:cTn id="9" presetID="22" presetClass="entr" presetSubtype="2" fill="hold" nodeType="afterEffect">
                                  <p:stCondLst>
                                    <p:cond delay="0"/>
                                  </p:stCondLst>
                                  <p:childTnLst>
                                    <p:set>
                                      <p:cBhvr>
                                        <p:cTn id="10" dur="1" fill="hold">
                                          <p:stCondLst>
                                            <p:cond delay="0"/>
                                          </p:stCondLst>
                                        </p:cTn>
                                        <p:tgtEl>
                                          <p:spTgt spid="14"/>
                                        </p:tgtEl>
                                        <p:attrNameLst>
                                          <p:attrName>style.visibility</p:attrName>
                                        </p:attrNameLst>
                                      </p:cBhvr>
                                      <p:to>
                                        <p:strVal val="visible"/>
                                      </p:to>
                                    </p:set>
                                    <p:animEffect transition="in" filter="wipe(right)">
                                      <p:cBhvr>
                                        <p:cTn id="11" dur="2000"/>
                                        <p:tgtEl>
                                          <p:spTgt spid="14"/>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nodeType="clickEffect">
                                  <p:stCondLst>
                                    <p:cond delay="0"/>
                                  </p:stCondLst>
                                  <p:childTnLst>
                                    <p:set>
                                      <p:cBhvr>
                                        <p:cTn id="15" dur="1" fill="hold">
                                          <p:stCondLst>
                                            <p:cond delay="0"/>
                                          </p:stCondLst>
                                        </p:cTn>
                                        <p:tgtEl>
                                          <p:spTgt spid="17"/>
                                        </p:tgtEl>
                                        <p:attrNameLst>
                                          <p:attrName>style.visibility</p:attrName>
                                        </p:attrNameLst>
                                      </p:cBhvr>
                                      <p:to>
                                        <p:strVal val="visible"/>
                                      </p:to>
                                    </p:set>
                                    <p:animEffect transition="in" filter="wipe(left)">
                                      <p:cBhvr>
                                        <p:cTn id="16" dur="2000"/>
                                        <p:tgtEl>
                                          <p:spTgt spid="17"/>
                                        </p:tgtEl>
                                      </p:cBhvr>
                                    </p:animEffect>
                                  </p:childTnLst>
                                </p:cTn>
                              </p:par>
                            </p:childTnLst>
                          </p:cTn>
                        </p:par>
                        <p:par>
                          <p:cTn id="17" fill="hold">
                            <p:stCondLst>
                              <p:cond delay="2000"/>
                            </p:stCondLst>
                            <p:childTnLst>
                              <p:par>
                                <p:cTn id="18" presetID="22" presetClass="entr" presetSubtype="2" fill="hold" nodeType="afterEffect">
                                  <p:stCondLst>
                                    <p:cond delay="0"/>
                                  </p:stCondLst>
                                  <p:childTnLst>
                                    <p:set>
                                      <p:cBhvr>
                                        <p:cTn id="19" dur="1" fill="hold">
                                          <p:stCondLst>
                                            <p:cond delay="0"/>
                                          </p:stCondLst>
                                        </p:cTn>
                                        <p:tgtEl>
                                          <p:spTgt spid="20"/>
                                        </p:tgtEl>
                                        <p:attrNameLst>
                                          <p:attrName>style.visibility</p:attrName>
                                        </p:attrNameLst>
                                      </p:cBhvr>
                                      <p:to>
                                        <p:strVal val="visible"/>
                                      </p:to>
                                    </p:set>
                                    <p:animEffect transition="in" filter="wipe(right)">
                                      <p:cBhvr>
                                        <p:cTn id="20" dur="2000"/>
                                        <p:tgtEl>
                                          <p:spTgt spid="20"/>
                                        </p:tgtEl>
                                      </p:cBhvr>
                                    </p:animEffect>
                                  </p:childTnLst>
                                </p:cTn>
                              </p:par>
                            </p:childTnLst>
                          </p:cTn>
                        </p:par>
                        <p:par>
                          <p:cTn id="21" fill="hold">
                            <p:stCondLst>
                              <p:cond delay="4000"/>
                            </p:stCondLst>
                            <p:childTnLst>
                              <p:par>
                                <p:cTn id="22" presetID="22" presetClass="entr" presetSubtype="8" fill="hold" nodeType="afterEffect">
                                  <p:stCondLst>
                                    <p:cond delay="0"/>
                                  </p:stCondLst>
                                  <p:childTnLst>
                                    <p:set>
                                      <p:cBhvr>
                                        <p:cTn id="23" dur="1" fill="hold">
                                          <p:stCondLst>
                                            <p:cond delay="0"/>
                                          </p:stCondLst>
                                        </p:cTn>
                                        <p:tgtEl>
                                          <p:spTgt spid="23"/>
                                        </p:tgtEl>
                                        <p:attrNameLst>
                                          <p:attrName>style.visibility</p:attrName>
                                        </p:attrNameLst>
                                      </p:cBhvr>
                                      <p:to>
                                        <p:strVal val="visible"/>
                                      </p:to>
                                    </p:set>
                                    <p:animEffect transition="in" filter="wipe(left)">
                                      <p:cBhvr>
                                        <p:cTn id="24" dur="2000"/>
                                        <p:tgtEl>
                                          <p:spTgt spid="23"/>
                                        </p:tgtEl>
                                      </p:cBhvr>
                                    </p:animEffect>
                                  </p:childTnLst>
                                </p:cTn>
                              </p:par>
                            </p:childTnLst>
                          </p:cTn>
                        </p:par>
                        <p:par>
                          <p:cTn id="25" fill="hold">
                            <p:stCondLst>
                              <p:cond delay="6000"/>
                            </p:stCondLst>
                            <p:childTnLst>
                              <p:par>
                                <p:cTn id="26" presetID="22" presetClass="entr" presetSubtype="2" fill="hold" nodeType="afterEffect">
                                  <p:stCondLst>
                                    <p:cond delay="0"/>
                                  </p:stCondLst>
                                  <p:childTnLst>
                                    <p:set>
                                      <p:cBhvr>
                                        <p:cTn id="27" dur="1" fill="hold">
                                          <p:stCondLst>
                                            <p:cond delay="0"/>
                                          </p:stCondLst>
                                        </p:cTn>
                                        <p:tgtEl>
                                          <p:spTgt spid="26"/>
                                        </p:tgtEl>
                                        <p:attrNameLst>
                                          <p:attrName>style.visibility</p:attrName>
                                        </p:attrNameLst>
                                      </p:cBhvr>
                                      <p:to>
                                        <p:strVal val="visible"/>
                                      </p:to>
                                    </p:set>
                                    <p:animEffect transition="in" filter="wipe(right)">
                                      <p:cBhvr>
                                        <p:cTn id="28" dur="2000"/>
                                        <p:tgtEl>
                                          <p:spTgt spid="26"/>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nodeType="clickEffect">
                                  <p:stCondLst>
                                    <p:cond delay="0"/>
                                  </p:stCondLst>
                                  <p:childTnLst>
                                    <p:set>
                                      <p:cBhvr>
                                        <p:cTn id="32" dur="1" fill="hold">
                                          <p:stCondLst>
                                            <p:cond delay="0"/>
                                          </p:stCondLst>
                                        </p:cTn>
                                        <p:tgtEl>
                                          <p:spTgt spid="29"/>
                                        </p:tgtEl>
                                        <p:attrNameLst>
                                          <p:attrName>style.visibility</p:attrName>
                                        </p:attrNameLst>
                                      </p:cBhvr>
                                      <p:to>
                                        <p:strVal val="visible"/>
                                      </p:to>
                                    </p:set>
                                    <p:animEffect transition="in" filter="wipe(left)">
                                      <p:cBhvr>
                                        <p:cTn id="33" dur="2000"/>
                                        <p:tgtEl>
                                          <p:spTgt spid="29"/>
                                        </p:tgtEl>
                                      </p:cBhvr>
                                    </p:animEffect>
                                  </p:childTnLst>
                                </p:cTn>
                              </p:par>
                            </p:childTnLst>
                          </p:cTn>
                        </p:par>
                        <p:par>
                          <p:cTn id="34" fill="hold">
                            <p:stCondLst>
                              <p:cond delay="2000"/>
                            </p:stCondLst>
                            <p:childTnLst>
                              <p:par>
                                <p:cTn id="35" presetID="22" presetClass="entr" presetSubtype="2" fill="hold" nodeType="afterEffect">
                                  <p:stCondLst>
                                    <p:cond delay="0"/>
                                  </p:stCondLst>
                                  <p:childTnLst>
                                    <p:set>
                                      <p:cBhvr>
                                        <p:cTn id="36" dur="1" fill="hold">
                                          <p:stCondLst>
                                            <p:cond delay="0"/>
                                          </p:stCondLst>
                                        </p:cTn>
                                        <p:tgtEl>
                                          <p:spTgt spid="32"/>
                                        </p:tgtEl>
                                        <p:attrNameLst>
                                          <p:attrName>style.visibility</p:attrName>
                                        </p:attrNameLst>
                                      </p:cBhvr>
                                      <p:to>
                                        <p:strVal val="visible"/>
                                      </p:to>
                                    </p:set>
                                    <p:animEffect transition="in" filter="wipe(right)">
                                      <p:cBhvr>
                                        <p:cTn id="37" dur="2000"/>
                                        <p:tgtEl>
                                          <p:spTgt spid="32"/>
                                        </p:tgtEl>
                                      </p:cBhvr>
                                    </p:animEffect>
                                  </p:childTnLst>
                                </p:cTn>
                              </p:par>
                            </p:childTnLst>
                          </p:cTn>
                        </p:par>
                        <p:par>
                          <p:cTn id="38" fill="hold">
                            <p:stCondLst>
                              <p:cond delay="4000"/>
                            </p:stCondLst>
                            <p:childTnLst>
                              <p:par>
                                <p:cTn id="39" presetID="22" presetClass="entr" presetSubtype="8" fill="hold" nodeType="afterEffect">
                                  <p:stCondLst>
                                    <p:cond delay="0"/>
                                  </p:stCondLst>
                                  <p:childTnLst>
                                    <p:set>
                                      <p:cBhvr>
                                        <p:cTn id="40" dur="1" fill="hold">
                                          <p:stCondLst>
                                            <p:cond delay="0"/>
                                          </p:stCondLst>
                                        </p:cTn>
                                        <p:tgtEl>
                                          <p:spTgt spid="37"/>
                                        </p:tgtEl>
                                        <p:attrNameLst>
                                          <p:attrName>style.visibility</p:attrName>
                                        </p:attrNameLst>
                                      </p:cBhvr>
                                      <p:to>
                                        <p:strVal val="visible"/>
                                      </p:to>
                                    </p:set>
                                    <p:animEffect transition="in" filter="wipe(left)">
                                      <p:cBhvr>
                                        <p:cTn id="41" dur="20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Rectangle 3"/>
          <p:cNvSpPr>
            <a:spLocks noChangeArrowheads="1"/>
          </p:cNvSpPr>
          <p:nvPr/>
        </p:nvSpPr>
        <p:spPr bwMode="auto">
          <a:xfrm>
            <a:off x="3091323" y="2548603"/>
            <a:ext cx="4169250" cy="880265"/>
          </a:xfrm>
          <a:prstGeom prst="rect">
            <a:avLst/>
          </a:prstGeom>
          <a:solidFill>
            <a:srgbClr val="99FFCC"/>
          </a:solidFill>
          <a:ln>
            <a:solidFill>
              <a:schemeClr val="tx1"/>
            </a:solidFill>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 name="Rectangle 4"/>
          <p:cNvSpPr>
            <a:spLocks noChangeArrowheads="1"/>
          </p:cNvSpPr>
          <p:nvPr/>
        </p:nvSpPr>
        <p:spPr bwMode="auto">
          <a:xfrm>
            <a:off x="3091323" y="800842"/>
            <a:ext cx="4169250" cy="880265"/>
          </a:xfrm>
          <a:prstGeom prst="rect">
            <a:avLst/>
          </a:prstGeom>
          <a:solidFill>
            <a:srgbClr val="99FFCC"/>
          </a:solidFill>
          <a:ln>
            <a:solidFill>
              <a:schemeClr val="tx1"/>
            </a:solidFill>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 name="Text Box 39"/>
          <p:cNvSpPr txBox="1">
            <a:spLocks noChangeArrowheads="1"/>
          </p:cNvSpPr>
          <p:nvPr/>
        </p:nvSpPr>
        <p:spPr bwMode="auto">
          <a:xfrm>
            <a:off x="4750525" y="113561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更新报文</a:t>
            </a:r>
          </a:p>
        </p:txBody>
      </p:sp>
      <p:sp>
        <p:nvSpPr>
          <p:cNvPr id="6" name="Line 5"/>
          <p:cNvSpPr>
            <a:spLocks noChangeShapeType="1"/>
          </p:cNvSpPr>
          <p:nvPr/>
        </p:nvSpPr>
        <p:spPr bwMode="auto">
          <a:xfrm>
            <a:off x="3627919" y="955002"/>
            <a:ext cx="3217606" cy="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 name="Freeform 6"/>
          <p:cNvSpPr>
            <a:spLocks/>
          </p:cNvSpPr>
          <p:nvPr/>
        </p:nvSpPr>
        <p:spPr bwMode="auto">
          <a:xfrm>
            <a:off x="3627919" y="955002"/>
            <a:ext cx="3217606" cy="567384"/>
          </a:xfrm>
          <a:custGeom>
            <a:avLst/>
            <a:gdLst>
              <a:gd name="T0" fmla="*/ 0 w 2550"/>
              <a:gd name="T1" fmla="*/ 6 h 528"/>
              <a:gd name="T2" fmla="*/ 829 w 2550"/>
              <a:gd name="T3" fmla="*/ 528 h 528"/>
              <a:gd name="T4" fmla="*/ 1764 w 2550"/>
              <a:gd name="T5" fmla="*/ 528 h 528"/>
              <a:gd name="T6" fmla="*/ 2550 w 2550"/>
              <a:gd name="T7" fmla="*/ 0 h 528"/>
            </a:gdLst>
            <a:ahLst/>
            <a:cxnLst>
              <a:cxn ang="0">
                <a:pos x="T0" y="T1"/>
              </a:cxn>
              <a:cxn ang="0">
                <a:pos x="T2" y="T3"/>
              </a:cxn>
              <a:cxn ang="0">
                <a:pos x="T4" y="T5"/>
              </a:cxn>
              <a:cxn ang="0">
                <a:pos x="T6" y="T7"/>
              </a:cxn>
            </a:cxnLst>
            <a:rect l="0" t="0" r="r" b="b"/>
            <a:pathLst>
              <a:path w="2550" h="528">
                <a:moveTo>
                  <a:pt x="0" y="6"/>
                </a:moveTo>
                <a:lnTo>
                  <a:pt x="829" y="528"/>
                </a:lnTo>
                <a:lnTo>
                  <a:pt x="1764" y="528"/>
                </a:lnTo>
                <a:lnTo>
                  <a:pt x="2550" y="0"/>
                </a:lnTo>
              </a:path>
            </a:pathLst>
          </a:custGeom>
          <a:noFill/>
          <a:ln w="28575" cmpd="sng">
            <a:solidFill>
              <a:srgbClr val="0000FF"/>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 name="Line 7"/>
          <p:cNvSpPr>
            <a:spLocks noChangeShapeType="1"/>
          </p:cNvSpPr>
          <p:nvPr/>
        </p:nvSpPr>
        <p:spPr bwMode="auto">
          <a:xfrm>
            <a:off x="4640833" y="955002"/>
            <a:ext cx="0" cy="567384"/>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9" name="Line 8"/>
          <p:cNvSpPr>
            <a:spLocks noChangeShapeType="1"/>
          </p:cNvSpPr>
          <p:nvPr/>
        </p:nvSpPr>
        <p:spPr bwMode="auto">
          <a:xfrm>
            <a:off x="5832612" y="955002"/>
            <a:ext cx="0" cy="567384"/>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0" name="Line 9"/>
          <p:cNvSpPr>
            <a:spLocks noChangeShapeType="1"/>
          </p:cNvSpPr>
          <p:nvPr/>
        </p:nvSpPr>
        <p:spPr bwMode="auto">
          <a:xfrm>
            <a:off x="4839463" y="1462181"/>
            <a:ext cx="298439" cy="0"/>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1" name="Line 10"/>
          <p:cNvSpPr>
            <a:spLocks noChangeShapeType="1"/>
          </p:cNvSpPr>
          <p:nvPr/>
        </p:nvSpPr>
        <p:spPr bwMode="auto">
          <a:xfrm rot="12726376">
            <a:off x="4187246" y="1256938"/>
            <a:ext cx="298439" cy="912"/>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2" name="Line 11"/>
          <p:cNvSpPr>
            <a:spLocks noChangeShapeType="1"/>
          </p:cNvSpPr>
          <p:nvPr/>
        </p:nvSpPr>
        <p:spPr bwMode="auto">
          <a:xfrm rot="16200000">
            <a:off x="4594235" y="1219538"/>
            <a:ext cx="257238" cy="0"/>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3" name="Line 12"/>
          <p:cNvSpPr>
            <a:spLocks noChangeShapeType="1"/>
          </p:cNvSpPr>
          <p:nvPr/>
        </p:nvSpPr>
        <p:spPr bwMode="auto">
          <a:xfrm>
            <a:off x="3627919" y="1838004"/>
            <a:ext cx="3217606" cy="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4" name="Freeform 13"/>
          <p:cNvSpPr>
            <a:spLocks/>
          </p:cNvSpPr>
          <p:nvPr/>
        </p:nvSpPr>
        <p:spPr bwMode="auto">
          <a:xfrm>
            <a:off x="3627919" y="1838004"/>
            <a:ext cx="3217606" cy="566472"/>
          </a:xfrm>
          <a:custGeom>
            <a:avLst/>
            <a:gdLst>
              <a:gd name="T0" fmla="*/ 0 w 2550"/>
              <a:gd name="T1" fmla="*/ 6 h 528"/>
              <a:gd name="T2" fmla="*/ 829 w 2550"/>
              <a:gd name="T3" fmla="*/ 528 h 528"/>
              <a:gd name="T4" fmla="*/ 1764 w 2550"/>
              <a:gd name="T5" fmla="*/ 528 h 528"/>
              <a:gd name="T6" fmla="*/ 2550 w 2550"/>
              <a:gd name="T7" fmla="*/ 0 h 528"/>
            </a:gdLst>
            <a:ahLst/>
            <a:cxnLst>
              <a:cxn ang="0">
                <a:pos x="T0" y="T1"/>
              </a:cxn>
              <a:cxn ang="0">
                <a:pos x="T2" y="T3"/>
              </a:cxn>
              <a:cxn ang="0">
                <a:pos x="T4" y="T5"/>
              </a:cxn>
              <a:cxn ang="0">
                <a:pos x="T6" y="T7"/>
              </a:cxn>
            </a:cxnLst>
            <a:rect l="0" t="0" r="r" b="b"/>
            <a:pathLst>
              <a:path w="2550" h="528">
                <a:moveTo>
                  <a:pt x="0" y="6"/>
                </a:moveTo>
                <a:lnTo>
                  <a:pt x="829" y="528"/>
                </a:lnTo>
                <a:lnTo>
                  <a:pt x="1764" y="528"/>
                </a:lnTo>
                <a:lnTo>
                  <a:pt x="2550" y="0"/>
                </a:lnTo>
              </a:path>
            </a:pathLst>
          </a:custGeom>
          <a:noFill/>
          <a:ln w="28575" cmpd="sng">
            <a:solidFill>
              <a:srgbClr val="0000FF"/>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5" name="Line 14"/>
          <p:cNvSpPr>
            <a:spLocks noChangeShapeType="1"/>
          </p:cNvSpPr>
          <p:nvPr/>
        </p:nvSpPr>
        <p:spPr bwMode="auto">
          <a:xfrm>
            <a:off x="4640833" y="1838004"/>
            <a:ext cx="0" cy="566472"/>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 name="Line 15"/>
          <p:cNvSpPr>
            <a:spLocks noChangeShapeType="1"/>
          </p:cNvSpPr>
          <p:nvPr/>
        </p:nvSpPr>
        <p:spPr bwMode="auto">
          <a:xfrm>
            <a:off x="5832612" y="1838004"/>
            <a:ext cx="0" cy="566472"/>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grpSp>
        <p:nvGrpSpPr>
          <p:cNvPr id="17" name="Group 71"/>
          <p:cNvGrpSpPr>
            <a:grpSpLocks/>
          </p:cNvGrpSpPr>
          <p:nvPr/>
        </p:nvGrpSpPr>
        <p:grpSpPr bwMode="auto">
          <a:xfrm>
            <a:off x="5912657" y="1960238"/>
            <a:ext cx="666053" cy="258151"/>
            <a:chOff x="3648" y="1798"/>
            <a:chExt cx="674" cy="283"/>
          </a:xfrm>
        </p:grpSpPr>
        <p:sp>
          <p:nvSpPr>
            <p:cNvPr id="18" name="Line 17"/>
            <p:cNvSpPr>
              <a:spLocks noChangeShapeType="1"/>
            </p:cNvSpPr>
            <p:nvPr/>
          </p:nvSpPr>
          <p:spPr bwMode="auto">
            <a:xfrm rot="-2260875">
              <a:off x="4021" y="2023"/>
              <a:ext cx="301" cy="1"/>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9" name="Line 18"/>
            <p:cNvSpPr>
              <a:spLocks noChangeShapeType="1"/>
            </p:cNvSpPr>
            <p:nvPr/>
          </p:nvSpPr>
          <p:spPr bwMode="auto">
            <a:xfrm rot="-5400000">
              <a:off x="3506" y="1940"/>
              <a:ext cx="283" cy="0"/>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grpSp>
      <p:sp>
        <p:nvSpPr>
          <p:cNvPr id="20" name="Line 19"/>
          <p:cNvSpPr>
            <a:spLocks noChangeShapeType="1"/>
          </p:cNvSpPr>
          <p:nvPr/>
        </p:nvSpPr>
        <p:spPr bwMode="auto">
          <a:xfrm>
            <a:off x="3627920" y="2720095"/>
            <a:ext cx="3207724" cy="9122"/>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1" name="Freeform 20"/>
          <p:cNvSpPr>
            <a:spLocks/>
          </p:cNvSpPr>
          <p:nvPr/>
        </p:nvSpPr>
        <p:spPr bwMode="auto">
          <a:xfrm>
            <a:off x="3627919" y="2720095"/>
            <a:ext cx="3217606" cy="567384"/>
          </a:xfrm>
          <a:custGeom>
            <a:avLst/>
            <a:gdLst>
              <a:gd name="T0" fmla="*/ 0 w 2550"/>
              <a:gd name="T1" fmla="*/ 6 h 528"/>
              <a:gd name="T2" fmla="*/ 829 w 2550"/>
              <a:gd name="T3" fmla="*/ 528 h 528"/>
              <a:gd name="T4" fmla="*/ 1764 w 2550"/>
              <a:gd name="T5" fmla="*/ 528 h 528"/>
              <a:gd name="T6" fmla="*/ 2550 w 2550"/>
              <a:gd name="T7" fmla="*/ 0 h 528"/>
            </a:gdLst>
            <a:ahLst/>
            <a:cxnLst>
              <a:cxn ang="0">
                <a:pos x="T0" y="T1"/>
              </a:cxn>
              <a:cxn ang="0">
                <a:pos x="T2" y="T3"/>
              </a:cxn>
              <a:cxn ang="0">
                <a:pos x="T4" y="T5"/>
              </a:cxn>
              <a:cxn ang="0">
                <a:pos x="T6" y="T7"/>
              </a:cxn>
            </a:cxnLst>
            <a:rect l="0" t="0" r="r" b="b"/>
            <a:pathLst>
              <a:path w="2550" h="528">
                <a:moveTo>
                  <a:pt x="0" y="6"/>
                </a:moveTo>
                <a:lnTo>
                  <a:pt x="829" y="528"/>
                </a:lnTo>
                <a:lnTo>
                  <a:pt x="1764" y="528"/>
                </a:lnTo>
                <a:lnTo>
                  <a:pt x="2550" y="0"/>
                </a:lnTo>
              </a:path>
            </a:pathLst>
          </a:custGeom>
          <a:noFill/>
          <a:ln w="28575" cmpd="sng">
            <a:solidFill>
              <a:srgbClr val="0000FF"/>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2" name="Line 21"/>
          <p:cNvSpPr>
            <a:spLocks noChangeShapeType="1"/>
          </p:cNvSpPr>
          <p:nvPr/>
        </p:nvSpPr>
        <p:spPr bwMode="auto">
          <a:xfrm>
            <a:off x="4640833" y="2720095"/>
            <a:ext cx="0" cy="567384"/>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3" name="Line 22"/>
          <p:cNvSpPr>
            <a:spLocks noChangeShapeType="1"/>
          </p:cNvSpPr>
          <p:nvPr/>
        </p:nvSpPr>
        <p:spPr bwMode="auto">
          <a:xfrm>
            <a:off x="5832612" y="2720095"/>
            <a:ext cx="0" cy="567384"/>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4" name="Line 24"/>
          <p:cNvSpPr>
            <a:spLocks noChangeShapeType="1"/>
          </p:cNvSpPr>
          <p:nvPr/>
        </p:nvSpPr>
        <p:spPr bwMode="auto">
          <a:xfrm>
            <a:off x="3627919" y="3603096"/>
            <a:ext cx="3217606" cy="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5" name="Freeform 25"/>
          <p:cNvSpPr>
            <a:spLocks/>
          </p:cNvSpPr>
          <p:nvPr/>
        </p:nvSpPr>
        <p:spPr bwMode="auto">
          <a:xfrm>
            <a:off x="3620014" y="3603097"/>
            <a:ext cx="3218594" cy="566471"/>
          </a:xfrm>
          <a:custGeom>
            <a:avLst/>
            <a:gdLst>
              <a:gd name="T0" fmla="*/ 0 w 2550"/>
              <a:gd name="T1" fmla="*/ 6 h 528"/>
              <a:gd name="T2" fmla="*/ 829 w 2550"/>
              <a:gd name="T3" fmla="*/ 528 h 528"/>
              <a:gd name="T4" fmla="*/ 1764 w 2550"/>
              <a:gd name="T5" fmla="*/ 528 h 528"/>
              <a:gd name="T6" fmla="*/ 2550 w 2550"/>
              <a:gd name="T7" fmla="*/ 0 h 528"/>
            </a:gdLst>
            <a:ahLst/>
            <a:cxnLst>
              <a:cxn ang="0">
                <a:pos x="T0" y="T1"/>
              </a:cxn>
              <a:cxn ang="0">
                <a:pos x="T2" y="T3"/>
              </a:cxn>
              <a:cxn ang="0">
                <a:pos x="T4" y="T5"/>
              </a:cxn>
              <a:cxn ang="0">
                <a:pos x="T6" y="T7"/>
              </a:cxn>
            </a:cxnLst>
            <a:rect l="0" t="0" r="r" b="b"/>
            <a:pathLst>
              <a:path w="2550" h="528">
                <a:moveTo>
                  <a:pt x="0" y="6"/>
                </a:moveTo>
                <a:lnTo>
                  <a:pt x="829" y="528"/>
                </a:lnTo>
                <a:lnTo>
                  <a:pt x="1764" y="528"/>
                </a:lnTo>
                <a:lnTo>
                  <a:pt x="2550" y="0"/>
                </a:lnTo>
              </a:path>
            </a:pathLst>
          </a:custGeom>
          <a:noFill/>
          <a:ln w="28575" cmpd="sng">
            <a:solidFill>
              <a:srgbClr val="0000FF"/>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6" name="Line 26"/>
          <p:cNvSpPr>
            <a:spLocks noChangeShapeType="1"/>
          </p:cNvSpPr>
          <p:nvPr/>
        </p:nvSpPr>
        <p:spPr bwMode="auto">
          <a:xfrm>
            <a:off x="4640833" y="3603097"/>
            <a:ext cx="0" cy="566471"/>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7" name="Line 27"/>
          <p:cNvSpPr>
            <a:spLocks noChangeShapeType="1"/>
          </p:cNvSpPr>
          <p:nvPr/>
        </p:nvSpPr>
        <p:spPr bwMode="auto">
          <a:xfrm>
            <a:off x="5832612" y="3603097"/>
            <a:ext cx="0" cy="566471"/>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grpSp>
        <p:nvGrpSpPr>
          <p:cNvPr id="28" name="Group 70"/>
          <p:cNvGrpSpPr>
            <a:grpSpLocks/>
          </p:cNvGrpSpPr>
          <p:nvPr/>
        </p:nvGrpSpPr>
        <p:grpSpPr bwMode="auto">
          <a:xfrm>
            <a:off x="3974781" y="1771414"/>
            <a:ext cx="1361751" cy="137741"/>
            <a:chOff x="1687" y="1591"/>
            <a:chExt cx="1378" cy="151"/>
          </a:xfrm>
        </p:grpSpPr>
        <p:sp>
          <p:nvSpPr>
            <p:cNvPr id="29" name="Line 16"/>
            <p:cNvSpPr>
              <a:spLocks noChangeShapeType="1"/>
            </p:cNvSpPr>
            <p:nvPr/>
          </p:nvSpPr>
          <p:spPr bwMode="auto">
            <a:xfrm flipH="1">
              <a:off x="1687" y="1591"/>
              <a:ext cx="302" cy="0"/>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0" name="Line 28"/>
            <p:cNvSpPr>
              <a:spLocks noChangeShapeType="1"/>
            </p:cNvSpPr>
            <p:nvPr/>
          </p:nvSpPr>
          <p:spPr bwMode="auto">
            <a:xfrm>
              <a:off x="2763" y="1742"/>
              <a:ext cx="302" cy="0"/>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grpSp>
      <p:sp>
        <p:nvSpPr>
          <p:cNvPr id="31" name="Line 29"/>
          <p:cNvSpPr>
            <a:spLocks noChangeShapeType="1"/>
          </p:cNvSpPr>
          <p:nvPr/>
        </p:nvSpPr>
        <p:spPr bwMode="auto">
          <a:xfrm>
            <a:off x="4005415" y="1909155"/>
            <a:ext cx="297451" cy="0"/>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grpSp>
        <p:nvGrpSpPr>
          <p:cNvPr id="32" name="Group 72"/>
          <p:cNvGrpSpPr>
            <a:grpSpLocks/>
          </p:cNvGrpSpPr>
          <p:nvPr/>
        </p:nvGrpSpPr>
        <p:grpSpPr bwMode="auto">
          <a:xfrm>
            <a:off x="5057857" y="2656241"/>
            <a:ext cx="1340998" cy="0"/>
            <a:chOff x="2783" y="2561"/>
            <a:chExt cx="1357" cy="0"/>
          </a:xfrm>
        </p:grpSpPr>
        <p:sp>
          <p:nvSpPr>
            <p:cNvPr id="33" name="Line 23"/>
            <p:cNvSpPr>
              <a:spLocks noChangeShapeType="1"/>
            </p:cNvSpPr>
            <p:nvPr/>
          </p:nvSpPr>
          <p:spPr bwMode="auto">
            <a:xfrm flipH="1">
              <a:off x="2783" y="2561"/>
              <a:ext cx="302" cy="0"/>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4" name="Line 30"/>
            <p:cNvSpPr>
              <a:spLocks noChangeShapeType="1"/>
            </p:cNvSpPr>
            <p:nvPr/>
          </p:nvSpPr>
          <p:spPr bwMode="auto">
            <a:xfrm>
              <a:off x="3838" y="2561"/>
              <a:ext cx="302" cy="0"/>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grpSp>
      <p:sp>
        <p:nvSpPr>
          <p:cNvPr id="35" name="Line 31"/>
          <p:cNvSpPr>
            <a:spLocks noChangeShapeType="1"/>
          </p:cNvSpPr>
          <p:nvPr/>
        </p:nvSpPr>
        <p:spPr bwMode="auto">
          <a:xfrm flipH="1">
            <a:off x="6131052" y="2793070"/>
            <a:ext cx="297451" cy="0"/>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grpSp>
        <p:nvGrpSpPr>
          <p:cNvPr id="36" name="Group 73"/>
          <p:cNvGrpSpPr>
            <a:grpSpLocks/>
          </p:cNvGrpSpPr>
          <p:nvPr/>
        </p:nvGrpSpPr>
        <p:grpSpPr bwMode="auto">
          <a:xfrm>
            <a:off x="4089413" y="3712560"/>
            <a:ext cx="2344030" cy="410487"/>
            <a:chOff x="1803" y="3719"/>
            <a:chExt cx="2372" cy="450"/>
          </a:xfrm>
        </p:grpSpPr>
        <p:sp>
          <p:nvSpPr>
            <p:cNvPr id="37" name="AutoShape 32"/>
            <p:cNvSpPr>
              <a:spLocks noChangeArrowheads="1"/>
            </p:cNvSpPr>
            <p:nvPr/>
          </p:nvSpPr>
          <p:spPr bwMode="auto">
            <a:xfrm>
              <a:off x="2399" y="3726"/>
              <a:ext cx="120" cy="292"/>
            </a:xfrm>
            <a:prstGeom prst="downArrow">
              <a:avLst>
                <a:gd name="adj1" fmla="val 50000"/>
                <a:gd name="adj2" fmla="val 80458"/>
              </a:avLst>
            </a:prstGeom>
            <a:solidFill>
              <a:srgbClr val="00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sp>
          <p:nvSpPr>
            <p:cNvPr id="38" name="AutoShape 33"/>
            <p:cNvSpPr>
              <a:spLocks noChangeArrowheads="1"/>
            </p:cNvSpPr>
            <p:nvPr/>
          </p:nvSpPr>
          <p:spPr bwMode="auto">
            <a:xfrm>
              <a:off x="3627" y="3719"/>
              <a:ext cx="121" cy="292"/>
            </a:xfrm>
            <a:prstGeom prst="downArrow">
              <a:avLst>
                <a:gd name="adj1" fmla="val 50000"/>
                <a:gd name="adj2" fmla="val 79793"/>
              </a:avLst>
            </a:prstGeom>
            <a:solidFill>
              <a:srgbClr val="00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sp>
          <p:nvSpPr>
            <p:cNvPr id="39" name="AutoShape 34"/>
            <p:cNvSpPr>
              <a:spLocks noChangeArrowheads="1"/>
            </p:cNvSpPr>
            <p:nvPr/>
          </p:nvSpPr>
          <p:spPr bwMode="auto">
            <a:xfrm rot="5400000">
              <a:off x="2862" y="3957"/>
              <a:ext cx="113" cy="312"/>
            </a:xfrm>
            <a:prstGeom prst="downArrow">
              <a:avLst>
                <a:gd name="adj1" fmla="val 50000"/>
                <a:gd name="adj2" fmla="val 91294"/>
              </a:avLst>
            </a:prstGeom>
            <a:solidFill>
              <a:srgbClr val="00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sp>
          <p:nvSpPr>
            <p:cNvPr id="40" name="AutoShape 35"/>
            <p:cNvSpPr>
              <a:spLocks noChangeArrowheads="1"/>
            </p:cNvSpPr>
            <p:nvPr/>
          </p:nvSpPr>
          <p:spPr bwMode="auto">
            <a:xfrm rot="3308442">
              <a:off x="3963" y="3674"/>
              <a:ext cx="113" cy="311"/>
            </a:xfrm>
            <a:prstGeom prst="downArrow">
              <a:avLst>
                <a:gd name="adj1" fmla="val 50000"/>
                <a:gd name="adj2" fmla="val 91001"/>
              </a:avLst>
            </a:prstGeom>
            <a:solidFill>
              <a:srgbClr val="00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sp>
          <p:nvSpPr>
            <p:cNvPr id="41" name="AutoShape 36"/>
            <p:cNvSpPr>
              <a:spLocks noChangeArrowheads="1"/>
            </p:cNvSpPr>
            <p:nvPr/>
          </p:nvSpPr>
          <p:spPr bwMode="auto">
            <a:xfrm rot="-3458995">
              <a:off x="1902" y="3702"/>
              <a:ext cx="113" cy="312"/>
            </a:xfrm>
            <a:prstGeom prst="downArrow">
              <a:avLst>
                <a:gd name="adj1" fmla="val 50000"/>
                <a:gd name="adj2" fmla="val 91294"/>
              </a:avLst>
            </a:prstGeom>
            <a:solidFill>
              <a:srgbClr val="00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grpSp>
      <p:sp>
        <p:nvSpPr>
          <p:cNvPr id="42" name="Line 37"/>
          <p:cNvSpPr>
            <a:spLocks noChangeShapeType="1"/>
          </p:cNvSpPr>
          <p:nvPr/>
        </p:nvSpPr>
        <p:spPr bwMode="auto">
          <a:xfrm>
            <a:off x="2907851" y="903919"/>
            <a:ext cx="0" cy="3149801"/>
          </a:xfrm>
          <a:prstGeom prst="line">
            <a:avLst/>
          </a:prstGeom>
          <a:noFill/>
          <a:ln w="12700">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3" name="Text Box 38"/>
          <p:cNvSpPr txBox="1">
            <a:spLocks noChangeArrowheads="1"/>
          </p:cNvSpPr>
          <p:nvPr/>
        </p:nvSpPr>
        <p:spPr bwMode="auto">
          <a:xfrm>
            <a:off x="2815663" y="4005239"/>
            <a:ext cx="25840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t</a:t>
            </a:r>
          </a:p>
        </p:txBody>
      </p:sp>
      <p:sp>
        <p:nvSpPr>
          <p:cNvPr id="44" name="Text Box 40"/>
          <p:cNvSpPr txBox="1">
            <a:spLocks noChangeArrowheads="1"/>
          </p:cNvSpPr>
          <p:nvPr/>
        </p:nvSpPr>
        <p:spPr bwMode="auto">
          <a:xfrm>
            <a:off x="4811793" y="3733539"/>
            <a:ext cx="92076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ACK</a:t>
            </a:r>
            <a:r>
              <a:rPr kumimoji="1" lang="zh-CN" altLang="en-US" sz="1400" b="1">
                <a:latin typeface="微软雅黑" pitchFamily="34" charset="-122"/>
                <a:ea typeface="微软雅黑" pitchFamily="34" charset="-122"/>
              </a:rPr>
              <a:t>报文</a:t>
            </a:r>
          </a:p>
        </p:txBody>
      </p:sp>
      <p:pic>
        <p:nvPicPr>
          <p:cNvPr id="45" name="Picture 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53747" y="4047334"/>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6" name="Picture 4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461967" y="2604245"/>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7" name="Picture 4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508346" y="2604245"/>
            <a:ext cx="335002"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8" name="Picture 4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53747" y="2295013"/>
            <a:ext cx="335003" cy="20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9" name="Picture 4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461967" y="2295013"/>
            <a:ext cx="335003" cy="20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0" name="Picture 4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630096" y="1728541"/>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1" name="Picture 4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53747" y="1728541"/>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2" name="Picture 4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461967" y="1728541"/>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3" name="Picture 4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531076" y="1728541"/>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4" name="Picture 5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461967" y="1419308"/>
            <a:ext cx="335003" cy="20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5" name="Picture 5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53747" y="1419308"/>
            <a:ext cx="335003" cy="20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6" name="Picture 5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666660" y="851924"/>
            <a:ext cx="335991" cy="207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7" name="Picture 5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53747" y="851924"/>
            <a:ext cx="335003" cy="207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 name="Picture 5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461967" y="851924"/>
            <a:ext cx="335003" cy="207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 name="Picture 5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531076" y="851924"/>
            <a:ext cx="335003" cy="207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0" name="Picture 5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666660" y="3480863"/>
            <a:ext cx="335991" cy="20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1" name="Picture 5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53747" y="3480863"/>
            <a:ext cx="335003" cy="20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2"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461967" y="3480863"/>
            <a:ext cx="335003" cy="20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3" name="Picture 5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470795" y="3480863"/>
            <a:ext cx="335991" cy="20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4" name="Picture 6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461967" y="3171630"/>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5" name="Picture 6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53747" y="3171630"/>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6" name="Picture 6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666660" y="2604245"/>
            <a:ext cx="335991"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7" name="Picture 6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53747" y="2604245"/>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8" name="Picture 6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461967" y="4047334"/>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9" name="Text Box 65"/>
          <p:cNvSpPr txBox="1">
            <a:spLocks noChangeArrowheads="1"/>
          </p:cNvSpPr>
          <p:nvPr/>
        </p:nvSpPr>
        <p:spPr bwMode="auto">
          <a:xfrm>
            <a:off x="4199512" y="1365488"/>
            <a:ext cx="30970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p>
        </p:txBody>
      </p:sp>
      <p:sp>
        <p:nvSpPr>
          <p:cNvPr id="70" name="Text Box 66"/>
          <p:cNvSpPr txBox="1">
            <a:spLocks noChangeArrowheads="1"/>
          </p:cNvSpPr>
          <p:nvPr/>
        </p:nvSpPr>
        <p:spPr bwMode="auto">
          <a:xfrm>
            <a:off x="4199512" y="4001725"/>
            <a:ext cx="30970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p>
        </p:txBody>
      </p:sp>
      <p:sp>
        <p:nvSpPr>
          <p:cNvPr id="71" name="Text Box 67"/>
          <p:cNvSpPr txBox="1">
            <a:spLocks noChangeArrowheads="1"/>
          </p:cNvSpPr>
          <p:nvPr/>
        </p:nvSpPr>
        <p:spPr bwMode="auto">
          <a:xfrm>
            <a:off x="4188641" y="3105951"/>
            <a:ext cx="30970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p>
        </p:txBody>
      </p:sp>
      <p:sp>
        <p:nvSpPr>
          <p:cNvPr id="72" name="Text Box 68"/>
          <p:cNvSpPr txBox="1">
            <a:spLocks noChangeArrowheads="1"/>
          </p:cNvSpPr>
          <p:nvPr/>
        </p:nvSpPr>
        <p:spPr bwMode="auto">
          <a:xfrm>
            <a:off x="4199512" y="2239369"/>
            <a:ext cx="30970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p>
        </p:txBody>
      </p:sp>
      <p:sp>
        <p:nvSpPr>
          <p:cNvPr id="73" name="Text Box 69"/>
          <p:cNvSpPr txBox="1">
            <a:spLocks noChangeArrowheads="1"/>
          </p:cNvSpPr>
          <p:nvPr/>
        </p:nvSpPr>
        <p:spPr bwMode="auto">
          <a:xfrm>
            <a:off x="3210896" y="1051695"/>
            <a:ext cx="332142" cy="3033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105000"/>
              </a:lnSpc>
            </a:pPr>
            <a:r>
              <a:rPr kumimoji="1" lang="en-US" altLang="zh-CN" sz="1400" b="1" dirty="0">
                <a:latin typeface="微软雅黑" pitchFamily="34" charset="-122"/>
                <a:ea typeface="微软雅黑" pitchFamily="34" charset="-122"/>
              </a:rPr>
              <a:t>t</a:t>
            </a:r>
            <a:r>
              <a:rPr kumimoji="1" lang="en-US" altLang="zh-CN" sz="1400" b="1" baseline="-25000" dirty="0">
                <a:latin typeface="微软雅黑" pitchFamily="34" charset="-122"/>
                <a:ea typeface="微软雅黑" pitchFamily="34" charset="-122"/>
              </a:rPr>
              <a:t>1</a:t>
            </a:r>
            <a:endParaRPr kumimoji="1" lang="en-US" altLang="zh-CN" sz="1400" b="1" dirty="0">
              <a:latin typeface="微软雅黑" pitchFamily="34" charset="-122"/>
              <a:ea typeface="微软雅黑" pitchFamily="34" charset="-122"/>
            </a:endParaRPr>
          </a:p>
          <a:p>
            <a:pPr>
              <a:lnSpc>
                <a:spcPct val="105000"/>
              </a:lnSpc>
            </a:pPr>
            <a:endParaRPr kumimoji="1" lang="en-US" altLang="zh-CN" sz="1400" b="1" dirty="0">
              <a:latin typeface="微软雅黑" pitchFamily="34" charset="-122"/>
              <a:ea typeface="微软雅黑" pitchFamily="34" charset="-122"/>
            </a:endParaRPr>
          </a:p>
          <a:p>
            <a:pPr>
              <a:lnSpc>
                <a:spcPct val="105000"/>
              </a:lnSpc>
            </a:pPr>
            <a:endParaRPr kumimoji="1" lang="en-US" altLang="zh-CN" sz="1400" b="1" dirty="0">
              <a:latin typeface="微软雅黑" pitchFamily="34" charset="-122"/>
              <a:ea typeface="微软雅黑" pitchFamily="34" charset="-122"/>
            </a:endParaRPr>
          </a:p>
          <a:p>
            <a:pPr>
              <a:lnSpc>
                <a:spcPct val="105000"/>
              </a:lnSpc>
            </a:pPr>
            <a:endParaRPr kumimoji="1" lang="en-US" altLang="zh-CN" sz="1400" b="1" dirty="0">
              <a:latin typeface="微软雅黑" pitchFamily="34" charset="-122"/>
              <a:ea typeface="微软雅黑" pitchFamily="34" charset="-122"/>
            </a:endParaRPr>
          </a:p>
          <a:p>
            <a:pPr>
              <a:lnSpc>
                <a:spcPct val="105000"/>
              </a:lnSpc>
            </a:pPr>
            <a:r>
              <a:rPr kumimoji="1" lang="en-US" altLang="zh-CN" sz="1400" b="1" dirty="0">
                <a:latin typeface="微软雅黑" pitchFamily="34" charset="-122"/>
                <a:ea typeface="微软雅黑" pitchFamily="34" charset="-122"/>
              </a:rPr>
              <a:t>t</a:t>
            </a:r>
            <a:r>
              <a:rPr kumimoji="1" lang="en-US" altLang="zh-CN" sz="1400" b="1" baseline="-25000" dirty="0">
                <a:latin typeface="微软雅黑" pitchFamily="34" charset="-122"/>
                <a:ea typeface="微软雅黑" pitchFamily="34" charset="-122"/>
              </a:rPr>
              <a:t>2</a:t>
            </a:r>
            <a:endParaRPr kumimoji="1" lang="en-US" altLang="zh-CN" sz="1400" b="1" dirty="0">
              <a:latin typeface="微软雅黑" pitchFamily="34" charset="-122"/>
              <a:ea typeface="微软雅黑" pitchFamily="34" charset="-122"/>
            </a:endParaRPr>
          </a:p>
          <a:p>
            <a:pPr>
              <a:lnSpc>
                <a:spcPct val="105000"/>
              </a:lnSpc>
            </a:pPr>
            <a:endParaRPr kumimoji="1" lang="en-US" altLang="zh-CN" sz="1400" b="1" dirty="0">
              <a:latin typeface="微软雅黑" pitchFamily="34" charset="-122"/>
              <a:ea typeface="微软雅黑" pitchFamily="34" charset="-122"/>
            </a:endParaRPr>
          </a:p>
          <a:p>
            <a:pPr>
              <a:lnSpc>
                <a:spcPct val="105000"/>
              </a:lnSpc>
            </a:pPr>
            <a:endParaRPr kumimoji="1" lang="en-US" altLang="zh-CN" sz="1400" b="1" dirty="0">
              <a:latin typeface="微软雅黑" pitchFamily="34" charset="-122"/>
              <a:ea typeface="微软雅黑" pitchFamily="34" charset="-122"/>
            </a:endParaRPr>
          </a:p>
          <a:p>
            <a:pPr>
              <a:lnSpc>
                <a:spcPct val="105000"/>
              </a:lnSpc>
            </a:pPr>
            <a:endParaRPr kumimoji="1" lang="en-US" altLang="zh-CN" sz="1400" b="1" dirty="0">
              <a:latin typeface="微软雅黑" pitchFamily="34" charset="-122"/>
              <a:ea typeface="微软雅黑" pitchFamily="34" charset="-122"/>
            </a:endParaRPr>
          </a:p>
          <a:p>
            <a:pPr>
              <a:lnSpc>
                <a:spcPct val="105000"/>
              </a:lnSpc>
            </a:pPr>
            <a:r>
              <a:rPr kumimoji="1" lang="en-US" altLang="zh-CN" sz="1400" b="1" dirty="0">
                <a:latin typeface="微软雅黑" pitchFamily="34" charset="-122"/>
                <a:ea typeface="微软雅黑" pitchFamily="34" charset="-122"/>
              </a:rPr>
              <a:t>t</a:t>
            </a:r>
            <a:r>
              <a:rPr kumimoji="1" lang="en-US" altLang="zh-CN" sz="1400" b="1" baseline="-25000" dirty="0">
                <a:latin typeface="微软雅黑" pitchFamily="34" charset="-122"/>
                <a:ea typeface="微软雅黑" pitchFamily="34" charset="-122"/>
              </a:rPr>
              <a:t>3</a:t>
            </a:r>
            <a:endParaRPr kumimoji="1" lang="en-US" altLang="zh-CN" sz="1400" b="1" dirty="0">
              <a:latin typeface="微软雅黑" pitchFamily="34" charset="-122"/>
              <a:ea typeface="微软雅黑" pitchFamily="34" charset="-122"/>
            </a:endParaRPr>
          </a:p>
          <a:p>
            <a:pPr>
              <a:lnSpc>
                <a:spcPct val="105000"/>
              </a:lnSpc>
            </a:pPr>
            <a:endParaRPr kumimoji="1" lang="en-US" altLang="zh-CN" sz="1400" b="1" dirty="0">
              <a:latin typeface="微软雅黑" pitchFamily="34" charset="-122"/>
              <a:ea typeface="微软雅黑" pitchFamily="34" charset="-122"/>
            </a:endParaRPr>
          </a:p>
          <a:p>
            <a:pPr>
              <a:lnSpc>
                <a:spcPct val="105000"/>
              </a:lnSpc>
            </a:pPr>
            <a:endParaRPr kumimoji="1" lang="en-US" altLang="zh-CN" sz="1400" b="1" dirty="0">
              <a:latin typeface="微软雅黑" pitchFamily="34" charset="-122"/>
              <a:ea typeface="微软雅黑" pitchFamily="34" charset="-122"/>
            </a:endParaRPr>
          </a:p>
          <a:p>
            <a:pPr>
              <a:lnSpc>
                <a:spcPct val="105000"/>
              </a:lnSpc>
            </a:pPr>
            <a:endParaRPr kumimoji="1" lang="en-US" altLang="zh-CN" sz="1400" b="1" dirty="0">
              <a:latin typeface="微软雅黑" pitchFamily="34" charset="-122"/>
              <a:ea typeface="微软雅黑" pitchFamily="34" charset="-122"/>
            </a:endParaRPr>
          </a:p>
          <a:p>
            <a:pPr>
              <a:lnSpc>
                <a:spcPct val="105000"/>
              </a:lnSpc>
            </a:pPr>
            <a:r>
              <a:rPr kumimoji="1" lang="en-US" altLang="zh-CN" sz="1400" b="1" dirty="0">
                <a:latin typeface="微软雅黑" pitchFamily="34" charset="-122"/>
                <a:ea typeface="微软雅黑" pitchFamily="34" charset="-122"/>
              </a:rPr>
              <a:t>t</a:t>
            </a:r>
            <a:r>
              <a:rPr kumimoji="1" lang="en-US" altLang="zh-CN" sz="1400" b="1" baseline="-25000" dirty="0">
                <a:latin typeface="微软雅黑" pitchFamily="34" charset="-122"/>
                <a:ea typeface="微软雅黑" pitchFamily="34" charset="-122"/>
              </a:rPr>
              <a:t>4</a:t>
            </a:r>
            <a:endParaRPr kumimoji="1" lang="en-US" altLang="zh-CN" sz="1400" b="1" dirty="0">
              <a:latin typeface="微软雅黑" pitchFamily="34" charset="-122"/>
              <a:ea typeface="微软雅黑" pitchFamily="34" charset="-122"/>
            </a:endParaRPr>
          </a:p>
        </p:txBody>
      </p:sp>
      <p:sp>
        <p:nvSpPr>
          <p:cNvPr id="75" name="Text Box 155"/>
          <p:cNvSpPr txBox="1">
            <a:spLocks noChangeArrowheads="1"/>
          </p:cNvSpPr>
          <p:nvPr/>
        </p:nvSpPr>
        <p:spPr bwMode="auto">
          <a:xfrm>
            <a:off x="957355" y="1074860"/>
            <a:ext cx="1647451" cy="1006429"/>
          </a:xfrm>
          <a:prstGeom prst="rect">
            <a:avLst/>
          </a:prstGeom>
          <a:solidFill>
            <a:schemeClr val="bg1"/>
          </a:solidFill>
          <a:ln w="9525">
            <a:noFill/>
            <a:miter lim="800000"/>
            <a:headEnd/>
            <a:tailEnd/>
          </a:ln>
          <a:effectLst/>
        </p:spPr>
        <p:txBody>
          <a:bodyPr wrap="square">
            <a:spAutoFit/>
          </a:bodyPr>
          <a:lstStyle/>
          <a:p>
            <a:pPr>
              <a:lnSpc>
                <a:spcPct val="110000"/>
              </a:lnSpc>
            </a:pPr>
            <a:r>
              <a:rPr lang="en-US" altLang="zh-CN" b="1" dirty="0">
                <a:latin typeface="微软雅黑" pitchFamily="34" charset="-122"/>
                <a:ea typeface="微软雅黑" pitchFamily="34" charset="-122"/>
              </a:rPr>
              <a:t>OSPF </a:t>
            </a:r>
            <a:r>
              <a:rPr lang="zh-CN" altLang="en-US" b="1" dirty="0">
                <a:latin typeface="微软雅黑" pitchFamily="34" charset="-122"/>
                <a:ea typeface="微软雅黑" pitchFamily="34" charset="-122"/>
              </a:rPr>
              <a:t>使用</a:t>
            </a:r>
            <a:endParaRPr lang="en-US" altLang="zh-CN" b="1" dirty="0">
              <a:latin typeface="微软雅黑" pitchFamily="34" charset="-122"/>
              <a:ea typeface="微软雅黑" pitchFamily="34" charset="-122"/>
            </a:endParaRPr>
          </a:p>
          <a:p>
            <a:pPr>
              <a:lnSpc>
                <a:spcPct val="110000"/>
              </a:lnSpc>
            </a:pPr>
            <a:r>
              <a:rPr lang="zh-CN" altLang="en-US" b="1" dirty="0">
                <a:solidFill>
                  <a:srgbClr val="C00000"/>
                </a:solidFill>
                <a:latin typeface="微软雅黑" pitchFamily="34" charset="-122"/>
                <a:ea typeface="微软雅黑" pitchFamily="34" charset="-122"/>
              </a:rPr>
              <a:t>可靠的洪泛法</a:t>
            </a:r>
            <a:endParaRPr lang="en-US" altLang="zh-CN" b="1" dirty="0">
              <a:solidFill>
                <a:srgbClr val="C00000"/>
              </a:solidFill>
              <a:latin typeface="微软雅黑" pitchFamily="34" charset="-122"/>
              <a:ea typeface="微软雅黑" pitchFamily="34" charset="-122"/>
            </a:endParaRPr>
          </a:p>
          <a:p>
            <a:pPr>
              <a:lnSpc>
                <a:spcPct val="110000"/>
              </a:lnSpc>
            </a:pPr>
            <a:r>
              <a:rPr lang="zh-CN" altLang="en-US" b="1" dirty="0">
                <a:latin typeface="微软雅黑" pitchFamily="34" charset="-122"/>
                <a:ea typeface="微软雅黑" pitchFamily="34" charset="-122"/>
              </a:rPr>
              <a:t>发送更新分组 </a:t>
            </a:r>
          </a:p>
        </p:txBody>
      </p:sp>
    </p:spTree>
    <p:extLst>
      <p:ext uri="{BB962C8B-B14F-4D97-AF65-F5344CB8AC3E}">
        <p14:creationId xmlns:p14="http://schemas.microsoft.com/office/powerpoint/2010/main" val="422837217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1000"/>
                                  </p:stCondLst>
                                  <p:childTnLst>
                                    <p:set>
                                      <p:cBhvr>
                                        <p:cTn id="6" dur="1" fill="hold">
                                          <p:stCondLst>
                                            <p:cond delay="0"/>
                                          </p:stCondLst>
                                        </p:cTn>
                                        <p:tgtEl>
                                          <p:spTgt spid="11"/>
                                        </p:tgtEl>
                                        <p:attrNameLst>
                                          <p:attrName>style.visibility</p:attrName>
                                        </p:attrNameLst>
                                      </p:cBhvr>
                                      <p:to>
                                        <p:strVal val="visible"/>
                                      </p:to>
                                    </p:set>
                                  </p:childTnLst>
                                </p:cTn>
                              </p:par>
                            </p:childTnLst>
                          </p:cTn>
                        </p:par>
                        <p:par>
                          <p:cTn id="7" fill="hold">
                            <p:stCondLst>
                              <p:cond delay="1000"/>
                            </p:stCondLst>
                            <p:childTnLst>
                              <p:par>
                                <p:cTn id="8" presetID="1" presetClass="entr" presetSubtype="0" fill="hold" grpId="0" nodeType="afterEffect">
                                  <p:stCondLst>
                                    <p:cond delay="1000"/>
                                  </p:stCondLst>
                                  <p:childTnLst>
                                    <p:set>
                                      <p:cBhvr>
                                        <p:cTn id="9" dur="1" fill="hold">
                                          <p:stCondLst>
                                            <p:cond delay="0"/>
                                          </p:stCondLst>
                                        </p:cTn>
                                        <p:tgtEl>
                                          <p:spTgt spid="31"/>
                                        </p:tgtEl>
                                        <p:attrNameLst>
                                          <p:attrName>style.visibility</p:attrName>
                                        </p:attrNameLst>
                                      </p:cBhvr>
                                      <p:to>
                                        <p:strVal val="visible"/>
                                      </p:to>
                                    </p:set>
                                  </p:childTnLst>
                                </p:cTn>
                              </p:par>
                            </p:childTnLst>
                          </p:cTn>
                        </p:par>
                        <p:par>
                          <p:cTn id="10" fill="hold">
                            <p:stCondLst>
                              <p:cond delay="2000"/>
                            </p:stCondLst>
                            <p:childTnLst>
                              <p:par>
                                <p:cTn id="11" presetID="10" presetClass="entr" presetSubtype="0" fill="hold" grpId="0" nodeType="afterEffect">
                                  <p:stCondLst>
                                    <p:cond delay="100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500"/>
                                        <p:tgtEl>
                                          <p:spTgt spid="12"/>
                                        </p:tgtEl>
                                      </p:cBhvr>
                                    </p:animEffect>
                                  </p:childTnLst>
                                </p:cTn>
                              </p:par>
                            </p:childTnLst>
                          </p:cTn>
                        </p:par>
                        <p:par>
                          <p:cTn id="14" fill="hold">
                            <p:stCondLst>
                              <p:cond delay="3500"/>
                            </p:stCondLst>
                            <p:childTnLst>
                              <p:par>
                                <p:cTn id="15" presetID="1" presetClass="entr" presetSubtype="0" fill="hold" nodeType="afterEffect">
                                  <p:stCondLst>
                                    <p:cond delay="1000"/>
                                  </p:stCondLst>
                                  <p:childTnLst>
                                    <p:set>
                                      <p:cBhvr>
                                        <p:cTn id="16" dur="1" fill="hold">
                                          <p:stCondLst>
                                            <p:cond delay="0"/>
                                          </p:stCondLst>
                                        </p:cTn>
                                        <p:tgtEl>
                                          <p:spTgt spid="28"/>
                                        </p:tgtEl>
                                        <p:attrNameLst>
                                          <p:attrName>style.visibility</p:attrName>
                                        </p:attrNameLst>
                                      </p:cBhvr>
                                      <p:to>
                                        <p:strVal val="visible"/>
                                      </p:to>
                                    </p:set>
                                  </p:childTnLst>
                                </p:cTn>
                              </p:par>
                            </p:childTnLst>
                          </p:cTn>
                        </p:par>
                        <p:par>
                          <p:cTn id="17" fill="hold">
                            <p:stCondLst>
                              <p:cond delay="4500"/>
                            </p:stCondLst>
                            <p:childTnLst>
                              <p:par>
                                <p:cTn id="18" presetID="1" presetClass="entr" presetSubtype="0" fill="hold" nodeType="afterEffect">
                                  <p:stCondLst>
                                    <p:cond delay="1000"/>
                                  </p:stCondLst>
                                  <p:childTnLst>
                                    <p:set>
                                      <p:cBhvr>
                                        <p:cTn id="19" dur="1" fill="hold">
                                          <p:stCondLst>
                                            <p:cond delay="0"/>
                                          </p:stCondLst>
                                        </p:cTn>
                                        <p:tgtEl>
                                          <p:spTgt spid="32"/>
                                        </p:tgtEl>
                                        <p:attrNameLst>
                                          <p:attrName>style.visibility</p:attrName>
                                        </p:attrNameLst>
                                      </p:cBhvr>
                                      <p:to>
                                        <p:strVal val="visible"/>
                                      </p:to>
                                    </p:set>
                                  </p:childTnLst>
                                </p:cTn>
                              </p:par>
                            </p:childTnLst>
                          </p:cTn>
                        </p:par>
                        <p:par>
                          <p:cTn id="20" fill="hold">
                            <p:stCondLst>
                              <p:cond delay="5500"/>
                            </p:stCondLst>
                            <p:childTnLst>
                              <p:par>
                                <p:cTn id="21" presetID="1" presetClass="entr" presetSubtype="0" fill="hold" grpId="0" nodeType="afterEffect">
                                  <p:stCondLst>
                                    <p:cond delay="1000"/>
                                  </p:stCondLst>
                                  <p:childTnLst>
                                    <p:set>
                                      <p:cBhvr>
                                        <p:cTn id="22" dur="1" fill="hold">
                                          <p:stCondLst>
                                            <p:cond delay="0"/>
                                          </p:stCondLst>
                                        </p:cTn>
                                        <p:tgtEl>
                                          <p:spTgt spid="10"/>
                                        </p:tgtEl>
                                        <p:attrNameLst>
                                          <p:attrName>style.visibility</p:attrName>
                                        </p:attrNameLst>
                                      </p:cBhvr>
                                      <p:to>
                                        <p:strVal val="visible"/>
                                      </p:to>
                                    </p:set>
                                  </p:childTnLst>
                                </p:cTn>
                              </p:par>
                            </p:childTnLst>
                          </p:cTn>
                        </p:par>
                        <p:par>
                          <p:cTn id="23" fill="hold">
                            <p:stCondLst>
                              <p:cond delay="6500"/>
                            </p:stCondLst>
                            <p:childTnLst>
                              <p:par>
                                <p:cTn id="24" presetID="1" presetClass="entr" presetSubtype="0" fill="hold" nodeType="afterEffect">
                                  <p:stCondLst>
                                    <p:cond delay="1000"/>
                                  </p:stCondLst>
                                  <p:childTnLst>
                                    <p:set>
                                      <p:cBhvr>
                                        <p:cTn id="25" dur="1" fill="hold">
                                          <p:stCondLst>
                                            <p:cond delay="0"/>
                                          </p:stCondLst>
                                        </p:cTn>
                                        <p:tgtEl>
                                          <p:spTgt spid="17"/>
                                        </p:tgtEl>
                                        <p:attrNameLst>
                                          <p:attrName>style.visibility</p:attrName>
                                        </p:attrNameLst>
                                      </p:cBhvr>
                                      <p:to>
                                        <p:strVal val="visible"/>
                                      </p:to>
                                    </p:set>
                                  </p:childTnLst>
                                </p:cTn>
                              </p:par>
                            </p:childTnLst>
                          </p:cTn>
                        </p:par>
                        <p:par>
                          <p:cTn id="26" fill="hold">
                            <p:stCondLst>
                              <p:cond delay="7500"/>
                            </p:stCondLst>
                            <p:childTnLst>
                              <p:par>
                                <p:cTn id="27" presetID="1" presetClass="entr" presetSubtype="0" fill="hold" grpId="0" nodeType="afterEffect">
                                  <p:stCondLst>
                                    <p:cond delay="1000"/>
                                  </p:stCondLst>
                                  <p:childTnLst>
                                    <p:set>
                                      <p:cBhvr>
                                        <p:cTn id="28" dur="1" fill="hold">
                                          <p:stCondLst>
                                            <p:cond delay="0"/>
                                          </p:stCondLst>
                                        </p:cTn>
                                        <p:tgtEl>
                                          <p:spTgt spid="35"/>
                                        </p:tgtEl>
                                        <p:attrNameLst>
                                          <p:attrName>style.visibility</p:attrName>
                                        </p:attrNameLst>
                                      </p:cBhvr>
                                      <p:to>
                                        <p:strVal val="visible"/>
                                      </p:to>
                                    </p:set>
                                  </p:childTnLst>
                                </p:cTn>
                              </p:par>
                            </p:childTnLst>
                          </p:cTn>
                        </p:par>
                        <p:par>
                          <p:cTn id="29" fill="hold">
                            <p:stCondLst>
                              <p:cond delay="8500"/>
                            </p:stCondLst>
                            <p:childTnLst>
                              <p:par>
                                <p:cTn id="30" presetID="1" presetClass="entr" presetSubtype="0" fill="hold" nodeType="afterEffect">
                                  <p:stCondLst>
                                    <p:cond delay="1250"/>
                                  </p:stCondLst>
                                  <p:childTnLst>
                                    <p:set>
                                      <p:cBhvr>
                                        <p:cTn id="31" dur="1" fill="hold">
                                          <p:stCondLst>
                                            <p:cond delay="0"/>
                                          </p:stCondLst>
                                        </p:cTn>
                                        <p:tgtEl>
                                          <p:spTgt spid="3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31" grpId="0" animBg="1"/>
      <p:bldP spid="35" grpId="0" animBg="1"/>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2170"/>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63402"/>
            <a:ext cx="2260555" cy="400110"/>
          </a:xfrm>
          <a:prstGeom prst="rect">
            <a:avLst/>
          </a:prstGeom>
        </p:spPr>
        <p:txBody>
          <a:bodyPr wrap="none">
            <a:spAutoFit/>
          </a:bodyPr>
          <a:lstStyle/>
          <a:p>
            <a:r>
              <a:rPr lang="zh-CN" altLang="en-US" sz="2000" b="1" dirty="0">
                <a:latin typeface="微软雅黑" pitchFamily="34" charset="-122"/>
                <a:ea typeface="微软雅黑" pitchFamily="34" charset="-122"/>
              </a:rPr>
              <a:t>指定的路由器 </a:t>
            </a:r>
            <a:r>
              <a:rPr lang="en-US" altLang="zh-CN" sz="2000" b="1" dirty="0">
                <a:latin typeface="微软雅黑" pitchFamily="34" charset="-122"/>
                <a:ea typeface="微软雅黑" pitchFamily="34" charset="-122"/>
              </a:rPr>
              <a:t>DR </a:t>
            </a:r>
            <a:endParaRPr lang="zh-CN" altLang="en-US" sz="2000" b="1" dirty="0">
              <a:latin typeface="微软雅黑" pitchFamily="34" charset="-122"/>
              <a:ea typeface="微软雅黑" pitchFamily="34" charset="-122"/>
            </a:endParaRPr>
          </a:p>
        </p:txBody>
      </p:sp>
      <p:sp>
        <p:nvSpPr>
          <p:cNvPr id="4" name="矩形 3"/>
          <p:cNvSpPr/>
          <p:nvPr/>
        </p:nvSpPr>
        <p:spPr>
          <a:xfrm>
            <a:off x="545143" y="937702"/>
            <a:ext cx="8053713" cy="1785104"/>
          </a:xfrm>
          <a:prstGeom prst="rect">
            <a:avLst/>
          </a:prstGeom>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多点接入的局域网采用了</a:t>
            </a:r>
            <a:r>
              <a:rPr lang="zh-CN" altLang="en-US" sz="2000" b="1" dirty="0">
                <a:solidFill>
                  <a:srgbClr val="C00000"/>
                </a:solidFill>
                <a:latin typeface="微软雅黑" pitchFamily="34" charset="-122"/>
                <a:ea typeface="微软雅黑" pitchFamily="34" charset="-122"/>
              </a:rPr>
              <a:t>指定的路由器 </a:t>
            </a:r>
            <a:r>
              <a:rPr lang="en-US" altLang="zh-CN" sz="2000" b="1" dirty="0">
                <a:solidFill>
                  <a:srgbClr val="C00000"/>
                </a:solidFill>
                <a:latin typeface="微软雅黑" pitchFamily="34" charset="-122"/>
                <a:ea typeface="微软雅黑" pitchFamily="34" charset="-122"/>
              </a:rPr>
              <a:t>DR </a:t>
            </a:r>
            <a:r>
              <a:rPr lang="en-US" altLang="zh-CN" sz="2000" b="1" dirty="0">
                <a:latin typeface="微软雅黑" pitchFamily="34" charset="-122"/>
                <a:ea typeface="微软雅黑" pitchFamily="34" charset="-122"/>
              </a:rPr>
              <a:t>(designated router) </a:t>
            </a:r>
            <a:r>
              <a:rPr lang="zh-CN" altLang="en-US" sz="2000" b="1" dirty="0">
                <a:latin typeface="微软雅黑" pitchFamily="34" charset="-122"/>
                <a:ea typeface="微软雅黑" pitchFamily="34" charset="-122"/>
              </a:rPr>
              <a:t>的方法，</a:t>
            </a:r>
            <a:r>
              <a:rPr lang="zh-CN" altLang="en-US" sz="2000" b="1" dirty="0">
                <a:solidFill>
                  <a:srgbClr val="0000FF"/>
                </a:solidFill>
                <a:latin typeface="微软雅黑" pitchFamily="34" charset="-122"/>
                <a:ea typeface="微软雅黑" pitchFamily="34" charset="-122"/>
              </a:rPr>
              <a:t>使广播的信息量大大减少</a:t>
            </a:r>
            <a:r>
              <a:rPr lang="zh-CN" altLang="en-US" sz="2000" b="1" dirty="0">
                <a:latin typeface="微软雅黑" pitchFamily="34" charset="-122"/>
                <a:ea typeface="微软雅黑" pitchFamily="34" charset="-122"/>
              </a:rPr>
              <a:t>。</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指定的路由器</a:t>
            </a:r>
            <a:r>
              <a:rPr lang="zh-CN" altLang="en-US" sz="2000" b="1" dirty="0">
                <a:solidFill>
                  <a:srgbClr val="C00000"/>
                </a:solidFill>
                <a:latin typeface="微软雅黑" pitchFamily="34" charset="-122"/>
                <a:ea typeface="微软雅黑" pitchFamily="34" charset="-122"/>
              </a:rPr>
              <a:t>代表</a:t>
            </a:r>
            <a:r>
              <a:rPr lang="zh-CN" altLang="en-US" sz="2000" b="1" dirty="0">
                <a:latin typeface="微软雅黑" pitchFamily="34" charset="-122"/>
                <a:ea typeface="微软雅黑" pitchFamily="34" charset="-122"/>
              </a:rPr>
              <a:t>该局域网上所有的链路向连接到该网络上的各路由器发送状态信息。 </a:t>
            </a:r>
          </a:p>
        </p:txBody>
      </p:sp>
    </p:spTree>
    <p:extLst>
      <p:ext uri="{BB962C8B-B14F-4D97-AF65-F5344CB8AC3E}">
        <p14:creationId xmlns:p14="http://schemas.microsoft.com/office/powerpoint/2010/main" val="219434803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025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749954" y="579390"/>
            <a:ext cx="369684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4.6.4  </a:t>
            </a:r>
            <a:r>
              <a:rPr lang="zh-CN" altLang="en-US" sz="2400" b="1" dirty="0">
                <a:solidFill>
                  <a:schemeClr val="bg1"/>
                </a:solidFill>
                <a:latin typeface="微软雅黑" pitchFamily="34" charset="-122"/>
                <a:ea typeface="微软雅黑" pitchFamily="34" charset="-122"/>
              </a:rPr>
              <a:t>外部网关协议 </a:t>
            </a:r>
            <a:r>
              <a:rPr lang="en-US" altLang="zh-CN" sz="2400" b="1" dirty="0">
                <a:solidFill>
                  <a:schemeClr val="bg1"/>
                </a:solidFill>
                <a:latin typeface="微软雅黑" pitchFamily="34" charset="-122"/>
                <a:ea typeface="微软雅黑" pitchFamily="34" charset="-122"/>
              </a:rPr>
              <a:t>BGP</a:t>
            </a:r>
            <a:endParaRPr lang="zh-CN" altLang="en-US" sz="2400" b="1" dirty="0">
              <a:solidFill>
                <a:schemeClr val="bg1"/>
              </a:solidFill>
              <a:latin typeface="微软雅黑" pitchFamily="34" charset="-122"/>
              <a:ea typeface="微软雅黑" pitchFamily="34" charset="-122"/>
            </a:endParaRPr>
          </a:p>
        </p:txBody>
      </p:sp>
      <p:grpSp>
        <p:nvGrpSpPr>
          <p:cNvPr id="5" name="组合 4"/>
          <p:cNvGrpSpPr/>
          <p:nvPr/>
        </p:nvGrpSpPr>
        <p:grpSpPr>
          <a:xfrm>
            <a:off x="1442748" y="1258813"/>
            <a:ext cx="6258503" cy="2809692"/>
            <a:chOff x="1113847" y="1369650"/>
            <a:chExt cx="6258503" cy="2809692"/>
          </a:xfrm>
        </p:grpSpPr>
        <p:sp>
          <p:nvSpPr>
            <p:cNvPr id="6" name="矩形 5"/>
            <p:cNvSpPr/>
            <p:nvPr/>
          </p:nvSpPr>
          <p:spPr>
            <a:xfrm>
              <a:off x="3408795" y="1369650"/>
              <a:ext cx="2540000" cy="424873"/>
            </a:xfrm>
            <a:prstGeom prst="rect">
              <a:avLst/>
            </a:prstGeom>
            <a:solidFill>
              <a:srgbClr val="009900"/>
            </a:solidFill>
            <a:ln w="19050">
              <a:solidFill>
                <a:schemeClr val="tx1"/>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微软雅黑" panose="020B0503020204020204" pitchFamily="34" charset="-122"/>
                  <a:ea typeface="微软雅黑" panose="020B0503020204020204" pitchFamily="34" charset="-122"/>
                </a:rPr>
                <a:t>互联网路由选择协议</a:t>
              </a:r>
            </a:p>
          </p:txBody>
        </p:sp>
        <p:sp>
          <p:nvSpPr>
            <p:cNvPr id="7" name="矩形 6"/>
            <p:cNvSpPr/>
            <p:nvPr/>
          </p:nvSpPr>
          <p:spPr>
            <a:xfrm>
              <a:off x="2156303" y="2239529"/>
              <a:ext cx="1802444" cy="424873"/>
            </a:xfrm>
            <a:prstGeom prst="rect">
              <a:avLst/>
            </a:prstGeom>
            <a:solidFill>
              <a:srgbClr val="0099CC"/>
            </a:solidFill>
            <a:ln w="19050">
              <a:solidFill>
                <a:schemeClr val="tx1"/>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微软雅黑" panose="020B0503020204020204" pitchFamily="34" charset="-122"/>
                  <a:ea typeface="微软雅黑" panose="020B0503020204020204" pitchFamily="34" charset="-122"/>
                </a:rPr>
                <a:t>域内路由选择</a:t>
              </a:r>
            </a:p>
          </p:txBody>
        </p:sp>
        <p:sp>
          <p:nvSpPr>
            <p:cNvPr id="8" name="矩形 7"/>
            <p:cNvSpPr/>
            <p:nvPr/>
          </p:nvSpPr>
          <p:spPr>
            <a:xfrm>
              <a:off x="5569906" y="2239530"/>
              <a:ext cx="1802444" cy="424873"/>
            </a:xfrm>
            <a:prstGeom prst="rect">
              <a:avLst/>
            </a:prstGeom>
            <a:solidFill>
              <a:srgbClr val="0099CC"/>
            </a:solidFill>
            <a:ln w="19050">
              <a:solidFill>
                <a:schemeClr val="tx1"/>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微软雅黑" panose="020B0503020204020204" pitchFamily="34" charset="-122"/>
                  <a:ea typeface="微软雅黑" panose="020B0503020204020204" pitchFamily="34" charset="-122"/>
                </a:rPr>
                <a:t>域间路由选择</a:t>
              </a:r>
            </a:p>
          </p:txBody>
        </p:sp>
        <p:sp>
          <p:nvSpPr>
            <p:cNvPr id="9" name="矩形 8"/>
            <p:cNvSpPr/>
            <p:nvPr/>
          </p:nvSpPr>
          <p:spPr>
            <a:xfrm>
              <a:off x="1113847" y="3109407"/>
              <a:ext cx="1802444" cy="670653"/>
            </a:xfrm>
            <a:prstGeom prst="rect">
              <a:avLst/>
            </a:prstGeom>
            <a:solidFill>
              <a:srgbClr val="CC6600"/>
            </a:solidFill>
            <a:ln w="19050">
              <a:solidFill>
                <a:schemeClr val="tx1"/>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latin typeface="微软雅黑" panose="020B0503020204020204" pitchFamily="34" charset="-122"/>
                  <a:ea typeface="微软雅黑" panose="020B0503020204020204" pitchFamily="34" charset="-122"/>
                </a:rPr>
                <a:t>距离向量</a:t>
              </a:r>
              <a:endParaRPr lang="en-US" altLang="zh-CN" b="1" dirty="0">
                <a:solidFill>
                  <a:schemeClr val="bg1"/>
                </a:solidFill>
                <a:latin typeface="微软雅黑" panose="020B0503020204020204" pitchFamily="34" charset="-122"/>
                <a:ea typeface="微软雅黑" panose="020B0503020204020204" pitchFamily="34" charset="-122"/>
              </a:endParaRPr>
            </a:p>
            <a:p>
              <a:pPr algn="ctr"/>
              <a:r>
                <a:rPr lang="en-US" altLang="zh-CN" sz="1400" b="1" dirty="0">
                  <a:solidFill>
                    <a:schemeClr val="bg1"/>
                  </a:solidFill>
                  <a:latin typeface="微软雅黑" panose="020B0503020204020204" pitchFamily="34" charset="-122"/>
                  <a:ea typeface="微软雅黑" panose="020B0503020204020204" pitchFamily="34" charset="-122"/>
                </a:rPr>
                <a:t>(Distance Vector)</a:t>
              </a:r>
              <a:endParaRPr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10" name="矩形 9"/>
            <p:cNvSpPr/>
            <p:nvPr/>
          </p:nvSpPr>
          <p:spPr>
            <a:xfrm>
              <a:off x="3220430" y="3109408"/>
              <a:ext cx="1802444" cy="670653"/>
            </a:xfrm>
            <a:prstGeom prst="rect">
              <a:avLst/>
            </a:prstGeom>
            <a:solidFill>
              <a:srgbClr val="CC6600"/>
            </a:solidFill>
            <a:ln w="19050">
              <a:solidFill>
                <a:schemeClr val="tx1"/>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latin typeface="微软雅黑" panose="020B0503020204020204" pitchFamily="34" charset="-122"/>
                  <a:ea typeface="微软雅黑" panose="020B0503020204020204" pitchFamily="34" charset="-122"/>
                </a:rPr>
                <a:t>链路状态</a:t>
              </a:r>
              <a:endParaRPr lang="en-US" altLang="zh-CN" b="1" dirty="0">
                <a:solidFill>
                  <a:schemeClr val="bg1"/>
                </a:solidFill>
                <a:latin typeface="微软雅黑" panose="020B0503020204020204" pitchFamily="34" charset="-122"/>
                <a:ea typeface="微软雅黑" panose="020B0503020204020204" pitchFamily="34" charset="-122"/>
              </a:endParaRPr>
            </a:p>
            <a:p>
              <a:pPr algn="ctr"/>
              <a:r>
                <a:rPr lang="en-US" altLang="zh-CN" b="1" dirty="0">
                  <a:solidFill>
                    <a:schemeClr val="bg1"/>
                  </a:solidFill>
                  <a:latin typeface="微软雅黑" panose="020B0503020204020204" pitchFamily="34" charset="-122"/>
                  <a:ea typeface="微软雅黑" panose="020B0503020204020204" pitchFamily="34" charset="-122"/>
                </a:rPr>
                <a:t>(Link State)</a:t>
              </a:r>
              <a:endParaRPr lang="zh-CN" altLang="en-US" b="1" dirty="0">
                <a:solidFill>
                  <a:schemeClr val="bg1"/>
                </a:solidFill>
                <a:latin typeface="微软雅黑" panose="020B0503020204020204" pitchFamily="34" charset="-122"/>
                <a:ea typeface="微软雅黑" panose="020B0503020204020204" pitchFamily="34" charset="-122"/>
              </a:endParaRPr>
            </a:p>
          </p:txBody>
        </p:sp>
        <p:sp>
          <p:nvSpPr>
            <p:cNvPr id="11" name="矩形 10"/>
            <p:cNvSpPr/>
            <p:nvPr/>
          </p:nvSpPr>
          <p:spPr>
            <a:xfrm>
              <a:off x="5569907" y="3109408"/>
              <a:ext cx="1802443" cy="671608"/>
            </a:xfrm>
            <a:prstGeom prst="rect">
              <a:avLst/>
            </a:prstGeom>
            <a:solidFill>
              <a:srgbClr val="CC6600"/>
            </a:solidFill>
            <a:ln w="19050">
              <a:solidFill>
                <a:schemeClr val="tx1"/>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rgbClr val="000099"/>
                  </a:solidFill>
                  <a:latin typeface="微软雅黑" panose="020B0503020204020204" pitchFamily="34" charset="-122"/>
                  <a:ea typeface="微软雅黑" panose="020B0503020204020204" pitchFamily="34" charset="-122"/>
                </a:rPr>
                <a:t>路径向量</a:t>
              </a:r>
              <a:endParaRPr lang="en-US" altLang="zh-CN" b="1" dirty="0">
                <a:solidFill>
                  <a:srgbClr val="000099"/>
                </a:solidFill>
                <a:latin typeface="微软雅黑" panose="020B0503020204020204" pitchFamily="34" charset="-122"/>
                <a:ea typeface="微软雅黑" panose="020B0503020204020204" pitchFamily="34" charset="-122"/>
              </a:endParaRPr>
            </a:p>
            <a:p>
              <a:pPr algn="ctr"/>
              <a:r>
                <a:rPr lang="en-US" altLang="zh-CN" b="1" dirty="0">
                  <a:solidFill>
                    <a:srgbClr val="000099"/>
                  </a:solidFill>
                  <a:latin typeface="微软雅黑" panose="020B0503020204020204" pitchFamily="34" charset="-122"/>
                  <a:ea typeface="微软雅黑" panose="020B0503020204020204" pitchFamily="34" charset="-122"/>
                </a:rPr>
                <a:t>(path vector)</a:t>
              </a:r>
              <a:endParaRPr lang="zh-CN" altLang="en-US" b="1" dirty="0">
                <a:solidFill>
                  <a:srgbClr val="000099"/>
                </a:solidFill>
                <a:latin typeface="微软雅黑" panose="020B0503020204020204" pitchFamily="34" charset="-122"/>
                <a:ea typeface="微软雅黑" panose="020B0503020204020204" pitchFamily="34" charset="-122"/>
              </a:endParaRPr>
            </a:p>
          </p:txBody>
        </p:sp>
        <p:cxnSp>
          <p:nvCxnSpPr>
            <p:cNvPr id="12" name="直接连接符 11"/>
            <p:cNvCxnSpPr>
              <a:endCxn id="7" idx="0"/>
            </p:cNvCxnSpPr>
            <p:nvPr/>
          </p:nvCxnSpPr>
          <p:spPr>
            <a:xfrm flipH="1">
              <a:off x="3057525" y="1794523"/>
              <a:ext cx="1009650" cy="44500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直接连接符 12"/>
            <p:cNvCxnSpPr>
              <a:endCxn id="8" idx="0"/>
            </p:cNvCxnSpPr>
            <p:nvPr/>
          </p:nvCxnSpPr>
          <p:spPr>
            <a:xfrm>
              <a:off x="5461478" y="1794523"/>
              <a:ext cx="1009650" cy="44500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直接连接符 13"/>
            <p:cNvCxnSpPr>
              <a:stCxn id="7" idx="2"/>
              <a:endCxn id="9" idx="0"/>
            </p:cNvCxnSpPr>
            <p:nvPr/>
          </p:nvCxnSpPr>
          <p:spPr>
            <a:xfrm flipH="1">
              <a:off x="2015069" y="2664402"/>
              <a:ext cx="1042456" cy="44500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直接连接符 14"/>
            <p:cNvCxnSpPr>
              <a:stCxn id="7" idx="2"/>
              <a:endCxn id="10" idx="0"/>
            </p:cNvCxnSpPr>
            <p:nvPr/>
          </p:nvCxnSpPr>
          <p:spPr>
            <a:xfrm>
              <a:off x="3057525" y="2664402"/>
              <a:ext cx="1064127" cy="44500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直接连接符 15"/>
            <p:cNvCxnSpPr>
              <a:stCxn id="8" idx="2"/>
              <a:endCxn id="11" idx="0"/>
            </p:cNvCxnSpPr>
            <p:nvPr/>
          </p:nvCxnSpPr>
          <p:spPr>
            <a:xfrm>
              <a:off x="6471128" y="2664403"/>
              <a:ext cx="1" cy="44500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矩形 16"/>
            <p:cNvSpPr/>
            <p:nvPr/>
          </p:nvSpPr>
          <p:spPr>
            <a:xfrm>
              <a:off x="1727169" y="3779232"/>
              <a:ext cx="619080" cy="400110"/>
            </a:xfrm>
            <a:prstGeom prst="rect">
              <a:avLst/>
            </a:prstGeom>
          </p:spPr>
          <p:txBody>
            <a:bodyPr wrap="none">
              <a:spAutoFit/>
            </a:bodyPr>
            <a:lstStyle/>
            <a:p>
              <a:r>
                <a:rPr lang="en-US" altLang="zh-CN" sz="2000" b="1" dirty="0">
                  <a:latin typeface="微软雅黑" pitchFamily="34" charset="-122"/>
                  <a:ea typeface="微软雅黑" pitchFamily="34" charset="-122"/>
                </a:rPr>
                <a:t>RIP</a:t>
              </a:r>
              <a:endParaRPr lang="zh-CN" altLang="en-US" sz="2000" dirty="0"/>
            </a:p>
          </p:txBody>
        </p:sp>
        <p:sp>
          <p:nvSpPr>
            <p:cNvPr id="18" name="矩形 17"/>
            <p:cNvSpPr/>
            <p:nvPr/>
          </p:nvSpPr>
          <p:spPr>
            <a:xfrm>
              <a:off x="3691886" y="3779232"/>
              <a:ext cx="859531" cy="400110"/>
            </a:xfrm>
            <a:prstGeom prst="rect">
              <a:avLst/>
            </a:prstGeom>
          </p:spPr>
          <p:txBody>
            <a:bodyPr wrap="none">
              <a:spAutoFit/>
            </a:bodyPr>
            <a:lstStyle/>
            <a:p>
              <a:r>
                <a:rPr lang="en-US" altLang="zh-CN" sz="2000" b="1" dirty="0">
                  <a:latin typeface="微软雅黑" pitchFamily="34" charset="-122"/>
                  <a:ea typeface="微软雅黑" pitchFamily="34" charset="-122"/>
                </a:rPr>
                <a:t>OSPF</a:t>
              </a:r>
              <a:endParaRPr lang="zh-CN" altLang="en-US" sz="2000" dirty="0"/>
            </a:p>
          </p:txBody>
        </p:sp>
        <p:sp>
          <p:nvSpPr>
            <p:cNvPr id="19" name="矩形 18"/>
            <p:cNvSpPr/>
            <p:nvPr/>
          </p:nvSpPr>
          <p:spPr>
            <a:xfrm>
              <a:off x="5974036" y="3779232"/>
              <a:ext cx="994183" cy="400110"/>
            </a:xfrm>
            <a:prstGeom prst="rect">
              <a:avLst/>
            </a:prstGeom>
          </p:spPr>
          <p:txBody>
            <a:bodyPr wrap="none">
              <a:spAutoFit/>
            </a:bodyPr>
            <a:lstStyle/>
            <a:p>
              <a:r>
                <a:rPr lang="en-US" altLang="zh-CN" sz="2000" b="1" dirty="0">
                  <a:solidFill>
                    <a:srgbClr val="000099"/>
                  </a:solidFill>
                  <a:latin typeface="微软雅黑" pitchFamily="34" charset="-122"/>
                  <a:ea typeface="微软雅黑" pitchFamily="34" charset="-122"/>
                </a:rPr>
                <a:t>BGP-4</a:t>
              </a:r>
              <a:endParaRPr lang="zh-CN" altLang="en-US" sz="2000" dirty="0">
                <a:solidFill>
                  <a:srgbClr val="000099"/>
                </a:solidFill>
              </a:endParaRPr>
            </a:p>
          </p:txBody>
        </p:sp>
      </p:grpSp>
    </p:spTree>
    <p:extLst>
      <p:ext uri="{BB962C8B-B14F-4D97-AF65-F5344CB8AC3E}">
        <p14:creationId xmlns:p14="http://schemas.microsoft.com/office/powerpoint/2010/main" val="96513390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025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749954" y="579390"/>
            <a:ext cx="369684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4.6.4  </a:t>
            </a:r>
            <a:r>
              <a:rPr lang="zh-CN" altLang="en-US" sz="2400" b="1" dirty="0">
                <a:solidFill>
                  <a:schemeClr val="bg1"/>
                </a:solidFill>
                <a:latin typeface="微软雅黑" pitchFamily="34" charset="-122"/>
                <a:ea typeface="微软雅黑" pitchFamily="34" charset="-122"/>
              </a:rPr>
              <a:t>外部网关协议 </a:t>
            </a:r>
            <a:r>
              <a:rPr lang="en-US" altLang="zh-CN" sz="2400" b="1" dirty="0">
                <a:solidFill>
                  <a:schemeClr val="bg1"/>
                </a:solidFill>
                <a:latin typeface="微软雅黑" pitchFamily="34" charset="-122"/>
                <a:ea typeface="微软雅黑" pitchFamily="34" charset="-122"/>
              </a:rPr>
              <a:t>BGP</a:t>
            </a:r>
            <a:endParaRPr lang="zh-CN" altLang="en-US" sz="2400" b="1" dirty="0">
              <a:solidFill>
                <a:schemeClr val="bg1"/>
              </a:solidFill>
              <a:latin typeface="微软雅黑" pitchFamily="34" charset="-122"/>
              <a:ea typeface="微软雅黑" pitchFamily="34" charset="-122"/>
            </a:endParaRPr>
          </a:p>
        </p:txBody>
      </p:sp>
      <p:sp>
        <p:nvSpPr>
          <p:cNvPr id="4" name="Rectangle 8"/>
          <p:cNvSpPr>
            <a:spLocks noChangeArrowheads="1"/>
          </p:cNvSpPr>
          <p:nvPr/>
        </p:nvSpPr>
        <p:spPr bwMode="auto">
          <a:xfrm>
            <a:off x="545144" y="1024456"/>
            <a:ext cx="8053712" cy="17851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BGP </a:t>
            </a:r>
            <a:r>
              <a:rPr lang="zh-CN" altLang="en-US" sz="2000" b="1" dirty="0">
                <a:latin typeface="微软雅黑" pitchFamily="34" charset="-122"/>
                <a:ea typeface="微软雅黑" pitchFamily="34" charset="-122"/>
              </a:rPr>
              <a:t>是</a:t>
            </a:r>
            <a:r>
              <a:rPr lang="zh-CN" altLang="en-US" sz="2000" b="1" dirty="0">
                <a:solidFill>
                  <a:srgbClr val="C00000"/>
                </a:solidFill>
                <a:latin typeface="微软雅黑" pitchFamily="34" charset="-122"/>
                <a:ea typeface="微软雅黑" pitchFamily="34" charset="-122"/>
              </a:rPr>
              <a:t>不同自治系统的路由器之间</a:t>
            </a:r>
            <a:r>
              <a:rPr lang="zh-CN" altLang="en-US" sz="2000" b="1" dirty="0">
                <a:latin typeface="微软雅黑" pitchFamily="34" charset="-122"/>
                <a:ea typeface="微软雅黑" pitchFamily="34" charset="-122"/>
              </a:rPr>
              <a:t>交换路由信息的协议。 </a:t>
            </a:r>
          </a:p>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BGP </a:t>
            </a:r>
            <a:r>
              <a:rPr lang="zh-CN" altLang="en-US" sz="2000" b="1" dirty="0">
                <a:latin typeface="微软雅黑" pitchFamily="34" charset="-122"/>
                <a:ea typeface="微软雅黑" pitchFamily="34" charset="-122"/>
              </a:rPr>
              <a:t>较新版本是 </a:t>
            </a:r>
            <a:r>
              <a:rPr lang="en-US" altLang="zh-CN" sz="2000" b="1" dirty="0">
                <a:latin typeface="微软雅黑" pitchFamily="34" charset="-122"/>
                <a:ea typeface="微软雅黑" pitchFamily="34" charset="-122"/>
              </a:rPr>
              <a:t>2006 </a:t>
            </a:r>
            <a:r>
              <a:rPr lang="zh-CN" altLang="en-US" sz="2000" b="1" dirty="0">
                <a:latin typeface="微软雅黑" pitchFamily="34" charset="-122"/>
                <a:ea typeface="微软雅黑" pitchFamily="34" charset="-122"/>
              </a:rPr>
              <a:t>年 </a:t>
            </a:r>
            <a:r>
              <a:rPr lang="en-US" altLang="zh-CN" sz="2000" b="1" dirty="0">
                <a:latin typeface="微软雅黑" pitchFamily="34" charset="-122"/>
                <a:ea typeface="微软雅黑" pitchFamily="34" charset="-122"/>
              </a:rPr>
              <a:t>1 </a:t>
            </a:r>
            <a:r>
              <a:rPr lang="zh-CN" altLang="en-US" sz="2000" b="1" dirty="0">
                <a:latin typeface="微软雅黑" pitchFamily="34" charset="-122"/>
                <a:ea typeface="微软雅黑" pitchFamily="34" charset="-122"/>
              </a:rPr>
              <a:t>月发表的 </a:t>
            </a:r>
            <a:r>
              <a:rPr lang="en-US" altLang="zh-CN" sz="2000" b="1" dirty="0">
                <a:latin typeface="微软雅黑" pitchFamily="34" charset="-122"/>
                <a:ea typeface="微软雅黑" pitchFamily="34" charset="-122"/>
              </a:rPr>
              <a:t>BGP-4</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BGP </a:t>
            </a:r>
            <a:r>
              <a:rPr lang="zh-CN" altLang="en-US" sz="2000" b="1" dirty="0">
                <a:latin typeface="微软雅黑" pitchFamily="34" charset="-122"/>
                <a:ea typeface="微软雅黑" pitchFamily="34" charset="-122"/>
              </a:rPr>
              <a:t>第 </a:t>
            </a:r>
            <a:r>
              <a:rPr lang="en-US" altLang="zh-CN" sz="2000" b="1" dirty="0">
                <a:latin typeface="微软雅黑" pitchFamily="34" charset="-122"/>
                <a:ea typeface="微软雅黑" pitchFamily="34" charset="-122"/>
              </a:rPr>
              <a:t>4 </a:t>
            </a:r>
            <a:r>
              <a:rPr lang="zh-CN" altLang="en-US" sz="2000" b="1" dirty="0">
                <a:latin typeface="微软雅黑" pitchFamily="34" charset="-122"/>
                <a:ea typeface="微软雅黑" pitchFamily="34" charset="-122"/>
              </a:rPr>
              <a:t>个版本），即 </a:t>
            </a:r>
            <a:r>
              <a:rPr lang="en-US" altLang="zh-CN" sz="2000" b="1" dirty="0">
                <a:latin typeface="微软雅黑" pitchFamily="34" charset="-122"/>
                <a:ea typeface="微软雅黑" pitchFamily="34" charset="-122"/>
              </a:rPr>
              <a:t>RFC 4271 ~ 4278</a:t>
            </a:r>
            <a:r>
              <a:rPr lang="zh-CN" altLang="en-US" sz="2000" b="1" dirty="0">
                <a:latin typeface="微软雅黑" pitchFamily="34" charset="-122"/>
                <a:ea typeface="微软雅黑" pitchFamily="34" charset="-122"/>
              </a:rPr>
              <a:t>。 </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可以将 </a:t>
            </a:r>
            <a:r>
              <a:rPr lang="en-US" altLang="zh-CN" sz="2000" b="1" dirty="0">
                <a:latin typeface="微软雅黑" pitchFamily="34" charset="-122"/>
                <a:ea typeface="微软雅黑" pitchFamily="34" charset="-122"/>
              </a:rPr>
              <a:t>BGP-4 </a:t>
            </a:r>
            <a:r>
              <a:rPr lang="zh-CN" altLang="en-US" sz="2000" b="1" dirty="0">
                <a:latin typeface="微软雅黑" pitchFamily="34" charset="-122"/>
                <a:ea typeface="微软雅黑" pitchFamily="34" charset="-122"/>
              </a:rPr>
              <a:t>简写为 </a:t>
            </a:r>
            <a:r>
              <a:rPr lang="en-US" altLang="zh-CN" sz="2000" b="1" dirty="0">
                <a:latin typeface="微软雅黑" pitchFamily="34" charset="-122"/>
                <a:ea typeface="微软雅黑" pitchFamily="34" charset="-122"/>
              </a:rPr>
              <a:t>BGP</a:t>
            </a:r>
            <a:r>
              <a:rPr lang="zh-CN" altLang="en-US" sz="2000" b="1" dirty="0">
                <a:latin typeface="微软雅黑" pitchFamily="34" charset="-122"/>
                <a:ea typeface="微软雅黑" pitchFamily="34" charset="-122"/>
              </a:rPr>
              <a:t>。 </a:t>
            </a:r>
          </a:p>
        </p:txBody>
      </p:sp>
    </p:spTree>
    <p:extLst>
      <p:ext uri="{BB962C8B-B14F-4D97-AF65-F5344CB8AC3E}">
        <p14:creationId xmlns:p14="http://schemas.microsoft.com/office/powerpoint/2010/main" val="254502283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4" y="981029"/>
            <a:ext cx="8053712" cy="26314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用于自治系统 </a:t>
            </a:r>
            <a:r>
              <a:rPr lang="en-US" altLang="zh-CN" sz="2000" b="1" dirty="0">
                <a:latin typeface="微软雅黑" pitchFamily="34" charset="-122"/>
                <a:ea typeface="微软雅黑" pitchFamily="34" charset="-122"/>
              </a:rPr>
              <a:t>AS </a:t>
            </a:r>
            <a:r>
              <a:rPr lang="zh-CN" altLang="en-US" sz="2000" b="1" dirty="0">
                <a:latin typeface="微软雅黑" pitchFamily="34" charset="-122"/>
                <a:ea typeface="微软雅黑" pitchFamily="34" charset="-122"/>
              </a:rPr>
              <a:t>之间的路由选择。</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只能是力求选择出一条能够到达目的网络且</a:t>
            </a:r>
            <a:r>
              <a:rPr lang="zh-CN" altLang="en-US" sz="2000" b="1" dirty="0">
                <a:solidFill>
                  <a:srgbClr val="C00000"/>
                </a:solidFill>
                <a:latin typeface="微软雅黑" pitchFamily="34" charset="-122"/>
                <a:ea typeface="微软雅黑" pitchFamily="34" charset="-122"/>
              </a:rPr>
              <a:t>比较好的路由</a:t>
            </a:r>
            <a:r>
              <a:rPr lang="zh-CN" altLang="en-US" sz="2000" b="1" dirty="0">
                <a:latin typeface="微软雅黑" pitchFamily="34" charset="-122"/>
                <a:ea typeface="微软雅黑" pitchFamily="34" charset="-122"/>
              </a:rPr>
              <a:t>（不能兜圈子），而</a:t>
            </a:r>
            <a:r>
              <a:rPr lang="zh-CN" altLang="en-US" sz="2000" b="1" dirty="0">
                <a:solidFill>
                  <a:srgbClr val="C00000"/>
                </a:solidFill>
                <a:latin typeface="微软雅黑" pitchFamily="34" charset="-122"/>
                <a:ea typeface="微软雅黑" pitchFamily="34" charset="-122"/>
              </a:rPr>
              <a:t>并非要计算出一条最佳路由。</a:t>
            </a:r>
            <a:endParaRPr lang="en-US" altLang="zh-CN" sz="2000" b="1" dirty="0">
              <a:solidFill>
                <a:srgbClr val="C00000"/>
              </a:solidFill>
              <a:latin typeface="微软雅黑" pitchFamily="34" charset="-122"/>
              <a:ea typeface="微软雅黑" pitchFamily="34" charset="-122"/>
            </a:endParaRPr>
          </a:p>
          <a:p>
            <a:pPr marL="623888" indent="-342900">
              <a:lnSpc>
                <a:spcPts val="3300"/>
              </a:lnSpc>
              <a:buClr>
                <a:srgbClr val="7030A0"/>
              </a:buClr>
              <a:buFont typeface="+mj-lt"/>
              <a:buAutoNum type="arabicPeriod"/>
            </a:pPr>
            <a:r>
              <a:rPr lang="zh-CN" altLang="en-US" sz="2000" b="1" dirty="0">
                <a:latin typeface="微软雅黑" pitchFamily="34" charset="-122"/>
                <a:ea typeface="微软雅黑" pitchFamily="34" charset="-122"/>
              </a:rPr>
              <a:t>互联网的规模太大，使得自治系统</a:t>
            </a:r>
            <a:r>
              <a:rPr lang="en-US" altLang="zh-CN" sz="2000" b="1" dirty="0">
                <a:latin typeface="微软雅黑" pitchFamily="34" charset="-122"/>
                <a:ea typeface="微软雅黑" pitchFamily="34" charset="-122"/>
              </a:rPr>
              <a:t>AS</a:t>
            </a:r>
            <a:r>
              <a:rPr lang="zh-CN" altLang="en-US" sz="2000" b="1" dirty="0">
                <a:latin typeface="微软雅黑" pitchFamily="34" charset="-122"/>
                <a:ea typeface="微软雅黑" pitchFamily="34" charset="-122"/>
              </a:rPr>
              <a:t>之间路由选择非常困难。</a:t>
            </a:r>
            <a:endParaRPr lang="en-US" altLang="zh-CN" sz="2000" b="1" dirty="0">
              <a:latin typeface="微软雅黑" pitchFamily="34" charset="-122"/>
              <a:ea typeface="微软雅黑" pitchFamily="34" charset="-122"/>
            </a:endParaRPr>
          </a:p>
          <a:p>
            <a:pPr marL="623888" indent="-342900">
              <a:lnSpc>
                <a:spcPts val="3300"/>
              </a:lnSpc>
              <a:buClr>
                <a:srgbClr val="7030A0"/>
              </a:buClr>
              <a:buFont typeface="+mj-lt"/>
              <a:buAutoNum type="arabicPeriod"/>
            </a:pPr>
            <a:r>
              <a:rPr lang="zh-CN" altLang="en-US" sz="2000" b="1" dirty="0">
                <a:latin typeface="微软雅黑" pitchFamily="34" charset="-122"/>
                <a:ea typeface="微软雅黑" pitchFamily="34" charset="-122"/>
              </a:rPr>
              <a:t>自治系统</a:t>
            </a:r>
            <a:r>
              <a:rPr lang="en-US" altLang="zh-CN" sz="2000" b="1" dirty="0">
                <a:latin typeface="微软雅黑" pitchFamily="34" charset="-122"/>
                <a:ea typeface="微软雅黑" pitchFamily="34" charset="-122"/>
              </a:rPr>
              <a:t>AS</a:t>
            </a:r>
            <a:r>
              <a:rPr lang="zh-CN" altLang="en-US" sz="2000" b="1" dirty="0">
                <a:latin typeface="微软雅黑" pitchFamily="34" charset="-122"/>
                <a:ea typeface="微软雅黑" pitchFamily="34" charset="-122"/>
              </a:rPr>
              <a:t>之间的路由选择必须考虑有关策略。</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采用了</a:t>
            </a:r>
            <a:r>
              <a:rPr lang="zh-CN" altLang="en-US" sz="2000" b="1" dirty="0">
                <a:solidFill>
                  <a:srgbClr val="C00000"/>
                </a:solidFill>
                <a:latin typeface="微软雅黑" pitchFamily="34" charset="-122"/>
                <a:ea typeface="微软雅黑" pitchFamily="34" charset="-122"/>
              </a:rPr>
              <a:t>路径向量 </a:t>
            </a:r>
            <a:r>
              <a:rPr lang="en-US" altLang="zh-CN" sz="2000" b="1" dirty="0">
                <a:latin typeface="微软雅黑" pitchFamily="34" charset="-122"/>
                <a:ea typeface="微软雅黑" pitchFamily="34" charset="-122"/>
              </a:rPr>
              <a:t>(path vector) </a:t>
            </a:r>
            <a:r>
              <a:rPr lang="zh-CN" altLang="en-US" sz="2000" b="1" dirty="0">
                <a:latin typeface="微软雅黑" pitchFamily="34" charset="-122"/>
                <a:ea typeface="微软雅黑" pitchFamily="34" charset="-122"/>
              </a:rPr>
              <a:t>路由选择协议。</a:t>
            </a:r>
            <a:endParaRPr lang="en-US" altLang="zh-CN" sz="2000" b="1" dirty="0">
              <a:latin typeface="微软雅黑" pitchFamily="34" charset="-122"/>
              <a:ea typeface="微软雅黑" pitchFamily="34" charset="-122"/>
            </a:endParaRPr>
          </a:p>
        </p:txBody>
      </p:sp>
      <p:sp>
        <p:nvSpPr>
          <p:cNvPr id="3" name="AutoShape 5"/>
          <p:cNvSpPr>
            <a:spLocks noChangeArrowheads="1"/>
          </p:cNvSpPr>
          <p:nvPr/>
        </p:nvSpPr>
        <p:spPr bwMode="auto">
          <a:xfrm>
            <a:off x="545144" y="621712"/>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8501"/>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协议 </a:t>
            </a:r>
            <a:r>
              <a:rPr lang="en-US" altLang="zh-CN" sz="2000" b="1" dirty="0">
                <a:solidFill>
                  <a:schemeClr val="bg1"/>
                </a:solidFill>
                <a:latin typeface="微软雅黑" pitchFamily="34" charset="-122"/>
                <a:ea typeface="微软雅黑" pitchFamily="34" charset="-122"/>
              </a:rPr>
              <a:t>BGP </a:t>
            </a:r>
            <a:r>
              <a:rPr lang="zh-CN" altLang="en-US" sz="2000" b="1" dirty="0">
                <a:solidFill>
                  <a:schemeClr val="bg1"/>
                </a:solidFill>
                <a:latin typeface="微软雅黑" pitchFamily="34" charset="-122"/>
                <a:ea typeface="微软雅黑" pitchFamily="34" charset="-122"/>
              </a:rPr>
              <a:t>的主要特点</a:t>
            </a:r>
          </a:p>
        </p:txBody>
      </p:sp>
    </p:spTree>
    <p:extLst>
      <p:ext uri="{BB962C8B-B14F-4D97-AF65-F5344CB8AC3E}">
        <p14:creationId xmlns:p14="http://schemas.microsoft.com/office/powerpoint/2010/main" val="425888673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5" y="622831"/>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BGP </a:t>
            </a:r>
            <a:r>
              <a:rPr lang="zh-CN" altLang="en-US" sz="2000" b="1" dirty="0">
                <a:solidFill>
                  <a:schemeClr val="bg1"/>
                </a:solidFill>
                <a:latin typeface="微软雅黑" pitchFamily="34" charset="-122"/>
                <a:ea typeface="微软雅黑" pitchFamily="34" charset="-122"/>
              </a:rPr>
              <a:t>发言者 </a:t>
            </a:r>
            <a:r>
              <a:rPr lang="en-US" altLang="zh-CN" sz="2000" b="1" dirty="0">
                <a:solidFill>
                  <a:schemeClr val="bg1"/>
                </a:solidFill>
                <a:latin typeface="微软雅黑" pitchFamily="34" charset="-122"/>
                <a:ea typeface="微软雅黑" pitchFamily="34" charset="-122"/>
              </a:rPr>
              <a:t>(BGP speaker)</a:t>
            </a:r>
            <a:endParaRPr lang="zh-CN" altLang="en-US" sz="2000" b="1" dirty="0">
              <a:solidFill>
                <a:schemeClr val="bg1"/>
              </a:solidFill>
              <a:latin typeface="微软雅黑" pitchFamily="34" charset="-122"/>
              <a:ea typeface="微软雅黑" pitchFamily="34" charset="-122"/>
            </a:endParaRPr>
          </a:p>
        </p:txBody>
      </p:sp>
      <p:sp>
        <p:nvSpPr>
          <p:cNvPr id="4" name="圆角矩形 3"/>
          <p:cNvSpPr/>
          <p:nvPr/>
        </p:nvSpPr>
        <p:spPr>
          <a:xfrm>
            <a:off x="545145" y="1052858"/>
            <a:ext cx="8053712" cy="208750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04" name="Text Box 173"/>
          <p:cNvSpPr txBox="1">
            <a:spLocks noChangeArrowheads="1"/>
          </p:cNvSpPr>
          <p:nvPr/>
        </p:nvSpPr>
        <p:spPr bwMode="auto">
          <a:xfrm>
            <a:off x="1836817" y="3279331"/>
            <a:ext cx="564449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800" b="1" dirty="0">
                <a:latin typeface="微软雅黑" panose="020B0503020204020204" pitchFamily="34" charset="-122"/>
                <a:ea typeface="微软雅黑" panose="020B0503020204020204" pitchFamily="34" charset="-122"/>
              </a:rPr>
              <a:t>对等 </a:t>
            </a:r>
            <a:r>
              <a:rPr lang="en-US" altLang="zh-CN" sz="1800" b="1" dirty="0">
                <a:latin typeface="微软雅黑" panose="020B0503020204020204" pitchFamily="34" charset="-122"/>
                <a:ea typeface="微软雅黑" panose="020B0503020204020204" pitchFamily="34" charset="-122"/>
              </a:rPr>
              <a:t>BGP </a:t>
            </a:r>
            <a:r>
              <a:rPr lang="zh-CN" altLang="en-US" sz="1800" b="1" dirty="0">
                <a:latin typeface="微软雅黑" panose="020B0503020204020204" pitchFamily="34" charset="-122"/>
                <a:ea typeface="微软雅黑" panose="020B0503020204020204" pitchFamily="34" charset="-122"/>
              </a:rPr>
              <a:t>发言者（边界路由器）在 </a:t>
            </a:r>
            <a:r>
              <a:rPr lang="en-US" altLang="zh-CN" sz="1800" b="1" dirty="0">
                <a:latin typeface="微软雅黑" panose="020B0503020204020204" pitchFamily="34" charset="-122"/>
                <a:ea typeface="微软雅黑" panose="020B0503020204020204" pitchFamily="34" charset="-122"/>
              </a:rPr>
              <a:t>AS </a:t>
            </a:r>
            <a:r>
              <a:rPr lang="zh-CN" altLang="en-US" sz="1800" b="1" dirty="0">
                <a:latin typeface="微软雅黑" panose="020B0503020204020204" pitchFamily="34" charset="-122"/>
                <a:ea typeface="微软雅黑" panose="020B0503020204020204" pitchFamily="34" charset="-122"/>
              </a:rPr>
              <a:t>之间交换信息</a:t>
            </a:r>
            <a:endParaRPr lang="en-US" altLang="zh-CN" sz="1800" b="1" baseline="-25000" dirty="0">
              <a:latin typeface="微软雅黑" panose="020B0503020204020204" pitchFamily="34" charset="-122"/>
              <a:ea typeface="微软雅黑" panose="020B0503020204020204" pitchFamily="34" charset="-122"/>
            </a:endParaRPr>
          </a:p>
        </p:txBody>
      </p:sp>
      <p:grpSp>
        <p:nvGrpSpPr>
          <p:cNvPr id="191" name="Group 206"/>
          <p:cNvGrpSpPr>
            <a:grpSpLocks/>
          </p:cNvGrpSpPr>
          <p:nvPr/>
        </p:nvGrpSpPr>
        <p:grpSpPr bwMode="auto">
          <a:xfrm>
            <a:off x="1088578" y="2015050"/>
            <a:ext cx="1591238" cy="824302"/>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92" name="Oval 207"/>
            <p:cNvSpPr>
              <a:spLocks noChangeArrowheads="1"/>
            </p:cNvSpPr>
            <p:nvPr/>
          </p:nvSpPr>
          <p:spPr bwMode="auto">
            <a:xfrm>
              <a:off x="1751" y="799"/>
              <a:ext cx="1026" cy="628"/>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93" name="Oval 208"/>
            <p:cNvSpPr>
              <a:spLocks noChangeArrowheads="1"/>
            </p:cNvSpPr>
            <p:nvPr/>
          </p:nvSpPr>
          <p:spPr bwMode="auto">
            <a:xfrm>
              <a:off x="1172" y="972"/>
              <a:ext cx="781" cy="627"/>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94" name="Oval 209"/>
            <p:cNvSpPr>
              <a:spLocks noChangeArrowheads="1"/>
            </p:cNvSpPr>
            <p:nvPr/>
          </p:nvSpPr>
          <p:spPr bwMode="auto">
            <a:xfrm>
              <a:off x="926" y="1364"/>
              <a:ext cx="521" cy="502"/>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95" name="Oval 210"/>
            <p:cNvSpPr>
              <a:spLocks noChangeArrowheads="1"/>
            </p:cNvSpPr>
            <p:nvPr/>
          </p:nvSpPr>
          <p:spPr bwMode="auto">
            <a:xfrm>
              <a:off x="1085" y="1599"/>
              <a:ext cx="796" cy="549"/>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96" name="Oval 211"/>
            <p:cNvSpPr>
              <a:spLocks noChangeArrowheads="1"/>
            </p:cNvSpPr>
            <p:nvPr/>
          </p:nvSpPr>
          <p:spPr bwMode="auto">
            <a:xfrm>
              <a:off x="1664" y="1693"/>
              <a:ext cx="1200" cy="659"/>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97" name="Oval 212"/>
            <p:cNvSpPr>
              <a:spLocks noChangeArrowheads="1"/>
            </p:cNvSpPr>
            <p:nvPr/>
          </p:nvSpPr>
          <p:spPr bwMode="auto">
            <a:xfrm>
              <a:off x="2445" y="988"/>
              <a:ext cx="751" cy="486"/>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98" name="Oval 213"/>
            <p:cNvSpPr>
              <a:spLocks noChangeArrowheads="1"/>
            </p:cNvSpPr>
            <p:nvPr/>
          </p:nvSpPr>
          <p:spPr bwMode="auto">
            <a:xfrm>
              <a:off x="2560" y="1317"/>
              <a:ext cx="752" cy="486"/>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99" name="Oval 214"/>
            <p:cNvSpPr>
              <a:spLocks noChangeArrowheads="1"/>
            </p:cNvSpPr>
            <p:nvPr/>
          </p:nvSpPr>
          <p:spPr bwMode="auto">
            <a:xfrm>
              <a:off x="2488" y="1427"/>
              <a:ext cx="752" cy="815"/>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00" name="Oval 215"/>
            <p:cNvSpPr>
              <a:spLocks noChangeArrowheads="1"/>
            </p:cNvSpPr>
            <p:nvPr/>
          </p:nvSpPr>
          <p:spPr bwMode="auto">
            <a:xfrm>
              <a:off x="1360" y="1176"/>
              <a:ext cx="1547" cy="815"/>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201" name="Group 216"/>
            <p:cNvGrpSpPr>
              <a:grpSpLocks/>
            </p:cNvGrpSpPr>
            <p:nvPr/>
          </p:nvGrpSpPr>
          <p:grpSpPr bwMode="auto">
            <a:xfrm>
              <a:off x="912" y="768"/>
              <a:ext cx="2386" cy="1553"/>
              <a:chOff x="912" y="768"/>
              <a:chExt cx="2386" cy="1553"/>
            </a:xfrm>
            <a:grpFill/>
          </p:grpSpPr>
          <p:sp>
            <p:nvSpPr>
              <p:cNvPr id="202" name="Oval 217"/>
              <p:cNvSpPr>
                <a:spLocks noChangeArrowheads="1"/>
              </p:cNvSpPr>
              <p:nvPr/>
            </p:nvSpPr>
            <p:spPr bwMode="auto">
              <a:xfrm>
                <a:off x="1736" y="768"/>
                <a:ext cx="1027" cy="627"/>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03" name="Oval 218"/>
              <p:cNvSpPr>
                <a:spLocks noChangeArrowheads="1"/>
              </p:cNvSpPr>
              <p:nvPr/>
            </p:nvSpPr>
            <p:spPr bwMode="auto">
              <a:xfrm>
                <a:off x="1158" y="941"/>
                <a:ext cx="781" cy="627"/>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04" name="Oval 219"/>
              <p:cNvSpPr>
                <a:spLocks noChangeArrowheads="1"/>
              </p:cNvSpPr>
              <p:nvPr/>
            </p:nvSpPr>
            <p:spPr bwMode="auto">
              <a:xfrm>
                <a:off x="912" y="1333"/>
                <a:ext cx="520" cy="501"/>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05" name="Oval 220"/>
              <p:cNvSpPr>
                <a:spLocks noChangeArrowheads="1"/>
              </p:cNvSpPr>
              <p:nvPr/>
            </p:nvSpPr>
            <p:spPr bwMode="auto">
              <a:xfrm>
                <a:off x="1071" y="1568"/>
                <a:ext cx="795" cy="549"/>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06" name="Oval 221"/>
              <p:cNvSpPr>
                <a:spLocks noChangeArrowheads="1"/>
              </p:cNvSpPr>
              <p:nvPr/>
            </p:nvSpPr>
            <p:spPr bwMode="auto">
              <a:xfrm>
                <a:off x="1649" y="1662"/>
                <a:ext cx="1200" cy="659"/>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07" name="Oval 222"/>
              <p:cNvSpPr>
                <a:spLocks noChangeArrowheads="1"/>
              </p:cNvSpPr>
              <p:nvPr/>
            </p:nvSpPr>
            <p:spPr bwMode="auto">
              <a:xfrm>
                <a:off x="2430" y="956"/>
                <a:ext cx="752" cy="486"/>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08" name="Oval 223"/>
              <p:cNvSpPr>
                <a:spLocks noChangeArrowheads="1"/>
              </p:cNvSpPr>
              <p:nvPr/>
            </p:nvSpPr>
            <p:spPr bwMode="auto">
              <a:xfrm>
                <a:off x="2546" y="1286"/>
                <a:ext cx="752" cy="486"/>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09" name="Oval 224"/>
              <p:cNvSpPr>
                <a:spLocks noChangeArrowheads="1"/>
              </p:cNvSpPr>
              <p:nvPr/>
            </p:nvSpPr>
            <p:spPr bwMode="auto">
              <a:xfrm>
                <a:off x="2473" y="1395"/>
                <a:ext cx="752" cy="816"/>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10" name="Oval 225"/>
              <p:cNvSpPr>
                <a:spLocks noChangeArrowheads="1"/>
              </p:cNvSpPr>
              <p:nvPr/>
            </p:nvSpPr>
            <p:spPr bwMode="auto">
              <a:xfrm>
                <a:off x="1346" y="1144"/>
                <a:ext cx="1547" cy="816"/>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grpSp>
        <p:nvGrpSpPr>
          <p:cNvPr id="211" name="Group 206"/>
          <p:cNvGrpSpPr>
            <a:grpSpLocks/>
          </p:cNvGrpSpPr>
          <p:nvPr/>
        </p:nvGrpSpPr>
        <p:grpSpPr bwMode="auto">
          <a:xfrm>
            <a:off x="3370927" y="1540954"/>
            <a:ext cx="1868903" cy="824301"/>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12"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13"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14"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15"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16"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17"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18"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19"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20"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221" name="Group 216"/>
            <p:cNvGrpSpPr>
              <a:grpSpLocks/>
            </p:cNvGrpSpPr>
            <p:nvPr/>
          </p:nvGrpSpPr>
          <p:grpSpPr bwMode="auto">
            <a:xfrm>
              <a:off x="912" y="768"/>
              <a:ext cx="2386" cy="1553"/>
              <a:chOff x="912" y="768"/>
              <a:chExt cx="2386" cy="1553"/>
            </a:xfrm>
            <a:grpFill/>
          </p:grpSpPr>
          <p:sp>
            <p:nvSpPr>
              <p:cNvPr id="222"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23"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24"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25"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26"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27"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28"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29"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30"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grpSp>
        <p:nvGrpSpPr>
          <p:cNvPr id="231" name="Group 206"/>
          <p:cNvGrpSpPr>
            <a:grpSpLocks/>
          </p:cNvGrpSpPr>
          <p:nvPr/>
        </p:nvGrpSpPr>
        <p:grpSpPr bwMode="auto">
          <a:xfrm>
            <a:off x="5793636" y="2089387"/>
            <a:ext cx="1867377" cy="824301"/>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32"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33"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34"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35"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36"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37"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38"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39"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40"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241" name="Group 216"/>
            <p:cNvGrpSpPr>
              <a:grpSpLocks/>
            </p:cNvGrpSpPr>
            <p:nvPr/>
          </p:nvGrpSpPr>
          <p:grpSpPr bwMode="auto">
            <a:xfrm>
              <a:off x="912" y="768"/>
              <a:ext cx="2386" cy="1553"/>
              <a:chOff x="912" y="768"/>
              <a:chExt cx="2386" cy="1553"/>
            </a:xfrm>
            <a:grpFill/>
          </p:grpSpPr>
          <p:sp>
            <p:nvSpPr>
              <p:cNvPr id="242"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43"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44"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45"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46"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47"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48"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49"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50"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sp>
        <p:nvSpPr>
          <p:cNvPr id="251" name="Line 208"/>
          <p:cNvSpPr>
            <a:spLocks noChangeShapeType="1"/>
          </p:cNvSpPr>
          <p:nvPr/>
        </p:nvSpPr>
        <p:spPr bwMode="auto">
          <a:xfrm>
            <a:off x="6069776" y="2689028"/>
            <a:ext cx="622459" cy="15032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52" name="Line 152"/>
          <p:cNvSpPr>
            <a:spLocks noChangeShapeType="1"/>
          </p:cNvSpPr>
          <p:nvPr/>
        </p:nvSpPr>
        <p:spPr bwMode="auto">
          <a:xfrm flipH="1">
            <a:off x="6831067" y="2390033"/>
            <a:ext cx="691113" cy="44931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53" name="Line 154"/>
          <p:cNvSpPr>
            <a:spLocks noChangeShapeType="1"/>
          </p:cNvSpPr>
          <p:nvPr/>
        </p:nvSpPr>
        <p:spPr bwMode="auto">
          <a:xfrm flipV="1">
            <a:off x="2609636" y="1939063"/>
            <a:ext cx="831471" cy="599642"/>
          </a:xfrm>
          <a:prstGeom prst="line">
            <a:avLst/>
          </a:prstGeom>
          <a:noFill/>
          <a:ln w="28575">
            <a:solidFill>
              <a:srgbClr val="990099"/>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54" name="Line 155"/>
          <p:cNvSpPr>
            <a:spLocks noChangeShapeType="1"/>
          </p:cNvSpPr>
          <p:nvPr/>
        </p:nvSpPr>
        <p:spPr bwMode="auto">
          <a:xfrm>
            <a:off x="5238304" y="1939063"/>
            <a:ext cx="762817" cy="675630"/>
          </a:xfrm>
          <a:prstGeom prst="line">
            <a:avLst/>
          </a:prstGeom>
          <a:noFill/>
          <a:ln w="28575">
            <a:solidFill>
              <a:srgbClr val="990099"/>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55" name="Line 158"/>
          <p:cNvSpPr>
            <a:spLocks noChangeShapeType="1"/>
          </p:cNvSpPr>
          <p:nvPr/>
        </p:nvSpPr>
        <p:spPr bwMode="auto">
          <a:xfrm flipH="1">
            <a:off x="4409885" y="1915936"/>
            <a:ext cx="759766" cy="32377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56" name="Line 159"/>
          <p:cNvSpPr>
            <a:spLocks noChangeShapeType="1"/>
          </p:cNvSpPr>
          <p:nvPr/>
        </p:nvSpPr>
        <p:spPr bwMode="auto">
          <a:xfrm>
            <a:off x="4617372" y="1540954"/>
            <a:ext cx="483626" cy="30064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57" name="Line 163"/>
          <p:cNvSpPr>
            <a:spLocks noChangeShapeType="1"/>
          </p:cNvSpPr>
          <p:nvPr/>
        </p:nvSpPr>
        <p:spPr bwMode="auto">
          <a:xfrm>
            <a:off x="6762414" y="2165374"/>
            <a:ext cx="761291" cy="22465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58" name="Line 165"/>
          <p:cNvSpPr>
            <a:spLocks noChangeShapeType="1"/>
          </p:cNvSpPr>
          <p:nvPr/>
        </p:nvSpPr>
        <p:spPr bwMode="auto">
          <a:xfrm>
            <a:off x="1848344" y="2165374"/>
            <a:ext cx="750612" cy="39480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59" name="Line 169"/>
          <p:cNvSpPr>
            <a:spLocks noChangeShapeType="1"/>
          </p:cNvSpPr>
          <p:nvPr/>
        </p:nvSpPr>
        <p:spPr bwMode="auto">
          <a:xfrm flipV="1">
            <a:off x="1157232" y="2165374"/>
            <a:ext cx="692638" cy="29899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60" name="Line 170"/>
          <p:cNvSpPr>
            <a:spLocks noChangeShapeType="1"/>
          </p:cNvSpPr>
          <p:nvPr/>
        </p:nvSpPr>
        <p:spPr bwMode="auto">
          <a:xfrm>
            <a:off x="1225885" y="2538705"/>
            <a:ext cx="761292" cy="30064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61"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18398" y="2390033"/>
            <a:ext cx="285294" cy="1717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262" name="Text Box 173"/>
          <p:cNvSpPr txBox="1">
            <a:spLocks noChangeArrowheads="1"/>
          </p:cNvSpPr>
          <p:nvPr/>
        </p:nvSpPr>
        <p:spPr bwMode="auto">
          <a:xfrm>
            <a:off x="879566" y="1864727"/>
            <a:ext cx="525630" cy="352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AS</a:t>
            </a:r>
            <a:r>
              <a:rPr lang="en-US" altLang="zh-CN" sz="1600" b="1" baseline="-25000">
                <a:latin typeface="微软雅黑" panose="020B0503020204020204" pitchFamily="34" charset="-122"/>
                <a:ea typeface="微软雅黑" panose="020B0503020204020204" pitchFamily="34" charset="-122"/>
              </a:rPr>
              <a:t>1</a:t>
            </a:r>
          </a:p>
        </p:txBody>
      </p:sp>
      <p:sp>
        <p:nvSpPr>
          <p:cNvPr id="263" name="Text Box 174"/>
          <p:cNvSpPr txBox="1">
            <a:spLocks noChangeArrowheads="1"/>
          </p:cNvSpPr>
          <p:nvPr/>
        </p:nvSpPr>
        <p:spPr bwMode="auto">
          <a:xfrm>
            <a:off x="6069776" y="1864727"/>
            <a:ext cx="525630" cy="352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AS</a:t>
            </a:r>
            <a:r>
              <a:rPr lang="en-US" altLang="zh-CN" sz="1600" b="1" baseline="-25000">
                <a:latin typeface="微软雅黑" panose="020B0503020204020204" pitchFamily="34" charset="-122"/>
                <a:ea typeface="微软雅黑" panose="020B0503020204020204" pitchFamily="34" charset="-122"/>
              </a:rPr>
              <a:t>3</a:t>
            </a:r>
          </a:p>
        </p:txBody>
      </p:sp>
      <p:sp>
        <p:nvSpPr>
          <p:cNvPr id="264" name="Text Box 175"/>
          <p:cNvSpPr txBox="1">
            <a:spLocks noChangeArrowheads="1"/>
          </p:cNvSpPr>
          <p:nvPr/>
        </p:nvSpPr>
        <p:spPr bwMode="auto">
          <a:xfrm>
            <a:off x="3985759" y="1265085"/>
            <a:ext cx="525630" cy="352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AS</a:t>
            </a:r>
            <a:r>
              <a:rPr lang="en-US" altLang="zh-CN" sz="1600" b="1" baseline="-25000">
                <a:latin typeface="微软雅黑" panose="020B0503020204020204" pitchFamily="34" charset="-122"/>
                <a:ea typeface="微软雅黑" panose="020B0503020204020204" pitchFamily="34" charset="-122"/>
              </a:rPr>
              <a:t>2</a:t>
            </a:r>
          </a:p>
        </p:txBody>
      </p:sp>
      <p:pic>
        <p:nvPicPr>
          <p:cNvPr id="265"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11037" y="2089387"/>
            <a:ext cx="285294" cy="1717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266" name="Line 194"/>
          <p:cNvSpPr>
            <a:spLocks noChangeShapeType="1"/>
          </p:cNvSpPr>
          <p:nvPr/>
        </p:nvSpPr>
        <p:spPr bwMode="auto">
          <a:xfrm flipH="1">
            <a:off x="3496029" y="1540954"/>
            <a:ext cx="1121342" cy="3518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67"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53402" y="2763364"/>
            <a:ext cx="285294" cy="1717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68" name="Picture 4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384873" y="2314046"/>
            <a:ext cx="286819" cy="1717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69" name="Picture 4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53402" y="2089387"/>
            <a:ext cx="285294" cy="1717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70"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78538" y="1466618"/>
            <a:ext cx="285294" cy="170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271" name="Line 153"/>
          <p:cNvSpPr>
            <a:spLocks noChangeShapeType="1"/>
          </p:cNvSpPr>
          <p:nvPr/>
        </p:nvSpPr>
        <p:spPr bwMode="auto">
          <a:xfrm>
            <a:off x="3578414" y="1915936"/>
            <a:ext cx="692638" cy="32377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72"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200873" y="2165374"/>
            <a:ext cx="285294" cy="168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73"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49870" y="2741889"/>
            <a:ext cx="285293" cy="1717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317" name="组合 316"/>
          <p:cNvGrpSpPr/>
          <p:nvPr/>
        </p:nvGrpSpPr>
        <p:grpSpPr>
          <a:xfrm>
            <a:off x="7199673" y="2544678"/>
            <a:ext cx="485152" cy="374983"/>
            <a:chOff x="7142297" y="3911572"/>
            <a:chExt cx="485152" cy="374983"/>
          </a:xfrm>
        </p:grpSpPr>
        <p:sp>
          <p:nvSpPr>
            <p:cNvPr id="277" name="AutoShape 229"/>
            <p:cNvSpPr>
              <a:spLocks noChangeAspect="1" noChangeArrowheads="1" noTextEdit="1"/>
            </p:cNvSpPr>
            <p:nvPr/>
          </p:nvSpPr>
          <p:spPr bwMode="auto">
            <a:xfrm>
              <a:off x="7142297" y="3911572"/>
              <a:ext cx="485152" cy="374983"/>
            </a:xfrm>
            <a:prstGeom prst="rect">
              <a:avLst/>
            </a:prstGeom>
            <a:noFill/>
            <a:ln>
              <a:noFill/>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278" name="Oval 231"/>
            <p:cNvSpPr>
              <a:spLocks noChangeArrowheads="1"/>
            </p:cNvSpPr>
            <p:nvPr/>
          </p:nvSpPr>
          <p:spPr bwMode="auto">
            <a:xfrm>
              <a:off x="7308329" y="3916021"/>
              <a:ext cx="208807" cy="15126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79" name="Oval 232"/>
            <p:cNvSpPr>
              <a:spLocks noChangeArrowheads="1"/>
            </p:cNvSpPr>
            <p:nvPr/>
          </p:nvSpPr>
          <p:spPr bwMode="auto">
            <a:xfrm>
              <a:off x="7193514" y="3955426"/>
              <a:ext cx="159841" cy="151900"/>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80" name="Oval 233"/>
            <p:cNvSpPr>
              <a:spLocks noChangeArrowheads="1"/>
            </p:cNvSpPr>
            <p:nvPr/>
          </p:nvSpPr>
          <p:spPr bwMode="auto">
            <a:xfrm>
              <a:off x="7144548" y="4046947"/>
              <a:ext cx="108062" cy="123299"/>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81" name="Oval 234"/>
            <p:cNvSpPr>
              <a:spLocks noChangeArrowheads="1"/>
            </p:cNvSpPr>
            <p:nvPr/>
          </p:nvSpPr>
          <p:spPr bwMode="auto">
            <a:xfrm>
              <a:off x="7177192" y="4100970"/>
              <a:ext cx="162655" cy="13410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82" name="Oval 235"/>
            <p:cNvSpPr>
              <a:spLocks noChangeArrowheads="1"/>
            </p:cNvSpPr>
            <p:nvPr/>
          </p:nvSpPr>
          <p:spPr bwMode="auto">
            <a:xfrm>
              <a:off x="7292007" y="4123215"/>
              <a:ext cx="242576" cy="15889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83" name="Oval 236"/>
            <p:cNvSpPr>
              <a:spLocks noChangeArrowheads="1"/>
            </p:cNvSpPr>
            <p:nvPr/>
          </p:nvSpPr>
          <p:spPr bwMode="auto">
            <a:xfrm>
              <a:off x="7446221" y="3959875"/>
              <a:ext cx="155902" cy="11948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84" name="Oval 237"/>
            <p:cNvSpPr>
              <a:spLocks noChangeArrowheads="1"/>
            </p:cNvSpPr>
            <p:nvPr/>
          </p:nvSpPr>
          <p:spPr bwMode="auto">
            <a:xfrm>
              <a:off x="7469859" y="4036778"/>
              <a:ext cx="154213" cy="11885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85" name="Oval 238"/>
            <p:cNvSpPr>
              <a:spLocks noChangeArrowheads="1"/>
            </p:cNvSpPr>
            <p:nvPr/>
          </p:nvSpPr>
          <p:spPr bwMode="auto">
            <a:xfrm>
              <a:off x="7455788" y="4061565"/>
              <a:ext cx="15308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86" name="Oval 239"/>
            <p:cNvSpPr>
              <a:spLocks noChangeArrowheads="1"/>
            </p:cNvSpPr>
            <p:nvPr/>
          </p:nvSpPr>
          <p:spPr bwMode="auto">
            <a:xfrm>
              <a:off x="7231786" y="4002458"/>
              <a:ext cx="31067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287" name="Group 257"/>
            <p:cNvGrpSpPr>
              <a:grpSpLocks/>
            </p:cNvGrpSpPr>
            <p:nvPr/>
          </p:nvGrpSpPr>
          <p:grpSpPr bwMode="auto">
            <a:xfrm>
              <a:off x="7143423" y="3912843"/>
              <a:ext cx="481775" cy="369898"/>
              <a:chOff x="3063" y="302"/>
              <a:chExt cx="856" cy="582"/>
            </a:xfrm>
            <a:solidFill>
              <a:schemeClr val="bg1"/>
            </a:solidFill>
          </p:grpSpPr>
          <p:sp>
            <p:nvSpPr>
              <p:cNvPr id="288" name="Freeform 241"/>
              <p:cNvSpPr>
                <a:spLocks/>
              </p:cNvSpPr>
              <p:nvPr/>
            </p:nvSpPr>
            <p:spPr bwMode="auto">
              <a:xfrm>
                <a:off x="3364" y="302"/>
                <a:ext cx="353" cy="123"/>
              </a:xfrm>
              <a:custGeom>
                <a:avLst/>
                <a:gdLst>
                  <a:gd name="T0" fmla="*/ 2147483647 w 171"/>
                  <a:gd name="T1" fmla="*/ 2147483647 h 53"/>
                  <a:gd name="T2" fmla="*/ 1516289415 w 171"/>
                  <a:gd name="T3" fmla="*/ 247646291 h 53"/>
                  <a:gd name="T4" fmla="*/ 0 w 171"/>
                  <a:gd name="T5" fmla="*/ 2147483647 h 53"/>
                  <a:gd name="T6" fmla="*/ 1516289415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89" name="Arc 242"/>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290" name="Freeform 243"/>
              <p:cNvSpPr>
                <a:spLocks/>
              </p:cNvSpPr>
              <p:nvPr/>
            </p:nvSpPr>
            <p:spPr bwMode="auto">
              <a:xfrm>
                <a:off x="3150" y="367"/>
                <a:ext cx="220" cy="146"/>
              </a:xfrm>
              <a:custGeom>
                <a:avLst/>
                <a:gdLst>
                  <a:gd name="T0" fmla="*/ 1693384537 w 107"/>
                  <a:gd name="T1" fmla="*/ 1713152276 h 63"/>
                  <a:gd name="T2" fmla="*/ 1109914767 w 107"/>
                  <a:gd name="T3" fmla="*/ 0 h 63"/>
                  <a:gd name="T4" fmla="*/ 14279267 w 107"/>
                  <a:gd name="T5" fmla="*/ 2147483647 h 63"/>
                  <a:gd name="T6" fmla="*/ 29359234 w 107"/>
                  <a:gd name="T7" fmla="*/ 2147483647 h 63"/>
                  <a:gd name="T8" fmla="*/ 1109914767 w 107"/>
                  <a:gd name="T9" fmla="*/ 2147483647 h 63"/>
                  <a:gd name="T10" fmla="*/ 1693384537 w 107"/>
                  <a:gd name="T11" fmla="*/ 1713152276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91" name="Arc 244"/>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292" name="Freeform 245"/>
              <p:cNvSpPr>
                <a:spLocks/>
              </p:cNvSpPr>
              <p:nvPr/>
            </p:nvSpPr>
            <p:spPr bwMode="auto">
              <a:xfrm>
                <a:off x="3121" y="696"/>
                <a:ext cx="220" cy="115"/>
              </a:xfrm>
              <a:custGeom>
                <a:avLst/>
                <a:gdLst>
                  <a:gd name="T0" fmla="*/ 0 w 107"/>
                  <a:gd name="T1" fmla="*/ 0 h 50"/>
                  <a:gd name="T2" fmla="*/ 0 w 107"/>
                  <a:gd name="T3" fmla="*/ 476470799 h 50"/>
                  <a:gd name="T4" fmla="*/ 1139293797 w 107"/>
                  <a:gd name="T5" fmla="*/ 2147483647 h 50"/>
                  <a:gd name="T6" fmla="*/ 1693384537 w 107"/>
                  <a:gd name="T7" fmla="*/ 2147483647 h 50"/>
                  <a:gd name="T8" fmla="*/ 1139293797 w 107"/>
                  <a:gd name="T9" fmla="*/ 635978878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93" name="Arc 246"/>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294" name="Freeform 247"/>
              <p:cNvSpPr>
                <a:spLocks/>
              </p:cNvSpPr>
              <p:nvPr/>
            </p:nvSpPr>
            <p:spPr bwMode="auto">
              <a:xfrm>
                <a:off x="3713" y="372"/>
                <a:ext cx="167" cy="141"/>
              </a:xfrm>
              <a:custGeom>
                <a:avLst/>
                <a:gdLst>
                  <a:gd name="T0" fmla="*/ 1211487246 w 81"/>
                  <a:gd name="T1" fmla="*/ 2147483647 h 61"/>
                  <a:gd name="T2" fmla="*/ 1365605509 w 81"/>
                  <a:gd name="T3" fmla="*/ 2147483647 h 61"/>
                  <a:gd name="T4" fmla="*/ 239314720 w 81"/>
                  <a:gd name="T5" fmla="*/ 230421347 h 61"/>
                  <a:gd name="T6" fmla="*/ 0 w 81"/>
                  <a:gd name="T7" fmla="*/ 230421347 h 61"/>
                  <a:gd name="T8" fmla="*/ 239314720 w 81"/>
                  <a:gd name="T9" fmla="*/ 2147483647 h 61"/>
                  <a:gd name="T10" fmla="*/ 1211487246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95" name="Arc 248"/>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296" name="Freeform 249"/>
              <p:cNvSpPr>
                <a:spLocks/>
              </p:cNvSpPr>
              <p:nvPr/>
            </p:nvSpPr>
            <p:spPr bwMode="auto">
              <a:xfrm>
                <a:off x="3760" y="511"/>
                <a:ext cx="159" cy="138"/>
              </a:xfrm>
              <a:custGeom>
                <a:avLst/>
                <a:gdLst>
                  <a:gd name="T0" fmla="*/ 1082302279 w 77"/>
                  <a:gd name="T1" fmla="*/ 2147483647 h 60"/>
                  <a:gd name="T2" fmla="*/ 1344976453 w 77"/>
                  <a:gd name="T3" fmla="*/ 2147483647 h 60"/>
                  <a:gd name="T4" fmla="*/ 835832256 w 77"/>
                  <a:gd name="T5" fmla="*/ 0 h 60"/>
                  <a:gd name="T6" fmla="*/ 0 w 77"/>
                  <a:gd name="T7" fmla="*/ 2147483647 h 60"/>
                  <a:gd name="T8" fmla="*/ 1082302279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97" name="Arc 250"/>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298" name="Freeform 251"/>
              <p:cNvSpPr>
                <a:spLocks/>
              </p:cNvSpPr>
              <p:nvPr/>
            </p:nvSpPr>
            <p:spPr bwMode="auto">
              <a:xfrm>
                <a:off x="3706" y="647"/>
                <a:ext cx="188" cy="201"/>
              </a:xfrm>
              <a:custGeom>
                <a:avLst/>
                <a:gdLst>
                  <a:gd name="T0" fmla="*/ 0 w 91"/>
                  <a:gd name="T1" fmla="*/ 2147483647 h 87"/>
                  <a:gd name="T2" fmla="*/ 411749049 w 91"/>
                  <a:gd name="T3" fmla="*/ 2147483647 h 87"/>
                  <a:gd name="T4" fmla="*/ 1608817485 w 91"/>
                  <a:gd name="T5" fmla="*/ 2147483647 h 87"/>
                  <a:gd name="T6" fmla="*/ 1558612064 w 91"/>
                  <a:gd name="T7" fmla="*/ 0 h 87"/>
                  <a:gd name="T8" fmla="*/ 411749049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99" name="Arc 252"/>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300" name="Freeform 253"/>
              <p:cNvSpPr>
                <a:spLocks/>
              </p:cNvSpPr>
              <p:nvPr/>
            </p:nvSpPr>
            <p:spPr bwMode="auto">
              <a:xfrm>
                <a:off x="3063" y="511"/>
                <a:ext cx="103" cy="189"/>
              </a:xfrm>
              <a:custGeom>
                <a:avLst/>
                <a:gdLst>
                  <a:gd name="T0" fmla="*/ 780520248 w 50"/>
                  <a:gd name="T1" fmla="*/ 0 h 82"/>
                  <a:gd name="T2" fmla="*/ 14698957 w 50"/>
                  <a:gd name="T3" fmla="*/ 2147483647 h 82"/>
                  <a:gd name="T4" fmla="*/ 500253939 w 50"/>
                  <a:gd name="T5" fmla="*/ 2147483647 h 82"/>
                  <a:gd name="T6" fmla="*/ 827327125 w 50"/>
                  <a:gd name="T7" fmla="*/ 2147483647 h 82"/>
                  <a:gd name="T8" fmla="*/ 780520248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01" name="Arc 254"/>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302" name="Freeform 255"/>
              <p:cNvSpPr>
                <a:spLocks/>
              </p:cNvSpPr>
              <p:nvPr/>
            </p:nvSpPr>
            <p:spPr bwMode="auto">
              <a:xfrm>
                <a:off x="3333" y="770"/>
                <a:ext cx="380" cy="113"/>
              </a:xfrm>
              <a:custGeom>
                <a:avLst/>
                <a:gdLst>
                  <a:gd name="T0" fmla="*/ 0 w 184"/>
                  <a:gd name="T1" fmla="*/ 2147483647 h 49"/>
                  <a:gd name="T2" fmla="*/ 1757541845 w 184"/>
                  <a:gd name="T3" fmla="*/ 2147483647 h 49"/>
                  <a:gd name="T4" fmla="*/ 2147483647 w 184"/>
                  <a:gd name="T5" fmla="*/ 2147483647 h 49"/>
                  <a:gd name="T6" fmla="*/ 1757541845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03" name="Arc 256"/>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grpSp>
      </p:grpSp>
      <p:sp>
        <p:nvSpPr>
          <p:cNvPr id="276" name="Text Box 173"/>
          <p:cNvSpPr txBox="1">
            <a:spLocks noChangeArrowheads="1"/>
          </p:cNvSpPr>
          <p:nvPr/>
        </p:nvSpPr>
        <p:spPr bwMode="auto">
          <a:xfrm>
            <a:off x="7293022" y="2580347"/>
            <a:ext cx="316117" cy="352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X</a:t>
            </a:r>
          </a:p>
        </p:txBody>
      </p:sp>
      <p:sp>
        <p:nvSpPr>
          <p:cNvPr id="305" name="Text Box 42"/>
          <p:cNvSpPr txBox="1">
            <a:spLocks noChangeArrowheads="1"/>
          </p:cNvSpPr>
          <p:nvPr/>
        </p:nvSpPr>
        <p:spPr bwMode="auto">
          <a:xfrm>
            <a:off x="1364718" y="1265085"/>
            <a:ext cx="2623837" cy="352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BGP </a:t>
            </a:r>
            <a:r>
              <a:rPr lang="zh-CN" altLang="en-US" sz="1600" b="1" dirty="0">
                <a:latin typeface="微软雅黑" panose="020B0503020204020204" pitchFamily="34" charset="-122"/>
                <a:ea typeface="微软雅黑" panose="020B0503020204020204" pitchFamily="34" charset="-122"/>
              </a:rPr>
              <a:t>发言者（边界路由器）</a:t>
            </a:r>
          </a:p>
        </p:txBody>
      </p:sp>
      <p:sp>
        <p:nvSpPr>
          <p:cNvPr id="306" name="Text Box 42"/>
          <p:cNvSpPr txBox="1">
            <a:spLocks noChangeArrowheads="1"/>
          </p:cNvSpPr>
          <p:nvPr/>
        </p:nvSpPr>
        <p:spPr bwMode="auto">
          <a:xfrm>
            <a:off x="5308484" y="1265085"/>
            <a:ext cx="2623837" cy="352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BGP </a:t>
            </a:r>
            <a:r>
              <a:rPr lang="zh-CN" altLang="en-US" sz="1600" b="1">
                <a:latin typeface="微软雅黑" panose="020B0503020204020204" pitchFamily="34" charset="-122"/>
                <a:ea typeface="微软雅黑" panose="020B0503020204020204" pitchFamily="34" charset="-122"/>
              </a:rPr>
              <a:t>发言者（边界路由器）</a:t>
            </a:r>
          </a:p>
        </p:txBody>
      </p:sp>
      <p:cxnSp>
        <p:nvCxnSpPr>
          <p:cNvPr id="307" name="直接箭头连接符 331"/>
          <p:cNvCxnSpPr>
            <a:cxnSpLocks noChangeShapeType="1"/>
          </p:cNvCxnSpPr>
          <p:nvPr/>
        </p:nvCxnSpPr>
        <p:spPr bwMode="auto">
          <a:xfrm>
            <a:off x="2739314" y="1565732"/>
            <a:ext cx="562960" cy="336989"/>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308" name="直接箭头连接符 331"/>
          <p:cNvCxnSpPr>
            <a:cxnSpLocks noChangeShapeType="1"/>
          </p:cNvCxnSpPr>
          <p:nvPr/>
        </p:nvCxnSpPr>
        <p:spPr bwMode="auto">
          <a:xfrm>
            <a:off x="2609636" y="1565732"/>
            <a:ext cx="24410" cy="898637"/>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309" name="直接箭头连接符 331"/>
          <p:cNvCxnSpPr>
            <a:cxnSpLocks noChangeShapeType="1"/>
          </p:cNvCxnSpPr>
          <p:nvPr/>
        </p:nvCxnSpPr>
        <p:spPr bwMode="auto">
          <a:xfrm flipH="1">
            <a:off x="5320689" y="1582251"/>
            <a:ext cx="512613" cy="264305"/>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310" name="直接箭头连接符 331"/>
          <p:cNvCxnSpPr>
            <a:cxnSpLocks noChangeShapeType="1"/>
          </p:cNvCxnSpPr>
          <p:nvPr/>
        </p:nvCxnSpPr>
        <p:spPr bwMode="auto">
          <a:xfrm>
            <a:off x="5930943" y="1565732"/>
            <a:ext cx="120526" cy="97297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pic>
        <p:nvPicPr>
          <p:cNvPr id="311"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72329" y="2464369"/>
            <a:ext cx="285293" cy="1717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2"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20582" y="1825082"/>
            <a:ext cx="285293" cy="168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3"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036921" y="1800303"/>
            <a:ext cx="285294" cy="168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4"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65341" y="2565136"/>
            <a:ext cx="285293" cy="168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15" name="Text Box 42"/>
          <p:cNvSpPr txBox="1">
            <a:spLocks noChangeArrowheads="1"/>
          </p:cNvSpPr>
          <p:nvPr/>
        </p:nvSpPr>
        <p:spPr bwMode="auto">
          <a:xfrm>
            <a:off x="7851718" y="2712155"/>
            <a:ext cx="571846" cy="352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前缀</a:t>
            </a:r>
          </a:p>
        </p:txBody>
      </p:sp>
      <p:cxnSp>
        <p:nvCxnSpPr>
          <p:cNvPr id="316" name="直接箭头连接符 331"/>
          <p:cNvCxnSpPr>
            <a:cxnSpLocks noChangeShapeType="1"/>
          </p:cNvCxnSpPr>
          <p:nvPr/>
        </p:nvCxnSpPr>
        <p:spPr bwMode="auto">
          <a:xfrm flipH="1" flipV="1">
            <a:off x="7526757" y="2746845"/>
            <a:ext cx="373781" cy="94158"/>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Tree>
    <p:extLst>
      <p:ext uri="{BB962C8B-B14F-4D97-AF65-F5344CB8AC3E}">
        <p14:creationId xmlns:p14="http://schemas.microsoft.com/office/powerpoint/2010/main" val="22699542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5" y="622831"/>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err="1">
                <a:solidFill>
                  <a:schemeClr val="bg1"/>
                </a:solidFill>
                <a:latin typeface="微软雅黑" pitchFamily="34" charset="-122"/>
                <a:ea typeface="微软雅黑" pitchFamily="34" charset="-122"/>
              </a:rPr>
              <a:t>eBGP</a:t>
            </a:r>
            <a:r>
              <a:rPr lang="en-US" altLang="zh-CN" sz="2000" b="1" dirty="0">
                <a:solidFill>
                  <a:schemeClr val="bg1"/>
                </a:solidFill>
                <a:latin typeface="微软雅黑" pitchFamily="34" charset="-122"/>
                <a:ea typeface="微软雅黑" pitchFamily="34" charset="-122"/>
              </a:rPr>
              <a:t> </a:t>
            </a:r>
            <a:r>
              <a:rPr lang="zh-CN" altLang="en-US" sz="2000" b="1" dirty="0">
                <a:solidFill>
                  <a:schemeClr val="bg1"/>
                </a:solidFill>
                <a:latin typeface="微软雅黑" pitchFamily="34" charset="-122"/>
                <a:ea typeface="微软雅黑" pitchFamily="34" charset="-122"/>
              </a:rPr>
              <a:t>连接和 </a:t>
            </a:r>
            <a:r>
              <a:rPr lang="en-US" altLang="zh-CN" sz="2000" b="1" dirty="0" err="1">
                <a:solidFill>
                  <a:schemeClr val="bg1"/>
                </a:solidFill>
                <a:latin typeface="微软雅黑" pitchFamily="34" charset="-122"/>
                <a:ea typeface="微软雅黑" pitchFamily="34" charset="-122"/>
              </a:rPr>
              <a:t>iBGP</a:t>
            </a:r>
            <a:r>
              <a:rPr lang="en-US" altLang="zh-CN" sz="2000" b="1" dirty="0">
                <a:solidFill>
                  <a:schemeClr val="bg1"/>
                </a:solidFill>
                <a:latin typeface="微软雅黑" pitchFamily="34" charset="-122"/>
                <a:ea typeface="微软雅黑" pitchFamily="34" charset="-122"/>
              </a:rPr>
              <a:t> </a:t>
            </a:r>
            <a:r>
              <a:rPr lang="zh-CN" altLang="en-US" sz="2000" b="1" dirty="0">
                <a:solidFill>
                  <a:schemeClr val="bg1"/>
                </a:solidFill>
                <a:latin typeface="微软雅黑" pitchFamily="34" charset="-122"/>
                <a:ea typeface="微软雅黑" pitchFamily="34" charset="-122"/>
              </a:rPr>
              <a:t>连接</a:t>
            </a:r>
          </a:p>
        </p:txBody>
      </p:sp>
      <p:sp>
        <p:nvSpPr>
          <p:cNvPr id="4" name="圆角矩形 3"/>
          <p:cNvSpPr/>
          <p:nvPr/>
        </p:nvSpPr>
        <p:spPr>
          <a:xfrm>
            <a:off x="545145" y="1052858"/>
            <a:ext cx="8053712" cy="208750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65" name="Text Box 173"/>
          <p:cNvSpPr txBox="1">
            <a:spLocks noChangeArrowheads="1"/>
          </p:cNvSpPr>
          <p:nvPr/>
        </p:nvSpPr>
        <p:spPr bwMode="auto">
          <a:xfrm>
            <a:off x="664160" y="3122318"/>
            <a:ext cx="7887848" cy="1554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ts val="1900"/>
              </a:lnSpc>
            </a:pPr>
            <a:r>
              <a:rPr lang="zh-CN" altLang="en-US" sz="1400" b="1" dirty="0">
                <a:latin typeface="微软雅黑" panose="020B0503020204020204" pitchFamily="34" charset="-122"/>
                <a:ea typeface="微软雅黑" panose="020B0503020204020204" pitchFamily="34" charset="-122"/>
              </a:rPr>
              <a:t>在 </a:t>
            </a:r>
            <a:r>
              <a:rPr lang="en-US" altLang="zh-CN" sz="1400" b="1" dirty="0">
                <a:latin typeface="微软雅黑" panose="020B0503020204020204" pitchFamily="34" charset="-122"/>
                <a:ea typeface="微软雅黑" panose="020B0503020204020204" pitchFamily="34" charset="-122"/>
              </a:rPr>
              <a:t>AS </a:t>
            </a:r>
            <a:r>
              <a:rPr lang="zh-CN" altLang="en-US" sz="1400" b="1" dirty="0">
                <a:latin typeface="微软雅黑" panose="020B0503020204020204" pitchFamily="34" charset="-122"/>
                <a:ea typeface="微软雅黑" panose="020B0503020204020204" pitchFamily="34" charset="-122"/>
              </a:rPr>
              <a:t>之间， </a:t>
            </a:r>
            <a:r>
              <a:rPr lang="en-US" altLang="zh-CN" sz="1400" b="1" dirty="0">
                <a:latin typeface="微软雅黑" panose="020B0503020204020204" pitchFamily="34" charset="-122"/>
                <a:ea typeface="微软雅黑" panose="020B0503020204020204" pitchFamily="34" charset="-122"/>
              </a:rPr>
              <a:t>BGP </a:t>
            </a:r>
            <a:r>
              <a:rPr lang="zh-CN" altLang="en-US" sz="1400" b="1" dirty="0">
                <a:latin typeface="微软雅黑" panose="020B0503020204020204" pitchFamily="34" charset="-122"/>
                <a:ea typeface="微软雅黑" panose="020B0503020204020204" pitchFamily="34" charset="-122"/>
              </a:rPr>
              <a:t>发言者在半永久性 </a:t>
            </a:r>
            <a:r>
              <a:rPr lang="en-US" altLang="zh-CN" sz="1400" b="1" dirty="0">
                <a:solidFill>
                  <a:srgbClr val="0000FF"/>
                </a:solidFill>
                <a:latin typeface="微软雅黑" panose="020B0503020204020204" pitchFamily="34" charset="-122"/>
                <a:ea typeface="微软雅黑" panose="020B0503020204020204" pitchFamily="34" charset="-122"/>
              </a:rPr>
              <a:t>TCP </a:t>
            </a:r>
            <a:r>
              <a:rPr lang="zh-CN" altLang="en-US" sz="1400" b="1" dirty="0">
                <a:solidFill>
                  <a:srgbClr val="0000FF"/>
                </a:solidFill>
                <a:latin typeface="微软雅黑" panose="020B0503020204020204" pitchFamily="34" charset="-122"/>
                <a:ea typeface="微软雅黑" panose="020B0503020204020204" pitchFamily="34" charset="-122"/>
              </a:rPr>
              <a:t>连接</a:t>
            </a:r>
            <a:r>
              <a:rPr lang="zh-CN" altLang="en-US" sz="1400" b="1" dirty="0">
                <a:latin typeface="微软雅黑" panose="020B0503020204020204" pitchFamily="34" charset="-122"/>
                <a:ea typeface="微软雅黑" panose="020B0503020204020204" pitchFamily="34" charset="-122"/>
              </a:rPr>
              <a:t>（端口号为</a:t>
            </a:r>
            <a:r>
              <a:rPr lang="en-US" altLang="zh-CN" sz="1400" b="1" dirty="0">
                <a:latin typeface="微软雅黑" panose="020B0503020204020204" pitchFamily="34" charset="-122"/>
                <a:ea typeface="微软雅黑" panose="020B0503020204020204" pitchFamily="34" charset="-122"/>
              </a:rPr>
              <a:t>179</a:t>
            </a:r>
            <a:r>
              <a:rPr lang="zh-CN" altLang="en-US" sz="1400" b="1" dirty="0">
                <a:latin typeface="微软雅黑" panose="020B0503020204020204" pitchFamily="34" charset="-122"/>
                <a:ea typeface="微软雅黑" panose="020B0503020204020204" pitchFamily="34" charset="-122"/>
              </a:rPr>
              <a:t>）上建立 </a:t>
            </a:r>
            <a:r>
              <a:rPr lang="en-US" altLang="zh-CN" sz="1400" b="1" dirty="0">
                <a:latin typeface="微软雅黑" panose="020B0503020204020204" pitchFamily="34" charset="-122"/>
                <a:ea typeface="微软雅黑" panose="020B0503020204020204" pitchFamily="34" charset="-122"/>
              </a:rPr>
              <a:t>BGP </a:t>
            </a:r>
            <a:r>
              <a:rPr lang="zh-CN" altLang="en-US" sz="1400" b="1" dirty="0">
                <a:latin typeface="微软雅黑" panose="020B0503020204020204" pitchFamily="34" charset="-122"/>
                <a:ea typeface="微软雅黑" panose="020B0503020204020204" pitchFamily="34" charset="-122"/>
              </a:rPr>
              <a:t>会话</a:t>
            </a:r>
            <a:r>
              <a:rPr lang="en-US" altLang="zh-CN" sz="1400" b="1" dirty="0">
                <a:latin typeface="微软雅黑" panose="020B0503020204020204" pitchFamily="34" charset="-122"/>
                <a:ea typeface="微软雅黑" panose="020B0503020204020204" pitchFamily="34" charset="-122"/>
              </a:rPr>
              <a:t>(session)</a:t>
            </a:r>
            <a:r>
              <a:rPr lang="zh-CN" altLang="en-US" sz="1400" b="1" dirty="0">
                <a:latin typeface="微软雅黑" panose="020B0503020204020204" pitchFamily="34" charset="-122"/>
                <a:ea typeface="微软雅黑" panose="020B0503020204020204" pitchFamily="34" charset="-122"/>
              </a:rPr>
              <a:t>。这种连接又称为 </a:t>
            </a:r>
            <a:r>
              <a:rPr lang="en-US" altLang="zh-CN" sz="1400" b="1" dirty="0" err="1">
                <a:latin typeface="微软雅黑" panose="020B0503020204020204" pitchFamily="34" charset="-122"/>
                <a:ea typeface="微软雅黑" panose="020B0503020204020204" pitchFamily="34" charset="-122"/>
              </a:rPr>
              <a:t>eBGP</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连接。</a:t>
            </a:r>
            <a:endParaRPr lang="en-US" altLang="zh-CN" sz="1400" b="1" dirty="0">
              <a:latin typeface="微软雅黑" panose="020B0503020204020204" pitchFamily="34" charset="-122"/>
              <a:ea typeface="微软雅黑" panose="020B0503020204020204" pitchFamily="34" charset="-122"/>
            </a:endParaRPr>
          </a:p>
          <a:p>
            <a:pPr eaLnBrk="1" hangingPunct="1">
              <a:lnSpc>
                <a:spcPts val="1900"/>
              </a:lnSpc>
            </a:pPr>
            <a:r>
              <a:rPr lang="zh-CN" altLang="en-US" sz="1400" b="1" dirty="0">
                <a:latin typeface="微软雅黑" panose="020B0503020204020204" pitchFamily="34" charset="-122"/>
                <a:ea typeface="微软雅黑" panose="020B0503020204020204" pitchFamily="34" charset="-122"/>
              </a:rPr>
              <a:t>在 </a:t>
            </a:r>
            <a:r>
              <a:rPr lang="en-US" altLang="zh-CN" sz="1400" b="1" dirty="0">
                <a:latin typeface="微软雅黑" panose="020B0503020204020204" pitchFamily="34" charset="-122"/>
                <a:ea typeface="微软雅黑" panose="020B0503020204020204" pitchFamily="34" charset="-122"/>
              </a:rPr>
              <a:t>AS </a:t>
            </a:r>
            <a:r>
              <a:rPr lang="zh-CN" altLang="en-US" sz="1400" b="1" dirty="0">
                <a:latin typeface="微软雅黑" panose="020B0503020204020204" pitchFamily="34" charset="-122"/>
                <a:ea typeface="微软雅黑" panose="020B0503020204020204" pitchFamily="34" charset="-122"/>
              </a:rPr>
              <a:t>内部，任何相互通信的两个路由器之间必须有一个逻辑连接（也使用 </a:t>
            </a:r>
            <a:r>
              <a:rPr lang="en-US" altLang="zh-CN" sz="1400" b="1" dirty="0">
                <a:solidFill>
                  <a:srgbClr val="0000FF"/>
                </a:solidFill>
                <a:latin typeface="微软雅黑" panose="020B0503020204020204" pitchFamily="34" charset="-122"/>
                <a:ea typeface="微软雅黑" panose="020B0503020204020204" pitchFamily="34" charset="-122"/>
              </a:rPr>
              <a:t>TCP </a:t>
            </a:r>
            <a:r>
              <a:rPr lang="zh-CN" altLang="en-US" sz="1400" b="1" dirty="0">
                <a:solidFill>
                  <a:srgbClr val="0000FF"/>
                </a:solidFill>
                <a:latin typeface="微软雅黑" panose="020B0503020204020204" pitchFamily="34" charset="-122"/>
                <a:ea typeface="微软雅黑" panose="020B0503020204020204" pitchFamily="34" charset="-122"/>
              </a:rPr>
              <a:t>连接</a:t>
            </a:r>
            <a:r>
              <a:rPr lang="zh-CN" altLang="en-US" sz="1400" b="1" dirty="0">
                <a:latin typeface="微软雅黑" panose="020B0503020204020204" pitchFamily="34" charset="-122"/>
                <a:ea typeface="微软雅黑" panose="020B0503020204020204" pitchFamily="34" charset="-122"/>
              </a:rPr>
              <a:t>）。</a:t>
            </a:r>
            <a:r>
              <a:rPr lang="en-US" altLang="zh-CN" sz="1400" b="1" dirty="0">
                <a:latin typeface="微软雅黑" panose="020B0503020204020204" pitchFamily="34" charset="-122"/>
                <a:ea typeface="微软雅黑" panose="020B0503020204020204" pitchFamily="34" charset="-122"/>
              </a:rPr>
              <a:t>AS </a:t>
            </a:r>
            <a:r>
              <a:rPr lang="zh-CN" altLang="en-US" sz="1400" b="1" dirty="0">
                <a:latin typeface="微软雅黑" panose="020B0503020204020204" pitchFamily="34" charset="-122"/>
                <a:ea typeface="微软雅黑" panose="020B0503020204020204" pitchFamily="34" charset="-122"/>
              </a:rPr>
              <a:t>内部所有的路由器之间的通信是</a:t>
            </a:r>
            <a:r>
              <a:rPr lang="zh-CN" altLang="en-US" sz="1400" b="1" dirty="0">
                <a:solidFill>
                  <a:srgbClr val="0000FF"/>
                </a:solidFill>
                <a:latin typeface="微软雅黑" panose="020B0503020204020204" pitchFamily="34" charset="-122"/>
                <a:ea typeface="微软雅黑" panose="020B0503020204020204" pitchFamily="34" charset="-122"/>
              </a:rPr>
              <a:t>全连通</a:t>
            </a:r>
            <a:r>
              <a:rPr lang="zh-CN" altLang="en-US" sz="1400" b="1" dirty="0">
                <a:latin typeface="微软雅黑" panose="020B0503020204020204" pitchFamily="34" charset="-122"/>
                <a:ea typeface="微软雅黑" panose="020B0503020204020204" pitchFamily="34" charset="-122"/>
              </a:rPr>
              <a:t>的。这种连接常称为 </a:t>
            </a:r>
            <a:r>
              <a:rPr lang="en-US" altLang="zh-CN" sz="1400" b="1" dirty="0" err="1">
                <a:latin typeface="微软雅黑" panose="020B0503020204020204" pitchFamily="34" charset="-122"/>
                <a:ea typeface="微软雅黑" panose="020B0503020204020204" pitchFamily="34" charset="-122"/>
              </a:rPr>
              <a:t>iBGP</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连接。</a:t>
            </a:r>
            <a:endParaRPr lang="en-US" altLang="zh-CN" sz="1400" b="1" dirty="0">
              <a:latin typeface="微软雅黑" panose="020B0503020204020204" pitchFamily="34" charset="-122"/>
              <a:ea typeface="微软雅黑" panose="020B0503020204020204" pitchFamily="34" charset="-122"/>
            </a:endParaRPr>
          </a:p>
          <a:p>
            <a:pPr eaLnBrk="1" hangingPunct="1">
              <a:lnSpc>
                <a:spcPts val="1900"/>
              </a:lnSpc>
            </a:pPr>
            <a:r>
              <a:rPr lang="en-US" altLang="zh-CN" sz="1400" b="1" dirty="0" err="1">
                <a:solidFill>
                  <a:srgbClr val="C00000"/>
                </a:solidFill>
                <a:latin typeface="微软雅黑" panose="020B0503020204020204" pitchFamily="34" charset="-122"/>
                <a:ea typeface="微软雅黑" panose="020B0503020204020204" pitchFamily="34" charset="-122"/>
              </a:rPr>
              <a:t>eBGP</a:t>
            </a:r>
            <a:r>
              <a:rPr lang="en-US" altLang="zh-CN" sz="1400" b="1" dirty="0">
                <a:solidFill>
                  <a:srgbClr val="C00000"/>
                </a:solidFill>
                <a:latin typeface="微软雅黑" panose="020B0503020204020204" pitchFamily="34" charset="-122"/>
                <a:ea typeface="微软雅黑" panose="020B0503020204020204" pitchFamily="34" charset="-122"/>
              </a:rPr>
              <a:t> (external BGP) </a:t>
            </a:r>
            <a:r>
              <a:rPr lang="zh-CN" altLang="en-US" sz="1400" b="1" dirty="0">
                <a:solidFill>
                  <a:srgbClr val="C00000"/>
                </a:solidFill>
                <a:latin typeface="微软雅黑" panose="020B0503020204020204" pitchFamily="34" charset="-122"/>
                <a:ea typeface="微软雅黑" panose="020B0503020204020204" pitchFamily="34" charset="-122"/>
              </a:rPr>
              <a:t>连接：</a:t>
            </a:r>
            <a:r>
              <a:rPr lang="zh-CN" altLang="en-US" sz="1400" b="1" dirty="0">
                <a:latin typeface="微软雅黑" panose="020B0503020204020204" pitchFamily="34" charset="-122"/>
                <a:ea typeface="微软雅黑" panose="020B0503020204020204" pitchFamily="34" charset="-122"/>
              </a:rPr>
              <a:t>运行 </a:t>
            </a:r>
            <a:r>
              <a:rPr lang="en-US" altLang="zh-CN" sz="1400" b="1" dirty="0" err="1">
                <a:latin typeface="微软雅黑" panose="020B0503020204020204" pitchFamily="34" charset="-122"/>
                <a:ea typeface="微软雅黑" panose="020B0503020204020204" pitchFamily="34" charset="-122"/>
              </a:rPr>
              <a:t>eBGP</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协议，在不同 </a:t>
            </a:r>
            <a:r>
              <a:rPr lang="en-US" altLang="zh-CN" sz="1400" b="1" dirty="0">
                <a:latin typeface="微软雅黑" panose="020B0503020204020204" pitchFamily="34" charset="-122"/>
                <a:ea typeface="微软雅黑" panose="020B0503020204020204" pitchFamily="34" charset="-122"/>
              </a:rPr>
              <a:t>AS </a:t>
            </a:r>
            <a:r>
              <a:rPr lang="zh-CN" altLang="en-US" sz="1400" b="1" dirty="0">
                <a:latin typeface="微软雅黑" panose="020B0503020204020204" pitchFamily="34" charset="-122"/>
                <a:ea typeface="微软雅黑" panose="020B0503020204020204" pitchFamily="34" charset="-122"/>
              </a:rPr>
              <a:t>之间交换路由信息。</a:t>
            </a:r>
            <a:endParaRPr lang="en-US" altLang="zh-CN" sz="1400" b="1" dirty="0">
              <a:latin typeface="微软雅黑" panose="020B0503020204020204" pitchFamily="34" charset="-122"/>
              <a:ea typeface="微软雅黑" panose="020B0503020204020204" pitchFamily="34" charset="-122"/>
            </a:endParaRPr>
          </a:p>
          <a:p>
            <a:pPr eaLnBrk="1" hangingPunct="1">
              <a:lnSpc>
                <a:spcPts val="1900"/>
              </a:lnSpc>
            </a:pPr>
            <a:r>
              <a:rPr lang="en-US" altLang="zh-CN" sz="1400" b="1" dirty="0" err="1">
                <a:solidFill>
                  <a:srgbClr val="C00000"/>
                </a:solidFill>
                <a:latin typeface="微软雅黑" panose="020B0503020204020204" pitchFamily="34" charset="-122"/>
                <a:ea typeface="微软雅黑" panose="020B0503020204020204" pitchFamily="34" charset="-122"/>
              </a:rPr>
              <a:t>iBGP</a:t>
            </a:r>
            <a:r>
              <a:rPr lang="en-US" altLang="zh-CN" sz="1400" b="1" dirty="0">
                <a:solidFill>
                  <a:srgbClr val="C00000"/>
                </a:solidFill>
                <a:latin typeface="微软雅黑" panose="020B0503020204020204" pitchFamily="34" charset="-122"/>
                <a:ea typeface="微软雅黑" panose="020B0503020204020204" pitchFamily="34" charset="-122"/>
              </a:rPr>
              <a:t> (internal BGP) </a:t>
            </a:r>
            <a:r>
              <a:rPr lang="zh-CN" altLang="en-US" sz="1400" b="1" dirty="0">
                <a:solidFill>
                  <a:srgbClr val="C00000"/>
                </a:solidFill>
                <a:latin typeface="微软雅黑" panose="020B0503020204020204" pitchFamily="34" charset="-122"/>
                <a:ea typeface="微软雅黑" panose="020B0503020204020204" pitchFamily="34" charset="-122"/>
              </a:rPr>
              <a:t>连接：</a:t>
            </a:r>
            <a:r>
              <a:rPr lang="zh-CN" altLang="en-US" sz="1400" b="1" dirty="0">
                <a:latin typeface="微软雅黑" panose="020B0503020204020204" pitchFamily="34" charset="-122"/>
                <a:ea typeface="微软雅黑" panose="020B0503020204020204" pitchFamily="34" charset="-122"/>
              </a:rPr>
              <a:t>运行 </a:t>
            </a:r>
            <a:r>
              <a:rPr lang="en-US" altLang="zh-CN" sz="1400" b="1" dirty="0" err="1">
                <a:latin typeface="微软雅黑" panose="020B0503020204020204" pitchFamily="34" charset="-122"/>
                <a:ea typeface="微软雅黑" panose="020B0503020204020204" pitchFamily="34" charset="-122"/>
              </a:rPr>
              <a:t>iBGP</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协议， 在 </a:t>
            </a:r>
            <a:r>
              <a:rPr lang="en-US" altLang="zh-CN" sz="1400" b="1" dirty="0">
                <a:latin typeface="微软雅黑" panose="020B0503020204020204" pitchFamily="34" charset="-122"/>
                <a:ea typeface="微软雅黑" panose="020B0503020204020204" pitchFamily="34" charset="-122"/>
              </a:rPr>
              <a:t>AS </a:t>
            </a:r>
            <a:r>
              <a:rPr lang="zh-CN" altLang="en-US" sz="1400" b="1" dirty="0">
                <a:latin typeface="微软雅黑" panose="020B0503020204020204" pitchFamily="34" charset="-122"/>
                <a:ea typeface="微软雅黑" panose="020B0503020204020204" pitchFamily="34" charset="-122"/>
              </a:rPr>
              <a:t>内部的路由器之间交换 </a:t>
            </a:r>
            <a:r>
              <a:rPr lang="en-US" altLang="zh-CN" sz="1400" b="1" dirty="0">
                <a:latin typeface="微软雅黑" panose="020B0503020204020204" pitchFamily="34" charset="-122"/>
                <a:ea typeface="微软雅黑" panose="020B0503020204020204" pitchFamily="34" charset="-122"/>
              </a:rPr>
              <a:t>BGP </a:t>
            </a:r>
            <a:r>
              <a:rPr lang="zh-CN" altLang="en-US" sz="1400" b="1" dirty="0">
                <a:latin typeface="微软雅黑" panose="020B0503020204020204" pitchFamily="34" charset="-122"/>
                <a:ea typeface="微软雅黑" panose="020B0503020204020204" pitchFamily="34" charset="-122"/>
              </a:rPr>
              <a:t>路由信息。</a:t>
            </a:r>
            <a:endParaRPr lang="en-US" altLang="zh-CN" sz="1400" b="1" baseline="-25000" dirty="0">
              <a:latin typeface="微软雅黑" panose="020B0503020204020204" pitchFamily="34" charset="-122"/>
              <a:ea typeface="微软雅黑" panose="020B0503020204020204" pitchFamily="34" charset="-122"/>
            </a:endParaRPr>
          </a:p>
        </p:txBody>
      </p:sp>
      <p:grpSp>
        <p:nvGrpSpPr>
          <p:cNvPr id="130" name="Group 206"/>
          <p:cNvGrpSpPr>
            <a:grpSpLocks/>
          </p:cNvGrpSpPr>
          <p:nvPr/>
        </p:nvGrpSpPr>
        <p:grpSpPr bwMode="auto">
          <a:xfrm>
            <a:off x="1097412" y="1998220"/>
            <a:ext cx="1597041" cy="832398"/>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31"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2"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3"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4"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5"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6"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7"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8"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9"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140" name="Group 216"/>
            <p:cNvGrpSpPr>
              <a:grpSpLocks/>
            </p:cNvGrpSpPr>
            <p:nvPr/>
          </p:nvGrpSpPr>
          <p:grpSpPr bwMode="auto">
            <a:xfrm>
              <a:off x="912" y="768"/>
              <a:ext cx="2386" cy="1553"/>
              <a:chOff x="912" y="768"/>
              <a:chExt cx="2386" cy="1553"/>
            </a:xfrm>
            <a:grpFill/>
          </p:grpSpPr>
          <p:sp>
            <p:nvSpPr>
              <p:cNvPr id="141"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42"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43"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44"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45"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46"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47"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48"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49"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grpSp>
        <p:nvGrpSpPr>
          <p:cNvPr id="150" name="Group 206"/>
          <p:cNvGrpSpPr>
            <a:grpSpLocks/>
          </p:cNvGrpSpPr>
          <p:nvPr/>
        </p:nvGrpSpPr>
        <p:grpSpPr bwMode="auto">
          <a:xfrm>
            <a:off x="3388085" y="1519466"/>
            <a:ext cx="1875719" cy="832399"/>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51"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52"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53"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54"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55"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56"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57"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58"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59"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160" name="Group 216"/>
            <p:cNvGrpSpPr>
              <a:grpSpLocks/>
            </p:cNvGrpSpPr>
            <p:nvPr/>
          </p:nvGrpSpPr>
          <p:grpSpPr bwMode="auto">
            <a:xfrm>
              <a:off x="912" y="768"/>
              <a:ext cx="2386" cy="1553"/>
              <a:chOff x="912" y="768"/>
              <a:chExt cx="2386" cy="1553"/>
            </a:xfrm>
            <a:grpFill/>
          </p:grpSpPr>
          <p:sp>
            <p:nvSpPr>
              <p:cNvPr id="161"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62"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63"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64"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65"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66"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67"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68"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69"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grpSp>
        <p:nvGrpSpPr>
          <p:cNvPr id="170" name="Group 206"/>
          <p:cNvGrpSpPr>
            <a:grpSpLocks/>
          </p:cNvGrpSpPr>
          <p:nvPr/>
        </p:nvGrpSpPr>
        <p:grpSpPr bwMode="auto">
          <a:xfrm>
            <a:off x="5819629" y="2073286"/>
            <a:ext cx="1874187" cy="832399"/>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71"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72"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73"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74"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75"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76"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77"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78"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79"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180" name="Group 216"/>
            <p:cNvGrpSpPr>
              <a:grpSpLocks/>
            </p:cNvGrpSpPr>
            <p:nvPr/>
          </p:nvGrpSpPr>
          <p:grpSpPr bwMode="auto">
            <a:xfrm>
              <a:off x="912" y="768"/>
              <a:ext cx="2386" cy="1553"/>
              <a:chOff x="912" y="768"/>
              <a:chExt cx="2386" cy="1553"/>
            </a:xfrm>
            <a:grpFill/>
          </p:grpSpPr>
          <p:sp>
            <p:nvSpPr>
              <p:cNvPr id="181"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2"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3"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4"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5"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6"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7"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8"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9"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sp>
        <p:nvSpPr>
          <p:cNvPr id="190" name="Line 208"/>
          <p:cNvSpPr>
            <a:spLocks noChangeShapeType="1"/>
          </p:cNvSpPr>
          <p:nvPr/>
        </p:nvSpPr>
        <p:spPr bwMode="auto">
          <a:xfrm>
            <a:off x="6096776" y="2678818"/>
            <a:ext cx="624729" cy="1518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74" name="Text Box 42"/>
          <p:cNvSpPr txBox="1">
            <a:spLocks noChangeArrowheads="1"/>
          </p:cNvSpPr>
          <p:nvPr/>
        </p:nvSpPr>
        <p:spPr bwMode="auto">
          <a:xfrm>
            <a:off x="2040630" y="1325962"/>
            <a:ext cx="1166108" cy="35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err="1">
                <a:latin typeface="微软雅黑" panose="020B0503020204020204" pitchFamily="34" charset="-122"/>
                <a:ea typeface="微软雅黑" panose="020B0503020204020204" pitchFamily="34" charset="-122"/>
              </a:rPr>
              <a:t>eBGP</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连接</a:t>
            </a:r>
          </a:p>
        </p:txBody>
      </p:sp>
      <p:sp>
        <p:nvSpPr>
          <p:cNvPr id="275" name="Line 152"/>
          <p:cNvSpPr>
            <a:spLocks noChangeShapeType="1"/>
          </p:cNvSpPr>
          <p:nvPr/>
        </p:nvSpPr>
        <p:spPr bwMode="auto">
          <a:xfrm flipH="1">
            <a:off x="6860844" y="2376885"/>
            <a:ext cx="693634" cy="45373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18" name="Line 154"/>
          <p:cNvSpPr>
            <a:spLocks noChangeShapeType="1"/>
          </p:cNvSpPr>
          <p:nvPr/>
        </p:nvSpPr>
        <p:spPr bwMode="auto">
          <a:xfrm flipV="1">
            <a:off x="2624017" y="1923154"/>
            <a:ext cx="834503" cy="605532"/>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19" name="Line 155"/>
          <p:cNvSpPr>
            <a:spLocks noChangeShapeType="1"/>
          </p:cNvSpPr>
          <p:nvPr/>
        </p:nvSpPr>
        <p:spPr bwMode="auto">
          <a:xfrm>
            <a:off x="5262272" y="1923154"/>
            <a:ext cx="765599" cy="680598"/>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20" name="Line 158"/>
          <p:cNvSpPr>
            <a:spLocks noChangeShapeType="1"/>
          </p:cNvSpPr>
          <p:nvPr/>
        </p:nvSpPr>
        <p:spPr bwMode="auto">
          <a:xfrm flipH="1">
            <a:off x="4430832" y="1898132"/>
            <a:ext cx="762537" cy="326954"/>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21" name="Line 159"/>
          <p:cNvSpPr>
            <a:spLocks noChangeShapeType="1"/>
          </p:cNvSpPr>
          <p:nvPr/>
        </p:nvSpPr>
        <p:spPr bwMode="auto">
          <a:xfrm>
            <a:off x="4639075" y="1519466"/>
            <a:ext cx="485390" cy="3036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22" name="Line 163"/>
          <p:cNvSpPr>
            <a:spLocks noChangeShapeType="1"/>
          </p:cNvSpPr>
          <p:nvPr/>
        </p:nvSpPr>
        <p:spPr bwMode="auto">
          <a:xfrm>
            <a:off x="6791940" y="2150019"/>
            <a:ext cx="764068" cy="226866"/>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23" name="Line 165"/>
          <p:cNvSpPr>
            <a:spLocks noChangeShapeType="1"/>
          </p:cNvSpPr>
          <p:nvPr/>
        </p:nvSpPr>
        <p:spPr bwMode="auto">
          <a:xfrm flipV="1">
            <a:off x="2000819" y="2603752"/>
            <a:ext cx="623198" cy="226866"/>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24" name="Line 167"/>
          <p:cNvSpPr>
            <a:spLocks noChangeShapeType="1"/>
          </p:cNvSpPr>
          <p:nvPr/>
        </p:nvSpPr>
        <p:spPr bwMode="auto">
          <a:xfrm>
            <a:off x="1186222" y="2491987"/>
            <a:ext cx="813067" cy="33863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25" name="Line 169"/>
          <p:cNvSpPr>
            <a:spLocks noChangeShapeType="1"/>
          </p:cNvSpPr>
          <p:nvPr/>
        </p:nvSpPr>
        <p:spPr bwMode="auto">
          <a:xfrm flipV="1">
            <a:off x="1166316" y="2150019"/>
            <a:ext cx="695164" cy="301933"/>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26" name="Line 170"/>
          <p:cNvSpPr>
            <a:spLocks noChangeShapeType="1"/>
          </p:cNvSpPr>
          <p:nvPr/>
        </p:nvSpPr>
        <p:spPr bwMode="auto">
          <a:xfrm>
            <a:off x="1861481" y="2150019"/>
            <a:ext cx="762537" cy="378666"/>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27" name="Text Box 173"/>
          <p:cNvSpPr txBox="1">
            <a:spLocks noChangeArrowheads="1"/>
          </p:cNvSpPr>
          <p:nvPr/>
        </p:nvSpPr>
        <p:spPr bwMode="auto">
          <a:xfrm>
            <a:off x="887638" y="1899800"/>
            <a:ext cx="527547" cy="35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AS</a:t>
            </a:r>
            <a:r>
              <a:rPr lang="en-US" altLang="zh-CN" sz="1600" b="1" baseline="-25000">
                <a:latin typeface="微软雅黑" panose="020B0503020204020204" pitchFamily="34" charset="-122"/>
                <a:ea typeface="微软雅黑" panose="020B0503020204020204" pitchFamily="34" charset="-122"/>
              </a:rPr>
              <a:t>1</a:t>
            </a:r>
          </a:p>
        </p:txBody>
      </p:sp>
      <p:sp>
        <p:nvSpPr>
          <p:cNvPr id="328" name="Text Box 174"/>
          <p:cNvSpPr txBox="1">
            <a:spLocks noChangeArrowheads="1"/>
          </p:cNvSpPr>
          <p:nvPr/>
        </p:nvSpPr>
        <p:spPr bwMode="auto">
          <a:xfrm>
            <a:off x="5957436" y="1823066"/>
            <a:ext cx="527547" cy="35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AS</a:t>
            </a:r>
            <a:r>
              <a:rPr lang="en-US" altLang="zh-CN" sz="1600" b="1" baseline="-25000">
                <a:latin typeface="微软雅黑" panose="020B0503020204020204" pitchFamily="34" charset="-122"/>
                <a:ea typeface="微软雅黑" panose="020B0503020204020204" pitchFamily="34" charset="-122"/>
              </a:rPr>
              <a:t>3</a:t>
            </a:r>
          </a:p>
        </p:txBody>
      </p:sp>
      <p:sp>
        <p:nvSpPr>
          <p:cNvPr id="329" name="Text Box 175"/>
          <p:cNvSpPr txBox="1">
            <a:spLocks noChangeArrowheads="1"/>
          </p:cNvSpPr>
          <p:nvPr/>
        </p:nvSpPr>
        <p:spPr bwMode="auto">
          <a:xfrm>
            <a:off x="3936254" y="1219202"/>
            <a:ext cx="527547" cy="35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AS</a:t>
            </a:r>
            <a:r>
              <a:rPr lang="en-US" altLang="zh-CN" sz="1600" b="1" baseline="-25000">
                <a:latin typeface="微软雅黑" panose="020B0503020204020204" pitchFamily="34" charset="-122"/>
                <a:ea typeface="微软雅黑" panose="020B0503020204020204" pitchFamily="34" charset="-122"/>
              </a:rPr>
              <a:t>2</a:t>
            </a:r>
          </a:p>
        </p:txBody>
      </p:sp>
      <p:sp>
        <p:nvSpPr>
          <p:cNvPr id="330" name="Line 194"/>
          <p:cNvSpPr>
            <a:spLocks noChangeShapeType="1"/>
          </p:cNvSpPr>
          <p:nvPr/>
        </p:nvSpPr>
        <p:spPr bwMode="auto">
          <a:xfrm flipH="1">
            <a:off x="3527425" y="1519466"/>
            <a:ext cx="1111650" cy="3036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31" name="Line 209"/>
          <p:cNvSpPr>
            <a:spLocks noChangeShapeType="1"/>
          </p:cNvSpPr>
          <p:nvPr/>
        </p:nvSpPr>
        <p:spPr bwMode="auto">
          <a:xfrm flipV="1">
            <a:off x="6096776" y="2150019"/>
            <a:ext cx="624729" cy="45373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32" name="Line 153"/>
          <p:cNvSpPr>
            <a:spLocks noChangeShapeType="1"/>
          </p:cNvSpPr>
          <p:nvPr/>
        </p:nvSpPr>
        <p:spPr bwMode="auto">
          <a:xfrm>
            <a:off x="3562642" y="1958184"/>
            <a:ext cx="728850" cy="266901"/>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33" name="Text Box 42"/>
          <p:cNvSpPr txBox="1">
            <a:spLocks noChangeArrowheads="1"/>
          </p:cNvSpPr>
          <p:nvPr/>
        </p:nvSpPr>
        <p:spPr bwMode="auto">
          <a:xfrm>
            <a:off x="7203832" y="1412706"/>
            <a:ext cx="1108900" cy="35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err="1">
                <a:latin typeface="微软雅黑" panose="020B0503020204020204" pitchFamily="34" charset="-122"/>
                <a:ea typeface="微软雅黑" panose="020B0503020204020204" pitchFamily="34" charset="-122"/>
              </a:rPr>
              <a:t>iBGP</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连接</a:t>
            </a:r>
          </a:p>
        </p:txBody>
      </p:sp>
      <p:pic>
        <p:nvPicPr>
          <p:cNvPr id="334"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61481" y="2732199"/>
            <a:ext cx="286334" cy="173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66" name="Line 169"/>
          <p:cNvSpPr>
            <a:spLocks noChangeShapeType="1"/>
          </p:cNvSpPr>
          <p:nvPr/>
        </p:nvSpPr>
        <p:spPr bwMode="auto">
          <a:xfrm>
            <a:off x="1210721" y="2478642"/>
            <a:ext cx="1413296" cy="10175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367"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6977" y="2376885"/>
            <a:ext cx="286335" cy="173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68"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22141" y="2073286"/>
            <a:ext cx="286335" cy="173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69" name="Line 169"/>
          <p:cNvSpPr>
            <a:spLocks noChangeShapeType="1"/>
          </p:cNvSpPr>
          <p:nvPr/>
        </p:nvSpPr>
        <p:spPr bwMode="auto">
          <a:xfrm flipH="1" flipV="1">
            <a:off x="1859948" y="2203399"/>
            <a:ext cx="139340" cy="603864"/>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70" name="Line 194"/>
          <p:cNvSpPr>
            <a:spLocks noChangeShapeType="1"/>
          </p:cNvSpPr>
          <p:nvPr/>
        </p:nvSpPr>
        <p:spPr bwMode="auto">
          <a:xfrm flipH="1">
            <a:off x="4360397" y="1521135"/>
            <a:ext cx="278678" cy="682266"/>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71" name="Line 194"/>
          <p:cNvSpPr>
            <a:spLocks noChangeShapeType="1"/>
          </p:cNvSpPr>
          <p:nvPr/>
        </p:nvSpPr>
        <p:spPr bwMode="auto">
          <a:xfrm flipH="1">
            <a:off x="3596328" y="1899800"/>
            <a:ext cx="1598571" cy="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372"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99735" y="1444401"/>
            <a:ext cx="286335" cy="1718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73"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221057" y="2150019"/>
            <a:ext cx="286335" cy="171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74" name="Line 209"/>
          <p:cNvSpPr>
            <a:spLocks noChangeShapeType="1"/>
          </p:cNvSpPr>
          <p:nvPr/>
        </p:nvSpPr>
        <p:spPr bwMode="auto">
          <a:xfrm flipV="1">
            <a:off x="6721505" y="2225086"/>
            <a:ext cx="32155" cy="65891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75" name="Line 209"/>
          <p:cNvSpPr>
            <a:spLocks noChangeShapeType="1"/>
          </p:cNvSpPr>
          <p:nvPr/>
        </p:nvSpPr>
        <p:spPr bwMode="auto">
          <a:xfrm flipV="1">
            <a:off x="6096776" y="2353531"/>
            <a:ext cx="1459232" cy="3036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376"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82166" y="2753884"/>
            <a:ext cx="286335" cy="173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77" name="Picture 4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416670" y="2300151"/>
            <a:ext cx="287865" cy="173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78" name="Picture 4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82166" y="2073286"/>
            <a:ext cx="286335" cy="173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cxnSp>
        <p:nvCxnSpPr>
          <p:cNvPr id="379" name="直接箭头连接符 328"/>
          <p:cNvCxnSpPr>
            <a:cxnSpLocks noChangeShapeType="1"/>
          </p:cNvCxnSpPr>
          <p:nvPr/>
        </p:nvCxnSpPr>
        <p:spPr bwMode="auto">
          <a:xfrm flipH="1">
            <a:off x="7115022" y="1748000"/>
            <a:ext cx="509890" cy="49043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380" name="直接箭头连接符 329"/>
          <p:cNvCxnSpPr>
            <a:cxnSpLocks noChangeShapeType="1"/>
          </p:cNvCxnSpPr>
          <p:nvPr/>
        </p:nvCxnSpPr>
        <p:spPr bwMode="auto">
          <a:xfrm flipH="1">
            <a:off x="5521045" y="1626226"/>
            <a:ext cx="509889" cy="49043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381" name="Text Box 42"/>
          <p:cNvSpPr txBox="1">
            <a:spLocks noChangeArrowheads="1"/>
          </p:cNvSpPr>
          <p:nvPr/>
        </p:nvSpPr>
        <p:spPr bwMode="auto">
          <a:xfrm>
            <a:off x="5749193" y="1294269"/>
            <a:ext cx="1166108" cy="35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eBGP </a:t>
            </a:r>
            <a:r>
              <a:rPr lang="zh-CN" altLang="en-US" sz="1600" b="1">
                <a:latin typeface="微软雅黑" panose="020B0503020204020204" pitchFamily="34" charset="-122"/>
                <a:ea typeface="微软雅黑" panose="020B0503020204020204" pitchFamily="34" charset="-122"/>
              </a:rPr>
              <a:t>连接</a:t>
            </a:r>
          </a:p>
        </p:txBody>
      </p:sp>
      <p:cxnSp>
        <p:nvCxnSpPr>
          <p:cNvPr id="382" name="直接箭头连接符 331"/>
          <p:cNvCxnSpPr>
            <a:cxnSpLocks noChangeShapeType="1"/>
          </p:cNvCxnSpPr>
          <p:nvPr/>
        </p:nvCxnSpPr>
        <p:spPr bwMode="auto">
          <a:xfrm>
            <a:off x="2607174" y="1677939"/>
            <a:ext cx="379737" cy="580509"/>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383" name="Text Box 42"/>
          <p:cNvSpPr txBox="1">
            <a:spLocks noChangeArrowheads="1"/>
          </p:cNvSpPr>
          <p:nvPr/>
        </p:nvSpPr>
        <p:spPr bwMode="auto">
          <a:xfrm>
            <a:off x="3319182" y="2580398"/>
            <a:ext cx="1108900" cy="35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iBGP </a:t>
            </a:r>
            <a:r>
              <a:rPr lang="zh-CN" altLang="en-US" sz="1600" b="1">
                <a:latin typeface="微软雅黑" panose="020B0503020204020204" pitchFamily="34" charset="-122"/>
                <a:ea typeface="微软雅黑" panose="020B0503020204020204" pitchFamily="34" charset="-122"/>
              </a:rPr>
              <a:t>连接</a:t>
            </a:r>
          </a:p>
        </p:txBody>
      </p:sp>
      <p:cxnSp>
        <p:nvCxnSpPr>
          <p:cNvPr id="384" name="直接箭头连接符 335"/>
          <p:cNvCxnSpPr>
            <a:cxnSpLocks noChangeShapeType="1"/>
          </p:cNvCxnSpPr>
          <p:nvPr/>
        </p:nvCxnSpPr>
        <p:spPr bwMode="auto">
          <a:xfrm flipV="1">
            <a:off x="3760167" y="2124998"/>
            <a:ext cx="237336" cy="532134"/>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385" name="Text Box 42"/>
          <p:cNvSpPr txBox="1">
            <a:spLocks noChangeArrowheads="1"/>
          </p:cNvSpPr>
          <p:nvPr/>
        </p:nvSpPr>
        <p:spPr bwMode="auto">
          <a:xfrm>
            <a:off x="775860" y="1359325"/>
            <a:ext cx="1108900" cy="35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err="1">
                <a:latin typeface="微软雅黑" panose="020B0503020204020204" pitchFamily="34" charset="-122"/>
                <a:ea typeface="微软雅黑" panose="020B0503020204020204" pitchFamily="34" charset="-122"/>
              </a:rPr>
              <a:t>iBGP</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连接</a:t>
            </a:r>
          </a:p>
        </p:txBody>
      </p:sp>
      <p:cxnSp>
        <p:nvCxnSpPr>
          <p:cNvPr id="386" name="直接箭头连接符 339"/>
          <p:cNvCxnSpPr>
            <a:cxnSpLocks noChangeShapeType="1"/>
          </p:cNvCxnSpPr>
          <p:nvPr/>
        </p:nvCxnSpPr>
        <p:spPr bwMode="auto">
          <a:xfrm>
            <a:off x="1443462" y="1672934"/>
            <a:ext cx="139340" cy="605532"/>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pic>
        <p:nvPicPr>
          <p:cNvPr id="387"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80430" y="1801380"/>
            <a:ext cx="286334" cy="173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88"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77022" y="2483646"/>
            <a:ext cx="286334" cy="173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89"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16809" y="1803048"/>
            <a:ext cx="286334" cy="171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90"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88533" y="2580398"/>
            <a:ext cx="286334" cy="171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11" name="组合 10"/>
          <p:cNvGrpSpPr/>
          <p:nvPr/>
        </p:nvGrpSpPr>
        <p:grpSpPr>
          <a:xfrm>
            <a:off x="7199673" y="2544678"/>
            <a:ext cx="1223891" cy="519766"/>
            <a:chOff x="7199673" y="2544678"/>
            <a:chExt cx="1223891" cy="519766"/>
          </a:xfrm>
        </p:grpSpPr>
        <p:sp>
          <p:nvSpPr>
            <p:cNvPr id="426" name="AutoShape 229"/>
            <p:cNvSpPr>
              <a:spLocks noChangeAspect="1" noChangeArrowheads="1" noTextEdit="1"/>
            </p:cNvSpPr>
            <p:nvPr/>
          </p:nvSpPr>
          <p:spPr bwMode="auto">
            <a:xfrm>
              <a:off x="7199673" y="2544678"/>
              <a:ext cx="485152" cy="374983"/>
            </a:xfrm>
            <a:prstGeom prst="rect">
              <a:avLst/>
            </a:prstGeom>
            <a:noFill/>
            <a:ln>
              <a:noFill/>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427" name="Oval 231"/>
            <p:cNvSpPr>
              <a:spLocks noChangeArrowheads="1"/>
            </p:cNvSpPr>
            <p:nvPr/>
          </p:nvSpPr>
          <p:spPr bwMode="auto">
            <a:xfrm>
              <a:off x="7365705" y="2549127"/>
              <a:ext cx="208807" cy="15126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8" name="Oval 232"/>
            <p:cNvSpPr>
              <a:spLocks noChangeArrowheads="1"/>
            </p:cNvSpPr>
            <p:nvPr/>
          </p:nvSpPr>
          <p:spPr bwMode="auto">
            <a:xfrm>
              <a:off x="7250890" y="2588532"/>
              <a:ext cx="159841" cy="151900"/>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9" name="Oval 233"/>
            <p:cNvSpPr>
              <a:spLocks noChangeArrowheads="1"/>
            </p:cNvSpPr>
            <p:nvPr/>
          </p:nvSpPr>
          <p:spPr bwMode="auto">
            <a:xfrm>
              <a:off x="7201924" y="2680053"/>
              <a:ext cx="108062" cy="123299"/>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0" name="Oval 234"/>
            <p:cNvSpPr>
              <a:spLocks noChangeArrowheads="1"/>
            </p:cNvSpPr>
            <p:nvPr/>
          </p:nvSpPr>
          <p:spPr bwMode="auto">
            <a:xfrm>
              <a:off x="7234568" y="2734076"/>
              <a:ext cx="162655" cy="13410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1" name="Oval 235"/>
            <p:cNvSpPr>
              <a:spLocks noChangeArrowheads="1"/>
            </p:cNvSpPr>
            <p:nvPr/>
          </p:nvSpPr>
          <p:spPr bwMode="auto">
            <a:xfrm>
              <a:off x="7349383" y="2756321"/>
              <a:ext cx="242576" cy="15889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2" name="Oval 236"/>
            <p:cNvSpPr>
              <a:spLocks noChangeArrowheads="1"/>
            </p:cNvSpPr>
            <p:nvPr/>
          </p:nvSpPr>
          <p:spPr bwMode="auto">
            <a:xfrm>
              <a:off x="7503597" y="2592981"/>
              <a:ext cx="155902" cy="11948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3" name="Oval 237"/>
            <p:cNvSpPr>
              <a:spLocks noChangeArrowheads="1"/>
            </p:cNvSpPr>
            <p:nvPr/>
          </p:nvSpPr>
          <p:spPr bwMode="auto">
            <a:xfrm>
              <a:off x="7527235" y="2669884"/>
              <a:ext cx="154213" cy="11885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4" name="Oval 238"/>
            <p:cNvSpPr>
              <a:spLocks noChangeArrowheads="1"/>
            </p:cNvSpPr>
            <p:nvPr/>
          </p:nvSpPr>
          <p:spPr bwMode="auto">
            <a:xfrm>
              <a:off x="7513164" y="2694671"/>
              <a:ext cx="15308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5" name="Oval 239"/>
            <p:cNvSpPr>
              <a:spLocks noChangeArrowheads="1"/>
            </p:cNvSpPr>
            <p:nvPr/>
          </p:nvSpPr>
          <p:spPr bwMode="auto">
            <a:xfrm>
              <a:off x="7289162" y="2635564"/>
              <a:ext cx="31067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436" name="Group 257"/>
            <p:cNvGrpSpPr>
              <a:grpSpLocks/>
            </p:cNvGrpSpPr>
            <p:nvPr/>
          </p:nvGrpSpPr>
          <p:grpSpPr bwMode="auto">
            <a:xfrm>
              <a:off x="7200799" y="2545949"/>
              <a:ext cx="481775" cy="369898"/>
              <a:chOff x="3063" y="302"/>
              <a:chExt cx="856" cy="582"/>
            </a:xfrm>
            <a:solidFill>
              <a:schemeClr val="bg1"/>
            </a:solidFill>
          </p:grpSpPr>
          <p:sp>
            <p:nvSpPr>
              <p:cNvPr id="437" name="Freeform 241"/>
              <p:cNvSpPr>
                <a:spLocks/>
              </p:cNvSpPr>
              <p:nvPr/>
            </p:nvSpPr>
            <p:spPr bwMode="auto">
              <a:xfrm>
                <a:off x="3364" y="302"/>
                <a:ext cx="353" cy="123"/>
              </a:xfrm>
              <a:custGeom>
                <a:avLst/>
                <a:gdLst>
                  <a:gd name="T0" fmla="*/ 2147483647 w 171"/>
                  <a:gd name="T1" fmla="*/ 2147483647 h 53"/>
                  <a:gd name="T2" fmla="*/ 1516289415 w 171"/>
                  <a:gd name="T3" fmla="*/ 247646291 h 53"/>
                  <a:gd name="T4" fmla="*/ 0 w 171"/>
                  <a:gd name="T5" fmla="*/ 2147483647 h 53"/>
                  <a:gd name="T6" fmla="*/ 1516289415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38" name="Arc 242"/>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439" name="Freeform 243"/>
              <p:cNvSpPr>
                <a:spLocks/>
              </p:cNvSpPr>
              <p:nvPr/>
            </p:nvSpPr>
            <p:spPr bwMode="auto">
              <a:xfrm>
                <a:off x="3150" y="367"/>
                <a:ext cx="220" cy="146"/>
              </a:xfrm>
              <a:custGeom>
                <a:avLst/>
                <a:gdLst>
                  <a:gd name="T0" fmla="*/ 1693384537 w 107"/>
                  <a:gd name="T1" fmla="*/ 1713152276 h 63"/>
                  <a:gd name="T2" fmla="*/ 1109914767 w 107"/>
                  <a:gd name="T3" fmla="*/ 0 h 63"/>
                  <a:gd name="T4" fmla="*/ 14279267 w 107"/>
                  <a:gd name="T5" fmla="*/ 2147483647 h 63"/>
                  <a:gd name="T6" fmla="*/ 29359234 w 107"/>
                  <a:gd name="T7" fmla="*/ 2147483647 h 63"/>
                  <a:gd name="T8" fmla="*/ 1109914767 w 107"/>
                  <a:gd name="T9" fmla="*/ 2147483647 h 63"/>
                  <a:gd name="T10" fmla="*/ 1693384537 w 107"/>
                  <a:gd name="T11" fmla="*/ 1713152276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0" name="Arc 244"/>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441" name="Freeform 245"/>
              <p:cNvSpPr>
                <a:spLocks/>
              </p:cNvSpPr>
              <p:nvPr/>
            </p:nvSpPr>
            <p:spPr bwMode="auto">
              <a:xfrm>
                <a:off x="3121" y="696"/>
                <a:ext cx="220" cy="115"/>
              </a:xfrm>
              <a:custGeom>
                <a:avLst/>
                <a:gdLst>
                  <a:gd name="T0" fmla="*/ 0 w 107"/>
                  <a:gd name="T1" fmla="*/ 0 h 50"/>
                  <a:gd name="T2" fmla="*/ 0 w 107"/>
                  <a:gd name="T3" fmla="*/ 476470799 h 50"/>
                  <a:gd name="T4" fmla="*/ 1139293797 w 107"/>
                  <a:gd name="T5" fmla="*/ 2147483647 h 50"/>
                  <a:gd name="T6" fmla="*/ 1693384537 w 107"/>
                  <a:gd name="T7" fmla="*/ 2147483647 h 50"/>
                  <a:gd name="T8" fmla="*/ 1139293797 w 107"/>
                  <a:gd name="T9" fmla="*/ 635978878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2" name="Arc 246"/>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443" name="Freeform 247"/>
              <p:cNvSpPr>
                <a:spLocks/>
              </p:cNvSpPr>
              <p:nvPr/>
            </p:nvSpPr>
            <p:spPr bwMode="auto">
              <a:xfrm>
                <a:off x="3713" y="372"/>
                <a:ext cx="167" cy="141"/>
              </a:xfrm>
              <a:custGeom>
                <a:avLst/>
                <a:gdLst>
                  <a:gd name="T0" fmla="*/ 1211487246 w 81"/>
                  <a:gd name="T1" fmla="*/ 2147483647 h 61"/>
                  <a:gd name="T2" fmla="*/ 1365605509 w 81"/>
                  <a:gd name="T3" fmla="*/ 2147483647 h 61"/>
                  <a:gd name="T4" fmla="*/ 239314720 w 81"/>
                  <a:gd name="T5" fmla="*/ 230421347 h 61"/>
                  <a:gd name="T6" fmla="*/ 0 w 81"/>
                  <a:gd name="T7" fmla="*/ 230421347 h 61"/>
                  <a:gd name="T8" fmla="*/ 239314720 w 81"/>
                  <a:gd name="T9" fmla="*/ 2147483647 h 61"/>
                  <a:gd name="T10" fmla="*/ 1211487246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4" name="Arc 248"/>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445" name="Freeform 249"/>
              <p:cNvSpPr>
                <a:spLocks/>
              </p:cNvSpPr>
              <p:nvPr/>
            </p:nvSpPr>
            <p:spPr bwMode="auto">
              <a:xfrm>
                <a:off x="3760" y="511"/>
                <a:ext cx="159" cy="138"/>
              </a:xfrm>
              <a:custGeom>
                <a:avLst/>
                <a:gdLst>
                  <a:gd name="T0" fmla="*/ 1082302279 w 77"/>
                  <a:gd name="T1" fmla="*/ 2147483647 h 60"/>
                  <a:gd name="T2" fmla="*/ 1344976453 w 77"/>
                  <a:gd name="T3" fmla="*/ 2147483647 h 60"/>
                  <a:gd name="T4" fmla="*/ 835832256 w 77"/>
                  <a:gd name="T5" fmla="*/ 0 h 60"/>
                  <a:gd name="T6" fmla="*/ 0 w 77"/>
                  <a:gd name="T7" fmla="*/ 2147483647 h 60"/>
                  <a:gd name="T8" fmla="*/ 1082302279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6" name="Arc 250"/>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447" name="Freeform 251"/>
              <p:cNvSpPr>
                <a:spLocks/>
              </p:cNvSpPr>
              <p:nvPr/>
            </p:nvSpPr>
            <p:spPr bwMode="auto">
              <a:xfrm>
                <a:off x="3706" y="647"/>
                <a:ext cx="188" cy="201"/>
              </a:xfrm>
              <a:custGeom>
                <a:avLst/>
                <a:gdLst>
                  <a:gd name="T0" fmla="*/ 0 w 91"/>
                  <a:gd name="T1" fmla="*/ 2147483647 h 87"/>
                  <a:gd name="T2" fmla="*/ 411749049 w 91"/>
                  <a:gd name="T3" fmla="*/ 2147483647 h 87"/>
                  <a:gd name="T4" fmla="*/ 1608817485 w 91"/>
                  <a:gd name="T5" fmla="*/ 2147483647 h 87"/>
                  <a:gd name="T6" fmla="*/ 1558612064 w 91"/>
                  <a:gd name="T7" fmla="*/ 0 h 87"/>
                  <a:gd name="T8" fmla="*/ 411749049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8" name="Arc 252"/>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449" name="Freeform 253"/>
              <p:cNvSpPr>
                <a:spLocks/>
              </p:cNvSpPr>
              <p:nvPr/>
            </p:nvSpPr>
            <p:spPr bwMode="auto">
              <a:xfrm>
                <a:off x="3063" y="511"/>
                <a:ext cx="103" cy="189"/>
              </a:xfrm>
              <a:custGeom>
                <a:avLst/>
                <a:gdLst>
                  <a:gd name="T0" fmla="*/ 780520248 w 50"/>
                  <a:gd name="T1" fmla="*/ 0 h 82"/>
                  <a:gd name="T2" fmla="*/ 14698957 w 50"/>
                  <a:gd name="T3" fmla="*/ 2147483647 h 82"/>
                  <a:gd name="T4" fmla="*/ 500253939 w 50"/>
                  <a:gd name="T5" fmla="*/ 2147483647 h 82"/>
                  <a:gd name="T6" fmla="*/ 827327125 w 50"/>
                  <a:gd name="T7" fmla="*/ 2147483647 h 82"/>
                  <a:gd name="T8" fmla="*/ 780520248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50" name="Arc 254"/>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451" name="Freeform 255"/>
              <p:cNvSpPr>
                <a:spLocks/>
              </p:cNvSpPr>
              <p:nvPr/>
            </p:nvSpPr>
            <p:spPr bwMode="auto">
              <a:xfrm>
                <a:off x="3333" y="770"/>
                <a:ext cx="380" cy="113"/>
              </a:xfrm>
              <a:custGeom>
                <a:avLst/>
                <a:gdLst>
                  <a:gd name="T0" fmla="*/ 0 w 184"/>
                  <a:gd name="T1" fmla="*/ 2147483647 h 49"/>
                  <a:gd name="T2" fmla="*/ 1757541845 w 184"/>
                  <a:gd name="T3" fmla="*/ 2147483647 h 49"/>
                  <a:gd name="T4" fmla="*/ 2147483647 w 184"/>
                  <a:gd name="T5" fmla="*/ 2147483647 h 49"/>
                  <a:gd name="T6" fmla="*/ 1757541845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52" name="Arc 256"/>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grpSp>
        <p:sp>
          <p:nvSpPr>
            <p:cNvPr id="453" name="Text Box 173"/>
            <p:cNvSpPr txBox="1">
              <a:spLocks noChangeArrowheads="1"/>
            </p:cNvSpPr>
            <p:nvPr/>
          </p:nvSpPr>
          <p:spPr bwMode="auto">
            <a:xfrm>
              <a:off x="7293022" y="2580347"/>
              <a:ext cx="316117" cy="352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X</a:t>
              </a:r>
            </a:p>
          </p:txBody>
        </p:sp>
        <p:sp>
          <p:nvSpPr>
            <p:cNvPr id="454" name="Text Box 42"/>
            <p:cNvSpPr txBox="1">
              <a:spLocks noChangeArrowheads="1"/>
            </p:cNvSpPr>
            <p:nvPr/>
          </p:nvSpPr>
          <p:spPr bwMode="auto">
            <a:xfrm>
              <a:off x="7851718" y="2712155"/>
              <a:ext cx="571846" cy="352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前缀</a:t>
              </a:r>
            </a:p>
          </p:txBody>
        </p:sp>
        <p:cxnSp>
          <p:nvCxnSpPr>
            <p:cNvPr id="455" name="直接箭头连接符 331"/>
            <p:cNvCxnSpPr>
              <a:cxnSpLocks noChangeShapeType="1"/>
            </p:cNvCxnSpPr>
            <p:nvPr/>
          </p:nvCxnSpPr>
          <p:spPr bwMode="auto">
            <a:xfrm flipH="1" flipV="1">
              <a:off x="7526757" y="2746845"/>
              <a:ext cx="373781" cy="94158"/>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grpSp>
    </p:spTree>
    <p:extLst>
      <p:ext uri="{BB962C8B-B14F-4D97-AF65-F5344CB8AC3E}">
        <p14:creationId xmlns:p14="http://schemas.microsoft.com/office/powerpoint/2010/main" val="340402435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5" y="622831"/>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highlight>
                  <a:srgbClr val="FFFF00"/>
                </a:highlight>
                <a:latin typeface="微软雅黑" pitchFamily="34" charset="-122"/>
                <a:ea typeface="微软雅黑" pitchFamily="34" charset="-122"/>
              </a:rPr>
              <a:t>IGP</a:t>
            </a:r>
            <a:r>
              <a:rPr lang="zh-CN" altLang="en-US" sz="2000" b="1" dirty="0">
                <a:highlight>
                  <a:srgbClr val="FFFF00"/>
                </a:highlight>
                <a:latin typeface="微软雅黑" pitchFamily="34" charset="-122"/>
                <a:ea typeface="微软雅黑" pitchFamily="34" charset="-122"/>
              </a:rPr>
              <a:t>、</a:t>
            </a:r>
            <a:r>
              <a:rPr lang="en-US" altLang="zh-CN" sz="2000" b="1" dirty="0" err="1">
                <a:highlight>
                  <a:srgbClr val="FFFF00"/>
                </a:highlight>
                <a:latin typeface="微软雅黑" pitchFamily="34" charset="-122"/>
                <a:ea typeface="微软雅黑" pitchFamily="34" charset="-122"/>
              </a:rPr>
              <a:t>iBGP</a:t>
            </a:r>
            <a:r>
              <a:rPr lang="en-US" altLang="zh-CN" sz="2000" b="1" dirty="0">
                <a:highlight>
                  <a:srgbClr val="FFFF00"/>
                </a:highlight>
                <a:latin typeface="微软雅黑" pitchFamily="34" charset="-122"/>
                <a:ea typeface="微软雅黑" pitchFamily="34" charset="-122"/>
              </a:rPr>
              <a:t> </a:t>
            </a:r>
            <a:r>
              <a:rPr lang="zh-CN" altLang="en-US" sz="2000" b="1" dirty="0">
                <a:highlight>
                  <a:srgbClr val="FFFF00"/>
                </a:highlight>
                <a:latin typeface="微软雅黑" pitchFamily="34" charset="-122"/>
                <a:ea typeface="微软雅黑" pitchFamily="34" charset="-122"/>
              </a:rPr>
              <a:t>和 </a:t>
            </a:r>
            <a:r>
              <a:rPr lang="en-US" altLang="zh-CN" sz="2000" b="1" dirty="0" err="1">
                <a:highlight>
                  <a:srgbClr val="FFFF00"/>
                </a:highlight>
                <a:latin typeface="微软雅黑" pitchFamily="34" charset="-122"/>
                <a:ea typeface="微软雅黑" pitchFamily="34" charset="-122"/>
              </a:rPr>
              <a:t>eBGP</a:t>
            </a:r>
            <a:r>
              <a:rPr lang="en-US" altLang="zh-CN" sz="2000" b="1" dirty="0">
                <a:highlight>
                  <a:srgbClr val="FFFF00"/>
                </a:highlight>
                <a:latin typeface="微软雅黑" pitchFamily="34" charset="-122"/>
                <a:ea typeface="微软雅黑" pitchFamily="34" charset="-122"/>
              </a:rPr>
              <a:t> </a:t>
            </a:r>
            <a:r>
              <a:rPr lang="zh-CN" altLang="en-US" sz="2000" b="1" dirty="0">
                <a:highlight>
                  <a:srgbClr val="FFFF00"/>
                </a:highlight>
                <a:latin typeface="微软雅黑" pitchFamily="34" charset="-122"/>
                <a:ea typeface="微软雅黑" pitchFamily="34" charset="-122"/>
              </a:rPr>
              <a:t>的关系</a:t>
            </a:r>
          </a:p>
        </p:txBody>
      </p:sp>
      <p:sp>
        <p:nvSpPr>
          <p:cNvPr id="4" name="圆角矩形 3"/>
          <p:cNvSpPr/>
          <p:nvPr/>
        </p:nvSpPr>
        <p:spPr>
          <a:xfrm>
            <a:off x="545145" y="1052858"/>
            <a:ext cx="8053712" cy="208750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65" name="Text Box 173"/>
          <p:cNvSpPr txBox="1">
            <a:spLocks noChangeArrowheads="1"/>
          </p:cNvSpPr>
          <p:nvPr/>
        </p:nvSpPr>
        <p:spPr bwMode="auto">
          <a:xfrm>
            <a:off x="1421970" y="3151142"/>
            <a:ext cx="6530201"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85750" indent="-285750" eaLnBrk="1" hangingPunct="1">
              <a:lnSpc>
                <a:spcPts val="2400"/>
              </a:lnSpc>
              <a:buFont typeface="Wingdings" panose="05000000000000000000" pitchFamily="2" charset="2"/>
              <a:buChar char="l"/>
            </a:pPr>
            <a:r>
              <a:rPr lang="zh-CN" altLang="en-US" sz="1600" b="1" dirty="0">
                <a:solidFill>
                  <a:srgbClr val="0000FF"/>
                </a:solidFill>
                <a:latin typeface="微软雅黑" panose="020B0503020204020204" pitchFamily="34" charset="-122"/>
                <a:ea typeface="微软雅黑" panose="020B0503020204020204" pitchFamily="34" charset="-122"/>
              </a:rPr>
              <a:t>在 </a:t>
            </a:r>
            <a:r>
              <a:rPr lang="en-US" altLang="zh-CN" sz="1600" b="1" dirty="0">
                <a:solidFill>
                  <a:srgbClr val="0000FF"/>
                </a:solidFill>
                <a:latin typeface="微软雅黑" panose="020B0503020204020204" pitchFamily="34" charset="-122"/>
                <a:ea typeface="微软雅黑" panose="020B0503020204020204" pitchFamily="34" charset="-122"/>
              </a:rPr>
              <a:t>AS </a:t>
            </a:r>
            <a:r>
              <a:rPr lang="zh-CN" altLang="en-US" sz="1600" b="1" dirty="0">
                <a:solidFill>
                  <a:srgbClr val="0000FF"/>
                </a:solidFill>
                <a:latin typeface="微软雅黑" panose="020B0503020204020204" pitchFamily="34" charset="-122"/>
                <a:ea typeface="微软雅黑" panose="020B0503020204020204" pitchFamily="34" charset="-122"/>
              </a:rPr>
              <a:t>内部运行：</a:t>
            </a:r>
            <a:endParaRPr lang="en-US" altLang="zh-CN" sz="1600" b="1" dirty="0">
              <a:solidFill>
                <a:srgbClr val="0000FF"/>
              </a:solidFill>
              <a:latin typeface="微软雅黑" panose="020B0503020204020204" pitchFamily="34" charset="-122"/>
              <a:ea typeface="微软雅黑" panose="020B0503020204020204" pitchFamily="34" charset="-122"/>
            </a:endParaRPr>
          </a:p>
          <a:p>
            <a:pPr marL="285750" indent="249238" eaLnBrk="1" hangingPunct="1">
              <a:lnSpc>
                <a:spcPts val="2400"/>
              </a:lnSpc>
              <a:buClr>
                <a:srgbClr val="990000"/>
              </a:buClr>
              <a:buSzPct val="85000"/>
              <a:buFont typeface="Wingdings" panose="05000000000000000000" pitchFamily="2" charset="2"/>
              <a:buChar char="u"/>
            </a:pPr>
            <a:r>
              <a:rPr lang="zh-CN" altLang="en-US" sz="1600" b="1" dirty="0">
                <a:latin typeface="微软雅黑" panose="020B0503020204020204" pitchFamily="34" charset="-122"/>
                <a:ea typeface="微软雅黑" panose="020B0503020204020204" pitchFamily="34" charset="-122"/>
              </a:rPr>
              <a:t>内部网关协议 </a:t>
            </a:r>
            <a:r>
              <a:rPr lang="en-US" altLang="zh-CN" sz="1600" b="1" dirty="0">
                <a:latin typeface="微软雅黑" panose="020B0503020204020204" pitchFamily="34" charset="-122"/>
                <a:ea typeface="微软雅黑" panose="020B0503020204020204" pitchFamily="34" charset="-122"/>
              </a:rPr>
              <a:t>IGP</a:t>
            </a:r>
            <a:r>
              <a:rPr lang="zh-CN" altLang="en-US" sz="1600" b="1" dirty="0">
                <a:latin typeface="微软雅黑" panose="020B0503020204020204" pitchFamily="34" charset="-122"/>
                <a:ea typeface="微软雅黑" panose="020B0503020204020204" pitchFamily="34" charset="-122"/>
              </a:rPr>
              <a:t>（可以是协议 </a:t>
            </a:r>
            <a:r>
              <a:rPr lang="en-US" altLang="zh-CN" sz="1600" b="1" dirty="0">
                <a:latin typeface="微软雅黑" panose="020B0503020204020204" pitchFamily="34" charset="-122"/>
                <a:ea typeface="微软雅黑" panose="020B0503020204020204" pitchFamily="34" charset="-122"/>
              </a:rPr>
              <a:t>OSPF </a:t>
            </a:r>
            <a:r>
              <a:rPr lang="zh-CN" altLang="en-US" sz="1600" b="1" dirty="0">
                <a:latin typeface="微软雅黑" panose="020B0503020204020204" pitchFamily="34" charset="-122"/>
                <a:ea typeface="微软雅黑" panose="020B0503020204020204" pitchFamily="34" charset="-122"/>
              </a:rPr>
              <a:t>或 </a:t>
            </a:r>
            <a:r>
              <a:rPr lang="en-US" altLang="zh-CN" sz="1600" b="1" dirty="0">
                <a:latin typeface="微软雅黑" panose="020B0503020204020204" pitchFamily="34" charset="-122"/>
                <a:ea typeface="微软雅黑" panose="020B0503020204020204" pitchFamily="34" charset="-122"/>
              </a:rPr>
              <a:t>RIP</a:t>
            </a:r>
            <a:r>
              <a:rPr lang="zh-CN" altLang="en-US" sz="1600" b="1" dirty="0">
                <a:latin typeface="微软雅黑" panose="020B0503020204020204" pitchFamily="34" charset="-122"/>
                <a:ea typeface="微软雅黑" panose="020B0503020204020204" pitchFamily="34" charset="-122"/>
              </a:rPr>
              <a:t>）。</a:t>
            </a:r>
            <a:endParaRPr lang="en-US" altLang="zh-CN" sz="1600" b="1" dirty="0">
              <a:latin typeface="微软雅黑" panose="020B0503020204020204" pitchFamily="34" charset="-122"/>
              <a:ea typeface="微软雅黑" panose="020B0503020204020204" pitchFamily="34" charset="-122"/>
            </a:endParaRPr>
          </a:p>
          <a:p>
            <a:pPr marL="285750" indent="249238" eaLnBrk="1" hangingPunct="1">
              <a:lnSpc>
                <a:spcPts val="2400"/>
              </a:lnSpc>
              <a:buClr>
                <a:srgbClr val="990000"/>
              </a:buClr>
              <a:buSzPct val="85000"/>
              <a:buFont typeface="Wingdings" panose="05000000000000000000" pitchFamily="2" charset="2"/>
              <a:buChar char="u"/>
            </a:pPr>
            <a:r>
              <a:rPr lang="zh-CN" altLang="en-US" sz="1600" b="1" dirty="0">
                <a:latin typeface="微软雅黑" panose="020B0503020204020204" pitchFamily="34" charset="-122"/>
                <a:ea typeface="微软雅黑" panose="020B0503020204020204" pitchFamily="34" charset="-122"/>
              </a:rPr>
              <a:t>协议 </a:t>
            </a:r>
            <a:r>
              <a:rPr lang="en-US" altLang="zh-CN" sz="1600" b="1" dirty="0" err="1">
                <a:latin typeface="微软雅黑" panose="020B0503020204020204" pitchFamily="34" charset="-122"/>
                <a:ea typeface="微软雅黑" panose="020B0503020204020204" pitchFamily="34" charset="-122"/>
              </a:rPr>
              <a:t>iBGP</a:t>
            </a:r>
            <a:r>
              <a:rPr lang="zh-CN" altLang="en-US" sz="1600" b="1" dirty="0">
                <a:latin typeface="微软雅黑" panose="020B0503020204020204" pitchFamily="34" charset="-122"/>
                <a:ea typeface="微软雅黑" panose="020B0503020204020204" pitchFamily="34" charset="-122"/>
              </a:rPr>
              <a:t>。</a:t>
            </a:r>
            <a:endParaRPr lang="en-US" altLang="zh-CN" sz="1600" b="1" dirty="0">
              <a:latin typeface="微软雅黑" panose="020B0503020204020204" pitchFamily="34" charset="-122"/>
              <a:ea typeface="微软雅黑" panose="020B0503020204020204" pitchFamily="34" charset="-122"/>
            </a:endParaRPr>
          </a:p>
          <a:p>
            <a:pPr marL="285750" indent="-285750" eaLnBrk="1" hangingPunct="1">
              <a:lnSpc>
                <a:spcPts val="2400"/>
              </a:lnSpc>
              <a:buFont typeface="Wingdings" panose="05000000000000000000" pitchFamily="2" charset="2"/>
              <a:buChar char="l"/>
            </a:pPr>
            <a:r>
              <a:rPr lang="zh-CN" altLang="en-US" sz="1600" b="1" dirty="0">
                <a:solidFill>
                  <a:srgbClr val="0000FF"/>
                </a:solidFill>
                <a:latin typeface="微软雅黑" panose="020B0503020204020204" pitchFamily="34" charset="-122"/>
                <a:ea typeface="微软雅黑" panose="020B0503020204020204" pitchFamily="34" charset="-122"/>
              </a:rPr>
              <a:t>在 </a:t>
            </a:r>
            <a:r>
              <a:rPr lang="en-US" altLang="zh-CN" sz="1600" b="1" dirty="0">
                <a:solidFill>
                  <a:srgbClr val="0000FF"/>
                </a:solidFill>
                <a:latin typeface="微软雅黑" panose="020B0503020204020204" pitchFamily="34" charset="-122"/>
                <a:ea typeface="微软雅黑" panose="020B0503020204020204" pitchFamily="34" charset="-122"/>
              </a:rPr>
              <a:t>AS </a:t>
            </a:r>
            <a:r>
              <a:rPr lang="zh-CN" altLang="en-US" sz="1600" b="1" dirty="0">
                <a:solidFill>
                  <a:srgbClr val="0000FF"/>
                </a:solidFill>
                <a:latin typeface="微软雅黑" panose="020B0503020204020204" pitchFamily="34" charset="-122"/>
                <a:ea typeface="微软雅黑" panose="020B0503020204020204" pitchFamily="34" charset="-122"/>
              </a:rPr>
              <a:t>之间运行：</a:t>
            </a:r>
            <a:endParaRPr lang="en-US" altLang="zh-CN" sz="1600" b="1" dirty="0">
              <a:solidFill>
                <a:srgbClr val="0000FF"/>
              </a:solidFill>
              <a:latin typeface="微软雅黑" panose="020B0503020204020204" pitchFamily="34" charset="-122"/>
              <a:ea typeface="微软雅黑" panose="020B0503020204020204" pitchFamily="34" charset="-122"/>
            </a:endParaRPr>
          </a:p>
          <a:p>
            <a:pPr marL="285750" indent="249238" eaLnBrk="1" hangingPunct="1">
              <a:lnSpc>
                <a:spcPts val="2400"/>
              </a:lnSpc>
              <a:buClr>
                <a:srgbClr val="990000"/>
              </a:buClr>
              <a:buSzPct val="85000"/>
              <a:buFont typeface="Wingdings" panose="05000000000000000000" pitchFamily="2" charset="2"/>
              <a:buChar char="u"/>
            </a:pPr>
            <a:r>
              <a:rPr lang="zh-CN" altLang="en-US" sz="1600" b="1" dirty="0">
                <a:latin typeface="微软雅黑" panose="020B0503020204020204" pitchFamily="34" charset="-122"/>
                <a:ea typeface="微软雅黑" panose="020B0503020204020204" pitchFamily="34" charset="-122"/>
              </a:rPr>
              <a:t>协议 </a:t>
            </a:r>
            <a:r>
              <a:rPr lang="en-US" altLang="zh-CN" sz="1600" b="1" dirty="0" err="1">
                <a:latin typeface="微软雅黑" panose="020B0503020204020204" pitchFamily="34" charset="-122"/>
                <a:ea typeface="微软雅黑" panose="020B0503020204020204" pitchFamily="34" charset="-122"/>
              </a:rPr>
              <a:t>eBGP</a:t>
            </a:r>
            <a:r>
              <a:rPr lang="zh-CN" altLang="en-US" sz="1600" b="1" dirty="0">
                <a:latin typeface="微软雅黑" panose="020B0503020204020204" pitchFamily="34" charset="-122"/>
                <a:ea typeface="微软雅黑" panose="020B0503020204020204" pitchFamily="34" charset="-122"/>
              </a:rPr>
              <a:t>。</a:t>
            </a:r>
            <a:endParaRPr lang="en-US" altLang="zh-CN" sz="1600" b="1" dirty="0">
              <a:latin typeface="微软雅黑" panose="020B0503020204020204" pitchFamily="34" charset="-122"/>
              <a:ea typeface="微软雅黑" panose="020B0503020204020204" pitchFamily="34" charset="-122"/>
            </a:endParaRPr>
          </a:p>
        </p:txBody>
      </p:sp>
      <p:sp>
        <p:nvSpPr>
          <p:cNvPr id="191" name="矩形 190"/>
          <p:cNvSpPr/>
          <p:nvPr/>
        </p:nvSpPr>
        <p:spPr>
          <a:xfrm>
            <a:off x="2972790" y="1730017"/>
            <a:ext cx="1498209" cy="97763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192" name="矩形 191"/>
          <p:cNvSpPr/>
          <p:nvPr/>
        </p:nvSpPr>
        <p:spPr>
          <a:xfrm>
            <a:off x="4738322" y="1722664"/>
            <a:ext cx="1498209" cy="97763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193" name="矩形 192"/>
          <p:cNvSpPr/>
          <p:nvPr/>
        </p:nvSpPr>
        <p:spPr>
          <a:xfrm>
            <a:off x="6466658" y="1726040"/>
            <a:ext cx="1498209" cy="97763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194" name="矩形 193"/>
          <p:cNvSpPr/>
          <p:nvPr/>
        </p:nvSpPr>
        <p:spPr>
          <a:xfrm>
            <a:off x="1211171" y="1710618"/>
            <a:ext cx="1498209" cy="97763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195" name="Line 6"/>
          <p:cNvSpPr>
            <a:spLocks noChangeShapeType="1"/>
          </p:cNvSpPr>
          <p:nvPr/>
        </p:nvSpPr>
        <p:spPr bwMode="auto">
          <a:xfrm>
            <a:off x="1207654" y="2704666"/>
            <a:ext cx="1524000" cy="0"/>
          </a:xfrm>
          <a:prstGeom prst="line">
            <a:avLst/>
          </a:prstGeom>
          <a:noFill/>
          <a:ln w="19050">
            <a:solidFill>
              <a:schemeClr val="tx1"/>
            </a:solidFill>
            <a:round/>
            <a:headEnd/>
            <a:tailEnd/>
          </a:ln>
        </p:spPr>
        <p:txBody>
          <a:bodyPr lIns="86034" tIns="43016" rIns="86034" bIns="43016" anchor="ctr"/>
          <a:lstStyle/>
          <a:p>
            <a:endParaRPr lang="zh-CN" altLang="en-US" sz="1600" b="1">
              <a:latin typeface="微软雅黑" panose="020B0503020204020204" pitchFamily="34" charset="-122"/>
              <a:ea typeface="微软雅黑" panose="020B0503020204020204" pitchFamily="34" charset="-122"/>
              <a:cs typeface="Times New Roman" pitchFamily="18" charset="0"/>
            </a:endParaRPr>
          </a:p>
        </p:txBody>
      </p:sp>
      <p:sp>
        <p:nvSpPr>
          <p:cNvPr id="196" name="Text Box 9"/>
          <p:cNvSpPr txBox="1">
            <a:spLocks noChangeArrowheads="1"/>
          </p:cNvSpPr>
          <p:nvPr/>
        </p:nvSpPr>
        <p:spPr bwMode="auto">
          <a:xfrm>
            <a:off x="1741054" y="2194235"/>
            <a:ext cx="539233" cy="308471"/>
          </a:xfrm>
          <a:prstGeom prst="rect">
            <a:avLst/>
          </a:prstGeom>
          <a:noFill/>
          <a:ln w="12700">
            <a:noFill/>
            <a:miter lim="800000"/>
            <a:headEnd/>
            <a:tailEnd/>
          </a:ln>
        </p:spPr>
        <p:txBody>
          <a:bodyPr wrap="none" lIns="86034" tIns="43016" rIns="86034" bIns="43016">
            <a:spAutoFit/>
          </a:bodyPr>
          <a:lstStyle/>
          <a:p>
            <a:pPr>
              <a:lnSpc>
                <a:spcPct val="90000"/>
              </a:lnSpc>
            </a:pPr>
            <a:r>
              <a:rPr lang="en-US" sz="1600" b="1" dirty="0">
                <a:latin typeface="微软雅黑" panose="020B0503020204020204" pitchFamily="34" charset="-122"/>
                <a:ea typeface="微软雅黑" panose="020B0503020204020204" pitchFamily="34" charset="-122"/>
                <a:cs typeface="Times New Roman" pitchFamily="18" charset="0"/>
              </a:rPr>
              <a:t>IGP</a:t>
            </a:r>
            <a:endParaRPr lang="en-GB" altLang="zh-CN" sz="1600" b="1" dirty="0">
              <a:latin typeface="微软雅黑" panose="020B0503020204020204" pitchFamily="34" charset="-122"/>
              <a:ea typeface="微软雅黑" panose="020B0503020204020204" pitchFamily="34" charset="-122"/>
              <a:cs typeface="Times New Roman" pitchFamily="18" charset="0"/>
            </a:endParaRPr>
          </a:p>
        </p:txBody>
      </p:sp>
      <p:sp>
        <p:nvSpPr>
          <p:cNvPr id="197" name="Text Box 11"/>
          <p:cNvSpPr txBox="1">
            <a:spLocks noChangeArrowheads="1"/>
          </p:cNvSpPr>
          <p:nvPr/>
        </p:nvSpPr>
        <p:spPr bwMode="auto">
          <a:xfrm>
            <a:off x="1664854" y="1782626"/>
            <a:ext cx="667473" cy="308471"/>
          </a:xfrm>
          <a:prstGeom prst="rect">
            <a:avLst/>
          </a:prstGeom>
          <a:noFill/>
          <a:ln w="12700">
            <a:noFill/>
            <a:miter lim="800000"/>
            <a:headEnd/>
            <a:tailEnd/>
          </a:ln>
        </p:spPr>
        <p:txBody>
          <a:bodyPr wrap="none" lIns="86034" tIns="43016" rIns="86034" bIns="43016">
            <a:spAutoFit/>
          </a:bodyPr>
          <a:lstStyle/>
          <a:p>
            <a:pPr>
              <a:lnSpc>
                <a:spcPct val="90000"/>
              </a:lnSpc>
            </a:pPr>
            <a:r>
              <a:rPr lang="en-US" sz="1600" b="1">
                <a:latin typeface="微软雅黑" panose="020B0503020204020204" pitchFamily="34" charset="-122"/>
                <a:ea typeface="微软雅黑" panose="020B0503020204020204" pitchFamily="34" charset="-122"/>
                <a:cs typeface="Times New Roman" pitchFamily="18" charset="0"/>
              </a:rPr>
              <a:t>iBGP</a:t>
            </a:r>
            <a:endParaRPr lang="en-GB" altLang="zh-CN" sz="1600" b="1">
              <a:latin typeface="微软雅黑" panose="020B0503020204020204" pitchFamily="34" charset="-122"/>
              <a:ea typeface="微软雅黑" panose="020B0503020204020204" pitchFamily="34" charset="-122"/>
              <a:cs typeface="Times New Roman" pitchFamily="18" charset="0"/>
            </a:endParaRPr>
          </a:p>
        </p:txBody>
      </p:sp>
      <p:sp>
        <p:nvSpPr>
          <p:cNvPr id="198" name="Line 14"/>
          <p:cNvSpPr>
            <a:spLocks noChangeShapeType="1"/>
          </p:cNvSpPr>
          <p:nvPr/>
        </p:nvSpPr>
        <p:spPr bwMode="auto">
          <a:xfrm>
            <a:off x="2960254" y="2704666"/>
            <a:ext cx="1524000" cy="0"/>
          </a:xfrm>
          <a:prstGeom prst="line">
            <a:avLst/>
          </a:prstGeom>
          <a:noFill/>
          <a:ln w="19050">
            <a:solidFill>
              <a:schemeClr val="tx1"/>
            </a:solidFill>
            <a:round/>
            <a:headEnd/>
            <a:tailEnd/>
          </a:ln>
        </p:spPr>
        <p:txBody>
          <a:bodyPr lIns="86034" tIns="43016" rIns="86034" bIns="43016" anchor="ctr"/>
          <a:lstStyle/>
          <a:p>
            <a:endParaRPr lang="zh-CN" altLang="en-US" sz="1600" b="1">
              <a:latin typeface="微软雅黑" panose="020B0503020204020204" pitchFamily="34" charset="-122"/>
              <a:ea typeface="微软雅黑" panose="020B0503020204020204" pitchFamily="34" charset="-122"/>
              <a:cs typeface="Times New Roman" pitchFamily="18" charset="0"/>
            </a:endParaRPr>
          </a:p>
        </p:txBody>
      </p:sp>
      <p:sp>
        <p:nvSpPr>
          <p:cNvPr id="199" name="Text Box 17"/>
          <p:cNvSpPr txBox="1">
            <a:spLocks noChangeArrowheads="1"/>
          </p:cNvSpPr>
          <p:nvPr/>
        </p:nvSpPr>
        <p:spPr bwMode="auto">
          <a:xfrm>
            <a:off x="3493654" y="2194235"/>
            <a:ext cx="539233" cy="308471"/>
          </a:xfrm>
          <a:prstGeom prst="rect">
            <a:avLst/>
          </a:prstGeom>
          <a:noFill/>
          <a:ln w="12700">
            <a:noFill/>
            <a:miter lim="800000"/>
            <a:headEnd/>
            <a:tailEnd/>
          </a:ln>
        </p:spPr>
        <p:txBody>
          <a:bodyPr wrap="none" lIns="86034" tIns="43016" rIns="86034" bIns="43016">
            <a:spAutoFit/>
          </a:bodyPr>
          <a:lstStyle/>
          <a:p>
            <a:pPr>
              <a:lnSpc>
                <a:spcPct val="90000"/>
              </a:lnSpc>
            </a:pPr>
            <a:r>
              <a:rPr lang="en-US" sz="1600" b="1">
                <a:latin typeface="微软雅黑" panose="020B0503020204020204" pitchFamily="34" charset="-122"/>
                <a:ea typeface="微软雅黑" panose="020B0503020204020204" pitchFamily="34" charset="-122"/>
                <a:cs typeface="Times New Roman" pitchFamily="18" charset="0"/>
              </a:rPr>
              <a:t>IGP</a:t>
            </a:r>
            <a:endParaRPr lang="en-GB" altLang="zh-CN" sz="1600" b="1">
              <a:latin typeface="微软雅黑" panose="020B0503020204020204" pitchFamily="34" charset="-122"/>
              <a:ea typeface="微软雅黑" panose="020B0503020204020204" pitchFamily="34" charset="-122"/>
              <a:cs typeface="Times New Roman" pitchFamily="18" charset="0"/>
            </a:endParaRPr>
          </a:p>
        </p:txBody>
      </p:sp>
      <p:sp>
        <p:nvSpPr>
          <p:cNvPr id="200" name="Text Box 19"/>
          <p:cNvSpPr txBox="1">
            <a:spLocks noChangeArrowheads="1"/>
          </p:cNvSpPr>
          <p:nvPr/>
        </p:nvSpPr>
        <p:spPr bwMode="auto">
          <a:xfrm>
            <a:off x="3417454" y="1782626"/>
            <a:ext cx="667473" cy="308471"/>
          </a:xfrm>
          <a:prstGeom prst="rect">
            <a:avLst/>
          </a:prstGeom>
          <a:noFill/>
          <a:ln w="12700">
            <a:noFill/>
            <a:miter lim="800000"/>
            <a:headEnd/>
            <a:tailEnd/>
          </a:ln>
        </p:spPr>
        <p:txBody>
          <a:bodyPr wrap="none" lIns="86034" tIns="43016" rIns="86034" bIns="43016">
            <a:spAutoFit/>
          </a:bodyPr>
          <a:lstStyle/>
          <a:p>
            <a:pPr>
              <a:lnSpc>
                <a:spcPct val="90000"/>
              </a:lnSpc>
            </a:pPr>
            <a:r>
              <a:rPr lang="en-US" sz="1600" b="1">
                <a:latin typeface="微软雅黑" panose="020B0503020204020204" pitchFamily="34" charset="-122"/>
                <a:ea typeface="微软雅黑" panose="020B0503020204020204" pitchFamily="34" charset="-122"/>
                <a:cs typeface="Times New Roman" pitchFamily="18" charset="0"/>
              </a:rPr>
              <a:t>iBGP</a:t>
            </a:r>
            <a:endParaRPr lang="en-GB" altLang="zh-CN" sz="1600" b="1">
              <a:latin typeface="微软雅黑" panose="020B0503020204020204" pitchFamily="34" charset="-122"/>
              <a:ea typeface="微软雅黑" panose="020B0503020204020204" pitchFamily="34" charset="-122"/>
              <a:cs typeface="Times New Roman" pitchFamily="18" charset="0"/>
            </a:endParaRPr>
          </a:p>
        </p:txBody>
      </p:sp>
      <p:sp>
        <p:nvSpPr>
          <p:cNvPr id="201" name="Line 22"/>
          <p:cNvSpPr>
            <a:spLocks noChangeShapeType="1"/>
          </p:cNvSpPr>
          <p:nvPr/>
        </p:nvSpPr>
        <p:spPr bwMode="auto">
          <a:xfrm>
            <a:off x="4712854" y="2704666"/>
            <a:ext cx="1524000" cy="0"/>
          </a:xfrm>
          <a:prstGeom prst="line">
            <a:avLst/>
          </a:prstGeom>
          <a:noFill/>
          <a:ln w="19050">
            <a:solidFill>
              <a:schemeClr val="tx1"/>
            </a:solidFill>
            <a:round/>
            <a:headEnd/>
            <a:tailEnd/>
          </a:ln>
        </p:spPr>
        <p:txBody>
          <a:bodyPr lIns="86034" tIns="43016" rIns="86034" bIns="43016" anchor="ctr"/>
          <a:lstStyle/>
          <a:p>
            <a:endParaRPr lang="zh-CN" altLang="en-US" sz="1600" b="1">
              <a:latin typeface="微软雅黑" panose="020B0503020204020204" pitchFamily="34" charset="-122"/>
              <a:ea typeface="微软雅黑" panose="020B0503020204020204" pitchFamily="34" charset="-122"/>
              <a:cs typeface="Times New Roman" pitchFamily="18" charset="0"/>
            </a:endParaRPr>
          </a:p>
        </p:txBody>
      </p:sp>
      <p:sp>
        <p:nvSpPr>
          <p:cNvPr id="202" name="Text Box 25"/>
          <p:cNvSpPr txBox="1">
            <a:spLocks noChangeArrowheads="1"/>
          </p:cNvSpPr>
          <p:nvPr/>
        </p:nvSpPr>
        <p:spPr bwMode="auto">
          <a:xfrm>
            <a:off x="5246254" y="2194235"/>
            <a:ext cx="539233" cy="308471"/>
          </a:xfrm>
          <a:prstGeom prst="rect">
            <a:avLst/>
          </a:prstGeom>
          <a:noFill/>
          <a:ln w="12700">
            <a:noFill/>
            <a:miter lim="800000"/>
            <a:headEnd/>
            <a:tailEnd/>
          </a:ln>
        </p:spPr>
        <p:txBody>
          <a:bodyPr wrap="none" lIns="86034" tIns="43016" rIns="86034" bIns="43016">
            <a:spAutoFit/>
          </a:bodyPr>
          <a:lstStyle/>
          <a:p>
            <a:pPr>
              <a:lnSpc>
                <a:spcPct val="90000"/>
              </a:lnSpc>
            </a:pPr>
            <a:r>
              <a:rPr lang="en-US" sz="1600" b="1">
                <a:latin typeface="微软雅黑" panose="020B0503020204020204" pitchFamily="34" charset="-122"/>
                <a:ea typeface="微软雅黑" panose="020B0503020204020204" pitchFamily="34" charset="-122"/>
                <a:cs typeface="Times New Roman" pitchFamily="18" charset="0"/>
              </a:rPr>
              <a:t>IGP</a:t>
            </a:r>
            <a:endParaRPr lang="en-GB" altLang="zh-CN" sz="1600" b="1">
              <a:latin typeface="微软雅黑" panose="020B0503020204020204" pitchFamily="34" charset="-122"/>
              <a:ea typeface="微软雅黑" panose="020B0503020204020204" pitchFamily="34" charset="-122"/>
              <a:cs typeface="Times New Roman" pitchFamily="18" charset="0"/>
            </a:endParaRPr>
          </a:p>
        </p:txBody>
      </p:sp>
      <p:sp>
        <p:nvSpPr>
          <p:cNvPr id="203" name="Text Box 27"/>
          <p:cNvSpPr txBox="1">
            <a:spLocks noChangeArrowheads="1"/>
          </p:cNvSpPr>
          <p:nvPr/>
        </p:nvSpPr>
        <p:spPr bwMode="auto">
          <a:xfrm>
            <a:off x="5170054" y="1782626"/>
            <a:ext cx="667473" cy="308471"/>
          </a:xfrm>
          <a:prstGeom prst="rect">
            <a:avLst/>
          </a:prstGeom>
          <a:noFill/>
          <a:ln w="12700">
            <a:noFill/>
            <a:miter lim="800000"/>
            <a:headEnd/>
            <a:tailEnd/>
          </a:ln>
        </p:spPr>
        <p:txBody>
          <a:bodyPr wrap="none" lIns="86034" tIns="43016" rIns="86034" bIns="43016">
            <a:spAutoFit/>
          </a:bodyPr>
          <a:lstStyle/>
          <a:p>
            <a:pPr>
              <a:lnSpc>
                <a:spcPct val="90000"/>
              </a:lnSpc>
            </a:pPr>
            <a:r>
              <a:rPr lang="en-US" sz="1600" b="1">
                <a:latin typeface="微软雅黑" panose="020B0503020204020204" pitchFamily="34" charset="-122"/>
                <a:ea typeface="微软雅黑" panose="020B0503020204020204" pitchFamily="34" charset="-122"/>
                <a:cs typeface="Times New Roman" pitchFamily="18" charset="0"/>
              </a:rPr>
              <a:t>iBGP</a:t>
            </a:r>
            <a:endParaRPr lang="en-GB" altLang="zh-CN" sz="1600" b="1">
              <a:latin typeface="微软雅黑" panose="020B0503020204020204" pitchFamily="34" charset="-122"/>
              <a:ea typeface="微软雅黑" panose="020B0503020204020204" pitchFamily="34" charset="-122"/>
              <a:cs typeface="Times New Roman" pitchFamily="18" charset="0"/>
            </a:endParaRPr>
          </a:p>
        </p:txBody>
      </p:sp>
      <p:sp>
        <p:nvSpPr>
          <p:cNvPr id="204" name="Line 30"/>
          <p:cNvSpPr>
            <a:spLocks noChangeShapeType="1"/>
          </p:cNvSpPr>
          <p:nvPr/>
        </p:nvSpPr>
        <p:spPr bwMode="auto">
          <a:xfrm>
            <a:off x="6465454" y="2704666"/>
            <a:ext cx="1524000" cy="0"/>
          </a:xfrm>
          <a:prstGeom prst="line">
            <a:avLst/>
          </a:prstGeom>
          <a:noFill/>
          <a:ln w="19050">
            <a:solidFill>
              <a:schemeClr val="tx1"/>
            </a:solidFill>
            <a:round/>
            <a:headEnd/>
            <a:tailEnd/>
          </a:ln>
        </p:spPr>
        <p:txBody>
          <a:bodyPr lIns="86034" tIns="43016" rIns="86034" bIns="43016" anchor="ctr"/>
          <a:lstStyle/>
          <a:p>
            <a:endParaRPr lang="zh-CN" altLang="en-US" sz="1600" b="1">
              <a:latin typeface="微软雅黑" panose="020B0503020204020204" pitchFamily="34" charset="-122"/>
              <a:ea typeface="微软雅黑" panose="020B0503020204020204" pitchFamily="34" charset="-122"/>
              <a:cs typeface="Times New Roman" pitchFamily="18" charset="0"/>
            </a:endParaRPr>
          </a:p>
        </p:txBody>
      </p:sp>
      <p:grpSp>
        <p:nvGrpSpPr>
          <p:cNvPr id="205" name="组合 204"/>
          <p:cNvGrpSpPr/>
          <p:nvPr/>
        </p:nvGrpSpPr>
        <p:grpSpPr>
          <a:xfrm>
            <a:off x="1207654" y="1710618"/>
            <a:ext cx="6781800" cy="994048"/>
            <a:chOff x="1143000" y="4038600"/>
            <a:chExt cx="6781800" cy="1752600"/>
          </a:xfrm>
        </p:grpSpPr>
        <p:sp>
          <p:nvSpPr>
            <p:cNvPr id="206" name="Line 5"/>
            <p:cNvSpPr>
              <a:spLocks noChangeShapeType="1"/>
            </p:cNvSpPr>
            <p:nvPr/>
          </p:nvSpPr>
          <p:spPr bwMode="auto">
            <a:xfrm>
              <a:off x="1143000" y="4038600"/>
              <a:ext cx="0" cy="1752600"/>
            </a:xfrm>
            <a:prstGeom prst="line">
              <a:avLst/>
            </a:prstGeom>
            <a:noFill/>
            <a:ln w="19050">
              <a:solidFill>
                <a:schemeClr val="tx1"/>
              </a:solidFill>
              <a:round/>
              <a:headEnd/>
              <a:tailEnd/>
            </a:ln>
          </p:spPr>
          <p:txBody>
            <a:bodyPr lIns="86034" tIns="43016" rIns="86034" bIns="43016" anchor="ctr"/>
            <a:lstStyle/>
            <a:p>
              <a:endParaRPr lang="zh-CN" altLang="en-US" sz="1600" b="1">
                <a:latin typeface="微软雅黑" panose="020B0503020204020204" pitchFamily="34" charset="-122"/>
                <a:ea typeface="微软雅黑" panose="020B0503020204020204" pitchFamily="34" charset="-122"/>
                <a:cs typeface="Times New Roman" pitchFamily="18" charset="0"/>
              </a:endParaRPr>
            </a:p>
          </p:txBody>
        </p:sp>
        <p:sp>
          <p:nvSpPr>
            <p:cNvPr id="207" name="Line 8"/>
            <p:cNvSpPr>
              <a:spLocks noChangeShapeType="1"/>
            </p:cNvSpPr>
            <p:nvPr/>
          </p:nvSpPr>
          <p:spPr bwMode="auto">
            <a:xfrm>
              <a:off x="2667000" y="4038600"/>
              <a:ext cx="0" cy="1752600"/>
            </a:xfrm>
            <a:prstGeom prst="line">
              <a:avLst/>
            </a:prstGeom>
            <a:noFill/>
            <a:ln w="19050">
              <a:solidFill>
                <a:schemeClr val="tx1"/>
              </a:solidFill>
              <a:round/>
              <a:headEnd/>
              <a:tailEnd/>
            </a:ln>
          </p:spPr>
          <p:txBody>
            <a:bodyPr lIns="86034" tIns="43016" rIns="86034" bIns="43016" anchor="ctr"/>
            <a:lstStyle/>
            <a:p>
              <a:endParaRPr lang="zh-CN" altLang="en-US" sz="1600" b="1">
                <a:latin typeface="微软雅黑" panose="020B0503020204020204" pitchFamily="34" charset="-122"/>
                <a:ea typeface="微软雅黑" panose="020B0503020204020204" pitchFamily="34" charset="-122"/>
                <a:cs typeface="Times New Roman" pitchFamily="18" charset="0"/>
              </a:endParaRPr>
            </a:p>
          </p:txBody>
        </p:sp>
        <p:sp>
          <p:nvSpPr>
            <p:cNvPr id="208" name="Line 13"/>
            <p:cNvSpPr>
              <a:spLocks noChangeShapeType="1"/>
            </p:cNvSpPr>
            <p:nvPr/>
          </p:nvSpPr>
          <p:spPr bwMode="auto">
            <a:xfrm>
              <a:off x="2895600" y="4038600"/>
              <a:ext cx="0" cy="1752600"/>
            </a:xfrm>
            <a:prstGeom prst="line">
              <a:avLst/>
            </a:prstGeom>
            <a:noFill/>
            <a:ln w="19050">
              <a:solidFill>
                <a:schemeClr val="tx1"/>
              </a:solidFill>
              <a:round/>
              <a:headEnd/>
              <a:tailEnd/>
            </a:ln>
          </p:spPr>
          <p:txBody>
            <a:bodyPr lIns="86034" tIns="43016" rIns="86034" bIns="43016" anchor="ctr"/>
            <a:lstStyle/>
            <a:p>
              <a:endParaRPr lang="zh-CN" altLang="en-US" sz="1600" b="1">
                <a:latin typeface="微软雅黑" panose="020B0503020204020204" pitchFamily="34" charset="-122"/>
                <a:ea typeface="微软雅黑" panose="020B0503020204020204" pitchFamily="34" charset="-122"/>
                <a:cs typeface="Times New Roman" pitchFamily="18" charset="0"/>
              </a:endParaRPr>
            </a:p>
          </p:txBody>
        </p:sp>
        <p:sp>
          <p:nvSpPr>
            <p:cNvPr id="209" name="Line 16"/>
            <p:cNvSpPr>
              <a:spLocks noChangeShapeType="1"/>
            </p:cNvSpPr>
            <p:nvPr/>
          </p:nvSpPr>
          <p:spPr bwMode="auto">
            <a:xfrm>
              <a:off x="4419600" y="4038600"/>
              <a:ext cx="0" cy="1752600"/>
            </a:xfrm>
            <a:prstGeom prst="line">
              <a:avLst/>
            </a:prstGeom>
            <a:noFill/>
            <a:ln w="19050">
              <a:solidFill>
                <a:schemeClr val="tx1"/>
              </a:solidFill>
              <a:round/>
              <a:headEnd/>
              <a:tailEnd/>
            </a:ln>
          </p:spPr>
          <p:txBody>
            <a:bodyPr lIns="86034" tIns="43016" rIns="86034" bIns="43016" anchor="ctr"/>
            <a:lstStyle/>
            <a:p>
              <a:endParaRPr lang="zh-CN" altLang="en-US" sz="1600" b="1">
                <a:latin typeface="微软雅黑" panose="020B0503020204020204" pitchFamily="34" charset="-122"/>
                <a:ea typeface="微软雅黑" panose="020B0503020204020204" pitchFamily="34" charset="-122"/>
                <a:cs typeface="Times New Roman" pitchFamily="18" charset="0"/>
              </a:endParaRPr>
            </a:p>
          </p:txBody>
        </p:sp>
        <p:sp>
          <p:nvSpPr>
            <p:cNvPr id="210" name="Line 21"/>
            <p:cNvSpPr>
              <a:spLocks noChangeShapeType="1"/>
            </p:cNvSpPr>
            <p:nvPr/>
          </p:nvSpPr>
          <p:spPr bwMode="auto">
            <a:xfrm>
              <a:off x="4648200" y="4038600"/>
              <a:ext cx="0" cy="1752600"/>
            </a:xfrm>
            <a:prstGeom prst="line">
              <a:avLst/>
            </a:prstGeom>
            <a:noFill/>
            <a:ln w="19050">
              <a:solidFill>
                <a:schemeClr val="tx1"/>
              </a:solidFill>
              <a:round/>
              <a:headEnd/>
              <a:tailEnd/>
            </a:ln>
          </p:spPr>
          <p:txBody>
            <a:bodyPr lIns="86034" tIns="43016" rIns="86034" bIns="43016" anchor="ctr"/>
            <a:lstStyle/>
            <a:p>
              <a:endParaRPr lang="zh-CN" altLang="en-US" sz="1600" b="1">
                <a:latin typeface="微软雅黑" panose="020B0503020204020204" pitchFamily="34" charset="-122"/>
                <a:ea typeface="微软雅黑" panose="020B0503020204020204" pitchFamily="34" charset="-122"/>
                <a:cs typeface="Times New Roman" pitchFamily="18" charset="0"/>
              </a:endParaRPr>
            </a:p>
          </p:txBody>
        </p:sp>
        <p:sp>
          <p:nvSpPr>
            <p:cNvPr id="211" name="Line 24"/>
            <p:cNvSpPr>
              <a:spLocks noChangeShapeType="1"/>
            </p:cNvSpPr>
            <p:nvPr/>
          </p:nvSpPr>
          <p:spPr bwMode="auto">
            <a:xfrm>
              <a:off x="6172200" y="4038600"/>
              <a:ext cx="0" cy="1752600"/>
            </a:xfrm>
            <a:prstGeom prst="line">
              <a:avLst/>
            </a:prstGeom>
            <a:noFill/>
            <a:ln w="19050">
              <a:solidFill>
                <a:schemeClr val="tx1"/>
              </a:solidFill>
              <a:round/>
              <a:headEnd/>
              <a:tailEnd/>
            </a:ln>
          </p:spPr>
          <p:txBody>
            <a:bodyPr lIns="86034" tIns="43016" rIns="86034" bIns="43016" anchor="ctr"/>
            <a:lstStyle/>
            <a:p>
              <a:endParaRPr lang="zh-CN" altLang="en-US" sz="1600" b="1">
                <a:latin typeface="微软雅黑" panose="020B0503020204020204" pitchFamily="34" charset="-122"/>
                <a:ea typeface="微软雅黑" panose="020B0503020204020204" pitchFamily="34" charset="-122"/>
                <a:cs typeface="Times New Roman" pitchFamily="18" charset="0"/>
              </a:endParaRPr>
            </a:p>
          </p:txBody>
        </p:sp>
        <p:sp>
          <p:nvSpPr>
            <p:cNvPr id="212" name="Line 29"/>
            <p:cNvSpPr>
              <a:spLocks noChangeShapeType="1"/>
            </p:cNvSpPr>
            <p:nvPr/>
          </p:nvSpPr>
          <p:spPr bwMode="auto">
            <a:xfrm>
              <a:off x="6400800" y="4038600"/>
              <a:ext cx="0" cy="1752600"/>
            </a:xfrm>
            <a:prstGeom prst="line">
              <a:avLst/>
            </a:prstGeom>
            <a:noFill/>
            <a:ln w="19050">
              <a:solidFill>
                <a:schemeClr val="tx1"/>
              </a:solidFill>
              <a:round/>
              <a:headEnd/>
              <a:tailEnd/>
            </a:ln>
          </p:spPr>
          <p:txBody>
            <a:bodyPr lIns="86034" tIns="43016" rIns="86034" bIns="43016" anchor="ctr"/>
            <a:lstStyle/>
            <a:p>
              <a:endParaRPr lang="zh-CN" altLang="en-US" sz="1600" b="1">
                <a:latin typeface="微软雅黑" panose="020B0503020204020204" pitchFamily="34" charset="-122"/>
                <a:ea typeface="微软雅黑" panose="020B0503020204020204" pitchFamily="34" charset="-122"/>
                <a:cs typeface="Times New Roman" pitchFamily="18" charset="0"/>
              </a:endParaRPr>
            </a:p>
          </p:txBody>
        </p:sp>
        <p:sp>
          <p:nvSpPr>
            <p:cNvPr id="213" name="Line 32"/>
            <p:cNvSpPr>
              <a:spLocks noChangeShapeType="1"/>
            </p:cNvSpPr>
            <p:nvPr/>
          </p:nvSpPr>
          <p:spPr bwMode="auto">
            <a:xfrm>
              <a:off x="7924800" y="4038600"/>
              <a:ext cx="0" cy="1752600"/>
            </a:xfrm>
            <a:prstGeom prst="line">
              <a:avLst/>
            </a:prstGeom>
            <a:noFill/>
            <a:ln w="19050">
              <a:solidFill>
                <a:schemeClr val="tx1"/>
              </a:solidFill>
              <a:round/>
              <a:headEnd/>
              <a:tailEnd/>
            </a:ln>
          </p:spPr>
          <p:txBody>
            <a:bodyPr lIns="86034" tIns="43016" rIns="86034" bIns="43016" anchor="ctr"/>
            <a:lstStyle/>
            <a:p>
              <a:endParaRPr lang="zh-CN" altLang="en-US" sz="1600" b="1">
                <a:latin typeface="微软雅黑" panose="020B0503020204020204" pitchFamily="34" charset="-122"/>
                <a:ea typeface="微软雅黑" panose="020B0503020204020204" pitchFamily="34" charset="-122"/>
                <a:cs typeface="Times New Roman" pitchFamily="18" charset="0"/>
              </a:endParaRPr>
            </a:p>
          </p:txBody>
        </p:sp>
      </p:grpSp>
      <p:sp>
        <p:nvSpPr>
          <p:cNvPr id="214" name="Text Box 33"/>
          <p:cNvSpPr txBox="1">
            <a:spLocks noChangeArrowheads="1"/>
          </p:cNvSpPr>
          <p:nvPr/>
        </p:nvSpPr>
        <p:spPr bwMode="auto">
          <a:xfrm>
            <a:off x="6998854" y="2194235"/>
            <a:ext cx="539233" cy="308471"/>
          </a:xfrm>
          <a:prstGeom prst="rect">
            <a:avLst/>
          </a:prstGeom>
          <a:noFill/>
          <a:ln w="12700">
            <a:noFill/>
            <a:miter lim="800000"/>
            <a:headEnd/>
            <a:tailEnd/>
          </a:ln>
        </p:spPr>
        <p:txBody>
          <a:bodyPr wrap="none" lIns="86034" tIns="43016" rIns="86034" bIns="43016">
            <a:spAutoFit/>
          </a:bodyPr>
          <a:lstStyle/>
          <a:p>
            <a:pPr>
              <a:lnSpc>
                <a:spcPct val="90000"/>
              </a:lnSpc>
            </a:pPr>
            <a:r>
              <a:rPr lang="en-US" sz="1600" b="1">
                <a:latin typeface="微软雅黑" panose="020B0503020204020204" pitchFamily="34" charset="-122"/>
                <a:ea typeface="微软雅黑" panose="020B0503020204020204" pitchFamily="34" charset="-122"/>
                <a:cs typeface="Times New Roman" pitchFamily="18" charset="0"/>
              </a:rPr>
              <a:t>IGP</a:t>
            </a:r>
            <a:endParaRPr lang="en-GB" altLang="zh-CN" sz="1600" b="1">
              <a:latin typeface="微软雅黑" panose="020B0503020204020204" pitchFamily="34" charset="-122"/>
              <a:ea typeface="微软雅黑" panose="020B0503020204020204" pitchFamily="34" charset="-122"/>
              <a:cs typeface="Times New Roman" pitchFamily="18" charset="0"/>
            </a:endParaRPr>
          </a:p>
        </p:txBody>
      </p:sp>
      <p:sp>
        <p:nvSpPr>
          <p:cNvPr id="215" name="Text Box 35"/>
          <p:cNvSpPr txBox="1">
            <a:spLocks noChangeArrowheads="1"/>
          </p:cNvSpPr>
          <p:nvPr/>
        </p:nvSpPr>
        <p:spPr bwMode="auto">
          <a:xfrm>
            <a:off x="6922654" y="1782626"/>
            <a:ext cx="667473" cy="308471"/>
          </a:xfrm>
          <a:prstGeom prst="rect">
            <a:avLst/>
          </a:prstGeom>
          <a:noFill/>
          <a:ln w="12700">
            <a:noFill/>
            <a:miter lim="800000"/>
            <a:headEnd/>
            <a:tailEnd/>
          </a:ln>
        </p:spPr>
        <p:txBody>
          <a:bodyPr wrap="none" lIns="86034" tIns="43016" rIns="86034" bIns="43016">
            <a:spAutoFit/>
          </a:bodyPr>
          <a:lstStyle/>
          <a:p>
            <a:pPr>
              <a:lnSpc>
                <a:spcPct val="90000"/>
              </a:lnSpc>
            </a:pPr>
            <a:r>
              <a:rPr lang="en-US" sz="1600" b="1">
                <a:latin typeface="微软雅黑" panose="020B0503020204020204" pitchFamily="34" charset="-122"/>
                <a:ea typeface="微软雅黑" panose="020B0503020204020204" pitchFamily="34" charset="-122"/>
                <a:cs typeface="Times New Roman" pitchFamily="18" charset="0"/>
              </a:rPr>
              <a:t>iBGP</a:t>
            </a:r>
            <a:endParaRPr lang="en-GB" altLang="zh-CN" sz="1600" b="1">
              <a:latin typeface="微软雅黑" panose="020B0503020204020204" pitchFamily="34" charset="-122"/>
              <a:ea typeface="微软雅黑" panose="020B0503020204020204" pitchFamily="34" charset="-122"/>
              <a:cs typeface="Times New Roman" pitchFamily="18" charset="0"/>
            </a:endParaRPr>
          </a:p>
        </p:txBody>
      </p:sp>
      <p:sp>
        <p:nvSpPr>
          <p:cNvPr id="216" name="Text Box 39"/>
          <p:cNvSpPr txBox="1">
            <a:spLocks noChangeArrowheads="1"/>
          </p:cNvSpPr>
          <p:nvPr/>
        </p:nvSpPr>
        <p:spPr bwMode="auto">
          <a:xfrm>
            <a:off x="2476414" y="1134554"/>
            <a:ext cx="726785" cy="308471"/>
          </a:xfrm>
          <a:prstGeom prst="rect">
            <a:avLst/>
          </a:prstGeom>
          <a:noFill/>
          <a:ln w="12700">
            <a:noFill/>
            <a:miter lim="800000"/>
            <a:headEnd/>
            <a:tailEnd/>
          </a:ln>
        </p:spPr>
        <p:txBody>
          <a:bodyPr wrap="none" lIns="86034" tIns="43016" rIns="86034" bIns="43016">
            <a:spAutoFit/>
          </a:bodyPr>
          <a:lstStyle/>
          <a:p>
            <a:pPr>
              <a:lnSpc>
                <a:spcPct val="90000"/>
              </a:lnSpc>
            </a:pPr>
            <a:r>
              <a:rPr lang="en-US" sz="1600" b="1" dirty="0" err="1">
                <a:solidFill>
                  <a:srgbClr val="C00000"/>
                </a:solidFill>
                <a:latin typeface="微软雅黑" panose="020B0503020204020204" pitchFamily="34" charset="-122"/>
                <a:ea typeface="微软雅黑" panose="020B0503020204020204" pitchFamily="34" charset="-122"/>
                <a:cs typeface="Times New Roman" pitchFamily="18" charset="0"/>
              </a:rPr>
              <a:t>eBGP</a:t>
            </a:r>
            <a:endParaRPr lang="en-GB" altLang="zh-CN" sz="1600" b="1" dirty="0">
              <a:solidFill>
                <a:srgbClr val="C00000"/>
              </a:solidFill>
              <a:latin typeface="微软雅黑" panose="020B0503020204020204" pitchFamily="34" charset="-122"/>
              <a:ea typeface="微软雅黑" panose="020B0503020204020204" pitchFamily="34" charset="-122"/>
              <a:cs typeface="Times New Roman" pitchFamily="18" charset="0"/>
            </a:endParaRPr>
          </a:p>
        </p:txBody>
      </p:sp>
      <p:sp>
        <p:nvSpPr>
          <p:cNvPr id="217" name="Text Box 42"/>
          <p:cNvSpPr txBox="1">
            <a:spLocks noChangeArrowheads="1"/>
          </p:cNvSpPr>
          <p:nvPr/>
        </p:nvSpPr>
        <p:spPr bwMode="auto">
          <a:xfrm>
            <a:off x="4229014" y="1134554"/>
            <a:ext cx="726785" cy="308471"/>
          </a:xfrm>
          <a:prstGeom prst="rect">
            <a:avLst/>
          </a:prstGeom>
          <a:noFill/>
          <a:ln w="12700">
            <a:noFill/>
            <a:miter lim="800000"/>
            <a:headEnd/>
            <a:tailEnd/>
          </a:ln>
        </p:spPr>
        <p:txBody>
          <a:bodyPr wrap="none" lIns="86034" tIns="43016" rIns="86034" bIns="43016">
            <a:spAutoFit/>
          </a:bodyPr>
          <a:lstStyle/>
          <a:p>
            <a:pPr>
              <a:lnSpc>
                <a:spcPct val="90000"/>
              </a:lnSpc>
            </a:pPr>
            <a:r>
              <a:rPr lang="en-US" sz="1600" b="1">
                <a:solidFill>
                  <a:srgbClr val="C00000"/>
                </a:solidFill>
                <a:latin typeface="微软雅黑" panose="020B0503020204020204" pitchFamily="34" charset="-122"/>
                <a:ea typeface="微软雅黑" panose="020B0503020204020204" pitchFamily="34" charset="-122"/>
                <a:cs typeface="Times New Roman" pitchFamily="18" charset="0"/>
              </a:rPr>
              <a:t>eBGP</a:t>
            </a:r>
            <a:endParaRPr lang="en-GB" altLang="zh-CN" sz="1600" b="1">
              <a:solidFill>
                <a:srgbClr val="C00000"/>
              </a:solidFill>
              <a:latin typeface="微软雅黑" panose="020B0503020204020204" pitchFamily="34" charset="-122"/>
              <a:ea typeface="微软雅黑" panose="020B0503020204020204" pitchFamily="34" charset="-122"/>
              <a:cs typeface="Times New Roman" pitchFamily="18" charset="0"/>
            </a:endParaRPr>
          </a:p>
        </p:txBody>
      </p:sp>
      <p:grpSp>
        <p:nvGrpSpPr>
          <p:cNvPr id="218" name="组合 217"/>
          <p:cNvGrpSpPr/>
          <p:nvPr/>
        </p:nvGrpSpPr>
        <p:grpSpPr>
          <a:xfrm>
            <a:off x="2503054" y="1422586"/>
            <a:ext cx="4191000" cy="432048"/>
            <a:chOff x="2438400" y="4255368"/>
            <a:chExt cx="4191000" cy="685800"/>
          </a:xfrm>
        </p:grpSpPr>
        <p:sp>
          <p:nvSpPr>
            <p:cNvPr id="219" name="Freeform 38"/>
            <p:cNvSpPr>
              <a:spLocks/>
            </p:cNvSpPr>
            <p:nvPr/>
          </p:nvSpPr>
          <p:spPr bwMode="auto">
            <a:xfrm>
              <a:off x="2438400" y="4255368"/>
              <a:ext cx="685800" cy="685800"/>
            </a:xfrm>
            <a:custGeom>
              <a:avLst/>
              <a:gdLst>
                <a:gd name="T0" fmla="*/ 0 w 432"/>
                <a:gd name="T1" fmla="*/ 2147483647 h 432"/>
                <a:gd name="T2" fmla="*/ 2147483647 w 432"/>
                <a:gd name="T3" fmla="*/ 0 h 432"/>
                <a:gd name="T4" fmla="*/ 2147483647 w 432"/>
                <a:gd name="T5" fmla="*/ 2147483647 h 432"/>
                <a:gd name="T6" fmla="*/ 0 60000 65536"/>
                <a:gd name="T7" fmla="*/ 0 60000 65536"/>
                <a:gd name="T8" fmla="*/ 0 60000 65536"/>
                <a:gd name="T9" fmla="*/ 0 w 432"/>
                <a:gd name="T10" fmla="*/ 0 h 432"/>
                <a:gd name="T11" fmla="*/ 432 w 432"/>
                <a:gd name="T12" fmla="*/ 432 h 432"/>
              </a:gdLst>
              <a:ahLst/>
              <a:cxnLst>
                <a:cxn ang="T6">
                  <a:pos x="T0" y="T1"/>
                </a:cxn>
                <a:cxn ang="T7">
                  <a:pos x="T2" y="T3"/>
                </a:cxn>
                <a:cxn ang="T8">
                  <a:pos x="T4" y="T5"/>
                </a:cxn>
              </a:cxnLst>
              <a:rect l="T9" t="T10" r="T11" b="T12"/>
              <a:pathLst>
                <a:path w="432" h="432">
                  <a:moveTo>
                    <a:pt x="0" y="432"/>
                  </a:moveTo>
                  <a:cubicBezTo>
                    <a:pt x="84" y="216"/>
                    <a:pt x="168" y="0"/>
                    <a:pt x="240" y="0"/>
                  </a:cubicBezTo>
                  <a:cubicBezTo>
                    <a:pt x="312" y="0"/>
                    <a:pt x="400" y="360"/>
                    <a:pt x="432" y="432"/>
                  </a:cubicBezTo>
                </a:path>
              </a:pathLst>
            </a:custGeom>
            <a:noFill/>
            <a:ln w="19050">
              <a:solidFill>
                <a:srgbClr val="C00000"/>
              </a:solidFill>
              <a:round/>
              <a:headEnd type="triangle" w="sm" len="lg"/>
              <a:tailEnd type="triangle" w="sm" len="lg"/>
            </a:ln>
          </p:spPr>
          <p:txBody>
            <a:bodyPr lIns="86034" tIns="43016" rIns="86034" bIns="43016" anchor="ctr"/>
            <a:lstStyle/>
            <a:p>
              <a:endParaRPr lang="en-US" sz="1600" b="1">
                <a:latin typeface="微软雅黑" panose="020B0503020204020204" pitchFamily="34" charset="-122"/>
                <a:ea typeface="微软雅黑" panose="020B0503020204020204" pitchFamily="34" charset="-122"/>
                <a:cs typeface="Times New Roman" pitchFamily="18" charset="0"/>
              </a:endParaRPr>
            </a:p>
          </p:txBody>
        </p:sp>
        <p:sp>
          <p:nvSpPr>
            <p:cNvPr id="220" name="Freeform 41"/>
            <p:cNvSpPr>
              <a:spLocks/>
            </p:cNvSpPr>
            <p:nvPr/>
          </p:nvSpPr>
          <p:spPr bwMode="auto">
            <a:xfrm>
              <a:off x="4191000" y="4255368"/>
              <a:ext cx="685800" cy="685800"/>
            </a:xfrm>
            <a:custGeom>
              <a:avLst/>
              <a:gdLst>
                <a:gd name="T0" fmla="*/ 0 w 432"/>
                <a:gd name="T1" fmla="*/ 2147483647 h 432"/>
                <a:gd name="T2" fmla="*/ 2147483647 w 432"/>
                <a:gd name="T3" fmla="*/ 0 h 432"/>
                <a:gd name="T4" fmla="*/ 2147483647 w 432"/>
                <a:gd name="T5" fmla="*/ 2147483647 h 432"/>
                <a:gd name="T6" fmla="*/ 0 60000 65536"/>
                <a:gd name="T7" fmla="*/ 0 60000 65536"/>
                <a:gd name="T8" fmla="*/ 0 60000 65536"/>
                <a:gd name="T9" fmla="*/ 0 w 432"/>
                <a:gd name="T10" fmla="*/ 0 h 432"/>
                <a:gd name="T11" fmla="*/ 432 w 432"/>
                <a:gd name="T12" fmla="*/ 432 h 432"/>
              </a:gdLst>
              <a:ahLst/>
              <a:cxnLst>
                <a:cxn ang="T6">
                  <a:pos x="T0" y="T1"/>
                </a:cxn>
                <a:cxn ang="T7">
                  <a:pos x="T2" y="T3"/>
                </a:cxn>
                <a:cxn ang="T8">
                  <a:pos x="T4" y="T5"/>
                </a:cxn>
              </a:cxnLst>
              <a:rect l="T9" t="T10" r="T11" b="T12"/>
              <a:pathLst>
                <a:path w="432" h="432">
                  <a:moveTo>
                    <a:pt x="0" y="432"/>
                  </a:moveTo>
                  <a:cubicBezTo>
                    <a:pt x="84" y="216"/>
                    <a:pt x="168" y="0"/>
                    <a:pt x="240" y="0"/>
                  </a:cubicBezTo>
                  <a:cubicBezTo>
                    <a:pt x="312" y="0"/>
                    <a:pt x="400" y="360"/>
                    <a:pt x="432" y="432"/>
                  </a:cubicBezTo>
                </a:path>
              </a:pathLst>
            </a:custGeom>
            <a:noFill/>
            <a:ln w="19050">
              <a:solidFill>
                <a:srgbClr val="C00000"/>
              </a:solidFill>
              <a:round/>
              <a:headEnd type="triangle" w="sm" len="lg"/>
              <a:tailEnd type="triangle" w="sm" len="lg"/>
            </a:ln>
          </p:spPr>
          <p:txBody>
            <a:bodyPr lIns="86034" tIns="43016" rIns="86034" bIns="43016" anchor="ctr"/>
            <a:lstStyle/>
            <a:p>
              <a:endParaRPr lang="en-US" sz="1600" b="1">
                <a:latin typeface="微软雅黑" panose="020B0503020204020204" pitchFamily="34" charset="-122"/>
                <a:ea typeface="微软雅黑" panose="020B0503020204020204" pitchFamily="34" charset="-122"/>
                <a:cs typeface="Times New Roman" pitchFamily="18" charset="0"/>
              </a:endParaRPr>
            </a:p>
          </p:txBody>
        </p:sp>
        <p:sp>
          <p:nvSpPr>
            <p:cNvPr id="221" name="Freeform 44"/>
            <p:cNvSpPr>
              <a:spLocks/>
            </p:cNvSpPr>
            <p:nvPr/>
          </p:nvSpPr>
          <p:spPr bwMode="auto">
            <a:xfrm>
              <a:off x="5943600" y="4255368"/>
              <a:ext cx="685800" cy="685800"/>
            </a:xfrm>
            <a:custGeom>
              <a:avLst/>
              <a:gdLst>
                <a:gd name="T0" fmla="*/ 0 w 432"/>
                <a:gd name="T1" fmla="*/ 2147483647 h 432"/>
                <a:gd name="T2" fmla="*/ 2147483647 w 432"/>
                <a:gd name="T3" fmla="*/ 0 h 432"/>
                <a:gd name="T4" fmla="*/ 2147483647 w 432"/>
                <a:gd name="T5" fmla="*/ 2147483647 h 432"/>
                <a:gd name="T6" fmla="*/ 0 60000 65536"/>
                <a:gd name="T7" fmla="*/ 0 60000 65536"/>
                <a:gd name="T8" fmla="*/ 0 60000 65536"/>
                <a:gd name="T9" fmla="*/ 0 w 432"/>
                <a:gd name="T10" fmla="*/ 0 h 432"/>
                <a:gd name="T11" fmla="*/ 432 w 432"/>
                <a:gd name="T12" fmla="*/ 432 h 432"/>
              </a:gdLst>
              <a:ahLst/>
              <a:cxnLst>
                <a:cxn ang="T6">
                  <a:pos x="T0" y="T1"/>
                </a:cxn>
                <a:cxn ang="T7">
                  <a:pos x="T2" y="T3"/>
                </a:cxn>
                <a:cxn ang="T8">
                  <a:pos x="T4" y="T5"/>
                </a:cxn>
              </a:cxnLst>
              <a:rect l="T9" t="T10" r="T11" b="T12"/>
              <a:pathLst>
                <a:path w="432" h="432">
                  <a:moveTo>
                    <a:pt x="0" y="432"/>
                  </a:moveTo>
                  <a:cubicBezTo>
                    <a:pt x="84" y="216"/>
                    <a:pt x="168" y="0"/>
                    <a:pt x="240" y="0"/>
                  </a:cubicBezTo>
                  <a:cubicBezTo>
                    <a:pt x="312" y="0"/>
                    <a:pt x="400" y="360"/>
                    <a:pt x="432" y="432"/>
                  </a:cubicBezTo>
                </a:path>
              </a:pathLst>
            </a:custGeom>
            <a:noFill/>
            <a:ln w="19050">
              <a:solidFill>
                <a:srgbClr val="C00000"/>
              </a:solidFill>
              <a:round/>
              <a:headEnd type="triangle" w="sm" len="lg"/>
              <a:tailEnd type="triangle" w="sm" len="lg"/>
            </a:ln>
          </p:spPr>
          <p:txBody>
            <a:bodyPr lIns="86034" tIns="43016" rIns="86034" bIns="43016" anchor="ctr"/>
            <a:lstStyle/>
            <a:p>
              <a:endParaRPr lang="en-US" sz="1600" b="1">
                <a:latin typeface="微软雅黑" panose="020B0503020204020204" pitchFamily="34" charset="-122"/>
                <a:ea typeface="微软雅黑" panose="020B0503020204020204" pitchFamily="34" charset="-122"/>
                <a:cs typeface="Times New Roman" pitchFamily="18" charset="0"/>
              </a:endParaRPr>
            </a:p>
          </p:txBody>
        </p:sp>
      </p:grpSp>
      <p:sp>
        <p:nvSpPr>
          <p:cNvPr id="222" name="Text Box 45"/>
          <p:cNvSpPr txBox="1">
            <a:spLocks noChangeArrowheads="1"/>
          </p:cNvSpPr>
          <p:nvPr/>
        </p:nvSpPr>
        <p:spPr bwMode="auto">
          <a:xfrm>
            <a:off x="5981614" y="1134554"/>
            <a:ext cx="726785" cy="308471"/>
          </a:xfrm>
          <a:prstGeom prst="rect">
            <a:avLst/>
          </a:prstGeom>
          <a:noFill/>
          <a:ln w="12700">
            <a:noFill/>
            <a:miter lim="800000"/>
            <a:headEnd/>
            <a:tailEnd/>
          </a:ln>
        </p:spPr>
        <p:txBody>
          <a:bodyPr wrap="none" lIns="86034" tIns="43016" rIns="86034" bIns="43016">
            <a:spAutoFit/>
          </a:bodyPr>
          <a:lstStyle/>
          <a:p>
            <a:pPr>
              <a:lnSpc>
                <a:spcPct val="90000"/>
              </a:lnSpc>
            </a:pPr>
            <a:r>
              <a:rPr lang="en-US" sz="1600" b="1">
                <a:solidFill>
                  <a:srgbClr val="C00000"/>
                </a:solidFill>
                <a:latin typeface="微软雅黑" panose="020B0503020204020204" pitchFamily="34" charset="-122"/>
                <a:ea typeface="微软雅黑" panose="020B0503020204020204" pitchFamily="34" charset="-122"/>
                <a:cs typeface="Times New Roman" pitchFamily="18" charset="0"/>
              </a:rPr>
              <a:t>eBGP</a:t>
            </a:r>
            <a:endParaRPr lang="en-GB" altLang="zh-CN" sz="1600" b="1">
              <a:solidFill>
                <a:srgbClr val="C00000"/>
              </a:solidFill>
              <a:latin typeface="微软雅黑" panose="020B0503020204020204" pitchFamily="34" charset="-122"/>
              <a:ea typeface="微软雅黑" panose="020B0503020204020204" pitchFamily="34" charset="-122"/>
              <a:cs typeface="Times New Roman" pitchFamily="18" charset="0"/>
            </a:endParaRPr>
          </a:p>
        </p:txBody>
      </p:sp>
      <p:sp>
        <p:nvSpPr>
          <p:cNvPr id="223" name="Text Box 46"/>
          <p:cNvSpPr txBox="1">
            <a:spLocks noChangeArrowheads="1"/>
          </p:cNvSpPr>
          <p:nvPr/>
        </p:nvSpPr>
        <p:spPr bwMode="auto">
          <a:xfrm>
            <a:off x="1664854" y="2686804"/>
            <a:ext cx="644525" cy="319958"/>
          </a:xfrm>
          <a:prstGeom prst="rect">
            <a:avLst/>
          </a:prstGeom>
          <a:noFill/>
          <a:ln w="9525">
            <a:noFill/>
            <a:miter lim="800000"/>
            <a:headEnd/>
            <a:tailEnd/>
          </a:ln>
        </p:spPr>
        <p:txBody>
          <a:bodyPr lIns="73025" tIns="36512" rIns="73025" bIns="36512">
            <a:spAutoFit/>
          </a:bodyPr>
          <a:lstStyle/>
          <a:p>
            <a:pPr algn="ctr">
              <a:spcBef>
                <a:spcPct val="50000"/>
              </a:spcBef>
            </a:pPr>
            <a:r>
              <a:rPr lang="en-GB" altLang="zh-CN" sz="1600" b="1" dirty="0">
                <a:latin typeface="微软雅黑" panose="020B0503020204020204" pitchFamily="34" charset="-122"/>
                <a:ea typeface="微软雅黑" panose="020B0503020204020204" pitchFamily="34" charset="-122"/>
                <a:cs typeface="Times New Roman" pitchFamily="18" charset="0"/>
              </a:rPr>
              <a:t>AS</a:t>
            </a:r>
            <a:r>
              <a:rPr lang="en-GB" altLang="zh-CN" sz="1600" b="1" baseline="-25000" dirty="0">
                <a:latin typeface="微软雅黑" panose="020B0503020204020204" pitchFamily="34" charset="-122"/>
                <a:ea typeface="微软雅黑" panose="020B0503020204020204" pitchFamily="34" charset="-122"/>
                <a:cs typeface="Times New Roman" pitchFamily="18" charset="0"/>
              </a:rPr>
              <a:t>1</a:t>
            </a:r>
          </a:p>
        </p:txBody>
      </p:sp>
      <p:sp>
        <p:nvSpPr>
          <p:cNvPr id="224" name="Text Box 47"/>
          <p:cNvSpPr txBox="1">
            <a:spLocks noChangeArrowheads="1"/>
          </p:cNvSpPr>
          <p:nvPr/>
        </p:nvSpPr>
        <p:spPr bwMode="auto">
          <a:xfrm>
            <a:off x="3417454" y="2686804"/>
            <a:ext cx="644525" cy="319958"/>
          </a:xfrm>
          <a:prstGeom prst="rect">
            <a:avLst/>
          </a:prstGeom>
          <a:noFill/>
          <a:ln w="9525">
            <a:noFill/>
            <a:miter lim="800000"/>
            <a:headEnd/>
            <a:tailEnd/>
          </a:ln>
        </p:spPr>
        <p:txBody>
          <a:bodyPr lIns="73025" tIns="36512" rIns="73025" bIns="36512">
            <a:spAutoFit/>
          </a:bodyPr>
          <a:lstStyle/>
          <a:p>
            <a:pPr algn="ctr">
              <a:spcBef>
                <a:spcPct val="50000"/>
              </a:spcBef>
            </a:pPr>
            <a:r>
              <a:rPr lang="en-GB" altLang="zh-CN" sz="1600" b="1" dirty="0">
                <a:latin typeface="微软雅黑" panose="020B0503020204020204" pitchFamily="34" charset="-122"/>
                <a:ea typeface="微软雅黑" panose="020B0503020204020204" pitchFamily="34" charset="-122"/>
                <a:cs typeface="Times New Roman" pitchFamily="18" charset="0"/>
              </a:rPr>
              <a:t>AS</a:t>
            </a:r>
            <a:r>
              <a:rPr lang="en-GB" altLang="zh-CN" sz="1600" b="1" baseline="-25000" dirty="0">
                <a:latin typeface="微软雅黑" panose="020B0503020204020204" pitchFamily="34" charset="-122"/>
                <a:ea typeface="微软雅黑" panose="020B0503020204020204" pitchFamily="34" charset="-122"/>
                <a:cs typeface="Times New Roman" pitchFamily="18" charset="0"/>
              </a:rPr>
              <a:t>2</a:t>
            </a:r>
          </a:p>
        </p:txBody>
      </p:sp>
      <p:sp>
        <p:nvSpPr>
          <p:cNvPr id="225" name="Text Box 48"/>
          <p:cNvSpPr txBox="1">
            <a:spLocks noChangeArrowheads="1"/>
          </p:cNvSpPr>
          <p:nvPr/>
        </p:nvSpPr>
        <p:spPr bwMode="auto">
          <a:xfrm>
            <a:off x="5170054" y="2686804"/>
            <a:ext cx="644525" cy="319958"/>
          </a:xfrm>
          <a:prstGeom prst="rect">
            <a:avLst/>
          </a:prstGeom>
          <a:noFill/>
          <a:ln w="9525">
            <a:noFill/>
            <a:miter lim="800000"/>
            <a:headEnd/>
            <a:tailEnd/>
          </a:ln>
        </p:spPr>
        <p:txBody>
          <a:bodyPr lIns="73025" tIns="36512" rIns="73025" bIns="36512">
            <a:spAutoFit/>
          </a:bodyPr>
          <a:lstStyle/>
          <a:p>
            <a:pPr algn="ctr">
              <a:spcBef>
                <a:spcPct val="50000"/>
              </a:spcBef>
            </a:pPr>
            <a:r>
              <a:rPr lang="en-GB" altLang="zh-CN" sz="1600" b="1" dirty="0">
                <a:latin typeface="微软雅黑" panose="020B0503020204020204" pitchFamily="34" charset="-122"/>
                <a:ea typeface="微软雅黑" panose="020B0503020204020204" pitchFamily="34" charset="-122"/>
                <a:cs typeface="Times New Roman" pitchFamily="18" charset="0"/>
              </a:rPr>
              <a:t>AS</a:t>
            </a:r>
            <a:r>
              <a:rPr lang="en-GB" altLang="zh-CN" sz="1600" b="1" baseline="-25000" dirty="0">
                <a:latin typeface="微软雅黑" panose="020B0503020204020204" pitchFamily="34" charset="-122"/>
                <a:ea typeface="微软雅黑" panose="020B0503020204020204" pitchFamily="34" charset="-122"/>
                <a:cs typeface="Times New Roman" pitchFamily="18" charset="0"/>
              </a:rPr>
              <a:t>3</a:t>
            </a:r>
          </a:p>
        </p:txBody>
      </p:sp>
      <p:sp>
        <p:nvSpPr>
          <p:cNvPr id="226" name="Text Box 49"/>
          <p:cNvSpPr txBox="1">
            <a:spLocks noChangeArrowheads="1"/>
          </p:cNvSpPr>
          <p:nvPr/>
        </p:nvSpPr>
        <p:spPr bwMode="auto">
          <a:xfrm>
            <a:off x="6922654" y="2686804"/>
            <a:ext cx="644525" cy="319958"/>
          </a:xfrm>
          <a:prstGeom prst="rect">
            <a:avLst/>
          </a:prstGeom>
          <a:noFill/>
          <a:ln w="9525">
            <a:noFill/>
            <a:miter lim="800000"/>
            <a:headEnd/>
            <a:tailEnd/>
          </a:ln>
        </p:spPr>
        <p:txBody>
          <a:bodyPr lIns="73025" tIns="36512" rIns="73025" bIns="36512">
            <a:spAutoFit/>
          </a:bodyPr>
          <a:lstStyle/>
          <a:p>
            <a:pPr algn="ctr">
              <a:spcBef>
                <a:spcPct val="50000"/>
              </a:spcBef>
            </a:pPr>
            <a:r>
              <a:rPr lang="en-GB" altLang="zh-CN" sz="1600" b="1" dirty="0">
                <a:latin typeface="微软雅黑" panose="020B0503020204020204" pitchFamily="34" charset="-122"/>
                <a:ea typeface="微软雅黑" panose="020B0503020204020204" pitchFamily="34" charset="-122"/>
                <a:cs typeface="Times New Roman" pitchFamily="18" charset="0"/>
              </a:rPr>
              <a:t>AS</a:t>
            </a:r>
            <a:r>
              <a:rPr lang="en-GB" altLang="zh-CN" sz="1600" b="1" baseline="-25000" dirty="0">
                <a:latin typeface="微软雅黑" panose="020B0503020204020204" pitchFamily="34" charset="-122"/>
                <a:ea typeface="微软雅黑" panose="020B0503020204020204" pitchFamily="34" charset="-122"/>
                <a:cs typeface="Times New Roman" pitchFamily="18" charset="0"/>
              </a:rPr>
              <a:t>4</a:t>
            </a:r>
          </a:p>
        </p:txBody>
      </p:sp>
      <p:cxnSp>
        <p:nvCxnSpPr>
          <p:cNvPr id="227" name="直接箭头连接符 226"/>
          <p:cNvCxnSpPr/>
          <p:nvPr/>
        </p:nvCxnSpPr>
        <p:spPr>
          <a:xfrm>
            <a:off x="1252278" y="2430698"/>
            <a:ext cx="1440160" cy="0"/>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28" name="直接箭头连接符 227"/>
          <p:cNvCxnSpPr/>
          <p:nvPr/>
        </p:nvCxnSpPr>
        <p:spPr>
          <a:xfrm>
            <a:off x="6512011" y="2434627"/>
            <a:ext cx="1440160" cy="0"/>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29" name="直接箭头连接符 228"/>
          <p:cNvCxnSpPr/>
          <p:nvPr/>
        </p:nvCxnSpPr>
        <p:spPr>
          <a:xfrm>
            <a:off x="4780670" y="2430698"/>
            <a:ext cx="1440160" cy="0"/>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30" name="直接箭头连接符 229"/>
          <p:cNvCxnSpPr/>
          <p:nvPr/>
        </p:nvCxnSpPr>
        <p:spPr>
          <a:xfrm>
            <a:off x="2980470" y="2430698"/>
            <a:ext cx="1440160" cy="0"/>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31" name="直接箭头连接符 230"/>
          <p:cNvCxnSpPr/>
          <p:nvPr/>
        </p:nvCxnSpPr>
        <p:spPr>
          <a:xfrm>
            <a:off x="1252278" y="2070658"/>
            <a:ext cx="1440160" cy="0"/>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32" name="直接箭头连接符 231"/>
          <p:cNvCxnSpPr/>
          <p:nvPr/>
        </p:nvCxnSpPr>
        <p:spPr>
          <a:xfrm>
            <a:off x="6512011" y="2074587"/>
            <a:ext cx="1440160" cy="0"/>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33" name="直接箭头连接符 232"/>
          <p:cNvCxnSpPr/>
          <p:nvPr/>
        </p:nvCxnSpPr>
        <p:spPr>
          <a:xfrm>
            <a:off x="4780670" y="2070658"/>
            <a:ext cx="1440160" cy="0"/>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34" name="直接箭头连接符 233"/>
          <p:cNvCxnSpPr/>
          <p:nvPr/>
        </p:nvCxnSpPr>
        <p:spPr>
          <a:xfrm>
            <a:off x="2980470" y="2070658"/>
            <a:ext cx="1440160" cy="0"/>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2209745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5" y="622831"/>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 </a:t>
            </a:r>
            <a:r>
              <a:rPr lang="en-US" altLang="zh-CN" sz="2000" b="1" dirty="0" err="1">
                <a:solidFill>
                  <a:schemeClr val="bg1"/>
                </a:solidFill>
                <a:latin typeface="微软雅黑" pitchFamily="34" charset="-122"/>
                <a:ea typeface="微软雅黑" pitchFamily="34" charset="-122"/>
              </a:rPr>
              <a:t>eBGP</a:t>
            </a:r>
            <a:r>
              <a:rPr lang="en-US" altLang="zh-CN" sz="2000" b="1" dirty="0">
                <a:solidFill>
                  <a:schemeClr val="bg1"/>
                </a:solidFill>
                <a:latin typeface="微软雅黑" pitchFamily="34" charset="-122"/>
                <a:ea typeface="微软雅黑" pitchFamily="34" charset="-122"/>
              </a:rPr>
              <a:t> </a:t>
            </a:r>
            <a:r>
              <a:rPr lang="zh-CN" altLang="en-US" sz="2000" b="1" dirty="0">
                <a:solidFill>
                  <a:schemeClr val="bg1"/>
                </a:solidFill>
                <a:latin typeface="微软雅黑" pitchFamily="34" charset="-122"/>
                <a:ea typeface="微软雅黑" pitchFamily="34" charset="-122"/>
              </a:rPr>
              <a:t>和 </a:t>
            </a:r>
            <a:r>
              <a:rPr lang="en-US" altLang="zh-CN" sz="2000" b="1" dirty="0" err="1">
                <a:solidFill>
                  <a:schemeClr val="bg1"/>
                </a:solidFill>
                <a:latin typeface="微软雅黑" pitchFamily="34" charset="-122"/>
                <a:ea typeface="微软雅黑" pitchFamily="34" charset="-122"/>
              </a:rPr>
              <a:t>iBGP</a:t>
            </a:r>
            <a:endParaRPr lang="zh-CN" altLang="en-US" sz="2000" b="1" dirty="0">
              <a:solidFill>
                <a:schemeClr val="bg1"/>
              </a:solidFill>
              <a:latin typeface="微软雅黑" pitchFamily="34" charset="-122"/>
              <a:ea typeface="微软雅黑" pitchFamily="34" charset="-122"/>
            </a:endParaRPr>
          </a:p>
        </p:txBody>
      </p:sp>
      <p:sp>
        <p:nvSpPr>
          <p:cNvPr id="50" name="矩形 49"/>
          <p:cNvSpPr/>
          <p:nvPr/>
        </p:nvSpPr>
        <p:spPr>
          <a:xfrm>
            <a:off x="545143" y="983882"/>
            <a:ext cx="8053713" cy="2900794"/>
          </a:xfrm>
          <a:prstGeom prst="rect">
            <a:avLst/>
          </a:prstGeom>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同一个协议 </a:t>
            </a:r>
            <a:r>
              <a:rPr lang="en-US" altLang="zh-CN" sz="2000" b="1" dirty="0">
                <a:latin typeface="微软雅黑" pitchFamily="34" charset="-122"/>
                <a:ea typeface="微软雅黑" pitchFamily="34" charset="-122"/>
              </a:rPr>
              <a:t>BGP</a:t>
            </a:r>
            <a:r>
              <a:rPr lang="zh-CN" altLang="en-US" sz="2000" b="1" dirty="0">
                <a:latin typeface="微软雅黑" pitchFamily="34" charset="-122"/>
                <a:ea typeface="微软雅黑" pitchFamily="34" charset="-122"/>
              </a:rPr>
              <a:t>（使用的报文类型、使用的属性、使用的状态机等都完全一样）。</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但它们在通报前缀时采用的</a:t>
            </a:r>
            <a:r>
              <a:rPr lang="zh-CN" altLang="en-US" sz="2000" b="1" dirty="0">
                <a:solidFill>
                  <a:srgbClr val="C00000"/>
                </a:solidFill>
                <a:latin typeface="微软雅黑" pitchFamily="34" charset="-122"/>
                <a:ea typeface="微软雅黑" pitchFamily="34" charset="-122"/>
              </a:rPr>
              <a:t>规则不同：</a:t>
            </a:r>
            <a:endParaRPr lang="en-US" altLang="zh-CN" sz="2000" b="1" dirty="0">
              <a:solidFill>
                <a:srgbClr val="C00000"/>
              </a:solidFill>
              <a:latin typeface="微软雅黑" pitchFamily="34" charset="-122"/>
              <a:ea typeface="微软雅黑" pitchFamily="34" charset="-122"/>
            </a:endParaRPr>
          </a:p>
          <a:p>
            <a:pPr marL="534988" lvl="1" indent="-2794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在 </a:t>
            </a:r>
            <a:r>
              <a:rPr lang="en-US" altLang="zh-CN" sz="2000" b="1" dirty="0" err="1">
                <a:latin typeface="微软雅黑" pitchFamily="34" charset="-122"/>
                <a:ea typeface="微软雅黑" pitchFamily="34" charset="-122"/>
              </a:rPr>
              <a:t>eBGP</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连接的对等端得知的前缀信息，可以通报给一个 </a:t>
            </a:r>
            <a:r>
              <a:rPr lang="en-US" altLang="zh-CN" sz="2000" b="1" dirty="0" err="1">
                <a:latin typeface="微软雅黑" pitchFamily="34" charset="-122"/>
                <a:ea typeface="微软雅黑" pitchFamily="34" charset="-122"/>
              </a:rPr>
              <a:t>iBGP</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连接的对等端。反过来也是可以的。</a:t>
            </a:r>
            <a:endParaRPr lang="en-US" altLang="zh-CN" sz="2000" b="1" dirty="0">
              <a:latin typeface="微软雅黑" pitchFamily="34" charset="-122"/>
              <a:ea typeface="微软雅黑" pitchFamily="34" charset="-122"/>
            </a:endParaRPr>
          </a:p>
          <a:p>
            <a:pPr marL="534988" lvl="1" indent="-2794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但从 </a:t>
            </a:r>
            <a:r>
              <a:rPr lang="en-US" altLang="zh-CN" sz="2000" b="1" dirty="0" err="1">
                <a:latin typeface="微软雅黑" pitchFamily="34" charset="-122"/>
                <a:ea typeface="微软雅黑" pitchFamily="34" charset="-122"/>
              </a:rPr>
              <a:t>iBGP</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连接的对等端得知的前缀信息，则不能够通报给另一个 </a:t>
            </a:r>
            <a:r>
              <a:rPr lang="en-US" altLang="zh-CN" sz="2000" b="1" dirty="0" err="1">
                <a:latin typeface="微软雅黑" pitchFamily="34" charset="-122"/>
                <a:ea typeface="微软雅黑" pitchFamily="34" charset="-122"/>
              </a:rPr>
              <a:t>iBGP</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连接的对等端。</a:t>
            </a:r>
          </a:p>
        </p:txBody>
      </p:sp>
    </p:spTree>
    <p:extLst>
      <p:ext uri="{BB962C8B-B14F-4D97-AF65-F5344CB8AC3E}">
        <p14:creationId xmlns:p14="http://schemas.microsoft.com/office/powerpoint/2010/main" val="250696138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5" y="622831"/>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 </a:t>
            </a:r>
            <a:r>
              <a:rPr lang="en-US" altLang="zh-CN" sz="2000" b="1" dirty="0" err="1">
                <a:solidFill>
                  <a:schemeClr val="bg1"/>
                </a:solidFill>
                <a:latin typeface="微软雅黑" pitchFamily="34" charset="-122"/>
                <a:ea typeface="微软雅黑" pitchFamily="34" charset="-122"/>
              </a:rPr>
              <a:t>eBGP</a:t>
            </a:r>
            <a:r>
              <a:rPr lang="en-US" altLang="zh-CN" sz="2000" b="1" dirty="0">
                <a:solidFill>
                  <a:schemeClr val="bg1"/>
                </a:solidFill>
                <a:latin typeface="微软雅黑" pitchFamily="34" charset="-122"/>
                <a:ea typeface="微软雅黑" pitchFamily="34" charset="-122"/>
              </a:rPr>
              <a:t> </a:t>
            </a:r>
            <a:r>
              <a:rPr lang="zh-CN" altLang="en-US" sz="2000" b="1" dirty="0">
                <a:solidFill>
                  <a:schemeClr val="bg1"/>
                </a:solidFill>
                <a:latin typeface="微软雅黑" pitchFamily="34" charset="-122"/>
                <a:ea typeface="微软雅黑" pitchFamily="34" charset="-122"/>
              </a:rPr>
              <a:t>和 </a:t>
            </a:r>
            <a:r>
              <a:rPr lang="en-US" altLang="zh-CN" sz="2000" b="1" dirty="0" err="1">
                <a:solidFill>
                  <a:schemeClr val="bg1"/>
                </a:solidFill>
                <a:latin typeface="微软雅黑" pitchFamily="34" charset="-122"/>
                <a:ea typeface="微软雅黑" pitchFamily="34" charset="-122"/>
              </a:rPr>
              <a:t>iBGP</a:t>
            </a:r>
            <a:endParaRPr lang="zh-CN" altLang="en-US" sz="2000" b="1" dirty="0">
              <a:solidFill>
                <a:schemeClr val="bg1"/>
              </a:solidFill>
              <a:latin typeface="微软雅黑" pitchFamily="34" charset="-122"/>
              <a:ea typeface="微软雅黑" pitchFamily="34" charset="-122"/>
            </a:endParaRPr>
          </a:p>
        </p:txBody>
      </p:sp>
      <p:sp>
        <p:nvSpPr>
          <p:cNvPr id="51" name="圆角矩形 50"/>
          <p:cNvSpPr/>
          <p:nvPr/>
        </p:nvSpPr>
        <p:spPr>
          <a:xfrm>
            <a:off x="545145" y="1052858"/>
            <a:ext cx="8053712" cy="208750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52" name="Text Box 173"/>
          <p:cNvSpPr txBox="1">
            <a:spLocks noChangeArrowheads="1"/>
          </p:cNvSpPr>
          <p:nvPr/>
        </p:nvSpPr>
        <p:spPr bwMode="auto">
          <a:xfrm>
            <a:off x="436809" y="3195755"/>
            <a:ext cx="8672746" cy="1426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85750" indent="-285750" eaLnBrk="1" hangingPunct="1">
              <a:lnSpc>
                <a:spcPts val="2600"/>
              </a:lnSpc>
              <a:buFont typeface="Wingdings" panose="05000000000000000000" pitchFamily="2" charset="2"/>
              <a:buChar char="l"/>
            </a:pP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3</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从 </a:t>
            </a:r>
            <a:r>
              <a:rPr lang="en-US" altLang="zh-CN" sz="1600" b="1" dirty="0" err="1">
                <a:latin typeface="微软雅黑" panose="020B0503020204020204" pitchFamily="34" charset="-122"/>
                <a:ea typeface="微软雅黑" panose="020B0503020204020204" pitchFamily="34" charset="-122"/>
              </a:rPr>
              <a:t>eBGP</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连接的对等端 </a:t>
            </a: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4</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得到的前缀信息</a:t>
            </a:r>
            <a:r>
              <a:rPr lang="zh-CN" altLang="en-US" sz="1600" b="1" dirty="0">
                <a:solidFill>
                  <a:srgbClr val="C00000"/>
                </a:solidFill>
                <a:latin typeface="微软雅黑" panose="020B0503020204020204" pitchFamily="34" charset="-122"/>
                <a:ea typeface="微软雅黑" panose="020B0503020204020204" pitchFamily="34" charset="-122"/>
              </a:rPr>
              <a:t>可以</a:t>
            </a:r>
            <a:r>
              <a:rPr lang="zh-CN" altLang="en-US" sz="1600" b="1" dirty="0">
                <a:latin typeface="微软雅黑" panose="020B0503020204020204" pitchFamily="34" charset="-122"/>
                <a:ea typeface="微软雅黑" panose="020B0503020204020204" pitchFamily="34" charset="-122"/>
              </a:rPr>
              <a:t>通报给 </a:t>
            </a:r>
            <a:r>
              <a:rPr lang="en-US" altLang="zh-CN" sz="1600" b="1" dirty="0" err="1">
                <a:latin typeface="微软雅黑" panose="020B0503020204020204" pitchFamily="34" charset="-122"/>
                <a:ea typeface="微软雅黑" panose="020B0503020204020204" pitchFamily="34" charset="-122"/>
              </a:rPr>
              <a:t>iBGP</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连接的对等端 </a:t>
            </a: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1</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或 </a:t>
            </a: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2</a:t>
            </a:r>
            <a:r>
              <a:rPr lang="zh-CN" altLang="en-US" sz="1600" b="1" dirty="0">
                <a:latin typeface="微软雅黑" panose="020B0503020204020204" pitchFamily="34" charset="-122"/>
                <a:ea typeface="微软雅黑" panose="020B0503020204020204" pitchFamily="34" charset="-122"/>
              </a:rPr>
              <a:t>。</a:t>
            </a:r>
            <a:endParaRPr lang="en-US" altLang="zh-CN" sz="1600" b="1" dirty="0">
              <a:latin typeface="微软雅黑" panose="020B0503020204020204" pitchFamily="34" charset="-122"/>
              <a:ea typeface="微软雅黑" panose="020B0503020204020204" pitchFamily="34" charset="-122"/>
            </a:endParaRPr>
          </a:p>
          <a:p>
            <a:pPr marL="285750" indent="-285750" eaLnBrk="1" hangingPunct="1">
              <a:lnSpc>
                <a:spcPts val="2600"/>
              </a:lnSpc>
              <a:buFont typeface="Wingdings" panose="05000000000000000000" pitchFamily="2" charset="2"/>
              <a:buChar char="l"/>
            </a:pP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3</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从 </a:t>
            </a:r>
            <a:r>
              <a:rPr lang="en-US" altLang="zh-CN" sz="1600" b="1" dirty="0" err="1">
                <a:latin typeface="微软雅黑" panose="020B0503020204020204" pitchFamily="34" charset="-122"/>
                <a:ea typeface="微软雅黑" panose="020B0503020204020204" pitchFamily="34" charset="-122"/>
              </a:rPr>
              <a:t>iBGP</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连接的对等端 </a:t>
            </a: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1</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和 </a:t>
            </a: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2</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得到的前缀信息</a:t>
            </a:r>
            <a:r>
              <a:rPr lang="zh-CN" altLang="en-US" sz="1600" b="1" dirty="0">
                <a:solidFill>
                  <a:srgbClr val="C00000"/>
                </a:solidFill>
                <a:latin typeface="微软雅黑" panose="020B0503020204020204" pitchFamily="34" charset="-122"/>
                <a:ea typeface="微软雅黑" panose="020B0503020204020204" pitchFamily="34" charset="-122"/>
              </a:rPr>
              <a:t>可以</a:t>
            </a:r>
            <a:r>
              <a:rPr lang="zh-CN" altLang="en-US" sz="1600" b="1" dirty="0">
                <a:latin typeface="微软雅黑" panose="020B0503020204020204" pitchFamily="34" charset="-122"/>
                <a:ea typeface="微软雅黑" panose="020B0503020204020204" pitchFamily="34" charset="-122"/>
              </a:rPr>
              <a:t>通报给 </a:t>
            </a:r>
            <a:r>
              <a:rPr lang="en-US" altLang="zh-CN" sz="1600" b="1" dirty="0" err="1">
                <a:latin typeface="微软雅黑" panose="020B0503020204020204" pitchFamily="34" charset="-122"/>
                <a:ea typeface="微软雅黑" panose="020B0503020204020204" pitchFamily="34" charset="-122"/>
              </a:rPr>
              <a:t>eBGP</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连接的对等端 </a:t>
            </a: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4</a:t>
            </a:r>
            <a:r>
              <a:rPr lang="zh-CN" altLang="en-US" sz="1600" b="1" dirty="0">
                <a:latin typeface="微软雅黑" panose="020B0503020204020204" pitchFamily="34" charset="-122"/>
                <a:ea typeface="微软雅黑" panose="020B0503020204020204" pitchFamily="34" charset="-122"/>
              </a:rPr>
              <a:t>。</a:t>
            </a:r>
            <a:endParaRPr lang="en-US" altLang="zh-CN" sz="1600" b="1" dirty="0">
              <a:latin typeface="微软雅黑" panose="020B0503020204020204" pitchFamily="34" charset="-122"/>
              <a:ea typeface="微软雅黑" panose="020B0503020204020204" pitchFamily="34" charset="-122"/>
            </a:endParaRPr>
          </a:p>
          <a:p>
            <a:pPr marL="285750" indent="-285750" eaLnBrk="1" hangingPunct="1">
              <a:lnSpc>
                <a:spcPts val="2600"/>
              </a:lnSpc>
              <a:buFont typeface="Wingdings" panose="05000000000000000000" pitchFamily="2" charset="2"/>
              <a:buChar char="l"/>
            </a:pPr>
            <a:r>
              <a:rPr lang="zh-CN" altLang="en-US" sz="1600" b="1" dirty="0">
                <a:latin typeface="微软雅黑" panose="020B0503020204020204" pitchFamily="34" charset="-122"/>
                <a:ea typeface="微软雅黑" panose="020B0503020204020204" pitchFamily="34" charset="-122"/>
              </a:rPr>
              <a:t>但 </a:t>
            </a: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3</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从 </a:t>
            </a:r>
            <a:r>
              <a:rPr lang="en-US" altLang="zh-CN" sz="1600" b="1" dirty="0" err="1">
                <a:latin typeface="微软雅黑" panose="020B0503020204020204" pitchFamily="34" charset="-122"/>
                <a:ea typeface="微软雅黑" panose="020B0503020204020204" pitchFamily="34" charset="-122"/>
              </a:rPr>
              <a:t>iBGP</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连接的对等端 </a:t>
            </a: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1</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得到的前缀信息</a:t>
            </a:r>
            <a:r>
              <a:rPr lang="zh-CN" altLang="en-US" sz="1600" b="1" dirty="0">
                <a:solidFill>
                  <a:srgbClr val="C00000"/>
                </a:solidFill>
                <a:latin typeface="微软雅黑" panose="020B0503020204020204" pitchFamily="34" charset="-122"/>
                <a:ea typeface="微软雅黑" panose="020B0503020204020204" pitchFamily="34" charset="-122"/>
              </a:rPr>
              <a:t>不允许</a:t>
            </a:r>
            <a:r>
              <a:rPr lang="zh-CN" altLang="en-US" sz="1600" b="1" dirty="0">
                <a:latin typeface="微软雅黑" panose="020B0503020204020204" pitchFamily="34" charset="-122"/>
                <a:ea typeface="微软雅黑" panose="020B0503020204020204" pitchFamily="34" charset="-122"/>
              </a:rPr>
              <a:t>再通报给另一个 </a:t>
            </a:r>
            <a:r>
              <a:rPr lang="en-US" altLang="zh-CN" sz="1600" b="1" dirty="0" err="1">
                <a:latin typeface="微软雅黑" panose="020B0503020204020204" pitchFamily="34" charset="-122"/>
                <a:ea typeface="微软雅黑" panose="020B0503020204020204" pitchFamily="34" charset="-122"/>
              </a:rPr>
              <a:t>iBGP</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连接的对等端 </a:t>
            </a: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2</a:t>
            </a:r>
            <a:r>
              <a:rPr lang="zh-CN" altLang="en-US" sz="1600" b="1" dirty="0">
                <a:latin typeface="微软雅黑" panose="020B0503020204020204" pitchFamily="34" charset="-122"/>
                <a:ea typeface="微软雅黑" panose="020B0503020204020204" pitchFamily="34" charset="-122"/>
              </a:rPr>
              <a:t>。</a:t>
            </a:r>
            <a:endParaRPr lang="en-US" altLang="zh-CN" sz="1600" b="1" dirty="0">
              <a:latin typeface="微软雅黑" panose="020B0503020204020204" pitchFamily="34" charset="-122"/>
              <a:ea typeface="微软雅黑" panose="020B0503020204020204" pitchFamily="34" charset="-122"/>
            </a:endParaRPr>
          </a:p>
        </p:txBody>
      </p:sp>
      <p:grpSp>
        <p:nvGrpSpPr>
          <p:cNvPr id="97" name="Group 206"/>
          <p:cNvGrpSpPr>
            <a:grpSpLocks/>
          </p:cNvGrpSpPr>
          <p:nvPr/>
        </p:nvGrpSpPr>
        <p:grpSpPr bwMode="auto">
          <a:xfrm>
            <a:off x="2191907" y="1670627"/>
            <a:ext cx="1655763" cy="792163"/>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98"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99"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00"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01"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02"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03"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04"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05"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06"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107" name="Group 216"/>
            <p:cNvGrpSpPr>
              <a:grpSpLocks/>
            </p:cNvGrpSpPr>
            <p:nvPr/>
          </p:nvGrpSpPr>
          <p:grpSpPr bwMode="auto">
            <a:xfrm>
              <a:off x="912" y="768"/>
              <a:ext cx="2386" cy="1553"/>
              <a:chOff x="912" y="768"/>
              <a:chExt cx="2386" cy="1553"/>
            </a:xfrm>
            <a:grpFill/>
          </p:grpSpPr>
          <p:sp>
            <p:nvSpPr>
              <p:cNvPr id="108"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09"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10"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11"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12"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13"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14"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15"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16"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grpSp>
        <p:nvGrpSpPr>
          <p:cNvPr id="117" name="Group 206"/>
          <p:cNvGrpSpPr>
            <a:grpSpLocks/>
          </p:cNvGrpSpPr>
          <p:nvPr/>
        </p:nvGrpSpPr>
        <p:grpSpPr bwMode="auto">
          <a:xfrm>
            <a:off x="5043057" y="1862715"/>
            <a:ext cx="1944688" cy="792162"/>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18"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19"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20"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21"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22"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23"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24"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25"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26"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127" name="Group 216"/>
            <p:cNvGrpSpPr>
              <a:grpSpLocks/>
            </p:cNvGrpSpPr>
            <p:nvPr/>
          </p:nvGrpSpPr>
          <p:grpSpPr bwMode="auto">
            <a:xfrm>
              <a:off x="912" y="768"/>
              <a:ext cx="2386" cy="1553"/>
              <a:chOff x="912" y="768"/>
              <a:chExt cx="2386" cy="1553"/>
            </a:xfrm>
            <a:grpFill/>
          </p:grpSpPr>
          <p:sp>
            <p:nvSpPr>
              <p:cNvPr id="128"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29"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0"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1"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2"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3"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4"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5"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6"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sp>
        <p:nvSpPr>
          <p:cNvPr id="137" name="Line 154"/>
          <p:cNvSpPr>
            <a:spLocks noChangeShapeType="1"/>
          </p:cNvSpPr>
          <p:nvPr/>
        </p:nvSpPr>
        <p:spPr bwMode="auto">
          <a:xfrm flipV="1">
            <a:off x="3774645" y="2224665"/>
            <a:ext cx="1368425" cy="0"/>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38" name="Line 165"/>
          <p:cNvSpPr>
            <a:spLocks noChangeShapeType="1"/>
          </p:cNvSpPr>
          <p:nvPr/>
        </p:nvSpPr>
        <p:spPr bwMode="auto">
          <a:xfrm flipV="1">
            <a:off x="3126945" y="2246890"/>
            <a:ext cx="647700" cy="19367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39" name="Line 170"/>
          <p:cNvSpPr>
            <a:spLocks noChangeShapeType="1"/>
          </p:cNvSpPr>
          <p:nvPr/>
        </p:nvSpPr>
        <p:spPr bwMode="auto">
          <a:xfrm>
            <a:off x="2984070" y="1815090"/>
            <a:ext cx="790575" cy="36036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40" name="Text Box 173"/>
          <p:cNvSpPr txBox="1">
            <a:spLocks noChangeArrowheads="1"/>
          </p:cNvSpPr>
          <p:nvPr/>
        </p:nvSpPr>
        <p:spPr bwMode="auto">
          <a:xfrm>
            <a:off x="3323795" y="1462665"/>
            <a:ext cx="54694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AS</a:t>
            </a:r>
            <a:r>
              <a:rPr lang="en-US" altLang="zh-CN" sz="1600" b="1" baseline="-25000">
                <a:latin typeface="微软雅黑" panose="020B0503020204020204" pitchFamily="34" charset="-122"/>
                <a:ea typeface="微软雅黑" panose="020B0503020204020204" pitchFamily="34" charset="-122"/>
              </a:rPr>
              <a:t>1</a:t>
            </a:r>
          </a:p>
        </p:txBody>
      </p:sp>
      <p:sp>
        <p:nvSpPr>
          <p:cNvPr id="141" name="Text Box 175"/>
          <p:cNvSpPr txBox="1">
            <a:spLocks noChangeArrowheads="1"/>
          </p:cNvSpPr>
          <p:nvPr/>
        </p:nvSpPr>
        <p:spPr bwMode="auto">
          <a:xfrm>
            <a:off x="5690757" y="1505527"/>
            <a:ext cx="54694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AS</a:t>
            </a:r>
            <a:r>
              <a:rPr lang="en-US" altLang="zh-CN" sz="1600" b="1" baseline="-25000">
                <a:latin typeface="微软雅黑" panose="020B0503020204020204" pitchFamily="34" charset="-122"/>
                <a:ea typeface="微软雅黑" panose="020B0503020204020204" pitchFamily="34" charset="-122"/>
              </a:rPr>
              <a:t>2</a:t>
            </a:r>
          </a:p>
        </p:txBody>
      </p:sp>
      <p:pic>
        <p:nvPicPr>
          <p:cNvPr id="142"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84070" y="2369127"/>
            <a:ext cx="296862"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143" name="Text Box 173"/>
          <p:cNvSpPr txBox="1">
            <a:spLocks noChangeArrowheads="1"/>
          </p:cNvSpPr>
          <p:nvPr/>
        </p:nvSpPr>
        <p:spPr bwMode="auto">
          <a:xfrm>
            <a:off x="3703207" y="1792865"/>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R</a:t>
            </a:r>
            <a:r>
              <a:rPr lang="en-US" altLang="zh-CN" sz="1600" b="1" baseline="-25000">
                <a:latin typeface="微软雅黑" panose="020B0503020204020204" pitchFamily="34" charset="-122"/>
                <a:ea typeface="微软雅黑" panose="020B0503020204020204" pitchFamily="34" charset="-122"/>
              </a:rPr>
              <a:t>3</a:t>
            </a:r>
          </a:p>
        </p:txBody>
      </p:sp>
      <p:sp>
        <p:nvSpPr>
          <p:cNvPr id="144" name="Text Box 173"/>
          <p:cNvSpPr txBox="1">
            <a:spLocks noChangeArrowheads="1"/>
          </p:cNvSpPr>
          <p:nvPr/>
        </p:nvSpPr>
        <p:spPr bwMode="auto">
          <a:xfrm>
            <a:off x="4827157" y="1815090"/>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R</a:t>
            </a:r>
            <a:r>
              <a:rPr lang="en-US" altLang="zh-CN" sz="1600" b="1" baseline="-25000">
                <a:latin typeface="微软雅黑" panose="020B0503020204020204" pitchFamily="34" charset="-122"/>
                <a:ea typeface="微软雅黑" panose="020B0503020204020204" pitchFamily="34" charset="-122"/>
              </a:rPr>
              <a:t>4</a:t>
            </a:r>
          </a:p>
        </p:txBody>
      </p:sp>
      <p:pic>
        <p:nvPicPr>
          <p:cNvPr id="145"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839607" y="1742065"/>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46"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035120" y="2131002"/>
            <a:ext cx="296862"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47"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622245" y="2132590"/>
            <a:ext cx="296862"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148" name="Text Box 173"/>
          <p:cNvSpPr txBox="1">
            <a:spLocks noChangeArrowheads="1"/>
          </p:cNvSpPr>
          <p:nvPr/>
        </p:nvSpPr>
        <p:spPr bwMode="auto">
          <a:xfrm>
            <a:off x="2982482" y="2440565"/>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R</a:t>
            </a:r>
            <a:r>
              <a:rPr lang="en-US" altLang="zh-CN" sz="1600" b="1" baseline="-25000">
                <a:latin typeface="微软雅黑" panose="020B0503020204020204" pitchFamily="34" charset="-122"/>
                <a:ea typeface="微软雅黑" panose="020B0503020204020204" pitchFamily="34" charset="-122"/>
              </a:rPr>
              <a:t>2</a:t>
            </a:r>
          </a:p>
        </p:txBody>
      </p:sp>
      <p:sp>
        <p:nvSpPr>
          <p:cNvPr id="149" name="Text Box 173"/>
          <p:cNvSpPr txBox="1">
            <a:spLocks noChangeArrowheads="1"/>
          </p:cNvSpPr>
          <p:nvPr/>
        </p:nvSpPr>
        <p:spPr bwMode="auto">
          <a:xfrm>
            <a:off x="2766582" y="1432502"/>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R</a:t>
            </a:r>
            <a:r>
              <a:rPr lang="en-US" altLang="zh-CN" sz="1600" b="1" baseline="-25000">
                <a:latin typeface="微软雅黑" panose="020B0503020204020204" pitchFamily="34" charset="-122"/>
                <a:ea typeface="微软雅黑" panose="020B0503020204020204" pitchFamily="34" charset="-122"/>
              </a:rPr>
              <a:t>1</a:t>
            </a:r>
          </a:p>
        </p:txBody>
      </p:sp>
      <p:cxnSp>
        <p:nvCxnSpPr>
          <p:cNvPr id="150" name="直接箭头连接符 329"/>
          <p:cNvCxnSpPr>
            <a:cxnSpLocks noChangeShapeType="1"/>
          </p:cNvCxnSpPr>
          <p:nvPr/>
        </p:nvCxnSpPr>
        <p:spPr bwMode="auto">
          <a:xfrm flipH="1">
            <a:off x="4409645" y="1638877"/>
            <a:ext cx="363537" cy="579438"/>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151" name="Text Box 42"/>
          <p:cNvSpPr txBox="1">
            <a:spLocks noChangeArrowheads="1"/>
          </p:cNvSpPr>
          <p:nvPr/>
        </p:nvSpPr>
        <p:spPr bwMode="auto">
          <a:xfrm>
            <a:off x="4376307" y="1348365"/>
            <a:ext cx="120898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eBGP </a:t>
            </a:r>
            <a:r>
              <a:rPr lang="zh-CN" altLang="en-US" sz="1600" b="1">
                <a:latin typeface="微软雅黑" panose="020B0503020204020204" pitchFamily="34" charset="-122"/>
                <a:ea typeface="微软雅黑" panose="020B0503020204020204" pitchFamily="34" charset="-122"/>
              </a:rPr>
              <a:t>连接</a:t>
            </a:r>
          </a:p>
        </p:txBody>
      </p:sp>
      <p:sp>
        <p:nvSpPr>
          <p:cNvPr id="152" name="Text Box 42"/>
          <p:cNvSpPr txBox="1">
            <a:spLocks noChangeArrowheads="1"/>
          </p:cNvSpPr>
          <p:nvPr/>
        </p:nvSpPr>
        <p:spPr bwMode="auto">
          <a:xfrm>
            <a:off x="1090719" y="1620656"/>
            <a:ext cx="11496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err="1">
                <a:latin typeface="微软雅黑" panose="020B0503020204020204" pitchFamily="34" charset="-122"/>
                <a:ea typeface="微软雅黑" panose="020B0503020204020204" pitchFamily="34" charset="-122"/>
              </a:rPr>
              <a:t>iBGP</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连接</a:t>
            </a:r>
          </a:p>
        </p:txBody>
      </p:sp>
      <p:cxnSp>
        <p:nvCxnSpPr>
          <p:cNvPr id="153" name="直接箭头连接符 339"/>
          <p:cNvCxnSpPr>
            <a:cxnSpLocks noChangeShapeType="1"/>
            <a:stCxn id="152" idx="3"/>
          </p:cNvCxnSpPr>
          <p:nvPr/>
        </p:nvCxnSpPr>
        <p:spPr bwMode="auto">
          <a:xfrm>
            <a:off x="2240393" y="1789933"/>
            <a:ext cx="1083665" cy="22342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54" name="直接箭头连接符 339"/>
          <p:cNvCxnSpPr>
            <a:cxnSpLocks noChangeShapeType="1"/>
          </p:cNvCxnSpPr>
          <p:nvPr/>
        </p:nvCxnSpPr>
        <p:spPr bwMode="auto">
          <a:xfrm>
            <a:off x="2181119" y="1885054"/>
            <a:ext cx="1169663" cy="45232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Tree>
    <p:extLst>
      <p:ext uri="{BB962C8B-B14F-4D97-AF65-F5344CB8AC3E}">
        <p14:creationId xmlns:p14="http://schemas.microsoft.com/office/powerpoint/2010/main" val="260225655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5" y="622831"/>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BGP </a:t>
            </a:r>
            <a:r>
              <a:rPr lang="zh-CN" altLang="en-US" sz="2000" b="1" dirty="0">
                <a:solidFill>
                  <a:schemeClr val="bg1"/>
                </a:solidFill>
                <a:latin typeface="微软雅黑" pitchFamily="34" charset="-122"/>
                <a:ea typeface="微软雅黑" pitchFamily="34" charset="-122"/>
              </a:rPr>
              <a:t>路由信息</a:t>
            </a:r>
          </a:p>
        </p:txBody>
      </p:sp>
      <p:sp>
        <p:nvSpPr>
          <p:cNvPr id="5" name="矩形 4"/>
          <p:cNvSpPr/>
          <p:nvPr/>
        </p:nvSpPr>
        <p:spPr>
          <a:xfrm>
            <a:off x="660202" y="1168172"/>
            <a:ext cx="7938655" cy="400110"/>
          </a:xfrm>
          <a:prstGeom prst="rect">
            <a:avLst/>
          </a:prstGeom>
        </p:spPr>
        <p:txBody>
          <a:bodyPr wrap="square">
            <a:spAutoFit/>
          </a:bodyPr>
          <a:lstStyle/>
          <a:p>
            <a:r>
              <a:rPr lang="en-US" altLang="zh-CN" sz="2000" b="1" dirty="0">
                <a:latin typeface="微软雅黑" panose="020B0503020204020204" pitchFamily="34" charset="-122"/>
                <a:ea typeface="微软雅黑" panose="020B0503020204020204" pitchFamily="34" charset="-122"/>
              </a:rPr>
              <a:t>BGP </a:t>
            </a:r>
            <a:r>
              <a:rPr lang="zh-CN" altLang="en-US" sz="2000" b="1" dirty="0">
                <a:latin typeface="微软雅黑" panose="020B0503020204020204" pitchFamily="34" charset="-122"/>
                <a:ea typeface="微软雅黑" panose="020B0503020204020204" pitchFamily="34" charset="-122"/>
              </a:rPr>
              <a:t>路由 </a:t>
            </a:r>
            <a:r>
              <a:rPr lang="en-US" altLang="zh-CN" sz="2000" b="1" dirty="0">
                <a:latin typeface="微软雅黑" panose="020B0503020204020204" pitchFamily="34" charset="-122"/>
                <a:ea typeface="微软雅黑" panose="020B0503020204020204" pitchFamily="34" charset="-122"/>
              </a:rPr>
              <a:t>= [ </a:t>
            </a:r>
            <a:r>
              <a:rPr lang="zh-CN" altLang="en-US" sz="2000" b="1" dirty="0">
                <a:latin typeface="微软雅黑" panose="020B0503020204020204" pitchFamily="34" charset="-122"/>
                <a:ea typeface="微软雅黑" panose="020B0503020204020204" pitchFamily="34" charset="-122"/>
              </a:rPr>
              <a:t>前缀</a:t>
            </a:r>
            <a:r>
              <a:rPr lang="en-US" altLang="zh-CN" sz="2000" b="1" dirty="0">
                <a:latin typeface="微软雅黑" panose="020B0503020204020204" pitchFamily="34" charset="-122"/>
                <a:ea typeface="微软雅黑" panose="020B0503020204020204" pitchFamily="34" charset="-122"/>
              </a:rPr>
              <a:t>, BGP</a:t>
            </a:r>
            <a:r>
              <a:rPr lang="zh-CN" altLang="en-US" sz="2000" b="1" dirty="0">
                <a:latin typeface="微软雅黑" panose="020B0503020204020204" pitchFamily="34" charset="-122"/>
                <a:ea typeface="微软雅黑" panose="020B0503020204020204" pitchFamily="34" charset="-122"/>
              </a:rPr>
              <a:t>属性 </a:t>
            </a:r>
            <a:r>
              <a:rPr lang="en-US" altLang="zh-CN" sz="2000" b="1" dirty="0">
                <a:latin typeface="微软雅黑" panose="020B0503020204020204" pitchFamily="34" charset="-122"/>
                <a:ea typeface="微软雅黑" panose="020B0503020204020204" pitchFamily="34" charset="-122"/>
              </a:rPr>
              <a:t>] = [ </a:t>
            </a:r>
            <a:r>
              <a:rPr lang="zh-CN" altLang="en-US" sz="2000" b="1" dirty="0">
                <a:latin typeface="微软雅黑" panose="020B0503020204020204" pitchFamily="34" charset="-122"/>
                <a:ea typeface="微软雅黑" panose="020B0503020204020204" pitchFamily="34" charset="-122"/>
              </a:rPr>
              <a:t>前缀</a:t>
            </a:r>
            <a:r>
              <a:rPr lang="en-US" altLang="zh-CN" sz="2000" b="1" dirty="0">
                <a:latin typeface="微软雅黑" panose="020B0503020204020204" pitchFamily="34" charset="-122"/>
                <a:ea typeface="微软雅黑" panose="020B0503020204020204" pitchFamily="34" charset="-122"/>
              </a:rPr>
              <a:t>, AS-PATH, NEXT-HOP ]</a:t>
            </a:r>
            <a:endParaRPr lang="zh-CN" altLang="en-US" sz="2000" b="1" dirty="0">
              <a:latin typeface="微软雅黑" panose="020B0503020204020204" pitchFamily="34" charset="-122"/>
              <a:ea typeface="微软雅黑" panose="020B0503020204020204" pitchFamily="34" charset="-122"/>
            </a:endParaRPr>
          </a:p>
        </p:txBody>
      </p:sp>
      <p:sp>
        <p:nvSpPr>
          <p:cNvPr id="6" name="矩形 5"/>
          <p:cNvSpPr/>
          <p:nvPr/>
        </p:nvSpPr>
        <p:spPr>
          <a:xfrm>
            <a:off x="660202" y="1565726"/>
            <a:ext cx="6848764" cy="477054"/>
          </a:xfrm>
          <a:prstGeom prst="rect">
            <a:avLst/>
          </a:prstGeom>
        </p:spPr>
        <p:txBody>
          <a:bodyPr wrap="square">
            <a:spAutoFit/>
          </a:bodyPr>
          <a:lstStyle/>
          <a:p>
            <a:pPr marL="285750" indent="-285750">
              <a:lnSpc>
                <a:spcPts val="30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前缀：</a:t>
            </a:r>
            <a:r>
              <a:rPr lang="zh-CN" altLang="en-US" sz="2000" b="1" dirty="0">
                <a:latin typeface="微软雅黑" pitchFamily="34" charset="-122"/>
                <a:ea typeface="微软雅黑" pitchFamily="34" charset="-122"/>
              </a:rPr>
              <a:t>指明到哪一个子网（用 </a:t>
            </a:r>
            <a:r>
              <a:rPr lang="en-US" altLang="zh-CN" sz="2000" b="1" dirty="0">
                <a:latin typeface="微软雅黑" pitchFamily="34" charset="-122"/>
                <a:ea typeface="微软雅黑" pitchFamily="34" charset="-122"/>
              </a:rPr>
              <a:t>CIDR </a:t>
            </a:r>
            <a:r>
              <a:rPr lang="zh-CN" altLang="en-US" sz="2000" b="1" dirty="0">
                <a:latin typeface="微软雅黑" pitchFamily="34" charset="-122"/>
                <a:ea typeface="微软雅黑" pitchFamily="34" charset="-122"/>
              </a:rPr>
              <a:t>记法表示）。</a:t>
            </a:r>
          </a:p>
        </p:txBody>
      </p:sp>
      <p:sp>
        <p:nvSpPr>
          <p:cNvPr id="7" name="矩形 6"/>
          <p:cNvSpPr/>
          <p:nvPr/>
        </p:nvSpPr>
        <p:spPr>
          <a:xfrm>
            <a:off x="660202" y="2031080"/>
            <a:ext cx="7643091" cy="1246495"/>
          </a:xfrm>
          <a:prstGeom prst="rect">
            <a:avLst/>
          </a:prstGeom>
        </p:spPr>
        <p:txBody>
          <a:bodyPr wrap="square">
            <a:spAutoFit/>
          </a:bodyPr>
          <a:lstStyle/>
          <a:p>
            <a:pPr marL="285750" indent="-285750">
              <a:lnSpc>
                <a:spcPts val="30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BGP </a:t>
            </a:r>
            <a:r>
              <a:rPr lang="zh-CN" altLang="en-US" sz="2000" b="1" dirty="0">
                <a:solidFill>
                  <a:srgbClr val="0000FF"/>
                </a:solidFill>
                <a:latin typeface="微软雅黑" pitchFamily="34" charset="-122"/>
                <a:ea typeface="微软雅黑" pitchFamily="34" charset="-122"/>
              </a:rPr>
              <a:t>属性：</a:t>
            </a:r>
            <a:r>
              <a:rPr lang="zh-CN" altLang="en-US" sz="2000" b="1" dirty="0">
                <a:latin typeface="微软雅黑" pitchFamily="34" charset="-122"/>
                <a:ea typeface="微软雅黑" pitchFamily="34" charset="-122"/>
              </a:rPr>
              <a:t>最重要的两个属性是</a:t>
            </a:r>
            <a:endParaRPr lang="en-US" altLang="zh-CN" sz="2000" b="1" dirty="0">
              <a:latin typeface="微软雅黑" pitchFamily="34" charset="-122"/>
              <a:ea typeface="微软雅黑" pitchFamily="34" charset="-122"/>
            </a:endParaRPr>
          </a:p>
          <a:p>
            <a:pPr marL="534988" lvl="1" indent="-2794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自治系统路径 </a:t>
            </a:r>
            <a:r>
              <a:rPr lang="en-US" altLang="zh-CN" sz="2000" b="1" dirty="0">
                <a:latin typeface="微软雅黑" pitchFamily="34" charset="-122"/>
                <a:ea typeface="微软雅黑" pitchFamily="34" charset="-122"/>
              </a:rPr>
              <a:t>AS-PATH </a:t>
            </a:r>
          </a:p>
          <a:p>
            <a:pPr marL="534988" lvl="1" indent="-2794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下一跳 </a:t>
            </a:r>
            <a:r>
              <a:rPr lang="en-US" altLang="zh-CN" sz="2000" b="1" dirty="0">
                <a:latin typeface="微软雅黑" pitchFamily="34" charset="-122"/>
                <a:ea typeface="微软雅黑" pitchFamily="34" charset="-122"/>
              </a:rPr>
              <a:t>NEXT-HOP</a:t>
            </a:r>
            <a:r>
              <a:rPr lang="zh-CN" altLang="en-US" sz="2000" b="1" dirty="0">
                <a:latin typeface="微软雅黑" pitchFamily="34" charset="-122"/>
                <a:ea typeface="微软雅黑" pitchFamily="34" charset="-122"/>
              </a:rPr>
              <a:t>。</a:t>
            </a:r>
          </a:p>
        </p:txBody>
      </p:sp>
    </p:spTree>
    <p:extLst>
      <p:ext uri="{BB962C8B-B14F-4D97-AF65-F5344CB8AC3E}">
        <p14:creationId xmlns:p14="http://schemas.microsoft.com/office/powerpoint/2010/main" val="339905355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5" y="622831"/>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BGP </a:t>
            </a:r>
            <a:r>
              <a:rPr lang="zh-CN" altLang="en-US" sz="2000" b="1" dirty="0">
                <a:solidFill>
                  <a:schemeClr val="bg1"/>
                </a:solidFill>
                <a:latin typeface="微软雅黑" pitchFamily="34" charset="-122"/>
                <a:ea typeface="微软雅黑" pitchFamily="34" charset="-122"/>
              </a:rPr>
              <a:t>路由信息</a:t>
            </a:r>
          </a:p>
        </p:txBody>
      </p:sp>
      <p:sp>
        <p:nvSpPr>
          <p:cNvPr id="4" name="圆角矩形 3"/>
          <p:cNvSpPr/>
          <p:nvPr/>
        </p:nvSpPr>
        <p:spPr>
          <a:xfrm>
            <a:off x="545145" y="1052858"/>
            <a:ext cx="8053712" cy="208750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65" name="Text Box 173"/>
          <p:cNvSpPr txBox="1">
            <a:spLocks noChangeArrowheads="1"/>
          </p:cNvSpPr>
          <p:nvPr/>
        </p:nvSpPr>
        <p:spPr bwMode="auto">
          <a:xfrm>
            <a:off x="664159" y="3122318"/>
            <a:ext cx="8304349" cy="372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ts val="2400"/>
              </a:lnSpc>
            </a:pPr>
            <a:r>
              <a:rPr lang="en-US" altLang="zh-CN" sz="1600" b="1" kern="500" dirty="0">
                <a:latin typeface="微软雅黑" panose="020B0503020204020204" pitchFamily="34" charset="-122"/>
                <a:ea typeface="微软雅黑" panose="020B0503020204020204" pitchFamily="34" charset="-122"/>
              </a:rPr>
              <a:t>AS</a:t>
            </a:r>
            <a:r>
              <a:rPr lang="en-US" altLang="zh-CN" sz="1600" b="1" kern="500" baseline="-25000" dirty="0">
                <a:latin typeface="微软雅黑" panose="020B0503020204020204" pitchFamily="34" charset="-122"/>
                <a:ea typeface="微软雅黑" panose="020B0503020204020204" pitchFamily="34" charset="-122"/>
              </a:rPr>
              <a:t>2 </a:t>
            </a:r>
            <a:r>
              <a:rPr lang="zh-CN" altLang="zh-CN" sz="1600" b="1" kern="500" dirty="0">
                <a:latin typeface="微软雅黑" panose="020B0503020204020204" pitchFamily="34" charset="-122"/>
                <a:ea typeface="微软雅黑" panose="020B0503020204020204" pitchFamily="34" charset="-122"/>
              </a:rPr>
              <a:t>可经</a:t>
            </a:r>
            <a:r>
              <a:rPr lang="en-US" altLang="zh-CN" sz="1600" b="1" kern="500" dirty="0">
                <a:latin typeface="微软雅黑" panose="020B0503020204020204" pitchFamily="34" charset="-122"/>
                <a:ea typeface="微软雅黑" panose="020B0503020204020204" pitchFamily="34" charset="-122"/>
              </a:rPr>
              <a:t> IP</a:t>
            </a:r>
            <a:r>
              <a:rPr lang="en-US" altLang="zh-CN" sz="1600" b="1" kern="500" baseline="-25000" dirty="0">
                <a:latin typeface="微软雅黑" panose="020B0503020204020204" pitchFamily="34" charset="-122"/>
                <a:ea typeface="微软雅黑" panose="020B0503020204020204" pitchFamily="34" charset="-122"/>
              </a:rPr>
              <a:t>3a </a:t>
            </a:r>
            <a:r>
              <a:rPr lang="zh-CN" altLang="zh-CN" sz="1600" b="1" kern="500" dirty="0">
                <a:latin typeface="微软雅黑" panose="020B0503020204020204" pitchFamily="34" charset="-122"/>
                <a:ea typeface="微软雅黑" panose="020B0503020204020204" pitchFamily="34" charset="-122"/>
              </a:rPr>
              <a:t>到前缀</a:t>
            </a:r>
            <a:r>
              <a:rPr lang="en-US" altLang="zh-CN" sz="1600" b="1" kern="500" dirty="0">
                <a:latin typeface="微软雅黑" panose="020B0503020204020204" pitchFamily="34" charset="-122"/>
                <a:ea typeface="微软雅黑" panose="020B0503020204020204" pitchFamily="34" charset="-122"/>
              </a:rPr>
              <a:t> X </a:t>
            </a:r>
            <a:r>
              <a:rPr lang="zh-CN" altLang="zh-CN" sz="1600" b="1" kern="500" dirty="0">
                <a:latin typeface="微软雅黑" panose="020B0503020204020204" pitchFamily="34" charset="-122"/>
                <a:ea typeface="微软雅黑" panose="020B0503020204020204" pitchFamily="34" charset="-122"/>
              </a:rPr>
              <a:t>的路由</a:t>
            </a:r>
            <a:r>
              <a:rPr lang="en-US" altLang="zh-CN" sz="1600" b="1" kern="500" dirty="0">
                <a:latin typeface="微软雅黑" panose="020B0503020204020204" pitchFamily="34" charset="-122"/>
                <a:ea typeface="微软雅黑" panose="020B0503020204020204" pitchFamily="34" charset="-122"/>
              </a:rPr>
              <a:t> = [</a:t>
            </a:r>
            <a:r>
              <a:rPr lang="zh-CN" altLang="zh-CN" sz="1600" b="1" kern="500" dirty="0">
                <a:latin typeface="微软雅黑" panose="020B0503020204020204" pitchFamily="34" charset="-122"/>
                <a:ea typeface="微软雅黑" panose="020B0503020204020204" pitchFamily="34" charset="-122"/>
              </a:rPr>
              <a:t>前缀</a:t>
            </a:r>
            <a:r>
              <a:rPr lang="en-US" altLang="zh-CN" sz="1600" b="1" kern="500" dirty="0">
                <a:latin typeface="微软雅黑" panose="020B0503020204020204" pitchFamily="34" charset="-122"/>
                <a:ea typeface="微软雅黑" panose="020B0503020204020204" pitchFamily="34" charset="-122"/>
              </a:rPr>
              <a:t>, AS-PATH, NEXT-HOP] = [X, AS</a:t>
            </a:r>
            <a:r>
              <a:rPr lang="en-US" altLang="zh-CN" sz="1600" b="1" kern="500" baseline="-25000" dirty="0">
                <a:latin typeface="微软雅黑" panose="020B0503020204020204" pitchFamily="34" charset="-122"/>
                <a:ea typeface="微软雅黑" panose="020B0503020204020204" pitchFamily="34" charset="-122"/>
              </a:rPr>
              <a:t>3</a:t>
            </a:r>
            <a:r>
              <a:rPr lang="en-US" altLang="zh-CN" sz="1600" b="1" kern="500" dirty="0">
                <a:latin typeface="微软雅黑" panose="020B0503020204020204" pitchFamily="34" charset="-122"/>
                <a:ea typeface="微软雅黑" panose="020B0503020204020204" pitchFamily="34" charset="-122"/>
              </a:rPr>
              <a:t>, IP</a:t>
            </a:r>
            <a:r>
              <a:rPr lang="en-US" altLang="zh-CN" sz="1600" b="1" kern="500" baseline="-25000" dirty="0">
                <a:latin typeface="微软雅黑" panose="020B0503020204020204" pitchFamily="34" charset="-122"/>
                <a:ea typeface="微软雅黑" panose="020B0503020204020204" pitchFamily="34" charset="-122"/>
              </a:rPr>
              <a:t>3a</a:t>
            </a:r>
            <a:r>
              <a:rPr lang="en-US" altLang="zh-CN" sz="1600" b="1" kern="500" dirty="0">
                <a:latin typeface="微软雅黑" panose="020B0503020204020204" pitchFamily="34" charset="-122"/>
                <a:ea typeface="微软雅黑" panose="020B0503020204020204" pitchFamily="34" charset="-122"/>
              </a:rPr>
              <a:t>]</a:t>
            </a:r>
          </a:p>
        </p:txBody>
      </p:sp>
      <p:sp>
        <p:nvSpPr>
          <p:cNvPr id="191" name="Line 154"/>
          <p:cNvSpPr>
            <a:spLocks noChangeShapeType="1"/>
          </p:cNvSpPr>
          <p:nvPr/>
        </p:nvSpPr>
        <p:spPr bwMode="auto">
          <a:xfrm>
            <a:off x="2217305" y="2797032"/>
            <a:ext cx="4806950" cy="19050"/>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192" name="Group 206"/>
          <p:cNvGrpSpPr>
            <a:grpSpLocks/>
          </p:cNvGrpSpPr>
          <p:nvPr/>
        </p:nvGrpSpPr>
        <p:grpSpPr bwMode="auto">
          <a:xfrm>
            <a:off x="1198130" y="1984232"/>
            <a:ext cx="1655763" cy="792162"/>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9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02" name="Group 216"/>
            <p:cNvGrpSpPr>
              <a:grpSpLocks/>
            </p:cNvGrpSpPr>
            <p:nvPr/>
          </p:nvGrpSpPr>
          <p:grpSpPr bwMode="auto">
            <a:xfrm>
              <a:off x="912" y="768"/>
              <a:ext cx="2386" cy="1553"/>
              <a:chOff x="912" y="768"/>
              <a:chExt cx="2386" cy="1553"/>
            </a:xfrm>
            <a:grpFill/>
          </p:grpSpPr>
          <p:sp>
            <p:nvSpPr>
              <p:cNvPr id="20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grpSp>
      <p:grpSp>
        <p:nvGrpSpPr>
          <p:cNvPr id="212" name="Group 206"/>
          <p:cNvGrpSpPr>
            <a:grpSpLocks/>
          </p:cNvGrpSpPr>
          <p:nvPr/>
        </p:nvGrpSpPr>
        <p:grpSpPr bwMode="auto">
          <a:xfrm>
            <a:off x="3573030" y="1528619"/>
            <a:ext cx="1944688" cy="792163"/>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1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22" name="Group 216"/>
            <p:cNvGrpSpPr>
              <a:grpSpLocks/>
            </p:cNvGrpSpPr>
            <p:nvPr/>
          </p:nvGrpSpPr>
          <p:grpSpPr bwMode="auto">
            <a:xfrm>
              <a:off x="912" y="768"/>
              <a:ext cx="2386" cy="1553"/>
              <a:chOff x="912" y="768"/>
              <a:chExt cx="2386" cy="1553"/>
            </a:xfrm>
            <a:grpFill/>
          </p:grpSpPr>
          <p:sp>
            <p:nvSpPr>
              <p:cNvPr id="22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grpSp>
      <p:grpSp>
        <p:nvGrpSpPr>
          <p:cNvPr id="232" name="Group 206"/>
          <p:cNvGrpSpPr>
            <a:grpSpLocks/>
          </p:cNvGrpSpPr>
          <p:nvPr/>
        </p:nvGrpSpPr>
        <p:grpSpPr bwMode="auto">
          <a:xfrm>
            <a:off x="6093980" y="2055669"/>
            <a:ext cx="1943100" cy="792163"/>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3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42" name="Group 216"/>
            <p:cNvGrpSpPr>
              <a:grpSpLocks/>
            </p:cNvGrpSpPr>
            <p:nvPr/>
          </p:nvGrpSpPr>
          <p:grpSpPr bwMode="auto">
            <a:xfrm>
              <a:off x="912" y="768"/>
              <a:ext cx="2386" cy="1553"/>
              <a:chOff x="912" y="768"/>
              <a:chExt cx="2386" cy="1553"/>
            </a:xfrm>
            <a:grpFill/>
          </p:grpSpPr>
          <p:sp>
            <p:nvSpPr>
              <p:cNvPr id="24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5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5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grpSp>
      <p:sp>
        <p:nvSpPr>
          <p:cNvPr id="252" name="Line 208"/>
          <p:cNvSpPr>
            <a:spLocks noChangeShapeType="1"/>
          </p:cNvSpPr>
          <p:nvPr/>
        </p:nvSpPr>
        <p:spPr bwMode="auto">
          <a:xfrm>
            <a:off x="6381318" y="2631932"/>
            <a:ext cx="647700" cy="14446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3" name="Line 152"/>
          <p:cNvSpPr>
            <a:spLocks noChangeShapeType="1"/>
          </p:cNvSpPr>
          <p:nvPr/>
        </p:nvSpPr>
        <p:spPr bwMode="auto">
          <a:xfrm flipH="1">
            <a:off x="7173480" y="2344594"/>
            <a:ext cx="719138" cy="4318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4" name="Line 154"/>
          <p:cNvSpPr>
            <a:spLocks noChangeShapeType="1"/>
          </p:cNvSpPr>
          <p:nvPr/>
        </p:nvSpPr>
        <p:spPr bwMode="auto">
          <a:xfrm flipV="1">
            <a:off x="2853893" y="1912794"/>
            <a:ext cx="792162" cy="411163"/>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5" name="Line 155"/>
          <p:cNvSpPr>
            <a:spLocks noChangeShapeType="1"/>
          </p:cNvSpPr>
          <p:nvPr/>
        </p:nvSpPr>
        <p:spPr bwMode="auto">
          <a:xfrm>
            <a:off x="5516130" y="1912794"/>
            <a:ext cx="793750" cy="647700"/>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6" name="Line 158"/>
          <p:cNvSpPr>
            <a:spLocks noChangeShapeType="1"/>
          </p:cNvSpPr>
          <p:nvPr/>
        </p:nvSpPr>
        <p:spPr bwMode="auto">
          <a:xfrm flipH="1">
            <a:off x="4654118" y="1888982"/>
            <a:ext cx="790575" cy="31115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7" name="Line 159"/>
          <p:cNvSpPr>
            <a:spLocks noChangeShapeType="1"/>
          </p:cNvSpPr>
          <p:nvPr/>
        </p:nvSpPr>
        <p:spPr bwMode="auto">
          <a:xfrm>
            <a:off x="4870018" y="1528619"/>
            <a:ext cx="503237" cy="288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8" name="Line 163"/>
          <p:cNvSpPr>
            <a:spLocks noChangeShapeType="1"/>
          </p:cNvSpPr>
          <p:nvPr/>
        </p:nvSpPr>
        <p:spPr bwMode="auto">
          <a:xfrm>
            <a:off x="7102043" y="2128694"/>
            <a:ext cx="792162" cy="2159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9" name="Line 165"/>
          <p:cNvSpPr>
            <a:spLocks noChangeShapeType="1"/>
          </p:cNvSpPr>
          <p:nvPr/>
        </p:nvSpPr>
        <p:spPr bwMode="auto">
          <a:xfrm flipV="1">
            <a:off x="2134755" y="2360469"/>
            <a:ext cx="625475" cy="415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0" name="Line 167"/>
          <p:cNvSpPr>
            <a:spLocks noChangeShapeType="1"/>
          </p:cNvSpPr>
          <p:nvPr/>
        </p:nvSpPr>
        <p:spPr bwMode="auto">
          <a:xfrm>
            <a:off x="1290205" y="2454132"/>
            <a:ext cx="842963" cy="32226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1" name="Line 169"/>
          <p:cNvSpPr>
            <a:spLocks noChangeShapeType="1"/>
          </p:cNvSpPr>
          <p:nvPr/>
        </p:nvSpPr>
        <p:spPr bwMode="auto">
          <a:xfrm flipV="1">
            <a:off x="1269568" y="2128694"/>
            <a:ext cx="720725" cy="287338"/>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2" name="Line 170"/>
          <p:cNvSpPr>
            <a:spLocks noChangeShapeType="1"/>
          </p:cNvSpPr>
          <p:nvPr/>
        </p:nvSpPr>
        <p:spPr bwMode="auto">
          <a:xfrm>
            <a:off x="1990293" y="2128694"/>
            <a:ext cx="719137" cy="195263"/>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3" name="Text Box 173"/>
          <p:cNvSpPr txBox="1">
            <a:spLocks noChangeArrowheads="1"/>
          </p:cNvSpPr>
          <p:nvPr/>
        </p:nvSpPr>
        <p:spPr bwMode="auto">
          <a:xfrm>
            <a:off x="1196543" y="1747694"/>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solidFill>
                  <a:srgbClr val="0000FF"/>
                </a:solidFill>
                <a:latin typeface="微软雅黑" panose="020B0503020204020204" pitchFamily="34" charset="-122"/>
                <a:ea typeface="微软雅黑" panose="020B0503020204020204" pitchFamily="34" charset="-122"/>
              </a:rPr>
              <a:t>AS</a:t>
            </a:r>
            <a:r>
              <a:rPr lang="en-US" altLang="zh-CN" sz="1400" b="1" baseline="-25000" dirty="0">
                <a:solidFill>
                  <a:srgbClr val="0000FF"/>
                </a:solidFill>
                <a:latin typeface="微软雅黑" panose="020B0503020204020204" pitchFamily="34" charset="-122"/>
                <a:ea typeface="微软雅黑" panose="020B0503020204020204" pitchFamily="34" charset="-122"/>
              </a:rPr>
              <a:t>1</a:t>
            </a:r>
          </a:p>
        </p:txBody>
      </p:sp>
      <p:sp>
        <p:nvSpPr>
          <p:cNvPr id="264" name="Text Box 174"/>
          <p:cNvSpPr txBox="1">
            <a:spLocks noChangeArrowheads="1"/>
          </p:cNvSpPr>
          <p:nvPr/>
        </p:nvSpPr>
        <p:spPr bwMode="auto">
          <a:xfrm>
            <a:off x="6454343" y="1747694"/>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solidFill>
                  <a:srgbClr val="0000FF"/>
                </a:solidFill>
                <a:latin typeface="微软雅黑" panose="020B0503020204020204" pitchFamily="34" charset="-122"/>
                <a:ea typeface="微软雅黑" panose="020B0503020204020204" pitchFamily="34" charset="-122"/>
              </a:rPr>
              <a:t>AS</a:t>
            </a:r>
            <a:r>
              <a:rPr lang="en-US" altLang="zh-CN" sz="1400" b="1" baseline="-25000">
                <a:solidFill>
                  <a:srgbClr val="0000FF"/>
                </a:solidFill>
                <a:latin typeface="微软雅黑" panose="020B0503020204020204" pitchFamily="34" charset="-122"/>
                <a:ea typeface="微软雅黑" panose="020B0503020204020204" pitchFamily="34" charset="-122"/>
              </a:rPr>
              <a:t>3</a:t>
            </a:r>
          </a:p>
        </p:txBody>
      </p:sp>
      <p:sp>
        <p:nvSpPr>
          <p:cNvPr id="265" name="Text Box 175"/>
          <p:cNvSpPr txBox="1">
            <a:spLocks noChangeArrowheads="1"/>
          </p:cNvSpPr>
          <p:nvPr/>
        </p:nvSpPr>
        <p:spPr bwMode="auto">
          <a:xfrm>
            <a:off x="4220730" y="11714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solidFill>
                  <a:srgbClr val="0000FF"/>
                </a:solidFill>
                <a:latin typeface="微软雅黑" panose="020B0503020204020204" pitchFamily="34" charset="-122"/>
                <a:ea typeface="微软雅黑" panose="020B0503020204020204" pitchFamily="34" charset="-122"/>
              </a:rPr>
              <a:t>AS</a:t>
            </a:r>
            <a:r>
              <a:rPr lang="en-US" altLang="zh-CN" sz="1400" b="1" baseline="-25000">
                <a:solidFill>
                  <a:srgbClr val="0000FF"/>
                </a:solidFill>
                <a:latin typeface="微软雅黑" panose="020B0503020204020204" pitchFamily="34" charset="-122"/>
                <a:ea typeface="微软雅黑" panose="020B0503020204020204" pitchFamily="34" charset="-122"/>
              </a:rPr>
              <a:t>2</a:t>
            </a:r>
          </a:p>
        </p:txBody>
      </p:sp>
      <p:sp>
        <p:nvSpPr>
          <p:cNvPr id="266" name="Line 194"/>
          <p:cNvSpPr>
            <a:spLocks noChangeShapeType="1"/>
          </p:cNvSpPr>
          <p:nvPr/>
        </p:nvSpPr>
        <p:spPr bwMode="auto">
          <a:xfrm flipH="1">
            <a:off x="3717493" y="1528619"/>
            <a:ext cx="1152525" cy="288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7" name="Line 209"/>
          <p:cNvSpPr>
            <a:spLocks noChangeShapeType="1"/>
          </p:cNvSpPr>
          <p:nvPr/>
        </p:nvSpPr>
        <p:spPr bwMode="auto">
          <a:xfrm flipV="1">
            <a:off x="6381318" y="2128694"/>
            <a:ext cx="647700" cy="4318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8" name="Line 153"/>
          <p:cNvSpPr>
            <a:spLocks noChangeShapeType="1"/>
          </p:cNvSpPr>
          <p:nvPr/>
        </p:nvSpPr>
        <p:spPr bwMode="auto">
          <a:xfrm>
            <a:off x="3754005" y="1946132"/>
            <a:ext cx="755650" cy="2540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269"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90293" y="2682732"/>
            <a:ext cx="296862"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6" name="组合 5"/>
          <p:cNvGrpSpPr/>
          <p:nvPr/>
        </p:nvGrpSpPr>
        <p:grpSpPr>
          <a:xfrm>
            <a:off x="7511617" y="2510869"/>
            <a:ext cx="504825" cy="360363"/>
            <a:chOff x="8075758" y="2677682"/>
            <a:chExt cx="504825" cy="360363"/>
          </a:xfrm>
        </p:grpSpPr>
        <p:grpSp>
          <p:nvGrpSpPr>
            <p:cNvPr id="5" name="组合 4"/>
            <p:cNvGrpSpPr/>
            <p:nvPr/>
          </p:nvGrpSpPr>
          <p:grpSpPr>
            <a:xfrm>
              <a:off x="8075758" y="2677682"/>
              <a:ext cx="504825" cy="360363"/>
              <a:chOff x="8075758" y="2677682"/>
              <a:chExt cx="504825" cy="360363"/>
            </a:xfrm>
          </p:grpSpPr>
          <p:sp>
            <p:nvSpPr>
              <p:cNvPr id="273" name="AutoShape 229"/>
              <p:cNvSpPr>
                <a:spLocks noChangeAspect="1" noChangeArrowheads="1" noTextEdit="1"/>
              </p:cNvSpPr>
              <p:nvPr/>
            </p:nvSpPr>
            <p:spPr bwMode="auto">
              <a:xfrm>
                <a:off x="8075758" y="2677682"/>
                <a:ext cx="504825" cy="360363"/>
              </a:xfrm>
              <a:prstGeom prst="rect">
                <a:avLst/>
              </a:prstGeom>
              <a:noFill/>
              <a:ln>
                <a:noFill/>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76" name="Oval 231"/>
              <p:cNvSpPr>
                <a:spLocks noChangeArrowheads="1"/>
              </p:cNvSpPr>
              <p:nvPr/>
            </p:nvSpPr>
            <p:spPr bwMode="auto">
              <a:xfrm>
                <a:off x="8248523" y="2681957"/>
                <a:ext cx="217274" cy="145367"/>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77" name="Oval 232"/>
              <p:cNvSpPr>
                <a:spLocks noChangeArrowheads="1"/>
              </p:cNvSpPr>
              <p:nvPr/>
            </p:nvSpPr>
            <p:spPr bwMode="auto">
              <a:xfrm>
                <a:off x="8129052" y="2719826"/>
                <a:ext cx="166323" cy="145978"/>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78" name="Oval 233"/>
              <p:cNvSpPr>
                <a:spLocks noChangeArrowheads="1"/>
              </p:cNvSpPr>
              <p:nvPr/>
            </p:nvSpPr>
            <p:spPr bwMode="auto">
              <a:xfrm>
                <a:off x="8078101" y="2807779"/>
                <a:ext cx="112444" cy="11849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79" name="Oval 234"/>
              <p:cNvSpPr>
                <a:spLocks noChangeArrowheads="1"/>
              </p:cNvSpPr>
              <p:nvPr/>
            </p:nvSpPr>
            <p:spPr bwMode="auto">
              <a:xfrm>
                <a:off x="8112068" y="2859696"/>
                <a:ext cx="169251" cy="12887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0" name="Oval 235"/>
              <p:cNvSpPr>
                <a:spLocks noChangeArrowheads="1"/>
              </p:cNvSpPr>
              <p:nvPr/>
            </p:nvSpPr>
            <p:spPr bwMode="auto">
              <a:xfrm>
                <a:off x="8231539" y="2881073"/>
                <a:ext cx="252413" cy="15269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1" name="Oval 236"/>
              <p:cNvSpPr>
                <a:spLocks noChangeArrowheads="1"/>
              </p:cNvSpPr>
              <p:nvPr/>
            </p:nvSpPr>
            <p:spPr bwMode="auto">
              <a:xfrm>
                <a:off x="8392006" y="2724102"/>
                <a:ext cx="162223" cy="114828"/>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2" name="Oval 237"/>
              <p:cNvSpPr>
                <a:spLocks noChangeArrowheads="1"/>
              </p:cNvSpPr>
              <p:nvPr/>
            </p:nvSpPr>
            <p:spPr bwMode="auto">
              <a:xfrm>
                <a:off x="8416603" y="2798007"/>
                <a:ext cx="160466" cy="114217"/>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3" name="Oval 238"/>
              <p:cNvSpPr>
                <a:spLocks noChangeArrowheads="1"/>
              </p:cNvSpPr>
              <p:nvPr/>
            </p:nvSpPr>
            <p:spPr bwMode="auto">
              <a:xfrm>
                <a:off x="8401962" y="2821827"/>
                <a:ext cx="159295" cy="18812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4" name="Oval 239"/>
              <p:cNvSpPr>
                <a:spLocks noChangeArrowheads="1"/>
              </p:cNvSpPr>
              <p:nvPr/>
            </p:nvSpPr>
            <p:spPr bwMode="auto">
              <a:xfrm>
                <a:off x="8168875" y="2765024"/>
                <a:ext cx="323275" cy="18812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85" name="Group 257"/>
              <p:cNvGrpSpPr>
                <a:grpSpLocks/>
              </p:cNvGrpSpPr>
              <p:nvPr/>
            </p:nvGrpSpPr>
            <p:grpSpPr bwMode="auto">
              <a:xfrm>
                <a:off x="8076929" y="2678904"/>
                <a:ext cx="501311" cy="355477"/>
                <a:chOff x="3063" y="302"/>
                <a:chExt cx="856" cy="582"/>
              </a:xfrm>
              <a:solidFill>
                <a:schemeClr val="bg1"/>
              </a:solidFill>
            </p:grpSpPr>
            <p:sp>
              <p:nvSpPr>
                <p:cNvPr id="286" name="Freeform 241"/>
                <p:cNvSpPr>
                  <a:spLocks/>
                </p:cNvSpPr>
                <p:nvPr/>
              </p:nvSpPr>
              <p:spPr bwMode="auto">
                <a:xfrm>
                  <a:off x="3364" y="302"/>
                  <a:ext cx="353" cy="123"/>
                </a:xfrm>
                <a:custGeom>
                  <a:avLst/>
                  <a:gdLst>
                    <a:gd name="T0" fmla="*/ 2147483647 w 171"/>
                    <a:gd name="T1" fmla="*/ 2147483647 h 53"/>
                    <a:gd name="T2" fmla="*/ 2147483647 w 171"/>
                    <a:gd name="T3" fmla="*/ 2147483647 h 53"/>
                    <a:gd name="T4" fmla="*/ 0 w 171"/>
                    <a:gd name="T5" fmla="*/ 2147483647 h 53"/>
                    <a:gd name="T6" fmla="*/ 2147483647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87" name="Arc 242"/>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88" name="Freeform 243"/>
                <p:cNvSpPr>
                  <a:spLocks/>
                </p:cNvSpPr>
                <p:nvPr/>
              </p:nvSpPr>
              <p:spPr bwMode="auto">
                <a:xfrm>
                  <a:off x="3150" y="367"/>
                  <a:ext cx="220" cy="146"/>
                </a:xfrm>
                <a:custGeom>
                  <a:avLst/>
                  <a:gdLst>
                    <a:gd name="T0" fmla="*/ 2147483647 w 107"/>
                    <a:gd name="T1" fmla="*/ 2147483647 h 63"/>
                    <a:gd name="T2" fmla="*/ 2147483647 w 107"/>
                    <a:gd name="T3" fmla="*/ 0 h 63"/>
                    <a:gd name="T4" fmla="*/ 2147483647 w 107"/>
                    <a:gd name="T5" fmla="*/ 2147483647 h 63"/>
                    <a:gd name="T6" fmla="*/ 2147483647 w 107"/>
                    <a:gd name="T7" fmla="*/ 2147483647 h 63"/>
                    <a:gd name="T8" fmla="*/ 2147483647 w 107"/>
                    <a:gd name="T9" fmla="*/ 2147483647 h 63"/>
                    <a:gd name="T10" fmla="*/ 2147483647 w 107"/>
                    <a:gd name="T11" fmla="*/ 2147483647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89" name="Arc 244"/>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0" name="Freeform 245"/>
                <p:cNvSpPr>
                  <a:spLocks/>
                </p:cNvSpPr>
                <p:nvPr/>
              </p:nvSpPr>
              <p:spPr bwMode="auto">
                <a:xfrm>
                  <a:off x="3121" y="696"/>
                  <a:ext cx="220" cy="115"/>
                </a:xfrm>
                <a:custGeom>
                  <a:avLst/>
                  <a:gdLst>
                    <a:gd name="T0" fmla="*/ 0 w 107"/>
                    <a:gd name="T1" fmla="*/ 0 h 50"/>
                    <a:gd name="T2" fmla="*/ 0 w 107"/>
                    <a:gd name="T3" fmla="*/ 2147483647 h 50"/>
                    <a:gd name="T4" fmla="*/ 2147483647 w 107"/>
                    <a:gd name="T5" fmla="*/ 2147483647 h 50"/>
                    <a:gd name="T6" fmla="*/ 2147483647 w 107"/>
                    <a:gd name="T7" fmla="*/ 2147483647 h 50"/>
                    <a:gd name="T8" fmla="*/ 2147483647 w 107"/>
                    <a:gd name="T9" fmla="*/ 2147483647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1" name="Arc 246"/>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2" name="Freeform 247"/>
                <p:cNvSpPr>
                  <a:spLocks/>
                </p:cNvSpPr>
                <p:nvPr/>
              </p:nvSpPr>
              <p:spPr bwMode="auto">
                <a:xfrm>
                  <a:off x="3713" y="372"/>
                  <a:ext cx="167" cy="141"/>
                </a:xfrm>
                <a:custGeom>
                  <a:avLst/>
                  <a:gdLst>
                    <a:gd name="T0" fmla="*/ 2147483647 w 81"/>
                    <a:gd name="T1" fmla="*/ 2147483647 h 61"/>
                    <a:gd name="T2" fmla="*/ 2147483647 w 81"/>
                    <a:gd name="T3" fmla="*/ 2147483647 h 61"/>
                    <a:gd name="T4" fmla="*/ 2147483647 w 81"/>
                    <a:gd name="T5" fmla="*/ 2147483647 h 61"/>
                    <a:gd name="T6" fmla="*/ 0 w 81"/>
                    <a:gd name="T7" fmla="*/ 2147483647 h 61"/>
                    <a:gd name="T8" fmla="*/ 2147483647 w 81"/>
                    <a:gd name="T9" fmla="*/ 2147483647 h 61"/>
                    <a:gd name="T10" fmla="*/ 2147483647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3" name="Arc 248"/>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4" name="Freeform 249"/>
                <p:cNvSpPr>
                  <a:spLocks/>
                </p:cNvSpPr>
                <p:nvPr/>
              </p:nvSpPr>
              <p:spPr bwMode="auto">
                <a:xfrm>
                  <a:off x="3760" y="511"/>
                  <a:ext cx="159" cy="138"/>
                </a:xfrm>
                <a:custGeom>
                  <a:avLst/>
                  <a:gdLst>
                    <a:gd name="T0" fmla="*/ 2147483647 w 77"/>
                    <a:gd name="T1" fmla="*/ 2147483647 h 60"/>
                    <a:gd name="T2" fmla="*/ 2147483647 w 77"/>
                    <a:gd name="T3" fmla="*/ 2147483647 h 60"/>
                    <a:gd name="T4" fmla="*/ 2147483647 w 77"/>
                    <a:gd name="T5" fmla="*/ 0 h 60"/>
                    <a:gd name="T6" fmla="*/ 0 w 77"/>
                    <a:gd name="T7" fmla="*/ 2147483647 h 60"/>
                    <a:gd name="T8" fmla="*/ 2147483647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5" name="Arc 250"/>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6" name="Freeform 251"/>
                <p:cNvSpPr>
                  <a:spLocks/>
                </p:cNvSpPr>
                <p:nvPr/>
              </p:nvSpPr>
              <p:spPr bwMode="auto">
                <a:xfrm>
                  <a:off x="3706" y="647"/>
                  <a:ext cx="188" cy="201"/>
                </a:xfrm>
                <a:custGeom>
                  <a:avLst/>
                  <a:gdLst>
                    <a:gd name="T0" fmla="*/ 0 w 91"/>
                    <a:gd name="T1" fmla="*/ 2147483647 h 87"/>
                    <a:gd name="T2" fmla="*/ 2147483647 w 91"/>
                    <a:gd name="T3" fmla="*/ 2147483647 h 87"/>
                    <a:gd name="T4" fmla="*/ 2147483647 w 91"/>
                    <a:gd name="T5" fmla="*/ 2147483647 h 87"/>
                    <a:gd name="T6" fmla="*/ 2147483647 w 91"/>
                    <a:gd name="T7" fmla="*/ 0 h 87"/>
                    <a:gd name="T8" fmla="*/ 2147483647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7" name="Arc 252"/>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8" name="Freeform 253"/>
                <p:cNvSpPr>
                  <a:spLocks/>
                </p:cNvSpPr>
                <p:nvPr/>
              </p:nvSpPr>
              <p:spPr bwMode="auto">
                <a:xfrm>
                  <a:off x="3063" y="511"/>
                  <a:ext cx="103" cy="189"/>
                </a:xfrm>
                <a:custGeom>
                  <a:avLst/>
                  <a:gdLst>
                    <a:gd name="T0" fmla="*/ 2147483647 w 50"/>
                    <a:gd name="T1" fmla="*/ 0 h 82"/>
                    <a:gd name="T2" fmla="*/ 2147483647 w 50"/>
                    <a:gd name="T3" fmla="*/ 2147483647 h 82"/>
                    <a:gd name="T4" fmla="*/ 2147483647 w 50"/>
                    <a:gd name="T5" fmla="*/ 2147483647 h 82"/>
                    <a:gd name="T6" fmla="*/ 2147483647 w 50"/>
                    <a:gd name="T7" fmla="*/ 2147483647 h 82"/>
                    <a:gd name="T8" fmla="*/ 2147483647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9" name="Arc 254"/>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00" name="Freeform 255"/>
                <p:cNvSpPr>
                  <a:spLocks/>
                </p:cNvSpPr>
                <p:nvPr/>
              </p:nvSpPr>
              <p:spPr bwMode="auto">
                <a:xfrm>
                  <a:off x="3333" y="770"/>
                  <a:ext cx="380" cy="113"/>
                </a:xfrm>
                <a:custGeom>
                  <a:avLst/>
                  <a:gdLst>
                    <a:gd name="T0" fmla="*/ 0 w 184"/>
                    <a:gd name="T1" fmla="*/ 2147483647 h 49"/>
                    <a:gd name="T2" fmla="*/ 2147483647 w 184"/>
                    <a:gd name="T3" fmla="*/ 2147483647 h 49"/>
                    <a:gd name="T4" fmla="*/ 2147483647 w 184"/>
                    <a:gd name="T5" fmla="*/ 2147483647 h 49"/>
                    <a:gd name="T6" fmla="*/ 2147483647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01" name="Arc 256"/>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grpSp>
        </p:grpSp>
        <p:sp>
          <p:nvSpPr>
            <p:cNvPr id="272" name="Text Box 173"/>
            <p:cNvSpPr txBox="1">
              <a:spLocks noChangeArrowheads="1"/>
            </p:cNvSpPr>
            <p:nvPr/>
          </p:nvSpPr>
          <p:spPr bwMode="auto">
            <a:xfrm>
              <a:off x="8189386" y="2704355"/>
              <a:ext cx="3097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X</a:t>
              </a:r>
            </a:p>
          </p:txBody>
        </p:sp>
      </p:grpSp>
      <p:sp>
        <p:nvSpPr>
          <p:cNvPr id="302" name="Text Box 173"/>
          <p:cNvSpPr txBox="1">
            <a:spLocks noChangeArrowheads="1"/>
          </p:cNvSpPr>
          <p:nvPr/>
        </p:nvSpPr>
        <p:spPr bwMode="auto">
          <a:xfrm>
            <a:off x="2811030" y="2266807"/>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1d</a:t>
            </a:r>
          </a:p>
        </p:txBody>
      </p:sp>
      <p:sp>
        <p:nvSpPr>
          <p:cNvPr id="303" name="Text Box 173"/>
          <p:cNvSpPr txBox="1">
            <a:spLocks noChangeArrowheads="1"/>
          </p:cNvSpPr>
          <p:nvPr/>
        </p:nvSpPr>
        <p:spPr bwMode="auto">
          <a:xfrm>
            <a:off x="5805055" y="2395394"/>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3a</a:t>
            </a:r>
          </a:p>
        </p:txBody>
      </p:sp>
      <p:sp>
        <p:nvSpPr>
          <p:cNvPr id="304" name="Text Box 173"/>
          <p:cNvSpPr txBox="1">
            <a:spLocks noChangeArrowheads="1"/>
          </p:cNvSpPr>
          <p:nvPr/>
        </p:nvSpPr>
        <p:spPr bwMode="auto">
          <a:xfrm>
            <a:off x="3357130" y="1480994"/>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2a</a:t>
            </a:r>
          </a:p>
        </p:txBody>
      </p:sp>
      <p:sp>
        <p:nvSpPr>
          <p:cNvPr id="305" name="Line 169"/>
          <p:cNvSpPr>
            <a:spLocks noChangeShapeType="1"/>
          </p:cNvSpPr>
          <p:nvPr/>
        </p:nvSpPr>
        <p:spPr bwMode="auto">
          <a:xfrm flipV="1">
            <a:off x="1315605" y="2360469"/>
            <a:ext cx="1389063" cy="80963"/>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06"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125105" y="2344594"/>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07"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45830" y="2055669"/>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08" name="Line 169"/>
          <p:cNvSpPr>
            <a:spLocks noChangeShapeType="1"/>
          </p:cNvSpPr>
          <p:nvPr/>
        </p:nvSpPr>
        <p:spPr bwMode="auto">
          <a:xfrm flipH="1" flipV="1">
            <a:off x="1988705" y="2179494"/>
            <a:ext cx="144463" cy="57467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09" name="Line 194"/>
          <p:cNvSpPr>
            <a:spLocks noChangeShapeType="1"/>
          </p:cNvSpPr>
          <p:nvPr/>
        </p:nvSpPr>
        <p:spPr bwMode="auto">
          <a:xfrm flipH="1">
            <a:off x="4581093" y="1530207"/>
            <a:ext cx="288925" cy="649287"/>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10" name="Line 194"/>
          <p:cNvSpPr>
            <a:spLocks noChangeShapeType="1"/>
          </p:cNvSpPr>
          <p:nvPr/>
        </p:nvSpPr>
        <p:spPr bwMode="auto">
          <a:xfrm flipH="1">
            <a:off x="3788930" y="1890569"/>
            <a:ext cx="1657350" cy="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11"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25555" y="1457182"/>
            <a:ext cx="296863"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2"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36630" y="2128694"/>
            <a:ext cx="296863"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13" name="Line 209"/>
          <p:cNvSpPr>
            <a:spLocks noChangeShapeType="1"/>
          </p:cNvSpPr>
          <p:nvPr/>
        </p:nvSpPr>
        <p:spPr bwMode="auto">
          <a:xfrm flipV="1">
            <a:off x="7029018" y="2200132"/>
            <a:ext cx="33337" cy="62706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14" name="Line 209"/>
          <p:cNvSpPr>
            <a:spLocks noChangeShapeType="1"/>
          </p:cNvSpPr>
          <p:nvPr/>
        </p:nvSpPr>
        <p:spPr bwMode="auto">
          <a:xfrm flipV="1">
            <a:off x="6381318" y="2322369"/>
            <a:ext cx="1512887" cy="288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15"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84555" y="2703369"/>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6" name="Picture 4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749743" y="2271569"/>
            <a:ext cx="298450"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7" name="Picture 4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84555" y="2055669"/>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5"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65093" y="1796907"/>
            <a:ext cx="296862"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6"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37993" y="2250932"/>
            <a:ext cx="295275"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7"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365318" y="1798494"/>
            <a:ext cx="296862"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8"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165418" y="2538269"/>
            <a:ext cx="296862"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39" name="Text Box 173"/>
          <p:cNvSpPr txBox="1">
            <a:spLocks noChangeArrowheads="1"/>
          </p:cNvSpPr>
          <p:nvPr/>
        </p:nvSpPr>
        <p:spPr bwMode="auto">
          <a:xfrm>
            <a:off x="1988705" y="2754169"/>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1c</a:t>
            </a:r>
          </a:p>
        </p:txBody>
      </p:sp>
      <p:sp>
        <p:nvSpPr>
          <p:cNvPr id="340" name="Text Box 173"/>
          <p:cNvSpPr txBox="1">
            <a:spLocks noChangeArrowheads="1"/>
          </p:cNvSpPr>
          <p:nvPr/>
        </p:nvSpPr>
        <p:spPr bwMode="auto">
          <a:xfrm>
            <a:off x="1772805" y="1746107"/>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1b</a:t>
            </a:r>
          </a:p>
        </p:txBody>
      </p:sp>
      <p:sp>
        <p:nvSpPr>
          <p:cNvPr id="341" name="Text Box 173"/>
          <p:cNvSpPr txBox="1">
            <a:spLocks noChangeArrowheads="1"/>
          </p:cNvSpPr>
          <p:nvPr/>
        </p:nvSpPr>
        <p:spPr bwMode="auto">
          <a:xfrm>
            <a:off x="837768" y="2035032"/>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1a</a:t>
            </a:r>
          </a:p>
        </p:txBody>
      </p:sp>
      <p:sp>
        <p:nvSpPr>
          <p:cNvPr id="342" name="Text Box 173"/>
          <p:cNvSpPr txBox="1">
            <a:spLocks noChangeArrowheads="1"/>
          </p:cNvSpPr>
          <p:nvPr/>
        </p:nvSpPr>
        <p:spPr bwMode="auto">
          <a:xfrm>
            <a:off x="4509655" y="2179494"/>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2c</a:t>
            </a:r>
          </a:p>
        </p:txBody>
      </p:sp>
      <p:sp>
        <p:nvSpPr>
          <p:cNvPr id="343" name="Text Box 173"/>
          <p:cNvSpPr txBox="1">
            <a:spLocks noChangeArrowheads="1"/>
          </p:cNvSpPr>
          <p:nvPr/>
        </p:nvSpPr>
        <p:spPr bwMode="auto">
          <a:xfrm>
            <a:off x="4870018" y="124286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2b</a:t>
            </a:r>
          </a:p>
        </p:txBody>
      </p:sp>
      <p:sp>
        <p:nvSpPr>
          <p:cNvPr id="344" name="Text Box 173"/>
          <p:cNvSpPr txBox="1">
            <a:spLocks noChangeArrowheads="1"/>
          </p:cNvSpPr>
          <p:nvPr/>
        </p:nvSpPr>
        <p:spPr bwMode="auto">
          <a:xfrm>
            <a:off x="5374843" y="146511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2d</a:t>
            </a:r>
          </a:p>
        </p:txBody>
      </p:sp>
      <p:sp>
        <p:nvSpPr>
          <p:cNvPr id="345" name="Text Box 173"/>
          <p:cNvSpPr txBox="1">
            <a:spLocks noChangeArrowheads="1"/>
          </p:cNvSpPr>
          <p:nvPr/>
        </p:nvSpPr>
        <p:spPr bwMode="auto">
          <a:xfrm>
            <a:off x="7938655" y="210646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3d</a:t>
            </a:r>
          </a:p>
        </p:txBody>
      </p:sp>
      <p:sp>
        <p:nvSpPr>
          <p:cNvPr id="346" name="Text Box 173"/>
          <p:cNvSpPr txBox="1">
            <a:spLocks noChangeArrowheads="1"/>
          </p:cNvSpPr>
          <p:nvPr/>
        </p:nvSpPr>
        <p:spPr bwMode="auto">
          <a:xfrm>
            <a:off x="7173480" y="189056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3b</a:t>
            </a:r>
          </a:p>
        </p:txBody>
      </p:sp>
      <p:sp>
        <p:nvSpPr>
          <p:cNvPr id="347" name="Text Box 173"/>
          <p:cNvSpPr txBox="1">
            <a:spLocks noChangeArrowheads="1"/>
          </p:cNvSpPr>
          <p:nvPr/>
        </p:nvSpPr>
        <p:spPr bwMode="auto">
          <a:xfrm>
            <a:off x="7000443" y="2754169"/>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3c</a:t>
            </a:r>
          </a:p>
        </p:txBody>
      </p:sp>
      <p:sp>
        <p:nvSpPr>
          <p:cNvPr id="348" name="椭圆 273"/>
          <p:cNvSpPr>
            <a:spLocks noChangeArrowheads="1"/>
          </p:cNvSpPr>
          <p:nvPr/>
        </p:nvSpPr>
        <p:spPr bwMode="auto">
          <a:xfrm>
            <a:off x="6152718" y="2420794"/>
            <a:ext cx="100012" cy="100013"/>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349" name="椭圆 274"/>
          <p:cNvSpPr>
            <a:spLocks noChangeArrowheads="1"/>
          </p:cNvSpPr>
          <p:nvPr/>
        </p:nvSpPr>
        <p:spPr bwMode="auto">
          <a:xfrm>
            <a:off x="3504768" y="1893744"/>
            <a:ext cx="100012" cy="100013"/>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350" name="Text Box 173"/>
          <p:cNvSpPr txBox="1">
            <a:spLocks noChangeArrowheads="1"/>
          </p:cNvSpPr>
          <p:nvPr/>
        </p:nvSpPr>
        <p:spPr bwMode="auto">
          <a:xfrm>
            <a:off x="2780868" y="1242869"/>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2a</a:t>
            </a:r>
          </a:p>
        </p:txBody>
      </p:sp>
      <p:sp>
        <p:nvSpPr>
          <p:cNvPr id="351" name="Text Box 173"/>
          <p:cNvSpPr txBox="1">
            <a:spLocks noChangeArrowheads="1"/>
          </p:cNvSpPr>
          <p:nvPr/>
        </p:nvSpPr>
        <p:spPr bwMode="auto">
          <a:xfrm>
            <a:off x="5878080" y="1747694"/>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3a</a:t>
            </a:r>
          </a:p>
        </p:txBody>
      </p:sp>
      <p:cxnSp>
        <p:nvCxnSpPr>
          <p:cNvPr id="352" name="直接箭头连接符 329"/>
          <p:cNvCxnSpPr>
            <a:cxnSpLocks noChangeShapeType="1"/>
            <a:stCxn id="351" idx="2"/>
            <a:endCxn id="348" idx="0"/>
          </p:cNvCxnSpPr>
          <p:nvPr/>
        </p:nvCxnSpPr>
        <p:spPr bwMode="auto">
          <a:xfrm>
            <a:off x="6131515" y="2055471"/>
            <a:ext cx="71209" cy="36532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353" name="直接箭头连接符 329"/>
          <p:cNvCxnSpPr>
            <a:cxnSpLocks noChangeShapeType="1"/>
          </p:cNvCxnSpPr>
          <p:nvPr/>
        </p:nvCxnSpPr>
        <p:spPr bwMode="auto">
          <a:xfrm>
            <a:off x="2996768" y="1530207"/>
            <a:ext cx="504825" cy="385762"/>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354" name="椭圆 273"/>
          <p:cNvSpPr>
            <a:spLocks noChangeArrowheads="1"/>
          </p:cNvSpPr>
          <p:nvPr/>
        </p:nvSpPr>
        <p:spPr bwMode="auto">
          <a:xfrm>
            <a:off x="6781368" y="2760519"/>
            <a:ext cx="100012" cy="100013"/>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355" name="Text Box 173"/>
          <p:cNvSpPr txBox="1">
            <a:spLocks noChangeArrowheads="1"/>
          </p:cNvSpPr>
          <p:nvPr/>
        </p:nvSpPr>
        <p:spPr bwMode="auto">
          <a:xfrm>
            <a:off x="5805055" y="2827194"/>
            <a:ext cx="4968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3c</a:t>
            </a:r>
          </a:p>
        </p:txBody>
      </p:sp>
      <p:cxnSp>
        <p:nvCxnSpPr>
          <p:cNvPr id="356" name="直接箭头连接符 329"/>
          <p:cNvCxnSpPr>
            <a:cxnSpLocks noChangeShapeType="1"/>
          </p:cNvCxnSpPr>
          <p:nvPr/>
        </p:nvCxnSpPr>
        <p:spPr bwMode="auto">
          <a:xfrm flipV="1">
            <a:off x="6167005" y="2866882"/>
            <a:ext cx="654050" cy="12700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8" name="左箭头 7"/>
          <p:cNvSpPr/>
          <p:nvPr/>
        </p:nvSpPr>
        <p:spPr>
          <a:xfrm rot="2560597">
            <a:off x="5542504" y="2178632"/>
            <a:ext cx="345677" cy="165457"/>
          </a:xfrm>
          <a:prstGeom prst="leftArrow">
            <a:avLst/>
          </a:prstGeom>
          <a:solidFill>
            <a:srgbClr val="000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153200853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right)">
                                      <p:cBhvr>
                                        <p:cTn id="7" dur="1000"/>
                                        <p:tgtEl>
                                          <p:spTgt spid="8"/>
                                        </p:tgtEl>
                                      </p:cBhvr>
                                    </p:animEffect>
                                  </p:childTnLst>
                                </p:cTn>
                              </p:par>
                            </p:childTnLst>
                          </p:cTn>
                        </p:par>
                        <p:par>
                          <p:cTn id="8" fill="hold">
                            <p:stCondLst>
                              <p:cond delay="1000"/>
                            </p:stCondLst>
                            <p:childTnLst>
                              <p:par>
                                <p:cTn id="9" presetID="22" presetClass="entr" presetSubtype="1" fill="hold" grpId="0" nodeType="afterEffect">
                                  <p:stCondLst>
                                    <p:cond delay="0"/>
                                  </p:stCondLst>
                                  <p:childTnLst>
                                    <p:set>
                                      <p:cBhvr>
                                        <p:cTn id="10" dur="1" fill="hold">
                                          <p:stCondLst>
                                            <p:cond delay="0"/>
                                          </p:stCondLst>
                                        </p:cTn>
                                        <p:tgtEl>
                                          <p:spTgt spid="365"/>
                                        </p:tgtEl>
                                        <p:attrNameLst>
                                          <p:attrName>style.visibility</p:attrName>
                                        </p:attrNameLst>
                                      </p:cBhvr>
                                      <p:to>
                                        <p:strVal val="visible"/>
                                      </p:to>
                                    </p:set>
                                    <p:animEffect transition="in" filter="wipe(up)">
                                      <p:cBhvr>
                                        <p:cTn id="11" dur="500"/>
                                        <p:tgtEl>
                                          <p:spTgt spid="3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5" grpId="0"/>
      <p:bldP spid="8" grpId="0" animBg="1"/>
    </p:bld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5" y="622831"/>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BGP </a:t>
            </a:r>
            <a:r>
              <a:rPr lang="zh-CN" altLang="en-US" sz="2000" b="1" dirty="0">
                <a:solidFill>
                  <a:schemeClr val="bg1"/>
                </a:solidFill>
                <a:latin typeface="微软雅黑" pitchFamily="34" charset="-122"/>
                <a:ea typeface="微软雅黑" pitchFamily="34" charset="-122"/>
              </a:rPr>
              <a:t>路由信息</a:t>
            </a:r>
          </a:p>
        </p:txBody>
      </p:sp>
      <p:sp>
        <p:nvSpPr>
          <p:cNvPr id="4" name="圆角矩形 3"/>
          <p:cNvSpPr/>
          <p:nvPr/>
        </p:nvSpPr>
        <p:spPr>
          <a:xfrm>
            <a:off x="545145" y="1052858"/>
            <a:ext cx="8053712" cy="208750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65" name="Text Box 173"/>
          <p:cNvSpPr txBox="1">
            <a:spLocks noChangeArrowheads="1"/>
          </p:cNvSpPr>
          <p:nvPr/>
        </p:nvSpPr>
        <p:spPr bwMode="auto">
          <a:xfrm>
            <a:off x="664159" y="3122318"/>
            <a:ext cx="8304349"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ts val="2400"/>
              </a:lnSpc>
            </a:pPr>
            <a:r>
              <a:rPr lang="en-US" altLang="zh-CN" sz="1600" b="1" kern="500" dirty="0">
                <a:latin typeface="微软雅黑" panose="020B0503020204020204" pitchFamily="34" charset="-122"/>
                <a:ea typeface="微软雅黑" panose="020B0503020204020204" pitchFamily="34" charset="-122"/>
              </a:rPr>
              <a:t>AS</a:t>
            </a:r>
            <a:r>
              <a:rPr lang="en-US" altLang="zh-CN" sz="1600" b="1" kern="500" baseline="-25000" dirty="0">
                <a:latin typeface="微软雅黑" panose="020B0503020204020204" pitchFamily="34" charset="-122"/>
                <a:ea typeface="微软雅黑" panose="020B0503020204020204" pitchFamily="34" charset="-122"/>
              </a:rPr>
              <a:t>2 </a:t>
            </a:r>
            <a:r>
              <a:rPr lang="zh-CN" altLang="zh-CN" sz="1600" b="1" kern="500" dirty="0">
                <a:latin typeface="微软雅黑" panose="020B0503020204020204" pitchFamily="34" charset="-122"/>
                <a:ea typeface="微软雅黑" panose="020B0503020204020204" pitchFamily="34" charset="-122"/>
              </a:rPr>
              <a:t>可经</a:t>
            </a:r>
            <a:r>
              <a:rPr lang="en-US" altLang="zh-CN" sz="1600" b="1" kern="500" dirty="0">
                <a:latin typeface="微软雅黑" panose="020B0503020204020204" pitchFamily="34" charset="-122"/>
                <a:ea typeface="微软雅黑" panose="020B0503020204020204" pitchFamily="34" charset="-122"/>
              </a:rPr>
              <a:t> IP</a:t>
            </a:r>
            <a:r>
              <a:rPr lang="en-US" altLang="zh-CN" sz="1600" b="1" kern="500" baseline="-25000" dirty="0">
                <a:latin typeface="微软雅黑" panose="020B0503020204020204" pitchFamily="34" charset="-122"/>
                <a:ea typeface="微软雅黑" panose="020B0503020204020204" pitchFamily="34" charset="-122"/>
              </a:rPr>
              <a:t>3a </a:t>
            </a:r>
            <a:r>
              <a:rPr lang="zh-CN" altLang="zh-CN" sz="1600" b="1" kern="500" dirty="0">
                <a:latin typeface="微软雅黑" panose="020B0503020204020204" pitchFamily="34" charset="-122"/>
                <a:ea typeface="微软雅黑" panose="020B0503020204020204" pitchFamily="34" charset="-122"/>
              </a:rPr>
              <a:t>到前缀</a:t>
            </a:r>
            <a:r>
              <a:rPr lang="en-US" altLang="zh-CN" sz="1600" b="1" kern="500" dirty="0">
                <a:latin typeface="微软雅黑" panose="020B0503020204020204" pitchFamily="34" charset="-122"/>
                <a:ea typeface="微软雅黑" panose="020B0503020204020204" pitchFamily="34" charset="-122"/>
              </a:rPr>
              <a:t> X </a:t>
            </a:r>
            <a:r>
              <a:rPr lang="zh-CN" altLang="zh-CN" sz="1600" b="1" kern="500" dirty="0">
                <a:latin typeface="微软雅黑" panose="020B0503020204020204" pitchFamily="34" charset="-122"/>
                <a:ea typeface="微软雅黑" panose="020B0503020204020204" pitchFamily="34" charset="-122"/>
              </a:rPr>
              <a:t>的路由</a:t>
            </a:r>
            <a:r>
              <a:rPr lang="en-US" altLang="zh-CN" sz="1600" b="1" kern="500" dirty="0">
                <a:latin typeface="微软雅黑" panose="020B0503020204020204" pitchFamily="34" charset="-122"/>
                <a:ea typeface="微软雅黑" panose="020B0503020204020204" pitchFamily="34" charset="-122"/>
              </a:rPr>
              <a:t> = [</a:t>
            </a:r>
            <a:r>
              <a:rPr lang="zh-CN" altLang="zh-CN" sz="1600" b="1" kern="500" dirty="0">
                <a:latin typeface="微软雅黑" panose="020B0503020204020204" pitchFamily="34" charset="-122"/>
                <a:ea typeface="微软雅黑" panose="020B0503020204020204" pitchFamily="34" charset="-122"/>
              </a:rPr>
              <a:t>前缀</a:t>
            </a:r>
            <a:r>
              <a:rPr lang="en-US" altLang="zh-CN" sz="1600" b="1" kern="500" dirty="0">
                <a:latin typeface="微软雅黑" panose="020B0503020204020204" pitchFamily="34" charset="-122"/>
                <a:ea typeface="微软雅黑" panose="020B0503020204020204" pitchFamily="34" charset="-122"/>
              </a:rPr>
              <a:t>, AS-PATH, NEXT-HOP] = [X, AS</a:t>
            </a:r>
            <a:r>
              <a:rPr lang="en-US" altLang="zh-CN" sz="1600" b="1" kern="500" baseline="-25000" dirty="0">
                <a:latin typeface="微软雅黑" panose="020B0503020204020204" pitchFamily="34" charset="-122"/>
                <a:ea typeface="微软雅黑" panose="020B0503020204020204" pitchFamily="34" charset="-122"/>
              </a:rPr>
              <a:t>3</a:t>
            </a:r>
            <a:r>
              <a:rPr lang="en-US" altLang="zh-CN" sz="1600" b="1" kern="500" dirty="0">
                <a:latin typeface="微软雅黑" panose="020B0503020204020204" pitchFamily="34" charset="-122"/>
                <a:ea typeface="微软雅黑" panose="020B0503020204020204" pitchFamily="34" charset="-122"/>
              </a:rPr>
              <a:t>, IP</a:t>
            </a:r>
            <a:r>
              <a:rPr lang="en-US" altLang="zh-CN" sz="1600" b="1" kern="500" baseline="-25000" dirty="0">
                <a:latin typeface="微软雅黑" panose="020B0503020204020204" pitchFamily="34" charset="-122"/>
                <a:ea typeface="微软雅黑" panose="020B0503020204020204" pitchFamily="34" charset="-122"/>
              </a:rPr>
              <a:t>3a</a:t>
            </a:r>
            <a:r>
              <a:rPr lang="en-US" altLang="zh-CN" sz="1600" b="1" kern="500" dirty="0">
                <a:latin typeface="微软雅黑" panose="020B0503020204020204" pitchFamily="34" charset="-122"/>
                <a:ea typeface="微软雅黑" panose="020B0503020204020204" pitchFamily="34" charset="-122"/>
              </a:rPr>
              <a:t>]</a:t>
            </a:r>
          </a:p>
          <a:p>
            <a:pPr eaLnBrk="1" hangingPunct="1">
              <a:lnSpc>
                <a:spcPts val="2400"/>
              </a:lnSpc>
            </a:pPr>
            <a:r>
              <a:rPr lang="zh-CN" altLang="en-US" sz="1500" b="1" u="sng" dirty="0">
                <a:solidFill>
                  <a:srgbClr val="990099"/>
                </a:solidFill>
                <a:latin typeface="微软雅黑" panose="020B0503020204020204" pitchFamily="34" charset="-122"/>
                <a:ea typeface="微软雅黑" panose="020B0503020204020204" pitchFamily="34" charset="-122"/>
              </a:rPr>
              <a:t>路由 </a:t>
            </a:r>
            <a:r>
              <a:rPr lang="en-US" altLang="zh-CN" sz="1500" b="1" u="sng" dirty="0">
                <a:solidFill>
                  <a:srgbClr val="990099"/>
                </a:solidFill>
                <a:latin typeface="微软雅黑" panose="020B0503020204020204" pitchFamily="34" charset="-122"/>
                <a:ea typeface="微软雅黑" panose="020B0503020204020204" pitchFamily="34" charset="-122"/>
              </a:rPr>
              <a:t>1</a:t>
            </a:r>
            <a:r>
              <a:rPr lang="zh-CN" altLang="en-US" sz="1500" b="1" dirty="0">
                <a:solidFill>
                  <a:srgbClr val="990099"/>
                </a:solidFill>
                <a:latin typeface="微软雅黑" panose="020B0503020204020204" pitchFamily="34" charset="-122"/>
                <a:ea typeface="微软雅黑" panose="020B0503020204020204" pitchFamily="34" charset="-122"/>
              </a:rPr>
              <a:t>：</a:t>
            </a:r>
            <a:r>
              <a:rPr lang="en-US" altLang="zh-CN" sz="1500" b="1" dirty="0">
                <a:solidFill>
                  <a:srgbClr val="990099"/>
                </a:solidFill>
                <a:latin typeface="微软雅黑" panose="020B0503020204020204" pitchFamily="34" charset="-122"/>
                <a:ea typeface="微软雅黑" panose="020B0503020204020204" pitchFamily="34" charset="-122"/>
              </a:rPr>
              <a:t>AS</a:t>
            </a:r>
            <a:r>
              <a:rPr lang="en-US" altLang="zh-CN" sz="1500" b="1" baseline="-25000" dirty="0">
                <a:solidFill>
                  <a:srgbClr val="990099"/>
                </a:solidFill>
                <a:latin typeface="微软雅黑" panose="020B0503020204020204" pitchFamily="34" charset="-122"/>
                <a:ea typeface="微软雅黑" panose="020B0503020204020204" pitchFamily="34" charset="-122"/>
              </a:rPr>
              <a:t>1 </a:t>
            </a:r>
            <a:r>
              <a:rPr lang="zh-CN" altLang="zh-CN" sz="1500" b="1" dirty="0">
                <a:solidFill>
                  <a:srgbClr val="990099"/>
                </a:solidFill>
                <a:latin typeface="微软雅黑" panose="020B0503020204020204" pitchFamily="34" charset="-122"/>
                <a:ea typeface="微软雅黑" panose="020B0503020204020204" pitchFamily="34" charset="-122"/>
              </a:rPr>
              <a:t>可经</a:t>
            </a:r>
            <a:r>
              <a:rPr lang="en-US" altLang="zh-CN" sz="1500" b="1" dirty="0">
                <a:solidFill>
                  <a:srgbClr val="990099"/>
                </a:solidFill>
                <a:latin typeface="微软雅黑" panose="020B0503020204020204" pitchFamily="34" charset="-122"/>
                <a:ea typeface="微软雅黑" panose="020B0503020204020204" pitchFamily="34" charset="-122"/>
              </a:rPr>
              <a:t> IP</a:t>
            </a:r>
            <a:r>
              <a:rPr lang="en-US" altLang="zh-CN" sz="1500" b="1" baseline="-25000" dirty="0">
                <a:solidFill>
                  <a:srgbClr val="990099"/>
                </a:solidFill>
                <a:latin typeface="微软雅黑" panose="020B0503020204020204" pitchFamily="34" charset="-122"/>
                <a:ea typeface="微软雅黑" panose="020B0503020204020204" pitchFamily="34" charset="-122"/>
              </a:rPr>
              <a:t>2a </a:t>
            </a:r>
            <a:r>
              <a:rPr lang="zh-CN" altLang="zh-CN" sz="1500" b="1" dirty="0">
                <a:solidFill>
                  <a:srgbClr val="990099"/>
                </a:solidFill>
                <a:latin typeface="微软雅黑" panose="020B0503020204020204" pitchFamily="34" charset="-122"/>
                <a:ea typeface="微软雅黑" panose="020B0503020204020204" pitchFamily="34" charset="-122"/>
              </a:rPr>
              <a:t>到前缀</a:t>
            </a:r>
            <a:r>
              <a:rPr lang="en-US" altLang="zh-CN" sz="1500" b="1" dirty="0">
                <a:solidFill>
                  <a:srgbClr val="990099"/>
                </a:solidFill>
                <a:latin typeface="微软雅黑" panose="020B0503020204020204" pitchFamily="34" charset="-122"/>
                <a:ea typeface="微软雅黑" panose="020B0503020204020204" pitchFamily="34" charset="-122"/>
              </a:rPr>
              <a:t> X </a:t>
            </a:r>
            <a:r>
              <a:rPr lang="zh-CN" altLang="zh-CN" sz="1500" b="1" dirty="0">
                <a:solidFill>
                  <a:srgbClr val="990099"/>
                </a:solidFill>
                <a:latin typeface="微软雅黑" panose="020B0503020204020204" pitchFamily="34" charset="-122"/>
                <a:ea typeface="微软雅黑" panose="020B0503020204020204" pitchFamily="34" charset="-122"/>
              </a:rPr>
              <a:t>的路由</a:t>
            </a:r>
            <a:r>
              <a:rPr lang="en-US" altLang="zh-CN" sz="1500" b="1" dirty="0">
                <a:solidFill>
                  <a:srgbClr val="990099"/>
                </a:solidFill>
                <a:latin typeface="微软雅黑" panose="020B0503020204020204" pitchFamily="34" charset="-122"/>
                <a:ea typeface="微软雅黑" panose="020B0503020204020204" pitchFamily="34" charset="-122"/>
              </a:rPr>
              <a:t> = [</a:t>
            </a:r>
            <a:r>
              <a:rPr lang="zh-CN" altLang="zh-CN" sz="1500" b="1" dirty="0">
                <a:solidFill>
                  <a:srgbClr val="990099"/>
                </a:solidFill>
                <a:latin typeface="微软雅黑" panose="020B0503020204020204" pitchFamily="34" charset="-122"/>
                <a:ea typeface="微软雅黑" panose="020B0503020204020204" pitchFamily="34" charset="-122"/>
              </a:rPr>
              <a:t>前缀</a:t>
            </a:r>
            <a:r>
              <a:rPr lang="en-US" altLang="zh-CN" sz="1500" b="1" dirty="0">
                <a:solidFill>
                  <a:srgbClr val="990099"/>
                </a:solidFill>
                <a:latin typeface="微软雅黑" panose="020B0503020204020204" pitchFamily="34" charset="-122"/>
                <a:ea typeface="微软雅黑" panose="020B0503020204020204" pitchFamily="34" charset="-122"/>
              </a:rPr>
              <a:t>, AS-PATH, NEXT-HOP] = [X, AS</a:t>
            </a:r>
            <a:r>
              <a:rPr lang="en-US" altLang="zh-CN" sz="1500" b="1" baseline="-25000" dirty="0">
                <a:solidFill>
                  <a:srgbClr val="990099"/>
                </a:solidFill>
                <a:latin typeface="微软雅黑" panose="020B0503020204020204" pitchFamily="34" charset="-122"/>
                <a:ea typeface="微软雅黑" panose="020B0503020204020204" pitchFamily="34" charset="-122"/>
              </a:rPr>
              <a:t>2</a:t>
            </a:r>
            <a:r>
              <a:rPr lang="en-US" altLang="zh-CN" sz="1500" b="1" dirty="0">
                <a:solidFill>
                  <a:srgbClr val="990099"/>
                </a:solidFill>
                <a:latin typeface="微软雅黑" panose="020B0503020204020204" pitchFamily="34" charset="-122"/>
                <a:ea typeface="微软雅黑" panose="020B0503020204020204" pitchFamily="34" charset="-122"/>
              </a:rPr>
              <a:t> AS</a:t>
            </a:r>
            <a:r>
              <a:rPr lang="en-US" altLang="zh-CN" sz="1500" b="1" baseline="-25000" dirty="0">
                <a:solidFill>
                  <a:srgbClr val="990099"/>
                </a:solidFill>
                <a:latin typeface="微软雅黑" panose="020B0503020204020204" pitchFamily="34" charset="-122"/>
                <a:ea typeface="微软雅黑" panose="020B0503020204020204" pitchFamily="34" charset="-122"/>
              </a:rPr>
              <a:t>3</a:t>
            </a:r>
            <a:r>
              <a:rPr lang="en-US" altLang="zh-CN" sz="1500" b="1" dirty="0">
                <a:solidFill>
                  <a:srgbClr val="990099"/>
                </a:solidFill>
                <a:latin typeface="微软雅黑" panose="020B0503020204020204" pitchFamily="34" charset="-122"/>
                <a:ea typeface="微软雅黑" panose="020B0503020204020204" pitchFamily="34" charset="-122"/>
              </a:rPr>
              <a:t>, IP</a:t>
            </a:r>
            <a:r>
              <a:rPr lang="en-US" altLang="zh-CN" sz="1500" b="1" baseline="-25000" dirty="0">
                <a:solidFill>
                  <a:srgbClr val="990099"/>
                </a:solidFill>
                <a:latin typeface="微软雅黑" panose="020B0503020204020204" pitchFamily="34" charset="-122"/>
                <a:ea typeface="微软雅黑" panose="020B0503020204020204" pitchFamily="34" charset="-122"/>
              </a:rPr>
              <a:t>2a</a:t>
            </a:r>
            <a:r>
              <a:rPr lang="en-US" altLang="zh-CN" sz="1500" b="1" dirty="0">
                <a:solidFill>
                  <a:srgbClr val="990099"/>
                </a:solidFill>
                <a:latin typeface="微软雅黑" panose="020B0503020204020204" pitchFamily="34" charset="-122"/>
                <a:ea typeface="微软雅黑" panose="020B0503020204020204" pitchFamily="34" charset="-122"/>
              </a:rPr>
              <a:t>]</a:t>
            </a:r>
            <a:endParaRPr lang="en-US" altLang="zh-CN" sz="1500" b="1" kern="500" dirty="0">
              <a:solidFill>
                <a:srgbClr val="990099"/>
              </a:solidFill>
              <a:latin typeface="微软雅黑" panose="020B0503020204020204" pitchFamily="34" charset="-122"/>
              <a:ea typeface="微软雅黑" panose="020B0503020204020204" pitchFamily="34" charset="-122"/>
            </a:endParaRPr>
          </a:p>
        </p:txBody>
      </p:sp>
      <p:sp>
        <p:nvSpPr>
          <p:cNvPr id="191" name="Line 154"/>
          <p:cNvSpPr>
            <a:spLocks noChangeShapeType="1"/>
          </p:cNvSpPr>
          <p:nvPr/>
        </p:nvSpPr>
        <p:spPr bwMode="auto">
          <a:xfrm>
            <a:off x="2217305" y="2797032"/>
            <a:ext cx="4806950" cy="19050"/>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192" name="Group 206"/>
          <p:cNvGrpSpPr>
            <a:grpSpLocks/>
          </p:cNvGrpSpPr>
          <p:nvPr/>
        </p:nvGrpSpPr>
        <p:grpSpPr bwMode="auto">
          <a:xfrm>
            <a:off x="1198130" y="1984232"/>
            <a:ext cx="1655763" cy="792162"/>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9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02" name="Group 216"/>
            <p:cNvGrpSpPr>
              <a:grpSpLocks/>
            </p:cNvGrpSpPr>
            <p:nvPr/>
          </p:nvGrpSpPr>
          <p:grpSpPr bwMode="auto">
            <a:xfrm>
              <a:off x="912" y="768"/>
              <a:ext cx="2386" cy="1553"/>
              <a:chOff x="912" y="768"/>
              <a:chExt cx="2386" cy="1553"/>
            </a:xfrm>
            <a:grpFill/>
          </p:grpSpPr>
          <p:sp>
            <p:nvSpPr>
              <p:cNvPr id="20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grpSp>
      <p:grpSp>
        <p:nvGrpSpPr>
          <p:cNvPr id="212" name="Group 206"/>
          <p:cNvGrpSpPr>
            <a:grpSpLocks/>
          </p:cNvGrpSpPr>
          <p:nvPr/>
        </p:nvGrpSpPr>
        <p:grpSpPr bwMode="auto">
          <a:xfrm>
            <a:off x="3573030" y="1528619"/>
            <a:ext cx="1944688" cy="792163"/>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1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22" name="Group 216"/>
            <p:cNvGrpSpPr>
              <a:grpSpLocks/>
            </p:cNvGrpSpPr>
            <p:nvPr/>
          </p:nvGrpSpPr>
          <p:grpSpPr bwMode="auto">
            <a:xfrm>
              <a:off x="912" y="768"/>
              <a:ext cx="2386" cy="1553"/>
              <a:chOff x="912" y="768"/>
              <a:chExt cx="2386" cy="1553"/>
            </a:xfrm>
            <a:grpFill/>
          </p:grpSpPr>
          <p:sp>
            <p:nvSpPr>
              <p:cNvPr id="22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grpSp>
      <p:grpSp>
        <p:nvGrpSpPr>
          <p:cNvPr id="232" name="Group 206"/>
          <p:cNvGrpSpPr>
            <a:grpSpLocks/>
          </p:cNvGrpSpPr>
          <p:nvPr/>
        </p:nvGrpSpPr>
        <p:grpSpPr bwMode="auto">
          <a:xfrm>
            <a:off x="6093980" y="2055669"/>
            <a:ext cx="1943100" cy="792163"/>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3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42" name="Group 216"/>
            <p:cNvGrpSpPr>
              <a:grpSpLocks/>
            </p:cNvGrpSpPr>
            <p:nvPr/>
          </p:nvGrpSpPr>
          <p:grpSpPr bwMode="auto">
            <a:xfrm>
              <a:off x="912" y="768"/>
              <a:ext cx="2386" cy="1553"/>
              <a:chOff x="912" y="768"/>
              <a:chExt cx="2386" cy="1553"/>
            </a:xfrm>
            <a:grpFill/>
          </p:grpSpPr>
          <p:sp>
            <p:nvSpPr>
              <p:cNvPr id="24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5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5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grpSp>
      <p:sp>
        <p:nvSpPr>
          <p:cNvPr id="252" name="Line 208"/>
          <p:cNvSpPr>
            <a:spLocks noChangeShapeType="1"/>
          </p:cNvSpPr>
          <p:nvPr/>
        </p:nvSpPr>
        <p:spPr bwMode="auto">
          <a:xfrm>
            <a:off x="6381318" y="2631932"/>
            <a:ext cx="647700" cy="14446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3" name="Line 152"/>
          <p:cNvSpPr>
            <a:spLocks noChangeShapeType="1"/>
          </p:cNvSpPr>
          <p:nvPr/>
        </p:nvSpPr>
        <p:spPr bwMode="auto">
          <a:xfrm flipH="1">
            <a:off x="7173480" y="2344594"/>
            <a:ext cx="719138" cy="4318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4" name="Line 154"/>
          <p:cNvSpPr>
            <a:spLocks noChangeShapeType="1"/>
          </p:cNvSpPr>
          <p:nvPr/>
        </p:nvSpPr>
        <p:spPr bwMode="auto">
          <a:xfrm flipV="1">
            <a:off x="2853893" y="1912794"/>
            <a:ext cx="792162" cy="411163"/>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5" name="Line 155"/>
          <p:cNvSpPr>
            <a:spLocks noChangeShapeType="1"/>
          </p:cNvSpPr>
          <p:nvPr/>
        </p:nvSpPr>
        <p:spPr bwMode="auto">
          <a:xfrm>
            <a:off x="5516130" y="1912794"/>
            <a:ext cx="793750" cy="647700"/>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6" name="Line 158"/>
          <p:cNvSpPr>
            <a:spLocks noChangeShapeType="1"/>
          </p:cNvSpPr>
          <p:nvPr/>
        </p:nvSpPr>
        <p:spPr bwMode="auto">
          <a:xfrm flipH="1">
            <a:off x="4654118" y="1888982"/>
            <a:ext cx="790575" cy="31115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7" name="Line 159"/>
          <p:cNvSpPr>
            <a:spLocks noChangeShapeType="1"/>
          </p:cNvSpPr>
          <p:nvPr/>
        </p:nvSpPr>
        <p:spPr bwMode="auto">
          <a:xfrm>
            <a:off x="4870018" y="1528619"/>
            <a:ext cx="503237" cy="288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8" name="Line 163"/>
          <p:cNvSpPr>
            <a:spLocks noChangeShapeType="1"/>
          </p:cNvSpPr>
          <p:nvPr/>
        </p:nvSpPr>
        <p:spPr bwMode="auto">
          <a:xfrm>
            <a:off x="7102043" y="2128694"/>
            <a:ext cx="792162" cy="2159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9" name="Line 165"/>
          <p:cNvSpPr>
            <a:spLocks noChangeShapeType="1"/>
          </p:cNvSpPr>
          <p:nvPr/>
        </p:nvSpPr>
        <p:spPr bwMode="auto">
          <a:xfrm flipV="1">
            <a:off x="2134755" y="2360469"/>
            <a:ext cx="625475" cy="415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0" name="Line 167"/>
          <p:cNvSpPr>
            <a:spLocks noChangeShapeType="1"/>
          </p:cNvSpPr>
          <p:nvPr/>
        </p:nvSpPr>
        <p:spPr bwMode="auto">
          <a:xfrm>
            <a:off x="1290205" y="2454132"/>
            <a:ext cx="842963" cy="32226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1" name="Line 169"/>
          <p:cNvSpPr>
            <a:spLocks noChangeShapeType="1"/>
          </p:cNvSpPr>
          <p:nvPr/>
        </p:nvSpPr>
        <p:spPr bwMode="auto">
          <a:xfrm flipV="1">
            <a:off x="1269568" y="2128694"/>
            <a:ext cx="720725" cy="287338"/>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2" name="Line 170"/>
          <p:cNvSpPr>
            <a:spLocks noChangeShapeType="1"/>
          </p:cNvSpPr>
          <p:nvPr/>
        </p:nvSpPr>
        <p:spPr bwMode="auto">
          <a:xfrm>
            <a:off x="1990293" y="2128694"/>
            <a:ext cx="719137" cy="195263"/>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3" name="Text Box 173"/>
          <p:cNvSpPr txBox="1">
            <a:spLocks noChangeArrowheads="1"/>
          </p:cNvSpPr>
          <p:nvPr/>
        </p:nvSpPr>
        <p:spPr bwMode="auto">
          <a:xfrm>
            <a:off x="1196543" y="1747694"/>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solidFill>
                  <a:srgbClr val="0000FF"/>
                </a:solidFill>
                <a:latin typeface="微软雅黑" panose="020B0503020204020204" pitchFamily="34" charset="-122"/>
                <a:ea typeface="微软雅黑" panose="020B0503020204020204" pitchFamily="34" charset="-122"/>
              </a:rPr>
              <a:t>AS</a:t>
            </a:r>
            <a:r>
              <a:rPr lang="en-US" altLang="zh-CN" sz="1400" b="1" baseline="-25000" dirty="0">
                <a:solidFill>
                  <a:srgbClr val="0000FF"/>
                </a:solidFill>
                <a:latin typeface="微软雅黑" panose="020B0503020204020204" pitchFamily="34" charset="-122"/>
                <a:ea typeface="微软雅黑" panose="020B0503020204020204" pitchFamily="34" charset="-122"/>
              </a:rPr>
              <a:t>1</a:t>
            </a:r>
          </a:p>
        </p:txBody>
      </p:sp>
      <p:sp>
        <p:nvSpPr>
          <p:cNvPr id="264" name="Text Box 174"/>
          <p:cNvSpPr txBox="1">
            <a:spLocks noChangeArrowheads="1"/>
          </p:cNvSpPr>
          <p:nvPr/>
        </p:nvSpPr>
        <p:spPr bwMode="auto">
          <a:xfrm>
            <a:off x="6454343" y="1747694"/>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solidFill>
                  <a:srgbClr val="0000FF"/>
                </a:solidFill>
                <a:latin typeface="微软雅黑" panose="020B0503020204020204" pitchFamily="34" charset="-122"/>
                <a:ea typeface="微软雅黑" panose="020B0503020204020204" pitchFamily="34" charset="-122"/>
              </a:rPr>
              <a:t>AS</a:t>
            </a:r>
            <a:r>
              <a:rPr lang="en-US" altLang="zh-CN" sz="1400" b="1" baseline="-25000">
                <a:solidFill>
                  <a:srgbClr val="0000FF"/>
                </a:solidFill>
                <a:latin typeface="微软雅黑" panose="020B0503020204020204" pitchFamily="34" charset="-122"/>
                <a:ea typeface="微软雅黑" panose="020B0503020204020204" pitchFamily="34" charset="-122"/>
              </a:rPr>
              <a:t>3</a:t>
            </a:r>
          </a:p>
        </p:txBody>
      </p:sp>
      <p:sp>
        <p:nvSpPr>
          <p:cNvPr id="265" name="Text Box 175"/>
          <p:cNvSpPr txBox="1">
            <a:spLocks noChangeArrowheads="1"/>
          </p:cNvSpPr>
          <p:nvPr/>
        </p:nvSpPr>
        <p:spPr bwMode="auto">
          <a:xfrm>
            <a:off x="4220730" y="11714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solidFill>
                  <a:srgbClr val="0000FF"/>
                </a:solidFill>
                <a:latin typeface="微软雅黑" panose="020B0503020204020204" pitchFamily="34" charset="-122"/>
                <a:ea typeface="微软雅黑" panose="020B0503020204020204" pitchFamily="34" charset="-122"/>
              </a:rPr>
              <a:t>AS</a:t>
            </a:r>
            <a:r>
              <a:rPr lang="en-US" altLang="zh-CN" sz="1400" b="1" baseline="-25000">
                <a:solidFill>
                  <a:srgbClr val="0000FF"/>
                </a:solidFill>
                <a:latin typeface="微软雅黑" panose="020B0503020204020204" pitchFamily="34" charset="-122"/>
                <a:ea typeface="微软雅黑" panose="020B0503020204020204" pitchFamily="34" charset="-122"/>
              </a:rPr>
              <a:t>2</a:t>
            </a:r>
          </a:p>
        </p:txBody>
      </p:sp>
      <p:sp>
        <p:nvSpPr>
          <p:cNvPr id="266" name="Line 194"/>
          <p:cNvSpPr>
            <a:spLocks noChangeShapeType="1"/>
          </p:cNvSpPr>
          <p:nvPr/>
        </p:nvSpPr>
        <p:spPr bwMode="auto">
          <a:xfrm flipH="1">
            <a:off x="3717493" y="1528619"/>
            <a:ext cx="1152525" cy="288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7" name="Line 209"/>
          <p:cNvSpPr>
            <a:spLocks noChangeShapeType="1"/>
          </p:cNvSpPr>
          <p:nvPr/>
        </p:nvSpPr>
        <p:spPr bwMode="auto">
          <a:xfrm flipV="1">
            <a:off x="6381318" y="2128694"/>
            <a:ext cx="647700" cy="4318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8" name="Line 153"/>
          <p:cNvSpPr>
            <a:spLocks noChangeShapeType="1"/>
          </p:cNvSpPr>
          <p:nvPr/>
        </p:nvSpPr>
        <p:spPr bwMode="auto">
          <a:xfrm>
            <a:off x="3754005" y="1946132"/>
            <a:ext cx="755650" cy="2540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269"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90293" y="2682732"/>
            <a:ext cx="296862"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6" name="组合 5"/>
          <p:cNvGrpSpPr/>
          <p:nvPr/>
        </p:nvGrpSpPr>
        <p:grpSpPr>
          <a:xfrm>
            <a:off x="7511617" y="2510869"/>
            <a:ext cx="504825" cy="360363"/>
            <a:chOff x="8075758" y="2677682"/>
            <a:chExt cx="504825" cy="360363"/>
          </a:xfrm>
        </p:grpSpPr>
        <p:grpSp>
          <p:nvGrpSpPr>
            <p:cNvPr id="5" name="组合 4"/>
            <p:cNvGrpSpPr/>
            <p:nvPr/>
          </p:nvGrpSpPr>
          <p:grpSpPr>
            <a:xfrm>
              <a:off x="8075758" y="2677682"/>
              <a:ext cx="504825" cy="360363"/>
              <a:chOff x="8075758" y="2677682"/>
              <a:chExt cx="504825" cy="360363"/>
            </a:xfrm>
          </p:grpSpPr>
          <p:sp>
            <p:nvSpPr>
              <p:cNvPr id="273" name="AutoShape 229"/>
              <p:cNvSpPr>
                <a:spLocks noChangeAspect="1" noChangeArrowheads="1" noTextEdit="1"/>
              </p:cNvSpPr>
              <p:nvPr/>
            </p:nvSpPr>
            <p:spPr bwMode="auto">
              <a:xfrm>
                <a:off x="8075758" y="2677682"/>
                <a:ext cx="504825" cy="360363"/>
              </a:xfrm>
              <a:prstGeom prst="rect">
                <a:avLst/>
              </a:prstGeom>
              <a:noFill/>
              <a:ln>
                <a:noFill/>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76" name="Oval 231"/>
              <p:cNvSpPr>
                <a:spLocks noChangeArrowheads="1"/>
              </p:cNvSpPr>
              <p:nvPr/>
            </p:nvSpPr>
            <p:spPr bwMode="auto">
              <a:xfrm>
                <a:off x="8248523" y="2681957"/>
                <a:ext cx="217274" cy="145367"/>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77" name="Oval 232"/>
              <p:cNvSpPr>
                <a:spLocks noChangeArrowheads="1"/>
              </p:cNvSpPr>
              <p:nvPr/>
            </p:nvSpPr>
            <p:spPr bwMode="auto">
              <a:xfrm>
                <a:off x="8129052" y="2719826"/>
                <a:ext cx="166323" cy="145978"/>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78" name="Oval 233"/>
              <p:cNvSpPr>
                <a:spLocks noChangeArrowheads="1"/>
              </p:cNvSpPr>
              <p:nvPr/>
            </p:nvSpPr>
            <p:spPr bwMode="auto">
              <a:xfrm>
                <a:off x="8078101" y="2807779"/>
                <a:ext cx="112444" cy="11849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79" name="Oval 234"/>
              <p:cNvSpPr>
                <a:spLocks noChangeArrowheads="1"/>
              </p:cNvSpPr>
              <p:nvPr/>
            </p:nvSpPr>
            <p:spPr bwMode="auto">
              <a:xfrm>
                <a:off x="8112068" y="2859696"/>
                <a:ext cx="169251" cy="12887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0" name="Oval 235"/>
              <p:cNvSpPr>
                <a:spLocks noChangeArrowheads="1"/>
              </p:cNvSpPr>
              <p:nvPr/>
            </p:nvSpPr>
            <p:spPr bwMode="auto">
              <a:xfrm>
                <a:off x="8231539" y="2881073"/>
                <a:ext cx="252413" cy="15269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1" name="Oval 236"/>
              <p:cNvSpPr>
                <a:spLocks noChangeArrowheads="1"/>
              </p:cNvSpPr>
              <p:nvPr/>
            </p:nvSpPr>
            <p:spPr bwMode="auto">
              <a:xfrm>
                <a:off x="8392006" y="2724102"/>
                <a:ext cx="162223" cy="114828"/>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2" name="Oval 237"/>
              <p:cNvSpPr>
                <a:spLocks noChangeArrowheads="1"/>
              </p:cNvSpPr>
              <p:nvPr/>
            </p:nvSpPr>
            <p:spPr bwMode="auto">
              <a:xfrm>
                <a:off x="8416603" y="2798007"/>
                <a:ext cx="160466" cy="114217"/>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3" name="Oval 238"/>
              <p:cNvSpPr>
                <a:spLocks noChangeArrowheads="1"/>
              </p:cNvSpPr>
              <p:nvPr/>
            </p:nvSpPr>
            <p:spPr bwMode="auto">
              <a:xfrm>
                <a:off x="8401962" y="2821827"/>
                <a:ext cx="159295" cy="18812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4" name="Oval 239"/>
              <p:cNvSpPr>
                <a:spLocks noChangeArrowheads="1"/>
              </p:cNvSpPr>
              <p:nvPr/>
            </p:nvSpPr>
            <p:spPr bwMode="auto">
              <a:xfrm>
                <a:off x="8168875" y="2765024"/>
                <a:ext cx="323275" cy="18812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85" name="Group 257"/>
              <p:cNvGrpSpPr>
                <a:grpSpLocks/>
              </p:cNvGrpSpPr>
              <p:nvPr/>
            </p:nvGrpSpPr>
            <p:grpSpPr bwMode="auto">
              <a:xfrm>
                <a:off x="8076929" y="2678904"/>
                <a:ext cx="501311" cy="355477"/>
                <a:chOff x="3063" y="302"/>
                <a:chExt cx="856" cy="582"/>
              </a:xfrm>
              <a:solidFill>
                <a:schemeClr val="bg1"/>
              </a:solidFill>
            </p:grpSpPr>
            <p:sp>
              <p:nvSpPr>
                <p:cNvPr id="286" name="Freeform 241"/>
                <p:cNvSpPr>
                  <a:spLocks/>
                </p:cNvSpPr>
                <p:nvPr/>
              </p:nvSpPr>
              <p:spPr bwMode="auto">
                <a:xfrm>
                  <a:off x="3364" y="302"/>
                  <a:ext cx="353" cy="123"/>
                </a:xfrm>
                <a:custGeom>
                  <a:avLst/>
                  <a:gdLst>
                    <a:gd name="T0" fmla="*/ 2147483647 w 171"/>
                    <a:gd name="T1" fmla="*/ 2147483647 h 53"/>
                    <a:gd name="T2" fmla="*/ 2147483647 w 171"/>
                    <a:gd name="T3" fmla="*/ 2147483647 h 53"/>
                    <a:gd name="T4" fmla="*/ 0 w 171"/>
                    <a:gd name="T5" fmla="*/ 2147483647 h 53"/>
                    <a:gd name="T6" fmla="*/ 2147483647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87" name="Arc 242"/>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88" name="Freeform 243"/>
                <p:cNvSpPr>
                  <a:spLocks/>
                </p:cNvSpPr>
                <p:nvPr/>
              </p:nvSpPr>
              <p:spPr bwMode="auto">
                <a:xfrm>
                  <a:off x="3150" y="367"/>
                  <a:ext cx="220" cy="146"/>
                </a:xfrm>
                <a:custGeom>
                  <a:avLst/>
                  <a:gdLst>
                    <a:gd name="T0" fmla="*/ 2147483647 w 107"/>
                    <a:gd name="T1" fmla="*/ 2147483647 h 63"/>
                    <a:gd name="T2" fmla="*/ 2147483647 w 107"/>
                    <a:gd name="T3" fmla="*/ 0 h 63"/>
                    <a:gd name="T4" fmla="*/ 2147483647 w 107"/>
                    <a:gd name="T5" fmla="*/ 2147483647 h 63"/>
                    <a:gd name="T6" fmla="*/ 2147483647 w 107"/>
                    <a:gd name="T7" fmla="*/ 2147483647 h 63"/>
                    <a:gd name="T8" fmla="*/ 2147483647 w 107"/>
                    <a:gd name="T9" fmla="*/ 2147483647 h 63"/>
                    <a:gd name="T10" fmla="*/ 2147483647 w 107"/>
                    <a:gd name="T11" fmla="*/ 2147483647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89" name="Arc 244"/>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0" name="Freeform 245"/>
                <p:cNvSpPr>
                  <a:spLocks/>
                </p:cNvSpPr>
                <p:nvPr/>
              </p:nvSpPr>
              <p:spPr bwMode="auto">
                <a:xfrm>
                  <a:off x="3121" y="696"/>
                  <a:ext cx="220" cy="115"/>
                </a:xfrm>
                <a:custGeom>
                  <a:avLst/>
                  <a:gdLst>
                    <a:gd name="T0" fmla="*/ 0 w 107"/>
                    <a:gd name="T1" fmla="*/ 0 h 50"/>
                    <a:gd name="T2" fmla="*/ 0 w 107"/>
                    <a:gd name="T3" fmla="*/ 2147483647 h 50"/>
                    <a:gd name="T4" fmla="*/ 2147483647 w 107"/>
                    <a:gd name="T5" fmla="*/ 2147483647 h 50"/>
                    <a:gd name="T6" fmla="*/ 2147483647 w 107"/>
                    <a:gd name="T7" fmla="*/ 2147483647 h 50"/>
                    <a:gd name="T8" fmla="*/ 2147483647 w 107"/>
                    <a:gd name="T9" fmla="*/ 2147483647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1" name="Arc 246"/>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2" name="Freeform 247"/>
                <p:cNvSpPr>
                  <a:spLocks/>
                </p:cNvSpPr>
                <p:nvPr/>
              </p:nvSpPr>
              <p:spPr bwMode="auto">
                <a:xfrm>
                  <a:off x="3713" y="372"/>
                  <a:ext cx="167" cy="141"/>
                </a:xfrm>
                <a:custGeom>
                  <a:avLst/>
                  <a:gdLst>
                    <a:gd name="T0" fmla="*/ 2147483647 w 81"/>
                    <a:gd name="T1" fmla="*/ 2147483647 h 61"/>
                    <a:gd name="T2" fmla="*/ 2147483647 w 81"/>
                    <a:gd name="T3" fmla="*/ 2147483647 h 61"/>
                    <a:gd name="T4" fmla="*/ 2147483647 w 81"/>
                    <a:gd name="T5" fmla="*/ 2147483647 h 61"/>
                    <a:gd name="T6" fmla="*/ 0 w 81"/>
                    <a:gd name="T7" fmla="*/ 2147483647 h 61"/>
                    <a:gd name="T8" fmla="*/ 2147483647 w 81"/>
                    <a:gd name="T9" fmla="*/ 2147483647 h 61"/>
                    <a:gd name="T10" fmla="*/ 2147483647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3" name="Arc 248"/>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4" name="Freeform 249"/>
                <p:cNvSpPr>
                  <a:spLocks/>
                </p:cNvSpPr>
                <p:nvPr/>
              </p:nvSpPr>
              <p:spPr bwMode="auto">
                <a:xfrm>
                  <a:off x="3760" y="511"/>
                  <a:ext cx="159" cy="138"/>
                </a:xfrm>
                <a:custGeom>
                  <a:avLst/>
                  <a:gdLst>
                    <a:gd name="T0" fmla="*/ 2147483647 w 77"/>
                    <a:gd name="T1" fmla="*/ 2147483647 h 60"/>
                    <a:gd name="T2" fmla="*/ 2147483647 w 77"/>
                    <a:gd name="T3" fmla="*/ 2147483647 h 60"/>
                    <a:gd name="T4" fmla="*/ 2147483647 w 77"/>
                    <a:gd name="T5" fmla="*/ 0 h 60"/>
                    <a:gd name="T6" fmla="*/ 0 w 77"/>
                    <a:gd name="T7" fmla="*/ 2147483647 h 60"/>
                    <a:gd name="T8" fmla="*/ 2147483647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5" name="Arc 250"/>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6" name="Freeform 251"/>
                <p:cNvSpPr>
                  <a:spLocks/>
                </p:cNvSpPr>
                <p:nvPr/>
              </p:nvSpPr>
              <p:spPr bwMode="auto">
                <a:xfrm>
                  <a:off x="3706" y="647"/>
                  <a:ext cx="188" cy="201"/>
                </a:xfrm>
                <a:custGeom>
                  <a:avLst/>
                  <a:gdLst>
                    <a:gd name="T0" fmla="*/ 0 w 91"/>
                    <a:gd name="T1" fmla="*/ 2147483647 h 87"/>
                    <a:gd name="T2" fmla="*/ 2147483647 w 91"/>
                    <a:gd name="T3" fmla="*/ 2147483647 h 87"/>
                    <a:gd name="T4" fmla="*/ 2147483647 w 91"/>
                    <a:gd name="T5" fmla="*/ 2147483647 h 87"/>
                    <a:gd name="T6" fmla="*/ 2147483647 w 91"/>
                    <a:gd name="T7" fmla="*/ 0 h 87"/>
                    <a:gd name="T8" fmla="*/ 2147483647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7" name="Arc 252"/>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8" name="Freeform 253"/>
                <p:cNvSpPr>
                  <a:spLocks/>
                </p:cNvSpPr>
                <p:nvPr/>
              </p:nvSpPr>
              <p:spPr bwMode="auto">
                <a:xfrm>
                  <a:off x="3063" y="511"/>
                  <a:ext cx="103" cy="189"/>
                </a:xfrm>
                <a:custGeom>
                  <a:avLst/>
                  <a:gdLst>
                    <a:gd name="T0" fmla="*/ 2147483647 w 50"/>
                    <a:gd name="T1" fmla="*/ 0 h 82"/>
                    <a:gd name="T2" fmla="*/ 2147483647 w 50"/>
                    <a:gd name="T3" fmla="*/ 2147483647 h 82"/>
                    <a:gd name="T4" fmla="*/ 2147483647 w 50"/>
                    <a:gd name="T5" fmla="*/ 2147483647 h 82"/>
                    <a:gd name="T6" fmla="*/ 2147483647 w 50"/>
                    <a:gd name="T7" fmla="*/ 2147483647 h 82"/>
                    <a:gd name="T8" fmla="*/ 2147483647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9" name="Arc 254"/>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00" name="Freeform 255"/>
                <p:cNvSpPr>
                  <a:spLocks/>
                </p:cNvSpPr>
                <p:nvPr/>
              </p:nvSpPr>
              <p:spPr bwMode="auto">
                <a:xfrm>
                  <a:off x="3333" y="770"/>
                  <a:ext cx="380" cy="113"/>
                </a:xfrm>
                <a:custGeom>
                  <a:avLst/>
                  <a:gdLst>
                    <a:gd name="T0" fmla="*/ 0 w 184"/>
                    <a:gd name="T1" fmla="*/ 2147483647 h 49"/>
                    <a:gd name="T2" fmla="*/ 2147483647 w 184"/>
                    <a:gd name="T3" fmla="*/ 2147483647 h 49"/>
                    <a:gd name="T4" fmla="*/ 2147483647 w 184"/>
                    <a:gd name="T5" fmla="*/ 2147483647 h 49"/>
                    <a:gd name="T6" fmla="*/ 2147483647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01" name="Arc 256"/>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grpSp>
        </p:grpSp>
        <p:sp>
          <p:nvSpPr>
            <p:cNvPr id="272" name="Text Box 173"/>
            <p:cNvSpPr txBox="1">
              <a:spLocks noChangeArrowheads="1"/>
            </p:cNvSpPr>
            <p:nvPr/>
          </p:nvSpPr>
          <p:spPr bwMode="auto">
            <a:xfrm>
              <a:off x="8189386" y="2704355"/>
              <a:ext cx="3097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X</a:t>
              </a:r>
            </a:p>
          </p:txBody>
        </p:sp>
      </p:grpSp>
      <p:sp>
        <p:nvSpPr>
          <p:cNvPr id="302" name="Text Box 173"/>
          <p:cNvSpPr txBox="1">
            <a:spLocks noChangeArrowheads="1"/>
          </p:cNvSpPr>
          <p:nvPr/>
        </p:nvSpPr>
        <p:spPr bwMode="auto">
          <a:xfrm>
            <a:off x="2811030" y="2266807"/>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1d</a:t>
            </a:r>
          </a:p>
        </p:txBody>
      </p:sp>
      <p:sp>
        <p:nvSpPr>
          <p:cNvPr id="303" name="Text Box 173"/>
          <p:cNvSpPr txBox="1">
            <a:spLocks noChangeArrowheads="1"/>
          </p:cNvSpPr>
          <p:nvPr/>
        </p:nvSpPr>
        <p:spPr bwMode="auto">
          <a:xfrm>
            <a:off x="5805055" y="2395394"/>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3a</a:t>
            </a:r>
          </a:p>
        </p:txBody>
      </p:sp>
      <p:sp>
        <p:nvSpPr>
          <p:cNvPr id="304" name="Text Box 173"/>
          <p:cNvSpPr txBox="1">
            <a:spLocks noChangeArrowheads="1"/>
          </p:cNvSpPr>
          <p:nvPr/>
        </p:nvSpPr>
        <p:spPr bwMode="auto">
          <a:xfrm>
            <a:off x="3357130" y="1480994"/>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2a</a:t>
            </a:r>
          </a:p>
        </p:txBody>
      </p:sp>
      <p:sp>
        <p:nvSpPr>
          <p:cNvPr id="305" name="Line 169"/>
          <p:cNvSpPr>
            <a:spLocks noChangeShapeType="1"/>
          </p:cNvSpPr>
          <p:nvPr/>
        </p:nvSpPr>
        <p:spPr bwMode="auto">
          <a:xfrm flipV="1">
            <a:off x="1315605" y="2360469"/>
            <a:ext cx="1389063" cy="80963"/>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06"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125105" y="2344594"/>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07"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45830" y="2055669"/>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08" name="Line 169"/>
          <p:cNvSpPr>
            <a:spLocks noChangeShapeType="1"/>
          </p:cNvSpPr>
          <p:nvPr/>
        </p:nvSpPr>
        <p:spPr bwMode="auto">
          <a:xfrm flipH="1" flipV="1">
            <a:off x="1988705" y="2179494"/>
            <a:ext cx="144463" cy="57467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09" name="Line 194"/>
          <p:cNvSpPr>
            <a:spLocks noChangeShapeType="1"/>
          </p:cNvSpPr>
          <p:nvPr/>
        </p:nvSpPr>
        <p:spPr bwMode="auto">
          <a:xfrm flipH="1">
            <a:off x="4581093" y="1530207"/>
            <a:ext cx="288925" cy="649287"/>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10" name="Line 194"/>
          <p:cNvSpPr>
            <a:spLocks noChangeShapeType="1"/>
          </p:cNvSpPr>
          <p:nvPr/>
        </p:nvSpPr>
        <p:spPr bwMode="auto">
          <a:xfrm flipH="1">
            <a:off x="3788930" y="1890569"/>
            <a:ext cx="1657350" cy="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11"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25555" y="1457182"/>
            <a:ext cx="296863"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2"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36630" y="2128694"/>
            <a:ext cx="296863"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13" name="Line 209"/>
          <p:cNvSpPr>
            <a:spLocks noChangeShapeType="1"/>
          </p:cNvSpPr>
          <p:nvPr/>
        </p:nvSpPr>
        <p:spPr bwMode="auto">
          <a:xfrm flipV="1">
            <a:off x="7029018" y="2200132"/>
            <a:ext cx="33337" cy="62706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14" name="Line 209"/>
          <p:cNvSpPr>
            <a:spLocks noChangeShapeType="1"/>
          </p:cNvSpPr>
          <p:nvPr/>
        </p:nvSpPr>
        <p:spPr bwMode="auto">
          <a:xfrm flipV="1">
            <a:off x="6381318" y="2322369"/>
            <a:ext cx="1512887" cy="288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15"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84555" y="2703369"/>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6" name="Picture 4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749743" y="2271569"/>
            <a:ext cx="298450"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7" name="Picture 4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84555" y="2055669"/>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5"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65093" y="1796907"/>
            <a:ext cx="296862"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6"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37993" y="2250932"/>
            <a:ext cx="295275"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7"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365318" y="1798494"/>
            <a:ext cx="296862"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8"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165418" y="2538269"/>
            <a:ext cx="296862"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39" name="Text Box 173"/>
          <p:cNvSpPr txBox="1">
            <a:spLocks noChangeArrowheads="1"/>
          </p:cNvSpPr>
          <p:nvPr/>
        </p:nvSpPr>
        <p:spPr bwMode="auto">
          <a:xfrm>
            <a:off x="1988705" y="2754169"/>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1c</a:t>
            </a:r>
          </a:p>
        </p:txBody>
      </p:sp>
      <p:sp>
        <p:nvSpPr>
          <p:cNvPr id="340" name="Text Box 173"/>
          <p:cNvSpPr txBox="1">
            <a:spLocks noChangeArrowheads="1"/>
          </p:cNvSpPr>
          <p:nvPr/>
        </p:nvSpPr>
        <p:spPr bwMode="auto">
          <a:xfrm>
            <a:off x="1772805" y="1746107"/>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1b</a:t>
            </a:r>
          </a:p>
        </p:txBody>
      </p:sp>
      <p:sp>
        <p:nvSpPr>
          <p:cNvPr id="341" name="Text Box 173"/>
          <p:cNvSpPr txBox="1">
            <a:spLocks noChangeArrowheads="1"/>
          </p:cNvSpPr>
          <p:nvPr/>
        </p:nvSpPr>
        <p:spPr bwMode="auto">
          <a:xfrm>
            <a:off x="837768" y="2035032"/>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1a</a:t>
            </a:r>
          </a:p>
        </p:txBody>
      </p:sp>
      <p:sp>
        <p:nvSpPr>
          <p:cNvPr id="342" name="Text Box 173"/>
          <p:cNvSpPr txBox="1">
            <a:spLocks noChangeArrowheads="1"/>
          </p:cNvSpPr>
          <p:nvPr/>
        </p:nvSpPr>
        <p:spPr bwMode="auto">
          <a:xfrm>
            <a:off x="4509655" y="2179494"/>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2c</a:t>
            </a:r>
          </a:p>
        </p:txBody>
      </p:sp>
      <p:sp>
        <p:nvSpPr>
          <p:cNvPr id="343" name="Text Box 173"/>
          <p:cNvSpPr txBox="1">
            <a:spLocks noChangeArrowheads="1"/>
          </p:cNvSpPr>
          <p:nvPr/>
        </p:nvSpPr>
        <p:spPr bwMode="auto">
          <a:xfrm>
            <a:off x="4870018" y="124286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2b</a:t>
            </a:r>
          </a:p>
        </p:txBody>
      </p:sp>
      <p:sp>
        <p:nvSpPr>
          <p:cNvPr id="344" name="Text Box 173"/>
          <p:cNvSpPr txBox="1">
            <a:spLocks noChangeArrowheads="1"/>
          </p:cNvSpPr>
          <p:nvPr/>
        </p:nvSpPr>
        <p:spPr bwMode="auto">
          <a:xfrm>
            <a:off x="5374843" y="146511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2d</a:t>
            </a:r>
          </a:p>
        </p:txBody>
      </p:sp>
      <p:sp>
        <p:nvSpPr>
          <p:cNvPr id="345" name="Text Box 173"/>
          <p:cNvSpPr txBox="1">
            <a:spLocks noChangeArrowheads="1"/>
          </p:cNvSpPr>
          <p:nvPr/>
        </p:nvSpPr>
        <p:spPr bwMode="auto">
          <a:xfrm>
            <a:off x="7938655" y="210646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3d</a:t>
            </a:r>
          </a:p>
        </p:txBody>
      </p:sp>
      <p:sp>
        <p:nvSpPr>
          <p:cNvPr id="346" name="Text Box 173"/>
          <p:cNvSpPr txBox="1">
            <a:spLocks noChangeArrowheads="1"/>
          </p:cNvSpPr>
          <p:nvPr/>
        </p:nvSpPr>
        <p:spPr bwMode="auto">
          <a:xfrm>
            <a:off x="7173480" y="189056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3b</a:t>
            </a:r>
          </a:p>
        </p:txBody>
      </p:sp>
      <p:sp>
        <p:nvSpPr>
          <p:cNvPr id="347" name="Text Box 173"/>
          <p:cNvSpPr txBox="1">
            <a:spLocks noChangeArrowheads="1"/>
          </p:cNvSpPr>
          <p:nvPr/>
        </p:nvSpPr>
        <p:spPr bwMode="auto">
          <a:xfrm>
            <a:off x="7000443" y="2754169"/>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3c</a:t>
            </a:r>
          </a:p>
        </p:txBody>
      </p:sp>
      <p:sp>
        <p:nvSpPr>
          <p:cNvPr id="348" name="椭圆 273"/>
          <p:cNvSpPr>
            <a:spLocks noChangeArrowheads="1"/>
          </p:cNvSpPr>
          <p:nvPr/>
        </p:nvSpPr>
        <p:spPr bwMode="auto">
          <a:xfrm>
            <a:off x="6152718" y="2420794"/>
            <a:ext cx="100012" cy="100013"/>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349" name="椭圆 274"/>
          <p:cNvSpPr>
            <a:spLocks noChangeArrowheads="1"/>
          </p:cNvSpPr>
          <p:nvPr/>
        </p:nvSpPr>
        <p:spPr bwMode="auto">
          <a:xfrm>
            <a:off x="3504768" y="1893744"/>
            <a:ext cx="100012" cy="100013"/>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350" name="Text Box 173"/>
          <p:cNvSpPr txBox="1">
            <a:spLocks noChangeArrowheads="1"/>
          </p:cNvSpPr>
          <p:nvPr/>
        </p:nvSpPr>
        <p:spPr bwMode="auto">
          <a:xfrm>
            <a:off x="2780868" y="1242869"/>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2a</a:t>
            </a:r>
          </a:p>
        </p:txBody>
      </p:sp>
      <p:sp>
        <p:nvSpPr>
          <p:cNvPr id="351" name="Text Box 173"/>
          <p:cNvSpPr txBox="1">
            <a:spLocks noChangeArrowheads="1"/>
          </p:cNvSpPr>
          <p:nvPr/>
        </p:nvSpPr>
        <p:spPr bwMode="auto">
          <a:xfrm>
            <a:off x="5878080" y="1747694"/>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3a</a:t>
            </a:r>
          </a:p>
        </p:txBody>
      </p:sp>
      <p:cxnSp>
        <p:nvCxnSpPr>
          <p:cNvPr id="352" name="直接箭头连接符 329"/>
          <p:cNvCxnSpPr>
            <a:cxnSpLocks noChangeShapeType="1"/>
            <a:stCxn id="351" idx="2"/>
            <a:endCxn id="348" idx="0"/>
          </p:cNvCxnSpPr>
          <p:nvPr/>
        </p:nvCxnSpPr>
        <p:spPr bwMode="auto">
          <a:xfrm>
            <a:off x="6131515" y="2055471"/>
            <a:ext cx="71209" cy="36532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353" name="直接箭头连接符 329"/>
          <p:cNvCxnSpPr>
            <a:cxnSpLocks noChangeShapeType="1"/>
          </p:cNvCxnSpPr>
          <p:nvPr/>
        </p:nvCxnSpPr>
        <p:spPr bwMode="auto">
          <a:xfrm>
            <a:off x="2996768" y="1530207"/>
            <a:ext cx="504825" cy="385762"/>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354" name="椭圆 273"/>
          <p:cNvSpPr>
            <a:spLocks noChangeArrowheads="1"/>
          </p:cNvSpPr>
          <p:nvPr/>
        </p:nvSpPr>
        <p:spPr bwMode="auto">
          <a:xfrm>
            <a:off x="6781368" y="2760519"/>
            <a:ext cx="100012" cy="100013"/>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355" name="Text Box 173"/>
          <p:cNvSpPr txBox="1">
            <a:spLocks noChangeArrowheads="1"/>
          </p:cNvSpPr>
          <p:nvPr/>
        </p:nvSpPr>
        <p:spPr bwMode="auto">
          <a:xfrm>
            <a:off x="5805055" y="2827194"/>
            <a:ext cx="4968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3c</a:t>
            </a:r>
          </a:p>
        </p:txBody>
      </p:sp>
      <p:cxnSp>
        <p:nvCxnSpPr>
          <p:cNvPr id="356" name="直接箭头连接符 329"/>
          <p:cNvCxnSpPr>
            <a:cxnSpLocks noChangeShapeType="1"/>
          </p:cNvCxnSpPr>
          <p:nvPr/>
        </p:nvCxnSpPr>
        <p:spPr bwMode="auto">
          <a:xfrm flipV="1">
            <a:off x="6167005" y="2866882"/>
            <a:ext cx="654050" cy="12700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154" name="左箭头 153"/>
          <p:cNvSpPr/>
          <p:nvPr/>
        </p:nvSpPr>
        <p:spPr>
          <a:xfrm rot="19785818">
            <a:off x="3131269" y="2152137"/>
            <a:ext cx="345677" cy="165457"/>
          </a:xfrm>
          <a:prstGeom prst="leftArrow">
            <a:avLst/>
          </a:prstGeom>
          <a:solidFill>
            <a:srgbClr val="99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90766163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154"/>
                                        </p:tgtEl>
                                        <p:attrNameLst>
                                          <p:attrName>style.visibility</p:attrName>
                                        </p:attrNameLst>
                                      </p:cBhvr>
                                      <p:to>
                                        <p:strVal val="visible"/>
                                      </p:to>
                                    </p:set>
                                    <p:animEffect transition="in" filter="wipe(right)">
                                      <p:cBhvr>
                                        <p:cTn id="7" dur="1000"/>
                                        <p:tgtEl>
                                          <p:spTgt spid="154"/>
                                        </p:tgtEl>
                                      </p:cBhvr>
                                    </p:animEffect>
                                  </p:childTnLst>
                                </p:cTn>
                              </p:par>
                            </p:childTnLst>
                          </p:cTn>
                        </p:par>
                        <p:par>
                          <p:cTn id="8" fill="hold">
                            <p:stCondLst>
                              <p:cond delay="1000"/>
                            </p:stCondLst>
                            <p:childTnLst>
                              <p:par>
                                <p:cTn id="9" presetID="22" presetClass="entr" presetSubtype="1" fill="hold" grpId="0" nodeType="afterEffect">
                                  <p:stCondLst>
                                    <p:cond delay="0"/>
                                  </p:stCondLst>
                                  <p:childTnLst>
                                    <p:set>
                                      <p:cBhvr>
                                        <p:cTn id="10" dur="1" fill="hold">
                                          <p:stCondLst>
                                            <p:cond delay="0"/>
                                          </p:stCondLst>
                                        </p:cTn>
                                        <p:tgtEl>
                                          <p:spTgt spid="365"/>
                                        </p:tgtEl>
                                        <p:attrNameLst>
                                          <p:attrName>style.visibility</p:attrName>
                                        </p:attrNameLst>
                                      </p:cBhvr>
                                      <p:to>
                                        <p:strVal val="visible"/>
                                      </p:to>
                                    </p:set>
                                    <p:animEffect transition="in" filter="wipe(up)">
                                      <p:cBhvr>
                                        <p:cTn id="11" dur="500"/>
                                        <p:tgtEl>
                                          <p:spTgt spid="3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5" grpId="0"/>
      <p:bldP spid="154" grpId="0" animBg="1"/>
    </p:bld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5" y="622831"/>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BGP </a:t>
            </a:r>
            <a:r>
              <a:rPr lang="zh-CN" altLang="en-US" sz="2000" b="1" dirty="0">
                <a:solidFill>
                  <a:schemeClr val="bg1"/>
                </a:solidFill>
                <a:latin typeface="微软雅黑" pitchFamily="34" charset="-122"/>
                <a:ea typeface="微软雅黑" pitchFamily="34" charset="-122"/>
              </a:rPr>
              <a:t>路由信息</a:t>
            </a:r>
          </a:p>
        </p:txBody>
      </p:sp>
      <p:sp>
        <p:nvSpPr>
          <p:cNvPr id="4" name="圆角矩形 3"/>
          <p:cNvSpPr/>
          <p:nvPr/>
        </p:nvSpPr>
        <p:spPr>
          <a:xfrm>
            <a:off x="545145" y="1052858"/>
            <a:ext cx="8053712" cy="208750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65" name="Text Box 173"/>
          <p:cNvSpPr txBox="1">
            <a:spLocks noChangeArrowheads="1"/>
          </p:cNvSpPr>
          <p:nvPr/>
        </p:nvSpPr>
        <p:spPr bwMode="auto">
          <a:xfrm>
            <a:off x="664159" y="3122318"/>
            <a:ext cx="8304349"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ts val="2400"/>
              </a:lnSpc>
            </a:pPr>
            <a:r>
              <a:rPr lang="en-US" altLang="zh-CN" sz="1600" b="1" kern="500" dirty="0">
                <a:latin typeface="微软雅黑" panose="020B0503020204020204" pitchFamily="34" charset="-122"/>
                <a:ea typeface="微软雅黑" panose="020B0503020204020204" pitchFamily="34" charset="-122"/>
              </a:rPr>
              <a:t>AS</a:t>
            </a:r>
            <a:r>
              <a:rPr lang="en-US" altLang="zh-CN" sz="1600" b="1" kern="500" baseline="-25000" dirty="0">
                <a:latin typeface="微软雅黑" panose="020B0503020204020204" pitchFamily="34" charset="-122"/>
                <a:ea typeface="微软雅黑" panose="020B0503020204020204" pitchFamily="34" charset="-122"/>
              </a:rPr>
              <a:t>2 </a:t>
            </a:r>
            <a:r>
              <a:rPr lang="zh-CN" altLang="zh-CN" sz="1600" b="1" kern="500" dirty="0">
                <a:latin typeface="微软雅黑" panose="020B0503020204020204" pitchFamily="34" charset="-122"/>
                <a:ea typeface="微软雅黑" panose="020B0503020204020204" pitchFamily="34" charset="-122"/>
              </a:rPr>
              <a:t>可经</a:t>
            </a:r>
            <a:r>
              <a:rPr lang="en-US" altLang="zh-CN" sz="1600" b="1" kern="500" dirty="0">
                <a:latin typeface="微软雅黑" panose="020B0503020204020204" pitchFamily="34" charset="-122"/>
                <a:ea typeface="微软雅黑" panose="020B0503020204020204" pitchFamily="34" charset="-122"/>
              </a:rPr>
              <a:t> IP</a:t>
            </a:r>
            <a:r>
              <a:rPr lang="en-US" altLang="zh-CN" sz="1600" b="1" kern="500" baseline="-25000" dirty="0">
                <a:latin typeface="微软雅黑" panose="020B0503020204020204" pitchFamily="34" charset="-122"/>
                <a:ea typeface="微软雅黑" panose="020B0503020204020204" pitchFamily="34" charset="-122"/>
              </a:rPr>
              <a:t>3a </a:t>
            </a:r>
            <a:r>
              <a:rPr lang="zh-CN" altLang="zh-CN" sz="1600" b="1" kern="500" dirty="0">
                <a:latin typeface="微软雅黑" panose="020B0503020204020204" pitchFamily="34" charset="-122"/>
                <a:ea typeface="微软雅黑" panose="020B0503020204020204" pitchFamily="34" charset="-122"/>
              </a:rPr>
              <a:t>到前缀</a:t>
            </a:r>
            <a:r>
              <a:rPr lang="en-US" altLang="zh-CN" sz="1600" b="1" kern="500" dirty="0">
                <a:latin typeface="微软雅黑" panose="020B0503020204020204" pitchFamily="34" charset="-122"/>
                <a:ea typeface="微软雅黑" panose="020B0503020204020204" pitchFamily="34" charset="-122"/>
              </a:rPr>
              <a:t> X </a:t>
            </a:r>
            <a:r>
              <a:rPr lang="zh-CN" altLang="zh-CN" sz="1600" b="1" kern="500" dirty="0">
                <a:latin typeface="微软雅黑" panose="020B0503020204020204" pitchFamily="34" charset="-122"/>
                <a:ea typeface="微软雅黑" panose="020B0503020204020204" pitchFamily="34" charset="-122"/>
              </a:rPr>
              <a:t>的路由</a:t>
            </a:r>
            <a:r>
              <a:rPr lang="en-US" altLang="zh-CN" sz="1600" b="1" kern="500" dirty="0">
                <a:latin typeface="微软雅黑" panose="020B0503020204020204" pitchFamily="34" charset="-122"/>
                <a:ea typeface="微软雅黑" panose="020B0503020204020204" pitchFamily="34" charset="-122"/>
              </a:rPr>
              <a:t> = [</a:t>
            </a:r>
            <a:r>
              <a:rPr lang="zh-CN" altLang="zh-CN" sz="1600" b="1" kern="500" dirty="0">
                <a:latin typeface="微软雅黑" panose="020B0503020204020204" pitchFamily="34" charset="-122"/>
                <a:ea typeface="微软雅黑" panose="020B0503020204020204" pitchFamily="34" charset="-122"/>
              </a:rPr>
              <a:t>前缀</a:t>
            </a:r>
            <a:r>
              <a:rPr lang="en-US" altLang="zh-CN" sz="1600" b="1" kern="500" dirty="0">
                <a:latin typeface="微软雅黑" panose="020B0503020204020204" pitchFamily="34" charset="-122"/>
                <a:ea typeface="微软雅黑" panose="020B0503020204020204" pitchFamily="34" charset="-122"/>
              </a:rPr>
              <a:t>, AS-PATH, NEXT-HOP] = [X, AS</a:t>
            </a:r>
            <a:r>
              <a:rPr lang="en-US" altLang="zh-CN" sz="1600" b="1" kern="500" baseline="-25000" dirty="0">
                <a:latin typeface="微软雅黑" panose="020B0503020204020204" pitchFamily="34" charset="-122"/>
                <a:ea typeface="微软雅黑" panose="020B0503020204020204" pitchFamily="34" charset="-122"/>
              </a:rPr>
              <a:t>3</a:t>
            </a:r>
            <a:r>
              <a:rPr lang="en-US" altLang="zh-CN" sz="1600" b="1" kern="500" dirty="0">
                <a:latin typeface="微软雅黑" panose="020B0503020204020204" pitchFamily="34" charset="-122"/>
                <a:ea typeface="微软雅黑" panose="020B0503020204020204" pitchFamily="34" charset="-122"/>
              </a:rPr>
              <a:t>, IP</a:t>
            </a:r>
            <a:r>
              <a:rPr lang="en-US" altLang="zh-CN" sz="1600" b="1" kern="500" baseline="-25000" dirty="0">
                <a:latin typeface="微软雅黑" panose="020B0503020204020204" pitchFamily="34" charset="-122"/>
                <a:ea typeface="微软雅黑" panose="020B0503020204020204" pitchFamily="34" charset="-122"/>
              </a:rPr>
              <a:t>3a</a:t>
            </a:r>
            <a:r>
              <a:rPr lang="en-US" altLang="zh-CN" sz="1600" b="1" kern="500" dirty="0">
                <a:latin typeface="微软雅黑" panose="020B0503020204020204" pitchFamily="34" charset="-122"/>
                <a:ea typeface="微软雅黑" panose="020B0503020204020204" pitchFamily="34" charset="-122"/>
              </a:rPr>
              <a:t>]</a:t>
            </a:r>
          </a:p>
          <a:p>
            <a:pPr eaLnBrk="1" hangingPunct="1">
              <a:lnSpc>
                <a:spcPts val="2400"/>
              </a:lnSpc>
            </a:pPr>
            <a:r>
              <a:rPr lang="zh-CN" altLang="en-US" sz="1500" b="1" u="sng" dirty="0">
                <a:solidFill>
                  <a:srgbClr val="990099"/>
                </a:solidFill>
                <a:latin typeface="微软雅黑" panose="020B0503020204020204" pitchFamily="34" charset="-122"/>
                <a:ea typeface="微软雅黑" panose="020B0503020204020204" pitchFamily="34" charset="-122"/>
              </a:rPr>
              <a:t>路由 </a:t>
            </a:r>
            <a:r>
              <a:rPr lang="en-US" altLang="zh-CN" sz="1500" b="1" u="sng" dirty="0">
                <a:solidFill>
                  <a:srgbClr val="990099"/>
                </a:solidFill>
                <a:latin typeface="微软雅黑" panose="020B0503020204020204" pitchFamily="34" charset="-122"/>
                <a:ea typeface="微软雅黑" panose="020B0503020204020204" pitchFamily="34" charset="-122"/>
              </a:rPr>
              <a:t>1</a:t>
            </a:r>
            <a:r>
              <a:rPr lang="zh-CN" altLang="en-US" sz="1500" b="1" dirty="0">
                <a:solidFill>
                  <a:srgbClr val="990099"/>
                </a:solidFill>
                <a:latin typeface="微软雅黑" panose="020B0503020204020204" pitchFamily="34" charset="-122"/>
                <a:ea typeface="微软雅黑" panose="020B0503020204020204" pitchFamily="34" charset="-122"/>
              </a:rPr>
              <a:t>：</a:t>
            </a:r>
            <a:r>
              <a:rPr lang="en-US" altLang="zh-CN" sz="1500" b="1" dirty="0">
                <a:solidFill>
                  <a:srgbClr val="990099"/>
                </a:solidFill>
                <a:latin typeface="微软雅黑" panose="020B0503020204020204" pitchFamily="34" charset="-122"/>
                <a:ea typeface="微软雅黑" panose="020B0503020204020204" pitchFamily="34" charset="-122"/>
              </a:rPr>
              <a:t>AS</a:t>
            </a:r>
            <a:r>
              <a:rPr lang="en-US" altLang="zh-CN" sz="1500" b="1" baseline="-25000" dirty="0">
                <a:solidFill>
                  <a:srgbClr val="990099"/>
                </a:solidFill>
                <a:latin typeface="微软雅黑" panose="020B0503020204020204" pitchFamily="34" charset="-122"/>
                <a:ea typeface="微软雅黑" panose="020B0503020204020204" pitchFamily="34" charset="-122"/>
              </a:rPr>
              <a:t>1 </a:t>
            </a:r>
            <a:r>
              <a:rPr lang="zh-CN" altLang="zh-CN" sz="1500" b="1" dirty="0">
                <a:solidFill>
                  <a:srgbClr val="990099"/>
                </a:solidFill>
                <a:latin typeface="微软雅黑" panose="020B0503020204020204" pitchFamily="34" charset="-122"/>
                <a:ea typeface="微软雅黑" panose="020B0503020204020204" pitchFamily="34" charset="-122"/>
              </a:rPr>
              <a:t>可经</a:t>
            </a:r>
            <a:r>
              <a:rPr lang="en-US" altLang="zh-CN" sz="1500" b="1" dirty="0">
                <a:solidFill>
                  <a:srgbClr val="990099"/>
                </a:solidFill>
                <a:latin typeface="微软雅黑" panose="020B0503020204020204" pitchFamily="34" charset="-122"/>
                <a:ea typeface="微软雅黑" panose="020B0503020204020204" pitchFamily="34" charset="-122"/>
              </a:rPr>
              <a:t> IP</a:t>
            </a:r>
            <a:r>
              <a:rPr lang="en-US" altLang="zh-CN" sz="1500" b="1" baseline="-25000" dirty="0">
                <a:solidFill>
                  <a:srgbClr val="990099"/>
                </a:solidFill>
                <a:latin typeface="微软雅黑" panose="020B0503020204020204" pitchFamily="34" charset="-122"/>
                <a:ea typeface="微软雅黑" panose="020B0503020204020204" pitchFamily="34" charset="-122"/>
              </a:rPr>
              <a:t>2a </a:t>
            </a:r>
            <a:r>
              <a:rPr lang="zh-CN" altLang="zh-CN" sz="1500" b="1" dirty="0">
                <a:solidFill>
                  <a:srgbClr val="990099"/>
                </a:solidFill>
                <a:latin typeface="微软雅黑" panose="020B0503020204020204" pitchFamily="34" charset="-122"/>
                <a:ea typeface="微软雅黑" panose="020B0503020204020204" pitchFamily="34" charset="-122"/>
              </a:rPr>
              <a:t>到前缀</a:t>
            </a:r>
            <a:r>
              <a:rPr lang="en-US" altLang="zh-CN" sz="1500" b="1" dirty="0">
                <a:solidFill>
                  <a:srgbClr val="990099"/>
                </a:solidFill>
                <a:latin typeface="微软雅黑" panose="020B0503020204020204" pitchFamily="34" charset="-122"/>
                <a:ea typeface="微软雅黑" panose="020B0503020204020204" pitchFamily="34" charset="-122"/>
              </a:rPr>
              <a:t> X </a:t>
            </a:r>
            <a:r>
              <a:rPr lang="zh-CN" altLang="zh-CN" sz="1500" b="1" dirty="0">
                <a:solidFill>
                  <a:srgbClr val="990099"/>
                </a:solidFill>
                <a:latin typeface="微软雅黑" panose="020B0503020204020204" pitchFamily="34" charset="-122"/>
                <a:ea typeface="微软雅黑" panose="020B0503020204020204" pitchFamily="34" charset="-122"/>
              </a:rPr>
              <a:t>的路由</a:t>
            </a:r>
            <a:r>
              <a:rPr lang="en-US" altLang="zh-CN" sz="1500" b="1" dirty="0">
                <a:solidFill>
                  <a:srgbClr val="990099"/>
                </a:solidFill>
                <a:latin typeface="微软雅黑" panose="020B0503020204020204" pitchFamily="34" charset="-122"/>
                <a:ea typeface="微软雅黑" panose="020B0503020204020204" pitchFamily="34" charset="-122"/>
              </a:rPr>
              <a:t> = [</a:t>
            </a:r>
            <a:r>
              <a:rPr lang="zh-CN" altLang="zh-CN" sz="1500" b="1" dirty="0">
                <a:solidFill>
                  <a:srgbClr val="990099"/>
                </a:solidFill>
                <a:latin typeface="微软雅黑" panose="020B0503020204020204" pitchFamily="34" charset="-122"/>
                <a:ea typeface="微软雅黑" panose="020B0503020204020204" pitchFamily="34" charset="-122"/>
              </a:rPr>
              <a:t>前缀</a:t>
            </a:r>
            <a:r>
              <a:rPr lang="en-US" altLang="zh-CN" sz="1500" b="1" dirty="0">
                <a:solidFill>
                  <a:srgbClr val="990099"/>
                </a:solidFill>
                <a:latin typeface="微软雅黑" panose="020B0503020204020204" pitchFamily="34" charset="-122"/>
                <a:ea typeface="微软雅黑" panose="020B0503020204020204" pitchFamily="34" charset="-122"/>
              </a:rPr>
              <a:t>, AS-PATH, NEXT-HOP] = [X, AS</a:t>
            </a:r>
            <a:r>
              <a:rPr lang="en-US" altLang="zh-CN" sz="1500" b="1" baseline="-25000" dirty="0">
                <a:solidFill>
                  <a:srgbClr val="990099"/>
                </a:solidFill>
                <a:latin typeface="微软雅黑" panose="020B0503020204020204" pitchFamily="34" charset="-122"/>
                <a:ea typeface="微软雅黑" panose="020B0503020204020204" pitchFamily="34" charset="-122"/>
              </a:rPr>
              <a:t>2</a:t>
            </a:r>
            <a:r>
              <a:rPr lang="en-US" altLang="zh-CN" sz="1500" b="1" dirty="0">
                <a:solidFill>
                  <a:srgbClr val="990099"/>
                </a:solidFill>
                <a:latin typeface="微软雅黑" panose="020B0503020204020204" pitchFamily="34" charset="-122"/>
                <a:ea typeface="微软雅黑" panose="020B0503020204020204" pitchFamily="34" charset="-122"/>
              </a:rPr>
              <a:t> AS</a:t>
            </a:r>
            <a:r>
              <a:rPr lang="en-US" altLang="zh-CN" sz="1500" b="1" baseline="-25000" dirty="0">
                <a:solidFill>
                  <a:srgbClr val="990099"/>
                </a:solidFill>
                <a:latin typeface="微软雅黑" panose="020B0503020204020204" pitchFamily="34" charset="-122"/>
                <a:ea typeface="微软雅黑" panose="020B0503020204020204" pitchFamily="34" charset="-122"/>
              </a:rPr>
              <a:t>3</a:t>
            </a:r>
            <a:r>
              <a:rPr lang="en-US" altLang="zh-CN" sz="1500" b="1" dirty="0">
                <a:solidFill>
                  <a:srgbClr val="990099"/>
                </a:solidFill>
                <a:latin typeface="微软雅黑" panose="020B0503020204020204" pitchFamily="34" charset="-122"/>
                <a:ea typeface="微软雅黑" panose="020B0503020204020204" pitchFamily="34" charset="-122"/>
              </a:rPr>
              <a:t>, IP</a:t>
            </a:r>
            <a:r>
              <a:rPr lang="en-US" altLang="zh-CN" sz="1500" b="1" baseline="-25000" dirty="0">
                <a:solidFill>
                  <a:srgbClr val="990099"/>
                </a:solidFill>
                <a:latin typeface="微软雅黑" panose="020B0503020204020204" pitchFamily="34" charset="-122"/>
                <a:ea typeface="微软雅黑" panose="020B0503020204020204" pitchFamily="34" charset="-122"/>
              </a:rPr>
              <a:t>2a</a:t>
            </a:r>
            <a:r>
              <a:rPr lang="en-US" altLang="zh-CN" sz="1500" b="1" dirty="0">
                <a:solidFill>
                  <a:srgbClr val="990099"/>
                </a:solidFill>
                <a:latin typeface="微软雅黑" panose="020B0503020204020204" pitchFamily="34" charset="-122"/>
                <a:ea typeface="微软雅黑" panose="020B0503020204020204" pitchFamily="34" charset="-122"/>
              </a:rPr>
              <a:t>]</a:t>
            </a:r>
          </a:p>
          <a:p>
            <a:pPr eaLnBrk="1" hangingPunct="1">
              <a:lnSpc>
                <a:spcPts val="2400"/>
              </a:lnSpc>
            </a:pPr>
            <a:r>
              <a:rPr lang="zh-CN" altLang="en-US" sz="1600" b="1" u="sng" dirty="0">
                <a:solidFill>
                  <a:srgbClr val="C00000"/>
                </a:solidFill>
                <a:latin typeface="微软雅黑" panose="020B0503020204020204" pitchFamily="34" charset="-122"/>
                <a:ea typeface="微软雅黑" panose="020B0503020204020204" pitchFamily="34" charset="-122"/>
              </a:rPr>
              <a:t>路由</a:t>
            </a:r>
            <a:r>
              <a:rPr lang="en-US" altLang="zh-CN" sz="1600" b="1" u="sng" dirty="0">
                <a:solidFill>
                  <a:srgbClr val="C00000"/>
                </a:solidFill>
                <a:latin typeface="微软雅黑" panose="020B0503020204020204" pitchFamily="34" charset="-122"/>
                <a:ea typeface="微软雅黑" panose="020B0503020204020204" pitchFamily="34" charset="-122"/>
              </a:rPr>
              <a:t>2</a:t>
            </a:r>
            <a:r>
              <a:rPr lang="zh-CN" altLang="en-US" sz="1600" b="1" dirty="0">
                <a:solidFill>
                  <a:srgbClr val="C00000"/>
                </a:solidFill>
                <a:latin typeface="微软雅黑" panose="020B0503020204020204" pitchFamily="34" charset="-122"/>
                <a:ea typeface="微软雅黑" panose="020B0503020204020204" pitchFamily="34" charset="-122"/>
              </a:rPr>
              <a:t>：</a:t>
            </a:r>
            <a:r>
              <a:rPr lang="en-US" altLang="zh-CN" sz="1600" b="1" dirty="0">
                <a:solidFill>
                  <a:srgbClr val="C00000"/>
                </a:solidFill>
                <a:latin typeface="微软雅黑" panose="020B0503020204020204" pitchFamily="34" charset="-122"/>
                <a:ea typeface="微软雅黑" panose="020B0503020204020204" pitchFamily="34" charset="-122"/>
              </a:rPr>
              <a:t>AS</a:t>
            </a:r>
            <a:r>
              <a:rPr lang="en-US" altLang="zh-CN" sz="1600" b="1" baseline="-25000" dirty="0">
                <a:solidFill>
                  <a:srgbClr val="C00000"/>
                </a:solidFill>
                <a:latin typeface="微软雅黑" panose="020B0503020204020204" pitchFamily="34" charset="-122"/>
                <a:ea typeface="微软雅黑" panose="020B0503020204020204" pitchFamily="34" charset="-122"/>
              </a:rPr>
              <a:t>1 </a:t>
            </a:r>
            <a:r>
              <a:rPr lang="zh-CN" altLang="zh-CN" sz="1600" b="1" dirty="0">
                <a:solidFill>
                  <a:srgbClr val="C00000"/>
                </a:solidFill>
                <a:latin typeface="微软雅黑" panose="020B0503020204020204" pitchFamily="34" charset="-122"/>
                <a:ea typeface="微软雅黑" panose="020B0503020204020204" pitchFamily="34" charset="-122"/>
              </a:rPr>
              <a:t>可经</a:t>
            </a:r>
            <a:r>
              <a:rPr lang="en-US" altLang="zh-CN" sz="1600" b="1" dirty="0">
                <a:solidFill>
                  <a:srgbClr val="C00000"/>
                </a:solidFill>
                <a:latin typeface="微软雅黑" panose="020B0503020204020204" pitchFamily="34" charset="-122"/>
                <a:ea typeface="微软雅黑" panose="020B0503020204020204" pitchFamily="34" charset="-122"/>
              </a:rPr>
              <a:t> IP</a:t>
            </a:r>
            <a:r>
              <a:rPr lang="en-US" altLang="zh-CN" sz="1600" b="1" baseline="-25000" dirty="0">
                <a:solidFill>
                  <a:srgbClr val="C00000"/>
                </a:solidFill>
                <a:latin typeface="微软雅黑" panose="020B0503020204020204" pitchFamily="34" charset="-122"/>
                <a:ea typeface="微软雅黑" panose="020B0503020204020204" pitchFamily="34" charset="-122"/>
              </a:rPr>
              <a:t>3c </a:t>
            </a:r>
            <a:r>
              <a:rPr lang="zh-CN" altLang="zh-CN" sz="1600" b="1" dirty="0">
                <a:solidFill>
                  <a:srgbClr val="C00000"/>
                </a:solidFill>
                <a:latin typeface="微软雅黑" panose="020B0503020204020204" pitchFamily="34" charset="-122"/>
                <a:ea typeface="微软雅黑" panose="020B0503020204020204" pitchFamily="34" charset="-122"/>
              </a:rPr>
              <a:t>到前缀</a:t>
            </a:r>
            <a:r>
              <a:rPr lang="en-US" altLang="zh-CN" sz="1600" b="1" dirty="0">
                <a:solidFill>
                  <a:srgbClr val="C00000"/>
                </a:solidFill>
                <a:latin typeface="微软雅黑" panose="020B0503020204020204" pitchFamily="34" charset="-122"/>
                <a:ea typeface="微软雅黑" panose="020B0503020204020204" pitchFamily="34" charset="-122"/>
              </a:rPr>
              <a:t> X </a:t>
            </a:r>
            <a:r>
              <a:rPr lang="zh-CN" altLang="zh-CN" sz="1600" b="1" dirty="0">
                <a:solidFill>
                  <a:srgbClr val="C00000"/>
                </a:solidFill>
                <a:latin typeface="微软雅黑" panose="020B0503020204020204" pitchFamily="34" charset="-122"/>
                <a:ea typeface="微软雅黑" panose="020B0503020204020204" pitchFamily="34" charset="-122"/>
              </a:rPr>
              <a:t>的路由</a:t>
            </a:r>
            <a:r>
              <a:rPr lang="en-US" altLang="zh-CN" sz="1600" b="1" dirty="0">
                <a:solidFill>
                  <a:srgbClr val="C00000"/>
                </a:solidFill>
                <a:latin typeface="微软雅黑" panose="020B0503020204020204" pitchFamily="34" charset="-122"/>
                <a:ea typeface="微软雅黑" panose="020B0503020204020204" pitchFamily="34" charset="-122"/>
              </a:rPr>
              <a:t> = [</a:t>
            </a:r>
            <a:r>
              <a:rPr lang="zh-CN" altLang="zh-CN" sz="1600" b="1" dirty="0">
                <a:solidFill>
                  <a:srgbClr val="C00000"/>
                </a:solidFill>
                <a:latin typeface="微软雅黑" panose="020B0503020204020204" pitchFamily="34" charset="-122"/>
                <a:ea typeface="微软雅黑" panose="020B0503020204020204" pitchFamily="34" charset="-122"/>
              </a:rPr>
              <a:t>前缀</a:t>
            </a:r>
            <a:r>
              <a:rPr lang="en-US" altLang="zh-CN" sz="1600" b="1" dirty="0">
                <a:solidFill>
                  <a:srgbClr val="C00000"/>
                </a:solidFill>
                <a:latin typeface="微软雅黑" panose="020B0503020204020204" pitchFamily="34" charset="-122"/>
                <a:ea typeface="微软雅黑" panose="020B0503020204020204" pitchFamily="34" charset="-122"/>
              </a:rPr>
              <a:t>, AS-PATH, NEXT-HOP] = [X, AS</a:t>
            </a:r>
            <a:r>
              <a:rPr lang="en-US" altLang="zh-CN" sz="1600" b="1" baseline="-25000" dirty="0">
                <a:solidFill>
                  <a:srgbClr val="C00000"/>
                </a:solidFill>
                <a:latin typeface="微软雅黑" panose="020B0503020204020204" pitchFamily="34" charset="-122"/>
                <a:ea typeface="微软雅黑" panose="020B0503020204020204" pitchFamily="34" charset="-122"/>
              </a:rPr>
              <a:t>3</a:t>
            </a:r>
            <a:r>
              <a:rPr lang="en-US" altLang="zh-CN" sz="1600" b="1" dirty="0">
                <a:solidFill>
                  <a:srgbClr val="C00000"/>
                </a:solidFill>
                <a:latin typeface="微软雅黑" panose="020B0503020204020204" pitchFamily="34" charset="-122"/>
                <a:ea typeface="微软雅黑" panose="020B0503020204020204" pitchFamily="34" charset="-122"/>
              </a:rPr>
              <a:t>, IP</a:t>
            </a:r>
            <a:r>
              <a:rPr lang="en-US" altLang="zh-CN" sz="1600" b="1" baseline="-25000" dirty="0">
                <a:solidFill>
                  <a:srgbClr val="C00000"/>
                </a:solidFill>
                <a:latin typeface="微软雅黑" panose="020B0503020204020204" pitchFamily="34" charset="-122"/>
                <a:ea typeface="微软雅黑" panose="020B0503020204020204" pitchFamily="34" charset="-122"/>
              </a:rPr>
              <a:t>3c</a:t>
            </a:r>
            <a:r>
              <a:rPr lang="en-US" altLang="zh-CN" sz="1600" b="1" dirty="0">
                <a:solidFill>
                  <a:srgbClr val="C00000"/>
                </a:solidFill>
                <a:latin typeface="微软雅黑" panose="020B0503020204020204" pitchFamily="34" charset="-122"/>
                <a:ea typeface="微软雅黑" panose="020B0503020204020204" pitchFamily="34" charset="-122"/>
              </a:rPr>
              <a:t>]</a:t>
            </a:r>
          </a:p>
        </p:txBody>
      </p:sp>
      <p:sp>
        <p:nvSpPr>
          <p:cNvPr id="191" name="Line 154"/>
          <p:cNvSpPr>
            <a:spLocks noChangeShapeType="1"/>
          </p:cNvSpPr>
          <p:nvPr/>
        </p:nvSpPr>
        <p:spPr bwMode="auto">
          <a:xfrm>
            <a:off x="2217305" y="2797032"/>
            <a:ext cx="4806950" cy="19050"/>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192" name="Group 206"/>
          <p:cNvGrpSpPr>
            <a:grpSpLocks/>
          </p:cNvGrpSpPr>
          <p:nvPr/>
        </p:nvGrpSpPr>
        <p:grpSpPr bwMode="auto">
          <a:xfrm>
            <a:off x="1198130" y="1984232"/>
            <a:ext cx="1655763" cy="792162"/>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9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02" name="Group 216"/>
            <p:cNvGrpSpPr>
              <a:grpSpLocks/>
            </p:cNvGrpSpPr>
            <p:nvPr/>
          </p:nvGrpSpPr>
          <p:grpSpPr bwMode="auto">
            <a:xfrm>
              <a:off x="912" y="768"/>
              <a:ext cx="2386" cy="1553"/>
              <a:chOff x="912" y="768"/>
              <a:chExt cx="2386" cy="1553"/>
            </a:xfrm>
            <a:grpFill/>
          </p:grpSpPr>
          <p:sp>
            <p:nvSpPr>
              <p:cNvPr id="20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grpSp>
      <p:grpSp>
        <p:nvGrpSpPr>
          <p:cNvPr id="212" name="Group 206"/>
          <p:cNvGrpSpPr>
            <a:grpSpLocks/>
          </p:cNvGrpSpPr>
          <p:nvPr/>
        </p:nvGrpSpPr>
        <p:grpSpPr bwMode="auto">
          <a:xfrm>
            <a:off x="3573030" y="1528619"/>
            <a:ext cx="1944688" cy="792163"/>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1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22" name="Group 216"/>
            <p:cNvGrpSpPr>
              <a:grpSpLocks/>
            </p:cNvGrpSpPr>
            <p:nvPr/>
          </p:nvGrpSpPr>
          <p:grpSpPr bwMode="auto">
            <a:xfrm>
              <a:off x="912" y="768"/>
              <a:ext cx="2386" cy="1553"/>
              <a:chOff x="912" y="768"/>
              <a:chExt cx="2386" cy="1553"/>
            </a:xfrm>
            <a:grpFill/>
          </p:grpSpPr>
          <p:sp>
            <p:nvSpPr>
              <p:cNvPr id="22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grpSp>
      <p:grpSp>
        <p:nvGrpSpPr>
          <p:cNvPr id="232" name="Group 206"/>
          <p:cNvGrpSpPr>
            <a:grpSpLocks/>
          </p:cNvGrpSpPr>
          <p:nvPr/>
        </p:nvGrpSpPr>
        <p:grpSpPr bwMode="auto">
          <a:xfrm>
            <a:off x="6093980" y="2055669"/>
            <a:ext cx="1943100" cy="792163"/>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3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42" name="Group 216"/>
            <p:cNvGrpSpPr>
              <a:grpSpLocks/>
            </p:cNvGrpSpPr>
            <p:nvPr/>
          </p:nvGrpSpPr>
          <p:grpSpPr bwMode="auto">
            <a:xfrm>
              <a:off x="912" y="768"/>
              <a:ext cx="2386" cy="1553"/>
              <a:chOff x="912" y="768"/>
              <a:chExt cx="2386" cy="1553"/>
            </a:xfrm>
            <a:grpFill/>
          </p:grpSpPr>
          <p:sp>
            <p:nvSpPr>
              <p:cNvPr id="24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5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5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grpSp>
      <p:sp>
        <p:nvSpPr>
          <p:cNvPr id="252" name="Line 208"/>
          <p:cNvSpPr>
            <a:spLocks noChangeShapeType="1"/>
          </p:cNvSpPr>
          <p:nvPr/>
        </p:nvSpPr>
        <p:spPr bwMode="auto">
          <a:xfrm>
            <a:off x="6381318" y="2631932"/>
            <a:ext cx="647700" cy="14446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3" name="Line 152"/>
          <p:cNvSpPr>
            <a:spLocks noChangeShapeType="1"/>
          </p:cNvSpPr>
          <p:nvPr/>
        </p:nvSpPr>
        <p:spPr bwMode="auto">
          <a:xfrm flipH="1">
            <a:off x="7173480" y="2344594"/>
            <a:ext cx="719138" cy="4318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4" name="Line 154"/>
          <p:cNvSpPr>
            <a:spLocks noChangeShapeType="1"/>
          </p:cNvSpPr>
          <p:nvPr/>
        </p:nvSpPr>
        <p:spPr bwMode="auto">
          <a:xfrm flipV="1">
            <a:off x="2853893" y="1912794"/>
            <a:ext cx="792162" cy="411163"/>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5" name="Line 155"/>
          <p:cNvSpPr>
            <a:spLocks noChangeShapeType="1"/>
          </p:cNvSpPr>
          <p:nvPr/>
        </p:nvSpPr>
        <p:spPr bwMode="auto">
          <a:xfrm>
            <a:off x="5516130" y="1912794"/>
            <a:ext cx="793750" cy="647700"/>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6" name="Line 158"/>
          <p:cNvSpPr>
            <a:spLocks noChangeShapeType="1"/>
          </p:cNvSpPr>
          <p:nvPr/>
        </p:nvSpPr>
        <p:spPr bwMode="auto">
          <a:xfrm flipH="1">
            <a:off x="4654118" y="1888982"/>
            <a:ext cx="790575" cy="31115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7" name="Line 159"/>
          <p:cNvSpPr>
            <a:spLocks noChangeShapeType="1"/>
          </p:cNvSpPr>
          <p:nvPr/>
        </p:nvSpPr>
        <p:spPr bwMode="auto">
          <a:xfrm>
            <a:off x="4870018" y="1528619"/>
            <a:ext cx="503237" cy="288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8" name="Line 163"/>
          <p:cNvSpPr>
            <a:spLocks noChangeShapeType="1"/>
          </p:cNvSpPr>
          <p:nvPr/>
        </p:nvSpPr>
        <p:spPr bwMode="auto">
          <a:xfrm>
            <a:off x="7102043" y="2128694"/>
            <a:ext cx="792162" cy="2159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9" name="Line 165"/>
          <p:cNvSpPr>
            <a:spLocks noChangeShapeType="1"/>
          </p:cNvSpPr>
          <p:nvPr/>
        </p:nvSpPr>
        <p:spPr bwMode="auto">
          <a:xfrm flipV="1">
            <a:off x="2134755" y="2360469"/>
            <a:ext cx="625475" cy="415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0" name="Line 167"/>
          <p:cNvSpPr>
            <a:spLocks noChangeShapeType="1"/>
          </p:cNvSpPr>
          <p:nvPr/>
        </p:nvSpPr>
        <p:spPr bwMode="auto">
          <a:xfrm>
            <a:off x="1290205" y="2454132"/>
            <a:ext cx="842963" cy="32226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1" name="Line 169"/>
          <p:cNvSpPr>
            <a:spLocks noChangeShapeType="1"/>
          </p:cNvSpPr>
          <p:nvPr/>
        </p:nvSpPr>
        <p:spPr bwMode="auto">
          <a:xfrm flipV="1">
            <a:off x="1269568" y="2128694"/>
            <a:ext cx="720725" cy="287338"/>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2" name="Line 170"/>
          <p:cNvSpPr>
            <a:spLocks noChangeShapeType="1"/>
          </p:cNvSpPr>
          <p:nvPr/>
        </p:nvSpPr>
        <p:spPr bwMode="auto">
          <a:xfrm>
            <a:off x="1990293" y="2128694"/>
            <a:ext cx="719137" cy="195263"/>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3" name="Text Box 173"/>
          <p:cNvSpPr txBox="1">
            <a:spLocks noChangeArrowheads="1"/>
          </p:cNvSpPr>
          <p:nvPr/>
        </p:nvSpPr>
        <p:spPr bwMode="auto">
          <a:xfrm>
            <a:off x="1196543" y="1747694"/>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solidFill>
                  <a:srgbClr val="0000FF"/>
                </a:solidFill>
                <a:latin typeface="微软雅黑" panose="020B0503020204020204" pitchFamily="34" charset="-122"/>
                <a:ea typeface="微软雅黑" panose="020B0503020204020204" pitchFamily="34" charset="-122"/>
              </a:rPr>
              <a:t>AS</a:t>
            </a:r>
            <a:r>
              <a:rPr lang="en-US" altLang="zh-CN" sz="1400" b="1" baseline="-25000" dirty="0">
                <a:solidFill>
                  <a:srgbClr val="0000FF"/>
                </a:solidFill>
                <a:latin typeface="微软雅黑" panose="020B0503020204020204" pitchFamily="34" charset="-122"/>
                <a:ea typeface="微软雅黑" panose="020B0503020204020204" pitchFamily="34" charset="-122"/>
              </a:rPr>
              <a:t>1</a:t>
            </a:r>
          </a:p>
        </p:txBody>
      </p:sp>
      <p:sp>
        <p:nvSpPr>
          <p:cNvPr id="264" name="Text Box 174"/>
          <p:cNvSpPr txBox="1">
            <a:spLocks noChangeArrowheads="1"/>
          </p:cNvSpPr>
          <p:nvPr/>
        </p:nvSpPr>
        <p:spPr bwMode="auto">
          <a:xfrm>
            <a:off x="6454343" y="1747694"/>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solidFill>
                  <a:srgbClr val="0000FF"/>
                </a:solidFill>
                <a:latin typeface="微软雅黑" panose="020B0503020204020204" pitchFamily="34" charset="-122"/>
                <a:ea typeface="微软雅黑" panose="020B0503020204020204" pitchFamily="34" charset="-122"/>
              </a:rPr>
              <a:t>AS</a:t>
            </a:r>
            <a:r>
              <a:rPr lang="en-US" altLang="zh-CN" sz="1400" b="1" baseline="-25000">
                <a:solidFill>
                  <a:srgbClr val="0000FF"/>
                </a:solidFill>
                <a:latin typeface="微软雅黑" panose="020B0503020204020204" pitchFamily="34" charset="-122"/>
                <a:ea typeface="微软雅黑" panose="020B0503020204020204" pitchFamily="34" charset="-122"/>
              </a:rPr>
              <a:t>3</a:t>
            </a:r>
          </a:p>
        </p:txBody>
      </p:sp>
      <p:sp>
        <p:nvSpPr>
          <p:cNvPr id="265" name="Text Box 175"/>
          <p:cNvSpPr txBox="1">
            <a:spLocks noChangeArrowheads="1"/>
          </p:cNvSpPr>
          <p:nvPr/>
        </p:nvSpPr>
        <p:spPr bwMode="auto">
          <a:xfrm>
            <a:off x="4220730" y="11714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solidFill>
                  <a:srgbClr val="0000FF"/>
                </a:solidFill>
                <a:latin typeface="微软雅黑" panose="020B0503020204020204" pitchFamily="34" charset="-122"/>
                <a:ea typeface="微软雅黑" panose="020B0503020204020204" pitchFamily="34" charset="-122"/>
              </a:rPr>
              <a:t>AS</a:t>
            </a:r>
            <a:r>
              <a:rPr lang="en-US" altLang="zh-CN" sz="1400" b="1" baseline="-25000">
                <a:solidFill>
                  <a:srgbClr val="0000FF"/>
                </a:solidFill>
                <a:latin typeface="微软雅黑" panose="020B0503020204020204" pitchFamily="34" charset="-122"/>
                <a:ea typeface="微软雅黑" panose="020B0503020204020204" pitchFamily="34" charset="-122"/>
              </a:rPr>
              <a:t>2</a:t>
            </a:r>
          </a:p>
        </p:txBody>
      </p:sp>
      <p:sp>
        <p:nvSpPr>
          <p:cNvPr id="266" name="Line 194"/>
          <p:cNvSpPr>
            <a:spLocks noChangeShapeType="1"/>
          </p:cNvSpPr>
          <p:nvPr/>
        </p:nvSpPr>
        <p:spPr bwMode="auto">
          <a:xfrm flipH="1">
            <a:off x="3717493" y="1528619"/>
            <a:ext cx="1152525" cy="288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7" name="Line 209"/>
          <p:cNvSpPr>
            <a:spLocks noChangeShapeType="1"/>
          </p:cNvSpPr>
          <p:nvPr/>
        </p:nvSpPr>
        <p:spPr bwMode="auto">
          <a:xfrm flipV="1">
            <a:off x="6381318" y="2128694"/>
            <a:ext cx="647700" cy="4318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8" name="Line 153"/>
          <p:cNvSpPr>
            <a:spLocks noChangeShapeType="1"/>
          </p:cNvSpPr>
          <p:nvPr/>
        </p:nvSpPr>
        <p:spPr bwMode="auto">
          <a:xfrm>
            <a:off x="3754005" y="1946132"/>
            <a:ext cx="755650" cy="2540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269"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90293" y="2682732"/>
            <a:ext cx="296862"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6" name="组合 5"/>
          <p:cNvGrpSpPr/>
          <p:nvPr/>
        </p:nvGrpSpPr>
        <p:grpSpPr>
          <a:xfrm>
            <a:off x="7511617" y="2510869"/>
            <a:ext cx="504825" cy="360363"/>
            <a:chOff x="8075758" y="2677682"/>
            <a:chExt cx="504825" cy="360363"/>
          </a:xfrm>
        </p:grpSpPr>
        <p:grpSp>
          <p:nvGrpSpPr>
            <p:cNvPr id="5" name="组合 4"/>
            <p:cNvGrpSpPr/>
            <p:nvPr/>
          </p:nvGrpSpPr>
          <p:grpSpPr>
            <a:xfrm>
              <a:off x="8075758" y="2677682"/>
              <a:ext cx="504825" cy="360363"/>
              <a:chOff x="8075758" y="2677682"/>
              <a:chExt cx="504825" cy="360363"/>
            </a:xfrm>
          </p:grpSpPr>
          <p:sp>
            <p:nvSpPr>
              <p:cNvPr id="273" name="AutoShape 229"/>
              <p:cNvSpPr>
                <a:spLocks noChangeAspect="1" noChangeArrowheads="1" noTextEdit="1"/>
              </p:cNvSpPr>
              <p:nvPr/>
            </p:nvSpPr>
            <p:spPr bwMode="auto">
              <a:xfrm>
                <a:off x="8075758" y="2677682"/>
                <a:ext cx="504825" cy="360363"/>
              </a:xfrm>
              <a:prstGeom prst="rect">
                <a:avLst/>
              </a:prstGeom>
              <a:noFill/>
              <a:ln>
                <a:noFill/>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76" name="Oval 231"/>
              <p:cNvSpPr>
                <a:spLocks noChangeArrowheads="1"/>
              </p:cNvSpPr>
              <p:nvPr/>
            </p:nvSpPr>
            <p:spPr bwMode="auto">
              <a:xfrm>
                <a:off x="8248523" y="2681957"/>
                <a:ext cx="217274" cy="145367"/>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77" name="Oval 232"/>
              <p:cNvSpPr>
                <a:spLocks noChangeArrowheads="1"/>
              </p:cNvSpPr>
              <p:nvPr/>
            </p:nvSpPr>
            <p:spPr bwMode="auto">
              <a:xfrm>
                <a:off x="8129052" y="2719826"/>
                <a:ext cx="166323" cy="145978"/>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78" name="Oval 233"/>
              <p:cNvSpPr>
                <a:spLocks noChangeArrowheads="1"/>
              </p:cNvSpPr>
              <p:nvPr/>
            </p:nvSpPr>
            <p:spPr bwMode="auto">
              <a:xfrm>
                <a:off x="8078101" y="2807779"/>
                <a:ext cx="112444" cy="11849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79" name="Oval 234"/>
              <p:cNvSpPr>
                <a:spLocks noChangeArrowheads="1"/>
              </p:cNvSpPr>
              <p:nvPr/>
            </p:nvSpPr>
            <p:spPr bwMode="auto">
              <a:xfrm>
                <a:off x="8112068" y="2859696"/>
                <a:ext cx="169251" cy="12887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0" name="Oval 235"/>
              <p:cNvSpPr>
                <a:spLocks noChangeArrowheads="1"/>
              </p:cNvSpPr>
              <p:nvPr/>
            </p:nvSpPr>
            <p:spPr bwMode="auto">
              <a:xfrm>
                <a:off x="8231539" y="2881073"/>
                <a:ext cx="252413" cy="15269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1" name="Oval 236"/>
              <p:cNvSpPr>
                <a:spLocks noChangeArrowheads="1"/>
              </p:cNvSpPr>
              <p:nvPr/>
            </p:nvSpPr>
            <p:spPr bwMode="auto">
              <a:xfrm>
                <a:off x="8392006" y="2724102"/>
                <a:ext cx="162223" cy="114828"/>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2" name="Oval 237"/>
              <p:cNvSpPr>
                <a:spLocks noChangeArrowheads="1"/>
              </p:cNvSpPr>
              <p:nvPr/>
            </p:nvSpPr>
            <p:spPr bwMode="auto">
              <a:xfrm>
                <a:off x="8416603" y="2798007"/>
                <a:ext cx="160466" cy="114217"/>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3" name="Oval 238"/>
              <p:cNvSpPr>
                <a:spLocks noChangeArrowheads="1"/>
              </p:cNvSpPr>
              <p:nvPr/>
            </p:nvSpPr>
            <p:spPr bwMode="auto">
              <a:xfrm>
                <a:off x="8401962" y="2821827"/>
                <a:ext cx="159295" cy="18812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4" name="Oval 239"/>
              <p:cNvSpPr>
                <a:spLocks noChangeArrowheads="1"/>
              </p:cNvSpPr>
              <p:nvPr/>
            </p:nvSpPr>
            <p:spPr bwMode="auto">
              <a:xfrm>
                <a:off x="8168875" y="2765024"/>
                <a:ext cx="323275" cy="18812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85" name="Group 257"/>
              <p:cNvGrpSpPr>
                <a:grpSpLocks/>
              </p:cNvGrpSpPr>
              <p:nvPr/>
            </p:nvGrpSpPr>
            <p:grpSpPr bwMode="auto">
              <a:xfrm>
                <a:off x="8076929" y="2678904"/>
                <a:ext cx="501311" cy="355477"/>
                <a:chOff x="3063" y="302"/>
                <a:chExt cx="856" cy="582"/>
              </a:xfrm>
              <a:solidFill>
                <a:schemeClr val="bg1"/>
              </a:solidFill>
            </p:grpSpPr>
            <p:sp>
              <p:nvSpPr>
                <p:cNvPr id="286" name="Freeform 241"/>
                <p:cNvSpPr>
                  <a:spLocks/>
                </p:cNvSpPr>
                <p:nvPr/>
              </p:nvSpPr>
              <p:spPr bwMode="auto">
                <a:xfrm>
                  <a:off x="3364" y="302"/>
                  <a:ext cx="353" cy="123"/>
                </a:xfrm>
                <a:custGeom>
                  <a:avLst/>
                  <a:gdLst>
                    <a:gd name="T0" fmla="*/ 2147483647 w 171"/>
                    <a:gd name="T1" fmla="*/ 2147483647 h 53"/>
                    <a:gd name="T2" fmla="*/ 2147483647 w 171"/>
                    <a:gd name="T3" fmla="*/ 2147483647 h 53"/>
                    <a:gd name="T4" fmla="*/ 0 w 171"/>
                    <a:gd name="T5" fmla="*/ 2147483647 h 53"/>
                    <a:gd name="T6" fmla="*/ 2147483647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87" name="Arc 242"/>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88" name="Freeform 243"/>
                <p:cNvSpPr>
                  <a:spLocks/>
                </p:cNvSpPr>
                <p:nvPr/>
              </p:nvSpPr>
              <p:spPr bwMode="auto">
                <a:xfrm>
                  <a:off x="3150" y="367"/>
                  <a:ext cx="220" cy="146"/>
                </a:xfrm>
                <a:custGeom>
                  <a:avLst/>
                  <a:gdLst>
                    <a:gd name="T0" fmla="*/ 2147483647 w 107"/>
                    <a:gd name="T1" fmla="*/ 2147483647 h 63"/>
                    <a:gd name="T2" fmla="*/ 2147483647 w 107"/>
                    <a:gd name="T3" fmla="*/ 0 h 63"/>
                    <a:gd name="T4" fmla="*/ 2147483647 w 107"/>
                    <a:gd name="T5" fmla="*/ 2147483647 h 63"/>
                    <a:gd name="T6" fmla="*/ 2147483647 w 107"/>
                    <a:gd name="T7" fmla="*/ 2147483647 h 63"/>
                    <a:gd name="T8" fmla="*/ 2147483647 w 107"/>
                    <a:gd name="T9" fmla="*/ 2147483647 h 63"/>
                    <a:gd name="T10" fmla="*/ 2147483647 w 107"/>
                    <a:gd name="T11" fmla="*/ 2147483647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89" name="Arc 244"/>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0" name="Freeform 245"/>
                <p:cNvSpPr>
                  <a:spLocks/>
                </p:cNvSpPr>
                <p:nvPr/>
              </p:nvSpPr>
              <p:spPr bwMode="auto">
                <a:xfrm>
                  <a:off x="3121" y="696"/>
                  <a:ext cx="220" cy="115"/>
                </a:xfrm>
                <a:custGeom>
                  <a:avLst/>
                  <a:gdLst>
                    <a:gd name="T0" fmla="*/ 0 w 107"/>
                    <a:gd name="T1" fmla="*/ 0 h 50"/>
                    <a:gd name="T2" fmla="*/ 0 w 107"/>
                    <a:gd name="T3" fmla="*/ 2147483647 h 50"/>
                    <a:gd name="T4" fmla="*/ 2147483647 w 107"/>
                    <a:gd name="T5" fmla="*/ 2147483647 h 50"/>
                    <a:gd name="T6" fmla="*/ 2147483647 w 107"/>
                    <a:gd name="T7" fmla="*/ 2147483647 h 50"/>
                    <a:gd name="T8" fmla="*/ 2147483647 w 107"/>
                    <a:gd name="T9" fmla="*/ 2147483647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1" name="Arc 246"/>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2" name="Freeform 247"/>
                <p:cNvSpPr>
                  <a:spLocks/>
                </p:cNvSpPr>
                <p:nvPr/>
              </p:nvSpPr>
              <p:spPr bwMode="auto">
                <a:xfrm>
                  <a:off x="3713" y="372"/>
                  <a:ext cx="167" cy="141"/>
                </a:xfrm>
                <a:custGeom>
                  <a:avLst/>
                  <a:gdLst>
                    <a:gd name="T0" fmla="*/ 2147483647 w 81"/>
                    <a:gd name="T1" fmla="*/ 2147483647 h 61"/>
                    <a:gd name="T2" fmla="*/ 2147483647 w 81"/>
                    <a:gd name="T3" fmla="*/ 2147483647 h 61"/>
                    <a:gd name="T4" fmla="*/ 2147483647 w 81"/>
                    <a:gd name="T5" fmla="*/ 2147483647 h 61"/>
                    <a:gd name="T6" fmla="*/ 0 w 81"/>
                    <a:gd name="T7" fmla="*/ 2147483647 h 61"/>
                    <a:gd name="T8" fmla="*/ 2147483647 w 81"/>
                    <a:gd name="T9" fmla="*/ 2147483647 h 61"/>
                    <a:gd name="T10" fmla="*/ 2147483647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3" name="Arc 248"/>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4" name="Freeform 249"/>
                <p:cNvSpPr>
                  <a:spLocks/>
                </p:cNvSpPr>
                <p:nvPr/>
              </p:nvSpPr>
              <p:spPr bwMode="auto">
                <a:xfrm>
                  <a:off x="3760" y="511"/>
                  <a:ext cx="159" cy="138"/>
                </a:xfrm>
                <a:custGeom>
                  <a:avLst/>
                  <a:gdLst>
                    <a:gd name="T0" fmla="*/ 2147483647 w 77"/>
                    <a:gd name="T1" fmla="*/ 2147483647 h 60"/>
                    <a:gd name="T2" fmla="*/ 2147483647 w 77"/>
                    <a:gd name="T3" fmla="*/ 2147483647 h 60"/>
                    <a:gd name="T4" fmla="*/ 2147483647 w 77"/>
                    <a:gd name="T5" fmla="*/ 0 h 60"/>
                    <a:gd name="T6" fmla="*/ 0 w 77"/>
                    <a:gd name="T7" fmla="*/ 2147483647 h 60"/>
                    <a:gd name="T8" fmla="*/ 2147483647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5" name="Arc 250"/>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6" name="Freeform 251"/>
                <p:cNvSpPr>
                  <a:spLocks/>
                </p:cNvSpPr>
                <p:nvPr/>
              </p:nvSpPr>
              <p:spPr bwMode="auto">
                <a:xfrm>
                  <a:off x="3706" y="647"/>
                  <a:ext cx="188" cy="201"/>
                </a:xfrm>
                <a:custGeom>
                  <a:avLst/>
                  <a:gdLst>
                    <a:gd name="T0" fmla="*/ 0 w 91"/>
                    <a:gd name="T1" fmla="*/ 2147483647 h 87"/>
                    <a:gd name="T2" fmla="*/ 2147483647 w 91"/>
                    <a:gd name="T3" fmla="*/ 2147483647 h 87"/>
                    <a:gd name="T4" fmla="*/ 2147483647 w 91"/>
                    <a:gd name="T5" fmla="*/ 2147483647 h 87"/>
                    <a:gd name="T6" fmla="*/ 2147483647 w 91"/>
                    <a:gd name="T7" fmla="*/ 0 h 87"/>
                    <a:gd name="T8" fmla="*/ 2147483647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7" name="Arc 252"/>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8" name="Freeform 253"/>
                <p:cNvSpPr>
                  <a:spLocks/>
                </p:cNvSpPr>
                <p:nvPr/>
              </p:nvSpPr>
              <p:spPr bwMode="auto">
                <a:xfrm>
                  <a:off x="3063" y="511"/>
                  <a:ext cx="103" cy="189"/>
                </a:xfrm>
                <a:custGeom>
                  <a:avLst/>
                  <a:gdLst>
                    <a:gd name="T0" fmla="*/ 2147483647 w 50"/>
                    <a:gd name="T1" fmla="*/ 0 h 82"/>
                    <a:gd name="T2" fmla="*/ 2147483647 w 50"/>
                    <a:gd name="T3" fmla="*/ 2147483647 h 82"/>
                    <a:gd name="T4" fmla="*/ 2147483647 w 50"/>
                    <a:gd name="T5" fmla="*/ 2147483647 h 82"/>
                    <a:gd name="T6" fmla="*/ 2147483647 w 50"/>
                    <a:gd name="T7" fmla="*/ 2147483647 h 82"/>
                    <a:gd name="T8" fmla="*/ 2147483647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9" name="Arc 254"/>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00" name="Freeform 255"/>
                <p:cNvSpPr>
                  <a:spLocks/>
                </p:cNvSpPr>
                <p:nvPr/>
              </p:nvSpPr>
              <p:spPr bwMode="auto">
                <a:xfrm>
                  <a:off x="3333" y="770"/>
                  <a:ext cx="380" cy="113"/>
                </a:xfrm>
                <a:custGeom>
                  <a:avLst/>
                  <a:gdLst>
                    <a:gd name="T0" fmla="*/ 0 w 184"/>
                    <a:gd name="T1" fmla="*/ 2147483647 h 49"/>
                    <a:gd name="T2" fmla="*/ 2147483647 w 184"/>
                    <a:gd name="T3" fmla="*/ 2147483647 h 49"/>
                    <a:gd name="T4" fmla="*/ 2147483647 w 184"/>
                    <a:gd name="T5" fmla="*/ 2147483647 h 49"/>
                    <a:gd name="T6" fmla="*/ 2147483647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01" name="Arc 256"/>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grpSp>
        </p:grpSp>
        <p:sp>
          <p:nvSpPr>
            <p:cNvPr id="272" name="Text Box 173"/>
            <p:cNvSpPr txBox="1">
              <a:spLocks noChangeArrowheads="1"/>
            </p:cNvSpPr>
            <p:nvPr/>
          </p:nvSpPr>
          <p:spPr bwMode="auto">
            <a:xfrm>
              <a:off x="8189386" y="2704355"/>
              <a:ext cx="3097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X</a:t>
              </a:r>
            </a:p>
          </p:txBody>
        </p:sp>
      </p:grpSp>
      <p:sp>
        <p:nvSpPr>
          <p:cNvPr id="302" name="Text Box 173"/>
          <p:cNvSpPr txBox="1">
            <a:spLocks noChangeArrowheads="1"/>
          </p:cNvSpPr>
          <p:nvPr/>
        </p:nvSpPr>
        <p:spPr bwMode="auto">
          <a:xfrm>
            <a:off x="2811030" y="2266807"/>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1d</a:t>
            </a:r>
          </a:p>
        </p:txBody>
      </p:sp>
      <p:sp>
        <p:nvSpPr>
          <p:cNvPr id="303" name="Text Box 173"/>
          <p:cNvSpPr txBox="1">
            <a:spLocks noChangeArrowheads="1"/>
          </p:cNvSpPr>
          <p:nvPr/>
        </p:nvSpPr>
        <p:spPr bwMode="auto">
          <a:xfrm>
            <a:off x="5805055" y="2395394"/>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3a</a:t>
            </a:r>
          </a:p>
        </p:txBody>
      </p:sp>
      <p:sp>
        <p:nvSpPr>
          <p:cNvPr id="304" name="Text Box 173"/>
          <p:cNvSpPr txBox="1">
            <a:spLocks noChangeArrowheads="1"/>
          </p:cNvSpPr>
          <p:nvPr/>
        </p:nvSpPr>
        <p:spPr bwMode="auto">
          <a:xfrm>
            <a:off x="3357130" y="1480994"/>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2a</a:t>
            </a:r>
          </a:p>
        </p:txBody>
      </p:sp>
      <p:sp>
        <p:nvSpPr>
          <p:cNvPr id="305" name="Line 169"/>
          <p:cNvSpPr>
            <a:spLocks noChangeShapeType="1"/>
          </p:cNvSpPr>
          <p:nvPr/>
        </p:nvSpPr>
        <p:spPr bwMode="auto">
          <a:xfrm flipV="1">
            <a:off x="1315605" y="2360469"/>
            <a:ext cx="1389063" cy="80963"/>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06"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125105" y="2344594"/>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07"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45830" y="2055669"/>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08" name="Line 169"/>
          <p:cNvSpPr>
            <a:spLocks noChangeShapeType="1"/>
          </p:cNvSpPr>
          <p:nvPr/>
        </p:nvSpPr>
        <p:spPr bwMode="auto">
          <a:xfrm flipH="1" flipV="1">
            <a:off x="1988705" y="2179494"/>
            <a:ext cx="144463" cy="57467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09" name="Line 194"/>
          <p:cNvSpPr>
            <a:spLocks noChangeShapeType="1"/>
          </p:cNvSpPr>
          <p:nvPr/>
        </p:nvSpPr>
        <p:spPr bwMode="auto">
          <a:xfrm flipH="1">
            <a:off x="4581093" y="1530207"/>
            <a:ext cx="288925" cy="649287"/>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10" name="Line 194"/>
          <p:cNvSpPr>
            <a:spLocks noChangeShapeType="1"/>
          </p:cNvSpPr>
          <p:nvPr/>
        </p:nvSpPr>
        <p:spPr bwMode="auto">
          <a:xfrm flipH="1">
            <a:off x="3788930" y="1890569"/>
            <a:ext cx="1657350" cy="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11"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25555" y="1457182"/>
            <a:ext cx="296863"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2"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36630" y="2128694"/>
            <a:ext cx="296863"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13" name="Line 209"/>
          <p:cNvSpPr>
            <a:spLocks noChangeShapeType="1"/>
          </p:cNvSpPr>
          <p:nvPr/>
        </p:nvSpPr>
        <p:spPr bwMode="auto">
          <a:xfrm flipV="1">
            <a:off x="7029018" y="2200132"/>
            <a:ext cx="33337" cy="62706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14" name="Line 209"/>
          <p:cNvSpPr>
            <a:spLocks noChangeShapeType="1"/>
          </p:cNvSpPr>
          <p:nvPr/>
        </p:nvSpPr>
        <p:spPr bwMode="auto">
          <a:xfrm flipV="1">
            <a:off x="6381318" y="2322369"/>
            <a:ext cx="1512887" cy="288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15"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84555" y="2703369"/>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6" name="Picture 4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749743" y="2271569"/>
            <a:ext cx="298450"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7" name="Picture 4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84555" y="2055669"/>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5"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65093" y="1796907"/>
            <a:ext cx="296862"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6"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37993" y="2250932"/>
            <a:ext cx="295275"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7"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365318" y="1798494"/>
            <a:ext cx="296862"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8"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165418" y="2538269"/>
            <a:ext cx="296862"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39" name="Text Box 173"/>
          <p:cNvSpPr txBox="1">
            <a:spLocks noChangeArrowheads="1"/>
          </p:cNvSpPr>
          <p:nvPr/>
        </p:nvSpPr>
        <p:spPr bwMode="auto">
          <a:xfrm>
            <a:off x="1988705" y="2754169"/>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1c</a:t>
            </a:r>
          </a:p>
        </p:txBody>
      </p:sp>
      <p:sp>
        <p:nvSpPr>
          <p:cNvPr id="340" name="Text Box 173"/>
          <p:cNvSpPr txBox="1">
            <a:spLocks noChangeArrowheads="1"/>
          </p:cNvSpPr>
          <p:nvPr/>
        </p:nvSpPr>
        <p:spPr bwMode="auto">
          <a:xfrm>
            <a:off x="1772805" y="1746107"/>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1b</a:t>
            </a:r>
          </a:p>
        </p:txBody>
      </p:sp>
      <p:sp>
        <p:nvSpPr>
          <p:cNvPr id="341" name="Text Box 173"/>
          <p:cNvSpPr txBox="1">
            <a:spLocks noChangeArrowheads="1"/>
          </p:cNvSpPr>
          <p:nvPr/>
        </p:nvSpPr>
        <p:spPr bwMode="auto">
          <a:xfrm>
            <a:off x="837768" y="2035032"/>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1a</a:t>
            </a:r>
          </a:p>
        </p:txBody>
      </p:sp>
      <p:sp>
        <p:nvSpPr>
          <p:cNvPr id="342" name="Text Box 173"/>
          <p:cNvSpPr txBox="1">
            <a:spLocks noChangeArrowheads="1"/>
          </p:cNvSpPr>
          <p:nvPr/>
        </p:nvSpPr>
        <p:spPr bwMode="auto">
          <a:xfrm>
            <a:off x="4509655" y="2179494"/>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2c</a:t>
            </a:r>
          </a:p>
        </p:txBody>
      </p:sp>
      <p:sp>
        <p:nvSpPr>
          <p:cNvPr id="343" name="Text Box 173"/>
          <p:cNvSpPr txBox="1">
            <a:spLocks noChangeArrowheads="1"/>
          </p:cNvSpPr>
          <p:nvPr/>
        </p:nvSpPr>
        <p:spPr bwMode="auto">
          <a:xfrm>
            <a:off x="4870018" y="124286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2b</a:t>
            </a:r>
          </a:p>
        </p:txBody>
      </p:sp>
      <p:sp>
        <p:nvSpPr>
          <p:cNvPr id="344" name="Text Box 173"/>
          <p:cNvSpPr txBox="1">
            <a:spLocks noChangeArrowheads="1"/>
          </p:cNvSpPr>
          <p:nvPr/>
        </p:nvSpPr>
        <p:spPr bwMode="auto">
          <a:xfrm>
            <a:off x="5374843" y="146511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2d</a:t>
            </a:r>
          </a:p>
        </p:txBody>
      </p:sp>
      <p:sp>
        <p:nvSpPr>
          <p:cNvPr id="345" name="Text Box 173"/>
          <p:cNvSpPr txBox="1">
            <a:spLocks noChangeArrowheads="1"/>
          </p:cNvSpPr>
          <p:nvPr/>
        </p:nvSpPr>
        <p:spPr bwMode="auto">
          <a:xfrm>
            <a:off x="7938655" y="210646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3d</a:t>
            </a:r>
          </a:p>
        </p:txBody>
      </p:sp>
      <p:sp>
        <p:nvSpPr>
          <p:cNvPr id="346" name="Text Box 173"/>
          <p:cNvSpPr txBox="1">
            <a:spLocks noChangeArrowheads="1"/>
          </p:cNvSpPr>
          <p:nvPr/>
        </p:nvSpPr>
        <p:spPr bwMode="auto">
          <a:xfrm>
            <a:off x="7173480" y="189056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3b</a:t>
            </a:r>
          </a:p>
        </p:txBody>
      </p:sp>
      <p:sp>
        <p:nvSpPr>
          <p:cNvPr id="347" name="Text Box 173"/>
          <p:cNvSpPr txBox="1">
            <a:spLocks noChangeArrowheads="1"/>
          </p:cNvSpPr>
          <p:nvPr/>
        </p:nvSpPr>
        <p:spPr bwMode="auto">
          <a:xfrm>
            <a:off x="7000443" y="2754169"/>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3c</a:t>
            </a:r>
          </a:p>
        </p:txBody>
      </p:sp>
      <p:sp>
        <p:nvSpPr>
          <p:cNvPr id="348" name="椭圆 273"/>
          <p:cNvSpPr>
            <a:spLocks noChangeArrowheads="1"/>
          </p:cNvSpPr>
          <p:nvPr/>
        </p:nvSpPr>
        <p:spPr bwMode="auto">
          <a:xfrm>
            <a:off x="6152718" y="2420794"/>
            <a:ext cx="100012" cy="100013"/>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349" name="椭圆 274"/>
          <p:cNvSpPr>
            <a:spLocks noChangeArrowheads="1"/>
          </p:cNvSpPr>
          <p:nvPr/>
        </p:nvSpPr>
        <p:spPr bwMode="auto">
          <a:xfrm>
            <a:off x="3504768" y="1893744"/>
            <a:ext cx="100012" cy="100013"/>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350" name="Text Box 173"/>
          <p:cNvSpPr txBox="1">
            <a:spLocks noChangeArrowheads="1"/>
          </p:cNvSpPr>
          <p:nvPr/>
        </p:nvSpPr>
        <p:spPr bwMode="auto">
          <a:xfrm>
            <a:off x="2780868" y="1242869"/>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2a</a:t>
            </a:r>
          </a:p>
        </p:txBody>
      </p:sp>
      <p:sp>
        <p:nvSpPr>
          <p:cNvPr id="351" name="Text Box 173"/>
          <p:cNvSpPr txBox="1">
            <a:spLocks noChangeArrowheads="1"/>
          </p:cNvSpPr>
          <p:nvPr/>
        </p:nvSpPr>
        <p:spPr bwMode="auto">
          <a:xfrm>
            <a:off x="5878080" y="1747694"/>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3a</a:t>
            </a:r>
          </a:p>
        </p:txBody>
      </p:sp>
      <p:cxnSp>
        <p:nvCxnSpPr>
          <p:cNvPr id="352" name="直接箭头连接符 329"/>
          <p:cNvCxnSpPr>
            <a:cxnSpLocks noChangeShapeType="1"/>
            <a:stCxn id="351" idx="2"/>
            <a:endCxn id="348" idx="0"/>
          </p:cNvCxnSpPr>
          <p:nvPr/>
        </p:nvCxnSpPr>
        <p:spPr bwMode="auto">
          <a:xfrm>
            <a:off x="6131515" y="2055471"/>
            <a:ext cx="71209" cy="36532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353" name="直接箭头连接符 329"/>
          <p:cNvCxnSpPr>
            <a:cxnSpLocks noChangeShapeType="1"/>
          </p:cNvCxnSpPr>
          <p:nvPr/>
        </p:nvCxnSpPr>
        <p:spPr bwMode="auto">
          <a:xfrm>
            <a:off x="2996768" y="1530207"/>
            <a:ext cx="504825" cy="385762"/>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354" name="椭圆 273"/>
          <p:cNvSpPr>
            <a:spLocks noChangeArrowheads="1"/>
          </p:cNvSpPr>
          <p:nvPr/>
        </p:nvSpPr>
        <p:spPr bwMode="auto">
          <a:xfrm>
            <a:off x="6781368" y="2760519"/>
            <a:ext cx="100012" cy="100013"/>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355" name="Text Box 173"/>
          <p:cNvSpPr txBox="1">
            <a:spLocks noChangeArrowheads="1"/>
          </p:cNvSpPr>
          <p:nvPr/>
        </p:nvSpPr>
        <p:spPr bwMode="auto">
          <a:xfrm>
            <a:off x="5805055" y="2827194"/>
            <a:ext cx="4968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3c</a:t>
            </a:r>
          </a:p>
        </p:txBody>
      </p:sp>
      <p:cxnSp>
        <p:nvCxnSpPr>
          <p:cNvPr id="356" name="直接箭头连接符 329"/>
          <p:cNvCxnSpPr>
            <a:cxnSpLocks noChangeShapeType="1"/>
          </p:cNvCxnSpPr>
          <p:nvPr/>
        </p:nvCxnSpPr>
        <p:spPr bwMode="auto">
          <a:xfrm flipV="1">
            <a:off x="6167005" y="2866882"/>
            <a:ext cx="654050" cy="12700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154" name="左箭头 153"/>
          <p:cNvSpPr/>
          <p:nvPr/>
        </p:nvSpPr>
        <p:spPr>
          <a:xfrm>
            <a:off x="4302002" y="2614169"/>
            <a:ext cx="345677" cy="165457"/>
          </a:xfrm>
          <a:prstGeom prst="leftArrow">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386255200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154"/>
                                        </p:tgtEl>
                                        <p:attrNameLst>
                                          <p:attrName>style.visibility</p:attrName>
                                        </p:attrNameLst>
                                      </p:cBhvr>
                                      <p:to>
                                        <p:strVal val="visible"/>
                                      </p:to>
                                    </p:set>
                                    <p:animEffect transition="in" filter="wipe(right)">
                                      <p:cBhvr>
                                        <p:cTn id="7" dur="1000"/>
                                        <p:tgtEl>
                                          <p:spTgt spid="154"/>
                                        </p:tgtEl>
                                      </p:cBhvr>
                                    </p:animEffect>
                                  </p:childTnLst>
                                </p:cTn>
                              </p:par>
                            </p:childTnLst>
                          </p:cTn>
                        </p:par>
                        <p:par>
                          <p:cTn id="8" fill="hold">
                            <p:stCondLst>
                              <p:cond delay="1000"/>
                            </p:stCondLst>
                            <p:childTnLst>
                              <p:par>
                                <p:cTn id="9" presetID="22" presetClass="entr" presetSubtype="1" fill="hold" grpId="0" nodeType="afterEffect">
                                  <p:stCondLst>
                                    <p:cond delay="0"/>
                                  </p:stCondLst>
                                  <p:childTnLst>
                                    <p:set>
                                      <p:cBhvr>
                                        <p:cTn id="10" dur="1" fill="hold">
                                          <p:stCondLst>
                                            <p:cond delay="0"/>
                                          </p:stCondLst>
                                        </p:cTn>
                                        <p:tgtEl>
                                          <p:spTgt spid="365"/>
                                        </p:tgtEl>
                                        <p:attrNameLst>
                                          <p:attrName>style.visibility</p:attrName>
                                        </p:attrNameLst>
                                      </p:cBhvr>
                                      <p:to>
                                        <p:strVal val="visible"/>
                                      </p:to>
                                    </p:set>
                                    <p:animEffect transition="in" filter="wipe(up)">
                                      <p:cBhvr>
                                        <p:cTn id="11" dur="500"/>
                                        <p:tgtEl>
                                          <p:spTgt spid="3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5" grpId="0"/>
      <p:bldP spid="154" grpId="0" animBg="1"/>
    </p:bld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5" y="622831"/>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BGP </a:t>
            </a:r>
            <a:r>
              <a:rPr lang="zh-CN" altLang="en-US" sz="2000" b="1" dirty="0">
                <a:solidFill>
                  <a:schemeClr val="bg1"/>
                </a:solidFill>
                <a:latin typeface="微软雅黑" pitchFamily="34" charset="-122"/>
                <a:ea typeface="微软雅黑" pitchFamily="34" charset="-122"/>
              </a:rPr>
              <a:t>路由信息</a:t>
            </a:r>
          </a:p>
        </p:txBody>
      </p:sp>
      <p:sp>
        <p:nvSpPr>
          <p:cNvPr id="4" name="圆角矩形 3"/>
          <p:cNvSpPr/>
          <p:nvPr/>
        </p:nvSpPr>
        <p:spPr>
          <a:xfrm>
            <a:off x="545145" y="1052858"/>
            <a:ext cx="8053712" cy="208750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65" name="Text Box 173"/>
          <p:cNvSpPr txBox="1">
            <a:spLocks noChangeArrowheads="1"/>
          </p:cNvSpPr>
          <p:nvPr/>
        </p:nvSpPr>
        <p:spPr bwMode="auto">
          <a:xfrm>
            <a:off x="664159" y="3122318"/>
            <a:ext cx="8304349"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ts val="2400"/>
              </a:lnSpc>
            </a:pPr>
            <a:r>
              <a:rPr lang="en-US" altLang="zh-CN" sz="1600" b="1" kern="500" dirty="0">
                <a:latin typeface="微软雅黑" panose="020B0503020204020204" pitchFamily="34" charset="-122"/>
                <a:ea typeface="微软雅黑" panose="020B0503020204020204" pitchFamily="34" charset="-122"/>
              </a:rPr>
              <a:t>AS</a:t>
            </a:r>
            <a:r>
              <a:rPr lang="en-US" altLang="zh-CN" sz="1600" b="1" kern="500" baseline="-25000" dirty="0">
                <a:latin typeface="微软雅黑" panose="020B0503020204020204" pitchFamily="34" charset="-122"/>
                <a:ea typeface="微软雅黑" panose="020B0503020204020204" pitchFamily="34" charset="-122"/>
              </a:rPr>
              <a:t>2 </a:t>
            </a:r>
            <a:r>
              <a:rPr lang="zh-CN" altLang="zh-CN" sz="1600" b="1" kern="500" dirty="0">
                <a:latin typeface="微软雅黑" panose="020B0503020204020204" pitchFamily="34" charset="-122"/>
                <a:ea typeface="微软雅黑" panose="020B0503020204020204" pitchFamily="34" charset="-122"/>
              </a:rPr>
              <a:t>可经</a:t>
            </a:r>
            <a:r>
              <a:rPr lang="en-US" altLang="zh-CN" sz="1600" b="1" kern="500" dirty="0">
                <a:latin typeface="微软雅黑" panose="020B0503020204020204" pitchFamily="34" charset="-122"/>
                <a:ea typeface="微软雅黑" panose="020B0503020204020204" pitchFamily="34" charset="-122"/>
              </a:rPr>
              <a:t> IP</a:t>
            </a:r>
            <a:r>
              <a:rPr lang="en-US" altLang="zh-CN" sz="1600" b="1" kern="500" baseline="-25000" dirty="0">
                <a:latin typeface="微软雅黑" panose="020B0503020204020204" pitchFamily="34" charset="-122"/>
                <a:ea typeface="微软雅黑" panose="020B0503020204020204" pitchFamily="34" charset="-122"/>
              </a:rPr>
              <a:t>3a </a:t>
            </a:r>
            <a:r>
              <a:rPr lang="zh-CN" altLang="zh-CN" sz="1600" b="1" kern="500" dirty="0">
                <a:latin typeface="微软雅黑" panose="020B0503020204020204" pitchFamily="34" charset="-122"/>
                <a:ea typeface="微软雅黑" panose="020B0503020204020204" pitchFamily="34" charset="-122"/>
              </a:rPr>
              <a:t>到前缀</a:t>
            </a:r>
            <a:r>
              <a:rPr lang="en-US" altLang="zh-CN" sz="1600" b="1" kern="500" dirty="0">
                <a:latin typeface="微软雅黑" panose="020B0503020204020204" pitchFamily="34" charset="-122"/>
                <a:ea typeface="微软雅黑" panose="020B0503020204020204" pitchFamily="34" charset="-122"/>
              </a:rPr>
              <a:t> X </a:t>
            </a:r>
            <a:r>
              <a:rPr lang="zh-CN" altLang="zh-CN" sz="1600" b="1" kern="500" dirty="0">
                <a:latin typeface="微软雅黑" panose="020B0503020204020204" pitchFamily="34" charset="-122"/>
                <a:ea typeface="微软雅黑" panose="020B0503020204020204" pitchFamily="34" charset="-122"/>
              </a:rPr>
              <a:t>的路由</a:t>
            </a:r>
            <a:r>
              <a:rPr lang="en-US" altLang="zh-CN" sz="1600" b="1" kern="500" dirty="0">
                <a:latin typeface="微软雅黑" panose="020B0503020204020204" pitchFamily="34" charset="-122"/>
                <a:ea typeface="微软雅黑" panose="020B0503020204020204" pitchFamily="34" charset="-122"/>
              </a:rPr>
              <a:t> = [</a:t>
            </a:r>
            <a:r>
              <a:rPr lang="zh-CN" altLang="zh-CN" sz="1600" b="1" kern="500" dirty="0">
                <a:latin typeface="微软雅黑" panose="020B0503020204020204" pitchFamily="34" charset="-122"/>
                <a:ea typeface="微软雅黑" panose="020B0503020204020204" pitchFamily="34" charset="-122"/>
              </a:rPr>
              <a:t>前缀</a:t>
            </a:r>
            <a:r>
              <a:rPr lang="en-US" altLang="zh-CN" sz="1600" b="1" kern="500" dirty="0">
                <a:latin typeface="微软雅黑" panose="020B0503020204020204" pitchFamily="34" charset="-122"/>
                <a:ea typeface="微软雅黑" panose="020B0503020204020204" pitchFamily="34" charset="-122"/>
              </a:rPr>
              <a:t>, AS-PATH, NEXT-HOP] = [X, AS</a:t>
            </a:r>
            <a:r>
              <a:rPr lang="en-US" altLang="zh-CN" sz="1600" b="1" kern="500" baseline="-25000" dirty="0">
                <a:latin typeface="微软雅黑" panose="020B0503020204020204" pitchFamily="34" charset="-122"/>
                <a:ea typeface="微软雅黑" panose="020B0503020204020204" pitchFamily="34" charset="-122"/>
              </a:rPr>
              <a:t>3</a:t>
            </a:r>
            <a:r>
              <a:rPr lang="en-US" altLang="zh-CN" sz="1600" b="1" kern="500" dirty="0">
                <a:latin typeface="微软雅黑" panose="020B0503020204020204" pitchFamily="34" charset="-122"/>
                <a:ea typeface="微软雅黑" panose="020B0503020204020204" pitchFamily="34" charset="-122"/>
              </a:rPr>
              <a:t>, IP</a:t>
            </a:r>
            <a:r>
              <a:rPr lang="en-US" altLang="zh-CN" sz="1600" b="1" kern="500" baseline="-25000" dirty="0">
                <a:latin typeface="微软雅黑" panose="020B0503020204020204" pitchFamily="34" charset="-122"/>
                <a:ea typeface="微软雅黑" panose="020B0503020204020204" pitchFamily="34" charset="-122"/>
              </a:rPr>
              <a:t>3a</a:t>
            </a:r>
            <a:r>
              <a:rPr lang="en-US" altLang="zh-CN" sz="1600" b="1" kern="500" dirty="0">
                <a:latin typeface="微软雅黑" panose="020B0503020204020204" pitchFamily="34" charset="-122"/>
                <a:ea typeface="微软雅黑" panose="020B0503020204020204" pitchFamily="34" charset="-122"/>
              </a:rPr>
              <a:t>]</a:t>
            </a:r>
          </a:p>
          <a:p>
            <a:pPr eaLnBrk="1" hangingPunct="1">
              <a:lnSpc>
                <a:spcPts val="2400"/>
              </a:lnSpc>
            </a:pPr>
            <a:r>
              <a:rPr lang="zh-CN" altLang="en-US" sz="1500" b="1" u="sng" dirty="0">
                <a:solidFill>
                  <a:srgbClr val="990099"/>
                </a:solidFill>
                <a:latin typeface="微软雅黑" panose="020B0503020204020204" pitchFamily="34" charset="-122"/>
                <a:ea typeface="微软雅黑" panose="020B0503020204020204" pitchFamily="34" charset="-122"/>
              </a:rPr>
              <a:t>路由 </a:t>
            </a:r>
            <a:r>
              <a:rPr lang="en-US" altLang="zh-CN" sz="1500" b="1" u="sng" dirty="0">
                <a:solidFill>
                  <a:srgbClr val="990099"/>
                </a:solidFill>
                <a:latin typeface="微软雅黑" panose="020B0503020204020204" pitchFamily="34" charset="-122"/>
                <a:ea typeface="微软雅黑" panose="020B0503020204020204" pitchFamily="34" charset="-122"/>
              </a:rPr>
              <a:t>1</a:t>
            </a:r>
            <a:r>
              <a:rPr lang="zh-CN" altLang="en-US" sz="1500" b="1" dirty="0">
                <a:solidFill>
                  <a:srgbClr val="990099"/>
                </a:solidFill>
                <a:latin typeface="微软雅黑" panose="020B0503020204020204" pitchFamily="34" charset="-122"/>
                <a:ea typeface="微软雅黑" panose="020B0503020204020204" pitchFamily="34" charset="-122"/>
              </a:rPr>
              <a:t>：</a:t>
            </a:r>
            <a:r>
              <a:rPr lang="en-US" altLang="zh-CN" sz="1500" b="1" dirty="0">
                <a:solidFill>
                  <a:srgbClr val="990099"/>
                </a:solidFill>
                <a:latin typeface="微软雅黑" panose="020B0503020204020204" pitchFamily="34" charset="-122"/>
                <a:ea typeface="微软雅黑" panose="020B0503020204020204" pitchFamily="34" charset="-122"/>
              </a:rPr>
              <a:t>AS</a:t>
            </a:r>
            <a:r>
              <a:rPr lang="en-US" altLang="zh-CN" sz="1500" b="1" baseline="-25000" dirty="0">
                <a:solidFill>
                  <a:srgbClr val="990099"/>
                </a:solidFill>
                <a:latin typeface="微软雅黑" panose="020B0503020204020204" pitchFamily="34" charset="-122"/>
                <a:ea typeface="微软雅黑" panose="020B0503020204020204" pitchFamily="34" charset="-122"/>
              </a:rPr>
              <a:t>1 </a:t>
            </a:r>
            <a:r>
              <a:rPr lang="zh-CN" altLang="zh-CN" sz="1500" b="1" dirty="0">
                <a:solidFill>
                  <a:srgbClr val="990099"/>
                </a:solidFill>
                <a:latin typeface="微软雅黑" panose="020B0503020204020204" pitchFamily="34" charset="-122"/>
                <a:ea typeface="微软雅黑" panose="020B0503020204020204" pitchFamily="34" charset="-122"/>
              </a:rPr>
              <a:t>可经</a:t>
            </a:r>
            <a:r>
              <a:rPr lang="en-US" altLang="zh-CN" sz="1500" b="1" dirty="0">
                <a:solidFill>
                  <a:srgbClr val="990099"/>
                </a:solidFill>
                <a:latin typeface="微软雅黑" panose="020B0503020204020204" pitchFamily="34" charset="-122"/>
                <a:ea typeface="微软雅黑" panose="020B0503020204020204" pitchFamily="34" charset="-122"/>
              </a:rPr>
              <a:t> IP</a:t>
            </a:r>
            <a:r>
              <a:rPr lang="en-US" altLang="zh-CN" sz="1500" b="1" baseline="-25000" dirty="0">
                <a:solidFill>
                  <a:srgbClr val="990099"/>
                </a:solidFill>
                <a:latin typeface="微软雅黑" panose="020B0503020204020204" pitchFamily="34" charset="-122"/>
                <a:ea typeface="微软雅黑" panose="020B0503020204020204" pitchFamily="34" charset="-122"/>
              </a:rPr>
              <a:t>2a </a:t>
            </a:r>
            <a:r>
              <a:rPr lang="zh-CN" altLang="zh-CN" sz="1500" b="1" dirty="0">
                <a:solidFill>
                  <a:srgbClr val="990099"/>
                </a:solidFill>
                <a:latin typeface="微软雅黑" panose="020B0503020204020204" pitchFamily="34" charset="-122"/>
                <a:ea typeface="微软雅黑" panose="020B0503020204020204" pitchFamily="34" charset="-122"/>
              </a:rPr>
              <a:t>到前缀</a:t>
            </a:r>
            <a:r>
              <a:rPr lang="en-US" altLang="zh-CN" sz="1500" b="1" dirty="0">
                <a:solidFill>
                  <a:srgbClr val="990099"/>
                </a:solidFill>
                <a:latin typeface="微软雅黑" panose="020B0503020204020204" pitchFamily="34" charset="-122"/>
                <a:ea typeface="微软雅黑" panose="020B0503020204020204" pitchFamily="34" charset="-122"/>
              </a:rPr>
              <a:t> X </a:t>
            </a:r>
            <a:r>
              <a:rPr lang="zh-CN" altLang="zh-CN" sz="1500" b="1" dirty="0">
                <a:solidFill>
                  <a:srgbClr val="990099"/>
                </a:solidFill>
                <a:latin typeface="微软雅黑" panose="020B0503020204020204" pitchFamily="34" charset="-122"/>
                <a:ea typeface="微软雅黑" panose="020B0503020204020204" pitchFamily="34" charset="-122"/>
              </a:rPr>
              <a:t>的路由</a:t>
            </a:r>
            <a:r>
              <a:rPr lang="en-US" altLang="zh-CN" sz="1500" b="1" dirty="0">
                <a:solidFill>
                  <a:srgbClr val="990099"/>
                </a:solidFill>
                <a:latin typeface="微软雅黑" panose="020B0503020204020204" pitchFamily="34" charset="-122"/>
                <a:ea typeface="微软雅黑" panose="020B0503020204020204" pitchFamily="34" charset="-122"/>
              </a:rPr>
              <a:t> = [</a:t>
            </a:r>
            <a:r>
              <a:rPr lang="zh-CN" altLang="zh-CN" sz="1500" b="1" dirty="0">
                <a:solidFill>
                  <a:srgbClr val="990099"/>
                </a:solidFill>
                <a:latin typeface="微软雅黑" panose="020B0503020204020204" pitchFamily="34" charset="-122"/>
                <a:ea typeface="微软雅黑" panose="020B0503020204020204" pitchFamily="34" charset="-122"/>
              </a:rPr>
              <a:t>前缀</a:t>
            </a:r>
            <a:r>
              <a:rPr lang="en-US" altLang="zh-CN" sz="1500" b="1" dirty="0">
                <a:solidFill>
                  <a:srgbClr val="990099"/>
                </a:solidFill>
                <a:latin typeface="微软雅黑" panose="020B0503020204020204" pitchFamily="34" charset="-122"/>
                <a:ea typeface="微软雅黑" panose="020B0503020204020204" pitchFamily="34" charset="-122"/>
              </a:rPr>
              <a:t>, AS-PATH, NEXT-HOP] = [X, AS</a:t>
            </a:r>
            <a:r>
              <a:rPr lang="en-US" altLang="zh-CN" sz="1500" b="1" baseline="-25000" dirty="0">
                <a:solidFill>
                  <a:srgbClr val="990099"/>
                </a:solidFill>
                <a:latin typeface="微软雅黑" panose="020B0503020204020204" pitchFamily="34" charset="-122"/>
                <a:ea typeface="微软雅黑" panose="020B0503020204020204" pitchFamily="34" charset="-122"/>
              </a:rPr>
              <a:t>2</a:t>
            </a:r>
            <a:r>
              <a:rPr lang="en-US" altLang="zh-CN" sz="1500" b="1" dirty="0">
                <a:solidFill>
                  <a:srgbClr val="990099"/>
                </a:solidFill>
                <a:latin typeface="微软雅黑" panose="020B0503020204020204" pitchFamily="34" charset="-122"/>
                <a:ea typeface="微软雅黑" panose="020B0503020204020204" pitchFamily="34" charset="-122"/>
              </a:rPr>
              <a:t> AS</a:t>
            </a:r>
            <a:r>
              <a:rPr lang="en-US" altLang="zh-CN" sz="1500" b="1" baseline="-25000" dirty="0">
                <a:solidFill>
                  <a:srgbClr val="990099"/>
                </a:solidFill>
                <a:latin typeface="微软雅黑" panose="020B0503020204020204" pitchFamily="34" charset="-122"/>
                <a:ea typeface="微软雅黑" panose="020B0503020204020204" pitchFamily="34" charset="-122"/>
              </a:rPr>
              <a:t>3</a:t>
            </a:r>
            <a:r>
              <a:rPr lang="en-US" altLang="zh-CN" sz="1500" b="1" dirty="0">
                <a:solidFill>
                  <a:srgbClr val="990099"/>
                </a:solidFill>
                <a:latin typeface="微软雅黑" panose="020B0503020204020204" pitchFamily="34" charset="-122"/>
                <a:ea typeface="微软雅黑" panose="020B0503020204020204" pitchFamily="34" charset="-122"/>
              </a:rPr>
              <a:t>, IP</a:t>
            </a:r>
            <a:r>
              <a:rPr lang="en-US" altLang="zh-CN" sz="1500" b="1" baseline="-25000" dirty="0">
                <a:solidFill>
                  <a:srgbClr val="990099"/>
                </a:solidFill>
                <a:latin typeface="微软雅黑" panose="020B0503020204020204" pitchFamily="34" charset="-122"/>
                <a:ea typeface="微软雅黑" panose="020B0503020204020204" pitchFamily="34" charset="-122"/>
              </a:rPr>
              <a:t>2a</a:t>
            </a:r>
            <a:r>
              <a:rPr lang="en-US" altLang="zh-CN" sz="1500" b="1" dirty="0">
                <a:solidFill>
                  <a:srgbClr val="990099"/>
                </a:solidFill>
                <a:latin typeface="微软雅黑" panose="020B0503020204020204" pitchFamily="34" charset="-122"/>
                <a:ea typeface="微软雅黑" panose="020B0503020204020204" pitchFamily="34" charset="-122"/>
              </a:rPr>
              <a:t>]</a:t>
            </a:r>
          </a:p>
          <a:p>
            <a:pPr eaLnBrk="1" hangingPunct="1">
              <a:lnSpc>
                <a:spcPts val="2400"/>
              </a:lnSpc>
            </a:pPr>
            <a:r>
              <a:rPr lang="zh-CN" altLang="en-US" sz="1600" b="1" u="sng" dirty="0">
                <a:solidFill>
                  <a:srgbClr val="C00000"/>
                </a:solidFill>
                <a:latin typeface="微软雅黑" panose="020B0503020204020204" pitchFamily="34" charset="-122"/>
                <a:ea typeface="微软雅黑" panose="020B0503020204020204" pitchFamily="34" charset="-122"/>
              </a:rPr>
              <a:t>路由</a:t>
            </a:r>
            <a:r>
              <a:rPr lang="en-US" altLang="zh-CN" sz="1600" b="1" u="sng" dirty="0">
                <a:solidFill>
                  <a:srgbClr val="C00000"/>
                </a:solidFill>
                <a:latin typeface="微软雅黑" panose="020B0503020204020204" pitchFamily="34" charset="-122"/>
                <a:ea typeface="微软雅黑" panose="020B0503020204020204" pitchFamily="34" charset="-122"/>
              </a:rPr>
              <a:t>2</a:t>
            </a:r>
            <a:r>
              <a:rPr lang="zh-CN" altLang="en-US" sz="1600" b="1" dirty="0">
                <a:solidFill>
                  <a:srgbClr val="C00000"/>
                </a:solidFill>
                <a:latin typeface="微软雅黑" panose="020B0503020204020204" pitchFamily="34" charset="-122"/>
                <a:ea typeface="微软雅黑" panose="020B0503020204020204" pitchFamily="34" charset="-122"/>
              </a:rPr>
              <a:t>：</a:t>
            </a:r>
            <a:r>
              <a:rPr lang="en-US" altLang="zh-CN" sz="1600" b="1" dirty="0">
                <a:solidFill>
                  <a:srgbClr val="C00000"/>
                </a:solidFill>
                <a:latin typeface="微软雅黑" panose="020B0503020204020204" pitchFamily="34" charset="-122"/>
                <a:ea typeface="微软雅黑" panose="020B0503020204020204" pitchFamily="34" charset="-122"/>
              </a:rPr>
              <a:t>AS</a:t>
            </a:r>
            <a:r>
              <a:rPr lang="en-US" altLang="zh-CN" sz="1600" b="1" baseline="-25000" dirty="0">
                <a:solidFill>
                  <a:srgbClr val="C00000"/>
                </a:solidFill>
                <a:latin typeface="微软雅黑" panose="020B0503020204020204" pitchFamily="34" charset="-122"/>
                <a:ea typeface="微软雅黑" panose="020B0503020204020204" pitchFamily="34" charset="-122"/>
              </a:rPr>
              <a:t>1 </a:t>
            </a:r>
            <a:r>
              <a:rPr lang="zh-CN" altLang="zh-CN" sz="1600" b="1" dirty="0">
                <a:solidFill>
                  <a:srgbClr val="C00000"/>
                </a:solidFill>
                <a:latin typeface="微软雅黑" panose="020B0503020204020204" pitchFamily="34" charset="-122"/>
                <a:ea typeface="微软雅黑" panose="020B0503020204020204" pitchFamily="34" charset="-122"/>
              </a:rPr>
              <a:t>可经</a:t>
            </a:r>
            <a:r>
              <a:rPr lang="en-US" altLang="zh-CN" sz="1600" b="1" dirty="0">
                <a:solidFill>
                  <a:srgbClr val="C00000"/>
                </a:solidFill>
                <a:latin typeface="微软雅黑" panose="020B0503020204020204" pitchFamily="34" charset="-122"/>
                <a:ea typeface="微软雅黑" panose="020B0503020204020204" pitchFamily="34" charset="-122"/>
              </a:rPr>
              <a:t> IP</a:t>
            </a:r>
            <a:r>
              <a:rPr lang="en-US" altLang="zh-CN" sz="1600" b="1" baseline="-25000" dirty="0">
                <a:solidFill>
                  <a:srgbClr val="C00000"/>
                </a:solidFill>
                <a:latin typeface="微软雅黑" panose="020B0503020204020204" pitchFamily="34" charset="-122"/>
                <a:ea typeface="微软雅黑" panose="020B0503020204020204" pitchFamily="34" charset="-122"/>
              </a:rPr>
              <a:t>3c </a:t>
            </a:r>
            <a:r>
              <a:rPr lang="zh-CN" altLang="zh-CN" sz="1600" b="1" dirty="0">
                <a:solidFill>
                  <a:srgbClr val="C00000"/>
                </a:solidFill>
                <a:latin typeface="微软雅黑" panose="020B0503020204020204" pitchFamily="34" charset="-122"/>
                <a:ea typeface="微软雅黑" panose="020B0503020204020204" pitchFamily="34" charset="-122"/>
              </a:rPr>
              <a:t>到前缀</a:t>
            </a:r>
            <a:r>
              <a:rPr lang="en-US" altLang="zh-CN" sz="1600" b="1" dirty="0">
                <a:solidFill>
                  <a:srgbClr val="C00000"/>
                </a:solidFill>
                <a:latin typeface="微软雅黑" panose="020B0503020204020204" pitchFamily="34" charset="-122"/>
                <a:ea typeface="微软雅黑" panose="020B0503020204020204" pitchFamily="34" charset="-122"/>
              </a:rPr>
              <a:t> X </a:t>
            </a:r>
            <a:r>
              <a:rPr lang="zh-CN" altLang="zh-CN" sz="1600" b="1" dirty="0">
                <a:solidFill>
                  <a:srgbClr val="C00000"/>
                </a:solidFill>
                <a:latin typeface="微软雅黑" panose="020B0503020204020204" pitchFamily="34" charset="-122"/>
                <a:ea typeface="微软雅黑" panose="020B0503020204020204" pitchFamily="34" charset="-122"/>
              </a:rPr>
              <a:t>的路由</a:t>
            </a:r>
            <a:r>
              <a:rPr lang="en-US" altLang="zh-CN" sz="1600" b="1" dirty="0">
                <a:solidFill>
                  <a:srgbClr val="C00000"/>
                </a:solidFill>
                <a:latin typeface="微软雅黑" panose="020B0503020204020204" pitchFamily="34" charset="-122"/>
                <a:ea typeface="微软雅黑" panose="020B0503020204020204" pitchFamily="34" charset="-122"/>
              </a:rPr>
              <a:t> = [</a:t>
            </a:r>
            <a:r>
              <a:rPr lang="zh-CN" altLang="zh-CN" sz="1600" b="1" dirty="0">
                <a:solidFill>
                  <a:srgbClr val="C00000"/>
                </a:solidFill>
                <a:latin typeface="微软雅黑" panose="020B0503020204020204" pitchFamily="34" charset="-122"/>
                <a:ea typeface="微软雅黑" panose="020B0503020204020204" pitchFamily="34" charset="-122"/>
              </a:rPr>
              <a:t>前缀</a:t>
            </a:r>
            <a:r>
              <a:rPr lang="en-US" altLang="zh-CN" sz="1600" b="1" dirty="0">
                <a:solidFill>
                  <a:srgbClr val="C00000"/>
                </a:solidFill>
                <a:latin typeface="微软雅黑" panose="020B0503020204020204" pitchFamily="34" charset="-122"/>
                <a:ea typeface="微软雅黑" panose="020B0503020204020204" pitchFamily="34" charset="-122"/>
              </a:rPr>
              <a:t>, AS-PATH, NEXT-HOP] = [X, AS</a:t>
            </a:r>
            <a:r>
              <a:rPr lang="en-US" altLang="zh-CN" sz="1600" b="1" baseline="-25000" dirty="0">
                <a:solidFill>
                  <a:srgbClr val="C00000"/>
                </a:solidFill>
                <a:latin typeface="微软雅黑" panose="020B0503020204020204" pitchFamily="34" charset="-122"/>
                <a:ea typeface="微软雅黑" panose="020B0503020204020204" pitchFamily="34" charset="-122"/>
              </a:rPr>
              <a:t>3</a:t>
            </a:r>
            <a:r>
              <a:rPr lang="en-US" altLang="zh-CN" sz="1600" b="1" dirty="0">
                <a:solidFill>
                  <a:srgbClr val="C00000"/>
                </a:solidFill>
                <a:latin typeface="微软雅黑" panose="020B0503020204020204" pitchFamily="34" charset="-122"/>
                <a:ea typeface="微软雅黑" panose="020B0503020204020204" pitchFamily="34" charset="-122"/>
              </a:rPr>
              <a:t>, IP</a:t>
            </a:r>
            <a:r>
              <a:rPr lang="en-US" altLang="zh-CN" sz="1600" b="1" baseline="-25000" dirty="0">
                <a:solidFill>
                  <a:srgbClr val="C00000"/>
                </a:solidFill>
                <a:latin typeface="微软雅黑" panose="020B0503020204020204" pitchFamily="34" charset="-122"/>
                <a:ea typeface="微软雅黑" panose="020B0503020204020204" pitchFamily="34" charset="-122"/>
              </a:rPr>
              <a:t>3c</a:t>
            </a:r>
            <a:r>
              <a:rPr lang="en-US" altLang="zh-CN" sz="1600" b="1" dirty="0">
                <a:solidFill>
                  <a:srgbClr val="C00000"/>
                </a:solidFill>
                <a:latin typeface="微软雅黑" panose="020B0503020204020204" pitchFamily="34" charset="-122"/>
                <a:ea typeface="微软雅黑" panose="020B0503020204020204" pitchFamily="34" charset="-122"/>
              </a:rPr>
              <a:t>]</a:t>
            </a:r>
          </a:p>
          <a:p>
            <a:pPr eaLnBrk="1" hangingPunct="1">
              <a:lnSpc>
                <a:spcPts val="2400"/>
              </a:lnSpc>
            </a:pPr>
            <a:r>
              <a:rPr lang="zh-CN" altLang="zh-CN" sz="1600" b="1" dirty="0">
                <a:solidFill>
                  <a:srgbClr val="0000FF"/>
                </a:solidFill>
                <a:latin typeface="微软雅黑" panose="020B0503020204020204" pitchFamily="34" charset="-122"/>
                <a:ea typeface="微软雅黑" panose="020B0503020204020204" pitchFamily="34" charset="-122"/>
              </a:rPr>
              <a:t>路由器</a:t>
            </a:r>
            <a:r>
              <a:rPr lang="en-US" altLang="zh-CN" sz="1600" b="1" dirty="0">
                <a:solidFill>
                  <a:srgbClr val="0000FF"/>
                </a:solidFill>
                <a:latin typeface="微软雅黑" panose="020B0503020204020204" pitchFamily="34" charset="-122"/>
                <a:ea typeface="微软雅黑" panose="020B0503020204020204" pitchFamily="34" charset="-122"/>
              </a:rPr>
              <a:t> R</a:t>
            </a:r>
            <a:r>
              <a:rPr lang="en-US" altLang="zh-CN" sz="1600" b="1" baseline="-25000" dirty="0">
                <a:solidFill>
                  <a:srgbClr val="0000FF"/>
                </a:solidFill>
                <a:latin typeface="微软雅黑" panose="020B0503020204020204" pitchFamily="34" charset="-122"/>
                <a:ea typeface="微软雅黑" panose="020B0503020204020204" pitchFamily="34" charset="-122"/>
              </a:rPr>
              <a:t>1a </a:t>
            </a:r>
            <a:r>
              <a:rPr lang="zh-CN" altLang="zh-CN" sz="1600" b="1" dirty="0">
                <a:solidFill>
                  <a:srgbClr val="0000FF"/>
                </a:solidFill>
                <a:latin typeface="微软雅黑" panose="020B0503020204020204" pitchFamily="34" charset="-122"/>
                <a:ea typeface="微软雅黑" panose="020B0503020204020204" pitchFamily="34" charset="-122"/>
              </a:rPr>
              <a:t>的转发表中，沿</a:t>
            </a:r>
            <a:r>
              <a:rPr lang="en-US" altLang="zh-CN" sz="1600" b="1" dirty="0">
                <a:solidFill>
                  <a:srgbClr val="0000FF"/>
                </a:solidFill>
                <a:latin typeface="微软雅黑" panose="020B0503020204020204" pitchFamily="34" charset="-122"/>
                <a:ea typeface="微软雅黑" panose="020B0503020204020204" pitchFamily="34" charset="-122"/>
              </a:rPr>
              <a:t> </a:t>
            </a:r>
            <a:r>
              <a:rPr lang="en-US" altLang="zh-CN" sz="1600" b="1" u="sng" dirty="0">
                <a:solidFill>
                  <a:srgbClr val="0000FF"/>
                </a:solidFill>
                <a:latin typeface="微软雅黑" panose="020B0503020204020204" pitchFamily="34" charset="-122"/>
                <a:ea typeface="微软雅黑" panose="020B0503020204020204" pitchFamily="34" charset="-122"/>
              </a:rPr>
              <a:t>BGP </a:t>
            </a:r>
            <a:r>
              <a:rPr lang="zh-CN" altLang="zh-CN" sz="1600" b="1" u="sng" dirty="0">
                <a:solidFill>
                  <a:srgbClr val="0000FF"/>
                </a:solidFill>
                <a:latin typeface="微软雅黑" panose="020B0503020204020204" pitchFamily="34" charset="-122"/>
                <a:ea typeface="微软雅黑" panose="020B0503020204020204" pitchFamily="34" charset="-122"/>
              </a:rPr>
              <a:t>路由</a:t>
            </a:r>
            <a:r>
              <a:rPr lang="en-US" altLang="zh-CN" sz="1600" b="1" u="sng" dirty="0">
                <a:solidFill>
                  <a:srgbClr val="0000FF"/>
                </a:solidFill>
                <a:latin typeface="微软雅黑" panose="020B0503020204020204" pitchFamily="34" charset="-122"/>
                <a:ea typeface="微软雅黑" panose="020B0503020204020204" pitchFamily="34" charset="-122"/>
              </a:rPr>
              <a:t> 1 </a:t>
            </a:r>
            <a:r>
              <a:rPr lang="zh-CN" altLang="zh-CN" sz="1600" b="1" dirty="0">
                <a:solidFill>
                  <a:srgbClr val="0000FF"/>
                </a:solidFill>
                <a:latin typeface="微软雅黑" panose="020B0503020204020204" pitchFamily="34" charset="-122"/>
                <a:ea typeface="微软雅黑" panose="020B0503020204020204" pitchFamily="34" charset="-122"/>
              </a:rPr>
              <a:t>到达前缀</a:t>
            </a:r>
            <a:r>
              <a:rPr lang="en-US" altLang="zh-CN" sz="1600" b="1" dirty="0">
                <a:solidFill>
                  <a:srgbClr val="0000FF"/>
                </a:solidFill>
                <a:latin typeface="微软雅黑" panose="020B0503020204020204" pitchFamily="34" charset="-122"/>
                <a:ea typeface="微软雅黑" panose="020B0503020204020204" pitchFamily="34" charset="-122"/>
              </a:rPr>
              <a:t> X </a:t>
            </a:r>
            <a:r>
              <a:rPr lang="zh-CN" altLang="zh-CN" sz="1600" b="1" dirty="0">
                <a:solidFill>
                  <a:srgbClr val="0000FF"/>
                </a:solidFill>
                <a:latin typeface="微软雅黑" panose="020B0503020204020204" pitchFamily="34" charset="-122"/>
                <a:ea typeface="微软雅黑" panose="020B0503020204020204" pitchFamily="34" charset="-122"/>
              </a:rPr>
              <a:t>的项目是：</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ts val="2400"/>
              </a:lnSpc>
            </a:pPr>
            <a:r>
              <a:rPr lang="en-US" altLang="zh-CN" sz="1600" b="1" dirty="0">
                <a:latin typeface="微软雅黑" panose="020B0503020204020204" pitchFamily="34" charset="-122"/>
                <a:ea typeface="微软雅黑" panose="020B0503020204020204" pitchFamily="34" charset="-122"/>
              </a:rPr>
              <a:t>           </a:t>
            </a:r>
            <a:r>
              <a:rPr lang="zh-CN" altLang="zh-CN" sz="1600" b="1" dirty="0">
                <a:latin typeface="微软雅黑" panose="020B0503020204020204" pitchFamily="34" charset="-122"/>
                <a:ea typeface="微软雅黑" panose="020B0503020204020204" pitchFamily="34" charset="-122"/>
              </a:rPr>
              <a:t>（匹配前缀</a:t>
            </a:r>
            <a:r>
              <a:rPr lang="en-US" altLang="zh-CN" sz="1600" b="1" dirty="0">
                <a:latin typeface="微软雅黑" panose="020B0503020204020204" pitchFamily="34" charset="-122"/>
                <a:ea typeface="微软雅黑" panose="020B0503020204020204" pitchFamily="34" charset="-122"/>
              </a:rPr>
              <a:t>X</a:t>
            </a:r>
            <a:r>
              <a:rPr lang="zh-CN" altLang="zh-CN" sz="1600" b="1" dirty="0">
                <a:latin typeface="微软雅黑" panose="020B0503020204020204" pitchFamily="34" charset="-122"/>
                <a:ea typeface="微软雅黑" panose="020B0503020204020204" pitchFamily="34" charset="-122"/>
              </a:rPr>
              <a:t>，下一跳路由器</a:t>
            </a:r>
            <a:r>
              <a:rPr lang="en-US" altLang="zh-CN" sz="1600" b="1" dirty="0">
                <a:latin typeface="微软雅黑" panose="020B0503020204020204" pitchFamily="34" charset="-122"/>
                <a:ea typeface="微软雅黑" panose="020B0503020204020204" pitchFamily="34" charset="-122"/>
              </a:rPr>
              <a:t> R</a:t>
            </a:r>
            <a:r>
              <a:rPr lang="en-US" altLang="zh-CN" sz="1600" b="1" baseline="-25000" dirty="0">
                <a:latin typeface="微软雅黑" panose="020B0503020204020204" pitchFamily="34" charset="-122"/>
                <a:ea typeface="微软雅黑" panose="020B0503020204020204" pitchFamily="34" charset="-122"/>
              </a:rPr>
              <a:t>1b</a:t>
            </a:r>
            <a:r>
              <a:rPr lang="zh-CN" altLang="zh-CN" sz="1600" b="1" dirty="0">
                <a:latin typeface="微软雅黑" panose="020B0503020204020204" pitchFamily="34" charset="-122"/>
                <a:ea typeface="微软雅黑" panose="020B0503020204020204" pitchFamily="34" charset="-122"/>
              </a:rPr>
              <a:t>）或（匹配前缀</a:t>
            </a:r>
            <a:r>
              <a:rPr lang="en-US" altLang="zh-CN" sz="1600" b="1" dirty="0">
                <a:latin typeface="微软雅黑" panose="020B0503020204020204" pitchFamily="34" charset="-122"/>
                <a:ea typeface="微软雅黑" panose="020B0503020204020204" pitchFamily="34" charset="-122"/>
              </a:rPr>
              <a:t>X</a:t>
            </a:r>
            <a:r>
              <a:rPr lang="zh-CN" altLang="zh-CN" sz="1600" b="1" dirty="0">
                <a:latin typeface="微软雅黑" panose="020B0503020204020204" pitchFamily="34" charset="-122"/>
                <a:ea typeface="微软雅黑" panose="020B0503020204020204" pitchFamily="34" charset="-122"/>
              </a:rPr>
              <a:t>，转发接口</a:t>
            </a:r>
            <a:r>
              <a:rPr lang="en-US" altLang="zh-CN" sz="1600" b="1" dirty="0">
                <a:latin typeface="微软雅黑" panose="020B0503020204020204" pitchFamily="34" charset="-122"/>
                <a:ea typeface="微软雅黑" panose="020B0503020204020204" pitchFamily="34" charset="-122"/>
              </a:rPr>
              <a:t> 0</a:t>
            </a:r>
            <a:r>
              <a:rPr lang="zh-CN" altLang="zh-CN" sz="1600" b="1" dirty="0">
                <a:latin typeface="微软雅黑" panose="020B0503020204020204" pitchFamily="34" charset="-122"/>
                <a:ea typeface="微软雅黑" panose="020B0503020204020204" pitchFamily="34" charset="-122"/>
              </a:rPr>
              <a:t>）。</a:t>
            </a:r>
          </a:p>
        </p:txBody>
      </p:sp>
      <p:sp>
        <p:nvSpPr>
          <p:cNvPr id="191" name="Line 154"/>
          <p:cNvSpPr>
            <a:spLocks noChangeShapeType="1"/>
          </p:cNvSpPr>
          <p:nvPr/>
        </p:nvSpPr>
        <p:spPr bwMode="auto">
          <a:xfrm>
            <a:off x="2217305" y="2797032"/>
            <a:ext cx="4806950" cy="19050"/>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192" name="Group 206"/>
          <p:cNvGrpSpPr>
            <a:grpSpLocks/>
          </p:cNvGrpSpPr>
          <p:nvPr/>
        </p:nvGrpSpPr>
        <p:grpSpPr bwMode="auto">
          <a:xfrm>
            <a:off x="1198130" y="1984232"/>
            <a:ext cx="1655763" cy="792162"/>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9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02" name="Group 216"/>
            <p:cNvGrpSpPr>
              <a:grpSpLocks/>
            </p:cNvGrpSpPr>
            <p:nvPr/>
          </p:nvGrpSpPr>
          <p:grpSpPr bwMode="auto">
            <a:xfrm>
              <a:off x="912" y="768"/>
              <a:ext cx="2386" cy="1553"/>
              <a:chOff x="912" y="768"/>
              <a:chExt cx="2386" cy="1553"/>
            </a:xfrm>
            <a:grpFill/>
          </p:grpSpPr>
          <p:sp>
            <p:nvSpPr>
              <p:cNvPr id="20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grpSp>
      <p:grpSp>
        <p:nvGrpSpPr>
          <p:cNvPr id="212" name="Group 206"/>
          <p:cNvGrpSpPr>
            <a:grpSpLocks/>
          </p:cNvGrpSpPr>
          <p:nvPr/>
        </p:nvGrpSpPr>
        <p:grpSpPr bwMode="auto">
          <a:xfrm>
            <a:off x="3573030" y="1528619"/>
            <a:ext cx="1944688" cy="792163"/>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1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22" name="Group 216"/>
            <p:cNvGrpSpPr>
              <a:grpSpLocks/>
            </p:cNvGrpSpPr>
            <p:nvPr/>
          </p:nvGrpSpPr>
          <p:grpSpPr bwMode="auto">
            <a:xfrm>
              <a:off x="912" y="768"/>
              <a:ext cx="2386" cy="1553"/>
              <a:chOff x="912" y="768"/>
              <a:chExt cx="2386" cy="1553"/>
            </a:xfrm>
            <a:grpFill/>
          </p:grpSpPr>
          <p:sp>
            <p:nvSpPr>
              <p:cNvPr id="22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grpSp>
      <p:grpSp>
        <p:nvGrpSpPr>
          <p:cNvPr id="232" name="Group 206"/>
          <p:cNvGrpSpPr>
            <a:grpSpLocks/>
          </p:cNvGrpSpPr>
          <p:nvPr/>
        </p:nvGrpSpPr>
        <p:grpSpPr bwMode="auto">
          <a:xfrm>
            <a:off x="6093980" y="2055669"/>
            <a:ext cx="1943100" cy="792163"/>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3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42" name="Group 216"/>
            <p:cNvGrpSpPr>
              <a:grpSpLocks/>
            </p:cNvGrpSpPr>
            <p:nvPr/>
          </p:nvGrpSpPr>
          <p:grpSpPr bwMode="auto">
            <a:xfrm>
              <a:off x="912" y="768"/>
              <a:ext cx="2386" cy="1553"/>
              <a:chOff x="912" y="768"/>
              <a:chExt cx="2386" cy="1553"/>
            </a:xfrm>
            <a:grpFill/>
          </p:grpSpPr>
          <p:sp>
            <p:nvSpPr>
              <p:cNvPr id="24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5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5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grpSp>
      <p:sp>
        <p:nvSpPr>
          <p:cNvPr id="252" name="Line 208"/>
          <p:cNvSpPr>
            <a:spLocks noChangeShapeType="1"/>
          </p:cNvSpPr>
          <p:nvPr/>
        </p:nvSpPr>
        <p:spPr bwMode="auto">
          <a:xfrm>
            <a:off x="6381318" y="2631932"/>
            <a:ext cx="647700" cy="14446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3" name="Line 152"/>
          <p:cNvSpPr>
            <a:spLocks noChangeShapeType="1"/>
          </p:cNvSpPr>
          <p:nvPr/>
        </p:nvSpPr>
        <p:spPr bwMode="auto">
          <a:xfrm flipH="1">
            <a:off x="7173480" y="2344594"/>
            <a:ext cx="719138" cy="4318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4" name="Line 154"/>
          <p:cNvSpPr>
            <a:spLocks noChangeShapeType="1"/>
          </p:cNvSpPr>
          <p:nvPr/>
        </p:nvSpPr>
        <p:spPr bwMode="auto">
          <a:xfrm flipV="1">
            <a:off x="2853893" y="1912794"/>
            <a:ext cx="792162" cy="411163"/>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5" name="Line 155"/>
          <p:cNvSpPr>
            <a:spLocks noChangeShapeType="1"/>
          </p:cNvSpPr>
          <p:nvPr/>
        </p:nvSpPr>
        <p:spPr bwMode="auto">
          <a:xfrm>
            <a:off x="5516130" y="1912794"/>
            <a:ext cx="793750" cy="647700"/>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6" name="Line 158"/>
          <p:cNvSpPr>
            <a:spLocks noChangeShapeType="1"/>
          </p:cNvSpPr>
          <p:nvPr/>
        </p:nvSpPr>
        <p:spPr bwMode="auto">
          <a:xfrm flipH="1">
            <a:off x="4654118" y="1888982"/>
            <a:ext cx="790575" cy="31115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7" name="Line 159"/>
          <p:cNvSpPr>
            <a:spLocks noChangeShapeType="1"/>
          </p:cNvSpPr>
          <p:nvPr/>
        </p:nvSpPr>
        <p:spPr bwMode="auto">
          <a:xfrm>
            <a:off x="4870018" y="1528619"/>
            <a:ext cx="503237" cy="288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8" name="Line 163"/>
          <p:cNvSpPr>
            <a:spLocks noChangeShapeType="1"/>
          </p:cNvSpPr>
          <p:nvPr/>
        </p:nvSpPr>
        <p:spPr bwMode="auto">
          <a:xfrm>
            <a:off x="7102043" y="2128694"/>
            <a:ext cx="792162" cy="2159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9" name="Line 165"/>
          <p:cNvSpPr>
            <a:spLocks noChangeShapeType="1"/>
          </p:cNvSpPr>
          <p:nvPr/>
        </p:nvSpPr>
        <p:spPr bwMode="auto">
          <a:xfrm flipV="1">
            <a:off x="2134755" y="2360469"/>
            <a:ext cx="625475" cy="415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0" name="Line 167"/>
          <p:cNvSpPr>
            <a:spLocks noChangeShapeType="1"/>
          </p:cNvSpPr>
          <p:nvPr/>
        </p:nvSpPr>
        <p:spPr bwMode="auto">
          <a:xfrm>
            <a:off x="1290205" y="2454132"/>
            <a:ext cx="842963" cy="32226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1" name="Line 169"/>
          <p:cNvSpPr>
            <a:spLocks noChangeShapeType="1"/>
          </p:cNvSpPr>
          <p:nvPr/>
        </p:nvSpPr>
        <p:spPr bwMode="auto">
          <a:xfrm flipV="1">
            <a:off x="1269568" y="2128694"/>
            <a:ext cx="720725" cy="287338"/>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2" name="Line 170"/>
          <p:cNvSpPr>
            <a:spLocks noChangeShapeType="1"/>
          </p:cNvSpPr>
          <p:nvPr/>
        </p:nvSpPr>
        <p:spPr bwMode="auto">
          <a:xfrm>
            <a:off x="1990293" y="2128694"/>
            <a:ext cx="719137" cy="195263"/>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3" name="Text Box 173"/>
          <p:cNvSpPr txBox="1">
            <a:spLocks noChangeArrowheads="1"/>
          </p:cNvSpPr>
          <p:nvPr/>
        </p:nvSpPr>
        <p:spPr bwMode="auto">
          <a:xfrm>
            <a:off x="1196543" y="1747694"/>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solidFill>
                  <a:srgbClr val="0000FF"/>
                </a:solidFill>
                <a:latin typeface="微软雅黑" panose="020B0503020204020204" pitchFamily="34" charset="-122"/>
                <a:ea typeface="微软雅黑" panose="020B0503020204020204" pitchFamily="34" charset="-122"/>
              </a:rPr>
              <a:t>AS</a:t>
            </a:r>
            <a:r>
              <a:rPr lang="en-US" altLang="zh-CN" sz="1400" b="1" baseline="-25000" dirty="0">
                <a:solidFill>
                  <a:srgbClr val="0000FF"/>
                </a:solidFill>
                <a:latin typeface="微软雅黑" panose="020B0503020204020204" pitchFamily="34" charset="-122"/>
                <a:ea typeface="微软雅黑" panose="020B0503020204020204" pitchFamily="34" charset="-122"/>
              </a:rPr>
              <a:t>1</a:t>
            </a:r>
          </a:p>
        </p:txBody>
      </p:sp>
      <p:sp>
        <p:nvSpPr>
          <p:cNvPr id="264" name="Text Box 174"/>
          <p:cNvSpPr txBox="1">
            <a:spLocks noChangeArrowheads="1"/>
          </p:cNvSpPr>
          <p:nvPr/>
        </p:nvSpPr>
        <p:spPr bwMode="auto">
          <a:xfrm>
            <a:off x="6454343" y="1747694"/>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solidFill>
                  <a:srgbClr val="0000FF"/>
                </a:solidFill>
                <a:latin typeface="微软雅黑" panose="020B0503020204020204" pitchFamily="34" charset="-122"/>
                <a:ea typeface="微软雅黑" panose="020B0503020204020204" pitchFamily="34" charset="-122"/>
              </a:rPr>
              <a:t>AS</a:t>
            </a:r>
            <a:r>
              <a:rPr lang="en-US" altLang="zh-CN" sz="1400" b="1" baseline="-25000">
                <a:solidFill>
                  <a:srgbClr val="0000FF"/>
                </a:solidFill>
                <a:latin typeface="微软雅黑" panose="020B0503020204020204" pitchFamily="34" charset="-122"/>
                <a:ea typeface="微软雅黑" panose="020B0503020204020204" pitchFamily="34" charset="-122"/>
              </a:rPr>
              <a:t>3</a:t>
            </a:r>
          </a:p>
        </p:txBody>
      </p:sp>
      <p:sp>
        <p:nvSpPr>
          <p:cNvPr id="265" name="Text Box 175"/>
          <p:cNvSpPr txBox="1">
            <a:spLocks noChangeArrowheads="1"/>
          </p:cNvSpPr>
          <p:nvPr/>
        </p:nvSpPr>
        <p:spPr bwMode="auto">
          <a:xfrm>
            <a:off x="4220730" y="11714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solidFill>
                  <a:srgbClr val="0000FF"/>
                </a:solidFill>
                <a:latin typeface="微软雅黑" panose="020B0503020204020204" pitchFamily="34" charset="-122"/>
                <a:ea typeface="微软雅黑" panose="020B0503020204020204" pitchFamily="34" charset="-122"/>
              </a:rPr>
              <a:t>AS</a:t>
            </a:r>
            <a:r>
              <a:rPr lang="en-US" altLang="zh-CN" sz="1400" b="1" baseline="-25000">
                <a:solidFill>
                  <a:srgbClr val="0000FF"/>
                </a:solidFill>
                <a:latin typeface="微软雅黑" panose="020B0503020204020204" pitchFamily="34" charset="-122"/>
                <a:ea typeface="微软雅黑" panose="020B0503020204020204" pitchFamily="34" charset="-122"/>
              </a:rPr>
              <a:t>2</a:t>
            </a:r>
          </a:p>
        </p:txBody>
      </p:sp>
      <p:sp>
        <p:nvSpPr>
          <p:cNvPr id="266" name="Line 194"/>
          <p:cNvSpPr>
            <a:spLocks noChangeShapeType="1"/>
          </p:cNvSpPr>
          <p:nvPr/>
        </p:nvSpPr>
        <p:spPr bwMode="auto">
          <a:xfrm flipH="1">
            <a:off x="3717493" y="1528619"/>
            <a:ext cx="1152525" cy="288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7" name="Line 209"/>
          <p:cNvSpPr>
            <a:spLocks noChangeShapeType="1"/>
          </p:cNvSpPr>
          <p:nvPr/>
        </p:nvSpPr>
        <p:spPr bwMode="auto">
          <a:xfrm flipV="1">
            <a:off x="6381318" y="2128694"/>
            <a:ext cx="647700" cy="4318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8" name="Line 153"/>
          <p:cNvSpPr>
            <a:spLocks noChangeShapeType="1"/>
          </p:cNvSpPr>
          <p:nvPr/>
        </p:nvSpPr>
        <p:spPr bwMode="auto">
          <a:xfrm>
            <a:off x="3754005" y="1946132"/>
            <a:ext cx="755650" cy="2540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269"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90293" y="2682732"/>
            <a:ext cx="296862"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6" name="组合 5"/>
          <p:cNvGrpSpPr/>
          <p:nvPr/>
        </p:nvGrpSpPr>
        <p:grpSpPr>
          <a:xfrm>
            <a:off x="7511617" y="2510869"/>
            <a:ext cx="504825" cy="360363"/>
            <a:chOff x="8075758" y="2677682"/>
            <a:chExt cx="504825" cy="360363"/>
          </a:xfrm>
        </p:grpSpPr>
        <p:grpSp>
          <p:nvGrpSpPr>
            <p:cNvPr id="5" name="组合 4"/>
            <p:cNvGrpSpPr/>
            <p:nvPr/>
          </p:nvGrpSpPr>
          <p:grpSpPr>
            <a:xfrm>
              <a:off x="8075758" y="2677682"/>
              <a:ext cx="504825" cy="360363"/>
              <a:chOff x="8075758" y="2677682"/>
              <a:chExt cx="504825" cy="360363"/>
            </a:xfrm>
          </p:grpSpPr>
          <p:sp>
            <p:nvSpPr>
              <p:cNvPr id="273" name="AutoShape 229"/>
              <p:cNvSpPr>
                <a:spLocks noChangeAspect="1" noChangeArrowheads="1" noTextEdit="1"/>
              </p:cNvSpPr>
              <p:nvPr/>
            </p:nvSpPr>
            <p:spPr bwMode="auto">
              <a:xfrm>
                <a:off x="8075758" y="2677682"/>
                <a:ext cx="504825" cy="360363"/>
              </a:xfrm>
              <a:prstGeom prst="rect">
                <a:avLst/>
              </a:prstGeom>
              <a:noFill/>
              <a:ln>
                <a:noFill/>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76" name="Oval 231"/>
              <p:cNvSpPr>
                <a:spLocks noChangeArrowheads="1"/>
              </p:cNvSpPr>
              <p:nvPr/>
            </p:nvSpPr>
            <p:spPr bwMode="auto">
              <a:xfrm>
                <a:off x="8248523" y="2681957"/>
                <a:ext cx="217274" cy="145367"/>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77" name="Oval 232"/>
              <p:cNvSpPr>
                <a:spLocks noChangeArrowheads="1"/>
              </p:cNvSpPr>
              <p:nvPr/>
            </p:nvSpPr>
            <p:spPr bwMode="auto">
              <a:xfrm>
                <a:off x="8129052" y="2719826"/>
                <a:ext cx="166323" cy="145978"/>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78" name="Oval 233"/>
              <p:cNvSpPr>
                <a:spLocks noChangeArrowheads="1"/>
              </p:cNvSpPr>
              <p:nvPr/>
            </p:nvSpPr>
            <p:spPr bwMode="auto">
              <a:xfrm>
                <a:off x="8078101" y="2807779"/>
                <a:ext cx="112444" cy="11849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79" name="Oval 234"/>
              <p:cNvSpPr>
                <a:spLocks noChangeArrowheads="1"/>
              </p:cNvSpPr>
              <p:nvPr/>
            </p:nvSpPr>
            <p:spPr bwMode="auto">
              <a:xfrm>
                <a:off x="8112068" y="2859696"/>
                <a:ext cx="169251" cy="12887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0" name="Oval 235"/>
              <p:cNvSpPr>
                <a:spLocks noChangeArrowheads="1"/>
              </p:cNvSpPr>
              <p:nvPr/>
            </p:nvSpPr>
            <p:spPr bwMode="auto">
              <a:xfrm>
                <a:off x="8231539" y="2881073"/>
                <a:ext cx="252413" cy="15269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1" name="Oval 236"/>
              <p:cNvSpPr>
                <a:spLocks noChangeArrowheads="1"/>
              </p:cNvSpPr>
              <p:nvPr/>
            </p:nvSpPr>
            <p:spPr bwMode="auto">
              <a:xfrm>
                <a:off x="8392006" y="2724102"/>
                <a:ext cx="162223" cy="114828"/>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2" name="Oval 237"/>
              <p:cNvSpPr>
                <a:spLocks noChangeArrowheads="1"/>
              </p:cNvSpPr>
              <p:nvPr/>
            </p:nvSpPr>
            <p:spPr bwMode="auto">
              <a:xfrm>
                <a:off x="8416603" y="2798007"/>
                <a:ext cx="160466" cy="114217"/>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3" name="Oval 238"/>
              <p:cNvSpPr>
                <a:spLocks noChangeArrowheads="1"/>
              </p:cNvSpPr>
              <p:nvPr/>
            </p:nvSpPr>
            <p:spPr bwMode="auto">
              <a:xfrm>
                <a:off x="8401962" y="2821827"/>
                <a:ext cx="159295" cy="18812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4" name="Oval 239"/>
              <p:cNvSpPr>
                <a:spLocks noChangeArrowheads="1"/>
              </p:cNvSpPr>
              <p:nvPr/>
            </p:nvSpPr>
            <p:spPr bwMode="auto">
              <a:xfrm>
                <a:off x="8168875" y="2765024"/>
                <a:ext cx="323275" cy="18812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85" name="Group 257"/>
              <p:cNvGrpSpPr>
                <a:grpSpLocks/>
              </p:cNvGrpSpPr>
              <p:nvPr/>
            </p:nvGrpSpPr>
            <p:grpSpPr bwMode="auto">
              <a:xfrm>
                <a:off x="8076929" y="2678904"/>
                <a:ext cx="501311" cy="355477"/>
                <a:chOff x="3063" y="302"/>
                <a:chExt cx="856" cy="582"/>
              </a:xfrm>
              <a:solidFill>
                <a:schemeClr val="bg1"/>
              </a:solidFill>
            </p:grpSpPr>
            <p:sp>
              <p:nvSpPr>
                <p:cNvPr id="286" name="Freeform 241"/>
                <p:cNvSpPr>
                  <a:spLocks/>
                </p:cNvSpPr>
                <p:nvPr/>
              </p:nvSpPr>
              <p:spPr bwMode="auto">
                <a:xfrm>
                  <a:off x="3364" y="302"/>
                  <a:ext cx="353" cy="123"/>
                </a:xfrm>
                <a:custGeom>
                  <a:avLst/>
                  <a:gdLst>
                    <a:gd name="T0" fmla="*/ 2147483647 w 171"/>
                    <a:gd name="T1" fmla="*/ 2147483647 h 53"/>
                    <a:gd name="T2" fmla="*/ 2147483647 w 171"/>
                    <a:gd name="T3" fmla="*/ 2147483647 h 53"/>
                    <a:gd name="T4" fmla="*/ 0 w 171"/>
                    <a:gd name="T5" fmla="*/ 2147483647 h 53"/>
                    <a:gd name="T6" fmla="*/ 2147483647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87" name="Arc 242"/>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88" name="Freeform 243"/>
                <p:cNvSpPr>
                  <a:spLocks/>
                </p:cNvSpPr>
                <p:nvPr/>
              </p:nvSpPr>
              <p:spPr bwMode="auto">
                <a:xfrm>
                  <a:off x="3150" y="367"/>
                  <a:ext cx="220" cy="146"/>
                </a:xfrm>
                <a:custGeom>
                  <a:avLst/>
                  <a:gdLst>
                    <a:gd name="T0" fmla="*/ 2147483647 w 107"/>
                    <a:gd name="T1" fmla="*/ 2147483647 h 63"/>
                    <a:gd name="T2" fmla="*/ 2147483647 w 107"/>
                    <a:gd name="T3" fmla="*/ 0 h 63"/>
                    <a:gd name="T4" fmla="*/ 2147483647 w 107"/>
                    <a:gd name="T5" fmla="*/ 2147483647 h 63"/>
                    <a:gd name="T6" fmla="*/ 2147483647 w 107"/>
                    <a:gd name="T7" fmla="*/ 2147483647 h 63"/>
                    <a:gd name="T8" fmla="*/ 2147483647 w 107"/>
                    <a:gd name="T9" fmla="*/ 2147483647 h 63"/>
                    <a:gd name="T10" fmla="*/ 2147483647 w 107"/>
                    <a:gd name="T11" fmla="*/ 2147483647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89" name="Arc 244"/>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0" name="Freeform 245"/>
                <p:cNvSpPr>
                  <a:spLocks/>
                </p:cNvSpPr>
                <p:nvPr/>
              </p:nvSpPr>
              <p:spPr bwMode="auto">
                <a:xfrm>
                  <a:off x="3121" y="696"/>
                  <a:ext cx="220" cy="115"/>
                </a:xfrm>
                <a:custGeom>
                  <a:avLst/>
                  <a:gdLst>
                    <a:gd name="T0" fmla="*/ 0 w 107"/>
                    <a:gd name="T1" fmla="*/ 0 h 50"/>
                    <a:gd name="T2" fmla="*/ 0 w 107"/>
                    <a:gd name="T3" fmla="*/ 2147483647 h 50"/>
                    <a:gd name="T4" fmla="*/ 2147483647 w 107"/>
                    <a:gd name="T5" fmla="*/ 2147483647 h 50"/>
                    <a:gd name="T6" fmla="*/ 2147483647 w 107"/>
                    <a:gd name="T7" fmla="*/ 2147483647 h 50"/>
                    <a:gd name="T8" fmla="*/ 2147483647 w 107"/>
                    <a:gd name="T9" fmla="*/ 2147483647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1" name="Arc 246"/>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2" name="Freeform 247"/>
                <p:cNvSpPr>
                  <a:spLocks/>
                </p:cNvSpPr>
                <p:nvPr/>
              </p:nvSpPr>
              <p:spPr bwMode="auto">
                <a:xfrm>
                  <a:off x="3713" y="372"/>
                  <a:ext cx="167" cy="141"/>
                </a:xfrm>
                <a:custGeom>
                  <a:avLst/>
                  <a:gdLst>
                    <a:gd name="T0" fmla="*/ 2147483647 w 81"/>
                    <a:gd name="T1" fmla="*/ 2147483647 h 61"/>
                    <a:gd name="T2" fmla="*/ 2147483647 w 81"/>
                    <a:gd name="T3" fmla="*/ 2147483647 h 61"/>
                    <a:gd name="T4" fmla="*/ 2147483647 w 81"/>
                    <a:gd name="T5" fmla="*/ 2147483647 h 61"/>
                    <a:gd name="T6" fmla="*/ 0 w 81"/>
                    <a:gd name="T7" fmla="*/ 2147483647 h 61"/>
                    <a:gd name="T8" fmla="*/ 2147483647 w 81"/>
                    <a:gd name="T9" fmla="*/ 2147483647 h 61"/>
                    <a:gd name="T10" fmla="*/ 2147483647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3" name="Arc 248"/>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4" name="Freeform 249"/>
                <p:cNvSpPr>
                  <a:spLocks/>
                </p:cNvSpPr>
                <p:nvPr/>
              </p:nvSpPr>
              <p:spPr bwMode="auto">
                <a:xfrm>
                  <a:off x="3760" y="511"/>
                  <a:ext cx="159" cy="138"/>
                </a:xfrm>
                <a:custGeom>
                  <a:avLst/>
                  <a:gdLst>
                    <a:gd name="T0" fmla="*/ 2147483647 w 77"/>
                    <a:gd name="T1" fmla="*/ 2147483647 h 60"/>
                    <a:gd name="T2" fmla="*/ 2147483647 w 77"/>
                    <a:gd name="T3" fmla="*/ 2147483647 h 60"/>
                    <a:gd name="T4" fmla="*/ 2147483647 w 77"/>
                    <a:gd name="T5" fmla="*/ 0 h 60"/>
                    <a:gd name="T6" fmla="*/ 0 w 77"/>
                    <a:gd name="T7" fmla="*/ 2147483647 h 60"/>
                    <a:gd name="T8" fmla="*/ 2147483647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5" name="Arc 250"/>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6" name="Freeform 251"/>
                <p:cNvSpPr>
                  <a:spLocks/>
                </p:cNvSpPr>
                <p:nvPr/>
              </p:nvSpPr>
              <p:spPr bwMode="auto">
                <a:xfrm>
                  <a:off x="3706" y="647"/>
                  <a:ext cx="188" cy="201"/>
                </a:xfrm>
                <a:custGeom>
                  <a:avLst/>
                  <a:gdLst>
                    <a:gd name="T0" fmla="*/ 0 w 91"/>
                    <a:gd name="T1" fmla="*/ 2147483647 h 87"/>
                    <a:gd name="T2" fmla="*/ 2147483647 w 91"/>
                    <a:gd name="T3" fmla="*/ 2147483647 h 87"/>
                    <a:gd name="T4" fmla="*/ 2147483647 w 91"/>
                    <a:gd name="T5" fmla="*/ 2147483647 h 87"/>
                    <a:gd name="T6" fmla="*/ 2147483647 w 91"/>
                    <a:gd name="T7" fmla="*/ 0 h 87"/>
                    <a:gd name="T8" fmla="*/ 2147483647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7" name="Arc 252"/>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8" name="Freeform 253"/>
                <p:cNvSpPr>
                  <a:spLocks/>
                </p:cNvSpPr>
                <p:nvPr/>
              </p:nvSpPr>
              <p:spPr bwMode="auto">
                <a:xfrm>
                  <a:off x="3063" y="511"/>
                  <a:ext cx="103" cy="189"/>
                </a:xfrm>
                <a:custGeom>
                  <a:avLst/>
                  <a:gdLst>
                    <a:gd name="T0" fmla="*/ 2147483647 w 50"/>
                    <a:gd name="T1" fmla="*/ 0 h 82"/>
                    <a:gd name="T2" fmla="*/ 2147483647 w 50"/>
                    <a:gd name="T3" fmla="*/ 2147483647 h 82"/>
                    <a:gd name="T4" fmla="*/ 2147483647 w 50"/>
                    <a:gd name="T5" fmla="*/ 2147483647 h 82"/>
                    <a:gd name="T6" fmla="*/ 2147483647 w 50"/>
                    <a:gd name="T7" fmla="*/ 2147483647 h 82"/>
                    <a:gd name="T8" fmla="*/ 2147483647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9" name="Arc 254"/>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00" name="Freeform 255"/>
                <p:cNvSpPr>
                  <a:spLocks/>
                </p:cNvSpPr>
                <p:nvPr/>
              </p:nvSpPr>
              <p:spPr bwMode="auto">
                <a:xfrm>
                  <a:off x="3333" y="770"/>
                  <a:ext cx="380" cy="113"/>
                </a:xfrm>
                <a:custGeom>
                  <a:avLst/>
                  <a:gdLst>
                    <a:gd name="T0" fmla="*/ 0 w 184"/>
                    <a:gd name="T1" fmla="*/ 2147483647 h 49"/>
                    <a:gd name="T2" fmla="*/ 2147483647 w 184"/>
                    <a:gd name="T3" fmla="*/ 2147483647 h 49"/>
                    <a:gd name="T4" fmla="*/ 2147483647 w 184"/>
                    <a:gd name="T5" fmla="*/ 2147483647 h 49"/>
                    <a:gd name="T6" fmla="*/ 2147483647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01" name="Arc 256"/>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grpSp>
        </p:grpSp>
        <p:sp>
          <p:nvSpPr>
            <p:cNvPr id="272" name="Text Box 173"/>
            <p:cNvSpPr txBox="1">
              <a:spLocks noChangeArrowheads="1"/>
            </p:cNvSpPr>
            <p:nvPr/>
          </p:nvSpPr>
          <p:spPr bwMode="auto">
            <a:xfrm>
              <a:off x="8189386" y="2704355"/>
              <a:ext cx="3097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X</a:t>
              </a:r>
            </a:p>
          </p:txBody>
        </p:sp>
      </p:grpSp>
      <p:sp>
        <p:nvSpPr>
          <p:cNvPr id="302" name="Text Box 173"/>
          <p:cNvSpPr txBox="1">
            <a:spLocks noChangeArrowheads="1"/>
          </p:cNvSpPr>
          <p:nvPr/>
        </p:nvSpPr>
        <p:spPr bwMode="auto">
          <a:xfrm>
            <a:off x="2811030" y="2266807"/>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1d</a:t>
            </a:r>
          </a:p>
        </p:txBody>
      </p:sp>
      <p:sp>
        <p:nvSpPr>
          <p:cNvPr id="303" name="Text Box 173"/>
          <p:cNvSpPr txBox="1">
            <a:spLocks noChangeArrowheads="1"/>
          </p:cNvSpPr>
          <p:nvPr/>
        </p:nvSpPr>
        <p:spPr bwMode="auto">
          <a:xfrm>
            <a:off x="5805055" y="2395394"/>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3a</a:t>
            </a:r>
          </a:p>
        </p:txBody>
      </p:sp>
      <p:sp>
        <p:nvSpPr>
          <p:cNvPr id="304" name="Text Box 173"/>
          <p:cNvSpPr txBox="1">
            <a:spLocks noChangeArrowheads="1"/>
          </p:cNvSpPr>
          <p:nvPr/>
        </p:nvSpPr>
        <p:spPr bwMode="auto">
          <a:xfrm>
            <a:off x="3357130" y="1480994"/>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2a</a:t>
            </a:r>
          </a:p>
        </p:txBody>
      </p:sp>
      <p:sp>
        <p:nvSpPr>
          <p:cNvPr id="305" name="Line 169"/>
          <p:cNvSpPr>
            <a:spLocks noChangeShapeType="1"/>
          </p:cNvSpPr>
          <p:nvPr/>
        </p:nvSpPr>
        <p:spPr bwMode="auto">
          <a:xfrm flipV="1">
            <a:off x="1315605" y="2360469"/>
            <a:ext cx="1389063" cy="80963"/>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06"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125105" y="2344594"/>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07"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45830" y="2055669"/>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08" name="Line 169"/>
          <p:cNvSpPr>
            <a:spLocks noChangeShapeType="1"/>
          </p:cNvSpPr>
          <p:nvPr/>
        </p:nvSpPr>
        <p:spPr bwMode="auto">
          <a:xfrm flipH="1" flipV="1">
            <a:off x="1988705" y="2179494"/>
            <a:ext cx="144463" cy="57467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09" name="Line 194"/>
          <p:cNvSpPr>
            <a:spLocks noChangeShapeType="1"/>
          </p:cNvSpPr>
          <p:nvPr/>
        </p:nvSpPr>
        <p:spPr bwMode="auto">
          <a:xfrm flipH="1">
            <a:off x="4581093" y="1530207"/>
            <a:ext cx="288925" cy="649287"/>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10" name="Line 194"/>
          <p:cNvSpPr>
            <a:spLocks noChangeShapeType="1"/>
          </p:cNvSpPr>
          <p:nvPr/>
        </p:nvSpPr>
        <p:spPr bwMode="auto">
          <a:xfrm flipH="1">
            <a:off x="3788930" y="1890569"/>
            <a:ext cx="1657350" cy="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11"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25555" y="1457182"/>
            <a:ext cx="296863"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2"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36630" y="2128694"/>
            <a:ext cx="296863"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13" name="Line 209"/>
          <p:cNvSpPr>
            <a:spLocks noChangeShapeType="1"/>
          </p:cNvSpPr>
          <p:nvPr/>
        </p:nvSpPr>
        <p:spPr bwMode="auto">
          <a:xfrm flipV="1">
            <a:off x="7029018" y="2200132"/>
            <a:ext cx="33337" cy="62706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14" name="Line 209"/>
          <p:cNvSpPr>
            <a:spLocks noChangeShapeType="1"/>
          </p:cNvSpPr>
          <p:nvPr/>
        </p:nvSpPr>
        <p:spPr bwMode="auto">
          <a:xfrm flipV="1">
            <a:off x="6381318" y="2322369"/>
            <a:ext cx="1512887" cy="288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15"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84555" y="2703369"/>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6" name="Picture 4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749743" y="2271569"/>
            <a:ext cx="298450"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7" name="Picture 4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84555" y="2055669"/>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5"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65093" y="1796907"/>
            <a:ext cx="296862"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6"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37993" y="2250932"/>
            <a:ext cx="295275"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7"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365318" y="1798494"/>
            <a:ext cx="296862"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8"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165418" y="2538269"/>
            <a:ext cx="296862"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39" name="Text Box 173"/>
          <p:cNvSpPr txBox="1">
            <a:spLocks noChangeArrowheads="1"/>
          </p:cNvSpPr>
          <p:nvPr/>
        </p:nvSpPr>
        <p:spPr bwMode="auto">
          <a:xfrm>
            <a:off x="1988705" y="2754169"/>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1c</a:t>
            </a:r>
          </a:p>
        </p:txBody>
      </p:sp>
      <p:sp>
        <p:nvSpPr>
          <p:cNvPr id="340" name="Text Box 173"/>
          <p:cNvSpPr txBox="1">
            <a:spLocks noChangeArrowheads="1"/>
          </p:cNvSpPr>
          <p:nvPr/>
        </p:nvSpPr>
        <p:spPr bwMode="auto">
          <a:xfrm>
            <a:off x="1772805" y="1746107"/>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1b</a:t>
            </a:r>
          </a:p>
        </p:txBody>
      </p:sp>
      <p:sp>
        <p:nvSpPr>
          <p:cNvPr id="341" name="Text Box 173"/>
          <p:cNvSpPr txBox="1">
            <a:spLocks noChangeArrowheads="1"/>
          </p:cNvSpPr>
          <p:nvPr/>
        </p:nvSpPr>
        <p:spPr bwMode="auto">
          <a:xfrm>
            <a:off x="837768" y="2035032"/>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1a</a:t>
            </a:r>
          </a:p>
        </p:txBody>
      </p:sp>
      <p:sp>
        <p:nvSpPr>
          <p:cNvPr id="342" name="Text Box 173"/>
          <p:cNvSpPr txBox="1">
            <a:spLocks noChangeArrowheads="1"/>
          </p:cNvSpPr>
          <p:nvPr/>
        </p:nvSpPr>
        <p:spPr bwMode="auto">
          <a:xfrm>
            <a:off x="4509655" y="2179494"/>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2c</a:t>
            </a:r>
          </a:p>
        </p:txBody>
      </p:sp>
      <p:sp>
        <p:nvSpPr>
          <p:cNvPr id="343" name="Text Box 173"/>
          <p:cNvSpPr txBox="1">
            <a:spLocks noChangeArrowheads="1"/>
          </p:cNvSpPr>
          <p:nvPr/>
        </p:nvSpPr>
        <p:spPr bwMode="auto">
          <a:xfrm>
            <a:off x="4870018" y="124286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2b</a:t>
            </a:r>
          </a:p>
        </p:txBody>
      </p:sp>
      <p:sp>
        <p:nvSpPr>
          <p:cNvPr id="344" name="Text Box 173"/>
          <p:cNvSpPr txBox="1">
            <a:spLocks noChangeArrowheads="1"/>
          </p:cNvSpPr>
          <p:nvPr/>
        </p:nvSpPr>
        <p:spPr bwMode="auto">
          <a:xfrm>
            <a:off x="5374843" y="146511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2d</a:t>
            </a:r>
          </a:p>
        </p:txBody>
      </p:sp>
      <p:sp>
        <p:nvSpPr>
          <p:cNvPr id="345" name="Text Box 173"/>
          <p:cNvSpPr txBox="1">
            <a:spLocks noChangeArrowheads="1"/>
          </p:cNvSpPr>
          <p:nvPr/>
        </p:nvSpPr>
        <p:spPr bwMode="auto">
          <a:xfrm>
            <a:off x="7938655" y="210646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3d</a:t>
            </a:r>
          </a:p>
        </p:txBody>
      </p:sp>
      <p:sp>
        <p:nvSpPr>
          <p:cNvPr id="346" name="Text Box 173"/>
          <p:cNvSpPr txBox="1">
            <a:spLocks noChangeArrowheads="1"/>
          </p:cNvSpPr>
          <p:nvPr/>
        </p:nvSpPr>
        <p:spPr bwMode="auto">
          <a:xfrm>
            <a:off x="7173480" y="189056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3b</a:t>
            </a:r>
          </a:p>
        </p:txBody>
      </p:sp>
      <p:sp>
        <p:nvSpPr>
          <p:cNvPr id="347" name="Text Box 173"/>
          <p:cNvSpPr txBox="1">
            <a:spLocks noChangeArrowheads="1"/>
          </p:cNvSpPr>
          <p:nvPr/>
        </p:nvSpPr>
        <p:spPr bwMode="auto">
          <a:xfrm>
            <a:off x="7000443" y="2754169"/>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3c</a:t>
            </a:r>
          </a:p>
        </p:txBody>
      </p:sp>
      <p:sp>
        <p:nvSpPr>
          <p:cNvPr id="348" name="椭圆 273"/>
          <p:cNvSpPr>
            <a:spLocks noChangeArrowheads="1"/>
          </p:cNvSpPr>
          <p:nvPr/>
        </p:nvSpPr>
        <p:spPr bwMode="auto">
          <a:xfrm>
            <a:off x="6152718" y="2420794"/>
            <a:ext cx="100012" cy="100013"/>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349" name="椭圆 274"/>
          <p:cNvSpPr>
            <a:spLocks noChangeArrowheads="1"/>
          </p:cNvSpPr>
          <p:nvPr/>
        </p:nvSpPr>
        <p:spPr bwMode="auto">
          <a:xfrm>
            <a:off x="3504768" y="1893744"/>
            <a:ext cx="100012" cy="100013"/>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350" name="Text Box 173"/>
          <p:cNvSpPr txBox="1">
            <a:spLocks noChangeArrowheads="1"/>
          </p:cNvSpPr>
          <p:nvPr/>
        </p:nvSpPr>
        <p:spPr bwMode="auto">
          <a:xfrm>
            <a:off x="2780868" y="1242869"/>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2a</a:t>
            </a:r>
          </a:p>
        </p:txBody>
      </p:sp>
      <p:sp>
        <p:nvSpPr>
          <p:cNvPr id="351" name="Text Box 173"/>
          <p:cNvSpPr txBox="1">
            <a:spLocks noChangeArrowheads="1"/>
          </p:cNvSpPr>
          <p:nvPr/>
        </p:nvSpPr>
        <p:spPr bwMode="auto">
          <a:xfrm>
            <a:off x="5878080" y="1747694"/>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3a</a:t>
            </a:r>
          </a:p>
        </p:txBody>
      </p:sp>
      <p:cxnSp>
        <p:nvCxnSpPr>
          <p:cNvPr id="352" name="直接箭头连接符 329"/>
          <p:cNvCxnSpPr>
            <a:cxnSpLocks noChangeShapeType="1"/>
            <a:stCxn id="351" idx="2"/>
            <a:endCxn id="348" idx="0"/>
          </p:cNvCxnSpPr>
          <p:nvPr/>
        </p:nvCxnSpPr>
        <p:spPr bwMode="auto">
          <a:xfrm>
            <a:off x="6131515" y="2055471"/>
            <a:ext cx="71209" cy="36532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353" name="直接箭头连接符 329"/>
          <p:cNvCxnSpPr>
            <a:cxnSpLocks noChangeShapeType="1"/>
          </p:cNvCxnSpPr>
          <p:nvPr/>
        </p:nvCxnSpPr>
        <p:spPr bwMode="auto">
          <a:xfrm>
            <a:off x="2996768" y="1530207"/>
            <a:ext cx="504825" cy="385762"/>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354" name="椭圆 273"/>
          <p:cNvSpPr>
            <a:spLocks noChangeArrowheads="1"/>
          </p:cNvSpPr>
          <p:nvPr/>
        </p:nvSpPr>
        <p:spPr bwMode="auto">
          <a:xfrm>
            <a:off x="6781368" y="2760519"/>
            <a:ext cx="100012" cy="100013"/>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355" name="Text Box 173"/>
          <p:cNvSpPr txBox="1">
            <a:spLocks noChangeArrowheads="1"/>
          </p:cNvSpPr>
          <p:nvPr/>
        </p:nvSpPr>
        <p:spPr bwMode="auto">
          <a:xfrm>
            <a:off x="5805055" y="2827194"/>
            <a:ext cx="4968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3c</a:t>
            </a:r>
          </a:p>
        </p:txBody>
      </p:sp>
      <p:cxnSp>
        <p:nvCxnSpPr>
          <p:cNvPr id="356" name="直接箭头连接符 329"/>
          <p:cNvCxnSpPr>
            <a:cxnSpLocks noChangeShapeType="1"/>
          </p:cNvCxnSpPr>
          <p:nvPr/>
        </p:nvCxnSpPr>
        <p:spPr bwMode="auto">
          <a:xfrm flipV="1">
            <a:off x="6167005" y="2866882"/>
            <a:ext cx="654050" cy="12700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154" name="左箭头 153"/>
          <p:cNvSpPr/>
          <p:nvPr/>
        </p:nvSpPr>
        <p:spPr>
          <a:xfrm rot="21414281">
            <a:off x="2214874" y="2288219"/>
            <a:ext cx="235520" cy="94651"/>
          </a:xfrm>
          <a:prstGeom prst="leftArrow">
            <a:avLst/>
          </a:prstGeom>
          <a:solidFill>
            <a:srgbClr val="99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362191905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154"/>
                                        </p:tgtEl>
                                        <p:attrNameLst>
                                          <p:attrName>style.visibility</p:attrName>
                                        </p:attrNameLst>
                                      </p:cBhvr>
                                      <p:to>
                                        <p:strVal val="visible"/>
                                      </p:to>
                                    </p:set>
                                    <p:animEffect transition="in" filter="wipe(right)">
                                      <p:cBhvr>
                                        <p:cTn id="7" dur="1000"/>
                                        <p:tgtEl>
                                          <p:spTgt spid="154"/>
                                        </p:tgtEl>
                                      </p:cBhvr>
                                    </p:animEffect>
                                  </p:childTnLst>
                                </p:cTn>
                              </p:par>
                            </p:childTnLst>
                          </p:cTn>
                        </p:par>
                        <p:par>
                          <p:cTn id="8" fill="hold">
                            <p:stCondLst>
                              <p:cond delay="1000"/>
                            </p:stCondLst>
                            <p:childTnLst>
                              <p:par>
                                <p:cTn id="9" presetID="22" presetClass="entr" presetSubtype="1" fill="hold" grpId="0" nodeType="afterEffect">
                                  <p:stCondLst>
                                    <p:cond delay="0"/>
                                  </p:stCondLst>
                                  <p:childTnLst>
                                    <p:set>
                                      <p:cBhvr>
                                        <p:cTn id="10" dur="1" fill="hold">
                                          <p:stCondLst>
                                            <p:cond delay="0"/>
                                          </p:stCondLst>
                                        </p:cTn>
                                        <p:tgtEl>
                                          <p:spTgt spid="365"/>
                                        </p:tgtEl>
                                        <p:attrNameLst>
                                          <p:attrName>style.visibility</p:attrName>
                                        </p:attrNameLst>
                                      </p:cBhvr>
                                      <p:to>
                                        <p:strVal val="visible"/>
                                      </p:to>
                                    </p:set>
                                    <p:animEffect transition="in" filter="wipe(up)">
                                      <p:cBhvr>
                                        <p:cTn id="11" dur="500"/>
                                        <p:tgtEl>
                                          <p:spTgt spid="3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5" grpId="0"/>
      <p:bldP spid="154" grpId="0" animBg="1"/>
    </p:bld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 name="圆角矩形 153"/>
          <p:cNvSpPr/>
          <p:nvPr/>
        </p:nvSpPr>
        <p:spPr>
          <a:xfrm>
            <a:off x="545145" y="1052857"/>
            <a:ext cx="8053712" cy="215216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p:cNvSpPr>
            <a:spLocks noChangeArrowheads="1"/>
          </p:cNvSpPr>
          <p:nvPr/>
        </p:nvSpPr>
        <p:spPr bwMode="auto">
          <a:xfrm>
            <a:off x="545144" y="615845"/>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2634"/>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三种不同的自治系统 </a:t>
            </a:r>
            <a:r>
              <a:rPr lang="en-US" altLang="zh-CN" sz="2000" b="1" dirty="0">
                <a:solidFill>
                  <a:schemeClr val="bg1"/>
                </a:solidFill>
                <a:latin typeface="微软雅黑" pitchFamily="34" charset="-122"/>
                <a:ea typeface="微软雅黑" pitchFamily="34" charset="-122"/>
              </a:rPr>
              <a:t>AS</a:t>
            </a:r>
            <a:endParaRPr lang="zh-CN" altLang="en-US" sz="2000" b="1" dirty="0">
              <a:solidFill>
                <a:schemeClr val="bg1"/>
              </a:solidFill>
              <a:latin typeface="微软雅黑" pitchFamily="34" charset="-122"/>
              <a:ea typeface="微软雅黑" pitchFamily="34" charset="-122"/>
            </a:endParaRPr>
          </a:p>
        </p:txBody>
      </p:sp>
      <p:sp>
        <p:nvSpPr>
          <p:cNvPr id="197" name="矩形 196"/>
          <p:cNvSpPr/>
          <p:nvPr/>
        </p:nvSpPr>
        <p:spPr>
          <a:xfrm>
            <a:off x="631134" y="3226779"/>
            <a:ext cx="8125998" cy="1426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nSpc>
                <a:spcPts val="2600"/>
              </a:lnSpc>
            </a:pPr>
            <a:r>
              <a:rPr kumimoji="1" lang="zh-CN" altLang="en-US" sz="1600" b="1" kern="500" dirty="0">
                <a:solidFill>
                  <a:srgbClr val="990099"/>
                </a:solidFill>
                <a:latin typeface="微软雅黑" panose="020B0503020204020204" pitchFamily="34" charset="-122"/>
                <a:ea typeface="微软雅黑" panose="020B0503020204020204" pitchFamily="34" charset="-122"/>
              </a:rPr>
              <a:t>末梢 </a:t>
            </a:r>
            <a:r>
              <a:rPr kumimoji="1" lang="en-US" altLang="zh-CN" sz="1600" b="1" kern="500" dirty="0">
                <a:solidFill>
                  <a:srgbClr val="990099"/>
                </a:solidFill>
                <a:latin typeface="微软雅黑" panose="020B0503020204020204" pitchFamily="34" charset="-122"/>
                <a:ea typeface="微软雅黑" panose="020B0503020204020204" pitchFamily="34" charset="-122"/>
              </a:rPr>
              <a:t>AS</a:t>
            </a:r>
            <a:r>
              <a:rPr kumimoji="1" lang="zh-CN" altLang="en-US" sz="1600" b="1" kern="500" dirty="0">
                <a:latin typeface="微软雅黑" panose="020B0503020204020204" pitchFamily="34" charset="-122"/>
                <a:ea typeface="微软雅黑" panose="020B0503020204020204" pitchFamily="34" charset="-122"/>
              </a:rPr>
              <a:t>：不会把来自其他 </a:t>
            </a:r>
            <a:r>
              <a:rPr kumimoji="1" lang="en-US" altLang="zh-CN" sz="1600" b="1" kern="500" dirty="0">
                <a:latin typeface="微软雅黑" panose="020B0503020204020204" pitchFamily="34" charset="-122"/>
                <a:ea typeface="微软雅黑" panose="020B0503020204020204" pitchFamily="34" charset="-122"/>
              </a:rPr>
              <a:t>AS </a:t>
            </a:r>
            <a:r>
              <a:rPr kumimoji="1" lang="zh-CN" altLang="en-US" sz="1600" b="1" kern="500" dirty="0">
                <a:latin typeface="微软雅黑" panose="020B0503020204020204" pitchFamily="34" charset="-122"/>
                <a:ea typeface="微软雅黑" panose="020B0503020204020204" pitchFamily="34" charset="-122"/>
              </a:rPr>
              <a:t>的分组再转发到另一个 </a:t>
            </a:r>
            <a:r>
              <a:rPr kumimoji="1" lang="en-US" altLang="zh-CN" sz="1600" b="1" kern="500" dirty="0">
                <a:latin typeface="微软雅黑" panose="020B0503020204020204" pitchFamily="34" charset="-122"/>
                <a:ea typeface="微软雅黑" panose="020B0503020204020204" pitchFamily="34" charset="-122"/>
              </a:rPr>
              <a:t>AS</a:t>
            </a:r>
            <a:r>
              <a:rPr kumimoji="1" lang="zh-CN" altLang="en-US" sz="1600" b="1" kern="500" dirty="0">
                <a:latin typeface="微软雅黑" panose="020B0503020204020204" pitchFamily="34" charset="-122"/>
                <a:ea typeface="微软雅黑" panose="020B0503020204020204" pitchFamily="34" charset="-122"/>
              </a:rPr>
              <a:t>。必须向所连接的 </a:t>
            </a:r>
            <a:r>
              <a:rPr kumimoji="1" lang="en-US" altLang="zh-CN" sz="1600" b="1" kern="500" dirty="0">
                <a:latin typeface="微软雅黑" panose="020B0503020204020204" pitchFamily="34" charset="-122"/>
                <a:ea typeface="微软雅黑" panose="020B0503020204020204" pitchFamily="34" charset="-122"/>
              </a:rPr>
              <a:t>AS </a:t>
            </a:r>
            <a:r>
              <a:rPr kumimoji="1" lang="zh-CN" altLang="en-US" sz="1600" b="1" kern="500" dirty="0">
                <a:latin typeface="微软雅黑" panose="020B0503020204020204" pitchFamily="34" charset="-122"/>
                <a:ea typeface="微软雅黑" panose="020B0503020204020204" pitchFamily="34" charset="-122"/>
              </a:rPr>
              <a:t>付费。</a:t>
            </a:r>
            <a:endParaRPr kumimoji="1" lang="en-US" altLang="zh-CN" sz="1600" b="1" kern="500" dirty="0">
              <a:latin typeface="微软雅黑" panose="020B0503020204020204" pitchFamily="34" charset="-122"/>
              <a:ea typeface="微软雅黑" panose="020B0503020204020204" pitchFamily="34" charset="-122"/>
            </a:endParaRPr>
          </a:p>
          <a:p>
            <a:pPr>
              <a:lnSpc>
                <a:spcPts val="2600"/>
              </a:lnSpc>
            </a:pPr>
            <a:r>
              <a:rPr kumimoji="1" lang="zh-CN" altLang="en-US" sz="1600" b="1" kern="500" dirty="0">
                <a:solidFill>
                  <a:srgbClr val="660033"/>
                </a:solidFill>
                <a:latin typeface="微软雅黑" panose="020B0503020204020204" pitchFamily="34" charset="-122"/>
                <a:ea typeface="微软雅黑" panose="020B0503020204020204" pitchFamily="34" charset="-122"/>
              </a:rPr>
              <a:t>多归属 </a:t>
            </a:r>
            <a:r>
              <a:rPr kumimoji="1" lang="en-US" altLang="zh-CN" sz="1600" b="1" kern="500" dirty="0">
                <a:solidFill>
                  <a:srgbClr val="660033"/>
                </a:solidFill>
                <a:latin typeface="微软雅黑" panose="020B0503020204020204" pitchFamily="34" charset="-122"/>
                <a:ea typeface="微软雅黑" panose="020B0503020204020204" pitchFamily="34" charset="-122"/>
              </a:rPr>
              <a:t>AS </a:t>
            </a:r>
            <a:r>
              <a:rPr kumimoji="1" lang="en-US" altLang="zh-CN" sz="1600" b="1" kern="500" dirty="0">
                <a:latin typeface="微软雅黑" panose="020B0503020204020204" pitchFamily="34" charset="-122"/>
                <a:ea typeface="微软雅黑" panose="020B0503020204020204" pitchFamily="34" charset="-122"/>
              </a:rPr>
              <a:t>(</a:t>
            </a:r>
            <a:r>
              <a:rPr kumimoji="1" lang="en-US" altLang="zh-CN" sz="1600" b="1" kern="500" dirty="0" err="1">
                <a:latin typeface="微软雅黑" panose="020B0503020204020204" pitchFamily="34" charset="-122"/>
                <a:ea typeface="微软雅黑" panose="020B0503020204020204" pitchFamily="34" charset="-122"/>
              </a:rPr>
              <a:t>multihomed</a:t>
            </a:r>
            <a:r>
              <a:rPr kumimoji="1" lang="en-US" altLang="zh-CN" sz="1600" b="1" kern="500" dirty="0">
                <a:latin typeface="微软雅黑" panose="020B0503020204020204" pitchFamily="34" charset="-122"/>
                <a:ea typeface="微软雅黑" panose="020B0503020204020204" pitchFamily="34" charset="-122"/>
              </a:rPr>
              <a:t> AS)</a:t>
            </a:r>
            <a:r>
              <a:rPr kumimoji="1" lang="zh-CN" altLang="en-US" sz="1600" b="1" kern="500" dirty="0">
                <a:latin typeface="微软雅黑" panose="020B0503020204020204" pitchFamily="34" charset="-122"/>
                <a:ea typeface="微软雅黑" panose="020B0503020204020204" pitchFamily="34" charset="-122"/>
              </a:rPr>
              <a:t>：同时连接到两个或两个以上的 </a:t>
            </a:r>
            <a:r>
              <a:rPr kumimoji="1" lang="en-US" altLang="zh-CN" sz="1600" b="1" kern="500" dirty="0">
                <a:latin typeface="微软雅黑" panose="020B0503020204020204" pitchFamily="34" charset="-122"/>
                <a:ea typeface="微软雅黑" panose="020B0503020204020204" pitchFamily="34" charset="-122"/>
              </a:rPr>
              <a:t>AS</a:t>
            </a:r>
            <a:r>
              <a:rPr kumimoji="1" lang="zh-CN" altLang="en-US" sz="1600" b="1" kern="500" dirty="0">
                <a:latin typeface="微软雅黑" panose="020B0503020204020204" pitchFamily="34" charset="-122"/>
                <a:ea typeface="微软雅黑" panose="020B0503020204020204" pitchFamily="34" charset="-122"/>
              </a:rPr>
              <a:t>。增加连接的可靠性。</a:t>
            </a:r>
            <a:endParaRPr kumimoji="1" lang="en-US" altLang="zh-CN" sz="1600" b="1" kern="500" dirty="0">
              <a:latin typeface="微软雅黑" panose="020B0503020204020204" pitchFamily="34" charset="-122"/>
              <a:ea typeface="微软雅黑" panose="020B0503020204020204" pitchFamily="34" charset="-122"/>
            </a:endParaRPr>
          </a:p>
          <a:p>
            <a:pPr>
              <a:lnSpc>
                <a:spcPts val="2600"/>
              </a:lnSpc>
            </a:pPr>
            <a:r>
              <a:rPr kumimoji="1" lang="zh-CN" altLang="en-US" sz="1600" b="1" kern="500" dirty="0">
                <a:solidFill>
                  <a:srgbClr val="0000FF"/>
                </a:solidFill>
                <a:latin typeface="微软雅黑" panose="020B0503020204020204" pitchFamily="34" charset="-122"/>
                <a:ea typeface="微软雅黑" panose="020B0503020204020204" pitchFamily="34" charset="-122"/>
              </a:rPr>
              <a:t>穿越 </a:t>
            </a:r>
            <a:r>
              <a:rPr kumimoji="1" lang="en-US" altLang="zh-CN" sz="1600" b="1" kern="500" dirty="0">
                <a:solidFill>
                  <a:srgbClr val="0000FF"/>
                </a:solidFill>
                <a:latin typeface="微软雅黑" panose="020B0503020204020204" pitchFamily="34" charset="-122"/>
                <a:ea typeface="微软雅黑" panose="020B0503020204020204" pitchFamily="34" charset="-122"/>
              </a:rPr>
              <a:t>AS</a:t>
            </a:r>
            <a:r>
              <a:rPr kumimoji="1" lang="zh-CN" altLang="en-US" sz="1600" b="1" kern="500" dirty="0">
                <a:latin typeface="微软雅黑" panose="020B0503020204020204" pitchFamily="34" charset="-122"/>
                <a:ea typeface="微软雅黑" panose="020B0503020204020204" pitchFamily="34" charset="-122"/>
              </a:rPr>
              <a:t>：为其他 </a:t>
            </a:r>
            <a:r>
              <a:rPr kumimoji="1" lang="en-US" altLang="zh-CN" sz="1600" b="1" kern="500" dirty="0">
                <a:latin typeface="微软雅黑" panose="020B0503020204020204" pitchFamily="34" charset="-122"/>
                <a:ea typeface="微软雅黑" panose="020B0503020204020204" pitchFamily="34" charset="-122"/>
              </a:rPr>
              <a:t>AS </a:t>
            </a:r>
            <a:r>
              <a:rPr kumimoji="1" lang="zh-CN" altLang="en-US" sz="1600" b="1" kern="500" dirty="0">
                <a:latin typeface="微软雅黑" panose="020B0503020204020204" pitchFamily="34" charset="-122"/>
                <a:ea typeface="微软雅黑" panose="020B0503020204020204" pitchFamily="34" charset="-122"/>
              </a:rPr>
              <a:t>有偿转发分组。</a:t>
            </a:r>
            <a:endParaRPr kumimoji="1" lang="en-US" altLang="zh-CN" sz="1600" b="1" kern="500" dirty="0">
              <a:latin typeface="微软雅黑" panose="020B0503020204020204" pitchFamily="34" charset="-122"/>
              <a:ea typeface="微软雅黑" panose="020B0503020204020204" pitchFamily="34" charset="-122"/>
            </a:endParaRPr>
          </a:p>
          <a:p>
            <a:pPr>
              <a:lnSpc>
                <a:spcPts val="2600"/>
              </a:lnSpc>
            </a:pPr>
            <a:r>
              <a:rPr kumimoji="1" lang="zh-CN" altLang="en-US" sz="1600" b="1" kern="500" dirty="0">
                <a:solidFill>
                  <a:srgbClr val="C00000"/>
                </a:solidFill>
                <a:latin typeface="微软雅黑" panose="020B0503020204020204" pitchFamily="34" charset="-122"/>
                <a:ea typeface="微软雅黑" panose="020B0503020204020204" pitchFamily="34" charset="-122"/>
              </a:rPr>
              <a:t>对等 </a:t>
            </a:r>
            <a:r>
              <a:rPr kumimoji="1" lang="en-US" altLang="zh-CN" sz="1600" b="1" kern="500" dirty="0">
                <a:solidFill>
                  <a:srgbClr val="C00000"/>
                </a:solidFill>
                <a:latin typeface="微软雅黑" panose="020B0503020204020204" pitchFamily="34" charset="-122"/>
                <a:ea typeface="微软雅黑" panose="020B0503020204020204" pitchFamily="34" charset="-122"/>
              </a:rPr>
              <a:t>AS</a:t>
            </a:r>
            <a:r>
              <a:rPr kumimoji="1" lang="zh-CN" altLang="en-US" sz="1600" b="1" kern="500" dirty="0">
                <a:latin typeface="微软雅黑" panose="020B0503020204020204" pitchFamily="34" charset="-122"/>
                <a:ea typeface="微软雅黑" panose="020B0503020204020204" pitchFamily="34" charset="-122"/>
              </a:rPr>
              <a:t>：经过事先协商的两个 </a:t>
            </a:r>
            <a:r>
              <a:rPr kumimoji="1" lang="en-US" altLang="zh-CN" sz="1600" b="1" kern="500" dirty="0">
                <a:latin typeface="微软雅黑" panose="020B0503020204020204" pitchFamily="34" charset="-122"/>
                <a:ea typeface="微软雅黑" panose="020B0503020204020204" pitchFamily="34" charset="-122"/>
              </a:rPr>
              <a:t>AS</a:t>
            </a:r>
            <a:r>
              <a:rPr kumimoji="1" lang="zh-CN" altLang="en-US" sz="1600" b="1" kern="500" dirty="0">
                <a:latin typeface="微软雅黑" panose="020B0503020204020204" pitchFamily="34" charset="-122"/>
                <a:ea typeface="微软雅黑" panose="020B0503020204020204" pitchFamily="34" charset="-122"/>
              </a:rPr>
              <a:t>，彼此之间的发送或接收分组都不收费。</a:t>
            </a:r>
            <a:endParaRPr kumimoji="1" lang="en-US" altLang="zh-CN" sz="1600" b="1" kern="500" dirty="0">
              <a:latin typeface="微软雅黑" panose="020B0503020204020204" pitchFamily="34" charset="-122"/>
              <a:ea typeface="微软雅黑" panose="020B0503020204020204" pitchFamily="34" charset="-122"/>
            </a:endParaRPr>
          </a:p>
        </p:txBody>
      </p:sp>
      <p:grpSp>
        <p:nvGrpSpPr>
          <p:cNvPr id="200" name="组合 199"/>
          <p:cNvGrpSpPr/>
          <p:nvPr/>
        </p:nvGrpSpPr>
        <p:grpSpPr>
          <a:xfrm>
            <a:off x="1115438" y="1127761"/>
            <a:ext cx="6892484" cy="1955886"/>
            <a:chOff x="1115438" y="1127761"/>
            <a:chExt cx="6892484" cy="1955886"/>
          </a:xfrm>
        </p:grpSpPr>
        <p:sp>
          <p:nvSpPr>
            <p:cNvPr id="5" name="Line 154"/>
            <p:cNvSpPr>
              <a:spLocks noChangeShapeType="1"/>
            </p:cNvSpPr>
            <p:nvPr/>
          </p:nvSpPr>
          <p:spPr bwMode="auto">
            <a:xfrm flipV="1">
              <a:off x="4635971" y="1495571"/>
              <a:ext cx="1237138" cy="5435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 name="Line 154"/>
            <p:cNvSpPr>
              <a:spLocks noChangeShapeType="1"/>
            </p:cNvSpPr>
            <p:nvPr/>
          </p:nvSpPr>
          <p:spPr bwMode="auto">
            <a:xfrm>
              <a:off x="2553503" y="1440011"/>
              <a:ext cx="1106535" cy="10991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 name="Line 154"/>
            <p:cNvSpPr>
              <a:spLocks noChangeShapeType="1"/>
            </p:cNvSpPr>
            <p:nvPr/>
          </p:nvSpPr>
          <p:spPr bwMode="auto">
            <a:xfrm>
              <a:off x="2682671" y="2316896"/>
              <a:ext cx="1367740" cy="5483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 name="Line 154"/>
            <p:cNvSpPr>
              <a:spLocks noChangeShapeType="1"/>
            </p:cNvSpPr>
            <p:nvPr/>
          </p:nvSpPr>
          <p:spPr bwMode="auto">
            <a:xfrm flipV="1">
              <a:off x="2292298" y="2316896"/>
              <a:ext cx="66019" cy="49279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 name="Line 154"/>
            <p:cNvSpPr>
              <a:spLocks noChangeShapeType="1"/>
            </p:cNvSpPr>
            <p:nvPr/>
          </p:nvSpPr>
          <p:spPr bwMode="auto">
            <a:xfrm flipH="1" flipV="1">
              <a:off x="5937693" y="2372456"/>
              <a:ext cx="66019" cy="43723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154"/>
            <p:cNvSpPr>
              <a:spLocks noChangeShapeType="1"/>
            </p:cNvSpPr>
            <p:nvPr/>
          </p:nvSpPr>
          <p:spPr bwMode="auto">
            <a:xfrm flipV="1">
              <a:off x="4310182" y="2316896"/>
              <a:ext cx="1432325" cy="5483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155"/>
            <p:cNvSpPr>
              <a:spLocks noChangeShapeType="1"/>
            </p:cNvSpPr>
            <p:nvPr/>
          </p:nvSpPr>
          <p:spPr bwMode="auto">
            <a:xfrm>
              <a:off x="4716342" y="1607131"/>
              <a:ext cx="961581" cy="49114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154"/>
            <p:cNvSpPr>
              <a:spLocks noChangeShapeType="1"/>
            </p:cNvSpPr>
            <p:nvPr/>
          </p:nvSpPr>
          <p:spPr bwMode="auto">
            <a:xfrm flipV="1">
              <a:off x="2553503" y="1604276"/>
              <a:ext cx="1040516" cy="49400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40" name="Group 206"/>
            <p:cNvGrpSpPr>
              <a:grpSpLocks/>
            </p:cNvGrpSpPr>
            <p:nvPr/>
          </p:nvGrpSpPr>
          <p:grpSpPr bwMode="auto">
            <a:xfrm>
              <a:off x="3203646" y="1274539"/>
              <a:ext cx="1758114" cy="602707"/>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41"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2"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3"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50" name="Group 216"/>
              <p:cNvGrpSpPr>
                <a:grpSpLocks/>
              </p:cNvGrpSpPr>
              <p:nvPr/>
            </p:nvGrpSpPr>
            <p:grpSpPr bwMode="auto">
              <a:xfrm>
                <a:off x="912" y="768"/>
                <a:ext cx="2386" cy="1553"/>
                <a:chOff x="912" y="768"/>
                <a:chExt cx="2386" cy="1553"/>
              </a:xfrm>
              <a:grpFill/>
            </p:grpSpPr>
            <p:sp>
              <p:nvSpPr>
                <p:cNvPr id="51"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3"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6"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80" name="Text Box 173"/>
            <p:cNvSpPr txBox="1">
              <a:spLocks noChangeArrowheads="1"/>
            </p:cNvSpPr>
            <p:nvPr/>
          </p:nvSpPr>
          <p:spPr bwMode="auto">
            <a:xfrm>
              <a:off x="3912602" y="1360763"/>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1</a:t>
              </a:r>
            </a:p>
          </p:txBody>
        </p:sp>
        <p:cxnSp>
          <p:nvCxnSpPr>
            <p:cNvPr id="83" name="直接箭头连接符 329"/>
            <p:cNvCxnSpPr>
              <a:cxnSpLocks noChangeShapeType="1"/>
            </p:cNvCxnSpPr>
            <p:nvPr/>
          </p:nvCxnSpPr>
          <p:spPr bwMode="auto">
            <a:xfrm flipV="1">
              <a:off x="2928089" y="2093802"/>
              <a:ext cx="2419739" cy="7247"/>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grpSp>
          <p:nvGrpSpPr>
            <p:cNvPr id="84" name="Group 206"/>
            <p:cNvGrpSpPr>
              <a:grpSpLocks/>
            </p:cNvGrpSpPr>
            <p:nvPr/>
          </p:nvGrpSpPr>
          <p:grpSpPr bwMode="auto">
            <a:xfrm>
              <a:off x="1901925" y="2700986"/>
              <a:ext cx="650143" cy="328530"/>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85"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1"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2"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3"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94" name="Group 216"/>
              <p:cNvGrpSpPr>
                <a:grpSpLocks/>
              </p:cNvGrpSpPr>
              <p:nvPr/>
            </p:nvGrpSpPr>
            <p:grpSpPr bwMode="auto">
              <a:xfrm>
                <a:off x="912" y="768"/>
                <a:ext cx="2386" cy="1553"/>
                <a:chOff x="912" y="768"/>
                <a:chExt cx="2386" cy="1553"/>
              </a:xfrm>
              <a:grpFill/>
            </p:grpSpPr>
            <p:sp>
              <p:nvSpPr>
                <p:cNvPr id="95"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6"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7"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8"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9"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0"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1"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2"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3"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04" name="Group 206"/>
            <p:cNvGrpSpPr>
              <a:grpSpLocks/>
            </p:cNvGrpSpPr>
            <p:nvPr/>
          </p:nvGrpSpPr>
          <p:grpSpPr bwMode="auto">
            <a:xfrm>
              <a:off x="3789206" y="2700986"/>
              <a:ext cx="651579" cy="328530"/>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05"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6"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7"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8"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9"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0"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1"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2"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3"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14" name="Group 216"/>
              <p:cNvGrpSpPr>
                <a:grpSpLocks/>
              </p:cNvGrpSpPr>
              <p:nvPr/>
            </p:nvGrpSpPr>
            <p:grpSpPr bwMode="auto">
              <a:xfrm>
                <a:off x="912" y="768"/>
                <a:ext cx="2386" cy="1553"/>
                <a:chOff x="912" y="768"/>
                <a:chExt cx="2386" cy="1553"/>
              </a:xfrm>
              <a:grpFill/>
            </p:grpSpPr>
            <p:sp>
              <p:nvSpPr>
                <p:cNvPr id="115"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6"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7"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8"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9"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0"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1"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2"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3"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4" name="Group 206"/>
            <p:cNvGrpSpPr>
              <a:grpSpLocks/>
            </p:cNvGrpSpPr>
            <p:nvPr/>
          </p:nvGrpSpPr>
          <p:grpSpPr bwMode="auto">
            <a:xfrm>
              <a:off x="5677923" y="2700986"/>
              <a:ext cx="650144" cy="328530"/>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25"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6"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7"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8"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9"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0"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1"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2"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3"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34" name="Group 216"/>
              <p:cNvGrpSpPr>
                <a:grpSpLocks/>
              </p:cNvGrpSpPr>
              <p:nvPr/>
            </p:nvGrpSpPr>
            <p:grpSpPr bwMode="auto">
              <a:xfrm>
                <a:off x="912" y="768"/>
                <a:ext cx="2386" cy="1553"/>
                <a:chOff x="912" y="768"/>
                <a:chExt cx="2386" cy="1553"/>
              </a:xfrm>
              <a:grpFill/>
            </p:grpSpPr>
            <p:sp>
              <p:nvSpPr>
                <p:cNvPr id="135"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6"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7"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8"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9"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0"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1"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2"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3"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144" name="Text Box 174"/>
            <p:cNvSpPr txBox="1">
              <a:spLocks noChangeArrowheads="1"/>
            </p:cNvSpPr>
            <p:nvPr/>
          </p:nvSpPr>
          <p:spPr bwMode="auto">
            <a:xfrm>
              <a:off x="5792738" y="2695445"/>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6</a:t>
              </a:r>
            </a:p>
          </p:txBody>
        </p:sp>
        <p:sp>
          <p:nvSpPr>
            <p:cNvPr id="145" name="Text Box 174"/>
            <p:cNvSpPr txBox="1">
              <a:spLocks noChangeArrowheads="1"/>
            </p:cNvSpPr>
            <p:nvPr/>
          </p:nvSpPr>
          <p:spPr bwMode="auto">
            <a:xfrm>
              <a:off x="3885921" y="2711857"/>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5</a:t>
              </a:r>
            </a:p>
          </p:txBody>
        </p:sp>
        <p:sp>
          <p:nvSpPr>
            <p:cNvPr id="146" name="Text Box 174"/>
            <p:cNvSpPr txBox="1">
              <a:spLocks noChangeArrowheads="1"/>
            </p:cNvSpPr>
            <p:nvPr/>
          </p:nvSpPr>
          <p:spPr bwMode="auto">
            <a:xfrm>
              <a:off x="1992899" y="2716333"/>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4</a:t>
              </a:r>
            </a:p>
          </p:txBody>
        </p:sp>
        <p:sp>
          <p:nvSpPr>
            <p:cNvPr id="147" name="Text Box 173"/>
            <p:cNvSpPr txBox="1">
              <a:spLocks noChangeArrowheads="1"/>
            </p:cNvSpPr>
            <p:nvPr/>
          </p:nvSpPr>
          <p:spPr bwMode="auto">
            <a:xfrm>
              <a:off x="3247748" y="1929035"/>
              <a:ext cx="1846074" cy="294793"/>
            </a:xfrm>
            <a:prstGeom prst="rect">
              <a:avLst/>
            </a:prstGeom>
            <a:solidFill>
              <a:srgbClr val="C3E3F9"/>
            </a:solidFill>
            <a:ln>
              <a:noFill/>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对等 </a:t>
              </a:r>
              <a:r>
                <a:rPr lang="en-US" altLang="zh-CN" sz="1200" b="1" dirty="0">
                  <a:solidFill>
                    <a:srgbClr val="C00000"/>
                  </a:solidFill>
                  <a:latin typeface="微软雅黑" panose="020B0503020204020204" pitchFamily="34" charset="-122"/>
                  <a:ea typeface="微软雅黑" panose="020B0503020204020204" pitchFamily="34" charset="-122"/>
                </a:rPr>
                <a:t>AS</a:t>
              </a:r>
              <a:r>
                <a:rPr lang="en-US" altLang="zh-CN" sz="1200" b="1" dirty="0">
                  <a:latin typeface="微软雅黑" panose="020B0503020204020204" pitchFamily="34" charset="-122"/>
                  <a:ea typeface="微软雅黑" panose="020B0503020204020204" pitchFamily="34" charset="-122"/>
                </a:rPr>
                <a:t> (Peering AS)</a:t>
              </a:r>
            </a:p>
          </p:txBody>
        </p:sp>
        <p:sp>
          <p:nvSpPr>
            <p:cNvPr id="148" name="Text Box 173"/>
            <p:cNvSpPr txBox="1">
              <a:spLocks noChangeArrowheads="1"/>
            </p:cNvSpPr>
            <p:nvPr/>
          </p:nvSpPr>
          <p:spPr bwMode="auto">
            <a:xfrm>
              <a:off x="4352328" y="1127761"/>
              <a:ext cx="2124745"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solidFill>
                    <a:srgbClr val="0000FF"/>
                  </a:solidFill>
                  <a:latin typeface="微软雅黑" panose="020B0503020204020204" pitchFamily="34" charset="-122"/>
                  <a:ea typeface="微软雅黑" panose="020B0503020204020204" pitchFamily="34" charset="-122"/>
                </a:rPr>
                <a:t>穿越 </a:t>
              </a:r>
              <a:r>
                <a:rPr lang="en-US" altLang="zh-CN" sz="1400" b="1" dirty="0">
                  <a:solidFill>
                    <a:srgbClr val="0000FF"/>
                  </a:solidFill>
                  <a:latin typeface="微软雅黑" panose="020B0503020204020204" pitchFamily="34" charset="-122"/>
                  <a:ea typeface="微软雅黑" panose="020B0503020204020204" pitchFamily="34" charset="-122"/>
                </a:rPr>
                <a:t>AS </a:t>
              </a:r>
              <a:r>
                <a:rPr lang="en-US" altLang="zh-CN" sz="1400" b="1" dirty="0">
                  <a:latin typeface="微软雅黑" panose="020B0503020204020204" pitchFamily="34" charset="-122"/>
                  <a:ea typeface="微软雅黑" panose="020B0503020204020204" pitchFamily="34" charset="-122"/>
                </a:rPr>
                <a:t>(transit AS)</a:t>
              </a:r>
            </a:p>
          </p:txBody>
        </p:sp>
        <p:sp>
          <p:nvSpPr>
            <p:cNvPr id="149" name="Text Box 173"/>
            <p:cNvSpPr txBox="1">
              <a:spLocks noChangeArrowheads="1"/>
            </p:cNvSpPr>
            <p:nvPr/>
          </p:nvSpPr>
          <p:spPr bwMode="auto">
            <a:xfrm>
              <a:off x="1115438" y="2740845"/>
              <a:ext cx="8467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solidFill>
                    <a:srgbClr val="990099"/>
                  </a:solidFill>
                  <a:latin typeface="微软雅黑" panose="020B0503020204020204" pitchFamily="34" charset="-122"/>
                  <a:ea typeface="微软雅黑" panose="020B0503020204020204" pitchFamily="34" charset="-122"/>
                </a:rPr>
                <a:t>末梢 </a:t>
              </a:r>
              <a:r>
                <a:rPr lang="en-US" altLang="zh-CN" sz="1400" b="1" dirty="0">
                  <a:solidFill>
                    <a:srgbClr val="990099"/>
                  </a:solidFill>
                  <a:latin typeface="微软雅黑" panose="020B0503020204020204" pitchFamily="34" charset="-122"/>
                  <a:ea typeface="微软雅黑" panose="020B0503020204020204" pitchFamily="34" charset="-122"/>
                </a:rPr>
                <a:t>AS</a:t>
              </a:r>
            </a:p>
          </p:txBody>
        </p:sp>
        <p:sp>
          <p:nvSpPr>
            <p:cNvPr id="150" name="Text Box 173"/>
            <p:cNvSpPr txBox="1">
              <a:spLocks noChangeArrowheads="1"/>
            </p:cNvSpPr>
            <p:nvPr/>
          </p:nvSpPr>
          <p:spPr bwMode="auto">
            <a:xfrm>
              <a:off x="6274779" y="2727557"/>
              <a:ext cx="1733143"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solidFill>
                    <a:srgbClr val="990099"/>
                  </a:solidFill>
                  <a:latin typeface="微软雅黑" panose="020B0503020204020204" pitchFamily="34" charset="-122"/>
                  <a:ea typeface="微软雅黑" panose="020B0503020204020204" pitchFamily="34" charset="-122"/>
                </a:rPr>
                <a:t>末梢 </a:t>
              </a:r>
              <a:r>
                <a:rPr lang="en-US" altLang="zh-CN" sz="1400" b="1" dirty="0">
                  <a:solidFill>
                    <a:srgbClr val="990099"/>
                  </a:solidFill>
                  <a:latin typeface="微软雅黑" panose="020B0503020204020204" pitchFamily="34" charset="-122"/>
                  <a:ea typeface="微软雅黑" panose="020B0503020204020204" pitchFamily="34" charset="-122"/>
                </a:rPr>
                <a:t>AS </a:t>
              </a:r>
              <a:r>
                <a:rPr lang="en-US" altLang="zh-CN" sz="1400" b="1" dirty="0">
                  <a:latin typeface="微软雅黑" panose="020B0503020204020204" pitchFamily="34" charset="-122"/>
                  <a:ea typeface="微软雅黑" panose="020B0503020204020204" pitchFamily="34" charset="-122"/>
                </a:rPr>
                <a:t>(stub AS)</a:t>
              </a:r>
            </a:p>
          </p:txBody>
        </p:sp>
        <p:sp>
          <p:nvSpPr>
            <p:cNvPr id="151" name="Text Box 173"/>
            <p:cNvSpPr txBox="1">
              <a:spLocks noChangeArrowheads="1"/>
            </p:cNvSpPr>
            <p:nvPr/>
          </p:nvSpPr>
          <p:spPr bwMode="auto">
            <a:xfrm>
              <a:off x="3016030" y="2775870"/>
              <a:ext cx="8467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solidFill>
                    <a:srgbClr val="990099"/>
                  </a:solidFill>
                  <a:latin typeface="微软雅黑" panose="020B0503020204020204" pitchFamily="34" charset="-122"/>
                  <a:ea typeface="微软雅黑" panose="020B0503020204020204" pitchFamily="34" charset="-122"/>
                </a:rPr>
                <a:t>末梢 </a:t>
              </a:r>
              <a:r>
                <a:rPr lang="en-US" altLang="zh-CN" sz="1400" b="1" dirty="0">
                  <a:solidFill>
                    <a:srgbClr val="990099"/>
                  </a:solidFill>
                  <a:latin typeface="微软雅黑" panose="020B0503020204020204" pitchFamily="34" charset="-122"/>
                  <a:ea typeface="微软雅黑" panose="020B0503020204020204" pitchFamily="34" charset="-122"/>
                </a:rPr>
                <a:t>AS</a:t>
              </a:r>
            </a:p>
          </p:txBody>
        </p:sp>
        <p:sp>
          <p:nvSpPr>
            <p:cNvPr id="152" name="Text Box 173"/>
            <p:cNvSpPr txBox="1">
              <a:spLocks noChangeArrowheads="1"/>
            </p:cNvSpPr>
            <p:nvPr/>
          </p:nvSpPr>
          <p:spPr bwMode="auto">
            <a:xfrm>
              <a:off x="4367590" y="2772248"/>
              <a:ext cx="111514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solidFill>
                    <a:srgbClr val="660033"/>
                  </a:solidFill>
                  <a:latin typeface="微软雅黑" panose="020B0503020204020204" pitchFamily="34" charset="-122"/>
                  <a:ea typeface="微软雅黑" panose="020B0503020204020204" pitchFamily="34" charset="-122"/>
                </a:rPr>
                <a:t>多归属 </a:t>
              </a:r>
              <a:r>
                <a:rPr lang="en-US" altLang="zh-CN" sz="1400" b="1" dirty="0">
                  <a:solidFill>
                    <a:srgbClr val="660033"/>
                  </a:solidFill>
                  <a:latin typeface="微软雅黑" panose="020B0503020204020204" pitchFamily="34" charset="-122"/>
                  <a:ea typeface="微软雅黑" panose="020B0503020204020204" pitchFamily="34" charset="-122"/>
                </a:rPr>
                <a:t>AS</a:t>
              </a:r>
            </a:p>
          </p:txBody>
        </p:sp>
        <p:sp>
          <p:nvSpPr>
            <p:cNvPr id="153" name="Text Box 173"/>
            <p:cNvSpPr txBox="1">
              <a:spLocks noChangeArrowheads="1"/>
            </p:cNvSpPr>
            <p:nvPr/>
          </p:nvSpPr>
          <p:spPr bwMode="auto">
            <a:xfrm>
              <a:off x="3497535" y="2258638"/>
              <a:ext cx="1174443" cy="294793"/>
            </a:xfrm>
            <a:prstGeom prst="rect">
              <a:avLst/>
            </a:prstGeom>
            <a:noFill/>
            <a:ln>
              <a:noFill/>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（免费）</a:t>
              </a:r>
              <a:endParaRPr lang="en-US" altLang="zh-CN" sz="1200" b="1" dirty="0">
                <a:latin typeface="微软雅黑" panose="020B0503020204020204" pitchFamily="34" charset="-122"/>
                <a:ea typeface="微软雅黑" panose="020B0503020204020204" pitchFamily="34" charset="-122"/>
              </a:endParaRPr>
            </a:p>
          </p:txBody>
        </p:sp>
        <p:sp>
          <p:nvSpPr>
            <p:cNvPr id="155" name="文本框 154"/>
            <p:cNvSpPr txBox="1"/>
            <p:nvPr/>
          </p:nvSpPr>
          <p:spPr>
            <a:xfrm>
              <a:off x="2283944" y="2436239"/>
              <a:ext cx="331530" cy="327548"/>
            </a:xfrm>
            <a:prstGeom prst="rect">
              <a:avLst/>
            </a:prstGeom>
            <a:noFill/>
          </p:spPr>
          <p:txBody>
            <a:bodyPr wrap="square" rtlCol="0">
              <a:spAutoFit/>
            </a:bodyPr>
            <a:lstStyle/>
            <a:p>
              <a:pPr algn="ctr"/>
              <a:r>
                <a:rPr lang="zh-CN" altLang="en-US" sz="1400" b="1" dirty="0">
                  <a:latin typeface="微软雅黑" panose="020B0503020204020204" pitchFamily="34" charset="-122"/>
                  <a:ea typeface="微软雅黑" panose="020B0503020204020204" pitchFamily="34" charset="-122"/>
                </a:rPr>
                <a:t>￥</a:t>
              </a:r>
            </a:p>
          </p:txBody>
        </p:sp>
        <p:sp>
          <p:nvSpPr>
            <p:cNvPr id="156" name="文本框 155"/>
            <p:cNvSpPr txBox="1"/>
            <p:nvPr/>
          </p:nvSpPr>
          <p:spPr>
            <a:xfrm>
              <a:off x="3219464" y="2344823"/>
              <a:ext cx="331530" cy="327548"/>
            </a:xfrm>
            <a:prstGeom prst="rect">
              <a:avLst/>
            </a:prstGeom>
            <a:noFill/>
          </p:spPr>
          <p:txBody>
            <a:bodyPr wrap="square" rtlCol="0">
              <a:spAutoFit/>
            </a:bodyPr>
            <a:lstStyle/>
            <a:p>
              <a:pPr algn="ctr"/>
              <a:r>
                <a:rPr lang="zh-CN" altLang="en-US" sz="1400" b="1" dirty="0">
                  <a:latin typeface="微软雅黑" panose="020B0503020204020204" pitchFamily="34" charset="-122"/>
                  <a:ea typeface="微软雅黑" panose="020B0503020204020204" pitchFamily="34" charset="-122"/>
                </a:rPr>
                <a:t>￥</a:t>
              </a:r>
            </a:p>
          </p:txBody>
        </p:sp>
        <p:sp>
          <p:nvSpPr>
            <p:cNvPr id="157" name="文本框 156"/>
            <p:cNvSpPr txBox="1"/>
            <p:nvPr/>
          </p:nvSpPr>
          <p:spPr>
            <a:xfrm>
              <a:off x="4795729" y="2354059"/>
              <a:ext cx="331530" cy="327548"/>
            </a:xfrm>
            <a:prstGeom prst="rect">
              <a:avLst/>
            </a:prstGeom>
            <a:noFill/>
          </p:spPr>
          <p:txBody>
            <a:bodyPr wrap="square" rtlCol="0">
              <a:spAutoFit/>
            </a:bodyPr>
            <a:lstStyle/>
            <a:p>
              <a:pPr algn="ctr"/>
              <a:r>
                <a:rPr lang="zh-CN" altLang="en-US" sz="1400" b="1" dirty="0">
                  <a:latin typeface="微软雅黑" panose="020B0503020204020204" pitchFamily="34" charset="-122"/>
                  <a:ea typeface="微软雅黑" panose="020B0503020204020204" pitchFamily="34" charset="-122"/>
                </a:rPr>
                <a:t>￥</a:t>
              </a:r>
            </a:p>
          </p:txBody>
        </p:sp>
        <p:sp>
          <p:nvSpPr>
            <p:cNvPr id="158" name="文本框 157"/>
            <p:cNvSpPr txBox="1"/>
            <p:nvPr/>
          </p:nvSpPr>
          <p:spPr>
            <a:xfrm>
              <a:off x="5690560" y="2480222"/>
              <a:ext cx="331530" cy="327548"/>
            </a:xfrm>
            <a:prstGeom prst="rect">
              <a:avLst/>
            </a:prstGeom>
            <a:noFill/>
          </p:spPr>
          <p:txBody>
            <a:bodyPr wrap="square" rtlCol="0">
              <a:spAutoFit/>
            </a:bodyPr>
            <a:lstStyle/>
            <a:p>
              <a:pPr algn="ctr"/>
              <a:r>
                <a:rPr lang="zh-CN" altLang="en-US" sz="1400" b="1" dirty="0">
                  <a:latin typeface="微软雅黑" panose="020B0503020204020204" pitchFamily="34" charset="-122"/>
                  <a:ea typeface="微软雅黑" panose="020B0503020204020204" pitchFamily="34" charset="-122"/>
                </a:rPr>
                <a:t>￥</a:t>
              </a:r>
            </a:p>
          </p:txBody>
        </p:sp>
        <p:sp>
          <p:nvSpPr>
            <p:cNvPr id="159" name="文本框 158"/>
            <p:cNvSpPr txBox="1"/>
            <p:nvPr/>
          </p:nvSpPr>
          <p:spPr>
            <a:xfrm>
              <a:off x="2765103" y="1666394"/>
              <a:ext cx="331530" cy="327548"/>
            </a:xfrm>
            <a:prstGeom prst="rect">
              <a:avLst/>
            </a:prstGeom>
            <a:noFill/>
          </p:spPr>
          <p:txBody>
            <a:bodyPr wrap="square" rtlCol="0">
              <a:spAutoFit/>
            </a:bodyPr>
            <a:lstStyle/>
            <a:p>
              <a:pPr algn="ctr"/>
              <a:r>
                <a:rPr lang="zh-CN" altLang="en-US" sz="1400" b="1" dirty="0">
                  <a:latin typeface="微软雅黑" panose="020B0503020204020204" pitchFamily="34" charset="-122"/>
                  <a:ea typeface="微软雅黑" panose="020B0503020204020204" pitchFamily="34" charset="-122"/>
                </a:rPr>
                <a:t>￥</a:t>
              </a:r>
            </a:p>
          </p:txBody>
        </p:sp>
        <p:sp>
          <p:nvSpPr>
            <p:cNvPr id="160" name="文本框 159"/>
            <p:cNvSpPr txBox="1"/>
            <p:nvPr/>
          </p:nvSpPr>
          <p:spPr>
            <a:xfrm>
              <a:off x="5132852" y="1638686"/>
              <a:ext cx="331530" cy="327548"/>
            </a:xfrm>
            <a:prstGeom prst="rect">
              <a:avLst/>
            </a:prstGeom>
            <a:noFill/>
          </p:spPr>
          <p:txBody>
            <a:bodyPr wrap="square" rtlCol="0">
              <a:spAutoFit/>
            </a:bodyPr>
            <a:lstStyle/>
            <a:p>
              <a:pPr algn="ctr"/>
              <a:r>
                <a:rPr lang="zh-CN" altLang="en-US" sz="1400" b="1" dirty="0">
                  <a:latin typeface="微软雅黑" panose="020B0503020204020204" pitchFamily="34" charset="-122"/>
                  <a:ea typeface="微软雅黑" panose="020B0503020204020204" pitchFamily="34" charset="-122"/>
                </a:rPr>
                <a:t>￥</a:t>
              </a:r>
            </a:p>
          </p:txBody>
        </p:sp>
        <p:cxnSp>
          <p:nvCxnSpPr>
            <p:cNvPr id="163" name="直接箭头连接符 162"/>
            <p:cNvCxnSpPr/>
            <p:nvPr/>
          </p:nvCxnSpPr>
          <p:spPr>
            <a:xfrm flipV="1">
              <a:off x="2228440" y="2463591"/>
              <a:ext cx="40164" cy="196842"/>
            </a:xfrm>
            <a:prstGeom prst="straightConnector1">
              <a:avLst/>
            </a:prstGeom>
            <a:ln w="38100">
              <a:solidFill>
                <a:srgbClr val="C00000"/>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64" name="直接箭头连接符 163"/>
            <p:cNvCxnSpPr/>
            <p:nvPr/>
          </p:nvCxnSpPr>
          <p:spPr>
            <a:xfrm flipH="1" flipV="1">
              <a:off x="6032702" y="2494276"/>
              <a:ext cx="44868" cy="180212"/>
            </a:xfrm>
            <a:prstGeom prst="straightConnector1">
              <a:avLst/>
            </a:prstGeom>
            <a:ln w="38100">
              <a:solidFill>
                <a:srgbClr val="C00000"/>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67" name="直接箭头连接符 166"/>
            <p:cNvCxnSpPr/>
            <p:nvPr/>
          </p:nvCxnSpPr>
          <p:spPr>
            <a:xfrm flipV="1">
              <a:off x="3039429" y="1844484"/>
              <a:ext cx="179045" cy="98876"/>
            </a:xfrm>
            <a:prstGeom prst="straightConnector1">
              <a:avLst/>
            </a:prstGeom>
            <a:ln w="38100">
              <a:solidFill>
                <a:srgbClr val="C00000"/>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69" name="直接箭头连接符 168"/>
            <p:cNvCxnSpPr/>
            <p:nvPr/>
          </p:nvCxnSpPr>
          <p:spPr>
            <a:xfrm flipH="1" flipV="1">
              <a:off x="5078788" y="1862922"/>
              <a:ext cx="186144" cy="102496"/>
            </a:xfrm>
            <a:prstGeom prst="straightConnector1">
              <a:avLst/>
            </a:prstGeom>
            <a:ln w="38100">
              <a:solidFill>
                <a:srgbClr val="C00000"/>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71" name="直接箭头连接符 170"/>
            <p:cNvCxnSpPr/>
            <p:nvPr/>
          </p:nvCxnSpPr>
          <p:spPr>
            <a:xfrm flipV="1">
              <a:off x="4909018" y="2617688"/>
              <a:ext cx="202049" cy="83298"/>
            </a:xfrm>
            <a:prstGeom prst="straightConnector1">
              <a:avLst/>
            </a:prstGeom>
            <a:ln w="38100">
              <a:solidFill>
                <a:srgbClr val="C00000"/>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72" name="直接箭头连接符 171"/>
            <p:cNvCxnSpPr/>
            <p:nvPr/>
          </p:nvCxnSpPr>
          <p:spPr>
            <a:xfrm flipH="1" flipV="1">
              <a:off x="3219614" y="2607983"/>
              <a:ext cx="205944" cy="89968"/>
            </a:xfrm>
            <a:prstGeom prst="straightConnector1">
              <a:avLst/>
            </a:prstGeom>
            <a:ln w="38100">
              <a:solidFill>
                <a:srgbClr val="C00000"/>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93" name="任意多边形 192"/>
            <p:cNvSpPr/>
            <p:nvPr/>
          </p:nvSpPr>
          <p:spPr>
            <a:xfrm>
              <a:off x="3385758" y="1618819"/>
              <a:ext cx="1469785" cy="94945"/>
            </a:xfrm>
            <a:custGeom>
              <a:avLst/>
              <a:gdLst>
                <a:gd name="connsiteX0" fmla="*/ 0 w 1727200"/>
                <a:gd name="connsiteY0" fmla="*/ 123185 h 123185"/>
                <a:gd name="connsiteX1" fmla="*/ 369454 w 1727200"/>
                <a:gd name="connsiteY1" fmla="*/ 40057 h 123185"/>
                <a:gd name="connsiteX2" fmla="*/ 683491 w 1727200"/>
                <a:gd name="connsiteY2" fmla="*/ 3112 h 123185"/>
                <a:gd name="connsiteX3" fmla="*/ 942109 w 1727200"/>
                <a:gd name="connsiteY3" fmla="*/ 3112 h 123185"/>
                <a:gd name="connsiteX4" fmla="*/ 1191491 w 1727200"/>
                <a:gd name="connsiteY4" fmla="*/ 12348 h 123185"/>
                <a:gd name="connsiteX5" fmla="*/ 1514763 w 1727200"/>
                <a:gd name="connsiteY5" fmla="*/ 30821 h 123185"/>
                <a:gd name="connsiteX6" fmla="*/ 1727200 w 1727200"/>
                <a:gd name="connsiteY6" fmla="*/ 86239 h 12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7200" h="123185">
                  <a:moveTo>
                    <a:pt x="0" y="123185"/>
                  </a:moveTo>
                  <a:cubicBezTo>
                    <a:pt x="127769" y="91627"/>
                    <a:pt x="255539" y="60069"/>
                    <a:pt x="369454" y="40057"/>
                  </a:cubicBezTo>
                  <a:cubicBezTo>
                    <a:pt x="483369" y="20045"/>
                    <a:pt x="588049" y="9269"/>
                    <a:pt x="683491" y="3112"/>
                  </a:cubicBezTo>
                  <a:cubicBezTo>
                    <a:pt x="778934" y="-3046"/>
                    <a:pt x="857442" y="1573"/>
                    <a:pt x="942109" y="3112"/>
                  </a:cubicBezTo>
                  <a:cubicBezTo>
                    <a:pt x="1026776" y="4651"/>
                    <a:pt x="1191491" y="12348"/>
                    <a:pt x="1191491" y="12348"/>
                  </a:cubicBezTo>
                  <a:cubicBezTo>
                    <a:pt x="1286933" y="16966"/>
                    <a:pt x="1425478" y="18506"/>
                    <a:pt x="1514763" y="30821"/>
                  </a:cubicBezTo>
                  <a:cubicBezTo>
                    <a:pt x="1604048" y="43136"/>
                    <a:pt x="1665624" y="64687"/>
                    <a:pt x="1727200" y="86239"/>
                  </a:cubicBezTo>
                </a:path>
              </a:pathLst>
            </a:custGeom>
            <a:ln w="19050">
              <a:solidFill>
                <a:srgbClr val="0000FF"/>
              </a:solidFill>
              <a:prstDash val="sysDot"/>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sz="1600"/>
            </a:p>
          </p:txBody>
        </p:sp>
        <p:cxnSp>
          <p:nvCxnSpPr>
            <p:cNvPr id="194" name="直接箭头连接符 193"/>
            <p:cNvCxnSpPr/>
            <p:nvPr/>
          </p:nvCxnSpPr>
          <p:spPr>
            <a:xfrm flipH="1">
              <a:off x="3661833" y="2284406"/>
              <a:ext cx="844924" cy="0"/>
            </a:xfrm>
            <a:prstGeom prst="straightConnector1">
              <a:avLst/>
            </a:prstGeom>
            <a:ln w="38100">
              <a:solidFill>
                <a:srgbClr val="000066"/>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9" name="Line 154"/>
            <p:cNvSpPr>
              <a:spLocks noChangeShapeType="1"/>
            </p:cNvSpPr>
            <p:nvPr/>
          </p:nvSpPr>
          <p:spPr bwMode="auto">
            <a:xfrm flipV="1">
              <a:off x="2682671" y="2206984"/>
              <a:ext cx="2864649"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206"/>
            <p:cNvGrpSpPr>
              <a:grpSpLocks/>
            </p:cNvGrpSpPr>
            <p:nvPr/>
          </p:nvGrpSpPr>
          <p:grpSpPr bwMode="auto">
            <a:xfrm>
              <a:off x="1771322" y="1934014"/>
              <a:ext cx="1107971" cy="508496"/>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1"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0" name="Group 216"/>
              <p:cNvGrpSpPr>
                <a:grpSpLocks/>
              </p:cNvGrpSpPr>
              <p:nvPr/>
            </p:nvGrpSpPr>
            <p:grpSpPr bwMode="auto">
              <a:xfrm>
                <a:off x="912" y="768"/>
                <a:ext cx="2386" cy="1553"/>
                <a:chOff x="912" y="768"/>
                <a:chExt cx="2386" cy="1553"/>
              </a:xfrm>
              <a:grpFill/>
            </p:grpSpPr>
            <p:sp>
              <p:nvSpPr>
                <p:cNvPr id="31"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5"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6"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60" name="Group 206"/>
            <p:cNvGrpSpPr>
              <a:grpSpLocks/>
            </p:cNvGrpSpPr>
            <p:nvPr/>
          </p:nvGrpSpPr>
          <p:grpSpPr bwMode="auto">
            <a:xfrm>
              <a:off x="5287550" y="1934014"/>
              <a:ext cx="1235703" cy="547147"/>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61"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6"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7"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9"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70" name="Group 216"/>
              <p:cNvGrpSpPr>
                <a:grpSpLocks/>
              </p:cNvGrpSpPr>
              <p:nvPr/>
            </p:nvGrpSpPr>
            <p:grpSpPr bwMode="auto">
              <a:xfrm>
                <a:off x="912" y="768"/>
                <a:ext cx="2386" cy="1553"/>
                <a:chOff x="912" y="768"/>
                <a:chExt cx="2386" cy="1553"/>
              </a:xfrm>
              <a:grpFill/>
            </p:grpSpPr>
            <p:sp>
              <p:nvSpPr>
                <p:cNvPr id="71"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2"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3"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4"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5"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6"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7"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8"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9"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81" name="Text Box 174"/>
            <p:cNvSpPr txBox="1">
              <a:spLocks noChangeArrowheads="1"/>
            </p:cNvSpPr>
            <p:nvPr/>
          </p:nvSpPr>
          <p:spPr bwMode="auto">
            <a:xfrm>
              <a:off x="5742507" y="2042719"/>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AS</a:t>
              </a:r>
              <a:r>
                <a:rPr lang="en-US" altLang="zh-CN" sz="1400" b="1" baseline="-25000">
                  <a:latin typeface="微软雅黑" panose="020B0503020204020204" pitchFamily="34" charset="-122"/>
                  <a:ea typeface="微软雅黑" panose="020B0503020204020204" pitchFamily="34" charset="-122"/>
                </a:rPr>
                <a:t>3</a:t>
              </a:r>
            </a:p>
          </p:txBody>
        </p:sp>
        <p:sp>
          <p:nvSpPr>
            <p:cNvPr id="82" name="Text Box 175"/>
            <p:cNvSpPr txBox="1">
              <a:spLocks noChangeArrowheads="1"/>
            </p:cNvSpPr>
            <p:nvPr/>
          </p:nvSpPr>
          <p:spPr bwMode="auto">
            <a:xfrm>
              <a:off x="2097111" y="2042719"/>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AS</a:t>
              </a:r>
              <a:r>
                <a:rPr lang="en-US" altLang="zh-CN" sz="1400" b="1" baseline="-25000">
                  <a:latin typeface="微软雅黑" panose="020B0503020204020204" pitchFamily="34" charset="-122"/>
                  <a:ea typeface="微软雅黑" panose="020B0503020204020204" pitchFamily="34" charset="-122"/>
                </a:rPr>
                <a:t>2</a:t>
              </a:r>
            </a:p>
          </p:txBody>
        </p:sp>
      </p:grpSp>
    </p:spTree>
    <p:extLst>
      <p:ext uri="{BB962C8B-B14F-4D97-AF65-F5344CB8AC3E}">
        <p14:creationId xmlns:p14="http://schemas.microsoft.com/office/powerpoint/2010/main" val="287899421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圆角矩形 19"/>
          <p:cNvSpPr/>
          <p:nvPr/>
        </p:nvSpPr>
        <p:spPr>
          <a:xfrm>
            <a:off x="545145" y="1049067"/>
            <a:ext cx="8053712" cy="275631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p:cNvSpPr>
            <a:spLocks noChangeArrowheads="1"/>
          </p:cNvSpPr>
          <p:nvPr/>
        </p:nvSpPr>
        <p:spPr bwMode="auto">
          <a:xfrm>
            <a:off x="545145" y="621250"/>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8039"/>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BGP </a:t>
            </a:r>
            <a:r>
              <a:rPr lang="zh-CN" altLang="en-US" sz="2000" b="1" dirty="0">
                <a:solidFill>
                  <a:schemeClr val="bg1"/>
                </a:solidFill>
                <a:latin typeface="微软雅黑" pitchFamily="34" charset="-122"/>
                <a:ea typeface="微软雅黑" pitchFamily="34" charset="-122"/>
              </a:rPr>
              <a:t>路由如何避免兜圈子？</a:t>
            </a:r>
          </a:p>
        </p:txBody>
      </p:sp>
      <p:grpSp>
        <p:nvGrpSpPr>
          <p:cNvPr id="68" name="组合 67"/>
          <p:cNvGrpSpPr/>
          <p:nvPr/>
        </p:nvGrpSpPr>
        <p:grpSpPr>
          <a:xfrm>
            <a:off x="1772261" y="1277177"/>
            <a:ext cx="3789242" cy="2378424"/>
            <a:chOff x="1772261" y="1277177"/>
            <a:chExt cx="3789242" cy="2378424"/>
          </a:xfrm>
        </p:grpSpPr>
        <p:sp>
          <p:nvSpPr>
            <p:cNvPr id="9" name="Line 22"/>
            <p:cNvSpPr>
              <a:spLocks noChangeShapeType="1"/>
            </p:cNvSpPr>
            <p:nvPr/>
          </p:nvSpPr>
          <p:spPr bwMode="auto">
            <a:xfrm flipV="1">
              <a:off x="2014741" y="2515534"/>
              <a:ext cx="3342358" cy="0"/>
            </a:xfrm>
            <a:prstGeom prst="line">
              <a:avLst/>
            </a:prstGeom>
            <a:solidFill>
              <a:srgbClr val="FF66FF"/>
            </a:solidFill>
            <a:ln w="28575">
              <a:solidFill>
                <a:srgbClr val="00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0" name="Line 23"/>
            <p:cNvSpPr>
              <a:spLocks noChangeShapeType="1"/>
            </p:cNvSpPr>
            <p:nvPr/>
          </p:nvSpPr>
          <p:spPr bwMode="auto">
            <a:xfrm flipH="1" flipV="1">
              <a:off x="3500590" y="1447411"/>
              <a:ext cx="1671782" cy="931893"/>
            </a:xfrm>
            <a:prstGeom prst="line">
              <a:avLst/>
            </a:prstGeom>
            <a:solidFill>
              <a:srgbClr val="FF66FF"/>
            </a:solidFill>
            <a:ln w="28575">
              <a:solidFill>
                <a:srgbClr val="00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 name="Line 24"/>
            <p:cNvSpPr>
              <a:spLocks noChangeShapeType="1"/>
            </p:cNvSpPr>
            <p:nvPr/>
          </p:nvSpPr>
          <p:spPr bwMode="auto">
            <a:xfrm flipV="1">
              <a:off x="2087426" y="1476735"/>
              <a:ext cx="1413164" cy="925152"/>
            </a:xfrm>
            <a:prstGeom prst="line">
              <a:avLst/>
            </a:prstGeom>
            <a:solidFill>
              <a:srgbClr val="FF66FF"/>
            </a:solidFill>
            <a:ln w="28575">
              <a:solidFill>
                <a:srgbClr val="00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 name="Line 26"/>
            <p:cNvSpPr>
              <a:spLocks noChangeShapeType="1"/>
            </p:cNvSpPr>
            <p:nvPr/>
          </p:nvSpPr>
          <p:spPr bwMode="auto">
            <a:xfrm flipH="1">
              <a:off x="5292444" y="2505478"/>
              <a:ext cx="0" cy="994675"/>
            </a:xfrm>
            <a:prstGeom prst="line">
              <a:avLst/>
            </a:prstGeom>
            <a:solidFill>
              <a:srgbClr val="FF66FF"/>
            </a:solidFill>
            <a:ln w="28575">
              <a:solidFill>
                <a:srgbClr val="00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 name="Oval 28"/>
            <p:cNvSpPr>
              <a:spLocks noChangeArrowheads="1"/>
            </p:cNvSpPr>
            <p:nvPr/>
          </p:nvSpPr>
          <p:spPr bwMode="auto">
            <a:xfrm>
              <a:off x="3294877" y="1277177"/>
              <a:ext cx="530041" cy="489897"/>
            </a:xfrm>
            <a:prstGeom prst="ellipse">
              <a:avLst/>
            </a:prstGeom>
            <a:solidFill>
              <a:srgbClr val="99FFCC"/>
            </a:solidFill>
            <a:ln w="19050">
              <a:solidFill>
                <a:schemeClr val="tx1"/>
              </a:solidFill>
              <a:round/>
              <a:headEnd/>
              <a:tailEnd/>
            </a:ln>
            <a:effectLst/>
          </p:spPr>
          <p:txBody>
            <a:bodyPr wrap="none" anchor="ctr"/>
            <a:lstStyle/>
            <a:p>
              <a:pPr algn="ctr"/>
              <a:r>
                <a:rPr kumimoji="1" lang="en-US" altLang="zh-CN" sz="1400" b="1">
                  <a:latin typeface="微软雅黑" pitchFamily="34" charset="-122"/>
                  <a:ea typeface="微软雅黑" pitchFamily="34" charset="-122"/>
                </a:rPr>
                <a:t>AS</a:t>
              </a:r>
              <a:r>
                <a:rPr kumimoji="1" lang="en-US" altLang="zh-CN" sz="1400" b="1" baseline="-25000">
                  <a:latin typeface="微软雅黑" pitchFamily="34" charset="-122"/>
                  <a:ea typeface="微软雅黑" pitchFamily="34" charset="-122"/>
                </a:rPr>
                <a:t>1</a:t>
              </a:r>
            </a:p>
          </p:txBody>
        </p:sp>
        <p:sp>
          <p:nvSpPr>
            <p:cNvPr id="16" name="Oval 29"/>
            <p:cNvSpPr>
              <a:spLocks noChangeArrowheads="1"/>
            </p:cNvSpPr>
            <p:nvPr/>
          </p:nvSpPr>
          <p:spPr bwMode="auto">
            <a:xfrm>
              <a:off x="5020612" y="2243495"/>
              <a:ext cx="530041" cy="489897"/>
            </a:xfrm>
            <a:prstGeom prst="ellipse">
              <a:avLst/>
            </a:prstGeom>
            <a:solidFill>
              <a:srgbClr val="99FFCC"/>
            </a:solidFill>
            <a:ln w="19050">
              <a:solidFill>
                <a:schemeClr val="tx1"/>
              </a:solidFill>
              <a:round/>
              <a:headEnd/>
              <a:tailEnd/>
            </a:ln>
            <a:effectLst/>
          </p:spPr>
          <p:txBody>
            <a:bodyPr wrap="none" anchor="ctr"/>
            <a:lstStyle/>
            <a:p>
              <a:pPr algn="ctr"/>
              <a:r>
                <a:rPr kumimoji="1" lang="en-US" altLang="zh-CN" sz="1400" b="1" dirty="0">
                  <a:latin typeface="微软雅黑" pitchFamily="34" charset="-122"/>
                  <a:ea typeface="微软雅黑" pitchFamily="34" charset="-122"/>
                </a:rPr>
                <a:t>AS</a:t>
              </a:r>
              <a:r>
                <a:rPr kumimoji="1" lang="en-US" altLang="zh-CN" sz="1400" b="1" baseline="-25000" dirty="0">
                  <a:latin typeface="微软雅黑" pitchFamily="34" charset="-122"/>
                  <a:ea typeface="微软雅黑" pitchFamily="34" charset="-122"/>
                </a:rPr>
                <a:t>3</a:t>
              </a:r>
            </a:p>
          </p:txBody>
        </p:sp>
        <p:sp>
          <p:nvSpPr>
            <p:cNvPr id="17" name="Oval 30"/>
            <p:cNvSpPr>
              <a:spLocks noChangeArrowheads="1"/>
            </p:cNvSpPr>
            <p:nvPr/>
          </p:nvSpPr>
          <p:spPr bwMode="auto">
            <a:xfrm>
              <a:off x="1772261" y="2243496"/>
              <a:ext cx="530041" cy="489897"/>
            </a:xfrm>
            <a:prstGeom prst="ellipse">
              <a:avLst/>
            </a:prstGeom>
            <a:solidFill>
              <a:srgbClr val="99FFCC"/>
            </a:solidFill>
            <a:ln w="19050">
              <a:solidFill>
                <a:schemeClr val="tx1"/>
              </a:solidFill>
              <a:round/>
              <a:headEnd/>
              <a:tailEnd/>
            </a:ln>
            <a:effectLst/>
          </p:spPr>
          <p:txBody>
            <a:bodyPr wrap="none" anchor="ctr"/>
            <a:lstStyle/>
            <a:p>
              <a:pPr algn="ctr"/>
              <a:r>
                <a:rPr kumimoji="1" lang="en-US" altLang="zh-CN" sz="1400" b="1" dirty="0">
                  <a:latin typeface="微软雅黑" pitchFamily="34" charset="-122"/>
                  <a:ea typeface="微软雅黑" pitchFamily="34" charset="-122"/>
                </a:rPr>
                <a:t>AS</a:t>
              </a:r>
              <a:r>
                <a:rPr kumimoji="1" lang="en-US" altLang="zh-CN" sz="1400" b="1" baseline="-25000" dirty="0">
                  <a:latin typeface="微软雅黑" pitchFamily="34" charset="-122"/>
                  <a:ea typeface="微软雅黑" pitchFamily="34" charset="-122"/>
                </a:rPr>
                <a:t>2</a:t>
              </a:r>
            </a:p>
          </p:txBody>
        </p:sp>
        <p:sp>
          <p:nvSpPr>
            <p:cNvPr id="19" name="Oval 32"/>
            <p:cNvSpPr>
              <a:spLocks noChangeArrowheads="1"/>
            </p:cNvSpPr>
            <p:nvPr/>
          </p:nvSpPr>
          <p:spPr bwMode="auto">
            <a:xfrm>
              <a:off x="5031462" y="3072172"/>
              <a:ext cx="530041" cy="489897"/>
            </a:xfrm>
            <a:prstGeom prst="ellipse">
              <a:avLst/>
            </a:prstGeom>
            <a:solidFill>
              <a:srgbClr val="99FFCC"/>
            </a:solidFill>
            <a:ln w="19050">
              <a:solidFill>
                <a:schemeClr val="tx1"/>
              </a:solidFill>
              <a:round/>
              <a:headEnd/>
              <a:tailEnd/>
            </a:ln>
            <a:effectLst/>
          </p:spPr>
          <p:txBody>
            <a:bodyPr wrap="none" anchor="ctr"/>
            <a:lstStyle/>
            <a:p>
              <a:pPr algn="ctr"/>
              <a:r>
                <a:rPr kumimoji="1" lang="en-US" altLang="zh-CN" sz="1400" b="1" dirty="0">
                  <a:latin typeface="微软雅黑" pitchFamily="34" charset="-122"/>
                  <a:ea typeface="微软雅黑" pitchFamily="34" charset="-122"/>
                </a:rPr>
                <a:t>AS</a:t>
              </a:r>
              <a:r>
                <a:rPr kumimoji="1" lang="en-US" altLang="zh-CN" sz="1400" b="1" baseline="-25000" dirty="0">
                  <a:latin typeface="微软雅黑" pitchFamily="34" charset="-122"/>
                  <a:ea typeface="微软雅黑" pitchFamily="34" charset="-122"/>
                </a:rPr>
                <a:t>6</a:t>
              </a:r>
            </a:p>
          </p:txBody>
        </p:sp>
        <p:grpSp>
          <p:nvGrpSpPr>
            <p:cNvPr id="52" name="组合 51"/>
            <p:cNvGrpSpPr/>
            <p:nvPr/>
          </p:nvGrpSpPr>
          <p:grpSpPr>
            <a:xfrm>
              <a:off x="4722965" y="3347824"/>
              <a:ext cx="504825" cy="307777"/>
              <a:chOff x="5609648" y="3394004"/>
              <a:chExt cx="504825" cy="307777"/>
            </a:xfrm>
          </p:grpSpPr>
          <p:grpSp>
            <p:nvGrpSpPr>
              <p:cNvPr id="23" name="组合 22"/>
              <p:cNvGrpSpPr/>
              <p:nvPr/>
            </p:nvGrpSpPr>
            <p:grpSpPr>
              <a:xfrm>
                <a:off x="5609648" y="3395474"/>
                <a:ext cx="504825" cy="286663"/>
                <a:chOff x="8075758" y="2677682"/>
                <a:chExt cx="504825" cy="360363"/>
              </a:xfrm>
            </p:grpSpPr>
            <p:sp>
              <p:nvSpPr>
                <p:cNvPr id="25" name="AutoShape 229"/>
                <p:cNvSpPr>
                  <a:spLocks noChangeAspect="1" noChangeArrowheads="1" noTextEdit="1"/>
                </p:cNvSpPr>
                <p:nvPr/>
              </p:nvSpPr>
              <p:spPr bwMode="auto">
                <a:xfrm>
                  <a:off x="8075758" y="2677682"/>
                  <a:ext cx="504825" cy="360363"/>
                </a:xfrm>
                <a:prstGeom prst="rect">
                  <a:avLst/>
                </a:prstGeom>
                <a:noFill/>
                <a:ln>
                  <a:noFill/>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Oval 231"/>
                <p:cNvSpPr>
                  <a:spLocks noChangeArrowheads="1"/>
                </p:cNvSpPr>
                <p:nvPr/>
              </p:nvSpPr>
              <p:spPr bwMode="auto">
                <a:xfrm>
                  <a:off x="8248523" y="2681957"/>
                  <a:ext cx="217274" cy="145367"/>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7" name="Oval 232"/>
                <p:cNvSpPr>
                  <a:spLocks noChangeArrowheads="1"/>
                </p:cNvSpPr>
                <p:nvPr/>
              </p:nvSpPr>
              <p:spPr bwMode="auto">
                <a:xfrm>
                  <a:off x="8129052" y="2719826"/>
                  <a:ext cx="166323" cy="145978"/>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8" name="Oval 233"/>
                <p:cNvSpPr>
                  <a:spLocks noChangeArrowheads="1"/>
                </p:cNvSpPr>
                <p:nvPr/>
              </p:nvSpPr>
              <p:spPr bwMode="auto">
                <a:xfrm>
                  <a:off x="8078101" y="2807779"/>
                  <a:ext cx="112444" cy="11849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9" name="Oval 234"/>
                <p:cNvSpPr>
                  <a:spLocks noChangeArrowheads="1"/>
                </p:cNvSpPr>
                <p:nvPr/>
              </p:nvSpPr>
              <p:spPr bwMode="auto">
                <a:xfrm>
                  <a:off x="8112068" y="2859696"/>
                  <a:ext cx="169251" cy="12887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0" name="Oval 235"/>
                <p:cNvSpPr>
                  <a:spLocks noChangeArrowheads="1"/>
                </p:cNvSpPr>
                <p:nvPr/>
              </p:nvSpPr>
              <p:spPr bwMode="auto">
                <a:xfrm>
                  <a:off x="8231539" y="2881073"/>
                  <a:ext cx="252413" cy="15269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1" name="Oval 236"/>
                <p:cNvSpPr>
                  <a:spLocks noChangeArrowheads="1"/>
                </p:cNvSpPr>
                <p:nvPr/>
              </p:nvSpPr>
              <p:spPr bwMode="auto">
                <a:xfrm>
                  <a:off x="8392006" y="2724102"/>
                  <a:ext cx="162223" cy="114828"/>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2" name="Oval 237"/>
                <p:cNvSpPr>
                  <a:spLocks noChangeArrowheads="1"/>
                </p:cNvSpPr>
                <p:nvPr/>
              </p:nvSpPr>
              <p:spPr bwMode="auto">
                <a:xfrm>
                  <a:off x="8416603" y="2798007"/>
                  <a:ext cx="160466" cy="114217"/>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3" name="Oval 238"/>
                <p:cNvSpPr>
                  <a:spLocks noChangeArrowheads="1"/>
                </p:cNvSpPr>
                <p:nvPr/>
              </p:nvSpPr>
              <p:spPr bwMode="auto">
                <a:xfrm>
                  <a:off x="8401962" y="2821827"/>
                  <a:ext cx="159295" cy="18812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4" name="Oval 239"/>
                <p:cNvSpPr>
                  <a:spLocks noChangeArrowheads="1"/>
                </p:cNvSpPr>
                <p:nvPr/>
              </p:nvSpPr>
              <p:spPr bwMode="auto">
                <a:xfrm>
                  <a:off x="8168875" y="2765024"/>
                  <a:ext cx="323275" cy="18812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nvGrpSpPr>
                <p:cNvPr id="35" name="Group 257"/>
                <p:cNvGrpSpPr>
                  <a:grpSpLocks/>
                </p:cNvGrpSpPr>
                <p:nvPr/>
              </p:nvGrpSpPr>
              <p:grpSpPr bwMode="auto">
                <a:xfrm>
                  <a:off x="8076929" y="2678904"/>
                  <a:ext cx="501311" cy="355477"/>
                  <a:chOff x="3063" y="302"/>
                  <a:chExt cx="856" cy="582"/>
                </a:xfrm>
                <a:solidFill>
                  <a:schemeClr val="bg1"/>
                </a:solidFill>
              </p:grpSpPr>
              <p:sp>
                <p:nvSpPr>
                  <p:cNvPr id="36" name="Freeform 241"/>
                  <p:cNvSpPr>
                    <a:spLocks/>
                  </p:cNvSpPr>
                  <p:nvPr/>
                </p:nvSpPr>
                <p:spPr bwMode="auto">
                  <a:xfrm>
                    <a:off x="3364" y="302"/>
                    <a:ext cx="353" cy="123"/>
                  </a:xfrm>
                  <a:custGeom>
                    <a:avLst/>
                    <a:gdLst>
                      <a:gd name="T0" fmla="*/ 2147483647 w 171"/>
                      <a:gd name="T1" fmla="*/ 2147483647 h 53"/>
                      <a:gd name="T2" fmla="*/ 2147483647 w 171"/>
                      <a:gd name="T3" fmla="*/ 2147483647 h 53"/>
                      <a:gd name="T4" fmla="*/ 0 w 171"/>
                      <a:gd name="T5" fmla="*/ 2147483647 h 53"/>
                      <a:gd name="T6" fmla="*/ 2147483647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7" name="Arc 242"/>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8" name="Freeform 243"/>
                  <p:cNvSpPr>
                    <a:spLocks/>
                  </p:cNvSpPr>
                  <p:nvPr/>
                </p:nvSpPr>
                <p:spPr bwMode="auto">
                  <a:xfrm>
                    <a:off x="3150" y="367"/>
                    <a:ext cx="220" cy="146"/>
                  </a:xfrm>
                  <a:custGeom>
                    <a:avLst/>
                    <a:gdLst>
                      <a:gd name="T0" fmla="*/ 2147483647 w 107"/>
                      <a:gd name="T1" fmla="*/ 2147483647 h 63"/>
                      <a:gd name="T2" fmla="*/ 2147483647 w 107"/>
                      <a:gd name="T3" fmla="*/ 0 h 63"/>
                      <a:gd name="T4" fmla="*/ 2147483647 w 107"/>
                      <a:gd name="T5" fmla="*/ 2147483647 h 63"/>
                      <a:gd name="T6" fmla="*/ 2147483647 w 107"/>
                      <a:gd name="T7" fmla="*/ 2147483647 h 63"/>
                      <a:gd name="T8" fmla="*/ 2147483647 w 107"/>
                      <a:gd name="T9" fmla="*/ 2147483647 h 63"/>
                      <a:gd name="T10" fmla="*/ 2147483647 w 107"/>
                      <a:gd name="T11" fmla="*/ 2147483647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 name="Arc 244"/>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 name="Freeform 245"/>
                  <p:cNvSpPr>
                    <a:spLocks/>
                  </p:cNvSpPr>
                  <p:nvPr/>
                </p:nvSpPr>
                <p:spPr bwMode="auto">
                  <a:xfrm>
                    <a:off x="3121" y="696"/>
                    <a:ext cx="220" cy="115"/>
                  </a:xfrm>
                  <a:custGeom>
                    <a:avLst/>
                    <a:gdLst>
                      <a:gd name="T0" fmla="*/ 0 w 107"/>
                      <a:gd name="T1" fmla="*/ 0 h 50"/>
                      <a:gd name="T2" fmla="*/ 0 w 107"/>
                      <a:gd name="T3" fmla="*/ 2147483647 h 50"/>
                      <a:gd name="T4" fmla="*/ 2147483647 w 107"/>
                      <a:gd name="T5" fmla="*/ 2147483647 h 50"/>
                      <a:gd name="T6" fmla="*/ 2147483647 w 107"/>
                      <a:gd name="T7" fmla="*/ 2147483647 h 50"/>
                      <a:gd name="T8" fmla="*/ 2147483647 w 107"/>
                      <a:gd name="T9" fmla="*/ 2147483647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1" name="Arc 246"/>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2" name="Freeform 247"/>
                  <p:cNvSpPr>
                    <a:spLocks/>
                  </p:cNvSpPr>
                  <p:nvPr/>
                </p:nvSpPr>
                <p:spPr bwMode="auto">
                  <a:xfrm>
                    <a:off x="3713" y="372"/>
                    <a:ext cx="167" cy="141"/>
                  </a:xfrm>
                  <a:custGeom>
                    <a:avLst/>
                    <a:gdLst>
                      <a:gd name="T0" fmla="*/ 2147483647 w 81"/>
                      <a:gd name="T1" fmla="*/ 2147483647 h 61"/>
                      <a:gd name="T2" fmla="*/ 2147483647 w 81"/>
                      <a:gd name="T3" fmla="*/ 2147483647 h 61"/>
                      <a:gd name="T4" fmla="*/ 2147483647 w 81"/>
                      <a:gd name="T5" fmla="*/ 2147483647 h 61"/>
                      <a:gd name="T6" fmla="*/ 0 w 81"/>
                      <a:gd name="T7" fmla="*/ 2147483647 h 61"/>
                      <a:gd name="T8" fmla="*/ 2147483647 w 81"/>
                      <a:gd name="T9" fmla="*/ 2147483647 h 61"/>
                      <a:gd name="T10" fmla="*/ 2147483647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3" name="Arc 248"/>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4" name="Freeform 249"/>
                  <p:cNvSpPr>
                    <a:spLocks/>
                  </p:cNvSpPr>
                  <p:nvPr/>
                </p:nvSpPr>
                <p:spPr bwMode="auto">
                  <a:xfrm>
                    <a:off x="3760" y="511"/>
                    <a:ext cx="159" cy="138"/>
                  </a:xfrm>
                  <a:custGeom>
                    <a:avLst/>
                    <a:gdLst>
                      <a:gd name="T0" fmla="*/ 2147483647 w 77"/>
                      <a:gd name="T1" fmla="*/ 2147483647 h 60"/>
                      <a:gd name="T2" fmla="*/ 2147483647 w 77"/>
                      <a:gd name="T3" fmla="*/ 2147483647 h 60"/>
                      <a:gd name="T4" fmla="*/ 2147483647 w 77"/>
                      <a:gd name="T5" fmla="*/ 0 h 60"/>
                      <a:gd name="T6" fmla="*/ 0 w 77"/>
                      <a:gd name="T7" fmla="*/ 2147483647 h 60"/>
                      <a:gd name="T8" fmla="*/ 2147483647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5" name="Arc 250"/>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6" name="Freeform 251"/>
                  <p:cNvSpPr>
                    <a:spLocks/>
                  </p:cNvSpPr>
                  <p:nvPr/>
                </p:nvSpPr>
                <p:spPr bwMode="auto">
                  <a:xfrm>
                    <a:off x="3706" y="647"/>
                    <a:ext cx="188" cy="201"/>
                  </a:xfrm>
                  <a:custGeom>
                    <a:avLst/>
                    <a:gdLst>
                      <a:gd name="T0" fmla="*/ 0 w 91"/>
                      <a:gd name="T1" fmla="*/ 2147483647 h 87"/>
                      <a:gd name="T2" fmla="*/ 2147483647 w 91"/>
                      <a:gd name="T3" fmla="*/ 2147483647 h 87"/>
                      <a:gd name="T4" fmla="*/ 2147483647 w 91"/>
                      <a:gd name="T5" fmla="*/ 2147483647 h 87"/>
                      <a:gd name="T6" fmla="*/ 2147483647 w 91"/>
                      <a:gd name="T7" fmla="*/ 0 h 87"/>
                      <a:gd name="T8" fmla="*/ 2147483647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7" name="Arc 252"/>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8" name="Freeform 253"/>
                  <p:cNvSpPr>
                    <a:spLocks/>
                  </p:cNvSpPr>
                  <p:nvPr/>
                </p:nvSpPr>
                <p:spPr bwMode="auto">
                  <a:xfrm>
                    <a:off x="3063" y="511"/>
                    <a:ext cx="103" cy="189"/>
                  </a:xfrm>
                  <a:custGeom>
                    <a:avLst/>
                    <a:gdLst>
                      <a:gd name="T0" fmla="*/ 2147483647 w 50"/>
                      <a:gd name="T1" fmla="*/ 0 h 82"/>
                      <a:gd name="T2" fmla="*/ 2147483647 w 50"/>
                      <a:gd name="T3" fmla="*/ 2147483647 h 82"/>
                      <a:gd name="T4" fmla="*/ 2147483647 w 50"/>
                      <a:gd name="T5" fmla="*/ 2147483647 h 82"/>
                      <a:gd name="T6" fmla="*/ 2147483647 w 50"/>
                      <a:gd name="T7" fmla="*/ 2147483647 h 82"/>
                      <a:gd name="T8" fmla="*/ 2147483647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9" name="Arc 254"/>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0" name="Freeform 255"/>
                  <p:cNvSpPr>
                    <a:spLocks/>
                  </p:cNvSpPr>
                  <p:nvPr/>
                </p:nvSpPr>
                <p:spPr bwMode="auto">
                  <a:xfrm>
                    <a:off x="3333" y="770"/>
                    <a:ext cx="380" cy="113"/>
                  </a:xfrm>
                  <a:custGeom>
                    <a:avLst/>
                    <a:gdLst>
                      <a:gd name="T0" fmla="*/ 0 w 184"/>
                      <a:gd name="T1" fmla="*/ 2147483647 h 49"/>
                      <a:gd name="T2" fmla="*/ 2147483647 w 184"/>
                      <a:gd name="T3" fmla="*/ 2147483647 h 49"/>
                      <a:gd name="T4" fmla="*/ 2147483647 w 184"/>
                      <a:gd name="T5" fmla="*/ 2147483647 h 49"/>
                      <a:gd name="T6" fmla="*/ 2147483647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1" name="Arc 256"/>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pSp>
          </p:grpSp>
          <p:sp>
            <p:nvSpPr>
              <p:cNvPr id="24" name="Text Box 173"/>
              <p:cNvSpPr txBox="1">
                <a:spLocks noChangeArrowheads="1"/>
              </p:cNvSpPr>
              <p:nvPr/>
            </p:nvSpPr>
            <p:spPr bwMode="auto">
              <a:xfrm>
                <a:off x="5723276" y="3394004"/>
                <a:ext cx="3097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X</a:t>
                </a:r>
              </a:p>
            </p:txBody>
          </p:sp>
        </p:grpSp>
      </p:grpSp>
      <p:grpSp>
        <p:nvGrpSpPr>
          <p:cNvPr id="63" name="组合 62"/>
          <p:cNvGrpSpPr/>
          <p:nvPr/>
        </p:nvGrpSpPr>
        <p:grpSpPr>
          <a:xfrm>
            <a:off x="4219746" y="1531361"/>
            <a:ext cx="1628215" cy="536724"/>
            <a:chOff x="5106429" y="1577541"/>
            <a:chExt cx="1628215" cy="536724"/>
          </a:xfrm>
        </p:grpSpPr>
        <p:cxnSp>
          <p:nvCxnSpPr>
            <p:cNvPr id="53" name="直接箭头连接符 52"/>
            <p:cNvCxnSpPr/>
            <p:nvPr/>
          </p:nvCxnSpPr>
          <p:spPr>
            <a:xfrm flipH="1" flipV="1">
              <a:off x="5106429" y="1746809"/>
              <a:ext cx="606253" cy="367456"/>
            </a:xfrm>
            <a:prstGeom prst="straightConnector1">
              <a:avLst/>
            </a:prstGeom>
            <a:ln w="38100">
              <a:solidFill>
                <a:srgbClr val="C0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7" name="矩形 56"/>
            <p:cNvSpPr/>
            <p:nvPr/>
          </p:nvSpPr>
          <p:spPr>
            <a:xfrm>
              <a:off x="5333298" y="1577541"/>
              <a:ext cx="1401346" cy="372025"/>
            </a:xfrm>
            <a:prstGeom prst="rect">
              <a:avLst/>
            </a:prstGeom>
          </p:spPr>
          <p:txBody>
            <a:bodyPr wrap="none">
              <a:spAutoFit/>
            </a:bodyPr>
            <a:lstStyle/>
            <a:p>
              <a:pPr>
                <a:lnSpc>
                  <a:spcPts val="2400"/>
                </a:lnSpc>
              </a:pPr>
              <a:r>
                <a:rPr lang="en-US" altLang="zh-CN" sz="1600" b="1" dirty="0">
                  <a:solidFill>
                    <a:srgbClr val="990099"/>
                  </a:solidFill>
                  <a:latin typeface="微软雅黑" panose="020B0503020204020204" pitchFamily="34" charset="-122"/>
                  <a:ea typeface="微软雅黑" panose="020B0503020204020204" pitchFamily="34" charset="-122"/>
                </a:rPr>
                <a:t>[X, AS</a:t>
              </a:r>
              <a:r>
                <a:rPr lang="en-US" altLang="zh-CN" sz="1600" b="1" baseline="-25000" dirty="0">
                  <a:solidFill>
                    <a:srgbClr val="990099"/>
                  </a:solidFill>
                  <a:latin typeface="微软雅黑" panose="020B0503020204020204" pitchFamily="34" charset="-122"/>
                  <a:ea typeface="微软雅黑" panose="020B0503020204020204" pitchFamily="34" charset="-122"/>
                </a:rPr>
                <a:t>3</a:t>
              </a:r>
              <a:r>
                <a:rPr lang="en-US" altLang="zh-CN" sz="1600" b="1" dirty="0">
                  <a:solidFill>
                    <a:srgbClr val="990099"/>
                  </a:solidFill>
                  <a:latin typeface="微软雅黑" panose="020B0503020204020204" pitchFamily="34" charset="-122"/>
                  <a:ea typeface="微软雅黑" panose="020B0503020204020204" pitchFamily="34" charset="-122"/>
                </a:rPr>
                <a:t> AS</a:t>
              </a:r>
              <a:r>
                <a:rPr lang="en-US" altLang="zh-CN" sz="1600" b="1" baseline="-25000" dirty="0">
                  <a:solidFill>
                    <a:srgbClr val="990099"/>
                  </a:solidFill>
                  <a:latin typeface="微软雅黑" panose="020B0503020204020204" pitchFamily="34" charset="-122"/>
                  <a:ea typeface="微软雅黑" panose="020B0503020204020204" pitchFamily="34" charset="-122"/>
                </a:rPr>
                <a:t>6</a:t>
              </a:r>
              <a:r>
                <a:rPr lang="en-US" altLang="zh-CN" sz="1600" b="1" dirty="0">
                  <a:solidFill>
                    <a:srgbClr val="990099"/>
                  </a:solidFill>
                  <a:latin typeface="微软雅黑" panose="020B0503020204020204" pitchFamily="34" charset="-122"/>
                  <a:ea typeface="微软雅黑" panose="020B0503020204020204" pitchFamily="34" charset="-122"/>
                </a:rPr>
                <a:t>]</a:t>
              </a:r>
            </a:p>
          </p:txBody>
        </p:sp>
      </p:grpSp>
      <p:grpSp>
        <p:nvGrpSpPr>
          <p:cNvPr id="64" name="组合 63"/>
          <p:cNvGrpSpPr/>
          <p:nvPr/>
        </p:nvGrpSpPr>
        <p:grpSpPr>
          <a:xfrm>
            <a:off x="979260" y="1534039"/>
            <a:ext cx="2031647" cy="541863"/>
            <a:chOff x="1921359" y="1534039"/>
            <a:chExt cx="2031647" cy="541863"/>
          </a:xfrm>
        </p:grpSpPr>
        <p:cxnSp>
          <p:nvCxnSpPr>
            <p:cNvPr id="58" name="直接箭头连接符 57"/>
            <p:cNvCxnSpPr/>
            <p:nvPr/>
          </p:nvCxnSpPr>
          <p:spPr>
            <a:xfrm flipH="1">
              <a:off x="3346753" y="1708446"/>
              <a:ext cx="606253" cy="367456"/>
            </a:xfrm>
            <a:prstGeom prst="straightConnector1">
              <a:avLst/>
            </a:prstGeom>
            <a:ln w="38100">
              <a:solidFill>
                <a:srgbClr val="C0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9" name="矩形 58"/>
            <p:cNvSpPr/>
            <p:nvPr/>
          </p:nvSpPr>
          <p:spPr>
            <a:xfrm>
              <a:off x="1921359" y="1534039"/>
              <a:ext cx="1824538" cy="400110"/>
            </a:xfrm>
            <a:prstGeom prst="rect">
              <a:avLst/>
            </a:prstGeom>
          </p:spPr>
          <p:txBody>
            <a:bodyPr wrap="none">
              <a:spAutoFit/>
            </a:bodyPr>
            <a:lstStyle/>
            <a:p>
              <a:pPr>
                <a:lnSpc>
                  <a:spcPts val="2400"/>
                </a:lnSpc>
              </a:pPr>
              <a:r>
                <a:rPr lang="en-US" altLang="zh-CN" sz="1600" b="1" dirty="0">
                  <a:solidFill>
                    <a:srgbClr val="990099"/>
                  </a:solidFill>
                  <a:latin typeface="微软雅黑" panose="020B0503020204020204" pitchFamily="34" charset="-122"/>
                  <a:ea typeface="微软雅黑" panose="020B0503020204020204" pitchFamily="34" charset="-122"/>
                </a:rPr>
                <a:t>[X, AS</a:t>
              </a:r>
              <a:r>
                <a:rPr lang="en-US" altLang="zh-CN" sz="1600" b="1" baseline="-25000" dirty="0">
                  <a:solidFill>
                    <a:srgbClr val="990099"/>
                  </a:solidFill>
                  <a:latin typeface="微软雅黑" panose="020B0503020204020204" pitchFamily="34" charset="-122"/>
                  <a:ea typeface="微软雅黑" panose="020B0503020204020204" pitchFamily="34" charset="-122"/>
                </a:rPr>
                <a:t>1</a:t>
              </a:r>
              <a:r>
                <a:rPr lang="en-US" altLang="zh-CN" sz="1600" b="1" dirty="0">
                  <a:solidFill>
                    <a:srgbClr val="990099"/>
                  </a:solidFill>
                  <a:latin typeface="微软雅黑" panose="020B0503020204020204" pitchFamily="34" charset="-122"/>
                  <a:ea typeface="微软雅黑" panose="020B0503020204020204" pitchFamily="34" charset="-122"/>
                </a:rPr>
                <a:t> AS</a:t>
              </a:r>
              <a:r>
                <a:rPr lang="en-US" altLang="zh-CN" sz="1600" b="1" baseline="-25000" dirty="0">
                  <a:solidFill>
                    <a:srgbClr val="990099"/>
                  </a:solidFill>
                  <a:latin typeface="微软雅黑" panose="020B0503020204020204" pitchFamily="34" charset="-122"/>
                  <a:ea typeface="微软雅黑" panose="020B0503020204020204" pitchFamily="34" charset="-122"/>
                </a:rPr>
                <a:t>3</a:t>
              </a:r>
              <a:r>
                <a:rPr lang="en-US" altLang="zh-CN" sz="1600" b="1" dirty="0">
                  <a:solidFill>
                    <a:srgbClr val="990099"/>
                  </a:solidFill>
                  <a:latin typeface="微软雅黑" panose="020B0503020204020204" pitchFamily="34" charset="-122"/>
                  <a:ea typeface="微软雅黑" panose="020B0503020204020204" pitchFamily="34" charset="-122"/>
                </a:rPr>
                <a:t> AS</a:t>
              </a:r>
              <a:r>
                <a:rPr lang="en-US" altLang="zh-CN" sz="1600" b="1" baseline="-25000" dirty="0">
                  <a:solidFill>
                    <a:srgbClr val="990099"/>
                  </a:solidFill>
                  <a:latin typeface="微软雅黑" panose="020B0503020204020204" pitchFamily="34" charset="-122"/>
                  <a:ea typeface="微软雅黑" panose="020B0503020204020204" pitchFamily="34" charset="-122"/>
                </a:rPr>
                <a:t>6</a:t>
              </a:r>
              <a:r>
                <a:rPr lang="en-US" altLang="zh-CN" sz="1600" b="1" dirty="0">
                  <a:solidFill>
                    <a:srgbClr val="990099"/>
                  </a:solidFill>
                  <a:latin typeface="微软雅黑" panose="020B0503020204020204" pitchFamily="34" charset="-122"/>
                  <a:ea typeface="微软雅黑" panose="020B0503020204020204" pitchFamily="34" charset="-122"/>
                </a:rPr>
                <a:t>]</a:t>
              </a:r>
            </a:p>
          </p:txBody>
        </p:sp>
      </p:grpSp>
      <p:grpSp>
        <p:nvGrpSpPr>
          <p:cNvPr id="65" name="组合 64"/>
          <p:cNvGrpSpPr/>
          <p:nvPr/>
        </p:nvGrpSpPr>
        <p:grpSpPr>
          <a:xfrm>
            <a:off x="2493447" y="2604903"/>
            <a:ext cx="2247731" cy="400110"/>
            <a:chOff x="3333950" y="2651083"/>
            <a:chExt cx="2247731" cy="400110"/>
          </a:xfrm>
        </p:grpSpPr>
        <p:cxnSp>
          <p:nvCxnSpPr>
            <p:cNvPr id="60" name="直接箭头连接符 59"/>
            <p:cNvCxnSpPr/>
            <p:nvPr/>
          </p:nvCxnSpPr>
          <p:spPr>
            <a:xfrm flipV="1">
              <a:off x="3838224" y="2670542"/>
              <a:ext cx="1085411" cy="2746"/>
            </a:xfrm>
            <a:prstGeom prst="straightConnector1">
              <a:avLst/>
            </a:prstGeom>
            <a:ln w="38100">
              <a:solidFill>
                <a:srgbClr val="C0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矩形 61"/>
            <p:cNvSpPr/>
            <p:nvPr/>
          </p:nvSpPr>
          <p:spPr>
            <a:xfrm>
              <a:off x="3333950" y="2651083"/>
              <a:ext cx="2247731" cy="400110"/>
            </a:xfrm>
            <a:prstGeom prst="rect">
              <a:avLst/>
            </a:prstGeom>
          </p:spPr>
          <p:txBody>
            <a:bodyPr wrap="none">
              <a:spAutoFit/>
            </a:bodyPr>
            <a:lstStyle/>
            <a:p>
              <a:pPr>
                <a:lnSpc>
                  <a:spcPts val="2400"/>
                </a:lnSpc>
              </a:pPr>
              <a:r>
                <a:rPr lang="en-US" altLang="zh-CN" sz="1600" b="1" dirty="0">
                  <a:solidFill>
                    <a:srgbClr val="990099"/>
                  </a:solidFill>
                  <a:latin typeface="微软雅黑" panose="020B0503020204020204" pitchFamily="34" charset="-122"/>
                  <a:ea typeface="微软雅黑" panose="020B0503020204020204" pitchFamily="34" charset="-122"/>
                </a:rPr>
                <a:t>[X, AS</a:t>
              </a:r>
              <a:r>
                <a:rPr lang="en-US" altLang="zh-CN" sz="1600" b="1" baseline="-25000" dirty="0">
                  <a:solidFill>
                    <a:srgbClr val="990099"/>
                  </a:solidFill>
                  <a:latin typeface="微软雅黑" panose="020B0503020204020204" pitchFamily="34" charset="-122"/>
                  <a:ea typeface="微软雅黑" panose="020B0503020204020204" pitchFamily="34" charset="-122"/>
                </a:rPr>
                <a:t>2</a:t>
              </a:r>
              <a:r>
                <a:rPr lang="en-US" altLang="zh-CN" sz="1600" b="1" dirty="0">
                  <a:solidFill>
                    <a:srgbClr val="990099"/>
                  </a:solidFill>
                  <a:latin typeface="微软雅黑" panose="020B0503020204020204" pitchFamily="34" charset="-122"/>
                  <a:ea typeface="微软雅黑" panose="020B0503020204020204" pitchFamily="34" charset="-122"/>
                </a:rPr>
                <a:t> AS</a:t>
              </a:r>
              <a:r>
                <a:rPr lang="en-US" altLang="zh-CN" sz="1600" b="1" baseline="-25000" dirty="0">
                  <a:solidFill>
                    <a:srgbClr val="990099"/>
                  </a:solidFill>
                  <a:latin typeface="微软雅黑" panose="020B0503020204020204" pitchFamily="34" charset="-122"/>
                  <a:ea typeface="微软雅黑" panose="020B0503020204020204" pitchFamily="34" charset="-122"/>
                </a:rPr>
                <a:t>1</a:t>
              </a:r>
              <a:r>
                <a:rPr lang="en-US" altLang="zh-CN" sz="1600" b="1" dirty="0">
                  <a:solidFill>
                    <a:srgbClr val="990099"/>
                  </a:solidFill>
                  <a:latin typeface="微软雅黑" panose="020B0503020204020204" pitchFamily="34" charset="-122"/>
                  <a:ea typeface="微软雅黑" panose="020B0503020204020204" pitchFamily="34" charset="-122"/>
                </a:rPr>
                <a:t> AS</a:t>
              </a:r>
              <a:r>
                <a:rPr lang="en-US" altLang="zh-CN" sz="1600" b="1" baseline="-25000" dirty="0">
                  <a:solidFill>
                    <a:srgbClr val="990099"/>
                  </a:solidFill>
                  <a:latin typeface="微软雅黑" panose="020B0503020204020204" pitchFamily="34" charset="-122"/>
                  <a:ea typeface="微软雅黑" panose="020B0503020204020204" pitchFamily="34" charset="-122"/>
                </a:rPr>
                <a:t>3</a:t>
              </a:r>
              <a:r>
                <a:rPr lang="en-US" altLang="zh-CN" sz="1600" b="1" dirty="0">
                  <a:solidFill>
                    <a:srgbClr val="990099"/>
                  </a:solidFill>
                  <a:latin typeface="微软雅黑" panose="020B0503020204020204" pitchFamily="34" charset="-122"/>
                  <a:ea typeface="微软雅黑" panose="020B0503020204020204" pitchFamily="34" charset="-122"/>
                </a:rPr>
                <a:t> AS</a:t>
              </a:r>
              <a:r>
                <a:rPr lang="en-US" altLang="zh-CN" sz="1600" b="1" baseline="-25000" dirty="0">
                  <a:solidFill>
                    <a:srgbClr val="990099"/>
                  </a:solidFill>
                  <a:latin typeface="微软雅黑" panose="020B0503020204020204" pitchFamily="34" charset="-122"/>
                  <a:ea typeface="微软雅黑" panose="020B0503020204020204" pitchFamily="34" charset="-122"/>
                </a:rPr>
                <a:t>6</a:t>
              </a:r>
              <a:r>
                <a:rPr lang="en-US" altLang="zh-CN" sz="1600" b="1" dirty="0">
                  <a:solidFill>
                    <a:srgbClr val="990099"/>
                  </a:solidFill>
                  <a:latin typeface="微软雅黑" panose="020B0503020204020204" pitchFamily="34" charset="-122"/>
                  <a:ea typeface="微软雅黑" panose="020B0503020204020204" pitchFamily="34" charset="-122"/>
                </a:rPr>
                <a:t>]</a:t>
              </a:r>
            </a:p>
          </p:txBody>
        </p:sp>
      </p:grpSp>
      <p:sp>
        <p:nvSpPr>
          <p:cNvPr id="66" name="矩形 65"/>
          <p:cNvSpPr/>
          <p:nvPr/>
        </p:nvSpPr>
        <p:spPr>
          <a:xfrm>
            <a:off x="5843719" y="2067245"/>
            <a:ext cx="2493915" cy="1502976"/>
          </a:xfrm>
          <a:prstGeom prst="rect">
            <a:avLst/>
          </a:prstGeom>
          <a:solidFill>
            <a:schemeClr val="bg1"/>
          </a:solidFill>
        </p:spPr>
        <p:txBody>
          <a:bodyPr wrap="square">
            <a:spAutoFit/>
          </a:bodyPr>
          <a:lstStyle/>
          <a:p>
            <a:pPr>
              <a:lnSpc>
                <a:spcPts val="2200"/>
              </a:lnSpc>
            </a:pPr>
            <a:r>
              <a:rPr lang="en-US" altLang="zh-CN" sz="1600" b="1" dirty="0">
                <a:latin typeface="微软雅黑" panose="020B0503020204020204" pitchFamily="34" charset="-122"/>
                <a:ea typeface="微软雅黑" panose="020B0503020204020204" pitchFamily="34" charset="-122"/>
              </a:rPr>
              <a:t>AS</a:t>
            </a:r>
            <a:r>
              <a:rPr lang="en-US" altLang="zh-CN" sz="1600" b="1" baseline="-25000" dirty="0">
                <a:latin typeface="微软雅黑" panose="020B0503020204020204" pitchFamily="34" charset="-122"/>
                <a:ea typeface="微软雅黑" panose="020B0503020204020204" pitchFamily="34" charset="-122"/>
              </a:rPr>
              <a:t>3</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检查收到的 </a:t>
            </a:r>
            <a:r>
              <a:rPr lang="en-US" altLang="zh-CN" sz="1600" b="1" dirty="0">
                <a:latin typeface="微软雅黑" panose="020B0503020204020204" pitchFamily="34" charset="-122"/>
                <a:ea typeface="微软雅黑" panose="020B0503020204020204" pitchFamily="34" charset="-122"/>
              </a:rPr>
              <a:t>BGP </a:t>
            </a:r>
            <a:r>
              <a:rPr lang="zh-CN" altLang="en-US" sz="1600" b="1" dirty="0">
                <a:latin typeface="微软雅黑" panose="020B0503020204020204" pitchFamily="34" charset="-122"/>
                <a:ea typeface="微软雅黑" panose="020B0503020204020204" pitchFamily="34" charset="-122"/>
              </a:rPr>
              <a:t>路由的 </a:t>
            </a:r>
            <a:r>
              <a:rPr lang="en-US" altLang="zh-CN" sz="1600" b="1" dirty="0">
                <a:latin typeface="微软雅黑" panose="020B0503020204020204" pitchFamily="34" charset="-122"/>
                <a:ea typeface="微软雅黑" panose="020B0503020204020204" pitchFamily="34" charset="-122"/>
              </a:rPr>
              <a:t>AS-PATH </a:t>
            </a:r>
            <a:r>
              <a:rPr lang="zh-CN" altLang="en-US" sz="1600" b="1" dirty="0">
                <a:latin typeface="微软雅黑" panose="020B0503020204020204" pitchFamily="34" charset="-122"/>
                <a:ea typeface="微软雅黑" panose="020B0503020204020204" pitchFamily="34" charset="-122"/>
              </a:rPr>
              <a:t>中已经有了自己，立即删除掉这条路由，从而避免兜圈子路由的出现。</a:t>
            </a:r>
            <a:endParaRPr lang="en-US" altLang="zh-CN" sz="1600" b="1" dirty="0">
              <a:latin typeface="微软雅黑" panose="020B0503020204020204" pitchFamily="34" charset="-122"/>
              <a:ea typeface="微软雅黑" panose="020B0503020204020204" pitchFamily="34" charset="-122"/>
            </a:endParaRPr>
          </a:p>
        </p:txBody>
      </p:sp>
      <p:sp>
        <p:nvSpPr>
          <p:cNvPr id="67" name="矩形 66"/>
          <p:cNvSpPr/>
          <p:nvPr/>
        </p:nvSpPr>
        <p:spPr>
          <a:xfrm>
            <a:off x="979260" y="3873934"/>
            <a:ext cx="7287285" cy="400110"/>
          </a:xfrm>
          <a:prstGeom prst="rect">
            <a:avLst/>
          </a:prstGeom>
          <a:solidFill>
            <a:srgbClr val="000066"/>
          </a:solidFill>
          <a:ln>
            <a:noFill/>
          </a:ln>
        </p:spPr>
        <p:style>
          <a:lnRef idx="1">
            <a:schemeClr val="accent2"/>
          </a:lnRef>
          <a:fillRef idx="3">
            <a:schemeClr val="accent2"/>
          </a:fillRef>
          <a:effectRef idx="2">
            <a:schemeClr val="accent2"/>
          </a:effectRef>
          <a:fontRef idx="minor">
            <a:schemeClr val="lt1"/>
          </a:fontRef>
        </p:style>
        <p:txBody>
          <a:bodyPr wrap="square">
            <a:spAutoFit/>
          </a:bodyPr>
          <a:lstStyle/>
          <a:p>
            <a:pPr algn="ctr"/>
            <a:r>
              <a:rPr lang="zh-CN" altLang="en-US" sz="2000" b="1" dirty="0">
                <a:latin typeface="微软雅黑" panose="020B0503020204020204" pitchFamily="34" charset="-122"/>
                <a:ea typeface="微软雅黑" panose="020B0503020204020204" pitchFamily="34" charset="-122"/>
              </a:rPr>
              <a:t>请记住：在属性 </a:t>
            </a:r>
            <a:r>
              <a:rPr lang="en-US" altLang="zh-CN" sz="2000" b="1" dirty="0">
                <a:latin typeface="微软雅黑" panose="020B0503020204020204" pitchFamily="34" charset="-122"/>
                <a:ea typeface="微软雅黑" panose="020B0503020204020204" pitchFamily="34" charset="-122"/>
              </a:rPr>
              <a:t>AS-PATH </a:t>
            </a:r>
            <a:r>
              <a:rPr lang="zh-CN" altLang="en-US" sz="2000" b="1" dirty="0">
                <a:latin typeface="微软雅黑" panose="020B0503020204020204" pitchFamily="34" charset="-122"/>
                <a:ea typeface="微软雅黑" panose="020B0503020204020204" pitchFamily="34" charset="-122"/>
              </a:rPr>
              <a:t>中，不允许出现相同的 </a:t>
            </a:r>
            <a:r>
              <a:rPr lang="en-US" altLang="zh-CN" sz="2000" b="1" dirty="0">
                <a:latin typeface="微软雅黑" panose="020B0503020204020204" pitchFamily="34" charset="-122"/>
                <a:ea typeface="微软雅黑" panose="020B0503020204020204" pitchFamily="34" charset="-122"/>
              </a:rPr>
              <a:t>AS </a:t>
            </a:r>
            <a:r>
              <a:rPr lang="zh-CN" altLang="en-US" sz="2000" b="1" dirty="0">
                <a:latin typeface="微软雅黑" panose="020B0503020204020204" pitchFamily="34" charset="-122"/>
                <a:ea typeface="微软雅黑" panose="020B0503020204020204" pitchFamily="34" charset="-122"/>
              </a:rPr>
              <a:t>号。</a:t>
            </a:r>
          </a:p>
        </p:txBody>
      </p:sp>
    </p:spTree>
    <p:extLst>
      <p:ext uri="{BB962C8B-B14F-4D97-AF65-F5344CB8AC3E}">
        <p14:creationId xmlns:p14="http://schemas.microsoft.com/office/powerpoint/2010/main" val="397414104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wipe(down)">
                                      <p:cBhvr>
                                        <p:cTn id="7" dur="1000"/>
                                        <p:tgtEl>
                                          <p:spTgt spid="6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64"/>
                                        </p:tgtEl>
                                        <p:attrNameLst>
                                          <p:attrName>style.visibility</p:attrName>
                                        </p:attrNameLst>
                                      </p:cBhvr>
                                      <p:to>
                                        <p:strVal val="visible"/>
                                      </p:to>
                                    </p:set>
                                    <p:animEffect transition="in" filter="wipe(right)">
                                      <p:cBhvr>
                                        <p:cTn id="12" dur="1000"/>
                                        <p:tgtEl>
                                          <p:spTgt spid="64"/>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65"/>
                                        </p:tgtEl>
                                        <p:attrNameLst>
                                          <p:attrName>style.visibility</p:attrName>
                                        </p:attrNameLst>
                                      </p:cBhvr>
                                      <p:to>
                                        <p:strVal val="visible"/>
                                      </p:to>
                                    </p:set>
                                    <p:animEffect transition="in" filter="wipe(up)">
                                      <p:cBhvr>
                                        <p:cTn id="17" dur="1000"/>
                                        <p:tgtEl>
                                          <p:spTgt spid="65"/>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66"/>
                                        </p:tgtEl>
                                        <p:attrNameLst>
                                          <p:attrName>style.visibility</p:attrName>
                                        </p:attrNameLst>
                                      </p:cBhvr>
                                      <p:to>
                                        <p:strVal val="visible"/>
                                      </p:to>
                                    </p:set>
                                    <p:animEffect transition="in" filter="wipe(up)">
                                      <p:cBhvr>
                                        <p:cTn id="22" dur="1000"/>
                                        <p:tgtEl>
                                          <p:spTgt spid="6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67"/>
                                        </p:tgtEl>
                                        <p:attrNameLst>
                                          <p:attrName>style.visibility</p:attrName>
                                        </p:attrNameLst>
                                      </p:cBhvr>
                                      <p:to>
                                        <p:strVal val="visible"/>
                                      </p:to>
                                    </p:set>
                                    <p:animEffect transition="in" filter="fade">
                                      <p:cBhvr>
                                        <p:cTn id="27" dur="10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animBg="1"/>
      <p:bldP spid="67" grpId="0" animBg="1"/>
    </p:bld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5" y="621250"/>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8039"/>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4. BGP </a:t>
            </a:r>
            <a:r>
              <a:rPr lang="zh-CN" altLang="en-US" sz="2000" b="1" dirty="0">
                <a:solidFill>
                  <a:schemeClr val="bg1"/>
                </a:solidFill>
                <a:latin typeface="微软雅黑" pitchFamily="34" charset="-122"/>
                <a:ea typeface="微软雅黑" pitchFamily="34" charset="-122"/>
              </a:rPr>
              <a:t>的路由选择</a:t>
            </a:r>
          </a:p>
        </p:txBody>
      </p:sp>
      <p:graphicFrame>
        <p:nvGraphicFramePr>
          <p:cNvPr id="2" name="图示 1"/>
          <p:cNvGraphicFramePr/>
          <p:nvPr>
            <p:extLst>
              <p:ext uri="{D42A27DB-BD31-4B8C-83A1-F6EECF244321}">
                <p14:modId xmlns:p14="http://schemas.microsoft.com/office/powerpoint/2010/main" val="2174500357"/>
              </p:ext>
            </p:extLst>
          </p:nvPr>
        </p:nvGraphicFramePr>
        <p:xfrm>
          <a:off x="1228436" y="1145306"/>
          <a:ext cx="6862618" cy="3269675"/>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400146929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 name="圆角矩形 161"/>
          <p:cNvSpPr/>
          <p:nvPr/>
        </p:nvSpPr>
        <p:spPr>
          <a:xfrm>
            <a:off x="545145" y="1052857"/>
            <a:ext cx="8053712" cy="235721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p:cNvSpPr>
            <a:spLocks noChangeArrowheads="1"/>
          </p:cNvSpPr>
          <p:nvPr/>
        </p:nvSpPr>
        <p:spPr bwMode="auto">
          <a:xfrm>
            <a:off x="545145" y="621250"/>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8039"/>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本地偏好 </a:t>
            </a:r>
            <a:r>
              <a:rPr lang="en-US" altLang="zh-CN" sz="2000" b="1" dirty="0">
                <a:solidFill>
                  <a:schemeClr val="bg1"/>
                </a:solidFill>
                <a:latin typeface="微软雅黑" pitchFamily="34" charset="-122"/>
                <a:ea typeface="微软雅黑" pitchFamily="34" charset="-122"/>
              </a:rPr>
              <a:t>(local preference) </a:t>
            </a:r>
            <a:r>
              <a:rPr lang="zh-CN" altLang="en-US" sz="2000" b="1" dirty="0">
                <a:solidFill>
                  <a:schemeClr val="bg1"/>
                </a:solidFill>
                <a:latin typeface="微软雅黑" pitchFamily="34" charset="-122"/>
                <a:ea typeface="微软雅黑" pitchFamily="34" charset="-122"/>
              </a:rPr>
              <a:t>值最高</a:t>
            </a:r>
          </a:p>
        </p:txBody>
      </p:sp>
      <p:sp>
        <p:nvSpPr>
          <p:cNvPr id="196" name="Line 155"/>
          <p:cNvSpPr>
            <a:spLocks noChangeShapeType="1"/>
          </p:cNvSpPr>
          <p:nvPr/>
        </p:nvSpPr>
        <p:spPr bwMode="auto">
          <a:xfrm flipV="1">
            <a:off x="5803187" y="2219399"/>
            <a:ext cx="586018" cy="47036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7" name="Line 155"/>
          <p:cNvSpPr>
            <a:spLocks noChangeShapeType="1"/>
          </p:cNvSpPr>
          <p:nvPr/>
        </p:nvSpPr>
        <p:spPr bwMode="auto">
          <a:xfrm>
            <a:off x="3952711" y="1669599"/>
            <a:ext cx="1100449" cy="35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8" name="Oval 207"/>
          <p:cNvSpPr>
            <a:spLocks noChangeArrowheads="1"/>
          </p:cNvSpPr>
          <p:nvPr/>
        </p:nvSpPr>
        <p:spPr bwMode="auto">
          <a:xfrm>
            <a:off x="1571206" y="1825356"/>
            <a:ext cx="541333" cy="239324"/>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99" name="Oval 208"/>
          <p:cNvSpPr>
            <a:spLocks noChangeArrowheads="1"/>
          </p:cNvSpPr>
          <p:nvPr/>
        </p:nvSpPr>
        <p:spPr bwMode="auto">
          <a:xfrm>
            <a:off x="1264653" y="1890626"/>
            <a:ext cx="412386" cy="239324"/>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0" name="Oval 209"/>
          <p:cNvSpPr>
            <a:spLocks noChangeArrowheads="1"/>
          </p:cNvSpPr>
          <p:nvPr/>
        </p:nvSpPr>
        <p:spPr bwMode="auto">
          <a:xfrm>
            <a:off x="1134489" y="2040506"/>
            <a:ext cx="276141" cy="19097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1" name="Oval 210"/>
          <p:cNvSpPr>
            <a:spLocks noChangeArrowheads="1"/>
          </p:cNvSpPr>
          <p:nvPr/>
        </p:nvSpPr>
        <p:spPr bwMode="auto">
          <a:xfrm>
            <a:off x="1218427" y="2129950"/>
            <a:ext cx="420902" cy="20910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2" name="Oval 211"/>
          <p:cNvSpPr>
            <a:spLocks noChangeArrowheads="1"/>
          </p:cNvSpPr>
          <p:nvPr/>
        </p:nvSpPr>
        <p:spPr bwMode="auto">
          <a:xfrm>
            <a:off x="1524980" y="2165003"/>
            <a:ext cx="633785" cy="25141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3" name="Oval 212"/>
          <p:cNvSpPr>
            <a:spLocks noChangeArrowheads="1"/>
          </p:cNvSpPr>
          <p:nvPr/>
        </p:nvSpPr>
        <p:spPr bwMode="auto">
          <a:xfrm>
            <a:off x="1937366" y="1896670"/>
            <a:ext cx="397789" cy="18493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4" name="Oval 213"/>
          <p:cNvSpPr>
            <a:spLocks noChangeArrowheads="1"/>
          </p:cNvSpPr>
          <p:nvPr/>
        </p:nvSpPr>
        <p:spPr bwMode="auto">
          <a:xfrm>
            <a:off x="1998190" y="2022376"/>
            <a:ext cx="397789" cy="18493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5" name="Oval 214"/>
          <p:cNvSpPr>
            <a:spLocks noChangeArrowheads="1"/>
          </p:cNvSpPr>
          <p:nvPr/>
        </p:nvSpPr>
        <p:spPr bwMode="auto">
          <a:xfrm>
            <a:off x="1960479" y="2064680"/>
            <a:ext cx="397788" cy="30942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6" name="Oval 215"/>
          <p:cNvSpPr>
            <a:spLocks noChangeArrowheads="1"/>
          </p:cNvSpPr>
          <p:nvPr/>
        </p:nvSpPr>
        <p:spPr bwMode="auto">
          <a:xfrm>
            <a:off x="1364404" y="1969192"/>
            <a:ext cx="817474" cy="30942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07" name="Group 216"/>
          <p:cNvGrpSpPr>
            <a:grpSpLocks/>
          </p:cNvGrpSpPr>
          <p:nvPr/>
        </p:nvGrpSpPr>
        <p:grpSpPr bwMode="auto">
          <a:xfrm>
            <a:off x="1127190" y="1813269"/>
            <a:ext cx="1261489" cy="591058"/>
            <a:chOff x="912" y="768"/>
            <a:chExt cx="2386" cy="1553"/>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08"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9"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0"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1"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2"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3"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4"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5"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6"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nvGrpSpPr>
          <p:cNvPr id="217" name="Group 206"/>
          <p:cNvGrpSpPr>
            <a:grpSpLocks/>
          </p:cNvGrpSpPr>
          <p:nvPr/>
        </p:nvGrpSpPr>
        <p:grpSpPr bwMode="auto">
          <a:xfrm>
            <a:off x="2983987" y="1420562"/>
            <a:ext cx="1157263" cy="512974"/>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18"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9"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0"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1"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2"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3"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4"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5"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6"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27" name="Group 216"/>
            <p:cNvGrpSpPr>
              <a:grpSpLocks/>
            </p:cNvGrpSpPr>
            <p:nvPr/>
          </p:nvGrpSpPr>
          <p:grpSpPr bwMode="auto">
            <a:xfrm>
              <a:off x="912" y="768"/>
              <a:ext cx="2386" cy="1553"/>
              <a:chOff x="912" y="768"/>
              <a:chExt cx="2386" cy="1553"/>
            </a:xfrm>
            <a:grpFill/>
          </p:grpSpPr>
          <p:sp>
            <p:nvSpPr>
              <p:cNvPr id="228"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9"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0"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1"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2"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3"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4"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5"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6"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37" name="Group 206"/>
          <p:cNvGrpSpPr>
            <a:grpSpLocks/>
          </p:cNvGrpSpPr>
          <p:nvPr/>
        </p:nvGrpSpPr>
        <p:grpSpPr bwMode="auto">
          <a:xfrm>
            <a:off x="6275132" y="1867661"/>
            <a:ext cx="1355429" cy="603145"/>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38"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9"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0"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1"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2"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3"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4"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5"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6"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47" name="Group 216"/>
            <p:cNvGrpSpPr>
              <a:grpSpLocks/>
            </p:cNvGrpSpPr>
            <p:nvPr/>
          </p:nvGrpSpPr>
          <p:grpSpPr bwMode="auto">
            <a:xfrm>
              <a:off x="912" y="768"/>
              <a:ext cx="2386" cy="1553"/>
              <a:chOff x="912" y="768"/>
              <a:chExt cx="2386" cy="1553"/>
            </a:xfrm>
            <a:grpFill/>
          </p:grpSpPr>
          <p:sp>
            <p:nvSpPr>
              <p:cNvPr id="248"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9"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0"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1"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2"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3"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4"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5"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6"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257" name="Line 154"/>
          <p:cNvSpPr>
            <a:spLocks noChangeShapeType="1"/>
          </p:cNvSpPr>
          <p:nvPr/>
        </p:nvSpPr>
        <p:spPr bwMode="auto">
          <a:xfrm flipV="1">
            <a:off x="2403277" y="1758877"/>
            <a:ext cx="599725" cy="19255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8" name="Line 167"/>
          <p:cNvSpPr>
            <a:spLocks noChangeShapeType="1"/>
          </p:cNvSpPr>
          <p:nvPr/>
        </p:nvSpPr>
        <p:spPr bwMode="auto">
          <a:xfrm>
            <a:off x="1197746" y="2171046"/>
            <a:ext cx="645951" cy="24536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9" name="Line 169"/>
          <p:cNvSpPr>
            <a:spLocks noChangeShapeType="1"/>
          </p:cNvSpPr>
          <p:nvPr/>
        </p:nvSpPr>
        <p:spPr bwMode="auto">
          <a:xfrm flipV="1">
            <a:off x="1181932" y="1906340"/>
            <a:ext cx="496324" cy="23569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0" name="Line 170"/>
          <p:cNvSpPr>
            <a:spLocks noChangeShapeType="1"/>
          </p:cNvSpPr>
          <p:nvPr/>
        </p:nvSpPr>
        <p:spPr bwMode="auto">
          <a:xfrm>
            <a:off x="1788955" y="1851947"/>
            <a:ext cx="491567" cy="9548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1" name="Text Box 173"/>
          <p:cNvSpPr txBox="1">
            <a:spLocks noChangeArrowheads="1"/>
          </p:cNvSpPr>
          <p:nvPr/>
        </p:nvSpPr>
        <p:spPr bwMode="auto">
          <a:xfrm>
            <a:off x="1623514" y="197015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1</a:t>
            </a:r>
          </a:p>
        </p:txBody>
      </p:sp>
      <p:sp>
        <p:nvSpPr>
          <p:cNvPr id="262" name="Text Box 174"/>
          <p:cNvSpPr txBox="1">
            <a:spLocks noChangeArrowheads="1"/>
          </p:cNvSpPr>
          <p:nvPr/>
        </p:nvSpPr>
        <p:spPr bwMode="auto">
          <a:xfrm>
            <a:off x="6723498" y="20163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5</a:t>
            </a:r>
          </a:p>
        </p:txBody>
      </p:sp>
      <p:sp>
        <p:nvSpPr>
          <p:cNvPr id="263" name="Text Box 175"/>
          <p:cNvSpPr txBox="1">
            <a:spLocks noChangeArrowheads="1"/>
          </p:cNvSpPr>
          <p:nvPr/>
        </p:nvSpPr>
        <p:spPr bwMode="auto">
          <a:xfrm>
            <a:off x="3332129" y="15229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2</a:t>
            </a:r>
          </a:p>
        </p:txBody>
      </p:sp>
      <p:sp>
        <p:nvSpPr>
          <p:cNvPr id="295" name="Text Box 173"/>
          <p:cNvSpPr txBox="1">
            <a:spLocks noChangeArrowheads="1"/>
          </p:cNvSpPr>
          <p:nvPr/>
        </p:nvSpPr>
        <p:spPr bwMode="auto">
          <a:xfrm>
            <a:off x="2153899" y="1639833"/>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R</a:t>
            </a:r>
            <a:r>
              <a:rPr lang="en-US" altLang="zh-CN" sz="1400" b="1" baseline="-25000" dirty="0">
                <a:latin typeface="微软雅黑" panose="020B0503020204020204" pitchFamily="34" charset="-122"/>
                <a:ea typeface="微软雅黑" panose="020B0503020204020204" pitchFamily="34" charset="-122"/>
              </a:rPr>
              <a:t>1d</a:t>
            </a:r>
          </a:p>
        </p:txBody>
      </p:sp>
      <p:pic>
        <p:nvPicPr>
          <p:cNvPr id="296"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1232" y="2087646"/>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97"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23514" y="1796347"/>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98"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64074" y="1703277"/>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99"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30538" y="1897288"/>
            <a:ext cx="226265"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00" name="Text Box 173"/>
          <p:cNvSpPr txBox="1">
            <a:spLocks noChangeArrowheads="1"/>
          </p:cNvSpPr>
          <p:nvPr/>
        </p:nvSpPr>
        <p:spPr bwMode="auto">
          <a:xfrm>
            <a:off x="1732997" y="2399492"/>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1c</a:t>
            </a:r>
          </a:p>
        </p:txBody>
      </p:sp>
      <p:sp>
        <p:nvSpPr>
          <p:cNvPr id="301" name="Text Box 173"/>
          <p:cNvSpPr txBox="1">
            <a:spLocks noChangeArrowheads="1"/>
          </p:cNvSpPr>
          <p:nvPr/>
        </p:nvSpPr>
        <p:spPr bwMode="auto">
          <a:xfrm>
            <a:off x="1567556" y="1577571"/>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1b</a:t>
            </a:r>
          </a:p>
        </p:txBody>
      </p:sp>
      <p:sp>
        <p:nvSpPr>
          <p:cNvPr id="302" name="Text Box 173"/>
          <p:cNvSpPr txBox="1">
            <a:spLocks noChangeArrowheads="1"/>
          </p:cNvSpPr>
          <p:nvPr/>
        </p:nvSpPr>
        <p:spPr bwMode="auto">
          <a:xfrm>
            <a:off x="851050" y="1851947"/>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1a</a:t>
            </a:r>
          </a:p>
        </p:txBody>
      </p:sp>
      <p:sp>
        <p:nvSpPr>
          <p:cNvPr id="303" name="椭圆 274"/>
          <p:cNvSpPr>
            <a:spLocks noChangeArrowheads="1"/>
          </p:cNvSpPr>
          <p:nvPr/>
        </p:nvSpPr>
        <p:spPr bwMode="auto">
          <a:xfrm>
            <a:off x="2882570" y="1744373"/>
            <a:ext cx="76638" cy="7614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4" name="Text Box 173"/>
          <p:cNvSpPr txBox="1">
            <a:spLocks noChangeArrowheads="1"/>
          </p:cNvSpPr>
          <p:nvPr/>
        </p:nvSpPr>
        <p:spPr bwMode="auto">
          <a:xfrm>
            <a:off x="2673336" y="1494170"/>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2a</a:t>
            </a:r>
          </a:p>
        </p:txBody>
      </p:sp>
      <p:sp>
        <p:nvSpPr>
          <p:cNvPr id="329" name="Text Box 174"/>
          <p:cNvSpPr txBox="1">
            <a:spLocks noChangeArrowheads="1"/>
          </p:cNvSpPr>
          <p:nvPr/>
        </p:nvSpPr>
        <p:spPr bwMode="auto">
          <a:xfrm>
            <a:off x="1352260" y="3419313"/>
            <a:ext cx="522931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solidFill>
                  <a:srgbClr val="0000FF"/>
                </a:solidFill>
                <a:latin typeface="微软雅黑" panose="020B0503020204020204" pitchFamily="34" charset="-122"/>
                <a:ea typeface="微软雅黑" panose="020B0503020204020204" pitchFamily="34" charset="-122"/>
              </a:rPr>
              <a:t>AS</a:t>
            </a:r>
            <a:r>
              <a:rPr lang="en-US" altLang="zh-CN" sz="1800" b="1" baseline="-25000" dirty="0">
                <a:solidFill>
                  <a:srgbClr val="0000FF"/>
                </a:solidFill>
                <a:latin typeface="微软雅黑" panose="020B0503020204020204" pitchFamily="34" charset="-122"/>
                <a:ea typeface="微软雅黑" panose="020B0503020204020204" pitchFamily="34" charset="-122"/>
              </a:rPr>
              <a:t>1</a:t>
            </a:r>
            <a:r>
              <a:rPr lang="en-US" altLang="zh-CN" sz="1800" b="1" dirty="0">
                <a:solidFill>
                  <a:srgbClr val="0000FF"/>
                </a:solidFill>
                <a:latin typeface="微软雅黑" panose="020B0503020204020204" pitchFamily="34" charset="-122"/>
                <a:ea typeface="微软雅黑" panose="020B0503020204020204" pitchFamily="34" charset="-122"/>
              </a:rPr>
              <a:t> </a:t>
            </a:r>
            <a:r>
              <a:rPr lang="zh-CN" altLang="en-US" sz="1800" b="1" dirty="0">
                <a:solidFill>
                  <a:srgbClr val="0000FF"/>
                </a:solidFill>
                <a:latin typeface="微软雅黑" panose="020B0503020204020204" pitchFamily="34" charset="-122"/>
                <a:ea typeface="微软雅黑" panose="020B0503020204020204" pitchFamily="34" charset="-122"/>
              </a:rPr>
              <a:t>选择通过路由器 </a:t>
            </a:r>
            <a:r>
              <a:rPr lang="en-US" altLang="zh-CN" sz="1800" b="1" dirty="0">
                <a:solidFill>
                  <a:srgbClr val="0000FF"/>
                </a:solidFill>
                <a:latin typeface="微软雅黑" panose="020B0503020204020204" pitchFamily="34" charset="-122"/>
                <a:ea typeface="微软雅黑" panose="020B0503020204020204" pitchFamily="34" charset="-122"/>
              </a:rPr>
              <a:t>R</a:t>
            </a:r>
            <a:r>
              <a:rPr lang="en-US" altLang="zh-CN" sz="1800" b="1" baseline="-25000" dirty="0">
                <a:solidFill>
                  <a:srgbClr val="0000FF"/>
                </a:solidFill>
                <a:latin typeface="微软雅黑" panose="020B0503020204020204" pitchFamily="34" charset="-122"/>
                <a:ea typeface="微软雅黑" panose="020B0503020204020204" pitchFamily="34" charset="-122"/>
              </a:rPr>
              <a:t>1d</a:t>
            </a:r>
            <a:r>
              <a:rPr lang="en-US" altLang="zh-CN" sz="1800" b="1" dirty="0">
                <a:solidFill>
                  <a:srgbClr val="0000FF"/>
                </a:solidFill>
                <a:latin typeface="微软雅黑" panose="020B0503020204020204" pitchFamily="34" charset="-122"/>
                <a:ea typeface="微软雅黑" panose="020B0503020204020204" pitchFamily="34" charset="-122"/>
              </a:rPr>
              <a:t> </a:t>
            </a:r>
            <a:r>
              <a:rPr lang="zh-CN" altLang="en-US" sz="1800" b="1" dirty="0">
                <a:solidFill>
                  <a:srgbClr val="0000FF"/>
                </a:solidFill>
                <a:latin typeface="微软雅黑" panose="020B0503020204020204" pitchFamily="34" charset="-122"/>
                <a:ea typeface="微软雅黑" panose="020B0503020204020204" pitchFamily="34" charset="-122"/>
              </a:rPr>
              <a:t>到达 </a:t>
            </a:r>
            <a:r>
              <a:rPr lang="en-US" altLang="zh-CN" sz="1800" b="1" dirty="0">
                <a:solidFill>
                  <a:srgbClr val="0000FF"/>
                </a:solidFill>
                <a:latin typeface="微软雅黑" panose="020B0503020204020204" pitchFamily="34" charset="-122"/>
                <a:ea typeface="微软雅黑" panose="020B0503020204020204" pitchFamily="34" charset="-122"/>
              </a:rPr>
              <a:t>X </a:t>
            </a:r>
            <a:r>
              <a:rPr lang="zh-CN" altLang="en-US" sz="1800" b="1" dirty="0">
                <a:solidFill>
                  <a:srgbClr val="0000FF"/>
                </a:solidFill>
                <a:latin typeface="微软雅黑" panose="020B0503020204020204" pitchFamily="34" charset="-122"/>
                <a:ea typeface="微软雅黑" panose="020B0503020204020204" pitchFamily="34" charset="-122"/>
              </a:rPr>
              <a:t>的 </a:t>
            </a:r>
            <a:r>
              <a:rPr lang="en-US" altLang="zh-CN" sz="1800" b="1" dirty="0">
                <a:solidFill>
                  <a:srgbClr val="0000FF"/>
                </a:solidFill>
                <a:latin typeface="微软雅黑" panose="020B0503020204020204" pitchFamily="34" charset="-122"/>
                <a:ea typeface="微软雅黑" panose="020B0503020204020204" pitchFamily="34" charset="-122"/>
              </a:rPr>
              <a:t>BGP </a:t>
            </a:r>
            <a:r>
              <a:rPr lang="zh-CN" altLang="en-US" sz="1800" b="1" dirty="0">
                <a:solidFill>
                  <a:srgbClr val="0000FF"/>
                </a:solidFill>
                <a:latin typeface="微软雅黑" panose="020B0503020204020204" pitchFamily="34" charset="-122"/>
                <a:ea typeface="微软雅黑" panose="020B0503020204020204" pitchFamily="34" charset="-122"/>
              </a:rPr>
              <a:t>路由。</a:t>
            </a:r>
            <a:endParaRPr lang="en-US" altLang="zh-CN" sz="1800" b="1" baseline="-25000" dirty="0">
              <a:solidFill>
                <a:srgbClr val="0000FF"/>
              </a:solidFill>
              <a:latin typeface="微软雅黑" panose="020B0503020204020204" pitchFamily="34" charset="-122"/>
              <a:ea typeface="微软雅黑" panose="020B0503020204020204" pitchFamily="34" charset="-122"/>
            </a:endParaRPr>
          </a:p>
        </p:txBody>
      </p:sp>
      <p:grpSp>
        <p:nvGrpSpPr>
          <p:cNvPr id="332" name="Group 206"/>
          <p:cNvGrpSpPr>
            <a:grpSpLocks/>
          </p:cNvGrpSpPr>
          <p:nvPr/>
        </p:nvGrpSpPr>
        <p:grpSpPr bwMode="auto">
          <a:xfrm>
            <a:off x="2912774" y="2117278"/>
            <a:ext cx="2951162" cy="935037"/>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33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3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3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3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3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3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3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342" name="Group 216"/>
            <p:cNvGrpSpPr>
              <a:grpSpLocks/>
            </p:cNvGrpSpPr>
            <p:nvPr/>
          </p:nvGrpSpPr>
          <p:grpSpPr bwMode="auto">
            <a:xfrm>
              <a:off x="912" y="768"/>
              <a:ext cx="2386" cy="1553"/>
              <a:chOff x="912" y="768"/>
              <a:chExt cx="2386" cy="1553"/>
            </a:xfrm>
            <a:grpFill/>
          </p:grpSpPr>
          <p:sp>
            <p:nvSpPr>
              <p:cNvPr id="34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5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5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sp>
        <p:nvSpPr>
          <p:cNvPr id="353" name="Line 154"/>
          <p:cNvSpPr>
            <a:spLocks noChangeShapeType="1"/>
          </p:cNvSpPr>
          <p:nvPr/>
        </p:nvSpPr>
        <p:spPr bwMode="auto">
          <a:xfrm flipV="1">
            <a:off x="3200111" y="2404615"/>
            <a:ext cx="504825" cy="2159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4" name="Line 154"/>
          <p:cNvSpPr>
            <a:spLocks noChangeShapeType="1"/>
          </p:cNvSpPr>
          <p:nvPr/>
        </p:nvSpPr>
        <p:spPr bwMode="auto">
          <a:xfrm>
            <a:off x="3759394" y="2460227"/>
            <a:ext cx="377342" cy="30475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5" name="Line 154"/>
          <p:cNvSpPr>
            <a:spLocks noChangeShapeType="1"/>
          </p:cNvSpPr>
          <p:nvPr/>
        </p:nvSpPr>
        <p:spPr bwMode="auto">
          <a:xfrm>
            <a:off x="5363277" y="2399491"/>
            <a:ext cx="429222" cy="29246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6" name="Line 154"/>
          <p:cNvSpPr>
            <a:spLocks noChangeShapeType="1"/>
          </p:cNvSpPr>
          <p:nvPr/>
        </p:nvSpPr>
        <p:spPr bwMode="auto">
          <a:xfrm flipV="1">
            <a:off x="4902276" y="2393499"/>
            <a:ext cx="331423" cy="3530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7" name="Line 154"/>
          <p:cNvSpPr>
            <a:spLocks noChangeShapeType="1"/>
          </p:cNvSpPr>
          <p:nvPr/>
        </p:nvSpPr>
        <p:spPr bwMode="auto">
          <a:xfrm flipV="1">
            <a:off x="4117686" y="2364928"/>
            <a:ext cx="354013" cy="4111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8" name="Line 154"/>
          <p:cNvSpPr>
            <a:spLocks noChangeShapeType="1"/>
          </p:cNvSpPr>
          <p:nvPr/>
        </p:nvSpPr>
        <p:spPr bwMode="auto">
          <a:xfrm flipH="1" flipV="1">
            <a:off x="4539960" y="2404614"/>
            <a:ext cx="288361" cy="3714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9" name="Text Box 174"/>
          <p:cNvSpPr txBox="1">
            <a:spLocks noChangeArrowheads="1"/>
          </p:cNvSpPr>
          <p:nvPr/>
        </p:nvSpPr>
        <p:spPr bwMode="auto">
          <a:xfrm>
            <a:off x="5071774" y="2549078"/>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4</a:t>
            </a:r>
          </a:p>
        </p:txBody>
      </p:sp>
      <p:pic>
        <p:nvPicPr>
          <p:cNvPr id="360"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92274" y="2691953"/>
            <a:ext cx="296862"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61"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60474" y="2333178"/>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62"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52636" y="2260153"/>
            <a:ext cx="296863"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63"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44799" y="2290311"/>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64"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648036" y="2620515"/>
            <a:ext cx="296863"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65"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12999" y="2694403"/>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195" name="Line 154"/>
          <p:cNvSpPr>
            <a:spLocks noChangeShapeType="1"/>
          </p:cNvSpPr>
          <p:nvPr/>
        </p:nvSpPr>
        <p:spPr bwMode="auto">
          <a:xfrm>
            <a:off x="1893572" y="2427293"/>
            <a:ext cx="1183459" cy="21163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5" name="椭圆 273"/>
          <p:cNvSpPr>
            <a:spLocks noChangeArrowheads="1"/>
          </p:cNvSpPr>
          <p:nvPr/>
        </p:nvSpPr>
        <p:spPr bwMode="auto">
          <a:xfrm>
            <a:off x="2956193" y="2593070"/>
            <a:ext cx="76638" cy="7614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6" name="Text Box 173"/>
          <p:cNvSpPr txBox="1">
            <a:spLocks noChangeArrowheads="1"/>
          </p:cNvSpPr>
          <p:nvPr/>
        </p:nvSpPr>
        <p:spPr bwMode="auto">
          <a:xfrm>
            <a:off x="2799266" y="2344076"/>
            <a:ext cx="380758" cy="451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4a</a:t>
            </a:r>
          </a:p>
        </p:txBody>
      </p:sp>
      <p:pic>
        <p:nvPicPr>
          <p:cNvPr id="330"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20666" y="2564061"/>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64"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34214" y="2345100"/>
            <a:ext cx="227481"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87" name="Line 155"/>
          <p:cNvSpPr>
            <a:spLocks noChangeShapeType="1"/>
          </p:cNvSpPr>
          <p:nvPr/>
        </p:nvSpPr>
        <p:spPr bwMode="auto">
          <a:xfrm>
            <a:off x="5742693" y="1809940"/>
            <a:ext cx="558807" cy="34775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388"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42474" y="2147013"/>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163" name="组合 162"/>
          <p:cNvGrpSpPr/>
          <p:nvPr/>
        </p:nvGrpSpPr>
        <p:grpSpPr>
          <a:xfrm>
            <a:off x="7139909" y="2180331"/>
            <a:ext cx="1195784" cy="475254"/>
            <a:chOff x="7199673" y="2544678"/>
            <a:chExt cx="1195784" cy="475254"/>
          </a:xfrm>
        </p:grpSpPr>
        <p:sp>
          <p:nvSpPr>
            <p:cNvPr id="164" name="AutoShape 229"/>
            <p:cNvSpPr>
              <a:spLocks noChangeAspect="1" noChangeArrowheads="1" noTextEdit="1"/>
            </p:cNvSpPr>
            <p:nvPr/>
          </p:nvSpPr>
          <p:spPr bwMode="auto">
            <a:xfrm>
              <a:off x="7199673" y="2544678"/>
              <a:ext cx="485152" cy="374983"/>
            </a:xfrm>
            <a:prstGeom prst="rect">
              <a:avLst/>
            </a:prstGeom>
            <a:noFill/>
            <a:ln>
              <a:noFill/>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65" name="Oval 231"/>
            <p:cNvSpPr>
              <a:spLocks noChangeArrowheads="1"/>
            </p:cNvSpPr>
            <p:nvPr/>
          </p:nvSpPr>
          <p:spPr bwMode="auto">
            <a:xfrm>
              <a:off x="7365705" y="2549127"/>
              <a:ext cx="208807" cy="15126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66" name="Oval 232"/>
            <p:cNvSpPr>
              <a:spLocks noChangeArrowheads="1"/>
            </p:cNvSpPr>
            <p:nvPr/>
          </p:nvSpPr>
          <p:spPr bwMode="auto">
            <a:xfrm>
              <a:off x="7250890" y="2588532"/>
              <a:ext cx="159841" cy="151900"/>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67" name="Oval 233"/>
            <p:cNvSpPr>
              <a:spLocks noChangeArrowheads="1"/>
            </p:cNvSpPr>
            <p:nvPr/>
          </p:nvSpPr>
          <p:spPr bwMode="auto">
            <a:xfrm>
              <a:off x="7201924" y="2680053"/>
              <a:ext cx="108062" cy="123299"/>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68" name="Oval 234"/>
            <p:cNvSpPr>
              <a:spLocks noChangeArrowheads="1"/>
            </p:cNvSpPr>
            <p:nvPr/>
          </p:nvSpPr>
          <p:spPr bwMode="auto">
            <a:xfrm>
              <a:off x="7234568" y="2734076"/>
              <a:ext cx="162655" cy="13410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69" name="Oval 235"/>
            <p:cNvSpPr>
              <a:spLocks noChangeArrowheads="1"/>
            </p:cNvSpPr>
            <p:nvPr/>
          </p:nvSpPr>
          <p:spPr bwMode="auto">
            <a:xfrm>
              <a:off x="7349383" y="2756321"/>
              <a:ext cx="242576" cy="15889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70" name="Oval 236"/>
            <p:cNvSpPr>
              <a:spLocks noChangeArrowheads="1"/>
            </p:cNvSpPr>
            <p:nvPr/>
          </p:nvSpPr>
          <p:spPr bwMode="auto">
            <a:xfrm>
              <a:off x="7503597" y="2592981"/>
              <a:ext cx="155902" cy="11948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71" name="Oval 237"/>
            <p:cNvSpPr>
              <a:spLocks noChangeArrowheads="1"/>
            </p:cNvSpPr>
            <p:nvPr/>
          </p:nvSpPr>
          <p:spPr bwMode="auto">
            <a:xfrm>
              <a:off x="7527235" y="2669884"/>
              <a:ext cx="154213" cy="11885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72" name="Oval 238"/>
            <p:cNvSpPr>
              <a:spLocks noChangeArrowheads="1"/>
            </p:cNvSpPr>
            <p:nvPr/>
          </p:nvSpPr>
          <p:spPr bwMode="auto">
            <a:xfrm>
              <a:off x="7513164" y="2694671"/>
              <a:ext cx="15308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73" name="Oval 239"/>
            <p:cNvSpPr>
              <a:spLocks noChangeArrowheads="1"/>
            </p:cNvSpPr>
            <p:nvPr/>
          </p:nvSpPr>
          <p:spPr bwMode="auto">
            <a:xfrm>
              <a:off x="7289162" y="2635564"/>
              <a:ext cx="31067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174" name="Group 257"/>
            <p:cNvGrpSpPr>
              <a:grpSpLocks/>
            </p:cNvGrpSpPr>
            <p:nvPr/>
          </p:nvGrpSpPr>
          <p:grpSpPr bwMode="auto">
            <a:xfrm>
              <a:off x="7200799" y="2545949"/>
              <a:ext cx="481775" cy="369898"/>
              <a:chOff x="3063" y="302"/>
              <a:chExt cx="856" cy="582"/>
            </a:xfrm>
            <a:solidFill>
              <a:schemeClr val="bg1"/>
            </a:solidFill>
          </p:grpSpPr>
          <p:sp>
            <p:nvSpPr>
              <p:cNvPr id="178" name="Freeform 241"/>
              <p:cNvSpPr>
                <a:spLocks/>
              </p:cNvSpPr>
              <p:nvPr/>
            </p:nvSpPr>
            <p:spPr bwMode="auto">
              <a:xfrm>
                <a:off x="3364" y="302"/>
                <a:ext cx="353" cy="123"/>
              </a:xfrm>
              <a:custGeom>
                <a:avLst/>
                <a:gdLst>
                  <a:gd name="T0" fmla="*/ 2147483647 w 171"/>
                  <a:gd name="T1" fmla="*/ 2147483647 h 53"/>
                  <a:gd name="T2" fmla="*/ 1516289415 w 171"/>
                  <a:gd name="T3" fmla="*/ 247646291 h 53"/>
                  <a:gd name="T4" fmla="*/ 0 w 171"/>
                  <a:gd name="T5" fmla="*/ 2147483647 h 53"/>
                  <a:gd name="T6" fmla="*/ 1516289415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79" name="Arc 242"/>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0" name="Freeform 243"/>
              <p:cNvSpPr>
                <a:spLocks/>
              </p:cNvSpPr>
              <p:nvPr/>
            </p:nvSpPr>
            <p:spPr bwMode="auto">
              <a:xfrm>
                <a:off x="3150" y="367"/>
                <a:ext cx="220" cy="146"/>
              </a:xfrm>
              <a:custGeom>
                <a:avLst/>
                <a:gdLst>
                  <a:gd name="T0" fmla="*/ 1693384537 w 107"/>
                  <a:gd name="T1" fmla="*/ 1713152276 h 63"/>
                  <a:gd name="T2" fmla="*/ 1109914767 w 107"/>
                  <a:gd name="T3" fmla="*/ 0 h 63"/>
                  <a:gd name="T4" fmla="*/ 14279267 w 107"/>
                  <a:gd name="T5" fmla="*/ 2147483647 h 63"/>
                  <a:gd name="T6" fmla="*/ 29359234 w 107"/>
                  <a:gd name="T7" fmla="*/ 2147483647 h 63"/>
                  <a:gd name="T8" fmla="*/ 1109914767 w 107"/>
                  <a:gd name="T9" fmla="*/ 2147483647 h 63"/>
                  <a:gd name="T10" fmla="*/ 1693384537 w 107"/>
                  <a:gd name="T11" fmla="*/ 1713152276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1" name="Arc 244"/>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2" name="Freeform 245"/>
              <p:cNvSpPr>
                <a:spLocks/>
              </p:cNvSpPr>
              <p:nvPr/>
            </p:nvSpPr>
            <p:spPr bwMode="auto">
              <a:xfrm>
                <a:off x="3121" y="696"/>
                <a:ext cx="220" cy="115"/>
              </a:xfrm>
              <a:custGeom>
                <a:avLst/>
                <a:gdLst>
                  <a:gd name="T0" fmla="*/ 0 w 107"/>
                  <a:gd name="T1" fmla="*/ 0 h 50"/>
                  <a:gd name="T2" fmla="*/ 0 w 107"/>
                  <a:gd name="T3" fmla="*/ 476470799 h 50"/>
                  <a:gd name="T4" fmla="*/ 1139293797 w 107"/>
                  <a:gd name="T5" fmla="*/ 2147483647 h 50"/>
                  <a:gd name="T6" fmla="*/ 1693384537 w 107"/>
                  <a:gd name="T7" fmla="*/ 2147483647 h 50"/>
                  <a:gd name="T8" fmla="*/ 1139293797 w 107"/>
                  <a:gd name="T9" fmla="*/ 635978878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3" name="Arc 246"/>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4" name="Freeform 247"/>
              <p:cNvSpPr>
                <a:spLocks/>
              </p:cNvSpPr>
              <p:nvPr/>
            </p:nvSpPr>
            <p:spPr bwMode="auto">
              <a:xfrm>
                <a:off x="3713" y="372"/>
                <a:ext cx="167" cy="141"/>
              </a:xfrm>
              <a:custGeom>
                <a:avLst/>
                <a:gdLst>
                  <a:gd name="T0" fmla="*/ 1211487246 w 81"/>
                  <a:gd name="T1" fmla="*/ 2147483647 h 61"/>
                  <a:gd name="T2" fmla="*/ 1365605509 w 81"/>
                  <a:gd name="T3" fmla="*/ 2147483647 h 61"/>
                  <a:gd name="T4" fmla="*/ 239314720 w 81"/>
                  <a:gd name="T5" fmla="*/ 230421347 h 61"/>
                  <a:gd name="T6" fmla="*/ 0 w 81"/>
                  <a:gd name="T7" fmla="*/ 230421347 h 61"/>
                  <a:gd name="T8" fmla="*/ 239314720 w 81"/>
                  <a:gd name="T9" fmla="*/ 2147483647 h 61"/>
                  <a:gd name="T10" fmla="*/ 1211487246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5" name="Arc 248"/>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6" name="Freeform 249"/>
              <p:cNvSpPr>
                <a:spLocks/>
              </p:cNvSpPr>
              <p:nvPr/>
            </p:nvSpPr>
            <p:spPr bwMode="auto">
              <a:xfrm>
                <a:off x="3760" y="511"/>
                <a:ext cx="159" cy="138"/>
              </a:xfrm>
              <a:custGeom>
                <a:avLst/>
                <a:gdLst>
                  <a:gd name="T0" fmla="*/ 1082302279 w 77"/>
                  <a:gd name="T1" fmla="*/ 2147483647 h 60"/>
                  <a:gd name="T2" fmla="*/ 1344976453 w 77"/>
                  <a:gd name="T3" fmla="*/ 2147483647 h 60"/>
                  <a:gd name="T4" fmla="*/ 835832256 w 77"/>
                  <a:gd name="T5" fmla="*/ 0 h 60"/>
                  <a:gd name="T6" fmla="*/ 0 w 77"/>
                  <a:gd name="T7" fmla="*/ 2147483647 h 60"/>
                  <a:gd name="T8" fmla="*/ 1082302279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7" name="Arc 250"/>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8" name="Freeform 251"/>
              <p:cNvSpPr>
                <a:spLocks/>
              </p:cNvSpPr>
              <p:nvPr/>
            </p:nvSpPr>
            <p:spPr bwMode="auto">
              <a:xfrm>
                <a:off x="3706" y="647"/>
                <a:ext cx="188" cy="201"/>
              </a:xfrm>
              <a:custGeom>
                <a:avLst/>
                <a:gdLst>
                  <a:gd name="T0" fmla="*/ 0 w 91"/>
                  <a:gd name="T1" fmla="*/ 2147483647 h 87"/>
                  <a:gd name="T2" fmla="*/ 411749049 w 91"/>
                  <a:gd name="T3" fmla="*/ 2147483647 h 87"/>
                  <a:gd name="T4" fmla="*/ 1608817485 w 91"/>
                  <a:gd name="T5" fmla="*/ 2147483647 h 87"/>
                  <a:gd name="T6" fmla="*/ 1558612064 w 91"/>
                  <a:gd name="T7" fmla="*/ 0 h 87"/>
                  <a:gd name="T8" fmla="*/ 411749049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9" name="Arc 252"/>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90" name="Freeform 253"/>
              <p:cNvSpPr>
                <a:spLocks/>
              </p:cNvSpPr>
              <p:nvPr/>
            </p:nvSpPr>
            <p:spPr bwMode="auto">
              <a:xfrm>
                <a:off x="3063" y="511"/>
                <a:ext cx="103" cy="189"/>
              </a:xfrm>
              <a:custGeom>
                <a:avLst/>
                <a:gdLst>
                  <a:gd name="T0" fmla="*/ 780520248 w 50"/>
                  <a:gd name="T1" fmla="*/ 0 h 82"/>
                  <a:gd name="T2" fmla="*/ 14698957 w 50"/>
                  <a:gd name="T3" fmla="*/ 2147483647 h 82"/>
                  <a:gd name="T4" fmla="*/ 500253939 w 50"/>
                  <a:gd name="T5" fmla="*/ 2147483647 h 82"/>
                  <a:gd name="T6" fmla="*/ 827327125 w 50"/>
                  <a:gd name="T7" fmla="*/ 2147483647 h 82"/>
                  <a:gd name="T8" fmla="*/ 780520248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91" name="Arc 254"/>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92" name="Freeform 255"/>
              <p:cNvSpPr>
                <a:spLocks/>
              </p:cNvSpPr>
              <p:nvPr/>
            </p:nvSpPr>
            <p:spPr bwMode="auto">
              <a:xfrm>
                <a:off x="3333" y="770"/>
                <a:ext cx="380" cy="113"/>
              </a:xfrm>
              <a:custGeom>
                <a:avLst/>
                <a:gdLst>
                  <a:gd name="T0" fmla="*/ 0 w 184"/>
                  <a:gd name="T1" fmla="*/ 2147483647 h 49"/>
                  <a:gd name="T2" fmla="*/ 1757541845 w 184"/>
                  <a:gd name="T3" fmla="*/ 2147483647 h 49"/>
                  <a:gd name="T4" fmla="*/ 2147483647 w 184"/>
                  <a:gd name="T5" fmla="*/ 2147483647 h 49"/>
                  <a:gd name="T6" fmla="*/ 1757541845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93" name="Arc 256"/>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grpSp>
        <p:sp>
          <p:nvSpPr>
            <p:cNvPr id="175" name="Text Box 173"/>
            <p:cNvSpPr txBox="1">
              <a:spLocks noChangeArrowheads="1"/>
            </p:cNvSpPr>
            <p:nvPr/>
          </p:nvSpPr>
          <p:spPr bwMode="auto">
            <a:xfrm>
              <a:off x="7293022" y="2580347"/>
              <a:ext cx="3097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X</a:t>
              </a:r>
            </a:p>
          </p:txBody>
        </p:sp>
        <p:sp>
          <p:nvSpPr>
            <p:cNvPr id="176" name="Text Box 42"/>
            <p:cNvSpPr txBox="1">
              <a:spLocks noChangeArrowheads="1"/>
            </p:cNvSpPr>
            <p:nvPr/>
          </p:nvSpPr>
          <p:spPr bwMode="auto">
            <a:xfrm>
              <a:off x="7851718" y="2712155"/>
              <a:ext cx="54373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前缀</a:t>
              </a:r>
            </a:p>
          </p:txBody>
        </p:sp>
        <p:cxnSp>
          <p:nvCxnSpPr>
            <p:cNvPr id="177" name="直接箭头连接符 331"/>
            <p:cNvCxnSpPr>
              <a:cxnSpLocks noChangeShapeType="1"/>
            </p:cNvCxnSpPr>
            <p:nvPr/>
          </p:nvCxnSpPr>
          <p:spPr bwMode="auto">
            <a:xfrm flipH="1" flipV="1">
              <a:off x="7526757" y="2746845"/>
              <a:ext cx="373781" cy="94158"/>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grpSp>
      <p:cxnSp>
        <p:nvCxnSpPr>
          <p:cNvPr id="391" name="直接箭头连接符 390"/>
          <p:cNvCxnSpPr/>
          <p:nvPr/>
        </p:nvCxnSpPr>
        <p:spPr>
          <a:xfrm flipH="1" flipV="1">
            <a:off x="2001976" y="1383251"/>
            <a:ext cx="233259" cy="319045"/>
          </a:xfrm>
          <a:prstGeom prst="straightConnector1">
            <a:avLst/>
          </a:prstGeom>
          <a:ln w="127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394" name="直接箭头连接符 393"/>
          <p:cNvCxnSpPr/>
          <p:nvPr/>
        </p:nvCxnSpPr>
        <p:spPr>
          <a:xfrm flipH="1">
            <a:off x="1623514" y="2637020"/>
            <a:ext cx="177015" cy="396996"/>
          </a:xfrm>
          <a:prstGeom prst="straightConnector1">
            <a:avLst/>
          </a:prstGeom>
          <a:ln w="127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grpSp>
        <p:nvGrpSpPr>
          <p:cNvPr id="366" name="Group 206"/>
          <p:cNvGrpSpPr>
            <a:grpSpLocks/>
          </p:cNvGrpSpPr>
          <p:nvPr/>
        </p:nvGrpSpPr>
        <p:grpSpPr bwMode="auto">
          <a:xfrm>
            <a:off x="4690551" y="1420562"/>
            <a:ext cx="1157263" cy="512974"/>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367"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68"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69"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0"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1"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2"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3"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4"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5"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76" name="Group 216"/>
            <p:cNvGrpSpPr>
              <a:grpSpLocks/>
            </p:cNvGrpSpPr>
            <p:nvPr/>
          </p:nvGrpSpPr>
          <p:grpSpPr bwMode="auto">
            <a:xfrm>
              <a:off x="912" y="768"/>
              <a:ext cx="2386" cy="1553"/>
              <a:chOff x="912" y="768"/>
              <a:chExt cx="2386" cy="1553"/>
            </a:xfrm>
            <a:grpFill/>
          </p:grpSpPr>
          <p:sp>
            <p:nvSpPr>
              <p:cNvPr id="377"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8"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9"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0"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1"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2"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3"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4"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5"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386" name="Text Box 175"/>
          <p:cNvSpPr txBox="1">
            <a:spLocks noChangeArrowheads="1"/>
          </p:cNvSpPr>
          <p:nvPr/>
        </p:nvSpPr>
        <p:spPr bwMode="auto">
          <a:xfrm>
            <a:off x="5038693" y="15229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3</a:t>
            </a:r>
          </a:p>
        </p:txBody>
      </p:sp>
      <p:sp>
        <p:nvSpPr>
          <p:cNvPr id="401" name="Text Box 173"/>
          <p:cNvSpPr txBox="1">
            <a:spLocks noChangeArrowheads="1"/>
          </p:cNvSpPr>
          <p:nvPr/>
        </p:nvSpPr>
        <p:spPr bwMode="auto">
          <a:xfrm>
            <a:off x="882387" y="3014631"/>
            <a:ext cx="36622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solidFill>
                  <a:srgbClr val="C00000"/>
                </a:solidFill>
                <a:latin typeface="微软雅黑" panose="020B0503020204020204" pitchFamily="34" charset="-122"/>
                <a:ea typeface="微软雅黑" panose="020B0503020204020204" pitchFamily="34" charset="-122"/>
              </a:rPr>
              <a:t>[ X, AS</a:t>
            </a:r>
            <a:r>
              <a:rPr lang="en-US" altLang="zh-CN" sz="1400" b="1" baseline="-25000" dirty="0">
                <a:solidFill>
                  <a:srgbClr val="C00000"/>
                </a:solidFill>
                <a:latin typeface="微软雅黑" panose="020B0503020204020204" pitchFamily="34" charset="-122"/>
                <a:ea typeface="微软雅黑" panose="020B0503020204020204" pitchFamily="34" charset="-122"/>
              </a:rPr>
              <a:t>4</a:t>
            </a:r>
            <a:r>
              <a:rPr lang="en-US" altLang="zh-CN" sz="1400" b="1" dirty="0">
                <a:solidFill>
                  <a:srgbClr val="C00000"/>
                </a:solidFill>
                <a:latin typeface="微软雅黑" panose="020B0503020204020204" pitchFamily="34" charset="-122"/>
                <a:ea typeface="微软雅黑" panose="020B0503020204020204" pitchFamily="34" charset="-122"/>
              </a:rPr>
              <a:t> AS</a:t>
            </a:r>
            <a:r>
              <a:rPr lang="en-US" altLang="zh-CN" sz="1400" b="1" baseline="-25000" dirty="0">
                <a:solidFill>
                  <a:srgbClr val="C00000"/>
                </a:solidFill>
                <a:latin typeface="微软雅黑" panose="020B0503020204020204" pitchFamily="34" charset="-122"/>
                <a:ea typeface="微软雅黑" panose="020B0503020204020204" pitchFamily="34" charset="-122"/>
              </a:rPr>
              <a:t>5</a:t>
            </a:r>
            <a:r>
              <a:rPr lang="en-US" altLang="zh-CN" sz="1400" b="1" dirty="0">
                <a:solidFill>
                  <a:srgbClr val="C00000"/>
                </a:solidFill>
                <a:latin typeface="微软雅黑" panose="020B0503020204020204" pitchFamily="34" charset="-122"/>
                <a:ea typeface="微软雅黑" panose="020B0503020204020204" pitchFamily="34" charset="-122"/>
              </a:rPr>
              <a:t> , LOCAL-PREF = 100 , IP</a:t>
            </a:r>
            <a:r>
              <a:rPr lang="en-US" altLang="zh-CN" sz="1400" b="1" baseline="-25000" dirty="0">
                <a:solidFill>
                  <a:srgbClr val="C00000"/>
                </a:solidFill>
                <a:latin typeface="微软雅黑" panose="020B0503020204020204" pitchFamily="34" charset="-122"/>
                <a:ea typeface="微软雅黑" panose="020B0503020204020204" pitchFamily="34" charset="-122"/>
              </a:rPr>
              <a:t>4a</a:t>
            </a:r>
            <a:r>
              <a:rPr lang="en-US" altLang="zh-CN" sz="1400" b="1" dirty="0">
                <a:solidFill>
                  <a:srgbClr val="C00000"/>
                </a:solidFill>
                <a:latin typeface="微软雅黑" panose="020B0503020204020204" pitchFamily="34" charset="-122"/>
                <a:ea typeface="微软雅黑" panose="020B0503020204020204" pitchFamily="34" charset="-122"/>
              </a:rPr>
              <a:t> ]</a:t>
            </a:r>
            <a:endParaRPr lang="en-US" altLang="zh-CN" sz="1400" b="1" baseline="-25000" dirty="0">
              <a:solidFill>
                <a:srgbClr val="C00000"/>
              </a:solidFill>
              <a:latin typeface="微软雅黑" panose="020B0503020204020204" pitchFamily="34" charset="-122"/>
              <a:ea typeface="微软雅黑" panose="020B0503020204020204" pitchFamily="34" charset="-122"/>
            </a:endParaRPr>
          </a:p>
        </p:txBody>
      </p:sp>
      <p:sp>
        <p:nvSpPr>
          <p:cNvPr id="402" name="Text Box 173"/>
          <p:cNvSpPr txBox="1">
            <a:spLocks noChangeArrowheads="1"/>
          </p:cNvSpPr>
          <p:nvPr/>
        </p:nvSpPr>
        <p:spPr bwMode="auto">
          <a:xfrm>
            <a:off x="877725" y="1126614"/>
            <a:ext cx="403411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solidFill>
                  <a:srgbClr val="C00000"/>
                </a:solidFill>
                <a:latin typeface="微软雅黑" panose="020B0503020204020204" pitchFamily="34" charset="-122"/>
                <a:ea typeface="微软雅黑" panose="020B0503020204020204" pitchFamily="34" charset="-122"/>
              </a:rPr>
              <a:t>[ X, AS</a:t>
            </a:r>
            <a:r>
              <a:rPr lang="en-US" altLang="zh-CN" sz="1400" b="1" baseline="-25000" dirty="0">
                <a:solidFill>
                  <a:srgbClr val="C00000"/>
                </a:solidFill>
                <a:latin typeface="微软雅黑" panose="020B0503020204020204" pitchFamily="34" charset="-122"/>
                <a:ea typeface="微软雅黑" panose="020B0503020204020204" pitchFamily="34" charset="-122"/>
              </a:rPr>
              <a:t>2</a:t>
            </a:r>
            <a:r>
              <a:rPr lang="en-US" altLang="zh-CN" sz="1400" b="1" dirty="0">
                <a:solidFill>
                  <a:srgbClr val="C00000"/>
                </a:solidFill>
                <a:latin typeface="微软雅黑" panose="020B0503020204020204" pitchFamily="34" charset="-122"/>
                <a:ea typeface="微软雅黑" panose="020B0503020204020204" pitchFamily="34" charset="-122"/>
              </a:rPr>
              <a:t> AS</a:t>
            </a:r>
            <a:r>
              <a:rPr lang="en-US" altLang="zh-CN" sz="1400" b="1" baseline="-25000" dirty="0">
                <a:solidFill>
                  <a:srgbClr val="C00000"/>
                </a:solidFill>
                <a:latin typeface="微软雅黑" panose="020B0503020204020204" pitchFamily="34" charset="-122"/>
                <a:ea typeface="微软雅黑" panose="020B0503020204020204" pitchFamily="34" charset="-122"/>
              </a:rPr>
              <a:t>3</a:t>
            </a:r>
            <a:r>
              <a:rPr lang="en-US" altLang="zh-CN" sz="1400" b="1" dirty="0">
                <a:solidFill>
                  <a:srgbClr val="C00000"/>
                </a:solidFill>
                <a:latin typeface="微软雅黑" panose="020B0503020204020204" pitchFamily="34" charset="-122"/>
                <a:ea typeface="微软雅黑" panose="020B0503020204020204" pitchFamily="34" charset="-122"/>
              </a:rPr>
              <a:t> AS</a:t>
            </a:r>
            <a:r>
              <a:rPr lang="en-US" altLang="zh-CN" sz="1400" b="1" baseline="-25000" dirty="0">
                <a:solidFill>
                  <a:srgbClr val="C00000"/>
                </a:solidFill>
                <a:latin typeface="微软雅黑" panose="020B0503020204020204" pitchFamily="34" charset="-122"/>
                <a:ea typeface="微软雅黑" panose="020B0503020204020204" pitchFamily="34" charset="-122"/>
              </a:rPr>
              <a:t>5</a:t>
            </a:r>
            <a:r>
              <a:rPr lang="en-US" altLang="zh-CN" sz="1400" b="1" dirty="0">
                <a:solidFill>
                  <a:srgbClr val="C00000"/>
                </a:solidFill>
                <a:latin typeface="微软雅黑" panose="020B0503020204020204" pitchFamily="34" charset="-122"/>
                <a:ea typeface="微软雅黑" panose="020B0503020204020204" pitchFamily="34" charset="-122"/>
              </a:rPr>
              <a:t> , LOCAL-PREF = 200, IP</a:t>
            </a:r>
            <a:r>
              <a:rPr lang="en-US" altLang="zh-CN" sz="1400" b="1" baseline="-25000" dirty="0">
                <a:solidFill>
                  <a:srgbClr val="C00000"/>
                </a:solidFill>
                <a:latin typeface="微软雅黑" panose="020B0503020204020204" pitchFamily="34" charset="-122"/>
                <a:ea typeface="微软雅黑" panose="020B0503020204020204" pitchFamily="34" charset="-122"/>
              </a:rPr>
              <a:t>2a</a:t>
            </a:r>
            <a:r>
              <a:rPr lang="en-US" altLang="zh-CN" sz="1400" b="1" dirty="0">
                <a:solidFill>
                  <a:srgbClr val="C00000"/>
                </a:solidFill>
                <a:latin typeface="微软雅黑" panose="020B0503020204020204" pitchFamily="34" charset="-122"/>
                <a:ea typeface="微软雅黑" panose="020B0503020204020204" pitchFamily="34" charset="-122"/>
              </a:rPr>
              <a:t> ]</a:t>
            </a:r>
            <a:endParaRPr lang="en-US" altLang="zh-CN" sz="1400" b="1" baseline="-25000" dirty="0">
              <a:solidFill>
                <a:srgbClr val="C0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85111781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5" y="621250"/>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8039"/>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AS </a:t>
            </a:r>
            <a:r>
              <a:rPr lang="zh-CN" altLang="en-US" sz="2000" b="1" dirty="0">
                <a:solidFill>
                  <a:schemeClr val="bg1"/>
                </a:solidFill>
                <a:latin typeface="微软雅黑" pitchFamily="34" charset="-122"/>
                <a:ea typeface="微软雅黑" pitchFamily="34" charset="-122"/>
              </a:rPr>
              <a:t>跳数最小</a:t>
            </a:r>
          </a:p>
        </p:txBody>
      </p:sp>
      <p:sp>
        <p:nvSpPr>
          <p:cNvPr id="329" name="Text Box 174"/>
          <p:cNvSpPr txBox="1">
            <a:spLocks noChangeArrowheads="1"/>
          </p:cNvSpPr>
          <p:nvPr/>
        </p:nvSpPr>
        <p:spPr bwMode="auto">
          <a:xfrm>
            <a:off x="1356648" y="3381918"/>
            <a:ext cx="6285929" cy="10926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ts val="2600"/>
              </a:lnSpc>
            </a:pPr>
            <a:r>
              <a:rPr lang="en-US" altLang="zh-CN" sz="1800" b="1" dirty="0">
                <a:solidFill>
                  <a:srgbClr val="0000FF"/>
                </a:solidFill>
                <a:latin typeface="微软雅黑" panose="020B0503020204020204" pitchFamily="34" charset="-122"/>
                <a:ea typeface="微软雅黑" panose="020B0503020204020204" pitchFamily="34" charset="-122"/>
              </a:rPr>
              <a:t>AS</a:t>
            </a:r>
            <a:r>
              <a:rPr lang="en-US" altLang="zh-CN" sz="1800" b="1" baseline="-25000" dirty="0">
                <a:solidFill>
                  <a:srgbClr val="0000FF"/>
                </a:solidFill>
                <a:latin typeface="微软雅黑" panose="020B0503020204020204" pitchFamily="34" charset="-122"/>
                <a:ea typeface="微软雅黑" panose="020B0503020204020204" pitchFamily="34" charset="-122"/>
              </a:rPr>
              <a:t>1</a:t>
            </a:r>
            <a:r>
              <a:rPr lang="en-US" altLang="zh-CN" sz="1800" b="1" dirty="0">
                <a:solidFill>
                  <a:srgbClr val="0000FF"/>
                </a:solidFill>
                <a:latin typeface="微软雅黑" panose="020B0503020204020204" pitchFamily="34" charset="-122"/>
                <a:ea typeface="微软雅黑" panose="020B0503020204020204" pitchFamily="34" charset="-122"/>
              </a:rPr>
              <a:t> </a:t>
            </a:r>
            <a:r>
              <a:rPr lang="zh-CN" altLang="en-US" sz="1800" b="1" dirty="0">
                <a:solidFill>
                  <a:srgbClr val="0000FF"/>
                </a:solidFill>
                <a:latin typeface="微软雅黑" panose="020B0503020204020204" pitchFamily="34" charset="-122"/>
                <a:ea typeface="微软雅黑" panose="020B0503020204020204" pitchFamily="34" charset="-122"/>
              </a:rPr>
              <a:t>选择通过路由器 </a:t>
            </a:r>
            <a:r>
              <a:rPr lang="en-US" altLang="zh-CN" sz="1800" b="1" dirty="0">
                <a:solidFill>
                  <a:srgbClr val="0000FF"/>
                </a:solidFill>
                <a:latin typeface="微软雅黑" panose="020B0503020204020204" pitchFamily="34" charset="-122"/>
                <a:ea typeface="微软雅黑" panose="020B0503020204020204" pitchFamily="34" charset="-122"/>
              </a:rPr>
              <a:t>R</a:t>
            </a:r>
            <a:r>
              <a:rPr lang="en-US" altLang="zh-CN" sz="1800" b="1" baseline="-25000" dirty="0">
                <a:solidFill>
                  <a:srgbClr val="0000FF"/>
                </a:solidFill>
                <a:latin typeface="微软雅黑" panose="020B0503020204020204" pitchFamily="34" charset="-122"/>
                <a:ea typeface="微软雅黑" panose="020B0503020204020204" pitchFamily="34" charset="-122"/>
              </a:rPr>
              <a:t>1c</a:t>
            </a:r>
            <a:r>
              <a:rPr lang="en-US" altLang="zh-CN" sz="1800" b="1" dirty="0">
                <a:solidFill>
                  <a:srgbClr val="0000FF"/>
                </a:solidFill>
                <a:latin typeface="微软雅黑" panose="020B0503020204020204" pitchFamily="34" charset="-122"/>
                <a:ea typeface="微软雅黑" panose="020B0503020204020204" pitchFamily="34" charset="-122"/>
              </a:rPr>
              <a:t> </a:t>
            </a:r>
            <a:r>
              <a:rPr lang="zh-CN" altLang="en-US" sz="1800" b="1" dirty="0">
                <a:solidFill>
                  <a:srgbClr val="0000FF"/>
                </a:solidFill>
                <a:latin typeface="微软雅黑" panose="020B0503020204020204" pitchFamily="34" charset="-122"/>
                <a:ea typeface="微软雅黑" panose="020B0503020204020204" pitchFamily="34" charset="-122"/>
              </a:rPr>
              <a:t>到达 </a:t>
            </a:r>
            <a:r>
              <a:rPr lang="en-US" altLang="zh-CN" sz="1800" b="1" dirty="0">
                <a:solidFill>
                  <a:srgbClr val="0000FF"/>
                </a:solidFill>
                <a:latin typeface="微软雅黑" panose="020B0503020204020204" pitchFamily="34" charset="-122"/>
                <a:ea typeface="微软雅黑" panose="020B0503020204020204" pitchFamily="34" charset="-122"/>
              </a:rPr>
              <a:t>X </a:t>
            </a:r>
            <a:r>
              <a:rPr lang="zh-CN" altLang="en-US" sz="1800" b="1" dirty="0">
                <a:solidFill>
                  <a:srgbClr val="0000FF"/>
                </a:solidFill>
                <a:latin typeface="微软雅黑" panose="020B0503020204020204" pitchFamily="34" charset="-122"/>
                <a:ea typeface="微软雅黑" panose="020B0503020204020204" pitchFamily="34" charset="-122"/>
              </a:rPr>
              <a:t>的 </a:t>
            </a:r>
            <a:r>
              <a:rPr lang="en-US" altLang="zh-CN" sz="1800" b="1" dirty="0">
                <a:solidFill>
                  <a:srgbClr val="0000FF"/>
                </a:solidFill>
                <a:latin typeface="微软雅黑" panose="020B0503020204020204" pitchFamily="34" charset="-122"/>
                <a:ea typeface="微软雅黑" panose="020B0503020204020204" pitchFamily="34" charset="-122"/>
              </a:rPr>
              <a:t>BGP </a:t>
            </a:r>
            <a:r>
              <a:rPr lang="zh-CN" altLang="en-US" sz="1800" b="1" dirty="0">
                <a:solidFill>
                  <a:srgbClr val="0000FF"/>
                </a:solidFill>
                <a:latin typeface="微软雅黑" panose="020B0503020204020204" pitchFamily="34" charset="-122"/>
                <a:ea typeface="微软雅黑" panose="020B0503020204020204" pitchFamily="34" charset="-122"/>
              </a:rPr>
              <a:t>路由。</a:t>
            </a:r>
            <a:endParaRPr lang="en-US" altLang="zh-CN" sz="1800" b="1" dirty="0">
              <a:solidFill>
                <a:srgbClr val="0000FF"/>
              </a:solidFill>
              <a:latin typeface="微软雅黑" panose="020B0503020204020204" pitchFamily="34" charset="-122"/>
              <a:ea typeface="微软雅黑" panose="020B0503020204020204" pitchFamily="34" charset="-122"/>
            </a:endParaRPr>
          </a:p>
          <a:p>
            <a:pPr eaLnBrk="1" hangingPunct="1">
              <a:lnSpc>
                <a:spcPts val="2600"/>
              </a:lnSpc>
            </a:pPr>
            <a:r>
              <a:rPr lang="zh-CN" altLang="en-US" sz="1800" b="1" dirty="0">
                <a:latin typeface="微软雅黑" panose="020B0503020204020204" pitchFamily="34" charset="-122"/>
                <a:ea typeface="微软雅黑" panose="020B0503020204020204" pitchFamily="34" charset="-122"/>
              </a:rPr>
              <a:t>但事实上，分组在 </a:t>
            </a:r>
            <a:r>
              <a:rPr lang="en-US" altLang="zh-CN" sz="1800" b="1" dirty="0">
                <a:latin typeface="微软雅黑" panose="020B0503020204020204" pitchFamily="34" charset="-122"/>
                <a:ea typeface="微软雅黑" panose="020B0503020204020204" pitchFamily="34" charset="-122"/>
              </a:rPr>
              <a:t>AS</a:t>
            </a:r>
            <a:r>
              <a:rPr lang="en-US" altLang="zh-CN" sz="1800" b="1" baseline="-25000" dirty="0">
                <a:latin typeface="微软雅黑" panose="020B0503020204020204" pitchFamily="34" charset="-122"/>
                <a:ea typeface="微软雅黑" panose="020B0503020204020204" pitchFamily="34" charset="-122"/>
              </a:rPr>
              <a:t>4</a:t>
            </a:r>
            <a:r>
              <a:rPr lang="en-US" altLang="zh-CN" sz="1800" b="1" dirty="0">
                <a:latin typeface="微软雅黑" panose="020B0503020204020204" pitchFamily="34" charset="-122"/>
                <a:ea typeface="微软雅黑" panose="020B0503020204020204" pitchFamily="34" charset="-122"/>
              </a:rPr>
              <a:t> </a:t>
            </a:r>
            <a:r>
              <a:rPr lang="zh-CN" altLang="en-US" sz="1800" b="1" dirty="0">
                <a:latin typeface="微软雅黑" panose="020B0503020204020204" pitchFamily="34" charset="-122"/>
                <a:ea typeface="微软雅黑" panose="020B0503020204020204" pitchFamily="34" charset="-122"/>
              </a:rPr>
              <a:t>中反而要经过更多次数的转发。</a:t>
            </a:r>
            <a:endParaRPr lang="en-US" altLang="zh-CN" sz="1800" b="1" dirty="0">
              <a:latin typeface="微软雅黑" panose="020B0503020204020204" pitchFamily="34" charset="-122"/>
              <a:ea typeface="微软雅黑" panose="020B0503020204020204" pitchFamily="34" charset="-122"/>
            </a:endParaRPr>
          </a:p>
          <a:p>
            <a:pPr eaLnBrk="1" hangingPunct="1">
              <a:lnSpc>
                <a:spcPts val="2600"/>
              </a:lnSpc>
            </a:pPr>
            <a:r>
              <a:rPr lang="zh-CN" altLang="en-US" sz="1800" b="1" dirty="0">
                <a:latin typeface="微软雅黑" panose="020B0503020204020204" pitchFamily="34" charset="-122"/>
                <a:ea typeface="微软雅黑" panose="020B0503020204020204" pitchFamily="34" charset="-122"/>
              </a:rPr>
              <a:t>说明协议 </a:t>
            </a:r>
            <a:r>
              <a:rPr lang="en-US" altLang="zh-CN" sz="1800" b="1" dirty="0">
                <a:latin typeface="微软雅黑" panose="020B0503020204020204" pitchFamily="34" charset="-122"/>
                <a:ea typeface="微软雅黑" panose="020B0503020204020204" pitchFamily="34" charset="-122"/>
              </a:rPr>
              <a:t>BGP </a:t>
            </a:r>
            <a:r>
              <a:rPr lang="zh-CN" altLang="en-US" sz="1800" b="1" dirty="0">
                <a:latin typeface="微软雅黑" panose="020B0503020204020204" pitchFamily="34" charset="-122"/>
                <a:ea typeface="微软雅黑" panose="020B0503020204020204" pitchFamily="34" charset="-122"/>
              </a:rPr>
              <a:t>不存在真正的最佳路由选择。</a:t>
            </a:r>
            <a:endParaRPr lang="en-US" altLang="zh-CN" sz="1800" b="1" dirty="0">
              <a:latin typeface="微软雅黑" panose="020B0503020204020204" pitchFamily="34" charset="-122"/>
              <a:ea typeface="微软雅黑" panose="020B0503020204020204" pitchFamily="34" charset="-122"/>
            </a:endParaRPr>
          </a:p>
        </p:txBody>
      </p:sp>
      <p:sp>
        <p:nvSpPr>
          <p:cNvPr id="265" name="圆角矩形 264"/>
          <p:cNvSpPr/>
          <p:nvPr/>
        </p:nvSpPr>
        <p:spPr>
          <a:xfrm>
            <a:off x="545145" y="1052857"/>
            <a:ext cx="8053712" cy="235721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267" name="Line 155"/>
          <p:cNvSpPr>
            <a:spLocks noChangeShapeType="1"/>
          </p:cNvSpPr>
          <p:nvPr/>
        </p:nvSpPr>
        <p:spPr bwMode="auto">
          <a:xfrm flipV="1">
            <a:off x="5803187" y="2219399"/>
            <a:ext cx="586018" cy="47036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8" name="Line 155"/>
          <p:cNvSpPr>
            <a:spLocks noChangeShapeType="1"/>
          </p:cNvSpPr>
          <p:nvPr/>
        </p:nvSpPr>
        <p:spPr bwMode="auto">
          <a:xfrm>
            <a:off x="3952711" y="1669599"/>
            <a:ext cx="1100449" cy="35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9" name="Oval 207"/>
          <p:cNvSpPr>
            <a:spLocks noChangeArrowheads="1"/>
          </p:cNvSpPr>
          <p:nvPr/>
        </p:nvSpPr>
        <p:spPr bwMode="auto">
          <a:xfrm>
            <a:off x="1571206" y="1825356"/>
            <a:ext cx="541333" cy="239324"/>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0" name="Oval 208"/>
          <p:cNvSpPr>
            <a:spLocks noChangeArrowheads="1"/>
          </p:cNvSpPr>
          <p:nvPr/>
        </p:nvSpPr>
        <p:spPr bwMode="auto">
          <a:xfrm>
            <a:off x="1264653" y="1890626"/>
            <a:ext cx="412386" cy="239324"/>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1" name="Oval 209"/>
          <p:cNvSpPr>
            <a:spLocks noChangeArrowheads="1"/>
          </p:cNvSpPr>
          <p:nvPr/>
        </p:nvSpPr>
        <p:spPr bwMode="auto">
          <a:xfrm>
            <a:off x="1134489" y="2040506"/>
            <a:ext cx="276141" cy="19097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2" name="Oval 210"/>
          <p:cNvSpPr>
            <a:spLocks noChangeArrowheads="1"/>
          </p:cNvSpPr>
          <p:nvPr/>
        </p:nvSpPr>
        <p:spPr bwMode="auto">
          <a:xfrm>
            <a:off x="1218427" y="2129950"/>
            <a:ext cx="420902" cy="20910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3" name="Oval 211"/>
          <p:cNvSpPr>
            <a:spLocks noChangeArrowheads="1"/>
          </p:cNvSpPr>
          <p:nvPr/>
        </p:nvSpPr>
        <p:spPr bwMode="auto">
          <a:xfrm>
            <a:off x="1524980" y="2165003"/>
            <a:ext cx="633785" cy="25141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4" name="Oval 212"/>
          <p:cNvSpPr>
            <a:spLocks noChangeArrowheads="1"/>
          </p:cNvSpPr>
          <p:nvPr/>
        </p:nvSpPr>
        <p:spPr bwMode="auto">
          <a:xfrm>
            <a:off x="1937366" y="1896670"/>
            <a:ext cx="397789" cy="18493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5" name="Oval 213"/>
          <p:cNvSpPr>
            <a:spLocks noChangeArrowheads="1"/>
          </p:cNvSpPr>
          <p:nvPr/>
        </p:nvSpPr>
        <p:spPr bwMode="auto">
          <a:xfrm>
            <a:off x="1998190" y="2022376"/>
            <a:ext cx="397789" cy="18493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6" name="Oval 214"/>
          <p:cNvSpPr>
            <a:spLocks noChangeArrowheads="1"/>
          </p:cNvSpPr>
          <p:nvPr/>
        </p:nvSpPr>
        <p:spPr bwMode="auto">
          <a:xfrm>
            <a:off x="1960479" y="2064680"/>
            <a:ext cx="397788" cy="30942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7" name="Oval 215"/>
          <p:cNvSpPr>
            <a:spLocks noChangeArrowheads="1"/>
          </p:cNvSpPr>
          <p:nvPr/>
        </p:nvSpPr>
        <p:spPr bwMode="auto">
          <a:xfrm>
            <a:off x="1364404" y="1969192"/>
            <a:ext cx="817474" cy="30942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78" name="Group 216"/>
          <p:cNvGrpSpPr>
            <a:grpSpLocks/>
          </p:cNvGrpSpPr>
          <p:nvPr/>
        </p:nvGrpSpPr>
        <p:grpSpPr bwMode="auto">
          <a:xfrm>
            <a:off x="1127190" y="1813269"/>
            <a:ext cx="1261489" cy="591058"/>
            <a:chOff x="912" y="768"/>
            <a:chExt cx="2386" cy="1553"/>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79"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0"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1"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2"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3"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4"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5"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6"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7"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nvGrpSpPr>
          <p:cNvPr id="288" name="Group 206"/>
          <p:cNvGrpSpPr>
            <a:grpSpLocks/>
          </p:cNvGrpSpPr>
          <p:nvPr/>
        </p:nvGrpSpPr>
        <p:grpSpPr bwMode="auto">
          <a:xfrm>
            <a:off x="2983987" y="1420562"/>
            <a:ext cx="1157263" cy="512974"/>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89"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0"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1"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2"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3"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4"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7"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8"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9"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10" name="Group 216"/>
            <p:cNvGrpSpPr>
              <a:grpSpLocks/>
            </p:cNvGrpSpPr>
            <p:nvPr/>
          </p:nvGrpSpPr>
          <p:grpSpPr bwMode="auto">
            <a:xfrm>
              <a:off x="912" y="768"/>
              <a:ext cx="2386" cy="1553"/>
              <a:chOff x="912" y="768"/>
              <a:chExt cx="2386" cy="1553"/>
            </a:xfrm>
            <a:grpFill/>
          </p:grpSpPr>
          <p:sp>
            <p:nvSpPr>
              <p:cNvPr id="311"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2"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3"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4"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5"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6"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7"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8"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9"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20" name="Group 206"/>
          <p:cNvGrpSpPr>
            <a:grpSpLocks/>
          </p:cNvGrpSpPr>
          <p:nvPr/>
        </p:nvGrpSpPr>
        <p:grpSpPr bwMode="auto">
          <a:xfrm>
            <a:off x="6275132" y="1867661"/>
            <a:ext cx="1355429" cy="603145"/>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321"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2"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3"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4"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5"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6"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7"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8"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52" name="Group 216"/>
            <p:cNvGrpSpPr>
              <a:grpSpLocks/>
            </p:cNvGrpSpPr>
            <p:nvPr/>
          </p:nvGrpSpPr>
          <p:grpSpPr bwMode="auto">
            <a:xfrm>
              <a:off x="912" y="768"/>
              <a:ext cx="2386" cy="1553"/>
              <a:chOff x="912" y="768"/>
              <a:chExt cx="2386" cy="1553"/>
            </a:xfrm>
            <a:grpFill/>
          </p:grpSpPr>
          <p:sp>
            <p:nvSpPr>
              <p:cNvPr id="390"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2"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3"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5"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6"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7"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8"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9"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0"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401" name="Line 154"/>
          <p:cNvSpPr>
            <a:spLocks noChangeShapeType="1"/>
          </p:cNvSpPr>
          <p:nvPr/>
        </p:nvSpPr>
        <p:spPr bwMode="auto">
          <a:xfrm flipV="1">
            <a:off x="2403277" y="1758877"/>
            <a:ext cx="599725" cy="19255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2" name="Line 167"/>
          <p:cNvSpPr>
            <a:spLocks noChangeShapeType="1"/>
          </p:cNvSpPr>
          <p:nvPr/>
        </p:nvSpPr>
        <p:spPr bwMode="auto">
          <a:xfrm>
            <a:off x="1197746" y="2171046"/>
            <a:ext cx="645951" cy="24536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3" name="Line 169"/>
          <p:cNvSpPr>
            <a:spLocks noChangeShapeType="1"/>
          </p:cNvSpPr>
          <p:nvPr/>
        </p:nvSpPr>
        <p:spPr bwMode="auto">
          <a:xfrm flipV="1">
            <a:off x="1181932" y="1906340"/>
            <a:ext cx="496324" cy="23569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4" name="Line 170"/>
          <p:cNvSpPr>
            <a:spLocks noChangeShapeType="1"/>
          </p:cNvSpPr>
          <p:nvPr/>
        </p:nvSpPr>
        <p:spPr bwMode="auto">
          <a:xfrm>
            <a:off x="1788955" y="1851947"/>
            <a:ext cx="491567" cy="9548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173"/>
          <p:cNvSpPr txBox="1">
            <a:spLocks noChangeArrowheads="1"/>
          </p:cNvSpPr>
          <p:nvPr/>
        </p:nvSpPr>
        <p:spPr bwMode="auto">
          <a:xfrm>
            <a:off x="1623514" y="197015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1</a:t>
            </a:r>
          </a:p>
        </p:txBody>
      </p:sp>
      <p:sp>
        <p:nvSpPr>
          <p:cNvPr id="406" name="Text Box 174"/>
          <p:cNvSpPr txBox="1">
            <a:spLocks noChangeArrowheads="1"/>
          </p:cNvSpPr>
          <p:nvPr/>
        </p:nvSpPr>
        <p:spPr bwMode="auto">
          <a:xfrm>
            <a:off x="6723498" y="20163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5</a:t>
            </a:r>
          </a:p>
        </p:txBody>
      </p:sp>
      <p:sp>
        <p:nvSpPr>
          <p:cNvPr id="407" name="Text Box 175"/>
          <p:cNvSpPr txBox="1">
            <a:spLocks noChangeArrowheads="1"/>
          </p:cNvSpPr>
          <p:nvPr/>
        </p:nvSpPr>
        <p:spPr bwMode="auto">
          <a:xfrm>
            <a:off x="3332129" y="15229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2</a:t>
            </a:r>
          </a:p>
        </p:txBody>
      </p:sp>
      <p:sp>
        <p:nvSpPr>
          <p:cNvPr id="408" name="Text Box 173"/>
          <p:cNvSpPr txBox="1">
            <a:spLocks noChangeArrowheads="1"/>
          </p:cNvSpPr>
          <p:nvPr/>
        </p:nvSpPr>
        <p:spPr bwMode="auto">
          <a:xfrm>
            <a:off x="2153899" y="1639833"/>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R</a:t>
            </a:r>
            <a:r>
              <a:rPr lang="en-US" altLang="zh-CN" sz="1400" b="1" baseline="-25000" dirty="0">
                <a:latin typeface="微软雅黑" panose="020B0503020204020204" pitchFamily="34" charset="-122"/>
                <a:ea typeface="微软雅黑" panose="020B0503020204020204" pitchFamily="34" charset="-122"/>
              </a:rPr>
              <a:t>1d</a:t>
            </a:r>
          </a:p>
        </p:txBody>
      </p:sp>
      <p:pic>
        <p:nvPicPr>
          <p:cNvPr id="409"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1232" y="2087646"/>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10"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23514" y="1796347"/>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11"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64074" y="1703277"/>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12"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30538" y="1897288"/>
            <a:ext cx="226265"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413" name="Text Box 173"/>
          <p:cNvSpPr txBox="1">
            <a:spLocks noChangeArrowheads="1"/>
          </p:cNvSpPr>
          <p:nvPr/>
        </p:nvSpPr>
        <p:spPr bwMode="auto">
          <a:xfrm>
            <a:off x="1732997" y="2399492"/>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1c</a:t>
            </a:r>
          </a:p>
        </p:txBody>
      </p:sp>
      <p:sp>
        <p:nvSpPr>
          <p:cNvPr id="414" name="Text Box 173"/>
          <p:cNvSpPr txBox="1">
            <a:spLocks noChangeArrowheads="1"/>
          </p:cNvSpPr>
          <p:nvPr/>
        </p:nvSpPr>
        <p:spPr bwMode="auto">
          <a:xfrm>
            <a:off x="1567556" y="1577571"/>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1b</a:t>
            </a:r>
          </a:p>
        </p:txBody>
      </p:sp>
      <p:sp>
        <p:nvSpPr>
          <p:cNvPr id="415" name="Text Box 173"/>
          <p:cNvSpPr txBox="1">
            <a:spLocks noChangeArrowheads="1"/>
          </p:cNvSpPr>
          <p:nvPr/>
        </p:nvSpPr>
        <p:spPr bwMode="auto">
          <a:xfrm>
            <a:off x="851050" y="1851947"/>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1a</a:t>
            </a:r>
          </a:p>
        </p:txBody>
      </p:sp>
      <p:sp>
        <p:nvSpPr>
          <p:cNvPr id="416" name="椭圆 274"/>
          <p:cNvSpPr>
            <a:spLocks noChangeArrowheads="1"/>
          </p:cNvSpPr>
          <p:nvPr/>
        </p:nvSpPr>
        <p:spPr bwMode="auto">
          <a:xfrm>
            <a:off x="2882570" y="1744373"/>
            <a:ext cx="76638" cy="7614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7" name="Text Box 173"/>
          <p:cNvSpPr txBox="1">
            <a:spLocks noChangeArrowheads="1"/>
          </p:cNvSpPr>
          <p:nvPr/>
        </p:nvSpPr>
        <p:spPr bwMode="auto">
          <a:xfrm>
            <a:off x="2673336" y="1494170"/>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2a</a:t>
            </a:r>
          </a:p>
        </p:txBody>
      </p:sp>
      <p:grpSp>
        <p:nvGrpSpPr>
          <p:cNvPr id="418" name="Group 206"/>
          <p:cNvGrpSpPr>
            <a:grpSpLocks/>
          </p:cNvGrpSpPr>
          <p:nvPr/>
        </p:nvGrpSpPr>
        <p:grpSpPr bwMode="auto">
          <a:xfrm>
            <a:off x="2912774" y="2117278"/>
            <a:ext cx="2951162" cy="935037"/>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419"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0"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1"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2"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3"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4"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5"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6"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7"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428" name="Group 216"/>
            <p:cNvGrpSpPr>
              <a:grpSpLocks/>
            </p:cNvGrpSpPr>
            <p:nvPr/>
          </p:nvGrpSpPr>
          <p:grpSpPr bwMode="auto">
            <a:xfrm>
              <a:off x="912" y="768"/>
              <a:ext cx="2386" cy="1553"/>
              <a:chOff x="912" y="768"/>
              <a:chExt cx="2386" cy="1553"/>
            </a:xfrm>
            <a:grpFill/>
          </p:grpSpPr>
          <p:sp>
            <p:nvSpPr>
              <p:cNvPr id="429"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0"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1"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2"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3"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4"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5"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6"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7"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sp>
        <p:nvSpPr>
          <p:cNvPr id="438" name="Line 154"/>
          <p:cNvSpPr>
            <a:spLocks noChangeShapeType="1"/>
          </p:cNvSpPr>
          <p:nvPr/>
        </p:nvSpPr>
        <p:spPr bwMode="auto">
          <a:xfrm flipV="1">
            <a:off x="3200111" y="2404615"/>
            <a:ext cx="504825" cy="2159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39" name="Line 154"/>
          <p:cNvSpPr>
            <a:spLocks noChangeShapeType="1"/>
          </p:cNvSpPr>
          <p:nvPr/>
        </p:nvSpPr>
        <p:spPr bwMode="auto">
          <a:xfrm>
            <a:off x="3759394" y="2460227"/>
            <a:ext cx="377342" cy="30475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0" name="Line 154"/>
          <p:cNvSpPr>
            <a:spLocks noChangeShapeType="1"/>
          </p:cNvSpPr>
          <p:nvPr/>
        </p:nvSpPr>
        <p:spPr bwMode="auto">
          <a:xfrm>
            <a:off x="5363277" y="2399491"/>
            <a:ext cx="429222" cy="29246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1" name="Line 154"/>
          <p:cNvSpPr>
            <a:spLocks noChangeShapeType="1"/>
          </p:cNvSpPr>
          <p:nvPr/>
        </p:nvSpPr>
        <p:spPr bwMode="auto">
          <a:xfrm flipV="1">
            <a:off x="4902276" y="2393499"/>
            <a:ext cx="331423" cy="3530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2" name="Line 154"/>
          <p:cNvSpPr>
            <a:spLocks noChangeShapeType="1"/>
          </p:cNvSpPr>
          <p:nvPr/>
        </p:nvSpPr>
        <p:spPr bwMode="auto">
          <a:xfrm flipV="1">
            <a:off x="4117686" y="2364928"/>
            <a:ext cx="354013" cy="4111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3" name="Line 154"/>
          <p:cNvSpPr>
            <a:spLocks noChangeShapeType="1"/>
          </p:cNvSpPr>
          <p:nvPr/>
        </p:nvSpPr>
        <p:spPr bwMode="auto">
          <a:xfrm flipH="1" flipV="1">
            <a:off x="4539960" y="2404614"/>
            <a:ext cx="288361" cy="3714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4" name="Text Box 174"/>
          <p:cNvSpPr txBox="1">
            <a:spLocks noChangeArrowheads="1"/>
          </p:cNvSpPr>
          <p:nvPr/>
        </p:nvSpPr>
        <p:spPr bwMode="auto">
          <a:xfrm>
            <a:off x="5071774" y="2549078"/>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4</a:t>
            </a:r>
          </a:p>
        </p:txBody>
      </p:sp>
      <p:pic>
        <p:nvPicPr>
          <p:cNvPr id="445"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92274" y="2691953"/>
            <a:ext cx="296862"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46"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60474" y="2333178"/>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47"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52636" y="2260153"/>
            <a:ext cx="296863"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48"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44799" y="2290311"/>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49"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648036" y="2620515"/>
            <a:ext cx="296863"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50"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12999" y="2694403"/>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451" name="Line 154"/>
          <p:cNvSpPr>
            <a:spLocks noChangeShapeType="1"/>
          </p:cNvSpPr>
          <p:nvPr/>
        </p:nvSpPr>
        <p:spPr bwMode="auto">
          <a:xfrm>
            <a:off x="1893572" y="2427293"/>
            <a:ext cx="1183459" cy="21163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52" name="椭圆 273"/>
          <p:cNvSpPr>
            <a:spLocks noChangeArrowheads="1"/>
          </p:cNvSpPr>
          <p:nvPr/>
        </p:nvSpPr>
        <p:spPr bwMode="auto">
          <a:xfrm>
            <a:off x="2956193" y="2593070"/>
            <a:ext cx="76638" cy="7614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3" name="Text Box 173"/>
          <p:cNvSpPr txBox="1">
            <a:spLocks noChangeArrowheads="1"/>
          </p:cNvSpPr>
          <p:nvPr/>
        </p:nvSpPr>
        <p:spPr bwMode="auto">
          <a:xfrm>
            <a:off x="2799266" y="2344076"/>
            <a:ext cx="380758" cy="451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4a</a:t>
            </a:r>
          </a:p>
        </p:txBody>
      </p:sp>
      <p:pic>
        <p:nvPicPr>
          <p:cNvPr id="454"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20666" y="2564061"/>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55"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34214" y="2345100"/>
            <a:ext cx="227481"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456" name="Line 155"/>
          <p:cNvSpPr>
            <a:spLocks noChangeShapeType="1"/>
          </p:cNvSpPr>
          <p:nvPr/>
        </p:nvSpPr>
        <p:spPr bwMode="auto">
          <a:xfrm>
            <a:off x="5742693" y="1809940"/>
            <a:ext cx="558807" cy="34775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457"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42474" y="2147013"/>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458" name="组合 457"/>
          <p:cNvGrpSpPr/>
          <p:nvPr/>
        </p:nvGrpSpPr>
        <p:grpSpPr>
          <a:xfrm>
            <a:off x="7139909" y="2180331"/>
            <a:ext cx="1195784" cy="475254"/>
            <a:chOff x="7199673" y="2544678"/>
            <a:chExt cx="1195784" cy="475254"/>
          </a:xfrm>
        </p:grpSpPr>
        <p:sp>
          <p:nvSpPr>
            <p:cNvPr id="459" name="AutoShape 229"/>
            <p:cNvSpPr>
              <a:spLocks noChangeAspect="1" noChangeArrowheads="1" noTextEdit="1"/>
            </p:cNvSpPr>
            <p:nvPr/>
          </p:nvSpPr>
          <p:spPr bwMode="auto">
            <a:xfrm>
              <a:off x="7199673" y="2544678"/>
              <a:ext cx="485152" cy="374983"/>
            </a:xfrm>
            <a:prstGeom prst="rect">
              <a:avLst/>
            </a:prstGeom>
            <a:noFill/>
            <a:ln>
              <a:noFill/>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60" name="Oval 231"/>
            <p:cNvSpPr>
              <a:spLocks noChangeArrowheads="1"/>
            </p:cNvSpPr>
            <p:nvPr/>
          </p:nvSpPr>
          <p:spPr bwMode="auto">
            <a:xfrm>
              <a:off x="7365705" y="2549127"/>
              <a:ext cx="208807" cy="15126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1" name="Oval 232"/>
            <p:cNvSpPr>
              <a:spLocks noChangeArrowheads="1"/>
            </p:cNvSpPr>
            <p:nvPr/>
          </p:nvSpPr>
          <p:spPr bwMode="auto">
            <a:xfrm>
              <a:off x="7250890" y="2588532"/>
              <a:ext cx="159841" cy="151900"/>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2" name="Oval 233"/>
            <p:cNvSpPr>
              <a:spLocks noChangeArrowheads="1"/>
            </p:cNvSpPr>
            <p:nvPr/>
          </p:nvSpPr>
          <p:spPr bwMode="auto">
            <a:xfrm>
              <a:off x="7201924" y="2680053"/>
              <a:ext cx="108062" cy="123299"/>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3" name="Oval 234"/>
            <p:cNvSpPr>
              <a:spLocks noChangeArrowheads="1"/>
            </p:cNvSpPr>
            <p:nvPr/>
          </p:nvSpPr>
          <p:spPr bwMode="auto">
            <a:xfrm>
              <a:off x="7234568" y="2734076"/>
              <a:ext cx="162655" cy="13410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4" name="Oval 235"/>
            <p:cNvSpPr>
              <a:spLocks noChangeArrowheads="1"/>
            </p:cNvSpPr>
            <p:nvPr/>
          </p:nvSpPr>
          <p:spPr bwMode="auto">
            <a:xfrm>
              <a:off x="7349383" y="2756321"/>
              <a:ext cx="242576" cy="15889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5" name="Oval 236"/>
            <p:cNvSpPr>
              <a:spLocks noChangeArrowheads="1"/>
            </p:cNvSpPr>
            <p:nvPr/>
          </p:nvSpPr>
          <p:spPr bwMode="auto">
            <a:xfrm>
              <a:off x="7503597" y="2592981"/>
              <a:ext cx="155902" cy="11948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6" name="Oval 237"/>
            <p:cNvSpPr>
              <a:spLocks noChangeArrowheads="1"/>
            </p:cNvSpPr>
            <p:nvPr/>
          </p:nvSpPr>
          <p:spPr bwMode="auto">
            <a:xfrm>
              <a:off x="7527235" y="2669884"/>
              <a:ext cx="154213" cy="11885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7" name="Oval 238"/>
            <p:cNvSpPr>
              <a:spLocks noChangeArrowheads="1"/>
            </p:cNvSpPr>
            <p:nvPr/>
          </p:nvSpPr>
          <p:spPr bwMode="auto">
            <a:xfrm>
              <a:off x="7513164" y="2694671"/>
              <a:ext cx="15308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8" name="Oval 239"/>
            <p:cNvSpPr>
              <a:spLocks noChangeArrowheads="1"/>
            </p:cNvSpPr>
            <p:nvPr/>
          </p:nvSpPr>
          <p:spPr bwMode="auto">
            <a:xfrm>
              <a:off x="7289162" y="2635564"/>
              <a:ext cx="31067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469" name="Group 257"/>
            <p:cNvGrpSpPr>
              <a:grpSpLocks/>
            </p:cNvGrpSpPr>
            <p:nvPr/>
          </p:nvGrpSpPr>
          <p:grpSpPr bwMode="auto">
            <a:xfrm>
              <a:off x="7200799" y="2545949"/>
              <a:ext cx="481775" cy="369898"/>
              <a:chOff x="3063" y="302"/>
              <a:chExt cx="856" cy="582"/>
            </a:xfrm>
            <a:solidFill>
              <a:schemeClr val="bg1"/>
            </a:solidFill>
          </p:grpSpPr>
          <p:sp>
            <p:nvSpPr>
              <p:cNvPr id="473" name="Freeform 241"/>
              <p:cNvSpPr>
                <a:spLocks/>
              </p:cNvSpPr>
              <p:nvPr/>
            </p:nvSpPr>
            <p:spPr bwMode="auto">
              <a:xfrm>
                <a:off x="3364" y="302"/>
                <a:ext cx="353" cy="123"/>
              </a:xfrm>
              <a:custGeom>
                <a:avLst/>
                <a:gdLst>
                  <a:gd name="T0" fmla="*/ 2147483647 w 171"/>
                  <a:gd name="T1" fmla="*/ 2147483647 h 53"/>
                  <a:gd name="T2" fmla="*/ 1516289415 w 171"/>
                  <a:gd name="T3" fmla="*/ 247646291 h 53"/>
                  <a:gd name="T4" fmla="*/ 0 w 171"/>
                  <a:gd name="T5" fmla="*/ 2147483647 h 53"/>
                  <a:gd name="T6" fmla="*/ 1516289415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4" name="Arc 242"/>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5" name="Freeform 243"/>
              <p:cNvSpPr>
                <a:spLocks/>
              </p:cNvSpPr>
              <p:nvPr/>
            </p:nvSpPr>
            <p:spPr bwMode="auto">
              <a:xfrm>
                <a:off x="3150" y="367"/>
                <a:ext cx="220" cy="146"/>
              </a:xfrm>
              <a:custGeom>
                <a:avLst/>
                <a:gdLst>
                  <a:gd name="T0" fmla="*/ 1693384537 w 107"/>
                  <a:gd name="T1" fmla="*/ 1713152276 h 63"/>
                  <a:gd name="T2" fmla="*/ 1109914767 w 107"/>
                  <a:gd name="T3" fmla="*/ 0 h 63"/>
                  <a:gd name="T4" fmla="*/ 14279267 w 107"/>
                  <a:gd name="T5" fmla="*/ 2147483647 h 63"/>
                  <a:gd name="T6" fmla="*/ 29359234 w 107"/>
                  <a:gd name="T7" fmla="*/ 2147483647 h 63"/>
                  <a:gd name="T8" fmla="*/ 1109914767 w 107"/>
                  <a:gd name="T9" fmla="*/ 2147483647 h 63"/>
                  <a:gd name="T10" fmla="*/ 1693384537 w 107"/>
                  <a:gd name="T11" fmla="*/ 1713152276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6" name="Arc 244"/>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7" name="Freeform 245"/>
              <p:cNvSpPr>
                <a:spLocks/>
              </p:cNvSpPr>
              <p:nvPr/>
            </p:nvSpPr>
            <p:spPr bwMode="auto">
              <a:xfrm>
                <a:off x="3121" y="696"/>
                <a:ext cx="220" cy="115"/>
              </a:xfrm>
              <a:custGeom>
                <a:avLst/>
                <a:gdLst>
                  <a:gd name="T0" fmla="*/ 0 w 107"/>
                  <a:gd name="T1" fmla="*/ 0 h 50"/>
                  <a:gd name="T2" fmla="*/ 0 w 107"/>
                  <a:gd name="T3" fmla="*/ 476470799 h 50"/>
                  <a:gd name="T4" fmla="*/ 1139293797 w 107"/>
                  <a:gd name="T5" fmla="*/ 2147483647 h 50"/>
                  <a:gd name="T6" fmla="*/ 1693384537 w 107"/>
                  <a:gd name="T7" fmla="*/ 2147483647 h 50"/>
                  <a:gd name="T8" fmla="*/ 1139293797 w 107"/>
                  <a:gd name="T9" fmla="*/ 635978878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8" name="Arc 246"/>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9" name="Freeform 247"/>
              <p:cNvSpPr>
                <a:spLocks/>
              </p:cNvSpPr>
              <p:nvPr/>
            </p:nvSpPr>
            <p:spPr bwMode="auto">
              <a:xfrm>
                <a:off x="3713" y="372"/>
                <a:ext cx="167" cy="141"/>
              </a:xfrm>
              <a:custGeom>
                <a:avLst/>
                <a:gdLst>
                  <a:gd name="T0" fmla="*/ 1211487246 w 81"/>
                  <a:gd name="T1" fmla="*/ 2147483647 h 61"/>
                  <a:gd name="T2" fmla="*/ 1365605509 w 81"/>
                  <a:gd name="T3" fmla="*/ 2147483647 h 61"/>
                  <a:gd name="T4" fmla="*/ 239314720 w 81"/>
                  <a:gd name="T5" fmla="*/ 230421347 h 61"/>
                  <a:gd name="T6" fmla="*/ 0 w 81"/>
                  <a:gd name="T7" fmla="*/ 230421347 h 61"/>
                  <a:gd name="T8" fmla="*/ 239314720 w 81"/>
                  <a:gd name="T9" fmla="*/ 2147483647 h 61"/>
                  <a:gd name="T10" fmla="*/ 1211487246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0" name="Arc 248"/>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1" name="Freeform 249"/>
              <p:cNvSpPr>
                <a:spLocks/>
              </p:cNvSpPr>
              <p:nvPr/>
            </p:nvSpPr>
            <p:spPr bwMode="auto">
              <a:xfrm>
                <a:off x="3760" y="511"/>
                <a:ext cx="159" cy="138"/>
              </a:xfrm>
              <a:custGeom>
                <a:avLst/>
                <a:gdLst>
                  <a:gd name="T0" fmla="*/ 1082302279 w 77"/>
                  <a:gd name="T1" fmla="*/ 2147483647 h 60"/>
                  <a:gd name="T2" fmla="*/ 1344976453 w 77"/>
                  <a:gd name="T3" fmla="*/ 2147483647 h 60"/>
                  <a:gd name="T4" fmla="*/ 835832256 w 77"/>
                  <a:gd name="T5" fmla="*/ 0 h 60"/>
                  <a:gd name="T6" fmla="*/ 0 w 77"/>
                  <a:gd name="T7" fmla="*/ 2147483647 h 60"/>
                  <a:gd name="T8" fmla="*/ 1082302279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2" name="Arc 250"/>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3" name="Freeform 251"/>
              <p:cNvSpPr>
                <a:spLocks/>
              </p:cNvSpPr>
              <p:nvPr/>
            </p:nvSpPr>
            <p:spPr bwMode="auto">
              <a:xfrm>
                <a:off x="3706" y="647"/>
                <a:ext cx="188" cy="201"/>
              </a:xfrm>
              <a:custGeom>
                <a:avLst/>
                <a:gdLst>
                  <a:gd name="T0" fmla="*/ 0 w 91"/>
                  <a:gd name="T1" fmla="*/ 2147483647 h 87"/>
                  <a:gd name="T2" fmla="*/ 411749049 w 91"/>
                  <a:gd name="T3" fmla="*/ 2147483647 h 87"/>
                  <a:gd name="T4" fmla="*/ 1608817485 w 91"/>
                  <a:gd name="T5" fmla="*/ 2147483647 h 87"/>
                  <a:gd name="T6" fmla="*/ 1558612064 w 91"/>
                  <a:gd name="T7" fmla="*/ 0 h 87"/>
                  <a:gd name="T8" fmla="*/ 411749049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4" name="Arc 252"/>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5" name="Freeform 253"/>
              <p:cNvSpPr>
                <a:spLocks/>
              </p:cNvSpPr>
              <p:nvPr/>
            </p:nvSpPr>
            <p:spPr bwMode="auto">
              <a:xfrm>
                <a:off x="3063" y="511"/>
                <a:ext cx="103" cy="189"/>
              </a:xfrm>
              <a:custGeom>
                <a:avLst/>
                <a:gdLst>
                  <a:gd name="T0" fmla="*/ 780520248 w 50"/>
                  <a:gd name="T1" fmla="*/ 0 h 82"/>
                  <a:gd name="T2" fmla="*/ 14698957 w 50"/>
                  <a:gd name="T3" fmla="*/ 2147483647 h 82"/>
                  <a:gd name="T4" fmla="*/ 500253939 w 50"/>
                  <a:gd name="T5" fmla="*/ 2147483647 h 82"/>
                  <a:gd name="T6" fmla="*/ 827327125 w 50"/>
                  <a:gd name="T7" fmla="*/ 2147483647 h 82"/>
                  <a:gd name="T8" fmla="*/ 780520248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6" name="Arc 254"/>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7" name="Freeform 255"/>
              <p:cNvSpPr>
                <a:spLocks/>
              </p:cNvSpPr>
              <p:nvPr/>
            </p:nvSpPr>
            <p:spPr bwMode="auto">
              <a:xfrm>
                <a:off x="3333" y="770"/>
                <a:ext cx="380" cy="113"/>
              </a:xfrm>
              <a:custGeom>
                <a:avLst/>
                <a:gdLst>
                  <a:gd name="T0" fmla="*/ 0 w 184"/>
                  <a:gd name="T1" fmla="*/ 2147483647 h 49"/>
                  <a:gd name="T2" fmla="*/ 1757541845 w 184"/>
                  <a:gd name="T3" fmla="*/ 2147483647 h 49"/>
                  <a:gd name="T4" fmla="*/ 2147483647 w 184"/>
                  <a:gd name="T5" fmla="*/ 2147483647 h 49"/>
                  <a:gd name="T6" fmla="*/ 1757541845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8" name="Arc 256"/>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grpSp>
        <p:sp>
          <p:nvSpPr>
            <p:cNvPr id="470" name="Text Box 173"/>
            <p:cNvSpPr txBox="1">
              <a:spLocks noChangeArrowheads="1"/>
            </p:cNvSpPr>
            <p:nvPr/>
          </p:nvSpPr>
          <p:spPr bwMode="auto">
            <a:xfrm>
              <a:off x="7293022" y="2580347"/>
              <a:ext cx="3097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X</a:t>
              </a:r>
            </a:p>
          </p:txBody>
        </p:sp>
        <p:sp>
          <p:nvSpPr>
            <p:cNvPr id="471" name="Text Box 42"/>
            <p:cNvSpPr txBox="1">
              <a:spLocks noChangeArrowheads="1"/>
            </p:cNvSpPr>
            <p:nvPr/>
          </p:nvSpPr>
          <p:spPr bwMode="auto">
            <a:xfrm>
              <a:off x="7851718" y="2712155"/>
              <a:ext cx="54373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前缀</a:t>
              </a:r>
            </a:p>
          </p:txBody>
        </p:sp>
        <p:cxnSp>
          <p:nvCxnSpPr>
            <p:cNvPr id="472" name="直接箭头连接符 331"/>
            <p:cNvCxnSpPr>
              <a:cxnSpLocks noChangeShapeType="1"/>
            </p:cNvCxnSpPr>
            <p:nvPr/>
          </p:nvCxnSpPr>
          <p:spPr bwMode="auto">
            <a:xfrm flipH="1" flipV="1">
              <a:off x="7526757" y="2746845"/>
              <a:ext cx="373781" cy="94158"/>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grpSp>
      <p:cxnSp>
        <p:nvCxnSpPr>
          <p:cNvPr id="490" name="直接箭头连接符 489"/>
          <p:cNvCxnSpPr/>
          <p:nvPr/>
        </p:nvCxnSpPr>
        <p:spPr>
          <a:xfrm flipH="1" flipV="1">
            <a:off x="2001976" y="1383251"/>
            <a:ext cx="233259" cy="319045"/>
          </a:xfrm>
          <a:prstGeom prst="straightConnector1">
            <a:avLst/>
          </a:prstGeom>
          <a:ln w="127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491" name="直接箭头连接符 490"/>
          <p:cNvCxnSpPr/>
          <p:nvPr/>
        </p:nvCxnSpPr>
        <p:spPr>
          <a:xfrm flipH="1">
            <a:off x="1623514" y="2637020"/>
            <a:ext cx="177015" cy="396996"/>
          </a:xfrm>
          <a:prstGeom prst="straightConnector1">
            <a:avLst/>
          </a:prstGeom>
          <a:ln w="127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grpSp>
        <p:nvGrpSpPr>
          <p:cNvPr id="492" name="Group 206"/>
          <p:cNvGrpSpPr>
            <a:grpSpLocks/>
          </p:cNvGrpSpPr>
          <p:nvPr/>
        </p:nvGrpSpPr>
        <p:grpSpPr bwMode="auto">
          <a:xfrm>
            <a:off x="4690551" y="1420562"/>
            <a:ext cx="1157263" cy="512974"/>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49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502" name="Group 216"/>
            <p:cNvGrpSpPr>
              <a:grpSpLocks/>
            </p:cNvGrpSpPr>
            <p:nvPr/>
          </p:nvGrpSpPr>
          <p:grpSpPr bwMode="auto">
            <a:xfrm>
              <a:off x="912" y="768"/>
              <a:ext cx="2386" cy="1553"/>
              <a:chOff x="912" y="768"/>
              <a:chExt cx="2386" cy="1553"/>
            </a:xfrm>
            <a:grpFill/>
          </p:grpSpPr>
          <p:sp>
            <p:nvSpPr>
              <p:cNvPr id="50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512" name="Text Box 175"/>
          <p:cNvSpPr txBox="1">
            <a:spLocks noChangeArrowheads="1"/>
          </p:cNvSpPr>
          <p:nvPr/>
        </p:nvSpPr>
        <p:spPr bwMode="auto">
          <a:xfrm>
            <a:off x="5038693" y="15229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3</a:t>
            </a:r>
          </a:p>
        </p:txBody>
      </p:sp>
      <p:sp>
        <p:nvSpPr>
          <p:cNvPr id="513" name="Text Box 173"/>
          <p:cNvSpPr txBox="1">
            <a:spLocks noChangeArrowheads="1"/>
          </p:cNvSpPr>
          <p:nvPr/>
        </p:nvSpPr>
        <p:spPr bwMode="auto">
          <a:xfrm>
            <a:off x="882387" y="3014631"/>
            <a:ext cx="36622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solidFill>
                  <a:srgbClr val="C00000"/>
                </a:solidFill>
                <a:latin typeface="微软雅黑" panose="020B0503020204020204" pitchFamily="34" charset="-122"/>
                <a:ea typeface="微软雅黑" panose="020B0503020204020204" pitchFamily="34" charset="-122"/>
              </a:rPr>
              <a:t>[ X, AS</a:t>
            </a:r>
            <a:r>
              <a:rPr lang="en-US" altLang="zh-CN" sz="1400" b="1" baseline="-25000" dirty="0">
                <a:solidFill>
                  <a:srgbClr val="C00000"/>
                </a:solidFill>
                <a:latin typeface="微软雅黑" panose="020B0503020204020204" pitchFamily="34" charset="-122"/>
                <a:ea typeface="微软雅黑" panose="020B0503020204020204" pitchFamily="34" charset="-122"/>
              </a:rPr>
              <a:t>4</a:t>
            </a:r>
            <a:r>
              <a:rPr lang="en-US" altLang="zh-CN" sz="1400" b="1" dirty="0">
                <a:solidFill>
                  <a:srgbClr val="C00000"/>
                </a:solidFill>
                <a:latin typeface="微软雅黑" panose="020B0503020204020204" pitchFamily="34" charset="-122"/>
                <a:ea typeface="微软雅黑" panose="020B0503020204020204" pitchFamily="34" charset="-122"/>
              </a:rPr>
              <a:t> AS</a:t>
            </a:r>
            <a:r>
              <a:rPr lang="en-US" altLang="zh-CN" sz="1400" b="1" baseline="-25000" dirty="0">
                <a:solidFill>
                  <a:srgbClr val="C00000"/>
                </a:solidFill>
                <a:latin typeface="微软雅黑" panose="020B0503020204020204" pitchFamily="34" charset="-122"/>
                <a:ea typeface="微软雅黑" panose="020B0503020204020204" pitchFamily="34" charset="-122"/>
              </a:rPr>
              <a:t>5</a:t>
            </a:r>
            <a:r>
              <a:rPr lang="en-US" altLang="zh-CN" sz="1400" b="1" dirty="0">
                <a:solidFill>
                  <a:srgbClr val="C00000"/>
                </a:solidFill>
                <a:latin typeface="微软雅黑" panose="020B0503020204020204" pitchFamily="34" charset="-122"/>
                <a:ea typeface="微软雅黑" panose="020B0503020204020204" pitchFamily="34" charset="-122"/>
              </a:rPr>
              <a:t> , LOCAL-PREF = 100 , IP</a:t>
            </a:r>
            <a:r>
              <a:rPr lang="en-US" altLang="zh-CN" sz="1400" b="1" baseline="-25000" dirty="0">
                <a:solidFill>
                  <a:srgbClr val="C00000"/>
                </a:solidFill>
                <a:latin typeface="微软雅黑" panose="020B0503020204020204" pitchFamily="34" charset="-122"/>
                <a:ea typeface="微软雅黑" panose="020B0503020204020204" pitchFamily="34" charset="-122"/>
              </a:rPr>
              <a:t>4a</a:t>
            </a:r>
            <a:r>
              <a:rPr lang="en-US" altLang="zh-CN" sz="1400" b="1" dirty="0">
                <a:solidFill>
                  <a:srgbClr val="C00000"/>
                </a:solidFill>
                <a:latin typeface="微软雅黑" panose="020B0503020204020204" pitchFamily="34" charset="-122"/>
                <a:ea typeface="微软雅黑" panose="020B0503020204020204" pitchFamily="34" charset="-122"/>
              </a:rPr>
              <a:t> ]</a:t>
            </a:r>
            <a:endParaRPr lang="en-US" altLang="zh-CN" sz="1400" b="1" baseline="-25000" dirty="0">
              <a:solidFill>
                <a:srgbClr val="C00000"/>
              </a:solidFill>
              <a:latin typeface="微软雅黑" panose="020B0503020204020204" pitchFamily="34" charset="-122"/>
              <a:ea typeface="微软雅黑" panose="020B0503020204020204" pitchFamily="34" charset="-122"/>
            </a:endParaRPr>
          </a:p>
        </p:txBody>
      </p:sp>
      <p:sp>
        <p:nvSpPr>
          <p:cNvPr id="514" name="Text Box 173"/>
          <p:cNvSpPr txBox="1">
            <a:spLocks noChangeArrowheads="1"/>
          </p:cNvSpPr>
          <p:nvPr/>
        </p:nvSpPr>
        <p:spPr bwMode="auto">
          <a:xfrm>
            <a:off x="877725" y="1126614"/>
            <a:ext cx="403411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solidFill>
                  <a:srgbClr val="C00000"/>
                </a:solidFill>
                <a:latin typeface="微软雅黑" panose="020B0503020204020204" pitchFamily="34" charset="-122"/>
                <a:ea typeface="微软雅黑" panose="020B0503020204020204" pitchFamily="34" charset="-122"/>
              </a:rPr>
              <a:t>[ X, AS</a:t>
            </a:r>
            <a:r>
              <a:rPr lang="en-US" altLang="zh-CN" sz="1400" b="1" baseline="-25000" dirty="0">
                <a:solidFill>
                  <a:srgbClr val="C00000"/>
                </a:solidFill>
                <a:latin typeface="微软雅黑" panose="020B0503020204020204" pitchFamily="34" charset="-122"/>
                <a:ea typeface="微软雅黑" panose="020B0503020204020204" pitchFamily="34" charset="-122"/>
              </a:rPr>
              <a:t>2</a:t>
            </a:r>
            <a:r>
              <a:rPr lang="en-US" altLang="zh-CN" sz="1400" b="1" dirty="0">
                <a:solidFill>
                  <a:srgbClr val="C00000"/>
                </a:solidFill>
                <a:latin typeface="微软雅黑" panose="020B0503020204020204" pitchFamily="34" charset="-122"/>
                <a:ea typeface="微软雅黑" panose="020B0503020204020204" pitchFamily="34" charset="-122"/>
              </a:rPr>
              <a:t> AS</a:t>
            </a:r>
            <a:r>
              <a:rPr lang="en-US" altLang="zh-CN" sz="1400" b="1" baseline="-25000" dirty="0">
                <a:solidFill>
                  <a:srgbClr val="C00000"/>
                </a:solidFill>
                <a:latin typeface="微软雅黑" panose="020B0503020204020204" pitchFamily="34" charset="-122"/>
                <a:ea typeface="微软雅黑" panose="020B0503020204020204" pitchFamily="34" charset="-122"/>
              </a:rPr>
              <a:t>3</a:t>
            </a:r>
            <a:r>
              <a:rPr lang="en-US" altLang="zh-CN" sz="1400" b="1" dirty="0">
                <a:solidFill>
                  <a:srgbClr val="C00000"/>
                </a:solidFill>
                <a:latin typeface="微软雅黑" panose="020B0503020204020204" pitchFamily="34" charset="-122"/>
                <a:ea typeface="微软雅黑" panose="020B0503020204020204" pitchFamily="34" charset="-122"/>
              </a:rPr>
              <a:t> AS</a:t>
            </a:r>
            <a:r>
              <a:rPr lang="en-US" altLang="zh-CN" sz="1400" b="1" baseline="-25000" dirty="0">
                <a:solidFill>
                  <a:srgbClr val="C00000"/>
                </a:solidFill>
                <a:latin typeface="微软雅黑" panose="020B0503020204020204" pitchFamily="34" charset="-122"/>
                <a:ea typeface="微软雅黑" panose="020B0503020204020204" pitchFamily="34" charset="-122"/>
              </a:rPr>
              <a:t>5</a:t>
            </a:r>
            <a:r>
              <a:rPr lang="en-US" altLang="zh-CN" sz="1400" b="1" dirty="0">
                <a:solidFill>
                  <a:srgbClr val="C00000"/>
                </a:solidFill>
                <a:latin typeface="微软雅黑" panose="020B0503020204020204" pitchFamily="34" charset="-122"/>
                <a:ea typeface="微软雅黑" panose="020B0503020204020204" pitchFamily="34" charset="-122"/>
              </a:rPr>
              <a:t> , LOCAL-PREF = 100, IP</a:t>
            </a:r>
            <a:r>
              <a:rPr lang="en-US" altLang="zh-CN" sz="1400" b="1" baseline="-25000" dirty="0">
                <a:solidFill>
                  <a:srgbClr val="C00000"/>
                </a:solidFill>
                <a:latin typeface="微软雅黑" panose="020B0503020204020204" pitchFamily="34" charset="-122"/>
                <a:ea typeface="微软雅黑" panose="020B0503020204020204" pitchFamily="34" charset="-122"/>
              </a:rPr>
              <a:t>2a</a:t>
            </a:r>
            <a:r>
              <a:rPr lang="en-US" altLang="zh-CN" sz="1400" b="1" dirty="0">
                <a:solidFill>
                  <a:srgbClr val="C00000"/>
                </a:solidFill>
                <a:latin typeface="微软雅黑" panose="020B0503020204020204" pitchFamily="34" charset="-122"/>
                <a:ea typeface="微软雅黑" panose="020B0503020204020204" pitchFamily="34" charset="-122"/>
              </a:rPr>
              <a:t> ]</a:t>
            </a:r>
            <a:endParaRPr lang="en-US" altLang="zh-CN" sz="1400" b="1" baseline="-25000" dirty="0">
              <a:solidFill>
                <a:srgbClr val="C0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98805582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5" y="621250"/>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8039"/>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热土豆路由选择算法</a:t>
            </a:r>
          </a:p>
        </p:txBody>
      </p:sp>
      <p:sp>
        <p:nvSpPr>
          <p:cNvPr id="329" name="Text Box 174"/>
          <p:cNvSpPr txBox="1">
            <a:spLocks noChangeArrowheads="1"/>
          </p:cNvSpPr>
          <p:nvPr/>
        </p:nvSpPr>
        <p:spPr bwMode="auto">
          <a:xfrm>
            <a:off x="1218428" y="3381918"/>
            <a:ext cx="6909572" cy="1426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ts val="2600"/>
              </a:lnSpc>
            </a:pPr>
            <a:r>
              <a:rPr lang="en-US" altLang="zh-CN" sz="1800" b="1" dirty="0">
                <a:solidFill>
                  <a:srgbClr val="0000FF"/>
                </a:solidFill>
                <a:latin typeface="微软雅黑" panose="020B0503020204020204" pitchFamily="34" charset="-122"/>
                <a:ea typeface="微软雅黑" panose="020B0503020204020204" pitchFamily="34" charset="-122"/>
              </a:rPr>
              <a:t>R</a:t>
            </a:r>
            <a:r>
              <a:rPr lang="en-US" altLang="zh-CN" sz="1800" b="1" baseline="-25000" dirty="0">
                <a:solidFill>
                  <a:srgbClr val="0000FF"/>
                </a:solidFill>
                <a:latin typeface="微软雅黑" panose="020B0503020204020204" pitchFamily="34" charset="-122"/>
                <a:ea typeface="微软雅黑" panose="020B0503020204020204" pitchFamily="34" charset="-122"/>
              </a:rPr>
              <a:t>1a</a:t>
            </a:r>
            <a:r>
              <a:rPr lang="en-US" altLang="zh-CN" sz="1800" b="1" dirty="0">
                <a:solidFill>
                  <a:srgbClr val="0000FF"/>
                </a:solidFill>
                <a:latin typeface="微软雅黑" panose="020B0503020204020204" pitchFamily="34" charset="-122"/>
                <a:ea typeface="微软雅黑" panose="020B0503020204020204" pitchFamily="34" charset="-122"/>
              </a:rPr>
              <a:t> </a:t>
            </a:r>
            <a:r>
              <a:rPr lang="zh-CN" altLang="en-US" sz="1800" b="1" dirty="0">
                <a:solidFill>
                  <a:srgbClr val="0000FF"/>
                </a:solidFill>
                <a:latin typeface="微软雅黑" panose="020B0503020204020204" pitchFamily="34" charset="-122"/>
                <a:ea typeface="微软雅黑" panose="020B0503020204020204" pitchFamily="34" charset="-122"/>
              </a:rPr>
              <a:t>选择 </a:t>
            </a:r>
            <a:r>
              <a:rPr lang="en-US" altLang="zh-CN" sz="1800" b="1" dirty="0">
                <a:solidFill>
                  <a:srgbClr val="0000FF"/>
                </a:solidFill>
                <a:latin typeface="微软雅黑" panose="020B0503020204020204" pitchFamily="34" charset="-122"/>
                <a:ea typeface="微软雅黑" panose="020B0503020204020204" pitchFamily="34" charset="-122"/>
              </a:rPr>
              <a:t>R</a:t>
            </a:r>
            <a:r>
              <a:rPr lang="en-US" altLang="zh-CN" sz="1800" b="1" baseline="-25000" dirty="0">
                <a:solidFill>
                  <a:srgbClr val="0000FF"/>
                </a:solidFill>
                <a:latin typeface="微软雅黑" panose="020B0503020204020204" pitchFamily="34" charset="-122"/>
                <a:ea typeface="微软雅黑" panose="020B0503020204020204" pitchFamily="34" charset="-122"/>
              </a:rPr>
              <a:t>1c</a:t>
            </a:r>
            <a:r>
              <a:rPr lang="en-US" altLang="zh-CN" sz="1800" b="1" dirty="0">
                <a:solidFill>
                  <a:srgbClr val="0000FF"/>
                </a:solidFill>
                <a:latin typeface="微软雅黑" panose="020B0503020204020204" pitchFamily="34" charset="-122"/>
                <a:ea typeface="微软雅黑" panose="020B0503020204020204" pitchFamily="34" charset="-122"/>
              </a:rPr>
              <a:t> </a:t>
            </a:r>
            <a:r>
              <a:rPr lang="zh-CN" altLang="en-US" sz="1800" b="1" dirty="0">
                <a:solidFill>
                  <a:srgbClr val="0000FF"/>
                </a:solidFill>
                <a:latin typeface="微软雅黑" panose="020B0503020204020204" pitchFamily="34" charset="-122"/>
                <a:ea typeface="微软雅黑" panose="020B0503020204020204" pitchFamily="34" charset="-122"/>
              </a:rPr>
              <a:t>作为离开 </a:t>
            </a:r>
            <a:r>
              <a:rPr lang="en-US" altLang="zh-CN" sz="1800" b="1" dirty="0">
                <a:solidFill>
                  <a:srgbClr val="0000FF"/>
                </a:solidFill>
                <a:latin typeface="微软雅黑" panose="020B0503020204020204" pitchFamily="34" charset="-122"/>
                <a:ea typeface="微软雅黑" panose="020B0503020204020204" pitchFamily="34" charset="-122"/>
              </a:rPr>
              <a:t>AS</a:t>
            </a:r>
            <a:r>
              <a:rPr lang="en-US" altLang="zh-CN" sz="1800" b="1" baseline="-25000" dirty="0">
                <a:solidFill>
                  <a:srgbClr val="0000FF"/>
                </a:solidFill>
                <a:latin typeface="微软雅黑" panose="020B0503020204020204" pitchFamily="34" charset="-122"/>
                <a:ea typeface="微软雅黑" panose="020B0503020204020204" pitchFamily="34" charset="-122"/>
              </a:rPr>
              <a:t>1</a:t>
            </a:r>
            <a:r>
              <a:rPr lang="en-US" altLang="zh-CN" sz="1800" b="1" dirty="0">
                <a:solidFill>
                  <a:srgbClr val="0000FF"/>
                </a:solidFill>
                <a:latin typeface="微软雅黑" panose="020B0503020204020204" pitchFamily="34" charset="-122"/>
                <a:ea typeface="微软雅黑" panose="020B0503020204020204" pitchFamily="34" charset="-122"/>
              </a:rPr>
              <a:t> </a:t>
            </a:r>
            <a:r>
              <a:rPr lang="zh-CN" altLang="en-US" sz="1800" b="1" dirty="0">
                <a:solidFill>
                  <a:srgbClr val="0000FF"/>
                </a:solidFill>
                <a:latin typeface="微软雅黑" panose="020B0503020204020204" pitchFamily="34" charset="-122"/>
                <a:ea typeface="微软雅黑" panose="020B0503020204020204" pitchFamily="34" charset="-122"/>
              </a:rPr>
              <a:t>的最佳选择，</a:t>
            </a:r>
            <a:r>
              <a:rPr lang="zh-CN" altLang="en-US" sz="1800" b="1" dirty="0">
                <a:latin typeface="微软雅黑" panose="020B0503020204020204" pitchFamily="34" charset="-122"/>
                <a:ea typeface="微软雅黑" panose="020B0503020204020204" pitchFamily="34" charset="-122"/>
              </a:rPr>
              <a:t>其 </a:t>
            </a:r>
            <a:r>
              <a:rPr lang="en-US" altLang="zh-CN" sz="1800" b="1" dirty="0">
                <a:latin typeface="微软雅黑" panose="020B0503020204020204" pitchFamily="34" charset="-122"/>
                <a:ea typeface="微软雅黑" panose="020B0503020204020204" pitchFamily="34" charset="-122"/>
              </a:rPr>
              <a:t>BGP </a:t>
            </a:r>
            <a:r>
              <a:rPr lang="zh-CN" altLang="en-US" sz="1800" b="1" dirty="0">
                <a:latin typeface="微软雅黑" panose="020B0503020204020204" pitchFamily="34" charset="-122"/>
                <a:ea typeface="微软雅黑" panose="020B0503020204020204" pitchFamily="34" charset="-122"/>
              </a:rPr>
              <a:t>转发表中对应的项目应当是：（匹配前缀 </a:t>
            </a:r>
            <a:r>
              <a:rPr lang="en-US" altLang="zh-CN" sz="1800" b="1" dirty="0">
                <a:latin typeface="微软雅黑" panose="020B0503020204020204" pitchFamily="34" charset="-122"/>
                <a:ea typeface="微软雅黑" panose="020B0503020204020204" pitchFamily="34" charset="-122"/>
              </a:rPr>
              <a:t>X</a:t>
            </a:r>
            <a:r>
              <a:rPr lang="zh-CN" altLang="en-US" sz="1800" b="1" dirty="0">
                <a:latin typeface="微软雅黑" panose="020B0503020204020204" pitchFamily="34" charset="-122"/>
                <a:ea typeface="微软雅黑" panose="020B0503020204020204" pitchFamily="34" charset="-122"/>
              </a:rPr>
              <a:t>，下一跳路由器 </a:t>
            </a:r>
            <a:r>
              <a:rPr lang="en-US" altLang="zh-CN" sz="1800" b="1" dirty="0">
                <a:latin typeface="微软雅黑" panose="020B0503020204020204" pitchFamily="34" charset="-122"/>
                <a:ea typeface="微软雅黑" panose="020B0503020204020204" pitchFamily="34" charset="-122"/>
              </a:rPr>
              <a:t>R</a:t>
            </a:r>
            <a:r>
              <a:rPr lang="en-US" altLang="zh-CN" sz="1800" b="1" baseline="-25000" dirty="0">
                <a:latin typeface="微软雅黑" panose="020B0503020204020204" pitchFamily="34" charset="-122"/>
                <a:ea typeface="微软雅黑" panose="020B0503020204020204" pitchFamily="34" charset="-122"/>
              </a:rPr>
              <a:t>1c</a:t>
            </a:r>
            <a:r>
              <a:rPr lang="zh-CN" altLang="en-US" sz="1800" b="1" dirty="0">
                <a:latin typeface="微软雅黑" panose="020B0503020204020204" pitchFamily="34" charset="-122"/>
                <a:ea typeface="微软雅黑" panose="020B0503020204020204" pitchFamily="34" charset="-122"/>
              </a:rPr>
              <a:t>）。</a:t>
            </a:r>
          </a:p>
          <a:p>
            <a:pPr eaLnBrk="1" hangingPunct="1">
              <a:lnSpc>
                <a:spcPts val="2600"/>
              </a:lnSpc>
            </a:pPr>
            <a:r>
              <a:rPr lang="en-US" altLang="zh-CN" sz="1800" b="1" dirty="0">
                <a:solidFill>
                  <a:srgbClr val="0000FF"/>
                </a:solidFill>
                <a:latin typeface="微软雅黑" panose="020B0503020204020204" pitchFamily="34" charset="-122"/>
                <a:ea typeface="微软雅黑" panose="020B0503020204020204" pitchFamily="34" charset="-122"/>
              </a:rPr>
              <a:t>R</a:t>
            </a:r>
            <a:r>
              <a:rPr lang="en-US" altLang="zh-CN" sz="1800" b="1" baseline="-25000" dirty="0">
                <a:solidFill>
                  <a:srgbClr val="0000FF"/>
                </a:solidFill>
                <a:latin typeface="微软雅黑" panose="020B0503020204020204" pitchFamily="34" charset="-122"/>
                <a:ea typeface="微软雅黑" panose="020B0503020204020204" pitchFamily="34" charset="-122"/>
              </a:rPr>
              <a:t>1b</a:t>
            </a:r>
            <a:r>
              <a:rPr lang="en-US" altLang="zh-CN" sz="1800" b="1" dirty="0">
                <a:solidFill>
                  <a:srgbClr val="0000FF"/>
                </a:solidFill>
                <a:latin typeface="微软雅黑" panose="020B0503020204020204" pitchFamily="34" charset="-122"/>
                <a:ea typeface="微软雅黑" panose="020B0503020204020204" pitchFamily="34" charset="-122"/>
              </a:rPr>
              <a:t> </a:t>
            </a:r>
            <a:r>
              <a:rPr lang="zh-CN" altLang="en-US" sz="1800" b="1" dirty="0">
                <a:solidFill>
                  <a:srgbClr val="0000FF"/>
                </a:solidFill>
                <a:latin typeface="微软雅黑" panose="020B0503020204020204" pitchFamily="34" charset="-122"/>
                <a:ea typeface="微软雅黑" panose="020B0503020204020204" pitchFamily="34" charset="-122"/>
              </a:rPr>
              <a:t>选择 </a:t>
            </a:r>
            <a:r>
              <a:rPr lang="en-US" altLang="zh-CN" sz="1800" b="1" dirty="0">
                <a:solidFill>
                  <a:srgbClr val="0000FF"/>
                </a:solidFill>
                <a:latin typeface="微软雅黑" panose="020B0503020204020204" pitchFamily="34" charset="-122"/>
                <a:ea typeface="微软雅黑" panose="020B0503020204020204" pitchFamily="34" charset="-122"/>
              </a:rPr>
              <a:t>R</a:t>
            </a:r>
            <a:r>
              <a:rPr lang="en-US" altLang="zh-CN" sz="1800" b="1" baseline="-25000" dirty="0">
                <a:solidFill>
                  <a:srgbClr val="0000FF"/>
                </a:solidFill>
                <a:latin typeface="微软雅黑" panose="020B0503020204020204" pitchFamily="34" charset="-122"/>
                <a:ea typeface="微软雅黑" panose="020B0503020204020204" pitchFamily="34" charset="-122"/>
              </a:rPr>
              <a:t>1d</a:t>
            </a:r>
            <a:r>
              <a:rPr lang="en-US" altLang="zh-CN" sz="1800" b="1" dirty="0">
                <a:solidFill>
                  <a:srgbClr val="0000FF"/>
                </a:solidFill>
                <a:latin typeface="微软雅黑" panose="020B0503020204020204" pitchFamily="34" charset="-122"/>
                <a:ea typeface="微软雅黑" panose="020B0503020204020204" pitchFamily="34" charset="-122"/>
              </a:rPr>
              <a:t> </a:t>
            </a:r>
            <a:r>
              <a:rPr lang="zh-CN" altLang="en-US" sz="1800" b="1" dirty="0">
                <a:solidFill>
                  <a:srgbClr val="0000FF"/>
                </a:solidFill>
                <a:latin typeface="微软雅黑" panose="020B0503020204020204" pitchFamily="34" charset="-122"/>
                <a:ea typeface="微软雅黑" panose="020B0503020204020204" pitchFamily="34" charset="-122"/>
              </a:rPr>
              <a:t>作为离开 </a:t>
            </a:r>
            <a:r>
              <a:rPr lang="en-US" altLang="zh-CN" sz="1800" b="1" dirty="0">
                <a:solidFill>
                  <a:srgbClr val="0000FF"/>
                </a:solidFill>
                <a:latin typeface="微软雅黑" panose="020B0503020204020204" pitchFamily="34" charset="-122"/>
                <a:ea typeface="微软雅黑" panose="020B0503020204020204" pitchFamily="34" charset="-122"/>
              </a:rPr>
              <a:t>AS</a:t>
            </a:r>
            <a:r>
              <a:rPr lang="en-US" altLang="zh-CN" sz="1800" b="1" baseline="-25000" dirty="0">
                <a:solidFill>
                  <a:srgbClr val="0000FF"/>
                </a:solidFill>
                <a:latin typeface="微软雅黑" panose="020B0503020204020204" pitchFamily="34" charset="-122"/>
                <a:ea typeface="微软雅黑" panose="020B0503020204020204" pitchFamily="34" charset="-122"/>
              </a:rPr>
              <a:t>1 </a:t>
            </a:r>
            <a:r>
              <a:rPr lang="zh-CN" altLang="en-US" sz="1800" b="1" dirty="0">
                <a:solidFill>
                  <a:srgbClr val="0000FF"/>
                </a:solidFill>
                <a:latin typeface="微软雅黑" panose="020B0503020204020204" pitchFamily="34" charset="-122"/>
                <a:ea typeface="微软雅黑" panose="020B0503020204020204" pitchFamily="34" charset="-122"/>
              </a:rPr>
              <a:t>的最佳选择，</a:t>
            </a:r>
            <a:r>
              <a:rPr lang="zh-CN" altLang="en-US" sz="1800" b="1" dirty="0">
                <a:latin typeface="微软雅黑" panose="020B0503020204020204" pitchFamily="34" charset="-122"/>
                <a:ea typeface="微软雅黑" panose="020B0503020204020204" pitchFamily="34" charset="-122"/>
              </a:rPr>
              <a:t>其 </a:t>
            </a:r>
            <a:r>
              <a:rPr lang="en-US" altLang="zh-CN" sz="1800" b="1" dirty="0">
                <a:latin typeface="微软雅黑" panose="020B0503020204020204" pitchFamily="34" charset="-122"/>
                <a:ea typeface="微软雅黑" panose="020B0503020204020204" pitchFamily="34" charset="-122"/>
              </a:rPr>
              <a:t>BGP </a:t>
            </a:r>
            <a:r>
              <a:rPr lang="zh-CN" altLang="en-US" sz="1800" b="1" dirty="0">
                <a:latin typeface="微软雅黑" panose="020B0503020204020204" pitchFamily="34" charset="-122"/>
                <a:ea typeface="微软雅黑" panose="020B0503020204020204" pitchFamily="34" charset="-122"/>
              </a:rPr>
              <a:t>转发表中对应的项目应当是：（匹配前缀 </a:t>
            </a:r>
            <a:r>
              <a:rPr lang="en-US" altLang="zh-CN" sz="1800" b="1" dirty="0">
                <a:latin typeface="微软雅黑" panose="020B0503020204020204" pitchFamily="34" charset="-122"/>
                <a:ea typeface="微软雅黑" panose="020B0503020204020204" pitchFamily="34" charset="-122"/>
              </a:rPr>
              <a:t>X</a:t>
            </a:r>
            <a:r>
              <a:rPr lang="zh-CN" altLang="en-US" sz="1800" b="1" dirty="0">
                <a:latin typeface="微软雅黑" panose="020B0503020204020204" pitchFamily="34" charset="-122"/>
                <a:ea typeface="微软雅黑" panose="020B0503020204020204" pitchFamily="34" charset="-122"/>
              </a:rPr>
              <a:t>，下一跳路由器 </a:t>
            </a:r>
            <a:r>
              <a:rPr lang="en-US" altLang="zh-CN" sz="1800" b="1" dirty="0">
                <a:latin typeface="微软雅黑" panose="020B0503020204020204" pitchFamily="34" charset="-122"/>
                <a:ea typeface="微软雅黑" panose="020B0503020204020204" pitchFamily="34" charset="-122"/>
              </a:rPr>
              <a:t>R</a:t>
            </a:r>
            <a:r>
              <a:rPr lang="en-US" altLang="zh-CN" sz="1800" b="1" baseline="-25000" dirty="0">
                <a:latin typeface="微软雅黑" panose="020B0503020204020204" pitchFamily="34" charset="-122"/>
                <a:ea typeface="微软雅黑" panose="020B0503020204020204" pitchFamily="34" charset="-122"/>
              </a:rPr>
              <a:t>1d</a:t>
            </a:r>
            <a:r>
              <a:rPr lang="zh-CN" altLang="en-US" sz="1800" b="1" dirty="0">
                <a:latin typeface="微软雅黑" panose="020B0503020204020204" pitchFamily="34" charset="-122"/>
                <a:ea typeface="微软雅黑" panose="020B0503020204020204" pitchFamily="34" charset="-122"/>
              </a:rPr>
              <a:t>）。</a:t>
            </a:r>
          </a:p>
        </p:txBody>
      </p:sp>
      <p:sp>
        <p:nvSpPr>
          <p:cNvPr id="265" name="圆角矩形 264"/>
          <p:cNvSpPr/>
          <p:nvPr/>
        </p:nvSpPr>
        <p:spPr>
          <a:xfrm>
            <a:off x="545145" y="1052857"/>
            <a:ext cx="8053712" cy="235721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267" name="Line 155"/>
          <p:cNvSpPr>
            <a:spLocks noChangeShapeType="1"/>
          </p:cNvSpPr>
          <p:nvPr/>
        </p:nvSpPr>
        <p:spPr bwMode="auto">
          <a:xfrm flipV="1">
            <a:off x="5803187" y="2219399"/>
            <a:ext cx="586018" cy="47036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8" name="Line 155"/>
          <p:cNvSpPr>
            <a:spLocks noChangeShapeType="1"/>
          </p:cNvSpPr>
          <p:nvPr/>
        </p:nvSpPr>
        <p:spPr bwMode="auto">
          <a:xfrm>
            <a:off x="3952711" y="1669599"/>
            <a:ext cx="2400528" cy="52803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9" name="Oval 207"/>
          <p:cNvSpPr>
            <a:spLocks noChangeArrowheads="1"/>
          </p:cNvSpPr>
          <p:nvPr/>
        </p:nvSpPr>
        <p:spPr bwMode="auto">
          <a:xfrm>
            <a:off x="1571206" y="1825356"/>
            <a:ext cx="541333" cy="239324"/>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0" name="Oval 208"/>
          <p:cNvSpPr>
            <a:spLocks noChangeArrowheads="1"/>
          </p:cNvSpPr>
          <p:nvPr/>
        </p:nvSpPr>
        <p:spPr bwMode="auto">
          <a:xfrm>
            <a:off x="1264653" y="1890626"/>
            <a:ext cx="412386" cy="239324"/>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1" name="Oval 209"/>
          <p:cNvSpPr>
            <a:spLocks noChangeArrowheads="1"/>
          </p:cNvSpPr>
          <p:nvPr/>
        </p:nvSpPr>
        <p:spPr bwMode="auto">
          <a:xfrm>
            <a:off x="1134489" y="2040506"/>
            <a:ext cx="276141" cy="19097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2" name="Oval 210"/>
          <p:cNvSpPr>
            <a:spLocks noChangeArrowheads="1"/>
          </p:cNvSpPr>
          <p:nvPr/>
        </p:nvSpPr>
        <p:spPr bwMode="auto">
          <a:xfrm>
            <a:off x="1218427" y="2129950"/>
            <a:ext cx="420902" cy="20910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3" name="Oval 211"/>
          <p:cNvSpPr>
            <a:spLocks noChangeArrowheads="1"/>
          </p:cNvSpPr>
          <p:nvPr/>
        </p:nvSpPr>
        <p:spPr bwMode="auto">
          <a:xfrm>
            <a:off x="1524980" y="2165003"/>
            <a:ext cx="633785" cy="25141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4" name="Oval 212"/>
          <p:cNvSpPr>
            <a:spLocks noChangeArrowheads="1"/>
          </p:cNvSpPr>
          <p:nvPr/>
        </p:nvSpPr>
        <p:spPr bwMode="auto">
          <a:xfrm>
            <a:off x="1937366" y="1896670"/>
            <a:ext cx="397789" cy="18493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5" name="Oval 213"/>
          <p:cNvSpPr>
            <a:spLocks noChangeArrowheads="1"/>
          </p:cNvSpPr>
          <p:nvPr/>
        </p:nvSpPr>
        <p:spPr bwMode="auto">
          <a:xfrm>
            <a:off x="1998190" y="2022376"/>
            <a:ext cx="397789" cy="18493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6" name="Oval 214"/>
          <p:cNvSpPr>
            <a:spLocks noChangeArrowheads="1"/>
          </p:cNvSpPr>
          <p:nvPr/>
        </p:nvSpPr>
        <p:spPr bwMode="auto">
          <a:xfrm>
            <a:off x="1960479" y="2064680"/>
            <a:ext cx="397788" cy="30942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7" name="Oval 215"/>
          <p:cNvSpPr>
            <a:spLocks noChangeArrowheads="1"/>
          </p:cNvSpPr>
          <p:nvPr/>
        </p:nvSpPr>
        <p:spPr bwMode="auto">
          <a:xfrm>
            <a:off x="1364404" y="1969192"/>
            <a:ext cx="817474" cy="30942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78" name="Group 216"/>
          <p:cNvGrpSpPr>
            <a:grpSpLocks/>
          </p:cNvGrpSpPr>
          <p:nvPr/>
        </p:nvGrpSpPr>
        <p:grpSpPr bwMode="auto">
          <a:xfrm>
            <a:off x="1127190" y="1813269"/>
            <a:ext cx="1261489" cy="591058"/>
            <a:chOff x="912" y="768"/>
            <a:chExt cx="2386" cy="1553"/>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79"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0"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1"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2"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3"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4"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5"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6"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7"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nvGrpSpPr>
          <p:cNvPr id="288" name="Group 206"/>
          <p:cNvGrpSpPr>
            <a:grpSpLocks/>
          </p:cNvGrpSpPr>
          <p:nvPr/>
        </p:nvGrpSpPr>
        <p:grpSpPr bwMode="auto">
          <a:xfrm>
            <a:off x="2983987" y="1420562"/>
            <a:ext cx="1157263" cy="512974"/>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89"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0"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1"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2"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3"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4"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7"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8"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9"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10" name="Group 216"/>
            <p:cNvGrpSpPr>
              <a:grpSpLocks/>
            </p:cNvGrpSpPr>
            <p:nvPr/>
          </p:nvGrpSpPr>
          <p:grpSpPr bwMode="auto">
            <a:xfrm>
              <a:off x="912" y="768"/>
              <a:ext cx="2386" cy="1553"/>
              <a:chOff x="912" y="768"/>
              <a:chExt cx="2386" cy="1553"/>
            </a:xfrm>
            <a:grpFill/>
          </p:grpSpPr>
          <p:sp>
            <p:nvSpPr>
              <p:cNvPr id="311"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2"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3"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4"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5"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6"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7"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8"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9"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20" name="Group 206"/>
          <p:cNvGrpSpPr>
            <a:grpSpLocks/>
          </p:cNvGrpSpPr>
          <p:nvPr/>
        </p:nvGrpSpPr>
        <p:grpSpPr bwMode="auto">
          <a:xfrm>
            <a:off x="6275132" y="1867661"/>
            <a:ext cx="1355429" cy="603145"/>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321"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2"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3"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4"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5"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6"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7"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8"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52" name="Group 216"/>
            <p:cNvGrpSpPr>
              <a:grpSpLocks/>
            </p:cNvGrpSpPr>
            <p:nvPr/>
          </p:nvGrpSpPr>
          <p:grpSpPr bwMode="auto">
            <a:xfrm>
              <a:off x="912" y="768"/>
              <a:ext cx="2386" cy="1553"/>
              <a:chOff x="912" y="768"/>
              <a:chExt cx="2386" cy="1553"/>
            </a:xfrm>
            <a:grpFill/>
          </p:grpSpPr>
          <p:sp>
            <p:nvSpPr>
              <p:cNvPr id="390"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2"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3"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5"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6"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7"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8"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9"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0"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401" name="Line 154"/>
          <p:cNvSpPr>
            <a:spLocks noChangeShapeType="1"/>
          </p:cNvSpPr>
          <p:nvPr/>
        </p:nvSpPr>
        <p:spPr bwMode="auto">
          <a:xfrm flipV="1">
            <a:off x="2403277" y="1758877"/>
            <a:ext cx="599725" cy="19255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2" name="Line 167"/>
          <p:cNvSpPr>
            <a:spLocks noChangeShapeType="1"/>
          </p:cNvSpPr>
          <p:nvPr/>
        </p:nvSpPr>
        <p:spPr bwMode="auto">
          <a:xfrm>
            <a:off x="1197746" y="2171046"/>
            <a:ext cx="645951" cy="24536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3" name="Line 169"/>
          <p:cNvSpPr>
            <a:spLocks noChangeShapeType="1"/>
          </p:cNvSpPr>
          <p:nvPr/>
        </p:nvSpPr>
        <p:spPr bwMode="auto">
          <a:xfrm flipV="1">
            <a:off x="1181932" y="1906340"/>
            <a:ext cx="496324" cy="23569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4" name="Line 170"/>
          <p:cNvSpPr>
            <a:spLocks noChangeShapeType="1"/>
          </p:cNvSpPr>
          <p:nvPr/>
        </p:nvSpPr>
        <p:spPr bwMode="auto">
          <a:xfrm>
            <a:off x="1788955" y="1851947"/>
            <a:ext cx="491567" cy="9548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173"/>
          <p:cNvSpPr txBox="1">
            <a:spLocks noChangeArrowheads="1"/>
          </p:cNvSpPr>
          <p:nvPr/>
        </p:nvSpPr>
        <p:spPr bwMode="auto">
          <a:xfrm>
            <a:off x="1623514" y="197015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1</a:t>
            </a:r>
          </a:p>
        </p:txBody>
      </p:sp>
      <p:sp>
        <p:nvSpPr>
          <p:cNvPr id="406" name="Text Box 174"/>
          <p:cNvSpPr txBox="1">
            <a:spLocks noChangeArrowheads="1"/>
          </p:cNvSpPr>
          <p:nvPr/>
        </p:nvSpPr>
        <p:spPr bwMode="auto">
          <a:xfrm>
            <a:off x="6723498" y="20163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5</a:t>
            </a:r>
          </a:p>
        </p:txBody>
      </p:sp>
      <p:sp>
        <p:nvSpPr>
          <p:cNvPr id="407" name="Text Box 175"/>
          <p:cNvSpPr txBox="1">
            <a:spLocks noChangeArrowheads="1"/>
          </p:cNvSpPr>
          <p:nvPr/>
        </p:nvSpPr>
        <p:spPr bwMode="auto">
          <a:xfrm>
            <a:off x="3332129" y="15229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2</a:t>
            </a:r>
          </a:p>
        </p:txBody>
      </p:sp>
      <p:sp>
        <p:nvSpPr>
          <p:cNvPr id="408" name="Text Box 173"/>
          <p:cNvSpPr txBox="1">
            <a:spLocks noChangeArrowheads="1"/>
          </p:cNvSpPr>
          <p:nvPr/>
        </p:nvSpPr>
        <p:spPr bwMode="auto">
          <a:xfrm>
            <a:off x="2153899" y="1639833"/>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R</a:t>
            </a:r>
            <a:r>
              <a:rPr lang="en-US" altLang="zh-CN" sz="1400" b="1" baseline="-25000" dirty="0">
                <a:latin typeface="微软雅黑" panose="020B0503020204020204" pitchFamily="34" charset="-122"/>
                <a:ea typeface="微软雅黑" panose="020B0503020204020204" pitchFamily="34" charset="-122"/>
              </a:rPr>
              <a:t>1d</a:t>
            </a:r>
          </a:p>
        </p:txBody>
      </p:sp>
      <p:pic>
        <p:nvPicPr>
          <p:cNvPr id="409"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1232" y="2087646"/>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10"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23514" y="1796347"/>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11"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64074" y="1703277"/>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12"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30538" y="1897288"/>
            <a:ext cx="226265"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413" name="Text Box 173"/>
          <p:cNvSpPr txBox="1">
            <a:spLocks noChangeArrowheads="1"/>
          </p:cNvSpPr>
          <p:nvPr/>
        </p:nvSpPr>
        <p:spPr bwMode="auto">
          <a:xfrm>
            <a:off x="1732997" y="2399492"/>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1c</a:t>
            </a:r>
          </a:p>
        </p:txBody>
      </p:sp>
      <p:sp>
        <p:nvSpPr>
          <p:cNvPr id="414" name="Text Box 173"/>
          <p:cNvSpPr txBox="1">
            <a:spLocks noChangeArrowheads="1"/>
          </p:cNvSpPr>
          <p:nvPr/>
        </p:nvSpPr>
        <p:spPr bwMode="auto">
          <a:xfrm>
            <a:off x="1567556" y="1577571"/>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1b</a:t>
            </a:r>
          </a:p>
        </p:txBody>
      </p:sp>
      <p:sp>
        <p:nvSpPr>
          <p:cNvPr id="415" name="Text Box 173"/>
          <p:cNvSpPr txBox="1">
            <a:spLocks noChangeArrowheads="1"/>
          </p:cNvSpPr>
          <p:nvPr/>
        </p:nvSpPr>
        <p:spPr bwMode="auto">
          <a:xfrm>
            <a:off x="851050" y="1851947"/>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1a</a:t>
            </a:r>
          </a:p>
        </p:txBody>
      </p:sp>
      <p:sp>
        <p:nvSpPr>
          <p:cNvPr id="416" name="椭圆 274"/>
          <p:cNvSpPr>
            <a:spLocks noChangeArrowheads="1"/>
          </p:cNvSpPr>
          <p:nvPr/>
        </p:nvSpPr>
        <p:spPr bwMode="auto">
          <a:xfrm>
            <a:off x="2882570" y="1744373"/>
            <a:ext cx="76638" cy="7614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7" name="Text Box 173"/>
          <p:cNvSpPr txBox="1">
            <a:spLocks noChangeArrowheads="1"/>
          </p:cNvSpPr>
          <p:nvPr/>
        </p:nvSpPr>
        <p:spPr bwMode="auto">
          <a:xfrm>
            <a:off x="2673336" y="1494170"/>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2a</a:t>
            </a:r>
          </a:p>
        </p:txBody>
      </p:sp>
      <p:grpSp>
        <p:nvGrpSpPr>
          <p:cNvPr id="418" name="Group 206"/>
          <p:cNvGrpSpPr>
            <a:grpSpLocks/>
          </p:cNvGrpSpPr>
          <p:nvPr/>
        </p:nvGrpSpPr>
        <p:grpSpPr bwMode="auto">
          <a:xfrm>
            <a:off x="2912774" y="2117278"/>
            <a:ext cx="2951162" cy="935037"/>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419"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0"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1"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2"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3"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4"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5"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6"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7"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428" name="Group 216"/>
            <p:cNvGrpSpPr>
              <a:grpSpLocks/>
            </p:cNvGrpSpPr>
            <p:nvPr/>
          </p:nvGrpSpPr>
          <p:grpSpPr bwMode="auto">
            <a:xfrm>
              <a:off x="912" y="768"/>
              <a:ext cx="2386" cy="1553"/>
              <a:chOff x="912" y="768"/>
              <a:chExt cx="2386" cy="1553"/>
            </a:xfrm>
            <a:grpFill/>
          </p:grpSpPr>
          <p:sp>
            <p:nvSpPr>
              <p:cNvPr id="429"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0"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1"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2"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3"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4"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5"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6"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7"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sp>
        <p:nvSpPr>
          <p:cNvPr id="438" name="Line 154"/>
          <p:cNvSpPr>
            <a:spLocks noChangeShapeType="1"/>
          </p:cNvSpPr>
          <p:nvPr/>
        </p:nvSpPr>
        <p:spPr bwMode="auto">
          <a:xfrm flipV="1">
            <a:off x="3200111" y="2404615"/>
            <a:ext cx="504825" cy="2159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39" name="Line 154"/>
          <p:cNvSpPr>
            <a:spLocks noChangeShapeType="1"/>
          </p:cNvSpPr>
          <p:nvPr/>
        </p:nvSpPr>
        <p:spPr bwMode="auto">
          <a:xfrm>
            <a:off x="3759394" y="2460227"/>
            <a:ext cx="377342" cy="30475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0" name="Line 154"/>
          <p:cNvSpPr>
            <a:spLocks noChangeShapeType="1"/>
          </p:cNvSpPr>
          <p:nvPr/>
        </p:nvSpPr>
        <p:spPr bwMode="auto">
          <a:xfrm>
            <a:off x="5363277" y="2399491"/>
            <a:ext cx="429222" cy="29246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1" name="Line 154"/>
          <p:cNvSpPr>
            <a:spLocks noChangeShapeType="1"/>
          </p:cNvSpPr>
          <p:nvPr/>
        </p:nvSpPr>
        <p:spPr bwMode="auto">
          <a:xfrm flipV="1">
            <a:off x="4902276" y="2393499"/>
            <a:ext cx="331423" cy="3530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2" name="Line 154"/>
          <p:cNvSpPr>
            <a:spLocks noChangeShapeType="1"/>
          </p:cNvSpPr>
          <p:nvPr/>
        </p:nvSpPr>
        <p:spPr bwMode="auto">
          <a:xfrm flipV="1">
            <a:off x="4117686" y="2364928"/>
            <a:ext cx="354013" cy="4111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3" name="Line 154"/>
          <p:cNvSpPr>
            <a:spLocks noChangeShapeType="1"/>
          </p:cNvSpPr>
          <p:nvPr/>
        </p:nvSpPr>
        <p:spPr bwMode="auto">
          <a:xfrm flipH="1" flipV="1">
            <a:off x="4539960" y="2404614"/>
            <a:ext cx="288361" cy="3714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4" name="Text Box 174"/>
          <p:cNvSpPr txBox="1">
            <a:spLocks noChangeArrowheads="1"/>
          </p:cNvSpPr>
          <p:nvPr/>
        </p:nvSpPr>
        <p:spPr bwMode="auto">
          <a:xfrm>
            <a:off x="5071774" y="2549078"/>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4</a:t>
            </a:r>
          </a:p>
        </p:txBody>
      </p:sp>
      <p:pic>
        <p:nvPicPr>
          <p:cNvPr id="445"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92274" y="2691953"/>
            <a:ext cx="296862"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46"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60474" y="2333178"/>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47"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52636" y="2260153"/>
            <a:ext cx="296863"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48"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44799" y="2290311"/>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49"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648036" y="2620515"/>
            <a:ext cx="296863"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50"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12999" y="2694403"/>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451" name="Line 154"/>
          <p:cNvSpPr>
            <a:spLocks noChangeShapeType="1"/>
          </p:cNvSpPr>
          <p:nvPr/>
        </p:nvSpPr>
        <p:spPr bwMode="auto">
          <a:xfrm>
            <a:off x="1893572" y="2427293"/>
            <a:ext cx="1183459" cy="21163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52" name="椭圆 273"/>
          <p:cNvSpPr>
            <a:spLocks noChangeArrowheads="1"/>
          </p:cNvSpPr>
          <p:nvPr/>
        </p:nvSpPr>
        <p:spPr bwMode="auto">
          <a:xfrm>
            <a:off x="2956193" y="2593070"/>
            <a:ext cx="76638" cy="7614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3" name="Text Box 173"/>
          <p:cNvSpPr txBox="1">
            <a:spLocks noChangeArrowheads="1"/>
          </p:cNvSpPr>
          <p:nvPr/>
        </p:nvSpPr>
        <p:spPr bwMode="auto">
          <a:xfrm>
            <a:off x="2799266" y="2344076"/>
            <a:ext cx="380758" cy="451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4a</a:t>
            </a:r>
          </a:p>
        </p:txBody>
      </p:sp>
      <p:pic>
        <p:nvPicPr>
          <p:cNvPr id="454"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20666" y="2564061"/>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55"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34214" y="2345100"/>
            <a:ext cx="227481"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57"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42474" y="2147013"/>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458" name="组合 457"/>
          <p:cNvGrpSpPr/>
          <p:nvPr/>
        </p:nvGrpSpPr>
        <p:grpSpPr>
          <a:xfrm>
            <a:off x="7139909" y="2180331"/>
            <a:ext cx="1195784" cy="475254"/>
            <a:chOff x="7199673" y="2544678"/>
            <a:chExt cx="1195784" cy="475254"/>
          </a:xfrm>
        </p:grpSpPr>
        <p:sp>
          <p:nvSpPr>
            <p:cNvPr id="459" name="AutoShape 229"/>
            <p:cNvSpPr>
              <a:spLocks noChangeAspect="1" noChangeArrowheads="1" noTextEdit="1"/>
            </p:cNvSpPr>
            <p:nvPr/>
          </p:nvSpPr>
          <p:spPr bwMode="auto">
            <a:xfrm>
              <a:off x="7199673" y="2544678"/>
              <a:ext cx="485152" cy="374983"/>
            </a:xfrm>
            <a:prstGeom prst="rect">
              <a:avLst/>
            </a:prstGeom>
            <a:noFill/>
            <a:ln>
              <a:noFill/>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60" name="Oval 231"/>
            <p:cNvSpPr>
              <a:spLocks noChangeArrowheads="1"/>
            </p:cNvSpPr>
            <p:nvPr/>
          </p:nvSpPr>
          <p:spPr bwMode="auto">
            <a:xfrm>
              <a:off x="7365705" y="2549127"/>
              <a:ext cx="208807" cy="15126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1" name="Oval 232"/>
            <p:cNvSpPr>
              <a:spLocks noChangeArrowheads="1"/>
            </p:cNvSpPr>
            <p:nvPr/>
          </p:nvSpPr>
          <p:spPr bwMode="auto">
            <a:xfrm>
              <a:off x="7250890" y="2588532"/>
              <a:ext cx="159841" cy="151900"/>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2" name="Oval 233"/>
            <p:cNvSpPr>
              <a:spLocks noChangeArrowheads="1"/>
            </p:cNvSpPr>
            <p:nvPr/>
          </p:nvSpPr>
          <p:spPr bwMode="auto">
            <a:xfrm>
              <a:off x="7201924" y="2680053"/>
              <a:ext cx="108062" cy="123299"/>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3" name="Oval 234"/>
            <p:cNvSpPr>
              <a:spLocks noChangeArrowheads="1"/>
            </p:cNvSpPr>
            <p:nvPr/>
          </p:nvSpPr>
          <p:spPr bwMode="auto">
            <a:xfrm>
              <a:off x="7234568" y="2734076"/>
              <a:ext cx="162655" cy="13410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4" name="Oval 235"/>
            <p:cNvSpPr>
              <a:spLocks noChangeArrowheads="1"/>
            </p:cNvSpPr>
            <p:nvPr/>
          </p:nvSpPr>
          <p:spPr bwMode="auto">
            <a:xfrm>
              <a:off x="7349383" y="2756321"/>
              <a:ext cx="242576" cy="15889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5" name="Oval 236"/>
            <p:cNvSpPr>
              <a:spLocks noChangeArrowheads="1"/>
            </p:cNvSpPr>
            <p:nvPr/>
          </p:nvSpPr>
          <p:spPr bwMode="auto">
            <a:xfrm>
              <a:off x="7503597" y="2592981"/>
              <a:ext cx="155902" cy="11948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6" name="Oval 237"/>
            <p:cNvSpPr>
              <a:spLocks noChangeArrowheads="1"/>
            </p:cNvSpPr>
            <p:nvPr/>
          </p:nvSpPr>
          <p:spPr bwMode="auto">
            <a:xfrm>
              <a:off x="7527235" y="2669884"/>
              <a:ext cx="154213" cy="11885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7" name="Oval 238"/>
            <p:cNvSpPr>
              <a:spLocks noChangeArrowheads="1"/>
            </p:cNvSpPr>
            <p:nvPr/>
          </p:nvSpPr>
          <p:spPr bwMode="auto">
            <a:xfrm>
              <a:off x="7513164" y="2694671"/>
              <a:ext cx="15308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8" name="Oval 239"/>
            <p:cNvSpPr>
              <a:spLocks noChangeArrowheads="1"/>
            </p:cNvSpPr>
            <p:nvPr/>
          </p:nvSpPr>
          <p:spPr bwMode="auto">
            <a:xfrm>
              <a:off x="7289162" y="2635564"/>
              <a:ext cx="31067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469" name="Group 257"/>
            <p:cNvGrpSpPr>
              <a:grpSpLocks/>
            </p:cNvGrpSpPr>
            <p:nvPr/>
          </p:nvGrpSpPr>
          <p:grpSpPr bwMode="auto">
            <a:xfrm>
              <a:off x="7200799" y="2545949"/>
              <a:ext cx="481775" cy="369898"/>
              <a:chOff x="3063" y="302"/>
              <a:chExt cx="856" cy="582"/>
            </a:xfrm>
            <a:solidFill>
              <a:schemeClr val="bg1"/>
            </a:solidFill>
          </p:grpSpPr>
          <p:sp>
            <p:nvSpPr>
              <p:cNvPr id="473" name="Freeform 241"/>
              <p:cNvSpPr>
                <a:spLocks/>
              </p:cNvSpPr>
              <p:nvPr/>
            </p:nvSpPr>
            <p:spPr bwMode="auto">
              <a:xfrm>
                <a:off x="3364" y="302"/>
                <a:ext cx="353" cy="123"/>
              </a:xfrm>
              <a:custGeom>
                <a:avLst/>
                <a:gdLst>
                  <a:gd name="T0" fmla="*/ 2147483647 w 171"/>
                  <a:gd name="T1" fmla="*/ 2147483647 h 53"/>
                  <a:gd name="T2" fmla="*/ 1516289415 w 171"/>
                  <a:gd name="T3" fmla="*/ 247646291 h 53"/>
                  <a:gd name="T4" fmla="*/ 0 w 171"/>
                  <a:gd name="T5" fmla="*/ 2147483647 h 53"/>
                  <a:gd name="T6" fmla="*/ 1516289415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4" name="Arc 242"/>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5" name="Freeform 243"/>
              <p:cNvSpPr>
                <a:spLocks/>
              </p:cNvSpPr>
              <p:nvPr/>
            </p:nvSpPr>
            <p:spPr bwMode="auto">
              <a:xfrm>
                <a:off x="3150" y="367"/>
                <a:ext cx="220" cy="146"/>
              </a:xfrm>
              <a:custGeom>
                <a:avLst/>
                <a:gdLst>
                  <a:gd name="T0" fmla="*/ 1693384537 w 107"/>
                  <a:gd name="T1" fmla="*/ 1713152276 h 63"/>
                  <a:gd name="T2" fmla="*/ 1109914767 w 107"/>
                  <a:gd name="T3" fmla="*/ 0 h 63"/>
                  <a:gd name="T4" fmla="*/ 14279267 w 107"/>
                  <a:gd name="T5" fmla="*/ 2147483647 h 63"/>
                  <a:gd name="T6" fmla="*/ 29359234 w 107"/>
                  <a:gd name="T7" fmla="*/ 2147483647 h 63"/>
                  <a:gd name="T8" fmla="*/ 1109914767 w 107"/>
                  <a:gd name="T9" fmla="*/ 2147483647 h 63"/>
                  <a:gd name="T10" fmla="*/ 1693384537 w 107"/>
                  <a:gd name="T11" fmla="*/ 1713152276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6" name="Arc 244"/>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7" name="Freeform 245"/>
              <p:cNvSpPr>
                <a:spLocks/>
              </p:cNvSpPr>
              <p:nvPr/>
            </p:nvSpPr>
            <p:spPr bwMode="auto">
              <a:xfrm>
                <a:off x="3121" y="696"/>
                <a:ext cx="220" cy="115"/>
              </a:xfrm>
              <a:custGeom>
                <a:avLst/>
                <a:gdLst>
                  <a:gd name="T0" fmla="*/ 0 w 107"/>
                  <a:gd name="T1" fmla="*/ 0 h 50"/>
                  <a:gd name="T2" fmla="*/ 0 w 107"/>
                  <a:gd name="T3" fmla="*/ 476470799 h 50"/>
                  <a:gd name="T4" fmla="*/ 1139293797 w 107"/>
                  <a:gd name="T5" fmla="*/ 2147483647 h 50"/>
                  <a:gd name="T6" fmla="*/ 1693384537 w 107"/>
                  <a:gd name="T7" fmla="*/ 2147483647 h 50"/>
                  <a:gd name="T8" fmla="*/ 1139293797 w 107"/>
                  <a:gd name="T9" fmla="*/ 635978878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8" name="Arc 246"/>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9" name="Freeform 247"/>
              <p:cNvSpPr>
                <a:spLocks/>
              </p:cNvSpPr>
              <p:nvPr/>
            </p:nvSpPr>
            <p:spPr bwMode="auto">
              <a:xfrm>
                <a:off x="3713" y="372"/>
                <a:ext cx="167" cy="141"/>
              </a:xfrm>
              <a:custGeom>
                <a:avLst/>
                <a:gdLst>
                  <a:gd name="T0" fmla="*/ 1211487246 w 81"/>
                  <a:gd name="T1" fmla="*/ 2147483647 h 61"/>
                  <a:gd name="T2" fmla="*/ 1365605509 w 81"/>
                  <a:gd name="T3" fmla="*/ 2147483647 h 61"/>
                  <a:gd name="T4" fmla="*/ 239314720 w 81"/>
                  <a:gd name="T5" fmla="*/ 230421347 h 61"/>
                  <a:gd name="T6" fmla="*/ 0 w 81"/>
                  <a:gd name="T7" fmla="*/ 230421347 h 61"/>
                  <a:gd name="T8" fmla="*/ 239314720 w 81"/>
                  <a:gd name="T9" fmla="*/ 2147483647 h 61"/>
                  <a:gd name="T10" fmla="*/ 1211487246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0" name="Arc 248"/>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1" name="Freeform 249"/>
              <p:cNvSpPr>
                <a:spLocks/>
              </p:cNvSpPr>
              <p:nvPr/>
            </p:nvSpPr>
            <p:spPr bwMode="auto">
              <a:xfrm>
                <a:off x="3760" y="511"/>
                <a:ext cx="159" cy="138"/>
              </a:xfrm>
              <a:custGeom>
                <a:avLst/>
                <a:gdLst>
                  <a:gd name="T0" fmla="*/ 1082302279 w 77"/>
                  <a:gd name="T1" fmla="*/ 2147483647 h 60"/>
                  <a:gd name="T2" fmla="*/ 1344976453 w 77"/>
                  <a:gd name="T3" fmla="*/ 2147483647 h 60"/>
                  <a:gd name="T4" fmla="*/ 835832256 w 77"/>
                  <a:gd name="T5" fmla="*/ 0 h 60"/>
                  <a:gd name="T6" fmla="*/ 0 w 77"/>
                  <a:gd name="T7" fmla="*/ 2147483647 h 60"/>
                  <a:gd name="T8" fmla="*/ 1082302279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2" name="Arc 250"/>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3" name="Freeform 251"/>
              <p:cNvSpPr>
                <a:spLocks/>
              </p:cNvSpPr>
              <p:nvPr/>
            </p:nvSpPr>
            <p:spPr bwMode="auto">
              <a:xfrm>
                <a:off x="3706" y="647"/>
                <a:ext cx="188" cy="201"/>
              </a:xfrm>
              <a:custGeom>
                <a:avLst/>
                <a:gdLst>
                  <a:gd name="T0" fmla="*/ 0 w 91"/>
                  <a:gd name="T1" fmla="*/ 2147483647 h 87"/>
                  <a:gd name="T2" fmla="*/ 411749049 w 91"/>
                  <a:gd name="T3" fmla="*/ 2147483647 h 87"/>
                  <a:gd name="T4" fmla="*/ 1608817485 w 91"/>
                  <a:gd name="T5" fmla="*/ 2147483647 h 87"/>
                  <a:gd name="T6" fmla="*/ 1558612064 w 91"/>
                  <a:gd name="T7" fmla="*/ 0 h 87"/>
                  <a:gd name="T8" fmla="*/ 411749049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4" name="Arc 252"/>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5" name="Freeform 253"/>
              <p:cNvSpPr>
                <a:spLocks/>
              </p:cNvSpPr>
              <p:nvPr/>
            </p:nvSpPr>
            <p:spPr bwMode="auto">
              <a:xfrm>
                <a:off x="3063" y="511"/>
                <a:ext cx="103" cy="189"/>
              </a:xfrm>
              <a:custGeom>
                <a:avLst/>
                <a:gdLst>
                  <a:gd name="T0" fmla="*/ 780520248 w 50"/>
                  <a:gd name="T1" fmla="*/ 0 h 82"/>
                  <a:gd name="T2" fmla="*/ 14698957 w 50"/>
                  <a:gd name="T3" fmla="*/ 2147483647 h 82"/>
                  <a:gd name="T4" fmla="*/ 500253939 w 50"/>
                  <a:gd name="T5" fmla="*/ 2147483647 h 82"/>
                  <a:gd name="T6" fmla="*/ 827327125 w 50"/>
                  <a:gd name="T7" fmla="*/ 2147483647 h 82"/>
                  <a:gd name="T8" fmla="*/ 780520248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6" name="Arc 254"/>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7" name="Freeform 255"/>
              <p:cNvSpPr>
                <a:spLocks/>
              </p:cNvSpPr>
              <p:nvPr/>
            </p:nvSpPr>
            <p:spPr bwMode="auto">
              <a:xfrm>
                <a:off x="3333" y="770"/>
                <a:ext cx="380" cy="113"/>
              </a:xfrm>
              <a:custGeom>
                <a:avLst/>
                <a:gdLst>
                  <a:gd name="T0" fmla="*/ 0 w 184"/>
                  <a:gd name="T1" fmla="*/ 2147483647 h 49"/>
                  <a:gd name="T2" fmla="*/ 1757541845 w 184"/>
                  <a:gd name="T3" fmla="*/ 2147483647 h 49"/>
                  <a:gd name="T4" fmla="*/ 2147483647 w 184"/>
                  <a:gd name="T5" fmla="*/ 2147483647 h 49"/>
                  <a:gd name="T6" fmla="*/ 1757541845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8" name="Arc 256"/>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grpSp>
        <p:sp>
          <p:nvSpPr>
            <p:cNvPr id="470" name="Text Box 173"/>
            <p:cNvSpPr txBox="1">
              <a:spLocks noChangeArrowheads="1"/>
            </p:cNvSpPr>
            <p:nvPr/>
          </p:nvSpPr>
          <p:spPr bwMode="auto">
            <a:xfrm>
              <a:off x="7293022" y="2580347"/>
              <a:ext cx="3097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X</a:t>
              </a:r>
            </a:p>
          </p:txBody>
        </p:sp>
        <p:sp>
          <p:nvSpPr>
            <p:cNvPr id="471" name="Text Box 42"/>
            <p:cNvSpPr txBox="1">
              <a:spLocks noChangeArrowheads="1"/>
            </p:cNvSpPr>
            <p:nvPr/>
          </p:nvSpPr>
          <p:spPr bwMode="auto">
            <a:xfrm>
              <a:off x="7851718" y="2712155"/>
              <a:ext cx="54373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前缀</a:t>
              </a:r>
            </a:p>
          </p:txBody>
        </p:sp>
        <p:cxnSp>
          <p:nvCxnSpPr>
            <p:cNvPr id="472" name="直接箭头连接符 331"/>
            <p:cNvCxnSpPr>
              <a:cxnSpLocks noChangeShapeType="1"/>
            </p:cNvCxnSpPr>
            <p:nvPr/>
          </p:nvCxnSpPr>
          <p:spPr bwMode="auto">
            <a:xfrm flipH="1" flipV="1">
              <a:off x="7526757" y="2746845"/>
              <a:ext cx="373781" cy="94158"/>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grpSp>
      <p:cxnSp>
        <p:nvCxnSpPr>
          <p:cNvPr id="490" name="直接箭头连接符 489"/>
          <p:cNvCxnSpPr/>
          <p:nvPr/>
        </p:nvCxnSpPr>
        <p:spPr>
          <a:xfrm flipH="1" flipV="1">
            <a:off x="2001976" y="1383251"/>
            <a:ext cx="233259" cy="319045"/>
          </a:xfrm>
          <a:prstGeom prst="straightConnector1">
            <a:avLst/>
          </a:prstGeom>
          <a:ln w="127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491" name="直接箭头连接符 490"/>
          <p:cNvCxnSpPr/>
          <p:nvPr/>
        </p:nvCxnSpPr>
        <p:spPr>
          <a:xfrm flipH="1">
            <a:off x="1623514" y="2637020"/>
            <a:ext cx="177015" cy="396996"/>
          </a:xfrm>
          <a:prstGeom prst="straightConnector1">
            <a:avLst/>
          </a:prstGeom>
          <a:ln w="127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80" name="Text Box 173"/>
          <p:cNvSpPr txBox="1">
            <a:spLocks noChangeArrowheads="1"/>
          </p:cNvSpPr>
          <p:nvPr/>
        </p:nvSpPr>
        <p:spPr bwMode="auto">
          <a:xfrm>
            <a:off x="882387" y="3014631"/>
            <a:ext cx="36622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solidFill>
                  <a:srgbClr val="C00000"/>
                </a:solidFill>
                <a:latin typeface="微软雅黑" panose="020B0503020204020204" pitchFamily="34" charset="-122"/>
                <a:ea typeface="微软雅黑" panose="020B0503020204020204" pitchFamily="34" charset="-122"/>
              </a:rPr>
              <a:t>[ X, AS</a:t>
            </a:r>
            <a:r>
              <a:rPr lang="en-US" altLang="zh-CN" sz="1400" b="1" baseline="-25000" dirty="0">
                <a:solidFill>
                  <a:srgbClr val="C00000"/>
                </a:solidFill>
                <a:latin typeface="微软雅黑" panose="020B0503020204020204" pitchFamily="34" charset="-122"/>
                <a:ea typeface="微软雅黑" panose="020B0503020204020204" pitchFamily="34" charset="-122"/>
              </a:rPr>
              <a:t>4</a:t>
            </a:r>
            <a:r>
              <a:rPr lang="en-US" altLang="zh-CN" sz="1400" b="1" dirty="0">
                <a:solidFill>
                  <a:srgbClr val="C00000"/>
                </a:solidFill>
                <a:latin typeface="微软雅黑" panose="020B0503020204020204" pitchFamily="34" charset="-122"/>
                <a:ea typeface="微软雅黑" panose="020B0503020204020204" pitchFamily="34" charset="-122"/>
              </a:rPr>
              <a:t> AS</a:t>
            </a:r>
            <a:r>
              <a:rPr lang="en-US" altLang="zh-CN" sz="1400" b="1" baseline="-25000" dirty="0">
                <a:solidFill>
                  <a:srgbClr val="C00000"/>
                </a:solidFill>
                <a:latin typeface="微软雅黑" panose="020B0503020204020204" pitchFamily="34" charset="-122"/>
                <a:ea typeface="微软雅黑" panose="020B0503020204020204" pitchFamily="34" charset="-122"/>
              </a:rPr>
              <a:t>5</a:t>
            </a:r>
            <a:r>
              <a:rPr lang="en-US" altLang="zh-CN" sz="1400" b="1" dirty="0">
                <a:solidFill>
                  <a:srgbClr val="C00000"/>
                </a:solidFill>
                <a:latin typeface="微软雅黑" panose="020B0503020204020204" pitchFamily="34" charset="-122"/>
                <a:ea typeface="微软雅黑" panose="020B0503020204020204" pitchFamily="34" charset="-122"/>
              </a:rPr>
              <a:t> , LOCAL-PREF = 100 , IP</a:t>
            </a:r>
            <a:r>
              <a:rPr lang="en-US" altLang="zh-CN" sz="1400" b="1" baseline="-25000" dirty="0">
                <a:solidFill>
                  <a:srgbClr val="C00000"/>
                </a:solidFill>
                <a:latin typeface="微软雅黑" panose="020B0503020204020204" pitchFamily="34" charset="-122"/>
                <a:ea typeface="微软雅黑" panose="020B0503020204020204" pitchFamily="34" charset="-122"/>
              </a:rPr>
              <a:t>4a</a:t>
            </a:r>
            <a:r>
              <a:rPr lang="en-US" altLang="zh-CN" sz="1400" b="1" dirty="0">
                <a:solidFill>
                  <a:srgbClr val="C00000"/>
                </a:solidFill>
                <a:latin typeface="微软雅黑" panose="020B0503020204020204" pitchFamily="34" charset="-122"/>
                <a:ea typeface="微软雅黑" panose="020B0503020204020204" pitchFamily="34" charset="-122"/>
              </a:rPr>
              <a:t> ]</a:t>
            </a:r>
            <a:endParaRPr lang="en-US" altLang="zh-CN" sz="1400" b="1" baseline="-25000" dirty="0">
              <a:solidFill>
                <a:srgbClr val="C00000"/>
              </a:solidFill>
              <a:latin typeface="微软雅黑" panose="020B0503020204020204" pitchFamily="34" charset="-122"/>
              <a:ea typeface="微软雅黑" panose="020B0503020204020204" pitchFamily="34" charset="-122"/>
            </a:endParaRPr>
          </a:p>
        </p:txBody>
      </p:sp>
      <p:sp>
        <p:nvSpPr>
          <p:cNvPr id="181" name="Text Box 173"/>
          <p:cNvSpPr txBox="1">
            <a:spLocks noChangeArrowheads="1"/>
          </p:cNvSpPr>
          <p:nvPr/>
        </p:nvSpPr>
        <p:spPr bwMode="auto">
          <a:xfrm>
            <a:off x="877725" y="1126614"/>
            <a:ext cx="3626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solidFill>
                  <a:srgbClr val="C00000"/>
                </a:solidFill>
                <a:latin typeface="微软雅黑" panose="020B0503020204020204" pitchFamily="34" charset="-122"/>
                <a:ea typeface="微软雅黑" panose="020B0503020204020204" pitchFamily="34" charset="-122"/>
              </a:rPr>
              <a:t>[ X, AS</a:t>
            </a:r>
            <a:r>
              <a:rPr lang="en-US" altLang="zh-CN" sz="1400" b="1" baseline="-25000" dirty="0">
                <a:solidFill>
                  <a:srgbClr val="C00000"/>
                </a:solidFill>
                <a:latin typeface="微软雅黑" panose="020B0503020204020204" pitchFamily="34" charset="-122"/>
                <a:ea typeface="微软雅黑" panose="020B0503020204020204" pitchFamily="34" charset="-122"/>
              </a:rPr>
              <a:t>2</a:t>
            </a:r>
            <a:r>
              <a:rPr lang="en-US" altLang="zh-CN" sz="1400" b="1" dirty="0">
                <a:solidFill>
                  <a:srgbClr val="C00000"/>
                </a:solidFill>
                <a:latin typeface="微软雅黑" panose="020B0503020204020204" pitchFamily="34" charset="-122"/>
                <a:ea typeface="微软雅黑" panose="020B0503020204020204" pitchFamily="34" charset="-122"/>
              </a:rPr>
              <a:t> AS</a:t>
            </a:r>
            <a:r>
              <a:rPr lang="en-US" altLang="zh-CN" sz="1400" b="1" baseline="-25000" dirty="0">
                <a:solidFill>
                  <a:srgbClr val="C00000"/>
                </a:solidFill>
                <a:latin typeface="微软雅黑" panose="020B0503020204020204" pitchFamily="34" charset="-122"/>
                <a:ea typeface="微软雅黑" panose="020B0503020204020204" pitchFamily="34" charset="-122"/>
              </a:rPr>
              <a:t>5</a:t>
            </a:r>
            <a:r>
              <a:rPr lang="en-US" altLang="zh-CN" sz="1400" b="1" dirty="0">
                <a:solidFill>
                  <a:srgbClr val="C00000"/>
                </a:solidFill>
                <a:latin typeface="微软雅黑" panose="020B0503020204020204" pitchFamily="34" charset="-122"/>
                <a:ea typeface="微软雅黑" panose="020B0503020204020204" pitchFamily="34" charset="-122"/>
              </a:rPr>
              <a:t> , LOCAL-PREF = 100, IP</a:t>
            </a:r>
            <a:r>
              <a:rPr lang="en-US" altLang="zh-CN" sz="1400" b="1" baseline="-25000" dirty="0">
                <a:solidFill>
                  <a:srgbClr val="C00000"/>
                </a:solidFill>
                <a:latin typeface="微软雅黑" panose="020B0503020204020204" pitchFamily="34" charset="-122"/>
                <a:ea typeface="微软雅黑" panose="020B0503020204020204" pitchFamily="34" charset="-122"/>
              </a:rPr>
              <a:t>2a</a:t>
            </a:r>
            <a:r>
              <a:rPr lang="en-US" altLang="zh-CN" sz="1400" b="1" dirty="0">
                <a:solidFill>
                  <a:srgbClr val="C00000"/>
                </a:solidFill>
                <a:latin typeface="微软雅黑" panose="020B0503020204020204" pitchFamily="34" charset="-122"/>
                <a:ea typeface="微软雅黑" panose="020B0503020204020204" pitchFamily="34" charset="-122"/>
              </a:rPr>
              <a:t> ]</a:t>
            </a:r>
            <a:endParaRPr lang="en-US" altLang="zh-CN" sz="1400" b="1" baseline="-25000" dirty="0">
              <a:solidFill>
                <a:srgbClr val="C00000"/>
              </a:solidFill>
              <a:latin typeface="微软雅黑" panose="020B0503020204020204" pitchFamily="34" charset="-122"/>
              <a:ea typeface="微软雅黑" panose="020B0503020204020204" pitchFamily="34" charset="-122"/>
            </a:endParaRPr>
          </a:p>
        </p:txBody>
      </p:sp>
      <p:sp>
        <p:nvSpPr>
          <p:cNvPr id="5" name="文本框 4">
            <a:extLst>
              <a:ext uri="{FF2B5EF4-FFF2-40B4-BE49-F238E27FC236}">
                <a16:creationId xmlns:a16="http://schemas.microsoft.com/office/drawing/2014/main" id="{92874B20-CE93-149E-F407-2F5B8776A4DF}"/>
              </a:ext>
            </a:extLst>
          </p:cNvPr>
          <p:cNvSpPr txBox="1"/>
          <p:nvPr/>
        </p:nvSpPr>
        <p:spPr>
          <a:xfrm>
            <a:off x="5317657" y="1165594"/>
            <a:ext cx="3063877" cy="369332"/>
          </a:xfrm>
          <a:prstGeom prst="rect">
            <a:avLst/>
          </a:prstGeom>
          <a:noFill/>
        </p:spPr>
        <p:txBody>
          <a:bodyPr wrap="square">
            <a:spAutoFit/>
          </a:bodyPr>
          <a:lstStyle/>
          <a:p>
            <a:r>
              <a:rPr lang="zh-CN" altLang="en-US" b="1" dirty="0">
                <a:latin typeface="微软雅黑" panose="020B0503020204020204" pitchFamily="34" charset="-122"/>
                <a:ea typeface="微软雅黑" panose="020B0503020204020204" pitchFamily="34" charset="-122"/>
              </a:rPr>
              <a:t>选择尽量少的跳数离开本</a:t>
            </a:r>
            <a:r>
              <a:rPr lang="en-US" altLang="zh-CN" b="1" dirty="0">
                <a:latin typeface="微软雅黑" panose="020B0503020204020204" pitchFamily="34" charset="-122"/>
                <a:ea typeface="微软雅黑" panose="020B0503020204020204" pitchFamily="34" charset="-122"/>
              </a:rPr>
              <a:t>AS</a:t>
            </a:r>
            <a:endParaRPr lang="zh-CN" altLang="en-US" b="1"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36798145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 name="圆角矩形 161"/>
          <p:cNvSpPr/>
          <p:nvPr/>
        </p:nvSpPr>
        <p:spPr>
          <a:xfrm>
            <a:off x="545145" y="1052858"/>
            <a:ext cx="8053712" cy="228147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p:cNvSpPr>
            <a:spLocks noChangeArrowheads="1"/>
          </p:cNvSpPr>
          <p:nvPr/>
        </p:nvSpPr>
        <p:spPr bwMode="auto">
          <a:xfrm>
            <a:off x="545145" y="621250"/>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8039"/>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AS </a:t>
            </a:r>
            <a:r>
              <a:rPr lang="zh-CN" altLang="en-US" sz="2000" b="1" dirty="0">
                <a:solidFill>
                  <a:schemeClr val="bg1"/>
                </a:solidFill>
                <a:latin typeface="微软雅黑" pitchFamily="34" charset="-122"/>
                <a:ea typeface="微软雅黑" pitchFamily="34" charset="-122"/>
              </a:rPr>
              <a:t>跳数最小</a:t>
            </a:r>
          </a:p>
        </p:txBody>
      </p:sp>
      <p:sp>
        <p:nvSpPr>
          <p:cNvPr id="194" name="Text Box 173"/>
          <p:cNvSpPr txBox="1">
            <a:spLocks noChangeArrowheads="1"/>
          </p:cNvSpPr>
          <p:nvPr/>
        </p:nvSpPr>
        <p:spPr bwMode="auto">
          <a:xfrm>
            <a:off x="882387" y="2968451"/>
            <a:ext cx="283718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C00000"/>
                </a:solidFill>
                <a:latin typeface="微软雅黑" panose="020B0503020204020204" pitchFamily="34" charset="-122"/>
                <a:ea typeface="微软雅黑" panose="020B0503020204020204" pitchFamily="34" charset="-122"/>
              </a:rPr>
              <a:t>[ X, AS-PATH, LOCAL-PREF = 100 ]</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196" name="Line 155"/>
          <p:cNvSpPr>
            <a:spLocks noChangeShapeType="1"/>
          </p:cNvSpPr>
          <p:nvPr/>
        </p:nvSpPr>
        <p:spPr bwMode="auto">
          <a:xfrm flipV="1">
            <a:off x="5803187" y="2219399"/>
            <a:ext cx="586018" cy="47036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7" name="Line 155"/>
          <p:cNvSpPr>
            <a:spLocks noChangeShapeType="1"/>
          </p:cNvSpPr>
          <p:nvPr/>
        </p:nvSpPr>
        <p:spPr bwMode="auto">
          <a:xfrm>
            <a:off x="3952711" y="1669599"/>
            <a:ext cx="1100449" cy="35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8" name="Oval 207"/>
          <p:cNvSpPr>
            <a:spLocks noChangeArrowheads="1"/>
          </p:cNvSpPr>
          <p:nvPr/>
        </p:nvSpPr>
        <p:spPr bwMode="auto">
          <a:xfrm>
            <a:off x="1571206" y="1825356"/>
            <a:ext cx="541333" cy="239324"/>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99" name="Oval 208"/>
          <p:cNvSpPr>
            <a:spLocks noChangeArrowheads="1"/>
          </p:cNvSpPr>
          <p:nvPr/>
        </p:nvSpPr>
        <p:spPr bwMode="auto">
          <a:xfrm>
            <a:off x="1264653" y="1890626"/>
            <a:ext cx="412386" cy="239324"/>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0" name="Oval 209"/>
          <p:cNvSpPr>
            <a:spLocks noChangeArrowheads="1"/>
          </p:cNvSpPr>
          <p:nvPr/>
        </p:nvSpPr>
        <p:spPr bwMode="auto">
          <a:xfrm>
            <a:off x="1134489" y="2040506"/>
            <a:ext cx="276141" cy="19097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1" name="Oval 210"/>
          <p:cNvSpPr>
            <a:spLocks noChangeArrowheads="1"/>
          </p:cNvSpPr>
          <p:nvPr/>
        </p:nvSpPr>
        <p:spPr bwMode="auto">
          <a:xfrm>
            <a:off x="1218427" y="2129950"/>
            <a:ext cx="420902" cy="20910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2" name="Oval 211"/>
          <p:cNvSpPr>
            <a:spLocks noChangeArrowheads="1"/>
          </p:cNvSpPr>
          <p:nvPr/>
        </p:nvSpPr>
        <p:spPr bwMode="auto">
          <a:xfrm>
            <a:off x="1524980" y="2165003"/>
            <a:ext cx="633785" cy="25141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3" name="Oval 212"/>
          <p:cNvSpPr>
            <a:spLocks noChangeArrowheads="1"/>
          </p:cNvSpPr>
          <p:nvPr/>
        </p:nvSpPr>
        <p:spPr bwMode="auto">
          <a:xfrm>
            <a:off x="1937366" y="1896670"/>
            <a:ext cx="397789" cy="18493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4" name="Oval 213"/>
          <p:cNvSpPr>
            <a:spLocks noChangeArrowheads="1"/>
          </p:cNvSpPr>
          <p:nvPr/>
        </p:nvSpPr>
        <p:spPr bwMode="auto">
          <a:xfrm>
            <a:off x="1998190" y="2022376"/>
            <a:ext cx="397789" cy="18493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5" name="Oval 214"/>
          <p:cNvSpPr>
            <a:spLocks noChangeArrowheads="1"/>
          </p:cNvSpPr>
          <p:nvPr/>
        </p:nvSpPr>
        <p:spPr bwMode="auto">
          <a:xfrm>
            <a:off x="1960479" y="2064680"/>
            <a:ext cx="397788" cy="30942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6" name="Oval 215"/>
          <p:cNvSpPr>
            <a:spLocks noChangeArrowheads="1"/>
          </p:cNvSpPr>
          <p:nvPr/>
        </p:nvSpPr>
        <p:spPr bwMode="auto">
          <a:xfrm>
            <a:off x="1364404" y="1969192"/>
            <a:ext cx="817474" cy="30942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07" name="Group 216"/>
          <p:cNvGrpSpPr>
            <a:grpSpLocks/>
          </p:cNvGrpSpPr>
          <p:nvPr/>
        </p:nvGrpSpPr>
        <p:grpSpPr bwMode="auto">
          <a:xfrm>
            <a:off x="1127190" y="1813269"/>
            <a:ext cx="1261489" cy="591058"/>
            <a:chOff x="912" y="768"/>
            <a:chExt cx="2386" cy="1553"/>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08"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9"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0"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1"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2"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3"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4"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5"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6"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nvGrpSpPr>
          <p:cNvPr id="217" name="Group 206"/>
          <p:cNvGrpSpPr>
            <a:grpSpLocks/>
          </p:cNvGrpSpPr>
          <p:nvPr/>
        </p:nvGrpSpPr>
        <p:grpSpPr bwMode="auto">
          <a:xfrm>
            <a:off x="2983987" y="1420562"/>
            <a:ext cx="1157263" cy="512974"/>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18"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9"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0"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1"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2"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3"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4"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5"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6"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27" name="Group 216"/>
            <p:cNvGrpSpPr>
              <a:grpSpLocks/>
            </p:cNvGrpSpPr>
            <p:nvPr/>
          </p:nvGrpSpPr>
          <p:grpSpPr bwMode="auto">
            <a:xfrm>
              <a:off x="912" y="768"/>
              <a:ext cx="2386" cy="1553"/>
              <a:chOff x="912" y="768"/>
              <a:chExt cx="2386" cy="1553"/>
            </a:xfrm>
            <a:grpFill/>
          </p:grpSpPr>
          <p:sp>
            <p:nvSpPr>
              <p:cNvPr id="228"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9"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0"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1"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2"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3"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4"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5"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6"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37" name="Group 206"/>
          <p:cNvGrpSpPr>
            <a:grpSpLocks/>
          </p:cNvGrpSpPr>
          <p:nvPr/>
        </p:nvGrpSpPr>
        <p:grpSpPr bwMode="auto">
          <a:xfrm>
            <a:off x="6275132" y="1867661"/>
            <a:ext cx="1355429" cy="603145"/>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38"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9"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0"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1"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2"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3"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4"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5"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6"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47" name="Group 216"/>
            <p:cNvGrpSpPr>
              <a:grpSpLocks/>
            </p:cNvGrpSpPr>
            <p:nvPr/>
          </p:nvGrpSpPr>
          <p:grpSpPr bwMode="auto">
            <a:xfrm>
              <a:off x="912" y="768"/>
              <a:ext cx="2386" cy="1553"/>
              <a:chOff x="912" y="768"/>
              <a:chExt cx="2386" cy="1553"/>
            </a:xfrm>
            <a:grpFill/>
          </p:grpSpPr>
          <p:sp>
            <p:nvSpPr>
              <p:cNvPr id="248"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9"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0"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1"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2"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3"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4"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5"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6"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257" name="Line 154"/>
          <p:cNvSpPr>
            <a:spLocks noChangeShapeType="1"/>
          </p:cNvSpPr>
          <p:nvPr/>
        </p:nvSpPr>
        <p:spPr bwMode="auto">
          <a:xfrm flipV="1">
            <a:off x="2403277" y="1758877"/>
            <a:ext cx="599725" cy="19255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8" name="Line 167"/>
          <p:cNvSpPr>
            <a:spLocks noChangeShapeType="1"/>
          </p:cNvSpPr>
          <p:nvPr/>
        </p:nvSpPr>
        <p:spPr bwMode="auto">
          <a:xfrm>
            <a:off x="1197746" y="2171046"/>
            <a:ext cx="645951" cy="24536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9" name="Line 169"/>
          <p:cNvSpPr>
            <a:spLocks noChangeShapeType="1"/>
          </p:cNvSpPr>
          <p:nvPr/>
        </p:nvSpPr>
        <p:spPr bwMode="auto">
          <a:xfrm flipV="1">
            <a:off x="1181932" y="1906340"/>
            <a:ext cx="496324" cy="23569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0" name="Line 170"/>
          <p:cNvSpPr>
            <a:spLocks noChangeShapeType="1"/>
          </p:cNvSpPr>
          <p:nvPr/>
        </p:nvSpPr>
        <p:spPr bwMode="auto">
          <a:xfrm>
            <a:off x="1788955" y="1851947"/>
            <a:ext cx="491567" cy="9548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1" name="Text Box 173"/>
          <p:cNvSpPr txBox="1">
            <a:spLocks noChangeArrowheads="1"/>
          </p:cNvSpPr>
          <p:nvPr/>
        </p:nvSpPr>
        <p:spPr bwMode="auto">
          <a:xfrm>
            <a:off x="1623514" y="197015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1</a:t>
            </a:r>
          </a:p>
        </p:txBody>
      </p:sp>
      <p:sp>
        <p:nvSpPr>
          <p:cNvPr id="262" name="Text Box 174"/>
          <p:cNvSpPr txBox="1">
            <a:spLocks noChangeArrowheads="1"/>
          </p:cNvSpPr>
          <p:nvPr/>
        </p:nvSpPr>
        <p:spPr bwMode="auto">
          <a:xfrm>
            <a:off x="6723498" y="20163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5</a:t>
            </a:r>
          </a:p>
        </p:txBody>
      </p:sp>
      <p:sp>
        <p:nvSpPr>
          <p:cNvPr id="263" name="Text Box 175"/>
          <p:cNvSpPr txBox="1">
            <a:spLocks noChangeArrowheads="1"/>
          </p:cNvSpPr>
          <p:nvPr/>
        </p:nvSpPr>
        <p:spPr bwMode="auto">
          <a:xfrm>
            <a:off x="3332129" y="15229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2</a:t>
            </a:r>
          </a:p>
        </p:txBody>
      </p:sp>
      <p:sp>
        <p:nvSpPr>
          <p:cNvPr id="295" name="Text Box 173"/>
          <p:cNvSpPr txBox="1">
            <a:spLocks noChangeArrowheads="1"/>
          </p:cNvSpPr>
          <p:nvPr/>
        </p:nvSpPr>
        <p:spPr bwMode="auto">
          <a:xfrm>
            <a:off x="2153899" y="1639833"/>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R</a:t>
            </a:r>
            <a:r>
              <a:rPr lang="en-US" altLang="zh-CN" sz="1400" b="1" baseline="-25000" dirty="0">
                <a:latin typeface="微软雅黑" panose="020B0503020204020204" pitchFamily="34" charset="-122"/>
                <a:ea typeface="微软雅黑" panose="020B0503020204020204" pitchFamily="34" charset="-122"/>
              </a:rPr>
              <a:t>1d</a:t>
            </a:r>
          </a:p>
        </p:txBody>
      </p:sp>
      <p:pic>
        <p:nvPicPr>
          <p:cNvPr id="296"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1232" y="2087646"/>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97"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23514" y="1796347"/>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98"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64074" y="1703277"/>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99"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30538" y="1897288"/>
            <a:ext cx="226265"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00" name="Text Box 173"/>
          <p:cNvSpPr txBox="1">
            <a:spLocks noChangeArrowheads="1"/>
          </p:cNvSpPr>
          <p:nvPr/>
        </p:nvSpPr>
        <p:spPr bwMode="auto">
          <a:xfrm>
            <a:off x="1732997" y="2399492"/>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1c</a:t>
            </a:r>
          </a:p>
        </p:txBody>
      </p:sp>
      <p:sp>
        <p:nvSpPr>
          <p:cNvPr id="301" name="Text Box 173"/>
          <p:cNvSpPr txBox="1">
            <a:spLocks noChangeArrowheads="1"/>
          </p:cNvSpPr>
          <p:nvPr/>
        </p:nvSpPr>
        <p:spPr bwMode="auto">
          <a:xfrm>
            <a:off x="1567556" y="1577571"/>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1b</a:t>
            </a:r>
          </a:p>
        </p:txBody>
      </p:sp>
      <p:sp>
        <p:nvSpPr>
          <p:cNvPr id="302" name="Text Box 173"/>
          <p:cNvSpPr txBox="1">
            <a:spLocks noChangeArrowheads="1"/>
          </p:cNvSpPr>
          <p:nvPr/>
        </p:nvSpPr>
        <p:spPr bwMode="auto">
          <a:xfrm>
            <a:off x="851050" y="1851947"/>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1a</a:t>
            </a:r>
          </a:p>
        </p:txBody>
      </p:sp>
      <p:sp>
        <p:nvSpPr>
          <p:cNvPr id="303" name="椭圆 274"/>
          <p:cNvSpPr>
            <a:spLocks noChangeArrowheads="1"/>
          </p:cNvSpPr>
          <p:nvPr/>
        </p:nvSpPr>
        <p:spPr bwMode="auto">
          <a:xfrm>
            <a:off x="2882570" y="1744373"/>
            <a:ext cx="76638" cy="7614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4" name="Text Box 173"/>
          <p:cNvSpPr txBox="1">
            <a:spLocks noChangeArrowheads="1"/>
          </p:cNvSpPr>
          <p:nvPr/>
        </p:nvSpPr>
        <p:spPr bwMode="auto">
          <a:xfrm>
            <a:off x="2673336" y="1494170"/>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2a</a:t>
            </a:r>
          </a:p>
        </p:txBody>
      </p:sp>
      <p:sp>
        <p:nvSpPr>
          <p:cNvPr id="329" name="Text Box 174"/>
          <p:cNvSpPr txBox="1">
            <a:spLocks noChangeArrowheads="1"/>
          </p:cNvSpPr>
          <p:nvPr/>
        </p:nvSpPr>
        <p:spPr bwMode="auto">
          <a:xfrm>
            <a:off x="1565297" y="3391154"/>
            <a:ext cx="6077280" cy="10926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ts val="2600"/>
              </a:lnSpc>
            </a:pPr>
            <a:r>
              <a:rPr lang="en-US" altLang="zh-CN" sz="1800" b="1" dirty="0">
                <a:latin typeface="微软雅黑" panose="020B0503020204020204" pitchFamily="34" charset="-122"/>
                <a:ea typeface="微软雅黑" panose="020B0503020204020204" pitchFamily="34" charset="-122"/>
              </a:rPr>
              <a:t>AS</a:t>
            </a:r>
            <a:r>
              <a:rPr lang="en-US" altLang="zh-CN" sz="1800" b="1" baseline="-25000" dirty="0">
                <a:latin typeface="微软雅黑" panose="020B0503020204020204" pitchFamily="34" charset="-122"/>
                <a:ea typeface="微软雅黑" panose="020B0503020204020204" pitchFamily="34" charset="-122"/>
              </a:rPr>
              <a:t>1</a:t>
            </a:r>
            <a:r>
              <a:rPr lang="en-US" altLang="zh-CN" sz="1800" b="1" dirty="0">
                <a:latin typeface="微软雅黑" panose="020B0503020204020204" pitchFamily="34" charset="-122"/>
                <a:ea typeface="微软雅黑" panose="020B0503020204020204" pitchFamily="34" charset="-122"/>
              </a:rPr>
              <a:t> </a:t>
            </a:r>
            <a:r>
              <a:rPr lang="zh-CN" altLang="en-US" sz="1800" b="1" dirty="0">
                <a:latin typeface="微软雅黑" panose="020B0503020204020204" pitchFamily="34" charset="-122"/>
                <a:ea typeface="微软雅黑" panose="020B0503020204020204" pitchFamily="34" charset="-122"/>
              </a:rPr>
              <a:t>选择通过路由器 </a:t>
            </a:r>
            <a:r>
              <a:rPr lang="en-US" altLang="zh-CN" sz="1800" b="1" dirty="0">
                <a:latin typeface="微软雅黑" panose="020B0503020204020204" pitchFamily="34" charset="-122"/>
                <a:ea typeface="微软雅黑" panose="020B0503020204020204" pitchFamily="34" charset="-122"/>
              </a:rPr>
              <a:t>R</a:t>
            </a:r>
            <a:r>
              <a:rPr lang="en-US" altLang="zh-CN" sz="1800" b="1" baseline="-25000" dirty="0">
                <a:latin typeface="微软雅黑" panose="020B0503020204020204" pitchFamily="34" charset="-122"/>
                <a:ea typeface="微软雅黑" panose="020B0503020204020204" pitchFamily="34" charset="-122"/>
              </a:rPr>
              <a:t>1c</a:t>
            </a:r>
            <a:r>
              <a:rPr lang="en-US" altLang="zh-CN" sz="1800" b="1" dirty="0">
                <a:latin typeface="微软雅黑" panose="020B0503020204020204" pitchFamily="34" charset="-122"/>
                <a:ea typeface="微软雅黑" panose="020B0503020204020204" pitchFamily="34" charset="-122"/>
              </a:rPr>
              <a:t> </a:t>
            </a:r>
            <a:r>
              <a:rPr lang="zh-CN" altLang="en-US" sz="1800" b="1" dirty="0">
                <a:latin typeface="微软雅黑" panose="020B0503020204020204" pitchFamily="34" charset="-122"/>
                <a:ea typeface="微软雅黑" panose="020B0503020204020204" pitchFamily="34" charset="-122"/>
              </a:rPr>
              <a:t>到达 </a:t>
            </a:r>
            <a:r>
              <a:rPr lang="en-US" altLang="zh-CN" sz="1800" b="1" dirty="0">
                <a:latin typeface="微软雅黑" panose="020B0503020204020204" pitchFamily="34" charset="-122"/>
                <a:ea typeface="微软雅黑" panose="020B0503020204020204" pitchFamily="34" charset="-122"/>
              </a:rPr>
              <a:t>X </a:t>
            </a:r>
            <a:r>
              <a:rPr lang="zh-CN" altLang="en-US" sz="1800" b="1" dirty="0">
                <a:latin typeface="微软雅黑" panose="020B0503020204020204" pitchFamily="34" charset="-122"/>
                <a:ea typeface="微软雅黑" panose="020B0503020204020204" pitchFamily="34" charset="-122"/>
              </a:rPr>
              <a:t>的 </a:t>
            </a:r>
            <a:r>
              <a:rPr lang="en-US" altLang="zh-CN" sz="1800" b="1" dirty="0">
                <a:latin typeface="微软雅黑" panose="020B0503020204020204" pitchFamily="34" charset="-122"/>
                <a:ea typeface="微软雅黑" panose="020B0503020204020204" pitchFamily="34" charset="-122"/>
              </a:rPr>
              <a:t>BGP </a:t>
            </a:r>
            <a:r>
              <a:rPr lang="zh-CN" altLang="en-US" sz="1800" b="1" dirty="0">
                <a:latin typeface="微软雅黑" panose="020B0503020204020204" pitchFamily="34" charset="-122"/>
                <a:ea typeface="微软雅黑" panose="020B0503020204020204" pitchFamily="34" charset="-122"/>
              </a:rPr>
              <a:t>路由。</a:t>
            </a:r>
            <a:endParaRPr lang="en-US" altLang="zh-CN" sz="1800" b="1" dirty="0">
              <a:latin typeface="微软雅黑" panose="020B0503020204020204" pitchFamily="34" charset="-122"/>
              <a:ea typeface="微软雅黑" panose="020B0503020204020204" pitchFamily="34" charset="-122"/>
            </a:endParaRPr>
          </a:p>
          <a:p>
            <a:pPr eaLnBrk="1" hangingPunct="1">
              <a:lnSpc>
                <a:spcPts val="2600"/>
              </a:lnSpc>
            </a:pPr>
            <a:r>
              <a:rPr lang="zh-CN" altLang="en-US" sz="1800" b="1" dirty="0">
                <a:latin typeface="微软雅黑" panose="020B0503020204020204" pitchFamily="34" charset="-122"/>
                <a:ea typeface="微软雅黑" panose="020B0503020204020204" pitchFamily="34" charset="-122"/>
              </a:rPr>
              <a:t>但事实上，分组在 </a:t>
            </a:r>
            <a:r>
              <a:rPr lang="en-US" altLang="zh-CN" sz="1800" b="1" dirty="0">
                <a:latin typeface="微软雅黑" panose="020B0503020204020204" pitchFamily="34" charset="-122"/>
                <a:ea typeface="微软雅黑" panose="020B0503020204020204" pitchFamily="34" charset="-122"/>
              </a:rPr>
              <a:t>AS</a:t>
            </a:r>
            <a:r>
              <a:rPr lang="en-US" altLang="zh-CN" sz="1800" b="1" baseline="-25000" dirty="0">
                <a:latin typeface="微软雅黑" panose="020B0503020204020204" pitchFamily="34" charset="-122"/>
                <a:ea typeface="微软雅黑" panose="020B0503020204020204" pitchFamily="34" charset="-122"/>
              </a:rPr>
              <a:t>4</a:t>
            </a:r>
            <a:r>
              <a:rPr lang="en-US" altLang="zh-CN" sz="1800" b="1" dirty="0">
                <a:latin typeface="微软雅黑" panose="020B0503020204020204" pitchFamily="34" charset="-122"/>
                <a:ea typeface="微软雅黑" panose="020B0503020204020204" pitchFamily="34" charset="-122"/>
              </a:rPr>
              <a:t> </a:t>
            </a:r>
            <a:r>
              <a:rPr lang="zh-CN" altLang="en-US" sz="1800" b="1" dirty="0">
                <a:latin typeface="微软雅黑" panose="020B0503020204020204" pitchFamily="34" charset="-122"/>
                <a:ea typeface="微软雅黑" panose="020B0503020204020204" pitchFamily="34" charset="-122"/>
              </a:rPr>
              <a:t>中反而要经过更多次数的转发。</a:t>
            </a:r>
            <a:endParaRPr lang="en-US" altLang="zh-CN" sz="1800" b="1" dirty="0">
              <a:latin typeface="微软雅黑" panose="020B0503020204020204" pitchFamily="34" charset="-122"/>
              <a:ea typeface="微软雅黑" panose="020B0503020204020204" pitchFamily="34" charset="-122"/>
            </a:endParaRPr>
          </a:p>
          <a:p>
            <a:pPr eaLnBrk="1" hangingPunct="1">
              <a:lnSpc>
                <a:spcPts val="2600"/>
              </a:lnSpc>
            </a:pPr>
            <a:r>
              <a:rPr lang="zh-CN" altLang="en-US" sz="1800" b="1" dirty="0">
                <a:latin typeface="微软雅黑" panose="020B0503020204020204" pitchFamily="34" charset="-122"/>
                <a:ea typeface="微软雅黑" panose="020B0503020204020204" pitchFamily="34" charset="-122"/>
              </a:rPr>
              <a:t>说明协议 </a:t>
            </a:r>
            <a:r>
              <a:rPr lang="en-US" altLang="zh-CN" sz="1800" b="1" dirty="0">
                <a:latin typeface="微软雅黑" panose="020B0503020204020204" pitchFamily="34" charset="-122"/>
                <a:ea typeface="微软雅黑" panose="020B0503020204020204" pitchFamily="34" charset="-122"/>
              </a:rPr>
              <a:t>BGP </a:t>
            </a:r>
            <a:r>
              <a:rPr lang="zh-CN" altLang="en-US" sz="1800" b="1" dirty="0">
                <a:latin typeface="微软雅黑" panose="020B0503020204020204" pitchFamily="34" charset="-122"/>
                <a:ea typeface="微软雅黑" panose="020B0503020204020204" pitchFamily="34" charset="-122"/>
              </a:rPr>
              <a:t>不存在真正的最佳路由选择。</a:t>
            </a:r>
            <a:endParaRPr lang="en-US" altLang="zh-CN" sz="1800" b="1" dirty="0">
              <a:latin typeface="微软雅黑" panose="020B0503020204020204" pitchFamily="34" charset="-122"/>
              <a:ea typeface="微软雅黑" panose="020B0503020204020204" pitchFamily="34" charset="-122"/>
            </a:endParaRPr>
          </a:p>
        </p:txBody>
      </p:sp>
      <p:grpSp>
        <p:nvGrpSpPr>
          <p:cNvPr id="332" name="Group 206"/>
          <p:cNvGrpSpPr>
            <a:grpSpLocks/>
          </p:cNvGrpSpPr>
          <p:nvPr/>
        </p:nvGrpSpPr>
        <p:grpSpPr bwMode="auto">
          <a:xfrm>
            <a:off x="2912774" y="2117278"/>
            <a:ext cx="2951162" cy="935037"/>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33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3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3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3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3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3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3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342" name="Group 216"/>
            <p:cNvGrpSpPr>
              <a:grpSpLocks/>
            </p:cNvGrpSpPr>
            <p:nvPr/>
          </p:nvGrpSpPr>
          <p:grpSpPr bwMode="auto">
            <a:xfrm>
              <a:off x="912" y="768"/>
              <a:ext cx="2386" cy="1553"/>
              <a:chOff x="912" y="768"/>
              <a:chExt cx="2386" cy="1553"/>
            </a:xfrm>
            <a:grpFill/>
          </p:grpSpPr>
          <p:sp>
            <p:nvSpPr>
              <p:cNvPr id="34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5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5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sp>
        <p:nvSpPr>
          <p:cNvPr id="353" name="Line 154"/>
          <p:cNvSpPr>
            <a:spLocks noChangeShapeType="1"/>
          </p:cNvSpPr>
          <p:nvPr/>
        </p:nvSpPr>
        <p:spPr bwMode="auto">
          <a:xfrm flipV="1">
            <a:off x="3200111" y="2404615"/>
            <a:ext cx="504825" cy="2159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4" name="Line 154"/>
          <p:cNvSpPr>
            <a:spLocks noChangeShapeType="1"/>
          </p:cNvSpPr>
          <p:nvPr/>
        </p:nvSpPr>
        <p:spPr bwMode="auto">
          <a:xfrm>
            <a:off x="3759394" y="2460227"/>
            <a:ext cx="377342" cy="30475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5" name="Line 154"/>
          <p:cNvSpPr>
            <a:spLocks noChangeShapeType="1"/>
          </p:cNvSpPr>
          <p:nvPr/>
        </p:nvSpPr>
        <p:spPr bwMode="auto">
          <a:xfrm>
            <a:off x="5363277" y="2399491"/>
            <a:ext cx="429222" cy="29246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6" name="Line 154"/>
          <p:cNvSpPr>
            <a:spLocks noChangeShapeType="1"/>
          </p:cNvSpPr>
          <p:nvPr/>
        </p:nvSpPr>
        <p:spPr bwMode="auto">
          <a:xfrm flipV="1">
            <a:off x="4902276" y="2393499"/>
            <a:ext cx="331423" cy="3530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7" name="Line 154"/>
          <p:cNvSpPr>
            <a:spLocks noChangeShapeType="1"/>
          </p:cNvSpPr>
          <p:nvPr/>
        </p:nvSpPr>
        <p:spPr bwMode="auto">
          <a:xfrm flipV="1">
            <a:off x="4117686" y="2364928"/>
            <a:ext cx="354013" cy="4111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8" name="Line 154"/>
          <p:cNvSpPr>
            <a:spLocks noChangeShapeType="1"/>
          </p:cNvSpPr>
          <p:nvPr/>
        </p:nvSpPr>
        <p:spPr bwMode="auto">
          <a:xfrm flipH="1" flipV="1">
            <a:off x="4539960" y="2404614"/>
            <a:ext cx="288361" cy="3714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9" name="Text Box 174"/>
          <p:cNvSpPr txBox="1">
            <a:spLocks noChangeArrowheads="1"/>
          </p:cNvSpPr>
          <p:nvPr/>
        </p:nvSpPr>
        <p:spPr bwMode="auto">
          <a:xfrm>
            <a:off x="5071774" y="2549078"/>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4</a:t>
            </a:r>
          </a:p>
        </p:txBody>
      </p:sp>
      <p:pic>
        <p:nvPicPr>
          <p:cNvPr id="360"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92274" y="2691953"/>
            <a:ext cx="296862"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61"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60474" y="2333178"/>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62"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52636" y="2260153"/>
            <a:ext cx="296863"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63"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44799" y="2290311"/>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64"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648036" y="2620515"/>
            <a:ext cx="296863"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65"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12999" y="2694403"/>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195" name="Line 154"/>
          <p:cNvSpPr>
            <a:spLocks noChangeShapeType="1"/>
          </p:cNvSpPr>
          <p:nvPr/>
        </p:nvSpPr>
        <p:spPr bwMode="auto">
          <a:xfrm>
            <a:off x="1893572" y="2427293"/>
            <a:ext cx="1183459" cy="21163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5" name="椭圆 273"/>
          <p:cNvSpPr>
            <a:spLocks noChangeArrowheads="1"/>
          </p:cNvSpPr>
          <p:nvPr/>
        </p:nvSpPr>
        <p:spPr bwMode="auto">
          <a:xfrm>
            <a:off x="2956193" y="2593070"/>
            <a:ext cx="76638" cy="7614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6" name="Text Box 173"/>
          <p:cNvSpPr txBox="1">
            <a:spLocks noChangeArrowheads="1"/>
          </p:cNvSpPr>
          <p:nvPr/>
        </p:nvSpPr>
        <p:spPr bwMode="auto">
          <a:xfrm>
            <a:off x="2799266" y="2344076"/>
            <a:ext cx="380758" cy="451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4a</a:t>
            </a:r>
          </a:p>
        </p:txBody>
      </p:sp>
      <p:pic>
        <p:nvPicPr>
          <p:cNvPr id="330"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20666" y="2564061"/>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64"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34214" y="2345100"/>
            <a:ext cx="227481"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87" name="Line 155"/>
          <p:cNvSpPr>
            <a:spLocks noChangeShapeType="1"/>
          </p:cNvSpPr>
          <p:nvPr/>
        </p:nvSpPr>
        <p:spPr bwMode="auto">
          <a:xfrm>
            <a:off x="5742693" y="1809940"/>
            <a:ext cx="558807" cy="34775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388"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42474" y="2147013"/>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163" name="组合 162"/>
          <p:cNvGrpSpPr/>
          <p:nvPr/>
        </p:nvGrpSpPr>
        <p:grpSpPr>
          <a:xfrm>
            <a:off x="7139909" y="2180331"/>
            <a:ext cx="1195784" cy="475254"/>
            <a:chOff x="7199673" y="2544678"/>
            <a:chExt cx="1195784" cy="475254"/>
          </a:xfrm>
        </p:grpSpPr>
        <p:sp>
          <p:nvSpPr>
            <p:cNvPr id="164" name="AutoShape 229"/>
            <p:cNvSpPr>
              <a:spLocks noChangeAspect="1" noChangeArrowheads="1" noTextEdit="1"/>
            </p:cNvSpPr>
            <p:nvPr/>
          </p:nvSpPr>
          <p:spPr bwMode="auto">
            <a:xfrm>
              <a:off x="7199673" y="2544678"/>
              <a:ext cx="485152" cy="374983"/>
            </a:xfrm>
            <a:prstGeom prst="rect">
              <a:avLst/>
            </a:prstGeom>
            <a:noFill/>
            <a:ln>
              <a:noFill/>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65" name="Oval 231"/>
            <p:cNvSpPr>
              <a:spLocks noChangeArrowheads="1"/>
            </p:cNvSpPr>
            <p:nvPr/>
          </p:nvSpPr>
          <p:spPr bwMode="auto">
            <a:xfrm>
              <a:off x="7365705" y="2549127"/>
              <a:ext cx="208807" cy="15126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66" name="Oval 232"/>
            <p:cNvSpPr>
              <a:spLocks noChangeArrowheads="1"/>
            </p:cNvSpPr>
            <p:nvPr/>
          </p:nvSpPr>
          <p:spPr bwMode="auto">
            <a:xfrm>
              <a:off x="7250890" y="2588532"/>
              <a:ext cx="159841" cy="151900"/>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67" name="Oval 233"/>
            <p:cNvSpPr>
              <a:spLocks noChangeArrowheads="1"/>
            </p:cNvSpPr>
            <p:nvPr/>
          </p:nvSpPr>
          <p:spPr bwMode="auto">
            <a:xfrm>
              <a:off x="7201924" y="2680053"/>
              <a:ext cx="108062" cy="123299"/>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68" name="Oval 234"/>
            <p:cNvSpPr>
              <a:spLocks noChangeArrowheads="1"/>
            </p:cNvSpPr>
            <p:nvPr/>
          </p:nvSpPr>
          <p:spPr bwMode="auto">
            <a:xfrm>
              <a:off x="7234568" y="2734076"/>
              <a:ext cx="162655" cy="13410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69" name="Oval 235"/>
            <p:cNvSpPr>
              <a:spLocks noChangeArrowheads="1"/>
            </p:cNvSpPr>
            <p:nvPr/>
          </p:nvSpPr>
          <p:spPr bwMode="auto">
            <a:xfrm>
              <a:off x="7349383" y="2756321"/>
              <a:ext cx="242576" cy="15889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70" name="Oval 236"/>
            <p:cNvSpPr>
              <a:spLocks noChangeArrowheads="1"/>
            </p:cNvSpPr>
            <p:nvPr/>
          </p:nvSpPr>
          <p:spPr bwMode="auto">
            <a:xfrm>
              <a:off x="7503597" y="2592981"/>
              <a:ext cx="155902" cy="11948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71" name="Oval 237"/>
            <p:cNvSpPr>
              <a:spLocks noChangeArrowheads="1"/>
            </p:cNvSpPr>
            <p:nvPr/>
          </p:nvSpPr>
          <p:spPr bwMode="auto">
            <a:xfrm>
              <a:off x="7527235" y="2669884"/>
              <a:ext cx="154213" cy="11885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72" name="Oval 238"/>
            <p:cNvSpPr>
              <a:spLocks noChangeArrowheads="1"/>
            </p:cNvSpPr>
            <p:nvPr/>
          </p:nvSpPr>
          <p:spPr bwMode="auto">
            <a:xfrm>
              <a:off x="7513164" y="2694671"/>
              <a:ext cx="15308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73" name="Oval 239"/>
            <p:cNvSpPr>
              <a:spLocks noChangeArrowheads="1"/>
            </p:cNvSpPr>
            <p:nvPr/>
          </p:nvSpPr>
          <p:spPr bwMode="auto">
            <a:xfrm>
              <a:off x="7289162" y="2635564"/>
              <a:ext cx="31067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174" name="Group 257"/>
            <p:cNvGrpSpPr>
              <a:grpSpLocks/>
            </p:cNvGrpSpPr>
            <p:nvPr/>
          </p:nvGrpSpPr>
          <p:grpSpPr bwMode="auto">
            <a:xfrm>
              <a:off x="7200799" y="2545949"/>
              <a:ext cx="481775" cy="369898"/>
              <a:chOff x="3063" y="302"/>
              <a:chExt cx="856" cy="582"/>
            </a:xfrm>
            <a:solidFill>
              <a:schemeClr val="bg1"/>
            </a:solidFill>
          </p:grpSpPr>
          <p:sp>
            <p:nvSpPr>
              <p:cNvPr id="178" name="Freeform 241"/>
              <p:cNvSpPr>
                <a:spLocks/>
              </p:cNvSpPr>
              <p:nvPr/>
            </p:nvSpPr>
            <p:spPr bwMode="auto">
              <a:xfrm>
                <a:off x="3364" y="302"/>
                <a:ext cx="353" cy="123"/>
              </a:xfrm>
              <a:custGeom>
                <a:avLst/>
                <a:gdLst>
                  <a:gd name="T0" fmla="*/ 2147483647 w 171"/>
                  <a:gd name="T1" fmla="*/ 2147483647 h 53"/>
                  <a:gd name="T2" fmla="*/ 1516289415 w 171"/>
                  <a:gd name="T3" fmla="*/ 247646291 h 53"/>
                  <a:gd name="T4" fmla="*/ 0 w 171"/>
                  <a:gd name="T5" fmla="*/ 2147483647 h 53"/>
                  <a:gd name="T6" fmla="*/ 1516289415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79" name="Arc 242"/>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0" name="Freeform 243"/>
              <p:cNvSpPr>
                <a:spLocks/>
              </p:cNvSpPr>
              <p:nvPr/>
            </p:nvSpPr>
            <p:spPr bwMode="auto">
              <a:xfrm>
                <a:off x="3150" y="367"/>
                <a:ext cx="220" cy="146"/>
              </a:xfrm>
              <a:custGeom>
                <a:avLst/>
                <a:gdLst>
                  <a:gd name="T0" fmla="*/ 1693384537 w 107"/>
                  <a:gd name="T1" fmla="*/ 1713152276 h 63"/>
                  <a:gd name="T2" fmla="*/ 1109914767 w 107"/>
                  <a:gd name="T3" fmla="*/ 0 h 63"/>
                  <a:gd name="T4" fmla="*/ 14279267 w 107"/>
                  <a:gd name="T5" fmla="*/ 2147483647 h 63"/>
                  <a:gd name="T6" fmla="*/ 29359234 w 107"/>
                  <a:gd name="T7" fmla="*/ 2147483647 h 63"/>
                  <a:gd name="T8" fmla="*/ 1109914767 w 107"/>
                  <a:gd name="T9" fmla="*/ 2147483647 h 63"/>
                  <a:gd name="T10" fmla="*/ 1693384537 w 107"/>
                  <a:gd name="T11" fmla="*/ 1713152276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1" name="Arc 244"/>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2" name="Freeform 245"/>
              <p:cNvSpPr>
                <a:spLocks/>
              </p:cNvSpPr>
              <p:nvPr/>
            </p:nvSpPr>
            <p:spPr bwMode="auto">
              <a:xfrm>
                <a:off x="3121" y="696"/>
                <a:ext cx="220" cy="115"/>
              </a:xfrm>
              <a:custGeom>
                <a:avLst/>
                <a:gdLst>
                  <a:gd name="T0" fmla="*/ 0 w 107"/>
                  <a:gd name="T1" fmla="*/ 0 h 50"/>
                  <a:gd name="T2" fmla="*/ 0 w 107"/>
                  <a:gd name="T3" fmla="*/ 476470799 h 50"/>
                  <a:gd name="T4" fmla="*/ 1139293797 w 107"/>
                  <a:gd name="T5" fmla="*/ 2147483647 h 50"/>
                  <a:gd name="T6" fmla="*/ 1693384537 w 107"/>
                  <a:gd name="T7" fmla="*/ 2147483647 h 50"/>
                  <a:gd name="T8" fmla="*/ 1139293797 w 107"/>
                  <a:gd name="T9" fmla="*/ 635978878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3" name="Arc 246"/>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4" name="Freeform 247"/>
              <p:cNvSpPr>
                <a:spLocks/>
              </p:cNvSpPr>
              <p:nvPr/>
            </p:nvSpPr>
            <p:spPr bwMode="auto">
              <a:xfrm>
                <a:off x="3713" y="372"/>
                <a:ext cx="167" cy="141"/>
              </a:xfrm>
              <a:custGeom>
                <a:avLst/>
                <a:gdLst>
                  <a:gd name="T0" fmla="*/ 1211487246 w 81"/>
                  <a:gd name="T1" fmla="*/ 2147483647 h 61"/>
                  <a:gd name="T2" fmla="*/ 1365605509 w 81"/>
                  <a:gd name="T3" fmla="*/ 2147483647 h 61"/>
                  <a:gd name="T4" fmla="*/ 239314720 w 81"/>
                  <a:gd name="T5" fmla="*/ 230421347 h 61"/>
                  <a:gd name="T6" fmla="*/ 0 w 81"/>
                  <a:gd name="T7" fmla="*/ 230421347 h 61"/>
                  <a:gd name="T8" fmla="*/ 239314720 w 81"/>
                  <a:gd name="T9" fmla="*/ 2147483647 h 61"/>
                  <a:gd name="T10" fmla="*/ 1211487246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5" name="Arc 248"/>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6" name="Freeform 249"/>
              <p:cNvSpPr>
                <a:spLocks/>
              </p:cNvSpPr>
              <p:nvPr/>
            </p:nvSpPr>
            <p:spPr bwMode="auto">
              <a:xfrm>
                <a:off x="3760" y="511"/>
                <a:ext cx="159" cy="138"/>
              </a:xfrm>
              <a:custGeom>
                <a:avLst/>
                <a:gdLst>
                  <a:gd name="T0" fmla="*/ 1082302279 w 77"/>
                  <a:gd name="T1" fmla="*/ 2147483647 h 60"/>
                  <a:gd name="T2" fmla="*/ 1344976453 w 77"/>
                  <a:gd name="T3" fmla="*/ 2147483647 h 60"/>
                  <a:gd name="T4" fmla="*/ 835832256 w 77"/>
                  <a:gd name="T5" fmla="*/ 0 h 60"/>
                  <a:gd name="T6" fmla="*/ 0 w 77"/>
                  <a:gd name="T7" fmla="*/ 2147483647 h 60"/>
                  <a:gd name="T8" fmla="*/ 1082302279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7" name="Arc 250"/>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8" name="Freeform 251"/>
              <p:cNvSpPr>
                <a:spLocks/>
              </p:cNvSpPr>
              <p:nvPr/>
            </p:nvSpPr>
            <p:spPr bwMode="auto">
              <a:xfrm>
                <a:off x="3706" y="647"/>
                <a:ext cx="188" cy="201"/>
              </a:xfrm>
              <a:custGeom>
                <a:avLst/>
                <a:gdLst>
                  <a:gd name="T0" fmla="*/ 0 w 91"/>
                  <a:gd name="T1" fmla="*/ 2147483647 h 87"/>
                  <a:gd name="T2" fmla="*/ 411749049 w 91"/>
                  <a:gd name="T3" fmla="*/ 2147483647 h 87"/>
                  <a:gd name="T4" fmla="*/ 1608817485 w 91"/>
                  <a:gd name="T5" fmla="*/ 2147483647 h 87"/>
                  <a:gd name="T6" fmla="*/ 1558612064 w 91"/>
                  <a:gd name="T7" fmla="*/ 0 h 87"/>
                  <a:gd name="T8" fmla="*/ 411749049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9" name="Arc 252"/>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90" name="Freeform 253"/>
              <p:cNvSpPr>
                <a:spLocks/>
              </p:cNvSpPr>
              <p:nvPr/>
            </p:nvSpPr>
            <p:spPr bwMode="auto">
              <a:xfrm>
                <a:off x="3063" y="511"/>
                <a:ext cx="103" cy="189"/>
              </a:xfrm>
              <a:custGeom>
                <a:avLst/>
                <a:gdLst>
                  <a:gd name="T0" fmla="*/ 780520248 w 50"/>
                  <a:gd name="T1" fmla="*/ 0 h 82"/>
                  <a:gd name="T2" fmla="*/ 14698957 w 50"/>
                  <a:gd name="T3" fmla="*/ 2147483647 h 82"/>
                  <a:gd name="T4" fmla="*/ 500253939 w 50"/>
                  <a:gd name="T5" fmla="*/ 2147483647 h 82"/>
                  <a:gd name="T6" fmla="*/ 827327125 w 50"/>
                  <a:gd name="T7" fmla="*/ 2147483647 h 82"/>
                  <a:gd name="T8" fmla="*/ 780520248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91" name="Arc 254"/>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92" name="Freeform 255"/>
              <p:cNvSpPr>
                <a:spLocks/>
              </p:cNvSpPr>
              <p:nvPr/>
            </p:nvSpPr>
            <p:spPr bwMode="auto">
              <a:xfrm>
                <a:off x="3333" y="770"/>
                <a:ext cx="380" cy="113"/>
              </a:xfrm>
              <a:custGeom>
                <a:avLst/>
                <a:gdLst>
                  <a:gd name="T0" fmla="*/ 0 w 184"/>
                  <a:gd name="T1" fmla="*/ 2147483647 h 49"/>
                  <a:gd name="T2" fmla="*/ 1757541845 w 184"/>
                  <a:gd name="T3" fmla="*/ 2147483647 h 49"/>
                  <a:gd name="T4" fmla="*/ 2147483647 w 184"/>
                  <a:gd name="T5" fmla="*/ 2147483647 h 49"/>
                  <a:gd name="T6" fmla="*/ 1757541845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93" name="Arc 256"/>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grpSp>
        <p:sp>
          <p:nvSpPr>
            <p:cNvPr id="175" name="Text Box 173"/>
            <p:cNvSpPr txBox="1">
              <a:spLocks noChangeArrowheads="1"/>
            </p:cNvSpPr>
            <p:nvPr/>
          </p:nvSpPr>
          <p:spPr bwMode="auto">
            <a:xfrm>
              <a:off x="7293022" y="2580347"/>
              <a:ext cx="3097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X</a:t>
              </a:r>
            </a:p>
          </p:txBody>
        </p:sp>
        <p:sp>
          <p:nvSpPr>
            <p:cNvPr id="176" name="Text Box 42"/>
            <p:cNvSpPr txBox="1">
              <a:spLocks noChangeArrowheads="1"/>
            </p:cNvSpPr>
            <p:nvPr/>
          </p:nvSpPr>
          <p:spPr bwMode="auto">
            <a:xfrm>
              <a:off x="7851718" y="2712155"/>
              <a:ext cx="54373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前缀</a:t>
              </a:r>
            </a:p>
          </p:txBody>
        </p:sp>
        <p:cxnSp>
          <p:nvCxnSpPr>
            <p:cNvPr id="177" name="直接箭头连接符 331"/>
            <p:cNvCxnSpPr>
              <a:cxnSpLocks noChangeShapeType="1"/>
            </p:cNvCxnSpPr>
            <p:nvPr/>
          </p:nvCxnSpPr>
          <p:spPr bwMode="auto">
            <a:xfrm flipH="1" flipV="1">
              <a:off x="7526757" y="2746845"/>
              <a:ext cx="373781" cy="94158"/>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grpSp>
      <p:sp>
        <p:nvSpPr>
          <p:cNvPr id="389" name="Text Box 173"/>
          <p:cNvSpPr txBox="1">
            <a:spLocks noChangeArrowheads="1"/>
          </p:cNvSpPr>
          <p:nvPr/>
        </p:nvSpPr>
        <p:spPr bwMode="auto">
          <a:xfrm>
            <a:off x="877725" y="1126614"/>
            <a:ext cx="283718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C00000"/>
                </a:solidFill>
                <a:latin typeface="微软雅黑" panose="020B0503020204020204" pitchFamily="34" charset="-122"/>
                <a:ea typeface="微软雅黑" panose="020B0503020204020204" pitchFamily="34" charset="-122"/>
              </a:rPr>
              <a:t>[ X, AS-PATH, LOCAL-PREF = 100 ]</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cxnSp>
        <p:nvCxnSpPr>
          <p:cNvPr id="391" name="直接箭头连接符 390"/>
          <p:cNvCxnSpPr/>
          <p:nvPr/>
        </p:nvCxnSpPr>
        <p:spPr>
          <a:xfrm flipH="1" flipV="1">
            <a:off x="2001976" y="1383251"/>
            <a:ext cx="233259" cy="319045"/>
          </a:xfrm>
          <a:prstGeom prst="straightConnector1">
            <a:avLst/>
          </a:prstGeom>
          <a:ln w="127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394" name="直接箭头连接符 393"/>
          <p:cNvCxnSpPr/>
          <p:nvPr/>
        </p:nvCxnSpPr>
        <p:spPr>
          <a:xfrm flipH="1">
            <a:off x="1614979" y="2637020"/>
            <a:ext cx="185549" cy="331431"/>
          </a:xfrm>
          <a:prstGeom prst="straightConnector1">
            <a:avLst/>
          </a:prstGeom>
          <a:ln w="127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grpSp>
        <p:nvGrpSpPr>
          <p:cNvPr id="366" name="Group 206"/>
          <p:cNvGrpSpPr>
            <a:grpSpLocks/>
          </p:cNvGrpSpPr>
          <p:nvPr/>
        </p:nvGrpSpPr>
        <p:grpSpPr bwMode="auto">
          <a:xfrm>
            <a:off x="4690551" y="1420562"/>
            <a:ext cx="1157263" cy="512974"/>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367"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68"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69"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0"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1"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2"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3"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4"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5"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76" name="Group 216"/>
            <p:cNvGrpSpPr>
              <a:grpSpLocks/>
            </p:cNvGrpSpPr>
            <p:nvPr/>
          </p:nvGrpSpPr>
          <p:grpSpPr bwMode="auto">
            <a:xfrm>
              <a:off x="912" y="768"/>
              <a:ext cx="2386" cy="1553"/>
              <a:chOff x="912" y="768"/>
              <a:chExt cx="2386" cy="1553"/>
            </a:xfrm>
            <a:grpFill/>
          </p:grpSpPr>
          <p:sp>
            <p:nvSpPr>
              <p:cNvPr id="377"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8"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9"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0"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1"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2"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3"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4"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5"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386" name="Text Box 175"/>
          <p:cNvSpPr txBox="1">
            <a:spLocks noChangeArrowheads="1"/>
          </p:cNvSpPr>
          <p:nvPr/>
        </p:nvSpPr>
        <p:spPr bwMode="auto">
          <a:xfrm>
            <a:off x="5038693" y="15229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3</a:t>
            </a:r>
          </a:p>
        </p:txBody>
      </p:sp>
    </p:spTree>
    <p:extLst>
      <p:ext uri="{BB962C8B-B14F-4D97-AF65-F5344CB8AC3E}">
        <p14:creationId xmlns:p14="http://schemas.microsoft.com/office/powerpoint/2010/main" val="245018725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5" y="623281"/>
            <a:ext cx="805373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9007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5.  BGP-4 </a:t>
            </a:r>
            <a:r>
              <a:rPr lang="zh-CN" altLang="en-US" sz="2000" b="1" dirty="0">
                <a:solidFill>
                  <a:schemeClr val="bg1"/>
                </a:solidFill>
                <a:latin typeface="微软雅黑" pitchFamily="34" charset="-122"/>
                <a:ea typeface="微软雅黑" pitchFamily="34" charset="-122"/>
              </a:rPr>
              <a:t>的四种报文</a:t>
            </a:r>
          </a:p>
        </p:txBody>
      </p:sp>
      <p:graphicFrame>
        <p:nvGraphicFramePr>
          <p:cNvPr id="5" name="图示 4"/>
          <p:cNvGraphicFramePr/>
          <p:nvPr>
            <p:extLst>
              <p:ext uri="{D42A27DB-BD31-4B8C-83A1-F6EECF244321}">
                <p14:modId xmlns:p14="http://schemas.microsoft.com/office/powerpoint/2010/main" val="2568335044"/>
              </p:ext>
            </p:extLst>
          </p:nvPr>
        </p:nvGraphicFramePr>
        <p:xfrm>
          <a:off x="969818" y="1136072"/>
          <a:ext cx="7305964" cy="313112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41374479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2831"/>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BGP </a:t>
            </a:r>
            <a:r>
              <a:rPr lang="zh-CN" altLang="en-US" sz="2000" b="1" dirty="0">
                <a:solidFill>
                  <a:schemeClr val="bg1"/>
                </a:solidFill>
                <a:latin typeface="微软雅黑" pitchFamily="34" charset="-122"/>
                <a:ea typeface="微软雅黑" pitchFamily="34" charset="-122"/>
              </a:rPr>
              <a:t>报文具有通用首部</a:t>
            </a:r>
          </a:p>
        </p:txBody>
      </p:sp>
      <p:sp>
        <p:nvSpPr>
          <p:cNvPr id="4" name="圆角矩形 3"/>
          <p:cNvSpPr/>
          <p:nvPr/>
        </p:nvSpPr>
        <p:spPr>
          <a:xfrm>
            <a:off x="545144" y="1080566"/>
            <a:ext cx="8053711" cy="324454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8" name="Rectangle 40"/>
          <p:cNvSpPr>
            <a:spLocks noChangeArrowheads="1"/>
          </p:cNvSpPr>
          <p:nvPr/>
        </p:nvSpPr>
        <p:spPr bwMode="auto">
          <a:xfrm>
            <a:off x="3294530" y="2292248"/>
            <a:ext cx="4466390" cy="335667"/>
          </a:xfrm>
          <a:prstGeom prst="rect">
            <a:avLst/>
          </a:prstGeom>
          <a:solidFill>
            <a:srgbClr val="00FFFF"/>
          </a:solidFill>
          <a:ln w="9525">
            <a:solidFill>
              <a:schemeClr val="tx1"/>
            </a:solidFill>
            <a:miter lim="800000"/>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33" name="Rectangle 41"/>
          <p:cNvSpPr>
            <a:spLocks noChangeArrowheads="1"/>
          </p:cNvSpPr>
          <p:nvPr/>
        </p:nvSpPr>
        <p:spPr bwMode="auto">
          <a:xfrm>
            <a:off x="3306336" y="2305527"/>
            <a:ext cx="1600959" cy="319320"/>
          </a:xfrm>
          <a:prstGeom prst="rect">
            <a:avLst/>
          </a:prstGeom>
          <a:solidFill>
            <a:srgbClr val="00FF99"/>
          </a:solidFill>
          <a:ln>
            <a:noFill/>
          </a:ln>
          <a:effectLst/>
        </p:spPr>
        <p:txBody>
          <a:bodyPr wrap="none" anchor="ctr"/>
          <a:lstStyle/>
          <a:p>
            <a:endParaRPr lang="zh-CN" altLang="en-US" sz="1400" b="1">
              <a:latin typeface="微软雅黑" pitchFamily="34" charset="-122"/>
              <a:ea typeface="微软雅黑" pitchFamily="34" charset="-122"/>
            </a:endParaRPr>
          </a:p>
        </p:txBody>
      </p:sp>
      <p:sp>
        <p:nvSpPr>
          <p:cNvPr id="35" name="AutoShape 37"/>
          <p:cNvSpPr>
            <a:spLocks noChangeArrowheads="1"/>
          </p:cNvSpPr>
          <p:nvPr/>
        </p:nvSpPr>
        <p:spPr bwMode="auto">
          <a:xfrm rot="5400000">
            <a:off x="1424565" y="3590961"/>
            <a:ext cx="202708" cy="434478"/>
          </a:xfrm>
          <a:prstGeom prst="downArrow">
            <a:avLst>
              <a:gd name="adj1" fmla="val 50000"/>
              <a:gd name="adj2" fmla="val 49462"/>
            </a:avLst>
          </a:prstGeom>
          <a:solidFill>
            <a:srgbClr val="00FF99"/>
          </a:solidFill>
          <a:ln w="9525">
            <a:solidFill>
              <a:schemeClr val="tx1"/>
            </a:solidFill>
            <a:miter lim="800000"/>
            <a:headEnd/>
            <a:tailEnd/>
          </a:ln>
          <a:effectLst/>
        </p:spPr>
        <p:txBody>
          <a:bodyPr vert="eaVert" wrap="none" anchor="ctr"/>
          <a:lstStyle/>
          <a:p>
            <a:endParaRPr lang="zh-CN" altLang="en-US" sz="1400" b="1">
              <a:latin typeface="微软雅黑" pitchFamily="34" charset="-122"/>
              <a:ea typeface="微软雅黑" pitchFamily="34" charset="-122"/>
            </a:endParaRPr>
          </a:p>
        </p:txBody>
      </p:sp>
      <p:sp>
        <p:nvSpPr>
          <p:cNvPr id="36" name="Freeform 38"/>
          <p:cNvSpPr>
            <a:spLocks/>
          </p:cNvSpPr>
          <p:nvPr/>
        </p:nvSpPr>
        <p:spPr bwMode="auto">
          <a:xfrm>
            <a:off x="2612115" y="1885742"/>
            <a:ext cx="3162955" cy="404327"/>
          </a:xfrm>
          <a:custGeom>
            <a:avLst/>
            <a:gdLst>
              <a:gd name="T0" fmla="*/ 45 w 2313"/>
              <a:gd name="T1" fmla="*/ 0 h 272"/>
              <a:gd name="T2" fmla="*/ 2313 w 2313"/>
              <a:gd name="T3" fmla="*/ 0 h 272"/>
              <a:gd name="T4" fmla="*/ 1723 w 2313"/>
              <a:gd name="T5" fmla="*/ 272 h 272"/>
              <a:gd name="T6" fmla="*/ 499 w 2313"/>
              <a:gd name="T7" fmla="*/ 272 h 272"/>
              <a:gd name="T8" fmla="*/ 0 w 2313"/>
              <a:gd name="T9" fmla="*/ 0 h 272"/>
            </a:gdLst>
            <a:ahLst/>
            <a:cxnLst>
              <a:cxn ang="0">
                <a:pos x="T0" y="T1"/>
              </a:cxn>
              <a:cxn ang="0">
                <a:pos x="T2" y="T3"/>
              </a:cxn>
              <a:cxn ang="0">
                <a:pos x="T4" y="T5"/>
              </a:cxn>
              <a:cxn ang="0">
                <a:pos x="T6" y="T7"/>
              </a:cxn>
              <a:cxn ang="0">
                <a:pos x="T8" y="T9"/>
              </a:cxn>
            </a:cxnLst>
            <a:rect l="0" t="0" r="r" b="b"/>
            <a:pathLst>
              <a:path w="2313" h="272">
                <a:moveTo>
                  <a:pt x="45" y="0"/>
                </a:moveTo>
                <a:lnTo>
                  <a:pt x="2313" y="0"/>
                </a:lnTo>
                <a:lnTo>
                  <a:pt x="1723" y="272"/>
                </a:lnTo>
                <a:lnTo>
                  <a:pt x="499" y="272"/>
                </a:lnTo>
                <a:lnTo>
                  <a:pt x="0" y="0"/>
                </a:lnTo>
              </a:path>
            </a:pathLst>
          </a:custGeom>
          <a:gradFill rotWithShape="1">
            <a:gsLst>
              <a:gs pos="0">
                <a:srgbClr val="FFFF99">
                  <a:gamma/>
                  <a:shade val="69804"/>
                  <a:invGamma/>
                </a:srgbClr>
              </a:gs>
              <a:gs pos="100000">
                <a:srgbClr val="FFFF66"/>
              </a:gs>
            </a:gsLst>
            <a:lin ang="5400000" scaled="1"/>
          </a:gradFill>
          <a:ln>
            <a:noFill/>
          </a:ln>
          <a:effectLst/>
        </p:spPr>
        <p:txBody>
          <a:bodyPr/>
          <a:lstStyle/>
          <a:p>
            <a:endParaRPr lang="zh-CN" altLang="en-US" sz="1400" b="1">
              <a:latin typeface="微软雅黑" pitchFamily="34" charset="-122"/>
              <a:ea typeface="微软雅黑" pitchFamily="34" charset="-122"/>
            </a:endParaRPr>
          </a:p>
        </p:txBody>
      </p:sp>
      <p:sp>
        <p:nvSpPr>
          <p:cNvPr id="37" name="Rectangle 39"/>
          <p:cNvSpPr>
            <a:spLocks noChangeArrowheads="1"/>
          </p:cNvSpPr>
          <p:nvPr/>
        </p:nvSpPr>
        <p:spPr bwMode="auto">
          <a:xfrm>
            <a:off x="1933344" y="1241286"/>
            <a:ext cx="3787897"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400" b="1" dirty="0">
                <a:latin typeface="微软雅黑" pitchFamily="34" charset="-122"/>
                <a:ea typeface="微软雅黑" pitchFamily="34" charset="-122"/>
              </a:rPr>
              <a:t>字节                 </a:t>
            </a:r>
            <a:r>
              <a:rPr kumimoji="1" lang="en-US" altLang="zh-CN" sz="1400" b="1" dirty="0">
                <a:latin typeface="微软雅黑" pitchFamily="34" charset="-122"/>
                <a:ea typeface="微软雅黑" pitchFamily="34" charset="-122"/>
              </a:rPr>
              <a:t>16                      2             1</a:t>
            </a:r>
          </a:p>
        </p:txBody>
      </p:sp>
      <p:sp>
        <p:nvSpPr>
          <p:cNvPr id="39" name="Rectangle 43"/>
          <p:cNvSpPr>
            <a:spLocks noChangeArrowheads="1"/>
          </p:cNvSpPr>
          <p:nvPr/>
        </p:nvSpPr>
        <p:spPr bwMode="auto">
          <a:xfrm>
            <a:off x="5426779" y="2323852"/>
            <a:ext cx="1692772"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400" b="1">
                <a:latin typeface="微软雅黑" pitchFamily="34" charset="-122"/>
                <a:ea typeface="微软雅黑" pitchFamily="34" charset="-122"/>
              </a:rPr>
              <a:t>BGP </a:t>
            </a:r>
            <a:r>
              <a:rPr kumimoji="1" lang="zh-CN" altLang="en-US" sz="1400" b="1">
                <a:latin typeface="微软雅黑" pitchFamily="34" charset="-122"/>
                <a:ea typeface="微软雅黑" pitchFamily="34" charset="-122"/>
              </a:rPr>
              <a:t>报文主体部分</a:t>
            </a:r>
          </a:p>
        </p:txBody>
      </p:sp>
      <p:sp>
        <p:nvSpPr>
          <p:cNvPr id="40" name="Line 44"/>
          <p:cNvSpPr>
            <a:spLocks noChangeShapeType="1"/>
          </p:cNvSpPr>
          <p:nvPr/>
        </p:nvSpPr>
        <p:spPr bwMode="auto">
          <a:xfrm>
            <a:off x="4907295" y="2290069"/>
            <a:ext cx="0" cy="33784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1" name="Rectangle 45"/>
          <p:cNvSpPr>
            <a:spLocks noChangeArrowheads="1"/>
          </p:cNvSpPr>
          <p:nvPr/>
        </p:nvSpPr>
        <p:spPr bwMode="auto">
          <a:xfrm>
            <a:off x="2612115" y="1547895"/>
            <a:ext cx="3162955" cy="336757"/>
          </a:xfrm>
          <a:prstGeom prst="rect">
            <a:avLst/>
          </a:prstGeom>
          <a:solidFill>
            <a:srgbClr val="00FF99"/>
          </a:solidFill>
          <a:ln w="9525">
            <a:solidFill>
              <a:schemeClr val="tx1"/>
            </a:solidFill>
            <a:miter lim="800000"/>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42" name="Rectangle 46"/>
          <p:cNvSpPr>
            <a:spLocks noChangeArrowheads="1"/>
          </p:cNvSpPr>
          <p:nvPr/>
        </p:nvSpPr>
        <p:spPr bwMode="auto">
          <a:xfrm>
            <a:off x="5200221" y="1559883"/>
            <a:ext cx="594716"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400" b="1" dirty="0">
                <a:latin typeface="微软雅黑" pitchFamily="34" charset="-122"/>
                <a:ea typeface="微软雅黑" pitchFamily="34" charset="-122"/>
              </a:rPr>
              <a:t>类 型</a:t>
            </a:r>
          </a:p>
        </p:txBody>
      </p:sp>
      <p:sp>
        <p:nvSpPr>
          <p:cNvPr id="43" name="Rectangle 47"/>
          <p:cNvSpPr>
            <a:spLocks noChangeArrowheads="1"/>
          </p:cNvSpPr>
          <p:nvPr/>
        </p:nvSpPr>
        <p:spPr bwMode="auto">
          <a:xfrm>
            <a:off x="4383866" y="1559883"/>
            <a:ext cx="647614"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400" b="1">
                <a:latin typeface="微软雅黑" pitchFamily="34" charset="-122"/>
                <a:ea typeface="微软雅黑" pitchFamily="34" charset="-122"/>
              </a:rPr>
              <a:t>长  度</a:t>
            </a:r>
          </a:p>
        </p:txBody>
      </p:sp>
      <p:sp>
        <p:nvSpPr>
          <p:cNvPr id="44" name="Line 48"/>
          <p:cNvSpPr>
            <a:spLocks noChangeShapeType="1"/>
          </p:cNvSpPr>
          <p:nvPr/>
        </p:nvSpPr>
        <p:spPr bwMode="auto">
          <a:xfrm>
            <a:off x="5217805" y="1547895"/>
            <a:ext cx="0" cy="33784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5" name="Line 49"/>
          <p:cNvSpPr>
            <a:spLocks noChangeShapeType="1"/>
          </p:cNvSpPr>
          <p:nvPr/>
        </p:nvSpPr>
        <p:spPr bwMode="auto">
          <a:xfrm>
            <a:off x="4224880" y="1547895"/>
            <a:ext cx="0" cy="33784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6" name="Rectangle 50"/>
          <p:cNvSpPr>
            <a:spLocks noChangeArrowheads="1"/>
          </p:cNvSpPr>
          <p:nvPr/>
        </p:nvSpPr>
        <p:spPr bwMode="auto">
          <a:xfrm>
            <a:off x="2994588" y="1559883"/>
            <a:ext cx="912110"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400" b="1" dirty="0">
                <a:latin typeface="微软雅黑" pitchFamily="34" charset="-122"/>
                <a:ea typeface="微软雅黑" pitchFamily="34" charset="-122"/>
              </a:rPr>
              <a:t>标       记</a:t>
            </a:r>
          </a:p>
        </p:txBody>
      </p:sp>
      <p:grpSp>
        <p:nvGrpSpPr>
          <p:cNvPr id="47" name="Group 51"/>
          <p:cNvGrpSpPr>
            <a:grpSpLocks/>
          </p:cNvGrpSpPr>
          <p:nvPr/>
        </p:nvGrpSpPr>
        <p:grpSpPr bwMode="auto">
          <a:xfrm rot="5400000">
            <a:off x="3315963" y="1514292"/>
            <a:ext cx="131869" cy="66116"/>
            <a:chOff x="1008" y="2046"/>
            <a:chExt cx="102" cy="60"/>
          </a:xfrm>
        </p:grpSpPr>
        <p:sp>
          <p:nvSpPr>
            <p:cNvPr id="48" name="Rectangle 52"/>
            <p:cNvSpPr>
              <a:spLocks noChangeArrowheads="1"/>
            </p:cNvSpPr>
            <p:nvPr/>
          </p:nvSpPr>
          <p:spPr bwMode="auto">
            <a:xfrm>
              <a:off x="1008" y="2052"/>
              <a:ext cx="102" cy="5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grpSp>
          <p:nvGrpSpPr>
            <p:cNvPr id="49" name="Group 53"/>
            <p:cNvGrpSpPr>
              <a:grpSpLocks/>
            </p:cNvGrpSpPr>
            <p:nvPr/>
          </p:nvGrpSpPr>
          <p:grpSpPr bwMode="auto">
            <a:xfrm>
              <a:off x="1026" y="2046"/>
              <a:ext cx="72" cy="48"/>
              <a:chOff x="1440" y="2016"/>
              <a:chExt cx="72" cy="48"/>
            </a:xfrm>
          </p:grpSpPr>
          <p:sp>
            <p:nvSpPr>
              <p:cNvPr id="50" name="Line 54"/>
              <p:cNvSpPr>
                <a:spLocks noChangeShapeType="1"/>
              </p:cNvSpPr>
              <p:nvPr/>
            </p:nvSpPr>
            <p:spPr bwMode="auto">
              <a:xfrm>
                <a:off x="1440" y="2016"/>
                <a:ext cx="7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1" name="Line 55"/>
              <p:cNvSpPr>
                <a:spLocks noChangeShapeType="1"/>
              </p:cNvSpPr>
              <p:nvPr/>
            </p:nvSpPr>
            <p:spPr bwMode="auto">
              <a:xfrm>
                <a:off x="1440" y="2064"/>
                <a:ext cx="7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grpSp>
        <p:nvGrpSpPr>
          <p:cNvPr id="52" name="Group 56"/>
          <p:cNvGrpSpPr>
            <a:grpSpLocks/>
          </p:cNvGrpSpPr>
          <p:nvPr/>
        </p:nvGrpSpPr>
        <p:grpSpPr bwMode="auto">
          <a:xfrm rot="5400000">
            <a:off x="3323047" y="1852139"/>
            <a:ext cx="131869" cy="66116"/>
            <a:chOff x="1008" y="2046"/>
            <a:chExt cx="102" cy="60"/>
          </a:xfrm>
        </p:grpSpPr>
        <p:sp>
          <p:nvSpPr>
            <p:cNvPr id="53" name="Rectangle 57"/>
            <p:cNvSpPr>
              <a:spLocks noChangeArrowheads="1"/>
            </p:cNvSpPr>
            <p:nvPr/>
          </p:nvSpPr>
          <p:spPr bwMode="auto">
            <a:xfrm>
              <a:off x="1008" y="2052"/>
              <a:ext cx="102" cy="5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grpSp>
          <p:nvGrpSpPr>
            <p:cNvPr id="54" name="Group 58"/>
            <p:cNvGrpSpPr>
              <a:grpSpLocks/>
            </p:cNvGrpSpPr>
            <p:nvPr/>
          </p:nvGrpSpPr>
          <p:grpSpPr bwMode="auto">
            <a:xfrm>
              <a:off x="1026" y="2046"/>
              <a:ext cx="72" cy="48"/>
              <a:chOff x="1440" y="2016"/>
              <a:chExt cx="72" cy="48"/>
            </a:xfrm>
          </p:grpSpPr>
          <p:sp>
            <p:nvSpPr>
              <p:cNvPr id="55" name="Line 59"/>
              <p:cNvSpPr>
                <a:spLocks noChangeShapeType="1"/>
              </p:cNvSpPr>
              <p:nvPr/>
            </p:nvSpPr>
            <p:spPr bwMode="auto">
              <a:xfrm>
                <a:off x="1440" y="2016"/>
                <a:ext cx="7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6" name="Line 60"/>
              <p:cNvSpPr>
                <a:spLocks noChangeShapeType="1"/>
              </p:cNvSpPr>
              <p:nvPr/>
            </p:nvSpPr>
            <p:spPr bwMode="auto">
              <a:xfrm>
                <a:off x="1440" y="2064"/>
                <a:ext cx="7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sp>
        <p:nvSpPr>
          <p:cNvPr id="57" name="Rectangle 63"/>
          <p:cNvSpPr>
            <a:spLocks noChangeArrowheads="1"/>
          </p:cNvSpPr>
          <p:nvPr/>
        </p:nvSpPr>
        <p:spPr bwMode="auto">
          <a:xfrm>
            <a:off x="2486966" y="2965763"/>
            <a:ext cx="5273954" cy="336757"/>
          </a:xfrm>
          <a:prstGeom prst="rect">
            <a:avLst/>
          </a:prstGeom>
          <a:solidFill>
            <a:srgbClr val="FF99FF"/>
          </a:solidFill>
          <a:ln w="9525">
            <a:solidFill>
              <a:schemeClr val="tx1"/>
            </a:solidFill>
            <a:miter lim="800000"/>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58" name="Line 64"/>
          <p:cNvSpPr>
            <a:spLocks noChangeShapeType="1"/>
          </p:cNvSpPr>
          <p:nvPr/>
        </p:nvSpPr>
        <p:spPr bwMode="auto">
          <a:xfrm>
            <a:off x="3294530" y="2964672"/>
            <a:ext cx="0" cy="33784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9" name="Rectangle 65"/>
          <p:cNvSpPr>
            <a:spLocks noChangeArrowheads="1"/>
          </p:cNvSpPr>
          <p:nvPr/>
        </p:nvSpPr>
        <p:spPr bwMode="auto">
          <a:xfrm>
            <a:off x="2433556" y="3015894"/>
            <a:ext cx="938784"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400" b="1" dirty="0">
                <a:latin typeface="微软雅黑" pitchFamily="34" charset="-122"/>
                <a:ea typeface="微软雅黑" pitchFamily="34" charset="-122"/>
              </a:rPr>
              <a:t>TCP </a:t>
            </a:r>
            <a:r>
              <a:rPr kumimoji="1" lang="zh-CN" altLang="en-US" sz="1400" b="1" dirty="0">
                <a:latin typeface="微软雅黑" pitchFamily="34" charset="-122"/>
                <a:ea typeface="微软雅黑" pitchFamily="34" charset="-122"/>
              </a:rPr>
              <a:t>首部</a:t>
            </a:r>
          </a:p>
        </p:txBody>
      </p:sp>
      <p:sp>
        <p:nvSpPr>
          <p:cNvPr id="60" name="AutoShape 66"/>
          <p:cNvSpPr>
            <a:spLocks noChangeArrowheads="1"/>
          </p:cNvSpPr>
          <p:nvPr/>
        </p:nvSpPr>
        <p:spPr bwMode="auto">
          <a:xfrm>
            <a:off x="5279198" y="2560346"/>
            <a:ext cx="185362" cy="472986"/>
          </a:xfrm>
          <a:prstGeom prst="downArrow">
            <a:avLst>
              <a:gd name="adj1" fmla="val 50000"/>
              <a:gd name="adj2" fmla="val 69108"/>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latin typeface="微软雅黑" pitchFamily="34" charset="-122"/>
              <a:ea typeface="微软雅黑" pitchFamily="34" charset="-122"/>
            </a:endParaRPr>
          </a:p>
        </p:txBody>
      </p:sp>
      <p:sp>
        <p:nvSpPr>
          <p:cNvPr id="61" name="Rectangle 67"/>
          <p:cNvSpPr>
            <a:spLocks noChangeArrowheads="1"/>
          </p:cNvSpPr>
          <p:nvPr/>
        </p:nvSpPr>
        <p:spPr bwMode="auto">
          <a:xfrm>
            <a:off x="1680584" y="3641456"/>
            <a:ext cx="6080336" cy="336757"/>
          </a:xfrm>
          <a:prstGeom prst="rect">
            <a:avLst/>
          </a:prstGeom>
          <a:solidFill>
            <a:srgbClr val="FFFF99"/>
          </a:solidFill>
          <a:ln w="9525">
            <a:solidFill>
              <a:schemeClr val="tx1"/>
            </a:solidFill>
            <a:miter lim="800000"/>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63" name="Line 69"/>
          <p:cNvSpPr>
            <a:spLocks noChangeShapeType="1"/>
          </p:cNvSpPr>
          <p:nvPr/>
        </p:nvSpPr>
        <p:spPr bwMode="auto">
          <a:xfrm>
            <a:off x="2486966" y="3640366"/>
            <a:ext cx="0" cy="33784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65" name="Rectangle 71"/>
          <p:cNvSpPr>
            <a:spLocks noChangeArrowheads="1"/>
          </p:cNvSpPr>
          <p:nvPr/>
        </p:nvSpPr>
        <p:spPr bwMode="auto">
          <a:xfrm>
            <a:off x="4947437" y="2989738"/>
            <a:ext cx="974627"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400" b="1">
                <a:latin typeface="微软雅黑" pitchFamily="34" charset="-122"/>
                <a:ea typeface="微软雅黑" pitchFamily="34" charset="-122"/>
              </a:rPr>
              <a:t>BGP </a:t>
            </a:r>
            <a:r>
              <a:rPr kumimoji="1" lang="zh-CN" altLang="en-US" sz="1400" b="1">
                <a:latin typeface="微软雅黑" pitchFamily="34" charset="-122"/>
                <a:ea typeface="微软雅黑" pitchFamily="34" charset="-122"/>
              </a:rPr>
              <a:t>报文</a:t>
            </a:r>
          </a:p>
        </p:txBody>
      </p:sp>
      <p:cxnSp>
        <p:nvCxnSpPr>
          <p:cNvPr id="67" name="直接连接符 66"/>
          <p:cNvCxnSpPr/>
          <p:nvPr/>
        </p:nvCxnSpPr>
        <p:spPr bwMode="auto">
          <a:xfrm>
            <a:off x="3306336" y="2627916"/>
            <a:ext cx="0" cy="336757"/>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8" name="直接连接符 67"/>
          <p:cNvCxnSpPr/>
          <p:nvPr/>
        </p:nvCxnSpPr>
        <p:spPr bwMode="auto">
          <a:xfrm>
            <a:off x="7760920" y="2627916"/>
            <a:ext cx="0" cy="336757"/>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0" name="直接连接符 69"/>
          <p:cNvCxnSpPr/>
          <p:nvPr/>
        </p:nvCxnSpPr>
        <p:spPr bwMode="auto">
          <a:xfrm>
            <a:off x="7760920" y="3328675"/>
            <a:ext cx="0" cy="336757"/>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1" name="直接连接符 70"/>
          <p:cNvCxnSpPr/>
          <p:nvPr/>
        </p:nvCxnSpPr>
        <p:spPr bwMode="auto">
          <a:xfrm>
            <a:off x="2495586" y="3328675"/>
            <a:ext cx="0" cy="336757"/>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3" name="Rectangle 42"/>
          <p:cNvSpPr>
            <a:spLocks noChangeArrowheads="1"/>
          </p:cNvSpPr>
          <p:nvPr/>
        </p:nvSpPr>
        <p:spPr bwMode="auto">
          <a:xfrm>
            <a:off x="3261471" y="2323852"/>
            <a:ext cx="1692772"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400" b="1" dirty="0">
                <a:latin typeface="微软雅黑" pitchFamily="34" charset="-122"/>
                <a:ea typeface="微软雅黑" pitchFamily="34" charset="-122"/>
              </a:rPr>
              <a:t>BGP </a:t>
            </a:r>
            <a:r>
              <a:rPr kumimoji="1" lang="zh-CN" altLang="en-US" sz="1400" b="1" dirty="0">
                <a:latin typeface="微软雅黑" pitchFamily="34" charset="-122"/>
                <a:ea typeface="微软雅黑" pitchFamily="34" charset="-122"/>
              </a:rPr>
              <a:t>报文通用首部</a:t>
            </a:r>
          </a:p>
        </p:txBody>
      </p:sp>
      <p:sp>
        <p:nvSpPr>
          <p:cNvPr id="5" name="矩形 4"/>
          <p:cNvSpPr/>
          <p:nvPr/>
        </p:nvSpPr>
        <p:spPr>
          <a:xfrm>
            <a:off x="2512444" y="3657655"/>
            <a:ext cx="5220000" cy="30240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Rectangle 68"/>
          <p:cNvSpPr>
            <a:spLocks noChangeArrowheads="1"/>
          </p:cNvSpPr>
          <p:nvPr/>
        </p:nvSpPr>
        <p:spPr bwMode="auto">
          <a:xfrm>
            <a:off x="1677719" y="3673001"/>
            <a:ext cx="774252"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400" b="1" dirty="0">
                <a:latin typeface="微软雅黑" pitchFamily="34" charset="-122"/>
                <a:ea typeface="微软雅黑" pitchFamily="34" charset="-122"/>
              </a:rPr>
              <a:t>IP </a:t>
            </a:r>
            <a:r>
              <a:rPr kumimoji="1" lang="zh-CN" altLang="en-US" sz="1400" b="1" dirty="0">
                <a:latin typeface="微软雅黑" pitchFamily="34" charset="-122"/>
                <a:ea typeface="微软雅黑" pitchFamily="34" charset="-122"/>
              </a:rPr>
              <a:t>首部</a:t>
            </a:r>
          </a:p>
        </p:txBody>
      </p:sp>
      <p:sp>
        <p:nvSpPr>
          <p:cNvPr id="64" name="AutoShape 70"/>
          <p:cNvSpPr>
            <a:spLocks noChangeArrowheads="1"/>
          </p:cNvSpPr>
          <p:nvPr/>
        </p:nvSpPr>
        <p:spPr bwMode="auto">
          <a:xfrm>
            <a:off x="5031262" y="3236040"/>
            <a:ext cx="186542" cy="472986"/>
          </a:xfrm>
          <a:prstGeom prst="downArrow">
            <a:avLst>
              <a:gd name="adj1" fmla="val 50000"/>
              <a:gd name="adj2" fmla="val 68671"/>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latin typeface="微软雅黑" pitchFamily="34" charset="-122"/>
              <a:ea typeface="微软雅黑" pitchFamily="34" charset="-122"/>
            </a:endParaRPr>
          </a:p>
        </p:txBody>
      </p:sp>
      <p:sp>
        <p:nvSpPr>
          <p:cNvPr id="66" name="Rectangle 72"/>
          <p:cNvSpPr>
            <a:spLocks noChangeArrowheads="1"/>
          </p:cNvSpPr>
          <p:nvPr/>
        </p:nvSpPr>
        <p:spPr bwMode="auto">
          <a:xfrm>
            <a:off x="4720752" y="3665432"/>
            <a:ext cx="938784"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400" b="1" dirty="0">
                <a:latin typeface="微软雅黑" pitchFamily="34" charset="-122"/>
                <a:ea typeface="微软雅黑" pitchFamily="34" charset="-122"/>
              </a:rPr>
              <a:t>TCP </a:t>
            </a:r>
            <a:r>
              <a:rPr kumimoji="1" lang="zh-CN" altLang="en-US" sz="1400" b="1" dirty="0">
                <a:latin typeface="微软雅黑" pitchFamily="34" charset="-122"/>
                <a:ea typeface="微软雅黑" pitchFamily="34" charset="-122"/>
              </a:rPr>
              <a:t>报文</a:t>
            </a:r>
          </a:p>
        </p:txBody>
      </p:sp>
    </p:spTree>
    <p:extLst>
      <p:ext uri="{BB962C8B-B14F-4D97-AF65-F5344CB8AC3E}">
        <p14:creationId xmlns:p14="http://schemas.microsoft.com/office/powerpoint/2010/main" val="109162740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16540"/>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3093070" y="575677"/>
            <a:ext cx="295786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4.6.5  </a:t>
            </a:r>
            <a:r>
              <a:rPr lang="zh-CN" altLang="en-US" sz="2400" b="1" dirty="0">
                <a:solidFill>
                  <a:schemeClr val="bg1"/>
                </a:solidFill>
                <a:latin typeface="微软雅黑" pitchFamily="34" charset="-122"/>
                <a:ea typeface="微软雅黑" pitchFamily="34" charset="-122"/>
              </a:rPr>
              <a:t>路由器的构成</a:t>
            </a:r>
          </a:p>
        </p:txBody>
      </p:sp>
      <p:sp>
        <p:nvSpPr>
          <p:cNvPr id="4" name="Rectangle 8"/>
          <p:cNvSpPr>
            <a:spLocks noChangeArrowheads="1"/>
          </p:cNvSpPr>
          <p:nvPr/>
        </p:nvSpPr>
        <p:spPr bwMode="auto">
          <a:xfrm>
            <a:off x="545144" y="1014310"/>
            <a:ext cx="8192456" cy="2208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路由器工作在网络层，用于互连网络。</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是互联网中的关键设备。</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路由器的主要工作：</a:t>
            </a:r>
            <a:r>
              <a:rPr lang="zh-CN" altLang="en-US" sz="2000" b="1" dirty="0">
                <a:solidFill>
                  <a:srgbClr val="C00000"/>
                </a:solidFill>
                <a:latin typeface="微软雅黑" pitchFamily="34" charset="-122"/>
                <a:ea typeface="微软雅黑" pitchFamily="34" charset="-122"/>
              </a:rPr>
              <a:t>转发分组。</a:t>
            </a:r>
          </a:p>
          <a:p>
            <a:pPr marL="280988">
              <a:lnSpc>
                <a:spcPts val="3300"/>
              </a:lnSpc>
              <a:buClr>
                <a:srgbClr val="7030A0"/>
              </a:buClr>
            </a:pPr>
            <a:r>
              <a:rPr lang="zh-CN" altLang="en-US" sz="2000" b="1" dirty="0">
                <a:latin typeface="微软雅黑" pitchFamily="34" charset="-122"/>
                <a:ea typeface="微软雅黑" pitchFamily="34" charset="-122"/>
              </a:rPr>
              <a:t>把从某个输入端口收到的分组，按照分组要去的目的地（即目的网络），把该分组从路由器的某个合适的输出端口转发给下一跳路由器。</a:t>
            </a:r>
          </a:p>
        </p:txBody>
      </p:sp>
    </p:spTree>
    <p:extLst>
      <p:ext uri="{BB962C8B-B14F-4D97-AF65-F5344CB8AC3E}">
        <p14:creationId xmlns:p14="http://schemas.microsoft.com/office/powerpoint/2010/main" val="286066293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4" y="622239"/>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9028"/>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路由器的结构</a:t>
            </a:r>
          </a:p>
        </p:txBody>
      </p:sp>
      <p:sp>
        <p:nvSpPr>
          <p:cNvPr id="5" name="圆角矩形 4"/>
          <p:cNvSpPr/>
          <p:nvPr/>
        </p:nvSpPr>
        <p:spPr>
          <a:xfrm>
            <a:off x="545144" y="1038380"/>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页脚占位符 4"/>
          <p:cNvSpPr txBox="1">
            <a:spLocks/>
          </p:cNvSpPr>
          <p:nvPr/>
        </p:nvSpPr>
        <p:spPr>
          <a:xfrm>
            <a:off x="3361520" y="3975210"/>
            <a:ext cx="1947094" cy="283787"/>
          </a:xfrm>
          <a:prstGeom prst="rect">
            <a:avLst/>
          </a:prstGeom>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1200" b="1">
                <a:solidFill>
                  <a:srgbClr val="0000CC"/>
                </a:solidFill>
                <a:latin typeface="微软雅黑" pitchFamily="34" charset="-122"/>
                <a:ea typeface="微软雅黑" pitchFamily="34" charset="-122"/>
              </a:rPr>
              <a:t>课件制作人：谢希仁</a:t>
            </a:r>
          </a:p>
        </p:txBody>
      </p:sp>
      <p:sp>
        <p:nvSpPr>
          <p:cNvPr id="8" name="Rectangle 60"/>
          <p:cNvSpPr>
            <a:spLocks noChangeArrowheads="1"/>
          </p:cNvSpPr>
          <p:nvPr/>
        </p:nvSpPr>
        <p:spPr bwMode="auto">
          <a:xfrm>
            <a:off x="1260709" y="2359309"/>
            <a:ext cx="5408194" cy="187722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 name="Rectangle 3"/>
          <p:cNvSpPr>
            <a:spLocks noChangeArrowheads="1"/>
          </p:cNvSpPr>
          <p:nvPr/>
        </p:nvSpPr>
        <p:spPr bwMode="auto">
          <a:xfrm>
            <a:off x="3185386" y="1162175"/>
            <a:ext cx="1612970" cy="991284"/>
          </a:xfrm>
          <a:prstGeom prst="rect">
            <a:avLst/>
          </a:prstGeom>
          <a:solidFill>
            <a:srgbClr val="99FFCC"/>
          </a:solidFill>
          <a:ln w="12700">
            <a:solidFill>
              <a:schemeClr val="tx1"/>
            </a:solidFill>
            <a:miter lim="800000"/>
            <a:headEnd/>
            <a:tailEnd/>
          </a:ln>
          <a:effectLst/>
        </p:spPr>
        <p:txBody>
          <a:bodyPr wrap="none" anchor="ctr"/>
          <a:lstStyle/>
          <a:p>
            <a:pPr algn="ctr"/>
            <a:endParaRPr kumimoji="1" lang="zh-CN" altLang="zh-CN" sz="1200" b="1">
              <a:solidFill>
                <a:srgbClr val="0000CC"/>
              </a:solidFill>
              <a:latin typeface="微软雅黑" pitchFamily="34" charset="-122"/>
              <a:ea typeface="微软雅黑" pitchFamily="34" charset="-122"/>
            </a:endParaRPr>
          </a:p>
        </p:txBody>
      </p:sp>
      <p:sp>
        <p:nvSpPr>
          <p:cNvPr id="10" name="Line 5"/>
          <p:cNvSpPr>
            <a:spLocks noChangeShapeType="1"/>
          </p:cNvSpPr>
          <p:nvPr/>
        </p:nvSpPr>
        <p:spPr bwMode="auto">
          <a:xfrm>
            <a:off x="6953145" y="1124731"/>
            <a:ext cx="0" cy="1212993"/>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1" name="Text Box 6"/>
          <p:cNvSpPr txBox="1">
            <a:spLocks noChangeArrowheads="1"/>
          </p:cNvSpPr>
          <p:nvPr/>
        </p:nvSpPr>
        <p:spPr bwMode="auto">
          <a:xfrm>
            <a:off x="6716608" y="1603739"/>
            <a:ext cx="1350698" cy="424732"/>
          </a:xfrm>
          <a:prstGeom prst="rect">
            <a:avLst/>
          </a:prstGeom>
          <a:solidFill>
            <a:srgbClr val="C3E3F9"/>
          </a:solidFill>
          <a:ln>
            <a:noFill/>
          </a:ln>
          <a:effectLst/>
        </p:spPr>
        <p:txBody>
          <a:bodyPr wrap="square">
            <a:spAutoFit/>
          </a:bodyPr>
          <a:lstStyle/>
          <a:p>
            <a:pPr>
              <a:lnSpc>
                <a:spcPct val="90000"/>
              </a:lnSpc>
            </a:pPr>
            <a:r>
              <a:rPr kumimoji="1" lang="zh-CN" altLang="en-US" sz="1200" b="1" dirty="0">
                <a:solidFill>
                  <a:srgbClr val="0000CC"/>
                </a:solidFill>
                <a:latin typeface="微软雅黑" pitchFamily="34" charset="-122"/>
                <a:ea typeface="微软雅黑" pitchFamily="34" charset="-122"/>
              </a:rPr>
              <a:t>路由选择、管理</a:t>
            </a:r>
            <a:endParaRPr kumimoji="1" lang="en-US" altLang="zh-CN" sz="1200" b="1" dirty="0">
              <a:solidFill>
                <a:srgbClr val="0000CC"/>
              </a:solidFill>
              <a:latin typeface="微软雅黑" pitchFamily="34" charset="-122"/>
              <a:ea typeface="微软雅黑" pitchFamily="34" charset="-122"/>
            </a:endParaRPr>
          </a:p>
          <a:p>
            <a:pPr>
              <a:lnSpc>
                <a:spcPct val="90000"/>
              </a:lnSpc>
            </a:pPr>
            <a:r>
              <a:rPr kumimoji="1" lang="zh-CN" altLang="en-US" sz="1200" b="1" dirty="0">
                <a:solidFill>
                  <a:srgbClr val="C00000"/>
                </a:solidFill>
                <a:latin typeface="微软雅黑" pitchFamily="34" charset="-122"/>
                <a:ea typeface="微软雅黑" pitchFamily="34" charset="-122"/>
              </a:rPr>
              <a:t>控制层面</a:t>
            </a:r>
            <a:r>
              <a:rPr kumimoji="1" lang="zh-CN" altLang="en-US" sz="1200" b="1" dirty="0">
                <a:solidFill>
                  <a:srgbClr val="0000CC"/>
                </a:solidFill>
                <a:latin typeface="微软雅黑" pitchFamily="34" charset="-122"/>
                <a:ea typeface="微软雅黑" pitchFamily="34" charset="-122"/>
              </a:rPr>
              <a:t>（软件）</a:t>
            </a:r>
          </a:p>
        </p:txBody>
      </p:sp>
      <p:sp>
        <p:nvSpPr>
          <p:cNvPr id="12" name="Text Box 7"/>
          <p:cNvSpPr txBox="1">
            <a:spLocks noChangeArrowheads="1"/>
          </p:cNvSpPr>
          <p:nvPr/>
        </p:nvSpPr>
        <p:spPr bwMode="auto">
          <a:xfrm>
            <a:off x="3221680" y="1130643"/>
            <a:ext cx="150733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latin typeface="微软雅黑" pitchFamily="34" charset="-122"/>
                <a:ea typeface="微软雅黑" pitchFamily="34" charset="-122"/>
              </a:rPr>
              <a:t>路由选择处理机</a:t>
            </a:r>
          </a:p>
        </p:txBody>
      </p:sp>
      <p:sp>
        <p:nvSpPr>
          <p:cNvPr id="13" name="Line 8"/>
          <p:cNvSpPr>
            <a:spLocks noChangeShapeType="1"/>
          </p:cNvSpPr>
          <p:nvPr/>
        </p:nvSpPr>
        <p:spPr bwMode="auto">
          <a:xfrm>
            <a:off x="3991337" y="1638110"/>
            <a:ext cx="0" cy="14682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 name="Rectangle 9"/>
          <p:cNvSpPr>
            <a:spLocks noChangeArrowheads="1"/>
          </p:cNvSpPr>
          <p:nvPr/>
        </p:nvSpPr>
        <p:spPr bwMode="auto">
          <a:xfrm>
            <a:off x="3419165" y="1455816"/>
            <a:ext cx="1144345" cy="242401"/>
          </a:xfrm>
          <a:prstGeom prst="rect">
            <a:avLst/>
          </a:prstGeom>
          <a:solidFill>
            <a:srgbClr val="0000FF"/>
          </a:solidFill>
          <a:ln w="19050">
            <a:solidFill>
              <a:schemeClr val="tx1"/>
            </a:solidFill>
            <a:miter lim="800000"/>
            <a:headEnd/>
            <a:tailEnd/>
          </a:ln>
          <a:effectLst/>
        </p:spPr>
        <p:txBody>
          <a:bodyPr wrap="none" anchor="ctr"/>
          <a:lstStyle/>
          <a:p>
            <a:pPr algn="ctr"/>
            <a:r>
              <a:rPr kumimoji="1" lang="zh-CN" altLang="en-US" sz="1200" b="1" dirty="0">
                <a:solidFill>
                  <a:schemeClr val="bg1"/>
                </a:solidFill>
                <a:latin typeface="微软雅黑" pitchFamily="34" charset="-122"/>
                <a:ea typeface="微软雅黑" pitchFamily="34" charset="-122"/>
              </a:rPr>
              <a:t>路由选择协议</a:t>
            </a:r>
          </a:p>
        </p:txBody>
      </p:sp>
      <p:sp>
        <p:nvSpPr>
          <p:cNvPr id="15" name="Rectangle 10"/>
          <p:cNvSpPr>
            <a:spLocks noChangeArrowheads="1"/>
          </p:cNvSpPr>
          <p:nvPr/>
        </p:nvSpPr>
        <p:spPr bwMode="auto">
          <a:xfrm>
            <a:off x="3601705" y="1786900"/>
            <a:ext cx="780331" cy="256197"/>
          </a:xfrm>
          <a:prstGeom prst="rect">
            <a:avLst/>
          </a:prstGeom>
          <a:solidFill>
            <a:srgbClr val="99FF33"/>
          </a:solidFill>
          <a:ln w="19050">
            <a:solidFill>
              <a:schemeClr val="tx1"/>
            </a:solidFill>
            <a:miter lim="800000"/>
            <a:headEnd/>
            <a:tailEnd/>
          </a:ln>
          <a:effectLst/>
        </p:spPr>
        <p:txBody>
          <a:bodyPr wrap="none" anchor="ctr"/>
          <a:lstStyle/>
          <a:p>
            <a:pPr algn="ctr"/>
            <a:r>
              <a:rPr kumimoji="1" lang="zh-CN" altLang="en-US" sz="1200" b="1">
                <a:solidFill>
                  <a:srgbClr val="0000CC"/>
                </a:solidFill>
                <a:latin typeface="微软雅黑" pitchFamily="34" charset="-122"/>
                <a:ea typeface="微软雅黑" pitchFamily="34" charset="-122"/>
              </a:rPr>
              <a:t>路由表</a:t>
            </a:r>
          </a:p>
        </p:txBody>
      </p:sp>
      <p:sp>
        <p:nvSpPr>
          <p:cNvPr id="16" name="Rectangle 11"/>
          <p:cNvSpPr>
            <a:spLocks noChangeArrowheads="1"/>
          </p:cNvSpPr>
          <p:nvPr/>
        </p:nvSpPr>
        <p:spPr bwMode="auto">
          <a:xfrm>
            <a:off x="1520109" y="2600726"/>
            <a:ext cx="1560664" cy="450314"/>
          </a:xfrm>
          <a:prstGeom prst="rect">
            <a:avLst/>
          </a:prstGeom>
          <a:solidFill>
            <a:srgbClr val="66FFFF"/>
          </a:solidFill>
          <a:ln w="12700" cmpd="sng">
            <a:solidFill>
              <a:schemeClr val="tx1"/>
            </a:solidFill>
            <a:prstDash val="dash"/>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Rectangle 12"/>
          <p:cNvSpPr>
            <a:spLocks noChangeArrowheads="1"/>
          </p:cNvSpPr>
          <p:nvPr/>
        </p:nvSpPr>
        <p:spPr bwMode="auto">
          <a:xfrm>
            <a:off x="2664453" y="2702218"/>
            <a:ext cx="313841" cy="245358"/>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3</a:t>
            </a:r>
          </a:p>
        </p:txBody>
      </p:sp>
      <p:sp>
        <p:nvSpPr>
          <p:cNvPr id="18" name="Line 13"/>
          <p:cNvSpPr>
            <a:spLocks noChangeShapeType="1"/>
          </p:cNvSpPr>
          <p:nvPr/>
        </p:nvSpPr>
        <p:spPr bwMode="auto">
          <a:xfrm flipV="1">
            <a:off x="1417630" y="2825390"/>
            <a:ext cx="239117"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9" name="Line 14"/>
          <p:cNvSpPr>
            <a:spLocks noChangeShapeType="1"/>
          </p:cNvSpPr>
          <p:nvPr/>
        </p:nvSpPr>
        <p:spPr bwMode="auto">
          <a:xfrm>
            <a:off x="1954900" y="2825390"/>
            <a:ext cx="209227"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0" name="Line 15"/>
          <p:cNvSpPr>
            <a:spLocks noChangeShapeType="1"/>
          </p:cNvSpPr>
          <p:nvPr/>
        </p:nvSpPr>
        <p:spPr bwMode="auto">
          <a:xfrm>
            <a:off x="2466597" y="2825390"/>
            <a:ext cx="207092"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1" name="Line 16"/>
          <p:cNvSpPr>
            <a:spLocks noChangeShapeType="1"/>
          </p:cNvSpPr>
          <p:nvPr/>
        </p:nvSpPr>
        <p:spPr bwMode="auto">
          <a:xfrm>
            <a:off x="2978294" y="2825390"/>
            <a:ext cx="207092"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2" name="Text Box 17"/>
          <p:cNvSpPr txBox="1">
            <a:spLocks noChangeArrowheads="1"/>
          </p:cNvSpPr>
          <p:nvPr/>
        </p:nvSpPr>
        <p:spPr bwMode="auto">
          <a:xfrm>
            <a:off x="1881011" y="2359309"/>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itchFamily="34" charset="-122"/>
                <a:ea typeface="微软雅黑" pitchFamily="34" charset="-122"/>
              </a:rPr>
              <a:t>输入端口</a:t>
            </a:r>
          </a:p>
        </p:txBody>
      </p:sp>
      <p:sp>
        <p:nvSpPr>
          <p:cNvPr id="23" name="Rectangle 18"/>
          <p:cNvSpPr>
            <a:spLocks noChangeArrowheads="1"/>
          </p:cNvSpPr>
          <p:nvPr/>
        </p:nvSpPr>
        <p:spPr bwMode="auto">
          <a:xfrm>
            <a:off x="1520109" y="3577228"/>
            <a:ext cx="1560664" cy="450315"/>
          </a:xfrm>
          <a:prstGeom prst="rect">
            <a:avLst/>
          </a:prstGeom>
          <a:solidFill>
            <a:srgbClr val="00FFFF"/>
          </a:solidFill>
          <a:ln w="12700">
            <a:prstDash val="dash"/>
            <a:headEnd/>
            <a:tailEnd/>
          </a:ln>
        </p:spPr>
        <p:style>
          <a:lnRef idx="2">
            <a:schemeClr val="dk1"/>
          </a:lnRef>
          <a:fillRef idx="1">
            <a:schemeClr val="lt1"/>
          </a:fillRef>
          <a:effectRef idx="0">
            <a:schemeClr val="dk1"/>
          </a:effectRef>
          <a:fontRef idx="minor">
            <a:schemeClr val="dk1"/>
          </a:fontRef>
        </p:style>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Rectangle 19"/>
          <p:cNvSpPr>
            <a:spLocks noChangeArrowheads="1"/>
          </p:cNvSpPr>
          <p:nvPr/>
        </p:nvSpPr>
        <p:spPr bwMode="auto">
          <a:xfrm>
            <a:off x="2664453" y="3678722"/>
            <a:ext cx="313841" cy="246343"/>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3</a:t>
            </a:r>
          </a:p>
        </p:txBody>
      </p:sp>
      <p:sp>
        <p:nvSpPr>
          <p:cNvPr id="25" name="Line 20"/>
          <p:cNvSpPr>
            <a:spLocks noChangeShapeType="1"/>
          </p:cNvSpPr>
          <p:nvPr/>
        </p:nvSpPr>
        <p:spPr bwMode="auto">
          <a:xfrm flipV="1">
            <a:off x="1417630" y="3801893"/>
            <a:ext cx="239117"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6" name="Line 21"/>
          <p:cNvSpPr>
            <a:spLocks noChangeShapeType="1"/>
          </p:cNvSpPr>
          <p:nvPr/>
        </p:nvSpPr>
        <p:spPr bwMode="auto">
          <a:xfrm>
            <a:off x="1954900" y="3801893"/>
            <a:ext cx="209227"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7" name="Line 22"/>
          <p:cNvSpPr>
            <a:spLocks noChangeShapeType="1"/>
          </p:cNvSpPr>
          <p:nvPr/>
        </p:nvSpPr>
        <p:spPr bwMode="auto">
          <a:xfrm>
            <a:off x="2466597" y="3801893"/>
            <a:ext cx="207092"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8" name="Line 23"/>
          <p:cNvSpPr>
            <a:spLocks noChangeShapeType="1"/>
          </p:cNvSpPr>
          <p:nvPr/>
        </p:nvSpPr>
        <p:spPr bwMode="auto">
          <a:xfrm>
            <a:off x="2978294" y="3801893"/>
            <a:ext cx="207092"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9" name="Rectangle 24"/>
          <p:cNvSpPr>
            <a:spLocks noChangeArrowheads="1"/>
          </p:cNvSpPr>
          <p:nvPr/>
        </p:nvSpPr>
        <p:spPr bwMode="auto">
          <a:xfrm>
            <a:off x="3185386" y="2600725"/>
            <a:ext cx="1612970" cy="1434701"/>
          </a:xfrm>
          <a:prstGeom prst="rect">
            <a:avLst/>
          </a:prstGeom>
          <a:solidFill>
            <a:srgbClr val="FFCC00"/>
          </a:solidFill>
          <a:ln w="12700">
            <a:prstDash val="dash"/>
            <a:headEnd/>
            <a:tailEnd/>
          </a:ln>
        </p:spPr>
        <p:style>
          <a:lnRef idx="2">
            <a:schemeClr val="dk1"/>
          </a:lnRef>
          <a:fillRef idx="1">
            <a:schemeClr val="lt1"/>
          </a:fillRef>
          <a:effectRef idx="0">
            <a:schemeClr val="dk1"/>
          </a:effectRef>
          <a:fontRef idx="minor">
            <a:schemeClr val="dk1"/>
          </a:fontRef>
        </p:style>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0" name="Rectangle 25"/>
          <p:cNvSpPr>
            <a:spLocks noChangeArrowheads="1"/>
          </p:cNvSpPr>
          <p:nvPr/>
        </p:nvSpPr>
        <p:spPr bwMode="auto">
          <a:xfrm flipH="1">
            <a:off x="4902969" y="2600726"/>
            <a:ext cx="1558529" cy="450314"/>
          </a:xfrm>
          <a:prstGeom prst="rect">
            <a:avLst/>
          </a:prstGeom>
          <a:solidFill>
            <a:srgbClr val="00FFFF"/>
          </a:solidFill>
          <a:ln w="12700">
            <a:prstDash val="dash"/>
            <a:headEnd/>
            <a:tailEnd/>
          </a:ln>
        </p:spPr>
        <p:style>
          <a:lnRef idx="2">
            <a:schemeClr val="dk1"/>
          </a:lnRef>
          <a:fillRef idx="1">
            <a:schemeClr val="lt1"/>
          </a:fillRef>
          <a:effectRef idx="0">
            <a:schemeClr val="dk1"/>
          </a:effectRef>
          <a:fontRef idx="minor">
            <a:schemeClr val="dk1"/>
          </a:fontRef>
        </p:style>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1" name="Line 26"/>
          <p:cNvSpPr>
            <a:spLocks noChangeShapeType="1"/>
          </p:cNvSpPr>
          <p:nvPr/>
        </p:nvSpPr>
        <p:spPr bwMode="auto">
          <a:xfrm flipV="1">
            <a:off x="6351548" y="2825390"/>
            <a:ext cx="214565"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2" name="Line 27"/>
          <p:cNvSpPr>
            <a:spLocks noChangeShapeType="1"/>
          </p:cNvSpPr>
          <p:nvPr/>
        </p:nvSpPr>
        <p:spPr bwMode="auto">
          <a:xfrm rot="10800000" flipH="1">
            <a:off x="5838087" y="2825390"/>
            <a:ext cx="20816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3" name="Line 28"/>
          <p:cNvSpPr>
            <a:spLocks noChangeShapeType="1"/>
          </p:cNvSpPr>
          <p:nvPr/>
        </p:nvSpPr>
        <p:spPr bwMode="auto">
          <a:xfrm>
            <a:off x="5335626" y="2825390"/>
            <a:ext cx="209227"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4" name="Line 29"/>
          <p:cNvSpPr>
            <a:spLocks noChangeShapeType="1"/>
          </p:cNvSpPr>
          <p:nvPr/>
        </p:nvSpPr>
        <p:spPr bwMode="auto">
          <a:xfrm>
            <a:off x="4798356" y="2825390"/>
            <a:ext cx="248724"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5" name="Rectangle 30"/>
          <p:cNvSpPr>
            <a:spLocks noChangeArrowheads="1"/>
          </p:cNvSpPr>
          <p:nvPr/>
        </p:nvSpPr>
        <p:spPr bwMode="auto">
          <a:xfrm flipH="1">
            <a:off x="4902969" y="3577228"/>
            <a:ext cx="1558529" cy="450315"/>
          </a:xfrm>
          <a:prstGeom prst="rect">
            <a:avLst/>
          </a:prstGeom>
          <a:solidFill>
            <a:srgbClr val="00FFFF"/>
          </a:solidFill>
          <a:ln w="12700">
            <a:prstDash val="dash"/>
            <a:headEnd/>
            <a:tailEnd/>
          </a:ln>
        </p:spPr>
        <p:style>
          <a:lnRef idx="2">
            <a:schemeClr val="dk1"/>
          </a:lnRef>
          <a:fillRef idx="1">
            <a:schemeClr val="lt1"/>
          </a:fillRef>
          <a:effectRef idx="0">
            <a:schemeClr val="dk1"/>
          </a:effectRef>
          <a:fontRef idx="minor">
            <a:schemeClr val="dk1"/>
          </a:fontRef>
        </p:style>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6" name="Line 31"/>
          <p:cNvSpPr>
            <a:spLocks noChangeShapeType="1"/>
          </p:cNvSpPr>
          <p:nvPr/>
        </p:nvSpPr>
        <p:spPr bwMode="auto">
          <a:xfrm flipV="1">
            <a:off x="6351548" y="3801893"/>
            <a:ext cx="214565"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7" name="Line 32"/>
          <p:cNvSpPr>
            <a:spLocks noChangeShapeType="1"/>
          </p:cNvSpPr>
          <p:nvPr/>
        </p:nvSpPr>
        <p:spPr bwMode="auto">
          <a:xfrm>
            <a:off x="5838087" y="3801893"/>
            <a:ext cx="20816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8" name="Line 33"/>
          <p:cNvSpPr>
            <a:spLocks noChangeShapeType="1"/>
          </p:cNvSpPr>
          <p:nvPr/>
        </p:nvSpPr>
        <p:spPr bwMode="auto">
          <a:xfrm>
            <a:off x="5335626" y="3801893"/>
            <a:ext cx="209227"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9" name="Line 34"/>
          <p:cNvSpPr>
            <a:spLocks noChangeShapeType="1"/>
          </p:cNvSpPr>
          <p:nvPr/>
        </p:nvSpPr>
        <p:spPr bwMode="auto">
          <a:xfrm flipV="1">
            <a:off x="4798356" y="3801893"/>
            <a:ext cx="240185"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0" name="Text Box 35"/>
          <p:cNvSpPr txBox="1">
            <a:spLocks noChangeArrowheads="1"/>
          </p:cNvSpPr>
          <p:nvPr/>
        </p:nvSpPr>
        <p:spPr bwMode="auto">
          <a:xfrm>
            <a:off x="3615941" y="3212452"/>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交换结构</a:t>
            </a:r>
          </a:p>
        </p:txBody>
      </p:sp>
      <p:sp>
        <p:nvSpPr>
          <p:cNvPr id="41" name="Text Box 36"/>
          <p:cNvSpPr txBox="1">
            <a:spLocks noChangeArrowheads="1"/>
          </p:cNvSpPr>
          <p:nvPr/>
        </p:nvSpPr>
        <p:spPr bwMode="auto">
          <a:xfrm>
            <a:off x="1936427" y="3302310"/>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solidFill>
                  <a:srgbClr val="0000CC"/>
                </a:solidFill>
                <a:latin typeface="微软雅黑" pitchFamily="34" charset="-122"/>
                <a:ea typeface="微软雅黑" pitchFamily="34" charset="-122"/>
              </a:rPr>
              <a:t>输入端口</a:t>
            </a:r>
          </a:p>
        </p:txBody>
      </p:sp>
      <p:sp>
        <p:nvSpPr>
          <p:cNvPr id="42" name="Text Box 37"/>
          <p:cNvSpPr txBox="1">
            <a:spLocks noChangeArrowheads="1"/>
          </p:cNvSpPr>
          <p:nvPr/>
        </p:nvSpPr>
        <p:spPr bwMode="auto">
          <a:xfrm>
            <a:off x="5317154" y="2359309"/>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solidFill>
                  <a:srgbClr val="0000CC"/>
                </a:solidFill>
                <a:latin typeface="微软雅黑" pitchFamily="34" charset="-122"/>
                <a:ea typeface="微软雅黑" pitchFamily="34" charset="-122"/>
              </a:rPr>
              <a:t>输出端口</a:t>
            </a:r>
          </a:p>
        </p:txBody>
      </p:sp>
      <p:sp>
        <p:nvSpPr>
          <p:cNvPr id="43" name="Line 38"/>
          <p:cNvSpPr>
            <a:spLocks noChangeShapeType="1"/>
          </p:cNvSpPr>
          <p:nvPr/>
        </p:nvSpPr>
        <p:spPr bwMode="auto">
          <a:xfrm>
            <a:off x="1025236" y="2345606"/>
            <a:ext cx="7305964" cy="0"/>
          </a:xfrm>
          <a:prstGeom prst="line">
            <a:avLst/>
          </a:prstGeom>
          <a:noFill/>
          <a:ln w="28575">
            <a:solidFill>
              <a:srgbClr val="3333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4" name="Line 39"/>
          <p:cNvSpPr>
            <a:spLocks noChangeShapeType="1"/>
          </p:cNvSpPr>
          <p:nvPr/>
        </p:nvSpPr>
        <p:spPr bwMode="auto">
          <a:xfrm>
            <a:off x="6953145" y="2345606"/>
            <a:ext cx="0" cy="1890928"/>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5" name="Text Box 40"/>
          <p:cNvSpPr txBox="1">
            <a:spLocks noChangeArrowheads="1"/>
          </p:cNvSpPr>
          <p:nvPr/>
        </p:nvSpPr>
        <p:spPr bwMode="auto">
          <a:xfrm>
            <a:off x="6716608" y="3113945"/>
            <a:ext cx="1305865" cy="424732"/>
          </a:xfrm>
          <a:prstGeom prst="rect">
            <a:avLst/>
          </a:prstGeom>
          <a:solidFill>
            <a:srgbClr val="C3E3F9"/>
          </a:solidFill>
          <a:ln>
            <a:noFill/>
          </a:ln>
          <a:effectLst/>
        </p:spPr>
        <p:txBody>
          <a:bodyPr wrap="square">
            <a:spAutoFit/>
          </a:bodyPr>
          <a:lstStyle/>
          <a:p>
            <a:pPr>
              <a:lnSpc>
                <a:spcPct val="90000"/>
              </a:lnSpc>
            </a:pPr>
            <a:r>
              <a:rPr kumimoji="1" lang="zh-CN" altLang="en-US" sz="1200" b="1" dirty="0">
                <a:solidFill>
                  <a:srgbClr val="0000CC"/>
                </a:solidFill>
                <a:latin typeface="微软雅黑" pitchFamily="34" charset="-122"/>
                <a:ea typeface="微软雅黑" pitchFamily="34" charset="-122"/>
              </a:rPr>
              <a:t>分组转发</a:t>
            </a:r>
            <a:endParaRPr kumimoji="1" lang="en-US" altLang="zh-CN" sz="1200" b="1" dirty="0">
              <a:solidFill>
                <a:srgbClr val="0000CC"/>
              </a:solidFill>
              <a:latin typeface="微软雅黑" pitchFamily="34" charset="-122"/>
              <a:ea typeface="微软雅黑" pitchFamily="34" charset="-122"/>
            </a:endParaRPr>
          </a:p>
          <a:p>
            <a:pPr>
              <a:lnSpc>
                <a:spcPct val="90000"/>
              </a:lnSpc>
            </a:pPr>
            <a:r>
              <a:rPr kumimoji="1" lang="zh-CN" altLang="en-US" sz="1200" b="1" dirty="0">
                <a:solidFill>
                  <a:srgbClr val="C00000"/>
                </a:solidFill>
                <a:latin typeface="微软雅黑" pitchFamily="34" charset="-122"/>
                <a:ea typeface="微软雅黑" pitchFamily="34" charset="-122"/>
              </a:rPr>
              <a:t>数据层面</a:t>
            </a:r>
            <a:r>
              <a:rPr kumimoji="1" lang="zh-CN" altLang="en-US" sz="1200" b="1" dirty="0">
                <a:solidFill>
                  <a:srgbClr val="0000CC"/>
                </a:solidFill>
                <a:latin typeface="微软雅黑" pitchFamily="34" charset="-122"/>
                <a:ea typeface="微软雅黑" pitchFamily="34" charset="-122"/>
              </a:rPr>
              <a:t>（硬件）</a:t>
            </a:r>
          </a:p>
        </p:txBody>
      </p:sp>
      <p:sp>
        <p:nvSpPr>
          <p:cNvPr id="49" name="Text Box 44"/>
          <p:cNvSpPr txBox="1">
            <a:spLocks noChangeArrowheads="1"/>
          </p:cNvSpPr>
          <p:nvPr/>
        </p:nvSpPr>
        <p:spPr bwMode="auto">
          <a:xfrm>
            <a:off x="5317154" y="3302310"/>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solidFill>
                  <a:srgbClr val="0000CC"/>
                </a:solidFill>
                <a:latin typeface="微软雅黑" pitchFamily="34" charset="-122"/>
                <a:ea typeface="微软雅黑" pitchFamily="34" charset="-122"/>
              </a:rPr>
              <a:t>输出端口</a:t>
            </a:r>
          </a:p>
        </p:txBody>
      </p:sp>
      <p:sp>
        <p:nvSpPr>
          <p:cNvPr id="50" name="Text Box 45"/>
          <p:cNvSpPr txBox="1">
            <a:spLocks noChangeArrowheads="1"/>
          </p:cNvSpPr>
          <p:nvPr/>
        </p:nvSpPr>
        <p:spPr bwMode="auto">
          <a:xfrm rot="5400000">
            <a:off x="2250725" y="3092371"/>
            <a:ext cx="33214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a:t>
            </a:r>
          </a:p>
        </p:txBody>
      </p:sp>
      <p:sp>
        <p:nvSpPr>
          <p:cNvPr id="51" name="Text Box 46"/>
          <p:cNvSpPr txBox="1">
            <a:spLocks noChangeArrowheads="1"/>
          </p:cNvSpPr>
          <p:nvPr/>
        </p:nvSpPr>
        <p:spPr bwMode="auto">
          <a:xfrm rot="5400000">
            <a:off x="5615439" y="3092371"/>
            <a:ext cx="33214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a:t>
            </a:r>
          </a:p>
        </p:txBody>
      </p:sp>
      <p:sp>
        <p:nvSpPr>
          <p:cNvPr id="54" name="Rectangle 49"/>
          <p:cNvSpPr>
            <a:spLocks noChangeArrowheads="1"/>
          </p:cNvSpPr>
          <p:nvPr/>
        </p:nvSpPr>
        <p:spPr bwMode="auto">
          <a:xfrm>
            <a:off x="6043044" y="2744590"/>
            <a:ext cx="311706" cy="175396"/>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55" name="Rectangle 50"/>
          <p:cNvSpPr>
            <a:spLocks noChangeArrowheads="1"/>
          </p:cNvSpPr>
          <p:nvPr/>
        </p:nvSpPr>
        <p:spPr bwMode="auto">
          <a:xfrm>
            <a:off x="6059057" y="3712224"/>
            <a:ext cx="311706" cy="177367"/>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56" name="Rectangle 51"/>
          <p:cNvSpPr>
            <a:spLocks noChangeArrowheads="1"/>
          </p:cNvSpPr>
          <p:nvPr/>
        </p:nvSpPr>
        <p:spPr bwMode="auto">
          <a:xfrm>
            <a:off x="1673826" y="3712224"/>
            <a:ext cx="311706" cy="177367"/>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57" name="Rectangle 52"/>
          <p:cNvSpPr>
            <a:spLocks noChangeArrowheads="1"/>
          </p:cNvSpPr>
          <p:nvPr/>
        </p:nvSpPr>
        <p:spPr bwMode="auto">
          <a:xfrm flipH="1">
            <a:off x="5037473" y="2702218"/>
            <a:ext cx="311706" cy="245358"/>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3</a:t>
            </a:r>
          </a:p>
        </p:txBody>
      </p:sp>
      <p:sp>
        <p:nvSpPr>
          <p:cNvPr id="58" name="Rectangle 53"/>
          <p:cNvSpPr>
            <a:spLocks noChangeArrowheads="1"/>
          </p:cNvSpPr>
          <p:nvPr/>
        </p:nvSpPr>
        <p:spPr bwMode="auto">
          <a:xfrm flipH="1">
            <a:off x="5037473" y="3678722"/>
            <a:ext cx="311706" cy="246343"/>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3</a:t>
            </a:r>
          </a:p>
        </p:txBody>
      </p:sp>
      <p:sp>
        <p:nvSpPr>
          <p:cNvPr id="59" name="Rectangle 54"/>
          <p:cNvSpPr>
            <a:spLocks noChangeArrowheads="1"/>
          </p:cNvSpPr>
          <p:nvPr/>
        </p:nvSpPr>
        <p:spPr bwMode="auto">
          <a:xfrm>
            <a:off x="1673826" y="2744590"/>
            <a:ext cx="311706" cy="175396"/>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60" name="Rectangle 55"/>
          <p:cNvSpPr>
            <a:spLocks noChangeArrowheads="1"/>
          </p:cNvSpPr>
          <p:nvPr/>
        </p:nvSpPr>
        <p:spPr bwMode="auto">
          <a:xfrm>
            <a:off x="2169139" y="2723896"/>
            <a:ext cx="311706" cy="204957"/>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2</a:t>
            </a:r>
          </a:p>
        </p:txBody>
      </p:sp>
      <p:sp>
        <p:nvSpPr>
          <p:cNvPr id="61" name="Rectangle 56"/>
          <p:cNvSpPr>
            <a:spLocks noChangeArrowheads="1"/>
          </p:cNvSpPr>
          <p:nvPr/>
        </p:nvSpPr>
        <p:spPr bwMode="auto">
          <a:xfrm>
            <a:off x="2169139" y="3699414"/>
            <a:ext cx="311706" cy="204957"/>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2</a:t>
            </a:r>
          </a:p>
        </p:txBody>
      </p:sp>
      <p:sp>
        <p:nvSpPr>
          <p:cNvPr id="62" name="Rectangle 57"/>
          <p:cNvSpPr>
            <a:spLocks noChangeArrowheads="1"/>
          </p:cNvSpPr>
          <p:nvPr/>
        </p:nvSpPr>
        <p:spPr bwMode="auto">
          <a:xfrm flipH="1">
            <a:off x="5540259" y="2723896"/>
            <a:ext cx="311706" cy="204957"/>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2</a:t>
            </a:r>
          </a:p>
        </p:txBody>
      </p:sp>
      <p:sp>
        <p:nvSpPr>
          <p:cNvPr id="63" name="Rectangle 58"/>
          <p:cNvSpPr>
            <a:spLocks noChangeArrowheads="1"/>
          </p:cNvSpPr>
          <p:nvPr/>
        </p:nvSpPr>
        <p:spPr bwMode="auto">
          <a:xfrm flipH="1">
            <a:off x="5547731" y="3699414"/>
            <a:ext cx="311706" cy="204957"/>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2</a:t>
            </a:r>
          </a:p>
        </p:txBody>
      </p:sp>
      <p:sp>
        <p:nvSpPr>
          <p:cNvPr id="64" name="AutoShape 4"/>
          <p:cNvSpPr>
            <a:spLocks noChangeArrowheads="1"/>
          </p:cNvSpPr>
          <p:nvPr/>
        </p:nvSpPr>
        <p:spPr bwMode="auto">
          <a:xfrm>
            <a:off x="3835484" y="2108132"/>
            <a:ext cx="311706" cy="491701"/>
          </a:xfrm>
          <a:prstGeom prst="upDownArrow">
            <a:avLst>
              <a:gd name="adj1" fmla="val 50000"/>
              <a:gd name="adj2" fmla="val 34178"/>
            </a:avLst>
          </a:prstGeom>
          <a:solidFill>
            <a:srgbClr val="CC00CC"/>
          </a:solidFill>
          <a:ln w="2857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cxnSp>
        <p:nvCxnSpPr>
          <p:cNvPr id="67" name="肘形连接符 66"/>
          <p:cNvCxnSpPr>
            <a:stCxn id="9" idx="1"/>
            <a:endCxn id="17" idx="0"/>
          </p:cNvCxnSpPr>
          <p:nvPr/>
        </p:nvCxnSpPr>
        <p:spPr>
          <a:xfrm rot="10800000" flipV="1">
            <a:off x="2821374" y="1657816"/>
            <a:ext cx="364012" cy="1044401"/>
          </a:xfrm>
          <a:prstGeom prst="bentConnector2">
            <a:avLst/>
          </a:prstGeom>
          <a:ln w="12700">
            <a:prstDash val="sysDash"/>
            <a:tailEnd type="triangle" w="med" len="lg"/>
          </a:ln>
        </p:spPr>
        <p:style>
          <a:lnRef idx="1">
            <a:schemeClr val="dk1"/>
          </a:lnRef>
          <a:fillRef idx="0">
            <a:schemeClr val="dk1"/>
          </a:fillRef>
          <a:effectRef idx="0">
            <a:schemeClr val="dk1"/>
          </a:effectRef>
          <a:fontRef idx="minor">
            <a:schemeClr val="tx1"/>
          </a:fontRef>
        </p:style>
      </p:cxnSp>
      <p:sp>
        <p:nvSpPr>
          <p:cNvPr id="68" name="矩形 67"/>
          <p:cNvSpPr/>
          <p:nvPr/>
        </p:nvSpPr>
        <p:spPr>
          <a:xfrm>
            <a:off x="7013806" y="1269142"/>
            <a:ext cx="1415772" cy="338554"/>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路由选择部分</a:t>
            </a:r>
            <a:endParaRPr lang="en-US" altLang="zh-CN" sz="1600" b="1" dirty="0">
              <a:latin typeface="微软雅黑" panose="020B0503020204020204" pitchFamily="34" charset="-122"/>
              <a:ea typeface="微软雅黑" panose="020B0503020204020204" pitchFamily="34" charset="-122"/>
            </a:endParaRPr>
          </a:p>
        </p:txBody>
      </p:sp>
      <p:sp>
        <p:nvSpPr>
          <p:cNvPr id="69" name="矩形 68"/>
          <p:cNvSpPr/>
          <p:nvPr/>
        </p:nvSpPr>
        <p:spPr>
          <a:xfrm>
            <a:off x="7013806" y="2501155"/>
            <a:ext cx="1415772" cy="338554"/>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分组转发部分</a:t>
            </a:r>
          </a:p>
        </p:txBody>
      </p:sp>
      <p:cxnSp>
        <p:nvCxnSpPr>
          <p:cNvPr id="71" name="直接箭头连接符 70"/>
          <p:cNvCxnSpPr/>
          <p:nvPr/>
        </p:nvCxnSpPr>
        <p:spPr>
          <a:xfrm>
            <a:off x="2821373" y="2947576"/>
            <a:ext cx="0" cy="731146"/>
          </a:xfrm>
          <a:prstGeom prst="straightConnector1">
            <a:avLst/>
          </a:prstGeom>
          <a:ln w="12700">
            <a:solidFill>
              <a:schemeClr val="tx1"/>
            </a:solidFill>
            <a:prstDash val="sysDash"/>
            <a:tailEnd type="triangle" w="med"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4370124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616085" y="621023"/>
            <a:ext cx="7853464"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71047"/>
            <a:ext cx="3775393" cy="400110"/>
          </a:xfrm>
          <a:prstGeom prst="rect">
            <a:avLst/>
          </a:prstGeom>
        </p:spPr>
        <p:txBody>
          <a:bodyPr wrap="none">
            <a:spAutoFit/>
          </a:bodyPr>
          <a:lstStyle/>
          <a:p>
            <a:r>
              <a:rPr lang="zh-CN" altLang="en-US" sz="2000" b="1" dirty="0">
                <a:latin typeface="微软雅黑" pitchFamily="34" charset="-122"/>
                <a:ea typeface="微软雅黑" pitchFamily="34" charset="-122"/>
              </a:rPr>
              <a:t>“转发”和“路由选择”的区别</a:t>
            </a:r>
          </a:p>
        </p:txBody>
      </p:sp>
      <p:grpSp>
        <p:nvGrpSpPr>
          <p:cNvPr id="4" name="组合 3"/>
          <p:cNvGrpSpPr/>
          <p:nvPr/>
        </p:nvGrpSpPr>
        <p:grpSpPr>
          <a:xfrm>
            <a:off x="841380" y="1039603"/>
            <a:ext cx="7314331" cy="3532396"/>
            <a:chOff x="906033" y="1039603"/>
            <a:chExt cx="7249640" cy="3532396"/>
          </a:xfrm>
        </p:grpSpPr>
        <p:sp>
          <p:nvSpPr>
            <p:cNvPr id="6" name="任意多边形 5"/>
            <p:cNvSpPr/>
            <p:nvPr/>
          </p:nvSpPr>
          <p:spPr>
            <a:xfrm>
              <a:off x="906033" y="1039603"/>
              <a:ext cx="3387682" cy="576000"/>
            </a:xfrm>
            <a:custGeom>
              <a:avLst/>
              <a:gdLst>
                <a:gd name="connsiteX0" fmla="*/ 0 w 3387682"/>
                <a:gd name="connsiteY0" fmla="*/ 0 h 576000"/>
                <a:gd name="connsiteX1" fmla="*/ 3387682 w 3387682"/>
                <a:gd name="connsiteY1" fmla="*/ 0 h 576000"/>
                <a:gd name="connsiteX2" fmla="*/ 3387682 w 3387682"/>
                <a:gd name="connsiteY2" fmla="*/ 576000 h 576000"/>
                <a:gd name="connsiteX3" fmla="*/ 0 w 3387682"/>
                <a:gd name="connsiteY3" fmla="*/ 576000 h 576000"/>
                <a:gd name="connsiteX4" fmla="*/ 0 w 3387682"/>
                <a:gd name="connsiteY4" fmla="*/ 0 h 576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7682" h="576000">
                  <a:moveTo>
                    <a:pt x="0" y="0"/>
                  </a:moveTo>
                  <a:lnTo>
                    <a:pt x="3387682" y="0"/>
                  </a:lnTo>
                  <a:lnTo>
                    <a:pt x="3387682" y="576000"/>
                  </a:lnTo>
                  <a:lnTo>
                    <a:pt x="0" y="576000"/>
                  </a:lnTo>
                  <a:lnTo>
                    <a:pt x="0" y="0"/>
                  </a:lnTo>
                  <a:close/>
                </a:path>
              </a:pathLst>
            </a:custGeom>
          </p:spPr>
          <p:style>
            <a:lnRef idx="2">
              <a:schemeClr val="accent4">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128016" tIns="73152" rIns="128016" bIns="73152" numCol="1" spcCol="1270" anchor="ctr" anchorCtr="0">
              <a:noAutofit/>
            </a:bodyPr>
            <a:lstStyle/>
            <a:p>
              <a:pPr lvl="0" algn="ctr" defTabSz="800100">
                <a:lnSpc>
                  <a:spcPct val="90000"/>
                </a:lnSpc>
                <a:spcBef>
                  <a:spcPct val="0"/>
                </a:spcBef>
                <a:spcAft>
                  <a:spcPct val="35000"/>
                </a:spcAft>
              </a:pPr>
              <a:r>
                <a:rPr lang="zh-CN" altLang="en-US" sz="1800" b="1" kern="1200" dirty="0">
                  <a:latin typeface="微软雅黑" panose="020B0503020204020204" pitchFamily="34" charset="-122"/>
                  <a:ea typeface="微软雅黑" panose="020B0503020204020204" pitchFamily="34" charset="-122"/>
                </a:rPr>
                <a:t>转发</a:t>
              </a:r>
            </a:p>
          </p:txBody>
        </p:sp>
        <p:sp>
          <p:nvSpPr>
            <p:cNvPr id="7" name="任意多边形 6"/>
            <p:cNvSpPr/>
            <p:nvPr/>
          </p:nvSpPr>
          <p:spPr>
            <a:xfrm>
              <a:off x="906033" y="1615602"/>
              <a:ext cx="3387682" cy="2956397"/>
            </a:xfrm>
            <a:custGeom>
              <a:avLst/>
              <a:gdLst>
                <a:gd name="connsiteX0" fmla="*/ 0 w 3387682"/>
                <a:gd name="connsiteY0" fmla="*/ 0 h 2854800"/>
                <a:gd name="connsiteX1" fmla="*/ 3387682 w 3387682"/>
                <a:gd name="connsiteY1" fmla="*/ 0 h 2854800"/>
                <a:gd name="connsiteX2" fmla="*/ 3387682 w 3387682"/>
                <a:gd name="connsiteY2" fmla="*/ 2854800 h 2854800"/>
                <a:gd name="connsiteX3" fmla="*/ 0 w 3387682"/>
                <a:gd name="connsiteY3" fmla="*/ 2854800 h 2854800"/>
                <a:gd name="connsiteX4" fmla="*/ 0 w 3387682"/>
                <a:gd name="connsiteY4" fmla="*/ 0 h 285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7682" h="2854800">
                  <a:moveTo>
                    <a:pt x="0" y="0"/>
                  </a:moveTo>
                  <a:lnTo>
                    <a:pt x="3387682" y="0"/>
                  </a:lnTo>
                  <a:lnTo>
                    <a:pt x="3387682" y="2854800"/>
                  </a:lnTo>
                  <a:lnTo>
                    <a:pt x="0" y="2854800"/>
                  </a:lnTo>
                  <a:lnTo>
                    <a:pt x="0" y="0"/>
                  </a:lnTo>
                  <a:close/>
                </a:path>
              </a:pathLst>
            </a:custGeom>
          </p:spPr>
          <p:style>
            <a:lnRef idx="2">
              <a:schemeClr val="accent4">
                <a:tint val="40000"/>
                <a:alpha val="90000"/>
                <a:hueOff val="0"/>
                <a:satOff val="0"/>
                <a:lumOff val="0"/>
                <a:alphaOff val="0"/>
              </a:schemeClr>
            </a:lnRef>
            <a:fillRef idx="1">
              <a:schemeClr val="accent4">
                <a:tint val="40000"/>
                <a:alpha val="90000"/>
                <a:hueOff val="0"/>
                <a:satOff val="0"/>
                <a:lumOff val="0"/>
                <a:alphaOff val="0"/>
              </a:schemeClr>
            </a:fillRef>
            <a:effectRef idx="0">
              <a:schemeClr val="accent4">
                <a:tint val="40000"/>
                <a:alpha val="90000"/>
                <a:hueOff val="0"/>
                <a:satOff val="0"/>
                <a:lumOff val="0"/>
                <a:alphaOff val="0"/>
              </a:schemeClr>
            </a:effectRef>
            <a:fontRef idx="minor">
              <a:schemeClr val="dk1">
                <a:hueOff val="0"/>
                <a:satOff val="0"/>
                <a:lumOff val="0"/>
                <a:alphaOff val="0"/>
              </a:schemeClr>
            </a:fontRef>
          </p:style>
          <p:txBody>
            <a:bodyPr spcFirstLastPara="0" vert="horz" wrap="square" lIns="74676" tIns="74676" rIns="99568" bIns="112014" numCol="1" spcCol="1270" anchor="t" anchorCtr="0">
              <a:noAutofit/>
            </a:bodyPr>
            <a:lstStyle/>
            <a:p>
              <a:pPr marL="114300" lvl="1" indent="-114300" algn="l" defTabSz="622300">
                <a:lnSpc>
                  <a:spcPts val="24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根据转发表将用户的 </a:t>
              </a:r>
              <a:r>
                <a:rPr lang="en-US" altLang="en-US" sz="1600" b="1" kern="1200" dirty="0">
                  <a:latin typeface="微软雅黑" panose="020B0503020204020204" pitchFamily="34" charset="-122"/>
                  <a:ea typeface="微软雅黑" panose="020B0503020204020204" pitchFamily="34" charset="-122"/>
                </a:rPr>
                <a:t>IP </a:t>
              </a:r>
              <a:r>
                <a:rPr lang="zh-CN" altLang="en-US" sz="1600" b="1" kern="1200" dirty="0">
                  <a:latin typeface="微软雅黑" panose="020B0503020204020204" pitchFamily="34" charset="-122"/>
                  <a:ea typeface="微软雅黑" panose="020B0503020204020204" pitchFamily="34" charset="-122"/>
                </a:rPr>
                <a:t>数据报从合适的端口转发出去。</a:t>
              </a:r>
            </a:p>
            <a:p>
              <a:pPr marL="114300" lvl="1" indent="-114300" algn="l" defTabSz="622300">
                <a:lnSpc>
                  <a:spcPts val="24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仅涉及到一个路由器。</a:t>
              </a:r>
            </a:p>
            <a:p>
              <a:pPr marL="114300" lvl="1" indent="-114300" algn="l" defTabSz="622300">
                <a:lnSpc>
                  <a:spcPts val="24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转发表是从路由表得出的。</a:t>
              </a:r>
            </a:p>
            <a:p>
              <a:pPr marL="114300" lvl="1" indent="-114300" algn="l" defTabSz="622300">
                <a:lnSpc>
                  <a:spcPts val="24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转发表必须包含完成转发功能所必需的信息，每一行必须包含从要到达的目的网络到输出端口和某些 </a:t>
              </a:r>
              <a:r>
                <a:rPr lang="en-US" altLang="en-US" sz="1600" b="1" kern="1200" dirty="0">
                  <a:latin typeface="微软雅黑" panose="020B0503020204020204" pitchFamily="34" charset="-122"/>
                  <a:ea typeface="微软雅黑" panose="020B0503020204020204" pitchFamily="34" charset="-122"/>
                </a:rPr>
                <a:t>MAC </a:t>
              </a:r>
              <a:r>
                <a:rPr lang="zh-CN" altLang="en-US" sz="1600" b="1" kern="1200" dirty="0">
                  <a:latin typeface="微软雅黑" panose="020B0503020204020204" pitchFamily="34" charset="-122"/>
                  <a:ea typeface="微软雅黑" panose="020B0503020204020204" pitchFamily="34" charset="-122"/>
                </a:rPr>
                <a:t>地址信息（如下一跳的以太网地址）的映射。</a:t>
              </a:r>
            </a:p>
            <a:p>
              <a:pPr marL="114300" lvl="1" indent="-114300" algn="l" defTabSz="622300">
                <a:lnSpc>
                  <a:spcPts val="2400"/>
                </a:lnSpc>
                <a:spcBef>
                  <a:spcPct val="0"/>
                </a:spcBef>
                <a:spcAft>
                  <a:spcPct val="15000"/>
                </a:spcAft>
                <a:buChar char="••"/>
              </a:pPr>
              <a:endParaRPr lang="zh-CN" altLang="en-US" sz="1600" b="1" kern="1200" dirty="0">
                <a:latin typeface="微软雅黑" panose="020B0503020204020204" pitchFamily="34" charset="-122"/>
                <a:ea typeface="微软雅黑" panose="020B0503020204020204" pitchFamily="34" charset="-122"/>
              </a:endParaRPr>
            </a:p>
          </p:txBody>
        </p:sp>
        <p:sp>
          <p:nvSpPr>
            <p:cNvPr id="8" name="任意多边形 7"/>
            <p:cNvSpPr/>
            <p:nvPr/>
          </p:nvSpPr>
          <p:spPr>
            <a:xfrm>
              <a:off x="4767991" y="1039603"/>
              <a:ext cx="3387682" cy="576000"/>
            </a:xfrm>
            <a:custGeom>
              <a:avLst/>
              <a:gdLst>
                <a:gd name="connsiteX0" fmla="*/ 0 w 3387682"/>
                <a:gd name="connsiteY0" fmla="*/ 0 h 576000"/>
                <a:gd name="connsiteX1" fmla="*/ 3387682 w 3387682"/>
                <a:gd name="connsiteY1" fmla="*/ 0 h 576000"/>
                <a:gd name="connsiteX2" fmla="*/ 3387682 w 3387682"/>
                <a:gd name="connsiteY2" fmla="*/ 576000 h 576000"/>
                <a:gd name="connsiteX3" fmla="*/ 0 w 3387682"/>
                <a:gd name="connsiteY3" fmla="*/ 576000 h 576000"/>
                <a:gd name="connsiteX4" fmla="*/ 0 w 3387682"/>
                <a:gd name="connsiteY4" fmla="*/ 0 h 576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7682" h="576000">
                  <a:moveTo>
                    <a:pt x="0" y="0"/>
                  </a:moveTo>
                  <a:lnTo>
                    <a:pt x="3387682" y="0"/>
                  </a:lnTo>
                  <a:lnTo>
                    <a:pt x="3387682" y="576000"/>
                  </a:lnTo>
                  <a:lnTo>
                    <a:pt x="0" y="576000"/>
                  </a:lnTo>
                  <a:lnTo>
                    <a:pt x="0" y="0"/>
                  </a:lnTo>
                  <a:close/>
                </a:path>
              </a:pathLst>
            </a:custGeom>
          </p:spPr>
          <p:style>
            <a:lnRef idx="2">
              <a:schemeClr val="accent4">
                <a:hueOff val="-4464770"/>
                <a:satOff val="26899"/>
                <a:lumOff val="2156"/>
                <a:alphaOff val="0"/>
              </a:schemeClr>
            </a:lnRef>
            <a:fillRef idx="1">
              <a:schemeClr val="accent4">
                <a:hueOff val="-4464770"/>
                <a:satOff val="26899"/>
                <a:lumOff val="2156"/>
                <a:alphaOff val="0"/>
              </a:schemeClr>
            </a:fillRef>
            <a:effectRef idx="0">
              <a:schemeClr val="accent4">
                <a:hueOff val="-4464770"/>
                <a:satOff val="26899"/>
                <a:lumOff val="2156"/>
                <a:alphaOff val="0"/>
              </a:schemeClr>
            </a:effectRef>
            <a:fontRef idx="minor">
              <a:schemeClr val="lt1"/>
            </a:fontRef>
          </p:style>
          <p:txBody>
            <a:bodyPr spcFirstLastPara="0" vert="horz" wrap="square" lIns="128016" tIns="73152" rIns="128016" bIns="73152" numCol="1" spcCol="1270" anchor="ctr" anchorCtr="0">
              <a:noAutofit/>
            </a:bodyPr>
            <a:lstStyle/>
            <a:p>
              <a:pPr lvl="0" algn="ctr" defTabSz="800100">
                <a:lnSpc>
                  <a:spcPct val="90000"/>
                </a:lnSpc>
                <a:spcBef>
                  <a:spcPct val="0"/>
                </a:spcBef>
                <a:spcAft>
                  <a:spcPct val="35000"/>
                </a:spcAft>
              </a:pPr>
              <a:r>
                <a:rPr lang="zh-CN" altLang="en-US" sz="1800" b="1" kern="1200" dirty="0">
                  <a:latin typeface="微软雅黑" panose="020B0503020204020204" pitchFamily="34" charset="-122"/>
                  <a:ea typeface="微软雅黑" panose="020B0503020204020204" pitchFamily="34" charset="-122"/>
                </a:rPr>
                <a:t>路由选择</a:t>
              </a:r>
            </a:p>
          </p:txBody>
        </p:sp>
        <p:sp>
          <p:nvSpPr>
            <p:cNvPr id="9" name="任意多边形 8"/>
            <p:cNvSpPr/>
            <p:nvPr/>
          </p:nvSpPr>
          <p:spPr>
            <a:xfrm>
              <a:off x="4767991" y="1615602"/>
              <a:ext cx="3387682" cy="2956397"/>
            </a:xfrm>
            <a:custGeom>
              <a:avLst/>
              <a:gdLst>
                <a:gd name="connsiteX0" fmla="*/ 0 w 3387682"/>
                <a:gd name="connsiteY0" fmla="*/ 0 h 2854800"/>
                <a:gd name="connsiteX1" fmla="*/ 3387682 w 3387682"/>
                <a:gd name="connsiteY1" fmla="*/ 0 h 2854800"/>
                <a:gd name="connsiteX2" fmla="*/ 3387682 w 3387682"/>
                <a:gd name="connsiteY2" fmla="*/ 2854800 h 2854800"/>
                <a:gd name="connsiteX3" fmla="*/ 0 w 3387682"/>
                <a:gd name="connsiteY3" fmla="*/ 2854800 h 2854800"/>
                <a:gd name="connsiteX4" fmla="*/ 0 w 3387682"/>
                <a:gd name="connsiteY4" fmla="*/ 0 h 285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7682" h="2854800">
                  <a:moveTo>
                    <a:pt x="0" y="0"/>
                  </a:moveTo>
                  <a:lnTo>
                    <a:pt x="3387682" y="0"/>
                  </a:lnTo>
                  <a:lnTo>
                    <a:pt x="3387682" y="2854800"/>
                  </a:lnTo>
                  <a:lnTo>
                    <a:pt x="0" y="2854800"/>
                  </a:lnTo>
                  <a:lnTo>
                    <a:pt x="0" y="0"/>
                  </a:lnTo>
                  <a:close/>
                </a:path>
              </a:pathLst>
            </a:custGeom>
          </p:spPr>
          <p:style>
            <a:lnRef idx="2">
              <a:schemeClr val="accent4">
                <a:tint val="40000"/>
                <a:alpha val="90000"/>
                <a:hueOff val="-3945710"/>
                <a:satOff val="22157"/>
                <a:lumOff val="1408"/>
                <a:alphaOff val="0"/>
              </a:schemeClr>
            </a:lnRef>
            <a:fillRef idx="1">
              <a:schemeClr val="accent4">
                <a:tint val="40000"/>
                <a:alpha val="90000"/>
                <a:hueOff val="-3945710"/>
                <a:satOff val="22157"/>
                <a:lumOff val="1408"/>
                <a:alphaOff val="0"/>
              </a:schemeClr>
            </a:fillRef>
            <a:effectRef idx="0">
              <a:schemeClr val="accent4">
                <a:tint val="40000"/>
                <a:alpha val="90000"/>
                <a:hueOff val="-3945710"/>
                <a:satOff val="22157"/>
                <a:lumOff val="1408"/>
                <a:alphaOff val="0"/>
              </a:schemeClr>
            </a:effectRef>
            <a:fontRef idx="minor">
              <a:schemeClr val="dk1">
                <a:hueOff val="0"/>
                <a:satOff val="0"/>
                <a:lumOff val="0"/>
                <a:alphaOff val="0"/>
              </a:schemeClr>
            </a:fontRef>
          </p:style>
          <p:txBody>
            <a:bodyPr spcFirstLastPara="0" vert="horz" wrap="square" lIns="74676" tIns="74676" rIns="99568" bIns="112014" numCol="1" spcCol="1270" anchor="t" anchorCtr="0">
              <a:noAutofit/>
            </a:bodyPr>
            <a:lstStyle/>
            <a:p>
              <a:pPr marL="114300" lvl="1" indent="-114300" algn="l" defTabSz="622300">
                <a:lnSpc>
                  <a:spcPts val="24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按照路由选择算法，根据网络拓扑的变化情况，动态地改变所选择的路由，并由此构造出整个的路由表。</a:t>
              </a:r>
            </a:p>
            <a:p>
              <a:pPr marL="114300" lvl="1" indent="-114300" algn="l" defTabSz="622300">
                <a:lnSpc>
                  <a:spcPts val="24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涉及到很多路由器。</a:t>
              </a:r>
            </a:p>
            <a:p>
              <a:pPr marL="114300" lvl="1" indent="-114300" algn="l" defTabSz="622300">
                <a:lnSpc>
                  <a:spcPts val="24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路由表一般仅包含从目的网络到下一跳（用 </a:t>
              </a:r>
              <a:r>
                <a:rPr lang="en-US" altLang="en-US" sz="1600" b="1" kern="1200" dirty="0">
                  <a:latin typeface="微软雅黑" panose="020B0503020204020204" pitchFamily="34" charset="-122"/>
                  <a:ea typeface="微软雅黑" panose="020B0503020204020204" pitchFamily="34" charset="-122"/>
                </a:rPr>
                <a:t>IP </a:t>
              </a:r>
              <a:r>
                <a:rPr lang="zh-CN" altLang="en-US" sz="1600" b="1" kern="1200" dirty="0">
                  <a:latin typeface="微软雅黑" panose="020B0503020204020204" pitchFamily="34" charset="-122"/>
                  <a:ea typeface="微软雅黑" panose="020B0503020204020204" pitchFamily="34" charset="-122"/>
                </a:rPr>
                <a:t>地址表示）的映射</a:t>
              </a:r>
            </a:p>
          </p:txBody>
        </p:sp>
      </p:grpSp>
    </p:spTree>
    <p:extLst>
      <p:ext uri="{BB962C8B-B14F-4D97-AF65-F5344CB8AC3E}">
        <p14:creationId xmlns:p14="http://schemas.microsoft.com/office/powerpoint/2010/main" val="274209850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03322"/>
            <a:ext cx="8053712" cy="25157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45144" y="620859"/>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5" y="579675"/>
            <a:ext cx="4365298" cy="400110"/>
          </a:xfrm>
          <a:prstGeom prst="rect">
            <a:avLst/>
          </a:prstGeom>
        </p:spPr>
        <p:txBody>
          <a:bodyPr wrap="none">
            <a:spAutoFit/>
          </a:bodyPr>
          <a:lstStyle/>
          <a:p>
            <a:r>
              <a:rPr lang="zh-CN" altLang="en-US" sz="2000" b="1" dirty="0">
                <a:latin typeface="微软雅黑" pitchFamily="34" charset="-122"/>
                <a:ea typeface="微软雅黑" pitchFamily="34" charset="-122"/>
              </a:rPr>
              <a:t>输入端口对线路上收到的分组的处理 </a:t>
            </a:r>
          </a:p>
        </p:txBody>
      </p:sp>
      <p:grpSp>
        <p:nvGrpSpPr>
          <p:cNvPr id="28" name="组合 27"/>
          <p:cNvGrpSpPr/>
          <p:nvPr/>
        </p:nvGrpSpPr>
        <p:grpSpPr>
          <a:xfrm>
            <a:off x="1425510" y="1021794"/>
            <a:ext cx="6290279" cy="2445310"/>
            <a:chOff x="1064568" y="1661804"/>
            <a:chExt cx="8347806" cy="3245159"/>
          </a:xfrm>
        </p:grpSpPr>
        <p:sp>
          <p:nvSpPr>
            <p:cNvPr id="6" name="Rectangle 4"/>
            <p:cNvSpPr>
              <a:spLocks noChangeArrowheads="1"/>
            </p:cNvSpPr>
            <p:nvPr/>
          </p:nvSpPr>
          <p:spPr bwMode="auto">
            <a:xfrm>
              <a:off x="1723381" y="2073275"/>
              <a:ext cx="6691312" cy="2662238"/>
            </a:xfrm>
            <a:prstGeom prst="rect">
              <a:avLst/>
            </a:prstGeom>
            <a:solidFill>
              <a:srgbClr val="99FFCC"/>
            </a:solidFill>
            <a:ln w="12700">
              <a:headEnd/>
              <a:tailEnd/>
            </a:ln>
          </p:spPr>
          <p:style>
            <a:lnRef idx="2">
              <a:schemeClr val="dk1"/>
            </a:lnRef>
            <a:fillRef idx="1">
              <a:schemeClr val="lt1"/>
            </a:fillRef>
            <a:effectRef idx="0">
              <a:schemeClr val="dk1"/>
            </a:effectRef>
            <a:fontRef idx="minor">
              <a:schemeClr val="dk1"/>
            </a:fontRef>
          </p:style>
          <p:txBody>
            <a:bodyPr wrap="none" anchor="ctr"/>
            <a:lstStyle/>
            <a:p>
              <a:endParaRPr lang="zh-CN" altLang="en-US" sz="1400" b="1">
                <a:latin typeface="微软雅黑" pitchFamily="34" charset="-122"/>
                <a:ea typeface="微软雅黑" pitchFamily="34" charset="-122"/>
              </a:endParaRPr>
            </a:p>
          </p:txBody>
        </p:sp>
        <p:sp>
          <p:nvSpPr>
            <p:cNvPr id="7" name="Rectangle 5"/>
            <p:cNvSpPr>
              <a:spLocks noChangeArrowheads="1"/>
            </p:cNvSpPr>
            <p:nvPr/>
          </p:nvSpPr>
          <p:spPr bwMode="auto">
            <a:xfrm>
              <a:off x="2167881" y="3133725"/>
              <a:ext cx="1339850" cy="798513"/>
            </a:xfrm>
            <a:prstGeom prst="rect">
              <a:avLst/>
            </a:prstGeom>
            <a:solidFill>
              <a:srgbClr val="0000FF"/>
            </a:solidFill>
            <a:ln w="19050">
              <a:solidFill>
                <a:schemeClr val="tx1"/>
              </a:solidFill>
              <a:miter lim="800000"/>
              <a:headEnd/>
              <a:tailEnd/>
            </a:ln>
            <a:effectLst/>
          </p:spPr>
          <p:txBody>
            <a:bodyPr wrap="none" anchor="ctr"/>
            <a:lstStyle/>
            <a:p>
              <a:pPr algn="ctr"/>
              <a:r>
                <a:rPr kumimoji="1" lang="zh-CN" altLang="en-US" sz="1400" b="1" dirty="0">
                  <a:solidFill>
                    <a:schemeClr val="bg1"/>
                  </a:solidFill>
                  <a:latin typeface="微软雅黑" pitchFamily="34" charset="-122"/>
                  <a:ea typeface="微软雅黑" pitchFamily="34" charset="-122"/>
                </a:rPr>
                <a:t>物理层处理</a:t>
              </a:r>
            </a:p>
          </p:txBody>
        </p:sp>
        <p:sp>
          <p:nvSpPr>
            <p:cNvPr id="8" name="Rectangle 6"/>
            <p:cNvSpPr>
              <a:spLocks noChangeArrowheads="1"/>
            </p:cNvSpPr>
            <p:nvPr/>
          </p:nvSpPr>
          <p:spPr bwMode="auto">
            <a:xfrm>
              <a:off x="4069706" y="2870200"/>
              <a:ext cx="1338262" cy="1327150"/>
            </a:xfrm>
            <a:prstGeom prst="rect">
              <a:avLst/>
            </a:prstGeom>
            <a:solidFill>
              <a:srgbClr val="0000FF"/>
            </a:solidFill>
            <a:ln w="19050">
              <a:solidFill>
                <a:schemeClr val="tx1"/>
              </a:solidFill>
              <a:miter lim="800000"/>
              <a:headEnd/>
              <a:tailEnd/>
            </a:ln>
            <a:effectLst/>
          </p:spPr>
          <p:txBody>
            <a:bodyPr wrap="none" anchor="ctr"/>
            <a:lstStyle/>
            <a:p>
              <a:pPr algn="ctr"/>
              <a:r>
                <a:rPr kumimoji="1" lang="zh-CN" altLang="en-US" sz="1400" b="1" dirty="0">
                  <a:solidFill>
                    <a:schemeClr val="bg1"/>
                  </a:solidFill>
                  <a:latin typeface="微软雅黑" pitchFamily="34" charset="-122"/>
                  <a:ea typeface="微软雅黑" pitchFamily="34" charset="-122"/>
                </a:rPr>
                <a:t>数据链路层</a:t>
              </a:r>
            </a:p>
            <a:p>
              <a:pPr algn="ctr"/>
              <a:r>
                <a:rPr kumimoji="1" lang="zh-CN" altLang="en-US" sz="1400" b="1" dirty="0">
                  <a:solidFill>
                    <a:schemeClr val="bg1"/>
                  </a:solidFill>
                  <a:latin typeface="微软雅黑" pitchFamily="34" charset="-122"/>
                  <a:ea typeface="微软雅黑" pitchFamily="34" charset="-122"/>
                </a:rPr>
                <a:t>处理</a:t>
              </a:r>
            </a:p>
          </p:txBody>
        </p:sp>
        <p:sp>
          <p:nvSpPr>
            <p:cNvPr id="9" name="Rectangle 7"/>
            <p:cNvSpPr>
              <a:spLocks noChangeArrowheads="1"/>
            </p:cNvSpPr>
            <p:nvPr/>
          </p:nvSpPr>
          <p:spPr bwMode="auto">
            <a:xfrm>
              <a:off x="6066781" y="2330450"/>
              <a:ext cx="1901825" cy="2060575"/>
            </a:xfrm>
            <a:prstGeom prst="rect">
              <a:avLst/>
            </a:prstGeom>
            <a:solidFill>
              <a:srgbClr val="0000FF"/>
            </a:solidFill>
            <a:ln w="19050">
              <a:solidFill>
                <a:schemeClr val="tx1"/>
              </a:solidFill>
              <a:miter lim="800000"/>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10" name="Line 8"/>
            <p:cNvSpPr>
              <a:spLocks noChangeShapeType="1"/>
            </p:cNvSpPr>
            <p:nvPr/>
          </p:nvSpPr>
          <p:spPr bwMode="auto">
            <a:xfrm flipV="1">
              <a:off x="1482081" y="3533775"/>
              <a:ext cx="712787" cy="4763"/>
            </a:xfrm>
            <a:prstGeom prst="line">
              <a:avLst/>
            </a:prstGeom>
            <a:noFill/>
            <a:ln w="38100">
              <a:solidFill>
                <a:srgbClr val="3399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 name="Line 9"/>
            <p:cNvSpPr>
              <a:spLocks noChangeShapeType="1"/>
            </p:cNvSpPr>
            <p:nvPr/>
          </p:nvSpPr>
          <p:spPr bwMode="auto">
            <a:xfrm>
              <a:off x="3507731" y="3533775"/>
              <a:ext cx="561975" cy="0"/>
            </a:xfrm>
            <a:prstGeom prst="line">
              <a:avLst/>
            </a:prstGeom>
            <a:noFill/>
            <a:ln w="38100">
              <a:solidFill>
                <a:srgbClr val="3399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 name="Line 10"/>
            <p:cNvSpPr>
              <a:spLocks noChangeShapeType="1"/>
            </p:cNvSpPr>
            <p:nvPr/>
          </p:nvSpPr>
          <p:spPr bwMode="auto">
            <a:xfrm>
              <a:off x="5428606" y="3533775"/>
              <a:ext cx="647700" cy="0"/>
            </a:xfrm>
            <a:prstGeom prst="line">
              <a:avLst/>
            </a:prstGeom>
            <a:noFill/>
            <a:ln w="38100">
              <a:solidFill>
                <a:srgbClr val="3399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 name="Line 11"/>
            <p:cNvSpPr>
              <a:spLocks noChangeShapeType="1"/>
            </p:cNvSpPr>
            <p:nvPr/>
          </p:nvSpPr>
          <p:spPr bwMode="auto">
            <a:xfrm>
              <a:off x="7968606" y="3533775"/>
              <a:ext cx="892175" cy="0"/>
            </a:xfrm>
            <a:prstGeom prst="line">
              <a:avLst/>
            </a:prstGeom>
            <a:noFill/>
            <a:ln w="38100">
              <a:solidFill>
                <a:srgbClr val="3399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 name="Line 12"/>
            <p:cNvSpPr>
              <a:spLocks noChangeShapeType="1"/>
            </p:cNvSpPr>
            <p:nvPr/>
          </p:nvSpPr>
          <p:spPr bwMode="auto">
            <a:xfrm>
              <a:off x="8860781" y="1901825"/>
              <a:ext cx="0" cy="3005138"/>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 name="Freeform 13"/>
            <p:cNvSpPr>
              <a:spLocks/>
            </p:cNvSpPr>
            <p:nvPr/>
          </p:nvSpPr>
          <p:spPr bwMode="auto">
            <a:xfrm>
              <a:off x="6384281" y="3189288"/>
              <a:ext cx="1358900" cy="687387"/>
            </a:xfrm>
            <a:custGeom>
              <a:avLst/>
              <a:gdLst>
                <a:gd name="T0" fmla="*/ 0 w 816"/>
                <a:gd name="T1" fmla="*/ 0 h 336"/>
                <a:gd name="T2" fmla="*/ 816 w 816"/>
                <a:gd name="T3" fmla="*/ 0 h 336"/>
                <a:gd name="T4" fmla="*/ 816 w 816"/>
                <a:gd name="T5" fmla="*/ 336 h 336"/>
                <a:gd name="T6" fmla="*/ 0 w 816"/>
                <a:gd name="T7" fmla="*/ 336 h 336"/>
              </a:gdLst>
              <a:ahLst/>
              <a:cxnLst>
                <a:cxn ang="0">
                  <a:pos x="T0" y="T1"/>
                </a:cxn>
                <a:cxn ang="0">
                  <a:pos x="T2" y="T3"/>
                </a:cxn>
                <a:cxn ang="0">
                  <a:pos x="T4" y="T5"/>
                </a:cxn>
                <a:cxn ang="0">
                  <a:pos x="T6" y="T7"/>
                </a:cxn>
              </a:cxnLst>
              <a:rect l="0" t="0" r="r" b="b"/>
              <a:pathLst>
                <a:path w="816" h="336">
                  <a:moveTo>
                    <a:pt x="0" y="0"/>
                  </a:moveTo>
                  <a:lnTo>
                    <a:pt x="816" y="0"/>
                  </a:lnTo>
                  <a:lnTo>
                    <a:pt x="816" y="336"/>
                  </a:lnTo>
                  <a:lnTo>
                    <a:pt x="0" y="336"/>
                  </a:lnTo>
                </a:path>
              </a:pathLst>
            </a:custGeom>
            <a:solidFill>
              <a:srgbClr val="00FFFF"/>
            </a:solidFill>
            <a:ln w="28575"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 name="Line 14"/>
            <p:cNvSpPr>
              <a:spLocks noChangeShapeType="1"/>
            </p:cNvSpPr>
            <p:nvPr/>
          </p:nvSpPr>
          <p:spPr bwMode="auto">
            <a:xfrm>
              <a:off x="7582843" y="3189288"/>
              <a:ext cx="0" cy="68738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7" name="Line 15"/>
            <p:cNvSpPr>
              <a:spLocks noChangeShapeType="1"/>
            </p:cNvSpPr>
            <p:nvPr/>
          </p:nvSpPr>
          <p:spPr bwMode="auto">
            <a:xfrm>
              <a:off x="7424093" y="3189288"/>
              <a:ext cx="0" cy="68738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 name="Line 16"/>
            <p:cNvSpPr>
              <a:spLocks noChangeShapeType="1"/>
            </p:cNvSpPr>
            <p:nvPr/>
          </p:nvSpPr>
          <p:spPr bwMode="auto">
            <a:xfrm>
              <a:off x="7262168" y="3189288"/>
              <a:ext cx="0" cy="68738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9" name="Line 17"/>
            <p:cNvSpPr>
              <a:spLocks noChangeShapeType="1"/>
            </p:cNvSpPr>
            <p:nvPr/>
          </p:nvSpPr>
          <p:spPr bwMode="auto">
            <a:xfrm>
              <a:off x="7103418" y="3189288"/>
              <a:ext cx="0" cy="68738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0" name="Line 18"/>
            <p:cNvSpPr>
              <a:spLocks noChangeShapeType="1"/>
            </p:cNvSpPr>
            <p:nvPr/>
          </p:nvSpPr>
          <p:spPr bwMode="auto">
            <a:xfrm>
              <a:off x="6944668" y="3189288"/>
              <a:ext cx="0" cy="68738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1" name="Line 19"/>
            <p:cNvSpPr>
              <a:spLocks noChangeShapeType="1"/>
            </p:cNvSpPr>
            <p:nvPr/>
          </p:nvSpPr>
          <p:spPr bwMode="auto">
            <a:xfrm>
              <a:off x="6784331" y="3189288"/>
              <a:ext cx="0" cy="68738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2" name="Text Box 20"/>
            <p:cNvSpPr txBox="1">
              <a:spLocks noChangeArrowheads="1"/>
            </p:cNvSpPr>
            <p:nvPr/>
          </p:nvSpPr>
          <p:spPr bwMode="auto">
            <a:xfrm>
              <a:off x="6346182" y="2405062"/>
              <a:ext cx="1436380" cy="694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chemeClr val="bg1"/>
                  </a:solidFill>
                  <a:latin typeface="微软雅黑" pitchFamily="34" charset="-122"/>
                  <a:ea typeface="微软雅黑" pitchFamily="34" charset="-122"/>
                </a:rPr>
                <a:t>网络层处理</a:t>
              </a:r>
            </a:p>
            <a:p>
              <a:r>
                <a:rPr kumimoji="1" lang="zh-CN" altLang="en-US" sz="1400" b="1" dirty="0">
                  <a:solidFill>
                    <a:schemeClr val="bg1"/>
                  </a:solidFill>
                  <a:latin typeface="微软雅黑" pitchFamily="34" charset="-122"/>
                  <a:ea typeface="微软雅黑" pitchFamily="34" charset="-122"/>
                </a:rPr>
                <a:t>  分组排队</a:t>
              </a:r>
            </a:p>
          </p:txBody>
        </p:sp>
        <p:sp>
          <p:nvSpPr>
            <p:cNvPr id="23" name="Text Box 21"/>
            <p:cNvSpPr txBox="1">
              <a:spLocks noChangeArrowheads="1"/>
            </p:cNvSpPr>
            <p:nvPr/>
          </p:nvSpPr>
          <p:spPr bwMode="auto">
            <a:xfrm>
              <a:off x="6465243" y="3870325"/>
              <a:ext cx="385474" cy="408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  </a:t>
              </a:r>
            </a:p>
          </p:txBody>
        </p:sp>
        <p:sp>
          <p:nvSpPr>
            <p:cNvPr id="24" name="Text Box 22"/>
            <p:cNvSpPr txBox="1">
              <a:spLocks noChangeArrowheads="1"/>
            </p:cNvSpPr>
            <p:nvPr/>
          </p:nvSpPr>
          <p:spPr bwMode="auto">
            <a:xfrm>
              <a:off x="8929043" y="2825640"/>
              <a:ext cx="483331" cy="1266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交</a:t>
              </a:r>
            </a:p>
            <a:p>
              <a:r>
                <a:rPr kumimoji="1" lang="zh-CN" altLang="en-US" sz="1400" b="1" dirty="0">
                  <a:latin typeface="微软雅黑" pitchFamily="34" charset="-122"/>
                  <a:ea typeface="微软雅黑" pitchFamily="34" charset="-122"/>
                </a:rPr>
                <a:t>换</a:t>
              </a:r>
            </a:p>
            <a:p>
              <a:r>
                <a:rPr kumimoji="1" lang="zh-CN" altLang="en-US" sz="1400" b="1" dirty="0">
                  <a:latin typeface="微软雅黑" pitchFamily="34" charset="-122"/>
                  <a:ea typeface="微软雅黑" pitchFamily="34" charset="-122"/>
                </a:rPr>
                <a:t>结</a:t>
              </a:r>
            </a:p>
            <a:p>
              <a:r>
                <a:rPr kumimoji="1" lang="zh-CN" altLang="en-US" sz="1400" b="1" dirty="0">
                  <a:latin typeface="微软雅黑" pitchFamily="34" charset="-122"/>
                  <a:ea typeface="微软雅黑" pitchFamily="34" charset="-122"/>
                </a:rPr>
                <a:t>构</a:t>
              </a:r>
            </a:p>
          </p:txBody>
        </p:sp>
        <p:sp>
          <p:nvSpPr>
            <p:cNvPr id="25" name="Text Box 23"/>
            <p:cNvSpPr txBox="1">
              <a:spLocks noChangeArrowheads="1"/>
            </p:cNvSpPr>
            <p:nvPr/>
          </p:nvSpPr>
          <p:spPr bwMode="auto">
            <a:xfrm>
              <a:off x="3938885" y="1661804"/>
              <a:ext cx="2053307" cy="4084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  </a:t>
              </a:r>
              <a:r>
                <a:rPr kumimoji="1" lang="zh-CN" altLang="en-US" sz="1400" b="1" dirty="0">
                  <a:latin typeface="微软雅黑" pitchFamily="34" charset="-122"/>
                  <a:ea typeface="微软雅黑" pitchFamily="34" charset="-122"/>
                </a:rPr>
                <a:t>输入端口的处理</a:t>
              </a:r>
            </a:p>
          </p:txBody>
        </p:sp>
        <p:sp>
          <p:nvSpPr>
            <p:cNvPr id="26" name="Text Box 24"/>
            <p:cNvSpPr txBox="1">
              <a:spLocks noChangeArrowheads="1"/>
            </p:cNvSpPr>
            <p:nvPr/>
          </p:nvSpPr>
          <p:spPr bwMode="auto">
            <a:xfrm>
              <a:off x="1064568" y="2549802"/>
              <a:ext cx="483331" cy="19237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1400" b="1" dirty="0">
                  <a:latin typeface="微软雅黑" pitchFamily="34" charset="-122"/>
                  <a:ea typeface="微软雅黑" pitchFamily="34" charset="-122"/>
                </a:rPr>
                <a:t>从</a:t>
              </a:r>
            </a:p>
            <a:p>
              <a:pPr>
                <a:lnSpc>
                  <a:spcPct val="90000"/>
                </a:lnSpc>
              </a:pPr>
              <a:r>
                <a:rPr kumimoji="1" lang="zh-CN" altLang="en-US" sz="1400" b="1" dirty="0">
                  <a:latin typeface="微软雅黑" pitchFamily="34" charset="-122"/>
                  <a:ea typeface="微软雅黑" pitchFamily="34" charset="-122"/>
                </a:rPr>
                <a:t>线</a:t>
              </a:r>
            </a:p>
            <a:p>
              <a:pPr>
                <a:lnSpc>
                  <a:spcPct val="90000"/>
                </a:lnSpc>
              </a:pPr>
              <a:r>
                <a:rPr kumimoji="1" lang="zh-CN" altLang="en-US" sz="1400" b="1" dirty="0">
                  <a:latin typeface="微软雅黑" pitchFamily="34" charset="-122"/>
                  <a:ea typeface="微软雅黑" pitchFamily="34" charset="-122"/>
                </a:rPr>
                <a:t>路</a:t>
              </a:r>
            </a:p>
            <a:p>
              <a:pPr>
                <a:lnSpc>
                  <a:spcPct val="90000"/>
                </a:lnSpc>
              </a:pPr>
              <a:r>
                <a:rPr kumimoji="1" lang="zh-CN" altLang="en-US" sz="1400" b="1" dirty="0">
                  <a:latin typeface="微软雅黑" pitchFamily="34" charset="-122"/>
                  <a:ea typeface="微软雅黑" pitchFamily="34" charset="-122"/>
                </a:rPr>
                <a:t>接</a:t>
              </a:r>
            </a:p>
            <a:p>
              <a:pPr>
                <a:lnSpc>
                  <a:spcPct val="90000"/>
                </a:lnSpc>
              </a:pPr>
              <a:r>
                <a:rPr kumimoji="1" lang="zh-CN" altLang="en-US" sz="1400" b="1" dirty="0">
                  <a:latin typeface="微软雅黑" pitchFamily="34" charset="-122"/>
                  <a:ea typeface="微软雅黑" pitchFamily="34" charset="-122"/>
                </a:rPr>
                <a:t>收</a:t>
              </a:r>
            </a:p>
            <a:p>
              <a:pPr>
                <a:lnSpc>
                  <a:spcPct val="90000"/>
                </a:lnSpc>
              </a:pPr>
              <a:r>
                <a:rPr kumimoji="1" lang="zh-CN" altLang="en-US" sz="1400" b="1" dirty="0">
                  <a:latin typeface="微软雅黑" pitchFamily="34" charset="-122"/>
                  <a:ea typeface="微软雅黑" pitchFamily="34" charset="-122"/>
                </a:rPr>
                <a:t>分</a:t>
              </a:r>
            </a:p>
            <a:p>
              <a:pPr>
                <a:lnSpc>
                  <a:spcPct val="90000"/>
                </a:lnSpc>
              </a:pPr>
              <a:r>
                <a:rPr kumimoji="1" lang="zh-CN" altLang="en-US" sz="1400" b="1" dirty="0">
                  <a:latin typeface="微软雅黑" pitchFamily="34" charset="-122"/>
                  <a:ea typeface="微软雅黑" pitchFamily="34" charset="-122"/>
                </a:rPr>
                <a:t>组</a:t>
              </a:r>
            </a:p>
          </p:txBody>
        </p:sp>
        <p:sp>
          <p:nvSpPr>
            <p:cNvPr id="27" name="Text Box 25"/>
            <p:cNvSpPr txBox="1">
              <a:spLocks noChangeArrowheads="1"/>
            </p:cNvSpPr>
            <p:nvPr/>
          </p:nvSpPr>
          <p:spPr bwMode="auto">
            <a:xfrm>
              <a:off x="6396982" y="3898900"/>
              <a:ext cx="1436380" cy="408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solidFill>
                    <a:schemeClr val="bg1"/>
                  </a:solidFill>
                  <a:latin typeface="微软雅黑" pitchFamily="34" charset="-122"/>
                  <a:ea typeface="微软雅黑" pitchFamily="34" charset="-122"/>
                </a:rPr>
                <a:t>查表和转发</a:t>
              </a:r>
            </a:p>
          </p:txBody>
        </p:sp>
      </p:grpSp>
      <p:grpSp>
        <p:nvGrpSpPr>
          <p:cNvPr id="51" name="组合 50"/>
          <p:cNvGrpSpPr/>
          <p:nvPr/>
        </p:nvGrpSpPr>
        <p:grpSpPr>
          <a:xfrm>
            <a:off x="850357" y="2742176"/>
            <a:ext cx="1711052" cy="1489636"/>
            <a:chOff x="850357" y="2742176"/>
            <a:chExt cx="1711052" cy="1489636"/>
          </a:xfrm>
        </p:grpSpPr>
        <p:sp>
          <p:nvSpPr>
            <p:cNvPr id="31" name="矩形 30"/>
            <p:cNvSpPr/>
            <p:nvPr/>
          </p:nvSpPr>
          <p:spPr>
            <a:xfrm>
              <a:off x="850357" y="3738352"/>
              <a:ext cx="1222938" cy="49346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ts val="2000"/>
                </a:lnSpc>
              </a:pPr>
              <a:r>
                <a:rPr lang="zh-CN" altLang="en-US" sz="1400" b="1" dirty="0">
                  <a:solidFill>
                    <a:schemeClr val="tx1"/>
                  </a:solidFill>
                  <a:latin typeface="微软雅黑" panose="020B0503020204020204" pitchFamily="34" charset="-122"/>
                  <a:ea typeface="微软雅黑" panose="020B0503020204020204" pitchFamily="34" charset="-122"/>
                </a:rPr>
                <a:t>从输入端口接收比特</a:t>
              </a:r>
            </a:p>
          </p:txBody>
        </p:sp>
        <p:cxnSp>
          <p:nvCxnSpPr>
            <p:cNvPr id="36" name="直接箭头连接符 35"/>
            <p:cNvCxnSpPr/>
            <p:nvPr/>
          </p:nvCxnSpPr>
          <p:spPr>
            <a:xfrm flipH="1">
              <a:off x="1485301" y="2742176"/>
              <a:ext cx="1076108" cy="1003019"/>
            </a:xfrm>
            <a:prstGeom prst="straightConnector1">
              <a:avLst/>
            </a:prstGeom>
            <a:ln w="12700">
              <a:prstDash val="sysDot"/>
              <a:tailEnd type="triangle" w="med" len="lg"/>
            </a:ln>
          </p:spPr>
          <p:style>
            <a:lnRef idx="1">
              <a:schemeClr val="dk1"/>
            </a:lnRef>
            <a:fillRef idx="0">
              <a:schemeClr val="dk1"/>
            </a:fillRef>
            <a:effectRef idx="0">
              <a:schemeClr val="dk1"/>
            </a:effectRef>
            <a:fontRef idx="minor">
              <a:schemeClr val="tx1"/>
            </a:fontRef>
          </p:style>
        </p:cxnSp>
      </p:grpSp>
      <p:grpSp>
        <p:nvGrpSpPr>
          <p:cNvPr id="52" name="组合 51"/>
          <p:cNvGrpSpPr/>
          <p:nvPr/>
        </p:nvGrpSpPr>
        <p:grpSpPr>
          <a:xfrm>
            <a:off x="2077670" y="2760742"/>
            <a:ext cx="1612286" cy="1474367"/>
            <a:chOff x="2077670" y="2760742"/>
            <a:chExt cx="1612286" cy="1474367"/>
          </a:xfrm>
        </p:grpSpPr>
        <p:sp>
          <p:nvSpPr>
            <p:cNvPr id="32" name="矩形 31"/>
            <p:cNvSpPr/>
            <p:nvPr/>
          </p:nvSpPr>
          <p:spPr>
            <a:xfrm>
              <a:off x="2077670" y="3741649"/>
              <a:ext cx="1207296" cy="49346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ts val="2000"/>
                </a:lnSpc>
              </a:pPr>
              <a:r>
                <a:rPr lang="zh-CN" altLang="en-US" sz="1400" b="1" dirty="0">
                  <a:solidFill>
                    <a:schemeClr val="tx1"/>
                  </a:solidFill>
                  <a:latin typeface="微软雅黑" panose="020B0503020204020204" pitchFamily="34" charset="-122"/>
                  <a:ea typeface="微软雅黑" panose="020B0503020204020204" pitchFamily="34" charset="-122"/>
                </a:rPr>
                <a:t>剥去帧的</a:t>
              </a:r>
              <a:endParaRPr lang="en-US" altLang="zh-CN" sz="1400" b="1" dirty="0">
                <a:solidFill>
                  <a:schemeClr val="tx1"/>
                </a:solidFill>
                <a:latin typeface="微软雅黑" panose="020B0503020204020204" pitchFamily="34" charset="-122"/>
                <a:ea typeface="微软雅黑" panose="020B0503020204020204" pitchFamily="34" charset="-122"/>
              </a:endParaRPr>
            </a:p>
            <a:p>
              <a:pPr algn="ctr">
                <a:lnSpc>
                  <a:spcPts val="2000"/>
                </a:lnSpc>
              </a:pPr>
              <a:r>
                <a:rPr lang="zh-CN" altLang="en-US" sz="1400" b="1" dirty="0">
                  <a:solidFill>
                    <a:schemeClr val="tx1"/>
                  </a:solidFill>
                  <a:latin typeface="微软雅黑" panose="020B0503020204020204" pitchFamily="34" charset="-122"/>
                  <a:ea typeface="微软雅黑" panose="020B0503020204020204" pitchFamily="34" charset="-122"/>
                </a:rPr>
                <a:t>首部和尾部</a:t>
              </a:r>
            </a:p>
          </p:txBody>
        </p:sp>
        <p:cxnSp>
          <p:nvCxnSpPr>
            <p:cNvPr id="40" name="直接箭头连接符 39"/>
            <p:cNvCxnSpPr/>
            <p:nvPr/>
          </p:nvCxnSpPr>
          <p:spPr>
            <a:xfrm flipH="1">
              <a:off x="2719279" y="2760742"/>
              <a:ext cx="970677" cy="970726"/>
            </a:xfrm>
            <a:prstGeom prst="straightConnector1">
              <a:avLst/>
            </a:prstGeom>
            <a:ln w="12700">
              <a:prstDash val="sysDot"/>
              <a:tailEnd type="triangle" w="med" len="lg"/>
            </a:ln>
          </p:spPr>
          <p:style>
            <a:lnRef idx="1">
              <a:schemeClr val="dk1"/>
            </a:lnRef>
            <a:fillRef idx="0">
              <a:schemeClr val="dk1"/>
            </a:fillRef>
            <a:effectRef idx="0">
              <a:schemeClr val="dk1"/>
            </a:effectRef>
            <a:fontRef idx="minor">
              <a:schemeClr val="tx1"/>
            </a:fontRef>
          </p:style>
        </p:cxnSp>
      </p:grpSp>
      <p:grpSp>
        <p:nvGrpSpPr>
          <p:cNvPr id="53" name="组合 52"/>
          <p:cNvGrpSpPr/>
          <p:nvPr/>
        </p:nvGrpSpPr>
        <p:grpSpPr>
          <a:xfrm>
            <a:off x="3680497" y="3076509"/>
            <a:ext cx="1763119" cy="1590103"/>
            <a:chOff x="3680497" y="3076509"/>
            <a:chExt cx="1763119" cy="1590103"/>
          </a:xfrm>
        </p:grpSpPr>
        <p:sp>
          <p:nvSpPr>
            <p:cNvPr id="33" name="矩形 32"/>
            <p:cNvSpPr/>
            <p:nvPr/>
          </p:nvSpPr>
          <p:spPr>
            <a:xfrm>
              <a:off x="3680497" y="3646399"/>
              <a:ext cx="1558061" cy="1020213"/>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000"/>
                </a:lnSpc>
              </a:pPr>
              <a:r>
                <a:rPr lang="zh-CN" altLang="en-US" sz="1400" b="1" dirty="0">
                  <a:solidFill>
                    <a:schemeClr val="tx1"/>
                  </a:solidFill>
                  <a:latin typeface="微软雅黑" panose="020B0503020204020204" pitchFamily="34" charset="-122"/>
                  <a:ea typeface="微软雅黑" panose="020B0503020204020204" pitchFamily="34" charset="-122"/>
                </a:rPr>
                <a:t>若收到的分组是交换</a:t>
              </a:r>
              <a:r>
                <a:rPr lang="zh-CN" altLang="en-US" sz="1400" b="1" dirty="0">
                  <a:solidFill>
                    <a:srgbClr val="C00000"/>
                  </a:solidFill>
                  <a:latin typeface="微软雅黑" panose="020B0503020204020204" pitchFamily="34" charset="-122"/>
                  <a:ea typeface="微软雅黑" panose="020B0503020204020204" pitchFamily="34" charset="-122"/>
                </a:rPr>
                <a:t>路由信息的分组，</a:t>
              </a:r>
              <a:r>
                <a:rPr lang="zh-CN" altLang="en-US" sz="1400" b="1" dirty="0">
                  <a:solidFill>
                    <a:schemeClr val="tx1"/>
                  </a:solidFill>
                  <a:latin typeface="微软雅黑" panose="020B0503020204020204" pitchFamily="34" charset="-122"/>
                  <a:ea typeface="微软雅黑" panose="020B0503020204020204" pitchFamily="34" charset="-122"/>
                </a:rPr>
                <a:t>送交</a:t>
              </a:r>
              <a:r>
                <a:rPr lang="zh-CN" altLang="en-US" sz="1400" b="1" dirty="0">
                  <a:solidFill>
                    <a:srgbClr val="C00000"/>
                  </a:solidFill>
                  <a:latin typeface="微软雅黑" panose="020B0503020204020204" pitchFamily="34" charset="-122"/>
                  <a:ea typeface="微软雅黑" panose="020B0503020204020204" pitchFamily="34" charset="-122"/>
                </a:rPr>
                <a:t>路由选择处理机。</a:t>
              </a:r>
            </a:p>
          </p:txBody>
        </p:sp>
        <p:cxnSp>
          <p:nvCxnSpPr>
            <p:cNvPr id="43" name="直接箭头连接符 42"/>
            <p:cNvCxnSpPr/>
            <p:nvPr/>
          </p:nvCxnSpPr>
          <p:spPr>
            <a:xfrm flipH="1">
              <a:off x="4918866" y="3076509"/>
              <a:ext cx="524750" cy="571457"/>
            </a:xfrm>
            <a:prstGeom prst="straightConnector1">
              <a:avLst/>
            </a:prstGeom>
            <a:ln w="12700">
              <a:prstDash val="sysDot"/>
              <a:tailEnd type="triangle" w="med" len="lg"/>
            </a:ln>
          </p:spPr>
          <p:style>
            <a:lnRef idx="1">
              <a:schemeClr val="dk1"/>
            </a:lnRef>
            <a:fillRef idx="0">
              <a:schemeClr val="dk1"/>
            </a:fillRef>
            <a:effectRef idx="0">
              <a:schemeClr val="dk1"/>
            </a:effectRef>
            <a:fontRef idx="minor">
              <a:schemeClr val="tx1"/>
            </a:fontRef>
          </p:style>
        </p:cxnSp>
      </p:grpSp>
      <p:grpSp>
        <p:nvGrpSpPr>
          <p:cNvPr id="54" name="组合 53"/>
          <p:cNvGrpSpPr/>
          <p:nvPr/>
        </p:nvGrpSpPr>
        <p:grpSpPr>
          <a:xfrm>
            <a:off x="5124259" y="3076509"/>
            <a:ext cx="3174326" cy="1577244"/>
            <a:chOff x="5124259" y="3076509"/>
            <a:chExt cx="3174326" cy="1577244"/>
          </a:xfrm>
        </p:grpSpPr>
        <p:sp>
          <p:nvSpPr>
            <p:cNvPr id="34" name="矩形 33"/>
            <p:cNvSpPr/>
            <p:nvPr/>
          </p:nvSpPr>
          <p:spPr>
            <a:xfrm>
              <a:off x="5124259" y="3646399"/>
              <a:ext cx="3174326" cy="1007354"/>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000"/>
                </a:lnSpc>
              </a:pPr>
              <a:r>
                <a:rPr lang="zh-CN" altLang="en-US" sz="1400" b="1" dirty="0">
                  <a:solidFill>
                    <a:schemeClr val="tx1"/>
                  </a:solidFill>
                  <a:latin typeface="微软雅黑" panose="020B0503020204020204" pitchFamily="34" charset="-122"/>
                  <a:ea typeface="微软雅黑" panose="020B0503020204020204" pitchFamily="34" charset="-122"/>
                </a:rPr>
                <a:t>若收到的是</a:t>
              </a:r>
              <a:r>
                <a:rPr lang="zh-CN" altLang="en-US" sz="1400" b="1" dirty="0">
                  <a:solidFill>
                    <a:srgbClr val="C00000"/>
                  </a:solidFill>
                  <a:latin typeface="微软雅黑" panose="020B0503020204020204" pitchFamily="34" charset="-122"/>
                  <a:ea typeface="微软雅黑" panose="020B0503020204020204" pitchFamily="34" charset="-122"/>
                </a:rPr>
                <a:t>数据分组，</a:t>
              </a:r>
              <a:r>
                <a:rPr lang="zh-CN" altLang="en-US" sz="1400" b="1" dirty="0">
                  <a:solidFill>
                    <a:schemeClr val="tx1"/>
                  </a:solidFill>
                  <a:latin typeface="微软雅黑" panose="020B0503020204020204" pitchFamily="34" charset="-122"/>
                  <a:ea typeface="微软雅黑" panose="020B0503020204020204" pitchFamily="34" charset="-122"/>
                </a:rPr>
                <a:t>按目的地址查找转发表，根据得出的结果，经</a:t>
              </a:r>
              <a:r>
                <a:rPr lang="zh-CN" altLang="en-US" sz="1400" b="1" dirty="0">
                  <a:solidFill>
                    <a:srgbClr val="C00000"/>
                  </a:solidFill>
                  <a:latin typeface="微软雅黑" panose="020B0503020204020204" pitchFamily="34" charset="-122"/>
                  <a:ea typeface="微软雅黑" panose="020B0503020204020204" pitchFamily="34" charset="-122"/>
                </a:rPr>
                <a:t>交换结构</a:t>
              </a:r>
              <a:r>
                <a:rPr lang="zh-CN" altLang="en-US" sz="1400" b="1" dirty="0">
                  <a:solidFill>
                    <a:schemeClr val="tx1"/>
                  </a:solidFill>
                  <a:latin typeface="微软雅黑" panose="020B0503020204020204" pitchFamily="34" charset="-122"/>
                  <a:ea typeface="微软雅黑" panose="020B0503020204020204" pitchFamily="34" charset="-122"/>
                </a:rPr>
                <a:t>到达合适的输出端口。若某分组正在查找转发表，该分组排队等待。</a:t>
              </a:r>
            </a:p>
          </p:txBody>
        </p:sp>
        <p:cxnSp>
          <p:nvCxnSpPr>
            <p:cNvPr id="45" name="直接箭头连接符 44"/>
            <p:cNvCxnSpPr>
              <a:endCxn id="34" idx="0"/>
            </p:cNvCxnSpPr>
            <p:nvPr/>
          </p:nvCxnSpPr>
          <p:spPr>
            <a:xfrm>
              <a:off x="6217570" y="3076509"/>
              <a:ext cx="493852" cy="569890"/>
            </a:xfrm>
            <a:prstGeom prst="straightConnector1">
              <a:avLst/>
            </a:prstGeom>
            <a:ln w="12700">
              <a:prstDash val="sysDot"/>
              <a:tailEnd type="triangle" w="med" len="lg"/>
            </a:ln>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284594865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wipe(up)">
                                      <p:cBhvr>
                                        <p:cTn id="7" dur="1000"/>
                                        <p:tgtEl>
                                          <p:spTgt spid="51"/>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52"/>
                                        </p:tgtEl>
                                        <p:attrNameLst>
                                          <p:attrName>style.visibility</p:attrName>
                                        </p:attrNameLst>
                                      </p:cBhvr>
                                      <p:to>
                                        <p:strVal val="visible"/>
                                      </p:to>
                                    </p:set>
                                    <p:animEffect transition="in" filter="wipe(up)">
                                      <p:cBhvr>
                                        <p:cTn id="12" dur="1000"/>
                                        <p:tgtEl>
                                          <p:spTgt spid="5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53"/>
                                        </p:tgtEl>
                                        <p:attrNameLst>
                                          <p:attrName>style.visibility</p:attrName>
                                        </p:attrNameLst>
                                      </p:cBhvr>
                                      <p:to>
                                        <p:strVal val="visible"/>
                                      </p:to>
                                    </p:set>
                                    <p:animEffect transition="in" filter="wipe(up)">
                                      <p:cBhvr>
                                        <p:cTn id="17" dur="1000"/>
                                        <p:tgtEl>
                                          <p:spTgt spid="5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54"/>
                                        </p:tgtEl>
                                        <p:attrNameLst>
                                          <p:attrName>style.visibility</p:attrName>
                                        </p:attrNameLst>
                                      </p:cBhvr>
                                      <p:to>
                                        <p:strVal val="visible"/>
                                      </p:to>
                                    </p:set>
                                    <p:animEffect transition="in" filter="wipe(up)">
                                      <p:cBhvr>
                                        <p:cTn id="22" dur="10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01435"/>
            <a:ext cx="8053711" cy="25360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45144" y="620859"/>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5" y="579675"/>
            <a:ext cx="5391219" cy="400110"/>
          </a:xfrm>
          <a:prstGeom prst="rect">
            <a:avLst/>
          </a:prstGeom>
        </p:spPr>
        <p:txBody>
          <a:bodyPr wrap="none">
            <a:spAutoFit/>
          </a:bodyPr>
          <a:lstStyle/>
          <a:p>
            <a:r>
              <a:rPr lang="zh-CN" altLang="en-US" sz="2000" b="1" dirty="0">
                <a:latin typeface="微软雅黑" pitchFamily="34" charset="-122"/>
                <a:ea typeface="微软雅黑" pitchFamily="34" charset="-122"/>
              </a:rPr>
              <a:t>输出端口将交换结构传送来的分组发送到线路 </a:t>
            </a:r>
          </a:p>
        </p:txBody>
      </p:sp>
      <p:sp>
        <p:nvSpPr>
          <p:cNvPr id="28" name="Rectangle 4"/>
          <p:cNvSpPr>
            <a:spLocks noChangeArrowheads="1"/>
          </p:cNvSpPr>
          <p:nvPr/>
        </p:nvSpPr>
        <p:spPr bwMode="auto">
          <a:xfrm>
            <a:off x="1981858" y="1356850"/>
            <a:ext cx="5227810" cy="1927518"/>
          </a:xfrm>
          <a:prstGeom prst="rect">
            <a:avLst/>
          </a:prstGeom>
          <a:solidFill>
            <a:srgbClr val="99FFCC"/>
          </a:solidFill>
          <a:ln w="12700">
            <a:headEnd/>
            <a:tailEnd/>
          </a:ln>
        </p:spPr>
        <p:style>
          <a:lnRef idx="2">
            <a:schemeClr val="dk1"/>
          </a:lnRef>
          <a:fillRef idx="1">
            <a:schemeClr val="lt1"/>
          </a:fillRef>
          <a:effectRef idx="0">
            <a:schemeClr val="dk1"/>
          </a:effectRef>
          <a:fontRef idx="minor">
            <a:schemeClr val="dk1"/>
          </a:fontRef>
        </p:style>
        <p:txBody>
          <a:bodyPr wrap="none" anchor="ctr"/>
          <a:lstStyle/>
          <a:p>
            <a:endParaRPr lang="zh-CN" altLang="en-US" sz="1400" b="1">
              <a:solidFill>
                <a:schemeClr val="dk1"/>
              </a:solidFill>
              <a:latin typeface="微软雅黑" pitchFamily="34" charset="-122"/>
              <a:ea typeface="微软雅黑" pitchFamily="34" charset="-122"/>
            </a:endParaRPr>
          </a:p>
        </p:txBody>
      </p:sp>
      <p:sp>
        <p:nvSpPr>
          <p:cNvPr id="29" name="Rectangle 5"/>
          <p:cNvSpPr>
            <a:spLocks noChangeArrowheads="1"/>
          </p:cNvSpPr>
          <p:nvPr/>
        </p:nvSpPr>
        <p:spPr bwMode="auto">
          <a:xfrm>
            <a:off x="5816744" y="2124647"/>
            <a:ext cx="1044072" cy="577568"/>
          </a:xfrm>
          <a:prstGeom prst="rect">
            <a:avLst/>
          </a:prstGeom>
          <a:solidFill>
            <a:srgbClr val="0000FF"/>
          </a:solidFill>
          <a:ln w="19050">
            <a:solidFill>
              <a:schemeClr val="tx1"/>
            </a:solidFill>
            <a:miter lim="800000"/>
            <a:headEnd/>
            <a:tailEnd/>
          </a:ln>
          <a:effectLst/>
        </p:spPr>
        <p:txBody>
          <a:bodyPr wrap="none" anchor="ctr"/>
          <a:lstStyle/>
          <a:p>
            <a:pPr algn="ctr"/>
            <a:r>
              <a:rPr kumimoji="1" lang="zh-CN" altLang="en-US" sz="1400" b="1">
                <a:solidFill>
                  <a:schemeClr val="bg1"/>
                </a:solidFill>
                <a:latin typeface="微软雅黑" pitchFamily="34" charset="-122"/>
                <a:ea typeface="微软雅黑" pitchFamily="34" charset="-122"/>
              </a:rPr>
              <a:t>物理层处理</a:t>
            </a:r>
          </a:p>
        </p:txBody>
      </p:sp>
      <p:sp>
        <p:nvSpPr>
          <p:cNvPr id="30" name="Rectangle 6"/>
          <p:cNvSpPr>
            <a:spLocks noChangeArrowheads="1"/>
          </p:cNvSpPr>
          <p:nvPr/>
        </p:nvSpPr>
        <p:spPr bwMode="auto">
          <a:xfrm>
            <a:off x="4331952" y="1934417"/>
            <a:ext cx="1044072" cy="960321"/>
          </a:xfrm>
          <a:prstGeom prst="rect">
            <a:avLst/>
          </a:prstGeom>
          <a:solidFill>
            <a:srgbClr val="0000FF"/>
          </a:solidFill>
          <a:ln w="19050">
            <a:solidFill>
              <a:schemeClr val="tx1"/>
            </a:solidFill>
            <a:miter lim="800000"/>
            <a:headEnd/>
            <a:tailEnd/>
          </a:ln>
          <a:effectLst/>
        </p:spPr>
        <p:txBody>
          <a:bodyPr wrap="none" anchor="ctr"/>
          <a:lstStyle/>
          <a:p>
            <a:pPr algn="ctr"/>
            <a:r>
              <a:rPr kumimoji="1" lang="zh-CN" altLang="en-US" sz="1400" b="1">
                <a:solidFill>
                  <a:schemeClr val="bg1"/>
                </a:solidFill>
                <a:latin typeface="微软雅黑" pitchFamily="34" charset="-122"/>
                <a:ea typeface="微软雅黑" pitchFamily="34" charset="-122"/>
              </a:rPr>
              <a:t>数据链路层</a:t>
            </a:r>
          </a:p>
          <a:p>
            <a:pPr algn="ctr"/>
            <a:r>
              <a:rPr kumimoji="1" lang="zh-CN" altLang="en-US" sz="1400" b="1">
                <a:solidFill>
                  <a:schemeClr val="bg1"/>
                </a:solidFill>
                <a:latin typeface="微软雅黑" pitchFamily="34" charset="-122"/>
                <a:ea typeface="微软雅黑" pitchFamily="34" charset="-122"/>
              </a:rPr>
              <a:t>处理</a:t>
            </a:r>
          </a:p>
        </p:txBody>
      </p:sp>
      <p:sp>
        <p:nvSpPr>
          <p:cNvPr id="31" name="Rectangle 7"/>
          <p:cNvSpPr>
            <a:spLocks noChangeArrowheads="1"/>
          </p:cNvSpPr>
          <p:nvPr/>
        </p:nvSpPr>
        <p:spPr bwMode="auto">
          <a:xfrm>
            <a:off x="2330710" y="1542497"/>
            <a:ext cx="1486033" cy="1492050"/>
          </a:xfrm>
          <a:prstGeom prst="rect">
            <a:avLst/>
          </a:prstGeom>
          <a:solidFill>
            <a:srgbClr val="0000FF"/>
          </a:solidFill>
          <a:ln w="19050">
            <a:solidFill>
              <a:schemeClr val="tx1"/>
            </a:solidFill>
            <a:miter lim="800000"/>
            <a:headEnd/>
            <a:tailEnd/>
          </a:ln>
          <a:effectLst/>
        </p:spPr>
        <p:txBody>
          <a:bodyPr wrap="none" anchor="ctr"/>
          <a:lstStyle/>
          <a:p>
            <a:pPr algn="ctr"/>
            <a:endParaRPr kumimoji="1" lang="zh-CN" altLang="en-US" sz="1400" b="1">
              <a:solidFill>
                <a:schemeClr val="bg1"/>
              </a:solidFill>
              <a:latin typeface="微软雅黑" pitchFamily="34" charset="-122"/>
              <a:ea typeface="微软雅黑" pitchFamily="34" charset="-122"/>
            </a:endParaRPr>
          </a:p>
        </p:txBody>
      </p:sp>
      <p:sp>
        <p:nvSpPr>
          <p:cNvPr id="32" name="Line 8"/>
          <p:cNvSpPr>
            <a:spLocks noChangeShapeType="1"/>
          </p:cNvSpPr>
          <p:nvPr/>
        </p:nvSpPr>
        <p:spPr bwMode="auto">
          <a:xfrm flipV="1">
            <a:off x="6857295" y="2414578"/>
            <a:ext cx="531347" cy="0"/>
          </a:xfrm>
          <a:prstGeom prst="line">
            <a:avLst/>
          </a:prstGeom>
          <a:noFill/>
          <a:ln w="38100">
            <a:solidFill>
              <a:srgbClr val="3399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3" name="Line 9"/>
          <p:cNvSpPr>
            <a:spLocks noChangeShapeType="1"/>
          </p:cNvSpPr>
          <p:nvPr/>
        </p:nvSpPr>
        <p:spPr bwMode="auto">
          <a:xfrm>
            <a:off x="5376024" y="2414578"/>
            <a:ext cx="440721" cy="0"/>
          </a:xfrm>
          <a:prstGeom prst="line">
            <a:avLst/>
          </a:prstGeom>
          <a:noFill/>
          <a:ln w="38100">
            <a:solidFill>
              <a:srgbClr val="3399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4" name="Line 10"/>
          <p:cNvSpPr>
            <a:spLocks noChangeShapeType="1"/>
          </p:cNvSpPr>
          <p:nvPr/>
        </p:nvSpPr>
        <p:spPr bwMode="auto">
          <a:xfrm>
            <a:off x="3809294" y="2414578"/>
            <a:ext cx="506518" cy="0"/>
          </a:xfrm>
          <a:prstGeom prst="line">
            <a:avLst/>
          </a:prstGeom>
          <a:noFill/>
          <a:ln w="38100">
            <a:solidFill>
              <a:srgbClr val="3399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5" name="Line 11"/>
          <p:cNvSpPr>
            <a:spLocks noChangeShapeType="1"/>
          </p:cNvSpPr>
          <p:nvPr/>
        </p:nvSpPr>
        <p:spPr bwMode="auto">
          <a:xfrm>
            <a:off x="1634247" y="2414578"/>
            <a:ext cx="696463" cy="0"/>
          </a:xfrm>
          <a:prstGeom prst="line">
            <a:avLst/>
          </a:prstGeom>
          <a:noFill/>
          <a:ln w="38100">
            <a:solidFill>
              <a:srgbClr val="3399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6" name="Line 12"/>
          <p:cNvSpPr>
            <a:spLocks noChangeShapeType="1"/>
          </p:cNvSpPr>
          <p:nvPr/>
        </p:nvSpPr>
        <p:spPr bwMode="auto">
          <a:xfrm>
            <a:off x="1634247" y="1233085"/>
            <a:ext cx="0" cy="2175047"/>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7" name="Freeform 13"/>
          <p:cNvSpPr>
            <a:spLocks/>
          </p:cNvSpPr>
          <p:nvPr/>
        </p:nvSpPr>
        <p:spPr bwMode="auto">
          <a:xfrm>
            <a:off x="2506998" y="2164757"/>
            <a:ext cx="1060211" cy="497350"/>
          </a:xfrm>
          <a:custGeom>
            <a:avLst/>
            <a:gdLst>
              <a:gd name="T0" fmla="*/ 0 w 816"/>
              <a:gd name="T1" fmla="*/ 0 h 336"/>
              <a:gd name="T2" fmla="*/ 816 w 816"/>
              <a:gd name="T3" fmla="*/ 0 h 336"/>
              <a:gd name="T4" fmla="*/ 816 w 816"/>
              <a:gd name="T5" fmla="*/ 336 h 336"/>
              <a:gd name="T6" fmla="*/ 0 w 816"/>
              <a:gd name="T7" fmla="*/ 336 h 336"/>
            </a:gdLst>
            <a:ahLst/>
            <a:cxnLst>
              <a:cxn ang="0">
                <a:pos x="T0" y="T1"/>
              </a:cxn>
              <a:cxn ang="0">
                <a:pos x="T2" y="T3"/>
              </a:cxn>
              <a:cxn ang="0">
                <a:pos x="T4" y="T5"/>
              </a:cxn>
              <a:cxn ang="0">
                <a:pos x="T6" y="T7"/>
              </a:cxn>
            </a:cxnLst>
            <a:rect l="0" t="0" r="r" b="b"/>
            <a:pathLst>
              <a:path w="816" h="336">
                <a:moveTo>
                  <a:pt x="0" y="0"/>
                </a:moveTo>
                <a:lnTo>
                  <a:pt x="816" y="0"/>
                </a:lnTo>
                <a:lnTo>
                  <a:pt x="816" y="336"/>
                </a:lnTo>
                <a:lnTo>
                  <a:pt x="0" y="336"/>
                </a:lnTo>
              </a:path>
            </a:pathLst>
          </a:custGeom>
          <a:noFill/>
          <a:ln w="28575" cmpd="sng">
            <a:solidFill>
              <a:srgbClr val="00FF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8" name="Line 14"/>
          <p:cNvSpPr>
            <a:spLocks noChangeShapeType="1"/>
          </p:cNvSpPr>
          <p:nvPr/>
        </p:nvSpPr>
        <p:spPr bwMode="auto">
          <a:xfrm>
            <a:off x="2824813" y="2164757"/>
            <a:ext cx="0" cy="497350"/>
          </a:xfrm>
          <a:prstGeom prst="line">
            <a:avLst/>
          </a:prstGeom>
          <a:noFill/>
          <a:ln w="28575">
            <a:solidFill>
              <a:srgbClr val="00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9" name="Line 15"/>
          <p:cNvSpPr>
            <a:spLocks noChangeShapeType="1"/>
          </p:cNvSpPr>
          <p:nvPr/>
        </p:nvSpPr>
        <p:spPr bwMode="auto">
          <a:xfrm>
            <a:off x="2948959" y="2164757"/>
            <a:ext cx="0" cy="497350"/>
          </a:xfrm>
          <a:prstGeom prst="line">
            <a:avLst/>
          </a:prstGeom>
          <a:noFill/>
          <a:ln w="28575">
            <a:solidFill>
              <a:srgbClr val="00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0" name="Line 16"/>
          <p:cNvSpPr>
            <a:spLocks noChangeShapeType="1"/>
          </p:cNvSpPr>
          <p:nvPr/>
        </p:nvSpPr>
        <p:spPr bwMode="auto">
          <a:xfrm>
            <a:off x="3074347" y="2164757"/>
            <a:ext cx="0" cy="497350"/>
          </a:xfrm>
          <a:prstGeom prst="line">
            <a:avLst/>
          </a:prstGeom>
          <a:noFill/>
          <a:ln w="28575">
            <a:solidFill>
              <a:srgbClr val="00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1" name="Line 17"/>
          <p:cNvSpPr>
            <a:spLocks noChangeShapeType="1"/>
          </p:cNvSpPr>
          <p:nvPr/>
        </p:nvSpPr>
        <p:spPr bwMode="auto">
          <a:xfrm>
            <a:off x="3199735" y="2164757"/>
            <a:ext cx="0" cy="497350"/>
          </a:xfrm>
          <a:prstGeom prst="line">
            <a:avLst/>
          </a:prstGeom>
          <a:noFill/>
          <a:ln w="28575">
            <a:solidFill>
              <a:srgbClr val="00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2" name="Line 18"/>
          <p:cNvSpPr>
            <a:spLocks noChangeShapeType="1"/>
          </p:cNvSpPr>
          <p:nvPr/>
        </p:nvSpPr>
        <p:spPr bwMode="auto">
          <a:xfrm>
            <a:off x="3322640" y="2164757"/>
            <a:ext cx="0" cy="497350"/>
          </a:xfrm>
          <a:prstGeom prst="line">
            <a:avLst/>
          </a:prstGeom>
          <a:noFill/>
          <a:ln w="28575">
            <a:solidFill>
              <a:srgbClr val="00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3" name="Line 19"/>
          <p:cNvSpPr>
            <a:spLocks noChangeShapeType="1"/>
          </p:cNvSpPr>
          <p:nvPr/>
        </p:nvSpPr>
        <p:spPr bwMode="auto">
          <a:xfrm>
            <a:off x="3448028" y="2164757"/>
            <a:ext cx="0" cy="497350"/>
          </a:xfrm>
          <a:prstGeom prst="line">
            <a:avLst/>
          </a:prstGeom>
          <a:noFill/>
          <a:ln w="28575">
            <a:solidFill>
              <a:srgbClr val="00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4" name="Text Box 20"/>
          <p:cNvSpPr txBox="1">
            <a:spLocks noChangeArrowheads="1"/>
          </p:cNvSpPr>
          <p:nvPr/>
        </p:nvSpPr>
        <p:spPr bwMode="auto">
          <a:xfrm>
            <a:off x="2499549" y="1625006"/>
            <a:ext cx="1082348" cy="501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5000"/>
              </a:lnSpc>
            </a:pPr>
            <a:r>
              <a:rPr kumimoji="1" lang="zh-CN" altLang="en-US" sz="1400" b="1" dirty="0">
                <a:solidFill>
                  <a:schemeClr val="bg1"/>
                </a:solidFill>
                <a:latin typeface="微软雅黑" pitchFamily="34" charset="-122"/>
                <a:ea typeface="微软雅黑" pitchFamily="34" charset="-122"/>
              </a:rPr>
              <a:t>网络层处理</a:t>
            </a:r>
          </a:p>
          <a:p>
            <a:pPr>
              <a:lnSpc>
                <a:spcPct val="95000"/>
              </a:lnSpc>
            </a:pPr>
            <a:r>
              <a:rPr kumimoji="1" lang="zh-CN" altLang="en-US" sz="1400" b="1" dirty="0">
                <a:solidFill>
                  <a:schemeClr val="bg1"/>
                </a:solidFill>
                <a:latin typeface="微软雅黑" pitchFamily="34" charset="-122"/>
                <a:ea typeface="微软雅黑" pitchFamily="34" charset="-122"/>
              </a:rPr>
              <a:t>  分组排队 </a:t>
            </a:r>
          </a:p>
        </p:txBody>
      </p:sp>
      <p:sp>
        <p:nvSpPr>
          <p:cNvPr id="45" name="Text Box 21"/>
          <p:cNvSpPr txBox="1">
            <a:spLocks noChangeArrowheads="1"/>
          </p:cNvSpPr>
          <p:nvPr/>
        </p:nvSpPr>
        <p:spPr bwMode="auto">
          <a:xfrm>
            <a:off x="3738531" y="1051086"/>
            <a:ext cx="15472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  </a:t>
            </a:r>
            <a:r>
              <a:rPr kumimoji="1" lang="zh-CN" altLang="en-US" sz="1400" b="1" dirty="0">
                <a:latin typeface="微软雅黑" pitchFamily="34" charset="-122"/>
                <a:ea typeface="微软雅黑" pitchFamily="34" charset="-122"/>
              </a:rPr>
              <a:t>输出端口的处理</a:t>
            </a:r>
          </a:p>
        </p:txBody>
      </p:sp>
      <p:sp>
        <p:nvSpPr>
          <p:cNvPr id="46" name="Text Box 22"/>
          <p:cNvSpPr txBox="1">
            <a:spLocks noChangeArrowheads="1"/>
          </p:cNvSpPr>
          <p:nvPr/>
        </p:nvSpPr>
        <p:spPr bwMode="auto">
          <a:xfrm>
            <a:off x="7371058" y="1681879"/>
            <a:ext cx="364202" cy="14496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1400" b="1" dirty="0">
                <a:latin typeface="微软雅黑" pitchFamily="34" charset="-122"/>
                <a:ea typeface="微软雅黑" pitchFamily="34" charset="-122"/>
              </a:rPr>
              <a:t>向</a:t>
            </a:r>
          </a:p>
          <a:p>
            <a:pPr>
              <a:lnSpc>
                <a:spcPct val="90000"/>
              </a:lnSpc>
            </a:pPr>
            <a:r>
              <a:rPr kumimoji="1" lang="zh-CN" altLang="en-US" sz="1400" b="1" dirty="0">
                <a:latin typeface="微软雅黑" pitchFamily="34" charset="-122"/>
                <a:ea typeface="微软雅黑" pitchFamily="34" charset="-122"/>
              </a:rPr>
              <a:t>线</a:t>
            </a:r>
          </a:p>
          <a:p>
            <a:pPr>
              <a:lnSpc>
                <a:spcPct val="90000"/>
              </a:lnSpc>
            </a:pPr>
            <a:r>
              <a:rPr kumimoji="1" lang="zh-CN" altLang="en-US" sz="1400" b="1" dirty="0">
                <a:latin typeface="微软雅黑" pitchFamily="34" charset="-122"/>
                <a:ea typeface="微软雅黑" pitchFamily="34" charset="-122"/>
              </a:rPr>
              <a:t>路</a:t>
            </a:r>
          </a:p>
          <a:p>
            <a:pPr>
              <a:lnSpc>
                <a:spcPct val="90000"/>
              </a:lnSpc>
            </a:pPr>
            <a:r>
              <a:rPr kumimoji="1" lang="zh-CN" altLang="en-US" sz="1400" b="1" dirty="0">
                <a:latin typeface="微软雅黑" pitchFamily="34" charset="-122"/>
                <a:ea typeface="微软雅黑" pitchFamily="34" charset="-122"/>
              </a:rPr>
              <a:t>发</a:t>
            </a:r>
          </a:p>
          <a:p>
            <a:pPr>
              <a:lnSpc>
                <a:spcPct val="90000"/>
              </a:lnSpc>
            </a:pPr>
            <a:r>
              <a:rPr kumimoji="1" lang="zh-CN" altLang="en-US" sz="1400" b="1" dirty="0">
                <a:latin typeface="微软雅黑" pitchFamily="34" charset="-122"/>
                <a:ea typeface="微软雅黑" pitchFamily="34" charset="-122"/>
              </a:rPr>
              <a:t>送</a:t>
            </a:r>
          </a:p>
          <a:p>
            <a:pPr>
              <a:lnSpc>
                <a:spcPct val="90000"/>
              </a:lnSpc>
            </a:pPr>
            <a:r>
              <a:rPr kumimoji="1" lang="zh-CN" altLang="en-US" sz="1400" b="1" dirty="0">
                <a:latin typeface="微软雅黑" pitchFamily="34" charset="-122"/>
                <a:ea typeface="微软雅黑" pitchFamily="34" charset="-122"/>
              </a:rPr>
              <a:t>分</a:t>
            </a:r>
          </a:p>
          <a:p>
            <a:pPr>
              <a:lnSpc>
                <a:spcPct val="90000"/>
              </a:lnSpc>
            </a:pPr>
            <a:r>
              <a:rPr kumimoji="1" lang="zh-CN" altLang="en-US" sz="1400" b="1" dirty="0">
                <a:latin typeface="微软雅黑" pitchFamily="34" charset="-122"/>
                <a:ea typeface="微软雅黑" pitchFamily="34" charset="-122"/>
              </a:rPr>
              <a:t>组</a:t>
            </a:r>
          </a:p>
        </p:txBody>
      </p:sp>
      <p:sp>
        <p:nvSpPr>
          <p:cNvPr id="47" name="Text Box 23"/>
          <p:cNvSpPr txBox="1">
            <a:spLocks noChangeArrowheads="1"/>
          </p:cNvSpPr>
          <p:nvPr/>
        </p:nvSpPr>
        <p:spPr bwMode="auto">
          <a:xfrm>
            <a:off x="2632385" y="265752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solidFill>
                  <a:schemeClr val="bg1"/>
                </a:solidFill>
                <a:latin typeface="微软雅黑" pitchFamily="34" charset="-122"/>
                <a:ea typeface="微软雅黑" pitchFamily="34" charset="-122"/>
              </a:rPr>
              <a:t>缓存管理</a:t>
            </a:r>
          </a:p>
        </p:txBody>
      </p:sp>
      <p:sp>
        <p:nvSpPr>
          <p:cNvPr id="48" name="Text Box 24"/>
          <p:cNvSpPr txBox="1">
            <a:spLocks noChangeArrowheads="1"/>
          </p:cNvSpPr>
          <p:nvPr/>
        </p:nvSpPr>
        <p:spPr bwMode="auto">
          <a:xfrm>
            <a:off x="1260566" y="1932978"/>
            <a:ext cx="364202" cy="9541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交</a:t>
            </a:r>
          </a:p>
          <a:p>
            <a:r>
              <a:rPr kumimoji="1" lang="zh-CN" altLang="en-US" sz="1400" b="1" dirty="0">
                <a:latin typeface="微软雅黑" pitchFamily="34" charset="-122"/>
                <a:ea typeface="微软雅黑" pitchFamily="34" charset="-122"/>
              </a:rPr>
              <a:t>换</a:t>
            </a:r>
          </a:p>
          <a:p>
            <a:r>
              <a:rPr kumimoji="1" lang="zh-CN" altLang="en-US" sz="1400" b="1" dirty="0">
                <a:latin typeface="微软雅黑" pitchFamily="34" charset="-122"/>
                <a:ea typeface="微软雅黑" pitchFamily="34" charset="-122"/>
              </a:rPr>
              <a:t>结</a:t>
            </a:r>
          </a:p>
          <a:p>
            <a:r>
              <a:rPr kumimoji="1" lang="zh-CN" altLang="en-US" sz="1400" b="1" dirty="0">
                <a:latin typeface="微软雅黑" pitchFamily="34" charset="-122"/>
                <a:ea typeface="微软雅黑" pitchFamily="34" charset="-122"/>
              </a:rPr>
              <a:t>构</a:t>
            </a:r>
          </a:p>
        </p:txBody>
      </p:sp>
      <p:grpSp>
        <p:nvGrpSpPr>
          <p:cNvPr id="26" name="组合 25"/>
          <p:cNvGrpSpPr/>
          <p:nvPr/>
        </p:nvGrpSpPr>
        <p:grpSpPr>
          <a:xfrm>
            <a:off x="6338780" y="2702215"/>
            <a:ext cx="1804986" cy="1515755"/>
            <a:chOff x="462266" y="2716057"/>
            <a:chExt cx="1804986" cy="1515755"/>
          </a:xfrm>
        </p:grpSpPr>
        <p:sp>
          <p:nvSpPr>
            <p:cNvPr id="27" name="矩形 26"/>
            <p:cNvSpPr/>
            <p:nvPr/>
          </p:nvSpPr>
          <p:spPr>
            <a:xfrm>
              <a:off x="1044314" y="3738352"/>
              <a:ext cx="1222938" cy="49346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ts val="2000"/>
                </a:lnSpc>
              </a:pPr>
              <a:r>
                <a:rPr lang="zh-CN" altLang="en-US" sz="1400" b="1" dirty="0">
                  <a:solidFill>
                    <a:schemeClr val="tx1"/>
                  </a:solidFill>
                  <a:latin typeface="微软雅黑" panose="020B0503020204020204" pitchFamily="34" charset="-122"/>
                  <a:ea typeface="微软雅黑" panose="020B0503020204020204" pitchFamily="34" charset="-122"/>
                </a:rPr>
                <a:t>发送到输出线路上。</a:t>
              </a:r>
            </a:p>
          </p:txBody>
        </p:sp>
        <p:cxnSp>
          <p:nvCxnSpPr>
            <p:cNvPr id="49" name="直接箭头连接符 48"/>
            <p:cNvCxnSpPr/>
            <p:nvPr/>
          </p:nvCxnSpPr>
          <p:spPr>
            <a:xfrm>
              <a:off x="462266" y="2716057"/>
              <a:ext cx="1023035" cy="1029138"/>
            </a:xfrm>
            <a:prstGeom prst="straightConnector1">
              <a:avLst/>
            </a:prstGeom>
            <a:ln w="12700">
              <a:prstDash val="sysDot"/>
              <a:tailEnd type="triangle" w="med" len="lg"/>
            </a:ln>
          </p:spPr>
          <p:style>
            <a:lnRef idx="1">
              <a:schemeClr val="dk1"/>
            </a:lnRef>
            <a:fillRef idx="0">
              <a:schemeClr val="dk1"/>
            </a:fillRef>
            <a:effectRef idx="0">
              <a:schemeClr val="dk1"/>
            </a:effectRef>
            <a:fontRef idx="minor">
              <a:schemeClr val="tx1"/>
            </a:fontRef>
          </p:style>
        </p:cxnSp>
      </p:grpSp>
      <p:grpSp>
        <p:nvGrpSpPr>
          <p:cNvPr id="50" name="组合 49"/>
          <p:cNvGrpSpPr/>
          <p:nvPr/>
        </p:nvGrpSpPr>
        <p:grpSpPr>
          <a:xfrm>
            <a:off x="5059184" y="2894738"/>
            <a:ext cx="1775713" cy="1340371"/>
            <a:chOff x="2400931" y="2894738"/>
            <a:chExt cx="1775713" cy="1340371"/>
          </a:xfrm>
        </p:grpSpPr>
        <p:sp>
          <p:nvSpPr>
            <p:cNvPr id="51" name="矩形 50"/>
            <p:cNvSpPr/>
            <p:nvPr/>
          </p:nvSpPr>
          <p:spPr>
            <a:xfrm>
              <a:off x="2400931" y="3741649"/>
              <a:ext cx="1775713" cy="49346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ts val="2000"/>
                </a:lnSpc>
              </a:pPr>
              <a:r>
                <a:rPr lang="zh-CN" altLang="en-US" sz="1400" b="1" dirty="0">
                  <a:solidFill>
                    <a:schemeClr val="tx1"/>
                  </a:solidFill>
                  <a:latin typeface="微软雅黑" panose="020B0503020204020204" pitchFamily="34" charset="-122"/>
                  <a:ea typeface="微软雅黑" panose="020B0503020204020204" pitchFamily="34" charset="-122"/>
                </a:rPr>
                <a:t>给分组加上链路层的首部和尾部。</a:t>
              </a:r>
            </a:p>
          </p:txBody>
        </p:sp>
        <p:cxnSp>
          <p:nvCxnSpPr>
            <p:cNvPr id="52" name="直接箭头连接符 51"/>
            <p:cNvCxnSpPr>
              <a:endCxn id="51" idx="0"/>
            </p:cNvCxnSpPr>
            <p:nvPr/>
          </p:nvCxnSpPr>
          <p:spPr>
            <a:xfrm>
              <a:off x="2520217" y="2894738"/>
              <a:ext cx="768571" cy="846911"/>
            </a:xfrm>
            <a:prstGeom prst="straightConnector1">
              <a:avLst/>
            </a:prstGeom>
            <a:ln w="12700">
              <a:prstDash val="sysDot"/>
              <a:tailEnd type="triangle" w="med" len="lg"/>
            </a:ln>
          </p:spPr>
          <p:style>
            <a:lnRef idx="1">
              <a:schemeClr val="dk1"/>
            </a:lnRef>
            <a:fillRef idx="0">
              <a:schemeClr val="dk1"/>
            </a:fillRef>
            <a:effectRef idx="0">
              <a:schemeClr val="dk1"/>
            </a:effectRef>
            <a:fontRef idx="minor">
              <a:schemeClr val="tx1"/>
            </a:fontRef>
          </p:style>
        </p:cxnSp>
      </p:grpSp>
      <p:grpSp>
        <p:nvGrpSpPr>
          <p:cNvPr id="53" name="组合 52"/>
          <p:cNvGrpSpPr/>
          <p:nvPr/>
        </p:nvGrpSpPr>
        <p:grpSpPr>
          <a:xfrm>
            <a:off x="1260566" y="3034547"/>
            <a:ext cx="3789375" cy="1662964"/>
            <a:chOff x="3288556" y="3034547"/>
            <a:chExt cx="3789375" cy="1662964"/>
          </a:xfrm>
        </p:grpSpPr>
        <p:sp>
          <p:nvSpPr>
            <p:cNvPr id="54" name="矩形 53"/>
            <p:cNvSpPr/>
            <p:nvPr/>
          </p:nvSpPr>
          <p:spPr>
            <a:xfrm>
              <a:off x="3288556" y="3600219"/>
              <a:ext cx="3789375" cy="1097292"/>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000"/>
                </a:lnSpc>
              </a:pPr>
              <a:r>
                <a:rPr lang="zh-CN" altLang="en-US" sz="1400" b="1" dirty="0">
                  <a:solidFill>
                    <a:schemeClr val="tx1"/>
                  </a:solidFill>
                  <a:latin typeface="微软雅黑" panose="020B0503020204020204" pitchFamily="34" charset="-122"/>
                  <a:ea typeface="微软雅黑" panose="020B0503020204020204" pitchFamily="34" charset="-122"/>
                </a:rPr>
                <a:t>从交换结构接收分组。当交换结构传送的分组的速率</a:t>
              </a:r>
              <a:r>
                <a:rPr lang="zh-CN" altLang="en-US" sz="1400" b="1" dirty="0">
                  <a:solidFill>
                    <a:srgbClr val="0000FF"/>
                  </a:solidFill>
                  <a:latin typeface="微软雅黑" panose="020B0503020204020204" pitchFamily="34" charset="-122"/>
                  <a:ea typeface="微软雅黑" panose="020B0503020204020204" pitchFamily="34" charset="-122"/>
                </a:rPr>
                <a:t>超过</a:t>
              </a:r>
              <a:r>
                <a:rPr lang="zh-CN" altLang="en-US" sz="1400" b="1" dirty="0">
                  <a:solidFill>
                    <a:schemeClr val="tx1"/>
                  </a:solidFill>
                  <a:latin typeface="微软雅黑" panose="020B0503020204020204" pitchFamily="34" charset="-122"/>
                  <a:ea typeface="微软雅黑" panose="020B0503020204020204" pitchFamily="34" charset="-122"/>
                </a:rPr>
                <a:t>输出链路的发送速率时，来不及发送的分组就必须</a:t>
              </a:r>
              <a:r>
                <a:rPr lang="zh-CN" altLang="en-US" sz="1400" b="1" dirty="0">
                  <a:solidFill>
                    <a:srgbClr val="C00000"/>
                  </a:solidFill>
                  <a:latin typeface="微软雅黑" panose="020B0503020204020204" pitchFamily="34" charset="-122"/>
                  <a:ea typeface="微软雅黑" panose="020B0503020204020204" pitchFamily="34" charset="-122"/>
                </a:rPr>
                <a:t>缓存</a:t>
              </a:r>
              <a:r>
                <a:rPr lang="zh-CN" altLang="en-US" sz="1400" b="1" dirty="0">
                  <a:solidFill>
                    <a:schemeClr val="tx1"/>
                  </a:solidFill>
                  <a:latin typeface="微软雅黑" panose="020B0503020204020204" pitchFamily="34" charset="-122"/>
                  <a:ea typeface="微软雅黑" panose="020B0503020204020204" pitchFamily="34" charset="-122"/>
                </a:rPr>
                <a:t>在队列中。若分组处理的速率</a:t>
              </a:r>
              <a:r>
                <a:rPr lang="zh-CN" altLang="en-US" sz="1400" b="1" dirty="0">
                  <a:solidFill>
                    <a:srgbClr val="0000FF"/>
                  </a:solidFill>
                  <a:latin typeface="微软雅黑" panose="020B0503020204020204" pitchFamily="34" charset="-122"/>
                  <a:ea typeface="微软雅黑" panose="020B0503020204020204" pitchFamily="34" charset="-122"/>
                </a:rPr>
                <a:t>赶不上</a:t>
              </a:r>
              <a:r>
                <a:rPr lang="zh-CN" altLang="en-US" sz="1400" b="1" dirty="0">
                  <a:solidFill>
                    <a:schemeClr val="tx1"/>
                  </a:solidFill>
                  <a:latin typeface="微软雅黑" panose="020B0503020204020204" pitchFamily="34" charset="-122"/>
                  <a:ea typeface="微软雅黑" panose="020B0503020204020204" pitchFamily="34" charset="-122"/>
                </a:rPr>
                <a:t>分组进入队列的速率，队列满时，</a:t>
              </a:r>
              <a:r>
                <a:rPr lang="zh-CN" altLang="en-US" sz="1400" b="1" dirty="0">
                  <a:solidFill>
                    <a:srgbClr val="C00000"/>
                  </a:solidFill>
                  <a:latin typeface="微软雅黑" panose="020B0503020204020204" pitchFamily="34" charset="-122"/>
                  <a:ea typeface="微软雅黑" panose="020B0503020204020204" pitchFamily="34" charset="-122"/>
                </a:rPr>
                <a:t>丢弃</a:t>
              </a:r>
              <a:r>
                <a:rPr lang="zh-CN" altLang="en-US" sz="1400" b="1" dirty="0">
                  <a:solidFill>
                    <a:schemeClr val="tx1"/>
                  </a:solidFill>
                  <a:latin typeface="微软雅黑" panose="020B0503020204020204" pitchFamily="34" charset="-122"/>
                  <a:ea typeface="微软雅黑" panose="020B0503020204020204" pitchFamily="34" charset="-122"/>
                </a:rPr>
                <a:t>后面进入的分组。</a:t>
              </a:r>
              <a:endParaRPr lang="en-US" altLang="zh-CN" sz="1400" b="1" dirty="0">
                <a:solidFill>
                  <a:schemeClr val="tx1"/>
                </a:solidFill>
                <a:latin typeface="微软雅黑" panose="020B0503020204020204" pitchFamily="34" charset="-122"/>
                <a:ea typeface="微软雅黑" panose="020B0503020204020204" pitchFamily="34" charset="-122"/>
              </a:endParaRPr>
            </a:p>
          </p:txBody>
        </p:sp>
        <p:cxnSp>
          <p:nvCxnSpPr>
            <p:cNvPr id="55" name="直接箭头连接符 54"/>
            <p:cNvCxnSpPr>
              <a:endCxn id="54" idx="0"/>
            </p:cNvCxnSpPr>
            <p:nvPr/>
          </p:nvCxnSpPr>
          <p:spPr>
            <a:xfrm>
              <a:off x="4866953" y="3034547"/>
              <a:ext cx="316291" cy="565672"/>
            </a:xfrm>
            <a:prstGeom prst="straightConnector1">
              <a:avLst/>
            </a:prstGeom>
            <a:ln w="12700">
              <a:prstDash val="sysDot"/>
              <a:tailEnd type="triangle" w="med" len="lg"/>
            </a:ln>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164638085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wipe(up)">
                                      <p:cBhvr>
                                        <p:cTn id="7" dur="1000"/>
                                        <p:tgtEl>
                                          <p:spTgt spid="2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50"/>
                                        </p:tgtEl>
                                        <p:attrNameLst>
                                          <p:attrName>style.visibility</p:attrName>
                                        </p:attrNameLst>
                                      </p:cBhvr>
                                      <p:to>
                                        <p:strVal val="visible"/>
                                      </p:to>
                                    </p:set>
                                    <p:animEffect transition="in" filter="wipe(up)">
                                      <p:cBhvr>
                                        <p:cTn id="12" dur="1000"/>
                                        <p:tgtEl>
                                          <p:spTgt spid="5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53"/>
                                        </p:tgtEl>
                                        <p:attrNameLst>
                                          <p:attrName>style.visibility</p:attrName>
                                        </p:attrNameLst>
                                      </p:cBhvr>
                                      <p:to>
                                        <p:strVal val="visible"/>
                                      </p:to>
                                    </p:set>
                                    <p:animEffect transition="in" filter="wipe(up)">
                                      <p:cBhvr>
                                        <p:cTn id="17" dur="10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4" y="967933"/>
            <a:ext cx="8053711" cy="4226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常用交换方法有三种：通过存储器、通过总线、通过纵横交换结构。</a:t>
            </a:r>
          </a:p>
        </p:txBody>
      </p:sp>
      <p:sp>
        <p:nvSpPr>
          <p:cNvPr id="3" name="AutoShape 5"/>
          <p:cNvSpPr>
            <a:spLocks noChangeArrowheads="1"/>
          </p:cNvSpPr>
          <p:nvPr/>
        </p:nvSpPr>
        <p:spPr bwMode="auto">
          <a:xfrm>
            <a:off x="545144" y="631279"/>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98068"/>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交换结构</a:t>
            </a:r>
          </a:p>
        </p:txBody>
      </p:sp>
      <p:sp>
        <p:nvSpPr>
          <p:cNvPr id="5" name="圆角矩形 4"/>
          <p:cNvSpPr/>
          <p:nvPr/>
        </p:nvSpPr>
        <p:spPr>
          <a:xfrm>
            <a:off x="545144" y="1383481"/>
            <a:ext cx="7684456" cy="321859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 name="Rectangle 3"/>
          <p:cNvSpPr>
            <a:spLocks noChangeArrowheads="1"/>
          </p:cNvSpPr>
          <p:nvPr/>
        </p:nvSpPr>
        <p:spPr bwMode="auto">
          <a:xfrm>
            <a:off x="1408148" y="1700147"/>
            <a:ext cx="183088"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 name="Rectangle 4"/>
          <p:cNvSpPr>
            <a:spLocks noChangeArrowheads="1"/>
          </p:cNvSpPr>
          <p:nvPr/>
        </p:nvSpPr>
        <p:spPr bwMode="auto">
          <a:xfrm>
            <a:off x="1712955" y="1671822"/>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 name="Rectangle 5"/>
          <p:cNvSpPr>
            <a:spLocks noChangeArrowheads="1"/>
          </p:cNvSpPr>
          <p:nvPr/>
        </p:nvSpPr>
        <p:spPr bwMode="auto">
          <a:xfrm>
            <a:off x="2019808" y="1658603"/>
            <a:ext cx="183088"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9" name="Line 6"/>
          <p:cNvSpPr>
            <a:spLocks noChangeShapeType="1"/>
          </p:cNvSpPr>
          <p:nvPr/>
        </p:nvSpPr>
        <p:spPr bwMode="auto">
          <a:xfrm flipV="1">
            <a:off x="1284384" y="1743577"/>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0" name="Line 7"/>
          <p:cNvSpPr>
            <a:spLocks noChangeShapeType="1"/>
          </p:cNvSpPr>
          <p:nvPr/>
        </p:nvSpPr>
        <p:spPr bwMode="auto">
          <a:xfrm>
            <a:off x="1591237" y="1743577"/>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 name="Line 8"/>
          <p:cNvSpPr>
            <a:spLocks noChangeShapeType="1"/>
          </p:cNvSpPr>
          <p:nvPr/>
        </p:nvSpPr>
        <p:spPr bwMode="auto">
          <a:xfrm>
            <a:off x="1897066" y="1743577"/>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 name="Line 9"/>
          <p:cNvSpPr>
            <a:spLocks noChangeShapeType="1"/>
          </p:cNvSpPr>
          <p:nvPr/>
        </p:nvSpPr>
        <p:spPr bwMode="auto">
          <a:xfrm>
            <a:off x="2202896" y="1743577"/>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3" name="Rectangle 10"/>
          <p:cNvSpPr>
            <a:spLocks noChangeArrowheads="1"/>
          </p:cNvSpPr>
          <p:nvPr/>
        </p:nvSpPr>
        <p:spPr bwMode="auto">
          <a:xfrm>
            <a:off x="1408148" y="2395050"/>
            <a:ext cx="183088"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4" name="Rectangle 11"/>
          <p:cNvSpPr>
            <a:spLocks noChangeArrowheads="1"/>
          </p:cNvSpPr>
          <p:nvPr/>
        </p:nvSpPr>
        <p:spPr bwMode="auto">
          <a:xfrm>
            <a:off x="1712955" y="2366725"/>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5" name="Rectangle 12"/>
          <p:cNvSpPr>
            <a:spLocks noChangeArrowheads="1"/>
          </p:cNvSpPr>
          <p:nvPr/>
        </p:nvSpPr>
        <p:spPr bwMode="auto">
          <a:xfrm>
            <a:off x="2019808" y="2351618"/>
            <a:ext cx="183088" cy="170894"/>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 name="Line 13"/>
          <p:cNvSpPr>
            <a:spLocks noChangeShapeType="1"/>
          </p:cNvSpPr>
          <p:nvPr/>
        </p:nvSpPr>
        <p:spPr bwMode="auto">
          <a:xfrm flipV="1">
            <a:off x="1284384" y="2437537"/>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7" name="Line 14"/>
          <p:cNvSpPr>
            <a:spLocks noChangeShapeType="1"/>
          </p:cNvSpPr>
          <p:nvPr/>
        </p:nvSpPr>
        <p:spPr bwMode="auto">
          <a:xfrm>
            <a:off x="1591237" y="2437537"/>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8" name="Line 15"/>
          <p:cNvSpPr>
            <a:spLocks noChangeShapeType="1"/>
          </p:cNvSpPr>
          <p:nvPr/>
        </p:nvSpPr>
        <p:spPr bwMode="auto">
          <a:xfrm>
            <a:off x="1897066" y="2437537"/>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9" name="Line 16"/>
          <p:cNvSpPr>
            <a:spLocks noChangeShapeType="1"/>
          </p:cNvSpPr>
          <p:nvPr/>
        </p:nvSpPr>
        <p:spPr bwMode="auto">
          <a:xfrm>
            <a:off x="2202896" y="2437537"/>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0" name="Rectangle 17"/>
          <p:cNvSpPr>
            <a:spLocks noChangeArrowheads="1"/>
          </p:cNvSpPr>
          <p:nvPr/>
        </p:nvSpPr>
        <p:spPr bwMode="auto">
          <a:xfrm>
            <a:off x="2325637" y="1572684"/>
            <a:ext cx="442891" cy="1021583"/>
          </a:xfrm>
          <a:prstGeom prst="rect">
            <a:avLst/>
          </a:prstGeom>
          <a:solidFill>
            <a:srgbClr val="0000FF"/>
          </a:solidFill>
          <a:ln w="28575">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1" name="Rectangle 18"/>
          <p:cNvSpPr>
            <a:spLocks noChangeArrowheads="1"/>
          </p:cNvSpPr>
          <p:nvPr/>
        </p:nvSpPr>
        <p:spPr bwMode="auto">
          <a:xfrm flipH="1">
            <a:off x="3501907" y="1700147"/>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2" name="Rectangle 19"/>
          <p:cNvSpPr>
            <a:spLocks noChangeArrowheads="1"/>
          </p:cNvSpPr>
          <p:nvPr/>
        </p:nvSpPr>
        <p:spPr bwMode="auto">
          <a:xfrm flipH="1">
            <a:off x="3197099" y="1671822"/>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3" name="Rectangle 20"/>
          <p:cNvSpPr>
            <a:spLocks noChangeArrowheads="1"/>
          </p:cNvSpPr>
          <p:nvPr/>
        </p:nvSpPr>
        <p:spPr bwMode="auto">
          <a:xfrm flipH="1">
            <a:off x="2889223" y="1658603"/>
            <a:ext cx="184112"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4" name="Line 21"/>
          <p:cNvSpPr>
            <a:spLocks noChangeShapeType="1"/>
          </p:cNvSpPr>
          <p:nvPr/>
        </p:nvSpPr>
        <p:spPr bwMode="auto">
          <a:xfrm flipV="1">
            <a:off x="3681926" y="1743577"/>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5" name="Line 22"/>
          <p:cNvSpPr>
            <a:spLocks noChangeShapeType="1"/>
          </p:cNvSpPr>
          <p:nvPr/>
        </p:nvSpPr>
        <p:spPr bwMode="auto">
          <a:xfrm rot="10800000" flipH="1">
            <a:off x="3380188" y="1743577"/>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6" name="Line 23"/>
          <p:cNvSpPr>
            <a:spLocks noChangeShapeType="1"/>
          </p:cNvSpPr>
          <p:nvPr/>
        </p:nvSpPr>
        <p:spPr bwMode="auto">
          <a:xfrm>
            <a:off x="3073336" y="1743577"/>
            <a:ext cx="12376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7" name="Line 24"/>
          <p:cNvSpPr>
            <a:spLocks noChangeShapeType="1"/>
          </p:cNvSpPr>
          <p:nvPr/>
        </p:nvSpPr>
        <p:spPr bwMode="auto">
          <a:xfrm>
            <a:off x="2768529" y="1743577"/>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8" name="Rectangle 25"/>
          <p:cNvSpPr>
            <a:spLocks noChangeArrowheads="1"/>
          </p:cNvSpPr>
          <p:nvPr/>
        </p:nvSpPr>
        <p:spPr bwMode="auto">
          <a:xfrm flipH="1">
            <a:off x="3501907" y="2395050"/>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9" name="Rectangle 26"/>
          <p:cNvSpPr>
            <a:spLocks noChangeArrowheads="1"/>
          </p:cNvSpPr>
          <p:nvPr/>
        </p:nvSpPr>
        <p:spPr bwMode="auto">
          <a:xfrm flipH="1">
            <a:off x="3197099" y="2366725"/>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0" name="Rectangle 27"/>
          <p:cNvSpPr>
            <a:spLocks noChangeArrowheads="1"/>
          </p:cNvSpPr>
          <p:nvPr/>
        </p:nvSpPr>
        <p:spPr bwMode="auto">
          <a:xfrm flipH="1">
            <a:off x="2889223" y="2351618"/>
            <a:ext cx="184112" cy="170894"/>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1" name="Line 28"/>
          <p:cNvSpPr>
            <a:spLocks noChangeShapeType="1"/>
          </p:cNvSpPr>
          <p:nvPr/>
        </p:nvSpPr>
        <p:spPr bwMode="auto">
          <a:xfrm flipV="1">
            <a:off x="3681926" y="2437537"/>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2" name="Line 29"/>
          <p:cNvSpPr>
            <a:spLocks noChangeShapeType="1"/>
          </p:cNvSpPr>
          <p:nvPr/>
        </p:nvSpPr>
        <p:spPr bwMode="auto">
          <a:xfrm>
            <a:off x="3380188" y="2437537"/>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3" name="Line 30"/>
          <p:cNvSpPr>
            <a:spLocks noChangeShapeType="1"/>
          </p:cNvSpPr>
          <p:nvPr/>
        </p:nvSpPr>
        <p:spPr bwMode="auto">
          <a:xfrm>
            <a:off x="3073336" y="2437537"/>
            <a:ext cx="12376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4" name="Line 31"/>
          <p:cNvSpPr>
            <a:spLocks noChangeShapeType="1"/>
          </p:cNvSpPr>
          <p:nvPr/>
        </p:nvSpPr>
        <p:spPr bwMode="auto">
          <a:xfrm>
            <a:off x="2768529" y="2437537"/>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5" name="Rectangle 32"/>
          <p:cNvSpPr>
            <a:spLocks noChangeArrowheads="1"/>
          </p:cNvSpPr>
          <p:nvPr/>
        </p:nvSpPr>
        <p:spPr bwMode="auto">
          <a:xfrm>
            <a:off x="1408148" y="2040045"/>
            <a:ext cx="183088" cy="8591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6" name="Rectangle 33"/>
          <p:cNvSpPr>
            <a:spLocks noChangeArrowheads="1"/>
          </p:cNvSpPr>
          <p:nvPr/>
        </p:nvSpPr>
        <p:spPr bwMode="auto">
          <a:xfrm>
            <a:off x="1712955" y="2011720"/>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7" name="Rectangle 34"/>
          <p:cNvSpPr>
            <a:spLocks noChangeArrowheads="1"/>
          </p:cNvSpPr>
          <p:nvPr/>
        </p:nvSpPr>
        <p:spPr bwMode="auto">
          <a:xfrm>
            <a:off x="2019808" y="1998501"/>
            <a:ext cx="183088"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8" name="Line 35"/>
          <p:cNvSpPr>
            <a:spLocks noChangeShapeType="1"/>
          </p:cNvSpPr>
          <p:nvPr/>
        </p:nvSpPr>
        <p:spPr bwMode="auto">
          <a:xfrm flipV="1">
            <a:off x="1284384" y="2083476"/>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9" name="Line 36"/>
          <p:cNvSpPr>
            <a:spLocks noChangeShapeType="1"/>
          </p:cNvSpPr>
          <p:nvPr/>
        </p:nvSpPr>
        <p:spPr bwMode="auto">
          <a:xfrm>
            <a:off x="1591237" y="2083476"/>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0" name="Line 37"/>
          <p:cNvSpPr>
            <a:spLocks noChangeShapeType="1"/>
          </p:cNvSpPr>
          <p:nvPr/>
        </p:nvSpPr>
        <p:spPr bwMode="auto">
          <a:xfrm>
            <a:off x="1897066" y="2083476"/>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1" name="Line 38"/>
          <p:cNvSpPr>
            <a:spLocks noChangeShapeType="1"/>
          </p:cNvSpPr>
          <p:nvPr/>
        </p:nvSpPr>
        <p:spPr bwMode="auto">
          <a:xfrm>
            <a:off x="2202896" y="2083476"/>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2" name="Rectangle 39"/>
          <p:cNvSpPr>
            <a:spLocks noChangeArrowheads="1"/>
          </p:cNvSpPr>
          <p:nvPr/>
        </p:nvSpPr>
        <p:spPr bwMode="auto">
          <a:xfrm flipH="1">
            <a:off x="3501907" y="2040045"/>
            <a:ext cx="183089" cy="8591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3" name="Rectangle 40"/>
          <p:cNvSpPr>
            <a:spLocks noChangeArrowheads="1"/>
          </p:cNvSpPr>
          <p:nvPr/>
        </p:nvSpPr>
        <p:spPr bwMode="auto">
          <a:xfrm flipH="1">
            <a:off x="3197099" y="2011720"/>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4" name="Rectangle 41"/>
          <p:cNvSpPr>
            <a:spLocks noChangeArrowheads="1"/>
          </p:cNvSpPr>
          <p:nvPr/>
        </p:nvSpPr>
        <p:spPr bwMode="auto">
          <a:xfrm flipH="1">
            <a:off x="2889223" y="1998501"/>
            <a:ext cx="184112"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5" name="Line 42"/>
          <p:cNvSpPr>
            <a:spLocks noChangeShapeType="1"/>
          </p:cNvSpPr>
          <p:nvPr/>
        </p:nvSpPr>
        <p:spPr bwMode="auto">
          <a:xfrm flipV="1">
            <a:off x="3681926" y="2083476"/>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6" name="Line 43"/>
          <p:cNvSpPr>
            <a:spLocks noChangeShapeType="1"/>
          </p:cNvSpPr>
          <p:nvPr/>
        </p:nvSpPr>
        <p:spPr bwMode="auto">
          <a:xfrm rot="10800000" flipH="1">
            <a:off x="3380188" y="2083476"/>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7" name="Line 44"/>
          <p:cNvSpPr>
            <a:spLocks noChangeShapeType="1"/>
          </p:cNvSpPr>
          <p:nvPr/>
        </p:nvSpPr>
        <p:spPr bwMode="auto">
          <a:xfrm>
            <a:off x="3073336" y="2083476"/>
            <a:ext cx="12376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8" name="Line 45"/>
          <p:cNvSpPr>
            <a:spLocks noChangeShapeType="1"/>
          </p:cNvSpPr>
          <p:nvPr/>
        </p:nvSpPr>
        <p:spPr bwMode="auto">
          <a:xfrm>
            <a:off x="2768529" y="2083476"/>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9" name="Text Box 46"/>
          <p:cNvSpPr txBox="1">
            <a:spLocks noChangeArrowheads="1"/>
          </p:cNvSpPr>
          <p:nvPr/>
        </p:nvSpPr>
        <p:spPr bwMode="auto">
          <a:xfrm>
            <a:off x="1147416" y="1415266"/>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itchFamily="34" charset="-122"/>
                <a:ea typeface="微软雅黑" pitchFamily="34" charset="-122"/>
              </a:rPr>
              <a:t>I</a:t>
            </a:r>
            <a:r>
              <a:rPr kumimoji="1" lang="en-US" altLang="zh-CN" sz="1400" b="1" baseline="-25000" dirty="0">
                <a:solidFill>
                  <a:srgbClr val="0000CC"/>
                </a:solidFill>
                <a:latin typeface="微软雅黑" pitchFamily="34" charset="-122"/>
                <a:ea typeface="微软雅黑" pitchFamily="34" charset="-122"/>
              </a:rPr>
              <a:t>1</a:t>
            </a:r>
          </a:p>
        </p:txBody>
      </p:sp>
      <p:sp>
        <p:nvSpPr>
          <p:cNvPr id="50" name="Text Box 47"/>
          <p:cNvSpPr txBox="1">
            <a:spLocks noChangeArrowheads="1"/>
          </p:cNvSpPr>
          <p:nvPr/>
        </p:nvSpPr>
        <p:spPr bwMode="auto">
          <a:xfrm>
            <a:off x="1146392" y="2104504"/>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3</a:t>
            </a:r>
          </a:p>
        </p:txBody>
      </p:sp>
      <p:sp>
        <p:nvSpPr>
          <p:cNvPr id="51" name="Text Box 48"/>
          <p:cNvSpPr txBox="1">
            <a:spLocks noChangeArrowheads="1"/>
          </p:cNvSpPr>
          <p:nvPr/>
        </p:nvSpPr>
        <p:spPr bwMode="auto">
          <a:xfrm>
            <a:off x="1146392" y="1745723"/>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2</a:t>
            </a:r>
          </a:p>
        </p:txBody>
      </p:sp>
      <p:sp>
        <p:nvSpPr>
          <p:cNvPr id="52" name="Text Box 49"/>
          <p:cNvSpPr txBox="1">
            <a:spLocks noChangeArrowheads="1"/>
          </p:cNvSpPr>
          <p:nvPr/>
        </p:nvSpPr>
        <p:spPr bwMode="auto">
          <a:xfrm>
            <a:off x="3700958" y="1474739"/>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itchFamily="34" charset="-122"/>
                <a:ea typeface="微软雅黑" pitchFamily="34" charset="-122"/>
              </a:rPr>
              <a:t>O</a:t>
            </a:r>
            <a:r>
              <a:rPr kumimoji="1" lang="en-US" altLang="zh-CN" sz="1400" b="1" baseline="-25000" dirty="0">
                <a:solidFill>
                  <a:srgbClr val="0000CC"/>
                </a:solidFill>
                <a:latin typeface="微软雅黑" pitchFamily="34" charset="-122"/>
                <a:ea typeface="微软雅黑" pitchFamily="34" charset="-122"/>
              </a:rPr>
              <a:t>1</a:t>
            </a:r>
          </a:p>
        </p:txBody>
      </p:sp>
      <p:sp>
        <p:nvSpPr>
          <p:cNvPr id="53" name="Text Box 50"/>
          <p:cNvSpPr txBox="1">
            <a:spLocks noChangeArrowheads="1"/>
          </p:cNvSpPr>
          <p:nvPr/>
        </p:nvSpPr>
        <p:spPr bwMode="auto">
          <a:xfrm>
            <a:off x="3700958" y="1834465"/>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2</a:t>
            </a:r>
          </a:p>
        </p:txBody>
      </p:sp>
      <p:sp>
        <p:nvSpPr>
          <p:cNvPr id="54" name="Text Box 52"/>
          <p:cNvSpPr txBox="1">
            <a:spLocks noChangeArrowheads="1"/>
          </p:cNvSpPr>
          <p:nvPr/>
        </p:nvSpPr>
        <p:spPr bwMode="auto">
          <a:xfrm>
            <a:off x="2367355" y="1715519"/>
            <a:ext cx="364202"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chemeClr val="bg1"/>
                </a:solidFill>
                <a:latin typeface="微软雅黑" pitchFamily="34" charset="-122"/>
                <a:ea typeface="微软雅黑" pitchFamily="34" charset="-122"/>
              </a:rPr>
              <a:t>存</a:t>
            </a:r>
          </a:p>
          <a:p>
            <a:r>
              <a:rPr kumimoji="1" lang="zh-CN" altLang="en-US" sz="1400" b="1" dirty="0">
                <a:solidFill>
                  <a:schemeClr val="bg1"/>
                </a:solidFill>
                <a:latin typeface="微软雅黑" pitchFamily="34" charset="-122"/>
                <a:ea typeface="微软雅黑" pitchFamily="34" charset="-122"/>
              </a:rPr>
              <a:t>储</a:t>
            </a:r>
          </a:p>
          <a:p>
            <a:r>
              <a:rPr kumimoji="1" lang="zh-CN" altLang="en-US" sz="1400" b="1" dirty="0">
                <a:solidFill>
                  <a:schemeClr val="bg1"/>
                </a:solidFill>
                <a:latin typeface="微软雅黑" pitchFamily="34" charset="-122"/>
                <a:ea typeface="微软雅黑" pitchFamily="34" charset="-122"/>
              </a:rPr>
              <a:t>器</a:t>
            </a:r>
          </a:p>
        </p:txBody>
      </p:sp>
      <p:sp>
        <p:nvSpPr>
          <p:cNvPr id="55" name="Rectangle 53"/>
          <p:cNvSpPr>
            <a:spLocks noChangeArrowheads="1"/>
          </p:cNvSpPr>
          <p:nvPr/>
        </p:nvSpPr>
        <p:spPr bwMode="auto">
          <a:xfrm>
            <a:off x="1475656" y="3352138"/>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6" name="Rectangle 54"/>
          <p:cNvSpPr>
            <a:spLocks noChangeArrowheads="1"/>
          </p:cNvSpPr>
          <p:nvPr/>
        </p:nvSpPr>
        <p:spPr bwMode="auto">
          <a:xfrm>
            <a:off x="1780463" y="3323813"/>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7" name="Rectangle 55"/>
          <p:cNvSpPr>
            <a:spLocks noChangeArrowheads="1"/>
          </p:cNvSpPr>
          <p:nvPr/>
        </p:nvSpPr>
        <p:spPr bwMode="auto">
          <a:xfrm>
            <a:off x="2087316" y="3310594"/>
            <a:ext cx="183089"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8" name="Line 56"/>
          <p:cNvSpPr>
            <a:spLocks noChangeShapeType="1"/>
          </p:cNvSpPr>
          <p:nvPr/>
        </p:nvSpPr>
        <p:spPr bwMode="auto">
          <a:xfrm flipV="1">
            <a:off x="1351892" y="3395569"/>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9" name="Line 57"/>
          <p:cNvSpPr>
            <a:spLocks noChangeShapeType="1"/>
          </p:cNvSpPr>
          <p:nvPr/>
        </p:nvSpPr>
        <p:spPr bwMode="auto">
          <a:xfrm>
            <a:off x="1658745" y="3395569"/>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0" name="Line 58"/>
          <p:cNvSpPr>
            <a:spLocks noChangeShapeType="1"/>
          </p:cNvSpPr>
          <p:nvPr/>
        </p:nvSpPr>
        <p:spPr bwMode="auto">
          <a:xfrm>
            <a:off x="1964574" y="3395569"/>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1" name="Line 59"/>
          <p:cNvSpPr>
            <a:spLocks noChangeShapeType="1"/>
          </p:cNvSpPr>
          <p:nvPr/>
        </p:nvSpPr>
        <p:spPr bwMode="auto">
          <a:xfrm>
            <a:off x="2270404" y="3395569"/>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2" name="Rectangle 60"/>
          <p:cNvSpPr>
            <a:spLocks noChangeArrowheads="1"/>
          </p:cNvSpPr>
          <p:nvPr/>
        </p:nvSpPr>
        <p:spPr bwMode="auto">
          <a:xfrm>
            <a:off x="1475656" y="4047041"/>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3" name="Rectangle 61"/>
          <p:cNvSpPr>
            <a:spLocks noChangeArrowheads="1"/>
          </p:cNvSpPr>
          <p:nvPr/>
        </p:nvSpPr>
        <p:spPr bwMode="auto">
          <a:xfrm>
            <a:off x="1780463" y="4018716"/>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4" name="Rectangle 62"/>
          <p:cNvSpPr>
            <a:spLocks noChangeArrowheads="1"/>
          </p:cNvSpPr>
          <p:nvPr/>
        </p:nvSpPr>
        <p:spPr bwMode="auto">
          <a:xfrm>
            <a:off x="2087316" y="4003609"/>
            <a:ext cx="183089" cy="170894"/>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5" name="Line 63"/>
          <p:cNvSpPr>
            <a:spLocks noChangeShapeType="1"/>
          </p:cNvSpPr>
          <p:nvPr/>
        </p:nvSpPr>
        <p:spPr bwMode="auto">
          <a:xfrm flipV="1">
            <a:off x="1351892" y="4089528"/>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6" name="Line 64"/>
          <p:cNvSpPr>
            <a:spLocks noChangeShapeType="1"/>
          </p:cNvSpPr>
          <p:nvPr/>
        </p:nvSpPr>
        <p:spPr bwMode="auto">
          <a:xfrm>
            <a:off x="1658745" y="4089528"/>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7" name="Line 65"/>
          <p:cNvSpPr>
            <a:spLocks noChangeShapeType="1"/>
          </p:cNvSpPr>
          <p:nvPr/>
        </p:nvSpPr>
        <p:spPr bwMode="auto">
          <a:xfrm>
            <a:off x="1964574" y="4089528"/>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8" name="Line 66"/>
          <p:cNvSpPr>
            <a:spLocks noChangeShapeType="1"/>
          </p:cNvSpPr>
          <p:nvPr/>
        </p:nvSpPr>
        <p:spPr bwMode="auto">
          <a:xfrm>
            <a:off x="2270404" y="4089528"/>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9" name="Rectangle 67"/>
          <p:cNvSpPr>
            <a:spLocks noChangeArrowheads="1"/>
          </p:cNvSpPr>
          <p:nvPr/>
        </p:nvSpPr>
        <p:spPr bwMode="auto">
          <a:xfrm flipH="1">
            <a:off x="3204260" y="3352138"/>
            <a:ext cx="184112"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0" name="Rectangle 68"/>
          <p:cNvSpPr>
            <a:spLocks noChangeArrowheads="1"/>
          </p:cNvSpPr>
          <p:nvPr/>
        </p:nvSpPr>
        <p:spPr bwMode="auto">
          <a:xfrm flipH="1">
            <a:off x="2899453" y="3323813"/>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1" name="Rectangle 69"/>
          <p:cNvSpPr>
            <a:spLocks noChangeArrowheads="1"/>
          </p:cNvSpPr>
          <p:nvPr/>
        </p:nvSpPr>
        <p:spPr bwMode="auto">
          <a:xfrm flipH="1">
            <a:off x="2591578" y="3310594"/>
            <a:ext cx="185134"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2" name="Line 70"/>
          <p:cNvSpPr>
            <a:spLocks noChangeShapeType="1"/>
          </p:cNvSpPr>
          <p:nvPr/>
        </p:nvSpPr>
        <p:spPr bwMode="auto">
          <a:xfrm flipV="1">
            <a:off x="3384280" y="3395569"/>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3" name="Line 71"/>
          <p:cNvSpPr>
            <a:spLocks noChangeShapeType="1"/>
          </p:cNvSpPr>
          <p:nvPr/>
        </p:nvSpPr>
        <p:spPr bwMode="auto">
          <a:xfrm rot="10800000" flipH="1">
            <a:off x="3082541" y="3395569"/>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4" name="Line 72"/>
          <p:cNvSpPr>
            <a:spLocks noChangeShapeType="1"/>
          </p:cNvSpPr>
          <p:nvPr/>
        </p:nvSpPr>
        <p:spPr bwMode="auto">
          <a:xfrm>
            <a:off x="2776711" y="3395569"/>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5" name="Line 73"/>
          <p:cNvSpPr>
            <a:spLocks noChangeShapeType="1"/>
          </p:cNvSpPr>
          <p:nvPr/>
        </p:nvSpPr>
        <p:spPr bwMode="auto">
          <a:xfrm>
            <a:off x="2470882" y="3395569"/>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6" name="Rectangle 74"/>
          <p:cNvSpPr>
            <a:spLocks noChangeArrowheads="1"/>
          </p:cNvSpPr>
          <p:nvPr/>
        </p:nvSpPr>
        <p:spPr bwMode="auto">
          <a:xfrm flipH="1">
            <a:off x="3204260" y="4047041"/>
            <a:ext cx="184112"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7" name="Rectangle 75"/>
          <p:cNvSpPr>
            <a:spLocks noChangeArrowheads="1"/>
          </p:cNvSpPr>
          <p:nvPr/>
        </p:nvSpPr>
        <p:spPr bwMode="auto">
          <a:xfrm flipH="1">
            <a:off x="2899453" y="4018716"/>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8" name="Rectangle 76"/>
          <p:cNvSpPr>
            <a:spLocks noChangeArrowheads="1"/>
          </p:cNvSpPr>
          <p:nvPr/>
        </p:nvSpPr>
        <p:spPr bwMode="auto">
          <a:xfrm flipH="1">
            <a:off x="2591578" y="4003609"/>
            <a:ext cx="185134" cy="170894"/>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9" name="Line 77"/>
          <p:cNvSpPr>
            <a:spLocks noChangeShapeType="1"/>
          </p:cNvSpPr>
          <p:nvPr/>
        </p:nvSpPr>
        <p:spPr bwMode="auto">
          <a:xfrm flipV="1">
            <a:off x="3384280" y="4089528"/>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0" name="Line 78"/>
          <p:cNvSpPr>
            <a:spLocks noChangeShapeType="1"/>
          </p:cNvSpPr>
          <p:nvPr/>
        </p:nvSpPr>
        <p:spPr bwMode="auto">
          <a:xfrm>
            <a:off x="3082541" y="4089528"/>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1" name="Line 79"/>
          <p:cNvSpPr>
            <a:spLocks noChangeShapeType="1"/>
          </p:cNvSpPr>
          <p:nvPr/>
        </p:nvSpPr>
        <p:spPr bwMode="auto">
          <a:xfrm>
            <a:off x="2776711" y="4089528"/>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2" name="Line 80"/>
          <p:cNvSpPr>
            <a:spLocks noChangeShapeType="1"/>
          </p:cNvSpPr>
          <p:nvPr/>
        </p:nvSpPr>
        <p:spPr bwMode="auto">
          <a:xfrm>
            <a:off x="2470882" y="4089528"/>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3" name="Rectangle 81"/>
          <p:cNvSpPr>
            <a:spLocks noChangeArrowheads="1"/>
          </p:cNvSpPr>
          <p:nvPr/>
        </p:nvSpPr>
        <p:spPr bwMode="auto">
          <a:xfrm>
            <a:off x="1475656" y="3692036"/>
            <a:ext cx="183089" cy="8591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4" name="Rectangle 82"/>
          <p:cNvSpPr>
            <a:spLocks noChangeArrowheads="1"/>
          </p:cNvSpPr>
          <p:nvPr/>
        </p:nvSpPr>
        <p:spPr bwMode="auto">
          <a:xfrm>
            <a:off x="1780463" y="3663711"/>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5" name="Rectangle 83"/>
          <p:cNvSpPr>
            <a:spLocks noChangeArrowheads="1"/>
          </p:cNvSpPr>
          <p:nvPr/>
        </p:nvSpPr>
        <p:spPr bwMode="auto">
          <a:xfrm>
            <a:off x="2087316" y="3650492"/>
            <a:ext cx="183089"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6" name="Line 84"/>
          <p:cNvSpPr>
            <a:spLocks noChangeShapeType="1"/>
          </p:cNvSpPr>
          <p:nvPr/>
        </p:nvSpPr>
        <p:spPr bwMode="auto">
          <a:xfrm flipV="1">
            <a:off x="1351892" y="3735467"/>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7" name="Line 85"/>
          <p:cNvSpPr>
            <a:spLocks noChangeShapeType="1"/>
          </p:cNvSpPr>
          <p:nvPr/>
        </p:nvSpPr>
        <p:spPr bwMode="auto">
          <a:xfrm>
            <a:off x="1658745" y="3735467"/>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8" name="Line 86"/>
          <p:cNvSpPr>
            <a:spLocks noChangeShapeType="1"/>
          </p:cNvSpPr>
          <p:nvPr/>
        </p:nvSpPr>
        <p:spPr bwMode="auto">
          <a:xfrm>
            <a:off x="1964574" y="3735467"/>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9" name="Line 87"/>
          <p:cNvSpPr>
            <a:spLocks noChangeShapeType="1"/>
          </p:cNvSpPr>
          <p:nvPr/>
        </p:nvSpPr>
        <p:spPr bwMode="auto">
          <a:xfrm>
            <a:off x="2270404" y="3735467"/>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0" name="Rectangle 88"/>
          <p:cNvSpPr>
            <a:spLocks noChangeArrowheads="1"/>
          </p:cNvSpPr>
          <p:nvPr/>
        </p:nvSpPr>
        <p:spPr bwMode="auto">
          <a:xfrm flipH="1">
            <a:off x="3204260" y="3692036"/>
            <a:ext cx="184112" cy="8591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91" name="Rectangle 89"/>
          <p:cNvSpPr>
            <a:spLocks noChangeArrowheads="1"/>
          </p:cNvSpPr>
          <p:nvPr/>
        </p:nvSpPr>
        <p:spPr bwMode="auto">
          <a:xfrm flipH="1">
            <a:off x="2899453" y="3663711"/>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92" name="Rectangle 90"/>
          <p:cNvSpPr>
            <a:spLocks noChangeArrowheads="1"/>
          </p:cNvSpPr>
          <p:nvPr/>
        </p:nvSpPr>
        <p:spPr bwMode="auto">
          <a:xfrm flipH="1">
            <a:off x="2591578" y="3650492"/>
            <a:ext cx="185134"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93" name="Line 91"/>
          <p:cNvSpPr>
            <a:spLocks noChangeShapeType="1"/>
          </p:cNvSpPr>
          <p:nvPr/>
        </p:nvSpPr>
        <p:spPr bwMode="auto">
          <a:xfrm flipV="1">
            <a:off x="3384280" y="3735467"/>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4" name="Line 92"/>
          <p:cNvSpPr>
            <a:spLocks noChangeShapeType="1"/>
          </p:cNvSpPr>
          <p:nvPr/>
        </p:nvSpPr>
        <p:spPr bwMode="auto">
          <a:xfrm rot="10800000" flipH="1">
            <a:off x="3082541" y="3735467"/>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5" name="Line 93"/>
          <p:cNvSpPr>
            <a:spLocks noChangeShapeType="1"/>
          </p:cNvSpPr>
          <p:nvPr/>
        </p:nvSpPr>
        <p:spPr bwMode="auto">
          <a:xfrm>
            <a:off x="2776711" y="3735467"/>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6" name="Line 94"/>
          <p:cNvSpPr>
            <a:spLocks noChangeShapeType="1"/>
          </p:cNvSpPr>
          <p:nvPr/>
        </p:nvSpPr>
        <p:spPr bwMode="auto">
          <a:xfrm>
            <a:off x="2470882" y="3735467"/>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7" name="Text Box 95"/>
          <p:cNvSpPr txBox="1">
            <a:spLocks noChangeArrowheads="1"/>
          </p:cNvSpPr>
          <p:nvPr/>
        </p:nvSpPr>
        <p:spPr bwMode="auto">
          <a:xfrm>
            <a:off x="1207763" y="3085197"/>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1</a:t>
            </a:r>
          </a:p>
        </p:txBody>
      </p:sp>
      <p:sp>
        <p:nvSpPr>
          <p:cNvPr id="98" name="Text Box 96"/>
          <p:cNvSpPr txBox="1">
            <a:spLocks noChangeArrowheads="1"/>
          </p:cNvSpPr>
          <p:nvPr/>
        </p:nvSpPr>
        <p:spPr bwMode="auto">
          <a:xfrm>
            <a:off x="1206740" y="3773490"/>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3</a:t>
            </a:r>
          </a:p>
        </p:txBody>
      </p:sp>
      <p:sp>
        <p:nvSpPr>
          <p:cNvPr id="99" name="Text Box 97"/>
          <p:cNvSpPr txBox="1">
            <a:spLocks noChangeArrowheads="1"/>
          </p:cNvSpPr>
          <p:nvPr/>
        </p:nvSpPr>
        <p:spPr bwMode="auto">
          <a:xfrm>
            <a:off x="1206740" y="3414709"/>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2</a:t>
            </a:r>
          </a:p>
        </p:txBody>
      </p:sp>
      <p:sp>
        <p:nvSpPr>
          <p:cNvPr id="100" name="Text Box 98"/>
          <p:cNvSpPr txBox="1">
            <a:spLocks noChangeArrowheads="1"/>
          </p:cNvSpPr>
          <p:nvPr/>
        </p:nvSpPr>
        <p:spPr bwMode="auto">
          <a:xfrm>
            <a:off x="3385923" y="3126730"/>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1</a:t>
            </a:r>
          </a:p>
        </p:txBody>
      </p:sp>
      <p:sp>
        <p:nvSpPr>
          <p:cNvPr id="101" name="Text Box 99"/>
          <p:cNvSpPr txBox="1">
            <a:spLocks noChangeArrowheads="1"/>
          </p:cNvSpPr>
          <p:nvPr/>
        </p:nvSpPr>
        <p:spPr bwMode="auto">
          <a:xfrm>
            <a:off x="3386946" y="3486456"/>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2</a:t>
            </a:r>
          </a:p>
        </p:txBody>
      </p:sp>
      <p:sp>
        <p:nvSpPr>
          <p:cNvPr id="102" name="AutoShape 100"/>
          <p:cNvSpPr>
            <a:spLocks noChangeArrowheads="1"/>
          </p:cNvSpPr>
          <p:nvPr/>
        </p:nvSpPr>
        <p:spPr bwMode="auto">
          <a:xfrm>
            <a:off x="2310296" y="3097213"/>
            <a:ext cx="235254" cy="1190589"/>
          </a:xfrm>
          <a:prstGeom prst="upDownArrow">
            <a:avLst>
              <a:gd name="adj1" fmla="val 50000"/>
              <a:gd name="adj2" fmla="val 56273"/>
            </a:avLst>
          </a:prstGeom>
          <a:solidFill>
            <a:srgbClr val="00B050"/>
          </a:solidFill>
          <a:ln w="9525">
            <a:solidFill>
              <a:schemeClr val="tx1"/>
            </a:solidFill>
            <a:miter lim="800000"/>
            <a:headEnd/>
            <a:tailEnd/>
          </a:ln>
          <a:effec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sp>
        <p:nvSpPr>
          <p:cNvPr id="103" name="Rectangle 102"/>
          <p:cNvSpPr>
            <a:spLocks noChangeArrowheads="1"/>
          </p:cNvSpPr>
          <p:nvPr/>
        </p:nvSpPr>
        <p:spPr bwMode="auto">
          <a:xfrm>
            <a:off x="4916434" y="1982009"/>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04" name="Rectangle 103"/>
          <p:cNvSpPr>
            <a:spLocks noChangeArrowheads="1"/>
          </p:cNvSpPr>
          <p:nvPr/>
        </p:nvSpPr>
        <p:spPr bwMode="auto">
          <a:xfrm>
            <a:off x="5222264" y="1954629"/>
            <a:ext cx="183088" cy="141624"/>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05" name="Rectangle 104"/>
          <p:cNvSpPr>
            <a:spLocks noChangeArrowheads="1"/>
          </p:cNvSpPr>
          <p:nvPr/>
        </p:nvSpPr>
        <p:spPr bwMode="auto">
          <a:xfrm>
            <a:off x="5528093" y="1940466"/>
            <a:ext cx="184112"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06" name="Line 105"/>
          <p:cNvSpPr>
            <a:spLocks noChangeShapeType="1"/>
          </p:cNvSpPr>
          <p:nvPr/>
        </p:nvSpPr>
        <p:spPr bwMode="auto">
          <a:xfrm flipV="1">
            <a:off x="4793693" y="2025441"/>
            <a:ext cx="12581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07" name="Line 106"/>
          <p:cNvSpPr>
            <a:spLocks noChangeShapeType="1"/>
          </p:cNvSpPr>
          <p:nvPr/>
        </p:nvSpPr>
        <p:spPr bwMode="auto">
          <a:xfrm>
            <a:off x="5099523" y="2025441"/>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08" name="Line 107"/>
          <p:cNvSpPr>
            <a:spLocks noChangeShapeType="1"/>
          </p:cNvSpPr>
          <p:nvPr/>
        </p:nvSpPr>
        <p:spPr bwMode="auto">
          <a:xfrm>
            <a:off x="5405352" y="2025441"/>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09" name="Line 108"/>
          <p:cNvSpPr>
            <a:spLocks noChangeShapeType="1"/>
          </p:cNvSpPr>
          <p:nvPr/>
        </p:nvSpPr>
        <p:spPr bwMode="auto">
          <a:xfrm>
            <a:off x="5712205" y="2025441"/>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0" name="Text Box 109"/>
          <p:cNvSpPr txBox="1">
            <a:spLocks noChangeArrowheads="1"/>
          </p:cNvSpPr>
          <p:nvPr/>
        </p:nvSpPr>
        <p:spPr bwMode="auto">
          <a:xfrm>
            <a:off x="4640359" y="1715068"/>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1</a:t>
            </a:r>
          </a:p>
        </p:txBody>
      </p:sp>
      <p:sp>
        <p:nvSpPr>
          <p:cNvPr id="111" name="Rectangle 110"/>
          <p:cNvSpPr>
            <a:spLocks noChangeArrowheads="1"/>
          </p:cNvSpPr>
          <p:nvPr/>
        </p:nvSpPr>
        <p:spPr bwMode="auto">
          <a:xfrm>
            <a:off x="4919503" y="2655197"/>
            <a:ext cx="184112" cy="8591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12" name="Rectangle 111"/>
          <p:cNvSpPr>
            <a:spLocks noChangeArrowheads="1"/>
          </p:cNvSpPr>
          <p:nvPr/>
        </p:nvSpPr>
        <p:spPr bwMode="auto">
          <a:xfrm>
            <a:off x="5226356" y="2627817"/>
            <a:ext cx="183088" cy="141624"/>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13" name="Rectangle 112"/>
          <p:cNvSpPr>
            <a:spLocks noChangeArrowheads="1"/>
          </p:cNvSpPr>
          <p:nvPr/>
        </p:nvSpPr>
        <p:spPr bwMode="auto">
          <a:xfrm>
            <a:off x="5531162" y="2613653"/>
            <a:ext cx="184112"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14" name="Line 113"/>
          <p:cNvSpPr>
            <a:spLocks noChangeShapeType="1"/>
          </p:cNvSpPr>
          <p:nvPr/>
        </p:nvSpPr>
        <p:spPr bwMode="auto">
          <a:xfrm flipV="1">
            <a:off x="4797784" y="2698628"/>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5" name="Line 114"/>
          <p:cNvSpPr>
            <a:spLocks noChangeShapeType="1"/>
          </p:cNvSpPr>
          <p:nvPr/>
        </p:nvSpPr>
        <p:spPr bwMode="auto">
          <a:xfrm>
            <a:off x="5103614" y="2698628"/>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6" name="Line 115"/>
          <p:cNvSpPr>
            <a:spLocks noChangeShapeType="1"/>
          </p:cNvSpPr>
          <p:nvPr/>
        </p:nvSpPr>
        <p:spPr bwMode="auto">
          <a:xfrm>
            <a:off x="5409444" y="2698628"/>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7" name="Line 116"/>
          <p:cNvSpPr>
            <a:spLocks noChangeShapeType="1"/>
          </p:cNvSpPr>
          <p:nvPr/>
        </p:nvSpPr>
        <p:spPr bwMode="auto">
          <a:xfrm>
            <a:off x="5715274" y="2698628"/>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8" name="Text Box 117"/>
          <p:cNvSpPr txBox="1">
            <a:spLocks noChangeArrowheads="1"/>
          </p:cNvSpPr>
          <p:nvPr/>
        </p:nvSpPr>
        <p:spPr bwMode="auto">
          <a:xfrm>
            <a:off x="4633199" y="2404307"/>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3</a:t>
            </a:r>
          </a:p>
        </p:txBody>
      </p:sp>
      <p:sp>
        <p:nvSpPr>
          <p:cNvPr id="119" name="Rectangle 118"/>
          <p:cNvSpPr>
            <a:spLocks noChangeArrowheads="1"/>
          </p:cNvSpPr>
          <p:nvPr/>
        </p:nvSpPr>
        <p:spPr bwMode="auto">
          <a:xfrm>
            <a:off x="4916434" y="2322852"/>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20" name="Rectangle 119"/>
          <p:cNvSpPr>
            <a:spLocks noChangeArrowheads="1"/>
          </p:cNvSpPr>
          <p:nvPr/>
        </p:nvSpPr>
        <p:spPr bwMode="auto">
          <a:xfrm>
            <a:off x="5222264" y="2294527"/>
            <a:ext cx="183088" cy="141624"/>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21" name="Rectangle 120"/>
          <p:cNvSpPr>
            <a:spLocks noChangeArrowheads="1"/>
          </p:cNvSpPr>
          <p:nvPr/>
        </p:nvSpPr>
        <p:spPr bwMode="auto">
          <a:xfrm>
            <a:off x="5528093" y="2280365"/>
            <a:ext cx="184112"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22" name="Line 121"/>
          <p:cNvSpPr>
            <a:spLocks noChangeShapeType="1"/>
          </p:cNvSpPr>
          <p:nvPr/>
        </p:nvSpPr>
        <p:spPr bwMode="auto">
          <a:xfrm flipV="1">
            <a:off x="4793693" y="2365339"/>
            <a:ext cx="12581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3" name="Line 122"/>
          <p:cNvSpPr>
            <a:spLocks noChangeShapeType="1"/>
          </p:cNvSpPr>
          <p:nvPr/>
        </p:nvSpPr>
        <p:spPr bwMode="auto">
          <a:xfrm>
            <a:off x="5099523" y="2365339"/>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4" name="Line 123"/>
          <p:cNvSpPr>
            <a:spLocks noChangeShapeType="1"/>
          </p:cNvSpPr>
          <p:nvPr/>
        </p:nvSpPr>
        <p:spPr bwMode="auto">
          <a:xfrm>
            <a:off x="5405352" y="2365339"/>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5" name="Line 124"/>
          <p:cNvSpPr>
            <a:spLocks noChangeShapeType="1"/>
          </p:cNvSpPr>
          <p:nvPr/>
        </p:nvSpPr>
        <p:spPr bwMode="auto">
          <a:xfrm>
            <a:off x="5712205" y="2365339"/>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6" name="Text Box 125"/>
          <p:cNvSpPr txBox="1">
            <a:spLocks noChangeArrowheads="1"/>
          </p:cNvSpPr>
          <p:nvPr/>
        </p:nvSpPr>
        <p:spPr bwMode="auto">
          <a:xfrm>
            <a:off x="4638313" y="2046469"/>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2</a:t>
            </a:r>
          </a:p>
        </p:txBody>
      </p:sp>
      <p:grpSp>
        <p:nvGrpSpPr>
          <p:cNvPr id="127" name="Group 126"/>
          <p:cNvGrpSpPr>
            <a:grpSpLocks/>
          </p:cNvGrpSpPr>
          <p:nvPr/>
        </p:nvGrpSpPr>
        <p:grpSpPr bwMode="auto">
          <a:xfrm>
            <a:off x="6028264" y="2826090"/>
            <a:ext cx="191272" cy="924334"/>
            <a:chOff x="2919" y="2867"/>
            <a:chExt cx="192" cy="1044"/>
          </a:xfrm>
        </p:grpSpPr>
        <p:sp>
          <p:nvSpPr>
            <p:cNvPr id="128" name="Rectangle 127"/>
            <p:cNvSpPr>
              <a:spLocks noChangeArrowheads="1"/>
            </p:cNvSpPr>
            <p:nvPr/>
          </p:nvSpPr>
          <p:spPr bwMode="auto">
            <a:xfrm rot="5400000" flipH="1">
              <a:off x="2923" y="3648"/>
              <a:ext cx="184" cy="96"/>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29" name="Rectangle 128"/>
            <p:cNvSpPr>
              <a:spLocks noChangeArrowheads="1"/>
            </p:cNvSpPr>
            <p:nvPr/>
          </p:nvSpPr>
          <p:spPr bwMode="auto">
            <a:xfrm rot="5400000" flipH="1">
              <a:off x="2923" y="3309"/>
              <a:ext cx="184" cy="160"/>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30" name="Rectangle 129"/>
            <p:cNvSpPr>
              <a:spLocks noChangeArrowheads="1"/>
            </p:cNvSpPr>
            <p:nvPr/>
          </p:nvSpPr>
          <p:spPr bwMode="auto">
            <a:xfrm rot="5400000" flipH="1">
              <a:off x="2922" y="2986"/>
              <a:ext cx="185" cy="192"/>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31" name="Line 130"/>
            <p:cNvSpPr>
              <a:spLocks noChangeShapeType="1"/>
            </p:cNvSpPr>
            <p:nvPr/>
          </p:nvSpPr>
          <p:spPr bwMode="auto">
            <a:xfrm rot="5400000" flipV="1">
              <a:off x="2951" y="3848"/>
              <a:ext cx="127"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32" name="Line 131"/>
            <p:cNvSpPr>
              <a:spLocks noChangeShapeType="1"/>
            </p:cNvSpPr>
            <p:nvPr/>
          </p:nvSpPr>
          <p:spPr bwMode="auto">
            <a:xfrm rot="5400000">
              <a:off x="2953" y="3543"/>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33" name="Line 132"/>
            <p:cNvSpPr>
              <a:spLocks noChangeShapeType="1"/>
            </p:cNvSpPr>
            <p:nvPr/>
          </p:nvSpPr>
          <p:spPr bwMode="auto">
            <a:xfrm rot="5400000">
              <a:off x="2953" y="3236"/>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34" name="Line 133"/>
            <p:cNvSpPr>
              <a:spLocks noChangeShapeType="1"/>
            </p:cNvSpPr>
            <p:nvPr/>
          </p:nvSpPr>
          <p:spPr bwMode="auto">
            <a:xfrm rot="5400000">
              <a:off x="2954" y="2928"/>
              <a:ext cx="12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grpSp>
      <p:sp>
        <p:nvSpPr>
          <p:cNvPr id="135" name="Text Box 134"/>
          <p:cNvSpPr txBox="1">
            <a:spLocks noChangeArrowheads="1"/>
          </p:cNvSpPr>
          <p:nvPr/>
        </p:nvSpPr>
        <p:spPr bwMode="auto">
          <a:xfrm>
            <a:off x="6163279" y="3551207"/>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1</a:t>
            </a:r>
          </a:p>
        </p:txBody>
      </p:sp>
      <p:grpSp>
        <p:nvGrpSpPr>
          <p:cNvPr id="136" name="Group 135"/>
          <p:cNvGrpSpPr>
            <a:grpSpLocks/>
          </p:cNvGrpSpPr>
          <p:nvPr/>
        </p:nvGrpSpPr>
        <p:grpSpPr bwMode="auto">
          <a:xfrm>
            <a:off x="6465014" y="2826091"/>
            <a:ext cx="548490" cy="1027287"/>
            <a:chOff x="3357" y="2859"/>
            <a:chExt cx="551" cy="1159"/>
          </a:xfrm>
        </p:grpSpPr>
        <p:sp>
          <p:nvSpPr>
            <p:cNvPr id="137" name="Rectangle 136"/>
            <p:cNvSpPr>
              <a:spLocks noChangeArrowheads="1"/>
            </p:cNvSpPr>
            <p:nvPr/>
          </p:nvSpPr>
          <p:spPr bwMode="auto">
            <a:xfrm rot="5400000" flipH="1">
              <a:off x="3361" y="3640"/>
              <a:ext cx="184" cy="96"/>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38" name="Rectangle 137"/>
            <p:cNvSpPr>
              <a:spLocks noChangeArrowheads="1"/>
            </p:cNvSpPr>
            <p:nvPr/>
          </p:nvSpPr>
          <p:spPr bwMode="auto">
            <a:xfrm rot="5400000" flipH="1">
              <a:off x="3361" y="3301"/>
              <a:ext cx="184" cy="160"/>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39" name="Rectangle 138"/>
            <p:cNvSpPr>
              <a:spLocks noChangeArrowheads="1"/>
            </p:cNvSpPr>
            <p:nvPr/>
          </p:nvSpPr>
          <p:spPr bwMode="auto">
            <a:xfrm rot="5400000" flipH="1">
              <a:off x="3360" y="2978"/>
              <a:ext cx="185" cy="192"/>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40" name="Line 139"/>
            <p:cNvSpPr>
              <a:spLocks noChangeShapeType="1"/>
            </p:cNvSpPr>
            <p:nvPr/>
          </p:nvSpPr>
          <p:spPr bwMode="auto">
            <a:xfrm rot="5400000" flipV="1">
              <a:off x="3389" y="3840"/>
              <a:ext cx="127"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41" name="Line 140"/>
            <p:cNvSpPr>
              <a:spLocks noChangeShapeType="1"/>
            </p:cNvSpPr>
            <p:nvPr/>
          </p:nvSpPr>
          <p:spPr bwMode="auto">
            <a:xfrm rot="16200000" flipH="1">
              <a:off x="3391" y="3535"/>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42" name="Line 141"/>
            <p:cNvSpPr>
              <a:spLocks noChangeShapeType="1"/>
            </p:cNvSpPr>
            <p:nvPr/>
          </p:nvSpPr>
          <p:spPr bwMode="auto">
            <a:xfrm rot="5400000">
              <a:off x="3391" y="3228"/>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43" name="Line 142"/>
            <p:cNvSpPr>
              <a:spLocks noChangeShapeType="1"/>
            </p:cNvSpPr>
            <p:nvPr/>
          </p:nvSpPr>
          <p:spPr bwMode="auto">
            <a:xfrm rot="5400000">
              <a:off x="3392" y="2920"/>
              <a:ext cx="12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44" name="Text Box 143"/>
            <p:cNvSpPr txBox="1">
              <a:spLocks noChangeArrowheads="1"/>
            </p:cNvSpPr>
            <p:nvPr/>
          </p:nvSpPr>
          <p:spPr bwMode="auto">
            <a:xfrm>
              <a:off x="3500" y="3671"/>
              <a:ext cx="408" cy="3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2</a:t>
              </a:r>
            </a:p>
          </p:txBody>
        </p:sp>
      </p:grpSp>
      <p:sp>
        <p:nvSpPr>
          <p:cNvPr id="145" name="Rectangle 144"/>
          <p:cNvSpPr>
            <a:spLocks noChangeArrowheads="1"/>
          </p:cNvSpPr>
          <p:nvPr/>
        </p:nvSpPr>
        <p:spPr bwMode="auto">
          <a:xfrm rot="5400000" flipH="1">
            <a:off x="6911645" y="3512614"/>
            <a:ext cx="163340" cy="9512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46" name="Rectangle 145"/>
          <p:cNvSpPr>
            <a:spLocks noChangeArrowheads="1"/>
          </p:cNvSpPr>
          <p:nvPr/>
        </p:nvSpPr>
        <p:spPr bwMode="auto">
          <a:xfrm rot="5400000" flipH="1">
            <a:off x="6911646" y="3207020"/>
            <a:ext cx="163340" cy="160587"/>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47" name="Rectangle 146"/>
          <p:cNvSpPr>
            <a:spLocks noChangeArrowheads="1"/>
          </p:cNvSpPr>
          <p:nvPr/>
        </p:nvSpPr>
        <p:spPr bwMode="auto">
          <a:xfrm rot="5400000" flipH="1">
            <a:off x="6911646" y="2919759"/>
            <a:ext cx="163340" cy="191272"/>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48" name="Line 147"/>
          <p:cNvSpPr>
            <a:spLocks noChangeShapeType="1"/>
          </p:cNvSpPr>
          <p:nvPr/>
        </p:nvSpPr>
        <p:spPr bwMode="auto">
          <a:xfrm rot="5400000" flipV="1">
            <a:off x="6937177" y="3693775"/>
            <a:ext cx="11329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49" name="Line 148"/>
          <p:cNvSpPr>
            <a:spLocks noChangeShapeType="1"/>
          </p:cNvSpPr>
          <p:nvPr/>
        </p:nvSpPr>
        <p:spPr bwMode="auto">
          <a:xfrm rot="16200000" flipH="1">
            <a:off x="6939065" y="3423744"/>
            <a:ext cx="1095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50" name="Line 149"/>
          <p:cNvSpPr>
            <a:spLocks noChangeShapeType="1"/>
          </p:cNvSpPr>
          <p:nvPr/>
        </p:nvSpPr>
        <p:spPr bwMode="auto">
          <a:xfrm rot="5400000">
            <a:off x="6939538" y="3151354"/>
            <a:ext cx="10857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51" name="Line 150"/>
          <p:cNvSpPr>
            <a:spLocks noChangeShapeType="1"/>
          </p:cNvSpPr>
          <p:nvPr/>
        </p:nvSpPr>
        <p:spPr bwMode="auto">
          <a:xfrm rot="5400000">
            <a:off x="6940010" y="2879908"/>
            <a:ext cx="107634"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52" name="Text Box 151"/>
          <p:cNvSpPr txBox="1">
            <a:spLocks noChangeArrowheads="1"/>
          </p:cNvSpPr>
          <p:nvPr/>
        </p:nvSpPr>
        <p:spPr bwMode="auto">
          <a:xfrm>
            <a:off x="7062357" y="3551208"/>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3</a:t>
            </a:r>
          </a:p>
        </p:txBody>
      </p:sp>
      <p:sp>
        <p:nvSpPr>
          <p:cNvPr id="153" name="Text Box 153"/>
          <p:cNvSpPr txBox="1">
            <a:spLocks noChangeArrowheads="1"/>
          </p:cNvSpPr>
          <p:nvPr/>
        </p:nvSpPr>
        <p:spPr bwMode="auto">
          <a:xfrm>
            <a:off x="1885815" y="2662248"/>
            <a:ext cx="13805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(a) </a:t>
            </a:r>
            <a:r>
              <a:rPr kumimoji="1" lang="zh-CN" altLang="en-US" sz="1400" b="1" dirty="0">
                <a:latin typeface="微软雅黑" pitchFamily="34" charset="-122"/>
                <a:ea typeface="微软雅黑" pitchFamily="34" charset="-122"/>
              </a:rPr>
              <a:t>通过存储器</a:t>
            </a:r>
          </a:p>
        </p:txBody>
      </p:sp>
      <p:sp>
        <p:nvSpPr>
          <p:cNvPr id="154" name="Text Box 154"/>
          <p:cNvSpPr txBox="1">
            <a:spLocks noChangeArrowheads="1"/>
          </p:cNvSpPr>
          <p:nvPr/>
        </p:nvSpPr>
        <p:spPr bwMode="auto">
          <a:xfrm>
            <a:off x="5377249" y="3844366"/>
            <a:ext cx="154882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(c) </a:t>
            </a:r>
            <a:r>
              <a:rPr kumimoji="1" lang="zh-CN" altLang="en-US" sz="1400" b="1" dirty="0">
                <a:latin typeface="微软雅黑" pitchFamily="34" charset="-122"/>
                <a:ea typeface="微软雅黑" pitchFamily="34" charset="-122"/>
              </a:rPr>
              <a:t>通过互连网络</a:t>
            </a:r>
          </a:p>
        </p:txBody>
      </p:sp>
      <p:sp>
        <p:nvSpPr>
          <p:cNvPr id="155" name="Text Box 155"/>
          <p:cNvSpPr txBox="1">
            <a:spLocks noChangeArrowheads="1"/>
          </p:cNvSpPr>
          <p:nvPr/>
        </p:nvSpPr>
        <p:spPr bwMode="auto">
          <a:xfrm>
            <a:off x="2007677" y="4294300"/>
            <a:ext cx="121700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(b) </a:t>
            </a:r>
            <a:r>
              <a:rPr kumimoji="1" lang="zh-CN" altLang="en-US" sz="1400" b="1" dirty="0">
                <a:latin typeface="微软雅黑" pitchFamily="34" charset="-122"/>
                <a:ea typeface="微软雅黑" pitchFamily="34" charset="-122"/>
              </a:rPr>
              <a:t>通过总线</a:t>
            </a:r>
          </a:p>
        </p:txBody>
      </p:sp>
      <p:sp>
        <p:nvSpPr>
          <p:cNvPr id="156" name="Line 156"/>
          <p:cNvSpPr>
            <a:spLocks noChangeShapeType="1"/>
          </p:cNvSpPr>
          <p:nvPr/>
        </p:nvSpPr>
        <p:spPr bwMode="auto">
          <a:xfrm>
            <a:off x="5894271" y="2025441"/>
            <a:ext cx="1100579"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57" name="Line 157"/>
          <p:cNvSpPr>
            <a:spLocks noChangeShapeType="1"/>
          </p:cNvSpPr>
          <p:nvPr/>
        </p:nvSpPr>
        <p:spPr bwMode="auto">
          <a:xfrm>
            <a:off x="5894271" y="2365339"/>
            <a:ext cx="1100579"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58" name="Line 158"/>
          <p:cNvSpPr>
            <a:spLocks noChangeShapeType="1"/>
          </p:cNvSpPr>
          <p:nvPr/>
        </p:nvSpPr>
        <p:spPr bwMode="auto">
          <a:xfrm>
            <a:off x="5894271" y="2706181"/>
            <a:ext cx="1100579"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59" name="Line 159"/>
          <p:cNvSpPr>
            <a:spLocks noChangeShapeType="1"/>
          </p:cNvSpPr>
          <p:nvPr/>
        </p:nvSpPr>
        <p:spPr bwMode="auto">
          <a:xfrm rot="16200000">
            <a:off x="5750759" y="2408298"/>
            <a:ext cx="76571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60" name="Line 160"/>
          <p:cNvSpPr>
            <a:spLocks noChangeShapeType="1"/>
          </p:cNvSpPr>
          <p:nvPr/>
        </p:nvSpPr>
        <p:spPr bwMode="auto">
          <a:xfrm rot="16200000">
            <a:off x="6181376" y="2408298"/>
            <a:ext cx="76571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61" name="Line 161"/>
          <p:cNvSpPr>
            <a:spLocks noChangeShapeType="1"/>
          </p:cNvSpPr>
          <p:nvPr/>
        </p:nvSpPr>
        <p:spPr bwMode="auto">
          <a:xfrm rot="16200000">
            <a:off x="6611992" y="2408298"/>
            <a:ext cx="76571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62" name="Oval 162"/>
          <p:cNvSpPr>
            <a:spLocks noChangeArrowheads="1"/>
          </p:cNvSpPr>
          <p:nvPr/>
        </p:nvSpPr>
        <p:spPr bwMode="auto">
          <a:xfrm>
            <a:off x="6951890" y="2330405"/>
            <a:ext cx="78759"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3" name="Oval 163"/>
          <p:cNvSpPr>
            <a:spLocks noChangeArrowheads="1"/>
          </p:cNvSpPr>
          <p:nvPr/>
        </p:nvSpPr>
        <p:spPr bwMode="auto">
          <a:xfrm>
            <a:off x="6951890" y="2671248"/>
            <a:ext cx="78759"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4" name="Oval 164"/>
          <p:cNvSpPr>
            <a:spLocks noChangeArrowheads="1"/>
          </p:cNvSpPr>
          <p:nvPr/>
        </p:nvSpPr>
        <p:spPr bwMode="auto">
          <a:xfrm>
            <a:off x="6951890" y="1993340"/>
            <a:ext cx="78759" cy="6892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5" name="Oval 165"/>
          <p:cNvSpPr>
            <a:spLocks noChangeArrowheads="1"/>
          </p:cNvSpPr>
          <p:nvPr/>
        </p:nvSpPr>
        <p:spPr bwMode="auto">
          <a:xfrm>
            <a:off x="6521274" y="2671248"/>
            <a:ext cx="78758"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6" name="Oval 166"/>
          <p:cNvSpPr>
            <a:spLocks noChangeArrowheads="1"/>
          </p:cNvSpPr>
          <p:nvPr/>
        </p:nvSpPr>
        <p:spPr bwMode="auto">
          <a:xfrm>
            <a:off x="6521274" y="2330405"/>
            <a:ext cx="78758"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7" name="Oval 167"/>
          <p:cNvSpPr>
            <a:spLocks noChangeArrowheads="1"/>
          </p:cNvSpPr>
          <p:nvPr/>
        </p:nvSpPr>
        <p:spPr bwMode="auto">
          <a:xfrm>
            <a:off x="6521274" y="1993340"/>
            <a:ext cx="78758" cy="68924"/>
          </a:xfrm>
          <a:prstGeom prst="ellipse">
            <a:avLst/>
          </a:prstGeom>
          <a:solidFill>
            <a:srgbClr val="66FF33"/>
          </a:solidFill>
          <a:ln w="9525">
            <a:solidFill>
              <a:schemeClr val="hlink"/>
            </a:solidFill>
            <a:round/>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8" name="Oval 168"/>
          <p:cNvSpPr>
            <a:spLocks noChangeArrowheads="1"/>
          </p:cNvSpPr>
          <p:nvPr/>
        </p:nvSpPr>
        <p:spPr bwMode="auto">
          <a:xfrm>
            <a:off x="6090657" y="2671248"/>
            <a:ext cx="78759"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9" name="Oval 169"/>
          <p:cNvSpPr>
            <a:spLocks noChangeArrowheads="1"/>
          </p:cNvSpPr>
          <p:nvPr/>
        </p:nvSpPr>
        <p:spPr bwMode="auto">
          <a:xfrm>
            <a:off x="6090657" y="2330405"/>
            <a:ext cx="78759"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70" name="Oval 170"/>
          <p:cNvSpPr>
            <a:spLocks noChangeArrowheads="1"/>
          </p:cNvSpPr>
          <p:nvPr/>
        </p:nvSpPr>
        <p:spPr bwMode="auto">
          <a:xfrm>
            <a:off x="6090657" y="1993340"/>
            <a:ext cx="78759" cy="6892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71" name="Text Box 171"/>
          <p:cNvSpPr txBox="1">
            <a:spLocks noChangeArrowheads="1"/>
          </p:cNvSpPr>
          <p:nvPr/>
        </p:nvSpPr>
        <p:spPr bwMode="auto">
          <a:xfrm>
            <a:off x="2710227" y="2942844"/>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总线</a:t>
            </a:r>
          </a:p>
        </p:txBody>
      </p:sp>
      <p:sp>
        <p:nvSpPr>
          <p:cNvPr id="172" name="Line 172"/>
          <p:cNvSpPr>
            <a:spLocks noChangeShapeType="1"/>
          </p:cNvSpPr>
          <p:nvPr/>
        </p:nvSpPr>
        <p:spPr bwMode="auto">
          <a:xfrm flipV="1">
            <a:off x="2422809" y="3100067"/>
            <a:ext cx="301311" cy="8212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73" name="Text Box 173"/>
          <p:cNvSpPr txBox="1">
            <a:spLocks noChangeArrowheads="1"/>
          </p:cNvSpPr>
          <p:nvPr/>
        </p:nvSpPr>
        <p:spPr bwMode="auto">
          <a:xfrm>
            <a:off x="6464516" y="154038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互连网络</a:t>
            </a:r>
          </a:p>
        </p:txBody>
      </p:sp>
      <p:sp>
        <p:nvSpPr>
          <p:cNvPr id="174" name="Line 174"/>
          <p:cNvSpPr>
            <a:spLocks noChangeShapeType="1"/>
          </p:cNvSpPr>
          <p:nvPr/>
        </p:nvSpPr>
        <p:spPr bwMode="auto">
          <a:xfrm flipV="1">
            <a:off x="6815568" y="1796765"/>
            <a:ext cx="115866" cy="39129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75" name="Text Box 175"/>
          <p:cNvSpPr txBox="1">
            <a:spLocks noChangeArrowheads="1"/>
          </p:cNvSpPr>
          <p:nvPr/>
        </p:nvSpPr>
        <p:spPr bwMode="auto">
          <a:xfrm>
            <a:off x="3401265" y="3845238"/>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3</a:t>
            </a:r>
          </a:p>
        </p:txBody>
      </p:sp>
      <p:sp>
        <p:nvSpPr>
          <p:cNvPr id="176" name="Text Box 176"/>
          <p:cNvSpPr txBox="1">
            <a:spLocks noChangeArrowheads="1"/>
          </p:cNvSpPr>
          <p:nvPr/>
        </p:nvSpPr>
        <p:spPr bwMode="auto">
          <a:xfrm>
            <a:off x="3717324" y="2193247"/>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3</a:t>
            </a:r>
          </a:p>
        </p:txBody>
      </p:sp>
      <p:sp>
        <p:nvSpPr>
          <p:cNvPr id="177" name="Freeform 177"/>
          <p:cNvSpPr>
            <a:spLocks/>
          </p:cNvSpPr>
          <p:nvPr/>
        </p:nvSpPr>
        <p:spPr bwMode="auto">
          <a:xfrm>
            <a:off x="1190282" y="1682497"/>
            <a:ext cx="2598020" cy="342731"/>
          </a:xfrm>
          <a:custGeom>
            <a:avLst/>
            <a:gdLst>
              <a:gd name="T0" fmla="*/ 0 w 2540"/>
              <a:gd name="T1" fmla="*/ 0 h 363"/>
              <a:gd name="T2" fmla="*/ 1134 w 2540"/>
              <a:gd name="T3" fmla="*/ 0 h 363"/>
              <a:gd name="T4" fmla="*/ 1587 w 2540"/>
              <a:gd name="T5" fmla="*/ 363 h 363"/>
              <a:gd name="T6" fmla="*/ 2540 w 2540"/>
              <a:gd name="T7" fmla="*/ 363 h 363"/>
            </a:gdLst>
            <a:ahLst/>
            <a:cxnLst>
              <a:cxn ang="0">
                <a:pos x="T0" y="T1"/>
              </a:cxn>
              <a:cxn ang="0">
                <a:pos x="T2" y="T3"/>
              </a:cxn>
              <a:cxn ang="0">
                <a:pos x="T4" y="T5"/>
              </a:cxn>
              <a:cxn ang="0">
                <a:pos x="T6" y="T7"/>
              </a:cxn>
            </a:cxnLst>
            <a:rect l="0" t="0" r="r" b="b"/>
            <a:pathLst>
              <a:path w="2540" h="363">
                <a:moveTo>
                  <a:pt x="0" y="0"/>
                </a:moveTo>
                <a:lnTo>
                  <a:pt x="1134" y="0"/>
                </a:lnTo>
                <a:lnTo>
                  <a:pt x="1587" y="363"/>
                </a:lnTo>
                <a:lnTo>
                  <a:pt x="2540" y="363"/>
                </a:lnTo>
              </a:path>
            </a:pathLst>
          </a:custGeom>
          <a:ln w="57150">
            <a:solidFill>
              <a:srgbClr val="FF00FF"/>
            </a:solidFill>
            <a:headEnd type="none" w="med" len="med"/>
            <a:tailEnd type="triangle" w="med" len="lg"/>
          </a:ln>
        </p:spPr>
        <p:style>
          <a:lnRef idx="1">
            <a:schemeClr val="dk1"/>
          </a:lnRef>
          <a:fillRef idx="0">
            <a:schemeClr val="dk1"/>
          </a:fillRef>
          <a:effectRef idx="0">
            <a:schemeClr val="dk1"/>
          </a:effectRef>
          <a:fontRef idx="minor">
            <a:schemeClr val="tx1"/>
          </a:fontRef>
        </p:style>
        <p:txBody>
          <a:bodyPr/>
          <a:lstStyle/>
          <a:p>
            <a:endParaRPr lang="zh-CN" altLang="en-US" sz="1400" b="1">
              <a:ln>
                <a:solidFill>
                  <a:srgbClr val="FF00FF"/>
                </a:solidFill>
              </a:ln>
              <a:solidFill>
                <a:srgbClr val="0000CC"/>
              </a:solidFill>
              <a:latin typeface="微软雅黑" pitchFamily="34" charset="-122"/>
              <a:ea typeface="微软雅黑" pitchFamily="34" charset="-122"/>
            </a:endParaRPr>
          </a:p>
        </p:txBody>
      </p:sp>
      <p:sp>
        <p:nvSpPr>
          <p:cNvPr id="178" name="Freeform 178"/>
          <p:cNvSpPr>
            <a:spLocks/>
          </p:cNvSpPr>
          <p:nvPr/>
        </p:nvSpPr>
        <p:spPr bwMode="auto">
          <a:xfrm>
            <a:off x="1408148" y="3334488"/>
            <a:ext cx="2087622" cy="342731"/>
          </a:xfrm>
          <a:custGeom>
            <a:avLst/>
            <a:gdLst>
              <a:gd name="T0" fmla="*/ 0 w 2041"/>
              <a:gd name="T1" fmla="*/ 0 h 363"/>
              <a:gd name="T2" fmla="*/ 998 w 2041"/>
              <a:gd name="T3" fmla="*/ 0 h 363"/>
              <a:gd name="T4" fmla="*/ 998 w 2041"/>
              <a:gd name="T5" fmla="*/ 363 h 363"/>
              <a:gd name="T6" fmla="*/ 2041 w 2041"/>
              <a:gd name="T7" fmla="*/ 363 h 363"/>
            </a:gdLst>
            <a:ahLst/>
            <a:cxnLst>
              <a:cxn ang="0">
                <a:pos x="T0" y="T1"/>
              </a:cxn>
              <a:cxn ang="0">
                <a:pos x="T2" y="T3"/>
              </a:cxn>
              <a:cxn ang="0">
                <a:pos x="T4" y="T5"/>
              </a:cxn>
              <a:cxn ang="0">
                <a:pos x="T6" y="T7"/>
              </a:cxn>
            </a:cxnLst>
            <a:rect l="0" t="0" r="r" b="b"/>
            <a:pathLst>
              <a:path w="2041" h="363">
                <a:moveTo>
                  <a:pt x="0" y="0"/>
                </a:moveTo>
                <a:lnTo>
                  <a:pt x="998" y="0"/>
                </a:lnTo>
                <a:lnTo>
                  <a:pt x="998" y="363"/>
                </a:lnTo>
                <a:lnTo>
                  <a:pt x="2041" y="363"/>
                </a:lnTo>
              </a:path>
            </a:pathLst>
          </a:custGeom>
          <a:ln w="57150">
            <a:solidFill>
              <a:srgbClr val="FF00FF"/>
            </a:solidFill>
            <a:headEnd type="none" w="med" len="med"/>
            <a:tailEnd type="triangle" w="med" len="lg"/>
          </a:ln>
        </p:spPr>
        <p:style>
          <a:lnRef idx="1">
            <a:schemeClr val="dk1"/>
          </a:lnRef>
          <a:fillRef idx="0">
            <a:schemeClr val="dk1"/>
          </a:fillRef>
          <a:effectRef idx="0">
            <a:schemeClr val="dk1"/>
          </a:effectRef>
          <a:fontRef idx="minor">
            <a:schemeClr val="tx1"/>
          </a:fontRef>
        </p:style>
        <p:txBody>
          <a:bodyPr/>
          <a:lstStyle/>
          <a:p>
            <a:endParaRPr lang="zh-CN" altLang="en-US" sz="1400" b="1">
              <a:ln>
                <a:solidFill>
                  <a:srgbClr val="FF00FF"/>
                </a:solidFill>
              </a:ln>
              <a:solidFill>
                <a:srgbClr val="0000CC"/>
              </a:solidFill>
              <a:latin typeface="微软雅黑" pitchFamily="34" charset="-122"/>
              <a:ea typeface="微软雅黑" pitchFamily="34" charset="-122"/>
            </a:endParaRPr>
          </a:p>
        </p:txBody>
      </p:sp>
      <p:sp>
        <p:nvSpPr>
          <p:cNvPr id="179" name="Line 179"/>
          <p:cNvSpPr>
            <a:spLocks noChangeShapeType="1"/>
          </p:cNvSpPr>
          <p:nvPr/>
        </p:nvSpPr>
        <p:spPr bwMode="auto">
          <a:xfrm>
            <a:off x="4790624" y="1954180"/>
            <a:ext cx="1762358" cy="21716"/>
          </a:xfrm>
          <a:prstGeom prst="line">
            <a:avLst/>
          </a:prstGeom>
          <a:ln w="57150">
            <a:solidFill>
              <a:srgbClr val="FF00FF"/>
            </a:solidFill>
            <a:headEnd/>
            <a:tailEnd type="triangle" w="med" len="lg"/>
          </a:ln>
        </p:spPr>
        <p:style>
          <a:lnRef idx="1">
            <a:schemeClr val="dk1"/>
          </a:lnRef>
          <a:fillRef idx="0">
            <a:schemeClr val="dk1"/>
          </a:fillRef>
          <a:effectRef idx="0">
            <a:schemeClr val="dk1"/>
          </a:effectRef>
          <a:fontRef idx="minor">
            <a:schemeClr val="tx1"/>
          </a:fontRef>
        </p:style>
        <p:txBody>
          <a:bodyPr/>
          <a:lstStyle/>
          <a:p>
            <a:endParaRPr lang="zh-CN" altLang="en-US" sz="1400" b="1">
              <a:ln>
                <a:solidFill>
                  <a:srgbClr val="FF00FF"/>
                </a:solidFill>
              </a:ln>
              <a:solidFill>
                <a:srgbClr val="0000CC"/>
              </a:solidFill>
              <a:latin typeface="微软雅黑" pitchFamily="34" charset="-122"/>
              <a:ea typeface="微软雅黑" pitchFamily="34" charset="-122"/>
            </a:endParaRPr>
          </a:p>
        </p:txBody>
      </p:sp>
      <p:sp>
        <p:nvSpPr>
          <p:cNvPr id="180" name="Line 180"/>
          <p:cNvSpPr>
            <a:spLocks noChangeShapeType="1"/>
          </p:cNvSpPr>
          <p:nvPr/>
        </p:nvSpPr>
        <p:spPr bwMode="auto">
          <a:xfrm rot="16200000" flipH="1">
            <a:off x="5847215" y="2865623"/>
            <a:ext cx="1564147" cy="21635"/>
          </a:xfrm>
          <a:prstGeom prst="line">
            <a:avLst/>
          </a:prstGeom>
          <a:ln w="57150">
            <a:solidFill>
              <a:srgbClr val="FF00FF"/>
            </a:solidFill>
            <a:headEnd/>
            <a:tailEnd type="triangle" w="med" len="lg"/>
          </a:ln>
        </p:spPr>
        <p:style>
          <a:lnRef idx="1">
            <a:schemeClr val="dk1"/>
          </a:lnRef>
          <a:fillRef idx="0">
            <a:schemeClr val="dk1"/>
          </a:fillRef>
          <a:effectRef idx="0">
            <a:schemeClr val="dk1"/>
          </a:effectRef>
          <a:fontRef idx="minor">
            <a:schemeClr val="tx1"/>
          </a:fontRef>
        </p:style>
        <p:txBody>
          <a:bodyPr/>
          <a:lstStyle/>
          <a:p>
            <a:endParaRPr lang="zh-CN" altLang="en-US" sz="1400" b="1">
              <a:ln>
                <a:solidFill>
                  <a:srgbClr val="FF00FF"/>
                </a:solidFill>
              </a:ln>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421764838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77"/>
                                        </p:tgtEl>
                                        <p:attrNameLst>
                                          <p:attrName>style.visibility</p:attrName>
                                        </p:attrNameLst>
                                      </p:cBhvr>
                                      <p:to>
                                        <p:strVal val="visible"/>
                                      </p:to>
                                    </p:set>
                                    <p:animEffect transition="in" filter="wipe(left)">
                                      <p:cBhvr>
                                        <p:cTn id="7" dur="2500"/>
                                        <p:tgtEl>
                                          <p:spTgt spid="177"/>
                                        </p:tgtEl>
                                      </p:cBhvr>
                                    </p:animEffect>
                                  </p:childTnLst>
                                </p:cTn>
                              </p:par>
                            </p:childTnLst>
                          </p:cTn>
                        </p:par>
                        <p:par>
                          <p:cTn id="8" fill="hold">
                            <p:stCondLst>
                              <p:cond delay="2500"/>
                            </p:stCondLst>
                            <p:childTnLst>
                              <p:par>
                                <p:cTn id="9" presetID="22" presetClass="entr" presetSubtype="8" fill="hold" grpId="0" nodeType="afterEffect">
                                  <p:stCondLst>
                                    <p:cond delay="0"/>
                                  </p:stCondLst>
                                  <p:childTnLst>
                                    <p:set>
                                      <p:cBhvr>
                                        <p:cTn id="10" dur="1" fill="hold">
                                          <p:stCondLst>
                                            <p:cond delay="0"/>
                                          </p:stCondLst>
                                        </p:cTn>
                                        <p:tgtEl>
                                          <p:spTgt spid="178"/>
                                        </p:tgtEl>
                                        <p:attrNameLst>
                                          <p:attrName>style.visibility</p:attrName>
                                        </p:attrNameLst>
                                      </p:cBhvr>
                                      <p:to>
                                        <p:strVal val="visible"/>
                                      </p:to>
                                    </p:set>
                                    <p:animEffect transition="in" filter="wipe(left)">
                                      <p:cBhvr>
                                        <p:cTn id="11" dur="2500"/>
                                        <p:tgtEl>
                                          <p:spTgt spid="178"/>
                                        </p:tgtEl>
                                      </p:cBhvr>
                                    </p:animEffect>
                                  </p:childTnLst>
                                </p:cTn>
                              </p:par>
                            </p:childTnLst>
                          </p:cTn>
                        </p:par>
                        <p:par>
                          <p:cTn id="12" fill="hold">
                            <p:stCondLst>
                              <p:cond delay="5000"/>
                            </p:stCondLst>
                            <p:childTnLst>
                              <p:par>
                                <p:cTn id="13" presetID="22" presetClass="entr" presetSubtype="8" fill="hold" grpId="0" nodeType="afterEffect">
                                  <p:stCondLst>
                                    <p:cond delay="0"/>
                                  </p:stCondLst>
                                  <p:childTnLst>
                                    <p:set>
                                      <p:cBhvr>
                                        <p:cTn id="14" dur="1" fill="hold">
                                          <p:stCondLst>
                                            <p:cond delay="0"/>
                                          </p:stCondLst>
                                        </p:cTn>
                                        <p:tgtEl>
                                          <p:spTgt spid="179"/>
                                        </p:tgtEl>
                                        <p:attrNameLst>
                                          <p:attrName>style.visibility</p:attrName>
                                        </p:attrNameLst>
                                      </p:cBhvr>
                                      <p:to>
                                        <p:strVal val="visible"/>
                                      </p:to>
                                    </p:set>
                                    <p:animEffect transition="in" filter="wipe(left)">
                                      <p:cBhvr>
                                        <p:cTn id="15" dur="1500"/>
                                        <p:tgtEl>
                                          <p:spTgt spid="179"/>
                                        </p:tgtEl>
                                      </p:cBhvr>
                                    </p:animEffect>
                                  </p:childTnLst>
                                </p:cTn>
                              </p:par>
                            </p:childTnLst>
                          </p:cTn>
                        </p:par>
                        <p:par>
                          <p:cTn id="16" fill="hold">
                            <p:stCondLst>
                              <p:cond delay="6500"/>
                            </p:stCondLst>
                            <p:childTnLst>
                              <p:par>
                                <p:cTn id="17" presetID="22" presetClass="entr" presetSubtype="1" fill="hold" grpId="0" nodeType="afterEffect">
                                  <p:stCondLst>
                                    <p:cond delay="0"/>
                                  </p:stCondLst>
                                  <p:childTnLst>
                                    <p:set>
                                      <p:cBhvr>
                                        <p:cTn id="18" dur="1" fill="hold">
                                          <p:stCondLst>
                                            <p:cond delay="0"/>
                                          </p:stCondLst>
                                        </p:cTn>
                                        <p:tgtEl>
                                          <p:spTgt spid="180"/>
                                        </p:tgtEl>
                                        <p:attrNameLst>
                                          <p:attrName>style.visibility</p:attrName>
                                        </p:attrNameLst>
                                      </p:cBhvr>
                                      <p:to>
                                        <p:strVal val="visible"/>
                                      </p:to>
                                    </p:set>
                                    <p:animEffect transition="in" filter="wipe(up)">
                                      <p:cBhvr>
                                        <p:cTn id="19" dur="1250"/>
                                        <p:tgtEl>
                                          <p:spTgt spid="1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7" grpId="0" animBg="1"/>
      <p:bldP spid="178" grpId="0" animBg="1"/>
      <p:bldP spid="179" grpId="0" animBg="1"/>
      <p:bldP spid="180" grpId="0" animBg="1"/>
    </p:bld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4" y="928610"/>
            <a:ext cx="5153755" cy="3554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a:lnSpc>
                <a:spcPts val="3000"/>
              </a:lnSpc>
              <a:buClr>
                <a:srgbClr val="0070C0"/>
              </a:buClr>
              <a:buFont typeface="Wingdings" pitchFamily="2" charset="2"/>
              <a:buChar char="l"/>
            </a:pPr>
            <a:r>
              <a:rPr lang="en-US" altLang="zh-CN" b="1" dirty="0">
                <a:solidFill>
                  <a:srgbClr val="0000FF"/>
                </a:solidFill>
                <a:latin typeface="微软雅黑" pitchFamily="34" charset="-122"/>
                <a:ea typeface="微软雅黑" pitchFamily="34" charset="-122"/>
              </a:rPr>
              <a:t>(1) </a:t>
            </a:r>
            <a:r>
              <a:rPr lang="zh-CN" altLang="en-US" b="1" dirty="0">
                <a:latin typeface="微软雅黑" pitchFamily="34" charset="-122"/>
                <a:ea typeface="微软雅黑" pitchFamily="34" charset="-122"/>
              </a:rPr>
              <a:t>当路由器的某个输入端口收到一个分组时，就用</a:t>
            </a:r>
            <a:r>
              <a:rPr lang="zh-CN" altLang="en-US" b="1" dirty="0">
                <a:solidFill>
                  <a:srgbClr val="C00000"/>
                </a:solidFill>
                <a:latin typeface="微软雅黑" pitchFamily="34" charset="-122"/>
                <a:ea typeface="微软雅黑" pitchFamily="34" charset="-122"/>
              </a:rPr>
              <a:t>中断</a:t>
            </a:r>
            <a:r>
              <a:rPr lang="zh-CN" altLang="en-US" b="1" dirty="0">
                <a:latin typeface="微软雅黑" pitchFamily="34" charset="-122"/>
                <a:ea typeface="微软雅黑" pitchFamily="34" charset="-122"/>
              </a:rPr>
              <a:t>方式通知路由选择处理机。然后分组就从输入端口</a:t>
            </a:r>
            <a:r>
              <a:rPr lang="zh-CN" altLang="en-US" b="1" dirty="0">
                <a:solidFill>
                  <a:srgbClr val="C00000"/>
                </a:solidFill>
                <a:latin typeface="微软雅黑" pitchFamily="34" charset="-122"/>
                <a:ea typeface="微软雅黑" pitchFamily="34" charset="-122"/>
              </a:rPr>
              <a:t>复制</a:t>
            </a:r>
            <a:r>
              <a:rPr lang="zh-CN" altLang="en-US" b="1" dirty="0">
                <a:latin typeface="微软雅黑" pitchFamily="34" charset="-122"/>
                <a:ea typeface="微软雅黑" pitchFamily="34" charset="-122"/>
              </a:rPr>
              <a:t>到存储器中。</a:t>
            </a:r>
            <a:endParaRPr lang="en-US" altLang="zh-CN" b="1" dirty="0">
              <a:latin typeface="微软雅黑" pitchFamily="34" charset="-122"/>
              <a:ea typeface="微软雅黑" pitchFamily="34" charset="-122"/>
            </a:endParaRPr>
          </a:p>
          <a:p>
            <a:pPr marL="342900" indent="-342900">
              <a:lnSpc>
                <a:spcPts val="3000"/>
              </a:lnSpc>
              <a:buClr>
                <a:srgbClr val="0070C0"/>
              </a:buClr>
              <a:buFont typeface="Wingdings" pitchFamily="2" charset="2"/>
              <a:buChar char="l"/>
            </a:pPr>
            <a:r>
              <a:rPr lang="en-US" altLang="zh-CN" b="1" dirty="0">
                <a:solidFill>
                  <a:srgbClr val="0000FF"/>
                </a:solidFill>
                <a:latin typeface="微软雅黑" pitchFamily="34" charset="-122"/>
                <a:ea typeface="微软雅黑" pitchFamily="34" charset="-122"/>
              </a:rPr>
              <a:t>(2) </a:t>
            </a:r>
            <a:r>
              <a:rPr lang="zh-CN" altLang="en-US" b="1" dirty="0">
                <a:latin typeface="微软雅黑" pitchFamily="34" charset="-122"/>
                <a:ea typeface="微软雅黑" pitchFamily="34" charset="-122"/>
              </a:rPr>
              <a:t>路由器处理机从分组首部提取目的地址，查找路由表，再将分组复制到合适的输出端口的</a:t>
            </a:r>
            <a:r>
              <a:rPr lang="zh-CN" altLang="en-US" b="1" dirty="0">
                <a:solidFill>
                  <a:srgbClr val="C00000"/>
                </a:solidFill>
                <a:latin typeface="微软雅黑" pitchFamily="34" charset="-122"/>
                <a:ea typeface="微软雅黑" pitchFamily="34" charset="-122"/>
              </a:rPr>
              <a:t>缓存</a:t>
            </a:r>
            <a:r>
              <a:rPr lang="zh-CN" altLang="en-US" b="1" dirty="0">
                <a:latin typeface="微软雅黑" pitchFamily="34" charset="-122"/>
                <a:ea typeface="微软雅黑" pitchFamily="34" charset="-122"/>
              </a:rPr>
              <a:t>中。</a:t>
            </a:r>
            <a:endParaRPr lang="en-US" altLang="zh-CN" b="1" dirty="0">
              <a:latin typeface="微软雅黑" pitchFamily="34" charset="-122"/>
              <a:ea typeface="微软雅黑" pitchFamily="34" charset="-122"/>
            </a:endParaRPr>
          </a:p>
          <a:p>
            <a:pPr marL="342900" indent="-342900">
              <a:lnSpc>
                <a:spcPts val="3000"/>
              </a:lnSpc>
              <a:buClr>
                <a:srgbClr val="0070C0"/>
              </a:buClr>
              <a:buFont typeface="Wingdings" pitchFamily="2" charset="2"/>
              <a:buChar char="l"/>
            </a:pPr>
            <a:r>
              <a:rPr lang="en-US" altLang="zh-CN" b="1" dirty="0">
                <a:solidFill>
                  <a:srgbClr val="0000FF"/>
                </a:solidFill>
                <a:latin typeface="微软雅黑" pitchFamily="34" charset="-122"/>
                <a:ea typeface="微软雅黑" pitchFamily="34" charset="-122"/>
              </a:rPr>
              <a:t>(3) </a:t>
            </a:r>
            <a:r>
              <a:rPr lang="zh-CN" altLang="en-US" b="1" dirty="0">
                <a:latin typeface="微软雅黑" pitchFamily="34" charset="-122"/>
                <a:ea typeface="微软雅黑" pitchFamily="34" charset="-122"/>
              </a:rPr>
              <a:t>若存储器的带宽（读或写）为每秒 </a:t>
            </a:r>
            <a:r>
              <a:rPr lang="en-US" altLang="zh-CN" b="1" i="1" dirty="0">
                <a:latin typeface="微软雅黑" pitchFamily="34" charset="-122"/>
                <a:ea typeface="微软雅黑" pitchFamily="34" charset="-122"/>
              </a:rPr>
              <a:t>M</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个分组，那么路由器的交换速率（即分组从输入端口传送到输出端口的速率）</a:t>
            </a:r>
            <a:r>
              <a:rPr lang="zh-CN" altLang="en-US" b="1" dirty="0">
                <a:solidFill>
                  <a:srgbClr val="C00000"/>
                </a:solidFill>
                <a:latin typeface="微软雅黑" pitchFamily="34" charset="-122"/>
                <a:ea typeface="微软雅黑" pitchFamily="34" charset="-122"/>
              </a:rPr>
              <a:t>一定小于 </a:t>
            </a:r>
            <a:r>
              <a:rPr lang="en-US" altLang="zh-CN" b="1" i="1" dirty="0">
                <a:latin typeface="微软雅黑" pitchFamily="34" charset="-122"/>
                <a:ea typeface="微软雅黑" pitchFamily="34" charset="-122"/>
              </a:rPr>
              <a:t>M</a:t>
            </a:r>
            <a:r>
              <a:rPr lang="en-US" altLang="zh-CN" b="1" dirty="0">
                <a:latin typeface="微软雅黑" pitchFamily="34" charset="-122"/>
                <a:ea typeface="微软雅黑" pitchFamily="34" charset="-122"/>
              </a:rPr>
              <a:t>/2</a:t>
            </a:r>
            <a:r>
              <a:rPr lang="zh-CN" altLang="en-US" b="1" dirty="0">
                <a:latin typeface="微软雅黑" pitchFamily="34" charset="-122"/>
                <a:ea typeface="微软雅黑" pitchFamily="34" charset="-122"/>
              </a:rPr>
              <a:t>。</a:t>
            </a:r>
          </a:p>
        </p:txBody>
      </p:sp>
      <p:sp>
        <p:nvSpPr>
          <p:cNvPr id="5" name="AutoShape 5"/>
          <p:cNvSpPr>
            <a:spLocks noChangeArrowheads="1"/>
          </p:cNvSpPr>
          <p:nvPr/>
        </p:nvSpPr>
        <p:spPr bwMode="auto">
          <a:xfrm>
            <a:off x="545144" y="620859"/>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5"/>
          <p:cNvSpPr/>
          <p:nvPr/>
        </p:nvSpPr>
        <p:spPr>
          <a:xfrm>
            <a:off x="616085" y="579675"/>
            <a:ext cx="1467068" cy="400110"/>
          </a:xfrm>
          <a:prstGeom prst="rect">
            <a:avLst/>
          </a:prstGeom>
        </p:spPr>
        <p:txBody>
          <a:bodyPr wrap="none">
            <a:spAutoFit/>
          </a:bodyPr>
          <a:lstStyle/>
          <a:p>
            <a:r>
              <a:rPr lang="zh-CN" altLang="en-US" sz="2000" b="1" dirty="0">
                <a:latin typeface="微软雅黑" pitchFamily="34" charset="-122"/>
                <a:ea typeface="微软雅黑" pitchFamily="34" charset="-122"/>
              </a:rPr>
              <a:t>通过存储器</a:t>
            </a:r>
          </a:p>
        </p:txBody>
      </p:sp>
      <p:sp>
        <p:nvSpPr>
          <p:cNvPr id="7" name="Rectangle 3"/>
          <p:cNvSpPr>
            <a:spLocks noChangeArrowheads="1"/>
          </p:cNvSpPr>
          <p:nvPr/>
        </p:nvSpPr>
        <p:spPr bwMode="auto">
          <a:xfrm>
            <a:off x="6006774" y="1846865"/>
            <a:ext cx="183088"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 name="Rectangle 4"/>
          <p:cNvSpPr>
            <a:spLocks noChangeArrowheads="1"/>
          </p:cNvSpPr>
          <p:nvPr/>
        </p:nvSpPr>
        <p:spPr bwMode="auto">
          <a:xfrm>
            <a:off x="6311581" y="1818540"/>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9" name="Rectangle 5"/>
          <p:cNvSpPr>
            <a:spLocks noChangeArrowheads="1"/>
          </p:cNvSpPr>
          <p:nvPr/>
        </p:nvSpPr>
        <p:spPr bwMode="auto">
          <a:xfrm>
            <a:off x="6618434" y="1805321"/>
            <a:ext cx="183088"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0" name="Line 6"/>
          <p:cNvSpPr>
            <a:spLocks noChangeShapeType="1"/>
          </p:cNvSpPr>
          <p:nvPr/>
        </p:nvSpPr>
        <p:spPr bwMode="auto">
          <a:xfrm flipV="1">
            <a:off x="5883010" y="1890295"/>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 name="Line 7"/>
          <p:cNvSpPr>
            <a:spLocks noChangeShapeType="1"/>
          </p:cNvSpPr>
          <p:nvPr/>
        </p:nvSpPr>
        <p:spPr bwMode="auto">
          <a:xfrm>
            <a:off x="6189863" y="1890295"/>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 name="Line 8"/>
          <p:cNvSpPr>
            <a:spLocks noChangeShapeType="1"/>
          </p:cNvSpPr>
          <p:nvPr/>
        </p:nvSpPr>
        <p:spPr bwMode="auto">
          <a:xfrm>
            <a:off x="6495692" y="1890295"/>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3" name="Line 9"/>
          <p:cNvSpPr>
            <a:spLocks noChangeShapeType="1"/>
          </p:cNvSpPr>
          <p:nvPr/>
        </p:nvSpPr>
        <p:spPr bwMode="auto">
          <a:xfrm>
            <a:off x="6801522" y="1890295"/>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4" name="Rectangle 10"/>
          <p:cNvSpPr>
            <a:spLocks noChangeArrowheads="1"/>
          </p:cNvSpPr>
          <p:nvPr/>
        </p:nvSpPr>
        <p:spPr bwMode="auto">
          <a:xfrm>
            <a:off x="6006774" y="2541768"/>
            <a:ext cx="183088"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5" name="Rectangle 11"/>
          <p:cNvSpPr>
            <a:spLocks noChangeArrowheads="1"/>
          </p:cNvSpPr>
          <p:nvPr/>
        </p:nvSpPr>
        <p:spPr bwMode="auto">
          <a:xfrm>
            <a:off x="6311581" y="2513443"/>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 name="Rectangle 12"/>
          <p:cNvSpPr>
            <a:spLocks noChangeArrowheads="1"/>
          </p:cNvSpPr>
          <p:nvPr/>
        </p:nvSpPr>
        <p:spPr bwMode="auto">
          <a:xfrm>
            <a:off x="6618434" y="2498336"/>
            <a:ext cx="183088" cy="170894"/>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7" name="Line 13"/>
          <p:cNvSpPr>
            <a:spLocks noChangeShapeType="1"/>
          </p:cNvSpPr>
          <p:nvPr/>
        </p:nvSpPr>
        <p:spPr bwMode="auto">
          <a:xfrm flipV="1">
            <a:off x="5883010" y="2584255"/>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8" name="Line 14"/>
          <p:cNvSpPr>
            <a:spLocks noChangeShapeType="1"/>
          </p:cNvSpPr>
          <p:nvPr/>
        </p:nvSpPr>
        <p:spPr bwMode="auto">
          <a:xfrm>
            <a:off x="6189863" y="2584255"/>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9" name="Line 15"/>
          <p:cNvSpPr>
            <a:spLocks noChangeShapeType="1"/>
          </p:cNvSpPr>
          <p:nvPr/>
        </p:nvSpPr>
        <p:spPr bwMode="auto">
          <a:xfrm>
            <a:off x="6495692" y="2584255"/>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0" name="Line 16"/>
          <p:cNvSpPr>
            <a:spLocks noChangeShapeType="1"/>
          </p:cNvSpPr>
          <p:nvPr/>
        </p:nvSpPr>
        <p:spPr bwMode="auto">
          <a:xfrm>
            <a:off x="6801522" y="2584255"/>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1" name="Rectangle 17"/>
          <p:cNvSpPr>
            <a:spLocks noChangeArrowheads="1"/>
          </p:cNvSpPr>
          <p:nvPr/>
        </p:nvSpPr>
        <p:spPr bwMode="auto">
          <a:xfrm>
            <a:off x="6924263" y="1719402"/>
            <a:ext cx="442891" cy="1021583"/>
          </a:xfrm>
          <a:prstGeom prst="rect">
            <a:avLst/>
          </a:prstGeom>
          <a:solidFill>
            <a:srgbClr val="0000FF"/>
          </a:solidFill>
          <a:ln w="28575">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2" name="Rectangle 18"/>
          <p:cNvSpPr>
            <a:spLocks noChangeArrowheads="1"/>
          </p:cNvSpPr>
          <p:nvPr/>
        </p:nvSpPr>
        <p:spPr bwMode="auto">
          <a:xfrm flipH="1">
            <a:off x="8100533" y="1846865"/>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3" name="Rectangle 19"/>
          <p:cNvSpPr>
            <a:spLocks noChangeArrowheads="1"/>
          </p:cNvSpPr>
          <p:nvPr/>
        </p:nvSpPr>
        <p:spPr bwMode="auto">
          <a:xfrm flipH="1">
            <a:off x="7795725" y="1818540"/>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4" name="Rectangle 20"/>
          <p:cNvSpPr>
            <a:spLocks noChangeArrowheads="1"/>
          </p:cNvSpPr>
          <p:nvPr/>
        </p:nvSpPr>
        <p:spPr bwMode="auto">
          <a:xfrm flipH="1">
            <a:off x="7487849" y="1805321"/>
            <a:ext cx="184112"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5" name="Line 21"/>
          <p:cNvSpPr>
            <a:spLocks noChangeShapeType="1"/>
          </p:cNvSpPr>
          <p:nvPr/>
        </p:nvSpPr>
        <p:spPr bwMode="auto">
          <a:xfrm flipV="1">
            <a:off x="8280552" y="1890295"/>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6" name="Line 22"/>
          <p:cNvSpPr>
            <a:spLocks noChangeShapeType="1"/>
          </p:cNvSpPr>
          <p:nvPr/>
        </p:nvSpPr>
        <p:spPr bwMode="auto">
          <a:xfrm rot="10800000" flipH="1">
            <a:off x="7978814" y="1890295"/>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7" name="Line 23"/>
          <p:cNvSpPr>
            <a:spLocks noChangeShapeType="1"/>
          </p:cNvSpPr>
          <p:nvPr/>
        </p:nvSpPr>
        <p:spPr bwMode="auto">
          <a:xfrm>
            <a:off x="7671962" y="1890295"/>
            <a:ext cx="12376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8" name="Line 24"/>
          <p:cNvSpPr>
            <a:spLocks noChangeShapeType="1"/>
          </p:cNvSpPr>
          <p:nvPr/>
        </p:nvSpPr>
        <p:spPr bwMode="auto">
          <a:xfrm>
            <a:off x="7367155" y="1890295"/>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9" name="Rectangle 25"/>
          <p:cNvSpPr>
            <a:spLocks noChangeArrowheads="1"/>
          </p:cNvSpPr>
          <p:nvPr/>
        </p:nvSpPr>
        <p:spPr bwMode="auto">
          <a:xfrm flipH="1">
            <a:off x="8100533" y="2541768"/>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0" name="Rectangle 26"/>
          <p:cNvSpPr>
            <a:spLocks noChangeArrowheads="1"/>
          </p:cNvSpPr>
          <p:nvPr/>
        </p:nvSpPr>
        <p:spPr bwMode="auto">
          <a:xfrm flipH="1">
            <a:off x="7795725" y="2513443"/>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1" name="Rectangle 27"/>
          <p:cNvSpPr>
            <a:spLocks noChangeArrowheads="1"/>
          </p:cNvSpPr>
          <p:nvPr/>
        </p:nvSpPr>
        <p:spPr bwMode="auto">
          <a:xfrm flipH="1">
            <a:off x="7487849" y="2498336"/>
            <a:ext cx="184112" cy="170894"/>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2" name="Line 28"/>
          <p:cNvSpPr>
            <a:spLocks noChangeShapeType="1"/>
          </p:cNvSpPr>
          <p:nvPr/>
        </p:nvSpPr>
        <p:spPr bwMode="auto">
          <a:xfrm flipV="1">
            <a:off x="8280552" y="2584255"/>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3" name="Line 29"/>
          <p:cNvSpPr>
            <a:spLocks noChangeShapeType="1"/>
          </p:cNvSpPr>
          <p:nvPr/>
        </p:nvSpPr>
        <p:spPr bwMode="auto">
          <a:xfrm>
            <a:off x="7978814" y="2584255"/>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4" name="Line 30"/>
          <p:cNvSpPr>
            <a:spLocks noChangeShapeType="1"/>
          </p:cNvSpPr>
          <p:nvPr/>
        </p:nvSpPr>
        <p:spPr bwMode="auto">
          <a:xfrm>
            <a:off x="7671962" y="2584255"/>
            <a:ext cx="12376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5" name="Line 31"/>
          <p:cNvSpPr>
            <a:spLocks noChangeShapeType="1"/>
          </p:cNvSpPr>
          <p:nvPr/>
        </p:nvSpPr>
        <p:spPr bwMode="auto">
          <a:xfrm>
            <a:off x="7367155" y="2584255"/>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6" name="Rectangle 32"/>
          <p:cNvSpPr>
            <a:spLocks noChangeArrowheads="1"/>
          </p:cNvSpPr>
          <p:nvPr/>
        </p:nvSpPr>
        <p:spPr bwMode="auto">
          <a:xfrm>
            <a:off x="6006774" y="2186763"/>
            <a:ext cx="183088" cy="8591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7" name="Rectangle 33"/>
          <p:cNvSpPr>
            <a:spLocks noChangeArrowheads="1"/>
          </p:cNvSpPr>
          <p:nvPr/>
        </p:nvSpPr>
        <p:spPr bwMode="auto">
          <a:xfrm>
            <a:off x="6311581" y="2158438"/>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8" name="Rectangle 34"/>
          <p:cNvSpPr>
            <a:spLocks noChangeArrowheads="1"/>
          </p:cNvSpPr>
          <p:nvPr/>
        </p:nvSpPr>
        <p:spPr bwMode="auto">
          <a:xfrm>
            <a:off x="6618434" y="2145219"/>
            <a:ext cx="183088"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9" name="Line 35"/>
          <p:cNvSpPr>
            <a:spLocks noChangeShapeType="1"/>
          </p:cNvSpPr>
          <p:nvPr/>
        </p:nvSpPr>
        <p:spPr bwMode="auto">
          <a:xfrm flipV="1">
            <a:off x="5883010" y="2230194"/>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0" name="Line 36"/>
          <p:cNvSpPr>
            <a:spLocks noChangeShapeType="1"/>
          </p:cNvSpPr>
          <p:nvPr/>
        </p:nvSpPr>
        <p:spPr bwMode="auto">
          <a:xfrm>
            <a:off x="6189863" y="2230194"/>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1" name="Line 37"/>
          <p:cNvSpPr>
            <a:spLocks noChangeShapeType="1"/>
          </p:cNvSpPr>
          <p:nvPr/>
        </p:nvSpPr>
        <p:spPr bwMode="auto">
          <a:xfrm>
            <a:off x="6495692" y="2230194"/>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2" name="Line 38"/>
          <p:cNvSpPr>
            <a:spLocks noChangeShapeType="1"/>
          </p:cNvSpPr>
          <p:nvPr/>
        </p:nvSpPr>
        <p:spPr bwMode="auto">
          <a:xfrm>
            <a:off x="6801522" y="2230194"/>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3" name="Rectangle 39"/>
          <p:cNvSpPr>
            <a:spLocks noChangeArrowheads="1"/>
          </p:cNvSpPr>
          <p:nvPr/>
        </p:nvSpPr>
        <p:spPr bwMode="auto">
          <a:xfrm flipH="1">
            <a:off x="8100533" y="2186763"/>
            <a:ext cx="183089" cy="8591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4" name="Rectangle 40"/>
          <p:cNvSpPr>
            <a:spLocks noChangeArrowheads="1"/>
          </p:cNvSpPr>
          <p:nvPr/>
        </p:nvSpPr>
        <p:spPr bwMode="auto">
          <a:xfrm flipH="1">
            <a:off x="7795725" y="2158438"/>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5" name="Rectangle 41"/>
          <p:cNvSpPr>
            <a:spLocks noChangeArrowheads="1"/>
          </p:cNvSpPr>
          <p:nvPr/>
        </p:nvSpPr>
        <p:spPr bwMode="auto">
          <a:xfrm flipH="1">
            <a:off x="7487849" y="2145219"/>
            <a:ext cx="184112"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6" name="Line 42"/>
          <p:cNvSpPr>
            <a:spLocks noChangeShapeType="1"/>
          </p:cNvSpPr>
          <p:nvPr/>
        </p:nvSpPr>
        <p:spPr bwMode="auto">
          <a:xfrm flipV="1">
            <a:off x="8280552" y="2230194"/>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7" name="Line 43"/>
          <p:cNvSpPr>
            <a:spLocks noChangeShapeType="1"/>
          </p:cNvSpPr>
          <p:nvPr/>
        </p:nvSpPr>
        <p:spPr bwMode="auto">
          <a:xfrm rot="10800000" flipH="1">
            <a:off x="7978814" y="2230194"/>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8" name="Line 44"/>
          <p:cNvSpPr>
            <a:spLocks noChangeShapeType="1"/>
          </p:cNvSpPr>
          <p:nvPr/>
        </p:nvSpPr>
        <p:spPr bwMode="auto">
          <a:xfrm>
            <a:off x="7671962" y="2230194"/>
            <a:ext cx="12376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9" name="Line 45"/>
          <p:cNvSpPr>
            <a:spLocks noChangeShapeType="1"/>
          </p:cNvSpPr>
          <p:nvPr/>
        </p:nvSpPr>
        <p:spPr bwMode="auto">
          <a:xfrm>
            <a:off x="7367155" y="2230194"/>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0" name="Text Box 46"/>
          <p:cNvSpPr txBox="1">
            <a:spLocks noChangeArrowheads="1"/>
          </p:cNvSpPr>
          <p:nvPr/>
        </p:nvSpPr>
        <p:spPr bwMode="auto">
          <a:xfrm>
            <a:off x="5746042" y="1561984"/>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itchFamily="34" charset="-122"/>
                <a:ea typeface="微软雅黑" pitchFamily="34" charset="-122"/>
              </a:rPr>
              <a:t>I</a:t>
            </a:r>
            <a:r>
              <a:rPr kumimoji="1" lang="en-US" altLang="zh-CN" sz="1400" b="1" baseline="-25000" dirty="0">
                <a:solidFill>
                  <a:srgbClr val="0000CC"/>
                </a:solidFill>
                <a:latin typeface="微软雅黑" pitchFamily="34" charset="-122"/>
                <a:ea typeface="微软雅黑" pitchFamily="34" charset="-122"/>
              </a:rPr>
              <a:t>1</a:t>
            </a:r>
          </a:p>
        </p:txBody>
      </p:sp>
      <p:sp>
        <p:nvSpPr>
          <p:cNvPr id="51" name="Text Box 47"/>
          <p:cNvSpPr txBox="1">
            <a:spLocks noChangeArrowheads="1"/>
          </p:cNvSpPr>
          <p:nvPr/>
        </p:nvSpPr>
        <p:spPr bwMode="auto">
          <a:xfrm>
            <a:off x="5745018" y="2251222"/>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3</a:t>
            </a:r>
          </a:p>
        </p:txBody>
      </p:sp>
      <p:sp>
        <p:nvSpPr>
          <p:cNvPr id="52" name="Text Box 48"/>
          <p:cNvSpPr txBox="1">
            <a:spLocks noChangeArrowheads="1"/>
          </p:cNvSpPr>
          <p:nvPr/>
        </p:nvSpPr>
        <p:spPr bwMode="auto">
          <a:xfrm>
            <a:off x="5745018" y="1892441"/>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2</a:t>
            </a:r>
          </a:p>
        </p:txBody>
      </p:sp>
      <p:sp>
        <p:nvSpPr>
          <p:cNvPr id="53" name="Text Box 49"/>
          <p:cNvSpPr txBox="1">
            <a:spLocks noChangeArrowheads="1"/>
          </p:cNvSpPr>
          <p:nvPr/>
        </p:nvSpPr>
        <p:spPr bwMode="auto">
          <a:xfrm>
            <a:off x="8299584" y="1621457"/>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itchFamily="34" charset="-122"/>
                <a:ea typeface="微软雅黑" pitchFamily="34" charset="-122"/>
              </a:rPr>
              <a:t>O</a:t>
            </a:r>
            <a:r>
              <a:rPr kumimoji="1" lang="en-US" altLang="zh-CN" sz="1400" b="1" baseline="-25000" dirty="0">
                <a:solidFill>
                  <a:srgbClr val="0000CC"/>
                </a:solidFill>
                <a:latin typeface="微软雅黑" pitchFamily="34" charset="-122"/>
                <a:ea typeface="微软雅黑" pitchFamily="34" charset="-122"/>
              </a:rPr>
              <a:t>1</a:t>
            </a:r>
          </a:p>
        </p:txBody>
      </p:sp>
      <p:sp>
        <p:nvSpPr>
          <p:cNvPr id="54" name="Text Box 50"/>
          <p:cNvSpPr txBox="1">
            <a:spLocks noChangeArrowheads="1"/>
          </p:cNvSpPr>
          <p:nvPr/>
        </p:nvSpPr>
        <p:spPr bwMode="auto">
          <a:xfrm>
            <a:off x="8299584" y="1981183"/>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2</a:t>
            </a:r>
          </a:p>
        </p:txBody>
      </p:sp>
      <p:sp>
        <p:nvSpPr>
          <p:cNvPr id="55" name="Text Box 52"/>
          <p:cNvSpPr txBox="1">
            <a:spLocks noChangeArrowheads="1"/>
          </p:cNvSpPr>
          <p:nvPr/>
        </p:nvSpPr>
        <p:spPr bwMode="auto">
          <a:xfrm>
            <a:off x="6965981" y="1862237"/>
            <a:ext cx="364202"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chemeClr val="bg1"/>
                </a:solidFill>
                <a:latin typeface="微软雅黑" pitchFamily="34" charset="-122"/>
                <a:ea typeface="微软雅黑" pitchFamily="34" charset="-122"/>
              </a:rPr>
              <a:t>存</a:t>
            </a:r>
          </a:p>
          <a:p>
            <a:r>
              <a:rPr kumimoji="1" lang="zh-CN" altLang="en-US" sz="1400" b="1" dirty="0">
                <a:solidFill>
                  <a:schemeClr val="bg1"/>
                </a:solidFill>
                <a:latin typeface="微软雅黑" pitchFamily="34" charset="-122"/>
                <a:ea typeface="微软雅黑" pitchFamily="34" charset="-122"/>
              </a:rPr>
              <a:t>储</a:t>
            </a:r>
          </a:p>
          <a:p>
            <a:r>
              <a:rPr kumimoji="1" lang="zh-CN" altLang="en-US" sz="1400" b="1" dirty="0">
                <a:solidFill>
                  <a:schemeClr val="bg1"/>
                </a:solidFill>
                <a:latin typeface="微软雅黑" pitchFamily="34" charset="-122"/>
                <a:ea typeface="微软雅黑" pitchFamily="34" charset="-122"/>
              </a:rPr>
              <a:t>器</a:t>
            </a:r>
          </a:p>
        </p:txBody>
      </p:sp>
      <p:sp>
        <p:nvSpPr>
          <p:cNvPr id="56" name="Text Box 153"/>
          <p:cNvSpPr txBox="1">
            <a:spLocks noChangeArrowheads="1"/>
          </p:cNvSpPr>
          <p:nvPr/>
        </p:nvSpPr>
        <p:spPr bwMode="auto">
          <a:xfrm>
            <a:off x="6420643" y="2883397"/>
            <a:ext cx="155042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itchFamily="34" charset="-122"/>
                <a:ea typeface="微软雅黑" pitchFamily="34" charset="-122"/>
              </a:rPr>
              <a:t>(a) </a:t>
            </a:r>
            <a:r>
              <a:rPr kumimoji="1" lang="zh-CN" altLang="en-US" sz="1600" b="1" dirty="0">
                <a:latin typeface="微软雅黑" pitchFamily="34" charset="-122"/>
                <a:ea typeface="微软雅黑" pitchFamily="34" charset="-122"/>
              </a:rPr>
              <a:t>通过存储器</a:t>
            </a:r>
          </a:p>
        </p:txBody>
      </p:sp>
      <p:sp>
        <p:nvSpPr>
          <p:cNvPr id="57" name="Text Box 176"/>
          <p:cNvSpPr txBox="1">
            <a:spLocks noChangeArrowheads="1"/>
          </p:cNvSpPr>
          <p:nvPr/>
        </p:nvSpPr>
        <p:spPr bwMode="auto">
          <a:xfrm>
            <a:off x="8315950" y="2339965"/>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3</a:t>
            </a:r>
          </a:p>
        </p:txBody>
      </p:sp>
      <p:sp>
        <p:nvSpPr>
          <p:cNvPr id="58" name="Freeform 177"/>
          <p:cNvSpPr>
            <a:spLocks/>
          </p:cNvSpPr>
          <p:nvPr/>
        </p:nvSpPr>
        <p:spPr bwMode="auto">
          <a:xfrm>
            <a:off x="5788908" y="1829215"/>
            <a:ext cx="2598020" cy="342731"/>
          </a:xfrm>
          <a:custGeom>
            <a:avLst/>
            <a:gdLst>
              <a:gd name="T0" fmla="*/ 0 w 2540"/>
              <a:gd name="T1" fmla="*/ 0 h 363"/>
              <a:gd name="T2" fmla="*/ 1134 w 2540"/>
              <a:gd name="T3" fmla="*/ 0 h 363"/>
              <a:gd name="T4" fmla="*/ 1587 w 2540"/>
              <a:gd name="T5" fmla="*/ 363 h 363"/>
              <a:gd name="T6" fmla="*/ 2540 w 2540"/>
              <a:gd name="T7" fmla="*/ 363 h 363"/>
            </a:gdLst>
            <a:ahLst/>
            <a:cxnLst>
              <a:cxn ang="0">
                <a:pos x="T0" y="T1"/>
              </a:cxn>
              <a:cxn ang="0">
                <a:pos x="T2" y="T3"/>
              </a:cxn>
              <a:cxn ang="0">
                <a:pos x="T4" y="T5"/>
              </a:cxn>
              <a:cxn ang="0">
                <a:pos x="T6" y="T7"/>
              </a:cxn>
            </a:cxnLst>
            <a:rect l="0" t="0" r="r" b="b"/>
            <a:pathLst>
              <a:path w="2540" h="363">
                <a:moveTo>
                  <a:pt x="0" y="0"/>
                </a:moveTo>
                <a:lnTo>
                  <a:pt x="1134" y="0"/>
                </a:lnTo>
                <a:lnTo>
                  <a:pt x="1587" y="363"/>
                </a:lnTo>
                <a:lnTo>
                  <a:pt x="2540" y="363"/>
                </a:lnTo>
              </a:path>
            </a:pathLst>
          </a:custGeom>
          <a:ln w="57150">
            <a:solidFill>
              <a:srgbClr val="FF00FF"/>
            </a:solidFill>
            <a:headEnd type="none" w="med" len="med"/>
            <a:tailEnd type="triangle" w="med" len="lg"/>
          </a:ln>
        </p:spPr>
        <p:style>
          <a:lnRef idx="1">
            <a:schemeClr val="dk1"/>
          </a:lnRef>
          <a:fillRef idx="0">
            <a:schemeClr val="dk1"/>
          </a:fillRef>
          <a:effectRef idx="0">
            <a:schemeClr val="dk1"/>
          </a:effectRef>
          <a:fontRef idx="minor">
            <a:schemeClr val="tx1"/>
          </a:fontRef>
        </p:style>
        <p:txBody>
          <a:bodyPr/>
          <a:lstStyle/>
          <a:p>
            <a:endParaRPr lang="zh-CN" altLang="en-US" sz="1400" b="1">
              <a:ln>
                <a:solidFill>
                  <a:srgbClr val="FF00FF"/>
                </a:solidFill>
              </a:ln>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157955743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wipe(left)">
                                      <p:cBhvr>
                                        <p:cTn id="7" dur="2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animBg="1"/>
    </p:bld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4" y="928610"/>
            <a:ext cx="5095033" cy="3554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a:lnSpc>
                <a:spcPts val="3000"/>
              </a:lnSpc>
              <a:buClr>
                <a:srgbClr val="0070C0"/>
              </a:buClr>
              <a:buFont typeface="Wingdings" pitchFamily="2" charset="2"/>
              <a:buChar char="l"/>
            </a:pPr>
            <a:r>
              <a:rPr lang="en-US" altLang="zh-CN" b="1" dirty="0">
                <a:solidFill>
                  <a:srgbClr val="0000FF"/>
                </a:solidFill>
                <a:latin typeface="微软雅黑" pitchFamily="34" charset="-122"/>
                <a:ea typeface="微软雅黑" pitchFamily="34" charset="-122"/>
              </a:rPr>
              <a:t>(1) </a:t>
            </a:r>
            <a:r>
              <a:rPr lang="zh-CN" altLang="en-US" b="1" dirty="0">
                <a:latin typeface="微软雅黑" pitchFamily="34" charset="-122"/>
                <a:ea typeface="微软雅黑" pitchFamily="34" charset="-122"/>
              </a:rPr>
              <a:t>数据报从输入端口通过</a:t>
            </a:r>
            <a:r>
              <a:rPr lang="zh-CN" altLang="en-US" b="1" dirty="0">
                <a:solidFill>
                  <a:srgbClr val="C00000"/>
                </a:solidFill>
                <a:latin typeface="微软雅黑" pitchFamily="34" charset="-122"/>
                <a:ea typeface="微软雅黑" pitchFamily="34" charset="-122"/>
              </a:rPr>
              <a:t>共享的总线</a:t>
            </a:r>
            <a:r>
              <a:rPr lang="zh-CN" altLang="en-US" b="1" dirty="0">
                <a:latin typeface="微软雅黑" pitchFamily="34" charset="-122"/>
                <a:ea typeface="微软雅黑" pitchFamily="34" charset="-122"/>
              </a:rPr>
              <a:t>直接传送到合适的输出端口，而</a:t>
            </a:r>
            <a:r>
              <a:rPr lang="zh-CN" altLang="en-US" b="1" dirty="0">
                <a:solidFill>
                  <a:srgbClr val="C00000"/>
                </a:solidFill>
                <a:latin typeface="微软雅黑" pitchFamily="34" charset="-122"/>
                <a:ea typeface="微软雅黑" pitchFamily="34" charset="-122"/>
              </a:rPr>
              <a:t>不需要</a:t>
            </a:r>
            <a:r>
              <a:rPr lang="zh-CN" altLang="en-US" b="1" dirty="0">
                <a:latin typeface="微软雅黑" pitchFamily="34" charset="-122"/>
                <a:ea typeface="微软雅黑" pitchFamily="34" charset="-122"/>
              </a:rPr>
              <a:t>路由选择处理机的干预。</a:t>
            </a:r>
          </a:p>
          <a:p>
            <a:pPr marL="342900" indent="-342900">
              <a:lnSpc>
                <a:spcPts val="3000"/>
              </a:lnSpc>
              <a:buClr>
                <a:srgbClr val="0070C0"/>
              </a:buClr>
              <a:buFont typeface="Wingdings" pitchFamily="2" charset="2"/>
              <a:buChar char="l"/>
            </a:pPr>
            <a:r>
              <a:rPr lang="en-US" altLang="zh-CN" b="1" dirty="0">
                <a:solidFill>
                  <a:srgbClr val="0000FF"/>
                </a:solidFill>
                <a:latin typeface="微软雅黑" pitchFamily="34" charset="-122"/>
                <a:ea typeface="微软雅黑" pitchFamily="34" charset="-122"/>
              </a:rPr>
              <a:t>(2) </a:t>
            </a:r>
            <a:r>
              <a:rPr lang="zh-CN" altLang="en-US" b="1" dirty="0">
                <a:latin typeface="微软雅黑" pitchFamily="34" charset="-122"/>
                <a:ea typeface="微软雅黑" pitchFamily="34" charset="-122"/>
              </a:rPr>
              <a:t>当分组到达输入端口时若发现</a:t>
            </a:r>
            <a:r>
              <a:rPr lang="zh-CN" altLang="en-US" b="1" dirty="0">
                <a:solidFill>
                  <a:srgbClr val="C00000"/>
                </a:solidFill>
                <a:latin typeface="微软雅黑" pitchFamily="34" charset="-122"/>
                <a:ea typeface="微软雅黑" pitchFamily="34" charset="-122"/>
              </a:rPr>
              <a:t>总线忙，</a:t>
            </a:r>
            <a:r>
              <a:rPr lang="zh-CN" altLang="en-US" b="1" dirty="0">
                <a:latin typeface="微软雅黑" pitchFamily="34" charset="-122"/>
                <a:ea typeface="微软雅黑" pitchFamily="34" charset="-122"/>
              </a:rPr>
              <a:t>则被阻塞而不能通过交换结构，并在输入端口</a:t>
            </a:r>
            <a:r>
              <a:rPr lang="zh-CN" altLang="en-US" b="1" dirty="0">
                <a:solidFill>
                  <a:srgbClr val="C00000"/>
                </a:solidFill>
                <a:latin typeface="微软雅黑" pitchFamily="34" charset="-122"/>
                <a:ea typeface="微软雅黑" pitchFamily="34" charset="-122"/>
              </a:rPr>
              <a:t>排队</a:t>
            </a:r>
            <a:r>
              <a:rPr lang="zh-CN" altLang="en-US" b="1" dirty="0">
                <a:latin typeface="微软雅黑" pitchFamily="34" charset="-122"/>
                <a:ea typeface="微软雅黑" pitchFamily="34" charset="-122"/>
              </a:rPr>
              <a:t>等待。</a:t>
            </a:r>
            <a:r>
              <a:rPr lang="en-US" altLang="zh-CN" b="1" dirty="0">
                <a:latin typeface="微软雅黑" pitchFamily="34" charset="-122"/>
                <a:ea typeface="微软雅黑" pitchFamily="34" charset="-122"/>
              </a:rPr>
              <a:t> </a:t>
            </a:r>
          </a:p>
          <a:p>
            <a:pPr marL="342900" indent="-342900">
              <a:lnSpc>
                <a:spcPts val="3000"/>
              </a:lnSpc>
              <a:buClr>
                <a:srgbClr val="0070C0"/>
              </a:buClr>
              <a:buFont typeface="Wingdings" pitchFamily="2" charset="2"/>
              <a:buChar char="l"/>
            </a:pPr>
            <a:r>
              <a:rPr lang="en-US" altLang="zh-CN" b="1" dirty="0">
                <a:solidFill>
                  <a:srgbClr val="0000FF"/>
                </a:solidFill>
                <a:latin typeface="微软雅黑" pitchFamily="34" charset="-122"/>
                <a:ea typeface="微软雅黑" pitchFamily="34" charset="-122"/>
              </a:rPr>
              <a:t>(3)</a:t>
            </a:r>
            <a:r>
              <a:rPr lang="zh-CN" altLang="en-US" b="1" dirty="0">
                <a:latin typeface="微软雅黑" pitchFamily="34" charset="-122"/>
                <a:ea typeface="微软雅黑" pitchFamily="34" charset="-122"/>
              </a:rPr>
              <a:t>因为每一个要转发的分组都要通过这一条总线，因此路由器的转发带宽就受总线速率的限制。</a:t>
            </a:r>
          </a:p>
        </p:txBody>
      </p:sp>
      <p:sp>
        <p:nvSpPr>
          <p:cNvPr id="5" name="AutoShape 5"/>
          <p:cNvSpPr>
            <a:spLocks noChangeArrowheads="1"/>
          </p:cNvSpPr>
          <p:nvPr/>
        </p:nvSpPr>
        <p:spPr bwMode="auto">
          <a:xfrm>
            <a:off x="545144" y="620859"/>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5"/>
          <p:cNvSpPr/>
          <p:nvPr/>
        </p:nvSpPr>
        <p:spPr>
          <a:xfrm>
            <a:off x="616085" y="579675"/>
            <a:ext cx="1467068" cy="400110"/>
          </a:xfrm>
          <a:prstGeom prst="rect">
            <a:avLst/>
          </a:prstGeom>
        </p:spPr>
        <p:txBody>
          <a:bodyPr wrap="none">
            <a:spAutoFit/>
          </a:bodyPr>
          <a:lstStyle/>
          <a:p>
            <a:r>
              <a:rPr lang="zh-CN" altLang="en-US" sz="2000" b="1" dirty="0">
                <a:latin typeface="微软雅黑" pitchFamily="34" charset="-122"/>
                <a:ea typeface="微软雅黑" pitchFamily="34" charset="-122"/>
              </a:rPr>
              <a:t>通过存储器</a:t>
            </a:r>
          </a:p>
        </p:txBody>
      </p:sp>
      <p:sp>
        <p:nvSpPr>
          <p:cNvPr id="7" name="Rectangle 53"/>
          <p:cNvSpPr>
            <a:spLocks noChangeArrowheads="1"/>
          </p:cNvSpPr>
          <p:nvPr/>
        </p:nvSpPr>
        <p:spPr bwMode="auto">
          <a:xfrm>
            <a:off x="6267367" y="1753502"/>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 name="Rectangle 54"/>
          <p:cNvSpPr>
            <a:spLocks noChangeArrowheads="1"/>
          </p:cNvSpPr>
          <p:nvPr/>
        </p:nvSpPr>
        <p:spPr bwMode="auto">
          <a:xfrm>
            <a:off x="6572174" y="1725177"/>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9" name="Rectangle 55"/>
          <p:cNvSpPr>
            <a:spLocks noChangeArrowheads="1"/>
          </p:cNvSpPr>
          <p:nvPr/>
        </p:nvSpPr>
        <p:spPr bwMode="auto">
          <a:xfrm>
            <a:off x="6879027" y="1711958"/>
            <a:ext cx="183089"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0" name="Line 56"/>
          <p:cNvSpPr>
            <a:spLocks noChangeShapeType="1"/>
          </p:cNvSpPr>
          <p:nvPr/>
        </p:nvSpPr>
        <p:spPr bwMode="auto">
          <a:xfrm flipV="1">
            <a:off x="6143603" y="1796933"/>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 name="Line 57"/>
          <p:cNvSpPr>
            <a:spLocks noChangeShapeType="1"/>
          </p:cNvSpPr>
          <p:nvPr/>
        </p:nvSpPr>
        <p:spPr bwMode="auto">
          <a:xfrm>
            <a:off x="6450456" y="1796933"/>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 name="Line 58"/>
          <p:cNvSpPr>
            <a:spLocks noChangeShapeType="1"/>
          </p:cNvSpPr>
          <p:nvPr/>
        </p:nvSpPr>
        <p:spPr bwMode="auto">
          <a:xfrm>
            <a:off x="6756285" y="1796933"/>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3" name="Line 59"/>
          <p:cNvSpPr>
            <a:spLocks noChangeShapeType="1"/>
          </p:cNvSpPr>
          <p:nvPr/>
        </p:nvSpPr>
        <p:spPr bwMode="auto">
          <a:xfrm>
            <a:off x="7062115" y="1796933"/>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4" name="Rectangle 60"/>
          <p:cNvSpPr>
            <a:spLocks noChangeArrowheads="1"/>
          </p:cNvSpPr>
          <p:nvPr/>
        </p:nvSpPr>
        <p:spPr bwMode="auto">
          <a:xfrm>
            <a:off x="6267367" y="2448405"/>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5" name="Rectangle 61"/>
          <p:cNvSpPr>
            <a:spLocks noChangeArrowheads="1"/>
          </p:cNvSpPr>
          <p:nvPr/>
        </p:nvSpPr>
        <p:spPr bwMode="auto">
          <a:xfrm>
            <a:off x="6572174" y="2420080"/>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 name="Rectangle 62"/>
          <p:cNvSpPr>
            <a:spLocks noChangeArrowheads="1"/>
          </p:cNvSpPr>
          <p:nvPr/>
        </p:nvSpPr>
        <p:spPr bwMode="auto">
          <a:xfrm>
            <a:off x="6879027" y="2404973"/>
            <a:ext cx="183089" cy="170894"/>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7" name="Line 63"/>
          <p:cNvSpPr>
            <a:spLocks noChangeShapeType="1"/>
          </p:cNvSpPr>
          <p:nvPr/>
        </p:nvSpPr>
        <p:spPr bwMode="auto">
          <a:xfrm flipV="1">
            <a:off x="6143603" y="2490892"/>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8" name="Line 64"/>
          <p:cNvSpPr>
            <a:spLocks noChangeShapeType="1"/>
          </p:cNvSpPr>
          <p:nvPr/>
        </p:nvSpPr>
        <p:spPr bwMode="auto">
          <a:xfrm>
            <a:off x="6450456" y="2490892"/>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9" name="Line 65"/>
          <p:cNvSpPr>
            <a:spLocks noChangeShapeType="1"/>
          </p:cNvSpPr>
          <p:nvPr/>
        </p:nvSpPr>
        <p:spPr bwMode="auto">
          <a:xfrm>
            <a:off x="6756285" y="2490892"/>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0" name="Line 66"/>
          <p:cNvSpPr>
            <a:spLocks noChangeShapeType="1"/>
          </p:cNvSpPr>
          <p:nvPr/>
        </p:nvSpPr>
        <p:spPr bwMode="auto">
          <a:xfrm>
            <a:off x="7062115" y="2490892"/>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1" name="Rectangle 67"/>
          <p:cNvSpPr>
            <a:spLocks noChangeArrowheads="1"/>
          </p:cNvSpPr>
          <p:nvPr/>
        </p:nvSpPr>
        <p:spPr bwMode="auto">
          <a:xfrm flipH="1">
            <a:off x="7995971" y="1753502"/>
            <a:ext cx="184112"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2" name="Rectangle 68"/>
          <p:cNvSpPr>
            <a:spLocks noChangeArrowheads="1"/>
          </p:cNvSpPr>
          <p:nvPr/>
        </p:nvSpPr>
        <p:spPr bwMode="auto">
          <a:xfrm flipH="1">
            <a:off x="7691164" y="1725177"/>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3" name="Rectangle 69"/>
          <p:cNvSpPr>
            <a:spLocks noChangeArrowheads="1"/>
          </p:cNvSpPr>
          <p:nvPr/>
        </p:nvSpPr>
        <p:spPr bwMode="auto">
          <a:xfrm flipH="1">
            <a:off x="7383289" y="1711958"/>
            <a:ext cx="185134"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4" name="Line 70"/>
          <p:cNvSpPr>
            <a:spLocks noChangeShapeType="1"/>
          </p:cNvSpPr>
          <p:nvPr/>
        </p:nvSpPr>
        <p:spPr bwMode="auto">
          <a:xfrm flipV="1">
            <a:off x="8175991" y="1796933"/>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5" name="Line 71"/>
          <p:cNvSpPr>
            <a:spLocks noChangeShapeType="1"/>
          </p:cNvSpPr>
          <p:nvPr/>
        </p:nvSpPr>
        <p:spPr bwMode="auto">
          <a:xfrm rot="10800000" flipH="1">
            <a:off x="7874252" y="1796933"/>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6" name="Line 72"/>
          <p:cNvSpPr>
            <a:spLocks noChangeShapeType="1"/>
          </p:cNvSpPr>
          <p:nvPr/>
        </p:nvSpPr>
        <p:spPr bwMode="auto">
          <a:xfrm>
            <a:off x="7568422" y="1796933"/>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7" name="Line 73"/>
          <p:cNvSpPr>
            <a:spLocks noChangeShapeType="1"/>
          </p:cNvSpPr>
          <p:nvPr/>
        </p:nvSpPr>
        <p:spPr bwMode="auto">
          <a:xfrm>
            <a:off x="7262593" y="1796933"/>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8" name="Rectangle 74"/>
          <p:cNvSpPr>
            <a:spLocks noChangeArrowheads="1"/>
          </p:cNvSpPr>
          <p:nvPr/>
        </p:nvSpPr>
        <p:spPr bwMode="auto">
          <a:xfrm flipH="1">
            <a:off x="7995971" y="2448405"/>
            <a:ext cx="184112"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9" name="Rectangle 75"/>
          <p:cNvSpPr>
            <a:spLocks noChangeArrowheads="1"/>
          </p:cNvSpPr>
          <p:nvPr/>
        </p:nvSpPr>
        <p:spPr bwMode="auto">
          <a:xfrm flipH="1">
            <a:off x="7691164" y="2420080"/>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0" name="Rectangle 76"/>
          <p:cNvSpPr>
            <a:spLocks noChangeArrowheads="1"/>
          </p:cNvSpPr>
          <p:nvPr/>
        </p:nvSpPr>
        <p:spPr bwMode="auto">
          <a:xfrm flipH="1">
            <a:off x="7383289" y="2404973"/>
            <a:ext cx="185134" cy="170894"/>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1" name="Line 77"/>
          <p:cNvSpPr>
            <a:spLocks noChangeShapeType="1"/>
          </p:cNvSpPr>
          <p:nvPr/>
        </p:nvSpPr>
        <p:spPr bwMode="auto">
          <a:xfrm flipV="1">
            <a:off x="8175991" y="2490892"/>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2" name="Line 78"/>
          <p:cNvSpPr>
            <a:spLocks noChangeShapeType="1"/>
          </p:cNvSpPr>
          <p:nvPr/>
        </p:nvSpPr>
        <p:spPr bwMode="auto">
          <a:xfrm>
            <a:off x="7874252" y="2490892"/>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3" name="Line 79"/>
          <p:cNvSpPr>
            <a:spLocks noChangeShapeType="1"/>
          </p:cNvSpPr>
          <p:nvPr/>
        </p:nvSpPr>
        <p:spPr bwMode="auto">
          <a:xfrm>
            <a:off x="7568422" y="2490892"/>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4" name="Line 80"/>
          <p:cNvSpPr>
            <a:spLocks noChangeShapeType="1"/>
          </p:cNvSpPr>
          <p:nvPr/>
        </p:nvSpPr>
        <p:spPr bwMode="auto">
          <a:xfrm>
            <a:off x="7262593" y="2490892"/>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5" name="Rectangle 81"/>
          <p:cNvSpPr>
            <a:spLocks noChangeArrowheads="1"/>
          </p:cNvSpPr>
          <p:nvPr/>
        </p:nvSpPr>
        <p:spPr bwMode="auto">
          <a:xfrm>
            <a:off x="6267367" y="2093400"/>
            <a:ext cx="183089" cy="8591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6" name="Rectangle 82"/>
          <p:cNvSpPr>
            <a:spLocks noChangeArrowheads="1"/>
          </p:cNvSpPr>
          <p:nvPr/>
        </p:nvSpPr>
        <p:spPr bwMode="auto">
          <a:xfrm>
            <a:off x="6572174" y="2065075"/>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7" name="Rectangle 83"/>
          <p:cNvSpPr>
            <a:spLocks noChangeArrowheads="1"/>
          </p:cNvSpPr>
          <p:nvPr/>
        </p:nvSpPr>
        <p:spPr bwMode="auto">
          <a:xfrm>
            <a:off x="6879027" y="2051856"/>
            <a:ext cx="183089"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8" name="Line 84"/>
          <p:cNvSpPr>
            <a:spLocks noChangeShapeType="1"/>
          </p:cNvSpPr>
          <p:nvPr/>
        </p:nvSpPr>
        <p:spPr bwMode="auto">
          <a:xfrm flipV="1">
            <a:off x="6143603" y="2136831"/>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9" name="Line 85"/>
          <p:cNvSpPr>
            <a:spLocks noChangeShapeType="1"/>
          </p:cNvSpPr>
          <p:nvPr/>
        </p:nvSpPr>
        <p:spPr bwMode="auto">
          <a:xfrm>
            <a:off x="6450456" y="2136831"/>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0" name="Line 86"/>
          <p:cNvSpPr>
            <a:spLocks noChangeShapeType="1"/>
          </p:cNvSpPr>
          <p:nvPr/>
        </p:nvSpPr>
        <p:spPr bwMode="auto">
          <a:xfrm>
            <a:off x="6756285" y="2136831"/>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1" name="Line 87"/>
          <p:cNvSpPr>
            <a:spLocks noChangeShapeType="1"/>
          </p:cNvSpPr>
          <p:nvPr/>
        </p:nvSpPr>
        <p:spPr bwMode="auto">
          <a:xfrm>
            <a:off x="7062115" y="2136831"/>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2" name="Rectangle 88"/>
          <p:cNvSpPr>
            <a:spLocks noChangeArrowheads="1"/>
          </p:cNvSpPr>
          <p:nvPr/>
        </p:nvSpPr>
        <p:spPr bwMode="auto">
          <a:xfrm flipH="1">
            <a:off x="7995971" y="2093400"/>
            <a:ext cx="184112" cy="8591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3" name="Rectangle 89"/>
          <p:cNvSpPr>
            <a:spLocks noChangeArrowheads="1"/>
          </p:cNvSpPr>
          <p:nvPr/>
        </p:nvSpPr>
        <p:spPr bwMode="auto">
          <a:xfrm flipH="1">
            <a:off x="7691164" y="2065075"/>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4" name="Rectangle 90"/>
          <p:cNvSpPr>
            <a:spLocks noChangeArrowheads="1"/>
          </p:cNvSpPr>
          <p:nvPr/>
        </p:nvSpPr>
        <p:spPr bwMode="auto">
          <a:xfrm flipH="1">
            <a:off x="7383289" y="2051856"/>
            <a:ext cx="185134"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5" name="Line 91"/>
          <p:cNvSpPr>
            <a:spLocks noChangeShapeType="1"/>
          </p:cNvSpPr>
          <p:nvPr/>
        </p:nvSpPr>
        <p:spPr bwMode="auto">
          <a:xfrm flipV="1">
            <a:off x="8175991" y="2136831"/>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6" name="Line 92"/>
          <p:cNvSpPr>
            <a:spLocks noChangeShapeType="1"/>
          </p:cNvSpPr>
          <p:nvPr/>
        </p:nvSpPr>
        <p:spPr bwMode="auto">
          <a:xfrm rot="10800000" flipH="1">
            <a:off x="7874252" y="2136831"/>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7" name="Line 93"/>
          <p:cNvSpPr>
            <a:spLocks noChangeShapeType="1"/>
          </p:cNvSpPr>
          <p:nvPr/>
        </p:nvSpPr>
        <p:spPr bwMode="auto">
          <a:xfrm>
            <a:off x="7568422" y="2136831"/>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8" name="Line 94"/>
          <p:cNvSpPr>
            <a:spLocks noChangeShapeType="1"/>
          </p:cNvSpPr>
          <p:nvPr/>
        </p:nvSpPr>
        <p:spPr bwMode="auto">
          <a:xfrm>
            <a:off x="7262593" y="2136831"/>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9" name="Text Box 95"/>
          <p:cNvSpPr txBox="1">
            <a:spLocks noChangeArrowheads="1"/>
          </p:cNvSpPr>
          <p:nvPr/>
        </p:nvSpPr>
        <p:spPr bwMode="auto">
          <a:xfrm>
            <a:off x="5999474" y="1486561"/>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1</a:t>
            </a:r>
          </a:p>
        </p:txBody>
      </p:sp>
      <p:sp>
        <p:nvSpPr>
          <p:cNvPr id="50" name="Text Box 96"/>
          <p:cNvSpPr txBox="1">
            <a:spLocks noChangeArrowheads="1"/>
          </p:cNvSpPr>
          <p:nvPr/>
        </p:nvSpPr>
        <p:spPr bwMode="auto">
          <a:xfrm>
            <a:off x="5998451" y="2174854"/>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3</a:t>
            </a:r>
          </a:p>
        </p:txBody>
      </p:sp>
      <p:sp>
        <p:nvSpPr>
          <p:cNvPr id="51" name="Text Box 97"/>
          <p:cNvSpPr txBox="1">
            <a:spLocks noChangeArrowheads="1"/>
          </p:cNvSpPr>
          <p:nvPr/>
        </p:nvSpPr>
        <p:spPr bwMode="auto">
          <a:xfrm>
            <a:off x="5998451" y="1816073"/>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2</a:t>
            </a:r>
          </a:p>
        </p:txBody>
      </p:sp>
      <p:sp>
        <p:nvSpPr>
          <p:cNvPr id="52" name="Text Box 98"/>
          <p:cNvSpPr txBox="1">
            <a:spLocks noChangeArrowheads="1"/>
          </p:cNvSpPr>
          <p:nvPr/>
        </p:nvSpPr>
        <p:spPr bwMode="auto">
          <a:xfrm>
            <a:off x="8177634" y="1528094"/>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1</a:t>
            </a:r>
          </a:p>
        </p:txBody>
      </p:sp>
      <p:sp>
        <p:nvSpPr>
          <p:cNvPr id="53" name="Text Box 99"/>
          <p:cNvSpPr txBox="1">
            <a:spLocks noChangeArrowheads="1"/>
          </p:cNvSpPr>
          <p:nvPr/>
        </p:nvSpPr>
        <p:spPr bwMode="auto">
          <a:xfrm>
            <a:off x="8178657" y="1887820"/>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2</a:t>
            </a:r>
          </a:p>
        </p:txBody>
      </p:sp>
      <p:sp>
        <p:nvSpPr>
          <p:cNvPr id="54" name="AutoShape 100"/>
          <p:cNvSpPr>
            <a:spLocks noChangeArrowheads="1"/>
          </p:cNvSpPr>
          <p:nvPr/>
        </p:nvSpPr>
        <p:spPr bwMode="auto">
          <a:xfrm>
            <a:off x="7102007" y="1498577"/>
            <a:ext cx="235254" cy="1190589"/>
          </a:xfrm>
          <a:prstGeom prst="upDownArrow">
            <a:avLst>
              <a:gd name="adj1" fmla="val 50000"/>
              <a:gd name="adj2" fmla="val 56273"/>
            </a:avLst>
          </a:prstGeom>
          <a:solidFill>
            <a:srgbClr val="00B050"/>
          </a:solidFill>
          <a:ln w="9525">
            <a:solidFill>
              <a:schemeClr val="tx1"/>
            </a:solidFill>
            <a:miter lim="800000"/>
            <a:headEnd/>
            <a:tailEnd/>
          </a:ln>
          <a:effec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sp>
        <p:nvSpPr>
          <p:cNvPr id="55" name="Text Box 155"/>
          <p:cNvSpPr txBox="1">
            <a:spLocks noChangeArrowheads="1"/>
          </p:cNvSpPr>
          <p:nvPr/>
        </p:nvSpPr>
        <p:spPr bwMode="auto">
          <a:xfrm>
            <a:off x="6533083" y="2747414"/>
            <a:ext cx="136287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itchFamily="34" charset="-122"/>
                <a:ea typeface="微软雅黑" pitchFamily="34" charset="-122"/>
              </a:rPr>
              <a:t>(b) </a:t>
            </a:r>
            <a:r>
              <a:rPr kumimoji="1" lang="zh-CN" altLang="en-US" sz="1600" b="1" dirty="0">
                <a:latin typeface="微软雅黑" pitchFamily="34" charset="-122"/>
                <a:ea typeface="微软雅黑" pitchFamily="34" charset="-122"/>
              </a:rPr>
              <a:t>通过总线</a:t>
            </a:r>
          </a:p>
        </p:txBody>
      </p:sp>
      <p:sp>
        <p:nvSpPr>
          <p:cNvPr id="56" name="Text Box 171"/>
          <p:cNvSpPr txBox="1">
            <a:spLocks noChangeArrowheads="1"/>
          </p:cNvSpPr>
          <p:nvPr/>
        </p:nvSpPr>
        <p:spPr bwMode="auto">
          <a:xfrm>
            <a:off x="7449774" y="1178537"/>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总线</a:t>
            </a:r>
          </a:p>
        </p:txBody>
      </p:sp>
      <p:sp>
        <p:nvSpPr>
          <p:cNvPr id="57" name="Line 172"/>
          <p:cNvSpPr>
            <a:spLocks noChangeShapeType="1"/>
          </p:cNvSpPr>
          <p:nvPr/>
        </p:nvSpPr>
        <p:spPr bwMode="auto">
          <a:xfrm flipV="1">
            <a:off x="7214520" y="1417818"/>
            <a:ext cx="304404" cy="16573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8" name="Text Box 175"/>
          <p:cNvSpPr txBox="1">
            <a:spLocks noChangeArrowheads="1"/>
          </p:cNvSpPr>
          <p:nvPr/>
        </p:nvSpPr>
        <p:spPr bwMode="auto">
          <a:xfrm>
            <a:off x="8192976" y="2246602"/>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3</a:t>
            </a:r>
          </a:p>
        </p:txBody>
      </p:sp>
      <p:sp>
        <p:nvSpPr>
          <p:cNvPr id="59" name="Freeform 178"/>
          <p:cNvSpPr>
            <a:spLocks/>
          </p:cNvSpPr>
          <p:nvPr/>
        </p:nvSpPr>
        <p:spPr bwMode="auto">
          <a:xfrm>
            <a:off x="6199859" y="1735852"/>
            <a:ext cx="2087622" cy="342731"/>
          </a:xfrm>
          <a:custGeom>
            <a:avLst/>
            <a:gdLst>
              <a:gd name="T0" fmla="*/ 0 w 2041"/>
              <a:gd name="T1" fmla="*/ 0 h 363"/>
              <a:gd name="T2" fmla="*/ 998 w 2041"/>
              <a:gd name="T3" fmla="*/ 0 h 363"/>
              <a:gd name="T4" fmla="*/ 998 w 2041"/>
              <a:gd name="T5" fmla="*/ 363 h 363"/>
              <a:gd name="T6" fmla="*/ 2041 w 2041"/>
              <a:gd name="T7" fmla="*/ 363 h 363"/>
            </a:gdLst>
            <a:ahLst/>
            <a:cxnLst>
              <a:cxn ang="0">
                <a:pos x="T0" y="T1"/>
              </a:cxn>
              <a:cxn ang="0">
                <a:pos x="T2" y="T3"/>
              </a:cxn>
              <a:cxn ang="0">
                <a:pos x="T4" y="T5"/>
              </a:cxn>
              <a:cxn ang="0">
                <a:pos x="T6" y="T7"/>
              </a:cxn>
            </a:cxnLst>
            <a:rect l="0" t="0" r="r" b="b"/>
            <a:pathLst>
              <a:path w="2041" h="363">
                <a:moveTo>
                  <a:pt x="0" y="0"/>
                </a:moveTo>
                <a:lnTo>
                  <a:pt x="998" y="0"/>
                </a:lnTo>
                <a:lnTo>
                  <a:pt x="998" y="363"/>
                </a:lnTo>
                <a:lnTo>
                  <a:pt x="2041" y="363"/>
                </a:lnTo>
              </a:path>
            </a:pathLst>
          </a:custGeom>
          <a:ln w="57150">
            <a:solidFill>
              <a:srgbClr val="FF00FF"/>
            </a:solidFill>
            <a:headEnd type="none" w="med" len="med"/>
            <a:tailEnd type="triangle" w="med" len="lg"/>
          </a:ln>
        </p:spPr>
        <p:style>
          <a:lnRef idx="1">
            <a:schemeClr val="dk1"/>
          </a:lnRef>
          <a:fillRef idx="0">
            <a:schemeClr val="dk1"/>
          </a:fillRef>
          <a:effectRef idx="0">
            <a:schemeClr val="dk1"/>
          </a:effectRef>
          <a:fontRef idx="minor">
            <a:schemeClr val="tx1"/>
          </a:fontRef>
        </p:style>
        <p:txBody>
          <a:bodyPr/>
          <a:lstStyle/>
          <a:p>
            <a:endParaRPr lang="zh-CN" altLang="en-US" sz="1400" b="1">
              <a:ln>
                <a:solidFill>
                  <a:srgbClr val="FF00FF"/>
                </a:solidFill>
              </a:ln>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172458632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59"/>
                                        </p:tgtEl>
                                        <p:attrNameLst>
                                          <p:attrName>style.visibility</p:attrName>
                                        </p:attrNameLst>
                                      </p:cBhvr>
                                      <p:to>
                                        <p:strVal val="visible"/>
                                      </p:to>
                                    </p:set>
                                    <p:animEffect transition="in" filter="wipe(left)">
                                      <p:cBhvr>
                                        <p:cTn id="7" dur="2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4" y="1309582"/>
            <a:ext cx="5010163" cy="34265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a:lnSpc>
                <a:spcPts val="2600"/>
              </a:lnSpc>
              <a:buClr>
                <a:srgbClr val="0070C0"/>
              </a:buClr>
              <a:buFont typeface="Wingdings" pitchFamily="2" charset="2"/>
              <a:buChar char="l"/>
            </a:pPr>
            <a:r>
              <a:rPr lang="en-US" altLang="zh-CN" sz="1600" b="1" dirty="0">
                <a:solidFill>
                  <a:srgbClr val="0000FF"/>
                </a:solidFill>
                <a:latin typeface="微软雅黑" pitchFamily="34" charset="-122"/>
                <a:ea typeface="微软雅黑" pitchFamily="34" charset="-122"/>
              </a:rPr>
              <a:t>(1) </a:t>
            </a:r>
            <a:r>
              <a:rPr lang="zh-CN" altLang="en-US" sz="1600" b="1" dirty="0">
                <a:latin typeface="微软雅黑" pitchFamily="34" charset="-122"/>
                <a:ea typeface="微软雅黑" pitchFamily="34" charset="-122"/>
              </a:rPr>
              <a:t>它有 </a:t>
            </a:r>
            <a:r>
              <a:rPr lang="en-US" altLang="zh-CN" sz="1600" b="1" dirty="0">
                <a:latin typeface="微软雅黑" pitchFamily="34" charset="-122"/>
                <a:ea typeface="微软雅黑" pitchFamily="34" charset="-122"/>
              </a:rPr>
              <a:t>2N </a:t>
            </a:r>
            <a:r>
              <a:rPr lang="zh-CN" altLang="en-US" sz="1600" b="1" dirty="0">
                <a:latin typeface="微软雅黑" pitchFamily="34" charset="-122"/>
                <a:ea typeface="微软雅黑" pitchFamily="34" charset="-122"/>
              </a:rPr>
              <a:t>条总线，控制交叉节点可以使 </a:t>
            </a:r>
            <a:r>
              <a:rPr lang="en-US" altLang="zh-CN" sz="1600" b="1" dirty="0">
                <a:latin typeface="微软雅黑" pitchFamily="34" charset="-122"/>
                <a:ea typeface="微软雅黑" pitchFamily="34" charset="-122"/>
              </a:rPr>
              <a:t>N </a:t>
            </a:r>
            <a:r>
              <a:rPr lang="zh-CN" altLang="en-US" sz="1600" b="1" dirty="0">
                <a:latin typeface="微软雅黑" pitchFamily="34" charset="-122"/>
                <a:ea typeface="微软雅黑" pitchFamily="34" charset="-122"/>
              </a:rPr>
              <a:t>个输入端口和 </a:t>
            </a:r>
            <a:r>
              <a:rPr lang="en-US" altLang="zh-CN" sz="1600" b="1" dirty="0">
                <a:latin typeface="微软雅黑" pitchFamily="34" charset="-122"/>
                <a:ea typeface="微软雅黑" pitchFamily="34" charset="-122"/>
              </a:rPr>
              <a:t>N </a:t>
            </a:r>
            <a:r>
              <a:rPr lang="zh-CN" altLang="en-US" sz="1600" b="1" dirty="0">
                <a:latin typeface="微软雅黑" pitchFamily="34" charset="-122"/>
                <a:ea typeface="微软雅黑" pitchFamily="34" charset="-122"/>
              </a:rPr>
              <a:t>个输出端口相连接。</a:t>
            </a:r>
          </a:p>
          <a:p>
            <a:pPr marL="342900" indent="-342900">
              <a:lnSpc>
                <a:spcPts val="2600"/>
              </a:lnSpc>
              <a:buClr>
                <a:srgbClr val="0070C0"/>
              </a:buClr>
              <a:buFont typeface="Wingdings" pitchFamily="2" charset="2"/>
              <a:buChar char="l"/>
            </a:pPr>
            <a:r>
              <a:rPr lang="en-US" altLang="zh-CN" sz="1600" b="1" dirty="0">
                <a:solidFill>
                  <a:srgbClr val="0000FF"/>
                </a:solidFill>
                <a:latin typeface="微软雅黑" pitchFamily="34" charset="-122"/>
                <a:ea typeface="微软雅黑" pitchFamily="34" charset="-122"/>
              </a:rPr>
              <a:t>(2)</a:t>
            </a:r>
            <a:r>
              <a:rPr lang="en-US" altLang="zh-CN" sz="1600" b="1" dirty="0">
                <a:latin typeface="微软雅黑" pitchFamily="34" charset="-122"/>
                <a:ea typeface="微软雅黑" pitchFamily="34" charset="-122"/>
              </a:rPr>
              <a:t> </a:t>
            </a:r>
            <a:r>
              <a:rPr lang="zh-CN" altLang="en-US" sz="1600" b="1" dirty="0">
                <a:latin typeface="微软雅黑" pitchFamily="34" charset="-122"/>
                <a:ea typeface="微软雅黑" pitchFamily="34" charset="-122"/>
              </a:rPr>
              <a:t>当输入端口收到一个分组时，就将它发送到</a:t>
            </a:r>
            <a:r>
              <a:rPr lang="zh-CN" altLang="en-US" sz="1600" b="1" dirty="0">
                <a:solidFill>
                  <a:srgbClr val="C00000"/>
                </a:solidFill>
                <a:latin typeface="微软雅黑" pitchFamily="34" charset="-122"/>
                <a:ea typeface="微软雅黑" pitchFamily="34" charset="-122"/>
              </a:rPr>
              <a:t>水平总线</a:t>
            </a:r>
            <a:r>
              <a:rPr lang="zh-CN" altLang="en-US" sz="1600" b="1" dirty="0">
                <a:latin typeface="微软雅黑" pitchFamily="34" charset="-122"/>
                <a:ea typeface="微软雅黑" pitchFamily="34" charset="-122"/>
              </a:rPr>
              <a:t>上。</a:t>
            </a:r>
            <a:endParaRPr lang="en-US" altLang="zh-CN" sz="1600" b="1" dirty="0">
              <a:latin typeface="微软雅黑" pitchFamily="34" charset="-122"/>
              <a:ea typeface="微软雅黑" pitchFamily="34" charset="-122"/>
            </a:endParaRPr>
          </a:p>
          <a:p>
            <a:pPr marL="342900" indent="-342900">
              <a:lnSpc>
                <a:spcPts val="2600"/>
              </a:lnSpc>
              <a:buClr>
                <a:srgbClr val="0070C0"/>
              </a:buClr>
              <a:buFont typeface="Wingdings" pitchFamily="2" charset="2"/>
              <a:buChar char="l"/>
            </a:pPr>
            <a:r>
              <a:rPr lang="en-US" altLang="zh-CN" sz="1600" b="1" dirty="0">
                <a:solidFill>
                  <a:srgbClr val="0000FF"/>
                </a:solidFill>
                <a:latin typeface="微软雅黑" pitchFamily="34" charset="-122"/>
                <a:ea typeface="微软雅黑" pitchFamily="34" charset="-122"/>
              </a:rPr>
              <a:t>(3) </a:t>
            </a:r>
            <a:r>
              <a:rPr lang="zh-CN" altLang="en-US" sz="1600" b="1" dirty="0">
                <a:latin typeface="微软雅黑" pitchFamily="34" charset="-122"/>
                <a:ea typeface="微软雅黑" pitchFamily="34" charset="-122"/>
              </a:rPr>
              <a:t>若通向输出端口的垂直总线空闲，则将</a:t>
            </a:r>
            <a:r>
              <a:rPr lang="zh-CN" altLang="en-US" sz="1600" b="1" dirty="0">
                <a:solidFill>
                  <a:srgbClr val="C00000"/>
                </a:solidFill>
                <a:latin typeface="微软雅黑" pitchFamily="34" charset="-122"/>
                <a:ea typeface="微软雅黑" pitchFamily="34" charset="-122"/>
              </a:rPr>
              <a:t>垂直总线</a:t>
            </a:r>
            <a:r>
              <a:rPr lang="zh-CN" altLang="en-US" sz="1600" b="1" dirty="0">
                <a:latin typeface="微软雅黑" pitchFamily="34" charset="-122"/>
                <a:ea typeface="微软雅黑" pitchFamily="34" charset="-122"/>
              </a:rPr>
              <a:t>与水平总线接通，把该分组转发到这个输出端口。若输出端口已被占用，分组在输入端口</a:t>
            </a:r>
            <a:r>
              <a:rPr lang="zh-CN" altLang="en-US" sz="1600" b="1" dirty="0">
                <a:solidFill>
                  <a:srgbClr val="C00000"/>
                </a:solidFill>
                <a:latin typeface="微软雅黑" pitchFamily="34" charset="-122"/>
                <a:ea typeface="微软雅黑" pitchFamily="34" charset="-122"/>
              </a:rPr>
              <a:t>排队</a:t>
            </a:r>
            <a:r>
              <a:rPr lang="zh-CN" altLang="en-US" sz="1600" b="1" dirty="0">
                <a:latin typeface="微软雅黑" pitchFamily="34" charset="-122"/>
                <a:ea typeface="微软雅黑" pitchFamily="34" charset="-122"/>
              </a:rPr>
              <a:t>等待。</a:t>
            </a:r>
            <a:endParaRPr lang="en-US" altLang="zh-CN" sz="1600" b="1" dirty="0">
              <a:latin typeface="微软雅黑" pitchFamily="34" charset="-122"/>
              <a:ea typeface="微软雅黑" pitchFamily="34" charset="-122"/>
            </a:endParaRPr>
          </a:p>
          <a:p>
            <a:pPr marL="342900" indent="-342900">
              <a:lnSpc>
                <a:spcPts val="2600"/>
              </a:lnSpc>
              <a:buClr>
                <a:srgbClr val="0070C0"/>
              </a:buClr>
              <a:buFont typeface="Wingdings" pitchFamily="2" charset="2"/>
              <a:buChar char="l"/>
            </a:pPr>
            <a:r>
              <a:rPr lang="zh-CN" altLang="en-US" sz="1600" b="1" dirty="0">
                <a:solidFill>
                  <a:srgbClr val="0000FF"/>
                </a:solidFill>
                <a:latin typeface="微软雅黑" pitchFamily="34" charset="-122"/>
                <a:ea typeface="微软雅黑" pitchFamily="34" charset="-122"/>
              </a:rPr>
              <a:t>特点：</a:t>
            </a:r>
            <a:r>
              <a:rPr lang="zh-CN" altLang="en-US" sz="1600" b="1" dirty="0">
                <a:latin typeface="微软雅黑" pitchFamily="34" charset="-122"/>
                <a:ea typeface="微软雅黑" pitchFamily="34" charset="-122"/>
              </a:rPr>
              <a:t>是一种</a:t>
            </a:r>
            <a:r>
              <a:rPr lang="zh-CN" altLang="en-US" sz="1600" b="1" dirty="0">
                <a:solidFill>
                  <a:srgbClr val="C00000"/>
                </a:solidFill>
                <a:latin typeface="微软雅黑" pitchFamily="34" charset="-122"/>
                <a:ea typeface="微软雅黑" pitchFamily="34" charset="-122"/>
              </a:rPr>
              <a:t>无阻塞</a:t>
            </a:r>
            <a:r>
              <a:rPr lang="zh-CN" altLang="en-US" sz="1600" b="1" dirty="0">
                <a:latin typeface="微软雅黑" pitchFamily="34" charset="-122"/>
                <a:ea typeface="微软雅黑" pitchFamily="34" charset="-122"/>
              </a:rPr>
              <a:t>的交换结构，分组可以转发到任何一个输出端口，只要这个输出端口没有被别的分组占用。</a:t>
            </a:r>
          </a:p>
        </p:txBody>
      </p:sp>
      <p:sp>
        <p:nvSpPr>
          <p:cNvPr id="5" name="AutoShape 5"/>
          <p:cNvSpPr>
            <a:spLocks noChangeArrowheads="1"/>
          </p:cNvSpPr>
          <p:nvPr/>
        </p:nvSpPr>
        <p:spPr bwMode="auto">
          <a:xfrm>
            <a:off x="545144" y="620859"/>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5"/>
          <p:cNvSpPr/>
          <p:nvPr/>
        </p:nvSpPr>
        <p:spPr>
          <a:xfrm>
            <a:off x="616085" y="579675"/>
            <a:ext cx="5317610" cy="400110"/>
          </a:xfrm>
          <a:prstGeom prst="rect">
            <a:avLst/>
          </a:prstGeom>
        </p:spPr>
        <p:txBody>
          <a:bodyPr wrap="none">
            <a:spAutoFit/>
          </a:bodyPr>
          <a:lstStyle/>
          <a:p>
            <a:r>
              <a:rPr lang="zh-CN" altLang="en-US" sz="2000" b="1" dirty="0">
                <a:latin typeface="微软雅黑" pitchFamily="34" charset="-122"/>
                <a:ea typeface="微软雅黑" pitchFamily="34" charset="-122"/>
              </a:rPr>
              <a:t>通过纵横交换结构 </a:t>
            </a:r>
            <a:r>
              <a:rPr lang="en-US" altLang="zh-CN" sz="2000" b="1" dirty="0">
                <a:latin typeface="微软雅黑" pitchFamily="34" charset="-122"/>
                <a:ea typeface="微软雅黑" pitchFamily="34" charset="-122"/>
              </a:rPr>
              <a:t>(crossbar switch fabric)</a:t>
            </a:r>
          </a:p>
        </p:txBody>
      </p:sp>
      <p:sp>
        <p:nvSpPr>
          <p:cNvPr id="7" name="Rectangle 102"/>
          <p:cNvSpPr>
            <a:spLocks noChangeArrowheads="1"/>
          </p:cNvSpPr>
          <p:nvPr/>
        </p:nvSpPr>
        <p:spPr bwMode="auto">
          <a:xfrm>
            <a:off x="6049877" y="1686499"/>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 name="Rectangle 103"/>
          <p:cNvSpPr>
            <a:spLocks noChangeArrowheads="1"/>
          </p:cNvSpPr>
          <p:nvPr/>
        </p:nvSpPr>
        <p:spPr bwMode="auto">
          <a:xfrm>
            <a:off x="6355707" y="1659119"/>
            <a:ext cx="183088" cy="141624"/>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9" name="Rectangle 104"/>
          <p:cNvSpPr>
            <a:spLocks noChangeArrowheads="1"/>
          </p:cNvSpPr>
          <p:nvPr/>
        </p:nvSpPr>
        <p:spPr bwMode="auto">
          <a:xfrm>
            <a:off x="6661536" y="1644956"/>
            <a:ext cx="184112"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0" name="Line 105"/>
          <p:cNvSpPr>
            <a:spLocks noChangeShapeType="1"/>
          </p:cNvSpPr>
          <p:nvPr/>
        </p:nvSpPr>
        <p:spPr bwMode="auto">
          <a:xfrm flipV="1">
            <a:off x="5927136" y="1729931"/>
            <a:ext cx="12581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 name="Line 106"/>
          <p:cNvSpPr>
            <a:spLocks noChangeShapeType="1"/>
          </p:cNvSpPr>
          <p:nvPr/>
        </p:nvSpPr>
        <p:spPr bwMode="auto">
          <a:xfrm>
            <a:off x="6232966" y="1729931"/>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 name="Line 107"/>
          <p:cNvSpPr>
            <a:spLocks noChangeShapeType="1"/>
          </p:cNvSpPr>
          <p:nvPr/>
        </p:nvSpPr>
        <p:spPr bwMode="auto">
          <a:xfrm>
            <a:off x="6538795" y="1729931"/>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3" name="Line 108"/>
          <p:cNvSpPr>
            <a:spLocks noChangeShapeType="1"/>
          </p:cNvSpPr>
          <p:nvPr/>
        </p:nvSpPr>
        <p:spPr bwMode="auto">
          <a:xfrm>
            <a:off x="6845648" y="1729931"/>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4" name="Rectangle 110"/>
          <p:cNvSpPr>
            <a:spLocks noChangeArrowheads="1"/>
          </p:cNvSpPr>
          <p:nvPr/>
        </p:nvSpPr>
        <p:spPr bwMode="auto">
          <a:xfrm>
            <a:off x="6052946" y="2359687"/>
            <a:ext cx="184112" cy="8591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5" name="Rectangle 111"/>
          <p:cNvSpPr>
            <a:spLocks noChangeArrowheads="1"/>
          </p:cNvSpPr>
          <p:nvPr/>
        </p:nvSpPr>
        <p:spPr bwMode="auto">
          <a:xfrm>
            <a:off x="6359799" y="2332307"/>
            <a:ext cx="183088" cy="141624"/>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 name="Rectangle 112"/>
          <p:cNvSpPr>
            <a:spLocks noChangeArrowheads="1"/>
          </p:cNvSpPr>
          <p:nvPr/>
        </p:nvSpPr>
        <p:spPr bwMode="auto">
          <a:xfrm>
            <a:off x="6664605" y="2318143"/>
            <a:ext cx="184112"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7" name="Line 113"/>
          <p:cNvSpPr>
            <a:spLocks noChangeShapeType="1"/>
          </p:cNvSpPr>
          <p:nvPr/>
        </p:nvSpPr>
        <p:spPr bwMode="auto">
          <a:xfrm flipV="1">
            <a:off x="5931227" y="2403118"/>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8" name="Line 114"/>
          <p:cNvSpPr>
            <a:spLocks noChangeShapeType="1"/>
          </p:cNvSpPr>
          <p:nvPr/>
        </p:nvSpPr>
        <p:spPr bwMode="auto">
          <a:xfrm>
            <a:off x="6237057" y="2403118"/>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9" name="Line 115"/>
          <p:cNvSpPr>
            <a:spLocks noChangeShapeType="1"/>
          </p:cNvSpPr>
          <p:nvPr/>
        </p:nvSpPr>
        <p:spPr bwMode="auto">
          <a:xfrm>
            <a:off x="6542887" y="2403118"/>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0" name="Line 116"/>
          <p:cNvSpPr>
            <a:spLocks noChangeShapeType="1"/>
          </p:cNvSpPr>
          <p:nvPr/>
        </p:nvSpPr>
        <p:spPr bwMode="auto">
          <a:xfrm>
            <a:off x="6848717" y="2403118"/>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1" name="Text Box 117"/>
          <p:cNvSpPr txBox="1">
            <a:spLocks noChangeArrowheads="1"/>
          </p:cNvSpPr>
          <p:nvPr/>
        </p:nvSpPr>
        <p:spPr bwMode="auto">
          <a:xfrm>
            <a:off x="5766642" y="2108797"/>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3</a:t>
            </a:r>
          </a:p>
        </p:txBody>
      </p:sp>
      <p:sp>
        <p:nvSpPr>
          <p:cNvPr id="22" name="Rectangle 118"/>
          <p:cNvSpPr>
            <a:spLocks noChangeArrowheads="1"/>
          </p:cNvSpPr>
          <p:nvPr/>
        </p:nvSpPr>
        <p:spPr bwMode="auto">
          <a:xfrm>
            <a:off x="6049877" y="2027342"/>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3" name="Rectangle 119"/>
          <p:cNvSpPr>
            <a:spLocks noChangeArrowheads="1"/>
          </p:cNvSpPr>
          <p:nvPr/>
        </p:nvSpPr>
        <p:spPr bwMode="auto">
          <a:xfrm>
            <a:off x="6355707" y="1999017"/>
            <a:ext cx="183088" cy="141624"/>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4" name="Rectangle 120"/>
          <p:cNvSpPr>
            <a:spLocks noChangeArrowheads="1"/>
          </p:cNvSpPr>
          <p:nvPr/>
        </p:nvSpPr>
        <p:spPr bwMode="auto">
          <a:xfrm>
            <a:off x="6661536" y="1984855"/>
            <a:ext cx="184112"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5" name="Line 121"/>
          <p:cNvSpPr>
            <a:spLocks noChangeShapeType="1"/>
          </p:cNvSpPr>
          <p:nvPr/>
        </p:nvSpPr>
        <p:spPr bwMode="auto">
          <a:xfrm flipV="1">
            <a:off x="5927136" y="2069829"/>
            <a:ext cx="12581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6" name="Line 122"/>
          <p:cNvSpPr>
            <a:spLocks noChangeShapeType="1"/>
          </p:cNvSpPr>
          <p:nvPr/>
        </p:nvSpPr>
        <p:spPr bwMode="auto">
          <a:xfrm>
            <a:off x="6232966" y="2069829"/>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7" name="Line 123"/>
          <p:cNvSpPr>
            <a:spLocks noChangeShapeType="1"/>
          </p:cNvSpPr>
          <p:nvPr/>
        </p:nvSpPr>
        <p:spPr bwMode="auto">
          <a:xfrm>
            <a:off x="6538795" y="2069829"/>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8" name="Line 124"/>
          <p:cNvSpPr>
            <a:spLocks noChangeShapeType="1"/>
          </p:cNvSpPr>
          <p:nvPr/>
        </p:nvSpPr>
        <p:spPr bwMode="auto">
          <a:xfrm>
            <a:off x="6845648" y="2069829"/>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9" name="Text Box 125"/>
          <p:cNvSpPr txBox="1">
            <a:spLocks noChangeArrowheads="1"/>
          </p:cNvSpPr>
          <p:nvPr/>
        </p:nvSpPr>
        <p:spPr bwMode="auto">
          <a:xfrm>
            <a:off x="5771756" y="1750959"/>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2</a:t>
            </a:r>
          </a:p>
        </p:txBody>
      </p:sp>
      <p:grpSp>
        <p:nvGrpSpPr>
          <p:cNvPr id="30" name="Group 126"/>
          <p:cNvGrpSpPr>
            <a:grpSpLocks/>
          </p:cNvGrpSpPr>
          <p:nvPr/>
        </p:nvGrpSpPr>
        <p:grpSpPr bwMode="auto">
          <a:xfrm>
            <a:off x="7161707" y="2530580"/>
            <a:ext cx="191272" cy="924334"/>
            <a:chOff x="2919" y="2867"/>
            <a:chExt cx="192" cy="1044"/>
          </a:xfrm>
        </p:grpSpPr>
        <p:sp>
          <p:nvSpPr>
            <p:cNvPr id="31" name="Rectangle 127"/>
            <p:cNvSpPr>
              <a:spLocks noChangeArrowheads="1"/>
            </p:cNvSpPr>
            <p:nvPr/>
          </p:nvSpPr>
          <p:spPr bwMode="auto">
            <a:xfrm rot="5400000" flipH="1">
              <a:off x="2923" y="3648"/>
              <a:ext cx="184" cy="96"/>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2" name="Rectangle 128"/>
            <p:cNvSpPr>
              <a:spLocks noChangeArrowheads="1"/>
            </p:cNvSpPr>
            <p:nvPr/>
          </p:nvSpPr>
          <p:spPr bwMode="auto">
            <a:xfrm rot="5400000" flipH="1">
              <a:off x="2923" y="3309"/>
              <a:ext cx="184" cy="160"/>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3" name="Rectangle 129"/>
            <p:cNvSpPr>
              <a:spLocks noChangeArrowheads="1"/>
            </p:cNvSpPr>
            <p:nvPr/>
          </p:nvSpPr>
          <p:spPr bwMode="auto">
            <a:xfrm rot="5400000" flipH="1">
              <a:off x="2922" y="2986"/>
              <a:ext cx="185" cy="192"/>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4" name="Line 130"/>
            <p:cNvSpPr>
              <a:spLocks noChangeShapeType="1"/>
            </p:cNvSpPr>
            <p:nvPr/>
          </p:nvSpPr>
          <p:spPr bwMode="auto">
            <a:xfrm rot="5400000" flipV="1">
              <a:off x="2951" y="3848"/>
              <a:ext cx="127"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5" name="Line 131"/>
            <p:cNvSpPr>
              <a:spLocks noChangeShapeType="1"/>
            </p:cNvSpPr>
            <p:nvPr/>
          </p:nvSpPr>
          <p:spPr bwMode="auto">
            <a:xfrm rot="5400000">
              <a:off x="2953" y="3543"/>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6" name="Line 132"/>
            <p:cNvSpPr>
              <a:spLocks noChangeShapeType="1"/>
            </p:cNvSpPr>
            <p:nvPr/>
          </p:nvSpPr>
          <p:spPr bwMode="auto">
            <a:xfrm rot="5400000">
              <a:off x="2953" y="3236"/>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7" name="Line 133"/>
            <p:cNvSpPr>
              <a:spLocks noChangeShapeType="1"/>
            </p:cNvSpPr>
            <p:nvPr/>
          </p:nvSpPr>
          <p:spPr bwMode="auto">
            <a:xfrm rot="5400000">
              <a:off x="2954" y="2928"/>
              <a:ext cx="12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grpSp>
      <p:sp>
        <p:nvSpPr>
          <p:cNvPr id="38" name="Text Box 134"/>
          <p:cNvSpPr txBox="1">
            <a:spLocks noChangeArrowheads="1"/>
          </p:cNvSpPr>
          <p:nvPr/>
        </p:nvSpPr>
        <p:spPr bwMode="auto">
          <a:xfrm>
            <a:off x="7296722" y="3255697"/>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1</a:t>
            </a:r>
          </a:p>
        </p:txBody>
      </p:sp>
      <p:grpSp>
        <p:nvGrpSpPr>
          <p:cNvPr id="39" name="Group 135"/>
          <p:cNvGrpSpPr>
            <a:grpSpLocks/>
          </p:cNvGrpSpPr>
          <p:nvPr/>
        </p:nvGrpSpPr>
        <p:grpSpPr bwMode="auto">
          <a:xfrm>
            <a:off x="7598457" y="2530581"/>
            <a:ext cx="548490" cy="1027287"/>
            <a:chOff x="3357" y="2859"/>
            <a:chExt cx="551" cy="1159"/>
          </a:xfrm>
        </p:grpSpPr>
        <p:sp>
          <p:nvSpPr>
            <p:cNvPr id="40" name="Rectangle 136"/>
            <p:cNvSpPr>
              <a:spLocks noChangeArrowheads="1"/>
            </p:cNvSpPr>
            <p:nvPr/>
          </p:nvSpPr>
          <p:spPr bwMode="auto">
            <a:xfrm rot="5400000" flipH="1">
              <a:off x="3361" y="3640"/>
              <a:ext cx="184" cy="96"/>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1" name="Rectangle 137"/>
            <p:cNvSpPr>
              <a:spLocks noChangeArrowheads="1"/>
            </p:cNvSpPr>
            <p:nvPr/>
          </p:nvSpPr>
          <p:spPr bwMode="auto">
            <a:xfrm rot="5400000" flipH="1">
              <a:off x="3361" y="3301"/>
              <a:ext cx="184" cy="160"/>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2" name="Rectangle 138"/>
            <p:cNvSpPr>
              <a:spLocks noChangeArrowheads="1"/>
            </p:cNvSpPr>
            <p:nvPr/>
          </p:nvSpPr>
          <p:spPr bwMode="auto">
            <a:xfrm rot="5400000" flipH="1">
              <a:off x="3360" y="2978"/>
              <a:ext cx="185" cy="192"/>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3" name="Line 139"/>
            <p:cNvSpPr>
              <a:spLocks noChangeShapeType="1"/>
            </p:cNvSpPr>
            <p:nvPr/>
          </p:nvSpPr>
          <p:spPr bwMode="auto">
            <a:xfrm rot="5400000" flipV="1">
              <a:off x="3389" y="3840"/>
              <a:ext cx="127"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4" name="Line 140"/>
            <p:cNvSpPr>
              <a:spLocks noChangeShapeType="1"/>
            </p:cNvSpPr>
            <p:nvPr/>
          </p:nvSpPr>
          <p:spPr bwMode="auto">
            <a:xfrm rot="16200000" flipH="1">
              <a:off x="3391" y="3535"/>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5" name="Line 141"/>
            <p:cNvSpPr>
              <a:spLocks noChangeShapeType="1"/>
            </p:cNvSpPr>
            <p:nvPr/>
          </p:nvSpPr>
          <p:spPr bwMode="auto">
            <a:xfrm rot="5400000">
              <a:off x="3391" y="3228"/>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6" name="Line 142"/>
            <p:cNvSpPr>
              <a:spLocks noChangeShapeType="1"/>
            </p:cNvSpPr>
            <p:nvPr/>
          </p:nvSpPr>
          <p:spPr bwMode="auto">
            <a:xfrm rot="5400000">
              <a:off x="3392" y="2920"/>
              <a:ext cx="12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7" name="Text Box 143"/>
            <p:cNvSpPr txBox="1">
              <a:spLocks noChangeArrowheads="1"/>
            </p:cNvSpPr>
            <p:nvPr/>
          </p:nvSpPr>
          <p:spPr bwMode="auto">
            <a:xfrm>
              <a:off x="3500" y="3671"/>
              <a:ext cx="408" cy="3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2</a:t>
              </a:r>
            </a:p>
          </p:txBody>
        </p:sp>
      </p:grpSp>
      <p:sp>
        <p:nvSpPr>
          <p:cNvPr id="48" name="Rectangle 144"/>
          <p:cNvSpPr>
            <a:spLocks noChangeArrowheads="1"/>
          </p:cNvSpPr>
          <p:nvPr/>
        </p:nvSpPr>
        <p:spPr bwMode="auto">
          <a:xfrm rot="5400000" flipH="1">
            <a:off x="8045088" y="3217104"/>
            <a:ext cx="163340" cy="9512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9" name="Rectangle 145"/>
          <p:cNvSpPr>
            <a:spLocks noChangeArrowheads="1"/>
          </p:cNvSpPr>
          <p:nvPr/>
        </p:nvSpPr>
        <p:spPr bwMode="auto">
          <a:xfrm rot="5400000" flipH="1">
            <a:off x="8045089" y="2911510"/>
            <a:ext cx="163340" cy="160587"/>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0" name="Rectangle 146"/>
          <p:cNvSpPr>
            <a:spLocks noChangeArrowheads="1"/>
          </p:cNvSpPr>
          <p:nvPr/>
        </p:nvSpPr>
        <p:spPr bwMode="auto">
          <a:xfrm rot="5400000" flipH="1">
            <a:off x="8045089" y="2624249"/>
            <a:ext cx="163340" cy="191272"/>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1" name="Line 147"/>
          <p:cNvSpPr>
            <a:spLocks noChangeShapeType="1"/>
          </p:cNvSpPr>
          <p:nvPr/>
        </p:nvSpPr>
        <p:spPr bwMode="auto">
          <a:xfrm rot="5400000" flipV="1">
            <a:off x="8070620" y="3398265"/>
            <a:ext cx="11329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2" name="Line 148"/>
          <p:cNvSpPr>
            <a:spLocks noChangeShapeType="1"/>
          </p:cNvSpPr>
          <p:nvPr/>
        </p:nvSpPr>
        <p:spPr bwMode="auto">
          <a:xfrm rot="16200000" flipH="1">
            <a:off x="8072508" y="3128234"/>
            <a:ext cx="1095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3" name="Line 149"/>
          <p:cNvSpPr>
            <a:spLocks noChangeShapeType="1"/>
          </p:cNvSpPr>
          <p:nvPr/>
        </p:nvSpPr>
        <p:spPr bwMode="auto">
          <a:xfrm rot="5400000">
            <a:off x="8072981" y="2855844"/>
            <a:ext cx="10857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4" name="Line 150"/>
          <p:cNvSpPr>
            <a:spLocks noChangeShapeType="1"/>
          </p:cNvSpPr>
          <p:nvPr/>
        </p:nvSpPr>
        <p:spPr bwMode="auto">
          <a:xfrm rot="5400000">
            <a:off x="8073453" y="2584398"/>
            <a:ext cx="107634"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5" name="Text Box 151"/>
          <p:cNvSpPr txBox="1">
            <a:spLocks noChangeArrowheads="1"/>
          </p:cNvSpPr>
          <p:nvPr/>
        </p:nvSpPr>
        <p:spPr bwMode="auto">
          <a:xfrm>
            <a:off x="8195800" y="3255698"/>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3</a:t>
            </a:r>
          </a:p>
        </p:txBody>
      </p:sp>
      <p:sp>
        <p:nvSpPr>
          <p:cNvPr id="56" name="Text Box 154"/>
          <p:cNvSpPr txBox="1">
            <a:spLocks noChangeArrowheads="1"/>
          </p:cNvSpPr>
          <p:nvPr/>
        </p:nvSpPr>
        <p:spPr bwMode="auto">
          <a:xfrm>
            <a:off x="6294336" y="3663356"/>
            <a:ext cx="174278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itchFamily="34" charset="-122"/>
                <a:ea typeface="微软雅黑" pitchFamily="34" charset="-122"/>
              </a:rPr>
              <a:t>(c) </a:t>
            </a:r>
            <a:r>
              <a:rPr kumimoji="1" lang="zh-CN" altLang="en-US" sz="1600" b="1" dirty="0">
                <a:latin typeface="微软雅黑" pitchFamily="34" charset="-122"/>
                <a:ea typeface="微软雅黑" pitchFamily="34" charset="-122"/>
              </a:rPr>
              <a:t>通过互连网络</a:t>
            </a:r>
          </a:p>
        </p:txBody>
      </p:sp>
      <p:sp>
        <p:nvSpPr>
          <p:cNvPr id="57" name="Line 156"/>
          <p:cNvSpPr>
            <a:spLocks noChangeShapeType="1"/>
          </p:cNvSpPr>
          <p:nvPr/>
        </p:nvSpPr>
        <p:spPr bwMode="auto">
          <a:xfrm>
            <a:off x="7027714" y="1729931"/>
            <a:ext cx="1100579"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8" name="Line 157"/>
          <p:cNvSpPr>
            <a:spLocks noChangeShapeType="1"/>
          </p:cNvSpPr>
          <p:nvPr/>
        </p:nvSpPr>
        <p:spPr bwMode="auto">
          <a:xfrm>
            <a:off x="7027714" y="2069829"/>
            <a:ext cx="1100579"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9" name="Line 158"/>
          <p:cNvSpPr>
            <a:spLocks noChangeShapeType="1"/>
          </p:cNvSpPr>
          <p:nvPr/>
        </p:nvSpPr>
        <p:spPr bwMode="auto">
          <a:xfrm>
            <a:off x="7027714" y="2410671"/>
            <a:ext cx="1100579"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0" name="Line 159"/>
          <p:cNvSpPr>
            <a:spLocks noChangeShapeType="1"/>
          </p:cNvSpPr>
          <p:nvPr/>
        </p:nvSpPr>
        <p:spPr bwMode="auto">
          <a:xfrm rot="16200000">
            <a:off x="6884202" y="2112788"/>
            <a:ext cx="76571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1" name="Line 160"/>
          <p:cNvSpPr>
            <a:spLocks noChangeShapeType="1"/>
          </p:cNvSpPr>
          <p:nvPr/>
        </p:nvSpPr>
        <p:spPr bwMode="auto">
          <a:xfrm rot="16200000">
            <a:off x="7314819" y="2112788"/>
            <a:ext cx="76571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2" name="Line 161"/>
          <p:cNvSpPr>
            <a:spLocks noChangeShapeType="1"/>
          </p:cNvSpPr>
          <p:nvPr/>
        </p:nvSpPr>
        <p:spPr bwMode="auto">
          <a:xfrm rot="16200000">
            <a:off x="7745435" y="2112788"/>
            <a:ext cx="76571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3" name="Oval 162"/>
          <p:cNvSpPr>
            <a:spLocks noChangeArrowheads="1"/>
          </p:cNvSpPr>
          <p:nvPr/>
        </p:nvSpPr>
        <p:spPr bwMode="auto">
          <a:xfrm>
            <a:off x="8085333" y="2034895"/>
            <a:ext cx="78759"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4" name="Oval 163"/>
          <p:cNvSpPr>
            <a:spLocks noChangeArrowheads="1"/>
          </p:cNvSpPr>
          <p:nvPr/>
        </p:nvSpPr>
        <p:spPr bwMode="auto">
          <a:xfrm>
            <a:off x="8085333" y="2375738"/>
            <a:ext cx="78759"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5" name="Oval 164"/>
          <p:cNvSpPr>
            <a:spLocks noChangeArrowheads="1"/>
          </p:cNvSpPr>
          <p:nvPr/>
        </p:nvSpPr>
        <p:spPr bwMode="auto">
          <a:xfrm>
            <a:off x="8085333" y="1697830"/>
            <a:ext cx="78759" cy="6892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6" name="Oval 165"/>
          <p:cNvSpPr>
            <a:spLocks noChangeArrowheads="1"/>
          </p:cNvSpPr>
          <p:nvPr/>
        </p:nvSpPr>
        <p:spPr bwMode="auto">
          <a:xfrm>
            <a:off x="7654717" y="2375738"/>
            <a:ext cx="78758"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7" name="Oval 166"/>
          <p:cNvSpPr>
            <a:spLocks noChangeArrowheads="1"/>
          </p:cNvSpPr>
          <p:nvPr/>
        </p:nvSpPr>
        <p:spPr bwMode="auto">
          <a:xfrm>
            <a:off x="7654717" y="2034895"/>
            <a:ext cx="78758"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8" name="Oval 167"/>
          <p:cNvSpPr>
            <a:spLocks noChangeArrowheads="1"/>
          </p:cNvSpPr>
          <p:nvPr/>
        </p:nvSpPr>
        <p:spPr bwMode="auto">
          <a:xfrm>
            <a:off x="7654717" y="1697830"/>
            <a:ext cx="78758" cy="68924"/>
          </a:xfrm>
          <a:prstGeom prst="ellipse">
            <a:avLst/>
          </a:prstGeom>
          <a:solidFill>
            <a:srgbClr val="66FF33"/>
          </a:solidFill>
          <a:ln w="9525">
            <a:solidFill>
              <a:schemeClr val="hlink"/>
            </a:solidFill>
            <a:round/>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9" name="Oval 168"/>
          <p:cNvSpPr>
            <a:spLocks noChangeArrowheads="1"/>
          </p:cNvSpPr>
          <p:nvPr/>
        </p:nvSpPr>
        <p:spPr bwMode="auto">
          <a:xfrm>
            <a:off x="7224100" y="2375738"/>
            <a:ext cx="78759"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0" name="Oval 169"/>
          <p:cNvSpPr>
            <a:spLocks noChangeArrowheads="1"/>
          </p:cNvSpPr>
          <p:nvPr/>
        </p:nvSpPr>
        <p:spPr bwMode="auto">
          <a:xfrm>
            <a:off x="7224100" y="2034895"/>
            <a:ext cx="78759"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1" name="Oval 170"/>
          <p:cNvSpPr>
            <a:spLocks noChangeArrowheads="1"/>
          </p:cNvSpPr>
          <p:nvPr/>
        </p:nvSpPr>
        <p:spPr bwMode="auto">
          <a:xfrm>
            <a:off x="7224100" y="1697830"/>
            <a:ext cx="78759" cy="6892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2" name="Text Box 173"/>
          <p:cNvSpPr txBox="1">
            <a:spLocks noChangeArrowheads="1"/>
          </p:cNvSpPr>
          <p:nvPr/>
        </p:nvSpPr>
        <p:spPr bwMode="auto">
          <a:xfrm>
            <a:off x="7619673" y="1204527"/>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互连网络</a:t>
            </a:r>
          </a:p>
        </p:txBody>
      </p:sp>
      <p:sp>
        <p:nvSpPr>
          <p:cNvPr id="73" name="Line 174"/>
          <p:cNvSpPr>
            <a:spLocks noChangeShapeType="1"/>
          </p:cNvSpPr>
          <p:nvPr/>
        </p:nvSpPr>
        <p:spPr bwMode="auto">
          <a:xfrm flipV="1">
            <a:off x="7910076" y="1483055"/>
            <a:ext cx="161003" cy="43240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4" name="Line 179"/>
          <p:cNvSpPr>
            <a:spLocks noChangeShapeType="1"/>
          </p:cNvSpPr>
          <p:nvPr/>
        </p:nvSpPr>
        <p:spPr bwMode="auto">
          <a:xfrm>
            <a:off x="5924067" y="1658670"/>
            <a:ext cx="1762358" cy="21716"/>
          </a:xfrm>
          <a:prstGeom prst="line">
            <a:avLst/>
          </a:prstGeom>
          <a:ln w="57150">
            <a:solidFill>
              <a:srgbClr val="FF00FF"/>
            </a:solidFill>
            <a:headEnd/>
            <a:tailEnd type="triangle" w="med" len="lg"/>
          </a:ln>
        </p:spPr>
        <p:style>
          <a:lnRef idx="1">
            <a:schemeClr val="dk1"/>
          </a:lnRef>
          <a:fillRef idx="0">
            <a:schemeClr val="dk1"/>
          </a:fillRef>
          <a:effectRef idx="0">
            <a:schemeClr val="dk1"/>
          </a:effectRef>
          <a:fontRef idx="minor">
            <a:schemeClr val="tx1"/>
          </a:fontRef>
        </p:style>
        <p:txBody>
          <a:bodyPr/>
          <a:lstStyle/>
          <a:p>
            <a:endParaRPr lang="zh-CN" altLang="en-US" sz="1400" b="1">
              <a:ln>
                <a:solidFill>
                  <a:srgbClr val="FF00FF"/>
                </a:solidFill>
              </a:ln>
              <a:solidFill>
                <a:srgbClr val="0000CC"/>
              </a:solidFill>
              <a:latin typeface="微软雅黑" pitchFamily="34" charset="-122"/>
              <a:ea typeface="微软雅黑" pitchFamily="34" charset="-122"/>
            </a:endParaRPr>
          </a:p>
        </p:txBody>
      </p:sp>
      <p:sp>
        <p:nvSpPr>
          <p:cNvPr id="75" name="Line 180"/>
          <p:cNvSpPr>
            <a:spLocks noChangeShapeType="1"/>
          </p:cNvSpPr>
          <p:nvPr/>
        </p:nvSpPr>
        <p:spPr bwMode="auto">
          <a:xfrm rot="16200000" flipH="1">
            <a:off x="6980658" y="2570113"/>
            <a:ext cx="1564147" cy="21635"/>
          </a:xfrm>
          <a:prstGeom prst="line">
            <a:avLst/>
          </a:prstGeom>
          <a:ln w="57150">
            <a:solidFill>
              <a:srgbClr val="FF00FF"/>
            </a:solidFill>
            <a:headEnd/>
            <a:tailEnd type="triangle" w="med" len="lg"/>
          </a:ln>
        </p:spPr>
        <p:style>
          <a:lnRef idx="1">
            <a:schemeClr val="dk1"/>
          </a:lnRef>
          <a:fillRef idx="0">
            <a:schemeClr val="dk1"/>
          </a:fillRef>
          <a:effectRef idx="0">
            <a:schemeClr val="dk1"/>
          </a:effectRef>
          <a:fontRef idx="minor">
            <a:schemeClr val="tx1"/>
          </a:fontRef>
        </p:style>
        <p:txBody>
          <a:bodyPr/>
          <a:lstStyle/>
          <a:p>
            <a:endParaRPr lang="zh-CN" altLang="en-US" sz="1400" b="1">
              <a:ln>
                <a:solidFill>
                  <a:srgbClr val="FF00FF"/>
                </a:solidFill>
              </a:ln>
              <a:solidFill>
                <a:srgbClr val="0000CC"/>
              </a:solidFill>
              <a:latin typeface="微软雅黑" pitchFamily="34" charset="-122"/>
              <a:ea typeface="微软雅黑" pitchFamily="34" charset="-122"/>
            </a:endParaRPr>
          </a:p>
        </p:txBody>
      </p:sp>
      <p:sp>
        <p:nvSpPr>
          <p:cNvPr id="76" name="Rectangle 8"/>
          <p:cNvSpPr>
            <a:spLocks noChangeArrowheads="1"/>
          </p:cNvSpPr>
          <p:nvPr/>
        </p:nvSpPr>
        <p:spPr bwMode="auto">
          <a:xfrm>
            <a:off x="545144" y="928609"/>
            <a:ext cx="6367172"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a:lnSpc>
                <a:spcPts val="3000"/>
              </a:lnSpc>
              <a:buClr>
                <a:srgbClr val="0070C0"/>
              </a:buClr>
              <a:buFont typeface="Wingdings" pitchFamily="2" charset="2"/>
              <a:buChar char="l"/>
            </a:pPr>
            <a:r>
              <a:rPr lang="zh-CN" altLang="en-US" sz="1600" b="1" dirty="0">
                <a:latin typeface="微软雅黑" pitchFamily="34" charset="-122"/>
                <a:ea typeface="微软雅黑" pitchFamily="34" charset="-122"/>
              </a:rPr>
              <a:t>常被称为</a:t>
            </a:r>
            <a:r>
              <a:rPr lang="zh-CN" altLang="en-US" sz="1600" b="1" dirty="0">
                <a:solidFill>
                  <a:srgbClr val="C00000"/>
                </a:solidFill>
                <a:latin typeface="微软雅黑" pitchFamily="34" charset="-122"/>
                <a:ea typeface="微软雅黑" pitchFamily="34" charset="-122"/>
              </a:rPr>
              <a:t>互连网络</a:t>
            </a:r>
            <a:r>
              <a:rPr lang="zh-CN" altLang="en-US" sz="1600" b="1" dirty="0">
                <a:latin typeface="微软雅黑" pitchFamily="34" charset="-122"/>
                <a:ea typeface="微软雅黑" pitchFamily="34" charset="-122"/>
              </a:rPr>
              <a:t> </a:t>
            </a:r>
            <a:r>
              <a:rPr lang="en-US" altLang="zh-CN" sz="1600" b="1" dirty="0">
                <a:latin typeface="微软雅黑" pitchFamily="34" charset="-122"/>
                <a:ea typeface="微软雅黑" pitchFamily="34" charset="-122"/>
              </a:rPr>
              <a:t>(interconnection network)</a:t>
            </a:r>
            <a:r>
              <a:rPr lang="zh-CN" altLang="en-US" sz="1600" b="1" dirty="0">
                <a:latin typeface="微软雅黑" pitchFamily="34" charset="-122"/>
                <a:ea typeface="微软雅黑" pitchFamily="34" charset="-122"/>
              </a:rPr>
              <a:t>。</a:t>
            </a:r>
          </a:p>
        </p:txBody>
      </p:sp>
    </p:spTree>
    <p:extLst>
      <p:ext uri="{BB962C8B-B14F-4D97-AF65-F5344CB8AC3E}">
        <p14:creationId xmlns:p14="http://schemas.microsoft.com/office/powerpoint/2010/main" val="235639561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4"/>
                                        </p:tgtEl>
                                        <p:attrNameLst>
                                          <p:attrName>style.visibility</p:attrName>
                                        </p:attrNameLst>
                                      </p:cBhvr>
                                      <p:to>
                                        <p:strVal val="visible"/>
                                      </p:to>
                                    </p:set>
                                    <p:animEffect transition="in" filter="wipe(left)">
                                      <p:cBhvr>
                                        <p:cTn id="7" dur="1500"/>
                                        <p:tgtEl>
                                          <p:spTgt spid="74"/>
                                        </p:tgtEl>
                                      </p:cBhvr>
                                    </p:animEffect>
                                  </p:childTnLst>
                                </p:cTn>
                              </p:par>
                            </p:childTnLst>
                          </p:cTn>
                        </p:par>
                        <p:par>
                          <p:cTn id="8" fill="hold">
                            <p:stCondLst>
                              <p:cond delay="1500"/>
                            </p:stCondLst>
                            <p:childTnLst>
                              <p:par>
                                <p:cTn id="9" presetID="22" presetClass="entr" presetSubtype="1" fill="hold" grpId="0" nodeType="afterEffect">
                                  <p:stCondLst>
                                    <p:cond delay="1000"/>
                                  </p:stCondLst>
                                  <p:childTnLst>
                                    <p:set>
                                      <p:cBhvr>
                                        <p:cTn id="10" dur="1" fill="hold">
                                          <p:stCondLst>
                                            <p:cond delay="0"/>
                                          </p:stCondLst>
                                        </p:cTn>
                                        <p:tgtEl>
                                          <p:spTgt spid="75"/>
                                        </p:tgtEl>
                                        <p:attrNameLst>
                                          <p:attrName>style.visibility</p:attrName>
                                        </p:attrNameLst>
                                      </p:cBhvr>
                                      <p:to>
                                        <p:strVal val="visible"/>
                                      </p:to>
                                    </p:set>
                                    <p:animEffect transition="in" filter="wipe(up)">
                                      <p:cBhvr>
                                        <p:cTn id="11" dur="1500"/>
                                        <p:tgtEl>
                                          <p:spTgt spid="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animBg="1"/>
      <p:bldP spid="75" grpId="0" animBg="1"/>
    </p:bld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9"/>
          <p:cNvSpPr>
            <a:spLocks noChangeArrowheads="1"/>
          </p:cNvSpPr>
          <p:nvPr/>
        </p:nvSpPr>
        <p:spPr bwMode="auto">
          <a:xfrm>
            <a:off x="2303831" y="1289183"/>
            <a:ext cx="6189542"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3" name="Rectangle 10"/>
          <p:cNvSpPr>
            <a:spLocks noChangeArrowheads="1"/>
          </p:cNvSpPr>
          <p:nvPr/>
        </p:nvSpPr>
        <p:spPr bwMode="auto">
          <a:xfrm>
            <a:off x="2303831" y="1895608"/>
            <a:ext cx="6189542"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4" name="Rectangle 27"/>
          <p:cNvSpPr>
            <a:spLocks noChangeArrowheads="1"/>
          </p:cNvSpPr>
          <p:nvPr/>
        </p:nvSpPr>
        <p:spPr bwMode="auto">
          <a:xfrm>
            <a:off x="490266" y="1289183"/>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5" name="Rectangle 29"/>
          <p:cNvSpPr>
            <a:spLocks noChangeArrowheads="1"/>
          </p:cNvSpPr>
          <p:nvPr/>
        </p:nvSpPr>
        <p:spPr bwMode="auto">
          <a:xfrm>
            <a:off x="499155" y="1384115"/>
            <a:ext cx="1627651" cy="7078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4.7</a:t>
            </a:r>
          </a:p>
          <a:p>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多播</a:t>
            </a:r>
          </a:p>
        </p:txBody>
      </p:sp>
      <p:sp>
        <p:nvSpPr>
          <p:cNvPr id="6" name="Rectangle 9"/>
          <p:cNvSpPr>
            <a:spLocks noChangeArrowheads="1"/>
          </p:cNvSpPr>
          <p:nvPr/>
        </p:nvSpPr>
        <p:spPr bwMode="auto">
          <a:xfrm>
            <a:off x="2303830" y="2508819"/>
            <a:ext cx="6189543"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8" name="Line 16"/>
          <p:cNvSpPr>
            <a:spLocks noChangeShapeType="1"/>
          </p:cNvSpPr>
          <p:nvPr/>
        </p:nvSpPr>
        <p:spPr bwMode="auto">
          <a:xfrm>
            <a:off x="3311894" y="1125380"/>
            <a:ext cx="0" cy="2283662"/>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 name="Rectangle 8"/>
          <p:cNvSpPr>
            <a:spLocks noChangeArrowheads="1"/>
          </p:cNvSpPr>
          <p:nvPr/>
        </p:nvSpPr>
        <p:spPr bwMode="auto">
          <a:xfrm>
            <a:off x="2287349" y="1254639"/>
            <a:ext cx="6206024" cy="1631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zh-CN" sz="2000" b="1" dirty="0">
                <a:solidFill>
                  <a:schemeClr val="bg1"/>
                </a:solidFill>
                <a:latin typeface="微软雅黑" pitchFamily="34" charset="-122"/>
                <a:ea typeface="微软雅黑" pitchFamily="34" charset="-122"/>
              </a:rPr>
              <a:t>4.7.1                                           IP </a:t>
            </a:r>
            <a:r>
              <a:rPr lang="zh-CN" altLang="en-US" sz="2000" b="1" dirty="0">
                <a:solidFill>
                  <a:schemeClr val="bg1"/>
                </a:solidFill>
                <a:latin typeface="微软雅黑" pitchFamily="34" charset="-122"/>
                <a:ea typeface="微软雅黑" pitchFamily="34" charset="-122"/>
              </a:rPr>
              <a:t>多播的基本概念</a:t>
            </a:r>
            <a:endParaRPr lang="en-US" altLang="zh-CN" sz="2000" b="1" dirty="0">
              <a:solidFill>
                <a:schemeClr val="bg1"/>
              </a:solidFill>
              <a:latin typeface="微软雅黑" pitchFamily="34" charset="-122"/>
              <a:ea typeface="微软雅黑" pitchFamily="34" charset="-122"/>
            </a:endParaRPr>
          </a:p>
          <a:p>
            <a:endParaRPr lang="zh-CN" altLang="en-US"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4.7.2                                  </a:t>
            </a:r>
            <a:r>
              <a:rPr lang="zh-CN" altLang="en-US" sz="2000" b="1" dirty="0">
                <a:solidFill>
                  <a:schemeClr val="bg1"/>
                </a:solidFill>
                <a:latin typeface="微软雅黑" pitchFamily="34" charset="-122"/>
                <a:ea typeface="微软雅黑" pitchFamily="34" charset="-122"/>
              </a:rPr>
              <a:t>在局域网上进行硬件多播</a:t>
            </a:r>
            <a:endParaRPr lang="en-US" altLang="zh-CN" sz="2000" b="1" dirty="0">
              <a:solidFill>
                <a:schemeClr val="bg1"/>
              </a:solidFill>
              <a:latin typeface="微软雅黑" pitchFamily="34" charset="-122"/>
              <a:ea typeface="微软雅黑" pitchFamily="34" charset="-122"/>
            </a:endParaRPr>
          </a:p>
          <a:p>
            <a:endParaRPr lang="zh-CN" altLang="en-US"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4.7.3      </a:t>
            </a:r>
            <a:r>
              <a:rPr lang="zh-CN" altLang="en-US" sz="2000" b="1" dirty="0">
                <a:solidFill>
                  <a:schemeClr val="bg1"/>
                </a:solidFill>
                <a:latin typeface="微软雅黑" pitchFamily="34" charset="-122"/>
                <a:ea typeface="微软雅黑" pitchFamily="34" charset="-122"/>
              </a:rPr>
              <a:t>网际组管理协议 </a:t>
            </a:r>
            <a:r>
              <a:rPr lang="en-US" altLang="zh-CN" sz="2000" b="1" dirty="0">
                <a:solidFill>
                  <a:schemeClr val="bg1"/>
                </a:solidFill>
                <a:latin typeface="微软雅黑" pitchFamily="34" charset="-122"/>
                <a:ea typeface="微软雅黑" pitchFamily="34" charset="-122"/>
              </a:rPr>
              <a:t>IGMP </a:t>
            </a:r>
            <a:r>
              <a:rPr lang="zh-CN" altLang="en-US" sz="2000" b="1" dirty="0">
                <a:solidFill>
                  <a:schemeClr val="bg1"/>
                </a:solidFill>
                <a:latin typeface="微软雅黑" pitchFamily="34" charset="-122"/>
                <a:ea typeface="微软雅黑" pitchFamily="34" charset="-122"/>
              </a:rPr>
              <a:t>和多播路由选择协议</a:t>
            </a:r>
          </a:p>
        </p:txBody>
      </p:sp>
    </p:spTree>
    <p:extLst>
      <p:ext uri="{BB962C8B-B14F-4D97-AF65-F5344CB8AC3E}">
        <p14:creationId xmlns:p14="http://schemas.microsoft.com/office/powerpoint/2010/main" val="76256063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4" y="630931"/>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4" name="Rectangle 6"/>
          <p:cNvSpPr>
            <a:spLocks noChangeArrowheads="1"/>
          </p:cNvSpPr>
          <p:nvPr/>
        </p:nvSpPr>
        <p:spPr bwMode="auto">
          <a:xfrm>
            <a:off x="2741211" y="598860"/>
            <a:ext cx="366158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4.7.1  IP </a:t>
            </a:r>
            <a:r>
              <a:rPr lang="zh-CN" altLang="en-US" sz="2400" b="1" dirty="0">
                <a:solidFill>
                  <a:schemeClr val="bg1"/>
                </a:solidFill>
                <a:latin typeface="微软雅黑" pitchFamily="34" charset="-122"/>
                <a:ea typeface="微软雅黑" pitchFamily="34" charset="-122"/>
              </a:rPr>
              <a:t>多播的基本概念</a:t>
            </a:r>
          </a:p>
        </p:txBody>
      </p:sp>
      <p:sp>
        <p:nvSpPr>
          <p:cNvPr id="5" name="Rectangle 8"/>
          <p:cNvSpPr>
            <a:spLocks noChangeArrowheads="1"/>
          </p:cNvSpPr>
          <p:nvPr/>
        </p:nvSpPr>
        <p:spPr bwMode="auto">
          <a:xfrm>
            <a:off x="545144" y="1029146"/>
            <a:ext cx="8053711" cy="17851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1988 </a:t>
            </a:r>
            <a:r>
              <a:rPr lang="zh-CN" altLang="en-US" sz="2000" b="1" dirty="0">
                <a:latin typeface="微软雅黑" pitchFamily="34" charset="-122"/>
                <a:ea typeface="微软雅黑" pitchFamily="34" charset="-122"/>
              </a:rPr>
              <a:t>年，</a:t>
            </a:r>
            <a:r>
              <a:rPr lang="en-US" altLang="zh-CN" sz="2000" b="1" dirty="0">
                <a:latin typeface="微软雅黑" pitchFamily="34" charset="-122"/>
                <a:ea typeface="微软雅黑" pitchFamily="34" charset="-122"/>
              </a:rPr>
              <a:t>Steve Deering </a:t>
            </a:r>
            <a:r>
              <a:rPr lang="zh-CN" altLang="en-US" sz="2000" b="1" dirty="0">
                <a:latin typeface="微软雅黑" pitchFamily="34" charset="-122"/>
                <a:ea typeface="微软雅黑" pitchFamily="34" charset="-122"/>
              </a:rPr>
              <a:t>首次提出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多播的概念。</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多播 </a:t>
            </a:r>
            <a:r>
              <a:rPr lang="en-US" altLang="zh-CN" sz="2000" b="1" dirty="0">
                <a:latin typeface="微软雅黑" pitchFamily="34" charset="-122"/>
                <a:ea typeface="微软雅黑" pitchFamily="34" charset="-122"/>
              </a:rPr>
              <a:t>(multicast)</a:t>
            </a:r>
            <a:r>
              <a:rPr lang="zh-CN" altLang="en-US" sz="2000" b="1" dirty="0">
                <a:latin typeface="微软雅黑" pitchFamily="34" charset="-122"/>
                <a:ea typeface="微软雅黑" pitchFamily="34" charset="-122"/>
              </a:rPr>
              <a:t>：以前曾译为</a:t>
            </a:r>
            <a:r>
              <a:rPr lang="zh-CN" altLang="en-US" sz="2000" b="1" dirty="0">
                <a:solidFill>
                  <a:srgbClr val="0000FF"/>
                </a:solidFill>
                <a:latin typeface="微软雅黑" pitchFamily="34" charset="-122"/>
                <a:ea typeface="微软雅黑" pitchFamily="34" charset="-122"/>
              </a:rPr>
              <a:t>组播</a:t>
            </a:r>
            <a:r>
              <a:rPr lang="zh-CN" altLang="en-US" sz="2000" b="1" dirty="0">
                <a:latin typeface="微软雅黑" pitchFamily="34" charset="-122"/>
                <a:ea typeface="微软雅黑" pitchFamily="34" charset="-122"/>
              </a:rPr>
              <a:t>。</a:t>
            </a:r>
          </a:p>
          <a:p>
            <a:pPr marL="285750" indent="-28575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目的</a:t>
            </a:r>
            <a:r>
              <a:rPr lang="zh-CN" altLang="en-US" sz="2000" b="1" dirty="0">
                <a:latin typeface="微软雅黑" pitchFamily="34" charset="-122"/>
                <a:ea typeface="微软雅黑" pitchFamily="34" charset="-122"/>
              </a:rPr>
              <a:t>：更好地支持一对多通信。</a:t>
            </a:r>
          </a:p>
          <a:p>
            <a:pPr marL="285750" indent="-28575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一对多通信：</a:t>
            </a:r>
            <a:r>
              <a:rPr lang="zh-CN" altLang="en-US" sz="2000" b="1" dirty="0">
                <a:latin typeface="微软雅黑" pitchFamily="34" charset="-122"/>
                <a:ea typeface="微软雅黑" pitchFamily="34" charset="-122"/>
              </a:rPr>
              <a:t>一个源点发送到许多个终点。</a:t>
            </a:r>
          </a:p>
        </p:txBody>
      </p:sp>
    </p:spTree>
    <p:extLst>
      <p:ext uri="{BB962C8B-B14F-4D97-AF65-F5344CB8AC3E}">
        <p14:creationId xmlns:p14="http://schemas.microsoft.com/office/powerpoint/2010/main" val="221962012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圆角矩形 3"/>
          <p:cNvSpPr/>
          <p:nvPr/>
        </p:nvSpPr>
        <p:spPr>
          <a:xfrm>
            <a:off x="545145" y="1099038"/>
            <a:ext cx="8053710" cy="324454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pic>
        <p:nvPicPr>
          <p:cNvPr id="85" name="图片 8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345563" y="1186836"/>
            <a:ext cx="430439" cy="602615"/>
          </a:xfrm>
          <a:prstGeom prst="rect">
            <a:avLst/>
          </a:prstGeom>
        </p:spPr>
      </p:pic>
      <p:sp>
        <p:nvSpPr>
          <p:cNvPr id="2" name="AutoShape 5"/>
          <p:cNvSpPr>
            <a:spLocks noChangeArrowheads="1"/>
          </p:cNvSpPr>
          <p:nvPr/>
        </p:nvSpPr>
        <p:spPr bwMode="auto">
          <a:xfrm>
            <a:off x="545145" y="64130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41968" y="60809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多播可大大节约网络资源</a:t>
            </a:r>
          </a:p>
        </p:txBody>
      </p:sp>
      <p:sp>
        <p:nvSpPr>
          <p:cNvPr id="6" name="Line 77"/>
          <p:cNvSpPr>
            <a:spLocks noChangeShapeType="1"/>
          </p:cNvSpPr>
          <p:nvPr/>
        </p:nvSpPr>
        <p:spPr bwMode="auto">
          <a:xfrm>
            <a:off x="2364824" y="3406751"/>
            <a:ext cx="239164" cy="24657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 name="Line 52"/>
          <p:cNvSpPr>
            <a:spLocks noChangeShapeType="1"/>
          </p:cNvSpPr>
          <p:nvPr/>
        </p:nvSpPr>
        <p:spPr bwMode="auto">
          <a:xfrm flipV="1">
            <a:off x="2413019" y="2011691"/>
            <a:ext cx="954839" cy="61751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9" name="Line 53"/>
          <p:cNvSpPr>
            <a:spLocks noChangeShapeType="1"/>
          </p:cNvSpPr>
          <p:nvPr/>
        </p:nvSpPr>
        <p:spPr bwMode="auto">
          <a:xfrm flipV="1">
            <a:off x="3432295" y="1488143"/>
            <a:ext cx="0" cy="39918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0" name="Line 54"/>
          <p:cNvSpPr>
            <a:spLocks noChangeShapeType="1"/>
          </p:cNvSpPr>
          <p:nvPr/>
        </p:nvSpPr>
        <p:spPr bwMode="auto">
          <a:xfrm flipH="1" flipV="1">
            <a:off x="3432295" y="2011691"/>
            <a:ext cx="0" cy="61751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1" name="Line 55"/>
          <p:cNvSpPr>
            <a:spLocks noChangeShapeType="1"/>
          </p:cNvSpPr>
          <p:nvPr/>
        </p:nvSpPr>
        <p:spPr bwMode="auto">
          <a:xfrm>
            <a:off x="4643709" y="2629204"/>
            <a:ext cx="0" cy="55587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2" name="Line 56"/>
          <p:cNvSpPr>
            <a:spLocks noChangeShapeType="1"/>
          </p:cNvSpPr>
          <p:nvPr/>
        </p:nvSpPr>
        <p:spPr bwMode="auto">
          <a:xfrm flipV="1">
            <a:off x="3432295" y="2629204"/>
            <a:ext cx="0" cy="55587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3" name="Line 57"/>
          <p:cNvSpPr>
            <a:spLocks noChangeShapeType="1"/>
          </p:cNvSpPr>
          <p:nvPr/>
        </p:nvSpPr>
        <p:spPr bwMode="auto">
          <a:xfrm>
            <a:off x="2349754" y="2629204"/>
            <a:ext cx="0" cy="55587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4" name="Line 58"/>
          <p:cNvSpPr>
            <a:spLocks noChangeShapeType="1"/>
          </p:cNvSpPr>
          <p:nvPr/>
        </p:nvSpPr>
        <p:spPr bwMode="auto">
          <a:xfrm>
            <a:off x="3561168" y="2011691"/>
            <a:ext cx="1082541" cy="61751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5" name="Text Box 59"/>
          <p:cNvSpPr txBox="1">
            <a:spLocks noChangeArrowheads="1"/>
          </p:cNvSpPr>
          <p:nvPr/>
        </p:nvSpPr>
        <p:spPr bwMode="auto">
          <a:xfrm>
            <a:off x="2285118" y="4018862"/>
            <a:ext cx="248657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itchFamily="34" charset="-122"/>
                <a:ea typeface="微软雅黑" pitchFamily="34" charset="-122"/>
              </a:rPr>
              <a:t>共有 </a:t>
            </a:r>
            <a:r>
              <a:rPr kumimoji="1" lang="en-US" altLang="zh-CN" sz="1400" b="1" dirty="0">
                <a:latin typeface="微软雅黑" pitchFamily="34" charset="-122"/>
                <a:ea typeface="微软雅黑" pitchFamily="34" charset="-122"/>
              </a:rPr>
              <a:t>90 </a:t>
            </a:r>
            <a:r>
              <a:rPr kumimoji="1" lang="zh-CN" altLang="en-US" sz="1400" b="1" dirty="0">
                <a:latin typeface="微软雅黑" pitchFamily="34" charset="-122"/>
                <a:ea typeface="微软雅黑" pitchFamily="34" charset="-122"/>
              </a:rPr>
              <a:t>个主机接收视频节目</a:t>
            </a:r>
          </a:p>
        </p:txBody>
      </p:sp>
      <p:sp>
        <p:nvSpPr>
          <p:cNvPr id="16" name="AutoShape 60"/>
          <p:cNvSpPr>
            <a:spLocks noChangeArrowheads="1"/>
          </p:cNvSpPr>
          <p:nvPr/>
        </p:nvSpPr>
        <p:spPr bwMode="auto">
          <a:xfrm rot="5400000">
            <a:off x="3362856" y="1588165"/>
            <a:ext cx="343904" cy="144105"/>
          </a:xfrm>
          <a:prstGeom prst="rightArrow">
            <a:avLst>
              <a:gd name="adj1" fmla="val 37500"/>
              <a:gd name="adj2" fmla="val 103881"/>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7" name="AutoShape 61"/>
          <p:cNvSpPr>
            <a:spLocks noChangeArrowheads="1"/>
          </p:cNvSpPr>
          <p:nvPr/>
        </p:nvSpPr>
        <p:spPr bwMode="auto">
          <a:xfrm rot="8740270">
            <a:off x="2666081" y="2168502"/>
            <a:ext cx="354989" cy="139509"/>
          </a:xfrm>
          <a:prstGeom prst="rightArrow">
            <a:avLst>
              <a:gd name="adj1" fmla="val 37500"/>
              <a:gd name="adj2" fmla="val 94377"/>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pic>
        <p:nvPicPr>
          <p:cNvPr id="18" name="Picture 6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261244" y="1876508"/>
            <a:ext cx="363190" cy="1957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63"/>
          <p:cNvSpPr txBox="1">
            <a:spLocks noChangeArrowheads="1"/>
          </p:cNvSpPr>
          <p:nvPr/>
        </p:nvSpPr>
        <p:spPr bwMode="auto">
          <a:xfrm>
            <a:off x="2985923" y="1576944"/>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1</a:t>
            </a:r>
            <a:endParaRPr kumimoji="1" lang="en-US" altLang="zh-CN" sz="1400" b="1" dirty="0">
              <a:latin typeface="微软雅黑" pitchFamily="34" charset="-122"/>
              <a:ea typeface="微软雅黑" pitchFamily="34" charset="-122"/>
            </a:endParaRPr>
          </a:p>
        </p:txBody>
      </p:sp>
      <p:sp>
        <p:nvSpPr>
          <p:cNvPr id="20" name="Text Box 64"/>
          <p:cNvSpPr txBox="1">
            <a:spLocks noChangeArrowheads="1"/>
          </p:cNvSpPr>
          <p:nvPr/>
        </p:nvSpPr>
        <p:spPr bwMode="auto">
          <a:xfrm>
            <a:off x="2949604" y="2359921"/>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3</a:t>
            </a:r>
            <a:endParaRPr kumimoji="1" lang="en-US" altLang="zh-CN" sz="1400" b="1">
              <a:latin typeface="微软雅黑" pitchFamily="34" charset="-122"/>
              <a:ea typeface="微软雅黑" pitchFamily="34" charset="-122"/>
            </a:endParaRPr>
          </a:p>
        </p:txBody>
      </p:sp>
      <p:sp>
        <p:nvSpPr>
          <p:cNvPr id="21" name="Text Box 65"/>
          <p:cNvSpPr txBox="1">
            <a:spLocks noChangeArrowheads="1"/>
          </p:cNvSpPr>
          <p:nvPr/>
        </p:nvSpPr>
        <p:spPr bwMode="auto">
          <a:xfrm>
            <a:off x="4118840" y="2410748"/>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4</a:t>
            </a:r>
            <a:endParaRPr kumimoji="1" lang="en-US" altLang="zh-CN" sz="1400" b="1">
              <a:latin typeface="微软雅黑" pitchFamily="34" charset="-122"/>
              <a:ea typeface="微软雅黑" pitchFamily="34" charset="-122"/>
            </a:endParaRPr>
          </a:p>
        </p:txBody>
      </p:sp>
      <p:sp>
        <p:nvSpPr>
          <p:cNvPr id="22" name="Text Box 66"/>
          <p:cNvSpPr txBox="1">
            <a:spLocks noChangeArrowheads="1"/>
          </p:cNvSpPr>
          <p:nvPr/>
        </p:nvSpPr>
        <p:spPr bwMode="auto">
          <a:xfrm>
            <a:off x="1840118" y="2379386"/>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2</a:t>
            </a:r>
            <a:endParaRPr kumimoji="1" lang="en-US" altLang="zh-CN" sz="1400" b="1">
              <a:latin typeface="微软雅黑" pitchFamily="34" charset="-122"/>
              <a:ea typeface="微软雅黑" pitchFamily="34" charset="-122"/>
            </a:endParaRPr>
          </a:p>
        </p:txBody>
      </p:sp>
      <p:sp>
        <p:nvSpPr>
          <p:cNvPr id="23" name="Text Box 67"/>
          <p:cNvSpPr txBox="1">
            <a:spLocks noChangeArrowheads="1"/>
          </p:cNvSpPr>
          <p:nvPr/>
        </p:nvSpPr>
        <p:spPr bwMode="auto">
          <a:xfrm>
            <a:off x="1094634" y="1352345"/>
            <a:ext cx="131959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FF"/>
                </a:solidFill>
                <a:latin typeface="微软雅黑" pitchFamily="34" charset="-122"/>
                <a:ea typeface="微软雅黑" pitchFamily="34" charset="-122"/>
              </a:rPr>
              <a:t>视频服务器 </a:t>
            </a:r>
            <a:r>
              <a:rPr kumimoji="1" lang="en-US" altLang="zh-CN" sz="1400" b="1" dirty="0">
                <a:solidFill>
                  <a:srgbClr val="0000FF"/>
                </a:solidFill>
                <a:latin typeface="微软雅黑" pitchFamily="34" charset="-122"/>
                <a:ea typeface="微软雅黑" pitchFamily="34" charset="-122"/>
              </a:rPr>
              <a:t>M</a:t>
            </a:r>
          </a:p>
        </p:txBody>
      </p:sp>
      <p:pic>
        <p:nvPicPr>
          <p:cNvPr id="24" name="Picture 6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52742" y="2532955"/>
            <a:ext cx="362018" cy="1957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5" name="Picture 6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261244" y="2532955"/>
            <a:ext cx="363190" cy="1957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6" name="Picture 7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58787" y="2555665"/>
            <a:ext cx="362018" cy="1968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1" name="AutoShape 75"/>
          <p:cNvSpPr>
            <a:spLocks noChangeArrowheads="1"/>
          </p:cNvSpPr>
          <p:nvPr/>
        </p:nvSpPr>
        <p:spPr bwMode="auto">
          <a:xfrm rot="1858546">
            <a:off x="3925530" y="2134977"/>
            <a:ext cx="356161" cy="140590"/>
          </a:xfrm>
          <a:prstGeom prst="rightArrow">
            <a:avLst>
              <a:gd name="adj1" fmla="val 37500"/>
              <a:gd name="adj2" fmla="val 93961"/>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2" name="Line 76"/>
          <p:cNvSpPr>
            <a:spLocks noChangeShapeType="1"/>
          </p:cNvSpPr>
          <p:nvPr/>
        </p:nvSpPr>
        <p:spPr bwMode="auto">
          <a:xfrm flipH="1">
            <a:off x="1967818" y="3393435"/>
            <a:ext cx="251687" cy="322614"/>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3" name="Line 78"/>
          <p:cNvSpPr>
            <a:spLocks noChangeShapeType="1"/>
          </p:cNvSpPr>
          <p:nvPr/>
        </p:nvSpPr>
        <p:spPr bwMode="auto">
          <a:xfrm flipH="1">
            <a:off x="3113624" y="3406751"/>
            <a:ext cx="198040" cy="30929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4" name="Line 79"/>
          <p:cNvSpPr>
            <a:spLocks noChangeShapeType="1"/>
          </p:cNvSpPr>
          <p:nvPr/>
        </p:nvSpPr>
        <p:spPr bwMode="auto">
          <a:xfrm>
            <a:off x="3504043" y="3405917"/>
            <a:ext cx="311359" cy="24740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5" name="Line 80"/>
          <p:cNvSpPr>
            <a:spLocks noChangeShapeType="1"/>
          </p:cNvSpPr>
          <p:nvPr/>
        </p:nvSpPr>
        <p:spPr bwMode="auto">
          <a:xfrm flipH="1">
            <a:off x="4325038" y="3393435"/>
            <a:ext cx="253091" cy="25989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6" name="Line 81"/>
          <p:cNvSpPr>
            <a:spLocks noChangeShapeType="1"/>
          </p:cNvSpPr>
          <p:nvPr/>
        </p:nvSpPr>
        <p:spPr bwMode="auto">
          <a:xfrm>
            <a:off x="4749382" y="3404111"/>
            <a:ext cx="339527" cy="31193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2" name="Text Box 88"/>
          <p:cNvSpPr txBox="1">
            <a:spLocks noChangeArrowheads="1"/>
          </p:cNvSpPr>
          <p:nvPr/>
        </p:nvSpPr>
        <p:spPr bwMode="auto">
          <a:xfrm>
            <a:off x="2113137" y="3393434"/>
            <a:ext cx="3577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a:t>
            </a:r>
          </a:p>
        </p:txBody>
      </p:sp>
      <p:sp>
        <p:nvSpPr>
          <p:cNvPr id="43" name="Text Box 89"/>
          <p:cNvSpPr txBox="1">
            <a:spLocks noChangeArrowheads="1"/>
          </p:cNvSpPr>
          <p:nvPr/>
        </p:nvSpPr>
        <p:spPr bwMode="auto">
          <a:xfrm>
            <a:off x="4523078" y="3393434"/>
            <a:ext cx="3577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a:t>
            </a:r>
          </a:p>
        </p:txBody>
      </p:sp>
      <p:sp>
        <p:nvSpPr>
          <p:cNvPr id="44" name="Text Box 90"/>
          <p:cNvSpPr txBox="1">
            <a:spLocks noChangeArrowheads="1"/>
          </p:cNvSpPr>
          <p:nvPr/>
        </p:nvSpPr>
        <p:spPr bwMode="auto">
          <a:xfrm>
            <a:off x="3311664" y="3573798"/>
            <a:ext cx="43348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en-US" altLang="zh-CN" sz="1400" b="1">
                <a:latin typeface="微软雅黑" pitchFamily="34" charset="-122"/>
                <a:ea typeface="微软雅黑" pitchFamily="34" charset="-122"/>
              </a:rPr>
              <a:t>…</a:t>
            </a:r>
          </a:p>
        </p:txBody>
      </p:sp>
      <p:sp>
        <p:nvSpPr>
          <p:cNvPr id="45" name="Text Box 91"/>
          <p:cNvSpPr txBox="1">
            <a:spLocks noChangeArrowheads="1"/>
          </p:cNvSpPr>
          <p:nvPr/>
        </p:nvSpPr>
        <p:spPr bwMode="auto">
          <a:xfrm>
            <a:off x="2594615" y="2786015"/>
            <a:ext cx="57419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CC00CC"/>
                </a:solidFill>
                <a:latin typeface="微软雅黑" pitchFamily="34" charset="-122"/>
                <a:ea typeface="微软雅黑" pitchFamily="34" charset="-122"/>
              </a:rPr>
              <a:t>30 </a:t>
            </a:r>
            <a:r>
              <a:rPr kumimoji="1" lang="zh-CN" altLang="en-US" sz="1200" b="1">
                <a:solidFill>
                  <a:srgbClr val="CC00CC"/>
                </a:solidFill>
                <a:latin typeface="微软雅黑" pitchFamily="34" charset="-122"/>
                <a:ea typeface="微软雅黑" pitchFamily="34" charset="-122"/>
              </a:rPr>
              <a:t>个</a:t>
            </a:r>
          </a:p>
        </p:txBody>
      </p:sp>
      <p:sp>
        <p:nvSpPr>
          <p:cNvPr id="46" name="Text Box 92"/>
          <p:cNvSpPr txBox="1">
            <a:spLocks noChangeArrowheads="1"/>
          </p:cNvSpPr>
          <p:nvPr/>
        </p:nvSpPr>
        <p:spPr bwMode="auto">
          <a:xfrm>
            <a:off x="3640837" y="2753572"/>
            <a:ext cx="57419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CC00CC"/>
                </a:solidFill>
                <a:latin typeface="微软雅黑" pitchFamily="34" charset="-122"/>
                <a:ea typeface="微软雅黑" pitchFamily="34" charset="-122"/>
              </a:rPr>
              <a:t>30 </a:t>
            </a:r>
            <a:r>
              <a:rPr kumimoji="1" lang="zh-CN" altLang="en-US" sz="1200" b="1">
                <a:solidFill>
                  <a:srgbClr val="CC00CC"/>
                </a:solidFill>
                <a:latin typeface="微软雅黑" pitchFamily="34" charset="-122"/>
                <a:ea typeface="微软雅黑" pitchFamily="34" charset="-122"/>
              </a:rPr>
              <a:t>个</a:t>
            </a:r>
          </a:p>
        </p:txBody>
      </p:sp>
      <p:sp>
        <p:nvSpPr>
          <p:cNvPr id="47" name="Text Box 93"/>
          <p:cNvSpPr txBox="1">
            <a:spLocks noChangeArrowheads="1"/>
          </p:cNvSpPr>
          <p:nvPr/>
        </p:nvSpPr>
        <p:spPr bwMode="auto">
          <a:xfrm>
            <a:off x="4880369" y="2704905"/>
            <a:ext cx="57419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CC00CC"/>
                </a:solidFill>
                <a:latin typeface="微软雅黑" pitchFamily="34" charset="-122"/>
                <a:ea typeface="微软雅黑" pitchFamily="34" charset="-122"/>
              </a:rPr>
              <a:t>30 </a:t>
            </a:r>
            <a:r>
              <a:rPr kumimoji="1" lang="zh-CN" altLang="en-US" sz="1200" b="1">
                <a:solidFill>
                  <a:srgbClr val="CC00CC"/>
                </a:solidFill>
                <a:latin typeface="微软雅黑" pitchFamily="34" charset="-122"/>
                <a:ea typeface="微软雅黑" pitchFamily="34" charset="-122"/>
              </a:rPr>
              <a:t>个</a:t>
            </a:r>
          </a:p>
        </p:txBody>
      </p:sp>
      <p:sp>
        <p:nvSpPr>
          <p:cNvPr id="48" name="Text Box 94"/>
          <p:cNvSpPr txBox="1">
            <a:spLocks noChangeArrowheads="1"/>
          </p:cNvSpPr>
          <p:nvPr/>
        </p:nvSpPr>
        <p:spPr bwMode="auto">
          <a:xfrm>
            <a:off x="4225453" y="1871103"/>
            <a:ext cx="57419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CC00CC"/>
                </a:solidFill>
                <a:latin typeface="微软雅黑" pitchFamily="34" charset="-122"/>
                <a:ea typeface="微软雅黑" pitchFamily="34" charset="-122"/>
              </a:rPr>
              <a:t>30 </a:t>
            </a:r>
            <a:r>
              <a:rPr kumimoji="1" lang="zh-CN" altLang="en-US" sz="1200" b="1">
                <a:solidFill>
                  <a:srgbClr val="CC00CC"/>
                </a:solidFill>
                <a:latin typeface="微软雅黑" pitchFamily="34" charset="-122"/>
                <a:ea typeface="微软雅黑" pitchFamily="34" charset="-122"/>
              </a:rPr>
              <a:t>个</a:t>
            </a:r>
          </a:p>
        </p:txBody>
      </p:sp>
      <p:sp>
        <p:nvSpPr>
          <p:cNvPr id="49" name="Text Box 95"/>
          <p:cNvSpPr txBox="1">
            <a:spLocks noChangeArrowheads="1"/>
          </p:cNvSpPr>
          <p:nvPr/>
        </p:nvSpPr>
        <p:spPr bwMode="auto">
          <a:xfrm>
            <a:off x="3666611" y="2246367"/>
            <a:ext cx="57419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C00CC"/>
                </a:solidFill>
                <a:latin typeface="微软雅黑" pitchFamily="34" charset="-122"/>
                <a:ea typeface="微软雅黑" pitchFamily="34" charset="-122"/>
              </a:rPr>
              <a:t>30 </a:t>
            </a:r>
            <a:r>
              <a:rPr kumimoji="1" lang="zh-CN" altLang="en-US" sz="1200" b="1" dirty="0">
                <a:solidFill>
                  <a:srgbClr val="CC00CC"/>
                </a:solidFill>
                <a:latin typeface="微软雅黑" pitchFamily="34" charset="-122"/>
                <a:ea typeface="微软雅黑" pitchFamily="34" charset="-122"/>
              </a:rPr>
              <a:t>个</a:t>
            </a:r>
          </a:p>
        </p:txBody>
      </p:sp>
      <p:sp>
        <p:nvSpPr>
          <p:cNvPr id="50" name="Text Box 96"/>
          <p:cNvSpPr txBox="1">
            <a:spLocks noChangeArrowheads="1"/>
          </p:cNvSpPr>
          <p:nvPr/>
        </p:nvSpPr>
        <p:spPr bwMode="auto">
          <a:xfrm>
            <a:off x="2201581" y="1871103"/>
            <a:ext cx="5741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dirty="0">
                <a:solidFill>
                  <a:srgbClr val="CC00CC"/>
                </a:solidFill>
                <a:latin typeface="微软雅黑" pitchFamily="34" charset="-122"/>
                <a:ea typeface="微软雅黑" pitchFamily="34" charset="-122"/>
              </a:rPr>
              <a:t>30 </a:t>
            </a:r>
            <a:r>
              <a:rPr kumimoji="1" lang="zh-CN" altLang="en-US" sz="1200" b="1" dirty="0">
                <a:solidFill>
                  <a:srgbClr val="CC00CC"/>
                </a:solidFill>
                <a:latin typeface="微软雅黑" pitchFamily="34" charset="-122"/>
                <a:ea typeface="微软雅黑" pitchFamily="34" charset="-122"/>
              </a:rPr>
              <a:t>个</a:t>
            </a:r>
          </a:p>
        </p:txBody>
      </p:sp>
      <p:sp>
        <p:nvSpPr>
          <p:cNvPr id="51" name="Text Box 97"/>
          <p:cNvSpPr txBox="1">
            <a:spLocks noChangeArrowheads="1"/>
          </p:cNvSpPr>
          <p:nvPr/>
        </p:nvSpPr>
        <p:spPr bwMode="auto">
          <a:xfrm>
            <a:off x="3711131" y="1349837"/>
            <a:ext cx="57419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C00CC"/>
                </a:solidFill>
                <a:latin typeface="微软雅黑" pitchFamily="34" charset="-122"/>
                <a:ea typeface="微软雅黑" pitchFamily="34" charset="-122"/>
              </a:rPr>
              <a:t>90 </a:t>
            </a:r>
            <a:r>
              <a:rPr kumimoji="1" lang="zh-CN" altLang="en-US" sz="1200" b="1" dirty="0">
                <a:solidFill>
                  <a:srgbClr val="CC00CC"/>
                </a:solidFill>
                <a:latin typeface="微软雅黑" pitchFamily="34" charset="-122"/>
                <a:ea typeface="微软雅黑" pitchFamily="34" charset="-122"/>
              </a:rPr>
              <a:t>个</a:t>
            </a:r>
          </a:p>
        </p:txBody>
      </p:sp>
      <p:sp>
        <p:nvSpPr>
          <p:cNvPr id="52" name="AutoShape 99"/>
          <p:cNvSpPr>
            <a:spLocks noChangeArrowheads="1"/>
          </p:cNvSpPr>
          <p:nvPr/>
        </p:nvSpPr>
        <p:spPr bwMode="auto">
          <a:xfrm rot="5400000">
            <a:off x="3430763" y="1631378"/>
            <a:ext cx="342823" cy="145276"/>
          </a:xfrm>
          <a:prstGeom prst="rightArrow">
            <a:avLst>
              <a:gd name="adj1" fmla="val 37500"/>
              <a:gd name="adj2" fmla="val 102720"/>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53" name="AutoShape 100"/>
          <p:cNvSpPr>
            <a:spLocks noChangeArrowheads="1"/>
          </p:cNvSpPr>
          <p:nvPr/>
        </p:nvSpPr>
        <p:spPr bwMode="auto">
          <a:xfrm rot="5400000">
            <a:off x="3498128" y="1674141"/>
            <a:ext cx="342822" cy="144104"/>
          </a:xfrm>
          <a:prstGeom prst="rightArrow">
            <a:avLst>
              <a:gd name="adj1" fmla="val 37500"/>
              <a:gd name="adj2" fmla="val 103555"/>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54" name="AutoShape 101"/>
          <p:cNvSpPr>
            <a:spLocks noChangeArrowheads="1"/>
          </p:cNvSpPr>
          <p:nvPr/>
        </p:nvSpPr>
        <p:spPr bwMode="auto">
          <a:xfrm rot="1858546">
            <a:off x="4006369" y="2117675"/>
            <a:ext cx="354989" cy="140590"/>
          </a:xfrm>
          <a:prstGeom prst="rightArrow">
            <a:avLst>
              <a:gd name="adj1" fmla="val 37500"/>
              <a:gd name="adj2" fmla="val 93652"/>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55" name="AutoShape 102"/>
          <p:cNvSpPr>
            <a:spLocks noChangeArrowheads="1"/>
          </p:cNvSpPr>
          <p:nvPr/>
        </p:nvSpPr>
        <p:spPr bwMode="auto">
          <a:xfrm rot="1858546">
            <a:off x="4086037" y="2100371"/>
            <a:ext cx="354989" cy="139508"/>
          </a:xfrm>
          <a:prstGeom prst="rightArrow">
            <a:avLst>
              <a:gd name="adj1" fmla="val 37500"/>
              <a:gd name="adj2" fmla="val 94378"/>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grpSp>
        <p:nvGrpSpPr>
          <p:cNvPr id="56" name="Group 103"/>
          <p:cNvGrpSpPr>
            <a:grpSpLocks/>
          </p:cNvGrpSpPr>
          <p:nvPr/>
        </p:nvGrpSpPr>
        <p:grpSpPr bwMode="auto">
          <a:xfrm>
            <a:off x="4675342" y="2763305"/>
            <a:ext cx="301096" cy="446643"/>
            <a:chOff x="2222" y="1578"/>
            <a:chExt cx="215" cy="328"/>
          </a:xfrm>
          <a:solidFill>
            <a:srgbClr val="00FF99"/>
          </a:solidFill>
        </p:grpSpPr>
        <p:sp>
          <p:nvSpPr>
            <p:cNvPr id="74" name="AutoShape 104"/>
            <p:cNvSpPr>
              <a:spLocks noChangeArrowheads="1"/>
            </p:cNvSpPr>
            <p:nvPr/>
          </p:nvSpPr>
          <p:spPr bwMode="auto">
            <a:xfrm rot="5400000">
              <a:off x="2148" y="1652"/>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75" name="AutoShape 105"/>
            <p:cNvSpPr>
              <a:spLocks noChangeArrowheads="1"/>
            </p:cNvSpPr>
            <p:nvPr/>
          </p:nvSpPr>
          <p:spPr bwMode="auto">
            <a:xfrm rot="5400000">
              <a:off x="2204" y="1690"/>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76" name="AutoShape 106"/>
            <p:cNvSpPr>
              <a:spLocks noChangeArrowheads="1"/>
            </p:cNvSpPr>
            <p:nvPr/>
          </p:nvSpPr>
          <p:spPr bwMode="auto">
            <a:xfrm rot="5400000">
              <a:off x="2260" y="1728"/>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grpSp>
      <p:sp>
        <p:nvSpPr>
          <p:cNvPr id="57" name="AutoShape 107"/>
          <p:cNvSpPr>
            <a:spLocks noChangeArrowheads="1"/>
          </p:cNvSpPr>
          <p:nvPr/>
        </p:nvSpPr>
        <p:spPr bwMode="auto">
          <a:xfrm rot="5400000">
            <a:off x="3565494" y="1716813"/>
            <a:ext cx="342822" cy="145276"/>
          </a:xfrm>
          <a:prstGeom prst="rightArrow">
            <a:avLst>
              <a:gd name="adj1" fmla="val 37500"/>
              <a:gd name="adj2" fmla="val 102720"/>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58" name="AutoShape 108"/>
          <p:cNvSpPr>
            <a:spLocks noChangeArrowheads="1"/>
          </p:cNvSpPr>
          <p:nvPr/>
        </p:nvSpPr>
        <p:spPr bwMode="auto">
          <a:xfrm rot="5400000">
            <a:off x="3632860" y="1759576"/>
            <a:ext cx="342823" cy="144105"/>
          </a:xfrm>
          <a:prstGeom prst="rightArrow">
            <a:avLst>
              <a:gd name="adj1" fmla="val 37500"/>
              <a:gd name="adj2" fmla="val 103555"/>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59" name="AutoShape 109"/>
          <p:cNvSpPr>
            <a:spLocks noChangeArrowheads="1"/>
          </p:cNvSpPr>
          <p:nvPr/>
        </p:nvSpPr>
        <p:spPr bwMode="auto">
          <a:xfrm rot="5400000">
            <a:off x="3699054" y="1801167"/>
            <a:ext cx="342822" cy="145276"/>
          </a:xfrm>
          <a:prstGeom prst="rightArrow">
            <a:avLst>
              <a:gd name="adj1" fmla="val 37500"/>
              <a:gd name="adj2" fmla="val 102720"/>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60" name="AutoShape 110"/>
          <p:cNvSpPr>
            <a:spLocks noChangeArrowheads="1"/>
          </p:cNvSpPr>
          <p:nvPr/>
        </p:nvSpPr>
        <p:spPr bwMode="auto">
          <a:xfrm rot="8740270">
            <a:off x="2603988" y="2143630"/>
            <a:ext cx="354988" cy="140590"/>
          </a:xfrm>
          <a:prstGeom prst="rightArrow">
            <a:avLst>
              <a:gd name="adj1" fmla="val 37500"/>
              <a:gd name="adj2" fmla="val 93652"/>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61" name="AutoShape 111"/>
          <p:cNvSpPr>
            <a:spLocks noChangeArrowheads="1"/>
          </p:cNvSpPr>
          <p:nvPr/>
        </p:nvSpPr>
        <p:spPr bwMode="auto">
          <a:xfrm rot="8740270">
            <a:off x="2540722" y="2117675"/>
            <a:ext cx="354988" cy="140590"/>
          </a:xfrm>
          <a:prstGeom prst="rightArrow">
            <a:avLst>
              <a:gd name="adj1" fmla="val 37500"/>
              <a:gd name="adj2" fmla="val 93652"/>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grpSp>
        <p:nvGrpSpPr>
          <p:cNvPr id="62" name="Group 112"/>
          <p:cNvGrpSpPr>
            <a:grpSpLocks/>
          </p:cNvGrpSpPr>
          <p:nvPr/>
        </p:nvGrpSpPr>
        <p:grpSpPr bwMode="auto">
          <a:xfrm>
            <a:off x="3432295" y="2752490"/>
            <a:ext cx="302268" cy="446643"/>
            <a:chOff x="2222" y="1578"/>
            <a:chExt cx="215" cy="328"/>
          </a:xfrm>
          <a:solidFill>
            <a:srgbClr val="00FF99"/>
          </a:solidFill>
        </p:grpSpPr>
        <p:sp>
          <p:nvSpPr>
            <p:cNvPr id="71" name="AutoShape 113"/>
            <p:cNvSpPr>
              <a:spLocks noChangeArrowheads="1"/>
            </p:cNvSpPr>
            <p:nvPr/>
          </p:nvSpPr>
          <p:spPr bwMode="auto">
            <a:xfrm rot="5400000">
              <a:off x="2148" y="1652"/>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72" name="AutoShape 114"/>
            <p:cNvSpPr>
              <a:spLocks noChangeArrowheads="1"/>
            </p:cNvSpPr>
            <p:nvPr/>
          </p:nvSpPr>
          <p:spPr bwMode="auto">
            <a:xfrm rot="5400000">
              <a:off x="2204" y="1690"/>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73" name="AutoShape 115"/>
            <p:cNvSpPr>
              <a:spLocks noChangeArrowheads="1"/>
            </p:cNvSpPr>
            <p:nvPr/>
          </p:nvSpPr>
          <p:spPr bwMode="auto">
            <a:xfrm rot="5400000">
              <a:off x="2260" y="1728"/>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grpSp>
      <p:grpSp>
        <p:nvGrpSpPr>
          <p:cNvPr id="63" name="Group 116"/>
          <p:cNvGrpSpPr>
            <a:grpSpLocks/>
          </p:cNvGrpSpPr>
          <p:nvPr/>
        </p:nvGrpSpPr>
        <p:grpSpPr bwMode="auto">
          <a:xfrm>
            <a:off x="2364986" y="2800074"/>
            <a:ext cx="302268" cy="446643"/>
            <a:chOff x="2222" y="1578"/>
            <a:chExt cx="215" cy="328"/>
          </a:xfrm>
          <a:solidFill>
            <a:srgbClr val="00FF99"/>
          </a:solidFill>
        </p:grpSpPr>
        <p:sp>
          <p:nvSpPr>
            <p:cNvPr id="68" name="AutoShape 117"/>
            <p:cNvSpPr>
              <a:spLocks noChangeArrowheads="1"/>
            </p:cNvSpPr>
            <p:nvPr/>
          </p:nvSpPr>
          <p:spPr bwMode="auto">
            <a:xfrm rot="5400000">
              <a:off x="2148" y="1652"/>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69" name="AutoShape 118"/>
            <p:cNvSpPr>
              <a:spLocks noChangeArrowheads="1"/>
            </p:cNvSpPr>
            <p:nvPr/>
          </p:nvSpPr>
          <p:spPr bwMode="auto">
            <a:xfrm rot="5400000">
              <a:off x="2204" y="1690"/>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70" name="AutoShape 119"/>
            <p:cNvSpPr>
              <a:spLocks noChangeArrowheads="1"/>
            </p:cNvSpPr>
            <p:nvPr/>
          </p:nvSpPr>
          <p:spPr bwMode="auto">
            <a:xfrm rot="5400000">
              <a:off x="2260" y="1728"/>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grpSp>
      <p:grpSp>
        <p:nvGrpSpPr>
          <p:cNvPr id="64" name="Group 120"/>
          <p:cNvGrpSpPr>
            <a:grpSpLocks/>
          </p:cNvGrpSpPr>
          <p:nvPr/>
        </p:nvGrpSpPr>
        <p:grpSpPr bwMode="auto">
          <a:xfrm>
            <a:off x="3432295" y="2120918"/>
            <a:ext cx="302268" cy="446643"/>
            <a:chOff x="2222" y="1578"/>
            <a:chExt cx="215" cy="328"/>
          </a:xfrm>
          <a:solidFill>
            <a:srgbClr val="00FF99"/>
          </a:solidFill>
        </p:grpSpPr>
        <p:sp>
          <p:nvSpPr>
            <p:cNvPr id="65" name="AutoShape 121"/>
            <p:cNvSpPr>
              <a:spLocks noChangeArrowheads="1"/>
            </p:cNvSpPr>
            <p:nvPr/>
          </p:nvSpPr>
          <p:spPr bwMode="auto">
            <a:xfrm rot="5400000">
              <a:off x="2148" y="1652"/>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66" name="AutoShape 122"/>
            <p:cNvSpPr>
              <a:spLocks noChangeArrowheads="1"/>
            </p:cNvSpPr>
            <p:nvPr/>
          </p:nvSpPr>
          <p:spPr bwMode="auto">
            <a:xfrm rot="5400000">
              <a:off x="2204" y="1690"/>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67" name="AutoShape 123"/>
            <p:cNvSpPr>
              <a:spLocks noChangeArrowheads="1"/>
            </p:cNvSpPr>
            <p:nvPr/>
          </p:nvSpPr>
          <p:spPr bwMode="auto">
            <a:xfrm rot="5400000">
              <a:off x="2260" y="1728"/>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grpSp>
      <p:sp>
        <p:nvSpPr>
          <p:cNvPr id="77" name="Text Box 126"/>
          <p:cNvSpPr txBox="1">
            <a:spLocks noChangeArrowheads="1"/>
          </p:cNvSpPr>
          <p:nvPr/>
        </p:nvSpPr>
        <p:spPr bwMode="auto">
          <a:xfrm>
            <a:off x="5835176" y="1568514"/>
            <a:ext cx="2074677" cy="1323439"/>
          </a:xfrm>
          <a:prstGeom prst="rect">
            <a:avLst/>
          </a:prstGeom>
          <a:solidFill>
            <a:srgbClr val="00FF99"/>
          </a:solidFill>
          <a:ln w="9525">
            <a:solidFill>
              <a:schemeClr val="folHlink"/>
            </a:solidFill>
            <a:miter lim="800000"/>
            <a:headEnd/>
            <a:tailEnd/>
          </a:ln>
          <a:effectLst/>
        </p:spPr>
        <p:txBody>
          <a:bodyPr wrap="square">
            <a:spAutoFit/>
          </a:bodyPr>
          <a:lstStyle/>
          <a:p>
            <a:pPr algn="ctr">
              <a:lnSpc>
                <a:spcPts val="2400"/>
              </a:lnSpc>
            </a:pPr>
            <a:r>
              <a:rPr kumimoji="1" lang="zh-CN" altLang="en-US" sz="1600" b="1" dirty="0">
                <a:solidFill>
                  <a:srgbClr val="0000FF"/>
                </a:solidFill>
                <a:latin typeface="微软雅黑" pitchFamily="34" charset="-122"/>
                <a:ea typeface="微软雅黑" pitchFamily="34" charset="-122"/>
              </a:rPr>
              <a:t>采用</a:t>
            </a:r>
            <a:r>
              <a:rPr kumimoji="1" lang="zh-CN" altLang="zh-CN" sz="1600" b="1" dirty="0">
                <a:solidFill>
                  <a:srgbClr val="0000FF"/>
                </a:solidFill>
                <a:latin typeface="微软雅黑" pitchFamily="34" charset="-122"/>
                <a:ea typeface="微软雅黑" pitchFamily="34" charset="-122"/>
              </a:rPr>
              <a:t>单播方式</a:t>
            </a:r>
            <a:r>
              <a:rPr kumimoji="1" lang="zh-CN" altLang="en-US" sz="1600" b="1" dirty="0">
                <a:solidFill>
                  <a:srgbClr val="0000FF"/>
                </a:solidFill>
                <a:latin typeface="微软雅黑" pitchFamily="34" charset="-122"/>
                <a:ea typeface="微软雅黑" pitchFamily="34" charset="-122"/>
              </a:rPr>
              <a:t>，</a:t>
            </a:r>
            <a:endParaRPr kumimoji="1" lang="en-US" altLang="zh-CN" sz="1600" b="1" dirty="0">
              <a:solidFill>
                <a:srgbClr val="0000FF"/>
              </a:solidFill>
              <a:latin typeface="微软雅黑" pitchFamily="34" charset="-122"/>
              <a:ea typeface="微软雅黑" pitchFamily="34" charset="-122"/>
            </a:endParaRPr>
          </a:p>
          <a:p>
            <a:pPr algn="ctr">
              <a:lnSpc>
                <a:spcPts val="2400"/>
              </a:lnSpc>
            </a:pPr>
            <a:r>
              <a:rPr kumimoji="1" lang="zh-CN" altLang="zh-CN" sz="1600" b="1" dirty="0">
                <a:latin typeface="微软雅黑" pitchFamily="34" charset="-122"/>
                <a:ea typeface="微软雅黑" pitchFamily="34" charset="-122"/>
              </a:rPr>
              <a:t>向</a:t>
            </a:r>
            <a:r>
              <a:rPr kumimoji="1" lang="en-US" altLang="zh-CN" sz="1600" b="1" dirty="0">
                <a:latin typeface="微软雅黑" pitchFamily="34" charset="-122"/>
                <a:ea typeface="微软雅黑" pitchFamily="34" charset="-122"/>
              </a:rPr>
              <a:t> 90 </a:t>
            </a:r>
            <a:r>
              <a:rPr kumimoji="1" lang="zh-CN" altLang="zh-CN" sz="1600" b="1" dirty="0">
                <a:latin typeface="微软雅黑" pitchFamily="34" charset="-122"/>
                <a:ea typeface="微软雅黑" pitchFamily="34" charset="-122"/>
              </a:rPr>
              <a:t>台主机传送</a:t>
            </a:r>
            <a:endParaRPr kumimoji="1" lang="en-US" altLang="zh-CN" sz="1600" b="1" dirty="0">
              <a:latin typeface="微软雅黑" pitchFamily="34" charset="-122"/>
              <a:ea typeface="微软雅黑" pitchFamily="34" charset="-122"/>
            </a:endParaRPr>
          </a:p>
          <a:p>
            <a:pPr algn="ctr">
              <a:lnSpc>
                <a:spcPts val="2400"/>
              </a:lnSpc>
            </a:pPr>
            <a:r>
              <a:rPr kumimoji="1" lang="zh-CN" altLang="zh-CN" sz="1600" b="1" dirty="0">
                <a:latin typeface="微软雅黑" pitchFamily="34" charset="-122"/>
                <a:ea typeface="微软雅黑" pitchFamily="34" charset="-122"/>
              </a:rPr>
              <a:t>同样的视频节目</a:t>
            </a:r>
            <a:endParaRPr kumimoji="1" lang="en-US" altLang="zh-CN" sz="1600" b="1" dirty="0">
              <a:latin typeface="微软雅黑" pitchFamily="34" charset="-122"/>
              <a:ea typeface="微软雅黑" pitchFamily="34" charset="-122"/>
            </a:endParaRPr>
          </a:p>
          <a:p>
            <a:pPr algn="ctr">
              <a:lnSpc>
                <a:spcPts val="2400"/>
              </a:lnSpc>
            </a:pPr>
            <a:r>
              <a:rPr kumimoji="1" lang="zh-CN" altLang="zh-CN" sz="1600" b="1" dirty="0">
                <a:latin typeface="微软雅黑" pitchFamily="34" charset="-122"/>
                <a:ea typeface="微软雅黑" pitchFamily="34" charset="-122"/>
              </a:rPr>
              <a:t>需要发送</a:t>
            </a:r>
            <a:r>
              <a:rPr kumimoji="1" lang="en-US" altLang="zh-CN" sz="1600" b="1" dirty="0">
                <a:latin typeface="微软雅黑" pitchFamily="34" charset="-122"/>
                <a:ea typeface="微软雅黑" pitchFamily="34" charset="-122"/>
              </a:rPr>
              <a:t> 90 </a:t>
            </a:r>
            <a:r>
              <a:rPr kumimoji="1" lang="zh-CN" altLang="zh-CN" sz="1600" b="1" dirty="0">
                <a:latin typeface="微软雅黑" pitchFamily="34" charset="-122"/>
                <a:ea typeface="微软雅黑" pitchFamily="34" charset="-122"/>
              </a:rPr>
              <a:t>个单播</a:t>
            </a:r>
            <a:endParaRPr kumimoji="1" lang="zh-CN" altLang="en-US" sz="1600" b="1" dirty="0">
              <a:latin typeface="微软雅黑" pitchFamily="34" charset="-122"/>
              <a:ea typeface="微软雅黑" pitchFamily="34" charset="-122"/>
            </a:endParaRPr>
          </a:p>
        </p:txBody>
      </p:sp>
      <p:pic>
        <p:nvPicPr>
          <p:cNvPr id="79"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788366" y="3631475"/>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80"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427547" y="3631475"/>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81"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43121" y="3631475"/>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82"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638961" y="3631475"/>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83"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153785" y="3631475"/>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84"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14351" y="3631475"/>
            <a:ext cx="352881" cy="352881"/>
          </a:xfrm>
          <a:prstGeom prst="rect">
            <a:avLst/>
          </a:prstGeom>
          <a:noFill/>
          <a:extLst>
            <a:ext uri="{909E8E84-426E-40DD-AFC4-6F175D3DCCD1}">
              <a14:hiddenFill xmlns:a14="http://schemas.microsoft.com/office/drawing/2010/main">
                <a:solidFill>
                  <a:srgbClr val="FFFFFF"/>
                </a:solidFill>
              </a14:hiddenFill>
            </a:ext>
          </a:extLst>
        </p:spPr>
      </p:pic>
      <p:cxnSp>
        <p:nvCxnSpPr>
          <p:cNvPr id="87" name="直接连接符 86"/>
          <p:cNvCxnSpPr>
            <a:stCxn id="9" idx="1"/>
            <a:endCxn id="85" idx="3"/>
          </p:cNvCxnSpPr>
          <p:nvPr/>
        </p:nvCxnSpPr>
        <p:spPr>
          <a:xfrm flipH="1">
            <a:off x="2776002" y="1488143"/>
            <a:ext cx="656294" cy="1"/>
          </a:xfrm>
          <a:prstGeom prst="line">
            <a:avLst/>
          </a:prstGeom>
          <a:ln w="28575">
            <a:solidFill>
              <a:srgbClr val="0000FF"/>
            </a:solidFill>
          </a:ln>
        </p:spPr>
        <p:style>
          <a:lnRef idx="1">
            <a:schemeClr val="accent1"/>
          </a:lnRef>
          <a:fillRef idx="0">
            <a:schemeClr val="accent1"/>
          </a:fillRef>
          <a:effectRef idx="0">
            <a:schemeClr val="accent1"/>
          </a:effectRef>
          <a:fontRef idx="minor">
            <a:schemeClr val="tx1"/>
          </a:fontRef>
        </p:style>
      </p:cxnSp>
      <p:pic>
        <p:nvPicPr>
          <p:cNvPr id="86"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131813" y="3194860"/>
            <a:ext cx="400183" cy="2494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88"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240519" y="3194860"/>
            <a:ext cx="400183" cy="2494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89"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451614" y="3194860"/>
            <a:ext cx="400183" cy="2494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Tree>
    <p:extLst>
      <p:ext uri="{BB962C8B-B14F-4D97-AF65-F5344CB8AC3E}">
        <p14:creationId xmlns:p14="http://schemas.microsoft.com/office/powerpoint/2010/main" val="15274261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5" y="1099038"/>
            <a:ext cx="8053710" cy="324454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pic>
        <p:nvPicPr>
          <p:cNvPr id="3" name="图片 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344612" y="1186836"/>
            <a:ext cx="430439" cy="602615"/>
          </a:xfrm>
          <a:prstGeom prst="rect">
            <a:avLst/>
          </a:prstGeom>
        </p:spPr>
      </p:pic>
      <p:sp>
        <p:nvSpPr>
          <p:cNvPr id="4" name="AutoShape 5"/>
          <p:cNvSpPr>
            <a:spLocks noChangeArrowheads="1"/>
          </p:cNvSpPr>
          <p:nvPr/>
        </p:nvSpPr>
        <p:spPr bwMode="auto">
          <a:xfrm>
            <a:off x="545145" y="64130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5" name="Rectangle 6"/>
          <p:cNvSpPr>
            <a:spLocks noChangeArrowheads="1"/>
          </p:cNvSpPr>
          <p:nvPr/>
        </p:nvSpPr>
        <p:spPr bwMode="auto">
          <a:xfrm>
            <a:off x="1941968" y="60809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多播可大大节约网络资源</a:t>
            </a:r>
          </a:p>
        </p:txBody>
      </p:sp>
      <p:sp>
        <p:nvSpPr>
          <p:cNvPr id="7" name="Line 52"/>
          <p:cNvSpPr>
            <a:spLocks noChangeShapeType="1"/>
          </p:cNvSpPr>
          <p:nvPr/>
        </p:nvSpPr>
        <p:spPr bwMode="auto">
          <a:xfrm flipV="1">
            <a:off x="2412068" y="2011691"/>
            <a:ext cx="954839" cy="61751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8" name="Line 53"/>
          <p:cNvSpPr>
            <a:spLocks noChangeShapeType="1"/>
          </p:cNvSpPr>
          <p:nvPr/>
        </p:nvSpPr>
        <p:spPr bwMode="auto">
          <a:xfrm flipV="1">
            <a:off x="3431344" y="1488143"/>
            <a:ext cx="0" cy="39918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9" name="Line 54"/>
          <p:cNvSpPr>
            <a:spLocks noChangeShapeType="1"/>
          </p:cNvSpPr>
          <p:nvPr/>
        </p:nvSpPr>
        <p:spPr bwMode="auto">
          <a:xfrm flipH="1" flipV="1">
            <a:off x="3431344" y="2011691"/>
            <a:ext cx="0" cy="61751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0" name="Line 55"/>
          <p:cNvSpPr>
            <a:spLocks noChangeShapeType="1"/>
          </p:cNvSpPr>
          <p:nvPr/>
        </p:nvSpPr>
        <p:spPr bwMode="auto">
          <a:xfrm>
            <a:off x="4642758" y="2629204"/>
            <a:ext cx="0" cy="55587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1" name="Line 56"/>
          <p:cNvSpPr>
            <a:spLocks noChangeShapeType="1"/>
          </p:cNvSpPr>
          <p:nvPr/>
        </p:nvSpPr>
        <p:spPr bwMode="auto">
          <a:xfrm flipV="1">
            <a:off x="3431344" y="2629204"/>
            <a:ext cx="0" cy="55587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2" name="Line 57"/>
          <p:cNvSpPr>
            <a:spLocks noChangeShapeType="1"/>
          </p:cNvSpPr>
          <p:nvPr/>
        </p:nvSpPr>
        <p:spPr bwMode="auto">
          <a:xfrm>
            <a:off x="2348803" y="2629204"/>
            <a:ext cx="0" cy="55587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3" name="Line 58"/>
          <p:cNvSpPr>
            <a:spLocks noChangeShapeType="1"/>
          </p:cNvSpPr>
          <p:nvPr/>
        </p:nvSpPr>
        <p:spPr bwMode="auto">
          <a:xfrm>
            <a:off x="3560217" y="2011691"/>
            <a:ext cx="1082541" cy="61751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4" name="Text Box 59"/>
          <p:cNvSpPr txBox="1">
            <a:spLocks noChangeArrowheads="1"/>
          </p:cNvSpPr>
          <p:nvPr/>
        </p:nvSpPr>
        <p:spPr bwMode="auto">
          <a:xfrm>
            <a:off x="2453441" y="4010080"/>
            <a:ext cx="194796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itchFamily="34" charset="-122"/>
                <a:ea typeface="微软雅黑" pitchFamily="34" charset="-122"/>
              </a:rPr>
              <a:t>多播组成员共有 </a:t>
            </a:r>
            <a:r>
              <a:rPr kumimoji="1" lang="en-US" altLang="zh-CN" sz="1400" b="1" dirty="0">
                <a:latin typeface="微软雅黑" pitchFamily="34" charset="-122"/>
                <a:ea typeface="微软雅黑" pitchFamily="34" charset="-122"/>
              </a:rPr>
              <a:t>90 </a:t>
            </a:r>
            <a:r>
              <a:rPr kumimoji="1" lang="zh-CN" altLang="en-US" sz="1400" b="1" dirty="0">
                <a:latin typeface="微软雅黑" pitchFamily="34" charset="-122"/>
                <a:ea typeface="微软雅黑" pitchFamily="34" charset="-122"/>
              </a:rPr>
              <a:t>个</a:t>
            </a:r>
          </a:p>
        </p:txBody>
      </p:sp>
      <p:sp>
        <p:nvSpPr>
          <p:cNvPr id="15" name="AutoShape 60"/>
          <p:cNvSpPr>
            <a:spLocks noChangeArrowheads="1"/>
          </p:cNvSpPr>
          <p:nvPr/>
        </p:nvSpPr>
        <p:spPr bwMode="auto">
          <a:xfrm rot="5400000">
            <a:off x="3361905" y="1588165"/>
            <a:ext cx="343904" cy="144105"/>
          </a:xfrm>
          <a:prstGeom prst="rightArrow">
            <a:avLst>
              <a:gd name="adj1" fmla="val 37500"/>
              <a:gd name="adj2" fmla="val 103881"/>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6" name="AutoShape 61"/>
          <p:cNvSpPr>
            <a:spLocks noChangeArrowheads="1"/>
          </p:cNvSpPr>
          <p:nvPr/>
        </p:nvSpPr>
        <p:spPr bwMode="auto">
          <a:xfrm rot="8740270">
            <a:off x="2665130" y="2168502"/>
            <a:ext cx="354989" cy="139509"/>
          </a:xfrm>
          <a:prstGeom prst="rightArrow">
            <a:avLst>
              <a:gd name="adj1" fmla="val 37500"/>
              <a:gd name="adj2" fmla="val 94377"/>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pic>
        <p:nvPicPr>
          <p:cNvPr id="17" name="Picture 6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260293" y="1876508"/>
            <a:ext cx="363190" cy="1957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8" name="Text Box 63"/>
          <p:cNvSpPr txBox="1">
            <a:spLocks noChangeArrowheads="1"/>
          </p:cNvSpPr>
          <p:nvPr/>
        </p:nvSpPr>
        <p:spPr bwMode="auto">
          <a:xfrm>
            <a:off x="2984972" y="1576944"/>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1</a:t>
            </a:r>
            <a:endParaRPr kumimoji="1" lang="en-US" altLang="zh-CN" sz="1400" b="1" dirty="0">
              <a:latin typeface="微软雅黑" pitchFamily="34" charset="-122"/>
              <a:ea typeface="微软雅黑" pitchFamily="34" charset="-122"/>
            </a:endParaRPr>
          </a:p>
        </p:txBody>
      </p:sp>
      <p:sp>
        <p:nvSpPr>
          <p:cNvPr id="19" name="Text Box 64"/>
          <p:cNvSpPr txBox="1">
            <a:spLocks noChangeArrowheads="1"/>
          </p:cNvSpPr>
          <p:nvPr/>
        </p:nvSpPr>
        <p:spPr bwMode="auto">
          <a:xfrm>
            <a:off x="2948653" y="2359921"/>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3</a:t>
            </a:r>
            <a:endParaRPr kumimoji="1" lang="en-US" altLang="zh-CN" sz="1400" b="1" dirty="0">
              <a:latin typeface="微软雅黑" pitchFamily="34" charset="-122"/>
              <a:ea typeface="微软雅黑" pitchFamily="34" charset="-122"/>
            </a:endParaRPr>
          </a:p>
        </p:txBody>
      </p:sp>
      <p:sp>
        <p:nvSpPr>
          <p:cNvPr id="20" name="Text Box 65"/>
          <p:cNvSpPr txBox="1">
            <a:spLocks noChangeArrowheads="1"/>
          </p:cNvSpPr>
          <p:nvPr/>
        </p:nvSpPr>
        <p:spPr bwMode="auto">
          <a:xfrm>
            <a:off x="4117889" y="2410748"/>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4</a:t>
            </a:r>
            <a:endParaRPr kumimoji="1" lang="en-US" altLang="zh-CN" sz="1400" b="1">
              <a:latin typeface="微软雅黑" pitchFamily="34" charset="-122"/>
              <a:ea typeface="微软雅黑" pitchFamily="34" charset="-122"/>
            </a:endParaRPr>
          </a:p>
        </p:txBody>
      </p:sp>
      <p:sp>
        <p:nvSpPr>
          <p:cNvPr id="21" name="Text Box 66"/>
          <p:cNvSpPr txBox="1">
            <a:spLocks noChangeArrowheads="1"/>
          </p:cNvSpPr>
          <p:nvPr/>
        </p:nvSpPr>
        <p:spPr bwMode="auto">
          <a:xfrm>
            <a:off x="1839167" y="2379386"/>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2</a:t>
            </a:r>
            <a:endParaRPr kumimoji="1" lang="en-US" altLang="zh-CN" sz="1400" b="1">
              <a:latin typeface="微软雅黑" pitchFamily="34" charset="-122"/>
              <a:ea typeface="微软雅黑" pitchFamily="34" charset="-122"/>
            </a:endParaRPr>
          </a:p>
        </p:txBody>
      </p:sp>
      <p:sp>
        <p:nvSpPr>
          <p:cNvPr id="22" name="Text Box 67"/>
          <p:cNvSpPr txBox="1">
            <a:spLocks noChangeArrowheads="1"/>
          </p:cNvSpPr>
          <p:nvPr/>
        </p:nvSpPr>
        <p:spPr bwMode="auto">
          <a:xfrm>
            <a:off x="1093683" y="1352345"/>
            <a:ext cx="131959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FF"/>
                </a:solidFill>
                <a:latin typeface="微软雅黑" pitchFamily="34" charset="-122"/>
                <a:ea typeface="微软雅黑" pitchFamily="34" charset="-122"/>
              </a:rPr>
              <a:t>视频服务器 </a:t>
            </a:r>
            <a:r>
              <a:rPr kumimoji="1" lang="en-US" altLang="zh-CN" sz="1400" b="1" dirty="0">
                <a:solidFill>
                  <a:srgbClr val="0000FF"/>
                </a:solidFill>
                <a:latin typeface="微软雅黑" pitchFamily="34" charset="-122"/>
                <a:ea typeface="微软雅黑" pitchFamily="34" charset="-122"/>
              </a:rPr>
              <a:t>M</a:t>
            </a:r>
          </a:p>
        </p:txBody>
      </p:sp>
      <p:pic>
        <p:nvPicPr>
          <p:cNvPr id="23" name="Picture 6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51791" y="2532955"/>
            <a:ext cx="362018" cy="1957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4" name="Picture 6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260293" y="2532955"/>
            <a:ext cx="363190" cy="1957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5" name="Picture 7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57836" y="2555665"/>
            <a:ext cx="362018" cy="1968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9" name="AutoShape 75"/>
          <p:cNvSpPr>
            <a:spLocks noChangeArrowheads="1"/>
          </p:cNvSpPr>
          <p:nvPr/>
        </p:nvSpPr>
        <p:spPr bwMode="auto">
          <a:xfrm rot="1858546">
            <a:off x="3924579" y="2134977"/>
            <a:ext cx="356161" cy="140590"/>
          </a:xfrm>
          <a:prstGeom prst="rightArrow">
            <a:avLst>
              <a:gd name="adj1" fmla="val 37500"/>
              <a:gd name="adj2" fmla="val 93961"/>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8" name="Text Box 91"/>
          <p:cNvSpPr txBox="1">
            <a:spLocks noChangeArrowheads="1"/>
          </p:cNvSpPr>
          <p:nvPr/>
        </p:nvSpPr>
        <p:spPr bwMode="auto">
          <a:xfrm>
            <a:off x="2412800" y="2745460"/>
            <a:ext cx="43313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C00CC"/>
                </a:solidFill>
                <a:latin typeface="微软雅黑" pitchFamily="34" charset="-122"/>
                <a:ea typeface="微软雅黑" pitchFamily="34" charset="-122"/>
              </a:rPr>
              <a:t>1</a:t>
            </a:r>
            <a:r>
              <a:rPr kumimoji="1" lang="zh-CN" altLang="en-US" sz="1200" b="1" dirty="0">
                <a:solidFill>
                  <a:srgbClr val="CC00CC"/>
                </a:solidFill>
                <a:latin typeface="微软雅黑" pitchFamily="34" charset="-122"/>
                <a:ea typeface="微软雅黑" pitchFamily="34" charset="-122"/>
              </a:rPr>
              <a:t>个</a:t>
            </a:r>
          </a:p>
        </p:txBody>
      </p:sp>
      <p:sp>
        <p:nvSpPr>
          <p:cNvPr id="39" name="Text Box 92"/>
          <p:cNvSpPr txBox="1">
            <a:spLocks noChangeArrowheads="1"/>
          </p:cNvSpPr>
          <p:nvPr/>
        </p:nvSpPr>
        <p:spPr bwMode="auto">
          <a:xfrm>
            <a:off x="3529358" y="2745460"/>
            <a:ext cx="43313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C00CC"/>
                </a:solidFill>
                <a:latin typeface="微软雅黑" pitchFamily="34" charset="-122"/>
                <a:ea typeface="微软雅黑" pitchFamily="34" charset="-122"/>
              </a:rPr>
              <a:t>1</a:t>
            </a:r>
            <a:r>
              <a:rPr kumimoji="1" lang="zh-CN" altLang="en-US" sz="1200" b="1" dirty="0">
                <a:solidFill>
                  <a:srgbClr val="CC00CC"/>
                </a:solidFill>
                <a:latin typeface="微软雅黑" pitchFamily="34" charset="-122"/>
                <a:ea typeface="微软雅黑" pitchFamily="34" charset="-122"/>
              </a:rPr>
              <a:t>个</a:t>
            </a:r>
          </a:p>
        </p:txBody>
      </p:sp>
      <p:sp>
        <p:nvSpPr>
          <p:cNvPr id="40" name="Text Box 93"/>
          <p:cNvSpPr txBox="1">
            <a:spLocks noChangeArrowheads="1"/>
          </p:cNvSpPr>
          <p:nvPr/>
        </p:nvSpPr>
        <p:spPr bwMode="auto">
          <a:xfrm>
            <a:off x="4713626" y="2745460"/>
            <a:ext cx="47961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C00CC"/>
                </a:solidFill>
                <a:latin typeface="微软雅黑" pitchFamily="34" charset="-122"/>
                <a:ea typeface="微软雅黑" pitchFamily="34" charset="-122"/>
              </a:rPr>
              <a:t>1 </a:t>
            </a:r>
            <a:r>
              <a:rPr kumimoji="1" lang="zh-CN" altLang="en-US" sz="1200" b="1" dirty="0">
                <a:solidFill>
                  <a:srgbClr val="CC00CC"/>
                </a:solidFill>
                <a:latin typeface="微软雅黑" pitchFamily="34" charset="-122"/>
                <a:ea typeface="微软雅黑" pitchFamily="34" charset="-122"/>
              </a:rPr>
              <a:t>个</a:t>
            </a:r>
          </a:p>
        </p:txBody>
      </p:sp>
      <p:sp>
        <p:nvSpPr>
          <p:cNvPr id="41" name="Text Box 94"/>
          <p:cNvSpPr txBox="1">
            <a:spLocks noChangeArrowheads="1"/>
          </p:cNvSpPr>
          <p:nvPr/>
        </p:nvSpPr>
        <p:spPr bwMode="auto">
          <a:xfrm>
            <a:off x="3968278" y="1886175"/>
            <a:ext cx="43313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C00CC"/>
                </a:solidFill>
                <a:latin typeface="微软雅黑" pitchFamily="34" charset="-122"/>
                <a:ea typeface="微软雅黑" pitchFamily="34" charset="-122"/>
              </a:rPr>
              <a:t>1</a:t>
            </a:r>
            <a:r>
              <a:rPr kumimoji="1" lang="zh-CN" altLang="en-US" sz="1200" b="1" dirty="0">
                <a:solidFill>
                  <a:srgbClr val="CC00CC"/>
                </a:solidFill>
                <a:latin typeface="微软雅黑" pitchFamily="34" charset="-122"/>
                <a:ea typeface="微软雅黑" pitchFamily="34" charset="-122"/>
              </a:rPr>
              <a:t>个</a:t>
            </a:r>
          </a:p>
        </p:txBody>
      </p:sp>
      <p:sp>
        <p:nvSpPr>
          <p:cNvPr id="42" name="Text Box 95"/>
          <p:cNvSpPr txBox="1">
            <a:spLocks noChangeArrowheads="1"/>
          </p:cNvSpPr>
          <p:nvPr/>
        </p:nvSpPr>
        <p:spPr bwMode="auto">
          <a:xfrm>
            <a:off x="3509916" y="2115743"/>
            <a:ext cx="43313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C00CC"/>
                </a:solidFill>
                <a:latin typeface="微软雅黑" pitchFamily="34" charset="-122"/>
                <a:ea typeface="微软雅黑" pitchFamily="34" charset="-122"/>
              </a:rPr>
              <a:t>1</a:t>
            </a:r>
            <a:r>
              <a:rPr kumimoji="1" lang="zh-CN" altLang="en-US" sz="1200" b="1" dirty="0">
                <a:solidFill>
                  <a:srgbClr val="CC00CC"/>
                </a:solidFill>
                <a:latin typeface="微软雅黑" pitchFamily="34" charset="-122"/>
                <a:ea typeface="微软雅黑" pitchFamily="34" charset="-122"/>
              </a:rPr>
              <a:t>个</a:t>
            </a:r>
          </a:p>
        </p:txBody>
      </p:sp>
      <p:sp>
        <p:nvSpPr>
          <p:cNvPr id="43" name="Text Box 96"/>
          <p:cNvSpPr txBox="1">
            <a:spLocks noChangeArrowheads="1"/>
          </p:cNvSpPr>
          <p:nvPr/>
        </p:nvSpPr>
        <p:spPr bwMode="auto">
          <a:xfrm>
            <a:off x="2527386" y="1936415"/>
            <a:ext cx="4331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dirty="0">
                <a:solidFill>
                  <a:srgbClr val="CC00CC"/>
                </a:solidFill>
                <a:latin typeface="微软雅黑" pitchFamily="34" charset="-122"/>
                <a:ea typeface="微软雅黑" pitchFamily="34" charset="-122"/>
              </a:rPr>
              <a:t>1</a:t>
            </a:r>
            <a:r>
              <a:rPr kumimoji="1" lang="zh-CN" altLang="en-US" sz="1200" b="1" dirty="0">
                <a:solidFill>
                  <a:srgbClr val="CC00CC"/>
                </a:solidFill>
                <a:latin typeface="微软雅黑" pitchFamily="34" charset="-122"/>
                <a:ea typeface="微软雅黑" pitchFamily="34" charset="-122"/>
              </a:rPr>
              <a:t>个</a:t>
            </a:r>
          </a:p>
        </p:txBody>
      </p:sp>
      <p:sp>
        <p:nvSpPr>
          <p:cNvPr id="44" name="Text Box 97"/>
          <p:cNvSpPr txBox="1">
            <a:spLocks noChangeArrowheads="1"/>
          </p:cNvSpPr>
          <p:nvPr/>
        </p:nvSpPr>
        <p:spPr bwMode="auto">
          <a:xfrm>
            <a:off x="3534340" y="1455341"/>
            <a:ext cx="47961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C00CC"/>
                </a:solidFill>
                <a:latin typeface="微软雅黑" pitchFamily="34" charset="-122"/>
                <a:ea typeface="微软雅黑" pitchFamily="34" charset="-122"/>
              </a:rPr>
              <a:t>1 </a:t>
            </a:r>
            <a:r>
              <a:rPr kumimoji="1" lang="zh-CN" altLang="en-US" sz="1200" b="1" dirty="0">
                <a:solidFill>
                  <a:srgbClr val="CC00CC"/>
                </a:solidFill>
                <a:latin typeface="微软雅黑" pitchFamily="34" charset="-122"/>
                <a:ea typeface="微软雅黑" pitchFamily="34" charset="-122"/>
              </a:rPr>
              <a:t>个</a:t>
            </a:r>
          </a:p>
        </p:txBody>
      </p:sp>
      <p:sp>
        <p:nvSpPr>
          <p:cNvPr id="50" name="AutoShape 104"/>
          <p:cNvSpPr>
            <a:spLocks noChangeArrowheads="1"/>
          </p:cNvSpPr>
          <p:nvPr/>
        </p:nvSpPr>
        <p:spPr bwMode="auto">
          <a:xfrm rot="5400000">
            <a:off x="4575638" y="2862081"/>
            <a:ext cx="343153" cy="144246"/>
          </a:xfrm>
          <a:prstGeom prst="rightArrow">
            <a:avLst>
              <a:gd name="adj1" fmla="val 37500"/>
              <a:gd name="adj2" fmla="val 98306"/>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59" name="AutoShape 113"/>
          <p:cNvSpPr>
            <a:spLocks noChangeArrowheads="1"/>
          </p:cNvSpPr>
          <p:nvPr/>
        </p:nvSpPr>
        <p:spPr bwMode="auto">
          <a:xfrm rot="5400000">
            <a:off x="3368054" y="2850985"/>
            <a:ext cx="343153" cy="144808"/>
          </a:xfrm>
          <a:prstGeom prst="rightArrow">
            <a:avLst>
              <a:gd name="adj1" fmla="val 37500"/>
              <a:gd name="adj2" fmla="val 98306"/>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63" name="AutoShape 117"/>
          <p:cNvSpPr>
            <a:spLocks noChangeArrowheads="1"/>
          </p:cNvSpPr>
          <p:nvPr/>
        </p:nvSpPr>
        <p:spPr bwMode="auto">
          <a:xfrm rot="5400000">
            <a:off x="2265577" y="2898569"/>
            <a:ext cx="343153" cy="144808"/>
          </a:xfrm>
          <a:prstGeom prst="rightArrow">
            <a:avLst>
              <a:gd name="adj1" fmla="val 37500"/>
              <a:gd name="adj2" fmla="val 98306"/>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67" name="AutoShape 121"/>
          <p:cNvSpPr>
            <a:spLocks noChangeArrowheads="1"/>
          </p:cNvSpPr>
          <p:nvPr/>
        </p:nvSpPr>
        <p:spPr bwMode="auto">
          <a:xfrm rot="5400000">
            <a:off x="3368054" y="2219413"/>
            <a:ext cx="343153" cy="144808"/>
          </a:xfrm>
          <a:prstGeom prst="rightArrow">
            <a:avLst>
              <a:gd name="adj1" fmla="val 37500"/>
              <a:gd name="adj2" fmla="val 98306"/>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70" name="Text Box 126"/>
          <p:cNvSpPr txBox="1">
            <a:spLocks noChangeArrowheads="1"/>
          </p:cNvSpPr>
          <p:nvPr/>
        </p:nvSpPr>
        <p:spPr bwMode="auto">
          <a:xfrm>
            <a:off x="5453670" y="1301860"/>
            <a:ext cx="2762115" cy="1502976"/>
          </a:xfrm>
          <a:prstGeom prst="rect">
            <a:avLst/>
          </a:prstGeom>
          <a:solidFill>
            <a:srgbClr val="00FF99"/>
          </a:solidFill>
          <a:ln w="9525">
            <a:solidFill>
              <a:schemeClr val="folHlink"/>
            </a:solidFill>
            <a:miter lim="800000"/>
            <a:headEnd/>
            <a:tailEnd/>
          </a:ln>
          <a:effectLst/>
        </p:spPr>
        <p:txBody>
          <a:bodyPr wrap="square">
            <a:spAutoFit/>
          </a:bodyPr>
          <a:lstStyle/>
          <a:p>
            <a:pPr algn="ctr">
              <a:lnSpc>
                <a:spcPts val="2200"/>
              </a:lnSpc>
            </a:pPr>
            <a:r>
              <a:rPr kumimoji="1" lang="zh-CN" altLang="en-US" sz="1600" b="1" dirty="0">
                <a:solidFill>
                  <a:srgbClr val="0000FF"/>
                </a:solidFill>
                <a:latin typeface="微软雅黑" pitchFamily="34" charset="-122"/>
                <a:ea typeface="微软雅黑" pitchFamily="34" charset="-122"/>
              </a:rPr>
              <a:t>采用多播方式，</a:t>
            </a:r>
          </a:p>
          <a:p>
            <a:pPr algn="ctr">
              <a:lnSpc>
                <a:spcPts val="2200"/>
              </a:lnSpc>
            </a:pPr>
            <a:r>
              <a:rPr kumimoji="1" lang="zh-CN" altLang="en-US" sz="1600" b="1" dirty="0">
                <a:latin typeface="微软雅黑" pitchFamily="34" charset="-122"/>
                <a:ea typeface="微软雅黑" pitchFamily="34" charset="-122"/>
              </a:rPr>
              <a:t>只需发送一次到多播组。</a:t>
            </a:r>
          </a:p>
          <a:p>
            <a:pPr algn="ctr">
              <a:lnSpc>
                <a:spcPts val="2200"/>
              </a:lnSpc>
            </a:pPr>
            <a:r>
              <a:rPr kumimoji="1" lang="zh-CN" altLang="en-US" sz="1600" b="1" dirty="0">
                <a:latin typeface="微软雅黑" pitchFamily="34" charset="-122"/>
                <a:ea typeface="微软雅黑" pitchFamily="34" charset="-122"/>
              </a:rPr>
              <a:t>路由器复制分组。</a:t>
            </a:r>
          </a:p>
          <a:p>
            <a:pPr algn="ctr">
              <a:lnSpc>
                <a:spcPts val="2200"/>
              </a:lnSpc>
            </a:pPr>
            <a:r>
              <a:rPr kumimoji="1" lang="zh-CN" altLang="en-US" sz="1600" b="1" dirty="0">
                <a:latin typeface="微软雅黑" pitchFamily="34" charset="-122"/>
                <a:ea typeface="微软雅黑" pitchFamily="34" charset="-122"/>
              </a:rPr>
              <a:t>局域网具有硬件多播功能，不需要复制分组。</a:t>
            </a:r>
          </a:p>
        </p:txBody>
      </p:sp>
      <p:cxnSp>
        <p:nvCxnSpPr>
          <p:cNvPr id="78" name="直接连接符 77"/>
          <p:cNvCxnSpPr>
            <a:stCxn id="8" idx="1"/>
            <a:endCxn id="3" idx="3"/>
          </p:cNvCxnSpPr>
          <p:nvPr/>
        </p:nvCxnSpPr>
        <p:spPr>
          <a:xfrm flipH="1">
            <a:off x="2775051" y="1488143"/>
            <a:ext cx="656294" cy="1"/>
          </a:xfrm>
          <a:prstGeom prst="line">
            <a:avLst/>
          </a:prstGeom>
          <a:ln w="28575">
            <a:solidFill>
              <a:srgbClr val="0000FF"/>
            </a:solidFill>
          </a:ln>
        </p:spPr>
        <p:style>
          <a:lnRef idx="1">
            <a:schemeClr val="accent1"/>
          </a:lnRef>
          <a:fillRef idx="0">
            <a:schemeClr val="accent1"/>
          </a:fillRef>
          <a:effectRef idx="0">
            <a:schemeClr val="accent1"/>
          </a:effectRef>
          <a:fontRef idx="minor">
            <a:schemeClr val="tx1"/>
          </a:fontRef>
        </p:style>
      </p:cxnSp>
      <p:sp>
        <p:nvSpPr>
          <p:cNvPr id="79" name="Text Box 126"/>
          <p:cNvSpPr txBox="1">
            <a:spLocks noChangeArrowheads="1"/>
          </p:cNvSpPr>
          <p:nvPr/>
        </p:nvSpPr>
        <p:spPr bwMode="auto">
          <a:xfrm>
            <a:off x="5453671" y="2973630"/>
            <a:ext cx="2762114" cy="1220847"/>
          </a:xfrm>
          <a:prstGeom prst="rect">
            <a:avLst/>
          </a:prstGeom>
          <a:solidFill>
            <a:srgbClr val="00FFFF"/>
          </a:solidFill>
          <a:ln w="9525">
            <a:solidFill>
              <a:schemeClr val="folHlink"/>
            </a:solidFill>
            <a:miter lim="800000"/>
            <a:headEnd/>
            <a:tailEnd/>
          </a:ln>
          <a:effectLst/>
        </p:spPr>
        <p:txBody>
          <a:bodyPr wrap="square">
            <a:spAutoFit/>
          </a:bodyPr>
          <a:lstStyle/>
          <a:p>
            <a:pPr algn="ctr">
              <a:lnSpc>
                <a:spcPts val="2200"/>
              </a:lnSpc>
            </a:pPr>
            <a:r>
              <a:rPr kumimoji="1" lang="zh-CN" altLang="en-US" sz="1600" b="1" dirty="0">
                <a:latin typeface="微软雅黑" pitchFamily="34" charset="-122"/>
                <a:ea typeface="微软雅黑" pitchFamily="34" charset="-122"/>
              </a:rPr>
              <a:t>当多播组的主机数很大时（如成千上万个），采用多播方式就可明显地减轻网络中各种资源的消耗。</a:t>
            </a:r>
          </a:p>
        </p:txBody>
      </p:sp>
      <p:sp>
        <p:nvSpPr>
          <p:cNvPr id="80" name="Text Box 64"/>
          <p:cNvSpPr txBox="1">
            <a:spLocks noChangeArrowheads="1"/>
          </p:cNvSpPr>
          <p:nvPr/>
        </p:nvSpPr>
        <p:spPr bwMode="auto">
          <a:xfrm>
            <a:off x="1773304" y="2889926"/>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多播</a:t>
            </a:r>
          </a:p>
        </p:txBody>
      </p:sp>
      <p:sp>
        <p:nvSpPr>
          <p:cNvPr id="81" name="Text Box 64"/>
          <p:cNvSpPr txBox="1">
            <a:spLocks noChangeArrowheads="1"/>
          </p:cNvSpPr>
          <p:nvPr/>
        </p:nvSpPr>
        <p:spPr bwMode="auto">
          <a:xfrm>
            <a:off x="2922088" y="2889926"/>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多播</a:t>
            </a:r>
          </a:p>
        </p:txBody>
      </p:sp>
      <p:sp>
        <p:nvSpPr>
          <p:cNvPr id="82" name="Text Box 64"/>
          <p:cNvSpPr txBox="1">
            <a:spLocks noChangeArrowheads="1"/>
          </p:cNvSpPr>
          <p:nvPr/>
        </p:nvSpPr>
        <p:spPr bwMode="auto">
          <a:xfrm>
            <a:off x="4134504" y="2889926"/>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多播</a:t>
            </a:r>
          </a:p>
        </p:txBody>
      </p:sp>
      <p:sp>
        <p:nvSpPr>
          <p:cNvPr id="62" name="Line 77"/>
          <p:cNvSpPr>
            <a:spLocks noChangeShapeType="1"/>
          </p:cNvSpPr>
          <p:nvPr/>
        </p:nvSpPr>
        <p:spPr bwMode="auto">
          <a:xfrm>
            <a:off x="2358011" y="3406751"/>
            <a:ext cx="239164" cy="24657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4" name="Line 76"/>
          <p:cNvSpPr>
            <a:spLocks noChangeShapeType="1"/>
          </p:cNvSpPr>
          <p:nvPr/>
        </p:nvSpPr>
        <p:spPr bwMode="auto">
          <a:xfrm flipH="1">
            <a:off x="1961005" y="3393435"/>
            <a:ext cx="251687" cy="322614"/>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5" name="Line 78"/>
          <p:cNvSpPr>
            <a:spLocks noChangeShapeType="1"/>
          </p:cNvSpPr>
          <p:nvPr/>
        </p:nvSpPr>
        <p:spPr bwMode="auto">
          <a:xfrm flipH="1">
            <a:off x="3106811" y="3406751"/>
            <a:ext cx="198040" cy="30929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6" name="Line 79"/>
          <p:cNvSpPr>
            <a:spLocks noChangeShapeType="1"/>
          </p:cNvSpPr>
          <p:nvPr/>
        </p:nvSpPr>
        <p:spPr bwMode="auto">
          <a:xfrm>
            <a:off x="3497230" y="3405917"/>
            <a:ext cx="311359" cy="24740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8" name="Line 80"/>
          <p:cNvSpPr>
            <a:spLocks noChangeShapeType="1"/>
          </p:cNvSpPr>
          <p:nvPr/>
        </p:nvSpPr>
        <p:spPr bwMode="auto">
          <a:xfrm flipH="1">
            <a:off x="4318225" y="3393435"/>
            <a:ext cx="253091" cy="25989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9" name="Line 81"/>
          <p:cNvSpPr>
            <a:spLocks noChangeShapeType="1"/>
          </p:cNvSpPr>
          <p:nvPr/>
        </p:nvSpPr>
        <p:spPr bwMode="auto">
          <a:xfrm>
            <a:off x="4742569" y="3404111"/>
            <a:ext cx="339527" cy="31193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3" name="Text Box 88"/>
          <p:cNvSpPr txBox="1">
            <a:spLocks noChangeArrowheads="1"/>
          </p:cNvSpPr>
          <p:nvPr/>
        </p:nvSpPr>
        <p:spPr bwMode="auto">
          <a:xfrm>
            <a:off x="2106324" y="3393434"/>
            <a:ext cx="3577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a:t>
            </a:r>
          </a:p>
        </p:txBody>
      </p:sp>
      <p:sp>
        <p:nvSpPr>
          <p:cNvPr id="84" name="Text Box 89"/>
          <p:cNvSpPr txBox="1">
            <a:spLocks noChangeArrowheads="1"/>
          </p:cNvSpPr>
          <p:nvPr/>
        </p:nvSpPr>
        <p:spPr bwMode="auto">
          <a:xfrm>
            <a:off x="4516265" y="3393434"/>
            <a:ext cx="3577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a:t>
            </a:r>
          </a:p>
        </p:txBody>
      </p:sp>
      <p:sp>
        <p:nvSpPr>
          <p:cNvPr id="85" name="Text Box 90"/>
          <p:cNvSpPr txBox="1">
            <a:spLocks noChangeArrowheads="1"/>
          </p:cNvSpPr>
          <p:nvPr/>
        </p:nvSpPr>
        <p:spPr bwMode="auto">
          <a:xfrm>
            <a:off x="3304851" y="3573798"/>
            <a:ext cx="43348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en-US" altLang="zh-CN" sz="1400" b="1">
                <a:latin typeface="微软雅黑" pitchFamily="34" charset="-122"/>
                <a:ea typeface="微软雅黑" pitchFamily="34" charset="-122"/>
              </a:rPr>
              <a:t>…</a:t>
            </a:r>
          </a:p>
        </p:txBody>
      </p:sp>
      <p:pic>
        <p:nvPicPr>
          <p:cNvPr id="86"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781553" y="3631475"/>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87"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420734" y="3631475"/>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88"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36308" y="3631475"/>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89"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632148" y="3631475"/>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90"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146972" y="3631475"/>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91"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07538" y="3631475"/>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92"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125000" y="3194860"/>
            <a:ext cx="400183" cy="2494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93"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233706" y="3194860"/>
            <a:ext cx="400183" cy="2494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94"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444801" y="3194860"/>
            <a:ext cx="400183" cy="2494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Tree>
    <p:extLst>
      <p:ext uri="{BB962C8B-B14F-4D97-AF65-F5344CB8AC3E}">
        <p14:creationId xmlns:p14="http://schemas.microsoft.com/office/powerpoint/2010/main" val="159523613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5" y="994957"/>
            <a:ext cx="8053710" cy="26314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在互联网上进行多播就叫做 </a:t>
            </a:r>
            <a:r>
              <a:rPr lang="en-US" altLang="zh-CN" sz="2000" b="1" dirty="0">
                <a:solidFill>
                  <a:srgbClr val="0000FF"/>
                </a:solidFill>
                <a:latin typeface="微软雅黑" pitchFamily="34" charset="-122"/>
                <a:ea typeface="微软雅黑" pitchFamily="34" charset="-122"/>
              </a:rPr>
              <a:t>IP </a:t>
            </a:r>
            <a:r>
              <a:rPr lang="zh-CN" altLang="en-US" sz="2000" b="1" dirty="0">
                <a:solidFill>
                  <a:srgbClr val="0000FF"/>
                </a:solidFill>
                <a:latin typeface="微软雅黑" pitchFamily="34" charset="-122"/>
                <a:ea typeface="微软雅黑" pitchFamily="34" charset="-122"/>
              </a:rPr>
              <a:t>多播</a:t>
            </a:r>
            <a:r>
              <a:rPr lang="zh-CN" altLang="en-US" sz="2000" b="1" dirty="0">
                <a:latin typeface="微软雅黑" pitchFamily="34" charset="-122"/>
                <a:ea typeface="微软雅黑" pitchFamily="34" charset="-122"/>
              </a:rPr>
              <a:t>。</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互联网范围的多播要靠路由器来实现。</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能够运行多播协议的路由器称为</a:t>
            </a:r>
            <a:r>
              <a:rPr lang="zh-CN" altLang="en-US" sz="2000" b="1" dirty="0">
                <a:solidFill>
                  <a:srgbClr val="0000FF"/>
                </a:solidFill>
                <a:latin typeface="微软雅黑" pitchFamily="34" charset="-122"/>
                <a:ea typeface="微软雅黑" pitchFamily="34" charset="-122"/>
              </a:rPr>
              <a:t>多播路由器 </a:t>
            </a:r>
            <a:r>
              <a:rPr lang="en-US" altLang="zh-CN" sz="2000" b="1" dirty="0">
                <a:latin typeface="微软雅黑" pitchFamily="34" charset="-122"/>
                <a:ea typeface="微软雅黑" pitchFamily="34" charset="-122"/>
              </a:rPr>
              <a:t>(multicast router)</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多播路由器也可以转发普通的单播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从 </a:t>
            </a:r>
            <a:r>
              <a:rPr lang="en-US" altLang="zh-CN" sz="2000" b="1" dirty="0">
                <a:latin typeface="微软雅黑" pitchFamily="34" charset="-122"/>
                <a:ea typeface="微软雅黑" pitchFamily="34" charset="-122"/>
              </a:rPr>
              <a:t>1992 </a:t>
            </a:r>
            <a:r>
              <a:rPr lang="zh-CN" altLang="en-US" sz="2000" b="1" dirty="0">
                <a:latin typeface="微软雅黑" pitchFamily="34" charset="-122"/>
                <a:ea typeface="微软雅黑" pitchFamily="34" charset="-122"/>
              </a:rPr>
              <a:t>年起，在互联网上开始试验虚拟的</a:t>
            </a:r>
            <a:r>
              <a:rPr lang="zh-CN" altLang="en-US" sz="2000" b="1" dirty="0">
                <a:solidFill>
                  <a:srgbClr val="0000FF"/>
                </a:solidFill>
                <a:latin typeface="微软雅黑" pitchFamily="34" charset="-122"/>
                <a:ea typeface="微软雅黑" pitchFamily="34" charset="-122"/>
              </a:rPr>
              <a:t>多播主干网 </a:t>
            </a:r>
            <a:r>
              <a:rPr lang="en-US" altLang="zh-CN" sz="2000" b="1" dirty="0">
                <a:solidFill>
                  <a:srgbClr val="0000FF"/>
                </a:solidFill>
                <a:latin typeface="微软雅黑" pitchFamily="34" charset="-122"/>
                <a:ea typeface="微软雅黑" pitchFamily="34" charset="-122"/>
              </a:rPr>
              <a:t>MBONE </a:t>
            </a:r>
            <a:r>
              <a:rPr lang="en-US" altLang="zh-CN" sz="2000" b="1" dirty="0">
                <a:latin typeface="微软雅黑" pitchFamily="34" charset="-122"/>
                <a:ea typeface="微软雅黑" pitchFamily="34" charset="-122"/>
              </a:rPr>
              <a:t>(Multicast Backbone On the </a:t>
            </a:r>
            <a:r>
              <a:rPr lang="en-US" altLang="zh-CN" sz="2000" b="1" dirty="0" err="1">
                <a:latin typeface="微软雅黑" pitchFamily="34" charset="-122"/>
                <a:ea typeface="微软雅黑" pitchFamily="34" charset="-122"/>
              </a:rPr>
              <a:t>InterNEt</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 </a:t>
            </a:r>
            <a:endParaRPr lang="en-US" altLang="zh-CN" sz="2000" b="1" dirty="0">
              <a:latin typeface="微软雅黑" pitchFamily="34" charset="-122"/>
              <a:ea typeface="微软雅黑" pitchFamily="34" charset="-122"/>
            </a:endParaRPr>
          </a:p>
        </p:txBody>
      </p:sp>
      <p:sp>
        <p:nvSpPr>
          <p:cNvPr id="3" name="AutoShape 5"/>
          <p:cNvSpPr>
            <a:spLocks noChangeArrowheads="1"/>
          </p:cNvSpPr>
          <p:nvPr/>
        </p:nvSpPr>
        <p:spPr bwMode="auto">
          <a:xfrm>
            <a:off x="545145" y="635640"/>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602429"/>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多播</a:t>
            </a:r>
          </a:p>
        </p:txBody>
      </p:sp>
    </p:spTree>
    <p:extLst>
      <p:ext uri="{BB962C8B-B14F-4D97-AF65-F5344CB8AC3E}">
        <p14:creationId xmlns:p14="http://schemas.microsoft.com/office/powerpoint/2010/main" val="197437019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5" y="992986"/>
            <a:ext cx="7728417" cy="17851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在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多播数据报的目的地址需要写入</a:t>
            </a:r>
            <a:r>
              <a:rPr lang="zh-CN" altLang="en-US" sz="2000" b="1" dirty="0">
                <a:solidFill>
                  <a:srgbClr val="C00000"/>
                </a:solidFill>
                <a:latin typeface="微软雅黑" pitchFamily="34" charset="-122"/>
                <a:ea typeface="微软雅黑" pitchFamily="34" charset="-122"/>
              </a:rPr>
              <a:t>多播组</a:t>
            </a:r>
            <a:r>
              <a:rPr lang="zh-CN" altLang="en-US" sz="2000" b="1" dirty="0">
                <a:latin typeface="微软雅黑" pitchFamily="34" charset="-122"/>
                <a:ea typeface="微软雅黑" pitchFamily="34" charset="-122"/>
              </a:rPr>
              <a:t>的</a:t>
            </a:r>
            <a:r>
              <a:rPr lang="zh-CN" altLang="en-US" sz="2000" b="1" dirty="0">
                <a:solidFill>
                  <a:srgbClr val="C00000"/>
                </a:solidFill>
                <a:latin typeface="微软雅黑" pitchFamily="34" charset="-122"/>
                <a:ea typeface="微软雅黑" pitchFamily="34" charset="-122"/>
              </a:rPr>
              <a:t>标识符。</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多播组的标识符就是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地址中的 </a:t>
            </a:r>
            <a:r>
              <a:rPr lang="en-US" altLang="zh-CN" sz="2000" b="1" dirty="0">
                <a:solidFill>
                  <a:srgbClr val="C00000"/>
                </a:solidFill>
                <a:latin typeface="微软雅黑" pitchFamily="34" charset="-122"/>
                <a:ea typeface="微软雅黑" pitchFamily="34" charset="-122"/>
              </a:rPr>
              <a:t>D </a:t>
            </a:r>
            <a:r>
              <a:rPr lang="zh-CN" altLang="en-US" sz="2000" b="1" dirty="0">
                <a:solidFill>
                  <a:srgbClr val="C00000"/>
                </a:solidFill>
                <a:latin typeface="微软雅黑" pitchFamily="34" charset="-122"/>
                <a:ea typeface="微软雅黑" pitchFamily="34" charset="-122"/>
              </a:rPr>
              <a:t>类地址</a:t>
            </a:r>
            <a:r>
              <a:rPr lang="zh-CN" altLang="en-US" sz="2000" b="1" dirty="0">
                <a:latin typeface="微软雅黑" pitchFamily="34" charset="-122"/>
                <a:ea typeface="微软雅黑" pitchFamily="34" charset="-122"/>
              </a:rPr>
              <a:t>（多播地址）。</a:t>
            </a:r>
            <a:endParaRPr lang="en-US" altLang="zh-CN" sz="2000" b="1" dirty="0">
              <a:latin typeface="微软雅黑" pitchFamily="34" charset="-122"/>
              <a:ea typeface="微软雅黑" pitchFamily="34" charset="-122"/>
            </a:endParaRPr>
          </a:p>
          <a:p>
            <a:pPr>
              <a:lnSpc>
                <a:spcPts val="3300"/>
              </a:lnSpc>
              <a:buClr>
                <a:srgbClr val="0070C0"/>
              </a:buClr>
            </a:pPr>
            <a:r>
              <a:rPr lang="en-US" altLang="zh-CN" sz="2000" b="1" dirty="0">
                <a:latin typeface="微软雅黑" pitchFamily="34" charset="-122"/>
                <a:ea typeface="微软雅黑" pitchFamily="34" charset="-122"/>
              </a:rPr>
              <a:t>	</a:t>
            </a:r>
            <a:r>
              <a:rPr lang="zh-CN" altLang="en-US" sz="2000" b="1" dirty="0">
                <a:solidFill>
                  <a:srgbClr val="0000FF"/>
                </a:solidFill>
                <a:latin typeface="微软雅黑" pitchFamily="34" charset="-122"/>
                <a:ea typeface="微软雅黑" pitchFamily="34" charset="-122"/>
              </a:rPr>
              <a:t>地址范围：</a:t>
            </a:r>
            <a:r>
              <a:rPr lang="en-US" altLang="zh-CN" sz="2000" b="1" dirty="0">
                <a:solidFill>
                  <a:srgbClr val="0000FF"/>
                </a:solidFill>
                <a:latin typeface="微软雅黑" pitchFamily="34" charset="-122"/>
                <a:ea typeface="微软雅黑" pitchFamily="34" charset="-122"/>
              </a:rPr>
              <a:t>224.0.0.0 ~</a:t>
            </a:r>
            <a:r>
              <a:rPr lang="zh-CN" altLang="en-US" sz="2000" b="1" dirty="0">
                <a:solidFill>
                  <a:srgbClr val="0000FF"/>
                </a:solidFill>
                <a:latin typeface="微软雅黑" pitchFamily="34" charset="-122"/>
                <a:ea typeface="微软雅黑" pitchFamily="34" charset="-122"/>
              </a:rPr>
              <a:t> </a:t>
            </a:r>
            <a:r>
              <a:rPr lang="en-US" altLang="zh-CN" sz="2000" b="1" dirty="0">
                <a:solidFill>
                  <a:srgbClr val="0000FF"/>
                </a:solidFill>
                <a:latin typeface="微软雅黑" pitchFamily="34" charset="-122"/>
                <a:ea typeface="微软雅黑" pitchFamily="34" charset="-122"/>
              </a:rPr>
              <a:t>239.255.255.255</a:t>
            </a:r>
            <a:endParaRPr lang="zh-CN" altLang="en-US" sz="2000" b="1" dirty="0">
              <a:solidFill>
                <a:srgbClr val="0000FF"/>
              </a:solidFill>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每一个 </a:t>
            </a:r>
            <a:r>
              <a:rPr lang="en-US" altLang="zh-CN" sz="2000" b="1" dirty="0">
                <a:latin typeface="微软雅黑" pitchFamily="34" charset="-122"/>
                <a:ea typeface="微软雅黑" pitchFamily="34" charset="-122"/>
              </a:rPr>
              <a:t>D </a:t>
            </a:r>
            <a:r>
              <a:rPr lang="zh-CN" altLang="en-US" sz="2000" b="1" dirty="0">
                <a:latin typeface="微软雅黑" pitchFamily="34" charset="-122"/>
                <a:ea typeface="微软雅黑" pitchFamily="34" charset="-122"/>
              </a:rPr>
              <a:t>类地址标志一个多播组。</a:t>
            </a:r>
          </a:p>
        </p:txBody>
      </p:sp>
      <p:sp>
        <p:nvSpPr>
          <p:cNvPr id="3" name="AutoShape 5"/>
          <p:cNvSpPr>
            <a:spLocks noChangeArrowheads="1"/>
          </p:cNvSpPr>
          <p:nvPr/>
        </p:nvSpPr>
        <p:spPr bwMode="auto">
          <a:xfrm>
            <a:off x="545145" y="633669"/>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600458"/>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多播 </a:t>
            </a: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地址</a:t>
            </a:r>
          </a:p>
        </p:txBody>
      </p:sp>
      <p:sp>
        <p:nvSpPr>
          <p:cNvPr id="5" name="矩形 4"/>
          <p:cNvSpPr/>
          <p:nvPr/>
        </p:nvSpPr>
        <p:spPr>
          <a:xfrm>
            <a:off x="1395856" y="2838893"/>
            <a:ext cx="6500068" cy="400110"/>
          </a:xfrm>
          <a:prstGeom prst="rect">
            <a:avLst/>
          </a:prstGeom>
          <a:solidFill>
            <a:srgbClr val="990033"/>
          </a:solidFill>
        </p:spPr>
        <p:style>
          <a:lnRef idx="1">
            <a:schemeClr val="accent2"/>
          </a:lnRef>
          <a:fillRef idx="3">
            <a:schemeClr val="accent2"/>
          </a:fillRef>
          <a:effectRef idx="2">
            <a:schemeClr val="accent2"/>
          </a:effectRef>
          <a:fontRef idx="minor">
            <a:schemeClr val="lt1"/>
          </a:fontRef>
        </p:style>
        <p:txBody>
          <a:bodyPr wrap="square">
            <a:spAutoFit/>
          </a:bodyPr>
          <a:lstStyle/>
          <a:p>
            <a:pPr algn="ctr"/>
            <a:r>
              <a:rPr lang="zh-CN" altLang="en-US" sz="2000" b="1" dirty="0">
                <a:latin typeface="微软雅黑" panose="020B0503020204020204" pitchFamily="34" charset="-122"/>
                <a:ea typeface="微软雅黑" panose="020B0503020204020204" pitchFamily="34" charset="-122"/>
              </a:rPr>
              <a:t>多播地址只能用于目的地址，不能用于源地址。</a:t>
            </a:r>
          </a:p>
        </p:txBody>
      </p:sp>
    </p:spTree>
    <p:extLst>
      <p:ext uri="{BB962C8B-B14F-4D97-AF65-F5344CB8AC3E}">
        <p14:creationId xmlns:p14="http://schemas.microsoft.com/office/powerpoint/2010/main" val="371390142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5" y="1001528"/>
            <a:ext cx="8053710" cy="2554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多播数据报和一般的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数据报的</a:t>
            </a:r>
            <a:r>
              <a:rPr lang="zh-CN" altLang="en-US" sz="2000" b="1" dirty="0">
                <a:solidFill>
                  <a:srgbClr val="C00000"/>
                </a:solidFill>
                <a:latin typeface="微软雅黑" pitchFamily="34" charset="-122"/>
                <a:ea typeface="微软雅黑" pitchFamily="34" charset="-122"/>
              </a:rPr>
              <a:t>区别：</a:t>
            </a:r>
            <a:endParaRPr lang="en-US" altLang="zh-CN" sz="2000" b="1" dirty="0">
              <a:solidFill>
                <a:srgbClr val="C00000"/>
              </a:solidFill>
              <a:latin typeface="微软雅黑" pitchFamily="34" charset="-122"/>
              <a:ea typeface="微软雅黑" pitchFamily="34" charset="-122"/>
            </a:endParaRPr>
          </a:p>
          <a:p>
            <a:pPr marL="534988" lvl="1" indent="-279400">
              <a:lnSpc>
                <a:spcPts val="3000"/>
              </a:lnSpc>
              <a:buClr>
                <a:srgbClr val="7030A0"/>
              </a:buClr>
              <a:buSzPct val="75000"/>
              <a:buFont typeface="Wingdings" pitchFamily="2" charset="2"/>
              <a:buChar char="u"/>
            </a:pPr>
            <a:r>
              <a:rPr lang="zh-CN" altLang="en-US" sz="2000" b="1" dirty="0">
                <a:solidFill>
                  <a:srgbClr val="C00000"/>
                </a:solidFill>
                <a:latin typeface="微软雅黑" pitchFamily="34" charset="-122"/>
                <a:ea typeface="微软雅黑" pitchFamily="34" charset="-122"/>
              </a:rPr>
              <a:t>目的地址：</a:t>
            </a:r>
            <a:r>
              <a:rPr lang="zh-CN" altLang="en-US" sz="2000" b="1" dirty="0">
                <a:latin typeface="微软雅黑" pitchFamily="34" charset="-122"/>
                <a:ea typeface="微软雅黑" pitchFamily="34" charset="-122"/>
              </a:rPr>
              <a:t>使用 </a:t>
            </a:r>
            <a:r>
              <a:rPr lang="en-US" altLang="zh-CN" sz="2000" b="1" dirty="0">
                <a:latin typeface="微软雅黑" pitchFamily="34" charset="-122"/>
                <a:ea typeface="微软雅黑" pitchFamily="34" charset="-122"/>
              </a:rPr>
              <a:t>D </a:t>
            </a:r>
            <a:r>
              <a:rPr lang="zh-CN" altLang="en-US" sz="2000" b="1" dirty="0">
                <a:latin typeface="微软雅黑" pitchFamily="34" charset="-122"/>
                <a:ea typeface="微软雅黑" pitchFamily="34" charset="-122"/>
              </a:rPr>
              <a:t>类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a:t>
            </a:r>
            <a:endParaRPr lang="en-US" altLang="zh-CN" sz="2000" b="1" dirty="0">
              <a:latin typeface="微软雅黑" pitchFamily="34" charset="-122"/>
              <a:ea typeface="微软雅黑" pitchFamily="34" charset="-122"/>
            </a:endParaRPr>
          </a:p>
          <a:p>
            <a:pPr marL="534988" lvl="1" indent="-279400">
              <a:lnSpc>
                <a:spcPts val="3000"/>
              </a:lnSpc>
              <a:buClr>
                <a:srgbClr val="7030A0"/>
              </a:buClr>
              <a:buSzPct val="75000"/>
              <a:buFont typeface="Wingdings" pitchFamily="2" charset="2"/>
              <a:buChar char="u"/>
            </a:pPr>
            <a:r>
              <a:rPr lang="zh-CN" altLang="en-US" sz="2000" b="1" dirty="0">
                <a:solidFill>
                  <a:srgbClr val="C00000"/>
                </a:solidFill>
                <a:latin typeface="微软雅黑" pitchFamily="34" charset="-122"/>
                <a:ea typeface="微软雅黑" pitchFamily="34" charset="-122"/>
              </a:rPr>
              <a:t>协议字段 </a:t>
            </a:r>
            <a:r>
              <a:rPr lang="en-US" altLang="zh-CN" sz="2000" b="1" dirty="0">
                <a:solidFill>
                  <a:srgbClr val="C00000"/>
                </a:solidFill>
                <a:latin typeface="微软雅黑" pitchFamily="34" charset="-122"/>
                <a:ea typeface="微软雅黑" pitchFamily="34" charset="-122"/>
              </a:rPr>
              <a:t>= 2</a:t>
            </a:r>
            <a:r>
              <a:rPr lang="zh-CN" altLang="en-US" sz="2000" b="1" dirty="0">
                <a:solidFill>
                  <a:srgbClr val="C00000"/>
                </a:solidFill>
                <a:latin typeface="微软雅黑" pitchFamily="34" charset="-122"/>
                <a:ea typeface="微软雅黑" pitchFamily="34" charset="-122"/>
              </a:rPr>
              <a:t>，</a:t>
            </a:r>
            <a:r>
              <a:rPr lang="zh-CN" altLang="en-US" sz="2000" b="1" dirty="0">
                <a:latin typeface="微软雅黑" pitchFamily="34" charset="-122"/>
                <a:ea typeface="微软雅黑" pitchFamily="34" charset="-122"/>
              </a:rPr>
              <a:t>表明使用网际组管理协议 </a:t>
            </a:r>
            <a:r>
              <a:rPr lang="en-US" altLang="zh-CN" sz="2000" b="1" dirty="0">
                <a:latin typeface="微软雅黑" pitchFamily="34" charset="-122"/>
                <a:ea typeface="微软雅黑" pitchFamily="34" charset="-122"/>
              </a:rPr>
              <a:t>IGMP</a:t>
            </a:r>
            <a:r>
              <a:rPr lang="zh-CN" altLang="en-US" sz="2000" b="1" dirty="0">
                <a:latin typeface="微软雅黑" pitchFamily="34" charset="-122"/>
                <a:ea typeface="微软雅黑" pitchFamily="34" charset="-122"/>
              </a:rPr>
              <a:t>。</a:t>
            </a:r>
          </a:p>
          <a:p>
            <a:pPr marL="285750" indent="-28575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尽最大努力交付</a:t>
            </a:r>
            <a:r>
              <a:rPr lang="zh-CN" altLang="en-US" sz="2000" b="1" dirty="0">
                <a:latin typeface="微软雅黑" pitchFamily="34" charset="-122"/>
                <a:ea typeface="微软雅黑" pitchFamily="34" charset="-122"/>
              </a:rPr>
              <a:t>，不保证一定能够交付多播组内的所有成员。</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对多播数据报</a:t>
            </a:r>
            <a:r>
              <a:rPr lang="zh-CN" altLang="en-US" sz="2000" b="1" dirty="0">
                <a:solidFill>
                  <a:srgbClr val="0000FF"/>
                </a:solidFill>
                <a:latin typeface="微软雅黑" pitchFamily="34" charset="-122"/>
                <a:ea typeface="微软雅黑" pitchFamily="34" charset="-122"/>
              </a:rPr>
              <a:t>不产生 </a:t>
            </a:r>
            <a:r>
              <a:rPr lang="en-US" altLang="zh-CN" sz="2000" b="1" dirty="0">
                <a:solidFill>
                  <a:srgbClr val="0000FF"/>
                </a:solidFill>
                <a:latin typeface="微软雅黑" pitchFamily="34" charset="-122"/>
                <a:ea typeface="微软雅黑" pitchFamily="34" charset="-122"/>
              </a:rPr>
              <a:t>ICMP </a:t>
            </a:r>
            <a:r>
              <a:rPr lang="zh-CN" altLang="en-US" sz="2000" b="1" dirty="0">
                <a:solidFill>
                  <a:srgbClr val="0000FF"/>
                </a:solidFill>
                <a:latin typeface="微软雅黑" pitchFamily="34" charset="-122"/>
                <a:ea typeface="微软雅黑" pitchFamily="34" charset="-122"/>
              </a:rPr>
              <a:t>差错报文</a:t>
            </a:r>
            <a:r>
              <a:rPr lang="zh-CN" altLang="en-US" sz="2000" b="1" dirty="0">
                <a:latin typeface="微软雅黑" pitchFamily="34" charset="-122"/>
                <a:ea typeface="微软雅黑" pitchFamily="34" charset="-122"/>
              </a:rPr>
              <a:t>。在 </a:t>
            </a:r>
            <a:r>
              <a:rPr lang="en-US" altLang="zh-CN" sz="2000" b="1" dirty="0">
                <a:latin typeface="微软雅黑" pitchFamily="34" charset="-122"/>
                <a:ea typeface="微软雅黑" pitchFamily="34" charset="-122"/>
              </a:rPr>
              <a:t>PING </a:t>
            </a:r>
            <a:r>
              <a:rPr lang="zh-CN" altLang="en-US" sz="2000" b="1" dirty="0">
                <a:latin typeface="微软雅黑" pitchFamily="34" charset="-122"/>
                <a:ea typeface="微软雅黑" pitchFamily="34" charset="-122"/>
              </a:rPr>
              <a:t>命令后面键入多播地址，将永远不会收到响应。</a:t>
            </a:r>
          </a:p>
        </p:txBody>
      </p:sp>
      <p:sp>
        <p:nvSpPr>
          <p:cNvPr id="3" name="AutoShape 5"/>
          <p:cNvSpPr>
            <a:spLocks noChangeArrowheads="1"/>
          </p:cNvSpPr>
          <p:nvPr/>
        </p:nvSpPr>
        <p:spPr bwMode="auto">
          <a:xfrm>
            <a:off x="545145" y="632975"/>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99764"/>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多播数据报</a:t>
            </a:r>
          </a:p>
        </p:txBody>
      </p:sp>
    </p:spTree>
    <p:extLst>
      <p:ext uri="{BB962C8B-B14F-4D97-AF65-F5344CB8AC3E}">
        <p14:creationId xmlns:p14="http://schemas.microsoft.com/office/powerpoint/2010/main" val="281600705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36002"/>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641825" y="630307"/>
            <a:ext cx="386035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4.7.2  </a:t>
            </a:r>
            <a:r>
              <a:rPr lang="zh-CN" altLang="en-US" sz="2000" b="1" dirty="0">
                <a:solidFill>
                  <a:schemeClr val="bg1"/>
                </a:solidFill>
                <a:latin typeface="微软雅黑" pitchFamily="34" charset="-122"/>
                <a:ea typeface="微软雅黑" pitchFamily="34" charset="-122"/>
              </a:rPr>
              <a:t>在局域网上进行硬件多播</a:t>
            </a:r>
          </a:p>
        </p:txBody>
      </p:sp>
      <p:sp>
        <p:nvSpPr>
          <p:cNvPr id="4" name="Rectangle 8"/>
          <p:cNvSpPr>
            <a:spLocks noChangeArrowheads="1"/>
          </p:cNvSpPr>
          <p:nvPr/>
        </p:nvSpPr>
        <p:spPr bwMode="auto">
          <a:xfrm>
            <a:off x="545143" y="1028089"/>
            <a:ext cx="8053711" cy="30546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IANA </a:t>
            </a:r>
            <a:r>
              <a:rPr lang="zh-CN" altLang="en-US" sz="2000" b="1" dirty="0">
                <a:solidFill>
                  <a:srgbClr val="C00000"/>
                </a:solidFill>
                <a:latin typeface="微软雅黑" pitchFamily="34" charset="-122"/>
                <a:ea typeface="微软雅黑" pitchFamily="34" charset="-122"/>
              </a:rPr>
              <a:t>拥有</a:t>
            </a:r>
            <a:r>
              <a:rPr lang="zh-CN" altLang="en-US" sz="2000" b="1" dirty="0">
                <a:latin typeface="微软雅黑" pitchFamily="34" charset="-122"/>
                <a:ea typeface="微软雅黑" pitchFamily="34" charset="-122"/>
              </a:rPr>
              <a:t>的以太网地址块的高 </a:t>
            </a:r>
            <a:r>
              <a:rPr lang="en-US" altLang="zh-CN" sz="2000" b="1" dirty="0">
                <a:latin typeface="微软雅黑" pitchFamily="34" charset="-122"/>
                <a:ea typeface="微软雅黑" pitchFamily="34" charset="-122"/>
              </a:rPr>
              <a:t>24 </a:t>
            </a:r>
            <a:r>
              <a:rPr lang="zh-CN" altLang="en-US" sz="2000" b="1" dirty="0">
                <a:latin typeface="微软雅黑" pitchFamily="34" charset="-122"/>
                <a:ea typeface="微软雅黑" pitchFamily="34" charset="-122"/>
              </a:rPr>
              <a:t>位为 </a:t>
            </a:r>
            <a:r>
              <a:rPr lang="en-US" altLang="zh-CN" sz="2000" b="1" dirty="0">
                <a:latin typeface="微软雅黑" pitchFamily="34" charset="-122"/>
                <a:ea typeface="微软雅黑" pitchFamily="34" charset="-122"/>
              </a:rPr>
              <a:t>00-00-5E</a:t>
            </a:r>
            <a:r>
              <a:rPr lang="zh-CN" altLang="en-US" sz="2000" b="1" dirty="0">
                <a:latin typeface="微软雅黑" pitchFamily="34" charset="-122"/>
                <a:ea typeface="微软雅黑" pitchFamily="34" charset="-122"/>
              </a:rPr>
              <a:t>。</a:t>
            </a:r>
          </a:p>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TCP/IP </a:t>
            </a:r>
            <a:r>
              <a:rPr lang="zh-CN" altLang="en-US" sz="2000" b="1" dirty="0">
                <a:latin typeface="微软雅黑" pitchFamily="34" charset="-122"/>
                <a:ea typeface="微软雅黑" pitchFamily="34" charset="-122"/>
              </a:rPr>
              <a:t>协议使用的</a:t>
            </a:r>
            <a:r>
              <a:rPr lang="zh-CN" altLang="en-US" sz="2000" b="1" dirty="0">
                <a:solidFill>
                  <a:srgbClr val="0000FF"/>
                </a:solidFill>
                <a:latin typeface="微软雅黑" pitchFamily="34" charset="-122"/>
                <a:ea typeface="微软雅黑" pitchFamily="34" charset="-122"/>
              </a:rPr>
              <a:t>以太网地址块</a:t>
            </a:r>
            <a:r>
              <a:rPr lang="zh-CN" altLang="en-US" sz="2000" b="1" dirty="0">
                <a:latin typeface="微软雅黑" pitchFamily="34" charset="-122"/>
                <a:ea typeface="微软雅黑" pitchFamily="34" charset="-122"/>
              </a:rPr>
              <a:t>的范围是</a:t>
            </a:r>
          </a:p>
          <a:p>
            <a:pPr>
              <a:lnSpc>
                <a:spcPts val="3300"/>
              </a:lnSpc>
              <a:buClr>
                <a:srgbClr val="0070C0"/>
              </a:buClr>
            </a:pPr>
            <a:r>
              <a:rPr lang="zh-CN" altLang="en-US" sz="2000" b="1" dirty="0">
                <a:latin typeface="微软雅黑" pitchFamily="34" charset="-122"/>
                <a:ea typeface="微软雅黑" pitchFamily="34" charset="-122"/>
              </a:rPr>
              <a:t>	从   </a:t>
            </a:r>
            <a:r>
              <a:rPr lang="en-US" altLang="zh-CN" sz="2000" b="1" dirty="0">
                <a:solidFill>
                  <a:srgbClr val="0000FF"/>
                </a:solidFill>
                <a:latin typeface="微软雅黑" pitchFamily="34" charset="-122"/>
                <a:ea typeface="微软雅黑" pitchFamily="34" charset="-122"/>
              </a:rPr>
              <a:t>00-00-5E-00-00-00</a:t>
            </a:r>
            <a:r>
              <a:rPr lang="en-US" altLang="zh-CN" sz="2000" b="1" dirty="0">
                <a:latin typeface="微软雅黑" pitchFamily="34" charset="-122"/>
                <a:ea typeface="微软雅黑" pitchFamily="34" charset="-122"/>
              </a:rPr>
              <a:t> </a:t>
            </a:r>
          </a:p>
          <a:p>
            <a:pPr>
              <a:lnSpc>
                <a:spcPts val="3300"/>
              </a:lnSpc>
              <a:buClr>
                <a:srgbClr val="0070C0"/>
              </a:buClr>
            </a:pP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到   </a:t>
            </a:r>
            <a:r>
              <a:rPr lang="en-US" altLang="zh-CN" sz="2000" b="1" dirty="0">
                <a:solidFill>
                  <a:srgbClr val="0000FF"/>
                </a:solidFill>
                <a:latin typeface="微软雅黑" pitchFamily="34" charset="-122"/>
                <a:ea typeface="微软雅黑" pitchFamily="34" charset="-122"/>
              </a:rPr>
              <a:t>00-00-5E-FF-FF-FF</a:t>
            </a:r>
            <a:r>
              <a:rPr lang="en-US" altLang="zh-CN" sz="2000" b="1" dirty="0">
                <a:latin typeface="微软雅黑" pitchFamily="34" charset="-122"/>
                <a:ea typeface="微软雅黑" pitchFamily="34" charset="-122"/>
              </a:rPr>
              <a:t> </a:t>
            </a:r>
          </a:p>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IANA </a:t>
            </a:r>
            <a:r>
              <a:rPr lang="zh-CN" altLang="en-US" sz="2000" b="1" dirty="0">
                <a:latin typeface="微软雅黑" pitchFamily="34" charset="-122"/>
                <a:ea typeface="微软雅黑" pitchFamily="34" charset="-122"/>
              </a:rPr>
              <a:t>只拿出 </a:t>
            </a:r>
            <a:r>
              <a:rPr lang="en-US" altLang="zh-CN" sz="2000" b="1" dirty="0">
                <a:solidFill>
                  <a:srgbClr val="C00000"/>
                </a:solidFill>
                <a:latin typeface="微软雅黑" pitchFamily="34" charset="-122"/>
                <a:ea typeface="微软雅黑" pitchFamily="34" charset="-122"/>
              </a:rPr>
              <a:t>01-00-5E-00-00-00</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到 </a:t>
            </a:r>
            <a:r>
              <a:rPr lang="en-US" altLang="zh-CN" sz="2000" b="1" dirty="0">
                <a:solidFill>
                  <a:srgbClr val="C00000"/>
                </a:solidFill>
                <a:latin typeface="微软雅黑" pitchFamily="34" charset="-122"/>
                <a:ea typeface="微软雅黑" pitchFamily="34" charset="-122"/>
              </a:rPr>
              <a:t>01-00-5E-7F-FF-FF</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2</a:t>
            </a:r>
            <a:r>
              <a:rPr lang="en-US" altLang="zh-CN" sz="2000" b="1" baseline="30000" dirty="0">
                <a:latin typeface="微软雅黑" pitchFamily="34" charset="-122"/>
                <a:ea typeface="微软雅黑" pitchFamily="34" charset="-122"/>
              </a:rPr>
              <a:t>23</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个地址）作为以太网多播地址。或者说，在 </a:t>
            </a:r>
            <a:r>
              <a:rPr lang="en-US" altLang="zh-CN" sz="2000" b="1" dirty="0">
                <a:latin typeface="微软雅黑" pitchFamily="34" charset="-122"/>
                <a:ea typeface="微软雅黑" pitchFamily="34" charset="-122"/>
              </a:rPr>
              <a:t>48 </a:t>
            </a:r>
            <a:r>
              <a:rPr lang="zh-CN" altLang="en-US" sz="2000" b="1" dirty="0">
                <a:latin typeface="微软雅黑" pitchFamily="34" charset="-122"/>
                <a:ea typeface="微软雅黑" pitchFamily="34" charset="-122"/>
              </a:rPr>
              <a:t>位的多播地址中，前 </a:t>
            </a:r>
            <a:r>
              <a:rPr lang="en-US" altLang="zh-CN" sz="2000" b="1" dirty="0">
                <a:latin typeface="微软雅黑" pitchFamily="34" charset="-122"/>
                <a:ea typeface="微软雅黑" pitchFamily="34" charset="-122"/>
              </a:rPr>
              <a:t>25 </a:t>
            </a:r>
            <a:r>
              <a:rPr lang="zh-CN" altLang="en-US" sz="2000" b="1" dirty="0">
                <a:latin typeface="微软雅黑" pitchFamily="34" charset="-122"/>
                <a:ea typeface="微软雅黑" pitchFamily="34" charset="-122"/>
              </a:rPr>
              <a:t>位都固定不变，</a:t>
            </a:r>
            <a:r>
              <a:rPr lang="zh-CN" altLang="en-US" sz="2000" b="1" dirty="0">
                <a:solidFill>
                  <a:srgbClr val="C00000"/>
                </a:solidFill>
                <a:latin typeface="微软雅黑" pitchFamily="34" charset="-122"/>
                <a:ea typeface="微软雅黑" pitchFamily="34" charset="-122"/>
              </a:rPr>
              <a:t>只有后 </a:t>
            </a:r>
            <a:r>
              <a:rPr lang="en-US" altLang="zh-CN" sz="2000" b="1" dirty="0">
                <a:solidFill>
                  <a:srgbClr val="C00000"/>
                </a:solidFill>
                <a:latin typeface="微软雅黑" pitchFamily="34" charset="-122"/>
                <a:ea typeface="微软雅黑" pitchFamily="34" charset="-122"/>
              </a:rPr>
              <a:t>23 </a:t>
            </a:r>
            <a:r>
              <a:rPr lang="zh-CN" altLang="en-US" sz="2000" b="1" dirty="0">
                <a:solidFill>
                  <a:srgbClr val="C00000"/>
                </a:solidFill>
                <a:latin typeface="微软雅黑" pitchFamily="34" charset="-122"/>
                <a:ea typeface="微软雅黑" pitchFamily="34" charset="-122"/>
              </a:rPr>
              <a:t>位可用作多播。</a:t>
            </a:r>
            <a:endParaRPr lang="en-US" altLang="zh-CN" sz="2000" b="1" dirty="0">
              <a:solidFill>
                <a:srgbClr val="C00000"/>
              </a:solidFill>
              <a:latin typeface="微软雅黑" pitchFamily="34" charset="-122"/>
              <a:ea typeface="微软雅黑" pitchFamily="34" charset="-122"/>
            </a:endParaRPr>
          </a:p>
        </p:txBody>
      </p:sp>
    </p:spTree>
    <p:extLst>
      <p:ext uri="{BB962C8B-B14F-4D97-AF65-F5344CB8AC3E}">
        <p14:creationId xmlns:p14="http://schemas.microsoft.com/office/powerpoint/2010/main" val="421438069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5" y="1071330"/>
            <a:ext cx="8053710" cy="297419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p:cNvSpPr>
            <a:spLocks noChangeArrowheads="1"/>
          </p:cNvSpPr>
          <p:nvPr/>
        </p:nvSpPr>
        <p:spPr bwMode="auto">
          <a:xfrm>
            <a:off x="545145" y="64130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60809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D </a:t>
            </a:r>
            <a:r>
              <a:rPr lang="zh-CN" altLang="en-US" sz="2000" b="1" dirty="0">
                <a:solidFill>
                  <a:schemeClr val="bg1"/>
                </a:solidFill>
                <a:latin typeface="微软雅黑" pitchFamily="34" charset="-122"/>
                <a:ea typeface="微软雅黑" pitchFamily="34" charset="-122"/>
              </a:rPr>
              <a:t>类 </a:t>
            </a: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地址与以太网多播地址的映射关系 </a:t>
            </a:r>
          </a:p>
        </p:txBody>
      </p:sp>
      <p:grpSp>
        <p:nvGrpSpPr>
          <p:cNvPr id="5" name="组合 4"/>
          <p:cNvGrpSpPr/>
          <p:nvPr/>
        </p:nvGrpSpPr>
        <p:grpSpPr>
          <a:xfrm>
            <a:off x="1367110" y="1099459"/>
            <a:ext cx="6324322" cy="2817236"/>
            <a:chOff x="1275139" y="2040738"/>
            <a:chExt cx="7592627" cy="3382225"/>
          </a:xfrm>
        </p:grpSpPr>
        <p:sp>
          <p:nvSpPr>
            <p:cNvPr id="6" name="Rectangle 3"/>
            <p:cNvSpPr>
              <a:spLocks noChangeArrowheads="1"/>
            </p:cNvSpPr>
            <p:nvPr/>
          </p:nvSpPr>
          <p:spPr bwMode="auto">
            <a:xfrm>
              <a:off x="1275139" y="4148201"/>
              <a:ext cx="7467604" cy="457200"/>
            </a:xfrm>
            <a:prstGeom prst="rect">
              <a:avLst/>
            </a:prstGeom>
            <a:solidFill>
              <a:srgbClr val="00FFFF"/>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7" name="Line 4"/>
            <p:cNvSpPr>
              <a:spLocks noChangeShapeType="1"/>
            </p:cNvSpPr>
            <p:nvPr/>
          </p:nvSpPr>
          <p:spPr bwMode="auto">
            <a:xfrm>
              <a:off x="1430714"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8" name="Line 5"/>
            <p:cNvSpPr>
              <a:spLocks noChangeShapeType="1"/>
            </p:cNvSpPr>
            <p:nvPr/>
          </p:nvSpPr>
          <p:spPr bwMode="auto">
            <a:xfrm>
              <a:off x="1586289"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 name="Line 6"/>
            <p:cNvSpPr>
              <a:spLocks noChangeShapeType="1"/>
            </p:cNvSpPr>
            <p:nvPr/>
          </p:nvSpPr>
          <p:spPr bwMode="auto">
            <a:xfrm>
              <a:off x="1741864"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 name="Line 7"/>
            <p:cNvSpPr>
              <a:spLocks noChangeShapeType="1"/>
            </p:cNvSpPr>
            <p:nvPr/>
          </p:nvSpPr>
          <p:spPr bwMode="auto">
            <a:xfrm>
              <a:off x="1897440"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 name="Line 8"/>
            <p:cNvSpPr>
              <a:spLocks noChangeShapeType="1"/>
            </p:cNvSpPr>
            <p:nvPr/>
          </p:nvSpPr>
          <p:spPr bwMode="auto">
            <a:xfrm>
              <a:off x="2053015"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2" name="Line 9"/>
            <p:cNvSpPr>
              <a:spLocks noChangeShapeType="1"/>
            </p:cNvSpPr>
            <p:nvPr/>
          </p:nvSpPr>
          <p:spPr bwMode="auto">
            <a:xfrm>
              <a:off x="2208590"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 name="Line 10"/>
            <p:cNvSpPr>
              <a:spLocks noChangeShapeType="1"/>
            </p:cNvSpPr>
            <p:nvPr/>
          </p:nvSpPr>
          <p:spPr bwMode="auto">
            <a:xfrm>
              <a:off x="2364164"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 name="Line 11"/>
            <p:cNvSpPr>
              <a:spLocks noChangeShapeType="1"/>
            </p:cNvSpPr>
            <p:nvPr/>
          </p:nvSpPr>
          <p:spPr bwMode="auto">
            <a:xfrm>
              <a:off x="2519739"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5" name="Line 12"/>
            <p:cNvSpPr>
              <a:spLocks noChangeShapeType="1"/>
            </p:cNvSpPr>
            <p:nvPr/>
          </p:nvSpPr>
          <p:spPr bwMode="auto">
            <a:xfrm>
              <a:off x="2675314"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6" name="Line 13"/>
            <p:cNvSpPr>
              <a:spLocks noChangeShapeType="1"/>
            </p:cNvSpPr>
            <p:nvPr/>
          </p:nvSpPr>
          <p:spPr bwMode="auto">
            <a:xfrm>
              <a:off x="2830890"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7" name="Line 14"/>
            <p:cNvSpPr>
              <a:spLocks noChangeShapeType="1"/>
            </p:cNvSpPr>
            <p:nvPr/>
          </p:nvSpPr>
          <p:spPr bwMode="auto">
            <a:xfrm>
              <a:off x="2986465"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8" name="Line 15"/>
            <p:cNvSpPr>
              <a:spLocks noChangeShapeType="1"/>
            </p:cNvSpPr>
            <p:nvPr/>
          </p:nvSpPr>
          <p:spPr bwMode="auto">
            <a:xfrm>
              <a:off x="3142040"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9" name="Line 16"/>
            <p:cNvSpPr>
              <a:spLocks noChangeShapeType="1"/>
            </p:cNvSpPr>
            <p:nvPr/>
          </p:nvSpPr>
          <p:spPr bwMode="auto">
            <a:xfrm>
              <a:off x="3297615"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20" name="Line 17"/>
            <p:cNvSpPr>
              <a:spLocks noChangeShapeType="1"/>
            </p:cNvSpPr>
            <p:nvPr/>
          </p:nvSpPr>
          <p:spPr bwMode="auto">
            <a:xfrm>
              <a:off x="3453190"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21" name="Line 18"/>
            <p:cNvSpPr>
              <a:spLocks noChangeShapeType="1"/>
            </p:cNvSpPr>
            <p:nvPr/>
          </p:nvSpPr>
          <p:spPr bwMode="auto">
            <a:xfrm>
              <a:off x="3608765"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22" name="Line 19"/>
            <p:cNvSpPr>
              <a:spLocks noChangeShapeType="1"/>
            </p:cNvSpPr>
            <p:nvPr/>
          </p:nvSpPr>
          <p:spPr bwMode="auto">
            <a:xfrm>
              <a:off x="3764340"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23" name="Line 20"/>
            <p:cNvSpPr>
              <a:spLocks noChangeShapeType="1"/>
            </p:cNvSpPr>
            <p:nvPr/>
          </p:nvSpPr>
          <p:spPr bwMode="auto">
            <a:xfrm>
              <a:off x="3919916"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24" name="Line 21"/>
            <p:cNvSpPr>
              <a:spLocks noChangeShapeType="1"/>
            </p:cNvSpPr>
            <p:nvPr/>
          </p:nvSpPr>
          <p:spPr bwMode="auto">
            <a:xfrm>
              <a:off x="4075491"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25" name="Line 22"/>
            <p:cNvSpPr>
              <a:spLocks noChangeShapeType="1"/>
            </p:cNvSpPr>
            <p:nvPr/>
          </p:nvSpPr>
          <p:spPr bwMode="auto">
            <a:xfrm>
              <a:off x="4231066"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26" name="Line 23"/>
            <p:cNvSpPr>
              <a:spLocks noChangeShapeType="1"/>
            </p:cNvSpPr>
            <p:nvPr/>
          </p:nvSpPr>
          <p:spPr bwMode="auto">
            <a:xfrm>
              <a:off x="4386641"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27" name="Line 24"/>
            <p:cNvSpPr>
              <a:spLocks noChangeShapeType="1"/>
            </p:cNvSpPr>
            <p:nvPr/>
          </p:nvSpPr>
          <p:spPr bwMode="auto">
            <a:xfrm>
              <a:off x="4542215"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28" name="Line 25"/>
            <p:cNvSpPr>
              <a:spLocks noChangeShapeType="1"/>
            </p:cNvSpPr>
            <p:nvPr/>
          </p:nvSpPr>
          <p:spPr bwMode="auto">
            <a:xfrm>
              <a:off x="4697790"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29" name="Line 26"/>
            <p:cNvSpPr>
              <a:spLocks noChangeShapeType="1"/>
            </p:cNvSpPr>
            <p:nvPr/>
          </p:nvSpPr>
          <p:spPr bwMode="auto">
            <a:xfrm>
              <a:off x="4853366"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30" name="Line 27"/>
            <p:cNvSpPr>
              <a:spLocks noChangeShapeType="1"/>
            </p:cNvSpPr>
            <p:nvPr/>
          </p:nvSpPr>
          <p:spPr bwMode="auto">
            <a:xfrm>
              <a:off x="5008941"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31" name="Rectangle 28"/>
            <p:cNvSpPr>
              <a:spLocks noChangeArrowheads="1"/>
            </p:cNvSpPr>
            <p:nvPr/>
          </p:nvSpPr>
          <p:spPr bwMode="auto">
            <a:xfrm>
              <a:off x="5170866" y="4170426"/>
              <a:ext cx="3563940" cy="425450"/>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32" name="Line 29"/>
            <p:cNvSpPr>
              <a:spLocks noChangeShapeType="1"/>
            </p:cNvSpPr>
            <p:nvPr/>
          </p:nvSpPr>
          <p:spPr bwMode="auto">
            <a:xfrm>
              <a:off x="5164516" y="4148201"/>
              <a:ext cx="0" cy="45720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33" name="Line 30"/>
            <p:cNvSpPr>
              <a:spLocks noChangeShapeType="1"/>
            </p:cNvSpPr>
            <p:nvPr/>
          </p:nvSpPr>
          <p:spPr bwMode="auto">
            <a:xfrm>
              <a:off x="5320091"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34" name="Line 31"/>
            <p:cNvSpPr>
              <a:spLocks noChangeShapeType="1"/>
            </p:cNvSpPr>
            <p:nvPr/>
          </p:nvSpPr>
          <p:spPr bwMode="auto">
            <a:xfrm>
              <a:off x="5475666"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35" name="Line 32"/>
            <p:cNvSpPr>
              <a:spLocks noChangeShapeType="1"/>
            </p:cNvSpPr>
            <p:nvPr/>
          </p:nvSpPr>
          <p:spPr bwMode="auto">
            <a:xfrm>
              <a:off x="5631241"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36" name="Line 33"/>
            <p:cNvSpPr>
              <a:spLocks noChangeShapeType="1"/>
            </p:cNvSpPr>
            <p:nvPr/>
          </p:nvSpPr>
          <p:spPr bwMode="auto">
            <a:xfrm>
              <a:off x="5786816"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37" name="Line 34"/>
            <p:cNvSpPr>
              <a:spLocks noChangeShapeType="1"/>
            </p:cNvSpPr>
            <p:nvPr/>
          </p:nvSpPr>
          <p:spPr bwMode="auto">
            <a:xfrm>
              <a:off x="5942392"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38" name="Line 35"/>
            <p:cNvSpPr>
              <a:spLocks noChangeShapeType="1"/>
            </p:cNvSpPr>
            <p:nvPr/>
          </p:nvSpPr>
          <p:spPr bwMode="auto">
            <a:xfrm>
              <a:off x="6097967"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39" name="Line 36"/>
            <p:cNvSpPr>
              <a:spLocks noChangeShapeType="1"/>
            </p:cNvSpPr>
            <p:nvPr/>
          </p:nvSpPr>
          <p:spPr bwMode="auto">
            <a:xfrm>
              <a:off x="6253542"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40" name="Line 37"/>
            <p:cNvSpPr>
              <a:spLocks noChangeShapeType="1"/>
            </p:cNvSpPr>
            <p:nvPr/>
          </p:nvSpPr>
          <p:spPr bwMode="auto">
            <a:xfrm>
              <a:off x="6409117"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41" name="Line 38"/>
            <p:cNvSpPr>
              <a:spLocks noChangeShapeType="1"/>
            </p:cNvSpPr>
            <p:nvPr/>
          </p:nvSpPr>
          <p:spPr bwMode="auto">
            <a:xfrm>
              <a:off x="6564692"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42" name="Line 39"/>
            <p:cNvSpPr>
              <a:spLocks noChangeShapeType="1"/>
            </p:cNvSpPr>
            <p:nvPr/>
          </p:nvSpPr>
          <p:spPr bwMode="auto">
            <a:xfrm>
              <a:off x="6720266"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43" name="Line 40"/>
            <p:cNvSpPr>
              <a:spLocks noChangeShapeType="1"/>
            </p:cNvSpPr>
            <p:nvPr/>
          </p:nvSpPr>
          <p:spPr bwMode="auto">
            <a:xfrm>
              <a:off x="6875841"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44" name="Line 41"/>
            <p:cNvSpPr>
              <a:spLocks noChangeShapeType="1"/>
            </p:cNvSpPr>
            <p:nvPr/>
          </p:nvSpPr>
          <p:spPr bwMode="auto">
            <a:xfrm>
              <a:off x="7031417"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45" name="Line 42"/>
            <p:cNvSpPr>
              <a:spLocks noChangeShapeType="1"/>
            </p:cNvSpPr>
            <p:nvPr/>
          </p:nvSpPr>
          <p:spPr bwMode="auto">
            <a:xfrm>
              <a:off x="7186992"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46" name="Line 43"/>
            <p:cNvSpPr>
              <a:spLocks noChangeShapeType="1"/>
            </p:cNvSpPr>
            <p:nvPr/>
          </p:nvSpPr>
          <p:spPr bwMode="auto">
            <a:xfrm>
              <a:off x="7342567"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47" name="Line 44"/>
            <p:cNvSpPr>
              <a:spLocks noChangeShapeType="1"/>
            </p:cNvSpPr>
            <p:nvPr/>
          </p:nvSpPr>
          <p:spPr bwMode="auto">
            <a:xfrm>
              <a:off x="7498142"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48" name="Line 45"/>
            <p:cNvSpPr>
              <a:spLocks noChangeShapeType="1"/>
            </p:cNvSpPr>
            <p:nvPr/>
          </p:nvSpPr>
          <p:spPr bwMode="auto">
            <a:xfrm>
              <a:off x="7653717"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49" name="Line 46"/>
            <p:cNvSpPr>
              <a:spLocks noChangeShapeType="1"/>
            </p:cNvSpPr>
            <p:nvPr/>
          </p:nvSpPr>
          <p:spPr bwMode="auto">
            <a:xfrm>
              <a:off x="7809292"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50" name="Line 47"/>
            <p:cNvSpPr>
              <a:spLocks noChangeShapeType="1"/>
            </p:cNvSpPr>
            <p:nvPr/>
          </p:nvSpPr>
          <p:spPr bwMode="auto">
            <a:xfrm>
              <a:off x="7964868"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51" name="Line 48"/>
            <p:cNvSpPr>
              <a:spLocks noChangeShapeType="1"/>
            </p:cNvSpPr>
            <p:nvPr/>
          </p:nvSpPr>
          <p:spPr bwMode="auto">
            <a:xfrm>
              <a:off x="8120443"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52" name="Line 49"/>
            <p:cNvSpPr>
              <a:spLocks noChangeShapeType="1"/>
            </p:cNvSpPr>
            <p:nvPr/>
          </p:nvSpPr>
          <p:spPr bwMode="auto">
            <a:xfrm>
              <a:off x="8276018"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53" name="Line 50"/>
            <p:cNvSpPr>
              <a:spLocks noChangeShapeType="1"/>
            </p:cNvSpPr>
            <p:nvPr/>
          </p:nvSpPr>
          <p:spPr bwMode="auto">
            <a:xfrm>
              <a:off x="8431593"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54" name="Line 51"/>
            <p:cNvSpPr>
              <a:spLocks noChangeShapeType="1"/>
            </p:cNvSpPr>
            <p:nvPr/>
          </p:nvSpPr>
          <p:spPr bwMode="auto">
            <a:xfrm>
              <a:off x="8587168"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55" name="Rectangle 52"/>
            <p:cNvSpPr>
              <a:spLocks noChangeArrowheads="1"/>
            </p:cNvSpPr>
            <p:nvPr/>
          </p:nvSpPr>
          <p:spPr bwMode="auto">
            <a:xfrm>
              <a:off x="1352927" y="4224401"/>
              <a:ext cx="466725" cy="304800"/>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56" name="Rectangle 53"/>
            <p:cNvSpPr>
              <a:spLocks noChangeArrowheads="1"/>
            </p:cNvSpPr>
            <p:nvPr/>
          </p:nvSpPr>
          <p:spPr bwMode="auto">
            <a:xfrm>
              <a:off x="1975228" y="4224401"/>
              <a:ext cx="466725" cy="304800"/>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57" name="Rectangle 54"/>
            <p:cNvSpPr>
              <a:spLocks noChangeArrowheads="1"/>
            </p:cNvSpPr>
            <p:nvPr/>
          </p:nvSpPr>
          <p:spPr bwMode="auto">
            <a:xfrm>
              <a:off x="2597527" y="4224401"/>
              <a:ext cx="466725" cy="304800"/>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58" name="Rectangle 55"/>
            <p:cNvSpPr>
              <a:spLocks noChangeArrowheads="1"/>
            </p:cNvSpPr>
            <p:nvPr/>
          </p:nvSpPr>
          <p:spPr bwMode="auto">
            <a:xfrm>
              <a:off x="3219828" y="4224401"/>
              <a:ext cx="466725" cy="304800"/>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59" name="Rectangle 56"/>
            <p:cNvSpPr>
              <a:spLocks noChangeArrowheads="1"/>
            </p:cNvSpPr>
            <p:nvPr/>
          </p:nvSpPr>
          <p:spPr bwMode="auto">
            <a:xfrm>
              <a:off x="3842128" y="4224401"/>
              <a:ext cx="466725" cy="304800"/>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60" name="Rectangle 57"/>
            <p:cNvSpPr>
              <a:spLocks noChangeArrowheads="1"/>
            </p:cNvSpPr>
            <p:nvPr/>
          </p:nvSpPr>
          <p:spPr bwMode="auto">
            <a:xfrm>
              <a:off x="4464429" y="4224401"/>
              <a:ext cx="466725" cy="304800"/>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61" name="Rectangle 58"/>
            <p:cNvSpPr>
              <a:spLocks noChangeArrowheads="1"/>
            </p:cNvSpPr>
            <p:nvPr/>
          </p:nvSpPr>
          <p:spPr bwMode="auto">
            <a:xfrm>
              <a:off x="5172454" y="4224401"/>
              <a:ext cx="381000" cy="304800"/>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62" name="Rectangle 59"/>
            <p:cNvSpPr>
              <a:spLocks noChangeArrowheads="1"/>
            </p:cNvSpPr>
            <p:nvPr/>
          </p:nvSpPr>
          <p:spPr bwMode="auto">
            <a:xfrm>
              <a:off x="5709029" y="4224401"/>
              <a:ext cx="466725" cy="304800"/>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63" name="Rectangle 60"/>
            <p:cNvSpPr>
              <a:spLocks noChangeArrowheads="1"/>
            </p:cNvSpPr>
            <p:nvPr/>
          </p:nvSpPr>
          <p:spPr bwMode="auto">
            <a:xfrm>
              <a:off x="6331330" y="4224401"/>
              <a:ext cx="466725" cy="304800"/>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64" name="Rectangle 61"/>
            <p:cNvSpPr>
              <a:spLocks noChangeArrowheads="1"/>
            </p:cNvSpPr>
            <p:nvPr/>
          </p:nvSpPr>
          <p:spPr bwMode="auto">
            <a:xfrm>
              <a:off x="6953629" y="4224401"/>
              <a:ext cx="466725" cy="304800"/>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65" name="Rectangle 62"/>
            <p:cNvSpPr>
              <a:spLocks noChangeArrowheads="1"/>
            </p:cNvSpPr>
            <p:nvPr/>
          </p:nvSpPr>
          <p:spPr bwMode="auto">
            <a:xfrm>
              <a:off x="7575930" y="4224401"/>
              <a:ext cx="466725" cy="304800"/>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66" name="Rectangle 63"/>
            <p:cNvSpPr>
              <a:spLocks noChangeArrowheads="1"/>
            </p:cNvSpPr>
            <p:nvPr/>
          </p:nvSpPr>
          <p:spPr bwMode="auto">
            <a:xfrm>
              <a:off x="8198231" y="4224401"/>
              <a:ext cx="466725" cy="304800"/>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67" name="Rectangle 64"/>
            <p:cNvSpPr>
              <a:spLocks noChangeArrowheads="1"/>
            </p:cNvSpPr>
            <p:nvPr/>
          </p:nvSpPr>
          <p:spPr bwMode="auto">
            <a:xfrm>
              <a:off x="1819652" y="4262501"/>
              <a:ext cx="155575" cy="228600"/>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68" name="Rectangle 65"/>
            <p:cNvSpPr>
              <a:spLocks noChangeArrowheads="1"/>
            </p:cNvSpPr>
            <p:nvPr/>
          </p:nvSpPr>
          <p:spPr bwMode="auto">
            <a:xfrm>
              <a:off x="3064253" y="4262501"/>
              <a:ext cx="155575" cy="228600"/>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69" name="Rectangle 66"/>
            <p:cNvSpPr>
              <a:spLocks noChangeArrowheads="1"/>
            </p:cNvSpPr>
            <p:nvPr/>
          </p:nvSpPr>
          <p:spPr bwMode="auto">
            <a:xfrm>
              <a:off x="4321553" y="4262501"/>
              <a:ext cx="155575" cy="228600"/>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70" name="Rectangle 67"/>
            <p:cNvSpPr>
              <a:spLocks noChangeArrowheads="1"/>
            </p:cNvSpPr>
            <p:nvPr/>
          </p:nvSpPr>
          <p:spPr bwMode="auto">
            <a:xfrm>
              <a:off x="5540755" y="4262501"/>
              <a:ext cx="155575" cy="228600"/>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71" name="Rectangle 68"/>
            <p:cNvSpPr>
              <a:spLocks noChangeArrowheads="1"/>
            </p:cNvSpPr>
            <p:nvPr/>
          </p:nvSpPr>
          <p:spPr bwMode="auto">
            <a:xfrm>
              <a:off x="6759955" y="4262501"/>
              <a:ext cx="155575" cy="228600"/>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72" name="Rectangle 69"/>
            <p:cNvSpPr>
              <a:spLocks noChangeArrowheads="1"/>
            </p:cNvSpPr>
            <p:nvPr/>
          </p:nvSpPr>
          <p:spPr bwMode="auto">
            <a:xfrm>
              <a:off x="8082342" y="4262501"/>
              <a:ext cx="155575" cy="228600"/>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73" name="Rectangle 70"/>
            <p:cNvSpPr>
              <a:spLocks noChangeArrowheads="1"/>
            </p:cNvSpPr>
            <p:nvPr/>
          </p:nvSpPr>
          <p:spPr bwMode="auto">
            <a:xfrm>
              <a:off x="3764340" y="2852803"/>
              <a:ext cx="4965702" cy="457200"/>
            </a:xfrm>
            <a:prstGeom prst="rect">
              <a:avLst/>
            </a:prstGeom>
            <a:solidFill>
              <a:srgbClr val="00FFFF"/>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74" name="Line 71"/>
            <p:cNvSpPr>
              <a:spLocks noChangeShapeType="1"/>
            </p:cNvSpPr>
            <p:nvPr/>
          </p:nvSpPr>
          <p:spPr bwMode="auto">
            <a:xfrm>
              <a:off x="3919916"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75" name="Line 72"/>
            <p:cNvSpPr>
              <a:spLocks noChangeShapeType="1"/>
            </p:cNvSpPr>
            <p:nvPr/>
          </p:nvSpPr>
          <p:spPr bwMode="auto">
            <a:xfrm>
              <a:off x="4075491"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76" name="Line 73"/>
            <p:cNvSpPr>
              <a:spLocks noChangeShapeType="1"/>
            </p:cNvSpPr>
            <p:nvPr/>
          </p:nvSpPr>
          <p:spPr bwMode="auto">
            <a:xfrm>
              <a:off x="4229479"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77" name="Line 74"/>
            <p:cNvSpPr>
              <a:spLocks noChangeShapeType="1"/>
            </p:cNvSpPr>
            <p:nvPr/>
          </p:nvSpPr>
          <p:spPr bwMode="auto">
            <a:xfrm>
              <a:off x="4385053"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78" name="Line 75"/>
            <p:cNvSpPr>
              <a:spLocks noChangeShapeType="1"/>
            </p:cNvSpPr>
            <p:nvPr/>
          </p:nvSpPr>
          <p:spPr bwMode="auto">
            <a:xfrm>
              <a:off x="4540628"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79" name="Line 76"/>
            <p:cNvSpPr>
              <a:spLocks noChangeShapeType="1"/>
            </p:cNvSpPr>
            <p:nvPr/>
          </p:nvSpPr>
          <p:spPr bwMode="auto">
            <a:xfrm>
              <a:off x="4696203"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80" name="Line 77"/>
            <p:cNvSpPr>
              <a:spLocks noChangeShapeType="1"/>
            </p:cNvSpPr>
            <p:nvPr/>
          </p:nvSpPr>
          <p:spPr bwMode="auto">
            <a:xfrm>
              <a:off x="4850191"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81" name="Line 78"/>
            <p:cNvSpPr>
              <a:spLocks noChangeShapeType="1"/>
            </p:cNvSpPr>
            <p:nvPr/>
          </p:nvSpPr>
          <p:spPr bwMode="auto">
            <a:xfrm>
              <a:off x="5005764" y="28528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82" name="Line 79"/>
            <p:cNvSpPr>
              <a:spLocks noChangeShapeType="1"/>
            </p:cNvSpPr>
            <p:nvPr/>
          </p:nvSpPr>
          <p:spPr bwMode="auto">
            <a:xfrm>
              <a:off x="5161341"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83" name="Rectangle 80"/>
            <p:cNvSpPr>
              <a:spLocks noChangeArrowheads="1"/>
            </p:cNvSpPr>
            <p:nvPr/>
          </p:nvSpPr>
          <p:spPr bwMode="auto">
            <a:xfrm>
              <a:off x="5161341" y="2871853"/>
              <a:ext cx="3562351" cy="428624"/>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84" name="Line 81"/>
            <p:cNvSpPr>
              <a:spLocks noChangeShapeType="1"/>
            </p:cNvSpPr>
            <p:nvPr/>
          </p:nvSpPr>
          <p:spPr bwMode="auto">
            <a:xfrm>
              <a:off x="5316916"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85" name="Line 82"/>
            <p:cNvSpPr>
              <a:spLocks noChangeShapeType="1"/>
            </p:cNvSpPr>
            <p:nvPr/>
          </p:nvSpPr>
          <p:spPr bwMode="auto">
            <a:xfrm>
              <a:off x="5470905"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86" name="Line 83"/>
            <p:cNvSpPr>
              <a:spLocks noChangeShapeType="1"/>
            </p:cNvSpPr>
            <p:nvPr/>
          </p:nvSpPr>
          <p:spPr bwMode="auto">
            <a:xfrm>
              <a:off x="5626480"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87" name="Line 84"/>
            <p:cNvSpPr>
              <a:spLocks noChangeShapeType="1"/>
            </p:cNvSpPr>
            <p:nvPr/>
          </p:nvSpPr>
          <p:spPr bwMode="auto">
            <a:xfrm>
              <a:off x="5782055"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88" name="Line 85"/>
            <p:cNvSpPr>
              <a:spLocks noChangeShapeType="1"/>
            </p:cNvSpPr>
            <p:nvPr/>
          </p:nvSpPr>
          <p:spPr bwMode="auto">
            <a:xfrm>
              <a:off x="5937629"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89" name="Line 86"/>
            <p:cNvSpPr>
              <a:spLocks noChangeShapeType="1"/>
            </p:cNvSpPr>
            <p:nvPr/>
          </p:nvSpPr>
          <p:spPr bwMode="auto">
            <a:xfrm>
              <a:off x="6091616"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0" name="Line 87"/>
            <p:cNvSpPr>
              <a:spLocks noChangeShapeType="1"/>
            </p:cNvSpPr>
            <p:nvPr/>
          </p:nvSpPr>
          <p:spPr bwMode="auto">
            <a:xfrm>
              <a:off x="6247192"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1" name="Line 88"/>
            <p:cNvSpPr>
              <a:spLocks noChangeShapeType="1"/>
            </p:cNvSpPr>
            <p:nvPr/>
          </p:nvSpPr>
          <p:spPr bwMode="auto">
            <a:xfrm>
              <a:off x="6402767"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2" name="Line 89"/>
            <p:cNvSpPr>
              <a:spLocks noChangeShapeType="1"/>
            </p:cNvSpPr>
            <p:nvPr/>
          </p:nvSpPr>
          <p:spPr bwMode="auto">
            <a:xfrm>
              <a:off x="6558342"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3" name="Line 90"/>
            <p:cNvSpPr>
              <a:spLocks noChangeShapeType="1"/>
            </p:cNvSpPr>
            <p:nvPr/>
          </p:nvSpPr>
          <p:spPr bwMode="auto">
            <a:xfrm>
              <a:off x="6712330"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4" name="Line 91"/>
            <p:cNvSpPr>
              <a:spLocks noChangeShapeType="1"/>
            </p:cNvSpPr>
            <p:nvPr/>
          </p:nvSpPr>
          <p:spPr bwMode="auto">
            <a:xfrm>
              <a:off x="6867905"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5" name="Line 92"/>
            <p:cNvSpPr>
              <a:spLocks noChangeShapeType="1"/>
            </p:cNvSpPr>
            <p:nvPr/>
          </p:nvSpPr>
          <p:spPr bwMode="auto">
            <a:xfrm>
              <a:off x="7023479"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6" name="Line 93"/>
            <p:cNvSpPr>
              <a:spLocks noChangeShapeType="1"/>
            </p:cNvSpPr>
            <p:nvPr/>
          </p:nvSpPr>
          <p:spPr bwMode="auto">
            <a:xfrm>
              <a:off x="7179056"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7" name="Line 94"/>
            <p:cNvSpPr>
              <a:spLocks noChangeShapeType="1"/>
            </p:cNvSpPr>
            <p:nvPr/>
          </p:nvSpPr>
          <p:spPr bwMode="auto">
            <a:xfrm>
              <a:off x="7333042"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8" name="Line 95"/>
            <p:cNvSpPr>
              <a:spLocks noChangeShapeType="1"/>
            </p:cNvSpPr>
            <p:nvPr/>
          </p:nvSpPr>
          <p:spPr bwMode="auto">
            <a:xfrm>
              <a:off x="7488617"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9" name="Line 96"/>
            <p:cNvSpPr>
              <a:spLocks noChangeShapeType="1"/>
            </p:cNvSpPr>
            <p:nvPr/>
          </p:nvSpPr>
          <p:spPr bwMode="auto">
            <a:xfrm>
              <a:off x="7644192"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0" name="Line 97"/>
            <p:cNvSpPr>
              <a:spLocks noChangeShapeType="1"/>
            </p:cNvSpPr>
            <p:nvPr/>
          </p:nvSpPr>
          <p:spPr bwMode="auto">
            <a:xfrm>
              <a:off x="7799768"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1" name="Line 98"/>
            <p:cNvSpPr>
              <a:spLocks noChangeShapeType="1"/>
            </p:cNvSpPr>
            <p:nvPr/>
          </p:nvSpPr>
          <p:spPr bwMode="auto">
            <a:xfrm>
              <a:off x="7953756"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2" name="Line 99"/>
            <p:cNvSpPr>
              <a:spLocks noChangeShapeType="1"/>
            </p:cNvSpPr>
            <p:nvPr/>
          </p:nvSpPr>
          <p:spPr bwMode="auto">
            <a:xfrm>
              <a:off x="8109331"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3" name="Line 100"/>
            <p:cNvSpPr>
              <a:spLocks noChangeShapeType="1"/>
            </p:cNvSpPr>
            <p:nvPr/>
          </p:nvSpPr>
          <p:spPr bwMode="auto">
            <a:xfrm>
              <a:off x="8264906"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4" name="Line 101"/>
            <p:cNvSpPr>
              <a:spLocks noChangeShapeType="1"/>
            </p:cNvSpPr>
            <p:nvPr/>
          </p:nvSpPr>
          <p:spPr bwMode="auto">
            <a:xfrm>
              <a:off x="8420481"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5" name="Line 102"/>
            <p:cNvSpPr>
              <a:spLocks noChangeShapeType="1"/>
            </p:cNvSpPr>
            <p:nvPr/>
          </p:nvSpPr>
          <p:spPr bwMode="auto">
            <a:xfrm>
              <a:off x="8574468"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6" name="Rectangle 103"/>
            <p:cNvSpPr>
              <a:spLocks noChangeArrowheads="1"/>
            </p:cNvSpPr>
            <p:nvPr/>
          </p:nvSpPr>
          <p:spPr bwMode="auto">
            <a:xfrm>
              <a:off x="3842128" y="2929003"/>
              <a:ext cx="465138" cy="304800"/>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7" name="Rectangle 104"/>
            <p:cNvSpPr>
              <a:spLocks noChangeArrowheads="1"/>
            </p:cNvSpPr>
            <p:nvPr/>
          </p:nvSpPr>
          <p:spPr bwMode="auto">
            <a:xfrm>
              <a:off x="5159754" y="2929003"/>
              <a:ext cx="388937" cy="304800"/>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108" name="Rectangle 105"/>
            <p:cNvSpPr>
              <a:spLocks noChangeArrowheads="1"/>
            </p:cNvSpPr>
            <p:nvPr/>
          </p:nvSpPr>
          <p:spPr bwMode="auto">
            <a:xfrm>
              <a:off x="4462840" y="2929003"/>
              <a:ext cx="599213" cy="304800"/>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9" name="Rectangle 106"/>
            <p:cNvSpPr>
              <a:spLocks noChangeArrowheads="1"/>
            </p:cNvSpPr>
            <p:nvPr/>
          </p:nvSpPr>
          <p:spPr bwMode="auto">
            <a:xfrm>
              <a:off x="5704266" y="2929003"/>
              <a:ext cx="465139" cy="304800"/>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110" name="Rectangle 107"/>
            <p:cNvSpPr>
              <a:spLocks noChangeArrowheads="1"/>
            </p:cNvSpPr>
            <p:nvPr/>
          </p:nvSpPr>
          <p:spPr bwMode="auto">
            <a:xfrm>
              <a:off x="6324980" y="2929003"/>
              <a:ext cx="465138" cy="304800"/>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111" name="Rectangle 108"/>
            <p:cNvSpPr>
              <a:spLocks noChangeArrowheads="1"/>
            </p:cNvSpPr>
            <p:nvPr/>
          </p:nvSpPr>
          <p:spPr bwMode="auto">
            <a:xfrm>
              <a:off x="6945691" y="2929003"/>
              <a:ext cx="465139" cy="304800"/>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112" name="Rectangle 109"/>
            <p:cNvSpPr>
              <a:spLocks noChangeArrowheads="1"/>
            </p:cNvSpPr>
            <p:nvPr/>
          </p:nvSpPr>
          <p:spPr bwMode="auto">
            <a:xfrm>
              <a:off x="7566405" y="2929003"/>
              <a:ext cx="465138" cy="304800"/>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113" name="Rectangle 110"/>
            <p:cNvSpPr>
              <a:spLocks noChangeArrowheads="1"/>
            </p:cNvSpPr>
            <p:nvPr/>
          </p:nvSpPr>
          <p:spPr bwMode="auto">
            <a:xfrm>
              <a:off x="8187118" y="2929003"/>
              <a:ext cx="465139" cy="304800"/>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114" name="Rectangle 111"/>
            <p:cNvSpPr>
              <a:spLocks noChangeArrowheads="1"/>
            </p:cNvSpPr>
            <p:nvPr/>
          </p:nvSpPr>
          <p:spPr bwMode="auto">
            <a:xfrm>
              <a:off x="4319966" y="2967103"/>
              <a:ext cx="155575" cy="228600"/>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5" name="Rectangle 112"/>
            <p:cNvSpPr>
              <a:spLocks noChangeArrowheads="1"/>
            </p:cNvSpPr>
            <p:nvPr/>
          </p:nvSpPr>
          <p:spPr bwMode="auto">
            <a:xfrm>
              <a:off x="5535991" y="2967103"/>
              <a:ext cx="155575" cy="228600"/>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116" name="Rectangle 113"/>
            <p:cNvSpPr>
              <a:spLocks noChangeArrowheads="1"/>
            </p:cNvSpPr>
            <p:nvPr/>
          </p:nvSpPr>
          <p:spPr bwMode="auto">
            <a:xfrm>
              <a:off x="6752017" y="2967103"/>
              <a:ext cx="153988" cy="228600"/>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117" name="Rectangle 114"/>
            <p:cNvSpPr>
              <a:spLocks noChangeArrowheads="1"/>
            </p:cNvSpPr>
            <p:nvPr/>
          </p:nvSpPr>
          <p:spPr bwMode="auto">
            <a:xfrm>
              <a:off x="8071230" y="2967103"/>
              <a:ext cx="153987" cy="228600"/>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121" name="Text Box 118"/>
            <p:cNvSpPr txBox="1">
              <a:spLocks noChangeArrowheads="1"/>
            </p:cNvSpPr>
            <p:nvPr/>
          </p:nvSpPr>
          <p:spPr bwMode="auto">
            <a:xfrm>
              <a:off x="4914947" y="4188850"/>
              <a:ext cx="354489" cy="369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C00000"/>
                  </a:solidFill>
                  <a:latin typeface="微软雅黑" pitchFamily="34" charset="-122"/>
                  <a:ea typeface="微软雅黑" pitchFamily="34" charset="-122"/>
                </a:rPr>
                <a:t>0</a:t>
              </a:r>
            </a:p>
          </p:txBody>
        </p:sp>
        <p:sp>
          <p:nvSpPr>
            <p:cNvPr id="123" name="Line 120"/>
            <p:cNvSpPr>
              <a:spLocks noChangeShapeType="1"/>
            </p:cNvSpPr>
            <p:nvPr/>
          </p:nvSpPr>
          <p:spPr bwMode="auto">
            <a:xfrm>
              <a:off x="5161341" y="3386202"/>
              <a:ext cx="0" cy="761999"/>
            </a:xfrm>
            <a:prstGeom prst="line">
              <a:avLst/>
            </a:prstGeom>
            <a:noFill/>
            <a:ln w="1905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24" name="Line 121"/>
            <p:cNvSpPr>
              <a:spLocks noChangeShapeType="1"/>
            </p:cNvSpPr>
            <p:nvPr/>
          </p:nvSpPr>
          <p:spPr bwMode="auto">
            <a:xfrm>
              <a:off x="8742743" y="3386202"/>
              <a:ext cx="0" cy="761999"/>
            </a:xfrm>
            <a:prstGeom prst="line">
              <a:avLst/>
            </a:prstGeom>
            <a:noFill/>
            <a:ln w="1905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25" name="Text Box 122"/>
            <p:cNvSpPr txBox="1">
              <a:spLocks noChangeArrowheads="1"/>
            </p:cNvSpPr>
            <p:nvPr/>
          </p:nvSpPr>
          <p:spPr bwMode="auto">
            <a:xfrm>
              <a:off x="3643775" y="2521405"/>
              <a:ext cx="335245" cy="332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0</a:t>
              </a:r>
            </a:p>
          </p:txBody>
        </p:sp>
        <p:sp>
          <p:nvSpPr>
            <p:cNvPr id="126" name="Text Box 123"/>
            <p:cNvSpPr txBox="1">
              <a:spLocks noChangeArrowheads="1"/>
            </p:cNvSpPr>
            <p:nvPr/>
          </p:nvSpPr>
          <p:spPr bwMode="auto">
            <a:xfrm>
              <a:off x="4888376" y="2521405"/>
              <a:ext cx="335245" cy="332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8</a:t>
              </a:r>
            </a:p>
          </p:txBody>
        </p:sp>
        <p:sp>
          <p:nvSpPr>
            <p:cNvPr id="127" name="Text Box 124"/>
            <p:cNvSpPr txBox="1">
              <a:spLocks noChangeArrowheads="1"/>
            </p:cNvSpPr>
            <p:nvPr/>
          </p:nvSpPr>
          <p:spPr bwMode="auto">
            <a:xfrm>
              <a:off x="6120275" y="2521405"/>
              <a:ext cx="448787" cy="332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16</a:t>
              </a:r>
            </a:p>
          </p:txBody>
        </p:sp>
        <p:sp>
          <p:nvSpPr>
            <p:cNvPr id="128" name="Text Box 125"/>
            <p:cNvSpPr txBox="1">
              <a:spLocks noChangeArrowheads="1"/>
            </p:cNvSpPr>
            <p:nvPr/>
          </p:nvSpPr>
          <p:spPr bwMode="auto">
            <a:xfrm>
              <a:off x="7339478" y="2521405"/>
              <a:ext cx="448787" cy="332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24</a:t>
              </a:r>
            </a:p>
          </p:txBody>
        </p:sp>
        <p:sp>
          <p:nvSpPr>
            <p:cNvPr id="129" name="Text Box 126"/>
            <p:cNvSpPr txBox="1">
              <a:spLocks noChangeArrowheads="1"/>
            </p:cNvSpPr>
            <p:nvPr/>
          </p:nvSpPr>
          <p:spPr bwMode="auto">
            <a:xfrm>
              <a:off x="8418979" y="2521405"/>
              <a:ext cx="448787" cy="332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31</a:t>
              </a:r>
            </a:p>
          </p:txBody>
        </p:sp>
        <p:sp>
          <p:nvSpPr>
            <p:cNvPr id="130" name="Text Box 127"/>
            <p:cNvSpPr txBox="1">
              <a:spLocks noChangeArrowheads="1"/>
            </p:cNvSpPr>
            <p:nvPr/>
          </p:nvSpPr>
          <p:spPr bwMode="auto">
            <a:xfrm>
              <a:off x="2014720" y="2876543"/>
              <a:ext cx="1445666" cy="369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D </a:t>
              </a:r>
              <a:r>
                <a:rPr kumimoji="1" lang="zh-CN" altLang="zh-CN" sz="1400" b="1" dirty="0">
                  <a:latin typeface="微软雅黑" pitchFamily="34" charset="-122"/>
                  <a:ea typeface="微软雅黑" pitchFamily="34" charset="-122"/>
                </a:rPr>
                <a:t>类 </a:t>
              </a:r>
              <a:r>
                <a:rPr kumimoji="1" lang="en-US" altLang="zh-CN" sz="1400" b="1" dirty="0">
                  <a:latin typeface="微软雅黑" pitchFamily="34" charset="-122"/>
                  <a:ea typeface="微软雅黑" pitchFamily="34" charset="-122"/>
                </a:rPr>
                <a:t>IP </a:t>
              </a:r>
              <a:r>
                <a:rPr kumimoji="1" lang="zh-CN" altLang="zh-CN" sz="1400" b="1" dirty="0">
                  <a:latin typeface="微软雅黑" pitchFamily="34" charset="-122"/>
                  <a:ea typeface="微软雅黑" pitchFamily="34" charset="-122"/>
                </a:rPr>
                <a:t>地址</a:t>
              </a:r>
              <a:endParaRPr kumimoji="1" lang="zh-CN" altLang="en-US" sz="1400" b="1" dirty="0">
                <a:latin typeface="微软雅黑" pitchFamily="34" charset="-122"/>
                <a:ea typeface="微软雅黑" pitchFamily="34" charset="-122"/>
              </a:endParaRPr>
            </a:p>
          </p:txBody>
        </p:sp>
        <p:sp>
          <p:nvSpPr>
            <p:cNvPr id="131" name="Line 128"/>
            <p:cNvSpPr>
              <a:spLocks noChangeShapeType="1"/>
            </p:cNvSpPr>
            <p:nvPr/>
          </p:nvSpPr>
          <p:spPr bwMode="auto">
            <a:xfrm flipV="1">
              <a:off x="4386641" y="2395604"/>
              <a:ext cx="0" cy="38100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2" name="Line 129"/>
            <p:cNvSpPr>
              <a:spLocks noChangeShapeType="1"/>
            </p:cNvSpPr>
            <p:nvPr/>
          </p:nvSpPr>
          <p:spPr bwMode="auto">
            <a:xfrm flipV="1">
              <a:off x="5161341" y="2395604"/>
              <a:ext cx="0" cy="908048"/>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3" name="Line 130"/>
            <p:cNvSpPr>
              <a:spLocks noChangeShapeType="1"/>
            </p:cNvSpPr>
            <p:nvPr/>
          </p:nvSpPr>
          <p:spPr bwMode="auto">
            <a:xfrm>
              <a:off x="4399341" y="2471803"/>
              <a:ext cx="762001" cy="0"/>
            </a:xfrm>
            <a:prstGeom prst="line">
              <a:avLst/>
            </a:prstGeom>
            <a:noFill/>
            <a:ln w="28575">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4" name="Line 131"/>
            <p:cNvSpPr>
              <a:spLocks noChangeShapeType="1"/>
            </p:cNvSpPr>
            <p:nvPr/>
          </p:nvSpPr>
          <p:spPr bwMode="auto">
            <a:xfrm>
              <a:off x="5170866" y="4870513"/>
              <a:ext cx="3581402" cy="0"/>
            </a:xfrm>
            <a:prstGeom prst="line">
              <a:avLst/>
            </a:prstGeom>
            <a:noFill/>
            <a:ln w="28575">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5" name="Text Box 133"/>
            <p:cNvSpPr txBox="1">
              <a:spLocks noChangeArrowheads="1"/>
            </p:cNvSpPr>
            <p:nvPr/>
          </p:nvSpPr>
          <p:spPr bwMode="auto">
            <a:xfrm>
              <a:off x="5222330" y="2040738"/>
              <a:ext cx="1559210" cy="3695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00000"/>
                  </a:solidFill>
                  <a:latin typeface="微软雅黑" pitchFamily="34" charset="-122"/>
                  <a:ea typeface="微软雅黑" pitchFamily="34" charset="-122"/>
                </a:rPr>
                <a:t>这</a:t>
              </a:r>
              <a:r>
                <a:rPr kumimoji="1" lang="zh-CN" altLang="zh-CN" sz="1400" b="1" dirty="0">
                  <a:solidFill>
                    <a:srgbClr val="C00000"/>
                  </a:solidFill>
                  <a:latin typeface="微软雅黑" pitchFamily="34" charset="-122"/>
                  <a:ea typeface="微软雅黑" pitchFamily="34" charset="-122"/>
                </a:rPr>
                <a:t> 5</a:t>
              </a:r>
              <a:r>
                <a:rPr kumimoji="1" lang="en-US" altLang="zh-CN" sz="1400" b="1" dirty="0">
                  <a:solidFill>
                    <a:srgbClr val="C00000"/>
                  </a:solidFill>
                  <a:latin typeface="微软雅黑" pitchFamily="34" charset="-122"/>
                  <a:ea typeface="微软雅黑" pitchFamily="34" charset="-122"/>
                </a:rPr>
                <a:t> </a:t>
              </a:r>
              <a:r>
                <a:rPr kumimoji="1" lang="zh-CN" altLang="en-US" sz="1400" b="1" dirty="0">
                  <a:solidFill>
                    <a:srgbClr val="C00000"/>
                  </a:solidFill>
                  <a:latin typeface="微软雅黑" pitchFamily="34" charset="-122"/>
                  <a:ea typeface="微软雅黑" pitchFamily="34" charset="-122"/>
                </a:rPr>
                <a:t>位不使用</a:t>
              </a:r>
            </a:p>
          </p:txBody>
        </p:sp>
        <p:sp>
          <p:nvSpPr>
            <p:cNvPr id="136" name="Arc 134"/>
            <p:cNvSpPr>
              <a:spLocks/>
            </p:cNvSpPr>
            <p:nvPr/>
          </p:nvSpPr>
          <p:spPr bwMode="auto">
            <a:xfrm flipH="1">
              <a:off x="4781929" y="2243204"/>
              <a:ext cx="498475" cy="228600"/>
            </a:xfrm>
            <a:custGeom>
              <a:avLst/>
              <a:gdLst>
                <a:gd name="G0" fmla="+- 1956 0 0"/>
                <a:gd name="G1" fmla="+- 21600 0 0"/>
                <a:gd name="G2" fmla="+- 21600 0 0"/>
                <a:gd name="T0" fmla="*/ 0 w 23556"/>
                <a:gd name="T1" fmla="*/ 89 h 21600"/>
                <a:gd name="T2" fmla="*/ 23556 w 23556"/>
                <a:gd name="T3" fmla="*/ 21600 h 21600"/>
                <a:gd name="T4" fmla="*/ 1956 w 23556"/>
                <a:gd name="T5" fmla="*/ 21600 h 21600"/>
              </a:gdLst>
              <a:ahLst/>
              <a:cxnLst>
                <a:cxn ang="0">
                  <a:pos x="T0" y="T1"/>
                </a:cxn>
                <a:cxn ang="0">
                  <a:pos x="T2" y="T3"/>
                </a:cxn>
                <a:cxn ang="0">
                  <a:pos x="T4" y="T5"/>
                </a:cxn>
              </a:cxnLst>
              <a:rect l="0" t="0" r="r" b="b"/>
              <a:pathLst>
                <a:path w="23556" h="21600" fill="none" extrusionOk="0">
                  <a:moveTo>
                    <a:pt x="-1" y="88"/>
                  </a:moveTo>
                  <a:cubicBezTo>
                    <a:pt x="650" y="29"/>
                    <a:pt x="1302" y="-1"/>
                    <a:pt x="1956" y="0"/>
                  </a:cubicBezTo>
                  <a:cubicBezTo>
                    <a:pt x="13885" y="0"/>
                    <a:pt x="23556" y="9670"/>
                    <a:pt x="23556" y="21600"/>
                  </a:cubicBezTo>
                </a:path>
                <a:path w="23556" h="21600" stroke="0" extrusionOk="0">
                  <a:moveTo>
                    <a:pt x="-1" y="88"/>
                  </a:moveTo>
                  <a:cubicBezTo>
                    <a:pt x="650" y="29"/>
                    <a:pt x="1302" y="-1"/>
                    <a:pt x="1956" y="0"/>
                  </a:cubicBezTo>
                  <a:cubicBezTo>
                    <a:pt x="13885" y="0"/>
                    <a:pt x="23556" y="9670"/>
                    <a:pt x="23556" y="21600"/>
                  </a:cubicBezTo>
                  <a:lnTo>
                    <a:pt x="1956" y="21600"/>
                  </a:lnTo>
                  <a:close/>
                </a:path>
              </a:pathLst>
            </a:custGeom>
            <a:noFill/>
            <a:ln w="9525">
              <a:solidFill>
                <a:schemeClr val="tx1"/>
              </a:solidFill>
              <a:round/>
              <a:headEnd type="triangle" w="sm" len="me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7" name="Line 135"/>
            <p:cNvSpPr>
              <a:spLocks noChangeShapeType="1"/>
            </p:cNvSpPr>
            <p:nvPr/>
          </p:nvSpPr>
          <p:spPr bwMode="auto">
            <a:xfrm>
              <a:off x="1275139" y="4681601"/>
              <a:ext cx="0" cy="74136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8" name="Line 136"/>
            <p:cNvSpPr>
              <a:spLocks noChangeShapeType="1"/>
            </p:cNvSpPr>
            <p:nvPr/>
          </p:nvSpPr>
          <p:spPr bwMode="auto">
            <a:xfrm flipH="1">
              <a:off x="8737981" y="4681601"/>
              <a:ext cx="4763" cy="69056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9" name="Line 137"/>
            <p:cNvSpPr>
              <a:spLocks noChangeShapeType="1"/>
            </p:cNvSpPr>
            <p:nvPr/>
          </p:nvSpPr>
          <p:spPr bwMode="auto">
            <a:xfrm>
              <a:off x="1287840" y="5245163"/>
              <a:ext cx="7467603" cy="0"/>
            </a:xfrm>
            <a:prstGeom prst="line">
              <a:avLst/>
            </a:prstGeom>
            <a:noFill/>
            <a:ln w="28575">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0" name="Text Box 138"/>
            <p:cNvSpPr txBox="1">
              <a:spLocks noChangeArrowheads="1"/>
            </p:cNvSpPr>
            <p:nvPr/>
          </p:nvSpPr>
          <p:spPr bwMode="auto">
            <a:xfrm>
              <a:off x="4057608" y="5082042"/>
              <a:ext cx="1613096" cy="332551"/>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zh-CN" sz="1200" b="1" dirty="0">
                  <a:solidFill>
                    <a:srgbClr val="0000FF"/>
                  </a:solidFill>
                  <a:latin typeface="微软雅黑" pitchFamily="34" charset="-122"/>
                  <a:ea typeface="微软雅黑" pitchFamily="34" charset="-122"/>
                </a:rPr>
                <a:t>48 </a:t>
              </a:r>
              <a:r>
                <a:rPr kumimoji="1" lang="zh-CN" altLang="en-US" sz="1200" b="1" dirty="0">
                  <a:solidFill>
                    <a:srgbClr val="0000FF"/>
                  </a:solidFill>
                  <a:latin typeface="微软雅黑" pitchFamily="34" charset="-122"/>
                  <a:ea typeface="微软雅黑" pitchFamily="34" charset="-122"/>
                </a:rPr>
                <a:t>位</a:t>
              </a:r>
              <a:r>
                <a:rPr kumimoji="1" lang="zh-CN" altLang="zh-CN" sz="1200" b="1" dirty="0">
                  <a:solidFill>
                    <a:srgbClr val="0000FF"/>
                  </a:solidFill>
                  <a:latin typeface="微软雅黑" pitchFamily="34" charset="-122"/>
                  <a:ea typeface="微软雅黑" pitchFamily="34" charset="-122"/>
                </a:rPr>
                <a:t>以太网地址</a:t>
              </a:r>
              <a:endParaRPr kumimoji="1" lang="zh-CN" altLang="en-US" sz="1200" b="1" dirty="0">
                <a:solidFill>
                  <a:srgbClr val="0000FF"/>
                </a:solidFill>
                <a:latin typeface="微软雅黑" pitchFamily="34" charset="-122"/>
                <a:ea typeface="微软雅黑" pitchFamily="34" charset="-122"/>
              </a:endParaRPr>
            </a:p>
          </p:txBody>
        </p:sp>
        <p:sp>
          <p:nvSpPr>
            <p:cNvPr id="141" name="Text Box 139"/>
            <p:cNvSpPr txBox="1">
              <a:spLocks noChangeArrowheads="1"/>
            </p:cNvSpPr>
            <p:nvPr/>
          </p:nvSpPr>
          <p:spPr bwMode="auto">
            <a:xfrm>
              <a:off x="1448177" y="3754504"/>
              <a:ext cx="3389387" cy="406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itchFamily="34" charset="-122"/>
                  <a:ea typeface="微软雅黑" pitchFamily="34" charset="-122"/>
                </a:rPr>
                <a:t>0      1      0      0       5      E</a:t>
              </a:r>
            </a:p>
          </p:txBody>
        </p:sp>
        <p:sp>
          <p:nvSpPr>
            <p:cNvPr id="142" name="Text Box 140"/>
            <p:cNvSpPr txBox="1">
              <a:spLocks noChangeArrowheads="1"/>
            </p:cNvSpPr>
            <p:nvPr/>
          </p:nvSpPr>
          <p:spPr bwMode="auto">
            <a:xfrm>
              <a:off x="1879468" y="4737470"/>
              <a:ext cx="1083864" cy="369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solidFill>
                    <a:srgbClr val="990099"/>
                  </a:solidFill>
                  <a:latin typeface="微软雅黑" pitchFamily="34" charset="-122"/>
                  <a:ea typeface="微软雅黑" pitchFamily="34" charset="-122"/>
                </a:rPr>
                <a:t>表示多播</a:t>
              </a:r>
            </a:p>
          </p:txBody>
        </p:sp>
        <p:sp>
          <p:nvSpPr>
            <p:cNvPr id="143" name="Line 141"/>
            <p:cNvSpPr>
              <a:spLocks noChangeShapeType="1"/>
            </p:cNvSpPr>
            <p:nvPr/>
          </p:nvSpPr>
          <p:spPr bwMode="auto">
            <a:xfrm flipH="1" flipV="1">
              <a:off x="2455161" y="4503803"/>
              <a:ext cx="6350" cy="282575"/>
            </a:xfrm>
            <a:prstGeom prst="line">
              <a:avLst/>
            </a:prstGeom>
            <a:noFill/>
            <a:ln w="57150">
              <a:solidFill>
                <a:srgbClr val="CC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sp>
          <p:nvSpPr>
            <p:cNvPr id="144" name="Text Box 132"/>
            <p:cNvSpPr txBox="1">
              <a:spLocks noChangeArrowheads="1"/>
            </p:cNvSpPr>
            <p:nvPr/>
          </p:nvSpPr>
          <p:spPr bwMode="auto">
            <a:xfrm>
              <a:off x="5719249" y="4683193"/>
              <a:ext cx="2590729" cy="332551"/>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a:solidFill>
                    <a:srgbClr val="0000FF"/>
                  </a:solidFill>
                  <a:latin typeface="微软雅黑" pitchFamily="34" charset="-122"/>
                  <a:ea typeface="微软雅黑" pitchFamily="34" charset="-122"/>
                </a:rPr>
                <a:t>最</a:t>
              </a:r>
              <a:r>
                <a:rPr kumimoji="1" lang="zh-CN" altLang="zh-CN" sz="1200" b="1">
                  <a:solidFill>
                    <a:srgbClr val="0000FF"/>
                  </a:solidFill>
                  <a:latin typeface="微软雅黑" pitchFamily="34" charset="-122"/>
                  <a:ea typeface="微软雅黑" pitchFamily="34" charset="-122"/>
                </a:rPr>
                <a:t>低 23</a:t>
              </a:r>
              <a:r>
                <a:rPr kumimoji="1" lang="en-US" altLang="zh-CN" sz="1200" b="1">
                  <a:solidFill>
                    <a:srgbClr val="0000FF"/>
                  </a:solidFill>
                  <a:latin typeface="微软雅黑" pitchFamily="34" charset="-122"/>
                  <a:ea typeface="微软雅黑" pitchFamily="34" charset="-122"/>
                </a:rPr>
                <a:t> </a:t>
              </a:r>
              <a:r>
                <a:rPr kumimoji="1" lang="zh-CN" altLang="en-US" sz="1200" b="1">
                  <a:solidFill>
                    <a:srgbClr val="0000FF"/>
                  </a:solidFill>
                  <a:latin typeface="微软雅黑" pitchFamily="34" charset="-122"/>
                  <a:ea typeface="微软雅黑" pitchFamily="34" charset="-122"/>
                </a:rPr>
                <a:t>位来自 </a:t>
              </a:r>
              <a:r>
                <a:rPr kumimoji="1" lang="en-US" altLang="zh-CN" sz="1200" b="1">
                  <a:solidFill>
                    <a:srgbClr val="0000FF"/>
                  </a:solidFill>
                  <a:latin typeface="微软雅黑" pitchFamily="34" charset="-122"/>
                  <a:ea typeface="微软雅黑" pitchFamily="34" charset="-122"/>
                </a:rPr>
                <a:t>D </a:t>
              </a:r>
              <a:r>
                <a:rPr kumimoji="1" lang="zh-CN" altLang="en-US" sz="1200" b="1">
                  <a:solidFill>
                    <a:srgbClr val="0000FF"/>
                  </a:solidFill>
                  <a:latin typeface="微软雅黑" pitchFamily="34" charset="-122"/>
                  <a:ea typeface="微软雅黑" pitchFamily="34" charset="-122"/>
                </a:rPr>
                <a:t>类 </a:t>
              </a:r>
              <a:r>
                <a:rPr kumimoji="1" lang="en-US" altLang="zh-CN" sz="1200" b="1">
                  <a:solidFill>
                    <a:srgbClr val="0000FF"/>
                  </a:solidFill>
                  <a:latin typeface="微软雅黑" pitchFamily="34" charset="-122"/>
                  <a:ea typeface="微软雅黑" pitchFamily="34" charset="-122"/>
                </a:rPr>
                <a:t>IP </a:t>
              </a:r>
              <a:r>
                <a:rPr kumimoji="1" lang="zh-CN" altLang="zh-CN" sz="1200" b="1">
                  <a:solidFill>
                    <a:srgbClr val="0000FF"/>
                  </a:solidFill>
                  <a:latin typeface="微软雅黑" pitchFamily="34" charset="-122"/>
                  <a:ea typeface="微软雅黑" pitchFamily="34" charset="-122"/>
                </a:rPr>
                <a:t>地址</a:t>
              </a:r>
              <a:endParaRPr kumimoji="1" lang="zh-CN" altLang="en-US" sz="1200" b="1">
                <a:solidFill>
                  <a:srgbClr val="0000FF"/>
                </a:solidFill>
                <a:latin typeface="微软雅黑" pitchFamily="34" charset="-122"/>
                <a:ea typeface="微软雅黑" pitchFamily="34" charset="-122"/>
              </a:endParaRPr>
            </a:p>
          </p:txBody>
        </p:sp>
        <p:sp>
          <p:nvSpPr>
            <p:cNvPr id="145" name="Line 142"/>
            <p:cNvSpPr>
              <a:spLocks noChangeShapeType="1"/>
            </p:cNvSpPr>
            <p:nvPr/>
          </p:nvSpPr>
          <p:spPr bwMode="auto">
            <a:xfrm>
              <a:off x="5166102" y="4668905"/>
              <a:ext cx="0" cy="30480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6" name="AutoShape 143"/>
            <p:cNvSpPr>
              <a:spLocks noChangeArrowheads="1"/>
            </p:cNvSpPr>
            <p:nvPr/>
          </p:nvSpPr>
          <p:spPr bwMode="auto">
            <a:xfrm>
              <a:off x="6799372" y="3348105"/>
              <a:ext cx="334487" cy="781305"/>
            </a:xfrm>
            <a:prstGeom prst="downArrow">
              <a:avLst>
                <a:gd name="adj1" fmla="val 50000"/>
                <a:gd name="adj2" fmla="val 62500"/>
              </a:avLst>
            </a:prstGeom>
            <a:solidFill>
              <a:srgbClr val="0066FF"/>
            </a:solidFill>
            <a:ln w="9525">
              <a:solidFill>
                <a:schemeClr va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a:latin typeface="微软雅黑" pitchFamily="34" charset="-122"/>
                <a:ea typeface="微软雅黑" pitchFamily="34" charset="-122"/>
              </a:endParaRPr>
            </a:p>
          </p:txBody>
        </p:sp>
      </p:grpSp>
      <p:sp>
        <p:nvSpPr>
          <p:cNvPr id="148" name="Text Box 119"/>
          <p:cNvSpPr txBox="1">
            <a:spLocks noChangeArrowheads="1"/>
          </p:cNvSpPr>
          <p:nvPr/>
        </p:nvSpPr>
        <p:spPr bwMode="auto">
          <a:xfrm>
            <a:off x="3349326" y="1826103"/>
            <a:ext cx="68865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spc="120" dirty="0">
                <a:latin typeface="微软雅黑" pitchFamily="34" charset="-122"/>
                <a:ea typeface="微软雅黑" pitchFamily="34" charset="-122"/>
              </a:rPr>
              <a:t>1110</a:t>
            </a:r>
          </a:p>
        </p:txBody>
      </p:sp>
      <p:sp>
        <p:nvSpPr>
          <p:cNvPr id="147" name="Text Box 116"/>
          <p:cNvSpPr txBox="1">
            <a:spLocks noChangeArrowheads="1"/>
          </p:cNvSpPr>
          <p:nvPr/>
        </p:nvSpPr>
        <p:spPr bwMode="auto">
          <a:xfrm>
            <a:off x="1293515" y="2910403"/>
            <a:ext cx="120595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just"/>
            <a:r>
              <a:rPr kumimoji="1" lang="en-US" altLang="zh-CN" sz="1400" b="1" kern="0" spc="140" dirty="0">
                <a:latin typeface="微软雅黑" pitchFamily="34" charset="-122"/>
                <a:ea typeface="微软雅黑" pitchFamily="34" charset="-122"/>
              </a:rPr>
              <a:t>0000000</a:t>
            </a:r>
            <a:r>
              <a:rPr kumimoji="1" lang="en-US" altLang="zh-CN" sz="1400" b="1" kern="0" spc="140" dirty="0">
                <a:solidFill>
                  <a:srgbClr val="CC00CC"/>
                </a:solidFill>
                <a:latin typeface="微软雅黑" pitchFamily="34" charset="-122"/>
                <a:ea typeface="微软雅黑" pitchFamily="34" charset="-122"/>
              </a:rPr>
              <a:t>1</a:t>
            </a:r>
          </a:p>
        </p:txBody>
      </p:sp>
      <p:sp>
        <p:nvSpPr>
          <p:cNvPr id="152" name="Text Box 115"/>
          <p:cNvSpPr txBox="1">
            <a:spLocks noChangeArrowheads="1"/>
          </p:cNvSpPr>
          <p:nvPr/>
        </p:nvSpPr>
        <p:spPr bwMode="auto">
          <a:xfrm>
            <a:off x="2312628" y="2910403"/>
            <a:ext cx="121315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kern="0" spc="100" dirty="0">
                <a:latin typeface="微软雅黑" pitchFamily="34" charset="-122"/>
                <a:ea typeface="微软雅黑" pitchFamily="34" charset="-122"/>
              </a:rPr>
              <a:t>00000000</a:t>
            </a:r>
          </a:p>
        </p:txBody>
      </p:sp>
      <p:sp>
        <p:nvSpPr>
          <p:cNvPr id="153" name="Text Box 117"/>
          <p:cNvSpPr txBox="1">
            <a:spLocks noChangeArrowheads="1"/>
          </p:cNvSpPr>
          <p:nvPr/>
        </p:nvSpPr>
        <p:spPr bwMode="auto">
          <a:xfrm>
            <a:off x="3349326" y="2910403"/>
            <a:ext cx="117211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spc="100" dirty="0">
                <a:latin typeface="微软雅黑" pitchFamily="34" charset="-122"/>
                <a:ea typeface="微软雅黑" pitchFamily="34" charset="-122"/>
              </a:rPr>
              <a:t>01011110</a:t>
            </a:r>
          </a:p>
        </p:txBody>
      </p:sp>
      <p:sp>
        <p:nvSpPr>
          <p:cNvPr id="118" name="矩形 117"/>
          <p:cNvSpPr/>
          <p:nvPr/>
        </p:nvSpPr>
        <p:spPr>
          <a:xfrm>
            <a:off x="1626283" y="4029243"/>
            <a:ext cx="6344699" cy="679801"/>
          </a:xfrm>
          <a:prstGeom prst="rect">
            <a:avLst/>
          </a:prstGeom>
        </p:spPr>
        <p:txBody>
          <a:bodyPr wrap="square">
            <a:spAutoFit/>
          </a:bodyPr>
          <a:lstStyle/>
          <a:p>
            <a:pPr>
              <a:lnSpc>
                <a:spcPts val="2400"/>
              </a:lnSpc>
            </a:pPr>
            <a:r>
              <a:rPr lang="zh-CN" altLang="en-US" sz="1600" b="1" dirty="0">
                <a:latin typeface="微软雅黑" panose="020B0503020204020204" pitchFamily="34" charset="-122"/>
                <a:ea typeface="微软雅黑" panose="020B0503020204020204" pitchFamily="34" charset="-122"/>
              </a:rPr>
              <a:t>收到多播数据报的主机，还要在 </a:t>
            </a: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层对 </a:t>
            </a: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地址进行过滤，把不是本主机要接收的数据报丢弃。</a:t>
            </a:r>
          </a:p>
        </p:txBody>
      </p:sp>
      <p:sp>
        <p:nvSpPr>
          <p:cNvPr id="119" name="乘号 118"/>
          <p:cNvSpPr/>
          <p:nvPr/>
        </p:nvSpPr>
        <p:spPr>
          <a:xfrm>
            <a:off x="4130642" y="1837911"/>
            <a:ext cx="332768" cy="263951"/>
          </a:xfrm>
          <a:prstGeom prst="mathMultiply">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9" name="矩形 148"/>
          <p:cNvSpPr/>
          <p:nvPr/>
        </p:nvSpPr>
        <p:spPr>
          <a:xfrm>
            <a:off x="7815369" y="1798717"/>
            <a:ext cx="485528" cy="1438855"/>
          </a:xfrm>
          <a:prstGeom prst="rect">
            <a:avLst/>
          </a:prstGeom>
        </p:spPr>
        <p:txBody>
          <a:bodyPr wrap="square">
            <a:spAutoFit/>
          </a:bodyPr>
          <a:lstStyle/>
          <a:p>
            <a:pPr>
              <a:lnSpc>
                <a:spcPts val="2100"/>
              </a:lnSpc>
            </a:pPr>
            <a:r>
              <a:rPr lang="en-US" altLang="zh-CN" b="1" dirty="0">
                <a:solidFill>
                  <a:srgbClr val="C00000"/>
                </a:solidFill>
                <a:latin typeface="微软雅黑" panose="020B0503020204020204" pitchFamily="34" charset="-122"/>
                <a:ea typeface="微软雅黑" panose="020B0503020204020204" pitchFamily="34" charset="-122"/>
              </a:rPr>
              <a:t>32</a:t>
            </a:r>
          </a:p>
          <a:p>
            <a:pPr>
              <a:lnSpc>
                <a:spcPts val="2100"/>
              </a:lnSpc>
            </a:pPr>
            <a:endParaRPr lang="en-US" altLang="zh-CN" b="1" dirty="0">
              <a:solidFill>
                <a:srgbClr val="C00000"/>
              </a:solidFill>
              <a:latin typeface="微软雅黑" panose="020B0503020204020204" pitchFamily="34" charset="-122"/>
              <a:ea typeface="微软雅黑" panose="020B0503020204020204" pitchFamily="34" charset="-122"/>
            </a:endParaRPr>
          </a:p>
          <a:p>
            <a:pPr>
              <a:lnSpc>
                <a:spcPts val="2100"/>
              </a:lnSpc>
            </a:pPr>
            <a:r>
              <a:rPr lang="zh-CN" altLang="en-US" b="1" dirty="0">
                <a:solidFill>
                  <a:srgbClr val="C00000"/>
                </a:solidFill>
                <a:latin typeface="微软雅黑" panose="020B0503020204020204" pitchFamily="34" charset="-122"/>
                <a:ea typeface="微软雅黑" panose="020B0503020204020204" pitchFamily="34" charset="-122"/>
              </a:rPr>
              <a:t>：</a:t>
            </a:r>
            <a:endParaRPr lang="en-US" altLang="zh-CN" b="1" dirty="0">
              <a:solidFill>
                <a:srgbClr val="C00000"/>
              </a:solidFill>
              <a:latin typeface="微软雅黑" panose="020B0503020204020204" pitchFamily="34" charset="-122"/>
              <a:ea typeface="微软雅黑" panose="020B0503020204020204" pitchFamily="34" charset="-122"/>
            </a:endParaRPr>
          </a:p>
          <a:p>
            <a:pPr>
              <a:lnSpc>
                <a:spcPts val="2100"/>
              </a:lnSpc>
            </a:pPr>
            <a:endParaRPr lang="en-US" altLang="zh-CN" b="1" dirty="0">
              <a:solidFill>
                <a:srgbClr val="C00000"/>
              </a:solidFill>
              <a:latin typeface="微软雅黑" panose="020B0503020204020204" pitchFamily="34" charset="-122"/>
              <a:ea typeface="微软雅黑" panose="020B0503020204020204" pitchFamily="34" charset="-122"/>
            </a:endParaRPr>
          </a:p>
          <a:p>
            <a:pPr>
              <a:lnSpc>
                <a:spcPts val="2100"/>
              </a:lnSpc>
            </a:pPr>
            <a:r>
              <a:rPr lang="en-US" altLang="zh-CN" b="1" dirty="0">
                <a:solidFill>
                  <a:srgbClr val="C00000"/>
                </a:solidFill>
                <a:latin typeface="微软雅黑" panose="020B0503020204020204" pitchFamily="34" charset="-122"/>
                <a:ea typeface="微软雅黑" panose="020B0503020204020204" pitchFamily="34" charset="-122"/>
              </a:rPr>
              <a:t> 1</a:t>
            </a:r>
            <a:endParaRPr lang="zh-CN" altLang="en-US" b="1" dirty="0">
              <a:solidFill>
                <a:srgbClr val="C0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06727443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9"/>
                                        </p:tgtEl>
                                        <p:attrNameLst>
                                          <p:attrName>style.visibility</p:attrName>
                                        </p:attrNameLst>
                                      </p:cBhvr>
                                      <p:to>
                                        <p:strVal val="visible"/>
                                      </p:to>
                                    </p:set>
                                  </p:childTnLst>
                                </p:cTn>
                              </p:par>
                              <p:par>
                                <p:cTn id="7" presetID="35" presetClass="emph" presetSubtype="0" repeatCount="3000" fill="hold" grpId="1" nodeType="withEffect">
                                  <p:stCondLst>
                                    <p:cond delay="0"/>
                                  </p:stCondLst>
                                  <p:childTnLst>
                                    <p:anim calcmode="discrete" valueType="str">
                                      <p:cBhvr>
                                        <p:cTn id="8" dur="1000" fill="hold"/>
                                        <p:tgtEl>
                                          <p:spTgt spid="149"/>
                                        </p:tgtEl>
                                        <p:attrNameLst>
                                          <p:attrName>style.visibility</p:attrName>
                                        </p:attrNameLst>
                                      </p:cBhvr>
                                      <p:tavLst>
                                        <p:tav tm="0">
                                          <p:val>
                                            <p:strVal val="hidden"/>
                                          </p:val>
                                        </p:tav>
                                        <p:tav tm="50000">
                                          <p:val>
                                            <p:strVal val="visible"/>
                                          </p:val>
                                        </p:tav>
                                      </p:tavLst>
                                    </p:anim>
                                  </p:childTnLst>
                                </p:cTn>
                              </p:par>
                            </p:childTnLst>
                          </p:cTn>
                        </p:par>
                        <p:par>
                          <p:cTn id="9" fill="hold">
                            <p:stCondLst>
                              <p:cond delay="3000"/>
                            </p:stCondLst>
                            <p:childTnLst>
                              <p:par>
                                <p:cTn id="10" presetID="10" presetClass="entr" presetSubtype="0" fill="hold" grpId="0" nodeType="afterEffect">
                                  <p:stCondLst>
                                    <p:cond delay="0"/>
                                  </p:stCondLst>
                                  <p:childTnLst>
                                    <p:set>
                                      <p:cBhvr>
                                        <p:cTn id="11" dur="1" fill="hold">
                                          <p:stCondLst>
                                            <p:cond delay="0"/>
                                          </p:stCondLst>
                                        </p:cTn>
                                        <p:tgtEl>
                                          <p:spTgt spid="118"/>
                                        </p:tgtEl>
                                        <p:attrNameLst>
                                          <p:attrName>style.visibility</p:attrName>
                                        </p:attrNameLst>
                                      </p:cBhvr>
                                      <p:to>
                                        <p:strVal val="visible"/>
                                      </p:to>
                                    </p:set>
                                    <p:animEffect transition="in" filter="fade">
                                      <p:cBhvr>
                                        <p:cTn id="12" dur="1000"/>
                                        <p:tgtEl>
                                          <p:spTgt spid="1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p:bldP spid="149" grpId="0"/>
      <p:bldP spid="149" grpId="1"/>
    </p:bld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38926"/>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1034815" y="598063"/>
            <a:ext cx="707437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4.7.3  </a:t>
            </a:r>
            <a:r>
              <a:rPr lang="zh-CN" altLang="en-US" sz="2400" b="1" dirty="0">
                <a:solidFill>
                  <a:schemeClr val="bg1"/>
                </a:solidFill>
                <a:latin typeface="微软雅黑" pitchFamily="34" charset="-122"/>
                <a:ea typeface="微软雅黑" pitchFamily="34" charset="-122"/>
              </a:rPr>
              <a:t>网际组管理协议 </a:t>
            </a:r>
            <a:r>
              <a:rPr lang="en-US" altLang="zh-CN" sz="2400" b="1" dirty="0">
                <a:solidFill>
                  <a:schemeClr val="bg1"/>
                </a:solidFill>
                <a:latin typeface="微软雅黑" pitchFamily="34" charset="-122"/>
                <a:ea typeface="微软雅黑" pitchFamily="34" charset="-122"/>
              </a:rPr>
              <a:t>IGMP </a:t>
            </a:r>
            <a:r>
              <a:rPr lang="zh-CN" altLang="en-US" sz="2400" b="1" dirty="0">
                <a:solidFill>
                  <a:schemeClr val="bg1"/>
                </a:solidFill>
                <a:latin typeface="微软雅黑" pitchFamily="34" charset="-122"/>
                <a:ea typeface="微软雅黑" pitchFamily="34" charset="-122"/>
              </a:rPr>
              <a:t>和多播路由选择协议</a:t>
            </a:r>
          </a:p>
        </p:txBody>
      </p:sp>
      <p:sp>
        <p:nvSpPr>
          <p:cNvPr id="5" name="Rectangle 8"/>
          <p:cNvSpPr>
            <a:spLocks noChangeArrowheads="1"/>
          </p:cNvSpPr>
          <p:nvPr/>
        </p:nvSpPr>
        <p:spPr bwMode="auto">
          <a:xfrm>
            <a:off x="545145" y="1629666"/>
            <a:ext cx="8124070" cy="21441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网际组管理协议 </a:t>
            </a:r>
            <a:r>
              <a:rPr lang="en-US" altLang="zh-CN" sz="2000" b="1" dirty="0">
                <a:solidFill>
                  <a:srgbClr val="0000FF"/>
                </a:solidFill>
                <a:latin typeface="微软雅黑" pitchFamily="34" charset="-122"/>
                <a:ea typeface="微软雅黑" pitchFamily="34" charset="-122"/>
              </a:rPr>
              <a:t>IGMP </a:t>
            </a:r>
            <a:r>
              <a:rPr lang="en-US" altLang="zh-CN" sz="2000" b="1" dirty="0">
                <a:latin typeface="微软雅黑" pitchFamily="34" charset="-122"/>
                <a:ea typeface="微软雅黑" pitchFamily="34" charset="-122"/>
              </a:rPr>
              <a:t>(Internet Group Management Protocol)</a:t>
            </a:r>
          </a:p>
          <a:p>
            <a:pPr marL="534988" lvl="1" indent="-279400">
              <a:lnSpc>
                <a:spcPts val="32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使多播路由器知道多播组成员信息（</a:t>
            </a:r>
            <a:r>
              <a:rPr lang="zh-CN" altLang="en-US" sz="2000" b="1" dirty="0">
                <a:solidFill>
                  <a:srgbClr val="C00000"/>
                </a:solidFill>
                <a:latin typeface="微软雅黑" pitchFamily="34" charset="-122"/>
                <a:ea typeface="微软雅黑" pitchFamily="34" charset="-122"/>
              </a:rPr>
              <a:t>有无成员</a:t>
            </a:r>
            <a:r>
              <a:rPr lang="zh-CN" altLang="en-US" sz="2000" b="1" dirty="0">
                <a:latin typeface="微软雅黑" pitchFamily="34" charset="-122"/>
                <a:ea typeface="微软雅黑" pitchFamily="34" charset="-122"/>
              </a:rPr>
              <a:t>）。</a:t>
            </a:r>
          </a:p>
          <a:p>
            <a:pPr marL="285750" indent="-285750">
              <a:lnSpc>
                <a:spcPts val="32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多播路由选择协议</a:t>
            </a:r>
            <a:endParaRPr lang="en-US" altLang="zh-CN" sz="2000" b="1" dirty="0">
              <a:solidFill>
                <a:srgbClr val="0000FF"/>
              </a:solidFill>
              <a:latin typeface="微软雅黑" pitchFamily="34" charset="-122"/>
              <a:ea typeface="微软雅黑" pitchFamily="34" charset="-122"/>
            </a:endParaRPr>
          </a:p>
          <a:p>
            <a:pPr marL="534988" lvl="1" indent="-279400">
              <a:lnSpc>
                <a:spcPts val="32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使多播路由器协同工作，把多播数据报用最小代价传送给多播组的所有成员。</a:t>
            </a:r>
          </a:p>
        </p:txBody>
      </p:sp>
      <p:sp>
        <p:nvSpPr>
          <p:cNvPr id="6" name="AutoShape 5"/>
          <p:cNvSpPr>
            <a:spLocks noChangeArrowheads="1"/>
          </p:cNvSpPr>
          <p:nvPr/>
        </p:nvSpPr>
        <p:spPr bwMode="auto">
          <a:xfrm>
            <a:off x="545145" y="126111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1941968" y="122790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多播需要两种协议</a:t>
            </a:r>
          </a:p>
        </p:txBody>
      </p:sp>
    </p:spTree>
    <p:extLst>
      <p:ext uri="{BB962C8B-B14F-4D97-AF65-F5344CB8AC3E}">
        <p14:creationId xmlns:p14="http://schemas.microsoft.com/office/powerpoint/2010/main" val="330717586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33978"/>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4" y="575210"/>
            <a:ext cx="5213215" cy="400110"/>
          </a:xfrm>
          <a:prstGeom prst="rect">
            <a:avLst/>
          </a:prstGeom>
        </p:spPr>
        <p:txBody>
          <a:bodyPr wrap="square">
            <a:spAutoFit/>
          </a:bodyPr>
          <a:lstStyle/>
          <a:p>
            <a:r>
              <a:rPr lang="en-US" altLang="zh-CN" sz="2000" b="1" dirty="0">
                <a:latin typeface="微软雅黑" pitchFamily="34" charset="-122"/>
                <a:ea typeface="微软雅黑" pitchFamily="34" charset="-122"/>
              </a:rPr>
              <a:t>IGMP </a:t>
            </a:r>
            <a:r>
              <a:rPr lang="zh-CN" altLang="en-US" sz="2000" b="1" dirty="0">
                <a:latin typeface="微软雅黑" pitchFamily="34" charset="-122"/>
                <a:ea typeface="微软雅黑" pitchFamily="34" charset="-122"/>
              </a:rPr>
              <a:t>使多播路由器知道多播组成员信息 </a:t>
            </a:r>
          </a:p>
        </p:txBody>
      </p:sp>
      <p:sp>
        <p:nvSpPr>
          <p:cNvPr id="5" name="圆角矩形 4"/>
          <p:cNvSpPr/>
          <p:nvPr/>
        </p:nvSpPr>
        <p:spPr>
          <a:xfrm>
            <a:off x="545144" y="1000548"/>
            <a:ext cx="8053711" cy="298032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grpSp>
        <p:nvGrpSpPr>
          <p:cNvPr id="17" name="组合 16"/>
          <p:cNvGrpSpPr/>
          <p:nvPr/>
        </p:nvGrpSpPr>
        <p:grpSpPr>
          <a:xfrm>
            <a:off x="802441" y="1046469"/>
            <a:ext cx="7344924" cy="2788875"/>
            <a:chOff x="802276" y="1148065"/>
            <a:chExt cx="7464911" cy="3115769"/>
          </a:xfrm>
        </p:grpSpPr>
        <p:sp>
          <p:nvSpPr>
            <p:cNvPr id="86" name="Text Box 7"/>
            <p:cNvSpPr txBox="1">
              <a:spLocks noChangeArrowheads="1"/>
            </p:cNvSpPr>
            <p:nvPr/>
          </p:nvSpPr>
          <p:spPr bwMode="auto">
            <a:xfrm>
              <a:off x="3082055" y="1325308"/>
              <a:ext cx="656890" cy="515778"/>
            </a:xfrm>
            <a:prstGeom prst="rect">
              <a:avLst/>
            </a:prstGeom>
            <a:solidFill>
              <a:schemeClr val="accent6">
                <a:lumMod val="60000"/>
                <a:lumOff val="40000"/>
              </a:schemeClr>
            </a:solidFill>
            <a:ln w="9525">
              <a:solidFill>
                <a:schemeClr val="tx1"/>
              </a:solidFill>
              <a:miter lim="800000"/>
              <a:headEnd/>
              <a:tailEnd/>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未参加</a:t>
              </a:r>
              <a:endParaRPr lang="en-US" altLang="zh-CN" sz="1200" b="1">
                <a:latin typeface="微软雅黑" panose="020B0503020204020204" pitchFamily="34" charset="-122"/>
                <a:ea typeface="微软雅黑" panose="020B0503020204020204" pitchFamily="34" charset="-122"/>
              </a:endParaRPr>
            </a:p>
            <a:p>
              <a:pPr algn="ctr" eaLnBrk="1" hangingPunct="1"/>
              <a:r>
                <a:rPr lang="zh-CN" altLang="en-US" sz="1200" b="1">
                  <a:latin typeface="微软雅黑" panose="020B0503020204020204" pitchFamily="34" charset="-122"/>
                  <a:ea typeface="微软雅黑" panose="020B0503020204020204" pitchFamily="34" charset="-122"/>
                </a:rPr>
                <a:t>多播组</a:t>
              </a:r>
              <a:endParaRPr lang="en-US" altLang="zh-CN" sz="1200" b="1">
                <a:latin typeface="微软雅黑" panose="020B0503020204020204" pitchFamily="34" charset="-122"/>
                <a:ea typeface="微软雅黑" panose="020B0503020204020204" pitchFamily="34" charset="-122"/>
              </a:endParaRPr>
            </a:p>
          </p:txBody>
        </p:sp>
        <p:sp>
          <p:nvSpPr>
            <p:cNvPr id="87" name="Text Box 7"/>
            <p:cNvSpPr txBox="1">
              <a:spLocks noChangeArrowheads="1"/>
            </p:cNvSpPr>
            <p:nvPr/>
          </p:nvSpPr>
          <p:spPr bwMode="auto">
            <a:xfrm>
              <a:off x="5207325" y="1366899"/>
              <a:ext cx="1280868" cy="515778"/>
            </a:xfrm>
            <a:prstGeom prst="rect">
              <a:avLst/>
            </a:prstGeom>
            <a:solidFill>
              <a:srgbClr val="99FFCC"/>
            </a:solidFill>
            <a:ln w="9525">
              <a:solidFill>
                <a:schemeClr val="tx1"/>
              </a:solidFill>
              <a:miter lim="800000"/>
              <a:headEnd/>
              <a:tailEnd/>
            </a:ln>
            <a:effectLst/>
          </p:spPr>
          <p:txBody>
            <a:bodyPr wrap="none">
              <a:spAutoFit/>
            </a:bodyPr>
            <a:lstStyle/>
            <a:p>
              <a:pPr algn="ctr">
                <a:defRPr/>
              </a:pPr>
              <a:r>
                <a:rPr lang="zh-CN" altLang="en-US" sz="1200" b="1" dirty="0">
                  <a:latin typeface="微软雅黑" panose="020B0503020204020204" pitchFamily="34" charset="-122"/>
                  <a:ea typeface="微软雅黑" panose="020B0503020204020204" pitchFamily="34" charset="-122"/>
                </a:rPr>
                <a:t>参加多播组</a:t>
              </a:r>
              <a:endParaRPr lang="en-US" altLang="zh-CN" sz="1200" b="1" dirty="0">
                <a:latin typeface="微软雅黑" panose="020B0503020204020204" pitchFamily="34" charset="-122"/>
                <a:ea typeface="微软雅黑" panose="020B0503020204020204" pitchFamily="34" charset="-122"/>
              </a:endParaRPr>
            </a:p>
            <a:p>
              <a:pPr algn="ctr">
                <a:defRPr/>
              </a:pPr>
              <a:r>
                <a:rPr lang="en-US" altLang="zh-CN" sz="1200" b="1" dirty="0">
                  <a:latin typeface="微软雅黑" panose="020B0503020204020204" pitchFamily="34" charset="-122"/>
                  <a:ea typeface="微软雅黑" panose="020B0503020204020204" pitchFamily="34" charset="-122"/>
                </a:rPr>
                <a:t>226.15.37.123</a:t>
              </a:r>
            </a:p>
          </p:txBody>
        </p:sp>
        <p:sp>
          <p:nvSpPr>
            <p:cNvPr id="88" name="Line 47"/>
            <p:cNvSpPr>
              <a:spLocks noChangeShapeType="1"/>
            </p:cNvSpPr>
            <p:nvPr/>
          </p:nvSpPr>
          <p:spPr bwMode="auto">
            <a:xfrm>
              <a:off x="4501286" y="3209812"/>
              <a:ext cx="0" cy="413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9" name="Line 46"/>
            <p:cNvSpPr>
              <a:spLocks noChangeShapeType="1"/>
            </p:cNvSpPr>
            <p:nvPr/>
          </p:nvSpPr>
          <p:spPr bwMode="auto">
            <a:xfrm flipV="1">
              <a:off x="2373147" y="2872270"/>
              <a:ext cx="282797" cy="4626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0" name="Line 45"/>
            <p:cNvSpPr>
              <a:spLocks noChangeShapeType="1"/>
            </p:cNvSpPr>
            <p:nvPr/>
          </p:nvSpPr>
          <p:spPr bwMode="auto">
            <a:xfrm>
              <a:off x="2373147" y="2507359"/>
              <a:ext cx="294525" cy="35448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1" name="Line 44"/>
            <p:cNvSpPr>
              <a:spLocks noChangeShapeType="1"/>
            </p:cNvSpPr>
            <p:nvPr/>
          </p:nvSpPr>
          <p:spPr bwMode="auto">
            <a:xfrm>
              <a:off x="4501286" y="1974328"/>
              <a:ext cx="0" cy="41443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2" name="Line 43"/>
            <p:cNvSpPr>
              <a:spLocks noChangeShapeType="1"/>
            </p:cNvSpPr>
            <p:nvPr/>
          </p:nvSpPr>
          <p:spPr bwMode="auto">
            <a:xfrm>
              <a:off x="5268875" y="2861843"/>
              <a:ext cx="100607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3" name="Line 42"/>
            <p:cNvSpPr>
              <a:spLocks noChangeShapeType="1"/>
            </p:cNvSpPr>
            <p:nvPr/>
          </p:nvSpPr>
          <p:spPr bwMode="auto">
            <a:xfrm>
              <a:off x="2786264" y="2861843"/>
              <a:ext cx="94612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37"/>
            <p:cNvSpPr>
              <a:spLocks noChangeShapeType="1"/>
            </p:cNvSpPr>
            <p:nvPr/>
          </p:nvSpPr>
          <p:spPr bwMode="auto">
            <a:xfrm>
              <a:off x="6333596" y="2920489"/>
              <a:ext cx="354473" cy="47308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36"/>
            <p:cNvSpPr>
              <a:spLocks noChangeShapeType="1"/>
            </p:cNvSpPr>
            <p:nvPr/>
          </p:nvSpPr>
          <p:spPr bwMode="auto">
            <a:xfrm flipV="1">
              <a:off x="6333596" y="2566005"/>
              <a:ext cx="295828" cy="29583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31"/>
            <p:cNvSpPr>
              <a:spLocks noChangeShapeType="1"/>
            </p:cNvSpPr>
            <p:nvPr/>
          </p:nvSpPr>
          <p:spPr bwMode="auto">
            <a:xfrm flipV="1">
              <a:off x="4618575" y="1619843"/>
              <a:ext cx="354473" cy="29583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30"/>
            <p:cNvSpPr>
              <a:spLocks noChangeShapeType="1"/>
            </p:cNvSpPr>
            <p:nvPr/>
          </p:nvSpPr>
          <p:spPr bwMode="auto">
            <a:xfrm flipH="1" flipV="1">
              <a:off x="3909630" y="1619843"/>
              <a:ext cx="531709" cy="29583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98" name="Picture 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284953" y="2051220"/>
              <a:ext cx="414420" cy="235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99" name="Picture 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32393" y="1385257"/>
              <a:ext cx="410510" cy="3714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0" name="Text Box 7"/>
            <p:cNvSpPr txBox="1">
              <a:spLocks noChangeArrowheads="1"/>
            </p:cNvSpPr>
            <p:nvPr/>
          </p:nvSpPr>
          <p:spPr bwMode="auto">
            <a:xfrm>
              <a:off x="4479132" y="1148065"/>
              <a:ext cx="116570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128.56.24.34</a:t>
              </a:r>
            </a:p>
          </p:txBody>
        </p:sp>
        <p:sp>
          <p:nvSpPr>
            <p:cNvPr id="101" name="Text Box 8"/>
            <p:cNvSpPr txBox="1">
              <a:spLocks noChangeArrowheads="1"/>
            </p:cNvSpPr>
            <p:nvPr/>
          </p:nvSpPr>
          <p:spPr bwMode="auto">
            <a:xfrm>
              <a:off x="1836225" y="2034277"/>
              <a:ext cx="116570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135.27.74.52</a:t>
              </a:r>
            </a:p>
          </p:txBody>
        </p:sp>
        <p:sp>
          <p:nvSpPr>
            <p:cNvPr id="102" name="Text Box 9"/>
            <p:cNvSpPr txBox="1">
              <a:spLocks noChangeArrowheads="1"/>
            </p:cNvSpPr>
            <p:nvPr/>
          </p:nvSpPr>
          <p:spPr bwMode="auto">
            <a:xfrm>
              <a:off x="6252797" y="2034277"/>
              <a:ext cx="116570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130.12.14.56</a:t>
              </a:r>
            </a:p>
          </p:txBody>
        </p:sp>
        <p:sp>
          <p:nvSpPr>
            <p:cNvPr id="103" name="Text Box 10"/>
            <p:cNvSpPr txBox="1">
              <a:spLocks noChangeArrowheads="1"/>
            </p:cNvSpPr>
            <p:nvPr/>
          </p:nvSpPr>
          <p:spPr bwMode="auto">
            <a:xfrm>
              <a:off x="6370086" y="2881392"/>
              <a:ext cx="116570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130.12.14.43</a:t>
              </a:r>
            </a:p>
          </p:txBody>
        </p:sp>
        <p:pic>
          <p:nvPicPr>
            <p:cNvPr id="104" name="Picture 1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68443" y="1374831"/>
              <a:ext cx="410511" cy="3714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1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77319" y="3099036"/>
              <a:ext cx="410510" cy="3714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6" name="Picture 2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08596" y="2262347"/>
              <a:ext cx="410510" cy="3714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7" name="Picture 2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69476" y="3096429"/>
              <a:ext cx="410511" cy="3714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 name="Picture 2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21258" y="2262347"/>
              <a:ext cx="410510" cy="3714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 name="Line 32"/>
            <p:cNvSpPr>
              <a:spLocks noChangeShapeType="1"/>
            </p:cNvSpPr>
            <p:nvPr/>
          </p:nvSpPr>
          <p:spPr bwMode="auto">
            <a:xfrm flipV="1">
              <a:off x="4028221" y="3689409"/>
              <a:ext cx="413117" cy="2293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110" name="Picture 1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830133" y="3748056"/>
              <a:ext cx="410511" cy="3714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 name="Line 34"/>
            <p:cNvSpPr>
              <a:spLocks noChangeShapeType="1"/>
            </p:cNvSpPr>
            <p:nvPr/>
          </p:nvSpPr>
          <p:spPr bwMode="auto">
            <a:xfrm flipH="1" flipV="1">
              <a:off x="4559930" y="3689409"/>
              <a:ext cx="473065" cy="2293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112" name="Picture 1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33604" y="3768908"/>
              <a:ext cx="410511" cy="3714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 name="Picture 3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24651" y="2743247"/>
              <a:ext cx="414420" cy="235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14" name="Picture 4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284953" y="3289311"/>
              <a:ext cx="414420" cy="235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15" name="Picture 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23448" y="2744551"/>
              <a:ext cx="414420" cy="235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116" name="Group 48"/>
            <p:cNvGrpSpPr>
              <a:grpSpLocks/>
            </p:cNvGrpSpPr>
            <p:nvPr/>
          </p:nvGrpSpPr>
          <p:grpSpPr bwMode="auto">
            <a:xfrm>
              <a:off x="3673749" y="2388762"/>
              <a:ext cx="1713719" cy="827566"/>
              <a:chOff x="912" y="768"/>
              <a:chExt cx="2400" cy="1584"/>
            </a:xfrm>
            <a:solidFill>
              <a:srgbClr val="0066FF"/>
            </a:solidFill>
          </p:grpSpPr>
          <p:sp>
            <p:nvSpPr>
              <p:cNvPr id="117" name="Oval 4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8" name="Oval 5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9" name="Oval 5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0" name="Oval 5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1" name="Oval 5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2" name="Oval 5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3" name="Oval 5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4" name="Oval 5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5" name="Oval 5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26" name="Group 58"/>
              <p:cNvGrpSpPr>
                <a:grpSpLocks/>
              </p:cNvGrpSpPr>
              <p:nvPr/>
            </p:nvGrpSpPr>
            <p:grpSpPr bwMode="auto">
              <a:xfrm>
                <a:off x="912" y="768"/>
                <a:ext cx="2386" cy="1553"/>
                <a:chOff x="912" y="768"/>
                <a:chExt cx="2386" cy="1553"/>
              </a:xfrm>
              <a:grpFill/>
            </p:grpSpPr>
            <p:sp>
              <p:nvSpPr>
                <p:cNvPr id="127" name="Oval 5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8" name="Oval 6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9" name="Oval 6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0" name="Oval 6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1" name="Oval 6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2" name="Oval 6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3" name="Oval 6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4" name="Oval 6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5" name="Oval 6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136" name="Text Box 68"/>
            <p:cNvSpPr txBox="1">
              <a:spLocks noChangeArrowheads="1"/>
            </p:cNvSpPr>
            <p:nvPr/>
          </p:nvSpPr>
          <p:spPr bwMode="auto">
            <a:xfrm>
              <a:off x="3919838" y="2552111"/>
              <a:ext cx="1338327" cy="515778"/>
            </a:xfrm>
            <a:prstGeom prst="rect">
              <a:avLst/>
            </a:prstGeom>
            <a:solidFill>
              <a:srgbClr val="99FFCC"/>
            </a:solidFill>
            <a:ln w="9525">
              <a:solidFill>
                <a:schemeClr val="tx1"/>
              </a:solidFill>
              <a:miter lim="800000"/>
              <a:headEnd/>
              <a:tailEnd/>
            </a:ln>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多播组</a:t>
              </a:r>
            </a:p>
            <a:p>
              <a:pPr algn="ctr" eaLnBrk="1" hangingPunct="1"/>
              <a:r>
                <a:rPr lang="en-US" altLang="zh-CN" sz="1200" b="1" dirty="0">
                  <a:latin typeface="微软雅黑" panose="020B0503020204020204" pitchFamily="34" charset="-122"/>
                  <a:ea typeface="微软雅黑" panose="020B0503020204020204" pitchFamily="34" charset="-122"/>
                </a:rPr>
                <a:t>226.15.37.123</a:t>
              </a:r>
            </a:p>
          </p:txBody>
        </p:sp>
        <p:sp>
          <p:nvSpPr>
            <p:cNvPr id="137" name="Text Box 74"/>
            <p:cNvSpPr txBox="1">
              <a:spLocks noChangeArrowheads="1"/>
            </p:cNvSpPr>
            <p:nvPr/>
          </p:nvSpPr>
          <p:spPr bwMode="auto">
            <a:xfrm>
              <a:off x="2727619" y="2388762"/>
              <a:ext cx="622677" cy="309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solidFill>
                    <a:srgbClr val="0000FF"/>
                  </a:solidFill>
                  <a:latin typeface="微软雅黑" panose="020B0503020204020204" pitchFamily="34" charset="-122"/>
                  <a:ea typeface="微软雅黑" panose="020B0503020204020204" pitchFamily="34" charset="-122"/>
                </a:rPr>
                <a:t>IGMP</a:t>
              </a:r>
            </a:p>
          </p:txBody>
        </p:sp>
        <p:sp>
          <p:nvSpPr>
            <p:cNvPr id="138" name="Text Box 77"/>
            <p:cNvSpPr txBox="1">
              <a:spLocks noChangeArrowheads="1"/>
            </p:cNvSpPr>
            <p:nvPr/>
          </p:nvSpPr>
          <p:spPr bwMode="auto">
            <a:xfrm>
              <a:off x="5831333" y="2373659"/>
              <a:ext cx="622677" cy="309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solidFill>
                    <a:srgbClr val="0000FF"/>
                  </a:solidFill>
                  <a:latin typeface="微软雅黑" panose="020B0503020204020204" pitchFamily="34" charset="-122"/>
                  <a:ea typeface="微软雅黑" panose="020B0503020204020204" pitchFamily="34" charset="-122"/>
                </a:rPr>
                <a:t>IGMP</a:t>
              </a:r>
            </a:p>
          </p:txBody>
        </p:sp>
        <p:sp>
          <p:nvSpPr>
            <p:cNvPr id="139" name="Text Box 78"/>
            <p:cNvSpPr txBox="1">
              <a:spLocks noChangeArrowheads="1"/>
            </p:cNvSpPr>
            <p:nvPr/>
          </p:nvSpPr>
          <p:spPr bwMode="auto">
            <a:xfrm>
              <a:off x="4726741" y="1837486"/>
              <a:ext cx="622677" cy="309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0000FF"/>
                  </a:solidFill>
                  <a:latin typeface="微软雅黑" panose="020B0503020204020204" pitchFamily="34" charset="-122"/>
                  <a:ea typeface="微软雅黑" panose="020B0503020204020204" pitchFamily="34" charset="-122"/>
                </a:rPr>
                <a:t>IGMP</a:t>
              </a:r>
            </a:p>
          </p:txBody>
        </p:sp>
        <p:sp>
          <p:nvSpPr>
            <p:cNvPr id="140" name="Text Box 79"/>
            <p:cNvSpPr txBox="1">
              <a:spLocks noChangeArrowheads="1"/>
            </p:cNvSpPr>
            <p:nvPr/>
          </p:nvSpPr>
          <p:spPr bwMode="auto">
            <a:xfrm>
              <a:off x="5768004" y="3109462"/>
              <a:ext cx="622677" cy="309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0000FF"/>
                  </a:solidFill>
                  <a:latin typeface="微软雅黑" panose="020B0503020204020204" pitchFamily="34" charset="-122"/>
                  <a:ea typeface="微软雅黑" panose="020B0503020204020204" pitchFamily="34" charset="-122"/>
                </a:rPr>
                <a:t>IGMP</a:t>
              </a:r>
            </a:p>
          </p:txBody>
        </p:sp>
        <p:sp>
          <p:nvSpPr>
            <p:cNvPr id="141" name="Text Box 81"/>
            <p:cNvSpPr txBox="1">
              <a:spLocks noChangeArrowheads="1"/>
            </p:cNvSpPr>
            <p:nvPr/>
          </p:nvSpPr>
          <p:spPr bwMode="auto">
            <a:xfrm>
              <a:off x="4028220" y="1974328"/>
              <a:ext cx="35458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R</a:t>
              </a:r>
              <a:r>
                <a:rPr lang="en-US" altLang="zh-CN" sz="1200" b="1" baseline="-25000">
                  <a:latin typeface="微软雅黑" panose="020B0503020204020204" pitchFamily="34" charset="-122"/>
                  <a:ea typeface="微软雅黑" panose="020B0503020204020204" pitchFamily="34" charset="-122"/>
                </a:rPr>
                <a:t>1</a:t>
              </a:r>
            </a:p>
          </p:txBody>
        </p:sp>
        <p:sp>
          <p:nvSpPr>
            <p:cNvPr id="142" name="Text Box 82"/>
            <p:cNvSpPr txBox="1">
              <a:spLocks noChangeArrowheads="1"/>
            </p:cNvSpPr>
            <p:nvPr/>
          </p:nvSpPr>
          <p:spPr bwMode="auto">
            <a:xfrm>
              <a:off x="4003461" y="3235877"/>
              <a:ext cx="35458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R</a:t>
              </a:r>
              <a:r>
                <a:rPr lang="en-US" altLang="zh-CN" sz="1200" b="1" baseline="-25000">
                  <a:latin typeface="微软雅黑" panose="020B0503020204020204" pitchFamily="34" charset="-122"/>
                  <a:ea typeface="微软雅黑" panose="020B0503020204020204" pitchFamily="34" charset="-122"/>
                </a:rPr>
                <a:t>4</a:t>
              </a:r>
            </a:p>
          </p:txBody>
        </p:sp>
        <p:sp>
          <p:nvSpPr>
            <p:cNvPr id="143" name="Text Box 83"/>
            <p:cNvSpPr txBox="1">
              <a:spLocks noChangeArrowheads="1"/>
            </p:cNvSpPr>
            <p:nvPr/>
          </p:nvSpPr>
          <p:spPr bwMode="auto">
            <a:xfrm>
              <a:off x="5422653" y="2526907"/>
              <a:ext cx="35458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R</a:t>
              </a:r>
              <a:r>
                <a:rPr lang="en-US" altLang="zh-CN" sz="1200" b="1" baseline="-25000">
                  <a:latin typeface="微软雅黑" panose="020B0503020204020204" pitchFamily="34" charset="-122"/>
                  <a:ea typeface="微软雅黑" panose="020B0503020204020204" pitchFamily="34" charset="-122"/>
                </a:rPr>
                <a:t>3</a:t>
              </a:r>
            </a:p>
          </p:txBody>
        </p:sp>
        <p:sp>
          <p:nvSpPr>
            <p:cNvPr id="144" name="Text Box 84"/>
            <p:cNvSpPr txBox="1">
              <a:spLocks noChangeArrowheads="1"/>
            </p:cNvSpPr>
            <p:nvPr/>
          </p:nvSpPr>
          <p:spPr bwMode="auto">
            <a:xfrm>
              <a:off x="3354463" y="2585554"/>
              <a:ext cx="35458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R</a:t>
              </a:r>
              <a:r>
                <a:rPr lang="en-US" altLang="zh-CN" sz="1200" b="1" baseline="-25000">
                  <a:latin typeface="微软雅黑" panose="020B0503020204020204" pitchFamily="34" charset="-122"/>
                  <a:ea typeface="微软雅黑" panose="020B0503020204020204" pitchFamily="34" charset="-122"/>
                </a:rPr>
                <a:t>2</a:t>
              </a:r>
            </a:p>
          </p:txBody>
        </p:sp>
        <p:sp>
          <p:nvSpPr>
            <p:cNvPr id="145" name="Text Box 7"/>
            <p:cNvSpPr txBox="1">
              <a:spLocks noChangeArrowheads="1"/>
            </p:cNvSpPr>
            <p:nvPr/>
          </p:nvSpPr>
          <p:spPr bwMode="auto">
            <a:xfrm>
              <a:off x="802276" y="2270166"/>
              <a:ext cx="1280868" cy="515778"/>
            </a:xfrm>
            <a:prstGeom prst="rect">
              <a:avLst/>
            </a:prstGeom>
            <a:solidFill>
              <a:srgbClr val="99FFCC"/>
            </a:solidFill>
            <a:ln w="9525">
              <a:solidFill>
                <a:schemeClr val="tx1"/>
              </a:solidFill>
              <a:miter lim="800000"/>
              <a:headEnd/>
              <a:tailEnd/>
            </a:ln>
            <a:effectLst/>
          </p:spPr>
          <p:txBody>
            <a:bodyPr wrap="none">
              <a:spAutoFit/>
            </a:bodyPr>
            <a:lstStyle/>
            <a:p>
              <a:pPr algn="ctr">
                <a:defRPr/>
              </a:pPr>
              <a:r>
                <a:rPr lang="zh-CN" altLang="en-US" sz="1200" b="1" dirty="0">
                  <a:latin typeface="微软雅黑" panose="020B0503020204020204" pitchFamily="34" charset="-122"/>
                  <a:ea typeface="微软雅黑" panose="020B0503020204020204" pitchFamily="34" charset="-122"/>
                </a:rPr>
                <a:t>参加多播组</a:t>
              </a:r>
              <a:endParaRPr lang="en-US" altLang="zh-CN" sz="1200" b="1" dirty="0">
                <a:latin typeface="微软雅黑" panose="020B0503020204020204" pitchFamily="34" charset="-122"/>
                <a:ea typeface="微软雅黑" panose="020B0503020204020204" pitchFamily="34" charset="-122"/>
              </a:endParaRPr>
            </a:p>
            <a:p>
              <a:pPr algn="ctr">
                <a:defRPr/>
              </a:pPr>
              <a:r>
                <a:rPr lang="en-US" altLang="zh-CN" sz="1200" b="1" dirty="0">
                  <a:latin typeface="微软雅黑" panose="020B0503020204020204" pitchFamily="34" charset="-122"/>
                  <a:ea typeface="微软雅黑" panose="020B0503020204020204" pitchFamily="34" charset="-122"/>
                </a:rPr>
                <a:t>226.15.37.123</a:t>
              </a:r>
            </a:p>
          </p:txBody>
        </p:sp>
        <p:sp>
          <p:nvSpPr>
            <p:cNvPr id="146" name="Text Box 7"/>
            <p:cNvSpPr txBox="1">
              <a:spLocks noChangeArrowheads="1"/>
            </p:cNvSpPr>
            <p:nvPr/>
          </p:nvSpPr>
          <p:spPr bwMode="auto">
            <a:xfrm>
              <a:off x="6986319" y="2270166"/>
              <a:ext cx="1280868" cy="515778"/>
            </a:xfrm>
            <a:prstGeom prst="rect">
              <a:avLst/>
            </a:prstGeom>
            <a:solidFill>
              <a:srgbClr val="99FFCC"/>
            </a:solidFill>
            <a:ln w="9525">
              <a:solidFill>
                <a:schemeClr val="tx1"/>
              </a:solidFill>
              <a:miter lim="800000"/>
              <a:headEnd/>
              <a:tailEnd/>
            </a:ln>
            <a:effectLst/>
          </p:spPr>
          <p:txBody>
            <a:bodyPr wrap="none">
              <a:spAutoFit/>
            </a:bodyPr>
            <a:lstStyle/>
            <a:p>
              <a:pPr algn="ctr">
                <a:defRPr/>
              </a:pPr>
              <a:r>
                <a:rPr lang="zh-CN" altLang="en-US" sz="1200" b="1" dirty="0">
                  <a:latin typeface="微软雅黑" panose="020B0503020204020204" pitchFamily="34" charset="-122"/>
                  <a:ea typeface="微软雅黑" panose="020B0503020204020204" pitchFamily="34" charset="-122"/>
                </a:rPr>
                <a:t>参加多播组</a:t>
              </a:r>
              <a:endParaRPr lang="en-US" altLang="zh-CN" sz="1200" b="1" dirty="0">
                <a:latin typeface="微软雅黑" panose="020B0503020204020204" pitchFamily="34" charset="-122"/>
                <a:ea typeface="微软雅黑" panose="020B0503020204020204" pitchFamily="34" charset="-122"/>
              </a:endParaRPr>
            </a:p>
            <a:p>
              <a:pPr algn="ctr">
                <a:defRPr/>
              </a:pPr>
              <a:r>
                <a:rPr lang="en-US" altLang="zh-CN" sz="1200" b="1" dirty="0">
                  <a:latin typeface="微软雅黑" panose="020B0503020204020204" pitchFamily="34" charset="-122"/>
                  <a:ea typeface="微软雅黑" panose="020B0503020204020204" pitchFamily="34" charset="-122"/>
                </a:rPr>
                <a:t>226.15.37.123</a:t>
              </a:r>
            </a:p>
          </p:txBody>
        </p:sp>
        <p:sp>
          <p:nvSpPr>
            <p:cNvPr id="147" name="Text Box 7"/>
            <p:cNvSpPr txBox="1">
              <a:spLocks noChangeArrowheads="1"/>
            </p:cNvSpPr>
            <p:nvPr/>
          </p:nvSpPr>
          <p:spPr bwMode="auto">
            <a:xfrm>
              <a:off x="5262323" y="3748056"/>
              <a:ext cx="656890" cy="515778"/>
            </a:xfrm>
            <a:prstGeom prst="rect">
              <a:avLst/>
            </a:prstGeom>
            <a:solidFill>
              <a:schemeClr val="accent6">
                <a:lumMod val="60000"/>
                <a:lumOff val="40000"/>
              </a:schemeClr>
            </a:solidFill>
            <a:ln w="9525">
              <a:solidFill>
                <a:schemeClr val="tx1"/>
              </a:solidFill>
              <a:miter lim="800000"/>
              <a:headEnd/>
              <a:tailEnd/>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未参加</a:t>
              </a:r>
              <a:endParaRPr lang="en-US" altLang="zh-CN" sz="1200" b="1">
                <a:latin typeface="微软雅黑" panose="020B0503020204020204" pitchFamily="34" charset="-122"/>
                <a:ea typeface="微软雅黑" panose="020B0503020204020204" pitchFamily="34" charset="-122"/>
              </a:endParaRPr>
            </a:p>
            <a:p>
              <a:pPr algn="ctr" eaLnBrk="1" hangingPunct="1"/>
              <a:r>
                <a:rPr lang="zh-CN" altLang="en-US" sz="1200" b="1">
                  <a:latin typeface="微软雅黑" panose="020B0503020204020204" pitchFamily="34" charset="-122"/>
                  <a:ea typeface="微软雅黑" panose="020B0503020204020204" pitchFamily="34" charset="-122"/>
                </a:rPr>
                <a:t>多播组</a:t>
              </a:r>
              <a:endParaRPr lang="en-US" altLang="zh-CN" sz="1200" b="1">
                <a:latin typeface="微软雅黑" panose="020B0503020204020204" pitchFamily="34" charset="-122"/>
                <a:ea typeface="微软雅黑" panose="020B0503020204020204" pitchFamily="34" charset="-122"/>
              </a:endParaRPr>
            </a:p>
          </p:txBody>
        </p:sp>
        <p:sp>
          <p:nvSpPr>
            <p:cNvPr id="148" name="Text Box 7"/>
            <p:cNvSpPr txBox="1">
              <a:spLocks noChangeArrowheads="1"/>
            </p:cNvSpPr>
            <p:nvPr/>
          </p:nvSpPr>
          <p:spPr bwMode="auto">
            <a:xfrm>
              <a:off x="3140700" y="3741540"/>
              <a:ext cx="656890" cy="515778"/>
            </a:xfrm>
            <a:prstGeom prst="rect">
              <a:avLst/>
            </a:prstGeom>
            <a:solidFill>
              <a:schemeClr val="accent6">
                <a:lumMod val="60000"/>
                <a:lumOff val="40000"/>
              </a:schemeClr>
            </a:solidFill>
            <a:ln w="9525">
              <a:solidFill>
                <a:schemeClr val="tx1"/>
              </a:solidFill>
              <a:miter lim="800000"/>
              <a:headEnd/>
              <a:tailEnd/>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未参加</a:t>
              </a:r>
              <a:endParaRPr lang="en-US" altLang="zh-CN" sz="1200" b="1">
                <a:latin typeface="微软雅黑" panose="020B0503020204020204" pitchFamily="34" charset="-122"/>
                <a:ea typeface="微软雅黑" panose="020B0503020204020204" pitchFamily="34" charset="-122"/>
              </a:endParaRPr>
            </a:p>
            <a:p>
              <a:pPr algn="ctr" eaLnBrk="1" hangingPunct="1"/>
              <a:r>
                <a:rPr lang="zh-CN" altLang="en-US" sz="1200" b="1">
                  <a:latin typeface="微软雅黑" panose="020B0503020204020204" pitchFamily="34" charset="-122"/>
                  <a:ea typeface="微软雅黑" panose="020B0503020204020204" pitchFamily="34" charset="-122"/>
                </a:rPr>
                <a:t>多播组</a:t>
              </a:r>
              <a:endParaRPr lang="en-US" altLang="zh-CN" sz="1200" b="1">
                <a:latin typeface="微软雅黑" panose="020B0503020204020204" pitchFamily="34" charset="-122"/>
                <a:ea typeface="微软雅黑" panose="020B0503020204020204" pitchFamily="34" charset="-122"/>
              </a:endParaRPr>
            </a:p>
          </p:txBody>
        </p:sp>
        <p:sp>
          <p:nvSpPr>
            <p:cNvPr id="149" name="Text Box 7"/>
            <p:cNvSpPr txBox="1">
              <a:spLocks noChangeArrowheads="1"/>
            </p:cNvSpPr>
            <p:nvPr/>
          </p:nvSpPr>
          <p:spPr bwMode="auto">
            <a:xfrm>
              <a:off x="1368338" y="3097732"/>
              <a:ext cx="656890" cy="515778"/>
            </a:xfrm>
            <a:prstGeom prst="rect">
              <a:avLst/>
            </a:prstGeom>
            <a:solidFill>
              <a:schemeClr val="accent6">
                <a:lumMod val="60000"/>
                <a:lumOff val="40000"/>
              </a:schemeClr>
            </a:solidFill>
            <a:ln w="9525">
              <a:solidFill>
                <a:schemeClr val="tx1"/>
              </a:solidFill>
              <a:miter lim="800000"/>
              <a:headEnd/>
              <a:tailEnd/>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未参加</a:t>
              </a:r>
              <a:endParaRPr lang="en-US" altLang="zh-CN" sz="1200" b="1" dirty="0">
                <a:latin typeface="微软雅黑" panose="020B0503020204020204" pitchFamily="34" charset="-122"/>
                <a:ea typeface="微软雅黑" panose="020B0503020204020204" pitchFamily="34" charset="-122"/>
              </a:endParaRPr>
            </a:p>
            <a:p>
              <a:pPr algn="ctr" eaLnBrk="1" hangingPunct="1"/>
              <a:r>
                <a:rPr lang="zh-CN" altLang="en-US" sz="1200" b="1" dirty="0">
                  <a:latin typeface="微软雅黑" panose="020B0503020204020204" pitchFamily="34" charset="-122"/>
                  <a:ea typeface="微软雅黑" panose="020B0503020204020204" pitchFamily="34" charset="-122"/>
                </a:rPr>
                <a:t>多播组</a:t>
              </a:r>
              <a:endParaRPr lang="en-US" altLang="zh-CN" sz="1200" b="1" dirty="0">
                <a:latin typeface="微软雅黑" panose="020B0503020204020204" pitchFamily="34" charset="-122"/>
                <a:ea typeface="微软雅黑" panose="020B0503020204020204" pitchFamily="34" charset="-122"/>
              </a:endParaRPr>
            </a:p>
          </p:txBody>
        </p:sp>
        <p:sp>
          <p:nvSpPr>
            <p:cNvPr id="150" name="Text Box 7"/>
            <p:cNvSpPr txBox="1">
              <a:spLocks noChangeArrowheads="1"/>
            </p:cNvSpPr>
            <p:nvPr/>
          </p:nvSpPr>
          <p:spPr bwMode="auto">
            <a:xfrm>
              <a:off x="6986318" y="3157682"/>
              <a:ext cx="1280868" cy="515778"/>
            </a:xfrm>
            <a:prstGeom prst="rect">
              <a:avLst/>
            </a:prstGeom>
            <a:solidFill>
              <a:srgbClr val="99FFCC"/>
            </a:solidFill>
            <a:ln w="9525">
              <a:solidFill>
                <a:schemeClr val="tx1"/>
              </a:solidFill>
              <a:miter lim="800000"/>
              <a:headEnd/>
              <a:tailEnd/>
            </a:ln>
            <a:effectLst/>
          </p:spPr>
          <p:txBody>
            <a:bodyPr wrap="none">
              <a:spAutoFit/>
            </a:bodyPr>
            <a:lstStyle/>
            <a:p>
              <a:pPr algn="ctr">
                <a:defRPr/>
              </a:pPr>
              <a:r>
                <a:rPr lang="zh-CN" altLang="en-US" sz="1200" b="1" dirty="0">
                  <a:latin typeface="微软雅黑" panose="020B0503020204020204" pitchFamily="34" charset="-122"/>
                  <a:ea typeface="微软雅黑" panose="020B0503020204020204" pitchFamily="34" charset="-122"/>
                </a:rPr>
                <a:t>参加多播组</a:t>
              </a:r>
              <a:endParaRPr lang="en-US" altLang="zh-CN" sz="1200" b="1" dirty="0">
                <a:latin typeface="微软雅黑" panose="020B0503020204020204" pitchFamily="34" charset="-122"/>
                <a:ea typeface="微软雅黑" panose="020B0503020204020204" pitchFamily="34" charset="-122"/>
              </a:endParaRPr>
            </a:p>
            <a:p>
              <a:pPr algn="ctr">
                <a:defRPr/>
              </a:pPr>
              <a:r>
                <a:rPr lang="en-US" altLang="zh-CN" sz="1200" b="1" dirty="0">
                  <a:latin typeface="微软雅黑" panose="020B0503020204020204" pitchFamily="34" charset="-122"/>
                  <a:ea typeface="微软雅黑" panose="020B0503020204020204" pitchFamily="34" charset="-122"/>
                </a:rPr>
                <a:t>226.15.37.123</a:t>
              </a:r>
            </a:p>
          </p:txBody>
        </p:sp>
        <p:pic>
          <p:nvPicPr>
            <p:cNvPr id="151"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354023" y="1859641"/>
              <a:ext cx="327106" cy="13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52"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121173" y="2803197"/>
              <a:ext cx="328408" cy="13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53"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334475" y="3587755"/>
              <a:ext cx="327105" cy="13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54"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584267" y="2807107"/>
              <a:ext cx="327106" cy="13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cxnSp>
          <p:nvCxnSpPr>
            <p:cNvPr id="155" name="直接箭头连接符 154"/>
            <p:cNvCxnSpPr>
              <a:endCxn id="104" idx="2"/>
            </p:cNvCxnSpPr>
            <p:nvPr/>
          </p:nvCxnSpPr>
          <p:spPr>
            <a:xfrm flipV="1">
              <a:off x="4559930" y="1746259"/>
              <a:ext cx="414420" cy="346665"/>
            </a:xfrm>
            <a:prstGeom prst="straightConnector1">
              <a:avLst/>
            </a:prstGeom>
            <a:ln w="38100">
              <a:solidFill>
                <a:srgbClr val="990099"/>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56" name="直接箭头连接符 155"/>
            <p:cNvCxnSpPr/>
            <p:nvPr/>
          </p:nvCxnSpPr>
          <p:spPr>
            <a:xfrm flipV="1">
              <a:off x="6028646" y="2479990"/>
              <a:ext cx="518677" cy="337543"/>
            </a:xfrm>
            <a:prstGeom prst="straightConnector1">
              <a:avLst/>
            </a:prstGeom>
            <a:ln w="38100">
              <a:solidFill>
                <a:srgbClr val="990099"/>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57" name="直接箭头连接符 156"/>
            <p:cNvCxnSpPr>
              <a:stCxn id="106" idx="3"/>
            </p:cNvCxnSpPr>
            <p:nvPr/>
          </p:nvCxnSpPr>
          <p:spPr>
            <a:xfrm>
              <a:off x="2519106" y="2448712"/>
              <a:ext cx="504342" cy="354485"/>
            </a:xfrm>
            <a:prstGeom prst="straightConnector1">
              <a:avLst/>
            </a:prstGeom>
            <a:ln w="38100">
              <a:solidFill>
                <a:srgbClr val="990099"/>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58" name="直接箭头连接符 157"/>
            <p:cNvCxnSpPr/>
            <p:nvPr/>
          </p:nvCxnSpPr>
          <p:spPr>
            <a:xfrm>
              <a:off x="6018220" y="2993472"/>
              <a:ext cx="534315" cy="342756"/>
            </a:xfrm>
            <a:prstGeom prst="straightConnector1">
              <a:avLst/>
            </a:prstGeom>
            <a:ln w="38100">
              <a:solidFill>
                <a:srgbClr val="990099"/>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grpSp>
      <p:sp>
        <p:nvSpPr>
          <p:cNvPr id="20" name="矩形 19"/>
          <p:cNvSpPr/>
          <p:nvPr/>
        </p:nvSpPr>
        <p:spPr>
          <a:xfrm>
            <a:off x="768976" y="3962036"/>
            <a:ext cx="7617319" cy="605294"/>
          </a:xfrm>
          <a:prstGeom prst="rect">
            <a:avLst/>
          </a:prstGeom>
        </p:spPr>
        <p:txBody>
          <a:bodyPr wrap="square">
            <a:spAutoFit/>
          </a:bodyPr>
          <a:lstStyle/>
          <a:p>
            <a:pPr>
              <a:lnSpc>
                <a:spcPts val="2000"/>
              </a:lnSpc>
            </a:pPr>
            <a:r>
              <a:rPr lang="en-US" altLang="zh-CN" sz="1400" b="1" dirty="0">
                <a:latin typeface="微软雅黑" panose="020B0503020204020204" pitchFamily="34" charset="-122"/>
                <a:ea typeface="微软雅黑" panose="020B0503020204020204" pitchFamily="34" charset="-122"/>
              </a:rPr>
              <a:t>IGMP </a:t>
            </a:r>
            <a:r>
              <a:rPr lang="zh-CN" altLang="en-US" sz="1400" b="1" dirty="0">
                <a:latin typeface="微软雅黑" panose="020B0503020204020204" pitchFamily="34" charset="-122"/>
                <a:ea typeface="微软雅黑" panose="020B0503020204020204" pitchFamily="34" charset="-122"/>
              </a:rPr>
              <a:t>协议是让连接在</a:t>
            </a:r>
            <a:r>
              <a:rPr lang="zh-CN" altLang="en-US" sz="1400" b="1" dirty="0">
                <a:solidFill>
                  <a:srgbClr val="C00000"/>
                </a:solidFill>
                <a:latin typeface="微软雅黑" panose="020B0503020204020204" pitchFamily="34" charset="-122"/>
                <a:ea typeface="微软雅黑" panose="020B0503020204020204" pitchFamily="34" charset="-122"/>
              </a:rPr>
              <a:t>本地局域网上</a:t>
            </a:r>
            <a:r>
              <a:rPr lang="zh-CN" altLang="en-US" sz="1400" b="1" dirty="0">
                <a:latin typeface="微软雅黑" panose="020B0503020204020204" pitchFamily="34" charset="-122"/>
                <a:ea typeface="微软雅黑" panose="020B0503020204020204" pitchFamily="34" charset="-122"/>
              </a:rPr>
              <a:t>的</a:t>
            </a:r>
            <a:r>
              <a:rPr lang="zh-CN" altLang="en-US" sz="1400" b="1" dirty="0">
                <a:solidFill>
                  <a:srgbClr val="0000FF"/>
                </a:solidFill>
                <a:latin typeface="微软雅黑" panose="020B0503020204020204" pitchFamily="34" charset="-122"/>
                <a:ea typeface="微软雅黑" panose="020B0503020204020204" pitchFamily="34" charset="-122"/>
              </a:rPr>
              <a:t>多播路由器</a:t>
            </a:r>
            <a:r>
              <a:rPr lang="zh-CN" altLang="en-US" sz="1400" b="1" dirty="0">
                <a:latin typeface="微软雅黑" panose="020B0503020204020204" pitchFamily="34" charset="-122"/>
                <a:ea typeface="微软雅黑" panose="020B0503020204020204" pitchFamily="34" charset="-122"/>
              </a:rPr>
              <a:t>知道</a:t>
            </a:r>
            <a:r>
              <a:rPr lang="zh-CN" altLang="en-US" sz="1400" b="1" dirty="0">
                <a:solidFill>
                  <a:srgbClr val="C00000"/>
                </a:solidFill>
                <a:latin typeface="微软雅黑" panose="020B0503020204020204" pitchFamily="34" charset="-122"/>
                <a:ea typeface="微软雅黑" panose="020B0503020204020204" pitchFamily="34" charset="-122"/>
              </a:rPr>
              <a:t>本局域网上</a:t>
            </a:r>
            <a:r>
              <a:rPr lang="zh-CN" altLang="en-US" sz="1400" b="1" dirty="0">
                <a:solidFill>
                  <a:srgbClr val="0000FF"/>
                </a:solidFill>
                <a:latin typeface="微软雅黑" panose="020B0503020204020204" pitchFamily="34" charset="-122"/>
                <a:ea typeface="微软雅黑" panose="020B0503020204020204" pitchFamily="34" charset="-122"/>
              </a:rPr>
              <a:t>是否</a:t>
            </a:r>
            <a:r>
              <a:rPr lang="zh-CN" altLang="en-US" sz="1400" b="1" dirty="0">
                <a:latin typeface="微软雅黑" panose="020B0503020204020204" pitchFamily="34" charset="-122"/>
                <a:ea typeface="微软雅黑" panose="020B0503020204020204" pitchFamily="34" charset="-122"/>
              </a:rPr>
              <a:t>有主机参加或退出了某个多播组。</a:t>
            </a:r>
            <a:r>
              <a:rPr lang="en-US" altLang="zh-CN" sz="1400" b="1" dirty="0">
                <a:latin typeface="微软雅黑" panose="020B0503020204020204" pitchFamily="34" charset="-122"/>
                <a:ea typeface="微软雅黑" panose="020B0503020204020204" pitchFamily="34" charset="-122"/>
              </a:rPr>
              <a:t>IGMP </a:t>
            </a:r>
            <a:r>
              <a:rPr lang="zh-CN" altLang="en-US" sz="1400" b="1" dirty="0">
                <a:solidFill>
                  <a:srgbClr val="C00000"/>
                </a:solidFill>
                <a:latin typeface="微软雅黑" panose="020B0503020204020204" pitchFamily="34" charset="-122"/>
                <a:ea typeface="微软雅黑" panose="020B0503020204020204" pitchFamily="34" charset="-122"/>
              </a:rPr>
              <a:t>不知道</a:t>
            </a:r>
            <a:r>
              <a:rPr lang="zh-CN" altLang="en-US" sz="1400" b="1" dirty="0">
                <a:latin typeface="微软雅黑" panose="020B0503020204020204" pitchFamily="34" charset="-122"/>
                <a:ea typeface="微软雅黑" panose="020B0503020204020204" pitchFamily="34" charset="-122"/>
              </a:rPr>
              <a:t> </a:t>
            </a:r>
            <a:r>
              <a:rPr lang="en-US" altLang="zh-CN" sz="1400" b="1" dirty="0">
                <a:latin typeface="微软雅黑" panose="020B0503020204020204" pitchFamily="34" charset="-122"/>
                <a:ea typeface="微软雅黑" panose="020B0503020204020204" pitchFamily="34" charset="-122"/>
              </a:rPr>
              <a:t>IP </a:t>
            </a:r>
            <a:r>
              <a:rPr lang="zh-CN" altLang="en-US" sz="1400" b="1" dirty="0">
                <a:latin typeface="微软雅黑" panose="020B0503020204020204" pitchFamily="34" charset="-122"/>
                <a:ea typeface="微软雅黑" panose="020B0503020204020204" pitchFamily="34" charset="-122"/>
              </a:rPr>
              <a:t>多播组包含的成员数，也</a:t>
            </a:r>
            <a:r>
              <a:rPr lang="zh-CN" altLang="en-US" sz="1400" b="1" dirty="0">
                <a:solidFill>
                  <a:srgbClr val="C00000"/>
                </a:solidFill>
                <a:latin typeface="微软雅黑" panose="020B0503020204020204" pitchFamily="34" charset="-122"/>
                <a:ea typeface="微软雅黑" panose="020B0503020204020204" pitchFamily="34" charset="-122"/>
              </a:rPr>
              <a:t>不知道</a:t>
            </a:r>
            <a:r>
              <a:rPr lang="zh-CN" altLang="en-US" sz="1400" b="1" dirty="0">
                <a:latin typeface="微软雅黑" panose="020B0503020204020204" pitchFamily="34" charset="-122"/>
                <a:ea typeface="微软雅黑" panose="020B0503020204020204" pitchFamily="34" charset="-122"/>
              </a:rPr>
              <a:t>这些成员都分布在哪些网络上。</a:t>
            </a:r>
          </a:p>
        </p:txBody>
      </p:sp>
    </p:spTree>
    <p:extLst>
      <p:ext uri="{BB962C8B-B14F-4D97-AF65-F5344CB8AC3E}">
        <p14:creationId xmlns:p14="http://schemas.microsoft.com/office/powerpoint/2010/main" val="386191547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圆角矩形 3"/>
          <p:cNvSpPr/>
          <p:nvPr/>
        </p:nvSpPr>
        <p:spPr>
          <a:xfrm>
            <a:off x="545144" y="1000548"/>
            <a:ext cx="8053711" cy="297108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2" name="AutoShape 5"/>
          <p:cNvSpPr>
            <a:spLocks noChangeArrowheads="1"/>
          </p:cNvSpPr>
          <p:nvPr/>
        </p:nvSpPr>
        <p:spPr bwMode="auto">
          <a:xfrm>
            <a:off x="545144" y="633978"/>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4" y="575210"/>
            <a:ext cx="5213215" cy="400110"/>
          </a:xfrm>
          <a:prstGeom prst="rect">
            <a:avLst/>
          </a:prstGeom>
        </p:spPr>
        <p:txBody>
          <a:bodyPr wrap="square">
            <a:spAutoFit/>
          </a:bodyPr>
          <a:lstStyle/>
          <a:p>
            <a:r>
              <a:rPr lang="zh-CN" altLang="en-US" sz="2000" b="1" dirty="0">
                <a:latin typeface="微软雅黑" pitchFamily="34" charset="-122"/>
                <a:ea typeface="微软雅黑" pitchFamily="34" charset="-122"/>
              </a:rPr>
              <a:t>多播路由选择协议更为复杂</a:t>
            </a:r>
          </a:p>
        </p:txBody>
      </p:sp>
      <p:sp>
        <p:nvSpPr>
          <p:cNvPr id="43" name="Line 16"/>
          <p:cNvSpPr>
            <a:spLocks noChangeShapeType="1"/>
          </p:cNvSpPr>
          <p:nvPr/>
        </p:nvSpPr>
        <p:spPr bwMode="auto">
          <a:xfrm>
            <a:off x="2653864" y="2291645"/>
            <a:ext cx="535673" cy="839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 name="任意多边形 43"/>
          <p:cNvSpPr/>
          <p:nvPr/>
        </p:nvSpPr>
        <p:spPr>
          <a:xfrm>
            <a:off x="2064116" y="2289778"/>
            <a:ext cx="4351289" cy="1377058"/>
          </a:xfrm>
          <a:custGeom>
            <a:avLst/>
            <a:gdLst>
              <a:gd name="connsiteX0" fmla="*/ 147204 w 4266044"/>
              <a:gd name="connsiteY0" fmla="*/ 77932 h 1078345"/>
              <a:gd name="connsiteX1" fmla="*/ 337704 w 4266044"/>
              <a:gd name="connsiteY1" fmla="*/ 46759 h 1078345"/>
              <a:gd name="connsiteX2" fmla="*/ 393122 w 4266044"/>
              <a:gd name="connsiteY2" fmla="*/ 50223 h 1078345"/>
              <a:gd name="connsiteX3" fmla="*/ 642504 w 4266044"/>
              <a:gd name="connsiteY3" fmla="*/ 195696 h 1078345"/>
              <a:gd name="connsiteX4" fmla="*/ 749877 w 4266044"/>
              <a:gd name="connsiteY4" fmla="*/ 355023 h 1078345"/>
              <a:gd name="connsiteX5" fmla="*/ 749877 w 4266044"/>
              <a:gd name="connsiteY5" fmla="*/ 365414 h 1078345"/>
              <a:gd name="connsiteX6" fmla="*/ 819149 w 4266044"/>
              <a:gd name="connsiteY6" fmla="*/ 538596 h 1078345"/>
              <a:gd name="connsiteX7" fmla="*/ 954231 w 4266044"/>
              <a:gd name="connsiteY7" fmla="*/ 808759 h 1078345"/>
              <a:gd name="connsiteX8" fmla="*/ 1459922 w 4266044"/>
              <a:gd name="connsiteY8" fmla="*/ 947305 h 1078345"/>
              <a:gd name="connsiteX9" fmla="*/ 2530186 w 4266044"/>
              <a:gd name="connsiteY9" fmla="*/ 1016578 h 1078345"/>
              <a:gd name="connsiteX10" fmla="*/ 2744931 w 4266044"/>
              <a:gd name="connsiteY10" fmla="*/ 1013114 h 1078345"/>
              <a:gd name="connsiteX11" fmla="*/ 2873086 w 4266044"/>
              <a:gd name="connsiteY11" fmla="*/ 957696 h 1078345"/>
              <a:gd name="connsiteX12" fmla="*/ 2949286 w 4266044"/>
              <a:gd name="connsiteY12" fmla="*/ 697923 h 1078345"/>
              <a:gd name="connsiteX13" fmla="*/ 2945822 w 4266044"/>
              <a:gd name="connsiteY13" fmla="*/ 445078 h 1078345"/>
              <a:gd name="connsiteX14" fmla="*/ 3060122 w 4266044"/>
              <a:gd name="connsiteY14" fmla="*/ 126423 h 1078345"/>
              <a:gd name="connsiteX15" fmla="*/ 3784022 w 4266044"/>
              <a:gd name="connsiteY15" fmla="*/ 88323 h 1078345"/>
              <a:gd name="connsiteX16" fmla="*/ 4009159 w 4266044"/>
              <a:gd name="connsiteY16" fmla="*/ 126423 h 1078345"/>
              <a:gd name="connsiteX17" fmla="*/ 4109604 w 4266044"/>
              <a:gd name="connsiteY17" fmla="*/ 237259 h 1078345"/>
              <a:gd name="connsiteX18" fmla="*/ 4213513 w 4266044"/>
              <a:gd name="connsiteY18" fmla="*/ 427759 h 1078345"/>
              <a:gd name="connsiteX19" fmla="*/ 4258540 w 4266044"/>
              <a:gd name="connsiteY19" fmla="*/ 635578 h 1078345"/>
              <a:gd name="connsiteX20" fmla="*/ 4258540 w 4266044"/>
              <a:gd name="connsiteY20" fmla="*/ 791441 h 1078345"/>
              <a:gd name="connsiteX21" fmla="*/ 4251613 w 4266044"/>
              <a:gd name="connsiteY21" fmla="*/ 815687 h 1078345"/>
              <a:gd name="connsiteX22" fmla="*/ 4223904 w 4266044"/>
              <a:gd name="connsiteY22" fmla="*/ 871105 h 1078345"/>
              <a:gd name="connsiteX23" fmla="*/ 4137313 w 4266044"/>
              <a:gd name="connsiteY23" fmla="*/ 912668 h 1078345"/>
              <a:gd name="connsiteX24" fmla="*/ 3905249 w 4266044"/>
              <a:gd name="connsiteY24" fmla="*/ 964623 h 1078345"/>
              <a:gd name="connsiteX25" fmla="*/ 3448049 w 4266044"/>
              <a:gd name="connsiteY25" fmla="*/ 1033896 h 1078345"/>
              <a:gd name="connsiteX26" fmla="*/ 2734540 w 4266044"/>
              <a:gd name="connsiteY26" fmla="*/ 1065068 h 1078345"/>
              <a:gd name="connsiteX27" fmla="*/ 555913 w 4266044"/>
              <a:gd name="connsiteY27" fmla="*/ 954232 h 1078345"/>
              <a:gd name="connsiteX28" fmla="*/ 555913 w 4266044"/>
              <a:gd name="connsiteY28" fmla="*/ 954232 h 1078345"/>
              <a:gd name="connsiteX29" fmla="*/ 285749 w 4266044"/>
              <a:gd name="connsiteY29" fmla="*/ 919596 h 1078345"/>
              <a:gd name="connsiteX30" fmla="*/ 46759 w 4266044"/>
              <a:gd name="connsiteY30" fmla="*/ 774123 h 1078345"/>
              <a:gd name="connsiteX31" fmla="*/ 15586 w 4266044"/>
              <a:gd name="connsiteY31" fmla="*/ 514350 h 1078345"/>
              <a:gd name="connsiteX32" fmla="*/ 147204 w 4266044"/>
              <a:gd name="connsiteY32" fmla="*/ 77932 h 1078345"/>
              <a:gd name="connsiteX0" fmla="*/ 147204 w 4266044"/>
              <a:gd name="connsiteY0" fmla="*/ 77932 h 1122920"/>
              <a:gd name="connsiteX1" fmla="*/ 337704 w 4266044"/>
              <a:gd name="connsiteY1" fmla="*/ 46759 h 1122920"/>
              <a:gd name="connsiteX2" fmla="*/ 393122 w 4266044"/>
              <a:gd name="connsiteY2" fmla="*/ 50223 h 1122920"/>
              <a:gd name="connsiteX3" fmla="*/ 642504 w 4266044"/>
              <a:gd name="connsiteY3" fmla="*/ 195696 h 1122920"/>
              <a:gd name="connsiteX4" fmla="*/ 749877 w 4266044"/>
              <a:gd name="connsiteY4" fmla="*/ 355023 h 1122920"/>
              <a:gd name="connsiteX5" fmla="*/ 749877 w 4266044"/>
              <a:gd name="connsiteY5" fmla="*/ 365414 h 1122920"/>
              <a:gd name="connsiteX6" fmla="*/ 819149 w 4266044"/>
              <a:gd name="connsiteY6" fmla="*/ 538596 h 1122920"/>
              <a:gd name="connsiteX7" fmla="*/ 954231 w 4266044"/>
              <a:gd name="connsiteY7" fmla="*/ 808759 h 1122920"/>
              <a:gd name="connsiteX8" fmla="*/ 1459922 w 4266044"/>
              <a:gd name="connsiteY8" fmla="*/ 947305 h 1122920"/>
              <a:gd name="connsiteX9" fmla="*/ 2530186 w 4266044"/>
              <a:gd name="connsiteY9" fmla="*/ 1016578 h 1122920"/>
              <a:gd name="connsiteX10" fmla="*/ 2744931 w 4266044"/>
              <a:gd name="connsiteY10" fmla="*/ 1013114 h 1122920"/>
              <a:gd name="connsiteX11" fmla="*/ 2873086 w 4266044"/>
              <a:gd name="connsiteY11" fmla="*/ 957696 h 1122920"/>
              <a:gd name="connsiteX12" fmla="*/ 2949286 w 4266044"/>
              <a:gd name="connsiteY12" fmla="*/ 697923 h 1122920"/>
              <a:gd name="connsiteX13" fmla="*/ 2945822 w 4266044"/>
              <a:gd name="connsiteY13" fmla="*/ 445078 h 1122920"/>
              <a:gd name="connsiteX14" fmla="*/ 3060122 w 4266044"/>
              <a:gd name="connsiteY14" fmla="*/ 126423 h 1122920"/>
              <a:gd name="connsiteX15" fmla="*/ 3784022 w 4266044"/>
              <a:gd name="connsiteY15" fmla="*/ 88323 h 1122920"/>
              <a:gd name="connsiteX16" fmla="*/ 4009159 w 4266044"/>
              <a:gd name="connsiteY16" fmla="*/ 126423 h 1122920"/>
              <a:gd name="connsiteX17" fmla="*/ 4109604 w 4266044"/>
              <a:gd name="connsiteY17" fmla="*/ 237259 h 1122920"/>
              <a:gd name="connsiteX18" fmla="*/ 4213513 w 4266044"/>
              <a:gd name="connsiteY18" fmla="*/ 427759 h 1122920"/>
              <a:gd name="connsiteX19" fmla="*/ 4258540 w 4266044"/>
              <a:gd name="connsiteY19" fmla="*/ 635578 h 1122920"/>
              <a:gd name="connsiteX20" fmla="*/ 4258540 w 4266044"/>
              <a:gd name="connsiteY20" fmla="*/ 791441 h 1122920"/>
              <a:gd name="connsiteX21" fmla="*/ 4251613 w 4266044"/>
              <a:gd name="connsiteY21" fmla="*/ 815687 h 1122920"/>
              <a:gd name="connsiteX22" fmla="*/ 4223904 w 4266044"/>
              <a:gd name="connsiteY22" fmla="*/ 871105 h 1122920"/>
              <a:gd name="connsiteX23" fmla="*/ 4137313 w 4266044"/>
              <a:gd name="connsiteY23" fmla="*/ 912668 h 1122920"/>
              <a:gd name="connsiteX24" fmla="*/ 3905249 w 4266044"/>
              <a:gd name="connsiteY24" fmla="*/ 964623 h 1122920"/>
              <a:gd name="connsiteX25" fmla="*/ 3448049 w 4266044"/>
              <a:gd name="connsiteY25" fmla="*/ 1033896 h 1122920"/>
              <a:gd name="connsiteX26" fmla="*/ 2734540 w 4266044"/>
              <a:gd name="connsiteY26" fmla="*/ 1065068 h 1122920"/>
              <a:gd name="connsiteX27" fmla="*/ 1916200 w 4266044"/>
              <a:gd name="connsiteY27" fmla="*/ 1104447 h 1122920"/>
              <a:gd name="connsiteX28" fmla="*/ 555913 w 4266044"/>
              <a:gd name="connsiteY28" fmla="*/ 954232 h 1122920"/>
              <a:gd name="connsiteX29" fmla="*/ 555913 w 4266044"/>
              <a:gd name="connsiteY29" fmla="*/ 954232 h 1122920"/>
              <a:gd name="connsiteX30" fmla="*/ 285749 w 4266044"/>
              <a:gd name="connsiteY30" fmla="*/ 919596 h 1122920"/>
              <a:gd name="connsiteX31" fmla="*/ 46759 w 4266044"/>
              <a:gd name="connsiteY31" fmla="*/ 774123 h 1122920"/>
              <a:gd name="connsiteX32" fmla="*/ 15586 w 4266044"/>
              <a:gd name="connsiteY32" fmla="*/ 514350 h 1122920"/>
              <a:gd name="connsiteX33" fmla="*/ 147204 w 4266044"/>
              <a:gd name="connsiteY33" fmla="*/ 77932 h 1122920"/>
              <a:gd name="connsiteX0" fmla="*/ 147204 w 4266044"/>
              <a:gd name="connsiteY0" fmla="*/ 77932 h 1188212"/>
              <a:gd name="connsiteX1" fmla="*/ 337704 w 4266044"/>
              <a:gd name="connsiteY1" fmla="*/ 46759 h 1188212"/>
              <a:gd name="connsiteX2" fmla="*/ 393122 w 4266044"/>
              <a:gd name="connsiteY2" fmla="*/ 50223 h 1188212"/>
              <a:gd name="connsiteX3" fmla="*/ 642504 w 4266044"/>
              <a:gd name="connsiteY3" fmla="*/ 195696 h 1188212"/>
              <a:gd name="connsiteX4" fmla="*/ 749877 w 4266044"/>
              <a:gd name="connsiteY4" fmla="*/ 355023 h 1188212"/>
              <a:gd name="connsiteX5" fmla="*/ 749877 w 4266044"/>
              <a:gd name="connsiteY5" fmla="*/ 365414 h 1188212"/>
              <a:gd name="connsiteX6" fmla="*/ 819149 w 4266044"/>
              <a:gd name="connsiteY6" fmla="*/ 538596 h 1188212"/>
              <a:gd name="connsiteX7" fmla="*/ 954231 w 4266044"/>
              <a:gd name="connsiteY7" fmla="*/ 808759 h 1188212"/>
              <a:gd name="connsiteX8" fmla="*/ 1459922 w 4266044"/>
              <a:gd name="connsiteY8" fmla="*/ 947305 h 1188212"/>
              <a:gd name="connsiteX9" fmla="*/ 2530186 w 4266044"/>
              <a:gd name="connsiteY9" fmla="*/ 1016578 h 1188212"/>
              <a:gd name="connsiteX10" fmla="*/ 2744931 w 4266044"/>
              <a:gd name="connsiteY10" fmla="*/ 1013114 h 1188212"/>
              <a:gd name="connsiteX11" fmla="*/ 2873086 w 4266044"/>
              <a:gd name="connsiteY11" fmla="*/ 957696 h 1188212"/>
              <a:gd name="connsiteX12" fmla="*/ 2949286 w 4266044"/>
              <a:gd name="connsiteY12" fmla="*/ 697923 h 1188212"/>
              <a:gd name="connsiteX13" fmla="*/ 2945822 w 4266044"/>
              <a:gd name="connsiteY13" fmla="*/ 445078 h 1188212"/>
              <a:gd name="connsiteX14" fmla="*/ 3060122 w 4266044"/>
              <a:gd name="connsiteY14" fmla="*/ 126423 h 1188212"/>
              <a:gd name="connsiteX15" fmla="*/ 3784022 w 4266044"/>
              <a:gd name="connsiteY15" fmla="*/ 88323 h 1188212"/>
              <a:gd name="connsiteX16" fmla="*/ 4009159 w 4266044"/>
              <a:gd name="connsiteY16" fmla="*/ 126423 h 1188212"/>
              <a:gd name="connsiteX17" fmla="*/ 4109604 w 4266044"/>
              <a:gd name="connsiteY17" fmla="*/ 237259 h 1188212"/>
              <a:gd name="connsiteX18" fmla="*/ 4213513 w 4266044"/>
              <a:gd name="connsiteY18" fmla="*/ 427759 h 1188212"/>
              <a:gd name="connsiteX19" fmla="*/ 4258540 w 4266044"/>
              <a:gd name="connsiteY19" fmla="*/ 635578 h 1188212"/>
              <a:gd name="connsiteX20" fmla="*/ 4258540 w 4266044"/>
              <a:gd name="connsiteY20" fmla="*/ 791441 h 1188212"/>
              <a:gd name="connsiteX21" fmla="*/ 4251613 w 4266044"/>
              <a:gd name="connsiteY21" fmla="*/ 815687 h 1188212"/>
              <a:gd name="connsiteX22" fmla="*/ 4223904 w 4266044"/>
              <a:gd name="connsiteY22" fmla="*/ 871105 h 1188212"/>
              <a:gd name="connsiteX23" fmla="*/ 4137313 w 4266044"/>
              <a:gd name="connsiteY23" fmla="*/ 912668 h 1188212"/>
              <a:gd name="connsiteX24" fmla="*/ 3905249 w 4266044"/>
              <a:gd name="connsiteY24" fmla="*/ 964623 h 1188212"/>
              <a:gd name="connsiteX25" fmla="*/ 3448049 w 4266044"/>
              <a:gd name="connsiteY25" fmla="*/ 1033896 h 1188212"/>
              <a:gd name="connsiteX26" fmla="*/ 2780296 w 4266044"/>
              <a:gd name="connsiteY26" fmla="*/ 1176454 h 1188212"/>
              <a:gd name="connsiteX27" fmla="*/ 1916200 w 4266044"/>
              <a:gd name="connsiteY27" fmla="*/ 1104447 h 1188212"/>
              <a:gd name="connsiteX28" fmla="*/ 555913 w 4266044"/>
              <a:gd name="connsiteY28" fmla="*/ 954232 h 1188212"/>
              <a:gd name="connsiteX29" fmla="*/ 555913 w 4266044"/>
              <a:gd name="connsiteY29" fmla="*/ 954232 h 1188212"/>
              <a:gd name="connsiteX30" fmla="*/ 285749 w 4266044"/>
              <a:gd name="connsiteY30" fmla="*/ 919596 h 1188212"/>
              <a:gd name="connsiteX31" fmla="*/ 46759 w 4266044"/>
              <a:gd name="connsiteY31" fmla="*/ 774123 h 1188212"/>
              <a:gd name="connsiteX32" fmla="*/ 15586 w 4266044"/>
              <a:gd name="connsiteY32" fmla="*/ 514350 h 1188212"/>
              <a:gd name="connsiteX33" fmla="*/ 147204 w 4266044"/>
              <a:gd name="connsiteY33" fmla="*/ 77932 h 1188212"/>
              <a:gd name="connsiteX0" fmla="*/ 147204 w 4266044"/>
              <a:gd name="connsiteY0" fmla="*/ 77932 h 1176454"/>
              <a:gd name="connsiteX1" fmla="*/ 337704 w 4266044"/>
              <a:gd name="connsiteY1" fmla="*/ 46759 h 1176454"/>
              <a:gd name="connsiteX2" fmla="*/ 393122 w 4266044"/>
              <a:gd name="connsiteY2" fmla="*/ 50223 h 1176454"/>
              <a:gd name="connsiteX3" fmla="*/ 642504 w 4266044"/>
              <a:gd name="connsiteY3" fmla="*/ 195696 h 1176454"/>
              <a:gd name="connsiteX4" fmla="*/ 749877 w 4266044"/>
              <a:gd name="connsiteY4" fmla="*/ 355023 h 1176454"/>
              <a:gd name="connsiteX5" fmla="*/ 749877 w 4266044"/>
              <a:gd name="connsiteY5" fmla="*/ 365414 h 1176454"/>
              <a:gd name="connsiteX6" fmla="*/ 819149 w 4266044"/>
              <a:gd name="connsiteY6" fmla="*/ 538596 h 1176454"/>
              <a:gd name="connsiteX7" fmla="*/ 954231 w 4266044"/>
              <a:gd name="connsiteY7" fmla="*/ 808759 h 1176454"/>
              <a:gd name="connsiteX8" fmla="*/ 1459922 w 4266044"/>
              <a:gd name="connsiteY8" fmla="*/ 947305 h 1176454"/>
              <a:gd name="connsiteX9" fmla="*/ 2530186 w 4266044"/>
              <a:gd name="connsiteY9" fmla="*/ 1016578 h 1176454"/>
              <a:gd name="connsiteX10" fmla="*/ 2744931 w 4266044"/>
              <a:gd name="connsiteY10" fmla="*/ 1013114 h 1176454"/>
              <a:gd name="connsiteX11" fmla="*/ 2873086 w 4266044"/>
              <a:gd name="connsiteY11" fmla="*/ 957696 h 1176454"/>
              <a:gd name="connsiteX12" fmla="*/ 2949286 w 4266044"/>
              <a:gd name="connsiteY12" fmla="*/ 697923 h 1176454"/>
              <a:gd name="connsiteX13" fmla="*/ 2945822 w 4266044"/>
              <a:gd name="connsiteY13" fmla="*/ 445078 h 1176454"/>
              <a:gd name="connsiteX14" fmla="*/ 3060122 w 4266044"/>
              <a:gd name="connsiteY14" fmla="*/ 126423 h 1176454"/>
              <a:gd name="connsiteX15" fmla="*/ 3784022 w 4266044"/>
              <a:gd name="connsiteY15" fmla="*/ 88323 h 1176454"/>
              <a:gd name="connsiteX16" fmla="*/ 4009159 w 4266044"/>
              <a:gd name="connsiteY16" fmla="*/ 126423 h 1176454"/>
              <a:gd name="connsiteX17" fmla="*/ 4109604 w 4266044"/>
              <a:gd name="connsiteY17" fmla="*/ 237259 h 1176454"/>
              <a:gd name="connsiteX18" fmla="*/ 4213513 w 4266044"/>
              <a:gd name="connsiteY18" fmla="*/ 427759 h 1176454"/>
              <a:gd name="connsiteX19" fmla="*/ 4258540 w 4266044"/>
              <a:gd name="connsiteY19" fmla="*/ 635578 h 1176454"/>
              <a:gd name="connsiteX20" fmla="*/ 4258540 w 4266044"/>
              <a:gd name="connsiteY20" fmla="*/ 791441 h 1176454"/>
              <a:gd name="connsiteX21" fmla="*/ 4251613 w 4266044"/>
              <a:gd name="connsiteY21" fmla="*/ 815687 h 1176454"/>
              <a:gd name="connsiteX22" fmla="*/ 4223904 w 4266044"/>
              <a:gd name="connsiteY22" fmla="*/ 871105 h 1176454"/>
              <a:gd name="connsiteX23" fmla="*/ 4137313 w 4266044"/>
              <a:gd name="connsiteY23" fmla="*/ 912668 h 1176454"/>
              <a:gd name="connsiteX24" fmla="*/ 3905249 w 4266044"/>
              <a:gd name="connsiteY24" fmla="*/ 964623 h 1176454"/>
              <a:gd name="connsiteX25" fmla="*/ 3500376 w 4266044"/>
              <a:gd name="connsiteY25" fmla="*/ 1104446 h 1176454"/>
              <a:gd name="connsiteX26" fmla="*/ 2780296 w 4266044"/>
              <a:gd name="connsiteY26" fmla="*/ 1176454 h 1176454"/>
              <a:gd name="connsiteX27" fmla="*/ 1916200 w 4266044"/>
              <a:gd name="connsiteY27" fmla="*/ 1104447 h 1176454"/>
              <a:gd name="connsiteX28" fmla="*/ 555913 w 4266044"/>
              <a:gd name="connsiteY28" fmla="*/ 954232 h 1176454"/>
              <a:gd name="connsiteX29" fmla="*/ 555913 w 4266044"/>
              <a:gd name="connsiteY29" fmla="*/ 954232 h 1176454"/>
              <a:gd name="connsiteX30" fmla="*/ 285749 w 4266044"/>
              <a:gd name="connsiteY30" fmla="*/ 919596 h 1176454"/>
              <a:gd name="connsiteX31" fmla="*/ 46759 w 4266044"/>
              <a:gd name="connsiteY31" fmla="*/ 774123 h 1176454"/>
              <a:gd name="connsiteX32" fmla="*/ 15586 w 4266044"/>
              <a:gd name="connsiteY32" fmla="*/ 514350 h 1176454"/>
              <a:gd name="connsiteX33" fmla="*/ 147204 w 4266044"/>
              <a:gd name="connsiteY33" fmla="*/ 77932 h 1176454"/>
              <a:gd name="connsiteX0" fmla="*/ 147204 w 4266044"/>
              <a:gd name="connsiteY0" fmla="*/ 77932 h 1176454"/>
              <a:gd name="connsiteX1" fmla="*/ 337704 w 4266044"/>
              <a:gd name="connsiteY1" fmla="*/ 46759 h 1176454"/>
              <a:gd name="connsiteX2" fmla="*/ 393122 w 4266044"/>
              <a:gd name="connsiteY2" fmla="*/ 50223 h 1176454"/>
              <a:gd name="connsiteX3" fmla="*/ 642504 w 4266044"/>
              <a:gd name="connsiteY3" fmla="*/ 195696 h 1176454"/>
              <a:gd name="connsiteX4" fmla="*/ 749877 w 4266044"/>
              <a:gd name="connsiteY4" fmla="*/ 355023 h 1176454"/>
              <a:gd name="connsiteX5" fmla="*/ 749877 w 4266044"/>
              <a:gd name="connsiteY5" fmla="*/ 365414 h 1176454"/>
              <a:gd name="connsiteX6" fmla="*/ 819149 w 4266044"/>
              <a:gd name="connsiteY6" fmla="*/ 538596 h 1176454"/>
              <a:gd name="connsiteX7" fmla="*/ 954231 w 4266044"/>
              <a:gd name="connsiteY7" fmla="*/ 808759 h 1176454"/>
              <a:gd name="connsiteX8" fmla="*/ 1459922 w 4266044"/>
              <a:gd name="connsiteY8" fmla="*/ 947305 h 1176454"/>
              <a:gd name="connsiteX9" fmla="*/ 2530186 w 4266044"/>
              <a:gd name="connsiteY9" fmla="*/ 1016578 h 1176454"/>
              <a:gd name="connsiteX10" fmla="*/ 2744931 w 4266044"/>
              <a:gd name="connsiteY10" fmla="*/ 1013114 h 1176454"/>
              <a:gd name="connsiteX11" fmla="*/ 2873086 w 4266044"/>
              <a:gd name="connsiteY11" fmla="*/ 957696 h 1176454"/>
              <a:gd name="connsiteX12" fmla="*/ 2949286 w 4266044"/>
              <a:gd name="connsiteY12" fmla="*/ 697923 h 1176454"/>
              <a:gd name="connsiteX13" fmla="*/ 2945822 w 4266044"/>
              <a:gd name="connsiteY13" fmla="*/ 445078 h 1176454"/>
              <a:gd name="connsiteX14" fmla="*/ 3060122 w 4266044"/>
              <a:gd name="connsiteY14" fmla="*/ 126423 h 1176454"/>
              <a:gd name="connsiteX15" fmla="*/ 3784022 w 4266044"/>
              <a:gd name="connsiteY15" fmla="*/ 88323 h 1176454"/>
              <a:gd name="connsiteX16" fmla="*/ 4009159 w 4266044"/>
              <a:gd name="connsiteY16" fmla="*/ 126423 h 1176454"/>
              <a:gd name="connsiteX17" fmla="*/ 4109604 w 4266044"/>
              <a:gd name="connsiteY17" fmla="*/ 237259 h 1176454"/>
              <a:gd name="connsiteX18" fmla="*/ 4213513 w 4266044"/>
              <a:gd name="connsiteY18" fmla="*/ 427759 h 1176454"/>
              <a:gd name="connsiteX19" fmla="*/ 4258540 w 4266044"/>
              <a:gd name="connsiteY19" fmla="*/ 635578 h 1176454"/>
              <a:gd name="connsiteX20" fmla="*/ 4258540 w 4266044"/>
              <a:gd name="connsiteY20" fmla="*/ 791441 h 1176454"/>
              <a:gd name="connsiteX21" fmla="*/ 4251613 w 4266044"/>
              <a:gd name="connsiteY21" fmla="*/ 815687 h 1176454"/>
              <a:gd name="connsiteX22" fmla="*/ 4223904 w 4266044"/>
              <a:gd name="connsiteY22" fmla="*/ 871105 h 1176454"/>
              <a:gd name="connsiteX23" fmla="*/ 4137313 w 4266044"/>
              <a:gd name="connsiteY23" fmla="*/ 912668 h 1176454"/>
              <a:gd name="connsiteX24" fmla="*/ 3932424 w 4266044"/>
              <a:gd name="connsiteY24" fmla="*/ 1032438 h 1176454"/>
              <a:gd name="connsiteX25" fmla="*/ 3500376 w 4266044"/>
              <a:gd name="connsiteY25" fmla="*/ 1104446 h 1176454"/>
              <a:gd name="connsiteX26" fmla="*/ 2780296 w 4266044"/>
              <a:gd name="connsiteY26" fmla="*/ 1176454 h 1176454"/>
              <a:gd name="connsiteX27" fmla="*/ 1916200 w 4266044"/>
              <a:gd name="connsiteY27" fmla="*/ 1104447 h 1176454"/>
              <a:gd name="connsiteX28" fmla="*/ 555913 w 4266044"/>
              <a:gd name="connsiteY28" fmla="*/ 954232 h 1176454"/>
              <a:gd name="connsiteX29" fmla="*/ 555913 w 4266044"/>
              <a:gd name="connsiteY29" fmla="*/ 954232 h 1176454"/>
              <a:gd name="connsiteX30" fmla="*/ 285749 w 4266044"/>
              <a:gd name="connsiteY30" fmla="*/ 919596 h 1176454"/>
              <a:gd name="connsiteX31" fmla="*/ 46759 w 4266044"/>
              <a:gd name="connsiteY31" fmla="*/ 774123 h 1176454"/>
              <a:gd name="connsiteX32" fmla="*/ 15586 w 4266044"/>
              <a:gd name="connsiteY32" fmla="*/ 514350 h 1176454"/>
              <a:gd name="connsiteX33" fmla="*/ 147204 w 4266044"/>
              <a:gd name="connsiteY33" fmla="*/ 77932 h 1176454"/>
              <a:gd name="connsiteX0" fmla="*/ 147204 w 4266044"/>
              <a:gd name="connsiteY0" fmla="*/ 77932 h 1176454"/>
              <a:gd name="connsiteX1" fmla="*/ 337704 w 4266044"/>
              <a:gd name="connsiteY1" fmla="*/ 46759 h 1176454"/>
              <a:gd name="connsiteX2" fmla="*/ 393122 w 4266044"/>
              <a:gd name="connsiteY2" fmla="*/ 50223 h 1176454"/>
              <a:gd name="connsiteX3" fmla="*/ 642504 w 4266044"/>
              <a:gd name="connsiteY3" fmla="*/ 195696 h 1176454"/>
              <a:gd name="connsiteX4" fmla="*/ 749877 w 4266044"/>
              <a:gd name="connsiteY4" fmla="*/ 355023 h 1176454"/>
              <a:gd name="connsiteX5" fmla="*/ 749877 w 4266044"/>
              <a:gd name="connsiteY5" fmla="*/ 365414 h 1176454"/>
              <a:gd name="connsiteX6" fmla="*/ 819149 w 4266044"/>
              <a:gd name="connsiteY6" fmla="*/ 538596 h 1176454"/>
              <a:gd name="connsiteX7" fmla="*/ 954231 w 4266044"/>
              <a:gd name="connsiteY7" fmla="*/ 808759 h 1176454"/>
              <a:gd name="connsiteX8" fmla="*/ 1459922 w 4266044"/>
              <a:gd name="connsiteY8" fmla="*/ 947305 h 1176454"/>
              <a:gd name="connsiteX9" fmla="*/ 2530186 w 4266044"/>
              <a:gd name="connsiteY9" fmla="*/ 1016578 h 1176454"/>
              <a:gd name="connsiteX10" fmla="*/ 2744931 w 4266044"/>
              <a:gd name="connsiteY10" fmla="*/ 1013114 h 1176454"/>
              <a:gd name="connsiteX11" fmla="*/ 2873086 w 4266044"/>
              <a:gd name="connsiteY11" fmla="*/ 957696 h 1176454"/>
              <a:gd name="connsiteX12" fmla="*/ 2949286 w 4266044"/>
              <a:gd name="connsiteY12" fmla="*/ 697923 h 1176454"/>
              <a:gd name="connsiteX13" fmla="*/ 2945822 w 4266044"/>
              <a:gd name="connsiteY13" fmla="*/ 445078 h 1176454"/>
              <a:gd name="connsiteX14" fmla="*/ 3060122 w 4266044"/>
              <a:gd name="connsiteY14" fmla="*/ 126423 h 1176454"/>
              <a:gd name="connsiteX15" fmla="*/ 3784022 w 4266044"/>
              <a:gd name="connsiteY15" fmla="*/ 88323 h 1176454"/>
              <a:gd name="connsiteX16" fmla="*/ 4009159 w 4266044"/>
              <a:gd name="connsiteY16" fmla="*/ 126423 h 1176454"/>
              <a:gd name="connsiteX17" fmla="*/ 4109604 w 4266044"/>
              <a:gd name="connsiteY17" fmla="*/ 237259 h 1176454"/>
              <a:gd name="connsiteX18" fmla="*/ 4213513 w 4266044"/>
              <a:gd name="connsiteY18" fmla="*/ 427759 h 1176454"/>
              <a:gd name="connsiteX19" fmla="*/ 4258540 w 4266044"/>
              <a:gd name="connsiteY19" fmla="*/ 635578 h 1176454"/>
              <a:gd name="connsiteX20" fmla="*/ 4258540 w 4266044"/>
              <a:gd name="connsiteY20" fmla="*/ 791441 h 1176454"/>
              <a:gd name="connsiteX21" fmla="*/ 4251613 w 4266044"/>
              <a:gd name="connsiteY21" fmla="*/ 815687 h 1176454"/>
              <a:gd name="connsiteX22" fmla="*/ 4223904 w 4266044"/>
              <a:gd name="connsiteY22" fmla="*/ 871105 h 1176454"/>
              <a:gd name="connsiteX23" fmla="*/ 4137313 w 4266044"/>
              <a:gd name="connsiteY23" fmla="*/ 912668 h 1176454"/>
              <a:gd name="connsiteX24" fmla="*/ 3932424 w 4266044"/>
              <a:gd name="connsiteY24" fmla="*/ 1032438 h 1176454"/>
              <a:gd name="connsiteX25" fmla="*/ 3500376 w 4266044"/>
              <a:gd name="connsiteY25" fmla="*/ 1104446 h 1176454"/>
              <a:gd name="connsiteX26" fmla="*/ 2780296 w 4266044"/>
              <a:gd name="connsiteY26" fmla="*/ 1176454 h 1176454"/>
              <a:gd name="connsiteX27" fmla="*/ 1916200 w 4266044"/>
              <a:gd name="connsiteY27" fmla="*/ 1104447 h 1176454"/>
              <a:gd name="connsiteX28" fmla="*/ 555913 w 4266044"/>
              <a:gd name="connsiteY28" fmla="*/ 954232 h 1176454"/>
              <a:gd name="connsiteX29" fmla="*/ 548048 w 4266044"/>
              <a:gd name="connsiteY29" fmla="*/ 1032438 h 1176454"/>
              <a:gd name="connsiteX30" fmla="*/ 285749 w 4266044"/>
              <a:gd name="connsiteY30" fmla="*/ 919596 h 1176454"/>
              <a:gd name="connsiteX31" fmla="*/ 46759 w 4266044"/>
              <a:gd name="connsiteY31" fmla="*/ 774123 h 1176454"/>
              <a:gd name="connsiteX32" fmla="*/ 15586 w 4266044"/>
              <a:gd name="connsiteY32" fmla="*/ 514350 h 1176454"/>
              <a:gd name="connsiteX33" fmla="*/ 147204 w 4266044"/>
              <a:gd name="connsiteY33" fmla="*/ 77932 h 1176454"/>
              <a:gd name="connsiteX0" fmla="*/ 147204 w 4266044"/>
              <a:gd name="connsiteY0" fmla="*/ 77932 h 1176454"/>
              <a:gd name="connsiteX1" fmla="*/ 337704 w 4266044"/>
              <a:gd name="connsiteY1" fmla="*/ 46759 h 1176454"/>
              <a:gd name="connsiteX2" fmla="*/ 393122 w 4266044"/>
              <a:gd name="connsiteY2" fmla="*/ 50223 h 1176454"/>
              <a:gd name="connsiteX3" fmla="*/ 642504 w 4266044"/>
              <a:gd name="connsiteY3" fmla="*/ 195696 h 1176454"/>
              <a:gd name="connsiteX4" fmla="*/ 749877 w 4266044"/>
              <a:gd name="connsiteY4" fmla="*/ 355023 h 1176454"/>
              <a:gd name="connsiteX5" fmla="*/ 749877 w 4266044"/>
              <a:gd name="connsiteY5" fmla="*/ 365414 h 1176454"/>
              <a:gd name="connsiteX6" fmla="*/ 819149 w 4266044"/>
              <a:gd name="connsiteY6" fmla="*/ 538596 h 1176454"/>
              <a:gd name="connsiteX7" fmla="*/ 954231 w 4266044"/>
              <a:gd name="connsiteY7" fmla="*/ 808759 h 1176454"/>
              <a:gd name="connsiteX8" fmla="*/ 1459922 w 4266044"/>
              <a:gd name="connsiteY8" fmla="*/ 947305 h 1176454"/>
              <a:gd name="connsiteX9" fmla="*/ 2530186 w 4266044"/>
              <a:gd name="connsiteY9" fmla="*/ 1016578 h 1176454"/>
              <a:gd name="connsiteX10" fmla="*/ 2744931 w 4266044"/>
              <a:gd name="connsiteY10" fmla="*/ 1013114 h 1176454"/>
              <a:gd name="connsiteX11" fmla="*/ 2873086 w 4266044"/>
              <a:gd name="connsiteY11" fmla="*/ 957696 h 1176454"/>
              <a:gd name="connsiteX12" fmla="*/ 2949286 w 4266044"/>
              <a:gd name="connsiteY12" fmla="*/ 697923 h 1176454"/>
              <a:gd name="connsiteX13" fmla="*/ 2945822 w 4266044"/>
              <a:gd name="connsiteY13" fmla="*/ 445078 h 1176454"/>
              <a:gd name="connsiteX14" fmla="*/ 3060122 w 4266044"/>
              <a:gd name="connsiteY14" fmla="*/ 126423 h 1176454"/>
              <a:gd name="connsiteX15" fmla="*/ 3784022 w 4266044"/>
              <a:gd name="connsiteY15" fmla="*/ 88323 h 1176454"/>
              <a:gd name="connsiteX16" fmla="*/ 4009159 w 4266044"/>
              <a:gd name="connsiteY16" fmla="*/ 126423 h 1176454"/>
              <a:gd name="connsiteX17" fmla="*/ 4109604 w 4266044"/>
              <a:gd name="connsiteY17" fmla="*/ 237259 h 1176454"/>
              <a:gd name="connsiteX18" fmla="*/ 4213513 w 4266044"/>
              <a:gd name="connsiteY18" fmla="*/ 427759 h 1176454"/>
              <a:gd name="connsiteX19" fmla="*/ 4258540 w 4266044"/>
              <a:gd name="connsiteY19" fmla="*/ 635578 h 1176454"/>
              <a:gd name="connsiteX20" fmla="*/ 4258540 w 4266044"/>
              <a:gd name="connsiteY20" fmla="*/ 791441 h 1176454"/>
              <a:gd name="connsiteX21" fmla="*/ 4251613 w 4266044"/>
              <a:gd name="connsiteY21" fmla="*/ 815687 h 1176454"/>
              <a:gd name="connsiteX22" fmla="*/ 4223904 w 4266044"/>
              <a:gd name="connsiteY22" fmla="*/ 871105 h 1176454"/>
              <a:gd name="connsiteX23" fmla="*/ 4137313 w 4266044"/>
              <a:gd name="connsiteY23" fmla="*/ 912668 h 1176454"/>
              <a:gd name="connsiteX24" fmla="*/ 3932424 w 4266044"/>
              <a:gd name="connsiteY24" fmla="*/ 1032438 h 1176454"/>
              <a:gd name="connsiteX25" fmla="*/ 3500376 w 4266044"/>
              <a:gd name="connsiteY25" fmla="*/ 1104446 h 1176454"/>
              <a:gd name="connsiteX26" fmla="*/ 2780296 w 4266044"/>
              <a:gd name="connsiteY26" fmla="*/ 1176454 h 1176454"/>
              <a:gd name="connsiteX27" fmla="*/ 1916200 w 4266044"/>
              <a:gd name="connsiteY27" fmla="*/ 1104447 h 1176454"/>
              <a:gd name="connsiteX28" fmla="*/ 764072 w 4266044"/>
              <a:gd name="connsiteY28" fmla="*/ 1032438 h 1176454"/>
              <a:gd name="connsiteX29" fmla="*/ 548048 w 4266044"/>
              <a:gd name="connsiteY29" fmla="*/ 1032438 h 1176454"/>
              <a:gd name="connsiteX30" fmla="*/ 285749 w 4266044"/>
              <a:gd name="connsiteY30" fmla="*/ 919596 h 1176454"/>
              <a:gd name="connsiteX31" fmla="*/ 46759 w 4266044"/>
              <a:gd name="connsiteY31" fmla="*/ 774123 h 1176454"/>
              <a:gd name="connsiteX32" fmla="*/ 15586 w 4266044"/>
              <a:gd name="connsiteY32" fmla="*/ 514350 h 1176454"/>
              <a:gd name="connsiteX33" fmla="*/ 147204 w 4266044"/>
              <a:gd name="connsiteY33" fmla="*/ 77932 h 1176454"/>
              <a:gd name="connsiteX0" fmla="*/ 147204 w 4266044"/>
              <a:gd name="connsiteY0" fmla="*/ 77932 h 1176454"/>
              <a:gd name="connsiteX1" fmla="*/ 337704 w 4266044"/>
              <a:gd name="connsiteY1" fmla="*/ 46759 h 1176454"/>
              <a:gd name="connsiteX2" fmla="*/ 393122 w 4266044"/>
              <a:gd name="connsiteY2" fmla="*/ 50223 h 1176454"/>
              <a:gd name="connsiteX3" fmla="*/ 642504 w 4266044"/>
              <a:gd name="connsiteY3" fmla="*/ 195696 h 1176454"/>
              <a:gd name="connsiteX4" fmla="*/ 749877 w 4266044"/>
              <a:gd name="connsiteY4" fmla="*/ 355023 h 1176454"/>
              <a:gd name="connsiteX5" fmla="*/ 749877 w 4266044"/>
              <a:gd name="connsiteY5" fmla="*/ 365414 h 1176454"/>
              <a:gd name="connsiteX6" fmla="*/ 819149 w 4266044"/>
              <a:gd name="connsiteY6" fmla="*/ 538596 h 1176454"/>
              <a:gd name="connsiteX7" fmla="*/ 954231 w 4266044"/>
              <a:gd name="connsiteY7" fmla="*/ 808759 h 1176454"/>
              <a:gd name="connsiteX8" fmla="*/ 1459922 w 4266044"/>
              <a:gd name="connsiteY8" fmla="*/ 947305 h 1176454"/>
              <a:gd name="connsiteX9" fmla="*/ 2530186 w 4266044"/>
              <a:gd name="connsiteY9" fmla="*/ 1016578 h 1176454"/>
              <a:gd name="connsiteX10" fmla="*/ 2744931 w 4266044"/>
              <a:gd name="connsiteY10" fmla="*/ 1013114 h 1176454"/>
              <a:gd name="connsiteX11" fmla="*/ 2873086 w 4266044"/>
              <a:gd name="connsiteY11" fmla="*/ 957696 h 1176454"/>
              <a:gd name="connsiteX12" fmla="*/ 2949286 w 4266044"/>
              <a:gd name="connsiteY12" fmla="*/ 697923 h 1176454"/>
              <a:gd name="connsiteX13" fmla="*/ 2945822 w 4266044"/>
              <a:gd name="connsiteY13" fmla="*/ 445078 h 1176454"/>
              <a:gd name="connsiteX14" fmla="*/ 3060122 w 4266044"/>
              <a:gd name="connsiteY14" fmla="*/ 126423 h 1176454"/>
              <a:gd name="connsiteX15" fmla="*/ 3784022 w 4266044"/>
              <a:gd name="connsiteY15" fmla="*/ 88323 h 1176454"/>
              <a:gd name="connsiteX16" fmla="*/ 4009159 w 4266044"/>
              <a:gd name="connsiteY16" fmla="*/ 126423 h 1176454"/>
              <a:gd name="connsiteX17" fmla="*/ 4109604 w 4266044"/>
              <a:gd name="connsiteY17" fmla="*/ 237259 h 1176454"/>
              <a:gd name="connsiteX18" fmla="*/ 4213513 w 4266044"/>
              <a:gd name="connsiteY18" fmla="*/ 427759 h 1176454"/>
              <a:gd name="connsiteX19" fmla="*/ 4258540 w 4266044"/>
              <a:gd name="connsiteY19" fmla="*/ 635578 h 1176454"/>
              <a:gd name="connsiteX20" fmla="*/ 4258540 w 4266044"/>
              <a:gd name="connsiteY20" fmla="*/ 791441 h 1176454"/>
              <a:gd name="connsiteX21" fmla="*/ 4251613 w 4266044"/>
              <a:gd name="connsiteY21" fmla="*/ 815687 h 1176454"/>
              <a:gd name="connsiteX22" fmla="*/ 4223904 w 4266044"/>
              <a:gd name="connsiteY22" fmla="*/ 871105 h 1176454"/>
              <a:gd name="connsiteX23" fmla="*/ 4137313 w 4266044"/>
              <a:gd name="connsiteY23" fmla="*/ 912668 h 1176454"/>
              <a:gd name="connsiteX24" fmla="*/ 3932424 w 4266044"/>
              <a:gd name="connsiteY24" fmla="*/ 1032438 h 1176454"/>
              <a:gd name="connsiteX25" fmla="*/ 3500376 w 4266044"/>
              <a:gd name="connsiteY25" fmla="*/ 1104446 h 1176454"/>
              <a:gd name="connsiteX26" fmla="*/ 2780296 w 4266044"/>
              <a:gd name="connsiteY26" fmla="*/ 1176454 h 1176454"/>
              <a:gd name="connsiteX27" fmla="*/ 1916200 w 4266044"/>
              <a:gd name="connsiteY27" fmla="*/ 1104447 h 1176454"/>
              <a:gd name="connsiteX28" fmla="*/ 764072 w 4266044"/>
              <a:gd name="connsiteY28" fmla="*/ 1032438 h 1176454"/>
              <a:gd name="connsiteX29" fmla="*/ 548048 w 4266044"/>
              <a:gd name="connsiteY29" fmla="*/ 1032438 h 1176454"/>
              <a:gd name="connsiteX30" fmla="*/ 285749 w 4266044"/>
              <a:gd name="connsiteY30" fmla="*/ 919596 h 1176454"/>
              <a:gd name="connsiteX31" fmla="*/ 46759 w 4266044"/>
              <a:gd name="connsiteY31" fmla="*/ 774123 h 1176454"/>
              <a:gd name="connsiteX32" fmla="*/ 15586 w 4266044"/>
              <a:gd name="connsiteY32" fmla="*/ 514350 h 1176454"/>
              <a:gd name="connsiteX33" fmla="*/ 147204 w 4266044"/>
              <a:gd name="connsiteY33" fmla="*/ 77932 h 1176454"/>
              <a:gd name="connsiteX0" fmla="*/ 147204 w 4266044"/>
              <a:gd name="connsiteY0" fmla="*/ 77932 h 1194927"/>
              <a:gd name="connsiteX1" fmla="*/ 337704 w 4266044"/>
              <a:gd name="connsiteY1" fmla="*/ 46759 h 1194927"/>
              <a:gd name="connsiteX2" fmla="*/ 393122 w 4266044"/>
              <a:gd name="connsiteY2" fmla="*/ 50223 h 1194927"/>
              <a:gd name="connsiteX3" fmla="*/ 642504 w 4266044"/>
              <a:gd name="connsiteY3" fmla="*/ 195696 h 1194927"/>
              <a:gd name="connsiteX4" fmla="*/ 749877 w 4266044"/>
              <a:gd name="connsiteY4" fmla="*/ 355023 h 1194927"/>
              <a:gd name="connsiteX5" fmla="*/ 749877 w 4266044"/>
              <a:gd name="connsiteY5" fmla="*/ 365414 h 1194927"/>
              <a:gd name="connsiteX6" fmla="*/ 819149 w 4266044"/>
              <a:gd name="connsiteY6" fmla="*/ 538596 h 1194927"/>
              <a:gd name="connsiteX7" fmla="*/ 954231 w 4266044"/>
              <a:gd name="connsiteY7" fmla="*/ 808759 h 1194927"/>
              <a:gd name="connsiteX8" fmla="*/ 1459922 w 4266044"/>
              <a:gd name="connsiteY8" fmla="*/ 947305 h 1194927"/>
              <a:gd name="connsiteX9" fmla="*/ 2530186 w 4266044"/>
              <a:gd name="connsiteY9" fmla="*/ 1016578 h 1194927"/>
              <a:gd name="connsiteX10" fmla="*/ 2744931 w 4266044"/>
              <a:gd name="connsiteY10" fmla="*/ 1013114 h 1194927"/>
              <a:gd name="connsiteX11" fmla="*/ 2873086 w 4266044"/>
              <a:gd name="connsiteY11" fmla="*/ 957696 h 1194927"/>
              <a:gd name="connsiteX12" fmla="*/ 2949286 w 4266044"/>
              <a:gd name="connsiteY12" fmla="*/ 697923 h 1194927"/>
              <a:gd name="connsiteX13" fmla="*/ 2945822 w 4266044"/>
              <a:gd name="connsiteY13" fmla="*/ 445078 h 1194927"/>
              <a:gd name="connsiteX14" fmla="*/ 3060122 w 4266044"/>
              <a:gd name="connsiteY14" fmla="*/ 126423 h 1194927"/>
              <a:gd name="connsiteX15" fmla="*/ 3784022 w 4266044"/>
              <a:gd name="connsiteY15" fmla="*/ 88323 h 1194927"/>
              <a:gd name="connsiteX16" fmla="*/ 4009159 w 4266044"/>
              <a:gd name="connsiteY16" fmla="*/ 126423 h 1194927"/>
              <a:gd name="connsiteX17" fmla="*/ 4109604 w 4266044"/>
              <a:gd name="connsiteY17" fmla="*/ 237259 h 1194927"/>
              <a:gd name="connsiteX18" fmla="*/ 4213513 w 4266044"/>
              <a:gd name="connsiteY18" fmla="*/ 427759 h 1194927"/>
              <a:gd name="connsiteX19" fmla="*/ 4258540 w 4266044"/>
              <a:gd name="connsiteY19" fmla="*/ 635578 h 1194927"/>
              <a:gd name="connsiteX20" fmla="*/ 4258540 w 4266044"/>
              <a:gd name="connsiteY20" fmla="*/ 791441 h 1194927"/>
              <a:gd name="connsiteX21" fmla="*/ 4251613 w 4266044"/>
              <a:gd name="connsiteY21" fmla="*/ 815687 h 1194927"/>
              <a:gd name="connsiteX22" fmla="*/ 4223904 w 4266044"/>
              <a:gd name="connsiteY22" fmla="*/ 871105 h 1194927"/>
              <a:gd name="connsiteX23" fmla="*/ 4137313 w 4266044"/>
              <a:gd name="connsiteY23" fmla="*/ 912668 h 1194927"/>
              <a:gd name="connsiteX24" fmla="*/ 3932424 w 4266044"/>
              <a:gd name="connsiteY24" fmla="*/ 1032438 h 1194927"/>
              <a:gd name="connsiteX25" fmla="*/ 3500376 w 4266044"/>
              <a:gd name="connsiteY25" fmla="*/ 1104446 h 1194927"/>
              <a:gd name="connsiteX26" fmla="*/ 2780296 w 4266044"/>
              <a:gd name="connsiteY26" fmla="*/ 1176454 h 1194927"/>
              <a:gd name="connsiteX27" fmla="*/ 1916200 w 4266044"/>
              <a:gd name="connsiteY27" fmla="*/ 1176454 h 1194927"/>
              <a:gd name="connsiteX28" fmla="*/ 764072 w 4266044"/>
              <a:gd name="connsiteY28" fmla="*/ 1032438 h 1194927"/>
              <a:gd name="connsiteX29" fmla="*/ 548048 w 4266044"/>
              <a:gd name="connsiteY29" fmla="*/ 1032438 h 1194927"/>
              <a:gd name="connsiteX30" fmla="*/ 285749 w 4266044"/>
              <a:gd name="connsiteY30" fmla="*/ 919596 h 1194927"/>
              <a:gd name="connsiteX31" fmla="*/ 46759 w 4266044"/>
              <a:gd name="connsiteY31" fmla="*/ 774123 h 1194927"/>
              <a:gd name="connsiteX32" fmla="*/ 15586 w 4266044"/>
              <a:gd name="connsiteY32" fmla="*/ 514350 h 1194927"/>
              <a:gd name="connsiteX33" fmla="*/ 147204 w 4266044"/>
              <a:gd name="connsiteY33" fmla="*/ 77932 h 1194927"/>
              <a:gd name="connsiteX0" fmla="*/ 147204 w 4266044"/>
              <a:gd name="connsiteY0" fmla="*/ 77932 h 1194927"/>
              <a:gd name="connsiteX1" fmla="*/ 337704 w 4266044"/>
              <a:gd name="connsiteY1" fmla="*/ 46759 h 1194927"/>
              <a:gd name="connsiteX2" fmla="*/ 393122 w 4266044"/>
              <a:gd name="connsiteY2" fmla="*/ 50223 h 1194927"/>
              <a:gd name="connsiteX3" fmla="*/ 642504 w 4266044"/>
              <a:gd name="connsiteY3" fmla="*/ 195696 h 1194927"/>
              <a:gd name="connsiteX4" fmla="*/ 749877 w 4266044"/>
              <a:gd name="connsiteY4" fmla="*/ 355023 h 1194927"/>
              <a:gd name="connsiteX5" fmla="*/ 749877 w 4266044"/>
              <a:gd name="connsiteY5" fmla="*/ 365414 h 1194927"/>
              <a:gd name="connsiteX6" fmla="*/ 819149 w 4266044"/>
              <a:gd name="connsiteY6" fmla="*/ 538596 h 1194927"/>
              <a:gd name="connsiteX7" fmla="*/ 954231 w 4266044"/>
              <a:gd name="connsiteY7" fmla="*/ 808759 h 1194927"/>
              <a:gd name="connsiteX8" fmla="*/ 1459922 w 4266044"/>
              <a:gd name="connsiteY8" fmla="*/ 947305 h 1194927"/>
              <a:gd name="connsiteX9" fmla="*/ 2530186 w 4266044"/>
              <a:gd name="connsiteY9" fmla="*/ 1016578 h 1194927"/>
              <a:gd name="connsiteX10" fmla="*/ 2744931 w 4266044"/>
              <a:gd name="connsiteY10" fmla="*/ 1013114 h 1194927"/>
              <a:gd name="connsiteX11" fmla="*/ 2873086 w 4266044"/>
              <a:gd name="connsiteY11" fmla="*/ 957696 h 1194927"/>
              <a:gd name="connsiteX12" fmla="*/ 2949286 w 4266044"/>
              <a:gd name="connsiteY12" fmla="*/ 697923 h 1194927"/>
              <a:gd name="connsiteX13" fmla="*/ 2945822 w 4266044"/>
              <a:gd name="connsiteY13" fmla="*/ 445078 h 1194927"/>
              <a:gd name="connsiteX14" fmla="*/ 3060122 w 4266044"/>
              <a:gd name="connsiteY14" fmla="*/ 126423 h 1194927"/>
              <a:gd name="connsiteX15" fmla="*/ 3784022 w 4266044"/>
              <a:gd name="connsiteY15" fmla="*/ 88323 h 1194927"/>
              <a:gd name="connsiteX16" fmla="*/ 4009159 w 4266044"/>
              <a:gd name="connsiteY16" fmla="*/ 126423 h 1194927"/>
              <a:gd name="connsiteX17" fmla="*/ 4109604 w 4266044"/>
              <a:gd name="connsiteY17" fmla="*/ 237259 h 1194927"/>
              <a:gd name="connsiteX18" fmla="*/ 4213513 w 4266044"/>
              <a:gd name="connsiteY18" fmla="*/ 427759 h 1194927"/>
              <a:gd name="connsiteX19" fmla="*/ 4258540 w 4266044"/>
              <a:gd name="connsiteY19" fmla="*/ 635578 h 1194927"/>
              <a:gd name="connsiteX20" fmla="*/ 4258540 w 4266044"/>
              <a:gd name="connsiteY20" fmla="*/ 791441 h 1194927"/>
              <a:gd name="connsiteX21" fmla="*/ 4251613 w 4266044"/>
              <a:gd name="connsiteY21" fmla="*/ 815687 h 1194927"/>
              <a:gd name="connsiteX22" fmla="*/ 4223904 w 4266044"/>
              <a:gd name="connsiteY22" fmla="*/ 871105 h 1194927"/>
              <a:gd name="connsiteX23" fmla="*/ 4137313 w 4266044"/>
              <a:gd name="connsiteY23" fmla="*/ 912668 h 1194927"/>
              <a:gd name="connsiteX24" fmla="*/ 3932424 w 4266044"/>
              <a:gd name="connsiteY24" fmla="*/ 1032438 h 1194927"/>
              <a:gd name="connsiteX25" fmla="*/ 3500376 w 4266044"/>
              <a:gd name="connsiteY25" fmla="*/ 1104446 h 1194927"/>
              <a:gd name="connsiteX26" fmla="*/ 2780296 w 4266044"/>
              <a:gd name="connsiteY26" fmla="*/ 1176454 h 1194927"/>
              <a:gd name="connsiteX27" fmla="*/ 1916200 w 4266044"/>
              <a:gd name="connsiteY27" fmla="*/ 1176454 h 1194927"/>
              <a:gd name="connsiteX28" fmla="*/ 764072 w 4266044"/>
              <a:gd name="connsiteY28" fmla="*/ 1032438 h 1194927"/>
              <a:gd name="connsiteX29" fmla="*/ 548048 w 4266044"/>
              <a:gd name="connsiteY29" fmla="*/ 1032438 h 1194927"/>
              <a:gd name="connsiteX30" fmla="*/ 285749 w 4266044"/>
              <a:gd name="connsiteY30" fmla="*/ 919596 h 1194927"/>
              <a:gd name="connsiteX31" fmla="*/ 46759 w 4266044"/>
              <a:gd name="connsiteY31" fmla="*/ 774123 h 1194927"/>
              <a:gd name="connsiteX32" fmla="*/ 15586 w 4266044"/>
              <a:gd name="connsiteY32" fmla="*/ 514350 h 1194927"/>
              <a:gd name="connsiteX33" fmla="*/ 147204 w 4266044"/>
              <a:gd name="connsiteY33" fmla="*/ 77932 h 1194927"/>
              <a:gd name="connsiteX0" fmla="*/ 147204 w 4266044"/>
              <a:gd name="connsiteY0" fmla="*/ 77932 h 1194927"/>
              <a:gd name="connsiteX1" fmla="*/ 337704 w 4266044"/>
              <a:gd name="connsiteY1" fmla="*/ 46759 h 1194927"/>
              <a:gd name="connsiteX2" fmla="*/ 393122 w 4266044"/>
              <a:gd name="connsiteY2" fmla="*/ 50223 h 1194927"/>
              <a:gd name="connsiteX3" fmla="*/ 642504 w 4266044"/>
              <a:gd name="connsiteY3" fmla="*/ 195696 h 1194927"/>
              <a:gd name="connsiteX4" fmla="*/ 749877 w 4266044"/>
              <a:gd name="connsiteY4" fmla="*/ 355023 h 1194927"/>
              <a:gd name="connsiteX5" fmla="*/ 749877 w 4266044"/>
              <a:gd name="connsiteY5" fmla="*/ 365414 h 1194927"/>
              <a:gd name="connsiteX6" fmla="*/ 819149 w 4266044"/>
              <a:gd name="connsiteY6" fmla="*/ 538596 h 1194927"/>
              <a:gd name="connsiteX7" fmla="*/ 954231 w 4266044"/>
              <a:gd name="connsiteY7" fmla="*/ 808759 h 1194927"/>
              <a:gd name="connsiteX8" fmla="*/ 1459922 w 4266044"/>
              <a:gd name="connsiteY8" fmla="*/ 947305 h 1194927"/>
              <a:gd name="connsiteX9" fmla="*/ 2530186 w 4266044"/>
              <a:gd name="connsiteY9" fmla="*/ 1016578 h 1194927"/>
              <a:gd name="connsiteX10" fmla="*/ 2744931 w 4266044"/>
              <a:gd name="connsiteY10" fmla="*/ 1013114 h 1194927"/>
              <a:gd name="connsiteX11" fmla="*/ 2873086 w 4266044"/>
              <a:gd name="connsiteY11" fmla="*/ 957696 h 1194927"/>
              <a:gd name="connsiteX12" fmla="*/ 2949286 w 4266044"/>
              <a:gd name="connsiteY12" fmla="*/ 697923 h 1194927"/>
              <a:gd name="connsiteX13" fmla="*/ 2945822 w 4266044"/>
              <a:gd name="connsiteY13" fmla="*/ 445078 h 1194927"/>
              <a:gd name="connsiteX14" fmla="*/ 3060122 w 4266044"/>
              <a:gd name="connsiteY14" fmla="*/ 126423 h 1194927"/>
              <a:gd name="connsiteX15" fmla="*/ 3784022 w 4266044"/>
              <a:gd name="connsiteY15" fmla="*/ 88323 h 1194927"/>
              <a:gd name="connsiteX16" fmla="*/ 4009159 w 4266044"/>
              <a:gd name="connsiteY16" fmla="*/ 126423 h 1194927"/>
              <a:gd name="connsiteX17" fmla="*/ 4109604 w 4266044"/>
              <a:gd name="connsiteY17" fmla="*/ 237259 h 1194927"/>
              <a:gd name="connsiteX18" fmla="*/ 4213513 w 4266044"/>
              <a:gd name="connsiteY18" fmla="*/ 427759 h 1194927"/>
              <a:gd name="connsiteX19" fmla="*/ 4258540 w 4266044"/>
              <a:gd name="connsiteY19" fmla="*/ 635578 h 1194927"/>
              <a:gd name="connsiteX20" fmla="*/ 4258540 w 4266044"/>
              <a:gd name="connsiteY20" fmla="*/ 791441 h 1194927"/>
              <a:gd name="connsiteX21" fmla="*/ 4251613 w 4266044"/>
              <a:gd name="connsiteY21" fmla="*/ 815687 h 1194927"/>
              <a:gd name="connsiteX22" fmla="*/ 4223904 w 4266044"/>
              <a:gd name="connsiteY22" fmla="*/ 871105 h 1194927"/>
              <a:gd name="connsiteX23" fmla="*/ 4137313 w 4266044"/>
              <a:gd name="connsiteY23" fmla="*/ 912668 h 1194927"/>
              <a:gd name="connsiteX24" fmla="*/ 3932424 w 4266044"/>
              <a:gd name="connsiteY24" fmla="*/ 1032438 h 1194927"/>
              <a:gd name="connsiteX25" fmla="*/ 3500376 w 4266044"/>
              <a:gd name="connsiteY25" fmla="*/ 1104446 h 1194927"/>
              <a:gd name="connsiteX26" fmla="*/ 2780296 w 4266044"/>
              <a:gd name="connsiteY26" fmla="*/ 1176454 h 1194927"/>
              <a:gd name="connsiteX27" fmla="*/ 1916200 w 4266044"/>
              <a:gd name="connsiteY27" fmla="*/ 1176454 h 1194927"/>
              <a:gd name="connsiteX28" fmla="*/ 836080 w 4266044"/>
              <a:gd name="connsiteY28" fmla="*/ 1104446 h 1194927"/>
              <a:gd name="connsiteX29" fmla="*/ 548048 w 4266044"/>
              <a:gd name="connsiteY29" fmla="*/ 1032438 h 1194927"/>
              <a:gd name="connsiteX30" fmla="*/ 285749 w 4266044"/>
              <a:gd name="connsiteY30" fmla="*/ 919596 h 1194927"/>
              <a:gd name="connsiteX31" fmla="*/ 46759 w 4266044"/>
              <a:gd name="connsiteY31" fmla="*/ 774123 h 1194927"/>
              <a:gd name="connsiteX32" fmla="*/ 15586 w 4266044"/>
              <a:gd name="connsiteY32" fmla="*/ 514350 h 1194927"/>
              <a:gd name="connsiteX33" fmla="*/ 147204 w 4266044"/>
              <a:gd name="connsiteY33" fmla="*/ 77932 h 1194927"/>
              <a:gd name="connsiteX0" fmla="*/ 147204 w 4266044"/>
              <a:gd name="connsiteY0" fmla="*/ 77932 h 1200457"/>
              <a:gd name="connsiteX1" fmla="*/ 337704 w 4266044"/>
              <a:gd name="connsiteY1" fmla="*/ 46759 h 1200457"/>
              <a:gd name="connsiteX2" fmla="*/ 393122 w 4266044"/>
              <a:gd name="connsiteY2" fmla="*/ 50223 h 1200457"/>
              <a:gd name="connsiteX3" fmla="*/ 642504 w 4266044"/>
              <a:gd name="connsiteY3" fmla="*/ 195696 h 1200457"/>
              <a:gd name="connsiteX4" fmla="*/ 749877 w 4266044"/>
              <a:gd name="connsiteY4" fmla="*/ 355023 h 1200457"/>
              <a:gd name="connsiteX5" fmla="*/ 749877 w 4266044"/>
              <a:gd name="connsiteY5" fmla="*/ 365414 h 1200457"/>
              <a:gd name="connsiteX6" fmla="*/ 819149 w 4266044"/>
              <a:gd name="connsiteY6" fmla="*/ 538596 h 1200457"/>
              <a:gd name="connsiteX7" fmla="*/ 954231 w 4266044"/>
              <a:gd name="connsiteY7" fmla="*/ 808759 h 1200457"/>
              <a:gd name="connsiteX8" fmla="*/ 1459922 w 4266044"/>
              <a:gd name="connsiteY8" fmla="*/ 947305 h 1200457"/>
              <a:gd name="connsiteX9" fmla="*/ 2530186 w 4266044"/>
              <a:gd name="connsiteY9" fmla="*/ 1016578 h 1200457"/>
              <a:gd name="connsiteX10" fmla="*/ 2744931 w 4266044"/>
              <a:gd name="connsiteY10" fmla="*/ 1013114 h 1200457"/>
              <a:gd name="connsiteX11" fmla="*/ 2873086 w 4266044"/>
              <a:gd name="connsiteY11" fmla="*/ 957696 h 1200457"/>
              <a:gd name="connsiteX12" fmla="*/ 2949286 w 4266044"/>
              <a:gd name="connsiteY12" fmla="*/ 697923 h 1200457"/>
              <a:gd name="connsiteX13" fmla="*/ 2945822 w 4266044"/>
              <a:gd name="connsiteY13" fmla="*/ 445078 h 1200457"/>
              <a:gd name="connsiteX14" fmla="*/ 3060122 w 4266044"/>
              <a:gd name="connsiteY14" fmla="*/ 126423 h 1200457"/>
              <a:gd name="connsiteX15" fmla="*/ 3784022 w 4266044"/>
              <a:gd name="connsiteY15" fmla="*/ 88323 h 1200457"/>
              <a:gd name="connsiteX16" fmla="*/ 4009159 w 4266044"/>
              <a:gd name="connsiteY16" fmla="*/ 126423 h 1200457"/>
              <a:gd name="connsiteX17" fmla="*/ 4109604 w 4266044"/>
              <a:gd name="connsiteY17" fmla="*/ 237259 h 1200457"/>
              <a:gd name="connsiteX18" fmla="*/ 4213513 w 4266044"/>
              <a:gd name="connsiteY18" fmla="*/ 427759 h 1200457"/>
              <a:gd name="connsiteX19" fmla="*/ 4258540 w 4266044"/>
              <a:gd name="connsiteY19" fmla="*/ 635578 h 1200457"/>
              <a:gd name="connsiteX20" fmla="*/ 4258540 w 4266044"/>
              <a:gd name="connsiteY20" fmla="*/ 791441 h 1200457"/>
              <a:gd name="connsiteX21" fmla="*/ 4251613 w 4266044"/>
              <a:gd name="connsiteY21" fmla="*/ 815687 h 1200457"/>
              <a:gd name="connsiteX22" fmla="*/ 4223904 w 4266044"/>
              <a:gd name="connsiteY22" fmla="*/ 871105 h 1200457"/>
              <a:gd name="connsiteX23" fmla="*/ 4137313 w 4266044"/>
              <a:gd name="connsiteY23" fmla="*/ 912668 h 1200457"/>
              <a:gd name="connsiteX24" fmla="*/ 3932424 w 4266044"/>
              <a:gd name="connsiteY24" fmla="*/ 1032438 h 1200457"/>
              <a:gd name="connsiteX25" fmla="*/ 3500376 w 4266044"/>
              <a:gd name="connsiteY25" fmla="*/ 1176454 h 1200457"/>
              <a:gd name="connsiteX26" fmla="*/ 2780296 w 4266044"/>
              <a:gd name="connsiteY26" fmla="*/ 1176454 h 1200457"/>
              <a:gd name="connsiteX27" fmla="*/ 1916200 w 4266044"/>
              <a:gd name="connsiteY27" fmla="*/ 1176454 h 1200457"/>
              <a:gd name="connsiteX28" fmla="*/ 836080 w 4266044"/>
              <a:gd name="connsiteY28" fmla="*/ 1104446 h 1200457"/>
              <a:gd name="connsiteX29" fmla="*/ 548048 w 4266044"/>
              <a:gd name="connsiteY29" fmla="*/ 1032438 h 1200457"/>
              <a:gd name="connsiteX30" fmla="*/ 285749 w 4266044"/>
              <a:gd name="connsiteY30" fmla="*/ 919596 h 1200457"/>
              <a:gd name="connsiteX31" fmla="*/ 46759 w 4266044"/>
              <a:gd name="connsiteY31" fmla="*/ 774123 h 1200457"/>
              <a:gd name="connsiteX32" fmla="*/ 15586 w 4266044"/>
              <a:gd name="connsiteY32" fmla="*/ 514350 h 1200457"/>
              <a:gd name="connsiteX33" fmla="*/ 147204 w 4266044"/>
              <a:gd name="connsiteY33" fmla="*/ 77932 h 1200457"/>
              <a:gd name="connsiteX0" fmla="*/ 147204 w 4266044"/>
              <a:gd name="connsiteY0" fmla="*/ 77932 h 1248462"/>
              <a:gd name="connsiteX1" fmla="*/ 337704 w 4266044"/>
              <a:gd name="connsiteY1" fmla="*/ 46759 h 1248462"/>
              <a:gd name="connsiteX2" fmla="*/ 393122 w 4266044"/>
              <a:gd name="connsiteY2" fmla="*/ 50223 h 1248462"/>
              <a:gd name="connsiteX3" fmla="*/ 642504 w 4266044"/>
              <a:gd name="connsiteY3" fmla="*/ 195696 h 1248462"/>
              <a:gd name="connsiteX4" fmla="*/ 749877 w 4266044"/>
              <a:gd name="connsiteY4" fmla="*/ 355023 h 1248462"/>
              <a:gd name="connsiteX5" fmla="*/ 749877 w 4266044"/>
              <a:gd name="connsiteY5" fmla="*/ 365414 h 1248462"/>
              <a:gd name="connsiteX6" fmla="*/ 819149 w 4266044"/>
              <a:gd name="connsiteY6" fmla="*/ 538596 h 1248462"/>
              <a:gd name="connsiteX7" fmla="*/ 954231 w 4266044"/>
              <a:gd name="connsiteY7" fmla="*/ 808759 h 1248462"/>
              <a:gd name="connsiteX8" fmla="*/ 1459922 w 4266044"/>
              <a:gd name="connsiteY8" fmla="*/ 947305 h 1248462"/>
              <a:gd name="connsiteX9" fmla="*/ 2530186 w 4266044"/>
              <a:gd name="connsiteY9" fmla="*/ 1016578 h 1248462"/>
              <a:gd name="connsiteX10" fmla="*/ 2744931 w 4266044"/>
              <a:gd name="connsiteY10" fmla="*/ 1013114 h 1248462"/>
              <a:gd name="connsiteX11" fmla="*/ 2873086 w 4266044"/>
              <a:gd name="connsiteY11" fmla="*/ 957696 h 1248462"/>
              <a:gd name="connsiteX12" fmla="*/ 2949286 w 4266044"/>
              <a:gd name="connsiteY12" fmla="*/ 697923 h 1248462"/>
              <a:gd name="connsiteX13" fmla="*/ 2945822 w 4266044"/>
              <a:gd name="connsiteY13" fmla="*/ 445078 h 1248462"/>
              <a:gd name="connsiteX14" fmla="*/ 3060122 w 4266044"/>
              <a:gd name="connsiteY14" fmla="*/ 126423 h 1248462"/>
              <a:gd name="connsiteX15" fmla="*/ 3784022 w 4266044"/>
              <a:gd name="connsiteY15" fmla="*/ 88323 h 1248462"/>
              <a:gd name="connsiteX16" fmla="*/ 4009159 w 4266044"/>
              <a:gd name="connsiteY16" fmla="*/ 126423 h 1248462"/>
              <a:gd name="connsiteX17" fmla="*/ 4109604 w 4266044"/>
              <a:gd name="connsiteY17" fmla="*/ 237259 h 1248462"/>
              <a:gd name="connsiteX18" fmla="*/ 4213513 w 4266044"/>
              <a:gd name="connsiteY18" fmla="*/ 427759 h 1248462"/>
              <a:gd name="connsiteX19" fmla="*/ 4258540 w 4266044"/>
              <a:gd name="connsiteY19" fmla="*/ 635578 h 1248462"/>
              <a:gd name="connsiteX20" fmla="*/ 4258540 w 4266044"/>
              <a:gd name="connsiteY20" fmla="*/ 791441 h 1248462"/>
              <a:gd name="connsiteX21" fmla="*/ 4251613 w 4266044"/>
              <a:gd name="connsiteY21" fmla="*/ 815687 h 1248462"/>
              <a:gd name="connsiteX22" fmla="*/ 4223904 w 4266044"/>
              <a:gd name="connsiteY22" fmla="*/ 871105 h 1248462"/>
              <a:gd name="connsiteX23" fmla="*/ 4137313 w 4266044"/>
              <a:gd name="connsiteY23" fmla="*/ 912668 h 1248462"/>
              <a:gd name="connsiteX24" fmla="*/ 3932424 w 4266044"/>
              <a:gd name="connsiteY24" fmla="*/ 1032438 h 1248462"/>
              <a:gd name="connsiteX25" fmla="*/ 3500376 w 4266044"/>
              <a:gd name="connsiteY25" fmla="*/ 1176454 h 1248462"/>
              <a:gd name="connsiteX26" fmla="*/ 2780296 w 4266044"/>
              <a:gd name="connsiteY26" fmla="*/ 1248462 h 1248462"/>
              <a:gd name="connsiteX27" fmla="*/ 1916200 w 4266044"/>
              <a:gd name="connsiteY27" fmla="*/ 1176454 h 1248462"/>
              <a:gd name="connsiteX28" fmla="*/ 836080 w 4266044"/>
              <a:gd name="connsiteY28" fmla="*/ 1104446 h 1248462"/>
              <a:gd name="connsiteX29" fmla="*/ 548048 w 4266044"/>
              <a:gd name="connsiteY29" fmla="*/ 1032438 h 1248462"/>
              <a:gd name="connsiteX30" fmla="*/ 285749 w 4266044"/>
              <a:gd name="connsiteY30" fmla="*/ 919596 h 1248462"/>
              <a:gd name="connsiteX31" fmla="*/ 46759 w 4266044"/>
              <a:gd name="connsiteY31" fmla="*/ 774123 h 1248462"/>
              <a:gd name="connsiteX32" fmla="*/ 15586 w 4266044"/>
              <a:gd name="connsiteY32" fmla="*/ 514350 h 1248462"/>
              <a:gd name="connsiteX33" fmla="*/ 147204 w 4266044"/>
              <a:gd name="connsiteY33" fmla="*/ 77932 h 1248462"/>
              <a:gd name="connsiteX0" fmla="*/ 147204 w 4266044"/>
              <a:gd name="connsiteY0" fmla="*/ 77932 h 1248462"/>
              <a:gd name="connsiteX1" fmla="*/ 337704 w 4266044"/>
              <a:gd name="connsiteY1" fmla="*/ 46759 h 1248462"/>
              <a:gd name="connsiteX2" fmla="*/ 393122 w 4266044"/>
              <a:gd name="connsiteY2" fmla="*/ 50223 h 1248462"/>
              <a:gd name="connsiteX3" fmla="*/ 642504 w 4266044"/>
              <a:gd name="connsiteY3" fmla="*/ 195696 h 1248462"/>
              <a:gd name="connsiteX4" fmla="*/ 749877 w 4266044"/>
              <a:gd name="connsiteY4" fmla="*/ 355023 h 1248462"/>
              <a:gd name="connsiteX5" fmla="*/ 749877 w 4266044"/>
              <a:gd name="connsiteY5" fmla="*/ 365414 h 1248462"/>
              <a:gd name="connsiteX6" fmla="*/ 819149 w 4266044"/>
              <a:gd name="connsiteY6" fmla="*/ 538596 h 1248462"/>
              <a:gd name="connsiteX7" fmla="*/ 954231 w 4266044"/>
              <a:gd name="connsiteY7" fmla="*/ 808759 h 1248462"/>
              <a:gd name="connsiteX8" fmla="*/ 1459922 w 4266044"/>
              <a:gd name="connsiteY8" fmla="*/ 947305 h 1248462"/>
              <a:gd name="connsiteX9" fmla="*/ 2530186 w 4266044"/>
              <a:gd name="connsiteY9" fmla="*/ 1016578 h 1248462"/>
              <a:gd name="connsiteX10" fmla="*/ 2744931 w 4266044"/>
              <a:gd name="connsiteY10" fmla="*/ 1013114 h 1248462"/>
              <a:gd name="connsiteX11" fmla="*/ 2873086 w 4266044"/>
              <a:gd name="connsiteY11" fmla="*/ 957696 h 1248462"/>
              <a:gd name="connsiteX12" fmla="*/ 2949286 w 4266044"/>
              <a:gd name="connsiteY12" fmla="*/ 697923 h 1248462"/>
              <a:gd name="connsiteX13" fmla="*/ 2945822 w 4266044"/>
              <a:gd name="connsiteY13" fmla="*/ 445078 h 1248462"/>
              <a:gd name="connsiteX14" fmla="*/ 3060122 w 4266044"/>
              <a:gd name="connsiteY14" fmla="*/ 126423 h 1248462"/>
              <a:gd name="connsiteX15" fmla="*/ 3784022 w 4266044"/>
              <a:gd name="connsiteY15" fmla="*/ 88323 h 1248462"/>
              <a:gd name="connsiteX16" fmla="*/ 4009159 w 4266044"/>
              <a:gd name="connsiteY16" fmla="*/ 126423 h 1248462"/>
              <a:gd name="connsiteX17" fmla="*/ 4109604 w 4266044"/>
              <a:gd name="connsiteY17" fmla="*/ 237259 h 1248462"/>
              <a:gd name="connsiteX18" fmla="*/ 4213513 w 4266044"/>
              <a:gd name="connsiteY18" fmla="*/ 427759 h 1248462"/>
              <a:gd name="connsiteX19" fmla="*/ 4258540 w 4266044"/>
              <a:gd name="connsiteY19" fmla="*/ 635578 h 1248462"/>
              <a:gd name="connsiteX20" fmla="*/ 4258540 w 4266044"/>
              <a:gd name="connsiteY20" fmla="*/ 791441 h 1248462"/>
              <a:gd name="connsiteX21" fmla="*/ 4251613 w 4266044"/>
              <a:gd name="connsiteY21" fmla="*/ 815687 h 1248462"/>
              <a:gd name="connsiteX22" fmla="*/ 4223904 w 4266044"/>
              <a:gd name="connsiteY22" fmla="*/ 871105 h 1248462"/>
              <a:gd name="connsiteX23" fmla="*/ 4137313 w 4266044"/>
              <a:gd name="connsiteY23" fmla="*/ 912668 h 1248462"/>
              <a:gd name="connsiteX24" fmla="*/ 3932424 w 4266044"/>
              <a:gd name="connsiteY24" fmla="*/ 1032438 h 1248462"/>
              <a:gd name="connsiteX25" fmla="*/ 3500376 w 4266044"/>
              <a:gd name="connsiteY25" fmla="*/ 1176454 h 1248462"/>
              <a:gd name="connsiteX26" fmla="*/ 2780296 w 4266044"/>
              <a:gd name="connsiteY26" fmla="*/ 1248462 h 1248462"/>
              <a:gd name="connsiteX27" fmla="*/ 1916200 w 4266044"/>
              <a:gd name="connsiteY27" fmla="*/ 1176453 h 1248462"/>
              <a:gd name="connsiteX28" fmla="*/ 836080 w 4266044"/>
              <a:gd name="connsiteY28" fmla="*/ 1104446 h 1248462"/>
              <a:gd name="connsiteX29" fmla="*/ 548048 w 4266044"/>
              <a:gd name="connsiteY29" fmla="*/ 1032438 h 1248462"/>
              <a:gd name="connsiteX30" fmla="*/ 285749 w 4266044"/>
              <a:gd name="connsiteY30" fmla="*/ 919596 h 1248462"/>
              <a:gd name="connsiteX31" fmla="*/ 46759 w 4266044"/>
              <a:gd name="connsiteY31" fmla="*/ 774123 h 1248462"/>
              <a:gd name="connsiteX32" fmla="*/ 15586 w 4266044"/>
              <a:gd name="connsiteY32" fmla="*/ 514350 h 1248462"/>
              <a:gd name="connsiteX33" fmla="*/ 147204 w 4266044"/>
              <a:gd name="connsiteY33" fmla="*/ 77932 h 1248462"/>
              <a:gd name="connsiteX0" fmla="*/ 147204 w 4266044"/>
              <a:gd name="connsiteY0" fmla="*/ 77932 h 1248462"/>
              <a:gd name="connsiteX1" fmla="*/ 337704 w 4266044"/>
              <a:gd name="connsiteY1" fmla="*/ 46759 h 1248462"/>
              <a:gd name="connsiteX2" fmla="*/ 642504 w 4266044"/>
              <a:gd name="connsiteY2" fmla="*/ 195696 h 1248462"/>
              <a:gd name="connsiteX3" fmla="*/ 749877 w 4266044"/>
              <a:gd name="connsiteY3" fmla="*/ 355023 h 1248462"/>
              <a:gd name="connsiteX4" fmla="*/ 749877 w 4266044"/>
              <a:gd name="connsiteY4" fmla="*/ 365414 h 1248462"/>
              <a:gd name="connsiteX5" fmla="*/ 819149 w 4266044"/>
              <a:gd name="connsiteY5" fmla="*/ 538596 h 1248462"/>
              <a:gd name="connsiteX6" fmla="*/ 954231 w 4266044"/>
              <a:gd name="connsiteY6" fmla="*/ 808759 h 1248462"/>
              <a:gd name="connsiteX7" fmla="*/ 1459922 w 4266044"/>
              <a:gd name="connsiteY7" fmla="*/ 947305 h 1248462"/>
              <a:gd name="connsiteX8" fmla="*/ 2530186 w 4266044"/>
              <a:gd name="connsiteY8" fmla="*/ 1016578 h 1248462"/>
              <a:gd name="connsiteX9" fmla="*/ 2744931 w 4266044"/>
              <a:gd name="connsiteY9" fmla="*/ 1013114 h 1248462"/>
              <a:gd name="connsiteX10" fmla="*/ 2873086 w 4266044"/>
              <a:gd name="connsiteY10" fmla="*/ 957696 h 1248462"/>
              <a:gd name="connsiteX11" fmla="*/ 2949286 w 4266044"/>
              <a:gd name="connsiteY11" fmla="*/ 697923 h 1248462"/>
              <a:gd name="connsiteX12" fmla="*/ 2945822 w 4266044"/>
              <a:gd name="connsiteY12" fmla="*/ 445078 h 1248462"/>
              <a:gd name="connsiteX13" fmla="*/ 3060122 w 4266044"/>
              <a:gd name="connsiteY13" fmla="*/ 126423 h 1248462"/>
              <a:gd name="connsiteX14" fmla="*/ 3784022 w 4266044"/>
              <a:gd name="connsiteY14" fmla="*/ 88323 h 1248462"/>
              <a:gd name="connsiteX15" fmla="*/ 4009159 w 4266044"/>
              <a:gd name="connsiteY15" fmla="*/ 126423 h 1248462"/>
              <a:gd name="connsiteX16" fmla="*/ 4109604 w 4266044"/>
              <a:gd name="connsiteY16" fmla="*/ 237259 h 1248462"/>
              <a:gd name="connsiteX17" fmla="*/ 4213513 w 4266044"/>
              <a:gd name="connsiteY17" fmla="*/ 427759 h 1248462"/>
              <a:gd name="connsiteX18" fmla="*/ 4258540 w 4266044"/>
              <a:gd name="connsiteY18" fmla="*/ 635578 h 1248462"/>
              <a:gd name="connsiteX19" fmla="*/ 4258540 w 4266044"/>
              <a:gd name="connsiteY19" fmla="*/ 791441 h 1248462"/>
              <a:gd name="connsiteX20" fmla="*/ 4251613 w 4266044"/>
              <a:gd name="connsiteY20" fmla="*/ 815687 h 1248462"/>
              <a:gd name="connsiteX21" fmla="*/ 4223904 w 4266044"/>
              <a:gd name="connsiteY21" fmla="*/ 871105 h 1248462"/>
              <a:gd name="connsiteX22" fmla="*/ 4137313 w 4266044"/>
              <a:gd name="connsiteY22" fmla="*/ 912668 h 1248462"/>
              <a:gd name="connsiteX23" fmla="*/ 3932424 w 4266044"/>
              <a:gd name="connsiteY23" fmla="*/ 1032438 h 1248462"/>
              <a:gd name="connsiteX24" fmla="*/ 3500376 w 4266044"/>
              <a:gd name="connsiteY24" fmla="*/ 1176454 h 1248462"/>
              <a:gd name="connsiteX25" fmla="*/ 2780296 w 4266044"/>
              <a:gd name="connsiteY25" fmla="*/ 1248462 h 1248462"/>
              <a:gd name="connsiteX26" fmla="*/ 1916200 w 4266044"/>
              <a:gd name="connsiteY26" fmla="*/ 1176453 h 1248462"/>
              <a:gd name="connsiteX27" fmla="*/ 836080 w 4266044"/>
              <a:gd name="connsiteY27" fmla="*/ 1104446 h 1248462"/>
              <a:gd name="connsiteX28" fmla="*/ 548048 w 4266044"/>
              <a:gd name="connsiteY28" fmla="*/ 1032438 h 1248462"/>
              <a:gd name="connsiteX29" fmla="*/ 285749 w 4266044"/>
              <a:gd name="connsiteY29" fmla="*/ 919596 h 1248462"/>
              <a:gd name="connsiteX30" fmla="*/ 46759 w 4266044"/>
              <a:gd name="connsiteY30" fmla="*/ 774123 h 1248462"/>
              <a:gd name="connsiteX31" fmla="*/ 15586 w 4266044"/>
              <a:gd name="connsiteY31" fmla="*/ 514350 h 1248462"/>
              <a:gd name="connsiteX32" fmla="*/ 147204 w 4266044"/>
              <a:gd name="connsiteY32" fmla="*/ 77932 h 1248462"/>
              <a:gd name="connsiteX0" fmla="*/ 114268 w 4264312"/>
              <a:gd name="connsiteY0" fmla="*/ 126142 h 1206262"/>
              <a:gd name="connsiteX1" fmla="*/ 335972 w 4264312"/>
              <a:gd name="connsiteY1" fmla="*/ 4559 h 1206262"/>
              <a:gd name="connsiteX2" fmla="*/ 640772 w 4264312"/>
              <a:gd name="connsiteY2" fmla="*/ 153496 h 1206262"/>
              <a:gd name="connsiteX3" fmla="*/ 748145 w 4264312"/>
              <a:gd name="connsiteY3" fmla="*/ 312823 h 1206262"/>
              <a:gd name="connsiteX4" fmla="*/ 748145 w 4264312"/>
              <a:gd name="connsiteY4" fmla="*/ 323214 h 1206262"/>
              <a:gd name="connsiteX5" fmla="*/ 817417 w 4264312"/>
              <a:gd name="connsiteY5" fmla="*/ 496396 h 1206262"/>
              <a:gd name="connsiteX6" fmla="*/ 952499 w 4264312"/>
              <a:gd name="connsiteY6" fmla="*/ 766559 h 1206262"/>
              <a:gd name="connsiteX7" fmla="*/ 1458190 w 4264312"/>
              <a:gd name="connsiteY7" fmla="*/ 905105 h 1206262"/>
              <a:gd name="connsiteX8" fmla="*/ 2528454 w 4264312"/>
              <a:gd name="connsiteY8" fmla="*/ 974378 h 1206262"/>
              <a:gd name="connsiteX9" fmla="*/ 2743199 w 4264312"/>
              <a:gd name="connsiteY9" fmla="*/ 970914 h 1206262"/>
              <a:gd name="connsiteX10" fmla="*/ 2871354 w 4264312"/>
              <a:gd name="connsiteY10" fmla="*/ 915496 h 1206262"/>
              <a:gd name="connsiteX11" fmla="*/ 2947554 w 4264312"/>
              <a:gd name="connsiteY11" fmla="*/ 655723 h 1206262"/>
              <a:gd name="connsiteX12" fmla="*/ 2944090 w 4264312"/>
              <a:gd name="connsiteY12" fmla="*/ 402878 h 1206262"/>
              <a:gd name="connsiteX13" fmla="*/ 3058390 w 4264312"/>
              <a:gd name="connsiteY13" fmla="*/ 84223 h 1206262"/>
              <a:gd name="connsiteX14" fmla="*/ 3782290 w 4264312"/>
              <a:gd name="connsiteY14" fmla="*/ 46123 h 1206262"/>
              <a:gd name="connsiteX15" fmla="*/ 4007427 w 4264312"/>
              <a:gd name="connsiteY15" fmla="*/ 84223 h 1206262"/>
              <a:gd name="connsiteX16" fmla="*/ 4107872 w 4264312"/>
              <a:gd name="connsiteY16" fmla="*/ 195059 h 1206262"/>
              <a:gd name="connsiteX17" fmla="*/ 4211781 w 4264312"/>
              <a:gd name="connsiteY17" fmla="*/ 385559 h 1206262"/>
              <a:gd name="connsiteX18" fmla="*/ 4256808 w 4264312"/>
              <a:gd name="connsiteY18" fmla="*/ 593378 h 1206262"/>
              <a:gd name="connsiteX19" fmla="*/ 4256808 w 4264312"/>
              <a:gd name="connsiteY19" fmla="*/ 749241 h 1206262"/>
              <a:gd name="connsiteX20" fmla="*/ 4249881 w 4264312"/>
              <a:gd name="connsiteY20" fmla="*/ 773487 h 1206262"/>
              <a:gd name="connsiteX21" fmla="*/ 4222172 w 4264312"/>
              <a:gd name="connsiteY21" fmla="*/ 828905 h 1206262"/>
              <a:gd name="connsiteX22" fmla="*/ 4135581 w 4264312"/>
              <a:gd name="connsiteY22" fmla="*/ 870468 h 1206262"/>
              <a:gd name="connsiteX23" fmla="*/ 3930692 w 4264312"/>
              <a:gd name="connsiteY23" fmla="*/ 990238 h 1206262"/>
              <a:gd name="connsiteX24" fmla="*/ 3498644 w 4264312"/>
              <a:gd name="connsiteY24" fmla="*/ 1134254 h 1206262"/>
              <a:gd name="connsiteX25" fmla="*/ 2778564 w 4264312"/>
              <a:gd name="connsiteY25" fmla="*/ 1206262 h 1206262"/>
              <a:gd name="connsiteX26" fmla="*/ 1914468 w 4264312"/>
              <a:gd name="connsiteY26" fmla="*/ 1134253 h 1206262"/>
              <a:gd name="connsiteX27" fmla="*/ 834348 w 4264312"/>
              <a:gd name="connsiteY27" fmla="*/ 1062246 h 1206262"/>
              <a:gd name="connsiteX28" fmla="*/ 546316 w 4264312"/>
              <a:gd name="connsiteY28" fmla="*/ 990238 h 1206262"/>
              <a:gd name="connsiteX29" fmla="*/ 284017 w 4264312"/>
              <a:gd name="connsiteY29" fmla="*/ 877396 h 1206262"/>
              <a:gd name="connsiteX30" fmla="*/ 45027 w 4264312"/>
              <a:gd name="connsiteY30" fmla="*/ 731923 h 1206262"/>
              <a:gd name="connsiteX31" fmla="*/ 13854 w 4264312"/>
              <a:gd name="connsiteY31" fmla="*/ 472150 h 1206262"/>
              <a:gd name="connsiteX32" fmla="*/ 114268 w 4264312"/>
              <a:gd name="connsiteY32" fmla="*/ 126142 h 1206262"/>
              <a:gd name="connsiteX0" fmla="*/ 121981 w 4272025"/>
              <a:gd name="connsiteY0" fmla="*/ 126142 h 1206262"/>
              <a:gd name="connsiteX1" fmla="*/ 343685 w 4272025"/>
              <a:gd name="connsiteY1" fmla="*/ 4559 h 1206262"/>
              <a:gd name="connsiteX2" fmla="*/ 648485 w 4272025"/>
              <a:gd name="connsiteY2" fmla="*/ 153496 h 1206262"/>
              <a:gd name="connsiteX3" fmla="*/ 755858 w 4272025"/>
              <a:gd name="connsiteY3" fmla="*/ 312823 h 1206262"/>
              <a:gd name="connsiteX4" fmla="*/ 755858 w 4272025"/>
              <a:gd name="connsiteY4" fmla="*/ 323214 h 1206262"/>
              <a:gd name="connsiteX5" fmla="*/ 825130 w 4272025"/>
              <a:gd name="connsiteY5" fmla="*/ 496396 h 1206262"/>
              <a:gd name="connsiteX6" fmla="*/ 960212 w 4272025"/>
              <a:gd name="connsiteY6" fmla="*/ 766559 h 1206262"/>
              <a:gd name="connsiteX7" fmla="*/ 1465903 w 4272025"/>
              <a:gd name="connsiteY7" fmla="*/ 905105 h 1206262"/>
              <a:gd name="connsiteX8" fmla="*/ 2536167 w 4272025"/>
              <a:gd name="connsiteY8" fmla="*/ 974378 h 1206262"/>
              <a:gd name="connsiteX9" fmla="*/ 2750912 w 4272025"/>
              <a:gd name="connsiteY9" fmla="*/ 970914 h 1206262"/>
              <a:gd name="connsiteX10" fmla="*/ 2879067 w 4272025"/>
              <a:gd name="connsiteY10" fmla="*/ 915496 h 1206262"/>
              <a:gd name="connsiteX11" fmla="*/ 2955267 w 4272025"/>
              <a:gd name="connsiteY11" fmla="*/ 655723 h 1206262"/>
              <a:gd name="connsiteX12" fmla="*/ 2951803 w 4272025"/>
              <a:gd name="connsiteY12" fmla="*/ 402878 h 1206262"/>
              <a:gd name="connsiteX13" fmla="*/ 3066103 w 4272025"/>
              <a:gd name="connsiteY13" fmla="*/ 84223 h 1206262"/>
              <a:gd name="connsiteX14" fmla="*/ 3790003 w 4272025"/>
              <a:gd name="connsiteY14" fmla="*/ 46123 h 1206262"/>
              <a:gd name="connsiteX15" fmla="*/ 4015140 w 4272025"/>
              <a:gd name="connsiteY15" fmla="*/ 84223 h 1206262"/>
              <a:gd name="connsiteX16" fmla="*/ 4115585 w 4272025"/>
              <a:gd name="connsiteY16" fmla="*/ 195059 h 1206262"/>
              <a:gd name="connsiteX17" fmla="*/ 4219494 w 4272025"/>
              <a:gd name="connsiteY17" fmla="*/ 385559 h 1206262"/>
              <a:gd name="connsiteX18" fmla="*/ 4264521 w 4272025"/>
              <a:gd name="connsiteY18" fmla="*/ 593378 h 1206262"/>
              <a:gd name="connsiteX19" fmla="*/ 4264521 w 4272025"/>
              <a:gd name="connsiteY19" fmla="*/ 749241 h 1206262"/>
              <a:gd name="connsiteX20" fmla="*/ 4257594 w 4272025"/>
              <a:gd name="connsiteY20" fmla="*/ 773487 h 1206262"/>
              <a:gd name="connsiteX21" fmla="*/ 4229885 w 4272025"/>
              <a:gd name="connsiteY21" fmla="*/ 828905 h 1206262"/>
              <a:gd name="connsiteX22" fmla="*/ 4143294 w 4272025"/>
              <a:gd name="connsiteY22" fmla="*/ 870468 h 1206262"/>
              <a:gd name="connsiteX23" fmla="*/ 3938405 w 4272025"/>
              <a:gd name="connsiteY23" fmla="*/ 990238 h 1206262"/>
              <a:gd name="connsiteX24" fmla="*/ 3506357 w 4272025"/>
              <a:gd name="connsiteY24" fmla="*/ 1134254 h 1206262"/>
              <a:gd name="connsiteX25" fmla="*/ 2786277 w 4272025"/>
              <a:gd name="connsiteY25" fmla="*/ 1206262 h 1206262"/>
              <a:gd name="connsiteX26" fmla="*/ 1922181 w 4272025"/>
              <a:gd name="connsiteY26" fmla="*/ 1134253 h 1206262"/>
              <a:gd name="connsiteX27" fmla="*/ 842061 w 4272025"/>
              <a:gd name="connsiteY27" fmla="*/ 1062246 h 1206262"/>
              <a:gd name="connsiteX28" fmla="*/ 554029 w 4272025"/>
              <a:gd name="connsiteY28" fmla="*/ 990238 h 1206262"/>
              <a:gd name="connsiteX29" fmla="*/ 338005 w 4272025"/>
              <a:gd name="connsiteY29" fmla="*/ 918230 h 1206262"/>
              <a:gd name="connsiteX30" fmla="*/ 52740 w 4272025"/>
              <a:gd name="connsiteY30" fmla="*/ 731923 h 1206262"/>
              <a:gd name="connsiteX31" fmla="*/ 21567 w 4272025"/>
              <a:gd name="connsiteY31" fmla="*/ 472150 h 1206262"/>
              <a:gd name="connsiteX32" fmla="*/ 121981 w 4272025"/>
              <a:gd name="connsiteY32" fmla="*/ 126142 h 1206262"/>
              <a:gd name="connsiteX0" fmla="*/ 121981 w 4272025"/>
              <a:gd name="connsiteY0" fmla="*/ 126142 h 1206262"/>
              <a:gd name="connsiteX1" fmla="*/ 343685 w 4272025"/>
              <a:gd name="connsiteY1" fmla="*/ 4559 h 1206262"/>
              <a:gd name="connsiteX2" fmla="*/ 648485 w 4272025"/>
              <a:gd name="connsiteY2" fmla="*/ 153496 h 1206262"/>
              <a:gd name="connsiteX3" fmla="*/ 755858 w 4272025"/>
              <a:gd name="connsiteY3" fmla="*/ 312823 h 1206262"/>
              <a:gd name="connsiteX4" fmla="*/ 755858 w 4272025"/>
              <a:gd name="connsiteY4" fmla="*/ 323214 h 1206262"/>
              <a:gd name="connsiteX5" fmla="*/ 825130 w 4272025"/>
              <a:gd name="connsiteY5" fmla="*/ 496396 h 1206262"/>
              <a:gd name="connsiteX6" fmla="*/ 960212 w 4272025"/>
              <a:gd name="connsiteY6" fmla="*/ 766559 h 1206262"/>
              <a:gd name="connsiteX7" fmla="*/ 1465903 w 4272025"/>
              <a:gd name="connsiteY7" fmla="*/ 905105 h 1206262"/>
              <a:gd name="connsiteX8" fmla="*/ 2536167 w 4272025"/>
              <a:gd name="connsiteY8" fmla="*/ 974378 h 1206262"/>
              <a:gd name="connsiteX9" fmla="*/ 2750912 w 4272025"/>
              <a:gd name="connsiteY9" fmla="*/ 970914 h 1206262"/>
              <a:gd name="connsiteX10" fmla="*/ 2879067 w 4272025"/>
              <a:gd name="connsiteY10" fmla="*/ 915496 h 1206262"/>
              <a:gd name="connsiteX11" fmla="*/ 2955267 w 4272025"/>
              <a:gd name="connsiteY11" fmla="*/ 655723 h 1206262"/>
              <a:gd name="connsiteX12" fmla="*/ 2951803 w 4272025"/>
              <a:gd name="connsiteY12" fmla="*/ 402878 h 1206262"/>
              <a:gd name="connsiteX13" fmla="*/ 3066103 w 4272025"/>
              <a:gd name="connsiteY13" fmla="*/ 84223 h 1206262"/>
              <a:gd name="connsiteX14" fmla="*/ 3790003 w 4272025"/>
              <a:gd name="connsiteY14" fmla="*/ 46123 h 1206262"/>
              <a:gd name="connsiteX15" fmla="*/ 4015140 w 4272025"/>
              <a:gd name="connsiteY15" fmla="*/ 84223 h 1206262"/>
              <a:gd name="connsiteX16" fmla="*/ 4115585 w 4272025"/>
              <a:gd name="connsiteY16" fmla="*/ 195059 h 1206262"/>
              <a:gd name="connsiteX17" fmla="*/ 4219494 w 4272025"/>
              <a:gd name="connsiteY17" fmla="*/ 385559 h 1206262"/>
              <a:gd name="connsiteX18" fmla="*/ 4264521 w 4272025"/>
              <a:gd name="connsiteY18" fmla="*/ 593378 h 1206262"/>
              <a:gd name="connsiteX19" fmla="*/ 4264521 w 4272025"/>
              <a:gd name="connsiteY19" fmla="*/ 749241 h 1206262"/>
              <a:gd name="connsiteX20" fmla="*/ 4257594 w 4272025"/>
              <a:gd name="connsiteY20" fmla="*/ 773487 h 1206262"/>
              <a:gd name="connsiteX21" fmla="*/ 4229885 w 4272025"/>
              <a:gd name="connsiteY21" fmla="*/ 828905 h 1206262"/>
              <a:gd name="connsiteX22" fmla="*/ 4143294 w 4272025"/>
              <a:gd name="connsiteY22" fmla="*/ 870468 h 1206262"/>
              <a:gd name="connsiteX23" fmla="*/ 3938405 w 4272025"/>
              <a:gd name="connsiteY23" fmla="*/ 990238 h 1206262"/>
              <a:gd name="connsiteX24" fmla="*/ 3506357 w 4272025"/>
              <a:gd name="connsiteY24" fmla="*/ 1134254 h 1206262"/>
              <a:gd name="connsiteX25" fmla="*/ 2786277 w 4272025"/>
              <a:gd name="connsiteY25" fmla="*/ 1206262 h 1206262"/>
              <a:gd name="connsiteX26" fmla="*/ 1922181 w 4272025"/>
              <a:gd name="connsiteY26" fmla="*/ 1134253 h 1206262"/>
              <a:gd name="connsiteX27" fmla="*/ 842061 w 4272025"/>
              <a:gd name="connsiteY27" fmla="*/ 1062246 h 1206262"/>
              <a:gd name="connsiteX28" fmla="*/ 554030 w 4272025"/>
              <a:gd name="connsiteY28" fmla="*/ 990238 h 1206262"/>
              <a:gd name="connsiteX29" fmla="*/ 338005 w 4272025"/>
              <a:gd name="connsiteY29" fmla="*/ 918230 h 1206262"/>
              <a:gd name="connsiteX30" fmla="*/ 52740 w 4272025"/>
              <a:gd name="connsiteY30" fmla="*/ 731923 h 1206262"/>
              <a:gd name="connsiteX31" fmla="*/ 21567 w 4272025"/>
              <a:gd name="connsiteY31" fmla="*/ 472150 h 1206262"/>
              <a:gd name="connsiteX32" fmla="*/ 121981 w 4272025"/>
              <a:gd name="connsiteY32" fmla="*/ 126142 h 1206262"/>
              <a:gd name="connsiteX0" fmla="*/ 121981 w 4272025"/>
              <a:gd name="connsiteY0" fmla="*/ 126142 h 1206262"/>
              <a:gd name="connsiteX1" fmla="*/ 343685 w 4272025"/>
              <a:gd name="connsiteY1" fmla="*/ 4559 h 1206262"/>
              <a:gd name="connsiteX2" fmla="*/ 648485 w 4272025"/>
              <a:gd name="connsiteY2" fmla="*/ 153496 h 1206262"/>
              <a:gd name="connsiteX3" fmla="*/ 755858 w 4272025"/>
              <a:gd name="connsiteY3" fmla="*/ 312823 h 1206262"/>
              <a:gd name="connsiteX4" fmla="*/ 755858 w 4272025"/>
              <a:gd name="connsiteY4" fmla="*/ 323214 h 1206262"/>
              <a:gd name="connsiteX5" fmla="*/ 825130 w 4272025"/>
              <a:gd name="connsiteY5" fmla="*/ 496396 h 1206262"/>
              <a:gd name="connsiteX6" fmla="*/ 960212 w 4272025"/>
              <a:gd name="connsiteY6" fmla="*/ 766559 h 1206262"/>
              <a:gd name="connsiteX7" fmla="*/ 1465903 w 4272025"/>
              <a:gd name="connsiteY7" fmla="*/ 905105 h 1206262"/>
              <a:gd name="connsiteX8" fmla="*/ 2536167 w 4272025"/>
              <a:gd name="connsiteY8" fmla="*/ 974378 h 1206262"/>
              <a:gd name="connsiteX9" fmla="*/ 2750912 w 4272025"/>
              <a:gd name="connsiteY9" fmla="*/ 970914 h 1206262"/>
              <a:gd name="connsiteX10" fmla="*/ 2879067 w 4272025"/>
              <a:gd name="connsiteY10" fmla="*/ 915496 h 1206262"/>
              <a:gd name="connsiteX11" fmla="*/ 2955267 w 4272025"/>
              <a:gd name="connsiteY11" fmla="*/ 655723 h 1206262"/>
              <a:gd name="connsiteX12" fmla="*/ 2951803 w 4272025"/>
              <a:gd name="connsiteY12" fmla="*/ 402878 h 1206262"/>
              <a:gd name="connsiteX13" fmla="*/ 3066103 w 4272025"/>
              <a:gd name="connsiteY13" fmla="*/ 84223 h 1206262"/>
              <a:gd name="connsiteX14" fmla="*/ 3790003 w 4272025"/>
              <a:gd name="connsiteY14" fmla="*/ 46123 h 1206262"/>
              <a:gd name="connsiteX15" fmla="*/ 4015140 w 4272025"/>
              <a:gd name="connsiteY15" fmla="*/ 84223 h 1206262"/>
              <a:gd name="connsiteX16" fmla="*/ 4115585 w 4272025"/>
              <a:gd name="connsiteY16" fmla="*/ 195059 h 1206262"/>
              <a:gd name="connsiteX17" fmla="*/ 4219494 w 4272025"/>
              <a:gd name="connsiteY17" fmla="*/ 385559 h 1206262"/>
              <a:gd name="connsiteX18" fmla="*/ 4264521 w 4272025"/>
              <a:gd name="connsiteY18" fmla="*/ 593378 h 1206262"/>
              <a:gd name="connsiteX19" fmla="*/ 4264521 w 4272025"/>
              <a:gd name="connsiteY19" fmla="*/ 749241 h 1206262"/>
              <a:gd name="connsiteX20" fmla="*/ 4257594 w 4272025"/>
              <a:gd name="connsiteY20" fmla="*/ 773487 h 1206262"/>
              <a:gd name="connsiteX21" fmla="*/ 4229885 w 4272025"/>
              <a:gd name="connsiteY21" fmla="*/ 828905 h 1206262"/>
              <a:gd name="connsiteX22" fmla="*/ 4143294 w 4272025"/>
              <a:gd name="connsiteY22" fmla="*/ 870468 h 1206262"/>
              <a:gd name="connsiteX23" fmla="*/ 3938405 w 4272025"/>
              <a:gd name="connsiteY23" fmla="*/ 990238 h 1206262"/>
              <a:gd name="connsiteX24" fmla="*/ 3506357 w 4272025"/>
              <a:gd name="connsiteY24" fmla="*/ 1134254 h 1206262"/>
              <a:gd name="connsiteX25" fmla="*/ 2786277 w 4272025"/>
              <a:gd name="connsiteY25" fmla="*/ 1206262 h 1206262"/>
              <a:gd name="connsiteX26" fmla="*/ 1922181 w 4272025"/>
              <a:gd name="connsiteY26" fmla="*/ 1134253 h 1206262"/>
              <a:gd name="connsiteX27" fmla="*/ 842061 w 4272025"/>
              <a:gd name="connsiteY27" fmla="*/ 1062246 h 1206262"/>
              <a:gd name="connsiteX28" fmla="*/ 554030 w 4272025"/>
              <a:gd name="connsiteY28" fmla="*/ 990238 h 1206262"/>
              <a:gd name="connsiteX29" fmla="*/ 338005 w 4272025"/>
              <a:gd name="connsiteY29" fmla="*/ 918230 h 1206262"/>
              <a:gd name="connsiteX30" fmla="*/ 52740 w 4272025"/>
              <a:gd name="connsiteY30" fmla="*/ 731923 h 1206262"/>
              <a:gd name="connsiteX31" fmla="*/ 21567 w 4272025"/>
              <a:gd name="connsiteY31" fmla="*/ 472150 h 1206262"/>
              <a:gd name="connsiteX32" fmla="*/ 121981 w 4272025"/>
              <a:gd name="connsiteY32" fmla="*/ 126142 h 1206262"/>
              <a:gd name="connsiteX0" fmla="*/ 121981 w 4272025"/>
              <a:gd name="connsiteY0" fmla="*/ 126142 h 1206262"/>
              <a:gd name="connsiteX1" fmla="*/ 343685 w 4272025"/>
              <a:gd name="connsiteY1" fmla="*/ 4559 h 1206262"/>
              <a:gd name="connsiteX2" fmla="*/ 648485 w 4272025"/>
              <a:gd name="connsiteY2" fmla="*/ 153496 h 1206262"/>
              <a:gd name="connsiteX3" fmla="*/ 755858 w 4272025"/>
              <a:gd name="connsiteY3" fmla="*/ 312823 h 1206262"/>
              <a:gd name="connsiteX4" fmla="*/ 755858 w 4272025"/>
              <a:gd name="connsiteY4" fmla="*/ 323214 h 1206262"/>
              <a:gd name="connsiteX5" fmla="*/ 825130 w 4272025"/>
              <a:gd name="connsiteY5" fmla="*/ 496396 h 1206262"/>
              <a:gd name="connsiteX6" fmla="*/ 960212 w 4272025"/>
              <a:gd name="connsiteY6" fmla="*/ 766559 h 1206262"/>
              <a:gd name="connsiteX7" fmla="*/ 1465903 w 4272025"/>
              <a:gd name="connsiteY7" fmla="*/ 905105 h 1206262"/>
              <a:gd name="connsiteX8" fmla="*/ 2536167 w 4272025"/>
              <a:gd name="connsiteY8" fmla="*/ 974378 h 1206262"/>
              <a:gd name="connsiteX9" fmla="*/ 2750912 w 4272025"/>
              <a:gd name="connsiteY9" fmla="*/ 970914 h 1206262"/>
              <a:gd name="connsiteX10" fmla="*/ 2879067 w 4272025"/>
              <a:gd name="connsiteY10" fmla="*/ 915496 h 1206262"/>
              <a:gd name="connsiteX11" fmla="*/ 2955267 w 4272025"/>
              <a:gd name="connsiteY11" fmla="*/ 655723 h 1206262"/>
              <a:gd name="connsiteX12" fmla="*/ 2951803 w 4272025"/>
              <a:gd name="connsiteY12" fmla="*/ 402878 h 1206262"/>
              <a:gd name="connsiteX13" fmla="*/ 3066103 w 4272025"/>
              <a:gd name="connsiteY13" fmla="*/ 84223 h 1206262"/>
              <a:gd name="connsiteX14" fmla="*/ 3790003 w 4272025"/>
              <a:gd name="connsiteY14" fmla="*/ 46123 h 1206262"/>
              <a:gd name="connsiteX15" fmla="*/ 4015140 w 4272025"/>
              <a:gd name="connsiteY15" fmla="*/ 84223 h 1206262"/>
              <a:gd name="connsiteX16" fmla="*/ 4115585 w 4272025"/>
              <a:gd name="connsiteY16" fmla="*/ 195059 h 1206262"/>
              <a:gd name="connsiteX17" fmla="*/ 4219494 w 4272025"/>
              <a:gd name="connsiteY17" fmla="*/ 385559 h 1206262"/>
              <a:gd name="connsiteX18" fmla="*/ 4264521 w 4272025"/>
              <a:gd name="connsiteY18" fmla="*/ 593378 h 1206262"/>
              <a:gd name="connsiteX19" fmla="*/ 4264521 w 4272025"/>
              <a:gd name="connsiteY19" fmla="*/ 749241 h 1206262"/>
              <a:gd name="connsiteX20" fmla="*/ 4257594 w 4272025"/>
              <a:gd name="connsiteY20" fmla="*/ 773487 h 1206262"/>
              <a:gd name="connsiteX21" fmla="*/ 4229885 w 4272025"/>
              <a:gd name="connsiteY21" fmla="*/ 828905 h 1206262"/>
              <a:gd name="connsiteX22" fmla="*/ 4143294 w 4272025"/>
              <a:gd name="connsiteY22" fmla="*/ 870468 h 1206262"/>
              <a:gd name="connsiteX23" fmla="*/ 3938405 w 4272025"/>
              <a:gd name="connsiteY23" fmla="*/ 990238 h 1206262"/>
              <a:gd name="connsiteX24" fmla="*/ 3506357 w 4272025"/>
              <a:gd name="connsiteY24" fmla="*/ 1134254 h 1206262"/>
              <a:gd name="connsiteX25" fmla="*/ 2786277 w 4272025"/>
              <a:gd name="connsiteY25" fmla="*/ 1206262 h 1206262"/>
              <a:gd name="connsiteX26" fmla="*/ 1922181 w 4272025"/>
              <a:gd name="connsiteY26" fmla="*/ 1134253 h 1206262"/>
              <a:gd name="connsiteX27" fmla="*/ 842062 w 4272025"/>
              <a:gd name="connsiteY27" fmla="*/ 1062246 h 1206262"/>
              <a:gd name="connsiteX28" fmla="*/ 554030 w 4272025"/>
              <a:gd name="connsiteY28" fmla="*/ 990238 h 1206262"/>
              <a:gd name="connsiteX29" fmla="*/ 338005 w 4272025"/>
              <a:gd name="connsiteY29" fmla="*/ 918230 h 1206262"/>
              <a:gd name="connsiteX30" fmla="*/ 52740 w 4272025"/>
              <a:gd name="connsiteY30" fmla="*/ 731923 h 1206262"/>
              <a:gd name="connsiteX31" fmla="*/ 21567 w 4272025"/>
              <a:gd name="connsiteY31" fmla="*/ 472150 h 1206262"/>
              <a:gd name="connsiteX32" fmla="*/ 121981 w 4272025"/>
              <a:gd name="connsiteY32" fmla="*/ 126142 h 1206262"/>
              <a:gd name="connsiteX0" fmla="*/ 121981 w 4272025"/>
              <a:gd name="connsiteY0" fmla="*/ 126142 h 1224735"/>
              <a:gd name="connsiteX1" fmla="*/ 343685 w 4272025"/>
              <a:gd name="connsiteY1" fmla="*/ 4559 h 1224735"/>
              <a:gd name="connsiteX2" fmla="*/ 648485 w 4272025"/>
              <a:gd name="connsiteY2" fmla="*/ 153496 h 1224735"/>
              <a:gd name="connsiteX3" fmla="*/ 755858 w 4272025"/>
              <a:gd name="connsiteY3" fmla="*/ 312823 h 1224735"/>
              <a:gd name="connsiteX4" fmla="*/ 755858 w 4272025"/>
              <a:gd name="connsiteY4" fmla="*/ 323214 h 1224735"/>
              <a:gd name="connsiteX5" fmla="*/ 825130 w 4272025"/>
              <a:gd name="connsiteY5" fmla="*/ 496396 h 1224735"/>
              <a:gd name="connsiteX6" fmla="*/ 960212 w 4272025"/>
              <a:gd name="connsiteY6" fmla="*/ 766559 h 1224735"/>
              <a:gd name="connsiteX7" fmla="*/ 1465903 w 4272025"/>
              <a:gd name="connsiteY7" fmla="*/ 905105 h 1224735"/>
              <a:gd name="connsiteX8" fmla="*/ 2536167 w 4272025"/>
              <a:gd name="connsiteY8" fmla="*/ 974378 h 1224735"/>
              <a:gd name="connsiteX9" fmla="*/ 2750912 w 4272025"/>
              <a:gd name="connsiteY9" fmla="*/ 970914 h 1224735"/>
              <a:gd name="connsiteX10" fmla="*/ 2879067 w 4272025"/>
              <a:gd name="connsiteY10" fmla="*/ 915496 h 1224735"/>
              <a:gd name="connsiteX11" fmla="*/ 2955267 w 4272025"/>
              <a:gd name="connsiteY11" fmla="*/ 655723 h 1224735"/>
              <a:gd name="connsiteX12" fmla="*/ 2951803 w 4272025"/>
              <a:gd name="connsiteY12" fmla="*/ 402878 h 1224735"/>
              <a:gd name="connsiteX13" fmla="*/ 3066103 w 4272025"/>
              <a:gd name="connsiteY13" fmla="*/ 84223 h 1224735"/>
              <a:gd name="connsiteX14" fmla="*/ 3790003 w 4272025"/>
              <a:gd name="connsiteY14" fmla="*/ 46123 h 1224735"/>
              <a:gd name="connsiteX15" fmla="*/ 4015140 w 4272025"/>
              <a:gd name="connsiteY15" fmla="*/ 84223 h 1224735"/>
              <a:gd name="connsiteX16" fmla="*/ 4115585 w 4272025"/>
              <a:gd name="connsiteY16" fmla="*/ 195059 h 1224735"/>
              <a:gd name="connsiteX17" fmla="*/ 4219494 w 4272025"/>
              <a:gd name="connsiteY17" fmla="*/ 385559 h 1224735"/>
              <a:gd name="connsiteX18" fmla="*/ 4264521 w 4272025"/>
              <a:gd name="connsiteY18" fmla="*/ 593378 h 1224735"/>
              <a:gd name="connsiteX19" fmla="*/ 4264521 w 4272025"/>
              <a:gd name="connsiteY19" fmla="*/ 749241 h 1224735"/>
              <a:gd name="connsiteX20" fmla="*/ 4257594 w 4272025"/>
              <a:gd name="connsiteY20" fmla="*/ 773487 h 1224735"/>
              <a:gd name="connsiteX21" fmla="*/ 4229885 w 4272025"/>
              <a:gd name="connsiteY21" fmla="*/ 828905 h 1224735"/>
              <a:gd name="connsiteX22" fmla="*/ 4143294 w 4272025"/>
              <a:gd name="connsiteY22" fmla="*/ 870468 h 1224735"/>
              <a:gd name="connsiteX23" fmla="*/ 3938405 w 4272025"/>
              <a:gd name="connsiteY23" fmla="*/ 990238 h 1224735"/>
              <a:gd name="connsiteX24" fmla="*/ 3506357 w 4272025"/>
              <a:gd name="connsiteY24" fmla="*/ 1134254 h 1224735"/>
              <a:gd name="connsiteX25" fmla="*/ 2786277 w 4272025"/>
              <a:gd name="connsiteY25" fmla="*/ 1206262 h 1224735"/>
              <a:gd name="connsiteX26" fmla="*/ 1922182 w 4272025"/>
              <a:gd name="connsiteY26" fmla="*/ 1206262 h 1224735"/>
              <a:gd name="connsiteX27" fmla="*/ 842062 w 4272025"/>
              <a:gd name="connsiteY27" fmla="*/ 1062246 h 1224735"/>
              <a:gd name="connsiteX28" fmla="*/ 554030 w 4272025"/>
              <a:gd name="connsiteY28" fmla="*/ 990238 h 1224735"/>
              <a:gd name="connsiteX29" fmla="*/ 338005 w 4272025"/>
              <a:gd name="connsiteY29" fmla="*/ 918230 h 1224735"/>
              <a:gd name="connsiteX30" fmla="*/ 52740 w 4272025"/>
              <a:gd name="connsiteY30" fmla="*/ 731923 h 1224735"/>
              <a:gd name="connsiteX31" fmla="*/ 21567 w 4272025"/>
              <a:gd name="connsiteY31" fmla="*/ 472150 h 1224735"/>
              <a:gd name="connsiteX32" fmla="*/ 121981 w 4272025"/>
              <a:gd name="connsiteY32" fmla="*/ 126142 h 1224735"/>
              <a:gd name="connsiteX0" fmla="*/ 121981 w 4272025"/>
              <a:gd name="connsiteY0" fmla="*/ 126142 h 1224128"/>
              <a:gd name="connsiteX1" fmla="*/ 343685 w 4272025"/>
              <a:gd name="connsiteY1" fmla="*/ 4559 h 1224128"/>
              <a:gd name="connsiteX2" fmla="*/ 648485 w 4272025"/>
              <a:gd name="connsiteY2" fmla="*/ 153496 h 1224128"/>
              <a:gd name="connsiteX3" fmla="*/ 755858 w 4272025"/>
              <a:gd name="connsiteY3" fmla="*/ 312823 h 1224128"/>
              <a:gd name="connsiteX4" fmla="*/ 755858 w 4272025"/>
              <a:gd name="connsiteY4" fmla="*/ 323214 h 1224128"/>
              <a:gd name="connsiteX5" fmla="*/ 825130 w 4272025"/>
              <a:gd name="connsiteY5" fmla="*/ 496396 h 1224128"/>
              <a:gd name="connsiteX6" fmla="*/ 960212 w 4272025"/>
              <a:gd name="connsiteY6" fmla="*/ 766559 h 1224128"/>
              <a:gd name="connsiteX7" fmla="*/ 1465903 w 4272025"/>
              <a:gd name="connsiteY7" fmla="*/ 905105 h 1224128"/>
              <a:gd name="connsiteX8" fmla="*/ 2536167 w 4272025"/>
              <a:gd name="connsiteY8" fmla="*/ 974378 h 1224128"/>
              <a:gd name="connsiteX9" fmla="*/ 2750912 w 4272025"/>
              <a:gd name="connsiteY9" fmla="*/ 970914 h 1224128"/>
              <a:gd name="connsiteX10" fmla="*/ 2879067 w 4272025"/>
              <a:gd name="connsiteY10" fmla="*/ 915496 h 1224128"/>
              <a:gd name="connsiteX11" fmla="*/ 2955267 w 4272025"/>
              <a:gd name="connsiteY11" fmla="*/ 655723 h 1224128"/>
              <a:gd name="connsiteX12" fmla="*/ 2951803 w 4272025"/>
              <a:gd name="connsiteY12" fmla="*/ 402878 h 1224128"/>
              <a:gd name="connsiteX13" fmla="*/ 3066103 w 4272025"/>
              <a:gd name="connsiteY13" fmla="*/ 84223 h 1224128"/>
              <a:gd name="connsiteX14" fmla="*/ 3790003 w 4272025"/>
              <a:gd name="connsiteY14" fmla="*/ 46123 h 1224128"/>
              <a:gd name="connsiteX15" fmla="*/ 4015140 w 4272025"/>
              <a:gd name="connsiteY15" fmla="*/ 84223 h 1224128"/>
              <a:gd name="connsiteX16" fmla="*/ 4115585 w 4272025"/>
              <a:gd name="connsiteY16" fmla="*/ 195059 h 1224128"/>
              <a:gd name="connsiteX17" fmla="*/ 4219494 w 4272025"/>
              <a:gd name="connsiteY17" fmla="*/ 385559 h 1224128"/>
              <a:gd name="connsiteX18" fmla="*/ 4264521 w 4272025"/>
              <a:gd name="connsiteY18" fmla="*/ 593378 h 1224128"/>
              <a:gd name="connsiteX19" fmla="*/ 4264521 w 4272025"/>
              <a:gd name="connsiteY19" fmla="*/ 749241 h 1224128"/>
              <a:gd name="connsiteX20" fmla="*/ 4257594 w 4272025"/>
              <a:gd name="connsiteY20" fmla="*/ 773487 h 1224128"/>
              <a:gd name="connsiteX21" fmla="*/ 4229885 w 4272025"/>
              <a:gd name="connsiteY21" fmla="*/ 828905 h 1224128"/>
              <a:gd name="connsiteX22" fmla="*/ 4143294 w 4272025"/>
              <a:gd name="connsiteY22" fmla="*/ 870468 h 1224128"/>
              <a:gd name="connsiteX23" fmla="*/ 3938405 w 4272025"/>
              <a:gd name="connsiteY23" fmla="*/ 990238 h 1224128"/>
              <a:gd name="connsiteX24" fmla="*/ 3506357 w 4272025"/>
              <a:gd name="connsiteY24" fmla="*/ 1134254 h 1224128"/>
              <a:gd name="connsiteX25" fmla="*/ 2786277 w 4272025"/>
              <a:gd name="connsiteY25" fmla="*/ 1206262 h 1224128"/>
              <a:gd name="connsiteX26" fmla="*/ 1922182 w 4272025"/>
              <a:gd name="connsiteY26" fmla="*/ 1206262 h 1224128"/>
              <a:gd name="connsiteX27" fmla="*/ 1130094 w 4272025"/>
              <a:gd name="connsiteY27" fmla="*/ 1062246 h 1224128"/>
              <a:gd name="connsiteX28" fmla="*/ 842062 w 4272025"/>
              <a:gd name="connsiteY28" fmla="*/ 1062246 h 1224128"/>
              <a:gd name="connsiteX29" fmla="*/ 554030 w 4272025"/>
              <a:gd name="connsiteY29" fmla="*/ 990238 h 1224128"/>
              <a:gd name="connsiteX30" fmla="*/ 338005 w 4272025"/>
              <a:gd name="connsiteY30" fmla="*/ 918230 h 1224128"/>
              <a:gd name="connsiteX31" fmla="*/ 52740 w 4272025"/>
              <a:gd name="connsiteY31" fmla="*/ 731923 h 1224128"/>
              <a:gd name="connsiteX32" fmla="*/ 21567 w 4272025"/>
              <a:gd name="connsiteY32" fmla="*/ 472150 h 1224128"/>
              <a:gd name="connsiteX33" fmla="*/ 121981 w 4272025"/>
              <a:gd name="connsiteY33" fmla="*/ 126142 h 1224128"/>
              <a:gd name="connsiteX0" fmla="*/ 121981 w 4272025"/>
              <a:gd name="connsiteY0" fmla="*/ 126142 h 1224128"/>
              <a:gd name="connsiteX1" fmla="*/ 343685 w 4272025"/>
              <a:gd name="connsiteY1" fmla="*/ 4559 h 1224128"/>
              <a:gd name="connsiteX2" fmla="*/ 648485 w 4272025"/>
              <a:gd name="connsiteY2" fmla="*/ 153496 h 1224128"/>
              <a:gd name="connsiteX3" fmla="*/ 755858 w 4272025"/>
              <a:gd name="connsiteY3" fmla="*/ 312823 h 1224128"/>
              <a:gd name="connsiteX4" fmla="*/ 755858 w 4272025"/>
              <a:gd name="connsiteY4" fmla="*/ 323214 h 1224128"/>
              <a:gd name="connsiteX5" fmla="*/ 825130 w 4272025"/>
              <a:gd name="connsiteY5" fmla="*/ 496396 h 1224128"/>
              <a:gd name="connsiteX6" fmla="*/ 960212 w 4272025"/>
              <a:gd name="connsiteY6" fmla="*/ 766559 h 1224128"/>
              <a:gd name="connsiteX7" fmla="*/ 1465903 w 4272025"/>
              <a:gd name="connsiteY7" fmla="*/ 905105 h 1224128"/>
              <a:gd name="connsiteX8" fmla="*/ 2536167 w 4272025"/>
              <a:gd name="connsiteY8" fmla="*/ 974378 h 1224128"/>
              <a:gd name="connsiteX9" fmla="*/ 2750912 w 4272025"/>
              <a:gd name="connsiteY9" fmla="*/ 970914 h 1224128"/>
              <a:gd name="connsiteX10" fmla="*/ 2879067 w 4272025"/>
              <a:gd name="connsiteY10" fmla="*/ 915496 h 1224128"/>
              <a:gd name="connsiteX11" fmla="*/ 2955267 w 4272025"/>
              <a:gd name="connsiteY11" fmla="*/ 655723 h 1224128"/>
              <a:gd name="connsiteX12" fmla="*/ 2951803 w 4272025"/>
              <a:gd name="connsiteY12" fmla="*/ 402878 h 1224128"/>
              <a:gd name="connsiteX13" fmla="*/ 3066103 w 4272025"/>
              <a:gd name="connsiteY13" fmla="*/ 84223 h 1224128"/>
              <a:gd name="connsiteX14" fmla="*/ 3790003 w 4272025"/>
              <a:gd name="connsiteY14" fmla="*/ 46123 h 1224128"/>
              <a:gd name="connsiteX15" fmla="*/ 4015140 w 4272025"/>
              <a:gd name="connsiteY15" fmla="*/ 84223 h 1224128"/>
              <a:gd name="connsiteX16" fmla="*/ 4115585 w 4272025"/>
              <a:gd name="connsiteY16" fmla="*/ 195059 h 1224128"/>
              <a:gd name="connsiteX17" fmla="*/ 4219494 w 4272025"/>
              <a:gd name="connsiteY17" fmla="*/ 385559 h 1224128"/>
              <a:gd name="connsiteX18" fmla="*/ 4264521 w 4272025"/>
              <a:gd name="connsiteY18" fmla="*/ 593378 h 1224128"/>
              <a:gd name="connsiteX19" fmla="*/ 4264521 w 4272025"/>
              <a:gd name="connsiteY19" fmla="*/ 749241 h 1224128"/>
              <a:gd name="connsiteX20" fmla="*/ 4257594 w 4272025"/>
              <a:gd name="connsiteY20" fmla="*/ 773487 h 1224128"/>
              <a:gd name="connsiteX21" fmla="*/ 4229885 w 4272025"/>
              <a:gd name="connsiteY21" fmla="*/ 828905 h 1224128"/>
              <a:gd name="connsiteX22" fmla="*/ 4143294 w 4272025"/>
              <a:gd name="connsiteY22" fmla="*/ 870468 h 1224128"/>
              <a:gd name="connsiteX23" fmla="*/ 3938405 w 4272025"/>
              <a:gd name="connsiteY23" fmla="*/ 990238 h 1224128"/>
              <a:gd name="connsiteX24" fmla="*/ 3506357 w 4272025"/>
              <a:gd name="connsiteY24" fmla="*/ 1134254 h 1224128"/>
              <a:gd name="connsiteX25" fmla="*/ 2786277 w 4272025"/>
              <a:gd name="connsiteY25" fmla="*/ 1206262 h 1224128"/>
              <a:gd name="connsiteX26" fmla="*/ 1922182 w 4272025"/>
              <a:gd name="connsiteY26" fmla="*/ 1206262 h 1224128"/>
              <a:gd name="connsiteX27" fmla="*/ 1130094 w 4272025"/>
              <a:gd name="connsiteY27" fmla="*/ 1134254 h 1224128"/>
              <a:gd name="connsiteX28" fmla="*/ 842062 w 4272025"/>
              <a:gd name="connsiteY28" fmla="*/ 1062246 h 1224128"/>
              <a:gd name="connsiteX29" fmla="*/ 554030 w 4272025"/>
              <a:gd name="connsiteY29" fmla="*/ 990238 h 1224128"/>
              <a:gd name="connsiteX30" fmla="*/ 338005 w 4272025"/>
              <a:gd name="connsiteY30" fmla="*/ 918230 h 1224128"/>
              <a:gd name="connsiteX31" fmla="*/ 52740 w 4272025"/>
              <a:gd name="connsiteY31" fmla="*/ 731923 h 1224128"/>
              <a:gd name="connsiteX32" fmla="*/ 21567 w 4272025"/>
              <a:gd name="connsiteY32" fmla="*/ 472150 h 1224128"/>
              <a:gd name="connsiteX33" fmla="*/ 121981 w 4272025"/>
              <a:gd name="connsiteY33" fmla="*/ 126142 h 1224128"/>
              <a:gd name="connsiteX0" fmla="*/ 121981 w 4272025"/>
              <a:gd name="connsiteY0" fmla="*/ 126142 h 1224128"/>
              <a:gd name="connsiteX1" fmla="*/ 343685 w 4272025"/>
              <a:gd name="connsiteY1" fmla="*/ 4559 h 1224128"/>
              <a:gd name="connsiteX2" fmla="*/ 648485 w 4272025"/>
              <a:gd name="connsiteY2" fmla="*/ 153496 h 1224128"/>
              <a:gd name="connsiteX3" fmla="*/ 755858 w 4272025"/>
              <a:gd name="connsiteY3" fmla="*/ 312823 h 1224128"/>
              <a:gd name="connsiteX4" fmla="*/ 755858 w 4272025"/>
              <a:gd name="connsiteY4" fmla="*/ 323214 h 1224128"/>
              <a:gd name="connsiteX5" fmla="*/ 825130 w 4272025"/>
              <a:gd name="connsiteY5" fmla="*/ 496396 h 1224128"/>
              <a:gd name="connsiteX6" fmla="*/ 960212 w 4272025"/>
              <a:gd name="connsiteY6" fmla="*/ 766559 h 1224128"/>
              <a:gd name="connsiteX7" fmla="*/ 1465903 w 4272025"/>
              <a:gd name="connsiteY7" fmla="*/ 905105 h 1224128"/>
              <a:gd name="connsiteX8" fmla="*/ 2536167 w 4272025"/>
              <a:gd name="connsiteY8" fmla="*/ 974378 h 1224128"/>
              <a:gd name="connsiteX9" fmla="*/ 2750912 w 4272025"/>
              <a:gd name="connsiteY9" fmla="*/ 970914 h 1224128"/>
              <a:gd name="connsiteX10" fmla="*/ 2879067 w 4272025"/>
              <a:gd name="connsiteY10" fmla="*/ 915496 h 1224128"/>
              <a:gd name="connsiteX11" fmla="*/ 2955267 w 4272025"/>
              <a:gd name="connsiteY11" fmla="*/ 655723 h 1224128"/>
              <a:gd name="connsiteX12" fmla="*/ 2951803 w 4272025"/>
              <a:gd name="connsiteY12" fmla="*/ 402878 h 1224128"/>
              <a:gd name="connsiteX13" fmla="*/ 3066103 w 4272025"/>
              <a:gd name="connsiteY13" fmla="*/ 84223 h 1224128"/>
              <a:gd name="connsiteX14" fmla="*/ 3790003 w 4272025"/>
              <a:gd name="connsiteY14" fmla="*/ 46123 h 1224128"/>
              <a:gd name="connsiteX15" fmla="*/ 4015140 w 4272025"/>
              <a:gd name="connsiteY15" fmla="*/ 84223 h 1224128"/>
              <a:gd name="connsiteX16" fmla="*/ 4115585 w 4272025"/>
              <a:gd name="connsiteY16" fmla="*/ 195059 h 1224128"/>
              <a:gd name="connsiteX17" fmla="*/ 4219494 w 4272025"/>
              <a:gd name="connsiteY17" fmla="*/ 385559 h 1224128"/>
              <a:gd name="connsiteX18" fmla="*/ 4264521 w 4272025"/>
              <a:gd name="connsiteY18" fmla="*/ 593378 h 1224128"/>
              <a:gd name="connsiteX19" fmla="*/ 4264521 w 4272025"/>
              <a:gd name="connsiteY19" fmla="*/ 749241 h 1224128"/>
              <a:gd name="connsiteX20" fmla="*/ 4257594 w 4272025"/>
              <a:gd name="connsiteY20" fmla="*/ 773487 h 1224128"/>
              <a:gd name="connsiteX21" fmla="*/ 4229885 w 4272025"/>
              <a:gd name="connsiteY21" fmla="*/ 828905 h 1224128"/>
              <a:gd name="connsiteX22" fmla="*/ 4143294 w 4272025"/>
              <a:gd name="connsiteY22" fmla="*/ 870468 h 1224128"/>
              <a:gd name="connsiteX23" fmla="*/ 3938405 w 4272025"/>
              <a:gd name="connsiteY23" fmla="*/ 990238 h 1224128"/>
              <a:gd name="connsiteX24" fmla="*/ 3506357 w 4272025"/>
              <a:gd name="connsiteY24" fmla="*/ 1134254 h 1224128"/>
              <a:gd name="connsiteX25" fmla="*/ 2786277 w 4272025"/>
              <a:gd name="connsiteY25" fmla="*/ 1206262 h 1224128"/>
              <a:gd name="connsiteX26" fmla="*/ 1922182 w 4272025"/>
              <a:gd name="connsiteY26" fmla="*/ 1206262 h 1224128"/>
              <a:gd name="connsiteX27" fmla="*/ 1130094 w 4272025"/>
              <a:gd name="connsiteY27" fmla="*/ 1134254 h 1224128"/>
              <a:gd name="connsiteX28" fmla="*/ 842062 w 4272025"/>
              <a:gd name="connsiteY28" fmla="*/ 1062246 h 1224128"/>
              <a:gd name="connsiteX29" fmla="*/ 554030 w 4272025"/>
              <a:gd name="connsiteY29" fmla="*/ 990238 h 1224128"/>
              <a:gd name="connsiteX30" fmla="*/ 338005 w 4272025"/>
              <a:gd name="connsiteY30" fmla="*/ 918230 h 1224128"/>
              <a:gd name="connsiteX31" fmla="*/ 52740 w 4272025"/>
              <a:gd name="connsiteY31" fmla="*/ 731923 h 1224128"/>
              <a:gd name="connsiteX32" fmla="*/ 21567 w 4272025"/>
              <a:gd name="connsiteY32" fmla="*/ 472150 h 1224128"/>
              <a:gd name="connsiteX33" fmla="*/ 121981 w 4272025"/>
              <a:gd name="connsiteY33" fmla="*/ 126142 h 1224128"/>
              <a:gd name="connsiteX0" fmla="*/ 121981 w 4272025"/>
              <a:gd name="connsiteY0" fmla="*/ 126142 h 1224128"/>
              <a:gd name="connsiteX1" fmla="*/ 343685 w 4272025"/>
              <a:gd name="connsiteY1" fmla="*/ 4559 h 1224128"/>
              <a:gd name="connsiteX2" fmla="*/ 648485 w 4272025"/>
              <a:gd name="connsiteY2" fmla="*/ 153496 h 1224128"/>
              <a:gd name="connsiteX3" fmla="*/ 755858 w 4272025"/>
              <a:gd name="connsiteY3" fmla="*/ 312823 h 1224128"/>
              <a:gd name="connsiteX4" fmla="*/ 755858 w 4272025"/>
              <a:gd name="connsiteY4" fmla="*/ 323214 h 1224128"/>
              <a:gd name="connsiteX5" fmla="*/ 825130 w 4272025"/>
              <a:gd name="connsiteY5" fmla="*/ 496396 h 1224128"/>
              <a:gd name="connsiteX6" fmla="*/ 960212 w 4272025"/>
              <a:gd name="connsiteY6" fmla="*/ 766559 h 1224128"/>
              <a:gd name="connsiteX7" fmla="*/ 1465903 w 4272025"/>
              <a:gd name="connsiteY7" fmla="*/ 905105 h 1224128"/>
              <a:gd name="connsiteX8" fmla="*/ 2536167 w 4272025"/>
              <a:gd name="connsiteY8" fmla="*/ 974378 h 1224128"/>
              <a:gd name="connsiteX9" fmla="*/ 2750912 w 4272025"/>
              <a:gd name="connsiteY9" fmla="*/ 970914 h 1224128"/>
              <a:gd name="connsiteX10" fmla="*/ 2879067 w 4272025"/>
              <a:gd name="connsiteY10" fmla="*/ 915496 h 1224128"/>
              <a:gd name="connsiteX11" fmla="*/ 2955267 w 4272025"/>
              <a:gd name="connsiteY11" fmla="*/ 655723 h 1224128"/>
              <a:gd name="connsiteX12" fmla="*/ 2951803 w 4272025"/>
              <a:gd name="connsiteY12" fmla="*/ 402878 h 1224128"/>
              <a:gd name="connsiteX13" fmla="*/ 3066103 w 4272025"/>
              <a:gd name="connsiteY13" fmla="*/ 84223 h 1224128"/>
              <a:gd name="connsiteX14" fmla="*/ 3790003 w 4272025"/>
              <a:gd name="connsiteY14" fmla="*/ 46123 h 1224128"/>
              <a:gd name="connsiteX15" fmla="*/ 4015140 w 4272025"/>
              <a:gd name="connsiteY15" fmla="*/ 84223 h 1224128"/>
              <a:gd name="connsiteX16" fmla="*/ 4115585 w 4272025"/>
              <a:gd name="connsiteY16" fmla="*/ 195059 h 1224128"/>
              <a:gd name="connsiteX17" fmla="*/ 4219494 w 4272025"/>
              <a:gd name="connsiteY17" fmla="*/ 385559 h 1224128"/>
              <a:gd name="connsiteX18" fmla="*/ 4264521 w 4272025"/>
              <a:gd name="connsiteY18" fmla="*/ 593378 h 1224128"/>
              <a:gd name="connsiteX19" fmla="*/ 4264521 w 4272025"/>
              <a:gd name="connsiteY19" fmla="*/ 749241 h 1224128"/>
              <a:gd name="connsiteX20" fmla="*/ 4257594 w 4272025"/>
              <a:gd name="connsiteY20" fmla="*/ 773487 h 1224128"/>
              <a:gd name="connsiteX21" fmla="*/ 4229885 w 4272025"/>
              <a:gd name="connsiteY21" fmla="*/ 828905 h 1224128"/>
              <a:gd name="connsiteX22" fmla="*/ 4143294 w 4272025"/>
              <a:gd name="connsiteY22" fmla="*/ 870468 h 1224128"/>
              <a:gd name="connsiteX23" fmla="*/ 3938405 w 4272025"/>
              <a:gd name="connsiteY23" fmla="*/ 990238 h 1224128"/>
              <a:gd name="connsiteX24" fmla="*/ 3506357 w 4272025"/>
              <a:gd name="connsiteY24" fmla="*/ 1134254 h 1224128"/>
              <a:gd name="connsiteX25" fmla="*/ 2786277 w 4272025"/>
              <a:gd name="connsiteY25" fmla="*/ 1206262 h 1224128"/>
              <a:gd name="connsiteX26" fmla="*/ 1922182 w 4272025"/>
              <a:gd name="connsiteY26" fmla="*/ 1206262 h 1224128"/>
              <a:gd name="connsiteX27" fmla="*/ 1130094 w 4272025"/>
              <a:gd name="connsiteY27" fmla="*/ 1134254 h 1224128"/>
              <a:gd name="connsiteX28" fmla="*/ 554030 w 4272025"/>
              <a:gd name="connsiteY28" fmla="*/ 990238 h 1224128"/>
              <a:gd name="connsiteX29" fmla="*/ 338005 w 4272025"/>
              <a:gd name="connsiteY29" fmla="*/ 918230 h 1224128"/>
              <a:gd name="connsiteX30" fmla="*/ 52740 w 4272025"/>
              <a:gd name="connsiteY30" fmla="*/ 731923 h 1224128"/>
              <a:gd name="connsiteX31" fmla="*/ 21567 w 4272025"/>
              <a:gd name="connsiteY31" fmla="*/ 472150 h 1224128"/>
              <a:gd name="connsiteX32" fmla="*/ 121981 w 4272025"/>
              <a:gd name="connsiteY32" fmla="*/ 126142 h 1224128"/>
              <a:gd name="connsiteX0" fmla="*/ 121981 w 4272025"/>
              <a:gd name="connsiteY0" fmla="*/ 101378 h 1199364"/>
              <a:gd name="connsiteX1" fmla="*/ 337225 w 4272025"/>
              <a:gd name="connsiteY1" fmla="*/ 173328 h 1199364"/>
              <a:gd name="connsiteX2" fmla="*/ 648485 w 4272025"/>
              <a:gd name="connsiteY2" fmla="*/ 128732 h 1199364"/>
              <a:gd name="connsiteX3" fmla="*/ 755858 w 4272025"/>
              <a:gd name="connsiteY3" fmla="*/ 288059 h 1199364"/>
              <a:gd name="connsiteX4" fmla="*/ 755858 w 4272025"/>
              <a:gd name="connsiteY4" fmla="*/ 298450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4015140 w 4272025"/>
              <a:gd name="connsiteY15" fmla="*/ 59459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21981 w 4272025"/>
              <a:gd name="connsiteY32" fmla="*/ 101378 h 1199364"/>
              <a:gd name="connsiteX0" fmla="*/ 121981 w 4272025"/>
              <a:gd name="connsiteY0" fmla="*/ 101378 h 1199364"/>
              <a:gd name="connsiteX1" fmla="*/ 337225 w 4272025"/>
              <a:gd name="connsiteY1" fmla="*/ 173328 h 1199364"/>
              <a:gd name="connsiteX2" fmla="*/ 697270 w 4272025"/>
              <a:gd name="connsiteY2" fmla="*/ 245345 h 1199364"/>
              <a:gd name="connsiteX3" fmla="*/ 755858 w 4272025"/>
              <a:gd name="connsiteY3" fmla="*/ 288059 h 1199364"/>
              <a:gd name="connsiteX4" fmla="*/ 755858 w 4272025"/>
              <a:gd name="connsiteY4" fmla="*/ 298450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4015140 w 4272025"/>
              <a:gd name="connsiteY15" fmla="*/ 59459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21981 w 4272025"/>
              <a:gd name="connsiteY32" fmla="*/ 101378 h 1199364"/>
              <a:gd name="connsiteX0" fmla="*/ 121198 w 4272025"/>
              <a:gd name="connsiteY0" fmla="*/ 245345 h 1199364"/>
              <a:gd name="connsiteX1" fmla="*/ 337225 w 4272025"/>
              <a:gd name="connsiteY1" fmla="*/ 173328 h 1199364"/>
              <a:gd name="connsiteX2" fmla="*/ 697270 w 4272025"/>
              <a:gd name="connsiteY2" fmla="*/ 245345 h 1199364"/>
              <a:gd name="connsiteX3" fmla="*/ 755858 w 4272025"/>
              <a:gd name="connsiteY3" fmla="*/ 288059 h 1199364"/>
              <a:gd name="connsiteX4" fmla="*/ 755858 w 4272025"/>
              <a:gd name="connsiteY4" fmla="*/ 298450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4015140 w 4272025"/>
              <a:gd name="connsiteY15" fmla="*/ 59459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21198 w 4272025"/>
              <a:gd name="connsiteY32" fmla="*/ 245345 h 1199364"/>
              <a:gd name="connsiteX0" fmla="*/ 121198 w 4272025"/>
              <a:gd name="connsiteY0" fmla="*/ 245345 h 1199364"/>
              <a:gd name="connsiteX1" fmla="*/ 337225 w 4272025"/>
              <a:gd name="connsiteY1" fmla="*/ 173328 h 1199364"/>
              <a:gd name="connsiteX2" fmla="*/ 625261 w 4272025"/>
              <a:gd name="connsiteY2" fmla="*/ 245345 h 1199364"/>
              <a:gd name="connsiteX3" fmla="*/ 755858 w 4272025"/>
              <a:gd name="connsiteY3" fmla="*/ 288059 h 1199364"/>
              <a:gd name="connsiteX4" fmla="*/ 755858 w 4272025"/>
              <a:gd name="connsiteY4" fmla="*/ 298450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4015140 w 4272025"/>
              <a:gd name="connsiteY15" fmla="*/ 59459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21198 w 4272025"/>
              <a:gd name="connsiteY32" fmla="*/ 245345 h 1199364"/>
              <a:gd name="connsiteX0" fmla="*/ 121198 w 4272025"/>
              <a:gd name="connsiteY0" fmla="*/ 245345 h 1199364"/>
              <a:gd name="connsiteX1" fmla="*/ 337225 w 4272025"/>
              <a:gd name="connsiteY1" fmla="*/ 173328 h 1199364"/>
              <a:gd name="connsiteX2" fmla="*/ 625261 w 4272025"/>
              <a:gd name="connsiteY2" fmla="*/ 245345 h 1199364"/>
              <a:gd name="connsiteX3" fmla="*/ 755858 w 4272025"/>
              <a:gd name="connsiteY3" fmla="*/ 288059 h 1199364"/>
              <a:gd name="connsiteX4" fmla="*/ 769279 w 4272025"/>
              <a:gd name="connsiteY4" fmla="*/ 317363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4015140 w 4272025"/>
              <a:gd name="connsiteY15" fmla="*/ 59459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21198 w 4272025"/>
              <a:gd name="connsiteY32" fmla="*/ 245345 h 1199364"/>
              <a:gd name="connsiteX0" fmla="*/ 121198 w 4272025"/>
              <a:gd name="connsiteY0" fmla="*/ 245345 h 1199364"/>
              <a:gd name="connsiteX1" fmla="*/ 337225 w 4272025"/>
              <a:gd name="connsiteY1" fmla="*/ 173328 h 1199364"/>
              <a:gd name="connsiteX2" fmla="*/ 625261 w 4272025"/>
              <a:gd name="connsiteY2" fmla="*/ 245345 h 1199364"/>
              <a:gd name="connsiteX3" fmla="*/ 755858 w 4272025"/>
              <a:gd name="connsiteY3" fmla="*/ 288059 h 1199364"/>
              <a:gd name="connsiteX4" fmla="*/ 769279 w 4272025"/>
              <a:gd name="connsiteY4" fmla="*/ 317363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4015140 w 4272025"/>
              <a:gd name="connsiteY15" fmla="*/ 59459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21198 w 4272025"/>
              <a:gd name="connsiteY32" fmla="*/ 245345 h 1199364"/>
              <a:gd name="connsiteX0" fmla="*/ 134201 w 4272025"/>
              <a:gd name="connsiteY0" fmla="*/ 271384 h 1199364"/>
              <a:gd name="connsiteX1" fmla="*/ 337225 w 4272025"/>
              <a:gd name="connsiteY1" fmla="*/ 173328 h 1199364"/>
              <a:gd name="connsiteX2" fmla="*/ 625261 w 4272025"/>
              <a:gd name="connsiteY2" fmla="*/ 245345 h 1199364"/>
              <a:gd name="connsiteX3" fmla="*/ 755858 w 4272025"/>
              <a:gd name="connsiteY3" fmla="*/ 288059 h 1199364"/>
              <a:gd name="connsiteX4" fmla="*/ 769279 w 4272025"/>
              <a:gd name="connsiteY4" fmla="*/ 317363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4015140 w 4272025"/>
              <a:gd name="connsiteY15" fmla="*/ 59459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34201 w 4272025"/>
              <a:gd name="connsiteY32" fmla="*/ 271384 h 1199364"/>
              <a:gd name="connsiteX0" fmla="*/ 134201 w 4272025"/>
              <a:gd name="connsiteY0" fmla="*/ 271384 h 1199364"/>
              <a:gd name="connsiteX1" fmla="*/ 332897 w 4272025"/>
              <a:gd name="connsiteY1" fmla="*/ 212360 h 1199364"/>
              <a:gd name="connsiteX2" fmla="*/ 625261 w 4272025"/>
              <a:gd name="connsiteY2" fmla="*/ 245345 h 1199364"/>
              <a:gd name="connsiteX3" fmla="*/ 755858 w 4272025"/>
              <a:gd name="connsiteY3" fmla="*/ 288059 h 1199364"/>
              <a:gd name="connsiteX4" fmla="*/ 769279 w 4272025"/>
              <a:gd name="connsiteY4" fmla="*/ 317363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4015140 w 4272025"/>
              <a:gd name="connsiteY15" fmla="*/ 59459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34201 w 4272025"/>
              <a:gd name="connsiteY32" fmla="*/ 271384 h 1199364"/>
              <a:gd name="connsiteX0" fmla="*/ 134201 w 4272025"/>
              <a:gd name="connsiteY0" fmla="*/ 271384 h 1199364"/>
              <a:gd name="connsiteX1" fmla="*/ 332897 w 4272025"/>
              <a:gd name="connsiteY1" fmla="*/ 212360 h 1199364"/>
              <a:gd name="connsiteX2" fmla="*/ 625261 w 4272025"/>
              <a:gd name="connsiteY2" fmla="*/ 245345 h 1199364"/>
              <a:gd name="connsiteX3" fmla="*/ 755858 w 4272025"/>
              <a:gd name="connsiteY3" fmla="*/ 288059 h 1199364"/>
              <a:gd name="connsiteX4" fmla="*/ 769279 w 4272025"/>
              <a:gd name="connsiteY4" fmla="*/ 389381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4015140 w 4272025"/>
              <a:gd name="connsiteY15" fmla="*/ 59459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34201 w 4272025"/>
              <a:gd name="connsiteY32" fmla="*/ 271384 h 1199364"/>
              <a:gd name="connsiteX0" fmla="*/ 134201 w 4272025"/>
              <a:gd name="connsiteY0" fmla="*/ 271384 h 1199364"/>
              <a:gd name="connsiteX1" fmla="*/ 332897 w 4272025"/>
              <a:gd name="connsiteY1" fmla="*/ 212360 h 1199364"/>
              <a:gd name="connsiteX2" fmla="*/ 625261 w 4272025"/>
              <a:gd name="connsiteY2" fmla="*/ 245345 h 1199364"/>
              <a:gd name="connsiteX3" fmla="*/ 703277 w 4272025"/>
              <a:gd name="connsiteY3" fmla="*/ 275364 h 1199364"/>
              <a:gd name="connsiteX4" fmla="*/ 769279 w 4272025"/>
              <a:gd name="connsiteY4" fmla="*/ 389381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4015140 w 4272025"/>
              <a:gd name="connsiteY15" fmla="*/ 59459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34201 w 4272025"/>
              <a:gd name="connsiteY32" fmla="*/ 271384 h 1199364"/>
              <a:gd name="connsiteX0" fmla="*/ 134201 w 4272025"/>
              <a:gd name="connsiteY0" fmla="*/ 271384 h 1199364"/>
              <a:gd name="connsiteX1" fmla="*/ 332897 w 4272025"/>
              <a:gd name="connsiteY1" fmla="*/ 212360 h 1199364"/>
              <a:gd name="connsiteX2" fmla="*/ 625261 w 4272025"/>
              <a:gd name="connsiteY2" fmla="*/ 245345 h 1199364"/>
              <a:gd name="connsiteX3" fmla="*/ 703277 w 4272025"/>
              <a:gd name="connsiteY3" fmla="*/ 275364 h 1199364"/>
              <a:gd name="connsiteX4" fmla="*/ 769279 w 4272025"/>
              <a:gd name="connsiteY4" fmla="*/ 389381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3972426 w 4272025"/>
              <a:gd name="connsiteY15" fmla="*/ 89425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34201 w 4272025"/>
              <a:gd name="connsiteY32" fmla="*/ 271384 h 1199364"/>
              <a:gd name="connsiteX0" fmla="*/ 134201 w 4272025"/>
              <a:gd name="connsiteY0" fmla="*/ 271384 h 1199364"/>
              <a:gd name="connsiteX1" fmla="*/ 332897 w 4272025"/>
              <a:gd name="connsiteY1" fmla="*/ 212360 h 1199364"/>
              <a:gd name="connsiteX2" fmla="*/ 625261 w 4272025"/>
              <a:gd name="connsiteY2" fmla="*/ 245345 h 1199364"/>
              <a:gd name="connsiteX3" fmla="*/ 703277 w 4272025"/>
              <a:gd name="connsiteY3" fmla="*/ 275364 h 1199364"/>
              <a:gd name="connsiteX4" fmla="*/ 769279 w 4272025"/>
              <a:gd name="connsiteY4" fmla="*/ 389381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3972426 w 4272025"/>
              <a:gd name="connsiteY15" fmla="*/ 89425 h 1199364"/>
              <a:gd name="connsiteX16" fmla="*/ 4024577 w 4272025"/>
              <a:gd name="connsiteY16" fmla="*/ 196314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34201 w 4272025"/>
              <a:gd name="connsiteY32" fmla="*/ 271384 h 1199364"/>
              <a:gd name="connsiteX0" fmla="*/ 134201 w 4294416"/>
              <a:gd name="connsiteY0" fmla="*/ 271384 h 1199364"/>
              <a:gd name="connsiteX1" fmla="*/ 332897 w 4294416"/>
              <a:gd name="connsiteY1" fmla="*/ 212360 h 1199364"/>
              <a:gd name="connsiteX2" fmla="*/ 625261 w 4294416"/>
              <a:gd name="connsiteY2" fmla="*/ 245345 h 1199364"/>
              <a:gd name="connsiteX3" fmla="*/ 703277 w 4294416"/>
              <a:gd name="connsiteY3" fmla="*/ 275364 h 1199364"/>
              <a:gd name="connsiteX4" fmla="*/ 769279 w 4294416"/>
              <a:gd name="connsiteY4" fmla="*/ 389381 h 1199364"/>
              <a:gd name="connsiteX5" fmla="*/ 825130 w 4294416"/>
              <a:gd name="connsiteY5" fmla="*/ 471632 h 1199364"/>
              <a:gd name="connsiteX6" fmla="*/ 960212 w 4294416"/>
              <a:gd name="connsiteY6" fmla="*/ 741795 h 1199364"/>
              <a:gd name="connsiteX7" fmla="*/ 1465903 w 4294416"/>
              <a:gd name="connsiteY7" fmla="*/ 880341 h 1199364"/>
              <a:gd name="connsiteX8" fmla="*/ 2536167 w 4294416"/>
              <a:gd name="connsiteY8" fmla="*/ 949614 h 1199364"/>
              <a:gd name="connsiteX9" fmla="*/ 2750912 w 4294416"/>
              <a:gd name="connsiteY9" fmla="*/ 946150 h 1199364"/>
              <a:gd name="connsiteX10" fmla="*/ 2879067 w 4294416"/>
              <a:gd name="connsiteY10" fmla="*/ 890732 h 1199364"/>
              <a:gd name="connsiteX11" fmla="*/ 2955267 w 4294416"/>
              <a:gd name="connsiteY11" fmla="*/ 630959 h 1199364"/>
              <a:gd name="connsiteX12" fmla="*/ 2951803 w 4294416"/>
              <a:gd name="connsiteY12" fmla="*/ 378114 h 1199364"/>
              <a:gd name="connsiteX13" fmla="*/ 3066103 w 4294416"/>
              <a:gd name="connsiteY13" fmla="*/ 59459 h 1199364"/>
              <a:gd name="connsiteX14" fmla="*/ 3790003 w 4294416"/>
              <a:gd name="connsiteY14" fmla="*/ 21359 h 1199364"/>
              <a:gd name="connsiteX15" fmla="*/ 3972426 w 4294416"/>
              <a:gd name="connsiteY15" fmla="*/ 89425 h 1199364"/>
              <a:gd name="connsiteX16" fmla="*/ 4024577 w 4294416"/>
              <a:gd name="connsiteY16" fmla="*/ 196314 h 1199364"/>
              <a:gd name="connsiteX17" fmla="*/ 4085149 w 4294416"/>
              <a:gd name="connsiteY17" fmla="*/ 391151 h 1199364"/>
              <a:gd name="connsiteX18" fmla="*/ 4264521 w 4294416"/>
              <a:gd name="connsiteY18" fmla="*/ 568614 h 1199364"/>
              <a:gd name="connsiteX19" fmla="*/ 4264521 w 4294416"/>
              <a:gd name="connsiteY19" fmla="*/ 724477 h 1199364"/>
              <a:gd name="connsiteX20" fmla="*/ 4257594 w 4294416"/>
              <a:gd name="connsiteY20" fmla="*/ 748723 h 1199364"/>
              <a:gd name="connsiteX21" fmla="*/ 4229885 w 4294416"/>
              <a:gd name="connsiteY21" fmla="*/ 804141 h 1199364"/>
              <a:gd name="connsiteX22" fmla="*/ 4143294 w 4294416"/>
              <a:gd name="connsiteY22" fmla="*/ 845704 h 1199364"/>
              <a:gd name="connsiteX23" fmla="*/ 3938405 w 4294416"/>
              <a:gd name="connsiteY23" fmla="*/ 965474 h 1199364"/>
              <a:gd name="connsiteX24" fmla="*/ 3506357 w 4294416"/>
              <a:gd name="connsiteY24" fmla="*/ 1109490 h 1199364"/>
              <a:gd name="connsiteX25" fmla="*/ 2786277 w 4294416"/>
              <a:gd name="connsiteY25" fmla="*/ 1181498 h 1199364"/>
              <a:gd name="connsiteX26" fmla="*/ 1922182 w 4294416"/>
              <a:gd name="connsiteY26" fmla="*/ 1181498 h 1199364"/>
              <a:gd name="connsiteX27" fmla="*/ 1130094 w 4294416"/>
              <a:gd name="connsiteY27" fmla="*/ 1109490 h 1199364"/>
              <a:gd name="connsiteX28" fmla="*/ 554030 w 4294416"/>
              <a:gd name="connsiteY28" fmla="*/ 965474 h 1199364"/>
              <a:gd name="connsiteX29" fmla="*/ 338005 w 4294416"/>
              <a:gd name="connsiteY29" fmla="*/ 893466 h 1199364"/>
              <a:gd name="connsiteX30" fmla="*/ 52740 w 4294416"/>
              <a:gd name="connsiteY30" fmla="*/ 707159 h 1199364"/>
              <a:gd name="connsiteX31" fmla="*/ 21567 w 4294416"/>
              <a:gd name="connsiteY31" fmla="*/ 447386 h 1199364"/>
              <a:gd name="connsiteX32" fmla="*/ 134201 w 4294416"/>
              <a:gd name="connsiteY32" fmla="*/ 271384 h 1199364"/>
              <a:gd name="connsiteX0" fmla="*/ 134201 w 4301068"/>
              <a:gd name="connsiteY0" fmla="*/ 271384 h 1199364"/>
              <a:gd name="connsiteX1" fmla="*/ 332897 w 4301068"/>
              <a:gd name="connsiteY1" fmla="*/ 212360 h 1199364"/>
              <a:gd name="connsiteX2" fmla="*/ 625261 w 4301068"/>
              <a:gd name="connsiteY2" fmla="*/ 245345 h 1199364"/>
              <a:gd name="connsiteX3" fmla="*/ 703277 w 4301068"/>
              <a:gd name="connsiteY3" fmla="*/ 275364 h 1199364"/>
              <a:gd name="connsiteX4" fmla="*/ 769279 w 4301068"/>
              <a:gd name="connsiteY4" fmla="*/ 389381 h 1199364"/>
              <a:gd name="connsiteX5" fmla="*/ 825130 w 4301068"/>
              <a:gd name="connsiteY5" fmla="*/ 471632 h 1199364"/>
              <a:gd name="connsiteX6" fmla="*/ 960212 w 4301068"/>
              <a:gd name="connsiteY6" fmla="*/ 741795 h 1199364"/>
              <a:gd name="connsiteX7" fmla="*/ 1465903 w 4301068"/>
              <a:gd name="connsiteY7" fmla="*/ 880341 h 1199364"/>
              <a:gd name="connsiteX8" fmla="*/ 2536167 w 4301068"/>
              <a:gd name="connsiteY8" fmla="*/ 949614 h 1199364"/>
              <a:gd name="connsiteX9" fmla="*/ 2750912 w 4301068"/>
              <a:gd name="connsiteY9" fmla="*/ 946150 h 1199364"/>
              <a:gd name="connsiteX10" fmla="*/ 2879067 w 4301068"/>
              <a:gd name="connsiteY10" fmla="*/ 890732 h 1199364"/>
              <a:gd name="connsiteX11" fmla="*/ 2955267 w 4301068"/>
              <a:gd name="connsiteY11" fmla="*/ 630959 h 1199364"/>
              <a:gd name="connsiteX12" fmla="*/ 2951803 w 4301068"/>
              <a:gd name="connsiteY12" fmla="*/ 378114 h 1199364"/>
              <a:gd name="connsiteX13" fmla="*/ 3066103 w 4301068"/>
              <a:gd name="connsiteY13" fmla="*/ 59459 h 1199364"/>
              <a:gd name="connsiteX14" fmla="*/ 3790003 w 4301068"/>
              <a:gd name="connsiteY14" fmla="*/ 21359 h 1199364"/>
              <a:gd name="connsiteX15" fmla="*/ 3972426 w 4301068"/>
              <a:gd name="connsiteY15" fmla="*/ 89425 h 1199364"/>
              <a:gd name="connsiteX16" fmla="*/ 4024577 w 4301068"/>
              <a:gd name="connsiteY16" fmla="*/ 196314 h 1199364"/>
              <a:gd name="connsiteX17" fmla="*/ 4085149 w 4301068"/>
              <a:gd name="connsiteY17" fmla="*/ 391151 h 1199364"/>
              <a:gd name="connsiteX18" fmla="*/ 4264521 w 4301068"/>
              <a:gd name="connsiteY18" fmla="*/ 568614 h 1199364"/>
              <a:gd name="connsiteX19" fmla="*/ 4264521 w 4301068"/>
              <a:gd name="connsiteY19" fmla="*/ 724477 h 1199364"/>
              <a:gd name="connsiteX20" fmla="*/ 4045242 w 4301068"/>
              <a:gd name="connsiteY20" fmla="*/ 670664 h 1199364"/>
              <a:gd name="connsiteX21" fmla="*/ 4229885 w 4301068"/>
              <a:gd name="connsiteY21" fmla="*/ 804141 h 1199364"/>
              <a:gd name="connsiteX22" fmla="*/ 4143294 w 4301068"/>
              <a:gd name="connsiteY22" fmla="*/ 845704 h 1199364"/>
              <a:gd name="connsiteX23" fmla="*/ 3938405 w 4301068"/>
              <a:gd name="connsiteY23" fmla="*/ 965474 h 1199364"/>
              <a:gd name="connsiteX24" fmla="*/ 3506357 w 4301068"/>
              <a:gd name="connsiteY24" fmla="*/ 1109490 h 1199364"/>
              <a:gd name="connsiteX25" fmla="*/ 2786277 w 4301068"/>
              <a:gd name="connsiteY25" fmla="*/ 1181498 h 1199364"/>
              <a:gd name="connsiteX26" fmla="*/ 1922182 w 4301068"/>
              <a:gd name="connsiteY26" fmla="*/ 1181498 h 1199364"/>
              <a:gd name="connsiteX27" fmla="*/ 1130094 w 4301068"/>
              <a:gd name="connsiteY27" fmla="*/ 1109490 h 1199364"/>
              <a:gd name="connsiteX28" fmla="*/ 554030 w 4301068"/>
              <a:gd name="connsiteY28" fmla="*/ 965474 h 1199364"/>
              <a:gd name="connsiteX29" fmla="*/ 338005 w 4301068"/>
              <a:gd name="connsiteY29" fmla="*/ 893466 h 1199364"/>
              <a:gd name="connsiteX30" fmla="*/ 52740 w 4301068"/>
              <a:gd name="connsiteY30" fmla="*/ 707159 h 1199364"/>
              <a:gd name="connsiteX31" fmla="*/ 21567 w 4301068"/>
              <a:gd name="connsiteY31" fmla="*/ 447386 h 1199364"/>
              <a:gd name="connsiteX32" fmla="*/ 134201 w 4301068"/>
              <a:gd name="connsiteY32" fmla="*/ 271384 h 1199364"/>
              <a:gd name="connsiteX0" fmla="*/ 134201 w 4277232"/>
              <a:gd name="connsiteY0" fmla="*/ 271384 h 1199364"/>
              <a:gd name="connsiteX1" fmla="*/ 332897 w 4277232"/>
              <a:gd name="connsiteY1" fmla="*/ 212360 h 1199364"/>
              <a:gd name="connsiteX2" fmla="*/ 625261 w 4277232"/>
              <a:gd name="connsiteY2" fmla="*/ 245345 h 1199364"/>
              <a:gd name="connsiteX3" fmla="*/ 703277 w 4277232"/>
              <a:gd name="connsiteY3" fmla="*/ 275364 h 1199364"/>
              <a:gd name="connsiteX4" fmla="*/ 769279 w 4277232"/>
              <a:gd name="connsiteY4" fmla="*/ 389381 h 1199364"/>
              <a:gd name="connsiteX5" fmla="*/ 825130 w 4277232"/>
              <a:gd name="connsiteY5" fmla="*/ 471632 h 1199364"/>
              <a:gd name="connsiteX6" fmla="*/ 960212 w 4277232"/>
              <a:gd name="connsiteY6" fmla="*/ 741795 h 1199364"/>
              <a:gd name="connsiteX7" fmla="*/ 1465903 w 4277232"/>
              <a:gd name="connsiteY7" fmla="*/ 880341 h 1199364"/>
              <a:gd name="connsiteX8" fmla="*/ 2536167 w 4277232"/>
              <a:gd name="connsiteY8" fmla="*/ 949614 h 1199364"/>
              <a:gd name="connsiteX9" fmla="*/ 2750912 w 4277232"/>
              <a:gd name="connsiteY9" fmla="*/ 946150 h 1199364"/>
              <a:gd name="connsiteX10" fmla="*/ 2879067 w 4277232"/>
              <a:gd name="connsiteY10" fmla="*/ 890732 h 1199364"/>
              <a:gd name="connsiteX11" fmla="*/ 2955267 w 4277232"/>
              <a:gd name="connsiteY11" fmla="*/ 630959 h 1199364"/>
              <a:gd name="connsiteX12" fmla="*/ 2951803 w 4277232"/>
              <a:gd name="connsiteY12" fmla="*/ 378114 h 1199364"/>
              <a:gd name="connsiteX13" fmla="*/ 3066103 w 4277232"/>
              <a:gd name="connsiteY13" fmla="*/ 59459 h 1199364"/>
              <a:gd name="connsiteX14" fmla="*/ 3790003 w 4277232"/>
              <a:gd name="connsiteY14" fmla="*/ 21359 h 1199364"/>
              <a:gd name="connsiteX15" fmla="*/ 3972426 w 4277232"/>
              <a:gd name="connsiteY15" fmla="*/ 89425 h 1199364"/>
              <a:gd name="connsiteX16" fmla="*/ 4024577 w 4277232"/>
              <a:gd name="connsiteY16" fmla="*/ 196314 h 1199364"/>
              <a:gd name="connsiteX17" fmla="*/ 4085149 w 4277232"/>
              <a:gd name="connsiteY17" fmla="*/ 391151 h 1199364"/>
              <a:gd name="connsiteX18" fmla="*/ 4121509 w 4277232"/>
              <a:gd name="connsiteY18" fmla="*/ 542595 h 1199364"/>
              <a:gd name="connsiteX19" fmla="*/ 4264521 w 4277232"/>
              <a:gd name="connsiteY19" fmla="*/ 724477 h 1199364"/>
              <a:gd name="connsiteX20" fmla="*/ 4045242 w 4277232"/>
              <a:gd name="connsiteY20" fmla="*/ 670664 h 1199364"/>
              <a:gd name="connsiteX21" fmla="*/ 4229885 w 4277232"/>
              <a:gd name="connsiteY21" fmla="*/ 804141 h 1199364"/>
              <a:gd name="connsiteX22" fmla="*/ 4143294 w 4277232"/>
              <a:gd name="connsiteY22" fmla="*/ 845704 h 1199364"/>
              <a:gd name="connsiteX23" fmla="*/ 3938405 w 4277232"/>
              <a:gd name="connsiteY23" fmla="*/ 965474 h 1199364"/>
              <a:gd name="connsiteX24" fmla="*/ 3506357 w 4277232"/>
              <a:gd name="connsiteY24" fmla="*/ 1109490 h 1199364"/>
              <a:gd name="connsiteX25" fmla="*/ 2786277 w 4277232"/>
              <a:gd name="connsiteY25" fmla="*/ 1181498 h 1199364"/>
              <a:gd name="connsiteX26" fmla="*/ 1922182 w 4277232"/>
              <a:gd name="connsiteY26" fmla="*/ 1181498 h 1199364"/>
              <a:gd name="connsiteX27" fmla="*/ 1130094 w 4277232"/>
              <a:gd name="connsiteY27" fmla="*/ 1109490 h 1199364"/>
              <a:gd name="connsiteX28" fmla="*/ 554030 w 4277232"/>
              <a:gd name="connsiteY28" fmla="*/ 965474 h 1199364"/>
              <a:gd name="connsiteX29" fmla="*/ 338005 w 4277232"/>
              <a:gd name="connsiteY29" fmla="*/ 893466 h 1199364"/>
              <a:gd name="connsiteX30" fmla="*/ 52740 w 4277232"/>
              <a:gd name="connsiteY30" fmla="*/ 707159 h 1199364"/>
              <a:gd name="connsiteX31" fmla="*/ 21567 w 4277232"/>
              <a:gd name="connsiteY31" fmla="*/ 447386 h 1199364"/>
              <a:gd name="connsiteX32" fmla="*/ 134201 w 4277232"/>
              <a:gd name="connsiteY32" fmla="*/ 271384 h 1199364"/>
              <a:gd name="connsiteX0" fmla="*/ 134201 w 4246227"/>
              <a:gd name="connsiteY0" fmla="*/ 271384 h 1199364"/>
              <a:gd name="connsiteX1" fmla="*/ 332897 w 4246227"/>
              <a:gd name="connsiteY1" fmla="*/ 212360 h 1199364"/>
              <a:gd name="connsiteX2" fmla="*/ 625261 w 4246227"/>
              <a:gd name="connsiteY2" fmla="*/ 245345 h 1199364"/>
              <a:gd name="connsiteX3" fmla="*/ 703277 w 4246227"/>
              <a:gd name="connsiteY3" fmla="*/ 275364 h 1199364"/>
              <a:gd name="connsiteX4" fmla="*/ 769279 w 4246227"/>
              <a:gd name="connsiteY4" fmla="*/ 389381 h 1199364"/>
              <a:gd name="connsiteX5" fmla="*/ 825130 w 4246227"/>
              <a:gd name="connsiteY5" fmla="*/ 471632 h 1199364"/>
              <a:gd name="connsiteX6" fmla="*/ 960212 w 4246227"/>
              <a:gd name="connsiteY6" fmla="*/ 741795 h 1199364"/>
              <a:gd name="connsiteX7" fmla="*/ 1465903 w 4246227"/>
              <a:gd name="connsiteY7" fmla="*/ 880341 h 1199364"/>
              <a:gd name="connsiteX8" fmla="*/ 2536167 w 4246227"/>
              <a:gd name="connsiteY8" fmla="*/ 949614 h 1199364"/>
              <a:gd name="connsiteX9" fmla="*/ 2750912 w 4246227"/>
              <a:gd name="connsiteY9" fmla="*/ 946150 h 1199364"/>
              <a:gd name="connsiteX10" fmla="*/ 2879067 w 4246227"/>
              <a:gd name="connsiteY10" fmla="*/ 890732 h 1199364"/>
              <a:gd name="connsiteX11" fmla="*/ 2955267 w 4246227"/>
              <a:gd name="connsiteY11" fmla="*/ 630959 h 1199364"/>
              <a:gd name="connsiteX12" fmla="*/ 2951803 w 4246227"/>
              <a:gd name="connsiteY12" fmla="*/ 378114 h 1199364"/>
              <a:gd name="connsiteX13" fmla="*/ 3066103 w 4246227"/>
              <a:gd name="connsiteY13" fmla="*/ 59459 h 1199364"/>
              <a:gd name="connsiteX14" fmla="*/ 3790003 w 4246227"/>
              <a:gd name="connsiteY14" fmla="*/ 21359 h 1199364"/>
              <a:gd name="connsiteX15" fmla="*/ 3972426 w 4246227"/>
              <a:gd name="connsiteY15" fmla="*/ 89425 h 1199364"/>
              <a:gd name="connsiteX16" fmla="*/ 4024577 w 4246227"/>
              <a:gd name="connsiteY16" fmla="*/ 196314 h 1199364"/>
              <a:gd name="connsiteX17" fmla="*/ 4085149 w 4246227"/>
              <a:gd name="connsiteY17" fmla="*/ 391151 h 1199364"/>
              <a:gd name="connsiteX18" fmla="*/ 4121509 w 4246227"/>
              <a:gd name="connsiteY18" fmla="*/ 542595 h 1199364"/>
              <a:gd name="connsiteX19" fmla="*/ 4045242 w 4246227"/>
              <a:gd name="connsiteY19" fmla="*/ 670664 h 1199364"/>
              <a:gd name="connsiteX20" fmla="*/ 4229885 w 4246227"/>
              <a:gd name="connsiteY20" fmla="*/ 804141 h 1199364"/>
              <a:gd name="connsiteX21" fmla="*/ 4143294 w 4246227"/>
              <a:gd name="connsiteY21" fmla="*/ 845704 h 1199364"/>
              <a:gd name="connsiteX22" fmla="*/ 3938405 w 4246227"/>
              <a:gd name="connsiteY22" fmla="*/ 965474 h 1199364"/>
              <a:gd name="connsiteX23" fmla="*/ 3506357 w 4246227"/>
              <a:gd name="connsiteY23" fmla="*/ 1109490 h 1199364"/>
              <a:gd name="connsiteX24" fmla="*/ 2786277 w 4246227"/>
              <a:gd name="connsiteY24" fmla="*/ 1181498 h 1199364"/>
              <a:gd name="connsiteX25" fmla="*/ 1922182 w 4246227"/>
              <a:gd name="connsiteY25" fmla="*/ 1181498 h 1199364"/>
              <a:gd name="connsiteX26" fmla="*/ 1130094 w 4246227"/>
              <a:gd name="connsiteY26" fmla="*/ 1109490 h 1199364"/>
              <a:gd name="connsiteX27" fmla="*/ 554030 w 4246227"/>
              <a:gd name="connsiteY27" fmla="*/ 965474 h 1199364"/>
              <a:gd name="connsiteX28" fmla="*/ 338005 w 4246227"/>
              <a:gd name="connsiteY28" fmla="*/ 893466 h 1199364"/>
              <a:gd name="connsiteX29" fmla="*/ 52740 w 4246227"/>
              <a:gd name="connsiteY29" fmla="*/ 707159 h 1199364"/>
              <a:gd name="connsiteX30" fmla="*/ 21567 w 4246227"/>
              <a:gd name="connsiteY30" fmla="*/ 447386 h 1199364"/>
              <a:gd name="connsiteX31" fmla="*/ 134201 w 4246227"/>
              <a:gd name="connsiteY31" fmla="*/ 271384 h 1199364"/>
              <a:gd name="connsiteX0" fmla="*/ 134201 w 4161100"/>
              <a:gd name="connsiteY0" fmla="*/ 271384 h 1199364"/>
              <a:gd name="connsiteX1" fmla="*/ 332897 w 4161100"/>
              <a:gd name="connsiteY1" fmla="*/ 212360 h 1199364"/>
              <a:gd name="connsiteX2" fmla="*/ 625261 w 4161100"/>
              <a:gd name="connsiteY2" fmla="*/ 245345 h 1199364"/>
              <a:gd name="connsiteX3" fmla="*/ 703277 w 4161100"/>
              <a:gd name="connsiteY3" fmla="*/ 275364 h 1199364"/>
              <a:gd name="connsiteX4" fmla="*/ 769279 w 4161100"/>
              <a:gd name="connsiteY4" fmla="*/ 389381 h 1199364"/>
              <a:gd name="connsiteX5" fmla="*/ 825130 w 4161100"/>
              <a:gd name="connsiteY5" fmla="*/ 471632 h 1199364"/>
              <a:gd name="connsiteX6" fmla="*/ 960212 w 4161100"/>
              <a:gd name="connsiteY6" fmla="*/ 741795 h 1199364"/>
              <a:gd name="connsiteX7" fmla="*/ 1465903 w 4161100"/>
              <a:gd name="connsiteY7" fmla="*/ 880341 h 1199364"/>
              <a:gd name="connsiteX8" fmla="*/ 2536167 w 4161100"/>
              <a:gd name="connsiteY8" fmla="*/ 949614 h 1199364"/>
              <a:gd name="connsiteX9" fmla="*/ 2750912 w 4161100"/>
              <a:gd name="connsiteY9" fmla="*/ 946150 h 1199364"/>
              <a:gd name="connsiteX10" fmla="*/ 2879067 w 4161100"/>
              <a:gd name="connsiteY10" fmla="*/ 890732 h 1199364"/>
              <a:gd name="connsiteX11" fmla="*/ 2955267 w 4161100"/>
              <a:gd name="connsiteY11" fmla="*/ 630959 h 1199364"/>
              <a:gd name="connsiteX12" fmla="*/ 2951803 w 4161100"/>
              <a:gd name="connsiteY12" fmla="*/ 378114 h 1199364"/>
              <a:gd name="connsiteX13" fmla="*/ 3066103 w 4161100"/>
              <a:gd name="connsiteY13" fmla="*/ 59459 h 1199364"/>
              <a:gd name="connsiteX14" fmla="*/ 3790003 w 4161100"/>
              <a:gd name="connsiteY14" fmla="*/ 21359 h 1199364"/>
              <a:gd name="connsiteX15" fmla="*/ 3972426 w 4161100"/>
              <a:gd name="connsiteY15" fmla="*/ 89425 h 1199364"/>
              <a:gd name="connsiteX16" fmla="*/ 4024577 w 4161100"/>
              <a:gd name="connsiteY16" fmla="*/ 196314 h 1199364"/>
              <a:gd name="connsiteX17" fmla="*/ 4085149 w 4161100"/>
              <a:gd name="connsiteY17" fmla="*/ 391151 h 1199364"/>
              <a:gd name="connsiteX18" fmla="*/ 4121509 w 4161100"/>
              <a:gd name="connsiteY18" fmla="*/ 542595 h 1199364"/>
              <a:gd name="connsiteX19" fmla="*/ 4045242 w 4161100"/>
              <a:gd name="connsiteY19" fmla="*/ 670664 h 1199364"/>
              <a:gd name="connsiteX20" fmla="*/ 4143294 w 4161100"/>
              <a:gd name="connsiteY20" fmla="*/ 845704 h 1199364"/>
              <a:gd name="connsiteX21" fmla="*/ 3938405 w 4161100"/>
              <a:gd name="connsiteY21" fmla="*/ 965474 h 1199364"/>
              <a:gd name="connsiteX22" fmla="*/ 3506357 w 4161100"/>
              <a:gd name="connsiteY22" fmla="*/ 1109490 h 1199364"/>
              <a:gd name="connsiteX23" fmla="*/ 2786277 w 4161100"/>
              <a:gd name="connsiteY23" fmla="*/ 1181498 h 1199364"/>
              <a:gd name="connsiteX24" fmla="*/ 1922182 w 4161100"/>
              <a:gd name="connsiteY24" fmla="*/ 1181498 h 1199364"/>
              <a:gd name="connsiteX25" fmla="*/ 1130094 w 4161100"/>
              <a:gd name="connsiteY25" fmla="*/ 1109490 h 1199364"/>
              <a:gd name="connsiteX26" fmla="*/ 554030 w 4161100"/>
              <a:gd name="connsiteY26" fmla="*/ 965474 h 1199364"/>
              <a:gd name="connsiteX27" fmla="*/ 338005 w 4161100"/>
              <a:gd name="connsiteY27" fmla="*/ 893466 h 1199364"/>
              <a:gd name="connsiteX28" fmla="*/ 52740 w 4161100"/>
              <a:gd name="connsiteY28" fmla="*/ 707159 h 1199364"/>
              <a:gd name="connsiteX29" fmla="*/ 21567 w 4161100"/>
              <a:gd name="connsiteY29" fmla="*/ 447386 h 1199364"/>
              <a:gd name="connsiteX30" fmla="*/ 134201 w 4161100"/>
              <a:gd name="connsiteY30" fmla="*/ 271384 h 1199364"/>
              <a:gd name="connsiteX0" fmla="*/ 134201 w 4128160"/>
              <a:gd name="connsiteY0" fmla="*/ 271384 h 1199364"/>
              <a:gd name="connsiteX1" fmla="*/ 332897 w 4128160"/>
              <a:gd name="connsiteY1" fmla="*/ 212360 h 1199364"/>
              <a:gd name="connsiteX2" fmla="*/ 625261 w 4128160"/>
              <a:gd name="connsiteY2" fmla="*/ 245345 h 1199364"/>
              <a:gd name="connsiteX3" fmla="*/ 703277 w 4128160"/>
              <a:gd name="connsiteY3" fmla="*/ 275364 h 1199364"/>
              <a:gd name="connsiteX4" fmla="*/ 769279 w 4128160"/>
              <a:gd name="connsiteY4" fmla="*/ 389381 h 1199364"/>
              <a:gd name="connsiteX5" fmla="*/ 825130 w 4128160"/>
              <a:gd name="connsiteY5" fmla="*/ 471632 h 1199364"/>
              <a:gd name="connsiteX6" fmla="*/ 960212 w 4128160"/>
              <a:gd name="connsiteY6" fmla="*/ 741795 h 1199364"/>
              <a:gd name="connsiteX7" fmla="*/ 1465903 w 4128160"/>
              <a:gd name="connsiteY7" fmla="*/ 880341 h 1199364"/>
              <a:gd name="connsiteX8" fmla="*/ 2536167 w 4128160"/>
              <a:gd name="connsiteY8" fmla="*/ 949614 h 1199364"/>
              <a:gd name="connsiteX9" fmla="*/ 2750912 w 4128160"/>
              <a:gd name="connsiteY9" fmla="*/ 946150 h 1199364"/>
              <a:gd name="connsiteX10" fmla="*/ 2879067 w 4128160"/>
              <a:gd name="connsiteY10" fmla="*/ 890732 h 1199364"/>
              <a:gd name="connsiteX11" fmla="*/ 2955267 w 4128160"/>
              <a:gd name="connsiteY11" fmla="*/ 630959 h 1199364"/>
              <a:gd name="connsiteX12" fmla="*/ 2951803 w 4128160"/>
              <a:gd name="connsiteY12" fmla="*/ 378114 h 1199364"/>
              <a:gd name="connsiteX13" fmla="*/ 3066103 w 4128160"/>
              <a:gd name="connsiteY13" fmla="*/ 59459 h 1199364"/>
              <a:gd name="connsiteX14" fmla="*/ 3790003 w 4128160"/>
              <a:gd name="connsiteY14" fmla="*/ 21359 h 1199364"/>
              <a:gd name="connsiteX15" fmla="*/ 3972426 w 4128160"/>
              <a:gd name="connsiteY15" fmla="*/ 89425 h 1199364"/>
              <a:gd name="connsiteX16" fmla="*/ 4024577 w 4128160"/>
              <a:gd name="connsiteY16" fmla="*/ 196314 h 1199364"/>
              <a:gd name="connsiteX17" fmla="*/ 4085149 w 4128160"/>
              <a:gd name="connsiteY17" fmla="*/ 391151 h 1199364"/>
              <a:gd name="connsiteX18" fmla="*/ 4121509 w 4128160"/>
              <a:gd name="connsiteY18" fmla="*/ 542595 h 1199364"/>
              <a:gd name="connsiteX19" fmla="*/ 4045242 w 4128160"/>
              <a:gd name="connsiteY19" fmla="*/ 670664 h 1199364"/>
              <a:gd name="connsiteX20" fmla="*/ 3938405 w 4128160"/>
              <a:gd name="connsiteY20" fmla="*/ 965474 h 1199364"/>
              <a:gd name="connsiteX21" fmla="*/ 3506357 w 4128160"/>
              <a:gd name="connsiteY21" fmla="*/ 1109490 h 1199364"/>
              <a:gd name="connsiteX22" fmla="*/ 2786277 w 4128160"/>
              <a:gd name="connsiteY22" fmla="*/ 1181498 h 1199364"/>
              <a:gd name="connsiteX23" fmla="*/ 1922182 w 4128160"/>
              <a:gd name="connsiteY23" fmla="*/ 1181498 h 1199364"/>
              <a:gd name="connsiteX24" fmla="*/ 1130094 w 4128160"/>
              <a:gd name="connsiteY24" fmla="*/ 1109490 h 1199364"/>
              <a:gd name="connsiteX25" fmla="*/ 554030 w 4128160"/>
              <a:gd name="connsiteY25" fmla="*/ 965474 h 1199364"/>
              <a:gd name="connsiteX26" fmla="*/ 338005 w 4128160"/>
              <a:gd name="connsiteY26" fmla="*/ 893466 h 1199364"/>
              <a:gd name="connsiteX27" fmla="*/ 52740 w 4128160"/>
              <a:gd name="connsiteY27" fmla="*/ 707159 h 1199364"/>
              <a:gd name="connsiteX28" fmla="*/ 21567 w 4128160"/>
              <a:gd name="connsiteY28" fmla="*/ 447386 h 1199364"/>
              <a:gd name="connsiteX29" fmla="*/ 134201 w 4128160"/>
              <a:gd name="connsiteY29" fmla="*/ 271384 h 1199364"/>
              <a:gd name="connsiteX0" fmla="*/ 134201 w 4088593"/>
              <a:gd name="connsiteY0" fmla="*/ 271384 h 1199364"/>
              <a:gd name="connsiteX1" fmla="*/ 332897 w 4088593"/>
              <a:gd name="connsiteY1" fmla="*/ 212360 h 1199364"/>
              <a:gd name="connsiteX2" fmla="*/ 625261 w 4088593"/>
              <a:gd name="connsiteY2" fmla="*/ 245345 h 1199364"/>
              <a:gd name="connsiteX3" fmla="*/ 703277 w 4088593"/>
              <a:gd name="connsiteY3" fmla="*/ 275364 h 1199364"/>
              <a:gd name="connsiteX4" fmla="*/ 769279 w 4088593"/>
              <a:gd name="connsiteY4" fmla="*/ 389381 h 1199364"/>
              <a:gd name="connsiteX5" fmla="*/ 825130 w 4088593"/>
              <a:gd name="connsiteY5" fmla="*/ 471632 h 1199364"/>
              <a:gd name="connsiteX6" fmla="*/ 960212 w 4088593"/>
              <a:gd name="connsiteY6" fmla="*/ 741795 h 1199364"/>
              <a:gd name="connsiteX7" fmla="*/ 1465903 w 4088593"/>
              <a:gd name="connsiteY7" fmla="*/ 880341 h 1199364"/>
              <a:gd name="connsiteX8" fmla="*/ 2536167 w 4088593"/>
              <a:gd name="connsiteY8" fmla="*/ 949614 h 1199364"/>
              <a:gd name="connsiteX9" fmla="*/ 2750912 w 4088593"/>
              <a:gd name="connsiteY9" fmla="*/ 946150 h 1199364"/>
              <a:gd name="connsiteX10" fmla="*/ 2879067 w 4088593"/>
              <a:gd name="connsiteY10" fmla="*/ 890732 h 1199364"/>
              <a:gd name="connsiteX11" fmla="*/ 2955267 w 4088593"/>
              <a:gd name="connsiteY11" fmla="*/ 630959 h 1199364"/>
              <a:gd name="connsiteX12" fmla="*/ 2951803 w 4088593"/>
              <a:gd name="connsiteY12" fmla="*/ 378114 h 1199364"/>
              <a:gd name="connsiteX13" fmla="*/ 3066103 w 4088593"/>
              <a:gd name="connsiteY13" fmla="*/ 59459 h 1199364"/>
              <a:gd name="connsiteX14" fmla="*/ 3790003 w 4088593"/>
              <a:gd name="connsiteY14" fmla="*/ 21359 h 1199364"/>
              <a:gd name="connsiteX15" fmla="*/ 3972426 w 4088593"/>
              <a:gd name="connsiteY15" fmla="*/ 89425 h 1199364"/>
              <a:gd name="connsiteX16" fmla="*/ 4024577 w 4088593"/>
              <a:gd name="connsiteY16" fmla="*/ 196314 h 1199364"/>
              <a:gd name="connsiteX17" fmla="*/ 4085149 w 4088593"/>
              <a:gd name="connsiteY17" fmla="*/ 391151 h 1199364"/>
              <a:gd name="connsiteX18" fmla="*/ 4045242 w 4088593"/>
              <a:gd name="connsiteY18" fmla="*/ 670664 h 1199364"/>
              <a:gd name="connsiteX19" fmla="*/ 3938405 w 4088593"/>
              <a:gd name="connsiteY19" fmla="*/ 965474 h 1199364"/>
              <a:gd name="connsiteX20" fmla="*/ 3506357 w 4088593"/>
              <a:gd name="connsiteY20" fmla="*/ 1109490 h 1199364"/>
              <a:gd name="connsiteX21" fmla="*/ 2786277 w 4088593"/>
              <a:gd name="connsiteY21" fmla="*/ 1181498 h 1199364"/>
              <a:gd name="connsiteX22" fmla="*/ 1922182 w 4088593"/>
              <a:gd name="connsiteY22" fmla="*/ 1181498 h 1199364"/>
              <a:gd name="connsiteX23" fmla="*/ 1130094 w 4088593"/>
              <a:gd name="connsiteY23" fmla="*/ 1109490 h 1199364"/>
              <a:gd name="connsiteX24" fmla="*/ 554030 w 4088593"/>
              <a:gd name="connsiteY24" fmla="*/ 965474 h 1199364"/>
              <a:gd name="connsiteX25" fmla="*/ 338005 w 4088593"/>
              <a:gd name="connsiteY25" fmla="*/ 893466 h 1199364"/>
              <a:gd name="connsiteX26" fmla="*/ 52740 w 4088593"/>
              <a:gd name="connsiteY26" fmla="*/ 707159 h 1199364"/>
              <a:gd name="connsiteX27" fmla="*/ 21567 w 4088593"/>
              <a:gd name="connsiteY27" fmla="*/ 447386 h 1199364"/>
              <a:gd name="connsiteX28" fmla="*/ 134201 w 4088593"/>
              <a:gd name="connsiteY28" fmla="*/ 271384 h 1199364"/>
              <a:gd name="connsiteX0" fmla="*/ 134201 w 4088593"/>
              <a:gd name="connsiteY0" fmla="*/ 271384 h 1199364"/>
              <a:gd name="connsiteX1" fmla="*/ 332897 w 4088593"/>
              <a:gd name="connsiteY1" fmla="*/ 212360 h 1199364"/>
              <a:gd name="connsiteX2" fmla="*/ 625261 w 4088593"/>
              <a:gd name="connsiteY2" fmla="*/ 245345 h 1199364"/>
              <a:gd name="connsiteX3" fmla="*/ 703277 w 4088593"/>
              <a:gd name="connsiteY3" fmla="*/ 275364 h 1199364"/>
              <a:gd name="connsiteX4" fmla="*/ 769279 w 4088593"/>
              <a:gd name="connsiteY4" fmla="*/ 389381 h 1199364"/>
              <a:gd name="connsiteX5" fmla="*/ 825130 w 4088593"/>
              <a:gd name="connsiteY5" fmla="*/ 471632 h 1199364"/>
              <a:gd name="connsiteX6" fmla="*/ 960212 w 4088593"/>
              <a:gd name="connsiteY6" fmla="*/ 741795 h 1199364"/>
              <a:gd name="connsiteX7" fmla="*/ 1465903 w 4088593"/>
              <a:gd name="connsiteY7" fmla="*/ 880341 h 1199364"/>
              <a:gd name="connsiteX8" fmla="*/ 2536167 w 4088593"/>
              <a:gd name="connsiteY8" fmla="*/ 949614 h 1199364"/>
              <a:gd name="connsiteX9" fmla="*/ 2750912 w 4088593"/>
              <a:gd name="connsiteY9" fmla="*/ 946150 h 1199364"/>
              <a:gd name="connsiteX10" fmla="*/ 2879067 w 4088593"/>
              <a:gd name="connsiteY10" fmla="*/ 890732 h 1199364"/>
              <a:gd name="connsiteX11" fmla="*/ 2955267 w 4088593"/>
              <a:gd name="connsiteY11" fmla="*/ 630959 h 1199364"/>
              <a:gd name="connsiteX12" fmla="*/ 2951803 w 4088593"/>
              <a:gd name="connsiteY12" fmla="*/ 378114 h 1199364"/>
              <a:gd name="connsiteX13" fmla="*/ 3066103 w 4088593"/>
              <a:gd name="connsiteY13" fmla="*/ 59459 h 1199364"/>
              <a:gd name="connsiteX14" fmla="*/ 3790003 w 4088593"/>
              <a:gd name="connsiteY14" fmla="*/ 21359 h 1199364"/>
              <a:gd name="connsiteX15" fmla="*/ 3946424 w 4088593"/>
              <a:gd name="connsiteY15" fmla="*/ 102433 h 1199364"/>
              <a:gd name="connsiteX16" fmla="*/ 4024577 w 4088593"/>
              <a:gd name="connsiteY16" fmla="*/ 196314 h 1199364"/>
              <a:gd name="connsiteX17" fmla="*/ 4085149 w 4088593"/>
              <a:gd name="connsiteY17" fmla="*/ 391151 h 1199364"/>
              <a:gd name="connsiteX18" fmla="*/ 4045242 w 4088593"/>
              <a:gd name="connsiteY18" fmla="*/ 670664 h 1199364"/>
              <a:gd name="connsiteX19" fmla="*/ 3938405 w 4088593"/>
              <a:gd name="connsiteY19" fmla="*/ 965474 h 1199364"/>
              <a:gd name="connsiteX20" fmla="*/ 3506357 w 4088593"/>
              <a:gd name="connsiteY20" fmla="*/ 1109490 h 1199364"/>
              <a:gd name="connsiteX21" fmla="*/ 2786277 w 4088593"/>
              <a:gd name="connsiteY21" fmla="*/ 1181498 h 1199364"/>
              <a:gd name="connsiteX22" fmla="*/ 1922182 w 4088593"/>
              <a:gd name="connsiteY22" fmla="*/ 1181498 h 1199364"/>
              <a:gd name="connsiteX23" fmla="*/ 1130094 w 4088593"/>
              <a:gd name="connsiteY23" fmla="*/ 1109490 h 1199364"/>
              <a:gd name="connsiteX24" fmla="*/ 554030 w 4088593"/>
              <a:gd name="connsiteY24" fmla="*/ 965474 h 1199364"/>
              <a:gd name="connsiteX25" fmla="*/ 338005 w 4088593"/>
              <a:gd name="connsiteY25" fmla="*/ 893466 h 1199364"/>
              <a:gd name="connsiteX26" fmla="*/ 52740 w 4088593"/>
              <a:gd name="connsiteY26" fmla="*/ 707159 h 1199364"/>
              <a:gd name="connsiteX27" fmla="*/ 21567 w 4088593"/>
              <a:gd name="connsiteY27" fmla="*/ 447386 h 1199364"/>
              <a:gd name="connsiteX28" fmla="*/ 134201 w 4088593"/>
              <a:gd name="connsiteY28" fmla="*/ 271384 h 1199364"/>
              <a:gd name="connsiteX0" fmla="*/ 134201 w 4088593"/>
              <a:gd name="connsiteY0" fmla="*/ 251916 h 1179896"/>
              <a:gd name="connsiteX1" fmla="*/ 332897 w 4088593"/>
              <a:gd name="connsiteY1" fmla="*/ 192892 h 1179896"/>
              <a:gd name="connsiteX2" fmla="*/ 625261 w 4088593"/>
              <a:gd name="connsiteY2" fmla="*/ 225877 h 1179896"/>
              <a:gd name="connsiteX3" fmla="*/ 703277 w 4088593"/>
              <a:gd name="connsiteY3" fmla="*/ 255896 h 1179896"/>
              <a:gd name="connsiteX4" fmla="*/ 769279 w 4088593"/>
              <a:gd name="connsiteY4" fmla="*/ 369913 h 1179896"/>
              <a:gd name="connsiteX5" fmla="*/ 825130 w 4088593"/>
              <a:gd name="connsiteY5" fmla="*/ 452164 h 1179896"/>
              <a:gd name="connsiteX6" fmla="*/ 960212 w 4088593"/>
              <a:gd name="connsiteY6" fmla="*/ 722327 h 1179896"/>
              <a:gd name="connsiteX7" fmla="*/ 1465903 w 4088593"/>
              <a:gd name="connsiteY7" fmla="*/ 860873 h 1179896"/>
              <a:gd name="connsiteX8" fmla="*/ 2536167 w 4088593"/>
              <a:gd name="connsiteY8" fmla="*/ 930146 h 1179896"/>
              <a:gd name="connsiteX9" fmla="*/ 2750912 w 4088593"/>
              <a:gd name="connsiteY9" fmla="*/ 926682 h 1179896"/>
              <a:gd name="connsiteX10" fmla="*/ 2879067 w 4088593"/>
              <a:gd name="connsiteY10" fmla="*/ 871264 h 1179896"/>
              <a:gd name="connsiteX11" fmla="*/ 2955267 w 4088593"/>
              <a:gd name="connsiteY11" fmla="*/ 611491 h 1179896"/>
              <a:gd name="connsiteX12" fmla="*/ 2951803 w 4088593"/>
              <a:gd name="connsiteY12" fmla="*/ 358646 h 1179896"/>
              <a:gd name="connsiteX13" fmla="*/ 3153435 w 4088593"/>
              <a:gd name="connsiteY13" fmla="*/ 94311 h 1179896"/>
              <a:gd name="connsiteX14" fmla="*/ 3790003 w 4088593"/>
              <a:gd name="connsiteY14" fmla="*/ 1891 h 1179896"/>
              <a:gd name="connsiteX15" fmla="*/ 3946424 w 4088593"/>
              <a:gd name="connsiteY15" fmla="*/ 82965 h 1179896"/>
              <a:gd name="connsiteX16" fmla="*/ 4024577 w 4088593"/>
              <a:gd name="connsiteY16" fmla="*/ 176846 h 1179896"/>
              <a:gd name="connsiteX17" fmla="*/ 4085149 w 4088593"/>
              <a:gd name="connsiteY17" fmla="*/ 371683 h 1179896"/>
              <a:gd name="connsiteX18" fmla="*/ 4045242 w 4088593"/>
              <a:gd name="connsiteY18" fmla="*/ 651196 h 1179896"/>
              <a:gd name="connsiteX19" fmla="*/ 3938405 w 4088593"/>
              <a:gd name="connsiteY19" fmla="*/ 946006 h 1179896"/>
              <a:gd name="connsiteX20" fmla="*/ 3506357 w 4088593"/>
              <a:gd name="connsiteY20" fmla="*/ 1090022 h 1179896"/>
              <a:gd name="connsiteX21" fmla="*/ 2786277 w 4088593"/>
              <a:gd name="connsiteY21" fmla="*/ 1162030 h 1179896"/>
              <a:gd name="connsiteX22" fmla="*/ 1922182 w 4088593"/>
              <a:gd name="connsiteY22" fmla="*/ 1162030 h 1179896"/>
              <a:gd name="connsiteX23" fmla="*/ 1130094 w 4088593"/>
              <a:gd name="connsiteY23" fmla="*/ 1090022 h 1179896"/>
              <a:gd name="connsiteX24" fmla="*/ 554030 w 4088593"/>
              <a:gd name="connsiteY24" fmla="*/ 946006 h 1179896"/>
              <a:gd name="connsiteX25" fmla="*/ 338005 w 4088593"/>
              <a:gd name="connsiteY25" fmla="*/ 873998 h 1179896"/>
              <a:gd name="connsiteX26" fmla="*/ 52740 w 4088593"/>
              <a:gd name="connsiteY26" fmla="*/ 687691 h 1179896"/>
              <a:gd name="connsiteX27" fmla="*/ 21567 w 4088593"/>
              <a:gd name="connsiteY27" fmla="*/ 427918 h 1179896"/>
              <a:gd name="connsiteX28" fmla="*/ 134201 w 4088593"/>
              <a:gd name="connsiteY28" fmla="*/ 251916 h 1179896"/>
              <a:gd name="connsiteX0" fmla="*/ 134201 w 4088593"/>
              <a:gd name="connsiteY0" fmla="*/ 251916 h 1179896"/>
              <a:gd name="connsiteX1" fmla="*/ 332897 w 4088593"/>
              <a:gd name="connsiteY1" fmla="*/ 192892 h 1179896"/>
              <a:gd name="connsiteX2" fmla="*/ 625261 w 4088593"/>
              <a:gd name="connsiteY2" fmla="*/ 225877 h 1179896"/>
              <a:gd name="connsiteX3" fmla="*/ 703277 w 4088593"/>
              <a:gd name="connsiteY3" fmla="*/ 255896 h 1179896"/>
              <a:gd name="connsiteX4" fmla="*/ 769279 w 4088593"/>
              <a:gd name="connsiteY4" fmla="*/ 369913 h 1179896"/>
              <a:gd name="connsiteX5" fmla="*/ 825130 w 4088593"/>
              <a:gd name="connsiteY5" fmla="*/ 452164 h 1179896"/>
              <a:gd name="connsiteX6" fmla="*/ 960212 w 4088593"/>
              <a:gd name="connsiteY6" fmla="*/ 722327 h 1179896"/>
              <a:gd name="connsiteX7" fmla="*/ 1465903 w 4088593"/>
              <a:gd name="connsiteY7" fmla="*/ 860873 h 1179896"/>
              <a:gd name="connsiteX8" fmla="*/ 2536167 w 4088593"/>
              <a:gd name="connsiteY8" fmla="*/ 930146 h 1179896"/>
              <a:gd name="connsiteX9" fmla="*/ 2750912 w 4088593"/>
              <a:gd name="connsiteY9" fmla="*/ 926682 h 1179896"/>
              <a:gd name="connsiteX10" fmla="*/ 2879067 w 4088593"/>
              <a:gd name="connsiteY10" fmla="*/ 871264 h 1179896"/>
              <a:gd name="connsiteX11" fmla="*/ 2955267 w 4088593"/>
              <a:gd name="connsiteY11" fmla="*/ 611491 h 1179896"/>
              <a:gd name="connsiteX12" fmla="*/ 2951803 w 4088593"/>
              <a:gd name="connsiteY12" fmla="*/ 358646 h 1179896"/>
              <a:gd name="connsiteX13" fmla="*/ 3153435 w 4088593"/>
              <a:gd name="connsiteY13" fmla="*/ 94311 h 1179896"/>
              <a:gd name="connsiteX14" fmla="*/ 3790003 w 4088593"/>
              <a:gd name="connsiteY14" fmla="*/ 1891 h 1179896"/>
              <a:gd name="connsiteX15" fmla="*/ 3946424 w 4088593"/>
              <a:gd name="connsiteY15" fmla="*/ 82965 h 1179896"/>
              <a:gd name="connsiteX16" fmla="*/ 4024577 w 4088593"/>
              <a:gd name="connsiteY16" fmla="*/ 176846 h 1179896"/>
              <a:gd name="connsiteX17" fmla="*/ 4085149 w 4088593"/>
              <a:gd name="connsiteY17" fmla="*/ 371683 h 1179896"/>
              <a:gd name="connsiteX18" fmla="*/ 4045242 w 4088593"/>
              <a:gd name="connsiteY18" fmla="*/ 651196 h 1179896"/>
              <a:gd name="connsiteX19" fmla="*/ 3908068 w 4088593"/>
              <a:gd name="connsiteY19" fmla="*/ 919987 h 1179896"/>
              <a:gd name="connsiteX20" fmla="*/ 3506357 w 4088593"/>
              <a:gd name="connsiteY20" fmla="*/ 1090022 h 1179896"/>
              <a:gd name="connsiteX21" fmla="*/ 2786277 w 4088593"/>
              <a:gd name="connsiteY21" fmla="*/ 1162030 h 1179896"/>
              <a:gd name="connsiteX22" fmla="*/ 1922182 w 4088593"/>
              <a:gd name="connsiteY22" fmla="*/ 1162030 h 1179896"/>
              <a:gd name="connsiteX23" fmla="*/ 1130094 w 4088593"/>
              <a:gd name="connsiteY23" fmla="*/ 1090022 h 1179896"/>
              <a:gd name="connsiteX24" fmla="*/ 554030 w 4088593"/>
              <a:gd name="connsiteY24" fmla="*/ 946006 h 1179896"/>
              <a:gd name="connsiteX25" fmla="*/ 338005 w 4088593"/>
              <a:gd name="connsiteY25" fmla="*/ 873998 h 1179896"/>
              <a:gd name="connsiteX26" fmla="*/ 52740 w 4088593"/>
              <a:gd name="connsiteY26" fmla="*/ 687691 h 1179896"/>
              <a:gd name="connsiteX27" fmla="*/ 21567 w 4088593"/>
              <a:gd name="connsiteY27" fmla="*/ 427918 h 1179896"/>
              <a:gd name="connsiteX28" fmla="*/ 134201 w 4088593"/>
              <a:gd name="connsiteY28" fmla="*/ 251916 h 1179896"/>
              <a:gd name="connsiteX0" fmla="*/ 134201 w 4088593"/>
              <a:gd name="connsiteY0" fmla="*/ 244607 h 1172587"/>
              <a:gd name="connsiteX1" fmla="*/ 332897 w 4088593"/>
              <a:gd name="connsiteY1" fmla="*/ 185583 h 1172587"/>
              <a:gd name="connsiteX2" fmla="*/ 625261 w 4088593"/>
              <a:gd name="connsiteY2" fmla="*/ 218568 h 1172587"/>
              <a:gd name="connsiteX3" fmla="*/ 703277 w 4088593"/>
              <a:gd name="connsiteY3" fmla="*/ 248587 h 1172587"/>
              <a:gd name="connsiteX4" fmla="*/ 769279 w 4088593"/>
              <a:gd name="connsiteY4" fmla="*/ 362604 h 1172587"/>
              <a:gd name="connsiteX5" fmla="*/ 825130 w 4088593"/>
              <a:gd name="connsiteY5" fmla="*/ 444855 h 1172587"/>
              <a:gd name="connsiteX6" fmla="*/ 960212 w 4088593"/>
              <a:gd name="connsiteY6" fmla="*/ 715018 h 1172587"/>
              <a:gd name="connsiteX7" fmla="*/ 1465903 w 4088593"/>
              <a:gd name="connsiteY7" fmla="*/ 853564 h 1172587"/>
              <a:gd name="connsiteX8" fmla="*/ 2536167 w 4088593"/>
              <a:gd name="connsiteY8" fmla="*/ 922837 h 1172587"/>
              <a:gd name="connsiteX9" fmla="*/ 2750912 w 4088593"/>
              <a:gd name="connsiteY9" fmla="*/ 919373 h 1172587"/>
              <a:gd name="connsiteX10" fmla="*/ 2879067 w 4088593"/>
              <a:gd name="connsiteY10" fmla="*/ 863955 h 1172587"/>
              <a:gd name="connsiteX11" fmla="*/ 2955267 w 4088593"/>
              <a:gd name="connsiteY11" fmla="*/ 604182 h 1172587"/>
              <a:gd name="connsiteX12" fmla="*/ 2951803 w 4088593"/>
              <a:gd name="connsiteY12" fmla="*/ 351337 h 1172587"/>
              <a:gd name="connsiteX13" fmla="*/ 3153435 w 4088593"/>
              <a:gd name="connsiteY13" fmla="*/ 87002 h 1172587"/>
              <a:gd name="connsiteX14" fmla="*/ 3721651 w 4088593"/>
              <a:gd name="connsiteY14" fmla="*/ 1891 h 1172587"/>
              <a:gd name="connsiteX15" fmla="*/ 3946424 w 4088593"/>
              <a:gd name="connsiteY15" fmla="*/ 75656 h 1172587"/>
              <a:gd name="connsiteX16" fmla="*/ 4024577 w 4088593"/>
              <a:gd name="connsiteY16" fmla="*/ 169537 h 1172587"/>
              <a:gd name="connsiteX17" fmla="*/ 4085149 w 4088593"/>
              <a:gd name="connsiteY17" fmla="*/ 364374 h 1172587"/>
              <a:gd name="connsiteX18" fmla="*/ 4045242 w 4088593"/>
              <a:gd name="connsiteY18" fmla="*/ 643887 h 1172587"/>
              <a:gd name="connsiteX19" fmla="*/ 3908068 w 4088593"/>
              <a:gd name="connsiteY19" fmla="*/ 912678 h 1172587"/>
              <a:gd name="connsiteX20" fmla="*/ 3506357 w 4088593"/>
              <a:gd name="connsiteY20" fmla="*/ 1082713 h 1172587"/>
              <a:gd name="connsiteX21" fmla="*/ 2786277 w 4088593"/>
              <a:gd name="connsiteY21" fmla="*/ 1154721 h 1172587"/>
              <a:gd name="connsiteX22" fmla="*/ 1922182 w 4088593"/>
              <a:gd name="connsiteY22" fmla="*/ 1154721 h 1172587"/>
              <a:gd name="connsiteX23" fmla="*/ 1130094 w 4088593"/>
              <a:gd name="connsiteY23" fmla="*/ 1082713 h 1172587"/>
              <a:gd name="connsiteX24" fmla="*/ 554030 w 4088593"/>
              <a:gd name="connsiteY24" fmla="*/ 938697 h 1172587"/>
              <a:gd name="connsiteX25" fmla="*/ 338005 w 4088593"/>
              <a:gd name="connsiteY25" fmla="*/ 866689 h 1172587"/>
              <a:gd name="connsiteX26" fmla="*/ 52740 w 4088593"/>
              <a:gd name="connsiteY26" fmla="*/ 680382 h 1172587"/>
              <a:gd name="connsiteX27" fmla="*/ 21567 w 4088593"/>
              <a:gd name="connsiteY27" fmla="*/ 420609 h 1172587"/>
              <a:gd name="connsiteX28" fmla="*/ 134201 w 4088593"/>
              <a:gd name="connsiteY28" fmla="*/ 244607 h 1172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088593" h="1172587">
                <a:moveTo>
                  <a:pt x="134201" y="244607"/>
                </a:moveTo>
                <a:cubicBezTo>
                  <a:pt x="186089" y="205436"/>
                  <a:pt x="251054" y="189923"/>
                  <a:pt x="332897" y="185583"/>
                </a:cubicBezTo>
                <a:cubicBezTo>
                  <a:pt x="414740" y="181243"/>
                  <a:pt x="563531" y="208067"/>
                  <a:pt x="625261" y="218568"/>
                </a:cubicBezTo>
                <a:cubicBezTo>
                  <a:pt x="686991" y="229069"/>
                  <a:pt x="679274" y="224581"/>
                  <a:pt x="703277" y="248587"/>
                </a:cubicBezTo>
                <a:cubicBezTo>
                  <a:pt x="727280" y="272593"/>
                  <a:pt x="748970" y="329893"/>
                  <a:pt x="769279" y="362604"/>
                </a:cubicBezTo>
                <a:cubicBezTo>
                  <a:pt x="789588" y="395315"/>
                  <a:pt x="793308" y="386119"/>
                  <a:pt x="825130" y="444855"/>
                </a:cubicBezTo>
                <a:cubicBezTo>
                  <a:pt x="856952" y="503591"/>
                  <a:pt x="853417" y="646900"/>
                  <a:pt x="960212" y="715018"/>
                </a:cubicBezTo>
                <a:cubicBezTo>
                  <a:pt x="1067007" y="783136"/>
                  <a:pt x="1203244" y="818927"/>
                  <a:pt x="1465903" y="853564"/>
                </a:cubicBezTo>
                <a:cubicBezTo>
                  <a:pt x="1728562" y="888201"/>
                  <a:pt x="2321999" y="911869"/>
                  <a:pt x="2536167" y="922837"/>
                </a:cubicBezTo>
                <a:cubicBezTo>
                  <a:pt x="2750335" y="933805"/>
                  <a:pt x="2693762" y="929187"/>
                  <a:pt x="2750912" y="919373"/>
                </a:cubicBezTo>
                <a:cubicBezTo>
                  <a:pt x="2808062" y="909559"/>
                  <a:pt x="2845008" y="916487"/>
                  <a:pt x="2879067" y="863955"/>
                </a:cubicBezTo>
                <a:cubicBezTo>
                  <a:pt x="2913126" y="811423"/>
                  <a:pt x="2943144" y="689618"/>
                  <a:pt x="2955267" y="604182"/>
                </a:cubicBezTo>
                <a:cubicBezTo>
                  <a:pt x="2967390" y="518746"/>
                  <a:pt x="2918775" y="437534"/>
                  <a:pt x="2951803" y="351337"/>
                </a:cubicBezTo>
                <a:cubicBezTo>
                  <a:pt x="2984831" y="265140"/>
                  <a:pt x="3025127" y="145243"/>
                  <a:pt x="3153435" y="87002"/>
                </a:cubicBezTo>
                <a:cubicBezTo>
                  <a:pt x="3281743" y="28761"/>
                  <a:pt x="3589486" y="3782"/>
                  <a:pt x="3721651" y="1891"/>
                </a:cubicBezTo>
                <a:cubicBezTo>
                  <a:pt x="3853816" y="0"/>
                  <a:pt x="3895936" y="47715"/>
                  <a:pt x="3946424" y="75656"/>
                </a:cubicBezTo>
                <a:cubicBezTo>
                  <a:pt x="3996912" y="103597"/>
                  <a:pt x="4001456" y="121417"/>
                  <a:pt x="4024577" y="169537"/>
                </a:cubicBezTo>
                <a:cubicBezTo>
                  <a:pt x="4047698" y="217657"/>
                  <a:pt x="4081705" y="285316"/>
                  <a:pt x="4085149" y="364374"/>
                </a:cubicBezTo>
                <a:cubicBezTo>
                  <a:pt x="4088593" y="443432"/>
                  <a:pt x="4074756" y="552503"/>
                  <a:pt x="4045242" y="643887"/>
                </a:cubicBezTo>
                <a:cubicBezTo>
                  <a:pt x="4015729" y="735271"/>
                  <a:pt x="3997882" y="839540"/>
                  <a:pt x="3908068" y="912678"/>
                </a:cubicBezTo>
                <a:cubicBezTo>
                  <a:pt x="3818254" y="985816"/>
                  <a:pt x="3693322" y="1042373"/>
                  <a:pt x="3506357" y="1082713"/>
                </a:cubicBezTo>
                <a:cubicBezTo>
                  <a:pt x="3319392" y="1123054"/>
                  <a:pt x="3050306" y="1142720"/>
                  <a:pt x="2786277" y="1154721"/>
                </a:cubicBezTo>
                <a:cubicBezTo>
                  <a:pt x="2522248" y="1166722"/>
                  <a:pt x="2205744" y="1172587"/>
                  <a:pt x="1922182" y="1154721"/>
                </a:cubicBezTo>
                <a:lnTo>
                  <a:pt x="1130094" y="1082713"/>
                </a:lnTo>
                <a:lnTo>
                  <a:pt x="554030" y="938697"/>
                </a:lnTo>
                <a:cubicBezTo>
                  <a:pt x="509003" y="932924"/>
                  <a:pt x="421553" y="909742"/>
                  <a:pt x="338005" y="866689"/>
                </a:cubicBezTo>
                <a:cubicBezTo>
                  <a:pt x="254457" y="823637"/>
                  <a:pt x="105480" y="754729"/>
                  <a:pt x="52740" y="680382"/>
                </a:cubicBezTo>
                <a:cubicBezTo>
                  <a:pt x="0" y="606035"/>
                  <a:pt x="7990" y="493238"/>
                  <a:pt x="21567" y="420609"/>
                </a:cubicBezTo>
                <a:cubicBezTo>
                  <a:pt x="35144" y="347980"/>
                  <a:pt x="82313" y="283778"/>
                  <a:pt x="134201" y="244607"/>
                </a:cubicBezTo>
                <a:close/>
              </a:path>
            </a:pathLst>
          </a:custGeom>
          <a:solidFill>
            <a:srgbClr val="FFC000"/>
          </a:solidFill>
          <a:ln w="12700">
            <a:no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b="1">
              <a:latin typeface="微软雅黑" panose="020B0503020204020204" pitchFamily="34" charset="-122"/>
              <a:ea typeface="微软雅黑" panose="020B0503020204020204" pitchFamily="34" charset="-122"/>
            </a:endParaRPr>
          </a:p>
        </p:txBody>
      </p:sp>
      <p:sp>
        <p:nvSpPr>
          <p:cNvPr id="45" name="任意多边形 44"/>
          <p:cNvSpPr/>
          <p:nvPr/>
        </p:nvSpPr>
        <p:spPr>
          <a:xfrm>
            <a:off x="3561297" y="1345617"/>
            <a:ext cx="1505631" cy="1936838"/>
          </a:xfrm>
          <a:custGeom>
            <a:avLst/>
            <a:gdLst>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490278 w 1416401"/>
              <a:gd name="connsiteY73" fmla="*/ 1371600 h 1424354"/>
              <a:gd name="connsiteX74" fmla="*/ 472693 w 1416401"/>
              <a:gd name="connsiteY74" fmla="*/ 1365738 h 1424354"/>
              <a:gd name="connsiteX75" fmla="*/ 414078 w 1416401"/>
              <a:gd name="connsiteY75" fmla="*/ 1359877 h 1424354"/>
              <a:gd name="connsiteX76" fmla="*/ 361324 w 1416401"/>
              <a:gd name="connsiteY76" fmla="*/ 1354015 h 1424354"/>
              <a:gd name="connsiteX77" fmla="*/ 337878 w 1416401"/>
              <a:gd name="connsiteY77" fmla="*/ 1348154 h 1424354"/>
              <a:gd name="connsiteX78" fmla="*/ 320293 w 1416401"/>
              <a:gd name="connsiteY78" fmla="*/ 1342292 h 1424354"/>
              <a:gd name="connsiteX79" fmla="*/ 179616 w 1416401"/>
              <a:gd name="connsiteY79" fmla="*/ 1330569 h 1424354"/>
              <a:gd name="connsiteX80" fmla="*/ 144447 w 1416401"/>
              <a:gd name="connsiteY80" fmla="*/ 1324708 h 1424354"/>
              <a:gd name="connsiteX81" fmla="*/ 126862 w 1416401"/>
              <a:gd name="connsiteY81" fmla="*/ 1312985 h 1424354"/>
              <a:gd name="connsiteX82" fmla="*/ 109278 w 1416401"/>
              <a:gd name="connsiteY82" fmla="*/ 1307123 h 1424354"/>
              <a:gd name="connsiteX83" fmla="*/ 79970 w 1416401"/>
              <a:gd name="connsiteY83" fmla="*/ 1283677 h 1424354"/>
              <a:gd name="connsiteX84" fmla="*/ 50662 w 1416401"/>
              <a:gd name="connsiteY84" fmla="*/ 1248508 h 1424354"/>
              <a:gd name="connsiteX85" fmla="*/ 33078 w 1416401"/>
              <a:gd name="connsiteY85" fmla="*/ 1230923 h 1424354"/>
              <a:gd name="connsiteX86" fmla="*/ 21355 w 1416401"/>
              <a:gd name="connsiteY86" fmla="*/ 1189892 h 1424354"/>
              <a:gd name="connsiteX87" fmla="*/ 9632 w 1416401"/>
              <a:gd name="connsiteY87" fmla="*/ 1143000 h 1424354"/>
              <a:gd name="connsiteX88" fmla="*/ 9632 w 1416401"/>
              <a:gd name="connsiteY88" fmla="*/ 943708 h 1424354"/>
              <a:gd name="connsiteX89" fmla="*/ 15493 w 1416401"/>
              <a:gd name="connsiteY89" fmla="*/ 926123 h 1424354"/>
              <a:gd name="connsiteX90" fmla="*/ 21355 w 1416401"/>
              <a:gd name="connsiteY90" fmla="*/ 873369 h 1424354"/>
              <a:gd name="connsiteX91" fmla="*/ 27216 w 1416401"/>
              <a:gd name="connsiteY91" fmla="*/ 855785 h 1424354"/>
              <a:gd name="connsiteX92" fmla="*/ 33078 w 1416401"/>
              <a:gd name="connsiteY92" fmla="*/ 820615 h 1424354"/>
              <a:gd name="connsiteX93" fmla="*/ 50662 w 1416401"/>
              <a:gd name="connsiteY93" fmla="*/ 779585 h 1424354"/>
              <a:gd name="connsiteX94" fmla="*/ 62385 w 1416401"/>
              <a:gd name="connsiteY94" fmla="*/ 738554 h 1424354"/>
              <a:gd name="connsiteX95" fmla="*/ 74108 w 1416401"/>
              <a:gd name="connsiteY95" fmla="*/ 715108 h 1424354"/>
              <a:gd name="connsiteX96" fmla="*/ 85832 w 1416401"/>
              <a:gd name="connsiteY96" fmla="*/ 674077 h 1424354"/>
              <a:gd name="connsiteX97" fmla="*/ 91693 w 1416401"/>
              <a:gd name="connsiteY97" fmla="*/ 656492 h 1424354"/>
              <a:gd name="connsiteX98" fmla="*/ 97555 w 1416401"/>
              <a:gd name="connsiteY98" fmla="*/ 627185 h 1424354"/>
              <a:gd name="connsiteX99" fmla="*/ 103416 w 1416401"/>
              <a:gd name="connsiteY99" fmla="*/ 609600 h 1424354"/>
              <a:gd name="connsiteX100" fmla="*/ 109278 w 1416401"/>
              <a:gd name="connsiteY100" fmla="*/ 586154 h 1424354"/>
              <a:gd name="connsiteX101" fmla="*/ 115139 w 1416401"/>
              <a:gd name="connsiteY101" fmla="*/ 556846 h 1424354"/>
              <a:gd name="connsiteX102" fmla="*/ 126862 w 1416401"/>
              <a:gd name="connsiteY102" fmla="*/ 521677 h 1424354"/>
              <a:gd name="connsiteX103" fmla="*/ 121001 w 1416401"/>
              <a:gd name="connsiteY103" fmla="*/ 322385 h 1424354"/>
              <a:gd name="connsiteX104" fmla="*/ 115139 w 1416401"/>
              <a:gd name="connsiteY104" fmla="*/ 304800 h 1424354"/>
              <a:gd name="connsiteX105" fmla="*/ 103416 w 1416401"/>
              <a:gd name="connsiteY105" fmla="*/ 281354 h 1424354"/>
              <a:gd name="connsiteX106" fmla="*/ 85832 w 1416401"/>
              <a:gd name="connsiteY106" fmla="*/ 263769 h 1424354"/>
              <a:gd name="connsiteX107" fmla="*/ 79970 w 1416401"/>
              <a:gd name="connsiteY107"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490278 w 1416401"/>
              <a:gd name="connsiteY73" fmla="*/ 1371600 h 1424354"/>
              <a:gd name="connsiteX74" fmla="*/ 472693 w 1416401"/>
              <a:gd name="connsiteY74" fmla="*/ 1365738 h 1424354"/>
              <a:gd name="connsiteX75" fmla="*/ 414078 w 1416401"/>
              <a:gd name="connsiteY75" fmla="*/ 1359877 h 1424354"/>
              <a:gd name="connsiteX76" fmla="*/ 361324 w 1416401"/>
              <a:gd name="connsiteY76" fmla="*/ 1354015 h 1424354"/>
              <a:gd name="connsiteX77" fmla="*/ 337878 w 1416401"/>
              <a:gd name="connsiteY77" fmla="*/ 1348154 h 1424354"/>
              <a:gd name="connsiteX78" fmla="*/ 320293 w 1416401"/>
              <a:gd name="connsiteY78" fmla="*/ 1342292 h 1424354"/>
              <a:gd name="connsiteX79" fmla="*/ 179616 w 1416401"/>
              <a:gd name="connsiteY79" fmla="*/ 1330569 h 1424354"/>
              <a:gd name="connsiteX80" fmla="*/ 155426 w 1416401"/>
              <a:gd name="connsiteY80" fmla="*/ 1371600 h 1424354"/>
              <a:gd name="connsiteX81" fmla="*/ 126862 w 1416401"/>
              <a:gd name="connsiteY81" fmla="*/ 1312985 h 1424354"/>
              <a:gd name="connsiteX82" fmla="*/ 109278 w 1416401"/>
              <a:gd name="connsiteY82" fmla="*/ 1307123 h 1424354"/>
              <a:gd name="connsiteX83" fmla="*/ 79970 w 1416401"/>
              <a:gd name="connsiteY83" fmla="*/ 1283677 h 1424354"/>
              <a:gd name="connsiteX84" fmla="*/ 50662 w 1416401"/>
              <a:gd name="connsiteY84" fmla="*/ 1248508 h 1424354"/>
              <a:gd name="connsiteX85" fmla="*/ 33078 w 1416401"/>
              <a:gd name="connsiteY85" fmla="*/ 1230923 h 1424354"/>
              <a:gd name="connsiteX86" fmla="*/ 21355 w 1416401"/>
              <a:gd name="connsiteY86" fmla="*/ 1189892 h 1424354"/>
              <a:gd name="connsiteX87" fmla="*/ 9632 w 1416401"/>
              <a:gd name="connsiteY87" fmla="*/ 1143000 h 1424354"/>
              <a:gd name="connsiteX88" fmla="*/ 9632 w 1416401"/>
              <a:gd name="connsiteY88" fmla="*/ 943708 h 1424354"/>
              <a:gd name="connsiteX89" fmla="*/ 15493 w 1416401"/>
              <a:gd name="connsiteY89" fmla="*/ 926123 h 1424354"/>
              <a:gd name="connsiteX90" fmla="*/ 21355 w 1416401"/>
              <a:gd name="connsiteY90" fmla="*/ 873369 h 1424354"/>
              <a:gd name="connsiteX91" fmla="*/ 27216 w 1416401"/>
              <a:gd name="connsiteY91" fmla="*/ 855785 h 1424354"/>
              <a:gd name="connsiteX92" fmla="*/ 33078 w 1416401"/>
              <a:gd name="connsiteY92" fmla="*/ 820615 h 1424354"/>
              <a:gd name="connsiteX93" fmla="*/ 50662 w 1416401"/>
              <a:gd name="connsiteY93" fmla="*/ 779585 h 1424354"/>
              <a:gd name="connsiteX94" fmla="*/ 62385 w 1416401"/>
              <a:gd name="connsiteY94" fmla="*/ 738554 h 1424354"/>
              <a:gd name="connsiteX95" fmla="*/ 74108 w 1416401"/>
              <a:gd name="connsiteY95" fmla="*/ 715108 h 1424354"/>
              <a:gd name="connsiteX96" fmla="*/ 85832 w 1416401"/>
              <a:gd name="connsiteY96" fmla="*/ 674077 h 1424354"/>
              <a:gd name="connsiteX97" fmla="*/ 91693 w 1416401"/>
              <a:gd name="connsiteY97" fmla="*/ 656492 h 1424354"/>
              <a:gd name="connsiteX98" fmla="*/ 97555 w 1416401"/>
              <a:gd name="connsiteY98" fmla="*/ 627185 h 1424354"/>
              <a:gd name="connsiteX99" fmla="*/ 103416 w 1416401"/>
              <a:gd name="connsiteY99" fmla="*/ 609600 h 1424354"/>
              <a:gd name="connsiteX100" fmla="*/ 109278 w 1416401"/>
              <a:gd name="connsiteY100" fmla="*/ 586154 h 1424354"/>
              <a:gd name="connsiteX101" fmla="*/ 115139 w 1416401"/>
              <a:gd name="connsiteY101" fmla="*/ 556846 h 1424354"/>
              <a:gd name="connsiteX102" fmla="*/ 126862 w 1416401"/>
              <a:gd name="connsiteY102" fmla="*/ 521677 h 1424354"/>
              <a:gd name="connsiteX103" fmla="*/ 121001 w 1416401"/>
              <a:gd name="connsiteY103" fmla="*/ 322385 h 1424354"/>
              <a:gd name="connsiteX104" fmla="*/ 115139 w 1416401"/>
              <a:gd name="connsiteY104" fmla="*/ 304800 h 1424354"/>
              <a:gd name="connsiteX105" fmla="*/ 103416 w 1416401"/>
              <a:gd name="connsiteY105" fmla="*/ 281354 h 1424354"/>
              <a:gd name="connsiteX106" fmla="*/ 85832 w 1416401"/>
              <a:gd name="connsiteY106" fmla="*/ 263769 h 1424354"/>
              <a:gd name="connsiteX107" fmla="*/ 79970 w 1416401"/>
              <a:gd name="connsiteY107"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490278 w 1416401"/>
              <a:gd name="connsiteY73" fmla="*/ 1371600 h 1424354"/>
              <a:gd name="connsiteX74" fmla="*/ 472693 w 1416401"/>
              <a:gd name="connsiteY74" fmla="*/ 1365738 h 1424354"/>
              <a:gd name="connsiteX75" fmla="*/ 414078 w 1416401"/>
              <a:gd name="connsiteY75" fmla="*/ 1359877 h 1424354"/>
              <a:gd name="connsiteX76" fmla="*/ 361324 w 1416401"/>
              <a:gd name="connsiteY76" fmla="*/ 1354015 h 1424354"/>
              <a:gd name="connsiteX77" fmla="*/ 337878 w 1416401"/>
              <a:gd name="connsiteY77" fmla="*/ 1348154 h 1424354"/>
              <a:gd name="connsiteX78" fmla="*/ 179616 w 1416401"/>
              <a:gd name="connsiteY78" fmla="*/ 1330569 h 1424354"/>
              <a:gd name="connsiteX79" fmla="*/ 155426 w 1416401"/>
              <a:gd name="connsiteY79" fmla="*/ 1371600 h 1424354"/>
              <a:gd name="connsiteX80" fmla="*/ 126862 w 1416401"/>
              <a:gd name="connsiteY80" fmla="*/ 1312985 h 1424354"/>
              <a:gd name="connsiteX81" fmla="*/ 109278 w 1416401"/>
              <a:gd name="connsiteY81" fmla="*/ 1307123 h 1424354"/>
              <a:gd name="connsiteX82" fmla="*/ 79970 w 1416401"/>
              <a:gd name="connsiteY82" fmla="*/ 1283677 h 1424354"/>
              <a:gd name="connsiteX83" fmla="*/ 50662 w 1416401"/>
              <a:gd name="connsiteY83" fmla="*/ 1248508 h 1424354"/>
              <a:gd name="connsiteX84" fmla="*/ 33078 w 1416401"/>
              <a:gd name="connsiteY84" fmla="*/ 1230923 h 1424354"/>
              <a:gd name="connsiteX85" fmla="*/ 21355 w 1416401"/>
              <a:gd name="connsiteY85" fmla="*/ 1189892 h 1424354"/>
              <a:gd name="connsiteX86" fmla="*/ 9632 w 1416401"/>
              <a:gd name="connsiteY86" fmla="*/ 1143000 h 1424354"/>
              <a:gd name="connsiteX87" fmla="*/ 9632 w 1416401"/>
              <a:gd name="connsiteY87" fmla="*/ 943708 h 1424354"/>
              <a:gd name="connsiteX88" fmla="*/ 15493 w 1416401"/>
              <a:gd name="connsiteY88" fmla="*/ 926123 h 1424354"/>
              <a:gd name="connsiteX89" fmla="*/ 21355 w 1416401"/>
              <a:gd name="connsiteY89" fmla="*/ 873369 h 1424354"/>
              <a:gd name="connsiteX90" fmla="*/ 27216 w 1416401"/>
              <a:gd name="connsiteY90" fmla="*/ 855785 h 1424354"/>
              <a:gd name="connsiteX91" fmla="*/ 33078 w 1416401"/>
              <a:gd name="connsiteY91" fmla="*/ 820615 h 1424354"/>
              <a:gd name="connsiteX92" fmla="*/ 50662 w 1416401"/>
              <a:gd name="connsiteY92" fmla="*/ 779585 h 1424354"/>
              <a:gd name="connsiteX93" fmla="*/ 62385 w 1416401"/>
              <a:gd name="connsiteY93" fmla="*/ 738554 h 1424354"/>
              <a:gd name="connsiteX94" fmla="*/ 74108 w 1416401"/>
              <a:gd name="connsiteY94" fmla="*/ 715108 h 1424354"/>
              <a:gd name="connsiteX95" fmla="*/ 85832 w 1416401"/>
              <a:gd name="connsiteY95" fmla="*/ 674077 h 1424354"/>
              <a:gd name="connsiteX96" fmla="*/ 91693 w 1416401"/>
              <a:gd name="connsiteY96" fmla="*/ 656492 h 1424354"/>
              <a:gd name="connsiteX97" fmla="*/ 97555 w 1416401"/>
              <a:gd name="connsiteY97" fmla="*/ 627185 h 1424354"/>
              <a:gd name="connsiteX98" fmla="*/ 103416 w 1416401"/>
              <a:gd name="connsiteY98" fmla="*/ 609600 h 1424354"/>
              <a:gd name="connsiteX99" fmla="*/ 109278 w 1416401"/>
              <a:gd name="connsiteY99" fmla="*/ 586154 h 1424354"/>
              <a:gd name="connsiteX100" fmla="*/ 115139 w 1416401"/>
              <a:gd name="connsiteY100" fmla="*/ 556846 h 1424354"/>
              <a:gd name="connsiteX101" fmla="*/ 126862 w 1416401"/>
              <a:gd name="connsiteY101" fmla="*/ 521677 h 1424354"/>
              <a:gd name="connsiteX102" fmla="*/ 121001 w 1416401"/>
              <a:gd name="connsiteY102" fmla="*/ 322385 h 1424354"/>
              <a:gd name="connsiteX103" fmla="*/ 115139 w 1416401"/>
              <a:gd name="connsiteY103" fmla="*/ 304800 h 1424354"/>
              <a:gd name="connsiteX104" fmla="*/ 103416 w 1416401"/>
              <a:gd name="connsiteY104" fmla="*/ 281354 h 1424354"/>
              <a:gd name="connsiteX105" fmla="*/ 85832 w 1416401"/>
              <a:gd name="connsiteY105" fmla="*/ 263769 h 1424354"/>
              <a:gd name="connsiteX106" fmla="*/ 79970 w 1416401"/>
              <a:gd name="connsiteY106"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490278 w 1416401"/>
              <a:gd name="connsiteY73" fmla="*/ 1371600 h 1424354"/>
              <a:gd name="connsiteX74" fmla="*/ 472693 w 1416401"/>
              <a:gd name="connsiteY74" fmla="*/ 1365738 h 1424354"/>
              <a:gd name="connsiteX75" fmla="*/ 414078 w 1416401"/>
              <a:gd name="connsiteY75" fmla="*/ 1359877 h 1424354"/>
              <a:gd name="connsiteX76" fmla="*/ 361324 w 1416401"/>
              <a:gd name="connsiteY76" fmla="*/ 1354015 h 1424354"/>
              <a:gd name="connsiteX77" fmla="*/ 337878 w 1416401"/>
              <a:gd name="connsiteY77" fmla="*/ 1348154 h 1424354"/>
              <a:gd name="connsiteX78" fmla="*/ 155426 w 1416401"/>
              <a:gd name="connsiteY78" fmla="*/ 1371600 h 1424354"/>
              <a:gd name="connsiteX79" fmla="*/ 126862 w 1416401"/>
              <a:gd name="connsiteY79" fmla="*/ 1312985 h 1424354"/>
              <a:gd name="connsiteX80" fmla="*/ 109278 w 1416401"/>
              <a:gd name="connsiteY80" fmla="*/ 1307123 h 1424354"/>
              <a:gd name="connsiteX81" fmla="*/ 79970 w 1416401"/>
              <a:gd name="connsiteY81" fmla="*/ 1283677 h 1424354"/>
              <a:gd name="connsiteX82" fmla="*/ 50662 w 1416401"/>
              <a:gd name="connsiteY82" fmla="*/ 1248508 h 1424354"/>
              <a:gd name="connsiteX83" fmla="*/ 33078 w 1416401"/>
              <a:gd name="connsiteY83" fmla="*/ 1230923 h 1424354"/>
              <a:gd name="connsiteX84" fmla="*/ 21355 w 1416401"/>
              <a:gd name="connsiteY84" fmla="*/ 1189892 h 1424354"/>
              <a:gd name="connsiteX85" fmla="*/ 9632 w 1416401"/>
              <a:gd name="connsiteY85" fmla="*/ 1143000 h 1424354"/>
              <a:gd name="connsiteX86" fmla="*/ 9632 w 1416401"/>
              <a:gd name="connsiteY86" fmla="*/ 943708 h 1424354"/>
              <a:gd name="connsiteX87" fmla="*/ 15493 w 1416401"/>
              <a:gd name="connsiteY87" fmla="*/ 926123 h 1424354"/>
              <a:gd name="connsiteX88" fmla="*/ 21355 w 1416401"/>
              <a:gd name="connsiteY88" fmla="*/ 873369 h 1424354"/>
              <a:gd name="connsiteX89" fmla="*/ 27216 w 1416401"/>
              <a:gd name="connsiteY89" fmla="*/ 855785 h 1424354"/>
              <a:gd name="connsiteX90" fmla="*/ 33078 w 1416401"/>
              <a:gd name="connsiteY90" fmla="*/ 820615 h 1424354"/>
              <a:gd name="connsiteX91" fmla="*/ 50662 w 1416401"/>
              <a:gd name="connsiteY91" fmla="*/ 779585 h 1424354"/>
              <a:gd name="connsiteX92" fmla="*/ 62385 w 1416401"/>
              <a:gd name="connsiteY92" fmla="*/ 738554 h 1424354"/>
              <a:gd name="connsiteX93" fmla="*/ 74108 w 1416401"/>
              <a:gd name="connsiteY93" fmla="*/ 715108 h 1424354"/>
              <a:gd name="connsiteX94" fmla="*/ 85832 w 1416401"/>
              <a:gd name="connsiteY94" fmla="*/ 674077 h 1424354"/>
              <a:gd name="connsiteX95" fmla="*/ 91693 w 1416401"/>
              <a:gd name="connsiteY95" fmla="*/ 656492 h 1424354"/>
              <a:gd name="connsiteX96" fmla="*/ 97555 w 1416401"/>
              <a:gd name="connsiteY96" fmla="*/ 627185 h 1424354"/>
              <a:gd name="connsiteX97" fmla="*/ 103416 w 1416401"/>
              <a:gd name="connsiteY97" fmla="*/ 609600 h 1424354"/>
              <a:gd name="connsiteX98" fmla="*/ 109278 w 1416401"/>
              <a:gd name="connsiteY98" fmla="*/ 586154 h 1424354"/>
              <a:gd name="connsiteX99" fmla="*/ 115139 w 1416401"/>
              <a:gd name="connsiteY99" fmla="*/ 556846 h 1424354"/>
              <a:gd name="connsiteX100" fmla="*/ 126862 w 1416401"/>
              <a:gd name="connsiteY100" fmla="*/ 521677 h 1424354"/>
              <a:gd name="connsiteX101" fmla="*/ 121001 w 1416401"/>
              <a:gd name="connsiteY101" fmla="*/ 322385 h 1424354"/>
              <a:gd name="connsiteX102" fmla="*/ 115139 w 1416401"/>
              <a:gd name="connsiteY102" fmla="*/ 304800 h 1424354"/>
              <a:gd name="connsiteX103" fmla="*/ 103416 w 1416401"/>
              <a:gd name="connsiteY103" fmla="*/ 281354 h 1424354"/>
              <a:gd name="connsiteX104" fmla="*/ 85832 w 1416401"/>
              <a:gd name="connsiteY104" fmla="*/ 263769 h 1424354"/>
              <a:gd name="connsiteX105" fmla="*/ 79970 w 1416401"/>
              <a:gd name="connsiteY105"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490278 w 1416401"/>
              <a:gd name="connsiteY73" fmla="*/ 1371600 h 1424354"/>
              <a:gd name="connsiteX74" fmla="*/ 472693 w 1416401"/>
              <a:gd name="connsiteY74" fmla="*/ 1365738 h 1424354"/>
              <a:gd name="connsiteX75" fmla="*/ 414078 w 1416401"/>
              <a:gd name="connsiteY75" fmla="*/ 1359877 h 1424354"/>
              <a:gd name="connsiteX76" fmla="*/ 361324 w 1416401"/>
              <a:gd name="connsiteY76" fmla="*/ 1354015 h 1424354"/>
              <a:gd name="connsiteX77" fmla="*/ 155426 w 1416401"/>
              <a:gd name="connsiteY77" fmla="*/ 1371600 h 1424354"/>
              <a:gd name="connsiteX78" fmla="*/ 126862 w 1416401"/>
              <a:gd name="connsiteY78" fmla="*/ 1312985 h 1424354"/>
              <a:gd name="connsiteX79" fmla="*/ 109278 w 1416401"/>
              <a:gd name="connsiteY79" fmla="*/ 1307123 h 1424354"/>
              <a:gd name="connsiteX80" fmla="*/ 79970 w 1416401"/>
              <a:gd name="connsiteY80" fmla="*/ 1283677 h 1424354"/>
              <a:gd name="connsiteX81" fmla="*/ 50662 w 1416401"/>
              <a:gd name="connsiteY81" fmla="*/ 1248508 h 1424354"/>
              <a:gd name="connsiteX82" fmla="*/ 33078 w 1416401"/>
              <a:gd name="connsiteY82" fmla="*/ 1230923 h 1424354"/>
              <a:gd name="connsiteX83" fmla="*/ 21355 w 1416401"/>
              <a:gd name="connsiteY83" fmla="*/ 1189892 h 1424354"/>
              <a:gd name="connsiteX84" fmla="*/ 9632 w 1416401"/>
              <a:gd name="connsiteY84" fmla="*/ 1143000 h 1424354"/>
              <a:gd name="connsiteX85" fmla="*/ 9632 w 1416401"/>
              <a:gd name="connsiteY85" fmla="*/ 943708 h 1424354"/>
              <a:gd name="connsiteX86" fmla="*/ 15493 w 1416401"/>
              <a:gd name="connsiteY86" fmla="*/ 926123 h 1424354"/>
              <a:gd name="connsiteX87" fmla="*/ 21355 w 1416401"/>
              <a:gd name="connsiteY87" fmla="*/ 873369 h 1424354"/>
              <a:gd name="connsiteX88" fmla="*/ 27216 w 1416401"/>
              <a:gd name="connsiteY88" fmla="*/ 855785 h 1424354"/>
              <a:gd name="connsiteX89" fmla="*/ 33078 w 1416401"/>
              <a:gd name="connsiteY89" fmla="*/ 820615 h 1424354"/>
              <a:gd name="connsiteX90" fmla="*/ 50662 w 1416401"/>
              <a:gd name="connsiteY90" fmla="*/ 779585 h 1424354"/>
              <a:gd name="connsiteX91" fmla="*/ 62385 w 1416401"/>
              <a:gd name="connsiteY91" fmla="*/ 738554 h 1424354"/>
              <a:gd name="connsiteX92" fmla="*/ 74108 w 1416401"/>
              <a:gd name="connsiteY92" fmla="*/ 715108 h 1424354"/>
              <a:gd name="connsiteX93" fmla="*/ 85832 w 1416401"/>
              <a:gd name="connsiteY93" fmla="*/ 674077 h 1424354"/>
              <a:gd name="connsiteX94" fmla="*/ 91693 w 1416401"/>
              <a:gd name="connsiteY94" fmla="*/ 656492 h 1424354"/>
              <a:gd name="connsiteX95" fmla="*/ 97555 w 1416401"/>
              <a:gd name="connsiteY95" fmla="*/ 627185 h 1424354"/>
              <a:gd name="connsiteX96" fmla="*/ 103416 w 1416401"/>
              <a:gd name="connsiteY96" fmla="*/ 609600 h 1424354"/>
              <a:gd name="connsiteX97" fmla="*/ 109278 w 1416401"/>
              <a:gd name="connsiteY97" fmla="*/ 586154 h 1424354"/>
              <a:gd name="connsiteX98" fmla="*/ 115139 w 1416401"/>
              <a:gd name="connsiteY98" fmla="*/ 556846 h 1424354"/>
              <a:gd name="connsiteX99" fmla="*/ 126862 w 1416401"/>
              <a:gd name="connsiteY99" fmla="*/ 521677 h 1424354"/>
              <a:gd name="connsiteX100" fmla="*/ 121001 w 1416401"/>
              <a:gd name="connsiteY100" fmla="*/ 322385 h 1424354"/>
              <a:gd name="connsiteX101" fmla="*/ 115139 w 1416401"/>
              <a:gd name="connsiteY101" fmla="*/ 304800 h 1424354"/>
              <a:gd name="connsiteX102" fmla="*/ 103416 w 1416401"/>
              <a:gd name="connsiteY102" fmla="*/ 281354 h 1424354"/>
              <a:gd name="connsiteX103" fmla="*/ 85832 w 1416401"/>
              <a:gd name="connsiteY103" fmla="*/ 263769 h 1424354"/>
              <a:gd name="connsiteX104" fmla="*/ 79970 w 1416401"/>
              <a:gd name="connsiteY104"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490278 w 1416401"/>
              <a:gd name="connsiteY73" fmla="*/ 1371600 h 1424354"/>
              <a:gd name="connsiteX74" fmla="*/ 472693 w 1416401"/>
              <a:gd name="connsiteY74" fmla="*/ 1365738 h 1424354"/>
              <a:gd name="connsiteX75" fmla="*/ 361324 w 1416401"/>
              <a:gd name="connsiteY75" fmla="*/ 1354015 h 1424354"/>
              <a:gd name="connsiteX76" fmla="*/ 155426 w 1416401"/>
              <a:gd name="connsiteY76" fmla="*/ 1371600 h 1424354"/>
              <a:gd name="connsiteX77" fmla="*/ 126862 w 1416401"/>
              <a:gd name="connsiteY77" fmla="*/ 1312985 h 1424354"/>
              <a:gd name="connsiteX78" fmla="*/ 109278 w 1416401"/>
              <a:gd name="connsiteY78" fmla="*/ 1307123 h 1424354"/>
              <a:gd name="connsiteX79" fmla="*/ 79970 w 1416401"/>
              <a:gd name="connsiteY79" fmla="*/ 1283677 h 1424354"/>
              <a:gd name="connsiteX80" fmla="*/ 50662 w 1416401"/>
              <a:gd name="connsiteY80" fmla="*/ 1248508 h 1424354"/>
              <a:gd name="connsiteX81" fmla="*/ 33078 w 1416401"/>
              <a:gd name="connsiteY81" fmla="*/ 1230923 h 1424354"/>
              <a:gd name="connsiteX82" fmla="*/ 21355 w 1416401"/>
              <a:gd name="connsiteY82" fmla="*/ 1189892 h 1424354"/>
              <a:gd name="connsiteX83" fmla="*/ 9632 w 1416401"/>
              <a:gd name="connsiteY83" fmla="*/ 1143000 h 1424354"/>
              <a:gd name="connsiteX84" fmla="*/ 9632 w 1416401"/>
              <a:gd name="connsiteY84" fmla="*/ 943708 h 1424354"/>
              <a:gd name="connsiteX85" fmla="*/ 15493 w 1416401"/>
              <a:gd name="connsiteY85" fmla="*/ 926123 h 1424354"/>
              <a:gd name="connsiteX86" fmla="*/ 21355 w 1416401"/>
              <a:gd name="connsiteY86" fmla="*/ 873369 h 1424354"/>
              <a:gd name="connsiteX87" fmla="*/ 27216 w 1416401"/>
              <a:gd name="connsiteY87" fmla="*/ 855785 h 1424354"/>
              <a:gd name="connsiteX88" fmla="*/ 33078 w 1416401"/>
              <a:gd name="connsiteY88" fmla="*/ 820615 h 1424354"/>
              <a:gd name="connsiteX89" fmla="*/ 50662 w 1416401"/>
              <a:gd name="connsiteY89" fmla="*/ 779585 h 1424354"/>
              <a:gd name="connsiteX90" fmla="*/ 62385 w 1416401"/>
              <a:gd name="connsiteY90" fmla="*/ 738554 h 1424354"/>
              <a:gd name="connsiteX91" fmla="*/ 74108 w 1416401"/>
              <a:gd name="connsiteY91" fmla="*/ 715108 h 1424354"/>
              <a:gd name="connsiteX92" fmla="*/ 85832 w 1416401"/>
              <a:gd name="connsiteY92" fmla="*/ 674077 h 1424354"/>
              <a:gd name="connsiteX93" fmla="*/ 91693 w 1416401"/>
              <a:gd name="connsiteY93" fmla="*/ 656492 h 1424354"/>
              <a:gd name="connsiteX94" fmla="*/ 97555 w 1416401"/>
              <a:gd name="connsiteY94" fmla="*/ 627185 h 1424354"/>
              <a:gd name="connsiteX95" fmla="*/ 103416 w 1416401"/>
              <a:gd name="connsiteY95" fmla="*/ 609600 h 1424354"/>
              <a:gd name="connsiteX96" fmla="*/ 109278 w 1416401"/>
              <a:gd name="connsiteY96" fmla="*/ 586154 h 1424354"/>
              <a:gd name="connsiteX97" fmla="*/ 115139 w 1416401"/>
              <a:gd name="connsiteY97" fmla="*/ 556846 h 1424354"/>
              <a:gd name="connsiteX98" fmla="*/ 126862 w 1416401"/>
              <a:gd name="connsiteY98" fmla="*/ 521677 h 1424354"/>
              <a:gd name="connsiteX99" fmla="*/ 121001 w 1416401"/>
              <a:gd name="connsiteY99" fmla="*/ 322385 h 1424354"/>
              <a:gd name="connsiteX100" fmla="*/ 115139 w 1416401"/>
              <a:gd name="connsiteY100" fmla="*/ 304800 h 1424354"/>
              <a:gd name="connsiteX101" fmla="*/ 103416 w 1416401"/>
              <a:gd name="connsiteY101" fmla="*/ 281354 h 1424354"/>
              <a:gd name="connsiteX102" fmla="*/ 85832 w 1416401"/>
              <a:gd name="connsiteY102" fmla="*/ 263769 h 1424354"/>
              <a:gd name="connsiteX103" fmla="*/ 79970 w 1416401"/>
              <a:gd name="connsiteY103"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490278 w 1416401"/>
              <a:gd name="connsiteY73" fmla="*/ 1371600 h 1424354"/>
              <a:gd name="connsiteX74" fmla="*/ 472693 w 1416401"/>
              <a:gd name="connsiteY74" fmla="*/ 1365738 h 1424354"/>
              <a:gd name="connsiteX75" fmla="*/ 155426 w 1416401"/>
              <a:gd name="connsiteY75" fmla="*/ 1371600 h 1424354"/>
              <a:gd name="connsiteX76" fmla="*/ 126862 w 1416401"/>
              <a:gd name="connsiteY76" fmla="*/ 1312985 h 1424354"/>
              <a:gd name="connsiteX77" fmla="*/ 109278 w 1416401"/>
              <a:gd name="connsiteY77" fmla="*/ 1307123 h 1424354"/>
              <a:gd name="connsiteX78" fmla="*/ 79970 w 1416401"/>
              <a:gd name="connsiteY78" fmla="*/ 1283677 h 1424354"/>
              <a:gd name="connsiteX79" fmla="*/ 50662 w 1416401"/>
              <a:gd name="connsiteY79" fmla="*/ 1248508 h 1424354"/>
              <a:gd name="connsiteX80" fmla="*/ 33078 w 1416401"/>
              <a:gd name="connsiteY80" fmla="*/ 1230923 h 1424354"/>
              <a:gd name="connsiteX81" fmla="*/ 21355 w 1416401"/>
              <a:gd name="connsiteY81" fmla="*/ 1189892 h 1424354"/>
              <a:gd name="connsiteX82" fmla="*/ 9632 w 1416401"/>
              <a:gd name="connsiteY82" fmla="*/ 1143000 h 1424354"/>
              <a:gd name="connsiteX83" fmla="*/ 9632 w 1416401"/>
              <a:gd name="connsiteY83" fmla="*/ 943708 h 1424354"/>
              <a:gd name="connsiteX84" fmla="*/ 15493 w 1416401"/>
              <a:gd name="connsiteY84" fmla="*/ 926123 h 1424354"/>
              <a:gd name="connsiteX85" fmla="*/ 21355 w 1416401"/>
              <a:gd name="connsiteY85" fmla="*/ 873369 h 1424354"/>
              <a:gd name="connsiteX86" fmla="*/ 27216 w 1416401"/>
              <a:gd name="connsiteY86" fmla="*/ 855785 h 1424354"/>
              <a:gd name="connsiteX87" fmla="*/ 33078 w 1416401"/>
              <a:gd name="connsiteY87" fmla="*/ 820615 h 1424354"/>
              <a:gd name="connsiteX88" fmla="*/ 50662 w 1416401"/>
              <a:gd name="connsiteY88" fmla="*/ 779585 h 1424354"/>
              <a:gd name="connsiteX89" fmla="*/ 62385 w 1416401"/>
              <a:gd name="connsiteY89" fmla="*/ 738554 h 1424354"/>
              <a:gd name="connsiteX90" fmla="*/ 74108 w 1416401"/>
              <a:gd name="connsiteY90" fmla="*/ 715108 h 1424354"/>
              <a:gd name="connsiteX91" fmla="*/ 85832 w 1416401"/>
              <a:gd name="connsiteY91" fmla="*/ 674077 h 1424354"/>
              <a:gd name="connsiteX92" fmla="*/ 91693 w 1416401"/>
              <a:gd name="connsiteY92" fmla="*/ 656492 h 1424354"/>
              <a:gd name="connsiteX93" fmla="*/ 97555 w 1416401"/>
              <a:gd name="connsiteY93" fmla="*/ 627185 h 1424354"/>
              <a:gd name="connsiteX94" fmla="*/ 103416 w 1416401"/>
              <a:gd name="connsiteY94" fmla="*/ 609600 h 1424354"/>
              <a:gd name="connsiteX95" fmla="*/ 109278 w 1416401"/>
              <a:gd name="connsiteY95" fmla="*/ 586154 h 1424354"/>
              <a:gd name="connsiteX96" fmla="*/ 115139 w 1416401"/>
              <a:gd name="connsiteY96" fmla="*/ 556846 h 1424354"/>
              <a:gd name="connsiteX97" fmla="*/ 126862 w 1416401"/>
              <a:gd name="connsiteY97" fmla="*/ 521677 h 1424354"/>
              <a:gd name="connsiteX98" fmla="*/ 121001 w 1416401"/>
              <a:gd name="connsiteY98" fmla="*/ 322385 h 1424354"/>
              <a:gd name="connsiteX99" fmla="*/ 115139 w 1416401"/>
              <a:gd name="connsiteY99" fmla="*/ 304800 h 1424354"/>
              <a:gd name="connsiteX100" fmla="*/ 103416 w 1416401"/>
              <a:gd name="connsiteY100" fmla="*/ 281354 h 1424354"/>
              <a:gd name="connsiteX101" fmla="*/ 85832 w 1416401"/>
              <a:gd name="connsiteY101" fmla="*/ 263769 h 1424354"/>
              <a:gd name="connsiteX102" fmla="*/ 79970 w 1416401"/>
              <a:gd name="connsiteY102"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490278 w 1416401"/>
              <a:gd name="connsiteY73" fmla="*/ 1371600 h 1424354"/>
              <a:gd name="connsiteX74" fmla="*/ 155426 w 1416401"/>
              <a:gd name="connsiteY74" fmla="*/ 1371600 h 1424354"/>
              <a:gd name="connsiteX75" fmla="*/ 126862 w 1416401"/>
              <a:gd name="connsiteY75" fmla="*/ 1312985 h 1424354"/>
              <a:gd name="connsiteX76" fmla="*/ 109278 w 1416401"/>
              <a:gd name="connsiteY76" fmla="*/ 1307123 h 1424354"/>
              <a:gd name="connsiteX77" fmla="*/ 79970 w 1416401"/>
              <a:gd name="connsiteY77" fmla="*/ 1283677 h 1424354"/>
              <a:gd name="connsiteX78" fmla="*/ 50662 w 1416401"/>
              <a:gd name="connsiteY78" fmla="*/ 1248508 h 1424354"/>
              <a:gd name="connsiteX79" fmla="*/ 33078 w 1416401"/>
              <a:gd name="connsiteY79" fmla="*/ 1230923 h 1424354"/>
              <a:gd name="connsiteX80" fmla="*/ 21355 w 1416401"/>
              <a:gd name="connsiteY80" fmla="*/ 1189892 h 1424354"/>
              <a:gd name="connsiteX81" fmla="*/ 9632 w 1416401"/>
              <a:gd name="connsiteY81" fmla="*/ 1143000 h 1424354"/>
              <a:gd name="connsiteX82" fmla="*/ 9632 w 1416401"/>
              <a:gd name="connsiteY82" fmla="*/ 943708 h 1424354"/>
              <a:gd name="connsiteX83" fmla="*/ 15493 w 1416401"/>
              <a:gd name="connsiteY83" fmla="*/ 926123 h 1424354"/>
              <a:gd name="connsiteX84" fmla="*/ 21355 w 1416401"/>
              <a:gd name="connsiteY84" fmla="*/ 873369 h 1424354"/>
              <a:gd name="connsiteX85" fmla="*/ 27216 w 1416401"/>
              <a:gd name="connsiteY85" fmla="*/ 855785 h 1424354"/>
              <a:gd name="connsiteX86" fmla="*/ 33078 w 1416401"/>
              <a:gd name="connsiteY86" fmla="*/ 820615 h 1424354"/>
              <a:gd name="connsiteX87" fmla="*/ 50662 w 1416401"/>
              <a:gd name="connsiteY87" fmla="*/ 779585 h 1424354"/>
              <a:gd name="connsiteX88" fmla="*/ 62385 w 1416401"/>
              <a:gd name="connsiteY88" fmla="*/ 738554 h 1424354"/>
              <a:gd name="connsiteX89" fmla="*/ 74108 w 1416401"/>
              <a:gd name="connsiteY89" fmla="*/ 715108 h 1424354"/>
              <a:gd name="connsiteX90" fmla="*/ 85832 w 1416401"/>
              <a:gd name="connsiteY90" fmla="*/ 674077 h 1424354"/>
              <a:gd name="connsiteX91" fmla="*/ 91693 w 1416401"/>
              <a:gd name="connsiteY91" fmla="*/ 656492 h 1424354"/>
              <a:gd name="connsiteX92" fmla="*/ 97555 w 1416401"/>
              <a:gd name="connsiteY92" fmla="*/ 627185 h 1424354"/>
              <a:gd name="connsiteX93" fmla="*/ 103416 w 1416401"/>
              <a:gd name="connsiteY93" fmla="*/ 609600 h 1424354"/>
              <a:gd name="connsiteX94" fmla="*/ 109278 w 1416401"/>
              <a:gd name="connsiteY94" fmla="*/ 586154 h 1424354"/>
              <a:gd name="connsiteX95" fmla="*/ 115139 w 1416401"/>
              <a:gd name="connsiteY95" fmla="*/ 556846 h 1424354"/>
              <a:gd name="connsiteX96" fmla="*/ 126862 w 1416401"/>
              <a:gd name="connsiteY96" fmla="*/ 521677 h 1424354"/>
              <a:gd name="connsiteX97" fmla="*/ 121001 w 1416401"/>
              <a:gd name="connsiteY97" fmla="*/ 322385 h 1424354"/>
              <a:gd name="connsiteX98" fmla="*/ 115139 w 1416401"/>
              <a:gd name="connsiteY98" fmla="*/ 304800 h 1424354"/>
              <a:gd name="connsiteX99" fmla="*/ 103416 w 1416401"/>
              <a:gd name="connsiteY99" fmla="*/ 281354 h 1424354"/>
              <a:gd name="connsiteX100" fmla="*/ 85832 w 1416401"/>
              <a:gd name="connsiteY100" fmla="*/ 263769 h 1424354"/>
              <a:gd name="connsiteX101" fmla="*/ 79970 w 1416401"/>
              <a:gd name="connsiteY101"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155426 w 1416401"/>
              <a:gd name="connsiteY73" fmla="*/ 1371600 h 1424354"/>
              <a:gd name="connsiteX74" fmla="*/ 126862 w 1416401"/>
              <a:gd name="connsiteY74" fmla="*/ 1312985 h 1424354"/>
              <a:gd name="connsiteX75" fmla="*/ 109278 w 1416401"/>
              <a:gd name="connsiteY75" fmla="*/ 1307123 h 1424354"/>
              <a:gd name="connsiteX76" fmla="*/ 79970 w 1416401"/>
              <a:gd name="connsiteY76" fmla="*/ 1283677 h 1424354"/>
              <a:gd name="connsiteX77" fmla="*/ 50662 w 1416401"/>
              <a:gd name="connsiteY77" fmla="*/ 1248508 h 1424354"/>
              <a:gd name="connsiteX78" fmla="*/ 33078 w 1416401"/>
              <a:gd name="connsiteY78" fmla="*/ 1230923 h 1424354"/>
              <a:gd name="connsiteX79" fmla="*/ 21355 w 1416401"/>
              <a:gd name="connsiteY79" fmla="*/ 1189892 h 1424354"/>
              <a:gd name="connsiteX80" fmla="*/ 9632 w 1416401"/>
              <a:gd name="connsiteY80" fmla="*/ 1143000 h 1424354"/>
              <a:gd name="connsiteX81" fmla="*/ 9632 w 1416401"/>
              <a:gd name="connsiteY81" fmla="*/ 943708 h 1424354"/>
              <a:gd name="connsiteX82" fmla="*/ 15493 w 1416401"/>
              <a:gd name="connsiteY82" fmla="*/ 926123 h 1424354"/>
              <a:gd name="connsiteX83" fmla="*/ 21355 w 1416401"/>
              <a:gd name="connsiteY83" fmla="*/ 873369 h 1424354"/>
              <a:gd name="connsiteX84" fmla="*/ 27216 w 1416401"/>
              <a:gd name="connsiteY84" fmla="*/ 855785 h 1424354"/>
              <a:gd name="connsiteX85" fmla="*/ 33078 w 1416401"/>
              <a:gd name="connsiteY85" fmla="*/ 820615 h 1424354"/>
              <a:gd name="connsiteX86" fmla="*/ 50662 w 1416401"/>
              <a:gd name="connsiteY86" fmla="*/ 779585 h 1424354"/>
              <a:gd name="connsiteX87" fmla="*/ 62385 w 1416401"/>
              <a:gd name="connsiteY87" fmla="*/ 738554 h 1424354"/>
              <a:gd name="connsiteX88" fmla="*/ 74108 w 1416401"/>
              <a:gd name="connsiteY88" fmla="*/ 715108 h 1424354"/>
              <a:gd name="connsiteX89" fmla="*/ 85832 w 1416401"/>
              <a:gd name="connsiteY89" fmla="*/ 674077 h 1424354"/>
              <a:gd name="connsiteX90" fmla="*/ 91693 w 1416401"/>
              <a:gd name="connsiteY90" fmla="*/ 656492 h 1424354"/>
              <a:gd name="connsiteX91" fmla="*/ 97555 w 1416401"/>
              <a:gd name="connsiteY91" fmla="*/ 627185 h 1424354"/>
              <a:gd name="connsiteX92" fmla="*/ 103416 w 1416401"/>
              <a:gd name="connsiteY92" fmla="*/ 609600 h 1424354"/>
              <a:gd name="connsiteX93" fmla="*/ 109278 w 1416401"/>
              <a:gd name="connsiteY93" fmla="*/ 586154 h 1424354"/>
              <a:gd name="connsiteX94" fmla="*/ 115139 w 1416401"/>
              <a:gd name="connsiteY94" fmla="*/ 556846 h 1424354"/>
              <a:gd name="connsiteX95" fmla="*/ 126862 w 1416401"/>
              <a:gd name="connsiteY95" fmla="*/ 521677 h 1424354"/>
              <a:gd name="connsiteX96" fmla="*/ 121001 w 1416401"/>
              <a:gd name="connsiteY96" fmla="*/ 322385 h 1424354"/>
              <a:gd name="connsiteX97" fmla="*/ 115139 w 1416401"/>
              <a:gd name="connsiteY97" fmla="*/ 304800 h 1424354"/>
              <a:gd name="connsiteX98" fmla="*/ 103416 w 1416401"/>
              <a:gd name="connsiteY98" fmla="*/ 281354 h 1424354"/>
              <a:gd name="connsiteX99" fmla="*/ 85832 w 1416401"/>
              <a:gd name="connsiteY99" fmla="*/ 263769 h 1424354"/>
              <a:gd name="connsiteX100" fmla="*/ 79970 w 1416401"/>
              <a:gd name="connsiteY100"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155426 w 1416401"/>
              <a:gd name="connsiteY72" fmla="*/ 1371600 h 1424354"/>
              <a:gd name="connsiteX73" fmla="*/ 126862 w 1416401"/>
              <a:gd name="connsiteY73" fmla="*/ 1312985 h 1424354"/>
              <a:gd name="connsiteX74" fmla="*/ 109278 w 1416401"/>
              <a:gd name="connsiteY74" fmla="*/ 1307123 h 1424354"/>
              <a:gd name="connsiteX75" fmla="*/ 79970 w 1416401"/>
              <a:gd name="connsiteY75" fmla="*/ 1283677 h 1424354"/>
              <a:gd name="connsiteX76" fmla="*/ 50662 w 1416401"/>
              <a:gd name="connsiteY76" fmla="*/ 1248508 h 1424354"/>
              <a:gd name="connsiteX77" fmla="*/ 33078 w 1416401"/>
              <a:gd name="connsiteY77" fmla="*/ 1230923 h 1424354"/>
              <a:gd name="connsiteX78" fmla="*/ 21355 w 1416401"/>
              <a:gd name="connsiteY78" fmla="*/ 1189892 h 1424354"/>
              <a:gd name="connsiteX79" fmla="*/ 9632 w 1416401"/>
              <a:gd name="connsiteY79" fmla="*/ 1143000 h 1424354"/>
              <a:gd name="connsiteX80" fmla="*/ 9632 w 1416401"/>
              <a:gd name="connsiteY80" fmla="*/ 943708 h 1424354"/>
              <a:gd name="connsiteX81" fmla="*/ 15493 w 1416401"/>
              <a:gd name="connsiteY81" fmla="*/ 926123 h 1424354"/>
              <a:gd name="connsiteX82" fmla="*/ 21355 w 1416401"/>
              <a:gd name="connsiteY82" fmla="*/ 873369 h 1424354"/>
              <a:gd name="connsiteX83" fmla="*/ 27216 w 1416401"/>
              <a:gd name="connsiteY83" fmla="*/ 855785 h 1424354"/>
              <a:gd name="connsiteX84" fmla="*/ 33078 w 1416401"/>
              <a:gd name="connsiteY84" fmla="*/ 820615 h 1424354"/>
              <a:gd name="connsiteX85" fmla="*/ 50662 w 1416401"/>
              <a:gd name="connsiteY85" fmla="*/ 779585 h 1424354"/>
              <a:gd name="connsiteX86" fmla="*/ 62385 w 1416401"/>
              <a:gd name="connsiteY86" fmla="*/ 738554 h 1424354"/>
              <a:gd name="connsiteX87" fmla="*/ 74108 w 1416401"/>
              <a:gd name="connsiteY87" fmla="*/ 715108 h 1424354"/>
              <a:gd name="connsiteX88" fmla="*/ 85832 w 1416401"/>
              <a:gd name="connsiteY88" fmla="*/ 674077 h 1424354"/>
              <a:gd name="connsiteX89" fmla="*/ 91693 w 1416401"/>
              <a:gd name="connsiteY89" fmla="*/ 656492 h 1424354"/>
              <a:gd name="connsiteX90" fmla="*/ 97555 w 1416401"/>
              <a:gd name="connsiteY90" fmla="*/ 627185 h 1424354"/>
              <a:gd name="connsiteX91" fmla="*/ 103416 w 1416401"/>
              <a:gd name="connsiteY91" fmla="*/ 609600 h 1424354"/>
              <a:gd name="connsiteX92" fmla="*/ 109278 w 1416401"/>
              <a:gd name="connsiteY92" fmla="*/ 586154 h 1424354"/>
              <a:gd name="connsiteX93" fmla="*/ 115139 w 1416401"/>
              <a:gd name="connsiteY93" fmla="*/ 556846 h 1424354"/>
              <a:gd name="connsiteX94" fmla="*/ 126862 w 1416401"/>
              <a:gd name="connsiteY94" fmla="*/ 521677 h 1424354"/>
              <a:gd name="connsiteX95" fmla="*/ 121001 w 1416401"/>
              <a:gd name="connsiteY95" fmla="*/ 322385 h 1424354"/>
              <a:gd name="connsiteX96" fmla="*/ 115139 w 1416401"/>
              <a:gd name="connsiteY96" fmla="*/ 304800 h 1424354"/>
              <a:gd name="connsiteX97" fmla="*/ 103416 w 1416401"/>
              <a:gd name="connsiteY97" fmla="*/ 281354 h 1424354"/>
              <a:gd name="connsiteX98" fmla="*/ 85832 w 1416401"/>
              <a:gd name="connsiteY98" fmla="*/ 263769 h 1424354"/>
              <a:gd name="connsiteX99" fmla="*/ 79970 w 1416401"/>
              <a:gd name="connsiteY99"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155426 w 1416401"/>
              <a:gd name="connsiteY72" fmla="*/ 1371600 h 1424354"/>
              <a:gd name="connsiteX73" fmla="*/ 126862 w 1416401"/>
              <a:gd name="connsiteY73" fmla="*/ 1312985 h 1424354"/>
              <a:gd name="connsiteX74" fmla="*/ 79970 w 1416401"/>
              <a:gd name="connsiteY74" fmla="*/ 1283677 h 1424354"/>
              <a:gd name="connsiteX75" fmla="*/ 50662 w 1416401"/>
              <a:gd name="connsiteY75" fmla="*/ 1248508 h 1424354"/>
              <a:gd name="connsiteX76" fmla="*/ 33078 w 1416401"/>
              <a:gd name="connsiteY76" fmla="*/ 1230923 h 1424354"/>
              <a:gd name="connsiteX77" fmla="*/ 21355 w 1416401"/>
              <a:gd name="connsiteY77" fmla="*/ 1189892 h 1424354"/>
              <a:gd name="connsiteX78" fmla="*/ 9632 w 1416401"/>
              <a:gd name="connsiteY78" fmla="*/ 1143000 h 1424354"/>
              <a:gd name="connsiteX79" fmla="*/ 9632 w 1416401"/>
              <a:gd name="connsiteY79" fmla="*/ 943708 h 1424354"/>
              <a:gd name="connsiteX80" fmla="*/ 15493 w 1416401"/>
              <a:gd name="connsiteY80" fmla="*/ 926123 h 1424354"/>
              <a:gd name="connsiteX81" fmla="*/ 21355 w 1416401"/>
              <a:gd name="connsiteY81" fmla="*/ 873369 h 1424354"/>
              <a:gd name="connsiteX82" fmla="*/ 27216 w 1416401"/>
              <a:gd name="connsiteY82" fmla="*/ 855785 h 1424354"/>
              <a:gd name="connsiteX83" fmla="*/ 33078 w 1416401"/>
              <a:gd name="connsiteY83" fmla="*/ 820615 h 1424354"/>
              <a:gd name="connsiteX84" fmla="*/ 50662 w 1416401"/>
              <a:gd name="connsiteY84" fmla="*/ 779585 h 1424354"/>
              <a:gd name="connsiteX85" fmla="*/ 62385 w 1416401"/>
              <a:gd name="connsiteY85" fmla="*/ 738554 h 1424354"/>
              <a:gd name="connsiteX86" fmla="*/ 74108 w 1416401"/>
              <a:gd name="connsiteY86" fmla="*/ 715108 h 1424354"/>
              <a:gd name="connsiteX87" fmla="*/ 85832 w 1416401"/>
              <a:gd name="connsiteY87" fmla="*/ 674077 h 1424354"/>
              <a:gd name="connsiteX88" fmla="*/ 91693 w 1416401"/>
              <a:gd name="connsiteY88" fmla="*/ 656492 h 1424354"/>
              <a:gd name="connsiteX89" fmla="*/ 97555 w 1416401"/>
              <a:gd name="connsiteY89" fmla="*/ 627185 h 1424354"/>
              <a:gd name="connsiteX90" fmla="*/ 103416 w 1416401"/>
              <a:gd name="connsiteY90" fmla="*/ 609600 h 1424354"/>
              <a:gd name="connsiteX91" fmla="*/ 109278 w 1416401"/>
              <a:gd name="connsiteY91" fmla="*/ 586154 h 1424354"/>
              <a:gd name="connsiteX92" fmla="*/ 115139 w 1416401"/>
              <a:gd name="connsiteY92" fmla="*/ 556846 h 1424354"/>
              <a:gd name="connsiteX93" fmla="*/ 126862 w 1416401"/>
              <a:gd name="connsiteY93" fmla="*/ 521677 h 1424354"/>
              <a:gd name="connsiteX94" fmla="*/ 121001 w 1416401"/>
              <a:gd name="connsiteY94" fmla="*/ 322385 h 1424354"/>
              <a:gd name="connsiteX95" fmla="*/ 115139 w 1416401"/>
              <a:gd name="connsiteY95" fmla="*/ 304800 h 1424354"/>
              <a:gd name="connsiteX96" fmla="*/ 103416 w 1416401"/>
              <a:gd name="connsiteY96" fmla="*/ 281354 h 1424354"/>
              <a:gd name="connsiteX97" fmla="*/ 85832 w 1416401"/>
              <a:gd name="connsiteY97" fmla="*/ 263769 h 1424354"/>
              <a:gd name="connsiteX98" fmla="*/ 79970 w 1416401"/>
              <a:gd name="connsiteY98"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155426 w 1416401"/>
              <a:gd name="connsiteY72" fmla="*/ 1371600 h 1424354"/>
              <a:gd name="connsiteX73" fmla="*/ 126862 w 1416401"/>
              <a:gd name="connsiteY73" fmla="*/ 1312985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9278 w 1416401"/>
              <a:gd name="connsiteY90" fmla="*/ 586154 h 1424354"/>
              <a:gd name="connsiteX91" fmla="*/ 115139 w 1416401"/>
              <a:gd name="connsiteY91" fmla="*/ 556846 h 1424354"/>
              <a:gd name="connsiteX92" fmla="*/ 126862 w 1416401"/>
              <a:gd name="connsiteY92" fmla="*/ 521677 h 1424354"/>
              <a:gd name="connsiteX93" fmla="*/ 121001 w 1416401"/>
              <a:gd name="connsiteY93" fmla="*/ 322385 h 1424354"/>
              <a:gd name="connsiteX94" fmla="*/ 115139 w 1416401"/>
              <a:gd name="connsiteY94" fmla="*/ 304800 h 1424354"/>
              <a:gd name="connsiteX95" fmla="*/ 103416 w 1416401"/>
              <a:gd name="connsiteY95" fmla="*/ 281354 h 1424354"/>
              <a:gd name="connsiteX96" fmla="*/ 85832 w 1416401"/>
              <a:gd name="connsiteY96" fmla="*/ 263769 h 1424354"/>
              <a:gd name="connsiteX97" fmla="*/ 79970 w 1416401"/>
              <a:gd name="connsiteY97"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155426 w 1416401"/>
              <a:gd name="connsiteY72" fmla="*/ 1371600 h 1424354"/>
              <a:gd name="connsiteX73" fmla="*/ 83418 w 1416401"/>
              <a:gd name="connsiteY73" fmla="*/ 1299592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9278 w 1416401"/>
              <a:gd name="connsiteY90" fmla="*/ 586154 h 1424354"/>
              <a:gd name="connsiteX91" fmla="*/ 115139 w 1416401"/>
              <a:gd name="connsiteY91" fmla="*/ 556846 h 1424354"/>
              <a:gd name="connsiteX92" fmla="*/ 126862 w 1416401"/>
              <a:gd name="connsiteY92" fmla="*/ 521677 h 1424354"/>
              <a:gd name="connsiteX93" fmla="*/ 121001 w 1416401"/>
              <a:gd name="connsiteY93" fmla="*/ 322385 h 1424354"/>
              <a:gd name="connsiteX94" fmla="*/ 115139 w 1416401"/>
              <a:gd name="connsiteY94" fmla="*/ 304800 h 1424354"/>
              <a:gd name="connsiteX95" fmla="*/ 103416 w 1416401"/>
              <a:gd name="connsiteY95" fmla="*/ 281354 h 1424354"/>
              <a:gd name="connsiteX96" fmla="*/ 85832 w 1416401"/>
              <a:gd name="connsiteY96" fmla="*/ 263769 h 1424354"/>
              <a:gd name="connsiteX97" fmla="*/ 79970 w 1416401"/>
              <a:gd name="connsiteY97"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476812 w 1416401"/>
              <a:gd name="connsiteY71" fmla="*/ 1400908 h 1424354"/>
              <a:gd name="connsiteX72" fmla="*/ 155426 w 1416401"/>
              <a:gd name="connsiteY72" fmla="*/ 1371600 h 1424354"/>
              <a:gd name="connsiteX73" fmla="*/ 83418 w 1416401"/>
              <a:gd name="connsiteY73" fmla="*/ 1299592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9278 w 1416401"/>
              <a:gd name="connsiteY90" fmla="*/ 586154 h 1424354"/>
              <a:gd name="connsiteX91" fmla="*/ 115139 w 1416401"/>
              <a:gd name="connsiteY91" fmla="*/ 556846 h 1424354"/>
              <a:gd name="connsiteX92" fmla="*/ 126862 w 1416401"/>
              <a:gd name="connsiteY92" fmla="*/ 521677 h 1424354"/>
              <a:gd name="connsiteX93" fmla="*/ 121001 w 1416401"/>
              <a:gd name="connsiteY93" fmla="*/ 322385 h 1424354"/>
              <a:gd name="connsiteX94" fmla="*/ 115139 w 1416401"/>
              <a:gd name="connsiteY94" fmla="*/ 304800 h 1424354"/>
              <a:gd name="connsiteX95" fmla="*/ 103416 w 1416401"/>
              <a:gd name="connsiteY95" fmla="*/ 281354 h 1424354"/>
              <a:gd name="connsiteX96" fmla="*/ 85832 w 1416401"/>
              <a:gd name="connsiteY96" fmla="*/ 263769 h 1424354"/>
              <a:gd name="connsiteX97" fmla="*/ 79970 w 1416401"/>
              <a:gd name="connsiteY97"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476812 w 1416401"/>
              <a:gd name="connsiteY71" fmla="*/ 1400908 h 1424354"/>
              <a:gd name="connsiteX72" fmla="*/ 155426 w 1416401"/>
              <a:gd name="connsiteY72" fmla="*/ 1371600 h 1424354"/>
              <a:gd name="connsiteX73" fmla="*/ 83418 w 1416401"/>
              <a:gd name="connsiteY73" fmla="*/ 1299592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9278 w 1416401"/>
              <a:gd name="connsiteY90" fmla="*/ 586154 h 1424354"/>
              <a:gd name="connsiteX91" fmla="*/ 115139 w 1416401"/>
              <a:gd name="connsiteY91" fmla="*/ 556846 h 1424354"/>
              <a:gd name="connsiteX92" fmla="*/ 126862 w 1416401"/>
              <a:gd name="connsiteY92" fmla="*/ 521677 h 1424354"/>
              <a:gd name="connsiteX93" fmla="*/ 121001 w 1416401"/>
              <a:gd name="connsiteY93" fmla="*/ 322385 h 1424354"/>
              <a:gd name="connsiteX94" fmla="*/ 115139 w 1416401"/>
              <a:gd name="connsiteY94" fmla="*/ 304800 h 1424354"/>
              <a:gd name="connsiteX95" fmla="*/ 83418 w 1416401"/>
              <a:gd name="connsiteY95" fmla="*/ 291480 h 1424354"/>
              <a:gd name="connsiteX96" fmla="*/ 85832 w 1416401"/>
              <a:gd name="connsiteY96" fmla="*/ 263769 h 1424354"/>
              <a:gd name="connsiteX97" fmla="*/ 79970 w 1416401"/>
              <a:gd name="connsiteY97"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476812 w 1416401"/>
              <a:gd name="connsiteY71" fmla="*/ 1400908 h 1424354"/>
              <a:gd name="connsiteX72" fmla="*/ 155426 w 1416401"/>
              <a:gd name="connsiteY72" fmla="*/ 1371600 h 1424354"/>
              <a:gd name="connsiteX73" fmla="*/ 83418 w 1416401"/>
              <a:gd name="connsiteY73" fmla="*/ 1299592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9278 w 1416401"/>
              <a:gd name="connsiteY90" fmla="*/ 586154 h 1424354"/>
              <a:gd name="connsiteX91" fmla="*/ 115139 w 1416401"/>
              <a:gd name="connsiteY91" fmla="*/ 556846 h 1424354"/>
              <a:gd name="connsiteX92" fmla="*/ 126862 w 1416401"/>
              <a:gd name="connsiteY92" fmla="*/ 521677 h 1424354"/>
              <a:gd name="connsiteX93" fmla="*/ 121001 w 1416401"/>
              <a:gd name="connsiteY93" fmla="*/ 322385 h 1424354"/>
              <a:gd name="connsiteX94" fmla="*/ 83418 w 1416401"/>
              <a:gd name="connsiteY94" fmla="*/ 291480 h 1424354"/>
              <a:gd name="connsiteX95" fmla="*/ 85832 w 1416401"/>
              <a:gd name="connsiteY95" fmla="*/ 263769 h 1424354"/>
              <a:gd name="connsiteX96" fmla="*/ 79970 w 1416401"/>
              <a:gd name="connsiteY96"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476812 w 1416401"/>
              <a:gd name="connsiteY71" fmla="*/ 1400908 h 1424354"/>
              <a:gd name="connsiteX72" fmla="*/ 155426 w 1416401"/>
              <a:gd name="connsiteY72" fmla="*/ 1371600 h 1424354"/>
              <a:gd name="connsiteX73" fmla="*/ 83418 w 1416401"/>
              <a:gd name="connsiteY73" fmla="*/ 1299592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9278 w 1416401"/>
              <a:gd name="connsiteY90" fmla="*/ 586154 h 1424354"/>
              <a:gd name="connsiteX91" fmla="*/ 115139 w 1416401"/>
              <a:gd name="connsiteY91" fmla="*/ 556846 h 1424354"/>
              <a:gd name="connsiteX92" fmla="*/ 126862 w 1416401"/>
              <a:gd name="connsiteY92" fmla="*/ 521677 h 1424354"/>
              <a:gd name="connsiteX93" fmla="*/ 83418 w 1416401"/>
              <a:gd name="connsiteY93" fmla="*/ 291480 h 1424354"/>
              <a:gd name="connsiteX94" fmla="*/ 85832 w 1416401"/>
              <a:gd name="connsiteY94" fmla="*/ 263769 h 1424354"/>
              <a:gd name="connsiteX95" fmla="*/ 79970 w 1416401"/>
              <a:gd name="connsiteY95"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476812 w 1416401"/>
              <a:gd name="connsiteY71" fmla="*/ 1400908 h 1424354"/>
              <a:gd name="connsiteX72" fmla="*/ 155426 w 1416401"/>
              <a:gd name="connsiteY72" fmla="*/ 1371600 h 1424354"/>
              <a:gd name="connsiteX73" fmla="*/ 83418 w 1416401"/>
              <a:gd name="connsiteY73" fmla="*/ 1299592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9278 w 1416401"/>
              <a:gd name="connsiteY90" fmla="*/ 586154 h 1424354"/>
              <a:gd name="connsiteX91" fmla="*/ 115139 w 1416401"/>
              <a:gd name="connsiteY91" fmla="*/ 556846 h 1424354"/>
              <a:gd name="connsiteX92" fmla="*/ 83418 w 1416401"/>
              <a:gd name="connsiteY92" fmla="*/ 291480 h 1424354"/>
              <a:gd name="connsiteX93" fmla="*/ 85832 w 1416401"/>
              <a:gd name="connsiteY93" fmla="*/ 263769 h 1424354"/>
              <a:gd name="connsiteX94" fmla="*/ 79970 w 1416401"/>
              <a:gd name="connsiteY94"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476812 w 1416401"/>
              <a:gd name="connsiteY71" fmla="*/ 1400908 h 1424354"/>
              <a:gd name="connsiteX72" fmla="*/ 155426 w 1416401"/>
              <a:gd name="connsiteY72" fmla="*/ 1371600 h 1424354"/>
              <a:gd name="connsiteX73" fmla="*/ 83418 w 1416401"/>
              <a:gd name="connsiteY73" fmla="*/ 1299592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9278 w 1416401"/>
              <a:gd name="connsiteY90" fmla="*/ 586154 h 1424354"/>
              <a:gd name="connsiteX91" fmla="*/ 83418 w 1416401"/>
              <a:gd name="connsiteY91" fmla="*/ 435496 h 1424354"/>
              <a:gd name="connsiteX92" fmla="*/ 83418 w 1416401"/>
              <a:gd name="connsiteY92" fmla="*/ 291480 h 1424354"/>
              <a:gd name="connsiteX93" fmla="*/ 85832 w 1416401"/>
              <a:gd name="connsiteY93" fmla="*/ 263769 h 1424354"/>
              <a:gd name="connsiteX94" fmla="*/ 79970 w 1416401"/>
              <a:gd name="connsiteY94"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476812 w 1416401"/>
              <a:gd name="connsiteY71" fmla="*/ 1400908 h 1424354"/>
              <a:gd name="connsiteX72" fmla="*/ 155426 w 1416401"/>
              <a:gd name="connsiteY72" fmla="*/ 1371600 h 1424354"/>
              <a:gd name="connsiteX73" fmla="*/ 83418 w 1416401"/>
              <a:gd name="connsiteY73" fmla="*/ 1299592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2366 w 1416401"/>
              <a:gd name="connsiteY90" fmla="*/ 546969 h 1424354"/>
              <a:gd name="connsiteX91" fmla="*/ 83418 w 1416401"/>
              <a:gd name="connsiteY91" fmla="*/ 435496 h 1424354"/>
              <a:gd name="connsiteX92" fmla="*/ 83418 w 1416401"/>
              <a:gd name="connsiteY92" fmla="*/ 291480 h 1424354"/>
              <a:gd name="connsiteX93" fmla="*/ 85832 w 1416401"/>
              <a:gd name="connsiteY93" fmla="*/ 263769 h 1424354"/>
              <a:gd name="connsiteX94" fmla="*/ 79970 w 1416401"/>
              <a:gd name="connsiteY94"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87093 w 1416401"/>
              <a:gd name="connsiteY55" fmla="*/ 1219200 h 1424354"/>
              <a:gd name="connsiteX56" fmla="*/ 1381232 w 1416401"/>
              <a:gd name="connsiteY56" fmla="*/ 1289538 h 1424354"/>
              <a:gd name="connsiteX57" fmla="*/ 1351924 w 1416401"/>
              <a:gd name="connsiteY57" fmla="*/ 1330569 h 1424354"/>
              <a:gd name="connsiteX58" fmla="*/ 1322616 w 1416401"/>
              <a:gd name="connsiteY58" fmla="*/ 1359877 h 1424354"/>
              <a:gd name="connsiteX59" fmla="*/ 1287447 w 1416401"/>
              <a:gd name="connsiteY59" fmla="*/ 1383323 h 1424354"/>
              <a:gd name="connsiteX60" fmla="*/ 1269862 w 1416401"/>
              <a:gd name="connsiteY60" fmla="*/ 1395046 h 1424354"/>
              <a:gd name="connsiteX61" fmla="*/ 1234693 w 1416401"/>
              <a:gd name="connsiteY61" fmla="*/ 1406769 h 1424354"/>
              <a:gd name="connsiteX62" fmla="*/ 1217108 w 1416401"/>
              <a:gd name="connsiteY62" fmla="*/ 1412631 h 1424354"/>
              <a:gd name="connsiteX63" fmla="*/ 1176078 w 1416401"/>
              <a:gd name="connsiteY63" fmla="*/ 1418492 h 1424354"/>
              <a:gd name="connsiteX64" fmla="*/ 1140908 w 1416401"/>
              <a:gd name="connsiteY64" fmla="*/ 1424354 h 1424354"/>
              <a:gd name="connsiteX65" fmla="*/ 900585 w 1416401"/>
              <a:gd name="connsiteY65" fmla="*/ 1418492 h 1424354"/>
              <a:gd name="connsiteX66" fmla="*/ 883001 w 1416401"/>
              <a:gd name="connsiteY66" fmla="*/ 1412631 h 1424354"/>
              <a:gd name="connsiteX67" fmla="*/ 800939 w 1416401"/>
              <a:gd name="connsiteY67" fmla="*/ 1406769 h 1424354"/>
              <a:gd name="connsiteX68" fmla="*/ 630955 w 1416401"/>
              <a:gd name="connsiteY68" fmla="*/ 1400908 h 1424354"/>
              <a:gd name="connsiteX69" fmla="*/ 572339 w 1416401"/>
              <a:gd name="connsiteY69" fmla="*/ 1395046 h 1424354"/>
              <a:gd name="connsiteX70" fmla="*/ 476812 w 1416401"/>
              <a:gd name="connsiteY70" fmla="*/ 1400908 h 1424354"/>
              <a:gd name="connsiteX71" fmla="*/ 155426 w 1416401"/>
              <a:gd name="connsiteY71" fmla="*/ 1371600 h 1424354"/>
              <a:gd name="connsiteX72" fmla="*/ 83418 w 1416401"/>
              <a:gd name="connsiteY72" fmla="*/ 1299592 h 1424354"/>
              <a:gd name="connsiteX73" fmla="*/ 50662 w 1416401"/>
              <a:gd name="connsiteY73" fmla="*/ 1248508 h 1424354"/>
              <a:gd name="connsiteX74" fmla="*/ 33078 w 1416401"/>
              <a:gd name="connsiteY74" fmla="*/ 1230923 h 1424354"/>
              <a:gd name="connsiteX75" fmla="*/ 21355 w 1416401"/>
              <a:gd name="connsiteY75" fmla="*/ 1189892 h 1424354"/>
              <a:gd name="connsiteX76" fmla="*/ 9632 w 1416401"/>
              <a:gd name="connsiteY76" fmla="*/ 1143000 h 1424354"/>
              <a:gd name="connsiteX77" fmla="*/ 9632 w 1416401"/>
              <a:gd name="connsiteY77" fmla="*/ 943708 h 1424354"/>
              <a:gd name="connsiteX78" fmla="*/ 15493 w 1416401"/>
              <a:gd name="connsiteY78" fmla="*/ 926123 h 1424354"/>
              <a:gd name="connsiteX79" fmla="*/ 21355 w 1416401"/>
              <a:gd name="connsiteY79" fmla="*/ 873369 h 1424354"/>
              <a:gd name="connsiteX80" fmla="*/ 27216 w 1416401"/>
              <a:gd name="connsiteY80" fmla="*/ 855785 h 1424354"/>
              <a:gd name="connsiteX81" fmla="*/ 33078 w 1416401"/>
              <a:gd name="connsiteY81" fmla="*/ 820615 h 1424354"/>
              <a:gd name="connsiteX82" fmla="*/ 50662 w 1416401"/>
              <a:gd name="connsiteY82" fmla="*/ 779585 h 1424354"/>
              <a:gd name="connsiteX83" fmla="*/ 62385 w 1416401"/>
              <a:gd name="connsiteY83" fmla="*/ 738554 h 1424354"/>
              <a:gd name="connsiteX84" fmla="*/ 74108 w 1416401"/>
              <a:gd name="connsiteY84" fmla="*/ 715108 h 1424354"/>
              <a:gd name="connsiteX85" fmla="*/ 85832 w 1416401"/>
              <a:gd name="connsiteY85" fmla="*/ 674077 h 1424354"/>
              <a:gd name="connsiteX86" fmla="*/ 91693 w 1416401"/>
              <a:gd name="connsiteY86" fmla="*/ 656492 h 1424354"/>
              <a:gd name="connsiteX87" fmla="*/ 97555 w 1416401"/>
              <a:gd name="connsiteY87" fmla="*/ 627185 h 1424354"/>
              <a:gd name="connsiteX88" fmla="*/ 103416 w 1416401"/>
              <a:gd name="connsiteY88" fmla="*/ 609600 h 1424354"/>
              <a:gd name="connsiteX89" fmla="*/ 102366 w 1416401"/>
              <a:gd name="connsiteY89" fmla="*/ 546969 h 1424354"/>
              <a:gd name="connsiteX90" fmla="*/ 83418 w 1416401"/>
              <a:gd name="connsiteY90" fmla="*/ 435496 h 1424354"/>
              <a:gd name="connsiteX91" fmla="*/ 83418 w 1416401"/>
              <a:gd name="connsiteY91" fmla="*/ 291480 h 1424354"/>
              <a:gd name="connsiteX92" fmla="*/ 85832 w 1416401"/>
              <a:gd name="connsiteY92" fmla="*/ 263769 h 1424354"/>
              <a:gd name="connsiteX93" fmla="*/ 79970 w 1416401"/>
              <a:gd name="connsiteY93"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81232 w 1416401"/>
              <a:gd name="connsiteY55" fmla="*/ 1289538 h 1424354"/>
              <a:gd name="connsiteX56" fmla="*/ 1351924 w 1416401"/>
              <a:gd name="connsiteY56" fmla="*/ 1330569 h 1424354"/>
              <a:gd name="connsiteX57" fmla="*/ 1322616 w 1416401"/>
              <a:gd name="connsiteY57" fmla="*/ 1359877 h 1424354"/>
              <a:gd name="connsiteX58" fmla="*/ 1287447 w 1416401"/>
              <a:gd name="connsiteY58" fmla="*/ 1383323 h 1424354"/>
              <a:gd name="connsiteX59" fmla="*/ 1269862 w 1416401"/>
              <a:gd name="connsiteY59" fmla="*/ 1395046 h 1424354"/>
              <a:gd name="connsiteX60" fmla="*/ 1234693 w 1416401"/>
              <a:gd name="connsiteY60" fmla="*/ 1406769 h 1424354"/>
              <a:gd name="connsiteX61" fmla="*/ 1217108 w 1416401"/>
              <a:gd name="connsiteY61" fmla="*/ 1412631 h 1424354"/>
              <a:gd name="connsiteX62" fmla="*/ 1176078 w 1416401"/>
              <a:gd name="connsiteY62" fmla="*/ 1418492 h 1424354"/>
              <a:gd name="connsiteX63" fmla="*/ 1140908 w 1416401"/>
              <a:gd name="connsiteY63" fmla="*/ 1424354 h 1424354"/>
              <a:gd name="connsiteX64" fmla="*/ 900585 w 1416401"/>
              <a:gd name="connsiteY64" fmla="*/ 1418492 h 1424354"/>
              <a:gd name="connsiteX65" fmla="*/ 883001 w 1416401"/>
              <a:gd name="connsiteY65" fmla="*/ 1412631 h 1424354"/>
              <a:gd name="connsiteX66" fmla="*/ 800939 w 1416401"/>
              <a:gd name="connsiteY66" fmla="*/ 1406769 h 1424354"/>
              <a:gd name="connsiteX67" fmla="*/ 630955 w 1416401"/>
              <a:gd name="connsiteY67" fmla="*/ 1400908 h 1424354"/>
              <a:gd name="connsiteX68" fmla="*/ 572339 w 1416401"/>
              <a:gd name="connsiteY68" fmla="*/ 1395046 h 1424354"/>
              <a:gd name="connsiteX69" fmla="*/ 476812 w 1416401"/>
              <a:gd name="connsiteY69" fmla="*/ 1400908 h 1424354"/>
              <a:gd name="connsiteX70" fmla="*/ 155426 w 1416401"/>
              <a:gd name="connsiteY70" fmla="*/ 1371600 h 1424354"/>
              <a:gd name="connsiteX71" fmla="*/ 83418 w 1416401"/>
              <a:gd name="connsiteY71" fmla="*/ 1299592 h 1424354"/>
              <a:gd name="connsiteX72" fmla="*/ 50662 w 1416401"/>
              <a:gd name="connsiteY72" fmla="*/ 1248508 h 1424354"/>
              <a:gd name="connsiteX73" fmla="*/ 33078 w 1416401"/>
              <a:gd name="connsiteY73" fmla="*/ 1230923 h 1424354"/>
              <a:gd name="connsiteX74" fmla="*/ 21355 w 1416401"/>
              <a:gd name="connsiteY74" fmla="*/ 1189892 h 1424354"/>
              <a:gd name="connsiteX75" fmla="*/ 9632 w 1416401"/>
              <a:gd name="connsiteY75" fmla="*/ 1143000 h 1424354"/>
              <a:gd name="connsiteX76" fmla="*/ 9632 w 1416401"/>
              <a:gd name="connsiteY76" fmla="*/ 943708 h 1424354"/>
              <a:gd name="connsiteX77" fmla="*/ 15493 w 1416401"/>
              <a:gd name="connsiteY77" fmla="*/ 926123 h 1424354"/>
              <a:gd name="connsiteX78" fmla="*/ 21355 w 1416401"/>
              <a:gd name="connsiteY78" fmla="*/ 873369 h 1424354"/>
              <a:gd name="connsiteX79" fmla="*/ 27216 w 1416401"/>
              <a:gd name="connsiteY79" fmla="*/ 855785 h 1424354"/>
              <a:gd name="connsiteX80" fmla="*/ 33078 w 1416401"/>
              <a:gd name="connsiteY80" fmla="*/ 820615 h 1424354"/>
              <a:gd name="connsiteX81" fmla="*/ 50662 w 1416401"/>
              <a:gd name="connsiteY81" fmla="*/ 779585 h 1424354"/>
              <a:gd name="connsiteX82" fmla="*/ 62385 w 1416401"/>
              <a:gd name="connsiteY82" fmla="*/ 738554 h 1424354"/>
              <a:gd name="connsiteX83" fmla="*/ 74108 w 1416401"/>
              <a:gd name="connsiteY83" fmla="*/ 715108 h 1424354"/>
              <a:gd name="connsiteX84" fmla="*/ 85832 w 1416401"/>
              <a:gd name="connsiteY84" fmla="*/ 674077 h 1424354"/>
              <a:gd name="connsiteX85" fmla="*/ 91693 w 1416401"/>
              <a:gd name="connsiteY85" fmla="*/ 656492 h 1424354"/>
              <a:gd name="connsiteX86" fmla="*/ 97555 w 1416401"/>
              <a:gd name="connsiteY86" fmla="*/ 627185 h 1424354"/>
              <a:gd name="connsiteX87" fmla="*/ 103416 w 1416401"/>
              <a:gd name="connsiteY87" fmla="*/ 609600 h 1424354"/>
              <a:gd name="connsiteX88" fmla="*/ 102366 w 1416401"/>
              <a:gd name="connsiteY88" fmla="*/ 546969 h 1424354"/>
              <a:gd name="connsiteX89" fmla="*/ 83418 w 1416401"/>
              <a:gd name="connsiteY89" fmla="*/ 435496 h 1424354"/>
              <a:gd name="connsiteX90" fmla="*/ 83418 w 1416401"/>
              <a:gd name="connsiteY90" fmla="*/ 291480 h 1424354"/>
              <a:gd name="connsiteX91" fmla="*/ 85832 w 1416401"/>
              <a:gd name="connsiteY91" fmla="*/ 263769 h 1424354"/>
              <a:gd name="connsiteX92" fmla="*/ 79970 w 1416401"/>
              <a:gd name="connsiteY92"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81232 w 1416401"/>
              <a:gd name="connsiteY54" fmla="*/ 1289538 h 1424354"/>
              <a:gd name="connsiteX55" fmla="*/ 1351924 w 1416401"/>
              <a:gd name="connsiteY55" fmla="*/ 1330569 h 1424354"/>
              <a:gd name="connsiteX56" fmla="*/ 1322616 w 1416401"/>
              <a:gd name="connsiteY56" fmla="*/ 1359877 h 1424354"/>
              <a:gd name="connsiteX57" fmla="*/ 1287447 w 1416401"/>
              <a:gd name="connsiteY57" fmla="*/ 1383323 h 1424354"/>
              <a:gd name="connsiteX58" fmla="*/ 1269862 w 1416401"/>
              <a:gd name="connsiteY58" fmla="*/ 1395046 h 1424354"/>
              <a:gd name="connsiteX59" fmla="*/ 1234693 w 1416401"/>
              <a:gd name="connsiteY59" fmla="*/ 1406769 h 1424354"/>
              <a:gd name="connsiteX60" fmla="*/ 1217108 w 1416401"/>
              <a:gd name="connsiteY60" fmla="*/ 1412631 h 1424354"/>
              <a:gd name="connsiteX61" fmla="*/ 1176078 w 1416401"/>
              <a:gd name="connsiteY61" fmla="*/ 1418492 h 1424354"/>
              <a:gd name="connsiteX62" fmla="*/ 1140908 w 1416401"/>
              <a:gd name="connsiteY62" fmla="*/ 1424354 h 1424354"/>
              <a:gd name="connsiteX63" fmla="*/ 900585 w 1416401"/>
              <a:gd name="connsiteY63" fmla="*/ 1418492 h 1424354"/>
              <a:gd name="connsiteX64" fmla="*/ 883001 w 1416401"/>
              <a:gd name="connsiteY64" fmla="*/ 1412631 h 1424354"/>
              <a:gd name="connsiteX65" fmla="*/ 800939 w 1416401"/>
              <a:gd name="connsiteY65" fmla="*/ 1406769 h 1424354"/>
              <a:gd name="connsiteX66" fmla="*/ 630955 w 1416401"/>
              <a:gd name="connsiteY66" fmla="*/ 1400908 h 1424354"/>
              <a:gd name="connsiteX67" fmla="*/ 572339 w 1416401"/>
              <a:gd name="connsiteY67" fmla="*/ 1395046 h 1424354"/>
              <a:gd name="connsiteX68" fmla="*/ 476812 w 1416401"/>
              <a:gd name="connsiteY68" fmla="*/ 1400908 h 1424354"/>
              <a:gd name="connsiteX69" fmla="*/ 155426 w 1416401"/>
              <a:gd name="connsiteY69" fmla="*/ 1371600 h 1424354"/>
              <a:gd name="connsiteX70" fmla="*/ 83418 w 1416401"/>
              <a:gd name="connsiteY70" fmla="*/ 1299592 h 1424354"/>
              <a:gd name="connsiteX71" fmla="*/ 50662 w 1416401"/>
              <a:gd name="connsiteY71" fmla="*/ 1248508 h 1424354"/>
              <a:gd name="connsiteX72" fmla="*/ 33078 w 1416401"/>
              <a:gd name="connsiteY72" fmla="*/ 1230923 h 1424354"/>
              <a:gd name="connsiteX73" fmla="*/ 21355 w 1416401"/>
              <a:gd name="connsiteY73" fmla="*/ 1189892 h 1424354"/>
              <a:gd name="connsiteX74" fmla="*/ 9632 w 1416401"/>
              <a:gd name="connsiteY74" fmla="*/ 1143000 h 1424354"/>
              <a:gd name="connsiteX75" fmla="*/ 9632 w 1416401"/>
              <a:gd name="connsiteY75" fmla="*/ 943708 h 1424354"/>
              <a:gd name="connsiteX76" fmla="*/ 15493 w 1416401"/>
              <a:gd name="connsiteY76" fmla="*/ 926123 h 1424354"/>
              <a:gd name="connsiteX77" fmla="*/ 21355 w 1416401"/>
              <a:gd name="connsiteY77" fmla="*/ 873369 h 1424354"/>
              <a:gd name="connsiteX78" fmla="*/ 27216 w 1416401"/>
              <a:gd name="connsiteY78" fmla="*/ 855785 h 1424354"/>
              <a:gd name="connsiteX79" fmla="*/ 33078 w 1416401"/>
              <a:gd name="connsiteY79" fmla="*/ 820615 h 1424354"/>
              <a:gd name="connsiteX80" fmla="*/ 50662 w 1416401"/>
              <a:gd name="connsiteY80" fmla="*/ 779585 h 1424354"/>
              <a:gd name="connsiteX81" fmla="*/ 62385 w 1416401"/>
              <a:gd name="connsiteY81" fmla="*/ 738554 h 1424354"/>
              <a:gd name="connsiteX82" fmla="*/ 74108 w 1416401"/>
              <a:gd name="connsiteY82" fmla="*/ 715108 h 1424354"/>
              <a:gd name="connsiteX83" fmla="*/ 85832 w 1416401"/>
              <a:gd name="connsiteY83" fmla="*/ 674077 h 1424354"/>
              <a:gd name="connsiteX84" fmla="*/ 91693 w 1416401"/>
              <a:gd name="connsiteY84" fmla="*/ 656492 h 1424354"/>
              <a:gd name="connsiteX85" fmla="*/ 97555 w 1416401"/>
              <a:gd name="connsiteY85" fmla="*/ 627185 h 1424354"/>
              <a:gd name="connsiteX86" fmla="*/ 103416 w 1416401"/>
              <a:gd name="connsiteY86" fmla="*/ 609600 h 1424354"/>
              <a:gd name="connsiteX87" fmla="*/ 102366 w 1416401"/>
              <a:gd name="connsiteY87" fmla="*/ 546969 h 1424354"/>
              <a:gd name="connsiteX88" fmla="*/ 83418 w 1416401"/>
              <a:gd name="connsiteY88" fmla="*/ 435496 h 1424354"/>
              <a:gd name="connsiteX89" fmla="*/ 83418 w 1416401"/>
              <a:gd name="connsiteY89" fmla="*/ 291480 h 1424354"/>
              <a:gd name="connsiteX90" fmla="*/ 85832 w 1416401"/>
              <a:gd name="connsiteY90" fmla="*/ 263769 h 1424354"/>
              <a:gd name="connsiteX91" fmla="*/ 79970 w 1416401"/>
              <a:gd name="connsiteY91"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51924 w 1416401"/>
              <a:gd name="connsiteY54" fmla="*/ 1330569 h 1424354"/>
              <a:gd name="connsiteX55" fmla="*/ 1322616 w 1416401"/>
              <a:gd name="connsiteY55" fmla="*/ 1359877 h 1424354"/>
              <a:gd name="connsiteX56" fmla="*/ 1287447 w 1416401"/>
              <a:gd name="connsiteY56" fmla="*/ 1383323 h 1424354"/>
              <a:gd name="connsiteX57" fmla="*/ 1269862 w 1416401"/>
              <a:gd name="connsiteY57" fmla="*/ 1395046 h 1424354"/>
              <a:gd name="connsiteX58" fmla="*/ 1234693 w 1416401"/>
              <a:gd name="connsiteY58" fmla="*/ 1406769 h 1424354"/>
              <a:gd name="connsiteX59" fmla="*/ 1217108 w 1416401"/>
              <a:gd name="connsiteY59" fmla="*/ 1412631 h 1424354"/>
              <a:gd name="connsiteX60" fmla="*/ 1176078 w 1416401"/>
              <a:gd name="connsiteY60" fmla="*/ 1418492 h 1424354"/>
              <a:gd name="connsiteX61" fmla="*/ 1140908 w 1416401"/>
              <a:gd name="connsiteY61" fmla="*/ 1424354 h 1424354"/>
              <a:gd name="connsiteX62" fmla="*/ 900585 w 1416401"/>
              <a:gd name="connsiteY62" fmla="*/ 1418492 h 1424354"/>
              <a:gd name="connsiteX63" fmla="*/ 883001 w 1416401"/>
              <a:gd name="connsiteY63" fmla="*/ 1412631 h 1424354"/>
              <a:gd name="connsiteX64" fmla="*/ 800939 w 1416401"/>
              <a:gd name="connsiteY64" fmla="*/ 1406769 h 1424354"/>
              <a:gd name="connsiteX65" fmla="*/ 630955 w 1416401"/>
              <a:gd name="connsiteY65" fmla="*/ 1400908 h 1424354"/>
              <a:gd name="connsiteX66" fmla="*/ 572339 w 1416401"/>
              <a:gd name="connsiteY66" fmla="*/ 1395046 h 1424354"/>
              <a:gd name="connsiteX67" fmla="*/ 476812 w 1416401"/>
              <a:gd name="connsiteY67" fmla="*/ 1400908 h 1424354"/>
              <a:gd name="connsiteX68" fmla="*/ 155426 w 1416401"/>
              <a:gd name="connsiteY68" fmla="*/ 1371600 h 1424354"/>
              <a:gd name="connsiteX69" fmla="*/ 83418 w 1416401"/>
              <a:gd name="connsiteY69" fmla="*/ 1299592 h 1424354"/>
              <a:gd name="connsiteX70" fmla="*/ 50662 w 1416401"/>
              <a:gd name="connsiteY70" fmla="*/ 1248508 h 1424354"/>
              <a:gd name="connsiteX71" fmla="*/ 33078 w 1416401"/>
              <a:gd name="connsiteY71" fmla="*/ 1230923 h 1424354"/>
              <a:gd name="connsiteX72" fmla="*/ 21355 w 1416401"/>
              <a:gd name="connsiteY72" fmla="*/ 1189892 h 1424354"/>
              <a:gd name="connsiteX73" fmla="*/ 9632 w 1416401"/>
              <a:gd name="connsiteY73" fmla="*/ 1143000 h 1424354"/>
              <a:gd name="connsiteX74" fmla="*/ 9632 w 1416401"/>
              <a:gd name="connsiteY74" fmla="*/ 943708 h 1424354"/>
              <a:gd name="connsiteX75" fmla="*/ 15493 w 1416401"/>
              <a:gd name="connsiteY75" fmla="*/ 926123 h 1424354"/>
              <a:gd name="connsiteX76" fmla="*/ 21355 w 1416401"/>
              <a:gd name="connsiteY76" fmla="*/ 873369 h 1424354"/>
              <a:gd name="connsiteX77" fmla="*/ 27216 w 1416401"/>
              <a:gd name="connsiteY77" fmla="*/ 855785 h 1424354"/>
              <a:gd name="connsiteX78" fmla="*/ 33078 w 1416401"/>
              <a:gd name="connsiteY78" fmla="*/ 820615 h 1424354"/>
              <a:gd name="connsiteX79" fmla="*/ 50662 w 1416401"/>
              <a:gd name="connsiteY79" fmla="*/ 779585 h 1424354"/>
              <a:gd name="connsiteX80" fmla="*/ 62385 w 1416401"/>
              <a:gd name="connsiteY80" fmla="*/ 738554 h 1424354"/>
              <a:gd name="connsiteX81" fmla="*/ 74108 w 1416401"/>
              <a:gd name="connsiteY81" fmla="*/ 715108 h 1424354"/>
              <a:gd name="connsiteX82" fmla="*/ 85832 w 1416401"/>
              <a:gd name="connsiteY82" fmla="*/ 674077 h 1424354"/>
              <a:gd name="connsiteX83" fmla="*/ 91693 w 1416401"/>
              <a:gd name="connsiteY83" fmla="*/ 656492 h 1424354"/>
              <a:gd name="connsiteX84" fmla="*/ 97555 w 1416401"/>
              <a:gd name="connsiteY84" fmla="*/ 627185 h 1424354"/>
              <a:gd name="connsiteX85" fmla="*/ 103416 w 1416401"/>
              <a:gd name="connsiteY85" fmla="*/ 609600 h 1424354"/>
              <a:gd name="connsiteX86" fmla="*/ 102366 w 1416401"/>
              <a:gd name="connsiteY86" fmla="*/ 546969 h 1424354"/>
              <a:gd name="connsiteX87" fmla="*/ 83418 w 1416401"/>
              <a:gd name="connsiteY87" fmla="*/ 435496 h 1424354"/>
              <a:gd name="connsiteX88" fmla="*/ 83418 w 1416401"/>
              <a:gd name="connsiteY88" fmla="*/ 291480 h 1424354"/>
              <a:gd name="connsiteX89" fmla="*/ 85832 w 1416401"/>
              <a:gd name="connsiteY89" fmla="*/ 263769 h 1424354"/>
              <a:gd name="connsiteX90" fmla="*/ 79970 w 1416401"/>
              <a:gd name="connsiteY90"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22616 w 1416401"/>
              <a:gd name="connsiteY54" fmla="*/ 1359877 h 1424354"/>
              <a:gd name="connsiteX55" fmla="*/ 1287447 w 1416401"/>
              <a:gd name="connsiteY55" fmla="*/ 1383323 h 1424354"/>
              <a:gd name="connsiteX56" fmla="*/ 1269862 w 1416401"/>
              <a:gd name="connsiteY56" fmla="*/ 1395046 h 1424354"/>
              <a:gd name="connsiteX57" fmla="*/ 1234693 w 1416401"/>
              <a:gd name="connsiteY57" fmla="*/ 1406769 h 1424354"/>
              <a:gd name="connsiteX58" fmla="*/ 1217108 w 1416401"/>
              <a:gd name="connsiteY58" fmla="*/ 1412631 h 1424354"/>
              <a:gd name="connsiteX59" fmla="*/ 1176078 w 1416401"/>
              <a:gd name="connsiteY59" fmla="*/ 1418492 h 1424354"/>
              <a:gd name="connsiteX60" fmla="*/ 1140908 w 1416401"/>
              <a:gd name="connsiteY60" fmla="*/ 1424354 h 1424354"/>
              <a:gd name="connsiteX61" fmla="*/ 900585 w 1416401"/>
              <a:gd name="connsiteY61" fmla="*/ 1418492 h 1424354"/>
              <a:gd name="connsiteX62" fmla="*/ 883001 w 1416401"/>
              <a:gd name="connsiteY62" fmla="*/ 1412631 h 1424354"/>
              <a:gd name="connsiteX63" fmla="*/ 800939 w 1416401"/>
              <a:gd name="connsiteY63" fmla="*/ 1406769 h 1424354"/>
              <a:gd name="connsiteX64" fmla="*/ 630955 w 1416401"/>
              <a:gd name="connsiteY64" fmla="*/ 1400908 h 1424354"/>
              <a:gd name="connsiteX65" fmla="*/ 572339 w 1416401"/>
              <a:gd name="connsiteY65" fmla="*/ 1395046 h 1424354"/>
              <a:gd name="connsiteX66" fmla="*/ 476812 w 1416401"/>
              <a:gd name="connsiteY66" fmla="*/ 1400908 h 1424354"/>
              <a:gd name="connsiteX67" fmla="*/ 155426 w 1416401"/>
              <a:gd name="connsiteY67" fmla="*/ 1371600 h 1424354"/>
              <a:gd name="connsiteX68" fmla="*/ 83418 w 1416401"/>
              <a:gd name="connsiteY68" fmla="*/ 1299592 h 1424354"/>
              <a:gd name="connsiteX69" fmla="*/ 50662 w 1416401"/>
              <a:gd name="connsiteY69" fmla="*/ 1248508 h 1424354"/>
              <a:gd name="connsiteX70" fmla="*/ 33078 w 1416401"/>
              <a:gd name="connsiteY70" fmla="*/ 1230923 h 1424354"/>
              <a:gd name="connsiteX71" fmla="*/ 21355 w 1416401"/>
              <a:gd name="connsiteY71" fmla="*/ 1189892 h 1424354"/>
              <a:gd name="connsiteX72" fmla="*/ 9632 w 1416401"/>
              <a:gd name="connsiteY72" fmla="*/ 1143000 h 1424354"/>
              <a:gd name="connsiteX73" fmla="*/ 9632 w 1416401"/>
              <a:gd name="connsiteY73" fmla="*/ 943708 h 1424354"/>
              <a:gd name="connsiteX74" fmla="*/ 15493 w 1416401"/>
              <a:gd name="connsiteY74" fmla="*/ 926123 h 1424354"/>
              <a:gd name="connsiteX75" fmla="*/ 21355 w 1416401"/>
              <a:gd name="connsiteY75" fmla="*/ 873369 h 1424354"/>
              <a:gd name="connsiteX76" fmla="*/ 27216 w 1416401"/>
              <a:gd name="connsiteY76" fmla="*/ 855785 h 1424354"/>
              <a:gd name="connsiteX77" fmla="*/ 33078 w 1416401"/>
              <a:gd name="connsiteY77" fmla="*/ 820615 h 1424354"/>
              <a:gd name="connsiteX78" fmla="*/ 50662 w 1416401"/>
              <a:gd name="connsiteY78" fmla="*/ 779585 h 1424354"/>
              <a:gd name="connsiteX79" fmla="*/ 62385 w 1416401"/>
              <a:gd name="connsiteY79" fmla="*/ 738554 h 1424354"/>
              <a:gd name="connsiteX80" fmla="*/ 74108 w 1416401"/>
              <a:gd name="connsiteY80" fmla="*/ 715108 h 1424354"/>
              <a:gd name="connsiteX81" fmla="*/ 85832 w 1416401"/>
              <a:gd name="connsiteY81" fmla="*/ 674077 h 1424354"/>
              <a:gd name="connsiteX82" fmla="*/ 91693 w 1416401"/>
              <a:gd name="connsiteY82" fmla="*/ 656492 h 1424354"/>
              <a:gd name="connsiteX83" fmla="*/ 97555 w 1416401"/>
              <a:gd name="connsiteY83" fmla="*/ 627185 h 1424354"/>
              <a:gd name="connsiteX84" fmla="*/ 103416 w 1416401"/>
              <a:gd name="connsiteY84" fmla="*/ 609600 h 1424354"/>
              <a:gd name="connsiteX85" fmla="*/ 102366 w 1416401"/>
              <a:gd name="connsiteY85" fmla="*/ 546969 h 1424354"/>
              <a:gd name="connsiteX86" fmla="*/ 83418 w 1416401"/>
              <a:gd name="connsiteY86" fmla="*/ 435496 h 1424354"/>
              <a:gd name="connsiteX87" fmla="*/ 83418 w 1416401"/>
              <a:gd name="connsiteY87" fmla="*/ 291480 h 1424354"/>
              <a:gd name="connsiteX88" fmla="*/ 85832 w 1416401"/>
              <a:gd name="connsiteY88" fmla="*/ 263769 h 1424354"/>
              <a:gd name="connsiteX89" fmla="*/ 79970 w 1416401"/>
              <a:gd name="connsiteY89" fmla="*/ 246185 h 1424354"/>
              <a:gd name="connsiteX0" fmla="*/ 79970 w 1424802"/>
              <a:gd name="connsiteY0" fmla="*/ 246185 h 1424354"/>
              <a:gd name="connsiteX1" fmla="*/ 97555 w 1424802"/>
              <a:gd name="connsiteY1" fmla="*/ 193431 h 1424354"/>
              <a:gd name="connsiteX2" fmla="*/ 103416 w 1424802"/>
              <a:gd name="connsiteY2" fmla="*/ 175846 h 1424354"/>
              <a:gd name="connsiteX3" fmla="*/ 109278 w 1424802"/>
              <a:gd name="connsiteY3" fmla="*/ 152400 h 1424354"/>
              <a:gd name="connsiteX4" fmla="*/ 132724 w 1424802"/>
              <a:gd name="connsiteY4" fmla="*/ 117231 h 1424354"/>
              <a:gd name="connsiteX5" fmla="*/ 144447 w 1424802"/>
              <a:gd name="connsiteY5" fmla="*/ 99646 h 1424354"/>
              <a:gd name="connsiteX6" fmla="*/ 197201 w 1424802"/>
              <a:gd name="connsiteY6" fmla="*/ 70338 h 1424354"/>
              <a:gd name="connsiteX7" fmla="*/ 226508 w 1424802"/>
              <a:gd name="connsiteY7" fmla="*/ 52754 h 1424354"/>
              <a:gd name="connsiteX8" fmla="*/ 261678 w 1424802"/>
              <a:gd name="connsiteY8" fmla="*/ 41031 h 1424354"/>
              <a:gd name="connsiteX9" fmla="*/ 308570 w 1424802"/>
              <a:gd name="connsiteY9" fmla="*/ 23446 h 1424354"/>
              <a:gd name="connsiteX10" fmla="*/ 326155 w 1424802"/>
              <a:gd name="connsiteY10" fmla="*/ 17585 h 1424354"/>
              <a:gd name="connsiteX11" fmla="*/ 367185 w 1424802"/>
              <a:gd name="connsiteY11" fmla="*/ 11723 h 1424354"/>
              <a:gd name="connsiteX12" fmla="*/ 490278 w 1424802"/>
              <a:gd name="connsiteY12" fmla="*/ 0 h 1424354"/>
              <a:gd name="connsiteX13" fmla="*/ 607508 w 1424802"/>
              <a:gd name="connsiteY13" fmla="*/ 11723 h 1424354"/>
              <a:gd name="connsiteX14" fmla="*/ 625093 w 1424802"/>
              <a:gd name="connsiteY14" fmla="*/ 17585 h 1424354"/>
              <a:gd name="connsiteX15" fmla="*/ 671985 w 1424802"/>
              <a:gd name="connsiteY15" fmla="*/ 29308 h 1424354"/>
              <a:gd name="connsiteX16" fmla="*/ 695432 w 1424802"/>
              <a:gd name="connsiteY16" fmla="*/ 35169 h 1424354"/>
              <a:gd name="connsiteX17" fmla="*/ 718878 w 1424802"/>
              <a:gd name="connsiteY17" fmla="*/ 46892 h 1424354"/>
              <a:gd name="connsiteX18" fmla="*/ 754047 w 1424802"/>
              <a:gd name="connsiteY18" fmla="*/ 58615 h 1424354"/>
              <a:gd name="connsiteX19" fmla="*/ 771632 w 1424802"/>
              <a:gd name="connsiteY19" fmla="*/ 70338 h 1424354"/>
              <a:gd name="connsiteX20" fmla="*/ 789216 w 1424802"/>
              <a:gd name="connsiteY20" fmla="*/ 87923 h 1424354"/>
              <a:gd name="connsiteX21" fmla="*/ 824385 w 1424802"/>
              <a:gd name="connsiteY21" fmla="*/ 99646 h 1424354"/>
              <a:gd name="connsiteX22" fmla="*/ 841970 w 1424802"/>
              <a:gd name="connsiteY22" fmla="*/ 117231 h 1424354"/>
              <a:gd name="connsiteX23" fmla="*/ 847832 w 1424802"/>
              <a:gd name="connsiteY23" fmla="*/ 134815 h 1424354"/>
              <a:gd name="connsiteX24" fmla="*/ 865416 w 1424802"/>
              <a:gd name="connsiteY24" fmla="*/ 140677 h 1424354"/>
              <a:gd name="connsiteX25" fmla="*/ 906447 w 1424802"/>
              <a:gd name="connsiteY25" fmla="*/ 175846 h 1424354"/>
              <a:gd name="connsiteX26" fmla="*/ 918170 w 1424802"/>
              <a:gd name="connsiteY26" fmla="*/ 193431 h 1424354"/>
              <a:gd name="connsiteX27" fmla="*/ 935755 w 1424802"/>
              <a:gd name="connsiteY27" fmla="*/ 205154 h 1424354"/>
              <a:gd name="connsiteX28" fmla="*/ 959201 w 1424802"/>
              <a:gd name="connsiteY28" fmla="*/ 222738 h 1424354"/>
              <a:gd name="connsiteX29" fmla="*/ 976785 w 1424802"/>
              <a:gd name="connsiteY29" fmla="*/ 234462 h 1424354"/>
              <a:gd name="connsiteX30" fmla="*/ 994370 w 1424802"/>
              <a:gd name="connsiteY30" fmla="*/ 257908 h 1424354"/>
              <a:gd name="connsiteX31" fmla="*/ 1035401 w 1424802"/>
              <a:gd name="connsiteY31" fmla="*/ 281354 h 1424354"/>
              <a:gd name="connsiteX32" fmla="*/ 1058847 w 1424802"/>
              <a:gd name="connsiteY32" fmla="*/ 310662 h 1424354"/>
              <a:gd name="connsiteX33" fmla="*/ 1099878 w 1424802"/>
              <a:gd name="connsiteY33" fmla="*/ 345831 h 1424354"/>
              <a:gd name="connsiteX34" fmla="*/ 1129185 w 1424802"/>
              <a:gd name="connsiteY34" fmla="*/ 386862 h 1424354"/>
              <a:gd name="connsiteX35" fmla="*/ 1135047 w 1424802"/>
              <a:gd name="connsiteY35" fmla="*/ 404446 h 1424354"/>
              <a:gd name="connsiteX36" fmla="*/ 1170216 w 1424802"/>
              <a:gd name="connsiteY36" fmla="*/ 445477 h 1424354"/>
              <a:gd name="connsiteX37" fmla="*/ 1187801 w 1424802"/>
              <a:gd name="connsiteY37" fmla="*/ 468923 h 1424354"/>
              <a:gd name="connsiteX38" fmla="*/ 1211247 w 1424802"/>
              <a:gd name="connsiteY38" fmla="*/ 504092 h 1424354"/>
              <a:gd name="connsiteX39" fmla="*/ 1240555 w 1424802"/>
              <a:gd name="connsiteY39" fmla="*/ 545123 h 1424354"/>
              <a:gd name="connsiteX40" fmla="*/ 1264001 w 1424802"/>
              <a:gd name="connsiteY40" fmla="*/ 592015 h 1424354"/>
              <a:gd name="connsiteX41" fmla="*/ 1269862 w 1424802"/>
              <a:gd name="connsiteY41" fmla="*/ 609600 h 1424354"/>
              <a:gd name="connsiteX42" fmla="*/ 1287447 w 1424802"/>
              <a:gd name="connsiteY42" fmla="*/ 638908 h 1424354"/>
              <a:gd name="connsiteX43" fmla="*/ 1299170 w 1424802"/>
              <a:gd name="connsiteY43" fmla="*/ 662354 h 1424354"/>
              <a:gd name="connsiteX44" fmla="*/ 1316755 w 1424802"/>
              <a:gd name="connsiteY44" fmla="*/ 679938 h 1424354"/>
              <a:gd name="connsiteX45" fmla="*/ 1340201 w 1424802"/>
              <a:gd name="connsiteY45" fmla="*/ 720969 h 1424354"/>
              <a:gd name="connsiteX46" fmla="*/ 1351924 w 1424802"/>
              <a:gd name="connsiteY46" fmla="*/ 744415 h 1424354"/>
              <a:gd name="connsiteX47" fmla="*/ 1357785 w 1424802"/>
              <a:gd name="connsiteY47" fmla="*/ 762000 h 1424354"/>
              <a:gd name="connsiteX48" fmla="*/ 1369508 w 1424802"/>
              <a:gd name="connsiteY48" fmla="*/ 779585 h 1424354"/>
              <a:gd name="connsiteX49" fmla="*/ 1381232 w 1424802"/>
              <a:gd name="connsiteY49" fmla="*/ 808892 h 1424354"/>
              <a:gd name="connsiteX50" fmla="*/ 1398816 w 1424802"/>
              <a:gd name="connsiteY50" fmla="*/ 885092 h 1424354"/>
              <a:gd name="connsiteX51" fmla="*/ 1410539 w 1424802"/>
              <a:gd name="connsiteY51" fmla="*/ 955431 h 1424354"/>
              <a:gd name="connsiteX52" fmla="*/ 1416401 w 1424802"/>
              <a:gd name="connsiteY52" fmla="*/ 973015 h 1424354"/>
              <a:gd name="connsiteX53" fmla="*/ 1410539 w 1424802"/>
              <a:gd name="connsiteY53" fmla="*/ 1125415 h 1424354"/>
              <a:gd name="connsiteX54" fmla="*/ 1404287 w 1424802"/>
              <a:gd name="connsiteY54" fmla="*/ 1249041 h 1424354"/>
              <a:gd name="connsiteX55" fmla="*/ 1287447 w 1424802"/>
              <a:gd name="connsiteY55" fmla="*/ 1383323 h 1424354"/>
              <a:gd name="connsiteX56" fmla="*/ 1269862 w 1424802"/>
              <a:gd name="connsiteY56" fmla="*/ 1395046 h 1424354"/>
              <a:gd name="connsiteX57" fmla="*/ 1234693 w 1424802"/>
              <a:gd name="connsiteY57" fmla="*/ 1406769 h 1424354"/>
              <a:gd name="connsiteX58" fmla="*/ 1217108 w 1424802"/>
              <a:gd name="connsiteY58" fmla="*/ 1412631 h 1424354"/>
              <a:gd name="connsiteX59" fmla="*/ 1176078 w 1424802"/>
              <a:gd name="connsiteY59" fmla="*/ 1418492 h 1424354"/>
              <a:gd name="connsiteX60" fmla="*/ 1140908 w 1424802"/>
              <a:gd name="connsiteY60" fmla="*/ 1424354 h 1424354"/>
              <a:gd name="connsiteX61" fmla="*/ 900585 w 1424802"/>
              <a:gd name="connsiteY61" fmla="*/ 1418492 h 1424354"/>
              <a:gd name="connsiteX62" fmla="*/ 883001 w 1424802"/>
              <a:gd name="connsiteY62" fmla="*/ 1412631 h 1424354"/>
              <a:gd name="connsiteX63" fmla="*/ 800939 w 1424802"/>
              <a:gd name="connsiteY63" fmla="*/ 1406769 h 1424354"/>
              <a:gd name="connsiteX64" fmla="*/ 630955 w 1424802"/>
              <a:gd name="connsiteY64" fmla="*/ 1400908 h 1424354"/>
              <a:gd name="connsiteX65" fmla="*/ 572339 w 1424802"/>
              <a:gd name="connsiteY65" fmla="*/ 1395046 h 1424354"/>
              <a:gd name="connsiteX66" fmla="*/ 476812 w 1424802"/>
              <a:gd name="connsiteY66" fmla="*/ 1400908 h 1424354"/>
              <a:gd name="connsiteX67" fmla="*/ 155426 w 1424802"/>
              <a:gd name="connsiteY67" fmla="*/ 1371600 h 1424354"/>
              <a:gd name="connsiteX68" fmla="*/ 83418 w 1424802"/>
              <a:gd name="connsiteY68" fmla="*/ 1299592 h 1424354"/>
              <a:gd name="connsiteX69" fmla="*/ 50662 w 1424802"/>
              <a:gd name="connsiteY69" fmla="*/ 1248508 h 1424354"/>
              <a:gd name="connsiteX70" fmla="*/ 33078 w 1424802"/>
              <a:gd name="connsiteY70" fmla="*/ 1230923 h 1424354"/>
              <a:gd name="connsiteX71" fmla="*/ 21355 w 1424802"/>
              <a:gd name="connsiteY71" fmla="*/ 1189892 h 1424354"/>
              <a:gd name="connsiteX72" fmla="*/ 9632 w 1424802"/>
              <a:gd name="connsiteY72" fmla="*/ 1143000 h 1424354"/>
              <a:gd name="connsiteX73" fmla="*/ 9632 w 1424802"/>
              <a:gd name="connsiteY73" fmla="*/ 943708 h 1424354"/>
              <a:gd name="connsiteX74" fmla="*/ 15493 w 1424802"/>
              <a:gd name="connsiteY74" fmla="*/ 926123 h 1424354"/>
              <a:gd name="connsiteX75" fmla="*/ 21355 w 1424802"/>
              <a:gd name="connsiteY75" fmla="*/ 873369 h 1424354"/>
              <a:gd name="connsiteX76" fmla="*/ 27216 w 1424802"/>
              <a:gd name="connsiteY76" fmla="*/ 855785 h 1424354"/>
              <a:gd name="connsiteX77" fmla="*/ 33078 w 1424802"/>
              <a:gd name="connsiteY77" fmla="*/ 820615 h 1424354"/>
              <a:gd name="connsiteX78" fmla="*/ 50662 w 1424802"/>
              <a:gd name="connsiteY78" fmla="*/ 779585 h 1424354"/>
              <a:gd name="connsiteX79" fmla="*/ 62385 w 1424802"/>
              <a:gd name="connsiteY79" fmla="*/ 738554 h 1424354"/>
              <a:gd name="connsiteX80" fmla="*/ 74108 w 1424802"/>
              <a:gd name="connsiteY80" fmla="*/ 715108 h 1424354"/>
              <a:gd name="connsiteX81" fmla="*/ 85832 w 1424802"/>
              <a:gd name="connsiteY81" fmla="*/ 674077 h 1424354"/>
              <a:gd name="connsiteX82" fmla="*/ 91693 w 1424802"/>
              <a:gd name="connsiteY82" fmla="*/ 656492 h 1424354"/>
              <a:gd name="connsiteX83" fmla="*/ 97555 w 1424802"/>
              <a:gd name="connsiteY83" fmla="*/ 627185 h 1424354"/>
              <a:gd name="connsiteX84" fmla="*/ 103416 w 1424802"/>
              <a:gd name="connsiteY84" fmla="*/ 609600 h 1424354"/>
              <a:gd name="connsiteX85" fmla="*/ 102366 w 1424802"/>
              <a:gd name="connsiteY85" fmla="*/ 546969 h 1424354"/>
              <a:gd name="connsiteX86" fmla="*/ 83418 w 1424802"/>
              <a:gd name="connsiteY86" fmla="*/ 435496 h 1424354"/>
              <a:gd name="connsiteX87" fmla="*/ 83418 w 1424802"/>
              <a:gd name="connsiteY87" fmla="*/ 291480 h 1424354"/>
              <a:gd name="connsiteX88" fmla="*/ 85832 w 1424802"/>
              <a:gd name="connsiteY88" fmla="*/ 263769 h 1424354"/>
              <a:gd name="connsiteX89" fmla="*/ 79970 w 1424802"/>
              <a:gd name="connsiteY89" fmla="*/ 246185 h 1424354"/>
              <a:gd name="connsiteX0" fmla="*/ 79970 w 1424802"/>
              <a:gd name="connsiteY0" fmla="*/ 246185 h 1424354"/>
              <a:gd name="connsiteX1" fmla="*/ 97555 w 1424802"/>
              <a:gd name="connsiteY1" fmla="*/ 193431 h 1424354"/>
              <a:gd name="connsiteX2" fmla="*/ 103416 w 1424802"/>
              <a:gd name="connsiteY2" fmla="*/ 175846 h 1424354"/>
              <a:gd name="connsiteX3" fmla="*/ 109278 w 1424802"/>
              <a:gd name="connsiteY3" fmla="*/ 152400 h 1424354"/>
              <a:gd name="connsiteX4" fmla="*/ 132724 w 1424802"/>
              <a:gd name="connsiteY4" fmla="*/ 117231 h 1424354"/>
              <a:gd name="connsiteX5" fmla="*/ 144447 w 1424802"/>
              <a:gd name="connsiteY5" fmla="*/ 99646 h 1424354"/>
              <a:gd name="connsiteX6" fmla="*/ 197201 w 1424802"/>
              <a:gd name="connsiteY6" fmla="*/ 70338 h 1424354"/>
              <a:gd name="connsiteX7" fmla="*/ 226508 w 1424802"/>
              <a:gd name="connsiteY7" fmla="*/ 52754 h 1424354"/>
              <a:gd name="connsiteX8" fmla="*/ 261678 w 1424802"/>
              <a:gd name="connsiteY8" fmla="*/ 41031 h 1424354"/>
              <a:gd name="connsiteX9" fmla="*/ 308570 w 1424802"/>
              <a:gd name="connsiteY9" fmla="*/ 23446 h 1424354"/>
              <a:gd name="connsiteX10" fmla="*/ 326155 w 1424802"/>
              <a:gd name="connsiteY10" fmla="*/ 17585 h 1424354"/>
              <a:gd name="connsiteX11" fmla="*/ 367185 w 1424802"/>
              <a:gd name="connsiteY11" fmla="*/ 11723 h 1424354"/>
              <a:gd name="connsiteX12" fmla="*/ 490278 w 1424802"/>
              <a:gd name="connsiteY12" fmla="*/ 0 h 1424354"/>
              <a:gd name="connsiteX13" fmla="*/ 607508 w 1424802"/>
              <a:gd name="connsiteY13" fmla="*/ 11723 h 1424354"/>
              <a:gd name="connsiteX14" fmla="*/ 625093 w 1424802"/>
              <a:gd name="connsiteY14" fmla="*/ 17585 h 1424354"/>
              <a:gd name="connsiteX15" fmla="*/ 671985 w 1424802"/>
              <a:gd name="connsiteY15" fmla="*/ 29308 h 1424354"/>
              <a:gd name="connsiteX16" fmla="*/ 695432 w 1424802"/>
              <a:gd name="connsiteY16" fmla="*/ 35169 h 1424354"/>
              <a:gd name="connsiteX17" fmla="*/ 718878 w 1424802"/>
              <a:gd name="connsiteY17" fmla="*/ 46892 h 1424354"/>
              <a:gd name="connsiteX18" fmla="*/ 754047 w 1424802"/>
              <a:gd name="connsiteY18" fmla="*/ 58615 h 1424354"/>
              <a:gd name="connsiteX19" fmla="*/ 771632 w 1424802"/>
              <a:gd name="connsiteY19" fmla="*/ 70338 h 1424354"/>
              <a:gd name="connsiteX20" fmla="*/ 789216 w 1424802"/>
              <a:gd name="connsiteY20" fmla="*/ 87923 h 1424354"/>
              <a:gd name="connsiteX21" fmla="*/ 824385 w 1424802"/>
              <a:gd name="connsiteY21" fmla="*/ 99646 h 1424354"/>
              <a:gd name="connsiteX22" fmla="*/ 841970 w 1424802"/>
              <a:gd name="connsiteY22" fmla="*/ 117231 h 1424354"/>
              <a:gd name="connsiteX23" fmla="*/ 847832 w 1424802"/>
              <a:gd name="connsiteY23" fmla="*/ 134815 h 1424354"/>
              <a:gd name="connsiteX24" fmla="*/ 865416 w 1424802"/>
              <a:gd name="connsiteY24" fmla="*/ 140677 h 1424354"/>
              <a:gd name="connsiteX25" fmla="*/ 906447 w 1424802"/>
              <a:gd name="connsiteY25" fmla="*/ 175846 h 1424354"/>
              <a:gd name="connsiteX26" fmla="*/ 918170 w 1424802"/>
              <a:gd name="connsiteY26" fmla="*/ 193431 h 1424354"/>
              <a:gd name="connsiteX27" fmla="*/ 935755 w 1424802"/>
              <a:gd name="connsiteY27" fmla="*/ 205154 h 1424354"/>
              <a:gd name="connsiteX28" fmla="*/ 959201 w 1424802"/>
              <a:gd name="connsiteY28" fmla="*/ 222738 h 1424354"/>
              <a:gd name="connsiteX29" fmla="*/ 976785 w 1424802"/>
              <a:gd name="connsiteY29" fmla="*/ 234462 h 1424354"/>
              <a:gd name="connsiteX30" fmla="*/ 994370 w 1424802"/>
              <a:gd name="connsiteY30" fmla="*/ 257908 h 1424354"/>
              <a:gd name="connsiteX31" fmla="*/ 1035401 w 1424802"/>
              <a:gd name="connsiteY31" fmla="*/ 281354 h 1424354"/>
              <a:gd name="connsiteX32" fmla="*/ 1058847 w 1424802"/>
              <a:gd name="connsiteY32" fmla="*/ 310662 h 1424354"/>
              <a:gd name="connsiteX33" fmla="*/ 1099878 w 1424802"/>
              <a:gd name="connsiteY33" fmla="*/ 345831 h 1424354"/>
              <a:gd name="connsiteX34" fmla="*/ 1129185 w 1424802"/>
              <a:gd name="connsiteY34" fmla="*/ 386862 h 1424354"/>
              <a:gd name="connsiteX35" fmla="*/ 1135047 w 1424802"/>
              <a:gd name="connsiteY35" fmla="*/ 404446 h 1424354"/>
              <a:gd name="connsiteX36" fmla="*/ 1170216 w 1424802"/>
              <a:gd name="connsiteY36" fmla="*/ 445477 h 1424354"/>
              <a:gd name="connsiteX37" fmla="*/ 1187801 w 1424802"/>
              <a:gd name="connsiteY37" fmla="*/ 468923 h 1424354"/>
              <a:gd name="connsiteX38" fmla="*/ 1211247 w 1424802"/>
              <a:gd name="connsiteY38" fmla="*/ 504092 h 1424354"/>
              <a:gd name="connsiteX39" fmla="*/ 1240555 w 1424802"/>
              <a:gd name="connsiteY39" fmla="*/ 545123 h 1424354"/>
              <a:gd name="connsiteX40" fmla="*/ 1264001 w 1424802"/>
              <a:gd name="connsiteY40" fmla="*/ 592015 h 1424354"/>
              <a:gd name="connsiteX41" fmla="*/ 1269862 w 1424802"/>
              <a:gd name="connsiteY41" fmla="*/ 609600 h 1424354"/>
              <a:gd name="connsiteX42" fmla="*/ 1287447 w 1424802"/>
              <a:gd name="connsiteY42" fmla="*/ 638908 h 1424354"/>
              <a:gd name="connsiteX43" fmla="*/ 1299170 w 1424802"/>
              <a:gd name="connsiteY43" fmla="*/ 662354 h 1424354"/>
              <a:gd name="connsiteX44" fmla="*/ 1316755 w 1424802"/>
              <a:gd name="connsiteY44" fmla="*/ 679938 h 1424354"/>
              <a:gd name="connsiteX45" fmla="*/ 1340201 w 1424802"/>
              <a:gd name="connsiteY45" fmla="*/ 720969 h 1424354"/>
              <a:gd name="connsiteX46" fmla="*/ 1351924 w 1424802"/>
              <a:gd name="connsiteY46" fmla="*/ 744415 h 1424354"/>
              <a:gd name="connsiteX47" fmla="*/ 1357785 w 1424802"/>
              <a:gd name="connsiteY47" fmla="*/ 762000 h 1424354"/>
              <a:gd name="connsiteX48" fmla="*/ 1369508 w 1424802"/>
              <a:gd name="connsiteY48" fmla="*/ 779585 h 1424354"/>
              <a:gd name="connsiteX49" fmla="*/ 1381232 w 1424802"/>
              <a:gd name="connsiteY49" fmla="*/ 808892 h 1424354"/>
              <a:gd name="connsiteX50" fmla="*/ 1398816 w 1424802"/>
              <a:gd name="connsiteY50" fmla="*/ 885092 h 1424354"/>
              <a:gd name="connsiteX51" fmla="*/ 1410539 w 1424802"/>
              <a:gd name="connsiteY51" fmla="*/ 955431 h 1424354"/>
              <a:gd name="connsiteX52" fmla="*/ 1416401 w 1424802"/>
              <a:gd name="connsiteY52" fmla="*/ 973015 h 1424354"/>
              <a:gd name="connsiteX53" fmla="*/ 1410539 w 1424802"/>
              <a:gd name="connsiteY53" fmla="*/ 1125415 h 1424354"/>
              <a:gd name="connsiteX54" fmla="*/ 1404287 w 1424802"/>
              <a:gd name="connsiteY54" fmla="*/ 1249041 h 1424354"/>
              <a:gd name="connsiteX55" fmla="*/ 1287447 w 1424802"/>
              <a:gd name="connsiteY55" fmla="*/ 1383323 h 1424354"/>
              <a:gd name="connsiteX56" fmla="*/ 1269862 w 1424802"/>
              <a:gd name="connsiteY56" fmla="*/ 1395046 h 1424354"/>
              <a:gd name="connsiteX57" fmla="*/ 1234693 w 1424802"/>
              <a:gd name="connsiteY57" fmla="*/ 1406769 h 1424354"/>
              <a:gd name="connsiteX58" fmla="*/ 1217108 w 1424802"/>
              <a:gd name="connsiteY58" fmla="*/ 1412631 h 1424354"/>
              <a:gd name="connsiteX59" fmla="*/ 1176078 w 1424802"/>
              <a:gd name="connsiteY59" fmla="*/ 1418492 h 1424354"/>
              <a:gd name="connsiteX60" fmla="*/ 1140908 w 1424802"/>
              <a:gd name="connsiteY60" fmla="*/ 1424354 h 1424354"/>
              <a:gd name="connsiteX61" fmla="*/ 900585 w 1424802"/>
              <a:gd name="connsiteY61" fmla="*/ 1418492 h 1424354"/>
              <a:gd name="connsiteX62" fmla="*/ 883001 w 1424802"/>
              <a:gd name="connsiteY62" fmla="*/ 1412631 h 1424354"/>
              <a:gd name="connsiteX63" fmla="*/ 800939 w 1424802"/>
              <a:gd name="connsiteY63" fmla="*/ 1406769 h 1424354"/>
              <a:gd name="connsiteX64" fmla="*/ 630955 w 1424802"/>
              <a:gd name="connsiteY64" fmla="*/ 1400908 h 1424354"/>
              <a:gd name="connsiteX65" fmla="*/ 572339 w 1424802"/>
              <a:gd name="connsiteY65" fmla="*/ 1395046 h 1424354"/>
              <a:gd name="connsiteX66" fmla="*/ 476812 w 1424802"/>
              <a:gd name="connsiteY66" fmla="*/ 1400908 h 1424354"/>
              <a:gd name="connsiteX67" fmla="*/ 155426 w 1424802"/>
              <a:gd name="connsiteY67" fmla="*/ 1371600 h 1424354"/>
              <a:gd name="connsiteX68" fmla="*/ 83418 w 1424802"/>
              <a:gd name="connsiteY68" fmla="*/ 1299592 h 1424354"/>
              <a:gd name="connsiteX69" fmla="*/ 50662 w 1424802"/>
              <a:gd name="connsiteY69" fmla="*/ 1248508 h 1424354"/>
              <a:gd name="connsiteX70" fmla="*/ 33078 w 1424802"/>
              <a:gd name="connsiteY70" fmla="*/ 1230923 h 1424354"/>
              <a:gd name="connsiteX71" fmla="*/ 21355 w 1424802"/>
              <a:gd name="connsiteY71" fmla="*/ 1189892 h 1424354"/>
              <a:gd name="connsiteX72" fmla="*/ 9632 w 1424802"/>
              <a:gd name="connsiteY72" fmla="*/ 1143000 h 1424354"/>
              <a:gd name="connsiteX73" fmla="*/ 9632 w 1424802"/>
              <a:gd name="connsiteY73" fmla="*/ 943708 h 1424354"/>
              <a:gd name="connsiteX74" fmla="*/ 15493 w 1424802"/>
              <a:gd name="connsiteY74" fmla="*/ 926123 h 1424354"/>
              <a:gd name="connsiteX75" fmla="*/ 21355 w 1424802"/>
              <a:gd name="connsiteY75" fmla="*/ 873369 h 1424354"/>
              <a:gd name="connsiteX76" fmla="*/ 27216 w 1424802"/>
              <a:gd name="connsiteY76" fmla="*/ 855785 h 1424354"/>
              <a:gd name="connsiteX77" fmla="*/ 33078 w 1424802"/>
              <a:gd name="connsiteY77" fmla="*/ 820615 h 1424354"/>
              <a:gd name="connsiteX78" fmla="*/ 50662 w 1424802"/>
              <a:gd name="connsiteY78" fmla="*/ 779585 h 1424354"/>
              <a:gd name="connsiteX79" fmla="*/ 62385 w 1424802"/>
              <a:gd name="connsiteY79" fmla="*/ 738554 h 1424354"/>
              <a:gd name="connsiteX80" fmla="*/ 74108 w 1424802"/>
              <a:gd name="connsiteY80" fmla="*/ 715108 h 1424354"/>
              <a:gd name="connsiteX81" fmla="*/ 85832 w 1424802"/>
              <a:gd name="connsiteY81" fmla="*/ 674077 h 1424354"/>
              <a:gd name="connsiteX82" fmla="*/ 91693 w 1424802"/>
              <a:gd name="connsiteY82" fmla="*/ 656492 h 1424354"/>
              <a:gd name="connsiteX83" fmla="*/ 97555 w 1424802"/>
              <a:gd name="connsiteY83" fmla="*/ 627185 h 1424354"/>
              <a:gd name="connsiteX84" fmla="*/ 103416 w 1424802"/>
              <a:gd name="connsiteY84" fmla="*/ 609600 h 1424354"/>
              <a:gd name="connsiteX85" fmla="*/ 102366 w 1424802"/>
              <a:gd name="connsiteY85" fmla="*/ 546969 h 1424354"/>
              <a:gd name="connsiteX86" fmla="*/ 83418 w 1424802"/>
              <a:gd name="connsiteY86" fmla="*/ 435496 h 1424354"/>
              <a:gd name="connsiteX87" fmla="*/ 83418 w 1424802"/>
              <a:gd name="connsiteY87" fmla="*/ 291480 h 1424354"/>
              <a:gd name="connsiteX88" fmla="*/ 85832 w 1424802"/>
              <a:gd name="connsiteY88" fmla="*/ 263769 h 1424354"/>
              <a:gd name="connsiteX89" fmla="*/ 79970 w 1424802"/>
              <a:gd name="connsiteY89" fmla="*/ 246185 h 1424354"/>
              <a:gd name="connsiteX0" fmla="*/ 79970 w 1424802"/>
              <a:gd name="connsiteY0" fmla="*/ 246185 h 1424354"/>
              <a:gd name="connsiteX1" fmla="*/ 97555 w 1424802"/>
              <a:gd name="connsiteY1" fmla="*/ 193431 h 1424354"/>
              <a:gd name="connsiteX2" fmla="*/ 103416 w 1424802"/>
              <a:gd name="connsiteY2" fmla="*/ 175846 h 1424354"/>
              <a:gd name="connsiteX3" fmla="*/ 109278 w 1424802"/>
              <a:gd name="connsiteY3" fmla="*/ 152400 h 1424354"/>
              <a:gd name="connsiteX4" fmla="*/ 132724 w 1424802"/>
              <a:gd name="connsiteY4" fmla="*/ 117231 h 1424354"/>
              <a:gd name="connsiteX5" fmla="*/ 144447 w 1424802"/>
              <a:gd name="connsiteY5" fmla="*/ 99646 h 1424354"/>
              <a:gd name="connsiteX6" fmla="*/ 197201 w 1424802"/>
              <a:gd name="connsiteY6" fmla="*/ 70338 h 1424354"/>
              <a:gd name="connsiteX7" fmla="*/ 226508 w 1424802"/>
              <a:gd name="connsiteY7" fmla="*/ 52754 h 1424354"/>
              <a:gd name="connsiteX8" fmla="*/ 261678 w 1424802"/>
              <a:gd name="connsiteY8" fmla="*/ 41031 h 1424354"/>
              <a:gd name="connsiteX9" fmla="*/ 308570 w 1424802"/>
              <a:gd name="connsiteY9" fmla="*/ 23446 h 1424354"/>
              <a:gd name="connsiteX10" fmla="*/ 326155 w 1424802"/>
              <a:gd name="connsiteY10" fmla="*/ 17585 h 1424354"/>
              <a:gd name="connsiteX11" fmla="*/ 367185 w 1424802"/>
              <a:gd name="connsiteY11" fmla="*/ 11723 h 1424354"/>
              <a:gd name="connsiteX12" fmla="*/ 490278 w 1424802"/>
              <a:gd name="connsiteY12" fmla="*/ 0 h 1424354"/>
              <a:gd name="connsiteX13" fmla="*/ 607508 w 1424802"/>
              <a:gd name="connsiteY13" fmla="*/ 11723 h 1424354"/>
              <a:gd name="connsiteX14" fmla="*/ 625093 w 1424802"/>
              <a:gd name="connsiteY14" fmla="*/ 17585 h 1424354"/>
              <a:gd name="connsiteX15" fmla="*/ 671985 w 1424802"/>
              <a:gd name="connsiteY15" fmla="*/ 29308 h 1424354"/>
              <a:gd name="connsiteX16" fmla="*/ 695432 w 1424802"/>
              <a:gd name="connsiteY16" fmla="*/ 35169 h 1424354"/>
              <a:gd name="connsiteX17" fmla="*/ 718878 w 1424802"/>
              <a:gd name="connsiteY17" fmla="*/ 46892 h 1424354"/>
              <a:gd name="connsiteX18" fmla="*/ 754047 w 1424802"/>
              <a:gd name="connsiteY18" fmla="*/ 58615 h 1424354"/>
              <a:gd name="connsiteX19" fmla="*/ 771632 w 1424802"/>
              <a:gd name="connsiteY19" fmla="*/ 70338 h 1424354"/>
              <a:gd name="connsiteX20" fmla="*/ 789216 w 1424802"/>
              <a:gd name="connsiteY20" fmla="*/ 87923 h 1424354"/>
              <a:gd name="connsiteX21" fmla="*/ 824385 w 1424802"/>
              <a:gd name="connsiteY21" fmla="*/ 99646 h 1424354"/>
              <a:gd name="connsiteX22" fmla="*/ 841970 w 1424802"/>
              <a:gd name="connsiteY22" fmla="*/ 117231 h 1424354"/>
              <a:gd name="connsiteX23" fmla="*/ 847832 w 1424802"/>
              <a:gd name="connsiteY23" fmla="*/ 134815 h 1424354"/>
              <a:gd name="connsiteX24" fmla="*/ 865416 w 1424802"/>
              <a:gd name="connsiteY24" fmla="*/ 140677 h 1424354"/>
              <a:gd name="connsiteX25" fmla="*/ 906447 w 1424802"/>
              <a:gd name="connsiteY25" fmla="*/ 175846 h 1424354"/>
              <a:gd name="connsiteX26" fmla="*/ 918170 w 1424802"/>
              <a:gd name="connsiteY26" fmla="*/ 193431 h 1424354"/>
              <a:gd name="connsiteX27" fmla="*/ 935755 w 1424802"/>
              <a:gd name="connsiteY27" fmla="*/ 205154 h 1424354"/>
              <a:gd name="connsiteX28" fmla="*/ 959201 w 1424802"/>
              <a:gd name="connsiteY28" fmla="*/ 222738 h 1424354"/>
              <a:gd name="connsiteX29" fmla="*/ 976785 w 1424802"/>
              <a:gd name="connsiteY29" fmla="*/ 234462 h 1424354"/>
              <a:gd name="connsiteX30" fmla="*/ 994370 w 1424802"/>
              <a:gd name="connsiteY30" fmla="*/ 257908 h 1424354"/>
              <a:gd name="connsiteX31" fmla="*/ 1035401 w 1424802"/>
              <a:gd name="connsiteY31" fmla="*/ 281354 h 1424354"/>
              <a:gd name="connsiteX32" fmla="*/ 1058847 w 1424802"/>
              <a:gd name="connsiteY32" fmla="*/ 310662 h 1424354"/>
              <a:gd name="connsiteX33" fmla="*/ 1099878 w 1424802"/>
              <a:gd name="connsiteY33" fmla="*/ 345831 h 1424354"/>
              <a:gd name="connsiteX34" fmla="*/ 1129185 w 1424802"/>
              <a:gd name="connsiteY34" fmla="*/ 386862 h 1424354"/>
              <a:gd name="connsiteX35" fmla="*/ 1135047 w 1424802"/>
              <a:gd name="connsiteY35" fmla="*/ 404446 h 1424354"/>
              <a:gd name="connsiteX36" fmla="*/ 1170216 w 1424802"/>
              <a:gd name="connsiteY36" fmla="*/ 445477 h 1424354"/>
              <a:gd name="connsiteX37" fmla="*/ 1187801 w 1424802"/>
              <a:gd name="connsiteY37" fmla="*/ 468923 h 1424354"/>
              <a:gd name="connsiteX38" fmla="*/ 1211247 w 1424802"/>
              <a:gd name="connsiteY38" fmla="*/ 504092 h 1424354"/>
              <a:gd name="connsiteX39" fmla="*/ 1240555 w 1424802"/>
              <a:gd name="connsiteY39" fmla="*/ 545123 h 1424354"/>
              <a:gd name="connsiteX40" fmla="*/ 1264001 w 1424802"/>
              <a:gd name="connsiteY40" fmla="*/ 592015 h 1424354"/>
              <a:gd name="connsiteX41" fmla="*/ 1269862 w 1424802"/>
              <a:gd name="connsiteY41" fmla="*/ 609600 h 1424354"/>
              <a:gd name="connsiteX42" fmla="*/ 1287447 w 1424802"/>
              <a:gd name="connsiteY42" fmla="*/ 638908 h 1424354"/>
              <a:gd name="connsiteX43" fmla="*/ 1299170 w 1424802"/>
              <a:gd name="connsiteY43" fmla="*/ 662354 h 1424354"/>
              <a:gd name="connsiteX44" fmla="*/ 1316755 w 1424802"/>
              <a:gd name="connsiteY44" fmla="*/ 679938 h 1424354"/>
              <a:gd name="connsiteX45" fmla="*/ 1340201 w 1424802"/>
              <a:gd name="connsiteY45" fmla="*/ 720969 h 1424354"/>
              <a:gd name="connsiteX46" fmla="*/ 1351924 w 1424802"/>
              <a:gd name="connsiteY46" fmla="*/ 744415 h 1424354"/>
              <a:gd name="connsiteX47" fmla="*/ 1357785 w 1424802"/>
              <a:gd name="connsiteY47" fmla="*/ 762000 h 1424354"/>
              <a:gd name="connsiteX48" fmla="*/ 1369508 w 1424802"/>
              <a:gd name="connsiteY48" fmla="*/ 779585 h 1424354"/>
              <a:gd name="connsiteX49" fmla="*/ 1381232 w 1424802"/>
              <a:gd name="connsiteY49" fmla="*/ 808892 h 1424354"/>
              <a:gd name="connsiteX50" fmla="*/ 1398816 w 1424802"/>
              <a:gd name="connsiteY50" fmla="*/ 885092 h 1424354"/>
              <a:gd name="connsiteX51" fmla="*/ 1410539 w 1424802"/>
              <a:gd name="connsiteY51" fmla="*/ 955431 h 1424354"/>
              <a:gd name="connsiteX52" fmla="*/ 1416401 w 1424802"/>
              <a:gd name="connsiteY52" fmla="*/ 973015 h 1424354"/>
              <a:gd name="connsiteX53" fmla="*/ 1410539 w 1424802"/>
              <a:gd name="connsiteY53" fmla="*/ 1125415 h 1424354"/>
              <a:gd name="connsiteX54" fmla="*/ 1404287 w 1424802"/>
              <a:gd name="connsiteY54" fmla="*/ 1249041 h 1424354"/>
              <a:gd name="connsiteX55" fmla="*/ 1287447 w 1424802"/>
              <a:gd name="connsiteY55" fmla="*/ 1383323 h 1424354"/>
              <a:gd name="connsiteX56" fmla="*/ 1269862 w 1424802"/>
              <a:gd name="connsiteY56" fmla="*/ 1395046 h 1424354"/>
              <a:gd name="connsiteX57" fmla="*/ 1234693 w 1424802"/>
              <a:gd name="connsiteY57" fmla="*/ 1406769 h 1424354"/>
              <a:gd name="connsiteX58" fmla="*/ 1217108 w 1424802"/>
              <a:gd name="connsiteY58" fmla="*/ 1412631 h 1424354"/>
              <a:gd name="connsiteX59" fmla="*/ 1176078 w 1424802"/>
              <a:gd name="connsiteY59" fmla="*/ 1418492 h 1424354"/>
              <a:gd name="connsiteX60" fmla="*/ 1140908 w 1424802"/>
              <a:gd name="connsiteY60" fmla="*/ 1424354 h 1424354"/>
              <a:gd name="connsiteX61" fmla="*/ 900585 w 1424802"/>
              <a:gd name="connsiteY61" fmla="*/ 1418492 h 1424354"/>
              <a:gd name="connsiteX62" fmla="*/ 883001 w 1424802"/>
              <a:gd name="connsiteY62" fmla="*/ 1412631 h 1424354"/>
              <a:gd name="connsiteX63" fmla="*/ 800939 w 1424802"/>
              <a:gd name="connsiteY63" fmla="*/ 1406769 h 1424354"/>
              <a:gd name="connsiteX64" fmla="*/ 630955 w 1424802"/>
              <a:gd name="connsiteY64" fmla="*/ 1400908 h 1424354"/>
              <a:gd name="connsiteX65" fmla="*/ 572339 w 1424802"/>
              <a:gd name="connsiteY65" fmla="*/ 1395046 h 1424354"/>
              <a:gd name="connsiteX66" fmla="*/ 476812 w 1424802"/>
              <a:gd name="connsiteY66" fmla="*/ 1400908 h 1424354"/>
              <a:gd name="connsiteX67" fmla="*/ 155426 w 1424802"/>
              <a:gd name="connsiteY67" fmla="*/ 1371600 h 1424354"/>
              <a:gd name="connsiteX68" fmla="*/ 83418 w 1424802"/>
              <a:gd name="connsiteY68" fmla="*/ 1299592 h 1424354"/>
              <a:gd name="connsiteX69" fmla="*/ 50662 w 1424802"/>
              <a:gd name="connsiteY69" fmla="*/ 1248508 h 1424354"/>
              <a:gd name="connsiteX70" fmla="*/ 33078 w 1424802"/>
              <a:gd name="connsiteY70" fmla="*/ 1230923 h 1424354"/>
              <a:gd name="connsiteX71" fmla="*/ 21355 w 1424802"/>
              <a:gd name="connsiteY71" fmla="*/ 1189892 h 1424354"/>
              <a:gd name="connsiteX72" fmla="*/ 9632 w 1424802"/>
              <a:gd name="connsiteY72" fmla="*/ 1143000 h 1424354"/>
              <a:gd name="connsiteX73" fmla="*/ 9632 w 1424802"/>
              <a:gd name="connsiteY73" fmla="*/ 943708 h 1424354"/>
              <a:gd name="connsiteX74" fmla="*/ 15493 w 1424802"/>
              <a:gd name="connsiteY74" fmla="*/ 926123 h 1424354"/>
              <a:gd name="connsiteX75" fmla="*/ 21355 w 1424802"/>
              <a:gd name="connsiteY75" fmla="*/ 873369 h 1424354"/>
              <a:gd name="connsiteX76" fmla="*/ 27216 w 1424802"/>
              <a:gd name="connsiteY76" fmla="*/ 855785 h 1424354"/>
              <a:gd name="connsiteX77" fmla="*/ 33078 w 1424802"/>
              <a:gd name="connsiteY77" fmla="*/ 820615 h 1424354"/>
              <a:gd name="connsiteX78" fmla="*/ 50662 w 1424802"/>
              <a:gd name="connsiteY78" fmla="*/ 779585 h 1424354"/>
              <a:gd name="connsiteX79" fmla="*/ 62385 w 1424802"/>
              <a:gd name="connsiteY79" fmla="*/ 738554 h 1424354"/>
              <a:gd name="connsiteX80" fmla="*/ 74108 w 1424802"/>
              <a:gd name="connsiteY80" fmla="*/ 715108 h 1424354"/>
              <a:gd name="connsiteX81" fmla="*/ 85832 w 1424802"/>
              <a:gd name="connsiteY81" fmla="*/ 674077 h 1424354"/>
              <a:gd name="connsiteX82" fmla="*/ 91693 w 1424802"/>
              <a:gd name="connsiteY82" fmla="*/ 656492 h 1424354"/>
              <a:gd name="connsiteX83" fmla="*/ 97555 w 1424802"/>
              <a:gd name="connsiteY83" fmla="*/ 627185 h 1424354"/>
              <a:gd name="connsiteX84" fmla="*/ 103416 w 1424802"/>
              <a:gd name="connsiteY84" fmla="*/ 609600 h 1424354"/>
              <a:gd name="connsiteX85" fmla="*/ 102366 w 1424802"/>
              <a:gd name="connsiteY85" fmla="*/ 546969 h 1424354"/>
              <a:gd name="connsiteX86" fmla="*/ 83418 w 1424802"/>
              <a:gd name="connsiteY86" fmla="*/ 435496 h 1424354"/>
              <a:gd name="connsiteX87" fmla="*/ 83418 w 1424802"/>
              <a:gd name="connsiteY87" fmla="*/ 291480 h 1424354"/>
              <a:gd name="connsiteX88" fmla="*/ 85832 w 1424802"/>
              <a:gd name="connsiteY88" fmla="*/ 263769 h 1424354"/>
              <a:gd name="connsiteX89" fmla="*/ 79970 w 1424802"/>
              <a:gd name="connsiteY89" fmla="*/ 246185 h 1424354"/>
              <a:gd name="connsiteX0" fmla="*/ 79970 w 1424802"/>
              <a:gd name="connsiteY0" fmla="*/ 246185 h 1424354"/>
              <a:gd name="connsiteX1" fmla="*/ 97555 w 1424802"/>
              <a:gd name="connsiteY1" fmla="*/ 193431 h 1424354"/>
              <a:gd name="connsiteX2" fmla="*/ 103416 w 1424802"/>
              <a:gd name="connsiteY2" fmla="*/ 175846 h 1424354"/>
              <a:gd name="connsiteX3" fmla="*/ 109278 w 1424802"/>
              <a:gd name="connsiteY3" fmla="*/ 152400 h 1424354"/>
              <a:gd name="connsiteX4" fmla="*/ 132724 w 1424802"/>
              <a:gd name="connsiteY4" fmla="*/ 117231 h 1424354"/>
              <a:gd name="connsiteX5" fmla="*/ 82870 w 1424802"/>
              <a:gd name="connsiteY5" fmla="*/ 75475 h 1424354"/>
              <a:gd name="connsiteX6" fmla="*/ 197201 w 1424802"/>
              <a:gd name="connsiteY6" fmla="*/ 70338 h 1424354"/>
              <a:gd name="connsiteX7" fmla="*/ 226508 w 1424802"/>
              <a:gd name="connsiteY7" fmla="*/ 52754 h 1424354"/>
              <a:gd name="connsiteX8" fmla="*/ 261678 w 1424802"/>
              <a:gd name="connsiteY8" fmla="*/ 41031 h 1424354"/>
              <a:gd name="connsiteX9" fmla="*/ 308570 w 1424802"/>
              <a:gd name="connsiteY9" fmla="*/ 23446 h 1424354"/>
              <a:gd name="connsiteX10" fmla="*/ 326155 w 1424802"/>
              <a:gd name="connsiteY10" fmla="*/ 17585 h 1424354"/>
              <a:gd name="connsiteX11" fmla="*/ 367185 w 1424802"/>
              <a:gd name="connsiteY11" fmla="*/ 11723 h 1424354"/>
              <a:gd name="connsiteX12" fmla="*/ 490278 w 1424802"/>
              <a:gd name="connsiteY12" fmla="*/ 0 h 1424354"/>
              <a:gd name="connsiteX13" fmla="*/ 607508 w 1424802"/>
              <a:gd name="connsiteY13" fmla="*/ 11723 h 1424354"/>
              <a:gd name="connsiteX14" fmla="*/ 625093 w 1424802"/>
              <a:gd name="connsiteY14" fmla="*/ 17585 h 1424354"/>
              <a:gd name="connsiteX15" fmla="*/ 671985 w 1424802"/>
              <a:gd name="connsiteY15" fmla="*/ 29308 h 1424354"/>
              <a:gd name="connsiteX16" fmla="*/ 695432 w 1424802"/>
              <a:gd name="connsiteY16" fmla="*/ 35169 h 1424354"/>
              <a:gd name="connsiteX17" fmla="*/ 718878 w 1424802"/>
              <a:gd name="connsiteY17" fmla="*/ 46892 h 1424354"/>
              <a:gd name="connsiteX18" fmla="*/ 754047 w 1424802"/>
              <a:gd name="connsiteY18" fmla="*/ 58615 h 1424354"/>
              <a:gd name="connsiteX19" fmla="*/ 771632 w 1424802"/>
              <a:gd name="connsiteY19" fmla="*/ 70338 h 1424354"/>
              <a:gd name="connsiteX20" fmla="*/ 789216 w 1424802"/>
              <a:gd name="connsiteY20" fmla="*/ 87923 h 1424354"/>
              <a:gd name="connsiteX21" fmla="*/ 824385 w 1424802"/>
              <a:gd name="connsiteY21" fmla="*/ 99646 h 1424354"/>
              <a:gd name="connsiteX22" fmla="*/ 841970 w 1424802"/>
              <a:gd name="connsiteY22" fmla="*/ 117231 h 1424354"/>
              <a:gd name="connsiteX23" fmla="*/ 847832 w 1424802"/>
              <a:gd name="connsiteY23" fmla="*/ 134815 h 1424354"/>
              <a:gd name="connsiteX24" fmla="*/ 865416 w 1424802"/>
              <a:gd name="connsiteY24" fmla="*/ 140677 h 1424354"/>
              <a:gd name="connsiteX25" fmla="*/ 906447 w 1424802"/>
              <a:gd name="connsiteY25" fmla="*/ 175846 h 1424354"/>
              <a:gd name="connsiteX26" fmla="*/ 918170 w 1424802"/>
              <a:gd name="connsiteY26" fmla="*/ 193431 h 1424354"/>
              <a:gd name="connsiteX27" fmla="*/ 935755 w 1424802"/>
              <a:gd name="connsiteY27" fmla="*/ 205154 h 1424354"/>
              <a:gd name="connsiteX28" fmla="*/ 959201 w 1424802"/>
              <a:gd name="connsiteY28" fmla="*/ 222738 h 1424354"/>
              <a:gd name="connsiteX29" fmla="*/ 976785 w 1424802"/>
              <a:gd name="connsiteY29" fmla="*/ 234462 h 1424354"/>
              <a:gd name="connsiteX30" fmla="*/ 994370 w 1424802"/>
              <a:gd name="connsiteY30" fmla="*/ 257908 h 1424354"/>
              <a:gd name="connsiteX31" fmla="*/ 1035401 w 1424802"/>
              <a:gd name="connsiteY31" fmla="*/ 281354 h 1424354"/>
              <a:gd name="connsiteX32" fmla="*/ 1058847 w 1424802"/>
              <a:gd name="connsiteY32" fmla="*/ 310662 h 1424354"/>
              <a:gd name="connsiteX33" fmla="*/ 1099878 w 1424802"/>
              <a:gd name="connsiteY33" fmla="*/ 345831 h 1424354"/>
              <a:gd name="connsiteX34" fmla="*/ 1129185 w 1424802"/>
              <a:gd name="connsiteY34" fmla="*/ 386862 h 1424354"/>
              <a:gd name="connsiteX35" fmla="*/ 1135047 w 1424802"/>
              <a:gd name="connsiteY35" fmla="*/ 404446 h 1424354"/>
              <a:gd name="connsiteX36" fmla="*/ 1170216 w 1424802"/>
              <a:gd name="connsiteY36" fmla="*/ 445477 h 1424354"/>
              <a:gd name="connsiteX37" fmla="*/ 1187801 w 1424802"/>
              <a:gd name="connsiteY37" fmla="*/ 468923 h 1424354"/>
              <a:gd name="connsiteX38" fmla="*/ 1211247 w 1424802"/>
              <a:gd name="connsiteY38" fmla="*/ 504092 h 1424354"/>
              <a:gd name="connsiteX39" fmla="*/ 1240555 w 1424802"/>
              <a:gd name="connsiteY39" fmla="*/ 545123 h 1424354"/>
              <a:gd name="connsiteX40" fmla="*/ 1264001 w 1424802"/>
              <a:gd name="connsiteY40" fmla="*/ 592015 h 1424354"/>
              <a:gd name="connsiteX41" fmla="*/ 1269862 w 1424802"/>
              <a:gd name="connsiteY41" fmla="*/ 609600 h 1424354"/>
              <a:gd name="connsiteX42" fmla="*/ 1287447 w 1424802"/>
              <a:gd name="connsiteY42" fmla="*/ 638908 h 1424354"/>
              <a:gd name="connsiteX43" fmla="*/ 1299170 w 1424802"/>
              <a:gd name="connsiteY43" fmla="*/ 662354 h 1424354"/>
              <a:gd name="connsiteX44" fmla="*/ 1316755 w 1424802"/>
              <a:gd name="connsiteY44" fmla="*/ 679938 h 1424354"/>
              <a:gd name="connsiteX45" fmla="*/ 1340201 w 1424802"/>
              <a:gd name="connsiteY45" fmla="*/ 720969 h 1424354"/>
              <a:gd name="connsiteX46" fmla="*/ 1351924 w 1424802"/>
              <a:gd name="connsiteY46" fmla="*/ 744415 h 1424354"/>
              <a:gd name="connsiteX47" fmla="*/ 1357785 w 1424802"/>
              <a:gd name="connsiteY47" fmla="*/ 762000 h 1424354"/>
              <a:gd name="connsiteX48" fmla="*/ 1369508 w 1424802"/>
              <a:gd name="connsiteY48" fmla="*/ 779585 h 1424354"/>
              <a:gd name="connsiteX49" fmla="*/ 1381232 w 1424802"/>
              <a:gd name="connsiteY49" fmla="*/ 808892 h 1424354"/>
              <a:gd name="connsiteX50" fmla="*/ 1398816 w 1424802"/>
              <a:gd name="connsiteY50" fmla="*/ 885092 h 1424354"/>
              <a:gd name="connsiteX51" fmla="*/ 1410539 w 1424802"/>
              <a:gd name="connsiteY51" fmla="*/ 955431 h 1424354"/>
              <a:gd name="connsiteX52" fmla="*/ 1416401 w 1424802"/>
              <a:gd name="connsiteY52" fmla="*/ 973015 h 1424354"/>
              <a:gd name="connsiteX53" fmla="*/ 1410539 w 1424802"/>
              <a:gd name="connsiteY53" fmla="*/ 1125415 h 1424354"/>
              <a:gd name="connsiteX54" fmla="*/ 1404287 w 1424802"/>
              <a:gd name="connsiteY54" fmla="*/ 1249041 h 1424354"/>
              <a:gd name="connsiteX55" fmla="*/ 1287447 w 1424802"/>
              <a:gd name="connsiteY55" fmla="*/ 1383323 h 1424354"/>
              <a:gd name="connsiteX56" fmla="*/ 1269862 w 1424802"/>
              <a:gd name="connsiteY56" fmla="*/ 1395046 h 1424354"/>
              <a:gd name="connsiteX57" fmla="*/ 1234693 w 1424802"/>
              <a:gd name="connsiteY57" fmla="*/ 1406769 h 1424354"/>
              <a:gd name="connsiteX58" fmla="*/ 1217108 w 1424802"/>
              <a:gd name="connsiteY58" fmla="*/ 1412631 h 1424354"/>
              <a:gd name="connsiteX59" fmla="*/ 1176078 w 1424802"/>
              <a:gd name="connsiteY59" fmla="*/ 1418492 h 1424354"/>
              <a:gd name="connsiteX60" fmla="*/ 1140908 w 1424802"/>
              <a:gd name="connsiteY60" fmla="*/ 1424354 h 1424354"/>
              <a:gd name="connsiteX61" fmla="*/ 900585 w 1424802"/>
              <a:gd name="connsiteY61" fmla="*/ 1418492 h 1424354"/>
              <a:gd name="connsiteX62" fmla="*/ 883001 w 1424802"/>
              <a:gd name="connsiteY62" fmla="*/ 1412631 h 1424354"/>
              <a:gd name="connsiteX63" fmla="*/ 800939 w 1424802"/>
              <a:gd name="connsiteY63" fmla="*/ 1406769 h 1424354"/>
              <a:gd name="connsiteX64" fmla="*/ 630955 w 1424802"/>
              <a:gd name="connsiteY64" fmla="*/ 1400908 h 1424354"/>
              <a:gd name="connsiteX65" fmla="*/ 572339 w 1424802"/>
              <a:gd name="connsiteY65" fmla="*/ 1395046 h 1424354"/>
              <a:gd name="connsiteX66" fmla="*/ 476812 w 1424802"/>
              <a:gd name="connsiteY66" fmla="*/ 1400908 h 1424354"/>
              <a:gd name="connsiteX67" fmla="*/ 155426 w 1424802"/>
              <a:gd name="connsiteY67" fmla="*/ 1371600 h 1424354"/>
              <a:gd name="connsiteX68" fmla="*/ 83418 w 1424802"/>
              <a:gd name="connsiteY68" fmla="*/ 1299592 h 1424354"/>
              <a:gd name="connsiteX69" fmla="*/ 50662 w 1424802"/>
              <a:gd name="connsiteY69" fmla="*/ 1248508 h 1424354"/>
              <a:gd name="connsiteX70" fmla="*/ 33078 w 1424802"/>
              <a:gd name="connsiteY70" fmla="*/ 1230923 h 1424354"/>
              <a:gd name="connsiteX71" fmla="*/ 21355 w 1424802"/>
              <a:gd name="connsiteY71" fmla="*/ 1189892 h 1424354"/>
              <a:gd name="connsiteX72" fmla="*/ 9632 w 1424802"/>
              <a:gd name="connsiteY72" fmla="*/ 1143000 h 1424354"/>
              <a:gd name="connsiteX73" fmla="*/ 9632 w 1424802"/>
              <a:gd name="connsiteY73" fmla="*/ 943708 h 1424354"/>
              <a:gd name="connsiteX74" fmla="*/ 15493 w 1424802"/>
              <a:gd name="connsiteY74" fmla="*/ 926123 h 1424354"/>
              <a:gd name="connsiteX75" fmla="*/ 21355 w 1424802"/>
              <a:gd name="connsiteY75" fmla="*/ 873369 h 1424354"/>
              <a:gd name="connsiteX76" fmla="*/ 27216 w 1424802"/>
              <a:gd name="connsiteY76" fmla="*/ 855785 h 1424354"/>
              <a:gd name="connsiteX77" fmla="*/ 33078 w 1424802"/>
              <a:gd name="connsiteY77" fmla="*/ 820615 h 1424354"/>
              <a:gd name="connsiteX78" fmla="*/ 50662 w 1424802"/>
              <a:gd name="connsiteY78" fmla="*/ 779585 h 1424354"/>
              <a:gd name="connsiteX79" fmla="*/ 62385 w 1424802"/>
              <a:gd name="connsiteY79" fmla="*/ 738554 h 1424354"/>
              <a:gd name="connsiteX80" fmla="*/ 74108 w 1424802"/>
              <a:gd name="connsiteY80" fmla="*/ 715108 h 1424354"/>
              <a:gd name="connsiteX81" fmla="*/ 85832 w 1424802"/>
              <a:gd name="connsiteY81" fmla="*/ 674077 h 1424354"/>
              <a:gd name="connsiteX82" fmla="*/ 91693 w 1424802"/>
              <a:gd name="connsiteY82" fmla="*/ 656492 h 1424354"/>
              <a:gd name="connsiteX83" fmla="*/ 97555 w 1424802"/>
              <a:gd name="connsiteY83" fmla="*/ 627185 h 1424354"/>
              <a:gd name="connsiteX84" fmla="*/ 103416 w 1424802"/>
              <a:gd name="connsiteY84" fmla="*/ 609600 h 1424354"/>
              <a:gd name="connsiteX85" fmla="*/ 102366 w 1424802"/>
              <a:gd name="connsiteY85" fmla="*/ 546969 h 1424354"/>
              <a:gd name="connsiteX86" fmla="*/ 83418 w 1424802"/>
              <a:gd name="connsiteY86" fmla="*/ 435496 h 1424354"/>
              <a:gd name="connsiteX87" fmla="*/ 83418 w 1424802"/>
              <a:gd name="connsiteY87" fmla="*/ 291480 h 1424354"/>
              <a:gd name="connsiteX88" fmla="*/ 85832 w 1424802"/>
              <a:gd name="connsiteY88" fmla="*/ 263769 h 1424354"/>
              <a:gd name="connsiteX89" fmla="*/ 79970 w 1424802"/>
              <a:gd name="connsiteY89" fmla="*/ 246185 h 1424354"/>
              <a:gd name="connsiteX0" fmla="*/ 79970 w 1424802"/>
              <a:gd name="connsiteY0" fmla="*/ 316389 h 1494558"/>
              <a:gd name="connsiteX1" fmla="*/ 97555 w 1424802"/>
              <a:gd name="connsiteY1" fmla="*/ 263635 h 1494558"/>
              <a:gd name="connsiteX2" fmla="*/ 103416 w 1424802"/>
              <a:gd name="connsiteY2" fmla="*/ 246050 h 1494558"/>
              <a:gd name="connsiteX3" fmla="*/ 109278 w 1424802"/>
              <a:gd name="connsiteY3" fmla="*/ 222604 h 1494558"/>
              <a:gd name="connsiteX4" fmla="*/ 132724 w 1424802"/>
              <a:gd name="connsiteY4" fmla="*/ 187435 h 1494558"/>
              <a:gd name="connsiteX5" fmla="*/ 82870 w 1424802"/>
              <a:gd name="connsiteY5" fmla="*/ 145679 h 1494558"/>
              <a:gd name="connsiteX6" fmla="*/ 197201 w 1424802"/>
              <a:gd name="connsiteY6" fmla="*/ 140542 h 1494558"/>
              <a:gd name="connsiteX7" fmla="*/ 226508 w 1424802"/>
              <a:gd name="connsiteY7" fmla="*/ 122958 h 1494558"/>
              <a:gd name="connsiteX8" fmla="*/ 261678 w 1424802"/>
              <a:gd name="connsiteY8" fmla="*/ 111235 h 1494558"/>
              <a:gd name="connsiteX9" fmla="*/ 308570 w 1424802"/>
              <a:gd name="connsiteY9" fmla="*/ 93650 h 1494558"/>
              <a:gd name="connsiteX10" fmla="*/ 326155 w 1424802"/>
              <a:gd name="connsiteY10" fmla="*/ 87789 h 1494558"/>
              <a:gd name="connsiteX11" fmla="*/ 367185 w 1424802"/>
              <a:gd name="connsiteY11" fmla="*/ 81927 h 1494558"/>
              <a:gd name="connsiteX12" fmla="*/ 490278 w 1424802"/>
              <a:gd name="connsiteY12" fmla="*/ 70204 h 1494558"/>
              <a:gd name="connsiteX13" fmla="*/ 607508 w 1424802"/>
              <a:gd name="connsiteY13" fmla="*/ 81927 h 1494558"/>
              <a:gd name="connsiteX14" fmla="*/ 659264 w 1424802"/>
              <a:gd name="connsiteY14" fmla="*/ 1626 h 1494558"/>
              <a:gd name="connsiteX15" fmla="*/ 671985 w 1424802"/>
              <a:gd name="connsiteY15" fmla="*/ 99512 h 1494558"/>
              <a:gd name="connsiteX16" fmla="*/ 695432 w 1424802"/>
              <a:gd name="connsiteY16" fmla="*/ 105373 h 1494558"/>
              <a:gd name="connsiteX17" fmla="*/ 718878 w 1424802"/>
              <a:gd name="connsiteY17" fmla="*/ 117096 h 1494558"/>
              <a:gd name="connsiteX18" fmla="*/ 754047 w 1424802"/>
              <a:gd name="connsiteY18" fmla="*/ 128819 h 1494558"/>
              <a:gd name="connsiteX19" fmla="*/ 771632 w 1424802"/>
              <a:gd name="connsiteY19" fmla="*/ 140542 h 1494558"/>
              <a:gd name="connsiteX20" fmla="*/ 789216 w 1424802"/>
              <a:gd name="connsiteY20" fmla="*/ 158127 h 1494558"/>
              <a:gd name="connsiteX21" fmla="*/ 824385 w 1424802"/>
              <a:gd name="connsiteY21" fmla="*/ 169850 h 1494558"/>
              <a:gd name="connsiteX22" fmla="*/ 841970 w 1424802"/>
              <a:gd name="connsiteY22" fmla="*/ 187435 h 1494558"/>
              <a:gd name="connsiteX23" fmla="*/ 847832 w 1424802"/>
              <a:gd name="connsiteY23" fmla="*/ 205019 h 1494558"/>
              <a:gd name="connsiteX24" fmla="*/ 865416 w 1424802"/>
              <a:gd name="connsiteY24" fmla="*/ 210881 h 1494558"/>
              <a:gd name="connsiteX25" fmla="*/ 906447 w 1424802"/>
              <a:gd name="connsiteY25" fmla="*/ 246050 h 1494558"/>
              <a:gd name="connsiteX26" fmla="*/ 918170 w 1424802"/>
              <a:gd name="connsiteY26" fmla="*/ 263635 h 1494558"/>
              <a:gd name="connsiteX27" fmla="*/ 935755 w 1424802"/>
              <a:gd name="connsiteY27" fmla="*/ 275358 h 1494558"/>
              <a:gd name="connsiteX28" fmla="*/ 959201 w 1424802"/>
              <a:gd name="connsiteY28" fmla="*/ 292942 h 1494558"/>
              <a:gd name="connsiteX29" fmla="*/ 976785 w 1424802"/>
              <a:gd name="connsiteY29" fmla="*/ 304666 h 1494558"/>
              <a:gd name="connsiteX30" fmla="*/ 994370 w 1424802"/>
              <a:gd name="connsiteY30" fmla="*/ 328112 h 1494558"/>
              <a:gd name="connsiteX31" fmla="*/ 1035401 w 1424802"/>
              <a:gd name="connsiteY31" fmla="*/ 351558 h 1494558"/>
              <a:gd name="connsiteX32" fmla="*/ 1058847 w 1424802"/>
              <a:gd name="connsiteY32" fmla="*/ 380866 h 1494558"/>
              <a:gd name="connsiteX33" fmla="*/ 1099878 w 1424802"/>
              <a:gd name="connsiteY33" fmla="*/ 416035 h 1494558"/>
              <a:gd name="connsiteX34" fmla="*/ 1129185 w 1424802"/>
              <a:gd name="connsiteY34" fmla="*/ 457066 h 1494558"/>
              <a:gd name="connsiteX35" fmla="*/ 1135047 w 1424802"/>
              <a:gd name="connsiteY35" fmla="*/ 474650 h 1494558"/>
              <a:gd name="connsiteX36" fmla="*/ 1170216 w 1424802"/>
              <a:gd name="connsiteY36" fmla="*/ 515681 h 1494558"/>
              <a:gd name="connsiteX37" fmla="*/ 1187801 w 1424802"/>
              <a:gd name="connsiteY37" fmla="*/ 539127 h 1494558"/>
              <a:gd name="connsiteX38" fmla="*/ 1211247 w 1424802"/>
              <a:gd name="connsiteY38" fmla="*/ 574296 h 1494558"/>
              <a:gd name="connsiteX39" fmla="*/ 1240555 w 1424802"/>
              <a:gd name="connsiteY39" fmla="*/ 615327 h 1494558"/>
              <a:gd name="connsiteX40" fmla="*/ 1264001 w 1424802"/>
              <a:gd name="connsiteY40" fmla="*/ 662219 h 1494558"/>
              <a:gd name="connsiteX41" fmla="*/ 1269862 w 1424802"/>
              <a:gd name="connsiteY41" fmla="*/ 679804 h 1494558"/>
              <a:gd name="connsiteX42" fmla="*/ 1287447 w 1424802"/>
              <a:gd name="connsiteY42" fmla="*/ 709112 h 1494558"/>
              <a:gd name="connsiteX43" fmla="*/ 1299170 w 1424802"/>
              <a:gd name="connsiteY43" fmla="*/ 732558 h 1494558"/>
              <a:gd name="connsiteX44" fmla="*/ 1316755 w 1424802"/>
              <a:gd name="connsiteY44" fmla="*/ 750142 h 1494558"/>
              <a:gd name="connsiteX45" fmla="*/ 1340201 w 1424802"/>
              <a:gd name="connsiteY45" fmla="*/ 791173 h 1494558"/>
              <a:gd name="connsiteX46" fmla="*/ 1351924 w 1424802"/>
              <a:gd name="connsiteY46" fmla="*/ 814619 h 1494558"/>
              <a:gd name="connsiteX47" fmla="*/ 1357785 w 1424802"/>
              <a:gd name="connsiteY47" fmla="*/ 832204 h 1494558"/>
              <a:gd name="connsiteX48" fmla="*/ 1369508 w 1424802"/>
              <a:gd name="connsiteY48" fmla="*/ 849789 h 1494558"/>
              <a:gd name="connsiteX49" fmla="*/ 1381232 w 1424802"/>
              <a:gd name="connsiteY49" fmla="*/ 879096 h 1494558"/>
              <a:gd name="connsiteX50" fmla="*/ 1398816 w 1424802"/>
              <a:gd name="connsiteY50" fmla="*/ 955296 h 1494558"/>
              <a:gd name="connsiteX51" fmla="*/ 1410539 w 1424802"/>
              <a:gd name="connsiteY51" fmla="*/ 1025635 h 1494558"/>
              <a:gd name="connsiteX52" fmla="*/ 1416401 w 1424802"/>
              <a:gd name="connsiteY52" fmla="*/ 1043219 h 1494558"/>
              <a:gd name="connsiteX53" fmla="*/ 1410539 w 1424802"/>
              <a:gd name="connsiteY53" fmla="*/ 1195619 h 1494558"/>
              <a:gd name="connsiteX54" fmla="*/ 1404287 w 1424802"/>
              <a:gd name="connsiteY54" fmla="*/ 1319245 h 1494558"/>
              <a:gd name="connsiteX55" fmla="*/ 1287447 w 1424802"/>
              <a:gd name="connsiteY55" fmla="*/ 1453527 h 1494558"/>
              <a:gd name="connsiteX56" fmla="*/ 1269862 w 1424802"/>
              <a:gd name="connsiteY56" fmla="*/ 1465250 h 1494558"/>
              <a:gd name="connsiteX57" fmla="*/ 1234693 w 1424802"/>
              <a:gd name="connsiteY57" fmla="*/ 1476973 h 1494558"/>
              <a:gd name="connsiteX58" fmla="*/ 1217108 w 1424802"/>
              <a:gd name="connsiteY58" fmla="*/ 1482835 h 1494558"/>
              <a:gd name="connsiteX59" fmla="*/ 1176078 w 1424802"/>
              <a:gd name="connsiteY59" fmla="*/ 1488696 h 1494558"/>
              <a:gd name="connsiteX60" fmla="*/ 1140908 w 1424802"/>
              <a:gd name="connsiteY60" fmla="*/ 1494558 h 1494558"/>
              <a:gd name="connsiteX61" fmla="*/ 900585 w 1424802"/>
              <a:gd name="connsiteY61" fmla="*/ 1488696 h 1494558"/>
              <a:gd name="connsiteX62" fmla="*/ 883001 w 1424802"/>
              <a:gd name="connsiteY62" fmla="*/ 1482835 h 1494558"/>
              <a:gd name="connsiteX63" fmla="*/ 800939 w 1424802"/>
              <a:gd name="connsiteY63" fmla="*/ 1476973 h 1494558"/>
              <a:gd name="connsiteX64" fmla="*/ 630955 w 1424802"/>
              <a:gd name="connsiteY64" fmla="*/ 1471112 h 1494558"/>
              <a:gd name="connsiteX65" fmla="*/ 572339 w 1424802"/>
              <a:gd name="connsiteY65" fmla="*/ 1465250 h 1494558"/>
              <a:gd name="connsiteX66" fmla="*/ 476812 w 1424802"/>
              <a:gd name="connsiteY66" fmla="*/ 1471112 h 1494558"/>
              <a:gd name="connsiteX67" fmla="*/ 155426 w 1424802"/>
              <a:gd name="connsiteY67" fmla="*/ 1441804 h 1494558"/>
              <a:gd name="connsiteX68" fmla="*/ 83418 w 1424802"/>
              <a:gd name="connsiteY68" fmla="*/ 1369796 h 1494558"/>
              <a:gd name="connsiteX69" fmla="*/ 50662 w 1424802"/>
              <a:gd name="connsiteY69" fmla="*/ 1318712 h 1494558"/>
              <a:gd name="connsiteX70" fmla="*/ 33078 w 1424802"/>
              <a:gd name="connsiteY70" fmla="*/ 1301127 h 1494558"/>
              <a:gd name="connsiteX71" fmla="*/ 21355 w 1424802"/>
              <a:gd name="connsiteY71" fmla="*/ 1260096 h 1494558"/>
              <a:gd name="connsiteX72" fmla="*/ 9632 w 1424802"/>
              <a:gd name="connsiteY72" fmla="*/ 1213204 h 1494558"/>
              <a:gd name="connsiteX73" fmla="*/ 9632 w 1424802"/>
              <a:gd name="connsiteY73" fmla="*/ 1013912 h 1494558"/>
              <a:gd name="connsiteX74" fmla="*/ 15493 w 1424802"/>
              <a:gd name="connsiteY74" fmla="*/ 996327 h 1494558"/>
              <a:gd name="connsiteX75" fmla="*/ 21355 w 1424802"/>
              <a:gd name="connsiteY75" fmla="*/ 943573 h 1494558"/>
              <a:gd name="connsiteX76" fmla="*/ 27216 w 1424802"/>
              <a:gd name="connsiteY76" fmla="*/ 925989 h 1494558"/>
              <a:gd name="connsiteX77" fmla="*/ 33078 w 1424802"/>
              <a:gd name="connsiteY77" fmla="*/ 890819 h 1494558"/>
              <a:gd name="connsiteX78" fmla="*/ 50662 w 1424802"/>
              <a:gd name="connsiteY78" fmla="*/ 849789 h 1494558"/>
              <a:gd name="connsiteX79" fmla="*/ 62385 w 1424802"/>
              <a:gd name="connsiteY79" fmla="*/ 808758 h 1494558"/>
              <a:gd name="connsiteX80" fmla="*/ 74108 w 1424802"/>
              <a:gd name="connsiteY80" fmla="*/ 785312 h 1494558"/>
              <a:gd name="connsiteX81" fmla="*/ 85832 w 1424802"/>
              <a:gd name="connsiteY81" fmla="*/ 744281 h 1494558"/>
              <a:gd name="connsiteX82" fmla="*/ 91693 w 1424802"/>
              <a:gd name="connsiteY82" fmla="*/ 726696 h 1494558"/>
              <a:gd name="connsiteX83" fmla="*/ 97555 w 1424802"/>
              <a:gd name="connsiteY83" fmla="*/ 697389 h 1494558"/>
              <a:gd name="connsiteX84" fmla="*/ 103416 w 1424802"/>
              <a:gd name="connsiteY84" fmla="*/ 679804 h 1494558"/>
              <a:gd name="connsiteX85" fmla="*/ 102366 w 1424802"/>
              <a:gd name="connsiteY85" fmla="*/ 617173 h 1494558"/>
              <a:gd name="connsiteX86" fmla="*/ 83418 w 1424802"/>
              <a:gd name="connsiteY86" fmla="*/ 505700 h 1494558"/>
              <a:gd name="connsiteX87" fmla="*/ 83418 w 1424802"/>
              <a:gd name="connsiteY87" fmla="*/ 361684 h 1494558"/>
              <a:gd name="connsiteX88" fmla="*/ 85832 w 1424802"/>
              <a:gd name="connsiteY88" fmla="*/ 333973 h 1494558"/>
              <a:gd name="connsiteX89" fmla="*/ 79970 w 1424802"/>
              <a:gd name="connsiteY89" fmla="*/ 316389 h 1494558"/>
              <a:gd name="connsiteX0" fmla="*/ 79970 w 1424802"/>
              <a:gd name="connsiteY0" fmla="*/ 316389 h 1494558"/>
              <a:gd name="connsiteX1" fmla="*/ 97555 w 1424802"/>
              <a:gd name="connsiteY1" fmla="*/ 263635 h 1494558"/>
              <a:gd name="connsiteX2" fmla="*/ 103416 w 1424802"/>
              <a:gd name="connsiteY2" fmla="*/ 246050 h 1494558"/>
              <a:gd name="connsiteX3" fmla="*/ 109278 w 1424802"/>
              <a:gd name="connsiteY3" fmla="*/ 222604 h 1494558"/>
              <a:gd name="connsiteX4" fmla="*/ 132724 w 1424802"/>
              <a:gd name="connsiteY4" fmla="*/ 187435 h 1494558"/>
              <a:gd name="connsiteX5" fmla="*/ 82870 w 1424802"/>
              <a:gd name="connsiteY5" fmla="*/ 145679 h 1494558"/>
              <a:gd name="connsiteX6" fmla="*/ 197201 w 1424802"/>
              <a:gd name="connsiteY6" fmla="*/ 140542 h 1494558"/>
              <a:gd name="connsiteX7" fmla="*/ 226508 w 1424802"/>
              <a:gd name="connsiteY7" fmla="*/ 122958 h 1494558"/>
              <a:gd name="connsiteX8" fmla="*/ 261678 w 1424802"/>
              <a:gd name="connsiteY8" fmla="*/ 111235 h 1494558"/>
              <a:gd name="connsiteX9" fmla="*/ 308570 w 1424802"/>
              <a:gd name="connsiteY9" fmla="*/ 93650 h 1494558"/>
              <a:gd name="connsiteX10" fmla="*/ 326155 w 1424802"/>
              <a:gd name="connsiteY10" fmla="*/ 87789 h 1494558"/>
              <a:gd name="connsiteX11" fmla="*/ 367185 w 1424802"/>
              <a:gd name="connsiteY11" fmla="*/ 81927 h 1494558"/>
              <a:gd name="connsiteX12" fmla="*/ 443116 w 1424802"/>
              <a:gd name="connsiteY12" fmla="*/ 1626 h 1494558"/>
              <a:gd name="connsiteX13" fmla="*/ 607508 w 1424802"/>
              <a:gd name="connsiteY13" fmla="*/ 81927 h 1494558"/>
              <a:gd name="connsiteX14" fmla="*/ 659264 w 1424802"/>
              <a:gd name="connsiteY14" fmla="*/ 1626 h 1494558"/>
              <a:gd name="connsiteX15" fmla="*/ 671985 w 1424802"/>
              <a:gd name="connsiteY15" fmla="*/ 99512 h 1494558"/>
              <a:gd name="connsiteX16" fmla="*/ 695432 w 1424802"/>
              <a:gd name="connsiteY16" fmla="*/ 105373 h 1494558"/>
              <a:gd name="connsiteX17" fmla="*/ 718878 w 1424802"/>
              <a:gd name="connsiteY17" fmla="*/ 117096 h 1494558"/>
              <a:gd name="connsiteX18" fmla="*/ 754047 w 1424802"/>
              <a:gd name="connsiteY18" fmla="*/ 128819 h 1494558"/>
              <a:gd name="connsiteX19" fmla="*/ 771632 w 1424802"/>
              <a:gd name="connsiteY19" fmla="*/ 140542 h 1494558"/>
              <a:gd name="connsiteX20" fmla="*/ 789216 w 1424802"/>
              <a:gd name="connsiteY20" fmla="*/ 158127 h 1494558"/>
              <a:gd name="connsiteX21" fmla="*/ 824385 w 1424802"/>
              <a:gd name="connsiteY21" fmla="*/ 169850 h 1494558"/>
              <a:gd name="connsiteX22" fmla="*/ 841970 w 1424802"/>
              <a:gd name="connsiteY22" fmla="*/ 187435 h 1494558"/>
              <a:gd name="connsiteX23" fmla="*/ 847832 w 1424802"/>
              <a:gd name="connsiteY23" fmla="*/ 205019 h 1494558"/>
              <a:gd name="connsiteX24" fmla="*/ 865416 w 1424802"/>
              <a:gd name="connsiteY24" fmla="*/ 210881 h 1494558"/>
              <a:gd name="connsiteX25" fmla="*/ 906447 w 1424802"/>
              <a:gd name="connsiteY25" fmla="*/ 246050 h 1494558"/>
              <a:gd name="connsiteX26" fmla="*/ 918170 w 1424802"/>
              <a:gd name="connsiteY26" fmla="*/ 263635 h 1494558"/>
              <a:gd name="connsiteX27" fmla="*/ 935755 w 1424802"/>
              <a:gd name="connsiteY27" fmla="*/ 275358 h 1494558"/>
              <a:gd name="connsiteX28" fmla="*/ 959201 w 1424802"/>
              <a:gd name="connsiteY28" fmla="*/ 292942 h 1494558"/>
              <a:gd name="connsiteX29" fmla="*/ 976785 w 1424802"/>
              <a:gd name="connsiteY29" fmla="*/ 304666 h 1494558"/>
              <a:gd name="connsiteX30" fmla="*/ 994370 w 1424802"/>
              <a:gd name="connsiteY30" fmla="*/ 328112 h 1494558"/>
              <a:gd name="connsiteX31" fmla="*/ 1035401 w 1424802"/>
              <a:gd name="connsiteY31" fmla="*/ 351558 h 1494558"/>
              <a:gd name="connsiteX32" fmla="*/ 1058847 w 1424802"/>
              <a:gd name="connsiteY32" fmla="*/ 380866 h 1494558"/>
              <a:gd name="connsiteX33" fmla="*/ 1099878 w 1424802"/>
              <a:gd name="connsiteY33" fmla="*/ 416035 h 1494558"/>
              <a:gd name="connsiteX34" fmla="*/ 1129185 w 1424802"/>
              <a:gd name="connsiteY34" fmla="*/ 457066 h 1494558"/>
              <a:gd name="connsiteX35" fmla="*/ 1135047 w 1424802"/>
              <a:gd name="connsiteY35" fmla="*/ 474650 h 1494558"/>
              <a:gd name="connsiteX36" fmla="*/ 1170216 w 1424802"/>
              <a:gd name="connsiteY36" fmla="*/ 515681 h 1494558"/>
              <a:gd name="connsiteX37" fmla="*/ 1187801 w 1424802"/>
              <a:gd name="connsiteY37" fmla="*/ 539127 h 1494558"/>
              <a:gd name="connsiteX38" fmla="*/ 1211247 w 1424802"/>
              <a:gd name="connsiteY38" fmla="*/ 574296 h 1494558"/>
              <a:gd name="connsiteX39" fmla="*/ 1240555 w 1424802"/>
              <a:gd name="connsiteY39" fmla="*/ 615327 h 1494558"/>
              <a:gd name="connsiteX40" fmla="*/ 1264001 w 1424802"/>
              <a:gd name="connsiteY40" fmla="*/ 662219 h 1494558"/>
              <a:gd name="connsiteX41" fmla="*/ 1269862 w 1424802"/>
              <a:gd name="connsiteY41" fmla="*/ 679804 h 1494558"/>
              <a:gd name="connsiteX42" fmla="*/ 1287447 w 1424802"/>
              <a:gd name="connsiteY42" fmla="*/ 709112 h 1494558"/>
              <a:gd name="connsiteX43" fmla="*/ 1299170 w 1424802"/>
              <a:gd name="connsiteY43" fmla="*/ 732558 h 1494558"/>
              <a:gd name="connsiteX44" fmla="*/ 1316755 w 1424802"/>
              <a:gd name="connsiteY44" fmla="*/ 750142 h 1494558"/>
              <a:gd name="connsiteX45" fmla="*/ 1340201 w 1424802"/>
              <a:gd name="connsiteY45" fmla="*/ 791173 h 1494558"/>
              <a:gd name="connsiteX46" fmla="*/ 1351924 w 1424802"/>
              <a:gd name="connsiteY46" fmla="*/ 814619 h 1494558"/>
              <a:gd name="connsiteX47" fmla="*/ 1357785 w 1424802"/>
              <a:gd name="connsiteY47" fmla="*/ 832204 h 1494558"/>
              <a:gd name="connsiteX48" fmla="*/ 1369508 w 1424802"/>
              <a:gd name="connsiteY48" fmla="*/ 849789 h 1494558"/>
              <a:gd name="connsiteX49" fmla="*/ 1381232 w 1424802"/>
              <a:gd name="connsiteY49" fmla="*/ 879096 h 1494558"/>
              <a:gd name="connsiteX50" fmla="*/ 1398816 w 1424802"/>
              <a:gd name="connsiteY50" fmla="*/ 955296 h 1494558"/>
              <a:gd name="connsiteX51" fmla="*/ 1410539 w 1424802"/>
              <a:gd name="connsiteY51" fmla="*/ 1025635 h 1494558"/>
              <a:gd name="connsiteX52" fmla="*/ 1416401 w 1424802"/>
              <a:gd name="connsiteY52" fmla="*/ 1043219 h 1494558"/>
              <a:gd name="connsiteX53" fmla="*/ 1410539 w 1424802"/>
              <a:gd name="connsiteY53" fmla="*/ 1195619 h 1494558"/>
              <a:gd name="connsiteX54" fmla="*/ 1404287 w 1424802"/>
              <a:gd name="connsiteY54" fmla="*/ 1319245 h 1494558"/>
              <a:gd name="connsiteX55" fmla="*/ 1287447 w 1424802"/>
              <a:gd name="connsiteY55" fmla="*/ 1453527 h 1494558"/>
              <a:gd name="connsiteX56" fmla="*/ 1269862 w 1424802"/>
              <a:gd name="connsiteY56" fmla="*/ 1465250 h 1494558"/>
              <a:gd name="connsiteX57" fmla="*/ 1234693 w 1424802"/>
              <a:gd name="connsiteY57" fmla="*/ 1476973 h 1494558"/>
              <a:gd name="connsiteX58" fmla="*/ 1217108 w 1424802"/>
              <a:gd name="connsiteY58" fmla="*/ 1482835 h 1494558"/>
              <a:gd name="connsiteX59" fmla="*/ 1176078 w 1424802"/>
              <a:gd name="connsiteY59" fmla="*/ 1488696 h 1494558"/>
              <a:gd name="connsiteX60" fmla="*/ 1140908 w 1424802"/>
              <a:gd name="connsiteY60" fmla="*/ 1494558 h 1494558"/>
              <a:gd name="connsiteX61" fmla="*/ 900585 w 1424802"/>
              <a:gd name="connsiteY61" fmla="*/ 1488696 h 1494558"/>
              <a:gd name="connsiteX62" fmla="*/ 883001 w 1424802"/>
              <a:gd name="connsiteY62" fmla="*/ 1482835 h 1494558"/>
              <a:gd name="connsiteX63" fmla="*/ 800939 w 1424802"/>
              <a:gd name="connsiteY63" fmla="*/ 1476973 h 1494558"/>
              <a:gd name="connsiteX64" fmla="*/ 630955 w 1424802"/>
              <a:gd name="connsiteY64" fmla="*/ 1471112 h 1494558"/>
              <a:gd name="connsiteX65" fmla="*/ 572339 w 1424802"/>
              <a:gd name="connsiteY65" fmla="*/ 1465250 h 1494558"/>
              <a:gd name="connsiteX66" fmla="*/ 476812 w 1424802"/>
              <a:gd name="connsiteY66" fmla="*/ 1471112 h 1494558"/>
              <a:gd name="connsiteX67" fmla="*/ 155426 w 1424802"/>
              <a:gd name="connsiteY67" fmla="*/ 1441804 h 1494558"/>
              <a:gd name="connsiteX68" fmla="*/ 83418 w 1424802"/>
              <a:gd name="connsiteY68" fmla="*/ 1369796 h 1494558"/>
              <a:gd name="connsiteX69" fmla="*/ 50662 w 1424802"/>
              <a:gd name="connsiteY69" fmla="*/ 1318712 h 1494558"/>
              <a:gd name="connsiteX70" fmla="*/ 33078 w 1424802"/>
              <a:gd name="connsiteY70" fmla="*/ 1301127 h 1494558"/>
              <a:gd name="connsiteX71" fmla="*/ 21355 w 1424802"/>
              <a:gd name="connsiteY71" fmla="*/ 1260096 h 1494558"/>
              <a:gd name="connsiteX72" fmla="*/ 9632 w 1424802"/>
              <a:gd name="connsiteY72" fmla="*/ 1213204 h 1494558"/>
              <a:gd name="connsiteX73" fmla="*/ 9632 w 1424802"/>
              <a:gd name="connsiteY73" fmla="*/ 1013912 h 1494558"/>
              <a:gd name="connsiteX74" fmla="*/ 15493 w 1424802"/>
              <a:gd name="connsiteY74" fmla="*/ 996327 h 1494558"/>
              <a:gd name="connsiteX75" fmla="*/ 21355 w 1424802"/>
              <a:gd name="connsiteY75" fmla="*/ 943573 h 1494558"/>
              <a:gd name="connsiteX76" fmla="*/ 27216 w 1424802"/>
              <a:gd name="connsiteY76" fmla="*/ 925989 h 1494558"/>
              <a:gd name="connsiteX77" fmla="*/ 33078 w 1424802"/>
              <a:gd name="connsiteY77" fmla="*/ 890819 h 1494558"/>
              <a:gd name="connsiteX78" fmla="*/ 50662 w 1424802"/>
              <a:gd name="connsiteY78" fmla="*/ 849789 h 1494558"/>
              <a:gd name="connsiteX79" fmla="*/ 62385 w 1424802"/>
              <a:gd name="connsiteY79" fmla="*/ 808758 h 1494558"/>
              <a:gd name="connsiteX80" fmla="*/ 74108 w 1424802"/>
              <a:gd name="connsiteY80" fmla="*/ 785312 h 1494558"/>
              <a:gd name="connsiteX81" fmla="*/ 85832 w 1424802"/>
              <a:gd name="connsiteY81" fmla="*/ 744281 h 1494558"/>
              <a:gd name="connsiteX82" fmla="*/ 91693 w 1424802"/>
              <a:gd name="connsiteY82" fmla="*/ 726696 h 1494558"/>
              <a:gd name="connsiteX83" fmla="*/ 97555 w 1424802"/>
              <a:gd name="connsiteY83" fmla="*/ 697389 h 1494558"/>
              <a:gd name="connsiteX84" fmla="*/ 103416 w 1424802"/>
              <a:gd name="connsiteY84" fmla="*/ 679804 h 1494558"/>
              <a:gd name="connsiteX85" fmla="*/ 102366 w 1424802"/>
              <a:gd name="connsiteY85" fmla="*/ 617173 h 1494558"/>
              <a:gd name="connsiteX86" fmla="*/ 83418 w 1424802"/>
              <a:gd name="connsiteY86" fmla="*/ 505700 h 1494558"/>
              <a:gd name="connsiteX87" fmla="*/ 83418 w 1424802"/>
              <a:gd name="connsiteY87" fmla="*/ 361684 h 1494558"/>
              <a:gd name="connsiteX88" fmla="*/ 85832 w 1424802"/>
              <a:gd name="connsiteY88" fmla="*/ 333973 h 1494558"/>
              <a:gd name="connsiteX89" fmla="*/ 79970 w 1424802"/>
              <a:gd name="connsiteY89" fmla="*/ 316389 h 1494558"/>
              <a:gd name="connsiteX0" fmla="*/ 79970 w 1424802"/>
              <a:gd name="connsiteY0" fmla="*/ 317472 h 1495641"/>
              <a:gd name="connsiteX1" fmla="*/ 97555 w 1424802"/>
              <a:gd name="connsiteY1" fmla="*/ 264718 h 1495641"/>
              <a:gd name="connsiteX2" fmla="*/ 103416 w 1424802"/>
              <a:gd name="connsiteY2" fmla="*/ 247133 h 1495641"/>
              <a:gd name="connsiteX3" fmla="*/ 109278 w 1424802"/>
              <a:gd name="connsiteY3" fmla="*/ 223687 h 1495641"/>
              <a:gd name="connsiteX4" fmla="*/ 132724 w 1424802"/>
              <a:gd name="connsiteY4" fmla="*/ 188518 h 1495641"/>
              <a:gd name="connsiteX5" fmla="*/ 82870 w 1424802"/>
              <a:gd name="connsiteY5" fmla="*/ 146762 h 1495641"/>
              <a:gd name="connsiteX6" fmla="*/ 197201 w 1424802"/>
              <a:gd name="connsiteY6" fmla="*/ 141625 h 1495641"/>
              <a:gd name="connsiteX7" fmla="*/ 226508 w 1424802"/>
              <a:gd name="connsiteY7" fmla="*/ 124041 h 1495641"/>
              <a:gd name="connsiteX8" fmla="*/ 261678 w 1424802"/>
              <a:gd name="connsiteY8" fmla="*/ 112318 h 1495641"/>
              <a:gd name="connsiteX9" fmla="*/ 308570 w 1424802"/>
              <a:gd name="connsiteY9" fmla="*/ 94733 h 1495641"/>
              <a:gd name="connsiteX10" fmla="*/ 299018 w 1424802"/>
              <a:gd name="connsiteY10" fmla="*/ 2709 h 1495641"/>
              <a:gd name="connsiteX11" fmla="*/ 367185 w 1424802"/>
              <a:gd name="connsiteY11" fmla="*/ 83010 h 1495641"/>
              <a:gd name="connsiteX12" fmla="*/ 443116 w 1424802"/>
              <a:gd name="connsiteY12" fmla="*/ 2709 h 1495641"/>
              <a:gd name="connsiteX13" fmla="*/ 607508 w 1424802"/>
              <a:gd name="connsiteY13" fmla="*/ 83010 h 1495641"/>
              <a:gd name="connsiteX14" fmla="*/ 659264 w 1424802"/>
              <a:gd name="connsiteY14" fmla="*/ 2709 h 1495641"/>
              <a:gd name="connsiteX15" fmla="*/ 671985 w 1424802"/>
              <a:gd name="connsiteY15" fmla="*/ 100595 h 1495641"/>
              <a:gd name="connsiteX16" fmla="*/ 695432 w 1424802"/>
              <a:gd name="connsiteY16" fmla="*/ 106456 h 1495641"/>
              <a:gd name="connsiteX17" fmla="*/ 718878 w 1424802"/>
              <a:gd name="connsiteY17" fmla="*/ 118179 h 1495641"/>
              <a:gd name="connsiteX18" fmla="*/ 754047 w 1424802"/>
              <a:gd name="connsiteY18" fmla="*/ 129902 h 1495641"/>
              <a:gd name="connsiteX19" fmla="*/ 771632 w 1424802"/>
              <a:gd name="connsiteY19" fmla="*/ 141625 h 1495641"/>
              <a:gd name="connsiteX20" fmla="*/ 789216 w 1424802"/>
              <a:gd name="connsiteY20" fmla="*/ 159210 h 1495641"/>
              <a:gd name="connsiteX21" fmla="*/ 824385 w 1424802"/>
              <a:gd name="connsiteY21" fmla="*/ 170933 h 1495641"/>
              <a:gd name="connsiteX22" fmla="*/ 841970 w 1424802"/>
              <a:gd name="connsiteY22" fmla="*/ 188518 h 1495641"/>
              <a:gd name="connsiteX23" fmla="*/ 847832 w 1424802"/>
              <a:gd name="connsiteY23" fmla="*/ 206102 h 1495641"/>
              <a:gd name="connsiteX24" fmla="*/ 865416 w 1424802"/>
              <a:gd name="connsiteY24" fmla="*/ 211964 h 1495641"/>
              <a:gd name="connsiteX25" fmla="*/ 906447 w 1424802"/>
              <a:gd name="connsiteY25" fmla="*/ 247133 h 1495641"/>
              <a:gd name="connsiteX26" fmla="*/ 918170 w 1424802"/>
              <a:gd name="connsiteY26" fmla="*/ 264718 h 1495641"/>
              <a:gd name="connsiteX27" fmla="*/ 935755 w 1424802"/>
              <a:gd name="connsiteY27" fmla="*/ 276441 h 1495641"/>
              <a:gd name="connsiteX28" fmla="*/ 959201 w 1424802"/>
              <a:gd name="connsiteY28" fmla="*/ 294025 h 1495641"/>
              <a:gd name="connsiteX29" fmla="*/ 976785 w 1424802"/>
              <a:gd name="connsiteY29" fmla="*/ 305749 h 1495641"/>
              <a:gd name="connsiteX30" fmla="*/ 994370 w 1424802"/>
              <a:gd name="connsiteY30" fmla="*/ 329195 h 1495641"/>
              <a:gd name="connsiteX31" fmla="*/ 1035401 w 1424802"/>
              <a:gd name="connsiteY31" fmla="*/ 352641 h 1495641"/>
              <a:gd name="connsiteX32" fmla="*/ 1058847 w 1424802"/>
              <a:gd name="connsiteY32" fmla="*/ 381949 h 1495641"/>
              <a:gd name="connsiteX33" fmla="*/ 1099878 w 1424802"/>
              <a:gd name="connsiteY33" fmla="*/ 417118 h 1495641"/>
              <a:gd name="connsiteX34" fmla="*/ 1129185 w 1424802"/>
              <a:gd name="connsiteY34" fmla="*/ 458149 h 1495641"/>
              <a:gd name="connsiteX35" fmla="*/ 1135047 w 1424802"/>
              <a:gd name="connsiteY35" fmla="*/ 475733 h 1495641"/>
              <a:gd name="connsiteX36" fmla="*/ 1170216 w 1424802"/>
              <a:gd name="connsiteY36" fmla="*/ 516764 h 1495641"/>
              <a:gd name="connsiteX37" fmla="*/ 1187801 w 1424802"/>
              <a:gd name="connsiteY37" fmla="*/ 540210 h 1495641"/>
              <a:gd name="connsiteX38" fmla="*/ 1211247 w 1424802"/>
              <a:gd name="connsiteY38" fmla="*/ 575379 h 1495641"/>
              <a:gd name="connsiteX39" fmla="*/ 1240555 w 1424802"/>
              <a:gd name="connsiteY39" fmla="*/ 616410 h 1495641"/>
              <a:gd name="connsiteX40" fmla="*/ 1264001 w 1424802"/>
              <a:gd name="connsiteY40" fmla="*/ 663302 h 1495641"/>
              <a:gd name="connsiteX41" fmla="*/ 1269862 w 1424802"/>
              <a:gd name="connsiteY41" fmla="*/ 680887 h 1495641"/>
              <a:gd name="connsiteX42" fmla="*/ 1287447 w 1424802"/>
              <a:gd name="connsiteY42" fmla="*/ 710195 h 1495641"/>
              <a:gd name="connsiteX43" fmla="*/ 1299170 w 1424802"/>
              <a:gd name="connsiteY43" fmla="*/ 733641 h 1495641"/>
              <a:gd name="connsiteX44" fmla="*/ 1316755 w 1424802"/>
              <a:gd name="connsiteY44" fmla="*/ 751225 h 1495641"/>
              <a:gd name="connsiteX45" fmla="*/ 1340201 w 1424802"/>
              <a:gd name="connsiteY45" fmla="*/ 792256 h 1495641"/>
              <a:gd name="connsiteX46" fmla="*/ 1351924 w 1424802"/>
              <a:gd name="connsiteY46" fmla="*/ 815702 h 1495641"/>
              <a:gd name="connsiteX47" fmla="*/ 1357785 w 1424802"/>
              <a:gd name="connsiteY47" fmla="*/ 833287 h 1495641"/>
              <a:gd name="connsiteX48" fmla="*/ 1369508 w 1424802"/>
              <a:gd name="connsiteY48" fmla="*/ 850872 h 1495641"/>
              <a:gd name="connsiteX49" fmla="*/ 1381232 w 1424802"/>
              <a:gd name="connsiteY49" fmla="*/ 880179 h 1495641"/>
              <a:gd name="connsiteX50" fmla="*/ 1398816 w 1424802"/>
              <a:gd name="connsiteY50" fmla="*/ 956379 h 1495641"/>
              <a:gd name="connsiteX51" fmla="*/ 1410539 w 1424802"/>
              <a:gd name="connsiteY51" fmla="*/ 1026718 h 1495641"/>
              <a:gd name="connsiteX52" fmla="*/ 1416401 w 1424802"/>
              <a:gd name="connsiteY52" fmla="*/ 1044302 h 1495641"/>
              <a:gd name="connsiteX53" fmla="*/ 1410539 w 1424802"/>
              <a:gd name="connsiteY53" fmla="*/ 1196702 h 1495641"/>
              <a:gd name="connsiteX54" fmla="*/ 1404287 w 1424802"/>
              <a:gd name="connsiteY54" fmla="*/ 1320328 h 1495641"/>
              <a:gd name="connsiteX55" fmla="*/ 1287447 w 1424802"/>
              <a:gd name="connsiteY55" fmla="*/ 1454610 h 1495641"/>
              <a:gd name="connsiteX56" fmla="*/ 1269862 w 1424802"/>
              <a:gd name="connsiteY56" fmla="*/ 1466333 h 1495641"/>
              <a:gd name="connsiteX57" fmla="*/ 1234693 w 1424802"/>
              <a:gd name="connsiteY57" fmla="*/ 1478056 h 1495641"/>
              <a:gd name="connsiteX58" fmla="*/ 1217108 w 1424802"/>
              <a:gd name="connsiteY58" fmla="*/ 1483918 h 1495641"/>
              <a:gd name="connsiteX59" fmla="*/ 1176078 w 1424802"/>
              <a:gd name="connsiteY59" fmla="*/ 1489779 h 1495641"/>
              <a:gd name="connsiteX60" fmla="*/ 1140908 w 1424802"/>
              <a:gd name="connsiteY60" fmla="*/ 1495641 h 1495641"/>
              <a:gd name="connsiteX61" fmla="*/ 900585 w 1424802"/>
              <a:gd name="connsiteY61" fmla="*/ 1489779 h 1495641"/>
              <a:gd name="connsiteX62" fmla="*/ 883001 w 1424802"/>
              <a:gd name="connsiteY62" fmla="*/ 1483918 h 1495641"/>
              <a:gd name="connsiteX63" fmla="*/ 800939 w 1424802"/>
              <a:gd name="connsiteY63" fmla="*/ 1478056 h 1495641"/>
              <a:gd name="connsiteX64" fmla="*/ 630955 w 1424802"/>
              <a:gd name="connsiteY64" fmla="*/ 1472195 h 1495641"/>
              <a:gd name="connsiteX65" fmla="*/ 572339 w 1424802"/>
              <a:gd name="connsiteY65" fmla="*/ 1466333 h 1495641"/>
              <a:gd name="connsiteX66" fmla="*/ 476812 w 1424802"/>
              <a:gd name="connsiteY66" fmla="*/ 1472195 h 1495641"/>
              <a:gd name="connsiteX67" fmla="*/ 155426 w 1424802"/>
              <a:gd name="connsiteY67" fmla="*/ 1442887 h 1495641"/>
              <a:gd name="connsiteX68" fmla="*/ 83418 w 1424802"/>
              <a:gd name="connsiteY68" fmla="*/ 1370879 h 1495641"/>
              <a:gd name="connsiteX69" fmla="*/ 50662 w 1424802"/>
              <a:gd name="connsiteY69" fmla="*/ 1319795 h 1495641"/>
              <a:gd name="connsiteX70" fmla="*/ 33078 w 1424802"/>
              <a:gd name="connsiteY70" fmla="*/ 1302210 h 1495641"/>
              <a:gd name="connsiteX71" fmla="*/ 21355 w 1424802"/>
              <a:gd name="connsiteY71" fmla="*/ 1261179 h 1495641"/>
              <a:gd name="connsiteX72" fmla="*/ 9632 w 1424802"/>
              <a:gd name="connsiteY72" fmla="*/ 1214287 h 1495641"/>
              <a:gd name="connsiteX73" fmla="*/ 9632 w 1424802"/>
              <a:gd name="connsiteY73" fmla="*/ 1014995 h 1495641"/>
              <a:gd name="connsiteX74" fmla="*/ 15493 w 1424802"/>
              <a:gd name="connsiteY74" fmla="*/ 997410 h 1495641"/>
              <a:gd name="connsiteX75" fmla="*/ 21355 w 1424802"/>
              <a:gd name="connsiteY75" fmla="*/ 944656 h 1495641"/>
              <a:gd name="connsiteX76" fmla="*/ 27216 w 1424802"/>
              <a:gd name="connsiteY76" fmla="*/ 927072 h 1495641"/>
              <a:gd name="connsiteX77" fmla="*/ 33078 w 1424802"/>
              <a:gd name="connsiteY77" fmla="*/ 891902 h 1495641"/>
              <a:gd name="connsiteX78" fmla="*/ 50662 w 1424802"/>
              <a:gd name="connsiteY78" fmla="*/ 850872 h 1495641"/>
              <a:gd name="connsiteX79" fmla="*/ 62385 w 1424802"/>
              <a:gd name="connsiteY79" fmla="*/ 809841 h 1495641"/>
              <a:gd name="connsiteX80" fmla="*/ 74108 w 1424802"/>
              <a:gd name="connsiteY80" fmla="*/ 786395 h 1495641"/>
              <a:gd name="connsiteX81" fmla="*/ 85832 w 1424802"/>
              <a:gd name="connsiteY81" fmla="*/ 745364 h 1495641"/>
              <a:gd name="connsiteX82" fmla="*/ 91693 w 1424802"/>
              <a:gd name="connsiteY82" fmla="*/ 727779 h 1495641"/>
              <a:gd name="connsiteX83" fmla="*/ 97555 w 1424802"/>
              <a:gd name="connsiteY83" fmla="*/ 698472 h 1495641"/>
              <a:gd name="connsiteX84" fmla="*/ 103416 w 1424802"/>
              <a:gd name="connsiteY84" fmla="*/ 680887 h 1495641"/>
              <a:gd name="connsiteX85" fmla="*/ 102366 w 1424802"/>
              <a:gd name="connsiteY85" fmla="*/ 618256 h 1495641"/>
              <a:gd name="connsiteX86" fmla="*/ 83418 w 1424802"/>
              <a:gd name="connsiteY86" fmla="*/ 506783 h 1495641"/>
              <a:gd name="connsiteX87" fmla="*/ 83418 w 1424802"/>
              <a:gd name="connsiteY87" fmla="*/ 362767 h 1495641"/>
              <a:gd name="connsiteX88" fmla="*/ 85832 w 1424802"/>
              <a:gd name="connsiteY88" fmla="*/ 335056 h 1495641"/>
              <a:gd name="connsiteX89" fmla="*/ 79970 w 1424802"/>
              <a:gd name="connsiteY89" fmla="*/ 317472 h 1495641"/>
              <a:gd name="connsiteX0" fmla="*/ 79970 w 1424802"/>
              <a:gd name="connsiteY0" fmla="*/ 321103 h 1499272"/>
              <a:gd name="connsiteX1" fmla="*/ 97555 w 1424802"/>
              <a:gd name="connsiteY1" fmla="*/ 268349 h 1499272"/>
              <a:gd name="connsiteX2" fmla="*/ 103416 w 1424802"/>
              <a:gd name="connsiteY2" fmla="*/ 250764 h 1499272"/>
              <a:gd name="connsiteX3" fmla="*/ 109278 w 1424802"/>
              <a:gd name="connsiteY3" fmla="*/ 227318 h 1499272"/>
              <a:gd name="connsiteX4" fmla="*/ 132724 w 1424802"/>
              <a:gd name="connsiteY4" fmla="*/ 192149 h 1499272"/>
              <a:gd name="connsiteX5" fmla="*/ 82870 w 1424802"/>
              <a:gd name="connsiteY5" fmla="*/ 150393 h 1499272"/>
              <a:gd name="connsiteX6" fmla="*/ 197201 w 1424802"/>
              <a:gd name="connsiteY6" fmla="*/ 145256 h 1499272"/>
              <a:gd name="connsiteX7" fmla="*/ 226508 w 1424802"/>
              <a:gd name="connsiteY7" fmla="*/ 127672 h 1499272"/>
              <a:gd name="connsiteX8" fmla="*/ 261678 w 1424802"/>
              <a:gd name="connsiteY8" fmla="*/ 115949 h 1499272"/>
              <a:gd name="connsiteX9" fmla="*/ 308570 w 1424802"/>
              <a:gd name="connsiteY9" fmla="*/ 98364 h 1499272"/>
              <a:gd name="connsiteX10" fmla="*/ 299018 w 1424802"/>
              <a:gd name="connsiteY10" fmla="*/ 6340 h 1499272"/>
              <a:gd name="connsiteX11" fmla="*/ 371067 w 1424802"/>
              <a:gd name="connsiteY11" fmla="*/ 6342 h 1499272"/>
              <a:gd name="connsiteX12" fmla="*/ 443116 w 1424802"/>
              <a:gd name="connsiteY12" fmla="*/ 6340 h 1499272"/>
              <a:gd name="connsiteX13" fmla="*/ 607508 w 1424802"/>
              <a:gd name="connsiteY13" fmla="*/ 86641 h 1499272"/>
              <a:gd name="connsiteX14" fmla="*/ 659264 w 1424802"/>
              <a:gd name="connsiteY14" fmla="*/ 6340 h 1499272"/>
              <a:gd name="connsiteX15" fmla="*/ 671985 w 1424802"/>
              <a:gd name="connsiteY15" fmla="*/ 104226 h 1499272"/>
              <a:gd name="connsiteX16" fmla="*/ 695432 w 1424802"/>
              <a:gd name="connsiteY16" fmla="*/ 110087 h 1499272"/>
              <a:gd name="connsiteX17" fmla="*/ 718878 w 1424802"/>
              <a:gd name="connsiteY17" fmla="*/ 121810 h 1499272"/>
              <a:gd name="connsiteX18" fmla="*/ 754047 w 1424802"/>
              <a:gd name="connsiteY18" fmla="*/ 133533 h 1499272"/>
              <a:gd name="connsiteX19" fmla="*/ 771632 w 1424802"/>
              <a:gd name="connsiteY19" fmla="*/ 145256 h 1499272"/>
              <a:gd name="connsiteX20" fmla="*/ 789216 w 1424802"/>
              <a:gd name="connsiteY20" fmla="*/ 162841 h 1499272"/>
              <a:gd name="connsiteX21" fmla="*/ 824385 w 1424802"/>
              <a:gd name="connsiteY21" fmla="*/ 174564 h 1499272"/>
              <a:gd name="connsiteX22" fmla="*/ 841970 w 1424802"/>
              <a:gd name="connsiteY22" fmla="*/ 192149 h 1499272"/>
              <a:gd name="connsiteX23" fmla="*/ 847832 w 1424802"/>
              <a:gd name="connsiteY23" fmla="*/ 209733 h 1499272"/>
              <a:gd name="connsiteX24" fmla="*/ 865416 w 1424802"/>
              <a:gd name="connsiteY24" fmla="*/ 215595 h 1499272"/>
              <a:gd name="connsiteX25" fmla="*/ 906447 w 1424802"/>
              <a:gd name="connsiteY25" fmla="*/ 250764 h 1499272"/>
              <a:gd name="connsiteX26" fmla="*/ 918170 w 1424802"/>
              <a:gd name="connsiteY26" fmla="*/ 268349 h 1499272"/>
              <a:gd name="connsiteX27" fmla="*/ 935755 w 1424802"/>
              <a:gd name="connsiteY27" fmla="*/ 280072 h 1499272"/>
              <a:gd name="connsiteX28" fmla="*/ 959201 w 1424802"/>
              <a:gd name="connsiteY28" fmla="*/ 297656 h 1499272"/>
              <a:gd name="connsiteX29" fmla="*/ 976785 w 1424802"/>
              <a:gd name="connsiteY29" fmla="*/ 309380 h 1499272"/>
              <a:gd name="connsiteX30" fmla="*/ 994370 w 1424802"/>
              <a:gd name="connsiteY30" fmla="*/ 332826 h 1499272"/>
              <a:gd name="connsiteX31" fmla="*/ 1035401 w 1424802"/>
              <a:gd name="connsiteY31" fmla="*/ 356272 h 1499272"/>
              <a:gd name="connsiteX32" fmla="*/ 1058847 w 1424802"/>
              <a:gd name="connsiteY32" fmla="*/ 385580 h 1499272"/>
              <a:gd name="connsiteX33" fmla="*/ 1099878 w 1424802"/>
              <a:gd name="connsiteY33" fmla="*/ 420749 h 1499272"/>
              <a:gd name="connsiteX34" fmla="*/ 1129185 w 1424802"/>
              <a:gd name="connsiteY34" fmla="*/ 461780 h 1499272"/>
              <a:gd name="connsiteX35" fmla="*/ 1135047 w 1424802"/>
              <a:gd name="connsiteY35" fmla="*/ 479364 h 1499272"/>
              <a:gd name="connsiteX36" fmla="*/ 1170216 w 1424802"/>
              <a:gd name="connsiteY36" fmla="*/ 520395 h 1499272"/>
              <a:gd name="connsiteX37" fmla="*/ 1187801 w 1424802"/>
              <a:gd name="connsiteY37" fmla="*/ 543841 h 1499272"/>
              <a:gd name="connsiteX38" fmla="*/ 1211247 w 1424802"/>
              <a:gd name="connsiteY38" fmla="*/ 579010 h 1499272"/>
              <a:gd name="connsiteX39" fmla="*/ 1240555 w 1424802"/>
              <a:gd name="connsiteY39" fmla="*/ 620041 h 1499272"/>
              <a:gd name="connsiteX40" fmla="*/ 1264001 w 1424802"/>
              <a:gd name="connsiteY40" fmla="*/ 666933 h 1499272"/>
              <a:gd name="connsiteX41" fmla="*/ 1269862 w 1424802"/>
              <a:gd name="connsiteY41" fmla="*/ 684518 h 1499272"/>
              <a:gd name="connsiteX42" fmla="*/ 1287447 w 1424802"/>
              <a:gd name="connsiteY42" fmla="*/ 713826 h 1499272"/>
              <a:gd name="connsiteX43" fmla="*/ 1299170 w 1424802"/>
              <a:gd name="connsiteY43" fmla="*/ 737272 h 1499272"/>
              <a:gd name="connsiteX44" fmla="*/ 1316755 w 1424802"/>
              <a:gd name="connsiteY44" fmla="*/ 754856 h 1499272"/>
              <a:gd name="connsiteX45" fmla="*/ 1340201 w 1424802"/>
              <a:gd name="connsiteY45" fmla="*/ 795887 h 1499272"/>
              <a:gd name="connsiteX46" fmla="*/ 1351924 w 1424802"/>
              <a:gd name="connsiteY46" fmla="*/ 819333 h 1499272"/>
              <a:gd name="connsiteX47" fmla="*/ 1357785 w 1424802"/>
              <a:gd name="connsiteY47" fmla="*/ 836918 h 1499272"/>
              <a:gd name="connsiteX48" fmla="*/ 1369508 w 1424802"/>
              <a:gd name="connsiteY48" fmla="*/ 854503 h 1499272"/>
              <a:gd name="connsiteX49" fmla="*/ 1381232 w 1424802"/>
              <a:gd name="connsiteY49" fmla="*/ 883810 h 1499272"/>
              <a:gd name="connsiteX50" fmla="*/ 1398816 w 1424802"/>
              <a:gd name="connsiteY50" fmla="*/ 960010 h 1499272"/>
              <a:gd name="connsiteX51" fmla="*/ 1410539 w 1424802"/>
              <a:gd name="connsiteY51" fmla="*/ 1030349 h 1499272"/>
              <a:gd name="connsiteX52" fmla="*/ 1416401 w 1424802"/>
              <a:gd name="connsiteY52" fmla="*/ 1047933 h 1499272"/>
              <a:gd name="connsiteX53" fmla="*/ 1410539 w 1424802"/>
              <a:gd name="connsiteY53" fmla="*/ 1200333 h 1499272"/>
              <a:gd name="connsiteX54" fmla="*/ 1404287 w 1424802"/>
              <a:gd name="connsiteY54" fmla="*/ 1323959 h 1499272"/>
              <a:gd name="connsiteX55" fmla="*/ 1287447 w 1424802"/>
              <a:gd name="connsiteY55" fmla="*/ 1458241 h 1499272"/>
              <a:gd name="connsiteX56" fmla="*/ 1269862 w 1424802"/>
              <a:gd name="connsiteY56" fmla="*/ 1469964 h 1499272"/>
              <a:gd name="connsiteX57" fmla="*/ 1234693 w 1424802"/>
              <a:gd name="connsiteY57" fmla="*/ 1481687 h 1499272"/>
              <a:gd name="connsiteX58" fmla="*/ 1217108 w 1424802"/>
              <a:gd name="connsiteY58" fmla="*/ 1487549 h 1499272"/>
              <a:gd name="connsiteX59" fmla="*/ 1176078 w 1424802"/>
              <a:gd name="connsiteY59" fmla="*/ 1493410 h 1499272"/>
              <a:gd name="connsiteX60" fmla="*/ 1140908 w 1424802"/>
              <a:gd name="connsiteY60" fmla="*/ 1499272 h 1499272"/>
              <a:gd name="connsiteX61" fmla="*/ 900585 w 1424802"/>
              <a:gd name="connsiteY61" fmla="*/ 1493410 h 1499272"/>
              <a:gd name="connsiteX62" fmla="*/ 883001 w 1424802"/>
              <a:gd name="connsiteY62" fmla="*/ 1487549 h 1499272"/>
              <a:gd name="connsiteX63" fmla="*/ 800939 w 1424802"/>
              <a:gd name="connsiteY63" fmla="*/ 1481687 h 1499272"/>
              <a:gd name="connsiteX64" fmla="*/ 630955 w 1424802"/>
              <a:gd name="connsiteY64" fmla="*/ 1475826 h 1499272"/>
              <a:gd name="connsiteX65" fmla="*/ 572339 w 1424802"/>
              <a:gd name="connsiteY65" fmla="*/ 1469964 h 1499272"/>
              <a:gd name="connsiteX66" fmla="*/ 476812 w 1424802"/>
              <a:gd name="connsiteY66" fmla="*/ 1475826 h 1499272"/>
              <a:gd name="connsiteX67" fmla="*/ 155426 w 1424802"/>
              <a:gd name="connsiteY67" fmla="*/ 1446518 h 1499272"/>
              <a:gd name="connsiteX68" fmla="*/ 83418 w 1424802"/>
              <a:gd name="connsiteY68" fmla="*/ 1374510 h 1499272"/>
              <a:gd name="connsiteX69" fmla="*/ 50662 w 1424802"/>
              <a:gd name="connsiteY69" fmla="*/ 1323426 h 1499272"/>
              <a:gd name="connsiteX70" fmla="*/ 33078 w 1424802"/>
              <a:gd name="connsiteY70" fmla="*/ 1305841 h 1499272"/>
              <a:gd name="connsiteX71" fmla="*/ 21355 w 1424802"/>
              <a:gd name="connsiteY71" fmla="*/ 1264810 h 1499272"/>
              <a:gd name="connsiteX72" fmla="*/ 9632 w 1424802"/>
              <a:gd name="connsiteY72" fmla="*/ 1217918 h 1499272"/>
              <a:gd name="connsiteX73" fmla="*/ 9632 w 1424802"/>
              <a:gd name="connsiteY73" fmla="*/ 1018626 h 1499272"/>
              <a:gd name="connsiteX74" fmla="*/ 15493 w 1424802"/>
              <a:gd name="connsiteY74" fmla="*/ 1001041 h 1499272"/>
              <a:gd name="connsiteX75" fmla="*/ 21355 w 1424802"/>
              <a:gd name="connsiteY75" fmla="*/ 948287 h 1499272"/>
              <a:gd name="connsiteX76" fmla="*/ 27216 w 1424802"/>
              <a:gd name="connsiteY76" fmla="*/ 930703 h 1499272"/>
              <a:gd name="connsiteX77" fmla="*/ 33078 w 1424802"/>
              <a:gd name="connsiteY77" fmla="*/ 895533 h 1499272"/>
              <a:gd name="connsiteX78" fmla="*/ 50662 w 1424802"/>
              <a:gd name="connsiteY78" fmla="*/ 854503 h 1499272"/>
              <a:gd name="connsiteX79" fmla="*/ 62385 w 1424802"/>
              <a:gd name="connsiteY79" fmla="*/ 813472 h 1499272"/>
              <a:gd name="connsiteX80" fmla="*/ 74108 w 1424802"/>
              <a:gd name="connsiteY80" fmla="*/ 790026 h 1499272"/>
              <a:gd name="connsiteX81" fmla="*/ 85832 w 1424802"/>
              <a:gd name="connsiteY81" fmla="*/ 748995 h 1499272"/>
              <a:gd name="connsiteX82" fmla="*/ 91693 w 1424802"/>
              <a:gd name="connsiteY82" fmla="*/ 731410 h 1499272"/>
              <a:gd name="connsiteX83" fmla="*/ 97555 w 1424802"/>
              <a:gd name="connsiteY83" fmla="*/ 702103 h 1499272"/>
              <a:gd name="connsiteX84" fmla="*/ 103416 w 1424802"/>
              <a:gd name="connsiteY84" fmla="*/ 684518 h 1499272"/>
              <a:gd name="connsiteX85" fmla="*/ 102366 w 1424802"/>
              <a:gd name="connsiteY85" fmla="*/ 621887 h 1499272"/>
              <a:gd name="connsiteX86" fmla="*/ 83418 w 1424802"/>
              <a:gd name="connsiteY86" fmla="*/ 510414 h 1499272"/>
              <a:gd name="connsiteX87" fmla="*/ 83418 w 1424802"/>
              <a:gd name="connsiteY87" fmla="*/ 366398 h 1499272"/>
              <a:gd name="connsiteX88" fmla="*/ 85832 w 1424802"/>
              <a:gd name="connsiteY88" fmla="*/ 338687 h 1499272"/>
              <a:gd name="connsiteX89" fmla="*/ 79970 w 1424802"/>
              <a:gd name="connsiteY89" fmla="*/ 321103 h 1499272"/>
              <a:gd name="connsiteX0" fmla="*/ 79970 w 1424802"/>
              <a:gd name="connsiteY0" fmla="*/ 321103 h 1499272"/>
              <a:gd name="connsiteX1" fmla="*/ 97555 w 1424802"/>
              <a:gd name="connsiteY1" fmla="*/ 268349 h 1499272"/>
              <a:gd name="connsiteX2" fmla="*/ 103416 w 1424802"/>
              <a:gd name="connsiteY2" fmla="*/ 250764 h 1499272"/>
              <a:gd name="connsiteX3" fmla="*/ 109278 w 1424802"/>
              <a:gd name="connsiteY3" fmla="*/ 227318 h 1499272"/>
              <a:gd name="connsiteX4" fmla="*/ 132724 w 1424802"/>
              <a:gd name="connsiteY4" fmla="*/ 192149 h 1499272"/>
              <a:gd name="connsiteX5" fmla="*/ 82870 w 1424802"/>
              <a:gd name="connsiteY5" fmla="*/ 150393 h 1499272"/>
              <a:gd name="connsiteX6" fmla="*/ 197201 w 1424802"/>
              <a:gd name="connsiteY6" fmla="*/ 145256 h 1499272"/>
              <a:gd name="connsiteX7" fmla="*/ 226508 w 1424802"/>
              <a:gd name="connsiteY7" fmla="*/ 127672 h 1499272"/>
              <a:gd name="connsiteX8" fmla="*/ 226969 w 1424802"/>
              <a:gd name="connsiteY8" fmla="*/ 78368 h 1499272"/>
              <a:gd name="connsiteX9" fmla="*/ 308570 w 1424802"/>
              <a:gd name="connsiteY9" fmla="*/ 98364 h 1499272"/>
              <a:gd name="connsiteX10" fmla="*/ 299018 w 1424802"/>
              <a:gd name="connsiteY10" fmla="*/ 6340 h 1499272"/>
              <a:gd name="connsiteX11" fmla="*/ 371067 w 1424802"/>
              <a:gd name="connsiteY11" fmla="*/ 6342 h 1499272"/>
              <a:gd name="connsiteX12" fmla="*/ 443116 w 1424802"/>
              <a:gd name="connsiteY12" fmla="*/ 6340 h 1499272"/>
              <a:gd name="connsiteX13" fmla="*/ 607508 w 1424802"/>
              <a:gd name="connsiteY13" fmla="*/ 86641 h 1499272"/>
              <a:gd name="connsiteX14" fmla="*/ 659264 w 1424802"/>
              <a:gd name="connsiteY14" fmla="*/ 6340 h 1499272"/>
              <a:gd name="connsiteX15" fmla="*/ 671985 w 1424802"/>
              <a:gd name="connsiteY15" fmla="*/ 104226 h 1499272"/>
              <a:gd name="connsiteX16" fmla="*/ 695432 w 1424802"/>
              <a:gd name="connsiteY16" fmla="*/ 110087 h 1499272"/>
              <a:gd name="connsiteX17" fmla="*/ 718878 w 1424802"/>
              <a:gd name="connsiteY17" fmla="*/ 121810 h 1499272"/>
              <a:gd name="connsiteX18" fmla="*/ 754047 w 1424802"/>
              <a:gd name="connsiteY18" fmla="*/ 133533 h 1499272"/>
              <a:gd name="connsiteX19" fmla="*/ 771632 w 1424802"/>
              <a:gd name="connsiteY19" fmla="*/ 145256 h 1499272"/>
              <a:gd name="connsiteX20" fmla="*/ 789216 w 1424802"/>
              <a:gd name="connsiteY20" fmla="*/ 162841 h 1499272"/>
              <a:gd name="connsiteX21" fmla="*/ 824385 w 1424802"/>
              <a:gd name="connsiteY21" fmla="*/ 174564 h 1499272"/>
              <a:gd name="connsiteX22" fmla="*/ 841970 w 1424802"/>
              <a:gd name="connsiteY22" fmla="*/ 192149 h 1499272"/>
              <a:gd name="connsiteX23" fmla="*/ 847832 w 1424802"/>
              <a:gd name="connsiteY23" fmla="*/ 209733 h 1499272"/>
              <a:gd name="connsiteX24" fmla="*/ 865416 w 1424802"/>
              <a:gd name="connsiteY24" fmla="*/ 215595 h 1499272"/>
              <a:gd name="connsiteX25" fmla="*/ 906447 w 1424802"/>
              <a:gd name="connsiteY25" fmla="*/ 250764 h 1499272"/>
              <a:gd name="connsiteX26" fmla="*/ 918170 w 1424802"/>
              <a:gd name="connsiteY26" fmla="*/ 268349 h 1499272"/>
              <a:gd name="connsiteX27" fmla="*/ 935755 w 1424802"/>
              <a:gd name="connsiteY27" fmla="*/ 280072 h 1499272"/>
              <a:gd name="connsiteX28" fmla="*/ 959201 w 1424802"/>
              <a:gd name="connsiteY28" fmla="*/ 297656 h 1499272"/>
              <a:gd name="connsiteX29" fmla="*/ 976785 w 1424802"/>
              <a:gd name="connsiteY29" fmla="*/ 309380 h 1499272"/>
              <a:gd name="connsiteX30" fmla="*/ 994370 w 1424802"/>
              <a:gd name="connsiteY30" fmla="*/ 332826 h 1499272"/>
              <a:gd name="connsiteX31" fmla="*/ 1035401 w 1424802"/>
              <a:gd name="connsiteY31" fmla="*/ 356272 h 1499272"/>
              <a:gd name="connsiteX32" fmla="*/ 1058847 w 1424802"/>
              <a:gd name="connsiteY32" fmla="*/ 385580 h 1499272"/>
              <a:gd name="connsiteX33" fmla="*/ 1099878 w 1424802"/>
              <a:gd name="connsiteY33" fmla="*/ 420749 h 1499272"/>
              <a:gd name="connsiteX34" fmla="*/ 1129185 w 1424802"/>
              <a:gd name="connsiteY34" fmla="*/ 461780 h 1499272"/>
              <a:gd name="connsiteX35" fmla="*/ 1135047 w 1424802"/>
              <a:gd name="connsiteY35" fmla="*/ 479364 h 1499272"/>
              <a:gd name="connsiteX36" fmla="*/ 1170216 w 1424802"/>
              <a:gd name="connsiteY36" fmla="*/ 520395 h 1499272"/>
              <a:gd name="connsiteX37" fmla="*/ 1187801 w 1424802"/>
              <a:gd name="connsiteY37" fmla="*/ 543841 h 1499272"/>
              <a:gd name="connsiteX38" fmla="*/ 1211247 w 1424802"/>
              <a:gd name="connsiteY38" fmla="*/ 579010 h 1499272"/>
              <a:gd name="connsiteX39" fmla="*/ 1240555 w 1424802"/>
              <a:gd name="connsiteY39" fmla="*/ 620041 h 1499272"/>
              <a:gd name="connsiteX40" fmla="*/ 1264001 w 1424802"/>
              <a:gd name="connsiteY40" fmla="*/ 666933 h 1499272"/>
              <a:gd name="connsiteX41" fmla="*/ 1269862 w 1424802"/>
              <a:gd name="connsiteY41" fmla="*/ 684518 h 1499272"/>
              <a:gd name="connsiteX42" fmla="*/ 1287447 w 1424802"/>
              <a:gd name="connsiteY42" fmla="*/ 713826 h 1499272"/>
              <a:gd name="connsiteX43" fmla="*/ 1299170 w 1424802"/>
              <a:gd name="connsiteY43" fmla="*/ 737272 h 1499272"/>
              <a:gd name="connsiteX44" fmla="*/ 1316755 w 1424802"/>
              <a:gd name="connsiteY44" fmla="*/ 754856 h 1499272"/>
              <a:gd name="connsiteX45" fmla="*/ 1340201 w 1424802"/>
              <a:gd name="connsiteY45" fmla="*/ 795887 h 1499272"/>
              <a:gd name="connsiteX46" fmla="*/ 1351924 w 1424802"/>
              <a:gd name="connsiteY46" fmla="*/ 819333 h 1499272"/>
              <a:gd name="connsiteX47" fmla="*/ 1357785 w 1424802"/>
              <a:gd name="connsiteY47" fmla="*/ 836918 h 1499272"/>
              <a:gd name="connsiteX48" fmla="*/ 1369508 w 1424802"/>
              <a:gd name="connsiteY48" fmla="*/ 854503 h 1499272"/>
              <a:gd name="connsiteX49" fmla="*/ 1381232 w 1424802"/>
              <a:gd name="connsiteY49" fmla="*/ 883810 h 1499272"/>
              <a:gd name="connsiteX50" fmla="*/ 1398816 w 1424802"/>
              <a:gd name="connsiteY50" fmla="*/ 960010 h 1499272"/>
              <a:gd name="connsiteX51" fmla="*/ 1410539 w 1424802"/>
              <a:gd name="connsiteY51" fmla="*/ 1030349 h 1499272"/>
              <a:gd name="connsiteX52" fmla="*/ 1416401 w 1424802"/>
              <a:gd name="connsiteY52" fmla="*/ 1047933 h 1499272"/>
              <a:gd name="connsiteX53" fmla="*/ 1410539 w 1424802"/>
              <a:gd name="connsiteY53" fmla="*/ 1200333 h 1499272"/>
              <a:gd name="connsiteX54" fmla="*/ 1404287 w 1424802"/>
              <a:gd name="connsiteY54" fmla="*/ 1323959 h 1499272"/>
              <a:gd name="connsiteX55" fmla="*/ 1287447 w 1424802"/>
              <a:gd name="connsiteY55" fmla="*/ 1458241 h 1499272"/>
              <a:gd name="connsiteX56" fmla="*/ 1269862 w 1424802"/>
              <a:gd name="connsiteY56" fmla="*/ 1469964 h 1499272"/>
              <a:gd name="connsiteX57" fmla="*/ 1234693 w 1424802"/>
              <a:gd name="connsiteY57" fmla="*/ 1481687 h 1499272"/>
              <a:gd name="connsiteX58" fmla="*/ 1217108 w 1424802"/>
              <a:gd name="connsiteY58" fmla="*/ 1487549 h 1499272"/>
              <a:gd name="connsiteX59" fmla="*/ 1176078 w 1424802"/>
              <a:gd name="connsiteY59" fmla="*/ 1493410 h 1499272"/>
              <a:gd name="connsiteX60" fmla="*/ 1140908 w 1424802"/>
              <a:gd name="connsiteY60" fmla="*/ 1499272 h 1499272"/>
              <a:gd name="connsiteX61" fmla="*/ 900585 w 1424802"/>
              <a:gd name="connsiteY61" fmla="*/ 1493410 h 1499272"/>
              <a:gd name="connsiteX62" fmla="*/ 883001 w 1424802"/>
              <a:gd name="connsiteY62" fmla="*/ 1487549 h 1499272"/>
              <a:gd name="connsiteX63" fmla="*/ 800939 w 1424802"/>
              <a:gd name="connsiteY63" fmla="*/ 1481687 h 1499272"/>
              <a:gd name="connsiteX64" fmla="*/ 630955 w 1424802"/>
              <a:gd name="connsiteY64" fmla="*/ 1475826 h 1499272"/>
              <a:gd name="connsiteX65" fmla="*/ 572339 w 1424802"/>
              <a:gd name="connsiteY65" fmla="*/ 1469964 h 1499272"/>
              <a:gd name="connsiteX66" fmla="*/ 476812 w 1424802"/>
              <a:gd name="connsiteY66" fmla="*/ 1475826 h 1499272"/>
              <a:gd name="connsiteX67" fmla="*/ 155426 w 1424802"/>
              <a:gd name="connsiteY67" fmla="*/ 1446518 h 1499272"/>
              <a:gd name="connsiteX68" fmla="*/ 83418 w 1424802"/>
              <a:gd name="connsiteY68" fmla="*/ 1374510 h 1499272"/>
              <a:gd name="connsiteX69" fmla="*/ 50662 w 1424802"/>
              <a:gd name="connsiteY69" fmla="*/ 1323426 h 1499272"/>
              <a:gd name="connsiteX70" fmla="*/ 33078 w 1424802"/>
              <a:gd name="connsiteY70" fmla="*/ 1305841 h 1499272"/>
              <a:gd name="connsiteX71" fmla="*/ 21355 w 1424802"/>
              <a:gd name="connsiteY71" fmla="*/ 1264810 h 1499272"/>
              <a:gd name="connsiteX72" fmla="*/ 9632 w 1424802"/>
              <a:gd name="connsiteY72" fmla="*/ 1217918 h 1499272"/>
              <a:gd name="connsiteX73" fmla="*/ 9632 w 1424802"/>
              <a:gd name="connsiteY73" fmla="*/ 1018626 h 1499272"/>
              <a:gd name="connsiteX74" fmla="*/ 15493 w 1424802"/>
              <a:gd name="connsiteY74" fmla="*/ 1001041 h 1499272"/>
              <a:gd name="connsiteX75" fmla="*/ 21355 w 1424802"/>
              <a:gd name="connsiteY75" fmla="*/ 948287 h 1499272"/>
              <a:gd name="connsiteX76" fmla="*/ 27216 w 1424802"/>
              <a:gd name="connsiteY76" fmla="*/ 930703 h 1499272"/>
              <a:gd name="connsiteX77" fmla="*/ 33078 w 1424802"/>
              <a:gd name="connsiteY77" fmla="*/ 895533 h 1499272"/>
              <a:gd name="connsiteX78" fmla="*/ 50662 w 1424802"/>
              <a:gd name="connsiteY78" fmla="*/ 854503 h 1499272"/>
              <a:gd name="connsiteX79" fmla="*/ 62385 w 1424802"/>
              <a:gd name="connsiteY79" fmla="*/ 813472 h 1499272"/>
              <a:gd name="connsiteX80" fmla="*/ 74108 w 1424802"/>
              <a:gd name="connsiteY80" fmla="*/ 790026 h 1499272"/>
              <a:gd name="connsiteX81" fmla="*/ 85832 w 1424802"/>
              <a:gd name="connsiteY81" fmla="*/ 748995 h 1499272"/>
              <a:gd name="connsiteX82" fmla="*/ 91693 w 1424802"/>
              <a:gd name="connsiteY82" fmla="*/ 731410 h 1499272"/>
              <a:gd name="connsiteX83" fmla="*/ 97555 w 1424802"/>
              <a:gd name="connsiteY83" fmla="*/ 702103 h 1499272"/>
              <a:gd name="connsiteX84" fmla="*/ 103416 w 1424802"/>
              <a:gd name="connsiteY84" fmla="*/ 684518 h 1499272"/>
              <a:gd name="connsiteX85" fmla="*/ 102366 w 1424802"/>
              <a:gd name="connsiteY85" fmla="*/ 621887 h 1499272"/>
              <a:gd name="connsiteX86" fmla="*/ 83418 w 1424802"/>
              <a:gd name="connsiteY86" fmla="*/ 510414 h 1499272"/>
              <a:gd name="connsiteX87" fmla="*/ 83418 w 1424802"/>
              <a:gd name="connsiteY87" fmla="*/ 366398 h 1499272"/>
              <a:gd name="connsiteX88" fmla="*/ 85832 w 1424802"/>
              <a:gd name="connsiteY88" fmla="*/ 338687 h 1499272"/>
              <a:gd name="connsiteX89" fmla="*/ 79970 w 1424802"/>
              <a:gd name="connsiteY89" fmla="*/ 321103 h 1499272"/>
              <a:gd name="connsiteX0" fmla="*/ 79970 w 1424802"/>
              <a:gd name="connsiteY0" fmla="*/ 323492 h 1501661"/>
              <a:gd name="connsiteX1" fmla="*/ 97555 w 1424802"/>
              <a:gd name="connsiteY1" fmla="*/ 270738 h 1501661"/>
              <a:gd name="connsiteX2" fmla="*/ 103416 w 1424802"/>
              <a:gd name="connsiteY2" fmla="*/ 253153 h 1501661"/>
              <a:gd name="connsiteX3" fmla="*/ 109278 w 1424802"/>
              <a:gd name="connsiteY3" fmla="*/ 229707 h 1501661"/>
              <a:gd name="connsiteX4" fmla="*/ 132724 w 1424802"/>
              <a:gd name="connsiteY4" fmla="*/ 194538 h 1501661"/>
              <a:gd name="connsiteX5" fmla="*/ 82870 w 1424802"/>
              <a:gd name="connsiteY5" fmla="*/ 152782 h 1501661"/>
              <a:gd name="connsiteX6" fmla="*/ 197201 w 1424802"/>
              <a:gd name="connsiteY6" fmla="*/ 147645 h 1501661"/>
              <a:gd name="connsiteX7" fmla="*/ 226508 w 1424802"/>
              <a:gd name="connsiteY7" fmla="*/ 130061 h 1501661"/>
              <a:gd name="connsiteX8" fmla="*/ 226969 w 1424802"/>
              <a:gd name="connsiteY8" fmla="*/ 80757 h 1501661"/>
              <a:gd name="connsiteX9" fmla="*/ 308570 w 1424802"/>
              <a:gd name="connsiteY9" fmla="*/ 100753 h 1501661"/>
              <a:gd name="connsiteX10" fmla="*/ 299018 w 1424802"/>
              <a:gd name="connsiteY10" fmla="*/ 8729 h 1501661"/>
              <a:gd name="connsiteX11" fmla="*/ 371067 w 1424802"/>
              <a:gd name="connsiteY11" fmla="*/ 8731 h 1501661"/>
              <a:gd name="connsiteX12" fmla="*/ 443116 w 1424802"/>
              <a:gd name="connsiteY12" fmla="*/ 8729 h 1501661"/>
              <a:gd name="connsiteX13" fmla="*/ 587214 w 1424802"/>
              <a:gd name="connsiteY13" fmla="*/ 8731 h 1501661"/>
              <a:gd name="connsiteX14" fmla="*/ 659264 w 1424802"/>
              <a:gd name="connsiteY14" fmla="*/ 8729 h 1501661"/>
              <a:gd name="connsiteX15" fmla="*/ 671985 w 1424802"/>
              <a:gd name="connsiteY15" fmla="*/ 106615 h 1501661"/>
              <a:gd name="connsiteX16" fmla="*/ 695432 w 1424802"/>
              <a:gd name="connsiteY16" fmla="*/ 112476 h 1501661"/>
              <a:gd name="connsiteX17" fmla="*/ 718878 w 1424802"/>
              <a:gd name="connsiteY17" fmla="*/ 124199 h 1501661"/>
              <a:gd name="connsiteX18" fmla="*/ 754047 w 1424802"/>
              <a:gd name="connsiteY18" fmla="*/ 135922 h 1501661"/>
              <a:gd name="connsiteX19" fmla="*/ 771632 w 1424802"/>
              <a:gd name="connsiteY19" fmla="*/ 147645 h 1501661"/>
              <a:gd name="connsiteX20" fmla="*/ 789216 w 1424802"/>
              <a:gd name="connsiteY20" fmla="*/ 165230 h 1501661"/>
              <a:gd name="connsiteX21" fmla="*/ 824385 w 1424802"/>
              <a:gd name="connsiteY21" fmla="*/ 176953 h 1501661"/>
              <a:gd name="connsiteX22" fmla="*/ 841970 w 1424802"/>
              <a:gd name="connsiteY22" fmla="*/ 194538 h 1501661"/>
              <a:gd name="connsiteX23" fmla="*/ 847832 w 1424802"/>
              <a:gd name="connsiteY23" fmla="*/ 212122 h 1501661"/>
              <a:gd name="connsiteX24" fmla="*/ 865416 w 1424802"/>
              <a:gd name="connsiteY24" fmla="*/ 217984 h 1501661"/>
              <a:gd name="connsiteX25" fmla="*/ 906447 w 1424802"/>
              <a:gd name="connsiteY25" fmla="*/ 253153 h 1501661"/>
              <a:gd name="connsiteX26" fmla="*/ 918170 w 1424802"/>
              <a:gd name="connsiteY26" fmla="*/ 270738 h 1501661"/>
              <a:gd name="connsiteX27" fmla="*/ 935755 w 1424802"/>
              <a:gd name="connsiteY27" fmla="*/ 282461 h 1501661"/>
              <a:gd name="connsiteX28" fmla="*/ 959201 w 1424802"/>
              <a:gd name="connsiteY28" fmla="*/ 300045 h 1501661"/>
              <a:gd name="connsiteX29" fmla="*/ 976785 w 1424802"/>
              <a:gd name="connsiteY29" fmla="*/ 311769 h 1501661"/>
              <a:gd name="connsiteX30" fmla="*/ 994370 w 1424802"/>
              <a:gd name="connsiteY30" fmla="*/ 335215 h 1501661"/>
              <a:gd name="connsiteX31" fmla="*/ 1035401 w 1424802"/>
              <a:gd name="connsiteY31" fmla="*/ 358661 h 1501661"/>
              <a:gd name="connsiteX32" fmla="*/ 1058847 w 1424802"/>
              <a:gd name="connsiteY32" fmla="*/ 387969 h 1501661"/>
              <a:gd name="connsiteX33" fmla="*/ 1099878 w 1424802"/>
              <a:gd name="connsiteY33" fmla="*/ 423138 h 1501661"/>
              <a:gd name="connsiteX34" fmla="*/ 1129185 w 1424802"/>
              <a:gd name="connsiteY34" fmla="*/ 464169 h 1501661"/>
              <a:gd name="connsiteX35" fmla="*/ 1135047 w 1424802"/>
              <a:gd name="connsiteY35" fmla="*/ 481753 h 1501661"/>
              <a:gd name="connsiteX36" fmla="*/ 1170216 w 1424802"/>
              <a:gd name="connsiteY36" fmla="*/ 522784 h 1501661"/>
              <a:gd name="connsiteX37" fmla="*/ 1187801 w 1424802"/>
              <a:gd name="connsiteY37" fmla="*/ 546230 h 1501661"/>
              <a:gd name="connsiteX38" fmla="*/ 1211247 w 1424802"/>
              <a:gd name="connsiteY38" fmla="*/ 581399 h 1501661"/>
              <a:gd name="connsiteX39" fmla="*/ 1240555 w 1424802"/>
              <a:gd name="connsiteY39" fmla="*/ 622430 h 1501661"/>
              <a:gd name="connsiteX40" fmla="*/ 1264001 w 1424802"/>
              <a:gd name="connsiteY40" fmla="*/ 669322 h 1501661"/>
              <a:gd name="connsiteX41" fmla="*/ 1269862 w 1424802"/>
              <a:gd name="connsiteY41" fmla="*/ 686907 h 1501661"/>
              <a:gd name="connsiteX42" fmla="*/ 1287447 w 1424802"/>
              <a:gd name="connsiteY42" fmla="*/ 716215 h 1501661"/>
              <a:gd name="connsiteX43" fmla="*/ 1299170 w 1424802"/>
              <a:gd name="connsiteY43" fmla="*/ 739661 h 1501661"/>
              <a:gd name="connsiteX44" fmla="*/ 1316755 w 1424802"/>
              <a:gd name="connsiteY44" fmla="*/ 757245 h 1501661"/>
              <a:gd name="connsiteX45" fmla="*/ 1340201 w 1424802"/>
              <a:gd name="connsiteY45" fmla="*/ 798276 h 1501661"/>
              <a:gd name="connsiteX46" fmla="*/ 1351924 w 1424802"/>
              <a:gd name="connsiteY46" fmla="*/ 821722 h 1501661"/>
              <a:gd name="connsiteX47" fmla="*/ 1357785 w 1424802"/>
              <a:gd name="connsiteY47" fmla="*/ 839307 h 1501661"/>
              <a:gd name="connsiteX48" fmla="*/ 1369508 w 1424802"/>
              <a:gd name="connsiteY48" fmla="*/ 856892 h 1501661"/>
              <a:gd name="connsiteX49" fmla="*/ 1381232 w 1424802"/>
              <a:gd name="connsiteY49" fmla="*/ 886199 h 1501661"/>
              <a:gd name="connsiteX50" fmla="*/ 1398816 w 1424802"/>
              <a:gd name="connsiteY50" fmla="*/ 962399 h 1501661"/>
              <a:gd name="connsiteX51" fmla="*/ 1410539 w 1424802"/>
              <a:gd name="connsiteY51" fmla="*/ 1032738 h 1501661"/>
              <a:gd name="connsiteX52" fmla="*/ 1416401 w 1424802"/>
              <a:gd name="connsiteY52" fmla="*/ 1050322 h 1501661"/>
              <a:gd name="connsiteX53" fmla="*/ 1410539 w 1424802"/>
              <a:gd name="connsiteY53" fmla="*/ 1202722 h 1501661"/>
              <a:gd name="connsiteX54" fmla="*/ 1404287 w 1424802"/>
              <a:gd name="connsiteY54" fmla="*/ 1326348 h 1501661"/>
              <a:gd name="connsiteX55" fmla="*/ 1287447 w 1424802"/>
              <a:gd name="connsiteY55" fmla="*/ 1460630 h 1501661"/>
              <a:gd name="connsiteX56" fmla="*/ 1269862 w 1424802"/>
              <a:gd name="connsiteY56" fmla="*/ 1472353 h 1501661"/>
              <a:gd name="connsiteX57" fmla="*/ 1234693 w 1424802"/>
              <a:gd name="connsiteY57" fmla="*/ 1484076 h 1501661"/>
              <a:gd name="connsiteX58" fmla="*/ 1217108 w 1424802"/>
              <a:gd name="connsiteY58" fmla="*/ 1489938 h 1501661"/>
              <a:gd name="connsiteX59" fmla="*/ 1176078 w 1424802"/>
              <a:gd name="connsiteY59" fmla="*/ 1495799 h 1501661"/>
              <a:gd name="connsiteX60" fmla="*/ 1140908 w 1424802"/>
              <a:gd name="connsiteY60" fmla="*/ 1501661 h 1501661"/>
              <a:gd name="connsiteX61" fmla="*/ 900585 w 1424802"/>
              <a:gd name="connsiteY61" fmla="*/ 1495799 h 1501661"/>
              <a:gd name="connsiteX62" fmla="*/ 883001 w 1424802"/>
              <a:gd name="connsiteY62" fmla="*/ 1489938 h 1501661"/>
              <a:gd name="connsiteX63" fmla="*/ 800939 w 1424802"/>
              <a:gd name="connsiteY63" fmla="*/ 1484076 h 1501661"/>
              <a:gd name="connsiteX64" fmla="*/ 630955 w 1424802"/>
              <a:gd name="connsiteY64" fmla="*/ 1478215 h 1501661"/>
              <a:gd name="connsiteX65" fmla="*/ 572339 w 1424802"/>
              <a:gd name="connsiteY65" fmla="*/ 1472353 h 1501661"/>
              <a:gd name="connsiteX66" fmla="*/ 476812 w 1424802"/>
              <a:gd name="connsiteY66" fmla="*/ 1478215 h 1501661"/>
              <a:gd name="connsiteX67" fmla="*/ 155426 w 1424802"/>
              <a:gd name="connsiteY67" fmla="*/ 1448907 h 1501661"/>
              <a:gd name="connsiteX68" fmla="*/ 83418 w 1424802"/>
              <a:gd name="connsiteY68" fmla="*/ 1376899 h 1501661"/>
              <a:gd name="connsiteX69" fmla="*/ 50662 w 1424802"/>
              <a:gd name="connsiteY69" fmla="*/ 1325815 h 1501661"/>
              <a:gd name="connsiteX70" fmla="*/ 33078 w 1424802"/>
              <a:gd name="connsiteY70" fmla="*/ 1308230 h 1501661"/>
              <a:gd name="connsiteX71" fmla="*/ 21355 w 1424802"/>
              <a:gd name="connsiteY71" fmla="*/ 1267199 h 1501661"/>
              <a:gd name="connsiteX72" fmla="*/ 9632 w 1424802"/>
              <a:gd name="connsiteY72" fmla="*/ 1220307 h 1501661"/>
              <a:gd name="connsiteX73" fmla="*/ 9632 w 1424802"/>
              <a:gd name="connsiteY73" fmla="*/ 1021015 h 1501661"/>
              <a:gd name="connsiteX74" fmla="*/ 15493 w 1424802"/>
              <a:gd name="connsiteY74" fmla="*/ 1003430 h 1501661"/>
              <a:gd name="connsiteX75" fmla="*/ 21355 w 1424802"/>
              <a:gd name="connsiteY75" fmla="*/ 950676 h 1501661"/>
              <a:gd name="connsiteX76" fmla="*/ 27216 w 1424802"/>
              <a:gd name="connsiteY76" fmla="*/ 933092 h 1501661"/>
              <a:gd name="connsiteX77" fmla="*/ 33078 w 1424802"/>
              <a:gd name="connsiteY77" fmla="*/ 897922 h 1501661"/>
              <a:gd name="connsiteX78" fmla="*/ 50662 w 1424802"/>
              <a:gd name="connsiteY78" fmla="*/ 856892 h 1501661"/>
              <a:gd name="connsiteX79" fmla="*/ 62385 w 1424802"/>
              <a:gd name="connsiteY79" fmla="*/ 815861 h 1501661"/>
              <a:gd name="connsiteX80" fmla="*/ 74108 w 1424802"/>
              <a:gd name="connsiteY80" fmla="*/ 792415 h 1501661"/>
              <a:gd name="connsiteX81" fmla="*/ 85832 w 1424802"/>
              <a:gd name="connsiteY81" fmla="*/ 751384 h 1501661"/>
              <a:gd name="connsiteX82" fmla="*/ 91693 w 1424802"/>
              <a:gd name="connsiteY82" fmla="*/ 733799 h 1501661"/>
              <a:gd name="connsiteX83" fmla="*/ 97555 w 1424802"/>
              <a:gd name="connsiteY83" fmla="*/ 704492 h 1501661"/>
              <a:gd name="connsiteX84" fmla="*/ 103416 w 1424802"/>
              <a:gd name="connsiteY84" fmla="*/ 686907 h 1501661"/>
              <a:gd name="connsiteX85" fmla="*/ 102366 w 1424802"/>
              <a:gd name="connsiteY85" fmla="*/ 624276 h 1501661"/>
              <a:gd name="connsiteX86" fmla="*/ 83418 w 1424802"/>
              <a:gd name="connsiteY86" fmla="*/ 512803 h 1501661"/>
              <a:gd name="connsiteX87" fmla="*/ 83418 w 1424802"/>
              <a:gd name="connsiteY87" fmla="*/ 368787 h 1501661"/>
              <a:gd name="connsiteX88" fmla="*/ 85832 w 1424802"/>
              <a:gd name="connsiteY88" fmla="*/ 341076 h 1501661"/>
              <a:gd name="connsiteX89" fmla="*/ 79970 w 1424802"/>
              <a:gd name="connsiteY89" fmla="*/ 323492 h 1501661"/>
              <a:gd name="connsiteX0" fmla="*/ 79970 w 1424802"/>
              <a:gd name="connsiteY0" fmla="*/ 323492 h 1501661"/>
              <a:gd name="connsiteX1" fmla="*/ 97555 w 1424802"/>
              <a:gd name="connsiteY1" fmla="*/ 270738 h 1501661"/>
              <a:gd name="connsiteX2" fmla="*/ 103416 w 1424802"/>
              <a:gd name="connsiteY2" fmla="*/ 253153 h 1501661"/>
              <a:gd name="connsiteX3" fmla="*/ 109278 w 1424802"/>
              <a:gd name="connsiteY3" fmla="*/ 229707 h 1501661"/>
              <a:gd name="connsiteX4" fmla="*/ 132724 w 1424802"/>
              <a:gd name="connsiteY4" fmla="*/ 194538 h 1501661"/>
              <a:gd name="connsiteX5" fmla="*/ 82870 w 1424802"/>
              <a:gd name="connsiteY5" fmla="*/ 152782 h 1501661"/>
              <a:gd name="connsiteX6" fmla="*/ 197201 w 1424802"/>
              <a:gd name="connsiteY6" fmla="*/ 147645 h 1501661"/>
              <a:gd name="connsiteX7" fmla="*/ 226508 w 1424802"/>
              <a:gd name="connsiteY7" fmla="*/ 130061 h 1501661"/>
              <a:gd name="connsiteX8" fmla="*/ 226969 w 1424802"/>
              <a:gd name="connsiteY8" fmla="*/ 80757 h 1501661"/>
              <a:gd name="connsiteX9" fmla="*/ 308570 w 1424802"/>
              <a:gd name="connsiteY9" fmla="*/ 100753 h 1501661"/>
              <a:gd name="connsiteX10" fmla="*/ 299018 w 1424802"/>
              <a:gd name="connsiteY10" fmla="*/ 8729 h 1501661"/>
              <a:gd name="connsiteX11" fmla="*/ 371067 w 1424802"/>
              <a:gd name="connsiteY11" fmla="*/ 8731 h 1501661"/>
              <a:gd name="connsiteX12" fmla="*/ 443116 w 1424802"/>
              <a:gd name="connsiteY12" fmla="*/ 8729 h 1501661"/>
              <a:gd name="connsiteX13" fmla="*/ 587214 w 1424802"/>
              <a:gd name="connsiteY13" fmla="*/ 8731 h 1501661"/>
              <a:gd name="connsiteX14" fmla="*/ 659264 w 1424802"/>
              <a:gd name="connsiteY14" fmla="*/ 8729 h 1501661"/>
              <a:gd name="connsiteX15" fmla="*/ 671985 w 1424802"/>
              <a:gd name="connsiteY15" fmla="*/ 106615 h 1501661"/>
              <a:gd name="connsiteX16" fmla="*/ 695432 w 1424802"/>
              <a:gd name="connsiteY16" fmla="*/ 112476 h 1501661"/>
              <a:gd name="connsiteX17" fmla="*/ 731313 w 1424802"/>
              <a:gd name="connsiteY17" fmla="*/ 8730 h 1501661"/>
              <a:gd name="connsiteX18" fmla="*/ 754047 w 1424802"/>
              <a:gd name="connsiteY18" fmla="*/ 135922 h 1501661"/>
              <a:gd name="connsiteX19" fmla="*/ 771632 w 1424802"/>
              <a:gd name="connsiteY19" fmla="*/ 147645 h 1501661"/>
              <a:gd name="connsiteX20" fmla="*/ 789216 w 1424802"/>
              <a:gd name="connsiteY20" fmla="*/ 165230 h 1501661"/>
              <a:gd name="connsiteX21" fmla="*/ 824385 w 1424802"/>
              <a:gd name="connsiteY21" fmla="*/ 176953 h 1501661"/>
              <a:gd name="connsiteX22" fmla="*/ 841970 w 1424802"/>
              <a:gd name="connsiteY22" fmla="*/ 194538 h 1501661"/>
              <a:gd name="connsiteX23" fmla="*/ 847832 w 1424802"/>
              <a:gd name="connsiteY23" fmla="*/ 212122 h 1501661"/>
              <a:gd name="connsiteX24" fmla="*/ 865416 w 1424802"/>
              <a:gd name="connsiteY24" fmla="*/ 217984 h 1501661"/>
              <a:gd name="connsiteX25" fmla="*/ 906447 w 1424802"/>
              <a:gd name="connsiteY25" fmla="*/ 253153 h 1501661"/>
              <a:gd name="connsiteX26" fmla="*/ 918170 w 1424802"/>
              <a:gd name="connsiteY26" fmla="*/ 270738 h 1501661"/>
              <a:gd name="connsiteX27" fmla="*/ 935755 w 1424802"/>
              <a:gd name="connsiteY27" fmla="*/ 282461 h 1501661"/>
              <a:gd name="connsiteX28" fmla="*/ 959201 w 1424802"/>
              <a:gd name="connsiteY28" fmla="*/ 300045 h 1501661"/>
              <a:gd name="connsiteX29" fmla="*/ 976785 w 1424802"/>
              <a:gd name="connsiteY29" fmla="*/ 311769 h 1501661"/>
              <a:gd name="connsiteX30" fmla="*/ 994370 w 1424802"/>
              <a:gd name="connsiteY30" fmla="*/ 335215 h 1501661"/>
              <a:gd name="connsiteX31" fmla="*/ 1035401 w 1424802"/>
              <a:gd name="connsiteY31" fmla="*/ 358661 h 1501661"/>
              <a:gd name="connsiteX32" fmla="*/ 1058847 w 1424802"/>
              <a:gd name="connsiteY32" fmla="*/ 387969 h 1501661"/>
              <a:gd name="connsiteX33" fmla="*/ 1099878 w 1424802"/>
              <a:gd name="connsiteY33" fmla="*/ 423138 h 1501661"/>
              <a:gd name="connsiteX34" fmla="*/ 1129185 w 1424802"/>
              <a:gd name="connsiteY34" fmla="*/ 464169 h 1501661"/>
              <a:gd name="connsiteX35" fmla="*/ 1135047 w 1424802"/>
              <a:gd name="connsiteY35" fmla="*/ 481753 h 1501661"/>
              <a:gd name="connsiteX36" fmla="*/ 1170216 w 1424802"/>
              <a:gd name="connsiteY36" fmla="*/ 522784 h 1501661"/>
              <a:gd name="connsiteX37" fmla="*/ 1187801 w 1424802"/>
              <a:gd name="connsiteY37" fmla="*/ 546230 h 1501661"/>
              <a:gd name="connsiteX38" fmla="*/ 1211247 w 1424802"/>
              <a:gd name="connsiteY38" fmla="*/ 581399 h 1501661"/>
              <a:gd name="connsiteX39" fmla="*/ 1240555 w 1424802"/>
              <a:gd name="connsiteY39" fmla="*/ 622430 h 1501661"/>
              <a:gd name="connsiteX40" fmla="*/ 1264001 w 1424802"/>
              <a:gd name="connsiteY40" fmla="*/ 669322 h 1501661"/>
              <a:gd name="connsiteX41" fmla="*/ 1269862 w 1424802"/>
              <a:gd name="connsiteY41" fmla="*/ 686907 h 1501661"/>
              <a:gd name="connsiteX42" fmla="*/ 1287447 w 1424802"/>
              <a:gd name="connsiteY42" fmla="*/ 716215 h 1501661"/>
              <a:gd name="connsiteX43" fmla="*/ 1299170 w 1424802"/>
              <a:gd name="connsiteY43" fmla="*/ 739661 h 1501661"/>
              <a:gd name="connsiteX44" fmla="*/ 1316755 w 1424802"/>
              <a:gd name="connsiteY44" fmla="*/ 757245 h 1501661"/>
              <a:gd name="connsiteX45" fmla="*/ 1340201 w 1424802"/>
              <a:gd name="connsiteY45" fmla="*/ 798276 h 1501661"/>
              <a:gd name="connsiteX46" fmla="*/ 1351924 w 1424802"/>
              <a:gd name="connsiteY46" fmla="*/ 821722 h 1501661"/>
              <a:gd name="connsiteX47" fmla="*/ 1357785 w 1424802"/>
              <a:gd name="connsiteY47" fmla="*/ 839307 h 1501661"/>
              <a:gd name="connsiteX48" fmla="*/ 1369508 w 1424802"/>
              <a:gd name="connsiteY48" fmla="*/ 856892 h 1501661"/>
              <a:gd name="connsiteX49" fmla="*/ 1381232 w 1424802"/>
              <a:gd name="connsiteY49" fmla="*/ 886199 h 1501661"/>
              <a:gd name="connsiteX50" fmla="*/ 1398816 w 1424802"/>
              <a:gd name="connsiteY50" fmla="*/ 962399 h 1501661"/>
              <a:gd name="connsiteX51" fmla="*/ 1410539 w 1424802"/>
              <a:gd name="connsiteY51" fmla="*/ 1032738 h 1501661"/>
              <a:gd name="connsiteX52" fmla="*/ 1416401 w 1424802"/>
              <a:gd name="connsiteY52" fmla="*/ 1050322 h 1501661"/>
              <a:gd name="connsiteX53" fmla="*/ 1410539 w 1424802"/>
              <a:gd name="connsiteY53" fmla="*/ 1202722 h 1501661"/>
              <a:gd name="connsiteX54" fmla="*/ 1404287 w 1424802"/>
              <a:gd name="connsiteY54" fmla="*/ 1326348 h 1501661"/>
              <a:gd name="connsiteX55" fmla="*/ 1287447 w 1424802"/>
              <a:gd name="connsiteY55" fmla="*/ 1460630 h 1501661"/>
              <a:gd name="connsiteX56" fmla="*/ 1269862 w 1424802"/>
              <a:gd name="connsiteY56" fmla="*/ 1472353 h 1501661"/>
              <a:gd name="connsiteX57" fmla="*/ 1234693 w 1424802"/>
              <a:gd name="connsiteY57" fmla="*/ 1484076 h 1501661"/>
              <a:gd name="connsiteX58" fmla="*/ 1217108 w 1424802"/>
              <a:gd name="connsiteY58" fmla="*/ 1489938 h 1501661"/>
              <a:gd name="connsiteX59" fmla="*/ 1176078 w 1424802"/>
              <a:gd name="connsiteY59" fmla="*/ 1495799 h 1501661"/>
              <a:gd name="connsiteX60" fmla="*/ 1140908 w 1424802"/>
              <a:gd name="connsiteY60" fmla="*/ 1501661 h 1501661"/>
              <a:gd name="connsiteX61" fmla="*/ 900585 w 1424802"/>
              <a:gd name="connsiteY61" fmla="*/ 1495799 h 1501661"/>
              <a:gd name="connsiteX62" fmla="*/ 883001 w 1424802"/>
              <a:gd name="connsiteY62" fmla="*/ 1489938 h 1501661"/>
              <a:gd name="connsiteX63" fmla="*/ 800939 w 1424802"/>
              <a:gd name="connsiteY63" fmla="*/ 1484076 h 1501661"/>
              <a:gd name="connsiteX64" fmla="*/ 630955 w 1424802"/>
              <a:gd name="connsiteY64" fmla="*/ 1478215 h 1501661"/>
              <a:gd name="connsiteX65" fmla="*/ 572339 w 1424802"/>
              <a:gd name="connsiteY65" fmla="*/ 1472353 h 1501661"/>
              <a:gd name="connsiteX66" fmla="*/ 476812 w 1424802"/>
              <a:gd name="connsiteY66" fmla="*/ 1478215 h 1501661"/>
              <a:gd name="connsiteX67" fmla="*/ 155426 w 1424802"/>
              <a:gd name="connsiteY67" fmla="*/ 1448907 h 1501661"/>
              <a:gd name="connsiteX68" fmla="*/ 83418 w 1424802"/>
              <a:gd name="connsiteY68" fmla="*/ 1376899 h 1501661"/>
              <a:gd name="connsiteX69" fmla="*/ 50662 w 1424802"/>
              <a:gd name="connsiteY69" fmla="*/ 1325815 h 1501661"/>
              <a:gd name="connsiteX70" fmla="*/ 33078 w 1424802"/>
              <a:gd name="connsiteY70" fmla="*/ 1308230 h 1501661"/>
              <a:gd name="connsiteX71" fmla="*/ 21355 w 1424802"/>
              <a:gd name="connsiteY71" fmla="*/ 1267199 h 1501661"/>
              <a:gd name="connsiteX72" fmla="*/ 9632 w 1424802"/>
              <a:gd name="connsiteY72" fmla="*/ 1220307 h 1501661"/>
              <a:gd name="connsiteX73" fmla="*/ 9632 w 1424802"/>
              <a:gd name="connsiteY73" fmla="*/ 1021015 h 1501661"/>
              <a:gd name="connsiteX74" fmla="*/ 15493 w 1424802"/>
              <a:gd name="connsiteY74" fmla="*/ 1003430 h 1501661"/>
              <a:gd name="connsiteX75" fmla="*/ 21355 w 1424802"/>
              <a:gd name="connsiteY75" fmla="*/ 950676 h 1501661"/>
              <a:gd name="connsiteX76" fmla="*/ 27216 w 1424802"/>
              <a:gd name="connsiteY76" fmla="*/ 933092 h 1501661"/>
              <a:gd name="connsiteX77" fmla="*/ 33078 w 1424802"/>
              <a:gd name="connsiteY77" fmla="*/ 897922 h 1501661"/>
              <a:gd name="connsiteX78" fmla="*/ 50662 w 1424802"/>
              <a:gd name="connsiteY78" fmla="*/ 856892 h 1501661"/>
              <a:gd name="connsiteX79" fmla="*/ 62385 w 1424802"/>
              <a:gd name="connsiteY79" fmla="*/ 815861 h 1501661"/>
              <a:gd name="connsiteX80" fmla="*/ 74108 w 1424802"/>
              <a:gd name="connsiteY80" fmla="*/ 792415 h 1501661"/>
              <a:gd name="connsiteX81" fmla="*/ 85832 w 1424802"/>
              <a:gd name="connsiteY81" fmla="*/ 751384 h 1501661"/>
              <a:gd name="connsiteX82" fmla="*/ 91693 w 1424802"/>
              <a:gd name="connsiteY82" fmla="*/ 733799 h 1501661"/>
              <a:gd name="connsiteX83" fmla="*/ 97555 w 1424802"/>
              <a:gd name="connsiteY83" fmla="*/ 704492 h 1501661"/>
              <a:gd name="connsiteX84" fmla="*/ 103416 w 1424802"/>
              <a:gd name="connsiteY84" fmla="*/ 686907 h 1501661"/>
              <a:gd name="connsiteX85" fmla="*/ 102366 w 1424802"/>
              <a:gd name="connsiteY85" fmla="*/ 624276 h 1501661"/>
              <a:gd name="connsiteX86" fmla="*/ 83418 w 1424802"/>
              <a:gd name="connsiteY86" fmla="*/ 512803 h 1501661"/>
              <a:gd name="connsiteX87" fmla="*/ 83418 w 1424802"/>
              <a:gd name="connsiteY87" fmla="*/ 368787 h 1501661"/>
              <a:gd name="connsiteX88" fmla="*/ 85832 w 1424802"/>
              <a:gd name="connsiteY88" fmla="*/ 341076 h 1501661"/>
              <a:gd name="connsiteX89" fmla="*/ 79970 w 1424802"/>
              <a:gd name="connsiteY89" fmla="*/ 323492 h 1501661"/>
              <a:gd name="connsiteX0" fmla="*/ 79970 w 1424802"/>
              <a:gd name="connsiteY0" fmla="*/ 323492 h 1501661"/>
              <a:gd name="connsiteX1" fmla="*/ 97555 w 1424802"/>
              <a:gd name="connsiteY1" fmla="*/ 270738 h 1501661"/>
              <a:gd name="connsiteX2" fmla="*/ 103416 w 1424802"/>
              <a:gd name="connsiteY2" fmla="*/ 253153 h 1501661"/>
              <a:gd name="connsiteX3" fmla="*/ 109278 w 1424802"/>
              <a:gd name="connsiteY3" fmla="*/ 229707 h 1501661"/>
              <a:gd name="connsiteX4" fmla="*/ 132724 w 1424802"/>
              <a:gd name="connsiteY4" fmla="*/ 194538 h 1501661"/>
              <a:gd name="connsiteX5" fmla="*/ 82870 w 1424802"/>
              <a:gd name="connsiteY5" fmla="*/ 152782 h 1501661"/>
              <a:gd name="connsiteX6" fmla="*/ 197201 w 1424802"/>
              <a:gd name="connsiteY6" fmla="*/ 147645 h 1501661"/>
              <a:gd name="connsiteX7" fmla="*/ 226508 w 1424802"/>
              <a:gd name="connsiteY7" fmla="*/ 130061 h 1501661"/>
              <a:gd name="connsiteX8" fmla="*/ 226969 w 1424802"/>
              <a:gd name="connsiteY8" fmla="*/ 80757 h 1501661"/>
              <a:gd name="connsiteX9" fmla="*/ 308570 w 1424802"/>
              <a:gd name="connsiteY9" fmla="*/ 100753 h 1501661"/>
              <a:gd name="connsiteX10" fmla="*/ 299018 w 1424802"/>
              <a:gd name="connsiteY10" fmla="*/ 8729 h 1501661"/>
              <a:gd name="connsiteX11" fmla="*/ 371067 w 1424802"/>
              <a:gd name="connsiteY11" fmla="*/ 8731 h 1501661"/>
              <a:gd name="connsiteX12" fmla="*/ 443116 w 1424802"/>
              <a:gd name="connsiteY12" fmla="*/ 8729 h 1501661"/>
              <a:gd name="connsiteX13" fmla="*/ 587214 w 1424802"/>
              <a:gd name="connsiteY13" fmla="*/ 8731 h 1501661"/>
              <a:gd name="connsiteX14" fmla="*/ 659264 w 1424802"/>
              <a:gd name="connsiteY14" fmla="*/ 8729 h 1501661"/>
              <a:gd name="connsiteX15" fmla="*/ 671985 w 1424802"/>
              <a:gd name="connsiteY15" fmla="*/ 106615 h 1501661"/>
              <a:gd name="connsiteX16" fmla="*/ 731313 w 1424802"/>
              <a:gd name="connsiteY16" fmla="*/ 80757 h 1501661"/>
              <a:gd name="connsiteX17" fmla="*/ 731313 w 1424802"/>
              <a:gd name="connsiteY17" fmla="*/ 8730 h 1501661"/>
              <a:gd name="connsiteX18" fmla="*/ 754047 w 1424802"/>
              <a:gd name="connsiteY18" fmla="*/ 135922 h 1501661"/>
              <a:gd name="connsiteX19" fmla="*/ 771632 w 1424802"/>
              <a:gd name="connsiteY19" fmla="*/ 147645 h 1501661"/>
              <a:gd name="connsiteX20" fmla="*/ 789216 w 1424802"/>
              <a:gd name="connsiteY20" fmla="*/ 165230 h 1501661"/>
              <a:gd name="connsiteX21" fmla="*/ 824385 w 1424802"/>
              <a:gd name="connsiteY21" fmla="*/ 176953 h 1501661"/>
              <a:gd name="connsiteX22" fmla="*/ 841970 w 1424802"/>
              <a:gd name="connsiteY22" fmla="*/ 194538 h 1501661"/>
              <a:gd name="connsiteX23" fmla="*/ 847832 w 1424802"/>
              <a:gd name="connsiteY23" fmla="*/ 212122 h 1501661"/>
              <a:gd name="connsiteX24" fmla="*/ 865416 w 1424802"/>
              <a:gd name="connsiteY24" fmla="*/ 217984 h 1501661"/>
              <a:gd name="connsiteX25" fmla="*/ 906447 w 1424802"/>
              <a:gd name="connsiteY25" fmla="*/ 253153 h 1501661"/>
              <a:gd name="connsiteX26" fmla="*/ 918170 w 1424802"/>
              <a:gd name="connsiteY26" fmla="*/ 270738 h 1501661"/>
              <a:gd name="connsiteX27" fmla="*/ 935755 w 1424802"/>
              <a:gd name="connsiteY27" fmla="*/ 282461 h 1501661"/>
              <a:gd name="connsiteX28" fmla="*/ 959201 w 1424802"/>
              <a:gd name="connsiteY28" fmla="*/ 300045 h 1501661"/>
              <a:gd name="connsiteX29" fmla="*/ 976785 w 1424802"/>
              <a:gd name="connsiteY29" fmla="*/ 311769 h 1501661"/>
              <a:gd name="connsiteX30" fmla="*/ 994370 w 1424802"/>
              <a:gd name="connsiteY30" fmla="*/ 335215 h 1501661"/>
              <a:gd name="connsiteX31" fmla="*/ 1035401 w 1424802"/>
              <a:gd name="connsiteY31" fmla="*/ 358661 h 1501661"/>
              <a:gd name="connsiteX32" fmla="*/ 1058847 w 1424802"/>
              <a:gd name="connsiteY32" fmla="*/ 387969 h 1501661"/>
              <a:gd name="connsiteX33" fmla="*/ 1099878 w 1424802"/>
              <a:gd name="connsiteY33" fmla="*/ 423138 h 1501661"/>
              <a:gd name="connsiteX34" fmla="*/ 1129185 w 1424802"/>
              <a:gd name="connsiteY34" fmla="*/ 464169 h 1501661"/>
              <a:gd name="connsiteX35" fmla="*/ 1135047 w 1424802"/>
              <a:gd name="connsiteY35" fmla="*/ 481753 h 1501661"/>
              <a:gd name="connsiteX36" fmla="*/ 1170216 w 1424802"/>
              <a:gd name="connsiteY36" fmla="*/ 522784 h 1501661"/>
              <a:gd name="connsiteX37" fmla="*/ 1187801 w 1424802"/>
              <a:gd name="connsiteY37" fmla="*/ 546230 h 1501661"/>
              <a:gd name="connsiteX38" fmla="*/ 1211247 w 1424802"/>
              <a:gd name="connsiteY38" fmla="*/ 581399 h 1501661"/>
              <a:gd name="connsiteX39" fmla="*/ 1240555 w 1424802"/>
              <a:gd name="connsiteY39" fmla="*/ 622430 h 1501661"/>
              <a:gd name="connsiteX40" fmla="*/ 1264001 w 1424802"/>
              <a:gd name="connsiteY40" fmla="*/ 669322 h 1501661"/>
              <a:gd name="connsiteX41" fmla="*/ 1269862 w 1424802"/>
              <a:gd name="connsiteY41" fmla="*/ 686907 h 1501661"/>
              <a:gd name="connsiteX42" fmla="*/ 1287447 w 1424802"/>
              <a:gd name="connsiteY42" fmla="*/ 716215 h 1501661"/>
              <a:gd name="connsiteX43" fmla="*/ 1299170 w 1424802"/>
              <a:gd name="connsiteY43" fmla="*/ 739661 h 1501661"/>
              <a:gd name="connsiteX44" fmla="*/ 1316755 w 1424802"/>
              <a:gd name="connsiteY44" fmla="*/ 757245 h 1501661"/>
              <a:gd name="connsiteX45" fmla="*/ 1340201 w 1424802"/>
              <a:gd name="connsiteY45" fmla="*/ 798276 h 1501661"/>
              <a:gd name="connsiteX46" fmla="*/ 1351924 w 1424802"/>
              <a:gd name="connsiteY46" fmla="*/ 821722 h 1501661"/>
              <a:gd name="connsiteX47" fmla="*/ 1357785 w 1424802"/>
              <a:gd name="connsiteY47" fmla="*/ 839307 h 1501661"/>
              <a:gd name="connsiteX48" fmla="*/ 1369508 w 1424802"/>
              <a:gd name="connsiteY48" fmla="*/ 856892 h 1501661"/>
              <a:gd name="connsiteX49" fmla="*/ 1381232 w 1424802"/>
              <a:gd name="connsiteY49" fmla="*/ 886199 h 1501661"/>
              <a:gd name="connsiteX50" fmla="*/ 1398816 w 1424802"/>
              <a:gd name="connsiteY50" fmla="*/ 962399 h 1501661"/>
              <a:gd name="connsiteX51" fmla="*/ 1410539 w 1424802"/>
              <a:gd name="connsiteY51" fmla="*/ 1032738 h 1501661"/>
              <a:gd name="connsiteX52" fmla="*/ 1416401 w 1424802"/>
              <a:gd name="connsiteY52" fmla="*/ 1050322 h 1501661"/>
              <a:gd name="connsiteX53" fmla="*/ 1410539 w 1424802"/>
              <a:gd name="connsiteY53" fmla="*/ 1202722 h 1501661"/>
              <a:gd name="connsiteX54" fmla="*/ 1404287 w 1424802"/>
              <a:gd name="connsiteY54" fmla="*/ 1326348 h 1501661"/>
              <a:gd name="connsiteX55" fmla="*/ 1287447 w 1424802"/>
              <a:gd name="connsiteY55" fmla="*/ 1460630 h 1501661"/>
              <a:gd name="connsiteX56" fmla="*/ 1269862 w 1424802"/>
              <a:gd name="connsiteY56" fmla="*/ 1472353 h 1501661"/>
              <a:gd name="connsiteX57" fmla="*/ 1234693 w 1424802"/>
              <a:gd name="connsiteY57" fmla="*/ 1484076 h 1501661"/>
              <a:gd name="connsiteX58" fmla="*/ 1217108 w 1424802"/>
              <a:gd name="connsiteY58" fmla="*/ 1489938 h 1501661"/>
              <a:gd name="connsiteX59" fmla="*/ 1176078 w 1424802"/>
              <a:gd name="connsiteY59" fmla="*/ 1495799 h 1501661"/>
              <a:gd name="connsiteX60" fmla="*/ 1140908 w 1424802"/>
              <a:gd name="connsiteY60" fmla="*/ 1501661 h 1501661"/>
              <a:gd name="connsiteX61" fmla="*/ 900585 w 1424802"/>
              <a:gd name="connsiteY61" fmla="*/ 1495799 h 1501661"/>
              <a:gd name="connsiteX62" fmla="*/ 883001 w 1424802"/>
              <a:gd name="connsiteY62" fmla="*/ 1489938 h 1501661"/>
              <a:gd name="connsiteX63" fmla="*/ 800939 w 1424802"/>
              <a:gd name="connsiteY63" fmla="*/ 1484076 h 1501661"/>
              <a:gd name="connsiteX64" fmla="*/ 630955 w 1424802"/>
              <a:gd name="connsiteY64" fmla="*/ 1478215 h 1501661"/>
              <a:gd name="connsiteX65" fmla="*/ 572339 w 1424802"/>
              <a:gd name="connsiteY65" fmla="*/ 1472353 h 1501661"/>
              <a:gd name="connsiteX66" fmla="*/ 476812 w 1424802"/>
              <a:gd name="connsiteY66" fmla="*/ 1478215 h 1501661"/>
              <a:gd name="connsiteX67" fmla="*/ 155426 w 1424802"/>
              <a:gd name="connsiteY67" fmla="*/ 1448907 h 1501661"/>
              <a:gd name="connsiteX68" fmla="*/ 83418 w 1424802"/>
              <a:gd name="connsiteY68" fmla="*/ 1376899 h 1501661"/>
              <a:gd name="connsiteX69" fmla="*/ 50662 w 1424802"/>
              <a:gd name="connsiteY69" fmla="*/ 1325815 h 1501661"/>
              <a:gd name="connsiteX70" fmla="*/ 33078 w 1424802"/>
              <a:gd name="connsiteY70" fmla="*/ 1308230 h 1501661"/>
              <a:gd name="connsiteX71" fmla="*/ 21355 w 1424802"/>
              <a:gd name="connsiteY71" fmla="*/ 1267199 h 1501661"/>
              <a:gd name="connsiteX72" fmla="*/ 9632 w 1424802"/>
              <a:gd name="connsiteY72" fmla="*/ 1220307 h 1501661"/>
              <a:gd name="connsiteX73" fmla="*/ 9632 w 1424802"/>
              <a:gd name="connsiteY73" fmla="*/ 1021015 h 1501661"/>
              <a:gd name="connsiteX74" fmla="*/ 15493 w 1424802"/>
              <a:gd name="connsiteY74" fmla="*/ 1003430 h 1501661"/>
              <a:gd name="connsiteX75" fmla="*/ 21355 w 1424802"/>
              <a:gd name="connsiteY75" fmla="*/ 950676 h 1501661"/>
              <a:gd name="connsiteX76" fmla="*/ 27216 w 1424802"/>
              <a:gd name="connsiteY76" fmla="*/ 933092 h 1501661"/>
              <a:gd name="connsiteX77" fmla="*/ 33078 w 1424802"/>
              <a:gd name="connsiteY77" fmla="*/ 897922 h 1501661"/>
              <a:gd name="connsiteX78" fmla="*/ 50662 w 1424802"/>
              <a:gd name="connsiteY78" fmla="*/ 856892 h 1501661"/>
              <a:gd name="connsiteX79" fmla="*/ 62385 w 1424802"/>
              <a:gd name="connsiteY79" fmla="*/ 815861 h 1501661"/>
              <a:gd name="connsiteX80" fmla="*/ 74108 w 1424802"/>
              <a:gd name="connsiteY80" fmla="*/ 792415 h 1501661"/>
              <a:gd name="connsiteX81" fmla="*/ 85832 w 1424802"/>
              <a:gd name="connsiteY81" fmla="*/ 751384 h 1501661"/>
              <a:gd name="connsiteX82" fmla="*/ 91693 w 1424802"/>
              <a:gd name="connsiteY82" fmla="*/ 733799 h 1501661"/>
              <a:gd name="connsiteX83" fmla="*/ 97555 w 1424802"/>
              <a:gd name="connsiteY83" fmla="*/ 704492 h 1501661"/>
              <a:gd name="connsiteX84" fmla="*/ 103416 w 1424802"/>
              <a:gd name="connsiteY84" fmla="*/ 686907 h 1501661"/>
              <a:gd name="connsiteX85" fmla="*/ 102366 w 1424802"/>
              <a:gd name="connsiteY85" fmla="*/ 624276 h 1501661"/>
              <a:gd name="connsiteX86" fmla="*/ 83418 w 1424802"/>
              <a:gd name="connsiteY86" fmla="*/ 512803 h 1501661"/>
              <a:gd name="connsiteX87" fmla="*/ 83418 w 1424802"/>
              <a:gd name="connsiteY87" fmla="*/ 368787 h 1501661"/>
              <a:gd name="connsiteX88" fmla="*/ 85832 w 1424802"/>
              <a:gd name="connsiteY88" fmla="*/ 341076 h 1501661"/>
              <a:gd name="connsiteX89" fmla="*/ 79970 w 1424802"/>
              <a:gd name="connsiteY89" fmla="*/ 323492 h 1501661"/>
              <a:gd name="connsiteX0" fmla="*/ 79970 w 1424802"/>
              <a:gd name="connsiteY0" fmla="*/ 323492 h 1501661"/>
              <a:gd name="connsiteX1" fmla="*/ 97555 w 1424802"/>
              <a:gd name="connsiteY1" fmla="*/ 270738 h 1501661"/>
              <a:gd name="connsiteX2" fmla="*/ 103416 w 1424802"/>
              <a:gd name="connsiteY2" fmla="*/ 253153 h 1501661"/>
              <a:gd name="connsiteX3" fmla="*/ 109278 w 1424802"/>
              <a:gd name="connsiteY3" fmla="*/ 229707 h 1501661"/>
              <a:gd name="connsiteX4" fmla="*/ 82870 w 1424802"/>
              <a:gd name="connsiteY4" fmla="*/ 152783 h 1501661"/>
              <a:gd name="connsiteX5" fmla="*/ 82870 w 1424802"/>
              <a:gd name="connsiteY5" fmla="*/ 152782 h 1501661"/>
              <a:gd name="connsiteX6" fmla="*/ 197201 w 1424802"/>
              <a:gd name="connsiteY6" fmla="*/ 147645 h 1501661"/>
              <a:gd name="connsiteX7" fmla="*/ 226508 w 1424802"/>
              <a:gd name="connsiteY7" fmla="*/ 130061 h 1501661"/>
              <a:gd name="connsiteX8" fmla="*/ 226969 w 1424802"/>
              <a:gd name="connsiteY8" fmla="*/ 80757 h 1501661"/>
              <a:gd name="connsiteX9" fmla="*/ 308570 w 1424802"/>
              <a:gd name="connsiteY9" fmla="*/ 100753 h 1501661"/>
              <a:gd name="connsiteX10" fmla="*/ 299018 w 1424802"/>
              <a:gd name="connsiteY10" fmla="*/ 8729 h 1501661"/>
              <a:gd name="connsiteX11" fmla="*/ 371067 w 1424802"/>
              <a:gd name="connsiteY11" fmla="*/ 8731 h 1501661"/>
              <a:gd name="connsiteX12" fmla="*/ 443116 w 1424802"/>
              <a:gd name="connsiteY12" fmla="*/ 8729 h 1501661"/>
              <a:gd name="connsiteX13" fmla="*/ 587214 w 1424802"/>
              <a:gd name="connsiteY13" fmla="*/ 8731 h 1501661"/>
              <a:gd name="connsiteX14" fmla="*/ 659264 w 1424802"/>
              <a:gd name="connsiteY14" fmla="*/ 8729 h 1501661"/>
              <a:gd name="connsiteX15" fmla="*/ 671985 w 1424802"/>
              <a:gd name="connsiteY15" fmla="*/ 106615 h 1501661"/>
              <a:gd name="connsiteX16" fmla="*/ 731313 w 1424802"/>
              <a:gd name="connsiteY16" fmla="*/ 80757 h 1501661"/>
              <a:gd name="connsiteX17" fmla="*/ 731313 w 1424802"/>
              <a:gd name="connsiteY17" fmla="*/ 8730 h 1501661"/>
              <a:gd name="connsiteX18" fmla="*/ 754047 w 1424802"/>
              <a:gd name="connsiteY18" fmla="*/ 135922 h 1501661"/>
              <a:gd name="connsiteX19" fmla="*/ 771632 w 1424802"/>
              <a:gd name="connsiteY19" fmla="*/ 147645 h 1501661"/>
              <a:gd name="connsiteX20" fmla="*/ 789216 w 1424802"/>
              <a:gd name="connsiteY20" fmla="*/ 165230 h 1501661"/>
              <a:gd name="connsiteX21" fmla="*/ 824385 w 1424802"/>
              <a:gd name="connsiteY21" fmla="*/ 176953 h 1501661"/>
              <a:gd name="connsiteX22" fmla="*/ 841970 w 1424802"/>
              <a:gd name="connsiteY22" fmla="*/ 194538 h 1501661"/>
              <a:gd name="connsiteX23" fmla="*/ 847832 w 1424802"/>
              <a:gd name="connsiteY23" fmla="*/ 212122 h 1501661"/>
              <a:gd name="connsiteX24" fmla="*/ 865416 w 1424802"/>
              <a:gd name="connsiteY24" fmla="*/ 217984 h 1501661"/>
              <a:gd name="connsiteX25" fmla="*/ 906447 w 1424802"/>
              <a:gd name="connsiteY25" fmla="*/ 253153 h 1501661"/>
              <a:gd name="connsiteX26" fmla="*/ 918170 w 1424802"/>
              <a:gd name="connsiteY26" fmla="*/ 270738 h 1501661"/>
              <a:gd name="connsiteX27" fmla="*/ 935755 w 1424802"/>
              <a:gd name="connsiteY27" fmla="*/ 282461 h 1501661"/>
              <a:gd name="connsiteX28" fmla="*/ 959201 w 1424802"/>
              <a:gd name="connsiteY28" fmla="*/ 300045 h 1501661"/>
              <a:gd name="connsiteX29" fmla="*/ 976785 w 1424802"/>
              <a:gd name="connsiteY29" fmla="*/ 311769 h 1501661"/>
              <a:gd name="connsiteX30" fmla="*/ 994370 w 1424802"/>
              <a:gd name="connsiteY30" fmla="*/ 335215 h 1501661"/>
              <a:gd name="connsiteX31" fmla="*/ 1035401 w 1424802"/>
              <a:gd name="connsiteY31" fmla="*/ 358661 h 1501661"/>
              <a:gd name="connsiteX32" fmla="*/ 1058847 w 1424802"/>
              <a:gd name="connsiteY32" fmla="*/ 387969 h 1501661"/>
              <a:gd name="connsiteX33" fmla="*/ 1099878 w 1424802"/>
              <a:gd name="connsiteY33" fmla="*/ 423138 h 1501661"/>
              <a:gd name="connsiteX34" fmla="*/ 1129185 w 1424802"/>
              <a:gd name="connsiteY34" fmla="*/ 464169 h 1501661"/>
              <a:gd name="connsiteX35" fmla="*/ 1135047 w 1424802"/>
              <a:gd name="connsiteY35" fmla="*/ 481753 h 1501661"/>
              <a:gd name="connsiteX36" fmla="*/ 1170216 w 1424802"/>
              <a:gd name="connsiteY36" fmla="*/ 522784 h 1501661"/>
              <a:gd name="connsiteX37" fmla="*/ 1187801 w 1424802"/>
              <a:gd name="connsiteY37" fmla="*/ 546230 h 1501661"/>
              <a:gd name="connsiteX38" fmla="*/ 1211247 w 1424802"/>
              <a:gd name="connsiteY38" fmla="*/ 581399 h 1501661"/>
              <a:gd name="connsiteX39" fmla="*/ 1240555 w 1424802"/>
              <a:gd name="connsiteY39" fmla="*/ 622430 h 1501661"/>
              <a:gd name="connsiteX40" fmla="*/ 1264001 w 1424802"/>
              <a:gd name="connsiteY40" fmla="*/ 669322 h 1501661"/>
              <a:gd name="connsiteX41" fmla="*/ 1269862 w 1424802"/>
              <a:gd name="connsiteY41" fmla="*/ 686907 h 1501661"/>
              <a:gd name="connsiteX42" fmla="*/ 1287447 w 1424802"/>
              <a:gd name="connsiteY42" fmla="*/ 716215 h 1501661"/>
              <a:gd name="connsiteX43" fmla="*/ 1299170 w 1424802"/>
              <a:gd name="connsiteY43" fmla="*/ 739661 h 1501661"/>
              <a:gd name="connsiteX44" fmla="*/ 1316755 w 1424802"/>
              <a:gd name="connsiteY44" fmla="*/ 757245 h 1501661"/>
              <a:gd name="connsiteX45" fmla="*/ 1340201 w 1424802"/>
              <a:gd name="connsiteY45" fmla="*/ 798276 h 1501661"/>
              <a:gd name="connsiteX46" fmla="*/ 1351924 w 1424802"/>
              <a:gd name="connsiteY46" fmla="*/ 821722 h 1501661"/>
              <a:gd name="connsiteX47" fmla="*/ 1357785 w 1424802"/>
              <a:gd name="connsiteY47" fmla="*/ 839307 h 1501661"/>
              <a:gd name="connsiteX48" fmla="*/ 1369508 w 1424802"/>
              <a:gd name="connsiteY48" fmla="*/ 856892 h 1501661"/>
              <a:gd name="connsiteX49" fmla="*/ 1381232 w 1424802"/>
              <a:gd name="connsiteY49" fmla="*/ 886199 h 1501661"/>
              <a:gd name="connsiteX50" fmla="*/ 1398816 w 1424802"/>
              <a:gd name="connsiteY50" fmla="*/ 962399 h 1501661"/>
              <a:gd name="connsiteX51" fmla="*/ 1410539 w 1424802"/>
              <a:gd name="connsiteY51" fmla="*/ 1032738 h 1501661"/>
              <a:gd name="connsiteX52" fmla="*/ 1416401 w 1424802"/>
              <a:gd name="connsiteY52" fmla="*/ 1050322 h 1501661"/>
              <a:gd name="connsiteX53" fmla="*/ 1410539 w 1424802"/>
              <a:gd name="connsiteY53" fmla="*/ 1202722 h 1501661"/>
              <a:gd name="connsiteX54" fmla="*/ 1404287 w 1424802"/>
              <a:gd name="connsiteY54" fmla="*/ 1326348 h 1501661"/>
              <a:gd name="connsiteX55" fmla="*/ 1287447 w 1424802"/>
              <a:gd name="connsiteY55" fmla="*/ 1460630 h 1501661"/>
              <a:gd name="connsiteX56" fmla="*/ 1269862 w 1424802"/>
              <a:gd name="connsiteY56" fmla="*/ 1472353 h 1501661"/>
              <a:gd name="connsiteX57" fmla="*/ 1234693 w 1424802"/>
              <a:gd name="connsiteY57" fmla="*/ 1484076 h 1501661"/>
              <a:gd name="connsiteX58" fmla="*/ 1217108 w 1424802"/>
              <a:gd name="connsiteY58" fmla="*/ 1489938 h 1501661"/>
              <a:gd name="connsiteX59" fmla="*/ 1176078 w 1424802"/>
              <a:gd name="connsiteY59" fmla="*/ 1495799 h 1501661"/>
              <a:gd name="connsiteX60" fmla="*/ 1140908 w 1424802"/>
              <a:gd name="connsiteY60" fmla="*/ 1501661 h 1501661"/>
              <a:gd name="connsiteX61" fmla="*/ 900585 w 1424802"/>
              <a:gd name="connsiteY61" fmla="*/ 1495799 h 1501661"/>
              <a:gd name="connsiteX62" fmla="*/ 883001 w 1424802"/>
              <a:gd name="connsiteY62" fmla="*/ 1489938 h 1501661"/>
              <a:gd name="connsiteX63" fmla="*/ 800939 w 1424802"/>
              <a:gd name="connsiteY63" fmla="*/ 1484076 h 1501661"/>
              <a:gd name="connsiteX64" fmla="*/ 630955 w 1424802"/>
              <a:gd name="connsiteY64" fmla="*/ 1478215 h 1501661"/>
              <a:gd name="connsiteX65" fmla="*/ 572339 w 1424802"/>
              <a:gd name="connsiteY65" fmla="*/ 1472353 h 1501661"/>
              <a:gd name="connsiteX66" fmla="*/ 476812 w 1424802"/>
              <a:gd name="connsiteY66" fmla="*/ 1478215 h 1501661"/>
              <a:gd name="connsiteX67" fmla="*/ 155426 w 1424802"/>
              <a:gd name="connsiteY67" fmla="*/ 1448907 h 1501661"/>
              <a:gd name="connsiteX68" fmla="*/ 83418 w 1424802"/>
              <a:gd name="connsiteY68" fmla="*/ 1376899 h 1501661"/>
              <a:gd name="connsiteX69" fmla="*/ 50662 w 1424802"/>
              <a:gd name="connsiteY69" fmla="*/ 1325815 h 1501661"/>
              <a:gd name="connsiteX70" fmla="*/ 33078 w 1424802"/>
              <a:gd name="connsiteY70" fmla="*/ 1308230 h 1501661"/>
              <a:gd name="connsiteX71" fmla="*/ 21355 w 1424802"/>
              <a:gd name="connsiteY71" fmla="*/ 1267199 h 1501661"/>
              <a:gd name="connsiteX72" fmla="*/ 9632 w 1424802"/>
              <a:gd name="connsiteY72" fmla="*/ 1220307 h 1501661"/>
              <a:gd name="connsiteX73" fmla="*/ 9632 w 1424802"/>
              <a:gd name="connsiteY73" fmla="*/ 1021015 h 1501661"/>
              <a:gd name="connsiteX74" fmla="*/ 15493 w 1424802"/>
              <a:gd name="connsiteY74" fmla="*/ 1003430 h 1501661"/>
              <a:gd name="connsiteX75" fmla="*/ 21355 w 1424802"/>
              <a:gd name="connsiteY75" fmla="*/ 950676 h 1501661"/>
              <a:gd name="connsiteX76" fmla="*/ 27216 w 1424802"/>
              <a:gd name="connsiteY76" fmla="*/ 933092 h 1501661"/>
              <a:gd name="connsiteX77" fmla="*/ 33078 w 1424802"/>
              <a:gd name="connsiteY77" fmla="*/ 897922 h 1501661"/>
              <a:gd name="connsiteX78" fmla="*/ 50662 w 1424802"/>
              <a:gd name="connsiteY78" fmla="*/ 856892 h 1501661"/>
              <a:gd name="connsiteX79" fmla="*/ 62385 w 1424802"/>
              <a:gd name="connsiteY79" fmla="*/ 815861 h 1501661"/>
              <a:gd name="connsiteX80" fmla="*/ 74108 w 1424802"/>
              <a:gd name="connsiteY80" fmla="*/ 792415 h 1501661"/>
              <a:gd name="connsiteX81" fmla="*/ 85832 w 1424802"/>
              <a:gd name="connsiteY81" fmla="*/ 751384 h 1501661"/>
              <a:gd name="connsiteX82" fmla="*/ 91693 w 1424802"/>
              <a:gd name="connsiteY82" fmla="*/ 733799 h 1501661"/>
              <a:gd name="connsiteX83" fmla="*/ 97555 w 1424802"/>
              <a:gd name="connsiteY83" fmla="*/ 704492 h 1501661"/>
              <a:gd name="connsiteX84" fmla="*/ 103416 w 1424802"/>
              <a:gd name="connsiteY84" fmla="*/ 686907 h 1501661"/>
              <a:gd name="connsiteX85" fmla="*/ 102366 w 1424802"/>
              <a:gd name="connsiteY85" fmla="*/ 624276 h 1501661"/>
              <a:gd name="connsiteX86" fmla="*/ 83418 w 1424802"/>
              <a:gd name="connsiteY86" fmla="*/ 512803 h 1501661"/>
              <a:gd name="connsiteX87" fmla="*/ 83418 w 1424802"/>
              <a:gd name="connsiteY87" fmla="*/ 368787 h 1501661"/>
              <a:gd name="connsiteX88" fmla="*/ 85832 w 1424802"/>
              <a:gd name="connsiteY88" fmla="*/ 341076 h 1501661"/>
              <a:gd name="connsiteX89" fmla="*/ 79970 w 1424802"/>
              <a:gd name="connsiteY89" fmla="*/ 323492 h 1501661"/>
              <a:gd name="connsiteX0" fmla="*/ 79970 w 1424802"/>
              <a:gd name="connsiteY0" fmla="*/ 323492 h 1501661"/>
              <a:gd name="connsiteX1" fmla="*/ 97555 w 1424802"/>
              <a:gd name="connsiteY1" fmla="*/ 270738 h 1501661"/>
              <a:gd name="connsiteX2" fmla="*/ 103416 w 1424802"/>
              <a:gd name="connsiteY2" fmla="*/ 253153 h 1501661"/>
              <a:gd name="connsiteX3" fmla="*/ 82870 w 1424802"/>
              <a:gd name="connsiteY3" fmla="*/ 224810 h 1501661"/>
              <a:gd name="connsiteX4" fmla="*/ 82870 w 1424802"/>
              <a:gd name="connsiteY4" fmla="*/ 152783 h 1501661"/>
              <a:gd name="connsiteX5" fmla="*/ 82870 w 1424802"/>
              <a:gd name="connsiteY5" fmla="*/ 152782 h 1501661"/>
              <a:gd name="connsiteX6" fmla="*/ 197201 w 1424802"/>
              <a:gd name="connsiteY6" fmla="*/ 147645 h 1501661"/>
              <a:gd name="connsiteX7" fmla="*/ 226508 w 1424802"/>
              <a:gd name="connsiteY7" fmla="*/ 130061 h 1501661"/>
              <a:gd name="connsiteX8" fmla="*/ 226969 w 1424802"/>
              <a:gd name="connsiteY8" fmla="*/ 80757 h 1501661"/>
              <a:gd name="connsiteX9" fmla="*/ 308570 w 1424802"/>
              <a:gd name="connsiteY9" fmla="*/ 100753 h 1501661"/>
              <a:gd name="connsiteX10" fmla="*/ 299018 w 1424802"/>
              <a:gd name="connsiteY10" fmla="*/ 8729 h 1501661"/>
              <a:gd name="connsiteX11" fmla="*/ 371067 w 1424802"/>
              <a:gd name="connsiteY11" fmla="*/ 8731 h 1501661"/>
              <a:gd name="connsiteX12" fmla="*/ 443116 w 1424802"/>
              <a:gd name="connsiteY12" fmla="*/ 8729 h 1501661"/>
              <a:gd name="connsiteX13" fmla="*/ 587214 w 1424802"/>
              <a:gd name="connsiteY13" fmla="*/ 8731 h 1501661"/>
              <a:gd name="connsiteX14" fmla="*/ 659264 w 1424802"/>
              <a:gd name="connsiteY14" fmla="*/ 8729 h 1501661"/>
              <a:gd name="connsiteX15" fmla="*/ 671985 w 1424802"/>
              <a:gd name="connsiteY15" fmla="*/ 106615 h 1501661"/>
              <a:gd name="connsiteX16" fmla="*/ 731313 w 1424802"/>
              <a:gd name="connsiteY16" fmla="*/ 80757 h 1501661"/>
              <a:gd name="connsiteX17" fmla="*/ 731313 w 1424802"/>
              <a:gd name="connsiteY17" fmla="*/ 8730 h 1501661"/>
              <a:gd name="connsiteX18" fmla="*/ 754047 w 1424802"/>
              <a:gd name="connsiteY18" fmla="*/ 135922 h 1501661"/>
              <a:gd name="connsiteX19" fmla="*/ 771632 w 1424802"/>
              <a:gd name="connsiteY19" fmla="*/ 147645 h 1501661"/>
              <a:gd name="connsiteX20" fmla="*/ 789216 w 1424802"/>
              <a:gd name="connsiteY20" fmla="*/ 165230 h 1501661"/>
              <a:gd name="connsiteX21" fmla="*/ 824385 w 1424802"/>
              <a:gd name="connsiteY21" fmla="*/ 176953 h 1501661"/>
              <a:gd name="connsiteX22" fmla="*/ 841970 w 1424802"/>
              <a:gd name="connsiteY22" fmla="*/ 194538 h 1501661"/>
              <a:gd name="connsiteX23" fmla="*/ 847832 w 1424802"/>
              <a:gd name="connsiteY23" fmla="*/ 212122 h 1501661"/>
              <a:gd name="connsiteX24" fmla="*/ 865416 w 1424802"/>
              <a:gd name="connsiteY24" fmla="*/ 217984 h 1501661"/>
              <a:gd name="connsiteX25" fmla="*/ 906447 w 1424802"/>
              <a:gd name="connsiteY25" fmla="*/ 253153 h 1501661"/>
              <a:gd name="connsiteX26" fmla="*/ 918170 w 1424802"/>
              <a:gd name="connsiteY26" fmla="*/ 270738 h 1501661"/>
              <a:gd name="connsiteX27" fmla="*/ 935755 w 1424802"/>
              <a:gd name="connsiteY27" fmla="*/ 282461 h 1501661"/>
              <a:gd name="connsiteX28" fmla="*/ 959201 w 1424802"/>
              <a:gd name="connsiteY28" fmla="*/ 300045 h 1501661"/>
              <a:gd name="connsiteX29" fmla="*/ 976785 w 1424802"/>
              <a:gd name="connsiteY29" fmla="*/ 311769 h 1501661"/>
              <a:gd name="connsiteX30" fmla="*/ 994370 w 1424802"/>
              <a:gd name="connsiteY30" fmla="*/ 335215 h 1501661"/>
              <a:gd name="connsiteX31" fmla="*/ 1035401 w 1424802"/>
              <a:gd name="connsiteY31" fmla="*/ 358661 h 1501661"/>
              <a:gd name="connsiteX32" fmla="*/ 1058847 w 1424802"/>
              <a:gd name="connsiteY32" fmla="*/ 387969 h 1501661"/>
              <a:gd name="connsiteX33" fmla="*/ 1099878 w 1424802"/>
              <a:gd name="connsiteY33" fmla="*/ 423138 h 1501661"/>
              <a:gd name="connsiteX34" fmla="*/ 1129185 w 1424802"/>
              <a:gd name="connsiteY34" fmla="*/ 464169 h 1501661"/>
              <a:gd name="connsiteX35" fmla="*/ 1135047 w 1424802"/>
              <a:gd name="connsiteY35" fmla="*/ 481753 h 1501661"/>
              <a:gd name="connsiteX36" fmla="*/ 1170216 w 1424802"/>
              <a:gd name="connsiteY36" fmla="*/ 522784 h 1501661"/>
              <a:gd name="connsiteX37" fmla="*/ 1187801 w 1424802"/>
              <a:gd name="connsiteY37" fmla="*/ 546230 h 1501661"/>
              <a:gd name="connsiteX38" fmla="*/ 1211247 w 1424802"/>
              <a:gd name="connsiteY38" fmla="*/ 581399 h 1501661"/>
              <a:gd name="connsiteX39" fmla="*/ 1240555 w 1424802"/>
              <a:gd name="connsiteY39" fmla="*/ 622430 h 1501661"/>
              <a:gd name="connsiteX40" fmla="*/ 1264001 w 1424802"/>
              <a:gd name="connsiteY40" fmla="*/ 669322 h 1501661"/>
              <a:gd name="connsiteX41" fmla="*/ 1269862 w 1424802"/>
              <a:gd name="connsiteY41" fmla="*/ 686907 h 1501661"/>
              <a:gd name="connsiteX42" fmla="*/ 1287447 w 1424802"/>
              <a:gd name="connsiteY42" fmla="*/ 716215 h 1501661"/>
              <a:gd name="connsiteX43" fmla="*/ 1299170 w 1424802"/>
              <a:gd name="connsiteY43" fmla="*/ 739661 h 1501661"/>
              <a:gd name="connsiteX44" fmla="*/ 1316755 w 1424802"/>
              <a:gd name="connsiteY44" fmla="*/ 757245 h 1501661"/>
              <a:gd name="connsiteX45" fmla="*/ 1340201 w 1424802"/>
              <a:gd name="connsiteY45" fmla="*/ 798276 h 1501661"/>
              <a:gd name="connsiteX46" fmla="*/ 1351924 w 1424802"/>
              <a:gd name="connsiteY46" fmla="*/ 821722 h 1501661"/>
              <a:gd name="connsiteX47" fmla="*/ 1357785 w 1424802"/>
              <a:gd name="connsiteY47" fmla="*/ 839307 h 1501661"/>
              <a:gd name="connsiteX48" fmla="*/ 1369508 w 1424802"/>
              <a:gd name="connsiteY48" fmla="*/ 856892 h 1501661"/>
              <a:gd name="connsiteX49" fmla="*/ 1381232 w 1424802"/>
              <a:gd name="connsiteY49" fmla="*/ 886199 h 1501661"/>
              <a:gd name="connsiteX50" fmla="*/ 1398816 w 1424802"/>
              <a:gd name="connsiteY50" fmla="*/ 962399 h 1501661"/>
              <a:gd name="connsiteX51" fmla="*/ 1410539 w 1424802"/>
              <a:gd name="connsiteY51" fmla="*/ 1032738 h 1501661"/>
              <a:gd name="connsiteX52" fmla="*/ 1416401 w 1424802"/>
              <a:gd name="connsiteY52" fmla="*/ 1050322 h 1501661"/>
              <a:gd name="connsiteX53" fmla="*/ 1410539 w 1424802"/>
              <a:gd name="connsiteY53" fmla="*/ 1202722 h 1501661"/>
              <a:gd name="connsiteX54" fmla="*/ 1404287 w 1424802"/>
              <a:gd name="connsiteY54" fmla="*/ 1326348 h 1501661"/>
              <a:gd name="connsiteX55" fmla="*/ 1287447 w 1424802"/>
              <a:gd name="connsiteY55" fmla="*/ 1460630 h 1501661"/>
              <a:gd name="connsiteX56" fmla="*/ 1269862 w 1424802"/>
              <a:gd name="connsiteY56" fmla="*/ 1472353 h 1501661"/>
              <a:gd name="connsiteX57" fmla="*/ 1234693 w 1424802"/>
              <a:gd name="connsiteY57" fmla="*/ 1484076 h 1501661"/>
              <a:gd name="connsiteX58" fmla="*/ 1217108 w 1424802"/>
              <a:gd name="connsiteY58" fmla="*/ 1489938 h 1501661"/>
              <a:gd name="connsiteX59" fmla="*/ 1176078 w 1424802"/>
              <a:gd name="connsiteY59" fmla="*/ 1495799 h 1501661"/>
              <a:gd name="connsiteX60" fmla="*/ 1140908 w 1424802"/>
              <a:gd name="connsiteY60" fmla="*/ 1501661 h 1501661"/>
              <a:gd name="connsiteX61" fmla="*/ 900585 w 1424802"/>
              <a:gd name="connsiteY61" fmla="*/ 1495799 h 1501661"/>
              <a:gd name="connsiteX62" fmla="*/ 883001 w 1424802"/>
              <a:gd name="connsiteY62" fmla="*/ 1489938 h 1501661"/>
              <a:gd name="connsiteX63" fmla="*/ 800939 w 1424802"/>
              <a:gd name="connsiteY63" fmla="*/ 1484076 h 1501661"/>
              <a:gd name="connsiteX64" fmla="*/ 630955 w 1424802"/>
              <a:gd name="connsiteY64" fmla="*/ 1478215 h 1501661"/>
              <a:gd name="connsiteX65" fmla="*/ 572339 w 1424802"/>
              <a:gd name="connsiteY65" fmla="*/ 1472353 h 1501661"/>
              <a:gd name="connsiteX66" fmla="*/ 476812 w 1424802"/>
              <a:gd name="connsiteY66" fmla="*/ 1478215 h 1501661"/>
              <a:gd name="connsiteX67" fmla="*/ 155426 w 1424802"/>
              <a:gd name="connsiteY67" fmla="*/ 1448907 h 1501661"/>
              <a:gd name="connsiteX68" fmla="*/ 83418 w 1424802"/>
              <a:gd name="connsiteY68" fmla="*/ 1376899 h 1501661"/>
              <a:gd name="connsiteX69" fmla="*/ 50662 w 1424802"/>
              <a:gd name="connsiteY69" fmla="*/ 1325815 h 1501661"/>
              <a:gd name="connsiteX70" fmla="*/ 33078 w 1424802"/>
              <a:gd name="connsiteY70" fmla="*/ 1308230 h 1501661"/>
              <a:gd name="connsiteX71" fmla="*/ 21355 w 1424802"/>
              <a:gd name="connsiteY71" fmla="*/ 1267199 h 1501661"/>
              <a:gd name="connsiteX72" fmla="*/ 9632 w 1424802"/>
              <a:gd name="connsiteY72" fmla="*/ 1220307 h 1501661"/>
              <a:gd name="connsiteX73" fmla="*/ 9632 w 1424802"/>
              <a:gd name="connsiteY73" fmla="*/ 1021015 h 1501661"/>
              <a:gd name="connsiteX74" fmla="*/ 15493 w 1424802"/>
              <a:gd name="connsiteY74" fmla="*/ 1003430 h 1501661"/>
              <a:gd name="connsiteX75" fmla="*/ 21355 w 1424802"/>
              <a:gd name="connsiteY75" fmla="*/ 950676 h 1501661"/>
              <a:gd name="connsiteX76" fmla="*/ 27216 w 1424802"/>
              <a:gd name="connsiteY76" fmla="*/ 933092 h 1501661"/>
              <a:gd name="connsiteX77" fmla="*/ 33078 w 1424802"/>
              <a:gd name="connsiteY77" fmla="*/ 897922 h 1501661"/>
              <a:gd name="connsiteX78" fmla="*/ 50662 w 1424802"/>
              <a:gd name="connsiteY78" fmla="*/ 856892 h 1501661"/>
              <a:gd name="connsiteX79" fmla="*/ 62385 w 1424802"/>
              <a:gd name="connsiteY79" fmla="*/ 815861 h 1501661"/>
              <a:gd name="connsiteX80" fmla="*/ 74108 w 1424802"/>
              <a:gd name="connsiteY80" fmla="*/ 792415 h 1501661"/>
              <a:gd name="connsiteX81" fmla="*/ 85832 w 1424802"/>
              <a:gd name="connsiteY81" fmla="*/ 751384 h 1501661"/>
              <a:gd name="connsiteX82" fmla="*/ 91693 w 1424802"/>
              <a:gd name="connsiteY82" fmla="*/ 733799 h 1501661"/>
              <a:gd name="connsiteX83" fmla="*/ 97555 w 1424802"/>
              <a:gd name="connsiteY83" fmla="*/ 704492 h 1501661"/>
              <a:gd name="connsiteX84" fmla="*/ 103416 w 1424802"/>
              <a:gd name="connsiteY84" fmla="*/ 686907 h 1501661"/>
              <a:gd name="connsiteX85" fmla="*/ 102366 w 1424802"/>
              <a:gd name="connsiteY85" fmla="*/ 624276 h 1501661"/>
              <a:gd name="connsiteX86" fmla="*/ 83418 w 1424802"/>
              <a:gd name="connsiteY86" fmla="*/ 512803 h 1501661"/>
              <a:gd name="connsiteX87" fmla="*/ 83418 w 1424802"/>
              <a:gd name="connsiteY87" fmla="*/ 368787 h 1501661"/>
              <a:gd name="connsiteX88" fmla="*/ 85832 w 1424802"/>
              <a:gd name="connsiteY88" fmla="*/ 341076 h 1501661"/>
              <a:gd name="connsiteX89" fmla="*/ 79970 w 1424802"/>
              <a:gd name="connsiteY89" fmla="*/ 323492 h 1501661"/>
              <a:gd name="connsiteX0" fmla="*/ 79970 w 1424802"/>
              <a:gd name="connsiteY0" fmla="*/ 323492 h 1501661"/>
              <a:gd name="connsiteX1" fmla="*/ 97555 w 1424802"/>
              <a:gd name="connsiteY1" fmla="*/ 270738 h 1501661"/>
              <a:gd name="connsiteX2" fmla="*/ 82870 w 1424802"/>
              <a:gd name="connsiteY2" fmla="*/ 224810 h 1501661"/>
              <a:gd name="connsiteX3" fmla="*/ 82870 w 1424802"/>
              <a:gd name="connsiteY3" fmla="*/ 152783 h 1501661"/>
              <a:gd name="connsiteX4" fmla="*/ 82870 w 1424802"/>
              <a:gd name="connsiteY4" fmla="*/ 152782 h 1501661"/>
              <a:gd name="connsiteX5" fmla="*/ 197201 w 1424802"/>
              <a:gd name="connsiteY5" fmla="*/ 147645 h 1501661"/>
              <a:gd name="connsiteX6" fmla="*/ 226508 w 1424802"/>
              <a:gd name="connsiteY6" fmla="*/ 130061 h 1501661"/>
              <a:gd name="connsiteX7" fmla="*/ 226969 w 1424802"/>
              <a:gd name="connsiteY7" fmla="*/ 80757 h 1501661"/>
              <a:gd name="connsiteX8" fmla="*/ 308570 w 1424802"/>
              <a:gd name="connsiteY8" fmla="*/ 100753 h 1501661"/>
              <a:gd name="connsiteX9" fmla="*/ 299018 w 1424802"/>
              <a:gd name="connsiteY9" fmla="*/ 8729 h 1501661"/>
              <a:gd name="connsiteX10" fmla="*/ 371067 w 1424802"/>
              <a:gd name="connsiteY10" fmla="*/ 8731 h 1501661"/>
              <a:gd name="connsiteX11" fmla="*/ 443116 w 1424802"/>
              <a:gd name="connsiteY11" fmla="*/ 8729 h 1501661"/>
              <a:gd name="connsiteX12" fmla="*/ 587214 w 1424802"/>
              <a:gd name="connsiteY12" fmla="*/ 8731 h 1501661"/>
              <a:gd name="connsiteX13" fmla="*/ 659264 w 1424802"/>
              <a:gd name="connsiteY13" fmla="*/ 8729 h 1501661"/>
              <a:gd name="connsiteX14" fmla="*/ 671985 w 1424802"/>
              <a:gd name="connsiteY14" fmla="*/ 106615 h 1501661"/>
              <a:gd name="connsiteX15" fmla="*/ 731313 w 1424802"/>
              <a:gd name="connsiteY15" fmla="*/ 80757 h 1501661"/>
              <a:gd name="connsiteX16" fmla="*/ 731313 w 1424802"/>
              <a:gd name="connsiteY16" fmla="*/ 8730 h 1501661"/>
              <a:gd name="connsiteX17" fmla="*/ 754047 w 1424802"/>
              <a:gd name="connsiteY17" fmla="*/ 135922 h 1501661"/>
              <a:gd name="connsiteX18" fmla="*/ 771632 w 1424802"/>
              <a:gd name="connsiteY18" fmla="*/ 147645 h 1501661"/>
              <a:gd name="connsiteX19" fmla="*/ 789216 w 1424802"/>
              <a:gd name="connsiteY19" fmla="*/ 165230 h 1501661"/>
              <a:gd name="connsiteX20" fmla="*/ 824385 w 1424802"/>
              <a:gd name="connsiteY20" fmla="*/ 176953 h 1501661"/>
              <a:gd name="connsiteX21" fmla="*/ 841970 w 1424802"/>
              <a:gd name="connsiteY21" fmla="*/ 194538 h 1501661"/>
              <a:gd name="connsiteX22" fmla="*/ 847832 w 1424802"/>
              <a:gd name="connsiteY22" fmla="*/ 212122 h 1501661"/>
              <a:gd name="connsiteX23" fmla="*/ 865416 w 1424802"/>
              <a:gd name="connsiteY23" fmla="*/ 217984 h 1501661"/>
              <a:gd name="connsiteX24" fmla="*/ 906447 w 1424802"/>
              <a:gd name="connsiteY24" fmla="*/ 253153 h 1501661"/>
              <a:gd name="connsiteX25" fmla="*/ 918170 w 1424802"/>
              <a:gd name="connsiteY25" fmla="*/ 270738 h 1501661"/>
              <a:gd name="connsiteX26" fmla="*/ 935755 w 1424802"/>
              <a:gd name="connsiteY26" fmla="*/ 282461 h 1501661"/>
              <a:gd name="connsiteX27" fmla="*/ 959201 w 1424802"/>
              <a:gd name="connsiteY27" fmla="*/ 300045 h 1501661"/>
              <a:gd name="connsiteX28" fmla="*/ 976785 w 1424802"/>
              <a:gd name="connsiteY28" fmla="*/ 311769 h 1501661"/>
              <a:gd name="connsiteX29" fmla="*/ 994370 w 1424802"/>
              <a:gd name="connsiteY29" fmla="*/ 335215 h 1501661"/>
              <a:gd name="connsiteX30" fmla="*/ 1035401 w 1424802"/>
              <a:gd name="connsiteY30" fmla="*/ 358661 h 1501661"/>
              <a:gd name="connsiteX31" fmla="*/ 1058847 w 1424802"/>
              <a:gd name="connsiteY31" fmla="*/ 387969 h 1501661"/>
              <a:gd name="connsiteX32" fmla="*/ 1099878 w 1424802"/>
              <a:gd name="connsiteY32" fmla="*/ 423138 h 1501661"/>
              <a:gd name="connsiteX33" fmla="*/ 1129185 w 1424802"/>
              <a:gd name="connsiteY33" fmla="*/ 464169 h 1501661"/>
              <a:gd name="connsiteX34" fmla="*/ 1135047 w 1424802"/>
              <a:gd name="connsiteY34" fmla="*/ 481753 h 1501661"/>
              <a:gd name="connsiteX35" fmla="*/ 1170216 w 1424802"/>
              <a:gd name="connsiteY35" fmla="*/ 522784 h 1501661"/>
              <a:gd name="connsiteX36" fmla="*/ 1187801 w 1424802"/>
              <a:gd name="connsiteY36" fmla="*/ 546230 h 1501661"/>
              <a:gd name="connsiteX37" fmla="*/ 1211247 w 1424802"/>
              <a:gd name="connsiteY37" fmla="*/ 581399 h 1501661"/>
              <a:gd name="connsiteX38" fmla="*/ 1240555 w 1424802"/>
              <a:gd name="connsiteY38" fmla="*/ 622430 h 1501661"/>
              <a:gd name="connsiteX39" fmla="*/ 1264001 w 1424802"/>
              <a:gd name="connsiteY39" fmla="*/ 669322 h 1501661"/>
              <a:gd name="connsiteX40" fmla="*/ 1269862 w 1424802"/>
              <a:gd name="connsiteY40" fmla="*/ 686907 h 1501661"/>
              <a:gd name="connsiteX41" fmla="*/ 1287447 w 1424802"/>
              <a:gd name="connsiteY41" fmla="*/ 716215 h 1501661"/>
              <a:gd name="connsiteX42" fmla="*/ 1299170 w 1424802"/>
              <a:gd name="connsiteY42" fmla="*/ 739661 h 1501661"/>
              <a:gd name="connsiteX43" fmla="*/ 1316755 w 1424802"/>
              <a:gd name="connsiteY43" fmla="*/ 757245 h 1501661"/>
              <a:gd name="connsiteX44" fmla="*/ 1340201 w 1424802"/>
              <a:gd name="connsiteY44" fmla="*/ 798276 h 1501661"/>
              <a:gd name="connsiteX45" fmla="*/ 1351924 w 1424802"/>
              <a:gd name="connsiteY45" fmla="*/ 821722 h 1501661"/>
              <a:gd name="connsiteX46" fmla="*/ 1357785 w 1424802"/>
              <a:gd name="connsiteY46" fmla="*/ 839307 h 1501661"/>
              <a:gd name="connsiteX47" fmla="*/ 1369508 w 1424802"/>
              <a:gd name="connsiteY47" fmla="*/ 856892 h 1501661"/>
              <a:gd name="connsiteX48" fmla="*/ 1381232 w 1424802"/>
              <a:gd name="connsiteY48" fmla="*/ 886199 h 1501661"/>
              <a:gd name="connsiteX49" fmla="*/ 1398816 w 1424802"/>
              <a:gd name="connsiteY49" fmla="*/ 962399 h 1501661"/>
              <a:gd name="connsiteX50" fmla="*/ 1410539 w 1424802"/>
              <a:gd name="connsiteY50" fmla="*/ 1032738 h 1501661"/>
              <a:gd name="connsiteX51" fmla="*/ 1416401 w 1424802"/>
              <a:gd name="connsiteY51" fmla="*/ 1050322 h 1501661"/>
              <a:gd name="connsiteX52" fmla="*/ 1410539 w 1424802"/>
              <a:gd name="connsiteY52" fmla="*/ 1202722 h 1501661"/>
              <a:gd name="connsiteX53" fmla="*/ 1404287 w 1424802"/>
              <a:gd name="connsiteY53" fmla="*/ 1326348 h 1501661"/>
              <a:gd name="connsiteX54" fmla="*/ 1287447 w 1424802"/>
              <a:gd name="connsiteY54" fmla="*/ 1460630 h 1501661"/>
              <a:gd name="connsiteX55" fmla="*/ 1269862 w 1424802"/>
              <a:gd name="connsiteY55" fmla="*/ 1472353 h 1501661"/>
              <a:gd name="connsiteX56" fmla="*/ 1234693 w 1424802"/>
              <a:gd name="connsiteY56" fmla="*/ 1484076 h 1501661"/>
              <a:gd name="connsiteX57" fmla="*/ 1217108 w 1424802"/>
              <a:gd name="connsiteY57" fmla="*/ 1489938 h 1501661"/>
              <a:gd name="connsiteX58" fmla="*/ 1176078 w 1424802"/>
              <a:gd name="connsiteY58" fmla="*/ 1495799 h 1501661"/>
              <a:gd name="connsiteX59" fmla="*/ 1140908 w 1424802"/>
              <a:gd name="connsiteY59" fmla="*/ 1501661 h 1501661"/>
              <a:gd name="connsiteX60" fmla="*/ 900585 w 1424802"/>
              <a:gd name="connsiteY60" fmla="*/ 1495799 h 1501661"/>
              <a:gd name="connsiteX61" fmla="*/ 883001 w 1424802"/>
              <a:gd name="connsiteY61" fmla="*/ 1489938 h 1501661"/>
              <a:gd name="connsiteX62" fmla="*/ 800939 w 1424802"/>
              <a:gd name="connsiteY62" fmla="*/ 1484076 h 1501661"/>
              <a:gd name="connsiteX63" fmla="*/ 630955 w 1424802"/>
              <a:gd name="connsiteY63" fmla="*/ 1478215 h 1501661"/>
              <a:gd name="connsiteX64" fmla="*/ 572339 w 1424802"/>
              <a:gd name="connsiteY64" fmla="*/ 1472353 h 1501661"/>
              <a:gd name="connsiteX65" fmla="*/ 476812 w 1424802"/>
              <a:gd name="connsiteY65" fmla="*/ 1478215 h 1501661"/>
              <a:gd name="connsiteX66" fmla="*/ 155426 w 1424802"/>
              <a:gd name="connsiteY66" fmla="*/ 1448907 h 1501661"/>
              <a:gd name="connsiteX67" fmla="*/ 83418 w 1424802"/>
              <a:gd name="connsiteY67" fmla="*/ 1376899 h 1501661"/>
              <a:gd name="connsiteX68" fmla="*/ 50662 w 1424802"/>
              <a:gd name="connsiteY68" fmla="*/ 1325815 h 1501661"/>
              <a:gd name="connsiteX69" fmla="*/ 33078 w 1424802"/>
              <a:gd name="connsiteY69" fmla="*/ 1308230 h 1501661"/>
              <a:gd name="connsiteX70" fmla="*/ 21355 w 1424802"/>
              <a:gd name="connsiteY70" fmla="*/ 1267199 h 1501661"/>
              <a:gd name="connsiteX71" fmla="*/ 9632 w 1424802"/>
              <a:gd name="connsiteY71" fmla="*/ 1220307 h 1501661"/>
              <a:gd name="connsiteX72" fmla="*/ 9632 w 1424802"/>
              <a:gd name="connsiteY72" fmla="*/ 1021015 h 1501661"/>
              <a:gd name="connsiteX73" fmla="*/ 15493 w 1424802"/>
              <a:gd name="connsiteY73" fmla="*/ 1003430 h 1501661"/>
              <a:gd name="connsiteX74" fmla="*/ 21355 w 1424802"/>
              <a:gd name="connsiteY74" fmla="*/ 950676 h 1501661"/>
              <a:gd name="connsiteX75" fmla="*/ 27216 w 1424802"/>
              <a:gd name="connsiteY75" fmla="*/ 933092 h 1501661"/>
              <a:gd name="connsiteX76" fmla="*/ 33078 w 1424802"/>
              <a:gd name="connsiteY76" fmla="*/ 897922 h 1501661"/>
              <a:gd name="connsiteX77" fmla="*/ 50662 w 1424802"/>
              <a:gd name="connsiteY77" fmla="*/ 856892 h 1501661"/>
              <a:gd name="connsiteX78" fmla="*/ 62385 w 1424802"/>
              <a:gd name="connsiteY78" fmla="*/ 815861 h 1501661"/>
              <a:gd name="connsiteX79" fmla="*/ 74108 w 1424802"/>
              <a:gd name="connsiteY79" fmla="*/ 792415 h 1501661"/>
              <a:gd name="connsiteX80" fmla="*/ 85832 w 1424802"/>
              <a:gd name="connsiteY80" fmla="*/ 751384 h 1501661"/>
              <a:gd name="connsiteX81" fmla="*/ 91693 w 1424802"/>
              <a:gd name="connsiteY81" fmla="*/ 733799 h 1501661"/>
              <a:gd name="connsiteX82" fmla="*/ 97555 w 1424802"/>
              <a:gd name="connsiteY82" fmla="*/ 704492 h 1501661"/>
              <a:gd name="connsiteX83" fmla="*/ 103416 w 1424802"/>
              <a:gd name="connsiteY83" fmla="*/ 686907 h 1501661"/>
              <a:gd name="connsiteX84" fmla="*/ 102366 w 1424802"/>
              <a:gd name="connsiteY84" fmla="*/ 624276 h 1501661"/>
              <a:gd name="connsiteX85" fmla="*/ 83418 w 1424802"/>
              <a:gd name="connsiteY85" fmla="*/ 512803 h 1501661"/>
              <a:gd name="connsiteX86" fmla="*/ 83418 w 1424802"/>
              <a:gd name="connsiteY86" fmla="*/ 368787 h 1501661"/>
              <a:gd name="connsiteX87" fmla="*/ 85832 w 1424802"/>
              <a:gd name="connsiteY87" fmla="*/ 341076 h 1501661"/>
              <a:gd name="connsiteX88" fmla="*/ 79970 w 1424802"/>
              <a:gd name="connsiteY88" fmla="*/ 323492 h 1501661"/>
              <a:gd name="connsiteX0" fmla="*/ 79970 w 1424802"/>
              <a:gd name="connsiteY0" fmla="*/ 323492 h 1501661"/>
              <a:gd name="connsiteX1" fmla="*/ 82870 w 1424802"/>
              <a:gd name="connsiteY1" fmla="*/ 224810 h 1501661"/>
              <a:gd name="connsiteX2" fmla="*/ 82870 w 1424802"/>
              <a:gd name="connsiteY2" fmla="*/ 152783 h 1501661"/>
              <a:gd name="connsiteX3" fmla="*/ 82870 w 1424802"/>
              <a:gd name="connsiteY3" fmla="*/ 152782 h 1501661"/>
              <a:gd name="connsiteX4" fmla="*/ 197201 w 1424802"/>
              <a:gd name="connsiteY4" fmla="*/ 147645 h 1501661"/>
              <a:gd name="connsiteX5" fmla="*/ 226508 w 1424802"/>
              <a:gd name="connsiteY5" fmla="*/ 130061 h 1501661"/>
              <a:gd name="connsiteX6" fmla="*/ 226969 w 1424802"/>
              <a:gd name="connsiteY6" fmla="*/ 80757 h 1501661"/>
              <a:gd name="connsiteX7" fmla="*/ 308570 w 1424802"/>
              <a:gd name="connsiteY7" fmla="*/ 100753 h 1501661"/>
              <a:gd name="connsiteX8" fmla="*/ 299018 w 1424802"/>
              <a:gd name="connsiteY8" fmla="*/ 8729 h 1501661"/>
              <a:gd name="connsiteX9" fmla="*/ 371067 w 1424802"/>
              <a:gd name="connsiteY9" fmla="*/ 8731 h 1501661"/>
              <a:gd name="connsiteX10" fmla="*/ 443116 w 1424802"/>
              <a:gd name="connsiteY10" fmla="*/ 8729 h 1501661"/>
              <a:gd name="connsiteX11" fmla="*/ 587214 w 1424802"/>
              <a:gd name="connsiteY11" fmla="*/ 8731 h 1501661"/>
              <a:gd name="connsiteX12" fmla="*/ 659264 w 1424802"/>
              <a:gd name="connsiteY12" fmla="*/ 8729 h 1501661"/>
              <a:gd name="connsiteX13" fmla="*/ 671985 w 1424802"/>
              <a:gd name="connsiteY13" fmla="*/ 106615 h 1501661"/>
              <a:gd name="connsiteX14" fmla="*/ 731313 w 1424802"/>
              <a:gd name="connsiteY14" fmla="*/ 80757 h 1501661"/>
              <a:gd name="connsiteX15" fmla="*/ 731313 w 1424802"/>
              <a:gd name="connsiteY15" fmla="*/ 8730 h 1501661"/>
              <a:gd name="connsiteX16" fmla="*/ 754047 w 1424802"/>
              <a:gd name="connsiteY16" fmla="*/ 135922 h 1501661"/>
              <a:gd name="connsiteX17" fmla="*/ 771632 w 1424802"/>
              <a:gd name="connsiteY17" fmla="*/ 147645 h 1501661"/>
              <a:gd name="connsiteX18" fmla="*/ 789216 w 1424802"/>
              <a:gd name="connsiteY18" fmla="*/ 165230 h 1501661"/>
              <a:gd name="connsiteX19" fmla="*/ 824385 w 1424802"/>
              <a:gd name="connsiteY19" fmla="*/ 176953 h 1501661"/>
              <a:gd name="connsiteX20" fmla="*/ 841970 w 1424802"/>
              <a:gd name="connsiteY20" fmla="*/ 194538 h 1501661"/>
              <a:gd name="connsiteX21" fmla="*/ 847832 w 1424802"/>
              <a:gd name="connsiteY21" fmla="*/ 212122 h 1501661"/>
              <a:gd name="connsiteX22" fmla="*/ 865416 w 1424802"/>
              <a:gd name="connsiteY22" fmla="*/ 217984 h 1501661"/>
              <a:gd name="connsiteX23" fmla="*/ 906447 w 1424802"/>
              <a:gd name="connsiteY23" fmla="*/ 253153 h 1501661"/>
              <a:gd name="connsiteX24" fmla="*/ 918170 w 1424802"/>
              <a:gd name="connsiteY24" fmla="*/ 270738 h 1501661"/>
              <a:gd name="connsiteX25" fmla="*/ 935755 w 1424802"/>
              <a:gd name="connsiteY25" fmla="*/ 282461 h 1501661"/>
              <a:gd name="connsiteX26" fmla="*/ 959201 w 1424802"/>
              <a:gd name="connsiteY26" fmla="*/ 300045 h 1501661"/>
              <a:gd name="connsiteX27" fmla="*/ 976785 w 1424802"/>
              <a:gd name="connsiteY27" fmla="*/ 311769 h 1501661"/>
              <a:gd name="connsiteX28" fmla="*/ 994370 w 1424802"/>
              <a:gd name="connsiteY28" fmla="*/ 335215 h 1501661"/>
              <a:gd name="connsiteX29" fmla="*/ 1035401 w 1424802"/>
              <a:gd name="connsiteY29" fmla="*/ 358661 h 1501661"/>
              <a:gd name="connsiteX30" fmla="*/ 1058847 w 1424802"/>
              <a:gd name="connsiteY30" fmla="*/ 387969 h 1501661"/>
              <a:gd name="connsiteX31" fmla="*/ 1099878 w 1424802"/>
              <a:gd name="connsiteY31" fmla="*/ 423138 h 1501661"/>
              <a:gd name="connsiteX32" fmla="*/ 1129185 w 1424802"/>
              <a:gd name="connsiteY32" fmla="*/ 464169 h 1501661"/>
              <a:gd name="connsiteX33" fmla="*/ 1135047 w 1424802"/>
              <a:gd name="connsiteY33" fmla="*/ 481753 h 1501661"/>
              <a:gd name="connsiteX34" fmla="*/ 1170216 w 1424802"/>
              <a:gd name="connsiteY34" fmla="*/ 522784 h 1501661"/>
              <a:gd name="connsiteX35" fmla="*/ 1187801 w 1424802"/>
              <a:gd name="connsiteY35" fmla="*/ 546230 h 1501661"/>
              <a:gd name="connsiteX36" fmla="*/ 1211247 w 1424802"/>
              <a:gd name="connsiteY36" fmla="*/ 581399 h 1501661"/>
              <a:gd name="connsiteX37" fmla="*/ 1240555 w 1424802"/>
              <a:gd name="connsiteY37" fmla="*/ 622430 h 1501661"/>
              <a:gd name="connsiteX38" fmla="*/ 1264001 w 1424802"/>
              <a:gd name="connsiteY38" fmla="*/ 669322 h 1501661"/>
              <a:gd name="connsiteX39" fmla="*/ 1269862 w 1424802"/>
              <a:gd name="connsiteY39" fmla="*/ 686907 h 1501661"/>
              <a:gd name="connsiteX40" fmla="*/ 1287447 w 1424802"/>
              <a:gd name="connsiteY40" fmla="*/ 716215 h 1501661"/>
              <a:gd name="connsiteX41" fmla="*/ 1299170 w 1424802"/>
              <a:gd name="connsiteY41" fmla="*/ 739661 h 1501661"/>
              <a:gd name="connsiteX42" fmla="*/ 1316755 w 1424802"/>
              <a:gd name="connsiteY42" fmla="*/ 757245 h 1501661"/>
              <a:gd name="connsiteX43" fmla="*/ 1340201 w 1424802"/>
              <a:gd name="connsiteY43" fmla="*/ 798276 h 1501661"/>
              <a:gd name="connsiteX44" fmla="*/ 1351924 w 1424802"/>
              <a:gd name="connsiteY44" fmla="*/ 821722 h 1501661"/>
              <a:gd name="connsiteX45" fmla="*/ 1357785 w 1424802"/>
              <a:gd name="connsiteY45" fmla="*/ 839307 h 1501661"/>
              <a:gd name="connsiteX46" fmla="*/ 1369508 w 1424802"/>
              <a:gd name="connsiteY46" fmla="*/ 856892 h 1501661"/>
              <a:gd name="connsiteX47" fmla="*/ 1381232 w 1424802"/>
              <a:gd name="connsiteY47" fmla="*/ 886199 h 1501661"/>
              <a:gd name="connsiteX48" fmla="*/ 1398816 w 1424802"/>
              <a:gd name="connsiteY48" fmla="*/ 962399 h 1501661"/>
              <a:gd name="connsiteX49" fmla="*/ 1410539 w 1424802"/>
              <a:gd name="connsiteY49" fmla="*/ 1032738 h 1501661"/>
              <a:gd name="connsiteX50" fmla="*/ 1416401 w 1424802"/>
              <a:gd name="connsiteY50" fmla="*/ 1050322 h 1501661"/>
              <a:gd name="connsiteX51" fmla="*/ 1410539 w 1424802"/>
              <a:gd name="connsiteY51" fmla="*/ 1202722 h 1501661"/>
              <a:gd name="connsiteX52" fmla="*/ 1404287 w 1424802"/>
              <a:gd name="connsiteY52" fmla="*/ 1326348 h 1501661"/>
              <a:gd name="connsiteX53" fmla="*/ 1287447 w 1424802"/>
              <a:gd name="connsiteY53" fmla="*/ 1460630 h 1501661"/>
              <a:gd name="connsiteX54" fmla="*/ 1269862 w 1424802"/>
              <a:gd name="connsiteY54" fmla="*/ 1472353 h 1501661"/>
              <a:gd name="connsiteX55" fmla="*/ 1234693 w 1424802"/>
              <a:gd name="connsiteY55" fmla="*/ 1484076 h 1501661"/>
              <a:gd name="connsiteX56" fmla="*/ 1217108 w 1424802"/>
              <a:gd name="connsiteY56" fmla="*/ 1489938 h 1501661"/>
              <a:gd name="connsiteX57" fmla="*/ 1176078 w 1424802"/>
              <a:gd name="connsiteY57" fmla="*/ 1495799 h 1501661"/>
              <a:gd name="connsiteX58" fmla="*/ 1140908 w 1424802"/>
              <a:gd name="connsiteY58" fmla="*/ 1501661 h 1501661"/>
              <a:gd name="connsiteX59" fmla="*/ 900585 w 1424802"/>
              <a:gd name="connsiteY59" fmla="*/ 1495799 h 1501661"/>
              <a:gd name="connsiteX60" fmla="*/ 883001 w 1424802"/>
              <a:gd name="connsiteY60" fmla="*/ 1489938 h 1501661"/>
              <a:gd name="connsiteX61" fmla="*/ 800939 w 1424802"/>
              <a:gd name="connsiteY61" fmla="*/ 1484076 h 1501661"/>
              <a:gd name="connsiteX62" fmla="*/ 630955 w 1424802"/>
              <a:gd name="connsiteY62" fmla="*/ 1478215 h 1501661"/>
              <a:gd name="connsiteX63" fmla="*/ 572339 w 1424802"/>
              <a:gd name="connsiteY63" fmla="*/ 1472353 h 1501661"/>
              <a:gd name="connsiteX64" fmla="*/ 476812 w 1424802"/>
              <a:gd name="connsiteY64" fmla="*/ 1478215 h 1501661"/>
              <a:gd name="connsiteX65" fmla="*/ 155426 w 1424802"/>
              <a:gd name="connsiteY65" fmla="*/ 1448907 h 1501661"/>
              <a:gd name="connsiteX66" fmla="*/ 83418 w 1424802"/>
              <a:gd name="connsiteY66" fmla="*/ 1376899 h 1501661"/>
              <a:gd name="connsiteX67" fmla="*/ 50662 w 1424802"/>
              <a:gd name="connsiteY67" fmla="*/ 1325815 h 1501661"/>
              <a:gd name="connsiteX68" fmla="*/ 33078 w 1424802"/>
              <a:gd name="connsiteY68" fmla="*/ 1308230 h 1501661"/>
              <a:gd name="connsiteX69" fmla="*/ 21355 w 1424802"/>
              <a:gd name="connsiteY69" fmla="*/ 1267199 h 1501661"/>
              <a:gd name="connsiteX70" fmla="*/ 9632 w 1424802"/>
              <a:gd name="connsiteY70" fmla="*/ 1220307 h 1501661"/>
              <a:gd name="connsiteX71" fmla="*/ 9632 w 1424802"/>
              <a:gd name="connsiteY71" fmla="*/ 1021015 h 1501661"/>
              <a:gd name="connsiteX72" fmla="*/ 15493 w 1424802"/>
              <a:gd name="connsiteY72" fmla="*/ 1003430 h 1501661"/>
              <a:gd name="connsiteX73" fmla="*/ 21355 w 1424802"/>
              <a:gd name="connsiteY73" fmla="*/ 950676 h 1501661"/>
              <a:gd name="connsiteX74" fmla="*/ 27216 w 1424802"/>
              <a:gd name="connsiteY74" fmla="*/ 933092 h 1501661"/>
              <a:gd name="connsiteX75" fmla="*/ 33078 w 1424802"/>
              <a:gd name="connsiteY75" fmla="*/ 897922 h 1501661"/>
              <a:gd name="connsiteX76" fmla="*/ 50662 w 1424802"/>
              <a:gd name="connsiteY76" fmla="*/ 856892 h 1501661"/>
              <a:gd name="connsiteX77" fmla="*/ 62385 w 1424802"/>
              <a:gd name="connsiteY77" fmla="*/ 815861 h 1501661"/>
              <a:gd name="connsiteX78" fmla="*/ 74108 w 1424802"/>
              <a:gd name="connsiteY78" fmla="*/ 792415 h 1501661"/>
              <a:gd name="connsiteX79" fmla="*/ 85832 w 1424802"/>
              <a:gd name="connsiteY79" fmla="*/ 751384 h 1501661"/>
              <a:gd name="connsiteX80" fmla="*/ 91693 w 1424802"/>
              <a:gd name="connsiteY80" fmla="*/ 733799 h 1501661"/>
              <a:gd name="connsiteX81" fmla="*/ 97555 w 1424802"/>
              <a:gd name="connsiteY81" fmla="*/ 704492 h 1501661"/>
              <a:gd name="connsiteX82" fmla="*/ 103416 w 1424802"/>
              <a:gd name="connsiteY82" fmla="*/ 686907 h 1501661"/>
              <a:gd name="connsiteX83" fmla="*/ 102366 w 1424802"/>
              <a:gd name="connsiteY83" fmla="*/ 624276 h 1501661"/>
              <a:gd name="connsiteX84" fmla="*/ 83418 w 1424802"/>
              <a:gd name="connsiteY84" fmla="*/ 512803 h 1501661"/>
              <a:gd name="connsiteX85" fmla="*/ 83418 w 1424802"/>
              <a:gd name="connsiteY85" fmla="*/ 368787 h 1501661"/>
              <a:gd name="connsiteX86" fmla="*/ 85832 w 1424802"/>
              <a:gd name="connsiteY86" fmla="*/ 341076 h 1501661"/>
              <a:gd name="connsiteX87" fmla="*/ 79970 w 1424802"/>
              <a:gd name="connsiteY87" fmla="*/ 323492 h 1501661"/>
              <a:gd name="connsiteX0" fmla="*/ 79970 w 1424802"/>
              <a:gd name="connsiteY0" fmla="*/ 323492 h 1501661"/>
              <a:gd name="connsiteX1" fmla="*/ 82870 w 1424802"/>
              <a:gd name="connsiteY1" fmla="*/ 224810 h 1501661"/>
              <a:gd name="connsiteX2" fmla="*/ 82870 w 1424802"/>
              <a:gd name="connsiteY2" fmla="*/ 152783 h 1501661"/>
              <a:gd name="connsiteX3" fmla="*/ 82870 w 1424802"/>
              <a:gd name="connsiteY3" fmla="*/ 152782 h 1501661"/>
              <a:gd name="connsiteX4" fmla="*/ 226508 w 1424802"/>
              <a:gd name="connsiteY4" fmla="*/ 130061 h 1501661"/>
              <a:gd name="connsiteX5" fmla="*/ 226969 w 1424802"/>
              <a:gd name="connsiteY5" fmla="*/ 80757 h 1501661"/>
              <a:gd name="connsiteX6" fmla="*/ 308570 w 1424802"/>
              <a:gd name="connsiteY6" fmla="*/ 100753 h 1501661"/>
              <a:gd name="connsiteX7" fmla="*/ 299018 w 1424802"/>
              <a:gd name="connsiteY7" fmla="*/ 8729 h 1501661"/>
              <a:gd name="connsiteX8" fmla="*/ 371067 w 1424802"/>
              <a:gd name="connsiteY8" fmla="*/ 8731 h 1501661"/>
              <a:gd name="connsiteX9" fmla="*/ 443116 w 1424802"/>
              <a:gd name="connsiteY9" fmla="*/ 8729 h 1501661"/>
              <a:gd name="connsiteX10" fmla="*/ 587214 w 1424802"/>
              <a:gd name="connsiteY10" fmla="*/ 8731 h 1501661"/>
              <a:gd name="connsiteX11" fmla="*/ 659264 w 1424802"/>
              <a:gd name="connsiteY11" fmla="*/ 8729 h 1501661"/>
              <a:gd name="connsiteX12" fmla="*/ 671985 w 1424802"/>
              <a:gd name="connsiteY12" fmla="*/ 106615 h 1501661"/>
              <a:gd name="connsiteX13" fmla="*/ 731313 w 1424802"/>
              <a:gd name="connsiteY13" fmla="*/ 80757 h 1501661"/>
              <a:gd name="connsiteX14" fmla="*/ 731313 w 1424802"/>
              <a:gd name="connsiteY14" fmla="*/ 8730 h 1501661"/>
              <a:gd name="connsiteX15" fmla="*/ 754047 w 1424802"/>
              <a:gd name="connsiteY15" fmla="*/ 135922 h 1501661"/>
              <a:gd name="connsiteX16" fmla="*/ 771632 w 1424802"/>
              <a:gd name="connsiteY16" fmla="*/ 147645 h 1501661"/>
              <a:gd name="connsiteX17" fmla="*/ 789216 w 1424802"/>
              <a:gd name="connsiteY17" fmla="*/ 165230 h 1501661"/>
              <a:gd name="connsiteX18" fmla="*/ 824385 w 1424802"/>
              <a:gd name="connsiteY18" fmla="*/ 176953 h 1501661"/>
              <a:gd name="connsiteX19" fmla="*/ 841970 w 1424802"/>
              <a:gd name="connsiteY19" fmla="*/ 194538 h 1501661"/>
              <a:gd name="connsiteX20" fmla="*/ 847832 w 1424802"/>
              <a:gd name="connsiteY20" fmla="*/ 212122 h 1501661"/>
              <a:gd name="connsiteX21" fmla="*/ 865416 w 1424802"/>
              <a:gd name="connsiteY21" fmla="*/ 217984 h 1501661"/>
              <a:gd name="connsiteX22" fmla="*/ 906447 w 1424802"/>
              <a:gd name="connsiteY22" fmla="*/ 253153 h 1501661"/>
              <a:gd name="connsiteX23" fmla="*/ 918170 w 1424802"/>
              <a:gd name="connsiteY23" fmla="*/ 270738 h 1501661"/>
              <a:gd name="connsiteX24" fmla="*/ 935755 w 1424802"/>
              <a:gd name="connsiteY24" fmla="*/ 282461 h 1501661"/>
              <a:gd name="connsiteX25" fmla="*/ 959201 w 1424802"/>
              <a:gd name="connsiteY25" fmla="*/ 300045 h 1501661"/>
              <a:gd name="connsiteX26" fmla="*/ 976785 w 1424802"/>
              <a:gd name="connsiteY26" fmla="*/ 311769 h 1501661"/>
              <a:gd name="connsiteX27" fmla="*/ 994370 w 1424802"/>
              <a:gd name="connsiteY27" fmla="*/ 335215 h 1501661"/>
              <a:gd name="connsiteX28" fmla="*/ 1035401 w 1424802"/>
              <a:gd name="connsiteY28" fmla="*/ 358661 h 1501661"/>
              <a:gd name="connsiteX29" fmla="*/ 1058847 w 1424802"/>
              <a:gd name="connsiteY29" fmla="*/ 387969 h 1501661"/>
              <a:gd name="connsiteX30" fmla="*/ 1099878 w 1424802"/>
              <a:gd name="connsiteY30" fmla="*/ 423138 h 1501661"/>
              <a:gd name="connsiteX31" fmla="*/ 1129185 w 1424802"/>
              <a:gd name="connsiteY31" fmla="*/ 464169 h 1501661"/>
              <a:gd name="connsiteX32" fmla="*/ 1135047 w 1424802"/>
              <a:gd name="connsiteY32" fmla="*/ 481753 h 1501661"/>
              <a:gd name="connsiteX33" fmla="*/ 1170216 w 1424802"/>
              <a:gd name="connsiteY33" fmla="*/ 522784 h 1501661"/>
              <a:gd name="connsiteX34" fmla="*/ 1187801 w 1424802"/>
              <a:gd name="connsiteY34" fmla="*/ 546230 h 1501661"/>
              <a:gd name="connsiteX35" fmla="*/ 1211247 w 1424802"/>
              <a:gd name="connsiteY35" fmla="*/ 581399 h 1501661"/>
              <a:gd name="connsiteX36" fmla="*/ 1240555 w 1424802"/>
              <a:gd name="connsiteY36" fmla="*/ 622430 h 1501661"/>
              <a:gd name="connsiteX37" fmla="*/ 1264001 w 1424802"/>
              <a:gd name="connsiteY37" fmla="*/ 669322 h 1501661"/>
              <a:gd name="connsiteX38" fmla="*/ 1269862 w 1424802"/>
              <a:gd name="connsiteY38" fmla="*/ 686907 h 1501661"/>
              <a:gd name="connsiteX39" fmla="*/ 1287447 w 1424802"/>
              <a:gd name="connsiteY39" fmla="*/ 716215 h 1501661"/>
              <a:gd name="connsiteX40" fmla="*/ 1299170 w 1424802"/>
              <a:gd name="connsiteY40" fmla="*/ 739661 h 1501661"/>
              <a:gd name="connsiteX41" fmla="*/ 1316755 w 1424802"/>
              <a:gd name="connsiteY41" fmla="*/ 757245 h 1501661"/>
              <a:gd name="connsiteX42" fmla="*/ 1340201 w 1424802"/>
              <a:gd name="connsiteY42" fmla="*/ 798276 h 1501661"/>
              <a:gd name="connsiteX43" fmla="*/ 1351924 w 1424802"/>
              <a:gd name="connsiteY43" fmla="*/ 821722 h 1501661"/>
              <a:gd name="connsiteX44" fmla="*/ 1357785 w 1424802"/>
              <a:gd name="connsiteY44" fmla="*/ 839307 h 1501661"/>
              <a:gd name="connsiteX45" fmla="*/ 1369508 w 1424802"/>
              <a:gd name="connsiteY45" fmla="*/ 856892 h 1501661"/>
              <a:gd name="connsiteX46" fmla="*/ 1381232 w 1424802"/>
              <a:gd name="connsiteY46" fmla="*/ 886199 h 1501661"/>
              <a:gd name="connsiteX47" fmla="*/ 1398816 w 1424802"/>
              <a:gd name="connsiteY47" fmla="*/ 962399 h 1501661"/>
              <a:gd name="connsiteX48" fmla="*/ 1410539 w 1424802"/>
              <a:gd name="connsiteY48" fmla="*/ 1032738 h 1501661"/>
              <a:gd name="connsiteX49" fmla="*/ 1416401 w 1424802"/>
              <a:gd name="connsiteY49" fmla="*/ 1050322 h 1501661"/>
              <a:gd name="connsiteX50" fmla="*/ 1410539 w 1424802"/>
              <a:gd name="connsiteY50" fmla="*/ 1202722 h 1501661"/>
              <a:gd name="connsiteX51" fmla="*/ 1404287 w 1424802"/>
              <a:gd name="connsiteY51" fmla="*/ 1326348 h 1501661"/>
              <a:gd name="connsiteX52" fmla="*/ 1287447 w 1424802"/>
              <a:gd name="connsiteY52" fmla="*/ 1460630 h 1501661"/>
              <a:gd name="connsiteX53" fmla="*/ 1269862 w 1424802"/>
              <a:gd name="connsiteY53" fmla="*/ 1472353 h 1501661"/>
              <a:gd name="connsiteX54" fmla="*/ 1234693 w 1424802"/>
              <a:gd name="connsiteY54" fmla="*/ 1484076 h 1501661"/>
              <a:gd name="connsiteX55" fmla="*/ 1217108 w 1424802"/>
              <a:gd name="connsiteY55" fmla="*/ 1489938 h 1501661"/>
              <a:gd name="connsiteX56" fmla="*/ 1176078 w 1424802"/>
              <a:gd name="connsiteY56" fmla="*/ 1495799 h 1501661"/>
              <a:gd name="connsiteX57" fmla="*/ 1140908 w 1424802"/>
              <a:gd name="connsiteY57" fmla="*/ 1501661 h 1501661"/>
              <a:gd name="connsiteX58" fmla="*/ 900585 w 1424802"/>
              <a:gd name="connsiteY58" fmla="*/ 1495799 h 1501661"/>
              <a:gd name="connsiteX59" fmla="*/ 883001 w 1424802"/>
              <a:gd name="connsiteY59" fmla="*/ 1489938 h 1501661"/>
              <a:gd name="connsiteX60" fmla="*/ 800939 w 1424802"/>
              <a:gd name="connsiteY60" fmla="*/ 1484076 h 1501661"/>
              <a:gd name="connsiteX61" fmla="*/ 630955 w 1424802"/>
              <a:gd name="connsiteY61" fmla="*/ 1478215 h 1501661"/>
              <a:gd name="connsiteX62" fmla="*/ 572339 w 1424802"/>
              <a:gd name="connsiteY62" fmla="*/ 1472353 h 1501661"/>
              <a:gd name="connsiteX63" fmla="*/ 476812 w 1424802"/>
              <a:gd name="connsiteY63" fmla="*/ 1478215 h 1501661"/>
              <a:gd name="connsiteX64" fmla="*/ 155426 w 1424802"/>
              <a:gd name="connsiteY64" fmla="*/ 1448907 h 1501661"/>
              <a:gd name="connsiteX65" fmla="*/ 83418 w 1424802"/>
              <a:gd name="connsiteY65" fmla="*/ 1376899 h 1501661"/>
              <a:gd name="connsiteX66" fmla="*/ 50662 w 1424802"/>
              <a:gd name="connsiteY66" fmla="*/ 1325815 h 1501661"/>
              <a:gd name="connsiteX67" fmla="*/ 33078 w 1424802"/>
              <a:gd name="connsiteY67" fmla="*/ 1308230 h 1501661"/>
              <a:gd name="connsiteX68" fmla="*/ 21355 w 1424802"/>
              <a:gd name="connsiteY68" fmla="*/ 1267199 h 1501661"/>
              <a:gd name="connsiteX69" fmla="*/ 9632 w 1424802"/>
              <a:gd name="connsiteY69" fmla="*/ 1220307 h 1501661"/>
              <a:gd name="connsiteX70" fmla="*/ 9632 w 1424802"/>
              <a:gd name="connsiteY70" fmla="*/ 1021015 h 1501661"/>
              <a:gd name="connsiteX71" fmla="*/ 15493 w 1424802"/>
              <a:gd name="connsiteY71" fmla="*/ 1003430 h 1501661"/>
              <a:gd name="connsiteX72" fmla="*/ 21355 w 1424802"/>
              <a:gd name="connsiteY72" fmla="*/ 950676 h 1501661"/>
              <a:gd name="connsiteX73" fmla="*/ 27216 w 1424802"/>
              <a:gd name="connsiteY73" fmla="*/ 933092 h 1501661"/>
              <a:gd name="connsiteX74" fmla="*/ 33078 w 1424802"/>
              <a:gd name="connsiteY74" fmla="*/ 897922 h 1501661"/>
              <a:gd name="connsiteX75" fmla="*/ 50662 w 1424802"/>
              <a:gd name="connsiteY75" fmla="*/ 856892 h 1501661"/>
              <a:gd name="connsiteX76" fmla="*/ 62385 w 1424802"/>
              <a:gd name="connsiteY76" fmla="*/ 815861 h 1501661"/>
              <a:gd name="connsiteX77" fmla="*/ 74108 w 1424802"/>
              <a:gd name="connsiteY77" fmla="*/ 792415 h 1501661"/>
              <a:gd name="connsiteX78" fmla="*/ 85832 w 1424802"/>
              <a:gd name="connsiteY78" fmla="*/ 751384 h 1501661"/>
              <a:gd name="connsiteX79" fmla="*/ 91693 w 1424802"/>
              <a:gd name="connsiteY79" fmla="*/ 733799 h 1501661"/>
              <a:gd name="connsiteX80" fmla="*/ 97555 w 1424802"/>
              <a:gd name="connsiteY80" fmla="*/ 704492 h 1501661"/>
              <a:gd name="connsiteX81" fmla="*/ 103416 w 1424802"/>
              <a:gd name="connsiteY81" fmla="*/ 686907 h 1501661"/>
              <a:gd name="connsiteX82" fmla="*/ 102366 w 1424802"/>
              <a:gd name="connsiteY82" fmla="*/ 624276 h 1501661"/>
              <a:gd name="connsiteX83" fmla="*/ 83418 w 1424802"/>
              <a:gd name="connsiteY83" fmla="*/ 512803 h 1501661"/>
              <a:gd name="connsiteX84" fmla="*/ 83418 w 1424802"/>
              <a:gd name="connsiteY84" fmla="*/ 368787 h 1501661"/>
              <a:gd name="connsiteX85" fmla="*/ 85832 w 1424802"/>
              <a:gd name="connsiteY85" fmla="*/ 341076 h 1501661"/>
              <a:gd name="connsiteX86" fmla="*/ 79970 w 1424802"/>
              <a:gd name="connsiteY86" fmla="*/ 323492 h 1501661"/>
              <a:gd name="connsiteX0" fmla="*/ 79970 w 1424802"/>
              <a:gd name="connsiteY0" fmla="*/ 323492 h 1501661"/>
              <a:gd name="connsiteX1" fmla="*/ 82870 w 1424802"/>
              <a:gd name="connsiteY1" fmla="*/ 224810 h 1501661"/>
              <a:gd name="connsiteX2" fmla="*/ 82870 w 1424802"/>
              <a:gd name="connsiteY2" fmla="*/ 152783 h 1501661"/>
              <a:gd name="connsiteX3" fmla="*/ 82870 w 1424802"/>
              <a:gd name="connsiteY3" fmla="*/ 152782 h 1501661"/>
              <a:gd name="connsiteX4" fmla="*/ 226969 w 1424802"/>
              <a:gd name="connsiteY4" fmla="*/ 80757 h 1501661"/>
              <a:gd name="connsiteX5" fmla="*/ 308570 w 1424802"/>
              <a:gd name="connsiteY5" fmla="*/ 100753 h 1501661"/>
              <a:gd name="connsiteX6" fmla="*/ 299018 w 1424802"/>
              <a:gd name="connsiteY6" fmla="*/ 8729 h 1501661"/>
              <a:gd name="connsiteX7" fmla="*/ 371067 w 1424802"/>
              <a:gd name="connsiteY7" fmla="*/ 8731 h 1501661"/>
              <a:gd name="connsiteX8" fmla="*/ 443116 w 1424802"/>
              <a:gd name="connsiteY8" fmla="*/ 8729 h 1501661"/>
              <a:gd name="connsiteX9" fmla="*/ 587214 w 1424802"/>
              <a:gd name="connsiteY9" fmla="*/ 8731 h 1501661"/>
              <a:gd name="connsiteX10" fmla="*/ 659264 w 1424802"/>
              <a:gd name="connsiteY10" fmla="*/ 8729 h 1501661"/>
              <a:gd name="connsiteX11" fmla="*/ 671985 w 1424802"/>
              <a:gd name="connsiteY11" fmla="*/ 106615 h 1501661"/>
              <a:gd name="connsiteX12" fmla="*/ 731313 w 1424802"/>
              <a:gd name="connsiteY12" fmla="*/ 80757 h 1501661"/>
              <a:gd name="connsiteX13" fmla="*/ 731313 w 1424802"/>
              <a:gd name="connsiteY13" fmla="*/ 8730 h 1501661"/>
              <a:gd name="connsiteX14" fmla="*/ 754047 w 1424802"/>
              <a:gd name="connsiteY14" fmla="*/ 135922 h 1501661"/>
              <a:gd name="connsiteX15" fmla="*/ 771632 w 1424802"/>
              <a:gd name="connsiteY15" fmla="*/ 147645 h 1501661"/>
              <a:gd name="connsiteX16" fmla="*/ 789216 w 1424802"/>
              <a:gd name="connsiteY16" fmla="*/ 165230 h 1501661"/>
              <a:gd name="connsiteX17" fmla="*/ 824385 w 1424802"/>
              <a:gd name="connsiteY17" fmla="*/ 176953 h 1501661"/>
              <a:gd name="connsiteX18" fmla="*/ 841970 w 1424802"/>
              <a:gd name="connsiteY18" fmla="*/ 194538 h 1501661"/>
              <a:gd name="connsiteX19" fmla="*/ 847832 w 1424802"/>
              <a:gd name="connsiteY19" fmla="*/ 212122 h 1501661"/>
              <a:gd name="connsiteX20" fmla="*/ 865416 w 1424802"/>
              <a:gd name="connsiteY20" fmla="*/ 217984 h 1501661"/>
              <a:gd name="connsiteX21" fmla="*/ 906447 w 1424802"/>
              <a:gd name="connsiteY21" fmla="*/ 253153 h 1501661"/>
              <a:gd name="connsiteX22" fmla="*/ 918170 w 1424802"/>
              <a:gd name="connsiteY22" fmla="*/ 270738 h 1501661"/>
              <a:gd name="connsiteX23" fmla="*/ 935755 w 1424802"/>
              <a:gd name="connsiteY23" fmla="*/ 282461 h 1501661"/>
              <a:gd name="connsiteX24" fmla="*/ 959201 w 1424802"/>
              <a:gd name="connsiteY24" fmla="*/ 300045 h 1501661"/>
              <a:gd name="connsiteX25" fmla="*/ 976785 w 1424802"/>
              <a:gd name="connsiteY25" fmla="*/ 311769 h 1501661"/>
              <a:gd name="connsiteX26" fmla="*/ 994370 w 1424802"/>
              <a:gd name="connsiteY26" fmla="*/ 335215 h 1501661"/>
              <a:gd name="connsiteX27" fmla="*/ 1035401 w 1424802"/>
              <a:gd name="connsiteY27" fmla="*/ 358661 h 1501661"/>
              <a:gd name="connsiteX28" fmla="*/ 1058847 w 1424802"/>
              <a:gd name="connsiteY28" fmla="*/ 387969 h 1501661"/>
              <a:gd name="connsiteX29" fmla="*/ 1099878 w 1424802"/>
              <a:gd name="connsiteY29" fmla="*/ 423138 h 1501661"/>
              <a:gd name="connsiteX30" fmla="*/ 1129185 w 1424802"/>
              <a:gd name="connsiteY30" fmla="*/ 464169 h 1501661"/>
              <a:gd name="connsiteX31" fmla="*/ 1135047 w 1424802"/>
              <a:gd name="connsiteY31" fmla="*/ 481753 h 1501661"/>
              <a:gd name="connsiteX32" fmla="*/ 1170216 w 1424802"/>
              <a:gd name="connsiteY32" fmla="*/ 522784 h 1501661"/>
              <a:gd name="connsiteX33" fmla="*/ 1187801 w 1424802"/>
              <a:gd name="connsiteY33" fmla="*/ 546230 h 1501661"/>
              <a:gd name="connsiteX34" fmla="*/ 1211247 w 1424802"/>
              <a:gd name="connsiteY34" fmla="*/ 581399 h 1501661"/>
              <a:gd name="connsiteX35" fmla="*/ 1240555 w 1424802"/>
              <a:gd name="connsiteY35" fmla="*/ 622430 h 1501661"/>
              <a:gd name="connsiteX36" fmla="*/ 1264001 w 1424802"/>
              <a:gd name="connsiteY36" fmla="*/ 669322 h 1501661"/>
              <a:gd name="connsiteX37" fmla="*/ 1269862 w 1424802"/>
              <a:gd name="connsiteY37" fmla="*/ 686907 h 1501661"/>
              <a:gd name="connsiteX38" fmla="*/ 1287447 w 1424802"/>
              <a:gd name="connsiteY38" fmla="*/ 716215 h 1501661"/>
              <a:gd name="connsiteX39" fmla="*/ 1299170 w 1424802"/>
              <a:gd name="connsiteY39" fmla="*/ 739661 h 1501661"/>
              <a:gd name="connsiteX40" fmla="*/ 1316755 w 1424802"/>
              <a:gd name="connsiteY40" fmla="*/ 757245 h 1501661"/>
              <a:gd name="connsiteX41" fmla="*/ 1340201 w 1424802"/>
              <a:gd name="connsiteY41" fmla="*/ 798276 h 1501661"/>
              <a:gd name="connsiteX42" fmla="*/ 1351924 w 1424802"/>
              <a:gd name="connsiteY42" fmla="*/ 821722 h 1501661"/>
              <a:gd name="connsiteX43" fmla="*/ 1357785 w 1424802"/>
              <a:gd name="connsiteY43" fmla="*/ 839307 h 1501661"/>
              <a:gd name="connsiteX44" fmla="*/ 1369508 w 1424802"/>
              <a:gd name="connsiteY44" fmla="*/ 856892 h 1501661"/>
              <a:gd name="connsiteX45" fmla="*/ 1381232 w 1424802"/>
              <a:gd name="connsiteY45" fmla="*/ 886199 h 1501661"/>
              <a:gd name="connsiteX46" fmla="*/ 1398816 w 1424802"/>
              <a:gd name="connsiteY46" fmla="*/ 962399 h 1501661"/>
              <a:gd name="connsiteX47" fmla="*/ 1410539 w 1424802"/>
              <a:gd name="connsiteY47" fmla="*/ 1032738 h 1501661"/>
              <a:gd name="connsiteX48" fmla="*/ 1416401 w 1424802"/>
              <a:gd name="connsiteY48" fmla="*/ 1050322 h 1501661"/>
              <a:gd name="connsiteX49" fmla="*/ 1410539 w 1424802"/>
              <a:gd name="connsiteY49" fmla="*/ 1202722 h 1501661"/>
              <a:gd name="connsiteX50" fmla="*/ 1404287 w 1424802"/>
              <a:gd name="connsiteY50" fmla="*/ 1326348 h 1501661"/>
              <a:gd name="connsiteX51" fmla="*/ 1287447 w 1424802"/>
              <a:gd name="connsiteY51" fmla="*/ 1460630 h 1501661"/>
              <a:gd name="connsiteX52" fmla="*/ 1269862 w 1424802"/>
              <a:gd name="connsiteY52" fmla="*/ 1472353 h 1501661"/>
              <a:gd name="connsiteX53" fmla="*/ 1234693 w 1424802"/>
              <a:gd name="connsiteY53" fmla="*/ 1484076 h 1501661"/>
              <a:gd name="connsiteX54" fmla="*/ 1217108 w 1424802"/>
              <a:gd name="connsiteY54" fmla="*/ 1489938 h 1501661"/>
              <a:gd name="connsiteX55" fmla="*/ 1176078 w 1424802"/>
              <a:gd name="connsiteY55" fmla="*/ 1495799 h 1501661"/>
              <a:gd name="connsiteX56" fmla="*/ 1140908 w 1424802"/>
              <a:gd name="connsiteY56" fmla="*/ 1501661 h 1501661"/>
              <a:gd name="connsiteX57" fmla="*/ 900585 w 1424802"/>
              <a:gd name="connsiteY57" fmla="*/ 1495799 h 1501661"/>
              <a:gd name="connsiteX58" fmla="*/ 883001 w 1424802"/>
              <a:gd name="connsiteY58" fmla="*/ 1489938 h 1501661"/>
              <a:gd name="connsiteX59" fmla="*/ 800939 w 1424802"/>
              <a:gd name="connsiteY59" fmla="*/ 1484076 h 1501661"/>
              <a:gd name="connsiteX60" fmla="*/ 630955 w 1424802"/>
              <a:gd name="connsiteY60" fmla="*/ 1478215 h 1501661"/>
              <a:gd name="connsiteX61" fmla="*/ 572339 w 1424802"/>
              <a:gd name="connsiteY61" fmla="*/ 1472353 h 1501661"/>
              <a:gd name="connsiteX62" fmla="*/ 476812 w 1424802"/>
              <a:gd name="connsiteY62" fmla="*/ 1478215 h 1501661"/>
              <a:gd name="connsiteX63" fmla="*/ 155426 w 1424802"/>
              <a:gd name="connsiteY63" fmla="*/ 1448907 h 1501661"/>
              <a:gd name="connsiteX64" fmla="*/ 83418 w 1424802"/>
              <a:gd name="connsiteY64" fmla="*/ 1376899 h 1501661"/>
              <a:gd name="connsiteX65" fmla="*/ 50662 w 1424802"/>
              <a:gd name="connsiteY65" fmla="*/ 1325815 h 1501661"/>
              <a:gd name="connsiteX66" fmla="*/ 33078 w 1424802"/>
              <a:gd name="connsiteY66" fmla="*/ 1308230 h 1501661"/>
              <a:gd name="connsiteX67" fmla="*/ 21355 w 1424802"/>
              <a:gd name="connsiteY67" fmla="*/ 1267199 h 1501661"/>
              <a:gd name="connsiteX68" fmla="*/ 9632 w 1424802"/>
              <a:gd name="connsiteY68" fmla="*/ 1220307 h 1501661"/>
              <a:gd name="connsiteX69" fmla="*/ 9632 w 1424802"/>
              <a:gd name="connsiteY69" fmla="*/ 1021015 h 1501661"/>
              <a:gd name="connsiteX70" fmla="*/ 15493 w 1424802"/>
              <a:gd name="connsiteY70" fmla="*/ 1003430 h 1501661"/>
              <a:gd name="connsiteX71" fmla="*/ 21355 w 1424802"/>
              <a:gd name="connsiteY71" fmla="*/ 950676 h 1501661"/>
              <a:gd name="connsiteX72" fmla="*/ 27216 w 1424802"/>
              <a:gd name="connsiteY72" fmla="*/ 933092 h 1501661"/>
              <a:gd name="connsiteX73" fmla="*/ 33078 w 1424802"/>
              <a:gd name="connsiteY73" fmla="*/ 897922 h 1501661"/>
              <a:gd name="connsiteX74" fmla="*/ 50662 w 1424802"/>
              <a:gd name="connsiteY74" fmla="*/ 856892 h 1501661"/>
              <a:gd name="connsiteX75" fmla="*/ 62385 w 1424802"/>
              <a:gd name="connsiteY75" fmla="*/ 815861 h 1501661"/>
              <a:gd name="connsiteX76" fmla="*/ 74108 w 1424802"/>
              <a:gd name="connsiteY76" fmla="*/ 792415 h 1501661"/>
              <a:gd name="connsiteX77" fmla="*/ 85832 w 1424802"/>
              <a:gd name="connsiteY77" fmla="*/ 751384 h 1501661"/>
              <a:gd name="connsiteX78" fmla="*/ 91693 w 1424802"/>
              <a:gd name="connsiteY78" fmla="*/ 733799 h 1501661"/>
              <a:gd name="connsiteX79" fmla="*/ 97555 w 1424802"/>
              <a:gd name="connsiteY79" fmla="*/ 704492 h 1501661"/>
              <a:gd name="connsiteX80" fmla="*/ 103416 w 1424802"/>
              <a:gd name="connsiteY80" fmla="*/ 686907 h 1501661"/>
              <a:gd name="connsiteX81" fmla="*/ 102366 w 1424802"/>
              <a:gd name="connsiteY81" fmla="*/ 624276 h 1501661"/>
              <a:gd name="connsiteX82" fmla="*/ 83418 w 1424802"/>
              <a:gd name="connsiteY82" fmla="*/ 512803 h 1501661"/>
              <a:gd name="connsiteX83" fmla="*/ 83418 w 1424802"/>
              <a:gd name="connsiteY83" fmla="*/ 368787 h 1501661"/>
              <a:gd name="connsiteX84" fmla="*/ 85832 w 1424802"/>
              <a:gd name="connsiteY84" fmla="*/ 341076 h 1501661"/>
              <a:gd name="connsiteX85" fmla="*/ 79970 w 1424802"/>
              <a:gd name="connsiteY85" fmla="*/ 323492 h 1501661"/>
              <a:gd name="connsiteX0" fmla="*/ 79970 w 1424802"/>
              <a:gd name="connsiteY0" fmla="*/ 323492 h 1501661"/>
              <a:gd name="connsiteX1" fmla="*/ 82870 w 1424802"/>
              <a:gd name="connsiteY1" fmla="*/ 224810 h 1501661"/>
              <a:gd name="connsiteX2" fmla="*/ 82870 w 1424802"/>
              <a:gd name="connsiteY2" fmla="*/ 152783 h 1501661"/>
              <a:gd name="connsiteX3" fmla="*/ 82870 w 1424802"/>
              <a:gd name="connsiteY3" fmla="*/ 152782 h 1501661"/>
              <a:gd name="connsiteX4" fmla="*/ 226969 w 1424802"/>
              <a:gd name="connsiteY4" fmla="*/ 80757 h 1501661"/>
              <a:gd name="connsiteX5" fmla="*/ 299018 w 1424802"/>
              <a:gd name="connsiteY5" fmla="*/ 8729 h 1501661"/>
              <a:gd name="connsiteX6" fmla="*/ 371067 w 1424802"/>
              <a:gd name="connsiteY6" fmla="*/ 8731 h 1501661"/>
              <a:gd name="connsiteX7" fmla="*/ 443116 w 1424802"/>
              <a:gd name="connsiteY7" fmla="*/ 8729 h 1501661"/>
              <a:gd name="connsiteX8" fmla="*/ 587214 w 1424802"/>
              <a:gd name="connsiteY8" fmla="*/ 8731 h 1501661"/>
              <a:gd name="connsiteX9" fmla="*/ 659264 w 1424802"/>
              <a:gd name="connsiteY9" fmla="*/ 8729 h 1501661"/>
              <a:gd name="connsiteX10" fmla="*/ 671985 w 1424802"/>
              <a:gd name="connsiteY10" fmla="*/ 106615 h 1501661"/>
              <a:gd name="connsiteX11" fmla="*/ 731313 w 1424802"/>
              <a:gd name="connsiteY11" fmla="*/ 80757 h 1501661"/>
              <a:gd name="connsiteX12" fmla="*/ 731313 w 1424802"/>
              <a:gd name="connsiteY12" fmla="*/ 8730 h 1501661"/>
              <a:gd name="connsiteX13" fmla="*/ 754047 w 1424802"/>
              <a:gd name="connsiteY13" fmla="*/ 135922 h 1501661"/>
              <a:gd name="connsiteX14" fmla="*/ 771632 w 1424802"/>
              <a:gd name="connsiteY14" fmla="*/ 147645 h 1501661"/>
              <a:gd name="connsiteX15" fmla="*/ 789216 w 1424802"/>
              <a:gd name="connsiteY15" fmla="*/ 165230 h 1501661"/>
              <a:gd name="connsiteX16" fmla="*/ 824385 w 1424802"/>
              <a:gd name="connsiteY16" fmla="*/ 176953 h 1501661"/>
              <a:gd name="connsiteX17" fmla="*/ 841970 w 1424802"/>
              <a:gd name="connsiteY17" fmla="*/ 194538 h 1501661"/>
              <a:gd name="connsiteX18" fmla="*/ 847832 w 1424802"/>
              <a:gd name="connsiteY18" fmla="*/ 212122 h 1501661"/>
              <a:gd name="connsiteX19" fmla="*/ 865416 w 1424802"/>
              <a:gd name="connsiteY19" fmla="*/ 217984 h 1501661"/>
              <a:gd name="connsiteX20" fmla="*/ 906447 w 1424802"/>
              <a:gd name="connsiteY20" fmla="*/ 253153 h 1501661"/>
              <a:gd name="connsiteX21" fmla="*/ 918170 w 1424802"/>
              <a:gd name="connsiteY21" fmla="*/ 270738 h 1501661"/>
              <a:gd name="connsiteX22" fmla="*/ 935755 w 1424802"/>
              <a:gd name="connsiteY22" fmla="*/ 282461 h 1501661"/>
              <a:gd name="connsiteX23" fmla="*/ 959201 w 1424802"/>
              <a:gd name="connsiteY23" fmla="*/ 300045 h 1501661"/>
              <a:gd name="connsiteX24" fmla="*/ 976785 w 1424802"/>
              <a:gd name="connsiteY24" fmla="*/ 311769 h 1501661"/>
              <a:gd name="connsiteX25" fmla="*/ 994370 w 1424802"/>
              <a:gd name="connsiteY25" fmla="*/ 335215 h 1501661"/>
              <a:gd name="connsiteX26" fmla="*/ 1035401 w 1424802"/>
              <a:gd name="connsiteY26" fmla="*/ 358661 h 1501661"/>
              <a:gd name="connsiteX27" fmla="*/ 1058847 w 1424802"/>
              <a:gd name="connsiteY27" fmla="*/ 387969 h 1501661"/>
              <a:gd name="connsiteX28" fmla="*/ 1099878 w 1424802"/>
              <a:gd name="connsiteY28" fmla="*/ 423138 h 1501661"/>
              <a:gd name="connsiteX29" fmla="*/ 1129185 w 1424802"/>
              <a:gd name="connsiteY29" fmla="*/ 464169 h 1501661"/>
              <a:gd name="connsiteX30" fmla="*/ 1135047 w 1424802"/>
              <a:gd name="connsiteY30" fmla="*/ 481753 h 1501661"/>
              <a:gd name="connsiteX31" fmla="*/ 1170216 w 1424802"/>
              <a:gd name="connsiteY31" fmla="*/ 522784 h 1501661"/>
              <a:gd name="connsiteX32" fmla="*/ 1187801 w 1424802"/>
              <a:gd name="connsiteY32" fmla="*/ 546230 h 1501661"/>
              <a:gd name="connsiteX33" fmla="*/ 1211247 w 1424802"/>
              <a:gd name="connsiteY33" fmla="*/ 581399 h 1501661"/>
              <a:gd name="connsiteX34" fmla="*/ 1240555 w 1424802"/>
              <a:gd name="connsiteY34" fmla="*/ 622430 h 1501661"/>
              <a:gd name="connsiteX35" fmla="*/ 1264001 w 1424802"/>
              <a:gd name="connsiteY35" fmla="*/ 669322 h 1501661"/>
              <a:gd name="connsiteX36" fmla="*/ 1269862 w 1424802"/>
              <a:gd name="connsiteY36" fmla="*/ 686907 h 1501661"/>
              <a:gd name="connsiteX37" fmla="*/ 1287447 w 1424802"/>
              <a:gd name="connsiteY37" fmla="*/ 716215 h 1501661"/>
              <a:gd name="connsiteX38" fmla="*/ 1299170 w 1424802"/>
              <a:gd name="connsiteY38" fmla="*/ 739661 h 1501661"/>
              <a:gd name="connsiteX39" fmla="*/ 1316755 w 1424802"/>
              <a:gd name="connsiteY39" fmla="*/ 757245 h 1501661"/>
              <a:gd name="connsiteX40" fmla="*/ 1340201 w 1424802"/>
              <a:gd name="connsiteY40" fmla="*/ 798276 h 1501661"/>
              <a:gd name="connsiteX41" fmla="*/ 1351924 w 1424802"/>
              <a:gd name="connsiteY41" fmla="*/ 821722 h 1501661"/>
              <a:gd name="connsiteX42" fmla="*/ 1357785 w 1424802"/>
              <a:gd name="connsiteY42" fmla="*/ 839307 h 1501661"/>
              <a:gd name="connsiteX43" fmla="*/ 1369508 w 1424802"/>
              <a:gd name="connsiteY43" fmla="*/ 856892 h 1501661"/>
              <a:gd name="connsiteX44" fmla="*/ 1381232 w 1424802"/>
              <a:gd name="connsiteY44" fmla="*/ 886199 h 1501661"/>
              <a:gd name="connsiteX45" fmla="*/ 1398816 w 1424802"/>
              <a:gd name="connsiteY45" fmla="*/ 962399 h 1501661"/>
              <a:gd name="connsiteX46" fmla="*/ 1410539 w 1424802"/>
              <a:gd name="connsiteY46" fmla="*/ 1032738 h 1501661"/>
              <a:gd name="connsiteX47" fmla="*/ 1416401 w 1424802"/>
              <a:gd name="connsiteY47" fmla="*/ 1050322 h 1501661"/>
              <a:gd name="connsiteX48" fmla="*/ 1410539 w 1424802"/>
              <a:gd name="connsiteY48" fmla="*/ 1202722 h 1501661"/>
              <a:gd name="connsiteX49" fmla="*/ 1404287 w 1424802"/>
              <a:gd name="connsiteY49" fmla="*/ 1326348 h 1501661"/>
              <a:gd name="connsiteX50" fmla="*/ 1287447 w 1424802"/>
              <a:gd name="connsiteY50" fmla="*/ 1460630 h 1501661"/>
              <a:gd name="connsiteX51" fmla="*/ 1269862 w 1424802"/>
              <a:gd name="connsiteY51" fmla="*/ 1472353 h 1501661"/>
              <a:gd name="connsiteX52" fmla="*/ 1234693 w 1424802"/>
              <a:gd name="connsiteY52" fmla="*/ 1484076 h 1501661"/>
              <a:gd name="connsiteX53" fmla="*/ 1217108 w 1424802"/>
              <a:gd name="connsiteY53" fmla="*/ 1489938 h 1501661"/>
              <a:gd name="connsiteX54" fmla="*/ 1176078 w 1424802"/>
              <a:gd name="connsiteY54" fmla="*/ 1495799 h 1501661"/>
              <a:gd name="connsiteX55" fmla="*/ 1140908 w 1424802"/>
              <a:gd name="connsiteY55" fmla="*/ 1501661 h 1501661"/>
              <a:gd name="connsiteX56" fmla="*/ 900585 w 1424802"/>
              <a:gd name="connsiteY56" fmla="*/ 1495799 h 1501661"/>
              <a:gd name="connsiteX57" fmla="*/ 883001 w 1424802"/>
              <a:gd name="connsiteY57" fmla="*/ 1489938 h 1501661"/>
              <a:gd name="connsiteX58" fmla="*/ 800939 w 1424802"/>
              <a:gd name="connsiteY58" fmla="*/ 1484076 h 1501661"/>
              <a:gd name="connsiteX59" fmla="*/ 630955 w 1424802"/>
              <a:gd name="connsiteY59" fmla="*/ 1478215 h 1501661"/>
              <a:gd name="connsiteX60" fmla="*/ 572339 w 1424802"/>
              <a:gd name="connsiteY60" fmla="*/ 1472353 h 1501661"/>
              <a:gd name="connsiteX61" fmla="*/ 476812 w 1424802"/>
              <a:gd name="connsiteY61" fmla="*/ 1478215 h 1501661"/>
              <a:gd name="connsiteX62" fmla="*/ 155426 w 1424802"/>
              <a:gd name="connsiteY62" fmla="*/ 1448907 h 1501661"/>
              <a:gd name="connsiteX63" fmla="*/ 83418 w 1424802"/>
              <a:gd name="connsiteY63" fmla="*/ 1376899 h 1501661"/>
              <a:gd name="connsiteX64" fmla="*/ 50662 w 1424802"/>
              <a:gd name="connsiteY64" fmla="*/ 1325815 h 1501661"/>
              <a:gd name="connsiteX65" fmla="*/ 33078 w 1424802"/>
              <a:gd name="connsiteY65" fmla="*/ 1308230 h 1501661"/>
              <a:gd name="connsiteX66" fmla="*/ 21355 w 1424802"/>
              <a:gd name="connsiteY66" fmla="*/ 1267199 h 1501661"/>
              <a:gd name="connsiteX67" fmla="*/ 9632 w 1424802"/>
              <a:gd name="connsiteY67" fmla="*/ 1220307 h 1501661"/>
              <a:gd name="connsiteX68" fmla="*/ 9632 w 1424802"/>
              <a:gd name="connsiteY68" fmla="*/ 1021015 h 1501661"/>
              <a:gd name="connsiteX69" fmla="*/ 15493 w 1424802"/>
              <a:gd name="connsiteY69" fmla="*/ 1003430 h 1501661"/>
              <a:gd name="connsiteX70" fmla="*/ 21355 w 1424802"/>
              <a:gd name="connsiteY70" fmla="*/ 950676 h 1501661"/>
              <a:gd name="connsiteX71" fmla="*/ 27216 w 1424802"/>
              <a:gd name="connsiteY71" fmla="*/ 933092 h 1501661"/>
              <a:gd name="connsiteX72" fmla="*/ 33078 w 1424802"/>
              <a:gd name="connsiteY72" fmla="*/ 897922 h 1501661"/>
              <a:gd name="connsiteX73" fmla="*/ 50662 w 1424802"/>
              <a:gd name="connsiteY73" fmla="*/ 856892 h 1501661"/>
              <a:gd name="connsiteX74" fmla="*/ 62385 w 1424802"/>
              <a:gd name="connsiteY74" fmla="*/ 815861 h 1501661"/>
              <a:gd name="connsiteX75" fmla="*/ 74108 w 1424802"/>
              <a:gd name="connsiteY75" fmla="*/ 792415 h 1501661"/>
              <a:gd name="connsiteX76" fmla="*/ 85832 w 1424802"/>
              <a:gd name="connsiteY76" fmla="*/ 751384 h 1501661"/>
              <a:gd name="connsiteX77" fmla="*/ 91693 w 1424802"/>
              <a:gd name="connsiteY77" fmla="*/ 733799 h 1501661"/>
              <a:gd name="connsiteX78" fmla="*/ 97555 w 1424802"/>
              <a:gd name="connsiteY78" fmla="*/ 704492 h 1501661"/>
              <a:gd name="connsiteX79" fmla="*/ 103416 w 1424802"/>
              <a:gd name="connsiteY79" fmla="*/ 686907 h 1501661"/>
              <a:gd name="connsiteX80" fmla="*/ 102366 w 1424802"/>
              <a:gd name="connsiteY80" fmla="*/ 624276 h 1501661"/>
              <a:gd name="connsiteX81" fmla="*/ 83418 w 1424802"/>
              <a:gd name="connsiteY81" fmla="*/ 512803 h 1501661"/>
              <a:gd name="connsiteX82" fmla="*/ 83418 w 1424802"/>
              <a:gd name="connsiteY82" fmla="*/ 368787 h 1501661"/>
              <a:gd name="connsiteX83" fmla="*/ 85832 w 1424802"/>
              <a:gd name="connsiteY83" fmla="*/ 341076 h 1501661"/>
              <a:gd name="connsiteX84" fmla="*/ 79970 w 1424802"/>
              <a:gd name="connsiteY84" fmla="*/ 323492 h 1501661"/>
              <a:gd name="connsiteX0" fmla="*/ 79970 w 1424802"/>
              <a:gd name="connsiteY0" fmla="*/ 338771 h 1516940"/>
              <a:gd name="connsiteX1" fmla="*/ 82870 w 1424802"/>
              <a:gd name="connsiteY1" fmla="*/ 240089 h 1516940"/>
              <a:gd name="connsiteX2" fmla="*/ 82870 w 1424802"/>
              <a:gd name="connsiteY2" fmla="*/ 168062 h 1516940"/>
              <a:gd name="connsiteX3" fmla="*/ 82870 w 1424802"/>
              <a:gd name="connsiteY3" fmla="*/ 168061 h 1516940"/>
              <a:gd name="connsiteX4" fmla="*/ 154920 w 1424802"/>
              <a:gd name="connsiteY4" fmla="*/ 24009 h 1516940"/>
              <a:gd name="connsiteX5" fmla="*/ 299018 w 1424802"/>
              <a:gd name="connsiteY5" fmla="*/ 24008 h 1516940"/>
              <a:gd name="connsiteX6" fmla="*/ 371067 w 1424802"/>
              <a:gd name="connsiteY6" fmla="*/ 24010 h 1516940"/>
              <a:gd name="connsiteX7" fmla="*/ 443116 w 1424802"/>
              <a:gd name="connsiteY7" fmla="*/ 24008 h 1516940"/>
              <a:gd name="connsiteX8" fmla="*/ 587214 w 1424802"/>
              <a:gd name="connsiteY8" fmla="*/ 24010 h 1516940"/>
              <a:gd name="connsiteX9" fmla="*/ 659264 w 1424802"/>
              <a:gd name="connsiteY9" fmla="*/ 24008 h 1516940"/>
              <a:gd name="connsiteX10" fmla="*/ 671985 w 1424802"/>
              <a:gd name="connsiteY10" fmla="*/ 121894 h 1516940"/>
              <a:gd name="connsiteX11" fmla="*/ 731313 w 1424802"/>
              <a:gd name="connsiteY11" fmla="*/ 96036 h 1516940"/>
              <a:gd name="connsiteX12" fmla="*/ 731313 w 1424802"/>
              <a:gd name="connsiteY12" fmla="*/ 24009 h 1516940"/>
              <a:gd name="connsiteX13" fmla="*/ 754047 w 1424802"/>
              <a:gd name="connsiteY13" fmla="*/ 151201 h 1516940"/>
              <a:gd name="connsiteX14" fmla="*/ 771632 w 1424802"/>
              <a:gd name="connsiteY14" fmla="*/ 162924 h 1516940"/>
              <a:gd name="connsiteX15" fmla="*/ 789216 w 1424802"/>
              <a:gd name="connsiteY15" fmla="*/ 180509 h 1516940"/>
              <a:gd name="connsiteX16" fmla="*/ 824385 w 1424802"/>
              <a:gd name="connsiteY16" fmla="*/ 192232 h 1516940"/>
              <a:gd name="connsiteX17" fmla="*/ 841970 w 1424802"/>
              <a:gd name="connsiteY17" fmla="*/ 209817 h 1516940"/>
              <a:gd name="connsiteX18" fmla="*/ 847832 w 1424802"/>
              <a:gd name="connsiteY18" fmla="*/ 227401 h 1516940"/>
              <a:gd name="connsiteX19" fmla="*/ 865416 w 1424802"/>
              <a:gd name="connsiteY19" fmla="*/ 233263 h 1516940"/>
              <a:gd name="connsiteX20" fmla="*/ 906447 w 1424802"/>
              <a:gd name="connsiteY20" fmla="*/ 268432 h 1516940"/>
              <a:gd name="connsiteX21" fmla="*/ 918170 w 1424802"/>
              <a:gd name="connsiteY21" fmla="*/ 286017 h 1516940"/>
              <a:gd name="connsiteX22" fmla="*/ 935755 w 1424802"/>
              <a:gd name="connsiteY22" fmla="*/ 297740 h 1516940"/>
              <a:gd name="connsiteX23" fmla="*/ 959201 w 1424802"/>
              <a:gd name="connsiteY23" fmla="*/ 315324 h 1516940"/>
              <a:gd name="connsiteX24" fmla="*/ 976785 w 1424802"/>
              <a:gd name="connsiteY24" fmla="*/ 327048 h 1516940"/>
              <a:gd name="connsiteX25" fmla="*/ 994370 w 1424802"/>
              <a:gd name="connsiteY25" fmla="*/ 350494 h 1516940"/>
              <a:gd name="connsiteX26" fmla="*/ 1035401 w 1424802"/>
              <a:gd name="connsiteY26" fmla="*/ 373940 h 1516940"/>
              <a:gd name="connsiteX27" fmla="*/ 1058847 w 1424802"/>
              <a:gd name="connsiteY27" fmla="*/ 403248 h 1516940"/>
              <a:gd name="connsiteX28" fmla="*/ 1099878 w 1424802"/>
              <a:gd name="connsiteY28" fmla="*/ 438417 h 1516940"/>
              <a:gd name="connsiteX29" fmla="*/ 1129185 w 1424802"/>
              <a:gd name="connsiteY29" fmla="*/ 479448 h 1516940"/>
              <a:gd name="connsiteX30" fmla="*/ 1135047 w 1424802"/>
              <a:gd name="connsiteY30" fmla="*/ 497032 h 1516940"/>
              <a:gd name="connsiteX31" fmla="*/ 1170216 w 1424802"/>
              <a:gd name="connsiteY31" fmla="*/ 538063 h 1516940"/>
              <a:gd name="connsiteX32" fmla="*/ 1187801 w 1424802"/>
              <a:gd name="connsiteY32" fmla="*/ 561509 h 1516940"/>
              <a:gd name="connsiteX33" fmla="*/ 1211247 w 1424802"/>
              <a:gd name="connsiteY33" fmla="*/ 596678 h 1516940"/>
              <a:gd name="connsiteX34" fmla="*/ 1240555 w 1424802"/>
              <a:gd name="connsiteY34" fmla="*/ 637709 h 1516940"/>
              <a:gd name="connsiteX35" fmla="*/ 1264001 w 1424802"/>
              <a:gd name="connsiteY35" fmla="*/ 684601 h 1516940"/>
              <a:gd name="connsiteX36" fmla="*/ 1269862 w 1424802"/>
              <a:gd name="connsiteY36" fmla="*/ 702186 h 1516940"/>
              <a:gd name="connsiteX37" fmla="*/ 1287447 w 1424802"/>
              <a:gd name="connsiteY37" fmla="*/ 731494 h 1516940"/>
              <a:gd name="connsiteX38" fmla="*/ 1299170 w 1424802"/>
              <a:gd name="connsiteY38" fmla="*/ 754940 h 1516940"/>
              <a:gd name="connsiteX39" fmla="*/ 1316755 w 1424802"/>
              <a:gd name="connsiteY39" fmla="*/ 772524 h 1516940"/>
              <a:gd name="connsiteX40" fmla="*/ 1340201 w 1424802"/>
              <a:gd name="connsiteY40" fmla="*/ 813555 h 1516940"/>
              <a:gd name="connsiteX41" fmla="*/ 1351924 w 1424802"/>
              <a:gd name="connsiteY41" fmla="*/ 837001 h 1516940"/>
              <a:gd name="connsiteX42" fmla="*/ 1357785 w 1424802"/>
              <a:gd name="connsiteY42" fmla="*/ 854586 h 1516940"/>
              <a:gd name="connsiteX43" fmla="*/ 1369508 w 1424802"/>
              <a:gd name="connsiteY43" fmla="*/ 872171 h 1516940"/>
              <a:gd name="connsiteX44" fmla="*/ 1381232 w 1424802"/>
              <a:gd name="connsiteY44" fmla="*/ 901478 h 1516940"/>
              <a:gd name="connsiteX45" fmla="*/ 1398816 w 1424802"/>
              <a:gd name="connsiteY45" fmla="*/ 977678 h 1516940"/>
              <a:gd name="connsiteX46" fmla="*/ 1410539 w 1424802"/>
              <a:gd name="connsiteY46" fmla="*/ 1048017 h 1516940"/>
              <a:gd name="connsiteX47" fmla="*/ 1416401 w 1424802"/>
              <a:gd name="connsiteY47" fmla="*/ 1065601 h 1516940"/>
              <a:gd name="connsiteX48" fmla="*/ 1410539 w 1424802"/>
              <a:gd name="connsiteY48" fmla="*/ 1218001 h 1516940"/>
              <a:gd name="connsiteX49" fmla="*/ 1404287 w 1424802"/>
              <a:gd name="connsiteY49" fmla="*/ 1341627 h 1516940"/>
              <a:gd name="connsiteX50" fmla="*/ 1287447 w 1424802"/>
              <a:gd name="connsiteY50" fmla="*/ 1475909 h 1516940"/>
              <a:gd name="connsiteX51" fmla="*/ 1269862 w 1424802"/>
              <a:gd name="connsiteY51" fmla="*/ 1487632 h 1516940"/>
              <a:gd name="connsiteX52" fmla="*/ 1234693 w 1424802"/>
              <a:gd name="connsiteY52" fmla="*/ 1499355 h 1516940"/>
              <a:gd name="connsiteX53" fmla="*/ 1217108 w 1424802"/>
              <a:gd name="connsiteY53" fmla="*/ 1505217 h 1516940"/>
              <a:gd name="connsiteX54" fmla="*/ 1176078 w 1424802"/>
              <a:gd name="connsiteY54" fmla="*/ 1511078 h 1516940"/>
              <a:gd name="connsiteX55" fmla="*/ 1140908 w 1424802"/>
              <a:gd name="connsiteY55" fmla="*/ 1516940 h 1516940"/>
              <a:gd name="connsiteX56" fmla="*/ 900585 w 1424802"/>
              <a:gd name="connsiteY56" fmla="*/ 1511078 h 1516940"/>
              <a:gd name="connsiteX57" fmla="*/ 883001 w 1424802"/>
              <a:gd name="connsiteY57" fmla="*/ 1505217 h 1516940"/>
              <a:gd name="connsiteX58" fmla="*/ 800939 w 1424802"/>
              <a:gd name="connsiteY58" fmla="*/ 1499355 h 1516940"/>
              <a:gd name="connsiteX59" fmla="*/ 630955 w 1424802"/>
              <a:gd name="connsiteY59" fmla="*/ 1493494 h 1516940"/>
              <a:gd name="connsiteX60" fmla="*/ 572339 w 1424802"/>
              <a:gd name="connsiteY60" fmla="*/ 1487632 h 1516940"/>
              <a:gd name="connsiteX61" fmla="*/ 476812 w 1424802"/>
              <a:gd name="connsiteY61" fmla="*/ 1493494 h 1516940"/>
              <a:gd name="connsiteX62" fmla="*/ 155426 w 1424802"/>
              <a:gd name="connsiteY62" fmla="*/ 1464186 h 1516940"/>
              <a:gd name="connsiteX63" fmla="*/ 83418 w 1424802"/>
              <a:gd name="connsiteY63" fmla="*/ 1392178 h 1516940"/>
              <a:gd name="connsiteX64" fmla="*/ 50662 w 1424802"/>
              <a:gd name="connsiteY64" fmla="*/ 1341094 h 1516940"/>
              <a:gd name="connsiteX65" fmla="*/ 33078 w 1424802"/>
              <a:gd name="connsiteY65" fmla="*/ 1323509 h 1516940"/>
              <a:gd name="connsiteX66" fmla="*/ 21355 w 1424802"/>
              <a:gd name="connsiteY66" fmla="*/ 1282478 h 1516940"/>
              <a:gd name="connsiteX67" fmla="*/ 9632 w 1424802"/>
              <a:gd name="connsiteY67" fmla="*/ 1235586 h 1516940"/>
              <a:gd name="connsiteX68" fmla="*/ 9632 w 1424802"/>
              <a:gd name="connsiteY68" fmla="*/ 1036294 h 1516940"/>
              <a:gd name="connsiteX69" fmla="*/ 15493 w 1424802"/>
              <a:gd name="connsiteY69" fmla="*/ 1018709 h 1516940"/>
              <a:gd name="connsiteX70" fmla="*/ 21355 w 1424802"/>
              <a:gd name="connsiteY70" fmla="*/ 965955 h 1516940"/>
              <a:gd name="connsiteX71" fmla="*/ 27216 w 1424802"/>
              <a:gd name="connsiteY71" fmla="*/ 948371 h 1516940"/>
              <a:gd name="connsiteX72" fmla="*/ 33078 w 1424802"/>
              <a:gd name="connsiteY72" fmla="*/ 913201 h 1516940"/>
              <a:gd name="connsiteX73" fmla="*/ 50662 w 1424802"/>
              <a:gd name="connsiteY73" fmla="*/ 872171 h 1516940"/>
              <a:gd name="connsiteX74" fmla="*/ 62385 w 1424802"/>
              <a:gd name="connsiteY74" fmla="*/ 831140 h 1516940"/>
              <a:gd name="connsiteX75" fmla="*/ 74108 w 1424802"/>
              <a:gd name="connsiteY75" fmla="*/ 807694 h 1516940"/>
              <a:gd name="connsiteX76" fmla="*/ 85832 w 1424802"/>
              <a:gd name="connsiteY76" fmla="*/ 766663 h 1516940"/>
              <a:gd name="connsiteX77" fmla="*/ 91693 w 1424802"/>
              <a:gd name="connsiteY77" fmla="*/ 749078 h 1516940"/>
              <a:gd name="connsiteX78" fmla="*/ 97555 w 1424802"/>
              <a:gd name="connsiteY78" fmla="*/ 719771 h 1516940"/>
              <a:gd name="connsiteX79" fmla="*/ 103416 w 1424802"/>
              <a:gd name="connsiteY79" fmla="*/ 702186 h 1516940"/>
              <a:gd name="connsiteX80" fmla="*/ 102366 w 1424802"/>
              <a:gd name="connsiteY80" fmla="*/ 639555 h 1516940"/>
              <a:gd name="connsiteX81" fmla="*/ 83418 w 1424802"/>
              <a:gd name="connsiteY81" fmla="*/ 528082 h 1516940"/>
              <a:gd name="connsiteX82" fmla="*/ 83418 w 1424802"/>
              <a:gd name="connsiteY82" fmla="*/ 384066 h 1516940"/>
              <a:gd name="connsiteX83" fmla="*/ 85832 w 1424802"/>
              <a:gd name="connsiteY83" fmla="*/ 356355 h 1516940"/>
              <a:gd name="connsiteX84" fmla="*/ 79970 w 1424802"/>
              <a:gd name="connsiteY84" fmla="*/ 338771 h 1516940"/>
              <a:gd name="connsiteX0" fmla="*/ 79970 w 1424802"/>
              <a:gd name="connsiteY0" fmla="*/ 338771 h 1516940"/>
              <a:gd name="connsiteX1" fmla="*/ 82870 w 1424802"/>
              <a:gd name="connsiteY1" fmla="*/ 240089 h 1516940"/>
              <a:gd name="connsiteX2" fmla="*/ 82870 w 1424802"/>
              <a:gd name="connsiteY2" fmla="*/ 168062 h 1516940"/>
              <a:gd name="connsiteX3" fmla="*/ 82870 w 1424802"/>
              <a:gd name="connsiteY3" fmla="*/ 168061 h 1516940"/>
              <a:gd name="connsiteX4" fmla="*/ 154920 w 1424802"/>
              <a:gd name="connsiteY4" fmla="*/ 24009 h 1516940"/>
              <a:gd name="connsiteX5" fmla="*/ 299018 w 1424802"/>
              <a:gd name="connsiteY5" fmla="*/ 24008 h 1516940"/>
              <a:gd name="connsiteX6" fmla="*/ 371067 w 1424802"/>
              <a:gd name="connsiteY6" fmla="*/ 24010 h 1516940"/>
              <a:gd name="connsiteX7" fmla="*/ 443116 w 1424802"/>
              <a:gd name="connsiteY7" fmla="*/ 24008 h 1516940"/>
              <a:gd name="connsiteX8" fmla="*/ 587214 w 1424802"/>
              <a:gd name="connsiteY8" fmla="*/ 24010 h 1516940"/>
              <a:gd name="connsiteX9" fmla="*/ 659264 w 1424802"/>
              <a:gd name="connsiteY9" fmla="*/ 24008 h 1516940"/>
              <a:gd name="connsiteX10" fmla="*/ 731313 w 1424802"/>
              <a:gd name="connsiteY10" fmla="*/ 96036 h 1516940"/>
              <a:gd name="connsiteX11" fmla="*/ 731313 w 1424802"/>
              <a:gd name="connsiteY11" fmla="*/ 24009 h 1516940"/>
              <a:gd name="connsiteX12" fmla="*/ 754047 w 1424802"/>
              <a:gd name="connsiteY12" fmla="*/ 151201 h 1516940"/>
              <a:gd name="connsiteX13" fmla="*/ 771632 w 1424802"/>
              <a:gd name="connsiteY13" fmla="*/ 162924 h 1516940"/>
              <a:gd name="connsiteX14" fmla="*/ 789216 w 1424802"/>
              <a:gd name="connsiteY14" fmla="*/ 180509 h 1516940"/>
              <a:gd name="connsiteX15" fmla="*/ 824385 w 1424802"/>
              <a:gd name="connsiteY15" fmla="*/ 192232 h 1516940"/>
              <a:gd name="connsiteX16" fmla="*/ 841970 w 1424802"/>
              <a:gd name="connsiteY16" fmla="*/ 209817 h 1516940"/>
              <a:gd name="connsiteX17" fmla="*/ 847832 w 1424802"/>
              <a:gd name="connsiteY17" fmla="*/ 227401 h 1516940"/>
              <a:gd name="connsiteX18" fmla="*/ 865416 w 1424802"/>
              <a:gd name="connsiteY18" fmla="*/ 233263 h 1516940"/>
              <a:gd name="connsiteX19" fmla="*/ 906447 w 1424802"/>
              <a:gd name="connsiteY19" fmla="*/ 268432 h 1516940"/>
              <a:gd name="connsiteX20" fmla="*/ 918170 w 1424802"/>
              <a:gd name="connsiteY20" fmla="*/ 286017 h 1516940"/>
              <a:gd name="connsiteX21" fmla="*/ 935755 w 1424802"/>
              <a:gd name="connsiteY21" fmla="*/ 297740 h 1516940"/>
              <a:gd name="connsiteX22" fmla="*/ 959201 w 1424802"/>
              <a:gd name="connsiteY22" fmla="*/ 315324 h 1516940"/>
              <a:gd name="connsiteX23" fmla="*/ 976785 w 1424802"/>
              <a:gd name="connsiteY23" fmla="*/ 327048 h 1516940"/>
              <a:gd name="connsiteX24" fmla="*/ 994370 w 1424802"/>
              <a:gd name="connsiteY24" fmla="*/ 350494 h 1516940"/>
              <a:gd name="connsiteX25" fmla="*/ 1035401 w 1424802"/>
              <a:gd name="connsiteY25" fmla="*/ 373940 h 1516940"/>
              <a:gd name="connsiteX26" fmla="*/ 1058847 w 1424802"/>
              <a:gd name="connsiteY26" fmla="*/ 403248 h 1516940"/>
              <a:gd name="connsiteX27" fmla="*/ 1099878 w 1424802"/>
              <a:gd name="connsiteY27" fmla="*/ 438417 h 1516940"/>
              <a:gd name="connsiteX28" fmla="*/ 1129185 w 1424802"/>
              <a:gd name="connsiteY28" fmla="*/ 479448 h 1516940"/>
              <a:gd name="connsiteX29" fmla="*/ 1135047 w 1424802"/>
              <a:gd name="connsiteY29" fmla="*/ 497032 h 1516940"/>
              <a:gd name="connsiteX30" fmla="*/ 1170216 w 1424802"/>
              <a:gd name="connsiteY30" fmla="*/ 538063 h 1516940"/>
              <a:gd name="connsiteX31" fmla="*/ 1187801 w 1424802"/>
              <a:gd name="connsiteY31" fmla="*/ 561509 h 1516940"/>
              <a:gd name="connsiteX32" fmla="*/ 1211247 w 1424802"/>
              <a:gd name="connsiteY32" fmla="*/ 596678 h 1516940"/>
              <a:gd name="connsiteX33" fmla="*/ 1240555 w 1424802"/>
              <a:gd name="connsiteY33" fmla="*/ 637709 h 1516940"/>
              <a:gd name="connsiteX34" fmla="*/ 1264001 w 1424802"/>
              <a:gd name="connsiteY34" fmla="*/ 684601 h 1516940"/>
              <a:gd name="connsiteX35" fmla="*/ 1269862 w 1424802"/>
              <a:gd name="connsiteY35" fmla="*/ 702186 h 1516940"/>
              <a:gd name="connsiteX36" fmla="*/ 1287447 w 1424802"/>
              <a:gd name="connsiteY36" fmla="*/ 731494 h 1516940"/>
              <a:gd name="connsiteX37" fmla="*/ 1299170 w 1424802"/>
              <a:gd name="connsiteY37" fmla="*/ 754940 h 1516940"/>
              <a:gd name="connsiteX38" fmla="*/ 1316755 w 1424802"/>
              <a:gd name="connsiteY38" fmla="*/ 772524 h 1516940"/>
              <a:gd name="connsiteX39" fmla="*/ 1340201 w 1424802"/>
              <a:gd name="connsiteY39" fmla="*/ 813555 h 1516940"/>
              <a:gd name="connsiteX40" fmla="*/ 1351924 w 1424802"/>
              <a:gd name="connsiteY40" fmla="*/ 837001 h 1516940"/>
              <a:gd name="connsiteX41" fmla="*/ 1357785 w 1424802"/>
              <a:gd name="connsiteY41" fmla="*/ 854586 h 1516940"/>
              <a:gd name="connsiteX42" fmla="*/ 1369508 w 1424802"/>
              <a:gd name="connsiteY42" fmla="*/ 872171 h 1516940"/>
              <a:gd name="connsiteX43" fmla="*/ 1381232 w 1424802"/>
              <a:gd name="connsiteY43" fmla="*/ 901478 h 1516940"/>
              <a:gd name="connsiteX44" fmla="*/ 1398816 w 1424802"/>
              <a:gd name="connsiteY44" fmla="*/ 977678 h 1516940"/>
              <a:gd name="connsiteX45" fmla="*/ 1410539 w 1424802"/>
              <a:gd name="connsiteY45" fmla="*/ 1048017 h 1516940"/>
              <a:gd name="connsiteX46" fmla="*/ 1416401 w 1424802"/>
              <a:gd name="connsiteY46" fmla="*/ 1065601 h 1516940"/>
              <a:gd name="connsiteX47" fmla="*/ 1410539 w 1424802"/>
              <a:gd name="connsiteY47" fmla="*/ 1218001 h 1516940"/>
              <a:gd name="connsiteX48" fmla="*/ 1404287 w 1424802"/>
              <a:gd name="connsiteY48" fmla="*/ 1341627 h 1516940"/>
              <a:gd name="connsiteX49" fmla="*/ 1287447 w 1424802"/>
              <a:gd name="connsiteY49" fmla="*/ 1475909 h 1516940"/>
              <a:gd name="connsiteX50" fmla="*/ 1269862 w 1424802"/>
              <a:gd name="connsiteY50" fmla="*/ 1487632 h 1516940"/>
              <a:gd name="connsiteX51" fmla="*/ 1234693 w 1424802"/>
              <a:gd name="connsiteY51" fmla="*/ 1499355 h 1516940"/>
              <a:gd name="connsiteX52" fmla="*/ 1217108 w 1424802"/>
              <a:gd name="connsiteY52" fmla="*/ 1505217 h 1516940"/>
              <a:gd name="connsiteX53" fmla="*/ 1176078 w 1424802"/>
              <a:gd name="connsiteY53" fmla="*/ 1511078 h 1516940"/>
              <a:gd name="connsiteX54" fmla="*/ 1140908 w 1424802"/>
              <a:gd name="connsiteY54" fmla="*/ 1516940 h 1516940"/>
              <a:gd name="connsiteX55" fmla="*/ 900585 w 1424802"/>
              <a:gd name="connsiteY55" fmla="*/ 1511078 h 1516940"/>
              <a:gd name="connsiteX56" fmla="*/ 883001 w 1424802"/>
              <a:gd name="connsiteY56" fmla="*/ 1505217 h 1516940"/>
              <a:gd name="connsiteX57" fmla="*/ 800939 w 1424802"/>
              <a:gd name="connsiteY57" fmla="*/ 1499355 h 1516940"/>
              <a:gd name="connsiteX58" fmla="*/ 630955 w 1424802"/>
              <a:gd name="connsiteY58" fmla="*/ 1493494 h 1516940"/>
              <a:gd name="connsiteX59" fmla="*/ 572339 w 1424802"/>
              <a:gd name="connsiteY59" fmla="*/ 1487632 h 1516940"/>
              <a:gd name="connsiteX60" fmla="*/ 476812 w 1424802"/>
              <a:gd name="connsiteY60" fmla="*/ 1493494 h 1516940"/>
              <a:gd name="connsiteX61" fmla="*/ 155426 w 1424802"/>
              <a:gd name="connsiteY61" fmla="*/ 1464186 h 1516940"/>
              <a:gd name="connsiteX62" fmla="*/ 83418 w 1424802"/>
              <a:gd name="connsiteY62" fmla="*/ 1392178 h 1516940"/>
              <a:gd name="connsiteX63" fmla="*/ 50662 w 1424802"/>
              <a:gd name="connsiteY63" fmla="*/ 1341094 h 1516940"/>
              <a:gd name="connsiteX64" fmla="*/ 33078 w 1424802"/>
              <a:gd name="connsiteY64" fmla="*/ 1323509 h 1516940"/>
              <a:gd name="connsiteX65" fmla="*/ 21355 w 1424802"/>
              <a:gd name="connsiteY65" fmla="*/ 1282478 h 1516940"/>
              <a:gd name="connsiteX66" fmla="*/ 9632 w 1424802"/>
              <a:gd name="connsiteY66" fmla="*/ 1235586 h 1516940"/>
              <a:gd name="connsiteX67" fmla="*/ 9632 w 1424802"/>
              <a:gd name="connsiteY67" fmla="*/ 1036294 h 1516940"/>
              <a:gd name="connsiteX68" fmla="*/ 15493 w 1424802"/>
              <a:gd name="connsiteY68" fmla="*/ 1018709 h 1516940"/>
              <a:gd name="connsiteX69" fmla="*/ 21355 w 1424802"/>
              <a:gd name="connsiteY69" fmla="*/ 965955 h 1516940"/>
              <a:gd name="connsiteX70" fmla="*/ 27216 w 1424802"/>
              <a:gd name="connsiteY70" fmla="*/ 948371 h 1516940"/>
              <a:gd name="connsiteX71" fmla="*/ 33078 w 1424802"/>
              <a:gd name="connsiteY71" fmla="*/ 913201 h 1516940"/>
              <a:gd name="connsiteX72" fmla="*/ 50662 w 1424802"/>
              <a:gd name="connsiteY72" fmla="*/ 872171 h 1516940"/>
              <a:gd name="connsiteX73" fmla="*/ 62385 w 1424802"/>
              <a:gd name="connsiteY73" fmla="*/ 831140 h 1516940"/>
              <a:gd name="connsiteX74" fmla="*/ 74108 w 1424802"/>
              <a:gd name="connsiteY74" fmla="*/ 807694 h 1516940"/>
              <a:gd name="connsiteX75" fmla="*/ 85832 w 1424802"/>
              <a:gd name="connsiteY75" fmla="*/ 766663 h 1516940"/>
              <a:gd name="connsiteX76" fmla="*/ 91693 w 1424802"/>
              <a:gd name="connsiteY76" fmla="*/ 749078 h 1516940"/>
              <a:gd name="connsiteX77" fmla="*/ 97555 w 1424802"/>
              <a:gd name="connsiteY77" fmla="*/ 719771 h 1516940"/>
              <a:gd name="connsiteX78" fmla="*/ 103416 w 1424802"/>
              <a:gd name="connsiteY78" fmla="*/ 702186 h 1516940"/>
              <a:gd name="connsiteX79" fmla="*/ 102366 w 1424802"/>
              <a:gd name="connsiteY79" fmla="*/ 639555 h 1516940"/>
              <a:gd name="connsiteX80" fmla="*/ 83418 w 1424802"/>
              <a:gd name="connsiteY80" fmla="*/ 528082 h 1516940"/>
              <a:gd name="connsiteX81" fmla="*/ 83418 w 1424802"/>
              <a:gd name="connsiteY81" fmla="*/ 384066 h 1516940"/>
              <a:gd name="connsiteX82" fmla="*/ 85832 w 1424802"/>
              <a:gd name="connsiteY82" fmla="*/ 356355 h 1516940"/>
              <a:gd name="connsiteX83" fmla="*/ 79970 w 1424802"/>
              <a:gd name="connsiteY83" fmla="*/ 338771 h 1516940"/>
              <a:gd name="connsiteX0" fmla="*/ 79970 w 1424802"/>
              <a:gd name="connsiteY0" fmla="*/ 338771 h 1516940"/>
              <a:gd name="connsiteX1" fmla="*/ 82870 w 1424802"/>
              <a:gd name="connsiteY1" fmla="*/ 240089 h 1516940"/>
              <a:gd name="connsiteX2" fmla="*/ 82870 w 1424802"/>
              <a:gd name="connsiteY2" fmla="*/ 168062 h 1516940"/>
              <a:gd name="connsiteX3" fmla="*/ 82870 w 1424802"/>
              <a:gd name="connsiteY3" fmla="*/ 168061 h 1516940"/>
              <a:gd name="connsiteX4" fmla="*/ 154920 w 1424802"/>
              <a:gd name="connsiteY4" fmla="*/ 24009 h 1516940"/>
              <a:gd name="connsiteX5" fmla="*/ 299018 w 1424802"/>
              <a:gd name="connsiteY5" fmla="*/ 24008 h 1516940"/>
              <a:gd name="connsiteX6" fmla="*/ 371067 w 1424802"/>
              <a:gd name="connsiteY6" fmla="*/ 24010 h 1516940"/>
              <a:gd name="connsiteX7" fmla="*/ 443116 w 1424802"/>
              <a:gd name="connsiteY7" fmla="*/ 24008 h 1516940"/>
              <a:gd name="connsiteX8" fmla="*/ 587214 w 1424802"/>
              <a:gd name="connsiteY8" fmla="*/ 24010 h 1516940"/>
              <a:gd name="connsiteX9" fmla="*/ 659264 w 1424802"/>
              <a:gd name="connsiteY9" fmla="*/ 24008 h 1516940"/>
              <a:gd name="connsiteX10" fmla="*/ 731313 w 1424802"/>
              <a:gd name="connsiteY10" fmla="*/ 24009 h 1516940"/>
              <a:gd name="connsiteX11" fmla="*/ 754047 w 1424802"/>
              <a:gd name="connsiteY11" fmla="*/ 151201 h 1516940"/>
              <a:gd name="connsiteX12" fmla="*/ 771632 w 1424802"/>
              <a:gd name="connsiteY12" fmla="*/ 162924 h 1516940"/>
              <a:gd name="connsiteX13" fmla="*/ 789216 w 1424802"/>
              <a:gd name="connsiteY13" fmla="*/ 180509 h 1516940"/>
              <a:gd name="connsiteX14" fmla="*/ 824385 w 1424802"/>
              <a:gd name="connsiteY14" fmla="*/ 192232 h 1516940"/>
              <a:gd name="connsiteX15" fmla="*/ 841970 w 1424802"/>
              <a:gd name="connsiteY15" fmla="*/ 209817 h 1516940"/>
              <a:gd name="connsiteX16" fmla="*/ 847832 w 1424802"/>
              <a:gd name="connsiteY16" fmla="*/ 227401 h 1516940"/>
              <a:gd name="connsiteX17" fmla="*/ 865416 w 1424802"/>
              <a:gd name="connsiteY17" fmla="*/ 233263 h 1516940"/>
              <a:gd name="connsiteX18" fmla="*/ 906447 w 1424802"/>
              <a:gd name="connsiteY18" fmla="*/ 268432 h 1516940"/>
              <a:gd name="connsiteX19" fmla="*/ 918170 w 1424802"/>
              <a:gd name="connsiteY19" fmla="*/ 286017 h 1516940"/>
              <a:gd name="connsiteX20" fmla="*/ 935755 w 1424802"/>
              <a:gd name="connsiteY20" fmla="*/ 297740 h 1516940"/>
              <a:gd name="connsiteX21" fmla="*/ 959201 w 1424802"/>
              <a:gd name="connsiteY21" fmla="*/ 315324 h 1516940"/>
              <a:gd name="connsiteX22" fmla="*/ 976785 w 1424802"/>
              <a:gd name="connsiteY22" fmla="*/ 327048 h 1516940"/>
              <a:gd name="connsiteX23" fmla="*/ 994370 w 1424802"/>
              <a:gd name="connsiteY23" fmla="*/ 350494 h 1516940"/>
              <a:gd name="connsiteX24" fmla="*/ 1035401 w 1424802"/>
              <a:gd name="connsiteY24" fmla="*/ 373940 h 1516940"/>
              <a:gd name="connsiteX25" fmla="*/ 1058847 w 1424802"/>
              <a:gd name="connsiteY25" fmla="*/ 403248 h 1516940"/>
              <a:gd name="connsiteX26" fmla="*/ 1099878 w 1424802"/>
              <a:gd name="connsiteY26" fmla="*/ 438417 h 1516940"/>
              <a:gd name="connsiteX27" fmla="*/ 1129185 w 1424802"/>
              <a:gd name="connsiteY27" fmla="*/ 479448 h 1516940"/>
              <a:gd name="connsiteX28" fmla="*/ 1135047 w 1424802"/>
              <a:gd name="connsiteY28" fmla="*/ 497032 h 1516940"/>
              <a:gd name="connsiteX29" fmla="*/ 1170216 w 1424802"/>
              <a:gd name="connsiteY29" fmla="*/ 538063 h 1516940"/>
              <a:gd name="connsiteX30" fmla="*/ 1187801 w 1424802"/>
              <a:gd name="connsiteY30" fmla="*/ 561509 h 1516940"/>
              <a:gd name="connsiteX31" fmla="*/ 1211247 w 1424802"/>
              <a:gd name="connsiteY31" fmla="*/ 596678 h 1516940"/>
              <a:gd name="connsiteX32" fmla="*/ 1240555 w 1424802"/>
              <a:gd name="connsiteY32" fmla="*/ 637709 h 1516940"/>
              <a:gd name="connsiteX33" fmla="*/ 1264001 w 1424802"/>
              <a:gd name="connsiteY33" fmla="*/ 684601 h 1516940"/>
              <a:gd name="connsiteX34" fmla="*/ 1269862 w 1424802"/>
              <a:gd name="connsiteY34" fmla="*/ 702186 h 1516940"/>
              <a:gd name="connsiteX35" fmla="*/ 1287447 w 1424802"/>
              <a:gd name="connsiteY35" fmla="*/ 731494 h 1516940"/>
              <a:gd name="connsiteX36" fmla="*/ 1299170 w 1424802"/>
              <a:gd name="connsiteY36" fmla="*/ 754940 h 1516940"/>
              <a:gd name="connsiteX37" fmla="*/ 1316755 w 1424802"/>
              <a:gd name="connsiteY37" fmla="*/ 772524 h 1516940"/>
              <a:gd name="connsiteX38" fmla="*/ 1340201 w 1424802"/>
              <a:gd name="connsiteY38" fmla="*/ 813555 h 1516940"/>
              <a:gd name="connsiteX39" fmla="*/ 1351924 w 1424802"/>
              <a:gd name="connsiteY39" fmla="*/ 837001 h 1516940"/>
              <a:gd name="connsiteX40" fmla="*/ 1357785 w 1424802"/>
              <a:gd name="connsiteY40" fmla="*/ 854586 h 1516940"/>
              <a:gd name="connsiteX41" fmla="*/ 1369508 w 1424802"/>
              <a:gd name="connsiteY41" fmla="*/ 872171 h 1516940"/>
              <a:gd name="connsiteX42" fmla="*/ 1381232 w 1424802"/>
              <a:gd name="connsiteY42" fmla="*/ 901478 h 1516940"/>
              <a:gd name="connsiteX43" fmla="*/ 1398816 w 1424802"/>
              <a:gd name="connsiteY43" fmla="*/ 977678 h 1516940"/>
              <a:gd name="connsiteX44" fmla="*/ 1410539 w 1424802"/>
              <a:gd name="connsiteY44" fmla="*/ 1048017 h 1516940"/>
              <a:gd name="connsiteX45" fmla="*/ 1416401 w 1424802"/>
              <a:gd name="connsiteY45" fmla="*/ 1065601 h 1516940"/>
              <a:gd name="connsiteX46" fmla="*/ 1410539 w 1424802"/>
              <a:gd name="connsiteY46" fmla="*/ 1218001 h 1516940"/>
              <a:gd name="connsiteX47" fmla="*/ 1404287 w 1424802"/>
              <a:gd name="connsiteY47" fmla="*/ 1341627 h 1516940"/>
              <a:gd name="connsiteX48" fmla="*/ 1287447 w 1424802"/>
              <a:gd name="connsiteY48" fmla="*/ 1475909 h 1516940"/>
              <a:gd name="connsiteX49" fmla="*/ 1269862 w 1424802"/>
              <a:gd name="connsiteY49" fmla="*/ 1487632 h 1516940"/>
              <a:gd name="connsiteX50" fmla="*/ 1234693 w 1424802"/>
              <a:gd name="connsiteY50" fmla="*/ 1499355 h 1516940"/>
              <a:gd name="connsiteX51" fmla="*/ 1217108 w 1424802"/>
              <a:gd name="connsiteY51" fmla="*/ 1505217 h 1516940"/>
              <a:gd name="connsiteX52" fmla="*/ 1176078 w 1424802"/>
              <a:gd name="connsiteY52" fmla="*/ 1511078 h 1516940"/>
              <a:gd name="connsiteX53" fmla="*/ 1140908 w 1424802"/>
              <a:gd name="connsiteY53" fmla="*/ 1516940 h 1516940"/>
              <a:gd name="connsiteX54" fmla="*/ 900585 w 1424802"/>
              <a:gd name="connsiteY54" fmla="*/ 1511078 h 1516940"/>
              <a:gd name="connsiteX55" fmla="*/ 883001 w 1424802"/>
              <a:gd name="connsiteY55" fmla="*/ 1505217 h 1516940"/>
              <a:gd name="connsiteX56" fmla="*/ 800939 w 1424802"/>
              <a:gd name="connsiteY56" fmla="*/ 1499355 h 1516940"/>
              <a:gd name="connsiteX57" fmla="*/ 630955 w 1424802"/>
              <a:gd name="connsiteY57" fmla="*/ 1493494 h 1516940"/>
              <a:gd name="connsiteX58" fmla="*/ 572339 w 1424802"/>
              <a:gd name="connsiteY58" fmla="*/ 1487632 h 1516940"/>
              <a:gd name="connsiteX59" fmla="*/ 476812 w 1424802"/>
              <a:gd name="connsiteY59" fmla="*/ 1493494 h 1516940"/>
              <a:gd name="connsiteX60" fmla="*/ 155426 w 1424802"/>
              <a:gd name="connsiteY60" fmla="*/ 1464186 h 1516940"/>
              <a:gd name="connsiteX61" fmla="*/ 83418 w 1424802"/>
              <a:gd name="connsiteY61" fmla="*/ 1392178 h 1516940"/>
              <a:gd name="connsiteX62" fmla="*/ 50662 w 1424802"/>
              <a:gd name="connsiteY62" fmla="*/ 1341094 h 1516940"/>
              <a:gd name="connsiteX63" fmla="*/ 33078 w 1424802"/>
              <a:gd name="connsiteY63" fmla="*/ 1323509 h 1516940"/>
              <a:gd name="connsiteX64" fmla="*/ 21355 w 1424802"/>
              <a:gd name="connsiteY64" fmla="*/ 1282478 h 1516940"/>
              <a:gd name="connsiteX65" fmla="*/ 9632 w 1424802"/>
              <a:gd name="connsiteY65" fmla="*/ 1235586 h 1516940"/>
              <a:gd name="connsiteX66" fmla="*/ 9632 w 1424802"/>
              <a:gd name="connsiteY66" fmla="*/ 1036294 h 1516940"/>
              <a:gd name="connsiteX67" fmla="*/ 15493 w 1424802"/>
              <a:gd name="connsiteY67" fmla="*/ 1018709 h 1516940"/>
              <a:gd name="connsiteX68" fmla="*/ 21355 w 1424802"/>
              <a:gd name="connsiteY68" fmla="*/ 965955 h 1516940"/>
              <a:gd name="connsiteX69" fmla="*/ 27216 w 1424802"/>
              <a:gd name="connsiteY69" fmla="*/ 948371 h 1516940"/>
              <a:gd name="connsiteX70" fmla="*/ 33078 w 1424802"/>
              <a:gd name="connsiteY70" fmla="*/ 913201 h 1516940"/>
              <a:gd name="connsiteX71" fmla="*/ 50662 w 1424802"/>
              <a:gd name="connsiteY71" fmla="*/ 872171 h 1516940"/>
              <a:gd name="connsiteX72" fmla="*/ 62385 w 1424802"/>
              <a:gd name="connsiteY72" fmla="*/ 831140 h 1516940"/>
              <a:gd name="connsiteX73" fmla="*/ 74108 w 1424802"/>
              <a:gd name="connsiteY73" fmla="*/ 807694 h 1516940"/>
              <a:gd name="connsiteX74" fmla="*/ 85832 w 1424802"/>
              <a:gd name="connsiteY74" fmla="*/ 766663 h 1516940"/>
              <a:gd name="connsiteX75" fmla="*/ 91693 w 1424802"/>
              <a:gd name="connsiteY75" fmla="*/ 749078 h 1516940"/>
              <a:gd name="connsiteX76" fmla="*/ 97555 w 1424802"/>
              <a:gd name="connsiteY76" fmla="*/ 719771 h 1516940"/>
              <a:gd name="connsiteX77" fmla="*/ 103416 w 1424802"/>
              <a:gd name="connsiteY77" fmla="*/ 702186 h 1516940"/>
              <a:gd name="connsiteX78" fmla="*/ 102366 w 1424802"/>
              <a:gd name="connsiteY78" fmla="*/ 639555 h 1516940"/>
              <a:gd name="connsiteX79" fmla="*/ 83418 w 1424802"/>
              <a:gd name="connsiteY79" fmla="*/ 528082 h 1516940"/>
              <a:gd name="connsiteX80" fmla="*/ 83418 w 1424802"/>
              <a:gd name="connsiteY80" fmla="*/ 384066 h 1516940"/>
              <a:gd name="connsiteX81" fmla="*/ 85832 w 1424802"/>
              <a:gd name="connsiteY81" fmla="*/ 356355 h 1516940"/>
              <a:gd name="connsiteX82" fmla="*/ 79970 w 1424802"/>
              <a:gd name="connsiteY82" fmla="*/ 338771 h 1516940"/>
              <a:gd name="connsiteX0" fmla="*/ 79970 w 1424802"/>
              <a:gd name="connsiteY0" fmla="*/ 338771 h 1516940"/>
              <a:gd name="connsiteX1" fmla="*/ 82870 w 1424802"/>
              <a:gd name="connsiteY1" fmla="*/ 240089 h 1516940"/>
              <a:gd name="connsiteX2" fmla="*/ 82870 w 1424802"/>
              <a:gd name="connsiteY2" fmla="*/ 168062 h 1516940"/>
              <a:gd name="connsiteX3" fmla="*/ 82870 w 1424802"/>
              <a:gd name="connsiteY3" fmla="*/ 168061 h 1516940"/>
              <a:gd name="connsiteX4" fmla="*/ 154920 w 1424802"/>
              <a:gd name="connsiteY4" fmla="*/ 24009 h 1516940"/>
              <a:gd name="connsiteX5" fmla="*/ 299018 w 1424802"/>
              <a:gd name="connsiteY5" fmla="*/ 24008 h 1516940"/>
              <a:gd name="connsiteX6" fmla="*/ 371067 w 1424802"/>
              <a:gd name="connsiteY6" fmla="*/ 24010 h 1516940"/>
              <a:gd name="connsiteX7" fmla="*/ 443116 w 1424802"/>
              <a:gd name="connsiteY7" fmla="*/ 24008 h 1516940"/>
              <a:gd name="connsiteX8" fmla="*/ 587214 w 1424802"/>
              <a:gd name="connsiteY8" fmla="*/ 24010 h 1516940"/>
              <a:gd name="connsiteX9" fmla="*/ 659264 w 1424802"/>
              <a:gd name="connsiteY9" fmla="*/ 24008 h 1516940"/>
              <a:gd name="connsiteX10" fmla="*/ 731313 w 1424802"/>
              <a:gd name="connsiteY10" fmla="*/ 24009 h 1516940"/>
              <a:gd name="connsiteX11" fmla="*/ 754047 w 1424802"/>
              <a:gd name="connsiteY11" fmla="*/ 151201 h 1516940"/>
              <a:gd name="connsiteX12" fmla="*/ 789216 w 1424802"/>
              <a:gd name="connsiteY12" fmla="*/ 180509 h 1516940"/>
              <a:gd name="connsiteX13" fmla="*/ 824385 w 1424802"/>
              <a:gd name="connsiteY13" fmla="*/ 192232 h 1516940"/>
              <a:gd name="connsiteX14" fmla="*/ 841970 w 1424802"/>
              <a:gd name="connsiteY14" fmla="*/ 209817 h 1516940"/>
              <a:gd name="connsiteX15" fmla="*/ 847832 w 1424802"/>
              <a:gd name="connsiteY15" fmla="*/ 227401 h 1516940"/>
              <a:gd name="connsiteX16" fmla="*/ 865416 w 1424802"/>
              <a:gd name="connsiteY16" fmla="*/ 233263 h 1516940"/>
              <a:gd name="connsiteX17" fmla="*/ 906447 w 1424802"/>
              <a:gd name="connsiteY17" fmla="*/ 268432 h 1516940"/>
              <a:gd name="connsiteX18" fmla="*/ 918170 w 1424802"/>
              <a:gd name="connsiteY18" fmla="*/ 286017 h 1516940"/>
              <a:gd name="connsiteX19" fmla="*/ 935755 w 1424802"/>
              <a:gd name="connsiteY19" fmla="*/ 297740 h 1516940"/>
              <a:gd name="connsiteX20" fmla="*/ 959201 w 1424802"/>
              <a:gd name="connsiteY20" fmla="*/ 315324 h 1516940"/>
              <a:gd name="connsiteX21" fmla="*/ 976785 w 1424802"/>
              <a:gd name="connsiteY21" fmla="*/ 327048 h 1516940"/>
              <a:gd name="connsiteX22" fmla="*/ 994370 w 1424802"/>
              <a:gd name="connsiteY22" fmla="*/ 350494 h 1516940"/>
              <a:gd name="connsiteX23" fmla="*/ 1035401 w 1424802"/>
              <a:gd name="connsiteY23" fmla="*/ 373940 h 1516940"/>
              <a:gd name="connsiteX24" fmla="*/ 1058847 w 1424802"/>
              <a:gd name="connsiteY24" fmla="*/ 403248 h 1516940"/>
              <a:gd name="connsiteX25" fmla="*/ 1099878 w 1424802"/>
              <a:gd name="connsiteY25" fmla="*/ 438417 h 1516940"/>
              <a:gd name="connsiteX26" fmla="*/ 1129185 w 1424802"/>
              <a:gd name="connsiteY26" fmla="*/ 479448 h 1516940"/>
              <a:gd name="connsiteX27" fmla="*/ 1135047 w 1424802"/>
              <a:gd name="connsiteY27" fmla="*/ 497032 h 1516940"/>
              <a:gd name="connsiteX28" fmla="*/ 1170216 w 1424802"/>
              <a:gd name="connsiteY28" fmla="*/ 538063 h 1516940"/>
              <a:gd name="connsiteX29" fmla="*/ 1187801 w 1424802"/>
              <a:gd name="connsiteY29" fmla="*/ 561509 h 1516940"/>
              <a:gd name="connsiteX30" fmla="*/ 1211247 w 1424802"/>
              <a:gd name="connsiteY30" fmla="*/ 596678 h 1516940"/>
              <a:gd name="connsiteX31" fmla="*/ 1240555 w 1424802"/>
              <a:gd name="connsiteY31" fmla="*/ 637709 h 1516940"/>
              <a:gd name="connsiteX32" fmla="*/ 1264001 w 1424802"/>
              <a:gd name="connsiteY32" fmla="*/ 684601 h 1516940"/>
              <a:gd name="connsiteX33" fmla="*/ 1269862 w 1424802"/>
              <a:gd name="connsiteY33" fmla="*/ 702186 h 1516940"/>
              <a:gd name="connsiteX34" fmla="*/ 1287447 w 1424802"/>
              <a:gd name="connsiteY34" fmla="*/ 731494 h 1516940"/>
              <a:gd name="connsiteX35" fmla="*/ 1299170 w 1424802"/>
              <a:gd name="connsiteY35" fmla="*/ 754940 h 1516940"/>
              <a:gd name="connsiteX36" fmla="*/ 1316755 w 1424802"/>
              <a:gd name="connsiteY36" fmla="*/ 772524 h 1516940"/>
              <a:gd name="connsiteX37" fmla="*/ 1340201 w 1424802"/>
              <a:gd name="connsiteY37" fmla="*/ 813555 h 1516940"/>
              <a:gd name="connsiteX38" fmla="*/ 1351924 w 1424802"/>
              <a:gd name="connsiteY38" fmla="*/ 837001 h 1516940"/>
              <a:gd name="connsiteX39" fmla="*/ 1357785 w 1424802"/>
              <a:gd name="connsiteY39" fmla="*/ 854586 h 1516940"/>
              <a:gd name="connsiteX40" fmla="*/ 1369508 w 1424802"/>
              <a:gd name="connsiteY40" fmla="*/ 872171 h 1516940"/>
              <a:gd name="connsiteX41" fmla="*/ 1381232 w 1424802"/>
              <a:gd name="connsiteY41" fmla="*/ 901478 h 1516940"/>
              <a:gd name="connsiteX42" fmla="*/ 1398816 w 1424802"/>
              <a:gd name="connsiteY42" fmla="*/ 977678 h 1516940"/>
              <a:gd name="connsiteX43" fmla="*/ 1410539 w 1424802"/>
              <a:gd name="connsiteY43" fmla="*/ 1048017 h 1516940"/>
              <a:gd name="connsiteX44" fmla="*/ 1416401 w 1424802"/>
              <a:gd name="connsiteY44" fmla="*/ 1065601 h 1516940"/>
              <a:gd name="connsiteX45" fmla="*/ 1410539 w 1424802"/>
              <a:gd name="connsiteY45" fmla="*/ 1218001 h 1516940"/>
              <a:gd name="connsiteX46" fmla="*/ 1404287 w 1424802"/>
              <a:gd name="connsiteY46" fmla="*/ 1341627 h 1516940"/>
              <a:gd name="connsiteX47" fmla="*/ 1287447 w 1424802"/>
              <a:gd name="connsiteY47" fmla="*/ 1475909 h 1516940"/>
              <a:gd name="connsiteX48" fmla="*/ 1269862 w 1424802"/>
              <a:gd name="connsiteY48" fmla="*/ 1487632 h 1516940"/>
              <a:gd name="connsiteX49" fmla="*/ 1234693 w 1424802"/>
              <a:gd name="connsiteY49" fmla="*/ 1499355 h 1516940"/>
              <a:gd name="connsiteX50" fmla="*/ 1217108 w 1424802"/>
              <a:gd name="connsiteY50" fmla="*/ 1505217 h 1516940"/>
              <a:gd name="connsiteX51" fmla="*/ 1176078 w 1424802"/>
              <a:gd name="connsiteY51" fmla="*/ 1511078 h 1516940"/>
              <a:gd name="connsiteX52" fmla="*/ 1140908 w 1424802"/>
              <a:gd name="connsiteY52" fmla="*/ 1516940 h 1516940"/>
              <a:gd name="connsiteX53" fmla="*/ 900585 w 1424802"/>
              <a:gd name="connsiteY53" fmla="*/ 1511078 h 1516940"/>
              <a:gd name="connsiteX54" fmla="*/ 883001 w 1424802"/>
              <a:gd name="connsiteY54" fmla="*/ 1505217 h 1516940"/>
              <a:gd name="connsiteX55" fmla="*/ 800939 w 1424802"/>
              <a:gd name="connsiteY55" fmla="*/ 1499355 h 1516940"/>
              <a:gd name="connsiteX56" fmla="*/ 630955 w 1424802"/>
              <a:gd name="connsiteY56" fmla="*/ 1493494 h 1516940"/>
              <a:gd name="connsiteX57" fmla="*/ 572339 w 1424802"/>
              <a:gd name="connsiteY57" fmla="*/ 1487632 h 1516940"/>
              <a:gd name="connsiteX58" fmla="*/ 476812 w 1424802"/>
              <a:gd name="connsiteY58" fmla="*/ 1493494 h 1516940"/>
              <a:gd name="connsiteX59" fmla="*/ 155426 w 1424802"/>
              <a:gd name="connsiteY59" fmla="*/ 1464186 h 1516940"/>
              <a:gd name="connsiteX60" fmla="*/ 83418 w 1424802"/>
              <a:gd name="connsiteY60" fmla="*/ 1392178 h 1516940"/>
              <a:gd name="connsiteX61" fmla="*/ 50662 w 1424802"/>
              <a:gd name="connsiteY61" fmla="*/ 1341094 h 1516940"/>
              <a:gd name="connsiteX62" fmla="*/ 33078 w 1424802"/>
              <a:gd name="connsiteY62" fmla="*/ 1323509 h 1516940"/>
              <a:gd name="connsiteX63" fmla="*/ 21355 w 1424802"/>
              <a:gd name="connsiteY63" fmla="*/ 1282478 h 1516940"/>
              <a:gd name="connsiteX64" fmla="*/ 9632 w 1424802"/>
              <a:gd name="connsiteY64" fmla="*/ 1235586 h 1516940"/>
              <a:gd name="connsiteX65" fmla="*/ 9632 w 1424802"/>
              <a:gd name="connsiteY65" fmla="*/ 1036294 h 1516940"/>
              <a:gd name="connsiteX66" fmla="*/ 15493 w 1424802"/>
              <a:gd name="connsiteY66" fmla="*/ 1018709 h 1516940"/>
              <a:gd name="connsiteX67" fmla="*/ 21355 w 1424802"/>
              <a:gd name="connsiteY67" fmla="*/ 965955 h 1516940"/>
              <a:gd name="connsiteX68" fmla="*/ 27216 w 1424802"/>
              <a:gd name="connsiteY68" fmla="*/ 948371 h 1516940"/>
              <a:gd name="connsiteX69" fmla="*/ 33078 w 1424802"/>
              <a:gd name="connsiteY69" fmla="*/ 913201 h 1516940"/>
              <a:gd name="connsiteX70" fmla="*/ 50662 w 1424802"/>
              <a:gd name="connsiteY70" fmla="*/ 872171 h 1516940"/>
              <a:gd name="connsiteX71" fmla="*/ 62385 w 1424802"/>
              <a:gd name="connsiteY71" fmla="*/ 831140 h 1516940"/>
              <a:gd name="connsiteX72" fmla="*/ 74108 w 1424802"/>
              <a:gd name="connsiteY72" fmla="*/ 807694 h 1516940"/>
              <a:gd name="connsiteX73" fmla="*/ 85832 w 1424802"/>
              <a:gd name="connsiteY73" fmla="*/ 766663 h 1516940"/>
              <a:gd name="connsiteX74" fmla="*/ 91693 w 1424802"/>
              <a:gd name="connsiteY74" fmla="*/ 749078 h 1516940"/>
              <a:gd name="connsiteX75" fmla="*/ 97555 w 1424802"/>
              <a:gd name="connsiteY75" fmla="*/ 719771 h 1516940"/>
              <a:gd name="connsiteX76" fmla="*/ 103416 w 1424802"/>
              <a:gd name="connsiteY76" fmla="*/ 702186 h 1516940"/>
              <a:gd name="connsiteX77" fmla="*/ 102366 w 1424802"/>
              <a:gd name="connsiteY77" fmla="*/ 639555 h 1516940"/>
              <a:gd name="connsiteX78" fmla="*/ 83418 w 1424802"/>
              <a:gd name="connsiteY78" fmla="*/ 528082 h 1516940"/>
              <a:gd name="connsiteX79" fmla="*/ 83418 w 1424802"/>
              <a:gd name="connsiteY79" fmla="*/ 384066 h 1516940"/>
              <a:gd name="connsiteX80" fmla="*/ 85832 w 1424802"/>
              <a:gd name="connsiteY80" fmla="*/ 356355 h 1516940"/>
              <a:gd name="connsiteX81" fmla="*/ 79970 w 1424802"/>
              <a:gd name="connsiteY81" fmla="*/ 338771 h 1516940"/>
              <a:gd name="connsiteX0" fmla="*/ 79970 w 1424802"/>
              <a:gd name="connsiteY0" fmla="*/ 338771 h 1516940"/>
              <a:gd name="connsiteX1" fmla="*/ 82870 w 1424802"/>
              <a:gd name="connsiteY1" fmla="*/ 240089 h 1516940"/>
              <a:gd name="connsiteX2" fmla="*/ 82870 w 1424802"/>
              <a:gd name="connsiteY2" fmla="*/ 168062 h 1516940"/>
              <a:gd name="connsiteX3" fmla="*/ 82870 w 1424802"/>
              <a:gd name="connsiteY3" fmla="*/ 168061 h 1516940"/>
              <a:gd name="connsiteX4" fmla="*/ 154920 w 1424802"/>
              <a:gd name="connsiteY4" fmla="*/ 24009 h 1516940"/>
              <a:gd name="connsiteX5" fmla="*/ 299018 w 1424802"/>
              <a:gd name="connsiteY5" fmla="*/ 24008 h 1516940"/>
              <a:gd name="connsiteX6" fmla="*/ 371067 w 1424802"/>
              <a:gd name="connsiteY6" fmla="*/ 24010 h 1516940"/>
              <a:gd name="connsiteX7" fmla="*/ 443116 w 1424802"/>
              <a:gd name="connsiteY7" fmla="*/ 24008 h 1516940"/>
              <a:gd name="connsiteX8" fmla="*/ 587214 w 1424802"/>
              <a:gd name="connsiteY8" fmla="*/ 24010 h 1516940"/>
              <a:gd name="connsiteX9" fmla="*/ 659264 w 1424802"/>
              <a:gd name="connsiteY9" fmla="*/ 24008 h 1516940"/>
              <a:gd name="connsiteX10" fmla="*/ 731313 w 1424802"/>
              <a:gd name="connsiteY10" fmla="*/ 24009 h 1516940"/>
              <a:gd name="connsiteX11" fmla="*/ 789216 w 1424802"/>
              <a:gd name="connsiteY11" fmla="*/ 180509 h 1516940"/>
              <a:gd name="connsiteX12" fmla="*/ 824385 w 1424802"/>
              <a:gd name="connsiteY12" fmla="*/ 192232 h 1516940"/>
              <a:gd name="connsiteX13" fmla="*/ 841970 w 1424802"/>
              <a:gd name="connsiteY13" fmla="*/ 209817 h 1516940"/>
              <a:gd name="connsiteX14" fmla="*/ 847832 w 1424802"/>
              <a:gd name="connsiteY14" fmla="*/ 227401 h 1516940"/>
              <a:gd name="connsiteX15" fmla="*/ 865416 w 1424802"/>
              <a:gd name="connsiteY15" fmla="*/ 233263 h 1516940"/>
              <a:gd name="connsiteX16" fmla="*/ 906447 w 1424802"/>
              <a:gd name="connsiteY16" fmla="*/ 268432 h 1516940"/>
              <a:gd name="connsiteX17" fmla="*/ 918170 w 1424802"/>
              <a:gd name="connsiteY17" fmla="*/ 286017 h 1516940"/>
              <a:gd name="connsiteX18" fmla="*/ 935755 w 1424802"/>
              <a:gd name="connsiteY18" fmla="*/ 297740 h 1516940"/>
              <a:gd name="connsiteX19" fmla="*/ 959201 w 1424802"/>
              <a:gd name="connsiteY19" fmla="*/ 315324 h 1516940"/>
              <a:gd name="connsiteX20" fmla="*/ 976785 w 1424802"/>
              <a:gd name="connsiteY20" fmla="*/ 327048 h 1516940"/>
              <a:gd name="connsiteX21" fmla="*/ 994370 w 1424802"/>
              <a:gd name="connsiteY21" fmla="*/ 350494 h 1516940"/>
              <a:gd name="connsiteX22" fmla="*/ 1035401 w 1424802"/>
              <a:gd name="connsiteY22" fmla="*/ 373940 h 1516940"/>
              <a:gd name="connsiteX23" fmla="*/ 1058847 w 1424802"/>
              <a:gd name="connsiteY23" fmla="*/ 403248 h 1516940"/>
              <a:gd name="connsiteX24" fmla="*/ 1099878 w 1424802"/>
              <a:gd name="connsiteY24" fmla="*/ 438417 h 1516940"/>
              <a:gd name="connsiteX25" fmla="*/ 1129185 w 1424802"/>
              <a:gd name="connsiteY25" fmla="*/ 479448 h 1516940"/>
              <a:gd name="connsiteX26" fmla="*/ 1135047 w 1424802"/>
              <a:gd name="connsiteY26" fmla="*/ 497032 h 1516940"/>
              <a:gd name="connsiteX27" fmla="*/ 1170216 w 1424802"/>
              <a:gd name="connsiteY27" fmla="*/ 538063 h 1516940"/>
              <a:gd name="connsiteX28" fmla="*/ 1187801 w 1424802"/>
              <a:gd name="connsiteY28" fmla="*/ 561509 h 1516940"/>
              <a:gd name="connsiteX29" fmla="*/ 1211247 w 1424802"/>
              <a:gd name="connsiteY29" fmla="*/ 596678 h 1516940"/>
              <a:gd name="connsiteX30" fmla="*/ 1240555 w 1424802"/>
              <a:gd name="connsiteY30" fmla="*/ 637709 h 1516940"/>
              <a:gd name="connsiteX31" fmla="*/ 1264001 w 1424802"/>
              <a:gd name="connsiteY31" fmla="*/ 684601 h 1516940"/>
              <a:gd name="connsiteX32" fmla="*/ 1269862 w 1424802"/>
              <a:gd name="connsiteY32" fmla="*/ 702186 h 1516940"/>
              <a:gd name="connsiteX33" fmla="*/ 1287447 w 1424802"/>
              <a:gd name="connsiteY33" fmla="*/ 731494 h 1516940"/>
              <a:gd name="connsiteX34" fmla="*/ 1299170 w 1424802"/>
              <a:gd name="connsiteY34" fmla="*/ 754940 h 1516940"/>
              <a:gd name="connsiteX35" fmla="*/ 1316755 w 1424802"/>
              <a:gd name="connsiteY35" fmla="*/ 772524 h 1516940"/>
              <a:gd name="connsiteX36" fmla="*/ 1340201 w 1424802"/>
              <a:gd name="connsiteY36" fmla="*/ 813555 h 1516940"/>
              <a:gd name="connsiteX37" fmla="*/ 1351924 w 1424802"/>
              <a:gd name="connsiteY37" fmla="*/ 837001 h 1516940"/>
              <a:gd name="connsiteX38" fmla="*/ 1357785 w 1424802"/>
              <a:gd name="connsiteY38" fmla="*/ 854586 h 1516940"/>
              <a:gd name="connsiteX39" fmla="*/ 1369508 w 1424802"/>
              <a:gd name="connsiteY39" fmla="*/ 872171 h 1516940"/>
              <a:gd name="connsiteX40" fmla="*/ 1381232 w 1424802"/>
              <a:gd name="connsiteY40" fmla="*/ 901478 h 1516940"/>
              <a:gd name="connsiteX41" fmla="*/ 1398816 w 1424802"/>
              <a:gd name="connsiteY41" fmla="*/ 977678 h 1516940"/>
              <a:gd name="connsiteX42" fmla="*/ 1410539 w 1424802"/>
              <a:gd name="connsiteY42" fmla="*/ 1048017 h 1516940"/>
              <a:gd name="connsiteX43" fmla="*/ 1416401 w 1424802"/>
              <a:gd name="connsiteY43" fmla="*/ 1065601 h 1516940"/>
              <a:gd name="connsiteX44" fmla="*/ 1410539 w 1424802"/>
              <a:gd name="connsiteY44" fmla="*/ 1218001 h 1516940"/>
              <a:gd name="connsiteX45" fmla="*/ 1404287 w 1424802"/>
              <a:gd name="connsiteY45" fmla="*/ 1341627 h 1516940"/>
              <a:gd name="connsiteX46" fmla="*/ 1287447 w 1424802"/>
              <a:gd name="connsiteY46" fmla="*/ 1475909 h 1516940"/>
              <a:gd name="connsiteX47" fmla="*/ 1269862 w 1424802"/>
              <a:gd name="connsiteY47" fmla="*/ 1487632 h 1516940"/>
              <a:gd name="connsiteX48" fmla="*/ 1234693 w 1424802"/>
              <a:gd name="connsiteY48" fmla="*/ 1499355 h 1516940"/>
              <a:gd name="connsiteX49" fmla="*/ 1217108 w 1424802"/>
              <a:gd name="connsiteY49" fmla="*/ 1505217 h 1516940"/>
              <a:gd name="connsiteX50" fmla="*/ 1176078 w 1424802"/>
              <a:gd name="connsiteY50" fmla="*/ 1511078 h 1516940"/>
              <a:gd name="connsiteX51" fmla="*/ 1140908 w 1424802"/>
              <a:gd name="connsiteY51" fmla="*/ 1516940 h 1516940"/>
              <a:gd name="connsiteX52" fmla="*/ 900585 w 1424802"/>
              <a:gd name="connsiteY52" fmla="*/ 1511078 h 1516940"/>
              <a:gd name="connsiteX53" fmla="*/ 883001 w 1424802"/>
              <a:gd name="connsiteY53" fmla="*/ 1505217 h 1516940"/>
              <a:gd name="connsiteX54" fmla="*/ 800939 w 1424802"/>
              <a:gd name="connsiteY54" fmla="*/ 1499355 h 1516940"/>
              <a:gd name="connsiteX55" fmla="*/ 630955 w 1424802"/>
              <a:gd name="connsiteY55" fmla="*/ 1493494 h 1516940"/>
              <a:gd name="connsiteX56" fmla="*/ 572339 w 1424802"/>
              <a:gd name="connsiteY56" fmla="*/ 1487632 h 1516940"/>
              <a:gd name="connsiteX57" fmla="*/ 476812 w 1424802"/>
              <a:gd name="connsiteY57" fmla="*/ 1493494 h 1516940"/>
              <a:gd name="connsiteX58" fmla="*/ 155426 w 1424802"/>
              <a:gd name="connsiteY58" fmla="*/ 1464186 h 1516940"/>
              <a:gd name="connsiteX59" fmla="*/ 83418 w 1424802"/>
              <a:gd name="connsiteY59" fmla="*/ 1392178 h 1516940"/>
              <a:gd name="connsiteX60" fmla="*/ 50662 w 1424802"/>
              <a:gd name="connsiteY60" fmla="*/ 1341094 h 1516940"/>
              <a:gd name="connsiteX61" fmla="*/ 33078 w 1424802"/>
              <a:gd name="connsiteY61" fmla="*/ 1323509 h 1516940"/>
              <a:gd name="connsiteX62" fmla="*/ 21355 w 1424802"/>
              <a:gd name="connsiteY62" fmla="*/ 1282478 h 1516940"/>
              <a:gd name="connsiteX63" fmla="*/ 9632 w 1424802"/>
              <a:gd name="connsiteY63" fmla="*/ 1235586 h 1516940"/>
              <a:gd name="connsiteX64" fmla="*/ 9632 w 1424802"/>
              <a:gd name="connsiteY64" fmla="*/ 1036294 h 1516940"/>
              <a:gd name="connsiteX65" fmla="*/ 15493 w 1424802"/>
              <a:gd name="connsiteY65" fmla="*/ 1018709 h 1516940"/>
              <a:gd name="connsiteX66" fmla="*/ 21355 w 1424802"/>
              <a:gd name="connsiteY66" fmla="*/ 965955 h 1516940"/>
              <a:gd name="connsiteX67" fmla="*/ 27216 w 1424802"/>
              <a:gd name="connsiteY67" fmla="*/ 948371 h 1516940"/>
              <a:gd name="connsiteX68" fmla="*/ 33078 w 1424802"/>
              <a:gd name="connsiteY68" fmla="*/ 913201 h 1516940"/>
              <a:gd name="connsiteX69" fmla="*/ 50662 w 1424802"/>
              <a:gd name="connsiteY69" fmla="*/ 872171 h 1516940"/>
              <a:gd name="connsiteX70" fmla="*/ 62385 w 1424802"/>
              <a:gd name="connsiteY70" fmla="*/ 831140 h 1516940"/>
              <a:gd name="connsiteX71" fmla="*/ 74108 w 1424802"/>
              <a:gd name="connsiteY71" fmla="*/ 807694 h 1516940"/>
              <a:gd name="connsiteX72" fmla="*/ 85832 w 1424802"/>
              <a:gd name="connsiteY72" fmla="*/ 766663 h 1516940"/>
              <a:gd name="connsiteX73" fmla="*/ 91693 w 1424802"/>
              <a:gd name="connsiteY73" fmla="*/ 749078 h 1516940"/>
              <a:gd name="connsiteX74" fmla="*/ 97555 w 1424802"/>
              <a:gd name="connsiteY74" fmla="*/ 719771 h 1516940"/>
              <a:gd name="connsiteX75" fmla="*/ 103416 w 1424802"/>
              <a:gd name="connsiteY75" fmla="*/ 702186 h 1516940"/>
              <a:gd name="connsiteX76" fmla="*/ 102366 w 1424802"/>
              <a:gd name="connsiteY76" fmla="*/ 639555 h 1516940"/>
              <a:gd name="connsiteX77" fmla="*/ 83418 w 1424802"/>
              <a:gd name="connsiteY77" fmla="*/ 528082 h 1516940"/>
              <a:gd name="connsiteX78" fmla="*/ 83418 w 1424802"/>
              <a:gd name="connsiteY78" fmla="*/ 384066 h 1516940"/>
              <a:gd name="connsiteX79" fmla="*/ 85832 w 1424802"/>
              <a:gd name="connsiteY79" fmla="*/ 356355 h 1516940"/>
              <a:gd name="connsiteX80" fmla="*/ 79970 w 1424802"/>
              <a:gd name="connsiteY80" fmla="*/ 338771 h 1516940"/>
              <a:gd name="connsiteX0" fmla="*/ 79970 w 1424802"/>
              <a:gd name="connsiteY0" fmla="*/ 338771 h 1516940"/>
              <a:gd name="connsiteX1" fmla="*/ 82870 w 1424802"/>
              <a:gd name="connsiteY1" fmla="*/ 240089 h 1516940"/>
              <a:gd name="connsiteX2" fmla="*/ 82870 w 1424802"/>
              <a:gd name="connsiteY2" fmla="*/ 168062 h 1516940"/>
              <a:gd name="connsiteX3" fmla="*/ 82870 w 1424802"/>
              <a:gd name="connsiteY3" fmla="*/ 168061 h 1516940"/>
              <a:gd name="connsiteX4" fmla="*/ 154920 w 1424802"/>
              <a:gd name="connsiteY4" fmla="*/ 24009 h 1516940"/>
              <a:gd name="connsiteX5" fmla="*/ 299018 w 1424802"/>
              <a:gd name="connsiteY5" fmla="*/ 24008 h 1516940"/>
              <a:gd name="connsiteX6" fmla="*/ 371067 w 1424802"/>
              <a:gd name="connsiteY6" fmla="*/ 24010 h 1516940"/>
              <a:gd name="connsiteX7" fmla="*/ 443116 w 1424802"/>
              <a:gd name="connsiteY7" fmla="*/ 24008 h 1516940"/>
              <a:gd name="connsiteX8" fmla="*/ 587214 w 1424802"/>
              <a:gd name="connsiteY8" fmla="*/ 24010 h 1516940"/>
              <a:gd name="connsiteX9" fmla="*/ 659264 w 1424802"/>
              <a:gd name="connsiteY9" fmla="*/ 24008 h 1516940"/>
              <a:gd name="connsiteX10" fmla="*/ 731313 w 1424802"/>
              <a:gd name="connsiteY10" fmla="*/ 24009 h 1516940"/>
              <a:gd name="connsiteX11" fmla="*/ 824385 w 1424802"/>
              <a:gd name="connsiteY11" fmla="*/ 192232 h 1516940"/>
              <a:gd name="connsiteX12" fmla="*/ 841970 w 1424802"/>
              <a:gd name="connsiteY12" fmla="*/ 209817 h 1516940"/>
              <a:gd name="connsiteX13" fmla="*/ 847832 w 1424802"/>
              <a:gd name="connsiteY13" fmla="*/ 227401 h 1516940"/>
              <a:gd name="connsiteX14" fmla="*/ 865416 w 1424802"/>
              <a:gd name="connsiteY14" fmla="*/ 233263 h 1516940"/>
              <a:gd name="connsiteX15" fmla="*/ 906447 w 1424802"/>
              <a:gd name="connsiteY15" fmla="*/ 268432 h 1516940"/>
              <a:gd name="connsiteX16" fmla="*/ 918170 w 1424802"/>
              <a:gd name="connsiteY16" fmla="*/ 286017 h 1516940"/>
              <a:gd name="connsiteX17" fmla="*/ 935755 w 1424802"/>
              <a:gd name="connsiteY17" fmla="*/ 297740 h 1516940"/>
              <a:gd name="connsiteX18" fmla="*/ 959201 w 1424802"/>
              <a:gd name="connsiteY18" fmla="*/ 315324 h 1516940"/>
              <a:gd name="connsiteX19" fmla="*/ 976785 w 1424802"/>
              <a:gd name="connsiteY19" fmla="*/ 327048 h 1516940"/>
              <a:gd name="connsiteX20" fmla="*/ 994370 w 1424802"/>
              <a:gd name="connsiteY20" fmla="*/ 350494 h 1516940"/>
              <a:gd name="connsiteX21" fmla="*/ 1035401 w 1424802"/>
              <a:gd name="connsiteY21" fmla="*/ 373940 h 1516940"/>
              <a:gd name="connsiteX22" fmla="*/ 1058847 w 1424802"/>
              <a:gd name="connsiteY22" fmla="*/ 403248 h 1516940"/>
              <a:gd name="connsiteX23" fmla="*/ 1099878 w 1424802"/>
              <a:gd name="connsiteY23" fmla="*/ 438417 h 1516940"/>
              <a:gd name="connsiteX24" fmla="*/ 1129185 w 1424802"/>
              <a:gd name="connsiteY24" fmla="*/ 479448 h 1516940"/>
              <a:gd name="connsiteX25" fmla="*/ 1135047 w 1424802"/>
              <a:gd name="connsiteY25" fmla="*/ 497032 h 1516940"/>
              <a:gd name="connsiteX26" fmla="*/ 1170216 w 1424802"/>
              <a:gd name="connsiteY26" fmla="*/ 538063 h 1516940"/>
              <a:gd name="connsiteX27" fmla="*/ 1187801 w 1424802"/>
              <a:gd name="connsiteY27" fmla="*/ 561509 h 1516940"/>
              <a:gd name="connsiteX28" fmla="*/ 1211247 w 1424802"/>
              <a:gd name="connsiteY28" fmla="*/ 596678 h 1516940"/>
              <a:gd name="connsiteX29" fmla="*/ 1240555 w 1424802"/>
              <a:gd name="connsiteY29" fmla="*/ 637709 h 1516940"/>
              <a:gd name="connsiteX30" fmla="*/ 1264001 w 1424802"/>
              <a:gd name="connsiteY30" fmla="*/ 684601 h 1516940"/>
              <a:gd name="connsiteX31" fmla="*/ 1269862 w 1424802"/>
              <a:gd name="connsiteY31" fmla="*/ 702186 h 1516940"/>
              <a:gd name="connsiteX32" fmla="*/ 1287447 w 1424802"/>
              <a:gd name="connsiteY32" fmla="*/ 731494 h 1516940"/>
              <a:gd name="connsiteX33" fmla="*/ 1299170 w 1424802"/>
              <a:gd name="connsiteY33" fmla="*/ 754940 h 1516940"/>
              <a:gd name="connsiteX34" fmla="*/ 1316755 w 1424802"/>
              <a:gd name="connsiteY34" fmla="*/ 772524 h 1516940"/>
              <a:gd name="connsiteX35" fmla="*/ 1340201 w 1424802"/>
              <a:gd name="connsiteY35" fmla="*/ 813555 h 1516940"/>
              <a:gd name="connsiteX36" fmla="*/ 1351924 w 1424802"/>
              <a:gd name="connsiteY36" fmla="*/ 837001 h 1516940"/>
              <a:gd name="connsiteX37" fmla="*/ 1357785 w 1424802"/>
              <a:gd name="connsiteY37" fmla="*/ 854586 h 1516940"/>
              <a:gd name="connsiteX38" fmla="*/ 1369508 w 1424802"/>
              <a:gd name="connsiteY38" fmla="*/ 872171 h 1516940"/>
              <a:gd name="connsiteX39" fmla="*/ 1381232 w 1424802"/>
              <a:gd name="connsiteY39" fmla="*/ 901478 h 1516940"/>
              <a:gd name="connsiteX40" fmla="*/ 1398816 w 1424802"/>
              <a:gd name="connsiteY40" fmla="*/ 977678 h 1516940"/>
              <a:gd name="connsiteX41" fmla="*/ 1410539 w 1424802"/>
              <a:gd name="connsiteY41" fmla="*/ 1048017 h 1516940"/>
              <a:gd name="connsiteX42" fmla="*/ 1416401 w 1424802"/>
              <a:gd name="connsiteY42" fmla="*/ 1065601 h 1516940"/>
              <a:gd name="connsiteX43" fmla="*/ 1410539 w 1424802"/>
              <a:gd name="connsiteY43" fmla="*/ 1218001 h 1516940"/>
              <a:gd name="connsiteX44" fmla="*/ 1404287 w 1424802"/>
              <a:gd name="connsiteY44" fmla="*/ 1341627 h 1516940"/>
              <a:gd name="connsiteX45" fmla="*/ 1287447 w 1424802"/>
              <a:gd name="connsiteY45" fmla="*/ 1475909 h 1516940"/>
              <a:gd name="connsiteX46" fmla="*/ 1269862 w 1424802"/>
              <a:gd name="connsiteY46" fmla="*/ 1487632 h 1516940"/>
              <a:gd name="connsiteX47" fmla="*/ 1234693 w 1424802"/>
              <a:gd name="connsiteY47" fmla="*/ 1499355 h 1516940"/>
              <a:gd name="connsiteX48" fmla="*/ 1217108 w 1424802"/>
              <a:gd name="connsiteY48" fmla="*/ 1505217 h 1516940"/>
              <a:gd name="connsiteX49" fmla="*/ 1176078 w 1424802"/>
              <a:gd name="connsiteY49" fmla="*/ 1511078 h 1516940"/>
              <a:gd name="connsiteX50" fmla="*/ 1140908 w 1424802"/>
              <a:gd name="connsiteY50" fmla="*/ 1516940 h 1516940"/>
              <a:gd name="connsiteX51" fmla="*/ 900585 w 1424802"/>
              <a:gd name="connsiteY51" fmla="*/ 1511078 h 1516940"/>
              <a:gd name="connsiteX52" fmla="*/ 883001 w 1424802"/>
              <a:gd name="connsiteY52" fmla="*/ 1505217 h 1516940"/>
              <a:gd name="connsiteX53" fmla="*/ 800939 w 1424802"/>
              <a:gd name="connsiteY53" fmla="*/ 1499355 h 1516940"/>
              <a:gd name="connsiteX54" fmla="*/ 630955 w 1424802"/>
              <a:gd name="connsiteY54" fmla="*/ 1493494 h 1516940"/>
              <a:gd name="connsiteX55" fmla="*/ 572339 w 1424802"/>
              <a:gd name="connsiteY55" fmla="*/ 1487632 h 1516940"/>
              <a:gd name="connsiteX56" fmla="*/ 476812 w 1424802"/>
              <a:gd name="connsiteY56" fmla="*/ 1493494 h 1516940"/>
              <a:gd name="connsiteX57" fmla="*/ 155426 w 1424802"/>
              <a:gd name="connsiteY57" fmla="*/ 1464186 h 1516940"/>
              <a:gd name="connsiteX58" fmla="*/ 83418 w 1424802"/>
              <a:gd name="connsiteY58" fmla="*/ 1392178 h 1516940"/>
              <a:gd name="connsiteX59" fmla="*/ 50662 w 1424802"/>
              <a:gd name="connsiteY59" fmla="*/ 1341094 h 1516940"/>
              <a:gd name="connsiteX60" fmla="*/ 33078 w 1424802"/>
              <a:gd name="connsiteY60" fmla="*/ 1323509 h 1516940"/>
              <a:gd name="connsiteX61" fmla="*/ 21355 w 1424802"/>
              <a:gd name="connsiteY61" fmla="*/ 1282478 h 1516940"/>
              <a:gd name="connsiteX62" fmla="*/ 9632 w 1424802"/>
              <a:gd name="connsiteY62" fmla="*/ 1235586 h 1516940"/>
              <a:gd name="connsiteX63" fmla="*/ 9632 w 1424802"/>
              <a:gd name="connsiteY63" fmla="*/ 1036294 h 1516940"/>
              <a:gd name="connsiteX64" fmla="*/ 15493 w 1424802"/>
              <a:gd name="connsiteY64" fmla="*/ 1018709 h 1516940"/>
              <a:gd name="connsiteX65" fmla="*/ 21355 w 1424802"/>
              <a:gd name="connsiteY65" fmla="*/ 965955 h 1516940"/>
              <a:gd name="connsiteX66" fmla="*/ 27216 w 1424802"/>
              <a:gd name="connsiteY66" fmla="*/ 948371 h 1516940"/>
              <a:gd name="connsiteX67" fmla="*/ 33078 w 1424802"/>
              <a:gd name="connsiteY67" fmla="*/ 913201 h 1516940"/>
              <a:gd name="connsiteX68" fmla="*/ 50662 w 1424802"/>
              <a:gd name="connsiteY68" fmla="*/ 872171 h 1516940"/>
              <a:gd name="connsiteX69" fmla="*/ 62385 w 1424802"/>
              <a:gd name="connsiteY69" fmla="*/ 831140 h 1516940"/>
              <a:gd name="connsiteX70" fmla="*/ 74108 w 1424802"/>
              <a:gd name="connsiteY70" fmla="*/ 807694 h 1516940"/>
              <a:gd name="connsiteX71" fmla="*/ 85832 w 1424802"/>
              <a:gd name="connsiteY71" fmla="*/ 766663 h 1516940"/>
              <a:gd name="connsiteX72" fmla="*/ 91693 w 1424802"/>
              <a:gd name="connsiteY72" fmla="*/ 749078 h 1516940"/>
              <a:gd name="connsiteX73" fmla="*/ 97555 w 1424802"/>
              <a:gd name="connsiteY73" fmla="*/ 719771 h 1516940"/>
              <a:gd name="connsiteX74" fmla="*/ 103416 w 1424802"/>
              <a:gd name="connsiteY74" fmla="*/ 702186 h 1516940"/>
              <a:gd name="connsiteX75" fmla="*/ 102366 w 1424802"/>
              <a:gd name="connsiteY75" fmla="*/ 639555 h 1516940"/>
              <a:gd name="connsiteX76" fmla="*/ 83418 w 1424802"/>
              <a:gd name="connsiteY76" fmla="*/ 528082 h 1516940"/>
              <a:gd name="connsiteX77" fmla="*/ 83418 w 1424802"/>
              <a:gd name="connsiteY77" fmla="*/ 384066 h 1516940"/>
              <a:gd name="connsiteX78" fmla="*/ 85832 w 1424802"/>
              <a:gd name="connsiteY78" fmla="*/ 356355 h 1516940"/>
              <a:gd name="connsiteX79" fmla="*/ 79970 w 1424802"/>
              <a:gd name="connsiteY79" fmla="*/ 338771 h 1516940"/>
              <a:gd name="connsiteX0" fmla="*/ 79970 w 1424802"/>
              <a:gd name="connsiteY0" fmla="*/ 338771 h 1516940"/>
              <a:gd name="connsiteX1" fmla="*/ 82870 w 1424802"/>
              <a:gd name="connsiteY1" fmla="*/ 240089 h 1516940"/>
              <a:gd name="connsiteX2" fmla="*/ 82870 w 1424802"/>
              <a:gd name="connsiteY2" fmla="*/ 168062 h 1516940"/>
              <a:gd name="connsiteX3" fmla="*/ 82870 w 1424802"/>
              <a:gd name="connsiteY3" fmla="*/ 168061 h 1516940"/>
              <a:gd name="connsiteX4" fmla="*/ 154920 w 1424802"/>
              <a:gd name="connsiteY4" fmla="*/ 24009 h 1516940"/>
              <a:gd name="connsiteX5" fmla="*/ 299018 w 1424802"/>
              <a:gd name="connsiteY5" fmla="*/ 24008 h 1516940"/>
              <a:gd name="connsiteX6" fmla="*/ 371067 w 1424802"/>
              <a:gd name="connsiteY6" fmla="*/ 24010 h 1516940"/>
              <a:gd name="connsiteX7" fmla="*/ 443116 w 1424802"/>
              <a:gd name="connsiteY7" fmla="*/ 24008 h 1516940"/>
              <a:gd name="connsiteX8" fmla="*/ 587214 w 1424802"/>
              <a:gd name="connsiteY8" fmla="*/ 24010 h 1516940"/>
              <a:gd name="connsiteX9" fmla="*/ 659264 w 1424802"/>
              <a:gd name="connsiteY9" fmla="*/ 24009 h 1516940"/>
              <a:gd name="connsiteX10" fmla="*/ 731313 w 1424802"/>
              <a:gd name="connsiteY10" fmla="*/ 24009 h 1516940"/>
              <a:gd name="connsiteX11" fmla="*/ 824385 w 1424802"/>
              <a:gd name="connsiteY11" fmla="*/ 192232 h 1516940"/>
              <a:gd name="connsiteX12" fmla="*/ 841970 w 1424802"/>
              <a:gd name="connsiteY12" fmla="*/ 209817 h 1516940"/>
              <a:gd name="connsiteX13" fmla="*/ 847832 w 1424802"/>
              <a:gd name="connsiteY13" fmla="*/ 227401 h 1516940"/>
              <a:gd name="connsiteX14" fmla="*/ 865416 w 1424802"/>
              <a:gd name="connsiteY14" fmla="*/ 233263 h 1516940"/>
              <a:gd name="connsiteX15" fmla="*/ 906447 w 1424802"/>
              <a:gd name="connsiteY15" fmla="*/ 268432 h 1516940"/>
              <a:gd name="connsiteX16" fmla="*/ 918170 w 1424802"/>
              <a:gd name="connsiteY16" fmla="*/ 286017 h 1516940"/>
              <a:gd name="connsiteX17" fmla="*/ 935755 w 1424802"/>
              <a:gd name="connsiteY17" fmla="*/ 297740 h 1516940"/>
              <a:gd name="connsiteX18" fmla="*/ 959201 w 1424802"/>
              <a:gd name="connsiteY18" fmla="*/ 315324 h 1516940"/>
              <a:gd name="connsiteX19" fmla="*/ 976785 w 1424802"/>
              <a:gd name="connsiteY19" fmla="*/ 327048 h 1516940"/>
              <a:gd name="connsiteX20" fmla="*/ 994370 w 1424802"/>
              <a:gd name="connsiteY20" fmla="*/ 350494 h 1516940"/>
              <a:gd name="connsiteX21" fmla="*/ 1035401 w 1424802"/>
              <a:gd name="connsiteY21" fmla="*/ 373940 h 1516940"/>
              <a:gd name="connsiteX22" fmla="*/ 1058847 w 1424802"/>
              <a:gd name="connsiteY22" fmla="*/ 403248 h 1516940"/>
              <a:gd name="connsiteX23" fmla="*/ 1099878 w 1424802"/>
              <a:gd name="connsiteY23" fmla="*/ 438417 h 1516940"/>
              <a:gd name="connsiteX24" fmla="*/ 1129185 w 1424802"/>
              <a:gd name="connsiteY24" fmla="*/ 479448 h 1516940"/>
              <a:gd name="connsiteX25" fmla="*/ 1135047 w 1424802"/>
              <a:gd name="connsiteY25" fmla="*/ 497032 h 1516940"/>
              <a:gd name="connsiteX26" fmla="*/ 1170216 w 1424802"/>
              <a:gd name="connsiteY26" fmla="*/ 538063 h 1516940"/>
              <a:gd name="connsiteX27" fmla="*/ 1187801 w 1424802"/>
              <a:gd name="connsiteY27" fmla="*/ 561509 h 1516940"/>
              <a:gd name="connsiteX28" fmla="*/ 1211247 w 1424802"/>
              <a:gd name="connsiteY28" fmla="*/ 596678 h 1516940"/>
              <a:gd name="connsiteX29" fmla="*/ 1240555 w 1424802"/>
              <a:gd name="connsiteY29" fmla="*/ 637709 h 1516940"/>
              <a:gd name="connsiteX30" fmla="*/ 1264001 w 1424802"/>
              <a:gd name="connsiteY30" fmla="*/ 684601 h 1516940"/>
              <a:gd name="connsiteX31" fmla="*/ 1269862 w 1424802"/>
              <a:gd name="connsiteY31" fmla="*/ 702186 h 1516940"/>
              <a:gd name="connsiteX32" fmla="*/ 1287447 w 1424802"/>
              <a:gd name="connsiteY32" fmla="*/ 731494 h 1516940"/>
              <a:gd name="connsiteX33" fmla="*/ 1299170 w 1424802"/>
              <a:gd name="connsiteY33" fmla="*/ 754940 h 1516940"/>
              <a:gd name="connsiteX34" fmla="*/ 1316755 w 1424802"/>
              <a:gd name="connsiteY34" fmla="*/ 772524 h 1516940"/>
              <a:gd name="connsiteX35" fmla="*/ 1340201 w 1424802"/>
              <a:gd name="connsiteY35" fmla="*/ 813555 h 1516940"/>
              <a:gd name="connsiteX36" fmla="*/ 1351924 w 1424802"/>
              <a:gd name="connsiteY36" fmla="*/ 837001 h 1516940"/>
              <a:gd name="connsiteX37" fmla="*/ 1357785 w 1424802"/>
              <a:gd name="connsiteY37" fmla="*/ 854586 h 1516940"/>
              <a:gd name="connsiteX38" fmla="*/ 1369508 w 1424802"/>
              <a:gd name="connsiteY38" fmla="*/ 872171 h 1516940"/>
              <a:gd name="connsiteX39" fmla="*/ 1381232 w 1424802"/>
              <a:gd name="connsiteY39" fmla="*/ 901478 h 1516940"/>
              <a:gd name="connsiteX40" fmla="*/ 1398816 w 1424802"/>
              <a:gd name="connsiteY40" fmla="*/ 977678 h 1516940"/>
              <a:gd name="connsiteX41" fmla="*/ 1410539 w 1424802"/>
              <a:gd name="connsiteY41" fmla="*/ 1048017 h 1516940"/>
              <a:gd name="connsiteX42" fmla="*/ 1416401 w 1424802"/>
              <a:gd name="connsiteY42" fmla="*/ 1065601 h 1516940"/>
              <a:gd name="connsiteX43" fmla="*/ 1410539 w 1424802"/>
              <a:gd name="connsiteY43" fmla="*/ 1218001 h 1516940"/>
              <a:gd name="connsiteX44" fmla="*/ 1404287 w 1424802"/>
              <a:gd name="connsiteY44" fmla="*/ 1341627 h 1516940"/>
              <a:gd name="connsiteX45" fmla="*/ 1287447 w 1424802"/>
              <a:gd name="connsiteY45" fmla="*/ 1475909 h 1516940"/>
              <a:gd name="connsiteX46" fmla="*/ 1269862 w 1424802"/>
              <a:gd name="connsiteY46" fmla="*/ 1487632 h 1516940"/>
              <a:gd name="connsiteX47" fmla="*/ 1234693 w 1424802"/>
              <a:gd name="connsiteY47" fmla="*/ 1499355 h 1516940"/>
              <a:gd name="connsiteX48" fmla="*/ 1217108 w 1424802"/>
              <a:gd name="connsiteY48" fmla="*/ 1505217 h 1516940"/>
              <a:gd name="connsiteX49" fmla="*/ 1176078 w 1424802"/>
              <a:gd name="connsiteY49" fmla="*/ 1511078 h 1516940"/>
              <a:gd name="connsiteX50" fmla="*/ 1140908 w 1424802"/>
              <a:gd name="connsiteY50" fmla="*/ 1516940 h 1516940"/>
              <a:gd name="connsiteX51" fmla="*/ 900585 w 1424802"/>
              <a:gd name="connsiteY51" fmla="*/ 1511078 h 1516940"/>
              <a:gd name="connsiteX52" fmla="*/ 883001 w 1424802"/>
              <a:gd name="connsiteY52" fmla="*/ 1505217 h 1516940"/>
              <a:gd name="connsiteX53" fmla="*/ 800939 w 1424802"/>
              <a:gd name="connsiteY53" fmla="*/ 1499355 h 1516940"/>
              <a:gd name="connsiteX54" fmla="*/ 630955 w 1424802"/>
              <a:gd name="connsiteY54" fmla="*/ 1493494 h 1516940"/>
              <a:gd name="connsiteX55" fmla="*/ 572339 w 1424802"/>
              <a:gd name="connsiteY55" fmla="*/ 1487632 h 1516940"/>
              <a:gd name="connsiteX56" fmla="*/ 476812 w 1424802"/>
              <a:gd name="connsiteY56" fmla="*/ 1493494 h 1516940"/>
              <a:gd name="connsiteX57" fmla="*/ 155426 w 1424802"/>
              <a:gd name="connsiteY57" fmla="*/ 1464186 h 1516940"/>
              <a:gd name="connsiteX58" fmla="*/ 83418 w 1424802"/>
              <a:gd name="connsiteY58" fmla="*/ 1392178 h 1516940"/>
              <a:gd name="connsiteX59" fmla="*/ 50662 w 1424802"/>
              <a:gd name="connsiteY59" fmla="*/ 1341094 h 1516940"/>
              <a:gd name="connsiteX60" fmla="*/ 33078 w 1424802"/>
              <a:gd name="connsiteY60" fmla="*/ 1323509 h 1516940"/>
              <a:gd name="connsiteX61" fmla="*/ 21355 w 1424802"/>
              <a:gd name="connsiteY61" fmla="*/ 1282478 h 1516940"/>
              <a:gd name="connsiteX62" fmla="*/ 9632 w 1424802"/>
              <a:gd name="connsiteY62" fmla="*/ 1235586 h 1516940"/>
              <a:gd name="connsiteX63" fmla="*/ 9632 w 1424802"/>
              <a:gd name="connsiteY63" fmla="*/ 1036294 h 1516940"/>
              <a:gd name="connsiteX64" fmla="*/ 15493 w 1424802"/>
              <a:gd name="connsiteY64" fmla="*/ 1018709 h 1516940"/>
              <a:gd name="connsiteX65" fmla="*/ 21355 w 1424802"/>
              <a:gd name="connsiteY65" fmla="*/ 965955 h 1516940"/>
              <a:gd name="connsiteX66" fmla="*/ 27216 w 1424802"/>
              <a:gd name="connsiteY66" fmla="*/ 948371 h 1516940"/>
              <a:gd name="connsiteX67" fmla="*/ 33078 w 1424802"/>
              <a:gd name="connsiteY67" fmla="*/ 913201 h 1516940"/>
              <a:gd name="connsiteX68" fmla="*/ 50662 w 1424802"/>
              <a:gd name="connsiteY68" fmla="*/ 872171 h 1516940"/>
              <a:gd name="connsiteX69" fmla="*/ 62385 w 1424802"/>
              <a:gd name="connsiteY69" fmla="*/ 831140 h 1516940"/>
              <a:gd name="connsiteX70" fmla="*/ 74108 w 1424802"/>
              <a:gd name="connsiteY70" fmla="*/ 807694 h 1516940"/>
              <a:gd name="connsiteX71" fmla="*/ 85832 w 1424802"/>
              <a:gd name="connsiteY71" fmla="*/ 766663 h 1516940"/>
              <a:gd name="connsiteX72" fmla="*/ 91693 w 1424802"/>
              <a:gd name="connsiteY72" fmla="*/ 749078 h 1516940"/>
              <a:gd name="connsiteX73" fmla="*/ 97555 w 1424802"/>
              <a:gd name="connsiteY73" fmla="*/ 719771 h 1516940"/>
              <a:gd name="connsiteX74" fmla="*/ 103416 w 1424802"/>
              <a:gd name="connsiteY74" fmla="*/ 702186 h 1516940"/>
              <a:gd name="connsiteX75" fmla="*/ 102366 w 1424802"/>
              <a:gd name="connsiteY75" fmla="*/ 639555 h 1516940"/>
              <a:gd name="connsiteX76" fmla="*/ 83418 w 1424802"/>
              <a:gd name="connsiteY76" fmla="*/ 528082 h 1516940"/>
              <a:gd name="connsiteX77" fmla="*/ 83418 w 1424802"/>
              <a:gd name="connsiteY77" fmla="*/ 384066 h 1516940"/>
              <a:gd name="connsiteX78" fmla="*/ 85832 w 1424802"/>
              <a:gd name="connsiteY78" fmla="*/ 356355 h 1516940"/>
              <a:gd name="connsiteX79" fmla="*/ 79970 w 1424802"/>
              <a:gd name="connsiteY79" fmla="*/ 338771 h 1516940"/>
              <a:gd name="connsiteX0" fmla="*/ 79970 w 1424802"/>
              <a:gd name="connsiteY0" fmla="*/ 461524 h 1639693"/>
              <a:gd name="connsiteX1" fmla="*/ 82870 w 1424802"/>
              <a:gd name="connsiteY1" fmla="*/ 362842 h 1639693"/>
              <a:gd name="connsiteX2" fmla="*/ 82870 w 1424802"/>
              <a:gd name="connsiteY2" fmla="*/ 290815 h 1639693"/>
              <a:gd name="connsiteX3" fmla="*/ 82870 w 1424802"/>
              <a:gd name="connsiteY3" fmla="*/ 290814 h 1639693"/>
              <a:gd name="connsiteX4" fmla="*/ 154920 w 1424802"/>
              <a:gd name="connsiteY4" fmla="*/ 146762 h 1639693"/>
              <a:gd name="connsiteX5" fmla="*/ 299018 w 1424802"/>
              <a:gd name="connsiteY5" fmla="*/ 2709 h 1639693"/>
              <a:gd name="connsiteX6" fmla="*/ 371067 w 1424802"/>
              <a:gd name="connsiteY6" fmla="*/ 146763 h 1639693"/>
              <a:gd name="connsiteX7" fmla="*/ 443116 w 1424802"/>
              <a:gd name="connsiteY7" fmla="*/ 146761 h 1639693"/>
              <a:gd name="connsiteX8" fmla="*/ 587214 w 1424802"/>
              <a:gd name="connsiteY8" fmla="*/ 146763 h 1639693"/>
              <a:gd name="connsiteX9" fmla="*/ 659264 w 1424802"/>
              <a:gd name="connsiteY9" fmla="*/ 146762 h 1639693"/>
              <a:gd name="connsiteX10" fmla="*/ 731313 w 1424802"/>
              <a:gd name="connsiteY10" fmla="*/ 146762 h 1639693"/>
              <a:gd name="connsiteX11" fmla="*/ 824385 w 1424802"/>
              <a:gd name="connsiteY11" fmla="*/ 314985 h 1639693"/>
              <a:gd name="connsiteX12" fmla="*/ 841970 w 1424802"/>
              <a:gd name="connsiteY12" fmla="*/ 332570 h 1639693"/>
              <a:gd name="connsiteX13" fmla="*/ 847832 w 1424802"/>
              <a:gd name="connsiteY13" fmla="*/ 350154 h 1639693"/>
              <a:gd name="connsiteX14" fmla="*/ 865416 w 1424802"/>
              <a:gd name="connsiteY14" fmla="*/ 356016 h 1639693"/>
              <a:gd name="connsiteX15" fmla="*/ 906447 w 1424802"/>
              <a:gd name="connsiteY15" fmla="*/ 391185 h 1639693"/>
              <a:gd name="connsiteX16" fmla="*/ 918170 w 1424802"/>
              <a:gd name="connsiteY16" fmla="*/ 408770 h 1639693"/>
              <a:gd name="connsiteX17" fmla="*/ 935755 w 1424802"/>
              <a:gd name="connsiteY17" fmla="*/ 420493 h 1639693"/>
              <a:gd name="connsiteX18" fmla="*/ 959201 w 1424802"/>
              <a:gd name="connsiteY18" fmla="*/ 438077 h 1639693"/>
              <a:gd name="connsiteX19" fmla="*/ 976785 w 1424802"/>
              <a:gd name="connsiteY19" fmla="*/ 449801 h 1639693"/>
              <a:gd name="connsiteX20" fmla="*/ 994370 w 1424802"/>
              <a:gd name="connsiteY20" fmla="*/ 473247 h 1639693"/>
              <a:gd name="connsiteX21" fmla="*/ 1035401 w 1424802"/>
              <a:gd name="connsiteY21" fmla="*/ 496693 h 1639693"/>
              <a:gd name="connsiteX22" fmla="*/ 1058847 w 1424802"/>
              <a:gd name="connsiteY22" fmla="*/ 526001 h 1639693"/>
              <a:gd name="connsiteX23" fmla="*/ 1099878 w 1424802"/>
              <a:gd name="connsiteY23" fmla="*/ 561170 h 1639693"/>
              <a:gd name="connsiteX24" fmla="*/ 1129185 w 1424802"/>
              <a:gd name="connsiteY24" fmla="*/ 602201 h 1639693"/>
              <a:gd name="connsiteX25" fmla="*/ 1135047 w 1424802"/>
              <a:gd name="connsiteY25" fmla="*/ 619785 h 1639693"/>
              <a:gd name="connsiteX26" fmla="*/ 1170216 w 1424802"/>
              <a:gd name="connsiteY26" fmla="*/ 660816 h 1639693"/>
              <a:gd name="connsiteX27" fmla="*/ 1187801 w 1424802"/>
              <a:gd name="connsiteY27" fmla="*/ 684262 h 1639693"/>
              <a:gd name="connsiteX28" fmla="*/ 1211247 w 1424802"/>
              <a:gd name="connsiteY28" fmla="*/ 719431 h 1639693"/>
              <a:gd name="connsiteX29" fmla="*/ 1240555 w 1424802"/>
              <a:gd name="connsiteY29" fmla="*/ 760462 h 1639693"/>
              <a:gd name="connsiteX30" fmla="*/ 1264001 w 1424802"/>
              <a:gd name="connsiteY30" fmla="*/ 807354 h 1639693"/>
              <a:gd name="connsiteX31" fmla="*/ 1269862 w 1424802"/>
              <a:gd name="connsiteY31" fmla="*/ 824939 h 1639693"/>
              <a:gd name="connsiteX32" fmla="*/ 1287447 w 1424802"/>
              <a:gd name="connsiteY32" fmla="*/ 854247 h 1639693"/>
              <a:gd name="connsiteX33" fmla="*/ 1299170 w 1424802"/>
              <a:gd name="connsiteY33" fmla="*/ 877693 h 1639693"/>
              <a:gd name="connsiteX34" fmla="*/ 1316755 w 1424802"/>
              <a:gd name="connsiteY34" fmla="*/ 895277 h 1639693"/>
              <a:gd name="connsiteX35" fmla="*/ 1340201 w 1424802"/>
              <a:gd name="connsiteY35" fmla="*/ 936308 h 1639693"/>
              <a:gd name="connsiteX36" fmla="*/ 1351924 w 1424802"/>
              <a:gd name="connsiteY36" fmla="*/ 959754 h 1639693"/>
              <a:gd name="connsiteX37" fmla="*/ 1357785 w 1424802"/>
              <a:gd name="connsiteY37" fmla="*/ 977339 h 1639693"/>
              <a:gd name="connsiteX38" fmla="*/ 1369508 w 1424802"/>
              <a:gd name="connsiteY38" fmla="*/ 994924 h 1639693"/>
              <a:gd name="connsiteX39" fmla="*/ 1381232 w 1424802"/>
              <a:gd name="connsiteY39" fmla="*/ 1024231 h 1639693"/>
              <a:gd name="connsiteX40" fmla="*/ 1398816 w 1424802"/>
              <a:gd name="connsiteY40" fmla="*/ 1100431 h 1639693"/>
              <a:gd name="connsiteX41" fmla="*/ 1410539 w 1424802"/>
              <a:gd name="connsiteY41" fmla="*/ 1170770 h 1639693"/>
              <a:gd name="connsiteX42" fmla="*/ 1416401 w 1424802"/>
              <a:gd name="connsiteY42" fmla="*/ 1188354 h 1639693"/>
              <a:gd name="connsiteX43" fmla="*/ 1410539 w 1424802"/>
              <a:gd name="connsiteY43" fmla="*/ 1340754 h 1639693"/>
              <a:gd name="connsiteX44" fmla="*/ 1404287 w 1424802"/>
              <a:gd name="connsiteY44" fmla="*/ 1464380 h 1639693"/>
              <a:gd name="connsiteX45" fmla="*/ 1287447 w 1424802"/>
              <a:gd name="connsiteY45" fmla="*/ 1598662 h 1639693"/>
              <a:gd name="connsiteX46" fmla="*/ 1269862 w 1424802"/>
              <a:gd name="connsiteY46" fmla="*/ 1610385 h 1639693"/>
              <a:gd name="connsiteX47" fmla="*/ 1234693 w 1424802"/>
              <a:gd name="connsiteY47" fmla="*/ 1622108 h 1639693"/>
              <a:gd name="connsiteX48" fmla="*/ 1217108 w 1424802"/>
              <a:gd name="connsiteY48" fmla="*/ 1627970 h 1639693"/>
              <a:gd name="connsiteX49" fmla="*/ 1176078 w 1424802"/>
              <a:gd name="connsiteY49" fmla="*/ 1633831 h 1639693"/>
              <a:gd name="connsiteX50" fmla="*/ 1140908 w 1424802"/>
              <a:gd name="connsiteY50" fmla="*/ 1639693 h 1639693"/>
              <a:gd name="connsiteX51" fmla="*/ 900585 w 1424802"/>
              <a:gd name="connsiteY51" fmla="*/ 1633831 h 1639693"/>
              <a:gd name="connsiteX52" fmla="*/ 883001 w 1424802"/>
              <a:gd name="connsiteY52" fmla="*/ 1627970 h 1639693"/>
              <a:gd name="connsiteX53" fmla="*/ 800939 w 1424802"/>
              <a:gd name="connsiteY53" fmla="*/ 1622108 h 1639693"/>
              <a:gd name="connsiteX54" fmla="*/ 630955 w 1424802"/>
              <a:gd name="connsiteY54" fmla="*/ 1616247 h 1639693"/>
              <a:gd name="connsiteX55" fmla="*/ 572339 w 1424802"/>
              <a:gd name="connsiteY55" fmla="*/ 1610385 h 1639693"/>
              <a:gd name="connsiteX56" fmla="*/ 476812 w 1424802"/>
              <a:gd name="connsiteY56" fmla="*/ 1616247 h 1639693"/>
              <a:gd name="connsiteX57" fmla="*/ 155426 w 1424802"/>
              <a:gd name="connsiteY57" fmla="*/ 1586939 h 1639693"/>
              <a:gd name="connsiteX58" fmla="*/ 83418 w 1424802"/>
              <a:gd name="connsiteY58" fmla="*/ 1514931 h 1639693"/>
              <a:gd name="connsiteX59" fmla="*/ 50662 w 1424802"/>
              <a:gd name="connsiteY59" fmla="*/ 1463847 h 1639693"/>
              <a:gd name="connsiteX60" fmla="*/ 33078 w 1424802"/>
              <a:gd name="connsiteY60" fmla="*/ 1446262 h 1639693"/>
              <a:gd name="connsiteX61" fmla="*/ 21355 w 1424802"/>
              <a:gd name="connsiteY61" fmla="*/ 1405231 h 1639693"/>
              <a:gd name="connsiteX62" fmla="*/ 9632 w 1424802"/>
              <a:gd name="connsiteY62" fmla="*/ 1358339 h 1639693"/>
              <a:gd name="connsiteX63" fmla="*/ 9632 w 1424802"/>
              <a:gd name="connsiteY63" fmla="*/ 1159047 h 1639693"/>
              <a:gd name="connsiteX64" fmla="*/ 15493 w 1424802"/>
              <a:gd name="connsiteY64" fmla="*/ 1141462 h 1639693"/>
              <a:gd name="connsiteX65" fmla="*/ 21355 w 1424802"/>
              <a:gd name="connsiteY65" fmla="*/ 1088708 h 1639693"/>
              <a:gd name="connsiteX66" fmla="*/ 27216 w 1424802"/>
              <a:gd name="connsiteY66" fmla="*/ 1071124 h 1639693"/>
              <a:gd name="connsiteX67" fmla="*/ 33078 w 1424802"/>
              <a:gd name="connsiteY67" fmla="*/ 1035954 h 1639693"/>
              <a:gd name="connsiteX68" fmla="*/ 50662 w 1424802"/>
              <a:gd name="connsiteY68" fmla="*/ 994924 h 1639693"/>
              <a:gd name="connsiteX69" fmla="*/ 62385 w 1424802"/>
              <a:gd name="connsiteY69" fmla="*/ 953893 h 1639693"/>
              <a:gd name="connsiteX70" fmla="*/ 74108 w 1424802"/>
              <a:gd name="connsiteY70" fmla="*/ 930447 h 1639693"/>
              <a:gd name="connsiteX71" fmla="*/ 85832 w 1424802"/>
              <a:gd name="connsiteY71" fmla="*/ 889416 h 1639693"/>
              <a:gd name="connsiteX72" fmla="*/ 91693 w 1424802"/>
              <a:gd name="connsiteY72" fmla="*/ 871831 h 1639693"/>
              <a:gd name="connsiteX73" fmla="*/ 97555 w 1424802"/>
              <a:gd name="connsiteY73" fmla="*/ 842524 h 1639693"/>
              <a:gd name="connsiteX74" fmla="*/ 103416 w 1424802"/>
              <a:gd name="connsiteY74" fmla="*/ 824939 h 1639693"/>
              <a:gd name="connsiteX75" fmla="*/ 102366 w 1424802"/>
              <a:gd name="connsiteY75" fmla="*/ 762308 h 1639693"/>
              <a:gd name="connsiteX76" fmla="*/ 83418 w 1424802"/>
              <a:gd name="connsiteY76" fmla="*/ 650835 h 1639693"/>
              <a:gd name="connsiteX77" fmla="*/ 83418 w 1424802"/>
              <a:gd name="connsiteY77" fmla="*/ 506819 h 1639693"/>
              <a:gd name="connsiteX78" fmla="*/ 85832 w 1424802"/>
              <a:gd name="connsiteY78" fmla="*/ 479108 h 1639693"/>
              <a:gd name="connsiteX79" fmla="*/ 79970 w 1424802"/>
              <a:gd name="connsiteY79" fmla="*/ 461524 h 1639693"/>
              <a:gd name="connsiteX0" fmla="*/ 79970 w 1424802"/>
              <a:gd name="connsiteY0" fmla="*/ 461524 h 1639693"/>
              <a:gd name="connsiteX1" fmla="*/ 82870 w 1424802"/>
              <a:gd name="connsiteY1" fmla="*/ 362842 h 1639693"/>
              <a:gd name="connsiteX2" fmla="*/ 82870 w 1424802"/>
              <a:gd name="connsiteY2" fmla="*/ 290815 h 1639693"/>
              <a:gd name="connsiteX3" fmla="*/ 82870 w 1424802"/>
              <a:gd name="connsiteY3" fmla="*/ 290814 h 1639693"/>
              <a:gd name="connsiteX4" fmla="*/ 154920 w 1424802"/>
              <a:gd name="connsiteY4" fmla="*/ 146763 h 1639693"/>
              <a:gd name="connsiteX5" fmla="*/ 299018 w 1424802"/>
              <a:gd name="connsiteY5" fmla="*/ 2709 h 1639693"/>
              <a:gd name="connsiteX6" fmla="*/ 371067 w 1424802"/>
              <a:gd name="connsiteY6" fmla="*/ 146763 h 1639693"/>
              <a:gd name="connsiteX7" fmla="*/ 443116 w 1424802"/>
              <a:gd name="connsiteY7" fmla="*/ 146761 h 1639693"/>
              <a:gd name="connsiteX8" fmla="*/ 587214 w 1424802"/>
              <a:gd name="connsiteY8" fmla="*/ 146763 h 1639693"/>
              <a:gd name="connsiteX9" fmla="*/ 659264 w 1424802"/>
              <a:gd name="connsiteY9" fmla="*/ 146762 h 1639693"/>
              <a:gd name="connsiteX10" fmla="*/ 731313 w 1424802"/>
              <a:gd name="connsiteY10" fmla="*/ 146762 h 1639693"/>
              <a:gd name="connsiteX11" fmla="*/ 824385 w 1424802"/>
              <a:gd name="connsiteY11" fmla="*/ 314985 h 1639693"/>
              <a:gd name="connsiteX12" fmla="*/ 841970 w 1424802"/>
              <a:gd name="connsiteY12" fmla="*/ 332570 h 1639693"/>
              <a:gd name="connsiteX13" fmla="*/ 847832 w 1424802"/>
              <a:gd name="connsiteY13" fmla="*/ 350154 h 1639693"/>
              <a:gd name="connsiteX14" fmla="*/ 865416 w 1424802"/>
              <a:gd name="connsiteY14" fmla="*/ 356016 h 1639693"/>
              <a:gd name="connsiteX15" fmla="*/ 906447 w 1424802"/>
              <a:gd name="connsiteY15" fmla="*/ 391185 h 1639693"/>
              <a:gd name="connsiteX16" fmla="*/ 918170 w 1424802"/>
              <a:gd name="connsiteY16" fmla="*/ 408770 h 1639693"/>
              <a:gd name="connsiteX17" fmla="*/ 935755 w 1424802"/>
              <a:gd name="connsiteY17" fmla="*/ 420493 h 1639693"/>
              <a:gd name="connsiteX18" fmla="*/ 959201 w 1424802"/>
              <a:gd name="connsiteY18" fmla="*/ 438077 h 1639693"/>
              <a:gd name="connsiteX19" fmla="*/ 976785 w 1424802"/>
              <a:gd name="connsiteY19" fmla="*/ 449801 h 1639693"/>
              <a:gd name="connsiteX20" fmla="*/ 994370 w 1424802"/>
              <a:gd name="connsiteY20" fmla="*/ 473247 h 1639693"/>
              <a:gd name="connsiteX21" fmla="*/ 1035401 w 1424802"/>
              <a:gd name="connsiteY21" fmla="*/ 496693 h 1639693"/>
              <a:gd name="connsiteX22" fmla="*/ 1058847 w 1424802"/>
              <a:gd name="connsiteY22" fmla="*/ 526001 h 1639693"/>
              <a:gd name="connsiteX23" fmla="*/ 1099878 w 1424802"/>
              <a:gd name="connsiteY23" fmla="*/ 561170 h 1639693"/>
              <a:gd name="connsiteX24" fmla="*/ 1129185 w 1424802"/>
              <a:gd name="connsiteY24" fmla="*/ 602201 h 1639693"/>
              <a:gd name="connsiteX25" fmla="*/ 1135047 w 1424802"/>
              <a:gd name="connsiteY25" fmla="*/ 619785 h 1639693"/>
              <a:gd name="connsiteX26" fmla="*/ 1170216 w 1424802"/>
              <a:gd name="connsiteY26" fmla="*/ 660816 h 1639693"/>
              <a:gd name="connsiteX27" fmla="*/ 1187801 w 1424802"/>
              <a:gd name="connsiteY27" fmla="*/ 684262 h 1639693"/>
              <a:gd name="connsiteX28" fmla="*/ 1211247 w 1424802"/>
              <a:gd name="connsiteY28" fmla="*/ 719431 h 1639693"/>
              <a:gd name="connsiteX29" fmla="*/ 1240555 w 1424802"/>
              <a:gd name="connsiteY29" fmla="*/ 760462 h 1639693"/>
              <a:gd name="connsiteX30" fmla="*/ 1264001 w 1424802"/>
              <a:gd name="connsiteY30" fmla="*/ 807354 h 1639693"/>
              <a:gd name="connsiteX31" fmla="*/ 1269862 w 1424802"/>
              <a:gd name="connsiteY31" fmla="*/ 824939 h 1639693"/>
              <a:gd name="connsiteX32" fmla="*/ 1287447 w 1424802"/>
              <a:gd name="connsiteY32" fmla="*/ 854247 h 1639693"/>
              <a:gd name="connsiteX33" fmla="*/ 1299170 w 1424802"/>
              <a:gd name="connsiteY33" fmla="*/ 877693 h 1639693"/>
              <a:gd name="connsiteX34" fmla="*/ 1316755 w 1424802"/>
              <a:gd name="connsiteY34" fmla="*/ 895277 h 1639693"/>
              <a:gd name="connsiteX35" fmla="*/ 1340201 w 1424802"/>
              <a:gd name="connsiteY35" fmla="*/ 936308 h 1639693"/>
              <a:gd name="connsiteX36" fmla="*/ 1351924 w 1424802"/>
              <a:gd name="connsiteY36" fmla="*/ 959754 h 1639693"/>
              <a:gd name="connsiteX37" fmla="*/ 1357785 w 1424802"/>
              <a:gd name="connsiteY37" fmla="*/ 977339 h 1639693"/>
              <a:gd name="connsiteX38" fmla="*/ 1369508 w 1424802"/>
              <a:gd name="connsiteY38" fmla="*/ 994924 h 1639693"/>
              <a:gd name="connsiteX39" fmla="*/ 1381232 w 1424802"/>
              <a:gd name="connsiteY39" fmla="*/ 1024231 h 1639693"/>
              <a:gd name="connsiteX40" fmla="*/ 1398816 w 1424802"/>
              <a:gd name="connsiteY40" fmla="*/ 1100431 h 1639693"/>
              <a:gd name="connsiteX41" fmla="*/ 1410539 w 1424802"/>
              <a:gd name="connsiteY41" fmla="*/ 1170770 h 1639693"/>
              <a:gd name="connsiteX42" fmla="*/ 1416401 w 1424802"/>
              <a:gd name="connsiteY42" fmla="*/ 1188354 h 1639693"/>
              <a:gd name="connsiteX43" fmla="*/ 1410539 w 1424802"/>
              <a:gd name="connsiteY43" fmla="*/ 1340754 h 1639693"/>
              <a:gd name="connsiteX44" fmla="*/ 1404287 w 1424802"/>
              <a:gd name="connsiteY44" fmla="*/ 1464380 h 1639693"/>
              <a:gd name="connsiteX45" fmla="*/ 1287447 w 1424802"/>
              <a:gd name="connsiteY45" fmla="*/ 1598662 h 1639693"/>
              <a:gd name="connsiteX46" fmla="*/ 1269862 w 1424802"/>
              <a:gd name="connsiteY46" fmla="*/ 1610385 h 1639693"/>
              <a:gd name="connsiteX47" fmla="*/ 1234693 w 1424802"/>
              <a:gd name="connsiteY47" fmla="*/ 1622108 h 1639693"/>
              <a:gd name="connsiteX48" fmla="*/ 1217108 w 1424802"/>
              <a:gd name="connsiteY48" fmla="*/ 1627970 h 1639693"/>
              <a:gd name="connsiteX49" fmla="*/ 1176078 w 1424802"/>
              <a:gd name="connsiteY49" fmla="*/ 1633831 h 1639693"/>
              <a:gd name="connsiteX50" fmla="*/ 1140908 w 1424802"/>
              <a:gd name="connsiteY50" fmla="*/ 1639693 h 1639693"/>
              <a:gd name="connsiteX51" fmla="*/ 900585 w 1424802"/>
              <a:gd name="connsiteY51" fmla="*/ 1633831 h 1639693"/>
              <a:gd name="connsiteX52" fmla="*/ 883001 w 1424802"/>
              <a:gd name="connsiteY52" fmla="*/ 1627970 h 1639693"/>
              <a:gd name="connsiteX53" fmla="*/ 800939 w 1424802"/>
              <a:gd name="connsiteY53" fmla="*/ 1622108 h 1639693"/>
              <a:gd name="connsiteX54" fmla="*/ 630955 w 1424802"/>
              <a:gd name="connsiteY54" fmla="*/ 1616247 h 1639693"/>
              <a:gd name="connsiteX55" fmla="*/ 572339 w 1424802"/>
              <a:gd name="connsiteY55" fmla="*/ 1610385 h 1639693"/>
              <a:gd name="connsiteX56" fmla="*/ 476812 w 1424802"/>
              <a:gd name="connsiteY56" fmla="*/ 1616247 h 1639693"/>
              <a:gd name="connsiteX57" fmla="*/ 155426 w 1424802"/>
              <a:gd name="connsiteY57" fmla="*/ 1586939 h 1639693"/>
              <a:gd name="connsiteX58" fmla="*/ 83418 w 1424802"/>
              <a:gd name="connsiteY58" fmla="*/ 1514931 h 1639693"/>
              <a:gd name="connsiteX59" fmla="*/ 50662 w 1424802"/>
              <a:gd name="connsiteY59" fmla="*/ 1463847 h 1639693"/>
              <a:gd name="connsiteX60" fmla="*/ 33078 w 1424802"/>
              <a:gd name="connsiteY60" fmla="*/ 1446262 h 1639693"/>
              <a:gd name="connsiteX61" fmla="*/ 21355 w 1424802"/>
              <a:gd name="connsiteY61" fmla="*/ 1405231 h 1639693"/>
              <a:gd name="connsiteX62" fmla="*/ 9632 w 1424802"/>
              <a:gd name="connsiteY62" fmla="*/ 1358339 h 1639693"/>
              <a:gd name="connsiteX63" fmla="*/ 9632 w 1424802"/>
              <a:gd name="connsiteY63" fmla="*/ 1159047 h 1639693"/>
              <a:gd name="connsiteX64" fmla="*/ 15493 w 1424802"/>
              <a:gd name="connsiteY64" fmla="*/ 1141462 h 1639693"/>
              <a:gd name="connsiteX65" fmla="*/ 21355 w 1424802"/>
              <a:gd name="connsiteY65" fmla="*/ 1088708 h 1639693"/>
              <a:gd name="connsiteX66" fmla="*/ 27216 w 1424802"/>
              <a:gd name="connsiteY66" fmla="*/ 1071124 h 1639693"/>
              <a:gd name="connsiteX67" fmla="*/ 33078 w 1424802"/>
              <a:gd name="connsiteY67" fmla="*/ 1035954 h 1639693"/>
              <a:gd name="connsiteX68" fmla="*/ 50662 w 1424802"/>
              <a:gd name="connsiteY68" fmla="*/ 994924 h 1639693"/>
              <a:gd name="connsiteX69" fmla="*/ 62385 w 1424802"/>
              <a:gd name="connsiteY69" fmla="*/ 953893 h 1639693"/>
              <a:gd name="connsiteX70" fmla="*/ 74108 w 1424802"/>
              <a:gd name="connsiteY70" fmla="*/ 930447 h 1639693"/>
              <a:gd name="connsiteX71" fmla="*/ 85832 w 1424802"/>
              <a:gd name="connsiteY71" fmla="*/ 889416 h 1639693"/>
              <a:gd name="connsiteX72" fmla="*/ 91693 w 1424802"/>
              <a:gd name="connsiteY72" fmla="*/ 871831 h 1639693"/>
              <a:gd name="connsiteX73" fmla="*/ 97555 w 1424802"/>
              <a:gd name="connsiteY73" fmla="*/ 842524 h 1639693"/>
              <a:gd name="connsiteX74" fmla="*/ 103416 w 1424802"/>
              <a:gd name="connsiteY74" fmla="*/ 824939 h 1639693"/>
              <a:gd name="connsiteX75" fmla="*/ 102366 w 1424802"/>
              <a:gd name="connsiteY75" fmla="*/ 762308 h 1639693"/>
              <a:gd name="connsiteX76" fmla="*/ 83418 w 1424802"/>
              <a:gd name="connsiteY76" fmla="*/ 650835 h 1639693"/>
              <a:gd name="connsiteX77" fmla="*/ 83418 w 1424802"/>
              <a:gd name="connsiteY77" fmla="*/ 506819 h 1639693"/>
              <a:gd name="connsiteX78" fmla="*/ 85832 w 1424802"/>
              <a:gd name="connsiteY78" fmla="*/ 479108 h 1639693"/>
              <a:gd name="connsiteX79" fmla="*/ 79970 w 1424802"/>
              <a:gd name="connsiteY79" fmla="*/ 461524 h 1639693"/>
              <a:gd name="connsiteX0" fmla="*/ 79970 w 1424802"/>
              <a:gd name="connsiteY0" fmla="*/ 461524 h 1639693"/>
              <a:gd name="connsiteX1" fmla="*/ 82870 w 1424802"/>
              <a:gd name="connsiteY1" fmla="*/ 362842 h 1639693"/>
              <a:gd name="connsiteX2" fmla="*/ 82870 w 1424802"/>
              <a:gd name="connsiteY2" fmla="*/ 290815 h 1639693"/>
              <a:gd name="connsiteX3" fmla="*/ 82870 w 1424802"/>
              <a:gd name="connsiteY3" fmla="*/ 290814 h 1639693"/>
              <a:gd name="connsiteX4" fmla="*/ 154920 w 1424802"/>
              <a:gd name="connsiteY4" fmla="*/ 146763 h 1639693"/>
              <a:gd name="connsiteX5" fmla="*/ 299018 w 1424802"/>
              <a:gd name="connsiteY5" fmla="*/ 2709 h 1639693"/>
              <a:gd name="connsiteX6" fmla="*/ 371067 w 1424802"/>
              <a:gd name="connsiteY6" fmla="*/ 146763 h 1639693"/>
              <a:gd name="connsiteX7" fmla="*/ 443116 w 1424802"/>
              <a:gd name="connsiteY7" fmla="*/ 146761 h 1639693"/>
              <a:gd name="connsiteX8" fmla="*/ 587214 w 1424802"/>
              <a:gd name="connsiteY8" fmla="*/ 146763 h 1639693"/>
              <a:gd name="connsiteX9" fmla="*/ 659264 w 1424802"/>
              <a:gd name="connsiteY9" fmla="*/ 146762 h 1639693"/>
              <a:gd name="connsiteX10" fmla="*/ 731313 w 1424802"/>
              <a:gd name="connsiteY10" fmla="*/ 146762 h 1639693"/>
              <a:gd name="connsiteX11" fmla="*/ 824385 w 1424802"/>
              <a:gd name="connsiteY11" fmla="*/ 314985 h 1639693"/>
              <a:gd name="connsiteX12" fmla="*/ 841970 w 1424802"/>
              <a:gd name="connsiteY12" fmla="*/ 332570 h 1639693"/>
              <a:gd name="connsiteX13" fmla="*/ 847832 w 1424802"/>
              <a:gd name="connsiteY13" fmla="*/ 350154 h 1639693"/>
              <a:gd name="connsiteX14" fmla="*/ 865416 w 1424802"/>
              <a:gd name="connsiteY14" fmla="*/ 356016 h 1639693"/>
              <a:gd name="connsiteX15" fmla="*/ 906447 w 1424802"/>
              <a:gd name="connsiteY15" fmla="*/ 391185 h 1639693"/>
              <a:gd name="connsiteX16" fmla="*/ 918170 w 1424802"/>
              <a:gd name="connsiteY16" fmla="*/ 408770 h 1639693"/>
              <a:gd name="connsiteX17" fmla="*/ 935755 w 1424802"/>
              <a:gd name="connsiteY17" fmla="*/ 420493 h 1639693"/>
              <a:gd name="connsiteX18" fmla="*/ 959201 w 1424802"/>
              <a:gd name="connsiteY18" fmla="*/ 438077 h 1639693"/>
              <a:gd name="connsiteX19" fmla="*/ 976785 w 1424802"/>
              <a:gd name="connsiteY19" fmla="*/ 449801 h 1639693"/>
              <a:gd name="connsiteX20" fmla="*/ 994370 w 1424802"/>
              <a:gd name="connsiteY20" fmla="*/ 473247 h 1639693"/>
              <a:gd name="connsiteX21" fmla="*/ 1035401 w 1424802"/>
              <a:gd name="connsiteY21" fmla="*/ 496693 h 1639693"/>
              <a:gd name="connsiteX22" fmla="*/ 1058847 w 1424802"/>
              <a:gd name="connsiteY22" fmla="*/ 526001 h 1639693"/>
              <a:gd name="connsiteX23" fmla="*/ 1099878 w 1424802"/>
              <a:gd name="connsiteY23" fmla="*/ 561170 h 1639693"/>
              <a:gd name="connsiteX24" fmla="*/ 1129185 w 1424802"/>
              <a:gd name="connsiteY24" fmla="*/ 602201 h 1639693"/>
              <a:gd name="connsiteX25" fmla="*/ 1135047 w 1424802"/>
              <a:gd name="connsiteY25" fmla="*/ 619785 h 1639693"/>
              <a:gd name="connsiteX26" fmla="*/ 1170216 w 1424802"/>
              <a:gd name="connsiteY26" fmla="*/ 660816 h 1639693"/>
              <a:gd name="connsiteX27" fmla="*/ 1187801 w 1424802"/>
              <a:gd name="connsiteY27" fmla="*/ 684262 h 1639693"/>
              <a:gd name="connsiteX28" fmla="*/ 1211247 w 1424802"/>
              <a:gd name="connsiteY28" fmla="*/ 719431 h 1639693"/>
              <a:gd name="connsiteX29" fmla="*/ 1240555 w 1424802"/>
              <a:gd name="connsiteY29" fmla="*/ 760462 h 1639693"/>
              <a:gd name="connsiteX30" fmla="*/ 1264001 w 1424802"/>
              <a:gd name="connsiteY30" fmla="*/ 807354 h 1639693"/>
              <a:gd name="connsiteX31" fmla="*/ 1269862 w 1424802"/>
              <a:gd name="connsiteY31" fmla="*/ 824939 h 1639693"/>
              <a:gd name="connsiteX32" fmla="*/ 1287447 w 1424802"/>
              <a:gd name="connsiteY32" fmla="*/ 854247 h 1639693"/>
              <a:gd name="connsiteX33" fmla="*/ 1299170 w 1424802"/>
              <a:gd name="connsiteY33" fmla="*/ 877693 h 1639693"/>
              <a:gd name="connsiteX34" fmla="*/ 1316755 w 1424802"/>
              <a:gd name="connsiteY34" fmla="*/ 895277 h 1639693"/>
              <a:gd name="connsiteX35" fmla="*/ 1340201 w 1424802"/>
              <a:gd name="connsiteY35" fmla="*/ 936308 h 1639693"/>
              <a:gd name="connsiteX36" fmla="*/ 1351924 w 1424802"/>
              <a:gd name="connsiteY36" fmla="*/ 959754 h 1639693"/>
              <a:gd name="connsiteX37" fmla="*/ 1357785 w 1424802"/>
              <a:gd name="connsiteY37" fmla="*/ 977339 h 1639693"/>
              <a:gd name="connsiteX38" fmla="*/ 1369508 w 1424802"/>
              <a:gd name="connsiteY38" fmla="*/ 994924 h 1639693"/>
              <a:gd name="connsiteX39" fmla="*/ 1381232 w 1424802"/>
              <a:gd name="connsiteY39" fmla="*/ 1024231 h 1639693"/>
              <a:gd name="connsiteX40" fmla="*/ 1398816 w 1424802"/>
              <a:gd name="connsiteY40" fmla="*/ 1100431 h 1639693"/>
              <a:gd name="connsiteX41" fmla="*/ 1410539 w 1424802"/>
              <a:gd name="connsiteY41" fmla="*/ 1170770 h 1639693"/>
              <a:gd name="connsiteX42" fmla="*/ 1416401 w 1424802"/>
              <a:gd name="connsiteY42" fmla="*/ 1188354 h 1639693"/>
              <a:gd name="connsiteX43" fmla="*/ 1410539 w 1424802"/>
              <a:gd name="connsiteY43" fmla="*/ 1340754 h 1639693"/>
              <a:gd name="connsiteX44" fmla="*/ 1404287 w 1424802"/>
              <a:gd name="connsiteY44" fmla="*/ 1464380 h 1639693"/>
              <a:gd name="connsiteX45" fmla="*/ 1287447 w 1424802"/>
              <a:gd name="connsiteY45" fmla="*/ 1598662 h 1639693"/>
              <a:gd name="connsiteX46" fmla="*/ 1269862 w 1424802"/>
              <a:gd name="connsiteY46" fmla="*/ 1610385 h 1639693"/>
              <a:gd name="connsiteX47" fmla="*/ 1234693 w 1424802"/>
              <a:gd name="connsiteY47" fmla="*/ 1622108 h 1639693"/>
              <a:gd name="connsiteX48" fmla="*/ 1217108 w 1424802"/>
              <a:gd name="connsiteY48" fmla="*/ 1627970 h 1639693"/>
              <a:gd name="connsiteX49" fmla="*/ 1176078 w 1424802"/>
              <a:gd name="connsiteY49" fmla="*/ 1633831 h 1639693"/>
              <a:gd name="connsiteX50" fmla="*/ 1140908 w 1424802"/>
              <a:gd name="connsiteY50" fmla="*/ 1639693 h 1639693"/>
              <a:gd name="connsiteX51" fmla="*/ 900585 w 1424802"/>
              <a:gd name="connsiteY51" fmla="*/ 1633831 h 1639693"/>
              <a:gd name="connsiteX52" fmla="*/ 883001 w 1424802"/>
              <a:gd name="connsiteY52" fmla="*/ 1627970 h 1639693"/>
              <a:gd name="connsiteX53" fmla="*/ 800939 w 1424802"/>
              <a:gd name="connsiteY53" fmla="*/ 1622108 h 1639693"/>
              <a:gd name="connsiteX54" fmla="*/ 630955 w 1424802"/>
              <a:gd name="connsiteY54" fmla="*/ 1616247 h 1639693"/>
              <a:gd name="connsiteX55" fmla="*/ 572339 w 1424802"/>
              <a:gd name="connsiteY55" fmla="*/ 1610385 h 1639693"/>
              <a:gd name="connsiteX56" fmla="*/ 476812 w 1424802"/>
              <a:gd name="connsiteY56" fmla="*/ 1616247 h 1639693"/>
              <a:gd name="connsiteX57" fmla="*/ 155426 w 1424802"/>
              <a:gd name="connsiteY57" fmla="*/ 1586939 h 1639693"/>
              <a:gd name="connsiteX58" fmla="*/ 83418 w 1424802"/>
              <a:gd name="connsiteY58" fmla="*/ 1514931 h 1639693"/>
              <a:gd name="connsiteX59" fmla="*/ 50662 w 1424802"/>
              <a:gd name="connsiteY59" fmla="*/ 1463847 h 1639693"/>
              <a:gd name="connsiteX60" fmla="*/ 33078 w 1424802"/>
              <a:gd name="connsiteY60" fmla="*/ 1446262 h 1639693"/>
              <a:gd name="connsiteX61" fmla="*/ 21355 w 1424802"/>
              <a:gd name="connsiteY61" fmla="*/ 1405231 h 1639693"/>
              <a:gd name="connsiteX62" fmla="*/ 9632 w 1424802"/>
              <a:gd name="connsiteY62" fmla="*/ 1358339 h 1639693"/>
              <a:gd name="connsiteX63" fmla="*/ 9632 w 1424802"/>
              <a:gd name="connsiteY63" fmla="*/ 1159047 h 1639693"/>
              <a:gd name="connsiteX64" fmla="*/ 15493 w 1424802"/>
              <a:gd name="connsiteY64" fmla="*/ 1141462 h 1639693"/>
              <a:gd name="connsiteX65" fmla="*/ 21355 w 1424802"/>
              <a:gd name="connsiteY65" fmla="*/ 1088708 h 1639693"/>
              <a:gd name="connsiteX66" fmla="*/ 27216 w 1424802"/>
              <a:gd name="connsiteY66" fmla="*/ 1071124 h 1639693"/>
              <a:gd name="connsiteX67" fmla="*/ 33078 w 1424802"/>
              <a:gd name="connsiteY67" fmla="*/ 1035954 h 1639693"/>
              <a:gd name="connsiteX68" fmla="*/ 50662 w 1424802"/>
              <a:gd name="connsiteY68" fmla="*/ 994924 h 1639693"/>
              <a:gd name="connsiteX69" fmla="*/ 62385 w 1424802"/>
              <a:gd name="connsiteY69" fmla="*/ 953893 h 1639693"/>
              <a:gd name="connsiteX70" fmla="*/ 74108 w 1424802"/>
              <a:gd name="connsiteY70" fmla="*/ 930447 h 1639693"/>
              <a:gd name="connsiteX71" fmla="*/ 85832 w 1424802"/>
              <a:gd name="connsiteY71" fmla="*/ 889416 h 1639693"/>
              <a:gd name="connsiteX72" fmla="*/ 91693 w 1424802"/>
              <a:gd name="connsiteY72" fmla="*/ 871831 h 1639693"/>
              <a:gd name="connsiteX73" fmla="*/ 97555 w 1424802"/>
              <a:gd name="connsiteY73" fmla="*/ 842524 h 1639693"/>
              <a:gd name="connsiteX74" fmla="*/ 103416 w 1424802"/>
              <a:gd name="connsiteY74" fmla="*/ 824939 h 1639693"/>
              <a:gd name="connsiteX75" fmla="*/ 102366 w 1424802"/>
              <a:gd name="connsiteY75" fmla="*/ 762308 h 1639693"/>
              <a:gd name="connsiteX76" fmla="*/ 83418 w 1424802"/>
              <a:gd name="connsiteY76" fmla="*/ 650835 h 1639693"/>
              <a:gd name="connsiteX77" fmla="*/ 83418 w 1424802"/>
              <a:gd name="connsiteY77" fmla="*/ 506819 h 1639693"/>
              <a:gd name="connsiteX78" fmla="*/ 85832 w 1424802"/>
              <a:gd name="connsiteY78" fmla="*/ 479108 h 1639693"/>
              <a:gd name="connsiteX79" fmla="*/ 79970 w 1424802"/>
              <a:gd name="connsiteY79" fmla="*/ 461524 h 1639693"/>
              <a:gd name="connsiteX0" fmla="*/ 79970 w 1424802"/>
              <a:gd name="connsiteY0" fmla="*/ 461524 h 1639693"/>
              <a:gd name="connsiteX1" fmla="*/ 82870 w 1424802"/>
              <a:gd name="connsiteY1" fmla="*/ 362842 h 1639693"/>
              <a:gd name="connsiteX2" fmla="*/ 82870 w 1424802"/>
              <a:gd name="connsiteY2" fmla="*/ 290815 h 1639693"/>
              <a:gd name="connsiteX3" fmla="*/ 82870 w 1424802"/>
              <a:gd name="connsiteY3" fmla="*/ 290814 h 1639693"/>
              <a:gd name="connsiteX4" fmla="*/ 105996 w 1424802"/>
              <a:gd name="connsiteY4" fmla="*/ 137001 h 1639693"/>
              <a:gd name="connsiteX5" fmla="*/ 299018 w 1424802"/>
              <a:gd name="connsiteY5" fmla="*/ 2709 h 1639693"/>
              <a:gd name="connsiteX6" fmla="*/ 371067 w 1424802"/>
              <a:gd name="connsiteY6" fmla="*/ 146763 h 1639693"/>
              <a:gd name="connsiteX7" fmla="*/ 443116 w 1424802"/>
              <a:gd name="connsiteY7" fmla="*/ 146761 h 1639693"/>
              <a:gd name="connsiteX8" fmla="*/ 587214 w 1424802"/>
              <a:gd name="connsiteY8" fmla="*/ 146763 h 1639693"/>
              <a:gd name="connsiteX9" fmla="*/ 659264 w 1424802"/>
              <a:gd name="connsiteY9" fmla="*/ 146762 h 1639693"/>
              <a:gd name="connsiteX10" fmla="*/ 731313 w 1424802"/>
              <a:gd name="connsiteY10" fmla="*/ 146762 h 1639693"/>
              <a:gd name="connsiteX11" fmla="*/ 824385 w 1424802"/>
              <a:gd name="connsiteY11" fmla="*/ 314985 h 1639693"/>
              <a:gd name="connsiteX12" fmla="*/ 841970 w 1424802"/>
              <a:gd name="connsiteY12" fmla="*/ 332570 h 1639693"/>
              <a:gd name="connsiteX13" fmla="*/ 847832 w 1424802"/>
              <a:gd name="connsiteY13" fmla="*/ 350154 h 1639693"/>
              <a:gd name="connsiteX14" fmla="*/ 865416 w 1424802"/>
              <a:gd name="connsiteY14" fmla="*/ 356016 h 1639693"/>
              <a:gd name="connsiteX15" fmla="*/ 906447 w 1424802"/>
              <a:gd name="connsiteY15" fmla="*/ 391185 h 1639693"/>
              <a:gd name="connsiteX16" fmla="*/ 918170 w 1424802"/>
              <a:gd name="connsiteY16" fmla="*/ 408770 h 1639693"/>
              <a:gd name="connsiteX17" fmla="*/ 935755 w 1424802"/>
              <a:gd name="connsiteY17" fmla="*/ 420493 h 1639693"/>
              <a:gd name="connsiteX18" fmla="*/ 959201 w 1424802"/>
              <a:gd name="connsiteY18" fmla="*/ 438077 h 1639693"/>
              <a:gd name="connsiteX19" fmla="*/ 976785 w 1424802"/>
              <a:gd name="connsiteY19" fmla="*/ 449801 h 1639693"/>
              <a:gd name="connsiteX20" fmla="*/ 994370 w 1424802"/>
              <a:gd name="connsiteY20" fmla="*/ 473247 h 1639693"/>
              <a:gd name="connsiteX21" fmla="*/ 1035401 w 1424802"/>
              <a:gd name="connsiteY21" fmla="*/ 496693 h 1639693"/>
              <a:gd name="connsiteX22" fmla="*/ 1058847 w 1424802"/>
              <a:gd name="connsiteY22" fmla="*/ 526001 h 1639693"/>
              <a:gd name="connsiteX23" fmla="*/ 1099878 w 1424802"/>
              <a:gd name="connsiteY23" fmla="*/ 561170 h 1639693"/>
              <a:gd name="connsiteX24" fmla="*/ 1129185 w 1424802"/>
              <a:gd name="connsiteY24" fmla="*/ 602201 h 1639693"/>
              <a:gd name="connsiteX25" fmla="*/ 1135047 w 1424802"/>
              <a:gd name="connsiteY25" fmla="*/ 619785 h 1639693"/>
              <a:gd name="connsiteX26" fmla="*/ 1170216 w 1424802"/>
              <a:gd name="connsiteY26" fmla="*/ 660816 h 1639693"/>
              <a:gd name="connsiteX27" fmla="*/ 1187801 w 1424802"/>
              <a:gd name="connsiteY27" fmla="*/ 684262 h 1639693"/>
              <a:gd name="connsiteX28" fmla="*/ 1211247 w 1424802"/>
              <a:gd name="connsiteY28" fmla="*/ 719431 h 1639693"/>
              <a:gd name="connsiteX29" fmla="*/ 1240555 w 1424802"/>
              <a:gd name="connsiteY29" fmla="*/ 760462 h 1639693"/>
              <a:gd name="connsiteX30" fmla="*/ 1264001 w 1424802"/>
              <a:gd name="connsiteY30" fmla="*/ 807354 h 1639693"/>
              <a:gd name="connsiteX31" fmla="*/ 1269862 w 1424802"/>
              <a:gd name="connsiteY31" fmla="*/ 824939 h 1639693"/>
              <a:gd name="connsiteX32" fmla="*/ 1287447 w 1424802"/>
              <a:gd name="connsiteY32" fmla="*/ 854247 h 1639693"/>
              <a:gd name="connsiteX33" fmla="*/ 1299170 w 1424802"/>
              <a:gd name="connsiteY33" fmla="*/ 877693 h 1639693"/>
              <a:gd name="connsiteX34" fmla="*/ 1316755 w 1424802"/>
              <a:gd name="connsiteY34" fmla="*/ 895277 h 1639693"/>
              <a:gd name="connsiteX35" fmla="*/ 1340201 w 1424802"/>
              <a:gd name="connsiteY35" fmla="*/ 936308 h 1639693"/>
              <a:gd name="connsiteX36" fmla="*/ 1351924 w 1424802"/>
              <a:gd name="connsiteY36" fmla="*/ 959754 h 1639693"/>
              <a:gd name="connsiteX37" fmla="*/ 1357785 w 1424802"/>
              <a:gd name="connsiteY37" fmla="*/ 977339 h 1639693"/>
              <a:gd name="connsiteX38" fmla="*/ 1369508 w 1424802"/>
              <a:gd name="connsiteY38" fmla="*/ 994924 h 1639693"/>
              <a:gd name="connsiteX39" fmla="*/ 1381232 w 1424802"/>
              <a:gd name="connsiteY39" fmla="*/ 1024231 h 1639693"/>
              <a:gd name="connsiteX40" fmla="*/ 1398816 w 1424802"/>
              <a:gd name="connsiteY40" fmla="*/ 1100431 h 1639693"/>
              <a:gd name="connsiteX41" fmla="*/ 1410539 w 1424802"/>
              <a:gd name="connsiteY41" fmla="*/ 1170770 h 1639693"/>
              <a:gd name="connsiteX42" fmla="*/ 1416401 w 1424802"/>
              <a:gd name="connsiteY42" fmla="*/ 1188354 h 1639693"/>
              <a:gd name="connsiteX43" fmla="*/ 1410539 w 1424802"/>
              <a:gd name="connsiteY43" fmla="*/ 1340754 h 1639693"/>
              <a:gd name="connsiteX44" fmla="*/ 1404287 w 1424802"/>
              <a:gd name="connsiteY44" fmla="*/ 1464380 h 1639693"/>
              <a:gd name="connsiteX45" fmla="*/ 1287447 w 1424802"/>
              <a:gd name="connsiteY45" fmla="*/ 1598662 h 1639693"/>
              <a:gd name="connsiteX46" fmla="*/ 1269862 w 1424802"/>
              <a:gd name="connsiteY46" fmla="*/ 1610385 h 1639693"/>
              <a:gd name="connsiteX47" fmla="*/ 1234693 w 1424802"/>
              <a:gd name="connsiteY47" fmla="*/ 1622108 h 1639693"/>
              <a:gd name="connsiteX48" fmla="*/ 1217108 w 1424802"/>
              <a:gd name="connsiteY48" fmla="*/ 1627970 h 1639693"/>
              <a:gd name="connsiteX49" fmla="*/ 1176078 w 1424802"/>
              <a:gd name="connsiteY49" fmla="*/ 1633831 h 1639693"/>
              <a:gd name="connsiteX50" fmla="*/ 1140908 w 1424802"/>
              <a:gd name="connsiteY50" fmla="*/ 1639693 h 1639693"/>
              <a:gd name="connsiteX51" fmla="*/ 900585 w 1424802"/>
              <a:gd name="connsiteY51" fmla="*/ 1633831 h 1639693"/>
              <a:gd name="connsiteX52" fmla="*/ 883001 w 1424802"/>
              <a:gd name="connsiteY52" fmla="*/ 1627970 h 1639693"/>
              <a:gd name="connsiteX53" fmla="*/ 800939 w 1424802"/>
              <a:gd name="connsiteY53" fmla="*/ 1622108 h 1639693"/>
              <a:gd name="connsiteX54" fmla="*/ 630955 w 1424802"/>
              <a:gd name="connsiteY54" fmla="*/ 1616247 h 1639693"/>
              <a:gd name="connsiteX55" fmla="*/ 572339 w 1424802"/>
              <a:gd name="connsiteY55" fmla="*/ 1610385 h 1639693"/>
              <a:gd name="connsiteX56" fmla="*/ 476812 w 1424802"/>
              <a:gd name="connsiteY56" fmla="*/ 1616247 h 1639693"/>
              <a:gd name="connsiteX57" fmla="*/ 155426 w 1424802"/>
              <a:gd name="connsiteY57" fmla="*/ 1586939 h 1639693"/>
              <a:gd name="connsiteX58" fmla="*/ 83418 w 1424802"/>
              <a:gd name="connsiteY58" fmla="*/ 1514931 h 1639693"/>
              <a:gd name="connsiteX59" fmla="*/ 50662 w 1424802"/>
              <a:gd name="connsiteY59" fmla="*/ 1463847 h 1639693"/>
              <a:gd name="connsiteX60" fmla="*/ 33078 w 1424802"/>
              <a:gd name="connsiteY60" fmla="*/ 1446262 h 1639693"/>
              <a:gd name="connsiteX61" fmla="*/ 21355 w 1424802"/>
              <a:gd name="connsiteY61" fmla="*/ 1405231 h 1639693"/>
              <a:gd name="connsiteX62" fmla="*/ 9632 w 1424802"/>
              <a:gd name="connsiteY62" fmla="*/ 1358339 h 1639693"/>
              <a:gd name="connsiteX63" fmla="*/ 9632 w 1424802"/>
              <a:gd name="connsiteY63" fmla="*/ 1159047 h 1639693"/>
              <a:gd name="connsiteX64" fmla="*/ 15493 w 1424802"/>
              <a:gd name="connsiteY64" fmla="*/ 1141462 h 1639693"/>
              <a:gd name="connsiteX65" fmla="*/ 21355 w 1424802"/>
              <a:gd name="connsiteY65" fmla="*/ 1088708 h 1639693"/>
              <a:gd name="connsiteX66" fmla="*/ 27216 w 1424802"/>
              <a:gd name="connsiteY66" fmla="*/ 1071124 h 1639693"/>
              <a:gd name="connsiteX67" fmla="*/ 33078 w 1424802"/>
              <a:gd name="connsiteY67" fmla="*/ 1035954 h 1639693"/>
              <a:gd name="connsiteX68" fmla="*/ 50662 w 1424802"/>
              <a:gd name="connsiteY68" fmla="*/ 994924 h 1639693"/>
              <a:gd name="connsiteX69" fmla="*/ 62385 w 1424802"/>
              <a:gd name="connsiteY69" fmla="*/ 953893 h 1639693"/>
              <a:gd name="connsiteX70" fmla="*/ 74108 w 1424802"/>
              <a:gd name="connsiteY70" fmla="*/ 930447 h 1639693"/>
              <a:gd name="connsiteX71" fmla="*/ 85832 w 1424802"/>
              <a:gd name="connsiteY71" fmla="*/ 889416 h 1639693"/>
              <a:gd name="connsiteX72" fmla="*/ 91693 w 1424802"/>
              <a:gd name="connsiteY72" fmla="*/ 871831 h 1639693"/>
              <a:gd name="connsiteX73" fmla="*/ 97555 w 1424802"/>
              <a:gd name="connsiteY73" fmla="*/ 842524 h 1639693"/>
              <a:gd name="connsiteX74" fmla="*/ 103416 w 1424802"/>
              <a:gd name="connsiteY74" fmla="*/ 824939 h 1639693"/>
              <a:gd name="connsiteX75" fmla="*/ 102366 w 1424802"/>
              <a:gd name="connsiteY75" fmla="*/ 762308 h 1639693"/>
              <a:gd name="connsiteX76" fmla="*/ 83418 w 1424802"/>
              <a:gd name="connsiteY76" fmla="*/ 650835 h 1639693"/>
              <a:gd name="connsiteX77" fmla="*/ 83418 w 1424802"/>
              <a:gd name="connsiteY77" fmla="*/ 506819 h 1639693"/>
              <a:gd name="connsiteX78" fmla="*/ 85832 w 1424802"/>
              <a:gd name="connsiteY78" fmla="*/ 479108 h 1639693"/>
              <a:gd name="connsiteX79" fmla="*/ 79970 w 1424802"/>
              <a:gd name="connsiteY79" fmla="*/ 461524 h 1639693"/>
              <a:gd name="connsiteX0" fmla="*/ 79970 w 1424802"/>
              <a:gd name="connsiteY0" fmla="*/ 461524 h 1639693"/>
              <a:gd name="connsiteX1" fmla="*/ 82870 w 1424802"/>
              <a:gd name="connsiteY1" fmla="*/ 362842 h 1639693"/>
              <a:gd name="connsiteX2" fmla="*/ 82870 w 1424802"/>
              <a:gd name="connsiteY2" fmla="*/ 290815 h 1639693"/>
              <a:gd name="connsiteX3" fmla="*/ 82870 w 1424802"/>
              <a:gd name="connsiteY3" fmla="*/ 290814 h 1639693"/>
              <a:gd name="connsiteX4" fmla="*/ 105996 w 1424802"/>
              <a:gd name="connsiteY4" fmla="*/ 137001 h 1639693"/>
              <a:gd name="connsiteX5" fmla="*/ 299018 w 1424802"/>
              <a:gd name="connsiteY5" fmla="*/ 2709 h 1639693"/>
              <a:gd name="connsiteX6" fmla="*/ 452136 w 1424802"/>
              <a:gd name="connsiteY6" fmla="*/ 68384 h 1639693"/>
              <a:gd name="connsiteX7" fmla="*/ 443116 w 1424802"/>
              <a:gd name="connsiteY7" fmla="*/ 146761 h 1639693"/>
              <a:gd name="connsiteX8" fmla="*/ 587214 w 1424802"/>
              <a:gd name="connsiteY8" fmla="*/ 146763 h 1639693"/>
              <a:gd name="connsiteX9" fmla="*/ 659264 w 1424802"/>
              <a:gd name="connsiteY9" fmla="*/ 146762 h 1639693"/>
              <a:gd name="connsiteX10" fmla="*/ 731313 w 1424802"/>
              <a:gd name="connsiteY10" fmla="*/ 146762 h 1639693"/>
              <a:gd name="connsiteX11" fmla="*/ 824385 w 1424802"/>
              <a:gd name="connsiteY11" fmla="*/ 314985 h 1639693"/>
              <a:gd name="connsiteX12" fmla="*/ 841970 w 1424802"/>
              <a:gd name="connsiteY12" fmla="*/ 332570 h 1639693"/>
              <a:gd name="connsiteX13" fmla="*/ 847832 w 1424802"/>
              <a:gd name="connsiteY13" fmla="*/ 350154 h 1639693"/>
              <a:gd name="connsiteX14" fmla="*/ 865416 w 1424802"/>
              <a:gd name="connsiteY14" fmla="*/ 356016 h 1639693"/>
              <a:gd name="connsiteX15" fmla="*/ 906447 w 1424802"/>
              <a:gd name="connsiteY15" fmla="*/ 391185 h 1639693"/>
              <a:gd name="connsiteX16" fmla="*/ 918170 w 1424802"/>
              <a:gd name="connsiteY16" fmla="*/ 408770 h 1639693"/>
              <a:gd name="connsiteX17" fmla="*/ 935755 w 1424802"/>
              <a:gd name="connsiteY17" fmla="*/ 420493 h 1639693"/>
              <a:gd name="connsiteX18" fmla="*/ 959201 w 1424802"/>
              <a:gd name="connsiteY18" fmla="*/ 438077 h 1639693"/>
              <a:gd name="connsiteX19" fmla="*/ 976785 w 1424802"/>
              <a:gd name="connsiteY19" fmla="*/ 449801 h 1639693"/>
              <a:gd name="connsiteX20" fmla="*/ 994370 w 1424802"/>
              <a:gd name="connsiteY20" fmla="*/ 473247 h 1639693"/>
              <a:gd name="connsiteX21" fmla="*/ 1035401 w 1424802"/>
              <a:gd name="connsiteY21" fmla="*/ 496693 h 1639693"/>
              <a:gd name="connsiteX22" fmla="*/ 1058847 w 1424802"/>
              <a:gd name="connsiteY22" fmla="*/ 526001 h 1639693"/>
              <a:gd name="connsiteX23" fmla="*/ 1099878 w 1424802"/>
              <a:gd name="connsiteY23" fmla="*/ 561170 h 1639693"/>
              <a:gd name="connsiteX24" fmla="*/ 1129185 w 1424802"/>
              <a:gd name="connsiteY24" fmla="*/ 602201 h 1639693"/>
              <a:gd name="connsiteX25" fmla="*/ 1135047 w 1424802"/>
              <a:gd name="connsiteY25" fmla="*/ 619785 h 1639693"/>
              <a:gd name="connsiteX26" fmla="*/ 1170216 w 1424802"/>
              <a:gd name="connsiteY26" fmla="*/ 660816 h 1639693"/>
              <a:gd name="connsiteX27" fmla="*/ 1187801 w 1424802"/>
              <a:gd name="connsiteY27" fmla="*/ 684262 h 1639693"/>
              <a:gd name="connsiteX28" fmla="*/ 1211247 w 1424802"/>
              <a:gd name="connsiteY28" fmla="*/ 719431 h 1639693"/>
              <a:gd name="connsiteX29" fmla="*/ 1240555 w 1424802"/>
              <a:gd name="connsiteY29" fmla="*/ 760462 h 1639693"/>
              <a:gd name="connsiteX30" fmla="*/ 1264001 w 1424802"/>
              <a:gd name="connsiteY30" fmla="*/ 807354 h 1639693"/>
              <a:gd name="connsiteX31" fmla="*/ 1269862 w 1424802"/>
              <a:gd name="connsiteY31" fmla="*/ 824939 h 1639693"/>
              <a:gd name="connsiteX32" fmla="*/ 1287447 w 1424802"/>
              <a:gd name="connsiteY32" fmla="*/ 854247 h 1639693"/>
              <a:gd name="connsiteX33" fmla="*/ 1299170 w 1424802"/>
              <a:gd name="connsiteY33" fmla="*/ 877693 h 1639693"/>
              <a:gd name="connsiteX34" fmla="*/ 1316755 w 1424802"/>
              <a:gd name="connsiteY34" fmla="*/ 895277 h 1639693"/>
              <a:gd name="connsiteX35" fmla="*/ 1340201 w 1424802"/>
              <a:gd name="connsiteY35" fmla="*/ 936308 h 1639693"/>
              <a:gd name="connsiteX36" fmla="*/ 1351924 w 1424802"/>
              <a:gd name="connsiteY36" fmla="*/ 959754 h 1639693"/>
              <a:gd name="connsiteX37" fmla="*/ 1357785 w 1424802"/>
              <a:gd name="connsiteY37" fmla="*/ 977339 h 1639693"/>
              <a:gd name="connsiteX38" fmla="*/ 1369508 w 1424802"/>
              <a:gd name="connsiteY38" fmla="*/ 994924 h 1639693"/>
              <a:gd name="connsiteX39" fmla="*/ 1381232 w 1424802"/>
              <a:gd name="connsiteY39" fmla="*/ 1024231 h 1639693"/>
              <a:gd name="connsiteX40" fmla="*/ 1398816 w 1424802"/>
              <a:gd name="connsiteY40" fmla="*/ 1100431 h 1639693"/>
              <a:gd name="connsiteX41" fmla="*/ 1410539 w 1424802"/>
              <a:gd name="connsiteY41" fmla="*/ 1170770 h 1639693"/>
              <a:gd name="connsiteX42" fmla="*/ 1416401 w 1424802"/>
              <a:gd name="connsiteY42" fmla="*/ 1188354 h 1639693"/>
              <a:gd name="connsiteX43" fmla="*/ 1410539 w 1424802"/>
              <a:gd name="connsiteY43" fmla="*/ 1340754 h 1639693"/>
              <a:gd name="connsiteX44" fmla="*/ 1404287 w 1424802"/>
              <a:gd name="connsiteY44" fmla="*/ 1464380 h 1639693"/>
              <a:gd name="connsiteX45" fmla="*/ 1287447 w 1424802"/>
              <a:gd name="connsiteY45" fmla="*/ 1598662 h 1639693"/>
              <a:gd name="connsiteX46" fmla="*/ 1269862 w 1424802"/>
              <a:gd name="connsiteY46" fmla="*/ 1610385 h 1639693"/>
              <a:gd name="connsiteX47" fmla="*/ 1234693 w 1424802"/>
              <a:gd name="connsiteY47" fmla="*/ 1622108 h 1639693"/>
              <a:gd name="connsiteX48" fmla="*/ 1217108 w 1424802"/>
              <a:gd name="connsiteY48" fmla="*/ 1627970 h 1639693"/>
              <a:gd name="connsiteX49" fmla="*/ 1176078 w 1424802"/>
              <a:gd name="connsiteY49" fmla="*/ 1633831 h 1639693"/>
              <a:gd name="connsiteX50" fmla="*/ 1140908 w 1424802"/>
              <a:gd name="connsiteY50" fmla="*/ 1639693 h 1639693"/>
              <a:gd name="connsiteX51" fmla="*/ 900585 w 1424802"/>
              <a:gd name="connsiteY51" fmla="*/ 1633831 h 1639693"/>
              <a:gd name="connsiteX52" fmla="*/ 883001 w 1424802"/>
              <a:gd name="connsiteY52" fmla="*/ 1627970 h 1639693"/>
              <a:gd name="connsiteX53" fmla="*/ 800939 w 1424802"/>
              <a:gd name="connsiteY53" fmla="*/ 1622108 h 1639693"/>
              <a:gd name="connsiteX54" fmla="*/ 630955 w 1424802"/>
              <a:gd name="connsiteY54" fmla="*/ 1616247 h 1639693"/>
              <a:gd name="connsiteX55" fmla="*/ 572339 w 1424802"/>
              <a:gd name="connsiteY55" fmla="*/ 1610385 h 1639693"/>
              <a:gd name="connsiteX56" fmla="*/ 476812 w 1424802"/>
              <a:gd name="connsiteY56" fmla="*/ 1616247 h 1639693"/>
              <a:gd name="connsiteX57" fmla="*/ 155426 w 1424802"/>
              <a:gd name="connsiteY57" fmla="*/ 1586939 h 1639693"/>
              <a:gd name="connsiteX58" fmla="*/ 83418 w 1424802"/>
              <a:gd name="connsiteY58" fmla="*/ 1514931 h 1639693"/>
              <a:gd name="connsiteX59" fmla="*/ 50662 w 1424802"/>
              <a:gd name="connsiteY59" fmla="*/ 1463847 h 1639693"/>
              <a:gd name="connsiteX60" fmla="*/ 33078 w 1424802"/>
              <a:gd name="connsiteY60" fmla="*/ 1446262 h 1639693"/>
              <a:gd name="connsiteX61" fmla="*/ 21355 w 1424802"/>
              <a:gd name="connsiteY61" fmla="*/ 1405231 h 1639693"/>
              <a:gd name="connsiteX62" fmla="*/ 9632 w 1424802"/>
              <a:gd name="connsiteY62" fmla="*/ 1358339 h 1639693"/>
              <a:gd name="connsiteX63" fmla="*/ 9632 w 1424802"/>
              <a:gd name="connsiteY63" fmla="*/ 1159047 h 1639693"/>
              <a:gd name="connsiteX64" fmla="*/ 15493 w 1424802"/>
              <a:gd name="connsiteY64" fmla="*/ 1141462 h 1639693"/>
              <a:gd name="connsiteX65" fmla="*/ 21355 w 1424802"/>
              <a:gd name="connsiteY65" fmla="*/ 1088708 h 1639693"/>
              <a:gd name="connsiteX66" fmla="*/ 27216 w 1424802"/>
              <a:gd name="connsiteY66" fmla="*/ 1071124 h 1639693"/>
              <a:gd name="connsiteX67" fmla="*/ 33078 w 1424802"/>
              <a:gd name="connsiteY67" fmla="*/ 1035954 h 1639693"/>
              <a:gd name="connsiteX68" fmla="*/ 50662 w 1424802"/>
              <a:gd name="connsiteY68" fmla="*/ 994924 h 1639693"/>
              <a:gd name="connsiteX69" fmla="*/ 62385 w 1424802"/>
              <a:gd name="connsiteY69" fmla="*/ 953893 h 1639693"/>
              <a:gd name="connsiteX70" fmla="*/ 74108 w 1424802"/>
              <a:gd name="connsiteY70" fmla="*/ 930447 h 1639693"/>
              <a:gd name="connsiteX71" fmla="*/ 85832 w 1424802"/>
              <a:gd name="connsiteY71" fmla="*/ 889416 h 1639693"/>
              <a:gd name="connsiteX72" fmla="*/ 91693 w 1424802"/>
              <a:gd name="connsiteY72" fmla="*/ 871831 h 1639693"/>
              <a:gd name="connsiteX73" fmla="*/ 97555 w 1424802"/>
              <a:gd name="connsiteY73" fmla="*/ 842524 h 1639693"/>
              <a:gd name="connsiteX74" fmla="*/ 103416 w 1424802"/>
              <a:gd name="connsiteY74" fmla="*/ 824939 h 1639693"/>
              <a:gd name="connsiteX75" fmla="*/ 102366 w 1424802"/>
              <a:gd name="connsiteY75" fmla="*/ 762308 h 1639693"/>
              <a:gd name="connsiteX76" fmla="*/ 83418 w 1424802"/>
              <a:gd name="connsiteY76" fmla="*/ 650835 h 1639693"/>
              <a:gd name="connsiteX77" fmla="*/ 83418 w 1424802"/>
              <a:gd name="connsiteY77" fmla="*/ 506819 h 1639693"/>
              <a:gd name="connsiteX78" fmla="*/ 85832 w 1424802"/>
              <a:gd name="connsiteY78" fmla="*/ 479108 h 1639693"/>
              <a:gd name="connsiteX79" fmla="*/ 79970 w 1424802"/>
              <a:gd name="connsiteY79" fmla="*/ 461524 h 1639693"/>
              <a:gd name="connsiteX0" fmla="*/ 79970 w 1424802"/>
              <a:gd name="connsiteY0" fmla="*/ 461524 h 1639693"/>
              <a:gd name="connsiteX1" fmla="*/ 82870 w 1424802"/>
              <a:gd name="connsiteY1" fmla="*/ 362842 h 1639693"/>
              <a:gd name="connsiteX2" fmla="*/ 82870 w 1424802"/>
              <a:gd name="connsiteY2" fmla="*/ 290815 h 1639693"/>
              <a:gd name="connsiteX3" fmla="*/ 82870 w 1424802"/>
              <a:gd name="connsiteY3" fmla="*/ 290814 h 1639693"/>
              <a:gd name="connsiteX4" fmla="*/ 105996 w 1424802"/>
              <a:gd name="connsiteY4" fmla="*/ 137001 h 1639693"/>
              <a:gd name="connsiteX5" fmla="*/ 299018 w 1424802"/>
              <a:gd name="connsiteY5" fmla="*/ 2709 h 1639693"/>
              <a:gd name="connsiteX6" fmla="*/ 452136 w 1424802"/>
              <a:gd name="connsiteY6" fmla="*/ 68384 h 1639693"/>
              <a:gd name="connsiteX7" fmla="*/ 538129 w 1424802"/>
              <a:gd name="connsiteY7" fmla="*/ 104334 h 1639693"/>
              <a:gd name="connsiteX8" fmla="*/ 587214 w 1424802"/>
              <a:gd name="connsiteY8" fmla="*/ 146763 h 1639693"/>
              <a:gd name="connsiteX9" fmla="*/ 659264 w 1424802"/>
              <a:gd name="connsiteY9" fmla="*/ 146762 h 1639693"/>
              <a:gd name="connsiteX10" fmla="*/ 731313 w 1424802"/>
              <a:gd name="connsiteY10" fmla="*/ 146762 h 1639693"/>
              <a:gd name="connsiteX11" fmla="*/ 824385 w 1424802"/>
              <a:gd name="connsiteY11" fmla="*/ 314985 h 1639693"/>
              <a:gd name="connsiteX12" fmla="*/ 841970 w 1424802"/>
              <a:gd name="connsiteY12" fmla="*/ 332570 h 1639693"/>
              <a:gd name="connsiteX13" fmla="*/ 847832 w 1424802"/>
              <a:gd name="connsiteY13" fmla="*/ 350154 h 1639693"/>
              <a:gd name="connsiteX14" fmla="*/ 865416 w 1424802"/>
              <a:gd name="connsiteY14" fmla="*/ 356016 h 1639693"/>
              <a:gd name="connsiteX15" fmla="*/ 906447 w 1424802"/>
              <a:gd name="connsiteY15" fmla="*/ 391185 h 1639693"/>
              <a:gd name="connsiteX16" fmla="*/ 918170 w 1424802"/>
              <a:gd name="connsiteY16" fmla="*/ 408770 h 1639693"/>
              <a:gd name="connsiteX17" fmla="*/ 935755 w 1424802"/>
              <a:gd name="connsiteY17" fmla="*/ 420493 h 1639693"/>
              <a:gd name="connsiteX18" fmla="*/ 959201 w 1424802"/>
              <a:gd name="connsiteY18" fmla="*/ 438077 h 1639693"/>
              <a:gd name="connsiteX19" fmla="*/ 976785 w 1424802"/>
              <a:gd name="connsiteY19" fmla="*/ 449801 h 1639693"/>
              <a:gd name="connsiteX20" fmla="*/ 994370 w 1424802"/>
              <a:gd name="connsiteY20" fmla="*/ 473247 h 1639693"/>
              <a:gd name="connsiteX21" fmla="*/ 1035401 w 1424802"/>
              <a:gd name="connsiteY21" fmla="*/ 496693 h 1639693"/>
              <a:gd name="connsiteX22" fmla="*/ 1058847 w 1424802"/>
              <a:gd name="connsiteY22" fmla="*/ 526001 h 1639693"/>
              <a:gd name="connsiteX23" fmla="*/ 1099878 w 1424802"/>
              <a:gd name="connsiteY23" fmla="*/ 561170 h 1639693"/>
              <a:gd name="connsiteX24" fmla="*/ 1129185 w 1424802"/>
              <a:gd name="connsiteY24" fmla="*/ 602201 h 1639693"/>
              <a:gd name="connsiteX25" fmla="*/ 1135047 w 1424802"/>
              <a:gd name="connsiteY25" fmla="*/ 619785 h 1639693"/>
              <a:gd name="connsiteX26" fmla="*/ 1170216 w 1424802"/>
              <a:gd name="connsiteY26" fmla="*/ 660816 h 1639693"/>
              <a:gd name="connsiteX27" fmla="*/ 1187801 w 1424802"/>
              <a:gd name="connsiteY27" fmla="*/ 684262 h 1639693"/>
              <a:gd name="connsiteX28" fmla="*/ 1211247 w 1424802"/>
              <a:gd name="connsiteY28" fmla="*/ 719431 h 1639693"/>
              <a:gd name="connsiteX29" fmla="*/ 1240555 w 1424802"/>
              <a:gd name="connsiteY29" fmla="*/ 760462 h 1639693"/>
              <a:gd name="connsiteX30" fmla="*/ 1264001 w 1424802"/>
              <a:gd name="connsiteY30" fmla="*/ 807354 h 1639693"/>
              <a:gd name="connsiteX31" fmla="*/ 1269862 w 1424802"/>
              <a:gd name="connsiteY31" fmla="*/ 824939 h 1639693"/>
              <a:gd name="connsiteX32" fmla="*/ 1287447 w 1424802"/>
              <a:gd name="connsiteY32" fmla="*/ 854247 h 1639693"/>
              <a:gd name="connsiteX33" fmla="*/ 1299170 w 1424802"/>
              <a:gd name="connsiteY33" fmla="*/ 877693 h 1639693"/>
              <a:gd name="connsiteX34" fmla="*/ 1316755 w 1424802"/>
              <a:gd name="connsiteY34" fmla="*/ 895277 h 1639693"/>
              <a:gd name="connsiteX35" fmla="*/ 1340201 w 1424802"/>
              <a:gd name="connsiteY35" fmla="*/ 936308 h 1639693"/>
              <a:gd name="connsiteX36" fmla="*/ 1351924 w 1424802"/>
              <a:gd name="connsiteY36" fmla="*/ 959754 h 1639693"/>
              <a:gd name="connsiteX37" fmla="*/ 1357785 w 1424802"/>
              <a:gd name="connsiteY37" fmla="*/ 977339 h 1639693"/>
              <a:gd name="connsiteX38" fmla="*/ 1369508 w 1424802"/>
              <a:gd name="connsiteY38" fmla="*/ 994924 h 1639693"/>
              <a:gd name="connsiteX39" fmla="*/ 1381232 w 1424802"/>
              <a:gd name="connsiteY39" fmla="*/ 1024231 h 1639693"/>
              <a:gd name="connsiteX40" fmla="*/ 1398816 w 1424802"/>
              <a:gd name="connsiteY40" fmla="*/ 1100431 h 1639693"/>
              <a:gd name="connsiteX41" fmla="*/ 1410539 w 1424802"/>
              <a:gd name="connsiteY41" fmla="*/ 1170770 h 1639693"/>
              <a:gd name="connsiteX42" fmla="*/ 1416401 w 1424802"/>
              <a:gd name="connsiteY42" fmla="*/ 1188354 h 1639693"/>
              <a:gd name="connsiteX43" fmla="*/ 1410539 w 1424802"/>
              <a:gd name="connsiteY43" fmla="*/ 1340754 h 1639693"/>
              <a:gd name="connsiteX44" fmla="*/ 1404287 w 1424802"/>
              <a:gd name="connsiteY44" fmla="*/ 1464380 h 1639693"/>
              <a:gd name="connsiteX45" fmla="*/ 1287447 w 1424802"/>
              <a:gd name="connsiteY45" fmla="*/ 1598662 h 1639693"/>
              <a:gd name="connsiteX46" fmla="*/ 1269862 w 1424802"/>
              <a:gd name="connsiteY46" fmla="*/ 1610385 h 1639693"/>
              <a:gd name="connsiteX47" fmla="*/ 1234693 w 1424802"/>
              <a:gd name="connsiteY47" fmla="*/ 1622108 h 1639693"/>
              <a:gd name="connsiteX48" fmla="*/ 1217108 w 1424802"/>
              <a:gd name="connsiteY48" fmla="*/ 1627970 h 1639693"/>
              <a:gd name="connsiteX49" fmla="*/ 1176078 w 1424802"/>
              <a:gd name="connsiteY49" fmla="*/ 1633831 h 1639693"/>
              <a:gd name="connsiteX50" fmla="*/ 1140908 w 1424802"/>
              <a:gd name="connsiteY50" fmla="*/ 1639693 h 1639693"/>
              <a:gd name="connsiteX51" fmla="*/ 900585 w 1424802"/>
              <a:gd name="connsiteY51" fmla="*/ 1633831 h 1639693"/>
              <a:gd name="connsiteX52" fmla="*/ 883001 w 1424802"/>
              <a:gd name="connsiteY52" fmla="*/ 1627970 h 1639693"/>
              <a:gd name="connsiteX53" fmla="*/ 800939 w 1424802"/>
              <a:gd name="connsiteY53" fmla="*/ 1622108 h 1639693"/>
              <a:gd name="connsiteX54" fmla="*/ 630955 w 1424802"/>
              <a:gd name="connsiteY54" fmla="*/ 1616247 h 1639693"/>
              <a:gd name="connsiteX55" fmla="*/ 572339 w 1424802"/>
              <a:gd name="connsiteY55" fmla="*/ 1610385 h 1639693"/>
              <a:gd name="connsiteX56" fmla="*/ 476812 w 1424802"/>
              <a:gd name="connsiteY56" fmla="*/ 1616247 h 1639693"/>
              <a:gd name="connsiteX57" fmla="*/ 155426 w 1424802"/>
              <a:gd name="connsiteY57" fmla="*/ 1586939 h 1639693"/>
              <a:gd name="connsiteX58" fmla="*/ 83418 w 1424802"/>
              <a:gd name="connsiteY58" fmla="*/ 1514931 h 1639693"/>
              <a:gd name="connsiteX59" fmla="*/ 50662 w 1424802"/>
              <a:gd name="connsiteY59" fmla="*/ 1463847 h 1639693"/>
              <a:gd name="connsiteX60" fmla="*/ 33078 w 1424802"/>
              <a:gd name="connsiteY60" fmla="*/ 1446262 h 1639693"/>
              <a:gd name="connsiteX61" fmla="*/ 21355 w 1424802"/>
              <a:gd name="connsiteY61" fmla="*/ 1405231 h 1639693"/>
              <a:gd name="connsiteX62" fmla="*/ 9632 w 1424802"/>
              <a:gd name="connsiteY62" fmla="*/ 1358339 h 1639693"/>
              <a:gd name="connsiteX63" fmla="*/ 9632 w 1424802"/>
              <a:gd name="connsiteY63" fmla="*/ 1159047 h 1639693"/>
              <a:gd name="connsiteX64" fmla="*/ 15493 w 1424802"/>
              <a:gd name="connsiteY64" fmla="*/ 1141462 h 1639693"/>
              <a:gd name="connsiteX65" fmla="*/ 21355 w 1424802"/>
              <a:gd name="connsiteY65" fmla="*/ 1088708 h 1639693"/>
              <a:gd name="connsiteX66" fmla="*/ 27216 w 1424802"/>
              <a:gd name="connsiteY66" fmla="*/ 1071124 h 1639693"/>
              <a:gd name="connsiteX67" fmla="*/ 33078 w 1424802"/>
              <a:gd name="connsiteY67" fmla="*/ 1035954 h 1639693"/>
              <a:gd name="connsiteX68" fmla="*/ 50662 w 1424802"/>
              <a:gd name="connsiteY68" fmla="*/ 994924 h 1639693"/>
              <a:gd name="connsiteX69" fmla="*/ 62385 w 1424802"/>
              <a:gd name="connsiteY69" fmla="*/ 953893 h 1639693"/>
              <a:gd name="connsiteX70" fmla="*/ 74108 w 1424802"/>
              <a:gd name="connsiteY70" fmla="*/ 930447 h 1639693"/>
              <a:gd name="connsiteX71" fmla="*/ 85832 w 1424802"/>
              <a:gd name="connsiteY71" fmla="*/ 889416 h 1639693"/>
              <a:gd name="connsiteX72" fmla="*/ 91693 w 1424802"/>
              <a:gd name="connsiteY72" fmla="*/ 871831 h 1639693"/>
              <a:gd name="connsiteX73" fmla="*/ 97555 w 1424802"/>
              <a:gd name="connsiteY73" fmla="*/ 842524 h 1639693"/>
              <a:gd name="connsiteX74" fmla="*/ 103416 w 1424802"/>
              <a:gd name="connsiteY74" fmla="*/ 824939 h 1639693"/>
              <a:gd name="connsiteX75" fmla="*/ 102366 w 1424802"/>
              <a:gd name="connsiteY75" fmla="*/ 762308 h 1639693"/>
              <a:gd name="connsiteX76" fmla="*/ 83418 w 1424802"/>
              <a:gd name="connsiteY76" fmla="*/ 650835 h 1639693"/>
              <a:gd name="connsiteX77" fmla="*/ 83418 w 1424802"/>
              <a:gd name="connsiteY77" fmla="*/ 506819 h 1639693"/>
              <a:gd name="connsiteX78" fmla="*/ 85832 w 1424802"/>
              <a:gd name="connsiteY78" fmla="*/ 479108 h 1639693"/>
              <a:gd name="connsiteX79" fmla="*/ 79970 w 1424802"/>
              <a:gd name="connsiteY79" fmla="*/ 461524 h 1639693"/>
              <a:gd name="connsiteX0" fmla="*/ 79970 w 1424802"/>
              <a:gd name="connsiteY0" fmla="*/ 461524 h 1639693"/>
              <a:gd name="connsiteX1" fmla="*/ 82870 w 1424802"/>
              <a:gd name="connsiteY1" fmla="*/ 362842 h 1639693"/>
              <a:gd name="connsiteX2" fmla="*/ 82870 w 1424802"/>
              <a:gd name="connsiteY2" fmla="*/ 290815 h 1639693"/>
              <a:gd name="connsiteX3" fmla="*/ 82870 w 1424802"/>
              <a:gd name="connsiteY3" fmla="*/ 290814 h 1639693"/>
              <a:gd name="connsiteX4" fmla="*/ 105996 w 1424802"/>
              <a:gd name="connsiteY4" fmla="*/ 137001 h 1639693"/>
              <a:gd name="connsiteX5" fmla="*/ 299018 w 1424802"/>
              <a:gd name="connsiteY5" fmla="*/ 2709 h 1639693"/>
              <a:gd name="connsiteX6" fmla="*/ 452136 w 1424802"/>
              <a:gd name="connsiteY6" fmla="*/ 68384 h 1639693"/>
              <a:gd name="connsiteX7" fmla="*/ 538129 w 1424802"/>
              <a:gd name="connsiteY7" fmla="*/ 104334 h 1639693"/>
              <a:gd name="connsiteX8" fmla="*/ 620226 w 1424802"/>
              <a:gd name="connsiteY8" fmla="*/ 120669 h 1639693"/>
              <a:gd name="connsiteX9" fmla="*/ 659264 w 1424802"/>
              <a:gd name="connsiteY9" fmla="*/ 146762 h 1639693"/>
              <a:gd name="connsiteX10" fmla="*/ 731313 w 1424802"/>
              <a:gd name="connsiteY10" fmla="*/ 146762 h 1639693"/>
              <a:gd name="connsiteX11" fmla="*/ 824385 w 1424802"/>
              <a:gd name="connsiteY11" fmla="*/ 314985 h 1639693"/>
              <a:gd name="connsiteX12" fmla="*/ 841970 w 1424802"/>
              <a:gd name="connsiteY12" fmla="*/ 332570 h 1639693"/>
              <a:gd name="connsiteX13" fmla="*/ 847832 w 1424802"/>
              <a:gd name="connsiteY13" fmla="*/ 350154 h 1639693"/>
              <a:gd name="connsiteX14" fmla="*/ 865416 w 1424802"/>
              <a:gd name="connsiteY14" fmla="*/ 356016 h 1639693"/>
              <a:gd name="connsiteX15" fmla="*/ 906447 w 1424802"/>
              <a:gd name="connsiteY15" fmla="*/ 391185 h 1639693"/>
              <a:gd name="connsiteX16" fmla="*/ 918170 w 1424802"/>
              <a:gd name="connsiteY16" fmla="*/ 408770 h 1639693"/>
              <a:gd name="connsiteX17" fmla="*/ 935755 w 1424802"/>
              <a:gd name="connsiteY17" fmla="*/ 420493 h 1639693"/>
              <a:gd name="connsiteX18" fmla="*/ 959201 w 1424802"/>
              <a:gd name="connsiteY18" fmla="*/ 438077 h 1639693"/>
              <a:gd name="connsiteX19" fmla="*/ 976785 w 1424802"/>
              <a:gd name="connsiteY19" fmla="*/ 449801 h 1639693"/>
              <a:gd name="connsiteX20" fmla="*/ 994370 w 1424802"/>
              <a:gd name="connsiteY20" fmla="*/ 473247 h 1639693"/>
              <a:gd name="connsiteX21" fmla="*/ 1035401 w 1424802"/>
              <a:gd name="connsiteY21" fmla="*/ 496693 h 1639693"/>
              <a:gd name="connsiteX22" fmla="*/ 1058847 w 1424802"/>
              <a:gd name="connsiteY22" fmla="*/ 526001 h 1639693"/>
              <a:gd name="connsiteX23" fmla="*/ 1099878 w 1424802"/>
              <a:gd name="connsiteY23" fmla="*/ 561170 h 1639693"/>
              <a:gd name="connsiteX24" fmla="*/ 1129185 w 1424802"/>
              <a:gd name="connsiteY24" fmla="*/ 602201 h 1639693"/>
              <a:gd name="connsiteX25" fmla="*/ 1135047 w 1424802"/>
              <a:gd name="connsiteY25" fmla="*/ 619785 h 1639693"/>
              <a:gd name="connsiteX26" fmla="*/ 1170216 w 1424802"/>
              <a:gd name="connsiteY26" fmla="*/ 660816 h 1639693"/>
              <a:gd name="connsiteX27" fmla="*/ 1187801 w 1424802"/>
              <a:gd name="connsiteY27" fmla="*/ 684262 h 1639693"/>
              <a:gd name="connsiteX28" fmla="*/ 1211247 w 1424802"/>
              <a:gd name="connsiteY28" fmla="*/ 719431 h 1639693"/>
              <a:gd name="connsiteX29" fmla="*/ 1240555 w 1424802"/>
              <a:gd name="connsiteY29" fmla="*/ 760462 h 1639693"/>
              <a:gd name="connsiteX30" fmla="*/ 1264001 w 1424802"/>
              <a:gd name="connsiteY30" fmla="*/ 807354 h 1639693"/>
              <a:gd name="connsiteX31" fmla="*/ 1269862 w 1424802"/>
              <a:gd name="connsiteY31" fmla="*/ 824939 h 1639693"/>
              <a:gd name="connsiteX32" fmla="*/ 1287447 w 1424802"/>
              <a:gd name="connsiteY32" fmla="*/ 854247 h 1639693"/>
              <a:gd name="connsiteX33" fmla="*/ 1299170 w 1424802"/>
              <a:gd name="connsiteY33" fmla="*/ 877693 h 1639693"/>
              <a:gd name="connsiteX34" fmla="*/ 1316755 w 1424802"/>
              <a:gd name="connsiteY34" fmla="*/ 895277 h 1639693"/>
              <a:gd name="connsiteX35" fmla="*/ 1340201 w 1424802"/>
              <a:gd name="connsiteY35" fmla="*/ 936308 h 1639693"/>
              <a:gd name="connsiteX36" fmla="*/ 1351924 w 1424802"/>
              <a:gd name="connsiteY36" fmla="*/ 959754 h 1639693"/>
              <a:gd name="connsiteX37" fmla="*/ 1357785 w 1424802"/>
              <a:gd name="connsiteY37" fmla="*/ 977339 h 1639693"/>
              <a:gd name="connsiteX38" fmla="*/ 1369508 w 1424802"/>
              <a:gd name="connsiteY38" fmla="*/ 994924 h 1639693"/>
              <a:gd name="connsiteX39" fmla="*/ 1381232 w 1424802"/>
              <a:gd name="connsiteY39" fmla="*/ 1024231 h 1639693"/>
              <a:gd name="connsiteX40" fmla="*/ 1398816 w 1424802"/>
              <a:gd name="connsiteY40" fmla="*/ 1100431 h 1639693"/>
              <a:gd name="connsiteX41" fmla="*/ 1410539 w 1424802"/>
              <a:gd name="connsiteY41" fmla="*/ 1170770 h 1639693"/>
              <a:gd name="connsiteX42" fmla="*/ 1416401 w 1424802"/>
              <a:gd name="connsiteY42" fmla="*/ 1188354 h 1639693"/>
              <a:gd name="connsiteX43" fmla="*/ 1410539 w 1424802"/>
              <a:gd name="connsiteY43" fmla="*/ 1340754 h 1639693"/>
              <a:gd name="connsiteX44" fmla="*/ 1404287 w 1424802"/>
              <a:gd name="connsiteY44" fmla="*/ 1464380 h 1639693"/>
              <a:gd name="connsiteX45" fmla="*/ 1287447 w 1424802"/>
              <a:gd name="connsiteY45" fmla="*/ 1598662 h 1639693"/>
              <a:gd name="connsiteX46" fmla="*/ 1269862 w 1424802"/>
              <a:gd name="connsiteY46" fmla="*/ 1610385 h 1639693"/>
              <a:gd name="connsiteX47" fmla="*/ 1234693 w 1424802"/>
              <a:gd name="connsiteY47" fmla="*/ 1622108 h 1639693"/>
              <a:gd name="connsiteX48" fmla="*/ 1217108 w 1424802"/>
              <a:gd name="connsiteY48" fmla="*/ 1627970 h 1639693"/>
              <a:gd name="connsiteX49" fmla="*/ 1176078 w 1424802"/>
              <a:gd name="connsiteY49" fmla="*/ 1633831 h 1639693"/>
              <a:gd name="connsiteX50" fmla="*/ 1140908 w 1424802"/>
              <a:gd name="connsiteY50" fmla="*/ 1639693 h 1639693"/>
              <a:gd name="connsiteX51" fmla="*/ 900585 w 1424802"/>
              <a:gd name="connsiteY51" fmla="*/ 1633831 h 1639693"/>
              <a:gd name="connsiteX52" fmla="*/ 883001 w 1424802"/>
              <a:gd name="connsiteY52" fmla="*/ 1627970 h 1639693"/>
              <a:gd name="connsiteX53" fmla="*/ 800939 w 1424802"/>
              <a:gd name="connsiteY53" fmla="*/ 1622108 h 1639693"/>
              <a:gd name="connsiteX54" fmla="*/ 630955 w 1424802"/>
              <a:gd name="connsiteY54" fmla="*/ 1616247 h 1639693"/>
              <a:gd name="connsiteX55" fmla="*/ 572339 w 1424802"/>
              <a:gd name="connsiteY55" fmla="*/ 1610385 h 1639693"/>
              <a:gd name="connsiteX56" fmla="*/ 476812 w 1424802"/>
              <a:gd name="connsiteY56" fmla="*/ 1616247 h 1639693"/>
              <a:gd name="connsiteX57" fmla="*/ 155426 w 1424802"/>
              <a:gd name="connsiteY57" fmla="*/ 1586939 h 1639693"/>
              <a:gd name="connsiteX58" fmla="*/ 83418 w 1424802"/>
              <a:gd name="connsiteY58" fmla="*/ 1514931 h 1639693"/>
              <a:gd name="connsiteX59" fmla="*/ 50662 w 1424802"/>
              <a:gd name="connsiteY59" fmla="*/ 1463847 h 1639693"/>
              <a:gd name="connsiteX60" fmla="*/ 33078 w 1424802"/>
              <a:gd name="connsiteY60" fmla="*/ 1446262 h 1639693"/>
              <a:gd name="connsiteX61" fmla="*/ 21355 w 1424802"/>
              <a:gd name="connsiteY61" fmla="*/ 1405231 h 1639693"/>
              <a:gd name="connsiteX62" fmla="*/ 9632 w 1424802"/>
              <a:gd name="connsiteY62" fmla="*/ 1358339 h 1639693"/>
              <a:gd name="connsiteX63" fmla="*/ 9632 w 1424802"/>
              <a:gd name="connsiteY63" fmla="*/ 1159047 h 1639693"/>
              <a:gd name="connsiteX64" fmla="*/ 15493 w 1424802"/>
              <a:gd name="connsiteY64" fmla="*/ 1141462 h 1639693"/>
              <a:gd name="connsiteX65" fmla="*/ 21355 w 1424802"/>
              <a:gd name="connsiteY65" fmla="*/ 1088708 h 1639693"/>
              <a:gd name="connsiteX66" fmla="*/ 27216 w 1424802"/>
              <a:gd name="connsiteY66" fmla="*/ 1071124 h 1639693"/>
              <a:gd name="connsiteX67" fmla="*/ 33078 w 1424802"/>
              <a:gd name="connsiteY67" fmla="*/ 1035954 h 1639693"/>
              <a:gd name="connsiteX68" fmla="*/ 50662 w 1424802"/>
              <a:gd name="connsiteY68" fmla="*/ 994924 h 1639693"/>
              <a:gd name="connsiteX69" fmla="*/ 62385 w 1424802"/>
              <a:gd name="connsiteY69" fmla="*/ 953893 h 1639693"/>
              <a:gd name="connsiteX70" fmla="*/ 74108 w 1424802"/>
              <a:gd name="connsiteY70" fmla="*/ 930447 h 1639693"/>
              <a:gd name="connsiteX71" fmla="*/ 85832 w 1424802"/>
              <a:gd name="connsiteY71" fmla="*/ 889416 h 1639693"/>
              <a:gd name="connsiteX72" fmla="*/ 91693 w 1424802"/>
              <a:gd name="connsiteY72" fmla="*/ 871831 h 1639693"/>
              <a:gd name="connsiteX73" fmla="*/ 97555 w 1424802"/>
              <a:gd name="connsiteY73" fmla="*/ 842524 h 1639693"/>
              <a:gd name="connsiteX74" fmla="*/ 103416 w 1424802"/>
              <a:gd name="connsiteY74" fmla="*/ 824939 h 1639693"/>
              <a:gd name="connsiteX75" fmla="*/ 102366 w 1424802"/>
              <a:gd name="connsiteY75" fmla="*/ 762308 h 1639693"/>
              <a:gd name="connsiteX76" fmla="*/ 83418 w 1424802"/>
              <a:gd name="connsiteY76" fmla="*/ 650835 h 1639693"/>
              <a:gd name="connsiteX77" fmla="*/ 83418 w 1424802"/>
              <a:gd name="connsiteY77" fmla="*/ 506819 h 1639693"/>
              <a:gd name="connsiteX78" fmla="*/ 85832 w 1424802"/>
              <a:gd name="connsiteY78" fmla="*/ 479108 h 1639693"/>
              <a:gd name="connsiteX79" fmla="*/ 79970 w 1424802"/>
              <a:gd name="connsiteY79" fmla="*/ 461524 h 1639693"/>
              <a:gd name="connsiteX0" fmla="*/ 79970 w 1424802"/>
              <a:gd name="connsiteY0" fmla="*/ 461524 h 1639693"/>
              <a:gd name="connsiteX1" fmla="*/ 82870 w 1424802"/>
              <a:gd name="connsiteY1" fmla="*/ 362842 h 1639693"/>
              <a:gd name="connsiteX2" fmla="*/ 82870 w 1424802"/>
              <a:gd name="connsiteY2" fmla="*/ 290815 h 1639693"/>
              <a:gd name="connsiteX3" fmla="*/ 82870 w 1424802"/>
              <a:gd name="connsiteY3" fmla="*/ 290814 h 1639693"/>
              <a:gd name="connsiteX4" fmla="*/ 105996 w 1424802"/>
              <a:gd name="connsiteY4" fmla="*/ 137001 h 1639693"/>
              <a:gd name="connsiteX5" fmla="*/ 299018 w 1424802"/>
              <a:gd name="connsiteY5" fmla="*/ 2709 h 1639693"/>
              <a:gd name="connsiteX6" fmla="*/ 452136 w 1424802"/>
              <a:gd name="connsiteY6" fmla="*/ 68384 h 1639693"/>
              <a:gd name="connsiteX7" fmla="*/ 538129 w 1424802"/>
              <a:gd name="connsiteY7" fmla="*/ 104334 h 1639693"/>
              <a:gd name="connsiteX8" fmla="*/ 620226 w 1424802"/>
              <a:gd name="connsiteY8" fmla="*/ 120669 h 1639693"/>
              <a:gd name="connsiteX9" fmla="*/ 659264 w 1424802"/>
              <a:gd name="connsiteY9" fmla="*/ 146762 h 1639693"/>
              <a:gd name="connsiteX10" fmla="*/ 741534 w 1424802"/>
              <a:gd name="connsiteY10" fmla="*/ 192532 h 1639693"/>
              <a:gd name="connsiteX11" fmla="*/ 824385 w 1424802"/>
              <a:gd name="connsiteY11" fmla="*/ 314985 h 1639693"/>
              <a:gd name="connsiteX12" fmla="*/ 841970 w 1424802"/>
              <a:gd name="connsiteY12" fmla="*/ 332570 h 1639693"/>
              <a:gd name="connsiteX13" fmla="*/ 847832 w 1424802"/>
              <a:gd name="connsiteY13" fmla="*/ 350154 h 1639693"/>
              <a:gd name="connsiteX14" fmla="*/ 865416 w 1424802"/>
              <a:gd name="connsiteY14" fmla="*/ 356016 h 1639693"/>
              <a:gd name="connsiteX15" fmla="*/ 906447 w 1424802"/>
              <a:gd name="connsiteY15" fmla="*/ 391185 h 1639693"/>
              <a:gd name="connsiteX16" fmla="*/ 918170 w 1424802"/>
              <a:gd name="connsiteY16" fmla="*/ 408770 h 1639693"/>
              <a:gd name="connsiteX17" fmla="*/ 935755 w 1424802"/>
              <a:gd name="connsiteY17" fmla="*/ 420493 h 1639693"/>
              <a:gd name="connsiteX18" fmla="*/ 959201 w 1424802"/>
              <a:gd name="connsiteY18" fmla="*/ 438077 h 1639693"/>
              <a:gd name="connsiteX19" fmla="*/ 976785 w 1424802"/>
              <a:gd name="connsiteY19" fmla="*/ 449801 h 1639693"/>
              <a:gd name="connsiteX20" fmla="*/ 994370 w 1424802"/>
              <a:gd name="connsiteY20" fmla="*/ 473247 h 1639693"/>
              <a:gd name="connsiteX21" fmla="*/ 1035401 w 1424802"/>
              <a:gd name="connsiteY21" fmla="*/ 496693 h 1639693"/>
              <a:gd name="connsiteX22" fmla="*/ 1058847 w 1424802"/>
              <a:gd name="connsiteY22" fmla="*/ 526001 h 1639693"/>
              <a:gd name="connsiteX23" fmla="*/ 1099878 w 1424802"/>
              <a:gd name="connsiteY23" fmla="*/ 561170 h 1639693"/>
              <a:gd name="connsiteX24" fmla="*/ 1129185 w 1424802"/>
              <a:gd name="connsiteY24" fmla="*/ 602201 h 1639693"/>
              <a:gd name="connsiteX25" fmla="*/ 1135047 w 1424802"/>
              <a:gd name="connsiteY25" fmla="*/ 619785 h 1639693"/>
              <a:gd name="connsiteX26" fmla="*/ 1170216 w 1424802"/>
              <a:gd name="connsiteY26" fmla="*/ 660816 h 1639693"/>
              <a:gd name="connsiteX27" fmla="*/ 1187801 w 1424802"/>
              <a:gd name="connsiteY27" fmla="*/ 684262 h 1639693"/>
              <a:gd name="connsiteX28" fmla="*/ 1211247 w 1424802"/>
              <a:gd name="connsiteY28" fmla="*/ 719431 h 1639693"/>
              <a:gd name="connsiteX29" fmla="*/ 1240555 w 1424802"/>
              <a:gd name="connsiteY29" fmla="*/ 760462 h 1639693"/>
              <a:gd name="connsiteX30" fmla="*/ 1264001 w 1424802"/>
              <a:gd name="connsiteY30" fmla="*/ 807354 h 1639693"/>
              <a:gd name="connsiteX31" fmla="*/ 1269862 w 1424802"/>
              <a:gd name="connsiteY31" fmla="*/ 824939 h 1639693"/>
              <a:gd name="connsiteX32" fmla="*/ 1287447 w 1424802"/>
              <a:gd name="connsiteY32" fmla="*/ 854247 h 1639693"/>
              <a:gd name="connsiteX33" fmla="*/ 1299170 w 1424802"/>
              <a:gd name="connsiteY33" fmla="*/ 877693 h 1639693"/>
              <a:gd name="connsiteX34" fmla="*/ 1316755 w 1424802"/>
              <a:gd name="connsiteY34" fmla="*/ 895277 h 1639693"/>
              <a:gd name="connsiteX35" fmla="*/ 1340201 w 1424802"/>
              <a:gd name="connsiteY35" fmla="*/ 936308 h 1639693"/>
              <a:gd name="connsiteX36" fmla="*/ 1351924 w 1424802"/>
              <a:gd name="connsiteY36" fmla="*/ 959754 h 1639693"/>
              <a:gd name="connsiteX37" fmla="*/ 1357785 w 1424802"/>
              <a:gd name="connsiteY37" fmla="*/ 977339 h 1639693"/>
              <a:gd name="connsiteX38" fmla="*/ 1369508 w 1424802"/>
              <a:gd name="connsiteY38" fmla="*/ 994924 h 1639693"/>
              <a:gd name="connsiteX39" fmla="*/ 1381232 w 1424802"/>
              <a:gd name="connsiteY39" fmla="*/ 1024231 h 1639693"/>
              <a:gd name="connsiteX40" fmla="*/ 1398816 w 1424802"/>
              <a:gd name="connsiteY40" fmla="*/ 1100431 h 1639693"/>
              <a:gd name="connsiteX41" fmla="*/ 1410539 w 1424802"/>
              <a:gd name="connsiteY41" fmla="*/ 1170770 h 1639693"/>
              <a:gd name="connsiteX42" fmla="*/ 1416401 w 1424802"/>
              <a:gd name="connsiteY42" fmla="*/ 1188354 h 1639693"/>
              <a:gd name="connsiteX43" fmla="*/ 1410539 w 1424802"/>
              <a:gd name="connsiteY43" fmla="*/ 1340754 h 1639693"/>
              <a:gd name="connsiteX44" fmla="*/ 1404287 w 1424802"/>
              <a:gd name="connsiteY44" fmla="*/ 1464380 h 1639693"/>
              <a:gd name="connsiteX45" fmla="*/ 1287447 w 1424802"/>
              <a:gd name="connsiteY45" fmla="*/ 1598662 h 1639693"/>
              <a:gd name="connsiteX46" fmla="*/ 1269862 w 1424802"/>
              <a:gd name="connsiteY46" fmla="*/ 1610385 h 1639693"/>
              <a:gd name="connsiteX47" fmla="*/ 1234693 w 1424802"/>
              <a:gd name="connsiteY47" fmla="*/ 1622108 h 1639693"/>
              <a:gd name="connsiteX48" fmla="*/ 1217108 w 1424802"/>
              <a:gd name="connsiteY48" fmla="*/ 1627970 h 1639693"/>
              <a:gd name="connsiteX49" fmla="*/ 1176078 w 1424802"/>
              <a:gd name="connsiteY49" fmla="*/ 1633831 h 1639693"/>
              <a:gd name="connsiteX50" fmla="*/ 1140908 w 1424802"/>
              <a:gd name="connsiteY50" fmla="*/ 1639693 h 1639693"/>
              <a:gd name="connsiteX51" fmla="*/ 900585 w 1424802"/>
              <a:gd name="connsiteY51" fmla="*/ 1633831 h 1639693"/>
              <a:gd name="connsiteX52" fmla="*/ 883001 w 1424802"/>
              <a:gd name="connsiteY52" fmla="*/ 1627970 h 1639693"/>
              <a:gd name="connsiteX53" fmla="*/ 800939 w 1424802"/>
              <a:gd name="connsiteY53" fmla="*/ 1622108 h 1639693"/>
              <a:gd name="connsiteX54" fmla="*/ 630955 w 1424802"/>
              <a:gd name="connsiteY54" fmla="*/ 1616247 h 1639693"/>
              <a:gd name="connsiteX55" fmla="*/ 572339 w 1424802"/>
              <a:gd name="connsiteY55" fmla="*/ 1610385 h 1639693"/>
              <a:gd name="connsiteX56" fmla="*/ 476812 w 1424802"/>
              <a:gd name="connsiteY56" fmla="*/ 1616247 h 1639693"/>
              <a:gd name="connsiteX57" fmla="*/ 155426 w 1424802"/>
              <a:gd name="connsiteY57" fmla="*/ 1586939 h 1639693"/>
              <a:gd name="connsiteX58" fmla="*/ 83418 w 1424802"/>
              <a:gd name="connsiteY58" fmla="*/ 1514931 h 1639693"/>
              <a:gd name="connsiteX59" fmla="*/ 50662 w 1424802"/>
              <a:gd name="connsiteY59" fmla="*/ 1463847 h 1639693"/>
              <a:gd name="connsiteX60" fmla="*/ 33078 w 1424802"/>
              <a:gd name="connsiteY60" fmla="*/ 1446262 h 1639693"/>
              <a:gd name="connsiteX61" fmla="*/ 21355 w 1424802"/>
              <a:gd name="connsiteY61" fmla="*/ 1405231 h 1639693"/>
              <a:gd name="connsiteX62" fmla="*/ 9632 w 1424802"/>
              <a:gd name="connsiteY62" fmla="*/ 1358339 h 1639693"/>
              <a:gd name="connsiteX63" fmla="*/ 9632 w 1424802"/>
              <a:gd name="connsiteY63" fmla="*/ 1159047 h 1639693"/>
              <a:gd name="connsiteX64" fmla="*/ 15493 w 1424802"/>
              <a:gd name="connsiteY64" fmla="*/ 1141462 h 1639693"/>
              <a:gd name="connsiteX65" fmla="*/ 21355 w 1424802"/>
              <a:gd name="connsiteY65" fmla="*/ 1088708 h 1639693"/>
              <a:gd name="connsiteX66" fmla="*/ 27216 w 1424802"/>
              <a:gd name="connsiteY66" fmla="*/ 1071124 h 1639693"/>
              <a:gd name="connsiteX67" fmla="*/ 33078 w 1424802"/>
              <a:gd name="connsiteY67" fmla="*/ 1035954 h 1639693"/>
              <a:gd name="connsiteX68" fmla="*/ 50662 w 1424802"/>
              <a:gd name="connsiteY68" fmla="*/ 994924 h 1639693"/>
              <a:gd name="connsiteX69" fmla="*/ 62385 w 1424802"/>
              <a:gd name="connsiteY69" fmla="*/ 953893 h 1639693"/>
              <a:gd name="connsiteX70" fmla="*/ 74108 w 1424802"/>
              <a:gd name="connsiteY70" fmla="*/ 930447 h 1639693"/>
              <a:gd name="connsiteX71" fmla="*/ 85832 w 1424802"/>
              <a:gd name="connsiteY71" fmla="*/ 889416 h 1639693"/>
              <a:gd name="connsiteX72" fmla="*/ 91693 w 1424802"/>
              <a:gd name="connsiteY72" fmla="*/ 871831 h 1639693"/>
              <a:gd name="connsiteX73" fmla="*/ 97555 w 1424802"/>
              <a:gd name="connsiteY73" fmla="*/ 842524 h 1639693"/>
              <a:gd name="connsiteX74" fmla="*/ 103416 w 1424802"/>
              <a:gd name="connsiteY74" fmla="*/ 824939 h 1639693"/>
              <a:gd name="connsiteX75" fmla="*/ 102366 w 1424802"/>
              <a:gd name="connsiteY75" fmla="*/ 762308 h 1639693"/>
              <a:gd name="connsiteX76" fmla="*/ 83418 w 1424802"/>
              <a:gd name="connsiteY76" fmla="*/ 650835 h 1639693"/>
              <a:gd name="connsiteX77" fmla="*/ 83418 w 1424802"/>
              <a:gd name="connsiteY77" fmla="*/ 506819 h 1639693"/>
              <a:gd name="connsiteX78" fmla="*/ 85832 w 1424802"/>
              <a:gd name="connsiteY78" fmla="*/ 479108 h 1639693"/>
              <a:gd name="connsiteX79" fmla="*/ 79970 w 1424802"/>
              <a:gd name="connsiteY79" fmla="*/ 461524 h 1639693"/>
              <a:gd name="connsiteX0" fmla="*/ 79970 w 1424802"/>
              <a:gd name="connsiteY0" fmla="*/ 461524 h 1639693"/>
              <a:gd name="connsiteX1" fmla="*/ 82870 w 1424802"/>
              <a:gd name="connsiteY1" fmla="*/ 362842 h 1639693"/>
              <a:gd name="connsiteX2" fmla="*/ 82870 w 1424802"/>
              <a:gd name="connsiteY2" fmla="*/ 290815 h 1639693"/>
              <a:gd name="connsiteX3" fmla="*/ 40439 w 1424802"/>
              <a:gd name="connsiteY3" fmla="*/ 284355 h 1639693"/>
              <a:gd name="connsiteX4" fmla="*/ 105996 w 1424802"/>
              <a:gd name="connsiteY4" fmla="*/ 137001 h 1639693"/>
              <a:gd name="connsiteX5" fmla="*/ 299018 w 1424802"/>
              <a:gd name="connsiteY5" fmla="*/ 2709 h 1639693"/>
              <a:gd name="connsiteX6" fmla="*/ 452136 w 1424802"/>
              <a:gd name="connsiteY6" fmla="*/ 68384 h 1639693"/>
              <a:gd name="connsiteX7" fmla="*/ 538129 w 1424802"/>
              <a:gd name="connsiteY7" fmla="*/ 104334 h 1639693"/>
              <a:gd name="connsiteX8" fmla="*/ 620226 w 1424802"/>
              <a:gd name="connsiteY8" fmla="*/ 120669 h 1639693"/>
              <a:gd name="connsiteX9" fmla="*/ 659264 w 1424802"/>
              <a:gd name="connsiteY9" fmla="*/ 146762 h 1639693"/>
              <a:gd name="connsiteX10" fmla="*/ 741534 w 1424802"/>
              <a:gd name="connsiteY10" fmla="*/ 192532 h 1639693"/>
              <a:gd name="connsiteX11" fmla="*/ 824385 w 1424802"/>
              <a:gd name="connsiteY11" fmla="*/ 314985 h 1639693"/>
              <a:gd name="connsiteX12" fmla="*/ 841970 w 1424802"/>
              <a:gd name="connsiteY12" fmla="*/ 332570 h 1639693"/>
              <a:gd name="connsiteX13" fmla="*/ 847832 w 1424802"/>
              <a:gd name="connsiteY13" fmla="*/ 350154 h 1639693"/>
              <a:gd name="connsiteX14" fmla="*/ 865416 w 1424802"/>
              <a:gd name="connsiteY14" fmla="*/ 356016 h 1639693"/>
              <a:gd name="connsiteX15" fmla="*/ 906447 w 1424802"/>
              <a:gd name="connsiteY15" fmla="*/ 391185 h 1639693"/>
              <a:gd name="connsiteX16" fmla="*/ 918170 w 1424802"/>
              <a:gd name="connsiteY16" fmla="*/ 408770 h 1639693"/>
              <a:gd name="connsiteX17" fmla="*/ 935755 w 1424802"/>
              <a:gd name="connsiteY17" fmla="*/ 420493 h 1639693"/>
              <a:gd name="connsiteX18" fmla="*/ 959201 w 1424802"/>
              <a:gd name="connsiteY18" fmla="*/ 438077 h 1639693"/>
              <a:gd name="connsiteX19" fmla="*/ 976785 w 1424802"/>
              <a:gd name="connsiteY19" fmla="*/ 449801 h 1639693"/>
              <a:gd name="connsiteX20" fmla="*/ 994370 w 1424802"/>
              <a:gd name="connsiteY20" fmla="*/ 473247 h 1639693"/>
              <a:gd name="connsiteX21" fmla="*/ 1035401 w 1424802"/>
              <a:gd name="connsiteY21" fmla="*/ 496693 h 1639693"/>
              <a:gd name="connsiteX22" fmla="*/ 1058847 w 1424802"/>
              <a:gd name="connsiteY22" fmla="*/ 526001 h 1639693"/>
              <a:gd name="connsiteX23" fmla="*/ 1099878 w 1424802"/>
              <a:gd name="connsiteY23" fmla="*/ 561170 h 1639693"/>
              <a:gd name="connsiteX24" fmla="*/ 1129185 w 1424802"/>
              <a:gd name="connsiteY24" fmla="*/ 602201 h 1639693"/>
              <a:gd name="connsiteX25" fmla="*/ 1135047 w 1424802"/>
              <a:gd name="connsiteY25" fmla="*/ 619785 h 1639693"/>
              <a:gd name="connsiteX26" fmla="*/ 1170216 w 1424802"/>
              <a:gd name="connsiteY26" fmla="*/ 660816 h 1639693"/>
              <a:gd name="connsiteX27" fmla="*/ 1187801 w 1424802"/>
              <a:gd name="connsiteY27" fmla="*/ 684262 h 1639693"/>
              <a:gd name="connsiteX28" fmla="*/ 1211247 w 1424802"/>
              <a:gd name="connsiteY28" fmla="*/ 719431 h 1639693"/>
              <a:gd name="connsiteX29" fmla="*/ 1240555 w 1424802"/>
              <a:gd name="connsiteY29" fmla="*/ 760462 h 1639693"/>
              <a:gd name="connsiteX30" fmla="*/ 1264001 w 1424802"/>
              <a:gd name="connsiteY30" fmla="*/ 807354 h 1639693"/>
              <a:gd name="connsiteX31" fmla="*/ 1269862 w 1424802"/>
              <a:gd name="connsiteY31" fmla="*/ 824939 h 1639693"/>
              <a:gd name="connsiteX32" fmla="*/ 1287447 w 1424802"/>
              <a:gd name="connsiteY32" fmla="*/ 854247 h 1639693"/>
              <a:gd name="connsiteX33" fmla="*/ 1299170 w 1424802"/>
              <a:gd name="connsiteY33" fmla="*/ 877693 h 1639693"/>
              <a:gd name="connsiteX34" fmla="*/ 1316755 w 1424802"/>
              <a:gd name="connsiteY34" fmla="*/ 895277 h 1639693"/>
              <a:gd name="connsiteX35" fmla="*/ 1340201 w 1424802"/>
              <a:gd name="connsiteY35" fmla="*/ 936308 h 1639693"/>
              <a:gd name="connsiteX36" fmla="*/ 1351924 w 1424802"/>
              <a:gd name="connsiteY36" fmla="*/ 959754 h 1639693"/>
              <a:gd name="connsiteX37" fmla="*/ 1357785 w 1424802"/>
              <a:gd name="connsiteY37" fmla="*/ 977339 h 1639693"/>
              <a:gd name="connsiteX38" fmla="*/ 1369508 w 1424802"/>
              <a:gd name="connsiteY38" fmla="*/ 994924 h 1639693"/>
              <a:gd name="connsiteX39" fmla="*/ 1381232 w 1424802"/>
              <a:gd name="connsiteY39" fmla="*/ 1024231 h 1639693"/>
              <a:gd name="connsiteX40" fmla="*/ 1398816 w 1424802"/>
              <a:gd name="connsiteY40" fmla="*/ 1100431 h 1639693"/>
              <a:gd name="connsiteX41" fmla="*/ 1410539 w 1424802"/>
              <a:gd name="connsiteY41" fmla="*/ 1170770 h 1639693"/>
              <a:gd name="connsiteX42" fmla="*/ 1416401 w 1424802"/>
              <a:gd name="connsiteY42" fmla="*/ 1188354 h 1639693"/>
              <a:gd name="connsiteX43" fmla="*/ 1410539 w 1424802"/>
              <a:gd name="connsiteY43" fmla="*/ 1340754 h 1639693"/>
              <a:gd name="connsiteX44" fmla="*/ 1404287 w 1424802"/>
              <a:gd name="connsiteY44" fmla="*/ 1464380 h 1639693"/>
              <a:gd name="connsiteX45" fmla="*/ 1287447 w 1424802"/>
              <a:gd name="connsiteY45" fmla="*/ 1598662 h 1639693"/>
              <a:gd name="connsiteX46" fmla="*/ 1269862 w 1424802"/>
              <a:gd name="connsiteY46" fmla="*/ 1610385 h 1639693"/>
              <a:gd name="connsiteX47" fmla="*/ 1234693 w 1424802"/>
              <a:gd name="connsiteY47" fmla="*/ 1622108 h 1639693"/>
              <a:gd name="connsiteX48" fmla="*/ 1217108 w 1424802"/>
              <a:gd name="connsiteY48" fmla="*/ 1627970 h 1639693"/>
              <a:gd name="connsiteX49" fmla="*/ 1176078 w 1424802"/>
              <a:gd name="connsiteY49" fmla="*/ 1633831 h 1639693"/>
              <a:gd name="connsiteX50" fmla="*/ 1140908 w 1424802"/>
              <a:gd name="connsiteY50" fmla="*/ 1639693 h 1639693"/>
              <a:gd name="connsiteX51" fmla="*/ 900585 w 1424802"/>
              <a:gd name="connsiteY51" fmla="*/ 1633831 h 1639693"/>
              <a:gd name="connsiteX52" fmla="*/ 883001 w 1424802"/>
              <a:gd name="connsiteY52" fmla="*/ 1627970 h 1639693"/>
              <a:gd name="connsiteX53" fmla="*/ 800939 w 1424802"/>
              <a:gd name="connsiteY53" fmla="*/ 1622108 h 1639693"/>
              <a:gd name="connsiteX54" fmla="*/ 630955 w 1424802"/>
              <a:gd name="connsiteY54" fmla="*/ 1616247 h 1639693"/>
              <a:gd name="connsiteX55" fmla="*/ 572339 w 1424802"/>
              <a:gd name="connsiteY55" fmla="*/ 1610385 h 1639693"/>
              <a:gd name="connsiteX56" fmla="*/ 476812 w 1424802"/>
              <a:gd name="connsiteY56" fmla="*/ 1616247 h 1639693"/>
              <a:gd name="connsiteX57" fmla="*/ 155426 w 1424802"/>
              <a:gd name="connsiteY57" fmla="*/ 1586939 h 1639693"/>
              <a:gd name="connsiteX58" fmla="*/ 83418 w 1424802"/>
              <a:gd name="connsiteY58" fmla="*/ 1514931 h 1639693"/>
              <a:gd name="connsiteX59" fmla="*/ 50662 w 1424802"/>
              <a:gd name="connsiteY59" fmla="*/ 1463847 h 1639693"/>
              <a:gd name="connsiteX60" fmla="*/ 33078 w 1424802"/>
              <a:gd name="connsiteY60" fmla="*/ 1446262 h 1639693"/>
              <a:gd name="connsiteX61" fmla="*/ 21355 w 1424802"/>
              <a:gd name="connsiteY61" fmla="*/ 1405231 h 1639693"/>
              <a:gd name="connsiteX62" fmla="*/ 9632 w 1424802"/>
              <a:gd name="connsiteY62" fmla="*/ 1358339 h 1639693"/>
              <a:gd name="connsiteX63" fmla="*/ 9632 w 1424802"/>
              <a:gd name="connsiteY63" fmla="*/ 1159047 h 1639693"/>
              <a:gd name="connsiteX64" fmla="*/ 15493 w 1424802"/>
              <a:gd name="connsiteY64" fmla="*/ 1141462 h 1639693"/>
              <a:gd name="connsiteX65" fmla="*/ 21355 w 1424802"/>
              <a:gd name="connsiteY65" fmla="*/ 1088708 h 1639693"/>
              <a:gd name="connsiteX66" fmla="*/ 27216 w 1424802"/>
              <a:gd name="connsiteY66" fmla="*/ 1071124 h 1639693"/>
              <a:gd name="connsiteX67" fmla="*/ 33078 w 1424802"/>
              <a:gd name="connsiteY67" fmla="*/ 1035954 h 1639693"/>
              <a:gd name="connsiteX68" fmla="*/ 50662 w 1424802"/>
              <a:gd name="connsiteY68" fmla="*/ 994924 h 1639693"/>
              <a:gd name="connsiteX69" fmla="*/ 62385 w 1424802"/>
              <a:gd name="connsiteY69" fmla="*/ 953893 h 1639693"/>
              <a:gd name="connsiteX70" fmla="*/ 74108 w 1424802"/>
              <a:gd name="connsiteY70" fmla="*/ 930447 h 1639693"/>
              <a:gd name="connsiteX71" fmla="*/ 85832 w 1424802"/>
              <a:gd name="connsiteY71" fmla="*/ 889416 h 1639693"/>
              <a:gd name="connsiteX72" fmla="*/ 91693 w 1424802"/>
              <a:gd name="connsiteY72" fmla="*/ 871831 h 1639693"/>
              <a:gd name="connsiteX73" fmla="*/ 97555 w 1424802"/>
              <a:gd name="connsiteY73" fmla="*/ 842524 h 1639693"/>
              <a:gd name="connsiteX74" fmla="*/ 103416 w 1424802"/>
              <a:gd name="connsiteY74" fmla="*/ 824939 h 1639693"/>
              <a:gd name="connsiteX75" fmla="*/ 102366 w 1424802"/>
              <a:gd name="connsiteY75" fmla="*/ 762308 h 1639693"/>
              <a:gd name="connsiteX76" fmla="*/ 83418 w 1424802"/>
              <a:gd name="connsiteY76" fmla="*/ 650835 h 1639693"/>
              <a:gd name="connsiteX77" fmla="*/ 83418 w 1424802"/>
              <a:gd name="connsiteY77" fmla="*/ 506819 h 1639693"/>
              <a:gd name="connsiteX78" fmla="*/ 85832 w 1424802"/>
              <a:gd name="connsiteY78" fmla="*/ 479108 h 1639693"/>
              <a:gd name="connsiteX79" fmla="*/ 79970 w 1424802"/>
              <a:gd name="connsiteY79" fmla="*/ 461524 h 1639693"/>
              <a:gd name="connsiteX0" fmla="*/ 79970 w 1424802"/>
              <a:gd name="connsiteY0" fmla="*/ 461524 h 1639693"/>
              <a:gd name="connsiteX1" fmla="*/ 24101 w 1424802"/>
              <a:gd name="connsiteY1" fmla="*/ 362935 h 1639693"/>
              <a:gd name="connsiteX2" fmla="*/ 82870 w 1424802"/>
              <a:gd name="connsiteY2" fmla="*/ 290815 h 1639693"/>
              <a:gd name="connsiteX3" fmla="*/ 40439 w 1424802"/>
              <a:gd name="connsiteY3" fmla="*/ 284355 h 1639693"/>
              <a:gd name="connsiteX4" fmla="*/ 105996 w 1424802"/>
              <a:gd name="connsiteY4" fmla="*/ 137001 h 1639693"/>
              <a:gd name="connsiteX5" fmla="*/ 299018 w 1424802"/>
              <a:gd name="connsiteY5" fmla="*/ 2709 h 1639693"/>
              <a:gd name="connsiteX6" fmla="*/ 452136 w 1424802"/>
              <a:gd name="connsiteY6" fmla="*/ 68384 h 1639693"/>
              <a:gd name="connsiteX7" fmla="*/ 538129 w 1424802"/>
              <a:gd name="connsiteY7" fmla="*/ 104334 h 1639693"/>
              <a:gd name="connsiteX8" fmla="*/ 620226 w 1424802"/>
              <a:gd name="connsiteY8" fmla="*/ 120669 h 1639693"/>
              <a:gd name="connsiteX9" fmla="*/ 659264 w 1424802"/>
              <a:gd name="connsiteY9" fmla="*/ 146762 h 1639693"/>
              <a:gd name="connsiteX10" fmla="*/ 741534 w 1424802"/>
              <a:gd name="connsiteY10" fmla="*/ 192532 h 1639693"/>
              <a:gd name="connsiteX11" fmla="*/ 824385 w 1424802"/>
              <a:gd name="connsiteY11" fmla="*/ 314985 h 1639693"/>
              <a:gd name="connsiteX12" fmla="*/ 841970 w 1424802"/>
              <a:gd name="connsiteY12" fmla="*/ 332570 h 1639693"/>
              <a:gd name="connsiteX13" fmla="*/ 847832 w 1424802"/>
              <a:gd name="connsiteY13" fmla="*/ 350154 h 1639693"/>
              <a:gd name="connsiteX14" fmla="*/ 865416 w 1424802"/>
              <a:gd name="connsiteY14" fmla="*/ 356016 h 1639693"/>
              <a:gd name="connsiteX15" fmla="*/ 906447 w 1424802"/>
              <a:gd name="connsiteY15" fmla="*/ 391185 h 1639693"/>
              <a:gd name="connsiteX16" fmla="*/ 918170 w 1424802"/>
              <a:gd name="connsiteY16" fmla="*/ 408770 h 1639693"/>
              <a:gd name="connsiteX17" fmla="*/ 935755 w 1424802"/>
              <a:gd name="connsiteY17" fmla="*/ 420493 h 1639693"/>
              <a:gd name="connsiteX18" fmla="*/ 959201 w 1424802"/>
              <a:gd name="connsiteY18" fmla="*/ 438077 h 1639693"/>
              <a:gd name="connsiteX19" fmla="*/ 976785 w 1424802"/>
              <a:gd name="connsiteY19" fmla="*/ 449801 h 1639693"/>
              <a:gd name="connsiteX20" fmla="*/ 994370 w 1424802"/>
              <a:gd name="connsiteY20" fmla="*/ 473247 h 1639693"/>
              <a:gd name="connsiteX21" fmla="*/ 1035401 w 1424802"/>
              <a:gd name="connsiteY21" fmla="*/ 496693 h 1639693"/>
              <a:gd name="connsiteX22" fmla="*/ 1058847 w 1424802"/>
              <a:gd name="connsiteY22" fmla="*/ 526001 h 1639693"/>
              <a:gd name="connsiteX23" fmla="*/ 1099878 w 1424802"/>
              <a:gd name="connsiteY23" fmla="*/ 561170 h 1639693"/>
              <a:gd name="connsiteX24" fmla="*/ 1129185 w 1424802"/>
              <a:gd name="connsiteY24" fmla="*/ 602201 h 1639693"/>
              <a:gd name="connsiteX25" fmla="*/ 1135047 w 1424802"/>
              <a:gd name="connsiteY25" fmla="*/ 619785 h 1639693"/>
              <a:gd name="connsiteX26" fmla="*/ 1170216 w 1424802"/>
              <a:gd name="connsiteY26" fmla="*/ 660816 h 1639693"/>
              <a:gd name="connsiteX27" fmla="*/ 1187801 w 1424802"/>
              <a:gd name="connsiteY27" fmla="*/ 684262 h 1639693"/>
              <a:gd name="connsiteX28" fmla="*/ 1211247 w 1424802"/>
              <a:gd name="connsiteY28" fmla="*/ 719431 h 1639693"/>
              <a:gd name="connsiteX29" fmla="*/ 1240555 w 1424802"/>
              <a:gd name="connsiteY29" fmla="*/ 760462 h 1639693"/>
              <a:gd name="connsiteX30" fmla="*/ 1264001 w 1424802"/>
              <a:gd name="connsiteY30" fmla="*/ 807354 h 1639693"/>
              <a:gd name="connsiteX31" fmla="*/ 1269862 w 1424802"/>
              <a:gd name="connsiteY31" fmla="*/ 824939 h 1639693"/>
              <a:gd name="connsiteX32" fmla="*/ 1287447 w 1424802"/>
              <a:gd name="connsiteY32" fmla="*/ 854247 h 1639693"/>
              <a:gd name="connsiteX33" fmla="*/ 1299170 w 1424802"/>
              <a:gd name="connsiteY33" fmla="*/ 877693 h 1639693"/>
              <a:gd name="connsiteX34" fmla="*/ 1316755 w 1424802"/>
              <a:gd name="connsiteY34" fmla="*/ 895277 h 1639693"/>
              <a:gd name="connsiteX35" fmla="*/ 1340201 w 1424802"/>
              <a:gd name="connsiteY35" fmla="*/ 936308 h 1639693"/>
              <a:gd name="connsiteX36" fmla="*/ 1351924 w 1424802"/>
              <a:gd name="connsiteY36" fmla="*/ 959754 h 1639693"/>
              <a:gd name="connsiteX37" fmla="*/ 1357785 w 1424802"/>
              <a:gd name="connsiteY37" fmla="*/ 977339 h 1639693"/>
              <a:gd name="connsiteX38" fmla="*/ 1369508 w 1424802"/>
              <a:gd name="connsiteY38" fmla="*/ 994924 h 1639693"/>
              <a:gd name="connsiteX39" fmla="*/ 1381232 w 1424802"/>
              <a:gd name="connsiteY39" fmla="*/ 1024231 h 1639693"/>
              <a:gd name="connsiteX40" fmla="*/ 1398816 w 1424802"/>
              <a:gd name="connsiteY40" fmla="*/ 1100431 h 1639693"/>
              <a:gd name="connsiteX41" fmla="*/ 1410539 w 1424802"/>
              <a:gd name="connsiteY41" fmla="*/ 1170770 h 1639693"/>
              <a:gd name="connsiteX42" fmla="*/ 1416401 w 1424802"/>
              <a:gd name="connsiteY42" fmla="*/ 1188354 h 1639693"/>
              <a:gd name="connsiteX43" fmla="*/ 1410539 w 1424802"/>
              <a:gd name="connsiteY43" fmla="*/ 1340754 h 1639693"/>
              <a:gd name="connsiteX44" fmla="*/ 1404287 w 1424802"/>
              <a:gd name="connsiteY44" fmla="*/ 1464380 h 1639693"/>
              <a:gd name="connsiteX45" fmla="*/ 1287447 w 1424802"/>
              <a:gd name="connsiteY45" fmla="*/ 1598662 h 1639693"/>
              <a:gd name="connsiteX46" fmla="*/ 1269862 w 1424802"/>
              <a:gd name="connsiteY46" fmla="*/ 1610385 h 1639693"/>
              <a:gd name="connsiteX47" fmla="*/ 1234693 w 1424802"/>
              <a:gd name="connsiteY47" fmla="*/ 1622108 h 1639693"/>
              <a:gd name="connsiteX48" fmla="*/ 1217108 w 1424802"/>
              <a:gd name="connsiteY48" fmla="*/ 1627970 h 1639693"/>
              <a:gd name="connsiteX49" fmla="*/ 1176078 w 1424802"/>
              <a:gd name="connsiteY49" fmla="*/ 1633831 h 1639693"/>
              <a:gd name="connsiteX50" fmla="*/ 1140908 w 1424802"/>
              <a:gd name="connsiteY50" fmla="*/ 1639693 h 1639693"/>
              <a:gd name="connsiteX51" fmla="*/ 900585 w 1424802"/>
              <a:gd name="connsiteY51" fmla="*/ 1633831 h 1639693"/>
              <a:gd name="connsiteX52" fmla="*/ 883001 w 1424802"/>
              <a:gd name="connsiteY52" fmla="*/ 1627970 h 1639693"/>
              <a:gd name="connsiteX53" fmla="*/ 800939 w 1424802"/>
              <a:gd name="connsiteY53" fmla="*/ 1622108 h 1639693"/>
              <a:gd name="connsiteX54" fmla="*/ 630955 w 1424802"/>
              <a:gd name="connsiteY54" fmla="*/ 1616247 h 1639693"/>
              <a:gd name="connsiteX55" fmla="*/ 572339 w 1424802"/>
              <a:gd name="connsiteY55" fmla="*/ 1610385 h 1639693"/>
              <a:gd name="connsiteX56" fmla="*/ 476812 w 1424802"/>
              <a:gd name="connsiteY56" fmla="*/ 1616247 h 1639693"/>
              <a:gd name="connsiteX57" fmla="*/ 155426 w 1424802"/>
              <a:gd name="connsiteY57" fmla="*/ 1586939 h 1639693"/>
              <a:gd name="connsiteX58" fmla="*/ 83418 w 1424802"/>
              <a:gd name="connsiteY58" fmla="*/ 1514931 h 1639693"/>
              <a:gd name="connsiteX59" fmla="*/ 50662 w 1424802"/>
              <a:gd name="connsiteY59" fmla="*/ 1463847 h 1639693"/>
              <a:gd name="connsiteX60" fmla="*/ 33078 w 1424802"/>
              <a:gd name="connsiteY60" fmla="*/ 1446262 h 1639693"/>
              <a:gd name="connsiteX61" fmla="*/ 21355 w 1424802"/>
              <a:gd name="connsiteY61" fmla="*/ 1405231 h 1639693"/>
              <a:gd name="connsiteX62" fmla="*/ 9632 w 1424802"/>
              <a:gd name="connsiteY62" fmla="*/ 1358339 h 1639693"/>
              <a:gd name="connsiteX63" fmla="*/ 9632 w 1424802"/>
              <a:gd name="connsiteY63" fmla="*/ 1159047 h 1639693"/>
              <a:gd name="connsiteX64" fmla="*/ 15493 w 1424802"/>
              <a:gd name="connsiteY64" fmla="*/ 1141462 h 1639693"/>
              <a:gd name="connsiteX65" fmla="*/ 21355 w 1424802"/>
              <a:gd name="connsiteY65" fmla="*/ 1088708 h 1639693"/>
              <a:gd name="connsiteX66" fmla="*/ 27216 w 1424802"/>
              <a:gd name="connsiteY66" fmla="*/ 1071124 h 1639693"/>
              <a:gd name="connsiteX67" fmla="*/ 33078 w 1424802"/>
              <a:gd name="connsiteY67" fmla="*/ 1035954 h 1639693"/>
              <a:gd name="connsiteX68" fmla="*/ 50662 w 1424802"/>
              <a:gd name="connsiteY68" fmla="*/ 994924 h 1639693"/>
              <a:gd name="connsiteX69" fmla="*/ 62385 w 1424802"/>
              <a:gd name="connsiteY69" fmla="*/ 953893 h 1639693"/>
              <a:gd name="connsiteX70" fmla="*/ 74108 w 1424802"/>
              <a:gd name="connsiteY70" fmla="*/ 930447 h 1639693"/>
              <a:gd name="connsiteX71" fmla="*/ 85832 w 1424802"/>
              <a:gd name="connsiteY71" fmla="*/ 889416 h 1639693"/>
              <a:gd name="connsiteX72" fmla="*/ 91693 w 1424802"/>
              <a:gd name="connsiteY72" fmla="*/ 871831 h 1639693"/>
              <a:gd name="connsiteX73" fmla="*/ 97555 w 1424802"/>
              <a:gd name="connsiteY73" fmla="*/ 842524 h 1639693"/>
              <a:gd name="connsiteX74" fmla="*/ 103416 w 1424802"/>
              <a:gd name="connsiteY74" fmla="*/ 824939 h 1639693"/>
              <a:gd name="connsiteX75" fmla="*/ 102366 w 1424802"/>
              <a:gd name="connsiteY75" fmla="*/ 762308 h 1639693"/>
              <a:gd name="connsiteX76" fmla="*/ 83418 w 1424802"/>
              <a:gd name="connsiteY76" fmla="*/ 650835 h 1639693"/>
              <a:gd name="connsiteX77" fmla="*/ 83418 w 1424802"/>
              <a:gd name="connsiteY77" fmla="*/ 506819 h 1639693"/>
              <a:gd name="connsiteX78" fmla="*/ 85832 w 1424802"/>
              <a:gd name="connsiteY78" fmla="*/ 479108 h 1639693"/>
              <a:gd name="connsiteX79" fmla="*/ 79970 w 1424802"/>
              <a:gd name="connsiteY79" fmla="*/ 461524 h 1639693"/>
              <a:gd name="connsiteX0" fmla="*/ 79970 w 1424802"/>
              <a:gd name="connsiteY0" fmla="*/ 461524 h 1639693"/>
              <a:gd name="connsiteX1" fmla="*/ 24101 w 1424802"/>
              <a:gd name="connsiteY1" fmla="*/ 362935 h 1639693"/>
              <a:gd name="connsiteX2" fmla="*/ 40439 w 1424802"/>
              <a:gd name="connsiteY2" fmla="*/ 284355 h 1639693"/>
              <a:gd name="connsiteX3" fmla="*/ 105996 w 1424802"/>
              <a:gd name="connsiteY3" fmla="*/ 137001 h 1639693"/>
              <a:gd name="connsiteX4" fmla="*/ 299018 w 1424802"/>
              <a:gd name="connsiteY4" fmla="*/ 2709 h 1639693"/>
              <a:gd name="connsiteX5" fmla="*/ 452136 w 1424802"/>
              <a:gd name="connsiteY5" fmla="*/ 68384 h 1639693"/>
              <a:gd name="connsiteX6" fmla="*/ 538129 w 1424802"/>
              <a:gd name="connsiteY6" fmla="*/ 104334 h 1639693"/>
              <a:gd name="connsiteX7" fmla="*/ 620226 w 1424802"/>
              <a:gd name="connsiteY7" fmla="*/ 120669 h 1639693"/>
              <a:gd name="connsiteX8" fmla="*/ 659264 w 1424802"/>
              <a:gd name="connsiteY8" fmla="*/ 146762 h 1639693"/>
              <a:gd name="connsiteX9" fmla="*/ 741534 w 1424802"/>
              <a:gd name="connsiteY9" fmla="*/ 192532 h 1639693"/>
              <a:gd name="connsiteX10" fmla="*/ 824385 w 1424802"/>
              <a:gd name="connsiteY10" fmla="*/ 314985 h 1639693"/>
              <a:gd name="connsiteX11" fmla="*/ 841970 w 1424802"/>
              <a:gd name="connsiteY11" fmla="*/ 332570 h 1639693"/>
              <a:gd name="connsiteX12" fmla="*/ 847832 w 1424802"/>
              <a:gd name="connsiteY12" fmla="*/ 350154 h 1639693"/>
              <a:gd name="connsiteX13" fmla="*/ 865416 w 1424802"/>
              <a:gd name="connsiteY13" fmla="*/ 356016 h 1639693"/>
              <a:gd name="connsiteX14" fmla="*/ 906447 w 1424802"/>
              <a:gd name="connsiteY14" fmla="*/ 391185 h 1639693"/>
              <a:gd name="connsiteX15" fmla="*/ 918170 w 1424802"/>
              <a:gd name="connsiteY15" fmla="*/ 408770 h 1639693"/>
              <a:gd name="connsiteX16" fmla="*/ 935755 w 1424802"/>
              <a:gd name="connsiteY16" fmla="*/ 420493 h 1639693"/>
              <a:gd name="connsiteX17" fmla="*/ 959201 w 1424802"/>
              <a:gd name="connsiteY17" fmla="*/ 438077 h 1639693"/>
              <a:gd name="connsiteX18" fmla="*/ 976785 w 1424802"/>
              <a:gd name="connsiteY18" fmla="*/ 449801 h 1639693"/>
              <a:gd name="connsiteX19" fmla="*/ 994370 w 1424802"/>
              <a:gd name="connsiteY19" fmla="*/ 473247 h 1639693"/>
              <a:gd name="connsiteX20" fmla="*/ 1035401 w 1424802"/>
              <a:gd name="connsiteY20" fmla="*/ 496693 h 1639693"/>
              <a:gd name="connsiteX21" fmla="*/ 1058847 w 1424802"/>
              <a:gd name="connsiteY21" fmla="*/ 526001 h 1639693"/>
              <a:gd name="connsiteX22" fmla="*/ 1099878 w 1424802"/>
              <a:gd name="connsiteY22" fmla="*/ 561170 h 1639693"/>
              <a:gd name="connsiteX23" fmla="*/ 1129185 w 1424802"/>
              <a:gd name="connsiteY23" fmla="*/ 602201 h 1639693"/>
              <a:gd name="connsiteX24" fmla="*/ 1135047 w 1424802"/>
              <a:gd name="connsiteY24" fmla="*/ 619785 h 1639693"/>
              <a:gd name="connsiteX25" fmla="*/ 1170216 w 1424802"/>
              <a:gd name="connsiteY25" fmla="*/ 660816 h 1639693"/>
              <a:gd name="connsiteX26" fmla="*/ 1187801 w 1424802"/>
              <a:gd name="connsiteY26" fmla="*/ 684262 h 1639693"/>
              <a:gd name="connsiteX27" fmla="*/ 1211247 w 1424802"/>
              <a:gd name="connsiteY27" fmla="*/ 719431 h 1639693"/>
              <a:gd name="connsiteX28" fmla="*/ 1240555 w 1424802"/>
              <a:gd name="connsiteY28" fmla="*/ 760462 h 1639693"/>
              <a:gd name="connsiteX29" fmla="*/ 1264001 w 1424802"/>
              <a:gd name="connsiteY29" fmla="*/ 807354 h 1639693"/>
              <a:gd name="connsiteX30" fmla="*/ 1269862 w 1424802"/>
              <a:gd name="connsiteY30" fmla="*/ 824939 h 1639693"/>
              <a:gd name="connsiteX31" fmla="*/ 1287447 w 1424802"/>
              <a:gd name="connsiteY31" fmla="*/ 854247 h 1639693"/>
              <a:gd name="connsiteX32" fmla="*/ 1299170 w 1424802"/>
              <a:gd name="connsiteY32" fmla="*/ 877693 h 1639693"/>
              <a:gd name="connsiteX33" fmla="*/ 1316755 w 1424802"/>
              <a:gd name="connsiteY33" fmla="*/ 895277 h 1639693"/>
              <a:gd name="connsiteX34" fmla="*/ 1340201 w 1424802"/>
              <a:gd name="connsiteY34" fmla="*/ 936308 h 1639693"/>
              <a:gd name="connsiteX35" fmla="*/ 1351924 w 1424802"/>
              <a:gd name="connsiteY35" fmla="*/ 959754 h 1639693"/>
              <a:gd name="connsiteX36" fmla="*/ 1357785 w 1424802"/>
              <a:gd name="connsiteY36" fmla="*/ 977339 h 1639693"/>
              <a:gd name="connsiteX37" fmla="*/ 1369508 w 1424802"/>
              <a:gd name="connsiteY37" fmla="*/ 994924 h 1639693"/>
              <a:gd name="connsiteX38" fmla="*/ 1381232 w 1424802"/>
              <a:gd name="connsiteY38" fmla="*/ 1024231 h 1639693"/>
              <a:gd name="connsiteX39" fmla="*/ 1398816 w 1424802"/>
              <a:gd name="connsiteY39" fmla="*/ 1100431 h 1639693"/>
              <a:gd name="connsiteX40" fmla="*/ 1410539 w 1424802"/>
              <a:gd name="connsiteY40" fmla="*/ 1170770 h 1639693"/>
              <a:gd name="connsiteX41" fmla="*/ 1416401 w 1424802"/>
              <a:gd name="connsiteY41" fmla="*/ 1188354 h 1639693"/>
              <a:gd name="connsiteX42" fmla="*/ 1410539 w 1424802"/>
              <a:gd name="connsiteY42" fmla="*/ 1340754 h 1639693"/>
              <a:gd name="connsiteX43" fmla="*/ 1404287 w 1424802"/>
              <a:gd name="connsiteY43" fmla="*/ 1464380 h 1639693"/>
              <a:gd name="connsiteX44" fmla="*/ 1287447 w 1424802"/>
              <a:gd name="connsiteY44" fmla="*/ 1598662 h 1639693"/>
              <a:gd name="connsiteX45" fmla="*/ 1269862 w 1424802"/>
              <a:gd name="connsiteY45" fmla="*/ 1610385 h 1639693"/>
              <a:gd name="connsiteX46" fmla="*/ 1234693 w 1424802"/>
              <a:gd name="connsiteY46" fmla="*/ 1622108 h 1639693"/>
              <a:gd name="connsiteX47" fmla="*/ 1217108 w 1424802"/>
              <a:gd name="connsiteY47" fmla="*/ 1627970 h 1639693"/>
              <a:gd name="connsiteX48" fmla="*/ 1176078 w 1424802"/>
              <a:gd name="connsiteY48" fmla="*/ 1633831 h 1639693"/>
              <a:gd name="connsiteX49" fmla="*/ 1140908 w 1424802"/>
              <a:gd name="connsiteY49" fmla="*/ 1639693 h 1639693"/>
              <a:gd name="connsiteX50" fmla="*/ 900585 w 1424802"/>
              <a:gd name="connsiteY50" fmla="*/ 1633831 h 1639693"/>
              <a:gd name="connsiteX51" fmla="*/ 883001 w 1424802"/>
              <a:gd name="connsiteY51" fmla="*/ 1627970 h 1639693"/>
              <a:gd name="connsiteX52" fmla="*/ 800939 w 1424802"/>
              <a:gd name="connsiteY52" fmla="*/ 1622108 h 1639693"/>
              <a:gd name="connsiteX53" fmla="*/ 630955 w 1424802"/>
              <a:gd name="connsiteY53" fmla="*/ 1616247 h 1639693"/>
              <a:gd name="connsiteX54" fmla="*/ 572339 w 1424802"/>
              <a:gd name="connsiteY54" fmla="*/ 1610385 h 1639693"/>
              <a:gd name="connsiteX55" fmla="*/ 476812 w 1424802"/>
              <a:gd name="connsiteY55" fmla="*/ 1616247 h 1639693"/>
              <a:gd name="connsiteX56" fmla="*/ 155426 w 1424802"/>
              <a:gd name="connsiteY56" fmla="*/ 1586939 h 1639693"/>
              <a:gd name="connsiteX57" fmla="*/ 83418 w 1424802"/>
              <a:gd name="connsiteY57" fmla="*/ 1514931 h 1639693"/>
              <a:gd name="connsiteX58" fmla="*/ 50662 w 1424802"/>
              <a:gd name="connsiteY58" fmla="*/ 1463847 h 1639693"/>
              <a:gd name="connsiteX59" fmla="*/ 33078 w 1424802"/>
              <a:gd name="connsiteY59" fmla="*/ 1446262 h 1639693"/>
              <a:gd name="connsiteX60" fmla="*/ 21355 w 1424802"/>
              <a:gd name="connsiteY60" fmla="*/ 1405231 h 1639693"/>
              <a:gd name="connsiteX61" fmla="*/ 9632 w 1424802"/>
              <a:gd name="connsiteY61" fmla="*/ 1358339 h 1639693"/>
              <a:gd name="connsiteX62" fmla="*/ 9632 w 1424802"/>
              <a:gd name="connsiteY62" fmla="*/ 1159047 h 1639693"/>
              <a:gd name="connsiteX63" fmla="*/ 15493 w 1424802"/>
              <a:gd name="connsiteY63" fmla="*/ 1141462 h 1639693"/>
              <a:gd name="connsiteX64" fmla="*/ 21355 w 1424802"/>
              <a:gd name="connsiteY64" fmla="*/ 1088708 h 1639693"/>
              <a:gd name="connsiteX65" fmla="*/ 27216 w 1424802"/>
              <a:gd name="connsiteY65" fmla="*/ 1071124 h 1639693"/>
              <a:gd name="connsiteX66" fmla="*/ 33078 w 1424802"/>
              <a:gd name="connsiteY66" fmla="*/ 1035954 h 1639693"/>
              <a:gd name="connsiteX67" fmla="*/ 50662 w 1424802"/>
              <a:gd name="connsiteY67" fmla="*/ 994924 h 1639693"/>
              <a:gd name="connsiteX68" fmla="*/ 62385 w 1424802"/>
              <a:gd name="connsiteY68" fmla="*/ 953893 h 1639693"/>
              <a:gd name="connsiteX69" fmla="*/ 74108 w 1424802"/>
              <a:gd name="connsiteY69" fmla="*/ 930447 h 1639693"/>
              <a:gd name="connsiteX70" fmla="*/ 85832 w 1424802"/>
              <a:gd name="connsiteY70" fmla="*/ 889416 h 1639693"/>
              <a:gd name="connsiteX71" fmla="*/ 91693 w 1424802"/>
              <a:gd name="connsiteY71" fmla="*/ 871831 h 1639693"/>
              <a:gd name="connsiteX72" fmla="*/ 97555 w 1424802"/>
              <a:gd name="connsiteY72" fmla="*/ 842524 h 1639693"/>
              <a:gd name="connsiteX73" fmla="*/ 103416 w 1424802"/>
              <a:gd name="connsiteY73" fmla="*/ 824939 h 1639693"/>
              <a:gd name="connsiteX74" fmla="*/ 102366 w 1424802"/>
              <a:gd name="connsiteY74" fmla="*/ 762308 h 1639693"/>
              <a:gd name="connsiteX75" fmla="*/ 83418 w 1424802"/>
              <a:gd name="connsiteY75" fmla="*/ 650835 h 1639693"/>
              <a:gd name="connsiteX76" fmla="*/ 83418 w 1424802"/>
              <a:gd name="connsiteY76" fmla="*/ 506819 h 1639693"/>
              <a:gd name="connsiteX77" fmla="*/ 85832 w 1424802"/>
              <a:gd name="connsiteY77" fmla="*/ 479108 h 1639693"/>
              <a:gd name="connsiteX78" fmla="*/ 79970 w 1424802"/>
              <a:gd name="connsiteY78" fmla="*/ 461524 h 1639693"/>
              <a:gd name="connsiteX0" fmla="*/ 34270 w 1424802"/>
              <a:gd name="connsiteY0" fmla="*/ 471442 h 1639693"/>
              <a:gd name="connsiteX1" fmla="*/ 24101 w 1424802"/>
              <a:gd name="connsiteY1" fmla="*/ 362935 h 1639693"/>
              <a:gd name="connsiteX2" fmla="*/ 40439 w 1424802"/>
              <a:gd name="connsiteY2" fmla="*/ 284355 h 1639693"/>
              <a:gd name="connsiteX3" fmla="*/ 105996 w 1424802"/>
              <a:gd name="connsiteY3" fmla="*/ 137001 h 1639693"/>
              <a:gd name="connsiteX4" fmla="*/ 299018 w 1424802"/>
              <a:gd name="connsiteY4" fmla="*/ 2709 h 1639693"/>
              <a:gd name="connsiteX5" fmla="*/ 452136 w 1424802"/>
              <a:gd name="connsiteY5" fmla="*/ 68384 h 1639693"/>
              <a:gd name="connsiteX6" fmla="*/ 538129 w 1424802"/>
              <a:gd name="connsiteY6" fmla="*/ 104334 h 1639693"/>
              <a:gd name="connsiteX7" fmla="*/ 620226 w 1424802"/>
              <a:gd name="connsiteY7" fmla="*/ 120669 h 1639693"/>
              <a:gd name="connsiteX8" fmla="*/ 659264 w 1424802"/>
              <a:gd name="connsiteY8" fmla="*/ 146762 h 1639693"/>
              <a:gd name="connsiteX9" fmla="*/ 741534 w 1424802"/>
              <a:gd name="connsiteY9" fmla="*/ 192532 h 1639693"/>
              <a:gd name="connsiteX10" fmla="*/ 824385 w 1424802"/>
              <a:gd name="connsiteY10" fmla="*/ 314985 h 1639693"/>
              <a:gd name="connsiteX11" fmla="*/ 841970 w 1424802"/>
              <a:gd name="connsiteY11" fmla="*/ 332570 h 1639693"/>
              <a:gd name="connsiteX12" fmla="*/ 847832 w 1424802"/>
              <a:gd name="connsiteY12" fmla="*/ 350154 h 1639693"/>
              <a:gd name="connsiteX13" fmla="*/ 865416 w 1424802"/>
              <a:gd name="connsiteY13" fmla="*/ 356016 h 1639693"/>
              <a:gd name="connsiteX14" fmla="*/ 906447 w 1424802"/>
              <a:gd name="connsiteY14" fmla="*/ 391185 h 1639693"/>
              <a:gd name="connsiteX15" fmla="*/ 918170 w 1424802"/>
              <a:gd name="connsiteY15" fmla="*/ 408770 h 1639693"/>
              <a:gd name="connsiteX16" fmla="*/ 935755 w 1424802"/>
              <a:gd name="connsiteY16" fmla="*/ 420493 h 1639693"/>
              <a:gd name="connsiteX17" fmla="*/ 959201 w 1424802"/>
              <a:gd name="connsiteY17" fmla="*/ 438077 h 1639693"/>
              <a:gd name="connsiteX18" fmla="*/ 976785 w 1424802"/>
              <a:gd name="connsiteY18" fmla="*/ 449801 h 1639693"/>
              <a:gd name="connsiteX19" fmla="*/ 994370 w 1424802"/>
              <a:gd name="connsiteY19" fmla="*/ 473247 h 1639693"/>
              <a:gd name="connsiteX20" fmla="*/ 1035401 w 1424802"/>
              <a:gd name="connsiteY20" fmla="*/ 496693 h 1639693"/>
              <a:gd name="connsiteX21" fmla="*/ 1058847 w 1424802"/>
              <a:gd name="connsiteY21" fmla="*/ 526001 h 1639693"/>
              <a:gd name="connsiteX22" fmla="*/ 1099878 w 1424802"/>
              <a:gd name="connsiteY22" fmla="*/ 561170 h 1639693"/>
              <a:gd name="connsiteX23" fmla="*/ 1129185 w 1424802"/>
              <a:gd name="connsiteY23" fmla="*/ 602201 h 1639693"/>
              <a:gd name="connsiteX24" fmla="*/ 1135047 w 1424802"/>
              <a:gd name="connsiteY24" fmla="*/ 619785 h 1639693"/>
              <a:gd name="connsiteX25" fmla="*/ 1170216 w 1424802"/>
              <a:gd name="connsiteY25" fmla="*/ 660816 h 1639693"/>
              <a:gd name="connsiteX26" fmla="*/ 1187801 w 1424802"/>
              <a:gd name="connsiteY26" fmla="*/ 684262 h 1639693"/>
              <a:gd name="connsiteX27" fmla="*/ 1211247 w 1424802"/>
              <a:gd name="connsiteY27" fmla="*/ 719431 h 1639693"/>
              <a:gd name="connsiteX28" fmla="*/ 1240555 w 1424802"/>
              <a:gd name="connsiteY28" fmla="*/ 760462 h 1639693"/>
              <a:gd name="connsiteX29" fmla="*/ 1264001 w 1424802"/>
              <a:gd name="connsiteY29" fmla="*/ 807354 h 1639693"/>
              <a:gd name="connsiteX30" fmla="*/ 1269862 w 1424802"/>
              <a:gd name="connsiteY30" fmla="*/ 824939 h 1639693"/>
              <a:gd name="connsiteX31" fmla="*/ 1287447 w 1424802"/>
              <a:gd name="connsiteY31" fmla="*/ 854247 h 1639693"/>
              <a:gd name="connsiteX32" fmla="*/ 1299170 w 1424802"/>
              <a:gd name="connsiteY32" fmla="*/ 877693 h 1639693"/>
              <a:gd name="connsiteX33" fmla="*/ 1316755 w 1424802"/>
              <a:gd name="connsiteY33" fmla="*/ 895277 h 1639693"/>
              <a:gd name="connsiteX34" fmla="*/ 1340201 w 1424802"/>
              <a:gd name="connsiteY34" fmla="*/ 936308 h 1639693"/>
              <a:gd name="connsiteX35" fmla="*/ 1351924 w 1424802"/>
              <a:gd name="connsiteY35" fmla="*/ 959754 h 1639693"/>
              <a:gd name="connsiteX36" fmla="*/ 1357785 w 1424802"/>
              <a:gd name="connsiteY36" fmla="*/ 977339 h 1639693"/>
              <a:gd name="connsiteX37" fmla="*/ 1369508 w 1424802"/>
              <a:gd name="connsiteY37" fmla="*/ 994924 h 1639693"/>
              <a:gd name="connsiteX38" fmla="*/ 1381232 w 1424802"/>
              <a:gd name="connsiteY38" fmla="*/ 1024231 h 1639693"/>
              <a:gd name="connsiteX39" fmla="*/ 1398816 w 1424802"/>
              <a:gd name="connsiteY39" fmla="*/ 1100431 h 1639693"/>
              <a:gd name="connsiteX40" fmla="*/ 1410539 w 1424802"/>
              <a:gd name="connsiteY40" fmla="*/ 1170770 h 1639693"/>
              <a:gd name="connsiteX41" fmla="*/ 1416401 w 1424802"/>
              <a:gd name="connsiteY41" fmla="*/ 1188354 h 1639693"/>
              <a:gd name="connsiteX42" fmla="*/ 1410539 w 1424802"/>
              <a:gd name="connsiteY42" fmla="*/ 1340754 h 1639693"/>
              <a:gd name="connsiteX43" fmla="*/ 1404287 w 1424802"/>
              <a:gd name="connsiteY43" fmla="*/ 1464380 h 1639693"/>
              <a:gd name="connsiteX44" fmla="*/ 1287447 w 1424802"/>
              <a:gd name="connsiteY44" fmla="*/ 1598662 h 1639693"/>
              <a:gd name="connsiteX45" fmla="*/ 1269862 w 1424802"/>
              <a:gd name="connsiteY45" fmla="*/ 1610385 h 1639693"/>
              <a:gd name="connsiteX46" fmla="*/ 1234693 w 1424802"/>
              <a:gd name="connsiteY46" fmla="*/ 1622108 h 1639693"/>
              <a:gd name="connsiteX47" fmla="*/ 1217108 w 1424802"/>
              <a:gd name="connsiteY47" fmla="*/ 1627970 h 1639693"/>
              <a:gd name="connsiteX48" fmla="*/ 1176078 w 1424802"/>
              <a:gd name="connsiteY48" fmla="*/ 1633831 h 1639693"/>
              <a:gd name="connsiteX49" fmla="*/ 1140908 w 1424802"/>
              <a:gd name="connsiteY49" fmla="*/ 1639693 h 1639693"/>
              <a:gd name="connsiteX50" fmla="*/ 900585 w 1424802"/>
              <a:gd name="connsiteY50" fmla="*/ 1633831 h 1639693"/>
              <a:gd name="connsiteX51" fmla="*/ 883001 w 1424802"/>
              <a:gd name="connsiteY51" fmla="*/ 1627970 h 1639693"/>
              <a:gd name="connsiteX52" fmla="*/ 800939 w 1424802"/>
              <a:gd name="connsiteY52" fmla="*/ 1622108 h 1639693"/>
              <a:gd name="connsiteX53" fmla="*/ 630955 w 1424802"/>
              <a:gd name="connsiteY53" fmla="*/ 1616247 h 1639693"/>
              <a:gd name="connsiteX54" fmla="*/ 572339 w 1424802"/>
              <a:gd name="connsiteY54" fmla="*/ 1610385 h 1639693"/>
              <a:gd name="connsiteX55" fmla="*/ 476812 w 1424802"/>
              <a:gd name="connsiteY55" fmla="*/ 1616247 h 1639693"/>
              <a:gd name="connsiteX56" fmla="*/ 155426 w 1424802"/>
              <a:gd name="connsiteY56" fmla="*/ 1586939 h 1639693"/>
              <a:gd name="connsiteX57" fmla="*/ 83418 w 1424802"/>
              <a:gd name="connsiteY57" fmla="*/ 1514931 h 1639693"/>
              <a:gd name="connsiteX58" fmla="*/ 50662 w 1424802"/>
              <a:gd name="connsiteY58" fmla="*/ 1463847 h 1639693"/>
              <a:gd name="connsiteX59" fmla="*/ 33078 w 1424802"/>
              <a:gd name="connsiteY59" fmla="*/ 1446262 h 1639693"/>
              <a:gd name="connsiteX60" fmla="*/ 21355 w 1424802"/>
              <a:gd name="connsiteY60" fmla="*/ 1405231 h 1639693"/>
              <a:gd name="connsiteX61" fmla="*/ 9632 w 1424802"/>
              <a:gd name="connsiteY61" fmla="*/ 1358339 h 1639693"/>
              <a:gd name="connsiteX62" fmla="*/ 9632 w 1424802"/>
              <a:gd name="connsiteY62" fmla="*/ 1159047 h 1639693"/>
              <a:gd name="connsiteX63" fmla="*/ 15493 w 1424802"/>
              <a:gd name="connsiteY63" fmla="*/ 1141462 h 1639693"/>
              <a:gd name="connsiteX64" fmla="*/ 21355 w 1424802"/>
              <a:gd name="connsiteY64" fmla="*/ 1088708 h 1639693"/>
              <a:gd name="connsiteX65" fmla="*/ 27216 w 1424802"/>
              <a:gd name="connsiteY65" fmla="*/ 1071124 h 1639693"/>
              <a:gd name="connsiteX66" fmla="*/ 33078 w 1424802"/>
              <a:gd name="connsiteY66" fmla="*/ 1035954 h 1639693"/>
              <a:gd name="connsiteX67" fmla="*/ 50662 w 1424802"/>
              <a:gd name="connsiteY67" fmla="*/ 994924 h 1639693"/>
              <a:gd name="connsiteX68" fmla="*/ 62385 w 1424802"/>
              <a:gd name="connsiteY68" fmla="*/ 953893 h 1639693"/>
              <a:gd name="connsiteX69" fmla="*/ 74108 w 1424802"/>
              <a:gd name="connsiteY69" fmla="*/ 930447 h 1639693"/>
              <a:gd name="connsiteX70" fmla="*/ 85832 w 1424802"/>
              <a:gd name="connsiteY70" fmla="*/ 889416 h 1639693"/>
              <a:gd name="connsiteX71" fmla="*/ 91693 w 1424802"/>
              <a:gd name="connsiteY71" fmla="*/ 871831 h 1639693"/>
              <a:gd name="connsiteX72" fmla="*/ 97555 w 1424802"/>
              <a:gd name="connsiteY72" fmla="*/ 842524 h 1639693"/>
              <a:gd name="connsiteX73" fmla="*/ 103416 w 1424802"/>
              <a:gd name="connsiteY73" fmla="*/ 824939 h 1639693"/>
              <a:gd name="connsiteX74" fmla="*/ 102366 w 1424802"/>
              <a:gd name="connsiteY74" fmla="*/ 762308 h 1639693"/>
              <a:gd name="connsiteX75" fmla="*/ 83418 w 1424802"/>
              <a:gd name="connsiteY75" fmla="*/ 650835 h 1639693"/>
              <a:gd name="connsiteX76" fmla="*/ 83418 w 1424802"/>
              <a:gd name="connsiteY76" fmla="*/ 506819 h 1639693"/>
              <a:gd name="connsiteX77" fmla="*/ 85832 w 1424802"/>
              <a:gd name="connsiteY77" fmla="*/ 479108 h 1639693"/>
              <a:gd name="connsiteX78" fmla="*/ 34270 w 1424802"/>
              <a:gd name="connsiteY78" fmla="*/ 471442 h 1639693"/>
              <a:gd name="connsiteX0" fmla="*/ 34270 w 1424802"/>
              <a:gd name="connsiteY0" fmla="*/ 471442 h 1639693"/>
              <a:gd name="connsiteX1" fmla="*/ 24101 w 1424802"/>
              <a:gd name="connsiteY1" fmla="*/ 362935 h 1639693"/>
              <a:gd name="connsiteX2" fmla="*/ 40439 w 1424802"/>
              <a:gd name="connsiteY2" fmla="*/ 284355 h 1639693"/>
              <a:gd name="connsiteX3" fmla="*/ 105996 w 1424802"/>
              <a:gd name="connsiteY3" fmla="*/ 137001 h 1639693"/>
              <a:gd name="connsiteX4" fmla="*/ 299018 w 1424802"/>
              <a:gd name="connsiteY4" fmla="*/ 2709 h 1639693"/>
              <a:gd name="connsiteX5" fmla="*/ 452136 w 1424802"/>
              <a:gd name="connsiteY5" fmla="*/ 68384 h 1639693"/>
              <a:gd name="connsiteX6" fmla="*/ 538129 w 1424802"/>
              <a:gd name="connsiteY6" fmla="*/ 104334 h 1639693"/>
              <a:gd name="connsiteX7" fmla="*/ 620226 w 1424802"/>
              <a:gd name="connsiteY7" fmla="*/ 120669 h 1639693"/>
              <a:gd name="connsiteX8" fmla="*/ 659264 w 1424802"/>
              <a:gd name="connsiteY8" fmla="*/ 146762 h 1639693"/>
              <a:gd name="connsiteX9" fmla="*/ 741534 w 1424802"/>
              <a:gd name="connsiteY9" fmla="*/ 192532 h 1639693"/>
              <a:gd name="connsiteX10" fmla="*/ 824385 w 1424802"/>
              <a:gd name="connsiteY10" fmla="*/ 314985 h 1639693"/>
              <a:gd name="connsiteX11" fmla="*/ 841970 w 1424802"/>
              <a:gd name="connsiteY11" fmla="*/ 332570 h 1639693"/>
              <a:gd name="connsiteX12" fmla="*/ 847832 w 1424802"/>
              <a:gd name="connsiteY12" fmla="*/ 350154 h 1639693"/>
              <a:gd name="connsiteX13" fmla="*/ 865416 w 1424802"/>
              <a:gd name="connsiteY13" fmla="*/ 356016 h 1639693"/>
              <a:gd name="connsiteX14" fmla="*/ 906447 w 1424802"/>
              <a:gd name="connsiteY14" fmla="*/ 391185 h 1639693"/>
              <a:gd name="connsiteX15" fmla="*/ 918170 w 1424802"/>
              <a:gd name="connsiteY15" fmla="*/ 408770 h 1639693"/>
              <a:gd name="connsiteX16" fmla="*/ 935755 w 1424802"/>
              <a:gd name="connsiteY16" fmla="*/ 420493 h 1639693"/>
              <a:gd name="connsiteX17" fmla="*/ 959201 w 1424802"/>
              <a:gd name="connsiteY17" fmla="*/ 438077 h 1639693"/>
              <a:gd name="connsiteX18" fmla="*/ 976785 w 1424802"/>
              <a:gd name="connsiteY18" fmla="*/ 449801 h 1639693"/>
              <a:gd name="connsiteX19" fmla="*/ 994370 w 1424802"/>
              <a:gd name="connsiteY19" fmla="*/ 473247 h 1639693"/>
              <a:gd name="connsiteX20" fmla="*/ 1035401 w 1424802"/>
              <a:gd name="connsiteY20" fmla="*/ 496693 h 1639693"/>
              <a:gd name="connsiteX21" fmla="*/ 1058847 w 1424802"/>
              <a:gd name="connsiteY21" fmla="*/ 526001 h 1639693"/>
              <a:gd name="connsiteX22" fmla="*/ 1099878 w 1424802"/>
              <a:gd name="connsiteY22" fmla="*/ 561170 h 1639693"/>
              <a:gd name="connsiteX23" fmla="*/ 1129185 w 1424802"/>
              <a:gd name="connsiteY23" fmla="*/ 602201 h 1639693"/>
              <a:gd name="connsiteX24" fmla="*/ 1135047 w 1424802"/>
              <a:gd name="connsiteY24" fmla="*/ 619785 h 1639693"/>
              <a:gd name="connsiteX25" fmla="*/ 1170216 w 1424802"/>
              <a:gd name="connsiteY25" fmla="*/ 660816 h 1639693"/>
              <a:gd name="connsiteX26" fmla="*/ 1187801 w 1424802"/>
              <a:gd name="connsiteY26" fmla="*/ 684262 h 1639693"/>
              <a:gd name="connsiteX27" fmla="*/ 1211247 w 1424802"/>
              <a:gd name="connsiteY27" fmla="*/ 719431 h 1639693"/>
              <a:gd name="connsiteX28" fmla="*/ 1240555 w 1424802"/>
              <a:gd name="connsiteY28" fmla="*/ 760462 h 1639693"/>
              <a:gd name="connsiteX29" fmla="*/ 1264001 w 1424802"/>
              <a:gd name="connsiteY29" fmla="*/ 807354 h 1639693"/>
              <a:gd name="connsiteX30" fmla="*/ 1269862 w 1424802"/>
              <a:gd name="connsiteY30" fmla="*/ 824939 h 1639693"/>
              <a:gd name="connsiteX31" fmla="*/ 1287447 w 1424802"/>
              <a:gd name="connsiteY31" fmla="*/ 854247 h 1639693"/>
              <a:gd name="connsiteX32" fmla="*/ 1299170 w 1424802"/>
              <a:gd name="connsiteY32" fmla="*/ 877693 h 1639693"/>
              <a:gd name="connsiteX33" fmla="*/ 1316755 w 1424802"/>
              <a:gd name="connsiteY33" fmla="*/ 895277 h 1639693"/>
              <a:gd name="connsiteX34" fmla="*/ 1340201 w 1424802"/>
              <a:gd name="connsiteY34" fmla="*/ 936308 h 1639693"/>
              <a:gd name="connsiteX35" fmla="*/ 1351924 w 1424802"/>
              <a:gd name="connsiteY35" fmla="*/ 959754 h 1639693"/>
              <a:gd name="connsiteX36" fmla="*/ 1357785 w 1424802"/>
              <a:gd name="connsiteY36" fmla="*/ 977339 h 1639693"/>
              <a:gd name="connsiteX37" fmla="*/ 1369508 w 1424802"/>
              <a:gd name="connsiteY37" fmla="*/ 994924 h 1639693"/>
              <a:gd name="connsiteX38" fmla="*/ 1381232 w 1424802"/>
              <a:gd name="connsiteY38" fmla="*/ 1024231 h 1639693"/>
              <a:gd name="connsiteX39" fmla="*/ 1398816 w 1424802"/>
              <a:gd name="connsiteY39" fmla="*/ 1100431 h 1639693"/>
              <a:gd name="connsiteX40" fmla="*/ 1410539 w 1424802"/>
              <a:gd name="connsiteY40" fmla="*/ 1170770 h 1639693"/>
              <a:gd name="connsiteX41" fmla="*/ 1416401 w 1424802"/>
              <a:gd name="connsiteY41" fmla="*/ 1188354 h 1639693"/>
              <a:gd name="connsiteX42" fmla="*/ 1410539 w 1424802"/>
              <a:gd name="connsiteY42" fmla="*/ 1340754 h 1639693"/>
              <a:gd name="connsiteX43" fmla="*/ 1404287 w 1424802"/>
              <a:gd name="connsiteY43" fmla="*/ 1464380 h 1639693"/>
              <a:gd name="connsiteX44" fmla="*/ 1287447 w 1424802"/>
              <a:gd name="connsiteY44" fmla="*/ 1598662 h 1639693"/>
              <a:gd name="connsiteX45" fmla="*/ 1269862 w 1424802"/>
              <a:gd name="connsiteY45" fmla="*/ 1610385 h 1639693"/>
              <a:gd name="connsiteX46" fmla="*/ 1234693 w 1424802"/>
              <a:gd name="connsiteY46" fmla="*/ 1622108 h 1639693"/>
              <a:gd name="connsiteX47" fmla="*/ 1217108 w 1424802"/>
              <a:gd name="connsiteY47" fmla="*/ 1627970 h 1639693"/>
              <a:gd name="connsiteX48" fmla="*/ 1176078 w 1424802"/>
              <a:gd name="connsiteY48" fmla="*/ 1633831 h 1639693"/>
              <a:gd name="connsiteX49" fmla="*/ 1140908 w 1424802"/>
              <a:gd name="connsiteY49" fmla="*/ 1639693 h 1639693"/>
              <a:gd name="connsiteX50" fmla="*/ 900585 w 1424802"/>
              <a:gd name="connsiteY50" fmla="*/ 1633831 h 1639693"/>
              <a:gd name="connsiteX51" fmla="*/ 883001 w 1424802"/>
              <a:gd name="connsiteY51" fmla="*/ 1627970 h 1639693"/>
              <a:gd name="connsiteX52" fmla="*/ 800939 w 1424802"/>
              <a:gd name="connsiteY52" fmla="*/ 1622108 h 1639693"/>
              <a:gd name="connsiteX53" fmla="*/ 630955 w 1424802"/>
              <a:gd name="connsiteY53" fmla="*/ 1616247 h 1639693"/>
              <a:gd name="connsiteX54" fmla="*/ 572339 w 1424802"/>
              <a:gd name="connsiteY54" fmla="*/ 1610385 h 1639693"/>
              <a:gd name="connsiteX55" fmla="*/ 476812 w 1424802"/>
              <a:gd name="connsiteY55" fmla="*/ 1616247 h 1639693"/>
              <a:gd name="connsiteX56" fmla="*/ 155426 w 1424802"/>
              <a:gd name="connsiteY56" fmla="*/ 1586939 h 1639693"/>
              <a:gd name="connsiteX57" fmla="*/ 83418 w 1424802"/>
              <a:gd name="connsiteY57" fmla="*/ 1514931 h 1639693"/>
              <a:gd name="connsiteX58" fmla="*/ 50662 w 1424802"/>
              <a:gd name="connsiteY58" fmla="*/ 1463847 h 1639693"/>
              <a:gd name="connsiteX59" fmla="*/ 33078 w 1424802"/>
              <a:gd name="connsiteY59" fmla="*/ 1446262 h 1639693"/>
              <a:gd name="connsiteX60" fmla="*/ 21355 w 1424802"/>
              <a:gd name="connsiteY60" fmla="*/ 1405231 h 1639693"/>
              <a:gd name="connsiteX61" fmla="*/ 9632 w 1424802"/>
              <a:gd name="connsiteY61" fmla="*/ 1358339 h 1639693"/>
              <a:gd name="connsiteX62" fmla="*/ 9632 w 1424802"/>
              <a:gd name="connsiteY62" fmla="*/ 1159047 h 1639693"/>
              <a:gd name="connsiteX63" fmla="*/ 15493 w 1424802"/>
              <a:gd name="connsiteY63" fmla="*/ 1141462 h 1639693"/>
              <a:gd name="connsiteX64" fmla="*/ 21355 w 1424802"/>
              <a:gd name="connsiteY64" fmla="*/ 1088708 h 1639693"/>
              <a:gd name="connsiteX65" fmla="*/ 27216 w 1424802"/>
              <a:gd name="connsiteY65" fmla="*/ 1071124 h 1639693"/>
              <a:gd name="connsiteX66" fmla="*/ 33078 w 1424802"/>
              <a:gd name="connsiteY66" fmla="*/ 1035954 h 1639693"/>
              <a:gd name="connsiteX67" fmla="*/ 50662 w 1424802"/>
              <a:gd name="connsiteY67" fmla="*/ 994924 h 1639693"/>
              <a:gd name="connsiteX68" fmla="*/ 62385 w 1424802"/>
              <a:gd name="connsiteY68" fmla="*/ 953893 h 1639693"/>
              <a:gd name="connsiteX69" fmla="*/ 74108 w 1424802"/>
              <a:gd name="connsiteY69" fmla="*/ 930447 h 1639693"/>
              <a:gd name="connsiteX70" fmla="*/ 85832 w 1424802"/>
              <a:gd name="connsiteY70" fmla="*/ 889416 h 1639693"/>
              <a:gd name="connsiteX71" fmla="*/ 91693 w 1424802"/>
              <a:gd name="connsiteY71" fmla="*/ 871831 h 1639693"/>
              <a:gd name="connsiteX72" fmla="*/ 97555 w 1424802"/>
              <a:gd name="connsiteY72" fmla="*/ 842524 h 1639693"/>
              <a:gd name="connsiteX73" fmla="*/ 103416 w 1424802"/>
              <a:gd name="connsiteY73" fmla="*/ 824939 h 1639693"/>
              <a:gd name="connsiteX74" fmla="*/ 102366 w 1424802"/>
              <a:gd name="connsiteY74" fmla="*/ 762308 h 1639693"/>
              <a:gd name="connsiteX75" fmla="*/ 83418 w 1424802"/>
              <a:gd name="connsiteY75" fmla="*/ 650835 h 1639693"/>
              <a:gd name="connsiteX76" fmla="*/ 83418 w 1424802"/>
              <a:gd name="connsiteY76" fmla="*/ 506819 h 1639693"/>
              <a:gd name="connsiteX77" fmla="*/ 34270 w 1424802"/>
              <a:gd name="connsiteY77" fmla="*/ 471442 h 1639693"/>
              <a:gd name="connsiteX0" fmla="*/ 34270 w 1424802"/>
              <a:gd name="connsiteY0" fmla="*/ 471442 h 1639693"/>
              <a:gd name="connsiteX1" fmla="*/ 24101 w 1424802"/>
              <a:gd name="connsiteY1" fmla="*/ 362935 h 1639693"/>
              <a:gd name="connsiteX2" fmla="*/ 40439 w 1424802"/>
              <a:gd name="connsiteY2" fmla="*/ 284355 h 1639693"/>
              <a:gd name="connsiteX3" fmla="*/ 105996 w 1424802"/>
              <a:gd name="connsiteY3" fmla="*/ 137001 h 1639693"/>
              <a:gd name="connsiteX4" fmla="*/ 299018 w 1424802"/>
              <a:gd name="connsiteY4" fmla="*/ 2709 h 1639693"/>
              <a:gd name="connsiteX5" fmla="*/ 452136 w 1424802"/>
              <a:gd name="connsiteY5" fmla="*/ 68384 h 1639693"/>
              <a:gd name="connsiteX6" fmla="*/ 538129 w 1424802"/>
              <a:gd name="connsiteY6" fmla="*/ 104334 h 1639693"/>
              <a:gd name="connsiteX7" fmla="*/ 620226 w 1424802"/>
              <a:gd name="connsiteY7" fmla="*/ 120669 h 1639693"/>
              <a:gd name="connsiteX8" fmla="*/ 659264 w 1424802"/>
              <a:gd name="connsiteY8" fmla="*/ 146762 h 1639693"/>
              <a:gd name="connsiteX9" fmla="*/ 741534 w 1424802"/>
              <a:gd name="connsiteY9" fmla="*/ 192532 h 1639693"/>
              <a:gd name="connsiteX10" fmla="*/ 824385 w 1424802"/>
              <a:gd name="connsiteY10" fmla="*/ 314985 h 1639693"/>
              <a:gd name="connsiteX11" fmla="*/ 841970 w 1424802"/>
              <a:gd name="connsiteY11" fmla="*/ 332570 h 1639693"/>
              <a:gd name="connsiteX12" fmla="*/ 847832 w 1424802"/>
              <a:gd name="connsiteY12" fmla="*/ 350154 h 1639693"/>
              <a:gd name="connsiteX13" fmla="*/ 865416 w 1424802"/>
              <a:gd name="connsiteY13" fmla="*/ 356016 h 1639693"/>
              <a:gd name="connsiteX14" fmla="*/ 906447 w 1424802"/>
              <a:gd name="connsiteY14" fmla="*/ 391185 h 1639693"/>
              <a:gd name="connsiteX15" fmla="*/ 918170 w 1424802"/>
              <a:gd name="connsiteY15" fmla="*/ 408770 h 1639693"/>
              <a:gd name="connsiteX16" fmla="*/ 935755 w 1424802"/>
              <a:gd name="connsiteY16" fmla="*/ 420493 h 1639693"/>
              <a:gd name="connsiteX17" fmla="*/ 959201 w 1424802"/>
              <a:gd name="connsiteY17" fmla="*/ 438077 h 1639693"/>
              <a:gd name="connsiteX18" fmla="*/ 976785 w 1424802"/>
              <a:gd name="connsiteY18" fmla="*/ 449801 h 1639693"/>
              <a:gd name="connsiteX19" fmla="*/ 994370 w 1424802"/>
              <a:gd name="connsiteY19" fmla="*/ 473247 h 1639693"/>
              <a:gd name="connsiteX20" fmla="*/ 1035401 w 1424802"/>
              <a:gd name="connsiteY20" fmla="*/ 496693 h 1639693"/>
              <a:gd name="connsiteX21" fmla="*/ 1058847 w 1424802"/>
              <a:gd name="connsiteY21" fmla="*/ 526001 h 1639693"/>
              <a:gd name="connsiteX22" fmla="*/ 1099878 w 1424802"/>
              <a:gd name="connsiteY22" fmla="*/ 561170 h 1639693"/>
              <a:gd name="connsiteX23" fmla="*/ 1129185 w 1424802"/>
              <a:gd name="connsiteY23" fmla="*/ 602201 h 1639693"/>
              <a:gd name="connsiteX24" fmla="*/ 1135047 w 1424802"/>
              <a:gd name="connsiteY24" fmla="*/ 619785 h 1639693"/>
              <a:gd name="connsiteX25" fmla="*/ 1170216 w 1424802"/>
              <a:gd name="connsiteY25" fmla="*/ 660816 h 1639693"/>
              <a:gd name="connsiteX26" fmla="*/ 1187801 w 1424802"/>
              <a:gd name="connsiteY26" fmla="*/ 684262 h 1639693"/>
              <a:gd name="connsiteX27" fmla="*/ 1211247 w 1424802"/>
              <a:gd name="connsiteY27" fmla="*/ 719431 h 1639693"/>
              <a:gd name="connsiteX28" fmla="*/ 1240555 w 1424802"/>
              <a:gd name="connsiteY28" fmla="*/ 760462 h 1639693"/>
              <a:gd name="connsiteX29" fmla="*/ 1264001 w 1424802"/>
              <a:gd name="connsiteY29" fmla="*/ 807354 h 1639693"/>
              <a:gd name="connsiteX30" fmla="*/ 1269862 w 1424802"/>
              <a:gd name="connsiteY30" fmla="*/ 824939 h 1639693"/>
              <a:gd name="connsiteX31" fmla="*/ 1287447 w 1424802"/>
              <a:gd name="connsiteY31" fmla="*/ 854247 h 1639693"/>
              <a:gd name="connsiteX32" fmla="*/ 1299170 w 1424802"/>
              <a:gd name="connsiteY32" fmla="*/ 877693 h 1639693"/>
              <a:gd name="connsiteX33" fmla="*/ 1316755 w 1424802"/>
              <a:gd name="connsiteY33" fmla="*/ 895277 h 1639693"/>
              <a:gd name="connsiteX34" fmla="*/ 1340201 w 1424802"/>
              <a:gd name="connsiteY34" fmla="*/ 936308 h 1639693"/>
              <a:gd name="connsiteX35" fmla="*/ 1351924 w 1424802"/>
              <a:gd name="connsiteY35" fmla="*/ 959754 h 1639693"/>
              <a:gd name="connsiteX36" fmla="*/ 1357785 w 1424802"/>
              <a:gd name="connsiteY36" fmla="*/ 977339 h 1639693"/>
              <a:gd name="connsiteX37" fmla="*/ 1369508 w 1424802"/>
              <a:gd name="connsiteY37" fmla="*/ 994924 h 1639693"/>
              <a:gd name="connsiteX38" fmla="*/ 1381232 w 1424802"/>
              <a:gd name="connsiteY38" fmla="*/ 1024231 h 1639693"/>
              <a:gd name="connsiteX39" fmla="*/ 1398816 w 1424802"/>
              <a:gd name="connsiteY39" fmla="*/ 1100431 h 1639693"/>
              <a:gd name="connsiteX40" fmla="*/ 1410539 w 1424802"/>
              <a:gd name="connsiteY40" fmla="*/ 1170770 h 1639693"/>
              <a:gd name="connsiteX41" fmla="*/ 1416401 w 1424802"/>
              <a:gd name="connsiteY41" fmla="*/ 1188354 h 1639693"/>
              <a:gd name="connsiteX42" fmla="*/ 1410539 w 1424802"/>
              <a:gd name="connsiteY42" fmla="*/ 1340754 h 1639693"/>
              <a:gd name="connsiteX43" fmla="*/ 1404287 w 1424802"/>
              <a:gd name="connsiteY43" fmla="*/ 1464380 h 1639693"/>
              <a:gd name="connsiteX44" fmla="*/ 1287447 w 1424802"/>
              <a:gd name="connsiteY44" fmla="*/ 1598662 h 1639693"/>
              <a:gd name="connsiteX45" fmla="*/ 1269862 w 1424802"/>
              <a:gd name="connsiteY45" fmla="*/ 1610385 h 1639693"/>
              <a:gd name="connsiteX46" fmla="*/ 1234693 w 1424802"/>
              <a:gd name="connsiteY46" fmla="*/ 1622108 h 1639693"/>
              <a:gd name="connsiteX47" fmla="*/ 1217108 w 1424802"/>
              <a:gd name="connsiteY47" fmla="*/ 1627970 h 1639693"/>
              <a:gd name="connsiteX48" fmla="*/ 1176078 w 1424802"/>
              <a:gd name="connsiteY48" fmla="*/ 1633831 h 1639693"/>
              <a:gd name="connsiteX49" fmla="*/ 1140908 w 1424802"/>
              <a:gd name="connsiteY49" fmla="*/ 1639693 h 1639693"/>
              <a:gd name="connsiteX50" fmla="*/ 900585 w 1424802"/>
              <a:gd name="connsiteY50" fmla="*/ 1633831 h 1639693"/>
              <a:gd name="connsiteX51" fmla="*/ 883001 w 1424802"/>
              <a:gd name="connsiteY51" fmla="*/ 1627970 h 1639693"/>
              <a:gd name="connsiteX52" fmla="*/ 800939 w 1424802"/>
              <a:gd name="connsiteY52" fmla="*/ 1622108 h 1639693"/>
              <a:gd name="connsiteX53" fmla="*/ 630955 w 1424802"/>
              <a:gd name="connsiteY53" fmla="*/ 1616247 h 1639693"/>
              <a:gd name="connsiteX54" fmla="*/ 572339 w 1424802"/>
              <a:gd name="connsiteY54" fmla="*/ 1610385 h 1639693"/>
              <a:gd name="connsiteX55" fmla="*/ 476812 w 1424802"/>
              <a:gd name="connsiteY55" fmla="*/ 1616247 h 1639693"/>
              <a:gd name="connsiteX56" fmla="*/ 155426 w 1424802"/>
              <a:gd name="connsiteY56" fmla="*/ 1586939 h 1639693"/>
              <a:gd name="connsiteX57" fmla="*/ 83418 w 1424802"/>
              <a:gd name="connsiteY57" fmla="*/ 1514931 h 1639693"/>
              <a:gd name="connsiteX58" fmla="*/ 50662 w 1424802"/>
              <a:gd name="connsiteY58" fmla="*/ 1463847 h 1639693"/>
              <a:gd name="connsiteX59" fmla="*/ 33078 w 1424802"/>
              <a:gd name="connsiteY59" fmla="*/ 1446262 h 1639693"/>
              <a:gd name="connsiteX60" fmla="*/ 21355 w 1424802"/>
              <a:gd name="connsiteY60" fmla="*/ 1405231 h 1639693"/>
              <a:gd name="connsiteX61" fmla="*/ 9632 w 1424802"/>
              <a:gd name="connsiteY61" fmla="*/ 1358339 h 1639693"/>
              <a:gd name="connsiteX62" fmla="*/ 9632 w 1424802"/>
              <a:gd name="connsiteY62" fmla="*/ 1159047 h 1639693"/>
              <a:gd name="connsiteX63" fmla="*/ 15493 w 1424802"/>
              <a:gd name="connsiteY63" fmla="*/ 1141462 h 1639693"/>
              <a:gd name="connsiteX64" fmla="*/ 21355 w 1424802"/>
              <a:gd name="connsiteY64" fmla="*/ 1088708 h 1639693"/>
              <a:gd name="connsiteX65" fmla="*/ 27216 w 1424802"/>
              <a:gd name="connsiteY65" fmla="*/ 1071124 h 1639693"/>
              <a:gd name="connsiteX66" fmla="*/ 33078 w 1424802"/>
              <a:gd name="connsiteY66" fmla="*/ 1035954 h 1639693"/>
              <a:gd name="connsiteX67" fmla="*/ 50662 w 1424802"/>
              <a:gd name="connsiteY67" fmla="*/ 994924 h 1639693"/>
              <a:gd name="connsiteX68" fmla="*/ 62385 w 1424802"/>
              <a:gd name="connsiteY68" fmla="*/ 953893 h 1639693"/>
              <a:gd name="connsiteX69" fmla="*/ 74108 w 1424802"/>
              <a:gd name="connsiteY69" fmla="*/ 930447 h 1639693"/>
              <a:gd name="connsiteX70" fmla="*/ 85832 w 1424802"/>
              <a:gd name="connsiteY70" fmla="*/ 889416 h 1639693"/>
              <a:gd name="connsiteX71" fmla="*/ 91693 w 1424802"/>
              <a:gd name="connsiteY71" fmla="*/ 871831 h 1639693"/>
              <a:gd name="connsiteX72" fmla="*/ 97555 w 1424802"/>
              <a:gd name="connsiteY72" fmla="*/ 842524 h 1639693"/>
              <a:gd name="connsiteX73" fmla="*/ 103416 w 1424802"/>
              <a:gd name="connsiteY73" fmla="*/ 824939 h 1639693"/>
              <a:gd name="connsiteX74" fmla="*/ 102366 w 1424802"/>
              <a:gd name="connsiteY74" fmla="*/ 762308 h 1639693"/>
              <a:gd name="connsiteX75" fmla="*/ 83418 w 1424802"/>
              <a:gd name="connsiteY75" fmla="*/ 650835 h 1639693"/>
              <a:gd name="connsiteX76" fmla="*/ 34270 w 1424802"/>
              <a:gd name="connsiteY76" fmla="*/ 471442 h 1639693"/>
              <a:gd name="connsiteX0" fmla="*/ 34270 w 1424802"/>
              <a:gd name="connsiteY0" fmla="*/ 471442 h 1639693"/>
              <a:gd name="connsiteX1" fmla="*/ 24101 w 1424802"/>
              <a:gd name="connsiteY1" fmla="*/ 362935 h 1639693"/>
              <a:gd name="connsiteX2" fmla="*/ 40439 w 1424802"/>
              <a:gd name="connsiteY2" fmla="*/ 284355 h 1639693"/>
              <a:gd name="connsiteX3" fmla="*/ 105996 w 1424802"/>
              <a:gd name="connsiteY3" fmla="*/ 137001 h 1639693"/>
              <a:gd name="connsiteX4" fmla="*/ 299018 w 1424802"/>
              <a:gd name="connsiteY4" fmla="*/ 2709 h 1639693"/>
              <a:gd name="connsiteX5" fmla="*/ 452136 w 1424802"/>
              <a:gd name="connsiteY5" fmla="*/ 68384 h 1639693"/>
              <a:gd name="connsiteX6" fmla="*/ 551506 w 1424802"/>
              <a:gd name="connsiteY6" fmla="*/ 58629 h 1639693"/>
              <a:gd name="connsiteX7" fmla="*/ 620226 w 1424802"/>
              <a:gd name="connsiteY7" fmla="*/ 120669 h 1639693"/>
              <a:gd name="connsiteX8" fmla="*/ 659264 w 1424802"/>
              <a:gd name="connsiteY8" fmla="*/ 146762 h 1639693"/>
              <a:gd name="connsiteX9" fmla="*/ 741534 w 1424802"/>
              <a:gd name="connsiteY9" fmla="*/ 192532 h 1639693"/>
              <a:gd name="connsiteX10" fmla="*/ 824385 w 1424802"/>
              <a:gd name="connsiteY10" fmla="*/ 314985 h 1639693"/>
              <a:gd name="connsiteX11" fmla="*/ 841970 w 1424802"/>
              <a:gd name="connsiteY11" fmla="*/ 332570 h 1639693"/>
              <a:gd name="connsiteX12" fmla="*/ 847832 w 1424802"/>
              <a:gd name="connsiteY12" fmla="*/ 350154 h 1639693"/>
              <a:gd name="connsiteX13" fmla="*/ 865416 w 1424802"/>
              <a:gd name="connsiteY13" fmla="*/ 356016 h 1639693"/>
              <a:gd name="connsiteX14" fmla="*/ 906447 w 1424802"/>
              <a:gd name="connsiteY14" fmla="*/ 391185 h 1639693"/>
              <a:gd name="connsiteX15" fmla="*/ 918170 w 1424802"/>
              <a:gd name="connsiteY15" fmla="*/ 408770 h 1639693"/>
              <a:gd name="connsiteX16" fmla="*/ 935755 w 1424802"/>
              <a:gd name="connsiteY16" fmla="*/ 420493 h 1639693"/>
              <a:gd name="connsiteX17" fmla="*/ 959201 w 1424802"/>
              <a:gd name="connsiteY17" fmla="*/ 438077 h 1639693"/>
              <a:gd name="connsiteX18" fmla="*/ 976785 w 1424802"/>
              <a:gd name="connsiteY18" fmla="*/ 449801 h 1639693"/>
              <a:gd name="connsiteX19" fmla="*/ 994370 w 1424802"/>
              <a:gd name="connsiteY19" fmla="*/ 473247 h 1639693"/>
              <a:gd name="connsiteX20" fmla="*/ 1035401 w 1424802"/>
              <a:gd name="connsiteY20" fmla="*/ 496693 h 1639693"/>
              <a:gd name="connsiteX21" fmla="*/ 1058847 w 1424802"/>
              <a:gd name="connsiteY21" fmla="*/ 526001 h 1639693"/>
              <a:gd name="connsiteX22" fmla="*/ 1099878 w 1424802"/>
              <a:gd name="connsiteY22" fmla="*/ 561170 h 1639693"/>
              <a:gd name="connsiteX23" fmla="*/ 1129185 w 1424802"/>
              <a:gd name="connsiteY23" fmla="*/ 602201 h 1639693"/>
              <a:gd name="connsiteX24" fmla="*/ 1135047 w 1424802"/>
              <a:gd name="connsiteY24" fmla="*/ 619785 h 1639693"/>
              <a:gd name="connsiteX25" fmla="*/ 1170216 w 1424802"/>
              <a:gd name="connsiteY25" fmla="*/ 660816 h 1639693"/>
              <a:gd name="connsiteX26" fmla="*/ 1187801 w 1424802"/>
              <a:gd name="connsiteY26" fmla="*/ 684262 h 1639693"/>
              <a:gd name="connsiteX27" fmla="*/ 1211247 w 1424802"/>
              <a:gd name="connsiteY27" fmla="*/ 719431 h 1639693"/>
              <a:gd name="connsiteX28" fmla="*/ 1240555 w 1424802"/>
              <a:gd name="connsiteY28" fmla="*/ 760462 h 1639693"/>
              <a:gd name="connsiteX29" fmla="*/ 1264001 w 1424802"/>
              <a:gd name="connsiteY29" fmla="*/ 807354 h 1639693"/>
              <a:gd name="connsiteX30" fmla="*/ 1269862 w 1424802"/>
              <a:gd name="connsiteY30" fmla="*/ 824939 h 1639693"/>
              <a:gd name="connsiteX31" fmla="*/ 1287447 w 1424802"/>
              <a:gd name="connsiteY31" fmla="*/ 854247 h 1639693"/>
              <a:gd name="connsiteX32" fmla="*/ 1299170 w 1424802"/>
              <a:gd name="connsiteY32" fmla="*/ 877693 h 1639693"/>
              <a:gd name="connsiteX33" fmla="*/ 1316755 w 1424802"/>
              <a:gd name="connsiteY33" fmla="*/ 895277 h 1639693"/>
              <a:gd name="connsiteX34" fmla="*/ 1340201 w 1424802"/>
              <a:gd name="connsiteY34" fmla="*/ 936308 h 1639693"/>
              <a:gd name="connsiteX35" fmla="*/ 1351924 w 1424802"/>
              <a:gd name="connsiteY35" fmla="*/ 959754 h 1639693"/>
              <a:gd name="connsiteX36" fmla="*/ 1357785 w 1424802"/>
              <a:gd name="connsiteY36" fmla="*/ 977339 h 1639693"/>
              <a:gd name="connsiteX37" fmla="*/ 1369508 w 1424802"/>
              <a:gd name="connsiteY37" fmla="*/ 994924 h 1639693"/>
              <a:gd name="connsiteX38" fmla="*/ 1381232 w 1424802"/>
              <a:gd name="connsiteY38" fmla="*/ 1024231 h 1639693"/>
              <a:gd name="connsiteX39" fmla="*/ 1398816 w 1424802"/>
              <a:gd name="connsiteY39" fmla="*/ 1100431 h 1639693"/>
              <a:gd name="connsiteX40" fmla="*/ 1410539 w 1424802"/>
              <a:gd name="connsiteY40" fmla="*/ 1170770 h 1639693"/>
              <a:gd name="connsiteX41" fmla="*/ 1416401 w 1424802"/>
              <a:gd name="connsiteY41" fmla="*/ 1188354 h 1639693"/>
              <a:gd name="connsiteX42" fmla="*/ 1410539 w 1424802"/>
              <a:gd name="connsiteY42" fmla="*/ 1340754 h 1639693"/>
              <a:gd name="connsiteX43" fmla="*/ 1404287 w 1424802"/>
              <a:gd name="connsiteY43" fmla="*/ 1464380 h 1639693"/>
              <a:gd name="connsiteX44" fmla="*/ 1287447 w 1424802"/>
              <a:gd name="connsiteY44" fmla="*/ 1598662 h 1639693"/>
              <a:gd name="connsiteX45" fmla="*/ 1269862 w 1424802"/>
              <a:gd name="connsiteY45" fmla="*/ 1610385 h 1639693"/>
              <a:gd name="connsiteX46" fmla="*/ 1234693 w 1424802"/>
              <a:gd name="connsiteY46" fmla="*/ 1622108 h 1639693"/>
              <a:gd name="connsiteX47" fmla="*/ 1217108 w 1424802"/>
              <a:gd name="connsiteY47" fmla="*/ 1627970 h 1639693"/>
              <a:gd name="connsiteX48" fmla="*/ 1176078 w 1424802"/>
              <a:gd name="connsiteY48" fmla="*/ 1633831 h 1639693"/>
              <a:gd name="connsiteX49" fmla="*/ 1140908 w 1424802"/>
              <a:gd name="connsiteY49" fmla="*/ 1639693 h 1639693"/>
              <a:gd name="connsiteX50" fmla="*/ 900585 w 1424802"/>
              <a:gd name="connsiteY50" fmla="*/ 1633831 h 1639693"/>
              <a:gd name="connsiteX51" fmla="*/ 883001 w 1424802"/>
              <a:gd name="connsiteY51" fmla="*/ 1627970 h 1639693"/>
              <a:gd name="connsiteX52" fmla="*/ 800939 w 1424802"/>
              <a:gd name="connsiteY52" fmla="*/ 1622108 h 1639693"/>
              <a:gd name="connsiteX53" fmla="*/ 630955 w 1424802"/>
              <a:gd name="connsiteY53" fmla="*/ 1616247 h 1639693"/>
              <a:gd name="connsiteX54" fmla="*/ 572339 w 1424802"/>
              <a:gd name="connsiteY54" fmla="*/ 1610385 h 1639693"/>
              <a:gd name="connsiteX55" fmla="*/ 476812 w 1424802"/>
              <a:gd name="connsiteY55" fmla="*/ 1616247 h 1639693"/>
              <a:gd name="connsiteX56" fmla="*/ 155426 w 1424802"/>
              <a:gd name="connsiteY56" fmla="*/ 1586939 h 1639693"/>
              <a:gd name="connsiteX57" fmla="*/ 83418 w 1424802"/>
              <a:gd name="connsiteY57" fmla="*/ 1514931 h 1639693"/>
              <a:gd name="connsiteX58" fmla="*/ 50662 w 1424802"/>
              <a:gd name="connsiteY58" fmla="*/ 1463847 h 1639693"/>
              <a:gd name="connsiteX59" fmla="*/ 33078 w 1424802"/>
              <a:gd name="connsiteY59" fmla="*/ 1446262 h 1639693"/>
              <a:gd name="connsiteX60" fmla="*/ 21355 w 1424802"/>
              <a:gd name="connsiteY60" fmla="*/ 1405231 h 1639693"/>
              <a:gd name="connsiteX61" fmla="*/ 9632 w 1424802"/>
              <a:gd name="connsiteY61" fmla="*/ 1358339 h 1639693"/>
              <a:gd name="connsiteX62" fmla="*/ 9632 w 1424802"/>
              <a:gd name="connsiteY62" fmla="*/ 1159047 h 1639693"/>
              <a:gd name="connsiteX63" fmla="*/ 15493 w 1424802"/>
              <a:gd name="connsiteY63" fmla="*/ 1141462 h 1639693"/>
              <a:gd name="connsiteX64" fmla="*/ 21355 w 1424802"/>
              <a:gd name="connsiteY64" fmla="*/ 1088708 h 1639693"/>
              <a:gd name="connsiteX65" fmla="*/ 27216 w 1424802"/>
              <a:gd name="connsiteY65" fmla="*/ 1071124 h 1639693"/>
              <a:gd name="connsiteX66" fmla="*/ 33078 w 1424802"/>
              <a:gd name="connsiteY66" fmla="*/ 1035954 h 1639693"/>
              <a:gd name="connsiteX67" fmla="*/ 50662 w 1424802"/>
              <a:gd name="connsiteY67" fmla="*/ 994924 h 1639693"/>
              <a:gd name="connsiteX68" fmla="*/ 62385 w 1424802"/>
              <a:gd name="connsiteY68" fmla="*/ 953893 h 1639693"/>
              <a:gd name="connsiteX69" fmla="*/ 74108 w 1424802"/>
              <a:gd name="connsiteY69" fmla="*/ 930447 h 1639693"/>
              <a:gd name="connsiteX70" fmla="*/ 85832 w 1424802"/>
              <a:gd name="connsiteY70" fmla="*/ 889416 h 1639693"/>
              <a:gd name="connsiteX71" fmla="*/ 91693 w 1424802"/>
              <a:gd name="connsiteY71" fmla="*/ 871831 h 1639693"/>
              <a:gd name="connsiteX72" fmla="*/ 97555 w 1424802"/>
              <a:gd name="connsiteY72" fmla="*/ 842524 h 1639693"/>
              <a:gd name="connsiteX73" fmla="*/ 103416 w 1424802"/>
              <a:gd name="connsiteY73" fmla="*/ 824939 h 1639693"/>
              <a:gd name="connsiteX74" fmla="*/ 102366 w 1424802"/>
              <a:gd name="connsiteY74" fmla="*/ 762308 h 1639693"/>
              <a:gd name="connsiteX75" fmla="*/ 83418 w 1424802"/>
              <a:gd name="connsiteY75" fmla="*/ 650835 h 1639693"/>
              <a:gd name="connsiteX76" fmla="*/ 34270 w 1424802"/>
              <a:gd name="connsiteY76" fmla="*/ 471442 h 1639693"/>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240555 w 1424802"/>
              <a:gd name="connsiteY27" fmla="*/ 770815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316755 w 1424802"/>
              <a:gd name="connsiteY32" fmla="*/ 905630 h 1650046"/>
              <a:gd name="connsiteX33" fmla="*/ 1340201 w 1424802"/>
              <a:gd name="connsiteY33" fmla="*/ 946661 h 1650046"/>
              <a:gd name="connsiteX34" fmla="*/ 1351924 w 1424802"/>
              <a:gd name="connsiteY34" fmla="*/ 970107 h 1650046"/>
              <a:gd name="connsiteX35" fmla="*/ 1357785 w 1424802"/>
              <a:gd name="connsiteY35" fmla="*/ 987692 h 1650046"/>
              <a:gd name="connsiteX36" fmla="*/ 1369508 w 1424802"/>
              <a:gd name="connsiteY36" fmla="*/ 1005277 h 1650046"/>
              <a:gd name="connsiteX37" fmla="*/ 1381232 w 1424802"/>
              <a:gd name="connsiteY37" fmla="*/ 1034584 h 1650046"/>
              <a:gd name="connsiteX38" fmla="*/ 1398816 w 1424802"/>
              <a:gd name="connsiteY38" fmla="*/ 1110784 h 1650046"/>
              <a:gd name="connsiteX39" fmla="*/ 1410539 w 1424802"/>
              <a:gd name="connsiteY39" fmla="*/ 1181123 h 1650046"/>
              <a:gd name="connsiteX40" fmla="*/ 1416401 w 1424802"/>
              <a:gd name="connsiteY40" fmla="*/ 1198707 h 1650046"/>
              <a:gd name="connsiteX41" fmla="*/ 1410539 w 1424802"/>
              <a:gd name="connsiteY41" fmla="*/ 1351107 h 1650046"/>
              <a:gd name="connsiteX42" fmla="*/ 1404287 w 1424802"/>
              <a:gd name="connsiteY42" fmla="*/ 1474733 h 1650046"/>
              <a:gd name="connsiteX43" fmla="*/ 1287447 w 1424802"/>
              <a:gd name="connsiteY43" fmla="*/ 1609015 h 1650046"/>
              <a:gd name="connsiteX44" fmla="*/ 1269862 w 1424802"/>
              <a:gd name="connsiteY44" fmla="*/ 1620738 h 1650046"/>
              <a:gd name="connsiteX45" fmla="*/ 1234693 w 1424802"/>
              <a:gd name="connsiteY45" fmla="*/ 1632461 h 1650046"/>
              <a:gd name="connsiteX46" fmla="*/ 1217108 w 1424802"/>
              <a:gd name="connsiteY46" fmla="*/ 1638323 h 1650046"/>
              <a:gd name="connsiteX47" fmla="*/ 1176078 w 1424802"/>
              <a:gd name="connsiteY47" fmla="*/ 1644184 h 1650046"/>
              <a:gd name="connsiteX48" fmla="*/ 1140908 w 1424802"/>
              <a:gd name="connsiteY48" fmla="*/ 1650046 h 1650046"/>
              <a:gd name="connsiteX49" fmla="*/ 900585 w 1424802"/>
              <a:gd name="connsiteY49" fmla="*/ 1644184 h 1650046"/>
              <a:gd name="connsiteX50" fmla="*/ 883001 w 1424802"/>
              <a:gd name="connsiteY50" fmla="*/ 1638323 h 1650046"/>
              <a:gd name="connsiteX51" fmla="*/ 800939 w 1424802"/>
              <a:gd name="connsiteY51" fmla="*/ 1632461 h 1650046"/>
              <a:gd name="connsiteX52" fmla="*/ 630955 w 1424802"/>
              <a:gd name="connsiteY52" fmla="*/ 1626600 h 1650046"/>
              <a:gd name="connsiteX53" fmla="*/ 572339 w 1424802"/>
              <a:gd name="connsiteY53" fmla="*/ 1620738 h 1650046"/>
              <a:gd name="connsiteX54" fmla="*/ 476812 w 1424802"/>
              <a:gd name="connsiteY54" fmla="*/ 1626600 h 1650046"/>
              <a:gd name="connsiteX55" fmla="*/ 155426 w 1424802"/>
              <a:gd name="connsiteY55" fmla="*/ 1597292 h 1650046"/>
              <a:gd name="connsiteX56" fmla="*/ 83418 w 1424802"/>
              <a:gd name="connsiteY56" fmla="*/ 1525284 h 1650046"/>
              <a:gd name="connsiteX57" fmla="*/ 50662 w 1424802"/>
              <a:gd name="connsiteY57" fmla="*/ 1474200 h 1650046"/>
              <a:gd name="connsiteX58" fmla="*/ 33078 w 1424802"/>
              <a:gd name="connsiteY58" fmla="*/ 1456615 h 1650046"/>
              <a:gd name="connsiteX59" fmla="*/ 21355 w 1424802"/>
              <a:gd name="connsiteY59" fmla="*/ 1415584 h 1650046"/>
              <a:gd name="connsiteX60" fmla="*/ 9632 w 1424802"/>
              <a:gd name="connsiteY60" fmla="*/ 1368692 h 1650046"/>
              <a:gd name="connsiteX61" fmla="*/ 9632 w 1424802"/>
              <a:gd name="connsiteY61" fmla="*/ 1169400 h 1650046"/>
              <a:gd name="connsiteX62" fmla="*/ 15493 w 1424802"/>
              <a:gd name="connsiteY62" fmla="*/ 1151815 h 1650046"/>
              <a:gd name="connsiteX63" fmla="*/ 21355 w 1424802"/>
              <a:gd name="connsiteY63" fmla="*/ 1099061 h 1650046"/>
              <a:gd name="connsiteX64" fmla="*/ 27216 w 1424802"/>
              <a:gd name="connsiteY64" fmla="*/ 1081477 h 1650046"/>
              <a:gd name="connsiteX65" fmla="*/ 33078 w 1424802"/>
              <a:gd name="connsiteY65" fmla="*/ 1046307 h 1650046"/>
              <a:gd name="connsiteX66" fmla="*/ 50662 w 1424802"/>
              <a:gd name="connsiteY66" fmla="*/ 1005277 h 1650046"/>
              <a:gd name="connsiteX67" fmla="*/ 62385 w 1424802"/>
              <a:gd name="connsiteY67" fmla="*/ 964246 h 1650046"/>
              <a:gd name="connsiteX68" fmla="*/ 74108 w 1424802"/>
              <a:gd name="connsiteY68" fmla="*/ 940800 h 1650046"/>
              <a:gd name="connsiteX69" fmla="*/ 85832 w 1424802"/>
              <a:gd name="connsiteY69" fmla="*/ 899769 h 1650046"/>
              <a:gd name="connsiteX70" fmla="*/ 91693 w 1424802"/>
              <a:gd name="connsiteY70" fmla="*/ 882184 h 1650046"/>
              <a:gd name="connsiteX71" fmla="*/ 97555 w 1424802"/>
              <a:gd name="connsiteY71" fmla="*/ 852877 h 1650046"/>
              <a:gd name="connsiteX72" fmla="*/ 103416 w 1424802"/>
              <a:gd name="connsiteY72" fmla="*/ 835292 h 1650046"/>
              <a:gd name="connsiteX73" fmla="*/ 102366 w 1424802"/>
              <a:gd name="connsiteY73" fmla="*/ 772661 h 1650046"/>
              <a:gd name="connsiteX74" fmla="*/ 83418 w 1424802"/>
              <a:gd name="connsiteY74" fmla="*/ 661188 h 1650046"/>
              <a:gd name="connsiteX75" fmla="*/ 34270 w 1424802"/>
              <a:gd name="connsiteY75"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316755 w 1424802"/>
              <a:gd name="connsiteY32" fmla="*/ 905630 h 1650046"/>
              <a:gd name="connsiteX33" fmla="*/ 1340201 w 1424802"/>
              <a:gd name="connsiteY33" fmla="*/ 946661 h 1650046"/>
              <a:gd name="connsiteX34" fmla="*/ 1351924 w 1424802"/>
              <a:gd name="connsiteY34" fmla="*/ 970107 h 1650046"/>
              <a:gd name="connsiteX35" fmla="*/ 1357785 w 1424802"/>
              <a:gd name="connsiteY35" fmla="*/ 987692 h 1650046"/>
              <a:gd name="connsiteX36" fmla="*/ 1369508 w 1424802"/>
              <a:gd name="connsiteY36" fmla="*/ 1005277 h 1650046"/>
              <a:gd name="connsiteX37" fmla="*/ 1381232 w 1424802"/>
              <a:gd name="connsiteY37" fmla="*/ 1034584 h 1650046"/>
              <a:gd name="connsiteX38" fmla="*/ 1398816 w 1424802"/>
              <a:gd name="connsiteY38" fmla="*/ 1110784 h 1650046"/>
              <a:gd name="connsiteX39" fmla="*/ 1410539 w 1424802"/>
              <a:gd name="connsiteY39" fmla="*/ 1181123 h 1650046"/>
              <a:gd name="connsiteX40" fmla="*/ 1416401 w 1424802"/>
              <a:gd name="connsiteY40" fmla="*/ 1198707 h 1650046"/>
              <a:gd name="connsiteX41" fmla="*/ 1410539 w 1424802"/>
              <a:gd name="connsiteY41" fmla="*/ 1351107 h 1650046"/>
              <a:gd name="connsiteX42" fmla="*/ 1404287 w 1424802"/>
              <a:gd name="connsiteY42" fmla="*/ 1474733 h 1650046"/>
              <a:gd name="connsiteX43" fmla="*/ 1287447 w 1424802"/>
              <a:gd name="connsiteY43" fmla="*/ 1609015 h 1650046"/>
              <a:gd name="connsiteX44" fmla="*/ 1269862 w 1424802"/>
              <a:gd name="connsiteY44" fmla="*/ 1620738 h 1650046"/>
              <a:gd name="connsiteX45" fmla="*/ 1234693 w 1424802"/>
              <a:gd name="connsiteY45" fmla="*/ 1632461 h 1650046"/>
              <a:gd name="connsiteX46" fmla="*/ 1217108 w 1424802"/>
              <a:gd name="connsiteY46" fmla="*/ 1638323 h 1650046"/>
              <a:gd name="connsiteX47" fmla="*/ 1176078 w 1424802"/>
              <a:gd name="connsiteY47" fmla="*/ 1644184 h 1650046"/>
              <a:gd name="connsiteX48" fmla="*/ 1140908 w 1424802"/>
              <a:gd name="connsiteY48" fmla="*/ 1650046 h 1650046"/>
              <a:gd name="connsiteX49" fmla="*/ 900585 w 1424802"/>
              <a:gd name="connsiteY49" fmla="*/ 1644184 h 1650046"/>
              <a:gd name="connsiteX50" fmla="*/ 883001 w 1424802"/>
              <a:gd name="connsiteY50" fmla="*/ 1638323 h 1650046"/>
              <a:gd name="connsiteX51" fmla="*/ 800939 w 1424802"/>
              <a:gd name="connsiteY51" fmla="*/ 1632461 h 1650046"/>
              <a:gd name="connsiteX52" fmla="*/ 630955 w 1424802"/>
              <a:gd name="connsiteY52" fmla="*/ 1626600 h 1650046"/>
              <a:gd name="connsiteX53" fmla="*/ 572339 w 1424802"/>
              <a:gd name="connsiteY53" fmla="*/ 1620738 h 1650046"/>
              <a:gd name="connsiteX54" fmla="*/ 476812 w 1424802"/>
              <a:gd name="connsiteY54" fmla="*/ 1626600 h 1650046"/>
              <a:gd name="connsiteX55" fmla="*/ 155426 w 1424802"/>
              <a:gd name="connsiteY55" fmla="*/ 1597292 h 1650046"/>
              <a:gd name="connsiteX56" fmla="*/ 83418 w 1424802"/>
              <a:gd name="connsiteY56" fmla="*/ 1525284 h 1650046"/>
              <a:gd name="connsiteX57" fmla="*/ 50662 w 1424802"/>
              <a:gd name="connsiteY57" fmla="*/ 1474200 h 1650046"/>
              <a:gd name="connsiteX58" fmla="*/ 33078 w 1424802"/>
              <a:gd name="connsiteY58" fmla="*/ 1456615 h 1650046"/>
              <a:gd name="connsiteX59" fmla="*/ 21355 w 1424802"/>
              <a:gd name="connsiteY59" fmla="*/ 1415584 h 1650046"/>
              <a:gd name="connsiteX60" fmla="*/ 9632 w 1424802"/>
              <a:gd name="connsiteY60" fmla="*/ 1368692 h 1650046"/>
              <a:gd name="connsiteX61" fmla="*/ 9632 w 1424802"/>
              <a:gd name="connsiteY61" fmla="*/ 1169400 h 1650046"/>
              <a:gd name="connsiteX62" fmla="*/ 15493 w 1424802"/>
              <a:gd name="connsiteY62" fmla="*/ 1151815 h 1650046"/>
              <a:gd name="connsiteX63" fmla="*/ 21355 w 1424802"/>
              <a:gd name="connsiteY63" fmla="*/ 1099061 h 1650046"/>
              <a:gd name="connsiteX64" fmla="*/ 27216 w 1424802"/>
              <a:gd name="connsiteY64" fmla="*/ 1081477 h 1650046"/>
              <a:gd name="connsiteX65" fmla="*/ 33078 w 1424802"/>
              <a:gd name="connsiteY65" fmla="*/ 1046307 h 1650046"/>
              <a:gd name="connsiteX66" fmla="*/ 50662 w 1424802"/>
              <a:gd name="connsiteY66" fmla="*/ 1005277 h 1650046"/>
              <a:gd name="connsiteX67" fmla="*/ 62385 w 1424802"/>
              <a:gd name="connsiteY67" fmla="*/ 964246 h 1650046"/>
              <a:gd name="connsiteX68" fmla="*/ 74108 w 1424802"/>
              <a:gd name="connsiteY68" fmla="*/ 940800 h 1650046"/>
              <a:gd name="connsiteX69" fmla="*/ 85832 w 1424802"/>
              <a:gd name="connsiteY69" fmla="*/ 899769 h 1650046"/>
              <a:gd name="connsiteX70" fmla="*/ 91693 w 1424802"/>
              <a:gd name="connsiteY70" fmla="*/ 882184 h 1650046"/>
              <a:gd name="connsiteX71" fmla="*/ 97555 w 1424802"/>
              <a:gd name="connsiteY71" fmla="*/ 852877 h 1650046"/>
              <a:gd name="connsiteX72" fmla="*/ 103416 w 1424802"/>
              <a:gd name="connsiteY72" fmla="*/ 835292 h 1650046"/>
              <a:gd name="connsiteX73" fmla="*/ 102366 w 1424802"/>
              <a:gd name="connsiteY73" fmla="*/ 772661 h 1650046"/>
              <a:gd name="connsiteX74" fmla="*/ 83418 w 1424802"/>
              <a:gd name="connsiteY74" fmla="*/ 661188 h 1650046"/>
              <a:gd name="connsiteX75" fmla="*/ 34270 w 1424802"/>
              <a:gd name="connsiteY75"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235657 w 1424802"/>
              <a:gd name="connsiteY32" fmla="*/ 1021434 h 1650046"/>
              <a:gd name="connsiteX33" fmla="*/ 1340201 w 1424802"/>
              <a:gd name="connsiteY33" fmla="*/ 946661 h 1650046"/>
              <a:gd name="connsiteX34" fmla="*/ 1351924 w 1424802"/>
              <a:gd name="connsiteY34" fmla="*/ 970107 h 1650046"/>
              <a:gd name="connsiteX35" fmla="*/ 1357785 w 1424802"/>
              <a:gd name="connsiteY35" fmla="*/ 987692 h 1650046"/>
              <a:gd name="connsiteX36" fmla="*/ 1369508 w 1424802"/>
              <a:gd name="connsiteY36" fmla="*/ 1005277 h 1650046"/>
              <a:gd name="connsiteX37" fmla="*/ 1381232 w 1424802"/>
              <a:gd name="connsiteY37" fmla="*/ 1034584 h 1650046"/>
              <a:gd name="connsiteX38" fmla="*/ 1398816 w 1424802"/>
              <a:gd name="connsiteY38" fmla="*/ 1110784 h 1650046"/>
              <a:gd name="connsiteX39" fmla="*/ 1410539 w 1424802"/>
              <a:gd name="connsiteY39" fmla="*/ 1181123 h 1650046"/>
              <a:gd name="connsiteX40" fmla="*/ 1416401 w 1424802"/>
              <a:gd name="connsiteY40" fmla="*/ 1198707 h 1650046"/>
              <a:gd name="connsiteX41" fmla="*/ 1410539 w 1424802"/>
              <a:gd name="connsiteY41" fmla="*/ 1351107 h 1650046"/>
              <a:gd name="connsiteX42" fmla="*/ 1404287 w 1424802"/>
              <a:gd name="connsiteY42" fmla="*/ 1474733 h 1650046"/>
              <a:gd name="connsiteX43" fmla="*/ 1287447 w 1424802"/>
              <a:gd name="connsiteY43" fmla="*/ 1609015 h 1650046"/>
              <a:gd name="connsiteX44" fmla="*/ 1269862 w 1424802"/>
              <a:gd name="connsiteY44" fmla="*/ 1620738 h 1650046"/>
              <a:gd name="connsiteX45" fmla="*/ 1234693 w 1424802"/>
              <a:gd name="connsiteY45" fmla="*/ 1632461 h 1650046"/>
              <a:gd name="connsiteX46" fmla="*/ 1217108 w 1424802"/>
              <a:gd name="connsiteY46" fmla="*/ 1638323 h 1650046"/>
              <a:gd name="connsiteX47" fmla="*/ 1176078 w 1424802"/>
              <a:gd name="connsiteY47" fmla="*/ 1644184 h 1650046"/>
              <a:gd name="connsiteX48" fmla="*/ 1140908 w 1424802"/>
              <a:gd name="connsiteY48" fmla="*/ 1650046 h 1650046"/>
              <a:gd name="connsiteX49" fmla="*/ 900585 w 1424802"/>
              <a:gd name="connsiteY49" fmla="*/ 1644184 h 1650046"/>
              <a:gd name="connsiteX50" fmla="*/ 883001 w 1424802"/>
              <a:gd name="connsiteY50" fmla="*/ 1638323 h 1650046"/>
              <a:gd name="connsiteX51" fmla="*/ 800939 w 1424802"/>
              <a:gd name="connsiteY51" fmla="*/ 1632461 h 1650046"/>
              <a:gd name="connsiteX52" fmla="*/ 630955 w 1424802"/>
              <a:gd name="connsiteY52" fmla="*/ 1626600 h 1650046"/>
              <a:gd name="connsiteX53" fmla="*/ 572339 w 1424802"/>
              <a:gd name="connsiteY53" fmla="*/ 1620738 h 1650046"/>
              <a:gd name="connsiteX54" fmla="*/ 476812 w 1424802"/>
              <a:gd name="connsiteY54" fmla="*/ 1626600 h 1650046"/>
              <a:gd name="connsiteX55" fmla="*/ 155426 w 1424802"/>
              <a:gd name="connsiteY55" fmla="*/ 1597292 h 1650046"/>
              <a:gd name="connsiteX56" fmla="*/ 83418 w 1424802"/>
              <a:gd name="connsiteY56" fmla="*/ 1525284 h 1650046"/>
              <a:gd name="connsiteX57" fmla="*/ 50662 w 1424802"/>
              <a:gd name="connsiteY57" fmla="*/ 1474200 h 1650046"/>
              <a:gd name="connsiteX58" fmla="*/ 33078 w 1424802"/>
              <a:gd name="connsiteY58" fmla="*/ 1456615 h 1650046"/>
              <a:gd name="connsiteX59" fmla="*/ 21355 w 1424802"/>
              <a:gd name="connsiteY59" fmla="*/ 1415584 h 1650046"/>
              <a:gd name="connsiteX60" fmla="*/ 9632 w 1424802"/>
              <a:gd name="connsiteY60" fmla="*/ 1368692 h 1650046"/>
              <a:gd name="connsiteX61" fmla="*/ 9632 w 1424802"/>
              <a:gd name="connsiteY61" fmla="*/ 1169400 h 1650046"/>
              <a:gd name="connsiteX62" fmla="*/ 15493 w 1424802"/>
              <a:gd name="connsiteY62" fmla="*/ 1151815 h 1650046"/>
              <a:gd name="connsiteX63" fmla="*/ 21355 w 1424802"/>
              <a:gd name="connsiteY63" fmla="*/ 1099061 h 1650046"/>
              <a:gd name="connsiteX64" fmla="*/ 27216 w 1424802"/>
              <a:gd name="connsiteY64" fmla="*/ 1081477 h 1650046"/>
              <a:gd name="connsiteX65" fmla="*/ 33078 w 1424802"/>
              <a:gd name="connsiteY65" fmla="*/ 1046307 h 1650046"/>
              <a:gd name="connsiteX66" fmla="*/ 50662 w 1424802"/>
              <a:gd name="connsiteY66" fmla="*/ 1005277 h 1650046"/>
              <a:gd name="connsiteX67" fmla="*/ 62385 w 1424802"/>
              <a:gd name="connsiteY67" fmla="*/ 964246 h 1650046"/>
              <a:gd name="connsiteX68" fmla="*/ 74108 w 1424802"/>
              <a:gd name="connsiteY68" fmla="*/ 940800 h 1650046"/>
              <a:gd name="connsiteX69" fmla="*/ 85832 w 1424802"/>
              <a:gd name="connsiteY69" fmla="*/ 899769 h 1650046"/>
              <a:gd name="connsiteX70" fmla="*/ 91693 w 1424802"/>
              <a:gd name="connsiteY70" fmla="*/ 882184 h 1650046"/>
              <a:gd name="connsiteX71" fmla="*/ 97555 w 1424802"/>
              <a:gd name="connsiteY71" fmla="*/ 852877 h 1650046"/>
              <a:gd name="connsiteX72" fmla="*/ 103416 w 1424802"/>
              <a:gd name="connsiteY72" fmla="*/ 835292 h 1650046"/>
              <a:gd name="connsiteX73" fmla="*/ 102366 w 1424802"/>
              <a:gd name="connsiteY73" fmla="*/ 772661 h 1650046"/>
              <a:gd name="connsiteX74" fmla="*/ 83418 w 1424802"/>
              <a:gd name="connsiteY74" fmla="*/ 661188 h 1650046"/>
              <a:gd name="connsiteX75" fmla="*/ 34270 w 1424802"/>
              <a:gd name="connsiteY75"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235657 w 1424802"/>
              <a:gd name="connsiteY32" fmla="*/ 1021434 h 1650046"/>
              <a:gd name="connsiteX33" fmla="*/ 1340201 w 1424802"/>
              <a:gd name="connsiteY33" fmla="*/ 946661 h 1650046"/>
              <a:gd name="connsiteX34" fmla="*/ 1351924 w 1424802"/>
              <a:gd name="connsiteY34" fmla="*/ 970107 h 1650046"/>
              <a:gd name="connsiteX35" fmla="*/ 1357785 w 1424802"/>
              <a:gd name="connsiteY35" fmla="*/ 987692 h 1650046"/>
              <a:gd name="connsiteX36" fmla="*/ 1369508 w 1424802"/>
              <a:gd name="connsiteY36" fmla="*/ 1005277 h 1650046"/>
              <a:gd name="connsiteX37" fmla="*/ 1307706 w 1424802"/>
              <a:gd name="connsiteY37" fmla="*/ 1093461 h 1650046"/>
              <a:gd name="connsiteX38" fmla="*/ 1398816 w 1424802"/>
              <a:gd name="connsiteY38" fmla="*/ 1110784 h 1650046"/>
              <a:gd name="connsiteX39" fmla="*/ 1410539 w 1424802"/>
              <a:gd name="connsiteY39" fmla="*/ 1181123 h 1650046"/>
              <a:gd name="connsiteX40" fmla="*/ 1416401 w 1424802"/>
              <a:gd name="connsiteY40" fmla="*/ 1198707 h 1650046"/>
              <a:gd name="connsiteX41" fmla="*/ 1410539 w 1424802"/>
              <a:gd name="connsiteY41" fmla="*/ 1351107 h 1650046"/>
              <a:gd name="connsiteX42" fmla="*/ 1404287 w 1424802"/>
              <a:gd name="connsiteY42" fmla="*/ 1474733 h 1650046"/>
              <a:gd name="connsiteX43" fmla="*/ 1287447 w 1424802"/>
              <a:gd name="connsiteY43" fmla="*/ 1609015 h 1650046"/>
              <a:gd name="connsiteX44" fmla="*/ 1269862 w 1424802"/>
              <a:gd name="connsiteY44" fmla="*/ 1620738 h 1650046"/>
              <a:gd name="connsiteX45" fmla="*/ 1234693 w 1424802"/>
              <a:gd name="connsiteY45" fmla="*/ 1632461 h 1650046"/>
              <a:gd name="connsiteX46" fmla="*/ 1217108 w 1424802"/>
              <a:gd name="connsiteY46" fmla="*/ 1638323 h 1650046"/>
              <a:gd name="connsiteX47" fmla="*/ 1176078 w 1424802"/>
              <a:gd name="connsiteY47" fmla="*/ 1644184 h 1650046"/>
              <a:gd name="connsiteX48" fmla="*/ 1140908 w 1424802"/>
              <a:gd name="connsiteY48" fmla="*/ 1650046 h 1650046"/>
              <a:gd name="connsiteX49" fmla="*/ 900585 w 1424802"/>
              <a:gd name="connsiteY49" fmla="*/ 1644184 h 1650046"/>
              <a:gd name="connsiteX50" fmla="*/ 883001 w 1424802"/>
              <a:gd name="connsiteY50" fmla="*/ 1638323 h 1650046"/>
              <a:gd name="connsiteX51" fmla="*/ 800939 w 1424802"/>
              <a:gd name="connsiteY51" fmla="*/ 1632461 h 1650046"/>
              <a:gd name="connsiteX52" fmla="*/ 630955 w 1424802"/>
              <a:gd name="connsiteY52" fmla="*/ 1626600 h 1650046"/>
              <a:gd name="connsiteX53" fmla="*/ 572339 w 1424802"/>
              <a:gd name="connsiteY53" fmla="*/ 1620738 h 1650046"/>
              <a:gd name="connsiteX54" fmla="*/ 476812 w 1424802"/>
              <a:gd name="connsiteY54" fmla="*/ 1626600 h 1650046"/>
              <a:gd name="connsiteX55" fmla="*/ 155426 w 1424802"/>
              <a:gd name="connsiteY55" fmla="*/ 1597292 h 1650046"/>
              <a:gd name="connsiteX56" fmla="*/ 83418 w 1424802"/>
              <a:gd name="connsiteY56" fmla="*/ 1525284 h 1650046"/>
              <a:gd name="connsiteX57" fmla="*/ 50662 w 1424802"/>
              <a:gd name="connsiteY57" fmla="*/ 1474200 h 1650046"/>
              <a:gd name="connsiteX58" fmla="*/ 33078 w 1424802"/>
              <a:gd name="connsiteY58" fmla="*/ 1456615 h 1650046"/>
              <a:gd name="connsiteX59" fmla="*/ 21355 w 1424802"/>
              <a:gd name="connsiteY59" fmla="*/ 1415584 h 1650046"/>
              <a:gd name="connsiteX60" fmla="*/ 9632 w 1424802"/>
              <a:gd name="connsiteY60" fmla="*/ 1368692 h 1650046"/>
              <a:gd name="connsiteX61" fmla="*/ 9632 w 1424802"/>
              <a:gd name="connsiteY61" fmla="*/ 1169400 h 1650046"/>
              <a:gd name="connsiteX62" fmla="*/ 15493 w 1424802"/>
              <a:gd name="connsiteY62" fmla="*/ 1151815 h 1650046"/>
              <a:gd name="connsiteX63" fmla="*/ 21355 w 1424802"/>
              <a:gd name="connsiteY63" fmla="*/ 1099061 h 1650046"/>
              <a:gd name="connsiteX64" fmla="*/ 27216 w 1424802"/>
              <a:gd name="connsiteY64" fmla="*/ 1081477 h 1650046"/>
              <a:gd name="connsiteX65" fmla="*/ 33078 w 1424802"/>
              <a:gd name="connsiteY65" fmla="*/ 1046307 h 1650046"/>
              <a:gd name="connsiteX66" fmla="*/ 50662 w 1424802"/>
              <a:gd name="connsiteY66" fmla="*/ 1005277 h 1650046"/>
              <a:gd name="connsiteX67" fmla="*/ 62385 w 1424802"/>
              <a:gd name="connsiteY67" fmla="*/ 964246 h 1650046"/>
              <a:gd name="connsiteX68" fmla="*/ 74108 w 1424802"/>
              <a:gd name="connsiteY68" fmla="*/ 940800 h 1650046"/>
              <a:gd name="connsiteX69" fmla="*/ 85832 w 1424802"/>
              <a:gd name="connsiteY69" fmla="*/ 899769 h 1650046"/>
              <a:gd name="connsiteX70" fmla="*/ 91693 w 1424802"/>
              <a:gd name="connsiteY70" fmla="*/ 882184 h 1650046"/>
              <a:gd name="connsiteX71" fmla="*/ 97555 w 1424802"/>
              <a:gd name="connsiteY71" fmla="*/ 852877 h 1650046"/>
              <a:gd name="connsiteX72" fmla="*/ 103416 w 1424802"/>
              <a:gd name="connsiteY72" fmla="*/ 835292 h 1650046"/>
              <a:gd name="connsiteX73" fmla="*/ 102366 w 1424802"/>
              <a:gd name="connsiteY73" fmla="*/ 772661 h 1650046"/>
              <a:gd name="connsiteX74" fmla="*/ 83418 w 1424802"/>
              <a:gd name="connsiteY74" fmla="*/ 661188 h 1650046"/>
              <a:gd name="connsiteX75" fmla="*/ 34270 w 1424802"/>
              <a:gd name="connsiteY75"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235657 w 1424802"/>
              <a:gd name="connsiteY32" fmla="*/ 1021434 h 1650046"/>
              <a:gd name="connsiteX33" fmla="*/ 1340201 w 1424802"/>
              <a:gd name="connsiteY33" fmla="*/ 946661 h 1650046"/>
              <a:gd name="connsiteX34" fmla="*/ 1351924 w 1424802"/>
              <a:gd name="connsiteY34" fmla="*/ 970107 h 1650046"/>
              <a:gd name="connsiteX35" fmla="*/ 1357785 w 1424802"/>
              <a:gd name="connsiteY35" fmla="*/ 987692 h 1650046"/>
              <a:gd name="connsiteX36" fmla="*/ 1369508 w 1424802"/>
              <a:gd name="connsiteY36" fmla="*/ 1005277 h 1650046"/>
              <a:gd name="connsiteX37" fmla="*/ 1307706 w 1424802"/>
              <a:gd name="connsiteY37" fmla="*/ 1093461 h 1650046"/>
              <a:gd name="connsiteX38" fmla="*/ 1353869 w 1424802"/>
              <a:gd name="connsiteY38" fmla="*/ 1173135 h 1650046"/>
              <a:gd name="connsiteX39" fmla="*/ 1410539 w 1424802"/>
              <a:gd name="connsiteY39" fmla="*/ 1181123 h 1650046"/>
              <a:gd name="connsiteX40" fmla="*/ 1416401 w 1424802"/>
              <a:gd name="connsiteY40" fmla="*/ 1198707 h 1650046"/>
              <a:gd name="connsiteX41" fmla="*/ 1410539 w 1424802"/>
              <a:gd name="connsiteY41" fmla="*/ 1351107 h 1650046"/>
              <a:gd name="connsiteX42" fmla="*/ 1404287 w 1424802"/>
              <a:gd name="connsiteY42" fmla="*/ 1474733 h 1650046"/>
              <a:gd name="connsiteX43" fmla="*/ 1287447 w 1424802"/>
              <a:gd name="connsiteY43" fmla="*/ 1609015 h 1650046"/>
              <a:gd name="connsiteX44" fmla="*/ 1269862 w 1424802"/>
              <a:gd name="connsiteY44" fmla="*/ 1620738 h 1650046"/>
              <a:gd name="connsiteX45" fmla="*/ 1234693 w 1424802"/>
              <a:gd name="connsiteY45" fmla="*/ 1632461 h 1650046"/>
              <a:gd name="connsiteX46" fmla="*/ 1217108 w 1424802"/>
              <a:gd name="connsiteY46" fmla="*/ 1638323 h 1650046"/>
              <a:gd name="connsiteX47" fmla="*/ 1176078 w 1424802"/>
              <a:gd name="connsiteY47" fmla="*/ 1644184 h 1650046"/>
              <a:gd name="connsiteX48" fmla="*/ 1140908 w 1424802"/>
              <a:gd name="connsiteY48" fmla="*/ 1650046 h 1650046"/>
              <a:gd name="connsiteX49" fmla="*/ 900585 w 1424802"/>
              <a:gd name="connsiteY49" fmla="*/ 1644184 h 1650046"/>
              <a:gd name="connsiteX50" fmla="*/ 883001 w 1424802"/>
              <a:gd name="connsiteY50" fmla="*/ 1638323 h 1650046"/>
              <a:gd name="connsiteX51" fmla="*/ 800939 w 1424802"/>
              <a:gd name="connsiteY51" fmla="*/ 1632461 h 1650046"/>
              <a:gd name="connsiteX52" fmla="*/ 630955 w 1424802"/>
              <a:gd name="connsiteY52" fmla="*/ 1626600 h 1650046"/>
              <a:gd name="connsiteX53" fmla="*/ 572339 w 1424802"/>
              <a:gd name="connsiteY53" fmla="*/ 1620738 h 1650046"/>
              <a:gd name="connsiteX54" fmla="*/ 476812 w 1424802"/>
              <a:gd name="connsiteY54" fmla="*/ 1626600 h 1650046"/>
              <a:gd name="connsiteX55" fmla="*/ 155426 w 1424802"/>
              <a:gd name="connsiteY55" fmla="*/ 1597292 h 1650046"/>
              <a:gd name="connsiteX56" fmla="*/ 83418 w 1424802"/>
              <a:gd name="connsiteY56" fmla="*/ 1525284 h 1650046"/>
              <a:gd name="connsiteX57" fmla="*/ 50662 w 1424802"/>
              <a:gd name="connsiteY57" fmla="*/ 1474200 h 1650046"/>
              <a:gd name="connsiteX58" fmla="*/ 33078 w 1424802"/>
              <a:gd name="connsiteY58" fmla="*/ 1456615 h 1650046"/>
              <a:gd name="connsiteX59" fmla="*/ 21355 w 1424802"/>
              <a:gd name="connsiteY59" fmla="*/ 1415584 h 1650046"/>
              <a:gd name="connsiteX60" fmla="*/ 9632 w 1424802"/>
              <a:gd name="connsiteY60" fmla="*/ 1368692 h 1650046"/>
              <a:gd name="connsiteX61" fmla="*/ 9632 w 1424802"/>
              <a:gd name="connsiteY61" fmla="*/ 1169400 h 1650046"/>
              <a:gd name="connsiteX62" fmla="*/ 15493 w 1424802"/>
              <a:gd name="connsiteY62" fmla="*/ 1151815 h 1650046"/>
              <a:gd name="connsiteX63" fmla="*/ 21355 w 1424802"/>
              <a:gd name="connsiteY63" fmla="*/ 1099061 h 1650046"/>
              <a:gd name="connsiteX64" fmla="*/ 27216 w 1424802"/>
              <a:gd name="connsiteY64" fmla="*/ 1081477 h 1650046"/>
              <a:gd name="connsiteX65" fmla="*/ 33078 w 1424802"/>
              <a:gd name="connsiteY65" fmla="*/ 1046307 h 1650046"/>
              <a:gd name="connsiteX66" fmla="*/ 50662 w 1424802"/>
              <a:gd name="connsiteY66" fmla="*/ 1005277 h 1650046"/>
              <a:gd name="connsiteX67" fmla="*/ 62385 w 1424802"/>
              <a:gd name="connsiteY67" fmla="*/ 964246 h 1650046"/>
              <a:gd name="connsiteX68" fmla="*/ 74108 w 1424802"/>
              <a:gd name="connsiteY68" fmla="*/ 940800 h 1650046"/>
              <a:gd name="connsiteX69" fmla="*/ 85832 w 1424802"/>
              <a:gd name="connsiteY69" fmla="*/ 899769 h 1650046"/>
              <a:gd name="connsiteX70" fmla="*/ 91693 w 1424802"/>
              <a:gd name="connsiteY70" fmla="*/ 882184 h 1650046"/>
              <a:gd name="connsiteX71" fmla="*/ 97555 w 1424802"/>
              <a:gd name="connsiteY71" fmla="*/ 852877 h 1650046"/>
              <a:gd name="connsiteX72" fmla="*/ 103416 w 1424802"/>
              <a:gd name="connsiteY72" fmla="*/ 835292 h 1650046"/>
              <a:gd name="connsiteX73" fmla="*/ 102366 w 1424802"/>
              <a:gd name="connsiteY73" fmla="*/ 772661 h 1650046"/>
              <a:gd name="connsiteX74" fmla="*/ 83418 w 1424802"/>
              <a:gd name="connsiteY74" fmla="*/ 661188 h 1650046"/>
              <a:gd name="connsiteX75" fmla="*/ 34270 w 1424802"/>
              <a:gd name="connsiteY75"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235657 w 1424802"/>
              <a:gd name="connsiteY32" fmla="*/ 1021434 h 1650046"/>
              <a:gd name="connsiteX33" fmla="*/ 1340201 w 1424802"/>
              <a:gd name="connsiteY33" fmla="*/ 946661 h 1650046"/>
              <a:gd name="connsiteX34" fmla="*/ 1351924 w 1424802"/>
              <a:gd name="connsiteY34" fmla="*/ 970107 h 1650046"/>
              <a:gd name="connsiteX35" fmla="*/ 1357785 w 1424802"/>
              <a:gd name="connsiteY35" fmla="*/ 987692 h 1650046"/>
              <a:gd name="connsiteX36" fmla="*/ 1369508 w 1424802"/>
              <a:gd name="connsiteY36" fmla="*/ 1005277 h 1650046"/>
              <a:gd name="connsiteX37" fmla="*/ 1307706 w 1424802"/>
              <a:gd name="connsiteY37" fmla="*/ 1093461 h 1650046"/>
              <a:gd name="connsiteX38" fmla="*/ 1353869 w 1424802"/>
              <a:gd name="connsiteY38" fmla="*/ 1173135 h 1650046"/>
              <a:gd name="connsiteX39" fmla="*/ 1410539 w 1424802"/>
              <a:gd name="connsiteY39" fmla="*/ 1181123 h 1650046"/>
              <a:gd name="connsiteX40" fmla="*/ 1379755 w 1424802"/>
              <a:gd name="connsiteY40" fmla="*/ 1237514 h 1650046"/>
              <a:gd name="connsiteX41" fmla="*/ 1410539 w 1424802"/>
              <a:gd name="connsiteY41" fmla="*/ 1351107 h 1650046"/>
              <a:gd name="connsiteX42" fmla="*/ 1404287 w 1424802"/>
              <a:gd name="connsiteY42" fmla="*/ 1474733 h 1650046"/>
              <a:gd name="connsiteX43" fmla="*/ 1287447 w 1424802"/>
              <a:gd name="connsiteY43" fmla="*/ 1609015 h 1650046"/>
              <a:gd name="connsiteX44" fmla="*/ 1269862 w 1424802"/>
              <a:gd name="connsiteY44" fmla="*/ 1620738 h 1650046"/>
              <a:gd name="connsiteX45" fmla="*/ 1234693 w 1424802"/>
              <a:gd name="connsiteY45" fmla="*/ 1632461 h 1650046"/>
              <a:gd name="connsiteX46" fmla="*/ 1217108 w 1424802"/>
              <a:gd name="connsiteY46" fmla="*/ 1638323 h 1650046"/>
              <a:gd name="connsiteX47" fmla="*/ 1176078 w 1424802"/>
              <a:gd name="connsiteY47" fmla="*/ 1644184 h 1650046"/>
              <a:gd name="connsiteX48" fmla="*/ 1140908 w 1424802"/>
              <a:gd name="connsiteY48" fmla="*/ 1650046 h 1650046"/>
              <a:gd name="connsiteX49" fmla="*/ 900585 w 1424802"/>
              <a:gd name="connsiteY49" fmla="*/ 1644184 h 1650046"/>
              <a:gd name="connsiteX50" fmla="*/ 883001 w 1424802"/>
              <a:gd name="connsiteY50" fmla="*/ 1638323 h 1650046"/>
              <a:gd name="connsiteX51" fmla="*/ 800939 w 1424802"/>
              <a:gd name="connsiteY51" fmla="*/ 1632461 h 1650046"/>
              <a:gd name="connsiteX52" fmla="*/ 630955 w 1424802"/>
              <a:gd name="connsiteY52" fmla="*/ 1626600 h 1650046"/>
              <a:gd name="connsiteX53" fmla="*/ 572339 w 1424802"/>
              <a:gd name="connsiteY53" fmla="*/ 1620738 h 1650046"/>
              <a:gd name="connsiteX54" fmla="*/ 476812 w 1424802"/>
              <a:gd name="connsiteY54" fmla="*/ 1626600 h 1650046"/>
              <a:gd name="connsiteX55" fmla="*/ 155426 w 1424802"/>
              <a:gd name="connsiteY55" fmla="*/ 1597292 h 1650046"/>
              <a:gd name="connsiteX56" fmla="*/ 83418 w 1424802"/>
              <a:gd name="connsiteY56" fmla="*/ 1525284 h 1650046"/>
              <a:gd name="connsiteX57" fmla="*/ 50662 w 1424802"/>
              <a:gd name="connsiteY57" fmla="*/ 1474200 h 1650046"/>
              <a:gd name="connsiteX58" fmla="*/ 33078 w 1424802"/>
              <a:gd name="connsiteY58" fmla="*/ 1456615 h 1650046"/>
              <a:gd name="connsiteX59" fmla="*/ 21355 w 1424802"/>
              <a:gd name="connsiteY59" fmla="*/ 1415584 h 1650046"/>
              <a:gd name="connsiteX60" fmla="*/ 9632 w 1424802"/>
              <a:gd name="connsiteY60" fmla="*/ 1368692 h 1650046"/>
              <a:gd name="connsiteX61" fmla="*/ 9632 w 1424802"/>
              <a:gd name="connsiteY61" fmla="*/ 1169400 h 1650046"/>
              <a:gd name="connsiteX62" fmla="*/ 15493 w 1424802"/>
              <a:gd name="connsiteY62" fmla="*/ 1151815 h 1650046"/>
              <a:gd name="connsiteX63" fmla="*/ 21355 w 1424802"/>
              <a:gd name="connsiteY63" fmla="*/ 1099061 h 1650046"/>
              <a:gd name="connsiteX64" fmla="*/ 27216 w 1424802"/>
              <a:gd name="connsiteY64" fmla="*/ 1081477 h 1650046"/>
              <a:gd name="connsiteX65" fmla="*/ 33078 w 1424802"/>
              <a:gd name="connsiteY65" fmla="*/ 1046307 h 1650046"/>
              <a:gd name="connsiteX66" fmla="*/ 50662 w 1424802"/>
              <a:gd name="connsiteY66" fmla="*/ 1005277 h 1650046"/>
              <a:gd name="connsiteX67" fmla="*/ 62385 w 1424802"/>
              <a:gd name="connsiteY67" fmla="*/ 964246 h 1650046"/>
              <a:gd name="connsiteX68" fmla="*/ 74108 w 1424802"/>
              <a:gd name="connsiteY68" fmla="*/ 940800 h 1650046"/>
              <a:gd name="connsiteX69" fmla="*/ 85832 w 1424802"/>
              <a:gd name="connsiteY69" fmla="*/ 899769 h 1650046"/>
              <a:gd name="connsiteX70" fmla="*/ 91693 w 1424802"/>
              <a:gd name="connsiteY70" fmla="*/ 882184 h 1650046"/>
              <a:gd name="connsiteX71" fmla="*/ 97555 w 1424802"/>
              <a:gd name="connsiteY71" fmla="*/ 852877 h 1650046"/>
              <a:gd name="connsiteX72" fmla="*/ 103416 w 1424802"/>
              <a:gd name="connsiteY72" fmla="*/ 835292 h 1650046"/>
              <a:gd name="connsiteX73" fmla="*/ 102366 w 1424802"/>
              <a:gd name="connsiteY73" fmla="*/ 772661 h 1650046"/>
              <a:gd name="connsiteX74" fmla="*/ 83418 w 1424802"/>
              <a:gd name="connsiteY74" fmla="*/ 661188 h 1650046"/>
              <a:gd name="connsiteX75" fmla="*/ 34270 w 1424802"/>
              <a:gd name="connsiteY75"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235657 w 1424802"/>
              <a:gd name="connsiteY32" fmla="*/ 1021434 h 1650046"/>
              <a:gd name="connsiteX33" fmla="*/ 1340201 w 1424802"/>
              <a:gd name="connsiteY33" fmla="*/ 946661 h 1650046"/>
              <a:gd name="connsiteX34" fmla="*/ 1351924 w 1424802"/>
              <a:gd name="connsiteY34" fmla="*/ 970107 h 1650046"/>
              <a:gd name="connsiteX35" fmla="*/ 1357785 w 1424802"/>
              <a:gd name="connsiteY35" fmla="*/ 987692 h 1650046"/>
              <a:gd name="connsiteX36" fmla="*/ 1369508 w 1424802"/>
              <a:gd name="connsiteY36" fmla="*/ 1005277 h 1650046"/>
              <a:gd name="connsiteX37" fmla="*/ 1307706 w 1424802"/>
              <a:gd name="connsiteY37" fmla="*/ 1093461 h 1650046"/>
              <a:gd name="connsiteX38" fmla="*/ 1353869 w 1424802"/>
              <a:gd name="connsiteY38" fmla="*/ 1173135 h 1650046"/>
              <a:gd name="connsiteX39" fmla="*/ 1379755 w 1424802"/>
              <a:gd name="connsiteY39" fmla="*/ 1237514 h 1650046"/>
              <a:gd name="connsiteX40" fmla="*/ 1410539 w 1424802"/>
              <a:gd name="connsiteY40" fmla="*/ 1351107 h 1650046"/>
              <a:gd name="connsiteX41" fmla="*/ 1404287 w 1424802"/>
              <a:gd name="connsiteY41" fmla="*/ 1474733 h 1650046"/>
              <a:gd name="connsiteX42" fmla="*/ 1287447 w 1424802"/>
              <a:gd name="connsiteY42" fmla="*/ 1609015 h 1650046"/>
              <a:gd name="connsiteX43" fmla="*/ 1269862 w 1424802"/>
              <a:gd name="connsiteY43" fmla="*/ 1620738 h 1650046"/>
              <a:gd name="connsiteX44" fmla="*/ 1234693 w 1424802"/>
              <a:gd name="connsiteY44" fmla="*/ 1632461 h 1650046"/>
              <a:gd name="connsiteX45" fmla="*/ 1217108 w 1424802"/>
              <a:gd name="connsiteY45" fmla="*/ 1638323 h 1650046"/>
              <a:gd name="connsiteX46" fmla="*/ 1176078 w 1424802"/>
              <a:gd name="connsiteY46" fmla="*/ 1644184 h 1650046"/>
              <a:gd name="connsiteX47" fmla="*/ 1140908 w 1424802"/>
              <a:gd name="connsiteY47" fmla="*/ 1650046 h 1650046"/>
              <a:gd name="connsiteX48" fmla="*/ 900585 w 1424802"/>
              <a:gd name="connsiteY48" fmla="*/ 1644184 h 1650046"/>
              <a:gd name="connsiteX49" fmla="*/ 883001 w 1424802"/>
              <a:gd name="connsiteY49" fmla="*/ 1638323 h 1650046"/>
              <a:gd name="connsiteX50" fmla="*/ 800939 w 1424802"/>
              <a:gd name="connsiteY50" fmla="*/ 1632461 h 1650046"/>
              <a:gd name="connsiteX51" fmla="*/ 630955 w 1424802"/>
              <a:gd name="connsiteY51" fmla="*/ 1626600 h 1650046"/>
              <a:gd name="connsiteX52" fmla="*/ 572339 w 1424802"/>
              <a:gd name="connsiteY52" fmla="*/ 1620738 h 1650046"/>
              <a:gd name="connsiteX53" fmla="*/ 476812 w 1424802"/>
              <a:gd name="connsiteY53" fmla="*/ 1626600 h 1650046"/>
              <a:gd name="connsiteX54" fmla="*/ 155426 w 1424802"/>
              <a:gd name="connsiteY54" fmla="*/ 1597292 h 1650046"/>
              <a:gd name="connsiteX55" fmla="*/ 83418 w 1424802"/>
              <a:gd name="connsiteY55" fmla="*/ 1525284 h 1650046"/>
              <a:gd name="connsiteX56" fmla="*/ 50662 w 1424802"/>
              <a:gd name="connsiteY56" fmla="*/ 1474200 h 1650046"/>
              <a:gd name="connsiteX57" fmla="*/ 33078 w 1424802"/>
              <a:gd name="connsiteY57" fmla="*/ 1456615 h 1650046"/>
              <a:gd name="connsiteX58" fmla="*/ 21355 w 1424802"/>
              <a:gd name="connsiteY58" fmla="*/ 1415584 h 1650046"/>
              <a:gd name="connsiteX59" fmla="*/ 9632 w 1424802"/>
              <a:gd name="connsiteY59" fmla="*/ 1368692 h 1650046"/>
              <a:gd name="connsiteX60" fmla="*/ 9632 w 1424802"/>
              <a:gd name="connsiteY60" fmla="*/ 1169400 h 1650046"/>
              <a:gd name="connsiteX61" fmla="*/ 15493 w 1424802"/>
              <a:gd name="connsiteY61" fmla="*/ 1151815 h 1650046"/>
              <a:gd name="connsiteX62" fmla="*/ 21355 w 1424802"/>
              <a:gd name="connsiteY62" fmla="*/ 1099061 h 1650046"/>
              <a:gd name="connsiteX63" fmla="*/ 27216 w 1424802"/>
              <a:gd name="connsiteY63" fmla="*/ 1081477 h 1650046"/>
              <a:gd name="connsiteX64" fmla="*/ 33078 w 1424802"/>
              <a:gd name="connsiteY64" fmla="*/ 1046307 h 1650046"/>
              <a:gd name="connsiteX65" fmla="*/ 50662 w 1424802"/>
              <a:gd name="connsiteY65" fmla="*/ 1005277 h 1650046"/>
              <a:gd name="connsiteX66" fmla="*/ 62385 w 1424802"/>
              <a:gd name="connsiteY66" fmla="*/ 964246 h 1650046"/>
              <a:gd name="connsiteX67" fmla="*/ 74108 w 1424802"/>
              <a:gd name="connsiteY67" fmla="*/ 940800 h 1650046"/>
              <a:gd name="connsiteX68" fmla="*/ 85832 w 1424802"/>
              <a:gd name="connsiteY68" fmla="*/ 899769 h 1650046"/>
              <a:gd name="connsiteX69" fmla="*/ 91693 w 1424802"/>
              <a:gd name="connsiteY69" fmla="*/ 882184 h 1650046"/>
              <a:gd name="connsiteX70" fmla="*/ 97555 w 1424802"/>
              <a:gd name="connsiteY70" fmla="*/ 852877 h 1650046"/>
              <a:gd name="connsiteX71" fmla="*/ 103416 w 1424802"/>
              <a:gd name="connsiteY71" fmla="*/ 835292 h 1650046"/>
              <a:gd name="connsiteX72" fmla="*/ 102366 w 1424802"/>
              <a:gd name="connsiteY72" fmla="*/ 772661 h 1650046"/>
              <a:gd name="connsiteX73" fmla="*/ 83418 w 1424802"/>
              <a:gd name="connsiteY73" fmla="*/ 661188 h 1650046"/>
              <a:gd name="connsiteX74" fmla="*/ 34270 w 1424802"/>
              <a:gd name="connsiteY74"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235657 w 1424802"/>
              <a:gd name="connsiteY32" fmla="*/ 1021434 h 1650046"/>
              <a:gd name="connsiteX33" fmla="*/ 1340201 w 1424802"/>
              <a:gd name="connsiteY33" fmla="*/ 946661 h 1650046"/>
              <a:gd name="connsiteX34" fmla="*/ 1351924 w 1424802"/>
              <a:gd name="connsiteY34" fmla="*/ 970107 h 1650046"/>
              <a:gd name="connsiteX35" fmla="*/ 1357785 w 1424802"/>
              <a:gd name="connsiteY35" fmla="*/ 987692 h 1650046"/>
              <a:gd name="connsiteX36" fmla="*/ 1307706 w 1424802"/>
              <a:gd name="connsiteY36" fmla="*/ 1093461 h 1650046"/>
              <a:gd name="connsiteX37" fmla="*/ 1353869 w 1424802"/>
              <a:gd name="connsiteY37" fmla="*/ 1173135 h 1650046"/>
              <a:gd name="connsiteX38" fmla="*/ 1379755 w 1424802"/>
              <a:gd name="connsiteY38" fmla="*/ 1237514 h 1650046"/>
              <a:gd name="connsiteX39" fmla="*/ 1410539 w 1424802"/>
              <a:gd name="connsiteY39" fmla="*/ 1351107 h 1650046"/>
              <a:gd name="connsiteX40" fmla="*/ 1404287 w 1424802"/>
              <a:gd name="connsiteY40" fmla="*/ 1474733 h 1650046"/>
              <a:gd name="connsiteX41" fmla="*/ 1287447 w 1424802"/>
              <a:gd name="connsiteY41" fmla="*/ 1609015 h 1650046"/>
              <a:gd name="connsiteX42" fmla="*/ 1269862 w 1424802"/>
              <a:gd name="connsiteY42" fmla="*/ 1620738 h 1650046"/>
              <a:gd name="connsiteX43" fmla="*/ 1234693 w 1424802"/>
              <a:gd name="connsiteY43" fmla="*/ 1632461 h 1650046"/>
              <a:gd name="connsiteX44" fmla="*/ 1217108 w 1424802"/>
              <a:gd name="connsiteY44" fmla="*/ 1638323 h 1650046"/>
              <a:gd name="connsiteX45" fmla="*/ 1176078 w 1424802"/>
              <a:gd name="connsiteY45" fmla="*/ 1644184 h 1650046"/>
              <a:gd name="connsiteX46" fmla="*/ 1140908 w 1424802"/>
              <a:gd name="connsiteY46" fmla="*/ 1650046 h 1650046"/>
              <a:gd name="connsiteX47" fmla="*/ 900585 w 1424802"/>
              <a:gd name="connsiteY47" fmla="*/ 1644184 h 1650046"/>
              <a:gd name="connsiteX48" fmla="*/ 883001 w 1424802"/>
              <a:gd name="connsiteY48" fmla="*/ 1638323 h 1650046"/>
              <a:gd name="connsiteX49" fmla="*/ 800939 w 1424802"/>
              <a:gd name="connsiteY49" fmla="*/ 1632461 h 1650046"/>
              <a:gd name="connsiteX50" fmla="*/ 630955 w 1424802"/>
              <a:gd name="connsiteY50" fmla="*/ 1626600 h 1650046"/>
              <a:gd name="connsiteX51" fmla="*/ 572339 w 1424802"/>
              <a:gd name="connsiteY51" fmla="*/ 1620738 h 1650046"/>
              <a:gd name="connsiteX52" fmla="*/ 476812 w 1424802"/>
              <a:gd name="connsiteY52" fmla="*/ 1626600 h 1650046"/>
              <a:gd name="connsiteX53" fmla="*/ 155426 w 1424802"/>
              <a:gd name="connsiteY53" fmla="*/ 1597292 h 1650046"/>
              <a:gd name="connsiteX54" fmla="*/ 83418 w 1424802"/>
              <a:gd name="connsiteY54" fmla="*/ 1525284 h 1650046"/>
              <a:gd name="connsiteX55" fmla="*/ 50662 w 1424802"/>
              <a:gd name="connsiteY55" fmla="*/ 1474200 h 1650046"/>
              <a:gd name="connsiteX56" fmla="*/ 33078 w 1424802"/>
              <a:gd name="connsiteY56" fmla="*/ 1456615 h 1650046"/>
              <a:gd name="connsiteX57" fmla="*/ 21355 w 1424802"/>
              <a:gd name="connsiteY57" fmla="*/ 1415584 h 1650046"/>
              <a:gd name="connsiteX58" fmla="*/ 9632 w 1424802"/>
              <a:gd name="connsiteY58" fmla="*/ 1368692 h 1650046"/>
              <a:gd name="connsiteX59" fmla="*/ 9632 w 1424802"/>
              <a:gd name="connsiteY59" fmla="*/ 1169400 h 1650046"/>
              <a:gd name="connsiteX60" fmla="*/ 15493 w 1424802"/>
              <a:gd name="connsiteY60" fmla="*/ 1151815 h 1650046"/>
              <a:gd name="connsiteX61" fmla="*/ 21355 w 1424802"/>
              <a:gd name="connsiteY61" fmla="*/ 1099061 h 1650046"/>
              <a:gd name="connsiteX62" fmla="*/ 27216 w 1424802"/>
              <a:gd name="connsiteY62" fmla="*/ 1081477 h 1650046"/>
              <a:gd name="connsiteX63" fmla="*/ 33078 w 1424802"/>
              <a:gd name="connsiteY63" fmla="*/ 1046307 h 1650046"/>
              <a:gd name="connsiteX64" fmla="*/ 50662 w 1424802"/>
              <a:gd name="connsiteY64" fmla="*/ 1005277 h 1650046"/>
              <a:gd name="connsiteX65" fmla="*/ 62385 w 1424802"/>
              <a:gd name="connsiteY65" fmla="*/ 964246 h 1650046"/>
              <a:gd name="connsiteX66" fmla="*/ 74108 w 1424802"/>
              <a:gd name="connsiteY66" fmla="*/ 940800 h 1650046"/>
              <a:gd name="connsiteX67" fmla="*/ 85832 w 1424802"/>
              <a:gd name="connsiteY67" fmla="*/ 899769 h 1650046"/>
              <a:gd name="connsiteX68" fmla="*/ 91693 w 1424802"/>
              <a:gd name="connsiteY68" fmla="*/ 882184 h 1650046"/>
              <a:gd name="connsiteX69" fmla="*/ 97555 w 1424802"/>
              <a:gd name="connsiteY69" fmla="*/ 852877 h 1650046"/>
              <a:gd name="connsiteX70" fmla="*/ 103416 w 1424802"/>
              <a:gd name="connsiteY70" fmla="*/ 835292 h 1650046"/>
              <a:gd name="connsiteX71" fmla="*/ 102366 w 1424802"/>
              <a:gd name="connsiteY71" fmla="*/ 772661 h 1650046"/>
              <a:gd name="connsiteX72" fmla="*/ 83418 w 1424802"/>
              <a:gd name="connsiteY72" fmla="*/ 661188 h 1650046"/>
              <a:gd name="connsiteX73" fmla="*/ 34270 w 1424802"/>
              <a:gd name="connsiteY73"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235657 w 1424802"/>
              <a:gd name="connsiteY32" fmla="*/ 1021434 h 1650046"/>
              <a:gd name="connsiteX33" fmla="*/ 1340201 w 1424802"/>
              <a:gd name="connsiteY33" fmla="*/ 946661 h 1650046"/>
              <a:gd name="connsiteX34" fmla="*/ 1351924 w 1424802"/>
              <a:gd name="connsiteY34" fmla="*/ 970107 h 1650046"/>
              <a:gd name="connsiteX35" fmla="*/ 1307706 w 1424802"/>
              <a:gd name="connsiteY35" fmla="*/ 1093461 h 1650046"/>
              <a:gd name="connsiteX36" fmla="*/ 1353869 w 1424802"/>
              <a:gd name="connsiteY36" fmla="*/ 1173135 h 1650046"/>
              <a:gd name="connsiteX37" fmla="*/ 1379755 w 1424802"/>
              <a:gd name="connsiteY37" fmla="*/ 1237514 h 1650046"/>
              <a:gd name="connsiteX38" fmla="*/ 1410539 w 1424802"/>
              <a:gd name="connsiteY38" fmla="*/ 1351107 h 1650046"/>
              <a:gd name="connsiteX39" fmla="*/ 1404287 w 1424802"/>
              <a:gd name="connsiteY39" fmla="*/ 1474733 h 1650046"/>
              <a:gd name="connsiteX40" fmla="*/ 1287447 w 1424802"/>
              <a:gd name="connsiteY40" fmla="*/ 1609015 h 1650046"/>
              <a:gd name="connsiteX41" fmla="*/ 1269862 w 1424802"/>
              <a:gd name="connsiteY41" fmla="*/ 1620738 h 1650046"/>
              <a:gd name="connsiteX42" fmla="*/ 1234693 w 1424802"/>
              <a:gd name="connsiteY42" fmla="*/ 1632461 h 1650046"/>
              <a:gd name="connsiteX43" fmla="*/ 1217108 w 1424802"/>
              <a:gd name="connsiteY43" fmla="*/ 1638323 h 1650046"/>
              <a:gd name="connsiteX44" fmla="*/ 1176078 w 1424802"/>
              <a:gd name="connsiteY44" fmla="*/ 1644184 h 1650046"/>
              <a:gd name="connsiteX45" fmla="*/ 1140908 w 1424802"/>
              <a:gd name="connsiteY45" fmla="*/ 1650046 h 1650046"/>
              <a:gd name="connsiteX46" fmla="*/ 900585 w 1424802"/>
              <a:gd name="connsiteY46" fmla="*/ 1644184 h 1650046"/>
              <a:gd name="connsiteX47" fmla="*/ 883001 w 1424802"/>
              <a:gd name="connsiteY47" fmla="*/ 1638323 h 1650046"/>
              <a:gd name="connsiteX48" fmla="*/ 800939 w 1424802"/>
              <a:gd name="connsiteY48" fmla="*/ 1632461 h 1650046"/>
              <a:gd name="connsiteX49" fmla="*/ 630955 w 1424802"/>
              <a:gd name="connsiteY49" fmla="*/ 1626600 h 1650046"/>
              <a:gd name="connsiteX50" fmla="*/ 572339 w 1424802"/>
              <a:gd name="connsiteY50" fmla="*/ 1620738 h 1650046"/>
              <a:gd name="connsiteX51" fmla="*/ 476812 w 1424802"/>
              <a:gd name="connsiteY51" fmla="*/ 1626600 h 1650046"/>
              <a:gd name="connsiteX52" fmla="*/ 155426 w 1424802"/>
              <a:gd name="connsiteY52" fmla="*/ 1597292 h 1650046"/>
              <a:gd name="connsiteX53" fmla="*/ 83418 w 1424802"/>
              <a:gd name="connsiteY53" fmla="*/ 1525284 h 1650046"/>
              <a:gd name="connsiteX54" fmla="*/ 50662 w 1424802"/>
              <a:gd name="connsiteY54" fmla="*/ 1474200 h 1650046"/>
              <a:gd name="connsiteX55" fmla="*/ 33078 w 1424802"/>
              <a:gd name="connsiteY55" fmla="*/ 1456615 h 1650046"/>
              <a:gd name="connsiteX56" fmla="*/ 21355 w 1424802"/>
              <a:gd name="connsiteY56" fmla="*/ 1415584 h 1650046"/>
              <a:gd name="connsiteX57" fmla="*/ 9632 w 1424802"/>
              <a:gd name="connsiteY57" fmla="*/ 1368692 h 1650046"/>
              <a:gd name="connsiteX58" fmla="*/ 9632 w 1424802"/>
              <a:gd name="connsiteY58" fmla="*/ 1169400 h 1650046"/>
              <a:gd name="connsiteX59" fmla="*/ 15493 w 1424802"/>
              <a:gd name="connsiteY59" fmla="*/ 1151815 h 1650046"/>
              <a:gd name="connsiteX60" fmla="*/ 21355 w 1424802"/>
              <a:gd name="connsiteY60" fmla="*/ 1099061 h 1650046"/>
              <a:gd name="connsiteX61" fmla="*/ 27216 w 1424802"/>
              <a:gd name="connsiteY61" fmla="*/ 1081477 h 1650046"/>
              <a:gd name="connsiteX62" fmla="*/ 33078 w 1424802"/>
              <a:gd name="connsiteY62" fmla="*/ 1046307 h 1650046"/>
              <a:gd name="connsiteX63" fmla="*/ 50662 w 1424802"/>
              <a:gd name="connsiteY63" fmla="*/ 1005277 h 1650046"/>
              <a:gd name="connsiteX64" fmla="*/ 62385 w 1424802"/>
              <a:gd name="connsiteY64" fmla="*/ 964246 h 1650046"/>
              <a:gd name="connsiteX65" fmla="*/ 74108 w 1424802"/>
              <a:gd name="connsiteY65" fmla="*/ 940800 h 1650046"/>
              <a:gd name="connsiteX66" fmla="*/ 85832 w 1424802"/>
              <a:gd name="connsiteY66" fmla="*/ 899769 h 1650046"/>
              <a:gd name="connsiteX67" fmla="*/ 91693 w 1424802"/>
              <a:gd name="connsiteY67" fmla="*/ 882184 h 1650046"/>
              <a:gd name="connsiteX68" fmla="*/ 97555 w 1424802"/>
              <a:gd name="connsiteY68" fmla="*/ 852877 h 1650046"/>
              <a:gd name="connsiteX69" fmla="*/ 103416 w 1424802"/>
              <a:gd name="connsiteY69" fmla="*/ 835292 h 1650046"/>
              <a:gd name="connsiteX70" fmla="*/ 102366 w 1424802"/>
              <a:gd name="connsiteY70" fmla="*/ 772661 h 1650046"/>
              <a:gd name="connsiteX71" fmla="*/ 83418 w 1424802"/>
              <a:gd name="connsiteY71" fmla="*/ 661188 h 1650046"/>
              <a:gd name="connsiteX72" fmla="*/ 34270 w 1424802"/>
              <a:gd name="connsiteY72"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235657 w 1424802"/>
              <a:gd name="connsiteY32" fmla="*/ 1021434 h 1650046"/>
              <a:gd name="connsiteX33" fmla="*/ 1351924 w 1424802"/>
              <a:gd name="connsiteY33" fmla="*/ 970107 h 1650046"/>
              <a:gd name="connsiteX34" fmla="*/ 1307706 w 1424802"/>
              <a:gd name="connsiteY34" fmla="*/ 1093461 h 1650046"/>
              <a:gd name="connsiteX35" fmla="*/ 1353869 w 1424802"/>
              <a:gd name="connsiteY35" fmla="*/ 1173135 h 1650046"/>
              <a:gd name="connsiteX36" fmla="*/ 1379755 w 1424802"/>
              <a:gd name="connsiteY36" fmla="*/ 1237514 h 1650046"/>
              <a:gd name="connsiteX37" fmla="*/ 1410539 w 1424802"/>
              <a:gd name="connsiteY37" fmla="*/ 1351107 h 1650046"/>
              <a:gd name="connsiteX38" fmla="*/ 1404287 w 1424802"/>
              <a:gd name="connsiteY38" fmla="*/ 1474733 h 1650046"/>
              <a:gd name="connsiteX39" fmla="*/ 1287447 w 1424802"/>
              <a:gd name="connsiteY39" fmla="*/ 1609015 h 1650046"/>
              <a:gd name="connsiteX40" fmla="*/ 1269862 w 1424802"/>
              <a:gd name="connsiteY40" fmla="*/ 1620738 h 1650046"/>
              <a:gd name="connsiteX41" fmla="*/ 1234693 w 1424802"/>
              <a:gd name="connsiteY41" fmla="*/ 1632461 h 1650046"/>
              <a:gd name="connsiteX42" fmla="*/ 1217108 w 1424802"/>
              <a:gd name="connsiteY42" fmla="*/ 1638323 h 1650046"/>
              <a:gd name="connsiteX43" fmla="*/ 1176078 w 1424802"/>
              <a:gd name="connsiteY43" fmla="*/ 1644184 h 1650046"/>
              <a:gd name="connsiteX44" fmla="*/ 1140908 w 1424802"/>
              <a:gd name="connsiteY44" fmla="*/ 1650046 h 1650046"/>
              <a:gd name="connsiteX45" fmla="*/ 900585 w 1424802"/>
              <a:gd name="connsiteY45" fmla="*/ 1644184 h 1650046"/>
              <a:gd name="connsiteX46" fmla="*/ 883001 w 1424802"/>
              <a:gd name="connsiteY46" fmla="*/ 1638323 h 1650046"/>
              <a:gd name="connsiteX47" fmla="*/ 800939 w 1424802"/>
              <a:gd name="connsiteY47" fmla="*/ 1632461 h 1650046"/>
              <a:gd name="connsiteX48" fmla="*/ 630955 w 1424802"/>
              <a:gd name="connsiteY48" fmla="*/ 1626600 h 1650046"/>
              <a:gd name="connsiteX49" fmla="*/ 572339 w 1424802"/>
              <a:gd name="connsiteY49" fmla="*/ 1620738 h 1650046"/>
              <a:gd name="connsiteX50" fmla="*/ 476812 w 1424802"/>
              <a:gd name="connsiteY50" fmla="*/ 1626600 h 1650046"/>
              <a:gd name="connsiteX51" fmla="*/ 155426 w 1424802"/>
              <a:gd name="connsiteY51" fmla="*/ 1597292 h 1650046"/>
              <a:gd name="connsiteX52" fmla="*/ 83418 w 1424802"/>
              <a:gd name="connsiteY52" fmla="*/ 1525284 h 1650046"/>
              <a:gd name="connsiteX53" fmla="*/ 50662 w 1424802"/>
              <a:gd name="connsiteY53" fmla="*/ 1474200 h 1650046"/>
              <a:gd name="connsiteX54" fmla="*/ 33078 w 1424802"/>
              <a:gd name="connsiteY54" fmla="*/ 1456615 h 1650046"/>
              <a:gd name="connsiteX55" fmla="*/ 21355 w 1424802"/>
              <a:gd name="connsiteY55" fmla="*/ 1415584 h 1650046"/>
              <a:gd name="connsiteX56" fmla="*/ 9632 w 1424802"/>
              <a:gd name="connsiteY56" fmla="*/ 1368692 h 1650046"/>
              <a:gd name="connsiteX57" fmla="*/ 9632 w 1424802"/>
              <a:gd name="connsiteY57" fmla="*/ 1169400 h 1650046"/>
              <a:gd name="connsiteX58" fmla="*/ 15493 w 1424802"/>
              <a:gd name="connsiteY58" fmla="*/ 1151815 h 1650046"/>
              <a:gd name="connsiteX59" fmla="*/ 21355 w 1424802"/>
              <a:gd name="connsiteY59" fmla="*/ 1099061 h 1650046"/>
              <a:gd name="connsiteX60" fmla="*/ 27216 w 1424802"/>
              <a:gd name="connsiteY60" fmla="*/ 1081477 h 1650046"/>
              <a:gd name="connsiteX61" fmla="*/ 33078 w 1424802"/>
              <a:gd name="connsiteY61" fmla="*/ 1046307 h 1650046"/>
              <a:gd name="connsiteX62" fmla="*/ 50662 w 1424802"/>
              <a:gd name="connsiteY62" fmla="*/ 1005277 h 1650046"/>
              <a:gd name="connsiteX63" fmla="*/ 62385 w 1424802"/>
              <a:gd name="connsiteY63" fmla="*/ 964246 h 1650046"/>
              <a:gd name="connsiteX64" fmla="*/ 74108 w 1424802"/>
              <a:gd name="connsiteY64" fmla="*/ 940800 h 1650046"/>
              <a:gd name="connsiteX65" fmla="*/ 85832 w 1424802"/>
              <a:gd name="connsiteY65" fmla="*/ 899769 h 1650046"/>
              <a:gd name="connsiteX66" fmla="*/ 91693 w 1424802"/>
              <a:gd name="connsiteY66" fmla="*/ 882184 h 1650046"/>
              <a:gd name="connsiteX67" fmla="*/ 97555 w 1424802"/>
              <a:gd name="connsiteY67" fmla="*/ 852877 h 1650046"/>
              <a:gd name="connsiteX68" fmla="*/ 103416 w 1424802"/>
              <a:gd name="connsiteY68" fmla="*/ 835292 h 1650046"/>
              <a:gd name="connsiteX69" fmla="*/ 102366 w 1424802"/>
              <a:gd name="connsiteY69" fmla="*/ 772661 h 1650046"/>
              <a:gd name="connsiteX70" fmla="*/ 83418 w 1424802"/>
              <a:gd name="connsiteY70" fmla="*/ 661188 h 1650046"/>
              <a:gd name="connsiteX71" fmla="*/ 34270 w 1424802"/>
              <a:gd name="connsiteY71"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235657 w 1424802"/>
              <a:gd name="connsiteY32" fmla="*/ 1021434 h 1650046"/>
              <a:gd name="connsiteX33" fmla="*/ 1307706 w 1424802"/>
              <a:gd name="connsiteY33" fmla="*/ 1093461 h 1650046"/>
              <a:gd name="connsiteX34" fmla="*/ 1353869 w 1424802"/>
              <a:gd name="connsiteY34" fmla="*/ 1173135 h 1650046"/>
              <a:gd name="connsiteX35" fmla="*/ 1379755 w 1424802"/>
              <a:gd name="connsiteY35" fmla="*/ 1237514 h 1650046"/>
              <a:gd name="connsiteX36" fmla="*/ 1410539 w 1424802"/>
              <a:gd name="connsiteY36" fmla="*/ 1351107 h 1650046"/>
              <a:gd name="connsiteX37" fmla="*/ 1404287 w 1424802"/>
              <a:gd name="connsiteY37" fmla="*/ 1474733 h 1650046"/>
              <a:gd name="connsiteX38" fmla="*/ 1287447 w 1424802"/>
              <a:gd name="connsiteY38" fmla="*/ 1609015 h 1650046"/>
              <a:gd name="connsiteX39" fmla="*/ 1269862 w 1424802"/>
              <a:gd name="connsiteY39" fmla="*/ 1620738 h 1650046"/>
              <a:gd name="connsiteX40" fmla="*/ 1234693 w 1424802"/>
              <a:gd name="connsiteY40" fmla="*/ 1632461 h 1650046"/>
              <a:gd name="connsiteX41" fmla="*/ 1217108 w 1424802"/>
              <a:gd name="connsiteY41" fmla="*/ 1638323 h 1650046"/>
              <a:gd name="connsiteX42" fmla="*/ 1176078 w 1424802"/>
              <a:gd name="connsiteY42" fmla="*/ 1644184 h 1650046"/>
              <a:gd name="connsiteX43" fmla="*/ 1140908 w 1424802"/>
              <a:gd name="connsiteY43" fmla="*/ 1650046 h 1650046"/>
              <a:gd name="connsiteX44" fmla="*/ 900585 w 1424802"/>
              <a:gd name="connsiteY44" fmla="*/ 1644184 h 1650046"/>
              <a:gd name="connsiteX45" fmla="*/ 883001 w 1424802"/>
              <a:gd name="connsiteY45" fmla="*/ 1638323 h 1650046"/>
              <a:gd name="connsiteX46" fmla="*/ 800939 w 1424802"/>
              <a:gd name="connsiteY46" fmla="*/ 1632461 h 1650046"/>
              <a:gd name="connsiteX47" fmla="*/ 630955 w 1424802"/>
              <a:gd name="connsiteY47" fmla="*/ 1626600 h 1650046"/>
              <a:gd name="connsiteX48" fmla="*/ 572339 w 1424802"/>
              <a:gd name="connsiteY48" fmla="*/ 1620738 h 1650046"/>
              <a:gd name="connsiteX49" fmla="*/ 476812 w 1424802"/>
              <a:gd name="connsiteY49" fmla="*/ 1626600 h 1650046"/>
              <a:gd name="connsiteX50" fmla="*/ 155426 w 1424802"/>
              <a:gd name="connsiteY50" fmla="*/ 1597292 h 1650046"/>
              <a:gd name="connsiteX51" fmla="*/ 83418 w 1424802"/>
              <a:gd name="connsiteY51" fmla="*/ 1525284 h 1650046"/>
              <a:gd name="connsiteX52" fmla="*/ 50662 w 1424802"/>
              <a:gd name="connsiteY52" fmla="*/ 1474200 h 1650046"/>
              <a:gd name="connsiteX53" fmla="*/ 33078 w 1424802"/>
              <a:gd name="connsiteY53" fmla="*/ 1456615 h 1650046"/>
              <a:gd name="connsiteX54" fmla="*/ 21355 w 1424802"/>
              <a:gd name="connsiteY54" fmla="*/ 1415584 h 1650046"/>
              <a:gd name="connsiteX55" fmla="*/ 9632 w 1424802"/>
              <a:gd name="connsiteY55" fmla="*/ 1368692 h 1650046"/>
              <a:gd name="connsiteX56" fmla="*/ 9632 w 1424802"/>
              <a:gd name="connsiteY56" fmla="*/ 1169400 h 1650046"/>
              <a:gd name="connsiteX57" fmla="*/ 15493 w 1424802"/>
              <a:gd name="connsiteY57" fmla="*/ 1151815 h 1650046"/>
              <a:gd name="connsiteX58" fmla="*/ 21355 w 1424802"/>
              <a:gd name="connsiteY58" fmla="*/ 1099061 h 1650046"/>
              <a:gd name="connsiteX59" fmla="*/ 27216 w 1424802"/>
              <a:gd name="connsiteY59" fmla="*/ 1081477 h 1650046"/>
              <a:gd name="connsiteX60" fmla="*/ 33078 w 1424802"/>
              <a:gd name="connsiteY60" fmla="*/ 1046307 h 1650046"/>
              <a:gd name="connsiteX61" fmla="*/ 50662 w 1424802"/>
              <a:gd name="connsiteY61" fmla="*/ 1005277 h 1650046"/>
              <a:gd name="connsiteX62" fmla="*/ 62385 w 1424802"/>
              <a:gd name="connsiteY62" fmla="*/ 964246 h 1650046"/>
              <a:gd name="connsiteX63" fmla="*/ 74108 w 1424802"/>
              <a:gd name="connsiteY63" fmla="*/ 940800 h 1650046"/>
              <a:gd name="connsiteX64" fmla="*/ 85832 w 1424802"/>
              <a:gd name="connsiteY64" fmla="*/ 899769 h 1650046"/>
              <a:gd name="connsiteX65" fmla="*/ 91693 w 1424802"/>
              <a:gd name="connsiteY65" fmla="*/ 882184 h 1650046"/>
              <a:gd name="connsiteX66" fmla="*/ 97555 w 1424802"/>
              <a:gd name="connsiteY66" fmla="*/ 852877 h 1650046"/>
              <a:gd name="connsiteX67" fmla="*/ 103416 w 1424802"/>
              <a:gd name="connsiteY67" fmla="*/ 835292 h 1650046"/>
              <a:gd name="connsiteX68" fmla="*/ 102366 w 1424802"/>
              <a:gd name="connsiteY68" fmla="*/ 772661 h 1650046"/>
              <a:gd name="connsiteX69" fmla="*/ 83418 w 1424802"/>
              <a:gd name="connsiteY69" fmla="*/ 661188 h 1650046"/>
              <a:gd name="connsiteX70" fmla="*/ 34270 w 1424802"/>
              <a:gd name="connsiteY70"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35657 w 1424802"/>
              <a:gd name="connsiteY31" fmla="*/ 1021434 h 1650046"/>
              <a:gd name="connsiteX32" fmla="*/ 1307706 w 1424802"/>
              <a:gd name="connsiteY32" fmla="*/ 1093461 h 1650046"/>
              <a:gd name="connsiteX33" fmla="*/ 1353869 w 1424802"/>
              <a:gd name="connsiteY33" fmla="*/ 1173135 h 1650046"/>
              <a:gd name="connsiteX34" fmla="*/ 1379755 w 1424802"/>
              <a:gd name="connsiteY34" fmla="*/ 1237514 h 1650046"/>
              <a:gd name="connsiteX35" fmla="*/ 1410539 w 1424802"/>
              <a:gd name="connsiteY35" fmla="*/ 1351107 h 1650046"/>
              <a:gd name="connsiteX36" fmla="*/ 1404287 w 1424802"/>
              <a:gd name="connsiteY36" fmla="*/ 1474733 h 1650046"/>
              <a:gd name="connsiteX37" fmla="*/ 1287447 w 1424802"/>
              <a:gd name="connsiteY37" fmla="*/ 1609015 h 1650046"/>
              <a:gd name="connsiteX38" fmla="*/ 1269862 w 1424802"/>
              <a:gd name="connsiteY38" fmla="*/ 1620738 h 1650046"/>
              <a:gd name="connsiteX39" fmla="*/ 1234693 w 1424802"/>
              <a:gd name="connsiteY39" fmla="*/ 1632461 h 1650046"/>
              <a:gd name="connsiteX40" fmla="*/ 1217108 w 1424802"/>
              <a:gd name="connsiteY40" fmla="*/ 1638323 h 1650046"/>
              <a:gd name="connsiteX41" fmla="*/ 1176078 w 1424802"/>
              <a:gd name="connsiteY41" fmla="*/ 1644184 h 1650046"/>
              <a:gd name="connsiteX42" fmla="*/ 1140908 w 1424802"/>
              <a:gd name="connsiteY42" fmla="*/ 1650046 h 1650046"/>
              <a:gd name="connsiteX43" fmla="*/ 900585 w 1424802"/>
              <a:gd name="connsiteY43" fmla="*/ 1644184 h 1650046"/>
              <a:gd name="connsiteX44" fmla="*/ 883001 w 1424802"/>
              <a:gd name="connsiteY44" fmla="*/ 1638323 h 1650046"/>
              <a:gd name="connsiteX45" fmla="*/ 800939 w 1424802"/>
              <a:gd name="connsiteY45" fmla="*/ 1632461 h 1650046"/>
              <a:gd name="connsiteX46" fmla="*/ 630955 w 1424802"/>
              <a:gd name="connsiteY46" fmla="*/ 1626600 h 1650046"/>
              <a:gd name="connsiteX47" fmla="*/ 572339 w 1424802"/>
              <a:gd name="connsiteY47" fmla="*/ 1620738 h 1650046"/>
              <a:gd name="connsiteX48" fmla="*/ 476812 w 1424802"/>
              <a:gd name="connsiteY48" fmla="*/ 1626600 h 1650046"/>
              <a:gd name="connsiteX49" fmla="*/ 155426 w 1424802"/>
              <a:gd name="connsiteY49" fmla="*/ 1597292 h 1650046"/>
              <a:gd name="connsiteX50" fmla="*/ 83418 w 1424802"/>
              <a:gd name="connsiteY50" fmla="*/ 1525284 h 1650046"/>
              <a:gd name="connsiteX51" fmla="*/ 50662 w 1424802"/>
              <a:gd name="connsiteY51" fmla="*/ 1474200 h 1650046"/>
              <a:gd name="connsiteX52" fmla="*/ 33078 w 1424802"/>
              <a:gd name="connsiteY52" fmla="*/ 1456615 h 1650046"/>
              <a:gd name="connsiteX53" fmla="*/ 21355 w 1424802"/>
              <a:gd name="connsiteY53" fmla="*/ 1415584 h 1650046"/>
              <a:gd name="connsiteX54" fmla="*/ 9632 w 1424802"/>
              <a:gd name="connsiteY54" fmla="*/ 1368692 h 1650046"/>
              <a:gd name="connsiteX55" fmla="*/ 9632 w 1424802"/>
              <a:gd name="connsiteY55" fmla="*/ 1169400 h 1650046"/>
              <a:gd name="connsiteX56" fmla="*/ 15493 w 1424802"/>
              <a:gd name="connsiteY56" fmla="*/ 1151815 h 1650046"/>
              <a:gd name="connsiteX57" fmla="*/ 21355 w 1424802"/>
              <a:gd name="connsiteY57" fmla="*/ 1099061 h 1650046"/>
              <a:gd name="connsiteX58" fmla="*/ 27216 w 1424802"/>
              <a:gd name="connsiteY58" fmla="*/ 1081477 h 1650046"/>
              <a:gd name="connsiteX59" fmla="*/ 33078 w 1424802"/>
              <a:gd name="connsiteY59" fmla="*/ 1046307 h 1650046"/>
              <a:gd name="connsiteX60" fmla="*/ 50662 w 1424802"/>
              <a:gd name="connsiteY60" fmla="*/ 1005277 h 1650046"/>
              <a:gd name="connsiteX61" fmla="*/ 62385 w 1424802"/>
              <a:gd name="connsiteY61" fmla="*/ 964246 h 1650046"/>
              <a:gd name="connsiteX62" fmla="*/ 74108 w 1424802"/>
              <a:gd name="connsiteY62" fmla="*/ 940800 h 1650046"/>
              <a:gd name="connsiteX63" fmla="*/ 85832 w 1424802"/>
              <a:gd name="connsiteY63" fmla="*/ 899769 h 1650046"/>
              <a:gd name="connsiteX64" fmla="*/ 91693 w 1424802"/>
              <a:gd name="connsiteY64" fmla="*/ 882184 h 1650046"/>
              <a:gd name="connsiteX65" fmla="*/ 97555 w 1424802"/>
              <a:gd name="connsiteY65" fmla="*/ 852877 h 1650046"/>
              <a:gd name="connsiteX66" fmla="*/ 103416 w 1424802"/>
              <a:gd name="connsiteY66" fmla="*/ 835292 h 1650046"/>
              <a:gd name="connsiteX67" fmla="*/ 102366 w 1424802"/>
              <a:gd name="connsiteY67" fmla="*/ 772661 h 1650046"/>
              <a:gd name="connsiteX68" fmla="*/ 83418 w 1424802"/>
              <a:gd name="connsiteY68" fmla="*/ 661188 h 1650046"/>
              <a:gd name="connsiteX69" fmla="*/ 34270 w 1424802"/>
              <a:gd name="connsiteY69"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35657 w 1424802"/>
              <a:gd name="connsiteY30" fmla="*/ 1021434 h 1650046"/>
              <a:gd name="connsiteX31" fmla="*/ 1307706 w 1424802"/>
              <a:gd name="connsiteY31" fmla="*/ 1093461 h 1650046"/>
              <a:gd name="connsiteX32" fmla="*/ 1353869 w 1424802"/>
              <a:gd name="connsiteY32" fmla="*/ 1173135 h 1650046"/>
              <a:gd name="connsiteX33" fmla="*/ 1379755 w 1424802"/>
              <a:gd name="connsiteY33" fmla="*/ 1237514 h 1650046"/>
              <a:gd name="connsiteX34" fmla="*/ 1410539 w 1424802"/>
              <a:gd name="connsiteY34" fmla="*/ 1351107 h 1650046"/>
              <a:gd name="connsiteX35" fmla="*/ 1404287 w 1424802"/>
              <a:gd name="connsiteY35" fmla="*/ 1474733 h 1650046"/>
              <a:gd name="connsiteX36" fmla="*/ 1287447 w 1424802"/>
              <a:gd name="connsiteY36" fmla="*/ 1609015 h 1650046"/>
              <a:gd name="connsiteX37" fmla="*/ 1269862 w 1424802"/>
              <a:gd name="connsiteY37" fmla="*/ 1620738 h 1650046"/>
              <a:gd name="connsiteX38" fmla="*/ 1234693 w 1424802"/>
              <a:gd name="connsiteY38" fmla="*/ 1632461 h 1650046"/>
              <a:gd name="connsiteX39" fmla="*/ 1217108 w 1424802"/>
              <a:gd name="connsiteY39" fmla="*/ 1638323 h 1650046"/>
              <a:gd name="connsiteX40" fmla="*/ 1176078 w 1424802"/>
              <a:gd name="connsiteY40" fmla="*/ 1644184 h 1650046"/>
              <a:gd name="connsiteX41" fmla="*/ 1140908 w 1424802"/>
              <a:gd name="connsiteY41" fmla="*/ 1650046 h 1650046"/>
              <a:gd name="connsiteX42" fmla="*/ 900585 w 1424802"/>
              <a:gd name="connsiteY42" fmla="*/ 1644184 h 1650046"/>
              <a:gd name="connsiteX43" fmla="*/ 883001 w 1424802"/>
              <a:gd name="connsiteY43" fmla="*/ 1638323 h 1650046"/>
              <a:gd name="connsiteX44" fmla="*/ 800939 w 1424802"/>
              <a:gd name="connsiteY44" fmla="*/ 1632461 h 1650046"/>
              <a:gd name="connsiteX45" fmla="*/ 630955 w 1424802"/>
              <a:gd name="connsiteY45" fmla="*/ 1626600 h 1650046"/>
              <a:gd name="connsiteX46" fmla="*/ 572339 w 1424802"/>
              <a:gd name="connsiteY46" fmla="*/ 1620738 h 1650046"/>
              <a:gd name="connsiteX47" fmla="*/ 476812 w 1424802"/>
              <a:gd name="connsiteY47" fmla="*/ 1626600 h 1650046"/>
              <a:gd name="connsiteX48" fmla="*/ 155426 w 1424802"/>
              <a:gd name="connsiteY48" fmla="*/ 1597292 h 1650046"/>
              <a:gd name="connsiteX49" fmla="*/ 83418 w 1424802"/>
              <a:gd name="connsiteY49" fmla="*/ 1525284 h 1650046"/>
              <a:gd name="connsiteX50" fmla="*/ 50662 w 1424802"/>
              <a:gd name="connsiteY50" fmla="*/ 1474200 h 1650046"/>
              <a:gd name="connsiteX51" fmla="*/ 33078 w 1424802"/>
              <a:gd name="connsiteY51" fmla="*/ 1456615 h 1650046"/>
              <a:gd name="connsiteX52" fmla="*/ 21355 w 1424802"/>
              <a:gd name="connsiteY52" fmla="*/ 1415584 h 1650046"/>
              <a:gd name="connsiteX53" fmla="*/ 9632 w 1424802"/>
              <a:gd name="connsiteY53" fmla="*/ 1368692 h 1650046"/>
              <a:gd name="connsiteX54" fmla="*/ 9632 w 1424802"/>
              <a:gd name="connsiteY54" fmla="*/ 1169400 h 1650046"/>
              <a:gd name="connsiteX55" fmla="*/ 15493 w 1424802"/>
              <a:gd name="connsiteY55" fmla="*/ 1151815 h 1650046"/>
              <a:gd name="connsiteX56" fmla="*/ 21355 w 1424802"/>
              <a:gd name="connsiteY56" fmla="*/ 1099061 h 1650046"/>
              <a:gd name="connsiteX57" fmla="*/ 27216 w 1424802"/>
              <a:gd name="connsiteY57" fmla="*/ 1081477 h 1650046"/>
              <a:gd name="connsiteX58" fmla="*/ 33078 w 1424802"/>
              <a:gd name="connsiteY58" fmla="*/ 1046307 h 1650046"/>
              <a:gd name="connsiteX59" fmla="*/ 50662 w 1424802"/>
              <a:gd name="connsiteY59" fmla="*/ 1005277 h 1650046"/>
              <a:gd name="connsiteX60" fmla="*/ 62385 w 1424802"/>
              <a:gd name="connsiteY60" fmla="*/ 964246 h 1650046"/>
              <a:gd name="connsiteX61" fmla="*/ 74108 w 1424802"/>
              <a:gd name="connsiteY61" fmla="*/ 940800 h 1650046"/>
              <a:gd name="connsiteX62" fmla="*/ 85832 w 1424802"/>
              <a:gd name="connsiteY62" fmla="*/ 899769 h 1650046"/>
              <a:gd name="connsiteX63" fmla="*/ 91693 w 1424802"/>
              <a:gd name="connsiteY63" fmla="*/ 882184 h 1650046"/>
              <a:gd name="connsiteX64" fmla="*/ 97555 w 1424802"/>
              <a:gd name="connsiteY64" fmla="*/ 852877 h 1650046"/>
              <a:gd name="connsiteX65" fmla="*/ 103416 w 1424802"/>
              <a:gd name="connsiteY65" fmla="*/ 835292 h 1650046"/>
              <a:gd name="connsiteX66" fmla="*/ 102366 w 1424802"/>
              <a:gd name="connsiteY66" fmla="*/ 772661 h 1650046"/>
              <a:gd name="connsiteX67" fmla="*/ 83418 w 1424802"/>
              <a:gd name="connsiteY67" fmla="*/ 661188 h 1650046"/>
              <a:gd name="connsiteX68" fmla="*/ 34270 w 1424802"/>
              <a:gd name="connsiteY68"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35657 w 1424802"/>
              <a:gd name="connsiteY29" fmla="*/ 1021434 h 1650046"/>
              <a:gd name="connsiteX30" fmla="*/ 1307706 w 1424802"/>
              <a:gd name="connsiteY30" fmla="*/ 1093461 h 1650046"/>
              <a:gd name="connsiteX31" fmla="*/ 1353869 w 1424802"/>
              <a:gd name="connsiteY31" fmla="*/ 1173135 h 1650046"/>
              <a:gd name="connsiteX32" fmla="*/ 1379755 w 1424802"/>
              <a:gd name="connsiteY32" fmla="*/ 1237514 h 1650046"/>
              <a:gd name="connsiteX33" fmla="*/ 1410539 w 1424802"/>
              <a:gd name="connsiteY33" fmla="*/ 1351107 h 1650046"/>
              <a:gd name="connsiteX34" fmla="*/ 1404287 w 1424802"/>
              <a:gd name="connsiteY34" fmla="*/ 1474733 h 1650046"/>
              <a:gd name="connsiteX35" fmla="*/ 1287447 w 1424802"/>
              <a:gd name="connsiteY35" fmla="*/ 1609015 h 1650046"/>
              <a:gd name="connsiteX36" fmla="*/ 1269862 w 1424802"/>
              <a:gd name="connsiteY36" fmla="*/ 1620738 h 1650046"/>
              <a:gd name="connsiteX37" fmla="*/ 1234693 w 1424802"/>
              <a:gd name="connsiteY37" fmla="*/ 1632461 h 1650046"/>
              <a:gd name="connsiteX38" fmla="*/ 1217108 w 1424802"/>
              <a:gd name="connsiteY38" fmla="*/ 1638323 h 1650046"/>
              <a:gd name="connsiteX39" fmla="*/ 1176078 w 1424802"/>
              <a:gd name="connsiteY39" fmla="*/ 1644184 h 1650046"/>
              <a:gd name="connsiteX40" fmla="*/ 1140908 w 1424802"/>
              <a:gd name="connsiteY40" fmla="*/ 1650046 h 1650046"/>
              <a:gd name="connsiteX41" fmla="*/ 900585 w 1424802"/>
              <a:gd name="connsiteY41" fmla="*/ 1644184 h 1650046"/>
              <a:gd name="connsiteX42" fmla="*/ 883001 w 1424802"/>
              <a:gd name="connsiteY42" fmla="*/ 1638323 h 1650046"/>
              <a:gd name="connsiteX43" fmla="*/ 800939 w 1424802"/>
              <a:gd name="connsiteY43" fmla="*/ 1632461 h 1650046"/>
              <a:gd name="connsiteX44" fmla="*/ 630955 w 1424802"/>
              <a:gd name="connsiteY44" fmla="*/ 1626600 h 1650046"/>
              <a:gd name="connsiteX45" fmla="*/ 572339 w 1424802"/>
              <a:gd name="connsiteY45" fmla="*/ 1620738 h 1650046"/>
              <a:gd name="connsiteX46" fmla="*/ 476812 w 1424802"/>
              <a:gd name="connsiteY46" fmla="*/ 1626600 h 1650046"/>
              <a:gd name="connsiteX47" fmla="*/ 155426 w 1424802"/>
              <a:gd name="connsiteY47" fmla="*/ 1597292 h 1650046"/>
              <a:gd name="connsiteX48" fmla="*/ 83418 w 1424802"/>
              <a:gd name="connsiteY48" fmla="*/ 1525284 h 1650046"/>
              <a:gd name="connsiteX49" fmla="*/ 50662 w 1424802"/>
              <a:gd name="connsiteY49" fmla="*/ 1474200 h 1650046"/>
              <a:gd name="connsiteX50" fmla="*/ 33078 w 1424802"/>
              <a:gd name="connsiteY50" fmla="*/ 1456615 h 1650046"/>
              <a:gd name="connsiteX51" fmla="*/ 21355 w 1424802"/>
              <a:gd name="connsiteY51" fmla="*/ 1415584 h 1650046"/>
              <a:gd name="connsiteX52" fmla="*/ 9632 w 1424802"/>
              <a:gd name="connsiteY52" fmla="*/ 1368692 h 1650046"/>
              <a:gd name="connsiteX53" fmla="*/ 9632 w 1424802"/>
              <a:gd name="connsiteY53" fmla="*/ 1169400 h 1650046"/>
              <a:gd name="connsiteX54" fmla="*/ 15493 w 1424802"/>
              <a:gd name="connsiteY54" fmla="*/ 1151815 h 1650046"/>
              <a:gd name="connsiteX55" fmla="*/ 21355 w 1424802"/>
              <a:gd name="connsiteY55" fmla="*/ 1099061 h 1650046"/>
              <a:gd name="connsiteX56" fmla="*/ 27216 w 1424802"/>
              <a:gd name="connsiteY56" fmla="*/ 1081477 h 1650046"/>
              <a:gd name="connsiteX57" fmla="*/ 33078 w 1424802"/>
              <a:gd name="connsiteY57" fmla="*/ 1046307 h 1650046"/>
              <a:gd name="connsiteX58" fmla="*/ 50662 w 1424802"/>
              <a:gd name="connsiteY58" fmla="*/ 1005277 h 1650046"/>
              <a:gd name="connsiteX59" fmla="*/ 62385 w 1424802"/>
              <a:gd name="connsiteY59" fmla="*/ 964246 h 1650046"/>
              <a:gd name="connsiteX60" fmla="*/ 74108 w 1424802"/>
              <a:gd name="connsiteY60" fmla="*/ 940800 h 1650046"/>
              <a:gd name="connsiteX61" fmla="*/ 85832 w 1424802"/>
              <a:gd name="connsiteY61" fmla="*/ 899769 h 1650046"/>
              <a:gd name="connsiteX62" fmla="*/ 91693 w 1424802"/>
              <a:gd name="connsiteY62" fmla="*/ 882184 h 1650046"/>
              <a:gd name="connsiteX63" fmla="*/ 97555 w 1424802"/>
              <a:gd name="connsiteY63" fmla="*/ 852877 h 1650046"/>
              <a:gd name="connsiteX64" fmla="*/ 103416 w 1424802"/>
              <a:gd name="connsiteY64" fmla="*/ 835292 h 1650046"/>
              <a:gd name="connsiteX65" fmla="*/ 102366 w 1424802"/>
              <a:gd name="connsiteY65" fmla="*/ 772661 h 1650046"/>
              <a:gd name="connsiteX66" fmla="*/ 83418 w 1424802"/>
              <a:gd name="connsiteY66" fmla="*/ 661188 h 1650046"/>
              <a:gd name="connsiteX67" fmla="*/ 34270 w 1424802"/>
              <a:gd name="connsiteY67"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35657 w 1424802"/>
              <a:gd name="connsiteY28" fmla="*/ 1021434 h 1650046"/>
              <a:gd name="connsiteX29" fmla="*/ 1307706 w 1424802"/>
              <a:gd name="connsiteY29" fmla="*/ 1093461 h 1650046"/>
              <a:gd name="connsiteX30" fmla="*/ 1353869 w 1424802"/>
              <a:gd name="connsiteY30" fmla="*/ 1173135 h 1650046"/>
              <a:gd name="connsiteX31" fmla="*/ 1379755 w 1424802"/>
              <a:gd name="connsiteY31" fmla="*/ 1237514 h 1650046"/>
              <a:gd name="connsiteX32" fmla="*/ 1410539 w 1424802"/>
              <a:gd name="connsiteY32" fmla="*/ 1351107 h 1650046"/>
              <a:gd name="connsiteX33" fmla="*/ 1404287 w 1424802"/>
              <a:gd name="connsiteY33" fmla="*/ 1474733 h 1650046"/>
              <a:gd name="connsiteX34" fmla="*/ 1287447 w 1424802"/>
              <a:gd name="connsiteY34" fmla="*/ 1609015 h 1650046"/>
              <a:gd name="connsiteX35" fmla="*/ 1269862 w 1424802"/>
              <a:gd name="connsiteY35" fmla="*/ 1620738 h 1650046"/>
              <a:gd name="connsiteX36" fmla="*/ 1234693 w 1424802"/>
              <a:gd name="connsiteY36" fmla="*/ 1632461 h 1650046"/>
              <a:gd name="connsiteX37" fmla="*/ 1217108 w 1424802"/>
              <a:gd name="connsiteY37" fmla="*/ 1638323 h 1650046"/>
              <a:gd name="connsiteX38" fmla="*/ 1176078 w 1424802"/>
              <a:gd name="connsiteY38" fmla="*/ 1644184 h 1650046"/>
              <a:gd name="connsiteX39" fmla="*/ 1140908 w 1424802"/>
              <a:gd name="connsiteY39" fmla="*/ 1650046 h 1650046"/>
              <a:gd name="connsiteX40" fmla="*/ 900585 w 1424802"/>
              <a:gd name="connsiteY40" fmla="*/ 1644184 h 1650046"/>
              <a:gd name="connsiteX41" fmla="*/ 883001 w 1424802"/>
              <a:gd name="connsiteY41" fmla="*/ 1638323 h 1650046"/>
              <a:gd name="connsiteX42" fmla="*/ 800939 w 1424802"/>
              <a:gd name="connsiteY42" fmla="*/ 1632461 h 1650046"/>
              <a:gd name="connsiteX43" fmla="*/ 630955 w 1424802"/>
              <a:gd name="connsiteY43" fmla="*/ 1626600 h 1650046"/>
              <a:gd name="connsiteX44" fmla="*/ 572339 w 1424802"/>
              <a:gd name="connsiteY44" fmla="*/ 1620738 h 1650046"/>
              <a:gd name="connsiteX45" fmla="*/ 476812 w 1424802"/>
              <a:gd name="connsiteY45" fmla="*/ 1626600 h 1650046"/>
              <a:gd name="connsiteX46" fmla="*/ 155426 w 1424802"/>
              <a:gd name="connsiteY46" fmla="*/ 1597292 h 1650046"/>
              <a:gd name="connsiteX47" fmla="*/ 83418 w 1424802"/>
              <a:gd name="connsiteY47" fmla="*/ 1525284 h 1650046"/>
              <a:gd name="connsiteX48" fmla="*/ 50662 w 1424802"/>
              <a:gd name="connsiteY48" fmla="*/ 1474200 h 1650046"/>
              <a:gd name="connsiteX49" fmla="*/ 33078 w 1424802"/>
              <a:gd name="connsiteY49" fmla="*/ 1456615 h 1650046"/>
              <a:gd name="connsiteX50" fmla="*/ 21355 w 1424802"/>
              <a:gd name="connsiteY50" fmla="*/ 1415584 h 1650046"/>
              <a:gd name="connsiteX51" fmla="*/ 9632 w 1424802"/>
              <a:gd name="connsiteY51" fmla="*/ 1368692 h 1650046"/>
              <a:gd name="connsiteX52" fmla="*/ 9632 w 1424802"/>
              <a:gd name="connsiteY52" fmla="*/ 1169400 h 1650046"/>
              <a:gd name="connsiteX53" fmla="*/ 15493 w 1424802"/>
              <a:gd name="connsiteY53" fmla="*/ 1151815 h 1650046"/>
              <a:gd name="connsiteX54" fmla="*/ 21355 w 1424802"/>
              <a:gd name="connsiteY54" fmla="*/ 1099061 h 1650046"/>
              <a:gd name="connsiteX55" fmla="*/ 27216 w 1424802"/>
              <a:gd name="connsiteY55" fmla="*/ 1081477 h 1650046"/>
              <a:gd name="connsiteX56" fmla="*/ 33078 w 1424802"/>
              <a:gd name="connsiteY56" fmla="*/ 1046307 h 1650046"/>
              <a:gd name="connsiteX57" fmla="*/ 50662 w 1424802"/>
              <a:gd name="connsiteY57" fmla="*/ 1005277 h 1650046"/>
              <a:gd name="connsiteX58" fmla="*/ 62385 w 1424802"/>
              <a:gd name="connsiteY58" fmla="*/ 964246 h 1650046"/>
              <a:gd name="connsiteX59" fmla="*/ 74108 w 1424802"/>
              <a:gd name="connsiteY59" fmla="*/ 940800 h 1650046"/>
              <a:gd name="connsiteX60" fmla="*/ 85832 w 1424802"/>
              <a:gd name="connsiteY60" fmla="*/ 899769 h 1650046"/>
              <a:gd name="connsiteX61" fmla="*/ 91693 w 1424802"/>
              <a:gd name="connsiteY61" fmla="*/ 882184 h 1650046"/>
              <a:gd name="connsiteX62" fmla="*/ 97555 w 1424802"/>
              <a:gd name="connsiteY62" fmla="*/ 852877 h 1650046"/>
              <a:gd name="connsiteX63" fmla="*/ 103416 w 1424802"/>
              <a:gd name="connsiteY63" fmla="*/ 835292 h 1650046"/>
              <a:gd name="connsiteX64" fmla="*/ 102366 w 1424802"/>
              <a:gd name="connsiteY64" fmla="*/ 772661 h 1650046"/>
              <a:gd name="connsiteX65" fmla="*/ 83418 w 1424802"/>
              <a:gd name="connsiteY65" fmla="*/ 661188 h 1650046"/>
              <a:gd name="connsiteX66" fmla="*/ 34270 w 1424802"/>
              <a:gd name="connsiteY66"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091559 w 1424802"/>
              <a:gd name="connsiteY26" fmla="*/ 805354 h 1650046"/>
              <a:gd name="connsiteX27" fmla="*/ 1235657 w 1424802"/>
              <a:gd name="connsiteY27" fmla="*/ 1021434 h 1650046"/>
              <a:gd name="connsiteX28" fmla="*/ 1307706 w 1424802"/>
              <a:gd name="connsiteY28" fmla="*/ 1093461 h 1650046"/>
              <a:gd name="connsiteX29" fmla="*/ 1353869 w 1424802"/>
              <a:gd name="connsiteY29" fmla="*/ 1173135 h 1650046"/>
              <a:gd name="connsiteX30" fmla="*/ 1379755 w 1424802"/>
              <a:gd name="connsiteY30" fmla="*/ 1237514 h 1650046"/>
              <a:gd name="connsiteX31" fmla="*/ 1410539 w 1424802"/>
              <a:gd name="connsiteY31" fmla="*/ 1351107 h 1650046"/>
              <a:gd name="connsiteX32" fmla="*/ 1404287 w 1424802"/>
              <a:gd name="connsiteY32" fmla="*/ 1474733 h 1650046"/>
              <a:gd name="connsiteX33" fmla="*/ 1287447 w 1424802"/>
              <a:gd name="connsiteY33" fmla="*/ 1609015 h 1650046"/>
              <a:gd name="connsiteX34" fmla="*/ 1269862 w 1424802"/>
              <a:gd name="connsiteY34" fmla="*/ 1620738 h 1650046"/>
              <a:gd name="connsiteX35" fmla="*/ 1234693 w 1424802"/>
              <a:gd name="connsiteY35" fmla="*/ 1632461 h 1650046"/>
              <a:gd name="connsiteX36" fmla="*/ 1217108 w 1424802"/>
              <a:gd name="connsiteY36" fmla="*/ 1638323 h 1650046"/>
              <a:gd name="connsiteX37" fmla="*/ 1176078 w 1424802"/>
              <a:gd name="connsiteY37" fmla="*/ 1644184 h 1650046"/>
              <a:gd name="connsiteX38" fmla="*/ 1140908 w 1424802"/>
              <a:gd name="connsiteY38" fmla="*/ 1650046 h 1650046"/>
              <a:gd name="connsiteX39" fmla="*/ 900585 w 1424802"/>
              <a:gd name="connsiteY39" fmla="*/ 1644184 h 1650046"/>
              <a:gd name="connsiteX40" fmla="*/ 883001 w 1424802"/>
              <a:gd name="connsiteY40" fmla="*/ 1638323 h 1650046"/>
              <a:gd name="connsiteX41" fmla="*/ 800939 w 1424802"/>
              <a:gd name="connsiteY41" fmla="*/ 1632461 h 1650046"/>
              <a:gd name="connsiteX42" fmla="*/ 630955 w 1424802"/>
              <a:gd name="connsiteY42" fmla="*/ 1626600 h 1650046"/>
              <a:gd name="connsiteX43" fmla="*/ 572339 w 1424802"/>
              <a:gd name="connsiteY43" fmla="*/ 1620738 h 1650046"/>
              <a:gd name="connsiteX44" fmla="*/ 476812 w 1424802"/>
              <a:gd name="connsiteY44" fmla="*/ 1626600 h 1650046"/>
              <a:gd name="connsiteX45" fmla="*/ 155426 w 1424802"/>
              <a:gd name="connsiteY45" fmla="*/ 1597292 h 1650046"/>
              <a:gd name="connsiteX46" fmla="*/ 83418 w 1424802"/>
              <a:gd name="connsiteY46" fmla="*/ 1525284 h 1650046"/>
              <a:gd name="connsiteX47" fmla="*/ 50662 w 1424802"/>
              <a:gd name="connsiteY47" fmla="*/ 1474200 h 1650046"/>
              <a:gd name="connsiteX48" fmla="*/ 33078 w 1424802"/>
              <a:gd name="connsiteY48" fmla="*/ 1456615 h 1650046"/>
              <a:gd name="connsiteX49" fmla="*/ 21355 w 1424802"/>
              <a:gd name="connsiteY49" fmla="*/ 1415584 h 1650046"/>
              <a:gd name="connsiteX50" fmla="*/ 9632 w 1424802"/>
              <a:gd name="connsiteY50" fmla="*/ 1368692 h 1650046"/>
              <a:gd name="connsiteX51" fmla="*/ 9632 w 1424802"/>
              <a:gd name="connsiteY51" fmla="*/ 1169400 h 1650046"/>
              <a:gd name="connsiteX52" fmla="*/ 15493 w 1424802"/>
              <a:gd name="connsiteY52" fmla="*/ 1151815 h 1650046"/>
              <a:gd name="connsiteX53" fmla="*/ 21355 w 1424802"/>
              <a:gd name="connsiteY53" fmla="*/ 1099061 h 1650046"/>
              <a:gd name="connsiteX54" fmla="*/ 27216 w 1424802"/>
              <a:gd name="connsiteY54" fmla="*/ 1081477 h 1650046"/>
              <a:gd name="connsiteX55" fmla="*/ 33078 w 1424802"/>
              <a:gd name="connsiteY55" fmla="*/ 1046307 h 1650046"/>
              <a:gd name="connsiteX56" fmla="*/ 50662 w 1424802"/>
              <a:gd name="connsiteY56" fmla="*/ 1005277 h 1650046"/>
              <a:gd name="connsiteX57" fmla="*/ 62385 w 1424802"/>
              <a:gd name="connsiteY57" fmla="*/ 964246 h 1650046"/>
              <a:gd name="connsiteX58" fmla="*/ 74108 w 1424802"/>
              <a:gd name="connsiteY58" fmla="*/ 940800 h 1650046"/>
              <a:gd name="connsiteX59" fmla="*/ 85832 w 1424802"/>
              <a:gd name="connsiteY59" fmla="*/ 899769 h 1650046"/>
              <a:gd name="connsiteX60" fmla="*/ 91693 w 1424802"/>
              <a:gd name="connsiteY60" fmla="*/ 882184 h 1650046"/>
              <a:gd name="connsiteX61" fmla="*/ 97555 w 1424802"/>
              <a:gd name="connsiteY61" fmla="*/ 852877 h 1650046"/>
              <a:gd name="connsiteX62" fmla="*/ 103416 w 1424802"/>
              <a:gd name="connsiteY62" fmla="*/ 835292 h 1650046"/>
              <a:gd name="connsiteX63" fmla="*/ 102366 w 1424802"/>
              <a:gd name="connsiteY63" fmla="*/ 772661 h 1650046"/>
              <a:gd name="connsiteX64" fmla="*/ 83418 w 1424802"/>
              <a:gd name="connsiteY64" fmla="*/ 661188 h 1650046"/>
              <a:gd name="connsiteX65" fmla="*/ 34270 w 1424802"/>
              <a:gd name="connsiteY65"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091559 w 1424802"/>
              <a:gd name="connsiteY25" fmla="*/ 805354 h 1650046"/>
              <a:gd name="connsiteX26" fmla="*/ 1235657 w 1424802"/>
              <a:gd name="connsiteY26" fmla="*/ 1021434 h 1650046"/>
              <a:gd name="connsiteX27" fmla="*/ 1307706 w 1424802"/>
              <a:gd name="connsiteY27" fmla="*/ 1093461 h 1650046"/>
              <a:gd name="connsiteX28" fmla="*/ 1353869 w 1424802"/>
              <a:gd name="connsiteY28" fmla="*/ 1173135 h 1650046"/>
              <a:gd name="connsiteX29" fmla="*/ 1379755 w 1424802"/>
              <a:gd name="connsiteY29" fmla="*/ 1237514 h 1650046"/>
              <a:gd name="connsiteX30" fmla="*/ 1410539 w 1424802"/>
              <a:gd name="connsiteY30" fmla="*/ 1351107 h 1650046"/>
              <a:gd name="connsiteX31" fmla="*/ 1404287 w 1424802"/>
              <a:gd name="connsiteY31" fmla="*/ 1474733 h 1650046"/>
              <a:gd name="connsiteX32" fmla="*/ 1287447 w 1424802"/>
              <a:gd name="connsiteY32" fmla="*/ 1609015 h 1650046"/>
              <a:gd name="connsiteX33" fmla="*/ 1269862 w 1424802"/>
              <a:gd name="connsiteY33" fmla="*/ 1620738 h 1650046"/>
              <a:gd name="connsiteX34" fmla="*/ 1234693 w 1424802"/>
              <a:gd name="connsiteY34" fmla="*/ 1632461 h 1650046"/>
              <a:gd name="connsiteX35" fmla="*/ 1217108 w 1424802"/>
              <a:gd name="connsiteY35" fmla="*/ 1638323 h 1650046"/>
              <a:gd name="connsiteX36" fmla="*/ 1176078 w 1424802"/>
              <a:gd name="connsiteY36" fmla="*/ 1644184 h 1650046"/>
              <a:gd name="connsiteX37" fmla="*/ 1140908 w 1424802"/>
              <a:gd name="connsiteY37" fmla="*/ 1650046 h 1650046"/>
              <a:gd name="connsiteX38" fmla="*/ 900585 w 1424802"/>
              <a:gd name="connsiteY38" fmla="*/ 1644184 h 1650046"/>
              <a:gd name="connsiteX39" fmla="*/ 883001 w 1424802"/>
              <a:gd name="connsiteY39" fmla="*/ 1638323 h 1650046"/>
              <a:gd name="connsiteX40" fmla="*/ 800939 w 1424802"/>
              <a:gd name="connsiteY40" fmla="*/ 1632461 h 1650046"/>
              <a:gd name="connsiteX41" fmla="*/ 630955 w 1424802"/>
              <a:gd name="connsiteY41" fmla="*/ 1626600 h 1650046"/>
              <a:gd name="connsiteX42" fmla="*/ 572339 w 1424802"/>
              <a:gd name="connsiteY42" fmla="*/ 1620738 h 1650046"/>
              <a:gd name="connsiteX43" fmla="*/ 476812 w 1424802"/>
              <a:gd name="connsiteY43" fmla="*/ 1626600 h 1650046"/>
              <a:gd name="connsiteX44" fmla="*/ 155426 w 1424802"/>
              <a:gd name="connsiteY44" fmla="*/ 1597292 h 1650046"/>
              <a:gd name="connsiteX45" fmla="*/ 83418 w 1424802"/>
              <a:gd name="connsiteY45" fmla="*/ 1525284 h 1650046"/>
              <a:gd name="connsiteX46" fmla="*/ 50662 w 1424802"/>
              <a:gd name="connsiteY46" fmla="*/ 1474200 h 1650046"/>
              <a:gd name="connsiteX47" fmla="*/ 33078 w 1424802"/>
              <a:gd name="connsiteY47" fmla="*/ 1456615 h 1650046"/>
              <a:gd name="connsiteX48" fmla="*/ 21355 w 1424802"/>
              <a:gd name="connsiteY48" fmla="*/ 1415584 h 1650046"/>
              <a:gd name="connsiteX49" fmla="*/ 9632 w 1424802"/>
              <a:gd name="connsiteY49" fmla="*/ 1368692 h 1650046"/>
              <a:gd name="connsiteX50" fmla="*/ 9632 w 1424802"/>
              <a:gd name="connsiteY50" fmla="*/ 1169400 h 1650046"/>
              <a:gd name="connsiteX51" fmla="*/ 15493 w 1424802"/>
              <a:gd name="connsiteY51" fmla="*/ 1151815 h 1650046"/>
              <a:gd name="connsiteX52" fmla="*/ 21355 w 1424802"/>
              <a:gd name="connsiteY52" fmla="*/ 1099061 h 1650046"/>
              <a:gd name="connsiteX53" fmla="*/ 27216 w 1424802"/>
              <a:gd name="connsiteY53" fmla="*/ 1081477 h 1650046"/>
              <a:gd name="connsiteX54" fmla="*/ 33078 w 1424802"/>
              <a:gd name="connsiteY54" fmla="*/ 1046307 h 1650046"/>
              <a:gd name="connsiteX55" fmla="*/ 50662 w 1424802"/>
              <a:gd name="connsiteY55" fmla="*/ 1005277 h 1650046"/>
              <a:gd name="connsiteX56" fmla="*/ 62385 w 1424802"/>
              <a:gd name="connsiteY56" fmla="*/ 964246 h 1650046"/>
              <a:gd name="connsiteX57" fmla="*/ 74108 w 1424802"/>
              <a:gd name="connsiteY57" fmla="*/ 940800 h 1650046"/>
              <a:gd name="connsiteX58" fmla="*/ 85832 w 1424802"/>
              <a:gd name="connsiteY58" fmla="*/ 899769 h 1650046"/>
              <a:gd name="connsiteX59" fmla="*/ 91693 w 1424802"/>
              <a:gd name="connsiteY59" fmla="*/ 882184 h 1650046"/>
              <a:gd name="connsiteX60" fmla="*/ 97555 w 1424802"/>
              <a:gd name="connsiteY60" fmla="*/ 852877 h 1650046"/>
              <a:gd name="connsiteX61" fmla="*/ 103416 w 1424802"/>
              <a:gd name="connsiteY61" fmla="*/ 835292 h 1650046"/>
              <a:gd name="connsiteX62" fmla="*/ 102366 w 1424802"/>
              <a:gd name="connsiteY62" fmla="*/ 772661 h 1650046"/>
              <a:gd name="connsiteX63" fmla="*/ 83418 w 1424802"/>
              <a:gd name="connsiteY63" fmla="*/ 661188 h 1650046"/>
              <a:gd name="connsiteX64" fmla="*/ 34270 w 1424802"/>
              <a:gd name="connsiteY64"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091559 w 1424802"/>
              <a:gd name="connsiteY24" fmla="*/ 805354 h 1650046"/>
              <a:gd name="connsiteX25" fmla="*/ 1235657 w 1424802"/>
              <a:gd name="connsiteY25" fmla="*/ 1021434 h 1650046"/>
              <a:gd name="connsiteX26" fmla="*/ 1307706 w 1424802"/>
              <a:gd name="connsiteY26" fmla="*/ 1093461 h 1650046"/>
              <a:gd name="connsiteX27" fmla="*/ 1353869 w 1424802"/>
              <a:gd name="connsiteY27" fmla="*/ 1173135 h 1650046"/>
              <a:gd name="connsiteX28" fmla="*/ 1379755 w 1424802"/>
              <a:gd name="connsiteY28" fmla="*/ 1237514 h 1650046"/>
              <a:gd name="connsiteX29" fmla="*/ 1410539 w 1424802"/>
              <a:gd name="connsiteY29" fmla="*/ 1351107 h 1650046"/>
              <a:gd name="connsiteX30" fmla="*/ 1404287 w 1424802"/>
              <a:gd name="connsiteY30" fmla="*/ 1474733 h 1650046"/>
              <a:gd name="connsiteX31" fmla="*/ 1287447 w 1424802"/>
              <a:gd name="connsiteY31" fmla="*/ 1609015 h 1650046"/>
              <a:gd name="connsiteX32" fmla="*/ 1269862 w 1424802"/>
              <a:gd name="connsiteY32" fmla="*/ 1620738 h 1650046"/>
              <a:gd name="connsiteX33" fmla="*/ 1234693 w 1424802"/>
              <a:gd name="connsiteY33" fmla="*/ 1632461 h 1650046"/>
              <a:gd name="connsiteX34" fmla="*/ 1217108 w 1424802"/>
              <a:gd name="connsiteY34" fmla="*/ 1638323 h 1650046"/>
              <a:gd name="connsiteX35" fmla="*/ 1176078 w 1424802"/>
              <a:gd name="connsiteY35" fmla="*/ 1644184 h 1650046"/>
              <a:gd name="connsiteX36" fmla="*/ 1140908 w 1424802"/>
              <a:gd name="connsiteY36" fmla="*/ 1650046 h 1650046"/>
              <a:gd name="connsiteX37" fmla="*/ 900585 w 1424802"/>
              <a:gd name="connsiteY37" fmla="*/ 1644184 h 1650046"/>
              <a:gd name="connsiteX38" fmla="*/ 883001 w 1424802"/>
              <a:gd name="connsiteY38" fmla="*/ 1638323 h 1650046"/>
              <a:gd name="connsiteX39" fmla="*/ 800939 w 1424802"/>
              <a:gd name="connsiteY39" fmla="*/ 1632461 h 1650046"/>
              <a:gd name="connsiteX40" fmla="*/ 630955 w 1424802"/>
              <a:gd name="connsiteY40" fmla="*/ 1626600 h 1650046"/>
              <a:gd name="connsiteX41" fmla="*/ 572339 w 1424802"/>
              <a:gd name="connsiteY41" fmla="*/ 1620738 h 1650046"/>
              <a:gd name="connsiteX42" fmla="*/ 476812 w 1424802"/>
              <a:gd name="connsiteY42" fmla="*/ 1626600 h 1650046"/>
              <a:gd name="connsiteX43" fmla="*/ 155426 w 1424802"/>
              <a:gd name="connsiteY43" fmla="*/ 1597292 h 1650046"/>
              <a:gd name="connsiteX44" fmla="*/ 83418 w 1424802"/>
              <a:gd name="connsiteY44" fmla="*/ 1525284 h 1650046"/>
              <a:gd name="connsiteX45" fmla="*/ 50662 w 1424802"/>
              <a:gd name="connsiteY45" fmla="*/ 1474200 h 1650046"/>
              <a:gd name="connsiteX46" fmla="*/ 33078 w 1424802"/>
              <a:gd name="connsiteY46" fmla="*/ 1456615 h 1650046"/>
              <a:gd name="connsiteX47" fmla="*/ 21355 w 1424802"/>
              <a:gd name="connsiteY47" fmla="*/ 1415584 h 1650046"/>
              <a:gd name="connsiteX48" fmla="*/ 9632 w 1424802"/>
              <a:gd name="connsiteY48" fmla="*/ 1368692 h 1650046"/>
              <a:gd name="connsiteX49" fmla="*/ 9632 w 1424802"/>
              <a:gd name="connsiteY49" fmla="*/ 1169400 h 1650046"/>
              <a:gd name="connsiteX50" fmla="*/ 15493 w 1424802"/>
              <a:gd name="connsiteY50" fmla="*/ 1151815 h 1650046"/>
              <a:gd name="connsiteX51" fmla="*/ 21355 w 1424802"/>
              <a:gd name="connsiteY51" fmla="*/ 1099061 h 1650046"/>
              <a:gd name="connsiteX52" fmla="*/ 27216 w 1424802"/>
              <a:gd name="connsiteY52" fmla="*/ 1081477 h 1650046"/>
              <a:gd name="connsiteX53" fmla="*/ 33078 w 1424802"/>
              <a:gd name="connsiteY53" fmla="*/ 1046307 h 1650046"/>
              <a:gd name="connsiteX54" fmla="*/ 50662 w 1424802"/>
              <a:gd name="connsiteY54" fmla="*/ 1005277 h 1650046"/>
              <a:gd name="connsiteX55" fmla="*/ 62385 w 1424802"/>
              <a:gd name="connsiteY55" fmla="*/ 964246 h 1650046"/>
              <a:gd name="connsiteX56" fmla="*/ 74108 w 1424802"/>
              <a:gd name="connsiteY56" fmla="*/ 940800 h 1650046"/>
              <a:gd name="connsiteX57" fmla="*/ 85832 w 1424802"/>
              <a:gd name="connsiteY57" fmla="*/ 899769 h 1650046"/>
              <a:gd name="connsiteX58" fmla="*/ 91693 w 1424802"/>
              <a:gd name="connsiteY58" fmla="*/ 882184 h 1650046"/>
              <a:gd name="connsiteX59" fmla="*/ 97555 w 1424802"/>
              <a:gd name="connsiteY59" fmla="*/ 852877 h 1650046"/>
              <a:gd name="connsiteX60" fmla="*/ 103416 w 1424802"/>
              <a:gd name="connsiteY60" fmla="*/ 835292 h 1650046"/>
              <a:gd name="connsiteX61" fmla="*/ 102366 w 1424802"/>
              <a:gd name="connsiteY61" fmla="*/ 772661 h 1650046"/>
              <a:gd name="connsiteX62" fmla="*/ 83418 w 1424802"/>
              <a:gd name="connsiteY62" fmla="*/ 661188 h 1650046"/>
              <a:gd name="connsiteX63" fmla="*/ 34270 w 1424802"/>
              <a:gd name="connsiteY63"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35047 w 1424802"/>
              <a:gd name="connsiteY22" fmla="*/ 630138 h 1650046"/>
              <a:gd name="connsiteX23" fmla="*/ 1091559 w 1424802"/>
              <a:gd name="connsiteY23" fmla="*/ 805354 h 1650046"/>
              <a:gd name="connsiteX24" fmla="*/ 1235657 w 1424802"/>
              <a:gd name="connsiteY24" fmla="*/ 1021434 h 1650046"/>
              <a:gd name="connsiteX25" fmla="*/ 1307706 w 1424802"/>
              <a:gd name="connsiteY25" fmla="*/ 1093461 h 1650046"/>
              <a:gd name="connsiteX26" fmla="*/ 1353869 w 1424802"/>
              <a:gd name="connsiteY26" fmla="*/ 1173135 h 1650046"/>
              <a:gd name="connsiteX27" fmla="*/ 1379755 w 1424802"/>
              <a:gd name="connsiteY27" fmla="*/ 1237514 h 1650046"/>
              <a:gd name="connsiteX28" fmla="*/ 1410539 w 1424802"/>
              <a:gd name="connsiteY28" fmla="*/ 1351107 h 1650046"/>
              <a:gd name="connsiteX29" fmla="*/ 1404287 w 1424802"/>
              <a:gd name="connsiteY29" fmla="*/ 1474733 h 1650046"/>
              <a:gd name="connsiteX30" fmla="*/ 1287447 w 1424802"/>
              <a:gd name="connsiteY30" fmla="*/ 1609015 h 1650046"/>
              <a:gd name="connsiteX31" fmla="*/ 1269862 w 1424802"/>
              <a:gd name="connsiteY31" fmla="*/ 1620738 h 1650046"/>
              <a:gd name="connsiteX32" fmla="*/ 1234693 w 1424802"/>
              <a:gd name="connsiteY32" fmla="*/ 1632461 h 1650046"/>
              <a:gd name="connsiteX33" fmla="*/ 1217108 w 1424802"/>
              <a:gd name="connsiteY33" fmla="*/ 1638323 h 1650046"/>
              <a:gd name="connsiteX34" fmla="*/ 1176078 w 1424802"/>
              <a:gd name="connsiteY34" fmla="*/ 1644184 h 1650046"/>
              <a:gd name="connsiteX35" fmla="*/ 1140908 w 1424802"/>
              <a:gd name="connsiteY35" fmla="*/ 1650046 h 1650046"/>
              <a:gd name="connsiteX36" fmla="*/ 900585 w 1424802"/>
              <a:gd name="connsiteY36" fmla="*/ 1644184 h 1650046"/>
              <a:gd name="connsiteX37" fmla="*/ 883001 w 1424802"/>
              <a:gd name="connsiteY37" fmla="*/ 1638323 h 1650046"/>
              <a:gd name="connsiteX38" fmla="*/ 800939 w 1424802"/>
              <a:gd name="connsiteY38" fmla="*/ 1632461 h 1650046"/>
              <a:gd name="connsiteX39" fmla="*/ 630955 w 1424802"/>
              <a:gd name="connsiteY39" fmla="*/ 1626600 h 1650046"/>
              <a:gd name="connsiteX40" fmla="*/ 572339 w 1424802"/>
              <a:gd name="connsiteY40" fmla="*/ 1620738 h 1650046"/>
              <a:gd name="connsiteX41" fmla="*/ 476812 w 1424802"/>
              <a:gd name="connsiteY41" fmla="*/ 1626600 h 1650046"/>
              <a:gd name="connsiteX42" fmla="*/ 155426 w 1424802"/>
              <a:gd name="connsiteY42" fmla="*/ 1597292 h 1650046"/>
              <a:gd name="connsiteX43" fmla="*/ 83418 w 1424802"/>
              <a:gd name="connsiteY43" fmla="*/ 1525284 h 1650046"/>
              <a:gd name="connsiteX44" fmla="*/ 50662 w 1424802"/>
              <a:gd name="connsiteY44" fmla="*/ 1474200 h 1650046"/>
              <a:gd name="connsiteX45" fmla="*/ 33078 w 1424802"/>
              <a:gd name="connsiteY45" fmla="*/ 1456615 h 1650046"/>
              <a:gd name="connsiteX46" fmla="*/ 21355 w 1424802"/>
              <a:gd name="connsiteY46" fmla="*/ 1415584 h 1650046"/>
              <a:gd name="connsiteX47" fmla="*/ 9632 w 1424802"/>
              <a:gd name="connsiteY47" fmla="*/ 1368692 h 1650046"/>
              <a:gd name="connsiteX48" fmla="*/ 9632 w 1424802"/>
              <a:gd name="connsiteY48" fmla="*/ 1169400 h 1650046"/>
              <a:gd name="connsiteX49" fmla="*/ 15493 w 1424802"/>
              <a:gd name="connsiteY49" fmla="*/ 1151815 h 1650046"/>
              <a:gd name="connsiteX50" fmla="*/ 21355 w 1424802"/>
              <a:gd name="connsiteY50" fmla="*/ 1099061 h 1650046"/>
              <a:gd name="connsiteX51" fmla="*/ 27216 w 1424802"/>
              <a:gd name="connsiteY51" fmla="*/ 1081477 h 1650046"/>
              <a:gd name="connsiteX52" fmla="*/ 33078 w 1424802"/>
              <a:gd name="connsiteY52" fmla="*/ 1046307 h 1650046"/>
              <a:gd name="connsiteX53" fmla="*/ 50662 w 1424802"/>
              <a:gd name="connsiteY53" fmla="*/ 1005277 h 1650046"/>
              <a:gd name="connsiteX54" fmla="*/ 62385 w 1424802"/>
              <a:gd name="connsiteY54" fmla="*/ 964246 h 1650046"/>
              <a:gd name="connsiteX55" fmla="*/ 74108 w 1424802"/>
              <a:gd name="connsiteY55" fmla="*/ 940800 h 1650046"/>
              <a:gd name="connsiteX56" fmla="*/ 85832 w 1424802"/>
              <a:gd name="connsiteY56" fmla="*/ 899769 h 1650046"/>
              <a:gd name="connsiteX57" fmla="*/ 91693 w 1424802"/>
              <a:gd name="connsiteY57" fmla="*/ 882184 h 1650046"/>
              <a:gd name="connsiteX58" fmla="*/ 97555 w 1424802"/>
              <a:gd name="connsiteY58" fmla="*/ 852877 h 1650046"/>
              <a:gd name="connsiteX59" fmla="*/ 103416 w 1424802"/>
              <a:gd name="connsiteY59" fmla="*/ 835292 h 1650046"/>
              <a:gd name="connsiteX60" fmla="*/ 102366 w 1424802"/>
              <a:gd name="connsiteY60" fmla="*/ 772661 h 1650046"/>
              <a:gd name="connsiteX61" fmla="*/ 83418 w 1424802"/>
              <a:gd name="connsiteY61" fmla="*/ 661188 h 1650046"/>
              <a:gd name="connsiteX62" fmla="*/ 34270 w 1424802"/>
              <a:gd name="connsiteY62"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135047 w 1424802"/>
              <a:gd name="connsiteY21" fmla="*/ 630138 h 1650046"/>
              <a:gd name="connsiteX22" fmla="*/ 1091559 w 1424802"/>
              <a:gd name="connsiteY22" fmla="*/ 805354 h 1650046"/>
              <a:gd name="connsiteX23" fmla="*/ 1235657 w 1424802"/>
              <a:gd name="connsiteY23" fmla="*/ 1021434 h 1650046"/>
              <a:gd name="connsiteX24" fmla="*/ 1307706 w 1424802"/>
              <a:gd name="connsiteY24" fmla="*/ 1093461 h 1650046"/>
              <a:gd name="connsiteX25" fmla="*/ 1353869 w 1424802"/>
              <a:gd name="connsiteY25" fmla="*/ 1173135 h 1650046"/>
              <a:gd name="connsiteX26" fmla="*/ 1379755 w 1424802"/>
              <a:gd name="connsiteY26" fmla="*/ 1237514 h 1650046"/>
              <a:gd name="connsiteX27" fmla="*/ 1410539 w 1424802"/>
              <a:gd name="connsiteY27" fmla="*/ 1351107 h 1650046"/>
              <a:gd name="connsiteX28" fmla="*/ 1404287 w 1424802"/>
              <a:gd name="connsiteY28" fmla="*/ 1474733 h 1650046"/>
              <a:gd name="connsiteX29" fmla="*/ 1287447 w 1424802"/>
              <a:gd name="connsiteY29" fmla="*/ 1609015 h 1650046"/>
              <a:gd name="connsiteX30" fmla="*/ 1269862 w 1424802"/>
              <a:gd name="connsiteY30" fmla="*/ 1620738 h 1650046"/>
              <a:gd name="connsiteX31" fmla="*/ 1234693 w 1424802"/>
              <a:gd name="connsiteY31" fmla="*/ 1632461 h 1650046"/>
              <a:gd name="connsiteX32" fmla="*/ 1217108 w 1424802"/>
              <a:gd name="connsiteY32" fmla="*/ 1638323 h 1650046"/>
              <a:gd name="connsiteX33" fmla="*/ 1176078 w 1424802"/>
              <a:gd name="connsiteY33" fmla="*/ 1644184 h 1650046"/>
              <a:gd name="connsiteX34" fmla="*/ 1140908 w 1424802"/>
              <a:gd name="connsiteY34" fmla="*/ 1650046 h 1650046"/>
              <a:gd name="connsiteX35" fmla="*/ 900585 w 1424802"/>
              <a:gd name="connsiteY35" fmla="*/ 1644184 h 1650046"/>
              <a:gd name="connsiteX36" fmla="*/ 883001 w 1424802"/>
              <a:gd name="connsiteY36" fmla="*/ 1638323 h 1650046"/>
              <a:gd name="connsiteX37" fmla="*/ 800939 w 1424802"/>
              <a:gd name="connsiteY37" fmla="*/ 1632461 h 1650046"/>
              <a:gd name="connsiteX38" fmla="*/ 630955 w 1424802"/>
              <a:gd name="connsiteY38" fmla="*/ 1626600 h 1650046"/>
              <a:gd name="connsiteX39" fmla="*/ 572339 w 1424802"/>
              <a:gd name="connsiteY39" fmla="*/ 1620738 h 1650046"/>
              <a:gd name="connsiteX40" fmla="*/ 476812 w 1424802"/>
              <a:gd name="connsiteY40" fmla="*/ 1626600 h 1650046"/>
              <a:gd name="connsiteX41" fmla="*/ 155426 w 1424802"/>
              <a:gd name="connsiteY41" fmla="*/ 1597292 h 1650046"/>
              <a:gd name="connsiteX42" fmla="*/ 83418 w 1424802"/>
              <a:gd name="connsiteY42" fmla="*/ 1525284 h 1650046"/>
              <a:gd name="connsiteX43" fmla="*/ 50662 w 1424802"/>
              <a:gd name="connsiteY43" fmla="*/ 1474200 h 1650046"/>
              <a:gd name="connsiteX44" fmla="*/ 33078 w 1424802"/>
              <a:gd name="connsiteY44" fmla="*/ 1456615 h 1650046"/>
              <a:gd name="connsiteX45" fmla="*/ 21355 w 1424802"/>
              <a:gd name="connsiteY45" fmla="*/ 1415584 h 1650046"/>
              <a:gd name="connsiteX46" fmla="*/ 9632 w 1424802"/>
              <a:gd name="connsiteY46" fmla="*/ 1368692 h 1650046"/>
              <a:gd name="connsiteX47" fmla="*/ 9632 w 1424802"/>
              <a:gd name="connsiteY47" fmla="*/ 1169400 h 1650046"/>
              <a:gd name="connsiteX48" fmla="*/ 15493 w 1424802"/>
              <a:gd name="connsiteY48" fmla="*/ 1151815 h 1650046"/>
              <a:gd name="connsiteX49" fmla="*/ 21355 w 1424802"/>
              <a:gd name="connsiteY49" fmla="*/ 1099061 h 1650046"/>
              <a:gd name="connsiteX50" fmla="*/ 27216 w 1424802"/>
              <a:gd name="connsiteY50" fmla="*/ 1081477 h 1650046"/>
              <a:gd name="connsiteX51" fmla="*/ 33078 w 1424802"/>
              <a:gd name="connsiteY51" fmla="*/ 1046307 h 1650046"/>
              <a:gd name="connsiteX52" fmla="*/ 50662 w 1424802"/>
              <a:gd name="connsiteY52" fmla="*/ 1005277 h 1650046"/>
              <a:gd name="connsiteX53" fmla="*/ 62385 w 1424802"/>
              <a:gd name="connsiteY53" fmla="*/ 964246 h 1650046"/>
              <a:gd name="connsiteX54" fmla="*/ 74108 w 1424802"/>
              <a:gd name="connsiteY54" fmla="*/ 940800 h 1650046"/>
              <a:gd name="connsiteX55" fmla="*/ 85832 w 1424802"/>
              <a:gd name="connsiteY55" fmla="*/ 899769 h 1650046"/>
              <a:gd name="connsiteX56" fmla="*/ 91693 w 1424802"/>
              <a:gd name="connsiteY56" fmla="*/ 882184 h 1650046"/>
              <a:gd name="connsiteX57" fmla="*/ 97555 w 1424802"/>
              <a:gd name="connsiteY57" fmla="*/ 852877 h 1650046"/>
              <a:gd name="connsiteX58" fmla="*/ 103416 w 1424802"/>
              <a:gd name="connsiteY58" fmla="*/ 835292 h 1650046"/>
              <a:gd name="connsiteX59" fmla="*/ 102366 w 1424802"/>
              <a:gd name="connsiteY59" fmla="*/ 772661 h 1650046"/>
              <a:gd name="connsiteX60" fmla="*/ 83418 w 1424802"/>
              <a:gd name="connsiteY60" fmla="*/ 661188 h 1650046"/>
              <a:gd name="connsiteX61" fmla="*/ 34270 w 1424802"/>
              <a:gd name="connsiteY61"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1559 w 1424802"/>
              <a:gd name="connsiteY21" fmla="*/ 805354 h 1650046"/>
              <a:gd name="connsiteX22" fmla="*/ 1235657 w 1424802"/>
              <a:gd name="connsiteY22" fmla="*/ 1021434 h 1650046"/>
              <a:gd name="connsiteX23" fmla="*/ 1307706 w 1424802"/>
              <a:gd name="connsiteY23" fmla="*/ 1093461 h 1650046"/>
              <a:gd name="connsiteX24" fmla="*/ 1353869 w 1424802"/>
              <a:gd name="connsiteY24" fmla="*/ 1173135 h 1650046"/>
              <a:gd name="connsiteX25" fmla="*/ 1379755 w 1424802"/>
              <a:gd name="connsiteY25" fmla="*/ 1237514 h 1650046"/>
              <a:gd name="connsiteX26" fmla="*/ 1410539 w 1424802"/>
              <a:gd name="connsiteY26" fmla="*/ 1351107 h 1650046"/>
              <a:gd name="connsiteX27" fmla="*/ 1404287 w 1424802"/>
              <a:gd name="connsiteY27" fmla="*/ 1474733 h 1650046"/>
              <a:gd name="connsiteX28" fmla="*/ 1287447 w 1424802"/>
              <a:gd name="connsiteY28" fmla="*/ 1609015 h 1650046"/>
              <a:gd name="connsiteX29" fmla="*/ 1269862 w 1424802"/>
              <a:gd name="connsiteY29" fmla="*/ 1620738 h 1650046"/>
              <a:gd name="connsiteX30" fmla="*/ 1234693 w 1424802"/>
              <a:gd name="connsiteY30" fmla="*/ 1632461 h 1650046"/>
              <a:gd name="connsiteX31" fmla="*/ 1217108 w 1424802"/>
              <a:gd name="connsiteY31" fmla="*/ 1638323 h 1650046"/>
              <a:gd name="connsiteX32" fmla="*/ 1176078 w 1424802"/>
              <a:gd name="connsiteY32" fmla="*/ 1644184 h 1650046"/>
              <a:gd name="connsiteX33" fmla="*/ 1140908 w 1424802"/>
              <a:gd name="connsiteY33" fmla="*/ 1650046 h 1650046"/>
              <a:gd name="connsiteX34" fmla="*/ 900585 w 1424802"/>
              <a:gd name="connsiteY34" fmla="*/ 1644184 h 1650046"/>
              <a:gd name="connsiteX35" fmla="*/ 883001 w 1424802"/>
              <a:gd name="connsiteY35" fmla="*/ 1638323 h 1650046"/>
              <a:gd name="connsiteX36" fmla="*/ 800939 w 1424802"/>
              <a:gd name="connsiteY36" fmla="*/ 1632461 h 1650046"/>
              <a:gd name="connsiteX37" fmla="*/ 630955 w 1424802"/>
              <a:gd name="connsiteY37" fmla="*/ 1626600 h 1650046"/>
              <a:gd name="connsiteX38" fmla="*/ 572339 w 1424802"/>
              <a:gd name="connsiteY38" fmla="*/ 1620738 h 1650046"/>
              <a:gd name="connsiteX39" fmla="*/ 476812 w 1424802"/>
              <a:gd name="connsiteY39" fmla="*/ 1626600 h 1650046"/>
              <a:gd name="connsiteX40" fmla="*/ 155426 w 1424802"/>
              <a:gd name="connsiteY40" fmla="*/ 1597292 h 1650046"/>
              <a:gd name="connsiteX41" fmla="*/ 83418 w 1424802"/>
              <a:gd name="connsiteY41" fmla="*/ 1525284 h 1650046"/>
              <a:gd name="connsiteX42" fmla="*/ 50662 w 1424802"/>
              <a:gd name="connsiteY42" fmla="*/ 1474200 h 1650046"/>
              <a:gd name="connsiteX43" fmla="*/ 33078 w 1424802"/>
              <a:gd name="connsiteY43" fmla="*/ 1456615 h 1650046"/>
              <a:gd name="connsiteX44" fmla="*/ 21355 w 1424802"/>
              <a:gd name="connsiteY44" fmla="*/ 1415584 h 1650046"/>
              <a:gd name="connsiteX45" fmla="*/ 9632 w 1424802"/>
              <a:gd name="connsiteY45" fmla="*/ 1368692 h 1650046"/>
              <a:gd name="connsiteX46" fmla="*/ 9632 w 1424802"/>
              <a:gd name="connsiteY46" fmla="*/ 1169400 h 1650046"/>
              <a:gd name="connsiteX47" fmla="*/ 15493 w 1424802"/>
              <a:gd name="connsiteY47" fmla="*/ 1151815 h 1650046"/>
              <a:gd name="connsiteX48" fmla="*/ 21355 w 1424802"/>
              <a:gd name="connsiteY48" fmla="*/ 1099061 h 1650046"/>
              <a:gd name="connsiteX49" fmla="*/ 27216 w 1424802"/>
              <a:gd name="connsiteY49" fmla="*/ 1081477 h 1650046"/>
              <a:gd name="connsiteX50" fmla="*/ 33078 w 1424802"/>
              <a:gd name="connsiteY50" fmla="*/ 1046307 h 1650046"/>
              <a:gd name="connsiteX51" fmla="*/ 50662 w 1424802"/>
              <a:gd name="connsiteY51" fmla="*/ 1005277 h 1650046"/>
              <a:gd name="connsiteX52" fmla="*/ 62385 w 1424802"/>
              <a:gd name="connsiteY52" fmla="*/ 964246 h 1650046"/>
              <a:gd name="connsiteX53" fmla="*/ 74108 w 1424802"/>
              <a:gd name="connsiteY53" fmla="*/ 940800 h 1650046"/>
              <a:gd name="connsiteX54" fmla="*/ 85832 w 1424802"/>
              <a:gd name="connsiteY54" fmla="*/ 899769 h 1650046"/>
              <a:gd name="connsiteX55" fmla="*/ 91693 w 1424802"/>
              <a:gd name="connsiteY55" fmla="*/ 882184 h 1650046"/>
              <a:gd name="connsiteX56" fmla="*/ 97555 w 1424802"/>
              <a:gd name="connsiteY56" fmla="*/ 852877 h 1650046"/>
              <a:gd name="connsiteX57" fmla="*/ 103416 w 1424802"/>
              <a:gd name="connsiteY57" fmla="*/ 835292 h 1650046"/>
              <a:gd name="connsiteX58" fmla="*/ 102366 w 1424802"/>
              <a:gd name="connsiteY58" fmla="*/ 772661 h 1650046"/>
              <a:gd name="connsiteX59" fmla="*/ 83418 w 1424802"/>
              <a:gd name="connsiteY59" fmla="*/ 661188 h 1650046"/>
              <a:gd name="connsiteX60" fmla="*/ 34270 w 1424802"/>
              <a:gd name="connsiteY60"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91559 w 1424802"/>
              <a:gd name="connsiteY20" fmla="*/ 805354 h 1650046"/>
              <a:gd name="connsiteX21" fmla="*/ 1235657 w 1424802"/>
              <a:gd name="connsiteY21" fmla="*/ 1021434 h 1650046"/>
              <a:gd name="connsiteX22" fmla="*/ 1307706 w 1424802"/>
              <a:gd name="connsiteY22" fmla="*/ 1093461 h 1650046"/>
              <a:gd name="connsiteX23" fmla="*/ 1353869 w 1424802"/>
              <a:gd name="connsiteY23" fmla="*/ 1173135 h 1650046"/>
              <a:gd name="connsiteX24" fmla="*/ 1379755 w 1424802"/>
              <a:gd name="connsiteY24" fmla="*/ 1237514 h 1650046"/>
              <a:gd name="connsiteX25" fmla="*/ 1410539 w 1424802"/>
              <a:gd name="connsiteY25" fmla="*/ 1351107 h 1650046"/>
              <a:gd name="connsiteX26" fmla="*/ 1404287 w 1424802"/>
              <a:gd name="connsiteY26" fmla="*/ 1474733 h 1650046"/>
              <a:gd name="connsiteX27" fmla="*/ 1287447 w 1424802"/>
              <a:gd name="connsiteY27" fmla="*/ 1609015 h 1650046"/>
              <a:gd name="connsiteX28" fmla="*/ 1269862 w 1424802"/>
              <a:gd name="connsiteY28" fmla="*/ 1620738 h 1650046"/>
              <a:gd name="connsiteX29" fmla="*/ 1234693 w 1424802"/>
              <a:gd name="connsiteY29" fmla="*/ 1632461 h 1650046"/>
              <a:gd name="connsiteX30" fmla="*/ 1217108 w 1424802"/>
              <a:gd name="connsiteY30" fmla="*/ 1638323 h 1650046"/>
              <a:gd name="connsiteX31" fmla="*/ 1176078 w 1424802"/>
              <a:gd name="connsiteY31" fmla="*/ 1644184 h 1650046"/>
              <a:gd name="connsiteX32" fmla="*/ 1140908 w 1424802"/>
              <a:gd name="connsiteY32" fmla="*/ 1650046 h 1650046"/>
              <a:gd name="connsiteX33" fmla="*/ 900585 w 1424802"/>
              <a:gd name="connsiteY33" fmla="*/ 1644184 h 1650046"/>
              <a:gd name="connsiteX34" fmla="*/ 883001 w 1424802"/>
              <a:gd name="connsiteY34" fmla="*/ 1638323 h 1650046"/>
              <a:gd name="connsiteX35" fmla="*/ 800939 w 1424802"/>
              <a:gd name="connsiteY35" fmla="*/ 1632461 h 1650046"/>
              <a:gd name="connsiteX36" fmla="*/ 630955 w 1424802"/>
              <a:gd name="connsiteY36" fmla="*/ 1626600 h 1650046"/>
              <a:gd name="connsiteX37" fmla="*/ 572339 w 1424802"/>
              <a:gd name="connsiteY37" fmla="*/ 1620738 h 1650046"/>
              <a:gd name="connsiteX38" fmla="*/ 476812 w 1424802"/>
              <a:gd name="connsiteY38" fmla="*/ 1626600 h 1650046"/>
              <a:gd name="connsiteX39" fmla="*/ 155426 w 1424802"/>
              <a:gd name="connsiteY39" fmla="*/ 1597292 h 1650046"/>
              <a:gd name="connsiteX40" fmla="*/ 83418 w 1424802"/>
              <a:gd name="connsiteY40" fmla="*/ 1525284 h 1650046"/>
              <a:gd name="connsiteX41" fmla="*/ 50662 w 1424802"/>
              <a:gd name="connsiteY41" fmla="*/ 1474200 h 1650046"/>
              <a:gd name="connsiteX42" fmla="*/ 33078 w 1424802"/>
              <a:gd name="connsiteY42" fmla="*/ 1456615 h 1650046"/>
              <a:gd name="connsiteX43" fmla="*/ 21355 w 1424802"/>
              <a:gd name="connsiteY43" fmla="*/ 1415584 h 1650046"/>
              <a:gd name="connsiteX44" fmla="*/ 9632 w 1424802"/>
              <a:gd name="connsiteY44" fmla="*/ 1368692 h 1650046"/>
              <a:gd name="connsiteX45" fmla="*/ 9632 w 1424802"/>
              <a:gd name="connsiteY45" fmla="*/ 1169400 h 1650046"/>
              <a:gd name="connsiteX46" fmla="*/ 15493 w 1424802"/>
              <a:gd name="connsiteY46" fmla="*/ 1151815 h 1650046"/>
              <a:gd name="connsiteX47" fmla="*/ 21355 w 1424802"/>
              <a:gd name="connsiteY47" fmla="*/ 1099061 h 1650046"/>
              <a:gd name="connsiteX48" fmla="*/ 27216 w 1424802"/>
              <a:gd name="connsiteY48" fmla="*/ 1081477 h 1650046"/>
              <a:gd name="connsiteX49" fmla="*/ 33078 w 1424802"/>
              <a:gd name="connsiteY49" fmla="*/ 1046307 h 1650046"/>
              <a:gd name="connsiteX50" fmla="*/ 50662 w 1424802"/>
              <a:gd name="connsiteY50" fmla="*/ 1005277 h 1650046"/>
              <a:gd name="connsiteX51" fmla="*/ 62385 w 1424802"/>
              <a:gd name="connsiteY51" fmla="*/ 964246 h 1650046"/>
              <a:gd name="connsiteX52" fmla="*/ 74108 w 1424802"/>
              <a:gd name="connsiteY52" fmla="*/ 940800 h 1650046"/>
              <a:gd name="connsiteX53" fmla="*/ 85832 w 1424802"/>
              <a:gd name="connsiteY53" fmla="*/ 899769 h 1650046"/>
              <a:gd name="connsiteX54" fmla="*/ 91693 w 1424802"/>
              <a:gd name="connsiteY54" fmla="*/ 882184 h 1650046"/>
              <a:gd name="connsiteX55" fmla="*/ 97555 w 1424802"/>
              <a:gd name="connsiteY55" fmla="*/ 852877 h 1650046"/>
              <a:gd name="connsiteX56" fmla="*/ 103416 w 1424802"/>
              <a:gd name="connsiteY56" fmla="*/ 835292 h 1650046"/>
              <a:gd name="connsiteX57" fmla="*/ 102366 w 1424802"/>
              <a:gd name="connsiteY57" fmla="*/ 772661 h 1650046"/>
              <a:gd name="connsiteX58" fmla="*/ 83418 w 1424802"/>
              <a:gd name="connsiteY58" fmla="*/ 661188 h 1650046"/>
              <a:gd name="connsiteX59" fmla="*/ 34270 w 1424802"/>
              <a:gd name="connsiteY59"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91559 w 1424802"/>
              <a:gd name="connsiteY19" fmla="*/ 805354 h 1650046"/>
              <a:gd name="connsiteX20" fmla="*/ 1235657 w 1424802"/>
              <a:gd name="connsiteY20" fmla="*/ 1021434 h 1650046"/>
              <a:gd name="connsiteX21" fmla="*/ 1307706 w 1424802"/>
              <a:gd name="connsiteY21" fmla="*/ 1093461 h 1650046"/>
              <a:gd name="connsiteX22" fmla="*/ 1353869 w 1424802"/>
              <a:gd name="connsiteY22" fmla="*/ 1173135 h 1650046"/>
              <a:gd name="connsiteX23" fmla="*/ 1379755 w 1424802"/>
              <a:gd name="connsiteY23" fmla="*/ 1237514 h 1650046"/>
              <a:gd name="connsiteX24" fmla="*/ 1410539 w 1424802"/>
              <a:gd name="connsiteY24" fmla="*/ 1351107 h 1650046"/>
              <a:gd name="connsiteX25" fmla="*/ 1404287 w 1424802"/>
              <a:gd name="connsiteY25" fmla="*/ 1474733 h 1650046"/>
              <a:gd name="connsiteX26" fmla="*/ 1287447 w 1424802"/>
              <a:gd name="connsiteY26" fmla="*/ 1609015 h 1650046"/>
              <a:gd name="connsiteX27" fmla="*/ 1269862 w 1424802"/>
              <a:gd name="connsiteY27" fmla="*/ 1620738 h 1650046"/>
              <a:gd name="connsiteX28" fmla="*/ 1234693 w 1424802"/>
              <a:gd name="connsiteY28" fmla="*/ 1632461 h 1650046"/>
              <a:gd name="connsiteX29" fmla="*/ 1217108 w 1424802"/>
              <a:gd name="connsiteY29" fmla="*/ 1638323 h 1650046"/>
              <a:gd name="connsiteX30" fmla="*/ 1176078 w 1424802"/>
              <a:gd name="connsiteY30" fmla="*/ 1644184 h 1650046"/>
              <a:gd name="connsiteX31" fmla="*/ 1140908 w 1424802"/>
              <a:gd name="connsiteY31" fmla="*/ 1650046 h 1650046"/>
              <a:gd name="connsiteX32" fmla="*/ 900585 w 1424802"/>
              <a:gd name="connsiteY32" fmla="*/ 1644184 h 1650046"/>
              <a:gd name="connsiteX33" fmla="*/ 883001 w 1424802"/>
              <a:gd name="connsiteY33" fmla="*/ 1638323 h 1650046"/>
              <a:gd name="connsiteX34" fmla="*/ 800939 w 1424802"/>
              <a:gd name="connsiteY34" fmla="*/ 1632461 h 1650046"/>
              <a:gd name="connsiteX35" fmla="*/ 630955 w 1424802"/>
              <a:gd name="connsiteY35" fmla="*/ 1626600 h 1650046"/>
              <a:gd name="connsiteX36" fmla="*/ 572339 w 1424802"/>
              <a:gd name="connsiteY36" fmla="*/ 1620738 h 1650046"/>
              <a:gd name="connsiteX37" fmla="*/ 476812 w 1424802"/>
              <a:gd name="connsiteY37" fmla="*/ 1626600 h 1650046"/>
              <a:gd name="connsiteX38" fmla="*/ 155426 w 1424802"/>
              <a:gd name="connsiteY38" fmla="*/ 1597292 h 1650046"/>
              <a:gd name="connsiteX39" fmla="*/ 83418 w 1424802"/>
              <a:gd name="connsiteY39" fmla="*/ 1525284 h 1650046"/>
              <a:gd name="connsiteX40" fmla="*/ 50662 w 1424802"/>
              <a:gd name="connsiteY40" fmla="*/ 1474200 h 1650046"/>
              <a:gd name="connsiteX41" fmla="*/ 33078 w 1424802"/>
              <a:gd name="connsiteY41" fmla="*/ 1456615 h 1650046"/>
              <a:gd name="connsiteX42" fmla="*/ 21355 w 1424802"/>
              <a:gd name="connsiteY42" fmla="*/ 1415584 h 1650046"/>
              <a:gd name="connsiteX43" fmla="*/ 9632 w 1424802"/>
              <a:gd name="connsiteY43" fmla="*/ 1368692 h 1650046"/>
              <a:gd name="connsiteX44" fmla="*/ 9632 w 1424802"/>
              <a:gd name="connsiteY44" fmla="*/ 1169400 h 1650046"/>
              <a:gd name="connsiteX45" fmla="*/ 15493 w 1424802"/>
              <a:gd name="connsiteY45" fmla="*/ 1151815 h 1650046"/>
              <a:gd name="connsiteX46" fmla="*/ 21355 w 1424802"/>
              <a:gd name="connsiteY46" fmla="*/ 1099061 h 1650046"/>
              <a:gd name="connsiteX47" fmla="*/ 27216 w 1424802"/>
              <a:gd name="connsiteY47" fmla="*/ 1081477 h 1650046"/>
              <a:gd name="connsiteX48" fmla="*/ 33078 w 1424802"/>
              <a:gd name="connsiteY48" fmla="*/ 1046307 h 1650046"/>
              <a:gd name="connsiteX49" fmla="*/ 50662 w 1424802"/>
              <a:gd name="connsiteY49" fmla="*/ 1005277 h 1650046"/>
              <a:gd name="connsiteX50" fmla="*/ 62385 w 1424802"/>
              <a:gd name="connsiteY50" fmla="*/ 964246 h 1650046"/>
              <a:gd name="connsiteX51" fmla="*/ 74108 w 1424802"/>
              <a:gd name="connsiteY51" fmla="*/ 940800 h 1650046"/>
              <a:gd name="connsiteX52" fmla="*/ 85832 w 1424802"/>
              <a:gd name="connsiteY52" fmla="*/ 899769 h 1650046"/>
              <a:gd name="connsiteX53" fmla="*/ 91693 w 1424802"/>
              <a:gd name="connsiteY53" fmla="*/ 882184 h 1650046"/>
              <a:gd name="connsiteX54" fmla="*/ 97555 w 1424802"/>
              <a:gd name="connsiteY54" fmla="*/ 852877 h 1650046"/>
              <a:gd name="connsiteX55" fmla="*/ 103416 w 1424802"/>
              <a:gd name="connsiteY55" fmla="*/ 835292 h 1650046"/>
              <a:gd name="connsiteX56" fmla="*/ 102366 w 1424802"/>
              <a:gd name="connsiteY56" fmla="*/ 772661 h 1650046"/>
              <a:gd name="connsiteX57" fmla="*/ 83418 w 1424802"/>
              <a:gd name="connsiteY57" fmla="*/ 661188 h 1650046"/>
              <a:gd name="connsiteX58" fmla="*/ 34270 w 1424802"/>
              <a:gd name="connsiteY58"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1091559 w 1424802"/>
              <a:gd name="connsiteY18" fmla="*/ 805354 h 1650046"/>
              <a:gd name="connsiteX19" fmla="*/ 1235657 w 1424802"/>
              <a:gd name="connsiteY19" fmla="*/ 1021434 h 1650046"/>
              <a:gd name="connsiteX20" fmla="*/ 1307706 w 1424802"/>
              <a:gd name="connsiteY20" fmla="*/ 1093461 h 1650046"/>
              <a:gd name="connsiteX21" fmla="*/ 1353869 w 1424802"/>
              <a:gd name="connsiteY21" fmla="*/ 1173135 h 1650046"/>
              <a:gd name="connsiteX22" fmla="*/ 1379755 w 1424802"/>
              <a:gd name="connsiteY22" fmla="*/ 1237514 h 1650046"/>
              <a:gd name="connsiteX23" fmla="*/ 1410539 w 1424802"/>
              <a:gd name="connsiteY23" fmla="*/ 1351107 h 1650046"/>
              <a:gd name="connsiteX24" fmla="*/ 1404287 w 1424802"/>
              <a:gd name="connsiteY24" fmla="*/ 1474733 h 1650046"/>
              <a:gd name="connsiteX25" fmla="*/ 1287447 w 1424802"/>
              <a:gd name="connsiteY25" fmla="*/ 1609015 h 1650046"/>
              <a:gd name="connsiteX26" fmla="*/ 1269862 w 1424802"/>
              <a:gd name="connsiteY26" fmla="*/ 1620738 h 1650046"/>
              <a:gd name="connsiteX27" fmla="*/ 1234693 w 1424802"/>
              <a:gd name="connsiteY27" fmla="*/ 1632461 h 1650046"/>
              <a:gd name="connsiteX28" fmla="*/ 1217108 w 1424802"/>
              <a:gd name="connsiteY28" fmla="*/ 1638323 h 1650046"/>
              <a:gd name="connsiteX29" fmla="*/ 1176078 w 1424802"/>
              <a:gd name="connsiteY29" fmla="*/ 1644184 h 1650046"/>
              <a:gd name="connsiteX30" fmla="*/ 1140908 w 1424802"/>
              <a:gd name="connsiteY30" fmla="*/ 1650046 h 1650046"/>
              <a:gd name="connsiteX31" fmla="*/ 900585 w 1424802"/>
              <a:gd name="connsiteY31" fmla="*/ 1644184 h 1650046"/>
              <a:gd name="connsiteX32" fmla="*/ 883001 w 1424802"/>
              <a:gd name="connsiteY32" fmla="*/ 1638323 h 1650046"/>
              <a:gd name="connsiteX33" fmla="*/ 800939 w 1424802"/>
              <a:gd name="connsiteY33" fmla="*/ 1632461 h 1650046"/>
              <a:gd name="connsiteX34" fmla="*/ 630955 w 1424802"/>
              <a:gd name="connsiteY34" fmla="*/ 1626600 h 1650046"/>
              <a:gd name="connsiteX35" fmla="*/ 572339 w 1424802"/>
              <a:gd name="connsiteY35" fmla="*/ 1620738 h 1650046"/>
              <a:gd name="connsiteX36" fmla="*/ 476812 w 1424802"/>
              <a:gd name="connsiteY36" fmla="*/ 1626600 h 1650046"/>
              <a:gd name="connsiteX37" fmla="*/ 155426 w 1424802"/>
              <a:gd name="connsiteY37" fmla="*/ 1597292 h 1650046"/>
              <a:gd name="connsiteX38" fmla="*/ 83418 w 1424802"/>
              <a:gd name="connsiteY38" fmla="*/ 1525284 h 1650046"/>
              <a:gd name="connsiteX39" fmla="*/ 50662 w 1424802"/>
              <a:gd name="connsiteY39" fmla="*/ 1474200 h 1650046"/>
              <a:gd name="connsiteX40" fmla="*/ 33078 w 1424802"/>
              <a:gd name="connsiteY40" fmla="*/ 1456615 h 1650046"/>
              <a:gd name="connsiteX41" fmla="*/ 21355 w 1424802"/>
              <a:gd name="connsiteY41" fmla="*/ 1415584 h 1650046"/>
              <a:gd name="connsiteX42" fmla="*/ 9632 w 1424802"/>
              <a:gd name="connsiteY42" fmla="*/ 1368692 h 1650046"/>
              <a:gd name="connsiteX43" fmla="*/ 9632 w 1424802"/>
              <a:gd name="connsiteY43" fmla="*/ 1169400 h 1650046"/>
              <a:gd name="connsiteX44" fmla="*/ 15493 w 1424802"/>
              <a:gd name="connsiteY44" fmla="*/ 1151815 h 1650046"/>
              <a:gd name="connsiteX45" fmla="*/ 21355 w 1424802"/>
              <a:gd name="connsiteY45" fmla="*/ 1099061 h 1650046"/>
              <a:gd name="connsiteX46" fmla="*/ 27216 w 1424802"/>
              <a:gd name="connsiteY46" fmla="*/ 1081477 h 1650046"/>
              <a:gd name="connsiteX47" fmla="*/ 33078 w 1424802"/>
              <a:gd name="connsiteY47" fmla="*/ 1046307 h 1650046"/>
              <a:gd name="connsiteX48" fmla="*/ 50662 w 1424802"/>
              <a:gd name="connsiteY48" fmla="*/ 1005277 h 1650046"/>
              <a:gd name="connsiteX49" fmla="*/ 62385 w 1424802"/>
              <a:gd name="connsiteY49" fmla="*/ 964246 h 1650046"/>
              <a:gd name="connsiteX50" fmla="*/ 74108 w 1424802"/>
              <a:gd name="connsiteY50" fmla="*/ 940800 h 1650046"/>
              <a:gd name="connsiteX51" fmla="*/ 85832 w 1424802"/>
              <a:gd name="connsiteY51" fmla="*/ 899769 h 1650046"/>
              <a:gd name="connsiteX52" fmla="*/ 91693 w 1424802"/>
              <a:gd name="connsiteY52" fmla="*/ 882184 h 1650046"/>
              <a:gd name="connsiteX53" fmla="*/ 97555 w 1424802"/>
              <a:gd name="connsiteY53" fmla="*/ 852877 h 1650046"/>
              <a:gd name="connsiteX54" fmla="*/ 103416 w 1424802"/>
              <a:gd name="connsiteY54" fmla="*/ 835292 h 1650046"/>
              <a:gd name="connsiteX55" fmla="*/ 102366 w 1424802"/>
              <a:gd name="connsiteY55" fmla="*/ 772661 h 1650046"/>
              <a:gd name="connsiteX56" fmla="*/ 83418 w 1424802"/>
              <a:gd name="connsiteY56" fmla="*/ 661188 h 1650046"/>
              <a:gd name="connsiteX57" fmla="*/ 34270 w 1424802"/>
              <a:gd name="connsiteY57"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1091559 w 1424802"/>
              <a:gd name="connsiteY17" fmla="*/ 805354 h 1650046"/>
              <a:gd name="connsiteX18" fmla="*/ 1235657 w 1424802"/>
              <a:gd name="connsiteY18" fmla="*/ 1021434 h 1650046"/>
              <a:gd name="connsiteX19" fmla="*/ 1307706 w 1424802"/>
              <a:gd name="connsiteY19" fmla="*/ 1093461 h 1650046"/>
              <a:gd name="connsiteX20" fmla="*/ 1353869 w 1424802"/>
              <a:gd name="connsiteY20" fmla="*/ 1173135 h 1650046"/>
              <a:gd name="connsiteX21" fmla="*/ 1379755 w 1424802"/>
              <a:gd name="connsiteY21" fmla="*/ 1237514 h 1650046"/>
              <a:gd name="connsiteX22" fmla="*/ 1410539 w 1424802"/>
              <a:gd name="connsiteY22" fmla="*/ 1351107 h 1650046"/>
              <a:gd name="connsiteX23" fmla="*/ 1404287 w 1424802"/>
              <a:gd name="connsiteY23" fmla="*/ 1474733 h 1650046"/>
              <a:gd name="connsiteX24" fmla="*/ 1287447 w 1424802"/>
              <a:gd name="connsiteY24" fmla="*/ 1609015 h 1650046"/>
              <a:gd name="connsiteX25" fmla="*/ 1269862 w 1424802"/>
              <a:gd name="connsiteY25" fmla="*/ 1620738 h 1650046"/>
              <a:gd name="connsiteX26" fmla="*/ 1234693 w 1424802"/>
              <a:gd name="connsiteY26" fmla="*/ 1632461 h 1650046"/>
              <a:gd name="connsiteX27" fmla="*/ 1217108 w 1424802"/>
              <a:gd name="connsiteY27" fmla="*/ 1638323 h 1650046"/>
              <a:gd name="connsiteX28" fmla="*/ 1176078 w 1424802"/>
              <a:gd name="connsiteY28" fmla="*/ 1644184 h 1650046"/>
              <a:gd name="connsiteX29" fmla="*/ 1140908 w 1424802"/>
              <a:gd name="connsiteY29" fmla="*/ 1650046 h 1650046"/>
              <a:gd name="connsiteX30" fmla="*/ 900585 w 1424802"/>
              <a:gd name="connsiteY30" fmla="*/ 1644184 h 1650046"/>
              <a:gd name="connsiteX31" fmla="*/ 883001 w 1424802"/>
              <a:gd name="connsiteY31" fmla="*/ 1638323 h 1650046"/>
              <a:gd name="connsiteX32" fmla="*/ 800939 w 1424802"/>
              <a:gd name="connsiteY32" fmla="*/ 1632461 h 1650046"/>
              <a:gd name="connsiteX33" fmla="*/ 630955 w 1424802"/>
              <a:gd name="connsiteY33" fmla="*/ 1626600 h 1650046"/>
              <a:gd name="connsiteX34" fmla="*/ 572339 w 1424802"/>
              <a:gd name="connsiteY34" fmla="*/ 1620738 h 1650046"/>
              <a:gd name="connsiteX35" fmla="*/ 476812 w 1424802"/>
              <a:gd name="connsiteY35" fmla="*/ 1626600 h 1650046"/>
              <a:gd name="connsiteX36" fmla="*/ 155426 w 1424802"/>
              <a:gd name="connsiteY36" fmla="*/ 1597292 h 1650046"/>
              <a:gd name="connsiteX37" fmla="*/ 83418 w 1424802"/>
              <a:gd name="connsiteY37" fmla="*/ 1525284 h 1650046"/>
              <a:gd name="connsiteX38" fmla="*/ 50662 w 1424802"/>
              <a:gd name="connsiteY38" fmla="*/ 1474200 h 1650046"/>
              <a:gd name="connsiteX39" fmla="*/ 33078 w 1424802"/>
              <a:gd name="connsiteY39" fmla="*/ 1456615 h 1650046"/>
              <a:gd name="connsiteX40" fmla="*/ 21355 w 1424802"/>
              <a:gd name="connsiteY40" fmla="*/ 1415584 h 1650046"/>
              <a:gd name="connsiteX41" fmla="*/ 9632 w 1424802"/>
              <a:gd name="connsiteY41" fmla="*/ 1368692 h 1650046"/>
              <a:gd name="connsiteX42" fmla="*/ 9632 w 1424802"/>
              <a:gd name="connsiteY42" fmla="*/ 1169400 h 1650046"/>
              <a:gd name="connsiteX43" fmla="*/ 15493 w 1424802"/>
              <a:gd name="connsiteY43" fmla="*/ 1151815 h 1650046"/>
              <a:gd name="connsiteX44" fmla="*/ 21355 w 1424802"/>
              <a:gd name="connsiteY44" fmla="*/ 1099061 h 1650046"/>
              <a:gd name="connsiteX45" fmla="*/ 27216 w 1424802"/>
              <a:gd name="connsiteY45" fmla="*/ 1081477 h 1650046"/>
              <a:gd name="connsiteX46" fmla="*/ 33078 w 1424802"/>
              <a:gd name="connsiteY46" fmla="*/ 1046307 h 1650046"/>
              <a:gd name="connsiteX47" fmla="*/ 50662 w 1424802"/>
              <a:gd name="connsiteY47" fmla="*/ 1005277 h 1650046"/>
              <a:gd name="connsiteX48" fmla="*/ 62385 w 1424802"/>
              <a:gd name="connsiteY48" fmla="*/ 964246 h 1650046"/>
              <a:gd name="connsiteX49" fmla="*/ 74108 w 1424802"/>
              <a:gd name="connsiteY49" fmla="*/ 940800 h 1650046"/>
              <a:gd name="connsiteX50" fmla="*/ 85832 w 1424802"/>
              <a:gd name="connsiteY50" fmla="*/ 899769 h 1650046"/>
              <a:gd name="connsiteX51" fmla="*/ 91693 w 1424802"/>
              <a:gd name="connsiteY51" fmla="*/ 882184 h 1650046"/>
              <a:gd name="connsiteX52" fmla="*/ 97555 w 1424802"/>
              <a:gd name="connsiteY52" fmla="*/ 852877 h 1650046"/>
              <a:gd name="connsiteX53" fmla="*/ 103416 w 1424802"/>
              <a:gd name="connsiteY53" fmla="*/ 835292 h 1650046"/>
              <a:gd name="connsiteX54" fmla="*/ 102366 w 1424802"/>
              <a:gd name="connsiteY54" fmla="*/ 772661 h 1650046"/>
              <a:gd name="connsiteX55" fmla="*/ 83418 w 1424802"/>
              <a:gd name="connsiteY55" fmla="*/ 661188 h 1650046"/>
              <a:gd name="connsiteX56" fmla="*/ 34270 w 1424802"/>
              <a:gd name="connsiteY56"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1091559 w 1424802"/>
              <a:gd name="connsiteY16" fmla="*/ 805354 h 1650046"/>
              <a:gd name="connsiteX17" fmla="*/ 1235657 w 1424802"/>
              <a:gd name="connsiteY17" fmla="*/ 1021434 h 1650046"/>
              <a:gd name="connsiteX18" fmla="*/ 1307706 w 1424802"/>
              <a:gd name="connsiteY18" fmla="*/ 1093461 h 1650046"/>
              <a:gd name="connsiteX19" fmla="*/ 1353869 w 1424802"/>
              <a:gd name="connsiteY19" fmla="*/ 1173135 h 1650046"/>
              <a:gd name="connsiteX20" fmla="*/ 1379755 w 1424802"/>
              <a:gd name="connsiteY20" fmla="*/ 1237514 h 1650046"/>
              <a:gd name="connsiteX21" fmla="*/ 1410539 w 1424802"/>
              <a:gd name="connsiteY21" fmla="*/ 1351107 h 1650046"/>
              <a:gd name="connsiteX22" fmla="*/ 1404287 w 1424802"/>
              <a:gd name="connsiteY22" fmla="*/ 1474733 h 1650046"/>
              <a:gd name="connsiteX23" fmla="*/ 1287447 w 1424802"/>
              <a:gd name="connsiteY23" fmla="*/ 1609015 h 1650046"/>
              <a:gd name="connsiteX24" fmla="*/ 1269862 w 1424802"/>
              <a:gd name="connsiteY24" fmla="*/ 1620738 h 1650046"/>
              <a:gd name="connsiteX25" fmla="*/ 1234693 w 1424802"/>
              <a:gd name="connsiteY25" fmla="*/ 1632461 h 1650046"/>
              <a:gd name="connsiteX26" fmla="*/ 1217108 w 1424802"/>
              <a:gd name="connsiteY26" fmla="*/ 1638323 h 1650046"/>
              <a:gd name="connsiteX27" fmla="*/ 1176078 w 1424802"/>
              <a:gd name="connsiteY27" fmla="*/ 1644184 h 1650046"/>
              <a:gd name="connsiteX28" fmla="*/ 1140908 w 1424802"/>
              <a:gd name="connsiteY28" fmla="*/ 1650046 h 1650046"/>
              <a:gd name="connsiteX29" fmla="*/ 900585 w 1424802"/>
              <a:gd name="connsiteY29" fmla="*/ 1644184 h 1650046"/>
              <a:gd name="connsiteX30" fmla="*/ 883001 w 1424802"/>
              <a:gd name="connsiteY30" fmla="*/ 1638323 h 1650046"/>
              <a:gd name="connsiteX31" fmla="*/ 800939 w 1424802"/>
              <a:gd name="connsiteY31" fmla="*/ 1632461 h 1650046"/>
              <a:gd name="connsiteX32" fmla="*/ 630955 w 1424802"/>
              <a:gd name="connsiteY32" fmla="*/ 1626600 h 1650046"/>
              <a:gd name="connsiteX33" fmla="*/ 572339 w 1424802"/>
              <a:gd name="connsiteY33" fmla="*/ 1620738 h 1650046"/>
              <a:gd name="connsiteX34" fmla="*/ 476812 w 1424802"/>
              <a:gd name="connsiteY34" fmla="*/ 1626600 h 1650046"/>
              <a:gd name="connsiteX35" fmla="*/ 155426 w 1424802"/>
              <a:gd name="connsiteY35" fmla="*/ 1597292 h 1650046"/>
              <a:gd name="connsiteX36" fmla="*/ 83418 w 1424802"/>
              <a:gd name="connsiteY36" fmla="*/ 1525284 h 1650046"/>
              <a:gd name="connsiteX37" fmla="*/ 50662 w 1424802"/>
              <a:gd name="connsiteY37" fmla="*/ 1474200 h 1650046"/>
              <a:gd name="connsiteX38" fmla="*/ 33078 w 1424802"/>
              <a:gd name="connsiteY38" fmla="*/ 1456615 h 1650046"/>
              <a:gd name="connsiteX39" fmla="*/ 21355 w 1424802"/>
              <a:gd name="connsiteY39" fmla="*/ 1415584 h 1650046"/>
              <a:gd name="connsiteX40" fmla="*/ 9632 w 1424802"/>
              <a:gd name="connsiteY40" fmla="*/ 1368692 h 1650046"/>
              <a:gd name="connsiteX41" fmla="*/ 9632 w 1424802"/>
              <a:gd name="connsiteY41" fmla="*/ 1169400 h 1650046"/>
              <a:gd name="connsiteX42" fmla="*/ 15493 w 1424802"/>
              <a:gd name="connsiteY42" fmla="*/ 1151815 h 1650046"/>
              <a:gd name="connsiteX43" fmla="*/ 21355 w 1424802"/>
              <a:gd name="connsiteY43" fmla="*/ 1099061 h 1650046"/>
              <a:gd name="connsiteX44" fmla="*/ 27216 w 1424802"/>
              <a:gd name="connsiteY44" fmla="*/ 1081477 h 1650046"/>
              <a:gd name="connsiteX45" fmla="*/ 33078 w 1424802"/>
              <a:gd name="connsiteY45" fmla="*/ 1046307 h 1650046"/>
              <a:gd name="connsiteX46" fmla="*/ 50662 w 1424802"/>
              <a:gd name="connsiteY46" fmla="*/ 1005277 h 1650046"/>
              <a:gd name="connsiteX47" fmla="*/ 62385 w 1424802"/>
              <a:gd name="connsiteY47" fmla="*/ 964246 h 1650046"/>
              <a:gd name="connsiteX48" fmla="*/ 74108 w 1424802"/>
              <a:gd name="connsiteY48" fmla="*/ 940800 h 1650046"/>
              <a:gd name="connsiteX49" fmla="*/ 85832 w 1424802"/>
              <a:gd name="connsiteY49" fmla="*/ 899769 h 1650046"/>
              <a:gd name="connsiteX50" fmla="*/ 91693 w 1424802"/>
              <a:gd name="connsiteY50" fmla="*/ 882184 h 1650046"/>
              <a:gd name="connsiteX51" fmla="*/ 97555 w 1424802"/>
              <a:gd name="connsiteY51" fmla="*/ 852877 h 1650046"/>
              <a:gd name="connsiteX52" fmla="*/ 103416 w 1424802"/>
              <a:gd name="connsiteY52" fmla="*/ 835292 h 1650046"/>
              <a:gd name="connsiteX53" fmla="*/ 102366 w 1424802"/>
              <a:gd name="connsiteY53" fmla="*/ 772661 h 1650046"/>
              <a:gd name="connsiteX54" fmla="*/ 83418 w 1424802"/>
              <a:gd name="connsiteY54" fmla="*/ 661188 h 1650046"/>
              <a:gd name="connsiteX55" fmla="*/ 34270 w 1424802"/>
              <a:gd name="connsiteY55"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1091559 w 1424802"/>
              <a:gd name="connsiteY15" fmla="*/ 805354 h 1650046"/>
              <a:gd name="connsiteX16" fmla="*/ 1235657 w 1424802"/>
              <a:gd name="connsiteY16" fmla="*/ 1021434 h 1650046"/>
              <a:gd name="connsiteX17" fmla="*/ 1307706 w 1424802"/>
              <a:gd name="connsiteY17" fmla="*/ 1093461 h 1650046"/>
              <a:gd name="connsiteX18" fmla="*/ 1353869 w 1424802"/>
              <a:gd name="connsiteY18" fmla="*/ 1173135 h 1650046"/>
              <a:gd name="connsiteX19" fmla="*/ 1379755 w 1424802"/>
              <a:gd name="connsiteY19" fmla="*/ 1237514 h 1650046"/>
              <a:gd name="connsiteX20" fmla="*/ 1410539 w 1424802"/>
              <a:gd name="connsiteY20" fmla="*/ 1351107 h 1650046"/>
              <a:gd name="connsiteX21" fmla="*/ 1404287 w 1424802"/>
              <a:gd name="connsiteY21" fmla="*/ 1474733 h 1650046"/>
              <a:gd name="connsiteX22" fmla="*/ 1287447 w 1424802"/>
              <a:gd name="connsiteY22" fmla="*/ 1609015 h 1650046"/>
              <a:gd name="connsiteX23" fmla="*/ 1269862 w 1424802"/>
              <a:gd name="connsiteY23" fmla="*/ 1620738 h 1650046"/>
              <a:gd name="connsiteX24" fmla="*/ 1234693 w 1424802"/>
              <a:gd name="connsiteY24" fmla="*/ 1632461 h 1650046"/>
              <a:gd name="connsiteX25" fmla="*/ 1217108 w 1424802"/>
              <a:gd name="connsiteY25" fmla="*/ 1638323 h 1650046"/>
              <a:gd name="connsiteX26" fmla="*/ 1176078 w 1424802"/>
              <a:gd name="connsiteY26" fmla="*/ 1644184 h 1650046"/>
              <a:gd name="connsiteX27" fmla="*/ 1140908 w 1424802"/>
              <a:gd name="connsiteY27" fmla="*/ 1650046 h 1650046"/>
              <a:gd name="connsiteX28" fmla="*/ 900585 w 1424802"/>
              <a:gd name="connsiteY28" fmla="*/ 1644184 h 1650046"/>
              <a:gd name="connsiteX29" fmla="*/ 883001 w 1424802"/>
              <a:gd name="connsiteY29" fmla="*/ 1638323 h 1650046"/>
              <a:gd name="connsiteX30" fmla="*/ 800939 w 1424802"/>
              <a:gd name="connsiteY30" fmla="*/ 1632461 h 1650046"/>
              <a:gd name="connsiteX31" fmla="*/ 630955 w 1424802"/>
              <a:gd name="connsiteY31" fmla="*/ 1626600 h 1650046"/>
              <a:gd name="connsiteX32" fmla="*/ 572339 w 1424802"/>
              <a:gd name="connsiteY32" fmla="*/ 1620738 h 1650046"/>
              <a:gd name="connsiteX33" fmla="*/ 476812 w 1424802"/>
              <a:gd name="connsiteY33" fmla="*/ 1626600 h 1650046"/>
              <a:gd name="connsiteX34" fmla="*/ 155426 w 1424802"/>
              <a:gd name="connsiteY34" fmla="*/ 1597292 h 1650046"/>
              <a:gd name="connsiteX35" fmla="*/ 83418 w 1424802"/>
              <a:gd name="connsiteY35" fmla="*/ 1525284 h 1650046"/>
              <a:gd name="connsiteX36" fmla="*/ 50662 w 1424802"/>
              <a:gd name="connsiteY36" fmla="*/ 1474200 h 1650046"/>
              <a:gd name="connsiteX37" fmla="*/ 33078 w 1424802"/>
              <a:gd name="connsiteY37" fmla="*/ 1456615 h 1650046"/>
              <a:gd name="connsiteX38" fmla="*/ 21355 w 1424802"/>
              <a:gd name="connsiteY38" fmla="*/ 1415584 h 1650046"/>
              <a:gd name="connsiteX39" fmla="*/ 9632 w 1424802"/>
              <a:gd name="connsiteY39" fmla="*/ 1368692 h 1650046"/>
              <a:gd name="connsiteX40" fmla="*/ 9632 w 1424802"/>
              <a:gd name="connsiteY40" fmla="*/ 1169400 h 1650046"/>
              <a:gd name="connsiteX41" fmla="*/ 15493 w 1424802"/>
              <a:gd name="connsiteY41" fmla="*/ 1151815 h 1650046"/>
              <a:gd name="connsiteX42" fmla="*/ 21355 w 1424802"/>
              <a:gd name="connsiteY42" fmla="*/ 1099061 h 1650046"/>
              <a:gd name="connsiteX43" fmla="*/ 27216 w 1424802"/>
              <a:gd name="connsiteY43" fmla="*/ 1081477 h 1650046"/>
              <a:gd name="connsiteX44" fmla="*/ 33078 w 1424802"/>
              <a:gd name="connsiteY44" fmla="*/ 1046307 h 1650046"/>
              <a:gd name="connsiteX45" fmla="*/ 50662 w 1424802"/>
              <a:gd name="connsiteY45" fmla="*/ 1005277 h 1650046"/>
              <a:gd name="connsiteX46" fmla="*/ 62385 w 1424802"/>
              <a:gd name="connsiteY46" fmla="*/ 964246 h 1650046"/>
              <a:gd name="connsiteX47" fmla="*/ 74108 w 1424802"/>
              <a:gd name="connsiteY47" fmla="*/ 940800 h 1650046"/>
              <a:gd name="connsiteX48" fmla="*/ 85832 w 1424802"/>
              <a:gd name="connsiteY48" fmla="*/ 899769 h 1650046"/>
              <a:gd name="connsiteX49" fmla="*/ 91693 w 1424802"/>
              <a:gd name="connsiteY49" fmla="*/ 882184 h 1650046"/>
              <a:gd name="connsiteX50" fmla="*/ 97555 w 1424802"/>
              <a:gd name="connsiteY50" fmla="*/ 852877 h 1650046"/>
              <a:gd name="connsiteX51" fmla="*/ 103416 w 1424802"/>
              <a:gd name="connsiteY51" fmla="*/ 835292 h 1650046"/>
              <a:gd name="connsiteX52" fmla="*/ 102366 w 1424802"/>
              <a:gd name="connsiteY52" fmla="*/ 772661 h 1650046"/>
              <a:gd name="connsiteX53" fmla="*/ 83418 w 1424802"/>
              <a:gd name="connsiteY53" fmla="*/ 661188 h 1650046"/>
              <a:gd name="connsiteX54" fmla="*/ 34270 w 1424802"/>
              <a:gd name="connsiteY54"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1091559 w 1424802"/>
              <a:gd name="connsiteY14" fmla="*/ 805354 h 1650046"/>
              <a:gd name="connsiteX15" fmla="*/ 1235657 w 1424802"/>
              <a:gd name="connsiteY15" fmla="*/ 1021434 h 1650046"/>
              <a:gd name="connsiteX16" fmla="*/ 1307706 w 1424802"/>
              <a:gd name="connsiteY16" fmla="*/ 1093461 h 1650046"/>
              <a:gd name="connsiteX17" fmla="*/ 1353869 w 1424802"/>
              <a:gd name="connsiteY17" fmla="*/ 1173135 h 1650046"/>
              <a:gd name="connsiteX18" fmla="*/ 1379755 w 1424802"/>
              <a:gd name="connsiteY18" fmla="*/ 1237514 h 1650046"/>
              <a:gd name="connsiteX19" fmla="*/ 1410539 w 1424802"/>
              <a:gd name="connsiteY19" fmla="*/ 1351107 h 1650046"/>
              <a:gd name="connsiteX20" fmla="*/ 1404287 w 1424802"/>
              <a:gd name="connsiteY20" fmla="*/ 1474733 h 1650046"/>
              <a:gd name="connsiteX21" fmla="*/ 1287447 w 1424802"/>
              <a:gd name="connsiteY21" fmla="*/ 1609015 h 1650046"/>
              <a:gd name="connsiteX22" fmla="*/ 1269862 w 1424802"/>
              <a:gd name="connsiteY22" fmla="*/ 1620738 h 1650046"/>
              <a:gd name="connsiteX23" fmla="*/ 1234693 w 1424802"/>
              <a:gd name="connsiteY23" fmla="*/ 1632461 h 1650046"/>
              <a:gd name="connsiteX24" fmla="*/ 1217108 w 1424802"/>
              <a:gd name="connsiteY24" fmla="*/ 1638323 h 1650046"/>
              <a:gd name="connsiteX25" fmla="*/ 1176078 w 1424802"/>
              <a:gd name="connsiteY25" fmla="*/ 1644184 h 1650046"/>
              <a:gd name="connsiteX26" fmla="*/ 1140908 w 1424802"/>
              <a:gd name="connsiteY26" fmla="*/ 1650046 h 1650046"/>
              <a:gd name="connsiteX27" fmla="*/ 900585 w 1424802"/>
              <a:gd name="connsiteY27" fmla="*/ 1644184 h 1650046"/>
              <a:gd name="connsiteX28" fmla="*/ 883001 w 1424802"/>
              <a:gd name="connsiteY28" fmla="*/ 1638323 h 1650046"/>
              <a:gd name="connsiteX29" fmla="*/ 800939 w 1424802"/>
              <a:gd name="connsiteY29" fmla="*/ 1632461 h 1650046"/>
              <a:gd name="connsiteX30" fmla="*/ 630955 w 1424802"/>
              <a:gd name="connsiteY30" fmla="*/ 1626600 h 1650046"/>
              <a:gd name="connsiteX31" fmla="*/ 572339 w 1424802"/>
              <a:gd name="connsiteY31" fmla="*/ 1620738 h 1650046"/>
              <a:gd name="connsiteX32" fmla="*/ 476812 w 1424802"/>
              <a:gd name="connsiteY32" fmla="*/ 1626600 h 1650046"/>
              <a:gd name="connsiteX33" fmla="*/ 155426 w 1424802"/>
              <a:gd name="connsiteY33" fmla="*/ 1597292 h 1650046"/>
              <a:gd name="connsiteX34" fmla="*/ 83418 w 1424802"/>
              <a:gd name="connsiteY34" fmla="*/ 1525284 h 1650046"/>
              <a:gd name="connsiteX35" fmla="*/ 50662 w 1424802"/>
              <a:gd name="connsiteY35" fmla="*/ 1474200 h 1650046"/>
              <a:gd name="connsiteX36" fmla="*/ 33078 w 1424802"/>
              <a:gd name="connsiteY36" fmla="*/ 1456615 h 1650046"/>
              <a:gd name="connsiteX37" fmla="*/ 21355 w 1424802"/>
              <a:gd name="connsiteY37" fmla="*/ 1415584 h 1650046"/>
              <a:gd name="connsiteX38" fmla="*/ 9632 w 1424802"/>
              <a:gd name="connsiteY38" fmla="*/ 1368692 h 1650046"/>
              <a:gd name="connsiteX39" fmla="*/ 9632 w 1424802"/>
              <a:gd name="connsiteY39" fmla="*/ 1169400 h 1650046"/>
              <a:gd name="connsiteX40" fmla="*/ 15493 w 1424802"/>
              <a:gd name="connsiteY40" fmla="*/ 1151815 h 1650046"/>
              <a:gd name="connsiteX41" fmla="*/ 21355 w 1424802"/>
              <a:gd name="connsiteY41" fmla="*/ 1099061 h 1650046"/>
              <a:gd name="connsiteX42" fmla="*/ 27216 w 1424802"/>
              <a:gd name="connsiteY42" fmla="*/ 1081477 h 1650046"/>
              <a:gd name="connsiteX43" fmla="*/ 33078 w 1424802"/>
              <a:gd name="connsiteY43" fmla="*/ 1046307 h 1650046"/>
              <a:gd name="connsiteX44" fmla="*/ 50662 w 1424802"/>
              <a:gd name="connsiteY44" fmla="*/ 1005277 h 1650046"/>
              <a:gd name="connsiteX45" fmla="*/ 62385 w 1424802"/>
              <a:gd name="connsiteY45" fmla="*/ 964246 h 1650046"/>
              <a:gd name="connsiteX46" fmla="*/ 74108 w 1424802"/>
              <a:gd name="connsiteY46" fmla="*/ 940800 h 1650046"/>
              <a:gd name="connsiteX47" fmla="*/ 85832 w 1424802"/>
              <a:gd name="connsiteY47" fmla="*/ 899769 h 1650046"/>
              <a:gd name="connsiteX48" fmla="*/ 91693 w 1424802"/>
              <a:gd name="connsiteY48" fmla="*/ 882184 h 1650046"/>
              <a:gd name="connsiteX49" fmla="*/ 97555 w 1424802"/>
              <a:gd name="connsiteY49" fmla="*/ 852877 h 1650046"/>
              <a:gd name="connsiteX50" fmla="*/ 103416 w 1424802"/>
              <a:gd name="connsiteY50" fmla="*/ 835292 h 1650046"/>
              <a:gd name="connsiteX51" fmla="*/ 102366 w 1424802"/>
              <a:gd name="connsiteY51" fmla="*/ 772661 h 1650046"/>
              <a:gd name="connsiteX52" fmla="*/ 83418 w 1424802"/>
              <a:gd name="connsiteY52" fmla="*/ 661188 h 1650046"/>
              <a:gd name="connsiteX53" fmla="*/ 34270 w 1424802"/>
              <a:gd name="connsiteY53"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1091559 w 1424802"/>
              <a:gd name="connsiteY13" fmla="*/ 805354 h 1650046"/>
              <a:gd name="connsiteX14" fmla="*/ 1235657 w 1424802"/>
              <a:gd name="connsiteY14" fmla="*/ 1021434 h 1650046"/>
              <a:gd name="connsiteX15" fmla="*/ 1307706 w 1424802"/>
              <a:gd name="connsiteY15" fmla="*/ 1093461 h 1650046"/>
              <a:gd name="connsiteX16" fmla="*/ 1353869 w 1424802"/>
              <a:gd name="connsiteY16" fmla="*/ 1173135 h 1650046"/>
              <a:gd name="connsiteX17" fmla="*/ 1379755 w 1424802"/>
              <a:gd name="connsiteY17" fmla="*/ 1237514 h 1650046"/>
              <a:gd name="connsiteX18" fmla="*/ 1410539 w 1424802"/>
              <a:gd name="connsiteY18" fmla="*/ 1351107 h 1650046"/>
              <a:gd name="connsiteX19" fmla="*/ 1404287 w 1424802"/>
              <a:gd name="connsiteY19" fmla="*/ 1474733 h 1650046"/>
              <a:gd name="connsiteX20" fmla="*/ 1287447 w 1424802"/>
              <a:gd name="connsiteY20" fmla="*/ 1609015 h 1650046"/>
              <a:gd name="connsiteX21" fmla="*/ 1269862 w 1424802"/>
              <a:gd name="connsiteY21" fmla="*/ 1620738 h 1650046"/>
              <a:gd name="connsiteX22" fmla="*/ 1234693 w 1424802"/>
              <a:gd name="connsiteY22" fmla="*/ 1632461 h 1650046"/>
              <a:gd name="connsiteX23" fmla="*/ 1217108 w 1424802"/>
              <a:gd name="connsiteY23" fmla="*/ 1638323 h 1650046"/>
              <a:gd name="connsiteX24" fmla="*/ 1176078 w 1424802"/>
              <a:gd name="connsiteY24" fmla="*/ 1644184 h 1650046"/>
              <a:gd name="connsiteX25" fmla="*/ 1140908 w 1424802"/>
              <a:gd name="connsiteY25" fmla="*/ 1650046 h 1650046"/>
              <a:gd name="connsiteX26" fmla="*/ 900585 w 1424802"/>
              <a:gd name="connsiteY26" fmla="*/ 1644184 h 1650046"/>
              <a:gd name="connsiteX27" fmla="*/ 883001 w 1424802"/>
              <a:gd name="connsiteY27" fmla="*/ 1638323 h 1650046"/>
              <a:gd name="connsiteX28" fmla="*/ 800939 w 1424802"/>
              <a:gd name="connsiteY28" fmla="*/ 1632461 h 1650046"/>
              <a:gd name="connsiteX29" fmla="*/ 630955 w 1424802"/>
              <a:gd name="connsiteY29" fmla="*/ 1626600 h 1650046"/>
              <a:gd name="connsiteX30" fmla="*/ 572339 w 1424802"/>
              <a:gd name="connsiteY30" fmla="*/ 1620738 h 1650046"/>
              <a:gd name="connsiteX31" fmla="*/ 476812 w 1424802"/>
              <a:gd name="connsiteY31" fmla="*/ 1626600 h 1650046"/>
              <a:gd name="connsiteX32" fmla="*/ 155426 w 1424802"/>
              <a:gd name="connsiteY32" fmla="*/ 1597292 h 1650046"/>
              <a:gd name="connsiteX33" fmla="*/ 83418 w 1424802"/>
              <a:gd name="connsiteY33" fmla="*/ 1525284 h 1650046"/>
              <a:gd name="connsiteX34" fmla="*/ 50662 w 1424802"/>
              <a:gd name="connsiteY34" fmla="*/ 1474200 h 1650046"/>
              <a:gd name="connsiteX35" fmla="*/ 33078 w 1424802"/>
              <a:gd name="connsiteY35" fmla="*/ 1456615 h 1650046"/>
              <a:gd name="connsiteX36" fmla="*/ 21355 w 1424802"/>
              <a:gd name="connsiteY36" fmla="*/ 1415584 h 1650046"/>
              <a:gd name="connsiteX37" fmla="*/ 9632 w 1424802"/>
              <a:gd name="connsiteY37" fmla="*/ 1368692 h 1650046"/>
              <a:gd name="connsiteX38" fmla="*/ 9632 w 1424802"/>
              <a:gd name="connsiteY38" fmla="*/ 1169400 h 1650046"/>
              <a:gd name="connsiteX39" fmla="*/ 15493 w 1424802"/>
              <a:gd name="connsiteY39" fmla="*/ 1151815 h 1650046"/>
              <a:gd name="connsiteX40" fmla="*/ 21355 w 1424802"/>
              <a:gd name="connsiteY40" fmla="*/ 1099061 h 1650046"/>
              <a:gd name="connsiteX41" fmla="*/ 27216 w 1424802"/>
              <a:gd name="connsiteY41" fmla="*/ 1081477 h 1650046"/>
              <a:gd name="connsiteX42" fmla="*/ 33078 w 1424802"/>
              <a:gd name="connsiteY42" fmla="*/ 1046307 h 1650046"/>
              <a:gd name="connsiteX43" fmla="*/ 50662 w 1424802"/>
              <a:gd name="connsiteY43" fmla="*/ 1005277 h 1650046"/>
              <a:gd name="connsiteX44" fmla="*/ 62385 w 1424802"/>
              <a:gd name="connsiteY44" fmla="*/ 964246 h 1650046"/>
              <a:gd name="connsiteX45" fmla="*/ 74108 w 1424802"/>
              <a:gd name="connsiteY45" fmla="*/ 940800 h 1650046"/>
              <a:gd name="connsiteX46" fmla="*/ 85832 w 1424802"/>
              <a:gd name="connsiteY46" fmla="*/ 899769 h 1650046"/>
              <a:gd name="connsiteX47" fmla="*/ 91693 w 1424802"/>
              <a:gd name="connsiteY47" fmla="*/ 882184 h 1650046"/>
              <a:gd name="connsiteX48" fmla="*/ 97555 w 1424802"/>
              <a:gd name="connsiteY48" fmla="*/ 852877 h 1650046"/>
              <a:gd name="connsiteX49" fmla="*/ 103416 w 1424802"/>
              <a:gd name="connsiteY49" fmla="*/ 835292 h 1650046"/>
              <a:gd name="connsiteX50" fmla="*/ 102366 w 1424802"/>
              <a:gd name="connsiteY50" fmla="*/ 772661 h 1650046"/>
              <a:gd name="connsiteX51" fmla="*/ 83418 w 1424802"/>
              <a:gd name="connsiteY51" fmla="*/ 661188 h 1650046"/>
              <a:gd name="connsiteX52" fmla="*/ 34270 w 1424802"/>
              <a:gd name="connsiteY52"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1091559 w 1424802"/>
              <a:gd name="connsiteY12" fmla="*/ 805354 h 1650046"/>
              <a:gd name="connsiteX13" fmla="*/ 1235657 w 1424802"/>
              <a:gd name="connsiteY13" fmla="*/ 1021434 h 1650046"/>
              <a:gd name="connsiteX14" fmla="*/ 1307706 w 1424802"/>
              <a:gd name="connsiteY14" fmla="*/ 1093461 h 1650046"/>
              <a:gd name="connsiteX15" fmla="*/ 1353869 w 1424802"/>
              <a:gd name="connsiteY15" fmla="*/ 1173135 h 1650046"/>
              <a:gd name="connsiteX16" fmla="*/ 1379755 w 1424802"/>
              <a:gd name="connsiteY16" fmla="*/ 1237514 h 1650046"/>
              <a:gd name="connsiteX17" fmla="*/ 1410539 w 1424802"/>
              <a:gd name="connsiteY17" fmla="*/ 1351107 h 1650046"/>
              <a:gd name="connsiteX18" fmla="*/ 1404287 w 1424802"/>
              <a:gd name="connsiteY18" fmla="*/ 1474733 h 1650046"/>
              <a:gd name="connsiteX19" fmla="*/ 1287447 w 1424802"/>
              <a:gd name="connsiteY19" fmla="*/ 1609015 h 1650046"/>
              <a:gd name="connsiteX20" fmla="*/ 1269862 w 1424802"/>
              <a:gd name="connsiteY20" fmla="*/ 1620738 h 1650046"/>
              <a:gd name="connsiteX21" fmla="*/ 1234693 w 1424802"/>
              <a:gd name="connsiteY21" fmla="*/ 1632461 h 1650046"/>
              <a:gd name="connsiteX22" fmla="*/ 1217108 w 1424802"/>
              <a:gd name="connsiteY22" fmla="*/ 1638323 h 1650046"/>
              <a:gd name="connsiteX23" fmla="*/ 1176078 w 1424802"/>
              <a:gd name="connsiteY23" fmla="*/ 1644184 h 1650046"/>
              <a:gd name="connsiteX24" fmla="*/ 1140908 w 1424802"/>
              <a:gd name="connsiteY24" fmla="*/ 1650046 h 1650046"/>
              <a:gd name="connsiteX25" fmla="*/ 900585 w 1424802"/>
              <a:gd name="connsiteY25" fmla="*/ 1644184 h 1650046"/>
              <a:gd name="connsiteX26" fmla="*/ 883001 w 1424802"/>
              <a:gd name="connsiteY26" fmla="*/ 1638323 h 1650046"/>
              <a:gd name="connsiteX27" fmla="*/ 800939 w 1424802"/>
              <a:gd name="connsiteY27" fmla="*/ 1632461 h 1650046"/>
              <a:gd name="connsiteX28" fmla="*/ 630955 w 1424802"/>
              <a:gd name="connsiteY28" fmla="*/ 1626600 h 1650046"/>
              <a:gd name="connsiteX29" fmla="*/ 572339 w 1424802"/>
              <a:gd name="connsiteY29" fmla="*/ 1620738 h 1650046"/>
              <a:gd name="connsiteX30" fmla="*/ 476812 w 1424802"/>
              <a:gd name="connsiteY30" fmla="*/ 1626600 h 1650046"/>
              <a:gd name="connsiteX31" fmla="*/ 155426 w 1424802"/>
              <a:gd name="connsiteY31" fmla="*/ 1597292 h 1650046"/>
              <a:gd name="connsiteX32" fmla="*/ 83418 w 1424802"/>
              <a:gd name="connsiteY32" fmla="*/ 1525284 h 1650046"/>
              <a:gd name="connsiteX33" fmla="*/ 50662 w 1424802"/>
              <a:gd name="connsiteY33" fmla="*/ 1474200 h 1650046"/>
              <a:gd name="connsiteX34" fmla="*/ 33078 w 1424802"/>
              <a:gd name="connsiteY34" fmla="*/ 1456615 h 1650046"/>
              <a:gd name="connsiteX35" fmla="*/ 21355 w 1424802"/>
              <a:gd name="connsiteY35" fmla="*/ 1415584 h 1650046"/>
              <a:gd name="connsiteX36" fmla="*/ 9632 w 1424802"/>
              <a:gd name="connsiteY36" fmla="*/ 1368692 h 1650046"/>
              <a:gd name="connsiteX37" fmla="*/ 9632 w 1424802"/>
              <a:gd name="connsiteY37" fmla="*/ 1169400 h 1650046"/>
              <a:gd name="connsiteX38" fmla="*/ 15493 w 1424802"/>
              <a:gd name="connsiteY38" fmla="*/ 1151815 h 1650046"/>
              <a:gd name="connsiteX39" fmla="*/ 21355 w 1424802"/>
              <a:gd name="connsiteY39" fmla="*/ 1099061 h 1650046"/>
              <a:gd name="connsiteX40" fmla="*/ 27216 w 1424802"/>
              <a:gd name="connsiteY40" fmla="*/ 1081477 h 1650046"/>
              <a:gd name="connsiteX41" fmla="*/ 33078 w 1424802"/>
              <a:gd name="connsiteY41" fmla="*/ 1046307 h 1650046"/>
              <a:gd name="connsiteX42" fmla="*/ 50662 w 1424802"/>
              <a:gd name="connsiteY42" fmla="*/ 1005277 h 1650046"/>
              <a:gd name="connsiteX43" fmla="*/ 62385 w 1424802"/>
              <a:gd name="connsiteY43" fmla="*/ 964246 h 1650046"/>
              <a:gd name="connsiteX44" fmla="*/ 74108 w 1424802"/>
              <a:gd name="connsiteY44" fmla="*/ 940800 h 1650046"/>
              <a:gd name="connsiteX45" fmla="*/ 85832 w 1424802"/>
              <a:gd name="connsiteY45" fmla="*/ 899769 h 1650046"/>
              <a:gd name="connsiteX46" fmla="*/ 91693 w 1424802"/>
              <a:gd name="connsiteY46" fmla="*/ 882184 h 1650046"/>
              <a:gd name="connsiteX47" fmla="*/ 97555 w 1424802"/>
              <a:gd name="connsiteY47" fmla="*/ 852877 h 1650046"/>
              <a:gd name="connsiteX48" fmla="*/ 103416 w 1424802"/>
              <a:gd name="connsiteY48" fmla="*/ 835292 h 1650046"/>
              <a:gd name="connsiteX49" fmla="*/ 102366 w 1424802"/>
              <a:gd name="connsiteY49" fmla="*/ 772661 h 1650046"/>
              <a:gd name="connsiteX50" fmla="*/ 83418 w 1424802"/>
              <a:gd name="connsiteY50" fmla="*/ 661188 h 1650046"/>
              <a:gd name="connsiteX51" fmla="*/ 34270 w 1424802"/>
              <a:gd name="connsiteY51"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1091559 w 1424802"/>
              <a:gd name="connsiteY12" fmla="*/ 805354 h 1650046"/>
              <a:gd name="connsiteX13" fmla="*/ 1235657 w 1424802"/>
              <a:gd name="connsiteY13" fmla="*/ 1021434 h 1650046"/>
              <a:gd name="connsiteX14" fmla="*/ 1307706 w 1424802"/>
              <a:gd name="connsiteY14" fmla="*/ 1093461 h 1650046"/>
              <a:gd name="connsiteX15" fmla="*/ 1353869 w 1424802"/>
              <a:gd name="connsiteY15" fmla="*/ 1173135 h 1650046"/>
              <a:gd name="connsiteX16" fmla="*/ 1379755 w 1424802"/>
              <a:gd name="connsiteY16" fmla="*/ 1237514 h 1650046"/>
              <a:gd name="connsiteX17" fmla="*/ 1410539 w 1424802"/>
              <a:gd name="connsiteY17" fmla="*/ 1351107 h 1650046"/>
              <a:gd name="connsiteX18" fmla="*/ 1404287 w 1424802"/>
              <a:gd name="connsiteY18" fmla="*/ 1474733 h 1650046"/>
              <a:gd name="connsiteX19" fmla="*/ 1287447 w 1424802"/>
              <a:gd name="connsiteY19" fmla="*/ 1609015 h 1650046"/>
              <a:gd name="connsiteX20" fmla="*/ 1269862 w 1424802"/>
              <a:gd name="connsiteY20" fmla="*/ 1620738 h 1650046"/>
              <a:gd name="connsiteX21" fmla="*/ 1234693 w 1424802"/>
              <a:gd name="connsiteY21" fmla="*/ 1632461 h 1650046"/>
              <a:gd name="connsiteX22" fmla="*/ 1217108 w 1424802"/>
              <a:gd name="connsiteY22" fmla="*/ 1638323 h 1650046"/>
              <a:gd name="connsiteX23" fmla="*/ 1176078 w 1424802"/>
              <a:gd name="connsiteY23" fmla="*/ 1644184 h 1650046"/>
              <a:gd name="connsiteX24" fmla="*/ 1140908 w 1424802"/>
              <a:gd name="connsiteY24" fmla="*/ 1650046 h 1650046"/>
              <a:gd name="connsiteX25" fmla="*/ 900585 w 1424802"/>
              <a:gd name="connsiteY25" fmla="*/ 1644184 h 1650046"/>
              <a:gd name="connsiteX26" fmla="*/ 883001 w 1424802"/>
              <a:gd name="connsiteY26" fmla="*/ 1638323 h 1650046"/>
              <a:gd name="connsiteX27" fmla="*/ 800939 w 1424802"/>
              <a:gd name="connsiteY27" fmla="*/ 1632461 h 1650046"/>
              <a:gd name="connsiteX28" fmla="*/ 630955 w 1424802"/>
              <a:gd name="connsiteY28" fmla="*/ 1626600 h 1650046"/>
              <a:gd name="connsiteX29" fmla="*/ 572339 w 1424802"/>
              <a:gd name="connsiteY29" fmla="*/ 1620738 h 1650046"/>
              <a:gd name="connsiteX30" fmla="*/ 476812 w 1424802"/>
              <a:gd name="connsiteY30" fmla="*/ 1626600 h 1650046"/>
              <a:gd name="connsiteX31" fmla="*/ 83418 w 1424802"/>
              <a:gd name="connsiteY31" fmla="*/ 1525284 h 1650046"/>
              <a:gd name="connsiteX32" fmla="*/ 50662 w 1424802"/>
              <a:gd name="connsiteY32" fmla="*/ 1474200 h 1650046"/>
              <a:gd name="connsiteX33" fmla="*/ 33078 w 1424802"/>
              <a:gd name="connsiteY33" fmla="*/ 1456615 h 1650046"/>
              <a:gd name="connsiteX34" fmla="*/ 21355 w 1424802"/>
              <a:gd name="connsiteY34" fmla="*/ 1415584 h 1650046"/>
              <a:gd name="connsiteX35" fmla="*/ 9632 w 1424802"/>
              <a:gd name="connsiteY35" fmla="*/ 1368692 h 1650046"/>
              <a:gd name="connsiteX36" fmla="*/ 9632 w 1424802"/>
              <a:gd name="connsiteY36" fmla="*/ 1169400 h 1650046"/>
              <a:gd name="connsiteX37" fmla="*/ 15493 w 1424802"/>
              <a:gd name="connsiteY37" fmla="*/ 1151815 h 1650046"/>
              <a:gd name="connsiteX38" fmla="*/ 21355 w 1424802"/>
              <a:gd name="connsiteY38" fmla="*/ 1099061 h 1650046"/>
              <a:gd name="connsiteX39" fmla="*/ 27216 w 1424802"/>
              <a:gd name="connsiteY39" fmla="*/ 1081477 h 1650046"/>
              <a:gd name="connsiteX40" fmla="*/ 33078 w 1424802"/>
              <a:gd name="connsiteY40" fmla="*/ 1046307 h 1650046"/>
              <a:gd name="connsiteX41" fmla="*/ 50662 w 1424802"/>
              <a:gd name="connsiteY41" fmla="*/ 1005277 h 1650046"/>
              <a:gd name="connsiteX42" fmla="*/ 62385 w 1424802"/>
              <a:gd name="connsiteY42" fmla="*/ 964246 h 1650046"/>
              <a:gd name="connsiteX43" fmla="*/ 74108 w 1424802"/>
              <a:gd name="connsiteY43" fmla="*/ 940800 h 1650046"/>
              <a:gd name="connsiteX44" fmla="*/ 85832 w 1424802"/>
              <a:gd name="connsiteY44" fmla="*/ 899769 h 1650046"/>
              <a:gd name="connsiteX45" fmla="*/ 91693 w 1424802"/>
              <a:gd name="connsiteY45" fmla="*/ 882184 h 1650046"/>
              <a:gd name="connsiteX46" fmla="*/ 97555 w 1424802"/>
              <a:gd name="connsiteY46" fmla="*/ 852877 h 1650046"/>
              <a:gd name="connsiteX47" fmla="*/ 103416 w 1424802"/>
              <a:gd name="connsiteY47" fmla="*/ 835292 h 1650046"/>
              <a:gd name="connsiteX48" fmla="*/ 102366 w 1424802"/>
              <a:gd name="connsiteY48" fmla="*/ 772661 h 1650046"/>
              <a:gd name="connsiteX49" fmla="*/ 83418 w 1424802"/>
              <a:gd name="connsiteY49" fmla="*/ 661188 h 1650046"/>
              <a:gd name="connsiteX50" fmla="*/ 34270 w 1424802"/>
              <a:gd name="connsiteY50"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1091559 w 1424802"/>
              <a:gd name="connsiteY12" fmla="*/ 805354 h 1650046"/>
              <a:gd name="connsiteX13" fmla="*/ 1235657 w 1424802"/>
              <a:gd name="connsiteY13" fmla="*/ 1021434 h 1650046"/>
              <a:gd name="connsiteX14" fmla="*/ 1307706 w 1424802"/>
              <a:gd name="connsiteY14" fmla="*/ 1093461 h 1650046"/>
              <a:gd name="connsiteX15" fmla="*/ 1353869 w 1424802"/>
              <a:gd name="connsiteY15" fmla="*/ 1173135 h 1650046"/>
              <a:gd name="connsiteX16" fmla="*/ 1379755 w 1424802"/>
              <a:gd name="connsiteY16" fmla="*/ 1237514 h 1650046"/>
              <a:gd name="connsiteX17" fmla="*/ 1410539 w 1424802"/>
              <a:gd name="connsiteY17" fmla="*/ 1351107 h 1650046"/>
              <a:gd name="connsiteX18" fmla="*/ 1404287 w 1424802"/>
              <a:gd name="connsiteY18" fmla="*/ 1474733 h 1650046"/>
              <a:gd name="connsiteX19" fmla="*/ 1287447 w 1424802"/>
              <a:gd name="connsiteY19" fmla="*/ 1609015 h 1650046"/>
              <a:gd name="connsiteX20" fmla="*/ 1269862 w 1424802"/>
              <a:gd name="connsiteY20" fmla="*/ 1620738 h 1650046"/>
              <a:gd name="connsiteX21" fmla="*/ 1234693 w 1424802"/>
              <a:gd name="connsiteY21" fmla="*/ 1632461 h 1650046"/>
              <a:gd name="connsiteX22" fmla="*/ 1217108 w 1424802"/>
              <a:gd name="connsiteY22" fmla="*/ 1638323 h 1650046"/>
              <a:gd name="connsiteX23" fmla="*/ 1176078 w 1424802"/>
              <a:gd name="connsiteY23" fmla="*/ 1644184 h 1650046"/>
              <a:gd name="connsiteX24" fmla="*/ 1140908 w 1424802"/>
              <a:gd name="connsiteY24" fmla="*/ 1650046 h 1650046"/>
              <a:gd name="connsiteX25" fmla="*/ 900585 w 1424802"/>
              <a:gd name="connsiteY25" fmla="*/ 1644184 h 1650046"/>
              <a:gd name="connsiteX26" fmla="*/ 883001 w 1424802"/>
              <a:gd name="connsiteY26" fmla="*/ 1638323 h 1650046"/>
              <a:gd name="connsiteX27" fmla="*/ 800939 w 1424802"/>
              <a:gd name="connsiteY27" fmla="*/ 1632461 h 1650046"/>
              <a:gd name="connsiteX28" fmla="*/ 630955 w 1424802"/>
              <a:gd name="connsiteY28" fmla="*/ 1626600 h 1650046"/>
              <a:gd name="connsiteX29" fmla="*/ 572339 w 1424802"/>
              <a:gd name="connsiteY29" fmla="*/ 1620738 h 1650046"/>
              <a:gd name="connsiteX30" fmla="*/ 476812 w 1424802"/>
              <a:gd name="connsiteY30" fmla="*/ 1626600 h 1650046"/>
              <a:gd name="connsiteX31" fmla="*/ 50662 w 1424802"/>
              <a:gd name="connsiteY31" fmla="*/ 1474200 h 1650046"/>
              <a:gd name="connsiteX32" fmla="*/ 33078 w 1424802"/>
              <a:gd name="connsiteY32" fmla="*/ 1456615 h 1650046"/>
              <a:gd name="connsiteX33" fmla="*/ 21355 w 1424802"/>
              <a:gd name="connsiteY33" fmla="*/ 1415584 h 1650046"/>
              <a:gd name="connsiteX34" fmla="*/ 9632 w 1424802"/>
              <a:gd name="connsiteY34" fmla="*/ 1368692 h 1650046"/>
              <a:gd name="connsiteX35" fmla="*/ 9632 w 1424802"/>
              <a:gd name="connsiteY35" fmla="*/ 1169400 h 1650046"/>
              <a:gd name="connsiteX36" fmla="*/ 15493 w 1424802"/>
              <a:gd name="connsiteY36" fmla="*/ 1151815 h 1650046"/>
              <a:gd name="connsiteX37" fmla="*/ 21355 w 1424802"/>
              <a:gd name="connsiteY37" fmla="*/ 1099061 h 1650046"/>
              <a:gd name="connsiteX38" fmla="*/ 27216 w 1424802"/>
              <a:gd name="connsiteY38" fmla="*/ 1081477 h 1650046"/>
              <a:gd name="connsiteX39" fmla="*/ 33078 w 1424802"/>
              <a:gd name="connsiteY39" fmla="*/ 1046307 h 1650046"/>
              <a:gd name="connsiteX40" fmla="*/ 50662 w 1424802"/>
              <a:gd name="connsiteY40" fmla="*/ 1005277 h 1650046"/>
              <a:gd name="connsiteX41" fmla="*/ 62385 w 1424802"/>
              <a:gd name="connsiteY41" fmla="*/ 964246 h 1650046"/>
              <a:gd name="connsiteX42" fmla="*/ 74108 w 1424802"/>
              <a:gd name="connsiteY42" fmla="*/ 940800 h 1650046"/>
              <a:gd name="connsiteX43" fmla="*/ 85832 w 1424802"/>
              <a:gd name="connsiteY43" fmla="*/ 899769 h 1650046"/>
              <a:gd name="connsiteX44" fmla="*/ 91693 w 1424802"/>
              <a:gd name="connsiteY44" fmla="*/ 882184 h 1650046"/>
              <a:gd name="connsiteX45" fmla="*/ 97555 w 1424802"/>
              <a:gd name="connsiteY45" fmla="*/ 852877 h 1650046"/>
              <a:gd name="connsiteX46" fmla="*/ 103416 w 1424802"/>
              <a:gd name="connsiteY46" fmla="*/ 835292 h 1650046"/>
              <a:gd name="connsiteX47" fmla="*/ 102366 w 1424802"/>
              <a:gd name="connsiteY47" fmla="*/ 772661 h 1650046"/>
              <a:gd name="connsiteX48" fmla="*/ 83418 w 1424802"/>
              <a:gd name="connsiteY48" fmla="*/ 661188 h 1650046"/>
              <a:gd name="connsiteX49" fmla="*/ 34270 w 1424802"/>
              <a:gd name="connsiteY49"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1091559 w 1424802"/>
              <a:gd name="connsiteY12" fmla="*/ 805354 h 1650046"/>
              <a:gd name="connsiteX13" fmla="*/ 1235657 w 1424802"/>
              <a:gd name="connsiteY13" fmla="*/ 1021434 h 1650046"/>
              <a:gd name="connsiteX14" fmla="*/ 1307706 w 1424802"/>
              <a:gd name="connsiteY14" fmla="*/ 1093461 h 1650046"/>
              <a:gd name="connsiteX15" fmla="*/ 1353869 w 1424802"/>
              <a:gd name="connsiteY15" fmla="*/ 1173135 h 1650046"/>
              <a:gd name="connsiteX16" fmla="*/ 1379755 w 1424802"/>
              <a:gd name="connsiteY16" fmla="*/ 1237514 h 1650046"/>
              <a:gd name="connsiteX17" fmla="*/ 1410539 w 1424802"/>
              <a:gd name="connsiteY17" fmla="*/ 1351107 h 1650046"/>
              <a:gd name="connsiteX18" fmla="*/ 1404287 w 1424802"/>
              <a:gd name="connsiteY18" fmla="*/ 1474733 h 1650046"/>
              <a:gd name="connsiteX19" fmla="*/ 1287447 w 1424802"/>
              <a:gd name="connsiteY19" fmla="*/ 1609015 h 1650046"/>
              <a:gd name="connsiteX20" fmla="*/ 1269862 w 1424802"/>
              <a:gd name="connsiteY20" fmla="*/ 1620738 h 1650046"/>
              <a:gd name="connsiteX21" fmla="*/ 1234693 w 1424802"/>
              <a:gd name="connsiteY21" fmla="*/ 1632461 h 1650046"/>
              <a:gd name="connsiteX22" fmla="*/ 1217108 w 1424802"/>
              <a:gd name="connsiteY22" fmla="*/ 1638323 h 1650046"/>
              <a:gd name="connsiteX23" fmla="*/ 1176078 w 1424802"/>
              <a:gd name="connsiteY23" fmla="*/ 1644184 h 1650046"/>
              <a:gd name="connsiteX24" fmla="*/ 1140908 w 1424802"/>
              <a:gd name="connsiteY24" fmla="*/ 1650046 h 1650046"/>
              <a:gd name="connsiteX25" fmla="*/ 900585 w 1424802"/>
              <a:gd name="connsiteY25" fmla="*/ 1644184 h 1650046"/>
              <a:gd name="connsiteX26" fmla="*/ 883001 w 1424802"/>
              <a:gd name="connsiteY26" fmla="*/ 1638323 h 1650046"/>
              <a:gd name="connsiteX27" fmla="*/ 800939 w 1424802"/>
              <a:gd name="connsiteY27" fmla="*/ 1632461 h 1650046"/>
              <a:gd name="connsiteX28" fmla="*/ 630955 w 1424802"/>
              <a:gd name="connsiteY28" fmla="*/ 1626600 h 1650046"/>
              <a:gd name="connsiteX29" fmla="*/ 572339 w 1424802"/>
              <a:gd name="connsiteY29" fmla="*/ 1620738 h 1650046"/>
              <a:gd name="connsiteX30" fmla="*/ 476812 w 1424802"/>
              <a:gd name="connsiteY30" fmla="*/ 1626600 h 1650046"/>
              <a:gd name="connsiteX31" fmla="*/ 50662 w 1424802"/>
              <a:gd name="connsiteY31" fmla="*/ 1474200 h 1650046"/>
              <a:gd name="connsiteX32" fmla="*/ 69040 w 1424802"/>
              <a:gd name="connsiteY32" fmla="*/ 1434124 h 1650046"/>
              <a:gd name="connsiteX33" fmla="*/ 21355 w 1424802"/>
              <a:gd name="connsiteY33" fmla="*/ 1415584 h 1650046"/>
              <a:gd name="connsiteX34" fmla="*/ 9632 w 1424802"/>
              <a:gd name="connsiteY34" fmla="*/ 1368692 h 1650046"/>
              <a:gd name="connsiteX35" fmla="*/ 9632 w 1424802"/>
              <a:gd name="connsiteY35" fmla="*/ 1169400 h 1650046"/>
              <a:gd name="connsiteX36" fmla="*/ 15493 w 1424802"/>
              <a:gd name="connsiteY36" fmla="*/ 1151815 h 1650046"/>
              <a:gd name="connsiteX37" fmla="*/ 21355 w 1424802"/>
              <a:gd name="connsiteY37" fmla="*/ 1099061 h 1650046"/>
              <a:gd name="connsiteX38" fmla="*/ 27216 w 1424802"/>
              <a:gd name="connsiteY38" fmla="*/ 1081477 h 1650046"/>
              <a:gd name="connsiteX39" fmla="*/ 33078 w 1424802"/>
              <a:gd name="connsiteY39" fmla="*/ 1046307 h 1650046"/>
              <a:gd name="connsiteX40" fmla="*/ 50662 w 1424802"/>
              <a:gd name="connsiteY40" fmla="*/ 1005277 h 1650046"/>
              <a:gd name="connsiteX41" fmla="*/ 62385 w 1424802"/>
              <a:gd name="connsiteY41" fmla="*/ 964246 h 1650046"/>
              <a:gd name="connsiteX42" fmla="*/ 74108 w 1424802"/>
              <a:gd name="connsiteY42" fmla="*/ 940800 h 1650046"/>
              <a:gd name="connsiteX43" fmla="*/ 85832 w 1424802"/>
              <a:gd name="connsiteY43" fmla="*/ 899769 h 1650046"/>
              <a:gd name="connsiteX44" fmla="*/ 91693 w 1424802"/>
              <a:gd name="connsiteY44" fmla="*/ 882184 h 1650046"/>
              <a:gd name="connsiteX45" fmla="*/ 97555 w 1424802"/>
              <a:gd name="connsiteY45" fmla="*/ 852877 h 1650046"/>
              <a:gd name="connsiteX46" fmla="*/ 103416 w 1424802"/>
              <a:gd name="connsiteY46" fmla="*/ 835292 h 1650046"/>
              <a:gd name="connsiteX47" fmla="*/ 102366 w 1424802"/>
              <a:gd name="connsiteY47" fmla="*/ 772661 h 1650046"/>
              <a:gd name="connsiteX48" fmla="*/ 83418 w 1424802"/>
              <a:gd name="connsiteY48" fmla="*/ 661188 h 1650046"/>
              <a:gd name="connsiteX49" fmla="*/ 34270 w 1424802"/>
              <a:gd name="connsiteY49"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1091559 w 1424802"/>
              <a:gd name="connsiteY12" fmla="*/ 805354 h 1650046"/>
              <a:gd name="connsiteX13" fmla="*/ 1235657 w 1424802"/>
              <a:gd name="connsiteY13" fmla="*/ 1021434 h 1650046"/>
              <a:gd name="connsiteX14" fmla="*/ 1307706 w 1424802"/>
              <a:gd name="connsiteY14" fmla="*/ 1093461 h 1650046"/>
              <a:gd name="connsiteX15" fmla="*/ 1353869 w 1424802"/>
              <a:gd name="connsiteY15" fmla="*/ 1173135 h 1650046"/>
              <a:gd name="connsiteX16" fmla="*/ 1379755 w 1424802"/>
              <a:gd name="connsiteY16" fmla="*/ 1237514 h 1650046"/>
              <a:gd name="connsiteX17" fmla="*/ 1410539 w 1424802"/>
              <a:gd name="connsiteY17" fmla="*/ 1351107 h 1650046"/>
              <a:gd name="connsiteX18" fmla="*/ 1404287 w 1424802"/>
              <a:gd name="connsiteY18" fmla="*/ 1474733 h 1650046"/>
              <a:gd name="connsiteX19" fmla="*/ 1287447 w 1424802"/>
              <a:gd name="connsiteY19" fmla="*/ 1609015 h 1650046"/>
              <a:gd name="connsiteX20" fmla="*/ 1269862 w 1424802"/>
              <a:gd name="connsiteY20" fmla="*/ 1620738 h 1650046"/>
              <a:gd name="connsiteX21" fmla="*/ 1234693 w 1424802"/>
              <a:gd name="connsiteY21" fmla="*/ 1632461 h 1650046"/>
              <a:gd name="connsiteX22" fmla="*/ 1217108 w 1424802"/>
              <a:gd name="connsiteY22" fmla="*/ 1638323 h 1650046"/>
              <a:gd name="connsiteX23" fmla="*/ 1176078 w 1424802"/>
              <a:gd name="connsiteY23" fmla="*/ 1644184 h 1650046"/>
              <a:gd name="connsiteX24" fmla="*/ 1140908 w 1424802"/>
              <a:gd name="connsiteY24" fmla="*/ 1650046 h 1650046"/>
              <a:gd name="connsiteX25" fmla="*/ 900585 w 1424802"/>
              <a:gd name="connsiteY25" fmla="*/ 1644184 h 1650046"/>
              <a:gd name="connsiteX26" fmla="*/ 883001 w 1424802"/>
              <a:gd name="connsiteY26" fmla="*/ 1638323 h 1650046"/>
              <a:gd name="connsiteX27" fmla="*/ 800939 w 1424802"/>
              <a:gd name="connsiteY27" fmla="*/ 1632461 h 1650046"/>
              <a:gd name="connsiteX28" fmla="*/ 630955 w 1424802"/>
              <a:gd name="connsiteY28" fmla="*/ 1626600 h 1650046"/>
              <a:gd name="connsiteX29" fmla="*/ 572339 w 1424802"/>
              <a:gd name="connsiteY29" fmla="*/ 1620738 h 1650046"/>
              <a:gd name="connsiteX30" fmla="*/ 476812 w 1424802"/>
              <a:gd name="connsiteY30" fmla="*/ 1626600 h 1650046"/>
              <a:gd name="connsiteX31" fmla="*/ 119310 w 1424802"/>
              <a:gd name="connsiteY31" fmla="*/ 1468046 h 1650046"/>
              <a:gd name="connsiteX32" fmla="*/ 69040 w 1424802"/>
              <a:gd name="connsiteY32" fmla="*/ 1434124 h 1650046"/>
              <a:gd name="connsiteX33" fmla="*/ 21355 w 1424802"/>
              <a:gd name="connsiteY33" fmla="*/ 1415584 h 1650046"/>
              <a:gd name="connsiteX34" fmla="*/ 9632 w 1424802"/>
              <a:gd name="connsiteY34" fmla="*/ 1368692 h 1650046"/>
              <a:gd name="connsiteX35" fmla="*/ 9632 w 1424802"/>
              <a:gd name="connsiteY35" fmla="*/ 1169400 h 1650046"/>
              <a:gd name="connsiteX36" fmla="*/ 15493 w 1424802"/>
              <a:gd name="connsiteY36" fmla="*/ 1151815 h 1650046"/>
              <a:gd name="connsiteX37" fmla="*/ 21355 w 1424802"/>
              <a:gd name="connsiteY37" fmla="*/ 1099061 h 1650046"/>
              <a:gd name="connsiteX38" fmla="*/ 27216 w 1424802"/>
              <a:gd name="connsiteY38" fmla="*/ 1081477 h 1650046"/>
              <a:gd name="connsiteX39" fmla="*/ 33078 w 1424802"/>
              <a:gd name="connsiteY39" fmla="*/ 1046307 h 1650046"/>
              <a:gd name="connsiteX40" fmla="*/ 50662 w 1424802"/>
              <a:gd name="connsiteY40" fmla="*/ 1005277 h 1650046"/>
              <a:gd name="connsiteX41" fmla="*/ 62385 w 1424802"/>
              <a:gd name="connsiteY41" fmla="*/ 964246 h 1650046"/>
              <a:gd name="connsiteX42" fmla="*/ 74108 w 1424802"/>
              <a:gd name="connsiteY42" fmla="*/ 940800 h 1650046"/>
              <a:gd name="connsiteX43" fmla="*/ 85832 w 1424802"/>
              <a:gd name="connsiteY43" fmla="*/ 899769 h 1650046"/>
              <a:gd name="connsiteX44" fmla="*/ 91693 w 1424802"/>
              <a:gd name="connsiteY44" fmla="*/ 882184 h 1650046"/>
              <a:gd name="connsiteX45" fmla="*/ 97555 w 1424802"/>
              <a:gd name="connsiteY45" fmla="*/ 852877 h 1650046"/>
              <a:gd name="connsiteX46" fmla="*/ 103416 w 1424802"/>
              <a:gd name="connsiteY46" fmla="*/ 835292 h 1650046"/>
              <a:gd name="connsiteX47" fmla="*/ 102366 w 1424802"/>
              <a:gd name="connsiteY47" fmla="*/ 772661 h 1650046"/>
              <a:gd name="connsiteX48" fmla="*/ 83418 w 1424802"/>
              <a:gd name="connsiteY48" fmla="*/ 661188 h 1650046"/>
              <a:gd name="connsiteX49" fmla="*/ 34270 w 1424802"/>
              <a:gd name="connsiteY49"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1091559 w 1424802"/>
              <a:gd name="connsiteY12" fmla="*/ 805354 h 1650046"/>
              <a:gd name="connsiteX13" fmla="*/ 1235657 w 1424802"/>
              <a:gd name="connsiteY13" fmla="*/ 1021434 h 1650046"/>
              <a:gd name="connsiteX14" fmla="*/ 1307706 w 1424802"/>
              <a:gd name="connsiteY14" fmla="*/ 1093461 h 1650046"/>
              <a:gd name="connsiteX15" fmla="*/ 1353869 w 1424802"/>
              <a:gd name="connsiteY15" fmla="*/ 1173135 h 1650046"/>
              <a:gd name="connsiteX16" fmla="*/ 1379755 w 1424802"/>
              <a:gd name="connsiteY16" fmla="*/ 1237514 h 1650046"/>
              <a:gd name="connsiteX17" fmla="*/ 1410539 w 1424802"/>
              <a:gd name="connsiteY17" fmla="*/ 1351107 h 1650046"/>
              <a:gd name="connsiteX18" fmla="*/ 1404287 w 1424802"/>
              <a:gd name="connsiteY18" fmla="*/ 1474733 h 1650046"/>
              <a:gd name="connsiteX19" fmla="*/ 1287447 w 1424802"/>
              <a:gd name="connsiteY19" fmla="*/ 1609015 h 1650046"/>
              <a:gd name="connsiteX20" fmla="*/ 1269862 w 1424802"/>
              <a:gd name="connsiteY20" fmla="*/ 1620738 h 1650046"/>
              <a:gd name="connsiteX21" fmla="*/ 1234693 w 1424802"/>
              <a:gd name="connsiteY21" fmla="*/ 1632461 h 1650046"/>
              <a:gd name="connsiteX22" fmla="*/ 1217108 w 1424802"/>
              <a:gd name="connsiteY22" fmla="*/ 1638323 h 1650046"/>
              <a:gd name="connsiteX23" fmla="*/ 1176078 w 1424802"/>
              <a:gd name="connsiteY23" fmla="*/ 1644184 h 1650046"/>
              <a:gd name="connsiteX24" fmla="*/ 1140908 w 1424802"/>
              <a:gd name="connsiteY24" fmla="*/ 1650046 h 1650046"/>
              <a:gd name="connsiteX25" fmla="*/ 900585 w 1424802"/>
              <a:gd name="connsiteY25" fmla="*/ 1644184 h 1650046"/>
              <a:gd name="connsiteX26" fmla="*/ 883001 w 1424802"/>
              <a:gd name="connsiteY26" fmla="*/ 1638323 h 1650046"/>
              <a:gd name="connsiteX27" fmla="*/ 800939 w 1424802"/>
              <a:gd name="connsiteY27" fmla="*/ 1632461 h 1650046"/>
              <a:gd name="connsiteX28" fmla="*/ 630955 w 1424802"/>
              <a:gd name="connsiteY28" fmla="*/ 1626600 h 1650046"/>
              <a:gd name="connsiteX29" fmla="*/ 572339 w 1424802"/>
              <a:gd name="connsiteY29" fmla="*/ 1620738 h 1650046"/>
              <a:gd name="connsiteX30" fmla="*/ 476812 w 1424802"/>
              <a:gd name="connsiteY30" fmla="*/ 1626600 h 1650046"/>
              <a:gd name="connsiteX31" fmla="*/ 119310 w 1424802"/>
              <a:gd name="connsiteY31" fmla="*/ 1468046 h 1650046"/>
              <a:gd name="connsiteX32" fmla="*/ 69040 w 1424802"/>
              <a:gd name="connsiteY32" fmla="*/ 1434124 h 1650046"/>
              <a:gd name="connsiteX33" fmla="*/ 21355 w 1424802"/>
              <a:gd name="connsiteY33" fmla="*/ 1415584 h 1650046"/>
              <a:gd name="connsiteX34" fmla="*/ 52096 w 1424802"/>
              <a:gd name="connsiteY34" fmla="*/ 1340132 h 1650046"/>
              <a:gd name="connsiteX35" fmla="*/ 9632 w 1424802"/>
              <a:gd name="connsiteY35" fmla="*/ 1169400 h 1650046"/>
              <a:gd name="connsiteX36" fmla="*/ 15493 w 1424802"/>
              <a:gd name="connsiteY36" fmla="*/ 1151815 h 1650046"/>
              <a:gd name="connsiteX37" fmla="*/ 21355 w 1424802"/>
              <a:gd name="connsiteY37" fmla="*/ 1099061 h 1650046"/>
              <a:gd name="connsiteX38" fmla="*/ 27216 w 1424802"/>
              <a:gd name="connsiteY38" fmla="*/ 1081477 h 1650046"/>
              <a:gd name="connsiteX39" fmla="*/ 33078 w 1424802"/>
              <a:gd name="connsiteY39" fmla="*/ 1046307 h 1650046"/>
              <a:gd name="connsiteX40" fmla="*/ 50662 w 1424802"/>
              <a:gd name="connsiteY40" fmla="*/ 1005277 h 1650046"/>
              <a:gd name="connsiteX41" fmla="*/ 62385 w 1424802"/>
              <a:gd name="connsiteY41" fmla="*/ 964246 h 1650046"/>
              <a:gd name="connsiteX42" fmla="*/ 74108 w 1424802"/>
              <a:gd name="connsiteY42" fmla="*/ 940800 h 1650046"/>
              <a:gd name="connsiteX43" fmla="*/ 85832 w 1424802"/>
              <a:gd name="connsiteY43" fmla="*/ 899769 h 1650046"/>
              <a:gd name="connsiteX44" fmla="*/ 91693 w 1424802"/>
              <a:gd name="connsiteY44" fmla="*/ 882184 h 1650046"/>
              <a:gd name="connsiteX45" fmla="*/ 97555 w 1424802"/>
              <a:gd name="connsiteY45" fmla="*/ 852877 h 1650046"/>
              <a:gd name="connsiteX46" fmla="*/ 103416 w 1424802"/>
              <a:gd name="connsiteY46" fmla="*/ 835292 h 1650046"/>
              <a:gd name="connsiteX47" fmla="*/ 102366 w 1424802"/>
              <a:gd name="connsiteY47" fmla="*/ 772661 h 1650046"/>
              <a:gd name="connsiteX48" fmla="*/ 83418 w 1424802"/>
              <a:gd name="connsiteY48" fmla="*/ 661188 h 1650046"/>
              <a:gd name="connsiteX49" fmla="*/ 34270 w 1424802"/>
              <a:gd name="connsiteY49"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1091559 w 1424802"/>
              <a:gd name="connsiteY12" fmla="*/ 805354 h 1650046"/>
              <a:gd name="connsiteX13" fmla="*/ 1235657 w 1424802"/>
              <a:gd name="connsiteY13" fmla="*/ 1021434 h 1650046"/>
              <a:gd name="connsiteX14" fmla="*/ 1307706 w 1424802"/>
              <a:gd name="connsiteY14" fmla="*/ 1093461 h 1650046"/>
              <a:gd name="connsiteX15" fmla="*/ 1353869 w 1424802"/>
              <a:gd name="connsiteY15" fmla="*/ 1173135 h 1650046"/>
              <a:gd name="connsiteX16" fmla="*/ 1379755 w 1424802"/>
              <a:gd name="connsiteY16" fmla="*/ 1237514 h 1650046"/>
              <a:gd name="connsiteX17" fmla="*/ 1410539 w 1424802"/>
              <a:gd name="connsiteY17" fmla="*/ 1351107 h 1650046"/>
              <a:gd name="connsiteX18" fmla="*/ 1404287 w 1424802"/>
              <a:gd name="connsiteY18" fmla="*/ 1474733 h 1650046"/>
              <a:gd name="connsiteX19" fmla="*/ 1287447 w 1424802"/>
              <a:gd name="connsiteY19" fmla="*/ 1609015 h 1650046"/>
              <a:gd name="connsiteX20" fmla="*/ 1269862 w 1424802"/>
              <a:gd name="connsiteY20" fmla="*/ 1620738 h 1650046"/>
              <a:gd name="connsiteX21" fmla="*/ 1234693 w 1424802"/>
              <a:gd name="connsiteY21" fmla="*/ 1632461 h 1650046"/>
              <a:gd name="connsiteX22" fmla="*/ 1217108 w 1424802"/>
              <a:gd name="connsiteY22" fmla="*/ 1638323 h 1650046"/>
              <a:gd name="connsiteX23" fmla="*/ 1176078 w 1424802"/>
              <a:gd name="connsiteY23" fmla="*/ 1644184 h 1650046"/>
              <a:gd name="connsiteX24" fmla="*/ 1140908 w 1424802"/>
              <a:gd name="connsiteY24" fmla="*/ 1650046 h 1650046"/>
              <a:gd name="connsiteX25" fmla="*/ 900585 w 1424802"/>
              <a:gd name="connsiteY25" fmla="*/ 1644184 h 1650046"/>
              <a:gd name="connsiteX26" fmla="*/ 883001 w 1424802"/>
              <a:gd name="connsiteY26" fmla="*/ 1638323 h 1650046"/>
              <a:gd name="connsiteX27" fmla="*/ 800939 w 1424802"/>
              <a:gd name="connsiteY27" fmla="*/ 1632461 h 1650046"/>
              <a:gd name="connsiteX28" fmla="*/ 630955 w 1424802"/>
              <a:gd name="connsiteY28" fmla="*/ 1626600 h 1650046"/>
              <a:gd name="connsiteX29" fmla="*/ 572339 w 1424802"/>
              <a:gd name="connsiteY29" fmla="*/ 1620738 h 1650046"/>
              <a:gd name="connsiteX30" fmla="*/ 476812 w 1424802"/>
              <a:gd name="connsiteY30" fmla="*/ 1626600 h 1650046"/>
              <a:gd name="connsiteX31" fmla="*/ 119310 w 1424802"/>
              <a:gd name="connsiteY31" fmla="*/ 1468046 h 1650046"/>
              <a:gd name="connsiteX32" fmla="*/ 69040 w 1424802"/>
              <a:gd name="connsiteY32" fmla="*/ 1434124 h 1650046"/>
              <a:gd name="connsiteX33" fmla="*/ 52096 w 1424802"/>
              <a:gd name="connsiteY33" fmla="*/ 1340132 h 1650046"/>
              <a:gd name="connsiteX34" fmla="*/ 9632 w 1424802"/>
              <a:gd name="connsiteY34" fmla="*/ 1169400 h 1650046"/>
              <a:gd name="connsiteX35" fmla="*/ 15493 w 1424802"/>
              <a:gd name="connsiteY35" fmla="*/ 1151815 h 1650046"/>
              <a:gd name="connsiteX36" fmla="*/ 21355 w 1424802"/>
              <a:gd name="connsiteY36" fmla="*/ 1099061 h 1650046"/>
              <a:gd name="connsiteX37" fmla="*/ 27216 w 1424802"/>
              <a:gd name="connsiteY37" fmla="*/ 1081477 h 1650046"/>
              <a:gd name="connsiteX38" fmla="*/ 33078 w 1424802"/>
              <a:gd name="connsiteY38" fmla="*/ 1046307 h 1650046"/>
              <a:gd name="connsiteX39" fmla="*/ 50662 w 1424802"/>
              <a:gd name="connsiteY39" fmla="*/ 1005277 h 1650046"/>
              <a:gd name="connsiteX40" fmla="*/ 62385 w 1424802"/>
              <a:gd name="connsiteY40" fmla="*/ 964246 h 1650046"/>
              <a:gd name="connsiteX41" fmla="*/ 74108 w 1424802"/>
              <a:gd name="connsiteY41" fmla="*/ 940800 h 1650046"/>
              <a:gd name="connsiteX42" fmla="*/ 85832 w 1424802"/>
              <a:gd name="connsiteY42" fmla="*/ 899769 h 1650046"/>
              <a:gd name="connsiteX43" fmla="*/ 91693 w 1424802"/>
              <a:gd name="connsiteY43" fmla="*/ 882184 h 1650046"/>
              <a:gd name="connsiteX44" fmla="*/ 97555 w 1424802"/>
              <a:gd name="connsiteY44" fmla="*/ 852877 h 1650046"/>
              <a:gd name="connsiteX45" fmla="*/ 103416 w 1424802"/>
              <a:gd name="connsiteY45" fmla="*/ 835292 h 1650046"/>
              <a:gd name="connsiteX46" fmla="*/ 102366 w 1424802"/>
              <a:gd name="connsiteY46" fmla="*/ 772661 h 1650046"/>
              <a:gd name="connsiteX47" fmla="*/ 83418 w 1424802"/>
              <a:gd name="connsiteY47" fmla="*/ 661188 h 1650046"/>
              <a:gd name="connsiteX48" fmla="*/ 34270 w 1424802"/>
              <a:gd name="connsiteY48"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1091559 w 1424802"/>
              <a:gd name="connsiteY12" fmla="*/ 805354 h 1650046"/>
              <a:gd name="connsiteX13" fmla="*/ 1235657 w 1424802"/>
              <a:gd name="connsiteY13" fmla="*/ 1021434 h 1650046"/>
              <a:gd name="connsiteX14" fmla="*/ 1307706 w 1424802"/>
              <a:gd name="connsiteY14" fmla="*/ 1093461 h 1650046"/>
              <a:gd name="connsiteX15" fmla="*/ 1353869 w 1424802"/>
              <a:gd name="connsiteY15" fmla="*/ 1173135 h 1650046"/>
              <a:gd name="connsiteX16" fmla="*/ 1379755 w 1424802"/>
              <a:gd name="connsiteY16" fmla="*/ 1237514 h 1650046"/>
              <a:gd name="connsiteX17" fmla="*/ 1410539 w 1424802"/>
              <a:gd name="connsiteY17" fmla="*/ 1351107 h 1650046"/>
              <a:gd name="connsiteX18" fmla="*/ 1404287 w 1424802"/>
              <a:gd name="connsiteY18" fmla="*/ 1474733 h 1650046"/>
              <a:gd name="connsiteX19" fmla="*/ 1287447 w 1424802"/>
              <a:gd name="connsiteY19" fmla="*/ 1609015 h 1650046"/>
              <a:gd name="connsiteX20" fmla="*/ 1269862 w 1424802"/>
              <a:gd name="connsiteY20" fmla="*/ 1620738 h 1650046"/>
              <a:gd name="connsiteX21" fmla="*/ 1234693 w 1424802"/>
              <a:gd name="connsiteY21" fmla="*/ 1632461 h 1650046"/>
              <a:gd name="connsiteX22" fmla="*/ 1217108 w 1424802"/>
              <a:gd name="connsiteY22" fmla="*/ 1638323 h 1650046"/>
              <a:gd name="connsiteX23" fmla="*/ 1176078 w 1424802"/>
              <a:gd name="connsiteY23" fmla="*/ 1644184 h 1650046"/>
              <a:gd name="connsiteX24" fmla="*/ 1140908 w 1424802"/>
              <a:gd name="connsiteY24" fmla="*/ 1650046 h 1650046"/>
              <a:gd name="connsiteX25" fmla="*/ 900585 w 1424802"/>
              <a:gd name="connsiteY25" fmla="*/ 1644184 h 1650046"/>
              <a:gd name="connsiteX26" fmla="*/ 883001 w 1424802"/>
              <a:gd name="connsiteY26" fmla="*/ 1638323 h 1650046"/>
              <a:gd name="connsiteX27" fmla="*/ 800939 w 1424802"/>
              <a:gd name="connsiteY27" fmla="*/ 1632461 h 1650046"/>
              <a:gd name="connsiteX28" fmla="*/ 630955 w 1424802"/>
              <a:gd name="connsiteY28" fmla="*/ 1626600 h 1650046"/>
              <a:gd name="connsiteX29" fmla="*/ 572339 w 1424802"/>
              <a:gd name="connsiteY29" fmla="*/ 1620738 h 1650046"/>
              <a:gd name="connsiteX30" fmla="*/ 476812 w 1424802"/>
              <a:gd name="connsiteY30" fmla="*/ 1626600 h 1650046"/>
              <a:gd name="connsiteX31" fmla="*/ 119310 w 1424802"/>
              <a:gd name="connsiteY31" fmla="*/ 1468046 h 1650046"/>
              <a:gd name="connsiteX32" fmla="*/ 88685 w 1424802"/>
              <a:gd name="connsiteY32" fmla="*/ 1418160 h 1650046"/>
              <a:gd name="connsiteX33" fmla="*/ 52096 w 1424802"/>
              <a:gd name="connsiteY33" fmla="*/ 1340132 h 1650046"/>
              <a:gd name="connsiteX34" fmla="*/ 9632 w 1424802"/>
              <a:gd name="connsiteY34" fmla="*/ 1169400 h 1650046"/>
              <a:gd name="connsiteX35" fmla="*/ 15493 w 1424802"/>
              <a:gd name="connsiteY35" fmla="*/ 1151815 h 1650046"/>
              <a:gd name="connsiteX36" fmla="*/ 21355 w 1424802"/>
              <a:gd name="connsiteY36" fmla="*/ 1099061 h 1650046"/>
              <a:gd name="connsiteX37" fmla="*/ 27216 w 1424802"/>
              <a:gd name="connsiteY37" fmla="*/ 1081477 h 1650046"/>
              <a:gd name="connsiteX38" fmla="*/ 33078 w 1424802"/>
              <a:gd name="connsiteY38" fmla="*/ 1046307 h 1650046"/>
              <a:gd name="connsiteX39" fmla="*/ 50662 w 1424802"/>
              <a:gd name="connsiteY39" fmla="*/ 1005277 h 1650046"/>
              <a:gd name="connsiteX40" fmla="*/ 62385 w 1424802"/>
              <a:gd name="connsiteY40" fmla="*/ 964246 h 1650046"/>
              <a:gd name="connsiteX41" fmla="*/ 74108 w 1424802"/>
              <a:gd name="connsiteY41" fmla="*/ 940800 h 1650046"/>
              <a:gd name="connsiteX42" fmla="*/ 85832 w 1424802"/>
              <a:gd name="connsiteY42" fmla="*/ 899769 h 1650046"/>
              <a:gd name="connsiteX43" fmla="*/ 91693 w 1424802"/>
              <a:gd name="connsiteY43" fmla="*/ 882184 h 1650046"/>
              <a:gd name="connsiteX44" fmla="*/ 97555 w 1424802"/>
              <a:gd name="connsiteY44" fmla="*/ 852877 h 1650046"/>
              <a:gd name="connsiteX45" fmla="*/ 103416 w 1424802"/>
              <a:gd name="connsiteY45" fmla="*/ 835292 h 1650046"/>
              <a:gd name="connsiteX46" fmla="*/ 102366 w 1424802"/>
              <a:gd name="connsiteY46" fmla="*/ 772661 h 1650046"/>
              <a:gd name="connsiteX47" fmla="*/ 83418 w 1424802"/>
              <a:gd name="connsiteY47" fmla="*/ 661188 h 1650046"/>
              <a:gd name="connsiteX48" fmla="*/ 34270 w 1424802"/>
              <a:gd name="connsiteY48"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1091559 w 1424802"/>
              <a:gd name="connsiteY12" fmla="*/ 805354 h 1650046"/>
              <a:gd name="connsiteX13" fmla="*/ 1235657 w 1424802"/>
              <a:gd name="connsiteY13" fmla="*/ 1021434 h 1650046"/>
              <a:gd name="connsiteX14" fmla="*/ 1307706 w 1424802"/>
              <a:gd name="connsiteY14" fmla="*/ 1093461 h 1650046"/>
              <a:gd name="connsiteX15" fmla="*/ 1353869 w 1424802"/>
              <a:gd name="connsiteY15" fmla="*/ 1173135 h 1650046"/>
              <a:gd name="connsiteX16" fmla="*/ 1379755 w 1424802"/>
              <a:gd name="connsiteY16" fmla="*/ 1237514 h 1650046"/>
              <a:gd name="connsiteX17" fmla="*/ 1410539 w 1424802"/>
              <a:gd name="connsiteY17" fmla="*/ 1351107 h 1650046"/>
              <a:gd name="connsiteX18" fmla="*/ 1404287 w 1424802"/>
              <a:gd name="connsiteY18" fmla="*/ 1474733 h 1650046"/>
              <a:gd name="connsiteX19" fmla="*/ 1287447 w 1424802"/>
              <a:gd name="connsiteY19" fmla="*/ 1609015 h 1650046"/>
              <a:gd name="connsiteX20" fmla="*/ 1269862 w 1424802"/>
              <a:gd name="connsiteY20" fmla="*/ 1620738 h 1650046"/>
              <a:gd name="connsiteX21" fmla="*/ 1234693 w 1424802"/>
              <a:gd name="connsiteY21" fmla="*/ 1632461 h 1650046"/>
              <a:gd name="connsiteX22" fmla="*/ 1217108 w 1424802"/>
              <a:gd name="connsiteY22" fmla="*/ 1638323 h 1650046"/>
              <a:gd name="connsiteX23" fmla="*/ 1176078 w 1424802"/>
              <a:gd name="connsiteY23" fmla="*/ 1644184 h 1650046"/>
              <a:gd name="connsiteX24" fmla="*/ 1140908 w 1424802"/>
              <a:gd name="connsiteY24" fmla="*/ 1650046 h 1650046"/>
              <a:gd name="connsiteX25" fmla="*/ 900585 w 1424802"/>
              <a:gd name="connsiteY25" fmla="*/ 1644184 h 1650046"/>
              <a:gd name="connsiteX26" fmla="*/ 883001 w 1424802"/>
              <a:gd name="connsiteY26" fmla="*/ 1638323 h 1650046"/>
              <a:gd name="connsiteX27" fmla="*/ 800939 w 1424802"/>
              <a:gd name="connsiteY27" fmla="*/ 1632461 h 1650046"/>
              <a:gd name="connsiteX28" fmla="*/ 630955 w 1424802"/>
              <a:gd name="connsiteY28" fmla="*/ 1626600 h 1650046"/>
              <a:gd name="connsiteX29" fmla="*/ 572339 w 1424802"/>
              <a:gd name="connsiteY29" fmla="*/ 1620738 h 1650046"/>
              <a:gd name="connsiteX30" fmla="*/ 477085 w 1424802"/>
              <a:gd name="connsiteY30" fmla="*/ 1597620 h 1650046"/>
              <a:gd name="connsiteX31" fmla="*/ 119310 w 1424802"/>
              <a:gd name="connsiteY31" fmla="*/ 1468046 h 1650046"/>
              <a:gd name="connsiteX32" fmla="*/ 88685 w 1424802"/>
              <a:gd name="connsiteY32" fmla="*/ 1418160 h 1650046"/>
              <a:gd name="connsiteX33" fmla="*/ 52096 w 1424802"/>
              <a:gd name="connsiteY33" fmla="*/ 1340132 h 1650046"/>
              <a:gd name="connsiteX34" fmla="*/ 9632 w 1424802"/>
              <a:gd name="connsiteY34" fmla="*/ 1169400 h 1650046"/>
              <a:gd name="connsiteX35" fmla="*/ 15493 w 1424802"/>
              <a:gd name="connsiteY35" fmla="*/ 1151815 h 1650046"/>
              <a:gd name="connsiteX36" fmla="*/ 21355 w 1424802"/>
              <a:gd name="connsiteY36" fmla="*/ 1099061 h 1650046"/>
              <a:gd name="connsiteX37" fmla="*/ 27216 w 1424802"/>
              <a:gd name="connsiteY37" fmla="*/ 1081477 h 1650046"/>
              <a:gd name="connsiteX38" fmla="*/ 33078 w 1424802"/>
              <a:gd name="connsiteY38" fmla="*/ 1046307 h 1650046"/>
              <a:gd name="connsiteX39" fmla="*/ 50662 w 1424802"/>
              <a:gd name="connsiteY39" fmla="*/ 1005277 h 1650046"/>
              <a:gd name="connsiteX40" fmla="*/ 62385 w 1424802"/>
              <a:gd name="connsiteY40" fmla="*/ 964246 h 1650046"/>
              <a:gd name="connsiteX41" fmla="*/ 74108 w 1424802"/>
              <a:gd name="connsiteY41" fmla="*/ 940800 h 1650046"/>
              <a:gd name="connsiteX42" fmla="*/ 85832 w 1424802"/>
              <a:gd name="connsiteY42" fmla="*/ 899769 h 1650046"/>
              <a:gd name="connsiteX43" fmla="*/ 91693 w 1424802"/>
              <a:gd name="connsiteY43" fmla="*/ 882184 h 1650046"/>
              <a:gd name="connsiteX44" fmla="*/ 97555 w 1424802"/>
              <a:gd name="connsiteY44" fmla="*/ 852877 h 1650046"/>
              <a:gd name="connsiteX45" fmla="*/ 103416 w 1424802"/>
              <a:gd name="connsiteY45" fmla="*/ 835292 h 1650046"/>
              <a:gd name="connsiteX46" fmla="*/ 102366 w 1424802"/>
              <a:gd name="connsiteY46" fmla="*/ 772661 h 1650046"/>
              <a:gd name="connsiteX47" fmla="*/ 83418 w 1424802"/>
              <a:gd name="connsiteY47" fmla="*/ 661188 h 1650046"/>
              <a:gd name="connsiteX48" fmla="*/ 34270 w 1424802"/>
              <a:gd name="connsiteY48"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1091559 w 1424802"/>
              <a:gd name="connsiteY12" fmla="*/ 805354 h 1650046"/>
              <a:gd name="connsiteX13" fmla="*/ 1235657 w 1424802"/>
              <a:gd name="connsiteY13" fmla="*/ 1021434 h 1650046"/>
              <a:gd name="connsiteX14" fmla="*/ 1307706 w 1424802"/>
              <a:gd name="connsiteY14" fmla="*/ 1093461 h 1650046"/>
              <a:gd name="connsiteX15" fmla="*/ 1353869 w 1424802"/>
              <a:gd name="connsiteY15" fmla="*/ 1173135 h 1650046"/>
              <a:gd name="connsiteX16" fmla="*/ 1379755 w 1424802"/>
              <a:gd name="connsiteY16" fmla="*/ 1237514 h 1650046"/>
              <a:gd name="connsiteX17" fmla="*/ 1410539 w 1424802"/>
              <a:gd name="connsiteY17" fmla="*/ 1351107 h 1650046"/>
              <a:gd name="connsiteX18" fmla="*/ 1404287 w 1424802"/>
              <a:gd name="connsiteY18" fmla="*/ 1474733 h 1650046"/>
              <a:gd name="connsiteX19" fmla="*/ 1287447 w 1424802"/>
              <a:gd name="connsiteY19" fmla="*/ 1609015 h 1650046"/>
              <a:gd name="connsiteX20" fmla="*/ 1269862 w 1424802"/>
              <a:gd name="connsiteY20" fmla="*/ 1620738 h 1650046"/>
              <a:gd name="connsiteX21" fmla="*/ 1234693 w 1424802"/>
              <a:gd name="connsiteY21" fmla="*/ 1632461 h 1650046"/>
              <a:gd name="connsiteX22" fmla="*/ 1185128 w 1424802"/>
              <a:gd name="connsiteY22" fmla="*/ 1593013 h 1650046"/>
              <a:gd name="connsiteX23" fmla="*/ 1176078 w 1424802"/>
              <a:gd name="connsiteY23" fmla="*/ 1644184 h 1650046"/>
              <a:gd name="connsiteX24" fmla="*/ 1140908 w 1424802"/>
              <a:gd name="connsiteY24" fmla="*/ 1650046 h 1650046"/>
              <a:gd name="connsiteX25" fmla="*/ 900585 w 1424802"/>
              <a:gd name="connsiteY25" fmla="*/ 1644184 h 1650046"/>
              <a:gd name="connsiteX26" fmla="*/ 883001 w 1424802"/>
              <a:gd name="connsiteY26" fmla="*/ 1638323 h 1650046"/>
              <a:gd name="connsiteX27" fmla="*/ 800939 w 1424802"/>
              <a:gd name="connsiteY27" fmla="*/ 1632461 h 1650046"/>
              <a:gd name="connsiteX28" fmla="*/ 630955 w 1424802"/>
              <a:gd name="connsiteY28" fmla="*/ 1626600 h 1650046"/>
              <a:gd name="connsiteX29" fmla="*/ 572339 w 1424802"/>
              <a:gd name="connsiteY29" fmla="*/ 1620738 h 1650046"/>
              <a:gd name="connsiteX30" fmla="*/ 477085 w 1424802"/>
              <a:gd name="connsiteY30" fmla="*/ 1597620 h 1650046"/>
              <a:gd name="connsiteX31" fmla="*/ 119310 w 1424802"/>
              <a:gd name="connsiteY31" fmla="*/ 1468046 h 1650046"/>
              <a:gd name="connsiteX32" fmla="*/ 88685 w 1424802"/>
              <a:gd name="connsiteY32" fmla="*/ 1418160 h 1650046"/>
              <a:gd name="connsiteX33" fmla="*/ 52096 w 1424802"/>
              <a:gd name="connsiteY33" fmla="*/ 1340132 h 1650046"/>
              <a:gd name="connsiteX34" fmla="*/ 9632 w 1424802"/>
              <a:gd name="connsiteY34" fmla="*/ 1169400 h 1650046"/>
              <a:gd name="connsiteX35" fmla="*/ 15493 w 1424802"/>
              <a:gd name="connsiteY35" fmla="*/ 1151815 h 1650046"/>
              <a:gd name="connsiteX36" fmla="*/ 21355 w 1424802"/>
              <a:gd name="connsiteY36" fmla="*/ 1099061 h 1650046"/>
              <a:gd name="connsiteX37" fmla="*/ 27216 w 1424802"/>
              <a:gd name="connsiteY37" fmla="*/ 1081477 h 1650046"/>
              <a:gd name="connsiteX38" fmla="*/ 33078 w 1424802"/>
              <a:gd name="connsiteY38" fmla="*/ 1046307 h 1650046"/>
              <a:gd name="connsiteX39" fmla="*/ 50662 w 1424802"/>
              <a:gd name="connsiteY39" fmla="*/ 1005277 h 1650046"/>
              <a:gd name="connsiteX40" fmla="*/ 62385 w 1424802"/>
              <a:gd name="connsiteY40" fmla="*/ 964246 h 1650046"/>
              <a:gd name="connsiteX41" fmla="*/ 74108 w 1424802"/>
              <a:gd name="connsiteY41" fmla="*/ 940800 h 1650046"/>
              <a:gd name="connsiteX42" fmla="*/ 85832 w 1424802"/>
              <a:gd name="connsiteY42" fmla="*/ 899769 h 1650046"/>
              <a:gd name="connsiteX43" fmla="*/ 91693 w 1424802"/>
              <a:gd name="connsiteY43" fmla="*/ 882184 h 1650046"/>
              <a:gd name="connsiteX44" fmla="*/ 97555 w 1424802"/>
              <a:gd name="connsiteY44" fmla="*/ 852877 h 1650046"/>
              <a:gd name="connsiteX45" fmla="*/ 103416 w 1424802"/>
              <a:gd name="connsiteY45" fmla="*/ 835292 h 1650046"/>
              <a:gd name="connsiteX46" fmla="*/ 102366 w 1424802"/>
              <a:gd name="connsiteY46" fmla="*/ 772661 h 1650046"/>
              <a:gd name="connsiteX47" fmla="*/ 83418 w 1424802"/>
              <a:gd name="connsiteY47" fmla="*/ 661188 h 1650046"/>
              <a:gd name="connsiteX48" fmla="*/ 34270 w 1424802"/>
              <a:gd name="connsiteY48" fmla="*/ 481795 h 1650046"/>
              <a:gd name="connsiteX0" fmla="*/ 34270 w 1424802"/>
              <a:gd name="connsiteY0" fmla="*/ 481795 h 1647823"/>
              <a:gd name="connsiteX1" fmla="*/ 24101 w 1424802"/>
              <a:gd name="connsiteY1" fmla="*/ 373288 h 1647823"/>
              <a:gd name="connsiteX2" fmla="*/ 40439 w 1424802"/>
              <a:gd name="connsiteY2" fmla="*/ 294708 h 1647823"/>
              <a:gd name="connsiteX3" fmla="*/ 105996 w 1424802"/>
              <a:gd name="connsiteY3" fmla="*/ 147354 h 1647823"/>
              <a:gd name="connsiteX4" fmla="*/ 299018 w 1424802"/>
              <a:gd name="connsiteY4" fmla="*/ 13062 h 1647823"/>
              <a:gd name="connsiteX5" fmla="*/ 551506 w 1424802"/>
              <a:gd name="connsiteY5" fmla="*/ 68982 h 1647823"/>
              <a:gd name="connsiteX6" fmla="*/ 620226 w 1424802"/>
              <a:gd name="connsiteY6" fmla="*/ 131022 h 1647823"/>
              <a:gd name="connsiteX7" fmla="*/ 659264 w 1424802"/>
              <a:gd name="connsiteY7" fmla="*/ 157115 h 1647823"/>
              <a:gd name="connsiteX8" fmla="*/ 741534 w 1424802"/>
              <a:gd name="connsiteY8" fmla="*/ 202885 h 1647823"/>
              <a:gd name="connsiteX9" fmla="*/ 824385 w 1424802"/>
              <a:gd name="connsiteY9" fmla="*/ 325338 h 1647823"/>
              <a:gd name="connsiteX10" fmla="*/ 841970 w 1424802"/>
              <a:gd name="connsiteY10" fmla="*/ 342923 h 1647823"/>
              <a:gd name="connsiteX11" fmla="*/ 847832 w 1424802"/>
              <a:gd name="connsiteY11" fmla="*/ 360507 h 1647823"/>
              <a:gd name="connsiteX12" fmla="*/ 1091559 w 1424802"/>
              <a:gd name="connsiteY12" fmla="*/ 805354 h 1647823"/>
              <a:gd name="connsiteX13" fmla="*/ 1235657 w 1424802"/>
              <a:gd name="connsiteY13" fmla="*/ 1021434 h 1647823"/>
              <a:gd name="connsiteX14" fmla="*/ 1307706 w 1424802"/>
              <a:gd name="connsiteY14" fmla="*/ 1093461 h 1647823"/>
              <a:gd name="connsiteX15" fmla="*/ 1353869 w 1424802"/>
              <a:gd name="connsiteY15" fmla="*/ 1173135 h 1647823"/>
              <a:gd name="connsiteX16" fmla="*/ 1379755 w 1424802"/>
              <a:gd name="connsiteY16" fmla="*/ 1237514 h 1647823"/>
              <a:gd name="connsiteX17" fmla="*/ 1410539 w 1424802"/>
              <a:gd name="connsiteY17" fmla="*/ 1351107 h 1647823"/>
              <a:gd name="connsiteX18" fmla="*/ 1404287 w 1424802"/>
              <a:gd name="connsiteY18" fmla="*/ 1474733 h 1647823"/>
              <a:gd name="connsiteX19" fmla="*/ 1287447 w 1424802"/>
              <a:gd name="connsiteY19" fmla="*/ 1609015 h 1647823"/>
              <a:gd name="connsiteX20" fmla="*/ 1269862 w 1424802"/>
              <a:gd name="connsiteY20" fmla="*/ 1620738 h 1647823"/>
              <a:gd name="connsiteX21" fmla="*/ 1234693 w 1424802"/>
              <a:gd name="connsiteY21" fmla="*/ 1632461 h 1647823"/>
              <a:gd name="connsiteX22" fmla="*/ 1185128 w 1424802"/>
              <a:gd name="connsiteY22" fmla="*/ 1593013 h 1647823"/>
              <a:gd name="connsiteX23" fmla="*/ 1176078 w 1424802"/>
              <a:gd name="connsiteY23" fmla="*/ 1644184 h 1647823"/>
              <a:gd name="connsiteX24" fmla="*/ 1112152 w 1424802"/>
              <a:gd name="connsiteY24" fmla="*/ 1601472 h 1647823"/>
              <a:gd name="connsiteX25" fmla="*/ 900585 w 1424802"/>
              <a:gd name="connsiteY25" fmla="*/ 1644184 h 1647823"/>
              <a:gd name="connsiteX26" fmla="*/ 883001 w 1424802"/>
              <a:gd name="connsiteY26" fmla="*/ 1638323 h 1647823"/>
              <a:gd name="connsiteX27" fmla="*/ 800939 w 1424802"/>
              <a:gd name="connsiteY27" fmla="*/ 1632461 h 1647823"/>
              <a:gd name="connsiteX28" fmla="*/ 630955 w 1424802"/>
              <a:gd name="connsiteY28" fmla="*/ 1626600 h 1647823"/>
              <a:gd name="connsiteX29" fmla="*/ 572339 w 1424802"/>
              <a:gd name="connsiteY29" fmla="*/ 1620738 h 1647823"/>
              <a:gd name="connsiteX30" fmla="*/ 477085 w 1424802"/>
              <a:gd name="connsiteY30" fmla="*/ 1597620 h 1647823"/>
              <a:gd name="connsiteX31" fmla="*/ 119310 w 1424802"/>
              <a:gd name="connsiteY31" fmla="*/ 1468046 h 1647823"/>
              <a:gd name="connsiteX32" fmla="*/ 88685 w 1424802"/>
              <a:gd name="connsiteY32" fmla="*/ 1418160 h 1647823"/>
              <a:gd name="connsiteX33" fmla="*/ 52096 w 1424802"/>
              <a:gd name="connsiteY33" fmla="*/ 1340132 h 1647823"/>
              <a:gd name="connsiteX34" fmla="*/ 9632 w 1424802"/>
              <a:gd name="connsiteY34" fmla="*/ 1169400 h 1647823"/>
              <a:gd name="connsiteX35" fmla="*/ 15493 w 1424802"/>
              <a:gd name="connsiteY35" fmla="*/ 1151815 h 1647823"/>
              <a:gd name="connsiteX36" fmla="*/ 21355 w 1424802"/>
              <a:gd name="connsiteY36" fmla="*/ 1099061 h 1647823"/>
              <a:gd name="connsiteX37" fmla="*/ 27216 w 1424802"/>
              <a:gd name="connsiteY37" fmla="*/ 1081477 h 1647823"/>
              <a:gd name="connsiteX38" fmla="*/ 33078 w 1424802"/>
              <a:gd name="connsiteY38" fmla="*/ 1046307 h 1647823"/>
              <a:gd name="connsiteX39" fmla="*/ 50662 w 1424802"/>
              <a:gd name="connsiteY39" fmla="*/ 1005277 h 1647823"/>
              <a:gd name="connsiteX40" fmla="*/ 62385 w 1424802"/>
              <a:gd name="connsiteY40" fmla="*/ 964246 h 1647823"/>
              <a:gd name="connsiteX41" fmla="*/ 74108 w 1424802"/>
              <a:gd name="connsiteY41" fmla="*/ 940800 h 1647823"/>
              <a:gd name="connsiteX42" fmla="*/ 85832 w 1424802"/>
              <a:gd name="connsiteY42" fmla="*/ 899769 h 1647823"/>
              <a:gd name="connsiteX43" fmla="*/ 91693 w 1424802"/>
              <a:gd name="connsiteY43" fmla="*/ 882184 h 1647823"/>
              <a:gd name="connsiteX44" fmla="*/ 97555 w 1424802"/>
              <a:gd name="connsiteY44" fmla="*/ 852877 h 1647823"/>
              <a:gd name="connsiteX45" fmla="*/ 103416 w 1424802"/>
              <a:gd name="connsiteY45" fmla="*/ 835292 h 1647823"/>
              <a:gd name="connsiteX46" fmla="*/ 102366 w 1424802"/>
              <a:gd name="connsiteY46" fmla="*/ 772661 h 1647823"/>
              <a:gd name="connsiteX47" fmla="*/ 83418 w 1424802"/>
              <a:gd name="connsiteY47" fmla="*/ 661188 h 1647823"/>
              <a:gd name="connsiteX48" fmla="*/ 34270 w 1424802"/>
              <a:gd name="connsiteY48" fmla="*/ 481795 h 1647823"/>
              <a:gd name="connsiteX0" fmla="*/ 34270 w 1424802"/>
              <a:gd name="connsiteY0" fmla="*/ 481795 h 1647823"/>
              <a:gd name="connsiteX1" fmla="*/ 24101 w 1424802"/>
              <a:gd name="connsiteY1" fmla="*/ 373288 h 1647823"/>
              <a:gd name="connsiteX2" fmla="*/ 40439 w 1424802"/>
              <a:gd name="connsiteY2" fmla="*/ 294708 h 1647823"/>
              <a:gd name="connsiteX3" fmla="*/ 105996 w 1424802"/>
              <a:gd name="connsiteY3" fmla="*/ 147354 h 1647823"/>
              <a:gd name="connsiteX4" fmla="*/ 299018 w 1424802"/>
              <a:gd name="connsiteY4" fmla="*/ 13062 h 1647823"/>
              <a:gd name="connsiteX5" fmla="*/ 551506 w 1424802"/>
              <a:gd name="connsiteY5" fmla="*/ 68982 h 1647823"/>
              <a:gd name="connsiteX6" fmla="*/ 620226 w 1424802"/>
              <a:gd name="connsiteY6" fmla="*/ 131022 h 1647823"/>
              <a:gd name="connsiteX7" fmla="*/ 659264 w 1424802"/>
              <a:gd name="connsiteY7" fmla="*/ 157115 h 1647823"/>
              <a:gd name="connsiteX8" fmla="*/ 741534 w 1424802"/>
              <a:gd name="connsiteY8" fmla="*/ 202885 h 1647823"/>
              <a:gd name="connsiteX9" fmla="*/ 824385 w 1424802"/>
              <a:gd name="connsiteY9" fmla="*/ 325338 h 1647823"/>
              <a:gd name="connsiteX10" fmla="*/ 841970 w 1424802"/>
              <a:gd name="connsiteY10" fmla="*/ 342923 h 1647823"/>
              <a:gd name="connsiteX11" fmla="*/ 847832 w 1424802"/>
              <a:gd name="connsiteY11" fmla="*/ 360507 h 1647823"/>
              <a:gd name="connsiteX12" fmla="*/ 1091559 w 1424802"/>
              <a:gd name="connsiteY12" fmla="*/ 805354 h 1647823"/>
              <a:gd name="connsiteX13" fmla="*/ 1235657 w 1424802"/>
              <a:gd name="connsiteY13" fmla="*/ 1021434 h 1647823"/>
              <a:gd name="connsiteX14" fmla="*/ 1307706 w 1424802"/>
              <a:gd name="connsiteY14" fmla="*/ 1093461 h 1647823"/>
              <a:gd name="connsiteX15" fmla="*/ 1353869 w 1424802"/>
              <a:gd name="connsiteY15" fmla="*/ 1173135 h 1647823"/>
              <a:gd name="connsiteX16" fmla="*/ 1379755 w 1424802"/>
              <a:gd name="connsiteY16" fmla="*/ 1237514 h 1647823"/>
              <a:gd name="connsiteX17" fmla="*/ 1410539 w 1424802"/>
              <a:gd name="connsiteY17" fmla="*/ 1351107 h 1647823"/>
              <a:gd name="connsiteX18" fmla="*/ 1404287 w 1424802"/>
              <a:gd name="connsiteY18" fmla="*/ 1474733 h 1647823"/>
              <a:gd name="connsiteX19" fmla="*/ 1287447 w 1424802"/>
              <a:gd name="connsiteY19" fmla="*/ 1609015 h 1647823"/>
              <a:gd name="connsiteX20" fmla="*/ 1269862 w 1424802"/>
              <a:gd name="connsiteY20" fmla="*/ 1620738 h 1647823"/>
              <a:gd name="connsiteX21" fmla="*/ 1234693 w 1424802"/>
              <a:gd name="connsiteY21" fmla="*/ 1632461 h 1647823"/>
              <a:gd name="connsiteX22" fmla="*/ 1185128 w 1424802"/>
              <a:gd name="connsiteY22" fmla="*/ 1593013 h 1647823"/>
              <a:gd name="connsiteX23" fmla="*/ 1112152 w 1424802"/>
              <a:gd name="connsiteY23" fmla="*/ 1601472 h 1647823"/>
              <a:gd name="connsiteX24" fmla="*/ 900585 w 1424802"/>
              <a:gd name="connsiteY24" fmla="*/ 1644184 h 1647823"/>
              <a:gd name="connsiteX25" fmla="*/ 883001 w 1424802"/>
              <a:gd name="connsiteY25" fmla="*/ 1638323 h 1647823"/>
              <a:gd name="connsiteX26" fmla="*/ 800939 w 1424802"/>
              <a:gd name="connsiteY26" fmla="*/ 1632461 h 1647823"/>
              <a:gd name="connsiteX27" fmla="*/ 630955 w 1424802"/>
              <a:gd name="connsiteY27" fmla="*/ 1626600 h 1647823"/>
              <a:gd name="connsiteX28" fmla="*/ 572339 w 1424802"/>
              <a:gd name="connsiteY28" fmla="*/ 1620738 h 1647823"/>
              <a:gd name="connsiteX29" fmla="*/ 477085 w 1424802"/>
              <a:gd name="connsiteY29" fmla="*/ 1597620 h 1647823"/>
              <a:gd name="connsiteX30" fmla="*/ 119310 w 1424802"/>
              <a:gd name="connsiteY30" fmla="*/ 1468046 h 1647823"/>
              <a:gd name="connsiteX31" fmla="*/ 88685 w 1424802"/>
              <a:gd name="connsiteY31" fmla="*/ 1418160 h 1647823"/>
              <a:gd name="connsiteX32" fmla="*/ 52096 w 1424802"/>
              <a:gd name="connsiteY32" fmla="*/ 1340132 h 1647823"/>
              <a:gd name="connsiteX33" fmla="*/ 9632 w 1424802"/>
              <a:gd name="connsiteY33" fmla="*/ 1169400 h 1647823"/>
              <a:gd name="connsiteX34" fmla="*/ 15493 w 1424802"/>
              <a:gd name="connsiteY34" fmla="*/ 1151815 h 1647823"/>
              <a:gd name="connsiteX35" fmla="*/ 21355 w 1424802"/>
              <a:gd name="connsiteY35" fmla="*/ 1099061 h 1647823"/>
              <a:gd name="connsiteX36" fmla="*/ 27216 w 1424802"/>
              <a:gd name="connsiteY36" fmla="*/ 1081477 h 1647823"/>
              <a:gd name="connsiteX37" fmla="*/ 33078 w 1424802"/>
              <a:gd name="connsiteY37" fmla="*/ 1046307 h 1647823"/>
              <a:gd name="connsiteX38" fmla="*/ 50662 w 1424802"/>
              <a:gd name="connsiteY38" fmla="*/ 1005277 h 1647823"/>
              <a:gd name="connsiteX39" fmla="*/ 62385 w 1424802"/>
              <a:gd name="connsiteY39" fmla="*/ 964246 h 1647823"/>
              <a:gd name="connsiteX40" fmla="*/ 74108 w 1424802"/>
              <a:gd name="connsiteY40" fmla="*/ 940800 h 1647823"/>
              <a:gd name="connsiteX41" fmla="*/ 85832 w 1424802"/>
              <a:gd name="connsiteY41" fmla="*/ 899769 h 1647823"/>
              <a:gd name="connsiteX42" fmla="*/ 91693 w 1424802"/>
              <a:gd name="connsiteY42" fmla="*/ 882184 h 1647823"/>
              <a:gd name="connsiteX43" fmla="*/ 97555 w 1424802"/>
              <a:gd name="connsiteY43" fmla="*/ 852877 h 1647823"/>
              <a:gd name="connsiteX44" fmla="*/ 103416 w 1424802"/>
              <a:gd name="connsiteY44" fmla="*/ 835292 h 1647823"/>
              <a:gd name="connsiteX45" fmla="*/ 102366 w 1424802"/>
              <a:gd name="connsiteY45" fmla="*/ 772661 h 1647823"/>
              <a:gd name="connsiteX46" fmla="*/ 83418 w 1424802"/>
              <a:gd name="connsiteY46" fmla="*/ 661188 h 1647823"/>
              <a:gd name="connsiteX47" fmla="*/ 34270 w 1424802"/>
              <a:gd name="connsiteY47" fmla="*/ 481795 h 1647823"/>
              <a:gd name="connsiteX0" fmla="*/ 34270 w 1424802"/>
              <a:gd name="connsiteY0" fmla="*/ 481795 h 1647823"/>
              <a:gd name="connsiteX1" fmla="*/ 24101 w 1424802"/>
              <a:gd name="connsiteY1" fmla="*/ 373288 h 1647823"/>
              <a:gd name="connsiteX2" fmla="*/ 40439 w 1424802"/>
              <a:gd name="connsiteY2" fmla="*/ 294708 h 1647823"/>
              <a:gd name="connsiteX3" fmla="*/ 105996 w 1424802"/>
              <a:gd name="connsiteY3" fmla="*/ 147354 h 1647823"/>
              <a:gd name="connsiteX4" fmla="*/ 299018 w 1424802"/>
              <a:gd name="connsiteY4" fmla="*/ 13062 h 1647823"/>
              <a:gd name="connsiteX5" fmla="*/ 551506 w 1424802"/>
              <a:gd name="connsiteY5" fmla="*/ 68982 h 1647823"/>
              <a:gd name="connsiteX6" fmla="*/ 620226 w 1424802"/>
              <a:gd name="connsiteY6" fmla="*/ 131022 h 1647823"/>
              <a:gd name="connsiteX7" fmla="*/ 659264 w 1424802"/>
              <a:gd name="connsiteY7" fmla="*/ 157115 h 1647823"/>
              <a:gd name="connsiteX8" fmla="*/ 741534 w 1424802"/>
              <a:gd name="connsiteY8" fmla="*/ 202885 h 1647823"/>
              <a:gd name="connsiteX9" fmla="*/ 824385 w 1424802"/>
              <a:gd name="connsiteY9" fmla="*/ 325338 h 1647823"/>
              <a:gd name="connsiteX10" fmla="*/ 841970 w 1424802"/>
              <a:gd name="connsiteY10" fmla="*/ 342923 h 1647823"/>
              <a:gd name="connsiteX11" fmla="*/ 847832 w 1424802"/>
              <a:gd name="connsiteY11" fmla="*/ 360507 h 1647823"/>
              <a:gd name="connsiteX12" fmla="*/ 1091559 w 1424802"/>
              <a:gd name="connsiteY12" fmla="*/ 805354 h 1647823"/>
              <a:gd name="connsiteX13" fmla="*/ 1235657 w 1424802"/>
              <a:gd name="connsiteY13" fmla="*/ 1021434 h 1647823"/>
              <a:gd name="connsiteX14" fmla="*/ 1307706 w 1424802"/>
              <a:gd name="connsiteY14" fmla="*/ 1093461 h 1647823"/>
              <a:gd name="connsiteX15" fmla="*/ 1353869 w 1424802"/>
              <a:gd name="connsiteY15" fmla="*/ 1173135 h 1647823"/>
              <a:gd name="connsiteX16" fmla="*/ 1379755 w 1424802"/>
              <a:gd name="connsiteY16" fmla="*/ 1237514 h 1647823"/>
              <a:gd name="connsiteX17" fmla="*/ 1410539 w 1424802"/>
              <a:gd name="connsiteY17" fmla="*/ 1351107 h 1647823"/>
              <a:gd name="connsiteX18" fmla="*/ 1404287 w 1424802"/>
              <a:gd name="connsiteY18" fmla="*/ 1474733 h 1647823"/>
              <a:gd name="connsiteX19" fmla="*/ 1287447 w 1424802"/>
              <a:gd name="connsiteY19" fmla="*/ 1609015 h 1647823"/>
              <a:gd name="connsiteX20" fmla="*/ 1269862 w 1424802"/>
              <a:gd name="connsiteY20" fmla="*/ 1620738 h 1647823"/>
              <a:gd name="connsiteX21" fmla="*/ 1185128 w 1424802"/>
              <a:gd name="connsiteY21" fmla="*/ 1593013 h 1647823"/>
              <a:gd name="connsiteX22" fmla="*/ 1112152 w 1424802"/>
              <a:gd name="connsiteY22" fmla="*/ 1601472 h 1647823"/>
              <a:gd name="connsiteX23" fmla="*/ 900585 w 1424802"/>
              <a:gd name="connsiteY23" fmla="*/ 1644184 h 1647823"/>
              <a:gd name="connsiteX24" fmla="*/ 883001 w 1424802"/>
              <a:gd name="connsiteY24" fmla="*/ 1638323 h 1647823"/>
              <a:gd name="connsiteX25" fmla="*/ 800939 w 1424802"/>
              <a:gd name="connsiteY25" fmla="*/ 1632461 h 1647823"/>
              <a:gd name="connsiteX26" fmla="*/ 630955 w 1424802"/>
              <a:gd name="connsiteY26" fmla="*/ 1626600 h 1647823"/>
              <a:gd name="connsiteX27" fmla="*/ 572339 w 1424802"/>
              <a:gd name="connsiteY27" fmla="*/ 1620738 h 1647823"/>
              <a:gd name="connsiteX28" fmla="*/ 477085 w 1424802"/>
              <a:gd name="connsiteY28" fmla="*/ 1597620 h 1647823"/>
              <a:gd name="connsiteX29" fmla="*/ 119310 w 1424802"/>
              <a:gd name="connsiteY29" fmla="*/ 1468046 h 1647823"/>
              <a:gd name="connsiteX30" fmla="*/ 88685 w 1424802"/>
              <a:gd name="connsiteY30" fmla="*/ 1418160 h 1647823"/>
              <a:gd name="connsiteX31" fmla="*/ 52096 w 1424802"/>
              <a:gd name="connsiteY31" fmla="*/ 1340132 h 1647823"/>
              <a:gd name="connsiteX32" fmla="*/ 9632 w 1424802"/>
              <a:gd name="connsiteY32" fmla="*/ 1169400 h 1647823"/>
              <a:gd name="connsiteX33" fmla="*/ 15493 w 1424802"/>
              <a:gd name="connsiteY33" fmla="*/ 1151815 h 1647823"/>
              <a:gd name="connsiteX34" fmla="*/ 21355 w 1424802"/>
              <a:gd name="connsiteY34" fmla="*/ 1099061 h 1647823"/>
              <a:gd name="connsiteX35" fmla="*/ 27216 w 1424802"/>
              <a:gd name="connsiteY35" fmla="*/ 1081477 h 1647823"/>
              <a:gd name="connsiteX36" fmla="*/ 33078 w 1424802"/>
              <a:gd name="connsiteY36" fmla="*/ 1046307 h 1647823"/>
              <a:gd name="connsiteX37" fmla="*/ 50662 w 1424802"/>
              <a:gd name="connsiteY37" fmla="*/ 1005277 h 1647823"/>
              <a:gd name="connsiteX38" fmla="*/ 62385 w 1424802"/>
              <a:gd name="connsiteY38" fmla="*/ 964246 h 1647823"/>
              <a:gd name="connsiteX39" fmla="*/ 74108 w 1424802"/>
              <a:gd name="connsiteY39" fmla="*/ 940800 h 1647823"/>
              <a:gd name="connsiteX40" fmla="*/ 85832 w 1424802"/>
              <a:gd name="connsiteY40" fmla="*/ 899769 h 1647823"/>
              <a:gd name="connsiteX41" fmla="*/ 91693 w 1424802"/>
              <a:gd name="connsiteY41" fmla="*/ 882184 h 1647823"/>
              <a:gd name="connsiteX42" fmla="*/ 97555 w 1424802"/>
              <a:gd name="connsiteY42" fmla="*/ 852877 h 1647823"/>
              <a:gd name="connsiteX43" fmla="*/ 103416 w 1424802"/>
              <a:gd name="connsiteY43" fmla="*/ 835292 h 1647823"/>
              <a:gd name="connsiteX44" fmla="*/ 102366 w 1424802"/>
              <a:gd name="connsiteY44" fmla="*/ 772661 h 1647823"/>
              <a:gd name="connsiteX45" fmla="*/ 83418 w 1424802"/>
              <a:gd name="connsiteY45" fmla="*/ 661188 h 1647823"/>
              <a:gd name="connsiteX46" fmla="*/ 34270 w 1424802"/>
              <a:gd name="connsiteY46" fmla="*/ 481795 h 1647823"/>
              <a:gd name="connsiteX0" fmla="*/ 34270 w 1424802"/>
              <a:gd name="connsiteY0" fmla="*/ 481795 h 1647823"/>
              <a:gd name="connsiteX1" fmla="*/ 24101 w 1424802"/>
              <a:gd name="connsiteY1" fmla="*/ 373288 h 1647823"/>
              <a:gd name="connsiteX2" fmla="*/ 40439 w 1424802"/>
              <a:gd name="connsiteY2" fmla="*/ 294708 h 1647823"/>
              <a:gd name="connsiteX3" fmla="*/ 105996 w 1424802"/>
              <a:gd name="connsiteY3" fmla="*/ 147354 h 1647823"/>
              <a:gd name="connsiteX4" fmla="*/ 299018 w 1424802"/>
              <a:gd name="connsiteY4" fmla="*/ 13062 h 1647823"/>
              <a:gd name="connsiteX5" fmla="*/ 551506 w 1424802"/>
              <a:gd name="connsiteY5" fmla="*/ 68982 h 1647823"/>
              <a:gd name="connsiteX6" fmla="*/ 620226 w 1424802"/>
              <a:gd name="connsiteY6" fmla="*/ 131022 h 1647823"/>
              <a:gd name="connsiteX7" fmla="*/ 659264 w 1424802"/>
              <a:gd name="connsiteY7" fmla="*/ 157115 h 1647823"/>
              <a:gd name="connsiteX8" fmla="*/ 741534 w 1424802"/>
              <a:gd name="connsiteY8" fmla="*/ 202885 h 1647823"/>
              <a:gd name="connsiteX9" fmla="*/ 824385 w 1424802"/>
              <a:gd name="connsiteY9" fmla="*/ 325338 h 1647823"/>
              <a:gd name="connsiteX10" fmla="*/ 841970 w 1424802"/>
              <a:gd name="connsiteY10" fmla="*/ 342923 h 1647823"/>
              <a:gd name="connsiteX11" fmla="*/ 847832 w 1424802"/>
              <a:gd name="connsiteY11" fmla="*/ 360507 h 1647823"/>
              <a:gd name="connsiteX12" fmla="*/ 1091559 w 1424802"/>
              <a:gd name="connsiteY12" fmla="*/ 805354 h 1647823"/>
              <a:gd name="connsiteX13" fmla="*/ 1235657 w 1424802"/>
              <a:gd name="connsiteY13" fmla="*/ 1021434 h 1647823"/>
              <a:gd name="connsiteX14" fmla="*/ 1307706 w 1424802"/>
              <a:gd name="connsiteY14" fmla="*/ 1093461 h 1647823"/>
              <a:gd name="connsiteX15" fmla="*/ 1353869 w 1424802"/>
              <a:gd name="connsiteY15" fmla="*/ 1173135 h 1647823"/>
              <a:gd name="connsiteX16" fmla="*/ 1379755 w 1424802"/>
              <a:gd name="connsiteY16" fmla="*/ 1237514 h 1647823"/>
              <a:gd name="connsiteX17" fmla="*/ 1410539 w 1424802"/>
              <a:gd name="connsiteY17" fmla="*/ 1351107 h 1647823"/>
              <a:gd name="connsiteX18" fmla="*/ 1404287 w 1424802"/>
              <a:gd name="connsiteY18" fmla="*/ 1474733 h 1647823"/>
              <a:gd name="connsiteX19" fmla="*/ 1287447 w 1424802"/>
              <a:gd name="connsiteY19" fmla="*/ 1609015 h 1647823"/>
              <a:gd name="connsiteX20" fmla="*/ 1185128 w 1424802"/>
              <a:gd name="connsiteY20" fmla="*/ 1593013 h 1647823"/>
              <a:gd name="connsiteX21" fmla="*/ 1112152 w 1424802"/>
              <a:gd name="connsiteY21" fmla="*/ 1601472 h 1647823"/>
              <a:gd name="connsiteX22" fmla="*/ 900585 w 1424802"/>
              <a:gd name="connsiteY22" fmla="*/ 1644184 h 1647823"/>
              <a:gd name="connsiteX23" fmla="*/ 883001 w 1424802"/>
              <a:gd name="connsiteY23" fmla="*/ 1638323 h 1647823"/>
              <a:gd name="connsiteX24" fmla="*/ 800939 w 1424802"/>
              <a:gd name="connsiteY24" fmla="*/ 1632461 h 1647823"/>
              <a:gd name="connsiteX25" fmla="*/ 630955 w 1424802"/>
              <a:gd name="connsiteY25" fmla="*/ 1626600 h 1647823"/>
              <a:gd name="connsiteX26" fmla="*/ 572339 w 1424802"/>
              <a:gd name="connsiteY26" fmla="*/ 1620738 h 1647823"/>
              <a:gd name="connsiteX27" fmla="*/ 477085 w 1424802"/>
              <a:gd name="connsiteY27" fmla="*/ 1597620 h 1647823"/>
              <a:gd name="connsiteX28" fmla="*/ 119310 w 1424802"/>
              <a:gd name="connsiteY28" fmla="*/ 1468046 h 1647823"/>
              <a:gd name="connsiteX29" fmla="*/ 88685 w 1424802"/>
              <a:gd name="connsiteY29" fmla="*/ 1418160 h 1647823"/>
              <a:gd name="connsiteX30" fmla="*/ 52096 w 1424802"/>
              <a:gd name="connsiteY30" fmla="*/ 1340132 h 1647823"/>
              <a:gd name="connsiteX31" fmla="*/ 9632 w 1424802"/>
              <a:gd name="connsiteY31" fmla="*/ 1169400 h 1647823"/>
              <a:gd name="connsiteX32" fmla="*/ 15493 w 1424802"/>
              <a:gd name="connsiteY32" fmla="*/ 1151815 h 1647823"/>
              <a:gd name="connsiteX33" fmla="*/ 21355 w 1424802"/>
              <a:gd name="connsiteY33" fmla="*/ 1099061 h 1647823"/>
              <a:gd name="connsiteX34" fmla="*/ 27216 w 1424802"/>
              <a:gd name="connsiteY34" fmla="*/ 1081477 h 1647823"/>
              <a:gd name="connsiteX35" fmla="*/ 33078 w 1424802"/>
              <a:gd name="connsiteY35" fmla="*/ 1046307 h 1647823"/>
              <a:gd name="connsiteX36" fmla="*/ 50662 w 1424802"/>
              <a:gd name="connsiteY36" fmla="*/ 1005277 h 1647823"/>
              <a:gd name="connsiteX37" fmla="*/ 62385 w 1424802"/>
              <a:gd name="connsiteY37" fmla="*/ 964246 h 1647823"/>
              <a:gd name="connsiteX38" fmla="*/ 74108 w 1424802"/>
              <a:gd name="connsiteY38" fmla="*/ 940800 h 1647823"/>
              <a:gd name="connsiteX39" fmla="*/ 85832 w 1424802"/>
              <a:gd name="connsiteY39" fmla="*/ 899769 h 1647823"/>
              <a:gd name="connsiteX40" fmla="*/ 91693 w 1424802"/>
              <a:gd name="connsiteY40" fmla="*/ 882184 h 1647823"/>
              <a:gd name="connsiteX41" fmla="*/ 97555 w 1424802"/>
              <a:gd name="connsiteY41" fmla="*/ 852877 h 1647823"/>
              <a:gd name="connsiteX42" fmla="*/ 103416 w 1424802"/>
              <a:gd name="connsiteY42" fmla="*/ 835292 h 1647823"/>
              <a:gd name="connsiteX43" fmla="*/ 102366 w 1424802"/>
              <a:gd name="connsiteY43" fmla="*/ 772661 h 1647823"/>
              <a:gd name="connsiteX44" fmla="*/ 83418 w 1424802"/>
              <a:gd name="connsiteY44" fmla="*/ 661188 h 1647823"/>
              <a:gd name="connsiteX45" fmla="*/ 34270 w 1424802"/>
              <a:gd name="connsiteY45" fmla="*/ 481795 h 1647823"/>
              <a:gd name="connsiteX0" fmla="*/ 34270 w 1424802"/>
              <a:gd name="connsiteY0" fmla="*/ 481795 h 1647823"/>
              <a:gd name="connsiteX1" fmla="*/ 24101 w 1424802"/>
              <a:gd name="connsiteY1" fmla="*/ 373288 h 1647823"/>
              <a:gd name="connsiteX2" fmla="*/ 40439 w 1424802"/>
              <a:gd name="connsiteY2" fmla="*/ 294708 h 1647823"/>
              <a:gd name="connsiteX3" fmla="*/ 105996 w 1424802"/>
              <a:gd name="connsiteY3" fmla="*/ 147354 h 1647823"/>
              <a:gd name="connsiteX4" fmla="*/ 299018 w 1424802"/>
              <a:gd name="connsiteY4" fmla="*/ 13062 h 1647823"/>
              <a:gd name="connsiteX5" fmla="*/ 551506 w 1424802"/>
              <a:gd name="connsiteY5" fmla="*/ 68982 h 1647823"/>
              <a:gd name="connsiteX6" fmla="*/ 620226 w 1424802"/>
              <a:gd name="connsiteY6" fmla="*/ 131022 h 1647823"/>
              <a:gd name="connsiteX7" fmla="*/ 659264 w 1424802"/>
              <a:gd name="connsiteY7" fmla="*/ 157115 h 1647823"/>
              <a:gd name="connsiteX8" fmla="*/ 741534 w 1424802"/>
              <a:gd name="connsiteY8" fmla="*/ 202885 h 1647823"/>
              <a:gd name="connsiteX9" fmla="*/ 824385 w 1424802"/>
              <a:gd name="connsiteY9" fmla="*/ 325338 h 1647823"/>
              <a:gd name="connsiteX10" fmla="*/ 841970 w 1424802"/>
              <a:gd name="connsiteY10" fmla="*/ 342923 h 1647823"/>
              <a:gd name="connsiteX11" fmla="*/ 847832 w 1424802"/>
              <a:gd name="connsiteY11" fmla="*/ 360507 h 1647823"/>
              <a:gd name="connsiteX12" fmla="*/ 1091559 w 1424802"/>
              <a:gd name="connsiteY12" fmla="*/ 805354 h 1647823"/>
              <a:gd name="connsiteX13" fmla="*/ 1235657 w 1424802"/>
              <a:gd name="connsiteY13" fmla="*/ 1021434 h 1647823"/>
              <a:gd name="connsiteX14" fmla="*/ 1307706 w 1424802"/>
              <a:gd name="connsiteY14" fmla="*/ 1093461 h 1647823"/>
              <a:gd name="connsiteX15" fmla="*/ 1353869 w 1424802"/>
              <a:gd name="connsiteY15" fmla="*/ 1173135 h 1647823"/>
              <a:gd name="connsiteX16" fmla="*/ 1379755 w 1424802"/>
              <a:gd name="connsiteY16" fmla="*/ 1237514 h 1647823"/>
              <a:gd name="connsiteX17" fmla="*/ 1410539 w 1424802"/>
              <a:gd name="connsiteY17" fmla="*/ 1351107 h 1647823"/>
              <a:gd name="connsiteX18" fmla="*/ 1404287 w 1424802"/>
              <a:gd name="connsiteY18" fmla="*/ 1474733 h 1647823"/>
              <a:gd name="connsiteX19" fmla="*/ 1185128 w 1424802"/>
              <a:gd name="connsiteY19" fmla="*/ 1593013 h 1647823"/>
              <a:gd name="connsiteX20" fmla="*/ 1112152 w 1424802"/>
              <a:gd name="connsiteY20" fmla="*/ 1601472 h 1647823"/>
              <a:gd name="connsiteX21" fmla="*/ 900585 w 1424802"/>
              <a:gd name="connsiteY21" fmla="*/ 1644184 h 1647823"/>
              <a:gd name="connsiteX22" fmla="*/ 883001 w 1424802"/>
              <a:gd name="connsiteY22" fmla="*/ 1638323 h 1647823"/>
              <a:gd name="connsiteX23" fmla="*/ 800939 w 1424802"/>
              <a:gd name="connsiteY23" fmla="*/ 1632461 h 1647823"/>
              <a:gd name="connsiteX24" fmla="*/ 630955 w 1424802"/>
              <a:gd name="connsiteY24" fmla="*/ 1626600 h 1647823"/>
              <a:gd name="connsiteX25" fmla="*/ 572339 w 1424802"/>
              <a:gd name="connsiteY25" fmla="*/ 1620738 h 1647823"/>
              <a:gd name="connsiteX26" fmla="*/ 477085 w 1424802"/>
              <a:gd name="connsiteY26" fmla="*/ 1597620 h 1647823"/>
              <a:gd name="connsiteX27" fmla="*/ 119310 w 1424802"/>
              <a:gd name="connsiteY27" fmla="*/ 1468046 h 1647823"/>
              <a:gd name="connsiteX28" fmla="*/ 88685 w 1424802"/>
              <a:gd name="connsiteY28" fmla="*/ 1418160 h 1647823"/>
              <a:gd name="connsiteX29" fmla="*/ 52096 w 1424802"/>
              <a:gd name="connsiteY29" fmla="*/ 1340132 h 1647823"/>
              <a:gd name="connsiteX30" fmla="*/ 9632 w 1424802"/>
              <a:gd name="connsiteY30" fmla="*/ 1169400 h 1647823"/>
              <a:gd name="connsiteX31" fmla="*/ 15493 w 1424802"/>
              <a:gd name="connsiteY31" fmla="*/ 1151815 h 1647823"/>
              <a:gd name="connsiteX32" fmla="*/ 21355 w 1424802"/>
              <a:gd name="connsiteY32" fmla="*/ 1099061 h 1647823"/>
              <a:gd name="connsiteX33" fmla="*/ 27216 w 1424802"/>
              <a:gd name="connsiteY33" fmla="*/ 1081477 h 1647823"/>
              <a:gd name="connsiteX34" fmla="*/ 33078 w 1424802"/>
              <a:gd name="connsiteY34" fmla="*/ 1046307 h 1647823"/>
              <a:gd name="connsiteX35" fmla="*/ 50662 w 1424802"/>
              <a:gd name="connsiteY35" fmla="*/ 1005277 h 1647823"/>
              <a:gd name="connsiteX36" fmla="*/ 62385 w 1424802"/>
              <a:gd name="connsiteY36" fmla="*/ 964246 h 1647823"/>
              <a:gd name="connsiteX37" fmla="*/ 74108 w 1424802"/>
              <a:gd name="connsiteY37" fmla="*/ 940800 h 1647823"/>
              <a:gd name="connsiteX38" fmla="*/ 85832 w 1424802"/>
              <a:gd name="connsiteY38" fmla="*/ 899769 h 1647823"/>
              <a:gd name="connsiteX39" fmla="*/ 91693 w 1424802"/>
              <a:gd name="connsiteY39" fmla="*/ 882184 h 1647823"/>
              <a:gd name="connsiteX40" fmla="*/ 97555 w 1424802"/>
              <a:gd name="connsiteY40" fmla="*/ 852877 h 1647823"/>
              <a:gd name="connsiteX41" fmla="*/ 103416 w 1424802"/>
              <a:gd name="connsiteY41" fmla="*/ 835292 h 1647823"/>
              <a:gd name="connsiteX42" fmla="*/ 102366 w 1424802"/>
              <a:gd name="connsiteY42" fmla="*/ 772661 h 1647823"/>
              <a:gd name="connsiteX43" fmla="*/ 83418 w 1424802"/>
              <a:gd name="connsiteY43" fmla="*/ 661188 h 1647823"/>
              <a:gd name="connsiteX44" fmla="*/ 34270 w 1424802"/>
              <a:gd name="connsiteY44" fmla="*/ 481795 h 1647823"/>
              <a:gd name="connsiteX0" fmla="*/ 34270 w 1415284"/>
              <a:gd name="connsiteY0" fmla="*/ 481795 h 1647823"/>
              <a:gd name="connsiteX1" fmla="*/ 24101 w 1415284"/>
              <a:gd name="connsiteY1" fmla="*/ 373288 h 1647823"/>
              <a:gd name="connsiteX2" fmla="*/ 40439 w 1415284"/>
              <a:gd name="connsiteY2" fmla="*/ 294708 h 1647823"/>
              <a:gd name="connsiteX3" fmla="*/ 105996 w 1415284"/>
              <a:gd name="connsiteY3" fmla="*/ 147354 h 1647823"/>
              <a:gd name="connsiteX4" fmla="*/ 299018 w 1415284"/>
              <a:gd name="connsiteY4" fmla="*/ 13062 h 1647823"/>
              <a:gd name="connsiteX5" fmla="*/ 551506 w 1415284"/>
              <a:gd name="connsiteY5" fmla="*/ 68982 h 1647823"/>
              <a:gd name="connsiteX6" fmla="*/ 620226 w 1415284"/>
              <a:gd name="connsiteY6" fmla="*/ 131022 h 1647823"/>
              <a:gd name="connsiteX7" fmla="*/ 659264 w 1415284"/>
              <a:gd name="connsiteY7" fmla="*/ 157115 h 1647823"/>
              <a:gd name="connsiteX8" fmla="*/ 741534 w 1415284"/>
              <a:gd name="connsiteY8" fmla="*/ 202885 h 1647823"/>
              <a:gd name="connsiteX9" fmla="*/ 824385 w 1415284"/>
              <a:gd name="connsiteY9" fmla="*/ 325338 h 1647823"/>
              <a:gd name="connsiteX10" fmla="*/ 841970 w 1415284"/>
              <a:gd name="connsiteY10" fmla="*/ 342923 h 1647823"/>
              <a:gd name="connsiteX11" fmla="*/ 847832 w 1415284"/>
              <a:gd name="connsiteY11" fmla="*/ 360507 h 1647823"/>
              <a:gd name="connsiteX12" fmla="*/ 1091559 w 1415284"/>
              <a:gd name="connsiteY12" fmla="*/ 805354 h 1647823"/>
              <a:gd name="connsiteX13" fmla="*/ 1235657 w 1415284"/>
              <a:gd name="connsiteY13" fmla="*/ 1021434 h 1647823"/>
              <a:gd name="connsiteX14" fmla="*/ 1307706 w 1415284"/>
              <a:gd name="connsiteY14" fmla="*/ 1093461 h 1647823"/>
              <a:gd name="connsiteX15" fmla="*/ 1353869 w 1415284"/>
              <a:gd name="connsiteY15" fmla="*/ 1173135 h 1647823"/>
              <a:gd name="connsiteX16" fmla="*/ 1379755 w 1415284"/>
              <a:gd name="connsiteY16" fmla="*/ 1237514 h 1647823"/>
              <a:gd name="connsiteX17" fmla="*/ 1410539 w 1415284"/>
              <a:gd name="connsiteY17" fmla="*/ 1351107 h 1647823"/>
              <a:gd name="connsiteX18" fmla="*/ 1382217 w 1415284"/>
              <a:gd name="connsiteY18" fmla="*/ 1471846 h 1647823"/>
              <a:gd name="connsiteX19" fmla="*/ 1185128 w 1415284"/>
              <a:gd name="connsiteY19" fmla="*/ 1593013 h 1647823"/>
              <a:gd name="connsiteX20" fmla="*/ 1112152 w 1415284"/>
              <a:gd name="connsiteY20" fmla="*/ 1601472 h 1647823"/>
              <a:gd name="connsiteX21" fmla="*/ 900585 w 1415284"/>
              <a:gd name="connsiteY21" fmla="*/ 1644184 h 1647823"/>
              <a:gd name="connsiteX22" fmla="*/ 883001 w 1415284"/>
              <a:gd name="connsiteY22" fmla="*/ 1638323 h 1647823"/>
              <a:gd name="connsiteX23" fmla="*/ 800939 w 1415284"/>
              <a:gd name="connsiteY23" fmla="*/ 1632461 h 1647823"/>
              <a:gd name="connsiteX24" fmla="*/ 630955 w 1415284"/>
              <a:gd name="connsiteY24" fmla="*/ 1626600 h 1647823"/>
              <a:gd name="connsiteX25" fmla="*/ 572339 w 1415284"/>
              <a:gd name="connsiteY25" fmla="*/ 1620738 h 1647823"/>
              <a:gd name="connsiteX26" fmla="*/ 477085 w 1415284"/>
              <a:gd name="connsiteY26" fmla="*/ 1597620 h 1647823"/>
              <a:gd name="connsiteX27" fmla="*/ 119310 w 1415284"/>
              <a:gd name="connsiteY27" fmla="*/ 1468046 h 1647823"/>
              <a:gd name="connsiteX28" fmla="*/ 88685 w 1415284"/>
              <a:gd name="connsiteY28" fmla="*/ 1418160 h 1647823"/>
              <a:gd name="connsiteX29" fmla="*/ 52096 w 1415284"/>
              <a:gd name="connsiteY29" fmla="*/ 1340132 h 1647823"/>
              <a:gd name="connsiteX30" fmla="*/ 9632 w 1415284"/>
              <a:gd name="connsiteY30" fmla="*/ 1169400 h 1647823"/>
              <a:gd name="connsiteX31" fmla="*/ 15493 w 1415284"/>
              <a:gd name="connsiteY31" fmla="*/ 1151815 h 1647823"/>
              <a:gd name="connsiteX32" fmla="*/ 21355 w 1415284"/>
              <a:gd name="connsiteY32" fmla="*/ 1099061 h 1647823"/>
              <a:gd name="connsiteX33" fmla="*/ 27216 w 1415284"/>
              <a:gd name="connsiteY33" fmla="*/ 1081477 h 1647823"/>
              <a:gd name="connsiteX34" fmla="*/ 33078 w 1415284"/>
              <a:gd name="connsiteY34" fmla="*/ 1046307 h 1647823"/>
              <a:gd name="connsiteX35" fmla="*/ 50662 w 1415284"/>
              <a:gd name="connsiteY35" fmla="*/ 1005277 h 1647823"/>
              <a:gd name="connsiteX36" fmla="*/ 62385 w 1415284"/>
              <a:gd name="connsiteY36" fmla="*/ 964246 h 1647823"/>
              <a:gd name="connsiteX37" fmla="*/ 74108 w 1415284"/>
              <a:gd name="connsiteY37" fmla="*/ 940800 h 1647823"/>
              <a:gd name="connsiteX38" fmla="*/ 85832 w 1415284"/>
              <a:gd name="connsiteY38" fmla="*/ 899769 h 1647823"/>
              <a:gd name="connsiteX39" fmla="*/ 91693 w 1415284"/>
              <a:gd name="connsiteY39" fmla="*/ 882184 h 1647823"/>
              <a:gd name="connsiteX40" fmla="*/ 97555 w 1415284"/>
              <a:gd name="connsiteY40" fmla="*/ 852877 h 1647823"/>
              <a:gd name="connsiteX41" fmla="*/ 103416 w 1415284"/>
              <a:gd name="connsiteY41" fmla="*/ 835292 h 1647823"/>
              <a:gd name="connsiteX42" fmla="*/ 102366 w 1415284"/>
              <a:gd name="connsiteY42" fmla="*/ 772661 h 1647823"/>
              <a:gd name="connsiteX43" fmla="*/ 83418 w 1415284"/>
              <a:gd name="connsiteY43" fmla="*/ 661188 h 1647823"/>
              <a:gd name="connsiteX44" fmla="*/ 34270 w 1415284"/>
              <a:gd name="connsiteY44" fmla="*/ 481795 h 164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415284" h="1647823">
                <a:moveTo>
                  <a:pt x="34270" y="481795"/>
                </a:moveTo>
                <a:cubicBezTo>
                  <a:pt x="33776" y="462417"/>
                  <a:pt x="23618" y="401739"/>
                  <a:pt x="24101" y="373288"/>
                </a:cubicBezTo>
                <a:cubicBezTo>
                  <a:pt x="17513" y="343760"/>
                  <a:pt x="26790" y="332364"/>
                  <a:pt x="40439" y="294708"/>
                </a:cubicBezTo>
                <a:cubicBezTo>
                  <a:pt x="64456" y="282704"/>
                  <a:pt x="68379" y="156025"/>
                  <a:pt x="105996" y="147354"/>
                </a:cubicBezTo>
                <a:cubicBezTo>
                  <a:pt x="82806" y="51492"/>
                  <a:pt x="275002" y="25066"/>
                  <a:pt x="299018" y="13062"/>
                </a:cubicBezTo>
                <a:cubicBezTo>
                  <a:pt x="373270" y="0"/>
                  <a:pt x="497972" y="49322"/>
                  <a:pt x="551506" y="68982"/>
                </a:cubicBezTo>
                <a:cubicBezTo>
                  <a:pt x="592513" y="71911"/>
                  <a:pt x="580936" y="122291"/>
                  <a:pt x="620226" y="131022"/>
                </a:cubicBezTo>
                <a:cubicBezTo>
                  <a:pt x="626258" y="132362"/>
                  <a:pt x="653303" y="155489"/>
                  <a:pt x="659264" y="157115"/>
                </a:cubicBezTo>
                <a:cubicBezTo>
                  <a:pt x="683280" y="157115"/>
                  <a:pt x="725737" y="181686"/>
                  <a:pt x="741534" y="202885"/>
                </a:cubicBezTo>
                <a:cubicBezTo>
                  <a:pt x="769054" y="230922"/>
                  <a:pt x="805942" y="294370"/>
                  <a:pt x="824385" y="325338"/>
                </a:cubicBezTo>
                <a:cubicBezTo>
                  <a:pt x="830247" y="331200"/>
                  <a:pt x="837372" y="336026"/>
                  <a:pt x="841970" y="342923"/>
                </a:cubicBezTo>
                <a:cubicBezTo>
                  <a:pt x="845397" y="348064"/>
                  <a:pt x="806234" y="283435"/>
                  <a:pt x="847832" y="360507"/>
                </a:cubicBezTo>
                <a:cubicBezTo>
                  <a:pt x="889430" y="437579"/>
                  <a:pt x="1026922" y="695200"/>
                  <a:pt x="1091559" y="805354"/>
                </a:cubicBezTo>
                <a:cubicBezTo>
                  <a:pt x="1095627" y="853962"/>
                  <a:pt x="1199633" y="973416"/>
                  <a:pt x="1235657" y="1021434"/>
                </a:cubicBezTo>
                <a:cubicBezTo>
                  <a:pt x="1237080" y="1055670"/>
                  <a:pt x="1288004" y="1068178"/>
                  <a:pt x="1307706" y="1093461"/>
                </a:cubicBezTo>
                <a:cubicBezTo>
                  <a:pt x="1315314" y="1146725"/>
                  <a:pt x="1337777" y="1124859"/>
                  <a:pt x="1353869" y="1173135"/>
                </a:cubicBezTo>
                <a:cubicBezTo>
                  <a:pt x="1365877" y="1197144"/>
                  <a:pt x="1370310" y="1207852"/>
                  <a:pt x="1379755" y="1237514"/>
                </a:cubicBezTo>
                <a:cubicBezTo>
                  <a:pt x="1377801" y="1288314"/>
                  <a:pt x="1415284" y="1300491"/>
                  <a:pt x="1410539" y="1351107"/>
                </a:cubicBezTo>
                <a:cubicBezTo>
                  <a:pt x="1394908" y="1415584"/>
                  <a:pt x="1402732" y="1428861"/>
                  <a:pt x="1382217" y="1471846"/>
                </a:cubicBezTo>
                <a:cubicBezTo>
                  <a:pt x="1344649" y="1512164"/>
                  <a:pt x="1233817" y="1571890"/>
                  <a:pt x="1185128" y="1593013"/>
                </a:cubicBezTo>
                <a:cubicBezTo>
                  <a:pt x="1164705" y="1587848"/>
                  <a:pt x="1159576" y="1592944"/>
                  <a:pt x="1112152" y="1601472"/>
                </a:cubicBezTo>
                <a:cubicBezTo>
                  <a:pt x="1032044" y="1599518"/>
                  <a:pt x="980634" y="1647823"/>
                  <a:pt x="900585" y="1644184"/>
                </a:cubicBezTo>
                <a:cubicBezTo>
                  <a:pt x="894413" y="1643903"/>
                  <a:pt x="889137" y="1639045"/>
                  <a:pt x="883001" y="1638323"/>
                </a:cubicBezTo>
                <a:cubicBezTo>
                  <a:pt x="855765" y="1635119"/>
                  <a:pt x="828333" y="1633735"/>
                  <a:pt x="800939" y="1632461"/>
                </a:cubicBezTo>
                <a:cubicBezTo>
                  <a:pt x="744305" y="1629827"/>
                  <a:pt x="687616" y="1628554"/>
                  <a:pt x="630955" y="1626600"/>
                </a:cubicBezTo>
                <a:cubicBezTo>
                  <a:pt x="611416" y="1624646"/>
                  <a:pt x="591639" y="1624357"/>
                  <a:pt x="572339" y="1620738"/>
                </a:cubicBezTo>
                <a:cubicBezTo>
                  <a:pt x="560194" y="1618461"/>
                  <a:pt x="488808" y="1601528"/>
                  <a:pt x="477085" y="1597620"/>
                </a:cubicBezTo>
                <a:cubicBezTo>
                  <a:pt x="390139" y="1573197"/>
                  <a:pt x="193266" y="1496377"/>
                  <a:pt x="119310" y="1468046"/>
                </a:cubicBezTo>
                <a:cubicBezTo>
                  <a:pt x="114003" y="1461678"/>
                  <a:pt x="94546" y="1424022"/>
                  <a:pt x="88685" y="1418160"/>
                </a:cubicBezTo>
                <a:cubicBezTo>
                  <a:pt x="77483" y="1396841"/>
                  <a:pt x="61997" y="1384253"/>
                  <a:pt x="52096" y="1340132"/>
                </a:cubicBezTo>
                <a:cubicBezTo>
                  <a:pt x="43520" y="1245807"/>
                  <a:pt x="0" y="1294619"/>
                  <a:pt x="9632" y="1169400"/>
                </a:cubicBezTo>
                <a:cubicBezTo>
                  <a:pt x="10106" y="1163240"/>
                  <a:pt x="13539" y="1157677"/>
                  <a:pt x="15493" y="1151815"/>
                </a:cubicBezTo>
                <a:cubicBezTo>
                  <a:pt x="17447" y="1134230"/>
                  <a:pt x="18446" y="1116513"/>
                  <a:pt x="21355" y="1099061"/>
                </a:cubicBezTo>
                <a:cubicBezTo>
                  <a:pt x="22371" y="1092967"/>
                  <a:pt x="25876" y="1087508"/>
                  <a:pt x="27216" y="1081477"/>
                </a:cubicBezTo>
                <a:cubicBezTo>
                  <a:pt x="29794" y="1069875"/>
                  <a:pt x="30500" y="1057909"/>
                  <a:pt x="33078" y="1046307"/>
                </a:cubicBezTo>
                <a:cubicBezTo>
                  <a:pt x="37308" y="1027272"/>
                  <a:pt x="42390" y="1024577"/>
                  <a:pt x="50662" y="1005277"/>
                </a:cubicBezTo>
                <a:cubicBezTo>
                  <a:pt x="64837" y="972203"/>
                  <a:pt x="47509" y="1003917"/>
                  <a:pt x="62385" y="964246"/>
                </a:cubicBezTo>
                <a:cubicBezTo>
                  <a:pt x="65453" y="956065"/>
                  <a:pt x="70666" y="948831"/>
                  <a:pt x="74108" y="940800"/>
                </a:cubicBezTo>
                <a:cubicBezTo>
                  <a:pt x="80131" y="926747"/>
                  <a:pt x="81583" y="914640"/>
                  <a:pt x="85832" y="899769"/>
                </a:cubicBezTo>
                <a:cubicBezTo>
                  <a:pt x="87529" y="893828"/>
                  <a:pt x="90194" y="888178"/>
                  <a:pt x="91693" y="882184"/>
                </a:cubicBezTo>
                <a:cubicBezTo>
                  <a:pt x="94109" y="872519"/>
                  <a:pt x="95139" y="862542"/>
                  <a:pt x="97555" y="852877"/>
                </a:cubicBezTo>
                <a:cubicBezTo>
                  <a:pt x="99054" y="846883"/>
                  <a:pt x="101719" y="841233"/>
                  <a:pt x="103416" y="835292"/>
                </a:cubicBezTo>
                <a:cubicBezTo>
                  <a:pt x="105629" y="827546"/>
                  <a:pt x="100618" y="780525"/>
                  <a:pt x="102366" y="772661"/>
                </a:cubicBezTo>
                <a:cubicBezTo>
                  <a:pt x="104527" y="762935"/>
                  <a:pt x="80797" y="670800"/>
                  <a:pt x="83418" y="661188"/>
                </a:cubicBezTo>
                <a:cubicBezTo>
                  <a:pt x="72069" y="612710"/>
                  <a:pt x="44156" y="529778"/>
                  <a:pt x="34270" y="481795"/>
                </a:cubicBezTo>
                <a:close/>
              </a:path>
            </a:pathLst>
          </a:custGeom>
          <a:solidFill>
            <a:srgbClr val="92D050"/>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b="1">
              <a:latin typeface="微软雅黑" panose="020B0503020204020204" pitchFamily="34" charset="-122"/>
              <a:ea typeface="微软雅黑" panose="020B0503020204020204" pitchFamily="34" charset="-122"/>
            </a:endParaRPr>
          </a:p>
        </p:txBody>
      </p:sp>
      <p:sp>
        <p:nvSpPr>
          <p:cNvPr id="46" name="Line 42"/>
          <p:cNvSpPr>
            <a:spLocks noChangeShapeType="1"/>
          </p:cNvSpPr>
          <p:nvPr/>
        </p:nvSpPr>
        <p:spPr bwMode="auto">
          <a:xfrm>
            <a:off x="3343311" y="1700144"/>
            <a:ext cx="689447" cy="8396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7" name="Line 8"/>
          <p:cNvSpPr>
            <a:spLocks noChangeShapeType="1"/>
          </p:cNvSpPr>
          <p:nvPr/>
        </p:nvSpPr>
        <p:spPr bwMode="auto">
          <a:xfrm flipV="1">
            <a:off x="3343311" y="2325232"/>
            <a:ext cx="1666163" cy="5037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8" name="Line 15"/>
          <p:cNvSpPr>
            <a:spLocks noChangeShapeType="1"/>
          </p:cNvSpPr>
          <p:nvPr/>
        </p:nvSpPr>
        <p:spPr bwMode="auto">
          <a:xfrm flipH="1">
            <a:off x="1810642" y="2375611"/>
            <a:ext cx="611715" cy="8583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9" name="Line 16"/>
          <p:cNvSpPr>
            <a:spLocks noChangeShapeType="1"/>
          </p:cNvSpPr>
          <p:nvPr/>
        </p:nvSpPr>
        <p:spPr bwMode="auto">
          <a:xfrm>
            <a:off x="2576131" y="2375611"/>
            <a:ext cx="0" cy="4235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50" name="Line 17"/>
          <p:cNvSpPr>
            <a:spLocks noChangeShapeType="1"/>
          </p:cNvSpPr>
          <p:nvPr/>
        </p:nvSpPr>
        <p:spPr bwMode="auto">
          <a:xfrm flipH="1">
            <a:off x="4017549" y="2375611"/>
            <a:ext cx="934471" cy="4235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51" name="Line 18"/>
          <p:cNvSpPr>
            <a:spLocks noChangeShapeType="1"/>
          </p:cNvSpPr>
          <p:nvPr/>
        </p:nvSpPr>
        <p:spPr bwMode="auto">
          <a:xfrm flipH="1">
            <a:off x="4783038" y="2375611"/>
            <a:ext cx="246714" cy="4235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52" name="Line 19"/>
          <p:cNvSpPr>
            <a:spLocks noChangeShapeType="1"/>
          </p:cNvSpPr>
          <p:nvPr/>
        </p:nvSpPr>
        <p:spPr bwMode="auto">
          <a:xfrm>
            <a:off x="5029752" y="2375611"/>
            <a:ext cx="613405" cy="5933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53" name="Line 20"/>
          <p:cNvSpPr>
            <a:spLocks noChangeShapeType="1"/>
          </p:cNvSpPr>
          <p:nvPr/>
        </p:nvSpPr>
        <p:spPr bwMode="auto">
          <a:xfrm>
            <a:off x="5105793" y="2375611"/>
            <a:ext cx="843221" cy="3396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54" name="Line 23"/>
          <p:cNvSpPr>
            <a:spLocks noChangeShapeType="1"/>
          </p:cNvSpPr>
          <p:nvPr/>
        </p:nvSpPr>
        <p:spPr bwMode="auto">
          <a:xfrm flipH="1">
            <a:off x="3265579" y="1614311"/>
            <a:ext cx="0" cy="67733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55" name="Picture 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579137" y="2121844"/>
            <a:ext cx="474839" cy="511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 name="Picture 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331107" y="2629378"/>
            <a:ext cx="474841" cy="511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 name="Picture 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74174" y="2881279"/>
            <a:ext cx="474841" cy="511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553222" y="2629378"/>
            <a:ext cx="474839" cy="511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1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787733" y="2629378"/>
            <a:ext cx="474841" cy="511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1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795240" y="2375611"/>
            <a:ext cx="474841" cy="50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Line 21"/>
          <p:cNvSpPr>
            <a:spLocks noChangeShapeType="1"/>
          </p:cNvSpPr>
          <p:nvPr/>
        </p:nvSpPr>
        <p:spPr bwMode="auto">
          <a:xfrm>
            <a:off x="6317396" y="2799179"/>
            <a:ext cx="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62" name="Picture 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35763" y="2207677"/>
            <a:ext cx="473150" cy="307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3" name="Picture 1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649168" y="1360544"/>
            <a:ext cx="474841" cy="511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 name="Text Box 27"/>
          <p:cNvSpPr txBox="1">
            <a:spLocks noChangeArrowheads="1"/>
          </p:cNvSpPr>
          <p:nvPr/>
        </p:nvSpPr>
        <p:spPr bwMode="auto">
          <a:xfrm>
            <a:off x="4919833" y="1265382"/>
            <a:ext cx="1303608"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2400"/>
              </a:lnSpc>
            </a:pPr>
            <a:r>
              <a:rPr lang="zh-CN" altLang="en-US" sz="1600" b="1" dirty="0">
                <a:latin typeface="微软雅黑" panose="020B0503020204020204" pitchFamily="34" charset="-122"/>
                <a:ea typeface="微软雅黑" panose="020B0503020204020204" pitchFamily="34" charset="-122"/>
              </a:rPr>
              <a:t>多播组 </a:t>
            </a:r>
            <a:r>
              <a:rPr lang="en-US" altLang="zh-CN" sz="1600" b="1" dirty="0">
                <a:latin typeface="微软雅黑" panose="020B0503020204020204" pitchFamily="34" charset="-122"/>
                <a:ea typeface="微软雅黑" panose="020B0503020204020204" pitchFamily="34" charset="-122"/>
                <a:cs typeface="Times New Roman" panose="02020603050405020304" pitchFamily="18" charset="0"/>
              </a:rPr>
              <a:t>M</a:t>
            </a:r>
            <a:r>
              <a:rPr lang="en-US" altLang="zh-CN" sz="1600" b="1" baseline="-25000" dirty="0">
                <a:latin typeface="微软雅黑" panose="020B0503020204020204" pitchFamily="34" charset="-122"/>
                <a:ea typeface="微软雅黑" panose="020B0503020204020204" pitchFamily="34" charset="-122"/>
                <a:cs typeface="Times New Roman" panose="02020603050405020304" pitchFamily="18" charset="0"/>
              </a:rPr>
              <a:t>1</a:t>
            </a:r>
            <a:endParaRPr lang="en-US" altLang="zh-CN" sz="1600" b="1" dirty="0">
              <a:latin typeface="微软雅黑" panose="020B0503020204020204" pitchFamily="34" charset="-122"/>
              <a:ea typeface="微软雅黑" panose="020B0503020204020204" pitchFamily="34" charset="-122"/>
              <a:cs typeface="Times New Roman" panose="02020603050405020304" pitchFamily="18" charset="0"/>
            </a:endParaRPr>
          </a:p>
          <a:p>
            <a:pPr algn="ctr" eaLnBrk="1" hangingPunct="1">
              <a:lnSpc>
                <a:spcPts val="2400"/>
              </a:lnSpc>
            </a:pPr>
            <a:r>
              <a:rPr lang="en-US" altLang="zh-CN" sz="1600" b="1" dirty="0">
                <a:latin typeface="微软雅黑" panose="020B0503020204020204" pitchFamily="34" charset="-122"/>
                <a:ea typeface="微软雅黑" panose="020B0503020204020204" pitchFamily="34" charset="-122"/>
                <a:cs typeface="Times New Roman" panose="02020603050405020304" pitchFamily="18" charset="0"/>
              </a:rPr>
              <a:t>(A, B, C)</a:t>
            </a:r>
          </a:p>
        </p:txBody>
      </p:sp>
      <p:sp>
        <p:nvSpPr>
          <p:cNvPr id="66" name="Text Box 32"/>
          <p:cNvSpPr txBox="1">
            <a:spLocks noChangeArrowheads="1"/>
          </p:cNvSpPr>
          <p:nvPr/>
        </p:nvSpPr>
        <p:spPr bwMode="auto">
          <a:xfrm>
            <a:off x="4071855" y="1530345"/>
            <a:ext cx="348270"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A</a:t>
            </a:r>
          </a:p>
        </p:txBody>
      </p:sp>
      <p:sp>
        <p:nvSpPr>
          <p:cNvPr id="67" name="Text Box 33"/>
          <p:cNvSpPr txBox="1">
            <a:spLocks noChangeArrowheads="1"/>
          </p:cNvSpPr>
          <p:nvPr/>
        </p:nvSpPr>
        <p:spPr bwMode="auto">
          <a:xfrm>
            <a:off x="3576389" y="2567708"/>
            <a:ext cx="335078"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B</a:t>
            </a:r>
          </a:p>
        </p:txBody>
      </p:sp>
      <p:sp>
        <p:nvSpPr>
          <p:cNvPr id="68" name="Text Box 34"/>
          <p:cNvSpPr txBox="1">
            <a:spLocks noChangeArrowheads="1"/>
          </p:cNvSpPr>
          <p:nvPr/>
        </p:nvSpPr>
        <p:spPr bwMode="auto">
          <a:xfrm>
            <a:off x="4367342" y="2560339"/>
            <a:ext cx="331779"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C</a:t>
            </a:r>
          </a:p>
        </p:txBody>
      </p:sp>
      <p:sp>
        <p:nvSpPr>
          <p:cNvPr id="69" name="Text Box 35"/>
          <p:cNvSpPr txBox="1">
            <a:spLocks noChangeArrowheads="1"/>
          </p:cNvSpPr>
          <p:nvPr/>
        </p:nvSpPr>
        <p:spPr bwMode="auto">
          <a:xfrm>
            <a:off x="5213942" y="2827167"/>
            <a:ext cx="356515"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D</a:t>
            </a:r>
          </a:p>
        </p:txBody>
      </p:sp>
      <p:sp>
        <p:nvSpPr>
          <p:cNvPr id="70" name="Text Box 36"/>
          <p:cNvSpPr txBox="1">
            <a:spLocks noChangeArrowheads="1"/>
          </p:cNvSpPr>
          <p:nvPr/>
        </p:nvSpPr>
        <p:spPr bwMode="auto">
          <a:xfrm>
            <a:off x="5565424" y="2291645"/>
            <a:ext cx="310344"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E</a:t>
            </a:r>
          </a:p>
        </p:txBody>
      </p:sp>
      <p:sp>
        <p:nvSpPr>
          <p:cNvPr id="71" name="Text Box 37"/>
          <p:cNvSpPr txBox="1">
            <a:spLocks noChangeArrowheads="1"/>
          </p:cNvSpPr>
          <p:nvPr/>
        </p:nvSpPr>
        <p:spPr bwMode="auto">
          <a:xfrm>
            <a:off x="1372747" y="2084058"/>
            <a:ext cx="351567"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G</a:t>
            </a:r>
          </a:p>
        </p:txBody>
      </p:sp>
      <p:sp>
        <p:nvSpPr>
          <p:cNvPr id="72" name="Text Box 38"/>
          <p:cNvSpPr txBox="1">
            <a:spLocks noChangeArrowheads="1"/>
          </p:cNvSpPr>
          <p:nvPr/>
        </p:nvSpPr>
        <p:spPr bwMode="auto">
          <a:xfrm>
            <a:off x="2116501" y="2558472"/>
            <a:ext cx="307045"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F</a:t>
            </a:r>
          </a:p>
        </p:txBody>
      </p:sp>
      <p:sp>
        <p:nvSpPr>
          <p:cNvPr id="73" name="Text Box 39"/>
          <p:cNvSpPr txBox="1">
            <a:spLocks noChangeArrowheads="1"/>
          </p:cNvSpPr>
          <p:nvPr/>
        </p:nvSpPr>
        <p:spPr bwMode="auto">
          <a:xfrm>
            <a:off x="3192064" y="1251042"/>
            <a:ext cx="457104"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dirty="0">
                <a:solidFill>
                  <a:srgbClr val="0000FF"/>
                </a:solidFill>
                <a:latin typeface="微软雅黑" panose="020B0503020204020204" pitchFamily="34" charset="-122"/>
                <a:ea typeface="微软雅黑" panose="020B0503020204020204" pitchFamily="34" charset="-122"/>
              </a:rPr>
              <a:t>N</a:t>
            </a:r>
            <a:r>
              <a:rPr lang="en-US" altLang="zh-CN" sz="1600" b="1" baseline="-25000" dirty="0">
                <a:solidFill>
                  <a:srgbClr val="0000FF"/>
                </a:solidFill>
                <a:latin typeface="微软雅黑" panose="020B0503020204020204" pitchFamily="34" charset="-122"/>
                <a:ea typeface="微软雅黑" panose="020B0503020204020204" pitchFamily="34" charset="-122"/>
              </a:rPr>
              <a:t>1</a:t>
            </a:r>
          </a:p>
        </p:txBody>
      </p:sp>
      <p:sp>
        <p:nvSpPr>
          <p:cNvPr id="74" name="Text Box 41"/>
          <p:cNvSpPr txBox="1">
            <a:spLocks noChangeArrowheads="1"/>
          </p:cNvSpPr>
          <p:nvPr/>
        </p:nvSpPr>
        <p:spPr bwMode="auto">
          <a:xfrm>
            <a:off x="2056932" y="1828894"/>
            <a:ext cx="457104"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dirty="0">
                <a:solidFill>
                  <a:srgbClr val="0000FF"/>
                </a:solidFill>
                <a:latin typeface="微软雅黑" panose="020B0503020204020204" pitchFamily="34" charset="-122"/>
                <a:ea typeface="微软雅黑" panose="020B0503020204020204" pitchFamily="34" charset="-122"/>
              </a:rPr>
              <a:t>N</a:t>
            </a:r>
            <a:r>
              <a:rPr lang="en-US" altLang="zh-CN" sz="1600" b="1" baseline="-25000" dirty="0">
                <a:solidFill>
                  <a:srgbClr val="0000FF"/>
                </a:solidFill>
                <a:latin typeface="微软雅黑" panose="020B0503020204020204" pitchFamily="34" charset="-122"/>
                <a:ea typeface="微软雅黑" panose="020B0503020204020204" pitchFamily="34" charset="-122"/>
              </a:rPr>
              <a:t>3</a:t>
            </a:r>
          </a:p>
        </p:txBody>
      </p:sp>
      <p:sp>
        <p:nvSpPr>
          <p:cNvPr id="75" name="Text Box 43"/>
          <p:cNvSpPr txBox="1">
            <a:spLocks noChangeArrowheads="1"/>
          </p:cNvSpPr>
          <p:nvPr/>
        </p:nvSpPr>
        <p:spPr bwMode="auto">
          <a:xfrm>
            <a:off x="3003656" y="1960719"/>
            <a:ext cx="336727"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dirty="0">
                <a:solidFill>
                  <a:srgbClr val="990099"/>
                </a:solidFill>
                <a:latin typeface="微软雅黑" panose="020B0503020204020204" pitchFamily="34" charset="-122"/>
                <a:ea typeface="微软雅黑" panose="020B0503020204020204" pitchFamily="34" charset="-122"/>
              </a:rPr>
              <a:t>R</a:t>
            </a:r>
            <a:endParaRPr lang="en-US" altLang="zh-CN" sz="1600" b="1" baseline="-25000" dirty="0">
              <a:solidFill>
                <a:srgbClr val="990099"/>
              </a:solidFill>
              <a:latin typeface="微软雅黑" panose="020B0503020204020204" pitchFamily="34" charset="-122"/>
              <a:ea typeface="微软雅黑" panose="020B0503020204020204" pitchFamily="34" charset="-122"/>
            </a:endParaRPr>
          </a:p>
        </p:txBody>
      </p:sp>
      <p:cxnSp>
        <p:nvCxnSpPr>
          <p:cNvPr id="76" name="直接箭头连接符 75"/>
          <p:cNvCxnSpPr/>
          <p:nvPr/>
        </p:nvCxnSpPr>
        <p:spPr>
          <a:xfrm flipH="1">
            <a:off x="4421417" y="1640434"/>
            <a:ext cx="618475" cy="361991"/>
          </a:xfrm>
          <a:prstGeom prst="straightConnector1">
            <a:avLst/>
          </a:prstGeom>
          <a:ln>
            <a:solidFill>
              <a:schemeClr val="tx1"/>
            </a:solidFill>
            <a:headEnd type="none" w="med" len="med"/>
            <a:tailEnd type="triangle" w="med" len="lg"/>
          </a:ln>
        </p:spPr>
        <p:style>
          <a:lnRef idx="1">
            <a:schemeClr val="accent1"/>
          </a:lnRef>
          <a:fillRef idx="0">
            <a:schemeClr val="accent1"/>
          </a:fillRef>
          <a:effectRef idx="0">
            <a:schemeClr val="accent1"/>
          </a:effectRef>
          <a:fontRef idx="minor">
            <a:schemeClr val="tx1"/>
          </a:fontRef>
        </p:style>
      </p:cxnSp>
      <p:pic>
        <p:nvPicPr>
          <p:cNvPr id="78"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837112" y="2246863"/>
            <a:ext cx="424144" cy="1940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90"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346316" y="2207677"/>
            <a:ext cx="424144" cy="1940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91"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059421" y="1552736"/>
            <a:ext cx="424144" cy="1940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92" name="Text Box 40"/>
          <p:cNvSpPr txBox="1">
            <a:spLocks noChangeArrowheads="1"/>
          </p:cNvSpPr>
          <p:nvPr/>
        </p:nvSpPr>
        <p:spPr bwMode="auto">
          <a:xfrm>
            <a:off x="5216626" y="2009327"/>
            <a:ext cx="457104"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dirty="0">
                <a:solidFill>
                  <a:srgbClr val="0000FF"/>
                </a:solidFill>
                <a:latin typeface="微软雅黑" panose="020B0503020204020204" pitchFamily="34" charset="-122"/>
                <a:ea typeface="微软雅黑" panose="020B0503020204020204" pitchFamily="34" charset="-122"/>
              </a:rPr>
              <a:t>N</a:t>
            </a:r>
            <a:r>
              <a:rPr lang="en-US" altLang="zh-CN" sz="1600" b="1" baseline="-25000" dirty="0">
                <a:solidFill>
                  <a:srgbClr val="0000FF"/>
                </a:solidFill>
                <a:latin typeface="微软雅黑" panose="020B0503020204020204" pitchFamily="34" charset="-122"/>
                <a:ea typeface="微软雅黑" panose="020B0503020204020204" pitchFamily="34" charset="-122"/>
              </a:rPr>
              <a:t>2</a:t>
            </a:r>
          </a:p>
        </p:txBody>
      </p:sp>
      <p:cxnSp>
        <p:nvCxnSpPr>
          <p:cNvPr id="93" name="直接箭头连接符 92"/>
          <p:cNvCxnSpPr/>
          <p:nvPr/>
        </p:nvCxnSpPr>
        <p:spPr>
          <a:xfrm flipH="1">
            <a:off x="6266701" y="1978168"/>
            <a:ext cx="476530" cy="584036"/>
          </a:xfrm>
          <a:prstGeom prst="straightConnector1">
            <a:avLst/>
          </a:prstGeom>
          <a:ln>
            <a:solidFill>
              <a:schemeClr val="tx1"/>
            </a:solidFill>
            <a:headEnd type="none" w="med" len="med"/>
            <a:tailEnd type="triangle" w="med" len="lg"/>
          </a:ln>
        </p:spPr>
        <p:style>
          <a:lnRef idx="1">
            <a:schemeClr val="accent1"/>
          </a:lnRef>
          <a:fillRef idx="0">
            <a:schemeClr val="accent1"/>
          </a:fillRef>
          <a:effectRef idx="0">
            <a:schemeClr val="accent1"/>
          </a:effectRef>
          <a:fontRef idx="minor">
            <a:schemeClr val="tx1"/>
          </a:fontRef>
        </p:style>
      </p:cxnSp>
      <p:sp>
        <p:nvSpPr>
          <p:cNvPr id="94" name="椭圆 93"/>
          <p:cNvSpPr/>
          <p:nvPr/>
        </p:nvSpPr>
        <p:spPr>
          <a:xfrm rot="1662349">
            <a:off x="1323974" y="1858749"/>
            <a:ext cx="1769243" cy="1438633"/>
          </a:xfrm>
          <a:prstGeom prst="ellipse">
            <a:avLst/>
          </a:prstGeom>
          <a:noFill/>
          <a:ln w="127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b="1">
              <a:latin typeface="微软雅黑" panose="020B0503020204020204" pitchFamily="34" charset="-122"/>
              <a:ea typeface="微软雅黑" panose="020B0503020204020204" pitchFamily="34" charset="-122"/>
            </a:endParaRPr>
          </a:p>
        </p:txBody>
      </p:sp>
      <p:sp>
        <p:nvSpPr>
          <p:cNvPr id="95" name="椭圆 94"/>
          <p:cNvSpPr/>
          <p:nvPr/>
        </p:nvSpPr>
        <p:spPr>
          <a:xfrm>
            <a:off x="2729905" y="1276578"/>
            <a:ext cx="1762483" cy="761300"/>
          </a:xfrm>
          <a:prstGeom prst="ellipse">
            <a:avLst/>
          </a:prstGeom>
          <a:noFill/>
          <a:ln w="127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b="1">
              <a:latin typeface="微软雅黑" panose="020B0503020204020204" pitchFamily="34" charset="-122"/>
              <a:ea typeface="微软雅黑" panose="020B0503020204020204" pitchFamily="34" charset="-122"/>
            </a:endParaRPr>
          </a:p>
        </p:txBody>
      </p:sp>
      <p:sp>
        <p:nvSpPr>
          <p:cNvPr id="98" name="椭圆 97"/>
          <p:cNvSpPr/>
          <p:nvPr/>
        </p:nvSpPr>
        <p:spPr>
          <a:xfrm>
            <a:off x="3495394" y="2037878"/>
            <a:ext cx="3296840" cy="1490879"/>
          </a:xfrm>
          <a:prstGeom prst="ellipse">
            <a:avLst/>
          </a:prstGeom>
          <a:noFill/>
          <a:ln w="127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b="1">
              <a:latin typeface="微软雅黑" panose="020B0503020204020204" pitchFamily="34" charset="-122"/>
              <a:ea typeface="微软雅黑" panose="020B0503020204020204" pitchFamily="34" charset="-122"/>
            </a:endParaRPr>
          </a:p>
        </p:txBody>
      </p:sp>
      <p:sp>
        <p:nvSpPr>
          <p:cNvPr id="112" name="Text Box 27"/>
          <p:cNvSpPr txBox="1">
            <a:spLocks noChangeArrowheads="1"/>
          </p:cNvSpPr>
          <p:nvPr/>
        </p:nvSpPr>
        <p:spPr bwMode="auto">
          <a:xfrm>
            <a:off x="6509908" y="1569415"/>
            <a:ext cx="1303608"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2400"/>
              </a:lnSpc>
            </a:pPr>
            <a:r>
              <a:rPr lang="zh-CN" altLang="en-US" sz="1600" b="1" dirty="0">
                <a:latin typeface="微软雅黑" panose="020B0503020204020204" pitchFamily="34" charset="-122"/>
                <a:ea typeface="微软雅黑" panose="020B0503020204020204" pitchFamily="34" charset="-122"/>
              </a:rPr>
              <a:t>多播组 </a:t>
            </a:r>
            <a:r>
              <a:rPr lang="en-US" altLang="zh-CN" sz="1600" b="1" dirty="0">
                <a:latin typeface="微软雅黑" panose="020B0503020204020204" pitchFamily="34" charset="-122"/>
                <a:ea typeface="微软雅黑" panose="020B0503020204020204" pitchFamily="34" charset="-122"/>
                <a:cs typeface="Times New Roman" panose="02020603050405020304" pitchFamily="18" charset="0"/>
              </a:rPr>
              <a:t>M</a:t>
            </a:r>
            <a:r>
              <a:rPr lang="en-US" altLang="zh-CN" sz="1600" b="1" baseline="-25000" dirty="0">
                <a:latin typeface="微软雅黑" panose="020B0503020204020204" pitchFamily="34" charset="-122"/>
                <a:ea typeface="微软雅黑" panose="020B0503020204020204" pitchFamily="34" charset="-122"/>
                <a:cs typeface="Times New Roman" panose="02020603050405020304" pitchFamily="18" charset="0"/>
              </a:rPr>
              <a:t>2</a:t>
            </a:r>
            <a:endParaRPr lang="en-US" altLang="zh-CN" sz="1600" b="1" dirty="0">
              <a:latin typeface="微软雅黑" panose="020B0503020204020204" pitchFamily="34" charset="-122"/>
              <a:ea typeface="微软雅黑" panose="020B0503020204020204" pitchFamily="34" charset="-122"/>
              <a:cs typeface="Times New Roman" panose="02020603050405020304" pitchFamily="18" charset="0"/>
            </a:endParaRPr>
          </a:p>
          <a:p>
            <a:pPr algn="ctr" eaLnBrk="1" hangingPunct="1">
              <a:lnSpc>
                <a:spcPts val="2400"/>
              </a:lnSpc>
            </a:pPr>
            <a:r>
              <a:rPr lang="en-US" altLang="zh-CN" sz="1600" b="1" dirty="0">
                <a:latin typeface="微软雅黑" panose="020B0503020204020204" pitchFamily="34" charset="-122"/>
                <a:ea typeface="微软雅黑" panose="020B0503020204020204" pitchFamily="34" charset="-122"/>
                <a:cs typeface="Times New Roman" panose="02020603050405020304" pitchFamily="18" charset="0"/>
              </a:rPr>
              <a:t>(D, E, F)</a:t>
            </a:r>
          </a:p>
        </p:txBody>
      </p:sp>
      <p:sp>
        <p:nvSpPr>
          <p:cNvPr id="7" name="矩形 6"/>
          <p:cNvSpPr/>
          <p:nvPr/>
        </p:nvSpPr>
        <p:spPr>
          <a:xfrm>
            <a:off x="1579733" y="3968371"/>
            <a:ext cx="6002874" cy="707886"/>
          </a:xfrm>
          <a:prstGeom prst="rect">
            <a:avLst/>
          </a:prstGeom>
        </p:spPr>
        <p:txBody>
          <a:bodyPr wrap="square">
            <a:spAutoFit/>
          </a:bodyPr>
          <a:lstStyle/>
          <a:p>
            <a:pPr>
              <a:lnSpc>
                <a:spcPts val="2400"/>
              </a:lnSpc>
            </a:pPr>
            <a:r>
              <a:rPr lang="zh-CN" altLang="en-US" b="1" dirty="0">
                <a:latin typeface="微软雅黑" panose="020B0503020204020204" pitchFamily="34" charset="-122"/>
                <a:ea typeface="微软雅黑" panose="020B0503020204020204" pitchFamily="34" charset="-122"/>
              </a:rPr>
              <a:t>路由器 </a:t>
            </a:r>
            <a:r>
              <a:rPr lang="en-US" altLang="zh-CN" b="1" dirty="0">
                <a:latin typeface="微软雅黑" panose="020B0503020204020204" pitchFamily="34" charset="-122"/>
                <a:ea typeface="微软雅黑" panose="020B0503020204020204" pitchFamily="34" charset="-122"/>
              </a:rPr>
              <a:t>R </a:t>
            </a:r>
            <a:r>
              <a:rPr lang="zh-CN" altLang="en-US" b="1" dirty="0">
                <a:latin typeface="微软雅黑" panose="020B0503020204020204" pitchFamily="34" charset="-122"/>
                <a:ea typeface="微软雅黑" panose="020B0503020204020204" pitchFamily="34" charset="-122"/>
              </a:rPr>
              <a:t>不应当向网络 </a:t>
            </a:r>
            <a:r>
              <a:rPr lang="en-US" altLang="zh-CN" b="1" dirty="0">
                <a:latin typeface="微软雅黑" panose="020B0503020204020204" pitchFamily="34" charset="-122"/>
                <a:ea typeface="微软雅黑" panose="020B0503020204020204" pitchFamily="34" charset="-122"/>
              </a:rPr>
              <a:t>N</a:t>
            </a:r>
            <a:r>
              <a:rPr lang="en-US" altLang="zh-CN" b="1" baseline="-25000" dirty="0">
                <a:latin typeface="微软雅黑" panose="020B0503020204020204" pitchFamily="34" charset="-122"/>
                <a:ea typeface="微软雅黑" panose="020B0503020204020204" pitchFamily="34" charset="-122"/>
              </a:rPr>
              <a:t>3</a:t>
            </a:r>
            <a:r>
              <a:rPr lang="en-US" altLang="zh-CN" b="1" dirty="0">
                <a:latin typeface="微软雅黑" panose="020B0503020204020204" pitchFamily="34" charset="-122"/>
                <a:ea typeface="微软雅黑" panose="020B0503020204020204" pitchFamily="34" charset="-122"/>
              </a:rPr>
              <a:t> </a:t>
            </a:r>
            <a:r>
              <a:rPr lang="zh-CN" altLang="en-US" b="1" dirty="0">
                <a:latin typeface="微软雅黑" panose="020B0503020204020204" pitchFamily="34" charset="-122"/>
                <a:ea typeface="微软雅黑" panose="020B0503020204020204" pitchFamily="34" charset="-122"/>
              </a:rPr>
              <a:t>转发多播组 </a:t>
            </a:r>
            <a:r>
              <a:rPr lang="en-US" altLang="zh-CN" b="1" dirty="0">
                <a:latin typeface="微软雅黑" panose="020B0503020204020204" pitchFamily="34" charset="-122"/>
                <a:ea typeface="微软雅黑" panose="020B0503020204020204" pitchFamily="34" charset="-122"/>
              </a:rPr>
              <a:t>M</a:t>
            </a:r>
            <a:r>
              <a:rPr lang="en-US" altLang="zh-CN" b="1" baseline="-25000" dirty="0">
                <a:latin typeface="微软雅黑" panose="020B0503020204020204" pitchFamily="34" charset="-122"/>
                <a:ea typeface="微软雅黑" panose="020B0503020204020204" pitchFamily="34" charset="-122"/>
              </a:rPr>
              <a:t>1</a:t>
            </a:r>
            <a:r>
              <a:rPr lang="en-US" altLang="zh-CN" b="1" dirty="0">
                <a:latin typeface="微软雅黑" panose="020B0503020204020204" pitchFamily="34" charset="-122"/>
                <a:ea typeface="微软雅黑" panose="020B0503020204020204" pitchFamily="34" charset="-122"/>
              </a:rPr>
              <a:t> </a:t>
            </a:r>
            <a:r>
              <a:rPr lang="zh-CN" altLang="en-US" b="1" dirty="0">
                <a:latin typeface="微软雅黑" panose="020B0503020204020204" pitchFamily="34" charset="-122"/>
                <a:ea typeface="微软雅黑" panose="020B0503020204020204" pitchFamily="34" charset="-122"/>
              </a:rPr>
              <a:t>的分组，因为网络 </a:t>
            </a:r>
            <a:r>
              <a:rPr lang="en-US" altLang="zh-CN" b="1" dirty="0">
                <a:latin typeface="微软雅黑" panose="020B0503020204020204" pitchFamily="34" charset="-122"/>
                <a:ea typeface="微软雅黑" panose="020B0503020204020204" pitchFamily="34" charset="-122"/>
              </a:rPr>
              <a:t>N</a:t>
            </a:r>
            <a:r>
              <a:rPr lang="en-US" altLang="zh-CN" b="1" baseline="-25000" dirty="0">
                <a:latin typeface="微软雅黑" panose="020B0503020204020204" pitchFamily="34" charset="-122"/>
                <a:ea typeface="微软雅黑" panose="020B0503020204020204" pitchFamily="34" charset="-122"/>
              </a:rPr>
              <a:t>3</a:t>
            </a:r>
            <a:r>
              <a:rPr lang="en-US" altLang="zh-CN" b="1" dirty="0">
                <a:latin typeface="微软雅黑" panose="020B0503020204020204" pitchFamily="34" charset="-122"/>
                <a:ea typeface="微软雅黑" panose="020B0503020204020204" pitchFamily="34" charset="-122"/>
              </a:rPr>
              <a:t> </a:t>
            </a:r>
            <a:r>
              <a:rPr lang="zh-CN" altLang="en-US" b="1" dirty="0">
                <a:latin typeface="微软雅黑" panose="020B0503020204020204" pitchFamily="34" charset="-122"/>
                <a:ea typeface="微软雅黑" panose="020B0503020204020204" pitchFamily="34" charset="-122"/>
              </a:rPr>
              <a:t>上没有多播组 </a:t>
            </a:r>
            <a:r>
              <a:rPr lang="en-US" altLang="zh-CN" b="1" dirty="0">
                <a:latin typeface="微软雅黑" panose="020B0503020204020204" pitchFamily="34" charset="-122"/>
                <a:ea typeface="微软雅黑" panose="020B0503020204020204" pitchFamily="34" charset="-122"/>
              </a:rPr>
              <a:t>M</a:t>
            </a:r>
            <a:r>
              <a:rPr lang="en-US" altLang="zh-CN" b="1" baseline="-25000" dirty="0">
                <a:latin typeface="微软雅黑" panose="020B0503020204020204" pitchFamily="34" charset="-122"/>
                <a:ea typeface="微软雅黑" panose="020B0503020204020204" pitchFamily="34" charset="-122"/>
              </a:rPr>
              <a:t>1</a:t>
            </a:r>
            <a:r>
              <a:rPr lang="en-US" altLang="zh-CN" b="1" dirty="0">
                <a:latin typeface="微软雅黑" panose="020B0503020204020204" pitchFamily="34" charset="-122"/>
                <a:ea typeface="微软雅黑" panose="020B0503020204020204" pitchFamily="34" charset="-122"/>
              </a:rPr>
              <a:t> </a:t>
            </a:r>
            <a:r>
              <a:rPr lang="zh-CN" altLang="en-US" b="1" dirty="0">
                <a:latin typeface="微软雅黑" panose="020B0503020204020204" pitchFamily="34" charset="-122"/>
                <a:ea typeface="微软雅黑" panose="020B0503020204020204" pitchFamily="34" charset="-122"/>
              </a:rPr>
              <a:t>的成员。</a:t>
            </a:r>
          </a:p>
        </p:txBody>
      </p:sp>
    </p:spTree>
    <p:extLst>
      <p:ext uri="{BB962C8B-B14F-4D97-AF65-F5344CB8AC3E}">
        <p14:creationId xmlns:p14="http://schemas.microsoft.com/office/powerpoint/2010/main" val="413181220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40484"/>
            <a:ext cx="802848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81716"/>
            <a:ext cx="3262432" cy="400110"/>
          </a:xfrm>
          <a:prstGeom prst="rect">
            <a:avLst/>
          </a:prstGeom>
        </p:spPr>
        <p:txBody>
          <a:bodyPr wrap="none">
            <a:spAutoFit/>
          </a:bodyPr>
          <a:lstStyle/>
          <a:p>
            <a:r>
              <a:rPr lang="zh-CN" altLang="en-US" sz="2000" b="1" dirty="0">
                <a:latin typeface="微软雅黑" pitchFamily="34" charset="-122"/>
                <a:ea typeface="微软雅黑" pitchFamily="34" charset="-122"/>
              </a:rPr>
              <a:t>多播路由选择协议更为复杂</a:t>
            </a:r>
          </a:p>
        </p:txBody>
      </p:sp>
      <p:sp>
        <p:nvSpPr>
          <p:cNvPr id="4" name="矩形 3"/>
          <p:cNvSpPr/>
          <p:nvPr/>
        </p:nvSpPr>
        <p:spPr>
          <a:xfrm>
            <a:off x="545144" y="948112"/>
            <a:ext cx="8115279" cy="2554545"/>
          </a:xfrm>
          <a:prstGeom prst="rect">
            <a:avLst/>
          </a:prstGeom>
        </p:spPr>
        <p:txBody>
          <a:bodyPr wrap="square">
            <a:spAutoFit/>
          </a:bodyPr>
          <a:lstStyle/>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多播转发必须</a:t>
            </a:r>
            <a:r>
              <a:rPr lang="zh-CN" altLang="en-US" sz="2000" b="1" dirty="0">
                <a:solidFill>
                  <a:srgbClr val="0000FF"/>
                </a:solidFill>
                <a:latin typeface="微软雅黑" pitchFamily="34" charset="-122"/>
                <a:ea typeface="微软雅黑" pitchFamily="34" charset="-122"/>
              </a:rPr>
              <a:t>动态地适应多播组成员的变化</a:t>
            </a:r>
            <a:r>
              <a:rPr lang="zh-CN" altLang="en-US" sz="2000" b="1" dirty="0">
                <a:latin typeface="微软雅黑" pitchFamily="34" charset="-122"/>
                <a:ea typeface="微软雅黑" pitchFamily="34" charset="-122"/>
              </a:rPr>
              <a:t>（这时网络拓扑并未发生变化），因为每一台主机可以随时加入或离开一个多播组。</a:t>
            </a: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多播路由器在</a:t>
            </a:r>
            <a:r>
              <a:rPr lang="zh-CN" altLang="en-US" sz="2000" b="1" dirty="0">
                <a:solidFill>
                  <a:srgbClr val="0000FF"/>
                </a:solidFill>
                <a:latin typeface="微软雅黑" pitchFamily="34" charset="-122"/>
                <a:ea typeface="微软雅黑" pitchFamily="34" charset="-122"/>
              </a:rPr>
              <a:t>转发</a:t>
            </a:r>
            <a:r>
              <a:rPr lang="zh-CN" altLang="en-US" sz="2000" b="1" dirty="0">
                <a:latin typeface="微软雅黑" pitchFamily="34" charset="-122"/>
                <a:ea typeface="微软雅黑" pitchFamily="34" charset="-122"/>
              </a:rPr>
              <a:t>多播数据报时，不能仅仅根据多播数据报中的目的地址，还要考虑这个多播数据报</a:t>
            </a:r>
            <a:r>
              <a:rPr lang="zh-CN" altLang="en-US" sz="2000" b="1" dirty="0">
                <a:solidFill>
                  <a:srgbClr val="0000FF"/>
                </a:solidFill>
                <a:latin typeface="微软雅黑" pitchFamily="34" charset="-122"/>
                <a:ea typeface="微软雅黑" pitchFamily="34" charset="-122"/>
              </a:rPr>
              <a:t>从什么地方来</a:t>
            </a:r>
            <a:r>
              <a:rPr lang="zh-CN" altLang="en-US" sz="2000" b="1" dirty="0">
                <a:latin typeface="微软雅黑" pitchFamily="34" charset="-122"/>
                <a:ea typeface="微软雅黑" pitchFamily="34" charset="-122"/>
              </a:rPr>
              <a:t>和</a:t>
            </a:r>
            <a:r>
              <a:rPr lang="zh-CN" altLang="en-US" sz="2000" b="1" dirty="0">
                <a:solidFill>
                  <a:srgbClr val="0000FF"/>
                </a:solidFill>
                <a:latin typeface="微软雅黑" pitchFamily="34" charset="-122"/>
                <a:ea typeface="微软雅黑" pitchFamily="34" charset="-122"/>
              </a:rPr>
              <a:t>要到什么地方去</a:t>
            </a:r>
            <a:r>
              <a:rPr lang="zh-CN" altLang="en-US" sz="2000" b="1" dirty="0">
                <a:latin typeface="微软雅黑" pitchFamily="34" charset="-122"/>
                <a:ea typeface="微软雅黑" pitchFamily="34" charset="-122"/>
              </a:rPr>
              <a:t>。 </a:t>
            </a:r>
          </a:p>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多播数据报可以由</a:t>
            </a:r>
            <a:r>
              <a:rPr lang="zh-CN" altLang="en-US" sz="2000" b="1" dirty="0">
                <a:solidFill>
                  <a:srgbClr val="0000FF"/>
                </a:solidFill>
                <a:latin typeface="微软雅黑" pitchFamily="34" charset="-122"/>
                <a:ea typeface="微软雅黑" pitchFamily="34" charset="-122"/>
              </a:rPr>
              <a:t>没有加入多播组的主机</a:t>
            </a:r>
            <a:r>
              <a:rPr lang="zh-CN" altLang="en-US" sz="2000" b="1" dirty="0">
                <a:latin typeface="微软雅黑" pitchFamily="34" charset="-122"/>
                <a:ea typeface="微软雅黑" pitchFamily="34" charset="-122"/>
              </a:rPr>
              <a:t>发出，也可以通过没有组成员的接入网络。 </a:t>
            </a:r>
          </a:p>
        </p:txBody>
      </p:sp>
    </p:spTree>
    <p:extLst>
      <p:ext uri="{BB962C8B-B14F-4D97-AF65-F5344CB8AC3E}">
        <p14:creationId xmlns:p14="http://schemas.microsoft.com/office/powerpoint/2010/main" val="8030020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5" y="1008869"/>
            <a:ext cx="8053710" cy="17851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1989 </a:t>
            </a:r>
            <a:r>
              <a:rPr lang="zh-CN" altLang="en-US" sz="2000" b="1" dirty="0">
                <a:latin typeface="微软雅黑" pitchFamily="34" charset="-122"/>
                <a:ea typeface="微软雅黑" pitchFamily="34" charset="-122"/>
              </a:rPr>
              <a:t>年公布的 </a:t>
            </a:r>
            <a:r>
              <a:rPr lang="en-US" altLang="zh-CN" sz="2000" b="1" dirty="0">
                <a:latin typeface="微软雅黑" pitchFamily="34" charset="-122"/>
                <a:ea typeface="微软雅黑" pitchFamily="34" charset="-122"/>
              </a:rPr>
              <a:t>RFC 1112</a:t>
            </a:r>
            <a:r>
              <a:rPr lang="zh-CN" altLang="en-US" sz="2000" b="1" dirty="0">
                <a:latin typeface="微软雅黑" pitchFamily="34" charset="-122"/>
                <a:ea typeface="微软雅黑" pitchFamily="34" charset="-122"/>
              </a:rPr>
              <a:t>（</a:t>
            </a:r>
            <a:r>
              <a:rPr lang="en-US" altLang="zh-CN" sz="2000" b="1" dirty="0">
                <a:solidFill>
                  <a:srgbClr val="0000FF"/>
                </a:solidFill>
                <a:latin typeface="微软雅黑" pitchFamily="34" charset="-122"/>
                <a:ea typeface="微软雅黑" pitchFamily="34" charset="-122"/>
              </a:rPr>
              <a:t>IGMPv1</a:t>
            </a:r>
            <a:r>
              <a:rPr lang="zh-CN" altLang="en-US" sz="2000" b="1" dirty="0">
                <a:latin typeface="微软雅黑" pitchFamily="34" charset="-122"/>
                <a:ea typeface="微软雅黑" pitchFamily="34" charset="-122"/>
              </a:rPr>
              <a:t>）已成为了互联网的标准协议。</a:t>
            </a:r>
          </a:p>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1997 </a:t>
            </a:r>
            <a:r>
              <a:rPr lang="zh-CN" altLang="en-US" sz="2000" b="1" dirty="0">
                <a:latin typeface="微软雅黑" pitchFamily="34" charset="-122"/>
                <a:ea typeface="微软雅黑" pitchFamily="34" charset="-122"/>
              </a:rPr>
              <a:t>年公布的 </a:t>
            </a:r>
            <a:r>
              <a:rPr lang="en-US" altLang="zh-CN" sz="2000" b="1" dirty="0">
                <a:latin typeface="微软雅黑" pitchFamily="34" charset="-122"/>
                <a:ea typeface="微软雅黑" pitchFamily="34" charset="-122"/>
              </a:rPr>
              <a:t>RFC 2236</a:t>
            </a:r>
            <a:r>
              <a:rPr lang="zh-CN" altLang="en-US" sz="2000" b="1" dirty="0">
                <a:latin typeface="微软雅黑" pitchFamily="34" charset="-122"/>
                <a:ea typeface="微软雅黑" pitchFamily="34" charset="-122"/>
              </a:rPr>
              <a:t>（</a:t>
            </a:r>
            <a:r>
              <a:rPr lang="en-US" altLang="zh-CN" sz="2000" b="1" dirty="0">
                <a:solidFill>
                  <a:srgbClr val="0000FF"/>
                </a:solidFill>
                <a:latin typeface="微软雅黑" pitchFamily="34" charset="-122"/>
                <a:ea typeface="微软雅黑" pitchFamily="34" charset="-122"/>
              </a:rPr>
              <a:t>IGMPv2</a:t>
            </a:r>
            <a:r>
              <a:rPr lang="zh-CN" altLang="en-US" sz="2000" b="1" dirty="0">
                <a:latin typeface="微软雅黑" pitchFamily="34" charset="-122"/>
                <a:ea typeface="微软雅黑" pitchFamily="34" charset="-122"/>
              </a:rPr>
              <a:t>，建议标准）对 </a:t>
            </a:r>
            <a:r>
              <a:rPr lang="en-US" altLang="zh-CN" sz="2000" b="1" dirty="0">
                <a:latin typeface="微软雅黑" pitchFamily="34" charset="-122"/>
                <a:ea typeface="微软雅黑" pitchFamily="34" charset="-122"/>
              </a:rPr>
              <a:t>IGMPv1 </a:t>
            </a:r>
            <a:r>
              <a:rPr lang="zh-CN" altLang="en-US" sz="2000" b="1" dirty="0">
                <a:latin typeface="微软雅黑" pitchFamily="34" charset="-122"/>
                <a:ea typeface="微软雅黑" pitchFamily="34" charset="-122"/>
              </a:rPr>
              <a:t>进行了更新。</a:t>
            </a:r>
          </a:p>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2002 </a:t>
            </a:r>
            <a:r>
              <a:rPr lang="zh-CN" altLang="en-US" sz="2000" b="1" dirty="0">
                <a:latin typeface="微软雅黑" pitchFamily="34" charset="-122"/>
                <a:ea typeface="微软雅黑" pitchFamily="34" charset="-122"/>
              </a:rPr>
              <a:t>年 </a:t>
            </a:r>
            <a:r>
              <a:rPr lang="en-US" altLang="zh-CN" sz="2000" b="1" dirty="0">
                <a:latin typeface="微软雅黑" pitchFamily="34" charset="-122"/>
                <a:ea typeface="微软雅黑" pitchFamily="34" charset="-122"/>
              </a:rPr>
              <a:t>10 </a:t>
            </a:r>
            <a:r>
              <a:rPr lang="zh-CN" altLang="en-US" sz="2000" b="1" dirty="0">
                <a:latin typeface="微软雅黑" pitchFamily="34" charset="-122"/>
                <a:ea typeface="微软雅黑" pitchFamily="34" charset="-122"/>
              </a:rPr>
              <a:t>月公布了 </a:t>
            </a:r>
            <a:r>
              <a:rPr lang="en-US" altLang="zh-CN" sz="2000" b="1" dirty="0">
                <a:latin typeface="微软雅黑" pitchFamily="34" charset="-122"/>
                <a:ea typeface="微软雅黑" pitchFamily="34" charset="-122"/>
              </a:rPr>
              <a:t>RFC 3376</a:t>
            </a:r>
            <a:r>
              <a:rPr lang="zh-CN" altLang="en-US" sz="2000" b="1" dirty="0">
                <a:latin typeface="微软雅黑" pitchFamily="34" charset="-122"/>
                <a:ea typeface="微软雅黑" pitchFamily="34" charset="-122"/>
              </a:rPr>
              <a:t>（</a:t>
            </a:r>
            <a:r>
              <a:rPr lang="en-US" altLang="zh-CN" sz="2000" b="1" dirty="0">
                <a:solidFill>
                  <a:srgbClr val="0000FF"/>
                </a:solidFill>
                <a:latin typeface="微软雅黑" pitchFamily="34" charset="-122"/>
                <a:ea typeface="微软雅黑" pitchFamily="34" charset="-122"/>
              </a:rPr>
              <a:t>IGMPv3</a:t>
            </a:r>
            <a:r>
              <a:rPr lang="zh-CN" altLang="en-US" sz="2000" b="1" dirty="0">
                <a:latin typeface="微软雅黑" pitchFamily="34" charset="-122"/>
                <a:ea typeface="微软雅黑" pitchFamily="34" charset="-122"/>
              </a:rPr>
              <a:t>，建议标准）。</a:t>
            </a:r>
          </a:p>
        </p:txBody>
      </p:sp>
      <p:sp>
        <p:nvSpPr>
          <p:cNvPr id="3" name="AutoShape 5"/>
          <p:cNvSpPr>
            <a:spLocks noChangeArrowheads="1"/>
          </p:cNvSpPr>
          <p:nvPr/>
        </p:nvSpPr>
        <p:spPr bwMode="auto">
          <a:xfrm>
            <a:off x="545145" y="640316"/>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607105"/>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网际组管理协议 </a:t>
            </a:r>
            <a:r>
              <a:rPr lang="en-US" altLang="zh-CN" sz="2000" b="1" dirty="0">
                <a:solidFill>
                  <a:schemeClr val="bg1"/>
                </a:solidFill>
                <a:latin typeface="微软雅黑" pitchFamily="34" charset="-122"/>
                <a:ea typeface="微软雅黑" pitchFamily="34" charset="-122"/>
              </a:rPr>
              <a:t>IGMP</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238012156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31850"/>
            <a:ext cx="802848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81874"/>
            <a:ext cx="3950120" cy="400110"/>
          </a:xfrm>
          <a:prstGeom prst="rect">
            <a:avLst/>
          </a:prstGeom>
        </p:spPr>
        <p:txBody>
          <a:bodyPr wrap="none">
            <a:spAutoFit/>
          </a:bodyPr>
          <a:lstStyle/>
          <a:p>
            <a:r>
              <a:rPr lang="en-US" altLang="zh-CN" sz="2000" b="1" dirty="0">
                <a:latin typeface="微软雅黑" pitchFamily="34" charset="-122"/>
                <a:ea typeface="微软雅黑" pitchFamily="34" charset="-122"/>
              </a:rPr>
              <a:t>IGMP </a:t>
            </a:r>
            <a:r>
              <a:rPr lang="zh-CN" altLang="en-US" sz="2000" b="1" dirty="0">
                <a:latin typeface="微软雅黑" pitchFamily="34" charset="-122"/>
                <a:ea typeface="微软雅黑" pitchFamily="34" charset="-122"/>
              </a:rPr>
              <a:t>使用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数据报传递其报文</a:t>
            </a:r>
          </a:p>
        </p:txBody>
      </p:sp>
      <p:sp>
        <p:nvSpPr>
          <p:cNvPr id="4" name="矩形 3"/>
          <p:cNvSpPr/>
          <p:nvPr/>
        </p:nvSpPr>
        <p:spPr>
          <a:xfrm>
            <a:off x="545144" y="947382"/>
            <a:ext cx="8028487" cy="1785104"/>
          </a:xfrm>
          <a:prstGeom prst="rect">
            <a:avLst/>
          </a:prstGeom>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在 </a:t>
            </a:r>
            <a:r>
              <a:rPr lang="en-US" altLang="zh-CN" sz="2000" b="1" dirty="0">
                <a:latin typeface="微软雅黑" pitchFamily="34" charset="-122"/>
                <a:ea typeface="微软雅黑" pitchFamily="34" charset="-122"/>
              </a:rPr>
              <a:t>IGMP </a:t>
            </a:r>
            <a:r>
              <a:rPr lang="zh-CN" altLang="en-US" sz="2000" b="1" dirty="0">
                <a:latin typeface="微软雅黑" pitchFamily="34" charset="-122"/>
                <a:ea typeface="微软雅黑" pitchFamily="34" charset="-122"/>
              </a:rPr>
              <a:t>报文加上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首部构成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但 </a:t>
            </a:r>
            <a:r>
              <a:rPr lang="en-US" altLang="zh-CN" sz="2000" b="1" dirty="0">
                <a:latin typeface="微软雅黑" pitchFamily="34" charset="-122"/>
                <a:ea typeface="微软雅黑" pitchFamily="34" charset="-122"/>
              </a:rPr>
              <a:t>IGMP </a:t>
            </a:r>
            <a:r>
              <a:rPr lang="zh-CN" altLang="en-US" sz="2000" b="1" dirty="0">
                <a:latin typeface="微软雅黑" pitchFamily="34" charset="-122"/>
                <a:ea typeface="微软雅黑" pitchFamily="34" charset="-122"/>
              </a:rPr>
              <a:t>也向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提供服务。</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因此，不把 </a:t>
            </a:r>
            <a:r>
              <a:rPr lang="en-US" altLang="zh-CN" sz="2000" b="1" dirty="0">
                <a:latin typeface="微软雅黑" pitchFamily="34" charset="-122"/>
                <a:ea typeface="微软雅黑" pitchFamily="34" charset="-122"/>
              </a:rPr>
              <a:t>IGMP </a:t>
            </a:r>
            <a:r>
              <a:rPr lang="zh-CN" altLang="en-US" sz="2000" b="1" dirty="0">
                <a:latin typeface="微软雅黑" pitchFamily="34" charset="-122"/>
                <a:ea typeface="微软雅黑" pitchFamily="34" charset="-122"/>
              </a:rPr>
              <a:t>看成是一个单独的协议，而是整个网际协议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的一个组成部分。 </a:t>
            </a:r>
          </a:p>
        </p:txBody>
      </p:sp>
    </p:spTree>
    <p:extLst>
      <p:ext uri="{BB962C8B-B14F-4D97-AF65-F5344CB8AC3E}">
        <p14:creationId xmlns:p14="http://schemas.microsoft.com/office/powerpoint/2010/main" val="8464593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7055"/>
            <a:ext cx="802848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86759"/>
            <a:ext cx="3284874" cy="400110"/>
          </a:xfrm>
          <a:prstGeom prst="rect">
            <a:avLst/>
          </a:prstGeom>
        </p:spPr>
        <p:txBody>
          <a:bodyPr wrap="none">
            <a:spAutoFit/>
          </a:bodyPr>
          <a:lstStyle/>
          <a:p>
            <a:r>
              <a:rPr lang="en-US" altLang="zh-CN" sz="2000" b="1" dirty="0">
                <a:latin typeface="微软雅黑" pitchFamily="34" charset="-122"/>
                <a:ea typeface="微软雅黑" pitchFamily="34" charset="-122"/>
              </a:rPr>
              <a:t>IGMP </a:t>
            </a:r>
            <a:r>
              <a:rPr lang="zh-CN" altLang="en-US" sz="2000" b="1" dirty="0">
                <a:latin typeface="微软雅黑" pitchFamily="34" charset="-122"/>
                <a:ea typeface="微软雅黑" pitchFamily="34" charset="-122"/>
              </a:rPr>
              <a:t>工作可分为两个阶段</a:t>
            </a:r>
          </a:p>
        </p:txBody>
      </p:sp>
      <p:sp>
        <p:nvSpPr>
          <p:cNvPr id="4" name="矩形 3"/>
          <p:cNvSpPr/>
          <p:nvPr/>
        </p:nvSpPr>
        <p:spPr>
          <a:xfrm>
            <a:off x="545144" y="943919"/>
            <a:ext cx="8028487" cy="938719"/>
          </a:xfrm>
          <a:prstGeom prst="rect">
            <a:avLst/>
          </a:prstGeom>
        </p:spPr>
        <p:txBody>
          <a:bodyPr wrap="square">
            <a:spAutoFit/>
          </a:bodyPr>
          <a:lstStyle/>
          <a:p>
            <a:pPr marL="285750" indent="-28575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第一阶段：</a:t>
            </a:r>
            <a:r>
              <a:rPr lang="zh-CN" altLang="en-US" sz="2000" b="1" dirty="0">
                <a:latin typeface="微软雅黑" pitchFamily="34" charset="-122"/>
                <a:ea typeface="微软雅黑" pitchFamily="34" charset="-122"/>
              </a:rPr>
              <a:t>加入多播组。</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第二阶段：</a:t>
            </a:r>
            <a:r>
              <a:rPr lang="zh-CN" altLang="en-US" sz="2000" b="1" dirty="0">
                <a:latin typeface="微软雅黑" pitchFamily="34" charset="-122"/>
                <a:ea typeface="微软雅黑" pitchFamily="34" charset="-122"/>
              </a:rPr>
              <a:t>探询组成员变化情况。</a:t>
            </a:r>
          </a:p>
        </p:txBody>
      </p:sp>
    </p:spTree>
    <p:extLst>
      <p:ext uri="{BB962C8B-B14F-4D97-AF65-F5344CB8AC3E}">
        <p14:creationId xmlns:p14="http://schemas.microsoft.com/office/powerpoint/2010/main" val="290908058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圆角矩形 52"/>
          <p:cNvSpPr/>
          <p:nvPr/>
        </p:nvSpPr>
        <p:spPr>
          <a:xfrm>
            <a:off x="545144" y="1000549"/>
            <a:ext cx="8053711" cy="214090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2" name="AutoShape 5"/>
          <p:cNvSpPr>
            <a:spLocks noChangeArrowheads="1"/>
          </p:cNvSpPr>
          <p:nvPr/>
        </p:nvSpPr>
        <p:spPr bwMode="auto">
          <a:xfrm>
            <a:off x="545144" y="627055"/>
            <a:ext cx="802848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86759"/>
            <a:ext cx="2749471" cy="400110"/>
          </a:xfrm>
          <a:prstGeom prst="rect">
            <a:avLst/>
          </a:prstGeom>
        </p:spPr>
        <p:txBody>
          <a:bodyPr wrap="none">
            <a:spAutoFit/>
          </a:bodyPr>
          <a:lstStyle/>
          <a:p>
            <a:r>
              <a:rPr lang="zh-CN" altLang="en-US" sz="2000" b="1" dirty="0">
                <a:latin typeface="微软雅黑" pitchFamily="34" charset="-122"/>
                <a:ea typeface="微软雅黑" pitchFamily="34" charset="-122"/>
              </a:rPr>
              <a:t>第一阶段：加入多播组</a:t>
            </a:r>
          </a:p>
        </p:txBody>
      </p:sp>
      <p:grpSp>
        <p:nvGrpSpPr>
          <p:cNvPr id="34" name="Group 32"/>
          <p:cNvGrpSpPr>
            <a:grpSpLocks/>
          </p:cNvGrpSpPr>
          <p:nvPr/>
        </p:nvGrpSpPr>
        <p:grpSpPr bwMode="auto">
          <a:xfrm>
            <a:off x="5830718" y="1169785"/>
            <a:ext cx="2435345" cy="695022"/>
            <a:chOff x="2919" y="817"/>
            <a:chExt cx="1244" cy="369"/>
          </a:xfrm>
        </p:grpSpPr>
        <p:sp>
          <p:nvSpPr>
            <p:cNvPr id="35" name="Rectangle 33"/>
            <p:cNvSpPr>
              <a:spLocks noChangeArrowheads="1"/>
            </p:cNvSpPr>
            <p:nvPr/>
          </p:nvSpPr>
          <p:spPr bwMode="auto">
            <a:xfrm>
              <a:off x="2963" y="999"/>
              <a:ext cx="1200" cy="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02382" tIns="52195" rIns="102382" bIns="52195">
              <a:spAutoFit/>
            </a:bodyPr>
            <a:lstStyle/>
            <a:p>
              <a:pPr algn="ctr" defTabSz="904875" eaLnBrk="0" hangingPunct="0"/>
              <a:r>
                <a:rPr lang="zh-CN" altLang="en-US" sz="1600" b="1" dirty="0">
                  <a:latin typeface="微软雅黑" panose="020B0503020204020204" pitchFamily="34" charset="-122"/>
                  <a:ea typeface="微软雅黑" panose="020B0503020204020204" pitchFamily="34" charset="-122"/>
                </a:rPr>
                <a:t>（加入 </a:t>
              </a:r>
              <a:r>
                <a:rPr lang="en-US" altLang="zh-CN" sz="1600" b="1" dirty="0">
                  <a:latin typeface="微软雅黑" panose="020B0503020204020204" pitchFamily="34" charset="-122"/>
                  <a:ea typeface="微软雅黑" panose="020B0503020204020204" pitchFamily="34" charset="-122"/>
                </a:rPr>
                <a:t>224.1.1.10</a:t>
              </a:r>
              <a:r>
                <a:rPr lang="zh-CN" altLang="en-US" sz="1600" b="1" dirty="0">
                  <a:latin typeface="微软雅黑" panose="020B0503020204020204" pitchFamily="34" charset="-122"/>
                  <a:ea typeface="微软雅黑" panose="020B0503020204020204" pitchFamily="34" charset="-122"/>
                </a:rPr>
                <a:t>）</a:t>
              </a:r>
              <a:endParaRPr lang="en-US" altLang="zh-CN" sz="1600" b="1" dirty="0">
                <a:latin typeface="微软雅黑" panose="020B0503020204020204" pitchFamily="34" charset="-122"/>
                <a:ea typeface="微软雅黑" panose="020B0503020204020204" pitchFamily="34" charset="-122"/>
              </a:endParaRPr>
            </a:p>
          </p:txBody>
        </p:sp>
        <p:sp>
          <p:nvSpPr>
            <p:cNvPr id="36" name="AutoShape 34"/>
            <p:cNvSpPr>
              <a:spLocks noChangeArrowheads="1"/>
            </p:cNvSpPr>
            <p:nvPr/>
          </p:nvSpPr>
          <p:spPr bwMode="auto">
            <a:xfrm>
              <a:off x="2919" y="892"/>
              <a:ext cx="145" cy="166"/>
            </a:xfrm>
            <a:prstGeom prst="downArrow">
              <a:avLst>
                <a:gd name="adj1" fmla="val 50000"/>
                <a:gd name="adj2" fmla="val 51635"/>
              </a:avLst>
            </a:prstGeom>
            <a:solidFill>
              <a:schemeClr val="accent2"/>
            </a:solidFill>
            <a:ln w="12700">
              <a:solidFill>
                <a:srgbClr val="000066"/>
              </a:solidFill>
              <a:miter lim="800000"/>
              <a:headEnd/>
              <a:tailEnd/>
            </a:ln>
            <a:effectLst/>
            <a:extLst>
              <a:ext uri="{AF507438-7753-43E0-B8FC-AC1667EBCBE1}">
                <a14:hiddenEffects xmlns:a14="http://schemas.microsoft.com/office/drawing/2010/main">
                  <a:effectLst>
                    <a:outerShdw dist="35921" dir="2700000" algn="ctr" rotWithShape="0">
                      <a:schemeClr val="tx1"/>
                    </a:outerShdw>
                  </a:effectLst>
                </a14:hiddenEffects>
              </a:ext>
            </a:extLst>
          </p:spPr>
          <p:txBody>
            <a:bodyPr wrap="square" lIns="102382" tIns="52195" rIns="102382" bIns="52195">
              <a:spAutoFit/>
            </a:bodyPr>
            <a:lstStyle/>
            <a:p>
              <a:endParaRPr lang="zh-CN" altLang="en-US" sz="1600">
                <a:latin typeface="微软雅黑" panose="020B0503020204020204" pitchFamily="34" charset="-122"/>
                <a:ea typeface="微软雅黑" panose="020B0503020204020204" pitchFamily="34" charset="-122"/>
              </a:endParaRPr>
            </a:p>
          </p:txBody>
        </p:sp>
        <p:sp>
          <p:nvSpPr>
            <p:cNvPr id="37" name="Rectangle 35"/>
            <p:cNvSpPr>
              <a:spLocks noChangeArrowheads="1"/>
            </p:cNvSpPr>
            <p:nvPr/>
          </p:nvSpPr>
          <p:spPr bwMode="auto">
            <a:xfrm>
              <a:off x="3001" y="817"/>
              <a:ext cx="584" cy="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02382" tIns="52195" rIns="102382" bIns="52195">
              <a:spAutoFit/>
            </a:bodyPr>
            <a:lstStyle/>
            <a:p>
              <a:pPr algn="ctr" defTabSz="904875" eaLnBrk="0" hangingPunct="0"/>
              <a:r>
                <a:rPr lang="en-US" altLang="zh-CN" sz="1600" b="1" dirty="0">
                  <a:latin typeface="微软雅黑" panose="020B0503020204020204" pitchFamily="34" charset="-122"/>
                  <a:ea typeface="微软雅黑" panose="020B0503020204020204" pitchFamily="34" charset="-122"/>
                </a:rPr>
                <a:t>Report</a:t>
              </a:r>
            </a:p>
          </p:txBody>
        </p:sp>
      </p:grpSp>
      <p:sp>
        <p:nvSpPr>
          <p:cNvPr id="52" name="矩形 51"/>
          <p:cNvSpPr/>
          <p:nvPr/>
        </p:nvSpPr>
        <p:spPr>
          <a:xfrm>
            <a:off x="520310" y="3192323"/>
            <a:ext cx="8028487" cy="1426031"/>
          </a:xfrm>
          <a:prstGeom prst="rect">
            <a:avLst/>
          </a:prstGeom>
        </p:spPr>
        <p:txBody>
          <a:bodyPr wrap="square">
            <a:spAutoFit/>
          </a:bodyPr>
          <a:lstStyle/>
          <a:p>
            <a:pPr marL="623888" indent="-342900">
              <a:lnSpc>
                <a:spcPts val="2600"/>
              </a:lnSpc>
              <a:buClr>
                <a:srgbClr val="7030A0"/>
              </a:buClr>
              <a:buFont typeface="+mj-lt"/>
              <a:buAutoNum type="arabicPeriod"/>
            </a:pPr>
            <a:r>
              <a:rPr lang="zh-CN" altLang="en-US" b="1" dirty="0">
                <a:latin typeface="微软雅黑" pitchFamily="34" charset="-122"/>
                <a:ea typeface="微软雅黑" pitchFamily="34" charset="-122"/>
              </a:rPr>
              <a:t>当某个主机加入多播组时，该主机向多播组的多播地址发送 </a:t>
            </a:r>
            <a:r>
              <a:rPr lang="en-US" altLang="zh-CN" b="1" dirty="0">
                <a:latin typeface="微软雅黑" pitchFamily="34" charset="-122"/>
                <a:ea typeface="微软雅黑" pitchFamily="34" charset="-122"/>
              </a:rPr>
              <a:t>IGMP </a:t>
            </a:r>
            <a:r>
              <a:rPr lang="zh-CN" altLang="en-US" b="1" dirty="0">
                <a:latin typeface="微软雅黑" pitchFamily="34" charset="-122"/>
                <a:ea typeface="微软雅黑" pitchFamily="34" charset="-122"/>
              </a:rPr>
              <a:t>报文，声明自己要成为该组的成员。</a:t>
            </a:r>
          </a:p>
          <a:p>
            <a:pPr marL="623888" indent="-342900">
              <a:lnSpc>
                <a:spcPts val="2600"/>
              </a:lnSpc>
              <a:buClr>
                <a:srgbClr val="7030A0"/>
              </a:buClr>
              <a:buFont typeface="+mj-lt"/>
              <a:buAutoNum type="arabicPeriod"/>
            </a:pPr>
            <a:r>
              <a:rPr lang="zh-CN" altLang="en-US" b="1" dirty="0">
                <a:latin typeface="微软雅黑" pitchFamily="34" charset="-122"/>
                <a:ea typeface="微软雅黑" pitchFamily="34" charset="-122"/>
              </a:rPr>
              <a:t>本地的多播路由器收到 </a:t>
            </a:r>
            <a:r>
              <a:rPr lang="en-US" altLang="zh-CN" b="1" dirty="0">
                <a:latin typeface="微软雅黑" pitchFamily="34" charset="-122"/>
                <a:ea typeface="微软雅黑" pitchFamily="34" charset="-122"/>
              </a:rPr>
              <a:t>IGMP </a:t>
            </a:r>
            <a:r>
              <a:rPr lang="zh-CN" altLang="en-US" b="1" dirty="0">
                <a:latin typeface="微软雅黑" pitchFamily="34" charset="-122"/>
                <a:ea typeface="微软雅黑" pitchFamily="34" charset="-122"/>
              </a:rPr>
              <a:t>报文后，将组成员关系转发给互联网上的其他多播路由器。</a:t>
            </a:r>
          </a:p>
        </p:txBody>
      </p:sp>
      <p:grpSp>
        <p:nvGrpSpPr>
          <p:cNvPr id="4" name="组合 3"/>
          <p:cNvGrpSpPr/>
          <p:nvPr/>
        </p:nvGrpSpPr>
        <p:grpSpPr>
          <a:xfrm>
            <a:off x="2138326" y="1194355"/>
            <a:ext cx="3575353" cy="1851740"/>
            <a:chOff x="2584898" y="1279419"/>
            <a:chExt cx="3575353" cy="1851740"/>
          </a:xfrm>
        </p:grpSpPr>
        <p:sp>
          <p:nvSpPr>
            <p:cNvPr id="5" name="Line 2"/>
            <p:cNvSpPr>
              <a:spLocks noChangeShapeType="1"/>
            </p:cNvSpPr>
            <p:nvPr/>
          </p:nvSpPr>
          <p:spPr bwMode="auto">
            <a:xfrm flipH="1">
              <a:off x="4486828" y="1444882"/>
              <a:ext cx="1322264" cy="673414"/>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pic>
          <p:nvPicPr>
            <p:cNvPr id="29" name="Picture 2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062904" y="2469051"/>
              <a:ext cx="650322" cy="3186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 name="Rectangle 36"/>
            <p:cNvSpPr>
              <a:spLocks noChangeArrowheads="1"/>
            </p:cNvSpPr>
            <p:nvPr/>
          </p:nvSpPr>
          <p:spPr bwMode="auto">
            <a:xfrm>
              <a:off x="3468742" y="2243167"/>
              <a:ext cx="824752" cy="3707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algn="ctr" defTabSz="904875" eaLnBrk="0" hangingPunct="0"/>
              <a:r>
                <a:rPr lang="en-US" altLang="zh-CN" b="1" dirty="0"/>
                <a:t>IGMP</a:t>
              </a:r>
            </a:p>
          </p:txBody>
        </p:sp>
        <p:sp>
          <p:nvSpPr>
            <p:cNvPr id="39" name="Line 37"/>
            <p:cNvSpPr>
              <a:spLocks noChangeShapeType="1"/>
            </p:cNvSpPr>
            <p:nvPr/>
          </p:nvSpPr>
          <p:spPr bwMode="auto">
            <a:xfrm>
              <a:off x="2896779" y="1434767"/>
              <a:ext cx="1408362" cy="690819"/>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40" name="Line 38"/>
            <p:cNvSpPr>
              <a:spLocks noChangeShapeType="1"/>
            </p:cNvSpPr>
            <p:nvPr/>
          </p:nvSpPr>
          <p:spPr bwMode="auto">
            <a:xfrm>
              <a:off x="4324232" y="1436934"/>
              <a:ext cx="0" cy="681362"/>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42" name="Line 40"/>
            <p:cNvSpPr>
              <a:spLocks noChangeShapeType="1"/>
            </p:cNvSpPr>
            <p:nvPr/>
          </p:nvSpPr>
          <p:spPr bwMode="auto">
            <a:xfrm>
              <a:off x="4404772" y="2187874"/>
              <a:ext cx="0" cy="374279"/>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pic>
          <p:nvPicPr>
            <p:cNvPr id="43" name="Picture 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062904" y="2469051"/>
              <a:ext cx="650322" cy="3186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4" name="Picture 4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584898" y="1279419"/>
              <a:ext cx="664032" cy="5065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5" name="Picture 4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026060" y="1279419"/>
              <a:ext cx="664888" cy="507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6" name="Rectangle 44"/>
            <p:cNvSpPr>
              <a:spLocks noChangeArrowheads="1"/>
            </p:cNvSpPr>
            <p:nvPr/>
          </p:nvSpPr>
          <p:spPr bwMode="auto">
            <a:xfrm>
              <a:off x="2715092" y="1312648"/>
              <a:ext cx="447717" cy="30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H1</a:t>
              </a:r>
            </a:p>
          </p:txBody>
        </p:sp>
        <p:sp>
          <p:nvSpPr>
            <p:cNvPr id="47" name="Rectangle 45"/>
            <p:cNvSpPr>
              <a:spLocks noChangeArrowheads="1"/>
            </p:cNvSpPr>
            <p:nvPr/>
          </p:nvSpPr>
          <p:spPr bwMode="auto">
            <a:xfrm>
              <a:off x="4154540" y="1311203"/>
              <a:ext cx="447717" cy="30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H2</a:t>
              </a:r>
            </a:p>
          </p:txBody>
        </p:sp>
        <p:sp>
          <p:nvSpPr>
            <p:cNvPr id="48" name="Rectangle 46"/>
            <p:cNvSpPr>
              <a:spLocks noChangeArrowheads="1"/>
            </p:cNvSpPr>
            <p:nvPr/>
          </p:nvSpPr>
          <p:spPr bwMode="auto">
            <a:xfrm>
              <a:off x="3436195" y="2760424"/>
              <a:ext cx="1844618" cy="3707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algn="ctr" defTabSz="904875" eaLnBrk="0" hangingPunct="0"/>
              <a:r>
                <a:rPr lang="zh-CN" altLang="en-US" b="1" dirty="0">
                  <a:latin typeface="微软雅黑" panose="020B0503020204020204" pitchFamily="34" charset="-122"/>
                  <a:ea typeface="微软雅黑" panose="020B0503020204020204" pitchFamily="34" charset="-122"/>
                </a:rPr>
                <a:t>多播路由器</a:t>
              </a:r>
              <a:endParaRPr lang="en-US" altLang="zh-CN" b="1" dirty="0">
                <a:latin typeface="微软雅黑" panose="020B0503020204020204" pitchFamily="34" charset="-122"/>
                <a:ea typeface="微软雅黑" panose="020B0503020204020204" pitchFamily="34" charset="-122"/>
              </a:endParaRPr>
            </a:p>
          </p:txBody>
        </p:sp>
        <p:pic>
          <p:nvPicPr>
            <p:cNvPr id="50" name="Picture 4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95363" y="1279419"/>
              <a:ext cx="664888" cy="507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1" name="Rectangle 45"/>
            <p:cNvSpPr>
              <a:spLocks noChangeArrowheads="1"/>
            </p:cNvSpPr>
            <p:nvPr/>
          </p:nvSpPr>
          <p:spPr bwMode="auto">
            <a:xfrm>
              <a:off x="5623843" y="1311203"/>
              <a:ext cx="447717" cy="30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H3</a:t>
              </a:r>
            </a:p>
          </p:txBody>
        </p:sp>
        <p:pic>
          <p:nvPicPr>
            <p:cNvPr id="28"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086388" y="2001897"/>
              <a:ext cx="604560" cy="2654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grpSp>
        <p:nvGrpSpPr>
          <p:cNvPr id="31" name="Group 29"/>
          <p:cNvGrpSpPr>
            <a:grpSpLocks/>
          </p:cNvGrpSpPr>
          <p:nvPr/>
        </p:nvGrpSpPr>
        <p:grpSpPr bwMode="auto">
          <a:xfrm>
            <a:off x="5178691" y="1229107"/>
            <a:ext cx="515897" cy="251330"/>
            <a:chOff x="3897" y="748"/>
            <a:chExt cx="272" cy="283"/>
          </a:xfrm>
        </p:grpSpPr>
        <p:sp>
          <p:nvSpPr>
            <p:cNvPr id="32" name="Rectangle 30"/>
            <p:cNvSpPr>
              <a:spLocks noChangeArrowheads="1"/>
            </p:cNvSpPr>
            <p:nvPr/>
          </p:nvSpPr>
          <p:spPr bwMode="auto">
            <a:xfrm>
              <a:off x="3898" y="801"/>
              <a:ext cx="173" cy="226"/>
            </a:xfrm>
            <a:prstGeom prst="rect">
              <a:avLst/>
            </a:prstGeom>
            <a:solidFill>
              <a:srgbClr val="00CC00"/>
            </a:solidFill>
            <a:ln w="12700">
              <a:solidFill>
                <a:srgbClr val="494936"/>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endParaRPr lang="zh-CN" altLang="en-US" sz="1400"/>
            </a:p>
          </p:txBody>
        </p:sp>
        <p:sp>
          <p:nvSpPr>
            <p:cNvPr id="33" name="Rectangle 31"/>
            <p:cNvSpPr>
              <a:spLocks noChangeArrowheads="1"/>
            </p:cNvSpPr>
            <p:nvPr/>
          </p:nvSpPr>
          <p:spPr bwMode="auto">
            <a:xfrm>
              <a:off x="3897" y="748"/>
              <a:ext cx="272" cy="2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H3</a:t>
              </a:r>
            </a:p>
          </p:txBody>
        </p:sp>
      </p:grpSp>
    </p:spTree>
    <p:extLst>
      <p:ext uri="{BB962C8B-B14F-4D97-AF65-F5344CB8AC3E}">
        <p14:creationId xmlns:p14="http://schemas.microsoft.com/office/powerpoint/2010/main" val="214071908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499"/>
                                          </p:stCondLst>
                                        </p:cTn>
                                        <p:tgtEl>
                                          <p:spTgt spid="31"/>
                                        </p:tgtEl>
                                        <p:attrNameLst>
                                          <p:attrName>style.visibility</p:attrName>
                                        </p:attrNameLst>
                                      </p:cBhvr>
                                      <p:to>
                                        <p:strVal val="visible"/>
                                      </p:to>
                                    </p:set>
                                  </p:childTnLst>
                                </p:cTn>
                              </p:par>
                            </p:childTnLst>
                          </p:cTn>
                        </p:par>
                        <p:par>
                          <p:cTn id="7" fill="hold">
                            <p:stCondLst>
                              <p:cond delay="500"/>
                            </p:stCondLst>
                            <p:childTnLst>
                              <p:par>
                                <p:cTn id="8" presetID="22" presetClass="entr" presetSubtype="1" fill="hold" nodeType="afterEffect">
                                  <p:stCondLst>
                                    <p:cond delay="0"/>
                                  </p:stCondLst>
                                  <p:childTnLst>
                                    <p:set>
                                      <p:cBhvr>
                                        <p:cTn id="9" dur="1" fill="hold">
                                          <p:stCondLst>
                                            <p:cond delay="0"/>
                                          </p:stCondLst>
                                        </p:cTn>
                                        <p:tgtEl>
                                          <p:spTgt spid="34"/>
                                        </p:tgtEl>
                                        <p:attrNameLst>
                                          <p:attrName>style.visibility</p:attrName>
                                        </p:attrNameLst>
                                      </p:cBhvr>
                                      <p:to>
                                        <p:strVal val="visible"/>
                                      </p:to>
                                    </p:set>
                                    <p:animEffect transition="in" filter="wipe(up)">
                                      <p:cBhvr>
                                        <p:cTn id="10" dur="10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7055"/>
            <a:ext cx="802848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86759"/>
            <a:ext cx="3775393" cy="400110"/>
          </a:xfrm>
          <a:prstGeom prst="rect">
            <a:avLst/>
          </a:prstGeom>
        </p:spPr>
        <p:txBody>
          <a:bodyPr wrap="none">
            <a:spAutoFit/>
          </a:bodyPr>
          <a:lstStyle/>
          <a:p>
            <a:r>
              <a:rPr lang="zh-CN" altLang="en-US" sz="2000" b="1" dirty="0">
                <a:latin typeface="微软雅黑" pitchFamily="34" charset="-122"/>
                <a:ea typeface="微软雅黑" pitchFamily="34" charset="-122"/>
              </a:rPr>
              <a:t>第二阶段：探询组成员变化情况</a:t>
            </a:r>
          </a:p>
        </p:txBody>
      </p:sp>
      <p:sp>
        <p:nvSpPr>
          <p:cNvPr id="5" name="圆角矩形 4"/>
          <p:cNvSpPr/>
          <p:nvPr/>
        </p:nvSpPr>
        <p:spPr>
          <a:xfrm>
            <a:off x="545144" y="1000549"/>
            <a:ext cx="8053711" cy="214090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28" name="矩形 27"/>
          <p:cNvSpPr/>
          <p:nvPr/>
        </p:nvSpPr>
        <p:spPr>
          <a:xfrm>
            <a:off x="520310" y="3192323"/>
            <a:ext cx="8028487" cy="1092607"/>
          </a:xfrm>
          <a:prstGeom prst="rect">
            <a:avLst/>
          </a:prstGeom>
        </p:spPr>
        <p:txBody>
          <a:bodyPr wrap="square">
            <a:spAutoFit/>
          </a:bodyPr>
          <a:lstStyle/>
          <a:p>
            <a:pPr marL="623888" indent="-342900">
              <a:lnSpc>
                <a:spcPts val="2600"/>
              </a:lnSpc>
              <a:buClr>
                <a:srgbClr val="7030A0"/>
              </a:buClr>
              <a:buFont typeface="+mj-lt"/>
              <a:buAutoNum type="arabicPeriod"/>
            </a:pPr>
            <a:r>
              <a:rPr lang="zh-CN" altLang="en-US" b="1" dirty="0">
                <a:latin typeface="微软雅黑" pitchFamily="34" charset="-122"/>
                <a:ea typeface="微软雅黑" pitchFamily="34" charset="-122"/>
              </a:rPr>
              <a:t>本地多播路由器</a:t>
            </a:r>
            <a:r>
              <a:rPr lang="zh-CN" altLang="en-US" b="1" dirty="0">
                <a:solidFill>
                  <a:srgbClr val="C00000"/>
                </a:solidFill>
                <a:latin typeface="微软雅黑" pitchFamily="34" charset="-122"/>
                <a:ea typeface="微软雅黑" pitchFamily="34" charset="-122"/>
              </a:rPr>
              <a:t>周期性</a:t>
            </a:r>
            <a:r>
              <a:rPr lang="zh-CN" altLang="en-US" b="1" dirty="0">
                <a:latin typeface="微软雅黑" pitchFamily="34" charset="-122"/>
                <a:ea typeface="微软雅黑" pitchFamily="34" charset="-122"/>
              </a:rPr>
              <a:t>地探询本地局域网上的主机，以便知道这些主机是否还继续是组的成员。</a:t>
            </a:r>
          </a:p>
          <a:p>
            <a:pPr marL="623888" indent="-342900">
              <a:lnSpc>
                <a:spcPts val="2600"/>
              </a:lnSpc>
              <a:buClr>
                <a:srgbClr val="7030A0"/>
              </a:buClr>
              <a:buFont typeface="+mj-lt"/>
              <a:buAutoNum type="arabicPeriod"/>
            </a:pPr>
            <a:r>
              <a:rPr lang="zh-CN" altLang="en-US" b="1" dirty="0">
                <a:latin typeface="微软雅黑" pitchFamily="34" charset="-122"/>
                <a:ea typeface="微软雅黑" pitchFamily="34" charset="-122"/>
              </a:rPr>
              <a:t>只要对某个组有一个主机响应，那么多播路由器就认为这个组是活跃的。</a:t>
            </a:r>
          </a:p>
        </p:txBody>
      </p:sp>
      <p:grpSp>
        <p:nvGrpSpPr>
          <p:cNvPr id="29" name="Group 7"/>
          <p:cNvGrpSpPr>
            <a:grpSpLocks/>
          </p:cNvGrpSpPr>
          <p:nvPr/>
        </p:nvGrpSpPr>
        <p:grpSpPr bwMode="auto">
          <a:xfrm>
            <a:off x="4285943" y="2025553"/>
            <a:ext cx="2736221" cy="709438"/>
            <a:chOff x="2909" y="1739"/>
            <a:chExt cx="2152" cy="398"/>
          </a:xfrm>
        </p:grpSpPr>
        <p:sp>
          <p:nvSpPr>
            <p:cNvPr id="30" name="AutoShape 8"/>
            <p:cNvSpPr>
              <a:spLocks noChangeArrowheads="1"/>
            </p:cNvSpPr>
            <p:nvPr/>
          </p:nvSpPr>
          <p:spPr bwMode="auto">
            <a:xfrm>
              <a:off x="2909" y="1832"/>
              <a:ext cx="205" cy="182"/>
            </a:xfrm>
            <a:prstGeom prst="upArrow">
              <a:avLst>
                <a:gd name="adj1" fmla="val 50000"/>
                <a:gd name="adj2" fmla="val 51626"/>
              </a:avLst>
            </a:prstGeom>
            <a:solidFill>
              <a:schemeClr val="accent2"/>
            </a:solidFill>
            <a:ln w="12700">
              <a:solidFill>
                <a:srgbClr val="000066"/>
              </a:solidFill>
              <a:miter lim="800000"/>
              <a:headEnd/>
              <a:tailEnd/>
            </a:ln>
            <a:effectLst/>
            <a:extLst>
              <a:ext uri="{AF507438-7753-43E0-B8FC-AC1667EBCBE1}">
                <a14:hiddenEffects xmlns:a14="http://schemas.microsoft.com/office/drawing/2010/main">
                  <a:effectLst>
                    <a:outerShdw dist="35921" dir="2700000" algn="ctr" rotWithShape="0">
                      <a:schemeClr val="tx1"/>
                    </a:outerShdw>
                  </a:effectLst>
                </a14:hiddenEffects>
              </a:ext>
            </a:extLst>
          </p:spPr>
          <p:txBody>
            <a:bodyPr wrap="none" lIns="91044" tIns="46415" rIns="91044" bIns="46415">
              <a:spAutoFit/>
            </a:bodyPr>
            <a:lstStyle/>
            <a:p>
              <a:endParaRPr lang="zh-CN" altLang="en-US" sz="1600">
                <a:latin typeface="微软雅黑" panose="020B0503020204020204" pitchFamily="34" charset="-122"/>
                <a:ea typeface="微软雅黑" panose="020B0503020204020204" pitchFamily="34" charset="-122"/>
              </a:endParaRPr>
            </a:p>
          </p:txBody>
        </p:sp>
        <p:sp>
          <p:nvSpPr>
            <p:cNvPr id="31" name="Rectangle 9"/>
            <p:cNvSpPr>
              <a:spLocks noChangeArrowheads="1"/>
            </p:cNvSpPr>
            <p:nvPr/>
          </p:nvSpPr>
          <p:spPr bwMode="auto">
            <a:xfrm>
              <a:off x="3076" y="1739"/>
              <a:ext cx="1985" cy="3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lnSpc>
                  <a:spcPts val="2400"/>
                </a:lnSpc>
              </a:pPr>
              <a:r>
                <a:rPr lang="en-US" altLang="zh-CN" sz="1600" b="1" dirty="0">
                  <a:latin typeface="微软雅黑" panose="020B0503020204020204" pitchFamily="34" charset="-122"/>
                  <a:ea typeface="微软雅黑" panose="020B0503020204020204" pitchFamily="34" charset="-122"/>
                </a:rPr>
                <a:t> Query </a:t>
              </a:r>
            </a:p>
            <a:p>
              <a:pPr defTabSz="904875" eaLnBrk="0" hangingPunct="0">
                <a:lnSpc>
                  <a:spcPts val="2400"/>
                </a:lnSpc>
              </a:pPr>
              <a:r>
                <a:rPr lang="zh-CN" altLang="en-US" sz="1600" b="1" dirty="0">
                  <a:latin typeface="微软雅黑" panose="020B0503020204020204" pitchFamily="34" charset="-122"/>
                  <a:ea typeface="微软雅黑" panose="020B0503020204020204" pitchFamily="34" charset="-122"/>
                </a:rPr>
                <a:t>（有主机在多播组吗？）</a:t>
              </a:r>
              <a:endParaRPr lang="en-US" altLang="zh-CN" sz="1600" b="1" dirty="0">
                <a:latin typeface="微软雅黑" panose="020B0503020204020204" pitchFamily="34" charset="-122"/>
                <a:ea typeface="微软雅黑" panose="020B0503020204020204" pitchFamily="34" charset="-122"/>
              </a:endParaRPr>
            </a:p>
          </p:txBody>
        </p:sp>
      </p:grpSp>
      <p:grpSp>
        <p:nvGrpSpPr>
          <p:cNvPr id="32" name="Group 32"/>
          <p:cNvGrpSpPr>
            <a:grpSpLocks/>
          </p:cNvGrpSpPr>
          <p:nvPr/>
        </p:nvGrpSpPr>
        <p:grpSpPr bwMode="auto">
          <a:xfrm>
            <a:off x="5830719" y="1169785"/>
            <a:ext cx="2398882" cy="649818"/>
            <a:chOff x="2919" y="817"/>
            <a:chExt cx="1244" cy="345"/>
          </a:xfrm>
        </p:grpSpPr>
        <p:sp>
          <p:nvSpPr>
            <p:cNvPr id="33" name="Rectangle 33"/>
            <p:cNvSpPr>
              <a:spLocks noChangeArrowheads="1"/>
            </p:cNvSpPr>
            <p:nvPr/>
          </p:nvSpPr>
          <p:spPr bwMode="auto">
            <a:xfrm>
              <a:off x="2963" y="975"/>
              <a:ext cx="1200" cy="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02382" tIns="52195" rIns="102382" bIns="52195">
              <a:spAutoFit/>
            </a:bodyPr>
            <a:lstStyle/>
            <a:p>
              <a:pPr algn="ctr" defTabSz="904875" eaLnBrk="0" hangingPunct="0"/>
              <a:r>
                <a:rPr lang="zh-CN" altLang="en-US" sz="1600" b="1" dirty="0">
                  <a:latin typeface="微软雅黑" panose="020B0503020204020204" pitchFamily="34" charset="-122"/>
                  <a:ea typeface="微软雅黑" panose="020B0503020204020204" pitchFamily="34" charset="-122"/>
                </a:rPr>
                <a:t>（加入 </a:t>
              </a:r>
              <a:r>
                <a:rPr lang="en-US" altLang="zh-CN" sz="1600" b="1" dirty="0">
                  <a:latin typeface="微软雅黑" panose="020B0503020204020204" pitchFamily="34" charset="-122"/>
                  <a:ea typeface="微软雅黑" panose="020B0503020204020204" pitchFamily="34" charset="-122"/>
                </a:rPr>
                <a:t>224.1.1.10</a:t>
              </a:r>
              <a:r>
                <a:rPr lang="zh-CN" altLang="en-US" sz="1600" b="1" dirty="0">
                  <a:latin typeface="微软雅黑" panose="020B0503020204020204" pitchFamily="34" charset="-122"/>
                  <a:ea typeface="微软雅黑" panose="020B0503020204020204" pitchFamily="34" charset="-122"/>
                </a:rPr>
                <a:t>）</a:t>
              </a:r>
              <a:endParaRPr lang="en-US" altLang="zh-CN" sz="1600" b="1" dirty="0">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a:off x="2919" y="892"/>
              <a:ext cx="145" cy="166"/>
            </a:xfrm>
            <a:prstGeom prst="downArrow">
              <a:avLst>
                <a:gd name="adj1" fmla="val 50000"/>
                <a:gd name="adj2" fmla="val 51635"/>
              </a:avLst>
            </a:prstGeom>
            <a:solidFill>
              <a:schemeClr val="accent2"/>
            </a:solidFill>
            <a:ln w="12700">
              <a:solidFill>
                <a:srgbClr val="000066"/>
              </a:solidFill>
              <a:miter lim="800000"/>
              <a:headEnd/>
              <a:tailEnd/>
            </a:ln>
            <a:effectLst/>
            <a:extLst>
              <a:ext uri="{AF507438-7753-43E0-B8FC-AC1667EBCBE1}">
                <a14:hiddenEffects xmlns:a14="http://schemas.microsoft.com/office/drawing/2010/main">
                  <a:effectLst>
                    <a:outerShdw dist="35921" dir="2700000" algn="ctr" rotWithShape="0">
                      <a:schemeClr val="tx1"/>
                    </a:outerShdw>
                  </a:effectLst>
                </a14:hiddenEffects>
              </a:ext>
            </a:extLst>
          </p:spPr>
          <p:txBody>
            <a:bodyPr wrap="square" lIns="102382" tIns="52195" rIns="102382" bIns="52195">
              <a:spAutoFit/>
            </a:bodyPr>
            <a:lstStyle/>
            <a:p>
              <a:endParaRPr lang="zh-CN" altLang="en-US" sz="1600">
                <a:latin typeface="微软雅黑" panose="020B0503020204020204" pitchFamily="34" charset="-122"/>
                <a:ea typeface="微软雅黑" panose="020B0503020204020204" pitchFamily="34" charset="-122"/>
              </a:endParaRPr>
            </a:p>
          </p:txBody>
        </p:sp>
        <p:sp>
          <p:nvSpPr>
            <p:cNvPr id="35" name="Rectangle 35"/>
            <p:cNvSpPr>
              <a:spLocks noChangeArrowheads="1"/>
            </p:cNvSpPr>
            <p:nvPr/>
          </p:nvSpPr>
          <p:spPr bwMode="auto">
            <a:xfrm>
              <a:off x="3001" y="817"/>
              <a:ext cx="584" cy="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02382" tIns="52195" rIns="102382" bIns="52195">
              <a:spAutoFit/>
            </a:bodyPr>
            <a:lstStyle/>
            <a:p>
              <a:pPr algn="ctr" defTabSz="904875" eaLnBrk="0" hangingPunct="0"/>
              <a:r>
                <a:rPr lang="en-US" altLang="zh-CN" sz="1600" b="1" dirty="0">
                  <a:latin typeface="微软雅黑" panose="020B0503020204020204" pitchFamily="34" charset="-122"/>
                  <a:ea typeface="微软雅黑" panose="020B0503020204020204" pitchFamily="34" charset="-122"/>
                </a:rPr>
                <a:t>Report</a:t>
              </a:r>
            </a:p>
          </p:txBody>
        </p:sp>
      </p:grpSp>
      <p:grpSp>
        <p:nvGrpSpPr>
          <p:cNvPr id="36" name="组合 35"/>
          <p:cNvGrpSpPr/>
          <p:nvPr/>
        </p:nvGrpSpPr>
        <p:grpSpPr>
          <a:xfrm>
            <a:off x="2138326" y="1194355"/>
            <a:ext cx="3575353" cy="1851740"/>
            <a:chOff x="2584898" y="1279419"/>
            <a:chExt cx="3575353" cy="1851740"/>
          </a:xfrm>
        </p:grpSpPr>
        <p:sp>
          <p:nvSpPr>
            <p:cNvPr id="37" name="Line 2"/>
            <p:cNvSpPr>
              <a:spLocks noChangeShapeType="1"/>
            </p:cNvSpPr>
            <p:nvPr/>
          </p:nvSpPr>
          <p:spPr bwMode="auto">
            <a:xfrm flipH="1">
              <a:off x="4486828" y="1444882"/>
              <a:ext cx="1322264" cy="673414"/>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pic>
          <p:nvPicPr>
            <p:cNvPr id="38" name="Picture 2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062904" y="2469051"/>
              <a:ext cx="650322" cy="3186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9" name="Rectangle 36"/>
            <p:cNvSpPr>
              <a:spLocks noChangeArrowheads="1"/>
            </p:cNvSpPr>
            <p:nvPr/>
          </p:nvSpPr>
          <p:spPr bwMode="auto">
            <a:xfrm>
              <a:off x="3468742" y="2243167"/>
              <a:ext cx="824752" cy="3707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algn="ctr" defTabSz="904875" eaLnBrk="0" hangingPunct="0"/>
              <a:r>
                <a:rPr lang="en-US" altLang="zh-CN" b="1" dirty="0"/>
                <a:t>IGMP</a:t>
              </a:r>
            </a:p>
          </p:txBody>
        </p:sp>
        <p:sp>
          <p:nvSpPr>
            <p:cNvPr id="40" name="Line 37"/>
            <p:cNvSpPr>
              <a:spLocks noChangeShapeType="1"/>
            </p:cNvSpPr>
            <p:nvPr/>
          </p:nvSpPr>
          <p:spPr bwMode="auto">
            <a:xfrm>
              <a:off x="2896779" y="1434767"/>
              <a:ext cx="1408362" cy="690819"/>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41" name="Line 38"/>
            <p:cNvSpPr>
              <a:spLocks noChangeShapeType="1"/>
            </p:cNvSpPr>
            <p:nvPr/>
          </p:nvSpPr>
          <p:spPr bwMode="auto">
            <a:xfrm>
              <a:off x="4324232" y="1436934"/>
              <a:ext cx="0" cy="681362"/>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42" name="Line 40"/>
            <p:cNvSpPr>
              <a:spLocks noChangeShapeType="1"/>
            </p:cNvSpPr>
            <p:nvPr/>
          </p:nvSpPr>
          <p:spPr bwMode="auto">
            <a:xfrm>
              <a:off x="4404772" y="2187874"/>
              <a:ext cx="0" cy="374279"/>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pic>
          <p:nvPicPr>
            <p:cNvPr id="43" name="Picture 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062904" y="2469051"/>
              <a:ext cx="650322" cy="3186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4" name="Picture 4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584898" y="1279419"/>
              <a:ext cx="664032" cy="5065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5" name="Picture 4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026060" y="1279419"/>
              <a:ext cx="664888" cy="507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6" name="Rectangle 44"/>
            <p:cNvSpPr>
              <a:spLocks noChangeArrowheads="1"/>
            </p:cNvSpPr>
            <p:nvPr/>
          </p:nvSpPr>
          <p:spPr bwMode="auto">
            <a:xfrm>
              <a:off x="2715092" y="1312648"/>
              <a:ext cx="447717" cy="30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H1</a:t>
              </a:r>
            </a:p>
          </p:txBody>
        </p:sp>
        <p:sp>
          <p:nvSpPr>
            <p:cNvPr id="47" name="Rectangle 45"/>
            <p:cNvSpPr>
              <a:spLocks noChangeArrowheads="1"/>
            </p:cNvSpPr>
            <p:nvPr/>
          </p:nvSpPr>
          <p:spPr bwMode="auto">
            <a:xfrm>
              <a:off x="4154540" y="1311203"/>
              <a:ext cx="447717" cy="30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H2</a:t>
              </a:r>
            </a:p>
          </p:txBody>
        </p:sp>
        <p:sp>
          <p:nvSpPr>
            <p:cNvPr id="48" name="Rectangle 46"/>
            <p:cNvSpPr>
              <a:spLocks noChangeArrowheads="1"/>
            </p:cNvSpPr>
            <p:nvPr/>
          </p:nvSpPr>
          <p:spPr bwMode="auto">
            <a:xfrm>
              <a:off x="3436195" y="2760424"/>
              <a:ext cx="1844618" cy="3707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algn="ctr" defTabSz="904875" eaLnBrk="0" hangingPunct="0"/>
              <a:r>
                <a:rPr lang="zh-CN" altLang="en-US" b="1" dirty="0">
                  <a:latin typeface="微软雅黑" panose="020B0503020204020204" pitchFamily="34" charset="-122"/>
                  <a:ea typeface="微软雅黑" panose="020B0503020204020204" pitchFamily="34" charset="-122"/>
                </a:rPr>
                <a:t>多播路由器</a:t>
              </a:r>
              <a:endParaRPr lang="en-US" altLang="zh-CN" b="1" dirty="0">
                <a:latin typeface="微软雅黑" panose="020B0503020204020204" pitchFamily="34" charset="-122"/>
                <a:ea typeface="微软雅黑" panose="020B0503020204020204" pitchFamily="34" charset="-122"/>
              </a:endParaRPr>
            </a:p>
          </p:txBody>
        </p:sp>
        <p:pic>
          <p:nvPicPr>
            <p:cNvPr id="49" name="Picture 4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95363" y="1279419"/>
              <a:ext cx="664888" cy="507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0" name="Rectangle 45"/>
            <p:cNvSpPr>
              <a:spLocks noChangeArrowheads="1"/>
            </p:cNvSpPr>
            <p:nvPr/>
          </p:nvSpPr>
          <p:spPr bwMode="auto">
            <a:xfrm>
              <a:off x="5623843" y="1311203"/>
              <a:ext cx="447717" cy="30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H3</a:t>
              </a:r>
            </a:p>
          </p:txBody>
        </p:sp>
        <p:pic>
          <p:nvPicPr>
            <p:cNvPr id="51"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086388" y="2001897"/>
              <a:ext cx="604560" cy="2654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grpSp>
        <p:nvGrpSpPr>
          <p:cNvPr id="52" name="Group 29"/>
          <p:cNvGrpSpPr>
            <a:grpSpLocks/>
          </p:cNvGrpSpPr>
          <p:nvPr/>
        </p:nvGrpSpPr>
        <p:grpSpPr bwMode="auto">
          <a:xfrm>
            <a:off x="5178691" y="1229107"/>
            <a:ext cx="515897" cy="251330"/>
            <a:chOff x="3897" y="748"/>
            <a:chExt cx="272" cy="283"/>
          </a:xfrm>
        </p:grpSpPr>
        <p:sp>
          <p:nvSpPr>
            <p:cNvPr id="53" name="Rectangle 30"/>
            <p:cNvSpPr>
              <a:spLocks noChangeArrowheads="1"/>
            </p:cNvSpPr>
            <p:nvPr/>
          </p:nvSpPr>
          <p:spPr bwMode="auto">
            <a:xfrm>
              <a:off x="3898" y="801"/>
              <a:ext cx="173" cy="226"/>
            </a:xfrm>
            <a:prstGeom prst="rect">
              <a:avLst/>
            </a:prstGeom>
            <a:solidFill>
              <a:srgbClr val="00CC00"/>
            </a:solidFill>
            <a:ln w="12700">
              <a:solidFill>
                <a:srgbClr val="494936"/>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endParaRPr lang="zh-CN" altLang="en-US" sz="1400"/>
            </a:p>
          </p:txBody>
        </p:sp>
        <p:sp>
          <p:nvSpPr>
            <p:cNvPr id="54" name="Rectangle 31"/>
            <p:cNvSpPr>
              <a:spLocks noChangeArrowheads="1"/>
            </p:cNvSpPr>
            <p:nvPr/>
          </p:nvSpPr>
          <p:spPr bwMode="auto">
            <a:xfrm>
              <a:off x="3897" y="748"/>
              <a:ext cx="272" cy="2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H3</a:t>
              </a:r>
            </a:p>
          </p:txBody>
        </p:sp>
      </p:grpSp>
    </p:spTree>
    <p:extLst>
      <p:ext uri="{BB962C8B-B14F-4D97-AF65-F5344CB8AC3E}">
        <p14:creationId xmlns:p14="http://schemas.microsoft.com/office/powerpoint/2010/main" val="41963763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wipe(down)">
                                      <p:cBhvr>
                                        <p:cTn id="7" dur="1000"/>
                                        <p:tgtEl>
                                          <p:spTgt spid="29"/>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499"/>
                                          </p:stCondLst>
                                        </p:cTn>
                                        <p:tgtEl>
                                          <p:spTgt spid="52"/>
                                        </p:tgtEl>
                                        <p:attrNameLst>
                                          <p:attrName>style.visibility</p:attrName>
                                        </p:attrNameLst>
                                      </p:cBhvr>
                                      <p:to>
                                        <p:strVal val="visible"/>
                                      </p:to>
                                    </p:set>
                                  </p:childTnLst>
                                </p:cTn>
                              </p:par>
                            </p:childTnLst>
                          </p:cTn>
                        </p:par>
                        <p:par>
                          <p:cTn id="12" fill="hold">
                            <p:stCondLst>
                              <p:cond delay="500"/>
                            </p:stCondLst>
                            <p:childTnLst>
                              <p:par>
                                <p:cTn id="13" presetID="22" presetClass="entr" presetSubtype="1" fill="hold" nodeType="afterEffect">
                                  <p:stCondLst>
                                    <p:cond delay="0"/>
                                  </p:stCondLst>
                                  <p:childTnLst>
                                    <p:set>
                                      <p:cBhvr>
                                        <p:cTn id="14" dur="1" fill="hold">
                                          <p:stCondLst>
                                            <p:cond delay="0"/>
                                          </p:stCondLst>
                                        </p:cTn>
                                        <p:tgtEl>
                                          <p:spTgt spid="32"/>
                                        </p:tgtEl>
                                        <p:attrNameLst>
                                          <p:attrName>style.visibility</p:attrName>
                                        </p:attrNameLst>
                                      </p:cBhvr>
                                      <p:to>
                                        <p:strVal val="visible"/>
                                      </p:to>
                                    </p:set>
                                    <p:animEffect transition="in" filter="wipe(up)">
                                      <p:cBhvr>
                                        <p:cTn id="15" dur="10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7055"/>
            <a:ext cx="802848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86759"/>
            <a:ext cx="3775393" cy="400110"/>
          </a:xfrm>
          <a:prstGeom prst="rect">
            <a:avLst/>
          </a:prstGeom>
        </p:spPr>
        <p:txBody>
          <a:bodyPr wrap="none">
            <a:spAutoFit/>
          </a:bodyPr>
          <a:lstStyle/>
          <a:p>
            <a:r>
              <a:rPr lang="zh-CN" altLang="en-US" sz="2000" b="1" dirty="0">
                <a:latin typeface="微软雅黑" pitchFamily="34" charset="-122"/>
                <a:ea typeface="微软雅黑" pitchFamily="34" charset="-122"/>
              </a:rPr>
              <a:t>第二阶段：探询组成员变化情况</a:t>
            </a:r>
          </a:p>
        </p:txBody>
      </p:sp>
      <p:sp>
        <p:nvSpPr>
          <p:cNvPr id="5" name="圆角矩形 4"/>
          <p:cNvSpPr/>
          <p:nvPr/>
        </p:nvSpPr>
        <p:spPr>
          <a:xfrm>
            <a:off x="545144" y="1000549"/>
            <a:ext cx="8053711" cy="214090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28" name="矩形 27"/>
          <p:cNvSpPr/>
          <p:nvPr/>
        </p:nvSpPr>
        <p:spPr>
          <a:xfrm>
            <a:off x="520310" y="3192323"/>
            <a:ext cx="8028487" cy="1426031"/>
          </a:xfrm>
          <a:prstGeom prst="rect">
            <a:avLst/>
          </a:prstGeom>
        </p:spPr>
        <p:txBody>
          <a:bodyPr wrap="square">
            <a:spAutoFit/>
          </a:bodyPr>
          <a:lstStyle/>
          <a:p>
            <a:pPr marL="623888" indent="-342900">
              <a:lnSpc>
                <a:spcPts val="2600"/>
              </a:lnSpc>
              <a:buClr>
                <a:srgbClr val="7030A0"/>
              </a:buClr>
              <a:buFont typeface="+mj-lt"/>
              <a:buAutoNum type="arabicPeriod"/>
            </a:pPr>
            <a:r>
              <a:rPr lang="zh-CN" altLang="en-US" b="1" dirty="0">
                <a:latin typeface="微软雅黑" pitchFamily="34" charset="-122"/>
                <a:ea typeface="微软雅黑" pitchFamily="34" charset="-122"/>
              </a:rPr>
              <a:t>本地多播路由器</a:t>
            </a:r>
            <a:r>
              <a:rPr lang="zh-CN" altLang="en-US" b="1" dirty="0">
                <a:solidFill>
                  <a:srgbClr val="C00000"/>
                </a:solidFill>
                <a:latin typeface="微软雅黑" pitchFamily="34" charset="-122"/>
                <a:ea typeface="微软雅黑" pitchFamily="34" charset="-122"/>
              </a:rPr>
              <a:t>周期性</a:t>
            </a:r>
            <a:r>
              <a:rPr lang="zh-CN" altLang="en-US" b="1" dirty="0">
                <a:latin typeface="微软雅黑" pitchFamily="34" charset="-122"/>
                <a:ea typeface="微软雅黑" pitchFamily="34" charset="-122"/>
              </a:rPr>
              <a:t>地探询本地局域网上的主机，以便知道这些主机是否还继续是组的成员。</a:t>
            </a:r>
          </a:p>
          <a:p>
            <a:pPr marL="623888" indent="-342900">
              <a:lnSpc>
                <a:spcPts val="2600"/>
              </a:lnSpc>
              <a:buClr>
                <a:srgbClr val="7030A0"/>
              </a:buClr>
              <a:buFont typeface="+mj-lt"/>
              <a:buAutoNum type="arabicPeriod"/>
            </a:pPr>
            <a:r>
              <a:rPr lang="zh-CN" altLang="en-US" b="1" dirty="0">
                <a:latin typeface="微软雅黑" pitchFamily="34" charset="-122"/>
                <a:ea typeface="微软雅黑" pitchFamily="34" charset="-122"/>
              </a:rPr>
              <a:t>但一个组在经过几次的探询后仍然没有一个主机响应，则不再将该组的成员关系转发给其他的多播路由器。</a:t>
            </a:r>
          </a:p>
        </p:txBody>
      </p:sp>
      <p:grpSp>
        <p:nvGrpSpPr>
          <p:cNvPr id="25" name="Group 7"/>
          <p:cNvGrpSpPr>
            <a:grpSpLocks/>
          </p:cNvGrpSpPr>
          <p:nvPr/>
        </p:nvGrpSpPr>
        <p:grpSpPr bwMode="auto">
          <a:xfrm>
            <a:off x="4285943" y="2025553"/>
            <a:ext cx="2736221" cy="709438"/>
            <a:chOff x="2909" y="1739"/>
            <a:chExt cx="2152" cy="398"/>
          </a:xfrm>
        </p:grpSpPr>
        <p:sp>
          <p:nvSpPr>
            <p:cNvPr id="26" name="AutoShape 8"/>
            <p:cNvSpPr>
              <a:spLocks noChangeArrowheads="1"/>
            </p:cNvSpPr>
            <p:nvPr/>
          </p:nvSpPr>
          <p:spPr bwMode="auto">
            <a:xfrm>
              <a:off x="2909" y="1832"/>
              <a:ext cx="205" cy="182"/>
            </a:xfrm>
            <a:prstGeom prst="upArrow">
              <a:avLst>
                <a:gd name="adj1" fmla="val 50000"/>
                <a:gd name="adj2" fmla="val 51626"/>
              </a:avLst>
            </a:prstGeom>
            <a:solidFill>
              <a:schemeClr val="accent2"/>
            </a:solidFill>
            <a:ln w="12700">
              <a:solidFill>
                <a:srgbClr val="000066"/>
              </a:solidFill>
              <a:miter lim="800000"/>
              <a:headEnd/>
              <a:tailEnd/>
            </a:ln>
            <a:effectLst/>
            <a:extLst>
              <a:ext uri="{AF507438-7753-43E0-B8FC-AC1667EBCBE1}">
                <a14:hiddenEffects xmlns:a14="http://schemas.microsoft.com/office/drawing/2010/main">
                  <a:effectLst>
                    <a:outerShdw dist="35921" dir="2700000" algn="ctr" rotWithShape="0">
                      <a:schemeClr val="tx1"/>
                    </a:outerShdw>
                  </a:effectLst>
                </a14:hiddenEffects>
              </a:ext>
            </a:extLst>
          </p:spPr>
          <p:txBody>
            <a:bodyPr wrap="none" lIns="91044" tIns="46415" rIns="91044" bIns="46415">
              <a:spAutoFit/>
            </a:bodyPr>
            <a:lstStyle/>
            <a:p>
              <a:endParaRPr lang="zh-CN" altLang="en-US" sz="1600">
                <a:latin typeface="微软雅黑" panose="020B0503020204020204" pitchFamily="34" charset="-122"/>
                <a:ea typeface="微软雅黑" panose="020B0503020204020204" pitchFamily="34" charset="-122"/>
              </a:endParaRPr>
            </a:p>
          </p:txBody>
        </p:sp>
        <p:sp>
          <p:nvSpPr>
            <p:cNvPr id="32" name="Rectangle 9"/>
            <p:cNvSpPr>
              <a:spLocks noChangeArrowheads="1"/>
            </p:cNvSpPr>
            <p:nvPr/>
          </p:nvSpPr>
          <p:spPr bwMode="auto">
            <a:xfrm>
              <a:off x="3076" y="1739"/>
              <a:ext cx="1985" cy="3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lnSpc>
                  <a:spcPts val="2400"/>
                </a:lnSpc>
              </a:pPr>
              <a:r>
                <a:rPr lang="en-US" altLang="zh-CN" sz="1600" b="1" dirty="0">
                  <a:latin typeface="微软雅黑" panose="020B0503020204020204" pitchFamily="34" charset="-122"/>
                  <a:ea typeface="微软雅黑" panose="020B0503020204020204" pitchFamily="34" charset="-122"/>
                </a:rPr>
                <a:t> Query </a:t>
              </a:r>
            </a:p>
            <a:p>
              <a:pPr defTabSz="904875" eaLnBrk="0" hangingPunct="0">
                <a:lnSpc>
                  <a:spcPts val="2400"/>
                </a:lnSpc>
              </a:pPr>
              <a:r>
                <a:rPr lang="zh-CN" altLang="en-US" sz="1600" b="1" dirty="0">
                  <a:latin typeface="微软雅黑" panose="020B0503020204020204" pitchFamily="34" charset="-122"/>
                  <a:ea typeface="微软雅黑" panose="020B0503020204020204" pitchFamily="34" charset="-122"/>
                </a:rPr>
                <a:t>（有主机在多播组吗？）</a:t>
              </a:r>
              <a:endParaRPr lang="en-US" altLang="zh-CN" sz="1600" b="1" dirty="0">
                <a:latin typeface="微软雅黑" panose="020B0503020204020204" pitchFamily="34" charset="-122"/>
                <a:ea typeface="微软雅黑" panose="020B0503020204020204" pitchFamily="34" charset="-122"/>
              </a:endParaRPr>
            </a:p>
          </p:txBody>
        </p:sp>
      </p:grpSp>
      <p:grpSp>
        <p:nvGrpSpPr>
          <p:cNvPr id="33" name="组合 32"/>
          <p:cNvGrpSpPr/>
          <p:nvPr/>
        </p:nvGrpSpPr>
        <p:grpSpPr>
          <a:xfrm>
            <a:off x="2138326" y="1194355"/>
            <a:ext cx="3575353" cy="1851740"/>
            <a:chOff x="2584898" y="1279419"/>
            <a:chExt cx="3575353" cy="1851740"/>
          </a:xfrm>
        </p:grpSpPr>
        <p:sp>
          <p:nvSpPr>
            <p:cNvPr id="34" name="Line 2"/>
            <p:cNvSpPr>
              <a:spLocks noChangeShapeType="1"/>
            </p:cNvSpPr>
            <p:nvPr/>
          </p:nvSpPr>
          <p:spPr bwMode="auto">
            <a:xfrm flipH="1">
              <a:off x="4486828" y="1444882"/>
              <a:ext cx="1322264" cy="673414"/>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pic>
          <p:nvPicPr>
            <p:cNvPr id="35" name="Picture 2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062904" y="2469051"/>
              <a:ext cx="650322" cy="3186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6" name="Rectangle 36"/>
            <p:cNvSpPr>
              <a:spLocks noChangeArrowheads="1"/>
            </p:cNvSpPr>
            <p:nvPr/>
          </p:nvSpPr>
          <p:spPr bwMode="auto">
            <a:xfrm>
              <a:off x="3468742" y="2243167"/>
              <a:ext cx="824752" cy="3707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algn="ctr" defTabSz="904875" eaLnBrk="0" hangingPunct="0"/>
              <a:r>
                <a:rPr lang="en-US" altLang="zh-CN" b="1" dirty="0"/>
                <a:t>IGMP</a:t>
              </a:r>
            </a:p>
          </p:txBody>
        </p:sp>
        <p:sp>
          <p:nvSpPr>
            <p:cNvPr id="37" name="Line 37"/>
            <p:cNvSpPr>
              <a:spLocks noChangeShapeType="1"/>
            </p:cNvSpPr>
            <p:nvPr/>
          </p:nvSpPr>
          <p:spPr bwMode="auto">
            <a:xfrm>
              <a:off x="2896779" y="1434767"/>
              <a:ext cx="1408362" cy="690819"/>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38" name="Line 38"/>
            <p:cNvSpPr>
              <a:spLocks noChangeShapeType="1"/>
            </p:cNvSpPr>
            <p:nvPr/>
          </p:nvSpPr>
          <p:spPr bwMode="auto">
            <a:xfrm>
              <a:off x="4324232" y="1436934"/>
              <a:ext cx="0" cy="681362"/>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39" name="Line 40"/>
            <p:cNvSpPr>
              <a:spLocks noChangeShapeType="1"/>
            </p:cNvSpPr>
            <p:nvPr/>
          </p:nvSpPr>
          <p:spPr bwMode="auto">
            <a:xfrm>
              <a:off x="4404772" y="2187874"/>
              <a:ext cx="0" cy="374279"/>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pic>
          <p:nvPicPr>
            <p:cNvPr id="40" name="Picture 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062904" y="2469051"/>
              <a:ext cx="650322" cy="3186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1" name="Picture 4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584898" y="1279419"/>
              <a:ext cx="664032" cy="5065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 name="Picture 4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026060" y="1279419"/>
              <a:ext cx="664888" cy="507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3" name="Rectangle 44"/>
            <p:cNvSpPr>
              <a:spLocks noChangeArrowheads="1"/>
            </p:cNvSpPr>
            <p:nvPr/>
          </p:nvSpPr>
          <p:spPr bwMode="auto">
            <a:xfrm>
              <a:off x="2715092" y="1312648"/>
              <a:ext cx="447717" cy="30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H1</a:t>
              </a:r>
            </a:p>
          </p:txBody>
        </p:sp>
        <p:sp>
          <p:nvSpPr>
            <p:cNvPr id="44" name="Rectangle 45"/>
            <p:cNvSpPr>
              <a:spLocks noChangeArrowheads="1"/>
            </p:cNvSpPr>
            <p:nvPr/>
          </p:nvSpPr>
          <p:spPr bwMode="auto">
            <a:xfrm>
              <a:off x="4154540" y="1311203"/>
              <a:ext cx="447717" cy="30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H2</a:t>
              </a:r>
            </a:p>
          </p:txBody>
        </p:sp>
        <p:sp>
          <p:nvSpPr>
            <p:cNvPr id="45" name="Rectangle 46"/>
            <p:cNvSpPr>
              <a:spLocks noChangeArrowheads="1"/>
            </p:cNvSpPr>
            <p:nvPr/>
          </p:nvSpPr>
          <p:spPr bwMode="auto">
            <a:xfrm>
              <a:off x="3436195" y="2760424"/>
              <a:ext cx="1844618" cy="3707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algn="ctr" defTabSz="904875" eaLnBrk="0" hangingPunct="0"/>
              <a:r>
                <a:rPr lang="zh-CN" altLang="en-US" b="1" dirty="0">
                  <a:latin typeface="微软雅黑" panose="020B0503020204020204" pitchFamily="34" charset="-122"/>
                  <a:ea typeface="微软雅黑" panose="020B0503020204020204" pitchFamily="34" charset="-122"/>
                </a:rPr>
                <a:t>多播路由器</a:t>
              </a:r>
              <a:endParaRPr lang="en-US" altLang="zh-CN" b="1" dirty="0">
                <a:latin typeface="微软雅黑" panose="020B0503020204020204" pitchFamily="34" charset="-122"/>
                <a:ea typeface="微软雅黑" panose="020B0503020204020204" pitchFamily="34" charset="-122"/>
              </a:endParaRPr>
            </a:p>
          </p:txBody>
        </p:sp>
        <p:pic>
          <p:nvPicPr>
            <p:cNvPr id="46" name="Picture 4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95363" y="1279419"/>
              <a:ext cx="664888" cy="507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7" name="Rectangle 45"/>
            <p:cNvSpPr>
              <a:spLocks noChangeArrowheads="1"/>
            </p:cNvSpPr>
            <p:nvPr/>
          </p:nvSpPr>
          <p:spPr bwMode="auto">
            <a:xfrm>
              <a:off x="5623843" y="1311203"/>
              <a:ext cx="447717" cy="30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H3</a:t>
              </a:r>
            </a:p>
          </p:txBody>
        </p:sp>
        <p:pic>
          <p:nvPicPr>
            <p:cNvPr id="48"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086388" y="2001897"/>
              <a:ext cx="604560" cy="2654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Tree>
    <p:extLst>
      <p:ext uri="{BB962C8B-B14F-4D97-AF65-F5344CB8AC3E}">
        <p14:creationId xmlns:p14="http://schemas.microsoft.com/office/powerpoint/2010/main" val="364206160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repeatCount="3000"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ipe(down)">
                                      <p:cBhvr>
                                        <p:cTn id="7" dur="10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5197"/>
            <a:ext cx="802848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75221"/>
            <a:ext cx="5849678" cy="400110"/>
          </a:xfrm>
          <a:prstGeom prst="rect">
            <a:avLst/>
          </a:prstGeom>
        </p:spPr>
        <p:txBody>
          <a:bodyPr wrap="none">
            <a:spAutoFit/>
          </a:bodyPr>
          <a:lstStyle/>
          <a:p>
            <a:r>
              <a:rPr lang="en-US" altLang="zh-CN" sz="2000" b="1" dirty="0">
                <a:latin typeface="微软雅黑" pitchFamily="34" charset="-122"/>
                <a:ea typeface="微软雅黑" pitchFamily="34" charset="-122"/>
              </a:rPr>
              <a:t>IGMP </a:t>
            </a:r>
            <a:r>
              <a:rPr lang="zh-CN" altLang="en-US" sz="2000" b="1" dirty="0">
                <a:latin typeface="微软雅黑" pitchFamily="34" charset="-122"/>
                <a:ea typeface="微软雅黑" pitchFamily="34" charset="-122"/>
              </a:rPr>
              <a:t>采用的一些具体措施，以避免增加大量开销</a:t>
            </a:r>
          </a:p>
        </p:txBody>
      </p:sp>
      <p:sp>
        <p:nvSpPr>
          <p:cNvPr id="4" name="矩形 3"/>
          <p:cNvSpPr/>
          <p:nvPr/>
        </p:nvSpPr>
        <p:spPr>
          <a:xfrm>
            <a:off x="616084" y="948124"/>
            <a:ext cx="7957547" cy="2208297"/>
          </a:xfrm>
          <a:prstGeom prst="rect">
            <a:avLst/>
          </a:prstGeom>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所有通信</a:t>
            </a:r>
            <a:r>
              <a:rPr lang="zh-CN" altLang="en-US" sz="2000" b="1" dirty="0">
                <a:solidFill>
                  <a:srgbClr val="C00000"/>
                </a:solidFill>
                <a:latin typeface="微软雅黑" pitchFamily="34" charset="-122"/>
                <a:ea typeface="微软雅黑" pitchFamily="34" charset="-122"/>
              </a:rPr>
              <a:t>都使用 </a:t>
            </a:r>
            <a:r>
              <a:rPr lang="en-US" altLang="zh-CN" sz="2000" b="1" dirty="0">
                <a:solidFill>
                  <a:srgbClr val="C00000"/>
                </a:solidFill>
                <a:latin typeface="微软雅黑" pitchFamily="34" charset="-122"/>
                <a:ea typeface="微软雅黑" pitchFamily="34" charset="-122"/>
              </a:rPr>
              <a:t>IP </a:t>
            </a:r>
            <a:r>
              <a:rPr lang="zh-CN" altLang="en-US" sz="2000" b="1" dirty="0">
                <a:solidFill>
                  <a:srgbClr val="C00000"/>
                </a:solidFill>
                <a:latin typeface="微软雅黑" pitchFamily="34" charset="-122"/>
                <a:ea typeface="微软雅黑" pitchFamily="34" charset="-122"/>
              </a:rPr>
              <a:t>多播。</a:t>
            </a:r>
            <a:r>
              <a:rPr lang="zh-CN" altLang="en-US" sz="2000" b="1" dirty="0">
                <a:latin typeface="微软雅黑" pitchFamily="34" charset="-122"/>
                <a:ea typeface="微软雅黑" pitchFamily="34" charset="-122"/>
              </a:rPr>
              <a:t>只要有可能，都用</a:t>
            </a:r>
            <a:r>
              <a:rPr lang="zh-CN" altLang="en-US" sz="2000" b="1" dirty="0">
                <a:solidFill>
                  <a:srgbClr val="C00000"/>
                </a:solidFill>
                <a:latin typeface="微软雅黑" pitchFamily="34" charset="-122"/>
                <a:ea typeface="微软雅黑" pitchFamily="34" charset="-122"/>
              </a:rPr>
              <a:t>硬件多播</a:t>
            </a:r>
            <a:r>
              <a:rPr lang="zh-CN" altLang="en-US" sz="2000" b="1" dirty="0">
                <a:latin typeface="微软雅黑" pitchFamily="34" charset="-122"/>
                <a:ea typeface="微软雅黑" pitchFamily="34" charset="-122"/>
              </a:rPr>
              <a:t>来传送。</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对所有的组</a:t>
            </a:r>
            <a:r>
              <a:rPr lang="zh-CN" altLang="en-US" sz="2000" b="1" dirty="0">
                <a:solidFill>
                  <a:srgbClr val="C00000"/>
                </a:solidFill>
                <a:latin typeface="微软雅黑" pitchFamily="34" charset="-122"/>
                <a:ea typeface="微软雅黑" pitchFamily="34" charset="-122"/>
              </a:rPr>
              <a:t>只发送一个</a:t>
            </a:r>
            <a:r>
              <a:rPr lang="zh-CN" altLang="en-US" sz="2000" b="1" dirty="0">
                <a:latin typeface="微软雅黑" pitchFamily="34" charset="-122"/>
                <a:ea typeface="微软雅黑" pitchFamily="34" charset="-122"/>
              </a:rPr>
              <a:t>请求信息的询问报文。默认询问速率是每 </a:t>
            </a:r>
            <a:r>
              <a:rPr lang="en-US" altLang="zh-CN" sz="2000" b="1" dirty="0">
                <a:latin typeface="微软雅黑" pitchFamily="34" charset="-122"/>
                <a:ea typeface="微软雅黑" pitchFamily="34" charset="-122"/>
              </a:rPr>
              <a:t>125 </a:t>
            </a:r>
            <a:r>
              <a:rPr lang="zh-CN" altLang="en-US" sz="2000" b="1" dirty="0">
                <a:latin typeface="微软雅黑" pitchFamily="34" charset="-122"/>
                <a:ea typeface="微软雅黑" pitchFamily="34" charset="-122"/>
              </a:rPr>
              <a:t>秒发送一次。</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当同一个网络上连接有多个多播路由器时，能迅速和有效地选择</a:t>
            </a:r>
            <a:r>
              <a:rPr lang="zh-CN" altLang="en-US" sz="2000" b="1" dirty="0">
                <a:solidFill>
                  <a:srgbClr val="C00000"/>
                </a:solidFill>
                <a:latin typeface="微软雅黑" pitchFamily="34" charset="-122"/>
                <a:ea typeface="微软雅黑" pitchFamily="34" charset="-122"/>
              </a:rPr>
              <a:t>其中的一个</a:t>
            </a:r>
            <a:r>
              <a:rPr lang="zh-CN" altLang="en-US" sz="2000" b="1" dirty="0">
                <a:latin typeface="微软雅黑" pitchFamily="34" charset="-122"/>
                <a:ea typeface="微软雅黑" pitchFamily="34" charset="-122"/>
              </a:rPr>
              <a:t>来探询主机的成员关系。</a:t>
            </a:r>
            <a:endParaRPr lang="en-US" altLang="zh-CN" sz="2000" b="1" dirty="0">
              <a:latin typeface="微软雅黑" pitchFamily="34" charset="-122"/>
              <a:ea typeface="微软雅黑" pitchFamily="34" charset="-122"/>
            </a:endParaRPr>
          </a:p>
        </p:txBody>
      </p:sp>
    </p:spTree>
    <p:extLst>
      <p:ext uri="{BB962C8B-B14F-4D97-AF65-F5344CB8AC3E}">
        <p14:creationId xmlns:p14="http://schemas.microsoft.com/office/powerpoint/2010/main" val="195738750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5197"/>
            <a:ext cx="802848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75221"/>
            <a:ext cx="5849678" cy="400110"/>
          </a:xfrm>
          <a:prstGeom prst="rect">
            <a:avLst/>
          </a:prstGeom>
        </p:spPr>
        <p:txBody>
          <a:bodyPr wrap="none">
            <a:spAutoFit/>
          </a:bodyPr>
          <a:lstStyle/>
          <a:p>
            <a:r>
              <a:rPr lang="en-US" altLang="zh-CN" sz="2000" b="1" dirty="0">
                <a:latin typeface="微软雅黑" pitchFamily="34" charset="-122"/>
                <a:ea typeface="微软雅黑" pitchFamily="34" charset="-122"/>
              </a:rPr>
              <a:t>IGMP </a:t>
            </a:r>
            <a:r>
              <a:rPr lang="zh-CN" altLang="en-US" sz="2000" b="1" dirty="0">
                <a:latin typeface="微软雅黑" pitchFamily="34" charset="-122"/>
                <a:ea typeface="微软雅黑" pitchFamily="34" charset="-122"/>
              </a:rPr>
              <a:t>采用的一些具体措施，以避免增加大量开销</a:t>
            </a:r>
          </a:p>
        </p:txBody>
      </p:sp>
      <p:sp>
        <p:nvSpPr>
          <p:cNvPr id="4" name="矩形 3"/>
          <p:cNvSpPr/>
          <p:nvPr/>
        </p:nvSpPr>
        <p:spPr>
          <a:xfrm>
            <a:off x="616084" y="948124"/>
            <a:ext cx="7957547" cy="3054682"/>
          </a:xfrm>
          <a:prstGeom prst="rect">
            <a:avLst/>
          </a:prstGeom>
        </p:spPr>
        <p:txBody>
          <a:bodyPr wrap="square">
            <a:spAutoFit/>
          </a:bodyPr>
          <a:lstStyle/>
          <a:p>
            <a:pPr marL="285750" indent="-28575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分散响应。</a:t>
            </a:r>
            <a:r>
              <a:rPr lang="zh-CN" altLang="en-US" sz="2000" b="1" dirty="0">
                <a:latin typeface="微软雅黑" pitchFamily="34" charset="-122"/>
                <a:ea typeface="微软雅黑" pitchFamily="34" charset="-122"/>
              </a:rPr>
              <a:t>在 </a:t>
            </a:r>
            <a:r>
              <a:rPr lang="en-US" altLang="zh-CN" sz="2000" b="1" dirty="0">
                <a:latin typeface="微软雅黑" pitchFamily="34" charset="-122"/>
                <a:ea typeface="微软雅黑" pitchFamily="34" charset="-122"/>
              </a:rPr>
              <a:t>IGMP </a:t>
            </a:r>
            <a:r>
              <a:rPr lang="zh-CN" altLang="en-US" sz="2000" b="1" dirty="0">
                <a:latin typeface="微软雅黑" pitchFamily="34" charset="-122"/>
                <a:ea typeface="微软雅黑" pitchFamily="34" charset="-122"/>
              </a:rPr>
              <a:t>的询问报文中有一个数值 </a:t>
            </a:r>
            <a:r>
              <a:rPr lang="en-US" altLang="zh-CN" sz="2000" b="1" dirty="0">
                <a:latin typeface="微软雅黑" pitchFamily="34" charset="-122"/>
                <a:ea typeface="微软雅黑" pitchFamily="34" charset="-122"/>
              </a:rPr>
              <a:t>N</a:t>
            </a:r>
            <a:r>
              <a:rPr lang="zh-CN" altLang="en-US" sz="2000" b="1" dirty="0">
                <a:latin typeface="微软雅黑" pitchFamily="34" charset="-122"/>
                <a:ea typeface="微软雅黑" pitchFamily="34" charset="-122"/>
              </a:rPr>
              <a:t>，它指明一个</a:t>
            </a:r>
            <a:r>
              <a:rPr lang="zh-CN" altLang="en-US" sz="2000" b="1" dirty="0">
                <a:solidFill>
                  <a:srgbClr val="0000FF"/>
                </a:solidFill>
                <a:latin typeface="微软雅黑" pitchFamily="34" charset="-122"/>
                <a:ea typeface="微软雅黑" pitchFamily="34" charset="-122"/>
              </a:rPr>
              <a:t>最长响应时间</a:t>
            </a:r>
            <a:r>
              <a:rPr lang="zh-CN" altLang="en-US" sz="2000" b="1" dirty="0">
                <a:latin typeface="微软雅黑" pitchFamily="34" charset="-122"/>
                <a:ea typeface="微软雅黑" pitchFamily="34" charset="-122"/>
              </a:rPr>
              <a:t>（默认值为 </a:t>
            </a:r>
            <a:r>
              <a:rPr lang="en-US" altLang="zh-CN" sz="2000" b="1" dirty="0">
                <a:latin typeface="微软雅黑" pitchFamily="34" charset="-122"/>
                <a:ea typeface="微软雅黑" pitchFamily="34" charset="-122"/>
              </a:rPr>
              <a:t>10 </a:t>
            </a:r>
            <a:r>
              <a:rPr lang="zh-CN" altLang="en-US" sz="2000" b="1" dirty="0">
                <a:latin typeface="微软雅黑" pitchFamily="34" charset="-122"/>
                <a:ea typeface="微软雅黑" pitchFamily="34" charset="-122"/>
              </a:rPr>
              <a:t>秒）。当收到询问时，主机在 </a:t>
            </a:r>
            <a:r>
              <a:rPr lang="en-US" altLang="zh-CN" sz="2000" b="1" dirty="0">
                <a:latin typeface="微软雅黑" pitchFamily="34" charset="-122"/>
                <a:ea typeface="微软雅黑" pitchFamily="34" charset="-122"/>
              </a:rPr>
              <a:t>0 </a:t>
            </a:r>
            <a:r>
              <a:rPr lang="zh-CN" altLang="en-US" sz="2000" b="1" dirty="0">
                <a:latin typeface="微软雅黑" pitchFamily="34" charset="-122"/>
                <a:ea typeface="微软雅黑" pitchFamily="34" charset="-122"/>
              </a:rPr>
              <a:t>到 </a:t>
            </a:r>
            <a:r>
              <a:rPr lang="en-US" altLang="zh-CN" sz="2000" b="1" dirty="0">
                <a:latin typeface="微软雅黑" pitchFamily="34" charset="-122"/>
                <a:ea typeface="微软雅黑" pitchFamily="34" charset="-122"/>
              </a:rPr>
              <a:t>N </a:t>
            </a:r>
            <a:r>
              <a:rPr lang="zh-CN" altLang="en-US" sz="2000" b="1" dirty="0">
                <a:latin typeface="微软雅黑" pitchFamily="34" charset="-122"/>
                <a:ea typeface="微软雅黑" pitchFamily="34" charset="-122"/>
              </a:rPr>
              <a:t>之间</a:t>
            </a:r>
            <a:r>
              <a:rPr lang="zh-CN" altLang="en-US" sz="2000" b="1" dirty="0">
                <a:solidFill>
                  <a:srgbClr val="0000FF"/>
                </a:solidFill>
                <a:latin typeface="微软雅黑" pitchFamily="34" charset="-122"/>
                <a:ea typeface="微软雅黑" pitchFamily="34" charset="-122"/>
              </a:rPr>
              <a:t>随机</a:t>
            </a:r>
            <a:r>
              <a:rPr lang="zh-CN" altLang="en-US" sz="2000" b="1" dirty="0">
                <a:latin typeface="微软雅黑" pitchFamily="34" charset="-122"/>
                <a:ea typeface="微软雅黑" pitchFamily="34" charset="-122"/>
              </a:rPr>
              <a:t>选择发送响应所需经过的时延。若一台主机同时参加了几个多播组，则主机对每一个多播组选择不同的随机数。对应于最小时延的响应最先发送。</a:t>
            </a:r>
          </a:p>
          <a:p>
            <a:pPr marL="285750" indent="-28575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采用抑制机制。</a:t>
            </a:r>
            <a:r>
              <a:rPr lang="zh-CN" altLang="en-US" sz="2000" b="1" dirty="0">
                <a:latin typeface="微软雅黑" pitchFamily="34" charset="-122"/>
                <a:ea typeface="微软雅黑" pitchFamily="34" charset="-122"/>
              </a:rPr>
              <a:t>同一个组内的每一个主机都要监听响应，只要有本组的其他主机先发送了响应，自己就不再发送响应了。</a:t>
            </a:r>
          </a:p>
        </p:txBody>
      </p:sp>
    </p:spTree>
    <p:extLst>
      <p:ext uri="{BB962C8B-B14F-4D97-AF65-F5344CB8AC3E}">
        <p14:creationId xmlns:p14="http://schemas.microsoft.com/office/powerpoint/2010/main" val="155120489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5" y="630970"/>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97759"/>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多播路由选择</a:t>
            </a:r>
          </a:p>
        </p:txBody>
      </p:sp>
      <p:sp>
        <p:nvSpPr>
          <p:cNvPr id="5" name="圆角矩形 4"/>
          <p:cNvSpPr/>
          <p:nvPr/>
        </p:nvSpPr>
        <p:spPr>
          <a:xfrm>
            <a:off x="602840" y="1031080"/>
            <a:ext cx="8053711" cy="325120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05" name="Text Box 102"/>
          <p:cNvSpPr txBox="1">
            <a:spLocks noChangeArrowheads="1"/>
          </p:cNvSpPr>
          <p:nvPr/>
        </p:nvSpPr>
        <p:spPr bwMode="auto">
          <a:xfrm>
            <a:off x="5243372" y="1355287"/>
            <a:ext cx="3107223" cy="2426305"/>
          </a:xfrm>
          <a:prstGeom prst="rect">
            <a:avLst/>
          </a:prstGeom>
          <a:solidFill>
            <a:schemeClr val="bg1"/>
          </a:solidFill>
          <a:ln>
            <a:noFill/>
          </a:ln>
          <a:effectLst/>
        </p:spPr>
        <p:txBody>
          <a:bodyPr wrap="square">
            <a:spAutoFit/>
          </a:bodyPr>
          <a:lstStyle/>
          <a:p>
            <a:pPr marL="285750" indent="-285750">
              <a:lnSpc>
                <a:spcPts val="2600"/>
              </a:lnSpc>
              <a:buFont typeface="Wingdings" panose="05000000000000000000" pitchFamily="2" charset="2"/>
              <a:buChar char="l"/>
            </a:pPr>
            <a:r>
              <a:rPr lang="zh-CN" altLang="en-US" b="1" dirty="0">
                <a:latin typeface="微软雅黑" pitchFamily="34" charset="-122"/>
                <a:ea typeface="微软雅黑" pitchFamily="34" charset="-122"/>
              </a:rPr>
              <a:t>实际上就是要找出以源主机为根节点的</a:t>
            </a:r>
            <a:r>
              <a:rPr lang="zh-CN" altLang="en-US" b="1" dirty="0">
                <a:solidFill>
                  <a:srgbClr val="C00000"/>
                </a:solidFill>
                <a:latin typeface="微软雅黑" pitchFamily="34" charset="-122"/>
                <a:ea typeface="微软雅黑" pitchFamily="34" charset="-122"/>
              </a:rPr>
              <a:t>多播转发树。</a:t>
            </a:r>
            <a:endParaRPr lang="en-US" altLang="zh-CN" b="1" dirty="0">
              <a:solidFill>
                <a:srgbClr val="C00000"/>
              </a:solidFill>
              <a:latin typeface="微软雅黑" pitchFamily="34" charset="-122"/>
              <a:ea typeface="微软雅黑" pitchFamily="34" charset="-122"/>
            </a:endParaRPr>
          </a:p>
          <a:p>
            <a:pPr marL="285750" indent="-285750">
              <a:lnSpc>
                <a:spcPts val="2600"/>
              </a:lnSpc>
              <a:buFont typeface="Wingdings" panose="05000000000000000000" pitchFamily="2" charset="2"/>
              <a:buChar char="l"/>
            </a:pPr>
            <a:r>
              <a:rPr lang="zh-CN" altLang="en-US" b="1" dirty="0">
                <a:latin typeface="微软雅黑" pitchFamily="34" charset="-122"/>
                <a:ea typeface="微软雅黑" pitchFamily="34" charset="-122"/>
              </a:rPr>
              <a:t>不同的多播组对应于不同的多播转发树。</a:t>
            </a:r>
          </a:p>
          <a:p>
            <a:pPr marL="285750" indent="-285750">
              <a:lnSpc>
                <a:spcPts val="2600"/>
              </a:lnSpc>
              <a:buFont typeface="Wingdings" panose="05000000000000000000" pitchFamily="2" charset="2"/>
              <a:buChar char="l"/>
            </a:pPr>
            <a:r>
              <a:rPr lang="zh-CN" altLang="en-US" b="1" dirty="0">
                <a:latin typeface="微软雅黑" pitchFamily="34" charset="-122"/>
                <a:ea typeface="微软雅黑" pitchFamily="34" charset="-122"/>
              </a:rPr>
              <a:t>同一个多播组，对不同的源点也会有不同的多播转发树。</a:t>
            </a:r>
          </a:p>
        </p:txBody>
      </p:sp>
      <p:grpSp>
        <p:nvGrpSpPr>
          <p:cNvPr id="128" name="组合 127"/>
          <p:cNvGrpSpPr/>
          <p:nvPr/>
        </p:nvGrpSpPr>
        <p:grpSpPr>
          <a:xfrm>
            <a:off x="1170981" y="1622811"/>
            <a:ext cx="3404282" cy="2311540"/>
            <a:chOff x="2773530" y="1524561"/>
            <a:chExt cx="3404282" cy="2311540"/>
          </a:xfrm>
        </p:grpSpPr>
        <p:sp>
          <p:nvSpPr>
            <p:cNvPr id="112" name="Line 5"/>
            <p:cNvSpPr>
              <a:spLocks noChangeShapeType="1"/>
            </p:cNvSpPr>
            <p:nvPr/>
          </p:nvSpPr>
          <p:spPr bwMode="auto">
            <a:xfrm>
              <a:off x="4299768" y="1524561"/>
              <a:ext cx="0" cy="312312"/>
            </a:xfrm>
            <a:prstGeom prst="line">
              <a:avLst/>
            </a:prstGeom>
            <a:noFill/>
            <a:ln w="19050">
              <a:solidFill>
                <a:srgbClr val="990099"/>
              </a:solidFill>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3" name="Line 6"/>
            <p:cNvSpPr>
              <a:spLocks noChangeShapeType="1"/>
            </p:cNvSpPr>
            <p:nvPr/>
          </p:nvSpPr>
          <p:spPr bwMode="auto">
            <a:xfrm flipV="1">
              <a:off x="3534617" y="1878555"/>
              <a:ext cx="787069" cy="395074"/>
            </a:xfrm>
            <a:prstGeom prst="line">
              <a:avLst/>
            </a:prstGeom>
            <a:noFill/>
            <a:ln w="19050">
              <a:solidFill>
                <a:srgbClr val="990099"/>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4" name="Line 11"/>
            <p:cNvSpPr>
              <a:spLocks noChangeShapeType="1"/>
            </p:cNvSpPr>
            <p:nvPr/>
          </p:nvSpPr>
          <p:spPr bwMode="auto">
            <a:xfrm>
              <a:off x="3343807" y="2400536"/>
              <a:ext cx="0" cy="811691"/>
            </a:xfrm>
            <a:prstGeom prst="line">
              <a:avLst/>
            </a:prstGeom>
            <a:noFill/>
            <a:ln w="19050">
              <a:solidFill>
                <a:srgbClr val="990099"/>
              </a:solidFill>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5" name="Line 15"/>
            <p:cNvSpPr>
              <a:spLocks noChangeShapeType="1"/>
            </p:cNvSpPr>
            <p:nvPr/>
          </p:nvSpPr>
          <p:spPr bwMode="auto">
            <a:xfrm flipH="1">
              <a:off x="2773530" y="3273931"/>
              <a:ext cx="642944" cy="500984"/>
            </a:xfrm>
            <a:prstGeom prst="line">
              <a:avLst/>
            </a:prstGeom>
            <a:noFill/>
            <a:ln w="19050">
              <a:solidFill>
                <a:srgbClr val="990099"/>
              </a:solidFill>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6" name="Line 12"/>
            <p:cNvSpPr>
              <a:spLocks noChangeShapeType="1"/>
            </p:cNvSpPr>
            <p:nvPr/>
          </p:nvSpPr>
          <p:spPr bwMode="auto">
            <a:xfrm>
              <a:off x="3414880" y="3274100"/>
              <a:ext cx="877059" cy="562001"/>
            </a:xfrm>
            <a:prstGeom prst="line">
              <a:avLst/>
            </a:prstGeom>
            <a:noFill/>
            <a:ln w="19050">
              <a:solidFill>
                <a:srgbClr val="990099"/>
              </a:solidFill>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7" name="Line 10"/>
            <p:cNvSpPr>
              <a:spLocks noChangeShapeType="1"/>
            </p:cNvSpPr>
            <p:nvPr/>
          </p:nvSpPr>
          <p:spPr bwMode="auto">
            <a:xfrm>
              <a:off x="4467691" y="1940517"/>
              <a:ext cx="862393" cy="332151"/>
            </a:xfrm>
            <a:prstGeom prst="line">
              <a:avLst/>
            </a:prstGeom>
            <a:noFill/>
            <a:ln w="19050">
              <a:solidFill>
                <a:srgbClr val="990099"/>
              </a:solidFill>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9" name="Line 16"/>
            <p:cNvSpPr>
              <a:spLocks noChangeShapeType="1"/>
            </p:cNvSpPr>
            <p:nvPr/>
          </p:nvSpPr>
          <p:spPr bwMode="auto">
            <a:xfrm>
              <a:off x="5453369" y="3275597"/>
              <a:ext cx="724443" cy="447067"/>
            </a:xfrm>
            <a:prstGeom prst="line">
              <a:avLst/>
            </a:prstGeom>
            <a:noFill/>
            <a:ln w="19050">
              <a:solidFill>
                <a:srgbClr val="990099"/>
              </a:solidFill>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3" name="Line 13"/>
            <p:cNvSpPr>
              <a:spLocks noChangeShapeType="1"/>
            </p:cNvSpPr>
            <p:nvPr/>
          </p:nvSpPr>
          <p:spPr bwMode="auto">
            <a:xfrm>
              <a:off x="5507075" y="2337161"/>
              <a:ext cx="0" cy="874314"/>
            </a:xfrm>
            <a:prstGeom prst="line">
              <a:avLst/>
            </a:prstGeom>
            <a:noFill/>
            <a:ln w="19050">
              <a:solidFill>
                <a:srgbClr val="990099"/>
              </a:solidFill>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130" name="组合 129"/>
          <p:cNvGrpSpPr/>
          <p:nvPr/>
        </p:nvGrpSpPr>
        <p:grpSpPr>
          <a:xfrm>
            <a:off x="1289608" y="2173646"/>
            <a:ext cx="3240785" cy="1781111"/>
            <a:chOff x="2883104" y="2075396"/>
            <a:chExt cx="3240785" cy="1781111"/>
          </a:xfrm>
        </p:grpSpPr>
        <p:sp>
          <p:nvSpPr>
            <p:cNvPr id="118" name="Line 13"/>
            <p:cNvSpPr>
              <a:spLocks noChangeShapeType="1"/>
            </p:cNvSpPr>
            <p:nvPr/>
          </p:nvSpPr>
          <p:spPr bwMode="auto">
            <a:xfrm>
              <a:off x="5370771" y="2337161"/>
              <a:ext cx="0" cy="874314"/>
            </a:xfrm>
            <a:prstGeom prst="line">
              <a:avLst/>
            </a:prstGeom>
            <a:noFill/>
            <a:ln w="19050">
              <a:solidFill>
                <a:srgbClr val="0000FF"/>
              </a:solidFill>
              <a:prstDash val="sysDash"/>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0" name="Line 5"/>
            <p:cNvSpPr>
              <a:spLocks noChangeShapeType="1"/>
            </p:cNvSpPr>
            <p:nvPr/>
          </p:nvSpPr>
          <p:spPr bwMode="auto">
            <a:xfrm flipH="1">
              <a:off x="5621357" y="2336929"/>
              <a:ext cx="502532" cy="0"/>
            </a:xfrm>
            <a:prstGeom prst="line">
              <a:avLst/>
            </a:prstGeom>
            <a:noFill/>
            <a:ln w="19050">
              <a:solidFill>
                <a:srgbClr val="0000FF"/>
              </a:solidFill>
              <a:prstDash val="sysDash"/>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1" name="Line 10"/>
            <p:cNvSpPr>
              <a:spLocks noChangeShapeType="1"/>
            </p:cNvSpPr>
            <p:nvPr/>
          </p:nvSpPr>
          <p:spPr bwMode="auto">
            <a:xfrm>
              <a:off x="4458904" y="2075396"/>
              <a:ext cx="862393" cy="332151"/>
            </a:xfrm>
            <a:prstGeom prst="line">
              <a:avLst/>
            </a:prstGeom>
            <a:noFill/>
            <a:ln w="19050">
              <a:solidFill>
                <a:srgbClr val="0000FF"/>
              </a:solidFill>
              <a:prstDash val="sysDash"/>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2" name="Line 8"/>
            <p:cNvSpPr>
              <a:spLocks noChangeShapeType="1"/>
            </p:cNvSpPr>
            <p:nvPr/>
          </p:nvSpPr>
          <p:spPr bwMode="auto">
            <a:xfrm>
              <a:off x="3618104" y="2463907"/>
              <a:ext cx="1810902" cy="0"/>
            </a:xfrm>
            <a:prstGeom prst="line">
              <a:avLst/>
            </a:prstGeom>
            <a:noFill/>
            <a:ln w="19050">
              <a:solidFill>
                <a:srgbClr val="0000FF"/>
              </a:solidFill>
              <a:prstDash val="sysDash"/>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4" name="Line 16"/>
            <p:cNvSpPr>
              <a:spLocks noChangeShapeType="1"/>
            </p:cNvSpPr>
            <p:nvPr/>
          </p:nvSpPr>
          <p:spPr bwMode="auto">
            <a:xfrm>
              <a:off x="5370718" y="3383705"/>
              <a:ext cx="724443" cy="447067"/>
            </a:xfrm>
            <a:prstGeom prst="line">
              <a:avLst/>
            </a:prstGeom>
            <a:noFill/>
            <a:ln w="19050">
              <a:solidFill>
                <a:srgbClr val="0000FF"/>
              </a:solidFill>
              <a:prstDash val="sysDash"/>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5" name="Line 11"/>
            <p:cNvSpPr>
              <a:spLocks noChangeShapeType="1"/>
            </p:cNvSpPr>
            <p:nvPr/>
          </p:nvSpPr>
          <p:spPr bwMode="auto">
            <a:xfrm>
              <a:off x="3467278" y="2400536"/>
              <a:ext cx="0" cy="811691"/>
            </a:xfrm>
            <a:prstGeom prst="line">
              <a:avLst/>
            </a:prstGeom>
            <a:noFill/>
            <a:ln w="19050">
              <a:solidFill>
                <a:srgbClr val="0000FF"/>
              </a:solidFill>
              <a:prstDash val="sysDash"/>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6" name="Line 15"/>
            <p:cNvSpPr>
              <a:spLocks noChangeShapeType="1"/>
            </p:cNvSpPr>
            <p:nvPr/>
          </p:nvSpPr>
          <p:spPr bwMode="auto">
            <a:xfrm flipH="1">
              <a:off x="2883104" y="3355523"/>
              <a:ext cx="642944" cy="500984"/>
            </a:xfrm>
            <a:prstGeom prst="line">
              <a:avLst/>
            </a:prstGeom>
            <a:noFill/>
            <a:ln w="19050">
              <a:solidFill>
                <a:srgbClr val="0000FF"/>
              </a:solidFill>
              <a:prstDash val="sysDash"/>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9" name="Line 14"/>
            <p:cNvSpPr>
              <a:spLocks noChangeShapeType="1"/>
            </p:cNvSpPr>
            <p:nvPr/>
          </p:nvSpPr>
          <p:spPr bwMode="auto">
            <a:xfrm flipH="1">
              <a:off x="4566536" y="3325031"/>
              <a:ext cx="804182" cy="528929"/>
            </a:xfrm>
            <a:prstGeom prst="line">
              <a:avLst/>
            </a:prstGeom>
            <a:noFill/>
            <a:ln w="19050">
              <a:solidFill>
                <a:srgbClr val="0000FF"/>
              </a:solidFill>
              <a:prstDash val="sysDash"/>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4" name="Text Box 9"/>
          <p:cNvSpPr txBox="1">
            <a:spLocks noChangeArrowheads="1"/>
          </p:cNvSpPr>
          <p:nvPr/>
        </p:nvSpPr>
        <p:spPr bwMode="auto">
          <a:xfrm>
            <a:off x="2424409" y="1047110"/>
            <a:ext cx="81213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zh-CN" altLang="en-US" sz="1400" b="1" dirty="0">
                <a:solidFill>
                  <a:srgbClr val="990099"/>
                </a:solidFill>
                <a:latin typeface="微软雅黑" pitchFamily="34" charset="-122"/>
                <a:ea typeface="微软雅黑" pitchFamily="34" charset="-122"/>
              </a:rPr>
              <a:t>源点 </a:t>
            </a:r>
            <a:r>
              <a:rPr lang="en-US" altLang="zh-CN" sz="1400" b="1" dirty="0">
                <a:solidFill>
                  <a:srgbClr val="990099"/>
                </a:solidFill>
                <a:latin typeface="微软雅黑" pitchFamily="34" charset="-122"/>
                <a:ea typeface="微软雅黑" pitchFamily="34" charset="-122"/>
              </a:rPr>
              <a:t>S1</a:t>
            </a:r>
            <a:endParaRPr lang="zh-CN" altLang="en-US" sz="1400" b="1" dirty="0">
              <a:solidFill>
                <a:srgbClr val="990099"/>
              </a:solidFill>
              <a:latin typeface="微软雅黑" pitchFamily="34" charset="-122"/>
              <a:ea typeface="微软雅黑" pitchFamily="34" charset="-122"/>
            </a:endParaRPr>
          </a:p>
        </p:txBody>
      </p:sp>
      <p:sp>
        <p:nvSpPr>
          <p:cNvPr id="109" name="Text Box 9"/>
          <p:cNvSpPr txBox="1">
            <a:spLocks noChangeArrowheads="1"/>
          </p:cNvSpPr>
          <p:nvPr/>
        </p:nvSpPr>
        <p:spPr bwMode="auto">
          <a:xfrm>
            <a:off x="4151090" y="2038767"/>
            <a:ext cx="81213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zh-CN" altLang="en-US" sz="1400" b="1" dirty="0">
                <a:solidFill>
                  <a:srgbClr val="0000FF"/>
                </a:solidFill>
                <a:latin typeface="微软雅黑" pitchFamily="34" charset="-122"/>
                <a:ea typeface="微软雅黑" pitchFamily="34" charset="-122"/>
              </a:rPr>
              <a:t>源点 </a:t>
            </a:r>
            <a:r>
              <a:rPr lang="en-US" altLang="zh-CN" sz="1400" b="1" dirty="0">
                <a:solidFill>
                  <a:srgbClr val="0000FF"/>
                </a:solidFill>
                <a:latin typeface="微软雅黑" pitchFamily="34" charset="-122"/>
                <a:ea typeface="微软雅黑" pitchFamily="34" charset="-122"/>
              </a:rPr>
              <a:t>S2</a:t>
            </a:r>
            <a:endParaRPr lang="zh-CN" altLang="en-US" sz="1400" b="1" dirty="0">
              <a:solidFill>
                <a:srgbClr val="0000FF"/>
              </a:solidFill>
              <a:latin typeface="微软雅黑" pitchFamily="34" charset="-122"/>
              <a:ea typeface="微软雅黑" pitchFamily="34" charset="-122"/>
            </a:endParaRPr>
          </a:p>
        </p:txBody>
      </p:sp>
      <p:grpSp>
        <p:nvGrpSpPr>
          <p:cNvPr id="133" name="组合 132"/>
          <p:cNvGrpSpPr/>
          <p:nvPr/>
        </p:nvGrpSpPr>
        <p:grpSpPr>
          <a:xfrm>
            <a:off x="747142" y="1317647"/>
            <a:ext cx="4190274" cy="2869496"/>
            <a:chOff x="2340638" y="1219397"/>
            <a:chExt cx="4190274" cy="2869496"/>
          </a:xfrm>
        </p:grpSpPr>
        <p:sp>
          <p:nvSpPr>
            <p:cNvPr id="10" name="Line 5"/>
            <p:cNvSpPr>
              <a:spLocks noChangeShapeType="1"/>
            </p:cNvSpPr>
            <p:nvPr/>
          </p:nvSpPr>
          <p:spPr bwMode="auto">
            <a:xfrm>
              <a:off x="4371120" y="1524561"/>
              <a:ext cx="0" cy="312312"/>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 name="Line 6"/>
            <p:cNvSpPr>
              <a:spLocks noChangeShapeType="1"/>
            </p:cNvSpPr>
            <p:nvPr/>
          </p:nvSpPr>
          <p:spPr bwMode="auto">
            <a:xfrm flipV="1">
              <a:off x="3402337" y="1934019"/>
              <a:ext cx="947818" cy="465658"/>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 name="Line 7"/>
            <p:cNvSpPr>
              <a:spLocks noChangeShapeType="1"/>
            </p:cNvSpPr>
            <p:nvPr/>
          </p:nvSpPr>
          <p:spPr bwMode="auto">
            <a:xfrm>
              <a:off x="3518521" y="3338220"/>
              <a:ext cx="1810902" cy="0"/>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 name="Line 8"/>
            <p:cNvSpPr>
              <a:spLocks noChangeShapeType="1"/>
            </p:cNvSpPr>
            <p:nvPr/>
          </p:nvSpPr>
          <p:spPr bwMode="auto">
            <a:xfrm>
              <a:off x="3518521" y="2399678"/>
              <a:ext cx="1810902" cy="0"/>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 name="Line 10"/>
            <p:cNvSpPr>
              <a:spLocks noChangeShapeType="1"/>
            </p:cNvSpPr>
            <p:nvPr/>
          </p:nvSpPr>
          <p:spPr bwMode="auto">
            <a:xfrm>
              <a:off x="4485797" y="2011980"/>
              <a:ext cx="862393" cy="332151"/>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 name="Line 11"/>
            <p:cNvSpPr>
              <a:spLocks noChangeShapeType="1"/>
            </p:cNvSpPr>
            <p:nvPr/>
          </p:nvSpPr>
          <p:spPr bwMode="auto">
            <a:xfrm>
              <a:off x="3402337" y="2463907"/>
              <a:ext cx="0" cy="811691"/>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7" name="Line 12"/>
            <p:cNvSpPr>
              <a:spLocks noChangeShapeType="1"/>
            </p:cNvSpPr>
            <p:nvPr/>
          </p:nvSpPr>
          <p:spPr bwMode="auto">
            <a:xfrm>
              <a:off x="3459118" y="3373684"/>
              <a:ext cx="877059" cy="562001"/>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 name="Line 13"/>
            <p:cNvSpPr>
              <a:spLocks noChangeShapeType="1"/>
            </p:cNvSpPr>
            <p:nvPr/>
          </p:nvSpPr>
          <p:spPr bwMode="auto">
            <a:xfrm>
              <a:off x="5436553" y="2436747"/>
              <a:ext cx="0" cy="874314"/>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9" name="Line 14"/>
            <p:cNvSpPr>
              <a:spLocks noChangeShapeType="1"/>
            </p:cNvSpPr>
            <p:nvPr/>
          </p:nvSpPr>
          <p:spPr bwMode="auto">
            <a:xfrm flipH="1">
              <a:off x="4511765" y="3338221"/>
              <a:ext cx="933841" cy="624625"/>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0" name="Line 15"/>
            <p:cNvSpPr>
              <a:spLocks noChangeShapeType="1"/>
            </p:cNvSpPr>
            <p:nvPr/>
          </p:nvSpPr>
          <p:spPr bwMode="auto">
            <a:xfrm flipH="1">
              <a:off x="2764256" y="3372938"/>
              <a:ext cx="642944" cy="500984"/>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1" name="Line 16"/>
            <p:cNvSpPr>
              <a:spLocks noChangeShapeType="1"/>
            </p:cNvSpPr>
            <p:nvPr/>
          </p:nvSpPr>
          <p:spPr bwMode="auto">
            <a:xfrm>
              <a:off x="5486902" y="3374432"/>
              <a:ext cx="817657" cy="500984"/>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pic>
          <p:nvPicPr>
            <p:cNvPr id="23" name="Picture 1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219994" y="3839204"/>
              <a:ext cx="409702" cy="2496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8" name="Picture 2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087677" y="3714761"/>
              <a:ext cx="409702" cy="2480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9" name="Text Box 74"/>
            <p:cNvSpPr txBox="1">
              <a:spLocks noChangeArrowheads="1"/>
            </p:cNvSpPr>
            <p:nvPr/>
          </p:nvSpPr>
          <p:spPr bwMode="auto">
            <a:xfrm>
              <a:off x="5376659" y="2019271"/>
              <a:ext cx="326177" cy="260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R</a:t>
              </a:r>
              <a:r>
                <a:rPr lang="en-US" altLang="zh-CN" sz="1400" b="1" baseline="-25000" dirty="0">
                  <a:latin typeface="微软雅黑" pitchFamily="34" charset="-122"/>
                  <a:ea typeface="微软雅黑" pitchFamily="34" charset="-122"/>
                </a:rPr>
                <a:t>3</a:t>
              </a:r>
            </a:p>
          </p:txBody>
        </p:sp>
        <p:sp>
          <p:nvSpPr>
            <p:cNvPr id="70" name="Text Box 75"/>
            <p:cNvSpPr txBox="1">
              <a:spLocks noChangeArrowheads="1"/>
            </p:cNvSpPr>
            <p:nvPr/>
          </p:nvSpPr>
          <p:spPr bwMode="auto">
            <a:xfrm>
              <a:off x="3018346" y="2953100"/>
              <a:ext cx="326177" cy="260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R</a:t>
              </a:r>
              <a:r>
                <a:rPr lang="en-US" altLang="zh-CN" sz="1400" b="1" baseline="-25000" dirty="0">
                  <a:latin typeface="微软雅黑" pitchFamily="34" charset="-122"/>
                  <a:ea typeface="微软雅黑" pitchFamily="34" charset="-122"/>
                </a:rPr>
                <a:t>4</a:t>
              </a:r>
            </a:p>
          </p:txBody>
        </p:sp>
        <p:sp>
          <p:nvSpPr>
            <p:cNvPr id="71" name="Text Box 76"/>
            <p:cNvSpPr txBox="1">
              <a:spLocks noChangeArrowheads="1"/>
            </p:cNvSpPr>
            <p:nvPr/>
          </p:nvSpPr>
          <p:spPr bwMode="auto">
            <a:xfrm>
              <a:off x="2340638" y="3498930"/>
              <a:ext cx="326177" cy="260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R</a:t>
              </a:r>
              <a:r>
                <a:rPr lang="en-US" altLang="zh-CN" sz="1400" b="1" baseline="-25000" dirty="0">
                  <a:latin typeface="微软雅黑" pitchFamily="34" charset="-122"/>
                  <a:ea typeface="微软雅黑" pitchFamily="34" charset="-122"/>
                </a:rPr>
                <a:t>6</a:t>
              </a:r>
            </a:p>
          </p:txBody>
        </p:sp>
        <p:sp>
          <p:nvSpPr>
            <p:cNvPr id="72" name="Text Box 77"/>
            <p:cNvSpPr txBox="1">
              <a:spLocks noChangeArrowheads="1"/>
            </p:cNvSpPr>
            <p:nvPr/>
          </p:nvSpPr>
          <p:spPr bwMode="auto">
            <a:xfrm>
              <a:off x="4210941" y="3577610"/>
              <a:ext cx="326177" cy="260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7</a:t>
              </a:r>
            </a:p>
          </p:txBody>
        </p:sp>
        <p:sp>
          <p:nvSpPr>
            <p:cNvPr id="73" name="Text Box 78"/>
            <p:cNvSpPr txBox="1">
              <a:spLocks noChangeArrowheads="1"/>
            </p:cNvSpPr>
            <p:nvPr/>
          </p:nvSpPr>
          <p:spPr bwMode="auto">
            <a:xfrm>
              <a:off x="6204735" y="3469446"/>
              <a:ext cx="326177" cy="260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R</a:t>
              </a:r>
              <a:r>
                <a:rPr lang="en-US" altLang="zh-CN" sz="1400" b="1" baseline="-25000" dirty="0">
                  <a:latin typeface="微软雅黑" pitchFamily="34" charset="-122"/>
                  <a:ea typeface="微软雅黑" pitchFamily="34" charset="-122"/>
                </a:rPr>
                <a:t>8</a:t>
              </a:r>
            </a:p>
          </p:txBody>
        </p:sp>
        <p:sp>
          <p:nvSpPr>
            <p:cNvPr id="92" name="Text Box 87"/>
            <p:cNvSpPr txBox="1">
              <a:spLocks noChangeArrowheads="1"/>
            </p:cNvSpPr>
            <p:nvPr/>
          </p:nvSpPr>
          <p:spPr bwMode="auto">
            <a:xfrm>
              <a:off x="4394707" y="1626081"/>
              <a:ext cx="326177" cy="260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R</a:t>
              </a:r>
              <a:r>
                <a:rPr lang="en-US" altLang="zh-CN" sz="1400" b="1" baseline="-25000" dirty="0">
                  <a:latin typeface="微软雅黑" pitchFamily="34" charset="-122"/>
                  <a:ea typeface="微软雅黑" pitchFamily="34" charset="-122"/>
                </a:rPr>
                <a:t>1</a:t>
              </a:r>
            </a:p>
          </p:txBody>
        </p:sp>
        <p:sp>
          <p:nvSpPr>
            <p:cNvPr id="93" name="Text Box 88"/>
            <p:cNvSpPr txBox="1">
              <a:spLocks noChangeArrowheads="1"/>
            </p:cNvSpPr>
            <p:nvPr/>
          </p:nvSpPr>
          <p:spPr bwMode="auto">
            <a:xfrm>
              <a:off x="5453427" y="2954084"/>
              <a:ext cx="326177" cy="260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R</a:t>
              </a:r>
              <a:r>
                <a:rPr lang="en-US" altLang="zh-CN" sz="1400" b="1" baseline="-25000" dirty="0">
                  <a:latin typeface="微软雅黑" pitchFamily="34" charset="-122"/>
                  <a:ea typeface="微软雅黑" pitchFamily="34" charset="-122"/>
                </a:rPr>
                <a:t>5</a:t>
              </a:r>
            </a:p>
          </p:txBody>
        </p:sp>
        <p:sp>
          <p:nvSpPr>
            <p:cNvPr id="94" name="Text Box 89"/>
            <p:cNvSpPr txBox="1">
              <a:spLocks noChangeArrowheads="1"/>
            </p:cNvSpPr>
            <p:nvPr/>
          </p:nvSpPr>
          <p:spPr bwMode="auto">
            <a:xfrm>
              <a:off x="3054693" y="1993081"/>
              <a:ext cx="326177" cy="260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R</a:t>
              </a:r>
              <a:r>
                <a:rPr lang="en-US" altLang="zh-CN" sz="1400" b="1" baseline="-25000" dirty="0">
                  <a:latin typeface="微软雅黑" pitchFamily="34" charset="-122"/>
                  <a:ea typeface="微软雅黑" pitchFamily="34" charset="-122"/>
                </a:rPr>
                <a:t>2</a:t>
              </a:r>
            </a:p>
          </p:txBody>
        </p:sp>
        <p:sp>
          <p:nvSpPr>
            <p:cNvPr id="111" name="Line 5"/>
            <p:cNvSpPr>
              <a:spLocks noChangeShapeType="1"/>
            </p:cNvSpPr>
            <p:nvPr/>
          </p:nvSpPr>
          <p:spPr bwMode="auto">
            <a:xfrm flipH="1">
              <a:off x="5557986" y="2397766"/>
              <a:ext cx="619826" cy="1912"/>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pic>
          <p:nvPicPr>
            <p:cNvPr id="27" name="Picture 2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466748" y="3775779"/>
              <a:ext cx="410576" cy="249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91" name="Picture 8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161465" y="1836873"/>
              <a:ext cx="409703" cy="2504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8"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166636" y="1219397"/>
              <a:ext cx="415877" cy="414067"/>
            </a:xfrm>
            <a:prstGeom prst="rect">
              <a:avLst/>
            </a:prstGeom>
            <a:noFill/>
            <a:extLst>
              <a:ext uri="{909E8E84-426E-40DD-AFC4-6F175D3DCCD1}">
                <a14:hiddenFill xmlns:a14="http://schemas.microsoft.com/office/drawing/2010/main">
                  <a:solidFill>
                    <a:srgbClr val="FFFFFF"/>
                  </a:solidFill>
                </a14:hiddenFill>
              </a:ext>
            </a:extLst>
          </p:spPr>
        </p:pic>
        <p:pic>
          <p:nvPicPr>
            <p:cNvPr id="110"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82442" y="2213516"/>
              <a:ext cx="415877" cy="414067"/>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2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12364" y="3213776"/>
              <a:ext cx="409702" cy="2480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2" name="Picture 1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226750" y="2276037"/>
              <a:ext cx="409703" cy="248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6" name="Picture 2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12364" y="2276037"/>
              <a:ext cx="409702" cy="248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4" name="Picture 2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226750" y="3213776"/>
              <a:ext cx="409703" cy="2480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sp>
        <p:nvSpPr>
          <p:cNvPr id="134" name="Text Box 102"/>
          <p:cNvSpPr txBox="1">
            <a:spLocks noChangeArrowheads="1"/>
          </p:cNvSpPr>
          <p:nvPr/>
        </p:nvSpPr>
        <p:spPr bwMode="auto">
          <a:xfrm>
            <a:off x="1503919" y="4319335"/>
            <a:ext cx="6540815" cy="400110"/>
          </a:xfrm>
          <a:prstGeom prst="rect">
            <a:avLst/>
          </a:prstGeom>
          <a:solidFill>
            <a:srgbClr val="000066"/>
          </a:solidFill>
          <a:ln>
            <a:noFill/>
          </a:ln>
          <a:effectLst/>
        </p:spPr>
        <p:txBody>
          <a:bodyPr wrap="square">
            <a:spAutoFit/>
          </a:bodyPr>
          <a:lstStyle/>
          <a:p>
            <a:pPr algn="ctr">
              <a:lnSpc>
                <a:spcPts val="2400"/>
              </a:lnSpc>
            </a:pPr>
            <a:r>
              <a:rPr lang="en-US" altLang="zh-CN" b="1" dirty="0">
                <a:solidFill>
                  <a:schemeClr val="bg1"/>
                </a:solidFill>
                <a:latin typeface="微软雅黑" pitchFamily="34" charset="-122"/>
                <a:ea typeface="微软雅黑" pitchFamily="34" charset="-122"/>
              </a:rPr>
              <a:t>M </a:t>
            </a:r>
            <a:r>
              <a:rPr lang="zh-CN" altLang="en-US" b="1" dirty="0">
                <a:solidFill>
                  <a:schemeClr val="bg1"/>
                </a:solidFill>
                <a:latin typeface="微软雅黑" pitchFamily="34" charset="-122"/>
                <a:ea typeface="微软雅黑" pitchFamily="34" charset="-122"/>
              </a:rPr>
              <a:t>个源，</a:t>
            </a:r>
            <a:r>
              <a:rPr lang="en-US" altLang="zh-CN" b="1" dirty="0">
                <a:solidFill>
                  <a:schemeClr val="bg1"/>
                </a:solidFill>
                <a:latin typeface="微软雅黑" pitchFamily="34" charset="-122"/>
                <a:ea typeface="微软雅黑" pitchFamily="34" charset="-122"/>
              </a:rPr>
              <a:t>N </a:t>
            </a:r>
            <a:r>
              <a:rPr lang="zh-CN" altLang="en-US" b="1" dirty="0">
                <a:solidFill>
                  <a:schemeClr val="bg1"/>
                </a:solidFill>
                <a:latin typeface="微软雅黑" pitchFamily="34" charset="-122"/>
                <a:ea typeface="微软雅黑" pitchFamily="34" charset="-122"/>
              </a:rPr>
              <a:t>个多播组，需要 </a:t>
            </a:r>
            <a:r>
              <a:rPr lang="en-US" altLang="zh-CN" b="1" dirty="0" err="1">
                <a:solidFill>
                  <a:schemeClr val="bg1"/>
                </a:solidFill>
                <a:latin typeface="微软雅黑" pitchFamily="34" charset="-122"/>
                <a:ea typeface="微软雅黑" pitchFamily="34" charset="-122"/>
              </a:rPr>
              <a:t>MⅹN</a:t>
            </a:r>
            <a:r>
              <a:rPr lang="en-US" altLang="zh-CN" b="1" dirty="0">
                <a:solidFill>
                  <a:schemeClr val="bg1"/>
                </a:solidFill>
                <a:latin typeface="微软雅黑" pitchFamily="34" charset="-122"/>
                <a:ea typeface="微软雅黑" pitchFamily="34" charset="-122"/>
              </a:rPr>
              <a:t> </a:t>
            </a:r>
            <a:r>
              <a:rPr lang="zh-CN" altLang="en-US" b="1" dirty="0">
                <a:solidFill>
                  <a:schemeClr val="bg1"/>
                </a:solidFill>
                <a:latin typeface="微软雅黑" pitchFamily="34" charset="-122"/>
                <a:ea typeface="微软雅黑" pitchFamily="34" charset="-122"/>
              </a:rPr>
              <a:t>棵</a:t>
            </a:r>
            <a:r>
              <a:rPr lang="zh-CN" altLang="en-US" b="1" dirty="0">
                <a:solidFill>
                  <a:srgbClr val="FFFF00"/>
                </a:solidFill>
                <a:latin typeface="微软雅黑" pitchFamily="34" charset="-122"/>
                <a:ea typeface="微软雅黑" pitchFamily="34" charset="-122"/>
              </a:rPr>
              <a:t>以源为根的多播转发树</a:t>
            </a:r>
            <a:r>
              <a:rPr lang="zh-CN" altLang="en-US" b="1" dirty="0">
                <a:solidFill>
                  <a:schemeClr val="bg1"/>
                </a:solidFill>
                <a:latin typeface="微软雅黑" pitchFamily="34" charset="-122"/>
                <a:ea typeface="微软雅黑" pitchFamily="34" charset="-122"/>
              </a:rPr>
              <a:t>。</a:t>
            </a:r>
            <a:endParaRPr lang="en-US" altLang="zh-CN"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68303035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500" fill="hold"/>
                                        <p:tgtEl>
                                          <p:spTgt spid="14"/>
                                        </p:tgtEl>
                                        <p:attrNameLst>
                                          <p:attrName>style.visibility</p:attrName>
                                        </p:attrNameLst>
                                      </p:cBhvr>
                                      <p:tavLst>
                                        <p:tav tm="0">
                                          <p:val>
                                            <p:strVal val="hidden"/>
                                          </p:val>
                                        </p:tav>
                                        <p:tav tm="50000">
                                          <p:val>
                                            <p:strVal val="visible"/>
                                          </p:val>
                                        </p:tav>
                                      </p:tavLst>
                                    </p:anim>
                                  </p:childTnLst>
                                </p:cTn>
                              </p:par>
                            </p:childTnLst>
                          </p:cTn>
                        </p:par>
                        <p:par>
                          <p:cTn id="7" fill="hold">
                            <p:stCondLst>
                              <p:cond delay="1500"/>
                            </p:stCondLst>
                            <p:childTnLst>
                              <p:par>
                                <p:cTn id="8" presetID="22" presetClass="entr" presetSubtype="1" fill="hold" nodeType="afterEffect">
                                  <p:stCondLst>
                                    <p:cond delay="0"/>
                                  </p:stCondLst>
                                  <p:childTnLst>
                                    <p:set>
                                      <p:cBhvr>
                                        <p:cTn id="9" dur="1" fill="hold">
                                          <p:stCondLst>
                                            <p:cond delay="0"/>
                                          </p:stCondLst>
                                        </p:cTn>
                                        <p:tgtEl>
                                          <p:spTgt spid="128"/>
                                        </p:tgtEl>
                                        <p:attrNameLst>
                                          <p:attrName>style.visibility</p:attrName>
                                        </p:attrNameLst>
                                      </p:cBhvr>
                                      <p:to>
                                        <p:strVal val="visible"/>
                                      </p:to>
                                    </p:set>
                                    <p:animEffect transition="in" filter="wipe(up)">
                                      <p:cBhvr>
                                        <p:cTn id="10" dur="1000"/>
                                        <p:tgtEl>
                                          <p:spTgt spid="128"/>
                                        </p:tgtEl>
                                      </p:cBhvr>
                                    </p:animEffect>
                                  </p:childTnLst>
                                </p:cTn>
                              </p:par>
                            </p:childTnLst>
                          </p:cTn>
                        </p:par>
                      </p:childTnLst>
                    </p:cTn>
                  </p:par>
                  <p:par>
                    <p:cTn id="11" fill="hold">
                      <p:stCondLst>
                        <p:cond delay="indefinite"/>
                      </p:stCondLst>
                      <p:childTnLst>
                        <p:par>
                          <p:cTn id="12" fill="hold">
                            <p:stCondLst>
                              <p:cond delay="0"/>
                            </p:stCondLst>
                            <p:childTnLst>
                              <p:par>
                                <p:cTn id="13" presetID="35" presetClass="emph" presetSubtype="0" repeatCount="3000" fill="hold" grpId="0" nodeType="clickEffect">
                                  <p:stCondLst>
                                    <p:cond delay="0"/>
                                  </p:stCondLst>
                                  <p:childTnLst>
                                    <p:anim calcmode="discrete" valueType="str">
                                      <p:cBhvr>
                                        <p:cTn id="14" dur="500" fill="hold"/>
                                        <p:tgtEl>
                                          <p:spTgt spid="109"/>
                                        </p:tgtEl>
                                        <p:attrNameLst>
                                          <p:attrName>style.visibility</p:attrName>
                                        </p:attrNameLst>
                                      </p:cBhvr>
                                      <p:tavLst>
                                        <p:tav tm="0">
                                          <p:val>
                                            <p:strVal val="hidden"/>
                                          </p:val>
                                        </p:tav>
                                        <p:tav tm="50000">
                                          <p:val>
                                            <p:strVal val="visible"/>
                                          </p:val>
                                        </p:tav>
                                      </p:tavLst>
                                    </p:anim>
                                  </p:childTnLst>
                                </p:cTn>
                              </p:par>
                            </p:childTnLst>
                          </p:cTn>
                        </p:par>
                        <p:par>
                          <p:cTn id="15" fill="hold">
                            <p:stCondLst>
                              <p:cond delay="1500"/>
                            </p:stCondLst>
                            <p:childTnLst>
                              <p:par>
                                <p:cTn id="16" presetID="22" presetClass="entr" presetSubtype="2" fill="hold" nodeType="afterEffect">
                                  <p:stCondLst>
                                    <p:cond delay="0"/>
                                  </p:stCondLst>
                                  <p:childTnLst>
                                    <p:set>
                                      <p:cBhvr>
                                        <p:cTn id="17" dur="1" fill="hold">
                                          <p:stCondLst>
                                            <p:cond delay="0"/>
                                          </p:stCondLst>
                                        </p:cTn>
                                        <p:tgtEl>
                                          <p:spTgt spid="130"/>
                                        </p:tgtEl>
                                        <p:attrNameLst>
                                          <p:attrName>style.visibility</p:attrName>
                                        </p:attrNameLst>
                                      </p:cBhvr>
                                      <p:to>
                                        <p:strVal val="visible"/>
                                      </p:to>
                                    </p:set>
                                    <p:animEffect transition="in" filter="wipe(right)">
                                      <p:cBhvr>
                                        <p:cTn id="18" dur="1000"/>
                                        <p:tgtEl>
                                          <p:spTgt spid="130"/>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34"/>
                                        </p:tgtEl>
                                        <p:attrNameLst>
                                          <p:attrName>style.visibility</p:attrName>
                                        </p:attrNameLst>
                                      </p:cBhvr>
                                      <p:to>
                                        <p:strVal val="visible"/>
                                      </p:to>
                                    </p:set>
                                    <p:animEffect transition="in" filter="fade">
                                      <p:cBhvr>
                                        <p:cTn id="23" dur="500"/>
                                        <p:tgtEl>
                                          <p:spTgt spid="1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09" grpId="0"/>
      <p:bldP spid="134" grpId="0" animBg="1"/>
    </p:bld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5" y="996729"/>
            <a:ext cx="7728417" cy="17851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转发多播数据报时使用三种方法：</a:t>
            </a:r>
          </a:p>
          <a:p>
            <a:pPr marL="280988">
              <a:lnSpc>
                <a:spcPts val="3300"/>
              </a:lnSpc>
              <a:buClr>
                <a:srgbClr val="CC00CC"/>
              </a:buClr>
            </a:pPr>
            <a:r>
              <a:rPr lang="en-US" altLang="zh-CN" sz="2000" b="1" dirty="0">
                <a:solidFill>
                  <a:srgbClr val="0000FF"/>
                </a:solidFill>
                <a:latin typeface="微软雅黑" pitchFamily="34" charset="-122"/>
                <a:ea typeface="微软雅黑" pitchFamily="34" charset="-122"/>
              </a:rPr>
              <a:t>(1) </a:t>
            </a:r>
            <a:r>
              <a:rPr lang="zh-CN" altLang="en-US" sz="2000" b="1" dirty="0">
                <a:latin typeface="微软雅黑" pitchFamily="34" charset="-122"/>
                <a:ea typeface="微软雅黑" pitchFamily="34" charset="-122"/>
              </a:rPr>
              <a:t>洪泛与剪除</a:t>
            </a:r>
          </a:p>
          <a:p>
            <a:pPr marL="280988">
              <a:lnSpc>
                <a:spcPts val="3300"/>
              </a:lnSpc>
              <a:buClr>
                <a:srgbClr val="CC00CC"/>
              </a:buClr>
            </a:pPr>
            <a:r>
              <a:rPr lang="en-US" altLang="zh-CN" sz="2000" b="1" dirty="0">
                <a:solidFill>
                  <a:srgbClr val="0000FF"/>
                </a:solidFill>
                <a:latin typeface="微软雅黑" pitchFamily="34" charset="-122"/>
                <a:ea typeface="微软雅黑" pitchFamily="34" charset="-122"/>
              </a:rPr>
              <a:t>(2) </a:t>
            </a:r>
            <a:r>
              <a:rPr lang="zh-CN" altLang="en-US" sz="2000" b="1" dirty="0">
                <a:latin typeface="微软雅黑" pitchFamily="34" charset="-122"/>
                <a:ea typeface="微软雅黑" pitchFamily="34" charset="-122"/>
              </a:rPr>
              <a:t>隧道技术 </a:t>
            </a:r>
            <a:r>
              <a:rPr lang="en-US" altLang="zh-CN" sz="2000" b="1" dirty="0">
                <a:latin typeface="微软雅黑" pitchFamily="34" charset="-122"/>
                <a:ea typeface="微软雅黑" pitchFamily="34" charset="-122"/>
              </a:rPr>
              <a:t>(tunneling)</a:t>
            </a:r>
          </a:p>
          <a:p>
            <a:pPr marL="280988">
              <a:lnSpc>
                <a:spcPts val="3300"/>
              </a:lnSpc>
              <a:buClr>
                <a:srgbClr val="CC00CC"/>
              </a:buClr>
            </a:pPr>
            <a:r>
              <a:rPr lang="en-US" altLang="zh-CN" sz="2000" b="1" dirty="0">
                <a:solidFill>
                  <a:srgbClr val="0000FF"/>
                </a:solidFill>
                <a:latin typeface="微软雅黑" pitchFamily="34" charset="-122"/>
                <a:ea typeface="微软雅黑" pitchFamily="34" charset="-122"/>
              </a:rPr>
              <a:t>(3) </a:t>
            </a:r>
            <a:r>
              <a:rPr lang="zh-CN" altLang="en-US" sz="2000" b="1" dirty="0">
                <a:latin typeface="微软雅黑" pitchFamily="34" charset="-122"/>
                <a:ea typeface="微软雅黑" pitchFamily="34" charset="-122"/>
              </a:rPr>
              <a:t>基于核心的发现技术</a:t>
            </a:r>
          </a:p>
        </p:txBody>
      </p:sp>
      <p:sp>
        <p:nvSpPr>
          <p:cNvPr id="3" name="AutoShape 5"/>
          <p:cNvSpPr>
            <a:spLocks noChangeArrowheads="1"/>
          </p:cNvSpPr>
          <p:nvPr/>
        </p:nvSpPr>
        <p:spPr bwMode="auto">
          <a:xfrm>
            <a:off x="545145" y="630970"/>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97759"/>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多播路由选择</a:t>
            </a:r>
          </a:p>
        </p:txBody>
      </p:sp>
    </p:spTree>
    <p:extLst>
      <p:ext uri="{BB962C8B-B14F-4D97-AF65-F5344CB8AC3E}">
        <p14:creationId xmlns:p14="http://schemas.microsoft.com/office/powerpoint/2010/main" val="28519421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30915"/>
            <a:ext cx="802848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72147"/>
            <a:ext cx="1901483" cy="400110"/>
          </a:xfrm>
          <a:prstGeom prst="rect">
            <a:avLst/>
          </a:prstGeom>
        </p:spPr>
        <p:txBody>
          <a:bodyPr wrap="none">
            <a:spAutoFit/>
          </a:bodyPr>
          <a:lstStyle/>
          <a:p>
            <a:r>
              <a:rPr lang="en-US" altLang="zh-CN" sz="2000" b="1" dirty="0">
                <a:latin typeface="微软雅黑" pitchFamily="34" charset="-122"/>
                <a:ea typeface="微软雅黑" pitchFamily="34" charset="-122"/>
              </a:rPr>
              <a:t>(1) </a:t>
            </a:r>
            <a:r>
              <a:rPr lang="zh-CN" altLang="en-US" sz="2000" b="1" dirty="0">
                <a:latin typeface="微软雅黑" pitchFamily="34" charset="-122"/>
                <a:ea typeface="微软雅黑" pitchFamily="34" charset="-122"/>
              </a:rPr>
              <a:t>洪泛与剪除</a:t>
            </a:r>
          </a:p>
        </p:txBody>
      </p:sp>
      <p:sp>
        <p:nvSpPr>
          <p:cNvPr id="4" name="矩形 3"/>
          <p:cNvSpPr/>
          <p:nvPr/>
        </p:nvSpPr>
        <p:spPr>
          <a:xfrm>
            <a:off x="545144" y="949661"/>
            <a:ext cx="8028487" cy="1785104"/>
          </a:xfrm>
          <a:prstGeom prst="rect">
            <a:avLst/>
          </a:prstGeom>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适合于较小的多播组，所有组成员接入的局域网也是相邻接的。</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开始时，路由器转发多播数据报使用</a:t>
            </a:r>
            <a:r>
              <a:rPr lang="zh-CN" altLang="en-US" sz="2000" b="1" dirty="0">
                <a:solidFill>
                  <a:srgbClr val="C00000"/>
                </a:solidFill>
                <a:latin typeface="微软雅黑" pitchFamily="34" charset="-122"/>
                <a:ea typeface="微软雅黑" pitchFamily="34" charset="-122"/>
              </a:rPr>
              <a:t>洪泛</a:t>
            </a:r>
            <a:r>
              <a:rPr lang="zh-CN" altLang="en-US" sz="2000" b="1" dirty="0">
                <a:latin typeface="微软雅黑" pitchFamily="34" charset="-122"/>
                <a:ea typeface="微软雅黑" pitchFamily="34" charset="-122"/>
              </a:rPr>
              <a:t>的方法（这就是广播）。</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为避免兜圈子，采用</a:t>
            </a:r>
            <a:r>
              <a:rPr lang="zh-CN" altLang="en-US" sz="2000" b="1" dirty="0">
                <a:solidFill>
                  <a:srgbClr val="C00000"/>
                </a:solidFill>
                <a:latin typeface="微软雅黑" pitchFamily="34" charset="-122"/>
                <a:ea typeface="微软雅黑" pitchFamily="34" charset="-122"/>
              </a:rPr>
              <a:t>反向路径广播 </a:t>
            </a:r>
            <a:r>
              <a:rPr lang="en-US" altLang="zh-CN" sz="2000" b="1" dirty="0">
                <a:solidFill>
                  <a:srgbClr val="C00000"/>
                </a:solidFill>
                <a:latin typeface="微软雅黑" pitchFamily="34" charset="-122"/>
                <a:ea typeface="微软雅黑" pitchFamily="34" charset="-122"/>
              </a:rPr>
              <a:t>RPB </a:t>
            </a:r>
            <a:r>
              <a:rPr lang="en-US" altLang="zh-CN" sz="2000" b="1" dirty="0">
                <a:latin typeface="微软雅黑" pitchFamily="34" charset="-122"/>
                <a:ea typeface="微软雅黑" pitchFamily="34" charset="-122"/>
              </a:rPr>
              <a:t>(Reverse Path Broadcasting) </a:t>
            </a:r>
            <a:r>
              <a:rPr lang="zh-CN" altLang="en-US" sz="2000" b="1" dirty="0">
                <a:latin typeface="微软雅黑" pitchFamily="34" charset="-122"/>
                <a:ea typeface="微软雅黑" pitchFamily="34" charset="-122"/>
              </a:rPr>
              <a:t>的策略。</a:t>
            </a:r>
          </a:p>
        </p:txBody>
      </p:sp>
    </p:spTree>
    <p:extLst>
      <p:ext uri="{BB962C8B-B14F-4D97-AF65-F5344CB8AC3E}">
        <p14:creationId xmlns:p14="http://schemas.microsoft.com/office/powerpoint/2010/main" val="243154895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 name="圆角矩形 66"/>
          <p:cNvSpPr/>
          <p:nvPr/>
        </p:nvSpPr>
        <p:spPr>
          <a:xfrm>
            <a:off x="602840" y="976761"/>
            <a:ext cx="8053711" cy="365861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 name="AutoShape 5"/>
          <p:cNvSpPr>
            <a:spLocks noChangeArrowheads="1"/>
          </p:cNvSpPr>
          <p:nvPr/>
        </p:nvSpPr>
        <p:spPr bwMode="auto">
          <a:xfrm>
            <a:off x="545144" y="623089"/>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64321"/>
            <a:ext cx="3092513" cy="400110"/>
          </a:xfrm>
          <a:prstGeom prst="rect">
            <a:avLst/>
          </a:prstGeom>
        </p:spPr>
        <p:txBody>
          <a:bodyPr wrap="none">
            <a:spAutoFit/>
          </a:bodyPr>
          <a:lstStyle/>
          <a:p>
            <a:r>
              <a:rPr lang="en-US" altLang="zh-CN" sz="2000" b="1" dirty="0">
                <a:latin typeface="微软雅黑" pitchFamily="34" charset="-122"/>
                <a:ea typeface="微软雅黑" pitchFamily="34" charset="-122"/>
              </a:rPr>
              <a:t>RPB </a:t>
            </a:r>
            <a:r>
              <a:rPr lang="zh-CN" altLang="en-US" sz="2000" b="1" dirty="0">
                <a:latin typeface="微软雅黑" pitchFamily="34" charset="-122"/>
                <a:ea typeface="微软雅黑" pitchFamily="34" charset="-122"/>
              </a:rPr>
              <a:t>的要点：检查，转发</a:t>
            </a:r>
          </a:p>
        </p:txBody>
      </p:sp>
      <p:sp>
        <p:nvSpPr>
          <p:cNvPr id="5" name="Rectangle 3"/>
          <p:cNvSpPr>
            <a:spLocks noChangeArrowheads="1"/>
          </p:cNvSpPr>
          <p:nvPr/>
        </p:nvSpPr>
        <p:spPr bwMode="auto">
          <a:xfrm>
            <a:off x="3164997" y="2968067"/>
            <a:ext cx="2050874" cy="3091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7" tIns="46417" rIns="91047" bIns="46417">
            <a:spAutoFit/>
          </a:bodyPr>
          <a:lstStyle/>
          <a:p>
            <a:pPr algn="ctr" defTabSz="904875" eaLnBrk="0" hangingPunct="0"/>
            <a:r>
              <a:rPr lang="en-US" altLang="zh-CN" sz="1400" b="1" dirty="0">
                <a:solidFill>
                  <a:srgbClr val="0000FF"/>
                </a:solidFill>
                <a:latin typeface="微软雅黑" panose="020B0503020204020204" pitchFamily="34" charset="-122"/>
                <a:ea typeface="微软雅黑" panose="020B0503020204020204" pitchFamily="34" charset="-122"/>
              </a:rPr>
              <a:t>R</a:t>
            </a:r>
            <a:r>
              <a:rPr lang="en-US" altLang="zh-CN" sz="1400" b="1" baseline="-25000" dirty="0">
                <a:solidFill>
                  <a:srgbClr val="0000FF"/>
                </a:solidFill>
                <a:latin typeface="微软雅黑" panose="020B0503020204020204" pitchFamily="34" charset="-122"/>
                <a:ea typeface="微软雅黑" panose="020B0503020204020204" pitchFamily="34" charset="-122"/>
              </a:rPr>
              <a:t>0</a:t>
            </a:r>
            <a:r>
              <a:rPr lang="en-US" altLang="zh-CN" sz="1400" b="1" dirty="0">
                <a:solidFill>
                  <a:srgbClr val="0000FF"/>
                </a:solidFill>
                <a:latin typeface="微软雅黑" panose="020B0503020204020204" pitchFamily="34" charset="-122"/>
                <a:ea typeface="微软雅黑" panose="020B0503020204020204" pitchFamily="34" charset="-122"/>
              </a:rPr>
              <a:t> </a:t>
            </a:r>
            <a:r>
              <a:rPr lang="zh-CN" altLang="en-US" sz="1400" b="1" dirty="0">
                <a:solidFill>
                  <a:srgbClr val="0000FF"/>
                </a:solidFill>
                <a:latin typeface="微软雅黑" panose="020B0503020204020204" pitchFamily="34" charset="-122"/>
                <a:ea typeface="微软雅黑" panose="020B0503020204020204" pitchFamily="34" charset="-122"/>
              </a:rPr>
              <a:t>单播路由表</a:t>
            </a:r>
            <a:endParaRPr lang="en-US" altLang="zh-CN" sz="1400" b="1" dirty="0">
              <a:solidFill>
                <a:srgbClr val="0000FF"/>
              </a:solidFill>
              <a:latin typeface="微软雅黑" panose="020B0503020204020204" pitchFamily="34" charset="-122"/>
              <a:ea typeface="微软雅黑" panose="020B0503020204020204" pitchFamily="34" charset="-122"/>
            </a:endParaRPr>
          </a:p>
        </p:txBody>
      </p:sp>
      <p:grpSp>
        <p:nvGrpSpPr>
          <p:cNvPr id="13" name="Group 12"/>
          <p:cNvGrpSpPr>
            <a:grpSpLocks/>
          </p:cNvGrpSpPr>
          <p:nvPr/>
        </p:nvGrpSpPr>
        <p:grpSpPr bwMode="auto">
          <a:xfrm>
            <a:off x="1063036" y="3646724"/>
            <a:ext cx="2169040" cy="586243"/>
            <a:chOff x="2299" y="2980"/>
            <a:chExt cx="2294" cy="328"/>
          </a:xfrm>
        </p:grpSpPr>
        <p:sp>
          <p:nvSpPr>
            <p:cNvPr id="14" name="Rectangle 13"/>
            <p:cNvSpPr>
              <a:spLocks noChangeArrowheads="1"/>
            </p:cNvSpPr>
            <p:nvPr/>
          </p:nvSpPr>
          <p:spPr bwMode="auto">
            <a:xfrm>
              <a:off x="2299" y="2980"/>
              <a:ext cx="1827" cy="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7" tIns="46417" rIns="91047" bIns="46417">
              <a:spAutoFit/>
            </a:bodyPr>
            <a:lstStyle/>
            <a:p>
              <a:pPr defTabSz="904875" eaLnBrk="0" hangingPunct="0"/>
              <a:r>
                <a:rPr lang="zh-CN" altLang="en-US" sz="1600" b="1" dirty="0">
                  <a:latin typeface="微软雅黑" panose="020B0503020204020204" pitchFamily="34" charset="-122"/>
                  <a:ea typeface="微软雅黑" panose="020B0503020204020204" pitchFamily="34" charset="-122"/>
                </a:rPr>
                <a:t>经最短路径传送来的，</a:t>
              </a:r>
              <a:r>
                <a:rPr lang="zh-CN" altLang="en-US" sz="1600" b="1" dirty="0">
                  <a:solidFill>
                    <a:srgbClr val="C00000"/>
                  </a:solidFill>
                  <a:latin typeface="微软雅黑" panose="020B0503020204020204" pitchFamily="34" charset="-122"/>
                  <a:ea typeface="微软雅黑" panose="020B0503020204020204" pitchFamily="34" charset="-122"/>
                </a:rPr>
                <a:t>转发！</a:t>
              </a:r>
              <a:endParaRPr lang="en-US" altLang="zh-CN" sz="1600" b="1" dirty="0">
                <a:solidFill>
                  <a:srgbClr val="C00000"/>
                </a:solidFill>
                <a:latin typeface="微软雅黑" panose="020B0503020204020204" pitchFamily="34" charset="-122"/>
                <a:ea typeface="微软雅黑" panose="020B0503020204020204" pitchFamily="34" charset="-122"/>
              </a:endParaRPr>
            </a:p>
          </p:txBody>
        </p:sp>
        <p:sp>
          <p:nvSpPr>
            <p:cNvPr id="15" name="Line 14"/>
            <p:cNvSpPr>
              <a:spLocks noChangeShapeType="1"/>
            </p:cNvSpPr>
            <p:nvPr/>
          </p:nvSpPr>
          <p:spPr bwMode="auto">
            <a:xfrm flipH="1">
              <a:off x="4038" y="3020"/>
              <a:ext cx="555" cy="82"/>
            </a:xfrm>
            <a:prstGeom prst="line">
              <a:avLst/>
            </a:prstGeom>
            <a:noFill/>
            <a:ln w="50800">
              <a:solidFill>
                <a:schemeClr val="tx1"/>
              </a:solidFill>
              <a:round/>
              <a:headEnd type="stealth" w="med" len="lg"/>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7" tIns="46417" rIns="91047" bIns="46417">
              <a:spAutoFit/>
            </a:bodyPr>
            <a:lstStyle/>
            <a:p>
              <a:endParaRPr lang="zh-CN" altLang="en-US"/>
            </a:p>
          </p:txBody>
        </p:sp>
      </p:grpSp>
      <p:sp>
        <p:nvSpPr>
          <p:cNvPr id="20" name="Line 19"/>
          <p:cNvSpPr>
            <a:spLocks noChangeShapeType="1"/>
          </p:cNvSpPr>
          <p:nvPr/>
        </p:nvSpPr>
        <p:spPr bwMode="auto">
          <a:xfrm flipV="1">
            <a:off x="2759083" y="1276069"/>
            <a:ext cx="0" cy="1168323"/>
          </a:xfrm>
          <a:prstGeom prst="line">
            <a:avLst/>
          </a:prstGeom>
          <a:noFill/>
          <a:ln w="25400">
            <a:solidFill>
              <a:schemeClr val="tx1"/>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21" name="Line 20"/>
          <p:cNvSpPr>
            <a:spLocks noChangeShapeType="1"/>
          </p:cNvSpPr>
          <p:nvPr/>
        </p:nvSpPr>
        <p:spPr bwMode="auto">
          <a:xfrm flipH="1">
            <a:off x="2885127" y="2612434"/>
            <a:ext cx="1292302" cy="0"/>
          </a:xfrm>
          <a:prstGeom prst="line">
            <a:avLst/>
          </a:prstGeom>
          <a:noFill/>
          <a:ln w="25400">
            <a:solidFill>
              <a:schemeClr val="tx1"/>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23" name="Rectangle 22"/>
          <p:cNvSpPr>
            <a:spLocks noChangeArrowheads="1"/>
          </p:cNvSpPr>
          <p:nvPr/>
        </p:nvSpPr>
        <p:spPr bwMode="auto">
          <a:xfrm>
            <a:off x="2104579" y="1158079"/>
            <a:ext cx="411499" cy="339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047" tIns="46417" rIns="91047" bIns="46417">
            <a:spAutoFit/>
          </a:bodyPr>
          <a:lstStyle/>
          <a:p>
            <a:pPr algn="ctr" defTabSz="904875" eaLnBrk="0" hangingPunct="0"/>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1</a:t>
            </a:r>
          </a:p>
        </p:txBody>
      </p:sp>
      <p:grpSp>
        <p:nvGrpSpPr>
          <p:cNvPr id="26" name="Group 25"/>
          <p:cNvGrpSpPr>
            <a:grpSpLocks/>
          </p:cNvGrpSpPr>
          <p:nvPr/>
        </p:nvGrpSpPr>
        <p:grpSpPr bwMode="auto">
          <a:xfrm>
            <a:off x="709310" y="1347317"/>
            <a:ext cx="1972793" cy="1084653"/>
            <a:chOff x="1768" y="1467"/>
            <a:chExt cx="1104" cy="608"/>
          </a:xfrm>
        </p:grpSpPr>
        <p:sp>
          <p:nvSpPr>
            <p:cNvPr id="27" name="Rectangle 26"/>
            <p:cNvSpPr>
              <a:spLocks noChangeArrowheads="1"/>
            </p:cNvSpPr>
            <p:nvPr/>
          </p:nvSpPr>
          <p:spPr bwMode="auto">
            <a:xfrm>
              <a:off x="1768" y="1548"/>
              <a:ext cx="1104" cy="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047" tIns="46417" rIns="91047" bIns="46417">
              <a:spAutoFit/>
            </a:bodyPr>
            <a:lstStyle/>
            <a:p>
              <a:pPr algn="ctr" defTabSz="904875" eaLnBrk="0" hangingPunct="0"/>
              <a:r>
                <a:rPr lang="zh-CN" altLang="en-US" sz="1600" b="1" dirty="0">
                  <a:latin typeface="微软雅黑" panose="020B0503020204020204" pitchFamily="34" charset="-122"/>
                  <a:ea typeface="微软雅黑" panose="020B0503020204020204" pitchFamily="34" charset="-122"/>
                </a:rPr>
                <a:t>多播数据报</a:t>
              </a:r>
              <a:endParaRPr lang="en-US" altLang="zh-CN" sz="1600" b="1" dirty="0">
                <a:latin typeface="微软雅黑" panose="020B0503020204020204" pitchFamily="34" charset="-122"/>
                <a:ea typeface="微软雅黑" panose="020B0503020204020204" pitchFamily="34" charset="-122"/>
              </a:endParaRPr>
            </a:p>
            <a:p>
              <a:pPr algn="ctr" defTabSz="904875" eaLnBrk="0" hangingPunct="0"/>
              <a:r>
                <a:rPr lang="zh-CN" altLang="en-US" sz="1600" b="1" dirty="0">
                  <a:latin typeface="微软雅黑" panose="020B0503020204020204" pitchFamily="34" charset="-122"/>
                  <a:ea typeface="微软雅黑" panose="020B0503020204020204" pitchFamily="34" charset="-122"/>
                </a:rPr>
                <a:t>来自</a:t>
              </a:r>
              <a:r>
                <a:rPr lang="en-US" altLang="zh-CN" sz="1600" b="1" dirty="0">
                  <a:latin typeface="微软雅黑" panose="020B0503020204020204" pitchFamily="34" charset="-122"/>
                  <a:ea typeface="微软雅黑" panose="020B0503020204020204" pitchFamily="34" charset="-122"/>
                </a:rPr>
                <a:t> </a:t>
              </a:r>
              <a:r>
                <a:rPr lang="en-US" altLang="zh-CN" sz="1600" b="1" dirty="0">
                  <a:solidFill>
                    <a:srgbClr val="CC00CC"/>
                  </a:solidFill>
                  <a:latin typeface="微软雅黑" panose="020B0503020204020204" pitchFamily="34" charset="-122"/>
                  <a:ea typeface="微软雅黑" panose="020B0503020204020204" pitchFamily="34" charset="-122"/>
                </a:rPr>
                <a:t>151.10.33.21</a:t>
              </a:r>
            </a:p>
          </p:txBody>
        </p:sp>
        <p:sp>
          <p:nvSpPr>
            <p:cNvPr id="28" name="Line 27"/>
            <p:cNvSpPr>
              <a:spLocks noChangeShapeType="1"/>
            </p:cNvSpPr>
            <p:nvPr/>
          </p:nvSpPr>
          <p:spPr bwMode="auto">
            <a:xfrm flipH="1">
              <a:off x="2863" y="1467"/>
              <a:ext cx="0" cy="608"/>
            </a:xfrm>
            <a:prstGeom prst="line">
              <a:avLst/>
            </a:prstGeom>
            <a:noFill/>
            <a:ln w="38100">
              <a:solidFill>
                <a:srgbClr val="0000FF"/>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tx1"/>
                    </a:outerShdw>
                  </a:effectLst>
                </a14:hiddenEffects>
              </a:ext>
            </a:extLst>
          </p:spPr>
          <p:txBody>
            <a:bodyPr wrap="square" lIns="91047" tIns="46417" rIns="91047" bIns="46417">
              <a:spAutoFit/>
            </a:bodyPr>
            <a:lstStyle/>
            <a:p>
              <a:endParaRPr lang="zh-CN" altLang="en-US"/>
            </a:p>
          </p:txBody>
        </p:sp>
      </p:grpSp>
      <p:pic>
        <p:nvPicPr>
          <p:cNvPr id="34" name="Picture 2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84926" y="1135778"/>
            <a:ext cx="584201" cy="4008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 name="Picture 2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108169" y="2432733"/>
            <a:ext cx="584201" cy="4008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6" name="Line 19"/>
          <p:cNvSpPr>
            <a:spLocks noChangeShapeType="1"/>
          </p:cNvSpPr>
          <p:nvPr/>
        </p:nvSpPr>
        <p:spPr bwMode="auto">
          <a:xfrm flipV="1">
            <a:off x="2759082" y="2692644"/>
            <a:ext cx="5579" cy="534029"/>
          </a:xfrm>
          <a:prstGeom prst="line">
            <a:avLst/>
          </a:prstGeom>
          <a:noFill/>
          <a:ln w="25400">
            <a:solidFill>
              <a:schemeClr val="tx1"/>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37" name="Line 19"/>
          <p:cNvSpPr>
            <a:spLocks noChangeShapeType="1"/>
          </p:cNvSpPr>
          <p:nvPr/>
        </p:nvSpPr>
        <p:spPr bwMode="auto">
          <a:xfrm flipV="1">
            <a:off x="2210305" y="2692643"/>
            <a:ext cx="409493" cy="471547"/>
          </a:xfrm>
          <a:prstGeom prst="line">
            <a:avLst/>
          </a:prstGeom>
          <a:noFill/>
          <a:ln w="25400">
            <a:solidFill>
              <a:schemeClr val="tx1"/>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pic>
        <p:nvPicPr>
          <p:cNvPr id="25" name="Picture 2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84925" y="2432733"/>
            <a:ext cx="584201" cy="4008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 name="Rectangle 22"/>
          <p:cNvSpPr>
            <a:spLocks noChangeArrowheads="1"/>
          </p:cNvSpPr>
          <p:nvPr/>
        </p:nvSpPr>
        <p:spPr bwMode="auto">
          <a:xfrm>
            <a:off x="2232547" y="2150964"/>
            <a:ext cx="411499" cy="339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047" tIns="46417" rIns="91047" bIns="46417">
            <a:spAutoFit/>
          </a:bodyPr>
          <a:lstStyle/>
          <a:p>
            <a:pPr algn="ctr" defTabSz="904875" eaLnBrk="0" hangingPunct="0"/>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0</a:t>
            </a:r>
          </a:p>
        </p:txBody>
      </p:sp>
      <p:sp>
        <p:nvSpPr>
          <p:cNvPr id="39" name="Rectangle 22"/>
          <p:cNvSpPr>
            <a:spLocks noChangeArrowheads="1"/>
          </p:cNvSpPr>
          <p:nvPr/>
        </p:nvSpPr>
        <p:spPr bwMode="auto">
          <a:xfrm>
            <a:off x="4177429" y="2150964"/>
            <a:ext cx="411499" cy="339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047" tIns="46417" rIns="91047" bIns="46417">
            <a:spAutoFit/>
          </a:bodyPr>
          <a:lstStyle/>
          <a:p>
            <a:pPr algn="ctr" defTabSz="904875" eaLnBrk="0" hangingPunct="0"/>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2</a:t>
            </a:r>
          </a:p>
        </p:txBody>
      </p:sp>
      <p:graphicFrame>
        <p:nvGraphicFramePr>
          <p:cNvPr id="40" name="表格 39"/>
          <p:cNvGraphicFramePr>
            <a:graphicFrameLocks noGrp="1"/>
          </p:cNvGraphicFramePr>
          <p:nvPr>
            <p:extLst>
              <p:ext uri="{D42A27DB-BD31-4B8C-83A1-F6EECF244321}">
                <p14:modId xmlns:p14="http://schemas.microsoft.com/office/powerpoint/2010/main" val="467950370"/>
              </p:ext>
            </p:extLst>
          </p:nvPr>
        </p:nvGraphicFramePr>
        <p:xfrm>
          <a:off x="3106724" y="3265911"/>
          <a:ext cx="2208519" cy="1219200"/>
        </p:xfrm>
        <a:graphic>
          <a:graphicData uri="http://schemas.openxmlformats.org/drawingml/2006/table">
            <a:tbl>
              <a:tblPr firstRow="1" bandRow="1">
                <a:tableStyleId>{5940675A-B579-460E-94D1-54222C63F5DA}</a:tableStyleId>
              </a:tblPr>
              <a:tblGrid>
                <a:gridCol w="1428310">
                  <a:extLst>
                    <a:ext uri="{9D8B030D-6E8A-4147-A177-3AD203B41FA5}">
                      <a16:colId xmlns:a16="http://schemas.microsoft.com/office/drawing/2014/main" val="1462558753"/>
                    </a:ext>
                  </a:extLst>
                </a:gridCol>
                <a:gridCol w="780209">
                  <a:extLst>
                    <a:ext uri="{9D8B030D-6E8A-4147-A177-3AD203B41FA5}">
                      <a16:colId xmlns:a16="http://schemas.microsoft.com/office/drawing/2014/main" val="1329728034"/>
                    </a:ext>
                  </a:extLst>
                </a:gridCol>
              </a:tblGrid>
              <a:tr h="242444">
                <a:tc>
                  <a:txBody>
                    <a:bodyPr/>
                    <a:lstStyle/>
                    <a:p>
                      <a:pPr algn="ctr"/>
                      <a:r>
                        <a:rPr lang="zh-CN" altLang="en-US" sz="1400" b="1" dirty="0">
                          <a:latin typeface="微软雅黑" panose="020B0503020204020204" pitchFamily="34" charset="-122"/>
                          <a:ea typeface="微软雅黑" panose="020B0503020204020204" pitchFamily="34" charset="-122"/>
                        </a:rPr>
                        <a:t>目的网络</a:t>
                      </a: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zh-CN" altLang="en-US" sz="1400" b="1" dirty="0">
                          <a:latin typeface="微软雅黑" panose="020B0503020204020204" pitchFamily="34" charset="-122"/>
                          <a:ea typeface="微软雅黑" panose="020B0503020204020204" pitchFamily="34" charset="-122"/>
                        </a:rPr>
                        <a:t>下一跳</a:t>
                      </a: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681358789"/>
                  </a:ext>
                </a:extLst>
              </a:tr>
              <a:tr h="242444">
                <a:tc>
                  <a:txBody>
                    <a:bodyPr/>
                    <a:lstStyle/>
                    <a:p>
                      <a:pPr algn="ctr"/>
                      <a:r>
                        <a:rPr lang="en-US" altLang="zh-CN" sz="1400" b="1" dirty="0">
                          <a:solidFill>
                            <a:schemeClr val="tx1"/>
                          </a:solidFill>
                        </a:rPr>
                        <a:t>151.10.0.0/16</a:t>
                      </a:r>
                      <a:endParaRPr lang="zh-CN" altLang="en-US" sz="14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CN" sz="1400" b="1" dirty="0">
                          <a:solidFill>
                            <a:srgbClr val="C00000"/>
                          </a:solidFill>
                          <a:latin typeface="微软雅黑" panose="020B0503020204020204" pitchFamily="34" charset="-122"/>
                          <a:ea typeface="微软雅黑" panose="020B0503020204020204" pitchFamily="34" charset="-122"/>
                        </a:rPr>
                        <a:t>R</a:t>
                      </a:r>
                      <a:r>
                        <a:rPr lang="en-US" altLang="zh-CN" sz="1400" b="1" baseline="-25000" dirty="0">
                          <a:solidFill>
                            <a:srgbClr val="C00000"/>
                          </a:solidFill>
                          <a:latin typeface="微软雅黑" panose="020B0503020204020204" pitchFamily="34" charset="-122"/>
                          <a:ea typeface="微软雅黑" panose="020B0503020204020204" pitchFamily="34" charset="-122"/>
                        </a:rPr>
                        <a:t>1</a:t>
                      </a:r>
                      <a:r>
                        <a:rPr lang="en-US" altLang="zh-CN" sz="1400" b="1" dirty="0">
                          <a:solidFill>
                            <a:srgbClr val="C00000"/>
                          </a:solidFill>
                          <a:latin typeface="微软雅黑" panose="020B0503020204020204" pitchFamily="34" charset="-122"/>
                          <a:ea typeface="微软雅黑" panose="020B0503020204020204" pitchFamily="34" charset="-122"/>
                        </a:rPr>
                        <a:t> </a:t>
                      </a:r>
                      <a:endParaRPr lang="zh-CN" altLang="en-US" sz="1400" b="1" dirty="0">
                        <a:solidFill>
                          <a:srgbClr val="C00000"/>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3013368"/>
                  </a:ext>
                </a:extLst>
              </a:tr>
              <a:tr h="242444">
                <a:tc>
                  <a:txBody>
                    <a:bodyPr/>
                    <a:lstStyle/>
                    <a:p>
                      <a:pPr algn="ctr"/>
                      <a:r>
                        <a:rPr lang="en-US" altLang="zh-CN" sz="1400" b="1" dirty="0">
                          <a:solidFill>
                            <a:schemeClr val="tx1"/>
                          </a:solidFill>
                        </a:rPr>
                        <a:t>198.14.32.0/24</a:t>
                      </a:r>
                      <a:endParaRPr lang="zh-CN" altLang="en-US" sz="14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CN" sz="1400" b="1" dirty="0">
                          <a:latin typeface="微软雅黑" panose="020B0503020204020204" pitchFamily="34" charset="-122"/>
                          <a:ea typeface="微软雅黑" panose="020B0503020204020204" pitchFamily="34" charset="-122"/>
                        </a:rPr>
                        <a:t>R</a:t>
                      </a:r>
                      <a:r>
                        <a:rPr lang="en-US" altLang="zh-CN" sz="1400" b="1" kern="1200" baseline="-25000" dirty="0">
                          <a:solidFill>
                            <a:schemeClr val="tx1"/>
                          </a:solidFill>
                          <a:latin typeface="微软雅黑" panose="020B0503020204020204" pitchFamily="34" charset="-122"/>
                          <a:ea typeface="微软雅黑" panose="020B0503020204020204" pitchFamily="34" charset="-122"/>
                          <a:cs typeface="+mn-cs"/>
                        </a:rPr>
                        <a:t>2</a:t>
                      </a:r>
                      <a:r>
                        <a:rPr lang="en-US" altLang="zh-CN" sz="1400" b="1" dirty="0">
                          <a:latin typeface="微软雅黑" panose="020B0503020204020204" pitchFamily="34" charset="-122"/>
                          <a:ea typeface="微软雅黑" panose="020B0503020204020204" pitchFamily="34" charset="-122"/>
                        </a:rPr>
                        <a:t> </a:t>
                      </a:r>
                      <a:endParaRPr lang="zh-CN" altLang="en-US" sz="1400" b="1" dirty="0">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64301031"/>
                  </a:ext>
                </a:extLst>
              </a:tr>
              <a:tr h="242444">
                <a:tc>
                  <a:txBody>
                    <a:bodyPr/>
                    <a:lstStyle/>
                    <a:p>
                      <a:pPr algn="ctr"/>
                      <a:r>
                        <a:rPr lang="en-US" altLang="zh-CN" sz="1400" b="1" dirty="0">
                          <a:solidFill>
                            <a:schemeClr val="tx1"/>
                          </a:solidFill>
                        </a:rPr>
                        <a:t>204.1.16.0/24</a:t>
                      </a:r>
                      <a:endParaRPr lang="zh-CN" altLang="en-US" sz="14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CN" sz="1400" b="1" dirty="0">
                          <a:latin typeface="微软雅黑" panose="020B0503020204020204" pitchFamily="34" charset="-122"/>
                          <a:ea typeface="微软雅黑" panose="020B0503020204020204" pitchFamily="34" charset="-122"/>
                        </a:rPr>
                        <a:t>R</a:t>
                      </a:r>
                      <a:r>
                        <a:rPr lang="en-US" altLang="zh-CN" sz="1400" b="1" kern="1200" baseline="-25000" dirty="0">
                          <a:solidFill>
                            <a:schemeClr val="tx1"/>
                          </a:solidFill>
                          <a:latin typeface="微软雅黑" panose="020B0503020204020204" pitchFamily="34" charset="-122"/>
                          <a:ea typeface="微软雅黑" panose="020B0503020204020204" pitchFamily="34" charset="-122"/>
                          <a:cs typeface="+mn-cs"/>
                        </a:rPr>
                        <a:t>2</a:t>
                      </a:r>
                      <a:r>
                        <a:rPr lang="en-US" altLang="zh-CN" sz="1400" b="1" dirty="0">
                          <a:latin typeface="微软雅黑" panose="020B0503020204020204" pitchFamily="34" charset="-122"/>
                          <a:ea typeface="微软雅黑" panose="020B0503020204020204" pitchFamily="34" charset="-122"/>
                        </a:rPr>
                        <a:t> </a:t>
                      </a:r>
                      <a:endParaRPr lang="zh-CN" altLang="en-US" sz="1400" b="1" dirty="0">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954844528"/>
                  </a:ext>
                </a:extLst>
              </a:tr>
            </a:tbl>
          </a:graphicData>
        </a:graphic>
      </p:graphicFrame>
      <p:grpSp>
        <p:nvGrpSpPr>
          <p:cNvPr id="45" name="组合 44"/>
          <p:cNvGrpSpPr/>
          <p:nvPr/>
        </p:nvGrpSpPr>
        <p:grpSpPr>
          <a:xfrm>
            <a:off x="2177655" y="2554872"/>
            <a:ext cx="1930513" cy="671801"/>
            <a:chOff x="3707686" y="2889766"/>
            <a:chExt cx="1930513" cy="671801"/>
          </a:xfrm>
        </p:grpSpPr>
        <p:sp>
          <p:nvSpPr>
            <p:cNvPr id="42" name="Line 27"/>
            <p:cNvSpPr>
              <a:spLocks noChangeShapeType="1"/>
            </p:cNvSpPr>
            <p:nvPr/>
          </p:nvSpPr>
          <p:spPr bwMode="auto">
            <a:xfrm flipH="1">
              <a:off x="4220081" y="3168525"/>
              <a:ext cx="0" cy="393042"/>
            </a:xfrm>
            <a:prstGeom prst="line">
              <a:avLst/>
            </a:prstGeom>
            <a:noFill/>
            <a:ln w="38100">
              <a:solidFill>
                <a:srgbClr val="990099"/>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tx1"/>
                    </a:outerShdw>
                  </a:effectLst>
                </a14:hiddenEffects>
              </a:ext>
            </a:extLst>
          </p:spPr>
          <p:txBody>
            <a:bodyPr wrap="square" lIns="91047" tIns="46417" rIns="91047" bIns="46417">
              <a:spAutoFit/>
            </a:bodyPr>
            <a:lstStyle/>
            <a:p>
              <a:endParaRPr lang="zh-CN" altLang="en-US"/>
            </a:p>
          </p:txBody>
        </p:sp>
        <p:sp>
          <p:nvSpPr>
            <p:cNvPr id="43" name="Line 27"/>
            <p:cNvSpPr>
              <a:spLocks noChangeShapeType="1"/>
            </p:cNvSpPr>
            <p:nvPr/>
          </p:nvSpPr>
          <p:spPr bwMode="auto">
            <a:xfrm flipH="1">
              <a:off x="3707686" y="3066789"/>
              <a:ext cx="290127" cy="372930"/>
            </a:xfrm>
            <a:prstGeom prst="line">
              <a:avLst/>
            </a:prstGeom>
            <a:noFill/>
            <a:ln w="38100">
              <a:solidFill>
                <a:srgbClr val="990099"/>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tx1"/>
                    </a:outerShdw>
                  </a:effectLst>
                </a14:hiddenEffects>
              </a:ext>
            </a:extLst>
          </p:spPr>
          <p:txBody>
            <a:bodyPr wrap="square" lIns="91047" tIns="46417" rIns="91047" bIns="46417">
              <a:spAutoFit/>
            </a:bodyPr>
            <a:lstStyle/>
            <a:p>
              <a:endParaRPr lang="zh-CN" altLang="en-US"/>
            </a:p>
          </p:txBody>
        </p:sp>
        <p:sp>
          <p:nvSpPr>
            <p:cNvPr id="44" name="Line 27"/>
            <p:cNvSpPr>
              <a:spLocks noChangeShapeType="1"/>
            </p:cNvSpPr>
            <p:nvPr/>
          </p:nvSpPr>
          <p:spPr bwMode="auto">
            <a:xfrm>
              <a:off x="4606112" y="2889766"/>
              <a:ext cx="1032087" cy="0"/>
            </a:xfrm>
            <a:prstGeom prst="line">
              <a:avLst/>
            </a:prstGeom>
            <a:noFill/>
            <a:ln w="38100">
              <a:solidFill>
                <a:srgbClr val="990099"/>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tx1"/>
                    </a:outerShdw>
                  </a:effectLst>
                </a14:hiddenEffects>
              </a:ext>
            </a:extLst>
          </p:spPr>
          <p:txBody>
            <a:bodyPr wrap="square" lIns="91047" tIns="46417" rIns="91047" bIns="46417">
              <a:spAutoFit/>
            </a:bodyPr>
            <a:lstStyle/>
            <a:p>
              <a:endParaRPr lang="zh-CN" altLang="en-US"/>
            </a:p>
          </p:txBody>
        </p:sp>
      </p:grpSp>
      <p:grpSp>
        <p:nvGrpSpPr>
          <p:cNvPr id="49" name="Group 25"/>
          <p:cNvGrpSpPr>
            <a:grpSpLocks/>
          </p:cNvGrpSpPr>
          <p:nvPr/>
        </p:nvGrpSpPr>
        <p:grpSpPr bwMode="auto">
          <a:xfrm>
            <a:off x="6502291" y="1551200"/>
            <a:ext cx="1972792" cy="995454"/>
            <a:chOff x="1858" y="1528"/>
            <a:chExt cx="1104" cy="558"/>
          </a:xfrm>
        </p:grpSpPr>
        <p:sp>
          <p:nvSpPr>
            <p:cNvPr id="50" name="Rectangle 26"/>
            <p:cNvSpPr>
              <a:spLocks noChangeArrowheads="1"/>
            </p:cNvSpPr>
            <p:nvPr/>
          </p:nvSpPr>
          <p:spPr bwMode="auto">
            <a:xfrm>
              <a:off x="1858" y="1528"/>
              <a:ext cx="1104" cy="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047" tIns="46417" rIns="91047" bIns="46417">
              <a:spAutoFit/>
            </a:bodyPr>
            <a:lstStyle/>
            <a:p>
              <a:pPr algn="ctr" defTabSz="904875" eaLnBrk="0" hangingPunct="0"/>
              <a:r>
                <a:rPr lang="zh-CN" altLang="en-US" sz="1600" b="1" dirty="0">
                  <a:latin typeface="微软雅黑" panose="020B0503020204020204" pitchFamily="34" charset="-122"/>
                  <a:ea typeface="微软雅黑" panose="020B0503020204020204" pitchFamily="34" charset="-122"/>
                </a:rPr>
                <a:t>多播数据报</a:t>
              </a:r>
              <a:endParaRPr lang="en-US" altLang="zh-CN" sz="1600" b="1" dirty="0">
                <a:latin typeface="微软雅黑" panose="020B0503020204020204" pitchFamily="34" charset="-122"/>
                <a:ea typeface="微软雅黑" panose="020B0503020204020204" pitchFamily="34" charset="-122"/>
              </a:endParaRPr>
            </a:p>
            <a:p>
              <a:pPr algn="ctr" defTabSz="904875" eaLnBrk="0" hangingPunct="0"/>
              <a:r>
                <a:rPr lang="zh-CN" altLang="en-US" sz="1600" b="1" dirty="0">
                  <a:latin typeface="微软雅黑" panose="020B0503020204020204" pitchFamily="34" charset="-122"/>
                  <a:ea typeface="微软雅黑" panose="020B0503020204020204" pitchFamily="34" charset="-122"/>
                </a:rPr>
                <a:t>来自</a:t>
              </a:r>
              <a:r>
                <a:rPr lang="en-US" altLang="zh-CN" sz="1600" b="1" dirty="0">
                  <a:latin typeface="微软雅黑" panose="020B0503020204020204" pitchFamily="34" charset="-122"/>
                  <a:ea typeface="微软雅黑" panose="020B0503020204020204" pitchFamily="34" charset="-122"/>
                </a:rPr>
                <a:t> </a:t>
              </a:r>
              <a:r>
                <a:rPr lang="en-US" altLang="zh-CN" sz="1600" b="1" dirty="0">
                  <a:solidFill>
                    <a:srgbClr val="CC00CC"/>
                  </a:solidFill>
                  <a:latin typeface="微软雅黑" panose="020B0503020204020204" pitchFamily="34" charset="-122"/>
                  <a:ea typeface="微软雅黑" panose="020B0503020204020204" pitchFamily="34" charset="-122"/>
                </a:rPr>
                <a:t>151.10.33.21</a:t>
              </a:r>
            </a:p>
          </p:txBody>
        </p:sp>
        <p:sp>
          <p:nvSpPr>
            <p:cNvPr id="51" name="Line 27"/>
            <p:cNvSpPr>
              <a:spLocks noChangeShapeType="1"/>
            </p:cNvSpPr>
            <p:nvPr/>
          </p:nvSpPr>
          <p:spPr bwMode="auto">
            <a:xfrm flipH="1">
              <a:off x="1926" y="2085"/>
              <a:ext cx="615" cy="1"/>
            </a:xfrm>
            <a:prstGeom prst="line">
              <a:avLst/>
            </a:prstGeom>
            <a:noFill/>
            <a:ln w="38100">
              <a:solidFill>
                <a:srgbClr val="0000FF"/>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tx1"/>
                    </a:outerShdw>
                  </a:effectLst>
                </a14:hiddenEffects>
              </a:ext>
            </a:extLst>
          </p:spPr>
          <p:txBody>
            <a:bodyPr wrap="square" lIns="91047" tIns="46417" rIns="91047" bIns="46417">
              <a:spAutoFit/>
            </a:bodyPr>
            <a:lstStyle/>
            <a:p>
              <a:endParaRPr lang="zh-CN" altLang="en-US"/>
            </a:p>
          </p:txBody>
        </p:sp>
      </p:grpSp>
      <p:grpSp>
        <p:nvGrpSpPr>
          <p:cNvPr id="66" name="组合 65"/>
          <p:cNvGrpSpPr/>
          <p:nvPr/>
        </p:nvGrpSpPr>
        <p:grpSpPr>
          <a:xfrm>
            <a:off x="5668289" y="1135778"/>
            <a:ext cx="2560632" cy="2090895"/>
            <a:chOff x="5668289" y="1190096"/>
            <a:chExt cx="2560632" cy="2090895"/>
          </a:xfrm>
        </p:grpSpPr>
        <p:sp>
          <p:nvSpPr>
            <p:cNvPr id="46" name="Line 19"/>
            <p:cNvSpPr>
              <a:spLocks noChangeShapeType="1"/>
            </p:cNvSpPr>
            <p:nvPr/>
          </p:nvSpPr>
          <p:spPr bwMode="auto">
            <a:xfrm flipV="1">
              <a:off x="6322793" y="1330387"/>
              <a:ext cx="0" cy="1168323"/>
            </a:xfrm>
            <a:prstGeom prst="line">
              <a:avLst/>
            </a:prstGeom>
            <a:noFill/>
            <a:ln w="25400">
              <a:solidFill>
                <a:schemeClr val="tx1"/>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47" name="Line 20"/>
            <p:cNvSpPr>
              <a:spLocks noChangeShapeType="1"/>
            </p:cNvSpPr>
            <p:nvPr/>
          </p:nvSpPr>
          <p:spPr bwMode="auto">
            <a:xfrm flipH="1">
              <a:off x="6448837" y="2666752"/>
              <a:ext cx="1282844" cy="0"/>
            </a:xfrm>
            <a:prstGeom prst="line">
              <a:avLst/>
            </a:prstGeom>
            <a:noFill/>
            <a:ln w="25400">
              <a:solidFill>
                <a:schemeClr val="tx1"/>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48" name="Rectangle 22"/>
            <p:cNvSpPr>
              <a:spLocks noChangeArrowheads="1"/>
            </p:cNvSpPr>
            <p:nvPr/>
          </p:nvSpPr>
          <p:spPr bwMode="auto">
            <a:xfrm>
              <a:off x="5668289" y="1212397"/>
              <a:ext cx="411499" cy="339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047" tIns="46417" rIns="91047" bIns="46417">
              <a:spAutoFit/>
            </a:bodyPr>
            <a:lstStyle/>
            <a:p>
              <a:pPr algn="ctr" defTabSz="904875" eaLnBrk="0" hangingPunct="0"/>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1</a:t>
              </a:r>
            </a:p>
          </p:txBody>
        </p:sp>
        <p:pic>
          <p:nvPicPr>
            <p:cNvPr id="52" name="Picture 2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48636" y="1190096"/>
              <a:ext cx="584201" cy="4008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3" name="Picture 2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44720" y="2487051"/>
              <a:ext cx="584201" cy="4008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4" name="Line 19"/>
            <p:cNvSpPr>
              <a:spLocks noChangeShapeType="1"/>
            </p:cNvSpPr>
            <p:nvPr/>
          </p:nvSpPr>
          <p:spPr bwMode="auto">
            <a:xfrm flipV="1">
              <a:off x="6322792" y="2746962"/>
              <a:ext cx="5579" cy="534029"/>
            </a:xfrm>
            <a:prstGeom prst="line">
              <a:avLst/>
            </a:prstGeom>
            <a:noFill/>
            <a:ln w="25400">
              <a:solidFill>
                <a:schemeClr val="tx1"/>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55" name="Line 19"/>
            <p:cNvSpPr>
              <a:spLocks noChangeShapeType="1"/>
            </p:cNvSpPr>
            <p:nvPr/>
          </p:nvSpPr>
          <p:spPr bwMode="auto">
            <a:xfrm flipV="1">
              <a:off x="5774015" y="2746961"/>
              <a:ext cx="409493" cy="471547"/>
            </a:xfrm>
            <a:prstGeom prst="line">
              <a:avLst/>
            </a:prstGeom>
            <a:noFill/>
            <a:ln w="25400">
              <a:solidFill>
                <a:schemeClr val="tx1"/>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pic>
          <p:nvPicPr>
            <p:cNvPr id="56" name="Picture 2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48635" y="2487051"/>
              <a:ext cx="584201" cy="4008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7" name="Rectangle 22"/>
            <p:cNvSpPr>
              <a:spLocks noChangeArrowheads="1"/>
            </p:cNvSpPr>
            <p:nvPr/>
          </p:nvSpPr>
          <p:spPr bwMode="auto">
            <a:xfrm>
              <a:off x="5796257" y="2205282"/>
              <a:ext cx="411499" cy="339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047" tIns="46417" rIns="91047" bIns="46417">
              <a:spAutoFit/>
            </a:bodyPr>
            <a:lstStyle/>
            <a:p>
              <a:pPr algn="ctr" defTabSz="904875" eaLnBrk="0" hangingPunct="0"/>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0</a:t>
              </a:r>
            </a:p>
          </p:txBody>
        </p:sp>
        <p:sp>
          <p:nvSpPr>
            <p:cNvPr id="58" name="Rectangle 22"/>
            <p:cNvSpPr>
              <a:spLocks noChangeArrowheads="1"/>
            </p:cNvSpPr>
            <p:nvPr/>
          </p:nvSpPr>
          <p:spPr bwMode="auto">
            <a:xfrm>
              <a:off x="7741142" y="2205282"/>
              <a:ext cx="411499" cy="339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047" tIns="46417" rIns="91047" bIns="46417">
              <a:spAutoFit/>
            </a:bodyPr>
            <a:lstStyle/>
            <a:p>
              <a:pPr algn="ctr" defTabSz="904875" eaLnBrk="0" hangingPunct="0"/>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2</a:t>
              </a:r>
            </a:p>
          </p:txBody>
        </p:sp>
      </p:grpSp>
      <p:grpSp>
        <p:nvGrpSpPr>
          <p:cNvPr id="63" name="Group 12"/>
          <p:cNvGrpSpPr>
            <a:grpSpLocks/>
          </p:cNvGrpSpPr>
          <p:nvPr/>
        </p:nvGrpSpPr>
        <p:grpSpPr bwMode="auto">
          <a:xfrm>
            <a:off x="5216266" y="3646724"/>
            <a:ext cx="2392185" cy="586243"/>
            <a:chOff x="1457" y="2980"/>
            <a:chExt cx="2530" cy="328"/>
          </a:xfrm>
        </p:grpSpPr>
        <p:sp>
          <p:nvSpPr>
            <p:cNvPr id="64" name="Rectangle 13"/>
            <p:cNvSpPr>
              <a:spLocks noChangeArrowheads="1"/>
            </p:cNvSpPr>
            <p:nvPr/>
          </p:nvSpPr>
          <p:spPr bwMode="auto">
            <a:xfrm>
              <a:off x="2032" y="2980"/>
              <a:ext cx="1955" cy="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7" tIns="46417" rIns="91047" bIns="46417">
              <a:spAutoFit/>
            </a:bodyPr>
            <a:lstStyle/>
            <a:p>
              <a:pPr defTabSz="904875" eaLnBrk="0" hangingPunct="0"/>
              <a:r>
                <a:rPr lang="zh-CN" altLang="en-US" sz="1600" b="1" dirty="0">
                  <a:latin typeface="微软雅黑" panose="020B0503020204020204" pitchFamily="34" charset="-122"/>
                  <a:ea typeface="微软雅黑" panose="020B0503020204020204" pitchFamily="34" charset="-122"/>
                </a:rPr>
                <a:t>不是经最短路径传送来的，</a:t>
              </a:r>
              <a:r>
                <a:rPr lang="zh-CN" altLang="en-US" sz="1600" b="1" dirty="0">
                  <a:solidFill>
                    <a:srgbClr val="C00000"/>
                  </a:solidFill>
                  <a:latin typeface="微软雅黑" panose="020B0503020204020204" pitchFamily="34" charset="-122"/>
                  <a:ea typeface="微软雅黑" panose="020B0503020204020204" pitchFamily="34" charset="-122"/>
                </a:rPr>
                <a:t>丢弃！</a:t>
              </a:r>
              <a:endParaRPr lang="en-US" altLang="zh-CN" sz="1600" b="1" dirty="0">
                <a:solidFill>
                  <a:srgbClr val="C00000"/>
                </a:solidFill>
                <a:latin typeface="微软雅黑" panose="020B0503020204020204" pitchFamily="34" charset="-122"/>
                <a:ea typeface="微软雅黑" panose="020B0503020204020204" pitchFamily="34" charset="-122"/>
              </a:endParaRPr>
            </a:p>
          </p:txBody>
        </p:sp>
        <p:sp>
          <p:nvSpPr>
            <p:cNvPr id="65" name="Line 14"/>
            <p:cNvSpPr>
              <a:spLocks noChangeShapeType="1"/>
            </p:cNvSpPr>
            <p:nvPr/>
          </p:nvSpPr>
          <p:spPr bwMode="auto">
            <a:xfrm>
              <a:off x="1457" y="3010"/>
              <a:ext cx="575" cy="92"/>
            </a:xfrm>
            <a:prstGeom prst="line">
              <a:avLst/>
            </a:prstGeom>
            <a:noFill/>
            <a:ln w="50800">
              <a:solidFill>
                <a:schemeClr val="tx1"/>
              </a:solidFill>
              <a:round/>
              <a:headEnd type="stealth" w="med" len="lg"/>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7" tIns="46417" rIns="91047" bIns="46417">
              <a:spAutoFit/>
            </a:bodyPr>
            <a:lstStyle/>
            <a:p>
              <a:endParaRPr lang="zh-CN" altLang="en-US"/>
            </a:p>
          </p:txBody>
        </p:sp>
      </p:grpSp>
      <p:sp>
        <p:nvSpPr>
          <p:cNvPr id="68" name="矩形 67"/>
          <p:cNvSpPr/>
          <p:nvPr/>
        </p:nvSpPr>
        <p:spPr>
          <a:xfrm>
            <a:off x="3430255" y="1037978"/>
            <a:ext cx="2031707" cy="584775"/>
          </a:xfrm>
          <a:prstGeom prst="rect">
            <a:avLst/>
          </a:prstGeom>
          <a:solidFill>
            <a:srgbClr val="0000FF"/>
          </a:solidFill>
        </p:spPr>
        <p:txBody>
          <a:bodyPr wrap="square">
            <a:spAutoFit/>
          </a:bodyPr>
          <a:lstStyle/>
          <a:p>
            <a:pPr algn="ctr"/>
            <a:r>
              <a:rPr lang="zh-CN" altLang="en-US" sz="1600" b="1" dirty="0">
                <a:solidFill>
                  <a:schemeClr val="bg1"/>
                </a:solidFill>
                <a:latin typeface="微软雅黑" panose="020B0503020204020204" pitchFamily="34" charset="-122"/>
                <a:ea typeface="微软雅黑" panose="020B0503020204020204" pitchFamily="34" charset="-122"/>
              </a:rPr>
              <a:t>检查数据报是否经最短路径传送来的</a:t>
            </a:r>
          </a:p>
        </p:txBody>
      </p:sp>
    </p:spTree>
    <p:extLst>
      <p:ext uri="{BB962C8B-B14F-4D97-AF65-F5344CB8AC3E}">
        <p14:creationId xmlns:p14="http://schemas.microsoft.com/office/powerpoint/2010/main" val="9948226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wipe(up)">
                                      <p:cBhvr>
                                        <p:cTn id="7" dur="500"/>
                                        <p:tgtEl>
                                          <p:spTgt spid="2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left)">
                                      <p:cBhvr>
                                        <p:cTn id="12" dur="10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45"/>
                                        </p:tgtEl>
                                        <p:attrNameLst>
                                          <p:attrName>style.visibility</p:attrName>
                                        </p:attrNameLst>
                                      </p:cBhvr>
                                      <p:to>
                                        <p:strVal val="visible"/>
                                      </p:to>
                                    </p:set>
                                    <p:animEffect transition="in" filter="wipe(up)">
                                      <p:cBhvr>
                                        <p:cTn id="17" dur="1000"/>
                                        <p:tgtEl>
                                          <p:spTgt spid="45"/>
                                        </p:tgtEl>
                                      </p:cBhvr>
                                    </p:animEffec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0"/>
                                  </p:stCondLst>
                                  <p:childTnLst>
                                    <p:set>
                                      <p:cBhvr>
                                        <p:cTn id="21" dur="1" fill="hold">
                                          <p:stCondLst>
                                            <p:cond delay="0"/>
                                          </p:stCondLst>
                                        </p:cTn>
                                        <p:tgtEl>
                                          <p:spTgt spid="66"/>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22" presetClass="entr" presetSubtype="1" fill="hold" nodeType="clickEffect">
                                  <p:stCondLst>
                                    <p:cond delay="0"/>
                                  </p:stCondLst>
                                  <p:childTnLst>
                                    <p:set>
                                      <p:cBhvr>
                                        <p:cTn id="25" dur="1" fill="hold">
                                          <p:stCondLst>
                                            <p:cond delay="0"/>
                                          </p:stCondLst>
                                        </p:cTn>
                                        <p:tgtEl>
                                          <p:spTgt spid="49"/>
                                        </p:tgtEl>
                                        <p:attrNameLst>
                                          <p:attrName>style.visibility</p:attrName>
                                        </p:attrNameLst>
                                      </p:cBhvr>
                                      <p:to>
                                        <p:strVal val="visible"/>
                                      </p:to>
                                    </p:set>
                                    <p:animEffect transition="in" filter="wipe(up)">
                                      <p:cBhvr>
                                        <p:cTn id="26" dur="500"/>
                                        <p:tgtEl>
                                          <p:spTgt spid="49"/>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2" fill="hold" nodeType="clickEffect">
                                  <p:stCondLst>
                                    <p:cond delay="0"/>
                                  </p:stCondLst>
                                  <p:childTnLst>
                                    <p:set>
                                      <p:cBhvr>
                                        <p:cTn id="30" dur="1" fill="hold">
                                          <p:stCondLst>
                                            <p:cond delay="0"/>
                                          </p:stCondLst>
                                        </p:cTn>
                                        <p:tgtEl>
                                          <p:spTgt spid="63"/>
                                        </p:tgtEl>
                                        <p:attrNameLst>
                                          <p:attrName>style.visibility</p:attrName>
                                        </p:attrNameLst>
                                      </p:cBhvr>
                                      <p:to>
                                        <p:strVal val="visible"/>
                                      </p:to>
                                    </p:set>
                                    <p:animEffect transition="in" filter="wipe(right)">
                                      <p:cBhvr>
                                        <p:cTn id="31" dur="5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 name="圆角矩形 66"/>
          <p:cNvSpPr/>
          <p:nvPr/>
        </p:nvSpPr>
        <p:spPr>
          <a:xfrm>
            <a:off x="602840" y="976761"/>
            <a:ext cx="8053711" cy="338700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 name="AutoShape 5"/>
          <p:cNvSpPr>
            <a:spLocks noChangeArrowheads="1"/>
          </p:cNvSpPr>
          <p:nvPr/>
        </p:nvSpPr>
        <p:spPr bwMode="auto">
          <a:xfrm>
            <a:off x="545144" y="623089"/>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64321"/>
            <a:ext cx="5463355" cy="400110"/>
          </a:xfrm>
          <a:prstGeom prst="rect">
            <a:avLst/>
          </a:prstGeom>
        </p:spPr>
        <p:txBody>
          <a:bodyPr wrap="none">
            <a:spAutoFit/>
          </a:bodyPr>
          <a:lstStyle/>
          <a:p>
            <a:r>
              <a:rPr lang="en-US" altLang="zh-CN" sz="2000" b="1" dirty="0">
                <a:latin typeface="微软雅黑" pitchFamily="34" charset="-122"/>
                <a:ea typeface="微软雅黑" pitchFamily="34" charset="-122"/>
              </a:rPr>
              <a:t>RPB </a:t>
            </a:r>
            <a:r>
              <a:rPr lang="zh-CN" altLang="en-US" sz="2000" b="1" dirty="0">
                <a:latin typeface="微软雅黑" pitchFamily="34" charset="-122"/>
                <a:ea typeface="微软雅黑" pitchFamily="34" charset="-122"/>
              </a:rPr>
              <a:t>的要点：形成以源为根节点的多播转发树</a:t>
            </a:r>
          </a:p>
        </p:txBody>
      </p:sp>
      <p:grpSp>
        <p:nvGrpSpPr>
          <p:cNvPr id="4" name="组合 3"/>
          <p:cNvGrpSpPr/>
          <p:nvPr/>
        </p:nvGrpSpPr>
        <p:grpSpPr>
          <a:xfrm>
            <a:off x="516152" y="1182051"/>
            <a:ext cx="5384558" cy="2916114"/>
            <a:chOff x="37264" y="1127910"/>
            <a:chExt cx="8301172" cy="4246118"/>
          </a:xfrm>
          <a:effectLst/>
        </p:grpSpPr>
        <p:sp>
          <p:nvSpPr>
            <p:cNvPr id="59" name="Line 2"/>
            <p:cNvSpPr>
              <a:spLocks noChangeShapeType="1"/>
            </p:cNvSpPr>
            <p:nvPr/>
          </p:nvSpPr>
          <p:spPr bwMode="auto">
            <a:xfrm>
              <a:off x="6649504" y="2096286"/>
              <a:ext cx="787400" cy="481013"/>
            </a:xfrm>
            <a:prstGeom prst="line">
              <a:avLst/>
            </a:prstGeom>
            <a:noFill/>
            <a:ln w="28575">
              <a:solidFill>
                <a:srgbClr val="0000FF"/>
              </a:solidFill>
              <a:prstDash val="sysDot"/>
              <a:round/>
              <a:headEnd type="stealth" w="med" len="lg"/>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17961" dir="2700000" algn="ctr" rotWithShape="0">
                      <a:schemeClr val="bg2"/>
                    </a:outerShdw>
                  </a:effectLst>
                </a14:hiddenEffects>
              </a:ext>
            </a:extLst>
          </p:spPr>
          <p:txBody>
            <a:bodyPr wrap="none" anchor="ctr"/>
            <a:lstStyle/>
            <a:p>
              <a:endParaRPr lang="zh-CN" altLang="en-US"/>
            </a:p>
          </p:txBody>
        </p:sp>
        <p:sp>
          <p:nvSpPr>
            <p:cNvPr id="60" name="Line 3"/>
            <p:cNvSpPr>
              <a:spLocks noChangeShapeType="1"/>
            </p:cNvSpPr>
            <p:nvPr/>
          </p:nvSpPr>
          <p:spPr bwMode="auto">
            <a:xfrm rot="10800000">
              <a:off x="6265329" y="2120099"/>
              <a:ext cx="787400" cy="481012"/>
            </a:xfrm>
            <a:prstGeom prst="line">
              <a:avLst/>
            </a:prstGeom>
            <a:noFill/>
            <a:ln w="28575">
              <a:solidFill>
                <a:srgbClr val="0000FF"/>
              </a:solidFill>
              <a:prstDash val="sysDot"/>
              <a:round/>
              <a:headEnd type="stealth" w="med" len="lg"/>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17961" dir="2700000" algn="ctr" rotWithShape="0">
                      <a:schemeClr val="bg2"/>
                    </a:outerShdw>
                  </a:effectLst>
                </a14:hiddenEffects>
              </a:ext>
            </a:extLst>
          </p:spPr>
          <p:txBody>
            <a:bodyPr wrap="none" anchor="ctr"/>
            <a:lstStyle/>
            <a:p>
              <a:endParaRPr lang="zh-CN" altLang="en-US"/>
            </a:p>
          </p:txBody>
        </p:sp>
        <p:grpSp>
          <p:nvGrpSpPr>
            <p:cNvPr id="61" name="Group 4"/>
            <p:cNvGrpSpPr>
              <a:grpSpLocks/>
            </p:cNvGrpSpPr>
            <p:nvPr/>
          </p:nvGrpSpPr>
          <p:grpSpPr bwMode="auto">
            <a:xfrm>
              <a:off x="4790541" y="4633111"/>
              <a:ext cx="428625" cy="295275"/>
              <a:chOff x="2518" y="3028"/>
              <a:chExt cx="240" cy="165"/>
            </a:xfrm>
          </p:grpSpPr>
          <p:sp>
            <p:nvSpPr>
              <p:cNvPr id="62" name="Line 5"/>
              <p:cNvSpPr>
                <a:spLocks noChangeShapeType="1"/>
              </p:cNvSpPr>
              <p:nvPr/>
            </p:nvSpPr>
            <p:spPr bwMode="auto">
              <a:xfrm flipV="1">
                <a:off x="2651" y="3028"/>
                <a:ext cx="0" cy="16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8" name="Line 6"/>
              <p:cNvSpPr>
                <a:spLocks noChangeShapeType="1"/>
              </p:cNvSpPr>
              <p:nvPr/>
            </p:nvSpPr>
            <p:spPr bwMode="auto">
              <a:xfrm>
                <a:off x="2518" y="3193"/>
                <a:ext cx="240"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69" name="Line 7"/>
            <p:cNvSpPr>
              <a:spLocks noChangeShapeType="1"/>
            </p:cNvSpPr>
            <p:nvPr/>
          </p:nvSpPr>
          <p:spPr bwMode="auto">
            <a:xfrm>
              <a:off x="5117566" y="2578886"/>
              <a:ext cx="0" cy="122713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70" name="Group 9"/>
            <p:cNvGrpSpPr>
              <a:grpSpLocks/>
            </p:cNvGrpSpPr>
            <p:nvPr/>
          </p:nvGrpSpPr>
          <p:grpSpPr bwMode="auto">
            <a:xfrm>
              <a:off x="4904841" y="3955249"/>
              <a:ext cx="428625" cy="295275"/>
              <a:chOff x="2582" y="2648"/>
              <a:chExt cx="240" cy="165"/>
            </a:xfrm>
          </p:grpSpPr>
          <p:sp>
            <p:nvSpPr>
              <p:cNvPr id="71" name="Line 10"/>
              <p:cNvSpPr>
                <a:spLocks noChangeShapeType="1"/>
              </p:cNvSpPr>
              <p:nvPr/>
            </p:nvSpPr>
            <p:spPr bwMode="auto">
              <a:xfrm flipV="1">
                <a:off x="2715" y="2648"/>
                <a:ext cx="0" cy="164"/>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2" name="Line 11"/>
              <p:cNvSpPr>
                <a:spLocks noChangeShapeType="1"/>
              </p:cNvSpPr>
              <p:nvPr/>
            </p:nvSpPr>
            <p:spPr bwMode="auto">
              <a:xfrm>
                <a:off x="2582" y="2813"/>
                <a:ext cx="240" cy="0"/>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73" name="Line 12"/>
            <p:cNvSpPr>
              <a:spLocks noChangeShapeType="1"/>
            </p:cNvSpPr>
            <p:nvPr/>
          </p:nvSpPr>
          <p:spPr bwMode="auto">
            <a:xfrm flipV="1">
              <a:off x="3015716" y="2015324"/>
              <a:ext cx="0" cy="1628775"/>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4" name="Line 13"/>
            <p:cNvSpPr>
              <a:spLocks noChangeShapeType="1"/>
            </p:cNvSpPr>
            <p:nvPr/>
          </p:nvSpPr>
          <p:spPr bwMode="auto">
            <a:xfrm flipV="1">
              <a:off x="5177891" y="2701124"/>
              <a:ext cx="2227263" cy="1112837"/>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5" name="Line 14"/>
            <p:cNvSpPr>
              <a:spLocks noChangeShapeType="1"/>
            </p:cNvSpPr>
            <p:nvPr/>
          </p:nvSpPr>
          <p:spPr bwMode="auto">
            <a:xfrm>
              <a:off x="6343116" y="2072474"/>
              <a:ext cx="1063625" cy="6286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6" name="Line 15"/>
            <p:cNvSpPr>
              <a:spLocks noChangeShapeType="1"/>
            </p:cNvSpPr>
            <p:nvPr/>
          </p:nvSpPr>
          <p:spPr bwMode="auto">
            <a:xfrm>
              <a:off x="5662079" y="2053424"/>
              <a:ext cx="365125" cy="0"/>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77" name="Group 16"/>
            <p:cNvGrpSpPr>
              <a:grpSpLocks/>
            </p:cNvGrpSpPr>
            <p:nvPr/>
          </p:nvGrpSpPr>
          <p:grpSpPr bwMode="auto">
            <a:xfrm>
              <a:off x="4922304" y="2253449"/>
              <a:ext cx="427037" cy="295275"/>
              <a:chOff x="2591" y="1695"/>
              <a:chExt cx="240" cy="165"/>
            </a:xfrm>
          </p:grpSpPr>
          <p:sp>
            <p:nvSpPr>
              <p:cNvPr id="78" name="Line 17"/>
              <p:cNvSpPr>
                <a:spLocks noChangeShapeType="1"/>
              </p:cNvSpPr>
              <p:nvPr/>
            </p:nvSpPr>
            <p:spPr bwMode="auto">
              <a:xfrm>
                <a:off x="2724" y="1696"/>
                <a:ext cx="0" cy="16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9" name="Line 18"/>
              <p:cNvSpPr>
                <a:spLocks noChangeShapeType="1"/>
              </p:cNvSpPr>
              <p:nvPr/>
            </p:nvSpPr>
            <p:spPr bwMode="auto">
              <a:xfrm>
                <a:off x="2591" y="1695"/>
                <a:ext cx="240"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80" name="Line 19"/>
            <p:cNvSpPr>
              <a:spLocks noChangeShapeType="1"/>
            </p:cNvSpPr>
            <p:nvPr/>
          </p:nvSpPr>
          <p:spPr bwMode="auto">
            <a:xfrm flipH="1">
              <a:off x="5373154" y="1712111"/>
              <a:ext cx="292100" cy="0"/>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1" name="Line 20"/>
            <p:cNvSpPr>
              <a:spLocks noChangeShapeType="1"/>
            </p:cNvSpPr>
            <p:nvPr/>
          </p:nvSpPr>
          <p:spPr bwMode="auto">
            <a:xfrm>
              <a:off x="5668429" y="1127910"/>
              <a:ext cx="0" cy="1144588"/>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82" name="Group 21"/>
            <p:cNvGrpSpPr>
              <a:grpSpLocks/>
            </p:cNvGrpSpPr>
            <p:nvPr/>
          </p:nvGrpSpPr>
          <p:grpSpPr bwMode="auto">
            <a:xfrm>
              <a:off x="4922304" y="1327936"/>
              <a:ext cx="427037" cy="295275"/>
              <a:chOff x="2591" y="1176"/>
              <a:chExt cx="240" cy="165"/>
            </a:xfrm>
          </p:grpSpPr>
          <p:sp>
            <p:nvSpPr>
              <p:cNvPr id="83" name="Line 22"/>
              <p:cNvSpPr>
                <a:spLocks noChangeShapeType="1"/>
              </p:cNvSpPr>
              <p:nvPr/>
            </p:nvSpPr>
            <p:spPr bwMode="auto">
              <a:xfrm>
                <a:off x="2724" y="1177"/>
                <a:ext cx="0" cy="16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4" name="Line 23"/>
              <p:cNvSpPr>
                <a:spLocks noChangeShapeType="1"/>
              </p:cNvSpPr>
              <p:nvPr/>
            </p:nvSpPr>
            <p:spPr bwMode="auto">
              <a:xfrm>
                <a:off x="2591" y="1176"/>
                <a:ext cx="240"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85" name="Line 24"/>
            <p:cNvSpPr>
              <a:spLocks noChangeShapeType="1"/>
            </p:cNvSpPr>
            <p:nvPr/>
          </p:nvSpPr>
          <p:spPr bwMode="auto">
            <a:xfrm>
              <a:off x="3720566" y="3386924"/>
              <a:ext cx="1373188" cy="512762"/>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6" name="Line 25"/>
            <p:cNvSpPr>
              <a:spLocks noChangeShapeType="1"/>
            </p:cNvSpPr>
            <p:nvPr/>
          </p:nvSpPr>
          <p:spPr bwMode="auto">
            <a:xfrm flipV="1">
              <a:off x="5020729" y="4247349"/>
              <a:ext cx="0" cy="363537"/>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7" name="Rectangle 26"/>
            <p:cNvSpPr>
              <a:spLocks noChangeArrowheads="1"/>
            </p:cNvSpPr>
            <p:nvPr/>
          </p:nvSpPr>
          <p:spPr bwMode="auto">
            <a:xfrm>
              <a:off x="37264" y="2517652"/>
              <a:ext cx="2053054" cy="7796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03538" tIns="51769" rIns="103538" bIns="51769">
              <a:spAutoFit/>
            </a:bodyPr>
            <a:lstStyle/>
            <a:p>
              <a:pPr algn="ctr" defTabSz="1028700" eaLnBrk="0" hangingPunct="0"/>
              <a:r>
                <a:rPr lang="en-US" altLang="zh-CN" sz="1400" b="1" dirty="0"/>
                <a:t>Source</a:t>
              </a:r>
              <a:br>
                <a:rPr lang="en-US" altLang="zh-CN" sz="1400" b="1" dirty="0"/>
              </a:br>
              <a:r>
                <a:rPr lang="en-US" altLang="zh-CN" sz="1400" b="1" dirty="0"/>
                <a:t>151.10.33.21</a:t>
              </a:r>
            </a:p>
          </p:txBody>
        </p:sp>
        <p:sp>
          <p:nvSpPr>
            <p:cNvPr id="88" name="Line 27"/>
            <p:cNvSpPr>
              <a:spLocks noChangeShapeType="1"/>
            </p:cNvSpPr>
            <p:nvPr/>
          </p:nvSpPr>
          <p:spPr bwMode="auto">
            <a:xfrm flipV="1">
              <a:off x="3549116" y="1758149"/>
              <a:ext cx="1543050" cy="514350"/>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9" name="Line 28"/>
            <p:cNvSpPr>
              <a:spLocks noChangeShapeType="1"/>
            </p:cNvSpPr>
            <p:nvPr/>
          </p:nvSpPr>
          <p:spPr bwMode="auto">
            <a:xfrm>
              <a:off x="3006191" y="3425024"/>
              <a:ext cx="458788" cy="0"/>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0" name="Line 29"/>
            <p:cNvSpPr>
              <a:spLocks noChangeShapeType="1"/>
            </p:cNvSpPr>
            <p:nvPr/>
          </p:nvSpPr>
          <p:spPr bwMode="auto">
            <a:xfrm>
              <a:off x="3006191" y="2224874"/>
              <a:ext cx="458788" cy="0"/>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1" name="Line 30"/>
            <p:cNvSpPr>
              <a:spLocks noChangeShapeType="1"/>
            </p:cNvSpPr>
            <p:nvPr/>
          </p:nvSpPr>
          <p:spPr bwMode="auto">
            <a:xfrm>
              <a:off x="3549116" y="2272499"/>
              <a:ext cx="1628775" cy="428625"/>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2" name="Line 31"/>
            <p:cNvSpPr>
              <a:spLocks noChangeShapeType="1"/>
            </p:cNvSpPr>
            <p:nvPr/>
          </p:nvSpPr>
          <p:spPr bwMode="auto">
            <a:xfrm>
              <a:off x="2661704" y="2824949"/>
              <a:ext cx="365125" cy="0"/>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3" name="Line 32"/>
            <p:cNvSpPr>
              <a:spLocks noChangeShapeType="1"/>
            </p:cNvSpPr>
            <p:nvPr/>
          </p:nvSpPr>
          <p:spPr bwMode="auto">
            <a:xfrm>
              <a:off x="5662079" y="1453349"/>
              <a:ext cx="365125" cy="0"/>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94" name="Group 33"/>
            <p:cNvGrpSpPr>
              <a:grpSpLocks/>
            </p:cNvGrpSpPr>
            <p:nvPr/>
          </p:nvGrpSpPr>
          <p:grpSpPr bwMode="auto">
            <a:xfrm>
              <a:off x="6106579" y="2132799"/>
              <a:ext cx="428625" cy="295275"/>
              <a:chOff x="3255" y="1627"/>
              <a:chExt cx="240" cy="165"/>
            </a:xfrm>
          </p:grpSpPr>
          <p:sp>
            <p:nvSpPr>
              <p:cNvPr id="95" name="Line 34"/>
              <p:cNvSpPr>
                <a:spLocks noChangeShapeType="1"/>
              </p:cNvSpPr>
              <p:nvPr/>
            </p:nvSpPr>
            <p:spPr bwMode="auto">
              <a:xfrm flipV="1">
                <a:off x="3388" y="1627"/>
                <a:ext cx="0" cy="16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6" name="Line 35"/>
              <p:cNvSpPr>
                <a:spLocks noChangeShapeType="1"/>
              </p:cNvSpPr>
              <p:nvPr/>
            </p:nvSpPr>
            <p:spPr bwMode="auto">
              <a:xfrm>
                <a:off x="3255" y="1792"/>
                <a:ext cx="240"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97" name="Group 36"/>
            <p:cNvGrpSpPr>
              <a:grpSpLocks/>
            </p:cNvGrpSpPr>
            <p:nvPr/>
          </p:nvGrpSpPr>
          <p:grpSpPr bwMode="auto">
            <a:xfrm>
              <a:off x="6098641" y="1127911"/>
              <a:ext cx="428625" cy="293688"/>
              <a:chOff x="3251" y="1064"/>
              <a:chExt cx="240" cy="165"/>
            </a:xfrm>
          </p:grpSpPr>
          <p:sp>
            <p:nvSpPr>
              <p:cNvPr id="98" name="Line 37"/>
              <p:cNvSpPr>
                <a:spLocks noChangeShapeType="1"/>
              </p:cNvSpPr>
              <p:nvPr/>
            </p:nvSpPr>
            <p:spPr bwMode="auto">
              <a:xfrm>
                <a:off x="3384" y="1065"/>
                <a:ext cx="0" cy="16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9" name="Line 38"/>
              <p:cNvSpPr>
                <a:spLocks noChangeShapeType="1"/>
              </p:cNvSpPr>
              <p:nvPr/>
            </p:nvSpPr>
            <p:spPr bwMode="auto">
              <a:xfrm>
                <a:off x="3251" y="1064"/>
                <a:ext cx="240"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100" name="Group 39"/>
            <p:cNvGrpSpPr>
              <a:grpSpLocks/>
            </p:cNvGrpSpPr>
            <p:nvPr/>
          </p:nvGrpSpPr>
          <p:grpSpPr bwMode="auto">
            <a:xfrm>
              <a:off x="3464979" y="2334411"/>
              <a:ext cx="427037" cy="293688"/>
              <a:chOff x="1775" y="1739"/>
              <a:chExt cx="240" cy="165"/>
            </a:xfrm>
          </p:grpSpPr>
          <p:sp>
            <p:nvSpPr>
              <p:cNvPr id="101" name="Line 40"/>
              <p:cNvSpPr>
                <a:spLocks noChangeShapeType="1"/>
              </p:cNvSpPr>
              <p:nvPr/>
            </p:nvSpPr>
            <p:spPr bwMode="auto">
              <a:xfrm flipV="1">
                <a:off x="1908" y="1739"/>
                <a:ext cx="0" cy="16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2" name="Line 41"/>
              <p:cNvSpPr>
                <a:spLocks noChangeShapeType="1"/>
              </p:cNvSpPr>
              <p:nvPr/>
            </p:nvSpPr>
            <p:spPr bwMode="auto">
              <a:xfrm>
                <a:off x="1775" y="1904"/>
                <a:ext cx="240"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103" name="Group 42"/>
            <p:cNvGrpSpPr>
              <a:grpSpLocks/>
            </p:cNvGrpSpPr>
            <p:nvPr/>
          </p:nvGrpSpPr>
          <p:grpSpPr bwMode="auto">
            <a:xfrm>
              <a:off x="3464979" y="3013861"/>
              <a:ext cx="427037" cy="295275"/>
              <a:chOff x="1775" y="2120"/>
              <a:chExt cx="240" cy="165"/>
            </a:xfrm>
          </p:grpSpPr>
          <p:sp>
            <p:nvSpPr>
              <p:cNvPr id="104" name="Line 43"/>
              <p:cNvSpPr>
                <a:spLocks noChangeShapeType="1"/>
              </p:cNvSpPr>
              <p:nvPr/>
            </p:nvSpPr>
            <p:spPr bwMode="auto">
              <a:xfrm>
                <a:off x="1908" y="2121"/>
                <a:ext cx="0" cy="16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 name="Line 44"/>
              <p:cNvSpPr>
                <a:spLocks noChangeShapeType="1"/>
              </p:cNvSpPr>
              <p:nvPr/>
            </p:nvSpPr>
            <p:spPr bwMode="auto">
              <a:xfrm>
                <a:off x="1775" y="2120"/>
                <a:ext cx="240"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106" name="Group 45"/>
            <p:cNvGrpSpPr>
              <a:grpSpLocks/>
            </p:cNvGrpSpPr>
            <p:nvPr/>
          </p:nvGrpSpPr>
          <p:grpSpPr bwMode="auto">
            <a:xfrm>
              <a:off x="7532154" y="2521736"/>
              <a:ext cx="293687" cy="430213"/>
              <a:chOff x="4053" y="1845"/>
              <a:chExt cx="165" cy="240"/>
            </a:xfrm>
          </p:grpSpPr>
          <p:sp>
            <p:nvSpPr>
              <p:cNvPr id="107" name="Line 46"/>
              <p:cNvSpPr>
                <a:spLocks noChangeShapeType="1"/>
              </p:cNvSpPr>
              <p:nvPr/>
            </p:nvSpPr>
            <p:spPr bwMode="auto">
              <a:xfrm flipH="1">
                <a:off x="4053" y="1952"/>
                <a:ext cx="164"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 name="Line 47"/>
              <p:cNvSpPr>
                <a:spLocks noChangeShapeType="1"/>
              </p:cNvSpPr>
              <p:nvPr/>
            </p:nvSpPr>
            <p:spPr bwMode="auto">
              <a:xfrm flipV="1">
                <a:off x="4218" y="1845"/>
                <a:ext cx="0" cy="24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109" name="Group 48"/>
            <p:cNvGrpSpPr>
              <a:grpSpLocks/>
            </p:cNvGrpSpPr>
            <p:nvPr/>
          </p:nvGrpSpPr>
          <p:grpSpPr bwMode="auto">
            <a:xfrm>
              <a:off x="1925104" y="2702711"/>
              <a:ext cx="295275" cy="428625"/>
              <a:chOff x="913" y="1946"/>
              <a:chExt cx="165" cy="240"/>
            </a:xfrm>
          </p:grpSpPr>
          <p:sp>
            <p:nvSpPr>
              <p:cNvPr id="110" name="Line 49"/>
              <p:cNvSpPr>
                <a:spLocks noChangeShapeType="1"/>
              </p:cNvSpPr>
              <p:nvPr/>
            </p:nvSpPr>
            <p:spPr bwMode="auto">
              <a:xfrm>
                <a:off x="914" y="2053"/>
                <a:ext cx="164"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 name="Line 50"/>
              <p:cNvSpPr>
                <a:spLocks noChangeShapeType="1"/>
              </p:cNvSpPr>
              <p:nvPr/>
            </p:nvSpPr>
            <p:spPr bwMode="auto">
              <a:xfrm flipV="1">
                <a:off x="913" y="1946"/>
                <a:ext cx="0" cy="24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pic>
          <p:nvPicPr>
            <p:cNvPr id="112" name="Picture 5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93541" y="3199599"/>
              <a:ext cx="585788" cy="341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3"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50866" y="2429661"/>
              <a:ext cx="584200"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4" name="Picture 5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44666" y="1315236"/>
              <a:ext cx="584200"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5" name="Picture 5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79716" y="2515386"/>
              <a:ext cx="584200"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6" name="Picture 5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93541" y="2086761"/>
              <a:ext cx="585788"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7" name="Line 56"/>
            <p:cNvSpPr>
              <a:spLocks noChangeShapeType="1"/>
            </p:cNvSpPr>
            <p:nvPr/>
          </p:nvSpPr>
          <p:spPr bwMode="auto">
            <a:xfrm flipH="1">
              <a:off x="2760454" y="4725384"/>
              <a:ext cx="611186" cy="9526"/>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118" name="Rectangle 57"/>
            <p:cNvSpPr>
              <a:spLocks noChangeArrowheads="1"/>
            </p:cNvSpPr>
            <p:nvPr/>
          </p:nvSpPr>
          <p:spPr bwMode="auto">
            <a:xfrm>
              <a:off x="743871" y="4481191"/>
              <a:ext cx="2006596" cy="465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03538" tIns="51769" rIns="103538" bIns="51769">
              <a:spAutoFit/>
            </a:bodyPr>
            <a:lstStyle/>
            <a:p>
              <a:pPr algn="r" defTabSz="1028700" eaLnBrk="0" hangingPunct="0"/>
              <a:r>
                <a:rPr lang="zh-CN" altLang="en-US" sz="1400" b="1" dirty="0">
                  <a:latin typeface="微软雅黑" panose="020B0503020204020204" pitchFamily="34" charset="-122"/>
                  <a:ea typeface="微软雅黑" panose="020B0503020204020204" pitchFamily="34" charset="-122"/>
                </a:rPr>
                <a:t>多播转发树</a:t>
              </a:r>
              <a:endParaRPr lang="en-US" altLang="zh-CN" sz="1400" b="1" dirty="0">
                <a:latin typeface="微软雅黑" panose="020B0503020204020204" pitchFamily="34" charset="-122"/>
                <a:ea typeface="微软雅黑" panose="020B0503020204020204" pitchFamily="34" charset="-122"/>
              </a:endParaRPr>
            </a:p>
          </p:txBody>
        </p:sp>
        <p:sp>
          <p:nvSpPr>
            <p:cNvPr id="119" name="Rectangle 59"/>
            <p:cNvSpPr>
              <a:spLocks noChangeArrowheads="1"/>
            </p:cNvSpPr>
            <p:nvPr/>
          </p:nvSpPr>
          <p:spPr bwMode="auto">
            <a:xfrm>
              <a:off x="743871" y="4908090"/>
              <a:ext cx="2006596" cy="465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03538" tIns="51769" rIns="103538" bIns="51769">
              <a:spAutoFit/>
            </a:bodyPr>
            <a:lstStyle/>
            <a:p>
              <a:pPr algn="r" defTabSz="1028700" eaLnBrk="0" hangingPunct="0"/>
              <a:r>
                <a:rPr lang="zh-CN" altLang="en-US" sz="1400" b="1" dirty="0">
                  <a:latin typeface="微软雅黑" panose="020B0503020204020204" pitchFamily="34" charset="-122"/>
                  <a:ea typeface="微软雅黑" panose="020B0503020204020204" pitchFamily="34" charset="-122"/>
                </a:rPr>
                <a:t>多播数据报</a:t>
              </a:r>
              <a:endParaRPr lang="en-US" altLang="zh-CN" sz="1400" b="1" dirty="0">
                <a:latin typeface="微软雅黑" panose="020B0503020204020204" pitchFamily="34" charset="-122"/>
                <a:ea typeface="微软雅黑" panose="020B0503020204020204" pitchFamily="34" charset="-122"/>
              </a:endParaRPr>
            </a:p>
          </p:txBody>
        </p:sp>
        <p:sp>
          <p:nvSpPr>
            <p:cNvPr id="120" name="Line 60"/>
            <p:cNvSpPr>
              <a:spLocks noChangeShapeType="1"/>
            </p:cNvSpPr>
            <p:nvPr/>
          </p:nvSpPr>
          <p:spPr bwMode="auto">
            <a:xfrm flipH="1" flipV="1">
              <a:off x="3892016" y="2429661"/>
              <a:ext cx="954088" cy="276225"/>
            </a:xfrm>
            <a:prstGeom prst="line">
              <a:avLst/>
            </a:prstGeom>
            <a:noFill/>
            <a:ln w="25400">
              <a:solidFill>
                <a:srgbClr val="990099"/>
              </a:solidFill>
              <a:round/>
              <a:headEnd type="stealth" w="med" len="lg"/>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121" name="Line 61"/>
            <p:cNvSpPr>
              <a:spLocks noChangeShapeType="1"/>
            </p:cNvSpPr>
            <p:nvPr/>
          </p:nvSpPr>
          <p:spPr bwMode="auto">
            <a:xfrm flipV="1">
              <a:off x="5214404" y="2761449"/>
              <a:ext cx="0" cy="942975"/>
            </a:xfrm>
            <a:prstGeom prst="line">
              <a:avLst/>
            </a:prstGeom>
            <a:noFill/>
            <a:ln w="28575">
              <a:solidFill>
                <a:srgbClr val="0000FF"/>
              </a:solidFill>
              <a:prstDash val="sysDot"/>
              <a:round/>
              <a:headEnd type="stealth" w="med" len="lg"/>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17961" dir="2700000" algn="ctr" rotWithShape="0">
                      <a:schemeClr val="bg2"/>
                    </a:outerShdw>
                  </a:effectLst>
                </a14:hiddenEffects>
              </a:ext>
            </a:extLst>
          </p:spPr>
          <p:txBody>
            <a:bodyPr wrap="none" anchor="ctr"/>
            <a:lstStyle/>
            <a:p>
              <a:endParaRPr lang="zh-CN" altLang="en-US"/>
            </a:p>
          </p:txBody>
        </p:sp>
        <p:sp>
          <p:nvSpPr>
            <p:cNvPr id="122" name="Rectangle 62"/>
            <p:cNvSpPr>
              <a:spLocks noChangeArrowheads="1"/>
            </p:cNvSpPr>
            <p:nvPr/>
          </p:nvSpPr>
          <p:spPr bwMode="auto">
            <a:xfrm>
              <a:off x="5549764" y="4142433"/>
              <a:ext cx="2788672" cy="1093347"/>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03538" tIns="51769" rIns="103538" bIns="51769">
              <a:spAutoFit/>
            </a:bodyPr>
            <a:lstStyle/>
            <a:p>
              <a:pPr defTabSz="1028700" eaLnBrk="0" hangingPunct="0"/>
              <a:r>
                <a:rPr lang="zh-CN" altLang="en-US" sz="1400" b="1" dirty="0">
                  <a:solidFill>
                    <a:srgbClr val="0000FF"/>
                  </a:solidFill>
                  <a:latin typeface="微软雅黑" panose="020B0503020204020204" pitchFamily="34" charset="-122"/>
                  <a:ea typeface="微软雅黑" panose="020B0503020204020204" pitchFamily="34" charset="-122"/>
                </a:rPr>
                <a:t>不是经最短路径传送来的，</a:t>
              </a:r>
              <a:r>
                <a:rPr lang="zh-CN" altLang="en-US" sz="1400" b="1" dirty="0">
                  <a:solidFill>
                    <a:srgbClr val="990099"/>
                  </a:solidFill>
                  <a:latin typeface="微软雅黑" panose="020B0503020204020204" pitchFamily="34" charset="-122"/>
                  <a:ea typeface="微软雅黑" panose="020B0503020204020204" pitchFamily="34" charset="-122"/>
                </a:rPr>
                <a:t>收到后丢弃，不转发！</a:t>
              </a:r>
            </a:p>
          </p:txBody>
        </p:sp>
        <p:sp>
          <p:nvSpPr>
            <p:cNvPr id="123" name="Line 63"/>
            <p:cNvSpPr>
              <a:spLocks noChangeShapeType="1"/>
            </p:cNvSpPr>
            <p:nvPr/>
          </p:nvSpPr>
          <p:spPr bwMode="auto">
            <a:xfrm flipH="1">
              <a:off x="2760454" y="5072763"/>
              <a:ext cx="611186" cy="9526"/>
            </a:xfrm>
            <a:prstGeom prst="line">
              <a:avLst/>
            </a:prstGeom>
            <a:noFill/>
            <a:ln w="25400">
              <a:solidFill>
                <a:srgbClr val="990099"/>
              </a:solidFill>
              <a:round/>
              <a:headEnd type="stealth" w="med" len="lg"/>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124" name="Line 64"/>
            <p:cNvSpPr>
              <a:spLocks noChangeShapeType="1"/>
            </p:cNvSpPr>
            <p:nvPr/>
          </p:nvSpPr>
          <p:spPr bwMode="auto">
            <a:xfrm flipH="1">
              <a:off x="5254091" y="2761449"/>
              <a:ext cx="1820863" cy="920750"/>
            </a:xfrm>
            <a:prstGeom prst="line">
              <a:avLst/>
            </a:prstGeom>
            <a:noFill/>
            <a:ln w="25400">
              <a:solidFill>
                <a:srgbClr val="990099"/>
              </a:solidFill>
              <a:round/>
              <a:headEnd type="stealth" w="med" len="lg"/>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125" name="Line 65"/>
            <p:cNvSpPr>
              <a:spLocks noChangeShapeType="1"/>
            </p:cNvSpPr>
            <p:nvPr/>
          </p:nvSpPr>
          <p:spPr bwMode="auto">
            <a:xfrm flipH="1">
              <a:off x="2504541" y="2742399"/>
              <a:ext cx="428625" cy="0"/>
            </a:xfrm>
            <a:prstGeom prst="line">
              <a:avLst/>
            </a:prstGeom>
            <a:noFill/>
            <a:ln w="25400">
              <a:solidFill>
                <a:srgbClr val="990099"/>
              </a:solidFill>
              <a:round/>
              <a:headEnd type="none" w="sm" len="sm"/>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126" name="Line 66"/>
            <p:cNvSpPr>
              <a:spLocks noChangeShapeType="1"/>
            </p:cNvSpPr>
            <p:nvPr/>
          </p:nvSpPr>
          <p:spPr bwMode="auto">
            <a:xfrm flipV="1">
              <a:off x="2949041" y="2143911"/>
              <a:ext cx="0" cy="1385888"/>
            </a:xfrm>
            <a:prstGeom prst="line">
              <a:avLst/>
            </a:prstGeom>
            <a:noFill/>
            <a:ln w="25400">
              <a:solidFill>
                <a:srgbClr val="990099"/>
              </a:solidFill>
              <a:round/>
              <a:headEnd type="none" w="sm" len="sm"/>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127" name="Line 67"/>
            <p:cNvSpPr>
              <a:spLocks noChangeShapeType="1"/>
            </p:cNvSpPr>
            <p:nvPr/>
          </p:nvSpPr>
          <p:spPr bwMode="auto">
            <a:xfrm flipH="1">
              <a:off x="2949041" y="3526624"/>
              <a:ext cx="439738" cy="0"/>
            </a:xfrm>
            <a:prstGeom prst="line">
              <a:avLst/>
            </a:prstGeom>
            <a:noFill/>
            <a:ln w="25400">
              <a:solidFill>
                <a:srgbClr val="990099"/>
              </a:solidFill>
              <a:round/>
              <a:headEnd type="stealth" w="med" len="lg"/>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128" name="Line 68"/>
            <p:cNvSpPr>
              <a:spLocks noChangeShapeType="1"/>
            </p:cNvSpPr>
            <p:nvPr/>
          </p:nvSpPr>
          <p:spPr bwMode="auto">
            <a:xfrm flipH="1">
              <a:off x="2949041" y="2155024"/>
              <a:ext cx="439738" cy="0"/>
            </a:xfrm>
            <a:prstGeom prst="line">
              <a:avLst/>
            </a:prstGeom>
            <a:noFill/>
            <a:ln w="25400">
              <a:solidFill>
                <a:srgbClr val="990099"/>
              </a:solidFill>
              <a:round/>
              <a:headEnd type="stealth" w="med" len="lg"/>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129" name="Line 69"/>
            <p:cNvSpPr>
              <a:spLocks noChangeShapeType="1"/>
            </p:cNvSpPr>
            <p:nvPr/>
          </p:nvSpPr>
          <p:spPr bwMode="auto">
            <a:xfrm flipH="1">
              <a:off x="3871379" y="1762911"/>
              <a:ext cx="952500" cy="323850"/>
            </a:xfrm>
            <a:prstGeom prst="line">
              <a:avLst/>
            </a:prstGeom>
            <a:noFill/>
            <a:ln w="25400">
              <a:solidFill>
                <a:srgbClr val="990099"/>
              </a:solidFill>
              <a:round/>
              <a:headEnd type="stealth" w="med" len="lg"/>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130" name="Line 70"/>
            <p:cNvSpPr>
              <a:spLocks noChangeShapeType="1"/>
            </p:cNvSpPr>
            <p:nvPr/>
          </p:nvSpPr>
          <p:spPr bwMode="auto">
            <a:xfrm flipH="1">
              <a:off x="5598579" y="1269199"/>
              <a:ext cx="447675" cy="0"/>
            </a:xfrm>
            <a:prstGeom prst="line">
              <a:avLst/>
            </a:prstGeom>
            <a:noFill/>
            <a:ln w="25400">
              <a:solidFill>
                <a:srgbClr val="990099"/>
              </a:solidFill>
              <a:round/>
              <a:headEnd type="stealth" w="med" len="lg"/>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131" name="Line 71"/>
            <p:cNvSpPr>
              <a:spLocks noChangeShapeType="1"/>
            </p:cNvSpPr>
            <p:nvPr/>
          </p:nvSpPr>
          <p:spPr bwMode="auto">
            <a:xfrm flipH="1">
              <a:off x="5177891" y="1640674"/>
              <a:ext cx="428625" cy="0"/>
            </a:xfrm>
            <a:prstGeom prst="line">
              <a:avLst/>
            </a:prstGeom>
            <a:noFill/>
            <a:ln w="25400">
              <a:solidFill>
                <a:srgbClr val="990099"/>
              </a:solidFill>
              <a:round/>
              <a:headEnd type="none" w="sm" len="sm"/>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132" name="Line 72"/>
            <p:cNvSpPr>
              <a:spLocks noChangeShapeType="1"/>
            </p:cNvSpPr>
            <p:nvPr/>
          </p:nvSpPr>
          <p:spPr bwMode="auto">
            <a:xfrm flipV="1">
              <a:off x="5606516" y="1277136"/>
              <a:ext cx="0" cy="895350"/>
            </a:xfrm>
            <a:prstGeom prst="line">
              <a:avLst/>
            </a:prstGeom>
            <a:noFill/>
            <a:ln w="25400">
              <a:solidFill>
                <a:srgbClr val="990099"/>
              </a:solidFill>
              <a:round/>
              <a:headEnd type="none" w="sm" len="sm"/>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133" name="Line 73"/>
            <p:cNvSpPr>
              <a:spLocks noChangeShapeType="1"/>
            </p:cNvSpPr>
            <p:nvPr/>
          </p:nvSpPr>
          <p:spPr bwMode="auto">
            <a:xfrm flipH="1">
              <a:off x="5598579" y="2155024"/>
              <a:ext cx="447675" cy="0"/>
            </a:xfrm>
            <a:prstGeom prst="line">
              <a:avLst/>
            </a:prstGeom>
            <a:noFill/>
            <a:ln w="25400">
              <a:solidFill>
                <a:srgbClr val="990099"/>
              </a:solidFill>
              <a:round/>
              <a:headEnd type="stealth" w="med" len="lg"/>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pic>
          <p:nvPicPr>
            <p:cNvPr id="134" name="Picture 7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27041" y="4428324"/>
              <a:ext cx="582613"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5" name="Line 75"/>
            <p:cNvSpPr>
              <a:spLocks noChangeShapeType="1"/>
            </p:cNvSpPr>
            <p:nvPr/>
          </p:nvSpPr>
          <p:spPr bwMode="auto">
            <a:xfrm flipH="1" flipV="1">
              <a:off x="3971391" y="3375811"/>
              <a:ext cx="911225" cy="354013"/>
            </a:xfrm>
            <a:prstGeom prst="line">
              <a:avLst/>
            </a:prstGeom>
            <a:noFill/>
            <a:ln w="25400">
              <a:solidFill>
                <a:srgbClr val="990099"/>
              </a:solidFill>
              <a:round/>
              <a:headEnd type="stealth" w="med" len="lg"/>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pic>
          <p:nvPicPr>
            <p:cNvPr id="136" name="Picture 7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50866" y="1572411"/>
              <a:ext cx="584200"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7" name="Arc 77"/>
            <p:cNvSpPr>
              <a:spLocks/>
            </p:cNvSpPr>
            <p:nvPr/>
          </p:nvSpPr>
          <p:spPr bwMode="auto">
            <a:xfrm>
              <a:off x="5296954" y="3534561"/>
              <a:ext cx="903287" cy="600075"/>
            </a:xfrm>
            <a:custGeom>
              <a:avLst/>
              <a:gdLst>
                <a:gd name="T0" fmla="*/ 0 w 21643"/>
                <a:gd name="T1" fmla="*/ 0 h 21600"/>
                <a:gd name="T2" fmla="*/ 2147483647 w 21643"/>
                <a:gd name="T3" fmla="*/ 2147483647 h 21600"/>
                <a:gd name="T4" fmla="*/ 2147483647 w 21643"/>
                <a:gd name="T5" fmla="*/ 2147483647 h 21600"/>
                <a:gd name="T6" fmla="*/ 0 60000 65536"/>
                <a:gd name="T7" fmla="*/ 0 60000 65536"/>
                <a:gd name="T8" fmla="*/ 0 60000 65536"/>
              </a:gdLst>
              <a:ahLst/>
              <a:cxnLst>
                <a:cxn ang="T6">
                  <a:pos x="T0" y="T1"/>
                </a:cxn>
                <a:cxn ang="T7">
                  <a:pos x="T2" y="T3"/>
                </a:cxn>
                <a:cxn ang="T8">
                  <a:pos x="T4" y="T5"/>
                </a:cxn>
              </a:cxnLst>
              <a:rect l="0" t="0" r="r" b="b"/>
              <a:pathLst>
                <a:path w="21643" h="21600" fill="none" extrusionOk="0">
                  <a:moveTo>
                    <a:pt x="0" y="0"/>
                  </a:moveTo>
                  <a:cubicBezTo>
                    <a:pt x="14" y="0"/>
                    <a:pt x="28" y="-1"/>
                    <a:pt x="43" y="0"/>
                  </a:cubicBezTo>
                  <a:cubicBezTo>
                    <a:pt x="11972" y="0"/>
                    <a:pt x="21643" y="9670"/>
                    <a:pt x="21643" y="21600"/>
                  </a:cubicBezTo>
                </a:path>
                <a:path w="21643" h="21600" stroke="0" extrusionOk="0">
                  <a:moveTo>
                    <a:pt x="0" y="0"/>
                  </a:moveTo>
                  <a:cubicBezTo>
                    <a:pt x="14" y="0"/>
                    <a:pt x="28" y="-1"/>
                    <a:pt x="43" y="0"/>
                  </a:cubicBezTo>
                  <a:cubicBezTo>
                    <a:pt x="11972" y="0"/>
                    <a:pt x="21643" y="9670"/>
                    <a:pt x="21643" y="21600"/>
                  </a:cubicBezTo>
                  <a:lnTo>
                    <a:pt x="43" y="21600"/>
                  </a:lnTo>
                  <a:lnTo>
                    <a:pt x="0" y="0"/>
                  </a:lnTo>
                  <a:close/>
                </a:path>
              </a:pathLst>
            </a:custGeom>
            <a:noFill/>
            <a:ln w="12700" cap="rnd">
              <a:solidFill>
                <a:schemeClr val="tx1"/>
              </a:solidFill>
              <a:round/>
              <a:headEnd type="stealth" w="med" len="med"/>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pic>
          <p:nvPicPr>
            <p:cNvPr id="138" name="Picture 7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07666" y="2686836"/>
              <a:ext cx="585788"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9" name="Line 79"/>
            <p:cNvSpPr>
              <a:spLocks noChangeShapeType="1"/>
            </p:cNvSpPr>
            <p:nvPr/>
          </p:nvSpPr>
          <p:spPr bwMode="auto">
            <a:xfrm flipH="1">
              <a:off x="2760454" y="5222130"/>
              <a:ext cx="611186" cy="9526"/>
            </a:xfrm>
            <a:prstGeom prst="line">
              <a:avLst/>
            </a:prstGeom>
            <a:noFill/>
            <a:ln w="25400">
              <a:solidFill>
                <a:srgbClr val="0000FF"/>
              </a:solidFill>
              <a:prstDash val="sysDot"/>
              <a:round/>
              <a:headEnd type="stealth" w="med" len="lg"/>
              <a:tailEnd type="none" w="sm" len="sm"/>
            </a:ln>
            <a:effectLst>
              <a:outerShdw dist="17961" dir="2700000" algn="ctr" rotWithShape="0">
                <a:schemeClr val="bg2"/>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140" name="Line 80"/>
            <p:cNvSpPr>
              <a:spLocks noChangeShapeType="1"/>
            </p:cNvSpPr>
            <p:nvPr/>
          </p:nvSpPr>
          <p:spPr bwMode="auto">
            <a:xfrm>
              <a:off x="5204879" y="3940961"/>
              <a:ext cx="0" cy="514350"/>
            </a:xfrm>
            <a:prstGeom prst="line">
              <a:avLst/>
            </a:prstGeom>
            <a:noFill/>
            <a:ln w="25400">
              <a:solidFill>
                <a:srgbClr val="990099"/>
              </a:solidFill>
              <a:round/>
              <a:headEnd type="none" w="med" len="lg"/>
              <a:tailEnd type="stealth" w="med" len="lg"/>
            </a:ln>
            <a:effectLst/>
            <a:extLst>
              <a:ext uri="{909E8E84-426E-40DD-AFC4-6F175D3DCCD1}">
                <a14:hiddenFill xmlns:a14="http://schemas.microsoft.com/office/drawing/2010/main">
                  <a:noFill/>
                </a14:hiddenFill>
              </a:ext>
            </a:extLst>
          </p:spPr>
          <p:txBody>
            <a:bodyPr wrap="none" anchor="ctr"/>
            <a:lstStyle/>
            <a:p>
              <a:endParaRPr lang="zh-CN" altLang="en-US"/>
            </a:p>
          </p:txBody>
        </p:sp>
        <p:pic>
          <p:nvPicPr>
            <p:cNvPr id="141" name="Picture 8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50866" y="3715536"/>
              <a:ext cx="584200"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2" name="Line 82"/>
            <p:cNvSpPr>
              <a:spLocks noChangeShapeType="1"/>
            </p:cNvSpPr>
            <p:nvPr/>
          </p:nvSpPr>
          <p:spPr bwMode="auto">
            <a:xfrm>
              <a:off x="5004854" y="2761449"/>
              <a:ext cx="0" cy="942975"/>
            </a:xfrm>
            <a:prstGeom prst="line">
              <a:avLst/>
            </a:prstGeom>
            <a:noFill/>
            <a:ln w="28575">
              <a:solidFill>
                <a:srgbClr val="0000FF"/>
              </a:solidFill>
              <a:prstDash val="sysDot"/>
              <a:round/>
              <a:headEnd type="stealth" w="med" len="lg"/>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17961" dir="2700000" algn="ctr" rotWithShape="0">
                      <a:schemeClr val="bg2"/>
                    </a:outerShdw>
                  </a:effectLst>
                </a14:hiddenEffects>
              </a:ext>
            </a:extLst>
          </p:spPr>
          <p:txBody>
            <a:bodyPr wrap="none" anchor="ctr"/>
            <a:lstStyle/>
            <a:p>
              <a:endParaRPr lang="zh-CN" altLang="en-US"/>
            </a:p>
          </p:txBody>
        </p:sp>
        <p:sp>
          <p:nvSpPr>
            <p:cNvPr id="143" name="Arc 83"/>
            <p:cNvSpPr>
              <a:spLocks/>
            </p:cNvSpPr>
            <p:nvPr/>
          </p:nvSpPr>
          <p:spPr bwMode="auto">
            <a:xfrm>
              <a:off x="4993741" y="3080536"/>
              <a:ext cx="1390650" cy="1436688"/>
            </a:xfrm>
            <a:custGeom>
              <a:avLst/>
              <a:gdLst>
                <a:gd name="T0" fmla="*/ 0 w 20858"/>
                <a:gd name="T1" fmla="*/ 0 h 21600"/>
                <a:gd name="T2" fmla="*/ 2147483647 w 20858"/>
                <a:gd name="T3" fmla="*/ 2147483647 h 21600"/>
                <a:gd name="T4" fmla="*/ 2147483647 w 20858"/>
                <a:gd name="T5" fmla="*/ 2147483647 h 21600"/>
                <a:gd name="T6" fmla="*/ 0 60000 65536"/>
                <a:gd name="T7" fmla="*/ 0 60000 65536"/>
                <a:gd name="T8" fmla="*/ 0 60000 65536"/>
              </a:gdLst>
              <a:ahLst/>
              <a:cxnLst>
                <a:cxn ang="T6">
                  <a:pos x="T0" y="T1"/>
                </a:cxn>
                <a:cxn ang="T7">
                  <a:pos x="T2" y="T3"/>
                </a:cxn>
                <a:cxn ang="T8">
                  <a:pos x="T4" y="T5"/>
                </a:cxn>
              </a:cxnLst>
              <a:rect l="0" t="0" r="r" b="b"/>
              <a:pathLst>
                <a:path w="20858" h="21600" fill="none" extrusionOk="0">
                  <a:moveTo>
                    <a:pt x="0" y="0"/>
                  </a:moveTo>
                  <a:cubicBezTo>
                    <a:pt x="14" y="0"/>
                    <a:pt x="28" y="-1"/>
                    <a:pt x="43" y="0"/>
                  </a:cubicBezTo>
                  <a:cubicBezTo>
                    <a:pt x="9750" y="0"/>
                    <a:pt x="18264" y="6475"/>
                    <a:pt x="20858" y="15829"/>
                  </a:cubicBezTo>
                </a:path>
                <a:path w="20858" h="21600" stroke="0" extrusionOk="0">
                  <a:moveTo>
                    <a:pt x="0" y="0"/>
                  </a:moveTo>
                  <a:cubicBezTo>
                    <a:pt x="14" y="0"/>
                    <a:pt x="28" y="-1"/>
                    <a:pt x="43" y="0"/>
                  </a:cubicBezTo>
                  <a:cubicBezTo>
                    <a:pt x="9750" y="0"/>
                    <a:pt x="18264" y="6475"/>
                    <a:pt x="20858" y="15829"/>
                  </a:cubicBezTo>
                  <a:lnTo>
                    <a:pt x="43" y="21600"/>
                  </a:lnTo>
                  <a:lnTo>
                    <a:pt x="0" y="0"/>
                  </a:lnTo>
                  <a:close/>
                </a:path>
              </a:pathLst>
            </a:custGeom>
            <a:noFill/>
            <a:ln w="12700" cap="rnd">
              <a:solidFill>
                <a:schemeClr val="tx1"/>
              </a:solidFill>
              <a:round/>
              <a:headEnd type="stealth" w="med" len="med"/>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pic>
          <p:nvPicPr>
            <p:cNvPr id="144" name="Picture 8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44666" y="1915311"/>
              <a:ext cx="584200"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5" name="Arc 85"/>
            <p:cNvSpPr>
              <a:spLocks/>
            </p:cNvSpPr>
            <p:nvPr/>
          </p:nvSpPr>
          <p:spPr bwMode="auto">
            <a:xfrm flipH="1">
              <a:off x="6497103" y="2475698"/>
              <a:ext cx="355600" cy="2041525"/>
            </a:xfrm>
            <a:custGeom>
              <a:avLst/>
              <a:gdLst>
                <a:gd name="T0" fmla="*/ 2147483647 w 21177"/>
                <a:gd name="T1" fmla="*/ 0 h 20470"/>
                <a:gd name="T2" fmla="*/ 2147483647 w 21177"/>
                <a:gd name="T3" fmla="*/ 2147483647 h 20470"/>
                <a:gd name="T4" fmla="*/ 0 w 21177"/>
                <a:gd name="T5" fmla="*/ 2147483647 h 20470"/>
                <a:gd name="T6" fmla="*/ 0 60000 65536"/>
                <a:gd name="T7" fmla="*/ 0 60000 65536"/>
                <a:gd name="T8" fmla="*/ 0 60000 65536"/>
              </a:gdLst>
              <a:ahLst/>
              <a:cxnLst>
                <a:cxn ang="T6">
                  <a:pos x="T0" y="T1"/>
                </a:cxn>
                <a:cxn ang="T7">
                  <a:pos x="T2" y="T3"/>
                </a:cxn>
                <a:cxn ang="T8">
                  <a:pos x="T4" y="T5"/>
                </a:cxn>
              </a:cxnLst>
              <a:rect l="0" t="0" r="r" b="b"/>
              <a:pathLst>
                <a:path w="21177" h="20470" fill="none" extrusionOk="0">
                  <a:moveTo>
                    <a:pt x="6893" y="-1"/>
                  </a:moveTo>
                  <a:cubicBezTo>
                    <a:pt x="14211" y="2463"/>
                    <a:pt x="19657" y="8647"/>
                    <a:pt x="21177" y="16217"/>
                  </a:cubicBezTo>
                </a:path>
                <a:path w="21177" h="20470" stroke="0" extrusionOk="0">
                  <a:moveTo>
                    <a:pt x="6893" y="-1"/>
                  </a:moveTo>
                  <a:cubicBezTo>
                    <a:pt x="14211" y="2463"/>
                    <a:pt x="19657" y="8647"/>
                    <a:pt x="21177" y="16217"/>
                  </a:cubicBezTo>
                  <a:lnTo>
                    <a:pt x="0" y="20470"/>
                  </a:lnTo>
                  <a:lnTo>
                    <a:pt x="6893" y="-1"/>
                  </a:lnTo>
                  <a:close/>
                </a:path>
              </a:pathLst>
            </a:custGeom>
            <a:noFill/>
            <a:ln w="12700" cap="rnd">
              <a:solidFill>
                <a:schemeClr val="tx1"/>
              </a:solidFill>
              <a:round/>
              <a:headEnd type="stealth" w="med" len="med"/>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6" name="Arc 86"/>
            <p:cNvSpPr>
              <a:spLocks/>
            </p:cNvSpPr>
            <p:nvPr/>
          </p:nvSpPr>
          <p:spPr bwMode="auto">
            <a:xfrm flipH="1">
              <a:off x="6676490" y="2275674"/>
              <a:ext cx="419101" cy="2017712"/>
            </a:xfrm>
            <a:custGeom>
              <a:avLst/>
              <a:gdLst>
                <a:gd name="T0" fmla="*/ 2147483647 w 21528"/>
                <a:gd name="T1" fmla="*/ 0 h 20470"/>
                <a:gd name="T2" fmla="*/ 2147483647 w 21528"/>
                <a:gd name="T3" fmla="*/ 2147483647 h 20470"/>
                <a:gd name="T4" fmla="*/ 0 w 21528"/>
                <a:gd name="T5" fmla="*/ 2147483647 h 20470"/>
                <a:gd name="T6" fmla="*/ 0 60000 65536"/>
                <a:gd name="T7" fmla="*/ 0 60000 65536"/>
                <a:gd name="T8" fmla="*/ 0 60000 65536"/>
              </a:gdLst>
              <a:ahLst/>
              <a:cxnLst>
                <a:cxn ang="T6">
                  <a:pos x="T0" y="T1"/>
                </a:cxn>
                <a:cxn ang="T7">
                  <a:pos x="T2" y="T3"/>
                </a:cxn>
                <a:cxn ang="T8">
                  <a:pos x="T4" y="T5"/>
                </a:cxn>
              </a:cxnLst>
              <a:rect l="0" t="0" r="r" b="b"/>
              <a:pathLst>
                <a:path w="21528" h="20470" fill="none" extrusionOk="0">
                  <a:moveTo>
                    <a:pt x="6893" y="-1"/>
                  </a:moveTo>
                  <a:cubicBezTo>
                    <a:pt x="15069" y="2752"/>
                    <a:pt x="20822" y="10106"/>
                    <a:pt x="21527" y="18705"/>
                  </a:cubicBezTo>
                </a:path>
                <a:path w="21528" h="20470" stroke="0" extrusionOk="0">
                  <a:moveTo>
                    <a:pt x="6893" y="-1"/>
                  </a:moveTo>
                  <a:cubicBezTo>
                    <a:pt x="15069" y="2752"/>
                    <a:pt x="20822" y="10106"/>
                    <a:pt x="21527" y="18705"/>
                  </a:cubicBezTo>
                  <a:lnTo>
                    <a:pt x="0" y="20470"/>
                  </a:lnTo>
                  <a:lnTo>
                    <a:pt x="6893" y="-1"/>
                  </a:lnTo>
                  <a:close/>
                </a:path>
              </a:pathLst>
            </a:custGeom>
            <a:noFill/>
            <a:ln w="12700" cap="rnd">
              <a:solidFill>
                <a:schemeClr val="tx1"/>
              </a:solidFill>
              <a:round/>
              <a:headEnd type="stealth" w="med" len="med"/>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6" name="矩形 5"/>
          <p:cNvSpPr/>
          <p:nvPr/>
        </p:nvSpPr>
        <p:spPr>
          <a:xfrm>
            <a:off x="6074477" y="1305556"/>
            <a:ext cx="2363353" cy="2426305"/>
          </a:xfrm>
          <a:prstGeom prst="rect">
            <a:avLst/>
          </a:prstGeom>
          <a:solidFill>
            <a:schemeClr val="bg1"/>
          </a:solidFill>
        </p:spPr>
        <p:txBody>
          <a:bodyPr wrap="square">
            <a:spAutoFit/>
          </a:bodyPr>
          <a:lstStyle/>
          <a:p>
            <a:pPr>
              <a:lnSpc>
                <a:spcPts val="2600"/>
              </a:lnSpc>
            </a:pPr>
            <a:r>
              <a:rPr lang="zh-CN" altLang="en-US" sz="1600" b="1" dirty="0">
                <a:latin typeface="微软雅黑" panose="020B0503020204020204" pitchFamily="34" charset="-122"/>
                <a:ea typeface="微软雅黑" panose="020B0503020204020204" pitchFamily="34" charset="-122"/>
              </a:rPr>
              <a:t>如果存在几条同样长度的最短路径，选择 </a:t>
            </a: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地址最小的。 </a:t>
            </a:r>
          </a:p>
          <a:p>
            <a:pPr>
              <a:lnSpc>
                <a:spcPts val="2600"/>
              </a:lnSpc>
            </a:pPr>
            <a:endParaRPr lang="en-US" altLang="zh-CN" sz="1600" b="1" dirty="0">
              <a:latin typeface="微软雅黑" panose="020B0503020204020204" pitchFamily="34" charset="-122"/>
              <a:ea typeface="微软雅黑" panose="020B0503020204020204" pitchFamily="34" charset="-122"/>
            </a:endParaRPr>
          </a:p>
          <a:p>
            <a:pPr>
              <a:lnSpc>
                <a:spcPts val="2600"/>
              </a:lnSpc>
            </a:pPr>
            <a:r>
              <a:rPr lang="zh-CN" altLang="en-US" sz="1600" b="1" dirty="0">
                <a:latin typeface="微软雅黑" panose="020B0503020204020204" pitchFamily="34" charset="-122"/>
                <a:ea typeface="微软雅黑" panose="020B0503020204020204" pitchFamily="34" charset="-122"/>
              </a:rPr>
              <a:t>最后就得出了以源为根节点的、用来转发多播数据报的多播转发树。</a:t>
            </a:r>
          </a:p>
        </p:txBody>
      </p:sp>
    </p:spTree>
    <p:extLst>
      <p:ext uri="{BB962C8B-B14F-4D97-AF65-F5344CB8AC3E}">
        <p14:creationId xmlns:p14="http://schemas.microsoft.com/office/powerpoint/2010/main" val="32159442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 name="圆角矩形 117"/>
          <p:cNvSpPr/>
          <p:nvPr/>
        </p:nvSpPr>
        <p:spPr>
          <a:xfrm>
            <a:off x="602840" y="2174756"/>
            <a:ext cx="8053711" cy="222523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 name="AutoShape 5"/>
          <p:cNvSpPr>
            <a:spLocks noChangeArrowheads="1"/>
          </p:cNvSpPr>
          <p:nvPr/>
        </p:nvSpPr>
        <p:spPr bwMode="auto">
          <a:xfrm>
            <a:off x="545144" y="623089"/>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64321"/>
            <a:ext cx="3092513" cy="400110"/>
          </a:xfrm>
          <a:prstGeom prst="rect">
            <a:avLst/>
          </a:prstGeom>
        </p:spPr>
        <p:txBody>
          <a:bodyPr wrap="none">
            <a:spAutoFit/>
          </a:bodyPr>
          <a:lstStyle/>
          <a:p>
            <a:r>
              <a:rPr lang="en-US" altLang="zh-CN" sz="2000" b="1" dirty="0">
                <a:latin typeface="微软雅黑" pitchFamily="34" charset="-122"/>
                <a:ea typeface="微软雅黑" pitchFamily="34" charset="-122"/>
              </a:rPr>
              <a:t>RPB </a:t>
            </a:r>
            <a:r>
              <a:rPr lang="zh-CN" altLang="en-US" sz="2000" b="1" dirty="0">
                <a:latin typeface="微软雅黑" pitchFamily="34" charset="-122"/>
                <a:ea typeface="微软雅黑" pitchFamily="34" charset="-122"/>
              </a:rPr>
              <a:t>的要点：剪枝与嫁接</a:t>
            </a:r>
          </a:p>
        </p:txBody>
      </p:sp>
      <p:sp>
        <p:nvSpPr>
          <p:cNvPr id="4" name="矩形 3"/>
          <p:cNvSpPr/>
          <p:nvPr/>
        </p:nvSpPr>
        <p:spPr>
          <a:xfrm>
            <a:off x="545144" y="921481"/>
            <a:ext cx="8028487" cy="1246495"/>
          </a:xfrm>
          <a:prstGeom prst="rect">
            <a:avLst/>
          </a:prstGeom>
        </p:spPr>
        <p:txBody>
          <a:bodyPr wrap="square">
            <a:spAutoFit/>
          </a:bodyPr>
          <a:lstStyle/>
          <a:p>
            <a:pPr marL="285750" indent="-285750">
              <a:lnSpc>
                <a:spcPts val="3000"/>
              </a:lnSpc>
              <a:buClr>
                <a:srgbClr val="0070C0"/>
              </a:buClr>
              <a:buFont typeface="Wingdings" pitchFamily="2" charset="2"/>
              <a:buChar char="l"/>
            </a:pPr>
            <a:r>
              <a:rPr lang="zh-CN" altLang="en-US" sz="1900" b="1" dirty="0">
                <a:solidFill>
                  <a:srgbClr val="C00000"/>
                </a:solidFill>
                <a:latin typeface="微软雅黑" pitchFamily="34" charset="-122"/>
                <a:ea typeface="微软雅黑" pitchFamily="34" charset="-122"/>
              </a:rPr>
              <a:t>剪枝：</a:t>
            </a:r>
            <a:r>
              <a:rPr lang="zh-CN" altLang="en-US" sz="1900" b="1" dirty="0">
                <a:latin typeface="微软雅黑" pitchFamily="34" charset="-122"/>
                <a:ea typeface="微软雅黑" pitchFamily="34" charset="-122"/>
              </a:rPr>
              <a:t>如果在多播转发树上的某个路由器发现它的下游树枝（即叶节点方向）已</a:t>
            </a:r>
            <a:r>
              <a:rPr lang="zh-CN" altLang="en-US" sz="1900" b="1" dirty="0">
                <a:solidFill>
                  <a:srgbClr val="0000FF"/>
                </a:solidFill>
                <a:latin typeface="微软雅黑" pitchFamily="34" charset="-122"/>
                <a:ea typeface="微软雅黑" pitchFamily="34" charset="-122"/>
              </a:rPr>
              <a:t>没有</a:t>
            </a:r>
            <a:r>
              <a:rPr lang="zh-CN" altLang="en-US" sz="1900" b="1" dirty="0">
                <a:latin typeface="微软雅黑" pitchFamily="34" charset="-122"/>
                <a:ea typeface="微软雅黑" pitchFamily="34" charset="-122"/>
              </a:rPr>
              <a:t>该多播组的成员，就把它和下游的树枝一起</a:t>
            </a:r>
            <a:r>
              <a:rPr lang="zh-CN" altLang="en-US" sz="1900" b="1" dirty="0">
                <a:solidFill>
                  <a:srgbClr val="0000FF"/>
                </a:solidFill>
                <a:latin typeface="微软雅黑" pitchFamily="34" charset="-122"/>
                <a:ea typeface="微软雅黑" pitchFamily="34" charset="-122"/>
              </a:rPr>
              <a:t>剪除。</a:t>
            </a:r>
            <a:endParaRPr lang="en-US" altLang="zh-CN" sz="1900" b="1" dirty="0">
              <a:solidFill>
                <a:srgbClr val="0000FF"/>
              </a:solidFill>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sz="1900" b="1" dirty="0">
                <a:solidFill>
                  <a:srgbClr val="C00000"/>
                </a:solidFill>
                <a:latin typeface="微软雅黑" pitchFamily="34" charset="-122"/>
                <a:ea typeface="微软雅黑" pitchFamily="34" charset="-122"/>
              </a:rPr>
              <a:t>嫁接：</a:t>
            </a:r>
            <a:r>
              <a:rPr lang="zh-CN" altLang="en-US" sz="1900" b="1" dirty="0">
                <a:latin typeface="微软雅黑" pitchFamily="34" charset="-122"/>
                <a:ea typeface="微软雅黑" pitchFamily="34" charset="-122"/>
              </a:rPr>
              <a:t>当某个树枝有</a:t>
            </a:r>
            <a:r>
              <a:rPr lang="zh-CN" altLang="en-US" sz="1900" b="1" dirty="0">
                <a:solidFill>
                  <a:srgbClr val="0000FF"/>
                </a:solidFill>
                <a:latin typeface="微软雅黑" pitchFamily="34" charset="-122"/>
                <a:ea typeface="微软雅黑" pitchFamily="34" charset="-122"/>
              </a:rPr>
              <a:t>新增加</a:t>
            </a:r>
            <a:r>
              <a:rPr lang="zh-CN" altLang="en-US" sz="1900" b="1" dirty="0">
                <a:latin typeface="微软雅黑" pitchFamily="34" charset="-122"/>
                <a:ea typeface="微软雅黑" pitchFamily="34" charset="-122"/>
              </a:rPr>
              <a:t>的组成员时，可以</a:t>
            </a:r>
            <a:r>
              <a:rPr lang="zh-CN" altLang="en-US" sz="1900" b="1" dirty="0">
                <a:solidFill>
                  <a:srgbClr val="0000FF"/>
                </a:solidFill>
                <a:latin typeface="微软雅黑" pitchFamily="34" charset="-122"/>
                <a:ea typeface="微软雅黑" pitchFamily="34" charset="-122"/>
              </a:rPr>
              <a:t>再接入</a:t>
            </a:r>
            <a:r>
              <a:rPr lang="zh-CN" altLang="en-US" sz="1900" b="1" dirty="0">
                <a:latin typeface="微软雅黑" pitchFamily="34" charset="-122"/>
                <a:ea typeface="微软雅黑" pitchFamily="34" charset="-122"/>
              </a:rPr>
              <a:t>到多播转发树上。</a:t>
            </a:r>
          </a:p>
        </p:txBody>
      </p:sp>
      <p:grpSp>
        <p:nvGrpSpPr>
          <p:cNvPr id="116" name="组合 115"/>
          <p:cNvGrpSpPr/>
          <p:nvPr/>
        </p:nvGrpSpPr>
        <p:grpSpPr>
          <a:xfrm>
            <a:off x="796794" y="2290608"/>
            <a:ext cx="3151205" cy="1960659"/>
            <a:chOff x="796794" y="2399244"/>
            <a:chExt cx="3349523" cy="1960659"/>
          </a:xfrm>
        </p:grpSpPr>
        <p:sp>
          <p:nvSpPr>
            <p:cNvPr id="67" name="Line 32"/>
            <p:cNvSpPr>
              <a:spLocks noChangeShapeType="1"/>
            </p:cNvSpPr>
            <p:nvPr/>
          </p:nvSpPr>
          <p:spPr bwMode="auto">
            <a:xfrm rot="5400000">
              <a:off x="3923478" y="2948951"/>
              <a:ext cx="445677" cy="0"/>
            </a:xfrm>
            <a:prstGeom prst="line">
              <a:avLst/>
            </a:prstGeom>
            <a:noFill/>
            <a:ln w="38100">
              <a:solidFill>
                <a:srgbClr val="990099"/>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4" name="Line 12"/>
            <p:cNvSpPr>
              <a:spLocks noChangeShapeType="1"/>
            </p:cNvSpPr>
            <p:nvPr/>
          </p:nvSpPr>
          <p:spPr bwMode="auto">
            <a:xfrm flipV="1">
              <a:off x="1616796" y="3005878"/>
              <a:ext cx="694691" cy="173044"/>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45" name="Line 12"/>
            <p:cNvSpPr>
              <a:spLocks noChangeShapeType="1"/>
            </p:cNvSpPr>
            <p:nvPr/>
          </p:nvSpPr>
          <p:spPr bwMode="auto">
            <a:xfrm>
              <a:off x="1571814" y="3225718"/>
              <a:ext cx="638370" cy="273521"/>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46" name="Line 12"/>
            <p:cNvSpPr>
              <a:spLocks noChangeShapeType="1"/>
            </p:cNvSpPr>
            <p:nvPr/>
          </p:nvSpPr>
          <p:spPr bwMode="auto">
            <a:xfrm>
              <a:off x="2340961" y="3529887"/>
              <a:ext cx="623278" cy="139421"/>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47" name="Line 32"/>
            <p:cNvSpPr>
              <a:spLocks noChangeShapeType="1"/>
            </p:cNvSpPr>
            <p:nvPr/>
          </p:nvSpPr>
          <p:spPr bwMode="auto">
            <a:xfrm>
              <a:off x="2059592" y="2715922"/>
              <a:ext cx="653270" cy="0"/>
            </a:xfrm>
            <a:prstGeom prst="line">
              <a:avLst/>
            </a:prstGeom>
            <a:noFill/>
            <a:ln w="25400">
              <a:solidFill>
                <a:srgbClr val="000066"/>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 name="Line 12"/>
            <p:cNvSpPr>
              <a:spLocks noChangeShapeType="1"/>
            </p:cNvSpPr>
            <p:nvPr/>
          </p:nvSpPr>
          <p:spPr bwMode="auto">
            <a:xfrm flipH="1" flipV="1">
              <a:off x="2440545" y="2707550"/>
              <a:ext cx="0" cy="256614"/>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49" name="Rectangle 10"/>
            <p:cNvSpPr>
              <a:spLocks noChangeArrowheads="1"/>
            </p:cNvSpPr>
            <p:nvPr/>
          </p:nvSpPr>
          <p:spPr bwMode="auto">
            <a:xfrm>
              <a:off x="2437365" y="2399244"/>
              <a:ext cx="224299" cy="15998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nchor="ctr"/>
            <a:lstStyle/>
            <a:p>
              <a:pPr algn="ctr" eaLnBrk="0" hangingPunct="0"/>
              <a:r>
                <a:rPr lang="en-US" altLang="zh-CN" sz="1200" b="1" dirty="0">
                  <a:solidFill>
                    <a:srgbClr val="000000"/>
                  </a:solidFill>
                  <a:latin typeface="微软雅黑" panose="020B0503020204020204" pitchFamily="34" charset="-122"/>
                  <a:ea typeface="微软雅黑" panose="020B0503020204020204" pitchFamily="34" charset="-122"/>
                </a:rPr>
                <a:t>G</a:t>
              </a:r>
            </a:p>
          </p:txBody>
        </p:sp>
        <p:sp>
          <p:nvSpPr>
            <p:cNvPr id="50" name="Line 12"/>
            <p:cNvSpPr>
              <a:spLocks noChangeShapeType="1"/>
            </p:cNvSpPr>
            <p:nvPr/>
          </p:nvSpPr>
          <p:spPr bwMode="auto">
            <a:xfrm flipH="1" flipV="1">
              <a:off x="2553202" y="2553523"/>
              <a:ext cx="0" cy="162399"/>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51" name="Line 32"/>
            <p:cNvSpPr>
              <a:spLocks noChangeShapeType="1"/>
            </p:cNvSpPr>
            <p:nvPr/>
          </p:nvSpPr>
          <p:spPr bwMode="auto">
            <a:xfrm rot="5400000">
              <a:off x="1004508" y="3157786"/>
              <a:ext cx="445677" cy="0"/>
            </a:xfrm>
            <a:prstGeom prst="line">
              <a:avLst/>
            </a:prstGeom>
            <a:noFill/>
            <a:ln w="25400">
              <a:solidFill>
                <a:srgbClr val="000066"/>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2" name="Line 12"/>
            <p:cNvSpPr>
              <a:spLocks noChangeShapeType="1"/>
            </p:cNvSpPr>
            <p:nvPr/>
          </p:nvSpPr>
          <p:spPr bwMode="auto">
            <a:xfrm rot="5400000" flipH="1" flipV="1">
              <a:off x="1337370" y="3085143"/>
              <a:ext cx="0" cy="220047"/>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54" name="Rectangle 10"/>
            <p:cNvSpPr>
              <a:spLocks noChangeArrowheads="1"/>
            </p:cNvSpPr>
            <p:nvPr/>
          </p:nvSpPr>
          <p:spPr bwMode="auto">
            <a:xfrm>
              <a:off x="796794" y="3054530"/>
              <a:ext cx="224299" cy="15998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nchor="ctr"/>
            <a:lstStyle/>
            <a:p>
              <a:pPr algn="ctr" eaLnBrk="0" hangingPunct="0"/>
              <a:r>
                <a:rPr lang="en-US" altLang="zh-CN" sz="1200" b="1" dirty="0">
                  <a:solidFill>
                    <a:srgbClr val="000000"/>
                  </a:solidFill>
                  <a:latin typeface="微软雅黑" panose="020B0503020204020204" pitchFamily="34" charset="-122"/>
                  <a:ea typeface="微软雅黑" panose="020B0503020204020204" pitchFamily="34" charset="-122"/>
                </a:rPr>
                <a:t>S</a:t>
              </a:r>
            </a:p>
          </p:txBody>
        </p:sp>
        <p:sp>
          <p:nvSpPr>
            <p:cNvPr id="55" name="Line 12"/>
            <p:cNvSpPr>
              <a:spLocks noChangeShapeType="1"/>
            </p:cNvSpPr>
            <p:nvPr/>
          </p:nvSpPr>
          <p:spPr bwMode="auto">
            <a:xfrm rot="5400000" flipH="1" flipV="1">
              <a:off x="1119428" y="3035483"/>
              <a:ext cx="0" cy="196670"/>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56" name="Line 32"/>
            <p:cNvSpPr>
              <a:spLocks noChangeShapeType="1"/>
            </p:cNvSpPr>
            <p:nvPr/>
          </p:nvSpPr>
          <p:spPr bwMode="auto">
            <a:xfrm>
              <a:off x="2833737" y="4017918"/>
              <a:ext cx="421424" cy="0"/>
            </a:xfrm>
            <a:prstGeom prst="line">
              <a:avLst/>
            </a:prstGeom>
            <a:noFill/>
            <a:ln w="25400">
              <a:solidFill>
                <a:srgbClr val="000066"/>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7" name="Line 12"/>
            <p:cNvSpPr>
              <a:spLocks noChangeShapeType="1"/>
            </p:cNvSpPr>
            <p:nvPr/>
          </p:nvSpPr>
          <p:spPr bwMode="auto">
            <a:xfrm flipH="1" flipV="1">
              <a:off x="3028110" y="4017916"/>
              <a:ext cx="0" cy="181997"/>
            </a:xfrm>
            <a:prstGeom prst="line">
              <a:avLst/>
            </a:prstGeom>
            <a:noFill/>
            <a:ln w="28575">
              <a:solidFill>
                <a:srgbClr val="000066"/>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58" name="Rectangle 10"/>
            <p:cNvSpPr>
              <a:spLocks noChangeArrowheads="1"/>
            </p:cNvSpPr>
            <p:nvPr/>
          </p:nvSpPr>
          <p:spPr bwMode="auto">
            <a:xfrm>
              <a:off x="2917118" y="4199915"/>
              <a:ext cx="224299" cy="15998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nchor="ctr"/>
            <a:lstStyle/>
            <a:p>
              <a:pPr algn="ctr" eaLnBrk="0" hangingPunct="0"/>
              <a:r>
                <a:rPr lang="en-US" altLang="zh-CN" sz="1200" b="1" dirty="0">
                  <a:solidFill>
                    <a:srgbClr val="000000"/>
                  </a:solidFill>
                  <a:latin typeface="微软雅黑" panose="020B0503020204020204" pitchFamily="34" charset="-122"/>
                  <a:ea typeface="微软雅黑" panose="020B0503020204020204" pitchFamily="34" charset="-122"/>
                </a:rPr>
                <a:t>G</a:t>
              </a:r>
            </a:p>
          </p:txBody>
        </p:sp>
        <p:sp>
          <p:nvSpPr>
            <p:cNvPr id="70" name="Line 12"/>
            <p:cNvSpPr>
              <a:spLocks noChangeShapeType="1"/>
            </p:cNvSpPr>
            <p:nvPr/>
          </p:nvSpPr>
          <p:spPr bwMode="auto">
            <a:xfrm rot="5400000" flipH="1" flipV="1">
              <a:off x="4038398" y="2826648"/>
              <a:ext cx="0" cy="196670"/>
            </a:xfrm>
            <a:prstGeom prst="line">
              <a:avLst/>
            </a:prstGeom>
            <a:noFill/>
            <a:ln w="12700">
              <a:solidFill>
                <a:srgbClr val="000066"/>
              </a:solidFill>
              <a:round/>
              <a:headEnd type="non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71" name="Line 12"/>
            <p:cNvSpPr>
              <a:spLocks noChangeShapeType="1"/>
            </p:cNvSpPr>
            <p:nvPr/>
          </p:nvSpPr>
          <p:spPr bwMode="auto">
            <a:xfrm rot="5400000">
              <a:off x="2952858" y="3535439"/>
              <a:ext cx="362851" cy="46184"/>
            </a:xfrm>
            <a:prstGeom prst="line">
              <a:avLst/>
            </a:prstGeom>
            <a:noFill/>
            <a:ln w="12700">
              <a:solidFill>
                <a:srgbClr val="000066"/>
              </a:solidFill>
              <a:round/>
              <a:headEnd type="non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pic>
          <p:nvPicPr>
            <p:cNvPr id="38" name="Picture 5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447394" y="3099409"/>
              <a:ext cx="272768" cy="204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9" name="Picture 5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311487" y="2902593"/>
              <a:ext cx="272768" cy="204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0" name="Picture 5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215796" y="3441518"/>
              <a:ext cx="272768" cy="204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1" name="Picture 5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49574" y="3216390"/>
              <a:ext cx="272768" cy="204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 name="Picture 5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676939" y="2836462"/>
              <a:ext cx="272768" cy="204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7" name="Line 12"/>
            <p:cNvSpPr>
              <a:spLocks noChangeShapeType="1"/>
            </p:cNvSpPr>
            <p:nvPr/>
          </p:nvSpPr>
          <p:spPr bwMode="auto">
            <a:xfrm flipH="1" flipV="1">
              <a:off x="3102138" y="3761302"/>
              <a:ext cx="0" cy="256614"/>
            </a:xfrm>
            <a:prstGeom prst="line">
              <a:avLst/>
            </a:prstGeom>
            <a:noFill/>
            <a:ln w="28575">
              <a:solidFill>
                <a:srgbClr val="000066"/>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pic>
          <p:nvPicPr>
            <p:cNvPr id="43" name="Picture 5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64239" y="3608417"/>
              <a:ext cx="272768" cy="204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80" name="组合 79"/>
          <p:cNvGrpSpPr/>
          <p:nvPr/>
        </p:nvGrpSpPr>
        <p:grpSpPr>
          <a:xfrm>
            <a:off x="6224518" y="2783401"/>
            <a:ext cx="1353920" cy="467837"/>
            <a:chOff x="2594906" y="2882429"/>
            <a:chExt cx="1353920" cy="467837"/>
          </a:xfrm>
        </p:grpSpPr>
        <p:sp>
          <p:nvSpPr>
            <p:cNvPr id="81" name="Line 15"/>
            <p:cNvSpPr>
              <a:spLocks noChangeShapeType="1"/>
            </p:cNvSpPr>
            <p:nvPr/>
          </p:nvSpPr>
          <p:spPr bwMode="auto">
            <a:xfrm flipV="1">
              <a:off x="3354744" y="2995439"/>
              <a:ext cx="379135" cy="244968"/>
            </a:xfrm>
            <a:prstGeom prst="line">
              <a:avLst/>
            </a:prstGeom>
            <a:noFill/>
            <a:ln w="28575">
              <a:solidFill>
                <a:srgbClr val="0099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82" name="Line 15"/>
            <p:cNvSpPr>
              <a:spLocks noChangeShapeType="1"/>
            </p:cNvSpPr>
            <p:nvPr/>
          </p:nvSpPr>
          <p:spPr bwMode="auto">
            <a:xfrm>
              <a:off x="2594906" y="3041372"/>
              <a:ext cx="532574" cy="217084"/>
            </a:xfrm>
            <a:prstGeom prst="line">
              <a:avLst/>
            </a:prstGeom>
            <a:noFill/>
            <a:ln w="28575">
              <a:solidFill>
                <a:srgbClr val="0099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83" name="矩形 82"/>
            <p:cNvSpPr/>
            <p:nvPr/>
          </p:nvSpPr>
          <p:spPr>
            <a:xfrm>
              <a:off x="3456383" y="3073267"/>
              <a:ext cx="492443" cy="276999"/>
            </a:xfrm>
            <a:prstGeom prst="rect">
              <a:avLst/>
            </a:prstGeom>
          </p:spPr>
          <p:txBody>
            <a:bodyPr wrap="none">
              <a:spAutoFit/>
            </a:bodyPr>
            <a:lstStyle/>
            <a:p>
              <a:r>
                <a:rPr lang="zh-CN" altLang="en-US" sz="1200" b="1" dirty="0">
                  <a:solidFill>
                    <a:srgbClr val="C00000"/>
                  </a:solidFill>
                  <a:latin typeface="微软雅黑" panose="020B0503020204020204" pitchFamily="34" charset="-122"/>
                  <a:ea typeface="微软雅黑" panose="020B0503020204020204" pitchFamily="34" charset="-122"/>
                </a:rPr>
                <a:t>接入</a:t>
              </a:r>
            </a:p>
          </p:txBody>
        </p:sp>
        <p:sp>
          <p:nvSpPr>
            <p:cNvPr id="84" name="矩形 83"/>
            <p:cNvSpPr/>
            <p:nvPr/>
          </p:nvSpPr>
          <p:spPr>
            <a:xfrm>
              <a:off x="2714315" y="2882429"/>
              <a:ext cx="492443" cy="276999"/>
            </a:xfrm>
            <a:prstGeom prst="rect">
              <a:avLst/>
            </a:prstGeom>
          </p:spPr>
          <p:txBody>
            <a:bodyPr wrap="none">
              <a:spAutoFit/>
            </a:bodyPr>
            <a:lstStyle/>
            <a:p>
              <a:r>
                <a:rPr lang="zh-CN" altLang="en-US" sz="1200" b="1" dirty="0">
                  <a:solidFill>
                    <a:srgbClr val="C00000"/>
                  </a:solidFill>
                  <a:latin typeface="微软雅黑" panose="020B0503020204020204" pitchFamily="34" charset="-122"/>
                  <a:ea typeface="微软雅黑" panose="020B0503020204020204" pitchFamily="34" charset="-122"/>
                </a:rPr>
                <a:t>接入</a:t>
              </a:r>
            </a:p>
          </p:txBody>
        </p:sp>
      </p:grpSp>
      <p:grpSp>
        <p:nvGrpSpPr>
          <p:cNvPr id="117" name="组合 116"/>
          <p:cNvGrpSpPr/>
          <p:nvPr/>
        </p:nvGrpSpPr>
        <p:grpSpPr>
          <a:xfrm>
            <a:off x="4608294" y="2290608"/>
            <a:ext cx="3856690" cy="1960659"/>
            <a:chOff x="4463445" y="2399244"/>
            <a:chExt cx="4036555" cy="1960659"/>
          </a:xfrm>
        </p:grpSpPr>
        <p:sp>
          <p:nvSpPr>
            <p:cNvPr id="87" name="Line 12"/>
            <p:cNvSpPr>
              <a:spLocks noChangeShapeType="1"/>
            </p:cNvSpPr>
            <p:nvPr/>
          </p:nvSpPr>
          <p:spPr bwMode="auto">
            <a:xfrm flipV="1">
              <a:off x="5283447" y="3005878"/>
              <a:ext cx="694691" cy="173044"/>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88" name="Line 12"/>
            <p:cNvSpPr>
              <a:spLocks noChangeShapeType="1"/>
            </p:cNvSpPr>
            <p:nvPr/>
          </p:nvSpPr>
          <p:spPr bwMode="auto">
            <a:xfrm>
              <a:off x="5238465" y="3225718"/>
              <a:ext cx="638370" cy="273521"/>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89" name="Line 12"/>
            <p:cNvSpPr>
              <a:spLocks noChangeShapeType="1"/>
            </p:cNvSpPr>
            <p:nvPr/>
          </p:nvSpPr>
          <p:spPr bwMode="auto">
            <a:xfrm>
              <a:off x="6007612" y="3529887"/>
              <a:ext cx="623278" cy="139421"/>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90" name="Line 32"/>
            <p:cNvSpPr>
              <a:spLocks noChangeShapeType="1"/>
            </p:cNvSpPr>
            <p:nvPr/>
          </p:nvSpPr>
          <p:spPr bwMode="auto">
            <a:xfrm>
              <a:off x="5726243" y="2715922"/>
              <a:ext cx="653270" cy="0"/>
            </a:xfrm>
            <a:prstGeom prst="line">
              <a:avLst/>
            </a:prstGeom>
            <a:noFill/>
            <a:ln w="25400">
              <a:solidFill>
                <a:srgbClr val="000066"/>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1" name="Line 12"/>
            <p:cNvSpPr>
              <a:spLocks noChangeShapeType="1"/>
            </p:cNvSpPr>
            <p:nvPr/>
          </p:nvSpPr>
          <p:spPr bwMode="auto">
            <a:xfrm flipH="1" flipV="1">
              <a:off x="6107196" y="2707550"/>
              <a:ext cx="0" cy="256614"/>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92" name="Rectangle 10"/>
            <p:cNvSpPr>
              <a:spLocks noChangeArrowheads="1"/>
            </p:cNvSpPr>
            <p:nvPr/>
          </p:nvSpPr>
          <p:spPr bwMode="auto">
            <a:xfrm>
              <a:off x="6104016" y="2399244"/>
              <a:ext cx="224299" cy="15998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nchor="ctr"/>
            <a:lstStyle/>
            <a:p>
              <a:pPr algn="ctr" eaLnBrk="0" hangingPunct="0"/>
              <a:r>
                <a:rPr lang="en-US" altLang="zh-CN" sz="1200" b="1" dirty="0">
                  <a:solidFill>
                    <a:srgbClr val="000000"/>
                  </a:solidFill>
                  <a:latin typeface="微软雅黑" panose="020B0503020204020204" pitchFamily="34" charset="-122"/>
                  <a:ea typeface="微软雅黑" panose="020B0503020204020204" pitchFamily="34" charset="-122"/>
                </a:rPr>
                <a:t>G</a:t>
              </a:r>
            </a:p>
          </p:txBody>
        </p:sp>
        <p:sp>
          <p:nvSpPr>
            <p:cNvPr id="93" name="Line 12"/>
            <p:cNvSpPr>
              <a:spLocks noChangeShapeType="1"/>
            </p:cNvSpPr>
            <p:nvPr/>
          </p:nvSpPr>
          <p:spPr bwMode="auto">
            <a:xfrm flipH="1" flipV="1">
              <a:off x="6219853" y="2553523"/>
              <a:ext cx="0" cy="162399"/>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94" name="Line 32"/>
            <p:cNvSpPr>
              <a:spLocks noChangeShapeType="1"/>
            </p:cNvSpPr>
            <p:nvPr/>
          </p:nvSpPr>
          <p:spPr bwMode="auto">
            <a:xfrm rot="5400000">
              <a:off x="4671159" y="3157786"/>
              <a:ext cx="445677" cy="0"/>
            </a:xfrm>
            <a:prstGeom prst="line">
              <a:avLst/>
            </a:prstGeom>
            <a:noFill/>
            <a:ln w="25400">
              <a:solidFill>
                <a:srgbClr val="000066"/>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5" name="Line 12"/>
            <p:cNvSpPr>
              <a:spLocks noChangeShapeType="1"/>
            </p:cNvSpPr>
            <p:nvPr/>
          </p:nvSpPr>
          <p:spPr bwMode="auto">
            <a:xfrm rot="5400000" flipH="1" flipV="1">
              <a:off x="5004021" y="3085143"/>
              <a:ext cx="0" cy="220047"/>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96" name="Rectangle 10"/>
            <p:cNvSpPr>
              <a:spLocks noChangeArrowheads="1"/>
            </p:cNvSpPr>
            <p:nvPr/>
          </p:nvSpPr>
          <p:spPr bwMode="auto">
            <a:xfrm>
              <a:off x="4463445" y="3054530"/>
              <a:ext cx="224299" cy="15998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nchor="ctr"/>
            <a:lstStyle/>
            <a:p>
              <a:pPr algn="ctr" eaLnBrk="0" hangingPunct="0"/>
              <a:r>
                <a:rPr lang="en-US" altLang="zh-CN" sz="1200" b="1" dirty="0">
                  <a:solidFill>
                    <a:srgbClr val="000000"/>
                  </a:solidFill>
                  <a:latin typeface="微软雅黑" panose="020B0503020204020204" pitchFamily="34" charset="-122"/>
                  <a:ea typeface="微软雅黑" panose="020B0503020204020204" pitchFamily="34" charset="-122"/>
                </a:rPr>
                <a:t>S</a:t>
              </a:r>
            </a:p>
          </p:txBody>
        </p:sp>
        <p:sp>
          <p:nvSpPr>
            <p:cNvPr id="97" name="Line 12"/>
            <p:cNvSpPr>
              <a:spLocks noChangeShapeType="1"/>
            </p:cNvSpPr>
            <p:nvPr/>
          </p:nvSpPr>
          <p:spPr bwMode="auto">
            <a:xfrm rot="5400000" flipH="1" flipV="1">
              <a:off x="4786079" y="3035483"/>
              <a:ext cx="0" cy="196670"/>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98" name="Line 32"/>
            <p:cNvSpPr>
              <a:spLocks noChangeShapeType="1"/>
            </p:cNvSpPr>
            <p:nvPr/>
          </p:nvSpPr>
          <p:spPr bwMode="auto">
            <a:xfrm>
              <a:off x="6500388" y="4017918"/>
              <a:ext cx="421424" cy="0"/>
            </a:xfrm>
            <a:prstGeom prst="line">
              <a:avLst/>
            </a:prstGeom>
            <a:noFill/>
            <a:ln w="25400">
              <a:solidFill>
                <a:srgbClr val="000066"/>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9" name="Line 12"/>
            <p:cNvSpPr>
              <a:spLocks noChangeShapeType="1"/>
            </p:cNvSpPr>
            <p:nvPr/>
          </p:nvSpPr>
          <p:spPr bwMode="auto">
            <a:xfrm flipH="1" flipV="1">
              <a:off x="6694761" y="4017916"/>
              <a:ext cx="0" cy="181997"/>
            </a:xfrm>
            <a:prstGeom prst="line">
              <a:avLst/>
            </a:prstGeom>
            <a:noFill/>
            <a:ln w="28575">
              <a:solidFill>
                <a:srgbClr val="000066"/>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100" name="Rectangle 10"/>
            <p:cNvSpPr>
              <a:spLocks noChangeArrowheads="1"/>
            </p:cNvSpPr>
            <p:nvPr/>
          </p:nvSpPr>
          <p:spPr bwMode="auto">
            <a:xfrm>
              <a:off x="6583769" y="4199915"/>
              <a:ext cx="224299" cy="15998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nchor="ctr"/>
            <a:lstStyle/>
            <a:p>
              <a:pPr algn="ctr" eaLnBrk="0" hangingPunct="0"/>
              <a:r>
                <a:rPr lang="en-US" altLang="zh-CN" sz="1200" b="1" dirty="0">
                  <a:solidFill>
                    <a:srgbClr val="000000"/>
                  </a:solidFill>
                  <a:latin typeface="微软雅黑" panose="020B0503020204020204" pitchFamily="34" charset="-122"/>
                  <a:ea typeface="微软雅黑" panose="020B0503020204020204" pitchFamily="34" charset="-122"/>
                </a:rPr>
                <a:t>G</a:t>
              </a:r>
            </a:p>
          </p:txBody>
        </p:sp>
        <p:sp>
          <p:nvSpPr>
            <p:cNvPr id="101" name="Line 12"/>
            <p:cNvSpPr>
              <a:spLocks noChangeShapeType="1"/>
            </p:cNvSpPr>
            <p:nvPr/>
          </p:nvSpPr>
          <p:spPr bwMode="auto">
            <a:xfrm rot="5400000" flipH="1" flipV="1">
              <a:off x="7718894" y="2812803"/>
              <a:ext cx="0" cy="224359"/>
            </a:xfrm>
            <a:prstGeom prst="line">
              <a:avLst/>
            </a:prstGeom>
            <a:noFill/>
            <a:ln w="28575">
              <a:solidFill>
                <a:srgbClr val="009900"/>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102" name="Line 12"/>
            <p:cNvSpPr>
              <a:spLocks noChangeShapeType="1"/>
            </p:cNvSpPr>
            <p:nvPr/>
          </p:nvSpPr>
          <p:spPr bwMode="auto">
            <a:xfrm rot="5400000">
              <a:off x="6619509" y="3535439"/>
              <a:ext cx="362851" cy="46184"/>
            </a:xfrm>
            <a:prstGeom prst="line">
              <a:avLst/>
            </a:prstGeom>
            <a:noFill/>
            <a:ln w="12700">
              <a:solidFill>
                <a:srgbClr val="000066"/>
              </a:solidFill>
              <a:round/>
              <a:headEnd type="non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pic>
          <p:nvPicPr>
            <p:cNvPr id="103" name="Picture 5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114045" y="3099409"/>
              <a:ext cx="272768" cy="204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4" name="Picture 5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978138" y="2902593"/>
              <a:ext cx="272768" cy="204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5" name="Picture 5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882447" y="3441518"/>
              <a:ext cx="272768" cy="204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6" name="Picture 5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716225" y="3216390"/>
              <a:ext cx="272768" cy="204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7" name="Picture 5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343590" y="2836462"/>
              <a:ext cx="272768" cy="204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8" name="Line 12"/>
            <p:cNvSpPr>
              <a:spLocks noChangeShapeType="1"/>
            </p:cNvSpPr>
            <p:nvPr/>
          </p:nvSpPr>
          <p:spPr bwMode="auto">
            <a:xfrm flipH="1" flipV="1">
              <a:off x="6768789" y="3761302"/>
              <a:ext cx="0" cy="256614"/>
            </a:xfrm>
            <a:prstGeom prst="line">
              <a:avLst/>
            </a:prstGeom>
            <a:noFill/>
            <a:ln w="28575">
              <a:solidFill>
                <a:srgbClr val="000066"/>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pic>
          <p:nvPicPr>
            <p:cNvPr id="109" name="Picture 5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630890" y="3608417"/>
              <a:ext cx="272768" cy="204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0" name="Rectangle 10"/>
            <p:cNvSpPr>
              <a:spLocks noChangeArrowheads="1"/>
            </p:cNvSpPr>
            <p:nvPr/>
          </p:nvSpPr>
          <p:spPr bwMode="auto">
            <a:xfrm>
              <a:off x="8167665" y="2896632"/>
              <a:ext cx="224299" cy="15998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nchor="ctr"/>
            <a:lstStyle/>
            <a:p>
              <a:pPr algn="ctr" eaLnBrk="0" hangingPunct="0"/>
              <a:r>
                <a:rPr lang="en-US" altLang="zh-CN" sz="1200" b="1" dirty="0">
                  <a:solidFill>
                    <a:srgbClr val="000000"/>
                  </a:solidFill>
                  <a:latin typeface="微软雅黑" panose="020B0503020204020204" pitchFamily="34" charset="-122"/>
                  <a:ea typeface="微软雅黑" panose="020B0503020204020204" pitchFamily="34" charset="-122"/>
                </a:rPr>
                <a:t>G</a:t>
              </a:r>
            </a:p>
          </p:txBody>
        </p:sp>
        <p:sp>
          <p:nvSpPr>
            <p:cNvPr id="111" name="Line 12"/>
            <p:cNvSpPr>
              <a:spLocks noChangeShapeType="1"/>
            </p:cNvSpPr>
            <p:nvPr/>
          </p:nvSpPr>
          <p:spPr bwMode="auto">
            <a:xfrm rot="5400000" flipH="1" flipV="1">
              <a:off x="8005956" y="2805082"/>
              <a:ext cx="0" cy="323418"/>
            </a:xfrm>
            <a:prstGeom prst="line">
              <a:avLst/>
            </a:prstGeom>
            <a:noFill/>
            <a:ln w="28575">
              <a:solidFill>
                <a:srgbClr val="009900"/>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85" name="Line 32"/>
            <p:cNvSpPr>
              <a:spLocks noChangeShapeType="1"/>
            </p:cNvSpPr>
            <p:nvPr/>
          </p:nvSpPr>
          <p:spPr bwMode="auto">
            <a:xfrm rot="5400000">
              <a:off x="7608235" y="2948951"/>
              <a:ext cx="445677" cy="0"/>
            </a:xfrm>
            <a:prstGeom prst="line">
              <a:avLst/>
            </a:prstGeom>
            <a:noFill/>
            <a:ln w="38100">
              <a:solidFill>
                <a:srgbClr val="990099"/>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 name="Text Box 102"/>
            <p:cNvSpPr txBox="1">
              <a:spLocks noChangeArrowheads="1"/>
            </p:cNvSpPr>
            <p:nvPr/>
          </p:nvSpPr>
          <p:spPr bwMode="auto">
            <a:xfrm>
              <a:off x="7831227" y="3279985"/>
              <a:ext cx="668773"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100" b="1" dirty="0">
                  <a:latin typeface="微软雅黑" pitchFamily="34" charset="-122"/>
                  <a:ea typeface="微软雅黑" pitchFamily="34" charset="-122"/>
                </a:rPr>
                <a:t>IGMP </a:t>
              </a:r>
            </a:p>
            <a:p>
              <a:r>
                <a:rPr lang="en-US" altLang="zh-CN" sz="1100" b="1" dirty="0">
                  <a:latin typeface="微软雅黑" pitchFamily="34" charset="-122"/>
                  <a:ea typeface="微软雅黑" pitchFamily="34" charset="-122"/>
                </a:rPr>
                <a:t>Report</a:t>
              </a:r>
              <a:endParaRPr lang="zh-CN" altLang="en-US" sz="1100" b="1" dirty="0">
                <a:latin typeface="微软雅黑" pitchFamily="34" charset="-122"/>
                <a:ea typeface="微软雅黑" pitchFamily="34" charset="-122"/>
              </a:endParaRPr>
            </a:p>
          </p:txBody>
        </p:sp>
        <p:cxnSp>
          <p:nvCxnSpPr>
            <p:cNvPr id="114" name="直接箭头连接符 113"/>
            <p:cNvCxnSpPr>
              <a:stCxn id="112" idx="0"/>
            </p:cNvCxnSpPr>
            <p:nvPr/>
          </p:nvCxnSpPr>
          <p:spPr>
            <a:xfrm flipH="1" flipV="1">
              <a:off x="8005956" y="3005048"/>
              <a:ext cx="159658" cy="274937"/>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grpSp>
      <p:sp>
        <p:nvSpPr>
          <p:cNvPr id="119" name="矩形 118"/>
          <p:cNvSpPr/>
          <p:nvPr/>
        </p:nvSpPr>
        <p:spPr>
          <a:xfrm>
            <a:off x="1229140" y="3881935"/>
            <a:ext cx="595035" cy="338554"/>
          </a:xfrm>
          <a:prstGeom prst="rect">
            <a:avLst/>
          </a:prstGeom>
        </p:spPr>
        <p:txBody>
          <a:bodyPr wrap="none">
            <a:spAutoFit/>
          </a:bodyPr>
          <a:lstStyle/>
          <a:p>
            <a:r>
              <a:rPr lang="zh-CN" altLang="en-US" sz="1600" b="1" dirty="0">
                <a:solidFill>
                  <a:srgbClr val="0000FF"/>
                </a:solidFill>
                <a:latin typeface="微软雅黑" panose="020B0503020204020204" pitchFamily="34" charset="-122"/>
                <a:ea typeface="微软雅黑" panose="020B0503020204020204" pitchFamily="34" charset="-122"/>
              </a:rPr>
              <a:t>剪枝</a:t>
            </a:r>
          </a:p>
        </p:txBody>
      </p:sp>
      <p:sp>
        <p:nvSpPr>
          <p:cNvPr id="120" name="矩形 119"/>
          <p:cNvSpPr/>
          <p:nvPr/>
        </p:nvSpPr>
        <p:spPr>
          <a:xfrm>
            <a:off x="7584137" y="3881935"/>
            <a:ext cx="595035" cy="338554"/>
          </a:xfrm>
          <a:prstGeom prst="rect">
            <a:avLst/>
          </a:prstGeom>
        </p:spPr>
        <p:txBody>
          <a:bodyPr wrap="none">
            <a:spAutoFit/>
          </a:bodyPr>
          <a:lstStyle/>
          <a:p>
            <a:r>
              <a:rPr lang="zh-CN" altLang="en-US" sz="1600" b="1" dirty="0">
                <a:solidFill>
                  <a:srgbClr val="0000FF"/>
                </a:solidFill>
                <a:latin typeface="微软雅黑" panose="020B0503020204020204" pitchFamily="34" charset="-122"/>
                <a:ea typeface="微软雅黑" panose="020B0503020204020204" pitchFamily="34" charset="-122"/>
              </a:rPr>
              <a:t>嫁接</a:t>
            </a:r>
          </a:p>
        </p:txBody>
      </p:sp>
      <p:grpSp>
        <p:nvGrpSpPr>
          <p:cNvPr id="79" name="组合 78"/>
          <p:cNvGrpSpPr/>
          <p:nvPr/>
        </p:nvGrpSpPr>
        <p:grpSpPr>
          <a:xfrm>
            <a:off x="2450573" y="2801278"/>
            <a:ext cx="1215605" cy="467837"/>
            <a:chOff x="2622992" y="2882429"/>
            <a:chExt cx="1325834" cy="467837"/>
          </a:xfrm>
        </p:grpSpPr>
        <p:sp>
          <p:nvSpPr>
            <p:cNvPr id="73" name="Line 15"/>
            <p:cNvSpPr>
              <a:spLocks noChangeShapeType="1"/>
            </p:cNvSpPr>
            <p:nvPr/>
          </p:nvSpPr>
          <p:spPr bwMode="auto">
            <a:xfrm flipV="1">
              <a:off x="3345691" y="2936679"/>
              <a:ext cx="476516" cy="303730"/>
            </a:xfrm>
            <a:prstGeom prst="line">
              <a:avLst/>
            </a:prstGeom>
            <a:noFill/>
            <a:ln w="28575">
              <a:solidFill>
                <a:srgbClr val="990099"/>
              </a:solidFill>
              <a:prstDash val="sysDot"/>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74" name="Line 15"/>
            <p:cNvSpPr>
              <a:spLocks noChangeShapeType="1"/>
            </p:cNvSpPr>
            <p:nvPr/>
          </p:nvSpPr>
          <p:spPr bwMode="auto">
            <a:xfrm>
              <a:off x="2622992" y="3001788"/>
              <a:ext cx="522594" cy="265721"/>
            </a:xfrm>
            <a:prstGeom prst="line">
              <a:avLst/>
            </a:prstGeom>
            <a:noFill/>
            <a:ln w="28575">
              <a:solidFill>
                <a:srgbClr val="990099"/>
              </a:solidFill>
              <a:prstDash val="sysDot"/>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75" name="矩形 74"/>
            <p:cNvSpPr/>
            <p:nvPr/>
          </p:nvSpPr>
          <p:spPr>
            <a:xfrm>
              <a:off x="3456383" y="3073267"/>
              <a:ext cx="492443" cy="276999"/>
            </a:xfrm>
            <a:prstGeom prst="rect">
              <a:avLst/>
            </a:prstGeom>
          </p:spPr>
          <p:txBody>
            <a:bodyPr wrap="none">
              <a:spAutoFit/>
            </a:bodyPr>
            <a:lstStyle/>
            <a:p>
              <a:r>
                <a:rPr lang="zh-CN" altLang="en-US" sz="1200" b="1" dirty="0">
                  <a:solidFill>
                    <a:srgbClr val="C00000"/>
                  </a:solidFill>
                  <a:latin typeface="微软雅黑" panose="020B0503020204020204" pitchFamily="34" charset="-122"/>
                  <a:ea typeface="微软雅黑" panose="020B0503020204020204" pitchFamily="34" charset="-122"/>
                </a:rPr>
                <a:t>剪除</a:t>
              </a:r>
            </a:p>
          </p:txBody>
        </p:sp>
        <p:sp>
          <p:nvSpPr>
            <p:cNvPr id="76" name="矩形 75"/>
            <p:cNvSpPr/>
            <p:nvPr/>
          </p:nvSpPr>
          <p:spPr>
            <a:xfrm>
              <a:off x="2714315" y="2882429"/>
              <a:ext cx="492443" cy="276999"/>
            </a:xfrm>
            <a:prstGeom prst="rect">
              <a:avLst/>
            </a:prstGeom>
          </p:spPr>
          <p:txBody>
            <a:bodyPr wrap="none">
              <a:spAutoFit/>
            </a:bodyPr>
            <a:lstStyle/>
            <a:p>
              <a:r>
                <a:rPr lang="zh-CN" altLang="en-US" sz="1200" b="1" dirty="0">
                  <a:solidFill>
                    <a:srgbClr val="C00000"/>
                  </a:solidFill>
                  <a:latin typeface="微软雅黑" panose="020B0503020204020204" pitchFamily="34" charset="-122"/>
                  <a:ea typeface="微软雅黑" panose="020B0503020204020204" pitchFamily="34" charset="-122"/>
                </a:rPr>
                <a:t>剪除</a:t>
              </a:r>
            </a:p>
          </p:txBody>
        </p:sp>
      </p:grpSp>
    </p:spTree>
    <p:extLst>
      <p:ext uri="{BB962C8B-B14F-4D97-AF65-F5344CB8AC3E}">
        <p14:creationId xmlns:p14="http://schemas.microsoft.com/office/powerpoint/2010/main" val="73714694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nodeType="clickEffect">
                                  <p:stCondLst>
                                    <p:cond delay="0"/>
                                  </p:stCondLst>
                                  <p:childTnLst>
                                    <p:anim calcmode="discrete" valueType="str">
                                      <p:cBhvr>
                                        <p:cTn id="6" dur="1000" fill="hold"/>
                                        <p:tgtEl>
                                          <p:spTgt spid="79"/>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nodeType="clickEffect">
                                  <p:stCondLst>
                                    <p:cond delay="0"/>
                                  </p:stCondLst>
                                  <p:childTnLst>
                                    <p:anim calcmode="discrete" valueType="str">
                                      <p:cBhvr>
                                        <p:cTn id="10" dur="1000" fill="hold"/>
                                        <p:tgtEl>
                                          <p:spTgt spid="8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600395"/>
            <a:ext cx="8053711"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3" name="Group 114"/>
          <p:cNvGrpSpPr>
            <a:grpSpLocks/>
          </p:cNvGrpSpPr>
          <p:nvPr/>
        </p:nvGrpSpPr>
        <p:grpSpPr bwMode="auto">
          <a:xfrm>
            <a:off x="5909908" y="2669405"/>
            <a:ext cx="1572216" cy="1443694"/>
            <a:chOff x="3749" y="2721"/>
            <a:chExt cx="1531" cy="1523"/>
          </a:xfrm>
        </p:grpSpPr>
        <p:sp>
          <p:nvSpPr>
            <p:cNvPr id="4" name="Oval 90"/>
            <p:cNvSpPr>
              <a:spLocks noChangeArrowheads="1"/>
            </p:cNvSpPr>
            <p:nvPr/>
          </p:nvSpPr>
          <p:spPr bwMode="auto">
            <a:xfrm rot="1323552">
              <a:off x="3749" y="3383"/>
              <a:ext cx="1272" cy="861"/>
            </a:xfrm>
            <a:prstGeom prst="ellipse">
              <a:avLst/>
            </a:prstGeom>
            <a:solidFill>
              <a:srgbClr val="00FFFF"/>
            </a:solidFill>
            <a:ln>
              <a:noFill/>
            </a:ln>
            <a:effectLst/>
            <a:extLst>
              <a:ext uri="{91240B29-F687-4F45-9708-019B960494DF}">
                <a14:hiddenLine xmlns:a14="http://schemas.microsoft.com/office/drawing/2010/main" w="9525">
                  <a:solidFill>
                    <a:schemeClr val="tx1"/>
                  </a:solidFill>
                  <a:prstDash val="dash"/>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 name="Text Box 91"/>
            <p:cNvSpPr txBox="1">
              <a:spLocks noChangeArrowheads="1"/>
            </p:cNvSpPr>
            <p:nvPr/>
          </p:nvSpPr>
          <p:spPr bwMode="auto">
            <a:xfrm>
              <a:off x="4051" y="2721"/>
              <a:ext cx="1229" cy="5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400" b="1" dirty="0">
                  <a:latin typeface="微软雅黑" pitchFamily="34" charset="-122"/>
                  <a:ea typeface="微软雅黑" pitchFamily="34" charset="-122"/>
                </a:rPr>
                <a:t>剪除没有</a:t>
              </a:r>
            </a:p>
            <a:p>
              <a:pPr algn="ctr"/>
              <a:r>
                <a:rPr lang="zh-CN" altLang="en-US" sz="1400" b="1" dirty="0">
                  <a:latin typeface="微软雅黑" pitchFamily="34" charset="-122"/>
                  <a:ea typeface="微软雅黑" pitchFamily="34" charset="-122"/>
                </a:rPr>
                <a:t>组成员的树枝</a:t>
              </a:r>
            </a:p>
          </p:txBody>
        </p:sp>
      </p:grpSp>
      <p:sp>
        <p:nvSpPr>
          <p:cNvPr id="6" name="Line 4"/>
          <p:cNvSpPr>
            <a:spLocks noChangeShapeType="1"/>
          </p:cNvSpPr>
          <p:nvPr/>
        </p:nvSpPr>
        <p:spPr bwMode="auto">
          <a:xfrm>
            <a:off x="6799222" y="3890334"/>
            <a:ext cx="481626" cy="145981"/>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 name="Line 5"/>
          <p:cNvSpPr>
            <a:spLocks noChangeShapeType="1"/>
          </p:cNvSpPr>
          <p:nvPr/>
        </p:nvSpPr>
        <p:spPr bwMode="auto">
          <a:xfrm>
            <a:off x="4436275" y="1157459"/>
            <a:ext cx="0" cy="368744"/>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 name="Line 6"/>
          <p:cNvSpPr>
            <a:spLocks noChangeShapeType="1"/>
          </p:cNvSpPr>
          <p:nvPr/>
        </p:nvSpPr>
        <p:spPr bwMode="auto">
          <a:xfrm flipV="1">
            <a:off x="3297420" y="1640902"/>
            <a:ext cx="1114209" cy="549798"/>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 name="Line 7"/>
          <p:cNvSpPr>
            <a:spLocks noChangeShapeType="1"/>
          </p:cNvSpPr>
          <p:nvPr/>
        </p:nvSpPr>
        <p:spPr bwMode="auto">
          <a:xfrm>
            <a:off x="3434000" y="3298827"/>
            <a:ext cx="2128809" cy="0"/>
          </a:xfrm>
          <a:prstGeom prst="line">
            <a:avLst/>
          </a:prstGeom>
          <a:noFill/>
          <a:ln w="1905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0" name="Line 8"/>
          <p:cNvSpPr>
            <a:spLocks noChangeShapeType="1"/>
          </p:cNvSpPr>
          <p:nvPr/>
        </p:nvSpPr>
        <p:spPr bwMode="auto">
          <a:xfrm>
            <a:off x="3434000" y="2190700"/>
            <a:ext cx="2128809" cy="0"/>
          </a:xfrm>
          <a:prstGeom prst="line">
            <a:avLst/>
          </a:prstGeom>
          <a:noFill/>
          <a:ln w="1905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 name="Text Box 9"/>
          <p:cNvSpPr txBox="1">
            <a:spLocks noChangeArrowheads="1"/>
          </p:cNvSpPr>
          <p:nvPr/>
        </p:nvSpPr>
        <p:spPr bwMode="auto">
          <a:xfrm>
            <a:off x="4601610" y="882560"/>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b="1">
                <a:latin typeface="微软雅黑" pitchFamily="34" charset="-122"/>
                <a:ea typeface="微软雅黑" pitchFamily="34" charset="-122"/>
              </a:rPr>
              <a:t>源点</a:t>
            </a:r>
          </a:p>
        </p:txBody>
      </p:sp>
      <p:sp>
        <p:nvSpPr>
          <p:cNvPr id="12" name="Line 10"/>
          <p:cNvSpPr>
            <a:spLocks noChangeShapeType="1"/>
          </p:cNvSpPr>
          <p:nvPr/>
        </p:nvSpPr>
        <p:spPr bwMode="auto">
          <a:xfrm>
            <a:off x="4592368" y="1690194"/>
            <a:ext cx="1030003" cy="515672"/>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 name="Line 11"/>
          <p:cNvSpPr>
            <a:spLocks noChangeShapeType="1"/>
          </p:cNvSpPr>
          <p:nvPr/>
        </p:nvSpPr>
        <p:spPr bwMode="auto">
          <a:xfrm>
            <a:off x="3297420" y="2266535"/>
            <a:ext cx="0" cy="958355"/>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 name="Line 12"/>
          <p:cNvSpPr>
            <a:spLocks noChangeShapeType="1"/>
          </p:cNvSpPr>
          <p:nvPr/>
        </p:nvSpPr>
        <p:spPr bwMode="auto">
          <a:xfrm>
            <a:off x="3364169" y="3372766"/>
            <a:ext cx="1031029" cy="663549"/>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 name="Line 13"/>
          <p:cNvSpPr>
            <a:spLocks noChangeShapeType="1"/>
          </p:cNvSpPr>
          <p:nvPr/>
        </p:nvSpPr>
        <p:spPr bwMode="auto">
          <a:xfrm>
            <a:off x="5699389" y="2266534"/>
            <a:ext cx="0" cy="1032293"/>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 name="Line 14"/>
          <p:cNvSpPr>
            <a:spLocks noChangeShapeType="1"/>
          </p:cNvSpPr>
          <p:nvPr/>
        </p:nvSpPr>
        <p:spPr bwMode="auto">
          <a:xfrm flipH="1">
            <a:off x="4601610" y="3298828"/>
            <a:ext cx="1097779" cy="737488"/>
          </a:xfrm>
          <a:prstGeom prst="line">
            <a:avLst/>
          </a:prstGeom>
          <a:noFill/>
          <a:ln w="1905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7" name="Line 15"/>
          <p:cNvSpPr>
            <a:spLocks noChangeShapeType="1"/>
          </p:cNvSpPr>
          <p:nvPr/>
        </p:nvSpPr>
        <p:spPr bwMode="auto">
          <a:xfrm flipH="1">
            <a:off x="2472801" y="3298827"/>
            <a:ext cx="755814" cy="591507"/>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 name="Line 16"/>
          <p:cNvSpPr>
            <a:spLocks noChangeShapeType="1"/>
          </p:cNvSpPr>
          <p:nvPr/>
        </p:nvSpPr>
        <p:spPr bwMode="auto">
          <a:xfrm>
            <a:off x="5769219" y="3298827"/>
            <a:ext cx="961198" cy="591507"/>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pic>
        <p:nvPicPr>
          <p:cNvPr id="19" name="Picture 1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91008" y="2044719"/>
            <a:ext cx="481627" cy="293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1" name="Picture 1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258618" y="3890334"/>
            <a:ext cx="481626" cy="2948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2" name="Picture 2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91008" y="3151898"/>
            <a:ext cx="481627" cy="292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3" name="Picture 2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25201" y="3151898"/>
            <a:ext cx="481626" cy="292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4" name="Picture 2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25201" y="2044719"/>
            <a:ext cx="481626" cy="293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5" name="Picture 2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197587" y="3815448"/>
            <a:ext cx="482653" cy="2948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6" name="Picture 2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454177" y="3743405"/>
            <a:ext cx="481626" cy="292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27" name="Group 35"/>
          <p:cNvGrpSpPr>
            <a:grpSpLocks/>
          </p:cNvGrpSpPr>
          <p:nvPr/>
        </p:nvGrpSpPr>
        <p:grpSpPr bwMode="auto">
          <a:xfrm>
            <a:off x="4950764" y="1999218"/>
            <a:ext cx="137607" cy="147877"/>
            <a:chOff x="3470" y="572"/>
            <a:chExt cx="91" cy="91"/>
          </a:xfrm>
        </p:grpSpPr>
        <p:sp>
          <p:nvSpPr>
            <p:cNvPr id="28" name="Line 36"/>
            <p:cNvSpPr>
              <a:spLocks noChangeShapeType="1"/>
            </p:cNvSpPr>
            <p:nvPr/>
          </p:nvSpPr>
          <p:spPr bwMode="auto">
            <a:xfrm>
              <a:off x="3470" y="572"/>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9" name="Line 37"/>
            <p:cNvSpPr>
              <a:spLocks noChangeShapeType="1"/>
            </p:cNvSpPr>
            <p:nvPr/>
          </p:nvSpPr>
          <p:spPr bwMode="auto">
            <a:xfrm rot="5400000">
              <a:off x="3471" y="571"/>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30" name="Group 110"/>
          <p:cNvGrpSpPr>
            <a:grpSpLocks/>
          </p:cNvGrpSpPr>
          <p:nvPr/>
        </p:nvGrpSpPr>
        <p:grpSpPr bwMode="auto">
          <a:xfrm>
            <a:off x="3877630" y="2235253"/>
            <a:ext cx="2027143" cy="767821"/>
            <a:chOff x="1770" y="2263"/>
            <a:chExt cx="1974" cy="810"/>
          </a:xfrm>
        </p:grpSpPr>
        <p:grpSp>
          <p:nvGrpSpPr>
            <p:cNvPr id="31" name="Group 25"/>
            <p:cNvGrpSpPr>
              <a:grpSpLocks/>
            </p:cNvGrpSpPr>
            <p:nvPr/>
          </p:nvGrpSpPr>
          <p:grpSpPr bwMode="auto">
            <a:xfrm rot="5400000">
              <a:off x="3406" y="2735"/>
              <a:ext cx="544" cy="132"/>
              <a:chOff x="4105" y="1253"/>
              <a:chExt cx="317" cy="90"/>
            </a:xfrm>
          </p:grpSpPr>
          <p:sp>
            <p:nvSpPr>
              <p:cNvPr id="35" name="Rectangle 26"/>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6" name="Line 27"/>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32" name="Group 39"/>
            <p:cNvGrpSpPr>
              <a:grpSpLocks/>
            </p:cNvGrpSpPr>
            <p:nvPr/>
          </p:nvGrpSpPr>
          <p:grpSpPr bwMode="auto">
            <a:xfrm flipH="1">
              <a:off x="1770" y="2263"/>
              <a:ext cx="468" cy="155"/>
              <a:chOff x="4105" y="1253"/>
              <a:chExt cx="317" cy="90"/>
            </a:xfrm>
          </p:grpSpPr>
          <p:sp>
            <p:nvSpPr>
              <p:cNvPr id="33" name="Rectangle 40"/>
              <p:cNvSpPr>
                <a:spLocks noChangeArrowheads="1"/>
              </p:cNvSpPr>
              <p:nvPr/>
            </p:nvSpPr>
            <p:spPr bwMode="auto">
              <a:xfrm>
                <a:off x="4105" y="1253"/>
                <a:ext cx="181" cy="90"/>
              </a:xfrm>
              <a:prstGeom prst="rect">
                <a:avLst/>
              </a:prstGeom>
              <a:solidFill>
                <a:srgbClr val="CC00CC"/>
              </a:solid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4" name="Line 41"/>
              <p:cNvSpPr>
                <a:spLocks noChangeShapeType="1"/>
              </p:cNvSpPr>
              <p:nvPr/>
            </p:nvSpPr>
            <p:spPr bwMode="auto">
              <a:xfrm flipV="1">
                <a:off x="4150" y="1298"/>
                <a:ext cx="272" cy="0"/>
              </a:xfrm>
              <a:prstGeom prst="line">
                <a:avLst/>
              </a:prstGeom>
              <a:noFill/>
              <a:ln w="28575">
                <a:solidFill>
                  <a:srgbClr val="CC00CC"/>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grpSp>
        <p:nvGrpSpPr>
          <p:cNvPr id="37" name="Group 42"/>
          <p:cNvGrpSpPr>
            <a:grpSpLocks/>
          </p:cNvGrpSpPr>
          <p:nvPr/>
        </p:nvGrpSpPr>
        <p:grpSpPr bwMode="auto">
          <a:xfrm flipH="1">
            <a:off x="3740023" y="2235253"/>
            <a:ext cx="137607" cy="148824"/>
            <a:chOff x="3470" y="572"/>
            <a:chExt cx="91" cy="91"/>
          </a:xfrm>
        </p:grpSpPr>
        <p:sp>
          <p:nvSpPr>
            <p:cNvPr id="38" name="Line 43"/>
            <p:cNvSpPr>
              <a:spLocks noChangeShapeType="1"/>
            </p:cNvSpPr>
            <p:nvPr/>
          </p:nvSpPr>
          <p:spPr bwMode="auto">
            <a:xfrm>
              <a:off x="3470" y="572"/>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9" name="Line 44"/>
            <p:cNvSpPr>
              <a:spLocks noChangeShapeType="1"/>
            </p:cNvSpPr>
            <p:nvPr/>
          </p:nvSpPr>
          <p:spPr bwMode="auto">
            <a:xfrm rot="5400000">
              <a:off x="3471" y="571"/>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40" name="Group 109"/>
          <p:cNvGrpSpPr>
            <a:grpSpLocks/>
          </p:cNvGrpSpPr>
          <p:nvPr/>
        </p:nvGrpSpPr>
        <p:grpSpPr bwMode="auto">
          <a:xfrm>
            <a:off x="3364169" y="1999218"/>
            <a:ext cx="1586594" cy="929917"/>
            <a:chOff x="1270" y="2014"/>
            <a:chExt cx="1545" cy="981"/>
          </a:xfrm>
        </p:grpSpPr>
        <p:grpSp>
          <p:nvGrpSpPr>
            <p:cNvPr id="41" name="Group 32"/>
            <p:cNvGrpSpPr>
              <a:grpSpLocks/>
            </p:cNvGrpSpPr>
            <p:nvPr/>
          </p:nvGrpSpPr>
          <p:grpSpPr bwMode="auto">
            <a:xfrm>
              <a:off x="2349" y="2014"/>
              <a:ext cx="466" cy="154"/>
              <a:chOff x="4105" y="1253"/>
              <a:chExt cx="317" cy="90"/>
            </a:xfrm>
          </p:grpSpPr>
          <p:sp>
            <p:nvSpPr>
              <p:cNvPr id="45" name="Rectangle 33"/>
              <p:cNvSpPr>
                <a:spLocks noChangeArrowheads="1"/>
              </p:cNvSpPr>
              <p:nvPr/>
            </p:nvSpPr>
            <p:spPr bwMode="auto">
              <a:xfrm>
                <a:off x="4105" y="1253"/>
                <a:ext cx="181" cy="90"/>
              </a:xfrm>
              <a:prstGeom prst="rect">
                <a:avLst/>
              </a:prstGeom>
              <a:solidFill>
                <a:srgbClr val="CC00CC"/>
              </a:solid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6" name="Line 34"/>
              <p:cNvSpPr>
                <a:spLocks noChangeShapeType="1"/>
              </p:cNvSpPr>
              <p:nvPr/>
            </p:nvSpPr>
            <p:spPr bwMode="auto">
              <a:xfrm flipV="1">
                <a:off x="4150" y="1298"/>
                <a:ext cx="272" cy="0"/>
              </a:xfrm>
              <a:prstGeom prst="line">
                <a:avLst/>
              </a:prstGeom>
              <a:noFill/>
              <a:ln w="28575">
                <a:solidFill>
                  <a:srgbClr val="CC00CC"/>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42" name="Group 45"/>
            <p:cNvGrpSpPr>
              <a:grpSpLocks/>
            </p:cNvGrpSpPr>
            <p:nvPr/>
          </p:nvGrpSpPr>
          <p:grpSpPr bwMode="auto">
            <a:xfrm rot="5400000">
              <a:off x="1064" y="2656"/>
              <a:ext cx="545" cy="134"/>
              <a:chOff x="4105" y="1253"/>
              <a:chExt cx="317" cy="90"/>
            </a:xfrm>
          </p:grpSpPr>
          <p:sp>
            <p:nvSpPr>
              <p:cNvPr id="43" name="Rectangle 46"/>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4" name="Line 47"/>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grpSp>
        <p:nvGrpSpPr>
          <p:cNvPr id="47" name="Group 52"/>
          <p:cNvGrpSpPr>
            <a:grpSpLocks/>
          </p:cNvGrpSpPr>
          <p:nvPr/>
        </p:nvGrpSpPr>
        <p:grpSpPr bwMode="auto">
          <a:xfrm>
            <a:off x="5224951" y="3341484"/>
            <a:ext cx="137607" cy="146929"/>
            <a:chOff x="3470" y="572"/>
            <a:chExt cx="91" cy="91"/>
          </a:xfrm>
        </p:grpSpPr>
        <p:sp>
          <p:nvSpPr>
            <p:cNvPr id="48" name="Line 53"/>
            <p:cNvSpPr>
              <a:spLocks noChangeShapeType="1"/>
            </p:cNvSpPr>
            <p:nvPr/>
          </p:nvSpPr>
          <p:spPr bwMode="auto">
            <a:xfrm>
              <a:off x="3470" y="572"/>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9" name="Line 54"/>
            <p:cNvSpPr>
              <a:spLocks noChangeShapeType="1"/>
            </p:cNvSpPr>
            <p:nvPr/>
          </p:nvSpPr>
          <p:spPr bwMode="auto">
            <a:xfrm rot="5400000">
              <a:off x="3471" y="571"/>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50" name="Group 111"/>
          <p:cNvGrpSpPr>
            <a:grpSpLocks/>
          </p:cNvGrpSpPr>
          <p:nvPr/>
        </p:nvGrpSpPr>
        <p:grpSpPr bwMode="auto">
          <a:xfrm>
            <a:off x="2491286" y="3341484"/>
            <a:ext cx="2733665" cy="326087"/>
            <a:chOff x="420" y="3430"/>
            <a:chExt cx="2662" cy="344"/>
          </a:xfrm>
        </p:grpSpPr>
        <p:grpSp>
          <p:nvGrpSpPr>
            <p:cNvPr id="51" name="Group 49"/>
            <p:cNvGrpSpPr>
              <a:grpSpLocks/>
            </p:cNvGrpSpPr>
            <p:nvPr/>
          </p:nvGrpSpPr>
          <p:grpSpPr bwMode="auto">
            <a:xfrm>
              <a:off x="2614" y="3430"/>
              <a:ext cx="468" cy="153"/>
              <a:chOff x="4105" y="1253"/>
              <a:chExt cx="317" cy="90"/>
            </a:xfrm>
          </p:grpSpPr>
          <p:sp>
            <p:nvSpPr>
              <p:cNvPr id="58" name="Rectangle 50"/>
              <p:cNvSpPr>
                <a:spLocks noChangeArrowheads="1"/>
              </p:cNvSpPr>
              <p:nvPr/>
            </p:nvSpPr>
            <p:spPr bwMode="auto">
              <a:xfrm>
                <a:off x="4105" y="1253"/>
                <a:ext cx="181" cy="90"/>
              </a:xfrm>
              <a:prstGeom prst="rect">
                <a:avLst/>
              </a:prstGeom>
              <a:solidFill>
                <a:srgbClr val="CC00CC"/>
              </a:solid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9" name="Line 51"/>
              <p:cNvSpPr>
                <a:spLocks noChangeShapeType="1"/>
              </p:cNvSpPr>
              <p:nvPr/>
            </p:nvSpPr>
            <p:spPr bwMode="auto">
              <a:xfrm flipV="1">
                <a:off x="4150" y="1298"/>
                <a:ext cx="272" cy="0"/>
              </a:xfrm>
              <a:prstGeom prst="line">
                <a:avLst/>
              </a:prstGeom>
              <a:noFill/>
              <a:ln w="28575">
                <a:solidFill>
                  <a:srgbClr val="CC00CC"/>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52" name="Group 62"/>
            <p:cNvGrpSpPr>
              <a:grpSpLocks/>
            </p:cNvGrpSpPr>
            <p:nvPr/>
          </p:nvGrpSpPr>
          <p:grpSpPr bwMode="auto">
            <a:xfrm rot="19424285" flipH="1">
              <a:off x="420" y="3551"/>
              <a:ext cx="468" cy="154"/>
              <a:chOff x="4105" y="1253"/>
              <a:chExt cx="317" cy="90"/>
            </a:xfrm>
          </p:grpSpPr>
          <p:sp>
            <p:nvSpPr>
              <p:cNvPr id="56" name="Rectangle 63"/>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7" name="Line 64"/>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53" name="Group 65"/>
            <p:cNvGrpSpPr>
              <a:grpSpLocks/>
            </p:cNvGrpSpPr>
            <p:nvPr/>
          </p:nvGrpSpPr>
          <p:grpSpPr bwMode="auto">
            <a:xfrm rot="1818208">
              <a:off x="1606" y="3619"/>
              <a:ext cx="467" cy="155"/>
              <a:chOff x="4105" y="1253"/>
              <a:chExt cx="317" cy="90"/>
            </a:xfrm>
          </p:grpSpPr>
          <p:sp>
            <p:nvSpPr>
              <p:cNvPr id="54" name="Rectangle 66"/>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5" name="Line 67"/>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grpSp>
        <p:nvGrpSpPr>
          <p:cNvPr id="60" name="Group 108"/>
          <p:cNvGrpSpPr>
            <a:grpSpLocks/>
          </p:cNvGrpSpPr>
          <p:nvPr/>
        </p:nvGrpSpPr>
        <p:grpSpPr bwMode="auto">
          <a:xfrm>
            <a:off x="3584958" y="1708206"/>
            <a:ext cx="1776574" cy="186741"/>
            <a:chOff x="1485" y="1707"/>
            <a:chExt cx="1730" cy="197"/>
          </a:xfrm>
        </p:grpSpPr>
        <p:grpSp>
          <p:nvGrpSpPr>
            <p:cNvPr id="61" name="Group 28"/>
            <p:cNvGrpSpPr>
              <a:grpSpLocks/>
            </p:cNvGrpSpPr>
            <p:nvPr/>
          </p:nvGrpSpPr>
          <p:grpSpPr bwMode="auto">
            <a:xfrm rot="1498195">
              <a:off x="2747" y="1749"/>
              <a:ext cx="468" cy="155"/>
              <a:chOff x="4105" y="1253"/>
              <a:chExt cx="317" cy="90"/>
            </a:xfrm>
          </p:grpSpPr>
          <p:sp>
            <p:nvSpPr>
              <p:cNvPr id="65" name="Rectangle 29"/>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6" name="Line 30"/>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62" name="Group 71"/>
            <p:cNvGrpSpPr>
              <a:grpSpLocks/>
            </p:cNvGrpSpPr>
            <p:nvPr/>
          </p:nvGrpSpPr>
          <p:grpSpPr bwMode="auto">
            <a:xfrm rot="20121053" flipH="1">
              <a:off x="1485" y="1707"/>
              <a:ext cx="467" cy="156"/>
              <a:chOff x="4105" y="1253"/>
              <a:chExt cx="317" cy="90"/>
            </a:xfrm>
          </p:grpSpPr>
          <p:sp>
            <p:nvSpPr>
              <p:cNvPr id="63" name="Rectangle 72"/>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4" name="Line 73"/>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sp>
        <p:nvSpPr>
          <p:cNvPr id="67" name="Text Box 74"/>
          <p:cNvSpPr txBox="1">
            <a:spLocks noChangeArrowheads="1"/>
          </p:cNvSpPr>
          <p:nvPr/>
        </p:nvSpPr>
        <p:spPr bwMode="auto">
          <a:xfrm>
            <a:off x="5869858" y="2040928"/>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3</a:t>
            </a:r>
          </a:p>
        </p:txBody>
      </p:sp>
      <p:sp>
        <p:nvSpPr>
          <p:cNvPr id="68" name="Text Box 75"/>
          <p:cNvSpPr txBox="1">
            <a:spLocks noChangeArrowheads="1"/>
          </p:cNvSpPr>
          <p:nvPr/>
        </p:nvSpPr>
        <p:spPr bwMode="auto">
          <a:xfrm>
            <a:off x="2884598" y="2918708"/>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4</a:t>
            </a:r>
          </a:p>
        </p:txBody>
      </p:sp>
      <p:sp>
        <p:nvSpPr>
          <p:cNvPr id="69" name="Text Box 76"/>
          <p:cNvSpPr txBox="1">
            <a:spLocks noChangeArrowheads="1"/>
          </p:cNvSpPr>
          <p:nvPr/>
        </p:nvSpPr>
        <p:spPr bwMode="auto">
          <a:xfrm>
            <a:off x="2059980" y="352064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6</a:t>
            </a:r>
          </a:p>
        </p:txBody>
      </p:sp>
      <p:sp>
        <p:nvSpPr>
          <p:cNvPr id="70" name="Text Box 77"/>
          <p:cNvSpPr txBox="1">
            <a:spLocks noChangeArrowheads="1"/>
          </p:cNvSpPr>
          <p:nvPr/>
        </p:nvSpPr>
        <p:spPr bwMode="auto">
          <a:xfrm>
            <a:off x="4258618" y="3613539"/>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7</a:t>
            </a:r>
          </a:p>
        </p:txBody>
      </p:sp>
      <p:sp>
        <p:nvSpPr>
          <p:cNvPr id="71" name="Text Box 78"/>
          <p:cNvSpPr txBox="1">
            <a:spLocks noChangeArrowheads="1"/>
          </p:cNvSpPr>
          <p:nvPr/>
        </p:nvSpPr>
        <p:spPr bwMode="auto">
          <a:xfrm>
            <a:off x="6591784" y="347514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8</a:t>
            </a:r>
          </a:p>
        </p:txBody>
      </p:sp>
      <p:grpSp>
        <p:nvGrpSpPr>
          <p:cNvPr id="72" name="Group 113"/>
          <p:cNvGrpSpPr>
            <a:grpSpLocks/>
          </p:cNvGrpSpPr>
          <p:nvPr/>
        </p:nvGrpSpPr>
        <p:grpSpPr bwMode="auto">
          <a:xfrm>
            <a:off x="3760561" y="3098815"/>
            <a:ext cx="2796307" cy="689144"/>
            <a:chOff x="1656" y="3174"/>
            <a:chExt cx="2723" cy="727"/>
          </a:xfrm>
        </p:grpSpPr>
        <p:grpSp>
          <p:nvGrpSpPr>
            <p:cNvPr id="73" name="Group 56"/>
            <p:cNvGrpSpPr>
              <a:grpSpLocks/>
            </p:cNvGrpSpPr>
            <p:nvPr/>
          </p:nvGrpSpPr>
          <p:grpSpPr bwMode="auto">
            <a:xfrm flipH="1">
              <a:off x="1656" y="3174"/>
              <a:ext cx="467" cy="155"/>
              <a:chOff x="4105" y="1253"/>
              <a:chExt cx="317" cy="90"/>
            </a:xfrm>
          </p:grpSpPr>
          <p:sp>
            <p:nvSpPr>
              <p:cNvPr id="80" name="Rectangle 57"/>
              <p:cNvSpPr>
                <a:spLocks noChangeArrowheads="1"/>
              </p:cNvSpPr>
              <p:nvPr/>
            </p:nvSpPr>
            <p:spPr bwMode="auto">
              <a:xfrm>
                <a:off x="4105" y="1253"/>
                <a:ext cx="181" cy="90"/>
              </a:xfrm>
              <a:prstGeom prst="rect">
                <a:avLst/>
              </a:prstGeom>
              <a:solidFill>
                <a:srgbClr val="CC00CC"/>
              </a:solid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1" name="Line 58"/>
              <p:cNvSpPr>
                <a:spLocks noChangeShapeType="1"/>
              </p:cNvSpPr>
              <p:nvPr/>
            </p:nvSpPr>
            <p:spPr bwMode="auto">
              <a:xfrm flipV="1">
                <a:off x="4150" y="1298"/>
                <a:ext cx="272" cy="0"/>
              </a:xfrm>
              <a:prstGeom prst="line">
                <a:avLst/>
              </a:prstGeom>
              <a:noFill/>
              <a:ln w="28575">
                <a:solidFill>
                  <a:srgbClr val="CC00CC"/>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74" name="Group 68"/>
            <p:cNvGrpSpPr>
              <a:grpSpLocks/>
            </p:cNvGrpSpPr>
            <p:nvPr/>
          </p:nvGrpSpPr>
          <p:grpSpPr bwMode="auto">
            <a:xfrm rot="1818208">
              <a:off x="3910" y="3523"/>
              <a:ext cx="469" cy="154"/>
              <a:chOff x="4105" y="1253"/>
              <a:chExt cx="317" cy="90"/>
            </a:xfrm>
          </p:grpSpPr>
          <p:sp>
            <p:nvSpPr>
              <p:cNvPr id="78" name="Rectangle 69"/>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9" name="Line 70"/>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75" name="Group 80"/>
            <p:cNvGrpSpPr>
              <a:grpSpLocks/>
            </p:cNvGrpSpPr>
            <p:nvPr/>
          </p:nvGrpSpPr>
          <p:grpSpPr bwMode="auto">
            <a:xfrm rot="19765545" flipH="1">
              <a:off x="2955" y="3747"/>
              <a:ext cx="469" cy="154"/>
              <a:chOff x="4105" y="1253"/>
              <a:chExt cx="317" cy="90"/>
            </a:xfrm>
          </p:grpSpPr>
          <p:sp>
            <p:nvSpPr>
              <p:cNvPr id="76" name="Rectangle 81"/>
              <p:cNvSpPr>
                <a:spLocks noChangeArrowheads="1"/>
              </p:cNvSpPr>
              <p:nvPr/>
            </p:nvSpPr>
            <p:spPr bwMode="auto">
              <a:xfrm>
                <a:off x="4105" y="1253"/>
                <a:ext cx="181" cy="90"/>
              </a:xfrm>
              <a:prstGeom prst="rect">
                <a:avLst/>
              </a:prstGeom>
              <a:solidFill>
                <a:srgbClr val="CC00CC"/>
              </a:solid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7" name="Line 82"/>
              <p:cNvSpPr>
                <a:spLocks noChangeShapeType="1"/>
              </p:cNvSpPr>
              <p:nvPr/>
            </p:nvSpPr>
            <p:spPr bwMode="auto">
              <a:xfrm flipV="1">
                <a:off x="4150" y="1298"/>
                <a:ext cx="272" cy="0"/>
              </a:xfrm>
              <a:prstGeom prst="line">
                <a:avLst/>
              </a:prstGeom>
              <a:noFill/>
              <a:ln w="28575">
                <a:solidFill>
                  <a:srgbClr val="CC00CC"/>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grpSp>
        <p:nvGrpSpPr>
          <p:cNvPr id="82" name="Group 112"/>
          <p:cNvGrpSpPr>
            <a:grpSpLocks/>
          </p:cNvGrpSpPr>
          <p:nvPr/>
        </p:nvGrpSpPr>
        <p:grpSpPr bwMode="auto">
          <a:xfrm>
            <a:off x="3619873" y="3083648"/>
            <a:ext cx="1514709" cy="836072"/>
            <a:chOff x="1522" y="3174"/>
            <a:chExt cx="1475" cy="882"/>
          </a:xfrm>
        </p:grpSpPr>
        <p:grpSp>
          <p:nvGrpSpPr>
            <p:cNvPr id="83" name="Group 59"/>
            <p:cNvGrpSpPr>
              <a:grpSpLocks/>
            </p:cNvGrpSpPr>
            <p:nvPr/>
          </p:nvGrpSpPr>
          <p:grpSpPr bwMode="auto">
            <a:xfrm flipH="1">
              <a:off x="1522" y="3174"/>
              <a:ext cx="134" cy="157"/>
              <a:chOff x="3470" y="572"/>
              <a:chExt cx="91" cy="91"/>
            </a:xfrm>
          </p:grpSpPr>
          <p:sp>
            <p:nvSpPr>
              <p:cNvPr id="87" name="Line 60"/>
              <p:cNvSpPr>
                <a:spLocks noChangeShapeType="1"/>
              </p:cNvSpPr>
              <p:nvPr/>
            </p:nvSpPr>
            <p:spPr bwMode="auto">
              <a:xfrm>
                <a:off x="3470" y="572"/>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8" name="Line 61"/>
              <p:cNvSpPr>
                <a:spLocks noChangeShapeType="1"/>
              </p:cNvSpPr>
              <p:nvPr/>
            </p:nvSpPr>
            <p:spPr bwMode="auto">
              <a:xfrm rot="5400000">
                <a:off x="3471" y="571"/>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84" name="Group 83"/>
            <p:cNvGrpSpPr>
              <a:grpSpLocks/>
            </p:cNvGrpSpPr>
            <p:nvPr/>
          </p:nvGrpSpPr>
          <p:grpSpPr bwMode="auto">
            <a:xfrm rot="19765545" flipH="1">
              <a:off x="2863" y="3900"/>
              <a:ext cx="134" cy="156"/>
              <a:chOff x="3470" y="572"/>
              <a:chExt cx="91" cy="91"/>
            </a:xfrm>
          </p:grpSpPr>
          <p:sp>
            <p:nvSpPr>
              <p:cNvPr id="85" name="Line 84"/>
              <p:cNvSpPr>
                <a:spLocks noChangeShapeType="1"/>
              </p:cNvSpPr>
              <p:nvPr/>
            </p:nvSpPr>
            <p:spPr bwMode="auto">
              <a:xfrm>
                <a:off x="3470" y="572"/>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6" name="Line 85"/>
              <p:cNvSpPr>
                <a:spLocks noChangeShapeType="1"/>
              </p:cNvSpPr>
              <p:nvPr/>
            </p:nvSpPr>
            <p:spPr bwMode="auto">
              <a:xfrm rot="5400000">
                <a:off x="3471" y="571"/>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pic>
        <p:nvPicPr>
          <p:cNvPr id="89" name="Picture 8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189814" y="1526203"/>
            <a:ext cx="481627" cy="295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90" name="Text Box 87"/>
          <p:cNvSpPr txBox="1">
            <a:spLocks noChangeArrowheads="1"/>
          </p:cNvSpPr>
          <p:nvPr/>
        </p:nvSpPr>
        <p:spPr bwMode="auto">
          <a:xfrm>
            <a:off x="4464002" y="1298700"/>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1</a:t>
            </a:r>
          </a:p>
        </p:txBody>
      </p:sp>
      <p:sp>
        <p:nvSpPr>
          <p:cNvPr id="91" name="Text Box 88"/>
          <p:cNvSpPr txBox="1">
            <a:spLocks noChangeArrowheads="1"/>
          </p:cNvSpPr>
          <p:nvPr/>
        </p:nvSpPr>
        <p:spPr bwMode="auto">
          <a:xfrm>
            <a:off x="5287593" y="287131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5</a:t>
            </a:r>
          </a:p>
        </p:txBody>
      </p:sp>
      <p:sp>
        <p:nvSpPr>
          <p:cNvPr id="92" name="Text Box 89"/>
          <p:cNvSpPr txBox="1">
            <a:spLocks noChangeArrowheads="1"/>
          </p:cNvSpPr>
          <p:nvPr/>
        </p:nvSpPr>
        <p:spPr bwMode="auto">
          <a:xfrm>
            <a:off x="2813740" y="1902530"/>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2</a:t>
            </a:r>
          </a:p>
        </p:txBody>
      </p:sp>
      <p:grpSp>
        <p:nvGrpSpPr>
          <p:cNvPr id="93" name="Group 92"/>
          <p:cNvGrpSpPr>
            <a:grpSpLocks/>
          </p:cNvGrpSpPr>
          <p:nvPr/>
        </p:nvGrpSpPr>
        <p:grpSpPr bwMode="auto">
          <a:xfrm>
            <a:off x="5350606" y="1489376"/>
            <a:ext cx="617180" cy="147877"/>
            <a:chOff x="3107" y="572"/>
            <a:chExt cx="408" cy="91"/>
          </a:xfrm>
        </p:grpSpPr>
        <p:grpSp>
          <p:nvGrpSpPr>
            <p:cNvPr id="94" name="Group 93"/>
            <p:cNvGrpSpPr>
              <a:grpSpLocks/>
            </p:cNvGrpSpPr>
            <p:nvPr/>
          </p:nvGrpSpPr>
          <p:grpSpPr bwMode="auto">
            <a:xfrm>
              <a:off x="3107" y="572"/>
              <a:ext cx="317" cy="90"/>
              <a:chOff x="4105" y="1253"/>
              <a:chExt cx="317" cy="90"/>
            </a:xfrm>
          </p:grpSpPr>
          <p:sp>
            <p:nvSpPr>
              <p:cNvPr id="98" name="Rectangle 94"/>
              <p:cNvSpPr>
                <a:spLocks noChangeArrowheads="1"/>
              </p:cNvSpPr>
              <p:nvPr/>
            </p:nvSpPr>
            <p:spPr bwMode="auto">
              <a:xfrm>
                <a:off x="4105" y="1253"/>
                <a:ext cx="181" cy="90"/>
              </a:xfrm>
              <a:prstGeom prst="rect">
                <a:avLst/>
              </a:prstGeom>
              <a:solidFill>
                <a:srgbClr val="CC00CC"/>
              </a:solid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9" name="Line 95"/>
              <p:cNvSpPr>
                <a:spLocks noChangeShapeType="1"/>
              </p:cNvSpPr>
              <p:nvPr/>
            </p:nvSpPr>
            <p:spPr bwMode="auto">
              <a:xfrm flipV="1">
                <a:off x="4150" y="1298"/>
                <a:ext cx="272" cy="0"/>
              </a:xfrm>
              <a:prstGeom prst="line">
                <a:avLst/>
              </a:prstGeom>
              <a:noFill/>
              <a:ln w="28575">
                <a:solidFill>
                  <a:srgbClr val="CC00CC"/>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95" name="Group 96"/>
            <p:cNvGrpSpPr>
              <a:grpSpLocks/>
            </p:cNvGrpSpPr>
            <p:nvPr/>
          </p:nvGrpSpPr>
          <p:grpSpPr bwMode="auto">
            <a:xfrm>
              <a:off x="3424" y="572"/>
              <a:ext cx="91" cy="91"/>
              <a:chOff x="3470" y="572"/>
              <a:chExt cx="91" cy="91"/>
            </a:xfrm>
          </p:grpSpPr>
          <p:sp>
            <p:nvSpPr>
              <p:cNvPr id="96" name="Line 97"/>
              <p:cNvSpPr>
                <a:spLocks noChangeShapeType="1"/>
              </p:cNvSpPr>
              <p:nvPr/>
            </p:nvSpPr>
            <p:spPr bwMode="auto">
              <a:xfrm>
                <a:off x="3470" y="572"/>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7" name="Line 98"/>
              <p:cNvSpPr>
                <a:spLocks noChangeShapeType="1"/>
              </p:cNvSpPr>
              <p:nvPr/>
            </p:nvSpPr>
            <p:spPr bwMode="auto">
              <a:xfrm rot="5400000">
                <a:off x="3471" y="571"/>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grpSp>
        <p:nvGrpSpPr>
          <p:cNvPr id="100" name="Group 99"/>
          <p:cNvGrpSpPr>
            <a:grpSpLocks/>
          </p:cNvGrpSpPr>
          <p:nvPr/>
        </p:nvGrpSpPr>
        <p:grpSpPr bwMode="auto">
          <a:xfrm>
            <a:off x="5350606" y="1233288"/>
            <a:ext cx="479572" cy="145981"/>
            <a:chOff x="4105" y="1253"/>
            <a:chExt cx="317" cy="90"/>
          </a:xfrm>
        </p:grpSpPr>
        <p:sp>
          <p:nvSpPr>
            <p:cNvPr id="101" name="Rectangle 100"/>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2" name="Line 101"/>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03" name="Text Box 102"/>
          <p:cNvSpPr txBox="1">
            <a:spLocks noChangeArrowheads="1"/>
          </p:cNvSpPr>
          <p:nvPr/>
        </p:nvSpPr>
        <p:spPr bwMode="auto">
          <a:xfrm>
            <a:off x="5967481" y="1151766"/>
            <a:ext cx="144142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b="1" dirty="0">
                <a:latin typeface="微软雅黑" pitchFamily="34" charset="-122"/>
                <a:ea typeface="微软雅黑" pitchFamily="34" charset="-122"/>
              </a:rPr>
              <a:t>转发多播数据报</a:t>
            </a:r>
          </a:p>
        </p:txBody>
      </p:sp>
      <p:sp>
        <p:nvSpPr>
          <p:cNvPr id="104" name="Text Box 103"/>
          <p:cNvSpPr txBox="1">
            <a:spLocks noChangeArrowheads="1"/>
          </p:cNvSpPr>
          <p:nvPr/>
        </p:nvSpPr>
        <p:spPr bwMode="auto">
          <a:xfrm>
            <a:off x="5982163" y="1409750"/>
            <a:ext cx="126188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b="1" dirty="0">
                <a:latin typeface="微软雅黑" pitchFamily="34" charset="-122"/>
                <a:ea typeface="微软雅黑" pitchFamily="34" charset="-122"/>
              </a:rPr>
              <a:t>收到后即丢弃</a:t>
            </a:r>
          </a:p>
        </p:txBody>
      </p:sp>
      <p:sp>
        <p:nvSpPr>
          <p:cNvPr id="107" name="Text Box 126"/>
          <p:cNvSpPr txBox="1">
            <a:spLocks noChangeArrowheads="1"/>
          </p:cNvSpPr>
          <p:nvPr/>
        </p:nvSpPr>
        <p:spPr bwMode="auto">
          <a:xfrm>
            <a:off x="960303" y="2019789"/>
            <a:ext cx="1785473" cy="584775"/>
          </a:xfrm>
          <a:prstGeom prst="rect">
            <a:avLst/>
          </a:prstGeom>
          <a:solidFill>
            <a:srgbClr val="00FF99"/>
          </a:solidFill>
          <a:ln w="9525">
            <a:solidFill>
              <a:schemeClr val="folHlink"/>
            </a:solidFill>
            <a:miter lim="800000"/>
            <a:headEnd/>
            <a:tailEnd/>
          </a:ln>
          <a:effectLst/>
        </p:spPr>
        <p:txBody>
          <a:bodyPr wrap="square">
            <a:spAutoFit/>
          </a:bodyPr>
          <a:lstStyle/>
          <a:p>
            <a:pPr algn="ctr"/>
            <a:r>
              <a:rPr kumimoji="1" lang="zh-CN" altLang="en-US" sz="1600" b="1" dirty="0">
                <a:latin typeface="微软雅黑" pitchFamily="34" charset="-122"/>
                <a:ea typeface="微软雅黑" pitchFamily="34" charset="-122"/>
              </a:rPr>
              <a:t>反向路径广播 </a:t>
            </a:r>
            <a:r>
              <a:rPr kumimoji="1" lang="en-US" altLang="zh-CN" sz="1600" b="1" dirty="0">
                <a:latin typeface="微软雅黑" pitchFamily="34" charset="-122"/>
                <a:ea typeface="微软雅黑" pitchFamily="34" charset="-122"/>
              </a:rPr>
              <a:t>RPB </a:t>
            </a:r>
            <a:r>
              <a:rPr kumimoji="1" lang="zh-CN" altLang="en-US" sz="1600" b="1" dirty="0">
                <a:latin typeface="微软雅黑" pitchFamily="34" charset="-122"/>
                <a:ea typeface="微软雅黑" pitchFamily="34" charset="-122"/>
              </a:rPr>
              <a:t>和剪除 </a:t>
            </a:r>
          </a:p>
        </p:txBody>
      </p:sp>
      <p:pic>
        <p:nvPicPr>
          <p:cNvPr id="108"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195893" y="797155"/>
            <a:ext cx="488885" cy="48888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9049851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0"/>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7"/>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50"/>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47"/>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72"/>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82"/>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37492"/>
            <a:ext cx="8053711" cy="311804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p:cNvSpPr>
            <a:spLocks noChangeArrowheads="1"/>
          </p:cNvSpPr>
          <p:nvPr/>
        </p:nvSpPr>
        <p:spPr bwMode="auto">
          <a:xfrm>
            <a:off x="545144" y="624925"/>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4" y="574949"/>
            <a:ext cx="5213215" cy="400110"/>
          </a:xfrm>
          <a:prstGeom prst="rect">
            <a:avLst/>
          </a:prstGeom>
        </p:spPr>
        <p:txBody>
          <a:bodyPr wrap="square">
            <a:spAutoFit/>
          </a:bodyPr>
          <a:lstStyle/>
          <a:p>
            <a:r>
              <a:rPr lang="en-US" altLang="zh-CN" sz="2000" b="1" dirty="0">
                <a:latin typeface="微软雅黑" pitchFamily="34" charset="-122"/>
                <a:ea typeface="微软雅黑" pitchFamily="34" charset="-122"/>
              </a:rPr>
              <a:t>(2) </a:t>
            </a:r>
            <a:r>
              <a:rPr lang="zh-CN" altLang="en-US" sz="2000" b="1" dirty="0">
                <a:latin typeface="微软雅黑" pitchFamily="34" charset="-122"/>
                <a:ea typeface="微软雅黑" pitchFamily="34" charset="-122"/>
              </a:rPr>
              <a:t>隧道技术 </a:t>
            </a:r>
            <a:r>
              <a:rPr lang="en-US" altLang="zh-CN" sz="2000" b="1" dirty="0">
                <a:latin typeface="微软雅黑" pitchFamily="34" charset="-122"/>
                <a:ea typeface="微软雅黑" pitchFamily="34" charset="-122"/>
              </a:rPr>
              <a:t>(tunneling) </a:t>
            </a:r>
            <a:endParaRPr lang="zh-CN" altLang="en-US" sz="2000" b="1" dirty="0">
              <a:latin typeface="微软雅黑" pitchFamily="34" charset="-122"/>
              <a:ea typeface="微软雅黑" pitchFamily="34" charset="-122"/>
            </a:endParaRPr>
          </a:p>
        </p:txBody>
      </p:sp>
      <p:grpSp>
        <p:nvGrpSpPr>
          <p:cNvPr id="5" name="组合 4"/>
          <p:cNvGrpSpPr/>
          <p:nvPr/>
        </p:nvGrpSpPr>
        <p:grpSpPr>
          <a:xfrm>
            <a:off x="1787573" y="2773022"/>
            <a:ext cx="5476767" cy="1305807"/>
            <a:chOff x="257860" y="4685074"/>
            <a:chExt cx="8762175" cy="2089136"/>
          </a:xfrm>
        </p:grpSpPr>
        <p:sp>
          <p:nvSpPr>
            <p:cNvPr id="6" name="AutoShape 60"/>
            <p:cNvSpPr>
              <a:spLocks noChangeArrowheads="1"/>
            </p:cNvSpPr>
            <p:nvPr/>
          </p:nvSpPr>
          <p:spPr bwMode="auto">
            <a:xfrm>
              <a:off x="257860" y="5937344"/>
              <a:ext cx="624284" cy="215900"/>
            </a:xfrm>
            <a:prstGeom prst="leftArrow">
              <a:avLst>
                <a:gd name="adj1" fmla="val 50000"/>
                <a:gd name="adj2" fmla="val 66728"/>
              </a:avLst>
            </a:prstGeom>
            <a:solidFill>
              <a:srgbClr val="FFFF00"/>
            </a:solidFill>
            <a:ln w="9525">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 name="Line 7"/>
            <p:cNvSpPr>
              <a:spLocks noChangeShapeType="1"/>
            </p:cNvSpPr>
            <p:nvPr/>
          </p:nvSpPr>
          <p:spPr bwMode="auto">
            <a:xfrm>
              <a:off x="1858985" y="4910499"/>
              <a:ext cx="3398308"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 name="Line 8"/>
            <p:cNvSpPr>
              <a:spLocks noChangeShapeType="1"/>
            </p:cNvSpPr>
            <p:nvPr/>
          </p:nvSpPr>
          <p:spPr bwMode="auto">
            <a:xfrm>
              <a:off x="765198" y="6558057"/>
              <a:ext cx="4412985"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9" name="Rectangle 13"/>
            <p:cNvSpPr>
              <a:spLocks noChangeArrowheads="1"/>
            </p:cNvSpPr>
            <p:nvPr/>
          </p:nvSpPr>
          <p:spPr bwMode="auto">
            <a:xfrm>
              <a:off x="2574419" y="4752669"/>
              <a:ext cx="1828139" cy="307976"/>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 name="Rectangle 14"/>
            <p:cNvSpPr>
              <a:spLocks noChangeArrowheads="1"/>
            </p:cNvSpPr>
            <p:nvPr/>
          </p:nvSpPr>
          <p:spPr bwMode="auto">
            <a:xfrm>
              <a:off x="2037843" y="6406564"/>
              <a:ext cx="2166938" cy="292127"/>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 name="Text Box 15"/>
            <p:cNvSpPr txBox="1">
              <a:spLocks noChangeArrowheads="1"/>
            </p:cNvSpPr>
            <p:nvPr/>
          </p:nvSpPr>
          <p:spPr bwMode="auto">
            <a:xfrm>
              <a:off x="2725261" y="4685074"/>
              <a:ext cx="1526458" cy="4431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FF"/>
                  </a:solidFill>
                  <a:latin typeface="微软雅黑" pitchFamily="34" charset="-122"/>
                  <a:ea typeface="微软雅黑" pitchFamily="34" charset="-122"/>
                </a:rPr>
                <a:t>多播数据报</a:t>
              </a:r>
            </a:p>
          </p:txBody>
        </p:sp>
        <p:sp>
          <p:nvSpPr>
            <p:cNvPr id="12" name="Text Box 16"/>
            <p:cNvSpPr txBox="1">
              <a:spLocks noChangeArrowheads="1"/>
            </p:cNvSpPr>
            <p:nvPr/>
          </p:nvSpPr>
          <p:spPr bwMode="auto">
            <a:xfrm>
              <a:off x="2161890" y="6331045"/>
              <a:ext cx="1918844" cy="4431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FF"/>
                  </a:solidFill>
                  <a:latin typeface="微软雅黑" pitchFamily="34" charset="-122"/>
                  <a:ea typeface="微软雅黑" pitchFamily="34" charset="-122"/>
                </a:rPr>
                <a:t>单播 </a:t>
              </a:r>
              <a:r>
                <a:rPr kumimoji="1" lang="en-US" altLang="zh-CN" sz="1200" b="1" dirty="0">
                  <a:solidFill>
                    <a:srgbClr val="0000FF"/>
                  </a:solidFill>
                  <a:latin typeface="微软雅黑" pitchFamily="34" charset="-122"/>
                  <a:ea typeface="微软雅黑" pitchFamily="34" charset="-122"/>
                </a:rPr>
                <a:t>IP </a:t>
              </a:r>
              <a:r>
                <a:rPr kumimoji="1" lang="zh-CN" altLang="en-US" sz="1200" b="1" dirty="0">
                  <a:solidFill>
                    <a:srgbClr val="0000FF"/>
                  </a:solidFill>
                  <a:latin typeface="微软雅黑" pitchFamily="34" charset="-122"/>
                  <a:ea typeface="微软雅黑" pitchFamily="34" charset="-122"/>
                </a:rPr>
                <a:t>数据报</a:t>
              </a:r>
            </a:p>
          </p:txBody>
        </p:sp>
        <p:sp>
          <p:nvSpPr>
            <p:cNvPr id="13" name="Rectangle 17"/>
            <p:cNvSpPr>
              <a:spLocks noChangeArrowheads="1"/>
            </p:cNvSpPr>
            <p:nvPr/>
          </p:nvSpPr>
          <p:spPr bwMode="auto">
            <a:xfrm>
              <a:off x="1858985" y="5119594"/>
              <a:ext cx="3338116" cy="414000"/>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4" name="Text Box 18"/>
            <p:cNvSpPr txBox="1">
              <a:spLocks noChangeArrowheads="1"/>
            </p:cNvSpPr>
            <p:nvPr/>
          </p:nvSpPr>
          <p:spPr bwMode="auto">
            <a:xfrm>
              <a:off x="2022366" y="5091831"/>
              <a:ext cx="787850" cy="4431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首部</a:t>
              </a:r>
            </a:p>
          </p:txBody>
        </p:sp>
        <p:sp>
          <p:nvSpPr>
            <p:cNvPr id="15" name="Text Box 19"/>
            <p:cNvSpPr txBox="1">
              <a:spLocks noChangeArrowheads="1"/>
            </p:cNvSpPr>
            <p:nvPr/>
          </p:nvSpPr>
          <p:spPr bwMode="auto">
            <a:xfrm>
              <a:off x="3571898" y="5109294"/>
              <a:ext cx="936598" cy="4431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数  据</a:t>
              </a:r>
            </a:p>
          </p:txBody>
        </p:sp>
        <p:sp>
          <p:nvSpPr>
            <p:cNvPr id="16" name="Line 20"/>
            <p:cNvSpPr>
              <a:spLocks noChangeShapeType="1"/>
            </p:cNvSpPr>
            <p:nvPr/>
          </p:nvSpPr>
          <p:spPr bwMode="auto">
            <a:xfrm>
              <a:off x="2932135" y="5119593"/>
              <a:ext cx="0" cy="41400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7" name="Rectangle 21"/>
            <p:cNvSpPr>
              <a:spLocks noChangeArrowheads="1"/>
            </p:cNvSpPr>
            <p:nvPr/>
          </p:nvSpPr>
          <p:spPr bwMode="auto">
            <a:xfrm>
              <a:off x="785835" y="5827806"/>
              <a:ext cx="4411266" cy="414000"/>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8" name="Rectangle 22"/>
            <p:cNvSpPr>
              <a:spLocks noChangeArrowheads="1"/>
            </p:cNvSpPr>
            <p:nvPr/>
          </p:nvSpPr>
          <p:spPr bwMode="auto">
            <a:xfrm>
              <a:off x="800188" y="5839804"/>
              <a:ext cx="1057078" cy="388800"/>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9" name="Rectangle 23"/>
            <p:cNvSpPr>
              <a:spLocks noChangeArrowheads="1"/>
            </p:cNvSpPr>
            <p:nvPr/>
          </p:nvSpPr>
          <p:spPr bwMode="auto">
            <a:xfrm>
              <a:off x="1857266" y="5848444"/>
              <a:ext cx="3339835" cy="385200"/>
            </a:xfrm>
            <a:prstGeom prst="rect">
              <a:avLst/>
            </a:prstGeom>
            <a:solidFill>
              <a:srgbClr val="00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20" name="Line 24"/>
            <p:cNvSpPr>
              <a:spLocks noChangeShapeType="1"/>
            </p:cNvSpPr>
            <p:nvPr/>
          </p:nvSpPr>
          <p:spPr bwMode="auto">
            <a:xfrm>
              <a:off x="1858985" y="5827807"/>
              <a:ext cx="0" cy="413999"/>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21" name="Text Box 25"/>
            <p:cNvSpPr txBox="1">
              <a:spLocks noChangeArrowheads="1"/>
            </p:cNvSpPr>
            <p:nvPr/>
          </p:nvSpPr>
          <p:spPr bwMode="auto">
            <a:xfrm>
              <a:off x="939232" y="5812155"/>
              <a:ext cx="787850" cy="44316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chemeClr val="bg1"/>
                  </a:solidFill>
                  <a:latin typeface="微软雅黑" pitchFamily="34" charset="-122"/>
                  <a:ea typeface="微软雅黑" pitchFamily="34" charset="-122"/>
                </a:rPr>
                <a:t>首部</a:t>
              </a:r>
            </a:p>
          </p:txBody>
        </p:sp>
        <p:sp>
          <p:nvSpPr>
            <p:cNvPr id="22" name="Text Box 26"/>
            <p:cNvSpPr txBox="1">
              <a:spLocks noChangeArrowheads="1"/>
            </p:cNvSpPr>
            <p:nvPr/>
          </p:nvSpPr>
          <p:spPr bwMode="auto">
            <a:xfrm>
              <a:off x="2878822" y="5825445"/>
              <a:ext cx="1234092" cy="44316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数      据</a:t>
              </a:r>
            </a:p>
          </p:txBody>
        </p:sp>
        <p:sp>
          <p:nvSpPr>
            <p:cNvPr id="23" name="AutoShape 27"/>
            <p:cNvSpPr>
              <a:spLocks noChangeArrowheads="1"/>
            </p:cNvSpPr>
            <p:nvPr/>
          </p:nvSpPr>
          <p:spPr bwMode="auto">
            <a:xfrm>
              <a:off x="3350047" y="5517232"/>
              <a:ext cx="221852" cy="487804"/>
            </a:xfrm>
            <a:prstGeom prst="downArrow">
              <a:avLst>
                <a:gd name="adj1" fmla="val 50000"/>
                <a:gd name="adj2" fmla="val 66667"/>
              </a:avLst>
            </a:prstGeom>
            <a:solidFill>
              <a:srgbClr val="FF99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200" b="1">
                <a:solidFill>
                  <a:srgbClr val="000099"/>
                </a:solidFill>
                <a:latin typeface="微软雅黑" pitchFamily="34" charset="-122"/>
                <a:ea typeface="微软雅黑" pitchFamily="34" charset="-122"/>
              </a:endParaRPr>
            </a:p>
          </p:txBody>
        </p:sp>
        <p:sp>
          <p:nvSpPr>
            <p:cNvPr id="24" name="Line 28"/>
            <p:cNvSpPr>
              <a:spLocks noChangeShapeType="1"/>
            </p:cNvSpPr>
            <p:nvPr/>
          </p:nvSpPr>
          <p:spPr bwMode="auto">
            <a:xfrm>
              <a:off x="1858985" y="5517232"/>
              <a:ext cx="0" cy="485775"/>
            </a:xfrm>
            <a:prstGeom prst="line">
              <a:avLst/>
            </a:prstGeom>
            <a:noFill/>
            <a:ln w="19050">
              <a:solidFill>
                <a:srgbClr val="0000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25" name="Line 29"/>
            <p:cNvSpPr>
              <a:spLocks noChangeShapeType="1"/>
            </p:cNvSpPr>
            <p:nvPr/>
          </p:nvSpPr>
          <p:spPr bwMode="auto">
            <a:xfrm>
              <a:off x="5197101" y="5517232"/>
              <a:ext cx="0" cy="485775"/>
            </a:xfrm>
            <a:prstGeom prst="line">
              <a:avLst/>
            </a:prstGeom>
            <a:noFill/>
            <a:ln w="19050">
              <a:solidFill>
                <a:srgbClr val="0000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26" name="Text Box 31"/>
            <p:cNvSpPr txBox="1">
              <a:spLocks noChangeArrowheads="1"/>
            </p:cNvSpPr>
            <p:nvPr/>
          </p:nvSpPr>
          <p:spPr bwMode="auto">
            <a:xfrm>
              <a:off x="5246975" y="5117122"/>
              <a:ext cx="3773060" cy="4431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FF"/>
                  </a:solidFill>
                  <a:latin typeface="微软雅黑" pitchFamily="34" charset="-122"/>
                  <a:ea typeface="微软雅黑" pitchFamily="34" charset="-122"/>
                </a:rPr>
                <a:t>网 </a:t>
              </a:r>
              <a:r>
                <a:rPr kumimoji="1" lang="en-US" altLang="zh-CN" sz="1200" b="1" dirty="0">
                  <a:solidFill>
                    <a:srgbClr val="0000FF"/>
                  </a:solidFill>
                  <a:latin typeface="微软雅黑" pitchFamily="34" charset="-122"/>
                  <a:ea typeface="微软雅黑" pitchFamily="34" charset="-122"/>
                </a:rPr>
                <a:t>N</a:t>
              </a:r>
              <a:r>
                <a:rPr kumimoji="1" lang="en-US" altLang="zh-CN" sz="1200" b="1" baseline="-25000" dirty="0">
                  <a:solidFill>
                    <a:srgbClr val="0000FF"/>
                  </a:solidFill>
                  <a:latin typeface="微软雅黑" pitchFamily="34" charset="-122"/>
                  <a:ea typeface="微软雅黑" pitchFamily="34" charset="-122"/>
                </a:rPr>
                <a:t>1</a:t>
              </a:r>
              <a:r>
                <a:rPr kumimoji="1" lang="en-US" altLang="zh-CN" sz="1200" b="1" dirty="0">
                  <a:solidFill>
                    <a:srgbClr val="0000FF"/>
                  </a:solidFill>
                  <a:latin typeface="微软雅黑" pitchFamily="34" charset="-122"/>
                  <a:ea typeface="微软雅黑" pitchFamily="34" charset="-122"/>
                </a:rPr>
                <a:t> </a:t>
              </a:r>
              <a:r>
                <a:rPr kumimoji="1" lang="zh-CN" altLang="en-US" sz="1200" b="1" dirty="0">
                  <a:solidFill>
                    <a:srgbClr val="0000FF"/>
                  </a:solidFill>
                  <a:latin typeface="微软雅黑" pitchFamily="34" charset="-122"/>
                  <a:ea typeface="微软雅黑" pitchFamily="34" charset="-122"/>
                </a:rPr>
                <a:t>和网 </a:t>
              </a:r>
              <a:r>
                <a:rPr kumimoji="1" lang="en-US" altLang="zh-CN" sz="1200" b="1" dirty="0">
                  <a:solidFill>
                    <a:srgbClr val="0000FF"/>
                  </a:solidFill>
                  <a:latin typeface="微软雅黑" pitchFamily="34" charset="-122"/>
                  <a:ea typeface="微软雅黑" pitchFamily="34" charset="-122"/>
                </a:rPr>
                <a:t>N</a:t>
              </a:r>
              <a:r>
                <a:rPr kumimoji="1" lang="en-US" altLang="zh-CN" sz="1200" b="1" baseline="-25000" dirty="0">
                  <a:solidFill>
                    <a:srgbClr val="0000FF"/>
                  </a:solidFill>
                  <a:latin typeface="微软雅黑" pitchFamily="34" charset="-122"/>
                  <a:ea typeface="微软雅黑" pitchFamily="34" charset="-122"/>
                </a:rPr>
                <a:t>2</a:t>
              </a:r>
              <a:r>
                <a:rPr kumimoji="1" lang="en-US" altLang="zh-CN" sz="1200" b="1" dirty="0">
                  <a:solidFill>
                    <a:srgbClr val="0000FF"/>
                  </a:solidFill>
                  <a:latin typeface="微软雅黑" pitchFamily="34" charset="-122"/>
                  <a:ea typeface="微软雅黑" pitchFamily="34" charset="-122"/>
                </a:rPr>
                <a:t> </a:t>
              </a:r>
              <a:r>
                <a:rPr kumimoji="1" lang="zh-CN" altLang="en-US" sz="1200" b="1" dirty="0">
                  <a:solidFill>
                    <a:srgbClr val="0000FF"/>
                  </a:solidFill>
                  <a:latin typeface="微软雅黑" pitchFamily="34" charset="-122"/>
                  <a:ea typeface="微软雅黑" pitchFamily="34" charset="-122"/>
                </a:rPr>
                <a:t>中的多播数据报</a:t>
              </a:r>
            </a:p>
          </p:txBody>
        </p:sp>
        <p:sp>
          <p:nvSpPr>
            <p:cNvPr id="27" name="Text Box 32"/>
            <p:cNvSpPr txBox="1">
              <a:spLocks noChangeArrowheads="1"/>
            </p:cNvSpPr>
            <p:nvPr/>
          </p:nvSpPr>
          <p:spPr bwMode="auto">
            <a:xfrm>
              <a:off x="5246975" y="5805264"/>
              <a:ext cx="3396063" cy="4431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FF"/>
                  </a:solidFill>
                  <a:latin typeface="微软雅黑" pitchFamily="34" charset="-122"/>
                  <a:ea typeface="微软雅黑" pitchFamily="34" charset="-122"/>
                </a:rPr>
                <a:t>隧道中通行的单播 </a:t>
              </a:r>
              <a:r>
                <a:rPr kumimoji="1" lang="en-US" altLang="zh-CN" sz="1200" b="1" dirty="0">
                  <a:solidFill>
                    <a:srgbClr val="0000FF"/>
                  </a:solidFill>
                  <a:latin typeface="微软雅黑" pitchFamily="34" charset="-122"/>
                  <a:ea typeface="微软雅黑" pitchFamily="34" charset="-122"/>
                </a:rPr>
                <a:t>IP </a:t>
              </a:r>
              <a:r>
                <a:rPr kumimoji="1" lang="zh-CN" altLang="en-US" sz="1200" b="1" dirty="0">
                  <a:solidFill>
                    <a:srgbClr val="0000FF"/>
                  </a:solidFill>
                  <a:latin typeface="微软雅黑" pitchFamily="34" charset="-122"/>
                  <a:ea typeface="微软雅黑" pitchFamily="34" charset="-122"/>
                </a:rPr>
                <a:t>数据报</a:t>
              </a:r>
            </a:p>
          </p:txBody>
        </p:sp>
      </p:grpSp>
      <p:graphicFrame>
        <p:nvGraphicFramePr>
          <p:cNvPr id="29" name="Object 4"/>
          <p:cNvGraphicFramePr>
            <a:graphicFrameLocks noChangeAspect="1"/>
          </p:cNvGraphicFramePr>
          <p:nvPr>
            <p:extLst>
              <p:ext uri="{D42A27DB-BD31-4B8C-83A1-F6EECF244321}">
                <p14:modId xmlns:p14="http://schemas.microsoft.com/office/powerpoint/2010/main" val="3785672616"/>
              </p:ext>
            </p:extLst>
          </p:nvPr>
        </p:nvGraphicFramePr>
        <p:xfrm>
          <a:off x="3145044" y="1508506"/>
          <a:ext cx="3131329" cy="1338016"/>
        </p:xfrm>
        <a:graphic>
          <a:graphicData uri="http://schemas.openxmlformats.org/presentationml/2006/ole">
            <mc:AlternateContent xmlns:mc="http://schemas.openxmlformats.org/markup-compatibility/2006">
              <mc:Choice xmlns:v="urn:schemas-microsoft-com:vml" Requires="v">
                <p:oleObj name="VISIO" r:id="rId2" imgW="1687068" imgH="964692" progId="">
                  <p:embed/>
                </p:oleObj>
              </mc:Choice>
              <mc:Fallback>
                <p:oleObj name="VISIO" r:id="rId2" imgW="1687068" imgH="964692" progId="">
                  <p:embed/>
                  <p:pic>
                    <p:nvPicPr>
                      <p:cNvPr id="0" name="Picture 24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45044" y="1508506"/>
                        <a:ext cx="3131329" cy="133801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0" name="Line 5"/>
          <p:cNvSpPr>
            <a:spLocks noChangeShapeType="1"/>
          </p:cNvSpPr>
          <p:nvPr/>
        </p:nvSpPr>
        <p:spPr bwMode="auto">
          <a:xfrm>
            <a:off x="6649381" y="1508505"/>
            <a:ext cx="0" cy="73030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pic>
        <p:nvPicPr>
          <p:cNvPr id="31" name="Picture 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350545" y="2177289"/>
            <a:ext cx="670769" cy="3651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2" name="Line 9"/>
          <p:cNvSpPr>
            <a:spLocks noChangeShapeType="1"/>
          </p:cNvSpPr>
          <p:nvPr/>
        </p:nvSpPr>
        <p:spPr bwMode="auto">
          <a:xfrm>
            <a:off x="2792239" y="1508506"/>
            <a:ext cx="0" cy="79083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33" name="Text Box 10"/>
          <p:cNvSpPr txBox="1">
            <a:spLocks noChangeArrowheads="1"/>
          </p:cNvSpPr>
          <p:nvPr/>
        </p:nvSpPr>
        <p:spPr bwMode="auto">
          <a:xfrm>
            <a:off x="4187498" y="1704632"/>
            <a:ext cx="954107" cy="46166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C00000"/>
                </a:solidFill>
                <a:latin typeface="微软雅黑" pitchFamily="34" charset="-122"/>
                <a:ea typeface="微软雅黑" pitchFamily="34" charset="-122"/>
              </a:rPr>
              <a:t>不支持多播</a:t>
            </a:r>
          </a:p>
          <a:p>
            <a:r>
              <a:rPr kumimoji="1" lang="zh-CN" altLang="en-US" sz="1200" b="1" dirty="0">
                <a:solidFill>
                  <a:srgbClr val="C00000"/>
                </a:solidFill>
                <a:latin typeface="微软雅黑" pitchFamily="34" charset="-122"/>
                <a:ea typeface="微软雅黑" pitchFamily="34" charset="-122"/>
              </a:rPr>
              <a:t>   的网络</a:t>
            </a:r>
          </a:p>
        </p:txBody>
      </p:sp>
      <p:sp>
        <p:nvSpPr>
          <p:cNvPr id="35" name="AutoShape 30"/>
          <p:cNvSpPr>
            <a:spLocks noChangeArrowheads="1"/>
          </p:cNvSpPr>
          <p:nvPr/>
        </p:nvSpPr>
        <p:spPr bwMode="auto">
          <a:xfrm rot="16200000">
            <a:off x="4578435" y="766333"/>
            <a:ext cx="264547" cy="3131329"/>
          </a:xfrm>
          <a:prstGeom prst="can">
            <a:avLst>
              <a:gd name="adj" fmla="val 58855"/>
            </a:avLst>
          </a:prstGeom>
          <a:gradFill rotWithShape="1">
            <a:gsLst>
              <a:gs pos="0">
                <a:srgbClr val="00B050"/>
              </a:gs>
              <a:gs pos="50000">
                <a:schemeClr val="bg1"/>
              </a:gs>
              <a:gs pos="100000">
                <a:srgbClr val="00B050"/>
              </a:gs>
            </a:gsLst>
            <a:lin ang="0" scaled="1"/>
          </a:gradFill>
          <a:ln w="12700">
            <a:solidFill>
              <a:schemeClr val="tx1"/>
            </a:solidFill>
            <a:round/>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36" name="AutoShape 2"/>
          <p:cNvSpPr>
            <a:spLocks noChangeArrowheads="1"/>
          </p:cNvSpPr>
          <p:nvPr/>
        </p:nvSpPr>
        <p:spPr bwMode="auto">
          <a:xfrm>
            <a:off x="6214085" y="2694816"/>
            <a:ext cx="662711" cy="288113"/>
          </a:xfrm>
          <a:prstGeom prst="wedgeRoundRectCallout">
            <a:avLst>
              <a:gd name="adj1" fmla="val -75263"/>
              <a:gd name="adj2" fmla="val -156036"/>
              <a:gd name="adj3" fmla="val 16667"/>
            </a:avLst>
          </a:prstGeom>
          <a:solidFill>
            <a:srgbClr val="00FF99"/>
          </a:solidFill>
          <a:ln w="12700">
            <a:solidFill>
              <a:schemeClr val="tx1"/>
            </a:solidFill>
            <a:miter lim="800000"/>
            <a:headEnd/>
            <a:tailEnd/>
          </a:ln>
          <a:effectLst/>
        </p:spPr>
        <p:txBody>
          <a:bodyPr wrap="none" anchor="ctr"/>
          <a:lstStyle/>
          <a:p>
            <a:pPr algn="ctr"/>
            <a:r>
              <a:rPr kumimoji="1" lang="zh-CN" altLang="en-US" sz="1200" b="1" dirty="0">
                <a:latin typeface="微软雅黑" pitchFamily="34" charset="-122"/>
                <a:ea typeface="微软雅黑" pitchFamily="34" charset="-122"/>
              </a:rPr>
              <a:t>隧 道</a:t>
            </a:r>
            <a:endParaRPr kumimoji="1" lang="zh-CN" altLang="zh-CN" sz="1200" b="1" dirty="0">
              <a:latin typeface="微软雅黑" pitchFamily="34" charset="-122"/>
              <a:ea typeface="微软雅黑" pitchFamily="34" charset="-122"/>
            </a:endParaRPr>
          </a:p>
        </p:txBody>
      </p:sp>
      <p:pic>
        <p:nvPicPr>
          <p:cNvPr id="37" name="Picture 3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400105" y="2177289"/>
            <a:ext cx="670769" cy="3651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8" name="Text Box 54"/>
          <p:cNvSpPr txBox="1">
            <a:spLocks noChangeArrowheads="1"/>
          </p:cNvSpPr>
          <p:nvPr/>
        </p:nvSpPr>
        <p:spPr bwMode="auto">
          <a:xfrm>
            <a:off x="6713879" y="1911161"/>
            <a:ext cx="3545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R</a:t>
            </a:r>
            <a:r>
              <a:rPr kumimoji="1" lang="en-US" altLang="zh-CN" sz="1200" b="1" baseline="-25000" dirty="0">
                <a:solidFill>
                  <a:srgbClr val="0000FF"/>
                </a:solidFill>
                <a:latin typeface="微软雅黑" pitchFamily="34" charset="-122"/>
                <a:ea typeface="微软雅黑" pitchFamily="34" charset="-122"/>
              </a:rPr>
              <a:t>2</a:t>
            </a:r>
            <a:endParaRPr kumimoji="1" lang="en-US" altLang="zh-CN" sz="1200" b="1" dirty="0">
              <a:solidFill>
                <a:srgbClr val="0000FF"/>
              </a:solidFill>
              <a:latin typeface="微软雅黑" pitchFamily="34" charset="-122"/>
              <a:ea typeface="微软雅黑" pitchFamily="34" charset="-122"/>
            </a:endParaRPr>
          </a:p>
        </p:txBody>
      </p:sp>
      <p:sp>
        <p:nvSpPr>
          <p:cNvPr id="39" name="Text Box 55"/>
          <p:cNvSpPr txBox="1">
            <a:spLocks noChangeArrowheads="1"/>
          </p:cNvSpPr>
          <p:nvPr/>
        </p:nvSpPr>
        <p:spPr bwMode="auto">
          <a:xfrm>
            <a:off x="2421396" y="1903921"/>
            <a:ext cx="3545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R</a:t>
            </a:r>
            <a:r>
              <a:rPr kumimoji="1" lang="en-US" altLang="zh-CN" sz="1200" b="1" baseline="-25000" dirty="0">
                <a:solidFill>
                  <a:srgbClr val="0000FF"/>
                </a:solidFill>
                <a:latin typeface="微软雅黑" pitchFamily="34" charset="-122"/>
                <a:ea typeface="微软雅黑" pitchFamily="34" charset="-122"/>
              </a:rPr>
              <a:t>1</a:t>
            </a:r>
            <a:endParaRPr kumimoji="1" lang="en-US" altLang="zh-CN" sz="1200" b="1" dirty="0">
              <a:solidFill>
                <a:srgbClr val="0000FF"/>
              </a:solidFill>
              <a:latin typeface="微软雅黑" pitchFamily="34" charset="-122"/>
              <a:ea typeface="微软雅黑" pitchFamily="34" charset="-122"/>
            </a:endParaRPr>
          </a:p>
        </p:txBody>
      </p:sp>
      <p:sp>
        <p:nvSpPr>
          <p:cNvPr id="41" name="Freeform 58"/>
          <p:cNvSpPr>
            <a:spLocks/>
          </p:cNvSpPr>
          <p:nvPr/>
        </p:nvSpPr>
        <p:spPr bwMode="auto">
          <a:xfrm>
            <a:off x="2878458" y="1732757"/>
            <a:ext cx="3661279" cy="600318"/>
          </a:xfrm>
          <a:custGeom>
            <a:avLst/>
            <a:gdLst>
              <a:gd name="T0" fmla="*/ 22 w 2358"/>
              <a:gd name="T1" fmla="*/ 42 h 492"/>
              <a:gd name="T2" fmla="*/ 52 w 2358"/>
              <a:gd name="T3" fmla="*/ 402 h 492"/>
              <a:gd name="T4" fmla="*/ 331 w 2358"/>
              <a:gd name="T5" fmla="*/ 492 h 492"/>
              <a:gd name="T6" fmla="*/ 2026 w 2358"/>
              <a:gd name="T7" fmla="*/ 492 h 492"/>
              <a:gd name="T8" fmla="*/ 2326 w 2358"/>
              <a:gd name="T9" fmla="*/ 366 h 492"/>
              <a:gd name="T10" fmla="*/ 2356 w 2358"/>
              <a:gd name="T11" fmla="*/ 0 h 492"/>
            </a:gdLst>
            <a:ahLst/>
            <a:cxnLst>
              <a:cxn ang="0">
                <a:pos x="T0" y="T1"/>
              </a:cxn>
              <a:cxn ang="0">
                <a:pos x="T2" y="T3"/>
              </a:cxn>
              <a:cxn ang="0">
                <a:pos x="T4" y="T5"/>
              </a:cxn>
              <a:cxn ang="0">
                <a:pos x="T6" y="T7"/>
              </a:cxn>
              <a:cxn ang="0">
                <a:pos x="T8" y="T9"/>
              </a:cxn>
              <a:cxn ang="0">
                <a:pos x="T10" y="T11"/>
              </a:cxn>
            </a:cxnLst>
            <a:rect l="0" t="0" r="r" b="b"/>
            <a:pathLst>
              <a:path w="2358" h="492">
                <a:moveTo>
                  <a:pt x="22" y="42"/>
                </a:moveTo>
                <a:cubicBezTo>
                  <a:pt x="27" y="103"/>
                  <a:pt x="0" y="327"/>
                  <a:pt x="52" y="402"/>
                </a:cubicBezTo>
                <a:cubicBezTo>
                  <a:pt x="105" y="469"/>
                  <a:pt x="17" y="487"/>
                  <a:pt x="331" y="492"/>
                </a:cubicBezTo>
                <a:lnTo>
                  <a:pt x="2026" y="492"/>
                </a:lnTo>
                <a:cubicBezTo>
                  <a:pt x="2358" y="471"/>
                  <a:pt x="2271" y="448"/>
                  <a:pt x="2326" y="366"/>
                </a:cubicBezTo>
                <a:cubicBezTo>
                  <a:pt x="2358" y="284"/>
                  <a:pt x="2349" y="79"/>
                  <a:pt x="2356" y="0"/>
                </a:cubicBezTo>
              </a:path>
            </a:pathLst>
          </a:custGeom>
          <a:noFill/>
          <a:ln w="57150" cap="flat" cmpd="sng">
            <a:solidFill>
              <a:srgbClr val="CC00CC"/>
            </a:solidFill>
            <a:prstDash val="solid"/>
            <a:round/>
            <a:headEn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45" name="矩形 44"/>
          <p:cNvSpPr/>
          <p:nvPr/>
        </p:nvSpPr>
        <p:spPr>
          <a:xfrm>
            <a:off x="3182473" y="4216620"/>
            <a:ext cx="2927903" cy="307777"/>
          </a:xfrm>
          <a:prstGeom prst="rect">
            <a:avLst/>
          </a:prstGeom>
        </p:spPr>
        <p:txBody>
          <a:bodyPr wrap="square">
            <a:spAutoFit/>
          </a:bodyPr>
          <a:lstStyle/>
          <a:p>
            <a:pPr algn="ctr"/>
            <a:r>
              <a:rPr lang="zh-CN" altLang="zh-CN" sz="1400" b="1" dirty="0">
                <a:latin typeface="微软雅黑" pitchFamily="34" charset="-122"/>
                <a:ea typeface="微软雅黑" pitchFamily="34" charset="-122"/>
              </a:rPr>
              <a:t>隧道技术在多播中的应用</a:t>
            </a:r>
            <a:endParaRPr lang="zh-CN" altLang="en-US" sz="1400" b="1" dirty="0">
              <a:latin typeface="微软雅黑" pitchFamily="34" charset="-122"/>
              <a:ea typeface="微软雅黑" pitchFamily="34" charset="-122"/>
            </a:endParaRPr>
          </a:p>
        </p:txBody>
      </p:sp>
      <p:grpSp>
        <p:nvGrpSpPr>
          <p:cNvPr id="47" name="Group 37"/>
          <p:cNvGrpSpPr>
            <a:grpSpLocks/>
          </p:cNvGrpSpPr>
          <p:nvPr/>
        </p:nvGrpSpPr>
        <p:grpSpPr bwMode="auto">
          <a:xfrm>
            <a:off x="2072913" y="1093708"/>
            <a:ext cx="1438651" cy="628810"/>
            <a:chOff x="912" y="768"/>
            <a:chExt cx="2400" cy="1584"/>
          </a:xfrm>
          <a:solidFill>
            <a:srgbClr val="3399FF"/>
          </a:solidFill>
          <a:effectLst/>
        </p:grpSpPr>
        <p:sp>
          <p:nvSpPr>
            <p:cNvPr id="48" name="Oval 38"/>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49" name="Oval 39"/>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0" name="Oval 40"/>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1" name="Oval 41"/>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2" name="Oval 42"/>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3" name="Oval 43"/>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4" name="Oval 44"/>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5" name="Oval 45"/>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6" name="Oval 46"/>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grpSp>
          <p:nvGrpSpPr>
            <p:cNvPr id="57" name="Group 47"/>
            <p:cNvGrpSpPr>
              <a:grpSpLocks/>
            </p:cNvGrpSpPr>
            <p:nvPr/>
          </p:nvGrpSpPr>
          <p:grpSpPr bwMode="auto">
            <a:xfrm>
              <a:off x="912" y="768"/>
              <a:ext cx="2386" cy="1553"/>
              <a:chOff x="912" y="768"/>
              <a:chExt cx="2386" cy="1553"/>
            </a:xfrm>
            <a:grpFill/>
          </p:grpSpPr>
          <p:sp>
            <p:nvSpPr>
              <p:cNvPr id="58" name="Oval 48"/>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9" name="Oval 49"/>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60" name="Oval 50"/>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61" name="Oval 51"/>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62" name="Oval 52"/>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63" name="Oval 53"/>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64" name="Oval 54"/>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65" name="Oval 55"/>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66" name="Oval 56"/>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grpSp>
      </p:grpSp>
      <p:sp>
        <p:nvSpPr>
          <p:cNvPr id="44" name="Text Box 56"/>
          <p:cNvSpPr txBox="1">
            <a:spLocks noChangeArrowheads="1"/>
          </p:cNvSpPr>
          <p:nvPr/>
        </p:nvSpPr>
        <p:spPr bwMode="auto">
          <a:xfrm>
            <a:off x="2258502" y="1157698"/>
            <a:ext cx="110799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66"/>
                </a:solidFill>
                <a:latin typeface="微软雅黑" pitchFamily="34" charset="-122"/>
                <a:ea typeface="微软雅黑" pitchFamily="34" charset="-122"/>
              </a:rPr>
              <a:t>网 </a:t>
            </a:r>
            <a:r>
              <a:rPr kumimoji="1" lang="en-US" altLang="zh-CN" sz="1200" b="1" dirty="0">
                <a:solidFill>
                  <a:srgbClr val="000066"/>
                </a:solidFill>
                <a:latin typeface="微软雅黑" pitchFamily="34" charset="-122"/>
                <a:ea typeface="微软雅黑" pitchFamily="34" charset="-122"/>
              </a:rPr>
              <a:t>N</a:t>
            </a:r>
            <a:r>
              <a:rPr kumimoji="1" lang="en-US" altLang="zh-CN" sz="1200" b="1" baseline="-25000" dirty="0">
                <a:solidFill>
                  <a:srgbClr val="000066"/>
                </a:solidFill>
                <a:latin typeface="微软雅黑" pitchFamily="34" charset="-122"/>
                <a:ea typeface="微软雅黑" pitchFamily="34" charset="-122"/>
              </a:rPr>
              <a:t>1</a:t>
            </a:r>
            <a:r>
              <a:rPr kumimoji="1" lang="en-US" altLang="zh-CN" sz="1200" b="1" dirty="0">
                <a:solidFill>
                  <a:srgbClr val="000066"/>
                </a:solidFill>
                <a:latin typeface="微软雅黑" pitchFamily="34" charset="-122"/>
                <a:ea typeface="微软雅黑" pitchFamily="34" charset="-122"/>
              </a:rPr>
              <a:t> </a:t>
            </a:r>
          </a:p>
          <a:p>
            <a:pPr algn="ctr"/>
            <a:r>
              <a:rPr kumimoji="1" lang="zh-CN" altLang="en-US" sz="1200" b="1" dirty="0">
                <a:solidFill>
                  <a:srgbClr val="000066"/>
                </a:solidFill>
                <a:latin typeface="微软雅黑" pitchFamily="34" charset="-122"/>
                <a:ea typeface="微软雅黑" pitchFamily="34" charset="-122"/>
              </a:rPr>
              <a:t>（支持多播）</a:t>
            </a:r>
          </a:p>
        </p:txBody>
      </p:sp>
      <p:grpSp>
        <p:nvGrpSpPr>
          <p:cNvPr id="67" name="Group 37"/>
          <p:cNvGrpSpPr>
            <a:grpSpLocks/>
          </p:cNvGrpSpPr>
          <p:nvPr/>
        </p:nvGrpSpPr>
        <p:grpSpPr bwMode="auto">
          <a:xfrm>
            <a:off x="5869108" y="1093708"/>
            <a:ext cx="1438651" cy="628810"/>
            <a:chOff x="912" y="768"/>
            <a:chExt cx="2400" cy="1584"/>
          </a:xfrm>
          <a:solidFill>
            <a:srgbClr val="3399FF"/>
          </a:solidFill>
          <a:effectLst/>
        </p:grpSpPr>
        <p:sp>
          <p:nvSpPr>
            <p:cNvPr id="68" name="Oval 38"/>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69" name="Oval 39"/>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0" name="Oval 40"/>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1" name="Oval 41"/>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2" name="Oval 42"/>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3" name="Oval 43"/>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4" name="Oval 44"/>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5" name="Oval 45"/>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6" name="Oval 46"/>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grpSp>
          <p:nvGrpSpPr>
            <p:cNvPr id="77" name="Group 47"/>
            <p:cNvGrpSpPr>
              <a:grpSpLocks/>
            </p:cNvGrpSpPr>
            <p:nvPr/>
          </p:nvGrpSpPr>
          <p:grpSpPr bwMode="auto">
            <a:xfrm>
              <a:off x="912" y="768"/>
              <a:ext cx="2386" cy="1553"/>
              <a:chOff x="912" y="768"/>
              <a:chExt cx="2386" cy="1553"/>
            </a:xfrm>
            <a:grpFill/>
          </p:grpSpPr>
          <p:sp>
            <p:nvSpPr>
              <p:cNvPr id="78" name="Oval 48"/>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9" name="Oval 49"/>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0" name="Oval 50"/>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1" name="Oval 51"/>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2" name="Oval 52"/>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3" name="Oval 53"/>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4" name="Oval 54"/>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5" name="Oval 55"/>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6" name="Oval 56"/>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grpSp>
      </p:grpSp>
      <p:sp>
        <p:nvSpPr>
          <p:cNvPr id="42" name="Text Box 59"/>
          <p:cNvSpPr txBox="1">
            <a:spLocks noChangeArrowheads="1"/>
          </p:cNvSpPr>
          <p:nvPr/>
        </p:nvSpPr>
        <p:spPr bwMode="auto">
          <a:xfrm>
            <a:off x="6091283" y="1157698"/>
            <a:ext cx="110799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66"/>
                </a:solidFill>
                <a:latin typeface="微软雅黑" pitchFamily="34" charset="-122"/>
                <a:ea typeface="微软雅黑" pitchFamily="34" charset="-122"/>
              </a:rPr>
              <a:t>网 </a:t>
            </a:r>
            <a:r>
              <a:rPr kumimoji="1" lang="en-US" altLang="zh-CN" sz="1200" b="1" dirty="0">
                <a:solidFill>
                  <a:srgbClr val="000066"/>
                </a:solidFill>
                <a:latin typeface="微软雅黑" pitchFamily="34" charset="-122"/>
                <a:ea typeface="微软雅黑" pitchFamily="34" charset="-122"/>
              </a:rPr>
              <a:t>N</a:t>
            </a:r>
            <a:r>
              <a:rPr kumimoji="1" lang="en-US" altLang="zh-CN" sz="1200" b="1" baseline="-25000" dirty="0">
                <a:solidFill>
                  <a:srgbClr val="000066"/>
                </a:solidFill>
                <a:latin typeface="微软雅黑" pitchFamily="34" charset="-122"/>
                <a:ea typeface="微软雅黑" pitchFamily="34" charset="-122"/>
              </a:rPr>
              <a:t>2</a:t>
            </a:r>
            <a:r>
              <a:rPr kumimoji="1" lang="en-US" altLang="zh-CN" sz="1200" b="1" dirty="0">
                <a:solidFill>
                  <a:srgbClr val="000066"/>
                </a:solidFill>
                <a:latin typeface="微软雅黑" pitchFamily="34" charset="-122"/>
                <a:ea typeface="微软雅黑" pitchFamily="34" charset="-122"/>
              </a:rPr>
              <a:t> </a:t>
            </a:r>
          </a:p>
          <a:p>
            <a:pPr algn="ctr"/>
            <a:r>
              <a:rPr kumimoji="1" lang="zh-CN" altLang="en-US" sz="1200" b="1" dirty="0">
                <a:solidFill>
                  <a:srgbClr val="000066"/>
                </a:solidFill>
                <a:latin typeface="微软雅黑" pitchFamily="34" charset="-122"/>
                <a:ea typeface="微软雅黑" pitchFamily="34" charset="-122"/>
              </a:rPr>
              <a:t>（支持多播）</a:t>
            </a:r>
          </a:p>
        </p:txBody>
      </p:sp>
      <p:sp>
        <p:nvSpPr>
          <p:cNvPr id="87" name="矩形 86"/>
          <p:cNvSpPr/>
          <p:nvPr/>
        </p:nvSpPr>
        <p:spPr>
          <a:xfrm>
            <a:off x="3505724" y="1099514"/>
            <a:ext cx="2385145" cy="523220"/>
          </a:xfrm>
          <a:prstGeom prst="rect">
            <a:avLst/>
          </a:prstGeom>
          <a:solidFill>
            <a:srgbClr val="00FF99"/>
          </a:solidFill>
          <a:ln w="9525">
            <a:solidFill>
              <a:schemeClr val="folHlink"/>
            </a:solidFill>
            <a:miter lim="800000"/>
            <a:headEnd/>
            <a:tailEnd/>
          </a:ln>
          <a:effectLst/>
        </p:spPr>
        <p:txBody>
          <a:bodyPr wrap="square">
            <a:spAutoFit/>
          </a:bodyPr>
          <a:lstStyle/>
          <a:p>
            <a:pPr algn="ctr"/>
            <a:r>
              <a:rPr kumimoji="1" lang="zh-CN" altLang="zh-CN" sz="1400" b="1" dirty="0">
                <a:latin typeface="微软雅黑" pitchFamily="34" charset="-122"/>
                <a:ea typeface="微软雅黑" pitchFamily="34" charset="-122"/>
              </a:rPr>
              <a:t>隧道技术适用于多播组的位置在地理上很分散的情况</a:t>
            </a:r>
            <a:r>
              <a:rPr kumimoji="1" lang="zh-CN" altLang="en-US" sz="1400" b="1" dirty="0">
                <a:latin typeface="微软雅黑" pitchFamily="34" charset="-122"/>
                <a:ea typeface="微软雅黑" pitchFamily="34" charset="-122"/>
              </a:rPr>
              <a:t>。</a:t>
            </a:r>
          </a:p>
        </p:txBody>
      </p:sp>
    </p:spTree>
    <p:extLst>
      <p:ext uri="{BB962C8B-B14F-4D97-AF65-F5344CB8AC3E}">
        <p14:creationId xmlns:p14="http://schemas.microsoft.com/office/powerpoint/2010/main" val="28438941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0841"/>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80179"/>
            <a:ext cx="3004349" cy="400110"/>
          </a:xfrm>
          <a:prstGeom prst="rect">
            <a:avLst/>
          </a:prstGeom>
        </p:spPr>
        <p:txBody>
          <a:bodyPr wrap="none">
            <a:spAutoFit/>
          </a:bodyPr>
          <a:lstStyle/>
          <a:p>
            <a:r>
              <a:rPr lang="en-US" altLang="zh-CN" sz="2000" b="1" dirty="0">
                <a:latin typeface="微软雅黑" pitchFamily="34" charset="-122"/>
                <a:ea typeface="微软雅黑" pitchFamily="34" charset="-122"/>
              </a:rPr>
              <a:t>(3) </a:t>
            </a:r>
            <a:r>
              <a:rPr lang="zh-CN" altLang="en-US" sz="2000" b="1" dirty="0">
                <a:latin typeface="微软雅黑" pitchFamily="34" charset="-122"/>
                <a:ea typeface="微软雅黑" pitchFamily="34" charset="-122"/>
              </a:rPr>
              <a:t>基于核心的发现技术 </a:t>
            </a:r>
          </a:p>
        </p:txBody>
      </p:sp>
      <p:sp>
        <p:nvSpPr>
          <p:cNvPr id="4" name="矩形 3"/>
          <p:cNvSpPr/>
          <p:nvPr/>
        </p:nvSpPr>
        <p:spPr>
          <a:xfrm>
            <a:off x="545144" y="934729"/>
            <a:ext cx="8028487" cy="2015936"/>
          </a:xfrm>
          <a:prstGeom prst="rect">
            <a:avLst/>
          </a:prstGeom>
        </p:spPr>
        <p:txBody>
          <a:bodyPr wrap="square">
            <a:spAutoFit/>
          </a:bodyPr>
          <a:lstStyle/>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对于多播组的大小在较大范围内变化时都适合。</a:t>
            </a:r>
          </a:p>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对每一个多播组 </a:t>
            </a:r>
            <a:r>
              <a:rPr lang="en-US" altLang="zh-CN" sz="2000" b="1" dirty="0">
                <a:latin typeface="微软雅黑" pitchFamily="34" charset="-122"/>
                <a:ea typeface="微软雅黑" pitchFamily="34" charset="-122"/>
              </a:rPr>
              <a:t>G </a:t>
            </a:r>
            <a:r>
              <a:rPr lang="zh-CN" altLang="en-US" sz="2000" b="1" dirty="0">
                <a:latin typeface="微软雅黑" pitchFamily="34" charset="-122"/>
                <a:ea typeface="微软雅黑" pitchFamily="34" charset="-122"/>
              </a:rPr>
              <a:t>指定一个</a:t>
            </a:r>
            <a:r>
              <a:rPr lang="zh-CN" altLang="en-US" sz="2000" b="1" dirty="0">
                <a:solidFill>
                  <a:srgbClr val="C00000"/>
                </a:solidFill>
                <a:latin typeface="微软雅黑" pitchFamily="34" charset="-122"/>
                <a:ea typeface="微软雅黑" pitchFamily="34" charset="-122"/>
              </a:rPr>
              <a:t>核心 </a:t>
            </a:r>
            <a:r>
              <a:rPr lang="en-US" altLang="zh-CN" sz="2000" b="1" dirty="0">
                <a:latin typeface="微软雅黑" pitchFamily="34" charset="-122"/>
                <a:ea typeface="微软雅黑" pitchFamily="34" charset="-122"/>
              </a:rPr>
              <a:t>(core) </a:t>
            </a:r>
            <a:r>
              <a:rPr lang="zh-CN" altLang="en-US" sz="2000" b="1" dirty="0">
                <a:latin typeface="微软雅黑" pitchFamily="34" charset="-122"/>
                <a:ea typeface="微软雅黑" pitchFamily="34" charset="-122"/>
              </a:rPr>
              <a:t>路由器，并给出它的 </a:t>
            </a:r>
            <a:r>
              <a:rPr lang="en-US" altLang="zh-CN" sz="2000" b="1" dirty="0">
                <a:solidFill>
                  <a:srgbClr val="C00000"/>
                </a:solidFill>
                <a:latin typeface="微软雅黑" pitchFamily="34" charset="-122"/>
                <a:ea typeface="微软雅黑" pitchFamily="34" charset="-122"/>
              </a:rPr>
              <a:t>IP </a:t>
            </a:r>
            <a:r>
              <a:rPr lang="zh-CN" altLang="en-US" sz="2000" b="1" dirty="0">
                <a:solidFill>
                  <a:srgbClr val="C00000"/>
                </a:solidFill>
                <a:latin typeface="微软雅黑" pitchFamily="34" charset="-122"/>
                <a:ea typeface="微软雅黑" pitchFamily="34" charset="-122"/>
              </a:rPr>
              <a:t>单播地址。</a:t>
            </a:r>
          </a:p>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核心路由器按照前面讲过的 </a:t>
            </a:r>
            <a:r>
              <a:rPr lang="en-US" altLang="zh-CN" sz="2000" b="1" dirty="0">
                <a:latin typeface="微软雅黑" pitchFamily="34" charset="-122"/>
                <a:ea typeface="微软雅黑" pitchFamily="34" charset="-122"/>
              </a:rPr>
              <a:t>2 </a:t>
            </a:r>
            <a:r>
              <a:rPr lang="zh-CN" altLang="en-US" sz="2000" b="1" dirty="0">
                <a:latin typeface="微软雅黑" pitchFamily="34" charset="-122"/>
                <a:ea typeface="微软雅黑" pitchFamily="34" charset="-122"/>
              </a:rPr>
              <a:t>种方法创建出对应于</a:t>
            </a:r>
            <a:r>
              <a:rPr lang="zh-CN" altLang="en-US" sz="2000" b="1" dirty="0">
                <a:solidFill>
                  <a:srgbClr val="C00000"/>
                </a:solidFill>
                <a:latin typeface="微软雅黑" pitchFamily="34" charset="-122"/>
                <a:ea typeface="微软雅黑" pitchFamily="34" charset="-122"/>
              </a:rPr>
              <a:t>多播组 </a:t>
            </a:r>
            <a:r>
              <a:rPr lang="en-US" altLang="zh-CN" sz="2000" b="1" dirty="0">
                <a:solidFill>
                  <a:srgbClr val="C00000"/>
                </a:solidFill>
                <a:latin typeface="微软雅黑" pitchFamily="34" charset="-122"/>
                <a:ea typeface="微软雅黑" pitchFamily="34" charset="-122"/>
              </a:rPr>
              <a:t>G </a:t>
            </a:r>
            <a:r>
              <a:rPr lang="zh-CN" altLang="en-US" sz="2000" b="1" dirty="0">
                <a:solidFill>
                  <a:srgbClr val="C00000"/>
                </a:solidFill>
                <a:latin typeface="微软雅黑" pitchFamily="34" charset="-122"/>
                <a:ea typeface="微软雅黑" pitchFamily="34" charset="-122"/>
              </a:rPr>
              <a:t>的转发树</a:t>
            </a:r>
            <a:r>
              <a:rPr lang="zh-CN" altLang="en-US" sz="2000" b="1" dirty="0">
                <a:solidFill>
                  <a:srgbClr val="0000FF"/>
                </a:solidFill>
                <a:latin typeface="微软雅黑" pitchFamily="34" charset="-122"/>
                <a:ea typeface="微软雅黑" pitchFamily="34" charset="-122"/>
              </a:rPr>
              <a:t>（核心路由器为根节点）。</a:t>
            </a:r>
            <a:endParaRPr lang="en-US" altLang="zh-CN" sz="2000" b="1" dirty="0">
              <a:solidFill>
                <a:srgbClr val="0000FF"/>
              </a:solidFill>
              <a:latin typeface="微软雅黑" pitchFamily="34" charset="-122"/>
              <a:ea typeface="微软雅黑" pitchFamily="34" charset="-122"/>
            </a:endParaRPr>
          </a:p>
        </p:txBody>
      </p:sp>
      <p:sp>
        <p:nvSpPr>
          <p:cNvPr id="64" name="对角圆角矩形 63"/>
          <p:cNvSpPr/>
          <p:nvPr/>
        </p:nvSpPr>
        <p:spPr>
          <a:xfrm>
            <a:off x="686070" y="2959958"/>
            <a:ext cx="7691312" cy="1367593"/>
          </a:xfrm>
          <a:prstGeom prst="round2DiagRect">
            <a:avLst/>
          </a:prstGeom>
          <a:solidFill>
            <a:srgbClr val="0099CC"/>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5" name="矩形 64"/>
          <p:cNvSpPr/>
          <p:nvPr/>
        </p:nvSpPr>
        <p:spPr>
          <a:xfrm>
            <a:off x="846106" y="3058645"/>
            <a:ext cx="7410654" cy="1092607"/>
          </a:xfrm>
          <a:prstGeom prst="rect">
            <a:avLst/>
          </a:prstGeom>
        </p:spPr>
        <p:txBody>
          <a:bodyPr wrap="square">
            <a:spAutoFit/>
          </a:bodyPr>
          <a:lstStyle/>
          <a:p>
            <a:pPr marL="285750" indent="-285750">
              <a:lnSpc>
                <a:spcPts val="2600"/>
              </a:lnSpc>
              <a:buFont typeface="Wingdings" panose="05000000000000000000" pitchFamily="2" charset="2"/>
              <a:buChar char="l"/>
            </a:pPr>
            <a:r>
              <a:rPr lang="zh-CN" altLang="en-US" b="1" dirty="0">
                <a:solidFill>
                  <a:schemeClr val="bg1"/>
                </a:solidFill>
                <a:latin typeface="微软雅黑" pitchFamily="34" charset="-122"/>
                <a:ea typeface="微软雅黑" pitchFamily="34" charset="-122"/>
              </a:rPr>
              <a:t>为一个多播组构建一棵转发树，而不是为每个（源，组）组合构建一棵转发树。</a:t>
            </a:r>
            <a:endParaRPr lang="en-US" altLang="zh-CN" b="1" dirty="0">
              <a:solidFill>
                <a:schemeClr val="bg1"/>
              </a:solidFill>
              <a:latin typeface="微软雅黑" pitchFamily="34" charset="-122"/>
              <a:ea typeface="微软雅黑" pitchFamily="34" charset="-122"/>
            </a:endParaRPr>
          </a:p>
          <a:p>
            <a:pPr marL="285750" indent="-285750">
              <a:lnSpc>
                <a:spcPts val="2600"/>
              </a:lnSpc>
              <a:buFont typeface="Wingdings" panose="05000000000000000000" pitchFamily="2" charset="2"/>
              <a:buChar char="l"/>
            </a:pPr>
            <a:r>
              <a:rPr lang="zh-CN" altLang="en-US" b="1" dirty="0">
                <a:solidFill>
                  <a:schemeClr val="bg1"/>
                </a:solidFill>
                <a:latin typeface="微软雅黑" pitchFamily="34" charset="-122"/>
                <a:ea typeface="微软雅黑" pitchFamily="34" charset="-122"/>
              </a:rPr>
              <a:t>构建转发树开销较小，扩展性较好。</a:t>
            </a:r>
          </a:p>
        </p:txBody>
      </p:sp>
    </p:spTree>
    <p:extLst>
      <p:ext uri="{BB962C8B-B14F-4D97-AF65-F5344CB8AC3E}">
        <p14:creationId xmlns:p14="http://schemas.microsoft.com/office/powerpoint/2010/main" val="996517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0841"/>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80179"/>
            <a:ext cx="3004349" cy="400110"/>
          </a:xfrm>
          <a:prstGeom prst="rect">
            <a:avLst/>
          </a:prstGeom>
        </p:spPr>
        <p:txBody>
          <a:bodyPr wrap="none">
            <a:spAutoFit/>
          </a:bodyPr>
          <a:lstStyle/>
          <a:p>
            <a:r>
              <a:rPr lang="en-US" altLang="zh-CN" sz="2000" b="1" dirty="0">
                <a:latin typeface="微软雅黑" pitchFamily="34" charset="-122"/>
                <a:ea typeface="微软雅黑" pitchFamily="34" charset="-122"/>
              </a:rPr>
              <a:t>(3) </a:t>
            </a:r>
            <a:r>
              <a:rPr lang="zh-CN" altLang="en-US" sz="2000" b="1" dirty="0">
                <a:latin typeface="微软雅黑" pitchFamily="34" charset="-122"/>
                <a:ea typeface="微软雅黑" pitchFamily="34" charset="-122"/>
              </a:rPr>
              <a:t>基于核心的发现技术 </a:t>
            </a:r>
          </a:p>
        </p:txBody>
      </p:sp>
      <p:sp>
        <p:nvSpPr>
          <p:cNvPr id="4" name="矩形 3"/>
          <p:cNvSpPr/>
          <p:nvPr/>
        </p:nvSpPr>
        <p:spPr>
          <a:xfrm>
            <a:off x="545144" y="934729"/>
            <a:ext cx="8028487" cy="3170099"/>
          </a:xfrm>
          <a:prstGeom prst="rect">
            <a:avLst/>
          </a:prstGeom>
        </p:spPr>
        <p:txBody>
          <a:bodyPr wrap="square">
            <a:spAutoFit/>
          </a:bodyPr>
          <a:lstStyle/>
          <a:p>
            <a:pPr marL="285750" indent="-285750">
              <a:lnSpc>
                <a:spcPts val="3000"/>
              </a:lnSpc>
              <a:buClr>
                <a:srgbClr val="0070C0"/>
              </a:buClr>
              <a:buFont typeface="Wingdings" pitchFamily="2" charset="2"/>
              <a:buChar char="l"/>
            </a:pPr>
            <a:r>
              <a:rPr lang="zh-CN" altLang="en-US" b="1" dirty="0">
                <a:latin typeface="微软雅黑" pitchFamily="34" charset="-122"/>
                <a:ea typeface="微软雅黑" pitchFamily="34" charset="-122"/>
              </a:rPr>
              <a:t>如果有一个路由器 </a:t>
            </a:r>
            <a:r>
              <a:rPr lang="en-US" altLang="zh-CN" b="1" dirty="0">
                <a:latin typeface="微软雅黑" pitchFamily="34" charset="-122"/>
                <a:ea typeface="微软雅黑" pitchFamily="34" charset="-122"/>
              </a:rPr>
              <a:t>R</a:t>
            </a:r>
            <a:r>
              <a:rPr lang="en-US" altLang="zh-CN" b="1" baseline="-25000" dirty="0">
                <a:latin typeface="微软雅黑" pitchFamily="34" charset="-122"/>
                <a:ea typeface="微软雅黑" pitchFamily="34" charset="-122"/>
              </a:rPr>
              <a:t>1</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向核心路由器发送数据报，那么它在</a:t>
            </a:r>
            <a:r>
              <a:rPr lang="zh-CN" altLang="en-US" b="1" dirty="0">
                <a:solidFill>
                  <a:srgbClr val="C00000"/>
                </a:solidFill>
                <a:latin typeface="微软雅黑" pitchFamily="34" charset="-122"/>
                <a:ea typeface="微软雅黑" pitchFamily="34" charset="-122"/>
              </a:rPr>
              <a:t>途中经过</a:t>
            </a:r>
            <a:r>
              <a:rPr lang="zh-CN" altLang="en-US" b="1" dirty="0">
                <a:latin typeface="微软雅黑" pitchFamily="34" charset="-122"/>
                <a:ea typeface="微软雅黑" pitchFamily="34" charset="-122"/>
              </a:rPr>
              <a:t>的每一个路由器都要检查其内容。</a:t>
            </a:r>
            <a:endParaRPr lang="en-US" altLang="zh-CN" b="1" dirty="0">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b="1" dirty="0">
                <a:latin typeface="微软雅黑" pitchFamily="34" charset="-122"/>
                <a:ea typeface="微软雅黑" pitchFamily="34" charset="-122"/>
              </a:rPr>
              <a:t>当数据报到达参加了多播组 </a:t>
            </a:r>
            <a:r>
              <a:rPr lang="en-US" altLang="zh-CN" b="1" dirty="0">
                <a:latin typeface="微软雅黑" pitchFamily="34" charset="-122"/>
                <a:ea typeface="微软雅黑" pitchFamily="34" charset="-122"/>
              </a:rPr>
              <a:t>G </a:t>
            </a:r>
            <a:r>
              <a:rPr lang="zh-CN" altLang="en-US" b="1" dirty="0">
                <a:latin typeface="微软雅黑" pitchFamily="34" charset="-122"/>
                <a:ea typeface="微软雅黑" pitchFamily="34" charset="-122"/>
              </a:rPr>
              <a:t>的路由器 </a:t>
            </a:r>
            <a:r>
              <a:rPr lang="en-US" altLang="zh-CN" b="1" dirty="0">
                <a:latin typeface="微软雅黑" pitchFamily="34" charset="-122"/>
                <a:ea typeface="微软雅黑" pitchFamily="34" charset="-122"/>
              </a:rPr>
              <a:t>R</a:t>
            </a:r>
            <a:r>
              <a:rPr lang="en-US" altLang="zh-CN" b="1" baseline="-25000" dirty="0">
                <a:latin typeface="微软雅黑" pitchFamily="34" charset="-122"/>
                <a:ea typeface="微软雅黑" pitchFamily="34" charset="-122"/>
              </a:rPr>
              <a:t>2</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时，</a:t>
            </a:r>
            <a:r>
              <a:rPr lang="en-US" altLang="zh-CN" b="1" dirty="0">
                <a:latin typeface="微软雅黑" pitchFamily="34" charset="-122"/>
                <a:ea typeface="微软雅黑" pitchFamily="34" charset="-122"/>
              </a:rPr>
              <a:t>R</a:t>
            </a:r>
            <a:r>
              <a:rPr lang="en-US" altLang="zh-CN" b="1" baseline="-25000" dirty="0">
                <a:latin typeface="微软雅黑" pitchFamily="34" charset="-122"/>
                <a:ea typeface="微软雅黑" pitchFamily="34" charset="-122"/>
              </a:rPr>
              <a:t>2</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就处理这个数据报。</a:t>
            </a:r>
            <a:endParaRPr lang="en-US" altLang="zh-CN" b="1" dirty="0">
              <a:latin typeface="微软雅黑" pitchFamily="34" charset="-122"/>
              <a:ea typeface="微软雅黑" pitchFamily="34" charset="-122"/>
            </a:endParaRPr>
          </a:p>
          <a:p>
            <a:pPr marL="742950" lvl="1" indent="-285750">
              <a:lnSpc>
                <a:spcPts val="3000"/>
              </a:lnSpc>
              <a:buClr>
                <a:srgbClr val="990099"/>
              </a:buClr>
              <a:buFont typeface="Wingdings" panose="05000000000000000000" pitchFamily="2" charset="2"/>
              <a:buChar char="u"/>
            </a:pPr>
            <a:r>
              <a:rPr lang="zh-CN" altLang="en-US" b="1" dirty="0">
                <a:latin typeface="微软雅黑" pitchFamily="34" charset="-122"/>
                <a:ea typeface="微软雅黑" pitchFamily="34" charset="-122"/>
              </a:rPr>
              <a:t>如果 </a:t>
            </a:r>
            <a:r>
              <a:rPr lang="en-US" altLang="zh-CN" b="1" dirty="0">
                <a:latin typeface="微软雅黑" pitchFamily="34" charset="-122"/>
                <a:ea typeface="微软雅黑" pitchFamily="34" charset="-122"/>
              </a:rPr>
              <a:t>R</a:t>
            </a:r>
            <a:r>
              <a:rPr lang="en-US" altLang="zh-CN" b="1" baseline="-25000" dirty="0">
                <a:latin typeface="微软雅黑" pitchFamily="34" charset="-122"/>
                <a:ea typeface="微软雅黑" pitchFamily="34" charset="-122"/>
              </a:rPr>
              <a:t>1</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发出的是一个</a:t>
            </a:r>
            <a:r>
              <a:rPr lang="zh-CN" altLang="en-US" b="1" dirty="0">
                <a:solidFill>
                  <a:srgbClr val="C00000"/>
                </a:solidFill>
                <a:latin typeface="微软雅黑" pitchFamily="34" charset="-122"/>
                <a:ea typeface="微软雅黑" pitchFamily="34" charset="-122"/>
              </a:rPr>
              <a:t>多播数据报</a:t>
            </a:r>
            <a:r>
              <a:rPr lang="zh-CN" altLang="en-US" b="1" dirty="0">
                <a:latin typeface="微软雅黑" pitchFamily="34" charset="-122"/>
                <a:ea typeface="微软雅黑" pitchFamily="34" charset="-122"/>
              </a:rPr>
              <a:t>，其目的地址是 </a:t>
            </a:r>
            <a:r>
              <a:rPr lang="en-US" altLang="zh-CN" b="1" dirty="0">
                <a:latin typeface="微软雅黑" pitchFamily="34" charset="-122"/>
                <a:ea typeface="微软雅黑" pitchFamily="34" charset="-122"/>
              </a:rPr>
              <a:t>G </a:t>
            </a:r>
            <a:r>
              <a:rPr lang="zh-CN" altLang="en-US" b="1" dirty="0">
                <a:latin typeface="微软雅黑" pitchFamily="34" charset="-122"/>
                <a:ea typeface="微软雅黑" pitchFamily="34" charset="-122"/>
              </a:rPr>
              <a:t>的组地址，</a:t>
            </a:r>
            <a:r>
              <a:rPr lang="en-US" altLang="zh-CN" b="1" dirty="0">
                <a:latin typeface="微软雅黑" pitchFamily="34" charset="-122"/>
                <a:ea typeface="微软雅黑" pitchFamily="34" charset="-122"/>
              </a:rPr>
              <a:t>R</a:t>
            </a:r>
            <a:r>
              <a:rPr lang="en-US" altLang="zh-CN" b="1" baseline="-25000" dirty="0">
                <a:latin typeface="微软雅黑" pitchFamily="34" charset="-122"/>
                <a:ea typeface="微软雅黑" pitchFamily="34" charset="-122"/>
              </a:rPr>
              <a:t>2</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就向 </a:t>
            </a:r>
            <a:r>
              <a:rPr lang="en-US" altLang="zh-CN" b="1" dirty="0">
                <a:latin typeface="微软雅黑" pitchFamily="34" charset="-122"/>
                <a:ea typeface="微软雅黑" pitchFamily="34" charset="-122"/>
              </a:rPr>
              <a:t>G </a:t>
            </a:r>
            <a:r>
              <a:rPr lang="zh-CN" altLang="en-US" b="1" dirty="0">
                <a:latin typeface="微软雅黑" pitchFamily="34" charset="-122"/>
                <a:ea typeface="微软雅黑" pitchFamily="34" charset="-122"/>
              </a:rPr>
              <a:t>的成员转发这个多播数据报。</a:t>
            </a:r>
            <a:endParaRPr lang="en-US" altLang="zh-CN" b="1" dirty="0">
              <a:latin typeface="微软雅黑" pitchFamily="34" charset="-122"/>
              <a:ea typeface="微软雅黑" pitchFamily="34" charset="-122"/>
            </a:endParaRPr>
          </a:p>
          <a:p>
            <a:pPr marL="742950" lvl="1" indent="-285750">
              <a:lnSpc>
                <a:spcPts val="3000"/>
              </a:lnSpc>
              <a:buClr>
                <a:srgbClr val="990099"/>
              </a:buClr>
              <a:buFont typeface="Wingdings" panose="05000000000000000000" pitchFamily="2" charset="2"/>
              <a:buChar char="u"/>
            </a:pPr>
            <a:r>
              <a:rPr lang="zh-CN" altLang="en-US" b="1" dirty="0">
                <a:latin typeface="微软雅黑" pitchFamily="34" charset="-122"/>
                <a:ea typeface="微软雅黑" pitchFamily="34" charset="-122"/>
              </a:rPr>
              <a:t>如果 </a:t>
            </a:r>
            <a:r>
              <a:rPr lang="en-US" altLang="zh-CN" b="1" dirty="0">
                <a:latin typeface="微软雅黑" pitchFamily="34" charset="-122"/>
                <a:ea typeface="微软雅黑" pitchFamily="34" charset="-122"/>
              </a:rPr>
              <a:t>R</a:t>
            </a:r>
            <a:r>
              <a:rPr lang="en-US" altLang="zh-CN" b="1" baseline="-25000" dirty="0">
                <a:latin typeface="微软雅黑" pitchFamily="34" charset="-122"/>
                <a:ea typeface="微软雅黑" pitchFamily="34" charset="-122"/>
              </a:rPr>
              <a:t>1</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发出的数据报是一个</a:t>
            </a:r>
            <a:r>
              <a:rPr lang="zh-CN" altLang="en-US" b="1" dirty="0">
                <a:solidFill>
                  <a:srgbClr val="C00000"/>
                </a:solidFill>
                <a:latin typeface="微软雅黑" pitchFamily="34" charset="-122"/>
                <a:ea typeface="微软雅黑" pitchFamily="34" charset="-122"/>
              </a:rPr>
              <a:t>请求加入</a:t>
            </a:r>
            <a:r>
              <a:rPr lang="zh-CN" altLang="en-US" b="1" dirty="0">
                <a:latin typeface="微软雅黑" pitchFamily="34" charset="-122"/>
                <a:ea typeface="微软雅黑" pitchFamily="34" charset="-122"/>
              </a:rPr>
              <a:t>多播组 </a:t>
            </a:r>
            <a:r>
              <a:rPr lang="en-US" altLang="zh-CN" b="1" dirty="0">
                <a:latin typeface="微软雅黑" pitchFamily="34" charset="-122"/>
                <a:ea typeface="微软雅黑" pitchFamily="34" charset="-122"/>
              </a:rPr>
              <a:t>G </a:t>
            </a:r>
            <a:r>
              <a:rPr lang="zh-CN" altLang="en-US" b="1" dirty="0">
                <a:latin typeface="微软雅黑" pitchFamily="34" charset="-122"/>
                <a:ea typeface="微软雅黑" pitchFamily="34" charset="-122"/>
              </a:rPr>
              <a:t>的数据报，</a:t>
            </a:r>
            <a:r>
              <a:rPr lang="en-US" altLang="zh-CN" b="1" dirty="0">
                <a:latin typeface="微软雅黑" pitchFamily="34" charset="-122"/>
                <a:ea typeface="微软雅黑" pitchFamily="34" charset="-122"/>
              </a:rPr>
              <a:t>R</a:t>
            </a:r>
            <a:r>
              <a:rPr lang="en-US" altLang="zh-CN" b="1" baseline="-25000" dirty="0">
                <a:latin typeface="微软雅黑" pitchFamily="34" charset="-122"/>
                <a:ea typeface="微软雅黑" pitchFamily="34" charset="-122"/>
              </a:rPr>
              <a:t>2</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就把这个信息加到它的路由中，并用</a:t>
            </a:r>
            <a:r>
              <a:rPr lang="zh-CN" altLang="en-US" b="1" dirty="0">
                <a:solidFill>
                  <a:srgbClr val="C00000"/>
                </a:solidFill>
                <a:latin typeface="微软雅黑" pitchFamily="34" charset="-122"/>
                <a:ea typeface="微软雅黑" pitchFamily="34" charset="-122"/>
              </a:rPr>
              <a:t>隧道技术</a:t>
            </a:r>
            <a:r>
              <a:rPr lang="zh-CN" altLang="en-US" b="1" dirty="0">
                <a:latin typeface="微软雅黑" pitchFamily="34" charset="-122"/>
                <a:ea typeface="微软雅黑" pitchFamily="34" charset="-122"/>
              </a:rPr>
              <a:t>向 </a:t>
            </a:r>
            <a:r>
              <a:rPr lang="en-US" altLang="zh-CN" b="1" dirty="0">
                <a:latin typeface="微软雅黑" pitchFamily="34" charset="-122"/>
                <a:ea typeface="微软雅黑" pitchFamily="34" charset="-122"/>
              </a:rPr>
              <a:t>R</a:t>
            </a:r>
            <a:r>
              <a:rPr lang="en-US" altLang="zh-CN" b="1" baseline="-25000" dirty="0">
                <a:latin typeface="微软雅黑" pitchFamily="34" charset="-122"/>
                <a:ea typeface="微软雅黑" pitchFamily="34" charset="-122"/>
              </a:rPr>
              <a:t>1</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转发每一个多播数据报的副本。 </a:t>
            </a:r>
          </a:p>
        </p:txBody>
      </p:sp>
    </p:spTree>
    <p:extLst>
      <p:ext uri="{BB962C8B-B14F-4D97-AF65-F5344CB8AC3E}">
        <p14:creationId xmlns:p14="http://schemas.microsoft.com/office/powerpoint/2010/main" val="22372706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6771"/>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68003"/>
            <a:ext cx="2749471" cy="400110"/>
          </a:xfrm>
          <a:prstGeom prst="rect">
            <a:avLst/>
          </a:prstGeom>
        </p:spPr>
        <p:txBody>
          <a:bodyPr wrap="none">
            <a:spAutoFit/>
          </a:bodyPr>
          <a:lstStyle/>
          <a:p>
            <a:r>
              <a:rPr lang="zh-CN" altLang="en-US" sz="2000" b="1" dirty="0">
                <a:latin typeface="微软雅黑" pitchFamily="34" charset="-122"/>
                <a:ea typeface="微软雅黑" pitchFamily="34" charset="-122"/>
              </a:rPr>
              <a:t>几种多播路由选择协议</a:t>
            </a:r>
          </a:p>
        </p:txBody>
      </p:sp>
      <p:sp>
        <p:nvSpPr>
          <p:cNvPr id="4" name="矩形 3"/>
          <p:cNvSpPr/>
          <p:nvPr/>
        </p:nvSpPr>
        <p:spPr>
          <a:xfrm>
            <a:off x="545144" y="925163"/>
            <a:ext cx="8028487" cy="3554819"/>
          </a:xfrm>
          <a:prstGeom prst="rect">
            <a:avLst/>
          </a:prstGeom>
        </p:spPr>
        <p:txBody>
          <a:bodyPr wrap="square">
            <a:spAutoFit/>
          </a:bodyPr>
          <a:lstStyle/>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距离向量多播路由选择协议 </a:t>
            </a:r>
            <a:r>
              <a:rPr lang="en-US" altLang="zh-CN" sz="2000" b="1" dirty="0">
                <a:solidFill>
                  <a:srgbClr val="C00000"/>
                </a:solidFill>
                <a:latin typeface="微软雅黑" pitchFamily="34" charset="-122"/>
                <a:ea typeface="微软雅黑" pitchFamily="34" charset="-122"/>
              </a:rPr>
              <a:t>DVMRP</a:t>
            </a:r>
            <a:r>
              <a:rPr lang="en-US" altLang="zh-CN" sz="2000" b="1" dirty="0">
                <a:latin typeface="微软雅黑" pitchFamily="34" charset="-122"/>
                <a:ea typeface="微软雅黑" pitchFamily="34" charset="-122"/>
              </a:rPr>
              <a:t> (Distance Vector Multicast Routing Protocol)</a:t>
            </a:r>
            <a:r>
              <a:rPr lang="zh-CN" altLang="en-US" sz="2000" b="1" dirty="0">
                <a:latin typeface="微软雅黑" pitchFamily="34" charset="-122"/>
                <a:ea typeface="微软雅黑" pitchFamily="34" charset="-122"/>
              </a:rPr>
              <a:t>。</a:t>
            </a:r>
            <a:r>
              <a:rPr lang="zh-CN" altLang="en-US" sz="2000" b="1" dirty="0">
                <a:solidFill>
                  <a:srgbClr val="0000FF"/>
                </a:solidFill>
                <a:latin typeface="微软雅黑" pitchFamily="34" charset="-122"/>
                <a:ea typeface="微软雅黑" pitchFamily="34" charset="-122"/>
              </a:rPr>
              <a:t>互联网上使用的第一个多播路由选择协议。</a:t>
            </a:r>
            <a:endParaRPr lang="en-US" altLang="zh-CN" sz="2000" b="1" dirty="0">
              <a:solidFill>
                <a:srgbClr val="0000FF"/>
              </a:solidFill>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基于核心的转发树 </a:t>
            </a:r>
            <a:r>
              <a:rPr lang="en-US" altLang="zh-CN" sz="2000" b="1" dirty="0">
                <a:solidFill>
                  <a:srgbClr val="C00000"/>
                </a:solidFill>
                <a:latin typeface="微软雅黑" pitchFamily="34" charset="-122"/>
                <a:ea typeface="微软雅黑" pitchFamily="34" charset="-122"/>
              </a:rPr>
              <a:t>CBT</a:t>
            </a:r>
            <a:r>
              <a:rPr lang="en-US" altLang="zh-CN" sz="2000" b="1" dirty="0">
                <a:latin typeface="微软雅黑" pitchFamily="34" charset="-122"/>
                <a:ea typeface="微软雅黑" pitchFamily="34" charset="-122"/>
              </a:rPr>
              <a:t> (Core Based Tree) </a:t>
            </a:r>
          </a:p>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开放最短通路优先的多播扩展 </a:t>
            </a:r>
            <a:r>
              <a:rPr lang="en-US" altLang="zh-CN" sz="2000" b="1" dirty="0">
                <a:solidFill>
                  <a:srgbClr val="C00000"/>
                </a:solidFill>
                <a:latin typeface="微软雅黑" pitchFamily="34" charset="-122"/>
                <a:ea typeface="微软雅黑" pitchFamily="34" charset="-122"/>
              </a:rPr>
              <a:t>MOSPF</a:t>
            </a:r>
            <a:r>
              <a:rPr lang="en-US" altLang="zh-CN" sz="2000" b="1" dirty="0">
                <a:latin typeface="微软雅黑" pitchFamily="34" charset="-122"/>
                <a:ea typeface="微软雅黑" pitchFamily="34" charset="-122"/>
              </a:rPr>
              <a:t> (Multicast Extensions to OSPF) </a:t>
            </a:r>
          </a:p>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协议无关多播</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稀疏方式 </a:t>
            </a:r>
            <a:r>
              <a:rPr lang="en-US" altLang="zh-CN" sz="2000" b="1" dirty="0">
                <a:solidFill>
                  <a:srgbClr val="C00000"/>
                </a:solidFill>
                <a:latin typeface="微软雅黑" pitchFamily="34" charset="-122"/>
                <a:ea typeface="微软雅黑" pitchFamily="34" charset="-122"/>
              </a:rPr>
              <a:t>PIM-SM</a:t>
            </a:r>
            <a:r>
              <a:rPr lang="en-US" altLang="zh-CN" sz="2000" b="1" dirty="0">
                <a:latin typeface="微软雅黑" pitchFamily="34" charset="-122"/>
                <a:ea typeface="微软雅黑" pitchFamily="34" charset="-122"/>
              </a:rPr>
              <a:t> (Protocol Independent Multicast-Sparse Mode) </a:t>
            </a:r>
            <a:r>
              <a:rPr lang="zh-CN" altLang="en-US" sz="2000" b="1" dirty="0">
                <a:latin typeface="微软雅黑" pitchFamily="34" charset="-122"/>
                <a:ea typeface="微软雅黑" pitchFamily="34" charset="-122"/>
              </a:rPr>
              <a:t>。</a:t>
            </a:r>
            <a:r>
              <a:rPr lang="zh-CN" altLang="en-US" sz="2000" b="1" dirty="0">
                <a:solidFill>
                  <a:srgbClr val="0000FF"/>
                </a:solidFill>
                <a:latin typeface="微软雅黑" pitchFamily="34" charset="-122"/>
                <a:ea typeface="微软雅黑" pitchFamily="34" charset="-122"/>
              </a:rPr>
              <a:t>唯一成为互联网标准的一个协议。</a:t>
            </a:r>
            <a:endParaRPr lang="en-US" altLang="zh-CN" sz="2000" b="1" dirty="0">
              <a:solidFill>
                <a:srgbClr val="0000FF"/>
              </a:solidFill>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协议无关多播</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密集方式 </a:t>
            </a:r>
            <a:r>
              <a:rPr lang="en-US" altLang="zh-CN" sz="2000" b="1" dirty="0">
                <a:solidFill>
                  <a:srgbClr val="C00000"/>
                </a:solidFill>
                <a:latin typeface="微软雅黑" pitchFamily="34" charset="-122"/>
                <a:ea typeface="微软雅黑" pitchFamily="34" charset="-122"/>
              </a:rPr>
              <a:t>PIM-DM</a:t>
            </a:r>
            <a:r>
              <a:rPr lang="en-US" altLang="zh-CN" sz="2000" b="1" dirty="0">
                <a:latin typeface="微软雅黑" pitchFamily="34" charset="-122"/>
                <a:ea typeface="微软雅黑" pitchFamily="34" charset="-122"/>
              </a:rPr>
              <a:t> (Protocol Independent Multicast-Dense Mode) </a:t>
            </a:r>
            <a:endParaRPr lang="zh-CN" altLang="en-US" sz="2000" b="1" dirty="0">
              <a:latin typeface="微软雅黑" pitchFamily="34" charset="-122"/>
              <a:ea typeface="微软雅黑" pitchFamily="34" charset="-122"/>
            </a:endParaRPr>
          </a:p>
        </p:txBody>
      </p:sp>
    </p:spTree>
    <p:extLst>
      <p:ext uri="{BB962C8B-B14F-4D97-AF65-F5344CB8AC3E}">
        <p14:creationId xmlns:p14="http://schemas.microsoft.com/office/powerpoint/2010/main" val="94741513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9"/>
          <p:cNvSpPr>
            <a:spLocks noChangeArrowheads="1"/>
          </p:cNvSpPr>
          <p:nvPr/>
        </p:nvSpPr>
        <p:spPr bwMode="auto">
          <a:xfrm>
            <a:off x="2303831" y="1321649"/>
            <a:ext cx="6189542"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3" name="Rectangle 10"/>
          <p:cNvSpPr>
            <a:spLocks noChangeArrowheads="1"/>
          </p:cNvSpPr>
          <p:nvPr/>
        </p:nvSpPr>
        <p:spPr bwMode="auto">
          <a:xfrm>
            <a:off x="2303831" y="1928074"/>
            <a:ext cx="6189542"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4" name="Rectangle 27"/>
          <p:cNvSpPr>
            <a:spLocks noChangeArrowheads="1"/>
          </p:cNvSpPr>
          <p:nvPr/>
        </p:nvSpPr>
        <p:spPr bwMode="auto">
          <a:xfrm>
            <a:off x="490266" y="1321649"/>
            <a:ext cx="1636540" cy="1810421"/>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5" name="Rectangle 29"/>
          <p:cNvSpPr>
            <a:spLocks noChangeArrowheads="1"/>
          </p:cNvSpPr>
          <p:nvPr/>
        </p:nvSpPr>
        <p:spPr bwMode="auto">
          <a:xfrm>
            <a:off x="499155" y="1416581"/>
            <a:ext cx="1627651" cy="163121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4.8</a:t>
            </a:r>
          </a:p>
          <a:p>
            <a:r>
              <a:rPr lang="zh-CN" altLang="en-US" sz="2000" b="1" dirty="0">
                <a:solidFill>
                  <a:schemeClr val="bg1"/>
                </a:solidFill>
                <a:latin typeface="微软雅黑" pitchFamily="34" charset="-122"/>
                <a:ea typeface="微软雅黑" pitchFamily="34" charset="-122"/>
              </a:rPr>
              <a:t>虚拟专用网  </a:t>
            </a:r>
            <a:r>
              <a:rPr lang="en-US" altLang="zh-CN" sz="2000" b="1" dirty="0">
                <a:solidFill>
                  <a:schemeClr val="bg1"/>
                </a:solidFill>
                <a:latin typeface="微软雅黑" pitchFamily="34" charset="-122"/>
                <a:ea typeface="微软雅黑" pitchFamily="34" charset="-122"/>
              </a:rPr>
              <a:t>VPN </a:t>
            </a:r>
            <a:r>
              <a:rPr lang="zh-CN" altLang="en-US" sz="2000" b="1" dirty="0">
                <a:solidFill>
                  <a:schemeClr val="bg1"/>
                </a:solidFill>
                <a:latin typeface="微软雅黑" pitchFamily="34" charset="-122"/>
                <a:ea typeface="微软雅黑" pitchFamily="34" charset="-122"/>
              </a:rPr>
              <a:t>和网络地址转换  </a:t>
            </a:r>
            <a:r>
              <a:rPr lang="en-US" altLang="zh-CN" sz="2000" b="1" dirty="0">
                <a:solidFill>
                  <a:schemeClr val="bg1"/>
                </a:solidFill>
                <a:latin typeface="微软雅黑" pitchFamily="34" charset="-122"/>
                <a:ea typeface="微软雅黑" pitchFamily="34" charset="-122"/>
              </a:rPr>
              <a:t>NAT</a:t>
            </a:r>
            <a:endParaRPr lang="zh-CN" altLang="en-US" sz="2000" b="1" dirty="0">
              <a:solidFill>
                <a:schemeClr val="bg1"/>
              </a:solidFill>
              <a:latin typeface="微软雅黑" pitchFamily="34" charset="-122"/>
              <a:ea typeface="微软雅黑" pitchFamily="34" charset="-122"/>
            </a:endParaRPr>
          </a:p>
        </p:txBody>
      </p:sp>
      <p:sp>
        <p:nvSpPr>
          <p:cNvPr id="7" name="Line 16"/>
          <p:cNvSpPr>
            <a:spLocks noChangeShapeType="1"/>
          </p:cNvSpPr>
          <p:nvPr/>
        </p:nvSpPr>
        <p:spPr bwMode="auto">
          <a:xfrm>
            <a:off x="3311894" y="1250212"/>
            <a:ext cx="0" cy="2283662"/>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 name="Rectangle 8"/>
          <p:cNvSpPr>
            <a:spLocks noChangeArrowheads="1"/>
          </p:cNvSpPr>
          <p:nvPr/>
        </p:nvSpPr>
        <p:spPr bwMode="auto">
          <a:xfrm>
            <a:off x="2287349" y="1287105"/>
            <a:ext cx="6381872"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zh-CN" sz="2000" b="1" dirty="0">
                <a:solidFill>
                  <a:schemeClr val="bg1"/>
                </a:solidFill>
                <a:latin typeface="微软雅黑" pitchFamily="34" charset="-122"/>
                <a:ea typeface="微软雅黑" pitchFamily="34" charset="-122"/>
              </a:rPr>
              <a:t>4.8.1                                              </a:t>
            </a:r>
            <a:r>
              <a:rPr lang="zh-CN" altLang="en-US" sz="2000" b="1" dirty="0">
                <a:solidFill>
                  <a:schemeClr val="bg1"/>
                </a:solidFill>
                <a:latin typeface="微软雅黑" pitchFamily="34" charset="-122"/>
                <a:ea typeface="微软雅黑" pitchFamily="34" charset="-122"/>
              </a:rPr>
              <a:t>虚拟专用网 </a:t>
            </a:r>
            <a:r>
              <a:rPr lang="en-US" altLang="zh-CN" sz="2000" b="1" dirty="0">
                <a:solidFill>
                  <a:schemeClr val="bg1"/>
                </a:solidFill>
                <a:latin typeface="微软雅黑" pitchFamily="34" charset="-122"/>
                <a:ea typeface="微软雅黑" pitchFamily="34" charset="-122"/>
              </a:rPr>
              <a:t>VPN</a:t>
            </a:r>
          </a:p>
          <a:p>
            <a:endParaRPr lang="en-US" altLang="zh-CN"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4.8.2                                           </a:t>
            </a:r>
            <a:r>
              <a:rPr lang="zh-CN" altLang="en-US" sz="2000" b="1" dirty="0">
                <a:solidFill>
                  <a:schemeClr val="bg1"/>
                </a:solidFill>
                <a:latin typeface="微软雅黑" pitchFamily="34" charset="-122"/>
                <a:ea typeface="微软雅黑" pitchFamily="34" charset="-122"/>
              </a:rPr>
              <a:t>网络地址转换 </a:t>
            </a:r>
            <a:r>
              <a:rPr lang="en-US" altLang="zh-CN" sz="2000" b="1" dirty="0">
                <a:solidFill>
                  <a:schemeClr val="bg1"/>
                </a:solidFill>
                <a:latin typeface="微软雅黑" pitchFamily="34" charset="-122"/>
                <a:ea typeface="微软雅黑" pitchFamily="34" charset="-122"/>
              </a:rPr>
              <a:t>NAT</a:t>
            </a:r>
          </a:p>
        </p:txBody>
      </p:sp>
    </p:spTree>
    <p:extLst>
      <p:ext uri="{BB962C8B-B14F-4D97-AF65-F5344CB8AC3E}">
        <p14:creationId xmlns:p14="http://schemas.microsoft.com/office/powerpoint/2010/main" val="97747652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11519"/>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859833" y="570656"/>
            <a:ext cx="342433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4.8.1  </a:t>
            </a:r>
            <a:r>
              <a:rPr lang="zh-CN" altLang="en-US" sz="2400" b="1" dirty="0">
                <a:solidFill>
                  <a:schemeClr val="bg1"/>
                </a:solidFill>
                <a:latin typeface="微软雅黑" pitchFamily="34" charset="-122"/>
                <a:ea typeface="微软雅黑" pitchFamily="34" charset="-122"/>
              </a:rPr>
              <a:t>虚拟专用网 </a:t>
            </a:r>
            <a:r>
              <a:rPr lang="en-US" altLang="zh-CN" sz="2400" b="1" dirty="0">
                <a:solidFill>
                  <a:schemeClr val="bg1"/>
                </a:solidFill>
                <a:latin typeface="微软雅黑" pitchFamily="34" charset="-122"/>
                <a:ea typeface="微软雅黑" pitchFamily="34" charset="-122"/>
              </a:rPr>
              <a:t>VPN</a:t>
            </a:r>
            <a:endParaRPr lang="zh-CN" altLang="en-US" sz="2400" b="1" dirty="0">
              <a:solidFill>
                <a:schemeClr val="bg1"/>
              </a:solidFill>
              <a:latin typeface="微软雅黑" pitchFamily="34" charset="-122"/>
              <a:ea typeface="微软雅黑" pitchFamily="34" charset="-122"/>
            </a:endParaRPr>
          </a:p>
        </p:txBody>
      </p:sp>
      <p:sp>
        <p:nvSpPr>
          <p:cNvPr id="4" name="Rectangle 8"/>
          <p:cNvSpPr>
            <a:spLocks noChangeArrowheads="1"/>
          </p:cNvSpPr>
          <p:nvPr/>
        </p:nvSpPr>
        <p:spPr bwMode="auto">
          <a:xfrm>
            <a:off x="545143" y="994370"/>
            <a:ext cx="8053711" cy="26314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由于 </a:t>
            </a:r>
            <a:r>
              <a:rPr lang="en-US" altLang="zh-CN" sz="2000" b="1" dirty="0">
                <a:solidFill>
                  <a:srgbClr val="0000FF"/>
                </a:solidFill>
                <a:latin typeface="微软雅黑" pitchFamily="34" charset="-122"/>
                <a:ea typeface="微软雅黑" pitchFamily="34" charset="-122"/>
              </a:rPr>
              <a:t>IP </a:t>
            </a:r>
            <a:r>
              <a:rPr lang="zh-CN" altLang="en-US" sz="2000" b="1" dirty="0">
                <a:solidFill>
                  <a:srgbClr val="0000FF"/>
                </a:solidFill>
                <a:latin typeface="微软雅黑" pitchFamily="34" charset="-122"/>
                <a:ea typeface="微软雅黑" pitchFamily="34" charset="-122"/>
              </a:rPr>
              <a:t>地址的紧缺</a:t>
            </a:r>
            <a:r>
              <a:rPr lang="zh-CN" altLang="en-US" sz="2000" b="1" dirty="0">
                <a:latin typeface="微软雅黑" pitchFamily="34" charset="-122"/>
                <a:ea typeface="微软雅黑" pitchFamily="34" charset="-122"/>
              </a:rPr>
              <a:t>，一个机构能够申请到的</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地址数往往远小于本机构所拥有的主机数。</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考虑到</a:t>
            </a:r>
            <a:r>
              <a:rPr lang="zh-CN" altLang="en-US" sz="2000" b="1" dirty="0">
                <a:solidFill>
                  <a:srgbClr val="0000FF"/>
                </a:solidFill>
                <a:latin typeface="微软雅黑" pitchFamily="34" charset="-122"/>
                <a:ea typeface="微软雅黑" pitchFamily="34" charset="-122"/>
              </a:rPr>
              <a:t>互联网并不很安全</a:t>
            </a:r>
            <a:r>
              <a:rPr lang="zh-CN" altLang="en-US" sz="2000" b="1" dirty="0">
                <a:latin typeface="微软雅黑" pitchFamily="34" charset="-122"/>
                <a:ea typeface="微软雅黑" pitchFamily="34" charset="-122"/>
              </a:rPr>
              <a:t>，一个机构内也并不需要把所有的主机接入到外部的互联网。</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如果一个机构内部的计算机通信也是采用 </a:t>
            </a:r>
            <a:r>
              <a:rPr lang="en-US" altLang="zh-CN" sz="2000" b="1" dirty="0">
                <a:latin typeface="微软雅黑" pitchFamily="34" charset="-122"/>
                <a:ea typeface="微软雅黑" pitchFamily="34" charset="-122"/>
              </a:rPr>
              <a:t>TCP/IP </a:t>
            </a:r>
            <a:r>
              <a:rPr lang="zh-CN" altLang="en-US" sz="2000" b="1" dirty="0">
                <a:latin typeface="微软雅黑" pitchFamily="34" charset="-122"/>
                <a:ea typeface="微软雅黑" pitchFamily="34" charset="-122"/>
              </a:rPr>
              <a:t>协议，那么这些仅在</a:t>
            </a:r>
            <a:r>
              <a:rPr lang="zh-CN" altLang="en-US" sz="2000" b="1" dirty="0">
                <a:solidFill>
                  <a:srgbClr val="0000FF"/>
                </a:solidFill>
                <a:latin typeface="微软雅黑" pitchFamily="34" charset="-122"/>
                <a:ea typeface="微软雅黑" pitchFamily="34" charset="-122"/>
              </a:rPr>
              <a:t>机构内部使用</a:t>
            </a:r>
            <a:r>
              <a:rPr lang="zh-CN" altLang="en-US" sz="2000" b="1" dirty="0">
                <a:latin typeface="微软雅黑" pitchFamily="34" charset="-122"/>
                <a:ea typeface="微软雅黑" pitchFamily="34" charset="-122"/>
              </a:rPr>
              <a:t>的计算机就可以由本机构</a:t>
            </a:r>
            <a:r>
              <a:rPr lang="zh-CN" altLang="en-US" sz="2000" b="1" dirty="0">
                <a:solidFill>
                  <a:srgbClr val="0000FF"/>
                </a:solidFill>
                <a:latin typeface="微软雅黑" pitchFamily="34" charset="-122"/>
                <a:ea typeface="微软雅黑" pitchFamily="34" charset="-122"/>
              </a:rPr>
              <a:t>自行分配</a:t>
            </a:r>
            <a:r>
              <a:rPr lang="zh-CN" altLang="en-US" sz="2000" b="1" dirty="0">
                <a:latin typeface="微软雅黑" pitchFamily="34" charset="-122"/>
                <a:ea typeface="微软雅黑" pitchFamily="34" charset="-122"/>
              </a:rPr>
              <a:t>其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a:t>
            </a:r>
          </a:p>
        </p:txBody>
      </p:sp>
    </p:spTree>
    <p:extLst>
      <p:ext uri="{BB962C8B-B14F-4D97-AF65-F5344CB8AC3E}">
        <p14:creationId xmlns:p14="http://schemas.microsoft.com/office/powerpoint/2010/main" val="259313860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5" y="965559"/>
            <a:ext cx="8053710" cy="1980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0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本地地址</a:t>
            </a:r>
            <a:r>
              <a:rPr lang="zh-CN" altLang="en-US" sz="2000" b="1" dirty="0">
                <a:latin typeface="微软雅黑" pitchFamily="34" charset="-122"/>
                <a:ea typeface="微软雅黑" pitchFamily="34" charset="-122"/>
              </a:rPr>
              <a:t>：仅在机构内部使用的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地址，可以由本机构自行分配，而不需要向互联网的管理机构申请。</a:t>
            </a:r>
          </a:p>
          <a:p>
            <a:pPr marL="285750" indent="-285750">
              <a:lnSpc>
                <a:spcPts val="30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全球地址</a:t>
            </a:r>
            <a:r>
              <a:rPr lang="zh-CN" altLang="en-US" sz="2000" b="1" dirty="0">
                <a:latin typeface="微软雅黑" pitchFamily="34" charset="-122"/>
                <a:ea typeface="微软雅黑" pitchFamily="34" charset="-122"/>
              </a:rPr>
              <a:t>：全球唯一的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地址，必须向互联网的管理机构申请。 </a:t>
            </a:r>
          </a:p>
          <a:p>
            <a:pPr marL="285750" indent="-28575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问题：如何区分本地地址和全球地址？</a:t>
            </a:r>
            <a:endParaRPr lang="en-US" altLang="zh-CN" sz="2000" b="1" dirty="0">
              <a:solidFill>
                <a:srgbClr val="C00000"/>
              </a:solidFill>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解决</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RFC 1918 </a:t>
            </a:r>
            <a:r>
              <a:rPr lang="zh-CN" altLang="en-US" sz="2000" b="1" dirty="0">
                <a:latin typeface="微软雅黑" pitchFamily="34" charset="-122"/>
                <a:ea typeface="微软雅黑" pitchFamily="34" charset="-122"/>
              </a:rPr>
              <a:t>指明了一些</a:t>
            </a:r>
            <a:r>
              <a:rPr lang="zh-CN" altLang="en-US" sz="2000" b="1" dirty="0">
                <a:solidFill>
                  <a:srgbClr val="0000FF"/>
                </a:solidFill>
                <a:latin typeface="微软雅黑" pitchFamily="34" charset="-122"/>
                <a:ea typeface="微软雅黑" pitchFamily="34" charset="-122"/>
              </a:rPr>
              <a:t>专用地址 </a:t>
            </a:r>
            <a:r>
              <a:rPr lang="en-US" altLang="zh-CN" sz="2000" b="1" dirty="0">
                <a:latin typeface="微软雅黑" pitchFamily="34" charset="-122"/>
                <a:ea typeface="微软雅黑" pitchFamily="34" charset="-122"/>
              </a:rPr>
              <a:t>(private address)</a:t>
            </a:r>
            <a:r>
              <a:rPr lang="zh-CN" altLang="en-US" sz="2000" b="1" dirty="0">
                <a:latin typeface="微软雅黑" pitchFamily="34" charset="-122"/>
                <a:ea typeface="微软雅黑" pitchFamily="34" charset="-122"/>
              </a:rPr>
              <a:t>。</a:t>
            </a:r>
            <a:endParaRPr lang="zh-CN" altLang="en-US" sz="2000" b="1" dirty="0">
              <a:solidFill>
                <a:srgbClr val="0000FF"/>
              </a:solidFill>
              <a:latin typeface="微软雅黑" pitchFamily="34" charset="-122"/>
              <a:ea typeface="微软雅黑" pitchFamily="34" charset="-122"/>
            </a:endParaRPr>
          </a:p>
        </p:txBody>
      </p:sp>
      <p:sp>
        <p:nvSpPr>
          <p:cNvPr id="3" name="AutoShape 5"/>
          <p:cNvSpPr>
            <a:spLocks noChangeArrowheads="1"/>
          </p:cNvSpPr>
          <p:nvPr/>
        </p:nvSpPr>
        <p:spPr bwMode="auto">
          <a:xfrm>
            <a:off x="545145" y="614746"/>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1535"/>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本地地址与全球地址</a:t>
            </a:r>
          </a:p>
        </p:txBody>
      </p:sp>
      <p:sp>
        <p:nvSpPr>
          <p:cNvPr id="5" name="对角圆角矩形 4"/>
          <p:cNvSpPr/>
          <p:nvPr/>
        </p:nvSpPr>
        <p:spPr>
          <a:xfrm>
            <a:off x="740390" y="2949547"/>
            <a:ext cx="7691312" cy="1367593"/>
          </a:xfrm>
          <a:prstGeom prst="round2DiagRect">
            <a:avLst/>
          </a:prstGeom>
          <a:solidFill>
            <a:srgbClr val="0099CC"/>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矩形 5"/>
          <p:cNvSpPr/>
          <p:nvPr/>
        </p:nvSpPr>
        <p:spPr>
          <a:xfrm>
            <a:off x="900426" y="3066340"/>
            <a:ext cx="7292960" cy="1092607"/>
          </a:xfrm>
          <a:prstGeom prst="rect">
            <a:avLst/>
          </a:prstGeom>
        </p:spPr>
        <p:txBody>
          <a:bodyPr wrap="square">
            <a:spAutoFit/>
          </a:bodyPr>
          <a:lstStyle/>
          <a:p>
            <a:pPr marL="285750" indent="-285750">
              <a:lnSpc>
                <a:spcPts val="2600"/>
              </a:lnSpc>
              <a:buFont typeface="Wingdings" panose="05000000000000000000" pitchFamily="2" charset="2"/>
              <a:buChar char="l"/>
            </a:pPr>
            <a:r>
              <a:rPr lang="zh-CN" altLang="en-US" b="1" dirty="0">
                <a:solidFill>
                  <a:schemeClr val="bg1"/>
                </a:solidFill>
                <a:latin typeface="微软雅黑" pitchFamily="34" charset="-122"/>
                <a:ea typeface="微软雅黑" pitchFamily="34" charset="-122"/>
              </a:rPr>
              <a:t>专用地址</a:t>
            </a:r>
            <a:r>
              <a:rPr lang="zh-CN" altLang="en-US" b="1" dirty="0">
                <a:solidFill>
                  <a:srgbClr val="FFFF00"/>
                </a:solidFill>
                <a:latin typeface="微软雅黑" pitchFamily="34" charset="-122"/>
                <a:ea typeface="微软雅黑" pitchFamily="34" charset="-122"/>
              </a:rPr>
              <a:t>只能</a:t>
            </a:r>
            <a:r>
              <a:rPr lang="zh-CN" altLang="en-US" b="1" dirty="0">
                <a:solidFill>
                  <a:schemeClr val="bg1"/>
                </a:solidFill>
                <a:latin typeface="微软雅黑" pitchFamily="34" charset="-122"/>
                <a:ea typeface="微软雅黑" pitchFamily="34" charset="-122"/>
              </a:rPr>
              <a:t>用作本地地址，而不能用作全球地址。</a:t>
            </a:r>
            <a:endParaRPr lang="en-US" altLang="zh-CN" b="1" dirty="0">
              <a:solidFill>
                <a:schemeClr val="bg1"/>
              </a:solidFill>
              <a:latin typeface="微软雅黑" pitchFamily="34" charset="-122"/>
              <a:ea typeface="微软雅黑" pitchFamily="34" charset="-122"/>
            </a:endParaRPr>
          </a:p>
          <a:p>
            <a:pPr marL="285750" indent="-285750">
              <a:lnSpc>
                <a:spcPts val="2600"/>
              </a:lnSpc>
              <a:buFont typeface="Wingdings" panose="05000000000000000000" pitchFamily="2" charset="2"/>
              <a:buChar char="l"/>
            </a:pPr>
            <a:r>
              <a:rPr lang="zh-CN" altLang="en-US" b="1" dirty="0">
                <a:solidFill>
                  <a:schemeClr val="bg1"/>
                </a:solidFill>
                <a:latin typeface="微软雅黑" pitchFamily="34" charset="-122"/>
                <a:ea typeface="微软雅黑" pitchFamily="34" charset="-122"/>
              </a:rPr>
              <a:t>互联网中的所有路由器对目的地址是专用地址的数据报一律</a:t>
            </a:r>
            <a:r>
              <a:rPr lang="zh-CN" altLang="en-US" b="1" dirty="0">
                <a:solidFill>
                  <a:srgbClr val="FFFF00"/>
                </a:solidFill>
                <a:latin typeface="微软雅黑" pitchFamily="34" charset="-122"/>
                <a:ea typeface="微软雅黑" pitchFamily="34" charset="-122"/>
              </a:rPr>
              <a:t>不进行转发。</a:t>
            </a:r>
          </a:p>
        </p:txBody>
      </p:sp>
    </p:spTree>
    <p:extLst>
      <p:ext uri="{BB962C8B-B14F-4D97-AF65-F5344CB8AC3E}">
        <p14:creationId xmlns:p14="http://schemas.microsoft.com/office/powerpoint/2010/main" val="25598821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圆角矩形 12"/>
          <p:cNvSpPr/>
          <p:nvPr/>
        </p:nvSpPr>
        <p:spPr>
          <a:xfrm>
            <a:off x="545145" y="1035667"/>
            <a:ext cx="8053710" cy="324454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p:cNvSpPr>
            <a:spLocks noChangeArrowheads="1"/>
          </p:cNvSpPr>
          <p:nvPr/>
        </p:nvSpPr>
        <p:spPr bwMode="auto">
          <a:xfrm>
            <a:off x="545145" y="61361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040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RFC 1918 </a:t>
            </a:r>
            <a:r>
              <a:rPr lang="zh-CN" altLang="en-US" sz="2000" b="1" dirty="0">
                <a:solidFill>
                  <a:schemeClr val="bg1"/>
                </a:solidFill>
                <a:latin typeface="微软雅黑" pitchFamily="34" charset="-122"/>
                <a:ea typeface="微软雅黑" pitchFamily="34" charset="-122"/>
              </a:rPr>
              <a:t>指明的专用 </a:t>
            </a: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地址</a:t>
            </a:r>
          </a:p>
        </p:txBody>
      </p:sp>
      <p:sp>
        <p:nvSpPr>
          <p:cNvPr id="5" name="矩形 4"/>
          <p:cNvSpPr/>
          <p:nvPr/>
        </p:nvSpPr>
        <p:spPr>
          <a:xfrm>
            <a:off x="1681293" y="1195610"/>
            <a:ext cx="2398413" cy="369332"/>
          </a:xfrm>
          <a:prstGeom prst="rect">
            <a:avLst/>
          </a:prstGeom>
        </p:spPr>
        <p:txBody>
          <a:bodyPr wrap="none">
            <a:spAutoFit/>
          </a:bodyPr>
          <a:lstStyle/>
          <a:p>
            <a:pPr marL="360363" indent="-360363">
              <a:buNone/>
            </a:pPr>
            <a:r>
              <a:rPr lang="zh-CN" altLang="zh-CN" b="1" dirty="0">
                <a:solidFill>
                  <a:srgbClr val="C00000"/>
                </a:solidFill>
                <a:latin typeface="微软雅黑" pitchFamily="34" charset="-122"/>
                <a:ea typeface="微软雅黑" pitchFamily="34" charset="-122"/>
              </a:rPr>
              <a:t>三个专用</a:t>
            </a:r>
            <a:r>
              <a:rPr lang="en-US" altLang="zh-CN" b="1" dirty="0">
                <a:solidFill>
                  <a:srgbClr val="C00000"/>
                </a:solidFill>
                <a:latin typeface="微软雅黑" pitchFamily="34" charset="-122"/>
                <a:ea typeface="微软雅黑" pitchFamily="34" charset="-122"/>
              </a:rPr>
              <a:t> IP </a:t>
            </a:r>
            <a:r>
              <a:rPr lang="zh-CN" altLang="zh-CN" b="1" dirty="0">
                <a:solidFill>
                  <a:srgbClr val="C00000"/>
                </a:solidFill>
                <a:latin typeface="微软雅黑" pitchFamily="34" charset="-122"/>
                <a:ea typeface="微软雅黑" pitchFamily="34" charset="-122"/>
              </a:rPr>
              <a:t>地址块</a:t>
            </a:r>
            <a:r>
              <a:rPr lang="zh-CN" altLang="en-US" b="1" dirty="0">
                <a:solidFill>
                  <a:srgbClr val="C00000"/>
                </a:solidFill>
                <a:latin typeface="微软雅黑" pitchFamily="34" charset="-122"/>
                <a:ea typeface="微软雅黑" pitchFamily="34" charset="-122"/>
              </a:rPr>
              <a:t>：</a:t>
            </a:r>
            <a:endParaRPr lang="en-US" altLang="zh-CN" b="1" dirty="0">
              <a:solidFill>
                <a:srgbClr val="C00000"/>
              </a:solidFill>
              <a:latin typeface="微软雅黑" pitchFamily="34" charset="-122"/>
              <a:ea typeface="微软雅黑" pitchFamily="34" charset="-122"/>
            </a:endParaRPr>
          </a:p>
        </p:txBody>
      </p:sp>
      <p:sp>
        <p:nvSpPr>
          <p:cNvPr id="6" name="矩形 5"/>
          <p:cNvSpPr/>
          <p:nvPr/>
        </p:nvSpPr>
        <p:spPr>
          <a:xfrm>
            <a:off x="1765399" y="1629139"/>
            <a:ext cx="4839437" cy="369332"/>
          </a:xfrm>
          <a:prstGeom prst="rect">
            <a:avLst/>
          </a:prstGeom>
          <a:solidFill>
            <a:srgbClr val="0000FF"/>
          </a:solidFill>
        </p:spPr>
        <p:txBody>
          <a:bodyPr wrap="square">
            <a:spAutoFit/>
          </a:bodyPr>
          <a:lstStyle/>
          <a:p>
            <a:r>
              <a:rPr lang="en-US" altLang="zh-CN" b="1" dirty="0">
                <a:solidFill>
                  <a:schemeClr val="bg1"/>
                </a:solidFill>
                <a:latin typeface="微软雅黑" pitchFamily="34" charset="-122"/>
                <a:ea typeface="微软雅黑" pitchFamily="34" charset="-122"/>
              </a:rPr>
              <a:t>(1) 10.0.0.0/8</a:t>
            </a:r>
          </a:p>
        </p:txBody>
      </p:sp>
      <p:sp>
        <p:nvSpPr>
          <p:cNvPr id="7" name="矩形 6"/>
          <p:cNvSpPr/>
          <p:nvPr/>
        </p:nvSpPr>
        <p:spPr>
          <a:xfrm>
            <a:off x="1765399" y="2459224"/>
            <a:ext cx="4839437" cy="369332"/>
          </a:xfrm>
          <a:prstGeom prst="rect">
            <a:avLst/>
          </a:prstGeom>
          <a:solidFill>
            <a:srgbClr val="0000FF"/>
          </a:solidFill>
        </p:spPr>
        <p:txBody>
          <a:bodyPr wrap="square">
            <a:spAutoFit/>
          </a:bodyPr>
          <a:lstStyle/>
          <a:p>
            <a:r>
              <a:rPr lang="en-US" altLang="zh-CN" b="1" dirty="0">
                <a:solidFill>
                  <a:schemeClr val="bg1"/>
                </a:solidFill>
                <a:latin typeface="微软雅黑" pitchFamily="34" charset="-122"/>
                <a:ea typeface="微软雅黑" pitchFamily="34" charset="-122"/>
              </a:rPr>
              <a:t>(2) 172.16.0.0/12</a:t>
            </a:r>
          </a:p>
        </p:txBody>
      </p:sp>
      <p:sp>
        <p:nvSpPr>
          <p:cNvPr id="8" name="矩形 7"/>
          <p:cNvSpPr/>
          <p:nvPr/>
        </p:nvSpPr>
        <p:spPr>
          <a:xfrm>
            <a:off x="1765399" y="3287534"/>
            <a:ext cx="4839437" cy="369332"/>
          </a:xfrm>
          <a:prstGeom prst="rect">
            <a:avLst/>
          </a:prstGeom>
          <a:solidFill>
            <a:srgbClr val="0000FF"/>
          </a:solidFill>
        </p:spPr>
        <p:txBody>
          <a:bodyPr wrap="square">
            <a:spAutoFit/>
          </a:bodyPr>
          <a:lstStyle/>
          <a:p>
            <a:r>
              <a:rPr lang="en-US" altLang="zh-CN" b="1" dirty="0">
                <a:solidFill>
                  <a:schemeClr val="bg1"/>
                </a:solidFill>
                <a:latin typeface="微软雅黑" pitchFamily="34" charset="-122"/>
                <a:ea typeface="微软雅黑" pitchFamily="34" charset="-122"/>
              </a:rPr>
              <a:t>(3) 192.168.0.0/16</a:t>
            </a:r>
          </a:p>
        </p:txBody>
      </p:sp>
      <p:sp>
        <p:nvSpPr>
          <p:cNvPr id="9" name="矩形 8"/>
          <p:cNvSpPr/>
          <p:nvPr/>
        </p:nvSpPr>
        <p:spPr>
          <a:xfrm>
            <a:off x="2167642" y="2003203"/>
            <a:ext cx="4527201" cy="338554"/>
          </a:xfrm>
          <a:prstGeom prst="rect">
            <a:avLst/>
          </a:prstGeom>
        </p:spPr>
        <p:txBody>
          <a:bodyPr wrap="none">
            <a:spAutoFit/>
          </a:bodyPr>
          <a:lstStyle/>
          <a:p>
            <a:r>
              <a:rPr lang="en-US" altLang="zh-CN" sz="1600" b="1" dirty="0">
                <a:latin typeface="微软雅黑" pitchFamily="34" charset="-122"/>
                <a:ea typeface="微软雅黑" pitchFamily="34" charset="-122"/>
              </a:rPr>
              <a:t>A</a:t>
            </a:r>
            <a:r>
              <a:rPr lang="zh-CN" altLang="en-US" sz="1600" b="1" dirty="0">
                <a:latin typeface="微软雅黑" pitchFamily="34" charset="-122"/>
                <a:ea typeface="微软雅黑" pitchFamily="34" charset="-122"/>
              </a:rPr>
              <a:t>类，从 </a:t>
            </a:r>
            <a:r>
              <a:rPr lang="en-US" altLang="zh-CN" sz="1600" b="1" dirty="0">
                <a:latin typeface="微软雅黑" pitchFamily="34" charset="-122"/>
                <a:ea typeface="微软雅黑" pitchFamily="34" charset="-122"/>
              </a:rPr>
              <a:t>10.0.0.0 </a:t>
            </a:r>
            <a:r>
              <a:rPr lang="zh-CN" altLang="en-US" sz="1600" b="1" dirty="0">
                <a:latin typeface="微软雅黑" pitchFamily="34" charset="-122"/>
                <a:ea typeface="微软雅黑" pitchFamily="34" charset="-122"/>
              </a:rPr>
              <a:t>到 </a:t>
            </a:r>
            <a:r>
              <a:rPr lang="en-US" altLang="zh-CN" sz="1600" b="1" dirty="0">
                <a:latin typeface="微软雅黑" pitchFamily="34" charset="-122"/>
                <a:ea typeface="微软雅黑" pitchFamily="34" charset="-122"/>
              </a:rPr>
              <a:t>10.255.255.255</a:t>
            </a:r>
            <a:r>
              <a:rPr lang="zh-CN" altLang="en-US" sz="1600" b="1" dirty="0">
                <a:latin typeface="微软雅黑" pitchFamily="34" charset="-122"/>
                <a:ea typeface="微软雅黑" pitchFamily="34" charset="-122"/>
              </a:rPr>
              <a:t>。</a:t>
            </a:r>
            <a:r>
              <a:rPr lang="en-US" altLang="zh-CN" sz="1600" b="1" dirty="0">
                <a:latin typeface="微软雅黑" pitchFamily="34" charset="-122"/>
                <a:ea typeface="微软雅黑" pitchFamily="34" charset="-122"/>
              </a:rPr>
              <a:t>1 </a:t>
            </a:r>
            <a:r>
              <a:rPr lang="zh-CN" altLang="en-US" sz="1600" b="1" dirty="0">
                <a:latin typeface="微软雅黑" pitchFamily="34" charset="-122"/>
                <a:ea typeface="微软雅黑" pitchFamily="34" charset="-122"/>
              </a:rPr>
              <a:t>个。</a:t>
            </a:r>
          </a:p>
        </p:txBody>
      </p:sp>
      <p:sp>
        <p:nvSpPr>
          <p:cNvPr id="10" name="矩形 9"/>
          <p:cNvSpPr/>
          <p:nvPr/>
        </p:nvSpPr>
        <p:spPr>
          <a:xfrm>
            <a:off x="2167642" y="2814455"/>
            <a:ext cx="5292416" cy="338554"/>
          </a:xfrm>
          <a:prstGeom prst="rect">
            <a:avLst/>
          </a:prstGeom>
        </p:spPr>
        <p:txBody>
          <a:bodyPr wrap="square">
            <a:spAutoFit/>
          </a:bodyPr>
          <a:lstStyle/>
          <a:p>
            <a:r>
              <a:rPr lang="en-US" altLang="zh-CN" sz="1600" b="1" dirty="0">
                <a:latin typeface="微软雅黑" pitchFamily="34" charset="-122"/>
                <a:ea typeface="微软雅黑" pitchFamily="34" charset="-122"/>
              </a:rPr>
              <a:t>B</a:t>
            </a:r>
            <a:r>
              <a:rPr lang="zh-CN" altLang="en-US" sz="1600" b="1" dirty="0">
                <a:latin typeface="微软雅黑" pitchFamily="34" charset="-122"/>
                <a:ea typeface="微软雅黑" pitchFamily="34" charset="-122"/>
              </a:rPr>
              <a:t>类，从 </a:t>
            </a:r>
            <a:r>
              <a:rPr lang="en-US" altLang="zh-CN" sz="1600" b="1" dirty="0">
                <a:latin typeface="微软雅黑" pitchFamily="34" charset="-122"/>
                <a:ea typeface="微软雅黑" pitchFamily="34" charset="-122"/>
              </a:rPr>
              <a:t>172.16.0.0 </a:t>
            </a:r>
            <a:r>
              <a:rPr lang="zh-CN" altLang="en-US" sz="1600" b="1" dirty="0">
                <a:latin typeface="微软雅黑" pitchFamily="34" charset="-122"/>
                <a:ea typeface="微软雅黑" pitchFamily="34" charset="-122"/>
              </a:rPr>
              <a:t>到 </a:t>
            </a:r>
            <a:r>
              <a:rPr lang="en-US" altLang="zh-CN" sz="1600" b="1" dirty="0">
                <a:latin typeface="微软雅黑" pitchFamily="34" charset="-122"/>
                <a:ea typeface="微软雅黑" pitchFamily="34" charset="-122"/>
              </a:rPr>
              <a:t>172.31.255.255</a:t>
            </a:r>
            <a:r>
              <a:rPr lang="zh-CN" altLang="en-US" sz="1600" b="1" dirty="0">
                <a:latin typeface="微软雅黑" pitchFamily="34" charset="-122"/>
                <a:ea typeface="微软雅黑" pitchFamily="34" charset="-122"/>
              </a:rPr>
              <a:t>。连续 </a:t>
            </a:r>
            <a:r>
              <a:rPr lang="en-US" altLang="zh-CN" sz="1600" b="1" dirty="0">
                <a:latin typeface="微软雅黑" pitchFamily="34" charset="-122"/>
                <a:ea typeface="微软雅黑" pitchFamily="34" charset="-122"/>
              </a:rPr>
              <a:t>16 </a:t>
            </a:r>
            <a:r>
              <a:rPr lang="zh-CN" altLang="en-US" sz="1600" b="1" dirty="0">
                <a:latin typeface="微软雅黑" pitchFamily="34" charset="-122"/>
                <a:ea typeface="微软雅黑" pitchFamily="34" charset="-122"/>
              </a:rPr>
              <a:t>个。</a:t>
            </a:r>
          </a:p>
        </p:txBody>
      </p:sp>
      <p:sp>
        <p:nvSpPr>
          <p:cNvPr id="11" name="矩形 10"/>
          <p:cNvSpPr/>
          <p:nvPr/>
        </p:nvSpPr>
        <p:spPr>
          <a:xfrm>
            <a:off x="2167642" y="3632461"/>
            <a:ext cx="5742278" cy="338554"/>
          </a:xfrm>
          <a:prstGeom prst="rect">
            <a:avLst/>
          </a:prstGeom>
        </p:spPr>
        <p:txBody>
          <a:bodyPr wrap="none">
            <a:spAutoFit/>
          </a:bodyPr>
          <a:lstStyle/>
          <a:p>
            <a:r>
              <a:rPr lang="en-US" altLang="zh-CN" sz="1600" b="1" dirty="0">
                <a:latin typeface="微软雅黑" pitchFamily="34" charset="-122"/>
                <a:ea typeface="微软雅黑" pitchFamily="34" charset="-122"/>
              </a:rPr>
              <a:t>C</a:t>
            </a:r>
            <a:r>
              <a:rPr lang="zh-CN" altLang="en-US" sz="1600" b="1" dirty="0">
                <a:latin typeface="微软雅黑" pitchFamily="34" charset="-122"/>
                <a:ea typeface="微软雅黑" pitchFamily="34" charset="-122"/>
              </a:rPr>
              <a:t>类，从 </a:t>
            </a:r>
            <a:r>
              <a:rPr lang="en-US" altLang="zh-CN" sz="1600" b="1" dirty="0">
                <a:latin typeface="微软雅黑" pitchFamily="34" charset="-122"/>
                <a:ea typeface="微软雅黑" pitchFamily="34" charset="-122"/>
              </a:rPr>
              <a:t>192.168.0.0 </a:t>
            </a:r>
            <a:r>
              <a:rPr lang="zh-CN" altLang="en-US" sz="1600" b="1" dirty="0">
                <a:latin typeface="微软雅黑" pitchFamily="34" charset="-122"/>
                <a:ea typeface="微软雅黑" pitchFamily="34" charset="-122"/>
              </a:rPr>
              <a:t>到 </a:t>
            </a:r>
            <a:r>
              <a:rPr lang="en-US" altLang="zh-CN" sz="1600" b="1" dirty="0">
                <a:latin typeface="微软雅黑" pitchFamily="34" charset="-122"/>
                <a:ea typeface="微软雅黑" pitchFamily="34" charset="-122"/>
              </a:rPr>
              <a:t>192.168.255.255</a:t>
            </a:r>
            <a:r>
              <a:rPr lang="zh-CN" altLang="en-US" sz="1600" b="1" dirty="0">
                <a:latin typeface="微软雅黑" pitchFamily="34" charset="-122"/>
                <a:ea typeface="微软雅黑" pitchFamily="34" charset="-122"/>
              </a:rPr>
              <a:t>。连续 </a:t>
            </a:r>
            <a:r>
              <a:rPr lang="en-US" altLang="zh-CN" sz="1600" b="1" dirty="0">
                <a:latin typeface="微软雅黑" pitchFamily="34" charset="-122"/>
                <a:ea typeface="微软雅黑" pitchFamily="34" charset="-122"/>
              </a:rPr>
              <a:t>256 </a:t>
            </a:r>
            <a:r>
              <a:rPr lang="zh-CN" altLang="en-US" sz="1600" b="1" dirty="0">
                <a:latin typeface="微软雅黑" pitchFamily="34" charset="-122"/>
                <a:ea typeface="微软雅黑" pitchFamily="34" charset="-122"/>
              </a:rPr>
              <a:t>个。</a:t>
            </a:r>
          </a:p>
        </p:txBody>
      </p:sp>
    </p:spTree>
    <p:extLst>
      <p:ext uri="{BB962C8B-B14F-4D97-AF65-F5344CB8AC3E}">
        <p14:creationId xmlns:p14="http://schemas.microsoft.com/office/powerpoint/2010/main" val="182552182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5" y="969911"/>
            <a:ext cx="8053710" cy="13619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采用专用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地址的互连网络称为</a:t>
            </a:r>
            <a:r>
              <a:rPr lang="zh-CN" altLang="en-US" sz="2000" b="1" dirty="0">
                <a:solidFill>
                  <a:srgbClr val="0000FF"/>
                </a:solidFill>
                <a:latin typeface="微软雅黑" pitchFamily="34" charset="-122"/>
                <a:ea typeface="微软雅黑" pitchFamily="34" charset="-122"/>
              </a:rPr>
              <a:t>专用互联网</a:t>
            </a:r>
            <a:r>
              <a:rPr lang="zh-CN" altLang="en-US" sz="2000" b="1" dirty="0">
                <a:latin typeface="微软雅黑" pitchFamily="34" charset="-122"/>
                <a:ea typeface="微软雅黑" pitchFamily="34" charset="-122"/>
              </a:rPr>
              <a:t>或</a:t>
            </a:r>
            <a:r>
              <a:rPr lang="zh-CN" altLang="en-US" sz="2000" b="1" dirty="0">
                <a:solidFill>
                  <a:srgbClr val="0000FF"/>
                </a:solidFill>
                <a:latin typeface="微软雅黑" pitchFamily="34" charset="-122"/>
                <a:ea typeface="微软雅黑" pitchFamily="34" charset="-122"/>
              </a:rPr>
              <a:t>本地互联网</a:t>
            </a:r>
            <a:r>
              <a:rPr lang="zh-CN" altLang="en-US" sz="2000" b="1" dirty="0">
                <a:latin typeface="微软雅黑" pitchFamily="34" charset="-122"/>
                <a:ea typeface="微软雅黑" pitchFamily="34" charset="-122"/>
              </a:rPr>
              <a:t>，或更简单些，就叫做</a:t>
            </a:r>
            <a:r>
              <a:rPr lang="zh-CN" altLang="en-US" sz="2000" b="1" dirty="0">
                <a:solidFill>
                  <a:srgbClr val="0000FF"/>
                </a:solidFill>
                <a:latin typeface="微软雅黑" pitchFamily="34" charset="-122"/>
                <a:ea typeface="微软雅黑" pitchFamily="34" charset="-122"/>
              </a:rPr>
              <a:t>专用网</a:t>
            </a:r>
            <a:r>
              <a:rPr lang="zh-CN" altLang="en-US" sz="2000" b="1" dirty="0">
                <a:latin typeface="微软雅黑" pitchFamily="34" charset="-122"/>
                <a:ea typeface="微软雅黑" pitchFamily="34" charset="-122"/>
              </a:rPr>
              <a:t>。</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专用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地址也叫做</a:t>
            </a:r>
            <a:r>
              <a:rPr lang="zh-CN" altLang="en-US" sz="2000" b="1" dirty="0">
                <a:solidFill>
                  <a:srgbClr val="0000FF"/>
                </a:solidFill>
                <a:latin typeface="微软雅黑" pitchFamily="34" charset="-122"/>
                <a:ea typeface="微软雅黑" pitchFamily="34" charset="-122"/>
              </a:rPr>
              <a:t>可重用地址</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(reusable address)</a:t>
            </a:r>
            <a:r>
              <a:rPr lang="zh-CN" altLang="en-US" sz="2000" b="1" dirty="0">
                <a:latin typeface="微软雅黑" pitchFamily="34" charset="-122"/>
                <a:ea typeface="微软雅黑" pitchFamily="34" charset="-122"/>
              </a:rPr>
              <a:t>。</a:t>
            </a:r>
          </a:p>
        </p:txBody>
      </p:sp>
      <p:sp>
        <p:nvSpPr>
          <p:cNvPr id="3" name="AutoShape 5"/>
          <p:cNvSpPr>
            <a:spLocks noChangeArrowheads="1"/>
          </p:cNvSpPr>
          <p:nvPr/>
        </p:nvSpPr>
        <p:spPr bwMode="auto">
          <a:xfrm>
            <a:off x="545145" y="619098"/>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5887"/>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专用网</a:t>
            </a:r>
          </a:p>
        </p:txBody>
      </p:sp>
    </p:spTree>
    <p:extLst>
      <p:ext uri="{BB962C8B-B14F-4D97-AF65-F5344CB8AC3E}">
        <p14:creationId xmlns:p14="http://schemas.microsoft.com/office/powerpoint/2010/main" val="78802005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5" y="965134"/>
            <a:ext cx="8053710" cy="26314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利用</a:t>
            </a:r>
            <a:r>
              <a:rPr lang="zh-CN" altLang="en-US" sz="2000" b="1" dirty="0">
                <a:solidFill>
                  <a:srgbClr val="C00000"/>
                </a:solidFill>
                <a:latin typeface="微软雅黑" pitchFamily="34" charset="-122"/>
                <a:ea typeface="微软雅黑" pitchFamily="34" charset="-122"/>
              </a:rPr>
              <a:t>公用互联网</a:t>
            </a:r>
            <a:r>
              <a:rPr lang="zh-CN" altLang="en-US" sz="2000" b="1" dirty="0">
                <a:latin typeface="微软雅黑" pitchFamily="34" charset="-122"/>
                <a:ea typeface="微软雅黑" pitchFamily="34" charset="-122"/>
              </a:rPr>
              <a:t>作为本机构各</a:t>
            </a:r>
            <a:r>
              <a:rPr lang="zh-CN" altLang="en-US" sz="2000" b="1" dirty="0">
                <a:solidFill>
                  <a:srgbClr val="C00000"/>
                </a:solidFill>
                <a:latin typeface="微软雅黑" pitchFamily="34" charset="-122"/>
                <a:ea typeface="微软雅黑" pitchFamily="34" charset="-122"/>
              </a:rPr>
              <a:t>专用网之间</a:t>
            </a:r>
            <a:r>
              <a:rPr lang="zh-CN" altLang="en-US" sz="2000" b="1" dirty="0">
                <a:latin typeface="微软雅黑" pitchFamily="34" charset="-122"/>
                <a:ea typeface="微软雅黑" pitchFamily="34" charset="-122"/>
              </a:rPr>
              <a:t>的</a:t>
            </a:r>
            <a:r>
              <a:rPr lang="zh-CN" altLang="en-US" sz="2000" b="1" dirty="0">
                <a:solidFill>
                  <a:srgbClr val="C00000"/>
                </a:solidFill>
                <a:latin typeface="微软雅黑" pitchFamily="34" charset="-122"/>
                <a:ea typeface="微软雅黑" pitchFamily="34" charset="-122"/>
              </a:rPr>
              <a:t>通信载体，</a:t>
            </a:r>
            <a:r>
              <a:rPr lang="zh-CN" altLang="en-US" sz="2000" b="1" dirty="0">
                <a:latin typeface="微软雅黑" pitchFamily="34" charset="-122"/>
                <a:ea typeface="微软雅黑" pitchFamily="34" charset="-122"/>
              </a:rPr>
              <a:t>这样的专用网又称为</a:t>
            </a:r>
            <a:r>
              <a:rPr lang="zh-CN" altLang="en-US" sz="2000" b="1" dirty="0">
                <a:solidFill>
                  <a:srgbClr val="0000FF"/>
                </a:solidFill>
                <a:latin typeface="微软雅黑" pitchFamily="34" charset="-122"/>
                <a:ea typeface="微软雅黑" pitchFamily="34" charset="-122"/>
              </a:rPr>
              <a:t>虚拟专用网 </a:t>
            </a:r>
            <a:r>
              <a:rPr lang="en-US" altLang="zh-CN" sz="2000" b="1" dirty="0">
                <a:solidFill>
                  <a:srgbClr val="0000FF"/>
                </a:solidFill>
                <a:latin typeface="微软雅黑" pitchFamily="34" charset="-122"/>
                <a:ea typeface="微软雅黑" pitchFamily="34" charset="-122"/>
              </a:rPr>
              <a:t>VPN </a:t>
            </a:r>
            <a:r>
              <a:rPr lang="en-US" altLang="zh-CN" sz="2000" b="1" dirty="0">
                <a:latin typeface="微软雅黑" pitchFamily="34" charset="-122"/>
                <a:ea typeface="微软雅黑" pitchFamily="34" charset="-122"/>
              </a:rPr>
              <a:t>(Virtual Private Network)</a:t>
            </a:r>
            <a:r>
              <a:rPr lang="zh-CN" altLang="en-US" sz="2000" b="1" dirty="0">
                <a:latin typeface="微软雅黑" pitchFamily="34" charset="-122"/>
                <a:ea typeface="微软雅黑" pitchFamily="34" charset="-122"/>
              </a:rPr>
              <a:t>。</a:t>
            </a:r>
          </a:p>
          <a:p>
            <a:pPr marL="285750" indent="-28575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专用网</a:t>
            </a:r>
            <a:r>
              <a:rPr lang="zh-CN" altLang="en-US" sz="2000" b="1" dirty="0">
                <a:latin typeface="微软雅黑" pitchFamily="34" charset="-122"/>
                <a:ea typeface="微软雅黑" pitchFamily="34" charset="-122"/>
              </a:rPr>
              <a:t>：指这种网络是为本机构的主机用于机构内部的通信，而不是用于和网络外非本机构的主机通信。</a:t>
            </a:r>
          </a:p>
          <a:p>
            <a:pPr marL="285750" indent="-28575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虚拟</a:t>
            </a:r>
            <a:r>
              <a:rPr lang="zh-CN" altLang="en-US" sz="2000" b="1" dirty="0">
                <a:latin typeface="微软雅黑" pitchFamily="34" charset="-122"/>
                <a:ea typeface="微软雅黑" pitchFamily="34" charset="-122"/>
              </a:rPr>
              <a:t>：表示实际上</a:t>
            </a:r>
            <a:r>
              <a:rPr lang="zh-CN" altLang="en-US" sz="2000" b="1" dirty="0">
                <a:solidFill>
                  <a:srgbClr val="0000FF"/>
                </a:solidFill>
                <a:latin typeface="微软雅黑" pitchFamily="34" charset="-122"/>
                <a:ea typeface="微软雅黑" pitchFamily="34" charset="-122"/>
              </a:rPr>
              <a:t>没有使用通信专线，</a:t>
            </a:r>
            <a:r>
              <a:rPr lang="zh-CN" altLang="en-US" sz="2000" b="1" dirty="0">
                <a:latin typeface="微软雅黑" pitchFamily="34" charset="-122"/>
                <a:ea typeface="微软雅黑" pitchFamily="34" charset="-122"/>
              </a:rPr>
              <a:t>只是</a:t>
            </a:r>
            <a:r>
              <a:rPr lang="zh-CN" altLang="en-US" sz="2000" b="1" dirty="0">
                <a:solidFill>
                  <a:srgbClr val="C00000"/>
                </a:solidFill>
                <a:latin typeface="微软雅黑" pitchFamily="34" charset="-122"/>
                <a:ea typeface="微软雅黑" pitchFamily="34" charset="-122"/>
              </a:rPr>
              <a:t>在效果上</a:t>
            </a:r>
            <a:r>
              <a:rPr lang="zh-CN" altLang="en-US" sz="2000" b="1" dirty="0">
                <a:latin typeface="微软雅黑" pitchFamily="34" charset="-122"/>
                <a:ea typeface="微软雅黑" pitchFamily="34" charset="-122"/>
              </a:rPr>
              <a:t>和真正的专用网一样。</a:t>
            </a:r>
          </a:p>
        </p:txBody>
      </p:sp>
      <p:sp>
        <p:nvSpPr>
          <p:cNvPr id="3" name="AutoShape 5"/>
          <p:cNvSpPr>
            <a:spLocks noChangeArrowheads="1"/>
          </p:cNvSpPr>
          <p:nvPr/>
        </p:nvSpPr>
        <p:spPr bwMode="auto">
          <a:xfrm>
            <a:off x="545145" y="614321"/>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111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虚拟专用网 </a:t>
            </a:r>
            <a:r>
              <a:rPr lang="en-US" altLang="zh-CN" sz="2000" b="1" dirty="0">
                <a:solidFill>
                  <a:schemeClr val="bg1"/>
                </a:solidFill>
                <a:latin typeface="微软雅黑" pitchFamily="34" charset="-122"/>
                <a:ea typeface="微软雅黑" pitchFamily="34" charset="-122"/>
              </a:rPr>
              <a:t>VPN</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166328281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5" y="1002818"/>
            <a:ext cx="8053710" cy="17851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如果专用网不同网点之间的通信必须经过公用的互联网，但又有保密的要求，那么所有通过互联网传送的</a:t>
            </a:r>
            <a:r>
              <a:rPr lang="zh-CN" altLang="en-US" sz="2000" b="1" dirty="0">
                <a:solidFill>
                  <a:srgbClr val="0000FF"/>
                </a:solidFill>
                <a:latin typeface="微软雅黑" pitchFamily="34" charset="-122"/>
                <a:ea typeface="微软雅黑" pitchFamily="34" charset="-122"/>
              </a:rPr>
              <a:t>数据都必须</a:t>
            </a:r>
            <a:r>
              <a:rPr lang="zh-CN" altLang="en-US" sz="2000" b="1" dirty="0">
                <a:solidFill>
                  <a:srgbClr val="C00000"/>
                </a:solidFill>
                <a:latin typeface="微软雅黑" pitchFamily="34" charset="-122"/>
                <a:ea typeface="微软雅黑" pitchFamily="34" charset="-122"/>
              </a:rPr>
              <a:t>加密。</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必须为每一个场所购买</a:t>
            </a:r>
            <a:r>
              <a:rPr lang="zh-CN" altLang="en-US" sz="2000" b="1" dirty="0">
                <a:solidFill>
                  <a:srgbClr val="C00000"/>
                </a:solidFill>
                <a:latin typeface="微软雅黑" pitchFamily="34" charset="-122"/>
                <a:ea typeface="微软雅黑" pitchFamily="34" charset="-122"/>
              </a:rPr>
              <a:t>专门的</a:t>
            </a:r>
            <a:r>
              <a:rPr lang="zh-CN" altLang="en-US" sz="2000" b="1" dirty="0">
                <a:latin typeface="微软雅黑" pitchFamily="34" charset="-122"/>
                <a:ea typeface="微软雅黑" pitchFamily="34" charset="-122"/>
              </a:rPr>
              <a:t>硬件和软件，并进行配置，使每一个场所的 </a:t>
            </a:r>
            <a:r>
              <a:rPr lang="en-US" altLang="zh-CN" sz="2000" b="1" dirty="0">
                <a:latin typeface="微软雅黑" pitchFamily="34" charset="-122"/>
                <a:ea typeface="微软雅黑" pitchFamily="34" charset="-122"/>
              </a:rPr>
              <a:t>VPN </a:t>
            </a:r>
            <a:r>
              <a:rPr lang="zh-CN" altLang="en-US" sz="2000" b="1" dirty="0">
                <a:latin typeface="微软雅黑" pitchFamily="34" charset="-122"/>
                <a:ea typeface="微软雅黑" pitchFamily="34" charset="-122"/>
              </a:rPr>
              <a:t>系统</a:t>
            </a:r>
            <a:r>
              <a:rPr lang="zh-CN" altLang="en-US" sz="2000" b="1" dirty="0">
                <a:solidFill>
                  <a:srgbClr val="C00000"/>
                </a:solidFill>
                <a:latin typeface="微软雅黑" pitchFamily="34" charset="-122"/>
                <a:ea typeface="微软雅黑" pitchFamily="34" charset="-122"/>
              </a:rPr>
              <a:t>都知道</a:t>
            </a:r>
            <a:r>
              <a:rPr lang="zh-CN" altLang="en-US" sz="2000" b="1" dirty="0">
                <a:latin typeface="微软雅黑" pitchFamily="34" charset="-122"/>
                <a:ea typeface="微软雅黑" pitchFamily="34" charset="-122"/>
              </a:rPr>
              <a:t>其他场所的地址。</a:t>
            </a:r>
          </a:p>
        </p:txBody>
      </p:sp>
      <p:sp>
        <p:nvSpPr>
          <p:cNvPr id="3" name="AutoShape 5"/>
          <p:cNvSpPr>
            <a:spLocks noChangeArrowheads="1"/>
          </p:cNvSpPr>
          <p:nvPr/>
        </p:nvSpPr>
        <p:spPr bwMode="auto">
          <a:xfrm>
            <a:off x="545145" y="61579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258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虚拟专用网 </a:t>
            </a:r>
            <a:r>
              <a:rPr lang="en-US" altLang="zh-CN" sz="2000" b="1" dirty="0">
                <a:solidFill>
                  <a:schemeClr val="bg1"/>
                </a:solidFill>
                <a:latin typeface="微软雅黑" pitchFamily="34" charset="-122"/>
                <a:ea typeface="微软雅黑" pitchFamily="34" charset="-122"/>
              </a:rPr>
              <a:t>VPN </a:t>
            </a:r>
            <a:r>
              <a:rPr lang="zh-CN" altLang="en-US" sz="2000" b="1" dirty="0">
                <a:solidFill>
                  <a:schemeClr val="bg1"/>
                </a:solidFill>
                <a:latin typeface="微软雅黑" pitchFamily="34" charset="-122"/>
                <a:ea typeface="微软雅黑" pitchFamily="34" charset="-122"/>
              </a:rPr>
              <a:t>的构建</a:t>
            </a:r>
          </a:p>
        </p:txBody>
      </p:sp>
    </p:spTree>
    <p:extLst>
      <p:ext uri="{BB962C8B-B14F-4D97-AF65-F5344CB8AC3E}">
        <p14:creationId xmlns:p14="http://schemas.microsoft.com/office/powerpoint/2010/main" val="91467628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5" y="1071879"/>
            <a:ext cx="8053710" cy="324454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grpSp>
        <p:nvGrpSpPr>
          <p:cNvPr id="95" name="组合 94"/>
          <p:cNvGrpSpPr/>
          <p:nvPr/>
        </p:nvGrpSpPr>
        <p:grpSpPr>
          <a:xfrm>
            <a:off x="6476180" y="1726593"/>
            <a:ext cx="1104466" cy="1200192"/>
            <a:chOff x="6476180" y="1753752"/>
            <a:chExt cx="1104466" cy="1200192"/>
          </a:xfrm>
        </p:grpSpPr>
        <p:grpSp>
          <p:nvGrpSpPr>
            <p:cNvPr id="67" name="Group 65"/>
            <p:cNvGrpSpPr>
              <a:grpSpLocks/>
            </p:cNvGrpSpPr>
            <p:nvPr/>
          </p:nvGrpSpPr>
          <p:grpSpPr bwMode="auto">
            <a:xfrm>
              <a:off x="6476180" y="1933292"/>
              <a:ext cx="1104466" cy="822867"/>
              <a:chOff x="4656" y="1528"/>
              <a:chExt cx="1011" cy="816"/>
            </a:xfrm>
          </p:grpSpPr>
          <p:sp>
            <p:nvSpPr>
              <p:cNvPr id="68" name="Line 66"/>
              <p:cNvSpPr>
                <a:spLocks noChangeShapeType="1"/>
              </p:cNvSpPr>
              <p:nvPr/>
            </p:nvSpPr>
            <p:spPr bwMode="auto">
              <a:xfrm flipH="1" flipV="1">
                <a:off x="4800" y="1912"/>
                <a:ext cx="348" cy="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9" name="Line 67"/>
              <p:cNvSpPr>
                <a:spLocks noChangeShapeType="1"/>
              </p:cNvSpPr>
              <p:nvPr/>
            </p:nvSpPr>
            <p:spPr bwMode="auto">
              <a:xfrm flipH="1" flipV="1">
                <a:off x="4656" y="2152"/>
                <a:ext cx="336" cy="19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0" name="Line 68"/>
              <p:cNvSpPr>
                <a:spLocks noChangeShapeType="1"/>
              </p:cNvSpPr>
              <p:nvPr/>
            </p:nvSpPr>
            <p:spPr bwMode="auto">
              <a:xfrm flipH="1">
                <a:off x="4800" y="1528"/>
                <a:ext cx="240" cy="96"/>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2" name="Text Box 70"/>
              <p:cNvSpPr txBox="1">
                <a:spLocks noChangeArrowheads="1"/>
              </p:cNvSpPr>
              <p:nvPr/>
            </p:nvSpPr>
            <p:spPr bwMode="auto">
              <a:xfrm>
                <a:off x="5316" y="1729"/>
                <a:ext cx="276"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Y</a:t>
                </a:r>
              </a:p>
            </p:txBody>
          </p:sp>
          <p:sp>
            <p:nvSpPr>
              <p:cNvPr id="73" name="Text Box 71"/>
              <p:cNvSpPr txBox="1">
                <a:spLocks noChangeArrowheads="1"/>
              </p:cNvSpPr>
              <p:nvPr/>
            </p:nvSpPr>
            <p:spPr bwMode="auto">
              <a:xfrm>
                <a:off x="4851" y="1955"/>
                <a:ext cx="816"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400" b="1" dirty="0">
                    <a:solidFill>
                      <a:srgbClr val="CC00CC"/>
                    </a:solidFill>
                    <a:latin typeface="微软雅黑" pitchFamily="34" charset="-122"/>
                    <a:ea typeface="微软雅黑" pitchFamily="34" charset="-122"/>
                  </a:rPr>
                  <a:t>10.2.0.3</a:t>
                </a:r>
              </a:p>
            </p:txBody>
          </p:sp>
        </p:grpSp>
        <p:pic>
          <p:nvPicPr>
            <p:cNvPr id="92"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836287" y="1753752"/>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93"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987570" y="2139702"/>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94"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804248" y="2675562"/>
              <a:ext cx="278382" cy="27838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90" name="组合 89"/>
          <p:cNvGrpSpPr/>
          <p:nvPr/>
        </p:nvGrpSpPr>
        <p:grpSpPr>
          <a:xfrm>
            <a:off x="1282740" y="1708657"/>
            <a:ext cx="1204971" cy="1290585"/>
            <a:chOff x="1338397" y="1735816"/>
            <a:chExt cx="1204971" cy="1290585"/>
          </a:xfrm>
        </p:grpSpPr>
        <p:grpSp>
          <p:nvGrpSpPr>
            <p:cNvPr id="5" name="Group 2"/>
            <p:cNvGrpSpPr>
              <a:grpSpLocks/>
            </p:cNvGrpSpPr>
            <p:nvPr/>
          </p:nvGrpSpPr>
          <p:grpSpPr bwMode="auto">
            <a:xfrm>
              <a:off x="1338397" y="1981696"/>
              <a:ext cx="1204971" cy="871271"/>
              <a:chOff x="-47" y="1576"/>
              <a:chExt cx="1103" cy="864"/>
            </a:xfrm>
          </p:grpSpPr>
          <p:sp>
            <p:nvSpPr>
              <p:cNvPr id="6" name="Line 3"/>
              <p:cNvSpPr>
                <a:spLocks noChangeShapeType="1"/>
              </p:cNvSpPr>
              <p:nvPr/>
            </p:nvSpPr>
            <p:spPr bwMode="auto">
              <a:xfrm flipV="1">
                <a:off x="816" y="2248"/>
                <a:ext cx="240" cy="19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 name="Line 4"/>
              <p:cNvSpPr>
                <a:spLocks noChangeShapeType="1"/>
              </p:cNvSpPr>
              <p:nvPr/>
            </p:nvSpPr>
            <p:spPr bwMode="auto">
              <a:xfrm>
                <a:off x="624" y="1576"/>
                <a:ext cx="240" cy="144"/>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 name="Line 5"/>
              <p:cNvSpPr>
                <a:spLocks noChangeShapeType="1"/>
              </p:cNvSpPr>
              <p:nvPr/>
            </p:nvSpPr>
            <p:spPr bwMode="auto">
              <a:xfrm flipV="1">
                <a:off x="432" y="1967"/>
                <a:ext cx="288" cy="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 name="Text Box 7"/>
              <p:cNvSpPr txBox="1">
                <a:spLocks noChangeArrowheads="1"/>
              </p:cNvSpPr>
              <p:nvPr/>
            </p:nvSpPr>
            <p:spPr bwMode="auto">
              <a:xfrm>
                <a:off x="25" y="1779"/>
                <a:ext cx="283"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X</a:t>
                </a:r>
              </a:p>
            </p:txBody>
          </p:sp>
          <p:sp>
            <p:nvSpPr>
              <p:cNvPr id="11" name="Text Box 8"/>
              <p:cNvSpPr txBox="1">
                <a:spLocks noChangeArrowheads="1"/>
              </p:cNvSpPr>
              <p:nvPr/>
            </p:nvSpPr>
            <p:spPr bwMode="auto">
              <a:xfrm>
                <a:off x="-47" y="2031"/>
                <a:ext cx="816"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400" b="1" dirty="0">
                    <a:solidFill>
                      <a:srgbClr val="CC00CC"/>
                    </a:solidFill>
                    <a:latin typeface="微软雅黑" pitchFamily="34" charset="-122"/>
                    <a:ea typeface="微软雅黑" pitchFamily="34" charset="-122"/>
                  </a:rPr>
                  <a:t>10.1.0.1</a:t>
                </a:r>
              </a:p>
            </p:txBody>
          </p:sp>
        </p:grpSp>
        <p:pic>
          <p:nvPicPr>
            <p:cNvPr id="87"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888087" y="1735816"/>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88"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660325" y="2203759"/>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89"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091924" y="2748019"/>
              <a:ext cx="278382" cy="278382"/>
            </a:xfrm>
            <a:prstGeom prst="rect">
              <a:avLst/>
            </a:prstGeom>
            <a:noFill/>
            <a:extLst>
              <a:ext uri="{909E8E84-426E-40DD-AFC4-6F175D3DCCD1}">
                <a14:hiddenFill xmlns:a14="http://schemas.microsoft.com/office/drawing/2010/main">
                  <a:solidFill>
                    <a:srgbClr val="FFFFFF"/>
                  </a:solidFill>
                </a14:hiddenFill>
              </a:ext>
            </a:extLst>
          </p:spPr>
        </p:pic>
      </p:grpSp>
      <p:sp>
        <p:nvSpPr>
          <p:cNvPr id="3" name="AutoShape 5"/>
          <p:cNvSpPr>
            <a:spLocks noChangeArrowheads="1"/>
          </p:cNvSpPr>
          <p:nvPr/>
        </p:nvSpPr>
        <p:spPr bwMode="auto">
          <a:xfrm>
            <a:off x="545145" y="614144"/>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09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用隧道技术实现虚拟专用网</a:t>
            </a:r>
          </a:p>
        </p:txBody>
      </p:sp>
      <p:grpSp>
        <p:nvGrpSpPr>
          <p:cNvPr id="14" name="Group 12"/>
          <p:cNvGrpSpPr>
            <a:grpSpLocks/>
          </p:cNvGrpSpPr>
          <p:nvPr/>
        </p:nvGrpSpPr>
        <p:grpSpPr bwMode="auto">
          <a:xfrm>
            <a:off x="2059412" y="1879913"/>
            <a:ext cx="1040013" cy="778496"/>
            <a:chOff x="385" y="2795"/>
            <a:chExt cx="1769" cy="816"/>
          </a:xfrm>
          <a:solidFill>
            <a:srgbClr val="3399FF"/>
          </a:solidFill>
        </p:grpSpPr>
        <p:sp>
          <p:nvSpPr>
            <p:cNvPr id="15" name="Oval 13"/>
            <p:cNvSpPr>
              <a:spLocks noChangeArrowheads="1"/>
            </p:cNvSpPr>
            <p:nvPr/>
          </p:nvSpPr>
          <p:spPr bwMode="auto">
            <a:xfrm>
              <a:off x="1589" y="3060"/>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6" name="Oval 14"/>
            <p:cNvSpPr>
              <a:spLocks noChangeArrowheads="1"/>
            </p:cNvSpPr>
            <p:nvPr/>
          </p:nvSpPr>
          <p:spPr bwMode="auto">
            <a:xfrm>
              <a:off x="928" y="3274"/>
              <a:ext cx="884" cy="33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7" name="Oval 15"/>
            <p:cNvSpPr>
              <a:spLocks noChangeArrowheads="1"/>
            </p:cNvSpPr>
            <p:nvPr/>
          </p:nvSpPr>
          <p:spPr bwMode="auto">
            <a:xfrm>
              <a:off x="502" y="3204"/>
              <a:ext cx="586" cy="28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8" name="Oval 16"/>
            <p:cNvSpPr>
              <a:spLocks noChangeArrowheads="1"/>
            </p:cNvSpPr>
            <p:nvPr/>
          </p:nvSpPr>
          <p:spPr bwMode="auto">
            <a:xfrm>
              <a:off x="385" y="3084"/>
              <a:ext cx="384"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9" name="Oval 17"/>
            <p:cNvSpPr>
              <a:spLocks noChangeArrowheads="1"/>
            </p:cNvSpPr>
            <p:nvPr/>
          </p:nvSpPr>
          <p:spPr bwMode="auto">
            <a:xfrm>
              <a:off x="566" y="2883"/>
              <a:ext cx="57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0" name="Oval 18"/>
            <p:cNvSpPr>
              <a:spLocks noChangeArrowheads="1"/>
            </p:cNvSpPr>
            <p:nvPr/>
          </p:nvSpPr>
          <p:spPr bwMode="auto">
            <a:xfrm>
              <a:off x="992" y="2795"/>
              <a:ext cx="757"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1" name="Oval 19"/>
            <p:cNvSpPr>
              <a:spLocks noChangeArrowheads="1"/>
            </p:cNvSpPr>
            <p:nvPr/>
          </p:nvSpPr>
          <p:spPr bwMode="auto">
            <a:xfrm>
              <a:off x="1504" y="2891"/>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2" name="Oval 20"/>
            <p:cNvSpPr>
              <a:spLocks noChangeArrowheads="1"/>
            </p:cNvSpPr>
            <p:nvPr/>
          </p:nvSpPr>
          <p:spPr bwMode="auto">
            <a:xfrm>
              <a:off x="704" y="2987"/>
              <a:ext cx="1141" cy="41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3" name="Oval 21"/>
            <p:cNvSpPr>
              <a:spLocks noChangeArrowheads="1"/>
            </p:cNvSpPr>
            <p:nvPr/>
          </p:nvSpPr>
          <p:spPr bwMode="auto">
            <a:xfrm rot="1336630">
              <a:off x="1474" y="3067"/>
              <a:ext cx="555"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4" name="Oval 22"/>
            <p:cNvSpPr>
              <a:spLocks noChangeArrowheads="1"/>
            </p:cNvSpPr>
            <p:nvPr/>
          </p:nvSpPr>
          <p:spPr bwMode="auto">
            <a:xfrm>
              <a:off x="1004" y="2811"/>
              <a:ext cx="75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5" name="Oval 23"/>
            <p:cNvSpPr>
              <a:spLocks noChangeArrowheads="1"/>
            </p:cNvSpPr>
            <p:nvPr/>
          </p:nvSpPr>
          <p:spPr bwMode="auto">
            <a:xfrm>
              <a:off x="577" y="2899"/>
              <a:ext cx="575" cy="320"/>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6" name="Oval 24"/>
            <p:cNvSpPr>
              <a:spLocks noChangeArrowheads="1"/>
            </p:cNvSpPr>
            <p:nvPr/>
          </p:nvSpPr>
          <p:spPr bwMode="auto">
            <a:xfrm>
              <a:off x="396" y="3100"/>
              <a:ext cx="383"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7" name="Oval 25"/>
            <p:cNvSpPr>
              <a:spLocks noChangeArrowheads="1"/>
            </p:cNvSpPr>
            <p:nvPr/>
          </p:nvSpPr>
          <p:spPr bwMode="auto">
            <a:xfrm>
              <a:off x="1515" y="2908"/>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8" name="Oval 26"/>
            <p:cNvSpPr>
              <a:spLocks noChangeArrowheads="1"/>
            </p:cNvSpPr>
            <p:nvPr/>
          </p:nvSpPr>
          <p:spPr bwMode="auto">
            <a:xfrm>
              <a:off x="1599" y="3075"/>
              <a:ext cx="555" cy="24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9" name="Oval 27"/>
            <p:cNvSpPr>
              <a:spLocks noChangeArrowheads="1"/>
            </p:cNvSpPr>
            <p:nvPr/>
          </p:nvSpPr>
          <p:spPr bwMode="auto">
            <a:xfrm>
              <a:off x="715" y="3003"/>
              <a:ext cx="1141"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30" name="Oval 28"/>
            <p:cNvSpPr>
              <a:spLocks noChangeArrowheads="1"/>
            </p:cNvSpPr>
            <p:nvPr/>
          </p:nvSpPr>
          <p:spPr bwMode="auto">
            <a:xfrm>
              <a:off x="513" y="3219"/>
              <a:ext cx="586" cy="282"/>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31" name="Freeform 29"/>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grpSp>
      <p:grpSp>
        <p:nvGrpSpPr>
          <p:cNvPr id="32" name="Group 30"/>
          <p:cNvGrpSpPr>
            <a:grpSpLocks/>
          </p:cNvGrpSpPr>
          <p:nvPr/>
        </p:nvGrpSpPr>
        <p:grpSpPr bwMode="auto">
          <a:xfrm>
            <a:off x="5675421" y="1835543"/>
            <a:ext cx="1040013" cy="778496"/>
            <a:chOff x="385" y="2795"/>
            <a:chExt cx="1769" cy="816"/>
          </a:xfrm>
          <a:solidFill>
            <a:srgbClr val="3399FF"/>
          </a:solidFill>
        </p:grpSpPr>
        <p:sp>
          <p:nvSpPr>
            <p:cNvPr id="33" name="Oval 31"/>
            <p:cNvSpPr>
              <a:spLocks noChangeArrowheads="1"/>
            </p:cNvSpPr>
            <p:nvPr/>
          </p:nvSpPr>
          <p:spPr bwMode="auto">
            <a:xfrm>
              <a:off x="1589" y="3060"/>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34" name="Oval 32"/>
            <p:cNvSpPr>
              <a:spLocks noChangeArrowheads="1"/>
            </p:cNvSpPr>
            <p:nvPr/>
          </p:nvSpPr>
          <p:spPr bwMode="auto">
            <a:xfrm>
              <a:off x="928" y="3274"/>
              <a:ext cx="884" cy="33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35" name="Oval 33"/>
            <p:cNvSpPr>
              <a:spLocks noChangeArrowheads="1"/>
            </p:cNvSpPr>
            <p:nvPr/>
          </p:nvSpPr>
          <p:spPr bwMode="auto">
            <a:xfrm>
              <a:off x="502" y="3204"/>
              <a:ext cx="586" cy="28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36" name="Oval 34"/>
            <p:cNvSpPr>
              <a:spLocks noChangeArrowheads="1"/>
            </p:cNvSpPr>
            <p:nvPr/>
          </p:nvSpPr>
          <p:spPr bwMode="auto">
            <a:xfrm>
              <a:off x="385" y="3084"/>
              <a:ext cx="384"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37" name="Oval 35"/>
            <p:cNvSpPr>
              <a:spLocks noChangeArrowheads="1"/>
            </p:cNvSpPr>
            <p:nvPr/>
          </p:nvSpPr>
          <p:spPr bwMode="auto">
            <a:xfrm>
              <a:off x="566" y="2883"/>
              <a:ext cx="57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38" name="Oval 36"/>
            <p:cNvSpPr>
              <a:spLocks noChangeArrowheads="1"/>
            </p:cNvSpPr>
            <p:nvPr/>
          </p:nvSpPr>
          <p:spPr bwMode="auto">
            <a:xfrm>
              <a:off x="992" y="2795"/>
              <a:ext cx="757"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39" name="Oval 37"/>
            <p:cNvSpPr>
              <a:spLocks noChangeArrowheads="1"/>
            </p:cNvSpPr>
            <p:nvPr/>
          </p:nvSpPr>
          <p:spPr bwMode="auto">
            <a:xfrm>
              <a:off x="1504" y="2891"/>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40" name="Oval 38"/>
            <p:cNvSpPr>
              <a:spLocks noChangeArrowheads="1"/>
            </p:cNvSpPr>
            <p:nvPr/>
          </p:nvSpPr>
          <p:spPr bwMode="auto">
            <a:xfrm>
              <a:off x="704" y="2987"/>
              <a:ext cx="1141" cy="41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41" name="Oval 39"/>
            <p:cNvSpPr>
              <a:spLocks noChangeArrowheads="1"/>
            </p:cNvSpPr>
            <p:nvPr/>
          </p:nvSpPr>
          <p:spPr bwMode="auto">
            <a:xfrm rot="1336630">
              <a:off x="1474" y="3067"/>
              <a:ext cx="555"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42" name="Oval 40"/>
            <p:cNvSpPr>
              <a:spLocks noChangeArrowheads="1"/>
            </p:cNvSpPr>
            <p:nvPr/>
          </p:nvSpPr>
          <p:spPr bwMode="auto">
            <a:xfrm>
              <a:off x="1004" y="2811"/>
              <a:ext cx="75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43" name="Oval 41"/>
            <p:cNvSpPr>
              <a:spLocks noChangeArrowheads="1"/>
            </p:cNvSpPr>
            <p:nvPr/>
          </p:nvSpPr>
          <p:spPr bwMode="auto">
            <a:xfrm>
              <a:off x="577" y="2899"/>
              <a:ext cx="575" cy="320"/>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44" name="Oval 42"/>
            <p:cNvSpPr>
              <a:spLocks noChangeArrowheads="1"/>
            </p:cNvSpPr>
            <p:nvPr/>
          </p:nvSpPr>
          <p:spPr bwMode="auto">
            <a:xfrm>
              <a:off x="396" y="3100"/>
              <a:ext cx="383"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45" name="Oval 43"/>
            <p:cNvSpPr>
              <a:spLocks noChangeArrowheads="1"/>
            </p:cNvSpPr>
            <p:nvPr/>
          </p:nvSpPr>
          <p:spPr bwMode="auto">
            <a:xfrm>
              <a:off x="1515" y="2908"/>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46" name="Oval 44"/>
            <p:cNvSpPr>
              <a:spLocks noChangeArrowheads="1"/>
            </p:cNvSpPr>
            <p:nvPr/>
          </p:nvSpPr>
          <p:spPr bwMode="auto">
            <a:xfrm>
              <a:off x="1599" y="3075"/>
              <a:ext cx="555" cy="24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47" name="Oval 45"/>
            <p:cNvSpPr>
              <a:spLocks noChangeArrowheads="1"/>
            </p:cNvSpPr>
            <p:nvPr/>
          </p:nvSpPr>
          <p:spPr bwMode="auto">
            <a:xfrm>
              <a:off x="715" y="3003"/>
              <a:ext cx="1141"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48" name="Oval 46"/>
            <p:cNvSpPr>
              <a:spLocks noChangeArrowheads="1"/>
            </p:cNvSpPr>
            <p:nvPr/>
          </p:nvSpPr>
          <p:spPr bwMode="auto">
            <a:xfrm>
              <a:off x="513" y="3219"/>
              <a:ext cx="586" cy="282"/>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49" name="Freeform 47"/>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grpSp>
      <p:graphicFrame>
        <p:nvGraphicFramePr>
          <p:cNvPr id="50" name="Object 48"/>
          <p:cNvGraphicFramePr>
            <a:graphicFrameLocks noChangeAspect="1"/>
          </p:cNvGraphicFramePr>
          <p:nvPr>
            <p:extLst>
              <p:ext uri="{D42A27DB-BD31-4B8C-83A1-F6EECF244321}">
                <p14:modId xmlns:p14="http://schemas.microsoft.com/office/powerpoint/2010/main" val="743601559"/>
              </p:ext>
            </p:extLst>
          </p:nvPr>
        </p:nvGraphicFramePr>
        <p:xfrm>
          <a:off x="3539682" y="1777055"/>
          <a:ext cx="1887753" cy="1082030"/>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24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39682" y="1777055"/>
                        <a:ext cx="1887753" cy="10820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pic>
        <p:nvPicPr>
          <p:cNvPr id="51" name="Picture 49"/>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484242" y="2116892"/>
            <a:ext cx="358324" cy="159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2" name="Picture 50"/>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994549" y="2117900"/>
            <a:ext cx="358324" cy="159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3" name="Text Box 51"/>
          <p:cNvSpPr txBox="1">
            <a:spLocks noChangeArrowheads="1"/>
          </p:cNvSpPr>
          <p:nvPr/>
        </p:nvSpPr>
        <p:spPr bwMode="auto">
          <a:xfrm>
            <a:off x="2246847" y="2025694"/>
            <a:ext cx="73129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chemeClr val="bg1"/>
                </a:solidFill>
                <a:latin typeface="微软雅黑" pitchFamily="34" charset="-122"/>
                <a:ea typeface="微软雅黑" pitchFamily="34" charset="-122"/>
              </a:rPr>
              <a:t>部门 </a:t>
            </a:r>
            <a:r>
              <a:rPr kumimoji="1" lang="en-US" altLang="zh-CN" sz="1400" b="1" dirty="0">
                <a:solidFill>
                  <a:schemeClr val="bg1"/>
                </a:solidFill>
                <a:latin typeface="微软雅黑" pitchFamily="34" charset="-122"/>
                <a:ea typeface="微软雅黑" pitchFamily="34" charset="-122"/>
              </a:rPr>
              <a:t>A</a:t>
            </a:r>
          </a:p>
          <a:p>
            <a:pPr algn="ctr"/>
            <a:r>
              <a:rPr kumimoji="1" lang="zh-CN" altLang="en-US" sz="1400" b="1" dirty="0">
                <a:solidFill>
                  <a:schemeClr val="bg1"/>
                </a:solidFill>
                <a:latin typeface="微软雅黑" pitchFamily="34" charset="-122"/>
                <a:ea typeface="微软雅黑" pitchFamily="34" charset="-122"/>
              </a:rPr>
              <a:t>网络</a:t>
            </a:r>
            <a:endParaRPr kumimoji="1" lang="en-US" altLang="zh-CN" sz="1400" b="1" dirty="0">
              <a:solidFill>
                <a:schemeClr val="bg1"/>
              </a:solidFill>
              <a:latin typeface="微软雅黑" pitchFamily="34" charset="-122"/>
              <a:ea typeface="微软雅黑" pitchFamily="34" charset="-122"/>
            </a:endParaRPr>
          </a:p>
        </p:txBody>
      </p:sp>
      <p:sp>
        <p:nvSpPr>
          <p:cNvPr id="54" name="AutoShape 52"/>
          <p:cNvSpPr>
            <a:spLocks noChangeArrowheads="1"/>
          </p:cNvSpPr>
          <p:nvPr/>
        </p:nvSpPr>
        <p:spPr bwMode="auto">
          <a:xfrm rot="16200000">
            <a:off x="4277337" y="1334865"/>
            <a:ext cx="228911" cy="1730441"/>
          </a:xfrm>
          <a:prstGeom prst="can">
            <a:avLst>
              <a:gd name="adj" fmla="val 25521"/>
            </a:avLst>
          </a:prstGeom>
          <a:gradFill rotWithShape="1">
            <a:gsLst>
              <a:gs pos="0">
                <a:srgbClr val="33CCFF">
                  <a:gamma/>
                  <a:shade val="46275"/>
                  <a:invGamma/>
                </a:srgbClr>
              </a:gs>
              <a:gs pos="50000">
                <a:srgbClr val="33CCFF"/>
              </a:gs>
              <a:gs pos="100000">
                <a:srgbClr val="33CCFF">
                  <a:gamma/>
                  <a:shade val="46275"/>
                  <a:invGamma/>
                </a:srgbClr>
              </a:gs>
            </a:gsLst>
            <a:lin ang="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55" name="Text Box 53"/>
          <p:cNvSpPr txBox="1">
            <a:spLocks noChangeArrowheads="1"/>
          </p:cNvSpPr>
          <p:nvPr/>
        </p:nvSpPr>
        <p:spPr bwMode="auto">
          <a:xfrm>
            <a:off x="4115962" y="2352892"/>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FF"/>
                </a:solidFill>
                <a:latin typeface="微软雅黑" pitchFamily="34" charset="-122"/>
                <a:ea typeface="微软雅黑" pitchFamily="34" charset="-122"/>
              </a:rPr>
              <a:t>互联网</a:t>
            </a:r>
          </a:p>
        </p:txBody>
      </p:sp>
      <p:sp>
        <p:nvSpPr>
          <p:cNvPr id="56" name="Text Box 54"/>
          <p:cNvSpPr txBox="1">
            <a:spLocks noChangeArrowheads="1"/>
          </p:cNvSpPr>
          <p:nvPr/>
        </p:nvSpPr>
        <p:spPr bwMode="auto">
          <a:xfrm>
            <a:off x="5888549" y="1953577"/>
            <a:ext cx="72006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chemeClr val="bg1"/>
                </a:solidFill>
                <a:latin typeface="微软雅黑" pitchFamily="34" charset="-122"/>
                <a:ea typeface="微软雅黑" pitchFamily="34" charset="-122"/>
              </a:rPr>
              <a:t>部门 </a:t>
            </a:r>
            <a:r>
              <a:rPr kumimoji="1" lang="en-US" altLang="zh-CN" sz="1400" b="1" dirty="0">
                <a:solidFill>
                  <a:schemeClr val="bg1"/>
                </a:solidFill>
                <a:latin typeface="微软雅黑" pitchFamily="34" charset="-122"/>
                <a:ea typeface="微软雅黑" pitchFamily="34" charset="-122"/>
              </a:rPr>
              <a:t>B</a:t>
            </a:r>
          </a:p>
          <a:p>
            <a:pPr algn="ctr"/>
            <a:r>
              <a:rPr kumimoji="1" lang="zh-CN" altLang="en-US" sz="1400" b="1" dirty="0">
                <a:solidFill>
                  <a:schemeClr val="bg1"/>
                </a:solidFill>
                <a:latin typeface="微软雅黑" pitchFamily="34" charset="-122"/>
                <a:ea typeface="微软雅黑" pitchFamily="34" charset="-122"/>
              </a:rPr>
              <a:t>网络</a:t>
            </a:r>
            <a:endParaRPr kumimoji="1" lang="en-US" altLang="zh-CN" sz="1400" b="1" dirty="0">
              <a:solidFill>
                <a:schemeClr val="bg1"/>
              </a:solidFill>
              <a:latin typeface="微软雅黑" pitchFamily="34" charset="-122"/>
              <a:ea typeface="微软雅黑" pitchFamily="34" charset="-122"/>
            </a:endParaRPr>
          </a:p>
        </p:txBody>
      </p:sp>
      <p:sp>
        <p:nvSpPr>
          <p:cNvPr id="57" name="Text Box 55"/>
          <p:cNvSpPr txBox="1">
            <a:spLocks noChangeArrowheads="1"/>
          </p:cNvSpPr>
          <p:nvPr/>
        </p:nvSpPr>
        <p:spPr bwMode="auto">
          <a:xfrm>
            <a:off x="3046447" y="2310507"/>
            <a:ext cx="383438"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1</a:t>
            </a:r>
            <a:endParaRPr kumimoji="1" lang="en-US" altLang="zh-CN" sz="1400" b="1">
              <a:latin typeface="微软雅黑" pitchFamily="34" charset="-122"/>
              <a:ea typeface="微软雅黑" pitchFamily="34" charset="-122"/>
            </a:endParaRPr>
          </a:p>
        </p:txBody>
      </p:sp>
      <p:sp>
        <p:nvSpPr>
          <p:cNvPr id="58" name="Text Box 56"/>
          <p:cNvSpPr txBox="1">
            <a:spLocks noChangeArrowheads="1"/>
          </p:cNvSpPr>
          <p:nvPr/>
        </p:nvSpPr>
        <p:spPr bwMode="auto">
          <a:xfrm>
            <a:off x="5444374" y="2265129"/>
            <a:ext cx="383438"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2</a:t>
            </a:r>
            <a:endParaRPr kumimoji="1" lang="en-US" altLang="zh-CN" sz="1400" b="1">
              <a:latin typeface="微软雅黑" pitchFamily="34" charset="-122"/>
              <a:ea typeface="微软雅黑" pitchFamily="34" charset="-122"/>
            </a:endParaRPr>
          </a:p>
        </p:txBody>
      </p:sp>
      <p:sp>
        <p:nvSpPr>
          <p:cNvPr id="59" name="Text Box 57"/>
          <p:cNvSpPr txBox="1">
            <a:spLocks noChangeArrowheads="1"/>
          </p:cNvSpPr>
          <p:nvPr/>
        </p:nvSpPr>
        <p:spPr bwMode="auto">
          <a:xfrm>
            <a:off x="4213098" y="2059081"/>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FFFF00"/>
                </a:solidFill>
                <a:latin typeface="微软雅黑" pitchFamily="34" charset="-122"/>
                <a:ea typeface="微软雅黑" pitchFamily="34" charset="-122"/>
              </a:rPr>
              <a:t>隧道</a:t>
            </a:r>
          </a:p>
        </p:txBody>
      </p:sp>
      <p:sp>
        <p:nvSpPr>
          <p:cNvPr id="60" name="Line 58"/>
          <p:cNvSpPr>
            <a:spLocks noChangeShapeType="1"/>
          </p:cNvSpPr>
          <p:nvPr/>
        </p:nvSpPr>
        <p:spPr bwMode="auto">
          <a:xfrm>
            <a:off x="3316822" y="2196556"/>
            <a:ext cx="262188"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1" name="Line 59"/>
          <p:cNvSpPr>
            <a:spLocks noChangeShapeType="1"/>
          </p:cNvSpPr>
          <p:nvPr/>
        </p:nvSpPr>
        <p:spPr bwMode="auto">
          <a:xfrm>
            <a:off x="5257013" y="2196556"/>
            <a:ext cx="262188"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nvGrpSpPr>
          <p:cNvPr id="62" name="Group 60"/>
          <p:cNvGrpSpPr>
            <a:grpSpLocks/>
          </p:cNvGrpSpPr>
          <p:nvPr/>
        </p:nvGrpSpPr>
        <p:grpSpPr bwMode="auto">
          <a:xfrm>
            <a:off x="2861481" y="1689456"/>
            <a:ext cx="3121130" cy="471940"/>
            <a:chOff x="1315" y="1348"/>
            <a:chExt cx="2857" cy="468"/>
          </a:xfrm>
        </p:grpSpPr>
        <p:sp>
          <p:nvSpPr>
            <p:cNvPr id="63" name="Text Box 61"/>
            <p:cNvSpPr txBox="1">
              <a:spLocks noChangeArrowheads="1"/>
            </p:cNvSpPr>
            <p:nvPr/>
          </p:nvSpPr>
          <p:spPr bwMode="auto">
            <a:xfrm>
              <a:off x="1315" y="1348"/>
              <a:ext cx="917"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400" b="1" dirty="0">
                  <a:solidFill>
                    <a:srgbClr val="0000FF"/>
                  </a:solidFill>
                  <a:latin typeface="微软雅黑" pitchFamily="34" charset="-122"/>
                  <a:ea typeface="微软雅黑" pitchFamily="34" charset="-122"/>
                </a:rPr>
                <a:t>125.1.2.3</a:t>
              </a:r>
            </a:p>
          </p:txBody>
        </p:sp>
        <p:sp>
          <p:nvSpPr>
            <p:cNvPr id="64" name="Line 62"/>
            <p:cNvSpPr>
              <a:spLocks noChangeShapeType="1"/>
            </p:cNvSpPr>
            <p:nvPr/>
          </p:nvSpPr>
          <p:spPr bwMode="auto">
            <a:xfrm>
              <a:off x="1837" y="1616"/>
              <a:ext cx="23" cy="200"/>
            </a:xfrm>
            <a:prstGeom prst="line">
              <a:avLst/>
            </a:prstGeom>
            <a:noFill/>
            <a:ln w="3810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5" name="Text Box 63"/>
            <p:cNvSpPr txBox="1">
              <a:spLocks noChangeArrowheads="1"/>
            </p:cNvSpPr>
            <p:nvPr/>
          </p:nvSpPr>
          <p:spPr bwMode="auto">
            <a:xfrm>
              <a:off x="3255" y="1367"/>
              <a:ext cx="917" cy="2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dirty="0">
                  <a:solidFill>
                    <a:srgbClr val="0000FF"/>
                  </a:solidFill>
                  <a:latin typeface="微软雅黑" pitchFamily="34" charset="-122"/>
                  <a:ea typeface="微软雅黑" pitchFamily="34" charset="-122"/>
                </a:rPr>
                <a:t>194.4.5.6</a:t>
              </a:r>
            </a:p>
          </p:txBody>
        </p:sp>
        <p:sp>
          <p:nvSpPr>
            <p:cNvPr id="66" name="Line 64"/>
            <p:cNvSpPr>
              <a:spLocks noChangeShapeType="1"/>
            </p:cNvSpPr>
            <p:nvPr/>
          </p:nvSpPr>
          <p:spPr bwMode="auto">
            <a:xfrm flipH="1">
              <a:off x="3636" y="1616"/>
              <a:ext cx="60" cy="200"/>
            </a:xfrm>
            <a:prstGeom prst="line">
              <a:avLst/>
            </a:prstGeom>
            <a:noFill/>
            <a:ln w="3810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sp>
        <p:nvSpPr>
          <p:cNvPr id="76" name="Text Box 74"/>
          <p:cNvSpPr txBox="1">
            <a:spLocks noChangeArrowheads="1"/>
          </p:cNvSpPr>
          <p:nvPr/>
        </p:nvSpPr>
        <p:spPr bwMode="auto">
          <a:xfrm>
            <a:off x="3856277" y="2808664"/>
            <a:ext cx="126188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zh-CN" altLang="en-US" sz="1400" b="1" dirty="0">
                <a:solidFill>
                  <a:srgbClr val="0000FF"/>
                </a:solidFill>
                <a:latin typeface="微软雅黑" pitchFamily="34" charset="-122"/>
                <a:ea typeface="微软雅黑" pitchFamily="34" charset="-122"/>
              </a:rPr>
              <a:t>使用隧道技术</a:t>
            </a:r>
          </a:p>
        </p:txBody>
      </p:sp>
      <p:sp>
        <p:nvSpPr>
          <p:cNvPr id="77" name="Text Box 75"/>
          <p:cNvSpPr txBox="1">
            <a:spLocks noChangeArrowheads="1"/>
          </p:cNvSpPr>
          <p:nvPr/>
        </p:nvSpPr>
        <p:spPr bwMode="auto">
          <a:xfrm>
            <a:off x="1942502" y="1316683"/>
            <a:ext cx="902811" cy="307777"/>
          </a:xfrm>
          <a:prstGeom prst="rect">
            <a:avLst/>
          </a:prstGeom>
          <a:solidFill>
            <a:srgbClr val="99FFCC"/>
          </a:solidFill>
          <a:ln w="9525">
            <a:solidFill>
              <a:srgbClr val="333399"/>
            </a:solidFill>
            <a:miter lim="800000"/>
            <a:headEnd/>
            <a:tailEnd/>
          </a:ln>
          <a:effectLst/>
        </p:spPr>
        <p:txBody>
          <a:bodyPr wrap="none">
            <a:spAutoFit/>
          </a:bodyPr>
          <a:lstStyle/>
          <a:p>
            <a:pPr algn="ctr" eaLnBrk="0" hangingPunct="0"/>
            <a:r>
              <a:rPr kumimoji="1" lang="zh-CN" altLang="en-US" sz="1400" b="1" dirty="0">
                <a:latin typeface="微软雅黑" pitchFamily="34" charset="-122"/>
                <a:ea typeface="微软雅黑" pitchFamily="34" charset="-122"/>
              </a:rPr>
              <a:t>本地地址</a:t>
            </a:r>
          </a:p>
        </p:txBody>
      </p:sp>
      <p:sp>
        <p:nvSpPr>
          <p:cNvPr id="78" name="Text Box 76"/>
          <p:cNvSpPr txBox="1">
            <a:spLocks noChangeArrowheads="1"/>
          </p:cNvSpPr>
          <p:nvPr/>
        </p:nvSpPr>
        <p:spPr bwMode="auto">
          <a:xfrm>
            <a:off x="5773725" y="1327775"/>
            <a:ext cx="902811" cy="307777"/>
          </a:xfrm>
          <a:prstGeom prst="rect">
            <a:avLst/>
          </a:prstGeom>
          <a:solidFill>
            <a:srgbClr val="99FFCC"/>
          </a:solidFill>
          <a:ln w="9525">
            <a:solidFill>
              <a:srgbClr val="333399"/>
            </a:solidFill>
            <a:miter lim="800000"/>
            <a:headEnd/>
            <a:tailEnd/>
          </a:ln>
          <a:effectLst/>
        </p:spPr>
        <p:txBody>
          <a:bodyPr wrap="none">
            <a:spAutoFit/>
          </a:bodyPr>
          <a:lstStyle/>
          <a:p>
            <a:pPr algn="ctr" eaLnBrk="0" hangingPunct="0"/>
            <a:r>
              <a:rPr kumimoji="1" lang="zh-CN" altLang="en-US" sz="1400" b="1">
                <a:latin typeface="微软雅黑" pitchFamily="34" charset="-122"/>
                <a:ea typeface="微软雅黑" pitchFamily="34" charset="-122"/>
              </a:rPr>
              <a:t>本地地址</a:t>
            </a:r>
          </a:p>
        </p:txBody>
      </p:sp>
      <p:sp>
        <p:nvSpPr>
          <p:cNvPr id="79" name="Text Box 77"/>
          <p:cNvSpPr txBox="1">
            <a:spLocks noChangeArrowheads="1"/>
          </p:cNvSpPr>
          <p:nvPr/>
        </p:nvSpPr>
        <p:spPr bwMode="auto">
          <a:xfrm>
            <a:off x="4000851" y="1327775"/>
            <a:ext cx="902811" cy="307777"/>
          </a:xfrm>
          <a:prstGeom prst="rect">
            <a:avLst/>
          </a:prstGeom>
          <a:solidFill>
            <a:srgbClr val="0000FF"/>
          </a:solidFill>
          <a:ln w="9525">
            <a:solidFill>
              <a:srgbClr val="333399"/>
            </a:solidFill>
            <a:miter lim="800000"/>
            <a:headEnd/>
            <a:tailEnd/>
          </a:ln>
          <a:effectLst/>
        </p:spPr>
        <p:txBody>
          <a:bodyPr wrap="none">
            <a:spAutoFit/>
          </a:bodyPr>
          <a:lstStyle/>
          <a:p>
            <a:pPr algn="ctr" eaLnBrk="0" hangingPunct="0"/>
            <a:r>
              <a:rPr kumimoji="1" lang="zh-CN" altLang="en-US" sz="1400" b="1" dirty="0">
                <a:solidFill>
                  <a:schemeClr val="bg1"/>
                </a:solidFill>
                <a:latin typeface="微软雅黑" pitchFamily="34" charset="-122"/>
                <a:ea typeface="微软雅黑" pitchFamily="34" charset="-122"/>
              </a:rPr>
              <a:t>全球地址</a:t>
            </a:r>
          </a:p>
        </p:txBody>
      </p:sp>
      <p:sp>
        <p:nvSpPr>
          <p:cNvPr id="80" name="AutoShape 78"/>
          <p:cNvSpPr>
            <a:spLocks noChangeArrowheads="1"/>
          </p:cNvSpPr>
          <p:nvPr/>
        </p:nvSpPr>
        <p:spPr bwMode="auto">
          <a:xfrm>
            <a:off x="2009160" y="3275559"/>
            <a:ext cx="2427424" cy="618403"/>
          </a:xfrm>
          <a:prstGeom prst="wedgeRoundRectCallout">
            <a:avLst>
              <a:gd name="adj1" fmla="val -24394"/>
              <a:gd name="adj2" fmla="val -166065"/>
              <a:gd name="adj3" fmla="val 16667"/>
            </a:avLst>
          </a:prstGeom>
          <a:solidFill>
            <a:srgbClr val="00FFFF"/>
          </a:solidFill>
          <a:ln w="9525">
            <a:solidFill>
              <a:schemeClr val="tx1"/>
            </a:solidFill>
            <a:miter lim="800000"/>
            <a:headEnd/>
            <a:tailEnd/>
          </a:ln>
          <a:effectLst/>
        </p:spPr>
        <p:txBody>
          <a:bodyPr/>
          <a:lstStyle/>
          <a:p>
            <a:pPr algn="ctr"/>
            <a:endParaRPr lang="zh-CN" altLang="zh-CN" sz="1400" b="1">
              <a:solidFill>
                <a:srgbClr val="000099"/>
              </a:solidFill>
              <a:latin typeface="微软雅黑" pitchFamily="34" charset="-122"/>
              <a:ea typeface="微软雅黑" pitchFamily="34" charset="-122"/>
            </a:endParaRPr>
          </a:p>
        </p:txBody>
      </p:sp>
      <p:sp>
        <p:nvSpPr>
          <p:cNvPr id="81" name="Text Box 81"/>
          <p:cNvSpPr txBox="1">
            <a:spLocks noChangeArrowheads="1"/>
          </p:cNvSpPr>
          <p:nvPr/>
        </p:nvSpPr>
        <p:spPr bwMode="auto">
          <a:xfrm>
            <a:off x="2290422" y="3291694"/>
            <a:ext cx="1851789" cy="6052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ts val="2000"/>
              </a:lnSpc>
            </a:pPr>
            <a:r>
              <a:rPr lang="zh-CN" altLang="en-US" sz="1400" b="1" dirty="0">
                <a:latin typeface="微软雅黑" pitchFamily="34" charset="-122"/>
                <a:ea typeface="微软雅黑" pitchFamily="34" charset="-122"/>
              </a:rPr>
              <a:t>网络地址 </a:t>
            </a:r>
            <a:r>
              <a:rPr lang="en-US" altLang="zh-CN" sz="1400" b="1" dirty="0">
                <a:latin typeface="微软雅黑" pitchFamily="34" charset="-122"/>
                <a:ea typeface="微软雅黑" pitchFamily="34" charset="-122"/>
              </a:rPr>
              <a:t>= 10.1.0.0</a:t>
            </a:r>
          </a:p>
          <a:p>
            <a:pPr algn="ctr">
              <a:lnSpc>
                <a:spcPts val="2000"/>
              </a:lnSpc>
            </a:pPr>
            <a:r>
              <a:rPr lang="zh-CN" altLang="en-US" sz="1400" b="1" dirty="0">
                <a:latin typeface="微软雅黑" pitchFamily="34" charset="-122"/>
                <a:ea typeface="微软雅黑" pitchFamily="34" charset="-122"/>
              </a:rPr>
              <a:t>（本地地址）</a:t>
            </a:r>
          </a:p>
        </p:txBody>
      </p:sp>
      <p:sp>
        <p:nvSpPr>
          <p:cNvPr id="82" name="AutoShape 83"/>
          <p:cNvSpPr>
            <a:spLocks noChangeArrowheads="1"/>
          </p:cNvSpPr>
          <p:nvPr/>
        </p:nvSpPr>
        <p:spPr bwMode="auto">
          <a:xfrm>
            <a:off x="4932556" y="3275559"/>
            <a:ext cx="2427424" cy="618403"/>
          </a:xfrm>
          <a:prstGeom prst="wedgeRoundRectCallout">
            <a:avLst>
              <a:gd name="adj1" fmla="val -2116"/>
              <a:gd name="adj2" fmla="val -191574"/>
              <a:gd name="adj3" fmla="val 16667"/>
            </a:avLst>
          </a:prstGeom>
          <a:solidFill>
            <a:srgbClr val="00FF99"/>
          </a:solidFill>
          <a:ln w="9525">
            <a:solidFill>
              <a:schemeClr val="tx1"/>
            </a:solidFill>
            <a:miter lim="800000"/>
            <a:headEnd/>
            <a:tailEnd/>
          </a:ln>
          <a:effectLst/>
        </p:spPr>
        <p:txBody>
          <a:bodyPr/>
          <a:lstStyle/>
          <a:p>
            <a:pPr algn="ctr"/>
            <a:endParaRPr lang="zh-CN" altLang="zh-CN" sz="1400" b="1">
              <a:solidFill>
                <a:srgbClr val="000099"/>
              </a:solidFill>
              <a:latin typeface="微软雅黑" pitchFamily="34" charset="-122"/>
              <a:ea typeface="微软雅黑" pitchFamily="34" charset="-122"/>
            </a:endParaRPr>
          </a:p>
        </p:txBody>
      </p:sp>
      <p:sp>
        <p:nvSpPr>
          <p:cNvPr id="83" name="Text Box 82"/>
          <p:cNvSpPr txBox="1">
            <a:spLocks noChangeArrowheads="1"/>
          </p:cNvSpPr>
          <p:nvPr/>
        </p:nvSpPr>
        <p:spPr bwMode="auto">
          <a:xfrm>
            <a:off x="5213818" y="3288669"/>
            <a:ext cx="1851789" cy="6052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ts val="2000"/>
              </a:lnSpc>
            </a:pPr>
            <a:r>
              <a:rPr lang="zh-CN" altLang="en-US" sz="1400" b="1">
                <a:latin typeface="微软雅黑" pitchFamily="34" charset="-122"/>
                <a:ea typeface="微软雅黑" pitchFamily="34" charset="-122"/>
              </a:rPr>
              <a:t>网络地址 </a:t>
            </a:r>
            <a:r>
              <a:rPr lang="en-US" altLang="zh-CN" sz="1400" b="1">
                <a:latin typeface="微软雅黑" pitchFamily="34" charset="-122"/>
                <a:ea typeface="微软雅黑" pitchFamily="34" charset="-122"/>
              </a:rPr>
              <a:t>= 10.2.0.0</a:t>
            </a:r>
          </a:p>
          <a:p>
            <a:pPr algn="ctr">
              <a:lnSpc>
                <a:spcPts val="2000"/>
              </a:lnSpc>
            </a:pPr>
            <a:r>
              <a:rPr lang="zh-CN" altLang="en-US" sz="1400" b="1">
                <a:latin typeface="微软雅黑" pitchFamily="34" charset="-122"/>
                <a:ea typeface="微软雅黑" pitchFamily="34" charset="-122"/>
              </a:rPr>
              <a:t>（本地地址）</a:t>
            </a:r>
          </a:p>
        </p:txBody>
      </p:sp>
      <p:sp>
        <p:nvSpPr>
          <p:cNvPr id="86" name="矩形 85"/>
          <p:cNvSpPr/>
          <p:nvPr/>
        </p:nvSpPr>
        <p:spPr>
          <a:xfrm>
            <a:off x="2893015" y="3996603"/>
            <a:ext cx="3550913" cy="307777"/>
          </a:xfrm>
          <a:prstGeom prst="rect">
            <a:avLst/>
          </a:prstGeom>
        </p:spPr>
        <p:txBody>
          <a:bodyPr wrap="square">
            <a:spAutoFit/>
          </a:bodyPr>
          <a:lstStyle/>
          <a:p>
            <a:pPr algn="ctr"/>
            <a:r>
              <a:rPr lang="zh-CN" altLang="zh-CN" sz="1400" b="1" dirty="0">
                <a:latin typeface="微软雅黑" pitchFamily="34" charset="-122"/>
                <a:ea typeface="微软雅黑" pitchFamily="34" charset="-122"/>
              </a:rPr>
              <a:t>隧道技术</a:t>
            </a:r>
            <a:endParaRPr lang="zh-CN" altLang="en-US" sz="1400" b="1" dirty="0">
              <a:latin typeface="微软雅黑" pitchFamily="34" charset="-122"/>
              <a:ea typeface="微软雅黑" pitchFamily="34" charset="-122"/>
            </a:endParaRPr>
          </a:p>
        </p:txBody>
      </p:sp>
    </p:spTree>
    <p:extLst>
      <p:ext uri="{BB962C8B-B14F-4D97-AF65-F5344CB8AC3E}">
        <p14:creationId xmlns:p14="http://schemas.microsoft.com/office/powerpoint/2010/main" val="209635708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7"/>
                                        </p:tgtEl>
                                        <p:attrNameLst>
                                          <p:attrName>style.visibility</p:attrName>
                                        </p:attrNameLst>
                                      </p:cBhvr>
                                      <p:to>
                                        <p:strVal val="visible"/>
                                      </p:to>
                                    </p:set>
                                  </p:childTnLst>
                                </p:cTn>
                              </p:par>
                              <p:par>
                                <p:cTn id="7" presetID="35" presetClass="emph" presetSubtype="0" repeatCount="3000" fill="hold" nodeType="withEffect">
                                  <p:stCondLst>
                                    <p:cond delay="0"/>
                                  </p:stCondLst>
                                  <p:childTnLst>
                                    <p:anim calcmode="discrete" valueType="str">
                                      <p:cBhvr>
                                        <p:cTn id="8" dur="1000" fill="hold"/>
                                        <p:tgtEl>
                                          <p:spTgt spid="90"/>
                                        </p:tgtEl>
                                        <p:attrNameLst>
                                          <p:attrName>style.visibility</p:attrName>
                                        </p:attrNameLst>
                                      </p:cBhvr>
                                      <p:tavLst>
                                        <p:tav tm="0">
                                          <p:val>
                                            <p:strVal val="hidden"/>
                                          </p:val>
                                        </p:tav>
                                        <p:tav tm="50000">
                                          <p:val>
                                            <p:strVal val="visible"/>
                                          </p:val>
                                        </p:tav>
                                      </p:tavLst>
                                    </p:anim>
                                  </p:childTnLst>
                                </p:cTn>
                              </p:par>
                              <p:par>
                                <p:cTn id="9" presetID="1" presetClass="entr" presetSubtype="0" fill="hold" grpId="0" nodeType="withEffect">
                                  <p:stCondLst>
                                    <p:cond delay="0"/>
                                  </p:stCondLst>
                                  <p:childTnLst>
                                    <p:set>
                                      <p:cBhvr>
                                        <p:cTn id="10" dur="1" fill="hold">
                                          <p:stCondLst>
                                            <p:cond delay="0"/>
                                          </p:stCondLst>
                                        </p:cTn>
                                        <p:tgtEl>
                                          <p:spTgt spid="78"/>
                                        </p:tgtEl>
                                        <p:attrNameLst>
                                          <p:attrName>style.visibility</p:attrName>
                                        </p:attrNameLst>
                                      </p:cBhvr>
                                      <p:to>
                                        <p:strVal val="visible"/>
                                      </p:to>
                                    </p:set>
                                  </p:childTnLst>
                                </p:cTn>
                              </p:par>
                              <p:par>
                                <p:cTn id="11" presetID="35" presetClass="emph" presetSubtype="0" repeatCount="3000" fill="hold" nodeType="withEffect">
                                  <p:stCondLst>
                                    <p:cond delay="0"/>
                                  </p:stCondLst>
                                  <p:childTnLst>
                                    <p:anim calcmode="discrete" valueType="str">
                                      <p:cBhvr>
                                        <p:cTn id="12" dur="1000" fill="hold"/>
                                        <p:tgtEl>
                                          <p:spTgt spid="95"/>
                                        </p:tgtEl>
                                        <p:attrNameLst>
                                          <p:attrName>style.visibility</p:attrName>
                                        </p:attrNameLst>
                                      </p:cBhvr>
                                      <p:tavLst>
                                        <p:tav tm="0">
                                          <p:val>
                                            <p:strVal val="hidden"/>
                                          </p:val>
                                        </p:tav>
                                        <p:tav tm="50000">
                                          <p:val>
                                            <p:strVal val="visible"/>
                                          </p:val>
                                        </p:tav>
                                      </p:tavLst>
                                    </p:anim>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79"/>
                                        </p:tgtEl>
                                        <p:attrNameLst>
                                          <p:attrName>style.visibility</p:attrName>
                                        </p:attrNameLst>
                                      </p:cBhvr>
                                      <p:to>
                                        <p:strVal val="visible"/>
                                      </p:to>
                                    </p:set>
                                  </p:childTnLst>
                                </p:cTn>
                              </p:par>
                            </p:childTnLst>
                          </p:cTn>
                        </p:par>
                        <p:par>
                          <p:cTn id="17" fill="hold">
                            <p:stCondLst>
                              <p:cond delay="0"/>
                            </p:stCondLst>
                            <p:childTnLst>
                              <p:par>
                                <p:cTn id="18" presetID="35" presetClass="emph" presetSubtype="0" repeatCount="3000" fill="hold" nodeType="afterEffect">
                                  <p:stCondLst>
                                    <p:cond delay="0"/>
                                  </p:stCondLst>
                                  <p:childTnLst>
                                    <p:anim calcmode="discrete" valueType="str">
                                      <p:cBhvr>
                                        <p:cTn id="19" dur="1000" fill="hold"/>
                                        <p:tgtEl>
                                          <p:spTgt spid="6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animBg="1"/>
      <p:bldP spid="78" grpId="0" animBg="1"/>
      <p:bldP spid="79" grpId="0" animBg="1"/>
    </p:bld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5" y="600395"/>
            <a:ext cx="8053710"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81" name="组合 80"/>
          <p:cNvGrpSpPr/>
          <p:nvPr/>
        </p:nvGrpSpPr>
        <p:grpSpPr>
          <a:xfrm>
            <a:off x="6581684" y="1509122"/>
            <a:ext cx="1104466" cy="1200192"/>
            <a:chOff x="6476180" y="1753752"/>
            <a:chExt cx="1104466" cy="1200192"/>
          </a:xfrm>
        </p:grpSpPr>
        <p:grpSp>
          <p:nvGrpSpPr>
            <p:cNvPr id="82" name="Group 65"/>
            <p:cNvGrpSpPr>
              <a:grpSpLocks/>
            </p:cNvGrpSpPr>
            <p:nvPr/>
          </p:nvGrpSpPr>
          <p:grpSpPr bwMode="auto">
            <a:xfrm>
              <a:off x="6476180" y="1933292"/>
              <a:ext cx="1104466" cy="822867"/>
              <a:chOff x="4656" y="1528"/>
              <a:chExt cx="1011" cy="816"/>
            </a:xfrm>
          </p:grpSpPr>
          <p:sp>
            <p:nvSpPr>
              <p:cNvPr id="86" name="Line 66"/>
              <p:cNvSpPr>
                <a:spLocks noChangeShapeType="1"/>
              </p:cNvSpPr>
              <p:nvPr/>
            </p:nvSpPr>
            <p:spPr bwMode="auto">
              <a:xfrm flipH="1" flipV="1">
                <a:off x="4800" y="1912"/>
                <a:ext cx="348" cy="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7" name="Line 67"/>
              <p:cNvSpPr>
                <a:spLocks noChangeShapeType="1"/>
              </p:cNvSpPr>
              <p:nvPr/>
            </p:nvSpPr>
            <p:spPr bwMode="auto">
              <a:xfrm flipH="1" flipV="1">
                <a:off x="4656" y="2152"/>
                <a:ext cx="336" cy="19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8" name="Line 68"/>
              <p:cNvSpPr>
                <a:spLocks noChangeShapeType="1"/>
              </p:cNvSpPr>
              <p:nvPr/>
            </p:nvSpPr>
            <p:spPr bwMode="auto">
              <a:xfrm flipH="1">
                <a:off x="4800" y="1528"/>
                <a:ext cx="240" cy="96"/>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9" name="Text Box 70"/>
              <p:cNvSpPr txBox="1">
                <a:spLocks noChangeArrowheads="1"/>
              </p:cNvSpPr>
              <p:nvPr/>
            </p:nvSpPr>
            <p:spPr bwMode="auto">
              <a:xfrm>
                <a:off x="5316" y="1729"/>
                <a:ext cx="276"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Y</a:t>
                </a:r>
              </a:p>
            </p:txBody>
          </p:sp>
          <p:sp>
            <p:nvSpPr>
              <p:cNvPr id="90" name="Text Box 71"/>
              <p:cNvSpPr txBox="1">
                <a:spLocks noChangeArrowheads="1"/>
              </p:cNvSpPr>
              <p:nvPr/>
            </p:nvSpPr>
            <p:spPr bwMode="auto">
              <a:xfrm>
                <a:off x="4851" y="1955"/>
                <a:ext cx="816"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400" b="1" dirty="0">
                    <a:solidFill>
                      <a:srgbClr val="CC00CC"/>
                    </a:solidFill>
                    <a:latin typeface="微软雅黑" pitchFamily="34" charset="-122"/>
                    <a:ea typeface="微软雅黑" pitchFamily="34" charset="-122"/>
                  </a:rPr>
                  <a:t>10.2.0.3</a:t>
                </a:r>
              </a:p>
            </p:txBody>
          </p:sp>
        </p:grpSp>
        <p:pic>
          <p:nvPicPr>
            <p:cNvPr id="83"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836287" y="1753752"/>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84"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987570" y="2139702"/>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85"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804248" y="2675562"/>
              <a:ext cx="278382" cy="27838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91" name="组合 90"/>
          <p:cNvGrpSpPr/>
          <p:nvPr/>
        </p:nvGrpSpPr>
        <p:grpSpPr>
          <a:xfrm>
            <a:off x="1388244" y="1491186"/>
            <a:ext cx="1204971" cy="1290585"/>
            <a:chOff x="1338397" y="1735816"/>
            <a:chExt cx="1204971" cy="1290585"/>
          </a:xfrm>
        </p:grpSpPr>
        <p:grpSp>
          <p:nvGrpSpPr>
            <p:cNvPr id="92" name="Group 2"/>
            <p:cNvGrpSpPr>
              <a:grpSpLocks/>
            </p:cNvGrpSpPr>
            <p:nvPr/>
          </p:nvGrpSpPr>
          <p:grpSpPr bwMode="auto">
            <a:xfrm>
              <a:off x="1338397" y="1981696"/>
              <a:ext cx="1204971" cy="871271"/>
              <a:chOff x="-47" y="1576"/>
              <a:chExt cx="1103" cy="864"/>
            </a:xfrm>
          </p:grpSpPr>
          <p:sp>
            <p:nvSpPr>
              <p:cNvPr id="96" name="Line 3"/>
              <p:cNvSpPr>
                <a:spLocks noChangeShapeType="1"/>
              </p:cNvSpPr>
              <p:nvPr/>
            </p:nvSpPr>
            <p:spPr bwMode="auto">
              <a:xfrm flipV="1">
                <a:off x="816" y="2248"/>
                <a:ext cx="240" cy="19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7" name="Line 4"/>
              <p:cNvSpPr>
                <a:spLocks noChangeShapeType="1"/>
              </p:cNvSpPr>
              <p:nvPr/>
            </p:nvSpPr>
            <p:spPr bwMode="auto">
              <a:xfrm>
                <a:off x="624" y="1576"/>
                <a:ext cx="240" cy="144"/>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8" name="Line 5"/>
              <p:cNvSpPr>
                <a:spLocks noChangeShapeType="1"/>
              </p:cNvSpPr>
              <p:nvPr/>
            </p:nvSpPr>
            <p:spPr bwMode="auto">
              <a:xfrm flipV="1">
                <a:off x="432" y="1967"/>
                <a:ext cx="288" cy="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9" name="Text Box 7"/>
              <p:cNvSpPr txBox="1">
                <a:spLocks noChangeArrowheads="1"/>
              </p:cNvSpPr>
              <p:nvPr/>
            </p:nvSpPr>
            <p:spPr bwMode="auto">
              <a:xfrm>
                <a:off x="25" y="1779"/>
                <a:ext cx="283"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X</a:t>
                </a:r>
              </a:p>
            </p:txBody>
          </p:sp>
          <p:sp>
            <p:nvSpPr>
              <p:cNvPr id="100" name="Text Box 8"/>
              <p:cNvSpPr txBox="1">
                <a:spLocks noChangeArrowheads="1"/>
              </p:cNvSpPr>
              <p:nvPr/>
            </p:nvSpPr>
            <p:spPr bwMode="auto">
              <a:xfrm>
                <a:off x="-47" y="2031"/>
                <a:ext cx="816"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400" b="1" dirty="0">
                    <a:solidFill>
                      <a:srgbClr val="CC00CC"/>
                    </a:solidFill>
                    <a:latin typeface="微软雅黑" pitchFamily="34" charset="-122"/>
                    <a:ea typeface="微软雅黑" pitchFamily="34" charset="-122"/>
                  </a:rPr>
                  <a:t>10.1.0.1</a:t>
                </a:r>
              </a:p>
            </p:txBody>
          </p:sp>
        </p:grpSp>
        <p:pic>
          <p:nvPicPr>
            <p:cNvPr id="93"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888087" y="1735816"/>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94"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660325" y="2203759"/>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95"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091924" y="2748019"/>
              <a:ext cx="278382" cy="27838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01" name="Group 12"/>
          <p:cNvGrpSpPr>
            <a:grpSpLocks/>
          </p:cNvGrpSpPr>
          <p:nvPr/>
        </p:nvGrpSpPr>
        <p:grpSpPr bwMode="auto">
          <a:xfrm>
            <a:off x="2164916" y="1662442"/>
            <a:ext cx="1040013" cy="778496"/>
            <a:chOff x="385" y="2795"/>
            <a:chExt cx="1769" cy="816"/>
          </a:xfrm>
          <a:solidFill>
            <a:srgbClr val="3399FF"/>
          </a:solidFill>
        </p:grpSpPr>
        <p:sp>
          <p:nvSpPr>
            <p:cNvPr id="102" name="Oval 13"/>
            <p:cNvSpPr>
              <a:spLocks noChangeArrowheads="1"/>
            </p:cNvSpPr>
            <p:nvPr/>
          </p:nvSpPr>
          <p:spPr bwMode="auto">
            <a:xfrm>
              <a:off x="1589" y="3060"/>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03" name="Oval 14"/>
            <p:cNvSpPr>
              <a:spLocks noChangeArrowheads="1"/>
            </p:cNvSpPr>
            <p:nvPr/>
          </p:nvSpPr>
          <p:spPr bwMode="auto">
            <a:xfrm>
              <a:off x="928" y="3274"/>
              <a:ext cx="884" cy="33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04" name="Oval 15"/>
            <p:cNvSpPr>
              <a:spLocks noChangeArrowheads="1"/>
            </p:cNvSpPr>
            <p:nvPr/>
          </p:nvSpPr>
          <p:spPr bwMode="auto">
            <a:xfrm>
              <a:off x="502" y="3204"/>
              <a:ext cx="586" cy="28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05" name="Oval 16"/>
            <p:cNvSpPr>
              <a:spLocks noChangeArrowheads="1"/>
            </p:cNvSpPr>
            <p:nvPr/>
          </p:nvSpPr>
          <p:spPr bwMode="auto">
            <a:xfrm>
              <a:off x="385" y="3084"/>
              <a:ext cx="384"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06" name="Oval 17"/>
            <p:cNvSpPr>
              <a:spLocks noChangeArrowheads="1"/>
            </p:cNvSpPr>
            <p:nvPr/>
          </p:nvSpPr>
          <p:spPr bwMode="auto">
            <a:xfrm>
              <a:off x="566" y="2883"/>
              <a:ext cx="57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07" name="Oval 18"/>
            <p:cNvSpPr>
              <a:spLocks noChangeArrowheads="1"/>
            </p:cNvSpPr>
            <p:nvPr/>
          </p:nvSpPr>
          <p:spPr bwMode="auto">
            <a:xfrm>
              <a:off x="992" y="2795"/>
              <a:ext cx="757"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08" name="Oval 19"/>
            <p:cNvSpPr>
              <a:spLocks noChangeArrowheads="1"/>
            </p:cNvSpPr>
            <p:nvPr/>
          </p:nvSpPr>
          <p:spPr bwMode="auto">
            <a:xfrm>
              <a:off x="1504" y="2891"/>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09" name="Oval 20"/>
            <p:cNvSpPr>
              <a:spLocks noChangeArrowheads="1"/>
            </p:cNvSpPr>
            <p:nvPr/>
          </p:nvSpPr>
          <p:spPr bwMode="auto">
            <a:xfrm>
              <a:off x="704" y="2987"/>
              <a:ext cx="1141" cy="41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10" name="Oval 21"/>
            <p:cNvSpPr>
              <a:spLocks noChangeArrowheads="1"/>
            </p:cNvSpPr>
            <p:nvPr/>
          </p:nvSpPr>
          <p:spPr bwMode="auto">
            <a:xfrm rot="1336630">
              <a:off x="1474" y="3067"/>
              <a:ext cx="555"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11" name="Oval 22"/>
            <p:cNvSpPr>
              <a:spLocks noChangeArrowheads="1"/>
            </p:cNvSpPr>
            <p:nvPr/>
          </p:nvSpPr>
          <p:spPr bwMode="auto">
            <a:xfrm>
              <a:off x="1004" y="2811"/>
              <a:ext cx="75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12" name="Oval 23"/>
            <p:cNvSpPr>
              <a:spLocks noChangeArrowheads="1"/>
            </p:cNvSpPr>
            <p:nvPr/>
          </p:nvSpPr>
          <p:spPr bwMode="auto">
            <a:xfrm>
              <a:off x="577" y="2899"/>
              <a:ext cx="575" cy="320"/>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13" name="Oval 24"/>
            <p:cNvSpPr>
              <a:spLocks noChangeArrowheads="1"/>
            </p:cNvSpPr>
            <p:nvPr/>
          </p:nvSpPr>
          <p:spPr bwMode="auto">
            <a:xfrm>
              <a:off x="396" y="3100"/>
              <a:ext cx="383"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14" name="Oval 25"/>
            <p:cNvSpPr>
              <a:spLocks noChangeArrowheads="1"/>
            </p:cNvSpPr>
            <p:nvPr/>
          </p:nvSpPr>
          <p:spPr bwMode="auto">
            <a:xfrm>
              <a:off x="1515" y="2908"/>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15" name="Oval 26"/>
            <p:cNvSpPr>
              <a:spLocks noChangeArrowheads="1"/>
            </p:cNvSpPr>
            <p:nvPr/>
          </p:nvSpPr>
          <p:spPr bwMode="auto">
            <a:xfrm>
              <a:off x="1599" y="3075"/>
              <a:ext cx="555" cy="24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16" name="Oval 27"/>
            <p:cNvSpPr>
              <a:spLocks noChangeArrowheads="1"/>
            </p:cNvSpPr>
            <p:nvPr/>
          </p:nvSpPr>
          <p:spPr bwMode="auto">
            <a:xfrm>
              <a:off x="715" y="3003"/>
              <a:ext cx="1141"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17" name="Oval 28"/>
            <p:cNvSpPr>
              <a:spLocks noChangeArrowheads="1"/>
            </p:cNvSpPr>
            <p:nvPr/>
          </p:nvSpPr>
          <p:spPr bwMode="auto">
            <a:xfrm>
              <a:off x="513" y="3219"/>
              <a:ext cx="586" cy="282"/>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18" name="Freeform 29"/>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grpSp>
      <p:grpSp>
        <p:nvGrpSpPr>
          <p:cNvPr id="119" name="Group 30"/>
          <p:cNvGrpSpPr>
            <a:grpSpLocks/>
          </p:cNvGrpSpPr>
          <p:nvPr/>
        </p:nvGrpSpPr>
        <p:grpSpPr bwMode="auto">
          <a:xfrm>
            <a:off x="5780925" y="1618072"/>
            <a:ext cx="1040013" cy="778496"/>
            <a:chOff x="385" y="2795"/>
            <a:chExt cx="1769" cy="816"/>
          </a:xfrm>
          <a:solidFill>
            <a:srgbClr val="3399FF"/>
          </a:solidFill>
        </p:grpSpPr>
        <p:sp>
          <p:nvSpPr>
            <p:cNvPr id="120" name="Oval 31"/>
            <p:cNvSpPr>
              <a:spLocks noChangeArrowheads="1"/>
            </p:cNvSpPr>
            <p:nvPr/>
          </p:nvSpPr>
          <p:spPr bwMode="auto">
            <a:xfrm>
              <a:off x="1589" y="3060"/>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21" name="Oval 32"/>
            <p:cNvSpPr>
              <a:spLocks noChangeArrowheads="1"/>
            </p:cNvSpPr>
            <p:nvPr/>
          </p:nvSpPr>
          <p:spPr bwMode="auto">
            <a:xfrm>
              <a:off x="928" y="3274"/>
              <a:ext cx="884" cy="33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22" name="Oval 33"/>
            <p:cNvSpPr>
              <a:spLocks noChangeArrowheads="1"/>
            </p:cNvSpPr>
            <p:nvPr/>
          </p:nvSpPr>
          <p:spPr bwMode="auto">
            <a:xfrm>
              <a:off x="502" y="3204"/>
              <a:ext cx="586" cy="28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23" name="Oval 34"/>
            <p:cNvSpPr>
              <a:spLocks noChangeArrowheads="1"/>
            </p:cNvSpPr>
            <p:nvPr/>
          </p:nvSpPr>
          <p:spPr bwMode="auto">
            <a:xfrm>
              <a:off x="385" y="3084"/>
              <a:ext cx="384"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24" name="Oval 35"/>
            <p:cNvSpPr>
              <a:spLocks noChangeArrowheads="1"/>
            </p:cNvSpPr>
            <p:nvPr/>
          </p:nvSpPr>
          <p:spPr bwMode="auto">
            <a:xfrm>
              <a:off x="566" y="2883"/>
              <a:ext cx="57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25" name="Oval 36"/>
            <p:cNvSpPr>
              <a:spLocks noChangeArrowheads="1"/>
            </p:cNvSpPr>
            <p:nvPr/>
          </p:nvSpPr>
          <p:spPr bwMode="auto">
            <a:xfrm>
              <a:off x="992" y="2795"/>
              <a:ext cx="757"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26" name="Oval 37"/>
            <p:cNvSpPr>
              <a:spLocks noChangeArrowheads="1"/>
            </p:cNvSpPr>
            <p:nvPr/>
          </p:nvSpPr>
          <p:spPr bwMode="auto">
            <a:xfrm>
              <a:off x="1504" y="2891"/>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27" name="Oval 38"/>
            <p:cNvSpPr>
              <a:spLocks noChangeArrowheads="1"/>
            </p:cNvSpPr>
            <p:nvPr/>
          </p:nvSpPr>
          <p:spPr bwMode="auto">
            <a:xfrm>
              <a:off x="704" y="2987"/>
              <a:ext cx="1141" cy="41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28" name="Oval 39"/>
            <p:cNvSpPr>
              <a:spLocks noChangeArrowheads="1"/>
            </p:cNvSpPr>
            <p:nvPr/>
          </p:nvSpPr>
          <p:spPr bwMode="auto">
            <a:xfrm rot="1336630">
              <a:off x="1474" y="3067"/>
              <a:ext cx="555"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29" name="Oval 40"/>
            <p:cNvSpPr>
              <a:spLocks noChangeArrowheads="1"/>
            </p:cNvSpPr>
            <p:nvPr/>
          </p:nvSpPr>
          <p:spPr bwMode="auto">
            <a:xfrm>
              <a:off x="1004" y="2811"/>
              <a:ext cx="75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30" name="Oval 41"/>
            <p:cNvSpPr>
              <a:spLocks noChangeArrowheads="1"/>
            </p:cNvSpPr>
            <p:nvPr/>
          </p:nvSpPr>
          <p:spPr bwMode="auto">
            <a:xfrm>
              <a:off x="577" y="2899"/>
              <a:ext cx="575" cy="320"/>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31" name="Oval 42"/>
            <p:cNvSpPr>
              <a:spLocks noChangeArrowheads="1"/>
            </p:cNvSpPr>
            <p:nvPr/>
          </p:nvSpPr>
          <p:spPr bwMode="auto">
            <a:xfrm>
              <a:off x="396" y="3100"/>
              <a:ext cx="383"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32" name="Oval 43"/>
            <p:cNvSpPr>
              <a:spLocks noChangeArrowheads="1"/>
            </p:cNvSpPr>
            <p:nvPr/>
          </p:nvSpPr>
          <p:spPr bwMode="auto">
            <a:xfrm>
              <a:off x="1515" y="2908"/>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33" name="Oval 44"/>
            <p:cNvSpPr>
              <a:spLocks noChangeArrowheads="1"/>
            </p:cNvSpPr>
            <p:nvPr/>
          </p:nvSpPr>
          <p:spPr bwMode="auto">
            <a:xfrm>
              <a:off x="1599" y="3075"/>
              <a:ext cx="555" cy="24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34" name="Oval 45"/>
            <p:cNvSpPr>
              <a:spLocks noChangeArrowheads="1"/>
            </p:cNvSpPr>
            <p:nvPr/>
          </p:nvSpPr>
          <p:spPr bwMode="auto">
            <a:xfrm>
              <a:off x="715" y="3003"/>
              <a:ext cx="1141"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35" name="Oval 46"/>
            <p:cNvSpPr>
              <a:spLocks noChangeArrowheads="1"/>
            </p:cNvSpPr>
            <p:nvPr/>
          </p:nvSpPr>
          <p:spPr bwMode="auto">
            <a:xfrm>
              <a:off x="513" y="3219"/>
              <a:ext cx="586" cy="282"/>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36" name="Freeform 47"/>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grpSp>
      <p:graphicFrame>
        <p:nvGraphicFramePr>
          <p:cNvPr id="137" name="Object 48"/>
          <p:cNvGraphicFramePr>
            <a:graphicFrameLocks noChangeAspect="1"/>
          </p:cNvGraphicFramePr>
          <p:nvPr>
            <p:extLst>
              <p:ext uri="{D42A27DB-BD31-4B8C-83A1-F6EECF244321}">
                <p14:modId xmlns:p14="http://schemas.microsoft.com/office/powerpoint/2010/main" val="3918792276"/>
              </p:ext>
            </p:extLst>
          </p:nvPr>
        </p:nvGraphicFramePr>
        <p:xfrm>
          <a:off x="3645186" y="1559584"/>
          <a:ext cx="1887753" cy="1082030"/>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23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45186" y="1559584"/>
                        <a:ext cx="1887753" cy="10820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pic>
        <p:nvPicPr>
          <p:cNvPr id="138" name="Picture 49"/>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589746" y="1899421"/>
            <a:ext cx="358324" cy="159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39" name="Picture 50"/>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100053" y="1900429"/>
            <a:ext cx="358324" cy="159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40" name="Text Box 51"/>
          <p:cNvSpPr txBox="1">
            <a:spLocks noChangeArrowheads="1"/>
          </p:cNvSpPr>
          <p:nvPr/>
        </p:nvSpPr>
        <p:spPr bwMode="auto">
          <a:xfrm>
            <a:off x="2359666" y="1874058"/>
            <a:ext cx="65434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chemeClr val="bg1"/>
                </a:solidFill>
                <a:latin typeface="微软雅黑" pitchFamily="34" charset="-122"/>
                <a:ea typeface="微软雅黑" pitchFamily="34" charset="-122"/>
              </a:rPr>
              <a:t>部门 </a:t>
            </a:r>
            <a:r>
              <a:rPr kumimoji="1" lang="en-US" altLang="zh-CN" sz="1200" b="1" dirty="0">
                <a:solidFill>
                  <a:schemeClr val="bg1"/>
                </a:solidFill>
                <a:latin typeface="微软雅黑" pitchFamily="34" charset="-122"/>
                <a:ea typeface="微软雅黑" pitchFamily="34" charset="-122"/>
              </a:rPr>
              <a:t>A</a:t>
            </a:r>
          </a:p>
          <a:p>
            <a:pPr algn="ctr"/>
            <a:r>
              <a:rPr kumimoji="1" lang="zh-CN" altLang="en-US" sz="1200" b="1" dirty="0">
                <a:solidFill>
                  <a:schemeClr val="bg1"/>
                </a:solidFill>
                <a:latin typeface="微软雅黑" pitchFamily="34" charset="-122"/>
                <a:ea typeface="微软雅黑" pitchFamily="34" charset="-122"/>
              </a:rPr>
              <a:t>网络</a:t>
            </a:r>
            <a:endParaRPr kumimoji="1" lang="en-US" altLang="zh-CN" sz="1200" b="1" dirty="0">
              <a:solidFill>
                <a:schemeClr val="bg1"/>
              </a:solidFill>
              <a:latin typeface="微软雅黑" pitchFamily="34" charset="-122"/>
              <a:ea typeface="微软雅黑" pitchFamily="34" charset="-122"/>
            </a:endParaRPr>
          </a:p>
        </p:txBody>
      </p:sp>
      <p:sp>
        <p:nvSpPr>
          <p:cNvPr id="141" name="AutoShape 52"/>
          <p:cNvSpPr>
            <a:spLocks noChangeArrowheads="1"/>
          </p:cNvSpPr>
          <p:nvPr/>
        </p:nvSpPr>
        <p:spPr bwMode="auto">
          <a:xfrm rot="16200000">
            <a:off x="4382841" y="1117394"/>
            <a:ext cx="228911" cy="1730441"/>
          </a:xfrm>
          <a:prstGeom prst="can">
            <a:avLst>
              <a:gd name="adj" fmla="val 25521"/>
            </a:avLst>
          </a:prstGeom>
          <a:gradFill rotWithShape="1">
            <a:gsLst>
              <a:gs pos="0">
                <a:srgbClr val="33CCFF">
                  <a:gamma/>
                  <a:shade val="46275"/>
                  <a:invGamma/>
                </a:srgbClr>
              </a:gs>
              <a:gs pos="50000">
                <a:srgbClr val="33CCFF"/>
              </a:gs>
              <a:gs pos="100000">
                <a:srgbClr val="33CCFF">
                  <a:gamma/>
                  <a:shade val="46275"/>
                  <a:invGamma/>
                </a:srgbClr>
              </a:gs>
            </a:gsLst>
            <a:lin ang="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42" name="Text Box 53"/>
          <p:cNvSpPr txBox="1">
            <a:spLocks noChangeArrowheads="1"/>
          </p:cNvSpPr>
          <p:nvPr/>
        </p:nvSpPr>
        <p:spPr bwMode="auto">
          <a:xfrm>
            <a:off x="4228781" y="2135421"/>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FF"/>
                </a:solidFill>
                <a:latin typeface="微软雅黑" pitchFamily="34" charset="-122"/>
                <a:ea typeface="微软雅黑" pitchFamily="34" charset="-122"/>
              </a:rPr>
              <a:t>互联网</a:t>
            </a:r>
            <a:endParaRPr kumimoji="1" lang="zh-CN" altLang="en-US" sz="1400" b="1" dirty="0">
              <a:solidFill>
                <a:srgbClr val="0000FF"/>
              </a:solidFill>
              <a:latin typeface="微软雅黑" pitchFamily="34" charset="-122"/>
              <a:ea typeface="微软雅黑" pitchFamily="34" charset="-122"/>
            </a:endParaRPr>
          </a:p>
        </p:txBody>
      </p:sp>
      <p:sp>
        <p:nvSpPr>
          <p:cNvPr id="143" name="Text Box 54"/>
          <p:cNvSpPr txBox="1">
            <a:spLocks noChangeArrowheads="1"/>
          </p:cNvSpPr>
          <p:nvPr/>
        </p:nvSpPr>
        <p:spPr bwMode="auto">
          <a:xfrm>
            <a:off x="6001368" y="1801941"/>
            <a:ext cx="64472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chemeClr val="bg1"/>
                </a:solidFill>
                <a:latin typeface="微软雅黑" pitchFamily="34" charset="-122"/>
                <a:ea typeface="微软雅黑" pitchFamily="34" charset="-122"/>
              </a:rPr>
              <a:t>部门 </a:t>
            </a:r>
            <a:r>
              <a:rPr kumimoji="1" lang="en-US" altLang="zh-CN" sz="1200" b="1" dirty="0">
                <a:solidFill>
                  <a:schemeClr val="bg1"/>
                </a:solidFill>
                <a:latin typeface="微软雅黑" pitchFamily="34" charset="-122"/>
                <a:ea typeface="微软雅黑" pitchFamily="34" charset="-122"/>
              </a:rPr>
              <a:t>B</a:t>
            </a:r>
          </a:p>
          <a:p>
            <a:pPr algn="ctr"/>
            <a:r>
              <a:rPr kumimoji="1" lang="zh-CN" altLang="en-US" sz="1200" b="1" dirty="0">
                <a:solidFill>
                  <a:schemeClr val="bg1"/>
                </a:solidFill>
                <a:latin typeface="微软雅黑" pitchFamily="34" charset="-122"/>
                <a:ea typeface="微软雅黑" pitchFamily="34" charset="-122"/>
              </a:rPr>
              <a:t>网络</a:t>
            </a:r>
            <a:endParaRPr kumimoji="1" lang="en-US" altLang="zh-CN" sz="1200" b="1" dirty="0">
              <a:solidFill>
                <a:schemeClr val="bg1"/>
              </a:solidFill>
              <a:latin typeface="微软雅黑" pitchFamily="34" charset="-122"/>
              <a:ea typeface="微软雅黑" pitchFamily="34" charset="-122"/>
            </a:endParaRPr>
          </a:p>
        </p:txBody>
      </p:sp>
      <p:sp>
        <p:nvSpPr>
          <p:cNvPr id="144" name="Text Box 55"/>
          <p:cNvSpPr txBox="1">
            <a:spLocks noChangeArrowheads="1"/>
          </p:cNvSpPr>
          <p:nvPr/>
        </p:nvSpPr>
        <p:spPr bwMode="auto">
          <a:xfrm>
            <a:off x="3151951" y="2093036"/>
            <a:ext cx="383438"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1</a:t>
            </a:r>
            <a:endParaRPr kumimoji="1" lang="en-US" altLang="zh-CN" sz="1400" b="1">
              <a:latin typeface="微软雅黑" pitchFamily="34" charset="-122"/>
              <a:ea typeface="微软雅黑" pitchFamily="34" charset="-122"/>
            </a:endParaRPr>
          </a:p>
        </p:txBody>
      </p:sp>
      <p:sp>
        <p:nvSpPr>
          <p:cNvPr id="145" name="Text Box 56"/>
          <p:cNvSpPr txBox="1">
            <a:spLocks noChangeArrowheads="1"/>
          </p:cNvSpPr>
          <p:nvPr/>
        </p:nvSpPr>
        <p:spPr bwMode="auto">
          <a:xfrm>
            <a:off x="5549878" y="2047658"/>
            <a:ext cx="383438"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2</a:t>
            </a:r>
            <a:endParaRPr kumimoji="1" lang="en-US" altLang="zh-CN" sz="1400" b="1">
              <a:latin typeface="微软雅黑" pitchFamily="34" charset="-122"/>
              <a:ea typeface="微软雅黑" pitchFamily="34" charset="-122"/>
            </a:endParaRPr>
          </a:p>
        </p:txBody>
      </p:sp>
      <p:sp>
        <p:nvSpPr>
          <p:cNvPr id="146" name="Text Box 57"/>
          <p:cNvSpPr txBox="1">
            <a:spLocks noChangeArrowheads="1"/>
          </p:cNvSpPr>
          <p:nvPr/>
        </p:nvSpPr>
        <p:spPr bwMode="auto">
          <a:xfrm>
            <a:off x="4318602" y="1841610"/>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FFFF00"/>
                </a:solidFill>
                <a:latin typeface="微软雅黑" pitchFamily="34" charset="-122"/>
                <a:ea typeface="微软雅黑" pitchFamily="34" charset="-122"/>
              </a:rPr>
              <a:t>隧道</a:t>
            </a:r>
          </a:p>
        </p:txBody>
      </p:sp>
      <p:sp>
        <p:nvSpPr>
          <p:cNvPr id="147" name="Line 58"/>
          <p:cNvSpPr>
            <a:spLocks noChangeShapeType="1"/>
          </p:cNvSpPr>
          <p:nvPr/>
        </p:nvSpPr>
        <p:spPr bwMode="auto">
          <a:xfrm>
            <a:off x="3422326" y="1979085"/>
            <a:ext cx="262188"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48" name="Line 59"/>
          <p:cNvSpPr>
            <a:spLocks noChangeShapeType="1"/>
          </p:cNvSpPr>
          <p:nvPr/>
        </p:nvSpPr>
        <p:spPr bwMode="auto">
          <a:xfrm>
            <a:off x="5362517" y="1979085"/>
            <a:ext cx="262188"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nvGrpSpPr>
          <p:cNvPr id="149" name="Group 60"/>
          <p:cNvGrpSpPr>
            <a:grpSpLocks/>
          </p:cNvGrpSpPr>
          <p:nvPr/>
        </p:nvGrpSpPr>
        <p:grpSpPr bwMode="auto">
          <a:xfrm>
            <a:off x="2966985" y="1471985"/>
            <a:ext cx="3121130" cy="471940"/>
            <a:chOff x="1315" y="1348"/>
            <a:chExt cx="2857" cy="468"/>
          </a:xfrm>
        </p:grpSpPr>
        <p:sp>
          <p:nvSpPr>
            <p:cNvPr id="150" name="Text Box 61"/>
            <p:cNvSpPr txBox="1">
              <a:spLocks noChangeArrowheads="1"/>
            </p:cNvSpPr>
            <p:nvPr/>
          </p:nvSpPr>
          <p:spPr bwMode="auto">
            <a:xfrm>
              <a:off x="1315" y="1348"/>
              <a:ext cx="917"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400" b="1" dirty="0">
                  <a:solidFill>
                    <a:srgbClr val="0000FF"/>
                  </a:solidFill>
                  <a:latin typeface="微软雅黑" pitchFamily="34" charset="-122"/>
                  <a:ea typeface="微软雅黑" pitchFamily="34" charset="-122"/>
                </a:rPr>
                <a:t>125.1.2.3</a:t>
              </a:r>
            </a:p>
          </p:txBody>
        </p:sp>
        <p:sp>
          <p:nvSpPr>
            <p:cNvPr id="151" name="Line 62"/>
            <p:cNvSpPr>
              <a:spLocks noChangeShapeType="1"/>
            </p:cNvSpPr>
            <p:nvPr/>
          </p:nvSpPr>
          <p:spPr bwMode="auto">
            <a:xfrm>
              <a:off x="1837" y="1616"/>
              <a:ext cx="23" cy="200"/>
            </a:xfrm>
            <a:prstGeom prst="line">
              <a:avLst/>
            </a:prstGeom>
            <a:noFill/>
            <a:ln w="3810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52" name="Text Box 63"/>
            <p:cNvSpPr txBox="1">
              <a:spLocks noChangeArrowheads="1"/>
            </p:cNvSpPr>
            <p:nvPr/>
          </p:nvSpPr>
          <p:spPr bwMode="auto">
            <a:xfrm>
              <a:off x="3255" y="1367"/>
              <a:ext cx="917" cy="2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dirty="0">
                  <a:solidFill>
                    <a:srgbClr val="0000FF"/>
                  </a:solidFill>
                  <a:latin typeface="微软雅黑" pitchFamily="34" charset="-122"/>
                  <a:ea typeface="微软雅黑" pitchFamily="34" charset="-122"/>
                </a:rPr>
                <a:t>194.4.5.6</a:t>
              </a:r>
            </a:p>
          </p:txBody>
        </p:sp>
        <p:sp>
          <p:nvSpPr>
            <p:cNvPr id="153" name="Line 64"/>
            <p:cNvSpPr>
              <a:spLocks noChangeShapeType="1"/>
            </p:cNvSpPr>
            <p:nvPr/>
          </p:nvSpPr>
          <p:spPr bwMode="auto">
            <a:xfrm flipH="1">
              <a:off x="3636" y="1616"/>
              <a:ext cx="60" cy="200"/>
            </a:xfrm>
            <a:prstGeom prst="line">
              <a:avLst/>
            </a:prstGeom>
            <a:noFill/>
            <a:ln w="3810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sp>
        <p:nvSpPr>
          <p:cNvPr id="154" name="Text Box 74"/>
          <p:cNvSpPr txBox="1">
            <a:spLocks noChangeArrowheads="1"/>
          </p:cNvSpPr>
          <p:nvPr/>
        </p:nvSpPr>
        <p:spPr bwMode="auto">
          <a:xfrm>
            <a:off x="3961781" y="2554981"/>
            <a:ext cx="126188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zh-CN" altLang="en-US" sz="1400" b="1" dirty="0">
                <a:solidFill>
                  <a:srgbClr val="0000FF"/>
                </a:solidFill>
                <a:latin typeface="微软雅黑" pitchFamily="34" charset="-122"/>
                <a:ea typeface="微软雅黑" pitchFamily="34" charset="-122"/>
              </a:rPr>
              <a:t>使用隧道技术</a:t>
            </a:r>
          </a:p>
        </p:txBody>
      </p:sp>
      <p:grpSp>
        <p:nvGrpSpPr>
          <p:cNvPr id="167" name="组合 166"/>
          <p:cNvGrpSpPr/>
          <p:nvPr/>
        </p:nvGrpSpPr>
        <p:grpSpPr>
          <a:xfrm>
            <a:off x="2197642" y="647170"/>
            <a:ext cx="4638805" cy="1379806"/>
            <a:chOff x="1020356" y="143391"/>
            <a:chExt cx="7728444" cy="2298816"/>
          </a:xfrm>
        </p:grpSpPr>
        <p:sp>
          <p:nvSpPr>
            <p:cNvPr id="158" name="AutoShape 75"/>
            <p:cNvSpPr>
              <a:spLocks noChangeArrowheads="1"/>
            </p:cNvSpPr>
            <p:nvPr/>
          </p:nvSpPr>
          <p:spPr bwMode="auto">
            <a:xfrm>
              <a:off x="6246803" y="1107355"/>
              <a:ext cx="495300" cy="152400"/>
            </a:xfrm>
            <a:prstGeom prst="rightArrow">
              <a:avLst>
                <a:gd name="adj1" fmla="val 50000"/>
                <a:gd name="adj2" fmla="val 75000"/>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59" name="Rectangle 76"/>
            <p:cNvSpPr>
              <a:spLocks noChangeArrowheads="1"/>
            </p:cNvSpPr>
            <p:nvPr/>
          </p:nvSpPr>
          <p:spPr bwMode="auto">
            <a:xfrm>
              <a:off x="1020356" y="332656"/>
              <a:ext cx="3666596" cy="434975"/>
            </a:xfrm>
            <a:prstGeom prst="rect">
              <a:avLst/>
            </a:prstGeom>
            <a:solidFill>
              <a:srgbClr val="00FFFF"/>
            </a:solidFill>
            <a:ln w="9525">
              <a:solidFill>
                <a:schemeClr val="tx1"/>
              </a:solidFill>
              <a:miter lim="800000"/>
              <a:headEnd/>
              <a:tailEnd/>
            </a:ln>
            <a:effectLst/>
          </p:spPr>
          <p:txBody>
            <a:bodyPr wrap="none" anchor="ctr"/>
            <a:lstStyle/>
            <a:p>
              <a:pPr algn="ctr"/>
              <a:r>
                <a:rPr kumimoji="1" lang="zh-CN" altLang="en-US" sz="1200" b="1" dirty="0">
                  <a:latin typeface="微软雅黑" pitchFamily="34" charset="-122"/>
                  <a:ea typeface="微软雅黑" pitchFamily="34" charset="-122"/>
                </a:rPr>
                <a:t>加密的从 </a:t>
              </a:r>
              <a:r>
                <a:rPr kumimoji="1" lang="en-US" altLang="zh-CN" sz="1200" b="1" dirty="0">
                  <a:latin typeface="微软雅黑" pitchFamily="34" charset="-122"/>
                  <a:ea typeface="微软雅黑" pitchFamily="34" charset="-122"/>
                </a:rPr>
                <a:t>X </a:t>
              </a:r>
              <a:r>
                <a:rPr kumimoji="1" lang="zh-CN" altLang="en-US" sz="1200" b="1" dirty="0">
                  <a:latin typeface="微软雅黑" pitchFamily="34" charset="-122"/>
                  <a:ea typeface="微软雅黑" pitchFamily="34" charset="-122"/>
                </a:rPr>
                <a:t>到 </a:t>
              </a:r>
              <a:r>
                <a:rPr kumimoji="1" lang="en-US" altLang="zh-CN" sz="1200" b="1" dirty="0">
                  <a:latin typeface="微软雅黑" pitchFamily="34" charset="-122"/>
                  <a:ea typeface="微软雅黑" pitchFamily="34" charset="-122"/>
                </a:rPr>
                <a:t>Y </a:t>
              </a:r>
              <a:r>
                <a:rPr kumimoji="1" lang="zh-CN" altLang="en-US" sz="1200" b="1" dirty="0">
                  <a:latin typeface="微软雅黑" pitchFamily="34" charset="-122"/>
                  <a:ea typeface="微软雅黑" pitchFamily="34" charset="-122"/>
                </a:rPr>
                <a:t>的内部数据报</a:t>
              </a:r>
            </a:p>
          </p:txBody>
        </p:sp>
        <p:sp>
          <p:nvSpPr>
            <p:cNvPr id="160" name="Rectangle 77"/>
            <p:cNvSpPr>
              <a:spLocks noChangeArrowheads="1"/>
            </p:cNvSpPr>
            <p:nvPr/>
          </p:nvSpPr>
          <p:spPr bwMode="auto">
            <a:xfrm>
              <a:off x="1020356" y="983530"/>
              <a:ext cx="3709591" cy="396875"/>
            </a:xfrm>
            <a:prstGeom prst="rect">
              <a:avLst/>
            </a:prstGeom>
            <a:solidFill>
              <a:srgbClr val="00FFFF"/>
            </a:solidFill>
            <a:ln w="9525">
              <a:solidFill>
                <a:schemeClr val="tx1"/>
              </a:solidFill>
              <a:miter lim="800000"/>
              <a:headEnd/>
              <a:tailEnd/>
            </a:ln>
            <a:effectLst/>
          </p:spPr>
          <p:txBody>
            <a:bodyPr wrap="none" anchor="ctr"/>
            <a:lstStyle/>
            <a:p>
              <a:pPr algn="ctr"/>
              <a:r>
                <a:rPr kumimoji="1" lang="zh-CN" altLang="en-US" sz="1200" b="1">
                  <a:latin typeface="微软雅黑" pitchFamily="34" charset="-122"/>
                  <a:ea typeface="微软雅黑" pitchFamily="34" charset="-122"/>
                </a:rPr>
                <a:t>外部数据报的数据部分</a:t>
              </a:r>
            </a:p>
          </p:txBody>
        </p:sp>
        <p:sp>
          <p:nvSpPr>
            <p:cNvPr id="161" name="AutoShape 78"/>
            <p:cNvSpPr>
              <a:spLocks noChangeArrowheads="1"/>
            </p:cNvSpPr>
            <p:nvPr/>
          </p:nvSpPr>
          <p:spPr bwMode="auto">
            <a:xfrm>
              <a:off x="3679179" y="702441"/>
              <a:ext cx="302683" cy="346075"/>
            </a:xfrm>
            <a:prstGeom prst="downArrow">
              <a:avLst>
                <a:gd name="adj1" fmla="val 50000"/>
                <a:gd name="adj2" fmla="val 75000"/>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200" b="1">
                <a:latin typeface="微软雅黑" pitchFamily="34" charset="-122"/>
                <a:ea typeface="微软雅黑" pitchFamily="34" charset="-122"/>
              </a:endParaRPr>
            </a:p>
          </p:txBody>
        </p:sp>
        <p:sp>
          <p:nvSpPr>
            <p:cNvPr id="162" name="Text Box 79"/>
            <p:cNvSpPr txBox="1">
              <a:spLocks noChangeArrowheads="1"/>
            </p:cNvSpPr>
            <p:nvPr/>
          </p:nvSpPr>
          <p:spPr bwMode="auto">
            <a:xfrm>
              <a:off x="5997475" y="143391"/>
              <a:ext cx="2751325" cy="769154"/>
            </a:xfrm>
            <a:prstGeom prst="rect">
              <a:avLst/>
            </a:prstGeom>
            <a:solidFill>
              <a:srgbClr val="0000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r"/>
              <a:r>
                <a:rPr kumimoji="1" lang="zh-CN" altLang="en-US" sz="1200" b="1" dirty="0">
                  <a:solidFill>
                    <a:schemeClr val="bg1"/>
                  </a:solidFill>
                  <a:latin typeface="微软雅黑" pitchFamily="34" charset="-122"/>
                  <a:ea typeface="微软雅黑" pitchFamily="34" charset="-122"/>
                </a:rPr>
                <a:t>源地址：</a:t>
              </a:r>
              <a:r>
                <a:rPr kumimoji="1" lang="en-US" altLang="zh-CN" sz="1200" b="1" dirty="0">
                  <a:solidFill>
                    <a:schemeClr val="bg1"/>
                  </a:solidFill>
                  <a:latin typeface="微软雅黑" pitchFamily="34" charset="-122"/>
                  <a:ea typeface="微软雅黑" pitchFamily="34" charset="-122"/>
                </a:rPr>
                <a:t>125.1.2.3</a:t>
              </a:r>
            </a:p>
            <a:p>
              <a:pPr algn="r"/>
              <a:r>
                <a:rPr kumimoji="1" lang="zh-CN" altLang="en-US" sz="1200" b="1" dirty="0">
                  <a:solidFill>
                    <a:schemeClr val="bg1"/>
                  </a:solidFill>
                  <a:latin typeface="微软雅黑" pitchFamily="34" charset="-122"/>
                  <a:ea typeface="微软雅黑" pitchFamily="34" charset="-122"/>
                </a:rPr>
                <a:t>目的地址：</a:t>
              </a:r>
              <a:r>
                <a:rPr kumimoji="1" lang="en-US" altLang="zh-CN" sz="1200" b="1" dirty="0">
                  <a:solidFill>
                    <a:schemeClr val="bg1"/>
                  </a:solidFill>
                  <a:latin typeface="微软雅黑" pitchFamily="34" charset="-122"/>
                  <a:ea typeface="微软雅黑" pitchFamily="34" charset="-122"/>
                </a:rPr>
                <a:t>194.4.5.6</a:t>
              </a:r>
            </a:p>
          </p:txBody>
        </p:sp>
        <p:sp>
          <p:nvSpPr>
            <p:cNvPr id="163" name="Freeform 80"/>
            <p:cNvSpPr>
              <a:spLocks/>
            </p:cNvSpPr>
            <p:nvPr/>
          </p:nvSpPr>
          <p:spPr bwMode="auto">
            <a:xfrm>
              <a:off x="4054069" y="1488356"/>
              <a:ext cx="502178" cy="953851"/>
            </a:xfrm>
            <a:custGeom>
              <a:avLst/>
              <a:gdLst>
                <a:gd name="T0" fmla="*/ 0 w 292"/>
                <a:gd name="T1" fmla="*/ 0 h 584"/>
                <a:gd name="T2" fmla="*/ 4 w 292"/>
                <a:gd name="T3" fmla="*/ 126 h 584"/>
                <a:gd name="T4" fmla="*/ 22 w 292"/>
                <a:gd name="T5" fmla="*/ 282 h 584"/>
                <a:gd name="T6" fmla="*/ 46 w 292"/>
                <a:gd name="T7" fmla="*/ 390 h 584"/>
                <a:gd name="T8" fmla="*/ 96 w 292"/>
                <a:gd name="T9" fmla="*/ 488 h 584"/>
                <a:gd name="T10" fmla="*/ 184 w 292"/>
                <a:gd name="T11" fmla="*/ 560 h 584"/>
                <a:gd name="T12" fmla="*/ 292 w 292"/>
                <a:gd name="T13" fmla="*/ 584 h 584"/>
              </a:gdLst>
              <a:ahLst/>
              <a:cxnLst>
                <a:cxn ang="0">
                  <a:pos x="T0" y="T1"/>
                </a:cxn>
                <a:cxn ang="0">
                  <a:pos x="T2" y="T3"/>
                </a:cxn>
                <a:cxn ang="0">
                  <a:pos x="T4" y="T5"/>
                </a:cxn>
                <a:cxn ang="0">
                  <a:pos x="T6" y="T7"/>
                </a:cxn>
                <a:cxn ang="0">
                  <a:pos x="T8" y="T9"/>
                </a:cxn>
                <a:cxn ang="0">
                  <a:pos x="T10" y="T11"/>
                </a:cxn>
                <a:cxn ang="0">
                  <a:pos x="T12" y="T13"/>
                </a:cxn>
              </a:cxnLst>
              <a:rect l="0" t="0" r="r" b="b"/>
              <a:pathLst>
                <a:path w="292" h="584">
                  <a:moveTo>
                    <a:pt x="0" y="0"/>
                  </a:moveTo>
                  <a:cubicBezTo>
                    <a:pt x="1" y="21"/>
                    <a:pt x="0" y="79"/>
                    <a:pt x="4" y="126"/>
                  </a:cubicBezTo>
                  <a:cubicBezTo>
                    <a:pt x="8" y="173"/>
                    <a:pt x="15" y="238"/>
                    <a:pt x="22" y="282"/>
                  </a:cubicBezTo>
                  <a:cubicBezTo>
                    <a:pt x="29" y="326"/>
                    <a:pt x="34" y="356"/>
                    <a:pt x="46" y="390"/>
                  </a:cubicBezTo>
                  <a:cubicBezTo>
                    <a:pt x="58" y="424"/>
                    <a:pt x="73" y="460"/>
                    <a:pt x="96" y="488"/>
                  </a:cubicBezTo>
                  <a:cubicBezTo>
                    <a:pt x="119" y="516"/>
                    <a:pt x="151" y="544"/>
                    <a:pt x="184" y="560"/>
                  </a:cubicBezTo>
                  <a:cubicBezTo>
                    <a:pt x="217" y="576"/>
                    <a:pt x="270" y="579"/>
                    <a:pt x="292" y="584"/>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64" name="Rectangle 81"/>
            <p:cNvSpPr>
              <a:spLocks noChangeArrowheads="1"/>
            </p:cNvSpPr>
            <p:nvPr/>
          </p:nvSpPr>
          <p:spPr bwMode="auto">
            <a:xfrm>
              <a:off x="4686952" y="983530"/>
              <a:ext cx="1559852" cy="396875"/>
            </a:xfrm>
            <a:prstGeom prst="rect">
              <a:avLst/>
            </a:prstGeom>
            <a:solidFill>
              <a:srgbClr val="00FF99"/>
            </a:solidFill>
            <a:ln w="9525">
              <a:solidFill>
                <a:schemeClr val="tx1"/>
              </a:solidFill>
              <a:miter lim="800000"/>
              <a:headEnd/>
              <a:tailEnd/>
            </a:ln>
            <a:effectLst/>
          </p:spPr>
          <p:txBody>
            <a:bodyPr wrap="none" anchor="ctr"/>
            <a:lstStyle/>
            <a:p>
              <a:pPr algn="ctr"/>
              <a:r>
                <a:rPr kumimoji="1" lang="zh-CN" altLang="en-US" sz="1200" b="1">
                  <a:latin typeface="微软雅黑" pitchFamily="34" charset="-122"/>
                  <a:ea typeface="微软雅黑" pitchFamily="34" charset="-122"/>
                </a:rPr>
                <a:t>数据报首部</a:t>
              </a:r>
            </a:p>
          </p:txBody>
        </p:sp>
        <p:sp>
          <p:nvSpPr>
            <p:cNvPr id="165" name="Line 82"/>
            <p:cNvSpPr>
              <a:spLocks noChangeShapeType="1"/>
            </p:cNvSpPr>
            <p:nvPr/>
          </p:nvSpPr>
          <p:spPr bwMode="auto">
            <a:xfrm flipH="1">
              <a:off x="5637345" y="767630"/>
              <a:ext cx="467783" cy="287338"/>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66" name="Line 83"/>
            <p:cNvSpPr>
              <a:spLocks noChangeShapeType="1"/>
            </p:cNvSpPr>
            <p:nvPr/>
          </p:nvSpPr>
          <p:spPr bwMode="auto">
            <a:xfrm>
              <a:off x="1020357" y="1488355"/>
              <a:ext cx="5226447" cy="0"/>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168" name="矩形 167"/>
          <p:cNvSpPr/>
          <p:nvPr/>
        </p:nvSpPr>
        <p:spPr>
          <a:xfrm>
            <a:off x="2805095" y="4339177"/>
            <a:ext cx="3550913" cy="338554"/>
          </a:xfrm>
          <a:prstGeom prst="rect">
            <a:avLst/>
          </a:prstGeom>
        </p:spPr>
        <p:txBody>
          <a:bodyPr wrap="square">
            <a:spAutoFit/>
          </a:bodyPr>
          <a:lstStyle/>
          <a:p>
            <a:pPr algn="ctr"/>
            <a:r>
              <a:rPr lang="zh-CN" altLang="en-US" sz="1600" b="1" dirty="0">
                <a:latin typeface="微软雅黑" pitchFamily="34" charset="-122"/>
                <a:ea typeface="微软雅黑" pitchFamily="34" charset="-122"/>
              </a:rPr>
              <a:t>用隧道技术实现虚拟专用网</a:t>
            </a:r>
          </a:p>
        </p:txBody>
      </p:sp>
      <p:grpSp>
        <p:nvGrpSpPr>
          <p:cNvPr id="241" name="组合 240"/>
          <p:cNvGrpSpPr/>
          <p:nvPr/>
        </p:nvGrpSpPr>
        <p:grpSpPr>
          <a:xfrm>
            <a:off x="1528958" y="2994292"/>
            <a:ext cx="6075400" cy="1173284"/>
            <a:chOff x="1528958" y="2876603"/>
            <a:chExt cx="6075400" cy="1173284"/>
          </a:xfrm>
        </p:grpSpPr>
        <p:sp>
          <p:nvSpPr>
            <p:cNvPr id="170" name="AutoShape 85"/>
            <p:cNvSpPr>
              <a:spLocks noChangeArrowheads="1"/>
            </p:cNvSpPr>
            <p:nvPr/>
          </p:nvSpPr>
          <p:spPr bwMode="auto">
            <a:xfrm>
              <a:off x="1528958" y="2876603"/>
              <a:ext cx="6075400" cy="1149280"/>
            </a:xfrm>
            <a:prstGeom prst="roundRect">
              <a:avLst>
                <a:gd name="adj" fmla="val 16667"/>
              </a:avLst>
            </a:prstGeom>
            <a:solidFill>
              <a:srgbClr val="CCFF99"/>
            </a:solidFill>
            <a:ln w="12700" cap="rnd">
              <a:solidFill>
                <a:schemeClr val="tx1"/>
              </a:solidFill>
              <a:prstDash val="sysDot"/>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71" name="Line 86"/>
            <p:cNvSpPr>
              <a:spLocks noChangeShapeType="1"/>
            </p:cNvSpPr>
            <p:nvPr/>
          </p:nvSpPr>
          <p:spPr bwMode="auto">
            <a:xfrm>
              <a:off x="3503175" y="3344828"/>
              <a:ext cx="1994391" cy="0"/>
            </a:xfrm>
            <a:prstGeom prst="line">
              <a:avLst/>
            </a:prstGeom>
            <a:noFill/>
            <a:ln w="28575">
              <a:solidFill>
                <a:srgbClr val="000066"/>
              </a:solidFill>
              <a:prstDash val="solid"/>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72" name="Line 87"/>
            <p:cNvSpPr>
              <a:spLocks noChangeShapeType="1"/>
            </p:cNvSpPr>
            <p:nvPr/>
          </p:nvSpPr>
          <p:spPr bwMode="auto">
            <a:xfrm flipV="1">
              <a:off x="2592441" y="3727922"/>
              <a:ext cx="230565" cy="17026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73" name="Line 88"/>
            <p:cNvSpPr>
              <a:spLocks noChangeShapeType="1"/>
            </p:cNvSpPr>
            <p:nvPr/>
          </p:nvSpPr>
          <p:spPr bwMode="auto">
            <a:xfrm>
              <a:off x="2407989" y="3131999"/>
              <a:ext cx="230565" cy="12769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74" name="Line 89"/>
            <p:cNvSpPr>
              <a:spLocks noChangeShapeType="1"/>
            </p:cNvSpPr>
            <p:nvPr/>
          </p:nvSpPr>
          <p:spPr bwMode="auto">
            <a:xfrm flipV="1">
              <a:off x="2223536" y="3478733"/>
              <a:ext cx="276679"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nvGrpSpPr>
            <p:cNvPr id="175" name="Group 90"/>
            <p:cNvGrpSpPr>
              <a:grpSpLocks/>
            </p:cNvGrpSpPr>
            <p:nvPr/>
          </p:nvGrpSpPr>
          <p:grpSpPr bwMode="auto">
            <a:xfrm>
              <a:off x="2439692" y="3070810"/>
              <a:ext cx="914576" cy="684602"/>
              <a:chOff x="385" y="2795"/>
              <a:chExt cx="1769" cy="816"/>
            </a:xfrm>
            <a:solidFill>
              <a:srgbClr val="3399FF"/>
            </a:solidFill>
          </p:grpSpPr>
          <p:sp>
            <p:nvSpPr>
              <p:cNvPr id="218" name="Oval 91"/>
              <p:cNvSpPr>
                <a:spLocks noChangeArrowheads="1"/>
              </p:cNvSpPr>
              <p:nvPr/>
            </p:nvSpPr>
            <p:spPr bwMode="auto">
              <a:xfrm>
                <a:off x="1589" y="3060"/>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19" name="Oval 92"/>
              <p:cNvSpPr>
                <a:spLocks noChangeArrowheads="1"/>
              </p:cNvSpPr>
              <p:nvPr/>
            </p:nvSpPr>
            <p:spPr bwMode="auto">
              <a:xfrm>
                <a:off x="928" y="3274"/>
                <a:ext cx="884" cy="33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20" name="Oval 93"/>
              <p:cNvSpPr>
                <a:spLocks noChangeArrowheads="1"/>
              </p:cNvSpPr>
              <p:nvPr/>
            </p:nvSpPr>
            <p:spPr bwMode="auto">
              <a:xfrm>
                <a:off x="502" y="3204"/>
                <a:ext cx="586" cy="28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21" name="Oval 94"/>
              <p:cNvSpPr>
                <a:spLocks noChangeArrowheads="1"/>
              </p:cNvSpPr>
              <p:nvPr/>
            </p:nvSpPr>
            <p:spPr bwMode="auto">
              <a:xfrm>
                <a:off x="385" y="3084"/>
                <a:ext cx="384"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22" name="Oval 95"/>
              <p:cNvSpPr>
                <a:spLocks noChangeArrowheads="1"/>
              </p:cNvSpPr>
              <p:nvPr/>
            </p:nvSpPr>
            <p:spPr bwMode="auto">
              <a:xfrm>
                <a:off x="566" y="2883"/>
                <a:ext cx="57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23" name="Oval 96"/>
              <p:cNvSpPr>
                <a:spLocks noChangeArrowheads="1"/>
              </p:cNvSpPr>
              <p:nvPr/>
            </p:nvSpPr>
            <p:spPr bwMode="auto">
              <a:xfrm>
                <a:off x="992" y="2795"/>
                <a:ext cx="757"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24" name="Oval 97"/>
              <p:cNvSpPr>
                <a:spLocks noChangeArrowheads="1"/>
              </p:cNvSpPr>
              <p:nvPr/>
            </p:nvSpPr>
            <p:spPr bwMode="auto">
              <a:xfrm>
                <a:off x="1504" y="2891"/>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25" name="Oval 98"/>
              <p:cNvSpPr>
                <a:spLocks noChangeArrowheads="1"/>
              </p:cNvSpPr>
              <p:nvPr/>
            </p:nvSpPr>
            <p:spPr bwMode="auto">
              <a:xfrm>
                <a:off x="704" y="2987"/>
                <a:ext cx="1141" cy="41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26" name="Oval 99"/>
              <p:cNvSpPr>
                <a:spLocks noChangeArrowheads="1"/>
              </p:cNvSpPr>
              <p:nvPr/>
            </p:nvSpPr>
            <p:spPr bwMode="auto">
              <a:xfrm rot="1336630">
                <a:off x="1474" y="3067"/>
                <a:ext cx="555"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27" name="Oval 100"/>
              <p:cNvSpPr>
                <a:spLocks noChangeArrowheads="1"/>
              </p:cNvSpPr>
              <p:nvPr/>
            </p:nvSpPr>
            <p:spPr bwMode="auto">
              <a:xfrm>
                <a:off x="1004" y="2811"/>
                <a:ext cx="75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28" name="Oval 101"/>
              <p:cNvSpPr>
                <a:spLocks noChangeArrowheads="1"/>
              </p:cNvSpPr>
              <p:nvPr/>
            </p:nvSpPr>
            <p:spPr bwMode="auto">
              <a:xfrm>
                <a:off x="577" y="2899"/>
                <a:ext cx="575" cy="320"/>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29" name="Oval 102"/>
              <p:cNvSpPr>
                <a:spLocks noChangeArrowheads="1"/>
              </p:cNvSpPr>
              <p:nvPr/>
            </p:nvSpPr>
            <p:spPr bwMode="auto">
              <a:xfrm>
                <a:off x="396" y="3100"/>
                <a:ext cx="383"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30" name="Oval 103"/>
              <p:cNvSpPr>
                <a:spLocks noChangeArrowheads="1"/>
              </p:cNvSpPr>
              <p:nvPr/>
            </p:nvSpPr>
            <p:spPr bwMode="auto">
              <a:xfrm>
                <a:off x="1515" y="2908"/>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31" name="Oval 104"/>
              <p:cNvSpPr>
                <a:spLocks noChangeArrowheads="1"/>
              </p:cNvSpPr>
              <p:nvPr/>
            </p:nvSpPr>
            <p:spPr bwMode="auto">
              <a:xfrm>
                <a:off x="1599" y="3075"/>
                <a:ext cx="555" cy="24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32" name="Oval 105"/>
              <p:cNvSpPr>
                <a:spLocks noChangeArrowheads="1"/>
              </p:cNvSpPr>
              <p:nvPr/>
            </p:nvSpPr>
            <p:spPr bwMode="auto">
              <a:xfrm>
                <a:off x="715" y="3003"/>
                <a:ext cx="1141"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33" name="Oval 106"/>
              <p:cNvSpPr>
                <a:spLocks noChangeArrowheads="1"/>
              </p:cNvSpPr>
              <p:nvPr/>
            </p:nvSpPr>
            <p:spPr bwMode="auto">
              <a:xfrm>
                <a:off x="513" y="3219"/>
                <a:ext cx="586" cy="282"/>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34" name="Freeform 107"/>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grpSp>
        <p:sp>
          <p:nvSpPr>
            <p:cNvPr id="176" name="Line 108"/>
            <p:cNvSpPr>
              <a:spLocks noChangeShapeType="1"/>
            </p:cNvSpPr>
            <p:nvPr/>
          </p:nvSpPr>
          <p:spPr bwMode="auto">
            <a:xfrm flipH="1">
              <a:off x="6419828" y="3089433"/>
              <a:ext cx="230565" cy="8513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77" name="Line 109"/>
            <p:cNvSpPr>
              <a:spLocks noChangeShapeType="1"/>
            </p:cNvSpPr>
            <p:nvPr/>
          </p:nvSpPr>
          <p:spPr bwMode="auto">
            <a:xfrm flipH="1" flipV="1">
              <a:off x="6281489" y="3642790"/>
              <a:ext cx="322792" cy="17026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78" name="Line 110"/>
            <p:cNvSpPr>
              <a:spLocks noChangeShapeType="1"/>
            </p:cNvSpPr>
            <p:nvPr/>
          </p:nvSpPr>
          <p:spPr bwMode="auto">
            <a:xfrm flipH="1" flipV="1">
              <a:off x="6419828" y="3429960"/>
              <a:ext cx="33432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nvGrpSpPr>
            <p:cNvPr id="179" name="Group 111"/>
            <p:cNvGrpSpPr>
              <a:grpSpLocks/>
            </p:cNvGrpSpPr>
            <p:nvPr/>
          </p:nvGrpSpPr>
          <p:grpSpPr bwMode="auto">
            <a:xfrm>
              <a:off x="5621495" y="3030904"/>
              <a:ext cx="914576" cy="684602"/>
              <a:chOff x="385" y="2795"/>
              <a:chExt cx="1769" cy="816"/>
            </a:xfrm>
            <a:solidFill>
              <a:srgbClr val="3399FF"/>
            </a:solidFill>
          </p:grpSpPr>
          <p:sp>
            <p:nvSpPr>
              <p:cNvPr id="201" name="Oval 112"/>
              <p:cNvSpPr>
                <a:spLocks noChangeArrowheads="1"/>
              </p:cNvSpPr>
              <p:nvPr/>
            </p:nvSpPr>
            <p:spPr bwMode="auto">
              <a:xfrm>
                <a:off x="1589" y="3060"/>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02" name="Oval 113"/>
              <p:cNvSpPr>
                <a:spLocks noChangeArrowheads="1"/>
              </p:cNvSpPr>
              <p:nvPr/>
            </p:nvSpPr>
            <p:spPr bwMode="auto">
              <a:xfrm>
                <a:off x="928" y="3274"/>
                <a:ext cx="884" cy="33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03" name="Oval 114"/>
              <p:cNvSpPr>
                <a:spLocks noChangeArrowheads="1"/>
              </p:cNvSpPr>
              <p:nvPr/>
            </p:nvSpPr>
            <p:spPr bwMode="auto">
              <a:xfrm>
                <a:off x="502" y="3204"/>
                <a:ext cx="586" cy="28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04" name="Oval 115"/>
              <p:cNvSpPr>
                <a:spLocks noChangeArrowheads="1"/>
              </p:cNvSpPr>
              <p:nvPr/>
            </p:nvSpPr>
            <p:spPr bwMode="auto">
              <a:xfrm>
                <a:off x="385" y="3084"/>
                <a:ext cx="384"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05" name="Oval 116"/>
              <p:cNvSpPr>
                <a:spLocks noChangeArrowheads="1"/>
              </p:cNvSpPr>
              <p:nvPr/>
            </p:nvSpPr>
            <p:spPr bwMode="auto">
              <a:xfrm>
                <a:off x="566" y="2883"/>
                <a:ext cx="57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06" name="Oval 117"/>
              <p:cNvSpPr>
                <a:spLocks noChangeArrowheads="1"/>
              </p:cNvSpPr>
              <p:nvPr/>
            </p:nvSpPr>
            <p:spPr bwMode="auto">
              <a:xfrm>
                <a:off x="992" y="2795"/>
                <a:ext cx="757"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07" name="Oval 118"/>
              <p:cNvSpPr>
                <a:spLocks noChangeArrowheads="1"/>
              </p:cNvSpPr>
              <p:nvPr/>
            </p:nvSpPr>
            <p:spPr bwMode="auto">
              <a:xfrm>
                <a:off x="1504" y="2891"/>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08" name="Oval 119"/>
              <p:cNvSpPr>
                <a:spLocks noChangeArrowheads="1"/>
              </p:cNvSpPr>
              <p:nvPr/>
            </p:nvSpPr>
            <p:spPr bwMode="auto">
              <a:xfrm>
                <a:off x="704" y="2987"/>
                <a:ext cx="1141" cy="41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09" name="Oval 120"/>
              <p:cNvSpPr>
                <a:spLocks noChangeArrowheads="1"/>
              </p:cNvSpPr>
              <p:nvPr/>
            </p:nvSpPr>
            <p:spPr bwMode="auto">
              <a:xfrm rot="1336630">
                <a:off x="1474" y="3067"/>
                <a:ext cx="555"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10" name="Oval 121"/>
              <p:cNvSpPr>
                <a:spLocks noChangeArrowheads="1"/>
              </p:cNvSpPr>
              <p:nvPr/>
            </p:nvSpPr>
            <p:spPr bwMode="auto">
              <a:xfrm>
                <a:off x="1004" y="2811"/>
                <a:ext cx="75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11" name="Oval 122"/>
              <p:cNvSpPr>
                <a:spLocks noChangeArrowheads="1"/>
              </p:cNvSpPr>
              <p:nvPr/>
            </p:nvSpPr>
            <p:spPr bwMode="auto">
              <a:xfrm>
                <a:off x="577" y="2899"/>
                <a:ext cx="575" cy="320"/>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12" name="Oval 123"/>
              <p:cNvSpPr>
                <a:spLocks noChangeArrowheads="1"/>
              </p:cNvSpPr>
              <p:nvPr/>
            </p:nvSpPr>
            <p:spPr bwMode="auto">
              <a:xfrm>
                <a:off x="396" y="3100"/>
                <a:ext cx="383"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13" name="Oval 124"/>
              <p:cNvSpPr>
                <a:spLocks noChangeArrowheads="1"/>
              </p:cNvSpPr>
              <p:nvPr/>
            </p:nvSpPr>
            <p:spPr bwMode="auto">
              <a:xfrm>
                <a:off x="1515" y="2908"/>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14" name="Oval 125"/>
              <p:cNvSpPr>
                <a:spLocks noChangeArrowheads="1"/>
              </p:cNvSpPr>
              <p:nvPr/>
            </p:nvSpPr>
            <p:spPr bwMode="auto">
              <a:xfrm>
                <a:off x="1599" y="3075"/>
                <a:ext cx="555" cy="24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15" name="Oval 126"/>
              <p:cNvSpPr>
                <a:spLocks noChangeArrowheads="1"/>
              </p:cNvSpPr>
              <p:nvPr/>
            </p:nvSpPr>
            <p:spPr bwMode="auto">
              <a:xfrm>
                <a:off x="715" y="3003"/>
                <a:ext cx="1141"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16" name="Oval 127"/>
              <p:cNvSpPr>
                <a:spLocks noChangeArrowheads="1"/>
              </p:cNvSpPr>
              <p:nvPr/>
            </p:nvSpPr>
            <p:spPr bwMode="auto">
              <a:xfrm>
                <a:off x="513" y="3219"/>
                <a:ext cx="586" cy="282"/>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17" name="Freeform 128"/>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grpSp>
        <p:pic>
          <p:nvPicPr>
            <p:cNvPr id="180" name="Picture 129"/>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409183" y="3274772"/>
              <a:ext cx="315106" cy="140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81" name="Picture 130"/>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219771" y="3275659"/>
              <a:ext cx="315106" cy="140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83" name="Text Box 132"/>
            <p:cNvSpPr txBox="1">
              <a:spLocks noChangeArrowheads="1"/>
            </p:cNvSpPr>
            <p:nvPr/>
          </p:nvSpPr>
          <p:spPr bwMode="auto">
            <a:xfrm>
              <a:off x="2587349" y="3194519"/>
              <a:ext cx="654230" cy="4620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chemeClr val="bg1"/>
                  </a:solidFill>
                  <a:latin typeface="微软雅黑" pitchFamily="34" charset="-122"/>
                  <a:ea typeface="微软雅黑" pitchFamily="34" charset="-122"/>
                </a:rPr>
                <a:t>部门 </a:t>
              </a:r>
              <a:r>
                <a:rPr kumimoji="1" lang="en-US" altLang="zh-CN" sz="1200" b="1" dirty="0">
                  <a:solidFill>
                    <a:schemeClr val="bg1"/>
                  </a:solidFill>
                  <a:latin typeface="微软雅黑" pitchFamily="34" charset="-122"/>
                  <a:ea typeface="微软雅黑" pitchFamily="34" charset="-122"/>
                </a:rPr>
                <a:t>A</a:t>
              </a:r>
            </a:p>
            <a:p>
              <a:r>
                <a:rPr kumimoji="1" lang="zh-CN" altLang="en-US" sz="1200" b="1" dirty="0">
                  <a:solidFill>
                    <a:schemeClr val="bg1"/>
                  </a:solidFill>
                  <a:latin typeface="微软雅黑" pitchFamily="34" charset="-122"/>
                  <a:ea typeface="微软雅黑" pitchFamily="34" charset="-122"/>
                </a:rPr>
                <a:t>网络</a:t>
              </a:r>
              <a:endParaRPr kumimoji="1" lang="en-US" altLang="zh-CN" sz="1200" b="1" dirty="0">
                <a:solidFill>
                  <a:schemeClr val="bg1"/>
                </a:solidFill>
                <a:latin typeface="微软雅黑" pitchFamily="34" charset="-122"/>
                <a:ea typeface="微软雅黑" pitchFamily="34" charset="-122"/>
              </a:endParaRPr>
            </a:p>
          </p:txBody>
        </p:sp>
        <p:sp>
          <p:nvSpPr>
            <p:cNvPr id="185" name="Text Box 134"/>
            <p:cNvSpPr txBox="1">
              <a:spLocks noChangeArrowheads="1"/>
            </p:cNvSpPr>
            <p:nvPr/>
          </p:nvSpPr>
          <p:spPr bwMode="auto">
            <a:xfrm>
              <a:off x="5767231" y="3153727"/>
              <a:ext cx="644623" cy="4620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chemeClr val="bg1"/>
                  </a:solidFill>
                  <a:latin typeface="微软雅黑" pitchFamily="34" charset="-122"/>
                  <a:ea typeface="微软雅黑" pitchFamily="34" charset="-122"/>
                </a:rPr>
                <a:t>部门 </a:t>
              </a:r>
              <a:r>
                <a:rPr kumimoji="1" lang="en-US" altLang="zh-CN" sz="1200" b="1" dirty="0">
                  <a:solidFill>
                    <a:schemeClr val="bg1"/>
                  </a:solidFill>
                  <a:latin typeface="微软雅黑" pitchFamily="34" charset="-122"/>
                  <a:ea typeface="微软雅黑" pitchFamily="34" charset="-122"/>
                </a:rPr>
                <a:t>B</a:t>
              </a:r>
            </a:p>
            <a:p>
              <a:r>
                <a:rPr kumimoji="1" lang="zh-CN" altLang="en-US" sz="1200" b="1" dirty="0">
                  <a:solidFill>
                    <a:schemeClr val="bg1"/>
                  </a:solidFill>
                  <a:latin typeface="微软雅黑" pitchFamily="34" charset="-122"/>
                  <a:ea typeface="微软雅黑" pitchFamily="34" charset="-122"/>
                </a:rPr>
                <a:t>网络</a:t>
              </a:r>
              <a:endParaRPr kumimoji="1" lang="en-US" altLang="zh-CN" sz="1200" b="1" dirty="0">
                <a:solidFill>
                  <a:schemeClr val="bg1"/>
                </a:solidFill>
                <a:latin typeface="微软雅黑" pitchFamily="34" charset="-122"/>
                <a:ea typeface="微软雅黑" pitchFamily="34" charset="-122"/>
              </a:endParaRPr>
            </a:p>
          </p:txBody>
        </p:sp>
        <p:sp>
          <p:nvSpPr>
            <p:cNvPr id="186" name="Text Box 135"/>
            <p:cNvSpPr txBox="1">
              <a:spLocks noChangeArrowheads="1"/>
            </p:cNvSpPr>
            <p:nvPr/>
          </p:nvSpPr>
          <p:spPr bwMode="auto">
            <a:xfrm>
              <a:off x="2046852" y="3146187"/>
              <a:ext cx="292050" cy="2766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X</a:t>
              </a:r>
            </a:p>
          </p:txBody>
        </p:sp>
        <p:sp>
          <p:nvSpPr>
            <p:cNvPr id="187" name="Text Box 136"/>
            <p:cNvSpPr txBox="1">
              <a:spLocks noChangeArrowheads="1"/>
            </p:cNvSpPr>
            <p:nvPr/>
          </p:nvSpPr>
          <p:spPr bwMode="auto">
            <a:xfrm>
              <a:off x="6973735" y="3154826"/>
              <a:ext cx="284364" cy="2766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Y</a:t>
              </a:r>
            </a:p>
          </p:txBody>
        </p:sp>
        <p:sp>
          <p:nvSpPr>
            <p:cNvPr id="188" name="Text Box 137"/>
            <p:cNvSpPr txBox="1">
              <a:spLocks noChangeArrowheads="1"/>
            </p:cNvSpPr>
            <p:nvPr/>
          </p:nvSpPr>
          <p:spPr bwMode="auto">
            <a:xfrm>
              <a:off x="3223614" y="3107168"/>
              <a:ext cx="354494" cy="2589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200" b="1">
                  <a:latin typeface="微软雅黑" pitchFamily="34" charset="-122"/>
                  <a:ea typeface="微软雅黑" pitchFamily="34" charset="-122"/>
                </a:rPr>
                <a:t>R</a:t>
              </a:r>
              <a:r>
                <a:rPr kumimoji="1" lang="en-US" altLang="zh-CN" sz="1200" b="1" baseline="-25000">
                  <a:latin typeface="微软雅黑" pitchFamily="34" charset="-122"/>
                  <a:ea typeface="微软雅黑" pitchFamily="34" charset="-122"/>
                </a:rPr>
                <a:t>1</a:t>
              </a:r>
              <a:endParaRPr kumimoji="1" lang="en-US" altLang="zh-CN" sz="1200" b="1">
                <a:latin typeface="微软雅黑" pitchFamily="34" charset="-122"/>
                <a:ea typeface="微软雅黑" pitchFamily="34" charset="-122"/>
              </a:endParaRPr>
            </a:p>
          </p:txBody>
        </p:sp>
        <p:sp>
          <p:nvSpPr>
            <p:cNvPr id="189" name="Text Box 138"/>
            <p:cNvSpPr txBox="1">
              <a:spLocks noChangeArrowheads="1"/>
            </p:cNvSpPr>
            <p:nvPr/>
          </p:nvSpPr>
          <p:spPr bwMode="auto">
            <a:xfrm>
              <a:off x="5425514" y="3064603"/>
              <a:ext cx="354494" cy="2589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200" b="1">
                  <a:latin typeface="微软雅黑" pitchFamily="34" charset="-122"/>
                  <a:ea typeface="微软雅黑" pitchFamily="34" charset="-122"/>
                </a:rPr>
                <a:t>R</a:t>
              </a:r>
              <a:r>
                <a:rPr kumimoji="1" lang="en-US" altLang="zh-CN" sz="1200" b="1" baseline="-25000">
                  <a:latin typeface="微软雅黑" pitchFamily="34" charset="-122"/>
                  <a:ea typeface="微软雅黑" pitchFamily="34" charset="-122"/>
                </a:rPr>
                <a:t>2</a:t>
              </a:r>
              <a:endParaRPr kumimoji="1" lang="en-US" altLang="zh-CN" sz="1200" b="1">
                <a:latin typeface="微软雅黑" pitchFamily="34" charset="-122"/>
                <a:ea typeface="微软雅黑" pitchFamily="34" charset="-122"/>
              </a:endParaRPr>
            </a:p>
          </p:txBody>
        </p:sp>
        <p:sp>
          <p:nvSpPr>
            <p:cNvPr id="190" name="Text Box 139"/>
            <p:cNvSpPr txBox="1">
              <a:spLocks noChangeArrowheads="1"/>
            </p:cNvSpPr>
            <p:nvPr/>
          </p:nvSpPr>
          <p:spPr bwMode="auto">
            <a:xfrm>
              <a:off x="3071825" y="2890792"/>
              <a:ext cx="881913" cy="2766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200" b="1" dirty="0">
                  <a:latin typeface="微软雅黑" pitchFamily="34" charset="-122"/>
                  <a:ea typeface="微软雅黑" pitchFamily="34" charset="-122"/>
                </a:rPr>
                <a:t>125.1.2.3</a:t>
              </a:r>
            </a:p>
          </p:txBody>
        </p:sp>
        <p:sp>
          <p:nvSpPr>
            <p:cNvPr id="191" name="Line 140"/>
            <p:cNvSpPr>
              <a:spLocks noChangeShapeType="1"/>
            </p:cNvSpPr>
            <p:nvPr/>
          </p:nvSpPr>
          <p:spPr bwMode="auto">
            <a:xfrm>
              <a:off x="3549288" y="3089433"/>
              <a:ext cx="46113" cy="255396"/>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92" name="Text Box 141"/>
            <p:cNvSpPr txBox="1">
              <a:spLocks noChangeArrowheads="1"/>
            </p:cNvSpPr>
            <p:nvPr/>
          </p:nvSpPr>
          <p:spPr bwMode="auto">
            <a:xfrm>
              <a:off x="4778010" y="2894339"/>
              <a:ext cx="881913" cy="2589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200" b="1">
                  <a:latin typeface="微软雅黑" pitchFamily="34" charset="-122"/>
                  <a:ea typeface="微软雅黑" pitchFamily="34" charset="-122"/>
                </a:rPr>
                <a:t>194.4.5.6</a:t>
              </a:r>
            </a:p>
          </p:txBody>
        </p:sp>
        <p:sp>
          <p:nvSpPr>
            <p:cNvPr id="193" name="Line 142"/>
            <p:cNvSpPr>
              <a:spLocks noChangeShapeType="1"/>
            </p:cNvSpPr>
            <p:nvPr/>
          </p:nvSpPr>
          <p:spPr bwMode="auto">
            <a:xfrm>
              <a:off x="5255472" y="3089433"/>
              <a:ext cx="46113" cy="255396"/>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94" name="Text Box 143"/>
            <p:cNvSpPr txBox="1">
              <a:spLocks noChangeArrowheads="1"/>
            </p:cNvSpPr>
            <p:nvPr/>
          </p:nvSpPr>
          <p:spPr bwMode="auto">
            <a:xfrm>
              <a:off x="1779259" y="3601323"/>
              <a:ext cx="787765" cy="2766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200" b="1" dirty="0">
                  <a:latin typeface="微软雅黑" pitchFamily="34" charset="-122"/>
                  <a:ea typeface="微软雅黑" pitchFamily="34" charset="-122"/>
                </a:rPr>
                <a:t>10.1.0.1</a:t>
              </a:r>
            </a:p>
          </p:txBody>
        </p:sp>
        <p:sp>
          <p:nvSpPr>
            <p:cNvPr id="195" name="Text Box 144"/>
            <p:cNvSpPr txBox="1">
              <a:spLocks noChangeArrowheads="1"/>
            </p:cNvSpPr>
            <p:nvPr/>
          </p:nvSpPr>
          <p:spPr bwMode="auto">
            <a:xfrm>
              <a:off x="6419828" y="3502669"/>
              <a:ext cx="787765" cy="2766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200" b="1" dirty="0">
                  <a:latin typeface="微软雅黑" pitchFamily="34" charset="-122"/>
                  <a:ea typeface="微软雅黑" pitchFamily="34" charset="-122"/>
                </a:rPr>
                <a:t>10.2.0.3</a:t>
              </a:r>
            </a:p>
          </p:txBody>
        </p:sp>
        <p:sp>
          <p:nvSpPr>
            <p:cNvPr id="200" name="Text Box 149"/>
            <p:cNvSpPr txBox="1">
              <a:spLocks noChangeArrowheads="1"/>
            </p:cNvSpPr>
            <p:nvPr/>
          </p:nvSpPr>
          <p:spPr bwMode="auto">
            <a:xfrm>
              <a:off x="3755750" y="3742110"/>
              <a:ext cx="153439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zh-CN" altLang="en-US" sz="1400" b="1" dirty="0">
                  <a:solidFill>
                    <a:srgbClr val="0000FF"/>
                  </a:solidFill>
                  <a:latin typeface="微软雅黑" pitchFamily="34" charset="-122"/>
                  <a:ea typeface="微软雅黑" pitchFamily="34" charset="-122"/>
                </a:rPr>
                <a:t>虚拟专用网 </a:t>
              </a:r>
              <a:r>
                <a:rPr kumimoji="1" lang="en-US" altLang="zh-CN" sz="1400" b="1" dirty="0">
                  <a:solidFill>
                    <a:srgbClr val="0000FF"/>
                  </a:solidFill>
                  <a:latin typeface="微软雅黑" pitchFamily="34" charset="-122"/>
                  <a:ea typeface="微软雅黑" pitchFamily="34" charset="-122"/>
                </a:rPr>
                <a:t>VPN</a:t>
              </a:r>
            </a:p>
          </p:txBody>
        </p:sp>
        <p:pic>
          <p:nvPicPr>
            <p:cNvPr id="235"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221833" y="2945043"/>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236"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035808" y="3363838"/>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237"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57682" y="2945043"/>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238"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739415" y="3268743"/>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239"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467856" y="3700791"/>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240"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428296" y="3700791"/>
              <a:ext cx="278382" cy="278382"/>
            </a:xfrm>
            <a:prstGeom prst="rect">
              <a:avLst/>
            </a:prstGeom>
            <a:noFill/>
            <a:extLst>
              <a:ext uri="{909E8E84-426E-40DD-AFC4-6F175D3DCCD1}">
                <a14:hiddenFill xmlns:a14="http://schemas.microsoft.com/office/drawing/2010/main">
                  <a:solidFill>
                    <a:srgbClr val="FFFFFF"/>
                  </a:solidFill>
                </a14:hiddenFill>
              </a:ext>
            </a:extLst>
          </p:spPr>
        </p:pic>
      </p:grpSp>
      <p:sp>
        <p:nvSpPr>
          <p:cNvPr id="155" name="AutoShape 52"/>
          <p:cNvSpPr>
            <a:spLocks noChangeArrowheads="1"/>
          </p:cNvSpPr>
          <p:nvPr/>
        </p:nvSpPr>
        <p:spPr bwMode="auto">
          <a:xfrm rot="16200000">
            <a:off x="4380504" y="2698501"/>
            <a:ext cx="196592" cy="1518533"/>
          </a:xfrm>
          <a:prstGeom prst="can">
            <a:avLst>
              <a:gd name="adj" fmla="val 25521"/>
            </a:avLst>
          </a:prstGeom>
          <a:gradFill rotWithShape="1">
            <a:gsLst>
              <a:gs pos="0">
                <a:srgbClr val="33CCFF">
                  <a:gamma/>
                  <a:shade val="46275"/>
                  <a:invGamma/>
                </a:srgbClr>
              </a:gs>
              <a:gs pos="50000">
                <a:srgbClr val="33CCFF"/>
              </a:gs>
              <a:gs pos="100000">
                <a:srgbClr val="33CCFF">
                  <a:gamma/>
                  <a:shade val="46275"/>
                  <a:invGamma/>
                </a:srgbClr>
              </a:gs>
            </a:gsLst>
            <a:lin ang="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56" name="Line 58"/>
          <p:cNvSpPr>
            <a:spLocks noChangeShapeType="1"/>
          </p:cNvSpPr>
          <p:nvPr/>
        </p:nvSpPr>
        <p:spPr bwMode="auto">
          <a:xfrm>
            <a:off x="3512781" y="3462180"/>
            <a:ext cx="233911" cy="0"/>
          </a:xfrm>
          <a:prstGeom prst="line">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57" name="Line 59"/>
          <p:cNvSpPr>
            <a:spLocks noChangeShapeType="1"/>
          </p:cNvSpPr>
          <p:nvPr/>
        </p:nvSpPr>
        <p:spPr bwMode="auto">
          <a:xfrm>
            <a:off x="5238066" y="3462180"/>
            <a:ext cx="205501" cy="0"/>
          </a:xfrm>
          <a:prstGeom prst="line">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Tree>
    <p:extLst>
      <p:ext uri="{BB962C8B-B14F-4D97-AF65-F5344CB8AC3E}">
        <p14:creationId xmlns:p14="http://schemas.microsoft.com/office/powerpoint/2010/main" val="322737188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afterEffect">
                                  <p:stCondLst>
                                    <p:cond delay="500"/>
                                  </p:stCondLst>
                                  <p:childTnLst>
                                    <p:anim calcmode="discrete" valueType="str">
                                      <p:cBhvr>
                                        <p:cTn id="6" dur="1000" fill="hold"/>
                                        <p:tgtEl>
                                          <p:spTgt spid="91"/>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nodeType="withEffect">
                                  <p:stCondLst>
                                    <p:cond delay="500"/>
                                  </p:stCondLst>
                                  <p:childTnLst>
                                    <p:anim calcmode="discrete" valueType="str">
                                      <p:cBhvr>
                                        <p:cTn id="8" dur="1000" fill="hold"/>
                                        <p:tgtEl>
                                          <p:spTgt spid="81"/>
                                        </p:tgtEl>
                                        <p:attrNameLst>
                                          <p:attrName>style.visibility</p:attrName>
                                        </p:attrNameLst>
                                      </p:cBhvr>
                                      <p:tavLst>
                                        <p:tav tm="0">
                                          <p:val>
                                            <p:strVal val="hidden"/>
                                          </p:val>
                                        </p:tav>
                                        <p:tav tm="50000">
                                          <p:val>
                                            <p:strVal val="visible"/>
                                          </p:val>
                                        </p:tav>
                                      </p:tavLst>
                                    </p:anim>
                                  </p:childTnLst>
                                </p:cTn>
                              </p:par>
                            </p:childTnLst>
                          </p:cTn>
                        </p:par>
                        <p:par>
                          <p:cTn id="9" fill="hold">
                            <p:stCondLst>
                              <p:cond delay="3500"/>
                            </p:stCondLst>
                            <p:childTnLst>
                              <p:par>
                                <p:cTn id="10" presetID="35" presetClass="emph" presetSubtype="0" repeatCount="3000" fill="hold" nodeType="afterEffect">
                                  <p:stCondLst>
                                    <p:cond delay="250"/>
                                  </p:stCondLst>
                                  <p:childTnLst>
                                    <p:anim calcmode="discrete" valueType="str">
                                      <p:cBhvr>
                                        <p:cTn id="11" dur="1000" fill="hold"/>
                                        <p:tgtEl>
                                          <p:spTgt spid="14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5" y="980950"/>
            <a:ext cx="8053710" cy="20159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内联网 </a:t>
            </a:r>
            <a:r>
              <a:rPr lang="en-US" altLang="zh-CN" sz="2000" b="1" dirty="0">
                <a:latin typeface="微软雅黑" pitchFamily="34" charset="-122"/>
                <a:ea typeface="微软雅黑" pitchFamily="34" charset="-122"/>
              </a:rPr>
              <a:t>(intranet)</a:t>
            </a:r>
            <a:r>
              <a:rPr lang="zh-CN" altLang="en-US" sz="2000" b="1" dirty="0">
                <a:latin typeface="微软雅黑" pitchFamily="34" charset="-122"/>
                <a:ea typeface="微软雅黑" pitchFamily="34" charset="-122"/>
              </a:rPr>
              <a:t>：</a:t>
            </a:r>
            <a:r>
              <a:rPr lang="zh-CN" altLang="en-US" sz="2000" b="1" dirty="0">
                <a:solidFill>
                  <a:srgbClr val="0000FF"/>
                </a:solidFill>
                <a:latin typeface="微软雅黑" pitchFamily="34" charset="-122"/>
                <a:ea typeface="微软雅黑" pitchFamily="34" charset="-122"/>
              </a:rPr>
              <a:t>同一个机构的</a:t>
            </a:r>
            <a:r>
              <a:rPr lang="zh-CN" altLang="en-US" sz="2000" b="1" dirty="0">
                <a:latin typeface="微软雅黑" pitchFamily="34" charset="-122"/>
                <a:ea typeface="微软雅黑" pitchFamily="34" charset="-122"/>
              </a:rPr>
              <a:t>内部网络所构成的 </a:t>
            </a:r>
            <a:r>
              <a:rPr lang="en-US" altLang="zh-CN" sz="2000" b="1" dirty="0">
                <a:latin typeface="微软雅黑" pitchFamily="34" charset="-122"/>
                <a:ea typeface="微软雅黑" pitchFamily="34" charset="-122"/>
              </a:rPr>
              <a:t>VPN</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外联网 </a:t>
            </a:r>
            <a:r>
              <a:rPr lang="en-US" altLang="zh-CN" sz="2000" b="1" dirty="0">
                <a:latin typeface="微软雅黑" pitchFamily="34" charset="-122"/>
                <a:ea typeface="微软雅黑" pitchFamily="34" charset="-122"/>
              </a:rPr>
              <a:t>(extranet)</a:t>
            </a:r>
            <a:r>
              <a:rPr lang="zh-CN" altLang="en-US" sz="2000" b="1" dirty="0">
                <a:latin typeface="微软雅黑" pitchFamily="34" charset="-122"/>
                <a:ea typeface="微软雅黑" pitchFamily="34" charset="-122"/>
              </a:rPr>
              <a:t>：一个机构和某些</a:t>
            </a:r>
            <a:r>
              <a:rPr lang="zh-CN" altLang="en-US" sz="2000" b="1" dirty="0">
                <a:solidFill>
                  <a:srgbClr val="0000FF"/>
                </a:solidFill>
                <a:latin typeface="微软雅黑" pitchFamily="34" charset="-122"/>
                <a:ea typeface="微软雅黑" pitchFamily="34" charset="-122"/>
              </a:rPr>
              <a:t>外部机构</a:t>
            </a:r>
            <a:r>
              <a:rPr lang="zh-CN" altLang="en-US" sz="2000" b="1" dirty="0">
                <a:latin typeface="微软雅黑" pitchFamily="34" charset="-122"/>
                <a:ea typeface="微软雅黑" pitchFamily="34" charset="-122"/>
              </a:rPr>
              <a:t>共同建立的 。</a:t>
            </a:r>
            <a:endParaRPr lang="en-US" altLang="zh-CN" sz="2000" b="1" dirty="0">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远程接入 </a:t>
            </a:r>
            <a:r>
              <a:rPr lang="en-US" altLang="zh-CN" sz="2000" b="1" dirty="0">
                <a:solidFill>
                  <a:srgbClr val="C00000"/>
                </a:solidFill>
                <a:latin typeface="微软雅黑" pitchFamily="34" charset="-122"/>
                <a:ea typeface="微软雅黑" pitchFamily="34" charset="-122"/>
              </a:rPr>
              <a:t>VPN </a:t>
            </a:r>
            <a:r>
              <a:rPr lang="en-US" altLang="zh-CN" sz="2000" b="1" dirty="0">
                <a:latin typeface="微软雅黑" pitchFamily="34" charset="-122"/>
                <a:ea typeface="微软雅黑" pitchFamily="34" charset="-122"/>
              </a:rPr>
              <a:t>(remote access VPN)</a:t>
            </a:r>
            <a:r>
              <a:rPr lang="zh-CN" altLang="en-US" sz="2000" b="1" dirty="0">
                <a:latin typeface="微软雅黑" pitchFamily="34" charset="-122"/>
                <a:ea typeface="微软雅黑" pitchFamily="34" charset="-122"/>
              </a:rPr>
              <a:t>：允许外部流动员工通过接入 </a:t>
            </a:r>
            <a:r>
              <a:rPr lang="en-US" altLang="zh-CN" sz="2000" b="1" dirty="0">
                <a:latin typeface="微软雅黑" pitchFamily="34" charset="-122"/>
                <a:ea typeface="微软雅黑" pitchFamily="34" charset="-122"/>
              </a:rPr>
              <a:t>VPN </a:t>
            </a:r>
            <a:r>
              <a:rPr lang="zh-CN" altLang="en-US" sz="2000" b="1" dirty="0">
                <a:latin typeface="微软雅黑" pitchFamily="34" charset="-122"/>
                <a:ea typeface="微软雅黑" pitchFamily="34" charset="-122"/>
              </a:rPr>
              <a:t>建立 </a:t>
            </a:r>
            <a:r>
              <a:rPr lang="en-US" altLang="zh-CN" sz="2000" b="1" dirty="0">
                <a:latin typeface="微软雅黑" pitchFamily="34" charset="-122"/>
                <a:ea typeface="微软雅黑" pitchFamily="34" charset="-122"/>
              </a:rPr>
              <a:t>VPN </a:t>
            </a:r>
            <a:r>
              <a:rPr lang="zh-CN" altLang="en-US" sz="2000" b="1" dirty="0">
                <a:latin typeface="微软雅黑" pitchFamily="34" charset="-122"/>
                <a:ea typeface="微软雅黑" pitchFamily="34" charset="-122"/>
              </a:rPr>
              <a:t>隧道访问公司内部网络，好像就是使用公司内部的本地网络访问一样。</a:t>
            </a:r>
          </a:p>
        </p:txBody>
      </p:sp>
      <p:sp>
        <p:nvSpPr>
          <p:cNvPr id="3" name="AutoShape 5"/>
          <p:cNvSpPr>
            <a:spLocks noChangeArrowheads="1"/>
          </p:cNvSpPr>
          <p:nvPr/>
        </p:nvSpPr>
        <p:spPr bwMode="auto">
          <a:xfrm>
            <a:off x="545145" y="612031"/>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788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VPN </a:t>
            </a:r>
            <a:r>
              <a:rPr lang="zh-CN" altLang="en-US" sz="2000" b="1" dirty="0">
                <a:solidFill>
                  <a:schemeClr val="bg1"/>
                </a:solidFill>
                <a:latin typeface="微软雅黑" pitchFamily="34" charset="-122"/>
                <a:ea typeface="微软雅黑" pitchFamily="34" charset="-122"/>
              </a:rPr>
              <a:t>类型</a:t>
            </a:r>
          </a:p>
        </p:txBody>
      </p:sp>
    </p:spTree>
    <p:extLst>
      <p:ext uri="{BB962C8B-B14F-4D97-AF65-F5344CB8AC3E}">
        <p14:creationId xmlns:p14="http://schemas.microsoft.com/office/powerpoint/2010/main" val="281581231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5" y="618122"/>
            <a:ext cx="8053710"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671096" y="577259"/>
            <a:ext cx="380181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4.8.2   </a:t>
            </a:r>
            <a:r>
              <a:rPr lang="zh-CN" altLang="en-US" sz="2400" b="1" dirty="0">
                <a:solidFill>
                  <a:schemeClr val="bg1"/>
                </a:solidFill>
                <a:latin typeface="微软雅黑" pitchFamily="34" charset="-122"/>
                <a:ea typeface="微软雅黑" pitchFamily="34" charset="-122"/>
              </a:rPr>
              <a:t>网络地址转换 </a:t>
            </a:r>
            <a:r>
              <a:rPr lang="en-US" altLang="zh-CN" sz="2400" b="1" dirty="0">
                <a:solidFill>
                  <a:schemeClr val="bg1"/>
                </a:solidFill>
                <a:latin typeface="微软雅黑" pitchFamily="34" charset="-122"/>
                <a:ea typeface="微软雅黑" pitchFamily="34" charset="-122"/>
              </a:rPr>
              <a:t>NAT</a:t>
            </a:r>
            <a:endParaRPr lang="zh-CN" altLang="en-US" sz="2400" b="1" dirty="0">
              <a:solidFill>
                <a:schemeClr val="bg1"/>
              </a:solidFill>
              <a:latin typeface="微软雅黑" pitchFamily="34" charset="-122"/>
              <a:ea typeface="微软雅黑" pitchFamily="34" charset="-122"/>
            </a:endParaRPr>
          </a:p>
        </p:txBody>
      </p:sp>
      <p:sp>
        <p:nvSpPr>
          <p:cNvPr id="4" name="Rectangle 8"/>
          <p:cNvSpPr>
            <a:spLocks noChangeArrowheads="1"/>
          </p:cNvSpPr>
          <p:nvPr/>
        </p:nvSpPr>
        <p:spPr bwMode="auto">
          <a:xfrm>
            <a:off x="545145" y="1000973"/>
            <a:ext cx="8053710" cy="2208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问题：</a:t>
            </a:r>
            <a:r>
              <a:rPr lang="zh-CN" altLang="en-US" sz="2000" b="1" dirty="0">
                <a:latin typeface="微软雅黑" pitchFamily="34" charset="-122"/>
                <a:ea typeface="微软雅黑" pitchFamily="34" charset="-122"/>
              </a:rPr>
              <a:t>在专用网上使用专用地址的主机如何与互联网上的主机通信（并不需要加密）？</a:t>
            </a:r>
          </a:p>
          <a:p>
            <a:pPr marL="285750" indent="-28575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解决</a:t>
            </a:r>
            <a:r>
              <a:rPr lang="zh-CN" altLang="en-US" sz="2000" b="1" dirty="0">
                <a:latin typeface="微软雅黑" pitchFamily="34" charset="-122"/>
                <a:ea typeface="微软雅黑" pitchFamily="34" charset="-122"/>
              </a:rPr>
              <a:t>：</a:t>
            </a:r>
          </a:p>
          <a:p>
            <a:pPr marL="623888" indent="-342900">
              <a:lnSpc>
                <a:spcPts val="3300"/>
              </a:lnSpc>
              <a:buClr>
                <a:srgbClr val="7030A0"/>
              </a:buClr>
              <a:buFont typeface="+mj-lt"/>
              <a:buAutoNum type="arabicPeriod"/>
            </a:pPr>
            <a:r>
              <a:rPr lang="zh-CN" altLang="en-US" sz="2000" b="1" dirty="0">
                <a:latin typeface="微软雅黑" pitchFamily="34" charset="-122"/>
                <a:ea typeface="微软雅黑" pitchFamily="34" charset="-122"/>
              </a:rPr>
              <a:t>再申请一些全球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地址。但这在很多情况下是不容易做到的。</a:t>
            </a:r>
          </a:p>
          <a:p>
            <a:pPr marL="623888" indent="-342900">
              <a:lnSpc>
                <a:spcPts val="3300"/>
              </a:lnSpc>
              <a:buClr>
                <a:srgbClr val="7030A0"/>
              </a:buClr>
              <a:buFont typeface="+mj-lt"/>
              <a:buAutoNum type="arabicPeriod"/>
            </a:pPr>
            <a:r>
              <a:rPr lang="zh-CN" altLang="en-US" sz="2000" b="1" dirty="0">
                <a:latin typeface="微软雅黑" pitchFamily="34" charset="-122"/>
                <a:ea typeface="微软雅黑" pitchFamily="34" charset="-122"/>
              </a:rPr>
              <a:t>采用网络地址转换 </a:t>
            </a:r>
            <a:r>
              <a:rPr lang="en-US" altLang="zh-CN" sz="2000" b="1" dirty="0">
                <a:latin typeface="微软雅黑" pitchFamily="34" charset="-122"/>
                <a:ea typeface="微软雅黑" pitchFamily="34" charset="-122"/>
              </a:rPr>
              <a:t>NAT</a:t>
            </a:r>
            <a:r>
              <a:rPr lang="zh-CN" altLang="en-US" sz="2000" b="1" dirty="0">
                <a:latin typeface="微软雅黑" pitchFamily="34" charset="-122"/>
                <a:ea typeface="微软雅黑" pitchFamily="34" charset="-122"/>
              </a:rPr>
              <a:t>。这是目前使用得最多的方法。</a:t>
            </a:r>
          </a:p>
        </p:txBody>
      </p:sp>
    </p:spTree>
    <p:extLst>
      <p:ext uri="{BB962C8B-B14F-4D97-AF65-F5344CB8AC3E}">
        <p14:creationId xmlns:p14="http://schemas.microsoft.com/office/powerpoint/2010/main" val="192447920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5" y="979381"/>
            <a:ext cx="8053710" cy="26314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1994 </a:t>
            </a:r>
            <a:r>
              <a:rPr lang="zh-CN" altLang="en-US" sz="2000" b="1" dirty="0">
                <a:latin typeface="微软雅黑" pitchFamily="34" charset="-122"/>
                <a:ea typeface="微软雅黑" pitchFamily="34" charset="-122"/>
              </a:rPr>
              <a:t>年提出。</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需要在</a:t>
            </a:r>
            <a:r>
              <a:rPr lang="zh-CN" altLang="en-US" sz="2000" b="1" dirty="0">
                <a:solidFill>
                  <a:srgbClr val="0000FF"/>
                </a:solidFill>
                <a:latin typeface="微软雅黑" pitchFamily="34" charset="-122"/>
                <a:ea typeface="微软雅黑" pitchFamily="34" charset="-122"/>
              </a:rPr>
              <a:t>专用网</a:t>
            </a:r>
            <a:r>
              <a:rPr lang="zh-CN" altLang="en-US" sz="2000" b="1" dirty="0">
                <a:solidFill>
                  <a:srgbClr val="C00000"/>
                </a:solidFill>
                <a:latin typeface="微软雅黑" pitchFamily="34" charset="-122"/>
                <a:ea typeface="微软雅黑" pitchFamily="34" charset="-122"/>
              </a:rPr>
              <a:t>连接</a:t>
            </a:r>
            <a:r>
              <a:rPr lang="zh-CN" altLang="en-US" sz="2000" b="1" dirty="0">
                <a:solidFill>
                  <a:srgbClr val="0000FF"/>
                </a:solidFill>
                <a:latin typeface="微软雅黑" pitchFamily="34" charset="-122"/>
                <a:ea typeface="微软雅黑" pitchFamily="34" charset="-122"/>
              </a:rPr>
              <a:t>到互联网的路由器</a:t>
            </a:r>
            <a:r>
              <a:rPr lang="zh-CN" altLang="en-US" sz="2000" b="1" dirty="0">
                <a:latin typeface="微软雅黑" pitchFamily="34" charset="-122"/>
                <a:ea typeface="微软雅黑" pitchFamily="34" charset="-122"/>
              </a:rPr>
              <a:t>上安装 </a:t>
            </a:r>
            <a:r>
              <a:rPr lang="en-US" altLang="zh-CN" sz="2000" b="1" dirty="0">
                <a:latin typeface="微软雅黑" pitchFamily="34" charset="-122"/>
                <a:ea typeface="微软雅黑" pitchFamily="34" charset="-122"/>
              </a:rPr>
              <a:t>NAT </a:t>
            </a:r>
            <a:r>
              <a:rPr lang="zh-CN" altLang="en-US" sz="2000" b="1" dirty="0">
                <a:latin typeface="微软雅黑" pitchFamily="34" charset="-122"/>
                <a:ea typeface="微软雅黑" pitchFamily="34" charset="-122"/>
              </a:rPr>
              <a:t>软件。</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装有 </a:t>
            </a:r>
            <a:r>
              <a:rPr lang="en-US" altLang="zh-CN" sz="2000" b="1" dirty="0">
                <a:latin typeface="微软雅黑" pitchFamily="34" charset="-122"/>
                <a:ea typeface="微软雅黑" pitchFamily="34" charset="-122"/>
              </a:rPr>
              <a:t>NAT </a:t>
            </a:r>
            <a:r>
              <a:rPr lang="zh-CN" altLang="en-US" sz="2000" b="1" dirty="0">
                <a:latin typeface="微软雅黑" pitchFamily="34" charset="-122"/>
                <a:ea typeface="微软雅黑" pitchFamily="34" charset="-122"/>
              </a:rPr>
              <a:t>软件的路由器叫做 </a:t>
            </a:r>
            <a:r>
              <a:rPr lang="en-US" altLang="zh-CN" sz="2000" b="1" dirty="0">
                <a:solidFill>
                  <a:srgbClr val="0000FF"/>
                </a:solidFill>
                <a:latin typeface="微软雅黑" pitchFamily="34" charset="-122"/>
                <a:ea typeface="微软雅黑" pitchFamily="34" charset="-122"/>
              </a:rPr>
              <a:t>NAT</a:t>
            </a:r>
            <a:r>
              <a:rPr lang="zh-CN" altLang="en-US" sz="2000" b="1" dirty="0">
                <a:solidFill>
                  <a:srgbClr val="0000FF"/>
                </a:solidFill>
                <a:latin typeface="微软雅黑" pitchFamily="34" charset="-122"/>
                <a:ea typeface="微软雅黑" pitchFamily="34" charset="-122"/>
              </a:rPr>
              <a:t>路由器，</a:t>
            </a:r>
            <a:r>
              <a:rPr lang="zh-CN" altLang="en-US" sz="2000" b="1" dirty="0">
                <a:latin typeface="微软雅黑" pitchFamily="34" charset="-122"/>
                <a:ea typeface="微软雅黑" pitchFamily="34" charset="-122"/>
              </a:rPr>
              <a:t>它</a:t>
            </a:r>
            <a:r>
              <a:rPr lang="zh-CN" altLang="en-US" sz="2000" b="1" dirty="0">
                <a:solidFill>
                  <a:srgbClr val="C00000"/>
                </a:solidFill>
                <a:latin typeface="微软雅黑" pitchFamily="34" charset="-122"/>
                <a:ea typeface="微软雅黑" pitchFamily="34" charset="-122"/>
              </a:rPr>
              <a:t>至少</a:t>
            </a:r>
            <a:r>
              <a:rPr lang="zh-CN" altLang="en-US" sz="2000" b="1" dirty="0">
                <a:latin typeface="微软雅黑" pitchFamily="34" charset="-122"/>
                <a:ea typeface="微软雅黑" pitchFamily="34" charset="-122"/>
              </a:rPr>
              <a:t>有一个有效的</a:t>
            </a:r>
            <a:r>
              <a:rPr lang="zh-CN" altLang="en-US" sz="2000" b="1" dirty="0">
                <a:solidFill>
                  <a:srgbClr val="C00000"/>
                </a:solidFill>
                <a:latin typeface="微软雅黑" pitchFamily="34" charset="-122"/>
                <a:ea typeface="微软雅黑" pitchFamily="34" charset="-122"/>
              </a:rPr>
              <a:t>外部</a:t>
            </a:r>
            <a:r>
              <a:rPr lang="zh-CN" altLang="en-US" sz="2000" b="1" dirty="0">
                <a:latin typeface="微软雅黑" pitchFamily="34" charset="-122"/>
                <a:ea typeface="微软雅黑" pitchFamily="34" charset="-122"/>
              </a:rPr>
              <a:t>全球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所有使用本地地址的主机在和外界通信时，都要在 </a:t>
            </a:r>
            <a:r>
              <a:rPr lang="en-US" altLang="zh-CN" sz="2000" b="1" dirty="0">
                <a:latin typeface="微软雅黑" pitchFamily="34" charset="-122"/>
                <a:ea typeface="微软雅黑" pitchFamily="34" charset="-122"/>
              </a:rPr>
              <a:t>NAT </a:t>
            </a:r>
            <a:r>
              <a:rPr lang="zh-CN" altLang="en-US" sz="2000" b="1" dirty="0">
                <a:latin typeface="微软雅黑" pitchFamily="34" charset="-122"/>
                <a:ea typeface="微软雅黑" pitchFamily="34" charset="-122"/>
              </a:rPr>
              <a:t>路由器上</a:t>
            </a:r>
            <a:r>
              <a:rPr lang="zh-CN" altLang="en-US" sz="2000" b="1" dirty="0">
                <a:solidFill>
                  <a:srgbClr val="0000FF"/>
                </a:solidFill>
                <a:latin typeface="微软雅黑" pitchFamily="34" charset="-122"/>
                <a:ea typeface="微软雅黑" pitchFamily="34" charset="-122"/>
              </a:rPr>
              <a:t>将其本地地址</a:t>
            </a:r>
            <a:r>
              <a:rPr lang="zh-CN" altLang="en-US" sz="2000" b="1" dirty="0">
                <a:solidFill>
                  <a:srgbClr val="C00000"/>
                </a:solidFill>
                <a:latin typeface="微软雅黑" pitchFamily="34" charset="-122"/>
                <a:ea typeface="微软雅黑" pitchFamily="34" charset="-122"/>
              </a:rPr>
              <a:t>转换</a:t>
            </a:r>
            <a:r>
              <a:rPr lang="zh-CN" altLang="en-US" sz="2000" b="1" dirty="0">
                <a:solidFill>
                  <a:srgbClr val="0000FF"/>
                </a:solidFill>
                <a:latin typeface="微软雅黑" pitchFamily="34" charset="-122"/>
                <a:ea typeface="微软雅黑" pitchFamily="34" charset="-122"/>
              </a:rPr>
              <a:t>成全球 </a:t>
            </a:r>
            <a:r>
              <a:rPr lang="en-US" altLang="zh-CN" sz="2000" b="1" dirty="0">
                <a:solidFill>
                  <a:srgbClr val="0000FF"/>
                </a:solidFill>
                <a:latin typeface="微软雅黑" pitchFamily="34" charset="-122"/>
                <a:ea typeface="微软雅黑" pitchFamily="34" charset="-122"/>
              </a:rPr>
              <a:t>IP </a:t>
            </a:r>
            <a:r>
              <a:rPr lang="zh-CN" altLang="en-US" sz="2000" b="1" dirty="0">
                <a:solidFill>
                  <a:srgbClr val="0000FF"/>
                </a:solidFill>
                <a:latin typeface="微软雅黑" pitchFamily="34" charset="-122"/>
                <a:ea typeface="微软雅黑" pitchFamily="34" charset="-122"/>
              </a:rPr>
              <a:t>地址</a:t>
            </a:r>
            <a:r>
              <a:rPr lang="zh-CN" altLang="en-US" sz="2000" b="1" dirty="0">
                <a:latin typeface="微软雅黑" pitchFamily="34" charset="-122"/>
                <a:ea typeface="微软雅黑" pitchFamily="34" charset="-122"/>
              </a:rPr>
              <a:t>，才能和互联网连接。 </a:t>
            </a:r>
          </a:p>
        </p:txBody>
      </p:sp>
      <p:sp>
        <p:nvSpPr>
          <p:cNvPr id="3" name="AutoShape 5"/>
          <p:cNvSpPr>
            <a:spLocks noChangeArrowheads="1"/>
          </p:cNvSpPr>
          <p:nvPr/>
        </p:nvSpPr>
        <p:spPr bwMode="auto">
          <a:xfrm>
            <a:off x="545145" y="619515"/>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545145" y="586304"/>
            <a:ext cx="805371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网络地址转换 </a:t>
            </a:r>
            <a:r>
              <a:rPr lang="en-US" altLang="zh-CN" sz="2000" b="1" dirty="0">
                <a:solidFill>
                  <a:schemeClr val="bg1"/>
                </a:solidFill>
                <a:latin typeface="微软雅黑" pitchFamily="34" charset="-122"/>
                <a:ea typeface="微软雅黑" pitchFamily="34" charset="-122"/>
              </a:rPr>
              <a:t>NAT (Network Address Translation)</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377520513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5" y="1071879"/>
            <a:ext cx="8053710" cy="324454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p:cNvSpPr>
            <a:spLocks noChangeArrowheads="1"/>
          </p:cNvSpPr>
          <p:nvPr/>
        </p:nvSpPr>
        <p:spPr bwMode="auto">
          <a:xfrm>
            <a:off x="545145" y="614144"/>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09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网络地址转换的过程</a:t>
            </a:r>
          </a:p>
        </p:txBody>
      </p:sp>
      <p:sp>
        <p:nvSpPr>
          <p:cNvPr id="52" name="圆角矩形 51"/>
          <p:cNvSpPr/>
          <p:nvPr/>
        </p:nvSpPr>
        <p:spPr>
          <a:xfrm>
            <a:off x="748189" y="2003055"/>
            <a:ext cx="2984912" cy="1668015"/>
          </a:xfrm>
          <a:prstGeom prst="roundRect">
            <a:avLst>
              <a:gd name="adj" fmla="val 12325"/>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600" b="1">
              <a:latin typeface="微软雅黑" panose="020B0503020204020204" pitchFamily="34" charset="-122"/>
              <a:ea typeface="微软雅黑" panose="020B0503020204020204" pitchFamily="34" charset="-122"/>
            </a:endParaRPr>
          </a:p>
        </p:txBody>
      </p:sp>
      <p:sp>
        <p:nvSpPr>
          <p:cNvPr id="57" name="Line 74"/>
          <p:cNvSpPr>
            <a:spLocks noChangeShapeType="1"/>
          </p:cNvSpPr>
          <p:nvPr/>
        </p:nvSpPr>
        <p:spPr bwMode="auto">
          <a:xfrm>
            <a:off x="7426067" y="2779332"/>
            <a:ext cx="460433" cy="984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58" name="Line 73"/>
          <p:cNvSpPr>
            <a:spLocks noChangeShapeType="1"/>
          </p:cNvSpPr>
          <p:nvPr/>
        </p:nvSpPr>
        <p:spPr bwMode="auto">
          <a:xfrm>
            <a:off x="7139406" y="3122238"/>
            <a:ext cx="459164" cy="24555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59" name="Line 72"/>
          <p:cNvSpPr>
            <a:spLocks noChangeShapeType="1"/>
          </p:cNvSpPr>
          <p:nvPr/>
        </p:nvSpPr>
        <p:spPr bwMode="auto">
          <a:xfrm flipV="1">
            <a:off x="7196485" y="2337989"/>
            <a:ext cx="402086" cy="19579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60" name="Line 37"/>
          <p:cNvSpPr>
            <a:spLocks noChangeShapeType="1"/>
          </p:cNvSpPr>
          <p:nvPr/>
        </p:nvSpPr>
        <p:spPr bwMode="auto">
          <a:xfrm flipV="1">
            <a:off x="1327551" y="2828009"/>
            <a:ext cx="2647172"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61" name="Line 34"/>
          <p:cNvSpPr>
            <a:spLocks noChangeShapeType="1"/>
          </p:cNvSpPr>
          <p:nvPr/>
        </p:nvSpPr>
        <p:spPr bwMode="auto">
          <a:xfrm>
            <a:off x="4031802" y="2828009"/>
            <a:ext cx="155380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aphicFrame>
        <p:nvGraphicFramePr>
          <p:cNvPr id="62" name="Object 4"/>
          <p:cNvGraphicFramePr>
            <a:graphicFrameLocks noChangeAspect="1"/>
          </p:cNvGraphicFramePr>
          <p:nvPr>
            <p:extLst>
              <p:ext uri="{D42A27DB-BD31-4B8C-83A1-F6EECF244321}">
                <p14:modId xmlns:p14="http://schemas.microsoft.com/office/powerpoint/2010/main" val="3091330060"/>
              </p:ext>
            </p:extLst>
          </p:nvPr>
        </p:nvGraphicFramePr>
        <p:xfrm>
          <a:off x="5531062" y="2190875"/>
          <a:ext cx="2130929" cy="1128236"/>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23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531062" y="2190875"/>
                        <a:ext cx="2130929" cy="11282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pic>
        <p:nvPicPr>
          <p:cNvPr id="63" name="Picture 6"/>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859298" y="2755534"/>
            <a:ext cx="416039" cy="170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64" name="Text Box 7"/>
          <p:cNvSpPr txBox="1">
            <a:spLocks noChangeArrowheads="1"/>
          </p:cNvSpPr>
          <p:nvPr/>
        </p:nvSpPr>
        <p:spPr bwMode="auto">
          <a:xfrm>
            <a:off x="3666578" y="2284700"/>
            <a:ext cx="646331"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en-US" altLang="zh-CN" sz="1200" b="1" dirty="0">
                <a:solidFill>
                  <a:srgbClr val="C00000"/>
                </a:solidFill>
                <a:latin typeface="微软雅黑" panose="020B0503020204020204" pitchFamily="34" charset="-122"/>
                <a:ea typeface="微软雅黑" panose="020B0503020204020204" pitchFamily="34" charset="-122"/>
              </a:rPr>
              <a:t>NAT</a:t>
            </a:r>
          </a:p>
          <a:p>
            <a:pPr algn="ctr" eaLnBrk="1" hangingPunct="1">
              <a:lnSpc>
                <a:spcPct val="90000"/>
              </a:lnSpc>
            </a:pPr>
            <a:r>
              <a:rPr kumimoji="1" lang="zh-CN" altLang="en-US" sz="1200" b="1" dirty="0">
                <a:solidFill>
                  <a:srgbClr val="C00000"/>
                </a:solidFill>
                <a:latin typeface="微软雅黑" panose="020B0503020204020204" pitchFamily="34" charset="-122"/>
                <a:ea typeface="微软雅黑" panose="020B0503020204020204" pitchFamily="34" charset="-122"/>
              </a:rPr>
              <a:t>路由器</a:t>
            </a:r>
          </a:p>
        </p:txBody>
      </p:sp>
      <p:pic>
        <p:nvPicPr>
          <p:cNvPr id="65" name="Picture 30"/>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489488" y="2190875"/>
            <a:ext cx="268903" cy="2325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 name="Picture 31"/>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368989" y="3171997"/>
            <a:ext cx="268903" cy="232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 name="Picture 32"/>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777417" y="2730654"/>
            <a:ext cx="268903" cy="232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8" name="Text Box 35"/>
          <p:cNvSpPr txBox="1">
            <a:spLocks noChangeArrowheads="1"/>
          </p:cNvSpPr>
          <p:nvPr/>
        </p:nvSpPr>
        <p:spPr bwMode="auto">
          <a:xfrm>
            <a:off x="1150469" y="1719180"/>
            <a:ext cx="2403222"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zh-CN" altLang="en-US" sz="1600" b="1" dirty="0">
                <a:latin typeface="微软雅黑" panose="020B0503020204020204" pitchFamily="34" charset="-122"/>
                <a:ea typeface="微软雅黑" panose="020B0503020204020204" pitchFamily="34" charset="-122"/>
              </a:rPr>
              <a:t>专用网 </a:t>
            </a:r>
            <a:r>
              <a:rPr kumimoji="1" lang="en-US" altLang="zh-CN" sz="1600" b="1" dirty="0">
                <a:latin typeface="微软雅黑" panose="020B0503020204020204" pitchFamily="34" charset="-122"/>
                <a:ea typeface="微软雅黑" panose="020B0503020204020204" pitchFamily="34" charset="-122"/>
              </a:rPr>
              <a:t>192.168.0.0/16</a:t>
            </a:r>
          </a:p>
        </p:txBody>
      </p:sp>
      <p:sp>
        <p:nvSpPr>
          <p:cNvPr id="69" name="Text Box 36"/>
          <p:cNvSpPr txBox="1">
            <a:spLocks noChangeArrowheads="1"/>
          </p:cNvSpPr>
          <p:nvPr/>
        </p:nvSpPr>
        <p:spPr bwMode="auto">
          <a:xfrm>
            <a:off x="6254491" y="2877768"/>
            <a:ext cx="800219"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zh-CN" altLang="en-US" sz="1600" b="1" dirty="0">
                <a:latin typeface="微软雅黑" panose="020B0503020204020204" pitchFamily="34" charset="-122"/>
                <a:ea typeface="微软雅黑" panose="020B0503020204020204" pitchFamily="34" charset="-122"/>
              </a:rPr>
              <a:t>互联网</a:t>
            </a:r>
          </a:p>
        </p:txBody>
      </p:sp>
      <p:sp>
        <p:nvSpPr>
          <p:cNvPr id="70" name="Line 38"/>
          <p:cNvSpPr>
            <a:spLocks noChangeShapeType="1"/>
          </p:cNvSpPr>
          <p:nvPr/>
        </p:nvSpPr>
        <p:spPr bwMode="auto">
          <a:xfrm rot="5400000">
            <a:off x="1454175" y="2665211"/>
            <a:ext cx="342906"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71" name="Picture 27"/>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489908" y="2421282"/>
            <a:ext cx="268903" cy="232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Text Box 45"/>
          <p:cNvSpPr txBox="1">
            <a:spLocks noChangeArrowheads="1"/>
          </p:cNvSpPr>
          <p:nvPr/>
        </p:nvSpPr>
        <p:spPr bwMode="auto">
          <a:xfrm>
            <a:off x="726304" y="2194287"/>
            <a:ext cx="1223412"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en-US" altLang="zh-CN" sz="1400" b="1" dirty="0">
                <a:solidFill>
                  <a:srgbClr val="0000FF"/>
                </a:solidFill>
                <a:latin typeface="微软雅黑" panose="020B0503020204020204" pitchFamily="34" charset="-122"/>
                <a:ea typeface="微软雅黑" panose="020B0503020204020204" pitchFamily="34" charset="-122"/>
              </a:rPr>
              <a:t>192.168.0.3</a:t>
            </a:r>
          </a:p>
        </p:txBody>
      </p:sp>
      <p:sp>
        <p:nvSpPr>
          <p:cNvPr id="80" name="Text Box 52"/>
          <p:cNvSpPr txBox="1">
            <a:spLocks noChangeArrowheads="1"/>
          </p:cNvSpPr>
          <p:nvPr/>
        </p:nvSpPr>
        <p:spPr bwMode="auto">
          <a:xfrm>
            <a:off x="7051414" y="1930631"/>
            <a:ext cx="1249061"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en-US" altLang="zh-CN" sz="1600" b="1" dirty="0">
                <a:solidFill>
                  <a:srgbClr val="0000FF"/>
                </a:solidFill>
                <a:latin typeface="微软雅黑" panose="020B0503020204020204" pitchFamily="34" charset="-122"/>
                <a:ea typeface="微软雅黑" panose="020B0503020204020204" pitchFamily="34" charset="-122"/>
              </a:rPr>
              <a:t>213.18.2.4</a:t>
            </a:r>
          </a:p>
        </p:txBody>
      </p:sp>
      <p:sp>
        <p:nvSpPr>
          <p:cNvPr id="86" name="Text Box 76"/>
          <p:cNvSpPr txBox="1">
            <a:spLocks noChangeArrowheads="1"/>
          </p:cNvSpPr>
          <p:nvPr/>
        </p:nvSpPr>
        <p:spPr bwMode="auto">
          <a:xfrm>
            <a:off x="3762492" y="3334163"/>
            <a:ext cx="1188146" cy="523220"/>
          </a:xfrm>
          <a:prstGeom prst="rect">
            <a:avLst/>
          </a:prstGeom>
          <a:solidFill>
            <a:schemeClr val="accent6">
              <a:lumMod val="75000"/>
            </a:schemeClr>
          </a:solidFill>
          <a:ln w="9525">
            <a:solidFill>
              <a:schemeClr val="tx1"/>
            </a:solidFill>
            <a:miter lim="800000"/>
            <a:headEnd/>
            <a:tailEnd/>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400" b="1" dirty="0">
                <a:solidFill>
                  <a:srgbClr val="000066"/>
                </a:solidFill>
                <a:latin typeface="微软雅黑" panose="020B0503020204020204" pitchFamily="34" charset="-122"/>
                <a:ea typeface="微软雅黑" panose="020B0503020204020204" pitchFamily="34" charset="-122"/>
              </a:rPr>
              <a:t>全球 </a:t>
            </a:r>
            <a:r>
              <a:rPr kumimoji="1" lang="en-US" altLang="zh-CN" sz="1400" b="1" dirty="0">
                <a:solidFill>
                  <a:srgbClr val="000066"/>
                </a:solidFill>
                <a:latin typeface="微软雅黑" panose="020B0503020204020204" pitchFamily="34" charset="-122"/>
                <a:ea typeface="微软雅黑" panose="020B0503020204020204" pitchFamily="34" charset="-122"/>
              </a:rPr>
              <a:t>IP </a:t>
            </a:r>
            <a:r>
              <a:rPr kumimoji="1" lang="zh-CN" altLang="en-US" sz="1400" b="1" dirty="0">
                <a:solidFill>
                  <a:srgbClr val="000066"/>
                </a:solidFill>
                <a:latin typeface="微软雅黑" panose="020B0503020204020204" pitchFamily="34" charset="-122"/>
                <a:ea typeface="微软雅黑" panose="020B0503020204020204" pitchFamily="34" charset="-122"/>
              </a:rPr>
              <a:t>地址</a:t>
            </a:r>
          </a:p>
          <a:p>
            <a:pPr algn="ctr" eaLnBrk="1" hangingPunct="1"/>
            <a:r>
              <a:rPr kumimoji="1" lang="en-US" altLang="zh-CN" sz="1400" b="1" dirty="0">
                <a:solidFill>
                  <a:srgbClr val="000066"/>
                </a:solidFill>
                <a:latin typeface="微软雅黑" panose="020B0503020204020204" pitchFamily="34" charset="-122"/>
                <a:ea typeface="微软雅黑" panose="020B0503020204020204" pitchFamily="34" charset="-122"/>
              </a:rPr>
              <a:t>172.38.1.5</a:t>
            </a:r>
          </a:p>
        </p:txBody>
      </p:sp>
      <p:sp>
        <p:nvSpPr>
          <p:cNvPr id="100" name="Text Box 45"/>
          <p:cNvSpPr txBox="1">
            <a:spLocks noChangeArrowheads="1"/>
          </p:cNvSpPr>
          <p:nvPr/>
        </p:nvSpPr>
        <p:spPr bwMode="auto">
          <a:xfrm>
            <a:off x="1155771" y="2408186"/>
            <a:ext cx="399469"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zh-CN" altLang="en-US" sz="1600" b="1" dirty="0">
                <a:solidFill>
                  <a:srgbClr val="0000FF"/>
                </a:solidFill>
                <a:latin typeface="微软雅黑" panose="020B0503020204020204" pitchFamily="34" charset="-122"/>
                <a:ea typeface="微软雅黑" panose="020B0503020204020204" pitchFamily="34" charset="-122"/>
              </a:rPr>
              <a:t> </a:t>
            </a:r>
            <a:r>
              <a:rPr kumimoji="1" lang="en-US" altLang="zh-CN" sz="1600" b="1" dirty="0">
                <a:solidFill>
                  <a:srgbClr val="0000FF"/>
                </a:solidFill>
                <a:latin typeface="微软雅黑" panose="020B0503020204020204" pitchFamily="34" charset="-122"/>
                <a:ea typeface="微软雅黑" panose="020B0503020204020204" pitchFamily="34" charset="-122"/>
              </a:rPr>
              <a:t>A</a:t>
            </a:r>
          </a:p>
        </p:txBody>
      </p:sp>
      <p:sp>
        <p:nvSpPr>
          <p:cNvPr id="102" name="Line 38"/>
          <p:cNvSpPr>
            <a:spLocks noChangeShapeType="1"/>
          </p:cNvSpPr>
          <p:nvPr/>
        </p:nvSpPr>
        <p:spPr bwMode="auto">
          <a:xfrm rot="5400000">
            <a:off x="1328602" y="2999462"/>
            <a:ext cx="342906"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103" name="Picture 27"/>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340235" y="3078969"/>
            <a:ext cx="268903" cy="232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 name="Text Box 45"/>
          <p:cNvSpPr txBox="1">
            <a:spLocks noChangeArrowheads="1"/>
          </p:cNvSpPr>
          <p:nvPr/>
        </p:nvSpPr>
        <p:spPr bwMode="auto">
          <a:xfrm>
            <a:off x="748190" y="3319111"/>
            <a:ext cx="1223412"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en-US" altLang="zh-CN" sz="1400" b="1" dirty="0">
                <a:latin typeface="微软雅黑" panose="020B0503020204020204" pitchFamily="34" charset="-122"/>
                <a:ea typeface="微软雅黑" panose="020B0503020204020204" pitchFamily="34" charset="-122"/>
              </a:rPr>
              <a:t>192.168.0.4</a:t>
            </a:r>
          </a:p>
        </p:txBody>
      </p:sp>
      <p:sp>
        <p:nvSpPr>
          <p:cNvPr id="105" name="TextBox 54"/>
          <p:cNvSpPr txBox="1">
            <a:spLocks noChangeArrowheads="1"/>
          </p:cNvSpPr>
          <p:nvPr/>
        </p:nvSpPr>
        <p:spPr bwMode="auto">
          <a:xfrm>
            <a:off x="1615481" y="1356867"/>
            <a:ext cx="1847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grpSp>
        <p:nvGrpSpPr>
          <p:cNvPr id="10" name="组合 9"/>
          <p:cNvGrpSpPr/>
          <p:nvPr/>
        </p:nvGrpSpPr>
        <p:grpSpPr>
          <a:xfrm>
            <a:off x="2006828" y="2828009"/>
            <a:ext cx="1608133" cy="773213"/>
            <a:chOff x="2006828" y="2828009"/>
            <a:chExt cx="1608133" cy="773213"/>
          </a:xfrm>
        </p:grpSpPr>
        <p:sp>
          <p:nvSpPr>
            <p:cNvPr id="83" name="Text Box 59"/>
            <p:cNvSpPr txBox="1">
              <a:spLocks noChangeArrowheads="1"/>
            </p:cNvSpPr>
            <p:nvPr/>
          </p:nvSpPr>
          <p:spPr bwMode="auto">
            <a:xfrm>
              <a:off x="2006828" y="3121091"/>
              <a:ext cx="1608133" cy="480131"/>
            </a:xfrm>
            <a:prstGeom prst="rect">
              <a:avLst/>
            </a:prstGeom>
            <a:solidFill>
              <a:srgbClr val="66FF66"/>
            </a:solidFill>
            <a:ln w="9525">
              <a:solidFill>
                <a:schemeClr val="tx1"/>
              </a:solidFill>
              <a:miter lim="800000"/>
              <a:headEnd/>
              <a:tailEnd/>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pPr>
              <a:r>
                <a:rPr kumimoji="1" lang="en-US" altLang="zh-CN" sz="1400" b="1" dirty="0">
                  <a:latin typeface="微软雅黑" panose="020B0503020204020204" pitchFamily="34" charset="-122"/>
                  <a:ea typeface="微软雅黑" panose="020B0503020204020204" pitchFamily="34" charset="-122"/>
                </a:rPr>
                <a:t>S = 213.18.2.4</a:t>
              </a:r>
            </a:p>
            <a:p>
              <a:pPr eaLnBrk="1" hangingPunct="1">
                <a:lnSpc>
                  <a:spcPct val="90000"/>
                </a:lnSpc>
              </a:pPr>
              <a:r>
                <a:rPr kumimoji="1" lang="en-US" altLang="zh-CN" sz="1400" b="1" dirty="0">
                  <a:latin typeface="微软雅黑" panose="020B0503020204020204" pitchFamily="34" charset="-122"/>
                  <a:ea typeface="微软雅黑" panose="020B0503020204020204" pitchFamily="34" charset="-122"/>
                </a:rPr>
                <a:t>D = 192.168.0.3</a:t>
              </a:r>
            </a:p>
          </p:txBody>
        </p:sp>
        <p:grpSp>
          <p:nvGrpSpPr>
            <p:cNvPr id="87" name="Group 42"/>
            <p:cNvGrpSpPr>
              <a:grpSpLocks/>
            </p:cNvGrpSpPr>
            <p:nvPr/>
          </p:nvGrpSpPr>
          <p:grpSpPr bwMode="auto">
            <a:xfrm flipH="1">
              <a:off x="2410773" y="2876687"/>
              <a:ext cx="632937" cy="98436"/>
              <a:chOff x="521" y="2478"/>
              <a:chExt cx="1044" cy="136"/>
            </a:xfrm>
          </p:grpSpPr>
          <p:sp>
            <p:nvSpPr>
              <p:cNvPr id="88" name="AutoShape 41"/>
              <p:cNvSpPr>
                <a:spLocks noChangeArrowheads="1"/>
              </p:cNvSpPr>
              <p:nvPr/>
            </p:nvSpPr>
            <p:spPr bwMode="auto">
              <a:xfrm>
                <a:off x="1383" y="2505"/>
                <a:ext cx="182" cy="91"/>
              </a:xfrm>
              <a:prstGeom prst="rightArrow">
                <a:avLst>
                  <a:gd name="adj1" fmla="val 49454"/>
                  <a:gd name="adj2" fmla="val 72528"/>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89" name="Rectangle 39"/>
              <p:cNvSpPr>
                <a:spLocks noChangeArrowheads="1"/>
              </p:cNvSpPr>
              <p:nvPr/>
            </p:nvSpPr>
            <p:spPr bwMode="auto">
              <a:xfrm>
                <a:off x="521" y="2478"/>
                <a:ext cx="635" cy="1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90" name="Rectangle 40"/>
              <p:cNvSpPr>
                <a:spLocks noChangeArrowheads="1"/>
              </p:cNvSpPr>
              <p:nvPr/>
            </p:nvSpPr>
            <p:spPr bwMode="auto">
              <a:xfrm>
                <a:off x="1156" y="2478"/>
                <a:ext cx="227" cy="136"/>
              </a:xfrm>
              <a:prstGeom prst="rect">
                <a:avLst/>
              </a:prstGeom>
              <a:solidFill>
                <a:srgbClr val="00CC00"/>
              </a:solid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grpSp>
        <p:sp>
          <p:nvSpPr>
            <p:cNvPr id="101" name="Line 60"/>
            <p:cNvSpPr>
              <a:spLocks noChangeShapeType="1"/>
            </p:cNvSpPr>
            <p:nvPr/>
          </p:nvSpPr>
          <p:spPr bwMode="auto">
            <a:xfrm>
              <a:off x="2583277" y="2926446"/>
              <a:ext cx="135291" cy="2303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06" name="Text Box 155"/>
            <p:cNvSpPr txBox="1">
              <a:spLocks noChangeArrowheads="1"/>
            </p:cNvSpPr>
            <p:nvPr/>
          </p:nvSpPr>
          <p:spPr bwMode="auto">
            <a:xfrm flipH="1">
              <a:off x="2132992" y="2828009"/>
              <a:ext cx="3674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a:solidFill>
                    <a:srgbClr val="0000FF"/>
                  </a:solidFill>
                  <a:latin typeface="微软雅黑" panose="020B0503020204020204" pitchFamily="34" charset="-122"/>
                  <a:ea typeface="微软雅黑" panose="020B0503020204020204" pitchFamily="34" charset="-122"/>
                  <a:sym typeface="Wingdings" panose="05000000000000000000" pitchFamily="2" charset="2"/>
                </a:rPr>
                <a:t></a:t>
              </a:r>
            </a:p>
          </p:txBody>
        </p:sp>
      </p:grpSp>
      <p:grpSp>
        <p:nvGrpSpPr>
          <p:cNvPr id="11" name="组合 10"/>
          <p:cNvGrpSpPr/>
          <p:nvPr/>
        </p:nvGrpSpPr>
        <p:grpSpPr>
          <a:xfrm>
            <a:off x="4561998" y="2435344"/>
            <a:ext cx="2933832" cy="1226166"/>
            <a:chOff x="4561998" y="2435344"/>
            <a:chExt cx="2933832" cy="1226166"/>
          </a:xfrm>
        </p:grpSpPr>
        <p:sp>
          <p:nvSpPr>
            <p:cNvPr id="99" name="Line 70"/>
            <p:cNvSpPr>
              <a:spLocks noChangeShapeType="1"/>
            </p:cNvSpPr>
            <p:nvPr/>
          </p:nvSpPr>
          <p:spPr bwMode="auto">
            <a:xfrm>
              <a:off x="5009746" y="2926446"/>
              <a:ext cx="345008" cy="24555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9" name="组合 8"/>
            <p:cNvGrpSpPr/>
            <p:nvPr/>
          </p:nvGrpSpPr>
          <p:grpSpPr>
            <a:xfrm>
              <a:off x="4561998" y="2435344"/>
              <a:ext cx="2933832" cy="1226166"/>
              <a:chOff x="4561998" y="2435344"/>
              <a:chExt cx="2933832" cy="1226166"/>
            </a:xfrm>
          </p:grpSpPr>
          <p:sp>
            <p:nvSpPr>
              <p:cNvPr id="84" name="Text Box 69"/>
              <p:cNvSpPr txBox="1">
                <a:spLocks noChangeArrowheads="1"/>
              </p:cNvSpPr>
              <p:nvPr/>
            </p:nvSpPr>
            <p:spPr bwMode="auto">
              <a:xfrm>
                <a:off x="4975907" y="3181379"/>
                <a:ext cx="1497526" cy="480131"/>
              </a:xfrm>
              <a:prstGeom prst="rect">
                <a:avLst/>
              </a:prstGeom>
              <a:solidFill>
                <a:srgbClr val="FF66FF"/>
              </a:solidFill>
              <a:ln w="9525">
                <a:solidFill>
                  <a:schemeClr val="tx1"/>
                </a:solidFill>
                <a:miter lim="800000"/>
                <a:headEnd/>
                <a:tailEnd/>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pPr>
                <a:r>
                  <a:rPr kumimoji="1" lang="en-US" altLang="zh-CN" sz="1400" b="1" dirty="0">
                    <a:latin typeface="微软雅黑" panose="020B0503020204020204" pitchFamily="34" charset="-122"/>
                    <a:ea typeface="微软雅黑" panose="020B0503020204020204" pitchFamily="34" charset="-122"/>
                  </a:rPr>
                  <a:t>S = 213.18.2.4</a:t>
                </a:r>
              </a:p>
              <a:p>
                <a:pPr eaLnBrk="1" hangingPunct="1">
                  <a:lnSpc>
                    <a:spcPct val="90000"/>
                  </a:lnSpc>
                </a:pPr>
                <a:r>
                  <a:rPr kumimoji="1" lang="en-US" altLang="zh-CN" sz="1400" b="1" dirty="0">
                    <a:latin typeface="微软雅黑" panose="020B0503020204020204" pitchFamily="34" charset="-122"/>
                    <a:ea typeface="微软雅黑" panose="020B0503020204020204" pitchFamily="34" charset="-122"/>
                  </a:rPr>
                  <a:t>D = </a:t>
                </a:r>
                <a:r>
                  <a:rPr kumimoji="1" lang="en-US" altLang="zh-CN" sz="1400" b="1" dirty="0">
                    <a:solidFill>
                      <a:srgbClr val="0000FF"/>
                    </a:solidFill>
                    <a:latin typeface="微软雅黑" panose="020B0503020204020204" pitchFamily="34" charset="-122"/>
                    <a:ea typeface="微软雅黑" panose="020B0503020204020204" pitchFamily="34" charset="-122"/>
                  </a:rPr>
                  <a:t>172.38.1.5</a:t>
                </a:r>
              </a:p>
            </p:txBody>
          </p:sp>
          <p:sp>
            <p:nvSpPr>
              <p:cNvPr id="85" name="Freeform 71"/>
              <p:cNvSpPr>
                <a:spLocks/>
              </p:cNvSpPr>
              <p:nvPr/>
            </p:nvSpPr>
            <p:spPr bwMode="auto">
              <a:xfrm>
                <a:off x="5529670" y="2435344"/>
                <a:ext cx="1966160" cy="491102"/>
              </a:xfrm>
              <a:custGeom>
                <a:avLst/>
                <a:gdLst>
                  <a:gd name="T0" fmla="*/ 0 w 1688"/>
                  <a:gd name="T1" fmla="*/ 2147483647 h 427"/>
                  <a:gd name="T2" fmla="*/ 2147483647 w 1688"/>
                  <a:gd name="T3" fmla="*/ 2147483647 h 427"/>
                  <a:gd name="T4" fmla="*/ 2147483647 w 1688"/>
                  <a:gd name="T5" fmla="*/ 2147483647 h 427"/>
                  <a:gd name="T6" fmla="*/ 2147483647 w 1688"/>
                  <a:gd name="T7" fmla="*/ 2147483647 h 427"/>
                  <a:gd name="T8" fmla="*/ 2147483647 w 1688"/>
                  <a:gd name="T9" fmla="*/ 2147483647 h 427"/>
                  <a:gd name="T10" fmla="*/ 2147483647 w 1688"/>
                  <a:gd name="T11" fmla="*/ 0 h 427"/>
                  <a:gd name="T12" fmla="*/ 0 60000 65536"/>
                  <a:gd name="T13" fmla="*/ 0 60000 65536"/>
                  <a:gd name="T14" fmla="*/ 0 60000 65536"/>
                  <a:gd name="T15" fmla="*/ 0 60000 65536"/>
                  <a:gd name="T16" fmla="*/ 0 60000 65536"/>
                  <a:gd name="T17" fmla="*/ 0 60000 65536"/>
                  <a:gd name="T18" fmla="*/ 0 w 1688"/>
                  <a:gd name="T19" fmla="*/ 0 h 427"/>
                  <a:gd name="T20" fmla="*/ 1688 w 1688"/>
                  <a:gd name="T21" fmla="*/ 427 h 427"/>
                </a:gdLst>
                <a:ahLst/>
                <a:cxnLst>
                  <a:cxn ang="T12">
                    <a:pos x="T0" y="T1"/>
                  </a:cxn>
                  <a:cxn ang="T13">
                    <a:pos x="T2" y="T3"/>
                  </a:cxn>
                  <a:cxn ang="T14">
                    <a:pos x="T4" y="T5"/>
                  </a:cxn>
                  <a:cxn ang="T15">
                    <a:pos x="T6" y="T7"/>
                  </a:cxn>
                  <a:cxn ang="T16">
                    <a:pos x="T8" y="T9"/>
                  </a:cxn>
                  <a:cxn ang="T17">
                    <a:pos x="T10" y="T11"/>
                  </a:cxn>
                </a:cxnLst>
                <a:rect l="T18" t="T19" r="T20" b="T21"/>
                <a:pathLst>
                  <a:path w="1688" h="427">
                    <a:moveTo>
                      <a:pt x="0" y="425"/>
                    </a:moveTo>
                    <a:cubicBezTo>
                      <a:pt x="76" y="424"/>
                      <a:pt x="320" y="427"/>
                      <a:pt x="456" y="416"/>
                    </a:cubicBezTo>
                    <a:cubicBezTo>
                      <a:pt x="592" y="405"/>
                      <a:pt x="712" y="381"/>
                      <a:pt x="816" y="360"/>
                    </a:cubicBezTo>
                    <a:cubicBezTo>
                      <a:pt x="920" y="339"/>
                      <a:pt x="993" y="316"/>
                      <a:pt x="1080" y="288"/>
                    </a:cubicBezTo>
                    <a:cubicBezTo>
                      <a:pt x="1167" y="260"/>
                      <a:pt x="1235" y="240"/>
                      <a:pt x="1336" y="192"/>
                    </a:cubicBezTo>
                    <a:cubicBezTo>
                      <a:pt x="1437" y="144"/>
                      <a:pt x="1615" y="40"/>
                      <a:pt x="1688" y="0"/>
                    </a:cubicBezTo>
                  </a:path>
                </a:pathLst>
              </a:custGeom>
              <a:noFill/>
              <a:ln w="38100" cmpd="sng">
                <a:solidFill>
                  <a:srgbClr val="000099"/>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91" name="Group 42"/>
              <p:cNvGrpSpPr>
                <a:grpSpLocks/>
              </p:cNvGrpSpPr>
              <p:nvPr/>
            </p:nvGrpSpPr>
            <p:grpSpPr bwMode="auto">
              <a:xfrm flipH="1">
                <a:off x="4837242" y="2877768"/>
                <a:ext cx="632936" cy="98437"/>
                <a:chOff x="521" y="2478"/>
                <a:chExt cx="1044" cy="136"/>
              </a:xfrm>
            </p:grpSpPr>
            <p:sp>
              <p:nvSpPr>
                <p:cNvPr id="92" name="AutoShape 41"/>
                <p:cNvSpPr>
                  <a:spLocks noChangeArrowheads="1"/>
                </p:cNvSpPr>
                <p:nvPr/>
              </p:nvSpPr>
              <p:spPr bwMode="auto">
                <a:xfrm>
                  <a:off x="1383" y="2505"/>
                  <a:ext cx="182" cy="91"/>
                </a:xfrm>
                <a:prstGeom prst="rightArrow">
                  <a:avLst>
                    <a:gd name="adj1" fmla="val 49454"/>
                    <a:gd name="adj2" fmla="val 72528"/>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93" name="Rectangle 39"/>
                <p:cNvSpPr>
                  <a:spLocks noChangeArrowheads="1"/>
                </p:cNvSpPr>
                <p:nvPr/>
              </p:nvSpPr>
              <p:spPr bwMode="auto">
                <a:xfrm>
                  <a:off x="521" y="2478"/>
                  <a:ext cx="635" cy="1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94" name="Rectangle 40"/>
                <p:cNvSpPr>
                  <a:spLocks noChangeArrowheads="1"/>
                </p:cNvSpPr>
                <p:nvPr/>
              </p:nvSpPr>
              <p:spPr bwMode="auto">
                <a:xfrm>
                  <a:off x="1156" y="2478"/>
                  <a:ext cx="227" cy="136"/>
                </a:xfrm>
                <a:prstGeom prst="rect">
                  <a:avLst/>
                </a:prstGeom>
                <a:solidFill>
                  <a:srgbClr val="FF33CC"/>
                </a:solid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grpSp>
          <p:sp>
            <p:nvSpPr>
              <p:cNvPr id="108" name="Text Box 154"/>
              <p:cNvSpPr txBox="1">
                <a:spLocks noChangeArrowheads="1"/>
              </p:cNvSpPr>
              <p:nvPr/>
            </p:nvSpPr>
            <p:spPr bwMode="auto">
              <a:xfrm flipH="1">
                <a:off x="4561998" y="2818274"/>
                <a:ext cx="3674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a:solidFill>
                      <a:srgbClr val="0000FF"/>
                    </a:solidFill>
                    <a:latin typeface="微软雅黑" panose="020B0503020204020204" pitchFamily="34" charset="-122"/>
                    <a:ea typeface="微软雅黑" panose="020B0503020204020204" pitchFamily="34" charset="-122"/>
                    <a:sym typeface="Wingdings" panose="05000000000000000000" pitchFamily="2" charset="2"/>
                  </a:rPr>
                  <a:t></a:t>
                </a:r>
              </a:p>
            </p:txBody>
          </p:sp>
        </p:grpSp>
      </p:grpSp>
      <p:grpSp>
        <p:nvGrpSpPr>
          <p:cNvPr id="5" name="组合 4"/>
          <p:cNvGrpSpPr/>
          <p:nvPr/>
        </p:nvGrpSpPr>
        <p:grpSpPr>
          <a:xfrm>
            <a:off x="1982177" y="2092438"/>
            <a:ext cx="1572866" cy="793444"/>
            <a:chOff x="1982177" y="2092438"/>
            <a:chExt cx="1572866" cy="793444"/>
          </a:xfrm>
        </p:grpSpPr>
        <p:grpSp>
          <p:nvGrpSpPr>
            <p:cNvPr id="72" name="Group 42"/>
            <p:cNvGrpSpPr>
              <a:grpSpLocks/>
            </p:cNvGrpSpPr>
            <p:nvPr/>
          </p:nvGrpSpPr>
          <p:grpSpPr bwMode="auto">
            <a:xfrm>
              <a:off x="2075913" y="2680895"/>
              <a:ext cx="632937" cy="98437"/>
              <a:chOff x="521" y="2478"/>
              <a:chExt cx="1044" cy="136"/>
            </a:xfrm>
          </p:grpSpPr>
          <p:sp>
            <p:nvSpPr>
              <p:cNvPr id="73" name="AutoShape 41"/>
              <p:cNvSpPr>
                <a:spLocks noChangeArrowheads="1"/>
              </p:cNvSpPr>
              <p:nvPr/>
            </p:nvSpPr>
            <p:spPr bwMode="auto">
              <a:xfrm>
                <a:off x="1383" y="2505"/>
                <a:ext cx="182" cy="91"/>
              </a:xfrm>
              <a:prstGeom prst="rightArrow">
                <a:avLst>
                  <a:gd name="adj1" fmla="val 49454"/>
                  <a:gd name="adj2" fmla="val 72528"/>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74" name="Rectangle 39"/>
              <p:cNvSpPr>
                <a:spLocks noChangeArrowheads="1"/>
              </p:cNvSpPr>
              <p:nvPr/>
            </p:nvSpPr>
            <p:spPr bwMode="auto">
              <a:xfrm>
                <a:off x="521" y="2478"/>
                <a:ext cx="635" cy="1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75" name="Rectangle 40"/>
              <p:cNvSpPr>
                <a:spLocks noChangeArrowheads="1"/>
              </p:cNvSpPr>
              <p:nvPr/>
            </p:nvSpPr>
            <p:spPr bwMode="auto">
              <a:xfrm>
                <a:off x="1156" y="2478"/>
                <a:ext cx="227" cy="136"/>
              </a:xfrm>
              <a:prstGeom prst="rect">
                <a:avLst/>
              </a:prstGeom>
              <a:solidFill>
                <a:srgbClr val="00CC00"/>
              </a:solid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grpSp>
        <p:sp>
          <p:nvSpPr>
            <p:cNvPr id="76" name="Text Box 44"/>
            <p:cNvSpPr txBox="1">
              <a:spLocks noChangeArrowheads="1"/>
            </p:cNvSpPr>
            <p:nvPr/>
          </p:nvSpPr>
          <p:spPr bwMode="auto">
            <a:xfrm>
              <a:off x="1982177" y="2092438"/>
              <a:ext cx="1572866" cy="480131"/>
            </a:xfrm>
            <a:prstGeom prst="rect">
              <a:avLst/>
            </a:prstGeom>
            <a:solidFill>
              <a:srgbClr val="66FF66"/>
            </a:solidFill>
            <a:ln w="9525">
              <a:solidFill>
                <a:schemeClr val="tx1"/>
              </a:solidFill>
              <a:miter lim="800000"/>
              <a:headEnd/>
              <a:tailEnd/>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pPr>
              <a:r>
                <a:rPr kumimoji="1" lang="en-US" altLang="zh-CN" sz="1400" b="1" dirty="0">
                  <a:latin typeface="微软雅黑" panose="020B0503020204020204" pitchFamily="34" charset="-122"/>
                  <a:ea typeface="微软雅黑" panose="020B0503020204020204" pitchFamily="34" charset="-122"/>
                </a:rPr>
                <a:t>S = 192.168.0.3</a:t>
              </a:r>
            </a:p>
            <a:p>
              <a:pPr eaLnBrk="1" hangingPunct="1">
                <a:lnSpc>
                  <a:spcPct val="90000"/>
                </a:lnSpc>
              </a:pPr>
              <a:r>
                <a:rPr kumimoji="1" lang="en-US" altLang="zh-CN" sz="1400" b="1" dirty="0">
                  <a:latin typeface="微软雅黑" panose="020B0503020204020204" pitchFamily="34" charset="-122"/>
                  <a:ea typeface="微软雅黑" panose="020B0503020204020204" pitchFamily="34" charset="-122"/>
                </a:rPr>
                <a:t>D = 213.28.2.4</a:t>
              </a:r>
            </a:p>
          </p:txBody>
        </p:sp>
        <p:sp>
          <p:nvSpPr>
            <p:cNvPr id="79" name="Line 51"/>
            <p:cNvSpPr>
              <a:spLocks noChangeShapeType="1"/>
            </p:cNvSpPr>
            <p:nvPr/>
          </p:nvSpPr>
          <p:spPr bwMode="auto">
            <a:xfrm flipH="1">
              <a:off x="2527159" y="2513861"/>
              <a:ext cx="257518" cy="21373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09" name="Text Box 177"/>
            <p:cNvSpPr txBox="1">
              <a:spLocks noChangeArrowheads="1"/>
            </p:cNvSpPr>
            <p:nvPr/>
          </p:nvSpPr>
          <p:spPr bwMode="auto">
            <a:xfrm flipH="1">
              <a:off x="2650503" y="2547328"/>
              <a:ext cx="3674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dirty="0">
                  <a:solidFill>
                    <a:srgbClr val="0000FF"/>
                  </a:solidFill>
                  <a:latin typeface="微软雅黑" panose="020B0503020204020204" pitchFamily="34" charset="-122"/>
                  <a:ea typeface="微软雅黑" panose="020B0503020204020204" pitchFamily="34" charset="-122"/>
                  <a:sym typeface="Wingdings" panose="05000000000000000000" pitchFamily="2" charset="2"/>
                </a:rPr>
                <a:t></a:t>
              </a:r>
            </a:p>
          </p:txBody>
        </p:sp>
      </p:grpSp>
      <p:sp>
        <p:nvSpPr>
          <p:cNvPr id="110" name="椭圆 109"/>
          <p:cNvSpPr/>
          <p:nvPr/>
        </p:nvSpPr>
        <p:spPr>
          <a:xfrm>
            <a:off x="4286752" y="2800966"/>
            <a:ext cx="57078" cy="4867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600" b="1">
              <a:latin typeface="微软雅黑" panose="020B0503020204020204" pitchFamily="34" charset="-122"/>
              <a:ea typeface="微软雅黑" panose="020B0503020204020204" pitchFamily="34" charset="-122"/>
            </a:endParaRPr>
          </a:p>
        </p:txBody>
      </p:sp>
      <p:sp>
        <p:nvSpPr>
          <p:cNvPr id="112" name="Line 53"/>
          <p:cNvSpPr>
            <a:spLocks noChangeShapeType="1"/>
          </p:cNvSpPr>
          <p:nvPr/>
        </p:nvSpPr>
        <p:spPr bwMode="auto">
          <a:xfrm flipH="1">
            <a:off x="4247430" y="2828009"/>
            <a:ext cx="72301" cy="506154"/>
          </a:xfrm>
          <a:prstGeom prst="line">
            <a:avLst/>
          </a:prstGeom>
          <a:noFill/>
          <a:ln w="9525">
            <a:solidFill>
              <a:schemeClr val="tx1"/>
            </a:solidFill>
            <a:round/>
            <a:headEnd type="triangle" w="sm" len="lg"/>
            <a:tailEnd type="none" w="sm" len="lg"/>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6" name="组合 5"/>
          <p:cNvGrpSpPr/>
          <p:nvPr/>
        </p:nvGrpSpPr>
        <p:grpSpPr>
          <a:xfrm>
            <a:off x="3721797" y="1084897"/>
            <a:ext cx="2259040" cy="1670637"/>
            <a:chOff x="3613161" y="1084897"/>
            <a:chExt cx="2259040" cy="1670637"/>
          </a:xfrm>
        </p:grpSpPr>
        <p:sp>
          <p:nvSpPr>
            <p:cNvPr id="111" name="Text Box 76"/>
            <p:cNvSpPr txBox="1">
              <a:spLocks noChangeArrowheads="1"/>
            </p:cNvSpPr>
            <p:nvPr/>
          </p:nvSpPr>
          <p:spPr bwMode="auto">
            <a:xfrm>
              <a:off x="3613161" y="1084897"/>
              <a:ext cx="2259040" cy="987963"/>
            </a:xfrm>
            <a:prstGeom prst="rect">
              <a:avLst/>
            </a:prstGeom>
            <a:solidFill>
              <a:srgbClr val="FFFFFF"/>
            </a:solidFill>
            <a:ln w="9525">
              <a:solidFill>
                <a:schemeClr val="tx1"/>
              </a:solidFill>
              <a:miter lim="800000"/>
              <a:headEnd/>
              <a:tailEnd/>
            </a:ln>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spcBef>
                  <a:spcPts val="600"/>
                </a:spcBef>
              </a:pPr>
              <a:r>
                <a:rPr kumimoji="1" lang="en-US" altLang="zh-CN" sz="1200" b="1" dirty="0">
                  <a:latin typeface="微软雅黑" panose="020B0503020204020204" pitchFamily="34" charset="-122"/>
                  <a:ea typeface="微软雅黑" panose="020B0503020204020204" pitchFamily="34" charset="-122"/>
                </a:rPr>
                <a:t>NAT </a:t>
              </a:r>
              <a:r>
                <a:rPr kumimoji="1" lang="zh-CN" altLang="en-US" sz="1200" b="1" dirty="0">
                  <a:latin typeface="微软雅黑" panose="020B0503020204020204" pitchFamily="34" charset="-122"/>
                  <a:ea typeface="微软雅黑" panose="020B0503020204020204" pitchFamily="34" charset="-122"/>
                </a:rPr>
                <a:t>转换表</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ct val="90000"/>
                </a:lnSpc>
                <a:spcBef>
                  <a:spcPts val="600"/>
                </a:spcBef>
              </a:pPr>
              <a:r>
                <a:rPr kumimoji="1" lang="zh-CN" altLang="en-US" sz="1200" b="1" dirty="0">
                  <a:latin typeface="微软雅黑" panose="020B0503020204020204" pitchFamily="34" charset="-122"/>
                  <a:ea typeface="微软雅黑" panose="020B0503020204020204" pitchFamily="34" charset="-122"/>
                </a:rPr>
                <a:t>专用网地址         全球 </a:t>
              </a:r>
              <a:r>
                <a:rPr kumimoji="1" lang="en-US" altLang="zh-CN" sz="1200" b="1" dirty="0">
                  <a:latin typeface="微软雅黑" panose="020B0503020204020204" pitchFamily="34" charset="-122"/>
                  <a:ea typeface="微软雅黑" panose="020B0503020204020204" pitchFamily="34" charset="-122"/>
                </a:rPr>
                <a:t>IP </a:t>
              </a:r>
              <a:r>
                <a:rPr kumimoji="1" lang="zh-CN" altLang="en-US" sz="1200" b="1" dirty="0">
                  <a:latin typeface="微软雅黑" panose="020B0503020204020204" pitchFamily="34" charset="-122"/>
                  <a:ea typeface="微软雅黑" panose="020B0503020204020204" pitchFamily="34" charset="-122"/>
                </a:rPr>
                <a:t>地址      </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ct val="90000"/>
                </a:lnSpc>
                <a:spcBef>
                  <a:spcPts val="600"/>
                </a:spcBef>
              </a:pPr>
              <a:r>
                <a:rPr kumimoji="1" lang="en-US" altLang="zh-CN" sz="1200" b="1" dirty="0">
                  <a:solidFill>
                    <a:srgbClr val="0000FF"/>
                  </a:solidFill>
                  <a:latin typeface="微软雅黑" panose="020B0503020204020204" pitchFamily="34" charset="-122"/>
                  <a:ea typeface="微软雅黑" panose="020B0503020204020204" pitchFamily="34" charset="-122"/>
                </a:rPr>
                <a:t>192.168.0.3      172.38.1.5  </a:t>
              </a:r>
            </a:p>
            <a:p>
              <a:pPr eaLnBrk="1" hangingPunct="1">
                <a:lnSpc>
                  <a:spcPct val="90000"/>
                </a:lnSpc>
                <a:spcBef>
                  <a:spcPts val="600"/>
                </a:spcBef>
              </a:pPr>
              <a:r>
                <a:rPr kumimoji="1" lang="en-US" altLang="zh-CN" sz="1200" b="1" dirty="0">
                  <a:latin typeface="微软雅黑" panose="020B0503020204020204" pitchFamily="34" charset="-122"/>
                  <a:ea typeface="微软雅黑" panose="020B0503020204020204" pitchFamily="34" charset="-122"/>
                </a:rPr>
                <a:t>       …                    …</a:t>
              </a:r>
            </a:p>
          </p:txBody>
        </p:sp>
        <p:cxnSp>
          <p:nvCxnSpPr>
            <p:cNvPr id="113" name="直接连接符 112"/>
            <p:cNvCxnSpPr/>
            <p:nvPr/>
          </p:nvCxnSpPr>
          <p:spPr>
            <a:xfrm>
              <a:off x="3613161" y="1329708"/>
              <a:ext cx="225904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直接连接符 113"/>
            <p:cNvCxnSpPr/>
            <p:nvPr/>
          </p:nvCxnSpPr>
          <p:spPr>
            <a:xfrm>
              <a:off x="3613161" y="1560773"/>
              <a:ext cx="225904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直接连接符 114"/>
            <p:cNvCxnSpPr>
              <a:endCxn id="111" idx="2"/>
            </p:cNvCxnSpPr>
            <p:nvPr/>
          </p:nvCxnSpPr>
          <p:spPr>
            <a:xfrm>
              <a:off x="4742681" y="1329708"/>
              <a:ext cx="0" cy="74315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直接连接符 115"/>
            <p:cNvCxnSpPr>
              <a:stCxn id="111" idx="2"/>
              <a:endCxn id="63" idx="0"/>
            </p:cNvCxnSpPr>
            <p:nvPr/>
          </p:nvCxnSpPr>
          <p:spPr>
            <a:xfrm flipH="1">
              <a:off x="4067318" y="2072860"/>
              <a:ext cx="675363" cy="6826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7" name="Text Box 52"/>
          <p:cNvSpPr txBox="1">
            <a:spLocks noChangeArrowheads="1"/>
          </p:cNvSpPr>
          <p:nvPr/>
        </p:nvSpPr>
        <p:spPr bwMode="auto">
          <a:xfrm>
            <a:off x="7679242" y="2190875"/>
            <a:ext cx="325731"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en-US" altLang="zh-CN" sz="1600" b="1">
                <a:solidFill>
                  <a:srgbClr val="0000FF"/>
                </a:solidFill>
                <a:latin typeface="微软雅黑" panose="020B0503020204020204" pitchFamily="34" charset="-122"/>
                <a:ea typeface="微软雅黑" panose="020B0503020204020204" pitchFamily="34" charset="-122"/>
              </a:rPr>
              <a:t>B</a:t>
            </a:r>
          </a:p>
        </p:txBody>
      </p:sp>
      <p:grpSp>
        <p:nvGrpSpPr>
          <p:cNvPr id="8" name="组合 7"/>
          <p:cNvGrpSpPr/>
          <p:nvPr/>
        </p:nvGrpSpPr>
        <p:grpSpPr>
          <a:xfrm>
            <a:off x="4606392" y="2117035"/>
            <a:ext cx="2878021" cy="786953"/>
            <a:chOff x="4606392" y="2117035"/>
            <a:chExt cx="2878021" cy="786953"/>
          </a:xfrm>
        </p:grpSpPr>
        <p:sp>
          <p:nvSpPr>
            <p:cNvPr id="107" name="Text Box 141"/>
            <p:cNvSpPr txBox="1">
              <a:spLocks noChangeArrowheads="1"/>
            </p:cNvSpPr>
            <p:nvPr/>
          </p:nvSpPr>
          <p:spPr bwMode="auto">
            <a:xfrm flipH="1">
              <a:off x="5198738" y="2565434"/>
              <a:ext cx="3674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dirty="0">
                  <a:solidFill>
                    <a:srgbClr val="0000FF"/>
                  </a:solidFill>
                  <a:latin typeface="微软雅黑" panose="020B0503020204020204" pitchFamily="34" charset="-122"/>
                  <a:ea typeface="微软雅黑" panose="020B0503020204020204" pitchFamily="34" charset="-122"/>
                  <a:sym typeface="Wingdings" panose="05000000000000000000" pitchFamily="2" charset="2"/>
                </a:rPr>
                <a:t></a:t>
              </a:r>
            </a:p>
          </p:txBody>
        </p:sp>
        <p:grpSp>
          <p:nvGrpSpPr>
            <p:cNvPr id="7" name="组合 6"/>
            <p:cNvGrpSpPr/>
            <p:nvPr/>
          </p:nvGrpSpPr>
          <p:grpSpPr>
            <a:xfrm>
              <a:off x="4606392" y="2117035"/>
              <a:ext cx="2878021" cy="662297"/>
              <a:chOff x="4606392" y="2117035"/>
              <a:chExt cx="2878021" cy="662297"/>
            </a:xfrm>
          </p:grpSpPr>
          <p:sp>
            <p:nvSpPr>
              <p:cNvPr id="78" name="Text Box 50"/>
              <p:cNvSpPr txBox="1">
                <a:spLocks noChangeArrowheads="1"/>
              </p:cNvSpPr>
              <p:nvPr/>
            </p:nvSpPr>
            <p:spPr bwMode="auto">
              <a:xfrm>
                <a:off x="4956375" y="2117035"/>
                <a:ext cx="1497526" cy="480131"/>
              </a:xfrm>
              <a:prstGeom prst="rect">
                <a:avLst/>
              </a:prstGeom>
              <a:solidFill>
                <a:srgbClr val="FF66FF"/>
              </a:solidFill>
              <a:ln w="9525">
                <a:solidFill>
                  <a:schemeClr val="tx1"/>
                </a:solidFill>
                <a:miter lim="800000"/>
                <a:headEnd/>
                <a:tailEnd/>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pPr>
                <a:r>
                  <a:rPr kumimoji="1" lang="en-US" altLang="zh-CN" sz="1400" b="1" dirty="0">
                    <a:latin typeface="微软雅黑" panose="020B0503020204020204" pitchFamily="34" charset="-122"/>
                    <a:ea typeface="微软雅黑" panose="020B0503020204020204" pitchFamily="34" charset="-122"/>
                  </a:rPr>
                  <a:t>S = </a:t>
                </a:r>
                <a:r>
                  <a:rPr kumimoji="1" lang="en-US" altLang="zh-CN" sz="1400" b="1" dirty="0">
                    <a:solidFill>
                      <a:srgbClr val="0000FF"/>
                    </a:solidFill>
                    <a:latin typeface="微软雅黑" panose="020B0503020204020204" pitchFamily="34" charset="-122"/>
                    <a:ea typeface="微软雅黑" panose="020B0503020204020204" pitchFamily="34" charset="-122"/>
                  </a:rPr>
                  <a:t>172.38.1.5</a:t>
                </a:r>
              </a:p>
              <a:p>
                <a:pPr eaLnBrk="1" hangingPunct="1">
                  <a:lnSpc>
                    <a:spcPct val="90000"/>
                  </a:lnSpc>
                </a:pPr>
                <a:r>
                  <a:rPr kumimoji="1" lang="en-US" altLang="zh-CN" sz="1400" b="1" dirty="0">
                    <a:latin typeface="微软雅黑" panose="020B0503020204020204" pitchFamily="34" charset="-122"/>
                    <a:ea typeface="微软雅黑" panose="020B0503020204020204" pitchFamily="34" charset="-122"/>
                  </a:rPr>
                  <a:t>D = 213.18.2.4</a:t>
                </a:r>
              </a:p>
            </p:txBody>
          </p:sp>
          <p:sp>
            <p:nvSpPr>
              <p:cNvPr id="82" name="Freeform 54"/>
              <p:cNvSpPr>
                <a:spLocks/>
              </p:cNvSpPr>
              <p:nvPr/>
            </p:nvSpPr>
            <p:spPr bwMode="auto">
              <a:xfrm>
                <a:off x="5485264" y="2288230"/>
                <a:ext cx="1999149" cy="446751"/>
              </a:xfrm>
              <a:custGeom>
                <a:avLst/>
                <a:gdLst>
                  <a:gd name="T0" fmla="*/ 0 w 1679"/>
                  <a:gd name="T1" fmla="*/ 2147483647 h 413"/>
                  <a:gd name="T2" fmla="*/ 2147483647 w 1679"/>
                  <a:gd name="T3" fmla="*/ 2147483647 h 413"/>
                  <a:gd name="T4" fmla="*/ 2147483647 w 1679"/>
                  <a:gd name="T5" fmla="*/ 2147483647 h 413"/>
                  <a:gd name="T6" fmla="*/ 2147483647 w 1679"/>
                  <a:gd name="T7" fmla="*/ 2147483647 h 413"/>
                  <a:gd name="T8" fmla="*/ 2147483647 w 1679"/>
                  <a:gd name="T9" fmla="*/ 2147483647 h 413"/>
                  <a:gd name="T10" fmla="*/ 2147483647 w 1679"/>
                  <a:gd name="T11" fmla="*/ 0 h 413"/>
                  <a:gd name="T12" fmla="*/ 0 60000 65536"/>
                  <a:gd name="T13" fmla="*/ 0 60000 65536"/>
                  <a:gd name="T14" fmla="*/ 0 60000 65536"/>
                  <a:gd name="T15" fmla="*/ 0 60000 65536"/>
                  <a:gd name="T16" fmla="*/ 0 60000 65536"/>
                  <a:gd name="T17" fmla="*/ 0 60000 65536"/>
                  <a:gd name="T18" fmla="*/ 0 w 1679"/>
                  <a:gd name="T19" fmla="*/ 0 h 413"/>
                  <a:gd name="T20" fmla="*/ 1679 w 1679"/>
                  <a:gd name="T21" fmla="*/ 413 h 413"/>
                </a:gdLst>
                <a:ahLst/>
                <a:cxnLst>
                  <a:cxn ang="T12">
                    <a:pos x="T0" y="T1"/>
                  </a:cxn>
                  <a:cxn ang="T13">
                    <a:pos x="T2" y="T3"/>
                  </a:cxn>
                  <a:cxn ang="T14">
                    <a:pos x="T4" y="T5"/>
                  </a:cxn>
                  <a:cxn ang="T15">
                    <a:pos x="T6" y="T7"/>
                  </a:cxn>
                  <a:cxn ang="T16">
                    <a:pos x="T8" y="T9"/>
                  </a:cxn>
                  <a:cxn ang="T17">
                    <a:pos x="T10" y="T11"/>
                  </a:cxn>
                </a:cxnLst>
                <a:rect l="T18" t="T19" r="T20" b="T21"/>
                <a:pathLst>
                  <a:path w="1679" h="413">
                    <a:moveTo>
                      <a:pt x="0" y="409"/>
                    </a:moveTo>
                    <a:cubicBezTo>
                      <a:pt x="79" y="408"/>
                      <a:pt x="335" y="413"/>
                      <a:pt x="475" y="401"/>
                    </a:cubicBezTo>
                    <a:cubicBezTo>
                      <a:pt x="615" y="389"/>
                      <a:pt x="731" y="364"/>
                      <a:pt x="843" y="337"/>
                    </a:cubicBezTo>
                    <a:cubicBezTo>
                      <a:pt x="955" y="310"/>
                      <a:pt x="1056" y="273"/>
                      <a:pt x="1147" y="241"/>
                    </a:cubicBezTo>
                    <a:cubicBezTo>
                      <a:pt x="1238" y="209"/>
                      <a:pt x="1298" y="185"/>
                      <a:pt x="1387" y="145"/>
                    </a:cubicBezTo>
                    <a:cubicBezTo>
                      <a:pt x="1476" y="105"/>
                      <a:pt x="1618" y="30"/>
                      <a:pt x="1679" y="0"/>
                    </a:cubicBezTo>
                  </a:path>
                </a:pathLst>
              </a:custGeom>
              <a:noFill/>
              <a:ln w="38100" cmpd="sng">
                <a:solidFill>
                  <a:srgbClr val="990099"/>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95" name="Group 42"/>
              <p:cNvGrpSpPr>
                <a:grpSpLocks/>
              </p:cNvGrpSpPr>
              <p:nvPr/>
            </p:nvGrpSpPr>
            <p:grpSpPr bwMode="auto">
              <a:xfrm>
                <a:off x="4606392" y="2680895"/>
                <a:ext cx="631668" cy="98437"/>
                <a:chOff x="521" y="2478"/>
                <a:chExt cx="1044" cy="136"/>
              </a:xfrm>
            </p:grpSpPr>
            <p:sp>
              <p:nvSpPr>
                <p:cNvPr id="96" name="AutoShape 41"/>
                <p:cNvSpPr>
                  <a:spLocks noChangeArrowheads="1"/>
                </p:cNvSpPr>
                <p:nvPr/>
              </p:nvSpPr>
              <p:spPr bwMode="auto">
                <a:xfrm>
                  <a:off x="1383" y="2505"/>
                  <a:ext cx="182" cy="91"/>
                </a:xfrm>
                <a:prstGeom prst="rightArrow">
                  <a:avLst>
                    <a:gd name="adj1" fmla="val 49454"/>
                    <a:gd name="adj2" fmla="val 72528"/>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97" name="Rectangle 39"/>
                <p:cNvSpPr>
                  <a:spLocks noChangeArrowheads="1"/>
                </p:cNvSpPr>
                <p:nvPr/>
              </p:nvSpPr>
              <p:spPr bwMode="auto">
                <a:xfrm>
                  <a:off x="521" y="2478"/>
                  <a:ext cx="635" cy="136"/>
                </a:xfrm>
                <a:prstGeom prst="rect">
                  <a:avLst/>
                </a:prstGeom>
                <a:solidFill>
                  <a:schemeClr val="bg1"/>
                </a:solid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98" name="Rectangle 40"/>
                <p:cNvSpPr>
                  <a:spLocks noChangeArrowheads="1"/>
                </p:cNvSpPr>
                <p:nvPr/>
              </p:nvSpPr>
              <p:spPr bwMode="auto">
                <a:xfrm>
                  <a:off x="1156" y="2478"/>
                  <a:ext cx="227" cy="136"/>
                </a:xfrm>
                <a:prstGeom prst="rect">
                  <a:avLst/>
                </a:prstGeom>
                <a:solidFill>
                  <a:srgbClr val="FF33CC"/>
                </a:solid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grpSp>
          <p:sp>
            <p:nvSpPr>
              <p:cNvPr id="81" name="Line 53"/>
              <p:cNvSpPr>
                <a:spLocks noChangeShapeType="1"/>
              </p:cNvSpPr>
              <p:nvPr/>
            </p:nvSpPr>
            <p:spPr bwMode="auto">
              <a:xfrm flipH="1">
                <a:off x="5048718" y="2533779"/>
                <a:ext cx="229500" cy="1878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291421223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10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left)">
                                      <p:cBhvr>
                                        <p:cTn id="12" dur="10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wipe(left)">
                                      <p:cBhvr>
                                        <p:cTn id="17" dur="10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2" fill="hold"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wipe(right)">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2" fill="hold"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wipe(right)">
                                      <p:cBhvr>
                                        <p:cTn id="27" dur="1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5" y="975815"/>
            <a:ext cx="7919845" cy="1631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在内部主机与外部主机通信时，在 </a:t>
            </a:r>
            <a:r>
              <a:rPr lang="en-US" altLang="zh-CN" sz="2000" b="1" dirty="0">
                <a:latin typeface="微软雅黑" pitchFamily="34" charset="-122"/>
                <a:ea typeface="微软雅黑" pitchFamily="34" charset="-122"/>
              </a:rPr>
              <a:t>NAT </a:t>
            </a:r>
            <a:r>
              <a:rPr lang="zh-CN" altLang="en-US" sz="2000" b="1" dirty="0">
                <a:latin typeface="微软雅黑" pitchFamily="34" charset="-122"/>
                <a:ea typeface="微软雅黑" pitchFamily="34" charset="-122"/>
              </a:rPr>
              <a:t>路由器上发生了</a:t>
            </a:r>
            <a:r>
              <a:rPr lang="zh-CN" altLang="en-US" sz="2000" b="1" dirty="0">
                <a:solidFill>
                  <a:srgbClr val="0000FF"/>
                </a:solidFill>
                <a:latin typeface="微软雅黑" pitchFamily="34" charset="-122"/>
                <a:ea typeface="微软雅黑" pitchFamily="34" charset="-122"/>
              </a:rPr>
              <a:t>两次</a:t>
            </a:r>
            <a:r>
              <a:rPr lang="zh-CN" altLang="en-US" sz="2000" b="1" dirty="0">
                <a:latin typeface="微软雅黑" pitchFamily="34" charset="-122"/>
                <a:ea typeface="微软雅黑" pitchFamily="34" charset="-122"/>
              </a:rPr>
              <a:t>地址转换：</a:t>
            </a:r>
          </a:p>
          <a:p>
            <a:pPr marL="342900" indent="-342900">
              <a:lnSpc>
                <a:spcPts val="3000"/>
              </a:lnSpc>
              <a:buClr>
                <a:srgbClr val="990099"/>
              </a:buClr>
              <a:buFont typeface="+mj-lt"/>
              <a:buAutoNum type="arabicPeriod"/>
            </a:pPr>
            <a:r>
              <a:rPr lang="zh-CN" altLang="en-US" sz="2000" b="1" dirty="0">
                <a:solidFill>
                  <a:srgbClr val="0000FF"/>
                </a:solidFill>
                <a:latin typeface="微软雅黑" pitchFamily="34" charset="-122"/>
                <a:ea typeface="微软雅黑" pitchFamily="34" charset="-122"/>
              </a:rPr>
              <a:t>离开</a:t>
            </a:r>
            <a:r>
              <a:rPr lang="zh-CN" altLang="en-US" sz="2000" b="1" dirty="0">
                <a:latin typeface="微软雅黑" pitchFamily="34" charset="-122"/>
                <a:ea typeface="微软雅黑" pitchFamily="34" charset="-122"/>
              </a:rPr>
              <a:t>专用网时：替换</a:t>
            </a:r>
            <a:r>
              <a:rPr lang="zh-CN" altLang="en-US" sz="2000" b="1" dirty="0">
                <a:solidFill>
                  <a:srgbClr val="C00000"/>
                </a:solidFill>
                <a:latin typeface="微软雅黑" pitchFamily="34" charset="-122"/>
                <a:ea typeface="微软雅黑" pitchFamily="34" charset="-122"/>
              </a:rPr>
              <a:t>源地址，</a:t>
            </a:r>
            <a:r>
              <a:rPr lang="zh-CN" altLang="en-US" sz="2000" b="1" dirty="0">
                <a:latin typeface="微软雅黑" pitchFamily="34" charset="-122"/>
                <a:ea typeface="微软雅黑" pitchFamily="34" charset="-122"/>
              </a:rPr>
              <a:t>将内部地址替换为全球地址。</a:t>
            </a:r>
          </a:p>
          <a:p>
            <a:pPr marL="342900" indent="-342900">
              <a:lnSpc>
                <a:spcPts val="3000"/>
              </a:lnSpc>
              <a:buClr>
                <a:srgbClr val="990099"/>
              </a:buClr>
              <a:buFont typeface="+mj-lt"/>
              <a:buAutoNum type="arabicPeriod"/>
            </a:pPr>
            <a:r>
              <a:rPr lang="zh-CN" altLang="en-US" sz="2000" b="1" dirty="0">
                <a:solidFill>
                  <a:srgbClr val="0000FF"/>
                </a:solidFill>
                <a:latin typeface="微软雅黑" pitchFamily="34" charset="-122"/>
                <a:ea typeface="微软雅黑" pitchFamily="34" charset="-122"/>
              </a:rPr>
              <a:t>进入</a:t>
            </a:r>
            <a:r>
              <a:rPr lang="zh-CN" altLang="en-US" sz="2000" b="1" dirty="0">
                <a:latin typeface="微软雅黑" pitchFamily="34" charset="-122"/>
                <a:ea typeface="微软雅黑" pitchFamily="34" charset="-122"/>
              </a:rPr>
              <a:t>专用网时：替换</a:t>
            </a:r>
            <a:r>
              <a:rPr lang="zh-CN" altLang="en-US" sz="2000" b="1" dirty="0">
                <a:solidFill>
                  <a:srgbClr val="C00000"/>
                </a:solidFill>
                <a:latin typeface="微软雅黑" pitchFamily="34" charset="-122"/>
                <a:ea typeface="微软雅黑" pitchFamily="34" charset="-122"/>
              </a:rPr>
              <a:t>目的地址，</a:t>
            </a:r>
            <a:r>
              <a:rPr lang="zh-CN" altLang="en-US" sz="2000" b="1" dirty="0">
                <a:latin typeface="微软雅黑" pitchFamily="34" charset="-122"/>
                <a:ea typeface="微软雅黑" pitchFamily="34" charset="-122"/>
              </a:rPr>
              <a:t>将全球地址替换为内部地址。</a:t>
            </a:r>
          </a:p>
        </p:txBody>
      </p:sp>
      <p:sp>
        <p:nvSpPr>
          <p:cNvPr id="3" name="AutoShape 5"/>
          <p:cNvSpPr>
            <a:spLocks noChangeArrowheads="1"/>
          </p:cNvSpPr>
          <p:nvPr/>
        </p:nvSpPr>
        <p:spPr bwMode="auto">
          <a:xfrm>
            <a:off x="545145" y="623958"/>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90747"/>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网络地址转换的过程</a:t>
            </a:r>
          </a:p>
        </p:txBody>
      </p:sp>
      <p:sp>
        <p:nvSpPr>
          <p:cNvPr id="5" name="矩形 4"/>
          <p:cNvSpPr/>
          <p:nvPr/>
        </p:nvSpPr>
        <p:spPr>
          <a:xfrm>
            <a:off x="3510396" y="2664856"/>
            <a:ext cx="2123210" cy="338554"/>
          </a:xfrm>
          <a:prstGeom prst="rect">
            <a:avLst/>
          </a:prstGeom>
        </p:spPr>
        <p:txBody>
          <a:bodyPr wrap="none">
            <a:spAutoFit/>
          </a:bodyPr>
          <a:lstStyle/>
          <a:p>
            <a:pPr algn="ctr"/>
            <a:r>
              <a:rPr lang="en-US" altLang="zh-CN" sz="1600" b="1" dirty="0">
                <a:latin typeface="微软雅黑" pitchFamily="34" charset="-122"/>
                <a:ea typeface="微软雅黑" pitchFamily="34" charset="-122"/>
              </a:rPr>
              <a:t>NAT </a:t>
            </a:r>
            <a:r>
              <a:rPr lang="zh-CN" altLang="zh-CN" sz="1600" b="1" dirty="0">
                <a:latin typeface="微软雅黑" pitchFamily="34" charset="-122"/>
                <a:ea typeface="微软雅黑" pitchFamily="34" charset="-122"/>
              </a:rPr>
              <a:t>地址转换表举例</a:t>
            </a:r>
            <a:endParaRPr lang="zh-CN" altLang="en-US" sz="1600" b="1" dirty="0">
              <a:latin typeface="微软雅黑" pitchFamily="34" charset="-122"/>
              <a:ea typeface="微软雅黑" pitchFamily="34" charset="-122"/>
            </a:endParaRPr>
          </a:p>
        </p:txBody>
      </p:sp>
      <p:graphicFrame>
        <p:nvGraphicFramePr>
          <p:cNvPr id="6" name="表格 5"/>
          <p:cNvGraphicFramePr>
            <a:graphicFrameLocks noGrp="1"/>
          </p:cNvGraphicFramePr>
          <p:nvPr>
            <p:extLst>
              <p:ext uri="{D42A27DB-BD31-4B8C-83A1-F6EECF244321}">
                <p14:modId xmlns:p14="http://schemas.microsoft.com/office/powerpoint/2010/main" val="3619810700"/>
              </p:ext>
            </p:extLst>
          </p:nvPr>
        </p:nvGraphicFramePr>
        <p:xfrm>
          <a:off x="545145" y="2992955"/>
          <a:ext cx="8053710" cy="887721"/>
        </p:xfrm>
        <a:graphic>
          <a:graphicData uri="http://schemas.openxmlformats.org/drawingml/2006/table">
            <a:tbl>
              <a:tblPr firstRow="1" firstCol="1" lastRow="1" lastCol="1" bandRow="1" bandCol="1">
                <a:tableStyleId>{5C22544A-7EE6-4342-B048-85BDC9FD1C3A}</a:tableStyleId>
              </a:tblPr>
              <a:tblGrid>
                <a:gridCol w="1671524">
                  <a:extLst>
                    <a:ext uri="{9D8B030D-6E8A-4147-A177-3AD203B41FA5}">
                      <a16:colId xmlns:a16="http://schemas.microsoft.com/office/drawing/2014/main" val="20000"/>
                    </a:ext>
                  </a:extLst>
                </a:gridCol>
                <a:gridCol w="2412495">
                  <a:extLst>
                    <a:ext uri="{9D8B030D-6E8A-4147-A177-3AD203B41FA5}">
                      <a16:colId xmlns:a16="http://schemas.microsoft.com/office/drawing/2014/main" val="20001"/>
                    </a:ext>
                  </a:extLst>
                </a:gridCol>
                <a:gridCol w="1994252">
                  <a:extLst>
                    <a:ext uri="{9D8B030D-6E8A-4147-A177-3AD203B41FA5}">
                      <a16:colId xmlns:a16="http://schemas.microsoft.com/office/drawing/2014/main" val="20002"/>
                    </a:ext>
                  </a:extLst>
                </a:gridCol>
                <a:gridCol w="1975439">
                  <a:extLst>
                    <a:ext uri="{9D8B030D-6E8A-4147-A177-3AD203B41FA5}">
                      <a16:colId xmlns:a16="http://schemas.microsoft.com/office/drawing/2014/main" val="20003"/>
                    </a:ext>
                  </a:extLst>
                </a:gridCol>
              </a:tblGrid>
              <a:tr h="295907">
                <a:tc>
                  <a:txBody>
                    <a:bodyPr/>
                    <a:lstStyle/>
                    <a:p>
                      <a:pPr algn="ctr">
                        <a:lnSpc>
                          <a:spcPct val="100000"/>
                        </a:lnSpc>
                        <a:spcAft>
                          <a:spcPts val="0"/>
                        </a:spcAft>
                        <a:tabLst>
                          <a:tab pos="3886200" algn="l"/>
                        </a:tabLst>
                      </a:pPr>
                      <a:r>
                        <a:rPr lang="zh-CN" sz="1400" b="1" dirty="0">
                          <a:solidFill>
                            <a:schemeClr val="bg1"/>
                          </a:solidFill>
                          <a:effectLst/>
                          <a:latin typeface="微软雅黑" pitchFamily="34" charset="-122"/>
                          <a:ea typeface="微软雅黑" pitchFamily="34" charset="-122"/>
                        </a:rPr>
                        <a:t>方向</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9900"/>
                    </a:solidFill>
                  </a:tcPr>
                </a:tc>
                <a:tc>
                  <a:txBody>
                    <a:bodyPr/>
                    <a:lstStyle/>
                    <a:p>
                      <a:pPr algn="ctr">
                        <a:lnSpc>
                          <a:spcPct val="100000"/>
                        </a:lnSpc>
                        <a:spcAft>
                          <a:spcPts val="0"/>
                        </a:spcAft>
                        <a:tabLst>
                          <a:tab pos="3886200" algn="l"/>
                        </a:tabLst>
                      </a:pPr>
                      <a:r>
                        <a:rPr lang="zh-CN" sz="1400" b="1" dirty="0">
                          <a:solidFill>
                            <a:schemeClr val="bg1"/>
                          </a:solidFill>
                          <a:effectLst/>
                          <a:latin typeface="微软雅黑" pitchFamily="34" charset="-122"/>
                          <a:ea typeface="微软雅黑" pitchFamily="34" charset="-122"/>
                        </a:rPr>
                        <a:t>字段</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9900"/>
                    </a:solidFill>
                  </a:tcPr>
                </a:tc>
                <a:tc>
                  <a:txBody>
                    <a:bodyPr/>
                    <a:lstStyle/>
                    <a:p>
                      <a:pPr algn="ctr">
                        <a:lnSpc>
                          <a:spcPct val="100000"/>
                        </a:lnSpc>
                        <a:spcAft>
                          <a:spcPts val="0"/>
                        </a:spcAft>
                        <a:tabLst>
                          <a:tab pos="3886200" algn="l"/>
                        </a:tabLst>
                      </a:pPr>
                      <a:r>
                        <a:rPr lang="zh-CN" sz="1400" b="1" dirty="0">
                          <a:solidFill>
                            <a:schemeClr val="bg1"/>
                          </a:solidFill>
                          <a:effectLst/>
                          <a:latin typeface="微软雅黑" pitchFamily="34" charset="-122"/>
                          <a:ea typeface="微软雅黑" pitchFamily="34" charset="-122"/>
                        </a:rPr>
                        <a:t>旧的</a:t>
                      </a:r>
                      <a:r>
                        <a:rPr lang="en-US" altLang="zh-CN" sz="1400" b="1" dirty="0">
                          <a:solidFill>
                            <a:schemeClr val="bg1"/>
                          </a:solidFill>
                          <a:effectLst/>
                          <a:latin typeface="微软雅黑" pitchFamily="34" charset="-122"/>
                          <a:ea typeface="微软雅黑" pitchFamily="34" charset="-122"/>
                        </a:rPr>
                        <a:t> </a:t>
                      </a:r>
                      <a:r>
                        <a:rPr lang="en-US" sz="1400" b="1" dirty="0">
                          <a:solidFill>
                            <a:schemeClr val="bg1"/>
                          </a:solidFill>
                          <a:effectLst/>
                          <a:latin typeface="微软雅黑" pitchFamily="34" charset="-122"/>
                          <a:ea typeface="微软雅黑" pitchFamily="34" charset="-122"/>
                        </a:rPr>
                        <a:t>IP </a:t>
                      </a:r>
                      <a:r>
                        <a:rPr lang="zh-CN" sz="1400" b="1" dirty="0">
                          <a:solidFill>
                            <a:schemeClr val="bg1"/>
                          </a:solidFill>
                          <a:effectLst/>
                          <a:latin typeface="微软雅黑" pitchFamily="34" charset="-122"/>
                          <a:ea typeface="微软雅黑" pitchFamily="34" charset="-122"/>
                        </a:rPr>
                        <a:t>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9900"/>
                    </a:solidFill>
                  </a:tcPr>
                </a:tc>
                <a:tc>
                  <a:txBody>
                    <a:bodyPr/>
                    <a:lstStyle/>
                    <a:p>
                      <a:pPr algn="ctr">
                        <a:lnSpc>
                          <a:spcPct val="100000"/>
                        </a:lnSpc>
                        <a:spcAft>
                          <a:spcPts val="0"/>
                        </a:spcAft>
                        <a:tabLst>
                          <a:tab pos="3886200" algn="l"/>
                        </a:tabLst>
                      </a:pPr>
                      <a:r>
                        <a:rPr lang="zh-CN" sz="1400" b="1" dirty="0">
                          <a:solidFill>
                            <a:schemeClr val="bg1"/>
                          </a:solidFill>
                          <a:effectLst/>
                          <a:latin typeface="微软雅黑" pitchFamily="34" charset="-122"/>
                          <a:ea typeface="微软雅黑" pitchFamily="34" charset="-122"/>
                        </a:rPr>
                        <a:t>新的</a:t>
                      </a:r>
                      <a:r>
                        <a:rPr lang="en-US" altLang="zh-CN" sz="1400" b="1" dirty="0">
                          <a:solidFill>
                            <a:schemeClr val="bg1"/>
                          </a:solidFill>
                          <a:effectLst/>
                          <a:latin typeface="微软雅黑" pitchFamily="34" charset="-122"/>
                          <a:ea typeface="微软雅黑" pitchFamily="34" charset="-122"/>
                        </a:rPr>
                        <a:t> </a:t>
                      </a:r>
                      <a:r>
                        <a:rPr lang="en-US" sz="1400" b="1" dirty="0">
                          <a:solidFill>
                            <a:schemeClr val="bg1"/>
                          </a:solidFill>
                          <a:effectLst/>
                          <a:latin typeface="微软雅黑" pitchFamily="34" charset="-122"/>
                          <a:ea typeface="微软雅黑" pitchFamily="34" charset="-122"/>
                        </a:rPr>
                        <a:t>IP </a:t>
                      </a:r>
                      <a:r>
                        <a:rPr lang="zh-CN" sz="1400" b="1" dirty="0">
                          <a:solidFill>
                            <a:schemeClr val="bg1"/>
                          </a:solidFill>
                          <a:effectLst/>
                          <a:latin typeface="微软雅黑" pitchFamily="34" charset="-122"/>
                          <a:ea typeface="微软雅黑" pitchFamily="34" charset="-122"/>
                        </a:rPr>
                        <a:t>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9900"/>
                    </a:solidFill>
                  </a:tcPr>
                </a:tc>
                <a:extLst>
                  <a:ext uri="{0D108BD9-81ED-4DB2-BD59-A6C34878D82A}">
                    <a16:rowId xmlns:a16="http://schemas.microsoft.com/office/drawing/2014/main" val="10000"/>
                  </a:ext>
                </a:extLst>
              </a:tr>
              <a:tr h="295907">
                <a:tc>
                  <a:txBody>
                    <a:bodyPr/>
                    <a:lstStyle/>
                    <a:p>
                      <a:pPr algn="ctr">
                        <a:lnSpc>
                          <a:spcPct val="100000"/>
                        </a:lnSpc>
                        <a:spcAft>
                          <a:spcPts val="0"/>
                        </a:spcAft>
                        <a:tabLst>
                          <a:tab pos="3886200" algn="l"/>
                        </a:tabLst>
                      </a:pPr>
                      <a:r>
                        <a:rPr lang="zh-CN" sz="1200" b="1" dirty="0">
                          <a:solidFill>
                            <a:schemeClr val="tx1"/>
                          </a:solidFill>
                          <a:effectLst/>
                          <a:latin typeface="微软雅黑" pitchFamily="34" charset="-122"/>
                          <a:ea typeface="微软雅黑" pitchFamily="34" charset="-122"/>
                        </a:rPr>
                        <a:t>出</a:t>
                      </a:r>
                      <a:r>
                        <a:rPr lang="zh-CN" altLang="en-US" sz="1200" b="1" dirty="0">
                          <a:solidFill>
                            <a:schemeClr val="tx1"/>
                          </a:solidFill>
                          <a:effectLst/>
                          <a:latin typeface="微软雅黑" pitchFamily="34" charset="-122"/>
                          <a:ea typeface="微软雅黑" pitchFamily="34" charset="-122"/>
                        </a:rPr>
                        <a:t>（发往互联网）</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zh-CN" sz="1200" b="1" dirty="0">
                          <a:solidFill>
                            <a:schemeClr val="tx1"/>
                          </a:solidFill>
                          <a:effectLst/>
                          <a:latin typeface="微软雅黑" pitchFamily="34" charset="-122"/>
                          <a:ea typeface="微软雅黑" pitchFamily="34" charset="-122"/>
                        </a:rPr>
                        <a:t>源</a:t>
                      </a:r>
                      <a:r>
                        <a:rPr lang="en-US" altLang="zh-CN" sz="1200" b="1" dirty="0">
                          <a:solidFill>
                            <a:schemeClr val="tx1"/>
                          </a:solidFill>
                          <a:effectLst/>
                          <a:latin typeface="微软雅黑" pitchFamily="34" charset="-122"/>
                          <a:ea typeface="微软雅黑" pitchFamily="34" charset="-122"/>
                        </a:rPr>
                        <a:t> </a:t>
                      </a:r>
                      <a:r>
                        <a:rPr lang="en-US" sz="1200" b="1" dirty="0">
                          <a:solidFill>
                            <a:schemeClr val="tx1"/>
                          </a:solidFill>
                          <a:effectLst/>
                          <a:latin typeface="微软雅黑" pitchFamily="34" charset="-122"/>
                          <a:ea typeface="微软雅黑" pitchFamily="34" charset="-122"/>
                        </a:rPr>
                        <a:t>IP </a:t>
                      </a:r>
                      <a:r>
                        <a:rPr lang="zh-CN" sz="1200" b="1" dirty="0">
                          <a:solidFill>
                            <a:schemeClr val="tx1"/>
                          </a:solidFill>
                          <a:effectLst/>
                          <a:latin typeface="微软雅黑" pitchFamily="34" charset="-122"/>
                          <a:ea typeface="微软雅黑" pitchFamily="34" charset="-122"/>
                        </a:rPr>
                        <a:t>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1200" b="1" dirty="0">
                          <a:solidFill>
                            <a:schemeClr val="tx1"/>
                          </a:solidFill>
                          <a:effectLst/>
                          <a:latin typeface="微软雅黑" pitchFamily="34" charset="-122"/>
                          <a:ea typeface="微软雅黑" pitchFamily="34" charset="-122"/>
                        </a:rPr>
                        <a:t>192.168.0.3</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1200" b="1" dirty="0">
                          <a:solidFill>
                            <a:schemeClr val="tx1"/>
                          </a:solidFill>
                          <a:effectLst/>
                          <a:latin typeface="微软雅黑" pitchFamily="34" charset="-122"/>
                          <a:ea typeface="微软雅黑" pitchFamily="34" charset="-122"/>
                        </a:rPr>
                        <a:t>172.38.1.5</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295907">
                <a:tc>
                  <a:txBody>
                    <a:bodyPr/>
                    <a:lstStyle/>
                    <a:p>
                      <a:pPr algn="ctr">
                        <a:lnSpc>
                          <a:spcPct val="100000"/>
                        </a:lnSpc>
                        <a:spcAft>
                          <a:spcPts val="0"/>
                        </a:spcAft>
                        <a:tabLst>
                          <a:tab pos="3886200" algn="l"/>
                        </a:tabLst>
                      </a:pPr>
                      <a:r>
                        <a:rPr lang="zh-CN" sz="1200" b="1" dirty="0">
                          <a:solidFill>
                            <a:schemeClr val="tx1"/>
                          </a:solidFill>
                          <a:effectLst/>
                          <a:latin typeface="微软雅黑" pitchFamily="34" charset="-122"/>
                          <a:ea typeface="微软雅黑" pitchFamily="34" charset="-122"/>
                        </a:rPr>
                        <a:t>入</a:t>
                      </a:r>
                      <a:r>
                        <a:rPr lang="zh-CN" altLang="en-US" sz="1200" b="1" dirty="0">
                          <a:solidFill>
                            <a:schemeClr val="tx1"/>
                          </a:solidFill>
                          <a:effectLst/>
                          <a:latin typeface="微软雅黑" pitchFamily="34" charset="-122"/>
                          <a:ea typeface="微软雅黑" pitchFamily="34" charset="-122"/>
                        </a:rPr>
                        <a:t>（进入专用网）</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tabLst>
                          <a:tab pos="3886200" algn="l"/>
                        </a:tabLst>
                      </a:pPr>
                      <a:r>
                        <a:rPr lang="zh-CN" sz="1200" b="1" dirty="0">
                          <a:solidFill>
                            <a:schemeClr val="tx1"/>
                          </a:solidFill>
                          <a:effectLst/>
                          <a:latin typeface="微软雅黑" pitchFamily="34" charset="-122"/>
                          <a:ea typeface="微软雅黑" pitchFamily="34" charset="-122"/>
                        </a:rPr>
                        <a:t>目的</a:t>
                      </a:r>
                      <a:r>
                        <a:rPr lang="en-US" altLang="zh-CN" sz="1200" b="1" dirty="0">
                          <a:solidFill>
                            <a:schemeClr val="tx1"/>
                          </a:solidFill>
                          <a:effectLst/>
                          <a:latin typeface="微软雅黑" pitchFamily="34" charset="-122"/>
                          <a:ea typeface="微软雅黑" pitchFamily="34" charset="-122"/>
                        </a:rPr>
                        <a:t> </a:t>
                      </a:r>
                      <a:r>
                        <a:rPr lang="en-US" sz="1200" b="1" dirty="0">
                          <a:solidFill>
                            <a:schemeClr val="tx1"/>
                          </a:solidFill>
                          <a:effectLst/>
                          <a:latin typeface="微软雅黑" pitchFamily="34" charset="-122"/>
                          <a:ea typeface="微软雅黑" pitchFamily="34" charset="-122"/>
                        </a:rPr>
                        <a:t>IP </a:t>
                      </a:r>
                      <a:r>
                        <a:rPr lang="zh-CN" sz="1200" b="1" dirty="0">
                          <a:solidFill>
                            <a:schemeClr val="tx1"/>
                          </a:solidFill>
                          <a:effectLst/>
                          <a:latin typeface="微软雅黑" pitchFamily="34" charset="-122"/>
                          <a:ea typeface="微软雅黑" pitchFamily="34" charset="-122"/>
                        </a:rPr>
                        <a:t>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tabLst>
                          <a:tab pos="3886200" algn="l"/>
                        </a:tabLst>
                      </a:pPr>
                      <a:r>
                        <a:rPr lang="en-US" sz="1200" b="1" dirty="0">
                          <a:solidFill>
                            <a:schemeClr val="tx1"/>
                          </a:solidFill>
                          <a:effectLst/>
                          <a:latin typeface="微软雅黑" pitchFamily="34" charset="-122"/>
                          <a:ea typeface="微软雅黑" pitchFamily="34" charset="-122"/>
                        </a:rPr>
                        <a:t>172.38.1.5</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tabLst>
                          <a:tab pos="3886200" algn="l"/>
                        </a:tabLst>
                      </a:pPr>
                      <a:r>
                        <a:rPr lang="en-US" sz="1200" b="1" dirty="0">
                          <a:solidFill>
                            <a:schemeClr val="tx1"/>
                          </a:solidFill>
                          <a:effectLst/>
                          <a:latin typeface="微软雅黑" pitchFamily="34" charset="-122"/>
                          <a:ea typeface="微软雅黑" pitchFamily="34" charset="-122"/>
                        </a:rPr>
                        <a:t>192.168.0.3</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271818247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5" y="980333"/>
            <a:ext cx="8053710" cy="17851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当 </a:t>
            </a:r>
            <a:r>
              <a:rPr lang="en-US" altLang="zh-CN" sz="2000" b="1" dirty="0">
                <a:latin typeface="微软雅黑" pitchFamily="34" charset="-122"/>
                <a:ea typeface="微软雅黑" pitchFamily="34" charset="-122"/>
              </a:rPr>
              <a:t>NAT </a:t>
            </a:r>
            <a:r>
              <a:rPr lang="zh-CN" altLang="en-US" sz="2000" b="1" dirty="0">
                <a:latin typeface="微软雅黑" pitchFamily="34" charset="-122"/>
                <a:ea typeface="微软雅黑" pitchFamily="34" charset="-122"/>
              </a:rPr>
              <a:t>路由器具有 </a:t>
            </a:r>
            <a:r>
              <a:rPr lang="en-US" altLang="zh-CN" sz="2000" b="1" i="1" dirty="0">
                <a:solidFill>
                  <a:srgbClr val="C00000"/>
                </a:solidFill>
                <a:latin typeface="微软雅黑" pitchFamily="34" charset="-122"/>
                <a:ea typeface="微软雅黑" pitchFamily="34" charset="-122"/>
              </a:rPr>
              <a:t>n</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个全球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地址时，专用网内</a:t>
            </a:r>
            <a:r>
              <a:rPr lang="zh-CN" altLang="en-US" sz="2000" b="1" dirty="0">
                <a:solidFill>
                  <a:srgbClr val="C00000"/>
                </a:solidFill>
                <a:latin typeface="微软雅黑" pitchFamily="34" charset="-122"/>
                <a:ea typeface="微软雅黑" pitchFamily="34" charset="-122"/>
              </a:rPr>
              <a:t>最多</a:t>
            </a:r>
            <a:r>
              <a:rPr lang="zh-CN" altLang="en-US" sz="2000" b="1" dirty="0">
                <a:latin typeface="微软雅黑" pitchFamily="34" charset="-122"/>
                <a:ea typeface="微软雅黑" pitchFamily="34" charset="-122"/>
              </a:rPr>
              <a:t>可以</a:t>
            </a:r>
            <a:r>
              <a:rPr lang="zh-CN" altLang="en-US" sz="2000" b="1" dirty="0">
                <a:solidFill>
                  <a:srgbClr val="C00000"/>
                </a:solidFill>
                <a:latin typeface="微软雅黑" pitchFamily="34" charset="-122"/>
                <a:ea typeface="微软雅黑" pitchFamily="34" charset="-122"/>
              </a:rPr>
              <a:t>同时</a:t>
            </a:r>
            <a:r>
              <a:rPr lang="zh-CN" altLang="en-US" sz="2000" b="1" dirty="0">
                <a:latin typeface="微软雅黑" pitchFamily="34" charset="-122"/>
                <a:ea typeface="微软雅黑" pitchFamily="34" charset="-122"/>
              </a:rPr>
              <a:t>有</a:t>
            </a:r>
            <a:r>
              <a:rPr lang="zh-CN" altLang="en-US" sz="2000" b="1" dirty="0">
                <a:solidFill>
                  <a:srgbClr val="0000FF"/>
                </a:solidFill>
                <a:latin typeface="微软雅黑" pitchFamily="34" charset="-122"/>
                <a:ea typeface="微软雅黑" pitchFamily="34" charset="-122"/>
              </a:rPr>
              <a:t> </a:t>
            </a:r>
            <a:r>
              <a:rPr lang="en-US" altLang="zh-CN" sz="2000" b="1" i="1" dirty="0">
                <a:solidFill>
                  <a:srgbClr val="C00000"/>
                </a:solidFill>
                <a:latin typeface="微软雅黑" pitchFamily="34" charset="-122"/>
                <a:ea typeface="微软雅黑" pitchFamily="34" charset="-122"/>
              </a:rPr>
              <a:t>n</a:t>
            </a:r>
            <a:r>
              <a:rPr lang="en-US" altLang="zh-CN" sz="2000" b="1" dirty="0">
                <a:solidFill>
                  <a:srgbClr val="0000FF"/>
                </a:solidFill>
                <a:latin typeface="微软雅黑" pitchFamily="34" charset="-122"/>
                <a:ea typeface="微软雅黑" pitchFamily="34" charset="-122"/>
              </a:rPr>
              <a:t> </a:t>
            </a:r>
            <a:r>
              <a:rPr lang="zh-CN" altLang="en-US" sz="2000" b="1" dirty="0">
                <a:latin typeface="微软雅黑" pitchFamily="34" charset="-122"/>
                <a:ea typeface="微软雅黑" pitchFamily="34" charset="-122"/>
              </a:rPr>
              <a:t>台主机接入到互联网。</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可以使专用网内较多数量的主机</a:t>
            </a:r>
            <a:r>
              <a:rPr lang="zh-CN" altLang="en-US" sz="2000" b="1" dirty="0">
                <a:solidFill>
                  <a:srgbClr val="C00000"/>
                </a:solidFill>
                <a:latin typeface="微软雅黑" pitchFamily="34" charset="-122"/>
                <a:ea typeface="微软雅黑" pitchFamily="34" charset="-122"/>
              </a:rPr>
              <a:t>轮流</a:t>
            </a:r>
            <a:r>
              <a:rPr lang="zh-CN" altLang="en-US" sz="2000" b="1" dirty="0">
                <a:latin typeface="微软雅黑" pitchFamily="34" charset="-122"/>
                <a:ea typeface="微软雅黑" pitchFamily="34" charset="-122"/>
              </a:rPr>
              <a:t>使用 </a:t>
            </a:r>
            <a:r>
              <a:rPr lang="en-US" altLang="zh-CN" sz="2000" b="1" dirty="0">
                <a:latin typeface="微软雅黑" pitchFamily="34" charset="-122"/>
                <a:ea typeface="微软雅黑" pitchFamily="34" charset="-122"/>
              </a:rPr>
              <a:t>NAT </a:t>
            </a:r>
            <a:r>
              <a:rPr lang="zh-CN" altLang="en-US" sz="2000" b="1" dirty="0">
                <a:latin typeface="微软雅黑" pitchFamily="34" charset="-122"/>
                <a:ea typeface="微软雅黑" pitchFamily="34" charset="-122"/>
              </a:rPr>
              <a:t>路由器有限数量的全球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a:t>
            </a:r>
          </a:p>
        </p:txBody>
      </p:sp>
      <p:sp>
        <p:nvSpPr>
          <p:cNvPr id="3" name="AutoShape 5"/>
          <p:cNvSpPr>
            <a:spLocks noChangeArrowheads="1"/>
          </p:cNvSpPr>
          <p:nvPr/>
        </p:nvSpPr>
        <p:spPr bwMode="auto">
          <a:xfrm>
            <a:off x="545145" y="620467"/>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7256"/>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网络地址转换 </a:t>
            </a:r>
            <a:r>
              <a:rPr lang="en-US" altLang="zh-CN" sz="2000" b="1" dirty="0">
                <a:solidFill>
                  <a:schemeClr val="bg1"/>
                </a:solidFill>
                <a:latin typeface="微软雅黑" pitchFamily="34" charset="-122"/>
                <a:ea typeface="微软雅黑" pitchFamily="34" charset="-122"/>
              </a:rPr>
              <a:t>NAT</a:t>
            </a:r>
            <a:endParaRPr lang="zh-CN" altLang="en-US" sz="2000" b="1" dirty="0">
              <a:solidFill>
                <a:schemeClr val="bg1"/>
              </a:solidFill>
              <a:latin typeface="微软雅黑" pitchFamily="34" charset="-122"/>
              <a:ea typeface="微软雅黑" pitchFamily="34" charset="-122"/>
            </a:endParaRPr>
          </a:p>
        </p:txBody>
      </p:sp>
      <p:sp>
        <p:nvSpPr>
          <p:cNvPr id="5" name="对角圆角矩形 4"/>
          <p:cNvSpPr/>
          <p:nvPr/>
        </p:nvSpPr>
        <p:spPr>
          <a:xfrm>
            <a:off x="744319" y="2894717"/>
            <a:ext cx="7593920" cy="989220"/>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矩形 5"/>
          <p:cNvSpPr/>
          <p:nvPr/>
        </p:nvSpPr>
        <p:spPr>
          <a:xfrm>
            <a:off x="968723" y="2981357"/>
            <a:ext cx="7143183" cy="810478"/>
          </a:xfrm>
          <a:prstGeom prst="rect">
            <a:avLst/>
          </a:prstGeom>
        </p:spPr>
        <p:txBody>
          <a:bodyPr wrap="square">
            <a:spAutoFit/>
          </a:bodyPr>
          <a:lstStyle/>
          <a:p>
            <a:pPr>
              <a:lnSpc>
                <a:spcPts val="2800"/>
              </a:lnSpc>
            </a:pPr>
            <a:r>
              <a:rPr lang="zh-CN" altLang="en-US" sz="2000" b="1" dirty="0">
                <a:solidFill>
                  <a:schemeClr val="bg1"/>
                </a:solidFill>
                <a:latin typeface="微软雅黑" pitchFamily="34" charset="-122"/>
                <a:ea typeface="微软雅黑" pitchFamily="34" charset="-122"/>
              </a:rPr>
              <a:t>通过 </a:t>
            </a:r>
            <a:r>
              <a:rPr lang="en-US" altLang="zh-CN" sz="2000" b="1" dirty="0">
                <a:solidFill>
                  <a:schemeClr val="bg1"/>
                </a:solidFill>
                <a:latin typeface="微软雅黑" pitchFamily="34" charset="-122"/>
                <a:ea typeface="微软雅黑" pitchFamily="34" charset="-122"/>
              </a:rPr>
              <a:t>NAT </a:t>
            </a:r>
            <a:r>
              <a:rPr lang="zh-CN" altLang="en-US" sz="2000" b="1" dirty="0">
                <a:solidFill>
                  <a:schemeClr val="bg1"/>
                </a:solidFill>
                <a:latin typeface="微软雅黑" pitchFamily="34" charset="-122"/>
                <a:ea typeface="微软雅黑" pitchFamily="34" charset="-122"/>
              </a:rPr>
              <a:t>路由器的通信</a:t>
            </a:r>
            <a:r>
              <a:rPr lang="zh-CN" altLang="en-US" sz="2000" b="1" dirty="0">
                <a:solidFill>
                  <a:srgbClr val="FFFF00"/>
                </a:solidFill>
                <a:latin typeface="微软雅黑" pitchFamily="34" charset="-122"/>
                <a:ea typeface="微软雅黑" pitchFamily="34" charset="-122"/>
              </a:rPr>
              <a:t>必须</a:t>
            </a:r>
            <a:r>
              <a:rPr lang="zh-CN" altLang="en-US" sz="2000" b="1" dirty="0">
                <a:solidFill>
                  <a:schemeClr val="bg1"/>
                </a:solidFill>
                <a:latin typeface="微软雅黑" pitchFamily="34" charset="-122"/>
                <a:ea typeface="微软雅黑" pitchFamily="34" charset="-122"/>
              </a:rPr>
              <a:t>由专用网内的</a:t>
            </a:r>
            <a:r>
              <a:rPr lang="zh-CN" altLang="en-US" sz="2000" b="1" dirty="0">
                <a:solidFill>
                  <a:srgbClr val="FFFF00"/>
                </a:solidFill>
                <a:latin typeface="微软雅黑" pitchFamily="34" charset="-122"/>
                <a:ea typeface="微软雅黑" pitchFamily="34" charset="-122"/>
              </a:rPr>
              <a:t>主机</a:t>
            </a:r>
            <a:r>
              <a:rPr lang="zh-CN" altLang="en-US" sz="2000" b="1" dirty="0">
                <a:solidFill>
                  <a:schemeClr val="bg1"/>
                </a:solidFill>
                <a:latin typeface="微软雅黑" pitchFamily="34" charset="-122"/>
                <a:ea typeface="微软雅黑" pitchFamily="34" charset="-122"/>
              </a:rPr>
              <a:t>发起，因此，专用网内部的主机不能充当服务器用。</a:t>
            </a:r>
          </a:p>
        </p:txBody>
      </p:sp>
    </p:spTree>
    <p:extLst>
      <p:ext uri="{BB962C8B-B14F-4D97-AF65-F5344CB8AC3E}">
        <p14:creationId xmlns:p14="http://schemas.microsoft.com/office/powerpoint/2010/main" val="79392674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5" y="977811"/>
            <a:ext cx="8053710" cy="26314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NAT </a:t>
            </a:r>
            <a:r>
              <a:rPr lang="zh-CN" altLang="en-US" sz="2000" b="1" dirty="0">
                <a:latin typeface="微软雅黑" pitchFamily="34" charset="-122"/>
                <a:ea typeface="微软雅黑" pitchFamily="34" charset="-122"/>
              </a:rPr>
              <a:t>并不能节省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NAPT </a:t>
            </a:r>
            <a:r>
              <a:rPr lang="zh-CN" altLang="en-US" sz="2000" b="1" dirty="0">
                <a:latin typeface="微软雅黑" pitchFamily="34" charset="-122"/>
                <a:ea typeface="微软雅黑" pitchFamily="34" charset="-122"/>
              </a:rPr>
              <a:t>可以使多台拥有本地地址的主机，</a:t>
            </a:r>
            <a:r>
              <a:rPr lang="zh-CN" altLang="en-US" sz="2000" b="1" dirty="0">
                <a:solidFill>
                  <a:srgbClr val="C00000"/>
                </a:solidFill>
                <a:latin typeface="微软雅黑" pitchFamily="34" charset="-122"/>
                <a:ea typeface="微软雅黑" pitchFamily="34" charset="-122"/>
              </a:rPr>
              <a:t>共用</a:t>
            </a:r>
            <a:r>
              <a:rPr lang="zh-CN" altLang="en-US" sz="2000" b="1" dirty="0">
                <a:latin typeface="微软雅黑" pitchFamily="34" charset="-122"/>
                <a:ea typeface="微软雅黑" pitchFamily="34" charset="-122"/>
              </a:rPr>
              <a:t>一个 全球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a:t>
            </a:r>
            <a:r>
              <a:rPr lang="zh-CN" altLang="en-US" sz="2000" b="1" dirty="0">
                <a:solidFill>
                  <a:srgbClr val="C00000"/>
                </a:solidFill>
                <a:latin typeface="微软雅黑" pitchFamily="34" charset="-122"/>
                <a:ea typeface="微软雅黑" pitchFamily="34" charset="-122"/>
              </a:rPr>
              <a:t>同时</a:t>
            </a:r>
            <a:r>
              <a:rPr lang="zh-CN" altLang="en-US" sz="2000" b="1" dirty="0">
                <a:latin typeface="微软雅黑" pitchFamily="34" charset="-122"/>
                <a:ea typeface="微软雅黑" pitchFamily="34" charset="-122"/>
              </a:rPr>
              <a:t>和互联网上的不同主机进行通信。</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使用运输层端口号的 </a:t>
            </a:r>
            <a:r>
              <a:rPr lang="en-US" altLang="zh-CN" sz="2000" b="1" dirty="0">
                <a:latin typeface="微软雅黑" pitchFamily="34" charset="-122"/>
                <a:ea typeface="微软雅黑" pitchFamily="34" charset="-122"/>
              </a:rPr>
              <a:t>NAT </a:t>
            </a:r>
            <a:r>
              <a:rPr lang="zh-CN" altLang="en-US" sz="2000" b="1" dirty="0">
                <a:latin typeface="微软雅黑" pitchFamily="34" charset="-122"/>
                <a:ea typeface="微软雅黑" pitchFamily="34" charset="-122"/>
              </a:rPr>
              <a:t>叫做</a:t>
            </a:r>
            <a:r>
              <a:rPr lang="zh-CN" altLang="en-US" sz="2000" b="1" dirty="0">
                <a:solidFill>
                  <a:srgbClr val="C00000"/>
                </a:solidFill>
                <a:latin typeface="微软雅黑" pitchFamily="34" charset="-122"/>
                <a:ea typeface="微软雅黑" pitchFamily="34" charset="-122"/>
              </a:rPr>
              <a:t>网络地址与端口号转换 </a:t>
            </a:r>
            <a:r>
              <a:rPr lang="en-US" altLang="zh-CN" sz="2000" b="1" dirty="0">
                <a:solidFill>
                  <a:srgbClr val="C00000"/>
                </a:solidFill>
                <a:latin typeface="微软雅黑" pitchFamily="34" charset="-122"/>
                <a:ea typeface="微软雅黑" pitchFamily="34" charset="-122"/>
              </a:rPr>
              <a:t>NAPT </a:t>
            </a:r>
            <a:r>
              <a:rPr lang="en-US" altLang="zh-CN" sz="2000" b="1" dirty="0">
                <a:latin typeface="微软雅黑" pitchFamily="34" charset="-122"/>
                <a:ea typeface="微软雅黑" pitchFamily="34" charset="-122"/>
              </a:rPr>
              <a:t>(Network Address and Port Translation)</a:t>
            </a:r>
            <a:r>
              <a:rPr lang="zh-CN" altLang="en-US" sz="2000" b="1" dirty="0">
                <a:latin typeface="微软雅黑" pitchFamily="34" charset="-122"/>
                <a:ea typeface="微软雅黑" pitchFamily="34" charset="-122"/>
              </a:rPr>
              <a:t>，而不使用端口号的 </a:t>
            </a:r>
            <a:r>
              <a:rPr lang="en-US" altLang="zh-CN" sz="2000" b="1" dirty="0">
                <a:latin typeface="微软雅黑" pitchFamily="34" charset="-122"/>
                <a:ea typeface="微软雅黑" pitchFamily="34" charset="-122"/>
              </a:rPr>
              <a:t>NAT </a:t>
            </a:r>
            <a:r>
              <a:rPr lang="zh-CN" altLang="en-US" sz="2000" b="1" dirty="0">
                <a:latin typeface="微软雅黑" pitchFamily="34" charset="-122"/>
                <a:ea typeface="微软雅黑" pitchFamily="34" charset="-122"/>
              </a:rPr>
              <a:t>就叫做</a:t>
            </a:r>
            <a:r>
              <a:rPr lang="zh-CN" altLang="en-US" sz="2000" b="1" dirty="0">
                <a:solidFill>
                  <a:srgbClr val="C00000"/>
                </a:solidFill>
                <a:latin typeface="微软雅黑" pitchFamily="34" charset="-122"/>
                <a:ea typeface="微软雅黑" pitchFamily="34" charset="-122"/>
              </a:rPr>
              <a:t>传统的 </a:t>
            </a:r>
            <a:r>
              <a:rPr lang="en-US" altLang="zh-CN" sz="2000" b="1" dirty="0">
                <a:solidFill>
                  <a:srgbClr val="C00000"/>
                </a:solidFill>
                <a:latin typeface="微软雅黑" pitchFamily="34" charset="-122"/>
                <a:ea typeface="微软雅黑" pitchFamily="34" charset="-122"/>
              </a:rPr>
              <a:t>NAT </a:t>
            </a:r>
            <a:r>
              <a:rPr lang="en-US" altLang="zh-CN" sz="2000" b="1" dirty="0">
                <a:latin typeface="微软雅黑" pitchFamily="34" charset="-122"/>
                <a:ea typeface="微软雅黑" pitchFamily="34" charset="-122"/>
              </a:rPr>
              <a:t>(traditional NAT)</a:t>
            </a:r>
            <a:r>
              <a:rPr lang="zh-CN" altLang="en-US" sz="2000" b="1" dirty="0">
                <a:latin typeface="微软雅黑" pitchFamily="34" charset="-122"/>
                <a:ea typeface="微软雅黑" pitchFamily="34" charset="-122"/>
              </a:rPr>
              <a:t>。</a:t>
            </a:r>
          </a:p>
        </p:txBody>
      </p:sp>
      <p:sp>
        <p:nvSpPr>
          <p:cNvPr id="3" name="AutoShape 5"/>
          <p:cNvSpPr>
            <a:spLocks noChangeArrowheads="1"/>
          </p:cNvSpPr>
          <p:nvPr/>
        </p:nvSpPr>
        <p:spPr bwMode="auto">
          <a:xfrm>
            <a:off x="545145" y="617945"/>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4734"/>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网络地址与端口号转换 </a:t>
            </a:r>
            <a:r>
              <a:rPr lang="en-US" altLang="zh-CN" sz="2000" b="1" dirty="0">
                <a:solidFill>
                  <a:schemeClr val="bg1"/>
                </a:solidFill>
                <a:latin typeface="微软雅黑" pitchFamily="34" charset="-122"/>
                <a:ea typeface="微软雅黑" pitchFamily="34" charset="-122"/>
              </a:rPr>
              <a:t>NAPT</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178947490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5" y="614644"/>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14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NAPT </a:t>
            </a:r>
            <a:r>
              <a:rPr lang="zh-CN" altLang="en-US" sz="2000" b="1" dirty="0">
                <a:solidFill>
                  <a:schemeClr val="bg1"/>
                </a:solidFill>
                <a:latin typeface="微软雅黑" pitchFamily="34" charset="-122"/>
                <a:ea typeface="微软雅黑" pitchFamily="34" charset="-122"/>
              </a:rPr>
              <a:t>地址转换表</a:t>
            </a:r>
          </a:p>
        </p:txBody>
      </p:sp>
      <p:sp>
        <p:nvSpPr>
          <p:cNvPr id="5" name="矩形 4"/>
          <p:cNvSpPr/>
          <p:nvPr/>
        </p:nvSpPr>
        <p:spPr>
          <a:xfrm>
            <a:off x="3435311" y="961427"/>
            <a:ext cx="2273379" cy="338554"/>
          </a:xfrm>
          <a:prstGeom prst="rect">
            <a:avLst/>
          </a:prstGeom>
        </p:spPr>
        <p:txBody>
          <a:bodyPr wrap="none">
            <a:spAutoFit/>
          </a:bodyPr>
          <a:lstStyle/>
          <a:p>
            <a:pPr algn="ctr"/>
            <a:r>
              <a:rPr lang="en-US" altLang="zh-CN" sz="1600" b="1" dirty="0">
                <a:latin typeface="微软雅黑" pitchFamily="34" charset="-122"/>
                <a:ea typeface="微软雅黑" pitchFamily="34" charset="-122"/>
              </a:rPr>
              <a:t>NAPT </a:t>
            </a:r>
            <a:r>
              <a:rPr lang="zh-CN" altLang="en-US" sz="1600" b="1" dirty="0">
                <a:latin typeface="微软雅黑" pitchFamily="34" charset="-122"/>
                <a:ea typeface="微软雅黑" pitchFamily="34" charset="-122"/>
              </a:rPr>
              <a:t>地址转换表举例</a:t>
            </a:r>
          </a:p>
        </p:txBody>
      </p:sp>
      <p:graphicFrame>
        <p:nvGraphicFramePr>
          <p:cNvPr id="6" name="内容占位符 3"/>
          <p:cNvGraphicFramePr>
            <a:graphicFrameLocks/>
          </p:cNvGraphicFramePr>
          <p:nvPr>
            <p:extLst>
              <p:ext uri="{D42A27DB-BD31-4B8C-83A1-F6EECF244321}">
                <p14:modId xmlns:p14="http://schemas.microsoft.com/office/powerpoint/2010/main" val="1583478310"/>
              </p:ext>
            </p:extLst>
          </p:nvPr>
        </p:nvGraphicFramePr>
        <p:xfrm>
          <a:off x="545144" y="1269478"/>
          <a:ext cx="8053711" cy="1842485"/>
        </p:xfrm>
        <a:graphic>
          <a:graphicData uri="http://schemas.openxmlformats.org/drawingml/2006/table">
            <a:tbl>
              <a:tblPr firstRow="1" firstCol="1" lastRow="1" lastCol="1" bandRow="1" bandCol="1">
                <a:tableStyleId>{5C22544A-7EE6-4342-B048-85BDC9FD1C3A}</a:tableStyleId>
              </a:tblPr>
              <a:tblGrid>
                <a:gridCol w="697566">
                  <a:extLst>
                    <a:ext uri="{9D8B030D-6E8A-4147-A177-3AD203B41FA5}">
                      <a16:colId xmlns:a16="http://schemas.microsoft.com/office/drawing/2014/main" val="20000"/>
                    </a:ext>
                  </a:extLst>
                </a:gridCol>
                <a:gridCol w="2735905">
                  <a:extLst>
                    <a:ext uri="{9D8B030D-6E8A-4147-A177-3AD203B41FA5}">
                      <a16:colId xmlns:a16="http://schemas.microsoft.com/office/drawing/2014/main" val="20001"/>
                    </a:ext>
                  </a:extLst>
                </a:gridCol>
                <a:gridCol w="2219791">
                  <a:extLst>
                    <a:ext uri="{9D8B030D-6E8A-4147-A177-3AD203B41FA5}">
                      <a16:colId xmlns:a16="http://schemas.microsoft.com/office/drawing/2014/main" val="20002"/>
                    </a:ext>
                  </a:extLst>
                </a:gridCol>
                <a:gridCol w="2400449">
                  <a:extLst>
                    <a:ext uri="{9D8B030D-6E8A-4147-A177-3AD203B41FA5}">
                      <a16:colId xmlns:a16="http://schemas.microsoft.com/office/drawing/2014/main" val="20003"/>
                    </a:ext>
                  </a:extLst>
                </a:gridCol>
              </a:tblGrid>
              <a:tr h="368497">
                <a:tc>
                  <a:txBody>
                    <a:bodyPr/>
                    <a:lstStyle/>
                    <a:p>
                      <a:pPr algn="ctr">
                        <a:lnSpc>
                          <a:spcPct val="100000"/>
                        </a:lnSpc>
                        <a:spcAft>
                          <a:spcPts val="0"/>
                        </a:spcAft>
                        <a:tabLst>
                          <a:tab pos="3886200" algn="l"/>
                        </a:tabLst>
                      </a:pPr>
                      <a:r>
                        <a:rPr lang="zh-CN" sz="1400" b="1" dirty="0">
                          <a:solidFill>
                            <a:schemeClr val="bg1"/>
                          </a:solidFill>
                          <a:effectLst/>
                          <a:latin typeface="微软雅黑" pitchFamily="34" charset="-122"/>
                          <a:ea typeface="微软雅黑" pitchFamily="34" charset="-122"/>
                        </a:rPr>
                        <a:t>方向</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00FF"/>
                    </a:solidFill>
                  </a:tcPr>
                </a:tc>
                <a:tc>
                  <a:txBody>
                    <a:bodyPr/>
                    <a:lstStyle/>
                    <a:p>
                      <a:pPr algn="ctr">
                        <a:lnSpc>
                          <a:spcPct val="100000"/>
                        </a:lnSpc>
                        <a:spcAft>
                          <a:spcPts val="0"/>
                        </a:spcAft>
                        <a:tabLst>
                          <a:tab pos="3886200" algn="l"/>
                        </a:tabLst>
                      </a:pPr>
                      <a:r>
                        <a:rPr lang="zh-CN" sz="1400" b="1" dirty="0">
                          <a:solidFill>
                            <a:schemeClr val="bg1"/>
                          </a:solidFill>
                          <a:effectLst/>
                          <a:latin typeface="微软雅黑" pitchFamily="34" charset="-122"/>
                          <a:ea typeface="微软雅黑" pitchFamily="34" charset="-122"/>
                        </a:rPr>
                        <a:t>字段</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00FF"/>
                    </a:solidFill>
                  </a:tcPr>
                </a:tc>
                <a:tc>
                  <a:txBody>
                    <a:bodyPr/>
                    <a:lstStyle/>
                    <a:p>
                      <a:pPr algn="ctr">
                        <a:lnSpc>
                          <a:spcPct val="100000"/>
                        </a:lnSpc>
                        <a:spcAft>
                          <a:spcPts val="0"/>
                        </a:spcAft>
                        <a:tabLst>
                          <a:tab pos="3886200" algn="l"/>
                        </a:tabLst>
                      </a:pPr>
                      <a:r>
                        <a:rPr lang="zh-CN" sz="1400" b="1" dirty="0">
                          <a:solidFill>
                            <a:schemeClr val="bg1"/>
                          </a:solidFill>
                          <a:effectLst/>
                          <a:latin typeface="微软雅黑" pitchFamily="34" charset="-122"/>
                          <a:ea typeface="微软雅黑" pitchFamily="34" charset="-122"/>
                        </a:rPr>
                        <a:t>旧的</a:t>
                      </a:r>
                      <a:r>
                        <a:rPr lang="en-US" altLang="zh-CN" sz="1400" b="1" dirty="0">
                          <a:solidFill>
                            <a:schemeClr val="bg1"/>
                          </a:solidFill>
                          <a:effectLst/>
                          <a:latin typeface="微软雅黑" pitchFamily="34" charset="-122"/>
                          <a:ea typeface="微软雅黑" pitchFamily="34" charset="-122"/>
                        </a:rPr>
                        <a:t> </a:t>
                      </a:r>
                      <a:r>
                        <a:rPr lang="en-US" sz="1400" b="1" dirty="0">
                          <a:solidFill>
                            <a:schemeClr val="bg1"/>
                          </a:solidFill>
                          <a:effectLst/>
                          <a:latin typeface="微软雅黑" pitchFamily="34" charset="-122"/>
                          <a:ea typeface="微软雅黑" pitchFamily="34" charset="-122"/>
                        </a:rPr>
                        <a:t>IP </a:t>
                      </a:r>
                      <a:r>
                        <a:rPr lang="zh-CN" sz="1400" b="1" dirty="0">
                          <a:solidFill>
                            <a:schemeClr val="bg1"/>
                          </a:solidFill>
                          <a:effectLst/>
                          <a:latin typeface="微软雅黑" pitchFamily="34" charset="-122"/>
                          <a:ea typeface="微软雅黑" pitchFamily="34" charset="-122"/>
                        </a:rPr>
                        <a:t>地址和端口号</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00FF"/>
                    </a:solidFill>
                  </a:tcPr>
                </a:tc>
                <a:tc>
                  <a:txBody>
                    <a:bodyPr/>
                    <a:lstStyle/>
                    <a:p>
                      <a:pPr algn="ctr">
                        <a:lnSpc>
                          <a:spcPct val="100000"/>
                        </a:lnSpc>
                        <a:spcAft>
                          <a:spcPts val="0"/>
                        </a:spcAft>
                        <a:tabLst>
                          <a:tab pos="3886200" algn="l"/>
                        </a:tabLst>
                      </a:pPr>
                      <a:r>
                        <a:rPr lang="zh-CN" sz="1400" b="1" dirty="0">
                          <a:solidFill>
                            <a:schemeClr val="bg1"/>
                          </a:solidFill>
                          <a:effectLst/>
                          <a:latin typeface="微软雅黑" pitchFamily="34" charset="-122"/>
                          <a:ea typeface="微软雅黑" pitchFamily="34" charset="-122"/>
                        </a:rPr>
                        <a:t>新的</a:t>
                      </a:r>
                      <a:r>
                        <a:rPr lang="en-US" altLang="zh-CN" sz="1400" b="1" dirty="0">
                          <a:solidFill>
                            <a:schemeClr val="bg1"/>
                          </a:solidFill>
                          <a:effectLst/>
                          <a:latin typeface="微软雅黑" pitchFamily="34" charset="-122"/>
                          <a:ea typeface="微软雅黑" pitchFamily="34" charset="-122"/>
                        </a:rPr>
                        <a:t> </a:t>
                      </a:r>
                      <a:r>
                        <a:rPr lang="en-US" sz="1400" b="1" dirty="0">
                          <a:solidFill>
                            <a:schemeClr val="bg1"/>
                          </a:solidFill>
                          <a:effectLst/>
                          <a:latin typeface="微软雅黑" pitchFamily="34" charset="-122"/>
                          <a:ea typeface="微软雅黑" pitchFamily="34" charset="-122"/>
                        </a:rPr>
                        <a:t>IP </a:t>
                      </a:r>
                      <a:r>
                        <a:rPr lang="zh-CN" sz="1400" b="1" dirty="0">
                          <a:solidFill>
                            <a:schemeClr val="bg1"/>
                          </a:solidFill>
                          <a:effectLst/>
                          <a:latin typeface="微软雅黑" pitchFamily="34" charset="-122"/>
                          <a:ea typeface="微软雅黑" pitchFamily="34" charset="-122"/>
                        </a:rPr>
                        <a:t>地址和端口号</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00FF"/>
                    </a:solidFill>
                  </a:tcPr>
                </a:tc>
                <a:extLst>
                  <a:ext uri="{0D108BD9-81ED-4DB2-BD59-A6C34878D82A}">
                    <a16:rowId xmlns:a16="http://schemas.microsoft.com/office/drawing/2014/main" val="10000"/>
                  </a:ext>
                </a:extLst>
              </a:tr>
              <a:tr h="368497">
                <a:tc>
                  <a:txBody>
                    <a:bodyPr/>
                    <a:lstStyle/>
                    <a:p>
                      <a:pPr algn="ctr">
                        <a:lnSpc>
                          <a:spcPct val="100000"/>
                        </a:lnSpc>
                        <a:spcAft>
                          <a:spcPts val="0"/>
                        </a:spcAft>
                        <a:tabLst>
                          <a:tab pos="3886200" algn="l"/>
                        </a:tabLst>
                      </a:pPr>
                      <a:r>
                        <a:rPr lang="zh-CN" sz="1400" b="1">
                          <a:solidFill>
                            <a:schemeClr val="tx1"/>
                          </a:solidFill>
                          <a:effectLst/>
                          <a:latin typeface="微软雅黑" pitchFamily="34" charset="-122"/>
                          <a:ea typeface="微软雅黑" pitchFamily="34" charset="-122"/>
                        </a:rPr>
                        <a:t>出</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just">
                        <a:lnSpc>
                          <a:spcPct val="100000"/>
                        </a:lnSpc>
                        <a:spcAft>
                          <a:spcPts val="0"/>
                        </a:spcAft>
                        <a:tabLst>
                          <a:tab pos="3886200" algn="l"/>
                        </a:tabLst>
                      </a:pPr>
                      <a:r>
                        <a:rPr lang="zh-CN" sz="1400" b="1" dirty="0">
                          <a:solidFill>
                            <a:schemeClr val="tx1"/>
                          </a:solidFill>
                          <a:effectLst/>
                          <a:latin typeface="微软雅黑" pitchFamily="34" charset="-122"/>
                          <a:ea typeface="微软雅黑" pitchFamily="34" charset="-122"/>
                        </a:rPr>
                        <a:t>源</a:t>
                      </a:r>
                      <a:r>
                        <a:rPr lang="en-US" altLang="zh-CN" sz="1400" b="1" dirty="0">
                          <a:solidFill>
                            <a:schemeClr val="tx1"/>
                          </a:solidFill>
                          <a:effectLst/>
                          <a:latin typeface="微软雅黑" pitchFamily="34" charset="-122"/>
                          <a:ea typeface="微软雅黑" pitchFamily="34" charset="-122"/>
                        </a:rPr>
                        <a:t> </a:t>
                      </a:r>
                      <a:r>
                        <a:rPr lang="en-US" sz="1400" b="1" dirty="0">
                          <a:solidFill>
                            <a:schemeClr val="tx1"/>
                          </a:solidFill>
                          <a:effectLst/>
                          <a:latin typeface="微软雅黑" pitchFamily="34" charset="-122"/>
                          <a:ea typeface="微软雅黑" pitchFamily="34" charset="-122"/>
                        </a:rPr>
                        <a:t>IP </a:t>
                      </a:r>
                      <a:r>
                        <a:rPr lang="zh-CN" sz="1400" b="1" dirty="0">
                          <a:solidFill>
                            <a:schemeClr val="tx1"/>
                          </a:solidFill>
                          <a:effectLst/>
                          <a:latin typeface="微软雅黑" pitchFamily="34" charset="-122"/>
                          <a:ea typeface="微软雅黑" pitchFamily="34" charset="-122"/>
                        </a:rPr>
                        <a:t>地址</a:t>
                      </a:r>
                      <a:r>
                        <a:rPr lang="en-US" altLang="zh-CN" sz="1400" b="1" dirty="0">
                          <a:solidFill>
                            <a:schemeClr val="tx1"/>
                          </a:solidFill>
                          <a:effectLst/>
                          <a:latin typeface="微软雅黑" pitchFamily="34" charset="-122"/>
                          <a:ea typeface="微软雅黑" pitchFamily="34" charset="-122"/>
                        </a:rPr>
                        <a:t> </a:t>
                      </a:r>
                      <a:r>
                        <a:rPr lang="en-US" sz="1400" b="1" dirty="0">
                          <a:solidFill>
                            <a:schemeClr val="tx1"/>
                          </a:solidFill>
                          <a:effectLst/>
                          <a:latin typeface="微软雅黑" pitchFamily="34" charset="-122"/>
                          <a:ea typeface="微软雅黑" pitchFamily="34" charset="-122"/>
                        </a:rPr>
                        <a:t>: TCP </a:t>
                      </a:r>
                      <a:r>
                        <a:rPr lang="zh-CN" sz="1400" b="1" dirty="0">
                          <a:solidFill>
                            <a:schemeClr val="tx1"/>
                          </a:solidFill>
                          <a:effectLst/>
                          <a:latin typeface="微软雅黑" pitchFamily="34" charset="-122"/>
                          <a:ea typeface="微软雅黑" pitchFamily="34" charset="-122"/>
                        </a:rPr>
                        <a:t>源端口</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1400" b="1" dirty="0">
                          <a:solidFill>
                            <a:schemeClr val="tx1"/>
                          </a:solidFill>
                          <a:effectLst/>
                          <a:latin typeface="微软雅黑" pitchFamily="34" charset="-122"/>
                          <a:ea typeface="微软雅黑" pitchFamily="34" charset="-122"/>
                        </a:rPr>
                        <a:t>192.168.0.3 : 30000</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1400" b="1" dirty="0">
                          <a:solidFill>
                            <a:srgbClr val="0000FF"/>
                          </a:solidFill>
                          <a:effectLst/>
                          <a:latin typeface="微软雅黑" pitchFamily="34" charset="-122"/>
                          <a:ea typeface="微软雅黑" pitchFamily="34" charset="-122"/>
                        </a:rPr>
                        <a:t>172.38.1.5</a:t>
                      </a:r>
                      <a:r>
                        <a:rPr lang="en-US" sz="1400" b="1" dirty="0">
                          <a:solidFill>
                            <a:schemeClr val="tx1"/>
                          </a:solidFill>
                          <a:effectLst/>
                          <a:latin typeface="微软雅黑" pitchFamily="34" charset="-122"/>
                          <a:ea typeface="微软雅黑" pitchFamily="34" charset="-122"/>
                        </a:rPr>
                        <a:t> : </a:t>
                      </a:r>
                      <a:r>
                        <a:rPr lang="en-US" sz="1400" b="1" dirty="0">
                          <a:solidFill>
                            <a:srgbClr val="C00000"/>
                          </a:solidFill>
                          <a:effectLst/>
                          <a:latin typeface="微软雅黑" pitchFamily="34" charset="-122"/>
                          <a:ea typeface="微软雅黑" pitchFamily="34" charset="-122"/>
                        </a:rPr>
                        <a:t>40001</a:t>
                      </a:r>
                      <a:endParaRPr lang="zh-CN" sz="1400" b="1" dirty="0">
                        <a:solidFill>
                          <a:srgbClr val="C00000"/>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368497">
                <a:tc>
                  <a:txBody>
                    <a:bodyPr/>
                    <a:lstStyle/>
                    <a:p>
                      <a:pPr algn="ctr">
                        <a:lnSpc>
                          <a:spcPct val="100000"/>
                        </a:lnSpc>
                        <a:spcAft>
                          <a:spcPts val="0"/>
                        </a:spcAft>
                        <a:tabLst>
                          <a:tab pos="3886200" algn="l"/>
                        </a:tabLst>
                      </a:pPr>
                      <a:r>
                        <a:rPr lang="zh-CN" sz="1400" b="1" dirty="0">
                          <a:solidFill>
                            <a:schemeClr val="tx1"/>
                          </a:solidFill>
                          <a:effectLst/>
                          <a:latin typeface="微软雅黑" pitchFamily="34" charset="-122"/>
                          <a:ea typeface="微软雅黑" pitchFamily="34" charset="-122"/>
                        </a:rPr>
                        <a:t>出</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a:lnSpc>
                          <a:spcPct val="100000"/>
                        </a:lnSpc>
                        <a:spcAft>
                          <a:spcPts val="0"/>
                        </a:spcAft>
                        <a:tabLst>
                          <a:tab pos="3886200" algn="l"/>
                        </a:tabLst>
                      </a:pPr>
                      <a:r>
                        <a:rPr lang="zh-CN" sz="1400" b="1" dirty="0">
                          <a:solidFill>
                            <a:schemeClr val="tx1"/>
                          </a:solidFill>
                          <a:effectLst/>
                          <a:latin typeface="微软雅黑" pitchFamily="34" charset="-122"/>
                          <a:ea typeface="微软雅黑" pitchFamily="34" charset="-122"/>
                        </a:rPr>
                        <a:t>源</a:t>
                      </a:r>
                      <a:r>
                        <a:rPr lang="en-US" altLang="zh-CN" sz="1400" b="1" dirty="0">
                          <a:solidFill>
                            <a:schemeClr val="tx1"/>
                          </a:solidFill>
                          <a:effectLst/>
                          <a:latin typeface="微软雅黑" pitchFamily="34" charset="-122"/>
                          <a:ea typeface="微软雅黑" pitchFamily="34" charset="-122"/>
                        </a:rPr>
                        <a:t> </a:t>
                      </a:r>
                      <a:r>
                        <a:rPr lang="en-US" sz="1400" b="1" dirty="0">
                          <a:solidFill>
                            <a:schemeClr val="tx1"/>
                          </a:solidFill>
                          <a:effectLst/>
                          <a:latin typeface="微软雅黑" pitchFamily="34" charset="-122"/>
                          <a:ea typeface="微软雅黑" pitchFamily="34" charset="-122"/>
                        </a:rPr>
                        <a:t>IP </a:t>
                      </a:r>
                      <a:r>
                        <a:rPr lang="zh-CN" sz="1400" b="1" dirty="0">
                          <a:solidFill>
                            <a:schemeClr val="tx1"/>
                          </a:solidFill>
                          <a:effectLst/>
                          <a:latin typeface="微软雅黑" pitchFamily="34" charset="-122"/>
                          <a:ea typeface="微软雅黑" pitchFamily="34" charset="-122"/>
                        </a:rPr>
                        <a:t>地址</a:t>
                      </a:r>
                      <a:r>
                        <a:rPr lang="en-US" altLang="zh-CN" sz="1400" b="1" dirty="0">
                          <a:solidFill>
                            <a:schemeClr val="tx1"/>
                          </a:solidFill>
                          <a:effectLst/>
                          <a:latin typeface="微软雅黑" pitchFamily="34" charset="-122"/>
                          <a:ea typeface="微软雅黑" pitchFamily="34" charset="-122"/>
                        </a:rPr>
                        <a:t> </a:t>
                      </a:r>
                      <a:r>
                        <a:rPr lang="en-US" sz="1400" b="1" dirty="0">
                          <a:solidFill>
                            <a:schemeClr val="tx1"/>
                          </a:solidFill>
                          <a:effectLst/>
                          <a:latin typeface="微软雅黑" pitchFamily="34" charset="-122"/>
                          <a:ea typeface="微软雅黑" pitchFamily="34" charset="-122"/>
                        </a:rPr>
                        <a:t>: TCP </a:t>
                      </a:r>
                      <a:r>
                        <a:rPr lang="zh-CN" sz="1400" b="1" dirty="0">
                          <a:solidFill>
                            <a:schemeClr val="tx1"/>
                          </a:solidFill>
                          <a:effectLst/>
                          <a:latin typeface="微软雅黑" pitchFamily="34" charset="-122"/>
                          <a:ea typeface="微软雅黑" pitchFamily="34" charset="-122"/>
                        </a:rPr>
                        <a:t>源端口</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tabLst>
                          <a:tab pos="3886200" algn="l"/>
                        </a:tabLst>
                      </a:pPr>
                      <a:r>
                        <a:rPr lang="en-US" sz="1400" b="1" dirty="0">
                          <a:solidFill>
                            <a:schemeClr val="tx1"/>
                          </a:solidFill>
                          <a:effectLst/>
                          <a:latin typeface="微软雅黑" pitchFamily="34" charset="-122"/>
                          <a:ea typeface="微软雅黑" pitchFamily="34" charset="-122"/>
                        </a:rPr>
                        <a:t>192.168.0.4 : 30000</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tabLst>
                          <a:tab pos="3886200" algn="l"/>
                        </a:tabLst>
                      </a:pPr>
                      <a:r>
                        <a:rPr lang="en-US" sz="1400" b="1" dirty="0">
                          <a:solidFill>
                            <a:srgbClr val="0000FF"/>
                          </a:solidFill>
                          <a:effectLst/>
                          <a:latin typeface="微软雅黑" pitchFamily="34" charset="-122"/>
                          <a:ea typeface="微软雅黑" pitchFamily="34" charset="-122"/>
                        </a:rPr>
                        <a:t>172.38.1.5</a:t>
                      </a:r>
                      <a:r>
                        <a:rPr lang="en-US" sz="1400" b="1" dirty="0">
                          <a:solidFill>
                            <a:schemeClr val="tx1"/>
                          </a:solidFill>
                          <a:effectLst/>
                          <a:latin typeface="微软雅黑" pitchFamily="34" charset="-122"/>
                          <a:ea typeface="微软雅黑" pitchFamily="34" charset="-122"/>
                        </a:rPr>
                        <a:t> : </a:t>
                      </a:r>
                      <a:r>
                        <a:rPr lang="en-US" sz="1400" b="1" dirty="0">
                          <a:solidFill>
                            <a:srgbClr val="C00000"/>
                          </a:solidFill>
                          <a:effectLst/>
                          <a:latin typeface="微软雅黑" pitchFamily="34" charset="-122"/>
                          <a:ea typeface="微软雅黑" pitchFamily="34" charset="-122"/>
                        </a:rPr>
                        <a:t>40002</a:t>
                      </a:r>
                      <a:endParaRPr lang="zh-CN" sz="1400" b="1" dirty="0">
                        <a:solidFill>
                          <a:srgbClr val="C00000"/>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2"/>
                  </a:ext>
                </a:extLst>
              </a:tr>
              <a:tr h="368497">
                <a:tc>
                  <a:txBody>
                    <a:bodyPr/>
                    <a:lstStyle/>
                    <a:p>
                      <a:pPr algn="ctr">
                        <a:lnSpc>
                          <a:spcPct val="100000"/>
                        </a:lnSpc>
                        <a:spcAft>
                          <a:spcPts val="0"/>
                        </a:spcAft>
                        <a:tabLst>
                          <a:tab pos="3886200" algn="l"/>
                        </a:tabLst>
                      </a:pPr>
                      <a:r>
                        <a:rPr lang="zh-CN" sz="1400" b="1">
                          <a:solidFill>
                            <a:schemeClr val="tx1"/>
                          </a:solidFill>
                          <a:effectLst/>
                          <a:latin typeface="微软雅黑" pitchFamily="34" charset="-122"/>
                          <a:ea typeface="微软雅黑" pitchFamily="34" charset="-122"/>
                        </a:rPr>
                        <a:t>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just">
                        <a:lnSpc>
                          <a:spcPct val="100000"/>
                        </a:lnSpc>
                        <a:spcAft>
                          <a:spcPts val="0"/>
                        </a:spcAft>
                        <a:tabLst>
                          <a:tab pos="3886200" algn="l"/>
                        </a:tabLst>
                      </a:pPr>
                      <a:r>
                        <a:rPr lang="zh-CN" sz="1400" b="1" dirty="0">
                          <a:solidFill>
                            <a:schemeClr val="tx1"/>
                          </a:solidFill>
                          <a:effectLst/>
                          <a:latin typeface="微软雅黑" pitchFamily="34" charset="-122"/>
                          <a:ea typeface="微软雅黑" pitchFamily="34" charset="-122"/>
                        </a:rPr>
                        <a:t>目的</a:t>
                      </a:r>
                      <a:r>
                        <a:rPr lang="en-US" altLang="zh-CN" sz="1400" b="1" dirty="0">
                          <a:solidFill>
                            <a:schemeClr val="tx1"/>
                          </a:solidFill>
                          <a:effectLst/>
                          <a:latin typeface="微软雅黑" pitchFamily="34" charset="-122"/>
                          <a:ea typeface="微软雅黑" pitchFamily="34" charset="-122"/>
                        </a:rPr>
                        <a:t> </a:t>
                      </a:r>
                      <a:r>
                        <a:rPr lang="en-US" sz="1400" b="1" dirty="0">
                          <a:solidFill>
                            <a:schemeClr val="tx1"/>
                          </a:solidFill>
                          <a:effectLst/>
                          <a:latin typeface="微软雅黑" pitchFamily="34" charset="-122"/>
                          <a:ea typeface="微软雅黑" pitchFamily="34" charset="-122"/>
                        </a:rPr>
                        <a:t>IP </a:t>
                      </a:r>
                      <a:r>
                        <a:rPr lang="zh-CN" sz="1400" b="1" dirty="0">
                          <a:solidFill>
                            <a:schemeClr val="tx1"/>
                          </a:solidFill>
                          <a:effectLst/>
                          <a:latin typeface="微软雅黑" pitchFamily="34" charset="-122"/>
                          <a:ea typeface="微软雅黑" pitchFamily="34" charset="-122"/>
                        </a:rPr>
                        <a:t>地址</a:t>
                      </a:r>
                      <a:r>
                        <a:rPr lang="en-US" altLang="zh-CN" sz="1400" b="1" dirty="0">
                          <a:solidFill>
                            <a:schemeClr val="tx1"/>
                          </a:solidFill>
                          <a:effectLst/>
                          <a:latin typeface="微软雅黑" pitchFamily="34" charset="-122"/>
                          <a:ea typeface="微软雅黑" pitchFamily="34" charset="-122"/>
                        </a:rPr>
                        <a:t> </a:t>
                      </a:r>
                      <a:r>
                        <a:rPr lang="en-US" sz="1400" b="1" dirty="0">
                          <a:solidFill>
                            <a:schemeClr val="tx1"/>
                          </a:solidFill>
                          <a:effectLst/>
                          <a:latin typeface="微软雅黑" pitchFamily="34" charset="-122"/>
                          <a:ea typeface="微软雅黑" pitchFamily="34" charset="-122"/>
                        </a:rPr>
                        <a:t>: TCP </a:t>
                      </a:r>
                      <a:r>
                        <a:rPr lang="zh-CN" sz="1400" b="1" dirty="0">
                          <a:solidFill>
                            <a:schemeClr val="tx1"/>
                          </a:solidFill>
                          <a:effectLst/>
                          <a:latin typeface="微软雅黑" pitchFamily="34" charset="-122"/>
                          <a:ea typeface="微软雅黑" pitchFamily="34" charset="-122"/>
                        </a:rPr>
                        <a:t>目的端口</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1400" b="1" dirty="0">
                          <a:solidFill>
                            <a:srgbClr val="0000FF"/>
                          </a:solidFill>
                          <a:effectLst/>
                          <a:latin typeface="微软雅黑" pitchFamily="34" charset="-122"/>
                          <a:ea typeface="微软雅黑" pitchFamily="34" charset="-122"/>
                        </a:rPr>
                        <a:t>172.38.1.5</a:t>
                      </a:r>
                      <a:r>
                        <a:rPr lang="en-US" sz="1400" b="1" dirty="0">
                          <a:solidFill>
                            <a:schemeClr val="tx1"/>
                          </a:solidFill>
                          <a:effectLst/>
                          <a:latin typeface="微软雅黑" pitchFamily="34" charset="-122"/>
                          <a:ea typeface="微软雅黑" pitchFamily="34" charset="-122"/>
                        </a:rPr>
                        <a:t> : </a:t>
                      </a:r>
                      <a:r>
                        <a:rPr lang="en-US" sz="1400" b="1" kern="1200" dirty="0">
                          <a:solidFill>
                            <a:srgbClr val="C00000"/>
                          </a:solidFill>
                          <a:effectLst/>
                          <a:latin typeface="微软雅黑" pitchFamily="34" charset="-122"/>
                          <a:ea typeface="微软雅黑" pitchFamily="34" charset="-122"/>
                          <a:cs typeface="+mn-cs"/>
                        </a:rPr>
                        <a:t>40001</a:t>
                      </a:r>
                      <a:endParaRPr lang="zh-CN" sz="1400" b="1" kern="1200" dirty="0">
                        <a:solidFill>
                          <a:srgbClr val="C00000"/>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1400" b="1" dirty="0">
                          <a:solidFill>
                            <a:schemeClr val="tx1"/>
                          </a:solidFill>
                          <a:effectLst/>
                          <a:latin typeface="微软雅黑" pitchFamily="34" charset="-122"/>
                          <a:ea typeface="微软雅黑" pitchFamily="34" charset="-122"/>
                        </a:rPr>
                        <a:t>192.168.0.3 : 30000</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r h="368497">
                <a:tc>
                  <a:txBody>
                    <a:bodyPr/>
                    <a:lstStyle/>
                    <a:p>
                      <a:pPr algn="ctr">
                        <a:lnSpc>
                          <a:spcPct val="100000"/>
                        </a:lnSpc>
                        <a:spcAft>
                          <a:spcPts val="0"/>
                        </a:spcAft>
                        <a:tabLst>
                          <a:tab pos="3886200" algn="l"/>
                        </a:tabLst>
                      </a:pPr>
                      <a:r>
                        <a:rPr lang="zh-CN" sz="1400" b="1" dirty="0">
                          <a:solidFill>
                            <a:schemeClr val="tx1"/>
                          </a:solidFill>
                          <a:effectLst/>
                          <a:latin typeface="微软雅黑" pitchFamily="34" charset="-122"/>
                          <a:ea typeface="微软雅黑" pitchFamily="34" charset="-122"/>
                        </a:rPr>
                        <a:t>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a:lnSpc>
                          <a:spcPct val="100000"/>
                        </a:lnSpc>
                        <a:spcAft>
                          <a:spcPts val="0"/>
                        </a:spcAft>
                        <a:tabLst>
                          <a:tab pos="3886200" algn="l"/>
                        </a:tabLst>
                      </a:pPr>
                      <a:r>
                        <a:rPr lang="zh-CN" sz="1400" b="1" dirty="0">
                          <a:solidFill>
                            <a:schemeClr val="tx1"/>
                          </a:solidFill>
                          <a:effectLst/>
                          <a:latin typeface="微软雅黑" pitchFamily="34" charset="-122"/>
                          <a:ea typeface="微软雅黑" pitchFamily="34" charset="-122"/>
                        </a:rPr>
                        <a:t>目的</a:t>
                      </a:r>
                      <a:r>
                        <a:rPr lang="en-US" altLang="zh-CN" sz="1400" b="1" dirty="0">
                          <a:solidFill>
                            <a:schemeClr val="tx1"/>
                          </a:solidFill>
                          <a:effectLst/>
                          <a:latin typeface="微软雅黑" pitchFamily="34" charset="-122"/>
                          <a:ea typeface="微软雅黑" pitchFamily="34" charset="-122"/>
                        </a:rPr>
                        <a:t> </a:t>
                      </a:r>
                      <a:r>
                        <a:rPr lang="en-US" sz="1400" b="1" dirty="0">
                          <a:solidFill>
                            <a:schemeClr val="tx1"/>
                          </a:solidFill>
                          <a:effectLst/>
                          <a:latin typeface="微软雅黑" pitchFamily="34" charset="-122"/>
                          <a:ea typeface="微软雅黑" pitchFamily="34" charset="-122"/>
                        </a:rPr>
                        <a:t>IP </a:t>
                      </a:r>
                      <a:r>
                        <a:rPr lang="zh-CN" sz="1400" b="1" dirty="0">
                          <a:solidFill>
                            <a:schemeClr val="tx1"/>
                          </a:solidFill>
                          <a:effectLst/>
                          <a:latin typeface="微软雅黑" pitchFamily="34" charset="-122"/>
                          <a:ea typeface="微软雅黑" pitchFamily="34" charset="-122"/>
                        </a:rPr>
                        <a:t>地址</a:t>
                      </a:r>
                      <a:r>
                        <a:rPr lang="en-US" altLang="zh-CN" sz="1400" b="1" dirty="0">
                          <a:solidFill>
                            <a:schemeClr val="tx1"/>
                          </a:solidFill>
                          <a:effectLst/>
                          <a:latin typeface="微软雅黑" pitchFamily="34" charset="-122"/>
                          <a:ea typeface="微软雅黑" pitchFamily="34" charset="-122"/>
                        </a:rPr>
                        <a:t> </a:t>
                      </a:r>
                      <a:r>
                        <a:rPr lang="en-US" sz="1400" b="1" dirty="0">
                          <a:solidFill>
                            <a:schemeClr val="tx1"/>
                          </a:solidFill>
                          <a:effectLst/>
                          <a:latin typeface="微软雅黑" pitchFamily="34" charset="-122"/>
                          <a:ea typeface="微软雅黑" pitchFamily="34" charset="-122"/>
                        </a:rPr>
                        <a:t>: TCP </a:t>
                      </a:r>
                      <a:r>
                        <a:rPr lang="zh-CN" sz="1400" b="1" dirty="0">
                          <a:solidFill>
                            <a:schemeClr val="tx1"/>
                          </a:solidFill>
                          <a:effectLst/>
                          <a:latin typeface="微软雅黑" pitchFamily="34" charset="-122"/>
                          <a:ea typeface="微软雅黑" pitchFamily="34" charset="-122"/>
                        </a:rPr>
                        <a:t>目的端口</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marL="0" algn="ctr" defTabSz="914400" rtl="0" eaLnBrk="1" latinLnBrk="0" hangingPunct="1">
                        <a:lnSpc>
                          <a:spcPct val="100000"/>
                        </a:lnSpc>
                        <a:spcAft>
                          <a:spcPts val="0"/>
                        </a:spcAft>
                        <a:tabLst>
                          <a:tab pos="3886200" algn="l"/>
                        </a:tabLst>
                      </a:pPr>
                      <a:r>
                        <a:rPr lang="en-US" sz="1400" b="1" kern="1200" dirty="0">
                          <a:solidFill>
                            <a:srgbClr val="0000FF"/>
                          </a:solidFill>
                          <a:effectLst/>
                          <a:latin typeface="微软雅黑" pitchFamily="34" charset="-122"/>
                          <a:ea typeface="微软雅黑" pitchFamily="34" charset="-122"/>
                          <a:cs typeface="+mn-cs"/>
                        </a:rPr>
                        <a:t>172.38.1.5</a:t>
                      </a:r>
                      <a:r>
                        <a:rPr lang="en-US" sz="1400" b="1" dirty="0">
                          <a:solidFill>
                            <a:schemeClr val="tx1"/>
                          </a:solidFill>
                          <a:effectLst/>
                          <a:latin typeface="微软雅黑" pitchFamily="34" charset="-122"/>
                          <a:ea typeface="微软雅黑" pitchFamily="34" charset="-122"/>
                        </a:rPr>
                        <a:t> : </a:t>
                      </a:r>
                      <a:r>
                        <a:rPr lang="en-US" sz="1400" b="1" kern="1200" dirty="0">
                          <a:solidFill>
                            <a:srgbClr val="C00000"/>
                          </a:solidFill>
                          <a:effectLst/>
                          <a:latin typeface="微软雅黑" pitchFamily="34" charset="-122"/>
                          <a:ea typeface="微软雅黑" pitchFamily="34" charset="-122"/>
                          <a:cs typeface="+mn-cs"/>
                        </a:rPr>
                        <a:t>40002</a:t>
                      </a:r>
                      <a:endParaRPr lang="zh-CN" sz="1400" b="1" kern="1200" dirty="0">
                        <a:solidFill>
                          <a:srgbClr val="C00000"/>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tabLst>
                          <a:tab pos="3886200" algn="l"/>
                        </a:tabLst>
                      </a:pPr>
                      <a:r>
                        <a:rPr lang="en-US" sz="1400" b="1" dirty="0">
                          <a:solidFill>
                            <a:schemeClr val="tx1"/>
                          </a:solidFill>
                          <a:effectLst/>
                          <a:latin typeface="微软雅黑" pitchFamily="34" charset="-122"/>
                          <a:ea typeface="微软雅黑" pitchFamily="34" charset="-122"/>
                        </a:rPr>
                        <a:t>192.168.0.4 : 30000</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4"/>
                  </a:ext>
                </a:extLst>
              </a:tr>
            </a:tbl>
          </a:graphicData>
        </a:graphic>
      </p:graphicFrame>
      <p:sp>
        <p:nvSpPr>
          <p:cNvPr id="7" name="对角圆角矩形 6"/>
          <p:cNvSpPr/>
          <p:nvPr/>
        </p:nvSpPr>
        <p:spPr>
          <a:xfrm>
            <a:off x="671891" y="3157267"/>
            <a:ext cx="7593920" cy="1505270"/>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矩形 7"/>
          <p:cNvSpPr/>
          <p:nvPr/>
        </p:nvSpPr>
        <p:spPr>
          <a:xfrm>
            <a:off x="896295" y="3243907"/>
            <a:ext cx="7143183" cy="1323439"/>
          </a:xfrm>
          <a:prstGeom prst="rect">
            <a:avLst/>
          </a:prstGeom>
        </p:spPr>
        <p:txBody>
          <a:bodyPr wrap="square">
            <a:spAutoFit/>
          </a:bodyPr>
          <a:lstStyle/>
          <a:p>
            <a:pPr marL="285750" indent="-285750">
              <a:lnSpc>
                <a:spcPts val="2400"/>
              </a:lnSpc>
              <a:buFont typeface="Wingdings" panose="05000000000000000000" pitchFamily="2" charset="2"/>
              <a:buChar char="l"/>
            </a:pPr>
            <a:r>
              <a:rPr lang="en-US" altLang="zh-CN" b="1" dirty="0">
                <a:solidFill>
                  <a:schemeClr val="bg1"/>
                </a:solidFill>
                <a:latin typeface="微软雅黑" pitchFamily="34" charset="-122"/>
                <a:ea typeface="微软雅黑" pitchFamily="34" charset="-122"/>
              </a:rPr>
              <a:t>NAPT </a:t>
            </a:r>
            <a:r>
              <a:rPr lang="zh-CN" altLang="en-US" b="1" dirty="0">
                <a:solidFill>
                  <a:schemeClr val="bg1"/>
                </a:solidFill>
                <a:latin typeface="微软雅黑" pitchFamily="34" charset="-122"/>
                <a:ea typeface="微软雅黑" pitchFamily="34" charset="-122"/>
              </a:rPr>
              <a:t>把专用网内不同的源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地址都转换为</a:t>
            </a:r>
            <a:r>
              <a:rPr lang="zh-CN" altLang="en-US" b="1" dirty="0">
                <a:solidFill>
                  <a:srgbClr val="FFFF00"/>
                </a:solidFill>
                <a:latin typeface="微软雅黑" pitchFamily="34" charset="-122"/>
                <a:ea typeface="微软雅黑" pitchFamily="34" charset="-122"/>
              </a:rPr>
              <a:t>相同</a:t>
            </a:r>
            <a:r>
              <a:rPr lang="zh-CN" altLang="en-US" b="1" dirty="0">
                <a:solidFill>
                  <a:schemeClr val="bg1"/>
                </a:solidFill>
                <a:latin typeface="微软雅黑" pitchFamily="34" charset="-122"/>
                <a:ea typeface="微软雅黑" pitchFamily="34" charset="-122"/>
              </a:rPr>
              <a:t>的全球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地址，将 </a:t>
            </a:r>
            <a:r>
              <a:rPr lang="en-US" altLang="zh-CN" b="1" dirty="0">
                <a:solidFill>
                  <a:schemeClr val="bg1"/>
                </a:solidFill>
                <a:latin typeface="微软雅黑" pitchFamily="34" charset="-122"/>
                <a:ea typeface="微软雅黑" pitchFamily="34" charset="-122"/>
              </a:rPr>
              <a:t>TCP </a:t>
            </a:r>
            <a:r>
              <a:rPr lang="zh-CN" altLang="en-US" b="1" dirty="0">
                <a:solidFill>
                  <a:schemeClr val="bg1"/>
                </a:solidFill>
                <a:latin typeface="微软雅黑" pitchFamily="34" charset="-122"/>
                <a:ea typeface="微软雅黑" pitchFamily="34" charset="-122"/>
              </a:rPr>
              <a:t>源端口号转换为</a:t>
            </a:r>
            <a:r>
              <a:rPr lang="zh-CN" altLang="en-US" b="1" dirty="0">
                <a:solidFill>
                  <a:srgbClr val="FFFF00"/>
                </a:solidFill>
                <a:latin typeface="微软雅黑" pitchFamily="34" charset="-122"/>
                <a:ea typeface="微软雅黑" pitchFamily="34" charset="-122"/>
              </a:rPr>
              <a:t>新的</a:t>
            </a:r>
            <a:r>
              <a:rPr lang="zh-CN" altLang="en-US" b="1" dirty="0">
                <a:solidFill>
                  <a:srgbClr val="000066"/>
                </a:solidFill>
                <a:latin typeface="微软雅黑" pitchFamily="34" charset="-122"/>
                <a:ea typeface="微软雅黑" pitchFamily="34" charset="-122"/>
              </a:rPr>
              <a:t> </a:t>
            </a:r>
            <a:r>
              <a:rPr lang="en-US" altLang="zh-CN" b="1" dirty="0">
                <a:solidFill>
                  <a:schemeClr val="bg1"/>
                </a:solidFill>
                <a:latin typeface="微软雅黑" pitchFamily="34" charset="-122"/>
                <a:ea typeface="微软雅黑" pitchFamily="34" charset="-122"/>
              </a:rPr>
              <a:t>TCP </a:t>
            </a:r>
            <a:r>
              <a:rPr lang="zh-CN" altLang="en-US" b="1" dirty="0">
                <a:solidFill>
                  <a:schemeClr val="bg1"/>
                </a:solidFill>
                <a:latin typeface="微软雅黑" pitchFamily="34" charset="-122"/>
                <a:ea typeface="微软雅黑" pitchFamily="34" charset="-122"/>
              </a:rPr>
              <a:t>端口号</a:t>
            </a:r>
            <a:r>
              <a:rPr lang="zh-CN" altLang="en-US" b="1" dirty="0">
                <a:solidFill>
                  <a:srgbClr val="FFFF00"/>
                </a:solidFill>
                <a:latin typeface="微软雅黑" pitchFamily="34" charset="-122"/>
                <a:ea typeface="微软雅黑" pitchFamily="34" charset="-122"/>
              </a:rPr>
              <a:t>（互不相同）。</a:t>
            </a:r>
            <a:endParaRPr lang="en-US" altLang="zh-CN" b="1" dirty="0">
              <a:solidFill>
                <a:srgbClr val="FFFF00"/>
              </a:solidFill>
              <a:latin typeface="微软雅黑" pitchFamily="34" charset="-122"/>
              <a:ea typeface="微软雅黑" pitchFamily="34" charset="-122"/>
            </a:endParaRPr>
          </a:p>
          <a:p>
            <a:pPr marL="285750" indent="-285750">
              <a:lnSpc>
                <a:spcPts val="2400"/>
              </a:lnSpc>
              <a:buFont typeface="Wingdings" panose="05000000000000000000" pitchFamily="2" charset="2"/>
              <a:buChar char="l"/>
            </a:pPr>
            <a:r>
              <a:rPr lang="zh-CN" altLang="en-US" b="1" dirty="0">
                <a:solidFill>
                  <a:schemeClr val="bg1"/>
                </a:solidFill>
                <a:latin typeface="微软雅黑" pitchFamily="34" charset="-122"/>
                <a:ea typeface="微软雅黑" pitchFamily="34" charset="-122"/>
              </a:rPr>
              <a:t>收到从互联网发来的应答时，从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数据报的数据部分找出运输层端口号，从 </a:t>
            </a:r>
            <a:r>
              <a:rPr lang="en-US" altLang="zh-CN" b="1" dirty="0">
                <a:solidFill>
                  <a:schemeClr val="bg1"/>
                </a:solidFill>
                <a:latin typeface="微软雅黑" pitchFamily="34" charset="-122"/>
                <a:ea typeface="微软雅黑" pitchFamily="34" charset="-122"/>
              </a:rPr>
              <a:t>NAPT </a:t>
            </a:r>
            <a:r>
              <a:rPr lang="zh-CN" altLang="en-US" b="1" dirty="0">
                <a:solidFill>
                  <a:schemeClr val="bg1"/>
                </a:solidFill>
                <a:latin typeface="微软雅黑" pitchFamily="34" charset="-122"/>
                <a:ea typeface="微软雅黑" pitchFamily="34" charset="-122"/>
              </a:rPr>
              <a:t>转换表中找到正确的目的主机。</a:t>
            </a:r>
          </a:p>
        </p:txBody>
      </p:sp>
    </p:spTree>
    <p:extLst>
      <p:ext uri="{BB962C8B-B14F-4D97-AF65-F5344CB8AC3E}">
        <p14:creationId xmlns:p14="http://schemas.microsoft.com/office/powerpoint/2010/main" val="138373514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9"/>
          <p:cNvSpPr>
            <a:spLocks noChangeArrowheads="1"/>
          </p:cNvSpPr>
          <p:nvPr/>
        </p:nvSpPr>
        <p:spPr bwMode="auto">
          <a:xfrm>
            <a:off x="2303831" y="1339755"/>
            <a:ext cx="6189542"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3" name="Rectangle 10"/>
          <p:cNvSpPr>
            <a:spLocks noChangeArrowheads="1"/>
          </p:cNvSpPr>
          <p:nvPr/>
        </p:nvSpPr>
        <p:spPr bwMode="auto">
          <a:xfrm>
            <a:off x="2303831" y="1946180"/>
            <a:ext cx="6189542"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4" name="Rectangle 27"/>
          <p:cNvSpPr>
            <a:spLocks noChangeArrowheads="1"/>
          </p:cNvSpPr>
          <p:nvPr/>
        </p:nvSpPr>
        <p:spPr bwMode="auto">
          <a:xfrm>
            <a:off x="490266" y="1339755"/>
            <a:ext cx="1636540" cy="1810421"/>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5" name="Rectangle 29"/>
          <p:cNvSpPr>
            <a:spLocks noChangeArrowheads="1"/>
          </p:cNvSpPr>
          <p:nvPr/>
        </p:nvSpPr>
        <p:spPr bwMode="auto">
          <a:xfrm>
            <a:off x="499155" y="1434687"/>
            <a:ext cx="1627651" cy="101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4.9</a:t>
            </a:r>
          </a:p>
          <a:p>
            <a:r>
              <a:rPr lang="zh-CN" altLang="en-US" sz="2000" b="1" dirty="0">
                <a:solidFill>
                  <a:schemeClr val="bg1"/>
                </a:solidFill>
                <a:latin typeface="微软雅黑" pitchFamily="34" charset="-122"/>
                <a:ea typeface="微软雅黑" pitchFamily="34" charset="-122"/>
              </a:rPr>
              <a:t>多协议标签交换 </a:t>
            </a:r>
            <a:r>
              <a:rPr lang="en-US" altLang="zh-CN" sz="2000" b="1" dirty="0">
                <a:solidFill>
                  <a:schemeClr val="bg1"/>
                </a:solidFill>
                <a:latin typeface="微软雅黑" pitchFamily="34" charset="-122"/>
                <a:ea typeface="微软雅黑" pitchFamily="34" charset="-122"/>
              </a:rPr>
              <a:t>MPLS</a:t>
            </a:r>
            <a:endParaRPr lang="zh-CN" altLang="en-US" sz="2000" b="1" dirty="0">
              <a:solidFill>
                <a:schemeClr val="bg1"/>
              </a:solidFill>
              <a:latin typeface="微软雅黑" pitchFamily="34" charset="-122"/>
              <a:ea typeface="微软雅黑" pitchFamily="34" charset="-122"/>
            </a:endParaRPr>
          </a:p>
        </p:txBody>
      </p:sp>
      <p:sp>
        <p:nvSpPr>
          <p:cNvPr id="8" name="Rectangle 9"/>
          <p:cNvSpPr>
            <a:spLocks noChangeArrowheads="1"/>
          </p:cNvSpPr>
          <p:nvPr/>
        </p:nvSpPr>
        <p:spPr bwMode="auto">
          <a:xfrm>
            <a:off x="2303831" y="2552605"/>
            <a:ext cx="6189542"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7" name="Rectangle 8"/>
          <p:cNvSpPr>
            <a:spLocks noChangeArrowheads="1"/>
          </p:cNvSpPr>
          <p:nvPr/>
        </p:nvSpPr>
        <p:spPr bwMode="auto">
          <a:xfrm>
            <a:off x="2287349" y="1305211"/>
            <a:ext cx="6381872" cy="19389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zh-CN" sz="2000" b="1" dirty="0">
                <a:solidFill>
                  <a:schemeClr val="bg1"/>
                </a:solidFill>
                <a:latin typeface="微软雅黑" pitchFamily="34" charset="-122"/>
                <a:ea typeface="微软雅黑" pitchFamily="34" charset="-122"/>
              </a:rPr>
              <a:t>4.9.1                                           MPLS </a:t>
            </a:r>
            <a:r>
              <a:rPr lang="zh-CN" altLang="en-US" sz="2000" b="1" dirty="0">
                <a:solidFill>
                  <a:schemeClr val="bg1"/>
                </a:solidFill>
                <a:latin typeface="微软雅黑" pitchFamily="34" charset="-122"/>
                <a:ea typeface="微软雅黑" pitchFamily="34" charset="-122"/>
              </a:rPr>
              <a:t>的工作原理</a:t>
            </a:r>
            <a:endParaRPr lang="en-US" altLang="zh-CN" sz="2000" b="1" dirty="0">
              <a:solidFill>
                <a:schemeClr val="bg1"/>
              </a:solidFill>
              <a:latin typeface="微软雅黑" pitchFamily="34" charset="-122"/>
              <a:ea typeface="微软雅黑" pitchFamily="34" charset="-122"/>
            </a:endParaRPr>
          </a:p>
          <a:p>
            <a:endParaRPr lang="zh-CN" altLang="en-US"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4.9.2                                 MPLS </a:t>
            </a:r>
            <a:r>
              <a:rPr lang="zh-CN" altLang="en-US" sz="2000" b="1" dirty="0">
                <a:solidFill>
                  <a:schemeClr val="bg1"/>
                </a:solidFill>
                <a:latin typeface="微软雅黑" pitchFamily="34" charset="-122"/>
                <a:ea typeface="微软雅黑" pitchFamily="34" charset="-122"/>
              </a:rPr>
              <a:t>首部的位置与格式</a:t>
            </a:r>
            <a:endParaRPr lang="en-US" altLang="zh-CN" sz="2000" b="1" dirty="0">
              <a:solidFill>
                <a:schemeClr val="bg1"/>
              </a:solidFill>
              <a:latin typeface="微软雅黑" pitchFamily="34" charset="-122"/>
              <a:ea typeface="微软雅黑" pitchFamily="34" charset="-122"/>
            </a:endParaRPr>
          </a:p>
          <a:p>
            <a:endParaRPr lang="en-US" altLang="zh-CN"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4.9.3                                               </a:t>
            </a:r>
            <a:r>
              <a:rPr lang="zh-CN" altLang="en-US" sz="2000" b="1" dirty="0">
                <a:solidFill>
                  <a:schemeClr val="bg1"/>
                </a:solidFill>
                <a:latin typeface="微软雅黑" pitchFamily="34" charset="-122"/>
                <a:ea typeface="微软雅黑" pitchFamily="34" charset="-122"/>
              </a:rPr>
              <a:t>新一代的 </a:t>
            </a:r>
            <a:r>
              <a:rPr lang="en-US" altLang="zh-CN" sz="2000" b="1" dirty="0">
                <a:solidFill>
                  <a:schemeClr val="bg1"/>
                </a:solidFill>
                <a:latin typeface="微软雅黑" pitchFamily="34" charset="-122"/>
                <a:ea typeface="微软雅黑" pitchFamily="34" charset="-122"/>
              </a:rPr>
              <a:t>MPLS</a:t>
            </a:r>
          </a:p>
          <a:p>
            <a:endParaRPr lang="zh-CN" altLang="en-US" sz="2000" b="1" dirty="0">
              <a:solidFill>
                <a:schemeClr val="bg1"/>
              </a:solidFill>
              <a:latin typeface="微软雅黑" pitchFamily="34" charset="-122"/>
              <a:ea typeface="微软雅黑" pitchFamily="34" charset="-122"/>
            </a:endParaRPr>
          </a:p>
        </p:txBody>
      </p:sp>
      <p:sp>
        <p:nvSpPr>
          <p:cNvPr id="6" name="Line 16"/>
          <p:cNvSpPr>
            <a:spLocks noChangeShapeType="1"/>
          </p:cNvSpPr>
          <p:nvPr/>
        </p:nvSpPr>
        <p:spPr bwMode="auto">
          <a:xfrm>
            <a:off x="3311894" y="1268318"/>
            <a:ext cx="0" cy="2283662"/>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Tree>
    <p:extLst>
      <p:ext uri="{BB962C8B-B14F-4D97-AF65-F5344CB8AC3E}">
        <p14:creationId xmlns:p14="http://schemas.microsoft.com/office/powerpoint/2010/main" val="419361019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50216"/>
            <a:ext cx="8053712" cy="226967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4" name="Line 4"/>
          <p:cNvSpPr>
            <a:spLocks noChangeShapeType="1"/>
          </p:cNvSpPr>
          <p:nvPr/>
        </p:nvSpPr>
        <p:spPr bwMode="auto">
          <a:xfrm>
            <a:off x="6384717" y="1567295"/>
            <a:ext cx="983708" cy="21830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 name="Line 7"/>
          <p:cNvSpPr>
            <a:spLocks noChangeShapeType="1"/>
          </p:cNvSpPr>
          <p:nvPr/>
        </p:nvSpPr>
        <p:spPr bwMode="auto">
          <a:xfrm>
            <a:off x="2894576" y="1508732"/>
            <a:ext cx="1186834" cy="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6" name="Line 8"/>
          <p:cNvSpPr>
            <a:spLocks noChangeShapeType="1"/>
          </p:cNvSpPr>
          <p:nvPr/>
        </p:nvSpPr>
        <p:spPr bwMode="auto">
          <a:xfrm flipV="1">
            <a:off x="4220064" y="1498524"/>
            <a:ext cx="1955637" cy="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 name="Line 9"/>
          <p:cNvSpPr>
            <a:spLocks noChangeShapeType="1"/>
          </p:cNvSpPr>
          <p:nvPr/>
        </p:nvSpPr>
        <p:spPr bwMode="auto">
          <a:xfrm>
            <a:off x="4221099" y="1567295"/>
            <a:ext cx="1610619" cy="80769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 name="Line 10"/>
          <p:cNvSpPr>
            <a:spLocks noChangeShapeType="1"/>
          </p:cNvSpPr>
          <p:nvPr/>
        </p:nvSpPr>
        <p:spPr bwMode="auto">
          <a:xfrm flipV="1">
            <a:off x="6315389" y="1238151"/>
            <a:ext cx="1053035" cy="192558"/>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 name="Line 11"/>
          <p:cNvSpPr>
            <a:spLocks noChangeShapeType="1"/>
          </p:cNvSpPr>
          <p:nvPr/>
        </p:nvSpPr>
        <p:spPr bwMode="auto">
          <a:xfrm>
            <a:off x="6049775" y="2322657"/>
            <a:ext cx="792131" cy="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0" name="Freeform 15"/>
          <p:cNvSpPr>
            <a:spLocks/>
          </p:cNvSpPr>
          <p:nvPr/>
        </p:nvSpPr>
        <p:spPr bwMode="auto">
          <a:xfrm>
            <a:off x="3428964" y="1549534"/>
            <a:ext cx="603491" cy="1446073"/>
          </a:xfrm>
          <a:custGeom>
            <a:avLst/>
            <a:gdLst>
              <a:gd name="T0" fmla="*/ 0 w 454"/>
              <a:gd name="T1" fmla="*/ 91 h 951"/>
              <a:gd name="T2" fmla="*/ 454 w 454"/>
              <a:gd name="T3" fmla="*/ 0 h 951"/>
              <a:gd name="T4" fmla="*/ 4 w 454"/>
              <a:gd name="T5" fmla="*/ 951 h 951"/>
              <a:gd name="T6" fmla="*/ 0 w 454"/>
              <a:gd name="T7" fmla="*/ 91 h 951"/>
            </a:gdLst>
            <a:ahLst/>
            <a:cxnLst>
              <a:cxn ang="0">
                <a:pos x="T0" y="T1"/>
              </a:cxn>
              <a:cxn ang="0">
                <a:pos x="T2" y="T3"/>
              </a:cxn>
              <a:cxn ang="0">
                <a:pos x="T4" y="T5"/>
              </a:cxn>
              <a:cxn ang="0">
                <a:pos x="T6" y="T7"/>
              </a:cxn>
            </a:cxnLst>
            <a:rect l="0" t="0" r="r" b="b"/>
            <a:pathLst>
              <a:path w="454" h="951">
                <a:moveTo>
                  <a:pt x="0" y="91"/>
                </a:moveTo>
                <a:lnTo>
                  <a:pt x="454" y="0"/>
                </a:lnTo>
                <a:lnTo>
                  <a:pt x="4" y="951"/>
                </a:lnTo>
                <a:lnTo>
                  <a:pt x="0" y="91"/>
                </a:lnTo>
                <a:close/>
              </a:path>
            </a:pathLst>
          </a:custGeom>
          <a:gradFill rotWithShape="1">
            <a:gsLst>
              <a:gs pos="0">
                <a:srgbClr val="99FFCC"/>
              </a:gs>
              <a:gs pos="100000">
                <a:srgbClr val="0070C0"/>
              </a:gs>
            </a:gsLst>
            <a:lin ang="0" scaled="1"/>
          </a:gradFill>
          <a:ln>
            <a:noFill/>
          </a:ln>
          <a:effectLst/>
        </p:spPr>
        <p:txBody>
          <a:bodyPr/>
          <a:lstStyle/>
          <a:p>
            <a:endParaRPr lang="zh-CN" altLang="en-US" sz="1400" b="1">
              <a:latin typeface="微软雅黑" pitchFamily="34" charset="-122"/>
              <a:ea typeface="微软雅黑" pitchFamily="34" charset="-122"/>
            </a:endParaRPr>
          </a:p>
        </p:txBody>
      </p:sp>
      <p:sp>
        <p:nvSpPr>
          <p:cNvPr id="11" name="Text Box 16"/>
          <p:cNvSpPr txBox="1">
            <a:spLocks noChangeArrowheads="1"/>
          </p:cNvSpPr>
          <p:nvPr/>
        </p:nvSpPr>
        <p:spPr bwMode="auto">
          <a:xfrm>
            <a:off x="4221099" y="1277052"/>
            <a:ext cx="29527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0</a:t>
            </a:r>
          </a:p>
        </p:txBody>
      </p:sp>
      <p:sp>
        <p:nvSpPr>
          <p:cNvPr id="12" name="Text Box 17"/>
          <p:cNvSpPr txBox="1">
            <a:spLocks noChangeArrowheads="1"/>
          </p:cNvSpPr>
          <p:nvPr/>
        </p:nvSpPr>
        <p:spPr bwMode="auto">
          <a:xfrm>
            <a:off x="4108148" y="1589722"/>
            <a:ext cx="29527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1</a:t>
            </a:r>
          </a:p>
        </p:txBody>
      </p:sp>
      <p:sp>
        <p:nvSpPr>
          <p:cNvPr id="13" name="Text Box 18"/>
          <p:cNvSpPr txBox="1">
            <a:spLocks noChangeArrowheads="1"/>
          </p:cNvSpPr>
          <p:nvPr/>
        </p:nvSpPr>
        <p:spPr bwMode="auto">
          <a:xfrm>
            <a:off x="3989366" y="1098472"/>
            <a:ext cx="375907" cy="306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S</a:t>
            </a:r>
            <a:r>
              <a:rPr lang="en-US" altLang="zh-CN" sz="1400" b="1" baseline="-25000" dirty="0">
                <a:latin typeface="微软雅黑" pitchFamily="34" charset="-122"/>
                <a:ea typeface="微软雅黑" pitchFamily="34" charset="-122"/>
              </a:rPr>
              <a:t>1</a:t>
            </a:r>
          </a:p>
        </p:txBody>
      </p:sp>
      <p:sp>
        <p:nvSpPr>
          <p:cNvPr id="14" name="Text Box 19"/>
          <p:cNvSpPr txBox="1">
            <a:spLocks noChangeArrowheads="1"/>
          </p:cNvSpPr>
          <p:nvPr/>
        </p:nvSpPr>
        <p:spPr bwMode="auto">
          <a:xfrm>
            <a:off x="6155581" y="1098472"/>
            <a:ext cx="375907" cy="306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S</a:t>
            </a:r>
            <a:r>
              <a:rPr lang="en-US" altLang="zh-CN" sz="1400" b="1" baseline="-25000" dirty="0">
                <a:latin typeface="微软雅黑" pitchFamily="34" charset="-122"/>
                <a:ea typeface="微软雅黑" pitchFamily="34" charset="-122"/>
              </a:rPr>
              <a:t>2</a:t>
            </a:r>
          </a:p>
        </p:txBody>
      </p:sp>
      <p:sp>
        <p:nvSpPr>
          <p:cNvPr id="15" name="Text Box 20"/>
          <p:cNvSpPr txBox="1">
            <a:spLocks noChangeArrowheads="1"/>
          </p:cNvSpPr>
          <p:nvPr/>
        </p:nvSpPr>
        <p:spPr bwMode="auto">
          <a:xfrm>
            <a:off x="5746741" y="1860177"/>
            <a:ext cx="375907" cy="306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S</a:t>
            </a:r>
            <a:r>
              <a:rPr lang="en-US" altLang="zh-CN" sz="1400" b="1" baseline="-25000" dirty="0">
                <a:latin typeface="微软雅黑" pitchFamily="34" charset="-122"/>
                <a:ea typeface="微软雅黑" pitchFamily="34" charset="-122"/>
              </a:rPr>
              <a:t>3</a:t>
            </a:r>
          </a:p>
        </p:txBody>
      </p:sp>
      <p:sp>
        <p:nvSpPr>
          <p:cNvPr id="16" name="Line 21"/>
          <p:cNvSpPr>
            <a:spLocks noChangeShapeType="1"/>
          </p:cNvSpPr>
          <p:nvPr/>
        </p:nvSpPr>
        <p:spPr bwMode="auto">
          <a:xfrm>
            <a:off x="6049775" y="2374993"/>
            <a:ext cx="552390" cy="36016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54" name="组合 53"/>
          <p:cNvGrpSpPr/>
          <p:nvPr/>
        </p:nvGrpSpPr>
        <p:grpSpPr>
          <a:xfrm>
            <a:off x="2963903" y="1162973"/>
            <a:ext cx="908492" cy="276034"/>
            <a:chOff x="2963903" y="1162973"/>
            <a:chExt cx="908492" cy="276034"/>
          </a:xfrm>
        </p:grpSpPr>
        <p:sp>
          <p:nvSpPr>
            <p:cNvPr id="46" name="Line 24"/>
            <p:cNvSpPr>
              <a:spLocks noChangeShapeType="1"/>
            </p:cNvSpPr>
            <p:nvPr/>
          </p:nvSpPr>
          <p:spPr bwMode="auto">
            <a:xfrm>
              <a:off x="3591983" y="1300512"/>
              <a:ext cx="280412" cy="0"/>
            </a:xfrm>
            <a:prstGeom prst="line">
              <a:avLst/>
            </a:prstGeom>
            <a:noFill/>
            <a:ln w="38100">
              <a:solidFill>
                <a:srgbClr val="CC00CC"/>
              </a:solidFill>
              <a:round/>
              <a:headEn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7" name="Rectangle 25"/>
            <p:cNvSpPr>
              <a:spLocks noChangeArrowheads="1"/>
            </p:cNvSpPr>
            <p:nvPr/>
          </p:nvSpPr>
          <p:spPr bwMode="auto">
            <a:xfrm>
              <a:off x="2963903" y="1162973"/>
              <a:ext cx="629115" cy="276034"/>
            </a:xfrm>
            <a:prstGeom prst="rect">
              <a:avLst/>
            </a:prstGeom>
            <a:solidFill>
              <a:srgbClr val="3399FF"/>
            </a:solidFill>
            <a:ln w="9525" algn="ctr">
              <a:solidFill>
                <a:schemeClr val="tx1"/>
              </a:solidFill>
              <a:miter lim="800000"/>
              <a:headEnd/>
              <a:tailEnd/>
            </a:ln>
            <a:effectLst/>
          </p:spPr>
          <p:txBody>
            <a:bodyPr wrap="none" anchor="ctr"/>
            <a:lstStyle/>
            <a:p>
              <a:pPr algn="ctr"/>
              <a:endParaRPr lang="zh-CN" altLang="zh-CN" sz="1400" b="1">
                <a:latin typeface="微软雅黑" pitchFamily="34" charset="-122"/>
                <a:ea typeface="微软雅黑" pitchFamily="34" charset="-122"/>
              </a:endParaRPr>
            </a:p>
          </p:txBody>
        </p:sp>
      </p:grpSp>
      <p:sp>
        <p:nvSpPr>
          <p:cNvPr id="48" name="Rectangle 26"/>
          <p:cNvSpPr>
            <a:spLocks noChangeArrowheads="1"/>
          </p:cNvSpPr>
          <p:nvPr/>
        </p:nvSpPr>
        <p:spPr bwMode="auto">
          <a:xfrm>
            <a:off x="3424357" y="1172525"/>
            <a:ext cx="157279" cy="255021"/>
          </a:xfrm>
          <a:prstGeom prst="rect">
            <a:avLst/>
          </a:prstGeom>
          <a:solidFill>
            <a:srgbClr val="00FFFF"/>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sz="1400" b="1" dirty="0">
                <a:latin typeface="微软雅黑" pitchFamily="34" charset="-122"/>
                <a:ea typeface="微软雅黑" pitchFamily="34" charset="-122"/>
              </a:rPr>
              <a:t>0</a:t>
            </a:r>
          </a:p>
        </p:txBody>
      </p:sp>
      <p:sp>
        <p:nvSpPr>
          <p:cNvPr id="18" name="Text Box 27"/>
          <p:cNvSpPr txBox="1">
            <a:spLocks noChangeArrowheads="1"/>
          </p:cNvSpPr>
          <p:nvPr/>
        </p:nvSpPr>
        <p:spPr bwMode="auto">
          <a:xfrm>
            <a:off x="2126974" y="3012114"/>
            <a:ext cx="111921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S</a:t>
            </a:r>
            <a:r>
              <a:rPr lang="en-US" altLang="zh-CN" sz="1400" b="1" baseline="-25000" dirty="0">
                <a:latin typeface="微软雅黑" pitchFamily="34" charset="-122"/>
                <a:ea typeface="微软雅黑" pitchFamily="34" charset="-122"/>
              </a:rPr>
              <a:t>1 </a:t>
            </a:r>
            <a:r>
              <a:rPr lang="zh-CN" altLang="en-US" sz="1400" b="1" dirty="0">
                <a:latin typeface="微软雅黑" pitchFamily="34" charset="-122"/>
                <a:ea typeface="微软雅黑" pitchFamily="34" charset="-122"/>
              </a:rPr>
              <a:t>的转发表</a:t>
            </a:r>
            <a:endParaRPr lang="zh-CN" altLang="en-US" sz="1400" b="1" baseline="-25000" dirty="0">
              <a:latin typeface="微软雅黑" pitchFamily="34" charset="-122"/>
              <a:ea typeface="微软雅黑" pitchFamily="34" charset="-122"/>
            </a:endParaRPr>
          </a:p>
        </p:txBody>
      </p:sp>
      <p:grpSp>
        <p:nvGrpSpPr>
          <p:cNvPr id="19" name="组合 18"/>
          <p:cNvGrpSpPr/>
          <p:nvPr/>
        </p:nvGrpSpPr>
        <p:grpSpPr>
          <a:xfrm rot="60000">
            <a:off x="4856034" y="1720532"/>
            <a:ext cx="866068" cy="356266"/>
            <a:chOff x="5394987" y="3774690"/>
            <a:chExt cx="1439465" cy="592139"/>
          </a:xfrm>
        </p:grpSpPr>
        <p:sp>
          <p:nvSpPr>
            <p:cNvPr id="43" name="Line 29"/>
            <p:cNvSpPr>
              <a:spLocks noChangeShapeType="1"/>
            </p:cNvSpPr>
            <p:nvPr/>
          </p:nvSpPr>
          <p:spPr bwMode="auto">
            <a:xfrm rot="1516200">
              <a:off x="6368389" y="4298565"/>
              <a:ext cx="466063" cy="0"/>
            </a:xfrm>
            <a:prstGeom prst="line">
              <a:avLst/>
            </a:prstGeom>
            <a:noFill/>
            <a:ln w="38100">
              <a:solidFill>
                <a:srgbClr val="CC00CC"/>
              </a:solidFill>
              <a:round/>
              <a:headEn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4" name="Rectangle 30"/>
            <p:cNvSpPr>
              <a:spLocks noChangeArrowheads="1"/>
            </p:cNvSpPr>
            <p:nvPr/>
          </p:nvSpPr>
          <p:spPr bwMode="auto">
            <a:xfrm rot="1516200">
              <a:off x="5394987" y="3774690"/>
              <a:ext cx="1047353" cy="457200"/>
            </a:xfrm>
            <a:prstGeom prst="rect">
              <a:avLst/>
            </a:prstGeom>
            <a:solidFill>
              <a:srgbClr val="00B0F0"/>
            </a:solidFill>
            <a:ln w="9525">
              <a:solidFill>
                <a:schemeClr val="tx1"/>
              </a:solidFill>
              <a:miter lim="800000"/>
              <a:headEnd/>
              <a:tailEnd/>
            </a:ln>
            <a:effectLst/>
          </p:spPr>
          <p:txBody>
            <a:bodyPr wrap="none" anchor="ctr"/>
            <a:lstStyle/>
            <a:p>
              <a:pPr algn="ctr"/>
              <a:endParaRPr lang="zh-CN" altLang="zh-CN" sz="1400" b="1">
                <a:latin typeface="微软雅黑" pitchFamily="34" charset="-122"/>
                <a:ea typeface="微软雅黑" pitchFamily="34" charset="-122"/>
              </a:endParaRPr>
            </a:p>
          </p:txBody>
        </p:sp>
        <p:sp>
          <p:nvSpPr>
            <p:cNvPr id="45" name="Rectangle 31"/>
            <p:cNvSpPr>
              <a:spLocks noChangeArrowheads="1"/>
            </p:cNvSpPr>
            <p:nvPr/>
          </p:nvSpPr>
          <p:spPr bwMode="auto">
            <a:xfrm rot="1516200">
              <a:off x="6124179" y="3942966"/>
              <a:ext cx="261408" cy="423863"/>
            </a:xfrm>
            <a:prstGeom prst="rect">
              <a:avLst/>
            </a:prstGeom>
            <a:solidFill>
              <a:srgbClr val="00FFFF"/>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sz="1400" b="1">
                  <a:latin typeface="微软雅黑" pitchFamily="34" charset="-122"/>
                  <a:ea typeface="微软雅黑" pitchFamily="34" charset="-122"/>
                </a:rPr>
                <a:t>0</a:t>
              </a:r>
            </a:p>
          </p:txBody>
        </p:sp>
      </p:grpSp>
      <p:pic>
        <p:nvPicPr>
          <p:cNvPr id="20" name="Picture 1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908610" y="1371202"/>
            <a:ext cx="377677" cy="3029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 name="Rectangle 5"/>
          <p:cNvSpPr>
            <a:spLocks noChangeArrowheads="1"/>
          </p:cNvSpPr>
          <p:nvPr/>
        </p:nvSpPr>
        <p:spPr bwMode="auto">
          <a:xfrm>
            <a:off x="1979308" y="1687073"/>
            <a:ext cx="1449656" cy="1302803"/>
          </a:xfrm>
          <a:prstGeom prst="rect">
            <a:avLst/>
          </a:prstGeom>
          <a:solidFill>
            <a:srgbClr val="00FFFF"/>
          </a:solidFill>
          <a:ln w="28575">
            <a:solidFill>
              <a:srgbClr val="000099"/>
            </a:solidFill>
            <a:miter lim="800000"/>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2" name="Text Box 6"/>
          <p:cNvSpPr txBox="1">
            <a:spLocks noChangeArrowheads="1"/>
          </p:cNvSpPr>
          <p:nvPr/>
        </p:nvSpPr>
        <p:spPr bwMode="auto">
          <a:xfrm>
            <a:off x="2004337" y="1713913"/>
            <a:ext cx="1420582" cy="13203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CC"/>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110000"/>
              </a:lnSpc>
              <a:spcAft>
                <a:spcPct val="20000"/>
              </a:spcAft>
            </a:pPr>
            <a:r>
              <a:rPr lang="zh-CN" altLang="en-US" sz="1400" b="1" dirty="0">
                <a:latin typeface="微软雅黑" pitchFamily="34" charset="-122"/>
                <a:ea typeface="微软雅黑" pitchFamily="34" charset="-122"/>
              </a:rPr>
              <a:t>标签   转发接口</a:t>
            </a:r>
          </a:p>
          <a:p>
            <a:pPr>
              <a:lnSpc>
                <a:spcPct val="110000"/>
              </a:lnSpc>
            </a:pPr>
            <a:r>
              <a:rPr lang="zh-CN" altLang="en-US" sz="1400" b="1" dirty="0">
                <a:latin typeface="微软雅黑" pitchFamily="34" charset="-122"/>
                <a:ea typeface="微软雅黑" pitchFamily="34" charset="-122"/>
              </a:rPr>
              <a:t>   </a:t>
            </a:r>
            <a:r>
              <a:rPr lang="en-US" altLang="zh-CN" sz="1400" b="1" dirty="0">
                <a:latin typeface="微软雅黑" pitchFamily="34" charset="-122"/>
                <a:ea typeface="微软雅黑" pitchFamily="34" charset="-122"/>
              </a:rPr>
              <a:t>0           1</a:t>
            </a:r>
          </a:p>
          <a:p>
            <a:pPr>
              <a:lnSpc>
                <a:spcPct val="110000"/>
              </a:lnSpc>
            </a:pPr>
            <a:r>
              <a:rPr lang="en-US" altLang="zh-CN" sz="1400" b="1" dirty="0">
                <a:latin typeface="微软雅黑" pitchFamily="34" charset="-122"/>
                <a:ea typeface="微软雅黑" pitchFamily="34" charset="-122"/>
              </a:rPr>
              <a:t>   1           0</a:t>
            </a:r>
          </a:p>
          <a:p>
            <a:pPr>
              <a:lnSpc>
                <a:spcPct val="110000"/>
              </a:lnSpc>
            </a:pPr>
            <a:r>
              <a:rPr lang="en-US" altLang="zh-CN" sz="1400" b="1" dirty="0">
                <a:latin typeface="微软雅黑" pitchFamily="34" charset="-122"/>
                <a:ea typeface="微软雅黑" pitchFamily="34" charset="-122"/>
              </a:rPr>
              <a:t>   2           1</a:t>
            </a:r>
          </a:p>
          <a:p>
            <a:pPr>
              <a:lnSpc>
                <a:spcPct val="110000"/>
              </a:lnSpc>
            </a:pPr>
            <a:r>
              <a:rPr lang="en-US" altLang="zh-CN" sz="1400" b="1" dirty="0">
                <a:latin typeface="微软雅黑" pitchFamily="34" charset="-122"/>
                <a:ea typeface="微软雅黑" pitchFamily="34" charset="-122"/>
              </a:rPr>
              <a:t>   3           1</a:t>
            </a:r>
          </a:p>
        </p:txBody>
      </p:sp>
      <p:sp>
        <p:nvSpPr>
          <p:cNvPr id="23" name="Line 13"/>
          <p:cNvSpPr>
            <a:spLocks noChangeShapeType="1"/>
          </p:cNvSpPr>
          <p:nvPr/>
        </p:nvSpPr>
        <p:spPr bwMode="auto">
          <a:xfrm flipV="1">
            <a:off x="1991725" y="1997206"/>
            <a:ext cx="1437238" cy="2197"/>
          </a:xfrm>
          <a:prstGeom prst="line">
            <a:avLst/>
          </a:prstGeom>
          <a:noFill/>
          <a:ln w="9525">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4" name="Line 14"/>
          <p:cNvSpPr>
            <a:spLocks noChangeShapeType="1"/>
          </p:cNvSpPr>
          <p:nvPr/>
        </p:nvSpPr>
        <p:spPr bwMode="auto">
          <a:xfrm>
            <a:off x="2505986" y="1687073"/>
            <a:ext cx="0" cy="1302803"/>
          </a:xfrm>
          <a:prstGeom prst="line">
            <a:avLst/>
          </a:prstGeom>
          <a:noFill/>
          <a:ln w="9525">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25" name="组合 24"/>
          <p:cNvGrpSpPr/>
          <p:nvPr/>
        </p:nvGrpSpPr>
        <p:grpSpPr>
          <a:xfrm>
            <a:off x="5370820" y="2302961"/>
            <a:ext cx="541273" cy="669534"/>
            <a:chOff x="6717662" y="4764460"/>
            <a:chExt cx="899634" cy="1112812"/>
          </a:xfrm>
        </p:grpSpPr>
        <p:sp>
          <p:nvSpPr>
            <p:cNvPr id="38" name="等腰三角形 37"/>
            <p:cNvSpPr/>
            <p:nvPr/>
          </p:nvSpPr>
          <p:spPr bwMode="auto">
            <a:xfrm>
              <a:off x="6717662" y="4764460"/>
              <a:ext cx="898435" cy="514349"/>
            </a:xfrm>
            <a:prstGeom prst="triangle">
              <a:avLst>
                <a:gd name="adj" fmla="val 82161"/>
              </a:avLst>
            </a:prstGeom>
            <a:gradFill flip="none" rotWithShape="1">
              <a:gsLst>
                <a:gs pos="0">
                  <a:srgbClr val="99FFCC"/>
                </a:gs>
                <a:gs pos="100000">
                  <a:srgbClr val="0070C0"/>
                </a:gs>
              </a:gsLst>
              <a:lin ang="16200000" scaled="1"/>
              <a:tileRect/>
            </a:gra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400" b="0" i="0" u="none" strike="noStrike" cap="none" normalizeH="0" baseline="0">
                <a:ln>
                  <a:noFill/>
                </a:ln>
                <a:effectLst/>
                <a:latin typeface="微软雅黑" pitchFamily="34" charset="-122"/>
                <a:ea typeface="微软雅黑" pitchFamily="34" charset="-122"/>
              </a:endParaRPr>
            </a:p>
          </p:txBody>
        </p:sp>
        <p:grpSp>
          <p:nvGrpSpPr>
            <p:cNvPr id="39" name="组合 38"/>
            <p:cNvGrpSpPr/>
            <p:nvPr/>
          </p:nvGrpSpPr>
          <p:grpSpPr>
            <a:xfrm>
              <a:off x="6755836" y="5278809"/>
              <a:ext cx="861460" cy="598463"/>
              <a:chOff x="6717662" y="5278809"/>
              <a:chExt cx="861460" cy="598463"/>
            </a:xfrm>
          </p:grpSpPr>
          <p:sp>
            <p:nvSpPr>
              <p:cNvPr id="40" name="矩形 39"/>
              <p:cNvSpPr/>
              <p:nvPr/>
            </p:nvSpPr>
            <p:spPr bwMode="auto">
              <a:xfrm>
                <a:off x="6717662" y="5278809"/>
                <a:ext cx="861460" cy="598463"/>
              </a:xfrm>
              <a:prstGeom prst="rect">
                <a:avLst/>
              </a:prstGeom>
              <a:solidFill>
                <a:srgbClr val="00FFFF"/>
              </a:solidFill>
              <a:ln w="28575" cap="flat" cmpd="sng" algn="ctr">
                <a:solidFill>
                  <a:srgbClr val="000099"/>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400" b="0" i="0" u="none" strike="noStrike" cap="none" normalizeH="0" baseline="0">
                  <a:ln>
                    <a:noFill/>
                  </a:ln>
                  <a:effectLst/>
                  <a:latin typeface="微软雅黑" pitchFamily="34" charset="-122"/>
                  <a:ea typeface="微软雅黑" pitchFamily="34" charset="-122"/>
                </a:endParaRPr>
              </a:p>
            </p:txBody>
          </p:sp>
          <p:cxnSp>
            <p:nvCxnSpPr>
              <p:cNvPr id="41" name="直接连接符 40"/>
              <p:cNvCxnSpPr/>
              <p:nvPr/>
            </p:nvCxnSpPr>
            <p:spPr bwMode="auto">
              <a:xfrm>
                <a:off x="6717662" y="5445224"/>
                <a:ext cx="828018" cy="0"/>
              </a:xfrm>
              <a:prstGeom prst="line">
                <a:avLst/>
              </a:prstGeom>
              <a:solidFill>
                <a:schemeClr val="accent1"/>
              </a:solidFill>
              <a:ln w="12700" cap="flat" cmpd="sng" algn="ctr">
                <a:solidFill>
                  <a:srgbClr val="000099"/>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 name="直接连接符 41"/>
              <p:cNvCxnSpPr/>
              <p:nvPr/>
            </p:nvCxnSpPr>
            <p:spPr bwMode="auto">
              <a:xfrm>
                <a:off x="6969224" y="5278809"/>
                <a:ext cx="0" cy="598463"/>
              </a:xfrm>
              <a:prstGeom prst="line">
                <a:avLst/>
              </a:prstGeom>
              <a:solidFill>
                <a:schemeClr val="accent1"/>
              </a:solidFill>
              <a:ln w="12700" cap="flat" cmpd="sng" algn="ctr">
                <a:solidFill>
                  <a:srgbClr val="000099"/>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pic>
        <p:nvPicPr>
          <p:cNvPr id="26" name="Picture 2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700761" y="2170837"/>
            <a:ext cx="377677" cy="3036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7" name="组合 26"/>
          <p:cNvGrpSpPr/>
          <p:nvPr/>
        </p:nvGrpSpPr>
        <p:grpSpPr>
          <a:xfrm>
            <a:off x="6198669" y="1506210"/>
            <a:ext cx="541273" cy="669534"/>
            <a:chOff x="6717662" y="4764460"/>
            <a:chExt cx="899634" cy="1112812"/>
          </a:xfrm>
        </p:grpSpPr>
        <p:sp>
          <p:nvSpPr>
            <p:cNvPr id="33" name="等腰三角形 32"/>
            <p:cNvSpPr/>
            <p:nvPr/>
          </p:nvSpPr>
          <p:spPr bwMode="auto">
            <a:xfrm>
              <a:off x="6717662" y="4764460"/>
              <a:ext cx="898435" cy="514349"/>
            </a:xfrm>
            <a:prstGeom prst="triangle">
              <a:avLst>
                <a:gd name="adj" fmla="val 12085"/>
              </a:avLst>
            </a:prstGeom>
            <a:gradFill flip="none" rotWithShape="1">
              <a:gsLst>
                <a:gs pos="0">
                  <a:srgbClr val="99FFCC"/>
                </a:gs>
                <a:gs pos="100000">
                  <a:srgbClr val="0070C0"/>
                </a:gs>
              </a:gsLst>
              <a:lin ang="16200000" scaled="1"/>
              <a:tileRect/>
            </a:gra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400" b="0" i="0" u="none" strike="noStrike" cap="none" normalizeH="0" baseline="0">
                <a:ln>
                  <a:noFill/>
                </a:ln>
                <a:effectLst/>
                <a:latin typeface="微软雅黑" pitchFamily="34" charset="-122"/>
                <a:ea typeface="微软雅黑" pitchFamily="34" charset="-122"/>
              </a:endParaRPr>
            </a:p>
          </p:txBody>
        </p:sp>
        <p:grpSp>
          <p:nvGrpSpPr>
            <p:cNvPr id="34" name="组合 33"/>
            <p:cNvGrpSpPr/>
            <p:nvPr/>
          </p:nvGrpSpPr>
          <p:grpSpPr>
            <a:xfrm>
              <a:off x="6755836" y="5278809"/>
              <a:ext cx="861460" cy="598463"/>
              <a:chOff x="6717662" y="5278809"/>
              <a:chExt cx="861460" cy="598463"/>
            </a:xfrm>
          </p:grpSpPr>
          <p:sp>
            <p:nvSpPr>
              <p:cNvPr id="35" name="矩形 34"/>
              <p:cNvSpPr/>
              <p:nvPr/>
            </p:nvSpPr>
            <p:spPr bwMode="auto">
              <a:xfrm>
                <a:off x="6717662" y="5278809"/>
                <a:ext cx="861460" cy="598463"/>
              </a:xfrm>
              <a:prstGeom prst="rect">
                <a:avLst/>
              </a:prstGeom>
              <a:solidFill>
                <a:srgbClr val="00FFFF"/>
              </a:solidFill>
              <a:ln w="28575" cap="flat" cmpd="sng" algn="ctr">
                <a:solidFill>
                  <a:srgbClr val="000099"/>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400" b="0" i="0" u="none" strike="noStrike" cap="none" normalizeH="0" baseline="0">
                  <a:ln>
                    <a:noFill/>
                  </a:ln>
                  <a:effectLst/>
                  <a:latin typeface="微软雅黑" pitchFamily="34" charset="-122"/>
                  <a:ea typeface="微软雅黑" pitchFamily="34" charset="-122"/>
                </a:endParaRPr>
              </a:p>
            </p:txBody>
          </p:sp>
          <p:cxnSp>
            <p:nvCxnSpPr>
              <p:cNvPr id="36" name="直接连接符 35"/>
              <p:cNvCxnSpPr/>
              <p:nvPr/>
            </p:nvCxnSpPr>
            <p:spPr bwMode="auto">
              <a:xfrm>
                <a:off x="6717662" y="5445224"/>
                <a:ext cx="828018" cy="0"/>
              </a:xfrm>
              <a:prstGeom prst="line">
                <a:avLst/>
              </a:prstGeom>
              <a:solidFill>
                <a:schemeClr val="accent1"/>
              </a:solidFill>
              <a:ln w="12700" cap="flat" cmpd="sng" algn="ctr">
                <a:solidFill>
                  <a:srgbClr val="000099"/>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 name="直接连接符 36"/>
              <p:cNvCxnSpPr/>
              <p:nvPr/>
            </p:nvCxnSpPr>
            <p:spPr bwMode="auto">
              <a:xfrm>
                <a:off x="6969224" y="5278809"/>
                <a:ext cx="0" cy="598463"/>
              </a:xfrm>
              <a:prstGeom prst="line">
                <a:avLst/>
              </a:prstGeom>
              <a:solidFill>
                <a:schemeClr val="accent1"/>
              </a:solidFill>
              <a:ln w="12700" cap="flat" cmpd="sng" algn="ctr">
                <a:solidFill>
                  <a:srgbClr val="000099"/>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pic>
        <p:nvPicPr>
          <p:cNvPr id="28" name="Picture 2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078437" y="1373715"/>
            <a:ext cx="377675" cy="3036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0" name="AutoShape 5"/>
          <p:cNvSpPr>
            <a:spLocks noChangeArrowheads="1"/>
          </p:cNvSpPr>
          <p:nvPr/>
        </p:nvSpPr>
        <p:spPr bwMode="auto">
          <a:xfrm>
            <a:off x="545144" y="611481"/>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51" name="Rectangle 6"/>
          <p:cNvSpPr>
            <a:spLocks noChangeArrowheads="1"/>
          </p:cNvSpPr>
          <p:nvPr/>
        </p:nvSpPr>
        <p:spPr bwMode="auto">
          <a:xfrm>
            <a:off x="2156973" y="586794"/>
            <a:ext cx="483292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400" b="1" dirty="0">
                <a:solidFill>
                  <a:srgbClr val="FFFF00"/>
                </a:solidFill>
                <a:latin typeface="微软雅黑" pitchFamily="34" charset="-122"/>
                <a:ea typeface="微软雅黑" pitchFamily="34" charset="-122"/>
              </a:rPr>
              <a:t>4.9  </a:t>
            </a:r>
            <a:r>
              <a:rPr lang="zh-CN" altLang="en-US" sz="2400" b="1" dirty="0">
                <a:solidFill>
                  <a:schemeClr val="bg1"/>
                </a:solidFill>
                <a:latin typeface="微软雅黑" pitchFamily="34" charset="-122"/>
                <a:ea typeface="微软雅黑" pitchFamily="34" charset="-122"/>
              </a:rPr>
              <a:t>多协议标签交换 </a:t>
            </a:r>
            <a:r>
              <a:rPr lang="en-US" altLang="zh-CN" sz="2400" b="1" dirty="0">
                <a:solidFill>
                  <a:schemeClr val="bg1"/>
                </a:solidFill>
                <a:latin typeface="微软雅黑" pitchFamily="34" charset="-122"/>
                <a:ea typeface="微软雅黑" pitchFamily="34" charset="-122"/>
              </a:rPr>
              <a:t>MPLS</a:t>
            </a:r>
          </a:p>
        </p:txBody>
      </p:sp>
      <p:sp>
        <p:nvSpPr>
          <p:cNvPr id="52" name="矩形 51"/>
          <p:cNvSpPr/>
          <p:nvPr/>
        </p:nvSpPr>
        <p:spPr>
          <a:xfrm>
            <a:off x="680945" y="3334592"/>
            <a:ext cx="7521493" cy="1220847"/>
          </a:xfrm>
          <a:prstGeom prst="rect">
            <a:avLst/>
          </a:prstGeom>
        </p:spPr>
        <p:txBody>
          <a:bodyPr wrap="square">
            <a:spAutoFit/>
          </a:bodyPr>
          <a:lstStyle/>
          <a:p>
            <a:pPr marL="285750" indent="-285750">
              <a:lnSpc>
                <a:spcPts val="2200"/>
              </a:lnSpc>
              <a:buFont typeface="Wingdings" panose="05000000000000000000" pitchFamily="2" charset="2"/>
              <a:buChar char="l"/>
            </a:pPr>
            <a:r>
              <a:rPr lang="en-US" altLang="zh-CN" sz="1600" b="1" dirty="0">
                <a:latin typeface="微软雅黑" panose="020B0503020204020204" pitchFamily="34" charset="-122"/>
                <a:ea typeface="微软雅黑" panose="020B0503020204020204" pitchFamily="34" charset="-122"/>
              </a:rPr>
              <a:t>MPLS (</a:t>
            </a:r>
            <a:r>
              <a:rPr lang="en-US" altLang="zh-CN" sz="1600" b="1" dirty="0" err="1">
                <a:latin typeface="微软雅黑" panose="020B0503020204020204" pitchFamily="34" charset="-122"/>
                <a:ea typeface="微软雅黑" panose="020B0503020204020204" pitchFamily="34" charset="-122"/>
              </a:rPr>
              <a:t>MultiProtocol</a:t>
            </a:r>
            <a:r>
              <a:rPr lang="en-US" altLang="zh-CN" sz="1600" b="1" dirty="0">
                <a:latin typeface="微软雅黑" panose="020B0503020204020204" pitchFamily="34" charset="-122"/>
                <a:ea typeface="微软雅黑" panose="020B0503020204020204" pitchFamily="34" charset="-122"/>
              </a:rPr>
              <a:t> Label Switching)</a:t>
            </a:r>
            <a:r>
              <a:rPr lang="zh-CN" altLang="en-US" sz="1600" b="1" dirty="0">
                <a:latin typeface="微软雅黑" panose="020B0503020204020204" pitchFamily="34" charset="-122"/>
                <a:ea typeface="微软雅黑" panose="020B0503020204020204" pitchFamily="34" charset="-122"/>
              </a:rPr>
              <a:t>：互联网建议标准。</a:t>
            </a:r>
            <a:endParaRPr lang="en-US" altLang="zh-CN" sz="1600" b="1" dirty="0">
              <a:latin typeface="微软雅黑" panose="020B0503020204020204" pitchFamily="34" charset="-122"/>
              <a:ea typeface="微软雅黑" panose="020B0503020204020204" pitchFamily="34" charset="-122"/>
            </a:endParaRPr>
          </a:p>
          <a:p>
            <a:pPr marL="285750" indent="-285750">
              <a:lnSpc>
                <a:spcPts val="2200"/>
              </a:lnSpc>
              <a:buFont typeface="Wingdings" panose="05000000000000000000" pitchFamily="2" charset="2"/>
              <a:buChar char="l"/>
            </a:pPr>
            <a:r>
              <a:rPr lang="zh-CN" altLang="en-US" sz="1600" b="1" dirty="0">
                <a:solidFill>
                  <a:srgbClr val="C00000"/>
                </a:solidFill>
                <a:latin typeface="微软雅黑" panose="020B0503020204020204" pitchFamily="34" charset="-122"/>
                <a:ea typeface="微软雅黑" panose="020B0503020204020204" pitchFamily="34" charset="-122"/>
              </a:rPr>
              <a:t>多协议：</a:t>
            </a:r>
            <a:r>
              <a:rPr lang="zh-CN" altLang="en-US" sz="1600" b="1" dirty="0">
                <a:latin typeface="微软雅黑" panose="020B0503020204020204" pitchFamily="34" charset="-122"/>
                <a:ea typeface="微软雅黑" panose="020B0503020204020204" pitchFamily="34" charset="-122"/>
              </a:rPr>
              <a:t>在 </a:t>
            </a:r>
            <a:r>
              <a:rPr lang="en-US" altLang="zh-CN" sz="1600" b="1" dirty="0">
                <a:latin typeface="微软雅黑" panose="020B0503020204020204" pitchFamily="34" charset="-122"/>
                <a:ea typeface="微软雅黑" panose="020B0503020204020204" pitchFamily="34" charset="-122"/>
              </a:rPr>
              <a:t>MPLS </a:t>
            </a:r>
            <a:r>
              <a:rPr lang="zh-CN" altLang="en-US" sz="1600" b="1" dirty="0">
                <a:latin typeface="微软雅黑" panose="020B0503020204020204" pitchFamily="34" charset="-122"/>
                <a:ea typeface="微软雅黑" panose="020B0503020204020204" pitchFamily="34" charset="-122"/>
              </a:rPr>
              <a:t>的上层可以采用多种协议。</a:t>
            </a:r>
          </a:p>
          <a:p>
            <a:pPr marL="285750" indent="-285750">
              <a:lnSpc>
                <a:spcPts val="2200"/>
              </a:lnSpc>
              <a:buFont typeface="Wingdings" panose="05000000000000000000" pitchFamily="2" charset="2"/>
              <a:buChar char="l"/>
            </a:pPr>
            <a:r>
              <a:rPr lang="zh-CN" altLang="en-US" sz="1600" b="1" dirty="0">
                <a:solidFill>
                  <a:srgbClr val="C00000"/>
                </a:solidFill>
                <a:latin typeface="微软雅黑" panose="020B0503020204020204" pitchFamily="34" charset="-122"/>
                <a:ea typeface="微软雅黑" panose="020B0503020204020204" pitchFamily="34" charset="-122"/>
              </a:rPr>
              <a:t>标签：</a:t>
            </a:r>
            <a:r>
              <a:rPr lang="en-US" altLang="zh-CN" sz="1600" b="1" dirty="0">
                <a:latin typeface="微软雅黑" panose="020B0503020204020204" pitchFamily="34" charset="-122"/>
                <a:ea typeface="微软雅黑" panose="020B0503020204020204" pitchFamily="34" charset="-122"/>
              </a:rPr>
              <a:t>MPLS </a:t>
            </a:r>
            <a:r>
              <a:rPr lang="zh-CN" altLang="en-US" sz="1600" b="1" dirty="0">
                <a:latin typeface="微软雅黑" panose="020B0503020204020204" pitchFamily="34" charset="-122"/>
                <a:ea typeface="微软雅黑" panose="020B0503020204020204" pitchFamily="34" charset="-122"/>
              </a:rPr>
              <a:t>利用</a:t>
            </a:r>
            <a:r>
              <a:rPr lang="zh-CN" altLang="en-US" sz="1600" b="1" dirty="0">
                <a:solidFill>
                  <a:srgbClr val="0000FF"/>
                </a:solidFill>
                <a:latin typeface="微软雅黑" panose="020B0503020204020204" pitchFamily="34" charset="-122"/>
                <a:ea typeface="微软雅黑" panose="020B0503020204020204" pitchFamily="34" charset="-122"/>
              </a:rPr>
              <a:t>面向连接</a:t>
            </a:r>
            <a:r>
              <a:rPr lang="zh-CN" altLang="en-US" sz="1600" b="1" dirty="0">
                <a:latin typeface="微软雅黑" panose="020B0503020204020204" pitchFamily="34" charset="-122"/>
                <a:ea typeface="微软雅黑" panose="020B0503020204020204" pitchFamily="34" charset="-122"/>
              </a:rPr>
              <a:t>技术，使每个分组携带一个叫做标签 </a:t>
            </a:r>
            <a:r>
              <a:rPr lang="en-US" altLang="zh-CN" sz="1600" b="1" dirty="0">
                <a:latin typeface="微软雅黑" panose="020B0503020204020204" pitchFamily="34" charset="-122"/>
                <a:ea typeface="微软雅黑" panose="020B0503020204020204" pitchFamily="34" charset="-122"/>
              </a:rPr>
              <a:t>(label) </a:t>
            </a:r>
            <a:r>
              <a:rPr lang="zh-CN" altLang="en-US" sz="1600" b="1" dirty="0">
                <a:latin typeface="微软雅黑" panose="020B0503020204020204" pitchFamily="34" charset="-122"/>
                <a:ea typeface="微软雅黑" panose="020B0503020204020204" pitchFamily="34" charset="-122"/>
              </a:rPr>
              <a:t>的小整数。标签交换路由器用</a:t>
            </a:r>
            <a:r>
              <a:rPr lang="zh-CN" altLang="en-US" sz="1600" b="1" dirty="0">
                <a:solidFill>
                  <a:srgbClr val="0000FF"/>
                </a:solidFill>
                <a:latin typeface="微软雅黑" panose="020B0503020204020204" pitchFamily="34" charset="-122"/>
                <a:ea typeface="微软雅黑" panose="020B0503020204020204" pitchFamily="34" charset="-122"/>
              </a:rPr>
              <a:t>标签值</a:t>
            </a:r>
            <a:r>
              <a:rPr lang="zh-CN" altLang="en-US" sz="1600" b="1" dirty="0">
                <a:latin typeface="微软雅黑" panose="020B0503020204020204" pitchFamily="34" charset="-122"/>
                <a:ea typeface="微软雅黑" panose="020B0503020204020204" pitchFamily="34" charset="-122"/>
              </a:rPr>
              <a:t>检索转发表，实现分组的快速转发。</a:t>
            </a:r>
          </a:p>
        </p:txBody>
      </p:sp>
      <p:sp>
        <p:nvSpPr>
          <p:cNvPr id="53" name="Line 14"/>
          <p:cNvSpPr>
            <a:spLocks noChangeShapeType="1"/>
          </p:cNvSpPr>
          <p:nvPr/>
        </p:nvSpPr>
        <p:spPr bwMode="auto">
          <a:xfrm flipH="1">
            <a:off x="1652776" y="2133496"/>
            <a:ext cx="401774" cy="0"/>
          </a:xfrm>
          <a:prstGeom prst="line">
            <a:avLst/>
          </a:prstGeom>
          <a:noFill/>
          <a:ln w="38100">
            <a:solidFill>
              <a:srgbClr val="CC00CC"/>
            </a:solidFill>
            <a:round/>
            <a:headEnd type="stealth" w="med" len="lg"/>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7" tIns="46417" rIns="91047" bIns="46417">
            <a:spAutoFit/>
          </a:bodyPr>
          <a:lstStyle/>
          <a:p>
            <a:endParaRPr lang="zh-CN" altLang="en-US"/>
          </a:p>
        </p:txBody>
      </p:sp>
    </p:spTree>
    <p:extLst>
      <p:ext uri="{BB962C8B-B14F-4D97-AF65-F5344CB8AC3E}">
        <p14:creationId xmlns:p14="http://schemas.microsoft.com/office/powerpoint/2010/main" val="414766748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wipe(left)">
                                      <p:cBhvr>
                                        <p:cTn id="7" dur="1000"/>
                                        <p:tgtEl>
                                          <p:spTgt spid="54"/>
                                        </p:tgtEl>
                                      </p:cBhvr>
                                    </p:animEffect>
                                  </p:childTnLst>
                                </p:cTn>
                              </p:par>
                            </p:childTnLst>
                          </p:cTn>
                        </p:par>
                        <p:par>
                          <p:cTn id="8" fill="hold">
                            <p:stCondLst>
                              <p:cond delay="1000"/>
                            </p:stCondLst>
                            <p:childTnLst>
                              <p:par>
                                <p:cTn id="9" presetID="22" presetClass="entr" presetSubtype="8" fill="hold" grpId="0" nodeType="afterEffect">
                                  <p:stCondLst>
                                    <p:cond delay="0"/>
                                  </p:stCondLst>
                                  <p:childTnLst>
                                    <p:set>
                                      <p:cBhvr>
                                        <p:cTn id="10" dur="1" fill="hold">
                                          <p:stCondLst>
                                            <p:cond delay="0"/>
                                          </p:stCondLst>
                                        </p:cTn>
                                        <p:tgtEl>
                                          <p:spTgt spid="48"/>
                                        </p:tgtEl>
                                        <p:attrNameLst>
                                          <p:attrName>style.visibility</p:attrName>
                                        </p:attrNameLst>
                                      </p:cBhvr>
                                      <p:to>
                                        <p:strVal val="visible"/>
                                      </p:to>
                                    </p:set>
                                    <p:animEffect transition="in" filter="wipe(left)">
                                      <p:cBhvr>
                                        <p:cTn id="11" dur="1000"/>
                                        <p:tgtEl>
                                          <p:spTgt spid="48"/>
                                        </p:tgtEl>
                                      </p:cBhvr>
                                    </p:animEffect>
                                  </p:childTnLst>
                                </p:cTn>
                              </p:par>
                            </p:childTnLst>
                          </p:cTn>
                        </p:par>
                        <p:par>
                          <p:cTn id="12" fill="hold">
                            <p:stCondLst>
                              <p:cond delay="2000"/>
                            </p:stCondLst>
                            <p:childTnLst>
                              <p:par>
                                <p:cTn id="13" presetID="35" presetClass="emph" presetSubtype="0" repeatCount="3000" fill="hold" grpId="1" nodeType="afterEffect">
                                  <p:stCondLst>
                                    <p:cond delay="0"/>
                                  </p:stCondLst>
                                  <p:childTnLst>
                                    <p:anim calcmode="discrete" valueType="str">
                                      <p:cBhvr>
                                        <p:cTn id="14" dur="1000" fill="hold"/>
                                        <p:tgtEl>
                                          <p:spTgt spid="48"/>
                                        </p:tgtEl>
                                        <p:attrNameLst>
                                          <p:attrName>style.visibility</p:attrName>
                                        </p:attrNameLst>
                                      </p:cBhvr>
                                      <p:tavLst>
                                        <p:tav tm="0">
                                          <p:val>
                                            <p:strVal val="hidden"/>
                                          </p:val>
                                        </p:tav>
                                        <p:tav tm="50000">
                                          <p:val>
                                            <p:strVal val="visible"/>
                                          </p:val>
                                        </p:tav>
                                      </p:tavLst>
                                    </p:anim>
                                  </p:childTnLst>
                                </p:cTn>
                              </p:par>
                            </p:childTnLst>
                          </p:cTn>
                        </p:par>
                      </p:childTnLst>
                    </p:cTn>
                  </p:par>
                  <p:par>
                    <p:cTn id="15" fill="hold">
                      <p:stCondLst>
                        <p:cond delay="indefinite"/>
                      </p:stCondLst>
                      <p:childTnLst>
                        <p:par>
                          <p:cTn id="16" fill="hold">
                            <p:stCondLst>
                              <p:cond delay="0"/>
                            </p:stCondLst>
                            <p:childTnLst>
                              <p:par>
                                <p:cTn id="17" presetID="10" presetClass="entr" presetSubtype="0" repeatCount="3000" fill="hold" grpId="0" nodeType="clickEffect">
                                  <p:stCondLst>
                                    <p:cond delay="0"/>
                                  </p:stCondLst>
                                  <p:childTnLst>
                                    <p:set>
                                      <p:cBhvr>
                                        <p:cTn id="18" dur="1" fill="hold">
                                          <p:stCondLst>
                                            <p:cond delay="0"/>
                                          </p:stCondLst>
                                        </p:cTn>
                                        <p:tgtEl>
                                          <p:spTgt spid="53"/>
                                        </p:tgtEl>
                                        <p:attrNameLst>
                                          <p:attrName>style.visibility</p:attrName>
                                        </p:attrNameLst>
                                      </p:cBhvr>
                                      <p:to>
                                        <p:strVal val="visible"/>
                                      </p:to>
                                    </p:set>
                                    <p:animEffect transition="in" filter="fade">
                                      <p:cBhvr>
                                        <p:cTn id="19" dur="1000"/>
                                        <p:tgtEl>
                                          <p:spTgt spid="53"/>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8" fill="hold" nodeType="clickEffect">
                                  <p:stCondLst>
                                    <p:cond delay="0"/>
                                  </p:stCondLst>
                                  <p:childTnLst>
                                    <p:set>
                                      <p:cBhvr>
                                        <p:cTn id="23" dur="1" fill="hold">
                                          <p:stCondLst>
                                            <p:cond delay="0"/>
                                          </p:stCondLst>
                                        </p:cTn>
                                        <p:tgtEl>
                                          <p:spTgt spid="19"/>
                                        </p:tgtEl>
                                        <p:attrNameLst>
                                          <p:attrName>style.visibility</p:attrName>
                                        </p:attrNameLst>
                                      </p:cBhvr>
                                      <p:to>
                                        <p:strVal val="visible"/>
                                      </p:to>
                                    </p:set>
                                    <p:animEffect transition="in" filter="wipe(left)">
                                      <p:cBhvr>
                                        <p:cTn id="24" dur="10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48" grpId="1" animBg="1"/>
      <p:bldP spid="53" grpId="0" animBg="1"/>
    </p:bld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15346"/>
            <a:ext cx="8053712" cy="388721"/>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820834" y="609651"/>
            <a:ext cx="15023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MPLS </a:t>
            </a:r>
            <a:r>
              <a:rPr lang="zh-CN" altLang="en-US" sz="2000" b="1" dirty="0">
                <a:solidFill>
                  <a:schemeClr val="bg1"/>
                </a:solidFill>
                <a:latin typeface="微软雅黑" pitchFamily="34" charset="-122"/>
                <a:ea typeface="微软雅黑" pitchFamily="34" charset="-122"/>
              </a:rPr>
              <a:t>特点</a:t>
            </a:r>
          </a:p>
        </p:txBody>
      </p:sp>
      <p:sp>
        <p:nvSpPr>
          <p:cNvPr id="4" name="Rectangle 8"/>
          <p:cNvSpPr>
            <a:spLocks noChangeArrowheads="1"/>
          </p:cNvSpPr>
          <p:nvPr/>
        </p:nvSpPr>
        <p:spPr bwMode="auto">
          <a:xfrm>
            <a:off x="545144" y="998197"/>
            <a:ext cx="8053712" cy="2208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MPLS </a:t>
            </a:r>
            <a:r>
              <a:rPr lang="zh-CN" altLang="en-US" sz="2000" b="1" dirty="0">
                <a:latin typeface="微软雅黑" pitchFamily="34" charset="-122"/>
                <a:ea typeface="微软雅黑" pitchFamily="34" charset="-122"/>
              </a:rPr>
              <a:t>并没有取代 </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，而是作为一种 </a:t>
            </a:r>
            <a:r>
              <a:rPr lang="en-US" altLang="zh-CN" sz="2000" b="1" dirty="0">
                <a:solidFill>
                  <a:srgbClr val="C00000"/>
                </a:solidFill>
                <a:latin typeface="微软雅黑" pitchFamily="34" charset="-122"/>
                <a:ea typeface="微软雅黑" pitchFamily="34" charset="-122"/>
              </a:rPr>
              <a:t>IP </a:t>
            </a:r>
            <a:r>
              <a:rPr lang="zh-CN" altLang="en-US" sz="2000" b="1" dirty="0">
                <a:solidFill>
                  <a:srgbClr val="C00000"/>
                </a:solidFill>
                <a:latin typeface="微软雅黑" pitchFamily="34" charset="-122"/>
                <a:ea typeface="微软雅黑" pitchFamily="34" charset="-122"/>
              </a:rPr>
              <a:t>增强技术。</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特点：</a:t>
            </a:r>
          </a:p>
          <a:p>
            <a:pPr marL="623888" indent="-342900">
              <a:lnSpc>
                <a:spcPts val="3300"/>
              </a:lnSpc>
              <a:buClr>
                <a:srgbClr val="7030A0"/>
              </a:buClr>
              <a:buFont typeface="+mj-lt"/>
              <a:buAutoNum type="arabicPeriod"/>
            </a:pPr>
            <a:r>
              <a:rPr lang="zh-CN" altLang="en-US" sz="2000" b="1" dirty="0">
                <a:latin typeface="微软雅黑" pitchFamily="34" charset="-122"/>
                <a:ea typeface="微软雅黑" pitchFamily="34" charset="-122"/>
              </a:rPr>
              <a:t>支持面向连接的服务质量；</a:t>
            </a:r>
          </a:p>
          <a:p>
            <a:pPr marL="623888" indent="-342900">
              <a:lnSpc>
                <a:spcPts val="3300"/>
              </a:lnSpc>
              <a:buClr>
                <a:srgbClr val="7030A0"/>
              </a:buClr>
              <a:buFont typeface="+mj-lt"/>
              <a:buAutoNum type="arabicPeriod"/>
            </a:pPr>
            <a:r>
              <a:rPr lang="zh-CN" altLang="en-US" sz="2000" b="1" dirty="0">
                <a:latin typeface="微软雅黑" pitchFamily="34" charset="-122"/>
                <a:ea typeface="微软雅黑" pitchFamily="34" charset="-122"/>
              </a:rPr>
              <a:t>支持流量工程，平衡网络负载；</a:t>
            </a:r>
          </a:p>
          <a:p>
            <a:pPr marL="623888" indent="-342900">
              <a:lnSpc>
                <a:spcPts val="3300"/>
              </a:lnSpc>
              <a:buClr>
                <a:srgbClr val="7030A0"/>
              </a:buClr>
              <a:buFont typeface="+mj-lt"/>
              <a:buAutoNum type="arabicPeriod"/>
            </a:pPr>
            <a:r>
              <a:rPr lang="zh-CN" altLang="en-US" sz="2000" b="1" dirty="0">
                <a:latin typeface="微软雅黑" pitchFamily="34" charset="-122"/>
                <a:ea typeface="微软雅黑" pitchFamily="34" charset="-122"/>
              </a:rPr>
              <a:t>有效地支持虚拟专用网 </a:t>
            </a:r>
            <a:r>
              <a:rPr lang="en-US" altLang="zh-CN" sz="2000" b="1" dirty="0">
                <a:latin typeface="微软雅黑" pitchFamily="34" charset="-122"/>
                <a:ea typeface="微软雅黑" pitchFamily="34" charset="-122"/>
              </a:rPr>
              <a:t>VPN</a:t>
            </a:r>
            <a:r>
              <a:rPr lang="zh-CN" altLang="en-US" sz="2000" b="1" dirty="0">
                <a:latin typeface="微软雅黑" pitchFamily="34" charset="-122"/>
                <a:ea typeface="微软雅黑" pitchFamily="34" charset="-122"/>
              </a:rPr>
              <a:t>。</a:t>
            </a:r>
          </a:p>
        </p:txBody>
      </p:sp>
    </p:spTree>
    <p:extLst>
      <p:ext uri="{BB962C8B-B14F-4D97-AF65-F5344CB8AC3E}">
        <p14:creationId xmlns:p14="http://schemas.microsoft.com/office/powerpoint/2010/main" val="373208976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46545"/>
            <a:ext cx="8053711" cy="285549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grpSp>
        <p:nvGrpSpPr>
          <p:cNvPr id="16" name="组合 15"/>
          <p:cNvGrpSpPr/>
          <p:nvPr/>
        </p:nvGrpSpPr>
        <p:grpSpPr>
          <a:xfrm>
            <a:off x="1549926" y="3220286"/>
            <a:ext cx="1003442" cy="242009"/>
            <a:chOff x="1522766" y="3609571"/>
            <a:chExt cx="1152421" cy="268022"/>
          </a:xfrm>
        </p:grpSpPr>
        <p:sp>
          <p:nvSpPr>
            <p:cNvPr id="20" name="Text Box 151"/>
            <p:cNvSpPr txBox="1">
              <a:spLocks noChangeArrowheads="1"/>
            </p:cNvSpPr>
            <p:nvPr/>
          </p:nvSpPr>
          <p:spPr bwMode="auto">
            <a:xfrm>
              <a:off x="1522766" y="3609571"/>
              <a:ext cx="968215" cy="268022"/>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82550" tIns="41275" rIns="82550" bIns="41275" anchor="ctr" anchorCtr="0">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spcBef>
                  <a:spcPct val="50000"/>
                </a:spcBef>
              </a:pPr>
              <a:r>
                <a:rPr lang="en-US" altLang="zh-CN" sz="1200" b="1" i="0" dirty="0">
                  <a:latin typeface="微软雅黑" pitchFamily="34" charset="-122"/>
                  <a:ea typeface="微软雅黑" pitchFamily="34" charset="-122"/>
                </a:rPr>
                <a:t>IP 47.1.1.1</a:t>
              </a:r>
            </a:p>
          </p:txBody>
        </p:sp>
        <p:sp>
          <p:nvSpPr>
            <p:cNvPr id="21" name="AutoShape 152"/>
            <p:cNvSpPr>
              <a:spLocks noChangeArrowheads="1"/>
            </p:cNvSpPr>
            <p:nvPr/>
          </p:nvSpPr>
          <p:spPr bwMode="auto">
            <a:xfrm>
              <a:off x="2486393" y="3660995"/>
              <a:ext cx="188794" cy="171976"/>
            </a:xfrm>
            <a:prstGeom prst="rightArrow">
              <a:avLst>
                <a:gd name="adj1" fmla="val 48447"/>
                <a:gd name="adj2" fmla="val 50968"/>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82550" tIns="41275" rIns="82550" bIns="41275" anchor="ctr">
              <a:spAutoFit/>
            </a:bodyPr>
            <a:lstStyle/>
            <a:p>
              <a:pPr algn="ctr" eaLnBrk="0" hangingPunct="0"/>
              <a:endParaRPr lang="zh-CN" altLang="en-US" sz="1100" b="1" i="0">
                <a:solidFill>
                  <a:srgbClr val="000099"/>
                </a:solidFill>
                <a:latin typeface="微软雅黑" pitchFamily="34" charset="-122"/>
                <a:ea typeface="微软雅黑" pitchFamily="34" charset="-122"/>
              </a:endParaRPr>
            </a:p>
          </p:txBody>
        </p:sp>
      </p:grpSp>
      <p:graphicFrame>
        <p:nvGraphicFramePr>
          <p:cNvPr id="48" name="表格 47"/>
          <p:cNvGraphicFramePr>
            <a:graphicFrameLocks noGrp="1"/>
          </p:cNvGraphicFramePr>
          <p:nvPr>
            <p:extLst>
              <p:ext uri="{D42A27DB-BD31-4B8C-83A1-F6EECF244321}">
                <p14:modId xmlns:p14="http://schemas.microsoft.com/office/powerpoint/2010/main" val="1232492365"/>
              </p:ext>
            </p:extLst>
          </p:nvPr>
        </p:nvGraphicFramePr>
        <p:xfrm>
          <a:off x="1662692" y="2049022"/>
          <a:ext cx="1200150" cy="814640"/>
        </p:xfrm>
        <a:graphic>
          <a:graphicData uri="http://schemas.openxmlformats.org/drawingml/2006/table">
            <a:tbl>
              <a:tblPr firstRow="1" firstCol="1" bandRow="1" bandCol="1">
                <a:tableStyleId>{5940675A-B579-460E-94D1-54222C63F5DA}</a:tableStyleId>
              </a:tblPr>
              <a:tblGrid>
                <a:gridCol w="661191">
                  <a:extLst>
                    <a:ext uri="{9D8B030D-6E8A-4147-A177-3AD203B41FA5}">
                      <a16:colId xmlns:a16="http://schemas.microsoft.com/office/drawing/2014/main" val="20000"/>
                    </a:ext>
                  </a:extLst>
                </a:gridCol>
                <a:gridCol w="538959">
                  <a:extLst>
                    <a:ext uri="{9D8B030D-6E8A-4147-A177-3AD203B41FA5}">
                      <a16:colId xmlns:a16="http://schemas.microsoft.com/office/drawing/2014/main" val="20001"/>
                    </a:ext>
                  </a:extLst>
                </a:gridCol>
              </a:tblGrid>
              <a:tr h="193389">
                <a:tc>
                  <a:txBody>
                    <a:bodyPr/>
                    <a:lstStyle/>
                    <a:p>
                      <a:pPr>
                        <a:lnSpc>
                          <a:spcPts val="1600"/>
                        </a:lnSpc>
                        <a:spcAft>
                          <a:spcPts val="0"/>
                        </a:spcAft>
                      </a:pPr>
                      <a:r>
                        <a:rPr lang="en-US" sz="1400" b="1" kern="0" dirty="0" err="1">
                          <a:effectLst/>
                          <a:latin typeface="微软雅黑" pitchFamily="34" charset="-122"/>
                          <a:ea typeface="微软雅黑" pitchFamily="34" charset="-122"/>
                        </a:rPr>
                        <a:t>Dest</a:t>
                      </a:r>
                      <a:endParaRPr lang="zh-CN" sz="1400" b="1" kern="0" dirty="0">
                        <a:effectLst/>
                        <a:latin typeface="微软雅黑" pitchFamily="34" charset="-122"/>
                        <a:ea typeface="微软雅黑" pitchFamily="34" charset="-122"/>
                        <a:cs typeface="Times New Roman"/>
                      </a:endParaRPr>
                    </a:p>
                  </a:txBody>
                  <a:tcPr marL="68580" marR="68580" marT="0" marB="0">
                    <a:solidFill>
                      <a:schemeClr val="bg1"/>
                    </a:solidFill>
                  </a:tcPr>
                </a:tc>
                <a:tc>
                  <a:txBody>
                    <a:bodyPr/>
                    <a:lstStyle/>
                    <a:p>
                      <a:pPr>
                        <a:lnSpc>
                          <a:spcPts val="1600"/>
                        </a:lnSpc>
                        <a:spcAft>
                          <a:spcPts val="0"/>
                        </a:spcAft>
                      </a:pPr>
                      <a:r>
                        <a:rPr lang="en-US" sz="1400" b="1" dirty="0">
                          <a:effectLst/>
                          <a:latin typeface="微软雅黑" pitchFamily="34" charset="-122"/>
                          <a:ea typeface="微软雅黑" pitchFamily="34" charset="-122"/>
                        </a:rPr>
                        <a:t>Out</a:t>
                      </a:r>
                      <a:endParaRPr lang="zh-CN" sz="1400" b="1" dirty="0">
                        <a:effectLst/>
                        <a:latin typeface="微软雅黑" pitchFamily="34" charset="-122"/>
                        <a:ea typeface="微软雅黑" pitchFamily="34" charset="-122"/>
                      </a:endParaRPr>
                    </a:p>
                  </a:txBody>
                  <a:tcPr marL="68580" marR="68580" marT="0" marB="0">
                    <a:solidFill>
                      <a:schemeClr val="bg1"/>
                    </a:solidFill>
                  </a:tcPr>
                </a:tc>
                <a:extLst>
                  <a:ext uri="{0D108BD9-81ED-4DB2-BD59-A6C34878D82A}">
                    <a16:rowId xmlns:a16="http://schemas.microsoft.com/office/drawing/2014/main" val="10000"/>
                  </a:ext>
                </a:extLst>
              </a:tr>
              <a:tr h="203104">
                <a:tc>
                  <a:txBody>
                    <a:bodyPr/>
                    <a:lstStyle/>
                    <a:p>
                      <a:pPr>
                        <a:lnSpc>
                          <a:spcPts val="1600"/>
                        </a:lnSpc>
                        <a:spcAft>
                          <a:spcPts val="0"/>
                        </a:spcAft>
                      </a:pPr>
                      <a:r>
                        <a:rPr lang="en-US" sz="1200" b="1" dirty="0">
                          <a:effectLst/>
                          <a:highlight>
                            <a:srgbClr val="FFFF00"/>
                          </a:highlight>
                          <a:latin typeface="微软雅黑" pitchFamily="34" charset="-122"/>
                          <a:ea typeface="微软雅黑" pitchFamily="34" charset="-122"/>
                        </a:rPr>
                        <a:t>47.1</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tc>
                  <a:txBody>
                    <a:bodyPr/>
                    <a:lstStyle/>
                    <a:p>
                      <a:pPr>
                        <a:lnSpc>
                          <a:spcPts val="1600"/>
                        </a:lnSpc>
                        <a:spcAft>
                          <a:spcPts val="0"/>
                        </a:spcAft>
                      </a:pPr>
                      <a:r>
                        <a:rPr lang="en-US" sz="1200" b="1" dirty="0">
                          <a:effectLst/>
                          <a:highlight>
                            <a:srgbClr val="FFFF00"/>
                          </a:highlight>
                          <a:latin typeface="微软雅黑" pitchFamily="34" charset="-122"/>
                          <a:ea typeface="微软雅黑" pitchFamily="34" charset="-122"/>
                        </a:rPr>
                        <a:t>1</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extLst>
                  <a:ext uri="{0D108BD9-81ED-4DB2-BD59-A6C34878D82A}">
                    <a16:rowId xmlns:a16="http://schemas.microsoft.com/office/drawing/2014/main" val="10001"/>
                  </a:ext>
                </a:extLst>
              </a:tr>
              <a:tr h="206302">
                <a:tc>
                  <a:txBody>
                    <a:bodyPr/>
                    <a:lstStyle/>
                    <a:p>
                      <a:pPr>
                        <a:lnSpc>
                          <a:spcPts val="1600"/>
                        </a:lnSpc>
                        <a:spcAft>
                          <a:spcPts val="0"/>
                        </a:spcAft>
                      </a:pPr>
                      <a:r>
                        <a:rPr lang="en-US" sz="1200" b="1" dirty="0">
                          <a:effectLst/>
                          <a:latin typeface="微软雅黑" pitchFamily="34" charset="-122"/>
                          <a:ea typeface="微软雅黑" pitchFamily="34" charset="-122"/>
                        </a:rPr>
                        <a:t>47.2</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tc>
                  <a:txBody>
                    <a:bodyPr/>
                    <a:lstStyle/>
                    <a:p>
                      <a:pPr>
                        <a:lnSpc>
                          <a:spcPts val="1600"/>
                        </a:lnSpc>
                        <a:spcAft>
                          <a:spcPts val="0"/>
                        </a:spcAft>
                      </a:pPr>
                      <a:r>
                        <a:rPr lang="en-US" sz="1200" b="1" dirty="0">
                          <a:effectLst/>
                          <a:latin typeface="微软雅黑" pitchFamily="34" charset="-122"/>
                          <a:ea typeface="微软雅黑" pitchFamily="34" charset="-122"/>
                        </a:rPr>
                        <a:t>2</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extLst>
                  <a:ext uri="{0D108BD9-81ED-4DB2-BD59-A6C34878D82A}">
                    <a16:rowId xmlns:a16="http://schemas.microsoft.com/office/drawing/2014/main" val="10002"/>
                  </a:ext>
                </a:extLst>
              </a:tr>
              <a:tr h="202034">
                <a:tc>
                  <a:txBody>
                    <a:bodyPr/>
                    <a:lstStyle/>
                    <a:p>
                      <a:pPr>
                        <a:lnSpc>
                          <a:spcPts val="1600"/>
                        </a:lnSpc>
                        <a:spcAft>
                          <a:spcPts val="0"/>
                        </a:spcAft>
                      </a:pPr>
                      <a:r>
                        <a:rPr lang="en-US" sz="1200" b="1" dirty="0">
                          <a:effectLst/>
                          <a:latin typeface="微软雅黑" pitchFamily="34" charset="-122"/>
                          <a:ea typeface="微软雅黑" pitchFamily="34" charset="-122"/>
                        </a:rPr>
                        <a:t>47.3</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tc>
                  <a:txBody>
                    <a:bodyPr/>
                    <a:lstStyle/>
                    <a:p>
                      <a:pPr>
                        <a:lnSpc>
                          <a:spcPts val="1600"/>
                        </a:lnSpc>
                        <a:spcAft>
                          <a:spcPts val="0"/>
                        </a:spcAft>
                      </a:pPr>
                      <a:r>
                        <a:rPr lang="en-US" sz="1200" b="1" dirty="0">
                          <a:effectLst/>
                          <a:latin typeface="微软雅黑" pitchFamily="34" charset="-122"/>
                          <a:ea typeface="微软雅黑" pitchFamily="34" charset="-122"/>
                        </a:rPr>
                        <a:t>3</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extLst>
                  <a:ext uri="{0D108BD9-81ED-4DB2-BD59-A6C34878D82A}">
                    <a16:rowId xmlns:a16="http://schemas.microsoft.com/office/drawing/2014/main" val="10003"/>
                  </a:ext>
                </a:extLst>
              </a:tr>
            </a:tbl>
          </a:graphicData>
        </a:graphic>
      </p:graphicFrame>
      <p:graphicFrame>
        <p:nvGraphicFramePr>
          <p:cNvPr id="49" name="表格 48"/>
          <p:cNvGraphicFramePr>
            <a:graphicFrameLocks noGrp="1"/>
          </p:cNvGraphicFramePr>
          <p:nvPr>
            <p:extLst>
              <p:ext uri="{D42A27DB-BD31-4B8C-83A1-F6EECF244321}">
                <p14:modId xmlns:p14="http://schemas.microsoft.com/office/powerpoint/2010/main" val="1045985726"/>
              </p:ext>
            </p:extLst>
          </p:nvPr>
        </p:nvGraphicFramePr>
        <p:xfrm>
          <a:off x="3453368" y="1167386"/>
          <a:ext cx="1200150" cy="824951"/>
        </p:xfrm>
        <a:graphic>
          <a:graphicData uri="http://schemas.openxmlformats.org/drawingml/2006/table">
            <a:tbl>
              <a:tblPr firstRow="1" firstCol="1" bandRow="1" bandCol="1">
                <a:tableStyleId>{5940675A-B579-460E-94D1-54222C63F5DA}</a:tableStyleId>
              </a:tblPr>
              <a:tblGrid>
                <a:gridCol w="661191">
                  <a:extLst>
                    <a:ext uri="{9D8B030D-6E8A-4147-A177-3AD203B41FA5}">
                      <a16:colId xmlns:a16="http://schemas.microsoft.com/office/drawing/2014/main" val="20000"/>
                    </a:ext>
                  </a:extLst>
                </a:gridCol>
                <a:gridCol w="538959">
                  <a:extLst>
                    <a:ext uri="{9D8B030D-6E8A-4147-A177-3AD203B41FA5}">
                      <a16:colId xmlns:a16="http://schemas.microsoft.com/office/drawing/2014/main" val="20001"/>
                    </a:ext>
                  </a:extLst>
                </a:gridCol>
              </a:tblGrid>
              <a:tr h="162038">
                <a:tc>
                  <a:txBody>
                    <a:bodyPr/>
                    <a:lstStyle/>
                    <a:p>
                      <a:pPr>
                        <a:lnSpc>
                          <a:spcPts val="1600"/>
                        </a:lnSpc>
                        <a:spcAft>
                          <a:spcPts val="0"/>
                        </a:spcAft>
                      </a:pPr>
                      <a:r>
                        <a:rPr lang="en-US" sz="1400" b="1" kern="0" dirty="0" err="1">
                          <a:effectLst/>
                          <a:latin typeface="微软雅黑" pitchFamily="34" charset="-122"/>
                          <a:ea typeface="微软雅黑" pitchFamily="34" charset="-122"/>
                        </a:rPr>
                        <a:t>Dest</a:t>
                      </a:r>
                      <a:endParaRPr lang="zh-CN" sz="1400" b="1" kern="0" dirty="0">
                        <a:effectLst/>
                        <a:latin typeface="微软雅黑" pitchFamily="34" charset="-122"/>
                        <a:ea typeface="微软雅黑" pitchFamily="34" charset="-122"/>
                        <a:cs typeface="Times New Roman"/>
                      </a:endParaRPr>
                    </a:p>
                  </a:txBody>
                  <a:tcPr marL="68580" marR="68580" marT="0" marB="0">
                    <a:solidFill>
                      <a:schemeClr val="bg1"/>
                    </a:solidFill>
                  </a:tcPr>
                </a:tc>
                <a:tc>
                  <a:txBody>
                    <a:bodyPr/>
                    <a:lstStyle/>
                    <a:p>
                      <a:pPr>
                        <a:lnSpc>
                          <a:spcPts val="1600"/>
                        </a:lnSpc>
                        <a:spcAft>
                          <a:spcPts val="0"/>
                        </a:spcAft>
                      </a:pPr>
                      <a:r>
                        <a:rPr lang="en-US" sz="1400" b="1" dirty="0">
                          <a:effectLst/>
                          <a:latin typeface="微软雅黑" pitchFamily="34" charset="-122"/>
                          <a:ea typeface="微软雅黑" pitchFamily="34" charset="-122"/>
                        </a:rPr>
                        <a:t>Out</a:t>
                      </a:r>
                      <a:endParaRPr lang="zh-CN" sz="1400" b="1" dirty="0">
                        <a:effectLst/>
                        <a:latin typeface="微软雅黑" pitchFamily="34" charset="-122"/>
                        <a:ea typeface="微软雅黑" pitchFamily="34" charset="-122"/>
                      </a:endParaRPr>
                    </a:p>
                  </a:txBody>
                  <a:tcPr marL="68580" marR="68580" marT="0" marB="0">
                    <a:solidFill>
                      <a:schemeClr val="bg1"/>
                    </a:solidFill>
                  </a:tcPr>
                </a:tc>
                <a:extLst>
                  <a:ext uri="{0D108BD9-81ED-4DB2-BD59-A6C34878D82A}">
                    <a16:rowId xmlns:a16="http://schemas.microsoft.com/office/drawing/2014/main" val="10000"/>
                  </a:ext>
                </a:extLst>
              </a:tr>
              <a:tr h="206529">
                <a:tc>
                  <a:txBody>
                    <a:bodyPr/>
                    <a:lstStyle/>
                    <a:p>
                      <a:pPr>
                        <a:lnSpc>
                          <a:spcPts val="1600"/>
                        </a:lnSpc>
                        <a:spcAft>
                          <a:spcPts val="0"/>
                        </a:spcAft>
                      </a:pPr>
                      <a:r>
                        <a:rPr lang="en-US" sz="1200" b="1" dirty="0">
                          <a:effectLst/>
                          <a:highlight>
                            <a:srgbClr val="FFFF00"/>
                          </a:highlight>
                          <a:latin typeface="微软雅黑" pitchFamily="34" charset="-122"/>
                          <a:ea typeface="微软雅黑" pitchFamily="34" charset="-122"/>
                        </a:rPr>
                        <a:t>47.1</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tc>
                  <a:txBody>
                    <a:bodyPr/>
                    <a:lstStyle/>
                    <a:p>
                      <a:pPr>
                        <a:lnSpc>
                          <a:spcPts val="1600"/>
                        </a:lnSpc>
                        <a:spcAft>
                          <a:spcPts val="0"/>
                        </a:spcAft>
                      </a:pPr>
                      <a:r>
                        <a:rPr lang="en-US" sz="1200" b="1">
                          <a:effectLst/>
                          <a:highlight>
                            <a:srgbClr val="FFFF00"/>
                          </a:highlight>
                          <a:latin typeface="微软雅黑" pitchFamily="34" charset="-122"/>
                          <a:ea typeface="微软雅黑" pitchFamily="34" charset="-122"/>
                        </a:rPr>
                        <a:t>1</a:t>
                      </a:r>
                      <a:endParaRPr lang="zh-CN" sz="1200" b="1">
                        <a:effectLst/>
                        <a:latin typeface="微软雅黑" pitchFamily="34" charset="-122"/>
                        <a:ea typeface="微软雅黑" pitchFamily="34" charset="-122"/>
                      </a:endParaRPr>
                    </a:p>
                  </a:txBody>
                  <a:tcPr marL="68580" marR="68580" marT="0" marB="0" anchor="ctr">
                    <a:solidFill>
                      <a:schemeClr val="bg1"/>
                    </a:solidFill>
                  </a:tcPr>
                </a:tc>
                <a:extLst>
                  <a:ext uri="{0D108BD9-81ED-4DB2-BD59-A6C34878D82A}">
                    <a16:rowId xmlns:a16="http://schemas.microsoft.com/office/drawing/2014/main" val="10001"/>
                  </a:ext>
                </a:extLst>
              </a:tr>
              <a:tr h="209781">
                <a:tc>
                  <a:txBody>
                    <a:bodyPr/>
                    <a:lstStyle/>
                    <a:p>
                      <a:pPr>
                        <a:lnSpc>
                          <a:spcPts val="1600"/>
                        </a:lnSpc>
                        <a:spcAft>
                          <a:spcPts val="0"/>
                        </a:spcAft>
                      </a:pPr>
                      <a:r>
                        <a:rPr lang="en-US" sz="1200" b="1" dirty="0">
                          <a:effectLst/>
                          <a:latin typeface="微软雅黑" pitchFamily="34" charset="-122"/>
                          <a:ea typeface="微软雅黑" pitchFamily="34" charset="-122"/>
                        </a:rPr>
                        <a:t>47.2</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tc>
                  <a:txBody>
                    <a:bodyPr/>
                    <a:lstStyle/>
                    <a:p>
                      <a:pPr>
                        <a:lnSpc>
                          <a:spcPts val="1600"/>
                        </a:lnSpc>
                        <a:spcAft>
                          <a:spcPts val="0"/>
                        </a:spcAft>
                      </a:pPr>
                      <a:r>
                        <a:rPr lang="en-US" sz="1200" b="1" dirty="0">
                          <a:effectLst/>
                          <a:latin typeface="微软雅黑" pitchFamily="34" charset="-122"/>
                          <a:ea typeface="微软雅黑" pitchFamily="34" charset="-122"/>
                        </a:rPr>
                        <a:t>2</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extLst>
                  <a:ext uri="{0D108BD9-81ED-4DB2-BD59-A6C34878D82A}">
                    <a16:rowId xmlns:a16="http://schemas.microsoft.com/office/drawing/2014/main" val="10002"/>
                  </a:ext>
                </a:extLst>
              </a:tr>
              <a:tr h="205441">
                <a:tc>
                  <a:txBody>
                    <a:bodyPr/>
                    <a:lstStyle/>
                    <a:p>
                      <a:pPr>
                        <a:lnSpc>
                          <a:spcPts val="1600"/>
                        </a:lnSpc>
                        <a:spcAft>
                          <a:spcPts val="0"/>
                        </a:spcAft>
                      </a:pPr>
                      <a:r>
                        <a:rPr lang="en-US" sz="1200" b="1" dirty="0">
                          <a:effectLst/>
                          <a:latin typeface="微软雅黑" pitchFamily="34" charset="-122"/>
                          <a:ea typeface="微软雅黑" pitchFamily="34" charset="-122"/>
                        </a:rPr>
                        <a:t>47.3</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tc>
                  <a:txBody>
                    <a:bodyPr/>
                    <a:lstStyle/>
                    <a:p>
                      <a:pPr>
                        <a:lnSpc>
                          <a:spcPts val="1600"/>
                        </a:lnSpc>
                        <a:spcAft>
                          <a:spcPts val="0"/>
                        </a:spcAft>
                      </a:pPr>
                      <a:r>
                        <a:rPr lang="en-US" sz="1200" b="1" dirty="0">
                          <a:effectLst/>
                          <a:latin typeface="微软雅黑" pitchFamily="34" charset="-122"/>
                          <a:ea typeface="微软雅黑" pitchFamily="34" charset="-122"/>
                        </a:rPr>
                        <a:t>3</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extLst>
                  <a:ext uri="{0D108BD9-81ED-4DB2-BD59-A6C34878D82A}">
                    <a16:rowId xmlns:a16="http://schemas.microsoft.com/office/drawing/2014/main" val="10003"/>
                  </a:ext>
                </a:extLst>
              </a:tr>
            </a:tbl>
          </a:graphicData>
        </a:graphic>
      </p:graphicFrame>
      <p:graphicFrame>
        <p:nvGraphicFramePr>
          <p:cNvPr id="50" name="表格 49"/>
          <p:cNvGraphicFramePr>
            <a:graphicFrameLocks noGrp="1"/>
          </p:cNvGraphicFramePr>
          <p:nvPr>
            <p:extLst>
              <p:ext uri="{D42A27DB-BD31-4B8C-83A1-F6EECF244321}">
                <p14:modId xmlns:p14="http://schemas.microsoft.com/office/powerpoint/2010/main" val="3353373646"/>
              </p:ext>
            </p:extLst>
          </p:nvPr>
        </p:nvGraphicFramePr>
        <p:xfrm>
          <a:off x="5497252" y="1168422"/>
          <a:ext cx="1200150" cy="829833"/>
        </p:xfrm>
        <a:graphic>
          <a:graphicData uri="http://schemas.openxmlformats.org/drawingml/2006/table">
            <a:tbl>
              <a:tblPr firstRow="1" firstCol="1" bandRow="1" bandCol="1">
                <a:tableStyleId>{5940675A-B579-460E-94D1-54222C63F5DA}</a:tableStyleId>
              </a:tblPr>
              <a:tblGrid>
                <a:gridCol w="661191">
                  <a:extLst>
                    <a:ext uri="{9D8B030D-6E8A-4147-A177-3AD203B41FA5}">
                      <a16:colId xmlns:a16="http://schemas.microsoft.com/office/drawing/2014/main" val="20000"/>
                    </a:ext>
                  </a:extLst>
                </a:gridCol>
                <a:gridCol w="538959">
                  <a:extLst>
                    <a:ext uri="{9D8B030D-6E8A-4147-A177-3AD203B41FA5}">
                      <a16:colId xmlns:a16="http://schemas.microsoft.com/office/drawing/2014/main" val="20001"/>
                    </a:ext>
                  </a:extLst>
                </a:gridCol>
              </a:tblGrid>
              <a:tr h="207067">
                <a:tc>
                  <a:txBody>
                    <a:bodyPr/>
                    <a:lstStyle/>
                    <a:p>
                      <a:pPr>
                        <a:lnSpc>
                          <a:spcPts val="1600"/>
                        </a:lnSpc>
                        <a:spcAft>
                          <a:spcPts val="0"/>
                        </a:spcAft>
                      </a:pPr>
                      <a:r>
                        <a:rPr lang="en-US" sz="1400" b="1" kern="0" dirty="0" err="1">
                          <a:effectLst/>
                          <a:latin typeface="微软雅黑" pitchFamily="34" charset="-122"/>
                          <a:ea typeface="微软雅黑" pitchFamily="34" charset="-122"/>
                        </a:rPr>
                        <a:t>Dest</a:t>
                      </a:r>
                      <a:endParaRPr lang="zh-CN" sz="1400" b="1" kern="0" dirty="0">
                        <a:effectLst/>
                        <a:latin typeface="微软雅黑" pitchFamily="34" charset="-122"/>
                        <a:ea typeface="微软雅黑" pitchFamily="34" charset="-122"/>
                        <a:cs typeface="Times New Roman"/>
                      </a:endParaRPr>
                    </a:p>
                  </a:txBody>
                  <a:tcPr marL="68580" marR="68580" marT="0" marB="0">
                    <a:solidFill>
                      <a:schemeClr val="bg1"/>
                    </a:solidFill>
                  </a:tcPr>
                </a:tc>
                <a:tc>
                  <a:txBody>
                    <a:bodyPr/>
                    <a:lstStyle/>
                    <a:p>
                      <a:pPr>
                        <a:lnSpc>
                          <a:spcPts val="1600"/>
                        </a:lnSpc>
                        <a:spcAft>
                          <a:spcPts val="0"/>
                        </a:spcAft>
                      </a:pPr>
                      <a:r>
                        <a:rPr lang="en-US" sz="1400" b="1" dirty="0">
                          <a:effectLst/>
                          <a:latin typeface="微软雅黑" pitchFamily="34" charset="-122"/>
                          <a:ea typeface="微软雅黑" pitchFamily="34" charset="-122"/>
                        </a:rPr>
                        <a:t>Out</a:t>
                      </a:r>
                      <a:endParaRPr lang="zh-CN" sz="1400" b="1" dirty="0">
                        <a:effectLst/>
                        <a:latin typeface="微软雅黑" pitchFamily="34" charset="-122"/>
                        <a:ea typeface="微软雅黑" pitchFamily="34" charset="-122"/>
                      </a:endParaRPr>
                    </a:p>
                  </a:txBody>
                  <a:tcPr marL="68580" marR="68580" marT="0" marB="0">
                    <a:solidFill>
                      <a:schemeClr val="bg1"/>
                    </a:solidFill>
                  </a:tcPr>
                </a:tc>
                <a:extLst>
                  <a:ext uri="{0D108BD9-81ED-4DB2-BD59-A6C34878D82A}">
                    <a16:rowId xmlns:a16="http://schemas.microsoft.com/office/drawing/2014/main" val="10000"/>
                  </a:ext>
                </a:extLst>
              </a:tr>
              <a:tr h="206866">
                <a:tc>
                  <a:txBody>
                    <a:bodyPr/>
                    <a:lstStyle/>
                    <a:p>
                      <a:pPr>
                        <a:lnSpc>
                          <a:spcPts val="1600"/>
                        </a:lnSpc>
                        <a:spcAft>
                          <a:spcPts val="0"/>
                        </a:spcAft>
                      </a:pPr>
                      <a:r>
                        <a:rPr lang="en-US" sz="1200" b="1" dirty="0">
                          <a:effectLst/>
                          <a:highlight>
                            <a:srgbClr val="FFFF00"/>
                          </a:highlight>
                          <a:latin typeface="微软雅黑" pitchFamily="34" charset="-122"/>
                          <a:ea typeface="微软雅黑" pitchFamily="34" charset="-122"/>
                        </a:rPr>
                        <a:t>47.1</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tc>
                  <a:txBody>
                    <a:bodyPr/>
                    <a:lstStyle/>
                    <a:p>
                      <a:pPr>
                        <a:lnSpc>
                          <a:spcPts val="1600"/>
                        </a:lnSpc>
                        <a:spcAft>
                          <a:spcPts val="0"/>
                        </a:spcAft>
                      </a:pPr>
                      <a:r>
                        <a:rPr lang="en-US" sz="1200" b="1" dirty="0">
                          <a:effectLst/>
                          <a:highlight>
                            <a:srgbClr val="FFFF00"/>
                          </a:highlight>
                          <a:latin typeface="微软雅黑" pitchFamily="34" charset="-122"/>
                          <a:ea typeface="微软雅黑" pitchFamily="34" charset="-122"/>
                        </a:rPr>
                        <a:t>1</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extLst>
                  <a:ext uri="{0D108BD9-81ED-4DB2-BD59-A6C34878D82A}">
                    <a16:rowId xmlns:a16="http://schemas.microsoft.com/office/drawing/2014/main" val="10001"/>
                  </a:ext>
                </a:extLst>
              </a:tr>
              <a:tr h="210124">
                <a:tc>
                  <a:txBody>
                    <a:bodyPr/>
                    <a:lstStyle/>
                    <a:p>
                      <a:pPr>
                        <a:lnSpc>
                          <a:spcPts val="1600"/>
                        </a:lnSpc>
                        <a:spcAft>
                          <a:spcPts val="0"/>
                        </a:spcAft>
                      </a:pPr>
                      <a:r>
                        <a:rPr lang="en-US" sz="1200" b="1" dirty="0">
                          <a:effectLst/>
                          <a:latin typeface="微软雅黑" pitchFamily="34" charset="-122"/>
                          <a:ea typeface="微软雅黑" pitchFamily="34" charset="-122"/>
                        </a:rPr>
                        <a:t>47.2</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tc>
                  <a:txBody>
                    <a:bodyPr/>
                    <a:lstStyle/>
                    <a:p>
                      <a:pPr>
                        <a:lnSpc>
                          <a:spcPts val="1600"/>
                        </a:lnSpc>
                        <a:spcAft>
                          <a:spcPts val="0"/>
                        </a:spcAft>
                      </a:pPr>
                      <a:r>
                        <a:rPr lang="en-US" sz="1200" b="1" dirty="0">
                          <a:effectLst/>
                          <a:latin typeface="微软雅黑" pitchFamily="34" charset="-122"/>
                          <a:ea typeface="微软雅黑" pitchFamily="34" charset="-122"/>
                        </a:rPr>
                        <a:t>2</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extLst>
                  <a:ext uri="{0D108BD9-81ED-4DB2-BD59-A6C34878D82A}">
                    <a16:rowId xmlns:a16="http://schemas.microsoft.com/office/drawing/2014/main" val="10002"/>
                  </a:ext>
                </a:extLst>
              </a:tr>
              <a:tr h="205776">
                <a:tc>
                  <a:txBody>
                    <a:bodyPr/>
                    <a:lstStyle/>
                    <a:p>
                      <a:pPr>
                        <a:lnSpc>
                          <a:spcPts val="1600"/>
                        </a:lnSpc>
                        <a:spcAft>
                          <a:spcPts val="0"/>
                        </a:spcAft>
                      </a:pPr>
                      <a:r>
                        <a:rPr lang="en-US" sz="1200" b="1">
                          <a:effectLst/>
                          <a:latin typeface="微软雅黑" pitchFamily="34" charset="-122"/>
                          <a:ea typeface="微软雅黑" pitchFamily="34" charset="-122"/>
                        </a:rPr>
                        <a:t>47.3</a:t>
                      </a:r>
                      <a:endParaRPr lang="zh-CN" sz="1200" b="1">
                        <a:effectLst/>
                        <a:latin typeface="微软雅黑" pitchFamily="34" charset="-122"/>
                        <a:ea typeface="微软雅黑" pitchFamily="34" charset="-122"/>
                      </a:endParaRPr>
                    </a:p>
                  </a:txBody>
                  <a:tcPr marL="68580" marR="68580" marT="0" marB="0" anchor="ctr">
                    <a:solidFill>
                      <a:schemeClr val="bg1"/>
                    </a:solidFill>
                  </a:tcPr>
                </a:tc>
                <a:tc>
                  <a:txBody>
                    <a:bodyPr/>
                    <a:lstStyle/>
                    <a:p>
                      <a:pPr>
                        <a:lnSpc>
                          <a:spcPts val="1600"/>
                        </a:lnSpc>
                        <a:spcAft>
                          <a:spcPts val="0"/>
                        </a:spcAft>
                      </a:pPr>
                      <a:r>
                        <a:rPr lang="en-US" sz="1200" b="1" dirty="0">
                          <a:effectLst/>
                          <a:latin typeface="微软雅黑" pitchFamily="34" charset="-122"/>
                          <a:ea typeface="微软雅黑" pitchFamily="34" charset="-122"/>
                        </a:rPr>
                        <a:t>3</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extLst>
                  <a:ext uri="{0D108BD9-81ED-4DB2-BD59-A6C34878D82A}">
                    <a16:rowId xmlns:a16="http://schemas.microsoft.com/office/drawing/2014/main" val="10003"/>
                  </a:ext>
                </a:extLst>
              </a:tr>
            </a:tbl>
          </a:graphicData>
        </a:graphic>
      </p:graphicFrame>
      <p:grpSp>
        <p:nvGrpSpPr>
          <p:cNvPr id="78" name="组合 77"/>
          <p:cNvGrpSpPr/>
          <p:nvPr/>
        </p:nvGrpSpPr>
        <p:grpSpPr>
          <a:xfrm>
            <a:off x="1901228" y="1938899"/>
            <a:ext cx="5341151" cy="1872063"/>
            <a:chOff x="1901228" y="2138071"/>
            <a:chExt cx="5916670" cy="1965649"/>
          </a:xfrm>
        </p:grpSpPr>
        <p:cxnSp>
          <p:nvCxnSpPr>
            <p:cNvPr id="5" name="AutoShape 136"/>
            <p:cNvCxnSpPr>
              <a:cxnSpLocks noChangeShapeType="1"/>
            </p:cNvCxnSpPr>
            <p:nvPr/>
          </p:nvCxnSpPr>
          <p:spPr bwMode="auto">
            <a:xfrm flipV="1">
              <a:off x="3412827" y="2615698"/>
              <a:ext cx="436623" cy="687077"/>
            </a:xfrm>
            <a:prstGeom prst="straightConnector1">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 name="AutoShape 137"/>
            <p:cNvCxnSpPr>
              <a:cxnSpLocks noChangeShapeType="1"/>
              <a:stCxn id="40" idx="3"/>
              <a:endCxn id="46" idx="1"/>
            </p:cNvCxnSpPr>
            <p:nvPr/>
          </p:nvCxnSpPr>
          <p:spPr bwMode="auto">
            <a:xfrm>
              <a:off x="4361708" y="2484661"/>
              <a:ext cx="1549663" cy="0"/>
            </a:xfrm>
            <a:prstGeom prst="straightConnector1">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 name="AutoShape 138"/>
            <p:cNvCxnSpPr>
              <a:cxnSpLocks noChangeShapeType="1"/>
            </p:cNvCxnSpPr>
            <p:nvPr/>
          </p:nvCxnSpPr>
          <p:spPr bwMode="auto">
            <a:xfrm>
              <a:off x="3314177" y="3520385"/>
              <a:ext cx="411042" cy="378159"/>
            </a:xfrm>
            <a:prstGeom prst="straightConnector1">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 name="AutoShape 139"/>
            <p:cNvCxnSpPr>
              <a:cxnSpLocks noChangeShapeType="1"/>
            </p:cNvCxnSpPr>
            <p:nvPr/>
          </p:nvCxnSpPr>
          <p:spPr bwMode="auto">
            <a:xfrm flipV="1">
              <a:off x="4309383" y="3211594"/>
              <a:ext cx="518850" cy="599907"/>
            </a:xfrm>
            <a:prstGeom prst="straightConnector1">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 name="AutoShape 140"/>
            <p:cNvCxnSpPr>
              <a:cxnSpLocks noChangeShapeType="1"/>
              <a:stCxn id="42" idx="3"/>
              <a:endCxn id="44" idx="1"/>
            </p:cNvCxnSpPr>
            <p:nvPr/>
          </p:nvCxnSpPr>
          <p:spPr bwMode="auto">
            <a:xfrm>
              <a:off x="5499100" y="3164224"/>
              <a:ext cx="978012" cy="264282"/>
            </a:xfrm>
            <a:prstGeom prst="straightConnector1">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 name="AutoShape 141"/>
            <p:cNvCxnSpPr>
              <a:cxnSpLocks noChangeShapeType="1"/>
              <a:stCxn id="43" idx="3"/>
              <a:endCxn id="45" idx="1"/>
            </p:cNvCxnSpPr>
            <p:nvPr/>
          </p:nvCxnSpPr>
          <p:spPr bwMode="auto">
            <a:xfrm flipV="1">
              <a:off x="4391369" y="3931064"/>
              <a:ext cx="869529" cy="1"/>
            </a:xfrm>
            <a:prstGeom prst="straightConnector1">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 name="AutoShape 142"/>
            <p:cNvCxnSpPr>
              <a:cxnSpLocks noChangeShapeType="1"/>
            </p:cNvCxnSpPr>
            <p:nvPr/>
          </p:nvCxnSpPr>
          <p:spPr bwMode="auto">
            <a:xfrm>
              <a:off x="4244574" y="2599380"/>
              <a:ext cx="705508" cy="535765"/>
            </a:xfrm>
            <a:prstGeom prst="straightConnector1">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 name="AutoShape 143"/>
            <p:cNvCxnSpPr>
              <a:cxnSpLocks noChangeShapeType="1"/>
              <a:stCxn id="45" idx="3"/>
              <a:endCxn id="44" idx="2"/>
            </p:cNvCxnSpPr>
            <p:nvPr/>
          </p:nvCxnSpPr>
          <p:spPr bwMode="auto">
            <a:xfrm flipV="1">
              <a:off x="5946918" y="3601161"/>
              <a:ext cx="873204" cy="329903"/>
            </a:xfrm>
            <a:prstGeom prst="straightConnector1">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 name="AutoShape 144"/>
            <p:cNvCxnSpPr>
              <a:cxnSpLocks noChangeShapeType="1"/>
            </p:cNvCxnSpPr>
            <p:nvPr/>
          </p:nvCxnSpPr>
          <p:spPr bwMode="auto">
            <a:xfrm>
              <a:off x="6407829" y="2556129"/>
              <a:ext cx="338086" cy="762363"/>
            </a:xfrm>
            <a:prstGeom prst="straightConnector1">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4" name="Line 145"/>
            <p:cNvSpPr>
              <a:spLocks noChangeShapeType="1"/>
            </p:cNvSpPr>
            <p:nvPr/>
          </p:nvSpPr>
          <p:spPr bwMode="auto">
            <a:xfrm>
              <a:off x="6527756" y="2410087"/>
              <a:ext cx="832699" cy="0"/>
            </a:xfrm>
            <a:prstGeom prst="line">
              <a:avLst/>
            </a:prstGeom>
            <a:noFill/>
            <a:ln w="38100">
              <a:solidFill>
                <a:srgbClr val="99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82550" tIns="41275" rIns="82550" bIns="41275" anchor="ctr">
              <a:spAutoFit/>
            </a:bodyPr>
            <a:lstStyle/>
            <a:p>
              <a:endParaRPr lang="zh-CN" altLang="en-US" sz="1400" b="1">
                <a:solidFill>
                  <a:srgbClr val="000099"/>
                </a:solidFill>
                <a:latin typeface="微软雅黑" pitchFamily="34" charset="-122"/>
                <a:ea typeface="微软雅黑" pitchFamily="34" charset="-122"/>
              </a:endParaRPr>
            </a:p>
          </p:txBody>
        </p:sp>
        <p:sp>
          <p:nvSpPr>
            <p:cNvPr id="15" name="Line 146"/>
            <p:cNvSpPr>
              <a:spLocks noChangeShapeType="1"/>
            </p:cNvSpPr>
            <p:nvPr/>
          </p:nvSpPr>
          <p:spPr bwMode="auto">
            <a:xfrm flipV="1">
              <a:off x="7114822" y="3436242"/>
              <a:ext cx="703076" cy="0"/>
            </a:xfrm>
            <a:prstGeom prst="line">
              <a:avLst/>
            </a:prstGeom>
            <a:noFill/>
            <a:ln w="38100">
              <a:solidFill>
                <a:srgbClr val="99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82550" tIns="41275" rIns="82550" bIns="41275" anchor="ctr">
              <a:spAutoFit/>
            </a:bodyPr>
            <a:lstStyle/>
            <a:p>
              <a:endParaRPr lang="zh-CN" altLang="en-US" sz="1400" b="1">
                <a:solidFill>
                  <a:srgbClr val="000099"/>
                </a:solidFill>
                <a:latin typeface="微软雅黑" pitchFamily="34" charset="-122"/>
                <a:ea typeface="微软雅黑" pitchFamily="34" charset="-122"/>
              </a:endParaRPr>
            </a:p>
          </p:txBody>
        </p:sp>
        <p:sp>
          <p:nvSpPr>
            <p:cNvPr id="18" name="Text Box 149"/>
            <p:cNvSpPr txBox="1">
              <a:spLocks noChangeArrowheads="1"/>
            </p:cNvSpPr>
            <p:nvPr/>
          </p:nvSpPr>
          <p:spPr bwMode="auto">
            <a:xfrm>
              <a:off x="2054088" y="3200256"/>
              <a:ext cx="549831"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dirty="0">
                  <a:latin typeface="微软雅黑" pitchFamily="34" charset="-122"/>
                  <a:ea typeface="微软雅黑" pitchFamily="34" charset="-122"/>
                </a:rPr>
                <a:t>47.3</a:t>
              </a:r>
            </a:p>
          </p:txBody>
        </p:sp>
        <p:sp>
          <p:nvSpPr>
            <p:cNvPr id="22" name="Line 153"/>
            <p:cNvSpPr>
              <a:spLocks noChangeShapeType="1"/>
            </p:cNvSpPr>
            <p:nvPr/>
          </p:nvSpPr>
          <p:spPr bwMode="auto">
            <a:xfrm flipV="1">
              <a:off x="1901228" y="3444947"/>
              <a:ext cx="868439" cy="0"/>
            </a:xfrm>
            <a:prstGeom prst="line">
              <a:avLst/>
            </a:prstGeom>
            <a:noFill/>
            <a:ln w="38100">
              <a:solidFill>
                <a:srgbClr val="99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82550" tIns="41275" rIns="82550" bIns="41275" anchor="ctr">
              <a:spAutoFit/>
            </a:bodyPr>
            <a:lstStyle/>
            <a:p>
              <a:endParaRPr lang="zh-CN" altLang="en-US" sz="1400" b="1">
                <a:solidFill>
                  <a:srgbClr val="000099"/>
                </a:solidFill>
                <a:latin typeface="微软雅黑" pitchFamily="34" charset="-122"/>
                <a:ea typeface="微软雅黑" pitchFamily="34" charset="-122"/>
              </a:endParaRPr>
            </a:p>
          </p:txBody>
        </p:sp>
        <p:sp>
          <p:nvSpPr>
            <p:cNvPr id="25" name="Text Box 156"/>
            <p:cNvSpPr txBox="1">
              <a:spLocks noChangeArrowheads="1"/>
            </p:cNvSpPr>
            <p:nvPr/>
          </p:nvSpPr>
          <p:spPr bwMode="auto">
            <a:xfrm>
              <a:off x="4107169" y="2586763"/>
              <a:ext cx="277319"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dirty="0">
                  <a:solidFill>
                    <a:srgbClr val="0000FF"/>
                  </a:solidFill>
                  <a:latin typeface="微软雅黑" pitchFamily="34" charset="-122"/>
                  <a:ea typeface="微软雅黑" pitchFamily="34" charset="-122"/>
                </a:rPr>
                <a:t>2</a:t>
              </a:r>
            </a:p>
          </p:txBody>
        </p:sp>
        <p:sp>
          <p:nvSpPr>
            <p:cNvPr id="26" name="Text Box 157"/>
            <p:cNvSpPr txBox="1">
              <a:spLocks noChangeArrowheads="1"/>
            </p:cNvSpPr>
            <p:nvPr/>
          </p:nvSpPr>
          <p:spPr bwMode="auto">
            <a:xfrm>
              <a:off x="3544161" y="2493184"/>
              <a:ext cx="277319"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dirty="0">
                  <a:solidFill>
                    <a:srgbClr val="0000FF"/>
                  </a:solidFill>
                  <a:latin typeface="微软雅黑" pitchFamily="34" charset="-122"/>
                  <a:ea typeface="微软雅黑" pitchFamily="34" charset="-122"/>
                </a:rPr>
                <a:t>3</a:t>
              </a:r>
            </a:p>
          </p:txBody>
        </p:sp>
        <p:sp>
          <p:nvSpPr>
            <p:cNvPr id="28" name="Text Box 159"/>
            <p:cNvSpPr txBox="1">
              <a:spLocks noChangeArrowheads="1"/>
            </p:cNvSpPr>
            <p:nvPr/>
          </p:nvSpPr>
          <p:spPr bwMode="auto">
            <a:xfrm>
              <a:off x="6480677" y="2138071"/>
              <a:ext cx="277319"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dirty="0">
                  <a:solidFill>
                    <a:srgbClr val="0000FF"/>
                  </a:solidFill>
                  <a:latin typeface="微软雅黑" pitchFamily="34" charset="-122"/>
                  <a:ea typeface="微软雅黑" pitchFamily="34" charset="-122"/>
                </a:rPr>
                <a:t>1</a:t>
              </a:r>
            </a:p>
          </p:txBody>
        </p:sp>
        <p:sp>
          <p:nvSpPr>
            <p:cNvPr id="29" name="Text Box 160"/>
            <p:cNvSpPr txBox="1">
              <a:spLocks noChangeArrowheads="1"/>
            </p:cNvSpPr>
            <p:nvPr/>
          </p:nvSpPr>
          <p:spPr bwMode="auto">
            <a:xfrm>
              <a:off x="6230153" y="2601314"/>
              <a:ext cx="277319"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dirty="0">
                  <a:solidFill>
                    <a:srgbClr val="0000FF"/>
                  </a:solidFill>
                  <a:latin typeface="微软雅黑" pitchFamily="34" charset="-122"/>
                  <a:ea typeface="微软雅黑" pitchFamily="34" charset="-122"/>
                </a:rPr>
                <a:t>2</a:t>
              </a:r>
            </a:p>
          </p:txBody>
        </p:sp>
        <p:sp>
          <p:nvSpPr>
            <p:cNvPr id="30" name="Text Box 161"/>
            <p:cNvSpPr txBox="1">
              <a:spLocks noChangeArrowheads="1"/>
            </p:cNvSpPr>
            <p:nvPr/>
          </p:nvSpPr>
          <p:spPr bwMode="auto">
            <a:xfrm>
              <a:off x="3256389" y="3021332"/>
              <a:ext cx="277319"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dirty="0">
                  <a:solidFill>
                    <a:srgbClr val="0000FF"/>
                  </a:solidFill>
                  <a:latin typeface="微软雅黑" pitchFamily="34" charset="-122"/>
                  <a:ea typeface="微软雅黑" pitchFamily="34" charset="-122"/>
                </a:rPr>
                <a:t>1</a:t>
              </a:r>
            </a:p>
          </p:txBody>
        </p:sp>
        <p:sp>
          <p:nvSpPr>
            <p:cNvPr id="31" name="Text Box 162"/>
            <p:cNvSpPr txBox="1">
              <a:spLocks noChangeArrowheads="1"/>
            </p:cNvSpPr>
            <p:nvPr/>
          </p:nvSpPr>
          <p:spPr bwMode="auto">
            <a:xfrm>
              <a:off x="3178851" y="3541512"/>
              <a:ext cx="277319"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dirty="0">
                  <a:solidFill>
                    <a:srgbClr val="0000FF"/>
                  </a:solidFill>
                  <a:latin typeface="微软雅黑" pitchFamily="34" charset="-122"/>
                  <a:ea typeface="微软雅黑" pitchFamily="34" charset="-122"/>
                </a:rPr>
                <a:t>2</a:t>
              </a:r>
            </a:p>
          </p:txBody>
        </p:sp>
        <p:sp>
          <p:nvSpPr>
            <p:cNvPr id="32" name="Text Box 163"/>
            <p:cNvSpPr txBox="1">
              <a:spLocks noChangeArrowheads="1"/>
            </p:cNvSpPr>
            <p:nvPr/>
          </p:nvSpPr>
          <p:spPr bwMode="auto">
            <a:xfrm>
              <a:off x="2540093" y="3162537"/>
              <a:ext cx="277319"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a:solidFill>
                    <a:srgbClr val="0000FF"/>
                  </a:solidFill>
                  <a:latin typeface="微软雅黑" pitchFamily="34" charset="-122"/>
                  <a:ea typeface="微软雅黑" pitchFamily="34" charset="-122"/>
                </a:rPr>
                <a:t>3</a:t>
              </a:r>
            </a:p>
          </p:txBody>
        </p:sp>
        <p:sp>
          <p:nvSpPr>
            <p:cNvPr id="39" name="Text Box 169"/>
            <p:cNvSpPr txBox="1">
              <a:spLocks noChangeArrowheads="1"/>
            </p:cNvSpPr>
            <p:nvPr/>
          </p:nvSpPr>
          <p:spPr bwMode="auto">
            <a:xfrm>
              <a:off x="5680556" y="2231979"/>
              <a:ext cx="277319"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dirty="0">
                  <a:solidFill>
                    <a:srgbClr val="0000FF"/>
                  </a:solidFill>
                  <a:latin typeface="微软雅黑" pitchFamily="34" charset="-122"/>
                  <a:ea typeface="微软雅黑" pitchFamily="34" charset="-122"/>
                </a:rPr>
                <a:t>3</a:t>
              </a:r>
            </a:p>
          </p:txBody>
        </p:sp>
        <p:pic>
          <p:nvPicPr>
            <p:cNvPr id="40" name="Picture 2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48125" y="2312005"/>
              <a:ext cx="613583" cy="34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1" name="Picture 2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752919" y="3255849"/>
              <a:ext cx="686021" cy="34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 name="Picture 2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13079" y="2991568"/>
              <a:ext cx="686021" cy="34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 name="Picture 2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05348" y="3758408"/>
              <a:ext cx="686021" cy="34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4" name="Picture 2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477112" y="3255849"/>
              <a:ext cx="686021" cy="34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5" name="Picture 2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60898" y="3758407"/>
              <a:ext cx="686021" cy="34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6" name="Picture 2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911371" y="2312005"/>
              <a:ext cx="686021" cy="34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1" name="Text Box 147"/>
            <p:cNvSpPr txBox="1">
              <a:spLocks noChangeArrowheads="1"/>
            </p:cNvSpPr>
            <p:nvPr/>
          </p:nvSpPr>
          <p:spPr bwMode="auto">
            <a:xfrm>
              <a:off x="6664367" y="2159594"/>
              <a:ext cx="549831"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a:latin typeface="微软雅黑" pitchFamily="34" charset="-122"/>
                  <a:ea typeface="微软雅黑" pitchFamily="34" charset="-122"/>
                </a:rPr>
                <a:t>47.1</a:t>
              </a:r>
            </a:p>
          </p:txBody>
        </p:sp>
        <p:sp>
          <p:nvSpPr>
            <p:cNvPr id="52" name="Text Box 148"/>
            <p:cNvSpPr txBox="1">
              <a:spLocks noChangeArrowheads="1"/>
            </p:cNvSpPr>
            <p:nvPr/>
          </p:nvSpPr>
          <p:spPr bwMode="auto">
            <a:xfrm>
              <a:off x="7146979" y="3187683"/>
              <a:ext cx="549831"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dirty="0">
                  <a:latin typeface="微软雅黑" pitchFamily="34" charset="-122"/>
                  <a:ea typeface="微软雅黑" pitchFamily="34" charset="-122"/>
                </a:rPr>
                <a:t>47.2</a:t>
              </a:r>
            </a:p>
          </p:txBody>
        </p:sp>
        <p:sp>
          <p:nvSpPr>
            <p:cNvPr id="53" name="Text Box 155"/>
            <p:cNvSpPr txBox="1">
              <a:spLocks noChangeArrowheads="1"/>
            </p:cNvSpPr>
            <p:nvPr/>
          </p:nvSpPr>
          <p:spPr bwMode="auto">
            <a:xfrm>
              <a:off x="4298267" y="2242161"/>
              <a:ext cx="277319"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dirty="0">
                  <a:solidFill>
                    <a:srgbClr val="0000FF"/>
                  </a:solidFill>
                  <a:latin typeface="微软雅黑" pitchFamily="34" charset="-122"/>
                  <a:ea typeface="微软雅黑" pitchFamily="34" charset="-122"/>
                </a:rPr>
                <a:t>1</a:t>
              </a:r>
            </a:p>
          </p:txBody>
        </p:sp>
      </p:grpSp>
      <p:grpSp>
        <p:nvGrpSpPr>
          <p:cNvPr id="59" name="组合 58"/>
          <p:cNvGrpSpPr/>
          <p:nvPr/>
        </p:nvGrpSpPr>
        <p:grpSpPr>
          <a:xfrm>
            <a:off x="4354659" y="1997330"/>
            <a:ext cx="1003442" cy="242009"/>
            <a:chOff x="1522766" y="3609571"/>
            <a:chExt cx="1152421" cy="268022"/>
          </a:xfrm>
        </p:grpSpPr>
        <p:sp>
          <p:nvSpPr>
            <p:cNvPr id="60" name="Text Box 151"/>
            <p:cNvSpPr txBox="1">
              <a:spLocks noChangeArrowheads="1"/>
            </p:cNvSpPr>
            <p:nvPr/>
          </p:nvSpPr>
          <p:spPr bwMode="auto">
            <a:xfrm>
              <a:off x="1522766" y="3609571"/>
              <a:ext cx="968215" cy="268022"/>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82550" tIns="41275" rIns="82550" bIns="41275" anchor="ctr" anchorCtr="0">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spcBef>
                  <a:spcPct val="50000"/>
                </a:spcBef>
              </a:pPr>
              <a:r>
                <a:rPr lang="en-US" altLang="zh-CN" sz="1200" b="1" i="0" dirty="0">
                  <a:latin typeface="微软雅黑" pitchFamily="34" charset="-122"/>
                  <a:ea typeface="微软雅黑" pitchFamily="34" charset="-122"/>
                </a:rPr>
                <a:t>IP 47.1.1.1</a:t>
              </a:r>
            </a:p>
          </p:txBody>
        </p:sp>
        <p:sp>
          <p:nvSpPr>
            <p:cNvPr id="61" name="AutoShape 152"/>
            <p:cNvSpPr>
              <a:spLocks noChangeArrowheads="1"/>
            </p:cNvSpPr>
            <p:nvPr/>
          </p:nvSpPr>
          <p:spPr bwMode="auto">
            <a:xfrm>
              <a:off x="2486393" y="3660995"/>
              <a:ext cx="188794" cy="171976"/>
            </a:xfrm>
            <a:prstGeom prst="rightArrow">
              <a:avLst>
                <a:gd name="adj1" fmla="val 48447"/>
                <a:gd name="adj2" fmla="val 50968"/>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82550" tIns="41275" rIns="82550" bIns="41275" anchor="ctr">
              <a:spAutoFit/>
            </a:bodyPr>
            <a:lstStyle/>
            <a:p>
              <a:pPr algn="ctr" eaLnBrk="0" hangingPunct="0"/>
              <a:endParaRPr lang="zh-CN" altLang="en-US" sz="1100" b="1" i="0">
                <a:solidFill>
                  <a:srgbClr val="000099"/>
                </a:solidFill>
                <a:latin typeface="微软雅黑" pitchFamily="34" charset="-122"/>
                <a:ea typeface="微软雅黑" pitchFamily="34" charset="-122"/>
              </a:endParaRPr>
            </a:p>
          </p:txBody>
        </p:sp>
      </p:grpSp>
      <p:grpSp>
        <p:nvGrpSpPr>
          <p:cNvPr id="62" name="组合 61"/>
          <p:cNvGrpSpPr/>
          <p:nvPr/>
        </p:nvGrpSpPr>
        <p:grpSpPr>
          <a:xfrm>
            <a:off x="6285575" y="2248765"/>
            <a:ext cx="1003442" cy="242009"/>
            <a:chOff x="1522766" y="3609571"/>
            <a:chExt cx="1152421" cy="268022"/>
          </a:xfrm>
        </p:grpSpPr>
        <p:sp>
          <p:nvSpPr>
            <p:cNvPr id="63" name="Text Box 151"/>
            <p:cNvSpPr txBox="1">
              <a:spLocks noChangeArrowheads="1"/>
            </p:cNvSpPr>
            <p:nvPr/>
          </p:nvSpPr>
          <p:spPr bwMode="auto">
            <a:xfrm>
              <a:off x="1522766" y="3609571"/>
              <a:ext cx="968215" cy="268022"/>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82550" tIns="41275" rIns="82550" bIns="41275" anchor="ctr" anchorCtr="0">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spcBef>
                  <a:spcPct val="50000"/>
                </a:spcBef>
              </a:pPr>
              <a:r>
                <a:rPr lang="en-US" altLang="zh-CN" sz="1200" b="1" i="0" dirty="0">
                  <a:latin typeface="微软雅黑" pitchFamily="34" charset="-122"/>
                  <a:ea typeface="微软雅黑" pitchFamily="34" charset="-122"/>
                </a:rPr>
                <a:t>IP 47.1.1.1</a:t>
              </a:r>
            </a:p>
          </p:txBody>
        </p:sp>
        <p:sp>
          <p:nvSpPr>
            <p:cNvPr id="64" name="AutoShape 152"/>
            <p:cNvSpPr>
              <a:spLocks noChangeArrowheads="1"/>
            </p:cNvSpPr>
            <p:nvPr/>
          </p:nvSpPr>
          <p:spPr bwMode="auto">
            <a:xfrm>
              <a:off x="2486393" y="3660995"/>
              <a:ext cx="188794" cy="171976"/>
            </a:xfrm>
            <a:prstGeom prst="rightArrow">
              <a:avLst>
                <a:gd name="adj1" fmla="val 48447"/>
                <a:gd name="adj2" fmla="val 50968"/>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82550" tIns="41275" rIns="82550" bIns="41275" anchor="ctr">
              <a:spAutoFit/>
            </a:bodyPr>
            <a:lstStyle/>
            <a:p>
              <a:pPr algn="ctr" eaLnBrk="0" hangingPunct="0"/>
              <a:endParaRPr lang="zh-CN" altLang="en-US" sz="1100" b="1" i="0">
                <a:solidFill>
                  <a:srgbClr val="000099"/>
                </a:solidFill>
                <a:latin typeface="微软雅黑" pitchFamily="34" charset="-122"/>
                <a:ea typeface="微软雅黑" pitchFamily="34" charset="-122"/>
              </a:endParaRPr>
            </a:p>
          </p:txBody>
        </p:sp>
      </p:grpSp>
      <p:grpSp>
        <p:nvGrpSpPr>
          <p:cNvPr id="54" name="组合 53"/>
          <p:cNvGrpSpPr/>
          <p:nvPr/>
        </p:nvGrpSpPr>
        <p:grpSpPr>
          <a:xfrm>
            <a:off x="3016862" y="2503693"/>
            <a:ext cx="1003442" cy="242009"/>
            <a:chOff x="1522766" y="3609571"/>
            <a:chExt cx="1152421" cy="268022"/>
          </a:xfrm>
        </p:grpSpPr>
        <p:sp>
          <p:nvSpPr>
            <p:cNvPr id="55" name="Text Box 151"/>
            <p:cNvSpPr txBox="1">
              <a:spLocks noChangeArrowheads="1"/>
            </p:cNvSpPr>
            <p:nvPr/>
          </p:nvSpPr>
          <p:spPr bwMode="auto">
            <a:xfrm>
              <a:off x="1522766" y="3609571"/>
              <a:ext cx="968215" cy="268022"/>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82550" tIns="41275" rIns="82550" bIns="41275" anchor="ctr" anchorCtr="0">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spcBef>
                  <a:spcPct val="50000"/>
                </a:spcBef>
              </a:pPr>
              <a:r>
                <a:rPr lang="en-US" altLang="zh-CN" sz="1200" b="1" i="0" dirty="0">
                  <a:latin typeface="微软雅黑" pitchFamily="34" charset="-122"/>
                  <a:ea typeface="微软雅黑" pitchFamily="34" charset="-122"/>
                </a:rPr>
                <a:t>IP 47.1.1.1</a:t>
              </a:r>
            </a:p>
          </p:txBody>
        </p:sp>
        <p:sp>
          <p:nvSpPr>
            <p:cNvPr id="56" name="AutoShape 152"/>
            <p:cNvSpPr>
              <a:spLocks noChangeArrowheads="1"/>
            </p:cNvSpPr>
            <p:nvPr/>
          </p:nvSpPr>
          <p:spPr bwMode="auto">
            <a:xfrm>
              <a:off x="2486393" y="3660995"/>
              <a:ext cx="188794" cy="171976"/>
            </a:xfrm>
            <a:prstGeom prst="rightArrow">
              <a:avLst>
                <a:gd name="adj1" fmla="val 48447"/>
                <a:gd name="adj2" fmla="val 50968"/>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82550" tIns="41275" rIns="82550" bIns="41275" anchor="ctr">
              <a:spAutoFit/>
            </a:bodyPr>
            <a:lstStyle/>
            <a:p>
              <a:pPr algn="ctr" eaLnBrk="0" hangingPunct="0"/>
              <a:endParaRPr lang="zh-CN" altLang="en-US" sz="1100" b="1" i="0">
                <a:solidFill>
                  <a:srgbClr val="000099"/>
                </a:solidFill>
                <a:latin typeface="微软雅黑" pitchFamily="34" charset="-122"/>
                <a:ea typeface="微软雅黑" pitchFamily="34" charset="-122"/>
              </a:endParaRPr>
            </a:p>
          </p:txBody>
        </p:sp>
      </p:grpSp>
      <p:sp>
        <p:nvSpPr>
          <p:cNvPr id="94" name="矩形 93"/>
          <p:cNvSpPr/>
          <p:nvPr/>
        </p:nvSpPr>
        <p:spPr>
          <a:xfrm>
            <a:off x="993627" y="3884587"/>
            <a:ext cx="7308394" cy="938719"/>
          </a:xfrm>
          <a:prstGeom prst="rect">
            <a:avLst/>
          </a:prstGeom>
        </p:spPr>
        <p:txBody>
          <a:bodyPr wrap="square">
            <a:spAutoFit/>
          </a:bodyPr>
          <a:lstStyle/>
          <a:p>
            <a:pPr marL="285750" indent="-285750">
              <a:lnSpc>
                <a:spcPts val="2200"/>
              </a:lnSpc>
              <a:buFont typeface="Wingdings" panose="05000000000000000000" pitchFamily="2" charset="2"/>
              <a:buChar char="l"/>
            </a:pPr>
            <a:r>
              <a:rPr lang="zh-CN" altLang="en-US" b="1" dirty="0">
                <a:latin typeface="微软雅黑" panose="020B0503020204020204" pitchFamily="34" charset="-122"/>
                <a:ea typeface="微软雅黑" panose="020B0503020204020204" pitchFamily="34" charset="-122"/>
              </a:rPr>
              <a:t>当网络很大时，查找路由表要花费很多时间。</a:t>
            </a:r>
          </a:p>
          <a:p>
            <a:pPr marL="285750" indent="-285750">
              <a:lnSpc>
                <a:spcPts val="2200"/>
              </a:lnSpc>
              <a:buFont typeface="Wingdings" panose="05000000000000000000" pitchFamily="2" charset="2"/>
              <a:buChar char="l"/>
            </a:pPr>
            <a:r>
              <a:rPr lang="zh-CN" altLang="en-US" b="1" dirty="0">
                <a:latin typeface="微软雅黑" panose="020B0503020204020204" pitchFamily="34" charset="-122"/>
                <a:ea typeface="微软雅黑" panose="020B0503020204020204" pitchFamily="34" charset="-122"/>
              </a:rPr>
              <a:t>在出现突发通信时，缓存会溢出，引起分组丢失、传输时延增大和服务质量下降。</a:t>
            </a:r>
          </a:p>
        </p:txBody>
      </p:sp>
      <p:sp>
        <p:nvSpPr>
          <p:cNvPr id="95" name="矩形 94"/>
          <p:cNvSpPr/>
          <p:nvPr/>
        </p:nvSpPr>
        <p:spPr>
          <a:xfrm>
            <a:off x="759646" y="1165274"/>
            <a:ext cx="2167581" cy="369332"/>
          </a:xfrm>
          <a:prstGeom prst="rect">
            <a:avLst/>
          </a:prstGeom>
          <a:solidFill>
            <a:srgbClr val="0000FF"/>
          </a:solidFill>
        </p:spPr>
        <p:txBody>
          <a:bodyPr wrap="none">
            <a:spAutoFit/>
          </a:bodyPr>
          <a:lstStyle/>
          <a:p>
            <a:r>
              <a:rPr lang="zh-CN" altLang="en-US" b="1" dirty="0">
                <a:solidFill>
                  <a:schemeClr val="bg1"/>
                </a:solidFill>
                <a:latin typeface="微软雅黑" pitchFamily="34" charset="-122"/>
                <a:ea typeface="微软雅黑" pitchFamily="34" charset="-122"/>
              </a:rPr>
              <a:t>传统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分组的转发</a:t>
            </a:r>
          </a:p>
        </p:txBody>
      </p:sp>
      <p:sp>
        <p:nvSpPr>
          <p:cNvPr id="96" name="AutoShape 5"/>
          <p:cNvSpPr>
            <a:spLocks noChangeArrowheads="1"/>
          </p:cNvSpPr>
          <p:nvPr/>
        </p:nvSpPr>
        <p:spPr bwMode="auto">
          <a:xfrm>
            <a:off x="545144" y="624474"/>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97" name="Rectangle 6"/>
          <p:cNvSpPr>
            <a:spLocks noChangeArrowheads="1"/>
          </p:cNvSpPr>
          <p:nvPr/>
        </p:nvSpPr>
        <p:spPr bwMode="auto">
          <a:xfrm>
            <a:off x="2765257" y="583611"/>
            <a:ext cx="361349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4.9.1  MPLS </a:t>
            </a:r>
            <a:r>
              <a:rPr lang="zh-CN" altLang="en-US" sz="2400" b="1" dirty="0">
                <a:solidFill>
                  <a:schemeClr val="bg1"/>
                </a:solidFill>
                <a:latin typeface="微软雅黑" pitchFamily="34" charset="-122"/>
                <a:ea typeface="微软雅黑" pitchFamily="34" charset="-122"/>
              </a:rPr>
              <a:t>的工作原理</a:t>
            </a:r>
          </a:p>
        </p:txBody>
      </p:sp>
    </p:spTree>
    <p:extLst>
      <p:ext uri="{BB962C8B-B14F-4D97-AF65-F5344CB8AC3E}">
        <p14:creationId xmlns:p14="http://schemas.microsoft.com/office/powerpoint/2010/main" val="5841940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left)">
                                      <p:cBhvr>
                                        <p:cTn id="7" dur="1000"/>
                                        <p:tgtEl>
                                          <p:spTgt spid="16"/>
                                        </p:tgtEl>
                                      </p:cBhvr>
                                    </p:animEffect>
                                  </p:childTnLst>
                                </p:cTn>
                              </p:par>
                            </p:childTnLst>
                          </p:cTn>
                        </p:par>
                        <p:par>
                          <p:cTn id="8" fill="hold">
                            <p:stCondLst>
                              <p:cond delay="1000"/>
                            </p:stCondLst>
                            <p:childTnLst>
                              <p:par>
                                <p:cTn id="9" presetID="22" presetClass="entr" presetSubtype="4" fill="hold" nodeType="afterEffect">
                                  <p:stCondLst>
                                    <p:cond delay="0"/>
                                  </p:stCondLst>
                                  <p:childTnLst>
                                    <p:set>
                                      <p:cBhvr>
                                        <p:cTn id="10" dur="1" fill="hold">
                                          <p:stCondLst>
                                            <p:cond delay="0"/>
                                          </p:stCondLst>
                                        </p:cTn>
                                        <p:tgtEl>
                                          <p:spTgt spid="48"/>
                                        </p:tgtEl>
                                        <p:attrNameLst>
                                          <p:attrName>style.visibility</p:attrName>
                                        </p:attrNameLst>
                                      </p:cBhvr>
                                      <p:to>
                                        <p:strVal val="visible"/>
                                      </p:to>
                                    </p:set>
                                    <p:animEffect transition="in" filter="wipe(down)">
                                      <p:cBhvr>
                                        <p:cTn id="11" dur="1000"/>
                                        <p:tgtEl>
                                          <p:spTgt spid="48"/>
                                        </p:tgtEl>
                                      </p:cBhvr>
                                    </p:animEffect>
                                  </p:childTnLst>
                                </p:cTn>
                              </p:par>
                            </p:childTnLst>
                          </p:cTn>
                        </p:par>
                        <p:par>
                          <p:cTn id="12" fill="hold">
                            <p:stCondLst>
                              <p:cond delay="2000"/>
                            </p:stCondLst>
                            <p:childTnLst>
                              <p:par>
                                <p:cTn id="13" presetID="22" presetClass="entr" presetSubtype="8" fill="hold" nodeType="afterEffect">
                                  <p:stCondLst>
                                    <p:cond delay="0"/>
                                  </p:stCondLst>
                                  <p:childTnLst>
                                    <p:set>
                                      <p:cBhvr>
                                        <p:cTn id="14" dur="1" fill="hold">
                                          <p:stCondLst>
                                            <p:cond delay="0"/>
                                          </p:stCondLst>
                                        </p:cTn>
                                        <p:tgtEl>
                                          <p:spTgt spid="54"/>
                                        </p:tgtEl>
                                        <p:attrNameLst>
                                          <p:attrName>style.visibility</p:attrName>
                                        </p:attrNameLst>
                                      </p:cBhvr>
                                      <p:to>
                                        <p:strVal val="visible"/>
                                      </p:to>
                                    </p:set>
                                    <p:animEffect transition="in" filter="wipe(left)">
                                      <p:cBhvr>
                                        <p:cTn id="15" dur="1000"/>
                                        <p:tgtEl>
                                          <p:spTgt spid="54"/>
                                        </p:tgtEl>
                                      </p:cBhvr>
                                    </p:animEffect>
                                  </p:childTnLst>
                                </p:cTn>
                              </p:par>
                            </p:childTnLst>
                          </p:cTn>
                        </p:par>
                        <p:par>
                          <p:cTn id="16" fill="hold">
                            <p:stCondLst>
                              <p:cond delay="3000"/>
                            </p:stCondLst>
                            <p:childTnLst>
                              <p:par>
                                <p:cTn id="17" presetID="22" presetClass="entr" presetSubtype="4" fill="hold" nodeType="afterEffect">
                                  <p:stCondLst>
                                    <p:cond delay="0"/>
                                  </p:stCondLst>
                                  <p:childTnLst>
                                    <p:set>
                                      <p:cBhvr>
                                        <p:cTn id="18" dur="1" fill="hold">
                                          <p:stCondLst>
                                            <p:cond delay="0"/>
                                          </p:stCondLst>
                                        </p:cTn>
                                        <p:tgtEl>
                                          <p:spTgt spid="49"/>
                                        </p:tgtEl>
                                        <p:attrNameLst>
                                          <p:attrName>style.visibility</p:attrName>
                                        </p:attrNameLst>
                                      </p:cBhvr>
                                      <p:to>
                                        <p:strVal val="visible"/>
                                      </p:to>
                                    </p:set>
                                    <p:animEffect transition="in" filter="wipe(down)">
                                      <p:cBhvr>
                                        <p:cTn id="19" dur="1000"/>
                                        <p:tgtEl>
                                          <p:spTgt spid="49"/>
                                        </p:tgtEl>
                                      </p:cBhvr>
                                    </p:animEffect>
                                  </p:childTnLst>
                                </p:cTn>
                              </p:par>
                            </p:childTnLst>
                          </p:cTn>
                        </p:par>
                        <p:par>
                          <p:cTn id="20" fill="hold">
                            <p:stCondLst>
                              <p:cond delay="4000"/>
                            </p:stCondLst>
                            <p:childTnLst>
                              <p:par>
                                <p:cTn id="21" presetID="22" presetClass="entr" presetSubtype="8" fill="hold" nodeType="afterEffect">
                                  <p:stCondLst>
                                    <p:cond delay="0"/>
                                  </p:stCondLst>
                                  <p:childTnLst>
                                    <p:set>
                                      <p:cBhvr>
                                        <p:cTn id="22" dur="1" fill="hold">
                                          <p:stCondLst>
                                            <p:cond delay="0"/>
                                          </p:stCondLst>
                                        </p:cTn>
                                        <p:tgtEl>
                                          <p:spTgt spid="59"/>
                                        </p:tgtEl>
                                        <p:attrNameLst>
                                          <p:attrName>style.visibility</p:attrName>
                                        </p:attrNameLst>
                                      </p:cBhvr>
                                      <p:to>
                                        <p:strVal val="visible"/>
                                      </p:to>
                                    </p:set>
                                    <p:animEffect transition="in" filter="wipe(left)">
                                      <p:cBhvr>
                                        <p:cTn id="23" dur="1000"/>
                                        <p:tgtEl>
                                          <p:spTgt spid="59"/>
                                        </p:tgtEl>
                                      </p:cBhvr>
                                    </p:animEffect>
                                  </p:childTnLst>
                                </p:cTn>
                              </p:par>
                            </p:childTnLst>
                          </p:cTn>
                        </p:par>
                        <p:par>
                          <p:cTn id="24" fill="hold">
                            <p:stCondLst>
                              <p:cond delay="5000"/>
                            </p:stCondLst>
                            <p:childTnLst>
                              <p:par>
                                <p:cTn id="25" presetID="22" presetClass="entr" presetSubtype="4" fill="hold" nodeType="afterEffect">
                                  <p:stCondLst>
                                    <p:cond delay="0"/>
                                  </p:stCondLst>
                                  <p:childTnLst>
                                    <p:set>
                                      <p:cBhvr>
                                        <p:cTn id="26" dur="1" fill="hold">
                                          <p:stCondLst>
                                            <p:cond delay="0"/>
                                          </p:stCondLst>
                                        </p:cTn>
                                        <p:tgtEl>
                                          <p:spTgt spid="50"/>
                                        </p:tgtEl>
                                        <p:attrNameLst>
                                          <p:attrName>style.visibility</p:attrName>
                                        </p:attrNameLst>
                                      </p:cBhvr>
                                      <p:to>
                                        <p:strVal val="visible"/>
                                      </p:to>
                                    </p:set>
                                    <p:animEffect transition="in" filter="wipe(down)">
                                      <p:cBhvr>
                                        <p:cTn id="27" dur="1000"/>
                                        <p:tgtEl>
                                          <p:spTgt spid="50"/>
                                        </p:tgtEl>
                                      </p:cBhvr>
                                    </p:animEffect>
                                  </p:childTnLst>
                                </p:cTn>
                              </p:par>
                            </p:childTnLst>
                          </p:cTn>
                        </p:par>
                        <p:par>
                          <p:cTn id="28" fill="hold">
                            <p:stCondLst>
                              <p:cond delay="6000"/>
                            </p:stCondLst>
                            <p:childTnLst>
                              <p:par>
                                <p:cTn id="29" presetID="22" presetClass="entr" presetSubtype="8" fill="hold" nodeType="afterEffect">
                                  <p:stCondLst>
                                    <p:cond delay="0"/>
                                  </p:stCondLst>
                                  <p:childTnLst>
                                    <p:set>
                                      <p:cBhvr>
                                        <p:cTn id="30" dur="1" fill="hold">
                                          <p:stCondLst>
                                            <p:cond delay="0"/>
                                          </p:stCondLst>
                                        </p:cTn>
                                        <p:tgtEl>
                                          <p:spTgt spid="62"/>
                                        </p:tgtEl>
                                        <p:attrNameLst>
                                          <p:attrName>style.visibility</p:attrName>
                                        </p:attrNameLst>
                                      </p:cBhvr>
                                      <p:to>
                                        <p:strVal val="visible"/>
                                      </p:to>
                                    </p:set>
                                    <p:animEffect transition="in" filter="wipe(left)">
                                      <p:cBhvr>
                                        <p:cTn id="31" dur="1000"/>
                                        <p:tgtEl>
                                          <p:spTgt spid="62"/>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94"/>
                                        </p:tgtEl>
                                        <p:attrNameLst>
                                          <p:attrName>style.visibility</p:attrName>
                                        </p:attrNameLst>
                                      </p:cBhvr>
                                      <p:to>
                                        <p:strVal val="visible"/>
                                      </p:to>
                                    </p:set>
                                    <p:animEffect transition="in" filter="fade">
                                      <p:cBhvr>
                                        <p:cTn id="36" dur="500"/>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 grpId="0"/>
    </p:bld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45144" y="986000"/>
            <a:ext cx="8028487" cy="2439129"/>
          </a:xfrm>
          <a:prstGeom prst="rect">
            <a:avLst/>
          </a:prstGeom>
        </p:spPr>
        <p:txBody>
          <a:bodyPr wrap="square">
            <a:spAutoFit/>
          </a:bodyPr>
          <a:lstStyle/>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MPLS </a:t>
            </a:r>
            <a:r>
              <a:rPr lang="zh-CN" altLang="en-US" sz="2000" b="1" dirty="0">
                <a:latin typeface="微软雅黑" pitchFamily="34" charset="-122"/>
                <a:ea typeface="微软雅黑" pitchFamily="34" charset="-122"/>
              </a:rPr>
              <a:t>特点：</a:t>
            </a:r>
            <a:endParaRPr lang="en-US" altLang="zh-CN" sz="2000" b="1" dirty="0">
              <a:latin typeface="微软雅黑" pitchFamily="34" charset="-122"/>
              <a:ea typeface="微软雅黑" pitchFamily="34" charset="-122"/>
            </a:endParaRPr>
          </a:p>
          <a:p>
            <a:pPr marL="625475" lvl="1" indent="-285750">
              <a:lnSpc>
                <a:spcPts val="3000"/>
              </a:lnSpc>
              <a:buClr>
                <a:srgbClr val="990099"/>
              </a:buClr>
              <a:buSzPct val="85000"/>
              <a:buFont typeface="Wingdings" panose="05000000000000000000" pitchFamily="2" charset="2"/>
              <a:buChar char="u"/>
            </a:pPr>
            <a:r>
              <a:rPr lang="zh-CN" altLang="en-US" sz="2000" b="1" dirty="0">
                <a:latin typeface="微软雅黑" pitchFamily="34" charset="-122"/>
                <a:ea typeface="微软雅黑" pitchFamily="34" charset="-122"/>
              </a:rPr>
              <a:t>在 </a:t>
            </a:r>
            <a:r>
              <a:rPr lang="en-US" altLang="zh-CN" sz="2000" b="1" dirty="0">
                <a:latin typeface="微软雅黑" pitchFamily="34" charset="-122"/>
                <a:ea typeface="微软雅黑" pitchFamily="34" charset="-122"/>
              </a:rPr>
              <a:t>MPLS </a:t>
            </a:r>
            <a:r>
              <a:rPr lang="zh-CN" altLang="en-US" sz="2000" b="1" dirty="0">
                <a:latin typeface="微软雅黑" pitchFamily="34" charset="-122"/>
                <a:ea typeface="微软雅黑" pitchFamily="34" charset="-122"/>
              </a:rPr>
              <a:t>域的</a:t>
            </a:r>
            <a:r>
              <a:rPr lang="zh-CN" altLang="en-US" sz="2000" b="1" dirty="0">
                <a:solidFill>
                  <a:srgbClr val="0000FF"/>
                </a:solidFill>
                <a:latin typeface="微软雅黑" pitchFamily="34" charset="-122"/>
                <a:ea typeface="微软雅黑" pitchFamily="34" charset="-122"/>
              </a:rPr>
              <a:t>入口</a:t>
            </a:r>
            <a:r>
              <a:rPr lang="zh-CN" altLang="en-US" sz="2000" b="1" dirty="0">
                <a:latin typeface="微软雅黑" pitchFamily="34" charset="-122"/>
                <a:ea typeface="微软雅黑" pitchFamily="34" charset="-122"/>
              </a:rPr>
              <a:t>处，给每一个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数据报打上</a:t>
            </a:r>
            <a:r>
              <a:rPr lang="zh-CN" altLang="en-US" sz="2000" b="1" dirty="0">
                <a:solidFill>
                  <a:srgbClr val="0000FF"/>
                </a:solidFill>
                <a:latin typeface="微软雅黑" pitchFamily="34" charset="-122"/>
                <a:ea typeface="微软雅黑" pitchFamily="34" charset="-122"/>
              </a:rPr>
              <a:t>固定长度</a:t>
            </a:r>
            <a:r>
              <a:rPr lang="zh-CN" altLang="en-US" sz="2000" b="1" dirty="0">
                <a:latin typeface="微软雅黑" pitchFamily="34" charset="-122"/>
                <a:ea typeface="微软雅黑" pitchFamily="34" charset="-122"/>
              </a:rPr>
              <a:t>标签。</a:t>
            </a:r>
            <a:endParaRPr lang="en-US" altLang="zh-CN" sz="2000" b="1" dirty="0">
              <a:latin typeface="微软雅黑" pitchFamily="34" charset="-122"/>
              <a:ea typeface="微软雅黑" pitchFamily="34" charset="-122"/>
            </a:endParaRPr>
          </a:p>
          <a:p>
            <a:pPr marL="625475" lvl="1" indent="-285750">
              <a:lnSpc>
                <a:spcPts val="3000"/>
              </a:lnSpc>
              <a:buClr>
                <a:srgbClr val="990099"/>
              </a:buClr>
              <a:buSzPct val="85000"/>
              <a:buFont typeface="Wingdings" panose="05000000000000000000" pitchFamily="2" charset="2"/>
              <a:buChar char="u"/>
            </a:pPr>
            <a:r>
              <a:rPr lang="zh-CN" altLang="en-US" sz="2000" b="1" dirty="0">
                <a:latin typeface="微软雅黑" pitchFamily="34" charset="-122"/>
                <a:ea typeface="微软雅黑" pitchFamily="34" charset="-122"/>
              </a:rPr>
              <a:t>对打上标签的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数据报在</a:t>
            </a:r>
            <a:r>
              <a:rPr lang="zh-CN" altLang="en-US" sz="2000" b="1" dirty="0">
                <a:solidFill>
                  <a:srgbClr val="0000FF"/>
                </a:solidFill>
                <a:latin typeface="微软雅黑" pitchFamily="34" charset="-122"/>
                <a:ea typeface="微软雅黑" pitchFamily="34" charset="-122"/>
              </a:rPr>
              <a:t>第二层</a:t>
            </a:r>
            <a:r>
              <a:rPr lang="zh-CN" altLang="en-US" sz="2000" b="1" dirty="0">
                <a:latin typeface="微软雅黑" pitchFamily="34" charset="-122"/>
                <a:ea typeface="微软雅黑" pitchFamily="34" charset="-122"/>
              </a:rPr>
              <a:t>（链路层）用</a:t>
            </a:r>
            <a:r>
              <a:rPr lang="zh-CN" altLang="en-US" sz="2000" b="1" dirty="0">
                <a:solidFill>
                  <a:srgbClr val="0000FF"/>
                </a:solidFill>
                <a:latin typeface="微软雅黑" pitchFamily="34" charset="-122"/>
                <a:ea typeface="微软雅黑" pitchFamily="34" charset="-122"/>
              </a:rPr>
              <a:t>硬件</a:t>
            </a:r>
            <a:r>
              <a:rPr lang="zh-CN" altLang="en-US" sz="2000" b="1" dirty="0">
                <a:latin typeface="微软雅黑" pitchFamily="34" charset="-122"/>
                <a:ea typeface="微软雅黑" pitchFamily="34" charset="-122"/>
              </a:rPr>
              <a:t>进行转发。</a:t>
            </a:r>
          </a:p>
          <a:p>
            <a:pPr marL="625475" lvl="1" indent="-285750">
              <a:lnSpc>
                <a:spcPts val="3000"/>
              </a:lnSpc>
              <a:buClr>
                <a:srgbClr val="990099"/>
              </a:buClr>
              <a:buSzPct val="85000"/>
              <a:buFont typeface="Wingdings" panose="05000000000000000000" pitchFamily="2" charset="2"/>
              <a:buChar char="u"/>
            </a:pPr>
            <a:r>
              <a:rPr lang="zh-CN" altLang="en-US" sz="2000" b="1" dirty="0">
                <a:latin typeface="微软雅黑" pitchFamily="34" charset="-122"/>
                <a:ea typeface="微软雅黑" pitchFamily="34" charset="-122"/>
              </a:rPr>
              <a:t>采用硬件技术对打上标签的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数据报进行转发就称为</a:t>
            </a:r>
            <a:r>
              <a:rPr lang="zh-CN" altLang="en-US" sz="2000" b="1" dirty="0">
                <a:solidFill>
                  <a:srgbClr val="0000FF"/>
                </a:solidFill>
                <a:latin typeface="微软雅黑" pitchFamily="34" charset="-122"/>
                <a:ea typeface="微软雅黑" pitchFamily="34" charset="-122"/>
              </a:rPr>
              <a:t>标签交换。</a:t>
            </a:r>
            <a:endParaRPr lang="en-US" altLang="zh-CN" sz="2000" b="1" dirty="0">
              <a:solidFill>
                <a:srgbClr val="0000FF"/>
              </a:solidFill>
              <a:latin typeface="微软雅黑" pitchFamily="34" charset="-122"/>
              <a:ea typeface="微软雅黑" pitchFamily="34" charset="-122"/>
            </a:endParaRPr>
          </a:p>
          <a:p>
            <a:pPr marL="625475" lvl="1" indent="-285750">
              <a:lnSpc>
                <a:spcPts val="3000"/>
              </a:lnSpc>
              <a:buClr>
                <a:srgbClr val="990099"/>
              </a:buClr>
              <a:buSzPct val="85000"/>
              <a:buFont typeface="Wingdings" panose="05000000000000000000" pitchFamily="2" charset="2"/>
              <a:buChar char="u"/>
            </a:pPr>
            <a:r>
              <a:rPr lang="zh-CN" altLang="en-US" sz="2000" b="1" dirty="0">
                <a:latin typeface="微软雅黑" pitchFamily="34" charset="-122"/>
                <a:ea typeface="微软雅黑" pitchFamily="34" charset="-122"/>
              </a:rPr>
              <a:t>可以使用</a:t>
            </a:r>
            <a:r>
              <a:rPr lang="zh-CN" altLang="en-US" sz="2000" b="1" dirty="0">
                <a:solidFill>
                  <a:srgbClr val="0000FF"/>
                </a:solidFill>
                <a:latin typeface="微软雅黑" pitchFamily="34" charset="-122"/>
                <a:ea typeface="微软雅黑" pitchFamily="34" charset="-122"/>
              </a:rPr>
              <a:t>多种</a:t>
            </a:r>
            <a:r>
              <a:rPr lang="zh-CN" altLang="en-US" sz="2000" b="1" dirty="0">
                <a:latin typeface="微软雅黑" pitchFamily="34" charset="-122"/>
                <a:ea typeface="微软雅黑" pitchFamily="34" charset="-122"/>
              </a:rPr>
              <a:t>数据链路层协议，如 </a:t>
            </a:r>
            <a:r>
              <a:rPr lang="en-US" altLang="zh-CN" sz="2000" b="1" dirty="0">
                <a:latin typeface="微软雅黑" pitchFamily="34" charset="-122"/>
                <a:ea typeface="微软雅黑" pitchFamily="34" charset="-122"/>
              </a:rPr>
              <a:t>PPP</a:t>
            </a:r>
            <a:r>
              <a:rPr lang="zh-CN" altLang="en-US" sz="2000" b="1" dirty="0">
                <a:latin typeface="微软雅黑" pitchFamily="34" charset="-122"/>
                <a:ea typeface="微软雅黑" pitchFamily="34" charset="-122"/>
              </a:rPr>
              <a:t>、以太网、</a:t>
            </a:r>
            <a:r>
              <a:rPr lang="en-US" altLang="zh-CN" sz="2000" b="1" dirty="0">
                <a:latin typeface="微软雅黑" pitchFamily="34" charset="-122"/>
                <a:ea typeface="微软雅黑" pitchFamily="34" charset="-122"/>
              </a:rPr>
              <a:t>ATM </a:t>
            </a:r>
            <a:r>
              <a:rPr lang="zh-CN" altLang="en-US" sz="2000" b="1" dirty="0">
                <a:latin typeface="微软雅黑" pitchFamily="34" charset="-122"/>
                <a:ea typeface="微软雅黑" pitchFamily="34" charset="-122"/>
              </a:rPr>
              <a:t>以及帧中继等。</a:t>
            </a:r>
            <a:endParaRPr lang="en-US" altLang="zh-CN" sz="2000" b="1" dirty="0">
              <a:latin typeface="微软雅黑" pitchFamily="34" charset="-122"/>
              <a:ea typeface="微软雅黑" pitchFamily="34" charset="-122"/>
            </a:endParaRPr>
          </a:p>
        </p:txBody>
      </p:sp>
      <p:sp>
        <p:nvSpPr>
          <p:cNvPr id="5" name="AutoShape 5"/>
          <p:cNvSpPr>
            <a:spLocks noChangeArrowheads="1"/>
          </p:cNvSpPr>
          <p:nvPr/>
        </p:nvSpPr>
        <p:spPr bwMode="auto">
          <a:xfrm>
            <a:off x="545145" y="624553"/>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1941968" y="59134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1.  MPLS </a:t>
            </a:r>
            <a:r>
              <a:rPr lang="zh-CN" altLang="en-US" sz="2000" b="1" dirty="0">
                <a:solidFill>
                  <a:schemeClr val="bg1"/>
                </a:solidFill>
                <a:latin typeface="微软雅黑" pitchFamily="34" charset="-122"/>
                <a:ea typeface="微软雅黑" pitchFamily="34" charset="-122"/>
              </a:rPr>
              <a:t>基本工作过程</a:t>
            </a:r>
          </a:p>
        </p:txBody>
      </p:sp>
    </p:spTree>
    <p:extLst>
      <p:ext uri="{BB962C8B-B14F-4D97-AF65-F5344CB8AC3E}">
        <p14:creationId xmlns:p14="http://schemas.microsoft.com/office/powerpoint/2010/main" val="355390499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974121"/>
            <a:ext cx="8053712" cy="31814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p:cNvSpPr>
            <a:spLocks noChangeArrowheads="1"/>
          </p:cNvSpPr>
          <p:nvPr/>
        </p:nvSpPr>
        <p:spPr bwMode="auto">
          <a:xfrm>
            <a:off x="545144" y="615872"/>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4" y="565896"/>
            <a:ext cx="5213215" cy="400110"/>
          </a:xfrm>
          <a:prstGeom prst="rect">
            <a:avLst/>
          </a:prstGeom>
        </p:spPr>
        <p:txBody>
          <a:bodyPr wrap="square">
            <a:spAutoFit/>
          </a:bodyPr>
          <a:lstStyle/>
          <a:p>
            <a:r>
              <a:rPr lang="en-US" altLang="zh-CN" sz="2000" b="1" dirty="0">
                <a:latin typeface="微软雅黑" pitchFamily="34" charset="-122"/>
                <a:ea typeface="微软雅黑" pitchFamily="34" charset="-122"/>
              </a:rPr>
              <a:t>MPLS </a:t>
            </a:r>
            <a:r>
              <a:rPr lang="zh-CN" altLang="en-US" sz="2000" b="1" dirty="0">
                <a:latin typeface="微软雅黑" pitchFamily="34" charset="-122"/>
                <a:ea typeface="微软雅黑" pitchFamily="34" charset="-122"/>
              </a:rPr>
              <a:t>协议的基本原理</a:t>
            </a:r>
          </a:p>
        </p:txBody>
      </p:sp>
      <p:sp>
        <p:nvSpPr>
          <p:cNvPr id="31" name="Rectangle 29"/>
          <p:cNvSpPr>
            <a:spLocks noChangeArrowheads="1"/>
          </p:cNvSpPr>
          <p:nvPr/>
        </p:nvSpPr>
        <p:spPr bwMode="auto">
          <a:xfrm rot="10800000">
            <a:off x="1137839" y="3834468"/>
            <a:ext cx="314934" cy="79781"/>
          </a:xfrm>
          <a:prstGeom prst="rect">
            <a:avLst/>
          </a:prstGeom>
          <a:solidFill>
            <a:srgbClr val="00FFFF"/>
          </a:solidFill>
          <a:ln w="9525" algn="ctr">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400" b="1">
              <a:latin typeface="微软雅黑" pitchFamily="34" charset="-122"/>
              <a:ea typeface="微软雅黑" pitchFamily="34" charset="-122"/>
            </a:endParaRPr>
          </a:p>
        </p:txBody>
      </p:sp>
      <p:sp>
        <p:nvSpPr>
          <p:cNvPr id="32" name="Text Box 30"/>
          <p:cNvSpPr txBox="1">
            <a:spLocks noChangeArrowheads="1"/>
          </p:cNvSpPr>
          <p:nvPr/>
        </p:nvSpPr>
        <p:spPr bwMode="auto">
          <a:xfrm>
            <a:off x="1411660" y="3717410"/>
            <a:ext cx="1045479" cy="2585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zh-CN" altLang="en-US" sz="1200" b="1" dirty="0">
                <a:latin typeface="微软雅黑" pitchFamily="34" charset="-122"/>
                <a:ea typeface="微软雅黑" pitchFamily="34" charset="-122"/>
              </a:rPr>
              <a:t>普通 </a:t>
            </a:r>
            <a:r>
              <a:rPr kumimoji="1" lang="en-US" altLang="zh-CN" sz="1200" b="1" dirty="0">
                <a:latin typeface="微软雅黑" pitchFamily="34" charset="-122"/>
                <a:ea typeface="微软雅黑" pitchFamily="34" charset="-122"/>
              </a:rPr>
              <a:t>IP </a:t>
            </a:r>
            <a:r>
              <a:rPr kumimoji="1" lang="zh-CN" altLang="en-US" sz="1200" b="1" dirty="0">
                <a:latin typeface="微软雅黑" pitchFamily="34" charset="-122"/>
                <a:ea typeface="微软雅黑" pitchFamily="34" charset="-122"/>
              </a:rPr>
              <a:t>分组</a:t>
            </a:r>
          </a:p>
        </p:txBody>
      </p:sp>
      <p:pic>
        <p:nvPicPr>
          <p:cNvPr id="36" name="Picture 3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08065" y="3775452"/>
            <a:ext cx="375317" cy="197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14" name="组合 113"/>
          <p:cNvGrpSpPr/>
          <p:nvPr/>
        </p:nvGrpSpPr>
        <p:grpSpPr>
          <a:xfrm>
            <a:off x="1873261" y="1461262"/>
            <a:ext cx="800219" cy="276999"/>
            <a:chOff x="1873261" y="1461262"/>
            <a:chExt cx="800219" cy="276999"/>
          </a:xfrm>
        </p:grpSpPr>
        <p:sp>
          <p:nvSpPr>
            <p:cNvPr id="47" name="AutoShape 46"/>
            <p:cNvSpPr>
              <a:spLocks noChangeArrowheads="1"/>
            </p:cNvSpPr>
            <p:nvPr/>
          </p:nvSpPr>
          <p:spPr bwMode="auto">
            <a:xfrm>
              <a:off x="1894500" y="1463447"/>
              <a:ext cx="738793" cy="271036"/>
            </a:xfrm>
            <a:prstGeom prst="wedgeRoundRectCallout">
              <a:avLst>
                <a:gd name="adj1" fmla="val 46276"/>
                <a:gd name="adj2" fmla="val 206215"/>
                <a:gd name="adj3" fmla="val 16667"/>
              </a:avLst>
            </a:prstGeom>
            <a:solidFill>
              <a:schemeClr val="bg1"/>
            </a:solidFill>
            <a:ln w="9525">
              <a:solidFill>
                <a:schemeClr val="tx2"/>
              </a:solidFill>
              <a:miter lim="800000"/>
              <a:headEnd/>
              <a:tailEnd/>
            </a:ln>
            <a:effectLst/>
          </p:spPr>
          <p:txBody>
            <a:bodyPr/>
            <a:lstStyle/>
            <a:p>
              <a:pPr algn="ctr"/>
              <a:endParaRPr kumimoji="1" lang="zh-CN" altLang="zh-CN" sz="1400" b="1">
                <a:latin typeface="微软雅黑" pitchFamily="34" charset="-122"/>
                <a:ea typeface="微软雅黑" pitchFamily="34" charset="-122"/>
              </a:endParaRPr>
            </a:p>
          </p:txBody>
        </p:sp>
        <p:sp>
          <p:nvSpPr>
            <p:cNvPr id="48" name="Text Box 47"/>
            <p:cNvSpPr txBox="1">
              <a:spLocks noChangeArrowheads="1"/>
            </p:cNvSpPr>
            <p:nvPr/>
          </p:nvSpPr>
          <p:spPr bwMode="auto">
            <a:xfrm>
              <a:off x="1873261" y="1461262"/>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latin typeface="微软雅黑" pitchFamily="34" charset="-122"/>
                  <a:ea typeface="微软雅黑" pitchFamily="34" charset="-122"/>
                </a:rPr>
                <a:t>打上标签</a:t>
              </a:r>
            </a:p>
          </p:txBody>
        </p:sp>
      </p:grpSp>
      <p:grpSp>
        <p:nvGrpSpPr>
          <p:cNvPr id="115" name="组合 114"/>
          <p:cNvGrpSpPr/>
          <p:nvPr/>
        </p:nvGrpSpPr>
        <p:grpSpPr>
          <a:xfrm>
            <a:off x="6512026" y="1462305"/>
            <a:ext cx="800219" cy="276999"/>
            <a:chOff x="6512026" y="1462305"/>
            <a:chExt cx="800219" cy="276999"/>
          </a:xfrm>
        </p:grpSpPr>
        <p:sp>
          <p:nvSpPr>
            <p:cNvPr id="49" name="AutoShape 48"/>
            <p:cNvSpPr>
              <a:spLocks noChangeArrowheads="1"/>
            </p:cNvSpPr>
            <p:nvPr/>
          </p:nvSpPr>
          <p:spPr bwMode="auto">
            <a:xfrm flipH="1">
              <a:off x="6545106" y="1463447"/>
              <a:ext cx="738793" cy="271036"/>
            </a:xfrm>
            <a:prstGeom prst="wedgeRoundRectCallout">
              <a:avLst>
                <a:gd name="adj1" fmla="val 47602"/>
                <a:gd name="adj2" fmla="val 185481"/>
                <a:gd name="adj3" fmla="val 16667"/>
              </a:avLst>
            </a:prstGeom>
            <a:solidFill>
              <a:schemeClr val="bg1"/>
            </a:solidFill>
            <a:ln w="9525">
              <a:solidFill>
                <a:schemeClr val="tx2"/>
              </a:solidFill>
              <a:miter lim="800000"/>
              <a:headEnd/>
              <a:tailEnd/>
            </a:ln>
            <a:effectLst/>
          </p:spPr>
          <p:txBody>
            <a:bodyPr/>
            <a:lstStyle/>
            <a:p>
              <a:pPr algn="ctr"/>
              <a:endParaRPr kumimoji="1" lang="zh-CN" altLang="zh-CN" sz="1400" b="1">
                <a:latin typeface="微软雅黑" pitchFamily="34" charset="-122"/>
                <a:ea typeface="微软雅黑" pitchFamily="34" charset="-122"/>
              </a:endParaRPr>
            </a:p>
          </p:txBody>
        </p:sp>
        <p:sp>
          <p:nvSpPr>
            <p:cNvPr id="50" name="Text Box 49"/>
            <p:cNvSpPr txBox="1">
              <a:spLocks noChangeArrowheads="1"/>
            </p:cNvSpPr>
            <p:nvPr/>
          </p:nvSpPr>
          <p:spPr bwMode="auto">
            <a:xfrm>
              <a:off x="6512026" y="1462305"/>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latin typeface="微软雅黑" pitchFamily="34" charset="-122"/>
                  <a:ea typeface="微软雅黑" pitchFamily="34" charset="-122"/>
                </a:rPr>
                <a:t>去除标签</a:t>
              </a:r>
            </a:p>
          </p:txBody>
        </p:sp>
      </p:grpSp>
      <p:pic>
        <p:nvPicPr>
          <p:cNvPr id="65" name="Picture 6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250178" y="3714250"/>
            <a:ext cx="290072" cy="3202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2" name="Text Box 71"/>
          <p:cNvSpPr txBox="1">
            <a:spLocks noChangeArrowheads="1"/>
          </p:cNvSpPr>
          <p:nvPr/>
        </p:nvSpPr>
        <p:spPr bwMode="auto">
          <a:xfrm>
            <a:off x="5025450" y="3717410"/>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普通路由器</a:t>
            </a:r>
          </a:p>
        </p:txBody>
      </p:sp>
      <p:sp>
        <p:nvSpPr>
          <p:cNvPr id="73" name="Text Box 72"/>
          <p:cNvSpPr txBox="1">
            <a:spLocks noChangeArrowheads="1"/>
          </p:cNvSpPr>
          <p:nvPr/>
        </p:nvSpPr>
        <p:spPr bwMode="auto">
          <a:xfrm>
            <a:off x="6502947" y="3717410"/>
            <a:ext cx="159370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标签交换路由器 </a:t>
            </a:r>
            <a:r>
              <a:rPr kumimoji="1" lang="en-US" altLang="zh-CN" sz="1200" b="1" dirty="0">
                <a:latin typeface="微软雅黑" pitchFamily="34" charset="-122"/>
                <a:ea typeface="微软雅黑" pitchFamily="34" charset="-122"/>
              </a:rPr>
              <a:t>LSR</a:t>
            </a:r>
          </a:p>
        </p:txBody>
      </p:sp>
      <p:sp>
        <p:nvSpPr>
          <p:cNvPr id="74" name="Text Box 73"/>
          <p:cNvSpPr txBox="1">
            <a:spLocks noChangeArrowheads="1"/>
          </p:cNvSpPr>
          <p:nvPr/>
        </p:nvSpPr>
        <p:spPr bwMode="auto">
          <a:xfrm>
            <a:off x="3133748" y="3717410"/>
            <a:ext cx="1261884" cy="2585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1200" b="1" dirty="0">
                <a:latin typeface="微软雅黑" pitchFamily="34" charset="-122"/>
                <a:ea typeface="微软雅黑" pitchFamily="34" charset="-122"/>
              </a:rPr>
              <a:t>打上标签的分组</a:t>
            </a:r>
          </a:p>
        </p:txBody>
      </p:sp>
      <p:grpSp>
        <p:nvGrpSpPr>
          <p:cNvPr id="110" name="组合 109"/>
          <p:cNvGrpSpPr/>
          <p:nvPr/>
        </p:nvGrpSpPr>
        <p:grpSpPr>
          <a:xfrm>
            <a:off x="1347389" y="1173259"/>
            <a:ext cx="6476397" cy="2178699"/>
            <a:chOff x="1347389" y="1173259"/>
            <a:chExt cx="6476397" cy="2178699"/>
          </a:xfrm>
        </p:grpSpPr>
        <p:sp>
          <p:nvSpPr>
            <p:cNvPr id="5" name="Oval 3"/>
            <p:cNvSpPr>
              <a:spLocks noChangeArrowheads="1"/>
            </p:cNvSpPr>
            <p:nvPr/>
          </p:nvSpPr>
          <p:spPr bwMode="auto">
            <a:xfrm>
              <a:off x="2566991" y="1173259"/>
              <a:ext cx="3978115" cy="2178699"/>
            </a:xfrm>
            <a:prstGeom prst="ellipse">
              <a:avLst/>
            </a:prstGeom>
            <a:solidFill>
              <a:srgbClr val="66FF66"/>
            </a:solidFill>
            <a:ln w="12700">
              <a:solidFill>
                <a:srgbClr val="333399"/>
              </a:solidFill>
              <a:prstDash val="dash"/>
              <a:round/>
              <a:headEnd/>
              <a:tailEnd/>
            </a:ln>
            <a:effectLst/>
          </p:spPr>
          <p:txBody>
            <a:bodyPr/>
            <a:lstStyle/>
            <a:p>
              <a:endParaRPr lang="zh-CN" altLang="en-US" sz="1400" b="1">
                <a:latin typeface="微软雅黑" pitchFamily="34" charset="-122"/>
                <a:ea typeface="微软雅黑" pitchFamily="34" charset="-122"/>
              </a:endParaRPr>
            </a:p>
          </p:txBody>
        </p:sp>
        <p:sp>
          <p:nvSpPr>
            <p:cNvPr id="6" name="Line 4"/>
            <p:cNvSpPr>
              <a:spLocks noChangeShapeType="1"/>
            </p:cNvSpPr>
            <p:nvPr/>
          </p:nvSpPr>
          <p:spPr bwMode="auto">
            <a:xfrm>
              <a:off x="4247035" y="1936668"/>
              <a:ext cx="332693" cy="1157369"/>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 name="Line 5"/>
            <p:cNvSpPr>
              <a:spLocks noChangeShapeType="1"/>
            </p:cNvSpPr>
            <p:nvPr/>
          </p:nvSpPr>
          <p:spPr bwMode="auto">
            <a:xfrm>
              <a:off x="6517876" y="2273278"/>
              <a:ext cx="1000448" cy="3278"/>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 name="Line 6"/>
            <p:cNvSpPr>
              <a:spLocks noChangeShapeType="1"/>
            </p:cNvSpPr>
            <p:nvPr/>
          </p:nvSpPr>
          <p:spPr bwMode="auto">
            <a:xfrm>
              <a:off x="1558255" y="2353059"/>
              <a:ext cx="1008737" cy="2186"/>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 name="Line 7"/>
            <p:cNvSpPr>
              <a:spLocks noChangeShapeType="1"/>
            </p:cNvSpPr>
            <p:nvPr/>
          </p:nvSpPr>
          <p:spPr bwMode="auto">
            <a:xfrm>
              <a:off x="5478357" y="2252513"/>
              <a:ext cx="1180411" cy="50273"/>
            </a:xfrm>
            <a:prstGeom prst="line">
              <a:avLst/>
            </a:prstGeom>
            <a:noFill/>
            <a:ln w="57150">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 name="Line 8"/>
            <p:cNvSpPr>
              <a:spLocks noChangeShapeType="1"/>
            </p:cNvSpPr>
            <p:nvPr/>
          </p:nvSpPr>
          <p:spPr bwMode="auto">
            <a:xfrm>
              <a:off x="4299129" y="1914810"/>
              <a:ext cx="1040703" cy="306009"/>
            </a:xfrm>
            <a:prstGeom prst="line">
              <a:avLst/>
            </a:prstGeom>
            <a:noFill/>
            <a:ln w="57150">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 name="Line 9"/>
            <p:cNvSpPr>
              <a:spLocks noChangeShapeType="1"/>
            </p:cNvSpPr>
            <p:nvPr/>
          </p:nvSpPr>
          <p:spPr bwMode="auto">
            <a:xfrm>
              <a:off x="2680652" y="2355244"/>
              <a:ext cx="909283" cy="681962"/>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 name="Line 10"/>
            <p:cNvSpPr>
              <a:spLocks noChangeShapeType="1"/>
            </p:cNvSpPr>
            <p:nvPr/>
          </p:nvSpPr>
          <p:spPr bwMode="auto">
            <a:xfrm flipH="1">
              <a:off x="2786025" y="1935575"/>
              <a:ext cx="1429043" cy="374861"/>
            </a:xfrm>
            <a:prstGeom prst="line">
              <a:avLst/>
            </a:prstGeom>
            <a:noFill/>
            <a:ln w="57150">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3" name="Line 11"/>
            <p:cNvSpPr>
              <a:spLocks noChangeShapeType="1"/>
            </p:cNvSpPr>
            <p:nvPr/>
          </p:nvSpPr>
          <p:spPr bwMode="auto">
            <a:xfrm>
              <a:off x="3774633" y="3063436"/>
              <a:ext cx="781416" cy="78688"/>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 name="Line 12"/>
            <p:cNvSpPr>
              <a:spLocks noChangeShapeType="1"/>
            </p:cNvSpPr>
            <p:nvPr/>
          </p:nvSpPr>
          <p:spPr bwMode="auto">
            <a:xfrm flipH="1">
              <a:off x="4650766" y="2271092"/>
              <a:ext cx="782600" cy="868846"/>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 name="Line 14"/>
            <p:cNvSpPr>
              <a:spLocks noChangeShapeType="1"/>
            </p:cNvSpPr>
            <p:nvPr/>
          </p:nvSpPr>
          <p:spPr bwMode="auto">
            <a:xfrm flipV="1">
              <a:off x="3760426" y="2250327"/>
              <a:ext cx="1591246" cy="78688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7" name="Rectangle 15"/>
            <p:cNvSpPr>
              <a:spLocks noChangeArrowheads="1"/>
            </p:cNvSpPr>
            <p:nvPr/>
          </p:nvSpPr>
          <p:spPr bwMode="auto">
            <a:xfrm rot="5400000">
              <a:off x="1498738" y="1904382"/>
              <a:ext cx="290708" cy="86429"/>
            </a:xfrm>
            <a:prstGeom prst="rect">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vert="eaVert" wrap="none" anchor="ctr"/>
            <a:lstStyle/>
            <a:p>
              <a:pPr algn="ctr"/>
              <a:endParaRPr kumimoji="1" lang="zh-CN" altLang="zh-CN" sz="1400" b="1">
                <a:latin typeface="微软雅黑" pitchFamily="34" charset="-122"/>
                <a:ea typeface="微软雅黑" pitchFamily="34" charset="-122"/>
              </a:endParaRPr>
            </a:p>
          </p:txBody>
        </p:sp>
        <p:sp>
          <p:nvSpPr>
            <p:cNvPr id="18" name="Line 16"/>
            <p:cNvSpPr>
              <a:spLocks noChangeShapeType="1"/>
            </p:cNvSpPr>
            <p:nvPr/>
          </p:nvSpPr>
          <p:spPr bwMode="auto">
            <a:xfrm>
              <a:off x="1544048" y="1568364"/>
              <a:ext cx="0" cy="734421"/>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9" name="Rectangle 17"/>
            <p:cNvSpPr>
              <a:spLocks noChangeArrowheads="1"/>
            </p:cNvSpPr>
            <p:nvPr/>
          </p:nvSpPr>
          <p:spPr bwMode="auto">
            <a:xfrm rot="10800000">
              <a:off x="1885029" y="2407703"/>
              <a:ext cx="314934" cy="79781"/>
            </a:xfrm>
            <a:prstGeom prst="rect">
              <a:avLst/>
            </a:prstGeom>
            <a:solidFill>
              <a:srgbClr val="00FFFF"/>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400" b="1">
                <a:latin typeface="微软雅黑" pitchFamily="34" charset="-122"/>
                <a:ea typeface="微软雅黑" pitchFamily="34" charset="-122"/>
              </a:endParaRPr>
            </a:p>
          </p:txBody>
        </p:sp>
        <p:sp>
          <p:nvSpPr>
            <p:cNvPr id="22" name="Rectangle 20"/>
            <p:cNvSpPr>
              <a:spLocks noChangeArrowheads="1"/>
            </p:cNvSpPr>
            <p:nvPr/>
          </p:nvSpPr>
          <p:spPr bwMode="auto">
            <a:xfrm rot="10800000">
              <a:off x="6900295" y="2315900"/>
              <a:ext cx="314934" cy="79781"/>
            </a:xfrm>
            <a:prstGeom prst="rect">
              <a:avLst/>
            </a:prstGeom>
            <a:solidFill>
              <a:srgbClr val="00FFFF"/>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400" b="1">
                <a:latin typeface="微软雅黑" pitchFamily="34" charset="-122"/>
                <a:ea typeface="微软雅黑" pitchFamily="34" charset="-122"/>
              </a:endParaRPr>
            </a:p>
          </p:txBody>
        </p:sp>
        <p:sp>
          <p:nvSpPr>
            <p:cNvPr id="23" name="Line 21"/>
            <p:cNvSpPr>
              <a:spLocks noChangeShapeType="1"/>
            </p:cNvSpPr>
            <p:nvPr/>
          </p:nvSpPr>
          <p:spPr bwMode="auto">
            <a:xfrm flipV="1">
              <a:off x="2851143" y="1859073"/>
              <a:ext cx="1214746" cy="327867"/>
            </a:xfrm>
            <a:prstGeom prst="line">
              <a:avLst/>
            </a:prstGeom>
            <a:noFill/>
            <a:ln w="28575">
              <a:solidFill>
                <a:srgbClr val="CC00CC"/>
              </a:solidFill>
              <a:prstDash val="sysDash"/>
              <a:round/>
              <a:headEnd type="triangle" w="med" len="sm"/>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4" name="Line 22"/>
            <p:cNvSpPr>
              <a:spLocks noChangeShapeType="1"/>
            </p:cNvSpPr>
            <p:nvPr/>
          </p:nvSpPr>
          <p:spPr bwMode="auto">
            <a:xfrm>
              <a:off x="5595569" y="2167268"/>
              <a:ext cx="802727" cy="19672"/>
            </a:xfrm>
            <a:prstGeom prst="line">
              <a:avLst/>
            </a:prstGeom>
            <a:noFill/>
            <a:ln w="28575">
              <a:solidFill>
                <a:srgbClr val="CC00CC"/>
              </a:solidFill>
              <a:prstDash val="sysDash"/>
              <a:round/>
              <a:headEnd type="triangle" w="med" len="sm"/>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5" name="Line 23"/>
            <p:cNvSpPr>
              <a:spLocks noChangeShapeType="1"/>
            </p:cNvSpPr>
            <p:nvPr/>
          </p:nvSpPr>
          <p:spPr bwMode="auto">
            <a:xfrm>
              <a:off x="4435284" y="1839401"/>
              <a:ext cx="852453" cy="262293"/>
            </a:xfrm>
            <a:prstGeom prst="line">
              <a:avLst/>
            </a:prstGeom>
            <a:noFill/>
            <a:ln w="28575">
              <a:solidFill>
                <a:srgbClr val="CC00CC"/>
              </a:solidFill>
              <a:prstDash val="sysDash"/>
              <a:round/>
              <a:headEnd type="triangle" w="med" len="sm"/>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6" name="Text Box 24"/>
            <p:cNvSpPr txBox="1">
              <a:spLocks noChangeArrowheads="1"/>
            </p:cNvSpPr>
            <p:nvPr/>
          </p:nvSpPr>
          <p:spPr bwMode="auto">
            <a:xfrm>
              <a:off x="4094428" y="1259189"/>
              <a:ext cx="1032655" cy="289310"/>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nSpc>
                  <a:spcPct val="80000"/>
                </a:lnSpc>
              </a:pPr>
              <a:r>
                <a:rPr kumimoji="1" lang="en-US" altLang="zh-CN" sz="1600" b="1" dirty="0">
                  <a:solidFill>
                    <a:srgbClr val="000099"/>
                  </a:solidFill>
                  <a:latin typeface="微软雅黑" pitchFamily="34" charset="-122"/>
                  <a:ea typeface="微软雅黑" pitchFamily="34" charset="-122"/>
                </a:rPr>
                <a:t>MPLS </a:t>
              </a:r>
              <a:r>
                <a:rPr kumimoji="1" lang="zh-CN" altLang="en-US" sz="1600" b="1" dirty="0">
                  <a:solidFill>
                    <a:srgbClr val="000099"/>
                  </a:solidFill>
                  <a:latin typeface="微软雅黑" pitchFamily="34" charset="-122"/>
                  <a:ea typeface="微软雅黑" pitchFamily="34" charset="-122"/>
                </a:rPr>
                <a:t>域</a:t>
              </a:r>
            </a:p>
          </p:txBody>
        </p:sp>
        <p:pic>
          <p:nvPicPr>
            <p:cNvPr id="35" name="Picture 3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373557" y="2250327"/>
              <a:ext cx="389524" cy="1836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7" name="Line 36"/>
            <p:cNvSpPr>
              <a:spLocks noChangeShapeType="1"/>
            </p:cNvSpPr>
            <p:nvPr/>
          </p:nvSpPr>
          <p:spPr bwMode="auto">
            <a:xfrm>
              <a:off x="1899237" y="2545407"/>
              <a:ext cx="284151" cy="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8" name="Line 37"/>
            <p:cNvSpPr>
              <a:spLocks noChangeShapeType="1"/>
            </p:cNvSpPr>
            <p:nvPr/>
          </p:nvSpPr>
          <p:spPr bwMode="auto">
            <a:xfrm rot="5400000">
              <a:off x="1611807" y="1974919"/>
              <a:ext cx="262293" cy="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9" name="Line 38"/>
            <p:cNvSpPr>
              <a:spLocks noChangeShapeType="1"/>
            </p:cNvSpPr>
            <p:nvPr/>
          </p:nvSpPr>
          <p:spPr bwMode="auto">
            <a:xfrm>
              <a:off x="6942918" y="2460161"/>
              <a:ext cx="284151" cy="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2" name="Text Box 41"/>
            <p:cNvSpPr txBox="1">
              <a:spLocks noChangeArrowheads="1"/>
            </p:cNvSpPr>
            <p:nvPr/>
          </p:nvSpPr>
          <p:spPr bwMode="auto">
            <a:xfrm rot="20668789">
              <a:off x="3137432" y="1816842"/>
              <a:ext cx="466794" cy="2446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en-US" altLang="zh-CN" sz="1100" b="1" dirty="0">
                  <a:solidFill>
                    <a:srgbClr val="CC00CC"/>
                  </a:solidFill>
                  <a:latin typeface="微软雅黑" pitchFamily="34" charset="-122"/>
                  <a:ea typeface="微软雅黑" pitchFamily="34" charset="-122"/>
                </a:rPr>
                <a:t>LDP</a:t>
              </a:r>
            </a:p>
          </p:txBody>
        </p:sp>
        <p:sp>
          <p:nvSpPr>
            <p:cNvPr id="43" name="Text Box 42"/>
            <p:cNvSpPr txBox="1">
              <a:spLocks noChangeArrowheads="1"/>
            </p:cNvSpPr>
            <p:nvPr/>
          </p:nvSpPr>
          <p:spPr bwMode="auto">
            <a:xfrm rot="1038311">
              <a:off x="4618570" y="1766569"/>
              <a:ext cx="466794" cy="2446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en-US" altLang="zh-CN" sz="1100" b="1">
                  <a:solidFill>
                    <a:srgbClr val="CC00CC"/>
                  </a:solidFill>
                  <a:latin typeface="微软雅黑" pitchFamily="34" charset="-122"/>
                  <a:ea typeface="微软雅黑" pitchFamily="34" charset="-122"/>
                </a:rPr>
                <a:t>LDP</a:t>
              </a:r>
            </a:p>
          </p:txBody>
        </p:sp>
        <p:sp>
          <p:nvSpPr>
            <p:cNvPr id="44" name="Text Box 43"/>
            <p:cNvSpPr txBox="1">
              <a:spLocks noChangeArrowheads="1"/>
            </p:cNvSpPr>
            <p:nvPr/>
          </p:nvSpPr>
          <p:spPr bwMode="auto">
            <a:xfrm rot="107100">
              <a:off x="5768198" y="1965475"/>
              <a:ext cx="466794" cy="2446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en-US" altLang="zh-CN" sz="1100" b="1">
                  <a:solidFill>
                    <a:srgbClr val="CC00CC"/>
                  </a:solidFill>
                  <a:latin typeface="微软雅黑" pitchFamily="34" charset="-122"/>
                  <a:ea typeface="微软雅黑" pitchFamily="34" charset="-122"/>
                </a:rPr>
                <a:t>LDP</a:t>
              </a:r>
            </a:p>
          </p:txBody>
        </p:sp>
        <p:sp>
          <p:nvSpPr>
            <p:cNvPr id="46" name="Text Box 45"/>
            <p:cNvSpPr txBox="1">
              <a:spLocks noChangeArrowheads="1"/>
            </p:cNvSpPr>
            <p:nvPr/>
          </p:nvSpPr>
          <p:spPr bwMode="auto">
            <a:xfrm>
              <a:off x="1936809" y="2830651"/>
              <a:ext cx="902811" cy="480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dirty="0">
                  <a:latin typeface="微软雅黑" pitchFamily="34" charset="-122"/>
                  <a:ea typeface="微软雅黑" pitchFamily="34" charset="-122"/>
                </a:rPr>
                <a:t>MPLS</a:t>
              </a:r>
            </a:p>
            <a:p>
              <a:pPr algn="ctr">
                <a:lnSpc>
                  <a:spcPct val="90000"/>
                </a:lnSpc>
              </a:pPr>
              <a:r>
                <a:rPr kumimoji="1" lang="zh-CN" altLang="en-US" sz="1400" b="1" dirty="0">
                  <a:latin typeface="微软雅黑" pitchFamily="34" charset="-122"/>
                  <a:ea typeface="微软雅黑" pitchFamily="34" charset="-122"/>
                </a:rPr>
                <a:t>入口节点</a:t>
              </a:r>
            </a:p>
          </p:txBody>
        </p:sp>
        <p:sp>
          <p:nvSpPr>
            <p:cNvPr id="51" name="Text Box 50"/>
            <p:cNvSpPr txBox="1">
              <a:spLocks noChangeArrowheads="1"/>
            </p:cNvSpPr>
            <p:nvPr/>
          </p:nvSpPr>
          <p:spPr bwMode="auto">
            <a:xfrm>
              <a:off x="6347070" y="2812072"/>
              <a:ext cx="902811" cy="480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dirty="0">
                  <a:latin typeface="微软雅黑" pitchFamily="34" charset="-122"/>
                  <a:ea typeface="微软雅黑" pitchFamily="34" charset="-122"/>
                </a:rPr>
                <a:t>MPLS</a:t>
              </a:r>
            </a:p>
            <a:p>
              <a:pPr algn="ctr">
                <a:lnSpc>
                  <a:spcPct val="90000"/>
                </a:lnSpc>
              </a:pPr>
              <a:r>
                <a:rPr kumimoji="1" lang="zh-CN" altLang="en-US" sz="1400" b="1" dirty="0">
                  <a:latin typeface="微软雅黑" pitchFamily="34" charset="-122"/>
                  <a:ea typeface="微软雅黑" pitchFamily="34" charset="-122"/>
                </a:rPr>
                <a:t>出口节点</a:t>
              </a:r>
            </a:p>
          </p:txBody>
        </p:sp>
        <p:sp>
          <p:nvSpPr>
            <p:cNvPr id="52" name="Line 51"/>
            <p:cNvSpPr>
              <a:spLocks noChangeShapeType="1"/>
            </p:cNvSpPr>
            <p:nvPr/>
          </p:nvSpPr>
          <p:spPr bwMode="auto">
            <a:xfrm flipV="1">
              <a:off x="2408341" y="2370544"/>
              <a:ext cx="162610" cy="460108"/>
            </a:xfrm>
            <a:prstGeom prst="line">
              <a:avLst/>
            </a:prstGeom>
            <a:noFill/>
            <a:ln w="127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3" name="Line 52"/>
            <p:cNvSpPr>
              <a:spLocks noChangeShapeType="1"/>
            </p:cNvSpPr>
            <p:nvPr/>
          </p:nvSpPr>
          <p:spPr bwMode="auto">
            <a:xfrm flipH="1" flipV="1">
              <a:off x="6577073" y="2329936"/>
              <a:ext cx="195354" cy="497436"/>
            </a:xfrm>
            <a:prstGeom prst="line">
              <a:avLst/>
            </a:prstGeom>
            <a:noFill/>
            <a:ln w="127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7" name="Line 56"/>
            <p:cNvSpPr>
              <a:spLocks noChangeShapeType="1"/>
            </p:cNvSpPr>
            <p:nvPr/>
          </p:nvSpPr>
          <p:spPr bwMode="auto">
            <a:xfrm>
              <a:off x="7568050" y="1620823"/>
              <a:ext cx="0" cy="629504"/>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9" name="Rectangle 58"/>
            <p:cNvSpPr>
              <a:spLocks noChangeArrowheads="1"/>
            </p:cNvSpPr>
            <p:nvPr/>
          </p:nvSpPr>
          <p:spPr bwMode="auto">
            <a:xfrm rot="5400000">
              <a:off x="7549972" y="1932798"/>
              <a:ext cx="290708" cy="86429"/>
            </a:xfrm>
            <a:prstGeom prst="rect">
              <a:avLst/>
            </a:prstGeom>
            <a:solidFill>
              <a:srgbClr val="00FFFF"/>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vert="eaVert" wrap="none" anchor="ctr"/>
            <a:lstStyle/>
            <a:p>
              <a:pPr algn="ctr"/>
              <a:endParaRPr kumimoji="1" lang="zh-CN" altLang="zh-CN" sz="1400" b="1">
                <a:latin typeface="微软雅黑" pitchFamily="34" charset="-122"/>
                <a:ea typeface="微软雅黑" pitchFamily="34" charset="-122"/>
              </a:endParaRPr>
            </a:p>
          </p:txBody>
        </p:sp>
        <p:sp>
          <p:nvSpPr>
            <p:cNvPr id="60" name="Line 59"/>
            <p:cNvSpPr>
              <a:spLocks noChangeShapeType="1"/>
            </p:cNvSpPr>
            <p:nvPr/>
          </p:nvSpPr>
          <p:spPr bwMode="auto">
            <a:xfrm rot="16200000" flipV="1">
              <a:off x="7692639" y="1970547"/>
              <a:ext cx="262293" cy="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1" name="Text Box 60"/>
            <p:cNvSpPr txBox="1">
              <a:spLocks noChangeArrowheads="1"/>
            </p:cNvSpPr>
            <p:nvPr/>
          </p:nvSpPr>
          <p:spPr bwMode="auto">
            <a:xfrm>
              <a:off x="2597095" y="1925593"/>
              <a:ext cx="319318"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dirty="0">
                  <a:latin typeface="微软雅黑" pitchFamily="34" charset="-122"/>
                  <a:ea typeface="微软雅黑" pitchFamily="34" charset="-122"/>
                </a:rPr>
                <a:t>A</a:t>
              </a:r>
            </a:p>
          </p:txBody>
        </p:sp>
        <p:sp>
          <p:nvSpPr>
            <p:cNvPr id="62" name="Text Box 61"/>
            <p:cNvSpPr txBox="1">
              <a:spLocks noChangeArrowheads="1"/>
            </p:cNvSpPr>
            <p:nvPr/>
          </p:nvSpPr>
          <p:spPr bwMode="auto">
            <a:xfrm>
              <a:off x="4063388" y="1505826"/>
              <a:ext cx="308097"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dirty="0">
                  <a:latin typeface="微软雅黑" pitchFamily="34" charset="-122"/>
                  <a:ea typeface="微软雅黑" pitchFamily="34" charset="-122"/>
                </a:rPr>
                <a:t>B</a:t>
              </a:r>
            </a:p>
          </p:txBody>
        </p:sp>
        <p:sp>
          <p:nvSpPr>
            <p:cNvPr id="63" name="Text Box 62"/>
            <p:cNvSpPr txBox="1">
              <a:spLocks noChangeArrowheads="1"/>
            </p:cNvSpPr>
            <p:nvPr/>
          </p:nvSpPr>
          <p:spPr bwMode="auto">
            <a:xfrm>
              <a:off x="5241520" y="1811786"/>
              <a:ext cx="304892"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dirty="0">
                  <a:latin typeface="微软雅黑" pitchFamily="34" charset="-122"/>
                  <a:ea typeface="微软雅黑" pitchFamily="34" charset="-122"/>
                </a:rPr>
                <a:t>C</a:t>
              </a:r>
            </a:p>
          </p:txBody>
        </p:sp>
        <p:sp>
          <p:nvSpPr>
            <p:cNvPr id="64" name="Text Box 63"/>
            <p:cNvSpPr txBox="1">
              <a:spLocks noChangeArrowheads="1"/>
            </p:cNvSpPr>
            <p:nvPr/>
          </p:nvSpPr>
          <p:spPr bwMode="auto">
            <a:xfrm>
              <a:off x="6214348" y="1899217"/>
              <a:ext cx="327333"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dirty="0">
                  <a:latin typeface="微软雅黑" pitchFamily="34" charset="-122"/>
                  <a:ea typeface="微软雅黑" pitchFamily="34" charset="-122"/>
                </a:rPr>
                <a:t>D</a:t>
              </a:r>
            </a:p>
          </p:txBody>
        </p:sp>
        <p:pic>
          <p:nvPicPr>
            <p:cNvPr id="66" name="Picture 6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12502" y="2092951"/>
              <a:ext cx="290072" cy="3202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7" name="Picture 6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285369" y="2040492"/>
              <a:ext cx="290072" cy="3202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8" name="Picture 67"/>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101407" y="1725740"/>
              <a:ext cx="290072" cy="3202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9" name="Picture 6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510161" y="2145409"/>
              <a:ext cx="290072" cy="3202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0" name="Picture 6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442388" y="2984748"/>
              <a:ext cx="290072" cy="3202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 name="Picture 7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533105" y="2827372"/>
              <a:ext cx="290072" cy="3202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5" name="Picture 7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402295" y="2186939"/>
              <a:ext cx="389524" cy="1836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7"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347389" y="1220232"/>
              <a:ext cx="437551" cy="437551"/>
            </a:xfrm>
            <a:prstGeom prst="rect">
              <a:avLst/>
            </a:prstGeom>
            <a:noFill/>
            <a:extLst>
              <a:ext uri="{909E8E84-426E-40DD-AFC4-6F175D3DCCD1}">
                <a14:hiddenFill xmlns:a14="http://schemas.microsoft.com/office/drawing/2010/main">
                  <a:solidFill>
                    <a:srgbClr val="FFFFFF"/>
                  </a:solidFill>
                </a14:hiddenFill>
              </a:ext>
            </a:extLst>
          </p:spPr>
        </p:pic>
        <p:pic>
          <p:nvPicPr>
            <p:cNvPr id="79"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352264" y="1220232"/>
              <a:ext cx="437551" cy="437551"/>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11" name="组合 110"/>
          <p:cNvGrpSpPr/>
          <p:nvPr/>
        </p:nvGrpSpPr>
        <p:grpSpPr>
          <a:xfrm>
            <a:off x="3312385" y="2173437"/>
            <a:ext cx="561310" cy="255463"/>
            <a:chOff x="3312385" y="2173437"/>
            <a:chExt cx="561310" cy="255463"/>
          </a:xfrm>
        </p:grpSpPr>
        <p:sp>
          <p:nvSpPr>
            <p:cNvPr id="80" name="Line 268"/>
            <p:cNvSpPr>
              <a:spLocks noChangeShapeType="1"/>
            </p:cNvSpPr>
            <p:nvPr/>
          </p:nvSpPr>
          <p:spPr bwMode="auto">
            <a:xfrm rot="16072623">
              <a:off x="3547463" y="2102669"/>
              <a:ext cx="136525" cy="515938"/>
            </a:xfrm>
            <a:prstGeom prst="line">
              <a:avLst/>
            </a:prstGeom>
            <a:noFill/>
            <a:ln w="12700">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nvGrpSpPr>
            <p:cNvPr id="58" name="组合 57"/>
            <p:cNvGrpSpPr/>
            <p:nvPr/>
          </p:nvGrpSpPr>
          <p:grpSpPr>
            <a:xfrm rot="20642495">
              <a:off x="3312385" y="2173437"/>
              <a:ext cx="519027" cy="151876"/>
              <a:chOff x="3032908" y="4474111"/>
              <a:chExt cx="519027" cy="173177"/>
            </a:xfrm>
          </p:grpSpPr>
          <p:sp>
            <p:nvSpPr>
              <p:cNvPr id="45" name="矩形 44"/>
              <p:cNvSpPr/>
              <p:nvPr/>
            </p:nvSpPr>
            <p:spPr>
              <a:xfrm>
                <a:off x="3364344" y="4474111"/>
                <a:ext cx="187591" cy="173177"/>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tx1"/>
                    </a:solidFill>
                    <a:latin typeface="微软雅黑" panose="020B0503020204020204" pitchFamily="34" charset="-122"/>
                    <a:ea typeface="微软雅黑" panose="020B0503020204020204" pitchFamily="34" charset="-122"/>
                  </a:rPr>
                  <a:t>3</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sp>
            <p:nvSpPr>
              <p:cNvPr id="97" name="Rectangle 399"/>
              <p:cNvSpPr>
                <a:spLocks noChangeArrowheads="1"/>
              </p:cNvSpPr>
              <p:nvPr/>
            </p:nvSpPr>
            <p:spPr bwMode="auto">
              <a:xfrm rot="10800000">
                <a:off x="3032908" y="4474111"/>
                <a:ext cx="335791" cy="173176"/>
              </a:xfrm>
              <a:prstGeom prst="rect">
                <a:avLst/>
              </a:prstGeom>
              <a:solidFill>
                <a:srgbClr val="FF66FF"/>
              </a:solidFill>
              <a:ln w="9525">
                <a:solidFill>
                  <a:schemeClr val="tx1"/>
                </a:solidFill>
                <a:miter lim="800000"/>
                <a:headEnd/>
                <a:tailEnd/>
              </a:ln>
            </p:spPr>
            <p:txBody>
              <a:bodyPr rot="10800000"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zh-CN" sz="1100" b="1">
                  <a:latin typeface="微软雅黑" panose="020B0503020204020204" pitchFamily="34" charset="-122"/>
                  <a:ea typeface="微软雅黑" panose="020B0503020204020204" pitchFamily="34" charset="-122"/>
                </a:endParaRPr>
              </a:p>
            </p:txBody>
          </p:sp>
        </p:grpSp>
      </p:grpSp>
      <p:grpSp>
        <p:nvGrpSpPr>
          <p:cNvPr id="112" name="组合 111"/>
          <p:cNvGrpSpPr/>
          <p:nvPr/>
        </p:nvGrpSpPr>
        <p:grpSpPr>
          <a:xfrm>
            <a:off x="4478891" y="2112017"/>
            <a:ext cx="564414" cy="254459"/>
            <a:chOff x="4478891" y="2112017"/>
            <a:chExt cx="564414" cy="254459"/>
          </a:xfrm>
        </p:grpSpPr>
        <p:sp>
          <p:nvSpPr>
            <p:cNvPr id="89" name="Line 416"/>
            <p:cNvSpPr>
              <a:spLocks noChangeShapeType="1"/>
            </p:cNvSpPr>
            <p:nvPr/>
          </p:nvSpPr>
          <p:spPr bwMode="auto">
            <a:xfrm rot="18151154">
              <a:off x="4668597" y="2040245"/>
              <a:ext cx="136525" cy="515938"/>
            </a:xfrm>
            <a:prstGeom prst="line">
              <a:avLst/>
            </a:prstGeom>
            <a:noFill/>
            <a:ln w="12700">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nvGrpSpPr>
            <p:cNvPr id="98" name="组合 97"/>
            <p:cNvGrpSpPr/>
            <p:nvPr/>
          </p:nvGrpSpPr>
          <p:grpSpPr>
            <a:xfrm rot="997048">
              <a:off x="4524278" y="2112017"/>
              <a:ext cx="519027" cy="151876"/>
              <a:chOff x="3032908" y="4474111"/>
              <a:chExt cx="519027" cy="173177"/>
            </a:xfrm>
          </p:grpSpPr>
          <p:sp>
            <p:nvSpPr>
              <p:cNvPr id="99" name="矩形 98"/>
              <p:cNvSpPr/>
              <p:nvPr/>
            </p:nvSpPr>
            <p:spPr>
              <a:xfrm>
                <a:off x="3364344" y="4474111"/>
                <a:ext cx="187591" cy="173177"/>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tx1"/>
                    </a:solidFill>
                    <a:latin typeface="微软雅黑" panose="020B0503020204020204" pitchFamily="34" charset="-122"/>
                    <a:ea typeface="微软雅黑" panose="020B0503020204020204" pitchFamily="34" charset="-122"/>
                  </a:rPr>
                  <a:t>1</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sp>
            <p:nvSpPr>
              <p:cNvPr id="100" name="Rectangle 399"/>
              <p:cNvSpPr>
                <a:spLocks noChangeArrowheads="1"/>
              </p:cNvSpPr>
              <p:nvPr/>
            </p:nvSpPr>
            <p:spPr bwMode="auto">
              <a:xfrm rot="10800000">
                <a:off x="3032908" y="4474111"/>
                <a:ext cx="335791" cy="173176"/>
              </a:xfrm>
              <a:prstGeom prst="rect">
                <a:avLst/>
              </a:prstGeom>
              <a:solidFill>
                <a:srgbClr val="FF66FF"/>
              </a:solidFill>
              <a:ln w="9525">
                <a:solidFill>
                  <a:schemeClr val="tx1"/>
                </a:solidFill>
                <a:miter lim="800000"/>
                <a:headEnd/>
                <a:tailEnd/>
              </a:ln>
            </p:spPr>
            <p:txBody>
              <a:bodyPr rot="10800000"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zh-CN" sz="1100" b="1">
                  <a:latin typeface="微软雅黑" panose="020B0503020204020204" pitchFamily="34" charset="-122"/>
                  <a:ea typeface="微软雅黑" panose="020B0503020204020204" pitchFamily="34" charset="-122"/>
                </a:endParaRPr>
              </a:p>
            </p:txBody>
          </p:sp>
        </p:grpSp>
      </p:grpSp>
      <p:grpSp>
        <p:nvGrpSpPr>
          <p:cNvPr id="113" name="组合 112"/>
          <p:cNvGrpSpPr/>
          <p:nvPr/>
        </p:nvGrpSpPr>
        <p:grpSpPr>
          <a:xfrm>
            <a:off x="5732321" y="2339902"/>
            <a:ext cx="524124" cy="267916"/>
            <a:chOff x="5732321" y="2339902"/>
            <a:chExt cx="524124" cy="267916"/>
          </a:xfrm>
        </p:grpSpPr>
        <p:sp>
          <p:nvSpPr>
            <p:cNvPr id="93" name="Line 420"/>
            <p:cNvSpPr>
              <a:spLocks noChangeShapeType="1"/>
            </p:cNvSpPr>
            <p:nvPr/>
          </p:nvSpPr>
          <p:spPr bwMode="auto">
            <a:xfrm rot="17283846">
              <a:off x="5922027" y="2281587"/>
              <a:ext cx="136525" cy="515937"/>
            </a:xfrm>
            <a:prstGeom prst="line">
              <a:avLst/>
            </a:prstGeom>
            <a:noFill/>
            <a:ln w="12700">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nvGrpSpPr>
            <p:cNvPr id="103" name="组合 102"/>
            <p:cNvGrpSpPr/>
            <p:nvPr/>
          </p:nvGrpSpPr>
          <p:grpSpPr>
            <a:xfrm rot="198137">
              <a:off x="5737418" y="2339902"/>
              <a:ext cx="519027" cy="151876"/>
              <a:chOff x="3032908" y="4474111"/>
              <a:chExt cx="519027" cy="173177"/>
            </a:xfrm>
          </p:grpSpPr>
          <p:sp>
            <p:nvSpPr>
              <p:cNvPr id="104" name="矩形 103"/>
              <p:cNvSpPr/>
              <p:nvPr/>
            </p:nvSpPr>
            <p:spPr>
              <a:xfrm>
                <a:off x="3364344" y="4474111"/>
                <a:ext cx="187591" cy="173177"/>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tx1"/>
                    </a:solidFill>
                    <a:latin typeface="微软雅黑" panose="020B0503020204020204" pitchFamily="34" charset="-122"/>
                    <a:ea typeface="微软雅黑" panose="020B0503020204020204" pitchFamily="34" charset="-122"/>
                  </a:rPr>
                  <a:t>2</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sp>
            <p:nvSpPr>
              <p:cNvPr id="105" name="Rectangle 399"/>
              <p:cNvSpPr>
                <a:spLocks noChangeArrowheads="1"/>
              </p:cNvSpPr>
              <p:nvPr/>
            </p:nvSpPr>
            <p:spPr bwMode="auto">
              <a:xfrm rot="10800000">
                <a:off x="3032908" y="4474111"/>
                <a:ext cx="335791" cy="173176"/>
              </a:xfrm>
              <a:prstGeom prst="rect">
                <a:avLst/>
              </a:prstGeom>
              <a:solidFill>
                <a:srgbClr val="FF66FF"/>
              </a:solidFill>
              <a:ln w="9525">
                <a:solidFill>
                  <a:schemeClr val="tx1"/>
                </a:solidFill>
                <a:miter lim="800000"/>
                <a:headEnd/>
                <a:tailEnd/>
              </a:ln>
            </p:spPr>
            <p:txBody>
              <a:bodyPr rot="10800000"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zh-CN" sz="1100" b="1">
                  <a:latin typeface="微软雅黑" panose="020B0503020204020204" pitchFamily="34" charset="-122"/>
                  <a:ea typeface="微软雅黑" panose="020B0503020204020204" pitchFamily="34" charset="-122"/>
                </a:endParaRPr>
              </a:p>
            </p:txBody>
          </p:sp>
        </p:grpSp>
      </p:grpSp>
      <p:grpSp>
        <p:nvGrpSpPr>
          <p:cNvPr id="106" name="组合 105"/>
          <p:cNvGrpSpPr/>
          <p:nvPr/>
        </p:nvGrpSpPr>
        <p:grpSpPr>
          <a:xfrm>
            <a:off x="2653945" y="3785732"/>
            <a:ext cx="519027" cy="122934"/>
            <a:chOff x="3032908" y="4474111"/>
            <a:chExt cx="519027" cy="173177"/>
          </a:xfrm>
        </p:grpSpPr>
        <p:sp>
          <p:nvSpPr>
            <p:cNvPr id="107" name="矩形 106"/>
            <p:cNvSpPr/>
            <p:nvPr/>
          </p:nvSpPr>
          <p:spPr>
            <a:xfrm>
              <a:off x="3364344" y="4474111"/>
              <a:ext cx="187591" cy="173177"/>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tx1"/>
                  </a:solidFill>
                  <a:latin typeface="微软雅黑" panose="020B0503020204020204" pitchFamily="34" charset="-122"/>
                  <a:ea typeface="微软雅黑" panose="020B0503020204020204" pitchFamily="34" charset="-122"/>
                </a:rPr>
                <a:t>X</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sp>
          <p:nvSpPr>
            <p:cNvPr id="108" name="Rectangle 399"/>
            <p:cNvSpPr>
              <a:spLocks noChangeArrowheads="1"/>
            </p:cNvSpPr>
            <p:nvPr/>
          </p:nvSpPr>
          <p:spPr bwMode="auto">
            <a:xfrm rot="10800000">
              <a:off x="3032908" y="4474111"/>
              <a:ext cx="335791" cy="173176"/>
            </a:xfrm>
            <a:prstGeom prst="rect">
              <a:avLst/>
            </a:prstGeom>
            <a:solidFill>
              <a:srgbClr val="FF66FF"/>
            </a:solidFill>
            <a:ln w="9525">
              <a:solidFill>
                <a:schemeClr val="tx1"/>
              </a:solidFill>
              <a:miter lim="800000"/>
              <a:headEnd/>
              <a:tailEnd/>
            </a:ln>
          </p:spPr>
          <p:txBody>
            <a:bodyPr rot="10800000"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zh-CN" sz="1100" b="1">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176498271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repeatCount="3000" fill="hold" nodeType="clickEffect">
                                  <p:stCondLst>
                                    <p:cond delay="0"/>
                                  </p:stCondLst>
                                  <p:childTnLst>
                                    <p:set>
                                      <p:cBhvr>
                                        <p:cTn id="6" dur="1" fill="hold">
                                          <p:stCondLst>
                                            <p:cond delay="0"/>
                                          </p:stCondLst>
                                        </p:cTn>
                                        <p:tgtEl>
                                          <p:spTgt spid="114"/>
                                        </p:tgtEl>
                                        <p:attrNameLst>
                                          <p:attrName>style.visibility</p:attrName>
                                        </p:attrNameLst>
                                      </p:cBhvr>
                                      <p:to>
                                        <p:strVal val="visible"/>
                                      </p:to>
                                    </p:set>
                                    <p:animEffect transition="in" filter="fade">
                                      <p:cBhvr>
                                        <p:cTn id="7" dur="500"/>
                                        <p:tgtEl>
                                          <p:spTgt spid="114"/>
                                        </p:tgtEl>
                                      </p:cBhvr>
                                    </p:animEffect>
                                  </p:childTnLst>
                                </p:cTn>
                              </p:par>
                            </p:childTnLst>
                          </p:cTn>
                        </p:par>
                        <p:par>
                          <p:cTn id="8" fill="hold">
                            <p:stCondLst>
                              <p:cond delay="1500"/>
                            </p:stCondLst>
                            <p:childTnLst>
                              <p:par>
                                <p:cTn id="9" presetID="22" presetClass="entr" presetSubtype="8" fill="hold" nodeType="afterEffect">
                                  <p:stCondLst>
                                    <p:cond delay="0"/>
                                  </p:stCondLst>
                                  <p:childTnLst>
                                    <p:set>
                                      <p:cBhvr>
                                        <p:cTn id="10" dur="1" fill="hold">
                                          <p:stCondLst>
                                            <p:cond delay="0"/>
                                          </p:stCondLst>
                                        </p:cTn>
                                        <p:tgtEl>
                                          <p:spTgt spid="111"/>
                                        </p:tgtEl>
                                        <p:attrNameLst>
                                          <p:attrName>style.visibility</p:attrName>
                                        </p:attrNameLst>
                                      </p:cBhvr>
                                      <p:to>
                                        <p:strVal val="visible"/>
                                      </p:to>
                                    </p:set>
                                    <p:animEffect transition="in" filter="wipe(left)">
                                      <p:cBhvr>
                                        <p:cTn id="11" dur="1000"/>
                                        <p:tgtEl>
                                          <p:spTgt spid="111"/>
                                        </p:tgtEl>
                                      </p:cBhvr>
                                    </p:animEffect>
                                  </p:childTnLst>
                                </p:cTn>
                              </p:par>
                            </p:childTnLst>
                          </p:cTn>
                        </p:par>
                        <p:par>
                          <p:cTn id="12" fill="hold">
                            <p:stCondLst>
                              <p:cond delay="2500"/>
                            </p:stCondLst>
                            <p:childTnLst>
                              <p:par>
                                <p:cTn id="13" presetID="22" presetClass="entr" presetSubtype="8" fill="hold" nodeType="afterEffect">
                                  <p:stCondLst>
                                    <p:cond delay="0"/>
                                  </p:stCondLst>
                                  <p:childTnLst>
                                    <p:set>
                                      <p:cBhvr>
                                        <p:cTn id="14" dur="1" fill="hold">
                                          <p:stCondLst>
                                            <p:cond delay="0"/>
                                          </p:stCondLst>
                                        </p:cTn>
                                        <p:tgtEl>
                                          <p:spTgt spid="112"/>
                                        </p:tgtEl>
                                        <p:attrNameLst>
                                          <p:attrName>style.visibility</p:attrName>
                                        </p:attrNameLst>
                                      </p:cBhvr>
                                      <p:to>
                                        <p:strVal val="visible"/>
                                      </p:to>
                                    </p:set>
                                    <p:animEffect transition="in" filter="wipe(left)">
                                      <p:cBhvr>
                                        <p:cTn id="15" dur="1000"/>
                                        <p:tgtEl>
                                          <p:spTgt spid="112"/>
                                        </p:tgtEl>
                                      </p:cBhvr>
                                    </p:animEffect>
                                  </p:childTnLst>
                                </p:cTn>
                              </p:par>
                            </p:childTnLst>
                          </p:cTn>
                        </p:par>
                        <p:par>
                          <p:cTn id="16" fill="hold">
                            <p:stCondLst>
                              <p:cond delay="3500"/>
                            </p:stCondLst>
                            <p:childTnLst>
                              <p:par>
                                <p:cTn id="17" presetID="22" presetClass="entr" presetSubtype="8" fill="hold" nodeType="afterEffect">
                                  <p:stCondLst>
                                    <p:cond delay="0"/>
                                  </p:stCondLst>
                                  <p:childTnLst>
                                    <p:set>
                                      <p:cBhvr>
                                        <p:cTn id="18" dur="1" fill="hold">
                                          <p:stCondLst>
                                            <p:cond delay="0"/>
                                          </p:stCondLst>
                                        </p:cTn>
                                        <p:tgtEl>
                                          <p:spTgt spid="113"/>
                                        </p:tgtEl>
                                        <p:attrNameLst>
                                          <p:attrName>style.visibility</p:attrName>
                                        </p:attrNameLst>
                                      </p:cBhvr>
                                      <p:to>
                                        <p:strVal val="visible"/>
                                      </p:to>
                                    </p:set>
                                    <p:animEffect transition="in" filter="wipe(left)">
                                      <p:cBhvr>
                                        <p:cTn id="19" dur="1000"/>
                                        <p:tgtEl>
                                          <p:spTgt spid="113"/>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repeatCount="3000" fill="hold" nodeType="clickEffect">
                                  <p:stCondLst>
                                    <p:cond delay="0"/>
                                  </p:stCondLst>
                                  <p:childTnLst>
                                    <p:set>
                                      <p:cBhvr>
                                        <p:cTn id="23" dur="1" fill="hold">
                                          <p:stCondLst>
                                            <p:cond delay="0"/>
                                          </p:stCondLst>
                                        </p:cTn>
                                        <p:tgtEl>
                                          <p:spTgt spid="115"/>
                                        </p:tgtEl>
                                        <p:attrNameLst>
                                          <p:attrName>style.visibility</p:attrName>
                                        </p:attrNameLst>
                                      </p:cBhvr>
                                      <p:to>
                                        <p:strVal val="visible"/>
                                      </p:to>
                                    </p:set>
                                    <p:animEffect transition="in" filter="fade">
                                      <p:cBhvr>
                                        <p:cTn id="24" dur="500"/>
                                        <p:tgtEl>
                                          <p:spTgt spid="1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14926"/>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56158"/>
            <a:ext cx="1245854" cy="400110"/>
          </a:xfrm>
          <a:prstGeom prst="rect">
            <a:avLst/>
          </a:prstGeom>
        </p:spPr>
        <p:txBody>
          <a:bodyPr wrap="none">
            <a:spAutoFit/>
          </a:bodyPr>
          <a:lstStyle/>
          <a:p>
            <a:r>
              <a:rPr lang="en-US" altLang="zh-CN" sz="2000" b="1" dirty="0">
                <a:latin typeface="微软雅黑" pitchFamily="34" charset="-122"/>
                <a:ea typeface="微软雅黑" pitchFamily="34" charset="-122"/>
              </a:rPr>
              <a:t>MPLS </a:t>
            </a:r>
            <a:r>
              <a:rPr lang="zh-CN" altLang="en-US" sz="2000" b="1" dirty="0">
                <a:latin typeface="微软雅黑" pitchFamily="34" charset="-122"/>
                <a:ea typeface="微软雅黑" pitchFamily="34" charset="-122"/>
              </a:rPr>
              <a:t>域</a:t>
            </a:r>
          </a:p>
        </p:txBody>
      </p:sp>
      <p:sp>
        <p:nvSpPr>
          <p:cNvPr id="4" name="矩形 3"/>
          <p:cNvSpPr/>
          <p:nvPr/>
        </p:nvSpPr>
        <p:spPr>
          <a:xfrm>
            <a:off x="545144" y="939694"/>
            <a:ext cx="8028487" cy="2208297"/>
          </a:xfrm>
          <a:prstGeom prst="rect">
            <a:avLst/>
          </a:prstGeom>
        </p:spPr>
        <p:txBody>
          <a:bodyPr wrap="square">
            <a:spAutoFit/>
          </a:bodyPr>
          <a:lstStyle/>
          <a:p>
            <a:pPr marL="285750" indent="-285750">
              <a:lnSpc>
                <a:spcPts val="33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rPr>
              <a:t>MPLS </a:t>
            </a:r>
            <a:r>
              <a:rPr lang="zh-CN" altLang="en-US" sz="2000" b="1" dirty="0">
                <a:solidFill>
                  <a:srgbClr val="C00000"/>
                </a:solidFill>
                <a:latin typeface="微软雅黑" pitchFamily="34" charset="-122"/>
                <a:ea typeface="微软雅黑" pitchFamily="34" charset="-122"/>
              </a:rPr>
              <a:t>域</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(MPLS domain) </a:t>
            </a:r>
            <a:r>
              <a:rPr lang="zh-CN" altLang="en-US" sz="2000" b="1" dirty="0">
                <a:latin typeface="微软雅黑" pitchFamily="34" charset="-122"/>
                <a:ea typeface="微软雅黑" pitchFamily="34" charset="-122"/>
              </a:rPr>
              <a:t>：指该域中有许多彼此相邻的路由器，并且所有的路由器都是支持 </a:t>
            </a:r>
            <a:r>
              <a:rPr lang="en-US" altLang="zh-CN" sz="2000" b="1" dirty="0">
                <a:latin typeface="微软雅黑" pitchFamily="34" charset="-122"/>
                <a:ea typeface="微软雅黑" pitchFamily="34" charset="-122"/>
              </a:rPr>
              <a:t>MPLS </a:t>
            </a:r>
            <a:r>
              <a:rPr lang="zh-CN" altLang="en-US" sz="2000" b="1" dirty="0">
                <a:latin typeface="微软雅黑" pitchFamily="34" charset="-122"/>
                <a:ea typeface="微软雅黑" pitchFamily="34" charset="-122"/>
              </a:rPr>
              <a:t>技术的</a:t>
            </a:r>
            <a:r>
              <a:rPr lang="zh-CN" altLang="en-US" sz="2000" b="1" dirty="0">
                <a:solidFill>
                  <a:srgbClr val="C00000"/>
                </a:solidFill>
                <a:latin typeface="微软雅黑" pitchFamily="34" charset="-122"/>
                <a:ea typeface="微软雅黑" pitchFamily="34" charset="-122"/>
              </a:rPr>
              <a:t>标记交换路由器 </a:t>
            </a:r>
            <a:r>
              <a:rPr lang="en-US" altLang="zh-CN" sz="2000" b="1" dirty="0">
                <a:latin typeface="微软雅黑" pitchFamily="34" charset="-122"/>
                <a:ea typeface="微软雅黑" pitchFamily="34" charset="-122"/>
              </a:rPr>
              <a:t>LSR (Label Switching Router)</a:t>
            </a:r>
            <a:r>
              <a:rPr lang="zh-CN" altLang="en-US" sz="2000" b="1" dirty="0">
                <a:latin typeface="微软雅黑" pitchFamily="34" charset="-122"/>
                <a:ea typeface="微软雅黑" pitchFamily="34" charset="-122"/>
              </a:rPr>
              <a:t>。</a:t>
            </a:r>
          </a:p>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LSR </a:t>
            </a:r>
            <a:r>
              <a:rPr lang="zh-CN" altLang="en-US" sz="2000" b="1" dirty="0">
                <a:latin typeface="微软雅黑" pitchFamily="34" charset="-122"/>
                <a:ea typeface="微软雅黑" pitchFamily="34" charset="-122"/>
              </a:rPr>
              <a:t>同时具有</a:t>
            </a:r>
            <a:r>
              <a:rPr lang="zh-CN" altLang="en-US" sz="2000" b="1" dirty="0">
                <a:solidFill>
                  <a:srgbClr val="C00000"/>
                </a:solidFill>
                <a:latin typeface="微软雅黑" pitchFamily="34" charset="-122"/>
                <a:ea typeface="微软雅黑" pitchFamily="34" charset="-122"/>
              </a:rPr>
              <a:t>标记交换</a:t>
            </a:r>
            <a:r>
              <a:rPr lang="zh-CN" altLang="en-US" sz="2000" b="1" dirty="0">
                <a:latin typeface="微软雅黑" pitchFamily="34" charset="-122"/>
                <a:ea typeface="微软雅黑" pitchFamily="34" charset="-122"/>
              </a:rPr>
              <a:t>和</a:t>
            </a:r>
            <a:r>
              <a:rPr lang="zh-CN" altLang="en-US" sz="2000" b="1" dirty="0">
                <a:solidFill>
                  <a:srgbClr val="C00000"/>
                </a:solidFill>
                <a:latin typeface="微软雅黑" pitchFamily="34" charset="-122"/>
                <a:ea typeface="微软雅黑" pitchFamily="34" charset="-122"/>
              </a:rPr>
              <a:t>路由选择</a:t>
            </a:r>
            <a:r>
              <a:rPr lang="zh-CN" altLang="en-US" sz="2000" b="1" dirty="0">
                <a:latin typeface="微软雅黑" pitchFamily="34" charset="-122"/>
                <a:ea typeface="微软雅黑" pitchFamily="34" charset="-122"/>
              </a:rPr>
              <a:t>这两种功能。标记交换功能是为了</a:t>
            </a:r>
            <a:r>
              <a:rPr lang="zh-CN" altLang="en-US" sz="2000" b="1" dirty="0">
                <a:solidFill>
                  <a:srgbClr val="C00000"/>
                </a:solidFill>
                <a:latin typeface="微软雅黑" pitchFamily="34" charset="-122"/>
                <a:ea typeface="微软雅黑" pitchFamily="34" charset="-122"/>
              </a:rPr>
              <a:t>快速转发，</a:t>
            </a:r>
            <a:r>
              <a:rPr lang="zh-CN" altLang="en-US" sz="2000" b="1" dirty="0">
                <a:latin typeface="微软雅黑" pitchFamily="34" charset="-122"/>
                <a:ea typeface="微软雅黑" pitchFamily="34" charset="-122"/>
              </a:rPr>
              <a:t>路由选择功能是为了</a:t>
            </a:r>
            <a:r>
              <a:rPr lang="zh-CN" altLang="en-US" sz="2000" b="1" dirty="0">
                <a:solidFill>
                  <a:srgbClr val="C00000"/>
                </a:solidFill>
                <a:latin typeface="微软雅黑" pitchFamily="34" charset="-122"/>
                <a:ea typeface="微软雅黑" pitchFamily="34" charset="-122"/>
              </a:rPr>
              <a:t>构造转发表。</a:t>
            </a:r>
          </a:p>
        </p:txBody>
      </p:sp>
    </p:spTree>
    <p:extLst>
      <p:ext uri="{BB962C8B-B14F-4D97-AF65-F5344CB8AC3E}">
        <p14:creationId xmlns:p14="http://schemas.microsoft.com/office/powerpoint/2010/main" val="66941214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15972"/>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57204"/>
            <a:ext cx="2784737" cy="400110"/>
          </a:xfrm>
          <a:prstGeom prst="rect">
            <a:avLst/>
          </a:prstGeom>
        </p:spPr>
        <p:txBody>
          <a:bodyPr wrap="none">
            <a:spAutoFit/>
          </a:bodyPr>
          <a:lstStyle/>
          <a:p>
            <a:r>
              <a:rPr lang="en-US" altLang="zh-CN" sz="2000" b="1" dirty="0">
                <a:latin typeface="微软雅黑" pitchFamily="34" charset="-122"/>
                <a:ea typeface="微软雅黑" pitchFamily="34" charset="-122"/>
              </a:rPr>
              <a:t>MPLS </a:t>
            </a:r>
            <a:r>
              <a:rPr lang="zh-CN" altLang="en-US" sz="2000" b="1" dirty="0">
                <a:latin typeface="微软雅黑" pitchFamily="34" charset="-122"/>
                <a:ea typeface="微软雅黑" pitchFamily="34" charset="-122"/>
              </a:rPr>
              <a:t>的基本工作过程</a:t>
            </a:r>
          </a:p>
        </p:txBody>
      </p:sp>
      <p:sp>
        <p:nvSpPr>
          <p:cNvPr id="4" name="矩形 3"/>
          <p:cNvSpPr/>
          <p:nvPr/>
        </p:nvSpPr>
        <p:spPr>
          <a:xfrm>
            <a:off x="545144" y="930643"/>
            <a:ext cx="8028487" cy="3323987"/>
          </a:xfrm>
          <a:prstGeom prst="rect">
            <a:avLst/>
          </a:prstGeom>
        </p:spPr>
        <p:txBody>
          <a:bodyPr wrap="square">
            <a:spAutoFit/>
          </a:bodyPr>
          <a:lstStyle/>
          <a:p>
            <a:pPr marL="457200" indent="-457200">
              <a:lnSpc>
                <a:spcPts val="2800"/>
              </a:lnSpc>
              <a:buClr>
                <a:schemeClr val="tx1"/>
              </a:buClr>
              <a:buFont typeface="+mj-lt"/>
              <a:buAutoNum type="arabicPeriod"/>
            </a:pPr>
            <a:r>
              <a:rPr lang="zh-CN" altLang="en-US" sz="2000" b="1" dirty="0">
                <a:solidFill>
                  <a:srgbClr val="0000FF"/>
                </a:solidFill>
                <a:latin typeface="微软雅黑" pitchFamily="34" charset="-122"/>
                <a:ea typeface="微软雅黑" pitchFamily="34" charset="-122"/>
              </a:rPr>
              <a:t>找出标签交换路径 </a:t>
            </a:r>
            <a:r>
              <a:rPr lang="en-US" altLang="zh-CN" sz="2000" b="1" dirty="0">
                <a:solidFill>
                  <a:srgbClr val="0000FF"/>
                </a:solidFill>
                <a:latin typeface="微软雅黑" pitchFamily="34" charset="-122"/>
                <a:ea typeface="微软雅黑" pitchFamily="34" charset="-122"/>
              </a:rPr>
              <a:t>LSP</a:t>
            </a:r>
            <a:r>
              <a:rPr lang="zh-CN" altLang="en-US" sz="2000" b="1" dirty="0">
                <a:solidFill>
                  <a:srgbClr val="0000FF"/>
                </a:solidFill>
                <a:latin typeface="微软雅黑" pitchFamily="34" charset="-122"/>
                <a:ea typeface="微软雅黑" pitchFamily="34" charset="-122"/>
              </a:rPr>
              <a:t>。</a:t>
            </a:r>
            <a:endParaRPr lang="en-US" altLang="zh-CN" sz="2000" b="1" dirty="0">
              <a:solidFill>
                <a:srgbClr val="0000FF"/>
              </a:solidFill>
              <a:latin typeface="微软雅黑" pitchFamily="34" charset="-122"/>
              <a:ea typeface="微软雅黑" pitchFamily="34" charset="-122"/>
            </a:endParaRPr>
          </a:p>
          <a:p>
            <a:pPr marL="742950" lvl="1" indent="-285750">
              <a:lnSpc>
                <a:spcPts val="2800"/>
              </a:lnSpc>
              <a:buClr>
                <a:srgbClr val="990099"/>
              </a:buClr>
              <a:buSzPct val="85000"/>
              <a:buFont typeface="Wingdings" panose="05000000000000000000" pitchFamily="2" charset="2"/>
              <a:buChar char="u"/>
            </a:pPr>
            <a:r>
              <a:rPr lang="zh-CN" altLang="en-US" b="1" dirty="0">
                <a:latin typeface="微软雅黑" pitchFamily="34" charset="-122"/>
                <a:ea typeface="微软雅黑" pitchFamily="34" charset="-122"/>
              </a:rPr>
              <a:t>各 </a:t>
            </a:r>
            <a:r>
              <a:rPr lang="en-US" altLang="zh-CN" b="1" dirty="0">
                <a:latin typeface="微软雅黑" pitchFamily="34" charset="-122"/>
                <a:ea typeface="微软雅黑" pitchFamily="34" charset="-122"/>
              </a:rPr>
              <a:t>LSR </a:t>
            </a:r>
            <a:r>
              <a:rPr lang="zh-CN" altLang="en-US" b="1" dirty="0">
                <a:latin typeface="微软雅黑" pitchFamily="34" charset="-122"/>
                <a:ea typeface="微软雅黑" pitchFamily="34" charset="-122"/>
              </a:rPr>
              <a:t>使用</a:t>
            </a:r>
            <a:r>
              <a:rPr lang="zh-CN" altLang="en-US" b="1" dirty="0">
                <a:solidFill>
                  <a:srgbClr val="C00000"/>
                </a:solidFill>
                <a:latin typeface="微软雅黑" pitchFamily="34" charset="-122"/>
                <a:ea typeface="微软雅黑" pitchFamily="34" charset="-122"/>
              </a:rPr>
              <a:t>标签分配协议 </a:t>
            </a:r>
            <a:r>
              <a:rPr lang="en-US" altLang="zh-CN" b="1" dirty="0">
                <a:solidFill>
                  <a:srgbClr val="C00000"/>
                </a:solidFill>
                <a:latin typeface="微软雅黑" pitchFamily="34" charset="-122"/>
                <a:ea typeface="微软雅黑" pitchFamily="34" charset="-122"/>
              </a:rPr>
              <a:t>LDP </a:t>
            </a:r>
            <a:r>
              <a:rPr lang="en-US" altLang="zh-CN" b="1" dirty="0">
                <a:latin typeface="微软雅黑" pitchFamily="34" charset="-122"/>
                <a:ea typeface="微软雅黑" pitchFamily="34" charset="-122"/>
              </a:rPr>
              <a:t>(Label Distribution Protocol) </a:t>
            </a:r>
            <a:r>
              <a:rPr lang="zh-CN" altLang="en-US" b="1" dirty="0">
                <a:latin typeface="微软雅黑" pitchFamily="34" charset="-122"/>
                <a:ea typeface="微软雅黑" pitchFamily="34" charset="-122"/>
              </a:rPr>
              <a:t>交换报文，找出和标签相对应的</a:t>
            </a:r>
            <a:r>
              <a:rPr lang="zh-CN" altLang="en-US" b="1" dirty="0">
                <a:solidFill>
                  <a:srgbClr val="C00000"/>
                </a:solidFill>
                <a:latin typeface="微软雅黑" pitchFamily="34" charset="-122"/>
                <a:ea typeface="微软雅黑" pitchFamily="34" charset="-122"/>
              </a:rPr>
              <a:t>标签交换路径 </a:t>
            </a:r>
            <a:r>
              <a:rPr lang="en-US" altLang="zh-CN" b="1" dirty="0">
                <a:solidFill>
                  <a:srgbClr val="C00000"/>
                </a:solidFill>
                <a:latin typeface="微软雅黑" pitchFamily="34" charset="-122"/>
                <a:ea typeface="微软雅黑" pitchFamily="34" charset="-122"/>
              </a:rPr>
              <a:t>LSP </a:t>
            </a:r>
            <a:r>
              <a:rPr lang="en-US" altLang="zh-CN" b="1" dirty="0">
                <a:latin typeface="微软雅黑" pitchFamily="34" charset="-122"/>
                <a:ea typeface="微软雅黑" pitchFamily="34" charset="-122"/>
              </a:rPr>
              <a:t>(Label Switched Path)</a:t>
            </a:r>
            <a:r>
              <a:rPr lang="zh-CN" altLang="en-US" b="1" dirty="0">
                <a:latin typeface="微软雅黑" pitchFamily="34" charset="-122"/>
                <a:ea typeface="微软雅黑" pitchFamily="34" charset="-122"/>
              </a:rPr>
              <a:t>。整个标签交换路径就像一条虚连接一样。</a:t>
            </a:r>
            <a:endParaRPr lang="en-US" altLang="zh-CN" b="1" dirty="0">
              <a:latin typeface="微软雅黑" pitchFamily="34" charset="-122"/>
              <a:ea typeface="微软雅黑" pitchFamily="34" charset="-122"/>
            </a:endParaRPr>
          </a:p>
          <a:p>
            <a:pPr marL="457200" indent="-457200">
              <a:lnSpc>
                <a:spcPts val="2800"/>
              </a:lnSpc>
              <a:buClr>
                <a:schemeClr val="tx1"/>
              </a:buClr>
              <a:buFont typeface="+mj-lt"/>
              <a:buAutoNum type="arabicPeriod"/>
            </a:pPr>
            <a:r>
              <a:rPr lang="zh-CN" altLang="en-US" sz="2000" b="1" dirty="0">
                <a:solidFill>
                  <a:srgbClr val="0000FF"/>
                </a:solidFill>
                <a:latin typeface="微软雅黑" pitchFamily="34" charset="-122"/>
                <a:ea typeface="微软雅黑" pitchFamily="34" charset="-122"/>
              </a:rPr>
              <a:t>打标签，然后转发。</a:t>
            </a:r>
            <a:endParaRPr lang="en-US" altLang="zh-CN" sz="2000" b="1" dirty="0">
              <a:solidFill>
                <a:srgbClr val="0000FF"/>
              </a:solidFill>
              <a:latin typeface="微软雅黑" pitchFamily="34" charset="-122"/>
              <a:ea typeface="微软雅黑" pitchFamily="34" charset="-122"/>
            </a:endParaRPr>
          </a:p>
          <a:p>
            <a:pPr marL="742950" lvl="1" indent="-285750">
              <a:lnSpc>
                <a:spcPts val="2800"/>
              </a:lnSpc>
              <a:buClr>
                <a:srgbClr val="990099"/>
              </a:buClr>
              <a:buSzPct val="85000"/>
              <a:buFont typeface="Wingdings" panose="05000000000000000000" pitchFamily="2" charset="2"/>
              <a:buChar char="u"/>
            </a:pPr>
            <a:r>
              <a:rPr lang="zh-CN" altLang="en-US" b="1" dirty="0">
                <a:latin typeface="微软雅黑" pitchFamily="34" charset="-122"/>
                <a:ea typeface="微软雅黑" pitchFamily="34" charset="-122"/>
              </a:rPr>
              <a:t>入口节点 </a:t>
            </a:r>
            <a:r>
              <a:rPr lang="en-US" altLang="zh-CN" b="1" dirty="0">
                <a:latin typeface="微软雅黑" pitchFamily="34" charset="-122"/>
                <a:ea typeface="微软雅黑" pitchFamily="34" charset="-122"/>
              </a:rPr>
              <a:t>(ingress node) </a:t>
            </a:r>
            <a:r>
              <a:rPr lang="zh-CN" altLang="en-US" b="1" dirty="0">
                <a:latin typeface="微软雅黑" pitchFamily="34" charset="-122"/>
                <a:ea typeface="微软雅黑" pitchFamily="34" charset="-122"/>
              </a:rPr>
              <a:t>给进入 </a:t>
            </a:r>
            <a:r>
              <a:rPr lang="en-US" altLang="zh-CN" b="1" dirty="0">
                <a:latin typeface="微软雅黑" pitchFamily="34" charset="-122"/>
                <a:ea typeface="微软雅黑" pitchFamily="34" charset="-122"/>
              </a:rPr>
              <a:t>MPLS </a:t>
            </a:r>
            <a:r>
              <a:rPr lang="zh-CN" altLang="en-US" b="1" dirty="0">
                <a:latin typeface="微软雅黑" pitchFamily="34" charset="-122"/>
                <a:ea typeface="微软雅黑" pitchFamily="34" charset="-122"/>
              </a:rPr>
              <a:t>域的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数据报打上标签（实际上是插入一个 </a:t>
            </a:r>
            <a:r>
              <a:rPr lang="en-US" altLang="zh-CN" b="1" dirty="0">
                <a:latin typeface="微软雅黑" pitchFamily="34" charset="-122"/>
                <a:ea typeface="微软雅黑" pitchFamily="34" charset="-122"/>
              </a:rPr>
              <a:t>MPLS </a:t>
            </a:r>
            <a:r>
              <a:rPr lang="zh-CN" altLang="en-US" b="1" dirty="0">
                <a:latin typeface="微软雅黑" pitchFamily="34" charset="-122"/>
                <a:ea typeface="微软雅黑" pitchFamily="34" charset="-122"/>
              </a:rPr>
              <a:t>首部），并按照转发表把它转发给下一个 </a:t>
            </a:r>
            <a:r>
              <a:rPr lang="en-US" altLang="zh-CN" b="1" dirty="0">
                <a:latin typeface="微软雅黑" pitchFamily="34" charset="-122"/>
                <a:ea typeface="微软雅黑" pitchFamily="34" charset="-122"/>
              </a:rPr>
              <a:t>LSR</a:t>
            </a:r>
            <a:r>
              <a:rPr lang="zh-CN" altLang="en-US" b="1" dirty="0">
                <a:latin typeface="微软雅黑" pitchFamily="34" charset="-122"/>
                <a:ea typeface="微软雅黑" pitchFamily="34" charset="-122"/>
              </a:rPr>
              <a:t>。以后的所有 </a:t>
            </a:r>
            <a:r>
              <a:rPr lang="en-US" altLang="zh-CN" b="1" dirty="0">
                <a:latin typeface="微软雅黑" pitchFamily="34" charset="-122"/>
                <a:ea typeface="微软雅黑" pitchFamily="34" charset="-122"/>
              </a:rPr>
              <a:t>LSR </a:t>
            </a:r>
            <a:r>
              <a:rPr lang="zh-CN" altLang="en-US" b="1" dirty="0">
                <a:latin typeface="微软雅黑" pitchFamily="34" charset="-122"/>
                <a:ea typeface="微软雅黑" pitchFamily="34" charset="-122"/>
              </a:rPr>
              <a:t>都按照标签进行转发。</a:t>
            </a:r>
            <a:endParaRPr lang="en-US" altLang="zh-CN" b="1" dirty="0">
              <a:latin typeface="微软雅黑" pitchFamily="34" charset="-122"/>
              <a:ea typeface="微软雅黑" pitchFamily="34" charset="-122"/>
            </a:endParaRPr>
          </a:p>
          <a:p>
            <a:pPr marL="742950" lvl="1" indent="-285750">
              <a:lnSpc>
                <a:spcPts val="2800"/>
              </a:lnSpc>
              <a:buClr>
                <a:srgbClr val="990099"/>
              </a:buClr>
              <a:buSzPct val="85000"/>
              <a:buFont typeface="Wingdings" panose="05000000000000000000" pitchFamily="2" charset="2"/>
              <a:buChar char="u"/>
            </a:pPr>
            <a:r>
              <a:rPr lang="zh-CN" altLang="en-US" b="1" dirty="0">
                <a:latin typeface="微软雅黑" pitchFamily="34" charset="-122"/>
                <a:ea typeface="微软雅黑" pitchFamily="34" charset="-122"/>
              </a:rPr>
              <a:t>给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数据报打标签的过程叫做</a:t>
            </a:r>
            <a:r>
              <a:rPr lang="zh-CN" altLang="en-US" b="1" dirty="0">
                <a:solidFill>
                  <a:srgbClr val="C00000"/>
                </a:solidFill>
                <a:latin typeface="微软雅黑" pitchFamily="34" charset="-122"/>
                <a:ea typeface="微软雅黑" pitchFamily="34" charset="-122"/>
              </a:rPr>
              <a:t>分类</a:t>
            </a:r>
            <a:r>
              <a:rPr lang="zh-CN" altLang="en-US" b="1" dirty="0">
                <a:latin typeface="微软雅黑" pitchFamily="34" charset="-122"/>
                <a:ea typeface="微软雅黑" pitchFamily="34" charset="-122"/>
              </a:rPr>
              <a:t> </a:t>
            </a:r>
            <a:r>
              <a:rPr lang="en-US" altLang="zh-CN" b="1" dirty="0">
                <a:latin typeface="微软雅黑" pitchFamily="34" charset="-122"/>
                <a:ea typeface="微软雅黑" pitchFamily="34" charset="-122"/>
              </a:rPr>
              <a:t>(classification)</a:t>
            </a:r>
            <a:r>
              <a:rPr lang="zh-CN" altLang="en-US" b="1" dirty="0">
                <a:latin typeface="微软雅黑" pitchFamily="34" charset="-122"/>
                <a:ea typeface="微软雅黑" pitchFamily="34" charset="-122"/>
              </a:rPr>
              <a:t>。</a:t>
            </a:r>
          </a:p>
        </p:txBody>
      </p:sp>
    </p:spTree>
    <p:extLst>
      <p:ext uri="{BB962C8B-B14F-4D97-AF65-F5344CB8AC3E}">
        <p14:creationId xmlns:p14="http://schemas.microsoft.com/office/powerpoint/2010/main" val="291023033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15972"/>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57204"/>
            <a:ext cx="2784737" cy="400110"/>
          </a:xfrm>
          <a:prstGeom prst="rect">
            <a:avLst/>
          </a:prstGeom>
        </p:spPr>
        <p:txBody>
          <a:bodyPr wrap="none">
            <a:spAutoFit/>
          </a:bodyPr>
          <a:lstStyle/>
          <a:p>
            <a:r>
              <a:rPr lang="en-US" altLang="zh-CN" sz="2000" b="1" dirty="0">
                <a:latin typeface="微软雅黑" pitchFamily="34" charset="-122"/>
                <a:ea typeface="微软雅黑" pitchFamily="34" charset="-122"/>
              </a:rPr>
              <a:t>MPLS </a:t>
            </a:r>
            <a:r>
              <a:rPr lang="zh-CN" altLang="en-US" sz="2000" b="1" dirty="0">
                <a:latin typeface="微软雅黑" pitchFamily="34" charset="-122"/>
                <a:ea typeface="微软雅黑" pitchFamily="34" charset="-122"/>
              </a:rPr>
              <a:t>的基本工作过程</a:t>
            </a:r>
          </a:p>
        </p:txBody>
      </p:sp>
      <p:sp>
        <p:nvSpPr>
          <p:cNvPr id="4" name="矩形 3"/>
          <p:cNvSpPr/>
          <p:nvPr/>
        </p:nvSpPr>
        <p:spPr>
          <a:xfrm>
            <a:off x="545144" y="930643"/>
            <a:ext cx="8481161" cy="1528624"/>
          </a:xfrm>
          <a:prstGeom prst="rect">
            <a:avLst/>
          </a:prstGeom>
        </p:spPr>
        <p:txBody>
          <a:bodyPr wrap="square">
            <a:spAutoFit/>
          </a:bodyPr>
          <a:lstStyle/>
          <a:p>
            <a:pPr marL="457200" indent="-457200">
              <a:lnSpc>
                <a:spcPts val="2800"/>
              </a:lnSpc>
              <a:buClr>
                <a:schemeClr val="tx1"/>
              </a:buClr>
              <a:buFont typeface="+mj-lt"/>
              <a:buAutoNum type="arabicPeriod" startAt="3"/>
            </a:pPr>
            <a:r>
              <a:rPr lang="zh-CN" altLang="en-US" sz="2000" b="1" dirty="0">
                <a:solidFill>
                  <a:srgbClr val="0000FF"/>
                </a:solidFill>
                <a:latin typeface="微软雅黑" pitchFamily="34" charset="-122"/>
                <a:ea typeface="微软雅黑" pitchFamily="34" charset="-122"/>
              </a:rPr>
              <a:t>标签对换。</a:t>
            </a:r>
            <a:endParaRPr lang="en-US" altLang="zh-CN" sz="2000" b="1" dirty="0">
              <a:solidFill>
                <a:srgbClr val="0000FF"/>
              </a:solidFill>
              <a:latin typeface="微软雅黑" pitchFamily="34" charset="-122"/>
              <a:ea typeface="微软雅黑" pitchFamily="34" charset="-122"/>
            </a:endParaRPr>
          </a:p>
          <a:p>
            <a:pPr marL="742950" lvl="1" indent="-285750">
              <a:lnSpc>
                <a:spcPts val="2800"/>
              </a:lnSpc>
              <a:buClr>
                <a:srgbClr val="990099"/>
              </a:buClr>
              <a:buSzPct val="85000"/>
              <a:buFont typeface="Wingdings" panose="05000000000000000000" pitchFamily="2" charset="2"/>
              <a:buChar char="u"/>
            </a:pPr>
            <a:r>
              <a:rPr lang="zh-CN" altLang="en-US" b="1" dirty="0">
                <a:latin typeface="微软雅黑" pitchFamily="34" charset="-122"/>
                <a:ea typeface="微软雅黑" pitchFamily="34" charset="-122"/>
              </a:rPr>
              <a:t>一个标签仅在两个 </a:t>
            </a:r>
            <a:r>
              <a:rPr lang="en-US" altLang="zh-CN" b="1" dirty="0">
                <a:latin typeface="微软雅黑" pitchFamily="34" charset="-122"/>
                <a:ea typeface="微软雅黑" pitchFamily="34" charset="-122"/>
              </a:rPr>
              <a:t>LSR </a:t>
            </a:r>
            <a:r>
              <a:rPr lang="zh-CN" altLang="en-US" b="1" dirty="0">
                <a:latin typeface="微软雅黑" pitchFamily="34" charset="-122"/>
                <a:ea typeface="微软雅黑" pitchFamily="34" charset="-122"/>
              </a:rPr>
              <a:t>之间才有意义。</a:t>
            </a:r>
            <a:endParaRPr lang="en-US" altLang="zh-CN" b="1" dirty="0">
              <a:latin typeface="微软雅黑" pitchFamily="34" charset="-122"/>
              <a:ea typeface="微软雅黑" pitchFamily="34" charset="-122"/>
            </a:endParaRPr>
          </a:p>
          <a:p>
            <a:pPr marL="742950" lvl="1" indent="-285750">
              <a:lnSpc>
                <a:spcPts val="2800"/>
              </a:lnSpc>
              <a:buClr>
                <a:srgbClr val="990099"/>
              </a:buClr>
              <a:buSzPct val="85000"/>
              <a:buFont typeface="Wingdings" panose="05000000000000000000" pitchFamily="2" charset="2"/>
              <a:buChar char="u"/>
            </a:pPr>
            <a:r>
              <a:rPr lang="en-US" altLang="zh-CN" b="1" dirty="0">
                <a:latin typeface="微软雅黑" pitchFamily="34" charset="-122"/>
                <a:ea typeface="微软雅黑" pitchFamily="34" charset="-122"/>
              </a:rPr>
              <a:t>LSR </a:t>
            </a:r>
            <a:r>
              <a:rPr lang="zh-CN" altLang="en-US" b="1" dirty="0">
                <a:latin typeface="微软雅黑" pitchFamily="34" charset="-122"/>
                <a:ea typeface="微软雅黑" pitchFamily="34" charset="-122"/>
              </a:rPr>
              <a:t>要做</a:t>
            </a:r>
            <a:r>
              <a:rPr lang="zh-CN" altLang="en-US" b="1" dirty="0">
                <a:solidFill>
                  <a:srgbClr val="C00000"/>
                </a:solidFill>
                <a:latin typeface="微软雅黑" pitchFamily="34" charset="-122"/>
                <a:ea typeface="微软雅黑" pitchFamily="34" charset="-122"/>
              </a:rPr>
              <a:t>两件事：</a:t>
            </a:r>
            <a:r>
              <a:rPr lang="zh-CN" altLang="en-US" b="1" dirty="0">
                <a:latin typeface="微软雅黑" pitchFamily="34" charset="-122"/>
                <a:ea typeface="微软雅黑" pitchFamily="34" charset="-122"/>
              </a:rPr>
              <a:t>转发，更新标记。</a:t>
            </a:r>
            <a:endParaRPr lang="en-US" altLang="zh-CN" b="1" dirty="0">
              <a:latin typeface="微软雅黑" pitchFamily="34" charset="-122"/>
              <a:ea typeface="微软雅黑" pitchFamily="34" charset="-122"/>
            </a:endParaRPr>
          </a:p>
          <a:p>
            <a:pPr marL="742950" lvl="1" indent="-285750">
              <a:lnSpc>
                <a:spcPts val="2800"/>
              </a:lnSpc>
              <a:buClr>
                <a:srgbClr val="990099"/>
              </a:buClr>
              <a:buSzPct val="85000"/>
              <a:buFont typeface="Wingdings" panose="05000000000000000000" pitchFamily="2" charset="2"/>
              <a:buChar char="u"/>
            </a:pPr>
            <a:r>
              <a:rPr lang="zh-CN" altLang="en-US" b="1" dirty="0">
                <a:latin typeface="微软雅黑" pitchFamily="34" charset="-122"/>
                <a:ea typeface="微软雅黑" pitchFamily="34" charset="-122"/>
              </a:rPr>
              <a:t>更新标记：把入标记更换成为出标记。称之为</a:t>
            </a:r>
            <a:r>
              <a:rPr lang="zh-CN" altLang="en-US" b="1" dirty="0">
                <a:solidFill>
                  <a:srgbClr val="C00000"/>
                </a:solidFill>
                <a:latin typeface="微软雅黑" pitchFamily="34" charset="-122"/>
                <a:ea typeface="微软雅黑" pitchFamily="34" charset="-122"/>
              </a:rPr>
              <a:t>标签对换 </a:t>
            </a:r>
            <a:r>
              <a:rPr lang="en-US" altLang="zh-CN" b="1" dirty="0">
                <a:latin typeface="微软雅黑" pitchFamily="34" charset="-122"/>
                <a:ea typeface="微软雅黑" pitchFamily="34" charset="-122"/>
              </a:rPr>
              <a:t>(label swapping)</a:t>
            </a:r>
            <a:r>
              <a:rPr lang="zh-CN" altLang="en-US" b="1" dirty="0">
                <a:latin typeface="微软雅黑" pitchFamily="34" charset="-122"/>
                <a:ea typeface="微软雅黑" pitchFamily="34" charset="-122"/>
              </a:rPr>
              <a:t>。</a:t>
            </a:r>
          </a:p>
        </p:txBody>
      </p:sp>
      <p:graphicFrame>
        <p:nvGraphicFramePr>
          <p:cNvPr id="5" name="表格 4"/>
          <p:cNvGraphicFramePr>
            <a:graphicFrameLocks noGrp="1"/>
          </p:cNvGraphicFramePr>
          <p:nvPr>
            <p:extLst>
              <p:ext uri="{D42A27DB-BD31-4B8C-83A1-F6EECF244321}">
                <p14:modId xmlns:p14="http://schemas.microsoft.com/office/powerpoint/2010/main" val="2531977614"/>
              </p:ext>
            </p:extLst>
          </p:nvPr>
        </p:nvGraphicFramePr>
        <p:xfrm>
          <a:off x="1182444" y="2781006"/>
          <a:ext cx="6812748" cy="583588"/>
        </p:xfrm>
        <a:graphic>
          <a:graphicData uri="http://schemas.openxmlformats.org/drawingml/2006/table">
            <a:tbl>
              <a:tblPr firstRow="1" firstCol="1" lastRow="1" lastCol="1" bandRow="1" bandCol="1">
                <a:tableStyleId>{5C22544A-7EE6-4342-B048-85BDC9FD1C3A}</a:tableStyleId>
              </a:tblPr>
              <a:tblGrid>
                <a:gridCol w="1703187">
                  <a:extLst>
                    <a:ext uri="{9D8B030D-6E8A-4147-A177-3AD203B41FA5}">
                      <a16:colId xmlns:a16="http://schemas.microsoft.com/office/drawing/2014/main" val="20000"/>
                    </a:ext>
                  </a:extLst>
                </a:gridCol>
                <a:gridCol w="1703187">
                  <a:extLst>
                    <a:ext uri="{9D8B030D-6E8A-4147-A177-3AD203B41FA5}">
                      <a16:colId xmlns:a16="http://schemas.microsoft.com/office/drawing/2014/main" val="20001"/>
                    </a:ext>
                  </a:extLst>
                </a:gridCol>
                <a:gridCol w="1703187">
                  <a:extLst>
                    <a:ext uri="{9D8B030D-6E8A-4147-A177-3AD203B41FA5}">
                      <a16:colId xmlns:a16="http://schemas.microsoft.com/office/drawing/2014/main" val="20002"/>
                    </a:ext>
                  </a:extLst>
                </a:gridCol>
                <a:gridCol w="1703187">
                  <a:extLst>
                    <a:ext uri="{9D8B030D-6E8A-4147-A177-3AD203B41FA5}">
                      <a16:colId xmlns:a16="http://schemas.microsoft.com/office/drawing/2014/main" val="20003"/>
                    </a:ext>
                  </a:extLst>
                </a:gridCol>
              </a:tblGrid>
              <a:tr h="291794">
                <a:tc>
                  <a:txBody>
                    <a:bodyPr/>
                    <a:lstStyle/>
                    <a:p>
                      <a:pPr algn="ctr">
                        <a:lnSpc>
                          <a:spcPct val="100000"/>
                        </a:lnSpc>
                        <a:spcAft>
                          <a:spcPts val="0"/>
                        </a:spcAft>
                      </a:pPr>
                      <a:r>
                        <a:rPr lang="zh-CN" sz="1600" b="1" dirty="0">
                          <a:solidFill>
                            <a:schemeClr val="tx1"/>
                          </a:solidFill>
                          <a:effectLst/>
                          <a:latin typeface="微软雅黑" pitchFamily="34" charset="-122"/>
                          <a:ea typeface="微软雅黑" pitchFamily="34" charset="-122"/>
                        </a:rPr>
                        <a:t>入接口</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zh-CN" sz="1600" b="1" dirty="0">
                          <a:solidFill>
                            <a:schemeClr val="tx1"/>
                          </a:solidFill>
                          <a:effectLst/>
                          <a:latin typeface="微软雅黑" pitchFamily="34" charset="-122"/>
                          <a:ea typeface="微软雅黑" pitchFamily="34" charset="-122"/>
                        </a:rPr>
                        <a:t>入</a:t>
                      </a:r>
                      <a:r>
                        <a:rPr lang="zh-CN" altLang="en-US" sz="1600" b="1" dirty="0">
                          <a:solidFill>
                            <a:schemeClr val="tx1"/>
                          </a:solidFill>
                          <a:effectLst/>
                          <a:latin typeface="微软雅黑" pitchFamily="34" charset="-122"/>
                          <a:ea typeface="微软雅黑" pitchFamily="34" charset="-122"/>
                        </a:rPr>
                        <a:t>标签</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zh-CN" sz="1600" b="1" dirty="0">
                          <a:solidFill>
                            <a:schemeClr val="tx1"/>
                          </a:solidFill>
                          <a:effectLst/>
                          <a:latin typeface="微软雅黑" pitchFamily="34" charset="-122"/>
                          <a:ea typeface="微软雅黑" pitchFamily="34" charset="-122"/>
                        </a:rPr>
                        <a:t>出接口</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66FFFF"/>
                    </a:solidFill>
                  </a:tcPr>
                </a:tc>
                <a:tc>
                  <a:txBody>
                    <a:bodyPr/>
                    <a:lstStyle/>
                    <a:p>
                      <a:pPr algn="ctr">
                        <a:lnSpc>
                          <a:spcPct val="100000"/>
                        </a:lnSpc>
                        <a:spcAft>
                          <a:spcPts val="0"/>
                        </a:spcAft>
                      </a:pPr>
                      <a:r>
                        <a:rPr lang="zh-CN" sz="1600" b="1" dirty="0">
                          <a:solidFill>
                            <a:schemeClr val="tx1"/>
                          </a:solidFill>
                          <a:effectLst/>
                          <a:latin typeface="微软雅黑" pitchFamily="34" charset="-122"/>
                          <a:ea typeface="微软雅黑" pitchFamily="34" charset="-122"/>
                        </a:rPr>
                        <a:t>出</a:t>
                      </a:r>
                      <a:r>
                        <a:rPr lang="zh-CN" altLang="en-US" sz="1600" b="1" dirty="0">
                          <a:solidFill>
                            <a:schemeClr val="tx1"/>
                          </a:solidFill>
                          <a:effectLst/>
                          <a:latin typeface="微软雅黑" pitchFamily="34" charset="-122"/>
                          <a:ea typeface="微软雅黑" pitchFamily="34" charset="-122"/>
                        </a:rPr>
                        <a:t>标签</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66FFFF"/>
                    </a:solidFill>
                  </a:tcPr>
                </a:tc>
                <a:extLst>
                  <a:ext uri="{0D108BD9-81ED-4DB2-BD59-A6C34878D82A}">
                    <a16:rowId xmlns:a16="http://schemas.microsoft.com/office/drawing/2014/main" val="10000"/>
                  </a:ext>
                </a:extLst>
              </a:tr>
              <a:tr h="291794">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0</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pPr algn="ctr">
                        <a:lnSpc>
                          <a:spcPct val="100000"/>
                        </a:lnSpc>
                        <a:spcAft>
                          <a:spcPts val="0"/>
                        </a:spcAft>
                      </a:pPr>
                      <a:r>
                        <a:rPr lang="en-US" sz="1600" b="1">
                          <a:solidFill>
                            <a:schemeClr val="tx1"/>
                          </a:solidFill>
                          <a:effectLst/>
                          <a:latin typeface="微软雅黑" pitchFamily="34" charset="-122"/>
                          <a:ea typeface="微软雅黑" pitchFamily="34" charset="-122"/>
                        </a:rPr>
                        <a:t>3</a:t>
                      </a:r>
                      <a:endParaRPr lang="zh-CN" sz="16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1</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1</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extLst>
                  <a:ext uri="{0D108BD9-81ED-4DB2-BD59-A6C34878D82A}">
                    <a16:rowId xmlns:a16="http://schemas.microsoft.com/office/drawing/2014/main" val="10001"/>
                  </a:ext>
                </a:extLst>
              </a:tr>
            </a:tbl>
          </a:graphicData>
        </a:graphic>
      </p:graphicFrame>
      <p:sp>
        <p:nvSpPr>
          <p:cNvPr id="6" name="矩形 5"/>
          <p:cNvSpPr/>
          <p:nvPr/>
        </p:nvSpPr>
        <p:spPr>
          <a:xfrm>
            <a:off x="4191950" y="2468762"/>
            <a:ext cx="800219" cy="338554"/>
          </a:xfrm>
          <a:prstGeom prst="rect">
            <a:avLst/>
          </a:prstGeom>
          <a:noFill/>
        </p:spPr>
        <p:txBody>
          <a:bodyPr wrap="none">
            <a:spAutoFit/>
          </a:bodyPr>
          <a:lstStyle/>
          <a:p>
            <a:r>
              <a:rPr lang="zh-CN" altLang="en-US" sz="1600" b="1" dirty="0">
                <a:latin typeface="微软雅黑" pitchFamily="34" charset="-122"/>
                <a:ea typeface="微软雅黑" pitchFamily="34" charset="-122"/>
              </a:rPr>
              <a:t>转发表</a:t>
            </a:r>
          </a:p>
        </p:txBody>
      </p:sp>
      <p:sp>
        <p:nvSpPr>
          <p:cNvPr id="7" name="对角圆角矩形 6"/>
          <p:cNvSpPr/>
          <p:nvPr/>
        </p:nvSpPr>
        <p:spPr>
          <a:xfrm>
            <a:off x="1188924" y="3411281"/>
            <a:ext cx="6806269" cy="897942"/>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矩形 7"/>
          <p:cNvSpPr/>
          <p:nvPr/>
        </p:nvSpPr>
        <p:spPr>
          <a:xfrm>
            <a:off x="1367072" y="3508975"/>
            <a:ext cx="6328373" cy="707886"/>
          </a:xfrm>
          <a:prstGeom prst="rect">
            <a:avLst/>
          </a:prstGeom>
        </p:spPr>
        <p:txBody>
          <a:bodyPr wrap="square">
            <a:spAutoFit/>
          </a:bodyPr>
          <a:lstStyle/>
          <a:p>
            <a:pPr>
              <a:lnSpc>
                <a:spcPts val="2400"/>
              </a:lnSpc>
            </a:pPr>
            <a:r>
              <a:rPr lang="zh-CN" altLang="en-US" sz="1600" b="1" dirty="0">
                <a:solidFill>
                  <a:srgbClr val="FFFF00"/>
                </a:solidFill>
                <a:latin typeface="微软雅黑" pitchFamily="34" charset="-122"/>
                <a:ea typeface="微软雅黑" pitchFamily="34" charset="-122"/>
              </a:rPr>
              <a:t>项目含义：</a:t>
            </a:r>
            <a:r>
              <a:rPr lang="zh-CN" altLang="en-US" sz="1600" b="1" dirty="0">
                <a:solidFill>
                  <a:schemeClr val="bg1"/>
                </a:solidFill>
                <a:latin typeface="微软雅黑" pitchFamily="34" charset="-122"/>
                <a:ea typeface="微软雅黑" pitchFamily="34" charset="-122"/>
              </a:rPr>
              <a:t>从入接口 </a:t>
            </a:r>
            <a:r>
              <a:rPr lang="en-US" altLang="zh-CN" sz="1600" b="1" dirty="0">
                <a:solidFill>
                  <a:schemeClr val="bg1"/>
                </a:solidFill>
                <a:latin typeface="微软雅黑" pitchFamily="34" charset="-122"/>
                <a:ea typeface="微软雅黑" pitchFamily="34" charset="-122"/>
              </a:rPr>
              <a:t>0 </a:t>
            </a:r>
            <a:r>
              <a:rPr lang="zh-CN" altLang="en-US" sz="1600" b="1" dirty="0">
                <a:solidFill>
                  <a:schemeClr val="bg1"/>
                </a:solidFill>
                <a:latin typeface="微软雅黑" pitchFamily="34" charset="-122"/>
                <a:ea typeface="微软雅黑" pitchFamily="34" charset="-122"/>
              </a:rPr>
              <a:t>收到一个入标签为 </a:t>
            </a:r>
            <a:r>
              <a:rPr lang="en-US" altLang="zh-CN" sz="1600" b="1" dirty="0">
                <a:solidFill>
                  <a:schemeClr val="bg1"/>
                </a:solidFill>
                <a:latin typeface="微软雅黑" pitchFamily="34" charset="-122"/>
                <a:ea typeface="微软雅黑" pitchFamily="34" charset="-122"/>
              </a:rPr>
              <a:t>3 </a:t>
            </a:r>
            <a:r>
              <a:rPr lang="zh-CN" altLang="en-US" sz="1600" b="1" dirty="0">
                <a:solidFill>
                  <a:schemeClr val="bg1"/>
                </a:solidFill>
                <a:latin typeface="微软雅黑" pitchFamily="34" charset="-122"/>
                <a:ea typeface="微软雅黑" pitchFamily="34" charset="-122"/>
              </a:rPr>
              <a:t>的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数据报，转发时，应当把该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数据报从出接口 </a:t>
            </a:r>
            <a:r>
              <a:rPr lang="en-US" altLang="zh-CN" sz="1600" b="1" dirty="0">
                <a:solidFill>
                  <a:schemeClr val="bg1"/>
                </a:solidFill>
                <a:latin typeface="微软雅黑" pitchFamily="34" charset="-122"/>
                <a:ea typeface="微软雅黑" pitchFamily="34" charset="-122"/>
              </a:rPr>
              <a:t>1 </a:t>
            </a:r>
            <a:r>
              <a:rPr lang="zh-CN" altLang="en-US" sz="1600" b="1" dirty="0">
                <a:solidFill>
                  <a:schemeClr val="bg1"/>
                </a:solidFill>
                <a:latin typeface="微软雅黑" pitchFamily="34" charset="-122"/>
                <a:ea typeface="微软雅黑" pitchFamily="34" charset="-122"/>
              </a:rPr>
              <a:t>转发出去，同时把标签对换为 </a:t>
            </a:r>
            <a:r>
              <a:rPr lang="en-US" altLang="zh-CN" sz="1600" b="1" dirty="0">
                <a:solidFill>
                  <a:schemeClr val="bg1"/>
                </a:solidFill>
                <a:latin typeface="微软雅黑" pitchFamily="34" charset="-122"/>
                <a:ea typeface="微软雅黑" pitchFamily="34" charset="-122"/>
              </a:rPr>
              <a:t>1</a:t>
            </a:r>
            <a:r>
              <a:rPr lang="zh-CN" altLang="en-US" sz="1600" b="1" dirty="0">
                <a:solidFill>
                  <a:schemeClr val="bg1"/>
                </a:solidFill>
                <a:latin typeface="微软雅黑" pitchFamily="34" charset="-122"/>
                <a:ea typeface="微软雅黑" pitchFamily="34" charset="-122"/>
              </a:rPr>
              <a:t>。</a:t>
            </a:r>
          </a:p>
        </p:txBody>
      </p:sp>
    </p:spTree>
    <p:extLst>
      <p:ext uri="{BB962C8B-B14F-4D97-AF65-F5344CB8AC3E}">
        <p14:creationId xmlns:p14="http://schemas.microsoft.com/office/powerpoint/2010/main" val="197157932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15972"/>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57204"/>
            <a:ext cx="2784737" cy="400110"/>
          </a:xfrm>
          <a:prstGeom prst="rect">
            <a:avLst/>
          </a:prstGeom>
        </p:spPr>
        <p:txBody>
          <a:bodyPr wrap="none">
            <a:spAutoFit/>
          </a:bodyPr>
          <a:lstStyle/>
          <a:p>
            <a:r>
              <a:rPr lang="en-US" altLang="zh-CN" sz="2000" b="1" dirty="0">
                <a:latin typeface="微软雅黑" pitchFamily="34" charset="-122"/>
                <a:ea typeface="微软雅黑" pitchFamily="34" charset="-122"/>
              </a:rPr>
              <a:t>MPLS </a:t>
            </a:r>
            <a:r>
              <a:rPr lang="zh-CN" altLang="en-US" sz="2000" b="1" dirty="0">
                <a:latin typeface="微软雅黑" pitchFamily="34" charset="-122"/>
                <a:ea typeface="微软雅黑" pitchFamily="34" charset="-122"/>
              </a:rPr>
              <a:t>的基本工作过程</a:t>
            </a:r>
          </a:p>
        </p:txBody>
      </p:sp>
      <p:sp>
        <p:nvSpPr>
          <p:cNvPr id="4" name="矩形 3"/>
          <p:cNvSpPr/>
          <p:nvPr/>
        </p:nvSpPr>
        <p:spPr>
          <a:xfrm>
            <a:off x="545145" y="930643"/>
            <a:ext cx="8053712" cy="1528624"/>
          </a:xfrm>
          <a:prstGeom prst="rect">
            <a:avLst/>
          </a:prstGeom>
        </p:spPr>
        <p:txBody>
          <a:bodyPr wrap="square">
            <a:spAutoFit/>
          </a:bodyPr>
          <a:lstStyle/>
          <a:p>
            <a:pPr marL="457200" indent="-457200">
              <a:lnSpc>
                <a:spcPts val="2800"/>
              </a:lnSpc>
              <a:buClr>
                <a:schemeClr val="tx1"/>
              </a:buClr>
              <a:buFont typeface="+mj-lt"/>
              <a:buAutoNum type="arabicPeriod" startAt="4"/>
            </a:pPr>
            <a:r>
              <a:rPr lang="zh-CN" altLang="en-US" sz="2000" b="1" dirty="0">
                <a:solidFill>
                  <a:srgbClr val="0000FF"/>
                </a:solidFill>
                <a:latin typeface="微软雅黑" pitchFamily="34" charset="-122"/>
                <a:ea typeface="微软雅黑" pitchFamily="34" charset="-122"/>
              </a:rPr>
              <a:t>去除标签。</a:t>
            </a:r>
            <a:endParaRPr lang="en-US" altLang="zh-CN" sz="2000" b="1" dirty="0">
              <a:solidFill>
                <a:srgbClr val="0000FF"/>
              </a:solidFill>
              <a:latin typeface="微软雅黑" pitchFamily="34" charset="-122"/>
              <a:ea typeface="微软雅黑" pitchFamily="34" charset="-122"/>
            </a:endParaRPr>
          </a:p>
          <a:p>
            <a:pPr marL="742950" lvl="1" indent="-285750">
              <a:lnSpc>
                <a:spcPts val="2800"/>
              </a:lnSpc>
              <a:buClr>
                <a:srgbClr val="990099"/>
              </a:buClr>
              <a:buSzPct val="85000"/>
              <a:buFont typeface="Wingdings" panose="05000000000000000000" pitchFamily="2" charset="2"/>
              <a:buChar char="u"/>
            </a:pPr>
            <a:r>
              <a:rPr lang="zh-CN" altLang="en-US" b="1" dirty="0">
                <a:latin typeface="微软雅黑" pitchFamily="34" charset="-122"/>
                <a:ea typeface="微软雅黑" pitchFamily="34" charset="-122"/>
              </a:rPr>
              <a:t>当分组离开 </a:t>
            </a:r>
            <a:r>
              <a:rPr lang="en-US" altLang="zh-CN" b="1" dirty="0">
                <a:latin typeface="微软雅黑" pitchFamily="34" charset="-122"/>
                <a:ea typeface="微软雅黑" pitchFamily="34" charset="-122"/>
              </a:rPr>
              <a:t>MPLS </a:t>
            </a:r>
            <a:r>
              <a:rPr lang="zh-CN" altLang="en-US" b="1" dirty="0">
                <a:latin typeface="微软雅黑" pitchFamily="34" charset="-122"/>
                <a:ea typeface="微软雅黑" pitchFamily="34" charset="-122"/>
              </a:rPr>
              <a:t>域时，</a:t>
            </a:r>
            <a:r>
              <a:rPr lang="en-US" altLang="zh-CN" b="1" dirty="0">
                <a:latin typeface="微软雅黑" pitchFamily="34" charset="-122"/>
                <a:ea typeface="微软雅黑" pitchFamily="34" charset="-122"/>
              </a:rPr>
              <a:t>MPLS </a:t>
            </a:r>
            <a:r>
              <a:rPr lang="zh-CN" altLang="en-US" b="1" dirty="0">
                <a:latin typeface="微软雅黑" pitchFamily="34" charset="-122"/>
                <a:ea typeface="微软雅黑" pitchFamily="34" charset="-122"/>
              </a:rPr>
              <a:t>出口节点 </a:t>
            </a:r>
            <a:r>
              <a:rPr lang="en-US" altLang="zh-CN" b="1" dirty="0">
                <a:latin typeface="微软雅黑" pitchFamily="34" charset="-122"/>
                <a:ea typeface="微软雅黑" pitchFamily="34" charset="-122"/>
              </a:rPr>
              <a:t>(egress node) </a:t>
            </a:r>
            <a:r>
              <a:rPr lang="zh-CN" altLang="en-US" b="1" dirty="0">
                <a:latin typeface="微软雅黑" pitchFamily="34" charset="-122"/>
                <a:ea typeface="微软雅黑" pitchFamily="34" charset="-122"/>
              </a:rPr>
              <a:t>把分组的标签去除。</a:t>
            </a:r>
            <a:endParaRPr lang="en-US" altLang="zh-CN" b="1" dirty="0">
              <a:latin typeface="微软雅黑" pitchFamily="34" charset="-122"/>
              <a:ea typeface="微软雅黑" pitchFamily="34" charset="-122"/>
            </a:endParaRPr>
          </a:p>
          <a:p>
            <a:pPr marL="742950" lvl="1" indent="-285750">
              <a:lnSpc>
                <a:spcPts val="2800"/>
              </a:lnSpc>
              <a:buClr>
                <a:srgbClr val="990099"/>
              </a:buClr>
              <a:buSzPct val="85000"/>
              <a:buFont typeface="Wingdings" panose="05000000000000000000" pitchFamily="2" charset="2"/>
              <a:buChar char="u"/>
            </a:pPr>
            <a:r>
              <a:rPr lang="zh-CN" altLang="en-US" b="1" dirty="0">
                <a:latin typeface="微软雅黑" pitchFamily="34" charset="-122"/>
                <a:ea typeface="微软雅黑" pitchFamily="34" charset="-122"/>
              </a:rPr>
              <a:t>把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数据报交付给非 </a:t>
            </a:r>
            <a:r>
              <a:rPr lang="en-US" altLang="zh-CN" b="1" dirty="0">
                <a:latin typeface="微软雅黑" pitchFamily="34" charset="-122"/>
                <a:ea typeface="微软雅黑" pitchFamily="34" charset="-122"/>
              </a:rPr>
              <a:t>MPLS </a:t>
            </a:r>
            <a:r>
              <a:rPr lang="zh-CN" altLang="en-US" b="1" dirty="0">
                <a:latin typeface="微软雅黑" pitchFamily="34" charset="-122"/>
                <a:ea typeface="微软雅黑" pitchFamily="34" charset="-122"/>
              </a:rPr>
              <a:t>的主机或路由器。</a:t>
            </a:r>
            <a:endParaRPr lang="en-US" altLang="zh-CN" b="1" dirty="0">
              <a:latin typeface="微软雅黑" pitchFamily="34" charset="-122"/>
              <a:ea typeface="微软雅黑" pitchFamily="34" charset="-122"/>
            </a:endParaRPr>
          </a:p>
        </p:txBody>
      </p:sp>
      <p:sp>
        <p:nvSpPr>
          <p:cNvPr id="9" name="对角圆角矩形 8"/>
          <p:cNvSpPr/>
          <p:nvPr/>
        </p:nvSpPr>
        <p:spPr>
          <a:xfrm>
            <a:off x="545144" y="2572845"/>
            <a:ext cx="8062525" cy="1627963"/>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矩形 9"/>
          <p:cNvSpPr/>
          <p:nvPr/>
        </p:nvSpPr>
        <p:spPr>
          <a:xfrm>
            <a:off x="810285" y="2706986"/>
            <a:ext cx="7555118" cy="1426031"/>
          </a:xfrm>
          <a:prstGeom prst="rect">
            <a:avLst/>
          </a:prstGeom>
        </p:spPr>
        <p:txBody>
          <a:bodyPr wrap="square">
            <a:spAutoFit/>
          </a:bodyPr>
          <a:lstStyle/>
          <a:p>
            <a:pPr marL="285750" indent="-285750">
              <a:lnSpc>
                <a:spcPts val="2600"/>
              </a:lnSpc>
              <a:buFont typeface="Wingdings" panose="05000000000000000000" pitchFamily="2" charset="2"/>
              <a:buChar char="l"/>
            </a:pPr>
            <a:r>
              <a:rPr lang="zh-CN" altLang="en-US" b="1" dirty="0">
                <a:solidFill>
                  <a:schemeClr val="bg1"/>
                </a:solidFill>
                <a:latin typeface="微软雅黑" pitchFamily="34" charset="-122"/>
                <a:ea typeface="微软雅黑" pitchFamily="34" charset="-122"/>
              </a:rPr>
              <a:t>这种“</a:t>
            </a:r>
            <a:r>
              <a:rPr lang="zh-CN" altLang="en-US" b="1" dirty="0">
                <a:solidFill>
                  <a:srgbClr val="FFFF00"/>
                </a:solidFill>
                <a:latin typeface="微软雅黑" pitchFamily="34" charset="-122"/>
                <a:ea typeface="微软雅黑" pitchFamily="34" charset="-122"/>
              </a:rPr>
              <a:t>由入口 </a:t>
            </a:r>
            <a:r>
              <a:rPr lang="en-US" altLang="zh-CN" b="1" dirty="0">
                <a:solidFill>
                  <a:srgbClr val="FFFF00"/>
                </a:solidFill>
                <a:latin typeface="微软雅黑" pitchFamily="34" charset="-122"/>
                <a:ea typeface="微软雅黑" pitchFamily="34" charset="-122"/>
              </a:rPr>
              <a:t>LSR </a:t>
            </a:r>
            <a:r>
              <a:rPr lang="zh-CN" altLang="en-US" b="1" dirty="0">
                <a:solidFill>
                  <a:srgbClr val="FFFF00"/>
                </a:solidFill>
                <a:latin typeface="微软雅黑" pitchFamily="34" charset="-122"/>
                <a:ea typeface="微软雅黑" pitchFamily="34" charset="-122"/>
              </a:rPr>
              <a:t>确定进入 </a:t>
            </a:r>
            <a:r>
              <a:rPr lang="en-US" altLang="zh-CN" b="1" dirty="0">
                <a:solidFill>
                  <a:srgbClr val="FFFF00"/>
                </a:solidFill>
                <a:latin typeface="微软雅黑" pitchFamily="34" charset="-122"/>
                <a:ea typeface="微软雅黑" pitchFamily="34" charset="-122"/>
              </a:rPr>
              <a:t>MPLS </a:t>
            </a:r>
            <a:r>
              <a:rPr lang="zh-CN" altLang="en-US" b="1" dirty="0">
                <a:solidFill>
                  <a:srgbClr val="FFFF00"/>
                </a:solidFill>
                <a:latin typeface="微软雅黑" pitchFamily="34" charset="-122"/>
                <a:ea typeface="微软雅黑" pitchFamily="34" charset="-122"/>
              </a:rPr>
              <a:t>域以后的转发路径</a:t>
            </a:r>
            <a:r>
              <a:rPr lang="zh-CN" altLang="en-US" b="1" dirty="0">
                <a:solidFill>
                  <a:schemeClr val="bg1"/>
                </a:solidFill>
                <a:latin typeface="微软雅黑" pitchFamily="34" charset="-122"/>
                <a:ea typeface="微软雅黑" pitchFamily="34" charset="-122"/>
              </a:rPr>
              <a:t>”称为</a:t>
            </a:r>
            <a:r>
              <a:rPr lang="zh-CN" altLang="en-US" b="1" dirty="0">
                <a:solidFill>
                  <a:srgbClr val="FFFF00"/>
                </a:solidFill>
                <a:latin typeface="微软雅黑" pitchFamily="34" charset="-122"/>
                <a:ea typeface="微软雅黑" pitchFamily="34" charset="-122"/>
              </a:rPr>
              <a:t>显式路由选择</a:t>
            </a:r>
            <a:r>
              <a:rPr lang="zh-CN" altLang="en-US" b="1" dirty="0">
                <a:solidFill>
                  <a:srgbClr val="000099"/>
                </a:solidFill>
                <a:latin typeface="微软雅黑" pitchFamily="34" charset="-122"/>
                <a:ea typeface="微软雅黑" pitchFamily="34" charset="-122"/>
              </a:rPr>
              <a:t> </a:t>
            </a:r>
            <a:r>
              <a:rPr lang="en-US" altLang="zh-CN" b="1" dirty="0">
                <a:solidFill>
                  <a:schemeClr val="bg1"/>
                </a:solidFill>
                <a:latin typeface="微软雅黑" pitchFamily="34" charset="-122"/>
                <a:ea typeface="微软雅黑" pitchFamily="34" charset="-122"/>
              </a:rPr>
              <a:t>(explicit routing)</a:t>
            </a:r>
          </a:p>
          <a:p>
            <a:pPr marL="285750" indent="-285750">
              <a:lnSpc>
                <a:spcPts val="2600"/>
              </a:lnSpc>
              <a:buFont typeface="Wingdings" panose="05000000000000000000" pitchFamily="2" charset="2"/>
              <a:buChar char="l"/>
            </a:pPr>
            <a:r>
              <a:rPr lang="zh-CN" altLang="en-US" b="1" dirty="0">
                <a:solidFill>
                  <a:schemeClr val="bg1"/>
                </a:solidFill>
                <a:latin typeface="微软雅黑" pitchFamily="34" charset="-122"/>
                <a:ea typeface="微软雅黑" pitchFamily="34" charset="-122"/>
              </a:rPr>
              <a:t>与互联网中通常使用的“</a:t>
            </a:r>
            <a:r>
              <a:rPr lang="zh-CN" altLang="en-US" b="1" dirty="0">
                <a:solidFill>
                  <a:srgbClr val="FFFF00"/>
                </a:solidFill>
                <a:latin typeface="微软雅黑" pitchFamily="34" charset="-122"/>
                <a:ea typeface="微软雅黑" pitchFamily="34" charset="-122"/>
              </a:rPr>
              <a:t>每一个路由器逐跳进行路由选择</a:t>
            </a:r>
            <a:r>
              <a:rPr lang="zh-CN" altLang="en-US" b="1" dirty="0">
                <a:solidFill>
                  <a:schemeClr val="bg1"/>
                </a:solidFill>
                <a:latin typeface="微软雅黑" pitchFamily="34" charset="-122"/>
                <a:ea typeface="微软雅黑" pitchFamily="34" charset="-122"/>
              </a:rPr>
              <a:t>”有着很大的区别。</a:t>
            </a:r>
          </a:p>
        </p:txBody>
      </p:sp>
    </p:spTree>
    <p:extLst>
      <p:ext uri="{BB962C8B-B14F-4D97-AF65-F5344CB8AC3E}">
        <p14:creationId xmlns:p14="http://schemas.microsoft.com/office/powerpoint/2010/main" val="422189469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8"/>
          <p:cNvSpPr>
            <a:spLocks noChangeArrowheads="1"/>
          </p:cNvSpPr>
          <p:nvPr/>
        </p:nvSpPr>
        <p:spPr bwMode="auto">
          <a:xfrm>
            <a:off x="545145" y="978260"/>
            <a:ext cx="8053710" cy="2554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给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数据报打标签的过程叫做</a:t>
            </a:r>
            <a:r>
              <a:rPr lang="zh-CN" altLang="en-US" sz="2000" b="1" dirty="0">
                <a:solidFill>
                  <a:srgbClr val="C00000"/>
                </a:solidFill>
                <a:latin typeface="微软雅黑" pitchFamily="34" charset="-122"/>
                <a:ea typeface="微软雅黑" pitchFamily="34" charset="-122"/>
              </a:rPr>
              <a:t>分类</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(classification)</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625475" lvl="1" indent="-285750">
              <a:lnSpc>
                <a:spcPts val="3200"/>
              </a:lnSpc>
              <a:buClr>
                <a:srgbClr val="990099"/>
              </a:buClr>
              <a:buSzPct val="85000"/>
              <a:buFont typeface="Wingdings" panose="05000000000000000000" pitchFamily="2" charset="2"/>
              <a:buChar char="u"/>
            </a:pPr>
            <a:r>
              <a:rPr lang="zh-CN" altLang="en-US" sz="2000" b="1" dirty="0">
                <a:solidFill>
                  <a:srgbClr val="0000FF"/>
                </a:solidFill>
                <a:latin typeface="微软雅黑" pitchFamily="34" charset="-122"/>
                <a:ea typeface="微软雅黑" pitchFamily="34" charset="-122"/>
              </a:rPr>
              <a:t>第三层（网络层）分类：</a:t>
            </a:r>
            <a:r>
              <a:rPr lang="zh-CN" altLang="en-US" sz="2000" b="1" dirty="0">
                <a:latin typeface="微软雅黑" pitchFamily="34" charset="-122"/>
                <a:ea typeface="微软雅黑" pitchFamily="34" charset="-122"/>
              </a:rPr>
              <a:t>只使用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首部中的</a:t>
            </a:r>
            <a:r>
              <a:rPr lang="zh-CN" altLang="en-US" sz="2000" b="1" dirty="0">
                <a:solidFill>
                  <a:srgbClr val="C00000"/>
                </a:solidFill>
                <a:latin typeface="微软雅黑" pitchFamily="34" charset="-122"/>
                <a:ea typeface="微软雅黑" pitchFamily="34" charset="-122"/>
              </a:rPr>
              <a:t>源</a:t>
            </a:r>
            <a:r>
              <a:rPr lang="zh-CN" altLang="en-US" sz="2000" b="1" dirty="0">
                <a:latin typeface="微软雅黑" pitchFamily="34" charset="-122"/>
                <a:ea typeface="微软雅黑" pitchFamily="34" charset="-122"/>
              </a:rPr>
              <a:t>和</a:t>
            </a:r>
            <a:r>
              <a:rPr lang="zh-CN" altLang="en-US" sz="2000" b="1" dirty="0">
                <a:solidFill>
                  <a:srgbClr val="C00000"/>
                </a:solidFill>
                <a:latin typeface="微软雅黑" pitchFamily="34" charset="-122"/>
                <a:ea typeface="微软雅黑" pitchFamily="34" charset="-122"/>
              </a:rPr>
              <a:t>目的</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地址等。</a:t>
            </a:r>
            <a:endParaRPr lang="en-US" altLang="zh-CN" sz="2000" b="1" dirty="0">
              <a:latin typeface="微软雅黑" pitchFamily="34" charset="-122"/>
              <a:ea typeface="微软雅黑" pitchFamily="34" charset="-122"/>
            </a:endParaRPr>
          </a:p>
          <a:p>
            <a:pPr marL="625475" lvl="1" indent="-285750">
              <a:lnSpc>
                <a:spcPts val="3200"/>
              </a:lnSpc>
              <a:buClr>
                <a:srgbClr val="990099"/>
              </a:buClr>
              <a:buSzPct val="85000"/>
              <a:buFont typeface="Wingdings" panose="05000000000000000000" pitchFamily="2" charset="2"/>
              <a:buChar char="u"/>
            </a:pPr>
            <a:r>
              <a:rPr lang="zh-CN" altLang="en-US" sz="2000" b="1" dirty="0">
                <a:latin typeface="微软雅黑" pitchFamily="34" charset="-122"/>
                <a:ea typeface="微软雅黑" pitchFamily="34" charset="-122"/>
              </a:rPr>
              <a:t>大多数运营商实现了</a:t>
            </a:r>
            <a:r>
              <a:rPr lang="zh-CN" altLang="en-US" sz="2000" b="1" dirty="0">
                <a:solidFill>
                  <a:srgbClr val="0000FF"/>
                </a:solidFill>
                <a:latin typeface="微软雅黑" pitchFamily="34" charset="-122"/>
                <a:ea typeface="微软雅黑" pitchFamily="34" charset="-122"/>
              </a:rPr>
              <a:t>第四层（运输层）分类：</a:t>
            </a:r>
            <a:r>
              <a:rPr lang="zh-CN" altLang="en-US" sz="2000" b="1" dirty="0">
                <a:latin typeface="微软雅黑" pitchFamily="34" charset="-122"/>
                <a:ea typeface="微软雅黑" pitchFamily="34" charset="-122"/>
              </a:rPr>
              <a:t>除了要检查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首部外，运输层还要检查 </a:t>
            </a: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或 </a:t>
            </a:r>
            <a:r>
              <a:rPr lang="en-US" altLang="zh-CN" sz="2000" b="1" dirty="0">
                <a:latin typeface="微软雅黑" pitchFamily="34" charset="-122"/>
                <a:ea typeface="微软雅黑" pitchFamily="34" charset="-122"/>
              </a:rPr>
              <a:t>UDP </a:t>
            </a:r>
            <a:r>
              <a:rPr lang="zh-CN" altLang="en-US" sz="2000" b="1" dirty="0">
                <a:solidFill>
                  <a:srgbClr val="C00000"/>
                </a:solidFill>
                <a:latin typeface="微软雅黑" pitchFamily="34" charset="-122"/>
                <a:ea typeface="微软雅黑" pitchFamily="34" charset="-122"/>
              </a:rPr>
              <a:t>端口号。</a:t>
            </a:r>
            <a:endParaRPr lang="en-US" altLang="zh-CN" sz="2000" b="1" dirty="0">
              <a:solidFill>
                <a:srgbClr val="C00000"/>
              </a:solidFill>
              <a:latin typeface="微软雅黑" pitchFamily="34" charset="-122"/>
              <a:ea typeface="微软雅黑" pitchFamily="34" charset="-122"/>
            </a:endParaRPr>
          </a:p>
          <a:p>
            <a:pPr marL="625475" lvl="1" indent="-285750">
              <a:lnSpc>
                <a:spcPts val="3200"/>
              </a:lnSpc>
              <a:buClr>
                <a:srgbClr val="990099"/>
              </a:buClr>
              <a:buSzPct val="85000"/>
              <a:buFont typeface="Wingdings" panose="05000000000000000000" pitchFamily="2" charset="2"/>
              <a:buChar char="u"/>
            </a:pPr>
            <a:r>
              <a:rPr lang="zh-CN" altLang="en-US" sz="2000" b="1" dirty="0">
                <a:latin typeface="微软雅黑" pitchFamily="34" charset="-122"/>
                <a:ea typeface="微软雅黑" pitchFamily="34" charset="-122"/>
              </a:rPr>
              <a:t>有些运营商则实现了</a:t>
            </a:r>
            <a:r>
              <a:rPr lang="zh-CN" altLang="en-US" sz="2000" b="1" dirty="0">
                <a:solidFill>
                  <a:srgbClr val="0000FF"/>
                </a:solidFill>
                <a:latin typeface="微软雅黑" pitchFamily="34" charset="-122"/>
                <a:ea typeface="微软雅黑" pitchFamily="34" charset="-122"/>
              </a:rPr>
              <a:t>第五层（应用层）分类：</a:t>
            </a:r>
            <a:r>
              <a:rPr lang="zh-CN" altLang="en-US" sz="2000" b="1" dirty="0">
                <a:latin typeface="微软雅黑" pitchFamily="34" charset="-122"/>
                <a:ea typeface="微软雅黑" pitchFamily="34" charset="-122"/>
              </a:rPr>
              <a:t>进一步地检查数据报的内部并考虑其</a:t>
            </a:r>
            <a:r>
              <a:rPr lang="zh-CN" altLang="en-US" sz="2000" b="1" dirty="0">
                <a:solidFill>
                  <a:srgbClr val="C00000"/>
                </a:solidFill>
                <a:latin typeface="微软雅黑" pitchFamily="34" charset="-122"/>
                <a:ea typeface="微软雅黑" pitchFamily="34" charset="-122"/>
              </a:rPr>
              <a:t>有效载荷。</a:t>
            </a:r>
            <a:endParaRPr lang="en-US" altLang="zh-CN" sz="2000" b="1" dirty="0">
              <a:solidFill>
                <a:srgbClr val="C00000"/>
              </a:solidFill>
              <a:latin typeface="微软雅黑" pitchFamily="34" charset="-122"/>
              <a:ea typeface="微软雅黑" pitchFamily="34" charset="-122"/>
            </a:endParaRPr>
          </a:p>
        </p:txBody>
      </p:sp>
      <p:sp>
        <p:nvSpPr>
          <p:cNvPr id="8" name="AutoShape 5"/>
          <p:cNvSpPr>
            <a:spLocks noChangeArrowheads="1"/>
          </p:cNvSpPr>
          <p:nvPr/>
        </p:nvSpPr>
        <p:spPr bwMode="auto">
          <a:xfrm>
            <a:off x="545144" y="61839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9" name="Rectangle 6"/>
          <p:cNvSpPr>
            <a:spLocks noChangeArrowheads="1"/>
          </p:cNvSpPr>
          <p:nvPr/>
        </p:nvSpPr>
        <p:spPr bwMode="auto">
          <a:xfrm>
            <a:off x="1941968" y="58518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转发等价类 </a:t>
            </a:r>
            <a:r>
              <a:rPr lang="en-US" altLang="zh-CN" sz="2000" b="1" dirty="0">
                <a:solidFill>
                  <a:schemeClr val="bg1"/>
                </a:solidFill>
                <a:latin typeface="微软雅黑" pitchFamily="34" charset="-122"/>
                <a:ea typeface="微软雅黑" pitchFamily="34" charset="-122"/>
              </a:rPr>
              <a:t>FEC</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154368670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8"/>
          <p:cNvSpPr>
            <a:spLocks noChangeArrowheads="1"/>
          </p:cNvSpPr>
          <p:nvPr/>
        </p:nvSpPr>
        <p:spPr bwMode="auto">
          <a:xfrm>
            <a:off x="545145" y="978260"/>
            <a:ext cx="8053710" cy="31700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转发等价类 </a:t>
            </a:r>
            <a:r>
              <a:rPr lang="en-US" altLang="zh-CN" sz="2000" b="1" dirty="0">
                <a:solidFill>
                  <a:srgbClr val="C00000"/>
                </a:solidFill>
                <a:latin typeface="微软雅黑" pitchFamily="34" charset="-122"/>
                <a:ea typeface="微软雅黑" pitchFamily="34" charset="-122"/>
              </a:rPr>
              <a:t>FEC</a:t>
            </a:r>
            <a:r>
              <a:rPr lang="zh-CN" altLang="en-US" sz="2000" b="1" dirty="0">
                <a:solidFill>
                  <a:srgbClr val="C00000"/>
                </a:solidFill>
                <a:latin typeface="微软雅黑" pitchFamily="34" charset="-122"/>
                <a:ea typeface="微软雅黑" pitchFamily="34" charset="-122"/>
              </a:rPr>
              <a:t> </a:t>
            </a:r>
            <a:r>
              <a:rPr lang="en-US" altLang="zh-CN" sz="2000" b="1" dirty="0">
                <a:latin typeface="微软雅黑" pitchFamily="34" charset="-122"/>
                <a:ea typeface="微软雅黑" pitchFamily="34" charset="-122"/>
              </a:rPr>
              <a:t>(Forwarding Equivalence Class) </a:t>
            </a:r>
            <a:r>
              <a:rPr lang="zh-CN" altLang="en-US" sz="2000" b="1" dirty="0">
                <a:latin typeface="微软雅黑" pitchFamily="34" charset="-122"/>
                <a:ea typeface="微软雅黑" pitchFamily="34" charset="-122"/>
              </a:rPr>
              <a:t>：</a:t>
            </a:r>
            <a:r>
              <a:rPr lang="zh-CN" altLang="en-US" sz="2000" b="1" dirty="0">
                <a:solidFill>
                  <a:srgbClr val="0000FF"/>
                </a:solidFill>
                <a:latin typeface="微软雅黑" pitchFamily="34" charset="-122"/>
                <a:ea typeface="微软雅黑" pitchFamily="34" charset="-122"/>
              </a:rPr>
              <a:t>路由器按照</a:t>
            </a:r>
            <a:r>
              <a:rPr lang="zh-CN" altLang="en-US" sz="2000" b="1" dirty="0">
                <a:solidFill>
                  <a:srgbClr val="C00000"/>
                </a:solidFill>
                <a:latin typeface="微软雅黑" pitchFamily="34" charset="-122"/>
                <a:ea typeface="微软雅黑" pitchFamily="34" charset="-122"/>
              </a:rPr>
              <a:t>同样方式</a:t>
            </a:r>
            <a:r>
              <a:rPr lang="zh-CN" altLang="en-US" sz="2000" b="1" dirty="0">
                <a:solidFill>
                  <a:srgbClr val="0000FF"/>
                </a:solidFill>
                <a:latin typeface="微软雅黑" pitchFamily="34" charset="-122"/>
                <a:ea typeface="微软雅黑" pitchFamily="34" charset="-122"/>
              </a:rPr>
              <a:t>对待的分组的集合。</a:t>
            </a:r>
            <a:endParaRPr lang="en-US" altLang="zh-CN" sz="2000" b="1" dirty="0">
              <a:solidFill>
                <a:srgbClr val="0000FF"/>
              </a:solidFill>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按照同样方式对待含义：从同样接口转发到同样的下一跳地址，并且具有同样服务类别和同样丢弃优先级等。</a:t>
            </a:r>
            <a:endParaRPr lang="en-US" altLang="zh-CN" sz="2000" b="1" dirty="0">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例如：</a:t>
            </a:r>
            <a:endParaRPr lang="en-US" altLang="zh-CN" sz="2000" b="1" dirty="0">
              <a:latin typeface="微软雅黑" pitchFamily="34" charset="-122"/>
              <a:ea typeface="微软雅黑" pitchFamily="34" charset="-122"/>
            </a:endParaRPr>
          </a:p>
          <a:p>
            <a:pPr marL="625475" lvl="1" indent="-285750">
              <a:lnSpc>
                <a:spcPts val="3000"/>
              </a:lnSpc>
              <a:buClr>
                <a:srgbClr val="990099"/>
              </a:buClr>
              <a:buSzPct val="85000"/>
              <a:buFont typeface="Wingdings" panose="05000000000000000000" pitchFamily="2" charset="2"/>
              <a:buChar char="u"/>
            </a:pPr>
            <a:r>
              <a:rPr lang="en-US" altLang="zh-CN" sz="2000" b="1" dirty="0">
                <a:latin typeface="微软雅黑" pitchFamily="34" charset="-122"/>
                <a:ea typeface="微软雅黑" pitchFamily="34" charset="-122"/>
              </a:rPr>
              <a:t>(1) </a:t>
            </a:r>
            <a:r>
              <a:rPr lang="zh-CN" altLang="en-US" sz="2000" b="1" dirty="0">
                <a:latin typeface="微软雅黑" pitchFamily="34" charset="-122"/>
                <a:ea typeface="微软雅黑" pitchFamily="34" charset="-122"/>
              </a:rPr>
              <a:t>目的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地址与某一个特定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地址的前缀匹配的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a:t>
            </a:r>
          </a:p>
          <a:p>
            <a:pPr marL="625475" lvl="1" indent="-285750">
              <a:lnSpc>
                <a:spcPts val="3000"/>
              </a:lnSpc>
              <a:buClr>
                <a:srgbClr val="990099"/>
              </a:buClr>
              <a:buSzPct val="85000"/>
              <a:buFont typeface="Wingdings" panose="05000000000000000000" pitchFamily="2" charset="2"/>
              <a:buChar char="u"/>
            </a:pPr>
            <a:r>
              <a:rPr lang="en-US" altLang="zh-CN" sz="2000" b="1" dirty="0">
                <a:latin typeface="微软雅黑" pitchFamily="34" charset="-122"/>
                <a:ea typeface="微软雅黑" pitchFamily="34" charset="-122"/>
              </a:rPr>
              <a:t>(2) </a:t>
            </a:r>
            <a:r>
              <a:rPr lang="zh-CN" altLang="en-US" sz="2000" b="1" dirty="0">
                <a:latin typeface="微软雅黑" pitchFamily="34" charset="-122"/>
                <a:ea typeface="微软雅黑" pitchFamily="34" charset="-122"/>
              </a:rPr>
              <a:t>所有源地址与目的地址都相同的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a:t>
            </a:r>
          </a:p>
          <a:p>
            <a:pPr marL="625475" lvl="1" indent="-285750">
              <a:lnSpc>
                <a:spcPts val="3000"/>
              </a:lnSpc>
              <a:buClr>
                <a:srgbClr val="990099"/>
              </a:buClr>
              <a:buSzPct val="85000"/>
              <a:buFont typeface="Wingdings" panose="05000000000000000000" pitchFamily="2" charset="2"/>
              <a:buChar char="u"/>
            </a:pPr>
            <a:r>
              <a:rPr lang="en-US" altLang="zh-CN" sz="2000" b="1" dirty="0">
                <a:latin typeface="微软雅黑" pitchFamily="34" charset="-122"/>
                <a:ea typeface="微软雅黑" pitchFamily="34" charset="-122"/>
              </a:rPr>
              <a:t>(3) </a:t>
            </a:r>
            <a:r>
              <a:rPr lang="zh-CN" altLang="en-US" sz="2000" b="1" dirty="0">
                <a:latin typeface="微软雅黑" pitchFamily="34" charset="-122"/>
                <a:ea typeface="微软雅黑" pitchFamily="34" charset="-122"/>
              </a:rPr>
              <a:t>具有某种服务质量需求的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a:t>
            </a:r>
          </a:p>
        </p:txBody>
      </p:sp>
      <p:sp>
        <p:nvSpPr>
          <p:cNvPr id="8" name="AutoShape 5"/>
          <p:cNvSpPr>
            <a:spLocks noChangeArrowheads="1"/>
          </p:cNvSpPr>
          <p:nvPr/>
        </p:nvSpPr>
        <p:spPr bwMode="auto">
          <a:xfrm>
            <a:off x="545144" y="61839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9" name="Rectangle 6"/>
          <p:cNvSpPr>
            <a:spLocks noChangeArrowheads="1"/>
          </p:cNvSpPr>
          <p:nvPr/>
        </p:nvSpPr>
        <p:spPr bwMode="auto">
          <a:xfrm>
            <a:off x="1941968" y="58518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转发等价类 </a:t>
            </a:r>
            <a:r>
              <a:rPr lang="en-US" altLang="zh-CN" sz="2000" b="1" dirty="0">
                <a:solidFill>
                  <a:schemeClr val="bg1"/>
                </a:solidFill>
                <a:latin typeface="微软雅黑" pitchFamily="34" charset="-122"/>
                <a:ea typeface="微软雅黑" pitchFamily="34" charset="-122"/>
              </a:rPr>
              <a:t>FEC</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402623214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5"/>
          <p:cNvSpPr>
            <a:spLocks noChangeArrowheads="1"/>
          </p:cNvSpPr>
          <p:nvPr/>
        </p:nvSpPr>
        <p:spPr bwMode="auto">
          <a:xfrm>
            <a:off x="545144" y="61839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9" name="Rectangle 6"/>
          <p:cNvSpPr>
            <a:spLocks noChangeArrowheads="1"/>
          </p:cNvSpPr>
          <p:nvPr/>
        </p:nvSpPr>
        <p:spPr bwMode="auto">
          <a:xfrm>
            <a:off x="1941968" y="58518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转发等价类 </a:t>
            </a:r>
            <a:r>
              <a:rPr lang="en-US" altLang="zh-CN" sz="2000" b="1" dirty="0">
                <a:solidFill>
                  <a:schemeClr val="bg1"/>
                </a:solidFill>
                <a:latin typeface="微软雅黑" pitchFamily="34" charset="-122"/>
                <a:ea typeface="微软雅黑" pitchFamily="34" charset="-122"/>
              </a:rPr>
              <a:t>FEC</a:t>
            </a:r>
            <a:endParaRPr lang="zh-CN" altLang="en-US" sz="2000" b="1" dirty="0">
              <a:solidFill>
                <a:schemeClr val="bg1"/>
              </a:solidFill>
              <a:latin typeface="微软雅黑" pitchFamily="34" charset="-122"/>
              <a:ea typeface="微软雅黑" pitchFamily="34" charset="-122"/>
            </a:endParaRPr>
          </a:p>
        </p:txBody>
      </p:sp>
      <p:graphicFrame>
        <p:nvGraphicFramePr>
          <p:cNvPr id="3" name="图示 2"/>
          <p:cNvGraphicFramePr/>
          <p:nvPr>
            <p:extLst>
              <p:ext uri="{D42A27DB-BD31-4B8C-83A1-F6EECF244321}">
                <p14:modId xmlns:p14="http://schemas.microsoft.com/office/powerpoint/2010/main" val="3115186628"/>
              </p:ext>
            </p:extLst>
          </p:nvPr>
        </p:nvGraphicFramePr>
        <p:xfrm>
          <a:off x="-86907" y="1204880"/>
          <a:ext cx="9528858" cy="251609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8009842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956015"/>
            <a:ext cx="8053712" cy="323846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p:cNvSpPr>
            <a:spLocks noChangeArrowheads="1"/>
          </p:cNvSpPr>
          <p:nvPr/>
        </p:nvSpPr>
        <p:spPr bwMode="auto">
          <a:xfrm>
            <a:off x="545144" y="615872"/>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4" y="565896"/>
            <a:ext cx="5213215" cy="400110"/>
          </a:xfrm>
          <a:prstGeom prst="rect">
            <a:avLst/>
          </a:prstGeom>
        </p:spPr>
        <p:txBody>
          <a:bodyPr wrap="square">
            <a:spAutoFit/>
          </a:bodyPr>
          <a:lstStyle/>
          <a:p>
            <a:r>
              <a:rPr lang="en-US" altLang="zh-CN" sz="2000" b="1" dirty="0">
                <a:latin typeface="微软雅黑" pitchFamily="34" charset="-122"/>
                <a:ea typeface="微软雅黑" pitchFamily="34" charset="-122"/>
              </a:rPr>
              <a:t>FEC </a:t>
            </a:r>
            <a:r>
              <a:rPr lang="zh-CN" altLang="en-US" sz="2000" b="1" dirty="0">
                <a:latin typeface="微软雅黑" pitchFamily="34" charset="-122"/>
                <a:ea typeface="微软雅黑" pitchFamily="34" charset="-122"/>
              </a:rPr>
              <a:t>用于负载平衡</a:t>
            </a:r>
          </a:p>
        </p:txBody>
      </p:sp>
      <p:grpSp>
        <p:nvGrpSpPr>
          <p:cNvPr id="5" name="组合 4"/>
          <p:cNvGrpSpPr/>
          <p:nvPr/>
        </p:nvGrpSpPr>
        <p:grpSpPr>
          <a:xfrm>
            <a:off x="2077203" y="1057327"/>
            <a:ext cx="5005539" cy="1400979"/>
            <a:chOff x="844070" y="1216619"/>
            <a:chExt cx="8454080" cy="2366178"/>
          </a:xfrm>
        </p:grpSpPr>
        <p:sp>
          <p:nvSpPr>
            <p:cNvPr id="6" name="Line 3"/>
            <p:cNvSpPr>
              <a:spLocks noChangeShapeType="1"/>
            </p:cNvSpPr>
            <p:nvPr/>
          </p:nvSpPr>
          <p:spPr bwMode="auto">
            <a:xfrm>
              <a:off x="1736750" y="1510305"/>
              <a:ext cx="1061112" cy="547688"/>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 name="Line 4"/>
            <p:cNvSpPr>
              <a:spLocks noChangeShapeType="1"/>
            </p:cNvSpPr>
            <p:nvPr/>
          </p:nvSpPr>
          <p:spPr bwMode="auto">
            <a:xfrm flipV="1">
              <a:off x="1736749" y="2097680"/>
              <a:ext cx="1176338" cy="788988"/>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 name="Line 5"/>
            <p:cNvSpPr>
              <a:spLocks noChangeShapeType="1"/>
            </p:cNvSpPr>
            <p:nvPr/>
          </p:nvSpPr>
          <p:spPr bwMode="auto">
            <a:xfrm flipV="1">
              <a:off x="2976720" y="1523005"/>
              <a:ext cx="2325158" cy="534988"/>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 name="Line 6"/>
            <p:cNvSpPr>
              <a:spLocks noChangeShapeType="1"/>
            </p:cNvSpPr>
            <p:nvPr/>
          </p:nvSpPr>
          <p:spPr bwMode="auto">
            <a:xfrm>
              <a:off x="5367230" y="1510306"/>
              <a:ext cx="1795463" cy="658813"/>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 name="Line 7"/>
            <p:cNvSpPr>
              <a:spLocks noChangeShapeType="1"/>
            </p:cNvSpPr>
            <p:nvPr/>
          </p:nvSpPr>
          <p:spPr bwMode="auto">
            <a:xfrm>
              <a:off x="2887291" y="2057993"/>
              <a:ext cx="1128183" cy="785812"/>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1" name="Line 8"/>
            <p:cNvSpPr>
              <a:spLocks noChangeShapeType="1"/>
            </p:cNvSpPr>
            <p:nvPr/>
          </p:nvSpPr>
          <p:spPr bwMode="auto">
            <a:xfrm flipV="1">
              <a:off x="4125541" y="2843806"/>
              <a:ext cx="2178976" cy="42863"/>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2" name="Line 9"/>
            <p:cNvSpPr>
              <a:spLocks noChangeShapeType="1"/>
            </p:cNvSpPr>
            <p:nvPr/>
          </p:nvSpPr>
          <p:spPr bwMode="auto">
            <a:xfrm flipV="1">
              <a:off x="6519491" y="2169118"/>
              <a:ext cx="727471" cy="627062"/>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 name="Line 10"/>
            <p:cNvSpPr>
              <a:spLocks noChangeShapeType="1"/>
            </p:cNvSpPr>
            <p:nvPr/>
          </p:nvSpPr>
          <p:spPr bwMode="auto">
            <a:xfrm flipV="1">
              <a:off x="7319193" y="1553168"/>
              <a:ext cx="990600" cy="596900"/>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4" name="Line 11"/>
            <p:cNvSpPr>
              <a:spLocks noChangeShapeType="1"/>
            </p:cNvSpPr>
            <p:nvPr/>
          </p:nvSpPr>
          <p:spPr bwMode="auto">
            <a:xfrm>
              <a:off x="7315754" y="2197694"/>
              <a:ext cx="925248" cy="617537"/>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pic>
          <p:nvPicPr>
            <p:cNvPr id="15" name="Picture 1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620723" y="1967505"/>
              <a:ext cx="538295" cy="260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6" name="Picture 1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177252" y="2700930"/>
              <a:ext cx="536575" cy="261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7" name="Picture 1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774703" y="2700930"/>
              <a:ext cx="536575" cy="261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8" name="Picture 1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961477" y="2057993"/>
              <a:ext cx="536575" cy="2587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 name="Picture 1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007793" y="1415055"/>
              <a:ext cx="536575" cy="261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4" name="Freeform 21"/>
            <p:cNvSpPr>
              <a:spLocks/>
            </p:cNvSpPr>
            <p:nvPr/>
          </p:nvSpPr>
          <p:spPr bwMode="auto">
            <a:xfrm>
              <a:off x="3231249" y="1322981"/>
              <a:ext cx="3740546" cy="631825"/>
            </a:xfrm>
            <a:custGeom>
              <a:avLst/>
              <a:gdLst>
                <a:gd name="T0" fmla="*/ 0 w 2028"/>
                <a:gd name="T1" fmla="*/ 252 h 330"/>
                <a:gd name="T2" fmla="*/ 174 w 2028"/>
                <a:gd name="T3" fmla="*/ 210 h 330"/>
                <a:gd name="T4" fmla="*/ 357 w 2028"/>
                <a:gd name="T5" fmla="*/ 164 h 330"/>
                <a:gd name="T6" fmla="*/ 634 w 2028"/>
                <a:gd name="T7" fmla="*/ 97 h 330"/>
                <a:gd name="T8" fmla="*/ 1098 w 2028"/>
                <a:gd name="T9" fmla="*/ 6 h 330"/>
                <a:gd name="T10" fmla="*/ 1374 w 2028"/>
                <a:gd name="T11" fmla="*/ 60 h 330"/>
                <a:gd name="T12" fmla="*/ 1531 w 2028"/>
                <a:gd name="T13" fmla="*/ 119 h 330"/>
                <a:gd name="T14" fmla="*/ 1746 w 2028"/>
                <a:gd name="T15" fmla="*/ 210 h 330"/>
                <a:gd name="T16" fmla="*/ 2028 w 2028"/>
                <a:gd name="T17" fmla="*/ 33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28" h="330">
                  <a:moveTo>
                    <a:pt x="0" y="252"/>
                  </a:moveTo>
                  <a:cubicBezTo>
                    <a:pt x="28" y="245"/>
                    <a:pt x="115" y="225"/>
                    <a:pt x="174" y="210"/>
                  </a:cubicBezTo>
                  <a:cubicBezTo>
                    <a:pt x="233" y="195"/>
                    <a:pt x="280" y="183"/>
                    <a:pt x="357" y="164"/>
                  </a:cubicBezTo>
                  <a:cubicBezTo>
                    <a:pt x="434" y="145"/>
                    <a:pt x="511" y="123"/>
                    <a:pt x="634" y="97"/>
                  </a:cubicBezTo>
                  <a:cubicBezTo>
                    <a:pt x="757" y="71"/>
                    <a:pt x="975" y="12"/>
                    <a:pt x="1098" y="6"/>
                  </a:cubicBezTo>
                  <a:cubicBezTo>
                    <a:pt x="1221" y="0"/>
                    <a:pt x="1302" y="41"/>
                    <a:pt x="1374" y="60"/>
                  </a:cubicBezTo>
                  <a:cubicBezTo>
                    <a:pt x="1446" y="79"/>
                    <a:pt x="1469" y="94"/>
                    <a:pt x="1531" y="119"/>
                  </a:cubicBezTo>
                  <a:cubicBezTo>
                    <a:pt x="1593" y="144"/>
                    <a:pt x="1663" y="175"/>
                    <a:pt x="1746" y="210"/>
                  </a:cubicBezTo>
                  <a:cubicBezTo>
                    <a:pt x="1829" y="245"/>
                    <a:pt x="1969" y="305"/>
                    <a:pt x="2028" y="330"/>
                  </a:cubicBezTo>
                </a:path>
              </a:pathLst>
            </a:custGeom>
            <a:noFill/>
            <a:ln w="57150" cmpd="sng">
              <a:solidFill>
                <a:srgbClr val="0000FF"/>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5" name="Line 22"/>
            <p:cNvSpPr>
              <a:spLocks noChangeShapeType="1"/>
            </p:cNvSpPr>
            <p:nvPr/>
          </p:nvSpPr>
          <p:spPr bwMode="auto">
            <a:xfrm>
              <a:off x="2089307" y="1510305"/>
              <a:ext cx="687917" cy="376238"/>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6" name="Line 23"/>
            <p:cNvSpPr>
              <a:spLocks noChangeShapeType="1"/>
            </p:cNvSpPr>
            <p:nvPr/>
          </p:nvSpPr>
          <p:spPr bwMode="auto">
            <a:xfrm>
              <a:off x="7293397" y="2381843"/>
              <a:ext cx="665559" cy="457200"/>
            </a:xfrm>
            <a:prstGeom prst="line">
              <a:avLst/>
            </a:prstGeom>
            <a:noFill/>
            <a:ln w="3810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7" name="Line 24"/>
            <p:cNvSpPr>
              <a:spLocks noChangeShapeType="1"/>
            </p:cNvSpPr>
            <p:nvPr/>
          </p:nvSpPr>
          <p:spPr bwMode="auto">
            <a:xfrm flipV="1">
              <a:off x="2022235" y="2150069"/>
              <a:ext cx="498740" cy="331787"/>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8" name="Line 25"/>
            <p:cNvSpPr>
              <a:spLocks noChangeShapeType="1"/>
            </p:cNvSpPr>
            <p:nvPr/>
          </p:nvSpPr>
          <p:spPr bwMode="auto">
            <a:xfrm flipV="1">
              <a:off x="7319193" y="1576981"/>
              <a:ext cx="675879" cy="390525"/>
            </a:xfrm>
            <a:prstGeom prst="line">
              <a:avLst/>
            </a:prstGeom>
            <a:noFill/>
            <a:ln w="3810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9" name="Text Box 26"/>
            <p:cNvSpPr txBox="1">
              <a:spLocks noChangeArrowheads="1"/>
            </p:cNvSpPr>
            <p:nvPr/>
          </p:nvSpPr>
          <p:spPr bwMode="auto">
            <a:xfrm>
              <a:off x="6894404" y="1534119"/>
              <a:ext cx="514946" cy="519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C</a:t>
              </a:r>
            </a:p>
          </p:txBody>
        </p:sp>
        <p:sp>
          <p:nvSpPr>
            <p:cNvPr id="30" name="Text Box 27"/>
            <p:cNvSpPr txBox="1">
              <a:spLocks noChangeArrowheads="1"/>
            </p:cNvSpPr>
            <p:nvPr/>
          </p:nvSpPr>
          <p:spPr bwMode="auto">
            <a:xfrm>
              <a:off x="5021552" y="1622189"/>
              <a:ext cx="520361" cy="519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99"/>
                  </a:solidFill>
                  <a:latin typeface="微软雅黑" pitchFamily="34" charset="-122"/>
                  <a:ea typeface="微软雅黑" pitchFamily="34" charset="-122"/>
                </a:rPr>
                <a:t>B</a:t>
              </a:r>
            </a:p>
          </p:txBody>
        </p:sp>
        <p:sp>
          <p:nvSpPr>
            <p:cNvPr id="31" name="Text Box 28"/>
            <p:cNvSpPr txBox="1">
              <a:spLocks noChangeArrowheads="1"/>
            </p:cNvSpPr>
            <p:nvPr/>
          </p:nvSpPr>
          <p:spPr bwMode="auto">
            <a:xfrm>
              <a:off x="2677476" y="1438869"/>
              <a:ext cx="539311" cy="519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A</a:t>
              </a:r>
            </a:p>
          </p:txBody>
        </p:sp>
        <p:sp>
          <p:nvSpPr>
            <p:cNvPr id="32" name="Text Box 29"/>
            <p:cNvSpPr txBox="1">
              <a:spLocks noChangeArrowheads="1"/>
            </p:cNvSpPr>
            <p:nvPr/>
          </p:nvSpPr>
          <p:spPr bwMode="auto">
            <a:xfrm>
              <a:off x="866428" y="1216619"/>
              <a:ext cx="685509" cy="519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99"/>
                  </a:solidFill>
                  <a:latin typeface="微软雅黑" pitchFamily="34" charset="-122"/>
                  <a:ea typeface="微软雅黑" pitchFamily="34" charset="-122"/>
                </a:rPr>
                <a:t>H</a:t>
              </a:r>
              <a:r>
                <a:rPr kumimoji="1" lang="en-US" altLang="zh-CN" sz="1400" b="1" baseline="-25000" dirty="0">
                  <a:solidFill>
                    <a:srgbClr val="000099"/>
                  </a:solidFill>
                  <a:latin typeface="微软雅黑" pitchFamily="34" charset="-122"/>
                  <a:ea typeface="微软雅黑" pitchFamily="34" charset="-122"/>
                </a:rPr>
                <a:t>1</a:t>
              </a:r>
            </a:p>
          </p:txBody>
        </p:sp>
        <p:sp>
          <p:nvSpPr>
            <p:cNvPr id="33" name="Text Box 30"/>
            <p:cNvSpPr txBox="1">
              <a:spLocks noChangeArrowheads="1"/>
            </p:cNvSpPr>
            <p:nvPr/>
          </p:nvSpPr>
          <p:spPr bwMode="auto">
            <a:xfrm>
              <a:off x="6209929" y="2283418"/>
              <a:ext cx="485163" cy="519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E</a:t>
              </a:r>
            </a:p>
          </p:txBody>
        </p:sp>
        <p:sp>
          <p:nvSpPr>
            <p:cNvPr id="34" name="Text Box 31"/>
            <p:cNvSpPr txBox="1">
              <a:spLocks noChangeArrowheads="1"/>
            </p:cNvSpPr>
            <p:nvPr/>
          </p:nvSpPr>
          <p:spPr bwMode="auto">
            <a:xfrm>
              <a:off x="3760945" y="2204044"/>
              <a:ext cx="552849" cy="519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D</a:t>
              </a:r>
            </a:p>
          </p:txBody>
        </p:sp>
        <p:sp>
          <p:nvSpPr>
            <p:cNvPr id="35" name="Text Box 32"/>
            <p:cNvSpPr txBox="1">
              <a:spLocks noChangeArrowheads="1"/>
            </p:cNvSpPr>
            <p:nvPr/>
          </p:nvSpPr>
          <p:spPr bwMode="auto">
            <a:xfrm>
              <a:off x="844070" y="2375494"/>
              <a:ext cx="685509" cy="519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H</a:t>
              </a:r>
              <a:r>
                <a:rPr kumimoji="1" lang="en-US" altLang="zh-CN" sz="1400" b="1" baseline="-25000">
                  <a:solidFill>
                    <a:srgbClr val="000099"/>
                  </a:solidFill>
                  <a:latin typeface="微软雅黑" pitchFamily="34" charset="-122"/>
                  <a:ea typeface="微软雅黑" pitchFamily="34" charset="-122"/>
                </a:rPr>
                <a:t>2</a:t>
              </a:r>
            </a:p>
          </p:txBody>
        </p:sp>
        <p:sp>
          <p:nvSpPr>
            <p:cNvPr id="36" name="Text Box 33"/>
            <p:cNvSpPr txBox="1">
              <a:spLocks noChangeArrowheads="1"/>
            </p:cNvSpPr>
            <p:nvPr/>
          </p:nvSpPr>
          <p:spPr bwMode="auto">
            <a:xfrm>
              <a:off x="8612641" y="1256306"/>
              <a:ext cx="685509" cy="519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99"/>
                  </a:solidFill>
                  <a:latin typeface="微软雅黑" pitchFamily="34" charset="-122"/>
                  <a:ea typeface="微软雅黑" pitchFamily="34" charset="-122"/>
                </a:rPr>
                <a:t>H</a:t>
              </a:r>
              <a:r>
                <a:rPr kumimoji="1" lang="en-US" altLang="zh-CN" sz="1400" b="1" baseline="-25000" dirty="0">
                  <a:solidFill>
                    <a:srgbClr val="000099"/>
                  </a:solidFill>
                  <a:latin typeface="微软雅黑" pitchFamily="34" charset="-122"/>
                  <a:ea typeface="微软雅黑" pitchFamily="34" charset="-122"/>
                </a:rPr>
                <a:t>3</a:t>
              </a:r>
            </a:p>
          </p:txBody>
        </p:sp>
        <p:sp>
          <p:nvSpPr>
            <p:cNvPr id="37" name="Text Box 34"/>
            <p:cNvSpPr txBox="1">
              <a:spLocks noChangeArrowheads="1"/>
            </p:cNvSpPr>
            <p:nvPr/>
          </p:nvSpPr>
          <p:spPr bwMode="auto">
            <a:xfrm>
              <a:off x="8579965" y="2461219"/>
              <a:ext cx="685509" cy="519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99"/>
                  </a:solidFill>
                  <a:latin typeface="微软雅黑" pitchFamily="34" charset="-122"/>
                  <a:ea typeface="微软雅黑" pitchFamily="34" charset="-122"/>
                </a:rPr>
                <a:t>H</a:t>
              </a:r>
              <a:r>
                <a:rPr kumimoji="1" lang="en-US" altLang="zh-CN" sz="1400" b="1" baseline="-25000" dirty="0">
                  <a:solidFill>
                    <a:srgbClr val="000099"/>
                  </a:solidFill>
                  <a:latin typeface="微软雅黑" pitchFamily="34" charset="-122"/>
                  <a:ea typeface="微软雅黑" pitchFamily="34" charset="-122"/>
                </a:rPr>
                <a:t>4</a:t>
              </a:r>
            </a:p>
          </p:txBody>
        </p:sp>
        <p:sp>
          <p:nvSpPr>
            <p:cNvPr id="38" name="Text Box 35"/>
            <p:cNvSpPr txBox="1">
              <a:spLocks noChangeArrowheads="1"/>
            </p:cNvSpPr>
            <p:nvPr/>
          </p:nvSpPr>
          <p:spPr bwMode="auto">
            <a:xfrm>
              <a:off x="1683219" y="3062978"/>
              <a:ext cx="6877301" cy="519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(a) </a:t>
              </a:r>
              <a:r>
                <a:rPr kumimoji="1" lang="zh-CN" altLang="en-US" sz="1400" b="1" dirty="0">
                  <a:latin typeface="微软雅黑" pitchFamily="34" charset="-122"/>
                  <a:ea typeface="微软雅黑" pitchFamily="34" charset="-122"/>
                </a:rPr>
                <a:t>传统路由选择协议使最短路径 </a:t>
              </a:r>
              <a:r>
                <a:rPr kumimoji="1" lang="en-US" altLang="zh-CN" sz="1400" b="1" dirty="0">
                  <a:latin typeface="微软雅黑" pitchFamily="34" charset="-122"/>
                  <a:ea typeface="微软雅黑" pitchFamily="34" charset="-122"/>
                </a:rPr>
                <a:t>A→B→C </a:t>
              </a:r>
              <a:r>
                <a:rPr kumimoji="1" lang="zh-CN" altLang="en-US" sz="1400" b="1" dirty="0">
                  <a:latin typeface="微软雅黑" pitchFamily="34" charset="-122"/>
                  <a:ea typeface="微软雅黑" pitchFamily="34" charset="-122"/>
                </a:rPr>
                <a:t>过载 </a:t>
              </a:r>
            </a:p>
          </p:txBody>
        </p:sp>
      </p:grpSp>
      <p:pic>
        <p:nvPicPr>
          <p:cNvPr id="71"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06425" y="1073684"/>
            <a:ext cx="367811" cy="367811"/>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06425" y="1833148"/>
            <a:ext cx="367811" cy="367811"/>
          </a:xfrm>
          <a:prstGeom prst="rect">
            <a:avLst/>
          </a:prstGeom>
          <a:noFill/>
          <a:extLst>
            <a:ext uri="{909E8E84-426E-40DD-AFC4-6F175D3DCCD1}">
              <a14:hiddenFill xmlns:a14="http://schemas.microsoft.com/office/drawing/2010/main">
                <a:solidFill>
                  <a:srgbClr val="FFFFFF"/>
                </a:solidFill>
              </a14:hiddenFill>
            </a:ext>
          </a:extLst>
        </p:spPr>
      </p:pic>
      <p:pic>
        <p:nvPicPr>
          <p:cNvPr id="7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72200" y="1073684"/>
            <a:ext cx="367811" cy="367811"/>
          </a:xfrm>
          <a:prstGeom prst="rect">
            <a:avLst/>
          </a:prstGeom>
          <a:noFill/>
          <a:extLst>
            <a:ext uri="{909E8E84-426E-40DD-AFC4-6F175D3DCCD1}">
              <a14:hiddenFill xmlns:a14="http://schemas.microsoft.com/office/drawing/2010/main">
                <a:solidFill>
                  <a:srgbClr val="FFFFFF"/>
                </a:solidFill>
              </a14:hiddenFill>
            </a:ext>
          </a:extLst>
        </p:spPr>
      </p:pic>
      <p:pic>
        <p:nvPicPr>
          <p:cNvPr id="74"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72200" y="1833148"/>
            <a:ext cx="367811" cy="367811"/>
          </a:xfrm>
          <a:prstGeom prst="rect">
            <a:avLst/>
          </a:prstGeom>
          <a:noFill/>
          <a:extLst>
            <a:ext uri="{909E8E84-426E-40DD-AFC4-6F175D3DCCD1}">
              <a14:hiddenFill xmlns:a14="http://schemas.microsoft.com/office/drawing/2010/main">
                <a:solidFill>
                  <a:srgbClr val="FFFFFF"/>
                </a:solidFill>
              </a14:hiddenFill>
            </a:ext>
          </a:extLst>
        </p:spPr>
      </p:pic>
      <p:grpSp>
        <p:nvGrpSpPr>
          <p:cNvPr id="79" name="组合 78"/>
          <p:cNvGrpSpPr/>
          <p:nvPr/>
        </p:nvGrpSpPr>
        <p:grpSpPr>
          <a:xfrm>
            <a:off x="2073199" y="2513283"/>
            <a:ext cx="5004768" cy="1672143"/>
            <a:chOff x="2073199" y="2603813"/>
            <a:chExt cx="5004768" cy="1672143"/>
          </a:xfrm>
        </p:grpSpPr>
        <p:grpSp>
          <p:nvGrpSpPr>
            <p:cNvPr id="39" name="Group 36"/>
            <p:cNvGrpSpPr>
              <a:grpSpLocks/>
            </p:cNvGrpSpPr>
            <p:nvPr/>
          </p:nvGrpSpPr>
          <p:grpSpPr bwMode="auto">
            <a:xfrm>
              <a:off x="2073199" y="2603813"/>
              <a:ext cx="5004768" cy="1672143"/>
              <a:chOff x="477" y="2240"/>
              <a:chExt cx="4915" cy="1779"/>
            </a:xfrm>
          </p:grpSpPr>
          <p:sp>
            <p:nvSpPr>
              <p:cNvPr id="40" name="Line 37"/>
              <p:cNvSpPr>
                <a:spLocks noChangeShapeType="1"/>
              </p:cNvSpPr>
              <p:nvPr/>
            </p:nvSpPr>
            <p:spPr bwMode="auto">
              <a:xfrm>
                <a:off x="1000" y="2621"/>
                <a:ext cx="617" cy="347"/>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1" name="Line 38"/>
              <p:cNvSpPr>
                <a:spLocks noChangeShapeType="1"/>
              </p:cNvSpPr>
              <p:nvPr/>
            </p:nvSpPr>
            <p:spPr bwMode="auto">
              <a:xfrm flipV="1">
                <a:off x="1000" y="2993"/>
                <a:ext cx="684" cy="49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2" name="Line 39"/>
              <p:cNvSpPr>
                <a:spLocks noChangeShapeType="1"/>
              </p:cNvSpPr>
              <p:nvPr/>
            </p:nvSpPr>
            <p:spPr bwMode="auto">
              <a:xfrm flipV="1">
                <a:off x="1721" y="2630"/>
                <a:ext cx="1352" cy="338"/>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3" name="Line 40"/>
              <p:cNvSpPr>
                <a:spLocks noChangeShapeType="1"/>
              </p:cNvSpPr>
              <p:nvPr/>
            </p:nvSpPr>
            <p:spPr bwMode="auto">
              <a:xfrm>
                <a:off x="3111" y="2621"/>
                <a:ext cx="1044" cy="41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4" name="Line 41"/>
              <p:cNvSpPr>
                <a:spLocks noChangeShapeType="1"/>
              </p:cNvSpPr>
              <p:nvPr/>
            </p:nvSpPr>
            <p:spPr bwMode="auto">
              <a:xfrm>
                <a:off x="1669" y="2968"/>
                <a:ext cx="656" cy="494"/>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5" name="Line 42"/>
              <p:cNvSpPr>
                <a:spLocks noChangeShapeType="1"/>
              </p:cNvSpPr>
              <p:nvPr/>
            </p:nvSpPr>
            <p:spPr bwMode="auto">
              <a:xfrm flipV="1">
                <a:off x="2389" y="3478"/>
                <a:ext cx="1339" cy="10"/>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6" name="Line 43"/>
              <p:cNvSpPr>
                <a:spLocks noChangeShapeType="1"/>
              </p:cNvSpPr>
              <p:nvPr/>
            </p:nvSpPr>
            <p:spPr bwMode="auto">
              <a:xfrm flipV="1">
                <a:off x="3781" y="3036"/>
                <a:ext cx="423" cy="396"/>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7" name="Line 44"/>
              <p:cNvSpPr>
                <a:spLocks noChangeShapeType="1"/>
              </p:cNvSpPr>
              <p:nvPr/>
            </p:nvSpPr>
            <p:spPr bwMode="auto">
              <a:xfrm flipV="1">
                <a:off x="4246" y="2650"/>
                <a:ext cx="576" cy="37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8" name="Line 45"/>
              <p:cNvSpPr>
                <a:spLocks noChangeShapeType="1"/>
              </p:cNvSpPr>
              <p:nvPr/>
            </p:nvSpPr>
            <p:spPr bwMode="auto">
              <a:xfrm>
                <a:off x="4244" y="3056"/>
                <a:ext cx="538" cy="387"/>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53" name="Text Box 50"/>
              <p:cNvSpPr txBox="1">
                <a:spLocks noChangeArrowheads="1"/>
              </p:cNvSpPr>
              <p:nvPr/>
            </p:nvSpPr>
            <p:spPr bwMode="auto">
              <a:xfrm>
                <a:off x="4052" y="2506"/>
                <a:ext cx="29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C</a:t>
                </a:r>
              </a:p>
            </p:txBody>
          </p:sp>
          <p:sp>
            <p:nvSpPr>
              <p:cNvPr id="54" name="Text Box 51"/>
              <p:cNvSpPr txBox="1">
                <a:spLocks noChangeArrowheads="1"/>
              </p:cNvSpPr>
              <p:nvPr/>
            </p:nvSpPr>
            <p:spPr bwMode="auto">
              <a:xfrm>
                <a:off x="2683" y="2240"/>
                <a:ext cx="30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B</a:t>
                </a:r>
              </a:p>
            </p:txBody>
          </p:sp>
          <p:sp>
            <p:nvSpPr>
              <p:cNvPr id="55" name="Text Box 52"/>
              <p:cNvSpPr txBox="1">
                <a:spLocks noChangeArrowheads="1"/>
              </p:cNvSpPr>
              <p:nvPr/>
            </p:nvSpPr>
            <p:spPr bwMode="auto">
              <a:xfrm>
                <a:off x="1518" y="2461"/>
                <a:ext cx="314"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A</a:t>
                </a:r>
              </a:p>
            </p:txBody>
          </p:sp>
          <p:sp>
            <p:nvSpPr>
              <p:cNvPr id="56" name="Text Box 53"/>
              <p:cNvSpPr txBox="1">
                <a:spLocks noChangeArrowheads="1"/>
              </p:cNvSpPr>
              <p:nvPr/>
            </p:nvSpPr>
            <p:spPr bwMode="auto">
              <a:xfrm>
                <a:off x="484" y="2426"/>
                <a:ext cx="39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99"/>
                    </a:solidFill>
                    <a:latin typeface="微软雅黑" pitchFamily="34" charset="-122"/>
                    <a:ea typeface="微软雅黑" pitchFamily="34" charset="-122"/>
                  </a:rPr>
                  <a:t>H</a:t>
                </a:r>
                <a:r>
                  <a:rPr kumimoji="1" lang="en-US" altLang="zh-CN" sz="1400" b="1" baseline="-25000" dirty="0">
                    <a:solidFill>
                      <a:srgbClr val="000099"/>
                    </a:solidFill>
                    <a:latin typeface="微软雅黑" pitchFamily="34" charset="-122"/>
                    <a:ea typeface="微软雅黑" pitchFamily="34" charset="-122"/>
                  </a:rPr>
                  <a:t>1</a:t>
                </a:r>
              </a:p>
            </p:txBody>
          </p:sp>
          <p:sp>
            <p:nvSpPr>
              <p:cNvPr id="57" name="Text Box 54"/>
              <p:cNvSpPr txBox="1">
                <a:spLocks noChangeArrowheads="1"/>
              </p:cNvSpPr>
              <p:nvPr/>
            </p:nvSpPr>
            <p:spPr bwMode="auto">
              <a:xfrm>
                <a:off x="477" y="3180"/>
                <a:ext cx="39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H</a:t>
                </a:r>
                <a:r>
                  <a:rPr kumimoji="1" lang="en-US" altLang="zh-CN" sz="1400" b="1" baseline="-25000">
                    <a:solidFill>
                      <a:srgbClr val="000099"/>
                    </a:solidFill>
                    <a:latin typeface="微软雅黑" pitchFamily="34" charset="-122"/>
                    <a:ea typeface="微软雅黑" pitchFamily="34" charset="-122"/>
                  </a:rPr>
                  <a:t>2</a:t>
                </a:r>
              </a:p>
            </p:txBody>
          </p:sp>
          <p:sp>
            <p:nvSpPr>
              <p:cNvPr id="58" name="Text Box 55"/>
              <p:cNvSpPr txBox="1">
                <a:spLocks noChangeArrowheads="1"/>
              </p:cNvSpPr>
              <p:nvPr/>
            </p:nvSpPr>
            <p:spPr bwMode="auto">
              <a:xfrm>
                <a:off x="4993" y="2467"/>
                <a:ext cx="39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H</a:t>
                </a:r>
                <a:r>
                  <a:rPr kumimoji="1" lang="en-US" altLang="zh-CN" sz="1400" b="1" baseline="-25000">
                    <a:solidFill>
                      <a:srgbClr val="000099"/>
                    </a:solidFill>
                    <a:latin typeface="微软雅黑" pitchFamily="34" charset="-122"/>
                    <a:ea typeface="微软雅黑" pitchFamily="34" charset="-122"/>
                  </a:rPr>
                  <a:t>3</a:t>
                </a:r>
              </a:p>
            </p:txBody>
          </p:sp>
          <p:sp>
            <p:nvSpPr>
              <p:cNvPr id="59" name="Text Box 56"/>
              <p:cNvSpPr txBox="1">
                <a:spLocks noChangeArrowheads="1"/>
              </p:cNvSpPr>
              <p:nvPr/>
            </p:nvSpPr>
            <p:spPr bwMode="auto">
              <a:xfrm>
                <a:off x="4972" y="3225"/>
                <a:ext cx="39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99"/>
                    </a:solidFill>
                    <a:latin typeface="微软雅黑" pitchFamily="34" charset="-122"/>
                    <a:ea typeface="微软雅黑" pitchFamily="34" charset="-122"/>
                  </a:rPr>
                  <a:t>H</a:t>
                </a:r>
                <a:r>
                  <a:rPr kumimoji="1" lang="en-US" altLang="zh-CN" sz="1400" b="1" baseline="-25000" dirty="0">
                    <a:solidFill>
                      <a:srgbClr val="000099"/>
                    </a:solidFill>
                    <a:latin typeface="微软雅黑" pitchFamily="34" charset="-122"/>
                    <a:ea typeface="微软雅黑" pitchFamily="34" charset="-122"/>
                  </a:rPr>
                  <a:t>4</a:t>
                </a:r>
              </a:p>
            </p:txBody>
          </p:sp>
          <p:sp>
            <p:nvSpPr>
              <p:cNvPr id="60" name="Text Box 57"/>
              <p:cNvSpPr txBox="1">
                <a:spLocks noChangeArrowheads="1"/>
              </p:cNvSpPr>
              <p:nvPr/>
            </p:nvSpPr>
            <p:spPr bwMode="auto">
              <a:xfrm>
                <a:off x="2196" y="2971"/>
                <a:ext cx="32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D</a:t>
                </a:r>
              </a:p>
            </p:txBody>
          </p:sp>
          <p:sp>
            <p:nvSpPr>
              <p:cNvPr id="61" name="Text Box 58"/>
              <p:cNvSpPr txBox="1">
                <a:spLocks noChangeArrowheads="1"/>
              </p:cNvSpPr>
              <p:nvPr/>
            </p:nvSpPr>
            <p:spPr bwMode="auto">
              <a:xfrm>
                <a:off x="3569" y="2893"/>
                <a:ext cx="28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E</a:t>
                </a:r>
              </a:p>
            </p:txBody>
          </p:sp>
          <p:sp>
            <p:nvSpPr>
              <p:cNvPr id="62" name="Text Box 59"/>
              <p:cNvSpPr txBox="1">
                <a:spLocks noChangeArrowheads="1"/>
              </p:cNvSpPr>
              <p:nvPr/>
            </p:nvSpPr>
            <p:spPr bwMode="auto">
              <a:xfrm>
                <a:off x="1150" y="3692"/>
                <a:ext cx="397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(b) </a:t>
                </a:r>
                <a:r>
                  <a:rPr kumimoji="1" lang="zh-CN" altLang="en-US" sz="1400" b="1" dirty="0">
                    <a:latin typeface="微软雅黑" pitchFamily="34" charset="-122"/>
                    <a:ea typeface="微软雅黑" pitchFamily="34" charset="-122"/>
                  </a:rPr>
                  <a:t>设置两种 </a:t>
                </a:r>
                <a:r>
                  <a:rPr kumimoji="1" lang="en-US" altLang="zh-CN" sz="1400" b="1" dirty="0">
                    <a:latin typeface="微软雅黑" pitchFamily="34" charset="-122"/>
                    <a:ea typeface="微软雅黑" pitchFamily="34" charset="-122"/>
                  </a:rPr>
                  <a:t>FEC</a:t>
                </a:r>
                <a:r>
                  <a:rPr kumimoji="1" lang="zh-CN" altLang="en-US" sz="1400" b="1" dirty="0">
                    <a:latin typeface="微软雅黑" pitchFamily="34" charset="-122"/>
                    <a:ea typeface="微软雅黑" pitchFamily="34" charset="-122"/>
                  </a:rPr>
                  <a:t>，利用 </a:t>
                </a:r>
                <a:r>
                  <a:rPr kumimoji="1" lang="en-US" altLang="zh-CN" sz="1400" b="1" dirty="0">
                    <a:latin typeface="微软雅黑" pitchFamily="34" charset="-122"/>
                    <a:ea typeface="微软雅黑" pitchFamily="34" charset="-122"/>
                  </a:rPr>
                  <a:t>FEC </a:t>
                </a:r>
                <a:r>
                  <a:rPr kumimoji="1" lang="zh-CN" altLang="en-US" sz="1400" b="1" dirty="0">
                    <a:latin typeface="微软雅黑" pitchFamily="34" charset="-122"/>
                    <a:ea typeface="微软雅黑" pitchFamily="34" charset="-122"/>
                  </a:rPr>
                  <a:t>使通信量较为均衡 </a:t>
                </a:r>
              </a:p>
            </p:txBody>
          </p:sp>
          <p:pic>
            <p:nvPicPr>
              <p:cNvPr id="63" name="Picture 6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559" y="2830"/>
                <a:ext cx="260" cy="3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4" name="Picture 6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265" y="3290"/>
                <a:ext cx="260" cy="3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5" name="Picture 6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71" y="2460"/>
                <a:ext cx="259" cy="3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6" name="Picture 6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628" y="3320"/>
                <a:ext cx="260" cy="3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7" name="Picture 6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083" y="2910"/>
                <a:ext cx="259" cy="3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 name="Freeform 65"/>
              <p:cNvSpPr>
                <a:spLocks/>
              </p:cNvSpPr>
              <p:nvPr/>
            </p:nvSpPr>
            <p:spPr bwMode="auto">
              <a:xfrm>
                <a:off x="1200" y="2545"/>
                <a:ext cx="3463" cy="393"/>
              </a:xfrm>
              <a:custGeom>
                <a:avLst/>
                <a:gdLst>
                  <a:gd name="T0" fmla="*/ 0 w 3228"/>
                  <a:gd name="T1" fmla="*/ 96 h 326"/>
                  <a:gd name="T2" fmla="*/ 288 w 3228"/>
                  <a:gd name="T3" fmla="*/ 234 h 326"/>
                  <a:gd name="T4" fmla="*/ 480 w 3228"/>
                  <a:gd name="T5" fmla="*/ 264 h 326"/>
                  <a:gd name="T6" fmla="*/ 792 w 3228"/>
                  <a:gd name="T7" fmla="*/ 210 h 326"/>
                  <a:gd name="T8" fmla="*/ 975 w 3228"/>
                  <a:gd name="T9" fmla="*/ 164 h 326"/>
                  <a:gd name="T10" fmla="*/ 1252 w 3228"/>
                  <a:gd name="T11" fmla="*/ 97 h 326"/>
                  <a:gd name="T12" fmla="*/ 1716 w 3228"/>
                  <a:gd name="T13" fmla="*/ 6 h 326"/>
                  <a:gd name="T14" fmla="*/ 1992 w 3228"/>
                  <a:gd name="T15" fmla="*/ 60 h 326"/>
                  <a:gd name="T16" fmla="*/ 2149 w 3228"/>
                  <a:gd name="T17" fmla="*/ 119 h 326"/>
                  <a:gd name="T18" fmla="*/ 2364 w 3228"/>
                  <a:gd name="T19" fmla="*/ 210 h 326"/>
                  <a:gd name="T20" fmla="*/ 2646 w 3228"/>
                  <a:gd name="T21" fmla="*/ 312 h 326"/>
                  <a:gd name="T22" fmla="*/ 2874 w 3228"/>
                  <a:gd name="T23" fmla="*/ 294 h 326"/>
                  <a:gd name="T24" fmla="*/ 3060 w 3228"/>
                  <a:gd name="T25" fmla="*/ 204 h 326"/>
                  <a:gd name="T26" fmla="*/ 3228 w 3228"/>
                  <a:gd name="T27" fmla="*/ 108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28" h="326">
                    <a:moveTo>
                      <a:pt x="0" y="96"/>
                    </a:moveTo>
                    <a:cubicBezTo>
                      <a:pt x="49" y="119"/>
                      <a:pt x="208" y="206"/>
                      <a:pt x="288" y="234"/>
                    </a:cubicBezTo>
                    <a:cubicBezTo>
                      <a:pt x="368" y="262"/>
                      <a:pt x="396" y="268"/>
                      <a:pt x="480" y="264"/>
                    </a:cubicBezTo>
                    <a:cubicBezTo>
                      <a:pt x="564" y="260"/>
                      <a:pt x="710" y="227"/>
                      <a:pt x="792" y="210"/>
                    </a:cubicBezTo>
                    <a:cubicBezTo>
                      <a:pt x="874" y="193"/>
                      <a:pt x="898" y="183"/>
                      <a:pt x="975" y="164"/>
                    </a:cubicBezTo>
                    <a:cubicBezTo>
                      <a:pt x="1052" y="145"/>
                      <a:pt x="1129" y="123"/>
                      <a:pt x="1252" y="97"/>
                    </a:cubicBezTo>
                    <a:cubicBezTo>
                      <a:pt x="1375" y="71"/>
                      <a:pt x="1593" y="12"/>
                      <a:pt x="1716" y="6"/>
                    </a:cubicBezTo>
                    <a:cubicBezTo>
                      <a:pt x="1839" y="0"/>
                      <a:pt x="1920" y="41"/>
                      <a:pt x="1992" y="60"/>
                    </a:cubicBezTo>
                    <a:cubicBezTo>
                      <a:pt x="2064" y="79"/>
                      <a:pt x="2087" y="94"/>
                      <a:pt x="2149" y="119"/>
                    </a:cubicBezTo>
                    <a:cubicBezTo>
                      <a:pt x="2211" y="144"/>
                      <a:pt x="2281" y="178"/>
                      <a:pt x="2364" y="210"/>
                    </a:cubicBezTo>
                    <a:cubicBezTo>
                      <a:pt x="2447" y="242"/>
                      <a:pt x="2561" y="298"/>
                      <a:pt x="2646" y="312"/>
                    </a:cubicBezTo>
                    <a:cubicBezTo>
                      <a:pt x="2731" y="326"/>
                      <a:pt x="2805" y="312"/>
                      <a:pt x="2874" y="294"/>
                    </a:cubicBezTo>
                    <a:cubicBezTo>
                      <a:pt x="2943" y="276"/>
                      <a:pt x="3001" y="235"/>
                      <a:pt x="3060" y="204"/>
                    </a:cubicBezTo>
                    <a:cubicBezTo>
                      <a:pt x="3119" y="173"/>
                      <a:pt x="3193" y="128"/>
                      <a:pt x="3228" y="108"/>
                    </a:cubicBezTo>
                  </a:path>
                </a:pathLst>
              </a:custGeom>
              <a:noFill/>
              <a:ln w="38100" cmpd="sng">
                <a:solidFill>
                  <a:srgbClr val="0000FF"/>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9" name="Freeform 66"/>
              <p:cNvSpPr>
                <a:spLocks/>
              </p:cNvSpPr>
              <p:nvPr/>
            </p:nvSpPr>
            <p:spPr bwMode="auto">
              <a:xfrm>
                <a:off x="1155" y="3130"/>
                <a:ext cx="3522" cy="470"/>
              </a:xfrm>
              <a:custGeom>
                <a:avLst/>
                <a:gdLst>
                  <a:gd name="T0" fmla="*/ 0 w 3282"/>
                  <a:gd name="T1" fmla="*/ 259 h 391"/>
                  <a:gd name="T2" fmla="*/ 240 w 3282"/>
                  <a:gd name="T3" fmla="*/ 116 h 391"/>
                  <a:gd name="T4" fmla="*/ 498 w 3282"/>
                  <a:gd name="T5" fmla="*/ 7 h 391"/>
                  <a:gd name="T6" fmla="*/ 756 w 3282"/>
                  <a:gd name="T7" fmla="*/ 157 h 391"/>
                  <a:gd name="T8" fmla="*/ 1026 w 3282"/>
                  <a:gd name="T9" fmla="*/ 349 h 391"/>
                  <a:gd name="T10" fmla="*/ 1245 w 3282"/>
                  <a:gd name="T11" fmla="*/ 385 h 391"/>
                  <a:gd name="T12" fmla="*/ 1626 w 3282"/>
                  <a:gd name="T13" fmla="*/ 385 h 391"/>
                  <a:gd name="T14" fmla="*/ 2124 w 3282"/>
                  <a:gd name="T15" fmla="*/ 385 h 391"/>
                  <a:gd name="T16" fmla="*/ 2442 w 3282"/>
                  <a:gd name="T17" fmla="*/ 349 h 391"/>
                  <a:gd name="T18" fmla="*/ 2592 w 3282"/>
                  <a:gd name="T19" fmla="*/ 277 h 391"/>
                  <a:gd name="T20" fmla="*/ 2796 w 3282"/>
                  <a:gd name="T21" fmla="*/ 91 h 391"/>
                  <a:gd name="T22" fmla="*/ 2946 w 3282"/>
                  <a:gd name="T23" fmla="*/ 67 h 391"/>
                  <a:gd name="T24" fmla="*/ 3101 w 3282"/>
                  <a:gd name="T25" fmla="*/ 160 h 391"/>
                  <a:gd name="T26" fmla="*/ 3282 w 3282"/>
                  <a:gd name="T27" fmla="*/ 271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82" h="391">
                    <a:moveTo>
                      <a:pt x="0" y="259"/>
                    </a:moveTo>
                    <a:cubicBezTo>
                      <a:pt x="39" y="235"/>
                      <a:pt x="157" y="158"/>
                      <a:pt x="240" y="116"/>
                    </a:cubicBezTo>
                    <a:cubicBezTo>
                      <a:pt x="323" y="74"/>
                      <a:pt x="412" y="0"/>
                      <a:pt x="498" y="7"/>
                    </a:cubicBezTo>
                    <a:cubicBezTo>
                      <a:pt x="584" y="14"/>
                      <a:pt x="668" y="100"/>
                      <a:pt x="756" y="157"/>
                    </a:cubicBezTo>
                    <a:cubicBezTo>
                      <a:pt x="844" y="214"/>
                      <a:pt x="945" y="311"/>
                      <a:pt x="1026" y="349"/>
                    </a:cubicBezTo>
                    <a:cubicBezTo>
                      <a:pt x="1107" y="387"/>
                      <a:pt x="1145" y="379"/>
                      <a:pt x="1245" y="385"/>
                    </a:cubicBezTo>
                    <a:cubicBezTo>
                      <a:pt x="1345" y="391"/>
                      <a:pt x="1480" y="385"/>
                      <a:pt x="1626" y="385"/>
                    </a:cubicBezTo>
                    <a:cubicBezTo>
                      <a:pt x="1772" y="385"/>
                      <a:pt x="1988" y="391"/>
                      <a:pt x="2124" y="385"/>
                    </a:cubicBezTo>
                    <a:cubicBezTo>
                      <a:pt x="2260" y="379"/>
                      <a:pt x="2364" y="367"/>
                      <a:pt x="2442" y="349"/>
                    </a:cubicBezTo>
                    <a:cubicBezTo>
                      <a:pt x="2520" y="331"/>
                      <a:pt x="2533" y="320"/>
                      <a:pt x="2592" y="277"/>
                    </a:cubicBezTo>
                    <a:cubicBezTo>
                      <a:pt x="2651" y="234"/>
                      <a:pt x="2737" y="126"/>
                      <a:pt x="2796" y="91"/>
                    </a:cubicBezTo>
                    <a:cubicBezTo>
                      <a:pt x="2855" y="56"/>
                      <a:pt x="2895" y="55"/>
                      <a:pt x="2946" y="67"/>
                    </a:cubicBezTo>
                    <a:cubicBezTo>
                      <a:pt x="2997" y="79"/>
                      <a:pt x="3045" y="126"/>
                      <a:pt x="3101" y="160"/>
                    </a:cubicBezTo>
                    <a:cubicBezTo>
                      <a:pt x="3157" y="194"/>
                      <a:pt x="3244" y="248"/>
                      <a:pt x="3282" y="271"/>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pic>
          <p:nvPicPr>
            <p:cNvPr id="75"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06425" y="2802814"/>
              <a:ext cx="367811" cy="367811"/>
            </a:xfrm>
            <a:prstGeom prst="rect">
              <a:avLst/>
            </a:prstGeom>
            <a:noFill/>
            <a:extLst>
              <a:ext uri="{909E8E84-426E-40DD-AFC4-6F175D3DCCD1}">
                <a14:hiddenFill xmlns:a14="http://schemas.microsoft.com/office/drawing/2010/main">
                  <a:solidFill>
                    <a:srgbClr val="FFFFFF"/>
                  </a:solidFill>
                </a14:hiddenFill>
              </a:ext>
            </a:extLst>
          </p:spPr>
        </p:pic>
        <p:pic>
          <p:nvPicPr>
            <p:cNvPr id="76"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06425" y="3562278"/>
              <a:ext cx="367811" cy="367811"/>
            </a:xfrm>
            <a:prstGeom prst="rect">
              <a:avLst/>
            </a:prstGeom>
            <a:noFill/>
            <a:extLst>
              <a:ext uri="{909E8E84-426E-40DD-AFC4-6F175D3DCCD1}">
                <a14:hiddenFill xmlns:a14="http://schemas.microsoft.com/office/drawing/2010/main">
                  <a:solidFill>
                    <a:srgbClr val="FFFFFF"/>
                  </a:solidFill>
                </a14:hiddenFill>
              </a:ext>
            </a:extLst>
          </p:spPr>
        </p:pic>
        <p:pic>
          <p:nvPicPr>
            <p:cNvPr id="77"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72200" y="2802814"/>
              <a:ext cx="367811" cy="367811"/>
            </a:xfrm>
            <a:prstGeom prst="rect">
              <a:avLst/>
            </a:prstGeom>
            <a:noFill/>
            <a:extLst>
              <a:ext uri="{909E8E84-426E-40DD-AFC4-6F175D3DCCD1}">
                <a14:hiddenFill xmlns:a14="http://schemas.microsoft.com/office/drawing/2010/main">
                  <a:solidFill>
                    <a:srgbClr val="FFFFFF"/>
                  </a:solidFill>
                </a14:hiddenFill>
              </a:ext>
            </a:extLst>
          </p:spPr>
        </p:pic>
        <p:pic>
          <p:nvPicPr>
            <p:cNvPr id="78"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72200" y="3562278"/>
              <a:ext cx="367811" cy="367811"/>
            </a:xfrm>
            <a:prstGeom prst="rect">
              <a:avLst/>
            </a:prstGeom>
            <a:noFill/>
            <a:extLst>
              <a:ext uri="{909E8E84-426E-40DD-AFC4-6F175D3DCCD1}">
                <a14:hiddenFill xmlns:a14="http://schemas.microsoft.com/office/drawing/2010/main">
                  <a:solidFill>
                    <a:srgbClr val="FFFFFF"/>
                  </a:solidFill>
                </a14:hiddenFill>
              </a:ext>
            </a:extLst>
          </p:spPr>
        </p:pic>
      </p:grpSp>
      <p:sp>
        <p:nvSpPr>
          <p:cNvPr id="20" name="矩形 19"/>
          <p:cNvSpPr/>
          <p:nvPr/>
        </p:nvSpPr>
        <p:spPr>
          <a:xfrm>
            <a:off x="1408438" y="4200668"/>
            <a:ext cx="6449959" cy="584775"/>
          </a:xfrm>
          <a:prstGeom prst="rect">
            <a:avLst/>
          </a:prstGeom>
        </p:spPr>
        <p:txBody>
          <a:bodyPr wrap="square">
            <a:spAutoFit/>
          </a:bodyPr>
          <a:lstStyle/>
          <a:p>
            <a:r>
              <a:rPr lang="zh-CN" altLang="en-US" sz="1600" b="1" dirty="0">
                <a:latin typeface="微软雅黑" panose="020B0503020204020204" pitchFamily="34" charset="-122"/>
                <a:ea typeface="微软雅黑" panose="020B0503020204020204" pitchFamily="34" charset="-122"/>
              </a:rPr>
              <a:t>自定义的 </a:t>
            </a:r>
            <a:r>
              <a:rPr lang="en-US" altLang="zh-CN" sz="1600" b="1" dirty="0">
                <a:latin typeface="微软雅黑" panose="020B0503020204020204" pitchFamily="34" charset="-122"/>
                <a:ea typeface="微软雅黑" panose="020B0503020204020204" pitchFamily="34" charset="-122"/>
              </a:rPr>
              <a:t>FEC </a:t>
            </a:r>
            <a:r>
              <a:rPr lang="zh-CN" altLang="en-US" sz="1600" b="1" dirty="0">
                <a:latin typeface="微软雅黑" panose="020B0503020204020204" pitchFamily="34" charset="-122"/>
                <a:ea typeface="微软雅黑" panose="020B0503020204020204" pitchFamily="34" charset="-122"/>
              </a:rPr>
              <a:t>可以更好地管理网络的资源。这种均衡网络负载的做法也称为</a:t>
            </a:r>
            <a:r>
              <a:rPr lang="zh-CN" altLang="en-US" sz="1600" b="1" dirty="0">
                <a:solidFill>
                  <a:srgbClr val="C00000"/>
                </a:solidFill>
                <a:latin typeface="微软雅黑" panose="020B0503020204020204" pitchFamily="34" charset="-122"/>
                <a:ea typeface="微软雅黑" panose="020B0503020204020204" pitchFamily="34" charset="-122"/>
              </a:rPr>
              <a:t>流量工程 </a:t>
            </a:r>
            <a:r>
              <a:rPr lang="en-US" altLang="zh-CN" sz="1600" b="1" dirty="0">
                <a:solidFill>
                  <a:srgbClr val="C00000"/>
                </a:solidFill>
                <a:latin typeface="微软雅黑" panose="020B0503020204020204" pitchFamily="34" charset="-122"/>
                <a:ea typeface="微软雅黑" panose="020B0503020204020204" pitchFamily="34" charset="-122"/>
              </a:rPr>
              <a:t>TE </a:t>
            </a:r>
            <a:r>
              <a:rPr lang="en-US" altLang="zh-CN" sz="1600" b="1" dirty="0">
                <a:latin typeface="微软雅黑" panose="020B0503020204020204" pitchFamily="34" charset="-122"/>
                <a:ea typeface="微软雅黑" panose="020B0503020204020204" pitchFamily="34" charset="-122"/>
              </a:rPr>
              <a:t>(Traffic Engineering) </a:t>
            </a:r>
            <a:r>
              <a:rPr lang="zh-CN" altLang="en-US" sz="1600" b="1" dirty="0">
                <a:latin typeface="微软雅黑" panose="020B0503020204020204" pitchFamily="34" charset="-122"/>
                <a:ea typeface="微软雅黑" panose="020B0503020204020204" pitchFamily="34" charset="-122"/>
              </a:rPr>
              <a:t>或通信量工程。</a:t>
            </a:r>
          </a:p>
        </p:txBody>
      </p:sp>
    </p:spTree>
    <p:extLst>
      <p:ext uri="{BB962C8B-B14F-4D97-AF65-F5344CB8AC3E}">
        <p14:creationId xmlns:p14="http://schemas.microsoft.com/office/powerpoint/2010/main" val="362912984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grpId="0" nodeType="click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fade">
                                      <p:cBhvr>
                                        <p:cTn id="11" dur="10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17509"/>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303592" y="576646"/>
            <a:ext cx="453681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4.9.2  MPLS </a:t>
            </a:r>
            <a:r>
              <a:rPr lang="zh-CN" altLang="en-US" sz="2400" b="1" dirty="0">
                <a:solidFill>
                  <a:schemeClr val="bg1"/>
                </a:solidFill>
                <a:latin typeface="微软雅黑" pitchFamily="34" charset="-122"/>
                <a:ea typeface="微软雅黑" pitchFamily="34" charset="-122"/>
              </a:rPr>
              <a:t>首部的位置与格式</a:t>
            </a:r>
          </a:p>
        </p:txBody>
      </p:sp>
      <p:sp>
        <p:nvSpPr>
          <p:cNvPr id="4" name="Rectangle 8"/>
          <p:cNvSpPr>
            <a:spLocks noChangeArrowheads="1"/>
          </p:cNvSpPr>
          <p:nvPr/>
        </p:nvSpPr>
        <p:spPr bwMode="auto">
          <a:xfrm>
            <a:off x="545144" y="1000360"/>
            <a:ext cx="4135498" cy="20159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MPLS </a:t>
            </a:r>
            <a:r>
              <a:rPr lang="zh-CN" altLang="en-US" sz="2000" b="1" dirty="0">
                <a:latin typeface="微软雅黑" pitchFamily="34" charset="-122"/>
                <a:ea typeface="微软雅黑" pitchFamily="34" charset="-122"/>
              </a:rPr>
              <a:t>不要求下层的网络都使用面向连接的技术。</a:t>
            </a:r>
          </a:p>
          <a:p>
            <a:pPr marL="285750" indent="-28575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MPLS </a:t>
            </a:r>
            <a:r>
              <a:rPr lang="zh-CN" altLang="en-US" sz="2000" b="1" dirty="0">
                <a:latin typeface="微软雅黑" pitchFamily="34" charset="-122"/>
                <a:ea typeface="微软雅黑" pitchFamily="34" charset="-122"/>
              </a:rPr>
              <a:t>采用</a:t>
            </a:r>
            <a:r>
              <a:rPr lang="zh-CN" altLang="en-US" sz="2000" b="1" dirty="0">
                <a:solidFill>
                  <a:srgbClr val="C00000"/>
                </a:solidFill>
                <a:latin typeface="微软雅黑" pitchFamily="34" charset="-122"/>
                <a:ea typeface="微软雅黑" pitchFamily="34" charset="-122"/>
              </a:rPr>
              <a:t>封装技术：</a:t>
            </a:r>
            <a:r>
              <a:rPr lang="zh-CN" altLang="en-US" sz="2000" b="1" dirty="0">
                <a:latin typeface="微软雅黑" pitchFamily="34" charset="-122"/>
                <a:ea typeface="微软雅黑" pitchFamily="34" charset="-122"/>
              </a:rPr>
              <a:t>在把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数据报封装成以太网帧之前，先要插入一个 </a:t>
            </a:r>
            <a:r>
              <a:rPr lang="en-US" altLang="zh-CN" sz="2000" b="1" dirty="0">
                <a:latin typeface="微软雅黑" pitchFamily="34" charset="-122"/>
                <a:ea typeface="微软雅黑" pitchFamily="34" charset="-122"/>
              </a:rPr>
              <a:t>MPLS </a:t>
            </a:r>
            <a:r>
              <a:rPr lang="zh-CN" altLang="en-US" sz="2000" b="1" dirty="0">
                <a:latin typeface="微软雅黑" pitchFamily="34" charset="-122"/>
                <a:ea typeface="微软雅黑" pitchFamily="34" charset="-122"/>
              </a:rPr>
              <a:t>首部。</a:t>
            </a:r>
          </a:p>
        </p:txBody>
      </p:sp>
      <p:grpSp>
        <p:nvGrpSpPr>
          <p:cNvPr id="5" name="组合 4"/>
          <p:cNvGrpSpPr/>
          <p:nvPr/>
        </p:nvGrpSpPr>
        <p:grpSpPr>
          <a:xfrm>
            <a:off x="5156868" y="1486087"/>
            <a:ext cx="3004948" cy="1356547"/>
            <a:chOff x="3728864" y="4437112"/>
            <a:chExt cx="3522495" cy="1311134"/>
          </a:xfrm>
        </p:grpSpPr>
        <p:sp>
          <p:nvSpPr>
            <p:cNvPr id="6" name="矩形 5"/>
            <p:cNvSpPr/>
            <p:nvPr/>
          </p:nvSpPr>
          <p:spPr bwMode="auto">
            <a:xfrm>
              <a:off x="3728864" y="4437112"/>
              <a:ext cx="2160240" cy="447038"/>
            </a:xfrm>
            <a:prstGeom prst="rect">
              <a:avLst/>
            </a:prstGeom>
            <a:solidFill>
              <a:srgbClr val="00FF99"/>
            </a:solid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r>
                <a:rPr kumimoji="0" lang="zh-CN" altLang="en-US" sz="1600" b="1" i="0" u="none" strike="noStrike" cap="none" normalizeH="0" baseline="0" dirty="0">
                  <a:ln>
                    <a:noFill/>
                  </a:ln>
                  <a:solidFill>
                    <a:schemeClr val="tx1"/>
                  </a:solidFill>
                  <a:effectLst/>
                  <a:latin typeface="微软雅黑" pitchFamily="34" charset="-122"/>
                  <a:ea typeface="微软雅黑" pitchFamily="34" charset="-122"/>
                </a:rPr>
                <a:t>网络层</a:t>
              </a:r>
            </a:p>
          </p:txBody>
        </p:sp>
        <p:sp>
          <p:nvSpPr>
            <p:cNvPr id="7" name="矩形 6"/>
            <p:cNvSpPr/>
            <p:nvPr/>
          </p:nvSpPr>
          <p:spPr bwMode="auto">
            <a:xfrm>
              <a:off x="3728864" y="4884150"/>
              <a:ext cx="2160240" cy="432048"/>
            </a:xfrm>
            <a:prstGeom prst="rect">
              <a:avLst/>
            </a:prstGeom>
            <a:solidFill>
              <a:srgbClr val="FF66FF"/>
            </a:solid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r>
                <a:rPr kumimoji="0" lang="en-US" altLang="zh-CN" sz="1600" b="1" i="0" u="none" strike="noStrike" cap="none" normalizeH="0" baseline="0" dirty="0">
                  <a:ln>
                    <a:noFill/>
                  </a:ln>
                  <a:solidFill>
                    <a:schemeClr val="tx1"/>
                  </a:solidFill>
                  <a:effectLst/>
                  <a:latin typeface="微软雅黑" pitchFamily="34" charset="-122"/>
                  <a:ea typeface="微软雅黑" pitchFamily="34" charset="-122"/>
                </a:rPr>
                <a:t>MPLS </a:t>
              </a:r>
              <a:r>
                <a:rPr kumimoji="0" lang="zh-CN" altLang="en-US" sz="1600" b="1" i="0" u="none" strike="noStrike" cap="none" normalizeH="0" baseline="0" dirty="0">
                  <a:ln>
                    <a:noFill/>
                  </a:ln>
                  <a:solidFill>
                    <a:schemeClr val="tx1"/>
                  </a:solidFill>
                  <a:effectLst/>
                  <a:latin typeface="微软雅黑" pitchFamily="34" charset="-122"/>
                  <a:ea typeface="微软雅黑" pitchFamily="34" charset="-122"/>
                </a:rPr>
                <a:t>首部</a:t>
              </a:r>
            </a:p>
          </p:txBody>
        </p:sp>
        <p:sp>
          <p:nvSpPr>
            <p:cNvPr id="8" name="矩形 7"/>
            <p:cNvSpPr/>
            <p:nvPr/>
          </p:nvSpPr>
          <p:spPr bwMode="auto">
            <a:xfrm>
              <a:off x="3728864" y="5316198"/>
              <a:ext cx="2160240" cy="432048"/>
            </a:xfrm>
            <a:prstGeom prst="rect">
              <a:avLst/>
            </a:prstGeom>
            <a:solidFill>
              <a:srgbClr val="66CCFF"/>
            </a:solid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r>
                <a:rPr lang="zh-CN" altLang="en-US" sz="1600" b="1" dirty="0">
                  <a:latin typeface="微软雅黑" pitchFamily="34" charset="-122"/>
                  <a:ea typeface="微软雅黑" pitchFamily="34" charset="-122"/>
                </a:rPr>
                <a:t>数据链路</a:t>
              </a:r>
              <a:r>
                <a:rPr kumimoji="0" lang="zh-CN" altLang="en-US" sz="1600" b="1" i="0" u="none" strike="noStrike" cap="none" normalizeH="0" baseline="0" dirty="0">
                  <a:ln>
                    <a:noFill/>
                  </a:ln>
                  <a:solidFill>
                    <a:schemeClr val="tx1"/>
                  </a:solidFill>
                  <a:effectLst/>
                  <a:latin typeface="微软雅黑" pitchFamily="34" charset="-122"/>
                  <a:ea typeface="微软雅黑" pitchFamily="34" charset="-122"/>
                </a:rPr>
                <a:t>层</a:t>
              </a:r>
            </a:p>
          </p:txBody>
        </p:sp>
        <p:sp>
          <p:nvSpPr>
            <p:cNvPr id="9" name="左箭头 8"/>
            <p:cNvSpPr/>
            <p:nvPr/>
          </p:nvSpPr>
          <p:spPr bwMode="auto">
            <a:xfrm>
              <a:off x="5961112" y="5013176"/>
              <a:ext cx="504056" cy="216024"/>
            </a:xfrm>
            <a:prstGeom prst="leftArrow">
              <a:avLst/>
            </a:prstGeom>
            <a:solidFill>
              <a:srgbClr val="FFFF00"/>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600" b="0" i="0" u="none" strike="noStrike" cap="none" normalizeH="0" baseline="0">
                <a:ln>
                  <a:noFill/>
                </a:ln>
                <a:solidFill>
                  <a:schemeClr val="tx1"/>
                </a:solidFill>
                <a:effectLst/>
                <a:latin typeface="微软雅黑" pitchFamily="34" charset="-122"/>
                <a:ea typeface="微软雅黑" pitchFamily="34" charset="-122"/>
              </a:endParaRPr>
            </a:p>
          </p:txBody>
        </p:sp>
        <p:sp>
          <p:nvSpPr>
            <p:cNvPr id="10" name="TextBox 9"/>
            <p:cNvSpPr txBox="1"/>
            <p:nvPr/>
          </p:nvSpPr>
          <p:spPr>
            <a:xfrm>
              <a:off x="6467702" y="4915476"/>
              <a:ext cx="783657" cy="445873"/>
            </a:xfrm>
            <a:prstGeom prst="rect">
              <a:avLst/>
            </a:prstGeom>
            <a:noFill/>
          </p:spPr>
          <p:txBody>
            <a:bodyPr wrap="none" rtlCol="0">
              <a:spAutoFit/>
            </a:bodyPr>
            <a:lstStyle/>
            <a:p>
              <a:r>
                <a:rPr lang="zh-CN" altLang="en-US" sz="1600" b="1" dirty="0">
                  <a:latin typeface="微软雅黑" pitchFamily="34" charset="-122"/>
                  <a:ea typeface="微软雅黑" pitchFamily="34" charset="-122"/>
                </a:rPr>
                <a:t>插入</a:t>
              </a:r>
            </a:p>
          </p:txBody>
        </p:sp>
      </p:grpSp>
      <p:sp>
        <p:nvSpPr>
          <p:cNvPr id="11" name="矩形 10"/>
          <p:cNvSpPr/>
          <p:nvPr/>
        </p:nvSpPr>
        <p:spPr>
          <a:xfrm>
            <a:off x="4572000" y="3046444"/>
            <a:ext cx="3396986" cy="759182"/>
          </a:xfrm>
          <a:prstGeom prst="rect">
            <a:avLst/>
          </a:prstGeom>
          <a:solidFill>
            <a:srgbClr val="000099"/>
          </a:solidFill>
          <a:ln>
            <a:noFill/>
          </a:ln>
        </p:spPr>
        <p:style>
          <a:lnRef idx="1">
            <a:schemeClr val="accent2"/>
          </a:lnRef>
          <a:fillRef idx="3">
            <a:schemeClr val="accent2"/>
          </a:fillRef>
          <a:effectRef idx="2">
            <a:schemeClr val="accent2"/>
          </a:effectRef>
          <a:fontRef idx="minor">
            <a:schemeClr val="lt1"/>
          </a:fontRef>
        </p:style>
        <p:txBody>
          <a:bodyPr wrap="square">
            <a:spAutoFit/>
          </a:bodyPr>
          <a:lstStyle/>
          <a:p>
            <a:pPr algn="ctr">
              <a:lnSpc>
                <a:spcPts val="2600"/>
              </a:lnSpc>
            </a:pPr>
            <a:r>
              <a:rPr lang="zh-CN" altLang="en-US" b="1" dirty="0">
                <a:latin typeface="微软雅黑" panose="020B0503020204020204" pitchFamily="34" charset="-122"/>
                <a:ea typeface="微软雅黑" panose="020B0503020204020204" pitchFamily="34" charset="-122"/>
              </a:rPr>
              <a:t>从层次的角度看，</a:t>
            </a:r>
            <a:r>
              <a:rPr lang="en-US" altLang="zh-CN" b="1" dirty="0">
                <a:latin typeface="微软雅黑" panose="020B0503020204020204" pitchFamily="34" charset="-122"/>
                <a:ea typeface="微软雅黑" panose="020B0503020204020204" pitchFamily="34" charset="-122"/>
              </a:rPr>
              <a:t>MPLS </a:t>
            </a:r>
            <a:r>
              <a:rPr lang="zh-CN" altLang="en-US" b="1" dirty="0">
                <a:latin typeface="微软雅黑" panose="020B0503020204020204" pitchFamily="34" charset="-122"/>
                <a:ea typeface="微软雅黑" panose="020B0503020204020204" pitchFamily="34" charset="-122"/>
              </a:rPr>
              <a:t>首部处在第二层和第三层之间。</a:t>
            </a:r>
          </a:p>
        </p:txBody>
      </p:sp>
    </p:spTree>
    <p:extLst>
      <p:ext uri="{BB962C8B-B14F-4D97-AF65-F5344CB8AC3E}">
        <p14:creationId xmlns:p14="http://schemas.microsoft.com/office/powerpoint/2010/main" val="215088771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71879"/>
            <a:ext cx="8053711" cy="236800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p:cNvSpPr>
            <a:spLocks noChangeArrowheads="1"/>
          </p:cNvSpPr>
          <p:nvPr/>
        </p:nvSpPr>
        <p:spPr bwMode="auto">
          <a:xfrm>
            <a:off x="545144" y="61414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09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MPLS </a:t>
            </a:r>
            <a:r>
              <a:rPr lang="zh-CN" altLang="en-US" sz="2000" b="1" dirty="0">
                <a:solidFill>
                  <a:schemeClr val="bg1"/>
                </a:solidFill>
                <a:latin typeface="微软雅黑" pitchFamily="34" charset="-122"/>
                <a:ea typeface="微软雅黑" pitchFamily="34" charset="-122"/>
              </a:rPr>
              <a:t>首部的格式</a:t>
            </a:r>
          </a:p>
        </p:txBody>
      </p:sp>
      <p:grpSp>
        <p:nvGrpSpPr>
          <p:cNvPr id="31" name="组合 30"/>
          <p:cNvGrpSpPr/>
          <p:nvPr/>
        </p:nvGrpSpPr>
        <p:grpSpPr>
          <a:xfrm>
            <a:off x="1150083" y="1142751"/>
            <a:ext cx="6692134" cy="2202496"/>
            <a:chOff x="445521" y="1337046"/>
            <a:chExt cx="8662793" cy="2851073"/>
          </a:xfrm>
        </p:grpSpPr>
        <p:sp>
          <p:nvSpPr>
            <p:cNvPr id="5" name="Freeform 41"/>
            <p:cNvSpPr>
              <a:spLocks/>
            </p:cNvSpPr>
            <p:nvPr/>
          </p:nvSpPr>
          <p:spPr bwMode="auto">
            <a:xfrm>
              <a:off x="1066567" y="2200621"/>
              <a:ext cx="8027988" cy="628650"/>
            </a:xfrm>
            <a:custGeom>
              <a:avLst/>
              <a:gdLst>
                <a:gd name="T0" fmla="*/ 0 w 4668"/>
                <a:gd name="T1" fmla="*/ 0 h 396"/>
                <a:gd name="T2" fmla="*/ 4668 w 4668"/>
                <a:gd name="T3" fmla="*/ 6 h 396"/>
                <a:gd name="T4" fmla="*/ 1680 w 4668"/>
                <a:gd name="T5" fmla="*/ 396 h 396"/>
                <a:gd name="T6" fmla="*/ 876 w 4668"/>
                <a:gd name="T7" fmla="*/ 390 h 396"/>
                <a:gd name="T8" fmla="*/ 0 w 4668"/>
                <a:gd name="T9" fmla="*/ 0 h 396"/>
              </a:gdLst>
              <a:ahLst/>
              <a:cxnLst>
                <a:cxn ang="0">
                  <a:pos x="T0" y="T1"/>
                </a:cxn>
                <a:cxn ang="0">
                  <a:pos x="T2" y="T3"/>
                </a:cxn>
                <a:cxn ang="0">
                  <a:pos x="T4" y="T5"/>
                </a:cxn>
                <a:cxn ang="0">
                  <a:pos x="T6" y="T7"/>
                </a:cxn>
                <a:cxn ang="0">
                  <a:pos x="T8" y="T9"/>
                </a:cxn>
              </a:cxnLst>
              <a:rect l="0" t="0" r="r" b="b"/>
              <a:pathLst>
                <a:path w="4668" h="396">
                  <a:moveTo>
                    <a:pt x="0" y="0"/>
                  </a:moveTo>
                  <a:lnTo>
                    <a:pt x="4668" y="6"/>
                  </a:lnTo>
                  <a:lnTo>
                    <a:pt x="1680" y="396"/>
                  </a:lnTo>
                  <a:lnTo>
                    <a:pt x="876" y="390"/>
                  </a:lnTo>
                  <a:lnTo>
                    <a:pt x="0" y="0"/>
                  </a:lnTo>
                  <a:close/>
                </a:path>
              </a:pathLst>
            </a:custGeom>
            <a:gradFill rotWithShape="1">
              <a:gsLst>
                <a:gs pos="0">
                  <a:srgbClr val="00B050"/>
                </a:gs>
                <a:gs pos="100000">
                  <a:srgbClr val="00FFFF"/>
                </a:gs>
              </a:gsLst>
              <a:lin ang="5400000" scaled="1"/>
            </a:gradFill>
            <a:ln>
              <a:noFill/>
            </a:ln>
            <a:effectLst/>
          </p:spPr>
          <p:txBody>
            <a:bodyPr/>
            <a:lstStyle/>
            <a:p>
              <a:endParaRPr lang="zh-CN" altLang="en-US" sz="1400" b="1">
                <a:solidFill>
                  <a:srgbClr val="000099"/>
                </a:solidFill>
                <a:latin typeface="微软雅黑" pitchFamily="34" charset="-122"/>
                <a:ea typeface="微软雅黑" pitchFamily="34" charset="-122"/>
              </a:endParaRPr>
            </a:p>
          </p:txBody>
        </p:sp>
        <p:sp>
          <p:nvSpPr>
            <p:cNvPr id="6" name="Line 2"/>
            <p:cNvSpPr>
              <a:spLocks noChangeShapeType="1"/>
            </p:cNvSpPr>
            <p:nvPr/>
          </p:nvSpPr>
          <p:spPr bwMode="auto">
            <a:xfrm flipV="1">
              <a:off x="3969576" y="2227609"/>
              <a:ext cx="5138738" cy="6032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 name="Text Box 6"/>
            <p:cNvSpPr txBox="1">
              <a:spLocks noChangeArrowheads="1"/>
            </p:cNvSpPr>
            <p:nvPr/>
          </p:nvSpPr>
          <p:spPr bwMode="auto">
            <a:xfrm>
              <a:off x="2935072" y="2421284"/>
              <a:ext cx="703856" cy="398409"/>
            </a:xfrm>
            <a:prstGeom prst="rect">
              <a:avLst/>
            </a:prstGeom>
            <a:noFill/>
            <a:ln>
              <a:noFill/>
            </a:ln>
            <a:effectLst/>
            <a:extLst>
              <a:ext uri="{909E8E84-426E-40DD-AFC4-6F175D3DCCD1}">
                <a14:hiddenFill xmlns:a14="http://schemas.microsoft.com/office/drawing/2010/main">
                  <a:solidFill>
                    <a:srgbClr val="FFFFFF">
                      <a:alpha val="41000"/>
                    </a:srgb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栈顶</a:t>
              </a:r>
            </a:p>
          </p:txBody>
        </p:sp>
        <p:sp>
          <p:nvSpPr>
            <p:cNvPr id="9" name="Rectangle 8"/>
            <p:cNvSpPr>
              <a:spLocks noChangeArrowheads="1"/>
            </p:cNvSpPr>
            <p:nvPr/>
          </p:nvSpPr>
          <p:spPr bwMode="auto">
            <a:xfrm>
              <a:off x="1580786" y="2830859"/>
              <a:ext cx="982000"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kumimoji="1" lang="zh-CN" altLang="en-US" sz="1400" b="1" dirty="0">
                  <a:solidFill>
                    <a:schemeClr val="bg1"/>
                  </a:solidFill>
                  <a:latin typeface="微软雅黑" pitchFamily="34" charset="-122"/>
                  <a:ea typeface="微软雅黑" pitchFamily="34" charset="-122"/>
                </a:rPr>
                <a:t>帧首部  </a:t>
              </a:r>
            </a:p>
          </p:txBody>
        </p:sp>
        <p:sp>
          <p:nvSpPr>
            <p:cNvPr id="10" name="Rectangle 9"/>
            <p:cNvSpPr>
              <a:spLocks noChangeArrowheads="1"/>
            </p:cNvSpPr>
            <p:nvPr/>
          </p:nvSpPr>
          <p:spPr bwMode="auto">
            <a:xfrm>
              <a:off x="1056249" y="1675159"/>
              <a:ext cx="8038306" cy="525462"/>
            </a:xfrm>
            <a:prstGeom prst="rect">
              <a:avLst/>
            </a:prstGeom>
            <a:solidFill>
              <a:srgbClr val="99FFCC"/>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1" name="Line 10"/>
            <p:cNvSpPr>
              <a:spLocks noChangeShapeType="1"/>
            </p:cNvSpPr>
            <p:nvPr/>
          </p:nvSpPr>
          <p:spPr bwMode="auto">
            <a:xfrm>
              <a:off x="6079761" y="1675159"/>
              <a:ext cx="0"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2" name="Line 11"/>
            <p:cNvSpPr>
              <a:spLocks noChangeShapeType="1"/>
            </p:cNvSpPr>
            <p:nvPr/>
          </p:nvSpPr>
          <p:spPr bwMode="auto">
            <a:xfrm>
              <a:off x="6846788" y="1675159"/>
              <a:ext cx="6879"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 name="Line 12"/>
            <p:cNvSpPr>
              <a:spLocks noChangeShapeType="1"/>
            </p:cNvSpPr>
            <p:nvPr/>
          </p:nvSpPr>
          <p:spPr bwMode="auto">
            <a:xfrm>
              <a:off x="7085838" y="1675159"/>
              <a:ext cx="0"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4" name="Text Box 13"/>
            <p:cNvSpPr txBox="1">
              <a:spLocks noChangeArrowheads="1"/>
            </p:cNvSpPr>
            <p:nvPr/>
          </p:nvSpPr>
          <p:spPr bwMode="auto">
            <a:xfrm>
              <a:off x="2935323" y="1729647"/>
              <a:ext cx="1347120"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标   签   值</a:t>
              </a:r>
            </a:p>
          </p:txBody>
        </p:sp>
        <p:sp>
          <p:nvSpPr>
            <p:cNvPr id="15" name="Text Box 14"/>
            <p:cNvSpPr txBox="1">
              <a:spLocks noChangeArrowheads="1"/>
            </p:cNvSpPr>
            <p:nvPr/>
          </p:nvSpPr>
          <p:spPr bwMode="auto">
            <a:xfrm>
              <a:off x="7298742" y="1729647"/>
              <a:ext cx="165912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生存时间 </a:t>
              </a:r>
              <a:r>
                <a:rPr kumimoji="1" lang="en-US" altLang="zh-CN" sz="1400" b="1" dirty="0">
                  <a:latin typeface="微软雅黑" pitchFamily="34" charset="-122"/>
                  <a:ea typeface="微软雅黑" pitchFamily="34" charset="-122"/>
                </a:rPr>
                <a:t>TTL</a:t>
              </a:r>
            </a:p>
          </p:txBody>
        </p:sp>
        <p:sp>
          <p:nvSpPr>
            <p:cNvPr id="16" name="Text Box 15"/>
            <p:cNvSpPr txBox="1">
              <a:spLocks noChangeArrowheads="1"/>
            </p:cNvSpPr>
            <p:nvPr/>
          </p:nvSpPr>
          <p:spPr bwMode="auto">
            <a:xfrm>
              <a:off x="6075411" y="1729647"/>
              <a:ext cx="772332"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试 验</a:t>
              </a:r>
            </a:p>
          </p:txBody>
        </p:sp>
        <p:sp>
          <p:nvSpPr>
            <p:cNvPr id="17" name="Text Box 16"/>
            <p:cNvSpPr txBox="1">
              <a:spLocks noChangeArrowheads="1"/>
            </p:cNvSpPr>
            <p:nvPr/>
          </p:nvSpPr>
          <p:spPr bwMode="auto">
            <a:xfrm>
              <a:off x="6781436" y="1729647"/>
              <a:ext cx="378074"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S</a:t>
              </a:r>
            </a:p>
          </p:txBody>
        </p:sp>
        <p:sp>
          <p:nvSpPr>
            <p:cNvPr id="18" name="Text Box 17"/>
            <p:cNvSpPr txBox="1">
              <a:spLocks noChangeArrowheads="1"/>
            </p:cNvSpPr>
            <p:nvPr/>
          </p:nvSpPr>
          <p:spPr bwMode="auto">
            <a:xfrm>
              <a:off x="704530" y="1337046"/>
              <a:ext cx="8390027"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400" b="1" dirty="0">
                  <a:solidFill>
                    <a:srgbClr val="000099"/>
                  </a:solidFill>
                  <a:latin typeface="微软雅黑" pitchFamily="34" charset="-122"/>
                  <a:ea typeface="微软雅黑" pitchFamily="34" charset="-122"/>
                </a:rPr>
                <a:t>位                              </a:t>
              </a:r>
              <a:r>
                <a:rPr kumimoji="1" lang="en-US" altLang="zh-CN" sz="1400" b="1" dirty="0">
                  <a:solidFill>
                    <a:srgbClr val="000099"/>
                  </a:solidFill>
                  <a:latin typeface="微软雅黑" pitchFamily="34" charset="-122"/>
                  <a:ea typeface="微软雅黑" pitchFamily="34" charset="-122"/>
                </a:rPr>
                <a:t>20                                            3      1             8</a:t>
              </a:r>
            </a:p>
          </p:txBody>
        </p:sp>
        <p:sp>
          <p:nvSpPr>
            <p:cNvPr id="19" name="Line 19"/>
            <p:cNvSpPr>
              <a:spLocks noChangeShapeType="1"/>
            </p:cNvSpPr>
            <p:nvPr/>
          </p:nvSpPr>
          <p:spPr bwMode="auto">
            <a:xfrm>
              <a:off x="3970436" y="3353087"/>
              <a:ext cx="0" cy="4826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0" name="Line 21"/>
            <p:cNvSpPr>
              <a:spLocks noChangeShapeType="1"/>
            </p:cNvSpPr>
            <p:nvPr/>
          </p:nvSpPr>
          <p:spPr bwMode="auto">
            <a:xfrm>
              <a:off x="1056249" y="2214909"/>
              <a:ext cx="1520296" cy="6159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1" name="Line 22"/>
            <p:cNvSpPr>
              <a:spLocks noChangeShapeType="1"/>
            </p:cNvSpPr>
            <p:nvPr/>
          </p:nvSpPr>
          <p:spPr bwMode="auto">
            <a:xfrm>
              <a:off x="7722460" y="3370138"/>
              <a:ext cx="0" cy="4826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2" name="Line 33"/>
            <p:cNvSpPr>
              <a:spLocks noChangeShapeType="1"/>
            </p:cNvSpPr>
            <p:nvPr/>
          </p:nvSpPr>
          <p:spPr bwMode="auto">
            <a:xfrm>
              <a:off x="3967361" y="3695887"/>
              <a:ext cx="3755099" cy="0"/>
            </a:xfrm>
            <a:prstGeom prst="line">
              <a:avLst/>
            </a:prstGeom>
            <a:noFill/>
            <a:ln w="1905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3" name="Text Box 34"/>
            <p:cNvSpPr txBox="1">
              <a:spLocks noChangeArrowheads="1"/>
            </p:cNvSpPr>
            <p:nvPr/>
          </p:nvSpPr>
          <p:spPr bwMode="auto">
            <a:xfrm>
              <a:off x="5198284" y="3460937"/>
              <a:ext cx="1237143" cy="398409"/>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99"/>
                  </a:solidFill>
                  <a:latin typeface="微软雅黑" pitchFamily="34" charset="-122"/>
                  <a:ea typeface="微软雅黑" pitchFamily="34" charset="-122"/>
                </a:rPr>
                <a:t>IP </a:t>
              </a:r>
              <a:r>
                <a:rPr kumimoji="1" lang="zh-CN" altLang="en-US" sz="1400" b="1" dirty="0">
                  <a:solidFill>
                    <a:srgbClr val="000099"/>
                  </a:solidFill>
                  <a:latin typeface="微软雅黑" pitchFamily="34" charset="-122"/>
                  <a:ea typeface="微软雅黑" pitchFamily="34" charset="-122"/>
                </a:rPr>
                <a:t>数据报</a:t>
              </a:r>
            </a:p>
          </p:txBody>
        </p:sp>
        <p:sp>
          <p:nvSpPr>
            <p:cNvPr id="24" name="Text Box 35"/>
            <p:cNvSpPr txBox="1">
              <a:spLocks noChangeArrowheads="1"/>
            </p:cNvSpPr>
            <p:nvPr/>
          </p:nvSpPr>
          <p:spPr bwMode="auto">
            <a:xfrm>
              <a:off x="445521" y="2865786"/>
              <a:ext cx="116866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99"/>
                  </a:solidFill>
                  <a:latin typeface="微软雅黑" pitchFamily="34" charset="-122"/>
                  <a:ea typeface="微软雅黑" pitchFamily="34" charset="-122"/>
                </a:rPr>
                <a:t>以太网帧</a:t>
              </a:r>
            </a:p>
          </p:txBody>
        </p:sp>
        <p:sp>
          <p:nvSpPr>
            <p:cNvPr id="25" name="Text Box 37"/>
            <p:cNvSpPr txBox="1">
              <a:spLocks noChangeArrowheads="1"/>
            </p:cNvSpPr>
            <p:nvPr/>
          </p:nvSpPr>
          <p:spPr bwMode="auto">
            <a:xfrm>
              <a:off x="879110" y="3789710"/>
              <a:ext cx="116866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solidFill>
                    <a:srgbClr val="000099"/>
                  </a:solidFill>
                  <a:latin typeface="微软雅黑" pitchFamily="34" charset="-122"/>
                  <a:ea typeface="微软雅黑" pitchFamily="34" charset="-122"/>
                </a:rPr>
                <a:t>发送在前</a:t>
              </a:r>
            </a:p>
          </p:txBody>
        </p:sp>
        <p:sp>
          <p:nvSpPr>
            <p:cNvPr id="26" name="Line 38"/>
            <p:cNvSpPr>
              <a:spLocks noChangeShapeType="1"/>
            </p:cNvSpPr>
            <p:nvPr/>
          </p:nvSpPr>
          <p:spPr bwMode="auto">
            <a:xfrm flipV="1">
              <a:off x="1580786" y="3357910"/>
              <a:ext cx="0" cy="503237"/>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7" name="Rectangle 8"/>
            <p:cNvSpPr>
              <a:spLocks noChangeArrowheads="1"/>
            </p:cNvSpPr>
            <p:nvPr/>
          </p:nvSpPr>
          <p:spPr bwMode="auto">
            <a:xfrm>
              <a:off x="2562786" y="2830860"/>
              <a:ext cx="1406790" cy="482600"/>
            </a:xfrm>
            <a:prstGeom prst="rect">
              <a:avLst/>
            </a:prstGeom>
            <a:solidFill>
              <a:srgbClr val="FF66FF"/>
            </a:solidFill>
            <a:ln w="19050">
              <a:solidFill>
                <a:schemeClr val="tx1"/>
              </a:solidFill>
              <a:miter lim="800000"/>
              <a:headEnd/>
              <a:tailEnd/>
            </a:ln>
            <a:effectLst/>
          </p:spPr>
          <p:txBody>
            <a:bodyPr wrap="none" anchor="ctr"/>
            <a:lstStyle/>
            <a:p>
              <a:pPr lvl="0" algn="just"/>
              <a:r>
                <a:rPr kumimoji="1" lang="en-US" altLang="zh-CN" sz="1400" b="1" dirty="0">
                  <a:latin typeface="微软雅黑" pitchFamily="34" charset="-122"/>
                  <a:ea typeface="微软雅黑" pitchFamily="34" charset="-122"/>
                </a:rPr>
                <a:t>MPLS </a:t>
              </a:r>
              <a:r>
                <a:rPr kumimoji="1" lang="zh-CN" altLang="en-US" sz="1400" b="1" dirty="0">
                  <a:latin typeface="微软雅黑" pitchFamily="34" charset="-122"/>
                  <a:ea typeface="微软雅黑" pitchFamily="34" charset="-122"/>
                </a:rPr>
                <a:t>首部</a:t>
              </a:r>
            </a:p>
          </p:txBody>
        </p:sp>
        <p:sp>
          <p:nvSpPr>
            <p:cNvPr id="28" name="Rectangle 8"/>
            <p:cNvSpPr>
              <a:spLocks noChangeArrowheads="1"/>
            </p:cNvSpPr>
            <p:nvPr/>
          </p:nvSpPr>
          <p:spPr bwMode="auto">
            <a:xfrm>
              <a:off x="3970436" y="2830859"/>
              <a:ext cx="910556"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just"/>
              <a:r>
                <a:rPr kumimoji="1" lang="en-US" altLang="zh-CN" sz="1400" b="1" dirty="0">
                  <a:solidFill>
                    <a:schemeClr val="bg1"/>
                  </a:solidFill>
                  <a:latin typeface="微软雅黑" pitchFamily="34" charset="-122"/>
                  <a:ea typeface="微软雅黑" pitchFamily="34" charset="-122"/>
                </a:rPr>
                <a:t>IP </a:t>
              </a:r>
              <a:r>
                <a:rPr kumimoji="1" lang="zh-CN" altLang="en-US" sz="1400" b="1" dirty="0">
                  <a:solidFill>
                    <a:schemeClr val="bg1"/>
                  </a:solidFill>
                  <a:latin typeface="微软雅黑" pitchFamily="34" charset="-122"/>
                  <a:ea typeface="微软雅黑" pitchFamily="34" charset="-122"/>
                </a:rPr>
                <a:t>首部</a:t>
              </a:r>
            </a:p>
          </p:txBody>
        </p:sp>
        <p:sp>
          <p:nvSpPr>
            <p:cNvPr id="29" name="Rectangle 8"/>
            <p:cNvSpPr>
              <a:spLocks noChangeArrowheads="1"/>
            </p:cNvSpPr>
            <p:nvPr/>
          </p:nvSpPr>
          <p:spPr bwMode="auto">
            <a:xfrm>
              <a:off x="4880992" y="2830859"/>
              <a:ext cx="2841468"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just"/>
              <a:r>
                <a:rPr kumimoji="1" lang="zh-CN" altLang="en-US" sz="1400" b="1" dirty="0">
                  <a:solidFill>
                    <a:schemeClr val="bg1"/>
                  </a:solidFill>
                  <a:latin typeface="微软雅黑" pitchFamily="34" charset="-122"/>
                  <a:ea typeface="微软雅黑" pitchFamily="34" charset="-122"/>
                </a:rPr>
                <a:t>         </a:t>
              </a:r>
              <a:r>
                <a:rPr kumimoji="1" lang="en-US" altLang="zh-CN" sz="1400" b="1" dirty="0">
                  <a:solidFill>
                    <a:schemeClr val="bg1"/>
                  </a:solidFill>
                  <a:latin typeface="微软雅黑" pitchFamily="34" charset="-122"/>
                  <a:ea typeface="微软雅黑" pitchFamily="34" charset="-122"/>
                </a:rPr>
                <a:t>IP  </a:t>
              </a:r>
              <a:r>
                <a:rPr kumimoji="1" lang="zh-CN" altLang="en-US" sz="1400" b="1" dirty="0">
                  <a:solidFill>
                    <a:schemeClr val="bg1"/>
                  </a:solidFill>
                  <a:latin typeface="微软雅黑" pitchFamily="34" charset="-122"/>
                  <a:ea typeface="微软雅黑" pitchFamily="34" charset="-122"/>
                </a:rPr>
                <a:t>数  据  部  分</a:t>
              </a:r>
            </a:p>
          </p:txBody>
        </p:sp>
        <p:sp>
          <p:nvSpPr>
            <p:cNvPr id="30" name="Rectangle 8"/>
            <p:cNvSpPr>
              <a:spLocks noChangeArrowheads="1"/>
            </p:cNvSpPr>
            <p:nvPr/>
          </p:nvSpPr>
          <p:spPr bwMode="auto">
            <a:xfrm>
              <a:off x="7722460" y="2830859"/>
              <a:ext cx="982000"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kumimoji="1" lang="zh-CN" altLang="en-US" sz="1400" b="1" dirty="0">
                  <a:solidFill>
                    <a:schemeClr val="bg1"/>
                  </a:solidFill>
                  <a:latin typeface="微软雅黑" pitchFamily="34" charset="-122"/>
                  <a:ea typeface="微软雅黑" pitchFamily="34" charset="-122"/>
                </a:rPr>
                <a:t>帧尾部  </a:t>
              </a:r>
            </a:p>
          </p:txBody>
        </p:sp>
      </p:grpSp>
      <p:sp>
        <p:nvSpPr>
          <p:cNvPr id="32" name="对角圆角矩形 31"/>
          <p:cNvSpPr/>
          <p:nvPr/>
        </p:nvSpPr>
        <p:spPr>
          <a:xfrm>
            <a:off x="1059254" y="3476593"/>
            <a:ext cx="7143184" cy="923374"/>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矩形 32"/>
          <p:cNvSpPr/>
          <p:nvPr/>
        </p:nvSpPr>
        <p:spPr>
          <a:xfrm>
            <a:off x="1293009" y="3584456"/>
            <a:ext cx="6629111" cy="733534"/>
          </a:xfrm>
          <a:prstGeom prst="rect">
            <a:avLst/>
          </a:prstGeom>
        </p:spPr>
        <p:txBody>
          <a:bodyPr wrap="square">
            <a:spAutoFit/>
          </a:bodyPr>
          <a:lstStyle/>
          <a:p>
            <a:pPr>
              <a:lnSpc>
                <a:spcPts val="2500"/>
              </a:lnSpc>
            </a:pPr>
            <a:r>
              <a:rPr lang="zh-CN" altLang="en-US" b="1" dirty="0">
                <a:solidFill>
                  <a:srgbClr val="FFFF00"/>
                </a:solidFill>
                <a:latin typeface="微软雅黑" pitchFamily="34" charset="-122"/>
                <a:ea typeface="微软雅黑" pitchFamily="34" charset="-122"/>
              </a:rPr>
              <a:t>给 </a:t>
            </a:r>
            <a:r>
              <a:rPr lang="en-US" altLang="zh-CN" b="1" dirty="0">
                <a:solidFill>
                  <a:srgbClr val="FFFF00"/>
                </a:solidFill>
                <a:latin typeface="微软雅黑" pitchFamily="34" charset="-122"/>
                <a:ea typeface="微软雅黑" pitchFamily="34" charset="-122"/>
              </a:rPr>
              <a:t>IP </a:t>
            </a:r>
            <a:r>
              <a:rPr lang="zh-CN" altLang="en-US" b="1" dirty="0">
                <a:solidFill>
                  <a:srgbClr val="FFFF00"/>
                </a:solidFill>
                <a:latin typeface="微软雅黑" pitchFamily="34" charset="-122"/>
                <a:ea typeface="微软雅黑" pitchFamily="34" charset="-122"/>
              </a:rPr>
              <a:t>数据报打上标记</a:t>
            </a:r>
            <a:r>
              <a:rPr lang="zh-CN" altLang="en-US" b="1" dirty="0">
                <a:solidFill>
                  <a:schemeClr val="bg1"/>
                </a:solidFill>
                <a:latin typeface="微软雅黑" pitchFamily="34" charset="-122"/>
                <a:ea typeface="微软雅黑" pitchFamily="34" charset="-122"/>
              </a:rPr>
              <a:t>就是在以太网帧首部和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数据报首部之间插入一个 </a:t>
            </a:r>
            <a:r>
              <a:rPr lang="en-US" altLang="zh-CN" b="1" dirty="0">
                <a:solidFill>
                  <a:srgbClr val="FFFF00"/>
                </a:solidFill>
                <a:latin typeface="微软雅黑" pitchFamily="34" charset="-122"/>
                <a:ea typeface="微软雅黑" pitchFamily="34" charset="-122"/>
              </a:rPr>
              <a:t>4 </a:t>
            </a:r>
            <a:r>
              <a:rPr lang="zh-CN" altLang="en-US" b="1" dirty="0">
                <a:solidFill>
                  <a:srgbClr val="FFFF00"/>
                </a:solidFill>
                <a:latin typeface="微软雅黑" pitchFamily="34" charset="-122"/>
                <a:ea typeface="微软雅黑" pitchFamily="34" charset="-122"/>
              </a:rPr>
              <a:t>字节</a:t>
            </a:r>
            <a:r>
              <a:rPr lang="zh-CN" altLang="en-US" b="1" dirty="0">
                <a:solidFill>
                  <a:schemeClr val="bg1"/>
                </a:solidFill>
                <a:latin typeface="微软雅黑" pitchFamily="34" charset="-122"/>
                <a:ea typeface="微软雅黑" pitchFamily="34" charset="-122"/>
              </a:rPr>
              <a:t>的 </a:t>
            </a:r>
            <a:r>
              <a:rPr lang="en-US" altLang="zh-CN" b="1" dirty="0">
                <a:solidFill>
                  <a:schemeClr val="bg1"/>
                </a:solidFill>
                <a:latin typeface="微软雅黑" pitchFamily="34" charset="-122"/>
                <a:ea typeface="微软雅黑" pitchFamily="34" charset="-122"/>
              </a:rPr>
              <a:t>MPLS </a:t>
            </a:r>
            <a:r>
              <a:rPr lang="zh-CN" altLang="en-US" b="1" dirty="0">
                <a:solidFill>
                  <a:schemeClr val="bg1"/>
                </a:solidFill>
                <a:latin typeface="微软雅黑" pitchFamily="34" charset="-122"/>
                <a:ea typeface="微软雅黑" pitchFamily="34" charset="-122"/>
              </a:rPr>
              <a:t>首部。</a:t>
            </a:r>
          </a:p>
        </p:txBody>
      </p:sp>
    </p:spTree>
    <p:extLst>
      <p:ext uri="{BB962C8B-B14F-4D97-AF65-F5344CB8AC3E}">
        <p14:creationId xmlns:p14="http://schemas.microsoft.com/office/powerpoint/2010/main" val="342623883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71879"/>
            <a:ext cx="8053711" cy="236800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p:cNvSpPr>
            <a:spLocks noChangeArrowheads="1"/>
          </p:cNvSpPr>
          <p:nvPr/>
        </p:nvSpPr>
        <p:spPr bwMode="auto">
          <a:xfrm>
            <a:off x="545144" y="61414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09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MPLS </a:t>
            </a:r>
            <a:r>
              <a:rPr lang="zh-CN" altLang="en-US" sz="2000" b="1" dirty="0">
                <a:solidFill>
                  <a:schemeClr val="bg1"/>
                </a:solidFill>
                <a:latin typeface="微软雅黑" pitchFamily="34" charset="-122"/>
                <a:ea typeface="微软雅黑" pitchFamily="34" charset="-122"/>
              </a:rPr>
              <a:t>首部的格式</a:t>
            </a:r>
          </a:p>
        </p:txBody>
      </p:sp>
      <p:grpSp>
        <p:nvGrpSpPr>
          <p:cNvPr id="31" name="组合 30"/>
          <p:cNvGrpSpPr/>
          <p:nvPr/>
        </p:nvGrpSpPr>
        <p:grpSpPr>
          <a:xfrm>
            <a:off x="1150083" y="1142751"/>
            <a:ext cx="6692134" cy="2202496"/>
            <a:chOff x="445521" y="1337046"/>
            <a:chExt cx="8662793" cy="2851073"/>
          </a:xfrm>
        </p:grpSpPr>
        <p:sp>
          <p:nvSpPr>
            <p:cNvPr id="5" name="Freeform 41"/>
            <p:cNvSpPr>
              <a:spLocks/>
            </p:cNvSpPr>
            <p:nvPr/>
          </p:nvSpPr>
          <p:spPr bwMode="auto">
            <a:xfrm>
              <a:off x="1066567" y="2200621"/>
              <a:ext cx="8027988" cy="628650"/>
            </a:xfrm>
            <a:custGeom>
              <a:avLst/>
              <a:gdLst>
                <a:gd name="T0" fmla="*/ 0 w 4668"/>
                <a:gd name="T1" fmla="*/ 0 h 396"/>
                <a:gd name="T2" fmla="*/ 4668 w 4668"/>
                <a:gd name="T3" fmla="*/ 6 h 396"/>
                <a:gd name="T4" fmla="*/ 1680 w 4668"/>
                <a:gd name="T5" fmla="*/ 396 h 396"/>
                <a:gd name="T6" fmla="*/ 876 w 4668"/>
                <a:gd name="T7" fmla="*/ 390 h 396"/>
                <a:gd name="T8" fmla="*/ 0 w 4668"/>
                <a:gd name="T9" fmla="*/ 0 h 396"/>
              </a:gdLst>
              <a:ahLst/>
              <a:cxnLst>
                <a:cxn ang="0">
                  <a:pos x="T0" y="T1"/>
                </a:cxn>
                <a:cxn ang="0">
                  <a:pos x="T2" y="T3"/>
                </a:cxn>
                <a:cxn ang="0">
                  <a:pos x="T4" y="T5"/>
                </a:cxn>
                <a:cxn ang="0">
                  <a:pos x="T6" y="T7"/>
                </a:cxn>
                <a:cxn ang="0">
                  <a:pos x="T8" y="T9"/>
                </a:cxn>
              </a:cxnLst>
              <a:rect l="0" t="0" r="r" b="b"/>
              <a:pathLst>
                <a:path w="4668" h="396">
                  <a:moveTo>
                    <a:pt x="0" y="0"/>
                  </a:moveTo>
                  <a:lnTo>
                    <a:pt x="4668" y="6"/>
                  </a:lnTo>
                  <a:lnTo>
                    <a:pt x="1680" y="396"/>
                  </a:lnTo>
                  <a:lnTo>
                    <a:pt x="876" y="390"/>
                  </a:lnTo>
                  <a:lnTo>
                    <a:pt x="0" y="0"/>
                  </a:lnTo>
                  <a:close/>
                </a:path>
              </a:pathLst>
            </a:custGeom>
            <a:gradFill rotWithShape="1">
              <a:gsLst>
                <a:gs pos="0">
                  <a:srgbClr val="00B050"/>
                </a:gs>
                <a:gs pos="100000">
                  <a:srgbClr val="00FFFF"/>
                </a:gs>
              </a:gsLst>
              <a:lin ang="5400000" scaled="1"/>
            </a:gradFill>
            <a:ln>
              <a:noFill/>
            </a:ln>
            <a:effectLst/>
          </p:spPr>
          <p:txBody>
            <a:bodyPr/>
            <a:lstStyle/>
            <a:p>
              <a:endParaRPr lang="zh-CN" altLang="en-US" sz="1400" b="1">
                <a:solidFill>
                  <a:srgbClr val="000099"/>
                </a:solidFill>
                <a:latin typeface="微软雅黑" pitchFamily="34" charset="-122"/>
                <a:ea typeface="微软雅黑" pitchFamily="34" charset="-122"/>
              </a:endParaRPr>
            </a:p>
          </p:txBody>
        </p:sp>
        <p:sp>
          <p:nvSpPr>
            <p:cNvPr id="6" name="Line 2"/>
            <p:cNvSpPr>
              <a:spLocks noChangeShapeType="1"/>
            </p:cNvSpPr>
            <p:nvPr/>
          </p:nvSpPr>
          <p:spPr bwMode="auto">
            <a:xfrm flipV="1">
              <a:off x="3969576" y="2227609"/>
              <a:ext cx="5138738" cy="6032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 name="Text Box 6"/>
            <p:cNvSpPr txBox="1">
              <a:spLocks noChangeArrowheads="1"/>
            </p:cNvSpPr>
            <p:nvPr/>
          </p:nvSpPr>
          <p:spPr bwMode="auto">
            <a:xfrm>
              <a:off x="2935072" y="2421284"/>
              <a:ext cx="703856" cy="398409"/>
            </a:xfrm>
            <a:prstGeom prst="rect">
              <a:avLst/>
            </a:prstGeom>
            <a:noFill/>
            <a:ln>
              <a:noFill/>
            </a:ln>
            <a:effectLst/>
            <a:extLst>
              <a:ext uri="{909E8E84-426E-40DD-AFC4-6F175D3DCCD1}">
                <a14:hiddenFill xmlns:a14="http://schemas.microsoft.com/office/drawing/2010/main">
                  <a:solidFill>
                    <a:srgbClr val="FFFFFF">
                      <a:alpha val="41000"/>
                    </a:srgb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栈顶</a:t>
              </a:r>
            </a:p>
          </p:txBody>
        </p:sp>
        <p:sp>
          <p:nvSpPr>
            <p:cNvPr id="9" name="Rectangle 8"/>
            <p:cNvSpPr>
              <a:spLocks noChangeArrowheads="1"/>
            </p:cNvSpPr>
            <p:nvPr/>
          </p:nvSpPr>
          <p:spPr bwMode="auto">
            <a:xfrm>
              <a:off x="1580786" y="2830859"/>
              <a:ext cx="982000"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kumimoji="1" lang="zh-CN" altLang="en-US" sz="1400" b="1" dirty="0">
                  <a:solidFill>
                    <a:schemeClr val="bg1"/>
                  </a:solidFill>
                  <a:latin typeface="微软雅黑" pitchFamily="34" charset="-122"/>
                  <a:ea typeface="微软雅黑" pitchFamily="34" charset="-122"/>
                </a:rPr>
                <a:t>帧首部  </a:t>
              </a:r>
            </a:p>
          </p:txBody>
        </p:sp>
        <p:sp>
          <p:nvSpPr>
            <p:cNvPr id="10" name="Rectangle 9"/>
            <p:cNvSpPr>
              <a:spLocks noChangeArrowheads="1"/>
            </p:cNvSpPr>
            <p:nvPr/>
          </p:nvSpPr>
          <p:spPr bwMode="auto">
            <a:xfrm>
              <a:off x="1056249" y="1675159"/>
              <a:ext cx="8038306" cy="525462"/>
            </a:xfrm>
            <a:prstGeom prst="rect">
              <a:avLst/>
            </a:prstGeom>
            <a:solidFill>
              <a:srgbClr val="99FFCC"/>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1" name="Line 10"/>
            <p:cNvSpPr>
              <a:spLocks noChangeShapeType="1"/>
            </p:cNvSpPr>
            <p:nvPr/>
          </p:nvSpPr>
          <p:spPr bwMode="auto">
            <a:xfrm>
              <a:off x="6079761" y="1675159"/>
              <a:ext cx="0"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2" name="Line 11"/>
            <p:cNvSpPr>
              <a:spLocks noChangeShapeType="1"/>
            </p:cNvSpPr>
            <p:nvPr/>
          </p:nvSpPr>
          <p:spPr bwMode="auto">
            <a:xfrm>
              <a:off x="6846788" y="1675159"/>
              <a:ext cx="6879"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 name="Line 12"/>
            <p:cNvSpPr>
              <a:spLocks noChangeShapeType="1"/>
            </p:cNvSpPr>
            <p:nvPr/>
          </p:nvSpPr>
          <p:spPr bwMode="auto">
            <a:xfrm>
              <a:off x="7085838" y="1675159"/>
              <a:ext cx="0"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4" name="Text Box 13"/>
            <p:cNvSpPr txBox="1">
              <a:spLocks noChangeArrowheads="1"/>
            </p:cNvSpPr>
            <p:nvPr/>
          </p:nvSpPr>
          <p:spPr bwMode="auto">
            <a:xfrm>
              <a:off x="2935323" y="1729647"/>
              <a:ext cx="1347120"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FF"/>
                  </a:solidFill>
                  <a:latin typeface="微软雅黑" pitchFamily="34" charset="-122"/>
                  <a:ea typeface="微软雅黑" pitchFamily="34" charset="-122"/>
                </a:rPr>
                <a:t>标   签   值</a:t>
              </a:r>
            </a:p>
          </p:txBody>
        </p:sp>
        <p:sp>
          <p:nvSpPr>
            <p:cNvPr id="15" name="Text Box 14"/>
            <p:cNvSpPr txBox="1">
              <a:spLocks noChangeArrowheads="1"/>
            </p:cNvSpPr>
            <p:nvPr/>
          </p:nvSpPr>
          <p:spPr bwMode="auto">
            <a:xfrm>
              <a:off x="7298742" y="1729647"/>
              <a:ext cx="165912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生存时间 </a:t>
              </a:r>
              <a:r>
                <a:rPr kumimoji="1" lang="en-US" altLang="zh-CN" sz="1400" b="1" dirty="0">
                  <a:latin typeface="微软雅黑" pitchFamily="34" charset="-122"/>
                  <a:ea typeface="微软雅黑" pitchFamily="34" charset="-122"/>
                </a:rPr>
                <a:t>TTL</a:t>
              </a:r>
            </a:p>
          </p:txBody>
        </p:sp>
        <p:sp>
          <p:nvSpPr>
            <p:cNvPr id="16" name="Text Box 15"/>
            <p:cNvSpPr txBox="1">
              <a:spLocks noChangeArrowheads="1"/>
            </p:cNvSpPr>
            <p:nvPr/>
          </p:nvSpPr>
          <p:spPr bwMode="auto">
            <a:xfrm>
              <a:off x="6075411" y="1729647"/>
              <a:ext cx="772332"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试 验</a:t>
              </a:r>
            </a:p>
          </p:txBody>
        </p:sp>
        <p:sp>
          <p:nvSpPr>
            <p:cNvPr id="17" name="Text Box 16"/>
            <p:cNvSpPr txBox="1">
              <a:spLocks noChangeArrowheads="1"/>
            </p:cNvSpPr>
            <p:nvPr/>
          </p:nvSpPr>
          <p:spPr bwMode="auto">
            <a:xfrm>
              <a:off x="6781436" y="1729647"/>
              <a:ext cx="378074"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S</a:t>
              </a:r>
            </a:p>
          </p:txBody>
        </p:sp>
        <p:sp>
          <p:nvSpPr>
            <p:cNvPr id="18" name="Text Box 17"/>
            <p:cNvSpPr txBox="1">
              <a:spLocks noChangeArrowheads="1"/>
            </p:cNvSpPr>
            <p:nvPr/>
          </p:nvSpPr>
          <p:spPr bwMode="auto">
            <a:xfrm>
              <a:off x="704530" y="1337046"/>
              <a:ext cx="8390027"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400" b="1" dirty="0">
                  <a:solidFill>
                    <a:srgbClr val="000099"/>
                  </a:solidFill>
                  <a:latin typeface="微软雅黑" pitchFamily="34" charset="-122"/>
                  <a:ea typeface="微软雅黑" pitchFamily="34" charset="-122"/>
                </a:rPr>
                <a:t>位                              </a:t>
              </a:r>
              <a:r>
                <a:rPr kumimoji="1" lang="en-US" altLang="zh-CN" sz="1400" b="1" dirty="0">
                  <a:solidFill>
                    <a:srgbClr val="0000FF"/>
                  </a:solidFill>
                  <a:latin typeface="微软雅黑" pitchFamily="34" charset="-122"/>
                  <a:ea typeface="微软雅黑" pitchFamily="34" charset="-122"/>
                </a:rPr>
                <a:t>20</a:t>
              </a:r>
              <a:r>
                <a:rPr kumimoji="1" lang="en-US" altLang="zh-CN" sz="1400" b="1" dirty="0">
                  <a:solidFill>
                    <a:srgbClr val="000099"/>
                  </a:solidFill>
                  <a:latin typeface="微软雅黑" pitchFamily="34" charset="-122"/>
                  <a:ea typeface="微软雅黑" pitchFamily="34" charset="-122"/>
                </a:rPr>
                <a:t>                                            3      1             8</a:t>
              </a:r>
            </a:p>
          </p:txBody>
        </p:sp>
        <p:sp>
          <p:nvSpPr>
            <p:cNvPr id="19" name="Line 19"/>
            <p:cNvSpPr>
              <a:spLocks noChangeShapeType="1"/>
            </p:cNvSpPr>
            <p:nvPr/>
          </p:nvSpPr>
          <p:spPr bwMode="auto">
            <a:xfrm>
              <a:off x="3970436" y="3353087"/>
              <a:ext cx="0" cy="4826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0" name="Line 21"/>
            <p:cNvSpPr>
              <a:spLocks noChangeShapeType="1"/>
            </p:cNvSpPr>
            <p:nvPr/>
          </p:nvSpPr>
          <p:spPr bwMode="auto">
            <a:xfrm>
              <a:off x="1056249" y="2214909"/>
              <a:ext cx="1520296" cy="6159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1" name="Line 22"/>
            <p:cNvSpPr>
              <a:spLocks noChangeShapeType="1"/>
            </p:cNvSpPr>
            <p:nvPr/>
          </p:nvSpPr>
          <p:spPr bwMode="auto">
            <a:xfrm>
              <a:off x="7722460" y="3370138"/>
              <a:ext cx="0" cy="4826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2" name="Line 33"/>
            <p:cNvSpPr>
              <a:spLocks noChangeShapeType="1"/>
            </p:cNvSpPr>
            <p:nvPr/>
          </p:nvSpPr>
          <p:spPr bwMode="auto">
            <a:xfrm>
              <a:off x="3967361" y="3695887"/>
              <a:ext cx="3755099" cy="0"/>
            </a:xfrm>
            <a:prstGeom prst="line">
              <a:avLst/>
            </a:prstGeom>
            <a:noFill/>
            <a:ln w="1905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3" name="Text Box 34"/>
            <p:cNvSpPr txBox="1">
              <a:spLocks noChangeArrowheads="1"/>
            </p:cNvSpPr>
            <p:nvPr/>
          </p:nvSpPr>
          <p:spPr bwMode="auto">
            <a:xfrm>
              <a:off x="5198284" y="3460937"/>
              <a:ext cx="1237143" cy="398409"/>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99"/>
                  </a:solidFill>
                  <a:latin typeface="微软雅黑" pitchFamily="34" charset="-122"/>
                  <a:ea typeface="微软雅黑" pitchFamily="34" charset="-122"/>
                </a:rPr>
                <a:t>IP </a:t>
              </a:r>
              <a:r>
                <a:rPr kumimoji="1" lang="zh-CN" altLang="en-US" sz="1400" b="1" dirty="0">
                  <a:solidFill>
                    <a:srgbClr val="000099"/>
                  </a:solidFill>
                  <a:latin typeface="微软雅黑" pitchFamily="34" charset="-122"/>
                  <a:ea typeface="微软雅黑" pitchFamily="34" charset="-122"/>
                </a:rPr>
                <a:t>数据报</a:t>
              </a:r>
            </a:p>
          </p:txBody>
        </p:sp>
        <p:sp>
          <p:nvSpPr>
            <p:cNvPr id="24" name="Text Box 35"/>
            <p:cNvSpPr txBox="1">
              <a:spLocks noChangeArrowheads="1"/>
            </p:cNvSpPr>
            <p:nvPr/>
          </p:nvSpPr>
          <p:spPr bwMode="auto">
            <a:xfrm>
              <a:off x="445521" y="2865786"/>
              <a:ext cx="116866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99"/>
                  </a:solidFill>
                  <a:latin typeface="微软雅黑" pitchFamily="34" charset="-122"/>
                  <a:ea typeface="微软雅黑" pitchFamily="34" charset="-122"/>
                </a:rPr>
                <a:t>以太网帧</a:t>
              </a:r>
            </a:p>
          </p:txBody>
        </p:sp>
        <p:sp>
          <p:nvSpPr>
            <p:cNvPr id="25" name="Text Box 37"/>
            <p:cNvSpPr txBox="1">
              <a:spLocks noChangeArrowheads="1"/>
            </p:cNvSpPr>
            <p:nvPr/>
          </p:nvSpPr>
          <p:spPr bwMode="auto">
            <a:xfrm>
              <a:off x="879110" y="3789710"/>
              <a:ext cx="116866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solidFill>
                    <a:srgbClr val="000099"/>
                  </a:solidFill>
                  <a:latin typeface="微软雅黑" pitchFamily="34" charset="-122"/>
                  <a:ea typeface="微软雅黑" pitchFamily="34" charset="-122"/>
                </a:rPr>
                <a:t>发送在前</a:t>
              </a:r>
            </a:p>
          </p:txBody>
        </p:sp>
        <p:sp>
          <p:nvSpPr>
            <p:cNvPr id="26" name="Line 38"/>
            <p:cNvSpPr>
              <a:spLocks noChangeShapeType="1"/>
            </p:cNvSpPr>
            <p:nvPr/>
          </p:nvSpPr>
          <p:spPr bwMode="auto">
            <a:xfrm flipV="1">
              <a:off x="1580786" y="3357910"/>
              <a:ext cx="0" cy="503237"/>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7" name="Rectangle 8"/>
            <p:cNvSpPr>
              <a:spLocks noChangeArrowheads="1"/>
            </p:cNvSpPr>
            <p:nvPr/>
          </p:nvSpPr>
          <p:spPr bwMode="auto">
            <a:xfrm>
              <a:off x="2562786" y="2830860"/>
              <a:ext cx="1406790" cy="482600"/>
            </a:xfrm>
            <a:prstGeom prst="rect">
              <a:avLst/>
            </a:prstGeom>
            <a:solidFill>
              <a:srgbClr val="FF66FF"/>
            </a:solidFill>
            <a:ln w="19050">
              <a:solidFill>
                <a:schemeClr val="tx1"/>
              </a:solidFill>
              <a:miter lim="800000"/>
              <a:headEnd/>
              <a:tailEnd/>
            </a:ln>
            <a:effectLst/>
          </p:spPr>
          <p:txBody>
            <a:bodyPr wrap="none" anchor="ctr"/>
            <a:lstStyle/>
            <a:p>
              <a:pPr lvl="0" algn="just"/>
              <a:r>
                <a:rPr kumimoji="1" lang="en-US" altLang="zh-CN" sz="1400" b="1" dirty="0">
                  <a:latin typeface="微软雅黑" pitchFamily="34" charset="-122"/>
                  <a:ea typeface="微软雅黑" pitchFamily="34" charset="-122"/>
                </a:rPr>
                <a:t>MPLS </a:t>
              </a:r>
              <a:r>
                <a:rPr kumimoji="1" lang="zh-CN" altLang="en-US" sz="1400" b="1" dirty="0">
                  <a:latin typeface="微软雅黑" pitchFamily="34" charset="-122"/>
                  <a:ea typeface="微软雅黑" pitchFamily="34" charset="-122"/>
                </a:rPr>
                <a:t>首部</a:t>
              </a:r>
            </a:p>
          </p:txBody>
        </p:sp>
        <p:sp>
          <p:nvSpPr>
            <p:cNvPr id="28" name="Rectangle 8"/>
            <p:cNvSpPr>
              <a:spLocks noChangeArrowheads="1"/>
            </p:cNvSpPr>
            <p:nvPr/>
          </p:nvSpPr>
          <p:spPr bwMode="auto">
            <a:xfrm>
              <a:off x="3970436" y="2830859"/>
              <a:ext cx="910556"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just"/>
              <a:r>
                <a:rPr kumimoji="1" lang="en-US" altLang="zh-CN" sz="1400" b="1" dirty="0">
                  <a:solidFill>
                    <a:schemeClr val="bg1"/>
                  </a:solidFill>
                  <a:latin typeface="微软雅黑" pitchFamily="34" charset="-122"/>
                  <a:ea typeface="微软雅黑" pitchFamily="34" charset="-122"/>
                </a:rPr>
                <a:t>IP </a:t>
              </a:r>
              <a:r>
                <a:rPr kumimoji="1" lang="zh-CN" altLang="en-US" sz="1400" b="1" dirty="0">
                  <a:solidFill>
                    <a:schemeClr val="bg1"/>
                  </a:solidFill>
                  <a:latin typeface="微软雅黑" pitchFamily="34" charset="-122"/>
                  <a:ea typeface="微软雅黑" pitchFamily="34" charset="-122"/>
                </a:rPr>
                <a:t>首部</a:t>
              </a:r>
            </a:p>
          </p:txBody>
        </p:sp>
        <p:sp>
          <p:nvSpPr>
            <p:cNvPr id="29" name="Rectangle 8"/>
            <p:cNvSpPr>
              <a:spLocks noChangeArrowheads="1"/>
            </p:cNvSpPr>
            <p:nvPr/>
          </p:nvSpPr>
          <p:spPr bwMode="auto">
            <a:xfrm>
              <a:off x="4880992" y="2830859"/>
              <a:ext cx="2841468"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just"/>
              <a:r>
                <a:rPr kumimoji="1" lang="zh-CN" altLang="en-US" sz="1400" b="1" dirty="0">
                  <a:solidFill>
                    <a:schemeClr val="bg1"/>
                  </a:solidFill>
                  <a:latin typeface="微软雅黑" pitchFamily="34" charset="-122"/>
                  <a:ea typeface="微软雅黑" pitchFamily="34" charset="-122"/>
                </a:rPr>
                <a:t>         </a:t>
              </a:r>
              <a:r>
                <a:rPr kumimoji="1" lang="en-US" altLang="zh-CN" sz="1400" b="1" dirty="0">
                  <a:solidFill>
                    <a:schemeClr val="bg1"/>
                  </a:solidFill>
                  <a:latin typeface="微软雅黑" pitchFamily="34" charset="-122"/>
                  <a:ea typeface="微软雅黑" pitchFamily="34" charset="-122"/>
                </a:rPr>
                <a:t>IP  </a:t>
              </a:r>
              <a:r>
                <a:rPr kumimoji="1" lang="zh-CN" altLang="en-US" sz="1400" b="1" dirty="0">
                  <a:solidFill>
                    <a:schemeClr val="bg1"/>
                  </a:solidFill>
                  <a:latin typeface="微软雅黑" pitchFamily="34" charset="-122"/>
                  <a:ea typeface="微软雅黑" pitchFamily="34" charset="-122"/>
                </a:rPr>
                <a:t>数  据  部  分</a:t>
              </a:r>
            </a:p>
          </p:txBody>
        </p:sp>
        <p:sp>
          <p:nvSpPr>
            <p:cNvPr id="30" name="Rectangle 8"/>
            <p:cNvSpPr>
              <a:spLocks noChangeArrowheads="1"/>
            </p:cNvSpPr>
            <p:nvPr/>
          </p:nvSpPr>
          <p:spPr bwMode="auto">
            <a:xfrm>
              <a:off x="7722460" y="2830859"/>
              <a:ext cx="982000"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kumimoji="1" lang="zh-CN" altLang="en-US" sz="1400" b="1" dirty="0">
                  <a:solidFill>
                    <a:schemeClr val="bg1"/>
                  </a:solidFill>
                  <a:latin typeface="微软雅黑" pitchFamily="34" charset="-122"/>
                  <a:ea typeface="微软雅黑" pitchFamily="34" charset="-122"/>
                </a:rPr>
                <a:t>帧尾部  </a:t>
              </a:r>
            </a:p>
          </p:txBody>
        </p:sp>
      </p:grpSp>
      <p:sp>
        <p:nvSpPr>
          <p:cNvPr id="33" name="矩形 32"/>
          <p:cNvSpPr/>
          <p:nvPr/>
        </p:nvSpPr>
        <p:spPr>
          <a:xfrm>
            <a:off x="760492" y="3457987"/>
            <a:ext cx="8021370" cy="412934"/>
          </a:xfrm>
          <a:prstGeom prst="rect">
            <a:avLst/>
          </a:prstGeom>
        </p:spPr>
        <p:txBody>
          <a:bodyPr wrap="square">
            <a:spAutoFit/>
          </a:bodyPr>
          <a:lstStyle/>
          <a:p>
            <a:pPr>
              <a:lnSpc>
                <a:spcPts val="2500"/>
              </a:lnSpc>
            </a:pPr>
            <a:r>
              <a:rPr lang="en-US" altLang="zh-CN" b="1" dirty="0">
                <a:solidFill>
                  <a:srgbClr val="0000FF"/>
                </a:solidFill>
                <a:latin typeface="微软雅黑" pitchFamily="34" charset="-122"/>
                <a:ea typeface="微软雅黑" pitchFamily="34" charset="-122"/>
              </a:rPr>
              <a:t>(1) </a:t>
            </a:r>
            <a:r>
              <a:rPr lang="zh-CN" altLang="en-US" b="1" dirty="0">
                <a:solidFill>
                  <a:srgbClr val="0000FF"/>
                </a:solidFill>
                <a:latin typeface="微软雅黑" pitchFamily="34" charset="-122"/>
                <a:ea typeface="微软雅黑" pitchFamily="34" charset="-122"/>
              </a:rPr>
              <a:t>标签值（占 </a:t>
            </a:r>
            <a:r>
              <a:rPr lang="en-US" altLang="zh-CN" b="1" dirty="0">
                <a:solidFill>
                  <a:srgbClr val="0000FF"/>
                </a:solidFill>
                <a:latin typeface="微软雅黑" pitchFamily="34" charset="-122"/>
                <a:ea typeface="微软雅黑" pitchFamily="34" charset="-122"/>
              </a:rPr>
              <a:t>20 </a:t>
            </a:r>
            <a:r>
              <a:rPr lang="zh-CN" altLang="en-US" b="1" dirty="0">
                <a:solidFill>
                  <a:srgbClr val="0000FF"/>
                </a:solidFill>
                <a:latin typeface="微软雅黑" pitchFamily="34" charset="-122"/>
                <a:ea typeface="微软雅黑" pitchFamily="34" charset="-122"/>
              </a:rPr>
              <a:t>位），可以同时容纳高达 </a:t>
            </a:r>
            <a:r>
              <a:rPr lang="en-US" altLang="zh-CN" b="1" dirty="0">
                <a:solidFill>
                  <a:srgbClr val="0000FF"/>
                </a:solidFill>
                <a:latin typeface="微软雅黑" pitchFamily="34" charset="-122"/>
                <a:ea typeface="微软雅黑" pitchFamily="34" charset="-122"/>
              </a:rPr>
              <a:t>2</a:t>
            </a:r>
            <a:r>
              <a:rPr lang="en-US" altLang="zh-CN" b="1" baseline="30000" dirty="0">
                <a:solidFill>
                  <a:srgbClr val="0000FF"/>
                </a:solidFill>
                <a:latin typeface="微软雅黑" pitchFamily="34" charset="-122"/>
                <a:ea typeface="微软雅黑" pitchFamily="34" charset="-122"/>
              </a:rPr>
              <a:t>20</a:t>
            </a:r>
            <a:r>
              <a:rPr lang="en-US" altLang="zh-CN" b="1" dirty="0">
                <a:solidFill>
                  <a:srgbClr val="0000FF"/>
                </a:solidFill>
                <a:latin typeface="微软雅黑" pitchFamily="34" charset="-122"/>
                <a:ea typeface="微软雅黑" pitchFamily="34" charset="-122"/>
              </a:rPr>
              <a:t> </a:t>
            </a:r>
            <a:r>
              <a:rPr lang="zh-CN" altLang="en-US" b="1" dirty="0">
                <a:solidFill>
                  <a:srgbClr val="0000FF"/>
                </a:solidFill>
                <a:latin typeface="微软雅黑" pitchFamily="34" charset="-122"/>
                <a:ea typeface="微软雅黑" pitchFamily="34" charset="-122"/>
              </a:rPr>
              <a:t>个流（即 </a:t>
            </a:r>
            <a:r>
              <a:rPr lang="en-US" altLang="zh-CN" b="1" dirty="0">
                <a:solidFill>
                  <a:srgbClr val="0000FF"/>
                </a:solidFill>
                <a:latin typeface="微软雅黑" pitchFamily="34" charset="-122"/>
                <a:ea typeface="微软雅黑" pitchFamily="34" charset="-122"/>
              </a:rPr>
              <a:t>1048576 </a:t>
            </a:r>
            <a:r>
              <a:rPr lang="zh-CN" altLang="en-US" b="1" dirty="0">
                <a:solidFill>
                  <a:srgbClr val="0000FF"/>
                </a:solidFill>
                <a:latin typeface="微软雅黑" pitchFamily="34" charset="-122"/>
                <a:ea typeface="微软雅黑" pitchFamily="34" charset="-122"/>
              </a:rPr>
              <a:t>个流）。</a:t>
            </a:r>
          </a:p>
        </p:txBody>
      </p:sp>
    </p:spTree>
    <p:extLst>
      <p:ext uri="{BB962C8B-B14F-4D97-AF65-F5344CB8AC3E}">
        <p14:creationId xmlns:p14="http://schemas.microsoft.com/office/powerpoint/2010/main" val="141497324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71879"/>
            <a:ext cx="8053711" cy="236800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p:cNvSpPr>
            <a:spLocks noChangeArrowheads="1"/>
          </p:cNvSpPr>
          <p:nvPr/>
        </p:nvSpPr>
        <p:spPr bwMode="auto">
          <a:xfrm>
            <a:off x="545144" y="61414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09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MPLS </a:t>
            </a:r>
            <a:r>
              <a:rPr lang="zh-CN" altLang="en-US" sz="2000" b="1" dirty="0">
                <a:solidFill>
                  <a:schemeClr val="bg1"/>
                </a:solidFill>
                <a:latin typeface="微软雅黑" pitchFamily="34" charset="-122"/>
                <a:ea typeface="微软雅黑" pitchFamily="34" charset="-122"/>
              </a:rPr>
              <a:t>首部的格式</a:t>
            </a:r>
          </a:p>
        </p:txBody>
      </p:sp>
      <p:grpSp>
        <p:nvGrpSpPr>
          <p:cNvPr id="31" name="组合 30"/>
          <p:cNvGrpSpPr/>
          <p:nvPr/>
        </p:nvGrpSpPr>
        <p:grpSpPr>
          <a:xfrm>
            <a:off x="1150083" y="1142751"/>
            <a:ext cx="6692134" cy="2202496"/>
            <a:chOff x="445521" y="1337046"/>
            <a:chExt cx="8662793" cy="2851073"/>
          </a:xfrm>
        </p:grpSpPr>
        <p:sp>
          <p:nvSpPr>
            <p:cNvPr id="5" name="Freeform 41"/>
            <p:cNvSpPr>
              <a:spLocks/>
            </p:cNvSpPr>
            <p:nvPr/>
          </p:nvSpPr>
          <p:spPr bwMode="auto">
            <a:xfrm>
              <a:off x="1066567" y="2200621"/>
              <a:ext cx="8027988" cy="628650"/>
            </a:xfrm>
            <a:custGeom>
              <a:avLst/>
              <a:gdLst>
                <a:gd name="T0" fmla="*/ 0 w 4668"/>
                <a:gd name="T1" fmla="*/ 0 h 396"/>
                <a:gd name="T2" fmla="*/ 4668 w 4668"/>
                <a:gd name="T3" fmla="*/ 6 h 396"/>
                <a:gd name="T4" fmla="*/ 1680 w 4668"/>
                <a:gd name="T5" fmla="*/ 396 h 396"/>
                <a:gd name="T6" fmla="*/ 876 w 4668"/>
                <a:gd name="T7" fmla="*/ 390 h 396"/>
                <a:gd name="T8" fmla="*/ 0 w 4668"/>
                <a:gd name="T9" fmla="*/ 0 h 396"/>
              </a:gdLst>
              <a:ahLst/>
              <a:cxnLst>
                <a:cxn ang="0">
                  <a:pos x="T0" y="T1"/>
                </a:cxn>
                <a:cxn ang="0">
                  <a:pos x="T2" y="T3"/>
                </a:cxn>
                <a:cxn ang="0">
                  <a:pos x="T4" y="T5"/>
                </a:cxn>
                <a:cxn ang="0">
                  <a:pos x="T6" y="T7"/>
                </a:cxn>
                <a:cxn ang="0">
                  <a:pos x="T8" y="T9"/>
                </a:cxn>
              </a:cxnLst>
              <a:rect l="0" t="0" r="r" b="b"/>
              <a:pathLst>
                <a:path w="4668" h="396">
                  <a:moveTo>
                    <a:pt x="0" y="0"/>
                  </a:moveTo>
                  <a:lnTo>
                    <a:pt x="4668" y="6"/>
                  </a:lnTo>
                  <a:lnTo>
                    <a:pt x="1680" y="396"/>
                  </a:lnTo>
                  <a:lnTo>
                    <a:pt x="876" y="390"/>
                  </a:lnTo>
                  <a:lnTo>
                    <a:pt x="0" y="0"/>
                  </a:lnTo>
                  <a:close/>
                </a:path>
              </a:pathLst>
            </a:custGeom>
            <a:gradFill rotWithShape="1">
              <a:gsLst>
                <a:gs pos="0">
                  <a:srgbClr val="00B050"/>
                </a:gs>
                <a:gs pos="100000">
                  <a:srgbClr val="00FFFF"/>
                </a:gs>
              </a:gsLst>
              <a:lin ang="5400000" scaled="1"/>
            </a:gradFill>
            <a:ln>
              <a:noFill/>
            </a:ln>
            <a:effectLst/>
          </p:spPr>
          <p:txBody>
            <a:bodyPr/>
            <a:lstStyle/>
            <a:p>
              <a:endParaRPr lang="zh-CN" altLang="en-US" sz="1400" b="1">
                <a:solidFill>
                  <a:srgbClr val="000099"/>
                </a:solidFill>
                <a:latin typeface="微软雅黑" pitchFamily="34" charset="-122"/>
                <a:ea typeface="微软雅黑" pitchFamily="34" charset="-122"/>
              </a:endParaRPr>
            </a:p>
          </p:txBody>
        </p:sp>
        <p:sp>
          <p:nvSpPr>
            <p:cNvPr id="6" name="Line 2"/>
            <p:cNvSpPr>
              <a:spLocks noChangeShapeType="1"/>
            </p:cNvSpPr>
            <p:nvPr/>
          </p:nvSpPr>
          <p:spPr bwMode="auto">
            <a:xfrm flipV="1">
              <a:off x="3969576" y="2227609"/>
              <a:ext cx="5138738" cy="6032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 name="Text Box 6"/>
            <p:cNvSpPr txBox="1">
              <a:spLocks noChangeArrowheads="1"/>
            </p:cNvSpPr>
            <p:nvPr/>
          </p:nvSpPr>
          <p:spPr bwMode="auto">
            <a:xfrm>
              <a:off x="2935072" y="2421284"/>
              <a:ext cx="703856" cy="398409"/>
            </a:xfrm>
            <a:prstGeom prst="rect">
              <a:avLst/>
            </a:prstGeom>
            <a:noFill/>
            <a:ln>
              <a:noFill/>
            </a:ln>
            <a:effectLst/>
            <a:extLst>
              <a:ext uri="{909E8E84-426E-40DD-AFC4-6F175D3DCCD1}">
                <a14:hiddenFill xmlns:a14="http://schemas.microsoft.com/office/drawing/2010/main">
                  <a:solidFill>
                    <a:srgbClr val="FFFFFF">
                      <a:alpha val="41000"/>
                    </a:srgb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栈顶</a:t>
              </a:r>
            </a:p>
          </p:txBody>
        </p:sp>
        <p:sp>
          <p:nvSpPr>
            <p:cNvPr id="9" name="Rectangle 8"/>
            <p:cNvSpPr>
              <a:spLocks noChangeArrowheads="1"/>
            </p:cNvSpPr>
            <p:nvPr/>
          </p:nvSpPr>
          <p:spPr bwMode="auto">
            <a:xfrm>
              <a:off x="1580786" y="2830859"/>
              <a:ext cx="982000"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kumimoji="1" lang="zh-CN" altLang="en-US" sz="1400" b="1" dirty="0">
                  <a:solidFill>
                    <a:schemeClr val="bg1"/>
                  </a:solidFill>
                  <a:latin typeface="微软雅黑" pitchFamily="34" charset="-122"/>
                  <a:ea typeface="微软雅黑" pitchFamily="34" charset="-122"/>
                </a:rPr>
                <a:t>帧首部  </a:t>
              </a:r>
            </a:p>
          </p:txBody>
        </p:sp>
        <p:sp>
          <p:nvSpPr>
            <p:cNvPr id="10" name="Rectangle 9"/>
            <p:cNvSpPr>
              <a:spLocks noChangeArrowheads="1"/>
            </p:cNvSpPr>
            <p:nvPr/>
          </p:nvSpPr>
          <p:spPr bwMode="auto">
            <a:xfrm>
              <a:off x="1056249" y="1675159"/>
              <a:ext cx="8038306" cy="525462"/>
            </a:xfrm>
            <a:prstGeom prst="rect">
              <a:avLst/>
            </a:prstGeom>
            <a:solidFill>
              <a:srgbClr val="99FFCC"/>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1" name="Line 10"/>
            <p:cNvSpPr>
              <a:spLocks noChangeShapeType="1"/>
            </p:cNvSpPr>
            <p:nvPr/>
          </p:nvSpPr>
          <p:spPr bwMode="auto">
            <a:xfrm>
              <a:off x="6079761" y="1675159"/>
              <a:ext cx="0"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2" name="Line 11"/>
            <p:cNvSpPr>
              <a:spLocks noChangeShapeType="1"/>
            </p:cNvSpPr>
            <p:nvPr/>
          </p:nvSpPr>
          <p:spPr bwMode="auto">
            <a:xfrm>
              <a:off x="6846788" y="1675159"/>
              <a:ext cx="6879"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 name="Line 12"/>
            <p:cNvSpPr>
              <a:spLocks noChangeShapeType="1"/>
            </p:cNvSpPr>
            <p:nvPr/>
          </p:nvSpPr>
          <p:spPr bwMode="auto">
            <a:xfrm>
              <a:off x="7085838" y="1675159"/>
              <a:ext cx="0"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4" name="Text Box 13"/>
            <p:cNvSpPr txBox="1">
              <a:spLocks noChangeArrowheads="1"/>
            </p:cNvSpPr>
            <p:nvPr/>
          </p:nvSpPr>
          <p:spPr bwMode="auto">
            <a:xfrm>
              <a:off x="2935323" y="1729647"/>
              <a:ext cx="1347120"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标   签   值</a:t>
              </a:r>
            </a:p>
          </p:txBody>
        </p:sp>
        <p:sp>
          <p:nvSpPr>
            <p:cNvPr id="15" name="Text Box 14"/>
            <p:cNvSpPr txBox="1">
              <a:spLocks noChangeArrowheads="1"/>
            </p:cNvSpPr>
            <p:nvPr/>
          </p:nvSpPr>
          <p:spPr bwMode="auto">
            <a:xfrm>
              <a:off x="7298742" y="1729647"/>
              <a:ext cx="165912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生存时间 </a:t>
              </a:r>
              <a:r>
                <a:rPr kumimoji="1" lang="en-US" altLang="zh-CN" sz="1400" b="1" dirty="0">
                  <a:latin typeface="微软雅黑" pitchFamily="34" charset="-122"/>
                  <a:ea typeface="微软雅黑" pitchFamily="34" charset="-122"/>
                </a:rPr>
                <a:t>TTL</a:t>
              </a:r>
            </a:p>
          </p:txBody>
        </p:sp>
        <p:sp>
          <p:nvSpPr>
            <p:cNvPr id="16" name="Text Box 15"/>
            <p:cNvSpPr txBox="1">
              <a:spLocks noChangeArrowheads="1"/>
            </p:cNvSpPr>
            <p:nvPr/>
          </p:nvSpPr>
          <p:spPr bwMode="auto">
            <a:xfrm>
              <a:off x="6075411" y="1729647"/>
              <a:ext cx="772332"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FF"/>
                  </a:solidFill>
                  <a:latin typeface="微软雅黑" pitchFamily="34" charset="-122"/>
                  <a:ea typeface="微软雅黑" pitchFamily="34" charset="-122"/>
                </a:rPr>
                <a:t>试 验</a:t>
              </a:r>
            </a:p>
          </p:txBody>
        </p:sp>
        <p:sp>
          <p:nvSpPr>
            <p:cNvPr id="17" name="Text Box 16"/>
            <p:cNvSpPr txBox="1">
              <a:spLocks noChangeArrowheads="1"/>
            </p:cNvSpPr>
            <p:nvPr/>
          </p:nvSpPr>
          <p:spPr bwMode="auto">
            <a:xfrm>
              <a:off x="6781436" y="1729647"/>
              <a:ext cx="378074"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S</a:t>
              </a:r>
            </a:p>
          </p:txBody>
        </p:sp>
        <p:sp>
          <p:nvSpPr>
            <p:cNvPr id="18" name="Text Box 17"/>
            <p:cNvSpPr txBox="1">
              <a:spLocks noChangeArrowheads="1"/>
            </p:cNvSpPr>
            <p:nvPr/>
          </p:nvSpPr>
          <p:spPr bwMode="auto">
            <a:xfrm>
              <a:off x="704530" y="1337046"/>
              <a:ext cx="8390027"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400" b="1" dirty="0">
                  <a:solidFill>
                    <a:srgbClr val="000099"/>
                  </a:solidFill>
                  <a:latin typeface="微软雅黑" pitchFamily="34" charset="-122"/>
                  <a:ea typeface="微软雅黑" pitchFamily="34" charset="-122"/>
                </a:rPr>
                <a:t>位                              </a:t>
              </a:r>
              <a:r>
                <a:rPr kumimoji="1" lang="en-US" altLang="zh-CN" sz="1400" b="1" dirty="0">
                  <a:solidFill>
                    <a:srgbClr val="000099"/>
                  </a:solidFill>
                  <a:latin typeface="微软雅黑" pitchFamily="34" charset="-122"/>
                  <a:ea typeface="微软雅黑" pitchFamily="34" charset="-122"/>
                </a:rPr>
                <a:t>20                                            </a:t>
              </a:r>
              <a:r>
                <a:rPr kumimoji="1" lang="en-US" altLang="zh-CN" sz="1400" b="1" dirty="0">
                  <a:solidFill>
                    <a:srgbClr val="0000FF"/>
                  </a:solidFill>
                  <a:latin typeface="微软雅黑" pitchFamily="34" charset="-122"/>
                  <a:ea typeface="微软雅黑" pitchFamily="34" charset="-122"/>
                </a:rPr>
                <a:t>3</a:t>
              </a:r>
              <a:r>
                <a:rPr kumimoji="1" lang="en-US" altLang="zh-CN" sz="1400" b="1" dirty="0">
                  <a:solidFill>
                    <a:srgbClr val="000099"/>
                  </a:solidFill>
                  <a:latin typeface="微软雅黑" pitchFamily="34" charset="-122"/>
                  <a:ea typeface="微软雅黑" pitchFamily="34" charset="-122"/>
                </a:rPr>
                <a:t>      1             8</a:t>
              </a:r>
            </a:p>
          </p:txBody>
        </p:sp>
        <p:sp>
          <p:nvSpPr>
            <p:cNvPr id="19" name="Line 19"/>
            <p:cNvSpPr>
              <a:spLocks noChangeShapeType="1"/>
            </p:cNvSpPr>
            <p:nvPr/>
          </p:nvSpPr>
          <p:spPr bwMode="auto">
            <a:xfrm>
              <a:off x="3970436" y="3353087"/>
              <a:ext cx="0" cy="4826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0" name="Line 21"/>
            <p:cNvSpPr>
              <a:spLocks noChangeShapeType="1"/>
            </p:cNvSpPr>
            <p:nvPr/>
          </p:nvSpPr>
          <p:spPr bwMode="auto">
            <a:xfrm>
              <a:off x="1056249" y="2214909"/>
              <a:ext cx="1520296" cy="6159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1" name="Line 22"/>
            <p:cNvSpPr>
              <a:spLocks noChangeShapeType="1"/>
            </p:cNvSpPr>
            <p:nvPr/>
          </p:nvSpPr>
          <p:spPr bwMode="auto">
            <a:xfrm>
              <a:off x="7722460" y="3370138"/>
              <a:ext cx="0" cy="4826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2" name="Line 33"/>
            <p:cNvSpPr>
              <a:spLocks noChangeShapeType="1"/>
            </p:cNvSpPr>
            <p:nvPr/>
          </p:nvSpPr>
          <p:spPr bwMode="auto">
            <a:xfrm>
              <a:off x="3967361" y="3695887"/>
              <a:ext cx="3755099" cy="0"/>
            </a:xfrm>
            <a:prstGeom prst="line">
              <a:avLst/>
            </a:prstGeom>
            <a:noFill/>
            <a:ln w="1905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3" name="Text Box 34"/>
            <p:cNvSpPr txBox="1">
              <a:spLocks noChangeArrowheads="1"/>
            </p:cNvSpPr>
            <p:nvPr/>
          </p:nvSpPr>
          <p:spPr bwMode="auto">
            <a:xfrm>
              <a:off x="5198284" y="3460937"/>
              <a:ext cx="1237143" cy="398409"/>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99"/>
                  </a:solidFill>
                  <a:latin typeface="微软雅黑" pitchFamily="34" charset="-122"/>
                  <a:ea typeface="微软雅黑" pitchFamily="34" charset="-122"/>
                </a:rPr>
                <a:t>IP </a:t>
              </a:r>
              <a:r>
                <a:rPr kumimoji="1" lang="zh-CN" altLang="en-US" sz="1400" b="1" dirty="0">
                  <a:solidFill>
                    <a:srgbClr val="000099"/>
                  </a:solidFill>
                  <a:latin typeface="微软雅黑" pitchFamily="34" charset="-122"/>
                  <a:ea typeface="微软雅黑" pitchFamily="34" charset="-122"/>
                </a:rPr>
                <a:t>数据报</a:t>
              </a:r>
            </a:p>
          </p:txBody>
        </p:sp>
        <p:sp>
          <p:nvSpPr>
            <p:cNvPr id="24" name="Text Box 35"/>
            <p:cNvSpPr txBox="1">
              <a:spLocks noChangeArrowheads="1"/>
            </p:cNvSpPr>
            <p:nvPr/>
          </p:nvSpPr>
          <p:spPr bwMode="auto">
            <a:xfrm>
              <a:off x="445521" y="2865786"/>
              <a:ext cx="116866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99"/>
                  </a:solidFill>
                  <a:latin typeface="微软雅黑" pitchFamily="34" charset="-122"/>
                  <a:ea typeface="微软雅黑" pitchFamily="34" charset="-122"/>
                </a:rPr>
                <a:t>以太网帧</a:t>
              </a:r>
            </a:p>
          </p:txBody>
        </p:sp>
        <p:sp>
          <p:nvSpPr>
            <p:cNvPr id="25" name="Text Box 37"/>
            <p:cNvSpPr txBox="1">
              <a:spLocks noChangeArrowheads="1"/>
            </p:cNvSpPr>
            <p:nvPr/>
          </p:nvSpPr>
          <p:spPr bwMode="auto">
            <a:xfrm>
              <a:off x="879110" y="3789710"/>
              <a:ext cx="116866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solidFill>
                    <a:srgbClr val="000099"/>
                  </a:solidFill>
                  <a:latin typeface="微软雅黑" pitchFamily="34" charset="-122"/>
                  <a:ea typeface="微软雅黑" pitchFamily="34" charset="-122"/>
                </a:rPr>
                <a:t>发送在前</a:t>
              </a:r>
            </a:p>
          </p:txBody>
        </p:sp>
        <p:sp>
          <p:nvSpPr>
            <p:cNvPr id="26" name="Line 38"/>
            <p:cNvSpPr>
              <a:spLocks noChangeShapeType="1"/>
            </p:cNvSpPr>
            <p:nvPr/>
          </p:nvSpPr>
          <p:spPr bwMode="auto">
            <a:xfrm flipV="1">
              <a:off x="1580786" y="3357910"/>
              <a:ext cx="0" cy="503237"/>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7" name="Rectangle 8"/>
            <p:cNvSpPr>
              <a:spLocks noChangeArrowheads="1"/>
            </p:cNvSpPr>
            <p:nvPr/>
          </p:nvSpPr>
          <p:spPr bwMode="auto">
            <a:xfrm>
              <a:off x="2562786" y="2830860"/>
              <a:ext cx="1406790" cy="482600"/>
            </a:xfrm>
            <a:prstGeom prst="rect">
              <a:avLst/>
            </a:prstGeom>
            <a:solidFill>
              <a:srgbClr val="FF66FF"/>
            </a:solidFill>
            <a:ln w="19050">
              <a:solidFill>
                <a:schemeClr val="tx1"/>
              </a:solidFill>
              <a:miter lim="800000"/>
              <a:headEnd/>
              <a:tailEnd/>
            </a:ln>
            <a:effectLst/>
          </p:spPr>
          <p:txBody>
            <a:bodyPr wrap="none" anchor="ctr"/>
            <a:lstStyle/>
            <a:p>
              <a:pPr lvl="0" algn="just"/>
              <a:r>
                <a:rPr kumimoji="1" lang="en-US" altLang="zh-CN" sz="1400" b="1" dirty="0">
                  <a:latin typeface="微软雅黑" pitchFamily="34" charset="-122"/>
                  <a:ea typeface="微软雅黑" pitchFamily="34" charset="-122"/>
                </a:rPr>
                <a:t>MPLS </a:t>
              </a:r>
              <a:r>
                <a:rPr kumimoji="1" lang="zh-CN" altLang="en-US" sz="1400" b="1" dirty="0">
                  <a:latin typeface="微软雅黑" pitchFamily="34" charset="-122"/>
                  <a:ea typeface="微软雅黑" pitchFamily="34" charset="-122"/>
                </a:rPr>
                <a:t>首部</a:t>
              </a:r>
            </a:p>
          </p:txBody>
        </p:sp>
        <p:sp>
          <p:nvSpPr>
            <p:cNvPr id="28" name="Rectangle 8"/>
            <p:cNvSpPr>
              <a:spLocks noChangeArrowheads="1"/>
            </p:cNvSpPr>
            <p:nvPr/>
          </p:nvSpPr>
          <p:spPr bwMode="auto">
            <a:xfrm>
              <a:off x="3970436" y="2830859"/>
              <a:ext cx="910556"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just"/>
              <a:r>
                <a:rPr kumimoji="1" lang="en-US" altLang="zh-CN" sz="1400" b="1" dirty="0">
                  <a:solidFill>
                    <a:schemeClr val="bg1"/>
                  </a:solidFill>
                  <a:latin typeface="微软雅黑" pitchFamily="34" charset="-122"/>
                  <a:ea typeface="微软雅黑" pitchFamily="34" charset="-122"/>
                </a:rPr>
                <a:t>IP </a:t>
              </a:r>
              <a:r>
                <a:rPr kumimoji="1" lang="zh-CN" altLang="en-US" sz="1400" b="1" dirty="0">
                  <a:solidFill>
                    <a:schemeClr val="bg1"/>
                  </a:solidFill>
                  <a:latin typeface="微软雅黑" pitchFamily="34" charset="-122"/>
                  <a:ea typeface="微软雅黑" pitchFamily="34" charset="-122"/>
                </a:rPr>
                <a:t>首部</a:t>
              </a:r>
            </a:p>
          </p:txBody>
        </p:sp>
        <p:sp>
          <p:nvSpPr>
            <p:cNvPr id="29" name="Rectangle 8"/>
            <p:cNvSpPr>
              <a:spLocks noChangeArrowheads="1"/>
            </p:cNvSpPr>
            <p:nvPr/>
          </p:nvSpPr>
          <p:spPr bwMode="auto">
            <a:xfrm>
              <a:off x="4880992" y="2830859"/>
              <a:ext cx="2841468"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just"/>
              <a:r>
                <a:rPr kumimoji="1" lang="zh-CN" altLang="en-US" sz="1400" b="1" dirty="0">
                  <a:solidFill>
                    <a:schemeClr val="bg1"/>
                  </a:solidFill>
                  <a:latin typeface="微软雅黑" pitchFamily="34" charset="-122"/>
                  <a:ea typeface="微软雅黑" pitchFamily="34" charset="-122"/>
                </a:rPr>
                <a:t>         </a:t>
              </a:r>
              <a:r>
                <a:rPr kumimoji="1" lang="en-US" altLang="zh-CN" sz="1400" b="1" dirty="0">
                  <a:solidFill>
                    <a:schemeClr val="bg1"/>
                  </a:solidFill>
                  <a:latin typeface="微软雅黑" pitchFamily="34" charset="-122"/>
                  <a:ea typeface="微软雅黑" pitchFamily="34" charset="-122"/>
                </a:rPr>
                <a:t>IP  </a:t>
              </a:r>
              <a:r>
                <a:rPr kumimoji="1" lang="zh-CN" altLang="en-US" sz="1400" b="1" dirty="0">
                  <a:solidFill>
                    <a:schemeClr val="bg1"/>
                  </a:solidFill>
                  <a:latin typeface="微软雅黑" pitchFamily="34" charset="-122"/>
                  <a:ea typeface="微软雅黑" pitchFamily="34" charset="-122"/>
                </a:rPr>
                <a:t>数  据  部  分</a:t>
              </a:r>
            </a:p>
          </p:txBody>
        </p:sp>
        <p:sp>
          <p:nvSpPr>
            <p:cNvPr id="30" name="Rectangle 8"/>
            <p:cNvSpPr>
              <a:spLocks noChangeArrowheads="1"/>
            </p:cNvSpPr>
            <p:nvPr/>
          </p:nvSpPr>
          <p:spPr bwMode="auto">
            <a:xfrm>
              <a:off x="7722460" y="2830859"/>
              <a:ext cx="982000"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kumimoji="1" lang="zh-CN" altLang="en-US" sz="1400" b="1" dirty="0">
                  <a:solidFill>
                    <a:schemeClr val="bg1"/>
                  </a:solidFill>
                  <a:latin typeface="微软雅黑" pitchFamily="34" charset="-122"/>
                  <a:ea typeface="微软雅黑" pitchFamily="34" charset="-122"/>
                </a:rPr>
                <a:t>帧尾部  </a:t>
              </a:r>
            </a:p>
          </p:txBody>
        </p:sp>
      </p:grpSp>
      <p:sp>
        <p:nvSpPr>
          <p:cNvPr id="33" name="矩形 32"/>
          <p:cNvSpPr/>
          <p:nvPr/>
        </p:nvSpPr>
        <p:spPr>
          <a:xfrm>
            <a:off x="760492" y="3457987"/>
            <a:ext cx="8021370" cy="412934"/>
          </a:xfrm>
          <a:prstGeom prst="rect">
            <a:avLst/>
          </a:prstGeom>
        </p:spPr>
        <p:txBody>
          <a:bodyPr wrap="square">
            <a:spAutoFit/>
          </a:bodyPr>
          <a:lstStyle/>
          <a:p>
            <a:pPr>
              <a:lnSpc>
                <a:spcPts val="2500"/>
              </a:lnSpc>
            </a:pPr>
            <a:r>
              <a:rPr lang="en-US" altLang="zh-CN" b="1" dirty="0">
                <a:solidFill>
                  <a:srgbClr val="0000FF"/>
                </a:solidFill>
                <a:latin typeface="微软雅黑" pitchFamily="34" charset="-122"/>
                <a:ea typeface="微软雅黑" pitchFamily="34" charset="-122"/>
              </a:rPr>
              <a:t>(2) </a:t>
            </a:r>
            <a:r>
              <a:rPr lang="zh-CN" altLang="en-US" b="1" dirty="0">
                <a:solidFill>
                  <a:srgbClr val="0000FF"/>
                </a:solidFill>
                <a:latin typeface="微软雅黑" pitchFamily="34" charset="-122"/>
                <a:ea typeface="微软雅黑" pitchFamily="34" charset="-122"/>
              </a:rPr>
              <a:t>试验（占 </a:t>
            </a:r>
            <a:r>
              <a:rPr lang="en-US" altLang="zh-CN" b="1" dirty="0">
                <a:solidFill>
                  <a:srgbClr val="0000FF"/>
                </a:solidFill>
                <a:latin typeface="微软雅黑" pitchFamily="34" charset="-122"/>
                <a:ea typeface="微软雅黑" pitchFamily="34" charset="-122"/>
              </a:rPr>
              <a:t>3 </a:t>
            </a:r>
            <a:r>
              <a:rPr lang="zh-CN" altLang="en-US" b="1" dirty="0">
                <a:solidFill>
                  <a:srgbClr val="0000FF"/>
                </a:solidFill>
                <a:latin typeface="微软雅黑" pitchFamily="34" charset="-122"/>
                <a:ea typeface="微软雅黑" pitchFamily="34" charset="-122"/>
              </a:rPr>
              <a:t>位）。保留用作试验。</a:t>
            </a:r>
          </a:p>
        </p:txBody>
      </p:sp>
    </p:spTree>
    <p:extLst>
      <p:ext uri="{BB962C8B-B14F-4D97-AF65-F5344CB8AC3E}">
        <p14:creationId xmlns:p14="http://schemas.microsoft.com/office/powerpoint/2010/main" val="172902803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71879"/>
            <a:ext cx="8053711" cy="236800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p:cNvSpPr>
            <a:spLocks noChangeArrowheads="1"/>
          </p:cNvSpPr>
          <p:nvPr/>
        </p:nvSpPr>
        <p:spPr bwMode="auto">
          <a:xfrm>
            <a:off x="545144" y="61414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09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MPLS </a:t>
            </a:r>
            <a:r>
              <a:rPr lang="zh-CN" altLang="en-US" sz="2000" b="1" dirty="0">
                <a:solidFill>
                  <a:schemeClr val="bg1"/>
                </a:solidFill>
                <a:latin typeface="微软雅黑" pitchFamily="34" charset="-122"/>
                <a:ea typeface="微软雅黑" pitchFamily="34" charset="-122"/>
              </a:rPr>
              <a:t>首部的格式</a:t>
            </a:r>
          </a:p>
        </p:txBody>
      </p:sp>
      <p:grpSp>
        <p:nvGrpSpPr>
          <p:cNvPr id="31" name="组合 30"/>
          <p:cNvGrpSpPr/>
          <p:nvPr/>
        </p:nvGrpSpPr>
        <p:grpSpPr>
          <a:xfrm>
            <a:off x="1150083" y="1142751"/>
            <a:ext cx="6692134" cy="2202496"/>
            <a:chOff x="445521" y="1337046"/>
            <a:chExt cx="8662793" cy="2851073"/>
          </a:xfrm>
        </p:grpSpPr>
        <p:sp>
          <p:nvSpPr>
            <p:cNvPr id="5" name="Freeform 41"/>
            <p:cNvSpPr>
              <a:spLocks/>
            </p:cNvSpPr>
            <p:nvPr/>
          </p:nvSpPr>
          <p:spPr bwMode="auto">
            <a:xfrm>
              <a:off x="1066567" y="2200621"/>
              <a:ext cx="8027988" cy="628650"/>
            </a:xfrm>
            <a:custGeom>
              <a:avLst/>
              <a:gdLst>
                <a:gd name="T0" fmla="*/ 0 w 4668"/>
                <a:gd name="T1" fmla="*/ 0 h 396"/>
                <a:gd name="T2" fmla="*/ 4668 w 4668"/>
                <a:gd name="T3" fmla="*/ 6 h 396"/>
                <a:gd name="T4" fmla="*/ 1680 w 4668"/>
                <a:gd name="T5" fmla="*/ 396 h 396"/>
                <a:gd name="T6" fmla="*/ 876 w 4668"/>
                <a:gd name="T7" fmla="*/ 390 h 396"/>
                <a:gd name="T8" fmla="*/ 0 w 4668"/>
                <a:gd name="T9" fmla="*/ 0 h 396"/>
              </a:gdLst>
              <a:ahLst/>
              <a:cxnLst>
                <a:cxn ang="0">
                  <a:pos x="T0" y="T1"/>
                </a:cxn>
                <a:cxn ang="0">
                  <a:pos x="T2" y="T3"/>
                </a:cxn>
                <a:cxn ang="0">
                  <a:pos x="T4" y="T5"/>
                </a:cxn>
                <a:cxn ang="0">
                  <a:pos x="T6" y="T7"/>
                </a:cxn>
                <a:cxn ang="0">
                  <a:pos x="T8" y="T9"/>
                </a:cxn>
              </a:cxnLst>
              <a:rect l="0" t="0" r="r" b="b"/>
              <a:pathLst>
                <a:path w="4668" h="396">
                  <a:moveTo>
                    <a:pt x="0" y="0"/>
                  </a:moveTo>
                  <a:lnTo>
                    <a:pt x="4668" y="6"/>
                  </a:lnTo>
                  <a:lnTo>
                    <a:pt x="1680" y="396"/>
                  </a:lnTo>
                  <a:lnTo>
                    <a:pt x="876" y="390"/>
                  </a:lnTo>
                  <a:lnTo>
                    <a:pt x="0" y="0"/>
                  </a:lnTo>
                  <a:close/>
                </a:path>
              </a:pathLst>
            </a:custGeom>
            <a:gradFill rotWithShape="1">
              <a:gsLst>
                <a:gs pos="0">
                  <a:srgbClr val="00B050"/>
                </a:gs>
                <a:gs pos="100000">
                  <a:srgbClr val="00FFFF"/>
                </a:gs>
              </a:gsLst>
              <a:lin ang="5400000" scaled="1"/>
            </a:gradFill>
            <a:ln>
              <a:noFill/>
            </a:ln>
            <a:effectLst/>
          </p:spPr>
          <p:txBody>
            <a:bodyPr/>
            <a:lstStyle/>
            <a:p>
              <a:endParaRPr lang="zh-CN" altLang="en-US" sz="1400" b="1">
                <a:solidFill>
                  <a:srgbClr val="000099"/>
                </a:solidFill>
                <a:latin typeface="微软雅黑" pitchFamily="34" charset="-122"/>
                <a:ea typeface="微软雅黑" pitchFamily="34" charset="-122"/>
              </a:endParaRPr>
            </a:p>
          </p:txBody>
        </p:sp>
        <p:sp>
          <p:nvSpPr>
            <p:cNvPr id="6" name="Line 2"/>
            <p:cNvSpPr>
              <a:spLocks noChangeShapeType="1"/>
            </p:cNvSpPr>
            <p:nvPr/>
          </p:nvSpPr>
          <p:spPr bwMode="auto">
            <a:xfrm flipV="1">
              <a:off x="3969576" y="2227609"/>
              <a:ext cx="5138738" cy="6032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 name="Text Box 6"/>
            <p:cNvSpPr txBox="1">
              <a:spLocks noChangeArrowheads="1"/>
            </p:cNvSpPr>
            <p:nvPr/>
          </p:nvSpPr>
          <p:spPr bwMode="auto">
            <a:xfrm>
              <a:off x="2935072" y="2421284"/>
              <a:ext cx="703856" cy="398409"/>
            </a:xfrm>
            <a:prstGeom prst="rect">
              <a:avLst/>
            </a:prstGeom>
            <a:noFill/>
            <a:ln>
              <a:noFill/>
            </a:ln>
            <a:effectLst/>
            <a:extLst>
              <a:ext uri="{909E8E84-426E-40DD-AFC4-6F175D3DCCD1}">
                <a14:hiddenFill xmlns:a14="http://schemas.microsoft.com/office/drawing/2010/main">
                  <a:solidFill>
                    <a:srgbClr val="FFFFFF">
                      <a:alpha val="41000"/>
                    </a:srgb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栈顶</a:t>
              </a:r>
            </a:p>
          </p:txBody>
        </p:sp>
        <p:sp>
          <p:nvSpPr>
            <p:cNvPr id="9" name="Rectangle 8"/>
            <p:cNvSpPr>
              <a:spLocks noChangeArrowheads="1"/>
            </p:cNvSpPr>
            <p:nvPr/>
          </p:nvSpPr>
          <p:spPr bwMode="auto">
            <a:xfrm>
              <a:off x="1580786" y="2830859"/>
              <a:ext cx="982000"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kumimoji="1" lang="zh-CN" altLang="en-US" sz="1400" b="1" dirty="0">
                  <a:solidFill>
                    <a:schemeClr val="bg1"/>
                  </a:solidFill>
                  <a:latin typeface="微软雅黑" pitchFamily="34" charset="-122"/>
                  <a:ea typeface="微软雅黑" pitchFamily="34" charset="-122"/>
                </a:rPr>
                <a:t>帧首部  </a:t>
              </a:r>
            </a:p>
          </p:txBody>
        </p:sp>
        <p:sp>
          <p:nvSpPr>
            <p:cNvPr id="10" name="Rectangle 9"/>
            <p:cNvSpPr>
              <a:spLocks noChangeArrowheads="1"/>
            </p:cNvSpPr>
            <p:nvPr/>
          </p:nvSpPr>
          <p:spPr bwMode="auto">
            <a:xfrm>
              <a:off x="1056249" y="1675159"/>
              <a:ext cx="8038306" cy="525462"/>
            </a:xfrm>
            <a:prstGeom prst="rect">
              <a:avLst/>
            </a:prstGeom>
            <a:solidFill>
              <a:srgbClr val="99FFCC"/>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1" name="Line 10"/>
            <p:cNvSpPr>
              <a:spLocks noChangeShapeType="1"/>
            </p:cNvSpPr>
            <p:nvPr/>
          </p:nvSpPr>
          <p:spPr bwMode="auto">
            <a:xfrm>
              <a:off x="6079761" y="1675159"/>
              <a:ext cx="0"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2" name="Line 11"/>
            <p:cNvSpPr>
              <a:spLocks noChangeShapeType="1"/>
            </p:cNvSpPr>
            <p:nvPr/>
          </p:nvSpPr>
          <p:spPr bwMode="auto">
            <a:xfrm>
              <a:off x="6846788" y="1675159"/>
              <a:ext cx="6879"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 name="Line 12"/>
            <p:cNvSpPr>
              <a:spLocks noChangeShapeType="1"/>
            </p:cNvSpPr>
            <p:nvPr/>
          </p:nvSpPr>
          <p:spPr bwMode="auto">
            <a:xfrm>
              <a:off x="7085838" y="1675159"/>
              <a:ext cx="0"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4" name="Text Box 13"/>
            <p:cNvSpPr txBox="1">
              <a:spLocks noChangeArrowheads="1"/>
            </p:cNvSpPr>
            <p:nvPr/>
          </p:nvSpPr>
          <p:spPr bwMode="auto">
            <a:xfrm>
              <a:off x="2935323" y="1729647"/>
              <a:ext cx="1347120"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标   签   值</a:t>
              </a:r>
            </a:p>
          </p:txBody>
        </p:sp>
        <p:sp>
          <p:nvSpPr>
            <p:cNvPr id="15" name="Text Box 14"/>
            <p:cNvSpPr txBox="1">
              <a:spLocks noChangeArrowheads="1"/>
            </p:cNvSpPr>
            <p:nvPr/>
          </p:nvSpPr>
          <p:spPr bwMode="auto">
            <a:xfrm>
              <a:off x="7298742" y="1729647"/>
              <a:ext cx="165912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生存时间 </a:t>
              </a:r>
              <a:r>
                <a:rPr kumimoji="1" lang="en-US" altLang="zh-CN" sz="1400" b="1" dirty="0">
                  <a:latin typeface="微软雅黑" pitchFamily="34" charset="-122"/>
                  <a:ea typeface="微软雅黑" pitchFamily="34" charset="-122"/>
                </a:rPr>
                <a:t>TTL</a:t>
              </a:r>
            </a:p>
          </p:txBody>
        </p:sp>
        <p:sp>
          <p:nvSpPr>
            <p:cNvPr id="16" name="Text Box 15"/>
            <p:cNvSpPr txBox="1">
              <a:spLocks noChangeArrowheads="1"/>
            </p:cNvSpPr>
            <p:nvPr/>
          </p:nvSpPr>
          <p:spPr bwMode="auto">
            <a:xfrm>
              <a:off x="6075411" y="1729647"/>
              <a:ext cx="772332"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试 验</a:t>
              </a:r>
            </a:p>
          </p:txBody>
        </p:sp>
        <p:sp>
          <p:nvSpPr>
            <p:cNvPr id="17" name="Text Box 16"/>
            <p:cNvSpPr txBox="1">
              <a:spLocks noChangeArrowheads="1"/>
            </p:cNvSpPr>
            <p:nvPr/>
          </p:nvSpPr>
          <p:spPr bwMode="auto">
            <a:xfrm>
              <a:off x="6781436" y="1729647"/>
              <a:ext cx="378074"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FF"/>
                  </a:solidFill>
                  <a:latin typeface="微软雅黑" pitchFamily="34" charset="-122"/>
                  <a:ea typeface="微软雅黑" pitchFamily="34" charset="-122"/>
                </a:rPr>
                <a:t>S</a:t>
              </a:r>
            </a:p>
          </p:txBody>
        </p:sp>
        <p:sp>
          <p:nvSpPr>
            <p:cNvPr id="18" name="Text Box 17"/>
            <p:cNvSpPr txBox="1">
              <a:spLocks noChangeArrowheads="1"/>
            </p:cNvSpPr>
            <p:nvPr/>
          </p:nvSpPr>
          <p:spPr bwMode="auto">
            <a:xfrm>
              <a:off x="704530" y="1337046"/>
              <a:ext cx="8390027"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400" b="1" dirty="0">
                  <a:solidFill>
                    <a:srgbClr val="000099"/>
                  </a:solidFill>
                  <a:latin typeface="微软雅黑" pitchFamily="34" charset="-122"/>
                  <a:ea typeface="微软雅黑" pitchFamily="34" charset="-122"/>
                </a:rPr>
                <a:t>位                              </a:t>
              </a:r>
              <a:r>
                <a:rPr kumimoji="1" lang="en-US" altLang="zh-CN" sz="1400" b="1" dirty="0">
                  <a:solidFill>
                    <a:srgbClr val="000099"/>
                  </a:solidFill>
                  <a:latin typeface="微软雅黑" pitchFamily="34" charset="-122"/>
                  <a:ea typeface="微软雅黑" pitchFamily="34" charset="-122"/>
                </a:rPr>
                <a:t>20                                            3      </a:t>
              </a:r>
              <a:r>
                <a:rPr kumimoji="1" lang="en-US" altLang="zh-CN" sz="1400" b="1" dirty="0">
                  <a:solidFill>
                    <a:srgbClr val="0000FF"/>
                  </a:solidFill>
                  <a:latin typeface="微软雅黑" pitchFamily="34" charset="-122"/>
                  <a:ea typeface="微软雅黑" pitchFamily="34" charset="-122"/>
                </a:rPr>
                <a:t>1</a:t>
              </a:r>
              <a:r>
                <a:rPr kumimoji="1" lang="en-US" altLang="zh-CN" sz="1400" b="1" dirty="0">
                  <a:solidFill>
                    <a:srgbClr val="000099"/>
                  </a:solidFill>
                  <a:latin typeface="微软雅黑" pitchFamily="34" charset="-122"/>
                  <a:ea typeface="微软雅黑" pitchFamily="34" charset="-122"/>
                </a:rPr>
                <a:t>             8</a:t>
              </a:r>
            </a:p>
          </p:txBody>
        </p:sp>
        <p:sp>
          <p:nvSpPr>
            <p:cNvPr id="19" name="Line 19"/>
            <p:cNvSpPr>
              <a:spLocks noChangeShapeType="1"/>
            </p:cNvSpPr>
            <p:nvPr/>
          </p:nvSpPr>
          <p:spPr bwMode="auto">
            <a:xfrm>
              <a:off x="3970436" y="3353087"/>
              <a:ext cx="0" cy="4826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0" name="Line 21"/>
            <p:cNvSpPr>
              <a:spLocks noChangeShapeType="1"/>
            </p:cNvSpPr>
            <p:nvPr/>
          </p:nvSpPr>
          <p:spPr bwMode="auto">
            <a:xfrm>
              <a:off x="1056249" y="2214909"/>
              <a:ext cx="1520296" cy="6159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1" name="Line 22"/>
            <p:cNvSpPr>
              <a:spLocks noChangeShapeType="1"/>
            </p:cNvSpPr>
            <p:nvPr/>
          </p:nvSpPr>
          <p:spPr bwMode="auto">
            <a:xfrm>
              <a:off x="7722460" y="3370138"/>
              <a:ext cx="0" cy="4826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2" name="Line 33"/>
            <p:cNvSpPr>
              <a:spLocks noChangeShapeType="1"/>
            </p:cNvSpPr>
            <p:nvPr/>
          </p:nvSpPr>
          <p:spPr bwMode="auto">
            <a:xfrm>
              <a:off x="3967361" y="3695887"/>
              <a:ext cx="3755099" cy="0"/>
            </a:xfrm>
            <a:prstGeom prst="line">
              <a:avLst/>
            </a:prstGeom>
            <a:noFill/>
            <a:ln w="1905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3" name="Text Box 34"/>
            <p:cNvSpPr txBox="1">
              <a:spLocks noChangeArrowheads="1"/>
            </p:cNvSpPr>
            <p:nvPr/>
          </p:nvSpPr>
          <p:spPr bwMode="auto">
            <a:xfrm>
              <a:off x="5198284" y="3460937"/>
              <a:ext cx="1237143" cy="398409"/>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99"/>
                  </a:solidFill>
                  <a:latin typeface="微软雅黑" pitchFamily="34" charset="-122"/>
                  <a:ea typeface="微软雅黑" pitchFamily="34" charset="-122"/>
                </a:rPr>
                <a:t>IP </a:t>
              </a:r>
              <a:r>
                <a:rPr kumimoji="1" lang="zh-CN" altLang="en-US" sz="1400" b="1" dirty="0">
                  <a:solidFill>
                    <a:srgbClr val="000099"/>
                  </a:solidFill>
                  <a:latin typeface="微软雅黑" pitchFamily="34" charset="-122"/>
                  <a:ea typeface="微软雅黑" pitchFamily="34" charset="-122"/>
                </a:rPr>
                <a:t>数据报</a:t>
              </a:r>
            </a:p>
          </p:txBody>
        </p:sp>
        <p:sp>
          <p:nvSpPr>
            <p:cNvPr id="24" name="Text Box 35"/>
            <p:cNvSpPr txBox="1">
              <a:spLocks noChangeArrowheads="1"/>
            </p:cNvSpPr>
            <p:nvPr/>
          </p:nvSpPr>
          <p:spPr bwMode="auto">
            <a:xfrm>
              <a:off x="445521" y="2865786"/>
              <a:ext cx="116866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99"/>
                  </a:solidFill>
                  <a:latin typeface="微软雅黑" pitchFamily="34" charset="-122"/>
                  <a:ea typeface="微软雅黑" pitchFamily="34" charset="-122"/>
                </a:rPr>
                <a:t>以太网帧</a:t>
              </a:r>
            </a:p>
          </p:txBody>
        </p:sp>
        <p:sp>
          <p:nvSpPr>
            <p:cNvPr id="25" name="Text Box 37"/>
            <p:cNvSpPr txBox="1">
              <a:spLocks noChangeArrowheads="1"/>
            </p:cNvSpPr>
            <p:nvPr/>
          </p:nvSpPr>
          <p:spPr bwMode="auto">
            <a:xfrm>
              <a:off x="879110" y="3789710"/>
              <a:ext cx="116866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solidFill>
                    <a:srgbClr val="000099"/>
                  </a:solidFill>
                  <a:latin typeface="微软雅黑" pitchFamily="34" charset="-122"/>
                  <a:ea typeface="微软雅黑" pitchFamily="34" charset="-122"/>
                </a:rPr>
                <a:t>发送在前</a:t>
              </a:r>
            </a:p>
          </p:txBody>
        </p:sp>
        <p:sp>
          <p:nvSpPr>
            <p:cNvPr id="26" name="Line 38"/>
            <p:cNvSpPr>
              <a:spLocks noChangeShapeType="1"/>
            </p:cNvSpPr>
            <p:nvPr/>
          </p:nvSpPr>
          <p:spPr bwMode="auto">
            <a:xfrm flipV="1">
              <a:off x="1580786" y="3357910"/>
              <a:ext cx="0" cy="503237"/>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7" name="Rectangle 8"/>
            <p:cNvSpPr>
              <a:spLocks noChangeArrowheads="1"/>
            </p:cNvSpPr>
            <p:nvPr/>
          </p:nvSpPr>
          <p:spPr bwMode="auto">
            <a:xfrm>
              <a:off x="2562786" y="2830860"/>
              <a:ext cx="1406790" cy="482600"/>
            </a:xfrm>
            <a:prstGeom prst="rect">
              <a:avLst/>
            </a:prstGeom>
            <a:solidFill>
              <a:srgbClr val="FF66FF"/>
            </a:solidFill>
            <a:ln w="19050">
              <a:solidFill>
                <a:schemeClr val="tx1"/>
              </a:solidFill>
              <a:miter lim="800000"/>
              <a:headEnd/>
              <a:tailEnd/>
            </a:ln>
            <a:effectLst/>
          </p:spPr>
          <p:txBody>
            <a:bodyPr wrap="none" anchor="ctr"/>
            <a:lstStyle/>
            <a:p>
              <a:pPr lvl="0" algn="just"/>
              <a:r>
                <a:rPr kumimoji="1" lang="en-US" altLang="zh-CN" sz="1400" b="1" dirty="0">
                  <a:latin typeface="微软雅黑" pitchFamily="34" charset="-122"/>
                  <a:ea typeface="微软雅黑" pitchFamily="34" charset="-122"/>
                </a:rPr>
                <a:t>MPLS </a:t>
              </a:r>
              <a:r>
                <a:rPr kumimoji="1" lang="zh-CN" altLang="en-US" sz="1400" b="1" dirty="0">
                  <a:latin typeface="微软雅黑" pitchFamily="34" charset="-122"/>
                  <a:ea typeface="微软雅黑" pitchFamily="34" charset="-122"/>
                </a:rPr>
                <a:t>首部</a:t>
              </a:r>
            </a:p>
          </p:txBody>
        </p:sp>
        <p:sp>
          <p:nvSpPr>
            <p:cNvPr id="28" name="Rectangle 8"/>
            <p:cNvSpPr>
              <a:spLocks noChangeArrowheads="1"/>
            </p:cNvSpPr>
            <p:nvPr/>
          </p:nvSpPr>
          <p:spPr bwMode="auto">
            <a:xfrm>
              <a:off x="3970436" y="2830859"/>
              <a:ext cx="910556"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just"/>
              <a:r>
                <a:rPr kumimoji="1" lang="en-US" altLang="zh-CN" sz="1400" b="1" dirty="0">
                  <a:solidFill>
                    <a:schemeClr val="bg1"/>
                  </a:solidFill>
                  <a:latin typeface="微软雅黑" pitchFamily="34" charset="-122"/>
                  <a:ea typeface="微软雅黑" pitchFamily="34" charset="-122"/>
                </a:rPr>
                <a:t>IP </a:t>
              </a:r>
              <a:r>
                <a:rPr kumimoji="1" lang="zh-CN" altLang="en-US" sz="1400" b="1" dirty="0">
                  <a:solidFill>
                    <a:schemeClr val="bg1"/>
                  </a:solidFill>
                  <a:latin typeface="微软雅黑" pitchFamily="34" charset="-122"/>
                  <a:ea typeface="微软雅黑" pitchFamily="34" charset="-122"/>
                </a:rPr>
                <a:t>首部</a:t>
              </a:r>
            </a:p>
          </p:txBody>
        </p:sp>
        <p:sp>
          <p:nvSpPr>
            <p:cNvPr id="29" name="Rectangle 8"/>
            <p:cNvSpPr>
              <a:spLocks noChangeArrowheads="1"/>
            </p:cNvSpPr>
            <p:nvPr/>
          </p:nvSpPr>
          <p:spPr bwMode="auto">
            <a:xfrm>
              <a:off x="4880992" y="2830859"/>
              <a:ext cx="2841468"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just"/>
              <a:r>
                <a:rPr kumimoji="1" lang="zh-CN" altLang="en-US" sz="1400" b="1" dirty="0">
                  <a:solidFill>
                    <a:schemeClr val="bg1"/>
                  </a:solidFill>
                  <a:latin typeface="微软雅黑" pitchFamily="34" charset="-122"/>
                  <a:ea typeface="微软雅黑" pitchFamily="34" charset="-122"/>
                </a:rPr>
                <a:t>         </a:t>
              </a:r>
              <a:r>
                <a:rPr kumimoji="1" lang="en-US" altLang="zh-CN" sz="1400" b="1" dirty="0">
                  <a:solidFill>
                    <a:schemeClr val="bg1"/>
                  </a:solidFill>
                  <a:latin typeface="微软雅黑" pitchFamily="34" charset="-122"/>
                  <a:ea typeface="微软雅黑" pitchFamily="34" charset="-122"/>
                </a:rPr>
                <a:t>IP  </a:t>
              </a:r>
              <a:r>
                <a:rPr kumimoji="1" lang="zh-CN" altLang="en-US" sz="1400" b="1" dirty="0">
                  <a:solidFill>
                    <a:schemeClr val="bg1"/>
                  </a:solidFill>
                  <a:latin typeface="微软雅黑" pitchFamily="34" charset="-122"/>
                  <a:ea typeface="微软雅黑" pitchFamily="34" charset="-122"/>
                </a:rPr>
                <a:t>数  据  部  分</a:t>
              </a:r>
            </a:p>
          </p:txBody>
        </p:sp>
        <p:sp>
          <p:nvSpPr>
            <p:cNvPr id="30" name="Rectangle 8"/>
            <p:cNvSpPr>
              <a:spLocks noChangeArrowheads="1"/>
            </p:cNvSpPr>
            <p:nvPr/>
          </p:nvSpPr>
          <p:spPr bwMode="auto">
            <a:xfrm>
              <a:off x="7722460" y="2830859"/>
              <a:ext cx="982000"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kumimoji="1" lang="zh-CN" altLang="en-US" sz="1400" b="1" dirty="0">
                  <a:solidFill>
                    <a:schemeClr val="bg1"/>
                  </a:solidFill>
                  <a:latin typeface="微软雅黑" pitchFamily="34" charset="-122"/>
                  <a:ea typeface="微软雅黑" pitchFamily="34" charset="-122"/>
                </a:rPr>
                <a:t>帧尾部  </a:t>
              </a:r>
            </a:p>
          </p:txBody>
        </p:sp>
      </p:grpSp>
      <p:sp>
        <p:nvSpPr>
          <p:cNvPr id="33" name="矩形 32"/>
          <p:cNvSpPr/>
          <p:nvPr/>
        </p:nvSpPr>
        <p:spPr>
          <a:xfrm>
            <a:off x="760492" y="3457987"/>
            <a:ext cx="8021370" cy="387735"/>
          </a:xfrm>
          <a:prstGeom prst="rect">
            <a:avLst/>
          </a:prstGeom>
        </p:spPr>
        <p:txBody>
          <a:bodyPr wrap="square">
            <a:spAutoFit/>
          </a:bodyPr>
          <a:lstStyle/>
          <a:p>
            <a:pPr>
              <a:lnSpc>
                <a:spcPts val="2500"/>
              </a:lnSpc>
            </a:pPr>
            <a:r>
              <a:rPr lang="en-US" altLang="zh-CN" b="1" dirty="0">
                <a:solidFill>
                  <a:srgbClr val="0000FF"/>
                </a:solidFill>
                <a:latin typeface="微软雅黑" pitchFamily="34" charset="-122"/>
                <a:ea typeface="微软雅黑" pitchFamily="34" charset="-122"/>
              </a:rPr>
              <a:t>(3) </a:t>
            </a:r>
            <a:r>
              <a:rPr lang="zh-CN" altLang="en-US" b="1" dirty="0">
                <a:solidFill>
                  <a:srgbClr val="0000FF"/>
                </a:solidFill>
                <a:latin typeface="微软雅黑" pitchFamily="34" charset="-122"/>
                <a:ea typeface="微软雅黑" pitchFamily="34" charset="-122"/>
              </a:rPr>
              <a:t>栈</a:t>
            </a:r>
            <a:r>
              <a:rPr lang="en-US" altLang="zh-CN" b="1" dirty="0">
                <a:solidFill>
                  <a:srgbClr val="0000FF"/>
                </a:solidFill>
                <a:latin typeface="微软雅黑" pitchFamily="34" charset="-122"/>
                <a:ea typeface="微软雅黑" pitchFamily="34" charset="-122"/>
              </a:rPr>
              <a:t>S</a:t>
            </a:r>
            <a:r>
              <a:rPr lang="zh-CN" altLang="en-US" b="1" dirty="0">
                <a:solidFill>
                  <a:srgbClr val="0000FF"/>
                </a:solidFill>
                <a:latin typeface="微软雅黑" pitchFamily="34" charset="-122"/>
                <a:ea typeface="微软雅黑" pitchFamily="34" charset="-122"/>
              </a:rPr>
              <a:t>（占 </a:t>
            </a:r>
            <a:r>
              <a:rPr lang="en-US" altLang="zh-CN" b="1" dirty="0">
                <a:solidFill>
                  <a:srgbClr val="0000FF"/>
                </a:solidFill>
                <a:latin typeface="微软雅黑" pitchFamily="34" charset="-122"/>
                <a:ea typeface="微软雅黑" pitchFamily="34" charset="-122"/>
              </a:rPr>
              <a:t>1 </a:t>
            </a:r>
            <a:r>
              <a:rPr lang="zh-CN" altLang="en-US" b="1" dirty="0">
                <a:solidFill>
                  <a:srgbClr val="0000FF"/>
                </a:solidFill>
                <a:latin typeface="微软雅黑" pitchFamily="34" charset="-122"/>
                <a:ea typeface="微软雅黑" pitchFamily="34" charset="-122"/>
              </a:rPr>
              <a:t>位）。在有“标签栈”时使用。</a:t>
            </a:r>
          </a:p>
        </p:txBody>
      </p:sp>
    </p:spTree>
    <p:extLst>
      <p:ext uri="{BB962C8B-B14F-4D97-AF65-F5344CB8AC3E}">
        <p14:creationId xmlns:p14="http://schemas.microsoft.com/office/powerpoint/2010/main" val="173508407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71879"/>
            <a:ext cx="8053711" cy="236800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p:cNvSpPr>
            <a:spLocks noChangeArrowheads="1"/>
          </p:cNvSpPr>
          <p:nvPr/>
        </p:nvSpPr>
        <p:spPr bwMode="auto">
          <a:xfrm>
            <a:off x="545144" y="61414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09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MPLS </a:t>
            </a:r>
            <a:r>
              <a:rPr lang="zh-CN" altLang="en-US" sz="2000" b="1" dirty="0">
                <a:solidFill>
                  <a:schemeClr val="bg1"/>
                </a:solidFill>
                <a:latin typeface="微软雅黑" pitchFamily="34" charset="-122"/>
                <a:ea typeface="微软雅黑" pitchFamily="34" charset="-122"/>
              </a:rPr>
              <a:t>首部的格式</a:t>
            </a:r>
          </a:p>
        </p:txBody>
      </p:sp>
      <p:grpSp>
        <p:nvGrpSpPr>
          <p:cNvPr id="31" name="组合 30"/>
          <p:cNvGrpSpPr/>
          <p:nvPr/>
        </p:nvGrpSpPr>
        <p:grpSpPr>
          <a:xfrm>
            <a:off x="1150083" y="1142751"/>
            <a:ext cx="6692134" cy="2202496"/>
            <a:chOff x="445521" y="1337046"/>
            <a:chExt cx="8662793" cy="2851073"/>
          </a:xfrm>
        </p:grpSpPr>
        <p:sp>
          <p:nvSpPr>
            <p:cNvPr id="5" name="Freeform 41"/>
            <p:cNvSpPr>
              <a:spLocks/>
            </p:cNvSpPr>
            <p:nvPr/>
          </p:nvSpPr>
          <p:spPr bwMode="auto">
            <a:xfrm>
              <a:off x="1066567" y="2200621"/>
              <a:ext cx="8027988" cy="628650"/>
            </a:xfrm>
            <a:custGeom>
              <a:avLst/>
              <a:gdLst>
                <a:gd name="T0" fmla="*/ 0 w 4668"/>
                <a:gd name="T1" fmla="*/ 0 h 396"/>
                <a:gd name="T2" fmla="*/ 4668 w 4668"/>
                <a:gd name="T3" fmla="*/ 6 h 396"/>
                <a:gd name="T4" fmla="*/ 1680 w 4668"/>
                <a:gd name="T5" fmla="*/ 396 h 396"/>
                <a:gd name="T6" fmla="*/ 876 w 4668"/>
                <a:gd name="T7" fmla="*/ 390 h 396"/>
                <a:gd name="T8" fmla="*/ 0 w 4668"/>
                <a:gd name="T9" fmla="*/ 0 h 396"/>
              </a:gdLst>
              <a:ahLst/>
              <a:cxnLst>
                <a:cxn ang="0">
                  <a:pos x="T0" y="T1"/>
                </a:cxn>
                <a:cxn ang="0">
                  <a:pos x="T2" y="T3"/>
                </a:cxn>
                <a:cxn ang="0">
                  <a:pos x="T4" y="T5"/>
                </a:cxn>
                <a:cxn ang="0">
                  <a:pos x="T6" y="T7"/>
                </a:cxn>
                <a:cxn ang="0">
                  <a:pos x="T8" y="T9"/>
                </a:cxn>
              </a:cxnLst>
              <a:rect l="0" t="0" r="r" b="b"/>
              <a:pathLst>
                <a:path w="4668" h="396">
                  <a:moveTo>
                    <a:pt x="0" y="0"/>
                  </a:moveTo>
                  <a:lnTo>
                    <a:pt x="4668" y="6"/>
                  </a:lnTo>
                  <a:lnTo>
                    <a:pt x="1680" y="396"/>
                  </a:lnTo>
                  <a:lnTo>
                    <a:pt x="876" y="390"/>
                  </a:lnTo>
                  <a:lnTo>
                    <a:pt x="0" y="0"/>
                  </a:lnTo>
                  <a:close/>
                </a:path>
              </a:pathLst>
            </a:custGeom>
            <a:gradFill rotWithShape="1">
              <a:gsLst>
                <a:gs pos="0">
                  <a:srgbClr val="00B050"/>
                </a:gs>
                <a:gs pos="100000">
                  <a:srgbClr val="00FFFF"/>
                </a:gs>
              </a:gsLst>
              <a:lin ang="5400000" scaled="1"/>
            </a:gradFill>
            <a:ln>
              <a:noFill/>
            </a:ln>
            <a:effectLst/>
          </p:spPr>
          <p:txBody>
            <a:bodyPr/>
            <a:lstStyle/>
            <a:p>
              <a:endParaRPr lang="zh-CN" altLang="en-US" sz="1400" b="1">
                <a:solidFill>
                  <a:srgbClr val="000099"/>
                </a:solidFill>
                <a:latin typeface="微软雅黑" pitchFamily="34" charset="-122"/>
                <a:ea typeface="微软雅黑" pitchFamily="34" charset="-122"/>
              </a:endParaRPr>
            </a:p>
          </p:txBody>
        </p:sp>
        <p:sp>
          <p:nvSpPr>
            <p:cNvPr id="6" name="Line 2"/>
            <p:cNvSpPr>
              <a:spLocks noChangeShapeType="1"/>
            </p:cNvSpPr>
            <p:nvPr/>
          </p:nvSpPr>
          <p:spPr bwMode="auto">
            <a:xfrm flipV="1">
              <a:off x="3969576" y="2227609"/>
              <a:ext cx="5138738" cy="6032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 name="Rectangle 8"/>
            <p:cNvSpPr>
              <a:spLocks noChangeArrowheads="1"/>
            </p:cNvSpPr>
            <p:nvPr/>
          </p:nvSpPr>
          <p:spPr bwMode="auto">
            <a:xfrm>
              <a:off x="1580786" y="2830859"/>
              <a:ext cx="982000"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kumimoji="1" lang="zh-CN" altLang="en-US" sz="1400" b="1" dirty="0">
                  <a:solidFill>
                    <a:schemeClr val="bg1"/>
                  </a:solidFill>
                  <a:latin typeface="微软雅黑" pitchFamily="34" charset="-122"/>
                  <a:ea typeface="微软雅黑" pitchFamily="34" charset="-122"/>
                </a:rPr>
                <a:t>帧首部  </a:t>
              </a:r>
            </a:p>
          </p:txBody>
        </p:sp>
        <p:sp>
          <p:nvSpPr>
            <p:cNvPr id="10" name="Rectangle 9"/>
            <p:cNvSpPr>
              <a:spLocks noChangeArrowheads="1"/>
            </p:cNvSpPr>
            <p:nvPr/>
          </p:nvSpPr>
          <p:spPr bwMode="auto">
            <a:xfrm>
              <a:off x="1056249" y="1675159"/>
              <a:ext cx="8038306" cy="525462"/>
            </a:xfrm>
            <a:prstGeom prst="rect">
              <a:avLst/>
            </a:prstGeom>
            <a:solidFill>
              <a:srgbClr val="99FFCC"/>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1" name="Line 10"/>
            <p:cNvSpPr>
              <a:spLocks noChangeShapeType="1"/>
            </p:cNvSpPr>
            <p:nvPr/>
          </p:nvSpPr>
          <p:spPr bwMode="auto">
            <a:xfrm>
              <a:off x="6079761" y="1675159"/>
              <a:ext cx="0"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2" name="Line 11"/>
            <p:cNvSpPr>
              <a:spLocks noChangeShapeType="1"/>
            </p:cNvSpPr>
            <p:nvPr/>
          </p:nvSpPr>
          <p:spPr bwMode="auto">
            <a:xfrm>
              <a:off x="6846788" y="1675159"/>
              <a:ext cx="6879"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 name="Line 12"/>
            <p:cNvSpPr>
              <a:spLocks noChangeShapeType="1"/>
            </p:cNvSpPr>
            <p:nvPr/>
          </p:nvSpPr>
          <p:spPr bwMode="auto">
            <a:xfrm>
              <a:off x="7085838" y="1675159"/>
              <a:ext cx="0"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4" name="Text Box 13"/>
            <p:cNvSpPr txBox="1">
              <a:spLocks noChangeArrowheads="1"/>
            </p:cNvSpPr>
            <p:nvPr/>
          </p:nvSpPr>
          <p:spPr bwMode="auto">
            <a:xfrm>
              <a:off x="2935323" y="1729647"/>
              <a:ext cx="1347120"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标   签   值</a:t>
              </a:r>
            </a:p>
          </p:txBody>
        </p:sp>
        <p:sp>
          <p:nvSpPr>
            <p:cNvPr id="15" name="Text Box 14"/>
            <p:cNvSpPr txBox="1">
              <a:spLocks noChangeArrowheads="1"/>
            </p:cNvSpPr>
            <p:nvPr/>
          </p:nvSpPr>
          <p:spPr bwMode="auto">
            <a:xfrm>
              <a:off x="7298742" y="1729647"/>
              <a:ext cx="165912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FF"/>
                  </a:solidFill>
                  <a:latin typeface="微软雅黑" pitchFamily="34" charset="-122"/>
                  <a:ea typeface="微软雅黑" pitchFamily="34" charset="-122"/>
                </a:rPr>
                <a:t>生存时间 </a:t>
              </a:r>
              <a:r>
                <a:rPr kumimoji="1" lang="en-US" altLang="zh-CN" sz="1400" b="1" dirty="0">
                  <a:solidFill>
                    <a:srgbClr val="0000FF"/>
                  </a:solidFill>
                  <a:latin typeface="微软雅黑" pitchFamily="34" charset="-122"/>
                  <a:ea typeface="微软雅黑" pitchFamily="34" charset="-122"/>
                </a:rPr>
                <a:t>TTL</a:t>
              </a:r>
            </a:p>
          </p:txBody>
        </p:sp>
        <p:sp>
          <p:nvSpPr>
            <p:cNvPr id="16" name="Text Box 15"/>
            <p:cNvSpPr txBox="1">
              <a:spLocks noChangeArrowheads="1"/>
            </p:cNvSpPr>
            <p:nvPr/>
          </p:nvSpPr>
          <p:spPr bwMode="auto">
            <a:xfrm>
              <a:off x="6075411" y="1729647"/>
              <a:ext cx="772332"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试 验</a:t>
              </a:r>
            </a:p>
          </p:txBody>
        </p:sp>
        <p:sp>
          <p:nvSpPr>
            <p:cNvPr id="17" name="Text Box 16"/>
            <p:cNvSpPr txBox="1">
              <a:spLocks noChangeArrowheads="1"/>
            </p:cNvSpPr>
            <p:nvPr/>
          </p:nvSpPr>
          <p:spPr bwMode="auto">
            <a:xfrm>
              <a:off x="6781436" y="1729647"/>
              <a:ext cx="378074"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S</a:t>
              </a:r>
            </a:p>
          </p:txBody>
        </p:sp>
        <p:sp>
          <p:nvSpPr>
            <p:cNvPr id="18" name="Text Box 17"/>
            <p:cNvSpPr txBox="1">
              <a:spLocks noChangeArrowheads="1"/>
            </p:cNvSpPr>
            <p:nvPr/>
          </p:nvSpPr>
          <p:spPr bwMode="auto">
            <a:xfrm>
              <a:off x="704530" y="1337046"/>
              <a:ext cx="8390027"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400" b="1" dirty="0">
                  <a:solidFill>
                    <a:srgbClr val="000099"/>
                  </a:solidFill>
                  <a:latin typeface="微软雅黑" pitchFamily="34" charset="-122"/>
                  <a:ea typeface="微软雅黑" pitchFamily="34" charset="-122"/>
                </a:rPr>
                <a:t>位                              </a:t>
              </a:r>
              <a:r>
                <a:rPr kumimoji="1" lang="en-US" altLang="zh-CN" sz="1400" b="1" dirty="0">
                  <a:solidFill>
                    <a:srgbClr val="000099"/>
                  </a:solidFill>
                  <a:latin typeface="微软雅黑" pitchFamily="34" charset="-122"/>
                  <a:ea typeface="微软雅黑" pitchFamily="34" charset="-122"/>
                </a:rPr>
                <a:t>20                                            3      1             </a:t>
              </a:r>
              <a:r>
                <a:rPr kumimoji="1" lang="en-US" altLang="zh-CN" sz="1400" b="1" dirty="0">
                  <a:solidFill>
                    <a:srgbClr val="0000FF"/>
                  </a:solidFill>
                  <a:latin typeface="微软雅黑" pitchFamily="34" charset="-122"/>
                  <a:ea typeface="微软雅黑" pitchFamily="34" charset="-122"/>
                </a:rPr>
                <a:t>8</a:t>
              </a:r>
            </a:p>
          </p:txBody>
        </p:sp>
        <p:sp>
          <p:nvSpPr>
            <p:cNvPr id="19" name="Line 19"/>
            <p:cNvSpPr>
              <a:spLocks noChangeShapeType="1"/>
            </p:cNvSpPr>
            <p:nvPr/>
          </p:nvSpPr>
          <p:spPr bwMode="auto">
            <a:xfrm>
              <a:off x="3970436" y="3353087"/>
              <a:ext cx="0" cy="4826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0" name="Line 21"/>
            <p:cNvSpPr>
              <a:spLocks noChangeShapeType="1"/>
            </p:cNvSpPr>
            <p:nvPr/>
          </p:nvSpPr>
          <p:spPr bwMode="auto">
            <a:xfrm>
              <a:off x="1056249" y="2214909"/>
              <a:ext cx="1520296" cy="6159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1" name="Line 22"/>
            <p:cNvSpPr>
              <a:spLocks noChangeShapeType="1"/>
            </p:cNvSpPr>
            <p:nvPr/>
          </p:nvSpPr>
          <p:spPr bwMode="auto">
            <a:xfrm>
              <a:off x="7722460" y="3370138"/>
              <a:ext cx="0" cy="4826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2" name="Line 33"/>
            <p:cNvSpPr>
              <a:spLocks noChangeShapeType="1"/>
            </p:cNvSpPr>
            <p:nvPr/>
          </p:nvSpPr>
          <p:spPr bwMode="auto">
            <a:xfrm>
              <a:off x="3967361" y="3695887"/>
              <a:ext cx="3755099" cy="0"/>
            </a:xfrm>
            <a:prstGeom prst="line">
              <a:avLst/>
            </a:prstGeom>
            <a:noFill/>
            <a:ln w="1905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3" name="Text Box 34"/>
            <p:cNvSpPr txBox="1">
              <a:spLocks noChangeArrowheads="1"/>
            </p:cNvSpPr>
            <p:nvPr/>
          </p:nvSpPr>
          <p:spPr bwMode="auto">
            <a:xfrm>
              <a:off x="5198284" y="3460937"/>
              <a:ext cx="1237143" cy="398409"/>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99"/>
                  </a:solidFill>
                  <a:latin typeface="微软雅黑" pitchFamily="34" charset="-122"/>
                  <a:ea typeface="微软雅黑" pitchFamily="34" charset="-122"/>
                </a:rPr>
                <a:t>IP </a:t>
              </a:r>
              <a:r>
                <a:rPr kumimoji="1" lang="zh-CN" altLang="en-US" sz="1400" b="1" dirty="0">
                  <a:solidFill>
                    <a:srgbClr val="000099"/>
                  </a:solidFill>
                  <a:latin typeface="微软雅黑" pitchFamily="34" charset="-122"/>
                  <a:ea typeface="微软雅黑" pitchFamily="34" charset="-122"/>
                </a:rPr>
                <a:t>数据报</a:t>
              </a:r>
            </a:p>
          </p:txBody>
        </p:sp>
        <p:sp>
          <p:nvSpPr>
            <p:cNvPr id="24" name="Text Box 35"/>
            <p:cNvSpPr txBox="1">
              <a:spLocks noChangeArrowheads="1"/>
            </p:cNvSpPr>
            <p:nvPr/>
          </p:nvSpPr>
          <p:spPr bwMode="auto">
            <a:xfrm>
              <a:off x="445521" y="2865786"/>
              <a:ext cx="116866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99"/>
                  </a:solidFill>
                  <a:latin typeface="微软雅黑" pitchFamily="34" charset="-122"/>
                  <a:ea typeface="微软雅黑" pitchFamily="34" charset="-122"/>
                </a:rPr>
                <a:t>以太网帧</a:t>
              </a:r>
            </a:p>
          </p:txBody>
        </p:sp>
        <p:sp>
          <p:nvSpPr>
            <p:cNvPr id="25" name="Text Box 37"/>
            <p:cNvSpPr txBox="1">
              <a:spLocks noChangeArrowheads="1"/>
            </p:cNvSpPr>
            <p:nvPr/>
          </p:nvSpPr>
          <p:spPr bwMode="auto">
            <a:xfrm>
              <a:off x="879110" y="3789710"/>
              <a:ext cx="116866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solidFill>
                    <a:srgbClr val="000099"/>
                  </a:solidFill>
                  <a:latin typeface="微软雅黑" pitchFamily="34" charset="-122"/>
                  <a:ea typeface="微软雅黑" pitchFamily="34" charset="-122"/>
                </a:rPr>
                <a:t>发送在前</a:t>
              </a:r>
            </a:p>
          </p:txBody>
        </p:sp>
        <p:sp>
          <p:nvSpPr>
            <p:cNvPr id="26" name="Line 38"/>
            <p:cNvSpPr>
              <a:spLocks noChangeShapeType="1"/>
            </p:cNvSpPr>
            <p:nvPr/>
          </p:nvSpPr>
          <p:spPr bwMode="auto">
            <a:xfrm flipV="1">
              <a:off x="1580786" y="3357910"/>
              <a:ext cx="0" cy="503237"/>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7" name="Rectangle 8"/>
            <p:cNvSpPr>
              <a:spLocks noChangeArrowheads="1"/>
            </p:cNvSpPr>
            <p:nvPr/>
          </p:nvSpPr>
          <p:spPr bwMode="auto">
            <a:xfrm>
              <a:off x="2562786" y="2830860"/>
              <a:ext cx="1406790" cy="482600"/>
            </a:xfrm>
            <a:prstGeom prst="rect">
              <a:avLst/>
            </a:prstGeom>
            <a:solidFill>
              <a:srgbClr val="FF66FF"/>
            </a:solidFill>
            <a:ln w="19050">
              <a:solidFill>
                <a:schemeClr val="tx1"/>
              </a:solidFill>
              <a:miter lim="800000"/>
              <a:headEnd/>
              <a:tailEnd/>
            </a:ln>
            <a:effectLst/>
          </p:spPr>
          <p:txBody>
            <a:bodyPr wrap="none" anchor="ctr"/>
            <a:lstStyle/>
            <a:p>
              <a:pPr lvl="0" algn="just"/>
              <a:r>
                <a:rPr kumimoji="1" lang="en-US" altLang="zh-CN" sz="1400" b="1" dirty="0">
                  <a:latin typeface="微软雅黑" pitchFamily="34" charset="-122"/>
                  <a:ea typeface="微软雅黑" pitchFamily="34" charset="-122"/>
                </a:rPr>
                <a:t>MPLS </a:t>
              </a:r>
              <a:r>
                <a:rPr kumimoji="1" lang="zh-CN" altLang="en-US" sz="1400" b="1" dirty="0">
                  <a:latin typeface="微软雅黑" pitchFamily="34" charset="-122"/>
                  <a:ea typeface="微软雅黑" pitchFamily="34" charset="-122"/>
                </a:rPr>
                <a:t>首部</a:t>
              </a:r>
            </a:p>
          </p:txBody>
        </p:sp>
        <p:sp>
          <p:nvSpPr>
            <p:cNvPr id="28" name="Rectangle 8"/>
            <p:cNvSpPr>
              <a:spLocks noChangeArrowheads="1"/>
            </p:cNvSpPr>
            <p:nvPr/>
          </p:nvSpPr>
          <p:spPr bwMode="auto">
            <a:xfrm>
              <a:off x="3970436" y="2830859"/>
              <a:ext cx="910556"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just"/>
              <a:r>
                <a:rPr kumimoji="1" lang="en-US" altLang="zh-CN" sz="1400" b="1" dirty="0">
                  <a:solidFill>
                    <a:schemeClr val="bg1"/>
                  </a:solidFill>
                  <a:latin typeface="微软雅黑" pitchFamily="34" charset="-122"/>
                  <a:ea typeface="微软雅黑" pitchFamily="34" charset="-122"/>
                </a:rPr>
                <a:t>IP </a:t>
              </a:r>
              <a:r>
                <a:rPr kumimoji="1" lang="zh-CN" altLang="en-US" sz="1400" b="1" dirty="0">
                  <a:solidFill>
                    <a:schemeClr val="bg1"/>
                  </a:solidFill>
                  <a:latin typeface="微软雅黑" pitchFamily="34" charset="-122"/>
                  <a:ea typeface="微软雅黑" pitchFamily="34" charset="-122"/>
                </a:rPr>
                <a:t>首部</a:t>
              </a:r>
            </a:p>
          </p:txBody>
        </p:sp>
        <p:sp>
          <p:nvSpPr>
            <p:cNvPr id="29" name="Rectangle 8"/>
            <p:cNvSpPr>
              <a:spLocks noChangeArrowheads="1"/>
            </p:cNvSpPr>
            <p:nvPr/>
          </p:nvSpPr>
          <p:spPr bwMode="auto">
            <a:xfrm>
              <a:off x="4880992" y="2830859"/>
              <a:ext cx="2841468"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just"/>
              <a:r>
                <a:rPr kumimoji="1" lang="zh-CN" altLang="en-US" sz="1400" b="1" dirty="0">
                  <a:solidFill>
                    <a:schemeClr val="bg1"/>
                  </a:solidFill>
                  <a:latin typeface="微软雅黑" pitchFamily="34" charset="-122"/>
                  <a:ea typeface="微软雅黑" pitchFamily="34" charset="-122"/>
                </a:rPr>
                <a:t>         </a:t>
              </a:r>
              <a:r>
                <a:rPr kumimoji="1" lang="en-US" altLang="zh-CN" sz="1400" b="1" dirty="0">
                  <a:solidFill>
                    <a:schemeClr val="bg1"/>
                  </a:solidFill>
                  <a:latin typeface="微软雅黑" pitchFamily="34" charset="-122"/>
                  <a:ea typeface="微软雅黑" pitchFamily="34" charset="-122"/>
                </a:rPr>
                <a:t>IP  </a:t>
              </a:r>
              <a:r>
                <a:rPr kumimoji="1" lang="zh-CN" altLang="en-US" sz="1400" b="1" dirty="0">
                  <a:solidFill>
                    <a:schemeClr val="bg1"/>
                  </a:solidFill>
                  <a:latin typeface="微软雅黑" pitchFamily="34" charset="-122"/>
                  <a:ea typeface="微软雅黑" pitchFamily="34" charset="-122"/>
                </a:rPr>
                <a:t>数  据  部  分</a:t>
              </a:r>
            </a:p>
          </p:txBody>
        </p:sp>
        <p:sp>
          <p:nvSpPr>
            <p:cNvPr id="30" name="Rectangle 8"/>
            <p:cNvSpPr>
              <a:spLocks noChangeArrowheads="1"/>
            </p:cNvSpPr>
            <p:nvPr/>
          </p:nvSpPr>
          <p:spPr bwMode="auto">
            <a:xfrm>
              <a:off x="7722460" y="2830859"/>
              <a:ext cx="982000"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kumimoji="1" lang="zh-CN" altLang="en-US" sz="1400" b="1" dirty="0">
                  <a:solidFill>
                    <a:schemeClr val="bg1"/>
                  </a:solidFill>
                  <a:latin typeface="微软雅黑" pitchFamily="34" charset="-122"/>
                  <a:ea typeface="微软雅黑" pitchFamily="34" charset="-122"/>
                </a:rPr>
                <a:t>帧尾部  </a:t>
              </a:r>
            </a:p>
          </p:txBody>
        </p:sp>
      </p:grpSp>
      <p:sp>
        <p:nvSpPr>
          <p:cNvPr id="33" name="矩形 32"/>
          <p:cNvSpPr/>
          <p:nvPr/>
        </p:nvSpPr>
        <p:spPr>
          <a:xfrm>
            <a:off x="760492" y="3457987"/>
            <a:ext cx="8021370" cy="412934"/>
          </a:xfrm>
          <a:prstGeom prst="rect">
            <a:avLst/>
          </a:prstGeom>
        </p:spPr>
        <p:txBody>
          <a:bodyPr wrap="square">
            <a:spAutoFit/>
          </a:bodyPr>
          <a:lstStyle/>
          <a:p>
            <a:pPr>
              <a:lnSpc>
                <a:spcPts val="2500"/>
              </a:lnSpc>
            </a:pPr>
            <a:r>
              <a:rPr lang="en-US" altLang="zh-CN" b="1" dirty="0">
                <a:solidFill>
                  <a:srgbClr val="0000FF"/>
                </a:solidFill>
                <a:latin typeface="微软雅黑" pitchFamily="34" charset="-122"/>
                <a:ea typeface="微软雅黑" pitchFamily="34" charset="-122"/>
              </a:rPr>
              <a:t>(4) </a:t>
            </a:r>
            <a:r>
              <a:rPr lang="zh-CN" altLang="en-US" b="1" dirty="0">
                <a:solidFill>
                  <a:srgbClr val="0000FF"/>
                </a:solidFill>
                <a:latin typeface="微软雅黑" pitchFamily="34" charset="-122"/>
                <a:ea typeface="微软雅黑" pitchFamily="34" charset="-122"/>
              </a:rPr>
              <a:t>生存时间 </a:t>
            </a:r>
            <a:r>
              <a:rPr lang="en-US" altLang="zh-CN" b="1" dirty="0">
                <a:solidFill>
                  <a:srgbClr val="0000FF"/>
                </a:solidFill>
                <a:latin typeface="微软雅黑" pitchFamily="34" charset="-122"/>
                <a:ea typeface="微软雅黑" pitchFamily="34" charset="-122"/>
              </a:rPr>
              <a:t>TTL</a:t>
            </a:r>
            <a:r>
              <a:rPr lang="zh-CN" altLang="en-US" b="1" dirty="0">
                <a:solidFill>
                  <a:srgbClr val="0000FF"/>
                </a:solidFill>
                <a:latin typeface="微软雅黑" pitchFamily="34" charset="-122"/>
                <a:ea typeface="微软雅黑" pitchFamily="34" charset="-122"/>
              </a:rPr>
              <a:t>（占 </a:t>
            </a:r>
            <a:r>
              <a:rPr lang="en-US" altLang="zh-CN" b="1" dirty="0">
                <a:solidFill>
                  <a:srgbClr val="0000FF"/>
                </a:solidFill>
                <a:latin typeface="微软雅黑" pitchFamily="34" charset="-122"/>
                <a:ea typeface="微软雅黑" pitchFamily="34" charset="-122"/>
              </a:rPr>
              <a:t>8 </a:t>
            </a:r>
            <a:r>
              <a:rPr lang="zh-CN" altLang="en-US" b="1" dirty="0">
                <a:solidFill>
                  <a:srgbClr val="0000FF"/>
                </a:solidFill>
                <a:latin typeface="微软雅黑" pitchFamily="34" charset="-122"/>
                <a:ea typeface="微软雅黑" pitchFamily="34" charset="-122"/>
              </a:rPr>
              <a:t>位），用来防止 </a:t>
            </a:r>
            <a:r>
              <a:rPr lang="en-US" altLang="zh-CN" b="1" dirty="0">
                <a:solidFill>
                  <a:srgbClr val="0000FF"/>
                </a:solidFill>
                <a:latin typeface="微软雅黑" pitchFamily="34" charset="-122"/>
                <a:ea typeface="微软雅黑" pitchFamily="34" charset="-122"/>
              </a:rPr>
              <a:t>MPLS </a:t>
            </a:r>
            <a:r>
              <a:rPr lang="zh-CN" altLang="en-US" b="1" dirty="0">
                <a:solidFill>
                  <a:srgbClr val="0000FF"/>
                </a:solidFill>
                <a:latin typeface="微软雅黑" pitchFamily="34" charset="-122"/>
                <a:ea typeface="微软雅黑" pitchFamily="34" charset="-122"/>
              </a:rPr>
              <a:t>分组在 </a:t>
            </a:r>
            <a:r>
              <a:rPr lang="en-US" altLang="zh-CN" b="1" dirty="0">
                <a:solidFill>
                  <a:srgbClr val="0000FF"/>
                </a:solidFill>
                <a:latin typeface="微软雅黑" pitchFamily="34" charset="-122"/>
                <a:ea typeface="微软雅黑" pitchFamily="34" charset="-122"/>
              </a:rPr>
              <a:t>MPLS </a:t>
            </a:r>
            <a:r>
              <a:rPr lang="zh-CN" altLang="en-US" b="1" dirty="0">
                <a:solidFill>
                  <a:srgbClr val="0000FF"/>
                </a:solidFill>
                <a:latin typeface="微软雅黑" pitchFamily="34" charset="-122"/>
                <a:ea typeface="微软雅黑" pitchFamily="34" charset="-122"/>
              </a:rPr>
              <a:t>域中兜圈子。</a:t>
            </a:r>
          </a:p>
        </p:txBody>
      </p:sp>
    </p:spTree>
    <p:extLst>
      <p:ext uri="{BB962C8B-B14F-4D97-AF65-F5344CB8AC3E}">
        <p14:creationId xmlns:p14="http://schemas.microsoft.com/office/powerpoint/2010/main" val="388786536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17509"/>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919146" y="576646"/>
            <a:ext cx="33057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4.9.3  </a:t>
            </a:r>
            <a:r>
              <a:rPr lang="zh-CN" altLang="en-US" sz="2400" b="1" dirty="0">
                <a:solidFill>
                  <a:schemeClr val="bg1"/>
                </a:solidFill>
                <a:latin typeface="微软雅黑" pitchFamily="34" charset="-122"/>
                <a:ea typeface="微软雅黑" pitchFamily="34" charset="-122"/>
              </a:rPr>
              <a:t>新一代的 </a:t>
            </a:r>
            <a:r>
              <a:rPr lang="en-US" altLang="zh-CN" sz="2400" b="1" dirty="0">
                <a:solidFill>
                  <a:schemeClr val="bg1"/>
                </a:solidFill>
                <a:latin typeface="微软雅黑" pitchFamily="34" charset="-122"/>
                <a:ea typeface="微软雅黑" pitchFamily="34" charset="-122"/>
              </a:rPr>
              <a:t>MPLS</a:t>
            </a:r>
            <a:endParaRPr lang="zh-CN" altLang="en-US" sz="2400" b="1" dirty="0">
              <a:solidFill>
                <a:schemeClr val="bg1"/>
              </a:solidFill>
              <a:latin typeface="微软雅黑" pitchFamily="34" charset="-122"/>
              <a:ea typeface="微软雅黑" pitchFamily="34" charset="-122"/>
            </a:endParaRPr>
          </a:p>
        </p:txBody>
      </p:sp>
      <p:sp>
        <p:nvSpPr>
          <p:cNvPr id="4" name="Rectangle 8"/>
          <p:cNvSpPr>
            <a:spLocks noChangeArrowheads="1"/>
          </p:cNvSpPr>
          <p:nvPr/>
        </p:nvSpPr>
        <p:spPr bwMode="auto">
          <a:xfrm>
            <a:off x="545143" y="1009413"/>
            <a:ext cx="8209557" cy="33752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rPr>
              <a:t>MPLS </a:t>
            </a:r>
            <a:r>
              <a:rPr lang="zh-CN" altLang="en-US" sz="2000" b="1" dirty="0">
                <a:latin typeface="微软雅黑" pitchFamily="34" charset="-122"/>
                <a:ea typeface="微软雅黑" pitchFamily="34" charset="-122"/>
              </a:rPr>
              <a:t>存在的问题：</a:t>
            </a:r>
            <a:endParaRPr lang="en-US" altLang="zh-CN" sz="2000" b="1" dirty="0">
              <a:latin typeface="微软雅黑" pitchFamily="34" charset="-122"/>
              <a:ea typeface="微软雅黑" pitchFamily="34" charset="-122"/>
            </a:endParaRPr>
          </a:p>
          <a:p>
            <a:pPr marL="625475" lvl="1" indent="-285750">
              <a:lnSpc>
                <a:spcPts val="3200"/>
              </a:lnSpc>
              <a:buClr>
                <a:srgbClr val="990099"/>
              </a:buClr>
              <a:buSzPct val="85000"/>
              <a:buFont typeface="Wingdings" panose="05000000000000000000" pitchFamily="2" charset="2"/>
              <a:buChar char="u"/>
            </a:pPr>
            <a:r>
              <a:rPr lang="zh-CN" altLang="en-US" sz="2000" b="1" dirty="0">
                <a:latin typeface="微软雅黑" pitchFamily="34" charset="-122"/>
                <a:ea typeface="微软雅黑" pitchFamily="34" charset="-122"/>
              </a:rPr>
              <a:t>控制协议（如 </a:t>
            </a:r>
            <a:r>
              <a:rPr lang="en-US" altLang="zh-CN" sz="2000" b="1" dirty="0">
                <a:latin typeface="微软雅黑" pitchFamily="34" charset="-122"/>
                <a:ea typeface="微软雅黑" pitchFamily="34" charset="-122"/>
              </a:rPr>
              <a:t>LDP</a:t>
            </a:r>
            <a:r>
              <a:rPr lang="zh-CN" altLang="en-US" sz="2000" b="1" dirty="0">
                <a:latin typeface="微软雅黑" pitchFamily="34" charset="-122"/>
                <a:ea typeface="微软雅黑" pitchFamily="34" charset="-122"/>
              </a:rPr>
              <a:t>）比较复杂，扩展性差，运行维护较困难。</a:t>
            </a:r>
            <a:endParaRPr lang="en-US" altLang="zh-CN" sz="2000" b="1" dirty="0">
              <a:latin typeface="微软雅黑" pitchFamily="34" charset="-122"/>
              <a:ea typeface="微软雅黑" pitchFamily="34" charset="-122"/>
            </a:endParaRPr>
          </a:p>
          <a:p>
            <a:pPr marL="625475" lvl="1" indent="-285750">
              <a:lnSpc>
                <a:spcPts val="3200"/>
              </a:lnSpc>
              <a:buClr>
                <a:srgbClr val="990099"/>
              </a:buClr>
              <a:buSzPct val="85000"/>
              <a:buFont typeface="Wingdings" panose="05000000000000000000" pitchFamily="2" charset="2"/>
              <a:buChar char="u"/>
            </a:pPr>
            <a:r>
              <a:rPr lang="zh-CN" altLang="en-US" sz="2000" b="1" dirty="0">
                <a:latin typeface="微软雅黑" pitchFamily="34" charset="-122"/>
                <a:ea typeface="微软雅黑" pitchFamily="34" charset="-122"/>
              </a:rPr>
              <a:t>协议 </a:t>
            </a:r>
            <a:r>
              <a:rPr lang="en-US" altLang="zh-CN" sz="2000" b="1" dirty="0">
                <a:latin typeface="微软雅黑" pitchFamily="34" charset="-122"/>
                <a:ea typeface="微软雅黑" pitchFamily="34" charset="-122"/>
              </a:rPr>
              <a:t>LDP </a:t>
            </a:r>
            <a:r>
              <a:rPr lang="zh-CN" altLang="en-US" sz="2000" b="1" dirty="0">
                <a:solidFill>
                  <a:srgbClr val="C00000"/>
                </a:solidFill>
                <a:latin typeface="微软雅黑" pitchFamily="34" charset="-122"/>
                <a:ea typeface="微软雅黑" pitchFamily="34" charset="-122"/>
              </a:rPr>
              <a:t>无法</a:t>
            </a:r>
            <a:r>
              <a:rPr lang="zh-CN" altLang="en-US" sz="2000" b="1" dirty="0">
                <a:latin typeface="微软雅黑" pitchFamily="34" charset="-122"/>
                <a:ea typeface="微软雅黑" pitchFamily="34" charset="-122"/>
              </a:rPr>
              <a:t>做到基于时延或带宽等要求的流量调度。</a:t>
            </a:r>
            <a:endParaRPr lang="en-US" altLang="zh-CN" sz="2000" b="1" dirty="0">
              <a:latin typeface="微软雅黑" pitchFamily="34" charset="-122"/>
              <a:ea typeface="微软雅黑" pitchFamily="34" charset="-122"/>
            </a:endParaRPr>
          </a:p>
          <a:p>
            <a:pPr marL="625475" lvl="1" indent="-285750">
              <a:lnSpc>
                <a:spcPts val="3200"/>
              </a:lnSpc>
              <a:buClr>
                <a:srgbClr val="990099"/>
              </a:buClr>
              <a:buSzPct val="85000"/>
              <a:buFont typeface="Wingdings" panose="05000000000000000000" pitchFamily="2" charset="2"/>
              <a:buChar char="u"/>
            </a:pPr>
            <a:r>
              <a:rPr lang="zh-CN" altLang="en-US" sz="2000" b="1" dirty="0">
                <a:latin typeface="微软雅黑" pitchFamily="34" charset="-122"/>
                <a:ea typeface="微软雅黑" pitchFamily="34" charset="-122"/>
              </a:rPr>
              <a:t>为灵活地选择流量的转发路径，还需要再使用</a:t>
            </a:r>
            <a:r>
              <a:rPr lang="zh-CN" altLang="en-US" sz="2000" b="1" dirty="0">
                <a:solidFill>
                  <a:srgbClr val="C00000"/>
                </a:solidFill>
                <a:latin typeface="微软雅黑" pitchFamily="34" charset="-122"/>
                <a:ea typeface="微软雅黑" pitchFamily="34" charset="-122"/>
              </a:rPr>
              <a:t>资源预留协议 </a:t>
            </a:r>
            <a:r>
              <a:rPr lang="en-US" altLang="zh-CN" sz="2000" b="1" dirty="0">
                <a:latin typeface="微软雅黑" pitchFamily="34" charset="-122"/>
                <a:ea typeface="微软雅黑" pitchFamily="34" charset="-122"/>
              </a:rPr>
              <a:t>RSVP</a:t>
            </a:r>
            <a:r>
              <a:rPr lang="zh-CN" altLang="en-US" sz="2000" b="1" dirty="0">
                <a:latin typeface="微软雅黑" pitchFamily="34" charset="-122"/>
                <a:ea typeface="微软雅黑" pitchFamily="34" charset="-122"/>
              </a:rPr>
              <a:t>。但是：</a:t>
            </a:r>
            <a:endParaRPr lang="en-US" altLang="zh-CN" sz="2000" b="1" dirty="0">
              <a:latin typeface="微软雅黑" pitchFamily="34" charset="-122"/>
              <a:ea typeface="微软雅黑" pitchFamily="34" charset="-122"/>
            </a:endParaRPr>
          </a:p>
          <a:p>
            <a:pPr marL="896938" lvl="2" indent="-252413">
              <a:lnSpc>
                <a:spcPts val="3200"/>
              </a:lnSpc>
              <a:buClr>
                <a:srgbClr val="800000"/>
              </a:buClr>
              <a:buSzPct val="75000"/>
              <a:buFont typeface="Wingdings" panose="05000000000000000000" pitchFamily="2" charset="2"/>
              <a:buChar char="p"/>
            </a:pPr>
            <a:r>
              <a:rPr lang="en-US" altLang="zh-CN" b="1" dirty="0">
                <a:latin typeface="微软雅黑" pitchFamily="34" charset="-122"/>
                <a:ea typeface="微软雅黑" pitchFamily="34" charset="-122"/>
              </a:rPr>
              <a:t>RSVP </a:t>
            </a:r>
            <a:r>
              <a:rPr lang="zh-CN" altLang="en-US" b="1" dirty="0">
                <a:latin typeface="微软雅黑" pitchFamily="34" charset="-122"/>
                <a:ea typeface="微软雅黑" pitchFamily="34" charset="-122"/>
              </a:rPr>
              <a:t>的信令非常复杂，每个节点都要维护一个庞大的链路信息数据库。</a:t>
            </a:r>
            <a:endParaRPr lang="en-US" altLang="zh-CN" b="1" dirty="0">
              <a:latin typeface="微软雅黑" pitchFamily="34" charset="-122"/>
              <a:ea typeface="微软雅黑" pitchFamily="34" charset="-122"/>
            </a:endParaRPr>
          </a:p>
          <a:p>
            <a:pPr marL="896938" lvl="2" indent="-252413">
              <a:lnSpc>
                <a:spcPts val="3200"/>
              </a:lnSpc>
              <a:buClr>
                <a:srgbClr val="800000"/>
              </a:buClr>
              <a:buSzPct val="75000"/>
              <a:buFont typeface="Wingdings" panose="05000000000000000000" pitchFamily="2" charset="2"/>
              <a:buChar char="p"/>
            </a:pPr>
            <a:r>
              <a:rPr lang="en-US" altLang="zh-CN" b="1" dirty="0">
                <a:latin typeface="微软雅黑" pitchFamily="34" charset="-122"/>
                <a:ea typeface="微软雅黑" pitchFamily="34" charset="-122"/>
              </a:rPr>
              <a:t>RSVP </a:t>
            </a:r>
            <a:r>
              <a:rPr lang="zh-CN" altLang="en-US" b="1" dirty="0">
                <a:latin typeface="微软雅黑" pitchFamily="34" charset="-122"/>
                <a:ea typeface="微软雅黑" pitchFamily="34" charset="-122"/>
              </a:rPr>
              <a:t>只会选择一条最优路径，</a:t>
            </a:r>
            <a:r>
              <a:rPr lang="zh-CN" altLang="en-US" b="1" dirty="0">
                <a:solidFill>
                  <a:srgbClr val="0000FF"/>
                </a:solidFill>
                <a:latin typeface="微软雅黑" pitchFamily="34" charset="-122"/>
                <a:ea typeface="微软雅黑" pitchFamily="34" charset="-122"/>
              </a:rPr>
              <a:t>不支持</a:t>
            </a:r>
            <a:r>
              <a:rPr lang="zh-CN" altLang="en-US" b="1" dirty="0">
                <a:solidFill>
                  <a:srgbClr val="C00000"/>
                </a:solidFill>
                <a:latin typeface="微软雅黑" pitchFamily="34" charset="-122"/>
                <a:ea typeface="微软雅黑" pitchFamily="34" charset="-122"/>
              </a:rPr>
              <a:t>等价多路径路由选择 </a:t>
            </a:r>
            <a:r>
              <a:rPr lang="en-US" altLang="zh-CN" b="1" dirty="0">
                <a:latin typeface="微软雅黑" pitchFamily="34" charset="-122"/>
                <a:ea typeface="微软雅黑" pitchFamily="34" charset="-122"/>
              </a:rPr>
              <a:t>ECMP (Equal-Cost Multipath Routing)</a:t>
            </a:r>
            <a:r>
              <a:rPr lang="zh-CN" altLang="en-US" b="1" dirty="0">
                <a:latin typeface="微软雅黑" pitchFamily="34" charset="-122"/>
                <a:ea typeface="微软雅黑" pitchFamily="34" charset="-122"/>
              </a:rPr>
              <a:t> 。</a:t>
            </a:r>
            <a:endParaRPr lang="en-US" altLang="zh-CN" b="1" dirty="0">
              <a:latin typeface="微软雅黑" pitchFamily="34" charset="-122"/>
              <a:ea typeface="微软雅黑" pitchFamily="34" charset="-122"/>
            </a:endParaRPr>
          </a:p>
        </p:txBody>
      </p:sp>
    </p:spTree>
    <p:extLst>
      <p:ext uri="{BB962C8B-B14F-4D97-AF65-F5344CB8AC3E}">
        <p14:creationId xmlns:p14="http://schemas.microsoft.com/office/powerpoint/2010/main" val="245646552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8"/>
          <p:cNvSpPr>
            <a:spLocks noChangeArrowheads="1"/>
          </p:cNvSpPr>
          <p:nvPr/>
        </p:nvSpPr>
        <p:spPr bwMode="auto">
          <a:xfrm>
            <a:off x="545143" y="1009413"/>
            <a:ext cx="8209557" cy="29649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新一代的 </a:t>
            </a:r>
            <a:r>
              <a:rPr lang="en-US" altLang="zh-CN" sz="2000" b="1" dirty="0">
                <a:latin typeface="微软雅黑" pitchFamily="34" charset="-122"/>
                <a:ea typeface="微软雅黑" pitchFamily="34" charset="-122"/>
              </a:rPr>
              <a:t>MPLS</a:t>
            </a:r>
            <a:r>
              <a:rPr lang="zh-CN" altLang="en-US" sz="2000" b="1" dirty="0">
                <a:latin typeface="微软雅黑" pitchFamily="34" charset="-122"/>
                <a:ea typeface="微软雅黑" pitchFamily="34" charset="-122"/>
              </a:rPr>
              <a:t>：</a:t>
            </a:r>
            <a:r>
              <a:rPr lang="zh-CN" altLang="en-US" sz="2000" b="1" dirty="0">
                <a:solidFill>
                  <a:srgbClr val="C00000"/>
                </a:solidFill>
                <a:latin typeface="微软雅黑" pitchFamily="34" charset="-122"/>
                <a:ea typeface="微软雅黑" pitchFamily="34" charset="-122"/>
              </a:rPr>
              <a:t>段路由选择协议 </a:t>
            </a:r>
            <a:r>
              <a:rPr lang="en-US" altLang="zh-CN" sz="2000" b="1" dirty="0">
                <a:solidFill>
                  <a:srgbClr val="C00000"/>
                </a:solidFill>
                <a:latin typeface="微软雅黑" pitchFamily="34" charset="-122"/>
                <a:ea typeface="微软雅黑" pitchFamily="34" charset="-122"/>
              </a:rPr>
              <a:t>SR</a:t>
            </a:r>
            <a:r>
              <a:rPr lang="zh-CN" altLang="en-US" sz="2000" b="1" dirty="0">
                <a:solidFill>
                  <a:srgbClr val="C00000"/>
                </a:solidFill>
                <a:latin typeface="微软雅黑" pitchFamily="34" charset="-122"/>
                <a:ea typeface="微软雅黑" pitchFamily="34" charset="-122"/>
              </a:rPr>
              <a:t> </a:t>
            </a:r>
            <a:r>
              <a:rPr lang="en-US" altLang="zh-CN" sz="2000" b="1" dirty="0">
                <a:latin typeface="微软雅黑" pitchFamily="34" charset="-122"/>
                <a:ea typeface="微软雅黑" pitchFamily="34" charset="-122"/>
              </a:rPr>
              <a:t>(Segment Routing)</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段 </a:t>
            </a:r>
            <a:r>
              <a:rPr lang="en-US" altLang="zh-CN" sz="2000" b="1" dirty="0">
                <a:solidFill>
                  <a:srgbClr val="C00000"/>
                </a:solidFill>
                <a:latin typeface="微软雅黑" pitchFamily="34" charset="-122"/>
                <a:ea typeface="微软雅黑" pitchFamily="34" charset="-122"/>
              </a:rPr>
              <a:t>(segment)</a:t>
            </a:r>
            <a:r>
              <a:rPr lang="zh-CN" altLang="en-US" sz="2000" b="1" dirty="0">
                <a:solidFill>
                  <a:srgbClr val="C00000"/>
                </a:solidFill>
                <a:latin typeface="微软雅黑" pitchFamily="34" charset="-122"/>
                <a:ea typeface="微软雅黑" pitchFamily="34" charset="-122"/>
              </a:rPr>
              <a:t>：</a:t>
            </a:r>
            <a:r>
              <a:rPr lang="zh-CN" altLang="en-US" sz="2000" b="1" dirty="0">
                <a:latin typeface="微软雅黑" pitchFamily="34" charset="-122"/>
                <a:ea typeface="微软雅黑" pitchFamily="34" charset="-122"/>
              </a:rPr>
              <a:t>标签，是转发指令的一种标识符。</a:t>
            </a: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SR </a:t>
            </a:r>
            <a:r>
              <a:rPr lang="zh-CN" altLang="en-US" sz="2000" b="1" dirty="0">
                <a:solidFill>
                  <a:srgbClr val="0000FF"/>
                </a:solidFill>
                <a:latin typeface="微软雅黑" pitchFamily="34" charset="-122"/>
                <a:ea typeface="微软雅黑" pitchFamily="34" charset="-122"/>
              </a:rPr>
              <a:t>工作原理：</a:t>
            </a:r>
            <a:endParaRPr lang="en-US" altLang="zh-CN" sz="2000" b="1" dirty="0">
              <a:solidFill>
                <a:srgbClr val="0000FF"/>
              </a:solidFill>
              <a:latin typeface="微软雅黑" pitchFamily="34" charset="-122"/>
              <a:ea typeface="微软雅黑" pitchFamily="34" charset="-122"/>
            </a:endParaRPr>
          </a:p>
          <a:p>
            <a:pPr marL="625475" lvl="1" indent="-285750">
              <a:lnSpc>
                <a:spcPts val="3200"/>
              </a:lnSpc>
              <a:buClr>
                <a:srgbClr val="990099"/>
              </a:buClr>
              <a:buSzPct val="85000"/>
              <a:buFont typeface="Wingdings" panose="05000000000000000000" pitchFamily="2" charset="2"/>
              <a:buChar char="u"/>
            </a:pPr>
            <a:r>
              <a:rPr lang="zh-CN" altLang="en-US" sz="2000" b="1" dirty="0">
                <a:latin typeface="微软雅黑" pitchFamily="34" charset="-122"/>
                <a:ea typeface="微软雅黑" pitchFamily="34" charset="-122"/>
              </a:rPr>
              <a:t>基于标签交换，但不需要使用协议 </a:t>
            </a:r>
            <a:r>
              <a:rPr lang="en-US" altLang="zh-CN" sz="2000" b="1" dirty="0">
                <a:latin typeface="微软雅黑" pitchFamily="34" charset="-122"/>
                <a:ea typeface="微软雅黑" pitchFamily="34" charset="-122"/>
              </a:rPr>
              <a:t>LDP</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625475" lvl="1" indent="-285750">
              <a:lnSpc>
                <a:spcPts val="3200"/>
              </a:lnSpc>
              <a:buClr>
                <a:srgbClr val="990099"/>
              </a:buClr>
              <a:buSzPct val="85000"/>
              <a:buFont typeface="Wingdings" panose="05000000000000000000" pitchFamily="2" charset="2"/>
              <a:buChar char="u"/>
            </a:pPr>
            <a:r>
              <a:rPr lang="zh-CN" altLang="en-US" sz="2000" b="1" dirty="0">
                <a:latin typeface="微软雅黑" pitchFamily="34" charset="-122"/>
                <a:ea typeface="微软雅黑" pitchFamily="34" charset="-122"/>
              </a:rPr>
              <a:t>由源节点为发送的报文指定路径，并将路径转换成有序的段列表 </a:t>
            </a:r>
            <a:r>
              <a:rPr lang="en-US" altLang="zh-CN" sz="2000" b="1" dirty="0">
                <a:latin typeface="微软雅黑" pitchFamily="34" charset="-122"/>
                <a:ea typeface="微软雅黑" pitchFamily="34" charset="-122"/>
              </a:rPr>
              <a:t>(Segment List)</a:t>
            </a:r>
            <a:r>
              <a:rPr lang="zh-CN" altLang="en-US" sz="2000" b="1" dirty="0">
                <a:latin typeface="微软雅黑" pitchFamily="34" charset="-122"/>
                <a:ea typeface="微软雅黑" pitchFamily="34" charset="-122"/>
              </a:rPr>
              <a:t>，即 </a:t>
            </a:r>
            <a:r>
              <a:rPr lang="en-US" altLang="zh-CN" sz="2000" b="1" dirty="0">
                <a:latin typeface="微软雅黑" pitchFamily="34" charset="-122"/>
                <a:ea typeface="微软雅黑" pitchFamily="34" charset="-122"/>
              </a:rPr>
              <a:t>MPLS </a:t>
            </a:r>
            <a:r>
              <a:rPr lang="zh-CN" altLang="en-US" sz="2000" b="1" dirty="0">
                <a:latin typeface="微软雅黑" pitchFamily="34" charset="-122"/>
                <a:ea typeface="微软雅黑" pitchFamily="34" charset="-122"/>
              </a:rPr>
              <a:t>标签栈，它被封装在分组首部。</a:t>
            </a:r>
            <a:endParaRPr lang="en-US" altLang="zh-CN" sz="2000" b="1" dirty="0">
              <a:latin typeface="微软雅黑" pitchFamily="34" charset="-122"/>
              <a:ea typeface="微软雅黑" pitchFamily="34" charset="-122"/>
            </a:endParaRPr>
          </a:p>
          <a:p>
            <a:pPr marL="625475" lvl="1" indent="-285750">
              <a:lnSpc>
                <a:spcPts val="3200"/>
              </a:lnSpc>
              <a:buClr>
                <a:srgbClr val="990099"/>
              </a:buClr>
              <a:buSzPct val="85000"/>
              <a:buFont typeface="Wingdings" panose="05000000000000000000" pitchFamily="2" charset="2"/>
              <a:buChar char="u"/>
            </a:pPr>
            <a:r>
              <a:rPr lang="zh-CN" altLang="en-US" sz="2000" b="1" dirty="0">
                <a:latin typeface="微软雅黑" pitchFamily="34" charset="-122"/>
                <a:ea typeface="微软雅黑" pitchFamily="34" charset="-122"/>
              </a:rPr>
              <a:t>网络中的其他节点就执行首部中的指令（即标签）进行转发。</a:t>
            </a:r>
            <a:endParaRPr lang="en-US" altLang="zh-CN" sz="2000" b="1" dirty="0">
              <a:latin typeface="微软雅黑" pitchFamily="34" charset="-122"/>
              <a:ea typeface="微软雅黑" pitchFamily="34" charset="-122"/>
            </a:endParaRPr>
          </a:p>
        </p:txBody>
      </p:sp>
      <p:sp>
        <p:nvSpPr>
          <p:cNvPr id="5" name="AutoShape 5"/>
          <p:cNvSpPr>
            <a:spLocks noChangeArrowheads="1"/>
          </p:cNvSpPr>
          <p:nvPr/>
        </p:nvSpPr>
        <p:spPr bwMode="auto">
          <a:xfrm>
            <a:off x="545144" y="61414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1941968" y="5809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段路由选择协议 </a:t>
            </a:r>
            <a:r>
              <a:rPr lang="en-US" altLang="zh-CN" sz="2000" b="1" dirty="0">
                <a:solidFill>
                  <a:schemeClr val="bg1"/>
                </a:solidFill>
                <a:latin typeface="微软雅黑" pitchFamily="34" charset="-122"/>
                <a:ea typeface="微软雅黑" pitchFamily="34" charset="-122"/>
              </a:rPr>
              <a:t>SR </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97339978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8"/>
          <p:cNvSpPr>
            <a:spLocks noChangeArrowheads="1"/>
          </p:cNvSpPr>
          <p:nvPr/>
        </p:nvSpPr>
        <p:spPr bwMode="auto">
          <a:xfrm>
            <a:off x="545143" y="1009413"/>
            <a:ext cx="8209557" cy="17338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即 </a:t>
            </a:r>
            <a:r>
              <a:rPr lang="en-US" altLang="zh-CN" sz="2000" b="1" dirty="0">
                <a:latin typeface="微软雅黑" pitchFamily="34" charset="-122"/>
                <a:ea typeface="微软雅黑" pitchFamily="34" charset="-122"/>
              </a:rPr>
              <a:t>SDN </a:t>
            </a:r>
            <a:r>
              <a:rPr lang="zh-CN" altLang="en-US" sz="2000" b="1" dirty="0">
                <a:latin typeface="微软雅黑" pitchFamily="34" charset="-122"/>
                <a:ea typeface="微软雅黑" pitchFamily="34" charset="-122"/>
              </a:rPr>
              <a:t>控制器。负责：</a:t>
            </a:r>
          </a:p>
          <a:p>
            <a:pPr marL="625475" lvl="1" indent="-285750">
              <a:lnSpc>
                <a:spcPts val="3200"/>
              </a:lnSpc>
              <a:buClr>
                <a:srgbClr val="990099"/>
              </a:buClr>
              <a:buSzPct val="85000"/>
              <a:buFont typeface="Wingdings" panose="05000000000000000000" pitchFamily="2" charset="2"/>
              <a:buChar char="u"/>
            </a:pPr>
            <a:r>
              <a:rPr lang="zh-CN" altLang="en-US" sz="2000" b="1" dirty="0">
                <a:solidFill>
                  <a:srgbClr val="C00000"/>
                </a:solidFill>
                <a:latin typeface="微软雅黑" pitchFamily="34" charset="-122"/>
                <a:ea typeface="微软雅黑" pitchFamily="34" charset="-122"/>
              </a:rPr>
              <a:t>收集</a:t>
            </a:r>
            <a:r>
              <a:rPr lang="zh-CN" altLang="en-US" sz="2000" b="1" dirty="0">
                <a:latin typeface="微软雅黑" pitchFamily="34" charset="-122"/>
                <a:ea typeface="微软雅黑" pitchFamily="34" charset="-122"/>
              </a:rPr>
              <a:t>并掌握全网的拓扑信息和链路状态信息，</a:t>
            </a:r>
            <a:r>
              <a:rPr lang="zh-CN" altLang="en-US" sz="2000" b="1" dirty="0">
                <a:solidFill>
                  <a:srgbClr val="C00000"/>
                </a:solidFill>
                <a:latin typeface="微软雅黑" pitchFamily="34" charset="-122"/>
                <a:ea typeface="微软雅黑" pitchFamily="34" charset="-122"/>
              </a:rPr>
              <a:t>计算</a:t>
            </a:r>
            <a:r>
              <a:rPr lang="zh-CN" altLang="en-US" sz="2000" b="1" dirty="0">
                <a:latin typeface="微软雅黑" pitchFamily="34" charset="-122"/>
                <a:ea typeface="微软雅黑" pitchFamily="34" charset="-122"/>
              </a:rPr>
              <a:t>出分组应传送的整个路径。</a:t>
            </a:r>
            <a:endParaRPr lang="en-US" altLang="zh-CN" sz="2000" b="1" dirty="0">
              <a:latin typeface="微软雅黑" pitchFamily="34" charset="-122"/>
              <a:ea typeface="微软雅黑" pitchFamily="34" charset="-122"/>
            </a:endParaRPr>
          </a:p>
          <a:p>
            <a:pPr marL="625475" lvl="1" indent="-285750">
              <a:lnSpc>
                <a:spcPts val="3200"/>
              </a:lnSpc>
              <a:buClr>
                <a:srgbClr val="990099"/>
              </a:buClr>
              <a:buSzPct val="85000"/>
              <a:buFont typeface="Wingdings" panose="05000000000000000000" pitchFamily="2" charset="2"/>
              <a:buChar char="u"/>
            </a:pPr>
            <a:r>
              <a:rPr lang="zh-CN" altLang="en-US" sz="2000" b="1" dirty="0">
                <a:latin typeface="微软雅黑" pitchFamily="34" charset="-122"/>
                <a:ea typeface="微软雅黑" pitchFamily="34" charset="-122"/>
              </a:rPr>
              <a:t>给分组</a:t>
            </a:r>
            <a:r>
              <a:rPr lang="zh-CN" altLang="en-US" sz="2000" b="1" dirty="0">
                <a:solidFill>
                  <a:srgbClr val="C00000"/>
                </a:solidFill>
                <a:latin typeface="微软雅黑" pitchFamily="34" charset="-122"/>
                <a:ea typeface="微软雅黑" pitchFamily="34" charset="-122"/>
              </a:rPr>
              <a:t>分配</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SR </a:t>
            </a:r>
            <a:r>
              <a:rPr lang="zh-CN" altLang="en-US" sz="2000" b="1" dirty="0">
                <a:latin typeface="微软雅黑" pitchFamily="34" charset="-122"/>
                <a:ea typeface="微软雅黑" pitchFamily="34" charset="-122"/>
              </a:rPr>
              <a:t>标签，指明分组从源点到终点的路径。</a:t>
            </a:r>
            <a:endParaRPr lang="en-US" altLang="zh-CN" sz="2000" b="1" dirty="0">
              <a:latin typeface="微软雅黑" pitchFamily="34" charset="-122"/>
              <a:ea typeface="微软雅黑" pitchFamily="34" charset="-122"/>
            </a:endParaRPr>
          </a:p>
        </p:txBody>
      </p:sp>
      <p:sp>
        <p:nvSpPr>
          <p:cNvPr id="5" name="AutoShape 5"/>
          <p:cNvSpPr>
            <a:spLocks noChangeArrowheads="1"/>
          </p:cNvSpPr>
          <p:nvPr/>
        </p:nvSpPr>
        <p:spPr bwMode="auto">
          <a:xfrm>
            <a:off x="545144" y="61414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1941968" y="5809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控制器</a:t>
            </a:r>
          </a:p>
        </p:txBody>
      </p:sp>
      <p:sp>
        <p:nvSpPr>
          <p:cNvPr id="2" name="矩形 1"/>
          <p:cNvSpPr/>
          <p:nvPr/>
        </p:nvSpPr>
        <p:spPr>
          <a:xfrm>
            <a:off x="1738265" y="2873274"/>
            <a:ext cx="5463767" cy="759182"/>
          </a:xfrm>
          <a:prstGeom prst="rect">
            <a:avLst/>
          </a:prstGeom>
        </p:spPr>
        <p:style>
          <a:lnRef idx="1">
            <a:schemeClr val="accent5"/>
          </a:lnRef>
          <a:fillRef idx="2">
            <a:schemeClr val="accent5"/>
          </a:fillRef>
          <a:effectRef idx="1">
            <a:schemeClr val="accent5"/>
          </a:effectRef>
          <a:fontRef idx="minor">
            <a:schemeClr val="dk1"/>
          </a:fontRef>
        </p:style>
        <p:txBody>
          <a:bodyPr wrap="square">
            <a:spAutoFit/>
          </a:bodyPr>
          <a:lstStyle/>
          <a:p>
            <a:pPr>
              <a:lnSpc>
                <a:spcPts val="2600"/>
              </a:lnSpc>
            </a:pPr>
            <a:r>
              <a:rPr lang="en-US" altLang="zh-CN" b="1" dirty="0">
                <a:latin typeface="微软雅黑" panose="020B0503020204020204" pitchFamily="34" charset="-122"/>
                <a:ea typeface="微软雅黑" panose="020B0503020204020204" pitchFamily="34" charset="-122"/>
              </a:rPr>
              <a:t>SR </a:t>
            </a:r>
            <a:r>
              <a:rPr lang="zh-CN" altLang="en-US" b="1" dirty="0">
                <a:latin typeface="微软雅黑" panose="020B0503020204020204" pitchFamily="34" charset="-122"/>
                <a:ea typeface="微软雅黑" panose="020B0503020204020204" pitchFamily="34" charset="-122"/>
              </a:rPr>
              <a:t>向 </a:t>
            </a:r>
            <a:r>
              <a:rPr lang="en-US" altLang="zh-CN" b="1" dirty="0">
                <a:latin typeface="微软雅黑" panose="020B0503020204020204" pitchFamily="34" charset="-122"/>
                <a:ea typeface="微软雅黑" panose="020B0503020204020204" pitchFamily="34" charset="-122"/>
              </a:rPr>
              <a:t>IPv6 </a:t>
            </a:r>
            <a:r>
              <a:rPr lang="zh-CN" altLang="en-US" b="1" dirty="0">
                <a:latin typeface="微软雅黑" panose="020B0503020204020204" pitchFamily="34" charset="-122"/>
                <a:ea typeface="微软雅黑" panose="020B0503020204020204" pitchFamily="34" charset="-122"/>
              </a:rPr>
              <a:t>演进，这就是 </a:t>
            </a:r>
            <a:r>
              <a:rPr lang="en-US" altLang="zh-CN" b="1" dirty="0">
                <a:latin typeface="微软雅黑" panose="020B0503020204020204" pitchFamily="34" charset="-122"/>
                <a:ea typeface="微软雅黑" panose="020B0503020204020204" pitchFamily="34" charset="-122"/>
              </a:rPr>
              <a:t>SRv6</a:t>
            </a:r>
            <a:r>
              <a:rPr lang="zh-CN" altLang="en-US" b="1" dirty="0">
                <a:latin typeface="微软雅黑" panose="020B0503020204020204" pitchFamily="34" charset="-122"/>
                <a:ea typeface="微软雅黑" panose="020B0503020204020204" pitchFamily="34" charset="-122"/>
              </a:rPr>
              <a:t>。</a:t>
            </a:r>
            <a:endParaRPr lang="en-US" altLang="zh-CN" b="1" dirty="0">
              <a:latin typeface="微软雅黑" panose="020B0503020204020204" pitchFamily="34" charset="-122"/>
              <a:ea typeface="微软雅黑" panose="020B0503020204020204" pitchFamily="34" charset="-122"/>
            </a:endParaRPr>
          </a:p>
          <a:p>
            <a:pPr>
              <a:lnSpc>
                <a:spcPts val="2600"/>
              </a:lnSpc>
            </a:pPr>
            <a:r>
              <a:rPr lang="en-US" altLang="zh-CN" b="1" dirty="0">
                <a:latin typeface="微软雅黑" panose="020B0503020204020204" pitchFamily="34" charset="-122"/>
                <a:ea typeface="微软雅黑" panose="020B0503020204020204" pitchFamily="34" charset="-122"/>
              </a:rPr>
              <a:t>SRv6 </a:t>
            </a:r>
            <a:r>
              <a:rPr lang="zh-CN" altLang="en-US" b="1" dirty="0">
                <a:latin typeface="微软雅黑" panose="020B0503020204020204" pitchFamily="34" charset="-122"/>
                <a:ea typeface="微软雅黑" panose="020B0503020204020204" pitchFamily="34" charset="-122"/>
              </a:rPr>
              <a:t>直接利用 </a:t>
            </a:r>
            <a:r>
              <a:rPr lang="en-US" altLang="zh-CN" b="1" dirty="0">
                <a:latin typeface="微软雅黑" panose="020B0503020204020204" pitchFamily="34" charset="-122"/>
                <a:ea typeface="微软雅黑" panose="020B0503020204020204" pitchFamily="34" charset="-122"/>
              </a:rPr>
              <a:t>IPv6 </a:t>
            </a:r>
            <a:r>
              <a:rPr lang="zh-CN" altLang="en-US" b="1" dirty="0">
                <a:latin typeface="微软雅黑" panose="020B0503020204020204" pitchFamily="34" charset="-122"/>
                <a:ea typeface="微软雅黑" panose="020B0503020204020204" pitchFamily="34" charset="-122"/>
              </a:rPr>
              <a:t>字段作为标签寻址 </a:t>
            </a:r>
            <a:r>
              <a:rPr lang="en-US" altLang="zh-CN" b="1" dirty="0">
                <a:latin typeface="微软雅黑" panose="020B0503020204020204" pitchFamily="34" charset="-122"/>
                <a:ea typeface="微软雅黑" panose="020B0503020204020204" pitchFamily="34" charset="-122"/>
              </a:rPr>
              <a:t>(Locator)</a:t>
            </a:r>
            <a:r>
              <a:rPr lang="zh-CN" altLang="en-US" b="1" dirty="0">
                <a:latin typeface="微软雅黑" panose="020B0503020204020204" pitchFamily="34" charset="-122"/>
                <a:ea typeface="微软雅黑" panose="020B0503020204020204" pitchFamily="34" charset="-122"/>
              </a:rPr>
              <a:t>。</a:t>
            </a:r>
          </a:p>
        </p:txBody>
      </p:sp>
    </p:spTree>
    <p:extLst>
      <p:ext uri="{BB962C8B-B14F-4D97-AF65-F5344CB8AC3E}">
        <p14:creationId xmlns:p14="http://schemas.microsoft.com/office/powerpoint/2010/main" val="162328166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9"/>
          <p:cNvSpPr>
            <a:spLocks noChangeArrowheads="1"/>
          </p:cNvSpPr>
          <p:nvPr/>
        </p:nvSpPr>
        <p:spPr bwMode="auto">
          <a:xfrm>
            <a:off x="2303831" y="1339755"/>
            <a:ext cx="6189542"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3" name="Rectangle 10"/>
          <p:cNvSpPr>
            <a:spLocks noChangeArrowheads="1"/>
          </p:cNvSpPr>
          <p:nvPr/>
        </p:nvSpPr>
        <p:spPr bwMode="auto">
          <a:xfrm>
            <a:off x="2303831" y="1946180"/>
            <a:ext cx="6189542"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4" name="Rectangle 27"/>
          <p:cNvSpPr>
            <a:spLocks noChangeArrowheads="1"/>
          </p:cNvSpPr>
          <p:nvPr/>
        </p:nvSpPr>
        <p:spPr bwMode="auto">
          <a:xfrm>
            <a:off x="490266" y="1339755"/>
            <a:ext cx="1636540" cy="1810421"/>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5" name="Rectangle 29"/>
          <p:cNvSpPr>
            <a:spLocks noChangeArrowheads="1"/>
          </p:cNvSpPr>
          <p:nvPr/>
        </p:nvSpPr>
        <p:spPr bwMode="auto">
          <a:xfrm>
            <a:off x="499155" y="1434687"/>
            <a:ext cx="1627651" cy="132343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4.10</a:t>
            </a:r>
          </a:p>
          <a:p>
            <a:r>
              <a:rPr lang="zh-CN" altLang="en-US" sz="2000" b="1" dirty="0">
                <a:solidFill>
                  <a:schemeClr val="bg1"/>
                </a:solidFill>
                <a:latin typeface="微软雅黑" pitchFamily="34" charset="-122"/>
                <a:ea typeface="微软雅黑" pitchFamily="34" charset="-122"/>
              </a:rPr>
              <a:t>软件定义网络 </a:t>
            </a:r>
            <a:r>
              <a:rPr lang="en-US" altLang="zh-CN" sz="2000" b="1" dirty="0">
                <a:solidFill>
                  <a:schemeClr val="bg1"/>
                </a:solidFill>
                <a:latin typeface="微软雅黑" pitchFamily="34" charset="-122"/>
                <a:ea typeface="微软雅黑" pitchFamily="34" charset="-122"/>
              </a:rPr>
              <a:t>SDN </a:t>
            </a:r>
            <a:r>
              <a:rPr lang="zh-CN" altLang="en-US" sz="2000" b="1" dirty="0">
                <a:solidFill>
                  <a:schemeClr val="bg1"/>
                </a:solidFill>
                <a:latin typeface="微软雅黑" pitchFamily="34" charset="-122"/>
                <a:ea typeface="微软雅黑" pitchFamily="34" charset="-122"/>
              </a:rPr>
              <a:t>简介</a:t>
            </a:r>
          </a:p>
        </p:txBody>
      </p:sp>
      <p:sp>
        <p:nvSpPr>
          <p:cNvPr id="8" name="Rectangle 9"/>
          <p:cNvSpPr>
            <a:spLocks noChangeArrowheads="1"/>
          </p:cNvSpPr>
          <p:nvPr/>
        </p:nvSpPr>
        <p:spPr bwMode="auto">
          <a:xfrm>
            <a:off x="2303831" y="2552605"/>
            <a:ext cx="6189542"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7" name="Rectangle 8"/>
          <p:cNvSpPr>
            <a:spLocks noChangeArrowheads="1"/>
          </p:cNvSpPr>
          <p:nvPr/>
        </p:nvSpPr>
        <p:spPr bwMode="auto">
          <a:xfrm>
            <a:off x="2287349" y="1305211"/>
            <a:ext cx="6206024" cy="1631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zh-CN" sz="2000" b="1" dirty="0">
                <a:solidFill>
                  <a:schemeClr val="bg1"/>
                </a:solidFill>
                <a:latin typeface="微软雅黑" pitchFamily="34" charset="-122"/>
                <a:ea typeface="微软雅黑" pitchFamily="34" charset="-122"/>
              </a:rPr>
              <a:t>4.10.1                               SDN </a:t>
            </a:r>
            <a:r>
              <a:rPr lang="zh-CN" altLang="en-US" sz="2000" b="1" dirty="0">
                <a:solidFill>
                  <a:schemeClr val="bg1"/>
                </a:solidFill>
                <a:latin typeface="微软雅黑" pitchFamily="34" charset="-122"/>
                <a:ea typeface="微软雅黑" pitchFamily="34" charset="-122"/>
              </a:rPr>
              <a:t>与协议 </a:t>
            </a:r>
            <a:r>
              <a:rPr lang="en-US" altLang="zh-CN" sz="2000" b="1" dirty="0" err="1">
                <a:solidFill>
                  <a:schemeClr val="bg1"/>
                </a:solidFill>
                <a:latin typeface="微软雅黑" pitchFamily="34" charset="-122"/>
                <a:ea typeface="微软雅黑" pitchFamily="34" charset="-122"/>
              </a:rPr>
              <a:t>OpenFlow</a:t>
            </a:r>
            <a:endParaRPr lang="en-US" altLang="zh-CN" sz="2000" b="1" dirty="0">
              <a:solidFill>
                <a:schemeClr val="bg1"/>
              </a:solidFill>
              <a:latin typeface="微软雅黑" pitchFamily="34" charset="-122"/>
              <a:ea typeface="微软雅黑" pitchFamily="34" charset="-122"/>
            </a:endParaRPr>
          </a:p>
          <a:p>
            <a:endParaRPr lang="zh-CN" altLang="en-US"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4.10.2                                              SDN </a:t>
            </a:r>
            <a:r>
              <a:rPr lang="zh-CN" altLang="en-US" sz="2000" b="1" dirty="0">
                <a:solidFill>
                  <a:schemeClr val="bg1"/>
                </a:solidFill>
                <a:latin typeface="微软雅黑" pitchFamily="34" charset="-122"/>
                <a:ea typeface="微软雅黑" pitchFamily="34" charset="-122"/>
              </a:rPr>
              <a:t>体系结构</a:t>
            </a:r>
            <a:endParaRPr lang="en-US" altLang="zh-CN" sz="2000" b="1" dirty="0">
              <a:solidFill>
                <a:schemeClr val="bg1"/>
              </a:solidFill>
              <a:latin typeface="微软雅黑" pitchFamily="34" charset="-122"/>
              <a:ea typeface="微软雅黑" pitchFamily="34" charset="-122"/>
            </a:endParaRPr>
          </a:p>
          <a:p>
            <a:endParaRPr lang="en-US" altLang="zh-CN"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4.10.3                                                 SDN </a:t>
            </a:r>
            <a:r>
              <a:rPr lang="zh-CN" altLang="en-US" sz="2000" b="1" dirty="0">
                <a:solidFill>
                  <a:schemeClr val="bg1"/>
                </a:solidFill>
                <a:latin typeface="微软雅黑" pitchFamily="34" charset="-122"/>
                <a:ea typeface="微软雅黑" pitchFamily="34" charset="-122"/>
              </a:rPr>
              <a:t>控制器</a:t>
            </a:r>
            <a:endParaRPr lang="en-US" altLang="zh-CN" sz="2000" b="1" dirty="0">
              <a:solidFill>
                <a:schemeClr val="bg1"/>
              </a:solidFill>
              <a:latin typeface="微软雅黑" pitchFamily="34" charset="-122"/>
              <a:ea typeface="微软雅黑" pitchFamily="34" charset="-122"/>
            </a:endParaRPr>
          </a:p>
        </p:txBody>
      </p:sp>
      <p:sp>
        <p:nvSpPr>
          <p:cNvPr id="6" name="Line 16"/>
          <p:cNvSpPr>
            <a:spLocks noChangeShapeType="1"/>
          </p:cNvSpPr>
          <p:nvPr/>
        </p:nvSpPr>
        <p:spPr bwMode="auto">
          <a:xfrm>
            <a:off x="3311894" y="1268318"/>
            <a:ext cx="0" cy="2283662"/>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Tree>
    <p:extLst>
      <p:ext uri="{BB962C8B-B14F-4D97-AF65-F5344CB8AC3E}">
        <p14:creationId xmlns:p14="http://schemas.microsoft.com/office/powerpoint/2010/main" val="135478373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611481"/>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6" name="Rectangle 6"/>
          <p:cNvSpPr>
            <a:spLocks noChangeArrowheads="1"/>
          </p:cNvSpPr>
          <p:nvPr/>
        </p:nvSpPr>
        <p:spPr bwMode="auto">
          <a:xfrm>
            <a:off x="2156973" y="586794"/>
            <a:ext cx="483292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400" b="1" dirty="0">
                <a:solidFill>
                  <a:srgbClr val="FFFF00"/>
                </a:solidFill>
                <a:latin typeface="微软雅黑" pitchFamily="34" charset="-122"/>
                <a:ea typeface="微软雅黑" pitchFamily="34" charset="-122"/>
              </a:rPr>
              <a:t>4.10   </a:t>
            </a:r>
            <a:r>
              <a:rPr lang="zh-CN" altLang="en-US" sz="2400" b="1" dirty="0">
                <a:solidFill>
                  <a:schemeClr val="bg1"/>
                </a:solidFill>
                <a:latin typeface="微软雅黑" pitchFamily="34" charset="-122"/>
                <a:ea typeface="微软雅黑" pitchFamily="34" charset="-122"/>
              </a:rPr>
              <a:t>软件定义网络 </a:t>
            </a:r>
            <a:r>
              <a:rPr lang="en-US" altLang="zh-CN" sz="2400" b="1" dirty="0">
                <a:solidFill>
                  <a:schemeClr val="bg1"/>
                </a:solidFill>
                <a:latin typeface="微软雅黑" pitchFamily="34" charset="-122"/>
                <a:ea typeface="微软雅黑" pitchFamily="34" charset="-122"/>
              </a:rPr>
              <a:t>SDN </a:t>
            </a:r>
            <a:r>
              <a:rPr lang="zh-CN" altLang="en-US" sz="2400" b="1" dirty="0">
                <a:solidFill>
                  <a:schemeClr val="bg1"/>
                </a:solidFill>
                <a:latin typeface="微软雅黑" pitchFamily="34" charset="-122"/>
                <a:ea typeface="微软雅黑" pitchFamily="34" charset="-122"/>
              </a:rPr>
              <a:t>简介</a:t>
            </a:r>
          </a:p>
        </p:txBody>
      </p:sp>
      <p:sp>
        <p:nvSpPr>
          <p:cNvPr id="4" name="Rectangle 8"/>
          <p:cNvSpPr>
            <a:spLocks noChangeArrowheads="1"/>
          </p:cNvSpPr>
          <p:nvPr/>
        </p:nvSpPr>
        <p:spPr bwMode="auto">
          <a:xfrm>
            <a:off x="545143" y="1009413"/>
            <a:ext cx="8209557" cy="33752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软件定义网络 </a:t>
            </a:r>
            <a:r>
              <a:rPr lang="en-US" altLang="zh-CN" sz="2000" b="1" dirty="0">
                <a:latin typeface="微软雅黑" pitchFamily="34" charset="-122"/>
                <a:ea typeface="微软雅黑" pitchFamily="34" charset="-122"/>
              </a:rPr>
              <a:t>SDN</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Software Defined Network</a:t>
            </a:r>
            <a:r>
              <a:rPr lang="zh-CN" altLang="en-US" sz="2000" b="1" dirty="0">
                <a:latin typeface="微软雅黑" pitchFamily="34" charset="-122"/>
                <a:ea typeface="微软雅黑" pitchFamily="34" charset="-122"/>
              </a:rPr>
              <a:t>）由斯坦福大学</a:t>
            </a:r>
            <a:r>
              <a:rPr lang="en-US" altLang="zh-CN" sz="2000" b="1" dirty="0">
                <a:latin typeface="微软雅黑" pitchFamily="34" charset="-122"/>
                <a:ea typeface="微软雅黑" pitchFamily="34" charset="-122"/>
              </a:rPr>
              <a:t>N. </a:t>
            </a:r>
            <a:r>
              <a:rPr lang="en-US" altLang="zh-CN" sz="2000" b="1" dirty="0" err="1">
                <a:latin typeface="微软雅黑" pitchFamily="34" charset="-122"/>
                <a:ea typeface="微软雅黑" pitchFamily="34" charset="-122"/>
              </a:rPr>
              <a:t>McKeown</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于 </a:t>
            </a:r>
            <a:r>
              <a:rPr lang="en-US" altLang="zh-CN" sz="2000" b="1" dirty="0">
                <a:latin typeface="微软雅黑" pitchFamily="34" charset="-122"/>
                <a:ea typeface="微软雅黑" pitchFamily="34" charset="-122"/>
              </a:rPr>
              <a:t>2009 </a:t>
            </a:r>
            <a:r>
              <a:rPr lang="zh-CN" altLang="en-US" sz="2000" b="1" dirty="0">
                <a:latin typeface="微软雅黑" pitchFamily="34" charset="-122"/>
                <a:ea typeface="微软雅黑" pitchFamily="34" charset="-122"/>
              </a:rPr>
              <a:t>年首先提出。</a:t>
            </a: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谷歌于 </a:t>
            </a:r>
            <a:r>
              <a:rPr lang="en-US" altLang="zh-CN" sz="2000" b="1" dirty="0">
                <a:latin typeface="微软雅黑" pitchFamily="34" charset="-122"/>
                <a:ea typeface="微软雅黑" pitchFamily="34" charset="-122"/>
              </a:rPr>
              <a:t>2010 ~ 2012 </a:t>
            </a:r>
            <a:r>
              <a:rPr lang="zh-CN" altLang="en-US" sz="2000" b="1" dirty="0">
                <a:latin typeface="微软雅黑" pitchFamily="34" charset="-122"/>
                <a:ea typeface="微软雅黑" pitchFamily="34" charset="-122"/>
              </a:rPr>
              <a:t>年的数据中心网络 </a:t>
            </a:r>
            <a:r>
              <a:rPr lang="en-US" altLang="zh-CN" sz="2000" b="1" dirty="0">
                <a:latin typeface="微软雅黑" pitchFamily="34" charset="-122"/>
                <a:ea typeface="微软雅黑" pitchFamily="34" charset="-122"/>
              </a:rPr>
              <a:t>B4 </a:t>
            </a:r>
            <a:r>
              <a:rPr lang="zh-CN" altLang="en-US" sz="2000" b="1" dirty="0">
                <a:latin typeface="微软雅黑" pitchFamily="34" charset="-122"/>
                <a:ea typeface="微软雅黑" pitchFamily="34" charset="-122"/>
              </a:rPr>
              <a:t>进行了运行验证。</a:t>
            </a: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优点：</a:t>
            </a:r>
            <a:endParaRPr lang="en-US" altLang="zh-CN" sz="2000" b="1" dirty="0">
              <a:solidFill>
                <a:srgbClr val="C00000"/>
              </a:solidFill>
              <a:latin typeface="微软雅黑" pitchFamily="34" charset="-122"/>
              <a:ea typeface="微软雅黑" pitchFamily="34" charset="-122"/>
            </a:endParaRPr>
          </a:p>
          <a:p>
            <a:pPr marL="625475" lvl="1" indent="-285750">
              <a:lnSpc>
                <a:spcPts val="3200"/>
              </a:lnSpc>
              <a:buClr>
                <a:srgbClr val="990099"/>
              </a:buClr>
              <a:buSzPct val="85000"/>
              <a:buFont typeface="Wingdings" panose="05000000000000000000" pitchFamily="2" charset="2"/>
              <a:buChar char="u"/>
            </a:pPr>
            <a:r>
              <a:rPr lang="zh-CN" altLang="en-US" sz="2000" b="1" dirty="0">
                <a:latin typeface="微软雅黑" pitchFamily="34" charset="-122"/>
                <a:ea typeface="微软雅黑" pitchFamily="34" charset="-122"/>
              </a:rPr>
              <a:t>提高网络带宽利用率；</a:t>
            </a:r>
            <a:endParaRPr lang="en-US" altLang="zh-CN" sz="2000" b="1" dirty="0">
              <a:latin typeface="微软雅黑" pitchFamily="34" charset="-122"/>
              <a:ea typeface="微软雅黑" pitchFamily="34" charset="-122"/>
            </a:endParaRPr>
          </a:p>
          <a:p>
            <a:pPr marL="625475" lvl="1" indent="-285750">
              <a:lnSpc>
                <a:spcPts val="3200"/>
              </a:lnSpc>
              <a:buClr>
                <a:srgbClr val="990099"/>
              </a:buClr>
              <a:buSzPct val="85000"/>
              <a:buFont typeface="Wingdings" panose="05000000000000000000" pitchFamily="2" charset="2"/>
              <a:buChar char="u"/>
            </a:pPr>
            <a:r>
              <a:rPr lang="zh-CN" altLang="en-US" sz="2000" b="1" dirty="0">
                <a:latin typeface="微软雅黑" pitchFamily="34" charset="-122"/>
                <a:ea typeface="微软雅黑" pitchFamily="34" charset="-122"/>
              </a:rPr>
              <a:t>网络运行更加稳定；</a:t>
            </a:r>
            <a:endParaRPr lang="en-US" altLang="zh-CN" sz="2000" b="1" dirty="0">
              <a:latin typeface="微软雅黑" pitchFamily="34" charset="-122"/>
              <a:ea typeface="微软雅黑" pitchFamily="34" charset="-122"/>
            </a:endParaRPr>
          </a:p>
          <a:p>
            <a:pPr marL="625475" lvl="1" indent="-285750">
              <a:lnSpc>
                <a:spcPts val="3200"/>
              </a:lnSpc>
              <a:buClr>
                <a:srgbClr val="990099"/>
              </a:buClr>
              <a:buSzPct val="85000"/>
              <a:buFont typeface="Wingdings" panose="05000000000000000000" pitchFamily="2" charset="2"/>
              <a:buChar char="u"/>
            </a:pPr>
            <a:r>
              <a:rPr lang="zh-CN" altLang="en-US" sz="2000" b="1" dirty="0">
                <a:latin typeface="微软雅黑" pitchFamily="34" charset="-122"/>
                <a:ea typeface="微软雅黑" pitchFamily="34" charset="-122"/>
              </a:rPr>
              <a:t>管理更加高效简化；</a:t>
            </a:r>
            <a:endParaRPr lang="en-US" altLang="zh-CN" sz="2000" b="1" dirty="0">
              <a:latin typeface="微软雅黑" pitchFamily="34" charset="-122"/>
              <a:ea typeface="微软雅黑" pitchFamily="34" charset="-122"/>
            </a:endParaRPr>
          </a:p>
          <a:p>
            <a:pPr marL="625475" lvl="1" indent="-285750">
              <a:lnSpc>
                <a:spcPts val="3200"/>
              </a:lnSpc>
              <a:buClr>
                <a:srgbClr val="990099"/>
              </a:buClr>
              <a:buSzPct val="85000"/>
              <a:buFont typeface="Wingdings" panose="05000000000000000000" pitchFamily="2" charset="2"/>
              <a:buChar char="u"/>
            </a:pPr>
            <a:r>
              <a:rPr lang="zh-CN" altLang="en-US" sz="2000" b="1" dirty="0">
                <a:latin typeface="微软雅黑" pitchFamily="34" charset="-122"/>
                <a:ea typeface="微软雅黑" pitchFamily="34" charset="-122"/>
              </a:rPr>
              <a:t>运行费用明显降低。</a:t>
            </a:r>
            <a:endParaRPr lang="en-US" altLang="zh-CN" sz="2000" b="1" dirty="0">
              <a:latin typeface="微软雅黑" pitchFamily="34" charset="-122"/>
              <a:ea typeface="微软雅黑" pitchFamily="34" charset="-122"/>
            </a:endParaRPr>
          </a:p>
        </p:txBody>
      </p:sp>
    </p:spTree>
    <p:extLst>
      <p:ext uri="{BB962C8B-B14F-4D97-AF65-F5344CB8AC3E}">
        <p14:creationId xmlns:p14="http://schemas.microsoft.com/office/powerpoint/2010/main" val="404070962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图示 8"/>
          <p:cNvGraphicFramePr/>
          <p:nvPr>
            <p:extLst>
              <p:ext uri="{D42A27DB-BD31-4B8C-83A1-F6EECF244321}">
                <p14:modId xmlns:p14="http://schemas.microsoft.com/office/powerpoint/2010/main" val="1995115111"/>
              </p:ext>
            </p:extLst>
          </p:nvPr>
        </p:nvGraphicFramePr>
        <p:xfrm>
          <a:off x="553229" y="1023308"/>
          <a:ext cx="5105643" cy="359395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矩形 1"/>
          <p:cNvSpPr/>
          <p:nvPr/>
        </p:nvSpPr>
        <p:spPr>
          <a:xfrm>
            <a:off x="5793163" y="3169636"/>
            <a:ext cx="2677191" cy="1118255"/>
          </a:xfrm>
          <a:prstGeom prst="rect">
            <a:avLst/>
          </a:prstGeom>
          <a:solidFill>
            <a:schemeClr val="accent6">
              <a:lumMod val="60000"/>
              <a:lumOff val="40000"/>
            </a:schemeClr>
          </a:solidFill>
        </p:spPr>
        <p:txBody>
          <a:bodyPr wrap="square">
            <a:spAutoFit/>
          </a:bodyPr>
          <a:lstStyle/>
          <a:p>
            <a:pPr>
              <a:lnSpc>
                <a:spcPts val="2000"/>
              </a:lnSpc>
            </a:pPr>
            <a:r>
              <a:rPr lang="zh-CN" altLang="en-US" sz="1400" b="1" dirty="0">
                <a:solidFill>
                  <a:srgbClr val="0000FF"/>
                </a:solidFill>
                <a:latin typeface="微软雅黑" panose="020B0503020204020204" pitchFamily="34" charset="-122"/>
                <a:ea typeface="微软雅黑" panose="020B0503020204020204" pitchFamily="34" charset="-122"/>
              </a:rPr>
              <a:t>注意：</a:t>
            </a:r>
            <a:endParaRPr lang="en-US" altLang="zh-CN" sz="1400" b="1" dirty="0">
              <a:solidFill>
                <a:srgbClr val="0000FF"/>
              </a:solidFill>
              <a:latin typeface="微软雅黑" panose="020B0503020204020204" pitchFamily="34" charset="-122"/>
              <a:ea typeface="微软雅黑" panose="020B0503020204020204" pitchFamily="34" charset="-122"/>
            </a:endParaRPr>
          </a:p>
          <a:p>
            <a:pPr marL="285750" indent="-285750">
              <a:lnSpc>
                <a:spcPts val="2000"/>
              </a:lnSpc>
              <a:buFont typeface="Wingdings" panose="05000000000000000000" pitchFamily="2" charset="2"/>
              <a:buChar char="l"/>
            </a:pPr>
            <a:r>
              <a:rPr lang="en-US" altLang="zh-CN" sz="1400" b="1" dirty="0">
                <a:latin typeface="微软雅黑" panose="020B0503020204020204" pitchFamily="34" charset="-122"/>
                <a:ea typeface="微软雅黑" panose="020B0503020204020204" pitchFamily="34" charset="-122"/>
              </a:rPr>
              <a:t>SDN </a:t>
            </a:r>
            <a:r>
              <a:rPr lang="zh-CN" altLang="en-US" sz="1400" b="1" dirty="0">
                <a:latin typeface="微软雅黑" panose="020B0503020204020204" pitchFamily="34" charset="-122"/>
                <a:ea typeface="微软雅黑" panose="020B0503020204020204" pitchFamily="34" charset="-122"/>
              </a:rPr>
              <a:t>不是 </a:t>
            </a:r>
            <a:r>
              <a:rPr lang="en-US" altLang="zh-CN" sz="1400" b="1" dirty="0" err="1">
                <a:latin typeface="微软雅黑" panose="020B0503020204020204" pitchFamily="34" charset="-122"/>
                <a:ea typeface="微软雅黑" panose="020B0503020204020204" pitchFamily="34" charset="-122"/>
              </a:rPr>
              <a:t>OpenFlow</a:t>
            </a:r>
            <a:r>
              <a:rPr lang="zh-CN" altLang="en-US" sz="1400" b="1" dirty="0">
                <a:latin typeface="微软雅黑" panose="020B0503020204020204" pitchFamily="34" charset="-122"/>
                <a:ea typeface="微软雅黑" panose="020B0503020204020204" pitchFamily="34" charset="-122"/>
              </a:rPr>
              <a:t>。</a:t>
            </a:r>
            <a:endParaRPr lang="en-US" altLang="zh-CN" sz="1400" b="1" dirty="0">
              <a:latin typeface="微软雅黑" panose="020B0503020204020204" pitchFamily="34" charset="-122"/>
              <a:ea typeface="微软雅黑" panose="020B0503020204020204" pitchFamily="34" charset="-122"/>
            </a:endParaRPr>
          </a:p>
          <a:p>
            <a:pPr marL="285750" indent="-285750">
              <a:lnSpc>
                <a:spcPts val="2000"/>
              </a:lnSpc>
              <a:buFont typeface="Wingdings" panose="05000000000000000000" pitchFamily="2" charset="2"/>
              <a:buChar char="l"/>
            </a:pPr>
            <a:r>
              <a:rPr lang="en-US" altLang="zh-CN" sz="1400" b="1" dirty="0">
                <a:latin typeface="微软雅黑" panose="020B0503020204020204" pitchFamily="34" charset="-122"/>
                <a:ea typeface="微软雅黑" panose="020B0503020204020204" pitchFamily="34" charset="-122"/>
              </a:rPr>
              <a:t>SDN </a:t>
            </a:r>
            <a:r>
              <a:rPr lang="zh-CN" altLang="en-US" sz="1400" b="1" dirty="0">
                <a:latin typeface="微软雅黑" panose="020B0503020204020204" pitchFamily="34" charset="-122"/>
                <a:ea typeface="微软雅黑" panose="020B0503020204020204" pitchFamily="34" charset="-122"/>
              </a:rPr>
              <a:t>未规定必须使用 </a:t>
            </a:r>
            <a:r>
              <a:rPr lang="en-US" altLang="zh-CN" sz="1400" b="1" dirty="0" err="1">
                <a:latin typeface="微软雅黑" panose="020B0503020204020204" pitchFamily="34" charset="-122"/>
                <a:ea typeface="微软雅黑" panose="020B0503020204020204" pitchFamily="34" charset="-122"/>
              </a:rPr>
              <a:t>OpenFlow</a:t>
            </a:r>
            <a:r>
              <a:rPr lang="zh-CN" altLang="en-US" sz="1400" b="1" dirty="0">
                <a:latin typeface="微软雅黑" panose="020B0503020204020204" pitchFamily="34" charset="-122"/>
                <a:ea typeface="微软雅黑" panose="020B0503020204020204" pitchFamily="34" charset="-122"/>
              </a:rPr>
              <a:t>。</a:t>
            </a:r>
          </a:p>
        </p:txBody>
      </p:sp>
      <p:sp>
        <p:nvSpPr>
          <p:cNvPr id="15" name="AutoShape 5"/>
          <p:cNvSpPr>
            <a:spLocks noChangeArrowheads="1"/>
          </p:cNvSpPr>
          <p:nvPr/>
        </p:nvSpPr>
        <p:spPr bwMode="auto">
          <a:xfrm>
            <a:off x="545144" y="617509"/>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16" name="Rectangle 6"/>
          <p:cNvSpPr>
            <a:spLocks noChangeArrowheads="1"/>
          </p:cNvSpPr>
          <p:nvPr/>
        </p:nvSpPr>
        <p:spPr bwMode="auto">
          <a:xfrm>
            <a:off x="2196194" y="576646"/>
            <a:ext cx="475162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4.10.1  SDN </a:t>
            </a:r>
            <a:r>
              <a:rPr lang="zh-CN" altLang="en-US" sz="2400" b="1" dirty="0">
                <a:solidFill>
                  <a:schemeClr val="bg1"/>
                </a:solidFill>
                <a:latin typeface="微软雅黑" pitchFamily="34" charset="-122"/>
                <a:ea typeface="微软雅黑" pitchFamily="34" charset="-122"/>
              </a:rPr>
              <a:t>与 协议 </a:t>
            </a:r>
            <a:r>
              <a:rPr lang="en-US" altLang="zh-CN" sz="2400" b="1" dirty="0" err="1">
                <a:solidFill>
                  <a:schemeClr val="bg1"/>
                </a:solidFill>
                <a:latin typeface="微软雅黑" pitchFamily="34" charset="-122"/>
                <a:ea typeface="微软雅黑" pitchFamily="34" charset="-122"/>
              </a:rPr>
              <a:t>OpenFlow</a:t>
            </a:r>
            <a:endParaRPr lang="zh-CN" altLang="en-US" sz="2400" b="1" dirty="0">
              <a:solidFill>
                <a:schemeClr val="bg1"/>
              </a:solidFill>
              <a:latin typeface="微软雅黑" pitchFamily="34" charset="-122"/>
              <a:ea typeface="微软雅黑" pitchFamily="34" charset="-122"/>
            </a:endParaRPr>
          </a:p>
        </p:txBody>
      </p:sp>
      <p:grpSp>
        <p:nvGrpSpPr>
          <p:cNvPr id="17" name="组合 16"/>
          <p:cNvGrpSpPr/>
          <p:nvPr/>
        </p:nvGrpSpPr>
        <p:grpSpPr>
          <a:xfrm>
            <a:off x="5766005" y="1330858"/>
            <a:ext cx="3264210" cy="1614020"/>
            <a:chOff x="5766005" y="1330858"/>
            <a:chExt cx="3264210" cy="1614020"/>
          </a:xfrm>
        </p:grpSpPr>
        <p:grpSp>
          <p:nvGrpSpPr>
            <p:cNvPr id="7" name="组合 6"/>
            <p:cNvGrpSpPr/>
            <p:nvPr/>
          </p:nvGrpSpPr>
          <p:grpSpPr>
            <a:xfrm>
              <a:off x="5766005" y="1330858"/>
              <a:ext cx="2696604" cy="1614020"/>
              <a:chOff x="5423026" y="1627121"/>
              <a:chExt cx="3812175" cy="1728192"/>
            </a:xfrm>
          </p:grpSpPr>
          <p:sp>
            <p:nvSpPr>
              <p:cNvPr id="8" name="圆角矩形 7"/>
              <p:cNvSpPr/>
              <p:nvPr/>
            </p:nvSpPr>
            <p:spPr>
              <a:xfrm>
                <a:off x="5423026" y="2995273"/>
                <a:ext cx="3456384" cy="360040"/>
              </a:xfrm>
              <a:prstGeom prst="roundRect">
                <a:avLst/>
              </a:prstGeom>
              <a:solidFill>
                <a:srgbClr val="33CC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数据层面</a:t>
                </a:r>
              </a:p>
            </p:txBody>
          </p:sp>
          <p:sp>
            <p:nvSpPr>
              <p:cNvPr id="10" name="圆角矩形 9"/>
              <p:cNvSpPr/>
              <p:nvPr/>
            </p:nvSpPr>
            <p:spPr>
              <a:xfrm>
                <a:off x="5423026" y="2131177"/>
                <a:ext cx="3456384" cy="360040"/>
              </a:xfrm>
              <a:prstGeom prst="roundRect">
                <a:avLst/>
              </a:prstGeom>
              <a:solidFill>
                <a:srgbClr val="66FF3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控制层面（网络操作系统）</a:t>
                </a:r>
              </a:p>
            </p:txBody>
          </p:sp>
          <p:cxnSp>
            <p:nvCxnSpPr>
              <p:cNvPr id="11" name="直接箭头连接符 10"/>
              <p:cNvCxnSpPr>
                <a:stCxn id="10" idx="2"/>
                <a:endCxn id="8" idx="0"/>
              </p:cNvCxnSpPr>
              <p:nvPr/>
            </p:nvCxnSpPr>
            <p:spPr>
              <a:xfrm>
                <a:off x="7151218" y="2491217"/>
                <a:ext cx="0" cy="504056"/>
              </a:xfrm>
              <a:prstGeom prst="straightConnector1">
                <a:avLst/>
              </a:prstGeom>
              <a:ln w="28575">
                <a:solidFill>
                  <a:srgbClr val="000099"/>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 name="TextBox 8"/>
              <p:cNvSpPr txBox="1"/>
              <p:nvPr/>
            </p:nvSpPr>
            <p:spPr>
              <a:xfrm>
                <a:off x="7100027" y="2572919"/>
                <a:ext cx="2135174" cy="378362"/>
              </a:xfrm>
              <a:prstGeom prst="rect">
                <a:avLst/>
              </a:prstGeom>
              <a:noFill/>
            </p:spPr>
            <p:txBody>
              <a:bodyPr wrap="none" rtlCol="0">
                <a:spAutoFit/>
              </a:bodyPr>
              <a:lstStyle/>
              <a:p>
                <a:r>
                  <a:rPr lang="zh-CN" altLang="en-US" sz="1400" b="1" dirty="0">
                    <a:solidFill>
                      <a:srgbClr val="C00000"/>
                    </a:solidFill>
                    <a:latin typeface="微软雅黑" panose="020B0503020204020204" pitchFamily="34" charset="-122"/>
                    <a:ea typeface="微软雅黑" panose="020B0503020204020204" pitchFamily="34" charset="-122"/>
                    <a:cs typeface="Times New Roman" pitchFamily="18" charset="0"/>
                  </a:rPr>
                  <a:t>协议 </a:t>
                </a:r>
                <a:r>
                  <a:rPr lang="en-US" altLang="zh-CN" sz="1400" b="1" dirty="0" err="1">
                    <a:solidFill>
                      <a:srgbClr val="C00000"/>
                    </a:solidFill>
                    <a:latin typeface="微软雅黑" panose="020B0503020204020204" pitchFamily="34" charset="-122"/>
                    <a:ea typeface="微软雅黑" panose="020B0503020204020204" pitchFamily="34" charset="-122"/>
                    <a:cs typeface="Times New Roman" pitchFamily="18" charset="0"/>
                  </a:rPr>
                  <a:t>OpenFlow</a:t>
                </a:r>
                <a:endParaRPr lang="zh-CN" altLang="en-US" sz="1400" b="1" dirty="0">
                  <a:solidFill>
                    <a:srgbClr val="C00000"/>
                  </a:solidFill>
                  <a:latin typeface="微软雅黑" panose="020B0503020204020204" pitchFamily="34" charset="-122"/>
                  <a:ea typeface="微软雅黑" panose="020B0503020204020204" pitchFamily="34" charset="-122"/>
                  <a:cs typeface="Times New Roman" pitchFamily="18" charset="0"/>
                </a:endParaRPr>
              </a:p>
            </p:txBody>
          </p:sp>
          <p:sp>
            <p:nvSpPr>
              <p:cNvPr id="13" name="圆角矩形 12"/>
              <p:cNvSpPr/>
              <p:nvPr/>
            </p:nvSpPr>
            <p:spPr>
              <a:xfrm>
                <a:off x="6143106" y="1627121"/>
                <a:ext cx="864096" cy="360040"/>
              </a:xfrm>
              <a:prstGeom prst="roundRect">
                <a:avLst/>
              </a:prstGeom>
              <a:solidFill>
                <a:srgbClr val="FFC000"/>
              </a:solidFill>
              <a:ln w="1905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400" b="1" dirty="0">
                    <a:solidFill>
                      <a:schemeClr val="tx1"/>
                    </a:solidFill>
                    <a:latin typeface="微软雅黑" panose="020B0503020204020204" pitchFamily="34" charset="-122"/>
                    <a:ea typeface="微软雅黑" panose="020B0503020204020204" pitchFamily="34" charset="-122"/>
                    <a:cs typeface="Times New Roman" pitchFamily="18" charset="0"/>
                  </a:rPr>
                  <a:t>AP</a:t>
                </a:r>
                <a:r>
                  <a:rPr lang="en-US" altLang="zh-CN" sz="1400" b="1" baseline="-25000" dirty="0">
                    <a:solidFill>
                      <a:schemeClr val="tx1"/>
                    </a:solidFill>
                    <a:latin typeface="微软雅黑" panose="020B0503020204020204" pitchFamily="34" charset="-122"/>
                    <a:ea typeface="微软雅黑" panose="020B0503020204020204" pitchFamily="34" charset="-122"/>
                    <a:cs typeface="Times New Roman" pitchFamily="18" charset="0"/>
                  </a:rPr>
                  <a:t>1</a:t>
                </a:r>
                <a:endParaRPr lang="zh-CN" altLang="en-US" sz="1400" b="1" baseline="-25000" dirty="0">
                  <a:solidFill>
                    <a:schemeClr val="tx1"/>
                  </a:solidFill>
                  <a:latin typeface="微软雅黑" panose="020B0503020204020204" pitchFamily="34" charset="-122"/>
                  <a:ea typeface="微软雅黑" panose="020B0503020204020204" pitchFamily="34" charset="-122"/>
                  <a:cs typeface="Times New Roman" pitchFamily="18" charset="0"/>
                </a:endParaRPr>
              </a:p>
            </p:txBody>
          </p:sp>
          <p:sp>
            <p:nvSpPr>
              <p:cNvPr id="14" name="圆角矩形 13"/>
              <p:cNvSpPr/>
              <p:nvPr/>
            </p:nvSpPr>
            <p:spPr>
              <a:xfrm>
                <a:off x="7295234" y="1627121"/>
                <a:ext cx="864096" cy="360040"/>
              </a:xfrm>
              <a:prstGeom prst="roundRect">
                <a:avLst/>
              </a:prstGeom>
              <a:solidFill>
                <a:srgbClr val="FFC000"/>
              </a:solidFill>
              <a:ln w="1905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400" b="1" dirty="0">
                    <a:solidFill>
                      <a:schemeClr val="tx1"/>
                    </a:solidFill>
                    <a:latin typeface="微软雅黑" panose="020B0503020204020204" pitchFamily="34" charset="-122"/>
                    <a:ea typeface="微软雅黑" panose="020B0503020204020204" pitchFamily="34" charset="-122"/>
                    <a:cs typeface="Times New Roman" pitchFamily="18" charset="0"/>
                  </a:rPr>
                  <a:t>AP</a:t>
                </a:r>
                <a:r>
                  <a:rPr lang="en-US" altLang="zh-CN" sz="1400" b="1" baseline="-25000" dirty="0">
                    <a:solidFill>
                      <a:schemeClr val="tx1"/>
                    </a:solidFill>
                    <a:latin typeface="微软雅黑" panose="020B0503020204020204" pitchFamily="34" charset="-122"/>
                    <a:ea typeface="微软雅黑" panose="020B0503020204020204" pitchFamily="34" charset="-122"/>
                    <a:cs typeface="Times New Roman" pitchFamily="18" charset="0"/>
                  </a:rPr>
                  <a:t>2</a:t>
                </a:r>
                <a:endParaRPr lang="zh-CN" altLang="en-US" sz="1400" b="1" baseline="-25000" dirty="0">
                  <a:solidFill>
                    <a:schemeClr val="tx1"/>
                  </a:solidFill>
                  <a:latin typeface="微软雅黑" panose="020B0503020204020204" pitchFamily="34" charset="-122"/>
                  <a:ea typeface="微软雅黑" panose="020B0503020204020204" pitchFamily="34" charset="-122"/>
                  <a:cs typeface="Times New Roman" pitchFamily="18" charset="0"/>
                </a:endParaRPr>
              </a:p>
            </p:txBody>
          </p:sp>
        </p:grpSp>
        <p:sp>
          <p:nvSpPr>
            <p:cNvPr id="3" name="右大括号 2"/>
            <p:cNvSpPr/>
            <p:nvPr/>
          </p:nvSpPr>
          <p:spPr>
            <a:xfrm>
              <a:off x="8361044" y="1330858"/>
              <a:ext cx="137776" cy="1614020"/>
            </a:xfrm>
            <a:prstGeom prst="rightBrace">
              <a:avLst>
                <a:gd name="adj1" fmla="val 47251"/>
                <a:gd name="adj2" fmla="val 50000"/>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4" name="矩形 3"/>
            <p:cNvSpPr/>
            <p:nvPr/>
          </p:nvSpPr>
          <p:spPr>
            <a:xfrm>
              <a:off x="8443195" y="1989414"/>
              <a:ext cx="587020" cy="307777"/>
            </a:xfrm>
            <a:prstGeom prst="rect">
              <a:avLst/>
            </a:prstGeom>
          </p:spPr>
          <p:txBody>
            <a:bodyPr wrap="none">
              <a:spAutoFit/>
            </a:bodyPr>
            <a:lstStyle/>
            <a:p>
              <a:pPr lvl="0"/>
              <a:r>
                <a:rPr lang="en-US" altLang="en-US" sz="1400" b="1" dirty="0">
                  <a:latin typeface="微软雅黑" panose="020B0503020204020204" pitchFamily="34" charset="-122"/>
                  <a:ea typeface="微软雅黑" panose="020B0503020204020204" pitchFamily="34" charset="-122"/>
                </a:rPr>
                <a:t>SDN</a:t>
              </a:r>
              <a:endParaRPr lang="zh-CN" altLang="en-US" sz="1400" dirty="0"/>
            </a:p>
          </p:txBody>
        </p:sp>
      </p:grpSp>
    </p:spTree>
    <p:extLst>
      <p:ext uri="{BB962C8B-B14F-4D97-AF65-F5344CB8AC3E}">
        <p14:creationId xmlns:p14="http://schemas.microsoft.com/office/powerpoint/2010/main" val="399124202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61414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1941968" y="5809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协议 </a:t>
            </a:r>
            <a:r>
              <a:rPr lang="en-US" altLang="zh-CN" sz="2000" b="1" dirty="0" err="1">
                <a:solidFill>
                  <a:schemeClr val="bg1"/>
                </a:solidFill>
                <a:latin typeface="微软雅黑" pitchFamily="34" charset="-122"/>
                <a:ea typeface="微软雅黑" pitchFamily="34" charset="-122"/>
              </a:rPr>
              <a:t>OpenFlow</a:t>
            </a:r>
            <a:endParaRPr lang="zh-CN" altLang="en-US" sz="2000" b="1" dirty="0">
              <a:solidFill>
                <a:schemeClr val="bg1"/>
              </a:solidFill>
              <a:latin typeface="微软雅黑" pitchFamily="34" charset="-122"/>
              <a:ea typeface="微软雅黑" pitchFamily="34" charset="-122"/>
            </a:endParaRPr>
          </a:p>
        </p:txBody>
      </p:sp>
      <p:grpSp>
        <p:nvGrpSpPr>
          <p:cNvPr id="3" name="组合 2"/>
          <p:cNvGrpSpPr/>
          <p:nvPr/>
        </p:nvGrpSpPr>
        <p:grpSpPr>
          <a:xfrm>
            <a:off x="597536" y="1176950"/>
            <a:ext cx="7849347" cy="2181885"/>
            <a:chOff x="414667" y="1233660"/>
            <a:chExt cx="8294767" cy="2270031"/>
          </a:xfrm>
        </p:grpSpPr>
        <p:sp>
          <p:nvSpPr>
            <p:cNvPr id="4" name="燕尾形箭头 3"/>
            <p:cNvSpPr/>
            <p:nvPr/>
          </p:nvSpPr>
          <p:spPr>
            <a:xfrm>
              <a:off x="616716" y="1879360"/>
              <a:ext cx="8092718" cy="860934"/>
            </a:xfrm>
            <a:prstGeom prst="notchedRightArrow">
              <a:avLst/>
            </a:prstGeom>
          </p:spPr>
          <p:style>
            <a:lnRef idx="0">
              <a:schemeClr val="dk1">
                <a:hueOff val="0"/>
                <a:satOff val="0"/>
                <a:lumOff val="0"/>
                <a:alphaOff val="0"/>
              </a:schemeClr>
            </a:lnRef>
            <a:fillRef idx="1">
              <a:schemeClr val="accent2">
                <a:tint val="40000"/>
                <a:hueOff val="0"/>
                <a:satOff val="0"/>
                <a:lumOff val="0"/>
                <a:alphaOff val="0"/>
              </a:schemeClr>
            </a:fillRef>
            <a:effectRef idx="0">
              <a:schemeClr val="accent2">
                <a:tint val="40000"/>
                <a:hueOff val="0"/>
                <a:satOff val="0"/>
                <a:lumOff val="0"/>
                <a:alphaOff val="0"/>
              </a:schemeClr>
            </a:effectRef>
            <a:fontRef idx="minor">
              <a:schemeClr val="dk1">
                <a:hueOff val="0"/>
                <a:satOff val="0"/>
                <a:lumOff val="0"/>
                <a:alphaOff val="0"/>
              </a:schemeClr>
            </a:fontRef>
          </p:style>
        </p:sp>
        <p:sp>
          <p:nvSpPr>
            <p:cNvPr id="15" name="任意多边形 14"/>
            <p:cNvSpPr/>
            <p:nvPr/>
          </p:nvSpPr>
          <p:spPr>
            <a:xfrm>
              <a:off x="414667" y="1233660"/>
              <a:ext cx="1565781" cy="860934"/>
            </a:xfrm>
            <a:custGeom>
              <a:avLst/>
              <a:gdLst>
                <a:gd name="connsiteX0" fmla="*/ 0 w 1144364"/>
                <a:gd name="connsiteY0" fmla="*/ 0 h 860934"/>
                <a:gd name="connsiteX1" fmla="*/ 1144364 w 1144364"/>
                <a:gd name="connsiteY1" fmla="*/ 0 h 860934"/>
                <a:gd name="connsiteX2" fmla="*/ 1144364 w 1144364"/>
                <a:gd name="connsiteY2" fmla="*/ 860934 h 860934"/>
                <a:gd name="connsiteX3" fmla="*/ 0 w 1144364"/>
                <a:gd name="connsiteY3" fmla="*/ 860934 h 860934"/>
                <a:gd name="connsiteX4" fmla="*/ 0 w 1144364"/>
                <a:gd name="connsiteY4" fmla="*/ 0 h 8609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4364" h="860934">
                  <a:moveTo>
                    <a:pt x="0" y="0"/>
                  </a:moveTo>
                  <a:lnTo>
                    <a:pt x="1144364" y="0"/>
                  </a:lnTo>
                  <a:lnTo>
                    <a:pt x="1144364" y="860934"/>
                  </a:lnTo>
                  <a:lnTo>
                    <a:pt x="0" y="860934"/>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78232" tIns="78232" rIns="78232" bIns="78232" numCol="1" spcCol="1270" anchor="b" anchorCtr="0">
              <a:noAutofit/>
            </a:bodyPr>
            <a:lstStyle/>
            <a:p>
              <a:pPr lvl="0" algn="ctr" defTabSz="488950">
                <a:lnSpc>
                  <a:spcPts val="2000"/>
                </a:lnSpc>
                <a:spcBef>
                  <a:spcPct val="0"/>
                </a:spcBef>
                <a:spcAft>
                  <a:spcPts val="0"/>
                </a:spcAft>
              </a:pPr>
              <a:r>
                <a:rPr lang="en-US" altLang="en-US" sz="1400" b="1" kern="1200" dirty="0" err="1">
                  <a:latin typeface="微软雅黑" panose="020B0503020204020204" pitchFamily="34" charset="-122"/>
                  <a:ea typeface="微软雅黑" panose="020B0503020204020204" pitchFamily="34" charset="-122"/>
                </a:rPr>
                <a:t>OpenFlow</a:t>
              </a:r>
              <a:r>
                <a:rPr lang="en-US" altLang="en-US" sz="1400" b="1" kern="1200" dirty="0">
                  <a:latin typeface="微软雅黑" panose="020B0503020204020204" pitchFamily="34" charset="-122"/>
                  <a:ea typeface="微软雅黑" panose="020B0503020204020204" pitchFamily="34" charset="-122"/>
                </a:rPr>
                <a:t> 1.0 </a:t>
              </a:r>
            </a:p>
            <a:p>
              <a:pPr lvl="0" algn="ctr" defTabSz="488950">
                <a:lnSpc>
                  <a:spcPts val="2000"/>
                </a:lnSpc>
                <a:spcBef>
                  <a:spcPct val="0"/>
                </a:spcBef>
                <a:spcAft>
                  <a:spcPts val="0"/>
                </a:spcAft>
              </a:pPr>
              <a:r>
                <a:rPr lang="en-US" altLang="en-US" sz="1400" b="1" kern="1200" dirty="0">
                  <a:latin typeface="微软雅黑" panose="020B0503020204020204" pitchFamily="34" charset="-122"/>
                  <a:ea typeface="微软雅黑" panose="020B0503020204020204" pitchFamily="34" charset="-122"/>
                </a:rPr>
                <a:t>2009</a:t>
              </a:r>
              <a:endParaRPr lang="zh-CN" altLang="en-US" sz="1400" b="1" kern="1200" dirty="0">
                <a:latin typeface="微软雅黑" panose="020B0503020204020204" pitchFamily="34" charset="-122"/>
                <a:ea typeface="微软雅黑" panose="020B0503020204020204" pitchFamily="34" charset="-122"/>
              </a:endParaRPr>
            </a:p>
          </p:txBody>
        </p:sp>
        <p:sp>
          <p:nvSpPr>
            <p:cNvPr id="16" name="椭圆 15"/>
            <p:cNvSpPr/>
            <p:nvPr/>
          </p:nvSpPr>
          <p:spPr>
            <a:xfrm>
              <a:off x="1086351" y="2202210"/>
              <a:ext cx="215233" cy="215233"/>
            </a:xfrm>
            <a:prstGeom prst="ellipse">
              <a:avLst/>
            </a:prstGeom>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sp>
        <p:sp>
          <p:nvSpPr>
            <p:cNvPr id="17" name="任意多边形 16"/>
            <p:cNvSpPr/>
            <p:nvPr/>
          </p:nvSpPr>
          <p:spPr>
            <a:xfrm>
              <a:off x="1558551" y="2525062"/>
              <a:ext cx="2164906" cy="978629"/>
            </a:xfrm>
            <a:custGeom>
              <a:avLst/>
              <a:gdLst>
                <a:gd name="connsiteX0" fmla="*/ 0 w 1506485"/>
                <a:gd name="connsiteY0" fmla="*/ 0 h 860934"/>
                <a:gd name="connsiteX1" fmla="*/ 1506485 w 1506485"/>
                <a:gd name="connsiteY1" fmla="*/ 0 h 860934"/>
                <a:gd name="connsiteX2" fmla="*/ 1506485 w 1506485"/>
                <a:gd name="connsiteY2" fmla="*/ 860934 h 860934"/>
                <a:gd name="connsiteX3" fmla="*/ 0 w 1506485"/>
                <a:gd name="connsiteY3" fmla="*/ 860934 h 860934"/>
                <a:gd name="connsiteX4" fmla="*/ 0 w 1506485"/>
                <a:gd name="connsiteY4" fmla="*/ 0 h 8609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6485" h="860934">
                  <a:moveTo>
                    <a:pt x="0" y="0"/>
                  </a:moveTo>
                  <a:lnTo>
                    <a:pt x="1506485" y="0"/>
                  </a:lnTo>
                  <a:lnTo>
                    <a:pt x="1506485" y="860934"/>
                  </a:lnTo>
                  <a:lnTo>
                    <a:pt x="0" y="860934"/>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78232" tIns="78232" rIns="78232" bIns="78232" numCol="1" spcCol="1270" anchor="t" anchorCtr="0">
              <a:noAutofit/>
            </a:bodyPr>
            <a:lstStyle/>
            <a:p>
              <a:pPr lvl="0" algn="ctr" defTabSz="488950">
                <a:lnSpc>
                  <a:spcPts val="2000"/>
                </a:lnSpc>
                <a:spcBef>
                  <a:spcPct val="0"/>
                </a:spcBef>
                <a:spcAft>
                  <a:spcPts val="0"/>
                </a:spcAft>
              </a:pPr>
              <a:r>
                <a:rPr lang="en-US" altLang="en-US" sz="1400" b="1" kern="1200" dirty="0" err="1">
                  <a:latin typeface="微软雅黑" panose="020B0503020204020204" pitchFamily="34" charset="-122"/>
                  <a:ea typeface="微软雅黑" panose="020B0503020204020204" pitchFamily="34" charset="-122"/>
                </a:rPr>
                <a:t>OpenFlow</a:t>
              </a:r>
              <a:r>
                <a:rPr lang="en-US" altLang="en-US" sz="1400" b="1" kern="1200" dirty="0">
                  <a:latin typeface="微软雅黑" panose="020B0503020204020204" pitchFamily="34" charset="-122"/>
                  <a:ea typeface="微软雅黑" panose="020B0503020204020204" pitchFamily="34" charset="-122"/>
                </a:rPr>
                <a:t> 1.</a:t>
              </a:r>
              <a:r>
                <a:rPr lang="en-US" altLang="zh-CN" sz="1400" b="1" kern="1200" dirty="0">
                  <a:latin typeface="微软雅黑" panose="020B0503020204020204" pitchFamily="34" charset="-122"/>
                  <a:ea typeface="微软雅黑" panose="020B0503020204020204" pitchFamily="34" charset="-122"/>
                </a:rPr>
                <a:t>2 </a:t>
              </a:r>
            </a:p>
            <a:p>
              <a:pPr lvl="0" algn="ctr" defTabSz="488950">
                <a:lnSpc>
                  <a:spcPts val="2000"/>
                </a:lnSpc>
                <a:spcBef>
                  <a:spcPct val="0"/>
                </a:spcBef>
                <a:spcAft>
                  <a:spcPts val="0"/>
                </a:spcAft>
              </a:pPr>
              <a:r>
                <a:rPr lang="en-US" altLang="zh-CN" sz="1400" b="1" kern="1200" dirty="0">
                  <a:latin typeface="微软雅黑" panose="020B0503020204020204" pitchFamily="34" charset="-122"/>
                  <a:ea typeface="微软雅黑" panose="020B0503020204020204" pitchFamily="34" charset="-122"/>
                </a:rPr>
                <a:t>2011-12 </a:t>
              </a:r>
            </a:p>
            <a:p>
              <a:pPr lvl="0" algn="ctr" defTabSz="488950">
                <a:lnSpc>
                  <a:spcPts val="2000"/>
                </a:lnSpc>
                <a:spcBef>
                  <a:spcPct val="0"/>
                </a:spcBef>
                <a:spcAft>
                  <a:spcPts val="0"/>
                </a:spcAft>
              </a:pPr>
              <a:r>
                <a:rPr lang="zh-CN" altLang="en-US" sz="1400" b="1" kern="1200" dirty="0">
                  <a:latin typeface="微软雅黑" panose="020B0503020204020204" pitchFamily="34" charset="-122"/>
                  <a:ea typeface="微软雅黑" panose="020B0503020204020204" pitchFamily="34" charset="-122"/>
                </a:rPr>
                <a:t>开放网络基金会 </a:t>
              </a:r>
              <a:r>
                <a:rPr lang="en-US" altLang="en-US" sz="1400" b="1" kern="1200" dirty="0">
                  <a:latin typeface="微软雅黑" panose="020B0503020204020204" pitchFamily="34" charset="-122"/>
                  <a:ea typeface="微软雅黑" panose="020B0503020204020204" pitchFamily="34" charset="-122"/>
                </a:rPr>
                <a:t>ONF</a:t>
              </a:r>
              <a:r>
                <a:rPr lang="zh-CN" altLang="en-US" sz="1400" b="1" kern="1200" dirty="0">
                  <a:latin typeface="微软雅黑" panose="020B0503020204020204" pitchFamily="34" charset="-122"/>
                  <a:ea typeface="微软雅黑" panose="020B0503020204020204" pitchFamily="34" charset="-122"/>
                </a:rPr>
                <a:t>（</a:t>
              </a:r>
              <a:r>
                <a:rPr lang="en-US" altLang="en-US" sz="1400" b="1" kern="1200" dirty="0">
                  <a:latin typeface="微软雅黑" panose="020B0503020204020204" pitchFamily="34" charset="-122"/>
                  <a:ea typeface="微软雅黑" panose="020B0503020204020204" pitchFamily="34" charset="-122"/>
                </a:rPr>
                <a:t>Open Networking Foundation</a:t>
              </a:r>
              <a:r>
                <a:rPr lang="zh-CN" altLang="en-US" sz="1400" b="1" kern="1200" dirty="0">
                  <a:latin typeface="微软雅黑" panose="020B0503020204020204" pitchFamily="34" charset="-122"/>
                  <a:ea typeface="微软雅黑" panose="020B0503020204020204" pitchFamily="34" charset="-122"/>
                </a:rPr>
                <a:t>）发布</a:t>
              </a:r>
            </a:p>
          </p:txBody>
        </p:sp>
        <p:sp>
          <p:nvSpPr>
            <p:cNvPr id="18" name="椭圆 17"/>
            <p:cNvSpPr/>
            <p:nvPr/>
          </p:nvSpPr>
          <p:spPr>
            <a:xfrm>
              <a:off x="2460142" y="2202210"/>
              <a:ext cx="215233" cy="215233"/>
            </a:xfrm>
            <a:prstGeom prst="ellipse">
              <a:avLst/>
            </a:prstGeom>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sp>
        <p:sp>
          <p:nvSpPr>
            <p:cNvPr id="19" name="任意多边形 18"/>
            <p:cNvSpPr/>
            <p:nvPr/>
          </p:nvSpPr>
          <p:spPr>
            <a:xfrm>
              <a:off x="3245000" y="1233660"/>
              <a:ext cx="1696146" cy="860934"/>
            </a:xfrm>
            <a:custGeom>
              <a:avLst/>
              <a:gdLst>
                <a:gd name="connsiteX0" fmla="*/ 0 w 1420885"/>
                <a:gd name="connsiteY0" fmla="*/ 0 h 860934"/>
                <a:gd name="connsiteX1" fmla="*/ 1420885 w 1420885"/>
                <a:gd name="connsiteY1" fmla="*/ 0 h 860934"/>
                <a:gd name="connsiteX2" fmla="*/ 1420885 w 1420885"/>
                <a:gd name="connsiteY2" fmla="*/ 860934 h 860934"/>
                <a:gd name="connsiteX3" fmla="*/ 0 w 1420885"/>
                <a:gd name="connsiteY3" fmla="*/ 860934 h 860934"/>
                <a:gd name="connsiteX4" fmla="*/ 0 w 1420885"/>
                <a:gd name="connsiteY4" fmla="*/ 0 h 8609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885" h="860934">
                  <a:moveTo>
                    <a:pt x="0" y="0"/>
                  </a:moveTo>
                  <a:lnTo>
                    <a:pt x="1420885" y="0"/>
                  </a:lnTo>
                  <a:lnTo>
                    <a:pt x="1420885" y="860934"/>
                  </a:lnTo>
                  <a:lnTo>
                    <a:pt x="0" y="860934"/>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78232" tIns="78232" rIns="78232" bIns="78232" numCol="1" spcCol="1270" anchor="b" anchorCtr="0">
              <a:noAutofit/>
            </a:bodyPr>
            <a:lstStyle/>
            <a:p>
              <a:pPr lvl="0" algn="ctr" defTabSz="488950">
                <a:lnSpc>
                  <a:spcPts val="2000"/>
                </a:lnSpc>
                <a:spcBef>
                  <a:spcPct val="0"/>
                </a:spcBef>
                <a:spcAft>
                  <a:spcPts val="0"/>
                </a:spcAft>
              </a:pPr>
              <a:r>
                <a:rPr lang="en-US" altLang="en-US" sz="1400" b="1" kern="1200" dirty="0" err="1">
                  <a:latin typeface="微软雅黑" panose="020B0503020204020204" pitchFamily="34" charset="-122"/>
                  <a:ea typeface="微软雅黑" panose="020B0503020204020204" pitchFamily="34" charset="-122"/>
                </a:rPr>
                <a:t>OpenFlow</a:t>
              </a:r>
              <a:r>
                <a:rPr lang="en-US" altLang="en-US" sz="1400" b="1" kern="1200" dirty="0">
                  <a:latin typeface="微软雅黑" panose="020B0503020204020204" pitchFamily="34" charset="-122"/>
                  <a:ea typeface="微软雅黑" panose="020B0503020204020204" pitchFamily="34" charset="-122"/>
                </a:rPr>
                <a:t> 1.</a:t>
              </a:r>
              <a:r>
                <a:rPr lang="en-US" altLang="zh-CN" sz="1400" b="1" kern="1200" dirty="0">
                  <a:latin typeface="微软雅黑" panose="020B0503020204020204" pitchFamily="34" charset="-122"/>
                  <a:ea typeface="微软雅黑" panose="020B0503020204020204" pitchFamily="34" charset="-122"/>
                </a:rPr>
                <a:t>3</a:t>
              </a:r>
              <a:r>
                <a:rPr lang="en-US" altLang="en-US" sz="1400" b="1" kern="1200" dirty="0">
                  <a:latin typeface="微软雅黑" panose="020B0503020204020204" pitchFamily="34" charset="-122"/>
                  <a:ea typeface="微软雅黑" panose="020B0503020204020204" pitchFamily="34" charset="-122"/>
                </a:rPr>
                <a:t>.</a:t>
              </a:r>
              <a:r>
                <a:rPr lang="en-US" altLang="zh-CN" sz="1400" b="1" kern="1200" dirty="0">
                  <a:latin typeface="微软雅黑" panose="020B0503020204020204" pitchFamily="34" charset="-122"/>
                  <a:ea typeface="微软雅黑" panose="020B0503020204020204" pitchFamily="34" charset="-122"/>
                </a:rPr>
                <a:t>x</a:t>
              </a:r>
              <a:r>
                <a:rPr lang="en-US" altLang="en-US" sz="1400" b="1" kern="1200" dirty="0">
                  <a:latin typeface="微软雅黑" panose="020B0503020204020204" pitchFamily="34" charset="-122"/>
                  <a:ea typeface="微软雅黑" panose="020B0503020204020204" pitchFamily="34" charset="-122"/>
                </a:rPr>
                <a:t> </a:t>
              </a:r>
            </a:p>
            <a:p>
              <a:pPr lvl="0" algn="ctr" defTabSz="488950">
                <a:lnSpc>
                  <a:spcPts val="2000"/>
                </a:lnSpc>
                <a:spcBef>
                  <a:spcPct val="0"/>
                </a:spcBef>
                <a:spcAft>
                  <a:spcPts val="0"/>
                </a:spcAft>
              </a:pPr>
              <a:r>
                <a:rPr lang="en-US" altLang="en-US" sz="1400" b="1" kern="1200" dirty="0">
                  <a:latin typeface="微软雅黑" panose="020B0503020204020204" pitchFamily="34" charset="-122"/>
                  <a:ea typeface="微软雅黑" panose="020B0503020204020204" pitchFamily="34" charset="-122"/>
                </a:rPr>
                <a:t>201</a:t>
              </a:r>
              <a:r>
                <a:rPr lang="en-US" altLang="zh-CN" sz="1400" b="1" kern="1200" dirty="0">
                  <a:latin typeface="微软雅黑" panose="020B0503020204020204" pitchFamily="34" charset="-122"/>
                  <a:ea typeface="微软雅黑" panose="020B0503020204020204" pitchFamily="34" charset="-122"/>
                </a:rPr>
                <a:t>2</a:t>
              </a:r>
              <a:r>
                <a:rPr lang="en-US" altLang="en-US" sz="1400" b="1" kern="1200" dirty="0">
                  <a:latin typeface="微软雅黑" panose="020B0503020204020204" pitchFamily="34" charset="-122"/>
                  <a:ea typeface="微软雅黑" panose="020B0503020204020204" pitchFamily="34" charset="-122"/>
                </a:rPr>
                <a:t>-0</a:t>
              </a:r>
              <a:r>
                <a:rPr lang="en-US" altLang="zh-CN" sz="1400" b="1" kern="1200" dirty="0">
                  <a:latin typeface="微软雅黑" panose="020B0503020204020204" pitchFamily="34" charset="-122"/>
                  <a:ea typeface="微软雅黑" panose="020B0503020204020204" pitchFamily="34" charset="-122"/>
                </a:rPr>
                <a:t>4</a:t>
              </a:r>
              <a:endParaRPr lang="zh-CN" altLang="en-US" sz="1400" b="1" kern="1200" dirty="0">
                <a:latin typeface="微软雅黑" panose="020B0503020204020204" pitchFamily="34" charset="-122"/>
                <a:ea typeface="微软雅黑" panose="020B0503020204020204" pitchFamily="34" charset="-122"/>
              </a:endParaRPr>
            </a:p>
          </p:txBody>
        </p:sp>
        <p:sp>
          <p:nvSpPr>
            <p:cNvPr id="20" name="椭圆 19"/>
            <p:cNvSpPr/>
            <p:nvPr/>
          </p:nvSpPr>
          <p:spPr>
            <a:xfrm>
              <a:off x="3972194" y="2202210"/>
              <a:ext cx="215233" cy="215233"/>
            </a:xfrm>
            <a:prstGeom prst="ellipse">
              <a:avLst/>
            </a:prstGeom>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sp>
        <p:sp>
          <p:nvSpPr>
            <p:cNvPr id="21" name="任意多边形 20"/>
            <p:cNvSpPr/>
            <p:nvPr/>
          </p:nvSpPr>
          <p:spPr>
            <a:xfrm>
              <a:off x="4695119" y="2525062"/>
              <a:ext cx="1708624" cy="860934"/>
            </a:xfrm>
            <a:custGeom>
              <a:avLst/>
              <a:gdLst>
                <a:gd name="connsiteX0" fmla="*/ 0 w 1421921"/>
                <a:gd name="connsiteY0" fmla="*/ 0 h 860934"/>
                <a:gd name="connsiteX1" fmla="*/ 1421921 w 1421921"/>
                <a:gd name="connsiteY1" fmla="*/ 0 h 860934"/>
                <a:gd name="connsiteX2" fmla="*/ 1421921 w 1421921"/>
                <a:gd name="connsiteY2" fmla="*/ 860934 h 860934"/>
                <a:gd name="connsiteX3" fmla="*/ 0 w 1421921"/>
                <a:gd name="connsiteY3" fmla="*/ 860934 h 860934"/>
                <a:gd name="connsiteX4" fmla="*/ 0 w 1421921"/>
                <a:gd name="connsiteY4" fmla="*/ 0 h 8609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921" h="860934">
                  <a:moveTo>
                    <a:pt x="0" y="0"/>
                  </a:moveTo>
                  <a:lnTo>
                    <a:pt x="1421921" y="0"/>
                  </a:lnTo>
                  <a:lnTo>
                    <a:pt x="1421921" y="860934"/>
                  </a:lnTo>
                  <a:lnTo>
                    <a:pt x="0" y="860934"/>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78232" tIns="78232" rIns="78232" bIns="78232" numCol="1" spcCol="1270" anchor="t" anchorCtr="0">
              <a:noAutofit/>
            </a:bodyPr>
            <a:lstStyle/>
            <a:p>
              <a:pPr lvl="0" algn="ctr" defTabSz="488950">
                <a:lnSpc>
                  <a:spcPts val="2000"/>
                </a:lnSpc>
                <a:spcBef>
                  <a:spcPct val="0"/>
                </a:spcBef>
                <a:spcAft>
                  <a:spcPts val="0"/>
                </a:spcAft>
              </a:pPr>
              <a:r>
                <a:rPr lang="en-US" altLang="en-US" sz="1400" b="1" kern="1200" dirty="0" err="1">
                  <a:latin typeface="微软雅黑" panose="020B0503020204020204" pitchFamily="34" charset="-122"/>
                  <a:ea typeface="微软雅黑" panose="020B0503020204020204" pitchFamily="34" charset="-122"/>
                </a:rPr>
                <a:t>OpenFlow</a:t>
              </a:r>
              <a:r>
                <a:rPr lang="en-US" altLang="en-US" sz="1400" b="1" kern="1200" dirty="0">
                  <a:latin typeface="微软雅黑" panose="020B0503020204020204" pitchFamily="34" charset="-122"/>
                  <a:ea typeface="微软雅黑" panose="020B0503020204020204" pitchFamily="34" charset="-122"/>
                </a:rPr>
                <a:t> 1.</a:t>
              </a:r>
              <a:r>
                <a:rPr lang="en-US" altLang="zh-CN" sz="1400" b="1" kern="1200" dirty="0">
                  <a:latin typeface="微软雅黑" panose="020B0503020204020204" pitchFamily="34" charset="-122"/>
                  <a:ea typeface="微软雅黑" panose="020B0503020204020204" pitchFamily="34" charset="-122"/>
                </a:rPr>
                <a:t>4</a:t>
              </a:r>
              <a:r>
                <a:rPr lang="en-US" altLang="en-US" sz="1400" b="1" kern="1200" dirty="0">
                  <a:latin typeface="微软雅黑" panose="020B0503020204020204" pitchFamily="34" charset="-122"/>
                  <a:ea typeface="微软雅黑" panose="020B0503020204020204" pitchFamily="34" charset="-122"/>
                </a:rPr>
                <a:t> </a:t>
              </a:r>
            </a:p>
            <a:p>
              <a:pPr lvl="0" algn="ctr" defTabSz="488950">
                <a:lnSpc>
                  <a:spcPts val="2000"/>
                </a:lnSpc>
                <a:spcBef>
                  <a:spcPct val="0"/>
                </a:spcBef>
                <a:spcAft>
                  <a:spcPts val="0"/>
                </a:spcAft>
              </a:pPr>
              <a:r>
                <a:rPr lang="en-US" altLang="en-US" sz="1400" b="1" kern="1200" dirty="0">
                  <a:latin typeface="微软雅黑" panose="020B0503020204020204" pitchFamily="34" charset="-122"/>
                  <a:ea typeface="微软雅黑" panose="020B0503020204020204" pitchFamily="34" charset="-122"/>
                </a:rPr>
                <a:t>201</a:t>
              </a:r>
              <a:r>
                <a:rPr lang="en-US" altLang="zh-CN" sz="1400" b="1" kern="1200" dirty="0">
                  <a:latin typeface="微软雅黑" panose="020B0503020204020204" pitchFamily="34" charset="-122"/>
                  <a:ea typeface="微软雅黑" panose="020B0503020204020204" pitchFamily="34" charset="-122"/>
                </a:rPr>
                <a:t>3</a:t>
              </a:r>
              <a:r>
                <a:rPr lang="en-US" altLang="en-US" sz="1400" b="1" kern="1200" dirty="0">
                  <a:latin typeface="微软雅黑" panose="020B0503020204020204" pitchFamily="34" charset="-122"/>
                  <a:ea typeface="微软雅黑" panose="020B0503020204020204" pitchFamily="34" charset="-122"/>
                </a:rPr>
                <a:t>-0</a:t>
              </a:r>
              <a:r>
                <a:rPr lang="en-US" altLang="zh-CN" sz="1400" b="1" kern="1200" dirty="0">
                  <a:latin typeface="微软雅黑" panose="020B0503020204020204" pitchFamily="34" charset="-122"/>
                  <a:ea typeface="微软雅黑" panose="020B0503020204020204" pitchFamily="34" charset="-122"/>
                </a:rPr>
                <a:t>8</a:t>
              </a:r>
              <a:endParaRPr lang="zh-CN" altLang="en-US" sz="1400" b="1" kern="1200" dirty="0">
                <a:latin typeface="微软雅黑" panose="020B0503020204020204" pitchFamily="34" charset="-122"/>
                <a:ea typeface="微软雅黑" panose="020B0503020204020204" pitchFamily="34" charset="-122"/>
              </a:endParaRPr>
            </a:p>
          </p:txBody>
        </p:sp>
        <p:sp>
          <p:nvSpPr>
            <p:cNvPr id="22" name="椭圆 21"/>
            <p:cNvSpPr/>
            <p:nvPr/>
          </p:nvSpPr>
          <p:spPr>
            <a:xfrm>
              <a:off x="5441964" y="2202210"/>
              <a:ext cx="215233" cy="215233"/>
            </a:xfrm>
            <a:prstGeom prst="ellipse">
              <a:avLst/>
            </a:prstGeom>
          </p:spPr>
          <p:style>
            <a:lnRef idx="2">
              <a:schemeClr val="lt1">
                <a:hueOff val="0"/>
                <a:satOff val="0"/>
                <a:lumOff val="0"/>
                <a:alphaOff val="0"/>
              </a:schemeClr>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sp>
        <p:sp>
          <p:nvSpPr>
            <p:cNvPr id="23" name="任意多边形 22"/>
            <p:cNvSpPr/>
            <p:nvPr/>
          </p:nvSpPr>
          <p:spPr>
            <a:xfrm>
              <a:off x="6184541" y="1233660"/>
              <a:ext cx="1893465" cy="860934"/>
            </a:xfrm>
            <a:custGeom>
              <a:avLst/>
              <a:gdLst>
                <a:gd name="connsiteX0" fmla="*/ 0 w 1586183"/>
                <a:gd name="connsiteY0" fmla="*/ 0 h 860934"/>
                <a:gd name="connsiteX1" fmla="*/ 1586183 w 1586183"/>
                <a:gd name="connsiteY1" fmla="*/ 0 h 860934"/>
                <a:gd name="connsiteX2" fmla="*/ 1586183 w 1586183"/>
                <a:gd name="connsiteY2" fmla="*/ 860934 h 860934"/>
                <a:gd name="connsiteX3" fmla="*/ 0 w 1586183"/>
                <a:gd name="connsiteY3" fmla="*/ 860934 h 860934"/>
                <a:gd name="connsiteX4" fmla="*/ 0 w 1586183"/>
                <a:gd name="connsiteY4" fmla="*/ 0 h 8609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6183" h="860934">
                  <a:moveTo>
                    <a:pt x="0" y="0"/>
                  </a:moveTo>
                  <a:lnTo>
                    <a:pt x="1586183" y="0"/>
                  </a:lnTo>
                  <a:lnTo>
                    <a:pt x="1586183" y="860934"/>
                  </a:lnTo>
                  <a:lnTo>
                    <a:pt x="0" y="860934"/>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78232" tIns="78232" rIns="78232" bIns="78232" numCol="1" spcCol="1270" anchor="b" anchorCtr="0">
              <a:noAutofit/>
            </a:bodyPr>
            <a:lstStyle/>
            <a:p>
              <a:pPr lvl="0" algn="ctr" defTabSz="488950">
                <a:lnSpc>
                  <a:spcPts val="2000"/>
                </a:lnSpc>
                <a:spcBef>
                  <a:spcPct val="0"/>
                </a:spcBef>
                <a:spcAft>
                  <a:spcPts val="0"/>
                </a:spcAft>
              </a:pPr>
              <a:r>
                <a:rPr lang="en-US" altLang="en-US" sz="1400" b="1" kern="1200" dirty="0" err="1">
                  <a:latin typeface="微软雅黑" panose="020B0503020204020204" pitchFamily="34" charset="-122"/>
                  <a:ea typeface="微软雅黑" panose="020B0503020204020204" pitchFamily="34" charset="-122"/>
                </a:rPr>
                <a:t>OpenFlow</a:t>
              </a:r>
              <a:r>
                <a:rPr lang="en-US" altLang="en-US" sz="1400" b="1" kern="1200" dirty="0">
                  <a:latin typeface="微软雅黑" panose="020B0503020204020204" pitchFamily="34" charset="-122"/>
                  <a:ea typeface="微软雅黑" panose="020B0503020204020204" pitchFamily="34" charset="-122"/>
                </a:rPr>
                <a:t> 1.5.1 </a:t>
              </a:r>
            </a:p>
            <a:p>
              <a:pPr lvl="0" algn="ctr" defTabSz="488950">
                <a:lnSpc>
                  <a:spcPts val="2000"/>
                </a:lnSpc>
                <a:spcBef>
                  <a:spcPct val="0"/>
                </a:spcBef>
                <a:spcAft>
                  <a:spcPts val="0"/>
                </a:spcAft>
              </a:pPr>
              <a:r>
                <a:rPr lang="en-US" altLang="en-US" sz="1400" b="1" kern="1200" dirty="0">
                  <a:latin typeface="微软雅黑" panose="020B0503020204020204" pitchFamily="34" charset="-122"/>
                  <a:ea typeface="微软雅黑" panose="020B0503020204020204" pitchFamily="34" charset="-122"/>
                </a:rPr>
                <a:t>2015</a:t>
              </a:r>
              <a:r>
                <a:rPr lang="en-US" altLang="zh-CN" sz="1400" b="1" kern="1200" dirty="0">
                  <a:latin typeface="微软雅黑" panose="020B0503020204020204" pitchFamily="34" charset="-122"/>
                  <a:ea typeface="微软雅黑" panose="020B0503020204020204" pitchFamily="34" charset="-122"/>
                </a:rPr>
                <a:t>-03</a:t>
              </a:r>
              <a:endParaRPr lang="zh-CN" altLang="en-US" sz="1400" b="1" kern="1200" dirty="0">
                <a:latin typeface="微软雅黑" panose="020B0503020204020204" pitchFamily="34" charset="-122"/>
                <a:ea typeface="微软雅黑" panose="020B0503020204020204" pitchFamily="34" charset="-122"/>
              </a:endParaRPr>
            </a:p>
          </p:txBody>
        </p:sp>
        <p:sp>
          <p:nvSpPr>
            <p:cNvPr id="24" name="椭圆 23"/>
            <p:cNvSpPr/>
            <p:nvPr/>
          </p:nvSpPr>
          <p:spPr>
            <a:xfrm>
              <a:off x="6994383" y="2202210"/>
              <a:ext cx="215233" cy="215233"/>
            </a:xfrm>
            <a:prstGeom prst="ellipse">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sp>
      </p:grpSp>
    </p:spTree>
    <p:extLst>
      <p:ext uri="{BB962C8B-B14F-4D97-AF65-F5344CB8AC3E}">
        <p14:creationId xmlns:p14="http://schemas.microsoft.com/office/powerpoint/2010/main" val="59377957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61414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1941968" y="5809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err="1">
                <a:solidFill>
                  <a:schemeClr val="bg1"/>
                </a:solidFill>
                <a:latin typeface="微软雅黑" pitchFamily="34" charset="-122"/>
                <a:ea typeface="微软雅黑" pitchFamily="34" charset="-122"/>
              </a:rPr>
              <a:t>OpenFlow</a:t>
            </a:r>
            <a:r>
              <a:rPr lang="en-US" altLang="zh-CN" sz="2000" b="1" dirty="0">
                <a:solidFill>
                  <a:schemeClr val="bg1"/>
                </a:solidFill>
                <a:latin typeface="微软雅黑" pitchFamily="34" charset="-122"/>
                <a:ea typeface="微软雅黑" pitchFamily="34" charset="-122"/>
              </a:rPr>
              <a:t> </a:t>
            </a:r>
            <a:r>
              <a:rPr lang="zh-CN" altLang="en-US" sz="2000" b="1" dirty="0">
                <a:solidFill>
                  <a:schemeClr val="bg1"/>
                </a:solidFill>
                <a:latin typeface="微软雅黑" pitchFamily="34" charset="-122"/>
                <a:ea typeface="微软雅黑" pitchFamily="34" charset="-122"/>
              </a:rPr>
              <a:t>数据层面：匹配 </a:t>
            </a:r>
            <a:r>
              <a:rPr lang="en-US" altLang="zh-CN" sz="2000" b="1" dirty="0">
                <a:solidFill>
                  <a:schemeClr val="bg1"/>
                </a:solidFill>
                <a:latin typeface="微软雅黑" pitchFamily="34" charset="-122"/>
                <a:ea typeface="微软雅黑" pitchFamily="34" charset="-122"/>
              </a:rPr>
              <a:t>+ </a:t>
            </a:r>
            <a:r>
              <a:rPr lang="zh-CN" altLang="en-US" sz="2000" b="1" dirty="0">
                <a:solidFill>
                  <a:schemeClr val="bg1"/>
                </a:solidFill>
                <a:latin typeface="微软雅黑" pitchFamily="34" charset="-122"/>
                <a:ea typeface="微软雅黑" pitchFamily="34" charset="-122"/>
              </a:rPr>
              <a:t>动作</a:t>
            </a:r>
          </a:p>
        </p:txBody>
      </p:sp>
      <p:sp>
        <p:nvSpPr>
          <p:cNvPr id="25" name="Rectangle 8"/>
          <p:cNvSpPr>
            <a:spLocks noChangeArrowheads="1"/>
          </p:cNvSpPr>
          <p:nvPr/>
        </p:nvSpPr>
        <p:spPr bwMode="auto">
          <a:xfrm>
            <a:off x="545144" y="982254"/>
            <a:ext cx="8053712" cy="91307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数据层面的</a:t>
            </a:r>
            <a:r>
              <a:rPr lang="zh-CN" altLang="en-US" sz="2000" b="1" dirty="0">
                <a:solidFill>
                  <a:srgbClr val="C00000"/>
                </a:solidFill>
                <a:latin typeface="微软雅黑" pitchFamily="34" charset="-122"/>
                <a:ea typeface="微软雅黑" pitchFamily="34" charset="-122"/>
              </a:rPr>
              <a:t>分组交换机</a:t>
            </a:r>
            <a:r>
              <a:rPr lang="zh-CN" altLang="en-US" sz="2000" b="1" dirty="0">
                <a:latin typeface="微软雅黑" pitchFamily="34" charset="-122"/>
                <a:ea typeface="微软雅黑" pitchFamily="34" charset="-122"/>
              </a:rPr>
              <a:t>或 </a:t>
            </a:r>
            <a:r>
              <a:rPr lang="en-US" altLang="zh-CN" sz="2000" b="1" dirty="0" err="1">
                <a:solidFill>
                  <a:srgbClr val="C00000"/>
                </a:solidFill>
                <a:latin typeface="微软雅黑" pitchFamily="34" charset="-122"/>
                <a:ea typeface="微软雅黑" pitchFamily="34" charset="-122"/>
              </a:rPr>
              <a:t>OpenFlow</a:t>
            </a:r>
            <a:r>
              <a:rPr lang="en-US" altLang="zh-CN" sz="2000" b="1" dirty="0">
                <a:solidFill>
                  <a:srgbClr val="C00000"/>
                </a:solidFill>
                <a:latin typeface="微软雅黑" pitchFamily="34" charset="-122"/>
                <a:ea typeface="微软雅黑" pitchFamily="34" charset="-122"/>
              </a:rPr>
              <a:t> </a:t>
            </a:r>
            <a:r>
              <a:rPr lang="zh-CN" altLang="en-US" sz="2000" b="1" dirty="0">
                <a:solidFill>
                  <a:srgbClr val="C00000"/>
                </a:solidFill>
                <a:latin typeface="微软雅黑" pitchFamily="34" charset="-122"/>
                <a:ea typeface="微软雅黑" pitchFamily="34" charset="-122"/>
              </a:rPr>
              <a:t>交换机</a:t>
            </a:r>
            <a:r>
              <a:rPr lang="zh-CN" altLang="en-US" sz="2000" b="1" dirty="0">
                <a:latin typeface="微软雅黑" pitchFamily="34" charset="-122"/>
                <a:ea typeface="微软雅黑" pitchFamily="34" charset="-122"/>
              </a:rPr>
              <a:t>完成“</a:t>
            </a:r>
            <a:r>
              <a:rPr lang="zh-CN" altLang="en-US" sz="2000" b="1" dirty="0">
                <a:solidFill>
                  <a:srgbClr val="0000FF"/>
                </a:solidFill>
                <a:latin typeface="微软雅黑" pitchFamily="34" charset="-122"/>
                <a:ea typeface="微软雅黑" pitchFamily="34" charset="-122"/>
              </a:rPr>
              <a:t>匹配 </a:t>
            </a:r>
            <a:r>
              <a:rPr lang="en-US" altLang="zh-CN" sz="2000" b="1" dirty="0">
                <a:solidFill>
                  <a:srgbClr val="0000FF"/>
                </a:solidFill>
                <a:latin typeface="微软雅黑" pitchFamily="34" charset="-122"/>
                <a:ea typeface="微软雅黑" pitchFamily="34" charset="-122"/>
              </a:rPr>
              <a:t>+ </a:t>
            </a:r>
            <a:r>
              <a:rPr lang="zh-CN" altLang="en-US" sz="2000" b="1" dirty="0">
                <a:solidFill>
                  <a:srgbClr val="0000FF"/>
                </a:solidFill>
                <a:latin typeface="微软雅黑" pitchFamily="34" charset="-122"/>
                <a:ea typeface="微软雅黑" pitchFamily="34" charset="-122"/>
              </a:rPr>
              <a:t>动作</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称为</a:t>
            </a:r>
            <a:r>
              <a:rPr lang="zh-CN" altLang="en-US" sz="2000" b="1" dirty="0">
                <a:solidFill>
                  <a:srgbClr val="0000FF"/>
                </a:solidFill>
                <a:latin typeface="微软雅黑" pitchFamily="34" charset="-122"/>
                <a:ea typeface="微软雅黑" pitchFamily="34" charset="-122"/>
              </a:rPr>
              <a:t>广义转发。</a:t>
            </a:r>
            <a:endParaRPr lang="en-US" altLang="zh-CN" sz="2000" b="1" dirty="0">
              <a:solidFill>
                <a:srgbClr val="0000FF"/>
              </a:solidFill>
              <a:latin typeface="微软雅黑" pitchFamily="34" charset="-122"/>
              <a:ea typeface="微软雅黑" pitchFamily="34" charset="-122"/>
            </a:endParaRPr>
          </a:p>
        </p:txBody>
      </p:sp>
      <p:graphicFrame>
        <p:nvGraphicFramePr>
          <p:cNvPr id="2" name="图示 1"/>
          <p:cNvGraphicFramePr/>
          <p:nvPr>
            <p:extLst>
              <p:ext uri="{D42A27DB-BD31-4B8C-83A1-F6EECF244321}">
                <p14:modId xmlns:p14="http://schemas.microsoft.com/office/powerpoint/2010/main" val="2375691035"/>
              </p:ext>
            </p:extLst>
          </p:nvPr>
        </p:nvGraphicFramePr>
        <p:xfrm>
          <a:off x="2038537" y="1909504"/>
          <a:ext cx="5066923" cy="246332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85339007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61414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1941968" y="5809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err="1">
                <a:solidFill>
                  <a:schemeClr val="bg1"/>
                </a:solidFill>
                <a:latin typeface="微软雅黑" pitchFamily="34" charset="-122"/>
                <a:ea typeface="微软雅黑" pitchFamily="34" charset="-122"/>
              </a:rPr>
              <a:t>OpenFlow</a:t>
            </a:r>
            <a:r>
              <a:rPr lang="en-US" altLang="zh-CN" sz="2000" b="1" dirty="0">
                <a:solidFill>
                  <a:schemeClr val="bg1"/>
                </a:solidFill>
                <a:latin typeface="微软雅黑" pitchFamily="34" charset="-122"/>
                <a:ea typeface="微软雅黑" pitchFamily="34" charset="-122"/>
              </a:rPr>
              <a:t> </a:t>
            </a:r>
            <a:r>
              <a:rPr lang="zh-CN" altLang="en-US" sz="2000" b="1" dirty="0">
                <a:solidFill>
                  <a:schemeClr val="bg1"/>
                </a:solidFill>
                <a:latin typeface="微软雅黑" pitchFamily="34" charset="-122"/>
                <a:ea typeface="微软雅黑" pitchFamily="34" charset="-122"/>
              </a:rPr>
              <a:t>数据层面：流表</a:t>
            </a:r>
          </a:p>
        </p:txBody>
      </p:sp>
      <p:sp>
        <p:nvSpPr>
          <p:cNvPr id="4" name="Rectangle 8"/>
          <p:cNvSpPr>
            <a:spLocks noChangeArrowheads="1"/>
          </p:cNvSpPr>
          <p:nvPr/>
        </p:nvSpPr>
        <p:spPr bwMode="auto">
          <a:xfrm>
            <a:off x="545144" y="982254"/>
            <a:ext cx="8053712"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流表 </a:t>
            </a:r>
            <a:r>
              <a:rPr lang="en-US" altLang="zh-CN" sz="2000" b="1" dirty="0">
                <a:solidFill>
                  <a:srgbClr val="C00000"/>
                </a:solidFill>
                <a:latin typeface="微软雅黑" pitchFamily="34" charset="-122"/>
                <a:ea typeface="微软雅黑" pitchFamily="34" charset="-122"/>
              </a:rPr>
              <a:t>(flow table)</a:t>
            </a:r>
            <a:r>
              <a:rPr lang="zh-CN" altLang="en-US" sz="2000" b="1" dirty="0">
                <a:solidFill>
                  <a:srgbClr val="C00000"/>
                </a:solidFill>
                <a:latin typeface="微软雅黑" pitchFamily="34" charset="-122"/>
                <a:ea typeface="微软雅黑" pitchFamily="34" charset="-122"/>
              </a:rPr>
              <a:t>：</a:t>
            </a:r>
            <a:r>
              <a:rPr lang="zh-CN" altLang="en-US" sz="2000" b="1" dirty="0">
                <a:latin typeface="微软雅黑" pitchFamily="34" charset="-122"/>
                <a:ea typeface="微软雅黑" pitchFamily="34" charset="-122"/>
              </a:rPr>
              <a:t>规定“匹配 </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动作”。</a:t>
            </a: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流：</a:t>
            </a:r>
            <a:r>
              <a:rPr lang="zh-CN" altLang="en-US" sz="2000" b="1" dirty="0">
                <a:latin typeface="微软雅黑" pitchFamily="34" charset="-122"/>
                <a:ea typeface="微软雅黑" pitchFamily="34" charset="-122"/>
              </a:rPr>
              <a:t>穿过网络的一种分组序列，而在此序列中的分组都共享分组首部某些字段的值。</a:t>
            </a:r>
            <a:endParaRPr lang="en-US" altLang="zh-CN" sz="2000" b="1" dirty="0">
              <a:latin typeface="微软雅黑" pitchFamily="34" charset="-122"/>
              <a:ea typeface="微软雅黑" pitchFamily="34" charset="-122"/>
            </a:endParaRPr>
          </a:p>
        </p:txBody>
      </p:sp>
      <p:grpSp>
        <p:nvGrpSpPr>
          <p:cNvPr id="90" name="组合 89"/>
          <p:cNvGrpSpPr/>
          <p:nvPr/>
        </p:nvGrpSpPr>
        <p:grpSpPr>
          <a:xfrm>
            <a:off x="1136453" y="2380307"/>
            <a:ext cx="4630848" cy="1687541"/>
            <a:chOff x="1136453" y="2380307"/>
            <a:chExt cx="4630848" cy="1687541"/>
          </a:xfrm>
        </p:grpSpPr>
        <p:sp>
          <p:nvSpPr>
            <p:cNvPr id="16" name="矩形 15"/>
            <p:cNvSpPr/>
            <p:nvPr/>
          </p:nvSpPr>
          <p:spPr>
            <a:xfrm>
              <a:off x="1136453" y="2813010"/>
              <a:ext cx="583701" cy="195579"/>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1000" b="1" dirty="0">
                  <a:solidFill>
                    <a:schemeClr val="tx1"/>
                  </a:solidFill>
                  <a:latin typeface="微软雅黑" panose="020B0503020204020204" pitchFamily="34" charset="-122"/>
                  <a:ea typeface="微软雅黑" panose="020B0503020204020204" pitchFamily="34" charset="-122"/>
                </a:rPr>
                <a:t>端口 </a:t>
              </a:r>
              <a:r>
                <a:rPr lang="en-US" altLang="zh-CN" sz="1000" b="1" dirty="0">
                  <a:solidFill>
                    <a:schemeClr val="tx1"/>
                  </a:solidFill>
                  <a:latin typeface="微软雅黑" panose="020B0503020204020204" pitchFamily="34" charset="-122"/>
                  <a:ea typeface="微软雅黑" panose="020B0503020204020204" pitchFamily="34" charset="-122"/>
                </a:rPr>
                <a:t>1</a:t>
              </a:r>
              <a:endParaRPr lang="zh-CN" altLang="en-US" sz="1000" b="1" dirty="0">
                <a:solidFill>
                  <a:schemeClr val="tx1"/>
                </a:solidFill>
                <a:latin typeface="微软雅黑" panose="020B0503020204020204" pitchFamily="34" charset="-122"/>
                <a:ea typeface="微软雅黑" panose="020B0503020204020204" pitchFamily="34" charset="-122"/>
              </a:endParaRPr>
            </a:p>
          </p:txBody>
        </p:sp>
        <p:sp>
          <p:nvSpPr>
            <p:cNvPr id="17" name="矩形 16"/>
            <p:cNvSpPr/>
            <p:nvPr/>
          </p:nvSpPr>
          <p:spPr>
            <a:xfrm>
              <a:off x="1136453" y="3068779"/>
              <a:ext cx="583701" cy="195579"/>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1000" b="1" dirty="0">
                  <a:solidFill>
                    <a:schemeClr val="tx1"/>
                  </a:solidFill>
                  <a:latin typeface="微软雅黑" panose="020B0503020204020204" pitchFamily="34" charset="-122"/>
                  <a:ea typeface="微软雅黑" panose="020B0503020204020204" pitchFamily="34" charset="-122"/>
                </a:rPr>
                <a:t>端口 </a:t>
              </a:r>
              <a:r>
                <a:rPr lang="en-US" altLang="zh-CN" sz="1000" b="1" dirty="0">
                  <a:solidFill>
                    <a:schemeClr val="tx1"/>
                  </a:solidFill>
                  <a:latin typeface="微软雅黑" panose="020B0503020204020204" pitchFamily="34" charset="-122"/>
                  <a:ea typeface="微软雅黑" panose="020B0503020204020204" pitchFamily="34" charset="-122"/>
                </a:rPr>
                <a:t>2</a:t>
              </a:r>
              <a:endParaRPr lang="zh-CN" altLang="en-US" sz="1000" b="1" dirty="0">
                <a:solidFill>
                  <a:schemeClr val="tx1"/>
                </a:solidFill>
                <a:latin typeface="微软雅黑" panose="020B0503020204020204" pitchFamily="34" charset="-122"/>
                <a:ea typeface="微软雅黑" panose="020B0503020204020204" pitchFamily="34" charset="-122"/>
              </a:endParaRPr>
            </a:p>
          </p:txBody>
        </p:sp>
        <p:sp>
          <p:nvSpPr>
            <p:cNvPr id="18" name="矩形 17"/>
            <p:cNvSpPr/>
            <p:nvPr/>
          </p:nvSpPr>
          <p:spPr>
            <a:xfrm>
              <a:off x="1136453" y="3313897"/>
              <a:ext cx="583701" cy="195579"/>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1000" b="1" dirty="0">
                  <a:solidFill>
                    <a:schemeClr val="tx1"/>
                  </a:solidFill>
                  <a:latin typeface="微软雅黑" panose="020B0503020204020204" pitchFamily="34" charset="-122"/>
                  <a:ea typeface="微软雅黑" panose="020B0503020204020204" pitchFamily="34" charset="-122"/>
                </a:rPr>
                <a:t>端口 </a:t>
              </a:r>
              <a:r>
                <a:rPr lang="en-US" altLang="zh-CN" sz="1000" b="1" dirty="0">
                  <a:solidFill>
                    <a:schemeClr val="tx1"/>
                  </a:solidFill>
                  <a:latin typeface="微软雅黑" panose="020B0503020204020204" pitchFamily="34" charset="-122"/>
                  <a:ea typeface="微软雅黑" panose="020B0503020204020204" pitchFamily="34" charset="-122"/>
                </a:rPr>
                <a:t>3</a:t>
              </a:r>
              <a:endParaRPr lang="zh-CN" altLang="en-US" sz="1000" b="1" dirty="0">
                <a:solidFill>
                  <a:schemeClr val="tx1"/>
                </a:solidFill>
                <a:latin typeface="微软雅黑" panose="020B0503020204020204" pitchFamily="34" charset="-122"/>
                <a:ea typeface="微软雅黑" panose="020B0503020204020204" pitchFamily="34" charset="-122"/>
              </a:endParaRPr>
            </a:p>
          </p:txBody>
        </p:sp>
        <p:sp>
          <p:nvSpPr>
            <p:cNvPr id="19" name="矩形 18"/>
            <p:cNvSpPr/>
            <p:nvPr/>
          </p:nvSpPr>
          <p:spPr>
            <a:xfrm>
              <a:off x="1136453" y="3732620"/>
              <a:ext cx="583701" cy="195579"/>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1000" b="1" dirty="0">
                  <a:solidFill>
                    <a:schemeClr val="tx1"/>
                  </a:solidFill>
                  <a:latin typeface="微软雅黑" panose="020B0503020204020204" pitchFamily="34" charset="-122"/>
                  <a:ea typeface="微软雅黑" panose="020B0503020204020204" pitchFamily="34" charset="-122"/>
                </a:rPr>
                <a:t>端口 </a:t>
              </a:r>
              <a:r>
                <a:rPr lang="en-US" altLang="zh-CN" sz="1000" b="1" dirty="0">
                  <a:solidFill>
                    <a:schemeClr val="tx1"/>
                  </a:solidFill>
                  <a:latin typeface="微软雅黑" panose="020B0503020204020204" pitchFamily="34" charset="-122"/>
                  <a:ea typeface="微软雅黑" panose="020B0503020204020204" pitchFamily="34" charset="-122"/>
                </a:rPr>
                <a:t>N</a:t>
              </a:r>
              <a:endParaRPr lang="zh-CN" altLang="en-US" sz="1000" b="1" dirty="0">
                <a:solidFill>
                  <a:schemeClr val="tx1"/>
                </a:solidFill>
                <a:latin typeface="微软雅黑" panose="020B0503020204020204" pitchFamily="34" charset="-122"/>
                <a:ea typeface="微软雅黑" panose="020B0503020204020204" pitchFamily="34" charset="-122"/>
              </a:endParaRPr>
            </a:p>
          </p:txBody>
        </p:sp>
        <p:sp>
          <p:nvSpPr>
            <p:cNvPr id="20" name="矩形 19"/>
            <p:cNvSpPr/>
            <p:nvPr/>
          </p:nvSpPr>
          <p:spPr>
            <a:xfrm>
              <a:off x="5183600" y="2813010"/>
              <a:ext cx="583701" cy="195579"/>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zh-CN" altLang="en-US" sz="1000" b="1" dirty="0">
                  <a:solidFill>
                    <a:schemeClr val="tx1"/>
                  </a:solidFill>
                  <a:latin typeface="微软雅黑" panose="020B0503020204020204" pitchFamily="34" charset="-122"/>
                  <a:ea typeface="微软雅黑" panose="020B0503020204020204" pitchFamily="34" charset="-122"/>
                </a:rPr>
                <a:t>端口 </a:t>
              </a:r>
              <a:r>
                <a:rPr lang="en-US" altLang="zh-CN" sz="1000" b="1" dirty="0">
                  <a:solidFill>
                    <a:schemeClr val="tx1"/>
                  </a:solidFill>
                  <a:latin typeface="微软雅黑" panose="020B0503020204020204" pitchFamily="34" charset="-122"/>
                  <a:ea typeface="微软雅黑" panose="020B0503020204020204" pitchFamily="34" charset="-122"/>
                </a:rPr>
                <a:t>1</a:t>
              </a:r>
              <a:endParaRPr lang="zh-CN" altLang="en-US" sz="1000" b="1" dirty="0">
                <a:solidFill>
                  <a:schemeClr val="tx1"/>
                </a:solidFill>
                <a:latin typeface="微软雅黑" panose="020B0503020204020204" pitchFamily="34" charset="-122"/>
                <a:ea typeface="微软雅黑" panose="020B0503020204020204" pitchFamily="34" charset="-122"/>
              </a:endParaRPr>
            </a:p>
          </p:txBody>
        </p:sp>
        <p:sp>
          <p:nvSpPr>
            <p:cNvPr id="21" name="矩形 20"/>
            <p:cNvSpPr/>
            <p:nvPr/>
          </p:nvSpPr>
          <p:spPr>
            <a:xfrm>
              <a:off x="5183600" y="3068779"/>
              <a:ext cx="583701" cy="195579"/>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zh-CN" altLang="en-US" sz="1000" b="1" dirty="0">
                  <a:solidFill>
                    <a:schemeClr val="tx1"/>
                  </a:solidFill>
                  <a:latin typeface="微软雅黑" panose="020B0503020204020204" pitchFamily="34" charset="-122"/>
                  <a:ea typeface="微软雅黑" panose="020B0503020204020204" pitchFamily="34" charset="-122"/>
                </a:rPr>
                <a:t>端口 </a:t>
              </a:r>
              <a:r>
                <a:rPr lang="en-US" altLang="zh-CN" sz="1000" b="1" dirty="0">
                  <a:solidFill>
                    <a:schemeClr val="tx1"/>
                  </a:solidFill>
                  <a:latin typeface="微软雅黑" panose="020B0503020204020204" pitchFamily="34" charset="-122"/>
                  <a:ea typeface="微软雅黑" panose="020B0503020204020204" pitchFamily="34" charset="-122"/>
                </a:rPr>
                <a:t>2</a:t>
              </a:r>
              <a:endParaRPr lang="zh-CN" altLang="en-US" sz="1000" b="1" dirty="0">
                <a:solidFill>
                  <a:schemeClr val="tx1"/>
                </a:solidFill>
                <a:latin typeface="微软雅黑" panose="020B0503020204020204" pitchFamily="34" charset="-122"/>
                <a:ea typeface="微软雅黑" panose="020B0503020204020204" pitchFamily="34" charset="-122"/>
              </a:endParaRPr>
            </a:p>
          </p:txBody>
        </p:sp>
        <p:sp>
          <p:nvSpPr>
            <p:cNvPr id="22" name="矩形 21"/>
            <p:cNvSpPr/>
            <p:nvPr/>
          </p:nvSpPr>
          <p:spPr>
            <a:xfrm>
              <a:off x="5183600" y="3313897"/>
              <a:ext cx="583701" cy="195579"/>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zh-CN" altLang="en-US" sz="1000" b="1" dirty="0">
                  <a:solidFill>
                    <a:schemeClr val="tx1"/>
                  </a:solidFill>
                  <a:latin typeface="微软雅黑" panose="020B0503020204020204" pitchFamily="34" charset="-122"/>
                  <a:ea typeface="微软雅黑" panose="020B0503020204020204" pitchFamily="34" charset="-122"/>
                </a:rPr>
                <a:t>端口 </a:t>
              </a:r>
              <a:r>
                <a:rPr lang="en-US" altLang="zh-CN" sz="1000" b="1" dirty="0">
                  <a:solidFill>
                    <a:schemeClr val="tx1"/>
                  </a:solidFill>
                  <a:latin typeface="微软雅黑" panose="020B0503020204020204" pitchFamily="34" charset="-122"/>
                  <a:ea typeface="微软雅黑" panose="020B0503020204020204" pitchFamily="34" charset="-122"/>
                </a:rPr>
                <a:t>3</a:t>
              </a:r>
              <a:endParaRPr lang="zh-CN" altLang="en-US" sz="1000" b="1" dirty="0">
                <a:solidFill>
                  <a:schemeClr val="tx1"/>
                </a:solidFill>
                <a:latin typeface="微软雅黑" panose="020B0503020204020204" pitchFamily="34" charset="-122"/>
                <a:ea typeface="微软雅黑" panose="020B0503020204020204" pitchFamily="34" charset="-122"/>
              </a:endParaRPr>
            </a:p>
          </p:txBody>
        </p:sp>
        <p:sp>
          <p:nvSpPr>
            <p:cNvPr id="23" name="矩形 22"/>
            <p:cNvSpPr/>
            <p:nvPr/>
          </p:nvSpPr>
          <p:spPr>
            <a:xfrm>
              <a:off x="5183600" y="3732620"/>
              <a:ext cx="583701" cy="195579"/>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zh-CN" altLang="en-US" sz="1000" b="1" dirty="0">
                  <a:solidFill>
                    <a:schemeClr val="tx1"/>
                  </a:solidFill>
                  <a:latin typeface="微软雅黑" panose="020B0503020204020204" pitchFamily="34" charset="-122"/>
                  <a:ea typeface="微软雅黑" panose="020B0503020204020204" pitchFamily="34" charset="-122"/>
                </a:rPr>
                <a:t>端口 </a:t>
              </a:r>
              <a:r>
                <a:rPr lang="en-US" altLang="zh-CN" sz="1000" b="1" dirty="0">
                  <a:solidFill>
                    <a:schemeClr val="tx1"/>
                  </a:solidFill>
                  <a:latin typeface="微软雅黑" panose="020B0503020204020204" pitchFamily="34" charset="-122"/>
                  <a:ea typeface="微软雅黑" panose="020B0503020204020204" pitchFamily="34" charset="-122"/>
                </a:rPr>
                <a:t>N</a:t>
              </a:r>
              <a:endParaRPr lang="zh-CN" altLang="en-US" sz="1000" b="1" dirty="0">
                <a:solidFill>
                  <a:schemeClr val="tx1"/>
                </a:solidFill>
                <a:latin typeface="微软雅黑" panose="020B0503020204020204" pitchFamily="34" charset="-122"/>
                <a:ea typeface="微软雅黑" panose="020B0503020204020204" pitchFamily="34" charset="-122"/>
              </a:endParaRPr>
            </a:p>
          </p:txBody>
        </p:sp>
        <p:sp>
          <p:nvSpPr>
            <p:cNvPr id="2" name="矩形 1"/>
            <p:cNvSpPr/>
            <p:nvPr/>
          </p:nvSpPr>
          <p:spPr>
            <a:xfrm>
              <a:off x="1665837" y="2402010"/>
              <a:ext cx="3603280" cy="1665838"/>
            </a:xfrm>
            <a:prstGeom prst="rect">
              <a:avLst/>
            </a:prstGeom>
            <a:solidFill>
              <a:schemeClr val="accent1">
                <a:lumMod val="60000"/>
                <a:lumOff val="4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矩形 2"/>
            <p:cNvSpPr/>
            <p:nvPr/>
          </p:nvSpPr>
          <p:spPr>
            <a:xfrm>
              <a:off x="2416786" y="2380307"/>
              <a:ext cx="2119491" cy="369332"/>
            </a:xfrm>
            <a:prstGeom prst="rect">
              <a:avLst/>
            </a:prstGeom>
          </p:spPr>
          <p:txBody>
            <a:bodyPr wrap="none">
              <a:spAutoFit/>
            </a:bodyPr>
            <a:lstStyle/>
            <a:p>
              <a:r>
                <a:rPr lang="en-US" altLang="zh-CN" b="1" dirty="0" err="1">
                  <a:solidFill>
                    <a:srgbClr val="000066"/>
                  </a:solidFill>
                  <a:latin typeface="微软雅黑" pitchFamily="34" charset="-122"/>
                  <a:ea typeface="微软雅黑" pitchFamily="34" charset="-122"/>
                </a:rPr>
                <a:t>OpenFlow</a:t>
              </a:r>
              <a:r>
                <a:rPr lang="en-US" altLang="zh-CN" b="1" dirty="0">
                  <a:solidFill>
                    <a:srgbClr val="000066"/>
                  </a:solidFill>
                  <a:latin typeface="微软雅黑" pitchFamily="34" charset="-122"/>
                  <a:ea typeface="微软雅黑" pitchFamily="34" charset="-122"/>
                </a:rPr>
                <a:t> </a:t>
              </a:r>
              <a:r>
                <a:rPr lang="zh-CN" altLang="en-US" b="1" dirty="0">
                  <a:solidFill>
                    <a:srgbClr val="000066"/>
                  </a:solidFill>
                  <a:latin typeface="微软雅黑" pitchFamily="34" charset="-122"/>
                  <a:ea typeface="微软雅黑" pitchFamily="34" charset="-122"/>
                </a:rPr>
                <a:t>交换机</a:t>
              </a:r>
              <a:endParaRPr lang="zh-CN" altLang="en-US" dirty="0">
                <a:solidFill>
                  <a:srgbClr val="000066"/>
                </a:solidFill>
              </a:endParaRPr>
            </a:p>
          </p:txBody>
        </p:sp>
        <p:sp>
          <p:nvSpPr>
            <p:cNvPr id="7" name="矩形 6"/>
            <p:cNvSpPr/>
            <p:nvPr/>
          </p:nvSpPr>
          <p:spPr>
            <a:xfrm>
              <a:off x="1783534" y="2727935"/>
              <a:ext cx="3349782" cy="1240324"/>
            </a:xfrm>
            <a:prstGeom prst="rect">
              <a:avLst/>
            </a:prstGeom>
            <a:solidFill>
              <a:schemeClr val="tx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文本框 23"/>
            <p:cNvSpPr txBox="1"/>
            <p:nvPr/>
          </p:nvSpPr>
          <p:spPr>
            <a:xfrm>
              <a:off x="1204985" y="3372576"/>
              <a:ext cx="380246" cy="369332"/>
            </a:xfrm>
            <a:prstGeom prst="rect">
              <a:avLst/>
            </a:prstGeom>
            <a:noFill/>
            <a:ln w="9525">
              <a:noFill/>
            </a:ln>
          </p:spPr>
          <p:txBody>
            <a:bodyPr wrap="square" rtlCol="0">
              <a:spAutoFit/>
            </a:bodyPr>
            <a:lstStyle/>
            <a:p>
              <a:r>
                <a:rPr lang="en-US" altLang="zh-CN" b="1" dirty="0">
                  <a:latin typeface="微软雅黑" panose="020B0503020204020204" pitchFamily="34" charset="-122"/>
                  <a:ea typeface="微软雅黑" panose="020B0503020204020204" pitchFamily="34" charset="-122"/>
                </a:rPr>
                <a:t>…</a:t>
              </a:r>
              <a:endParaRPr lang="zh-CN" altLang="en-US" b="1" dirty="0">
                <a:latin typeface="微软雅黑" panose="020B0503020204020204" pitchFamily="34" charset="-122"/>
                <a:ea typeface="微软雅黑" panose="020B0503020204020204" pitchFamily="34" charset="-122"/>
              </a:endParaRPr>
            </a:p>
          </p:txBody>
        </p:sp>
        <p:sp>
          <p:nvSpPr>
            <p:cNvPr id="25" name="文本框 24"/>
            <p:cNvSpPr txBox="1"/>
            <p:nvPr/>
          </p:nvSpPr>
          <p:spPr>
            <a:xfrm>
              <a:off x="5285327" y="3372576"/>
              <a:ext cx="380246" cy="369332"/>
            </a:xfrm>
            <a:prstGeom prst="rect">
              <a:avLst/>
            </a:prstGeom>
            <a:noFill/>
            <a:ln w="9525">
              <a:noFill/>
            </a:ln>
          </p:spPr>
          <p:txBody>
            <a:bodyPr wrap="square" rtlCol="0">
              <a:spAutoFit/>
            </a:bodyPr>
            <a:lstStyle/>
            <a:p>
              <a:r>
                <a:rPr lang="en-US" altLang="zh-CN" b="1" dirty="0">
                  <a:latin typeface="微软雅黑" panose="020B0503020204020204" pitchFamily="34" charset="-122"/>
                  <a:ea typeface="微软雅黑" panose="020B0503020204020204" pitchFamily="34" charset="-122"/>
                </a:rPr>
                <a:t>…</a:t>
              </a:r>
              <a:endParaRPr lang="zh-CN" altLang="en-US" b="1" dirty="0">
                <a:latin typeface="微软雅黑" panose="020B0503020204020204" pitchFamily="34" charset="-122"/>
                <a:ea typeface="微软雅黑" panose="020B0503020204020204" pitchFamily="34" charset="-122"/>
              </a:endParaRPr>
            </a:p>
          </p:txBody>
        </p:sp>
        <p:grpSp>
          <p:nvGrpSpPr>
            <p:cNvPr id="85" name="组合 84"/>
            <p:cNvGrpSpPr/>
            <p:nvPr/>
          </p:nvGrpSpPr>
          <p:grpSpPr>
            <a:xfrm>
              <a:off x="2201693" y="2811687"/>
              <a:ext cx="2548801" cy="957158"/>
              <a:chOff x="3469178" y="2781685"/>
              <a:chExt cx="2548801" cy="957158"/>
            </a:xfrm>
          </p:grpSpPr>
          <p:sp>
            <p:nvSpPr>
              <p:cNvPr id="26" name="文本框 25"/>
              <p:cNvSpPr txBox="1"/>
              <p:nvPr/>
            </p:nvSpPr>
            <p:spPr>
              <a:xfrm>
                <a:off x="5144460" y="2781685"/>
                <a:ext cx="786779" cy="253916"/>
              </a:xfrm>
              <a:prstGeom prst="rect">
                <a:avLst/>
              </a:prstGeom>
              <a:noFill/>
            </p:spPr>
            <p:txBody>
              <a:bodyPr wrap="square" rtlCol="0">
                <a:spAutoFit/>
              </a:bodyPr>
              <a:lstStyle/>
              <a:p>
                <a:pPr algn="ctr"/>
                <a:r>
                  <a:rPr lang="zh-CN" altLang="en-US" sz="1050" b="1" dirty="0">
                    <a:latin typeface="微软雅黑" panose="020B0503020204020204" pitchFamily="34" charset="-122"/>
                    <a:ea typeface="微软雅黑" panose="020B0503020204020204" pitchFamily="34" charset="-122"/>
                  </a:rPr>
                  <a:t>流表 </a:t>
                </a:r>
                <a:r>
                  <a:rPr lang="en-US" altLang="zh-CN" sz="1050" b="1" dirty="0">
                    <a:latin typeface="微软雅黑" panose="020B0503020204020204" pitchFamily="34" charset="-122"/>
                    <a:ea typeface="微软雅黑" panose="020B0503020204020204" pitchFamily="34" charset="-122"/>
                  </a:rPr>
                  <a:t>M</a:t>
                </a:r>
                <a:endParaRPr lang="zh-CN" altLang="en-US" sz="1050" b="1" dirty="0">
                  <a:latin typeface="微软雅黑" panose="020B0503020204020204" pitchFamily="34" charset="-122"/>
                  <a:ea typeface="微软雅黑" panose="020B0503020204020204" pitchFamily="34" charset="-122"/>
                </a:endParaRPr>
              </a:p>
            </p:txBody>
          </p:sp>
          <p:sp>
            <p:nvSpPr>
              <p:cNvPr id="27" name="文本框 26"/>
              <p:cNvSpPr txBox="1"/>
              <p:nvPr/>
            </p:nvSpPr>
            <p:spPr>
              <a:xfrm>
                <a:off x="4310468" y="2880609"/>
                <a:ext cx="786779" cy="253916"/>
              </a:xfrm>
              <a:prstGeom prst="rect">
                <a:avLst/>
              </a:prstGeom>
              <a:noFill/>
            </p:spPr>
            <p:txBody>
              <a:bodyPr wrap="square" rtlCol="0">
                <a:spAutoFit/>
              </a:bodyPr>
              <a:lstStyle/>
              <a:p>
                <a:pPr algn="ctr"/>
                <a:r>
                  <a:rPr lang="zh-CN" altLang="en-US" sz="1050" b="1" dirty="0">
                    <a:latin typeface="微软雅黑" panose="020B0503020204020204" pitchFamily="34" charset="-122"/>
                    <a:ea typeface="微软雅黑" panose="020B0503020204020204" pitchFamily="34" charset="-122"/>
                  </a:rPr>
                  <a:t>流表 </a:t>
                </a:r>
                <a:r>
                  <a:rPr lang="en-US" altLang="zh-CN" sz="1050" b="1" dirty="0">
                    <a:latin typeface="微软雅黑" panose="020B0503020204020204" pitchFamily="34" charset="-122"/>
                    <a:ea typeface="微软雅黑" panose="020B0503020204020204" pitchFamily="34" charset="-122"/>
                  </a:rPr>
                  <a:t>2</a:t>
                </a:r>
                <a:endParaRPr lang="zh-CN" altLang="en-US" sz="1050" b="1" dirty="0">
                  <a:latin typeface="微软雅黑" panose="020B0503020204020204" pitchFamily="34" charset="-122"/>
                  <a:ea typeface="微软雅黑" panose="020B0503020204020204" pitchFamily="34" charset="-122"/>
                </a:endParaRPr>
              </a:p>
            </p:txBody>
          </p:sp>
          <p:sp>
            <p:nvSpPr>
              <p:cNvPr id="28" name="文本框 27"/>
              <p:cNvSpPr txBox="1"/>
              <p:nvPr/>
            </p:nvSpPr>
            <p:spPr>
              <a:xfrm>
                <a:off x="3528272" y="2980374"/>
                <a:ext cx="786779" cy="253916"/>
              </a:xfrm>
              <a:prstGeom prst="rect">
                <a:avLst/>
              </a:prstGeom>
              <a:noFill/>
            </p:spPr>
            <p:txBody>
              <a:bodyPr wrap="square" rtlCol="0">
                <a:spAutoFit/>
              </a:bodyPr>
              <a:lstStyle/>
              <a:p>
                <a:pPr algn="ctr"/>
                <a:r>
                  <a:rPr lang="zh-CN" altLang="en-US" sz="1050" b="1" dirty="0">
                    <a:latin typeface="微软雅黑" panose="020B0503020204020204" pitchFamily="34" charset="-122"/>
                    <a:ea typeface="微软雅黑" panose="020B0503020204020204" pitchFamily="34" charset="-122"/>
                  </a:rPr>
                  <a:t>流表 </a:t>
                </a:r>
                <a:r>
                  <a:rPr lang="en-US" altLang="zh-CN" sz="1050" b="1" dirty="0">
                    <a:latin typeface="微软雅黑" panose="020B0503020204020204" pitchFamily="34" charset="-122"/>
                    <a:ea typeface="微软雅黑" panose="020B0503020204020204" pitchFamily="34" charset="-122"/>
                  </a:rPr>
                  <a:t>1</a:t>
                </a:r>
                <a:endParaRPr lang="zh-CN" altLang="en-US" sz="1050" b="1" dirty="0">
                  <a:latin typeface="微软雅黑" panose="020B0503020204020204" pitchFamily="34" charset="-122"/>
                  <a:ea typeface="微软雅黑" panose="020B0503020204020204" pitchFamily="34" charset="-122"/>
                </a:endParaRPr>
              </a:p>
            </p:txBody>
          </p:sp>
          <p:grpSp>
            <p:nvGrpSpPr>
              <p:cNvPr id="41" name="组合 40"/>
              <p:cNvGrpSpPr/>
              <p:nvPr/>
            </p:nvGrpSpPr>
            <p:grpSpPr>
              <a:xfrm>
                <a:off x="5081576" y="2975406"/>
                <a:ext cx="936403" cy="553846"/>
                <a:chOff x="1035978" y="3132726"/>
                <a:chExt cx="936403" cy="553846"/>
              </a:xfrm>
              <a:solidFill>
                <a:schemeClr val="bg1"/>
              </a:solidFill>
            </p:grpSpPr>
            <p:sp>
              <p:nvSpPr>
                <p:cNvPr id="8" name="矩形 7"/>
                <p:cNvSpPr/>
                <p:nvPr/>
              </p:nvSpPr>
              <p:spPr>
                <a:xfrm>
                  <a:off x="1035978" y="3132726"/>
                  <a:ext cx="936403" cy="553846"/>
                </a:xfrm>
                <a:prstGeom prst="rect">
                  <a:avLst/>
                </a:prstGeom>
                <a:grp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30" name="直接连接符 29"/>
                <p:cNvCxnSpPr/>
                <p:nvPr/>
              </p:nvCxnSpPr>
              <p:spPr>
                <a:xfrm>
                  <a:off x="1035978" y="3279203"/>
                  <a:ext cx="936403" cy="0"/>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32" name="直接连接符 31"/>
                <p:cNvCxnSpPr/>
                <p:nvPr/>
              </p:nvCxnSpPr>
              <p:spPr>
                <a:xfrm>
                  <a:off x="1035978" y="3409649"/>
                  <a:ext cx="936403" cy="0"/>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33" name="直接连接符 32"/>
                <p:cNvCxnSpPr/>
                <p:nvPr/>
              </p:nvCxnSpPr>
              <p:spPr>
                <a:xfrm>
                  <a:off x="1035978" y="3550303"/>
                  <a:ext cx="936403" cy="0"/>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34" name="直接连接符 33"/>
                <p:cNvCxnSpPr/>
                <p:nvPr/>
              </p:nvCxnSpPr>
              <p:spPr>
                <a:xfrm>
                  <a:off x="1239689" y="3132726"/>
                  <a:ext cx="1" cy="548199"/>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39" name="直接连接符 38"/>
                <p:cNvCxnSpPr/>
                <p:nvPr/>
              </p:nvCxnSpPr>
              <p:spPr>
                <a:xfrm>
                  <a:off x="1455468" y="3132726"/>
                  <a:ext cx="1" cy="548199"/>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40" name="直接连接符 39"/>
                <p:cNvCxnSpPr/>
                <p:nvPr/>
              </p:nvCxnSpPr>
              <p:spPr>
                <a:xfrm>
                  <a:off x="1671246" y="3132726"/>
                  <a:ext cx="1" cy="548199"/>
                </a:xfrm>
                <a:prstGeom prst="line">
                  <a:avLst/>
                </a:prstGeom>
                <a:grpFill/>
                <a:ln w="9525"/>
              </p:spPr>
              <p:style>
                <a:lnRef idx="1">
                  <a:schemeClr val="dk1"/>
                </a:lnRef>
                <a:fillRef idx="0">
                  <a:schemeClr val="dk1"/>
                </a:fillRef>
                <a:effectRef idx="0">
                  <a:schemeClr val="dk1"/>
                </a:effectRef>
                <a:fontRef idx="minor">
                  <a:schemeClr val="tx1"/>
                </a:fontRef>
              </p:style>
            </p:cxnSp>
          </p:grpSp>
          <p:grpSp>
            <p:nvGrpSpPr>
              <p:cNvPr id="51" name="组合 50"/>
              <p:cNvGrpSpPr/>
              <p:nvPr/>
            </p:nvGrpSpPr>
            <p:grpSpPr>
              <a:xfrm>
                <a:off x="4257707" y="3082248"/>
                <a:ext cx="936403" cy="553846"/>
                <a:chOff x="1035978" y="3132726"/>
                <a:chExt cx="936403" cy="553846"/>
              </a:xfrm>
              <a:solidFill>
                <a:schemeClr val="bg1"/>
              </a:solidFill>
            </p:grpSpPr>
            <p:sp>
              <p:nvSpPr>
                <p:cNvPr id="52" name="矩形 51"/>
                <p:cNvSpPr/>
                <p:nvPr/>
              </p:nvSpPr>
              <p:spPr>
                <a:xfrm>
                  <a:off x="1035978" y="3132726"/>
                  <a:ext cx="936403" cy="553846"/>
                </a:xfrm>
                <a:prstGeom prst="rect">
                  <a:avLst/>
                </a:prstGeom>
                <a:grp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53" name="直接连接符 52"/>
                <p:cNvCxnSpPr/>
                <p:nvPr/>
              </p:nvCxnSpPr>
              <p:spPr>
                <a:xfrm>
                  <a:off x="1035978" y="3279203"/>
                  <a:ext cx="936403" cy="0"/>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54" name="直接连接符 53"/>
                <p:cNvCxnSpPr/>
                <p:nvPr/>
              </p:nvCxnSpPr>
              <p:spPr>
                <a:xfrm>
                  <a:off x="1035978" y="3409649"/>
                  <a:ext cx="936403" cy="0"/>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55" name="直接连接符 54"/>
                <p:cNvCxnSpPr/>
                <p:nvPr/>
              </p:nvCxnSpPr>
              <p:spPr>
                <a:xfrm>
                  <a:off x="1035978" y="3550303"/>
                  <a:ext cx="936403" cy="0"/>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56" name="直接连接符 55"/>
                <p:cNvCxnSpPr/>
                <p:nvPr/>
              </p:nvCxnSpPr>
              <p:spPr>
                <a:xfrm>
                  <a:off x="1239689" y="3132726"/>
                  <a:ext cx="1" cy="548199"/>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57" name="直接连接符 56"/>
                <p:cNvCxnSpPr/>
                <p:nvPr/>
              </p:nvCxnSpPr>
              <p:spPr>
                <a:xfrm>
                  <a:off x="1455468" y="3132726"/>
                  <a:ext cx="1" cy="548199"/>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58" name="直接连接符 57"/>
                <p:cNvCxnSpPr/>
                <p:nvPr/>
              </p:nvCxnSpPr>
              <p:spPr>
                <a:xfrm>
                  <a:off x="1671246" y="3132726"/>
                  <a:ext cx="1" cy="548199"/>
                </a:xfrm>
                <a:prstGeom prst="line">
                  <a:avLst/>
                </a:prstGeom>
                <a:grpFill/>
                <a:ln w="9525"/>
              </p:spPr>
              <p:style>
                <a:lnRef idx="1">
                  <a:schemeClr val="dk1"/>
                </a:lnRef>
                <a:fillRef idx="0">
                  <a:schemeClr val="dk1"/>
                </a:fillRef>
                <a:effectRef idx="0">
                  <a:schemeClr val="dk1"/>
                </a:effectRef>
                <a:fontRef idx="minor">
                  <a:schemeClr val="tx1"/>
                </a:fontRef>
              </p:style>
            </p:cxnSp>
          </p:grpSp>
          <p:grpSp>
            <p:nvGrpSpPr>
              <p:cNvPr id="77" name="组合 76"/>
              <p:cNvGrpSpPr/>
              <p:nvPr/>
            </p:nvGrpSpPr>
            <p:grpSpPr>
              <a:xfrm>
                <a:off x="3469178" y="3184997"/>
                <a:ext cx="936403" cy="553846"/>
                <a:chOff x="1035978" y="3132726"/>
                <a:chExt cx="936403" cy="553846"/>
              </a:xfrm>
              <a:solidFill>
                <a:schemeClr val="bg1"/>
              </a:solidFill>
            </p:grpSpPr>
            <p:sp>
              <p:nvSpPr>
                <p:cNvPr id="78" name="矩形 77"/>
                <p:cNvSpPr/>
                <p:nvPr/>
              </p:nvSpPr>
              <p:spPr>
                <a:xfrm>
                  <a:off x="1035978" y="3132726"/>
                  <a:ext cx="936403" cy="553846"/>
                </a:xfrm>
                <a:prstGeom prst="rect">
                  <a:avLst/>
                </a:prstGeom>
                <a:grp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79" name="直接连接符 78"/>
                <p:cNvCxnSpPr/>
                <p:nvPr/>
              </p:nvCxnSpPr>
              <p:spPr>
                <a:xfrm>
                  <a:off x="1035978" y="3279203"/>
                  <a:ext cx="936403" cy="0"/>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80" name="直接连接符 79"/>
                <p:cNvCxnSpPr/>
                <p:nvPr/>
              </p:nvCxnSpPr>
              <p:spPr>
                <a:xfrm>
                  <a:off x="1035978" y="3409649"/>
                  <a:ext cx="936403" cy="0"/>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81" name="直接连接符 80"/>
                <p:cNvCxnSpPr/>
                <p:nvPr/>
              </p:nvCxnSpPr>
              <p:spPr>
                <a:xfrm>
                  <a:off x="1035978" y="3550303"/>
                  <a:ext cx="936403" cy="0"/>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82" name="直接连接符 81"/>
                <p:cNvCxnSpPr/>
                <p:nvPr/>
              </p:nvCxnSpPr>
              <p:spPr>
                <a:xfrm>
                  <a:off x="1239689" y="3132726"/>
                  <a:ext cx="1" cy="548199"/>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83" name="直接连接符 82"/>
                <p:cNvCxnSpPr/>
                <p:nvPr/>
              </p:nvCxnSpPr>
              <p:spPr>
                <a:xfrm>
                  <a:off x="1455468" y="3132726"/>
                  <a:ext cx="1" cy="548199"/>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84" name="直接连接符 83"/>
                <p:cNvCxnSpPr/>
                <p:nvPr/>
              </p:nvCxnSpPr>
              <p:spPr>
                <a:xfrm>
                  <a:off x="1671246" y="3132726"/>
                  <a:ext cx="1" cy="548199"/>
                </a:xfrm>
                <a:prstGeom prst="line">
                  <a:avLst/>
                </a:prstGeom>
                <a:grpFill/>
                <a:ln w="9525"/>
              </p:spPr>
              <p:style>
                <a:lnRef idx="1">
                  <a:schemeClr val="dk1"/>
                </a:lnRef>
                <a:fillRef idx="0">
                  <a:schemeClr val="dk1"/>
                </a:fillRef>
                <a:effectRef idx="0">
                  <a:schemeClr val="dk1"/>
                </a:effectRef>
                <a:fontRef idx="minor">
                  <a:schemeClr val="tx1"/>
                </a:fontRef>
              </p:style>
            </p:cxnSp>
          </p:grpSp>
        </p:grpSp>
      </p:grpSp>
      <p:sp>
        <p:nvSpPr>
          <p:cNvPr id="88" name="线形标注 1 87"/>
          <p:cNvSpPr/>
          <p:nvPr/>
        </p:nvSpPr>
        <p:spPr>
          <a:xfrm>
            <a:off x="5906458" y="2160643"/>
            <a:ext cx="2359355" cy="588996"/>
          </a:xfrm>
          <a:prstGeom prst="borderCallout1">
            <a:avLst>
              <a:gd name="adj1" fmla="val 30697"/>
              <a:gd name="adj2" fmla="val -156"/>
              <a:gd name="adj3" fmla="val 126334"/>
              <a:gd name="adj4" fmla="val -41727"/>
            </a:avLst>
          </a:prstGeom>
          <a:solidFill>
            <a:srgbClr val="33CCFF"/>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每个 </a:t>
            </a:r>
            <a:r>
              <a:rPr lang="en-US" altLang="zh-CN" sz="1400" b="1" dirty="0" err="1">
                <a:solidFill>
                  <a:schemeClr val="tx1"/>
                </a:solidFill>
                <a:latin typeface="微软雅黑" panose="020B0503020204020204" pitchFamily="34" charset="-122"/>
                <a:ea typeface="微软雅黑" panose="020B0503020204020204" pitchFamily="34" charset="-122"/>
              </a:rPr>
              <a:t>OpenFlow</a:t>
            </a:r>
            <a:r>
              <a:rPr lang="en-US" altLang="zh-CN" sz="1400" b="1" dirty="0">
                <a:solidFill>
                  <a:schemeClr val="tx1"/>
                </a:solidFill>
                <a:latin typeface="微软雅黑" panose="020B0503020204020204" pitchFamily="34" charset="-122"/>
                <a:ea typeface="微软雅黑" panose="020B0503020204020204" pitchFamily="34" charset="-122"/>
              </a:rPr>
              <a:t> </a:t>
            </a:r>
            <a:r>
              <a:rPr lang="zh-CN" altLang="en-US" sz="1400" b="1" dirty="0">
                <a:solidFill>
                  <a:schemeClr val="tx1"/>
                </a:solidFill>
                <a:latin typeface="微软雅黑" panose="020B0503020204020204" pitchFamily="34" charset="-122"/>
                <a:ea typeface="微软雅黑" panose="020B0503020204020204" pitchFamily="34" charset="-122"/>
              </a:rPr>
              <a:t>交换机有一个或一个以上的流表。</a:t>
            </a:r>
          </a:p>
        </p:txBody>
      </p:sp>
      <p:sp>
        <p:nvSpPr>
          <p:cNvPr id="89" name="线形标注 1 88"/>
          <p:cNvSpPr/>
          <p:nvPr/>
        </p:nvSpPr>
        <p:spPr>
          <a:xfrm>
            <a:off x="5906458" y="2964611"/>
            <a:ext cx="2359355" cy="588996"/>
          </a:xfrm>
          <a:prstGeom prst="borderCallout1">
            <a:avLst>
              <a:gd name="adj1" fmla="val 30697"/>
              <a:gd name="adj2" fmla="val -156"/>
              <a:gd name="adj3" fmla="val 64850"/>
              <a:gd name="adj4" fmla="val -55157"/>
            </a:avLst>
          </a:prstGeom>
          <a:solidFill>
            <a:srgbClr val="FF99FF"/>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每个流表可以包括多个流表项 </a:t>
            </a:r>
            <a:r>
              <a:rPr lang="en-US" altLang="zh-CN" sz="1400" b="1" dirty="0">
                <a:solidFill>
                  <a:schemeClr val="tx1"/>
                </a:solidFill>
                <a:latin typeface="微软雅黑" panose="020B0503020204020204" pitchFamily="34" charset="-122"/>
                <a:ea typeface="微软雅黑" panose="020B0503020204020204" pitchFamily="34" charset="-122"/>
              </a:rPr>
              <a:t>(flow entry)</a:t>
            </a:r>
            <a:r>
              <a:rPr lang="zh-CN" altLang="en-US" sz="1400" b="1" dirty="0">
                <a:solidFill>
                  <a:schemeClr val="tx1"/>
                </a:solidFill>
                <a:latin typeface="微软雅黑" panose="020B0503020204020204" pitchFamily="34" charset="-122"/>
                <a:ea typeface="微软雅黑" panose="020B0503020204020204" pitchFamily="34" charset="-122"/>
              </a:rPr>
              <a:t>。</a:t>
            </a:r>
          </a:p>
        </p:txBody>
      </p:sp>
    </p:spTree>
    <p:extLst>
      <p:ext uri="{BB962C8B-B14F-4D97-AF65-F5344CB8AC3E}">
        <p14:creationId xmlns:p14="http://schemas.microsoft.com/office/powerpoint/2010/main" val="386977943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圆角矩形 16"/>
          <p:cNvSpPr/>
          <p:nvPr/>
        </p:nvSpPr>
        <p:spPr>
          <a:xfrm>
            <a:off x="545144" y="1017561"/>
            <a:ext cx="8053711" cy="26400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5" name="AutoShape 5"/>
          <p:cNvSpPr>
            <a:spLocks noChangeArrowheads="1"/>
          </p:cNvSpPr>
          <p:nvPr/>
        </p:nvSpPr>
        <p:spPr bwMode="auto">
          <a:xfrm>
            <a:off x="545144" y="61414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1941968" y="5809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流表由远程控制器管理</a:t>
            </a:r>
          </a:p>
        </p:txBody>
      </p:sp>
      <p:sp>
        <p:nvSpPr>
          <p:cNvPr id="2" name="矩形 1"/>
          <p:cNvSpPr/>
          <p:nvPr/>
        </p:nvSpPr>
        <p:spPr>
          <a:xfrm>
            <a:off x="1828274" y="3697334"/>
            <a:ext cx="5776637" cy="759182"/>
          </a:xfrm>
          <a:prstGeom prst="rect">
            <a:avLst/>
          </a:prstGeom>
          <a:solidFill>
            <a:srgbClr val="000066"/>
          </a:solidFill>
        </p:spPr>
        <p:txBody>
          <a:bodyPr wrap="square">
            <a:spAutoFit/>
          </a:bodyPr>
          <a:lstStyle/>
          <a:p>
            <a:pPr>
              <a:lnSpc>
                <a:spcPts val="2600"/>
              </a:lnSpc>
            </a:pPr>
            <a:r>
              <a:rPr lang="en-US" altLang="zh-CN" b="1" kern="500" dirty="0">
                <a:solidFill>
                  <a:schemeClr val="bg1"/>
                </a:solidFill>
                <a:latin typeface="微软雅黑" panose="020B0503020204020204" pitchFamily="34" charset="-122"/>
                <a:ea typeface="微软雅黑" panose="020B0503020204020204" pitchFamily="34" charset="-122"/>
                <a:cs typeface="Times New Roman" panose="02020603050405020304" pitchFamily="18" charset="0"/>
              </a:rPr>
              <a:t>SDN </a:t>
            </a:r>
            <a:r>
              <a:rPr lang="zh-CN" altLang="zh-CN" b="1" kern="500" dirty="0">
                <a:solidFill>
                  <a:schemeClr val="bg1"/>
                </a:solidFill>
                <a:latin typeface="微软雅黑" panose="020B0503020204020204" pitchFamily="34" charset="-122"/>
                <a:ea typeface="微软雅黑" panose="020B0503020204020204" pitchFamily="34" charset="-122"/>
                <a:cs typeface="Times New Roman" panose="02020603050405020304" pitchFamily="18" charset="0"/>
              </a:rPr>
              <a:t>远程控制器通过一个</a:t>
            </a:r>
            <a:r>
              <a:rPr lang="zh-CN" altLang="zh-CN" b="1" kern="500" dirty="0">
                <a:solidFill>
                  <a:srgbClr val="FFC000"/>
                </a:solidFill>
                <a:latin typeface="微软雅黑" panose="020B0503020204020204" pitchFamily="34" charset="-122"/>
                <a:ea typeface="微软雅黑" panose="020B0503020204020204" pitchFamily="34" charset="-122"/>
                <a:cs typeface="Times New Roman" panose="02020603050405020304" pitchFamily="18" charset="0"/>
              </a:rPr>
              <a:t>安全信道，</a:t>
            </a:r>
            <a:r>
              <a:rPr lang="zh-CN" altLang="zh-CN" b="1" kern="500" dirty="0">
                <a:solidFill>
                  <a:schemeClr val="bg1"/>
                </a:solidFill>
                <a:latin typeface="微软雅黑" panose="020B0503020204020204" pitchFamily="34" charset="-122"/>
                <a:ea typeface="微软雅黑" panose="020B0503020204020204" pitchFamily="34" charset="-122"/>
                <a:cs typeface="Times New Roman" panose="02020603050405020304" pitchFamily="18" charset="0"/>
              </a:rPr>
              <a:t>使用</a:t>
            </a:r>
            <a:r>
              <a:rPr lang="en-US" altLang="zh-CN" b="1" kern="500" dirty="0">
                <a:solidFill>
                  <a:schemeClr val="bg1"/>
                </a:solidFill>
                <a:latin typeface="微软雅黑" panose="020B0503020204020204" pitchFamily="34" charset="-122"/>
                <a:ea typeface="微软雅黑" panose="020B0503020204020204" pitchFamily="34" charset="-122"/>
                <a:cs typeface="Times New Roman" panose="02020603050405020304" pitchFamily="18" charset="0"/>
              </a:rPr>
              <a:t> </a:t>
            </a:r>
            <a:r>
              <a:rPr lang="en-US" altLang="zh-CN" b="1" kern="500" dirty="0" err="1">
                <a:solidFill>
                  <a:schemeClr val="bg1"/>
                </a:solidFill>
                <a:latin typeface="微软雅黑" panose="020B0503020204020204" pitchFamily="34" charset="-122"/>
                <a:ea typeface="微软雅黑" panose="020B0503020204020204" pitchFamily="34" charset="-122"/>
              </a:rPr>
              <a:t>OpenFlow</a:t>
            </a:r>
            <a:r>
              <a:rPr lang="en-US" altLang="zh-CN" b="1" kern="500" dirty="0">
                <a:solidFill>
                  <a:schemeClr val="bg1"/>
                </a:solidFill>
                <a:latin typeface="微软雅黑" panose="020B0503020204020204" pitchFamily="34" charset="-122"/>
                <a:ea typeface="微软雅黑" panose="020B0503020204020204" pitchFamily="34" charset="-122"/>
              </a:rPr>
              <a:t> </a:t>
            </a:r>
            <a:r>
              <a:rPr lang="zh-CN" altLang="zh-CN" b="1" kern="500" dirty="0">
                <a:solidFill>
                  <a:schemeClr val="bg1"/>
                </a:solidFill>
                <a:latin typeface="微软雅黑" panose="020B0503020204020204" pitchFamily="34" charset="-122"/>
                <a:ea typeface="微软雅黑" panose="020B0503020204020204" pitchFamily="34" charset="-122"/>
                <a:cs typeface="Times New Roman" panose="02020603050405020304" pitchFamily="18" charset="0"/>
              </a:rPr>
              <a:t>协议来管理</a:t>
            </a:r>
            <a:r>
              <a:rPr lang="en-US" altLang="zh-CN" b="1" kern="500" dirty="0">
                <a:solidFill>
                  <a:schemeClr val="bg1"/>
                </a:solidFill>
                <a:latin typeface="微软雅黑" panose="020B0503020204020204" pitchFamily="34" charset="-122"/>
                <a:ea typeface="微软雅黑" panose="020B0503020204020204" pitchFamily="34" charset="-122"/>
                <a:cs typeface="Times New Roman" panose="02020603050405020304" pitchFamily="18" charset="0"/>
              </a:rPr>
              <a:t> </a:t>
            </a:r>
            <a:r>
              <a:rPr lang="en-US" altLang="zh-CN" b="1" kern="500" dirty="0" err="1">
                <a:solidFill>
                  <a:schemeClr val="bg1"/>
                </a:solidFill>
                <a:latin typeface="微软雅黑" panose="020B0503020204020204" pitchFamily="34" charset="-122"/>
                <a:ea typeface="微软雅黑" panose="020B0503020204020204" pitchFamily="34" charset="-122"/>
              </a:rPr>
              <a:t>OpenFlow</a:t>
            </a:r>
            <a:r>
              <a:rPr lang="en-US" altLang="zh-CN" b="1" kern="500" dirty="0">
                <a:solidFill>
                  <a:schemeClr val="bg1"/>
                </a:solidFill>
                <a:latin typeface="微软雅黑" panose="020B0503020204020204" pitchFamily="34" charset="-122"/>
                <a:ea typeface="微软雅黑" panose="020B0503020204020204" pitchFamily="34" charset="-122"/>
              </a:rPr>
              <a:t> </a:t>
            </a:r>
            <a:r>
              <a:rPr lang="zh-CN" altLang="zh-CN" b="1" kern="500" dirty="0">
                <a:solidFill>
                  <a:schemeClr val="bg1"/>
                </a:solidFill>
                <a:latin typeface="微软雅黑" panose="020B0503020204020204" pitchFamily="34" charset="-122"/>
                <a:ea typeface="微软雅黑" panose="020B0503020204020204" pitchFamily="34" charset="-122"/>
                <a:cs typeface="Times New Roman" panose="02020603050405020304" pitchFamily="18" charset="0"/>
              </a:rPr>
              <a:t>交换机中的流表。</a:t>
            </a:r>
            <a:endParaRPr lang="zh-CN" altLang="en-US" b="1" dirty="0">
              <a:solidFill>
                <a:schemeClr val="bg1"/>
              </a:solidFill>
              <a:latin typeface="微软雅黑" panose="020B0503020204020204" pitchFamily="34" charset="-122"/>
              <a:ea typeface="微软雅黑" panose="020B0503020204020204" pitchFamily="34" charset="-122"/>
            </a:endParaRPr>
          </a:p>
        </p:txBody>
      </p:sp>
      <p:cxnSp>
        <p:nvCxnSpPr>
          <p:cNvPr id="22" name="直接连接符 21"/>
          <p:cNvCxnSpPr/>
          <p:nvPr/>
        </p:nvCxnSpPr>
        <p:spPr>
          <a:xfrm flipV="1">
            <a:off x="2426329" y="2729509"/>
            <a:ext cx="769605" cy="547845"/>
          </a:xfrm>
          <a:prstGeom prst="line">
            <a:avLst/>
          </a:prstGeom>
          <a:ln w="19050">
            <a:solidFill>
              <a:srgbClr val="000066"/>
            </a:solidFill>
          </a:ln>
        </p:spPr>
        <p:style>
          <a:lnRef idx="1">
            <a:schemeClr val="accent1"/>
          </a:lnRef>
          <a:fillRef idx="0">
            <a:schemeClr val="accent1"/>
          </a:fillRef>
          <a:effectRef idx="0">
            <a:schemeClr val="accent1"/>
          </a:effectRef>
          <a:fontRef idx="minor">
            <a:schemeClr val="tx1"/>
          </a:fontRef>
        </p:style>
      </p:cxnSp>
      <p:cxnSp>
        <p:nvCxnSpPr>
          <p:cNvPr id="24" name="直接连接符 23"/>
          <p:cNvCxnSpPr/>
          <p:nvPr/>
        </p:nvCxnSpPr>
        <p:spPr>
          <a:xfrm flipV="1">
            <a:off x="3190528" y="2769935"/>
            <a:ext cx="240541" cy="498159"/>
          </a:xfrm>
          <a:prstGeom prst="line">
            <a:avLst/>
          </a:prstGeom>
          <a:ln w="19050">
            <a:solidFill>
              <a:srgbClr val="000066"/>
            </a:solidFill>
          </a:ln>
        </p:spPr>
        <p:style>
          <a:lnRef idx="1">
            <a:schemeClr val="accent1"/>
          </a:lnRef>
          <a:fillRef idx="0">
            <a:schemeClr val="accent1"/>
          </a:fillRef>
          <a:effectRef idx="0">
            <a:schemeClr val="accent1"/>
          </a:effectRef>
          <a:fontRef idx="minor">
            <a:schemeClr val="tx1"/>
          </a:fontRef>
        </p:style>
      </p:cxnSp>
      <p:cxnSp>
        <p:nvCxnSpPr>
          <p:cNvPr id="26" name="直接连接符 25"/>
          <p:cNvCxnSpPr/>
          <p:nvPr/>
        </p:nvCxnSpPr>
        <p:spPr>
          <a:xfrm flipH="1" flipV="1">
            <a:off x="3981708" y="2699326"/>
            <a:ext cx="782989" cy="578028"/>
          </a:xfrm>
          <a:prstGeom prst="line">
            <a:avLst/>
          </a:prstGeom>
          <a:ln w="19050">
            <a:solidFill>
              <a:srgbClr val="000066"/>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p:nvPr/>
        </p:nvCxnSpPr>
        <p:spPr>
          <a:xfrm flipH="1" flipV="1">
            <a:off x="3779596" y="2769935"/>
            <a:ext cx="242953" cy="487391"/>
          </a:xfrm>
          <a:prstGeom prst="line">
            <a:avLst/>
          </a:prstGeom>
          <a:ln w="19050">
            <a:solidFill>
              <a:srgbClr val="000066"/>
            </a:solidFill>
          </a:ln>
        </p:spPr>
        <p:style>
          <a:lnRef idx="1">
            <a:schemeClr val="accent1"/>
          </a:lnRef>
          <a:fillRef idx="0">
            <a:schemeClr val="accent1"/>
          </a:fillRef>
          <a:effectRef idx="0">
            <a:schemeClr val="accent1"/>
          </a:effectRef>
          <a:fontRef idx="minor">
            <a:schemeClr val="tx1"/>
          </a:fontRef>
        </p:style>
      </p:cxnSp>
      <p:pic>
        <p:nvPicPr>
          <p:cNvPr id="18"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210835" y="3118014"/>
            <a:ext cx="367811" cy="367811"/>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95216" y="3118014"/>
            <a:ext cx="367811" cy="367811"/>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779597" y="3118014"/>
            <a:ext cx="367811" cy="367811"/>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563977" y="3118014"/>
            <a:ext cx="367811" cy="367811"/>
          </a:xfrm>
          <a:prstGeom prst="rect">
            <a:avLst/>
          </a:prstGeom>
          <a:noFill/>
          <a:extLst>
            <a:ext uri="{909E8E84-426E-40DD-AFC4-6F175D3DCCD1}">
              <a14:hiddenFill xmlns:a14="http://schemas.microsoft.com/office/drawing/2010/main">
                <a:solidFill>
                  <a:srgbClr val="FFFFFF"/>
                </a:solidFill>
              </a14:hiddenFill>
            </a:ext>
          </a:extLst>
        </p:spPr>
      </p:pic>
      <p:sp>
        <p:nvSpPr>
          <p:cNvPr id="8" name="TextBox 180"/>
          <p:cNvSpPr txBox="1"/>
          <p:nvPr/>
        </p:nvSpPr>
        <p:spPr>
          <a:xfrm>
            <a:off x="2642893" y="1108432"/>
            <a:ext cx="1903086" cy="338554"/>
          </a:xfrm>
          <a:prstGeom prst="rect">
            <a:avLst/>
          </a:prstGeom>
          <a:noFill/>
        </p:spPr>
        <p:txBody>
          <a:bodyPr wrap="none" rtlCol="0">
            <a:spAutoFit/>
          </a:bodyPr>
          <a:lstStyle/>
          <a:p>
            <a:pPr algn="ctr"/>
            <a:r>
              <a:rPr lang="en-US" altLang="zh-CN" sz="1600" b="1" dirty="0" err="1">
                <a:latin typeface="微软雅黑" panose="020B0503020204020204" pitchFamily="34" charset="-122"/>
                <a:ea typeface="微软雅黑" panose="020B0503020204020204" pitchFamily="34" charset="-122"/>
                <a:cs typeface="Times New Roman" pitchFamily="18" charset="0"/>
              </a:rPr>
              <a:t>OpenFlow</a:t>
            </a:r>
            <a:r>
              <a:rPr lang="en-US" altLang="zh-CN" sz="1600" b="1" dirty="0">
                <a:latin typeface="微软雅黑" panose="020B0503020204020204" pitchFamily="34" charset="-122"/>
                <a:ea typeface="微软雅黑" panose="020B0503020204020204" pitchFamily="34" charset="-122"/>
                <a:cs typeface="Times New Roman" pitchFamily="18" charset="0"/>
              </a:rPr>
              <a:t> </a:t>
            </a:r>
            <a:r>
              <a:rPr lang="zh-CN" altLang="en-US" sz="1600" b="1" dirty="0">
                <a:latin typeface="微软雅黑" panose="020B0503020204020204" pitchFamily="34" charset="-122"/>
                <a:ea typeface="微软雅黑" panose="020B0503020204020204" pitchFamily="34" charset="-122"/>
              </a:rPr>
              <a:t>交换机</a:t>
            </a:r>
          </a:p>
        </p:txBody>
      </p:sp>
      <p:pic>
        <p:nvPicPr>
          <p:cNvPr id="9" name="Picture 21"/>
          <p:cNvPicPr>
            <a:picLocks noChangeArrowheads="1"/>
          </p:cNvPicPr>
          <p:nvPr/>
        </p:nvPicPr>
        <p:blipFill>
          <a:blip r:embed="rId3" cstate="print"/>
          <a:srcRect/>
          <a:stretch>
            <a:fillRect/>
          </a:stretch>
        </p:blipFill>
        <p:spPr bwMode="auto">
          <a:xfrm>
            <a:off x="5871741" y="1379748"/>
            <a:ext cx="347989" cy="818828"/>
          </a:xfrm>
          <a:prstGeom prst="rect">
            <a:avLst/>
          </a:prstGeom>
          <a:noFill/>
          <a:ln w="12699">
            <a:noFill/>
            <a:miter lim="800000"/>
            <a:headEnd/>
            <a:tailEnd/>
          </a:ln>
          <a:effectLst/>
        </p:spPr>
      </p:pic>
      <p:sp>
        <p:nvSpPr>
          <p:cNvPr id="10" name="圆柱形 9"/>
          <p:cNvSpPr/>
          <p:nvPr/>
        </p:nvSpPr>
        <p:spPr>
          <a:xfrm>
            <a:off x="2973315" y="1406488"/>
            <a:ext cx="1224136" cy="1440160"/>
          </a:xfrm>
          <a:prstGeom prst="can">
            <a:avLst/>
          </a:prstGeom>
          <a:gradFill flip="none" rotWithShape="1">
            <a:gsLst>
              <a:gs pos="0">
                <a:schemeClr val="tx2">
                  <a:lumMod val="60000"/>
                  <a:lumOff val="40000"/>
                  <a:shade val="30000"/>
                  <a:satMod val="115000"/>
                </a:schemeClr>
              </a:gs>
              <a:gs pos="50000">
                <a:schemeClr val="tx2">
                  <a:lumMod val="60000"/>
                  <a:lumOff val="40000"/>
                  <a:shade val="67500"/>
                  <a:satMod val="115000"/>
                </a:schemeClr>
              </a:gs>
              <a:gs pos="100000">
                <a:schemeClr val="tx2">
                  <a:lumMod val="60000"/>
                  <a:lumOff val="40000"/>
                  <a:shade val="100000"/>
                  <a:satMod val="115000"/>
                </a:schemeClr>
              </a:gs>
            </a:gsLst>
            <a:lin ang="0" scaled="1"/>
            <a:tileRect/>
          </a:gra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cxnSp>
        <p:nvCxnSpPr>
          <p:cNvPr id="11" name="直接连接符 10"/>
          <p:cNvCxnSpPr/>
          <p:nvPr/>
        </p:nvCxnSpPr>
        <p:spPr>
          <a:xfrm>
            <a:off x="3117331" y="2198576"/>
            <a:ext cx="936104" cy="0"/>
          </a:xfrm>
          <a:prstGeom prst="line">
            <a:avLst/>
          </a:prstGeom>
          <a:ln w="2857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12" name="矩形 11"/>
          <p:cNvSpPr/>
          <p:nvPr/>
        </p:nvSpPr>
        <p:spPr>
          <a:xfrm>
            <a:off x="3082516" y="1778826"/>
            <a:ext cx="1008112" cy="2880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tx1"/>
                </a:solidFill>
                <a:latin typeface="微软雅黑" panose="020B0503020204020204" pitchFamily="34" charset="-122"/>
                <a:ea typeface="微软雅黑" panose="020B0503020204020204" pitchFamily="34" charset="-122"/>
              </a:rPr>
              <a:t>安全信道</a:t>
            </a:r>
          </a:p>
        </p:txBody>
      </p:sp>
      <p:sp>
        <p:nvSpPr>
          <p:cNvPr id="13" name="矩形 12"/>
          <p:cNvSpPr/>
          <p:nvPr/>
        </p:nvSpPr>
        <p:spPr>
          <a:xfrm>
            <a:off x="3190528" y="2342592"/>
            <a:ext cx="792088" cy="2880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tx1"/>
                </a:solidFill>
                <a:latin typeface="微软雅黑" panose="020B0503020204020204" pitchFamily="34" charset="-122"/>
                <a:ea typeface="微软雅黑" panose="020B0503020204020204" pitchFamily="34" charset="-122"/>
              </a:rPr>
              <a:t>流表</a:t>
            </a:r>
          </a:p>
        </p:txBody>
      </p:sp>
      <p:sp>
        <p:nvSpPr>
          <p:cNvPr id="14" name="TextBox 73"/>
          <p:cNvSpPr txBox="1"/>
          <p:nvPr/>
        </p:nvSpPr>
        <p:spPr>
          <a:xfrm>
            <a:off x="5383377" y="2194220"/>
            <a:ext cx="1324715" cy="584775"/>
          </a:xfrm>
          <a:prstGeom prst="rect">
            <a:avLst/>
          </a:prstGeom>
          <a:noFill/>
        </p:spPr>
        <p:txBody>
          <a:bodyPr wrap="square" rtlCol="0">
            <a:spAutoFit/>
          </a:bodyPr>
          <a:lstStyle/>
          <a:p>
            <a:pPr algn="ctr"/>
            <a:r>
              <a:rPr lang="en-US" altLang="zh-CN" sz="1600" b="1" dirty="0">
                <a:latin typeface="微软雅黑" panose="020B0503020204020204" pitchFamily="34" charset="-122"/>
                <a:ea typeface="微软雅黑" panose="020B0503020204020204" pitchFamily="34" charset="-122"/>
                <a:cs typeface="Times New Roman" pitchFamily="18" charset="0"/>
              </a:rPr>
              <a:t>SDN</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远程</a:t>
            </a:r>
            <a:endParaRPr lang="en-US" altLang="zh-CN" sz="1600" b="1" dirty="0">
              <a:latin typeface="微软雅黑" panose="020B0503020204020204" pitchFamily="34" charset="-122"/>
              <a:ea typeface="微软雅黑" panose="020B0503020204020204" pitchFamily="34" charset="-122"/>
            </a:endParaRPr>
          </a:p>
          <a:p>
            <a:pPr algn="ctr"/>
            <a:r>
              <a:rPr lang="zh-CN" altLang="en-US" sz="1600" b="1" dirty="0">
                <a:latin typeface="微软雅黑" panose="020B0503020204020204" pitchFamily="34" charset="-122"/>
                <a:ea typeface="微软雅黑" panose="020B0503020204020204" pitchFamily="34" charset="-122"/>
              </a:rPr>
              <a:t>控制器</a:t>
            </a:r>
          </a:p>
        </p:txBody>
      </p:sp>
      <p:sp>
        <p:nvSpPr>
          <p:cNvPr id="15" name="TextBox 85"/>
          <p:cNvSpPr txBox="1"/>
          <p:nvPr/>
        </p:nvSpPr>
        <p:spPr>
          <a:xfrm rot="21129718">
            <a:off x="4176486" y="1501176"/>
            <a:ext cx="1697901" cy="338554"/>
          </a:xfrm>
          <a:prstGeom prst="rect">
            <a:avLst/>
          </a:prstGeom>
          <a:noFill/>
        </p:spPr>
        <p:txBody>
          <a:bodyPr wrap="none" rtlCol="0">
            <a:spAutoFit/>
          </a:bodyPr>
          <a:lstStyle/>
          <a:p>
            <a:pPr algn="ctr"/>
            <a:r>
              <a:rPr lang="en-US" altLang="zh-CN" sz="1600" b="1" dirty="0" err="1">
                <a:latin typeface="微软雅黑" panose="020B0503020204020204" pitchFamily="34" charset="-122"/>
                <a:ea typeface="微软雅黑" panose="020B0503020204020204" pitchFamily="34" charset="-122"/>
                <a:cs typeface="Times New Roman" pitchFamily="18" charset="0"/>
              </a:rPr>
              <a:t>OpenFlow</a:t>
            </a:r>
            <a:r>
              <a:rPr lang="en-US" altLang="zh-CN" sz="1600" b="1" dirty="0">
                <a:latin typeface="微软雅黑" panose="020B0503020204020204" pitchFamily="34" charset="-122"/>
                <a:ea typeface="微软雅黑" panose="020B0503020204020204" pitchFamily="34" charset="-122"/>
                <a:cs typeface="Times New Roman" pitchFamily="18" charset="0"/>
              </a:rPr>
              <a:t> </a:t>
            </a:r>
            <a:r>
              <a:rPr lang="zh-CN" altLang="en-US" sz="1600" b="1" dirty="0">
                <a:latin typeface="微软雅黑" panose="020B0503020204020204" pitchFamily="34" charset="-122"/>
                <a:ea typeface="微软雅黑" panose="020B0503020204020204" pitchFamily="34" charset="-122"/>
                <a:cs typeface="Times New Roman" pitchFamily="18" charset="0"/>
              </a:rPr>
              <a:t>协议</a:t>
            </a:r>
            <a:endParaRPr lang="zh-CN" altLang="en-US" sz="1600" b="1" dirty="0">
              <a:latin typeface="微软雅黑" panose="020B0503020204020204" pitchFamily="34" charset="-122"/>
              <a:ea typeface="微软雅黑" panose="020B0503020204020204" pitchFamily="34" charset="-122"/>
            </a:endParaRPr>
          </a:p>
        </p:txBody>
      </p:sp>
      <p:sp>
        <p:nvSpPr>
          <p:cNvPr id="7" name="Line 107"/>
          <p:cNvSpPr>
            <a:spLocks noChangeShapeType="1"/>
          </p:cNvSpPr>
          <p:nvPr/>
        </p:nvSpPr>
        <p:spPr bwMode="auto">
          <a:xfrm flipH="1">
            <a:off x="4090627" y="1683015"/>
            <a:ext cx="1795973" cy="251403"/>
          </a:xfrm>
          <a:prstGeom prst="line">
            <a:avLst/>
          </a:prstGeom>
          <a:noFill/>
          <a:ln w="9525">
            <a:solidFill>
              <a:schemeClr val="tx1"/>
            </a:solidFill>
            <a:round/>
            <a:headEnd type="triangle" w="sm" len="lg"/>
            <a:tailEnd type="triangle" w="sm" len="lg"/>
          </a:ln>
        </p:spPr>
        <p:txBody>
          <a:bodyPr/>
          <a:lstStyle/>
          <a:p>
            <a:endParaRPr lang="zh-CN" altLang="en-US" b="1">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32045822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圆角矩形 52"/>
          <p:cNvSpPr/>
          <p:nvPr/>
        </p:nvSpPr>
        <p:spPr>
          <a:xfrm>
            <a:off x="545144" y="1017562"/>
            <a:ext cx="8053711" cy="264909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5" name="AutoShape 5"/>
          <p:cNvSpPr>
            <a:spLocks noChangeArrowheads="1"/>
          </p:cNvSpPr>
          <p:nvPr/>
        </p:nvSpPr>
        <p:spPr bwMode="auto">
          <a:xfrm>
            <a:off x="545144" y="614144"/>
            <a:ext cx="8053711" cy="353930"/>
          </a:xfrm>
          <a:prstGeom prst="roundRect">
            <a:avLst>
              <a:gd name="adj" fmla="val 16667"/>
            </a:avLst>
          </a:prstGeom>
          <a:solidFill>
            <a:srgbClr val="00B050"/>
          </a:solidFill>
          <a:ln>
            <a:noFill/>
          </a:ln>
          <a:effectLst/>
        </p:spPr>
        <p:txBody>
          <a:bodyPr wrap="none" anchor="ctr"/>
          <a:lstStyle/>
          <a:p>
            <a:endParaRPr lang="zh-CN" altLang="en-US" sz="1200"/>
          </a:p>
        </p:txBody>
      </p:sp>
      <p:sp>
        <p:nvSpPr>
          <p:cNvPr id="6" name="Rectangle 6"/>
          <p:cNvSpPr>
            <a:spLocks noChangeArrowheads="1"/>
          </p:cNvSpPr>
          <p:nvPr/>
        </p:nvSpPr>
        <p:spPr bwMode="auto">
          <a:xfrm>
            <a:off x="1941968" y="5809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流表结构</a:t>
            </a:r>
          </a:p>
        </p:txBody>
      </p:sp>
      <p:cxnSp>
        <p:nvCxnSpPr>
          <p:cNvPr id="16" name="直接箭头连接符 15"/>
          <p:cNvCxnSpPr/>
          <p:nvPr/>
        </p:nvCxnSpPr>
        <p:spPr>
          <a:xfrm flipV="1">
            <a:off x="1463720" y="3457201"/>
            <a:ext cx="2826134" cy="1458"/>
          </a:xfrm>
          <a:prstGeom prst="straightConnector1">
            <a:avLst/>
          </a:prstGeom>
          <a:ln w="19050">
            <a:solidFill>
              <a:srgbClr val="000066"/>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7" name="直接箭头连接符 16"/>
          <p:cNvCxnSpPr/>
          <p:nvPr/>
        </p:nvCxnSpPr>
        <p:spPr>
          <a:xfrm>
            <a:off x="4295881" y="3457201"/>
            <a:ext cx="2692750" cy="5646"/>
          </a:xfrm>
          <a:prstGeom prst="straightConnector1">
            <a:avLst/>
          </a:prstGeom>
          <a:ln w="19050">
            <a:solidFill>
              <a:srgbClr val="C00000"/>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8" name="直接箭头连接符 17"/>
          <p:cNvCxnSpPr/>
          <p:nvPr/>
        </p:nvCxnSpPr>
        <p:spPr>
          <a:xfrm>
            <a:off x="6983934" y="3457201"/>
            <a:ext cx="1426733" cy="1516"/>
          </a:xfrm>
          <a:prstGeom prst="straightConnector1">
            <a:avLst/>
          </a:prstGeom>
          <a:ln w="19050">
            <a:solidFill>
              <a:srgbClr val="660066"/>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1483302" y="2663293"/>
            <a:ext cx="0" cy="595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直接连接符 20"/>
          <p:cNvCxnSpPr>
            <a:endCxn id="19" idx="3"/>
          </p:cNvCxnSpPr>
          <p:nvPr/>
        </p:nvCxnSpPr>
        <p:spPr>
          <a:xfrm>
            <a:off x="1489315" y="2955231"/>
            <a:ext cx="6909104" cy="577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TextBox 12"/>
          <p:cNvSpPr txBox="1"/>
          <p:nvPr/>
        </p:nvSpPr>
        <p:spPr>
          <a:xfrm>
            <a:off x="2082258" y="2689294"/>
            <a:ext cx="6370077" cy="276999"/>
          </a:xfrm>
          <a:prstGeom prst="rect">
            <a:avLst/>
          </a:prstGeom>
          <a:noFill/>
        </p:spPr>
        <p:txBody>
          <a:bodyPr wrap="none" rtlCol="0">
            <a:spAutoFit/>
          </a:bodyPr>
          <a:lstStyle/>
          <a:p>
            <a:r>
              <a:rPr lang="zh-CN" altLang="en-US" sz="1200" b="1" dirty="0">
                <a:solidFill>
                  <a:srgbClr val="000066"/>
                </a:solidFill>
                <a:latin typeface="微软雅黑" panose="020B0503020204020204" pitchFamily="34" charset="-122"/>
                <a:ea typeface="微软雅黑" panose="020B0503020204020204" pitchFamily="34" charset="-122"/>
                <a:cs typeface="Times New Roman" pitchFamily="18" charset="0"/>
              </a:rPr>
              <a:t>以太网                     </a:t>
            </a:r>
            <a:r>
              <a:rPr lang="en-US" altLang="zh-CN" sz="1200" b="1" dirty="0">
                <a:solidFill>
                  <a:srgbClr val="000066"/>
                </a:solidFill>
                <a:latin typeface="微软雅黑" panose="020B0503020204020204" pitchFamily="34" charset="-122"/>
                <a:ea typeface="微软雅黑" panose="020B0503020204020204" pitchFamily="34" charset="-122"/>
                <a:cs typeface="Times New Roman" pitchFamily="18" charset="0"/>
              </a:rPr>
              <a:t>VLAN </a:t>
            </a:r>
            <a:r>
              <a:rPr lang="en-US" altLang="zh-CN" sz="1200" b="1" dirty="0">
                <a:latin typeface="微软雅黑" panose="020B0503020204020204" pitchFamily="34" charset="-122"/>
                <a:ea typeface="微软雅黑" panose="020B0503020204020204" pitchFamily="34" charset="-122"/>
                <a:cs typeface="Times New Roman" pitchFamily="18" charset="0"/>
              </a:rPr>
              <a:t>                                  </a:t>
            </a:r>
            <a:r>
              <a:rPr lang="en-US" altLang="zh-CN" sz="1200" b="1" dirty="0">
                <a:solidFill>
                  <a:srgbClr val="C00000"/>
                </a:solidFill>
                <a:latin typeface="微软雅黑" panose="020B0503020204020204" pitchFamily="34" charset="-122"/>
                <a:ea typeface="微软雅黑" panose="020B0503020204020204" pitchFamily="34" charset="-122"/>
                <a:cs typeface="Times New Roman" pitchFamily="18" charset="0"/>
              </a:rPr>
              <a:t>IP</a:t>
            </a:r>
            <a:r>
              <a:rPr lang="en-US" altLang="zh-CN" sz="1200" b="1" dirty="0">
                <a:latin typeface="微软雅黑" panose="020B0503020204020204" pitchFamily="34" charset="-122"/>
                <a:ea typeface="微软雅黑" panose="020B0503020204020204" pitchFamily="34" charset="-122"/>
                <a:cs typeface="Times New Roman" pitchFamily="18" charset="0"/>
              </a:rPr>
              <a:t>                                  </a:t>
            </a:r>
            <a:r>
              <a:rPr lang="en-US" altLang="zh-CN" sz="1200" b="1" dirty="0">
                <a:solidFill>
                  <a:srgbClr val="660066"/>
                </a:solidFill>
                <a:latin typeface="微软雅黑" panose="020B0503020204020204" pitchFamily="34" charset="-122"/>
                <a:ea typeface="微软雅黑" panose="020B0503020204020204" pitchFamily="34" charset="-122"/>
                <a:cs typeface="Times New Roman" pitchFamily="18" charset="0"/>
              </a:rPr>
              <a:t>TCP/UDP</a:t>
            </a:r>
            <a:endParaRPr lang="zh-CN" altLang="en-US" sz="1200" b="1" dirty="0">
              <a:solidFill>
                <a:srgbClr val="660066"/>
              </a:solidFill>
              <a:latin typeface="微软雅黑" panose="020B0503020204020204" pitchFamily="34" charset="-122"/>
              <a:ea typeface="微软雅黑" panose="020B0503020204020204" pitchFamily="34" charset="-122"/>
              <a:cs typeface="Times New Roman" pitchFamily="18" charset="0"/>
            </a:endParaRPr>
          </a:p>
        </p:txBody>
      </p:sp>
      <p:sp>
        <p:nvSpPr>
          <p:cNvPr id="23" name="TextBox 14"/>
          <p:cNvSpPr txBox="1"/>
          <p:nvPr/>
        </p:nvSpPr>
        <p:spPr>
          <a:xfrm>
            <a:off x="853839" y="2834279"/>
            <a:ext cx="604937" cy="254499"/>
          </a:xfrm>
          <a:prstGeom prst="rect">
            <a:avLst/>
          </a:prstGeom>
          <a:noFill/>
        </p:spPr>
        <p:txBody>
          <a:bodyPr wrap="none" rtlCol="0">
            <a:spAutoFit/>
          </a:bodyPr>
          <a:lstStyle/>
          <a:p>
            <a:r>
              <a:rPr lang="zh-CN" altLang="en-US" sz="1200" b="1" dirty="0">
                <a:latin typeface="微软雅黑" panose="020B0503020204020204" pitchFamily="34" charset="-122"/>
                <a:ea typeface="微软雅黑" panose="020B0503020204020204" pitchFamily="34" charset="-122"/>
                <a:cs typeface="Times New Roman" pitchFamily="18" charset="0"/>
              </a:rPr>
              <a:t>入端口</a:t>
            </a:r>
          </a:p>
        </p:txBody>
      </p:sp>
      <p:sp>
        <p:nvSpPr>
          <p:cNvPr id="24" name="TextBox 10"/>
          <p:cNvSpPr txBox="1"/>
          <p:nvPr/>
        </p:nvSpPr>
        <p:spPr>
          <a:xfrm>
            <a:off x="1500638" y="2982807"/>
            <a:ext cx="7002238" cy="276999"/>
          </a:xfrm>
          <a:prstGeom prst="rect">
            <a:avLst/>
          </a:prstGeom>
          <a:noFill/>
        </p:spPr>
        <p:txBody>
          <a:bodyPr wrap="none" rtlCol="0">
            <a:spAutoFit/>
          </a:bodyPr>
          <a:lstStyle/>
          <a:p>
            <a:r>
              <a:rPr lang="zh-CN" altLang="en-US" sz="1200" b="1" dirty="0">
                <a:solidFill>
                  <a:srgbClr val="000066"/>
                </a:solidFill>
                <a:latin typeface="微软雅黑" panose="020B0503020204020204" pitchFamily="34" charset="-122"/>
                <a:ea typeface="微软雅黑" panose="020B0503020204020204" pitchFamily="34" charset="-122"/>
                <a:cs typeface="Times New Roman" pitchFamily="18" charset="0"/>
              </a:rPr>
              <a:t>源地址   目的地址    类型   </a:t>
            </a:r>
            <a:r>
              <a:rPr lang="en-US" altLang="zh-CN" sz="1200" b="1" dirty="0">
                <a:solidFill>
                  <a:srgbClr val="000066"/>
                </a:solidFill>
                <a:latin typeface="微软雅黑" panose="020B0503020204020204" pitchFamily="34" charset="-122"/>
                <a:ea typeface="微软雅黑" panose="020B0503020204020204" pitchFamily="34" charset="-122"/>
                <a:cs typeface="Times New Roman" pitchFamily="18" charset="0"/>
              </a:rPr>
              <a:t>ID    </a:t>
            </a:r>
            <a:r>
              <a:rPr lang="zh-CN" altLang="en-US" sz="1200" b="1" dirty="0">
                <a:solidFill>
                  <a:srgbClr val="000066"/>
                </a:solidFill>
                <a:latin typeface="微软雅黑" panose="020B0503020204020204" pitchFamily="34" charset="-122"/>
                <a:ea typeface="微软雅黑" panose="020B0503020204020204" pitchFamily="34" charset="-122"/>
                <a:cs typeface="Times New Roman" pitchFamily="18" charset="0"/>
              </a:rPr>
              <a:t>优先级 </a:t>
            </a:r>
            <a:r>
              <a:rPr lang="zh-CN" altLang="en-US" sz="1200" b="1" dirty="0">
                <a:latin typeface="微软雅黑" panose="020B0503020204020204" pitchFamily="34" charset="-122"/>
                <a:ea typeface="微软雅黑" panose="020B0503020204020204" pitchFamily="34" charset="-122"/>
                <a:cs typeface="Times New Roman" pitchFamily="18" charset="0"/>
              </a:rPr>
              <a:t>   </a:t>
            </a:r>
            <a:r>
              <a:rPr lang="zh-CN" altLang="en-US" sz="1200" b="1" dirty="0">
                <a:solidFill>
                  <a:srgbClr val="C00000"/>
                </a:solidFill>
                <a:latin typeface="微软雅黑" panose="020B0503020204020204" pitchFamily="34" charset="-122"/>
                <a:ea typeface="微软雅黑" panose="020B0503020204020204" pitchFamily="34" charset="-122"/>
                <a:cs typeface="Times New Roman" pitchFamily="18" charset="0"/>
              </a:rPr>
              <a:t>源地址    目的地址    协议   服务类型</a:t>
            </a:r>
            <a:r>
              <a:rPr lang="zh-CN" altLang="en-US" sz="1200" b="1" dirty="0">
                <a:latin typeface="微软雅黑" panose="020B0503020204020204" pitchFamily="34" charset="-122"/>
                <a:ea typeface="微软雅黑" panose="020B0503020204020204" pitchFamily="34" charset="-122"/>
                <a:cs typeface="Times New Roman" pitchFamily="18" charset="0"/>
              </a:rPr>
              <a:t>    </a:t>
            </a:r>
            <a:r>
              <a:rPr lang="zh-CN" altLang="en-US" sz="1200" b="1" dirty="0">
                <a:solidFill>
                  <a:srgbClr val="660066"/>
                </a:solidFill>
                <a:latin typeface="微软雅黑" panose="020B0503020204020204" pitchFamily="34" charset="-122"/>
                <a:ea typeface="微软雅黑" panose="020B0503020204020204" pitchFamily="34" charset="-122"/>
                <a:cs typeface="Times New Roman" pitchFamily="18" charset="0"/>
              </a:rPr>
              <a:t>源端口    目的端口</a:t>
            </a:r>
          </a:p>
        </p:txBody>
      </p:sp>
      <p:cxnSp>
        <p:nvCxnSpPr>
          <p:cNvPr id="25" name="直接连接符 24"/>
          <p:cNvCxnSpPr/>
          <p:nvPr/>
        </p:nvCxnSpPr>
        <p:spPr>
          <a:xfrm>
            <a:off x="3370397" y="2663293"/>
            <a:ext cx="0" cy="595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接连接符 25"/>
          <p:cNvCxnSpPr/>
          <p:nvPr/>
        </p:nvCxnSpPr>
        <p:spPr>
          <a:xfrm>
            <a:off x="4287200" y="2672044"/>
            <a:ext cx="0" cy="595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直接连接符 26"/>
          <p:cNvCxnSpPr/>
          <p:nvPr/>
        </p:nvCxnSpPr>
        <p:spPr>
          <a:xfrm>
            <a:off x="6989853" y="2660490"/>
            <a:ext cx="0" cy="595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flipH="1">
            <a:off x="2089869" y="2946480"/>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flipH="1">
            <a:off x="7634061" y="2955736"/>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flipH="1">
            <a:off x="6202644" y="2959815"/>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p:nvPr/>
        </p:nvCxnSpPr>
        <p:spPr>
          <a:xfrm flipH="1">
            <a:off x="2907927" y="2962694"/>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接连接符 31"/>
          <p:cNvCxnSpPr/>
          <p:nvPr/>
        </p:nvCxnSpPr>
        <p:spPr>
          <a:xfrm flipH="1">
            <a:off x="5758378" y="2957062"/>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flipH="1">
            <a:off x="4968122" y="2964765"/>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flipH="1">
            <a:off x="3678628" y="2949131"/>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TextBox 54"/>
          <p:cNvSpPr txBox="1"/>
          <p:nvPr/>
        </p:nvSpPr>
        <p:spPr>
          <a:xfrm>
            <a:off x="2575527" y="3312574"/>
            <a:ext cx="604937" cy="254499"/>
          </a:xfrm>
          <a:prstGeom prst="rect">
            <a:avLst/>
          </a:prstGeom>
          <a:solidFill>
            <a:srgbClr val="C3E3F9"/>
          </a:solidFill>
        </p:spPr>
        <p:txBody>
          <a:bodyPr wrap="none" rtlCol="0">
            <a:spAutoFit/>
          </a:bodyPr>
          <a:lstStyle/>
          <a:p>
            <a:r>
              <a:rPr lang="zh-CN" altLang="en-US" sz="1200" b="1" dirty="0">
                <a:latin typeface="微软雅黑" panose="020B0503020204020204" pitchFamily="34" charset="-122"/>
                <a:ea typeface="微软雅黑" panose="020B0503020204020204" pitchFamily="34" charset="-122"/>
                <a:cs typeface="Times New Roman" pitchFamily="18" charset="0"/>
              </a:rPr>
              <a:t>链路层</a:t>
            </a:r>
          </a:p>
        </p:txBody>
      </p:sp>
      <p:sp>
        <p:nvSpPr>
          <p:cNvPr id="36" name="TextBox 55"/>
          <p:cNvSpPr txBox="1"/>
          <p:nvPr/>
        </p:nvSpPr>
        <p:spPr>
          <a:xfrm>
            <a:off x="5303829" y="3312572"/>
            <a:ext cx="604937" cy="254499"/>
          </a:xfrm>
          <a:prstGeom prst="rect">
            <a:avLst/>
          </a:prstGeom>
          <a:solidFill>
            <a:srgbClr val="C3E3F9"/>
          </a:solidFill>
        </p:spPr>
        <p:txBody>
          <a:bodyPr wrap="none" rtlCol="0">
            <a:spAutoFit/>
          </a:bodyPr>
          <a:lstStyle/>
          <a:p>
            <a:r>
              <a:rPr lang="zh-CN" altLang="en-US" sz="1200" b="1" dirty="0">
                <a:latin typeface="微软雅黑" panose="020B0503020204020204" pitchFamily="34" charset="-122"/>
                <a:ea typeface="微软雅黑" panose="020B0503020204020204" pitchFamily="34" charset="-122"/>
                <a:cs typeface="Times New Roman" pitchFamily="18" charset="0"/>
              </a:rPr>
              <a:t>网络层</a:t>
            </a:r>
          </a:p>
        </p:txBody>
      </p:sp>
      <p:sp>
        <p:nvSpPr>
          <p:cNvPr id="37" name="TextBox 56"/>
          <p:cNvSpPr txBox="1"/>
          <p:nvPr/>
        </p:nvSpPr>
        <p:spPr>
          <a:xfrm>
            <a:off x="7318657" y="3312572"/>
            <a:ext cx="604937" cy="254499"/>
          </a:xfrm>
          <a:prstGeom prst="rect">
            <a:avLst/>
          </a:prstGeom>
          <a:solidFill>
            <a:srgbClr val="C3E3F9"/>
          </a:solidFill>
        </p:spPr>
        <p:txBody>
          <a:bodyPr wrap="none" rtlCol="0">
            <a:spAutoFit/>
          </a:bodyPr>
          <a:lstStyle/>
          <a:p>
            <a:r>
              <a:rPr lang="zh-CN" altLang="en-US" sz="1200" b="1" dirty="0">
                <a:latin typeface="微软雅黑" panose="020B0503020204020204" pitchFamily="34" charset="-122"/>
                <a:ea typeface="微软雅黑" panose="020B0503020204020204" pitchFamily="34" charset="-122"/>
                <a:cs typeface="Times New Roman" pitchFamily="18" charset="0"/>
              </a:rPr>
              <a:t>运输层</a:t>
            </a:r>
          </a:p>
        </p:txBody>
      </p:sp>
      <p:sp>
        <p:nvSpPr>
          <p:cNvPr id="38" name="TextBox 57"/>
          <p:cNvSpPr txBox="1"/>
          <p:nvPr/>
        </p:nvSpPr>
        <p:spPr>
          <a:xfrm>
            <a:off x="2198919" y="1105517"/>
            <a:ext cx="2729129" cy="1050988"/>
          </a:xfrm>
          <a:prstGeom prst="rect">
            <a:avLst/>
          </a:prstGeom>
          <a:noFill/>
        </p:spPr>
        <p:txBody>
          <a:bodyPr wrap="square" rtlCol="0">
            <a:spAutoFit/>
          </a:bodyPr>
          <a:lstStyle/>
          <a:p>
            <a:pPr>
              <a:lnSpc>
                <a:spcPts val="1700"/>
              </a:lnSpc>
              <a:spcAft>
                <a:spcPts val="600"/>
              </a:spcAft>
            </a:pPr>
            <a:r>
              <a:rPr lang="zh-CN" altLang="en-US" sz="1200" b="1" dirty="0">
                <a:latin typeface="微软雅黑" panose="020B0503020204020204" pitchFamily="34" charset="-122"/>
                <a:ea typeface="微软雅黑" panose="020B0503020204020204" pitchFamily="34" charset="-122"/>
                <a:cs typeface="Times New Roman" pitchFamily="18" charset="0"/>
              </a:rPr>
              <a:t>首部字段值        计数器           动作</a:t>
            </a: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nSpc>
                <a:spcPts val="1700"/>
              </a:lnSpc>
            </a:pPr>
            <a:r>
              <a:rPr lang="zh-CN" altLang="en-US" sz="1200" b="1" dirty="0">
                <a:latin typeface="微软雅黑" panose="020B0503020204020204" pitchFamily="34" charset="-122"/>
                <a:ea typeface="微软雅黑" panose="020B0503020204020204" pitchFamily="34" charset="-122"/>
                <a:cs typeface="Times New Roman" pitchFamily="18" charset="0"/>
              </a:rPr>
              <a:t>首部字段值        计数器           动作</a:t>
            </a: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nSpc>
                <a:spcPts val="1700"/>
              </a:lnSpc>
            </a:pP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nSpc>
                <a:spcPts val="1700"/>
              </a:lnSpc>
              <a:spcAft>
                <a:spcPts val="1200"/>
              </a:spcAft>
            </a:pPr>
            <a:r>
              <a:rPr lang="zh-CN" altLang="en-US" sz="1200" b="1" dirty="0">
                <a:latin typeface="微软雅黑" panose="020B0503020204020204" pitchFamily="34" charset="-122"/>
                <a:ea typeface="微软雅黑" panose="020B0503020204020204" pitchFamily="34" charset="-122"/>
                <a:cs typeface="Times New Roman" pitchFamily="18" charset="0"/>
              </a:rPr>
              <a:t>首部字段值        计数器           动作</a:t>
            </a:r>
            <a:endParaRPr lang="en-US" altLang="zh-CN" sz="1200" b="1" dirty="0">
              <a:latin typeface="微软雅黑" panose="020B0503020204020204" pitchFamily="34" charset="-122"/>
              <a:ea typeface="微软雅黑" panose="020B0503020204020204" pitchFamily="34" charset="-122"/>
              <a:cs typeface="Times New Roman" pitchFamily="18" charset="0"/>
            </a:endParaRPr>
          </a:p>
        </p:txBody>
      </p:sp>
      <p:grpSp>
        <p:nvGrpSpPr>
          <p:cNvPr id="40" name="组合 39"/>
          <p:cNvGrpSpPr/>
          <p:nvPr/>
        </p:nvGrpSpPr>
        <p:grpSpPr>
          <a:xfrm>
            <a:off x="2159745" y="1398001"/>
            <a:ext cx="2847436" cy="459135"/>
            <a:chOff x="3185906" y="1442434"/>
            <a:chExt cx="2405342" cy="499726"/>
          </a:xfrm>
        </p:grpSpPr>
        <p:cxnSp>
          <p:nvCxnSpPr>
            <p:cNvPr id="41" name="直接连接符 40"/>
            <p:cNvCxnSpPr/>
            <p:nvPr/>
          </p:nvCxnSpPr>
          <p:spPr>
            <a:xfrm>
              <a:off x="3214984" y="1442434"/>
              <a:ext cx="237626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a:xfrm>
              <a:off x="3185906" y="1727714"/>
              <a:ext cx="237626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a:off x="3204215" y="1942160"/>
              <a:ext cx="237626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 name="直接连接符 43"/>
          <p:cNvCxnSpPr/>
          <p:nvPr/>
        </p:nvCxnSpPr>
        <p:spPr>
          <a:xfrm>
            <a:off x="4131028" y="1102182"/>
            <a:ext cx="1" cy="101761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接连接符 44"/>
          <p:cNvCxnSpPr/>
          <p:nvPr/>
        </p:nvCxnSpPr>
        <p:spPr>
          <a:xfrm>
            <a:off x="3223644" y="1100199"/>
            <a:ext cx="1" cy="101761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任意多边形 48"/>
          <p:cNvSpPr/>
          <p:nvPr/>
        </p:nvSpPr>
        <p:spPr>
          <a:xfrm>
            <a:off x="877564" y="2126387"/>
            <a:ext cx="7526075" cy="535824"/>
          </a:xfrm>
          <a:custGeom>
            <a:avLst/>
            <a:gdLst>
              <a:gd name="connsiteX0" fmla="*/ 2182305 w 8041064"/>
              <a:gd name="connsiteY0" fmla="*/ 0 h 763571"/>
              <a:gd name="connsiteX1" fmla="*/ 3299382 w 8041064"/>
              <a:gd name="connsiteY1" fmla="*/ 0 h 763571"/>
              <a:gd name="connsiteX2" fmla="*/ 8041064 w 8041064"/>
              <a:gd name="connsiteY2" fmla="*/ 749431 h 763571"/>
              <a:gd name="connsiteX3" fmla="*/ 0 w 8041064"/>
              <a:gd name="connsiteY3" fmla="*/ 763571 h 763571"/>
              <a:gd name="connsiteX4" fmla="*/ 2182305 w 8041064"/>
              <a:gd name="connsiteY4" fmla="*/ 0 h 763571"/>
              <a:gd name="connsiteX0" fmla="*/ 1389122 w 8041064"/>
              <a:gd name="connsiteY0" fmla="*/ 0 h 776694"/>
              <a:gd name="connsiteX1" fmla="*/ 3299382 w 8041064"/>
              <a:gd name="connsiteY1" fmla="*/ 13123 h 776694"/>
              <a:gd name="connsiteX2" fmla="*/ 8041064 w 8041064"/>
              <a:gd name="connsiteY2" fmla="*/ 762554 h 776694"/>
              <a:gd name="connsiteX3" fmla="*/ 0 w 8041064"/>
              <a:gd name="connsiteY3" fmla="*/ 776694 h 776694"/>
              <a:gd name="connsiteX4" fmla="*/ 1389122 w 8041064"/>
              <a:gd name="connsiteY4" fmla="*/ 0 h 776694"/>
              <a:gd name="connsiteX0" fmla="*/ 1389122 w 8041064"/>
              <a:gd name="connsiteY0" fmla="*/ 0 h 776694"/>
              <a:gd name="connsiteX1" fmla="*/ 2535219 w 8041064"/>
              <a:gd name="connsiteY1" fmla="*/ 0 h 776694"/>
              <a:gd name="connsiteX2" fmla="*/ 8041064 w 8041064"/>
              <a:gd name="connsiteY2" fmla="*/ 762554 h 776694"/>
              <a:gd name="connsiteX3" fmla="*/ 0 w 8041064"/>
              <a:gd name="connsiteY3" fmla="*/ 776694 h 776694"/>
              <a:gd name="connsiteX4" fmla="*/ 1389122 w 8041064"/>
              <a:gd name="connsiteY4" fmla="*/ 0 h 7766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41064" h="776694">
                <a:moveTo>
                  <a:pt x="1389122" y="0"/>
                </a:moveTo>
                <a:lnTo>
                  <a:pt x="2535219" y="0"/>
                </a:lnTo>
                <a:lnTo>
                  <a:pt x="8041064" y="762554"/>
                </a:lnTo>
                <a:lnTo>
                  <a:pt x="0" y="776694"/>
                </a:lnTo>
                <a:lnTo>
                  <a:pt x="1389122" y="0"/>
                </a:lnTo>
                <a:close/>
              </a:path>
            </a:pathLst>
          </a:custGeom>
          <a:gradFill flip="none" rotWithShape="1">
            <a:gsLst>
              <a:gs pos="0">
                <a:schemeClr val="bg1">
                  <a:lumMod val="95000"/>
                  <a:shade val="30000"/>
                  <a:satMod val="115000"/>
                </a:schemeClr>
              </a:gs>
              <a:gs pos="50000">
                <a:schemeClr val="bg1">
                  <a:lumMod val="95000"/>
                  <a:shade val="67500"/>
                  <a:satMod val="115000"/>
                </a:schemeClr>
              </a:gs>
              <a:gs pos="100000">
                <a:schemeClr val="bg1">
                  <a:lumMod val="95000"/>
                  <a:shade val="100000"/>
                  <a:satMod val="115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50" name="TextBox 77"/>
          <p:cNvSpPr txBox="1"/>
          <p:nvPr/>
        </p:nvSpPr>
        <p:spPr>
          <a:xfrm>
            <a:off x="1447508" y="1473625"/>
            <a:ext cx="556926" cy="311054"/>
          </a:xfrm>
          <a:prstGeom prst="rect">
            <a:avLst/>
          </a:prstGeom>
          <a:noFill/>
        </p:spPr>
        <p:txBody>
          <a:bodyPr wrap="none" rtlCol="0">
            <a:spAutoFit/>
          </a:bodyPr>
          <a:lstStyle/>
          <a:p>
            <a:r>
              <a:rPr lang="zh-CN" altLang="en-US" sz="1600" b="1" dirty="0">
                <a:latin typeface="微软雅黑" panose="020B0503020204020204" pitchFamily="34" charset="-122"/>
                <a:ea typeface="微软雅黑" panose="020B0503020204020204" pitchFamily="34" charset="-122"/>
                <a:cs typeface="Times New Roman" pitchFamily="18" charset="0"/>
              </a:rPr>
              <a:t>流表</a:t>
            </a:r>
          </a:p>
        </p:txBody>
      </p:sp>
      <p:sp>
        <p:nvSpPr>
          <p:cNvPr id="51" name="TextBox 78"/>
          <p:cNvSpPr txBox="1"/>
          <p:nvPr/>
        </p:nvSpPr>
        <p:spPr>
          <a:xfrm>
            <a:off x="342576" y="2686178"/>
            <a:ext cx="556926" cy="537276"/>
          </a:xfrm>
          <a:prstGeom prst="rect">
            <a:avLst/>
          </a:prstGeom>
          <a:noFill/>
        </p:spPr>
        <p:txBody>
          <a:bodyPr wrap="none" rtlCol="0">
            <a:spAutoFit/>
          </a:bodyPr>
          <a:lstStyle/>
          <a:p>
            <a:r>
              <a:rPr lang="zh-CN" altLang="en-US" sz="1600" b="1" dirty="0">
                <a:latin typeface="微软雅黑" panose="020B0503020204020204" pitchFamily="34" charset="-122"/>
                <a:ea typeface="微软雅黑" panose="020B0503020204020204" pitchFamily="34" charset="-122"/>
                <a:cs typeface="Times New Roman" pitchFamily="18" charset="0"/>
              </a:rPr>
              <a:t>匹配</a:t>
            </a:r>
            <a:endParaRPr lang="en-US" altLang="zh-CN" sz="1600" b="1" dirty="0">
              <a:latin typeface="微软雅黑" panose="020B0503020204020204" pitchFamily="34" charset="-122"/>
              <a:ea typeface="微软雅黑" panose="020B0503020204020204" pitchFamily="34" charset="-122"/>
              <a:cs typeface="Times New Roman" pitchFamily="18" charset="0"/>
            </a:endParaRPr>
          </a:p>
          <a:p>
            <a:r>
              <a:rPr lang="zh-CN" altLang="en-US" sz="1600" b="1" dirty="0">
                <a:latin typeface="微软雅黑" panose="020B0503020204020204" pitchFamily="34" charset="-122"/>
                <a:ea typeface="微软雅黑" panose="020B0503020204020204" pitchFamily="34" charset="-122"/>
                <a:cs typeface="Times New Roman" pitchFamily="18" charset="0"/>
              </a:rPr>
              <a:t>字段</a:t>
            </a:r>
          </a:p>
        </p:txBody>
      </p:sp>
      <p:sp>
        <p:nvSpPr>
          <p:cNvPr id="52" name="左大括号 51"/>
          <p:cNvSpPr/>
          <p:nvPr/>
        </p:nvSpPr>
        <p:spPr>
          <a:xfrm>
            <a:off x="1989836" y="1120537"/>
            <a:ext cx="134793" cy="977964"/>
          </a:xfrm>
          <a:prstGeom prst="leftBrace">
            <a:avLst>
              <a:gd name="adj1" fmla="val 93733"/>
              <a:gd name="adj2" fmla="val 51857"/>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39" name="矩形 38"/>
          <p:cNvSpPr/>
          <p:nvPr/>
        </p:nvSpPr>
        <p:spPr>
          <a:xfrm>
            <a:off x="2176538" y="1106115"/>
            <a:ext cx="2830643" cy="101960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19" name="矩形 18"/>
          <p:cNvSpPr/>
          <p:nvPr/>
        </p:nvSpPr>
        <p:spPr>
          <a:xfrm>
            <a:off x="876736" y="2663293"/>
            <a:ext cx="7521683" cy="59543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54" name="矩形 53"/>
          <p:cNvSpPr/>
          <p:nvPr/>
        </p:nvSpPr>
        <p:spPr>
          <a:xfrm>
            <a:off x="733332" y="3666639"/>
            <a:ext cx="8021370" cy="733534"/>
          </a:xfrm>
          <a:prstGeom prst="rect">
            <a:avLst/>
          </a:prstGeom>
        </p:spPr>
        <p:txBody>
          <a:bodyPr wrap="square">
            <a:spAutoFit/>
          </a:bodyPr>
          <a:lstStyle/>
          <a:p>
            <a:pPr>
              <a:lnSpc>
                <a:spcPts val="2500"/>
              </a:lnSpc>
            </a:pPr>
            <a:r>
              <a:rPr lang="en-US" altLang="zh-CN" b="1" dirty="0">
                <a:solidFill>
                  <a:srgbClr val="000099"/>
                </a:solidFill>
                <a:latin typeface="微软雅黑" pitchFamily="34" charset="-122"/>
                <a:ea typeface="微软雅黑" pitchFamily="34" charset="-122"/>
              </a:rPr>
              <a:t>(1) </a:t>
            </a:r>
            <a:r>
              <a:rPr lang="zh-CN" altLang="en-US" b="1" dirty="0">
                <a:solidFill>
                  <a:srgbClr val="000099"/>
                </a:solidFill>
                <a:latin typeface="微软雅黑" pitchFamily="34" charset="-122"/>
                <a:ea typeface="微软雅黑" pitchFamily="34" charset="-122"/>
              </a:rPr>
              <a:t>首部字段值：一组字段（</a:t>
            </a:r>
            <a:r>
              <a:rPr lang="en-US" altLang="zh-CN" b="1" dirty="0">
                <a:solidFill>
                  <a:srgbClr val="000099"/>
                </a:solidFill>
                <a:latin typeface="微软雅黑" pitchFamily="34" charset="-122"/>
                <a:ea typeface="微软雅黑" pitchFamily="34" charset="-122"/>
              </a:rPr>
              <a:t>12 </a:t>
            </a:r>
            <a:r>
              <a:rPr lang="zh-CN" altLang="en-US" b="1" dirty="0">
                <a:solidFill>
                  <a:srgbClr val="000099"/>
                </a:solidFill>
                <a:latin typeface="微软雅黑" pitchFamily="34" charset="-122"/>
                <a:ea typeface="微软雅黑" pitchFamily="34" charset="-122"/>
              </a:rPr>
              <a:t>个），用来使入分组的对应首部与之相匹配。匹配不上的分组被</a:t>
            </a:r>
            <a:r>
              <a:rPr lang="zh-CN" altLang="en-US" b="1" dirty="0">
                <a:solidFill>
                  <a:srgbClr val="C00000"/>
                </a:solidFill>
                <a:latin typeface="微软雅黑" pitchFamily="34" charset="-122"/>
                <a:ea typeface="微软雅黑" pitchFamily="34" charset="-122"/>
              </a:rPr>
              <a:t>丢弃</a:t>
            </a:r>
            <a:r>
              <a:rPr lang="zh-CN" altLang="en-US" b="1" dirty="0">
                <a:solidFill>
                  <a:srgbClr val="000099"/>
                </a:solidFill>
                <a:latin typeface="微软雅黑" pitchFamily="34" charset="-122"/>
                <a:ea typeface="微软雅黑" pitchFamily="34" charset="-122"/>
              </a:rPr>
              <a:t>，或</a:t>
            </a:r>
            <a:r>
              <a:rPr lang="zh-CN" altLang="en-US" b="1" dirty="0">
                <a:solidFill>
                  <a:srgbClr val="C00000"/>
                </a:solidFill>
                <a:latin typeface="微软雅黑" pitchFamily="34" charset="-122"/>
                <a:ea typeface="微软雅黑" pitchFamily="34" charset="-122"/>
              </a:rPr>
              <a:t>发送到远程控制器</a:t>
            </a:r>
            <a:r>
              <a:rPr lang="zh-CN" altLang="en-US" b="1" dirty="0">
                <a:solidFill>
                  <a:srgbClr val="000099"/>
                </a:solidFill>
                <a:latin typeface="微软雅黑" pitchFamily="34" charset="-122"/>
                <a:ea typeface="微软雅黑" pitchFamily="34" charset="-122"/>
              </a:rPr>
              <a:t>做更多的处理。</a:t>
            </a:r>
          </a:p>
        </p:txBody>
      </p:sp>
      <p:sp>
        <p:nvSpPr>
          <p:cNvPr id="4" name="矩形 3"/>
          <p:cNvSpPr/>
          <p:nvPr/>
        </p:nvSpPr>
        <p:spPr>
          <a:xfrm>
            <a:off x="5234150" y="1094371"/>
            <a:ext cx="2499788" cy="1118255"/>
          </a:xfrm>
          <a:prstGeom prst="rect">
            <a:avLst/>
          </a:prstGeom>
          <a:solidFill>
            <a:schemeClr val="bg1"/>
          </a:solidFill>
        </p:spPr>
        <p:txBody>
          <a:bodyPr wrap="square">
            <a:spAutoFit/>
          </a:bodyPr>
          <a:lstStyle/>
          <a:p>
            <a:pPr>
              <a:lnSpc>
                <a:spcPts val="2000"/>
              </a:lnSpc>
            </a:pPr>
            <a:r>
              <a:rPr lang="zh-CN"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三个字段</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endParaRPr>
          </a:p>
          <a:p>
            <a:pPr marL="285750" indent="-285750">
              <a:lnSpc>
                <a:spcPts val="2000"/>
              </a:lnSpc>
              <a:buFont typeface="Wingdings" panose="05000000000000000000" pitchFamily="2" charset="2"/>
              <a:buChar char="l"/>
            </a:pPr>
            <a:r>
              <a:rPr lang="zh-CN"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首部字段值（匹配字段）</a:t>
            </a:r>
            <a:endPar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endParaRPr>
          </a:p>
          <a:p>
            <a:pPr marL="285750" indent="-285750">
              <a:lnSpc>
                <a:spcPts val="2000"/>
              </a:lnSpc>
              <a:buFont typeface="Wingdings" panose="05000000000000000000" pitchFamily="2" charset="2"/>
              <a:buChar char="l"/>
            </a:pPr>
            <a:r>
              <a:rPr lang="zh-CN"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计数器</a:t>
            </a:r>
            <a:endPar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endParaRPr>
          </a:p>
          <a:p>
            <a:pPr marL="285750" indent="-285750">
              <a:lnSpc>
                <a:spcPts val="2000"/>
              </a:lnSpc>
              <a:buFont typeface="Wingdings" panose="05000000000000000000" pitchFamily="2" charset="2"/>
              <a:buChar char="l"/>
            </a:pPr>
            <a:r>
              <a:rPr lang="zh-CN"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动作</a:t>
            </a:r>
            <a:endParaRPr lang="zh-CN" altLang="en-US" sz="1400" b="1" dirty="0">
              <a:latin typeface="微软雅黑" panose="020B0503020204020204" pitchFamily="34" charset="-122"/>
              <a:ea typeface="微软雅黑" panose="020B0503020204020204" pitchFamily="34" charset="-122"/>
            </a:endParaRPr>
          </a:p>
        </p:txBody>
      </p:sp>
      <p:sp>
        <p:nvSpPr>
          <p:cNvPr id="55" name="文本框 54"/>
          <p:cNvSpPr txBox="1"/>
          <p:nvPr/>
        </p:nvSpPr>
        <p:spPr>
          <a:xfrm>
            <a:off x="2476393" y="1593747"/>
            <a:ext cx="516554" cy="276999"/>
          </a:xfrm>
          <a:prstGeom prst="rect">
            <a:avLst/>
          </a:prstGeom>
          <a:noFill/>
        </p:spPr>
        <p:txBody>
          <a:bodyPr wrap="square" rtlCol="0">
            <a:spAutoFit/>
          </a:bodyPr>
          <a:lstStyle/>
          <a:p>
            <a:r>
              <a:rPr lang="en-US" altLang="zh-CN" sz="1200" b="1" dirty="0">
                <a:latin typeface="微软雅黑" panose="020B0503020204020204" pitchFamily="34" charset="-122"/>
                <a:ea typeface="微软雅黑" panose="020B0503020204020204" pitchFamily="34" charset="-122"/>
              </a:rPr>
              <a:t>. . . </a:t>
            </a:r>
            <a:endParaRPr lang="zh-CN" altLang="en-US" sz="1200" b="1" dirty="0">
              <a:latin typeface="微软雅黑" panose="020B0503020204020204" pitchFamily="34" charset="-122"/>
              <a:ea typeface="微软雅黑" panose="020B0503020204020204" pitchFamily="34" charset="-122"/>
            </a:endParaRPr>
          </a:p>
        </p:txBody>
      </p:sp>
      <p:sp>
        <p:nvSpPr>
          <p:cNvPr id="56" name="文本框 55"/>
          <p:cNvSpPr txBox="1"/>
          <p:nvPr/>
        </p:nvSpPr>
        <p:spPr>
          <a:xfrm>
            <a:off x="3445554" y="1593747"/>
            <a:ext cx="516554" cy="276999"/>
          </a:xfrm>
          <a:prstGeom prst="rect">
            <a:avLst/>
          </a:prstGeom>
          <a:noFill/>
        </p:spPr>
        <p:txBody>
          <a:bodyPr wrap="square" rtlCol="0">
            <a:spAutoFit/>
          </a:bodyPr>
          <a:lstStyle/>
          <a:p>
            <a:r>
              <a:rPr lang="en-US" altLang="zh-CN" sz="1200" b="1" dirty="0">
                <a:latin typeface="微软雅黑" panose="020B0503020204020204" pitchFamily="34" charset="-122"/>
                <a:ea typeface="微软雅黑" panose="020B0503020204020204" pitchFamily="34" charset="-122"/>
              </a:rPr>
              <a:t>. . . </a:t>
            </a:r>
            <a:endParaRPr lang="zh-CN" altLang="en-US" sz="1200" b="1" dirty="0">
              <a:latin typeface="微软雅黑" panose="020B0503020204020204" pitchFamily="34" charset="-122"/>
              <a:ea typeface="微软雅黑" panose="020B0503020204020204" pitchFamily="34" charset="-122"/>
            </a:endParaRPr>
          </a:p>
        </p:txBody>
      </p:sp>
      <p:sp>
        <p:nvSpPr>
          <p:cNvPr id="57" name="文本框 56"/>
          <p:cNvSpPr txBox="1"/>
          <p:nvPr/>
        </p:nvSpPr>
        <p:spPr>
          <a:xfrm>
            <a:off x="4313277" y="1593747"/>
            <a:ext cx="516554" cy="276999"/>
          </a:xfrm>
          <a:prstGeom prst="rect">
            <a:avLst/>
          </a:prstGeom>
          <a:noFill/>
        </p:spPr>
        <p:txBody>
          <a:bodyPr wrap="square" rtlCol="0">
            <a:spAutoFit/>
          </a:bodyPr>
          <a:lstStyle/>
          <a:p>
            <a:r>
              <a:rPr lang="en-US" altLang="zh-CN" sz="1200" b="1" dirty="0">
                <a:latin typeface="微软雅黑" panose="020B0503020204020204" pitchFamily="34" charset="-122"/>
                <a:ea typeface="微软雅黑" panose="020B0503020204020204" pitchFamily="34" charset="-122"/>
              </a:rPr>
              <a:t>. . . </a:t>
            </a:r>
            <a:endParaRPr lang="zh-CN" altLang="en-US" sz="1200" b="1"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41802611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圆角矩形 52"/>
          <p:cNvSpPr/>
          <p:nvPr/>
        </p:nvSpPr>
        <p:spPr>
          <a:xfrm>
            <a:off x="545144" y="1017562"/>
            <a:ext cx="8053711" cy="264909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5" name="AutoShape 5"/>
          <p:cNvSpPr>
            <a:spLocks noChangeArrowheads="1"/>
          </p:cNvSpPr>
          <p:nvPr/>
        </p:nvSpPr>
        <p:spPr bwMode="auto">
          <a:xfrm>
            <a:off x="545144" y="614144"/>
            <a:ext cx="8053711" cy="353930"/>
          </a:xfrm>
          <a:prstGeom prst="roundRect">
            <a:avLst>
              <a:gd name="adj" fmla="val 16667"/>
            </a:avLst>
          </a:prstGeom>
          <a:solidFill>
            <a:srgbClr val="00B050"/>
          </a:solidFill>
          <a:ln>
            <a:noFill/>
          </a:ln>
          <a:effectLst/>
        </p:spPr>
        <p:txBody>
          <a:bodyPr wrap="none" anchor="ctr"/>
          <a:lstStyle/>
          <a:p>
            <a:endParaRPr lang="zh-CN" altLang="en-US" sz="1200"/>
          </a:p>
        </p:txBody>
      </p:sp>
      <p:sp>
        <p:nvSpPr>
          <p:cNvPr id="6" name="Rectangle 6"/>
          <p:cNvSpPr>
            <a:spLocks noChangeArrowheads="1"/>
          </p:cNvSpPr>
          <p:nvPr/>
        </p:nvSpPr>
        <p:spPr bwMode="auto">
          <a:xfrm>
            <a:off x="1941968" y="5809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流表结构</a:t>
            </a:r>
          </a:p>
        </p:txBody>
      </p:sp>
      <p:cxnSp>
        <p:nvCxnSpPr>
          <p:cNvPr id="16" name="直接箭头连接符 15"/>
          <p:cNvCxnSpPr/>
          <p:nvPr/>
        </p:nvCxnSpPr>
        <p:spPr>
          <a:xfrm flipV="1">
            <a:off x="1463720" y="3457201"/>
            <a:ext cx="2826134" cy="1458"/>
          </a:xfrm>
          <a:prstGeom prst="straightConnector1">
            <a:avLst/>
          </a:prstGeom>
          <a:ln w="19050">
            <a:solidFill>
              <a:srgbClr val="000066"/>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7" name="直接箭头连接符 16"/>
          <p:cNvCxnSpPr/>
          <p:nvPr/>
        </p:nvCxnSpPr>
        <p:spPr>
          <a:xfrm>
            <a:off x="4295881" y="3457201"/>
            <a:ext cx="2692750" cy="5646"/>
          </a:xfrm>
          <a:prstGeom prst="straightConnector1">
            <a:avLst/>
          </a:prstGeom>
          <a:ln w="19050">
            <a:solidFill>
              <a:srgbClr val="C00000"/>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8" name="直接箭头连接符 17"/>
          <p:cNvCxnSpPr/>
          <p:nvPr/>
        </p:nvCxnSpPr>
        <p:spPr>
          <a:xfrm>
            <a:off x="6983934" y="3457201"/>
            <a:ext cx="1426733" cy="1516"/>
          </a:xfrm>
          <a:prstGeom prst="straightConnector1">
            <a:avLst/>
          </a:prstGeom>
          <a:ln w="19050">
            <a:solidFill>
              <a:srgbClr val="660066"/>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1483302" y="2663293"/>
            <a:ext cx="0" cy="595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直接连接符 20"/>
          <p:cNvCxnSpPr>
            <a:endCxn id="19" idx="3"/>
          </p:cNvCxnSpPr>
          <p:nvPr/>
        </p:nvCxnSpPr>
        <p:spPr>
          <a:xfrm>
            <a:off x="1489315" y="2955231"/>
            <a:ext cx="6909104" cy="577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TextBox 12"/>
          <p:cNvSpPr txBox="1"/>
          <p:nvPr/>
        </p:nvSpPr>
        <p:spPr>
          <a:xfrm>
            <a:off x="2082258" y="2689294"/>
            <a:ext cx="6370077" cy="276999"/>
          </a:xfrm>
          <a:prstGeom prst="rect">
            <a:avLst/>
          </a:prstGeom>
          <a:noFill/>
        </p:spPr>
        <p:txBody>
          <a:bodyPr wrap="none" rtlCol="0">
            <a:spAutoFit/>
          </a:bodyPr>
          <a:lstStyle/>
          <a:p>
            <a:r>
              <a:rPr lang="zh-CN" altLang="en-US" sz="1200" b="1" dirty="0">
                <a:solidFill>
                  <a:srgbClr val="000066"/>
                </a:solidFill>
                <a:latin typeface="微软雅黑" panose="020B0503020204020204" pitchFamily="34" charset="-122"/>
                <a:ea typeface="微软雅黑" panose="020B0503020204020204" pitchFamily="34" charset="-122"/>
                <a:cs typeface="Times New Roman" pitchFamily="18" charset="0"/>
              </a:rPr>
              <a:t>以太网                     </a:t>
            </a:r>
            <a:r>
              <a:rPr lang="en-US" altLang="zh-CN" sz="1200" b="1" dirty="0">
                <a:solidFill>
                  <a:srgbClr val="000066"/>
                </a:solidFill>
                <a:latin typeface="微软雅黑" panose="020B0503020204020204" pitchFamily="34" charset="-122"/>
                <a:ea typeface="微软雅黑" panose="020B0503020204020204" pitchFamily="34" charset="-122"/>
                <a:cs typeface="Times New Roman" pitchFamily="18" charset="0"/>
              </a:rPr>
              <a:t>VLAN </a:t>
            </a:r>
            <a:r>
              <a:rPr lang="en-US" altLang="zh-CN" sz="1200" b="1" dirty="0">
                <a:latin typeface="微软雅黑" panose="020B0503020204020204" pitchFamily="34" charset="-122"/>
                <a:ea typeface="微软雅黑" panose="020B0503020204020204" pitchFamily="34" charset="-122"/>
                <a:cs typeface="Times New Roman" pitchFamily="18" charset="0"/>
              </a:rPr>
              <a:t>                                  </a:t>
            </a:r>
            <a:r>
              <a:rPr lang="en-US" altLang="zh-CN" sz="1200" b="1" dirty="0">
                <a:solidFill>
                  <a:srgbClr val="C00000"/>
                </a:solidFill>
                <a:latin typeface="微软雅黑" panose="020B0503020204020204" pitchFamily="34" charset="-122"/>
                <a:ea typeface="微软雅黑" panose="020B0503020204020204" pitchFamily="34" charset="-122"/>
                <a:cs typeface="Times New Roman" pitchFamily="18" charset="0"/>
              </a:rPr>
              <a:t>IP</a:t>
            </a:r>
            <a:r>
              <a:rPr lang="en-US" altLang="zh-CN" sz="1200" b="1" dirty="0">
                <a:latin typeface="微软雅黑" panose="020B0503020204020204" pitchFamily="34" charset="-122"/>
                <a:ea typeface="微软雅黑" panose="020B0503020204020204" pitchFamily="34" charset="-122"/>
                <a:cs typeface="Times New Roman" pitchFamily="18" charset="0"/>
              </a:rPr>
              <a:t>                                  </a:t>
            </a:r>
            <a:r>
              <a:rPr lang="en-US" altLang="zh-CN" sz="1200" b="1" dirty="0">
                <a:solidFill>
                  <a:srgbClr val="660066"/>
                </a:solidFill>
                <a:latin typeface="微软雅黑" panose="020B0503020204020204" pitchFamily="34" charset="-122"/>
                <a:ea typeface="微软雅黑" panose="020B0503020204020204" pitchFamily="34" charset="-122"/>
                <a:cs typeface="Times New Roman" pitchFamily="18" charset="0"/>
              </a:rPr>
              <a:t>TCP/UDP</a:t>
            </a:r>
            <a:endParaRPr lang="zh-CN" altLang="en-US" sz="1200" b="1" dirty="0">
              <a:solidFill>
                <a:srgbClr val="660066"/>
              </a:solidFill>
              <a:latin typeface="微软雅黑" panose="020B0503020204020204" pitchFamily="34" charset="-122"/>
              <a:ea typeface="微软雅黑" panose="020B0503020204020204" pitchFamily="34" charset="-122"/>
              <a:cs typeface="Times New Roman" pitchFamily="18" charset="0"/>
            </a:endParaRPr>
          </a:p>
        </p:txBody>
      </p:sp>
      <p:sp>
        <p:nvSpPr>
          <p:cNvPr id="23" name="TextBox 14"/>
          <p:cNvSpPr txBox="1"/>
          <p:nvPr/>
        </p:nvSpPr>
        <p:spPr>
          <a:xfrm>
            <a:off x="853839" y="2834279"/>
            <a:ext cx="604937" cy="254499"/>
          </a:xfrm>
          <a:prstGeom prst="rect">
            <a:avLst/>
          </a:prstGeom>
          <a:noFill/>
        </p:spPr>
        <p:txBody>
          <a:bodyPr wrap="none" rtlCol="0">
            <a:spAutoFit/>
          </a:bodyPr>
          <a:lstStyle/>
          <a:p>
            <a:r>
              <a:rPr lang="zh-CN" altLang="en-US" sz="1200" b="1" dirty="0">
                <a:latin typeface="微软雅黑" panose="020B0503020204020204" pitchFamily="34" charset="-122"/>
                <a:ea typeface="微软雅黑" panose="020B0503020204020204" pitchFamily="34" charset="-122"/>
                <a:cs typeface="Times New Roman" pitchFamily="18" charset="0"/>
              </a:rPr>
              <a:t>入端口</a:t>
            </a:r>
          </a:p>
        </p:txBody>
      </p:sp>
      <p:sp>
        <p:nvSpPr>
          <p:cNvPr id="24" name="TextBox 10"/>
          <p:cNvSpPr txBox="1"/>
          <p:nvPr/>
        </p:nvSpPr>
        <p:spPr>
          <a:xfrm>
            <a:off x="1500638" y="2982807"/>
            <a:ext cx="7002238" cy="276999"/>
          </a:xfrm>
          <a:prstGeom prst="rect">
            <a:avLst/>
          </a:prstGeom>
          <a:noFill/>
        </p:spPr>
        <p:txBody>
          <a:bodyPr wrap="none" rtlCol="0">
            <a:spAutoFit/>
          </a:bodyPr>
          <a:lstStyle/>
          <a:p>
            <a:r>
              <a:rPr lang="zh-CN" altLang="en-US" sz="1200" b="1" dirty="0">
                <a:solidFill>
                  <a:srgbClr val="000066"/>
                </a:solidFill>
                <a:latin typeface="微软雅黑" panose="020B0503020204020204" pitchFamily="34" charset="-122"/>
                <a:ea typeface="微软雅黑" panose="020B0503020204020204" pitchFamily="34" charset="-122"/>
                <a:cs typeface="Times New Roman" pitchFamily="18" charset="0"/>
              </a:rPr>
              <a:t>源地址   目的地址    类型   </a:t>
            </a:r>
            <a:r>
              <a:rPr lang="en-US" altLang="zh-CN" sz="1200" b="1" dirty="0">
                <a:solidFill>
                  <a:srgbClr val="000066"/>
                </a:solidFill>
                <a:latin typeface="微软雅黑" panose="020B0503020204020204" pitchFamily="34" charset="-122"/>
                <a:ea typeface="微软雅黑" panose="020B0503020204020204" pitchFamily="34" charset="-122"/>
                <a:cs typeface="Times New Roman" pitchFamily="18" charset="0"/>
              </a:rPr>
              <a:t>ID    </a:t>
            </a:r>
            <a:r>
              <a:rPr lang="zh-CN" altLang="en-US" sz="1200" b="1" dirty="0">
                <a:solidFill>
                  <a:srgbClr val="000066"/>
                </a:solidFill>
                <a:latin typeface="微软雅黑" panose="020B0503020204020204" pitchFamily="34" charset="-122"/>
                <a:ea typeface="微软雅黑" panose="020B0503020204020204" pitchFamily="34" charset="-122"/>
                <a:cs typeface="Times New Roman" pitchFamily="18" charset="0"/>
              </a:rPr>
              <a:t>优先级 </a:t>
            </a:r>
            <a:r>
              <a:rPr lang="zh-CN" altLang="en-US" sz="1200" b="1" dirty="0">
                <a:latin typeface="微软雅黑" panose="020B0503020204020204" pitchFamily="34" charset="-122"/>
                <a:ea typeface="微软雅黑" panose="020B0503020204020204" pitchFamily="34" charset="-122"/>
                <a:cs typeface="Times New Roman" pitchFamily="18" charset="0"/>
              </a:rPr>
              <a:t>   </a:t>
            </a:r>
            <a:r>
              <a:rPr lang="zh-CN" altLang="en-US" sz="1200" b="1" dirty="0">
                <a:solidFill>
                  <a:srgbClr val="C00000"/>
                </a:solidFill>
                <a:latin typeface="微软雅黑" panose="020B0503020204020204" pitchFamily="34" charset="-122"/>
                <a:ea typeface="微软雅黑" panose="020B0503020204020204" pitchFamily="34" charset="-122"/>
                <a:cs typeface="Times New Roman" pitchFamily="18" charset="0"/>
              </a:rPr>
              <a:t>源地址    目的地址    协议   服务类型</a:t>
            </a:r>
            <a:r>
              <a:rPr lang="zh-CN" altLang="en-US" sz="1200" b="1" dirty="0">
                <a:latin typeface="微软雅黑" panose="020B0503020204020204" pitchFamily="34" charset="-122"/>
                <a:ea typeface="微软雅黑" panose="020B0503020204020204" pitchFamily="34" charset="-122"/>
                <a:cs typeface="Times New Roman" pitchFamily="18" charset="0"/>
              </a:rPr>
              <a:t>    </a:t>
            </a:r>
            <a:r>
              <a:rPr lang="zh-CN" altLang="en-US" sz="1200" b="1" dirty="0">
                <a:solidFill>
                  <a:srgbClr val="660066"/>
                </a:solidFill>
                <a:latin typeface="微软雅黑" panose="020B0503020204020204" pitchFamily="34" charset="-122"/>
                <a:ea typeface="微软雅黑" panose="020B0503020204020204" pitchFamily="34" charset="-122"/>
                <a:cs typeface="Times New Roman" pitchFamily="18" charset="0"/>
              </a:rPr>
              <a:t>源端口    目的端口</a:t>
            </a:r>
          </a:p>
        </p:txBody>
      </p:sp>
      <p:cxnSp>
        <p:nvCxnSpPr>
          <p:cNvPr id="25" name="直接连接符 24"/>
          <p:cNvCxnSpPr/>
          <p:nvPr/>
        </p:nvCxnSpPr>
        <p:spPr>
          <a:xfrm>
            <a:off x="3370397" y="2663293"/>
            <a:ext cx="0" cy="595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接连接符 25"/>
          <p:cNvCxnSpPr/>
          <p:nvPr/>
        </p:nvCxnSpPr>
        <p:spPr>
          <a:xfrm>
            <a:off x="4287200" y="2672044"/>
            <a:ext cx="0" cy="595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直接连接符 26"/>
          <p:cNvCxnSpPr/>
          <p:nvPr/>
        </p:nvCxnSpPr>
        <p:spPr>
          <a:xfrm>
            <a:off x="6989853" y="2660490"/>
            <a:ext cx="0" cy="595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flipH="1">
            <a:off x="2089869" y="2946480"/>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flipH="1">
            <a:off x="7634061" y="2955736"/>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flipH="1">
            <a:off x="6202644" y="2959815"/>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p:nvPr/>
        </p:nvCxnSpPr>
        <p:spPr>
          <a:xfrm flipH="1">
            <a:off x="2907927" y="2962694"/>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接连接符 31"/>
          <p:cNvCxnSpPr/>
          <p:nvPr/>
        </p:nvCxnSpPr>
        <p:spPr>
          <a:xfrm flipH="1">
            <a:off x="5758378" y="2957062"/>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flipH="1">
            <a:off x="4968122" y="2964765"/>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flipH="1">
            <a:off x="3678628" y="2949131"/>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TextBox 54"/>
          <p:cNvSpPr txBox="1"/>
          <p:nvPr/>
        </p:nvSpPr>
        <p:spPr>
          <a:xfrm>
            <a:off x="2575527" y="3312574"/>
            <a:ext cx="604937" cy="254499"/>
          </a:xfrm>
          <a:prstGeom prst="rect">
            <a:avLst/>
          </a:prstGeom>
          <a:solidFill>
            <a:srgbClr val="C3E3F9"/>
          </a:solidFill>
        </p:spPr>
        <p:txBody>
          <a:bodyPr wrap="none" rtlCol="0">
            <a:spAutoFit/>
          </a:bodyPr>
          <a:lstStyle/>
          <a:p>
            <a:r>
              <a:rPr lang="zh-CN" altLang="en-US" sz="1200" b="1" dirty="0">
                <a:latin typeface="微软雅黑" panose="020B0503020204020204" pitchFamily="34" charset="-122"/>
                <a:ea typeface="微软雅黑" panose="020B0503020204020204" pitchFamily="34" charset="-122"/>
                <a:cs typeface="Times New Roman" pitchFamily="18" charset="0"/>
              </a:rPr>
              <a:t>链路层</a:t>
            </a:r>
          </a:p>
        </p:txBody>
      </p:sp>
      <p:sp>
        <p:nvSpPr>
          <p:cNvPr id="36" name="TextBox 55"/>
          <p:cNvSpPr txBox="1"/>
          <p:nvPr/>
        </p:nvSpPr>
        <p:spPr>
          <a:xfrm>
            <a:off x="5303829" y="3312572"/>
            <a:ext cx="604937" cy="254499"/>
          </a:xfrm>
          <a:prstGeom prst="rect">
            <a:avLst/>
          </a:prstGeom>
          <a:solidFill>
            <a:srgbClr val="C3E3F9"/>
          </a:solidFill>
        </p:spPr>
        <p:txBody>
          <a:bodyPr wrap="none" rtlCol="0">
            <a:spAutoFit/>
          </a:bodyPr>
          <a:lstStyle/>
          <a:p>
            <a:r>
              <a:rPr lang="zh-CN" altLang="en-US" sz="1200" b="1" dirty="0">
                <a:latin typeface="微软雅黑" panose="020B0503020204020204" pitchFamily="34" charset="-122"/>
                <a:ea typeface="微软雅黑" panose="020B0503020204020204" pitchFamily="34" charset="-122"/>
                <a:cs typeface="Times New Roman" pitchFamily="18" charset="0"/>
              </a:rPr>
              <a:t>网络层</a:t>
            </a:r>
          </a:p>
        </p:txBody>
      </p:sp>
      <p:sp>
        <p:nvSpPr>
          <p:cNvPr id="37" name="TextBox 56"/>
          <p:cNvSpPr txBox="1"/>
          <p:nvPr/>
        </p:nvSpPr>
        <p:spPr>
          <a:xfrm>
            <a:off x="7318657" y="3312572"/>
            <a:ext cx="604937" cy="254499"/>
          </a:xfrm>
          <a:prstGeom prst="rect">
            <a:avLst/>
          </a:prstGeom>
          <a:solidFill>
            <a:srgbClr val="C3E3F9"/>
          </a:solidFill>
        </p:spPr>
        <p:txBody>
          <a:bodyPr wrap="none" rtlCol="0">
            <a:spAutoFit/>
          </a:bodyPr>
          <a:lstStyle/>
          <a:p>
            <a:r>
              <a:rPr lang="zh-CN" altLang="en-US" sz="1200" b="1" dirty="0">
                <a:latin typeface="微软雅黑" panose="020B0503020204020204" pitchFamily="34" charset="-122"/>
                <a:ea typeface="微软雅黑" panose="020B0503020204020204" pitchFamily="34" charset="-122"/>
                <a:cs typeface="Times New Roman" pitchFamily="18" charset="0"/>
              </a:rPr>
              <a:t>运输层</a:t>
            </a:r>
          </a:p>
        </p:txBody>
      </p:sp>
      <p:sp>
        <p:nvSpPr>
          <p:cNvPr id="38" name="TextBox 57"/>
          <p:cNvSpPr txBox="1"/>
          <p:nvPr/>
        </p:nvSpPr>
        <p:spPr>
          <a:xfrm>
            <a:off x="2198919" y="1105517"/>
            <a:ext cx="2729129" cy="1050988"/>
          </a:xfrm>
          <a:prstGeom prst="rect">
            <a:avLst/>
          </a:prstGeom>
          <a:noFill/>
        </p:spPr>
        <p:txBody>
          <a:bodyPr wrap="square" rtlCol="0">
            <a:spAutoFit/>
          </a:bodyPr>
          <a:lstStyle/>
          <a:p>
            <a:pPr>
              <a:lnSpc>
                <a:spcPts val="1700"/>
              </a:lnSpc>
              <a:spcAft>
                <a:spcPts val="600"/>
              </a:spcAft>
            </a:pPr>
            <a:r>
              <a:rPr lang="zh-CN" altLang="en-US" sz="1200" b="1" dirty="0">
                <a:latin typeface="微软雅黑" panose="020B0503020204020204" pitchFamily="34" charset="-122"/>
                <a:ea typeface="微软雅黑" panose="020B0503020204020204" pitchFamily="34" charset="-122"/>
                <a:cs typeface="Times New Roman" pitchFamily="18" charset="0"/>
              </a:rPr>
              <a:t>首部字段值        计数器           动作</a:t>
            </a: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nSpc>
                <a:spcPts val="1700"/>
              </a:lnSpc>
            </a:pPr>
            <a:r>
              <a:rPr lang="zh-CN" altLang="en-US" sz="1200" b="1" dirty="0">
                <a:latin typeface="微软雅黑" panose="020B0503020204020204" pitchFamily="34" charset="-122"/>
                <a:ea typeface="微软雅黑" panose="020B0503020204020204" pitchFamily="34" charset="-122"/>
                <a:cs typeface="Times New Roman" pitchFamily="18" charset="0"/>
              </a:rPr>
              <a:t>首部字段值        计数器           动作</a:t>
            </a: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nSpc>
                <a:spcPts val="1700"/>
              </a:lnSpc>
            </a:pP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nSpc>
                <a:spcPts val="1700"/>
              </a:lnSpc>
              <a:spcAft>
                <a:spcPts val="1200"/>
              </a:spcAft>
            </a:pPr>
            <a:r>
              <a:rPr lang="zh-CN" altLang="en-US" sz="1200" b="1" dirty="0">
                <a:latin typeface="微软雅黑" panose="020B0503020204020204" pitchFamily="34" charset="-122"/>
                <a:ea typeface="微软雅黑" panose="020B0503020204020204" pitchFamily="34" charset="-122"/>
                <a:cs typeface="Times New Roman" pitchFamily="18" charset="0"/>
              </a:rPr>
              <a:t>首部字段值        计数器           动作</a:t>
            </a:r>
            <a:endParaRPr lang="en-US" altLang="zh-CN" sz="1200" b="1" dirty="0">
              <a:latin typeface="微软雅黑" panose="020B0503020204020204" pitchFamily="34" charset="-122"/>
              <a:ea typeface="微软雅黑" panose="020B0503020204020204" pitchFamily="34" charset="-122"/>
              <a:cs typeface="Times New Roman" pitchFamily="18" charset="0"/>
            </a:endParaRPr>
          </a:p>
        </p:txBody>
      </p:sp>
      <p:grpSp>
        <p:nvGrpSpPr>
          <p:cNvPr id="40" name="组合 39"/>
          <p:cNvGrpSpPr/>
          <p:nvPr/>
        </p:nvGrpSpPr>
        <p:grpSpPr>
          <a:xfrm>
            <a:off x="2159745" y="1398001"/>
            <a:ext cx="2847436" cy="459135"/>
            <a:chOff x="3185906" y="1442434"/>
            <a:chExt cx="2405342" cy="499726"/>
          </a:xfrm>
        </p:grpSpPr>
        <p:cxnSp>
          <p:nvCxnSpPr>
            <p:cNvPr id="41" name="直接连接符 40"/>
            <p:cNvCxnSpPr/>
            <p:nvPr/>
          </p:nvCxnSpPr>
          <p:spPr>
            <a:xfrm>
              <a:off x="3214984" y="1442434"/>
              <a:ext cx="237626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a:xfrm>
              <a:off x="3185906" y="1727714"/>
              <a:ext cx="237626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a:off x="3204215" y="1942160"/>
              <a:ext cx="237626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 name="直接连接符 43"/>
          <p:cNvCxnSpPr/>
          <p:nvPr/>
        </p:nvCxnSpPr>
        <p:spPr>
          <a:xfrm>
            <a:off x="4131028" y="1102182"/>
            <a:ext cx="1" cy="101761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接连接符 44"/>
          <p:cNvCxnSpPr/>
          <p:nvPr/>
        </p:nvCxnSpPr>
        <p:spPr>
          <a:xfrm>
            <a:off x="3223644" y="1100199"/>
            <a:ext cx="1" cy="101761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任意多边形 48"/>
          <p:cNvSpPr/>
          <p:nvPr/>
        </p:nvSpPr>
        <p:spPr>
          <a:xfrm>
            <a:off x="877564" y="2126387"/>
            <a:ext cx="7526075" cy="535824"/>
          </a:xfrm>
          <a:custGeom>
            <a:avLst/>
            <a:gdLst>
              <a:gd name="connsiteX0" fmla="*/ 2182305 w 8041064"/>
              <a:gd name="connsiteY0" fmla="*/ 0 h 763571"/>
              <a:gd name="connsiteX1" fmla="*/ 3299382 w 8041064"/>
              <a:gd name="connsiteY1" fmla="*/ 0 h 763571"/>
              <a:gd name="connsiteX2" fmla="*/ 8041064 w 8041064"/>
              <a:gd name="connsiteY2" fmla="*/ 749431 h 763571"/>
              <a:gd name="connsiteX3" fmla="*/ 0 w 8041064"/>
              <a:gd name="connsiteY3" fmla="*/ 763571 h 763571"/>
              <a:gd name="connsiteX4" fmla="*/ 2182305 w 8041064"/>
              <a:gd name="connsiteY4" fmla="*/ 0 h 763571"/>
              <a:gd name="connsiteX0" fmla="*/ 1389122 w 8041064"/>
              <a:gd name="connsiteY0" fmla="*/ 0 h 776694"/>
              <a:gd name="connsiteX1" fmla="*/ 3299382 w 8041064"/>
              <a:gd name="connsiteY1" fmla="*/ 13123 h 776694"/>
              <a:gd name="connsiteX2" fmla="*/ 8041064 w 8041064"/>
              <a:gd name="connsiteY2" fmla="*/ 762554 h 776694"/>
              <a:gd name="connsiteX3" fmla="*/ 0 w 8041064"/>
              <a:gd name="connsiteY3" fmla="*/ 776694 h 776694"/>
              <a:gd name="connsiteX4" fmla="*/ 1389122 w 8041064"/>
              <a:gd name="connsiteY4" fmla="*/ 0 h 776694"/>
              <a:gd name="connsiteX0" fmla="*/ 1389122 w 8041064"/>
              <a:gd name="connsiteY0" fmla="*/ 0 h 776694"/>
              <a:gd name="connsiteX1" fmla="*/ 2535219 w 8041064"/>
              <a:gd name="connsiteY1" fmla="*/ 0 h 776694"/>
              <a:gd name="connsiteX2" fmla="*/ 8041064 w 8041064"/>
              <a:gd name="connsiteY2" fmla="*/ 762554 h 776694"/>
              <a:gd name="connsiteX3" fmla="*/ 0 w 8041064"/>
              <a:gd name="connsiteY3" fmla="*/ 776694 h 776694"/>
              <a:gd name="connsiteX4" fmla="*/ 1389122 w 8041064"/>
              <a:gd name="connsiteY4" fmla="*/ 0 h 7766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41064" h="776694">
                <a:moveTo>
                  <a:pt x="1389122" y="0"/>
                </a:moveTo>
                <a:lnTo>
                  <a:pt x="2535219" y="0"/>
                </a:lnTo>
                <a:lnTo>
                  <a:pt x="8041064" y="762554"/>
                </a:lnTo>
                <a:lnTo>
                  <a:pt x="0" y="776694"/>
                </a:lnTo>
                <a:lnTo>
                  <a:pt x="1389122" y="0"/>
                </a:lnTo>
                <a:close/>
              </a:path>
            </a:pathLst>
          </a:custGeom>
          <a:gradFill flip="none" rotWithShape="1">
            <a:gsLst>
              <a:gs pos="0">
                <a:schemeClr val="bg1">
                  <a:lumMod val="95000"/>
                  <a:shade val="30000"/>
                  <a:satMod val="115000"/>
                </a:schemeClr>
              </a:gs>
              <a:gs pos="50000">
                <a:schemeClr val="bg1">
                  <a:lumMod val="95000"/>
                  <a:shade val="67500"/>
                  <a:satMod val="115000"/>
                </a:schemeClr>
              </a:gs>
              <a:gs pos="100000">
                <a:schemeClr val="bg1">
                  <a:lumMod val="95000"/>
                  <a:shade val="100000"/>
                  <a:satMod val="115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50" name="TextBox 77"/>
          <p:cNvSpPr txBox="1"/>
          <p:nvPr/>
        </p:nvSpPr>
        <p:spPr>
          <a:xfrm>
            <a:off x="1447508" y="1473625"/>
            <a:ext cx="556926" cy="311054"/>
          </a:xfrm>
          <a:prstGeom prst="rect">
            <a:avLst/>
          </a:prstGeom>
          <a:noFill/>
        </p:spPr>
        <p:txBody>
          <a:bodyPr wrap="none" rtlCol="0">
            <a:spAutoFit/>
          </a:bodyPr>
          <a:lstStyle/>
          <a:p>
            <a:r>
              <a:rPr lang="zh-CN" altLang="en-US" sz="1600" b="1" dirty="0">
                <a:latin typeface="微软雅黑" panose="020B0503020204020204" pitchFamily="34" charset="-122"/>
                <a:ea typeface="微软雅黑" panose="020B0503020204020204" pitchFamily="34" charset="-122"/>
                <a:cs typeface="Times New Roman" pitchFamily="18" charset="0"/>
              </a:rPr>
              <a:t>流表</a:t>
            </a:r>
          </a:p>
        </p:txBody>
      </p:sp>
      <p:sp>
        <p:nvSpPr>
          <p:cNvPr id="51" name="TextBox 78"/>
          <p:cNvSpPr txBox="1"/>
          <p:nvPr/>
        </p:nvSpPr>
        <p:spPr>
          <a:xfrm>
            <a:off x="342576" y="2686178"/>
            <a:ext cx="556926" cy="537276"/>
          </a:xfrm>
          <a:prstGeom prst="rect">
            <a:avLst/>
          </a:prstGeom>
          <a:noFill/>
        </p:spPr>
        <p:txBody>
          <a:bodyPr wrap="none" rtlCol="0">
            <a:spAutoFit/>
          </a:bodyPr>
          <a:lstStyle/>
          <a:p>
            <a:r>
              <a:rPr lang="zh-CN" altLang="en-US" sz="1600" b="1" dirty="0">
                <a:latin typeface="微软雅黑" panose="020B0503020204020204" pitchFamily="34" charset="-122"/>
                <a:ea typeface="微软雅黑" panose="020B0503020204020204" pitchFamily="34" charset="-122"/>
                <a:cs typeface="Times New Roman" pitchFamily="18" charset="0"/>
              </a:rPr>
              <a:t>匹配</a:t>
            </a:r>
            <a:endParaRPr lang="en-US" altLang="zh-CN" sz="1600" b="1" dirty="0">
              <a:latin typeface="微软雅黑" panose="020B0503020204020204" pitchFamily="34" charset="-122"/>
              <a:ea typeface="微软雅黑" panose="020B0503020204020204" pitchFamily="34" charset="-122"/>
              <a:cs typeface="Times New Roman" pitchFamily="18" charset="0"/>
            </a:endParaRPr>
          </a:p>
          <a:p>
            <a:r>
              <a:rPr lang="zh-CN" altLang="en-US" sz="1600" b="1" dirty="0">
                <a:latin typeface="微软雅黑" panose="020B0503020204020204" pitchFamily="34" charset="-122"/>
                <a:ea typeface="微软雅黑" panose="020B0503020204020204" pitchFamily="34" charset="-122"/>
                <a:cs typeface="Times New Roman" pitchFamily="18" charset="0"/>
              </a:rPr>
              <a:t>字段</a:t>
            </a:r>
          </a:p>
        </p:txBody>
      </p:sp>
      <p:sp>
        <p:nvSpPr>
          <p:cNvPr id="52" name="左大括号 51"/>
          <p:cNvSpPr/>
          <p:nvPr/>
        </p:nvSpPr>
        <p:spPr>
          <a:xfrm>
            <a:off x="1989836" y="1120537"/>
            <a:ext cx="134793" cy="977964"/>
          </a:xfrm>
          <a:prstGeom prst="leftBrace">
            <a:avLst>
              <a:gd name="adj1" fmla="val 93733"/>
              <a:gd name="adj2" fmla="val 51857"/>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39" name="矩形 38"/>
          <p:cNvSpPr/>
          <p:nvPr/>
        </p:nvSpPr>
        <p:spPr>
          <a:xfrm>
            <a:off x="2176538" y="1106115"/>
            <a:ext cx="2830643" cy="101960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19" name="矩形 18"/>
          <p:cNvSpPr/>
          <p:nvPr/>
        </p:nvSpPr>
        <p:spPr>
          <a:xfrm>
            <a:off x="876736" y="2663293"/>
            <a:ext cx="7521683" cy="59543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54" name="矩形 53"/>
          <p:cNvSpPr/>
          <p:nvPr/>
        </p:nvSpPr>
        <p:spPr>
          <a:xfrm>
            <a:off x="733332" y="3666639"/>
            <a:ext cx="8021370" cy="733534"/>
          </a:xfrm>
          <a:prstGeom prst="rect">
            <a:avLst/>
          </a:prstGeom>
        </p:spPr>
        <p:txBody>
          <a:bodyPr wrap="square">
            <a:spAutoFit/>
          </a:bodyPr>
          <a:lstStyle/>
          <a:p>
            <a:pPr>
              <a:lnSpc>
                <a:spcPts val="2500"/>
              </a:lnSpc>
            </a:pPr>
            <a:r>
              <a:rPr lang="en-US" altLang="zh-CN" b="1" dirty="0">
                <a:solidFill>
                  <a:srgbClr val="000099"/>
                </a:solidFill>
                <a:latin typeface="微软雅黑" pitchFamily="34" charset="-122"/>
                <a:ea typeface="微软雅黑" pitchFamily="34" charset="-122"/>
              </a:rPr>
              <a:t>(2) </a:t>
            </a:r>
            <a:r>
              <a:rPr lang="zh-CN" altLang="en-US" b="1" dirty="0">
                <a:solidFill>
                  <a:srgbClr val="000099"/>
                </a:solidFill>
                <a:latin typeface="微软雅黑" pitchFamily="34" charset="-122"/>
                <a:ea typeface="微软雅黑" pitchFamily="34" charset="-122"/>
              </a:rPr>
              <a:t>计数器：一组计数器，可包括已经与该表项匹配的分组数量，以及从该表项上次更新到现在经历的时间。</a:t>
            </a:r>
          </a:p>
        </p:txBody>
      </p:sp>
      <p:sp>
        <p:nvSpPr>
          <p:cNvPr id="4" name="矩形 3"/>
          <p:cNvSpPr/>
          <p:nvPr/>
        </p:nvSpPr>
        <p:spPr>
          <a:xfrm>
            <a:off x="5234150" y="1094371"/>
            <a:ext cx="2499788" cy="1118255"/>
          </a:xfrm>
          <a:prstGeom prst="rect">
            <a:avLst/>
          </a:prstGeom>
          <a:solidFill>
            <a:schemeClr val="bg1"/>
          </a:solidFill>
        </p:spPr>
        <p:txBody>
          <a:bodyPr wrap="square">
            <a:spAutoFit/>
          </a:bodyPr>
          <a:lstStyle/>
          <a:p>
            <a:pPr>
              <a:lnSpc>
                <a:spcPts val="2000"/>
              </a:lnSpc>
            </a:pPr>
            <a:r>
              <a:rPr lang="zh-CN"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三个字段</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endParaRPr>
          </a:p>
          <a:p>
            <a:pPr marL="285750" indent="-285750">
              <a:lnSpc>
                <a:spcPts val="2000"/>
              </a:lnSpc>
              <a:buFont typeface="Wingdings" panose="05000000000000000000" pitchFamily="2" charset="2"/>
              <a:buChar char="l"/>
            </a:pPr>
            <a:r>
              <a:rPr lang="zh-CN"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首部字段值（匹配字段）</a:t>
            </a:r>
            <a:endPar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endParaRPr>
          </a:p>
          <a:p>
            <a:pPr marL="285750" indent="-285750">
              <a:lnSpc>
                <a:spcPts val="2000"/>
              </a:lnSpc>
              <a:buFont typeface="Wingdings" panose="05000000000000000000" pitchFamily="2" charset="2"/>
              <a:buChar char="l"/>
            </a:pPr>
            <a:r>
              <a:rPr lang="zh-CN"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计数器</a:t>
            </a:r>
            <a:endPar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endParaRPr>
          </a:p>
          <a:p>
            <a:pPr marL="285750" indent="-285750">
              <a:lnSpc>
                <a:spcPts val="2000"/>
              </a:lnSpc>
              <a:buFont typeface="Wingdings" panose="05000000000000000000" pitchFamily="2" charset="2"/>
              <a:buChar char="l"/>
            </a:pPr>
            <a:r>
              <a:rPr lang="zh-CN"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动作</a:t>
            </a:r>
            <a:endParaRPr lang="zh-CN" altLang="en-US" sz="1400" b="1" dirty="0">
              <a:latin typeface="微软雅黑" panose="020B0503020204020204" pitchFamily="34" charset="-122"/>
              <a:ea typeface="微软雅黑" panose="020B0503020204020204" pitchFamily="34" charset="-122"/>
            </a:endParaRPr>
          </a:p>
        </p:txBody>
      </p:sp>
      <p:sp>
        <p:nvSpPr>
          <p:cNvPr id="55" name="文本框 54"/>
          <p:cNvSpPr txBox="1"/>
          <p:nvPr/>
        </p:nvSpPr>
        <p:spPr>
          <a:xfrm>
            <a:off x="2476393" y="1593747"/>
            <a:ext cx="516554" cy="276999"/>
          </a:xfrm>
          <a:prstGeom prst="rect">
            <a:avLst/>
          </a:prstGeom>
          <a:noFill/>
        </p:spPr>
        <p:txBody>
          <a:bodyPr wrap="square" rtlCol="0">
            <a:spAutoFit/>
          </a:bodyPr>
          <a:lstStyle/>
          <a:p>
            <a:r>
              <a:rPr lang="en-US" altLang="zh-CN" sz="1200" b="1" dirty="0">
                <a:latin typeface="微软雅黑" panose="020B0503020204020204" pitchFamily="34" charset="-122"/>
                <a:ea typeface="微软雅黑" panose="020B0503020204020204" pitchFamily="34" charset="-122"/>
              </a:rPr>
              <a:t>. . . </a:t>
            </a:r>
            <a:endParaRPr lang="zh-CN" altLang="en-US" sz="1200" b="1" dirty="0">
              <a:latin typeface="微软雅黑" panose="020B0503020204020204" pitchFamily="34" charset="-122"/>
              <a:ea typeface="微软雅黑" panose="020B0503020204020204" pitchFamily="34" charset="-122"/>
            </a:endParaRPr>
          </a:p>
        </p:txBody>
      </p:sp>
      <p:sp>
        <p:nvSpPr>
          <p:cNvPr id="56" name="文本框 55"/>
          <p:cNvSpPr txBox="1"/>
          <p:nvPr/>
        </p:nvSpPr>
        <p:spPr>
          <a:xfrm>
            <a:off x="3445554" y="1593747"/>
            <a:ext cx="516554" cy="276999"/>
          </a:xfrm>
          <a:prstGeom prst="rect">
            <a:avLst/>
          </a:prstGeom>
          <a:noFill/>
        </p:spPr>
        <p:txBody>
          <a:bodyPr wrap="square" rtlCol="0">
            <a:spAutoFit/>
          </a:bodyPr>
          <a:lstStyle/>
          <a:p>
            <a:r>
              <a:rPr lang="en-US" altLang="zh-CN" sz="1200" b="1" dirty="0">
                <a:latin typeface="微软雅黑" panose="020B0503020204020204" pitchFamily="34" charset="-122"/>
                <a:ea typeface="微软雅黑" panose="020B0503020204020204" pitchFamily="34" charset="-122"/>
              </a:rPr>
              <a:t>. . . </a:t>
            </a:r>
            <a:endParaRPr lang="zh-CN" altLang="en-US" sz="1200" b="1" dirty="0">
              <a:latin typeface="微软雅黑" panose="020B0503020204020204" pitchFamily="34" charset="-122"/>
              <a:ea typeface="微软雅黑" panose="020B0503020204020204" pitchFamily="34" charset="-122"/>
            </a:endParaRPr>
          </a:p>
        </p:txBody>
      </p:sp>
      <p:sp>
        <p:nvSpPr>
          <p:cNvPr id="57" name="文本框 56"/>
          <p:cNvSpPr txBox="1"/>
          <p:nvPr/>
        </p:nvSpPr>
        <p:spPr>
          <a:xfrm>
            <a:off x="4313277" y="1593747"/>
            <a:ext cx="516554" cy="276999"/>
          </a:xfrm>
          <a:prstGeom prst="rect">
            <a:avLst/>
          </a:prstGeom>
          <a:noFill/>
        </p:spPr>
        <p:txBody>
          <a:bodyPr wrap="square" rtlCol="0">
            <a:spAutoFit/>
          </a:bodyPr>
          <a:lstStyle/>
          <a:p>
            <a:r>
              <a:rPr lang="en-US" altLang="zh-CN" sz="1200" b="1" dirty="0">
                <a:latin typeface="微软雅黑" panose="020B0503020204020204" pitchFamily="34" charset="-122"/>
                <a:ea typeface="微软雅黑" panose="020B0503020204020204" pitchFamily="34" charset="-122"/>
              </a:rPr>
              <a:t>. . . </a:t>
            </a:r>
            <a:endParaRPr lang="zh-CN" altLang="en-US" sz="1200" b="1"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40645661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圆角矩形 52"/>
          <p:cNvSpPr/>
          <p:nvPr/>
        </p:nvSpPr>
        <p:spPr>
          <a:xfrm>
            <a:off x="545144" y="1017562"/>
            <a:ext cx="8053711" cy="264909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5" name="AutoShape 5"/>
          <p:cNvSpPr>
            <a:spLocks noChangeArrowheads="1"/>
          </p:cNvSpPr>
          <p:nvPr/>
        </p:nvSpPr>
        <p:spPr bwMode="auto">
          <a:xfrm>
            <a:off x="545144" y="614144"/>
            <a:ext cx="8053711" cy="353930"/>
          </a:xfrm>
          <a:prstGeom prst="roundRect">
            <a:avLst>
              <a:gd name="adj" fmla="val 16667"/>
            </a:avLst>
          </a:prstGeom>
          <a:solidFill>
            <a:srgbClr val="00B050"/>
          </a:solidFill>
          <a:ln>
            <a:noFill/>
          </a:ln>
          <a:effectLst/>
        </p:spPr>
        <p:txBody>
          <a:bodyPr wrap="none" anchor="ctr"/>
          <a:lstStyle/>
          <a:p>
            <a:endParaRPr lang="zh-CN" altLang="en-US" sz="1200"/>
          </a:p>
        </p:txBody>
      </p:sp>
      <p:sp>
        <p:nvSpPr>
          <p:cNvPr id="6" name="Rectangle 6"/>
          <p:cNvSpPr>
            <a:spLocks noChangeArrowheads="1"/>
          </p:cNvSpPr>
          <p:nvPr/>
        </p:nvSpPr>
        <p:spPr bwMode="auto">
          <a:xfrm>
            <a:off x="1941968" y="5809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流表结构</a:t>
            </a:r>
          </a:p>
        </p:txBody>
      </p:sp>
      <p:cxnSp>
        <p:nvCxnSpPr>
          <p:cNvPr id="16" name="直接箭头连接符 15"/>
          <p:cNvCxnSpPr/>
          <p:nvPr/>
        </p:nvCxnSpPr>
        <p:spPr>
          <a:xfrm flipV="1">
            <a:off x="1463720" y="3457201"/>
            <a:ext cx="2826134" cy="1458"/>
          </a:xfrm>
          <a:prstGeom prst="straightConnector1">
            <a:avLst/>
          </a:prstGeom>
          <a:ln w="19050">
            <a:solidFill>
              <a:srgbClr val="000066"/>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7" name="直接箭头连接符 16"/>
          <p:cNvCxnSpPr/>
          <p:nvPr/>
        </p:nvCxnSpPr>
        <p:spPr>
          <a:xfrm>
            <a:off x="4295881" y="3457201"/>
            <a:ext cx="2692750" cy="5646"/>
          </a:xfrm>
          <a:prstGeom prst="straightConnector1">
            <a:avLst/>
          </a:prstGeom>
          <a:ln w="19050">
            <a:solidFill>
              <a:srgbClr val="C00000"/>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8" name="直接箭头连接符 17"/>
          <p:cNvCxnSpPr/>
          <p:nvPr/>
        </p:nvCxnSpPr>
        <p:spPr>
          <a:xfrm>
            <a:off x="6983934" y="3457201"/>
            <a:ext cx="1426733" cy="1516"/>
          </a:xfrm>
          <a:prstGeom prst="straightConnector1">
            <a:avLst/>
          </a:prstGeom>
          <a:ln w="19050">
            <a:solidFill>
              <a:srgbClr val="660066"/>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1483302" y="2663293"/>
            <a:ext cx="0" cy="595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直接连接符 20"/>
          <p:cNvCxnSpPr>
            <a:endCxn id="19" idx="3"/>
          </p:cNvCxnSpPr>
          <p:nvPr/>
        </p:nvCxnSpPr>
        <p:spPr>
          <a:xfrm>
            <a:off x="1489315" y="2955231"/>
            <a:ext cx="6909104" cy="577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TextBox 12"/>
          <p:cNvSpPr txBox="1"/>
          <p:nvPr/>
        </p:nvSpPr>
        <p:spPr>
          <a:xfrm>
            <a:off x="2082258" y="2689294"/>
            <a:ext cx="6370077" cy="276999"/>
          </a:xfrm>
          <a:prstGeom prst="rect">
            <a:avLst/>
          </a:prstGeom>
          <a:noFill/>
        </p:spPr>
        <p:txBody>
          <a:bodyPr wrap="none" rtlCol="0">
            <a:spAutoFit/>
          </a:bodyPr>
          <a:lstStyle/>
          <a:p>
            <a:r>
              <a:rPr lang="zh-CN" altLang="en-US" sz="1200" b="1" dirty="0">
                <a:solidFill>
                  <a:srgbClr val="000066"/>
                </a:solidFill>
                <a:latin typeface="微软雅黑" panose="020B0503020204020204" pitchFamily="34" charset="-122"/>
                <a:ea typeface="微软雅黑" panose="020B0503020204020204" pitchFamily="34" charset="-122"/>
                <a:cs typeface="Times New Roman" pitchFamily="18" charset="0"/>
              </a:rPr>
              <a:t>以太网                     </a:t>
            </a:r>
            <a:r>
              <a:rPr lang="en-US" altLang="zh-CN" sz="1200" b="1" dirty="0">
                <a:solidFill>
                  <a:srgbClr val="000066"/>
                </a:solidFill>
                <a:latin typeface="微软雅黑" panose="020B0503020204020204" pitchFamily="34" charset="-122"/>
                <a:ea typeface="微软雅黑" panose="020B0503020204020204" pitchFamily="34" charset="-122"/>
                <a:cs typeface="Times New Roman" pitchFamily="18" charset="0"/>
              </a:rPr>
              <a:t>VLAN </a:t>
            </a:r>
            <a:r>
              <a:rPr lang="en-US" altLang="zh-CN" sz="1200" b="1" dirty="0">
                <a:latin typeface="微软雅黑" panose="020B0503020204020204" pitchFamily="34" charset="-122"/>
                <a:ea typeface="微软雅黑" panose="020B0503020204020204" pitchFamily="34" charset="-122"/>
                <a:cs typeface="Times New Roman" pitchFamily="18" charset="0"/>
              </a:rPr>
              <a:t>                                  </a:t>
            </a:r>
            <a:r>
              <a:rPr lang="en-US" altLang="zh-CN" sz="1200" b="1" dirty="0">
                <a:solidFill>
                  <a:srgbClr val="C00000"/>
                </a:solidFill>
                <a:latin typeface="微软雅黑" panose="020B0503020204020204" pitchFamily="34" charset="-122"/>
                <a:ea typeface="微软雅黑" panose="020B0503020204020204" pitchFamily="34" charset="-122"/>
                <a:cs typeface="Times New Roman" pitchFamily="18" charset="0"/>
              </a:rPr>
              <a:t>IP</a:t>
            </a:r>
            <a:r>
              <a:rPr lang="en-US" altLang="zh-CN" sz="1200" b="1" dirty="0">
                <a:latin typeface="微软雅黑" panose="020B0503020204020204" pitchFamily="34" charset="-122"/>
                <a:ea typeface="微软雅黑" panose="020B0503020204020204" pitchFamily="34" charset="-122"/>
                <a:cs typeface="Times New Roman" pitchFamily="18" charset="0"/>
              </a:rPr>
              <a:t>                                  </a:t>
            </a:r>
            <a:r>
              <a:rPr lang="en-US" altLang="zh-CN" sz="1200" b="1" dirty="0">
                <a:solidFill>
                  <a:srgbClr val="660066"/>
                </a:solidFill>
                <a:latin typeface="微软雅黑" panose="020B0503020204020204" pitchFamily="34" charset="-122"/>
                <a:ea typeface="微软雅黑" panose="020B0503020204020204" pitchFamily="34" charset="-122"/>
                <a:cs typeface="Times New Roman" pitchFamily="18" charset="0"/>
              </a:rPr>
              <a:t>TCP/UDP</a:t>
            </a:r>
            <a:endParaRPr lang="zh-CN" altLang="en-US" sz="1200" b="1" dirty="0">
              <a:solidFill>
                <a:srgbClr val="660066"/>
              </a:solidFill>
              <a:latin typeface="微软雅黑" panose="020B0503020204020204" pitchFamily="34" charset="-122"/>
              <a:ea typeface="微软雅黑" panose="020B0503020204020204" pitchFamily="34" charset="-122"/>
              <a:cs typeface="Times New Roman" pitchFamily="18" charset="0"/>
            </a:endParaRPr>
          </a:p>
        </p:txBody>
      </p:sp>
      <p:sp>
        <p:nvSpPr>
          <p:cNvPr id="23" name="TextBox 14"/>
          <p:cNvSpPr txBox="1"/>
          <p:nvPr/>
        </p:nvSpPr>
        <p:spPr>
          <a:xfrm>
            <a:off x="853839" y="2834279"/>
            <a:ext cx="604937" cy="254499"/>
          </a:xfrm>
          <a:prstGeom prst="rect">
            <a:avLst/>
          </a:prstGeom>
          <a:noFill/>
        </p:spPr>
        <p:txBody>
          <a:bodyPr wrap="none" rtlCol="0">
            <a:spAutoFit/>
          </a:bodyPr>
          <a:lstStyle/>
          <a:p>
            <a:r>
              <a:rPr lang="zh-CN" altLang="en-US" sz="1200" b="1" dirty="0">
                <a:latin typeface="微软雅黑" panose="020B0503020204020204" pitchFamily="34" charset="-122"/>
                <a:ea typeface="微软雅黑" panose="020B0503020204020204" pitchFamily="34" charset="-122"/>
                <a:cs typeface="Times New Roman" pitchFamily="18" charset="0"/>
              </a:rPr>
              <a:t>入端口</a:t>
            </a:r>
          </a:p>
        </p:txBody>
      </p:sp>
      <p:sp>
        <p:nvSpPr>
          <p:cNvPr id="24" name="TextBox 10"/>
          <p:cNvSpPr txBox="1"/>
          <p:nvPr/>
        </p:nvSpPr>
        <p:spPr>
          <a:xfrm>
            <a:off x="1500638" y="2982807"/>
            <a:ext cx="7002238" cy="276999"/>
          </a:xfrm>
          <a:prstGeom prst="rect">
            <a:avLst/>
          </a:prstGeom>
          <a:noFill/>
        </p:spPr>
        <p:txBody>
          <a:bodyPr wrap="none" rtlCol="0">
            <a:spAutoFit/>
          </a:bodyPr>
          <a:lstStyle/>
          <a:p>
            <a:r>
              <a:rPr lang="zh-CN" altLang="en-US" sz="1200" b="1" dirty="0">
                <a:solidFill>
                  <a:srgbClr val="000066"/>
                </a:solidFill>
                <a:latin typeface="微软雅黑" panose="020B0503020204020204" pitchFamily="34" charset="-122"/>
                <a:ea typeface="微软雅黑" panose="020B0503020204020204" pitchFamily="34" charset="-122"/>
                <a:cs typeface="Times New Roman" pitchFamily="18" charset="0"/>
              </a:rPr>
              <a:t>源地址   目的地址    类型   </a:t>
            </a:r>
            <a:r>
              <a:rPr lang="en-US" altLang="zh-CN" sz="1200" b="1" dirty="0">
                <a:solidFill>
                  <a:srgbClr val="000066"/>
                </a:solidFill>
                <a:latin typeface="微软雅黑" panose="020B0503020204020204" pitchFamily="34" charset="-122"/>
                <a:ea typeface="微软雅黑" panose="020B0503020204020204" pitchFamily="34" charset="-122"/>
                <a:cs typeface="Times New Roman" pitchFamily="18" charset="0"/>
              </a:rPr>
              <a:t>ID    </a:t>
            </a:r>
            <a:r>
              <a:rPr lang="zh-CN" altLang="en-US" sz="1200" b="1" dirty="0">
                <a:solidFill>
                  <a:srgbClr val="000066"/>
                </a:solidFill>
                <a:latin typeface="微软雅黑" panose="020B0503020204020204" pitchFamily="34" charset="-122"/>
                <a:ea typeface="微软雅黑" panose="020B0503020204020204" pitchFamily="34" charset="-122"/>
                <a:cs typeface="Times New Roman" pitchFamily="18" charset="0"/>
              </a:rPr>
              <a:t>优先级 </a:t>
            </a:r>
            <a:r>
              <a:rPr lang="zh-CN" altLang="en-US" sz="1200" b="1" dirty="0">
                <a:latin typeface="微软雅黑" panose="020B0503020204020204" pitchFamily="34" charset="-122"/>
                <a:ea typeface="微软雅黑" panose="020B0503020204020204" pitchFamily="34" charset="-122"/>
                <a:cs typeface="Times New Roman" pitchFamily="18" charset="0"/>
              </a:rPr>
              <a:t>   </a:t>
            </a:r>
            <a:r>
              <a:rPr lang="zh-CN" altLang="en-US" sz="1200" b="1" dirty="0">
                <a:solidFill>
                  <a:srgbClr val="C00000"/>
                </a:solidFill>
                <a:latin typeface="微软雅黑" panose="020B0503020204020204" pitchFamily="34" charset="-122"/>
                <a:ea typeface="微软雅黑" panose="020B0503020204020204" pitchFamily="34" charset="-122"/>
                <a:cs typeface="Times New Roman" pitchFamily="18" charset="0"/>
              </a:rPr>
              <a:t>源地址    目的地址    协议   服务类型</a:t>
            </a:r>
            <a:r>
              <a:rPr lang="zh-CN" altLang="en-US" sz="1200" b="1" dirty="0">
                <a:latin typeface="微软雅黑" panose="020B0503020204020204" pitchFamily="34" charset="-122"/>
                <a:ea typeface="微软雅黑" panose="020B0503020204020204" pitchFamily="34" charset="-122"/>
                <a:cs typeface="Times New Roman" pitchFamily="18" charset="0"/>
              </a:rPr>
              <a:t>    </a:t>
            </a:r>
            <a:r>
              <a:rPr lang="zh-CN" altLang="en-US" sz="1200" b="1" dirty="0">
                <a:solidFill>
                  <a:srgbClr val="660066"/>
                </a:solidFill>
                <a:latin typeface="微软雅黑" panose="020B0503020204020204" pitchFamily="34" charset="-122"/>
                <a:ea typeface="微软雅黑" panose="020B0503020204020204" pitchFamily="34" charset="-122"/>
                <a:cs typeface="Times New Roman" pitchFamily="18" charset="0"/>
              </a:rPr>
              <a:t>源端口    目的端口</a:t>
            </a:r>
          </a:p>
        </p:txBody>
      </p:sp>
      <p:cxnSp>
        <p:nvCxnSpPr>
          <p:cNvPr id="25" name="直接连接符 24"/>
          <p:cNvCxnSpPr/>
          <p:nvPr/>
        </p:nvCxnSpPr>
        <p:spPr>
          <a:xfrm>
            <a:off x="3370397" y="2663293"/>
            <a:ext cx="0" cy="595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接连接符 25"/>
          <p:cNvCxnSpPr/>
          <p:nvPr/>
        </p:nvCxnSpPr>
        <p:spPr>
          <a:xfrm>
            <a:off x="4287200" y="2672044"/>
            <a:ext cx="0" cy="595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直接连接符 26"/>
          <p:cNvCxnSpPr/>
          <p:nvPr/>
        </p:nvCxnSpPr>
        <p:spPr>
          <a:xfrm>
            <a:off x="6989853" y="2660490"/>
            <a:ext cx="0" cy="595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flipH="1">
            <a:off x="2089869" y="2946480"/>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flipH="1">
            <a:off x="7634061" y="2955736"/>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flipH="1">
            <a:off x="6202644" y="2959815"/>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p:nvPr/>
        </p:nvCxnSpPr>
        <p:spPr>
          <a:xfrm flipH="1">
            <a:off x="2907927" y="2962694"/>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接连接符 31"/>
          <p:cNvCxnSpPr/>
          <p:nvPr/>
        </p:nvCxnSpPr>
        <p:spPr>
          <a:xfrm flipH="1">
            <a:off x="5758378" y="2957062"/>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flipH="1">
            <a:off x="4968122" y="2964765"/>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flipH="1">
            <a:off x="3678628" y="2949131"/>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TextBox 54"/>
          <p:cNvSpPr txBox="1"/>
          <p:nvPr/>
        </p:nvSpPr>
        <p:spPr>
          <a:xfrm>
            <a:off x="2575527" y="3312574"/>
            <a:ext cx="604937" cy="254499"/>
          </a:xfrm>
          <a:prstGeom prst="rect">
            <a:avLst/>
          </a:prstGeom>
          <a:solidFill>
            <a:srgbClr val="C3E3F9"/>
          </a:solidFill>
        </p:spPr>
        <p:txBody>
          <a:bodyPr wrap="none" rtlCol="0">
            <a:spAutoFit/>
          </a:bodyPr>
          <a:lstStyle/>
          <a:p>
            <a:r>
              <a:rPr lang="zh-CN" altLang="en-US" sz="1200" b="1" dirty="0">
                <a:latin typeface="微软雅黑" panose="020B0503020204020204" pitchFamily="34" charset="-122"/>
                <a:ea typeface="微软雅黑" panose="020B0503020204020204" pitchFamily="34" charset="-122"/>
                <a:cs typeface="Times New Roman" pitchFamily="18" charset="0"/>
              </a:rPr>
              <a:t>链路层</a:t>
            </a:r>
          </a:p>
        </p:txBody>
      </p:sp>
      <p:sp>
        <p:nvSpPr>
          <p:cNvPr id="36" name="TextBox 55"/>
          <p:cNvSpPr txBox="1"/>
          <p:nvPr/>
        </p:nvSpPr>
        <p:spPr>
          <a:xfrm>
            <a:off x="5303829" y="3312572"/>
            <a:ext cx="604937" cy="254499"/>
          </a:xfrm>
          <a:prstGeom prst="rect">
            <a:avLst/>
          </a:prstGeom>
          <a:solidFill>
            <a:srgbClr val="C3E3F9"/>
          </a:solidFill>
        </p:spPr>
        <p:txBody>
          <a:bodyPr wrap="none" rtlCol="0">
            <a:spAutoFit/>
          </a:bodyPr>
          <a:lstStyle/>
          <a:p>
            <a:r>
              <a:rPr lang="zh-CN" altLang="en-US" sz="1200" b="1" dirty="0">
                <a:latin typeface="微软雅黑" panose="020B0503020204020204" pitchFamily="34" charset="-122"/>
                <a:ea typeface="微软雅黑" panose="020B0503020204020204" pitchFamily="34" charset="-122"/>
                <a:cs typeface="Times New Roman" pitchFamily="18" charset="0"/>
              </a:rPr>
              <a:t>网络层</a:t>
            </a:r>
          </a:p>
        </p:txBody>
      </p:sp>
      <p:sp>
        <p:nvSpPr>
          <p:cNvPr id="37" name="TextBox 56"/>
          <p:cNvSpPr txBox="1"/>
          <p:nvPr/>
        </p:nvSpPr>
        <p:spPr>
          <a:xfrm>
            <a:off x="7318657" y="3312572"/>
            <a:ext cx="604937" cy="254499"/>
          </a:xfrm>
          <a:prstGeom prst="rect">
            <a:avLst/>
          </a:prstGeom>
          <a:solidFill>
            <a:srgbClr val="C3E3F9"/>
          </a:solidFill>
        </p:spPr>
        <p:txBody>
          <a:bodyPr wrap="none" rtlCol="0">
            <a:spAutoFit/>
          </a:bodyPr>
          <a:lstStyle/>
          <a:p>
            <a:r>
              <a:rPr lang="zh-CN" altLang="en-US" sz="1200" b="1" dirty="0">
                <a:latin typeface="微软雅黑" panose="020B0503020204020204" pitchFamily="34" charset="-122"/>
                <a:ea typeface="微软雅黑" panose="020B0503020204020204" pitchFamily="34" charset="-122"/>
                <a:cs typeface="Times New Roman" pitchFamily="18" charset="0"/>
              </a:rPr>
              <a:t>运输层</a:t>
            </a:r>
          </a:p>
        </p:txBody>
      </p:sp>
      <p:sp>
        <p:nvSpPr>
          <p:cNvPr id="38" name="TextBox 57"/>
          <p:cNvSpPr txBox="1"/>
          <p:nvPr/>
        </p:nvSpPr>
        <p:spPr>
          <a:xfrm>
            <a:off x="2198919" y="1105517"/>
            <a:ext cx="2729129" cy="1050988"/>
          </a:xfrm>
          <a:prstGeom prst="rect">
            <a:avLst/>
          </a:prstGeom>
          <a:noFill/>
        </p:spPr>
        <p:txBody>
          <a:bodyPr wrap="square" rtlCol="0">
            <a:spAutoFit/>
          </a:bodyPr>
          <a:lstStyle/>
          <a:p>
            <a:pPr>
              <a:lnSpc>
                <a:spcPts val="1700"/>
              </a:lnSpc>
              <a:spcAft>
                <a:spcPts val="600"/>
              </a:spcAft>
            </a:pPr>
            <a:r>
              <a:rPr lang="zh-CN" altLang="en-US" sz="1200" b="1" dirty="0">
                <a:latin typeface="微软雅黑" panose="020B0503020204020204" pitchFamily="34" charset="-122"/>
                <a:ea typeface="微软雅黑" panose="020B0503020204020204" pitchFamily="34" charset="-122"/>
                <a:cs typeface="Times New Roman" pitchFamily="18" charset="0"/>
              </a:rPr>
              <a:t>首部字段值        计数器           动作</a:t>
            </a: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nSpc>
                <a:spcPts val="1700"/>
              </a:lnSpc>
            </a:pPr>
            <a:r>
              <a:rPr lang="zh-CN" altLang="en-US" sz="1200" b="1" dirty="0">
                <a:latin typeface="微软雅黑" panose="020B0503020204020204" pitchFamily="34" charset="-122"/>
                <a:ea typeface="微软雅黑" panose="020B0503020204020204" pitchFamily="34" charset="-122"/>
                <a:cs typeface="Times New Roman" pitchFamily="18" charset="0"/>
              </a:rPr>
              <a:t>首部字段值        计数器           动作</a:t>
            </a: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nSpc>
                <a:spcPts val="1700"/>
              </a:lnSpc>
            </a:pP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nSpc>
                <a:spcPts val="1700"/>
              </a:lnSpc>
              <a:spcAft>
                <a:spcPts val="1200"/>
              </a:spcAft>
            </a:pPr>
            <a:r>
              <a:rPr lang="zh-CN" altLang="en-US" sz="1200" b="1" dirty="0">
                <a:latin typeface="微软雅黑" panose="020B0503020204020204" pitchFamily="34" charset="-122"/>
                <a:ea typeface="微软雅黑" panose="020B0503020204020204" pitchFamily="34" charset="-122"/>
                <a:cs typeface="Times New Roman" pitchFamily="18" charset="0"/>
              </a:rPr>
              <a:t>首部字段值        计数器           动作</a:t>
            </a:r>
            <a:endParaRPr lang="en-US" altLang="zh-CN" sz="1200" b="1" dirty="0">
              <a:latin typeface="微软雅黑" panose="020B0503020204020204" pitchFamily="34" charset="-122"/>
              <a:ea typeface="微软雅黑" panose="020B0503020204020204" pitchFamily="34" charset="-122"/>
              <a:cs typeface="Times New Roman" pitchFamily="18" charset="0"/>
            </a:endParaRPr>
          </a:p>
        </p:txBody>
      </p:sp>
      <p:grpSp>
        <p:nvGrpSpPr>
          <p:cNvPr id="40" name="组合 39"/>
          <p:cNvGrpSpPr/>
          <p:nvPr/>
        </p:nvGrpSpPr>
        <p:grpSpPr>
          <a:xfrm>
            <a:off x="2159745" y="1398001"/>
            <a:ext cx="2847436" cy="459135"/>
            <a:chOff x="3185906" y="1442434"/>
            <a:chExt cx="2405342" cy="499726"/>
          </a:xfrm>
        </p:grpSpPr>
        <p:cxnSp>
          <p:nvCxnSpPr>
            <p:cNvPr id="41" name="直接连接符 40"/>
            <p:cNvCxnSpPr/>
            <p:nvPr/>
          </p:nvCxnSpPr>
          <p:spPr>
            <a:xfrm>
              <a:off x="3214984" y="1442434"/>
              <a:ext cx="237626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a:xfrm>
              <a:off x="3185906" y="1727714"/>
              <a:ext cx="237626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a:off x="3204215" y="1942160"/>
              <a:ext cx="237626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 name="直接连接符 43"/>
          <p:cNvCxnSpPr/>
          <p:nvPr/>
        </p:nvCxnSpPr>
        <p:spPr>
          <a:xfrm>
            <a:off x="4131028" y="1102182"/>
            <a:ext cx="1" cy="101761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接连接符 44"/>
          <p:cNvCxnSpPr/>
          <p:nvPr/>
        </p:nvCxnSpPr>
        <p:spPr>
          <a:xfrm>
            <a:off x="3223644" y="1100199"/>
            <a:ext cx="1" cy="101761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任意多边形 48"/>
          <p:cNvSpPr/>
          <p:nvPr/>
        </p:nvSpPr>
        <p:spPr>
          <a:xfrm>
            <a:off x="877564" y="2126387"/>
            <a:ext cx="7526075" cy="535824"/>
          </a:xfrm>
          <a:custGeom>
            <a:avLst/>
            <a:gdLst>
              <a:gd name="connsiteX0" fmla="*/ 2182305 w 8041064"/>
              <a:gd name="connsiteY0" fmla="*/ 0 h 763571"/>
              <a:gd name="connsiteX1" fmla="*/ 3299382 w 8041064"/>
              <a:gd name="connsiteY1" fmla="*/ 0 h 763571"/>
              <a:gd name="connsiteX2" fmla="*/ 8041064 w 8041064"/>
              <a:gd name="connsiteY2" fmla="*/ 749431 h 763571"/>
              <a:gd name="connsiteX3" fmla="*/ 0 w 8041064"/>
              <a:gd name="connsiteY3" fmla="*/ 763571 h 763571"/>
              <a:gd name="connsiteX4" fmla="*/ 2182305 w 8041064"/>
              <a:gd name="connsiteY4" fmla="*/ 0 h 763571"/>
              <a:gd name="connsiteX0" fmla="*/ 1389122 w 8041064"/>
              <a:gd name="connsiteY0" fmla="*/ 0 h 776694"/>
              <a:gd name="connsiteX1" fmla="*/ 3299382 w 8041064"/>
              <a:gd name="connsiteY1" fmla="*/ 13123 h 776694"/>
              <a:gd name="connsiteX2" fmla="*/ 8041064 w 8041064"/>
              <a:gd name="connsiteY2" fmla="*/ 762554 h 776694"/>
              <a:gd name="connsiteX3" fmla="*/ 0 w 8041064"/>
              <a:gd name="connsiteY3" fmla="*/ 776694 h 776694"/>
              <a:gd name="connsiteX4" fmla="*/ 1389122 w 8041064"/>
              <a:gd name="connsiteY4" fmla="*/ 0 h 776694"/>
              <a:gd name="connsiteX0" fmla="*/ 1389122 w 8041064"/>
              <a:gd name="connsiteY0" fmla="*/ 0 h 776694"/>
              <a:gd name="connsiteX1" fmla="*/ 2535219 w 8041064"/>
              <a:gd name="connsiteY1" fmla="*/ 0 h 776694"/>
              <a:gd name="connsiteX2" fmla="*/ 8041064 w 8041064"/>
              <a:gd name="connsiteY2" fmla="*/ 762554 h 776694"/>
              <a:gd name="connsiteX3" fmla="*/ 0 w 8041064"/>
              <a:gd name="connsiteY3" fmla="*/ 776694 h 776694"/>
              <a:gd name="connsiteX4" fmla="*/ 1389122 w 8041064"/>
              <a:gd name="connsiteY4" fmla="*/ 0 h 7766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41064" h="776694">
                <a:moveTo>
                  <a:pt x="1389122" y="0"/>
                </a:moveTo>
                <a:lnTo>
                  <a:pt x="2535219" y="0"/>
                </a:lnTo>
                <a:lnTo>
                  <a:pt x="8041064" y="762554"/>
                </a:lnTo>
                <a:lnTo>
                  <a:pt x="0" y="776694"/>
                </a:lnTo>
                <a:lnTo>
                  <a:pt x="1389122" y="0"/>
                </a:lnTo>
                <a:close/>
              </a:path>
            </a:pathLst>
          </a:custGeom>
          <a:gradFill flip="none" rotWithShape="1">
            <a:gsLst>
              <a:gs pos="0">
                <a:schemeClr val="bg1">
                  <a:lumMod val="95000"/>
                  <a:shade val="30000"/>
                  <a:satMod val="115000"/>
                </a:schemeClr>
              </a:gs>
              <a:gs pos="50000">
                <a:schemeClr val="bg1">
                  <a:lumMod val="95000"/>
                  <a:shade val="67500"/>
                  <a:satMod val="115000"/>
                </a:schemeClr>
              </a:gs>
              <a:gs pos="100000">
                <a:schemeClr val="bg1">
                  <a:lumMod val="95000"/>
                  <a:shade val="100000"/>
                  <a:satMod val="115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50" name="TextBox 77"/>
          <p:cNvSpPr txBox="1"/>
          <p:nvPr/>
        </p:nvSpPr>
        <p:spPr>
          <a:xfrm>
            <a:off x="1447508" y="1473625"/>
            <a:ext cx="556926" cy="311054"/>
          </a:xfrm>
          <a:prstGeom prst="rect">
            <a:avLst/>
          </a:prstGeom>
          <a:noFill/>
        </p:spPr>
        <p:txBody>
          <a:bodyPr wrap="none" rtlCol="0">
            <a:spAutoFit/>
          </a:bodyPr>
          <a:lstStyle/>
          <a:p>
            <a:r>
              <a:rPr lang="zh-CN" altLang="en-US" sz="1600" b="1" dirty="0">
                <a:latin typeface="微软雅黑" panose="020B0503020204020204" pitchFamily="34" charset="-122"/>
                <a:ea typeface="微软雅黑" panose="020B0503020204020204" pitchFamily="34" charset="-122"/>
                <a:cs typeface="Times New Roman" pitchFamily="18" charset="0"/>
              </a:rPr>
              <a:t>流表</a:t>
            </a:r>
          </a:p>
        </p:txBody>
      </p:sp>
      <p:sp>
        <p:nvSpPr>
          <p:cNvPr id="51" name="TextBox 78"/>
          <p:cNvSpPr txBox="1"/>
          <p:nvPr/>
        </p:nvSpPr>
        <p:spPr>
          <a:xfrm>
            <a:off x="342576" y="2686178"/>
            <a:ext cx="556926" cy="537276"/>
          </a:xfrm>
          <a:prstGeom prst="rect">
            <a:avLst/>
          </a:prstGeom>
          <a:noFill/>
        </p:spPr>
        <p:txBody>
          <a:bodyPr wrap="none" rtlCol="0">
            <a:spAutoFit/>
          </a:bodyPr>
          <a:lstStyle/>
          <a:p>
            <a:r>
              <a:rPr lang="zh-CN" altLang="en-US" sz="1600" b="1" dirty="0">
                <a:latin typeface="微软雅黑" panose="020B0503020204020204" pitchFamily="34" charset="-122"/>
                <a:ea typeface="微软雅黑" panose="020B0503020204020204" pitchFamily="34" charset="-122"/>
                <a:cs typeface="Times New Roman" pitchFamily="18" charset="0"/>
              </a:rPr>
              <a:t>匹配</a:t>
            </a:r>
            <a:endParaRPr lang="en-US" altLang="zh-CN" sz="1600" b="1" dirty="0">
              <a:latin typeface="微软雅黑" panose="020B0503020204020204" pitchFamily="34" charset="-122"/>
              <a:ea typeface="微软雅黑" panose="020B0503020204020204" pitchFamily="34" charset="-122"/>
              <a:cs typeface="Times New Roman" pitchFamily="18" charset="0"/>
            </a:endParaRPr>
          </a:p>
          <a:p>
            <a:r>
              <a:rPr lang="zh-CN" altLang="en-US" sz="1600" b="1" dirty="0">
                <a:latin typeface="微软雅黑" panose="020B0503020204020204" pitchFamily="34" charset="-122"/>
                <a:ea typeface="微软雅黑" panose="020B0503020204020204" pitchFamily="34" charset="-122"/>
                <a:cs typeface="Times New Roman" pitchFamily="18" charset="0"/>
              </a:rPr>
              <a:t>字段</a:t>
            </a:r>
          </a:p>
        </p:txBody>
      </p:sp>
      <p:sp>
        <p:nvSpPr>
          <p:cNvPr id="52" name="左大括号 51"/>
          <p:cNvSpPr/>
          <p:nvPr/>
        </p:nvSpPr>
        <p:spPr>
          <a:xfrm>
            <a:off x="1989836" y="1120537"/>
            <a:ext cx="134793" cy="977964"/>
          </a:xfrm>
          <a:prstGeom prst="leftBrace">
            <a:avLst>
              <a:gd name="adj1" fmla="val 93733"/>
              <a:gd name="adj2" fmla="val 51857"/>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39" name="矩形 38"/>
          <p:cNvSpPr/>
          <p:nvPr/>
        </p:nvSpPr>
        <p:spPr>
          <a:xfrm>
            <a:off x="2176538" y="1106115"/>
            <a:ext cx="2830643" cy="101960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19" name="矩形 18"/>
          <p:cNvSpPr/>
          <p:nvPr/>
        </p:nvSpPr>
        <p:spPr>
          <a:xfrm>
            <a:off x="876736" y="2663293"/>
            <a:ext cx="7521683" cy="59543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54" name="矩形 53"/>
          <p:cNvSpPr/>
          <p:nvPr/>
        </p:nvSpPr>
        <p:spPr>
          <a:xfrm>
            <a:off x="733332" y="3666639"/>
            <a:ext cx="8021370" cy="1054135"/>
          </a:xfrm>
          <a:prstGeom prst="rect">
            <a:avLst/>
          </a:prstGeom>
        </p:spPr>
        <p:txBody>
          <a:bodyPr wrap="square">
            <a:spAutoFit/>
          </a:bodyPr>
          <a:lstStyle/>
          <a:p>
            <a:pPr>
              <a:lnSpc>
                <a:spcPts val="2500"/>
              </a:lnSpc>
            </a:pPr>
            <a:r>
              <a:rPr lang="en-US" altLang="zh-CN" b="1" dirty="0">
                <a:solidFill>
                  <a:srgbClr val="000099"/>
                </a:solidFill>
                <a:latin typeface="微软雅黑" pitchFamily="34" charset="-122"/>
                <a:ea typeface="微软雅黑" pitchFamily="34" charset="-122"/>
              </a:rPr>
              <a:t>(3) </a:t>
            </a:r>
            <a:r>
              <a:rPr lang="zh-CN" altLang="en-US" b="1" dirty="0">
                <a:solidFill>
                  <a:srgbClr val="000099"/>
                </a:solidFill>
                <a:latin typeface="微软雅黑" pitchFamily="34" charset="-122"/>
                <a:ea typeface="微软雅黑" pitchFamily="34" charset="-122"/>
              </a:rPr>
              <a:t>动作：一组动作。当分组匹配某个流表项时，把分组</a:t>
            </a:r>
            <a:r>
              <a:rPr lang="zh-CN" altLang="en-US" b="1" dirty="0">
                <a:solidFill>
                  <a:srgbClr val="C00000"/>
                </a:solidFill>
                <a:latin typeface="微软雅黑" pitchFamily="34" charset="-122"/>
                <a:ea typeface="微软雅黑" pitchFamily="34" charset="-122"/>
              </a:rPr>
              <a:t>转发</a:t>
            </a:r>
            <a:r>
              <a:rPr lang="zh-CN" altLang="en-US" b="1" dirty="0">
                <a:solidFill>
                  <a:srgbClr val="000099"/>
                </a:solidFill>
                <a:latin typeface="微软雅黑" pitchFamily="34" charset="-122"/>
                <a:ea typeface="微软雅黑" pitchFamily="34" charset="-122"/>
              </a:rPr>
              <a:t>到指明的端口，或</a:t>
            </a:r>
            <a:r>
              <a:rPr lang="zh-CN" altLang="en-US" b="1" dirty="0">
                <a:solidFill>
                  <a:srgbClr val="C00000"/>
                </a:solidFill>
                <a:latin typeface="微软雅黑" pitchFamily="34" charset="-122"/>
                <a:ea typeface="微软雅黑" pitchFamily="34" charset="-122"/>
              </a:rPr>
              <a:t>丢弃</a:t>
            </a:r>
            <a:r>
              <a:rPr lang="zh-CN" altLang="en-US" b="1" dirty="0">
                <a:solidFill>
                  <a:srgbClr val="000099"/>
                </a:solidFill>
                <a:latin typeface="微软雅黑" pitchFamily="34" charset="-122"/>
                <a:ea typeface="微软雅黑" pitchFamily="34" charset="-122"/>
              </a:rPr>
              <a:t>该分组，或把分组进行</a:t>
            </a:r>
            <a:r>
              <a:rPr lang="zh-CN" altLang="en-US" b="1" dirty="0">
                <a:solidFill>
                  <a:srgbClr val="C00000"/>
                </a:solidFill>
                <a:latin typeface="微软雅黑" pitchFamily="34" charset="-122"/>
                <a:ea typeface="微软雅黑" pitchFamily="34" charset="-122"/>
              </a:rPr>
              <a:t>复制后</a:t>
            </a:r>
            <a:r>
              <a:rPr lang="zh-CN" altLang="en-US" b="1" dirty="0">
                <a:solidFill>
                  <a:srgbClr val="000099"/>
                </a:solidFill>
                <a:latin typeface="微软雅黑" pitchFamily="34" charset="-122"/>
                <a:ea typeface="微软雅黑" pitchFamily="34" charset="-122"/>
              </a:rPr>
              <a:t>再从多个</a:t>
            </a:r>
            <a:r>
              <a:rPr lang="zh-CN" altLang="en-US" b="1" dirty="0">
                <a:solidFill>
                  <a:srgbClr val="C00000"/>
                </a:solidFill>
                <a:latin typeface="微软雅黑" pitchFamily="34" charset="-122"/>
                <a:ea typeface="微软雅黑" pitchFamily="34" charset="-122"/>
              </a:rPr>
              <a:t>端口</a:t>
            </a:r>
            <a:r>
              <a:rPr lang="zh-CN" altLang="en-US" b="1" dirty="0">
                <a:solidFill>
                  <a:srgbClr val="000099"/>
                </a:solidFill>
                <a:latin typeface="微软雅黑" pitchFamily="34" charset="-122"/>
                <a:ea typeface="微软雅黑" pitchFamily="34" charset="-122"/>
              </a:rPr>
              <a:t>转发出去，或</a:t>
            </a:r>
            <a:r>
              <a:rPr lang="zh-CN" altLang="en-US" b="1" dirty="0">
                <a:solidFill>
                  <a:srgbClr val="C00000"/>
                </a:solidFill>
                <a:latin typeface="微软雅黑" pitchFamily="34" charset="-122"/>
                <a:ea typeface="微软雅黑" pitchFamily="34" charset="-122"/>
              </a:rPr>
              <a:t>重写</a:t>
            </a:r>
            <a:r>
              <a:rPr lang="zh-CN" altLang="en-US" b="1" dirty="0">
                <a:solidFill>
                  <a:srgbClr val="000099"/>
                </a:solidFill>
                <a:latin typeface="微软雅黑" pitchFamily="34" charset="-122"/>
                <a:ea typeface="微软雅黑" pitchFamily="34" charset="-122"/>
              </a:rPr>
              <a:t>分组的首部字段（第二、三和四层的首部字段）等。</a:t>
            </a:r>
          </a:p>
        </p:txBody>
      </p:sp>
      <p:sp>
        <p:nvSpPr>
          <p:cNvPr id="4" name="矩形 3"/>
          <p:cNvSpPr/>
          <p:nvPr/>
        </p:nvSpPr>
        <p:spPr>
          <a:xfrm>
            <a:off x="5234150" y="1094371"/>
            <a:ext cx="2499788" cy="1118255"/>
          </a:xfrm>
          <a:prstGeom prst="rect">
            <a:avLst/>
          </a:prstGeom>
          <a:solidFill>
            <a:schemeClr val="bg1"/>
          </a:solidFill>
        </p:spPr>
        <p:txBody>
          <a:bodyPr wrap="square">
            <a:spAutoFit/>
          </a:bodyPr>
          <a:lstStyle/>
          <a:p>
            <a:pPr>
              <a:lnSpc>
                <a:spcPts val="2000"/>
              </a:lnSpc>
            </a:pPr>
            <a:r>
              <a:rPr lang="zh-CN"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三个字段</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endParaRPr>
          </a:p>
          <a:p>
            <a:pPr marL="285750" indent="-285750">
              <a:lnSpc>
                <a:spcPts val="2000"/>
              </a:lnSpc>
              <a:buFont typeface="Wingdings" panose="05000000000000000000" pitchFamily="2" charset="2"/>
              <a:buChar char="l"/>
            </a:pPr>
            <a:r>
              <a:rPr lang="zh-CN"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首部字段值（匹配字段）</a:t>
            </a:r>
            <a:endPar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endParaRPr>
          </a:p>
          <a:p>
            <a:pPr marL="285750" indent="-285750">
              <a:lnSpc>
                <a:spcPts val="2000"/>
              </a:lnSpc>
              <a:buFont typeface="Wingdings" panose="05000000000000000000" pitchFamily="2" charset="2"/>
              <a:buChar char="l"/>
            </a:pPr>
            <a:r>
              <a:rPr lang="zh-CN"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计数器</a:t>
            </a:r>
            <a:endPar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endParaRPr>
          </a:p>
          <a:p>
            <a:pPr marL="285750" indent="-285750">
              <a:lnSpc>
                <a:spcPts val="2000"/>
              </a:lnSpc>
              <a:buFont typeface="Wingdings" panose="05000000000000000000" pitchFamily="2" charset="2"/>
              <a:buChar char="l"/>
            </a:pPr>
            <a:r>
              <a:rPr lang="zh-CN"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动作</a:t>
            </a:r>
            <a:endParaRPr lang="zh-CN" altLang="en-US" sz="1400" b="1" dirty="0">
              <a:latin typeface="微软雅黑" panose="020B0503020204020204" pitchFamily="34" charset="-122"/>
              <a:ea typeface="微软雅黑" panose="020B0503020204020204" pitchFamily="34" charset="-122"/>
            </a:endParaRPr>
          </a:p>
        </p:txBody>
      </p:sp>
      <p:sp>
        <p:nvSpPr>
          <p:cNvPr id="55" name="文本框 54"/>
          <p:cNvSpPr txBox="1"/>
          <p:nvPr/>
        </p:nvSpPr>
        <p:spPr>
          <a:xfrm>
            <a:off x="2476393" y="1593747"/>
            <a:ext cx="516554" cy="276999"/>
          </a:xfrm>
          <a:prstGeom prst="rect">
            <a:avLst/>
          </a:prstGeom>
          <a:noFill/>
        </p:spPr>
        <p:txBody>
          <a:bodyPr wrap="square" rtlCol="0">
            <a:spAutoFit/>
          </a:bodyPr>
          <a:lstStyle/>
          <a:p>
            <a:r>
              <a:rPr lang="en-US" altLang="zh-CN" sz="1200" b="1" dirty="0">
                <a:latin typeface="微软雅黑" panose="020B0503020204020204" pitchFamily="34" charset="-122"/>
                <a:ea typeface="微软雅黑" panose="020B0503020204020204" pitchFamily="34" charset="-122"/>
              </a:rPr>
              <a:t>. . . </a:t>
            </a:r>
            <a:endParaRPr lang="zh-CN" altLang="en-US" sz="1200" b="1" dirty="0">
              <a:latin typeface="微软雅黑" panose="020B0503020204020204" pitchFamily="34" charset="-122"/>
              <a:ea typeface="微软雅黑" panose="020B0503020204020204" pitchFamily="34" charset="-122"/>
            </a:endParaRPr>
          </a:p>
        </p:txBody>
      </p:sp>
      <p:sp>
        <p:nvSpPr>
          <p:cNvPr id="56" name="文本框 55"/>
          <p:cNvSpPr txBox="1"/>
          <p:nvPr/>
        </p:nvSpPr>
        <p:spPr>
          <a:xfrm>
            <a:off x="3445554" y="1593747"/>
            <a:ext cx="516554" cy="276999"/>
          </a:xfrm>
          <a:prstGeom prst="rect">
            <a:avLst/>
          </a:prstGeom>
          <a:noFill/>
        </p:spPr>
        <p:txBody>
          <a:bodyPr wrap="square" rtlCol="0">
            <a:spAutoFit/>
          </a:bodyPr>
          <a:lstStyle/>
          <a:p>
            <a:r>
              <a:rPr lang="en-US" altLang="zh-CN" sz="1200" b="1" dirty="0">
                <a:latin typeface="微软雅黑" panose="020B0503020204020204" pitchFamily="34" charset="-122"/>
                <a:ea typeface="微软雅黑" panose="020B0503020204020204" pitchFamily="34" charset="-122"/>
              </a:rPr>
              <a:t>. . . </a:t>
            </a:r>
            <a:endParaRPr lang="zh-CN" altLang="en-US" sz="1200" b="1" dirty="0">
              <a:latin typeface="微软雅黑" panose="020B0503020204020204" pitchFamily="34" charset="-122"/>
              <a:ea typeface="微软雅黑" panose="020B0503020204020204" pitchFamily="34" charset="-122"/>
            </a:endParaRPr>
          </a:p>
        </p:txBody>
      </p:sp>
      <p:sp>
        <p:nvSpPr>
          <p:cNvPr id="57" name="文本框 56"/>
          <p:cNvSpPr txBox="1"/>
          <p:nvPr/>
        </p:nvSpPr>
        <p:spPr>
          <a:xfrm>
            <a:off x="4313277" y="1593747"/>
            <a:ext cx="516554" cy="276999"/>
          </a:xfrm>
          <a:prstGeom prst="rect">
            <a:avLst/>
          </a:prstGeom>
          <a:noFill/>
        </p:spPr>
        <p:txBody>
          <a:bodyPr wrap="square" rtlCol="0">
            <a:spAutoFit/>
          </a:bodyPr>
          <a:lstStyle/>
          <a:p>
            <a:r>
              <a:rPr lang="en-US" altLang="zh-CN" sz="1200" b="1" dirty="0">
                <a:latin typeface="微软雅黑" panose="020B0503020204020204" pitchFamily="34" charset="-122"/>
                <a:ea typeface="微软雅黑" panose="020B0503020204020204" pitchFamily="34" charset="-122"/>
              </a:rPr>
              <a:t>. . . </a:t>
            </a:r>
            <a:endParaRPr lang="zh-CN" altLang="en-US" sz="1200" b="1"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82249378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圆角矩形 64"/>
          <p:cNvSpPr/>
          <p:nvPr/>
        </p:nvSpPr>
        <p:spPr>
          <a:xfrm>
            <a:off x="545144" y="972296"/>
            <a:ext cx="8053711" cy="332810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7" name="AutoShape 5"/>
          <p:cNvSpPr>
            <a:spLocks noChangeArrowheads="1"/>
          </p:cNvSpPr>
          <p:nvPr/>
        </p:nvSpPr>
        <p:spPr bwMode="auto">
          <a:xfrm>
            <a:off x="545144" y="615972"/>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7"/>
          <p:cNvSpPr/>
          <p:nvPr/>
        </p:nvSpPr>
        <p:spPr>
          <a:xfrm>
            <a:off x="616085" y="557204"/>
            <a:ext cx="697627" cy="400110"/>
          </a:xfrm>
          <a:prstGeom prst="rect">
            <a:avLst/>
          </a:prstGeom>
        </p:spPr>
        <p:txBody>
          <a:bodyPr wrap="none">
            <a:spAutoFit/>
          </a:bodyPr>
          <a:lstStyle/>
          <a:p>
            <a:r>
              <a:rPr lang="zh-CN" altLang="en-US" sz="2000" b="1" dirty="0">
                <a:latin typeface="微软雅黑" pitchFamily="34" charset="-122"/>
                <a:ea typeface="微软雅黑" pitchFamily="34" charset="-122"/>
              </a:rPr>
              <a:t>例子</a:t>
            </a:r>
          </a:p>
        </p:txBody>
      </p:sp>
      <p:sp>
        <p:nvSpPr>
          <p:cNvPr id="9" name="Line 23"/>
          <p:cNvSpPr>
            <a:spLocks noChangeShapeType="1"/>
          </p:cNvSpPr>
          <p:nvPr/>
        </p:nvSpPr>
        <p:spPr bwMode="auto">
          <a:xfrm flipV="1">
            <a:off x="2419087" y="2681663"/>
            <a:ext cx="912812" cy="65049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 name="Line 25"/>
          <p:cNvSpPr>
            <a:spLocks noChangeShapeType="1"/>
          </p:cNvSpPr>
          <p:nvPr/>
        </p:nvSpPr>
        <p:spPr bwMode="auto">
          <a:xfrm flipV="1">
            <a:off x="3601773" y="2601826"/>
            <a:ext cx="1381125" cy="444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 name="Line 26"/>
          <p:cNvSpPr>
            <a:spLocks noChangeShapeType="1"/>
          </p:cNvSpPr>
          <p:nvPr/>
        </p:nvSpPr>
        <p:spPr bwMode="auto">
          <a:xfrm flipV="1">
            <a:off x="5213086" y="2382751"/>
            <a:ext cx="931862" cy="2460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 name="Line 27"/>
          <p:cNvSpPr>
            <a:spLocks noChangeShapeType="1"/>
          </p:cNvSpPr>
          <p:nvPr/>
        </p:nvSpPr>
        <p:spPr bwMode="auto">
          <a:xfrm>
            <a:off x="3458898" y="2697076"/>
            <a:ext cx="866775" cy="64770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 name="Line 30"/>
          <p:cNvSpPr>
            <a:spLocks noChangeShapeType="1"/>
          </p:cNvSpPr>
          <p:nvPr/>
        </p:nvSpPr>
        <p:spPr bwMode="auto">
          <a:xfrm flipV="1">
            <a:off x="4474898" y="2725651"/>
            <a:ext cx="622300" cy="5778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Text Box 69"/>
          <p:cNvSpPr txBox="1">
            <a:spLocks noChangeArrowheads="1"/>
          </p:cNvSpPr>
          <p:nvPr/>
        </p:nvSpPr>
        <p:spPr bwMode="auto">
          <a:xfrm>
            <a:off x="3370599" y="967013"/>
            <a:ext cx="190308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err="1">
                <a:latin typeface="微软雅黑" panose="020B0503020204020204" pitchFamily="34" charset="-122"/>
                <a:ea typeface="微软雅黑" panose="020B0503020204020204" pitchFamily="34" charset="-122"/>
              </a:rPr>
              <a:t>OpenFlow</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控制器</a:t>
            </a:r>
            <a:endParaRPr lang="en-US" altLang="zh-CN" sz="1600" b="1" baseline="-25000" dirty="0">
              <a:latin typeface="微软雅黑" panose="020B0503020204020204" pitchFamily="34" charset="-122"/>
              <a:ea typeface="微软雅黑" panose="020B0503020204020204" pitchFamily="34" charset="-122"/>
            </a:endParaRPr>
          </a:p>
        </p:txBody>
      </p:sp>
      <p:sp>
        <p:nvSpPr>
          <p:cNvPr id="17" name="Text Box 65"/>
          <p:cNvSpPr txBox="1">
            <a:spLocks noChangeArrowheads="1"/>
          </p:cNvSpPr>
          <p:nvPr/>
        </p:nvSpPr>
        <p:spPr bwMode="auto">
          <a:xfrm>
            <a:off x="4292336" y="2935201"/>
            <a:ext cx="3658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solidFill>
                  <a:srgbClr val="000099"/>
                </a:solidFill>
                <a:latin typeface="微软雅黑" panose="020B0503020204020204" pitchFamily="34" charset="-122"/>
                <a:ea typeface="微软雅黑" panose="020B0503020204020204" pitchFamily="34" charset="-122"/>
              </a:rPr>
              <a:t>S</a:t>
            </a:r>
            <a:r>
              <a:rPr lang="en-US" altLang="zh-CN" sz="1400" b="1" baseline="-25000" dirty="0">
                <a:solidFill>
                  <a:srgbClr val="000099"/>
                </a:solidFill>
                <a:latin typeface="微软雅黑" panose="020B0503020204020204" pitchFamily="34" charset="-122"/>
                <a:ea typeface="微软雅黑" panose="020B0503020204020204" pitchFamily="34" charset="-122"/>
              </a:rPr>
              <a:t>1</a:t>
            </a:r>
          </a:p>
        </p:txBody>
      </p:sp>
      <p:sp>
        <p:nvSpPr>
          <p:cNvPr id="18" name="Text Box 65"/>
          <p:cNvSpPr txBox="1">
            <a:spLocks noChangeArrowheads="1"/>
          </p:cNvSpPr>
          <p:nvPr/>
        </p:nvSpPr>
        <p:spPr bwMode="auto">
          <a:xfrm>
            <a:off x="3284273" y="2214476"/>
            <a:ext cx="3658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solidFill>
                  <a:srgbClr val="000099"/>
                </a:solidFill>
                <a:latin typeface="微软雅黑" panose="020B0503020204020204" pitchFamily="34" charset="-122"/>
                <a:ea typeface="微软雅黑" panose="020B0503020204020204" pitchFamily="34" charset="-122"/>
              </a:rPr>
              <a:t>S</a:t>
            </a:r>
            <a:r>
              <a:rPr lang="en-US" altLang="zh-CN" sz="1400" b="1" baseline="-25000" dirty="0">
                <a:solidFill>
                  <a:srgbClr val="000099"/>
                </a:solidFill>
                <a:latin typeface="微软雅黑" panose="020B0503020204020204" pitchFamily="34" charset="-122"/>
                <a:ea typeface="微软雅黑" panose="020B0503020204020204" pitchFamily="34" charset="-122"/>
              </a:rPr>
              <a:t>3</a:t>
            </a:r>
          </a:p>
        </p:txBody>
      </p:sp>
      <p:sp>
        <p:nvSpPr>
          <p:cNvPr id="19" name="Text Box 65"/>
          <p:cNvSpPr txBox="1">
            <a:spLocks noChangeArrowheads="1"/>
          </p:cNvSpPr>
          <p:nvPr/>
        </p:nvSpPr>
        <p:spPr bwMode="auto">
          <a:xfrm>
            <a:off x="4940036" y="2214476"/>
            <a:ext cx="3658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solidFill>
                  <a:srgbClr val="000099"/>
                </a:solidFill>
                <a:latin typeface="微软雅黑" panose="020B0503020204020204" pitchFamily="34" charset="-122"/>
                <a:ea typeface="微软雅黑" panose="020B0503020204020204" pitchFamily="34" charset="-122"/>
              </a:rPr>
              <a:t>S</a:t>
            </a:r>
            <a:r>
              <a:rPr lang="en-US" altLang="zh-CN" sz="1400" b="1" baseline="-25000">
                <a:solidFill>
                  <a:srgbClr val="000099"/>
                </a:solidFill>
                <a:latin typeface="微软雅黑" panose="020B0503020204020204" pitchFamily="34" charset="-122"/>
                <a:ea typeface="微软雅黑" panose="020B0503020204020204" pitchFamily="34" charset="-122"/>
              </a:rPr>
              <a:t>2</a:t>
            </a:r>
          </a:p>
        </p:txBody>
      </p:sp>
      <p:grpSp>
        <p:nvGrpSpPr>
          <p:cNvPr id="20" name="组合 89"/>
          <p:cNvGrpSpPr>
            <a:grpSpLocks/>
          </p:cNvGrpSpPr>
          <p:nvPr/>
        </p:nvGrpSpPr>
        <p:grpSpPr bwMode="auto">
          <a:xfrm>
            <a:off x="5876661" y="2179636"/>
            <a:ext cx="574675" cy="576263"/>
            <a:chOff x="5220072" y="3356992"/>
            <a:chExt cx="576064" cy="576064"/>
          </a:xfrm>
        </p:grpSpPr>
        <p:pic>
          <p:nvPicPr>
            <p:cNvPr id="21"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 name="Text Box 67"/>
            <p:cNvSpPr txBox="1">
              <a:spLocks noChangeArrowheads="1"/>
            </p:cNvSpPr>
            <p:nvPr/>
          </p:nvSpPr>
          <p:spPr bwMode="auto">
            <a:xfrm>
              <a:off x="5316116" y="3356992"/>
              <a:ext cx="406861" cy="3076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H</a:t>
              </a:r>
              <a:r>
                <a:rPr lang="en-US" altLang="zh-CN" sz="1400" b="1" baseline="-25000">
                  <a:latin typeface="微软雅黑" panose="020B0503020204020204" pitchFamily="34" charset="-122"/>
                  <a:ea typeface="微软雅黑" panose="020B0503020204020204" pitchFamily="34" charset="-122"/>
                </a:rPr>
                <a:t>4</a:t>
              </a:r>
            </a:p>
          </p:txBody>
        </p:sp>
      </p:grpSp>
      <p:sp>
        <p:nvSpPr>
          <p:cNvPr id="23" name="Text Box 69"/>
          <p:cNvSpPr txBox="1">
            <a:spLocks noChangeArrowheads="1"/>
          </p:cNvSpPr>
          <p:nvPr/>
        </p:nvSpPr>
        <p:spPr bwMode="auto">
          <a:xfrm>
            <a:off x="6308461" y="2251074"/>
            <a:ext cx="8915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10.2.0.4</a:t>
            </a:r>
            <a:endParaRPr lang="en-US" altLang="zh-CN" sz="1400" b="1" baseline="-25000">
              <a:latin typeface="微软雅黑" panose="020B0503020204020204" pitchFamily="34" charset="-122"/>
              <a:ea typeface="微软雅黑" panose="020B0503020204020204" pitchFamily="34" charset="-122"/>
            </a:endParaRPr>
          </a:p>
        </p:txBody>
      </p:sp>
      <p:sp>
        <p:nvSpPr>
          <p:cNvPr id="24" name="Text Box 69"/>
          <p:cNvSpPr txBox="1">
            <a:spLocks noChangeArrowheads="1"/>
          </p:cNvSpPr>
          <p:nvPr/>
        </p:nvSpPr>
        <p:spPr bwMode="auto">
          <a:xfrm>
            <a:off x="6308461" y="3116261"/>
            <a:ext cx="8915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10.2.0.3</a:t>
            </a:r>
            <a:endParaRPr lang="en-US" altLang="zh-CN" sz="1400" b="1" baseline="-25000">
              <a:latin typeface="微软雅黑" panose="020B0503020204020204" pitchFamily="34" charset="-122"/>
              <a:ea typeface="微软雅黑" panose="020B0503020204020204" pitchFamily="34" charset="-122"/>
            </a:endParaRPr>
          </a:p>
        </p:txBody>
      </p:sp>
      <p:sp>
        <p:nvSpPr>
          <p:cNvPr id="25" name="Text Box 69"/>
          <p:cNvSpPr txBox="1">
            <a:spLocks noChangeArrowheads="1"/>
          </p:cNvSpPr>
          <p:nvPr/>
        </p:nvSpPr>
        <p:spPr bwMode="auto">
          <a:xfrm>
            <a:off x="2607827" y="3654339"/>
            <a:ext cx="8915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10.1.0.1</a:t>
            </a:r>
            <a:endParaRPr lang="en-US" altLang="zh-CN" sz="1400" b="1" baseline="-25000" dirty="0">
              <a:latin typeface="微软雅黑" panose="020B0503020204020204" pitchFamily="34" charset="-122"/>
              <a:ea typeface="微软雅黑" panose="020B0503020204020204" pitchFamily="34" charset="-122"/>
            </a:endParaRPr>
          </a:p>
        </p:txBody>
      </p:sp>
      <p:sp>
        <p:nvSpPr>
          <p:cNvPr id="26" name="Text Box 69"/>
          <p:cNvSpPr txBox="1">
            <a:spLocks noChangeArrowheads="1"/>
          </p:cNvSpPr>
          <p:nvPr/>
        </p:nvSpPr>
        <p:spPr bwMode="auto">
          <a:xfrm>
            <a:off x="5434821" y="3654339"/>
            <a:ext cx="8915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10.1.0.2</a:t>
            </a:r>
            <a:endParaRPr lang="en-US" altLang="zh-CN" sz="1400" b="1" baseline="-25000" dirty="0">
              <a:latin typeface="微软雅黑" panose="020B0503020204020204" pitchFamily="34" charset="-122"/>
              <a:ea typeface="微软雅黑" panose="020B0503020204020204" pitchFamily="34" charset="-122"/>
            </a:endParaRPr>
          </a:p>
        </p:txBody>
      </p:sp>
      <p:sp>
        <p:nvSpPr>
          <p:cNvPr id="27" name="Text Box 69"/>
          <p:cNvSpPr txBox="1">
            <a:spLocks noChangeArrowheads="1"/>
          </p:cNvSpPr>
          <p:nvPr/>
        </p:nvSpPr>
        <p:spPr bwMode="auto">
          <a:xfrm>
            <a:off x="1315773" y="2974974"/>
            <a:ext cx="8915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10.3.0.5</a:t>
            </a:r>
            <a:endParaRPr lang="en-US" altLang="zh-CN" sz="1400" b="1" baseline="-25000">
              <a:latin typeface="微软雅黑" panose="020B0503020204020204" pitchFamily="34" charset="-122"/>
              <a:ea typeface="微软雅黑" panose="020B0503020204020204" pitchFamily="34" charset="-122"/>
            </a:endParaRPr>
          </a:p>
        </p:txBody>
      </p:sp>
      <p:sp>
        <p:nvSpPr>
          <p:cNvPr id="28" name="Text Box 69"/>
          <p:cNvSpPr txBox="1">
            <a:spLocks noChangeArrowheads="1"/>
          </p:cNvSpPr>
          <p:nvPr/>
        </p:nvSpPr>
        <p:spPr bwMode="auto">
          <a:xfrm>
            <a:off x="1307836" y="2236786"/>
            <a:ext cx="8915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10.3.0.6</a:t>
            </a:r>
            <a:endParaRPr lang="en-US" altLang="zh-CN" sz="1400" b="1" baseline="-25000">
              <a:latin typeface="微软雅黑" panose="020B0503020204020204" pitchFamily="34" charset="-122"/>
              <a:ea typeface="微软雅黑" panose="020B0503020204020204" pitchFamily="34" charset="-122"/>
            </a:endParaRPr>
          </a:p>
        </p:txBody>
      </p:sp>
      <p:sp>
        <p:nvSpPr>
          <p:cNvPr id="29" name="Line 23"/>
          <p:cNvSpPr>
            <a:spLocks noChangeShapeType="1"/>
          </p:cNvSpPr>
          <p:nvPr/>
        </p:nvSpPr>
        <p:spPr bwMode="auto">
          <a:xfrm>
            <a:off x="2419086" y="2539999"/>
            <a:ext cx="942020" cy="10506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26"/>
          <p:cNvSpPr>
            <a:spLocks noChangeShapeType="1"/>
          </p:cNvSpPr>
          <p:nvPr/>
        </p:nvSpPr>
        <p:spPr bwMode="auto">
          <a:xfrm>
            <a:off x="5227373" y="2646276"/>
            <a:ext cx="936625" cy="431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26"/>
          <p:cNvSpPr>
            <a:spLocks noChangeShapeType="1"/>
          </p:cNvSpPr>
          <p:nvPr/>
        </p:nvSpPr>
        <p:spPr bwMode="auto">
          <a:xfrm>
            <a:off x="4363773" y="3367001"/>
            <a:ext cx="936625" cy="431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26"/>
          <p:cNvSpPr>
            <a:spLocks noChangeShapeType="1"/>
          </p:cNvSpPr>
          <p:nvPr/>
        </p:nvSpPr>
        <p:spPr bwMode="auto">
          <a:xfrm flipH="1">
            <a:off x="3716073" y="3367001"/>
            <a:ext cx="576263" cy="3603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33" name="组合 76"/>
          <p:cNvGrpSpPr>
            <a:grpSpLocks/>
          </p:cNvGrpSpPr>
          <p:nvPr/>
        </p:nvGrpSpPr>
        <p:grpSpPr bwMode="auto">
          <a:xfrm>
            <a:off x="5011473" y="3582901"/>
            <a:ext cx="576263" cy="576263"/>
            <a:chOff x="5220072" y="3356992"/>
            <a:chExt cx="576064" cy="576064"/>
          </a:xfrm>
        </p:grpSpPr>
        <p:pic>
          <p:nvPicPr>
            <p:cNvPr id="34"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Text Box 67"/>
            <p:cNvSpPr txBox="1">
              <a:spLocks noChangeArrowheads="1"/>
            </p:cNvSpPr>
            <p:nvPr/>
          </p:nvSpPr>
          <p:spPr bwMode="auto">
            <a:xfrm>
              <a:off x="5316116" y="3356992"/>
              <a:ext cx="405740" cy="3076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H</a:t>
              </a:r>
              <a:r>
                <a:rPr lang="en-US" altLang="zh-CN" sz="1400" b="1" baseline="-25000">
                  <a:latin typeface="微软雅黑" panose="020B0503020204020204" pitchFamily="34" charset="-122"/>
                  <a:ea typeface="微软雅黑" panose="020B0503020204020204" pitchFamily="34" charset="-122"/>
                </a:rPr>
                <a:t>2</a:t>
              </a:r>
            </a:p>
          </p:txBody>
        </p:sp>
      </p:grpSp>
      <p:grpSp>
        <p:nvGrpSpPr>
          <p:cNvPr id="36" name="组合 77"/>
          <p:cNvGrpSpPr>
            <a:grpSpLocks/>
          </p:cNvGrpSpPr>
          <p:nvPr/>
        </p:nvGrpSpPr>
        <p:grpSpPr bwMode="auto">
          <a:xfrm>
            <a:off x="3355711" y="3582901"/>
            <a:ext cx="576262" cy="576263"/>
            <a:chOff x="5220072" y="3356992"/>
            <a:chExt cx="576064" cy="576064"/>
          </a:xfrm>
        </p:grpSpPr>
        <p:pic>
          <p:nvPicPr>
            <p:cNvPr id="37"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 Box 67"/>
            <p:cNvSpPr txBox="1">
              <a:spLocks noChangeArrowheads="1"/>
            </p:cNvSpPr>
            <p:nvPr/>
          </p:nvSpPr>
          <p:spPr bwMode="auto">
            <a:xfrm>
              <a:off x="5316116" y="3356992"/>
              <a:ext cx="405741" cy="3076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H</a:t>
              </a:r>
              <a:r>
                <a:rPr lang="en-US" altLang="zh-CN" sz="1400" b="1" baseline="-25000">
                  <a:latin typeface="微软雅黑" panose="020B0503020204020204" pitchFamily="34" charset="-122"/>
                  <a:ea typeface="微软雅黑" panose="020B0503020204020204" pitchFamily="34" charset="-122"/>
                </a:rPr>
                <a:t>1</a:t>
              </a:r>
            </a:p>
          </p:txBody>
        </p:sp>
      </p:grpSp>
      <p:grpSp>
        <p:nvGrpSpPr>
          <p:cNvPr id="39" name="组合 86"/>
          <p:cNvGrpSpPr>
            <a:grpSpLocks/>
          </p:cNvGrpSpPr>
          <p:nvPr/>
        </p:nvGrpSpPr>
        <p:grpSpPr bwMode="auto">
          <a:xfrm>
            <a:off x="5876661" y="3043236"/>
            <a:ext cx="574675" cy="576263"/>
            <a:chOff x="5220072" y="3356992"/>
            <a:chExt cx="576064" cy="576064"/>
          </a:xfrm>
        </p:grpSpPr>
        <p:pic>
          <p:nvPicPr>
            <p:cNvPr id="40"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Text Box 67"/>
            <p:cNvSpPr txBox="1">
              <a:spLocks noChangeArrowheads="1"/>
            </p:cNvSpPr>
            <p:nvPr/>
          </p:nvSpPr>
          <p:spPr bwMode="auto">
            <a:xfrm>
              <a:off x="5316116" y="3356992"/>
              <a:ext cx="406861" cy="3076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H</a:t>
              </a:r>
              <a:r>
                <a:rPr lang="en-US" altLang="zh-CN" sz="1400" b="1" baseline="-25000">
                  <a:latin typeface="微软雅黑" panose="020B0503020204020204" pitchFamily="34" charset="-122"/>
                  <a:ea typeface="微软雅黑" panose="020B0503020204020204" pitchFamily="34" charset="-122"/>
                </a:rPr>
                <a:t>3</a:t>
              </a:r>
            </a:p>
          </p:txBody>
        </p:sp>
      </p:grpSp>
      <p:grpSp>
        <p:nvGrpSpPr>
          <p:cNvPr id="42" name="组合 83"/>
          <p:cNvGrpSpPr>
            <a:grpSpLocks/>
          </p:cNvGrpSpPr>
          <p:nvPr/>
        </p:nvGrpSpPr>
        <p:grpSpPr bwMode="auto">
          <a:xfrm>
            <a:off x="2060311" y="2179636"/>
            <a:ext cx="574675" cy="576263"/>
            <a:chOff x="5220072" y="3356992"/>
            <a:chExt cx="576064" cy="576064"/>
          </a:xfrm>
        </p:grpSpPr>
        <p:pic>
          <p:nvPicPr>
            <p:cNvPr id="43"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 Box 67"/>
            <p:cNvSpPr txBox="1">
              <a:spLocks noChangeArrowheads="1"/>
            </p:cNvSpPr>
            <p:nvPr/>
          </p:nvSpPr>
          <p:spPr bwMode="auto">
            <a:xfrm>
              <a:off x="5316116" y="3356992"/>
              <a:ext cx="406861" cy="3076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H</a:t>
              </a:r>
              <a:r>
                <a:rPr lang="en-US" altLang="zh-CN" sz="1400" b="1" baseline="-25000">
                  <a:latin typeface="微软雅黑" panose="020B0503020204020204" pitchFamily="34" charset="-122"/>
                  <a:ea typeface="微软雅黑" panose="020B0503020204020204" pitchFamily="34" charset="-122"/>
                </a:rPr>
                <a:t>6</a:t>
              </a:r>
            </a:p>
          </p:txBody>
        </p:sp>
      </p:grpSp>
      <p:grpSp>
        <p:nvGrpSpPr>
          <p:cNvPr id="45" name="组合 80"/>
          <p:cNvGrpSpPr>
            <a:grpSpLocks/>
          </p:cNvGrpSpPr>
          <p:nvPr/>
        </p:nvGrpSpPr>
        <p:grpSpPr bwMode="auto">
          <a:xfrm>
            <a:off x="2060311" y="2971799"/>
            <a:ext cx="574675" cy="576262"/>
            <a:chOff x="5220072" y="3356992"/>
            <a:chExt cx="576064" cy="576064"/>
          </a:xfrm>
        </p:grpSpPr>
        <p:pic>
          <p:nvPicPr>
            <p:cNvPr id="46"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Text Box 67"/>
            <p:cNvSpPr txBox="1">
              <a:spLocks noChangeArrowheads="1"/>
            </p:cNvSpPr>
            <p:nvPr/>
          </p:nvSpPr>
          <p:spPr bwMode="auto">
            <a:xfrm>
              <a:off x="5316116" y="3356992"/>
              <a:ext cx="406861" cy="3076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H</a:t>
              </a:r>
              <a:r>
                <a:rPr lang="en-US" altLang="zh-CN" sz="1400" b="1" baseline="-25000">
                  <a:latin typeface="微软雅黑" panose="020B0503020204020204" pitchFamily="34" charset="-122"/>
                  <a:ea typeface="微软雅黑" panose="020B0503020204020204" pitchFamily="34" charset="-122"/>
                </a:rPr>
                <a:t>5</a:t>
              </a:r>
            </a:p>
          </p:txBody>
        </p:sp>
      </p:grpSp>
      <p:pic>
        <p:nvPicPr>
          <p:cNvPr id="48" name="Picture 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211248" y="2503401"/>
            <a:ext cx="504825" cy="287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9" name="Picture 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68598" y="2503401"/>
            <a:ext cx="503238" cy="287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50" name="Picture 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147873" y="3222539"/>
            <a:ext cx="503238"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51" name="Text Box 69"/>
          <p:cNvSpPr txBox="1">
            <a:spLocks noChangeArrowheads="1"/>
          </p:cNvSpPr>
          <p:nvPr/>
        </p:nvSpPr>
        <p:spPr bwMode="auto">
          <a:xfrm>
            <a:off x="3041130" y="2379021"/>
            <a:ext cx="258404" cy="23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baseline="-25000" dirty="0">
                <a:latin typeface="微软雅黑" panose="020B0503020204020204" pitchFamily="34" charset="-122"/>
                <a:ea typeface="微软雅黑" panose="020B0503020204020204" pitchFamily="34" charset="-122"/>
              </a:rPr>
              <a:t>1</a:t>
            </a:r>
          </a:p>
        </p:txBody>
      </p:sp>
      <p:sp>
        <p:nvSpPr>
          <p:cNvPr id="52" name="Text Box 69"/>
          <p:cNvSpPr txBox="1">
            <a:spLocks noChangeArrowheads="1"/>
          </p:cNvSpPr>
          <p:nvPr/>
        </p:nvSpPr>
        <p:spPr bwMode="auto">
          <a:xfrm>
            <a:off x="3931973" y="3078076"/>
            <a:ext cx="258404" cy="23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baseline="-25000">
                <a:latin typeface="微软雅黑" panose="020B0503020204020204" pitchFamily="34" charset="-122"/>
                <a:ea typeface="微软雅黑" panose="020B0503020204020204" pitchFamily="34" charset="-122"/>
              </a:rPr>
              <a:t>1</a:t>
            </a:r>
          </a:p>
        </p:txBody>
      </p:sp>
      <p:sp>
        <p:nvSpPr>
          <p:cNvPr id="53" name="Text Box 69"/>
          <p:cNvSpPr txBox="1">
            <a:spLocks noChangeArrowheads="1"/>
          </p:cNvSpPr>
          <p:nvPr/>
        </p:nvSpPr>
        <p:spPr bwMode="auto">
          <a:xfrm>
            <a:off x="4651111" y="2358939"/>
            <a:ext cx="258404" cy="23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baseline="-25000">
                <a:latin typeface="微软雅黑" panose="020B0503020204020204" pitchFamily="34" charset="-122"/>
                <a:ea typeface="微软雅黑" panose="020B0503020204020204" pitchFamily="34" charset="-122"/>
              </a:rPr>
              <a:t>1</a:t>
            </a:r>
          </a:p>
        </p:txBody>
      </p:sp>
      <p:sp>
        <p:nvSpPr>
          <p:cNvPr id="54" name="Text Box 69"/>
          <p:cNvSpPr txBox="1">
            <a:spLocks noChangeArrowheads="1"/>
          </p:cNvSpPr>
          <p:nvPr/>
        </p:nvSpPr>
        <p:spPr bwMode="auto">
          <a:xfrm>
            <a:off x="4076436" y="3398751"/>
            <a:ext cx="287337" cy="23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baseline="-25000">
                <a:latin typeface="微软雅黑" panose="020B0503020204020204" pitchFamily="34" charset="-122"/>
                <a:ea typeface="微软雅黑" panose="020B0503020204020204" pitchFamily="34" charset="-122"/>
              </a:rPr>
              <a:t>2</a:t>
            </a:r>
          </a:p>
        </p:txBody>
      </p:sp>
      <p:sp>
        <p:nvSpPr>
          <p:cNvPr id="55" name="Text Box 69"/>
          <p:cNvSpPr txBox="1">
            <a:spLocks noChangeArrowheads="1"/>
          </p:cNvSpPr>
          <p:nvPr/>
        </p:nvSpPr>
        <p:spPr bwMode="auto">
          <a:xfrm>
            <a:off x="3058848" y="2719301"/>
            <a:ext cx="258404" cy="23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baseline="-25000" dirty="0">
                <a:latin typeface="微软雅黑" panose="020B0503020204020204" pitchFamily="34" charset="-122"/>
                <a:ea typeface="微软雅黑" panose="020B0503020204020204" pitchFamily="34" charset="-122"/>
              </a:rPr>
              <a:t>2</a:t>
            </a:r>
          </a:p>
        </p:txBody>
      </p:sp>
      <p:sp>
        <p:nvSpPr>
          <p:cNvPr id="56" name="Text Box 69"/>
          <p:cNvSpPr txBox="1">
            <a:spLocks noChangeArrowheads="1"/>
          </p:cNvSpPr>
          <p:nvPr/>
        </p:nvSpPr>
        <p:spPr bwMode="auto">
          <a:xfrm>
            <a:off x="4724136" y="2646276"/>
            <a:ext cx="258404" cy="23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baseline="-25000">
                <a:latin typeface="微软雅黑" panose="020B0503020204020204" pitchFamily="34" charset="-122"/>
                <a:ea typeface="微软雅黑" panose="020B0503020204020204" pitchFamily="34" charset="-122"/>
              </a:rPr>
              <a:t>2</a:t>
            </a:r>
          </a:p>
        </p:txBody>
      </p:sp>
      <p:sp>
        <p:nvSpPr>
          <p:cNvPr id="57" name="Text Box 69"/>
          <p:cNvSpPr txBox="1">
            <a:spLocks noChangeArrowheads="1"/>
          </p:cNvSpPr>
          <p:nvPr/>
        </p:nvSpPr>
        <p:spPr bwMode="auto">
          <a:xfrm>
            <a:off x="5284273" y="2654501"/>
            <a:ext cx="258404" cy="23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baseline="-25000">
                <a:latin typeface="微软雅黑" panose="020B0503020204020204" pitchFamily="34" charset="-122"/>
                <a:ea typeface="微软雅黑" panose="020B0503020204020204" pitchFamily="34" charset="-122"/>
              </a:rPr>
              <a:t>3</a:t>
            </a:r>
          </a:p>
        </p:txBody>
      </p:sp>
      <p:sp>
        <p:nvSpPr>
          <p:cNvPr id="58" name="Text Box 69"/>
          <p:cNvSpPr txBox="1">
            <a:spLocks noChangeArrowheads="1"/>
          </p:cNvSpPr>
          <p:nvPr/>
        </p:nvSpPr>
        <p:spPr bwMode="auto">
          <a:xfrm>
            <a:off x="3462073" y="2719301"/>
            <a:ext cx="258404" cy="23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baseline="-25000">
                <a:latin typeface="微软雅黑" panose="020B0503020204020204" pitchFamily="34" charset="-122"/>
                <a:ea typeface="微软雅黑" panose="020B0503020204020204" pitchFamily="34" charset="-122"/>
              </a:rPr>
              <a:t>3</a:t>
            </a:r>
          </a:p>
        </p:txBody>
      </p:sp>
      <p:sp>
        <p:nvSpPr>
          <p:cNvPr id="59" name="Text Box 69"/>
          <p:cNvSpPr txBox="1">
            <a:spLocks noChangeArrowheads="1"/>
          </p:cNvSpPr>
          <p:nvPr/>
        </p:nvSpPr>
        <p:spPr bwMode="auto">
          <a:xfrm>
            <a:off x="4470136" y="3398751"/>
            <a:ext cx="258404" cy="23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baseline="-25000">
                <a:latin typeface="微软雅黑" panose="020B0503020204020204" pitchFamily="34" charset="-122"/>
                <a:ea typeface="微软雅黑" panose="020B0503020204020204" pitchFamily="34" charset="-122"/>
              </a:rPr>
              <a:t>3</a:t>
            </a:r>
          </a:p>
        </p:txBody>
      </p:sp>
      <p:sp>
        <p:nvSpPr>
          <p:cNvPr id="60" name="Text Box 69"/>
          <p:cNvSpPr txBox="1">
            <a:spLocks noChangeArrowheads="1"/>
          </p:cNvSpPr>
          <p:nvPr/>
        </p:nvSpPr>
        <p:spPr bwMode="auto">
          <a:xfrm>
            <a:off x="3643048" y="2358939"/>
            <a:ext cx="258404" cy="23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baseline="-25000">
                <a:latin typeface="微软雅黑" panose="020B0503020204020204" pitchFamily="34" charset="-122"/>
                <a:ea typeface="微软雅黑" panose="020B0503020204020204" pitchFamily="34" charset="-122"/>
              </a:rPr>
              <a:t>4</a:t>
            </a:r>
          </a:p>
        </p:txBody>
      </p:sp>
      <p:sp>
        <p:nvSpPr>
          <p:cNvPr id="61" name="Text Box 69"/>
          <p:cNvSpPr txBox="1">
            <a:spLocks noChangeArrowheads="1"/>
          </p:cNvSpPr>
          <p:nvPr/>
        </p:nvSpPr>
        <p:spPr bwMode="auto">
          <a:xfrm>
            <a:off x="4579673" y="3078076"/>
            <a:ext cx="258404" cy="23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baseline="-25000">
                <a:latin typeface="微软雅黑" panose="020B0503020204020204" pitchFamily="34" charset="-122"/>
                <a:ea typeface="微软雅黑" panose="020B0503020204020204" pitchFamily="34" charset="-122"/>
              </a:rPr>
              <a:t>4</a:t>
            </a:r>
          </a:p>
        </p:txBody>
      </p:sp>
      <p:sp>
        <p:nvSpPr>
          <p:cNvPr id="62" name="Text Box 69"/>
          <p:cNvSpPr txBox="1">
            <a:spLocks noChangeArrowheads="1"/>
          </p:cNvSpPr>
          <p:nvPr/>
        </p:nvSpPr>
        <p:spPr bwMode="auto">
          <a:xfrm>
            <a:off x="5284523" y="2323766"/>
            <a:ext cx="258404" cy="23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baseline="-25000" dirty="0">
                <a:latin typeface="微软雅黑" panose="020B0503020204020204" pitchFamily="34" charset="-122"/>
                <a:ea typeface="微软雅黑" panose="020B0503020204020204" pitchFamily="34" charset="-122"/>
              </a:rPr>
              <a:t>4</a:t>
            </a:r>
          </a:p>
        </p:txBody>
      </p:sp>
      <p:pic>
        <p:nvPicPr>
          <p:cNvPr id="15" name="Picture 2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094542" y="1269410"/>
            <a:ext cx="3079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cxnSp>
        <p:nvCxnSpPr>
          <p:cNvPr id="4" name="直接连接符 3"/>
          <p:cNvCxnSpPr/>
          <p:nvPr/>
        </p:nvCxnSpPr>
        <p:spPr>
          <a:xfrm>
            <a:off x="1140737" y="2087961"/>
            <a:ext cx="7233718" cy="0"/>
          </a:xfrm>
          <a:prstGeom prst="line">
            <a:avLst/>
          </a:prstGeom>
          <a:ln w="12700">
            <a:solidFill>
              <a:srgbClr val="000066"/>
            </a:solidFill>
            <a:prstDash val="sysDash"/>
          </a:ln>
        </p:spPr>
        <p:style>
          <a:lnRef idx="1">
            <a:schemeClr val="dk1"/>
          </a:lnRef>
          <a:fillRef idx="0">
            <a:schemeClr val="dk1"/>
          </a:fillRef>
          <a:effectRef idx="0">
            <a:schemeClr val="dk1"/>
          </a:effectRef>
          <a:fontRef idx="minor">
            <a:schemeClr val="tx1"/>
          </a:fontRef>
        </p:style>
      </p:cxnSp>
      <p:sp>
        <p:nvSpPr>
          <p:cNvPr id="6" name="矩形 5"/>
          <p:cNvSpPr/>
          <p:nvPr/>
        </p:nvSpPr>
        <p:spPr>
          <a:xfrm>
            <a:off x="7362966" y="1717914"/>
            <a:ext cx="1005403" cy="338554"/>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控制层面</a:t>
            </a:r>
            <a:endParaRPr lang="zh-CN" altLang="en-US" sz="1600" dirty="0"/>
          </a:p>
        </p:txBody>
      </p:sp>
      <p:sp>
        <p:nvSpPr>
          <p:cNvPr id="66" name="矩形 65"/>
          <p:cNvSpPr/>
          <p:nvPr/>
        </p:nvSpPr>
        <p:spPr>
          <a:xfrm>
            <a:off x="7362966" y="2143503"/>
            <a:ext cx="1005403" cy="338554"/>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数据层面</a:t>
            </a:r>
            <a:endParaRPr lang="zh-CN" altLang="en-US" sz="1600" dirty="0"/>
          </a:p>
        </p:txBody>
      </p:sp>
      <p:sp>
        <p:nvSpPr>
          <p:cNvPr id="10" name="Line 24"/>
          <p:cNvSpPr>
            <a:spLocks noChangeShapeType="1"/>
          </p:cNvSpPr>
          <p:nvPr/>
        </p:nvSpPr>
        <p:spPr bwMode="auto">
          <a:xfrm flipV="1">
            <a:off x="3598240" y="1998575"/>
            <a:ext cx="549632" cy="530225"/>
          </a:xfrm>
          <a:prstGeom prst="line">
            <a:avLst/>
          </a:prstGeom>
          <a:noFill/>
          <a:ln w="28575">
            <a:solidFill>
              <a:srgbClr val="9900CC"/>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3" name="Line 24"/>
          <p:cNvSpPr>
            <a:spLocks noChangeShapeType="1"/>
          </p:cNvSpPr>
          <p:nvPr/>
        </p:nvSpPr>
        <p:spPr bwMode="auto">
          <a:xfrm flipH="1" flipV="1">
            <a:off x="4252647" y="1945988"/>
            <a:ext cx="92076" cy="1265437"/>
          </a:xfrm>
          <a:prstGeom prst="line">
            <a:avLst/>
          </a:prstGeom>
          <a:noFill/>
          <a:ln w="28575">
            <a:solidFill>
              <a:srgbClr val="9900CC"/>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4" name="Line 24"/>
          <p:cNvSpPr>
            <a:spLocks noChangeShapeType="1"/>
          </p:cNvSpPr>
          <p:nvPr/>
        </p:nvSpPr>
        <p:spPr bwMode="auto">
          <a:xfrm flipH="1" flipV="1">
            <a:off x="4262788" y="1945989"/>
            <a:ext cx="748685" cy="557411"/>
          </a:xfrm>
          <a:prstGeom prst="line">
            <a:avLst/>
          </a:prstGeom>
          <a:noFill/>
          <a:ln w="28575">
            <a:solidFill>
              <a:srgbClr val="9900CC"/>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5580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圆角矩形 64"/>
          <p:cNvSpPr/>
          <p:nvPr/>
        </p:nvSpPr>
        <p:spPr>
          <a:xfrm>
            <a:off x="545144" y="972296"/>
            <a:ext cx="8053711" cy="195197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7" name="AutoShape 5"/>
          <p:cNvSpPr>
            <a:spLocks noChangeArrowheads="1"/>
          </p:cNvSpPr>
          <p:nvPr/>
        </p:nvSpPr>
        <p:spPr bwMode="auto">
          <a:xfrm>
            <a:off x="545144" y="615972"/>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7"/>
          <p:cNvSpPr/>
          <p:nvPr/>
        </p:nvSpPr>
        <p:spPr>
          <a:xfrm>
            <a:off x="616085" y="557204"/>
            <a:ext cx="1980029" cy="400110"/>
          </a:xfrm>
          <a:prstGeom prst="rect">
            <a:avLst/>
          </a:prstGeom>
        </p:spPr>
        <p:txBody>
          <a:bodyPr wrap="none">
            <a:spAutoFit/>
          </a:bodyPr>
          <a:lstStyle/>
          <a:p>
            <a:r>
              <a:rPr lang="zh-CN" altLang="en-US" sz="2000" b="1" dirty="0">
                <a:latin typeface="微软雅黑" pitchFamily="34" charset="-122"/>
                <a:ea typeface="微软雅黑" pitchFamily="34" charset="-122"/>
              </a:rPr>
              <a:t>例子：简单转发</a:t>
            </a:r>
          </a:p>
        </p:txBody>
      </p:sp>
      <p:grpSp>
        <p:nvGrpSpPr>
          <p:cNvPr id="2" name="组合 1"/>
          <p:cNvGrpSpPr/>
          <p:nvPr/>
        </p:nvGrpSpPr>
        <p:grpSpPr>
          <a:xfrm>
            <a:off x="719362" y="1004699"/>
            <a:ext cx="4674957" cy="1829036"/>
            <a:chOff x="1405863" y="952215"/>
            <a:chExt cx="6068412" cy="3206955"/>
          </a:xfrm>
        </p:grpSpPr>
        <p:sp>
          <p:nvSpPr>
            <p:cNvPr id="9" name="Line 23"/>
            <p:cNvSpPr>
              <a:spLocks noChangeShapeType="1"/>
            </p:cNvSpPr>
            <p:nvPr/>
          </p:nvSpPr>
          <p:spPr bwMode="auto">
            <a:xfrm flipV="1">
              <a:off x="2627313" y="2646276"/>
              <a:ext cx="936625" cy="5048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 name="Line 24"/>
            <p:cNvSpPr>
              <a:spLocks noChangeShapeType="1"/>
            </p:cNvSpPr>
            <p:nvPr/>
          </p:nvSpPr>
          <p:spPr bwMode="auto">
            <a:xfrm flipV="1">
              <a:off x="3806467" y="1998575"/>
              <a:ext cx="549632" cy="530225"/>
            </a:xfrm>
            <a:prstGeom prst="line">
              <a:avLst/>
            </a:prstGeom>
            <a:noFill/>
            <a:ln w="28575">
              <a:solidFill>
                <a:srgbClr val="9900CC"/>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 name="Line 25"/>
            <p:cNvSpPr>
              <a:spLocks noChangeShapeType="1"/>
            </p:cNvSpPr>
            <p:nvPr/>
          </p:nvSpPr>
          <p:spPr bwMode="auto">
            <a:xfrm flipV="1">
              <a:off x="3810000" y="2601826"/>
              <a:ext cx="1381125" cy="444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 name="Line 26"/>
            <p:cNvSpPr>
              <a:spLocks noChangeShapeType="1"/>
            </p:cNvSpPr>
            <p:nvPr/>
          </p:nvSpPr>
          <p:spPr bwMode="auto">
            <a:xfrm flipV="1">
              <a:off x="5421313" y="2382751"/>
              <a:ext cx="931862" cy="2460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 name="Line 27"/>
            <p:cNvSpPr>
              <a:spLocks noChangeShapeType="1"/>
            </p:cNvSpPr>
            <p:nvPr/>
          </p:nvSpPr>
          <p:spPr bwMode="auto">
            <a:xfrm>
              <a:off x="3667125" y="2697076"/>
              <a:ext cx="866775" cy="64770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 name="Line 30"/>
            <p:cNvSpPr>
              <a:spLocks noChangeShapeType="1"/>
            </p:cNvSpPr>
            <p:nvPr/>
          </p:nvSpPr>
          <p:spPr bwMode="auto">
            <a:xfrm flipV="1">
              <a:off x="4683125" y="2725651"/>
              <a:ext cx="622300" cy="5778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 name="Text Box 69"/>
            <p:cNvSpPr txBox="1">
              <a:spLocks noChangeArrowheads="1"/>
            </p:cNvSpPr>
            <p:nvPr/>
          </p:nvSpPr>
          <p:spPr bwMode="auto">
            <a:xfrm>
              <a:off x="3516638" y="952215"/>
              <a:ext cx="1914759" cy="4856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err="1">
                  <a:latin typeface="微软雅黑" panose="020B0503020204020204" pitchFamily="34" charset="-122"/>
                  <a:ea typeface="微软雅黑" panose="020B0503020204020204" pitchFamily="34" charset="-122"/>
                </a:rPr>
                <a:t>OpenFlow</a:t>
              </a:r>
              <a:r>
                <a:rPr lang="en-US" altLang="zh-CN" sz="1200" b="1" dirty="0">
                  <a:latin typeface="微软雅黑" panose="020B0503020204020204" pitchFamily="34" charset="-122"/>
                  <a:ea typeface="微软雅黑" panose="020B0503020204020204" pitchFamily="34" charset="-122"/>
                </a:rPr>
                <a:t> </a:t>
              </a:r>
              <a:r>
                <a:rPr lang="zh-CN" altLang="en-US" sz="1200" b="1" dirty="0">
                  <a:latin typeface="微软雅黑" panose="020B0503020204020204" pitchFamily="34" charset="-122"/>
                  <a:ea typeface="微软雅黑" panose="020B0503020204020204" pitchFamily="34" charset="-122"/>
                </a:rPr>
                <a:t>控制器</a:t>
              </a:r>
              <a:endParaRPr lang="en-US" altLang="zh-CN" sz="1200" b="1" baseline="-25000" dirty="0">
                <a:latin typeface="微软雅黑" panose="020B0503020204020204" pitchFamily="34" charset="-122"/>
                <a:ea typeface="微软雅黑" panose="020B0503020204020204" pitchFamily="34" charset="-122"/>
              </a:endParaRPr>
            </a:p>
          </p:txBody>
        </p:sp>
        <p:sp>
          <p:nvSpPr>
            <p:cNvPr id="17" name="Text Box 65"/>
            <p:cNvSpPr txBox="1">
              <a:spLocks noChangeArrowheads="1"/>
            </p:cNvSpPr>
            <p:nvPr/>
          </p:nvSpPr>
          <p:spPr bwMode="auto">
            <a:xfrm>
              <a:off x="4488812" y="2825187"/>
              <a:ext cx="424902"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solidFill>
                    <a:srgbClr val="000099"/>
                  </a:solidFill>
                  <a:latin typeface="微软雅黑" panose="020B0503020204020204" pitchFamily="34" charset="-122"/>
                  <a:ea typeface="微软雅黑" panose="020B0503020204020204" pitchFamily="34" charset="-122"/>
                </a:rPr>
                <a:t>S</a:t>
              </a:r>
              <a:r>
                <a:rPr lang="en-US" altLang="zh-CN" sz="1100" b="1" baseline="-25000" dirty="0">
                  <a:solidFill>
                    <a:srgbClr val="000099"/>
                  </a:solidFill>
                  <a:latin typeface="微软雅黑" panose="020B0503020204020204" pitchFamily="34" charset="-122"/>
                  <a:ea typeface="微软雅黑" panose="020B0503020204020204" pitchFamily="34" charset="-122"/>
                </a:rPr>
                <a:t>1</a:t>
              </a:r>
            </a:p>
          </p:txBody>
        </p:sp>
        <p:sp>
          <p:nvSpPr>
            <p:cNvPr id="18" name="Text Box 65"/>
            <p:cNvSpPr txBox="1">
              <a:spLocks noChangeArrowheads="1"/>
            </p:cNvSpPr>
            <p:nvPr/>
          </p:nvSpPr>
          <p:spPr bwMode="auto">
            <a:xfrm>
              <a:off x="3492501" y="2131964"/>
              <a:ext cx="424902"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solidFill>
                    <a:srgbClr val="000099"/>
                  </a:solidFill>
                  <a:latin typeface="微软雅黑" panose="020B0503020204020204" pitchFamily="34" charset="-122"/>
                  <a:ea typeface="微软雅黑" panose="020B0503020204020204" pitchFamily="34" charset="-122"/>
                </a:rPr>
                <a:t>S</a:t>
              </a:r>
              <a:r>
                <a:rPr lang="en-US" altLang="zh-CN" sz="1100" b="1" baseline="-25000" dirty="0">
                  <a:solidFill>
                    <a:srgbClr val="000099"/>
                  </a:solidFill>
                  <a:latin typeface="微软雅黑" panose="020B0503020204020204" pitchFamily="34" charset="-122"/>
                  <a:ea typeface="微软雅黑" panose="020B0503020204020204" pitchFamily="34" charset="-122"/>
                </a:rPr>
                <a:t>3</a:t>
              </a:r>
            </a:p>
          </p:txBody>
        </p:sp>
        <p:sp>
          <p:nvSpPr>
            <p:cNvPr id="19" name="Text Box 65"/>
            <p:cNvSpPr txBox="1">
              <a:spLocks noChangeArrowheads="1"/>
            </p:cNvSpPr>
            <p:nvPr/>
          </p:nvSpPr>
          <p:spPr bwMode="auto">
            <a:xfrm>
              <a:off x="5148264" y="2131964"/>
              <a:ext cx="424902"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solidFill>
                    <a:srgbClr val="000099"/>
                  </a:solidFill>
                  <a:latin typeface="微软雅黑" panose="020B0503020204020204" pitchFamily="34" charset="-122"/>
                  <a:ea typeface="微软雅黑" panose="020B0503020204020204" pitchFamily="34" charset="-122"/>
                </a:rPr>
                <a:t>S</a:t>
              </a:r>
              <a:r>
                <a:rPr lang="en-US" altLang="zh-CN" sz="1100" b="1" baseline="-25000">
                  <a:solidFill>
                    <a:srgbClr val="000099"/>
                  </a:solidFill>
                  <a:latin typeface="微软雅黑" panose="020B0503020204020204" pitchFamily="34" charset="-122"/>
                  <a:ea typeface="微软雅黑" panose="020B0503020204020204" pitchFamily="34" charset="-122"/>
                </a:rPr>
                <a:t>2</a:t>
              </a:r>
            </a:p>
          </p:txBody>
        </p:sp>
        <p:grpSp>
          <p:nvGrpSpPr>
            <p:cNvPr id="20" name="组合 89"/>
            <p:cNvGrpSpPr>
              <a:grpSpLocks/>
            </p:cNvGrpSpPr>
            <p:nvPr/>
          </p:nvGrpSpPr>
          <p:grpSpPr bwMode="auto">
            <a:xfrm>
              <a:off x="6084888" y="1957326"/>
              <a:ext cx="574675" cy="617519"/>
              <a:chOff x="5220072" y="3315751"/>
              <a:chExt cx="576064" cy="617305"/>
            </a:xfrm>
          </p:grpSpPr>
          <p:pic>
            <p:nvPicPr>
              <p:cNvPr id="21"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 name="Text Box 67"/>
              <p:cNvSpPr txBox="1">
                <a:spLocks noChangeArrowheads="1"/>
              </p:cNvSpPr>
              <p:nvPr/>
            </p:nvSpPr>
            <p:spPr bwMode="auto">
              <a:xfrm>
                <a:off x="5294022" y="3315751"/>
                <a:ext cx="465558"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4</a:t>
                </a:r>
              </a:p>
            </p:txBody>
          </p:sp>
        </p:grpSp>
        <p:sp>
          <p:nvSpPr>
            <p:cNvPr id="23" name="Text Box 69"/>
            <p:cNvSpPr txBox="1">
              <a:spLocks noChangeArrowheads="1"/>
            </p:cNvSpPr>
            <p:nvPr/>
          </p:nvSpPr>
          <p:spPr bwMode="auto">
            <a:xfrm>
              <a:off x="6516688" y="2070014"/>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10.2.0.4</a:t>
              </a:r>
              <a:endParaRPr lang="en-US" altLang="zh-CN" sz="1100" b="1" baseline="-25000">
                <a:latin typeface="微软雅黑" panose="020B0503020204020204" pitchFamily="34" charset="-122"/>
                <a:ea typeface="微软雅黑" panose="020B0503020204020204" pitchFamily="34" charset="-122"/>
              </a:endParaRPr>
            </a:p>
          </p:txBody>
        </p:sp>
        <p:sp>
          <p:nvSpPr>
            <p:cNvPr id="24" name="Text Box 69"/>
            <p:cNvSpPr txBox="1">
              <a:spLocks noChangeArrowheads="1"/>
            </p:cNvSpPr>
            <p:nvPr/>
          </p:nvSpPr>
          <p:spPr bwMode="auto">
            <a:xfrm>
              <a:off x="6516688" y="2935202"/>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10.2.0.3</a:t>
              </a:r>
              <a:endParaRPr lang="en-US" altLang="zh-CN" sz="1100" b="1" baseline="-25000">
                <a:latin typeface="微软雅黑" panose="020B0503020204020204" pitchFamily="34" charset="-122"/>
                <a:ea typeface="微软雅黑" panose="020B0503020204020204" pitchFamily="34" charset="-122"/>
              </a:endParaRPr>
            </a:p>
          </p:txBody>
        </p:sp>
        <p:sp>
          <p:nvSpPr>
            <p:cNvPr id="25" name="Text Box 69"/>
            <p:cNvSpPr txBox="1">
              <a:spLocks noChangeArrowheads="1"/>
            </p:cNvSpPr>
            <p:nvPr/>
          </p:nvSpPr>
          <p:spPr bwMode="auto">
            <a:xfrm>
              <a:off x="2716871" y="3654340"/>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10.1.0.1</a:t>
              </a:r>
              <a:endParaRPr lang="en-US" altLang="zh-CN" sz="1100" b="1" baseline="-25000" dirty="0">
                <a:latin typeface="微软雅黑" panose="020B0503020204020204" pitchFamily="34" charset="-122"/>
                <a:ea typeface="微软雅黑" panose="020B0503020204020204" pitchFamily="34" charset="-122"/>
              </a:endParaRPr>
            </a:p>
          </p:txBody>
        </p:sp>
        <p:sp>
          <p:nvSpPr>
            <p:cNvPr id="26" name="Text Box 69"/>
            <p:cNvSpPr txBox="1">
              <a:spLocks noChangeArrowheads="1"/>
            </p:cNvSpPr>
            <p:nvPr/>
          </p:nvSpPr>
          <p:spPr bwMode="auto">
            <a:xfrm>
              <a:off x="5643048" y="3654340"/>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10.1.0.2</a:t>
              </a:r>
              <a:endParaRPr lang="en-US" altLang="zh-CN" sz="1100" b="1" baseline="-25000" dirty="0">
                <a:latin typeface="微软雅黑" panose="020B0503020204020204" pitchFamily="34" charset="-122"/>
                <a:ea typeface="微软雅黑" panose="020B0503020204020204" pitchFamily="34" charset="-122"/>
              </a:endParaRPr>
            </a:p>
          </p:txBody>
        </p:sp>
        <p:sp>
          <p:nvSpPr>
            <p:cNvPr id="27" name="Text Box 69"/>
            <p:cNvSpPr txBox="1">
              <a:spLocks noChangeArrowheads="1"/>
            </p:cNvSpPr>
            <p:nvPr/>
          </p:nvSpPr>
          <p:spPr bwMode="auto">
            <a:xfrm>
              <a:off x="1413799" y="2793914"/>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10.3.0.5</a:t>
              </a:r>
              <a:endParaRPr lang="en-US" altLang="zh-CN" sz="1100" b="1" baseline="-25000">
                <a:latin typeface="微软雅黑" panose="020B0503020204020204" pitchFamily="34" charset="-122"/>
                <a:ea typeface="微软雅黑" panose="020B0503020204020204" pitchFamily="34" charset="-122"/>
              </a:endParaRPr>
            </a:p>
          </p:txBody>
        </p:sp>
        <p:sp>
          <p:nvSpPr>
            <p:cNvPr id="28" name="Text Box 69"/>
            <p:cNvSpPr txBox="1">
              <a:spLocks noChangeArrowheads="1"/>
            </p:cNvSpPr>
            <p:nvPr/>
          </p:nvSpPr>
          <p:spPr bwMode="auto">
            <a:xfrm>
              <a:off x="1405863" y="2055726"/>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10.3.0.6</a:t>
              </a:r>
              <a:endParaRPr lang="en-US" altLang="zh-CN" sz="1100" b="1" baseline="-25000" dirty="0">
                <a:latin typeface="微软雅黑" panose="020B0503020204020204" pitchFamily="34" charset="-122"/>
                <a:ea typeface="微软雅黑" panose="020B0503020204020204" pitchFamily="34" charset="-122"/>
              </a:endParaRPr>
            </a:p>
          </p:txBody>
        </p:sp>
        <p:sp>
          <p:nvSpPr>
            <p:cNvPr id="29" name="Line 23"/>
            <p:cNvSpPr>
              <a:spLocks noChangeShapeType="1"/>
            </p:cNvSpPr>
            <p:nvPr/>
          </p:nvSpPr>
          <p:spPr bwMode="auto">
            <a:xfrm>
              <a:off x="2627313" y="2358939"/>
              <a:ext cx="936625" cy="2873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 name="Line 26"/>
            <p:cNvSpPr>
              <a:spLocks noChangeShapeType="1"/>
            </p:cNvSpPr>
            <p:nvPr/>
          </p:nvSpPr>
          <p:spPr bwMode="auto">
            <a:xfrm>
              <a:off x="5435600" y="2646276"/>
              <a:ext cx="936625" cy="431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 name="Line 26"/>
            <p:cNvSpPr>
              <a:spLocks noChangeShapeType="1"/>
            </p:cNvSpPr>
            <p:nvPr/>
          </p:nvSpPr>
          <p:spPr bwMode="auto">
            <a:xfrm>
              <a:off x="4572000" y="3367001"/>
              <a:ext cx="936625" cy="431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 name="Line 26"/>
            <p:cNvSpPr>
              <a:spLocks noChangeShapeType="1"/>
            </p:cNvSpPr>
            <p:nvPr/>
          </p:nvSpPr>
          <p:spPr bwMode="auto">
            <a:xfrm flipH="1">
              <a:off x="3924300" y="3367001"/>
              <a:ext cx="576263" cy="3603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33" name="组合 76"/>
            <p:cNvGrpSpPr>
              <a:grpSpLocks/>
            </p:cNvGrpSpPr>
            <p:nvPr/>
          </p:nvGrpSpPr>
          <p:grpSpPr bwMode="auto">
            <a:xfrm>
              <a:off x="5219700" y="3541651"/>
              <a:ext cx="576263" cy="617519"/>
              <a:chOff x="5220072" y="3315751"/>
              <a:chExt cx="576064" cy="617305"/>
            </a:xfrm>
          </p:grpSpPr>
          <p:pic>
            <p:nvPicPr>
              <p:cNvPr id="34"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Text Box 67"/>
              <p:cNvSpPr txBox="1">
                <a:spLocks noChangeArrowheads="1"/>
              </p:cNvSpPr>
              <p:nvPr/>
            </p:nvSpPr>
            <p:spPr bwMode="auto">
              <a:xfrm>
                <a:off x="5294082" y="3315751"/>
                <a:ext cx="464275"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2</a:t>
                </a:r>
              </a:p>
            </p:txBody>
          </p:sp>
        </p:grpSp>
        <p:grpSp>
          <p:nvGrpSpPr>
            <p:cNvPr id="36" name="组合 77"/>
            <p:cNvGrpSpPr>
              <a:grpSpLocks/>
            </p:cNvGrpSpPr>
            <p:nvPr/>
          </p:nvGrpSpPr>
          <p:grpSpPr bwMode="auto">
            <a:xfrm>
              <a:off x="3563938" y="3541651"/>
              <a:ext cx="576262" cy="617519"/>
              <a:chOff x="5220072" y="3315751"/>
              <a:chExt cx="576064" cy="617305"/>
            </a:xfrm>
          </p:grpSpPr>
          <p:pic>
            <p:nvPicPr>
              <p:cNvPr id="37"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 Box 67"/>
              <p:cNvSpPr txBox="1">
                <a:spLocks noChangeArrowheads="1"/>
              </p:cNvSpPr>
              <p:nvPr/>
            </p:nvSpPr>
            <p:spPr bwMode="auto">
              <a:xfrm>
                <a:off x="5294083" y="3315751"/>
                <a:ext cx="464276"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1</a:t>
                </a:r>
              </a:p>
            </p:txBody>
          </p:sp>
        </p:grpSp>
        <p:grpSp>
          <p:nvGrpSpPr>
            <p:cNvPr id="39" name="组合 86"/>
            <p:cNvGrpSpPr>
              <a:grpSpLocks/>
            </p:cNvGrpSpPr>
            <p:nvPr/>
          </p:nvGrpSpPr>
          <p:grpSpPr bwMode="auto">
            <a:xfrm>
              <a:off x="6084888" y="2820926"/>
              <a:ext cx="574675" cy="617519"/>
              <a:chOff x="5220072" y="3315751"/>
              <a:chExt cx="576064" cy="617305"/>
            </a:xfrm>
          </p:grpSpPr>
          <p:pic>
            <p:nvPicPr>
              <p:cNvPr id="40"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Text Box 67"/>
              <p:cNvSpPr txBox="1">
                <a:spLocks noChangeArrowheads="1"/>
              </p:cNvSpPr>
              <p:nvPr/>
            </p:nvSpPr>
            <p:spPr bwMode="auto">
              <a:xfrm>
                <a:off x="5294022" y="3315751"/>
                <a:ext cx="465558"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3</a:t>
                </a:r>
              </a:p>
            </p:txBody>
          </p:sp>
        </p:grpSp>
        <p:grpSp>
          <p:nvGrpSpPr>
            <p:cNvPr id="42" name="组合 83"/>
            <p:cNvGrpSpPr>
              <a:grpSpLocks/>
            </p:cNvGrpSpPr>
            <p:nvPr/>
          </p:nvGrpSpPr>
          <p:grpSpPr bwMode="auto">
            <a:xfrm>
              <a:off x="2268538" y="1957326"/>
              <a:ext cx="574675" cy="617519"/>
              <a:chOff x="5220072" y="3315751"/>
              <a:chExt cx="576064" cy="617305"/>
            </a:xfrm>
          </p:grpSpPr>
          <p:pic>
            <p:nvPicPr>
              <p:cNvPr id="43"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 Box 67"/>
              <p:cNvSpPr txBox="1">
                <a:spLocks noChangeArrowheads="1"/>
              </p:cNvSpPr>
              <p:nvPr/>
            </p:nvSpPr>
            <p:spPr bwMode="auto">
              <a:xfrm>
                <a:off x="5294022" y="3315751"/>
                <a:ext cx="465558"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H</a:t>
                </a:r>
                <a:r>
                  <a:rPr lang="en-US" altLang="zh-CN" sz="1100" b="1" baseline="-25000" dirty="0">
                    <a:latin typeface="微软雅黑" panose="020B0503020204020204" pitchFamily="34" charset="-122"/>
                    <a:ea typeface="微软雅黑" panose="020B0503020204020204" pitchFamily="34" charset="-122"/>
                  </a:rPr>
                  <a:t>6</a:t>
                </a:r>
              </a:p>
            </p:txBody>
          </p:sp>
        </p:grpSp>
        <p:grpSp>
          <p:nvGrpSpPr>
            <p:cNvPr id="45" name="组合 80"/>
            <p:cNvGrpSpPr>
              <a:grpSpLocks/>
            </p:cNvGrpSpPr>
            <p:nvPr/>
          </p:nvGrpSpPr>
          <p:grpSpPr bwMode="auto">
            <a:xfrm>
              <a:off x="2268538" y="2749489"/>
              <a:ext cx="574675" cy="617518"/>
              <a:chOff x="5220072" y="3315751"/>
              <a:chExt cx="576064" cy="617305"/>
            </a:xfrm>
          </p:grpSpPr>
          <p:pic>
            <p:nvPicPr>
              <p:cNvPr id="46"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Text Box 67"/>
              <p:cNvSpPr txBox="1">
                <a:spLocks noChangeArrowheads="1"/>
              </p:cNvSpPr>
              <p:nvPr/>
            </p:nvSpPr>
            <p:spPr bwMode="auto">
              <a:xfrm>
                <a:off x="5294022" y="3315751"/>
                <a:ext cx="465558"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5</a:t>
                </a:r>
              </a:p>
            </p:txBody>
          </p:sp>
        </p:grpSp>
        <p:pic>
          <p:nvPicPr>
            <p:cNvPr id="48" name="Picture 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19475" y="2503401"/>
              <a:ext cx="504825" cy="287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9" name="Picture 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076825" y="2503401"/>
              <a:ext cx="503238" cy="287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50" name="Picture 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56100" y="3222539"/>
              <a:ext cx="503238"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51" name="Text Box 69"/>
            <p:cNvSpPr txBox="1">
              <a:spLocks noChangeArrowheads="1"/>
            </p:cNvSpPr>
            <p:nvPr/>
          </p:nvSpPr>
          <p:spPr bwMode="auto">
            <a:xfrm>
              <a:off x="3203576" y="2287501"/>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1</a:t>
              </a:r>
            </a:p>
          </p:txBody>
        </p:sp>
        <p:sp>
          <p:nvSpPr>
            <p:cNvPr id="52" name="Text Box 69"/>
            <p:cNvSpPr txBox="1">
              <a:spLocks noChangeArrowheads="1"/>
            </p:cNvSpPr>
            <p:nvPr/>
          </p:nvSpPr>
          <p:spPr bwMode="auto">
            <a:xfrm>
              <a:off x="4140200" y="3078076"/>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1</a:t>
              </a:r>
            </a:p>
          </p:txBody>
        </p:sp>
        <p:sp>
          <p:nvSpPr>
            <p:cNvPr id="53" name="Text Box 69"/>
            <p:cNvSpPr txBox="1">
              <a:spLocks noChangeArrowheads="1"/>
            </p:cNvSpPr>
            <p:nvPr/>
          </p:nvSpPr>
          <p:spPr bwMode="auto">
            <a:xfrm>
              <a:off x="4859339" y="2303931"/>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1</a:t>
              </a:r>
            </a:p>
          </p:txBody>
        </p:sp>
        <p:sp>
          <p:nvSpPr>
            <p:cNvPr id="54" name="Text Box 69"/>
            <p:cNvSpPr txBox="1">
              <a:spLocks noChangeArrowheads="1"/>
            </p:cNvSpPr>
            <p:nvPr/>
          </p:nvSpPr>
          <p:spPr bwMode="auto">
            <a:xfrm>
              <a:off x="4284663" y="3398752"/>
              <a:ext cx="287337" cy="3590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2</a:t>
              </a:r>
            </a:p>
          </p:txBody>
        </p:sp>
        <p:sp>
          <p:nvSpPr>
            <p:cNvPr id="55" name="Text Box 69"/>
            <p:cNvSpPr txBox="1">
              <a:spLocks noChangeArrowheads="1"/>
            </p:cNvSpPr>
            <p:nvPr/>
          </p:nvSpPr>
          <p:spPr bwMode="auto">
            <a:xfrm>
              <a:off x="3092174" y="2533583"/>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2</a:t>
              </a:r>
            </a:p>
          </p:txBody>
        </p:sp>
        <p:sp>
          <p:nvSpPr>
            <p:cNvPr id="56" name="Text Box 69"/>
            <p:cNvSpPr txBox="1">
              <a:spLocks noChangeArrowheads="1"/>
            </p:cNvSpPr>
            <p:nvPr/>
          </p:nvSpPr>
          <p:spPr bwMode="auto">
            <a:xfrm>
              <a:off x="4910322" y="2618773"/>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2</a:t>
              </a:r>
            </a:p>
          </p:txBody>
        </p:sp>
        <p:sp>
          <p:nvSpPr>
            <p:cNvPr id="57" name="Text Box 69"/>
            <p:cNvSpPr txBox="1">
              <a:spLocks noChangeArrowheads="1"/>
            </p:cNvSpPr>
            <p:nvPr/>
          </p:nvSpPr>
          <p:spPr bwMode="auto">
            <a:xfrm>
              <a:off x="5424580" y="2618773"/>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3</a:t>
              </a:r>
            </a:p>
          </p:txBody>
        </p:sp>
        <p:sp>
          <p:nvSpPr>
            <p:cNvPr id="58" name="Text Box 69"/>
            <p:cNvSpPr txBox="1">
              <a:spLocks noChangeArrowheads="1"/>
            </p:cNvSpPr>
            <p:nvPr/>
          </p:nvSpPr>
          <p:spPr bwMode="auto">
            <a:xfrm>
              <a:off x="3670301" y="2719300"/>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3</a:t>
              </a:r>
            </a:p>
          </p:txBody>
        </p:sp>
        <p:sp>
          <p:nvSpPr>
            <p:cNvPr id="59" name="Text Box 69"/>
            <p:cNvSpPr txBox="1">
              <a:spLocks noChangeArrowheads="1"/>
            </p:cNvSpPr>
            <p:nvPr/>
          </p:nvSpPr>
          <p:spPr bwMode="auto">
            <a:xfrm>
              <a:off x="4678362" y="3398753"/>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3</a:t>
              </a:r>
            </a:p>
          </p:txBody>
        </p:sp>
        <p:sp>
          <p:nvSpPr>
            <p:cNvPr id="60" name="Text Box 69"/>
            <p:cNvSpPr txBox="1">
              <a:spLocks noChangeArrowheads="1"/>
            </p:cNvSpPr>
            <p:nvPr/>
          </p:nvSpPr>
          <p:spPr bwMode="auto">
            <a:xfrm>
              <a:off x="3851274" y="2331434"/>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4</a:t>
              </a:r>
            </a:p>
          </p:txBody>
        </p:sp>
        <p:sp>
          <p:nvSpPr>
            <p:cNvPr id="61" name="Text Box 69"/>
            <p:cNvSpPr txBox="1">
              <a:spLocks noChangeArrowheads="1"/>
            </p:cNvSpPr>
            <p:nvPr/>
          </p:nvSpPr>
          <p:spPr bwMode="auto">
            <a:xfrm>
              <a:off x="4787901" y="3078076"/>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4</a:t>
              </a:r>
            </a:p>
          </p:txBody>
        </p:sp>
        <p:sp>
          <p:nvSpPr>
            <p:cNvPr id="62" name="Text Box 69"/>
            <p:cNvSpPr txBox="1">
              <a:spLocks noChangeArrowheads="1"/>
            </p:cNvSpPr>
            <p:nvPr/>
          </p:nvSpPr>
          <p:spPr bwMode="auto">
            <a:xfrm>
              <a:off x="5508625" y="2287501"/>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4</a:t>
              </a:r>
            </a:p>
          </p:txBody>
        </p:sp>
        <p:sp>
          <p:nvSpPr>
            <p:cNvPr id="63" name="Line 24"/>
            <p:cNvSpPr>
              <a:spLocks noChangeShapeType="1"/>
            </p:cNvSpPr>
            <p:nvPr/>
          </p:nvSpPr>
          <p:spPr bwMode="auto">
            <a:xfrm flipH="1" flipV="1">
              <a:off x="4438650" y="2049376"/>
              <a:ext cx="114300" cy="1162050"/>
            </a:xfrm>
            <a:prstGeom prst="line">
              <a:avLst/>
            </a:prstGeom>
            <a:noFill/>
            <a:ln w="28575">
              <a:solidFill>
                <a:srgbClr val="9900CC"/>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 name="Line 24"/>
            <p:cNvSpPr>
              <a:spLocks noChangeShapeType="1"/>
            </p:cNvSpPr>
            <p:nvPr/>
          </p:nvSpPr>
          <p:spPr bwMode="auto">
            <a:xfrm flipH="1" flipV="1">
              <a:off x="4572000" y="2070014"/>
              <a:ext cx="647700" cy="433387"/>
            </a:xfrm>
            <a:prstGeom prst="line">
              <a:avLst/>
            </a:prstGeom>
            <a:noFill/>
            <a:ln w="28575">
              <a:solidFill>
                <a:srgbClr val="9900CC"/>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pic>
          <p:nvPicPr>
            <p:cNvPr id="15" name="Picture 2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84663" y="1350876"/>
              <a:ext cx="3079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3" name="矩形 2"/>
          <p:cNvSpPr/>
          <p:nvPr/>
        </p:nvSpPr>
        <p:spPr>
          <a:xfrm>
            <a:off x="5734355" y="1203586"/>
            <a:ext cx="2562706" cy="1220847"/>
          </a:xfrm>
          <a:prstGeom prst="rect">
            <a:avLst/>
          </a:prstGeom>
          <a:solidFill>
            <a:schemeClr val="bg1"/>
          </a:solidFill>
        </p:spPr>
        <p:txBody>
          <a:bodyPr wrap="square">
            <a:spAutoFit/>
          </a:bodyPr>
          <a:lstStyle/>
          <a:p>
            <a:pPr>
              <a:lnSpc>
                <a:spcPts val="2200"/>
              </a:lnSpc>
            </a:pPr>
            <a:r>
              <a:rPr lang="zh-CN" altLang="en-US" sz="1600" b="1" dirty="0">
                <a:solidFill>
                  <a:srgbClr val="0000FF"/>
                </a:solidFill>
                <a:latin typeface="微软雅黑" panose="020B0503020204020204" pitchFamily="34" charset="-122"/>
                <a:ea typeface="微软雅黑" panose="020B0503020204020204" pitchFamily="34" charset="-122"/>
              </a:rPr>
              <a:t>转发规则：</a:t>
            </a:r>
            <a:endParaRPr lang="en-US" altLang="zh-CN" sz="1600" b="1" dirty="0">
              <a:solidFill>
                <a:srgbClr val="0000FF"/>
              </a:solidFill>
              <a:latin typeface="微软雅黑" panose="020B0503020204020204" pitchFamily="34" charset="-122"/>
              <a:ea typeface="微软雅黑" panose="020B0503020204020204" pitchFamily="34" charset="-122"/>
            </a:endParaRPr>
          </a:p>
          <a:p>
            <a:pPr>
              <a:lnSpc>
                <a:spcPts val="2200"/>
              </a:lnSpc>
            </a:pPr>
            <a:r>
              <a:rPr lang="zh-CN" altLang="en-US" sz="1600" b="1" dirty="0">
                <a:latin typeface="微软雅黑" panose="020B0503020204020204" pitchFamily="34" charset="-122"/>
                <a:ea typeface="微软雅黑" panose="020B0503020204020204" pitchFamily="34" charset="-122"/>
              </a:rPr>
              <a:t>源：</a:t>
            </a:r>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5</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或 </a:t>
            </a:r>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6</a:t>
            </a:r>
            <a:r>
              <a:rPr lang="en-US" altLang="zh-CN" sz="1600" b="1" dirty="0">
                <a:latin typeface="微软雅黑" panose="020B0503020204020204" pitchFamily="34" charset="-122"/>
                <a:ea typeface="微软雅黑" panose="020B0503020204020204" pitchFamily="34" charset="-122"/>
              </a:rPr>
              <a:t> </a:t>
            </a:r>
          </a:p>
          <a:p>
            <a:pPr>
              <a:lnSpc>
                <a:spcPts val="2200"/>
              </a:lnSpc>
            </a:pPr>
            <a:r>
              <a:rPr lang="zh-CN" altLang="en-US" sz="1600" b="1" dirty="0">
                <a:latin typeface="微软雅黑" panose="020B0503020204020204" pitchFamily="34" charset="-122"/>
                <a:ea typeface="微软雅黑" panose="020B0503020204020204" pitchFamily="34" charset="-122"/>
              </a:rPr>
              <a:t>目的：</a:t>
            </a:r>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3</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或 </a:t>
            </a:r>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4</a:t>
            </a:r>
            <a:r>
              <a:rPr lang="en-US" altLang="zh-CN" sz="1600" b="1" dirty="0">
                <a:latin typeface="微软雅黑" panose="020B0503020204020204" pitchFamily="34" charset="-122"/>
                <a:ea typeface="微软雅黑" panose="020B0503020204020204" pitchFamily="34" charset="-122"/>
              </a:rPr>
              <a:t> </a:t>
            </a:r>
          </a:p>
          <a:p>
            <a:pPr>
              <a:lnSpc>
                <a:spcPts val="2200"/>
              </a:lnSpc>
            </a:pPr>
            <a:r>
              <a:rPr lang="zh-CN" altLang="en-US" sz="1600" b="1" dirty="0">
                <a:latin typeface="微软雅黑" panose="020B0503020204020204" pitchFamily="34" charset="-122"/>
                <a:ea typeface="微软雅黑" panose="020B0503020204020204" pitchFamily="34" charset="-122"/>
              </a:rPr>
              <a:t>路径：</a:t>
            </a:r>
            <a:r>
              <a:rPr lang="en-US" altLang="zh-CN" sz="1600" b="1" dirty="0">
                <a:latin typeface="微软雅黑" panose="020B0503020204020204" pitchFamily="34" charset="-122"/>
                <a:ea typeface="微软雅黑" panose="020B0503020204020204" pitchFamily="34" charset="-122"/>
              </a:rPr>
              <a:t>S</a:t>
            </a:r>
            <a:r>
              <a:rPr lang="en-US" altLang="zh-CN" sz="1600" b="1" baseline="-25000" dirty="0">
                <a:latin typeface="微软雅黑" panose="020B0503020204020204" pitchFamily="34" charset="-122"/>
                <a:ea typeface="微软雅黑" panose="020B0503020204020204" pitchFamily="34" charset="-122"/>
              </a:rPr>
              <a:t>3</a:t>
            </a:r>
            <a:r>
              <a:rPr lang="en-US" altLang="zh-CN" sz="1600" b="1" dirty="0">
                <a:latin typeface="微软雅黑" panose="020B0503020204020204" pitchFamily="34" charset="-122"/>
                <a:ea typeface="微软雅黑" panose="020B0503020204020204" pitchFamily="34" charset="-122"/>
              </a:rPr>
              <a:t> </a:t>
            </a:r>
            <a:r>
              <a:rPr lang="en-US" altLang="zh-CN" sz="1600" b="1" dirty="0">
                <a:latin typeface="微软雅黑" panose="020B0503020204020204" pitchFamily="34" charset="-122"/>
                <a:ea typeface="微软雅黑" panose="020B0503020204020204" pitchFamily="34" charset="-122"/>
                <a:sym typeface="Wingdings" panose="05000000000000000000" pitchFamily="2" charset="2"/>
              </a:rPr>
              <a:t> </a:t>
            </a:r>
            <a:r>
              <a:rPr lang="en-US" altLang="zh-CN" sz="1600" b="1" dirty="0">
                <a:latin typeface="微软雅黑" panose="020B0503020204020204" pitchFamily="34" charset="-122"/>
                <a:ea typeface="微软雅黑" panose="020B0503020204020204" pitchFamily="34" charset="-122"/>
              </a:rPr>
              <a:t>S</a:t>
            </a:r>
            <a:r>
              <a:rPr lang="en-US" altLang="zh-CN" sz="1600" b="1" baseline="-25000" dirty="0">
                <a:latin typeface="微软雅黑" panose="020B0503020204020204" pitchFamily="34" charset="-122"/>
                <a:ea typeface="微软雅黑" panose="020B0503020204020204" pitchFamily="34" charset="-122"/>
              </a:rPr>
              <a:t>1</a:t>
            </a:r>
            <a:r>
              <a:rPr lang="en-US" altLang="zh-CN" sz="1600" b="1" dirty="0">
                <a:latin typeface="微软雅黑" panose="020B0503020204020204" pitchFamily="34" charset="-122"/>
                <a:ea typeface="微软雅黑" panose="020B0503020204020204" pitchFamily="34" charset="-122"/>
              </a:rPr>
              <a:t> </a:t>
            </a:r>
            <a:r>
              <a:rPr lang="en-US" altLang="zh-CN" sz="1600" b="1" dirty="0">
                <a:latin typeface="微软雅黑" panose="020B0503020204020204" pitchFamily="34" charset="-122"/>
                <a:ea typeface="微软雅黑" panose="020B0503020204020204" pitchFamily="34" charset="-122"/>
                <a:sym typeface="Wingdings" panose="05000000000000000000" pitchFamily="2" charset="2"/>
              </a:rPr>
              <a:t> </a:t>
            </a:r>
            <a:r>
              <a:rPr lang="en-US" altLang="zh-CN" sz="1600" b="1" dirty="0">
                <a:latin typeface="微软雅黑" panose="020B0503020204020204" pitchFamily="34" charset="-122"/>
                <a:ea typeface="微软雅黑" panose="020B0503020204020204" pitchFamily="34" charset="-122"/>
              </a:rPr>
              <a:t>S</a:t>
            </a:r>
            <a:r>
              <a:rPr lang="en-US" altLang="zh-CN" sz="1600" b="1" baseline="-25000" dirty="0">
                <a:latin typeface="微软雅黑" panose="020B0503020204020204" pitchFamily="34" charset="-122"/>
                <a:ea typeface="微软雅黑" panose="020B0503020204020204" pitchFamily="34" charset="-122"/>
              </a:rPr>
              <a:t>2</a:t>
            </a:r>
            <a:r>
              <a:rPr lang="zh-CN" altLang="en-US" sz="1600" b="1" dirty="0">
                <a:latin typeface="微软雅黑" panose="020B0503020204020204" pitchFamily="34" charset="-122"/>
                <a:ea typeface="微软雅黑" panose="020B0503020204020204" pitchFamily="34" charset="-122"/>
              </a:rPr>
              <a:t>。</a:t>
            </a:r>
          </a:p>
        </p:txBody>
      </p:sp>
      <p:graphicFrame>
        <p:nvGraphicFramePr>
          <p:cNvPr id="5" name="表格 4"/>
          <p:cNvGraphicFramePr>
            <a:graphicFrameLocks noGrp="1"/>
          </p:cNvGraphicFramePr>
          <p:nvPr>
            <p:extLst>
              <p:ext uri="{D42A27DB-BD31-4B8C-83A1-F6EECF244321}">
                <p14:modId xmlns:p14="http://schemas.microsoft.com/office/powerpoint/2010/main" val="4163695321"/>
              </p:ext>
            </p:extLst>
          </p:nvPr>
        </p:nvGraphicFramePr>
        <p:xfrm>
          <a:off x="642298" y="3159763"/>
          <a:ext cx="3812007" cy="574548"/>
        </p:xfrm>
        <a:graphic>
          <a:graphicData uri="http://schemas.openxmlformats.org/drawingml/2006/table">
            <a:tbl>
              <a:tblPr firstRow="1" firstCol="1" bandRow="1"/>
              <a:tblGrid>
                <a:gridCol w="3123944">
                  <a:extLst>
                    <a:ext uri="{9D8B030D-6E8A-4147-A177-3AD203B41FA5}">
                      <a16:colId xmlns:a16="http://schemas.microsoft.com/office/drawing/2014/main" val="369496196"/>
                    </a:ext>
                  </a:extLst>
                </a:gridCol>
                <a:gridCol w="688063">
                  <a:extLst>
                    <a:ext uri="{9D8B030D-6E8A-4147-A177-3AD203B41FA5}">
                      <a16:colId xmlns:a16="http://schemas.microsoft.com/office/drawing/2014/main" val="3538432755"/>
                    </a:ext>
                  </a:extLst>
                </a:gridCol>
              </a:tblGrid>
              <a:tr h="135248">
                <a:tc>
                  <a:txBody>
                    <a:bodyPr/>
                    <a:lstStyle/>
                    <a:p>
                      <a:pPr marL="0" indent="0" algn="ctr" fontAlgn="base">
                        <a:lnSpc>
                          <a:spcPts val="1560"/>
                        </a:lnSpc>
                        <a:spcAft>
                          <a:spcPts val="0"/>
                        </a:spcAft>
                      </a:pPr>
                      <a:r>
                        <a:rPr lang="zh-CN" sz="1100" b="1" kern="500" dirty="0">
                          <a:effectLst/>
                          <a:latin typeface="微软雅黑" panose="020B0503020204020204" pitchFamily="34" charset="-122"/>
                          <a:ea typeface="微软雅黑" panose="020B0503020204020204" pitchFamily="34" charset="-122"/>
                        </a:rPr>
                        <a:t>匹配</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0" algn="ctr" fontAlgn="base">
                        <a:lnSpc>
                          <a:spcPts val="1560"/>
                        </a:lnSpc>
                        <a:spcAft>
                          <a:spcPts val="0"/>
                        </a:spcAft>
                      </a:pPr>
                      <a:r>
                        <a:rPr lang="zh-CN" sz="1100" b="1" kern="500" dirty="0">
                          <a:effectLst/>
                          <a:latin typeface="微软雅黑" panose="020B0503020204020204" pitchFamily="34" charset="-122"/>
                          <a:ea typeface="微软雅黑" panose="020B0503020204020204" pitchFamily="34" charset="-122"/>
                        </a:rPr>
                        <a:t>动作</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05501919"/>
                  </a:ext>
                </a:extLst>
              </a:tr>
              <a:tr h="277086">
                <a:tc>
                  <a:txBody>
                    <a:bodyPr/>
                    <a:lstStyle/>
                    <a:p>
                      <a:pPr marL="0" indent="0" algn="just" fontAlgn="base">
                        <a:lnSpc>
                          <a:spcPts val="1560"/>
                        </a:lnSpc>
                        <a:spcAft>
                          <a:spcPts val="0"/>
                        </a:spcAft>
                      </a:pPr>
                      <a:r>
                        <a:rPr lang="en-US" sz="1100" b="1" kern="500" dirty="0">
                          <a:effectLst/>
                          <a:latin typeface="微软雅黑" panose="020B0503020204020204" pitchFamily="34" charset="-122"/>
                          <a:ea typeface="微软雅黑" panose="020B0503020204020204" pitchFamily="34" charset="-122"/>
                        </a:rPr>
                        <a:t>IP </a:t>
                      </a:r>
                      <a:r>
                        <a:rPr lang="zh-CN" sz="1100" b="1" kern="500" dirty="0">
                          <a:effectLst/>
                          <a:latin typeface="微软雅黑" panose="020B0503020204020204" pitchFamily="34" charset="-122"/>
                          <a:ea typeface="微软雅黑" panose="020B0503020204020204" pitchFamily="34" charset="-122"/>
                        </a:rPr>
                        <a:t>源地址</a:t>
                      </a:r>
                      <a:r>
                        <a:rPr lang="en-US" sz="1100" b="1" kern="500" dirty="0">
                          <a:effectLst/>
                          <a:latin typeface="微软雅黑" panose="020B0503020204020204" pitchFamily="34" charset="-122"/>
                          <a:ea typeface="微软雅黑" panose="020B0503020204020204" pitchFamily="34" charset="-122"/>
                        </a:rPr>
                        <a:t> = 10.3.*.*</a:t>
                      </a:r>
                      <a:r>
                        <a:rPr lang="zh-CN" sz="1100" b="1" kern="500" dirty="0">
                          <a:effectLst/>
                          <a:latin typeface="微软雅黑" panose="020B0503020204020204" pitchFamily="34" charset="-122"/>
                          <a:ea typeface="微软雅黑" panose="020B0503020204020204" pitchFamily="34" charset="-122"/>
                        </a:rPr>
                        <a:t>；</a:t>
                      </a:r>
                      <a:r>
                        <a:rPr lang="en-US" sz="1100" b="1" kern="500" dirty="0">
                          <a:effectLst/>
                          <a:latin typeface="微软雅黑" panose="020B0503020204020204" pitchFamily="34" charset="-122"/>
                          <a:ea typeface="微软雅黑" panose="020B0503020204020204" pitchFamily="34" charset="-122"/>
                        </a:rPr>
                        <a:t>IP </a:t>
                      </a:r>
                      <a:r>
                        <a:rPr lang="zh-CN" sz="1100" b="1" kern="500" dirty="0">
                          <a:effectLst/>
                          <a:latin typeface="微软雅黑" panose="020B0503020204020204" pitchFamily="34" charset="-122"/>
                          <a:ea typeface="微软雅黑" panose="020B0503020204020204" pitchFamily="34" charset="-122"/>
                        </a:rPr>
                        <a:t>目的地址</a:t>
                      </a:r>
                      <a:r>
                        <a:rPr lang="en-US" sz="1100" b="1" kern="500" dirty="0">
                          <a:effectLst/>
                          <a:latin typeface="微软雅黑" panose="020B0503020204020204" pitchFamily="34" charset="-122"/>
                          <a:ea typeface="微软雅黑" panose="020B0503020204020204" pitchFamily="34" charset="-122"/>
                        </a:rPr>
                        <a:t> = 10.2.*.*</a:t>
                      </a:r>
                      <a:endParaRPr lang="zh-CN" sz="1100" b="1" kern="500" dirty="0">
                        <a:effectLst/>
                        <a:latin typeface="微软雅黑" panose="020B0503020204020204" pitchFamily="34" charset="-122"/>
                        <a:ea typeface="微软雅黑" panose="020B0503020204020204" pitchFamily="34" charset="-122"/>
                      </a:endParaRPr>
                    </a:p>
                    <a:p>
                      <a:pPr marL="0" indent="0" algn="ctr" fontAlgn="base">
                        <a:lnSpc>
                          <a:spcPts val="1560"/>
                        </a:lnSpc>
                        <a:spcAft>
                          <a:spcPts val="0"/>
                        </a:spcAft>
                      </a:pPr>
                      <a:r>
                        <a:rPr lang="en-US" sz="1100" b="1" kern="500" dirty="0">
                          <a:effectLst/>
                          <a:latin typeface="微软雅黑" panose="020B0503020204020204" pitchFamily="34" charset="-122"/>
                          <a:ea typeface="微软雅黑" panose="020B0503020204020204" pitchFamily="34" charset="-122"/>
                        </a:rPr>
                        <a:t>······</a:t>
                      </a:r>
                      <a:endParaRPr lang="zh-CN" sz="1100" b="1" kern="500" dirty="0">
                        <a:effectLst/>
                        <a:latin typeface="微软雅黑" panose="020B0503020204020204" pitchFamily="34" charset="-122"/>
                        <a:ea typeface="微软雅黑" panose="020B0503020204020204" pitchFamily="34"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0" algn="ctr" fontAlgn="base">
                        <a:lnSpc>
                          <a:spcPts val="1560"/>
                        </a:lnSpc>
                        <a:spcAft>
                          <a:spcPts val="0"/>
                        </a:spcAft>
                      </a:pPr>
                      <a:r>
                        <a:rPr lang="zh-CN" sz="1100" b="1" kern="500" dirty="0">
                          <a:effectLst/>
                          <a:latin typeface="微软雅黑" panose="020B0503020204020204" pitchFamily="34" charset="-122"/>
                          <a:ea typeface="微软雅黑" panose="020B0503020204020204" pitchFamily="34" charset="-122"/>
                        </a:rPr>
                        <a:t>转发</a:t>
                      </a:r>
                      <a:r>
                        <a:rPr lang="en-US" sz="1100" b="1" kern="500" dirty="0">
                          <a:effectLst/>
                          <a:latin typeface="微软雅黑" panose="020B0503020204020204" pitchFamily="34" charset="-122"/>
                          <a:ea typeface="微软雅黑" panose="020B0503020204020204" pitchFamily="34" charset="-122"/>
                        </a:rPr>
                        <a:t>(3)</a:t>
                      </a:r>
                      <a:endParaRPr lang="zh-CN" sz="1100" b="1" kern="500" dirty="0">
                        <a:effectLst/>
                        <a:latin typeface="微软雅黑" panose="020B0503020204020204" pitchFamily="34" charset="-122"/>
                        <a:ea typeface="微软雅黑" panose="020B0503020204020204" pitchFamily="34" charset="-122"/>
                      </a:endParaRPr>
                    </a:p>
                    <a:p>
                      <a:pPr marL="0" indent="0" algn="ctr" fontAlgn="base">
                        <a:lnSpc>
                          <a:spcPts val="1560"/>
                        </a:lnSpc>
                        <a:spcAft>
                          <a:spcPts val="0"/>
                        </a:spcAft>
                      </a:pPr>
                      <a:r>
                        <a:rPr lang="en-US" sz="1100" b="1" kern="500" dirty="0">
                          <a:effectLst/>
                          <a:latin typeface="微软雅黑" panose="020B0503020204020204" pitchFamily="34" charset="-122"/>
                          <a:ea typeface="微软雅黑" panose="020B0503020204020204" pitchFamily="34" charset="-122"/>
                        </a:rPr>
                        <a:t>······</a:t>
                      </a:r>
                      <a:endParaRPr lang="zh-CN" sz="1100" b="1" kern="500" dirty="0">
                        <a:effectLst/>
                        <a:latin typeface="微软雅黑" panose="020B0503020204020204" pitchFamily="34" charset="-122"/>
                        <a:ea typeface="微软雅黑" panose="020B0503020204020204" pitchFamily="34"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531699035"/>
                  </a:ext>
                </a:extLst>
              </a:tr>
            </a:tbl>
          </a:graphicData>
        </a:graphic>
      </p:graphicFrame>
      <p:graphicFrame>
        <p:nvGraphicFramePr>
          <p:cNvPr id="6" name="表格 5"/>
          <p:cNvGraphicFramePr>
            <a:graphicFrameLocks noGrp="1"/>
          </p:cNvGraphicFramePr>
          <p:nvPr>
            <p:extLst>
              <p:ext uri="{D42A27DB-BD31-4B8C-83A1-F6EECF244321}">
                <p14:modId xmlns:p14="http://schemas.microsoft.com/office/powerpoint/2010/main" val="2853904915"/>
              </p:ext>
            </p:extLst>
          </p:nvPr>
        </p:nvGraphicFramePr>
        <p:xfrm>
          <a:off x="656924" y="4023330"/>
          <a:ext cx="4802315" cy="574548"/>
        </p:xfrm>
        <a:graphic>
          <a:graphicData uri="http://schemas.openxmlformats.org/drawingml/2006/table">
            <a:tbl>
              <a:tblPr firstRow="1" firstCol="1" bandRow="1"/>
              <a:tblGrid>
                <a:gridCol w="4014664">
                  <a:extLst>
                    <a:ext uri="{9D8B030D-6E8A-4147-A177-3AD203B41FA5}">
                      <a16:colId xmlns:a16="http://schemas.microsoft.com/office/drawing/2014/main" val="2854143695"/>
                    </a:ext>
                  </a:extLst>
                </a:gridCol>
                <a:gridCol w="787651">
                  <a:extLst>
                    <a:ext uri="{9D8B030D-6E8A-4147-A177-3AD203B41FA5}">
                      <a16:colId xmlns:a16="http://schemas.microsoft.com/office/drawing/2014/main" val="1097916237"/>
                    </a:ext>
                  </a:extLst>
                </a:gridCol>
              </a:tblGrid>
              <a:tr h="181607">
                <a:tc>
                  <a:txBody>
                    <a:bodyPr/>
                    <a:lstStyle/>
                    <a:p>
                      <a:pPr marL="0" indent="0" algn="ctr" fontAlgn="base">
                        <a:lnSpc>
                          <a:spcPts val="1560"/>
                        </a:lnSpc>
                        <a:spcAft>
                          <a:spcPts val="0"/>
                        </a:spcAft>
                      </a:pPr>
                      <a:r>
                        <a:rPr lang="zh-CN" sz="1100" b="1" kern="500" dirty="0">
                          <a:solidFill>
                            <a:schemeClr val="tx1"/>
                          </a:solidFill>
                          <a:effectLst/>
                          <a:latin typeface="微软雅黑" panose="020B0503020204020204" pitchFamily="34" charset="-122"/>
                          <a:ea typeface="微软雅黑" panose="020B0503020204020204" pitchFamily="34" charset="-122"/>
                          <a:cs typeface="+mn-cs"/>
                        </a:rPr>
                        <a:t>匹配</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0" algn="ctr" fontAlgn="base">
                        <a:lnSpc>
                          <a:spcPts val="1560"/>
                        </a:lnSpc>
                        <a:spcAft>
                          <a:spcPts val="0"/>
                        </a:spcAft>
                      </a:pPr>
                      <a:r>
                        <a:rPr lang="zh-CN" sz="1100" b="1" kern="500" dirty="0">
                          <a:solidFill>
                            <a:schemeClr val="tx1"/>
                          </a:solidFill>
                          <a:effectLst/>
                          <a:latin typeface="微软雅黑" panose="020B0503020204020204" pitchFamily="34" charset="-122"/>
                          <a:ea typeface="微软雅黑" panose="020B0503020204020204" pitchFamily="34" charset="-122"/>
                          <a:cs typeface="+mn-cs"/>
                        </a:rPr>
                        <a:t>动作</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8085059"/>
                  </a:ext>
                </a:extLst>
              </a:tr>
              <a:tr h="334282">
                <a:tc>
                  <a:txBody>
                    <a:bodyPr/>
                    <a:lstStyle/>
                    <a:p>
                      <a:pPr marL="0" indent="0" algn="l" defTabSz="914400" rtl="0" eaLnBrk="1" fontAlgn="base" latinLnBrk="0" hangingPunct="1">
                        <a:lnSpc>
                          <a:spcPts val="1560"/>
                        </a:lnSpc>
                        <a:spcAft>
                          <a:spcPts val="0"/>
                        </a:spcAft>
                      </a:pPr>
                      <a:r>
                        <a:rPr lang="zh-CN" sz="1100" b="1" kern="500" dirty="0">
                          <a:solidFill>
                            <a:schemeClr val="tx1"/>
                          </a:solidFill>
                          <a:effectLst/>
                          <a:latin typeface="微软雅黑" panose="020B0503020204020204" pitchFamily="34" charset="-122"/>
                          <a:ea typeface="微软雅黑" panose="020B0503020204020204" pitchFamily="34" charset="-122"/>
                          <a:cs typeface="+mn-cs"/>
                        </a:rPr>
                        <a:t>入端口</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 = 1</a:t>
                      </a:r>
                      <a:r>
                        <a:rPr lang="zh-CN" sz="1100" b="1" kern="500" dirty="0">
                          <a:solidFill>
                            <a:schemeClr val="tx1"/>
                          </a:solidFill>
                          <a:effectLst/>
                          <a:latin typeface="微软雅黑" panose="020B0503020204020204" pitchFamily="34" charset="-122"/>
                          <a:ea typeface="微软雅黑" panose="020B0503020204020204" pitchFamily="34" charset="-122"/>
                          <a:cs typeface="+mn-cs"/>
                        </a:rPr>
                        <a:t>；</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IP </a:t>
                      </a:r>
                      <a:r>
                        <a:rPr lang="zh-CN" sz="1100" b="1" kern="500" dirty="0">
                          <a:solidFill>
                            <a:schemeClr val="tx1"/>
                          </a:solidFill>
                          <a:effectLst/>
                          <a:latin typeface="微软雅黑" panose="020B0503020204020204" pitchFamily="34" charset="-122"/>
                          <a:ea typeface="微软雅黑" panose="020B0503020204020204" pitchFamily="34" charset="-122"/>
                          <a:cs typeface="+mn-cs"/>
                        </a:rPr>
                        <a:t>源地址</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 = 10.3.*.*</a:t>
                      </a:r>
                      <a:r>
                        <a:rPr lang="zh-CN" sz="1100" b="1" kern="500" dirty="0">
                          <a:solidFill>
                            <a:schemeClr val="tx1"/>
                          </a:solidFill>
                          <a:effectLst/>
                          <a:latin typeface="微软雅黑" panose="020B0503020204020204" pitchFamily="34" charset="-122"/>
                          <a:ea typeface="微软雅黑" panose="020B0503020204020204" pitchFamily="34" charset="-122"/>
                          <a:cs typeface="+mn-cs"/>
                        </a:rPr>
                        <a:t>；</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IP </a:t>
                      </a:r>
                      <a:r>
                        <a:rPr lang="zh-CN" sz="1100" b="1" kern="500" dirty="0">
                          <a:solidFill>
                            <a:schemeClr val="tx1"/>
                          </a:solidFill>
                          <a:effectLst/>
                          <a:latin typeface="微软雅黑" panose="020B0503020204020204" pitchFamily="34" charset="-122"/>
                          <a:ea typeface="微软雅黑" panose="020B0503020204020204" pitchFamily="34" charset="-122"/>
                          <a:cs typeface="+mn-cs"/>
                        </a:rPr>
                        <a:t>目的地址</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 = 10.2.*.*</a:t>
                      </a:r>
                      <a:endParaRPr lang="zh-CN" sz="1100" b="1" kern="500" dirty="0">
                        <a:solidFill>
                          <a:schemeClr val="tx1"/>
                        </a:solidFill>
                        <a:effectLst/>
                        <a:latin typeface="微软雅黑" panose="020B0503020204020204" pitchFamily="34" charset="-122"/>
                        <a:ea typeface="微软雅黑" panose="020B0503020204020204" pitchFamily="34" charset="-122"/>
                        <a:cs typeface="+mn-cs"/>
                      </a:endParaRPr>
                    </a:p>
                    <a:p>
                      <a:pPr marL="0" indent="0" algn="ctr" defTabSz="914400" rtl="0" eaLnBrk="1" fontAlgn="base" latinLnBrk="0" hangingPunct="1">
                        <a:lnSpc>
                          <a:spcPts val="1560"/>
                        </a:lnSpc>
                        <a:spcAft>
                          <a:spcPts val="0"/>
                        </a:spcAft>
                      </a:pPr>
                      <a:r>
                        <a:rPr lang="en-US" sz="1100" b="1" kern="500" dirty="0">
                          <a:solidFill>
                            <a:schemeClr val="tx1"/>
                          </a:solidFill>
                          <a:effectLst/>
                          <a:latin typeface="微软雅黑" panose="020B0503020204020204" pitchFamily="34" charset="-122"/>
                          <a:ea typeface="微软雅黑" panose="020B0503020204020204" pitchFamily="34" charset="-122"/>
                          <a:cs typeface="+mn-cs"/>
                        </a:rPr>
                        <a:t>······</a:t>
                      </a:r>
                      <a:endParaRPr lang="zh-CN" sz="1100" b="1" kern="500" dirty="0">
                        <a:solidFill>
                          <a:schemeClr val="tx1"/>
                        </a:solidFill>
                        <a:effectLst/>
                        <a:latin typeface="微软雅黑" panose="020B0503020204020204" pitchFamily="34" charset="-122"/>
                        <a:ea typeface="微软雅黑" panose="020B0503020204020204" pitchFamily="34" charset="-122"/>
                        <a:cs typeface="+mn-cs"/>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0" algn="ctr" fontAlgn="base">
                        <a:lnSpc>
                          <a:spcPts val="1560"/>
                        </a:lnSpc>
                        <a:spcAft>
                          <a:spcPts val="0"/>
                        </a:spcAft>
                      </a:pPr>
                      <a:r>
                        <a:rPr lang="zh-CN" sz="1100" b="1" kern="500" dirty="0">
                          <a:solidFill>
                            <a:schemeClr val="tx1"/>
                          </a:solidFill>
                          <a:effectLst/>
                          <a:latin typeface="微软雅黑" panose="020B0503020204020204" pitchFamily="34" charset="-122"/>
                          <a:ea typeface="微软雅黑" panose="020B0503020204020204" pitchFamily="34" charset="-122"/>
                          <a:cs typeface="+mn-cs"/>
                        </a:rPr>
                        <a:t>转发</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(4)</a:t>
                      </a:r>
                      <a:endParaRPr lang="zh-CN" sz="1100" b="1" kern="500" dirty="0">
                        <a:solidFill>
                          <a:schemeClr val="tx1"/>
                        </a:solidFill>
                        <a:effectLst/>
                        <a:latin typeface="微软雅黑" panose="020B0503020204020204" pitchFamily="34" charset="-122"/>
                        <a:ea typeface="微软雅黑" panose="020B0503020204020204" pitchFamily="34" charset="-122"/>
                        <a:cs typeface="+mn-cs"/>
                      </a:endParaRPr>
                    </a:p>
                    <a:p>
                      <a:pPr marL="0" indent="0" algn="ctr" fontAlgn="base">
                        <a:lnSpc>
                          <a:spcPts val="1560"/>
                        </a:lnSpc>
                        <a:spcAft>
                          <a:spcPts val="0"/>
                        </a:spcAft>
                      </a:pPr>
                      <a:r>
                        <a:rPr lang="en-US" sz="1100" b="1" kern="500" dirty="0">
                          <a:solidFill>
                            <a:schemeClr val="tx1"/>
                          </a:solidFill>
                          <a:effectLst/>
                          <a:latin typeface="微软雅黑" panose="020B0503020204020204" pitchFamily="34" charset="-122"/>
                          <a:ea typeface="微软雅黑" panose="020B0503020204020204" pitchFamily="34" charset="-122"/>
                          <a:cs typeface="+mn-cs"/>
                        </a:rPr>
                        <a:t>······</a:t>
                      </a:r>
                      <a:endParaRPr lang="zh-CN" sz="1100" b="1" kern="500" dirty="0">
                        <a:solidFill>
                          <a:schemeClr val="tx1"/>
                        </a:solidFill>
                        <a:effectLst/>
                        <a:latin typeface="微软雅黑" panose="020B0503020204020204" pitchFamily="34" charset="-122"/>
                        <a:ea typeface="微软雅黑" panose="020B0503020204020204" pitchFamily="34" charset="-122"/>
                        <a:cs typeface="+mn-cs"/>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54572938"/>
                  </a:ext>
                </a:extLst>
              </a:tr>
            </a:tbl>
          </a:graphicData>
        </a:graphic>
      </p:graphicFrame>
      <p:graphicFrame>
        <p:nvGraphicFramePr>
          <p:cNvPr id="66" name="表格 65"/>
          <p:cNvGraphicFramePr>
            <a:graphicFrameLocks noGrp="1"/>
          </p:cNvGraphicFramePr>
          <p:nvPr>
            <p:extLst>
              <p:ext uri="{D42A27DB-BD31-4B8C-83A1-F6EECF244321}">
                <p14:modId xmlns:p14="http://schemas.microsoft.com/office/powerpoint/2010/main" val="4144984359"/>
              </p:ext>
            </p:extLst>
          </p:nvPr>
        </p:nvGraphicFramePr>
        <p:xfrm>
          <a:off x="4733515" y="3159763"/>
          <a:ext cx="3812975" cy="777748"/>
        </p:xfrm>
        <a:graphic>
          <a:graphicData uri="http://schemas.openxmlformats.org/drawingml/2006/table">
            <a:tbl>
              <a:tblPr firstRow="1" firstCol="1" bandRow="1"/>
              <a:tblGrid>
                <a:gridCol w="3106302">
                  <a:extLst>
                    <a:ext uri="{9D8B030D-6E8A-4147-A177-3AD203B41FA5}">
                      <a16:colId xmlns:a16="http://schemas.microsoft.com/office/drawing/2014/main" val="3081916040"/>
                    </a:ext>
                  </a:extLst>
                </a:gridCol>
                <a:gridCol w="706673">
                  <a:extLst>
                    <a:ext uri="{9D8B030D-6E8A-4147-A177-3AD203B41FA5}">
                      <a16:colId xmlns:a16="http://schemas.microsoft.com/office/drawing/2014/main" val="1076454317"/>
                    </a:ext>
                  </a:extLst>
                </a:gridCol>
              </a:tblGrid>
              <a:tr h="166399">
                <a:tc>
                  <a:txBody>
                    <a:bodyPr/>
                    <a:lstStyle/>
                    <a:p>
                      <a:pPr marL="0" indent="0" algn="ctr" fontAlgn="base">
                        <a:lnSpc>
                          <a:spcPts val="1560"/>
                        </a:lnSpc>
                        <a:spcAft>
                          <a:spcPts val="0"/>
                        </a:spcAft>
                      </a:pPr>
                      <a:r>
                        <a:rPr lang="zh-CN" sz="1100" b="1" kern="500" dirty="0">
                          <a:solidFill>
                            <a:schemeClr val="tx1"/>
                          </a:solidFill>
                          <a:effectLst/>
                          <a:latin typeface="微软雅黑" panose="020B0503020204020204" pitchFamily="34" charset="-122"/>
                          <a:ea typeface="微软雅黑" panose="020B0503020204020204" pitchFamily="34" charset="-122"/>
                          <a:cs typeface="+mn-cs"/>
                        </a:rPr>
                        <a:t>匹配</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0" algn="ctr" fontAlgn="base">
                        <a:lnSpc>
                          <a:spcPts val="1560"/>
                        </a:lnSpc>
                        <a:spcAft>
                          <a:spcPts val="0"/>
                        </a:spcAft>
                      </a:pPr>
                      <a:r>
                        <a:rPr lang="zh-CN" sz="1100" b="1" kern="500" dirty="0">
                          <a:solidFill>
                            <a:schemeClr val="tx1"/>
                          </a:solidFill>
                          <a:effectLst/>
                          <a:latin typeface="微软雅黑" panose="020B0503020204020204" pitchFamily="34" charset="-122"/>
                          <a:ea typeface="微软雅黑" panose="020B0503020204020204" pitchFamily="34" charset="-122"/>
                          <a:cs typeface="+mn-cs"/>
                        </a:rPr>
                        <a:t>动作</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14936622"/>
                  </a:ext>
                </a:extLst>
              </a:tr>
              <a:tr h="530612">
                <a:tc>
                  <a:txBody>
                    <a:bodyPr/>
                    <a:lstStyle/>
                    <a:p>
                      <a:pPr marL="0" indent="0" algn="just" fontAlgn="base">
                        <a:lnSpc>
                          <a:spcPts val="1560"/>
                        </a:lnSpc>
                        <a:spcAft>
                          <a:spcPts val="0"/>
                        </a:spcAft>
                      </a:pPr>
                      <a:r>
                        <a:rPr lang="en-US" sz="1100" b="1" kern="500" dirty="0">
                          <a:solidFill>
                            <a:schemeClr val="tx1"/>
                          </a:solidFill>
                          <a:effectLst/>
                          <a:latin typeface="微软雅黑" panose="020B0503020204020204" pitchFamily="34" charset="-122"/>
                          <a:ea typeface="微软雅黑" panose="020B0503020204020204" pitchFamily="34" charset="-122"/>
                          <a:cs typeface="+mn-cs"/>
                        </a:rPr>
                        <a:t>IP </a:t>
                      </a:r>
                      <a:r>
                        <a:rPr lang="zh-CN" sz="1100" b="1" kern="500" dirty="0">
                          <a:solidFill>
                            <a:schemeClr val="tx1"/>
                          </a:solidFill>
                          <a:effectLst/>
                          <a:latin typeface="微软雅黑" panose="020B0503020204020204" pitchFamily="34" charset="-122"/>
                          <a:ea typeface="微软雅黑" panose="020B0503020204020204" pitchFamily="34" charset="-122"/>
                          <a:cs typeface="+mn-cs"/>
                        </a:rPr>
                        <a:t>源地址</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 = 10.3.*.*</a:t>
                      </a:r>
                      <a:r>
                        <a:rPr lang="zh-CN" sz="1100" b="1" kern="500" dirty="0">
                          <a:solidFill>
                            <a:schemeClr val="tx1"/>
                          </a:solidFill>
                          <a:effectLst/>
                          <a:latin typeface="微软雅黑" panose="020B0503020204020204" pitchFamily="34" charset="-122"/>
                          <a:ea typeface="微软雅黑" panose="020B0503020204020204" pitchFamily="34" charset="-122"/>
                          <a:cs typeface="+mn-cs"/>
                        </a:rPr>
                        <a:t>；</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IP </a:t>
                      </a:r>
                      <a:r>
                        <a:rPr lang="zh-CN" sz="1100" b="1" kern="500" dirty="0">
                          <a:solidFill>
                            <a:schemeClr val="tx1"/>
                          </a:solidFill>
                          <a:effectLst/>
                          <a:latin typeface="微软雅黑" panose="020B0503020204020204" pitchFamily="34" charset="-122"/>
                          <a:ea typeface="微软雅黑" panose="020B0503020204020204" pitchFamily="34" charset="-122"/>
                          <a:cs typeface="+mn-cs"/>
                        </a:rPr>
                        <a:t>目的地址</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 = 10.2.0.3</a:t>
                      </a:r>
                      <a:endParaRPr lang="zh-CN" sz="1100" b="1" kern="500" dirty="0">
                        <a:solidFill>
                          <a:schemeClr val="tx1"/>
                        </a:solidFill>
                        <a:effectLst/>
                        <a:latin typeface="微软雅黑" panose="020B0503020204020204" pitchFamily="34" charset="-122"/>
                        <a:ea typeface="微软雅黑" panose="020B0503020204020204" pitchFamily="34" charset="-122"/>
                        <a:cs typeface="+mn-cs"/>
                      </a:endParaRPr>
                    </a:p>
                    <a:p>
                      <a:pPr marL="0" indent="0" algn="just" fontAlgn="base">
                        <a:lnSpc>
                          <a:spcPts val="1560"/>
                        </a:lnSpc>
                        <a:spcAft>
                          <a:spcPts val="0"/>
                        </a:spcAft>
                      </a:pPr>
                      <a:r>
                        <a:rPr lang="en-US" sz="1100" b="1" kern="500" dirty="0">
                          <a:solidFill>
                            <a:schemeClr val="tx1"/>
                          </a:solidFill>
                          <a:effectLst/>
                          <a:latin typeface="微软雅黑" panose="020B0503020204020204" pitchFamily="34" charset="-122"/>
                          <a:ea typeface="微软雅黑" panose="020B0503020204020204" pitchFamily="34" charset="-122"/>
                          <a:cs typeface="+mn-cs"/>
                        </a:rPr>
                        <a:t>IP </a:t>
                      </a:r>
                      <a:r>
                        <a:rPr lang="zh-CN" sz="1100" b="1" kern="500" dirty="0">
                          <a:solidFill>
                            <a:schemeClr val="tx1"/>
                          </a:solidFill>
                          <a:effectLst/>
                          <a:latin typeface="微软雅黑" panose="020B0503020204020204" pitchFamily="34" charset="-122"/>
                          <a:ea typeface="微软雅黑" panose="020B0503020204020204" pitchFamily="34" charset="-122"/>
                          <a:cs typeface="+mn-cs"/>
                        </a:rPr>
                        <a:t>源地址</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 = 10.3.*.*</a:t>
                      </a:r>
                      <a:r>
                        <a:rPr lang="zh-CN" sz="1100" b="1" kern="500" dirty="0">
                          <a:solidFill>
                            <a:schemeClr val="tx1"/>
                          </a:solidFill>
                          <a:effectLst/>
                          <a:latin typeface="微软雅黑" panose="020B0503020204020204" pitchFamily="34" charset="-122"/>
                          <a:ea typeface="微软雅黑" panose="020B0503020204020204" pitchFamily="34" charset="-122"/>
                          <a:cs typeface="+mn-cs"/>
                        </a:rPr>
                        <a:t>；</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IP </a:t>
                      </a:r>
                      <a:r>
                        <a:rPr lang="zh-CN" sz="1100" b="1" kern="500" dirty="0">
                          <a:solidFill>
                            <a:schemeClr val="tx1"/>
                          </a:solidFill>
                          <a:effectLst/>
                          <a:latin typeface="微软雅黑" panose="020B0503020204020204" pitchFamily="34" charset="-122"/>
                          <a:ea typeface="微软雅黑" panose="020B0503020204020204" pitchFamily="34" charset="-122"/>
                          <a:cs typeface="+mn-cs"/>
                        </a:rPr>
                        <a:t>目的地址</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 = 10.2.0.4</a:t>
                      </a:r>
                      <a:endParaRPr lang="zh-CN" sz="1100" b="1" kern="500" dirty="0">
                        <a:solidFill>
                          <a:schemeClr val="tx1"/>
                        </a:solidFill>
                        <a:effectLst/>
                        <a:latin typeface="微软雅黑" panose="020B0503020204020204" pitchFamily="34" charset="-122"/>
                        <a:ea typeface="微软雅黑" panose="020B0503020204020204" pitchFamily="34" charset="-122"/>
                        <a:cs typeface="+mn-cs"/>
                      </a:endParaRPr>
                    </a:p>
                    <a:p>
                      <a:pPr marL="0" indent="0" algn="ctr" fontAlgn="base">
                        <a:lnSpc>
                          <a:spcPts val="1560"/>
                        </a:lnSpc>
                        <a:spcAft>
                          <a:spcPts val="0"/>
                        </a:spcAft>
                      </a:pPr>
                      <a:r>
                        <a:rPr lang="en-US" sz="1100" b="1" kern="500" dirty="0">
                          <a:solidFill>
                            <a:schemeClr val="tx1"/>
                          </a:solidFill>
                          <a:effectLst/>
                          <a:latin typeface="微软雅黑" panose="020B0503020204020204" pitchFamily="34" charset="-122"/>
                          <a:ea typeface="微软雅黑" panose="020B0503020204020204" pitchFamily="34" charset="-122"/>
                          <a:cs typeface="+mn-cs"/>
                        </a:rPr>
                        <a:t>······</a:t>
                      </a:r>
                      <a:endParaRPr lang="zh-CN" sz="1100" b="1" kern="500" dirty="0">
                        <a:solidFill>
                          <a:schemeClr val="tx1"/>
                        </a:solidFill>
                        <a:effectLst/>
                        <a:latin typeface="微软雅黑" panose="020B0503020204020204" pitchFamily="34" charset="-122"/>
                        <a:ea typeface="微软雅黑" panose="020B0503020204020204" pitchFamily="34" charset="-122"/>
                        <a:cs typeface="+mn-cs"/>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0" algn="ctr" fontAlgn="base">
                        <a:lnSpc>
                          <a:spcPts val="1560"/>
                        </a:lnSpc>
                        <a:spcAft>
                          <a:spcPts val="0"/>
                        </a:spcAft>
                      </a:pPr>
                      <a:r>
                        <a:rPr lang="zh-CN" sz="1100" b="1" kern="500" dirty="0">
                          <a:solidFill>
                            <a:schemeClr val="tx1"/>
                          </a:solidFill>
                          <a:effectLst/>
                          <a:latin typeface="微软雅黑" panose="020B0503020204020204" pitchFamily="34" charset="-122"/>
                          <a:ea typeface="微软雅黑" panose="020B0503020204020204" pitchFamily="34" charset="-122"/>
                          <a:cs typeface="+mn-cs"/>
                        </a:rPr>
                        <a:t>转发</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(3)</a:t>
                      </a:r>
                      <a:endParaRPr lang="zh-CN" sz="1100" b="1" kern="500" dirty="0">
                        <a:solidFill>
                          <a:schemeClr val="tx1"/>
                        </a:solidFill>
                        <a:effectLst/>
                        <a:latin typeface="微软雅黑" panose="020B0503020204020204" pitchFamily="34" charset="-122"/>
                        <a:ea typeface="微软雅黑" panose="020B0503020204020204" pitchFamily="34" charset="-122"/>
                        <a:cs typeface="+mn-cs"/>
                      </a:endParaRPr>
                    </a:p>
                    <a:p>
                      <a:pPr marL="0" indent="0" algn="ctr" fontAlgn="base">
                        <a:lnSpc>
                          <a:spcPts val="1560"/>
                        </a:lnSpc>
                        <a:spcAft>
                          <a:spcPts val="0"/>
                        </a:spcAft>
                      </a:pPr>
                      <a:r>
                        <a:rPr lang="zh-CN" sz="1100" b="1" kern="500" dirty="0">
                          <a:solidFill>
                            <a:schemeClr val="tx1"/>
                          </a:solidFill>
                          <a:effectLst/>
                          <a:latin typeface="微软雅黑" panose="020B0503020204020204" pitchFamily="34" charset="-122"/>
                          <a:ea typeface="微软雅黑" panose="020B0503020204020204" pitchFamily="34" charset="-122"/>
                          <a:cs typeface="+mn-cs"/>
                        </a:rPr>
                        <a:t>转发</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(4)</a:t>
                      </a:r>
                      <a:endParaRPr lang="zh-CN" sz="1100" b="1" kern="500" dirty="0">
                        <a:solidFill>
                          <a:schemeClr val="tx1"/>
                        </a:solidFill>
                        <a:effectLst/>
                        <a:latin typeface="微软雅黑" panose="020B0503020204020204" pitchFamily="34" charset="-122"/>
                        <a:ea typeface="微软雅黑" panose="020B0503020204020204" pitchFamily="34" charset="-122"/>
                        <a:cs typeface="+mn-cs"/>
                      </a:endParaRPr>
                    </a:p>
                    <a:p>
                      <a:pPr marL="0" indent="0" algn="ctr" fontAlgn="base">
                        <a:lnSpc>
                          <a:spcPts val="1560"/>
                        </a:lnSpc>
                        <a:spcAft>
                          <a:spcPts val="0"/>
                        </a:spcAft>
                      </a:pPr>
                      <a:r>
                        <a:rPr lang="en-US" sz="1100" b="1" kern="500" dirty="0">
                          <a:solidFill>
                            <a:schemeClr val="tx1"/>
                          </a:solidFill>
                          <a:effectLst/>
                          <a:latin typeface="微软雅黑" panose="020B0503020204020204" pitchFamily="34" charset="-122"/>
                          <a:ea typeface="微软雅黑" panose="020B0503020204020204" pitchFamily="34" charset="-122"/>
                          <a:cs typeface="+mn-cs"/>
                        </a:rPr>
                        <a:t>······</a:t>
                      </a:r>
                      <a:endParaRPr lang="zh-CN" sz="1100" b="1" kern="500" dirty="0">
                        <a:solidFill>
                          <a:schemeClr val="tx1"/>
                        </a:solidFill>
                        <a:effectLst/>
                        <a:latin typeface="微软雅黑" panose="020B0503020204020204" pitchFamily="34" charset="-122"/>
                        <a:ea typeface="微软雅黑" panose="020B0503020204020204" pitchFamily="34" charset="-122"/>
                        <a:cs typeface="+mn-cs"/>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62329798"/>
                  </a:ext>
                </a:extLst>
              </a:tr>
            </a:tbl>
          </a:graphicData>
        </a:graphic>
      </p:graphicFrame>
      <p:sp>
        <p:nvSpPr>
          <p:cNvPr id="67" name="矩形 66"/>
          <p:cNvSpPr/>
          <p:nvPr/>
        </p:nvSpPr>
        <p:spPr>
          <a:xfrm>
            <a:off x="2239562" y="2920721"/>
            <a:ext cx="694421" cy="276999"/>
          </a:xfrm>
          <a:prstGeom prst="rect">
            <a:avLst/>
          </a:prstGeom>
        </p:spPr>
        <p:txBody>
          <a:bodyPr wrap="none">
            <a:spAutoFit/>
          </a:bodyPr>
          <a:lstStyle/>
          <a:p>
            <a:r>
              <a:rPr lang="en-US" altLang="zh-CN" sz="1200" b="1" dirty="0">
                <a:solidFill>
                  <a:srgbClr val="000099"/>
                </a:solidFill>
                <a:latin typeface="微软雅黑" panose="020B0503020204020204" pitchFamily="34" charset="-122"/>
                <a:ea typeface="微软雅黑" panose="020B0503020204020204" pitchFamily="34" charset="-122"/>
              </a:rPr>
              <a:t>S</a:t>
            </a:r>
            <a:r>
              <a:rPr lang="en-US" altLang="zh-CN" sz="1200" b="1" baseline="-25000" dirty="0">
                <a:solidFill>
                  <a:srgbClr val="000099"/>
                </a:solidFill>
                <a:latin typeface="微软雅黑" panose="020B0503020204020204" pitchFamily="34" charset="-122"/>
                <a:ea typeface="微软雅黑" panose="020B0503020204020204" pitchFamily="34" charset="-122"/>
              </a:rPr>
              <a:t>3</a:t>
            </a:r>
            <a:r>
              <a:rPr lang="en-US" altLang="zh-CN" sz="1200" b="1" dirty="0">
                <a:solidFill>
                  <a:srgbClr val="000099"/>
                </a:solidFill>
                <a:latin typeface="微软雅黑" panose="020B0503020204020204" pitchFamily="34" charset="-122"/>
                <a:ea typeface="微软雅黑" panose="020B0503020204020204" pitchFamily="34" charset="-122"/>
              </a:rPr>
              <a:t> </a:t>
            </a:r>
            <a:r>
              <a:rPr lang="zh-CN" altLang="en-US" sz="1200" b="1" dirty="0">
                <a:solidFill>
                  <a:srgbClr val="000099"/>
                </a:solidFill>
                <a:latin typeface="微软雅黑" panose="020B0503020204020204" pitchFamily="34" charset="-122"/>
                <a:ea typeface="微软雅黑" panose="020B0503020204020204" pitchFamily="34" charset="-122"/>
              </a:rPr>
              <a:t>流表</a:t>
            </a:r>
          </a:p>
        </p:txBody>
      </p:sp>
      <p:sp>
        <p:nvSpPr>
          <p:cNvPr id="68" name="矩形 67"/>
          <p:cNvSpPr/>
          <p:nvPr/>
        </p:nvSpPr>
        <p:spPr>
          <a:xfrm>
            <a:off x="6298280" y="2920721"/>
            <a:ext cx="694421" cy="276999"/>
          </a:xfrm>
          <a:prstGeom prst="rect">
            <a:avLst/>
          </a:prstGeom>
        </p:spPr>
        <p:txBody>
          <a:bodyPr wrap="none">
            <a:spAutoFit/>
          </a:bodyPr>
          <a:lstStyle/>
          <a:p>
            <a:r>
              <a:rPr lang="en-US" altLang="zh-CN" sz="1200" b="1" dirty="0">
                <a:solidFill>
                  <a:srgbClr val="000099"/>
                </a:solidFill>
                <a:latin typeface="微软雅黑" panose="020B0503020204020204" pitchFamily="34" charset="-122"/>
                <a:ea typeface="微软雅黑" panose="020B0503020204020204" pitchFamily="34" charset="-122"/>
              </a:rPr>
              <a:t>S</a:t>
            </a:r>
            <a:r>
              <a:rPr lang="en-US" altLang="zh-CN" sz="1200" b="1" baseline="-25000" dirty="0">
                <a:solidFill>
                  <a:srgbClr val="000099"/>
                </a:solidFill>
                <a:latin typeface="微软雅黑" panose="020B0503020204020204" pitchFamily="34" charset="-122"/>
                <a:ea typeface="微软雅黑" panose="020B0503020204020204" pitchFamily="34" charset="-122"/>
              </a:rPr>
              <a:t>2</a:t>
            </a:r>
            <a:r>
              <a:rPr lang="en-US" altLang="zh-CN" sz="1200" b="1" dirty="0">
                <a:solidFill>
                  <a:srgbClr val="000099"/>
                </a:solidFill>
                <a:latin typeface="微软雅黑" panose="020B0503020204020204" pitchFamily="34" charset="-122"/>
                <a:ea typeface="微软雅黑" panose="020B0503020204020204" pitchFamily="34" charset="-122"/>
              </a:rPr>
              <a:t> </a:t>
            </a:r>
            <a:r>
              <a:rPr lang="zh-CN" altLang="en-US" sz="1200" b="1" dirty="0">
                <a:solidFill>
                  <a:srgbClr val="000099"/>
                </a:solidFill>
                <a:latin typeface="微软雅黑" panose="020B0503020204020204" pitchFamily="34" charset="-122"/>
                <a:ea typeface="微软雅黑" panose="020B0503020204020204" pitchFamily="34" charset="-122"/>
              </a:rPr>
              <a:t>流表</a:t>
            </a:r>
          </a:p>
        </p:txBody>
      </p:sp>
      <p:sp>
        <p:nvSpPr>
          <p:cNvPr id="69" name="矩形 68"/>
          <p:cNvSpPr/>
          <p:nvPr/>
        </p:nvSpPr>
        <p:spPr>
          <a:xfrm>
            <a:off x="2239562" y="3789316"/>
            <a:ext cx="694421" cy="276999"/>
          </a:xfrm>
          <a:prstGeom prst="rect">
            <a:avLst/>
          </a:prstGeom>
        </p:spPr>
        <p:txBody>
          <a:bodyPr wrap="none">
            <a:spAutoFit/>
          </a:bodyPr>
          <a:lstStyle/>
          <a:p>
            <a:r>
              <a:rPr lang="en-US" altLang="zh-CN" sz="1200" b="1" dirty="0">
                <a:solidFill>
                  <a:srgbClr val="000099"/>
                </a:solidFill>
                <a:latin typeface="微软雅黑" panose="020B0503020204020204" pitchFamily="34" charset="-122"/>
                <a:ea typeface="微软雅黑" panose="020B0503020204020204" pitchFamily="34" charset="-122"/>
              </a:rPr>
              <a:t>S</a:t>
            </a:r>
            <a:r>
              <a:rPr lang="en-US" altLang="zh-CN" sz="1200" b="1" baseline="-25000" dirty="0">
                <a:solidFill>
                  <a:srgbClr val="000099"/>
                </a:solidFill>
                <a:latin typeface="微软雅黑" panose="020B0503020204020204" pitchFamily="34" charset="-122"/>
                <a:ea typeface="微软雅黑" panose="020B0503020204020204" pitchFamily="34" charset="-122"/>
              </a:rPr>
              <a:t>1</a:t>
            </a:r>
            <a:r>
              <a:rPr lang="en-US" altLang="zh-CN" sz="1200" b="1" dirty="0">
                <a:solidFill>
                  <a:srgbClr val="000099"/>
                </a:solidFill>
                <a:latin typeface="微软雅黑" panose="020B0503020204020204" pitchFamily="34" charset="-122"/>
                <a:ea typeface="微软雅黑" panose="020B0503020204020204" pitchFamily="34" charset="-122"/>
              </a:rPr>
              <a:t> </a:t>
            </a:r>
            <a:r>
              <a:rPr lang="zh-CN" altLang="en-US" sz="1200" b="1" dirty="0">
                <a:solidFill>
                  <a:srgbClr val="000099"/>
                </a:solidFill>
                <a:latin typeface="微软雅黑" panose="020B0503020204020204" pitchFamily="34" charset="-122"/>
                <a:ea typeface="微软雅黑" panose="020B0503020204020204" pitchFamily="34" charset="-122"/>
              </a:rPr>
              <a:t>流表</a:t>
            </a:r>
          </a:p>
        </p:txBody>
      </p:sp>
    </p:spTree>
    <p:extLst>
      <p:ext uri="{BB962C8B-B14F-4D97-AF65-F5344CB8AC3E}">
        <p14:creationId xmlns:p14="http://schemas.microsoft.com/office/powerpoint/2010/main" val="252221938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67"/>
                                        </p:tgtEl>
                                        <p:attrNameLst>
                                          <p:attrName>style.visibility</p:attrName>
                                        </p:attrNameLst>
                                      </p:cBhvr>
                                      <p:to>
                                        <p:strVal val="visible"/>
                                      </p:to>
                                    </p:set>
                                    <p:animEffect transition="in" filter="wipe(up)">
                                      <p:cBhvr>
                                        <p:cTn id="7" dur="1000"/>
                                        <p:tgtEl>
                                          <p:spTgt spid="67"/>
                                        </p:tgtEl>
                                      </p:cBhvr>
                                    </p:animEffect>
                                  </p:childTnLst>
                                </p:cTn>
                              </p:par>
                            </p:childTnLst>
                          </p:cTn>
                        </p:par>
                        <p:par>
                          <p:cTn id="8" fill="hold">
                            <p:stCondLst>
                              <p:cond delay="1000"/>
                            </p:stCondLst>
                            <p:childTnLst>
                              <p:par>
                                <p:cTn id="9" presetID="22" presetClass="entr" presetSubtype="1"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wipe(up)">
                                      <p:cBhvr>
                                        <p:cTn id="11" dur="1000"/>
                                        <p:tgtEl>
                                          <p:spTgt spid="5"/>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1" fill="hold" grpId="0" nodeType="clickEffect">
                                  <p:stCondLst>
                                    <p:cond delay="0"/>
                                  </p:stCondLst>
                                  <p:childTnLst>
                                    <p:set>
                                      <p:cBhvr>
                                        <p:cTn id="15" dur="1" fill="hold">
                                          <p:stCondLst>
                                            <p:cond delay="0"/>
                                          </p:stCondLst>
                                        </p:cTn>
                                        <p:tgtEl>
                                          <p:spTgt spid="69"/>
                                        </p:tgtEl>
                                        <p:attrNameLst>
                                          <p:attrName>style.visibility</p:attrName>
                                        </p:attrNameLst>
                                      </p:cBhvr>
                                      <p:to>
                                        <p:strVal val="visible"/>
                                      </p:to>
                                    </p:set>
                                    <p:animEffect transition="in" filter="wipe(up)">
                                      <p:cBhvr>
                                        <p:cTn id="16" dur="1000"/>
                                        <p:tgtEl>
                                          <p:spTgt spid="69"/>
                                        </p:tgtEl>
                                      </p:cBhvr>
                                    </p:animEffect>
                                  </p:childTnLst>
                                </p:cTn>
                              </p:par>
                            </p:childTnLst>
                          </p:cTn>
                        </p:par>
                        <p:par>
                          <p:cTn id="17" fill="hold">
                            <p:stCondLst>
                              <p:cond delay="1000"/>
                            </p:stCondLst>
                            <p:childTnLst>
                              <p:par>
                                <p:cTn id="18" presetID="22" presetClass="entr" presetSubtype="1" fill="hold" nodeType="after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wipe(up)">
                                      <p:cBhvr>
                                        <p:cTn id="20" dur="1000"/>
                                        <p:tgtEl>
                                          <p:spTgt spid="6"/>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grpId="0" nodeType="clickEffect">
                                  <p:stCondLst>
                                    <p:cond delay="0"/>
                                  </p:stCondLst>
                                  <p:childTnLst>
                                    <p:set>
                                      <p:cBhvr>
                                        <p:cTn id="24" dur="1" fill="hold">
                                          <p:stCondLst>
                                            <p:cond delay="0"/>
                                          </p:stCondLst>
                                        </p:cTn>
                                        <p:tgtEl>
                                          <p:spTgt spid="68"/>
                                        </p:tgtEl>
                                        <p:attrNameLst>
                                          <p:attrName>style.visibility</p:attrName>
                                        </p:attrNameLst>
                                      </p:cBhvr>
                                      <p:to>
                                        <p:strVal val="visible"/>
                                      </p:to>
                                    </p:set>
                                    <p:animEffect transition="in" filter="wipe(up)">
                                      <p:cBhvr>
                                        <p:cTn id="25" dur="1000"/>
                                        <p:tgtEl>
                                          <p:spTgt spid="68"/>
                                        </p:tgtEl>
                                      </p:cBhvr>
                                    </p:animEffect>
                                  </p:childTnLst>
                                </p:cTn>
                              </p:par>
                            </p:childTnLst>
                          </p:cTn>
                        </p:par>
                        <p:par>
                          <p:cTn id="26" fill="hold">
                            <p:stCondLst>
                              <p:cond delay="1000"/>
                            </p:stCondLst>
                            <p:childTnLst>
                              <p:par>
                                <p:cTn id="27" presetID="22" presetClass="entr" presetSubtype="1" fill="hold" nodeType="afterEffect">
                                  <p:stCondLst>
                                    <p:cond delay="0"/>
                                  </p:stCondLst>
                                  <p:childTnLst>
                                    <p:set>
                                      <p:cBhvr>
                                        <p:cTn id="28" dur="1" fill="hold">
                                          <p:stCondLst>
                                            <p:cond delay="0"/>
                                          </p:stCondLst>
                                        </p:cTn>
                                        <p:tgtEl>
                                          <p:spTgt spid="66"/>
                                        </p:tgtEl>
                                        <p:attrNameLst>
                                          <p:attrName>style.visibility</p:attrName>
                                        </p:attrNameLst>
                                      </p:cBhvr>
                                      <p:to>
                                        <p:strVal val="visible"/>
                                      </p:to>
                                    </p:set>
                                    <p:animEffect transition="in" filter="wipe(up)">
                                      <p:cBhvr>
                                        <p:cTn id="29" dur="10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 grpId="0"/>
      <p:bldP spid="68" grpId="0"/>
      <p:bldP spid="69" grpId="0"/>
    </p:bldLst>
  </p:timing>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圆角矩形 64"/>
          <p:cNvSpPr/>
          <p:nvPr/>
        </p:nvSpPr>
        <p:spPr>
          <a:xfrm>
            <a:off x="545144" y="972296"/>
            <a:ext cx="8053711" cy="195197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7" name="AutoShape 5"/>
          <p:cNvSpPr>
            <a:spLocks noChangeArrowheads="1"/>
          </p:cNvSpPr>
          <p:nvPr/>
        </p:nvSpPr>
        <p:spPr bwMode="auto">
          <a:xfrm>
            <a:off x="545144" y="615972"/>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7"/>
          <p:cNvSpPr/>
          <p:nvPr/>
        </p:nvSpPr>
        <p:spPr>
          <a:xfrm>
            <a:off x="616085" y="557204"/>
            <a:ext cx="1980029" cy="400110"/>
          </a:xfrm>
          <a:prstGeom prst="rect">
            <a:avLst/>
          </a:prstGeom>
        </p:spPr>
        <p:txBody>
          <a:bodyPr wrap="none">
            <a:spAutoFit/>
          </a:bodyPr>
          <a:lstStyle/>
          <a:p>
            <a:r>
              <a:rPr lang="zh-CN" altLang="en-US" sz="2000" b="1" dirty="0">
                <a:latin typeface="微软雅黑" pitchFamily="34" charset="-122"/>
                <a:ea typeface="微软雅黑" pitchFamily="34" charset="-122"/>
              </a:rPr>
              <a:t>例子：负载均衡</a:t>
            </a:r>
          </a:p>
        </p:txBody>
      </p:sp>
      <p:grpSp>
        <p:nvGrpSpPr>
          <p:cNvPr id="2" name="组合 1"/>
          <p:cNvGrpSpPr/>
          <p:nvPr/>
        </p:nvGrpSpPr>
        <p:grpSpPr>
          <a:xfrm>
            <a:off x="719362" y="1004699"/>
            <a:ext cx="4674957" cy="1829036"/>
            <a:chOff x="1405863" y="952215"/>
            <a:chExt cx="6068412" cy="3206955"/>
          </a:xfrm>
        </p:grpSpPr>
        <p:sp>
          <p:nvSpPr>
            <p:cNvPr id="9" name="Line 23"/>
            <p:cNvSpPr>
              <a:spLocks noChangeShapeType="1"/>
            </p:cNvSpPr>
            <p:nvPr/>
          </p:nvSpPr>
          <p:spPr bwMode="auto">
            <a:xfrm flipV="1">
              <a:off x="2627313" y="2646276"/>
              <a:ext cx="936625" cy="5048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 name="Line 24"/>
            <p:cNvSpPr>
              <a:spLocks noChangeShapeType="1"/>
            </p:cNvSpPr>
            <p:nvPr/>
          </p:nvSpPr>
          <p:spPr bwMode="auto">
            <a:xfrm flipV="1">
              <a:off x="3806467" y="1998575"/>
              <a:ext cx="549632" cy="530225"/>
            </a:xfrm>
            <a:prstGeom prst="line">
              <a:avLst/>
            </a:prstGeom>
            <a:noFill/>
            <a:ln w="28575">
              <a:solidFill>
                <a:srgbClr val="9900CC"/>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 name="Line 25"/>
            <p:cNvSpPr>
              <a:spLocks noChangeShapeType="1"/>
            </p:cNvSpPr>
            <p:nvPr/>
          </p:nvSpPr>
          <p:spPr bwMode="auto">
            <a:xfrm flipV="1">
              <a:off x="3810000" y="2601826"/>
              <a:ext cx="1381125" cy="444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 name="Line 26"/>
            <p:cNvSpPr>
              <a:spLocks noChangeShapeType="1"/>
            </p:cNvSpPr>
            <p:nvPr/>
          </p:nvSpPr>
          <p:spPr bwMode="auto">
            <a:xfrm flipV="1">
              <a:off x="5421313" y="2382751"/>
              <a:ext cx="931862" cy="2460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 name="Line 27"/>
            <p:cNvSpPr>
              <a:spLocks noChangeShapeType="1"/>
            </p:cNvSpPr>
            <p:nvPr/>
          </p:nvSpPr>
          <p:spPr bwMode="auto">
            <a:xfrm>
              <a:off x="3667125" y="2697076"/>
              <a:ext cx="866775" cy="64770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 name="Line 30"/>
            <p:cNvSpPr>
              <a:spLocks noChangeShapeType="1"/>
            </p:cNvSpPr>
            <p:nvPr/>
          </p:nvSpPr>
          <p:spPr bwMode="auto">
            <a:xfrm flipV="1">
              <a:off x="4683125" y="2725651"/>
              <a:ext cx="622300" cy="5778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 name="Text Box 69"/>
            <p:cNvSpPr txBox="1">
              <a:spLocks noChangeArrowheads="1"/>
            </p:cNvSpPr>
            <p:nvPr/>
          </p:nvSpPr>
          <p:spPr bwMode="auto">
            <a:xfrm>
              <a:off x="3516638" y="952215"/>
              <a:ext cx="1914759" cy="4856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err="1">
                  <a:latin typeface="微软雅黑" panose="020B0503020204020204" pitchFamily="34" charset="-122"/>
                  <a:ea typeface="微软雅黑" panose="020B0503020204020204" pitchFamily="34" charset="-122"/>
                </a:rPr>
                <a:t>OpenFlow</a:t>
              </a:r>
              <a:r>
                <a:rPr lang="en-US" altLang="zh-CN" sz="1200" b="1" dirty="0">
                  <a:latin typeface="微软雅黑" panose="020B0503020204020204" pitchFamily="34" charset="-122"/>
                  <a:ea typeface="微软雅黑" panose="020B0503020204020204" pitchFamily="34" charset="-122"/>
                </a:rPr>
                <a:t> </a:t>
              </a:r>
              <a:r>
                <a:rPr lang="zh-CN" altLang="en-US" sz="1200" b="1" dirty="0">
                  <a:latin typeface="微软雅黑" panose="020B0503020204020204" pitchFamily="34" charset="-122"/>
                  <a:ea typeface="微软雅黑" panose="020B0503020204020204" pitchFamily="34" charset="-122"/>
                </a:rPr>
                <a:t>控制器</a:t>
              </a:r>
              <a:endParaRPr lang="en-US" altLang="zh-CN" sz="1200" b="1" baseline="-25000" dirty="0">
                <a:latin typeface="微软雅黑" panose="020B0503020204020204" pitchFamily="34" charset="-122"/>
                <a:ea typeface="微软雅黑" panose="020B0503020204020204" pitchFamily="34" charset="-122"/>
              </a:endParaRPr>
            </a:p>
          </p:txBody>
        </p:sp>
        <p:sp>
          <p:nvSpPr>
            <p:cNvPr id="17" name="Text Box 65"/>
            <p:cNvSpPr txBox="1">
              <a:spLocks noChangeArrowheads="1"/>
            </p:cNvSpPr>
            <p:nvPr/>
          </p:nvSpPr>
          <p:spPr bwMode="auto">
            <a:xfrm>
              <a:off x="4488812" y="2825187"/>
              <a:ext cx="424902"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solidFill>
                    <a:srgbClr val="000099"/>
                  </a:solidFill>
                  <a:latin typeface="微软雅黑" panose="020B0503020204020204" pitchFamily="34" charset="-122"/>
                  <a:ea typeface="微软雅黑" panose="020B0503020204020204" pitchFamily="34" charset="-122"/>
                </a:rPr>
                <a:t>S</a:t>
              </a:r>
              <a:r>
                <a:rPr lang="en-US" altLang="zh-CN" sz="1100" b="1" baseline="-25000" dirty="0">
                  <a:solidFill>
                    <a:srgbClr val="000099"/>
                  </a:solidFill>
                  <a:latin typeface="微软雅黑" panose="020B0503020204020204" pitchFamily="34" charset="-122"/>
                  <a:ea typeface="微软雅黑" panose="020B0503020204020204" pitchFamily="34" charset="-122"/>
                </a:rPr>
                <a:t>1</a:t>
              </a:r>
            </a:p>
          </p:txBody>
        </p:sp>
        <p:sp>
          <p:nvSpPr>
            <p:cNvPr id="18" name="Text Box 65"/>
            <p:cNvSpPr txBox="1">
              <a:spLocks noChangeArrowheads="1"/>
            </p:cNvSpPr>
            <p:nvPr/>
          </p:nvSpPr>
          <p:spPr bwMode="auto">
            <a:xfrm>
              <a:off x="3492501" y="2131964"/>
              <a:ext cx="424902"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solidFill>
                    <a:srgbClr val="000099"/>
                  </a:solidFill>
                  <a:latin typeface="微软雅黑" panose="020B0503020204020204" pitchFamily="34" charset="-122"/>
                  <a:ea typeface="微软雅黑" panose="020B0503020204020204" pitchFamily="34" charset="-122"/>
                </a:rPr>
                <a:t>S</a:t>
              </a:r>
              <a:r>
                <a:rPr lang="en-US" altLang="zh-CN" sz="1100" b="1" baseline="-25000" dirty="0">
                  <a:solidFill>
                    <a:srgbClr val="000099"/>
                  </a:solidFill>
                  <a:latin typeface="微软雅黑" panose="020B0503020204020204" pitchFamily="34" charset="-122"/>
                  <a:ea typeface="微软雅黑" panose="020B0503020204020204" pitchFamily="34" charset="-122"/>
                </a:rPr>
                <a:t>3</a:t>
              </a:r>
            </a:p>
          </p:txBody>
        </p:sp>
        <p:sp>
          <p:nvSpPr>
            <p:cNvPr id="19" name="Text Box 65"/>
            <p:cNvSpPr txBox="1">
              <a:spLocks noChangeArrowheads="1"/>
            </p:cNvSpPr>
            <p:nvPr/>
          </p:nvSpPr>
          <p:spPr bwMode="auto">
            <a:xfrm>
              <a:off x="5148264" y="2131964"/>
              <a:ext cx="424902"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solidFill>
                    <a:srgbClr val="000099"/>
                  </a:solidFill>
                  <a:latin typeface="微软雅黑" panose="020B0503020204020204" pitchFamily="34" charset="-122"/>
                  <a:ea typeface="微软雅黑" panose="020B0503020204020204" pitchFamily="34" charset="-122"/>
                </a:rPr>
                <a:t>S</a:t>
              </a:r>
              <a:r>
                <a:rPr lang="en-US" altLang="zh-CN" sz="1100" b="1" baseline="-25000">
                  <a:solidFill>
                    <a:srgbClr val="000099"/>
                  </a:solidFill>
                  <a:latin typeface="微软雅黑" panose="020B0503020204020204" pitchFamily="34" charset="-122"/>
                  <a:ea typeface="微软雅黑" panose="020B0503020204020204" pitchFamily="34" charset="-122"/>
                </a:rPr>
                <a:t>2</a:t>
              </a:r>
            </a:p>
          </p:txBody>
        </p:sp>
        <p:grpSp>
          <p:nvGrpSpPr>
            <p:cNvPr id="20" name="组合 89"/>
            <p:cNvGrpSpPr>
              <a:grpSpLocks/>
            </p:cNvGrpSpPr>
            <p:nvPr/>
          </p:nvGrpSpPr>
          <p:grpSpPr bwMode="auto">
            <a:xfrm>
              <a:off x="6084888" y="1957326"/>
              <a:ext cx="574675" cy="617519"/>
              <a:chOff x="5220072" y="3315751"/>
              <a:chExt cx="576064" cy="617305"/>
            </a:xfrm>
          </p:grpSpPr>
          <p:pic>
            <p:nvPicPr>
              <p:cNvPr id="21"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 name="Text Box 67"/>
              <p:cNvSpPr txBox="1">
                <a:spLocks noChangeArrowheads="1"/>
              </p:cNvSpPr>
              <p:nvPr/>
            </p:nvSpPr>
            <p:spPr bwMode="auto">
              <a:xfrm>
                <a:off x="5294022" y="3315751"/>
                <a:ext cx="465558"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4</a:t>
                </a:r>
              </a:p>
            </p:txBody>
          </p:sp>
        </p:grpSp>
        <p:sp>
          <p:nvSpPr>
            <p:cNvPr id="23" name="Text Box 69"/>
            <p:cNvSpPr txBox="1">
              <a:spLocks noChangeArrowheads="1"/>
            </p:cNvSpPr>
            <p:nvPr/>
          </p:nvSpPr>
          <p:spPr bwMode="auto">
            <a:xfrm>
              <a:off x="6516688" y="2070014"/>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10.2.0.4</a:t>
              </a:r>
              <a:endParaRPr lang="en-US" altLang="zh-CN" sz="1100" b="1" baseline="-25000">
                <a:latin typeface="微软雅黑" panose="020B0503020204020204" pitchFamily="34" charset="-122"/>
                <a:ea typeface="微软雅黑" panose="020B0503020204020204" pitchFamily="34" charset="-122"/>
              </a:endParaRPr>
            </a:p>
          </p:txBody>
        </p:sp>
        <p:sp>
          <p:nvSpPr>
            <p:cNvPr id="24" name="Text Box 69"/>
            <p:cNvSpPr txBox="1">
              <a:spLocks noChangeArrowheads="1"/>
            </p:cNvSpPr>
            <p:nvPr/>
          </p:nvSpPr>
          <p:spPr bwMode="auto">
            <a:xfrm>
              <a:off x="6516688" y="2935202"/>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10.2.0.3</a:t>
              </a:r>
              <a:endParaRPr lang="en-US" altLang="zh-CN" sz="1100" b="1" baseline="-25000">
                <a:latin typeface="微软雅黑" panose="020B0503020204020204" pitchFamily="34" charset="-122"/>
                <a:ea typeface="微软雅黑" panose="020B0503020204020204" pitchFamily="34" charset="-122"/>
              </a:endParaRPr>
            </a:p>
          </p:txBody>
        </p:sp>
        <p:sp>
          <p:nvSpPr>
            <p:cNvPr id="25" name="Text Box 69"/>
            <p:cNvSpPr txBox="1">
              <a:spLocks noChangeArrowheads="1"/>
            </p:cNvSpPr>
            <p:nvPr/>
          </p:nvSpPr>
          <p:spPr bwMode="auto">
            <a:xfrm>
              <a:off x="2716871" y="3654340"/>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10.1.0.1</a:t>
              </a:r>
              <a:endParaRPr lang="en-US" altLang="zh-CN" sz="1100" b="1" baseline="-25000" dirty="0">
                <a:latin typeface="微软雅黑" panose="020B0503020204020204" pitchFamily="34" charset="-122"/>
                <a:ea typeface="微软雅黑" panose="020B0503020204020204" pitchFamily="34" charset="-122"/>
              </a:endParaRPr>
            </a:p>
          </p:txBody>
        </p:sp>
        <p:sp>
          <p:nvSpPr>
            <p:cNvPr id="26" name="Text Box 69"/>
            <p:cNvSpPr txBox="1">
              <a:spLocks noChangeArrowheads="1"/>
            </p:cNvSpPr>
            <p:nvPr/>
          </p:nvSpPr>
          <p:spPr bwMode="auto">
            <a:xfrm>
              <a:off x="5643048" y="3654340"/>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10.1.0.2</a:t>
              </a:r>
              <a:endParaRPr lang="en-US" altLang="zh-CN" sz="1100" b="1" baseline="-25000" dirty="0">
                <a:latin typeface="微软雅黑" panose="020B0503020204020204" pitchFamily="34" charset="-122"/>
                <a:ea typeface="微软雅黑" panose="020B0503020204020204" pitchFamily="34" charset="-122"/>
              </a:endParaRPr>
            </a:p>
          </p:txBody>
        </p:sp>
        <p:sp>
          <p:nvSpPr>
            <p:cNvPr id="27" name="Text Box 69"/>
            <p:cNvSpPr txBox="1">
              <a:spLocks noChangeArrowheads="1"/>
            </p:cNvSpPr>
            <p:nvPr/>
          </p:nvSpPr>
          <p:spPr bwMode="auto">
            <a:xfrm>
              <a:off x="1413799" y="2793914"/>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10.3.0.5</a:t>
              </a:r>
              <a:endParaRPr lang="en-US" altLang="zh-CN" sz="1100" b="1" baseline="-25000">
                <a:latin typeface="微软雅黑" panose="020B0503020204020204" pitchFamily="34" charset="-122"/>
                <a:ea typeface="微软雅黑" panose="020B0503020204020204" pitchFamily="34" charset="-122"/>
              </a:endParaRPr>
            </a:p>
          </p:txBody>
        </p:sp>
        <p:sp>
          <p:nvSpPr>
            <p:cNvPr id="28" name="Text Box 69"/>
            <p:cNvSpPr txBox="1">
              <a:spLocks noChangeArrowheads="1"/>
            </p:cNvSpPr>
            <p:nvPr/>
          </p:nvSpPr>
          <p:spPr bwMode="auto">
            <a:xfrm>
              <a:off x="1405863" y="2055726"/>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10.3.0.6</a:t>
              </a:r>
              <a:endParaRPr lang="en-US" altLang="zh-CN" sz="1100" b="1" baseline="-25000" dirty="0">
                <a:latin typeface="微软雅黑" panose="020B0503020204020204" pitchFamily="34" charset="-122"/>
                <a:ea typeface="微软雅黑" panose="020B0503020204020204" pitchFamily="34" charset="-122"/>
              </a:endParaRPr>
            </a:p>
          </p:txBody>
        </p:sp>
        <p:sp>
          <p:nvSpPr>
            <p:cNvPr id="29" name="Line 23"/>
            <p:cNvSpPr>
              <a:spLocks noChangeShapeType="1"/>
            </p:cNvSpPr>
            <p:nvPr/>
          </p:nvSpPr>
          <p:spPr bwMode="auto">
            <a:xfrm>
              <a:off x="2627313" y="2358939"/>
              <a:ext cx="936625" cy="2873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 name="Line 26"/>
            <p:cNvSpPr>
              <a:spLocks noChangeShapeType="1"/>
            </p:cNvSpPr>
            <p:nvPr/>
          </p:nvSpPr>
          <p:spPr bwMode="auto">
            <a:xfrm>
              <a:off x="5435600" y="2646276"/>
              <a:ext cx="936625" cy="431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 name="Line 26"/>
            <p:cNvSpPr>
              <a:spLocks noChangeShapeType="1"/>
            </p:cNvSpPr>
            <p:nvPr/>
          </p:nvSpPr>
          <p:spPr bwMode="auto">
            <a:xfrm>
              <a:off x="4572000" y="3367001"/>
              <a:ext cx="936625" cy="431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 name="Line 26"/>
            <p:cNvSpPr>
              <a:spLocks noChangeShapeType="1"/>
            </p:cNvSpPr>
            <p:nvPr/>
          </p:nvSpPr>
          <p:spPr bwMode="auto">
            <a:xfrm flipH="1">
              <a:off x="3924300" y="3367001"/>
              <a:ext cx="576263" cy="3603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33" name="组合 76"/>
            <p:cNvGrpSpPr>
              <a:grpSpLocks/>
            </p:cNvGrpSpPr>
            <p:nvPr/>
          </p:nvGrpSpPr>
          <p:grpSpPr bwMode="auto">
            <a:xfrm>
              <a:off x="5219700" y="3541651"/>
              <a:ext cx="576263" cy="617519"/>
              <a:chOff x="5220072" y="3315751"/>
              <a:chExt cx="576064" cy="617305"/>
            </a:xfrm>
          </p:grpSpPr>
          <p:pic>
            <p:nvPicPr>
              <p:cNvPr id="34"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Text Box 67"/>
              <p:cNvSpPr txBox="1">
                <a:spLocks noChangeArrowheads="1"/>
              </p:cNvSpPr>
              <p:nvPr/>
            </p:nvSpPr>
            <p:spPr bwMode="auto">
              <a:xfrm>
                <a:off x="5294082" y="3315751"/>
                <a:ext cx="464275"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2</a:t>
                </a:r>
              </a:p>
            </p:txBody>
          </p:sp>
        </p:grpSp>
        <p:grpSp>
          <p:nvGrpSpPr>
            <p:cNvPr id="36" name="组合 77"/>
            <p:cNvGrpSpPr>
              <a:grpSpLocks/>
            </p:cNvGrpSpPr>
            <p:nvPr/>
          </p:nvGrpSpPr>
          <p:grpSpPr bwMode="auto">
            <a:xfrm>
              <a:off x="3563938" y="3541651"/>
              <a:ext cx="576262" cy="617519"/>
              <a:chOff x="5220072" y="3315751"/>
              <a:chExt cx="576064" cy="617305"/>
            </a:xfrm>
          </p:grpSpPr>
          <p:pic>
            <p:nvPicPr>
              <p:cNvPr id="37"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 Box 67"/>
              <p:cNvSpPr txBox="1">
                <a:spLocks noChangeArrowheads="1"/>
              </p:cNvSpPr>
              <p:nvPr/>
            </p:nvSpPr>
            <p:spPr bwMode="auto">
              <a:xfrm>
                <a:off x="5294083" y="3315751"/>
                <a:ext cx="464276"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1</a:t>
                </a:r>
              </a:p>
            </p:txBody>
          </p:sp>
        </p:grpSp>
        <p:grpSp>
          <p:nvGrpSpPr>
            <p:cNvPr id="39" name="组合 86"/>
            <p:cNvGrpSpPr>
              <a:grpSpLocks/>
            </p:cNvGrpSpPr>
            <p:nvPr/>
          </p:nvGrpSpPr>
          <p:grpSpPr bwMode="auto">
            <a:xfrm>
              <a:off x="6084888" y="2820926"/>
              <a:ext cx="574675" cy="617519"/>
              <a:chOff x="5220072" y="3315751"/>
              <a:chExt cx="576064" cy="617305"/>
            </a:xfrm>
          </p:grpSpPr>
          <p:pic>
            <p:nvPicPr>
              <p:cNvPr id="40"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Text Box 67"/>
              <p:cNvSpPr txBox="1">
                <a:spLocks noChangeArrowheads="1"/>
              </p:cNvSpPr>
              <p:nvPr/>
            </p:nvSpPr>
            <p:spPr bwMode="auto">
              <a:xfrm>
                <a:off x="5294022" y="3315751"/>
                <a:ext cx="465558"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3</a:t>
                </a:r>
              </a:p>
            </p:txBody>
          </p:sp>
        </p:grpSp>
        <p:grpSp>
          <p:nvGrpSpPr>
            <p:cNvPr id="42" name="组合 83"/>
            <p:cNvGrpSpPr>
              <a:grpSpLocks/>
            </p:cNvGrpSpPr>
            <p:nvPr/>
          </p:nvGrpSpPr>
          <p:grpSpPr bwMode="auto">
            <a:xfrm>
              <a:off x="2268538" y="1957326"/>
              <a:ext cx="574675" cy="617519"/>
              <a:chOff x="5220072" y="3315751"/>
              <a:chExt cx="576064" cy="617305"/>
            </a:xfrm>
          </p:grpSpPr>
          <p:pic>
            <p:nvPicPr>
              <p:cNvPr id="43"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 Box 67"/>
              <p:cNvSpPr txBox="1">
                <a:spLocks noChangeArrowheads="1"/>
              </p:cNvSpPr>
              <p:nvPr/>
            </p:nvSpPr>
            <p:spPr bwMode="auto">
              <a:xfrm>
                <a:off x="5294022" y="3315751"/>
                <a:ext cx="465558"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H</a:t>
                </a:r>
                <a:r>
                  <a:rPr lang="en-US" altLang="zh-CN" sz="1100" b="1" baseline="-25000" dirty="0">
                    <a:latin typeface="微软雅黑" panose="020B0503020204020204" pitchFamily="34" charset="-122"/>
                    <a:ea typeface="微软雅黑" panose="020B0503020204020204" pitchFamily="34" charset="-122"/>
                  </a:rPr>
                  <a:t>6</a:t>
                </a:r>
              </a:p>
            </p:txBody>
          </p:sp>
        </p:grpSp>
        <p:grpSp>
          <p:nvGrpSpPr>
            <p:cNvPr id="45" name="组合 80"/>
            <p:cNvGrpSpPr>
              <a:grpSpLocks/>
            </p:cNvGrpSpPr>
            <p:nvPr/>
          </p:nvGrpSpPr>
          <p:grpSpPr bwMode="auto">
            <a:xfrm>
              <a:off x="2268538" y="2749489"/>
              <a:ext cx="574675" cy="617518"/>
              <a:chOff x="5220072" y="3315751"/>
              <a:chExt cx="576064" cy="617305"/>
            </a:xfrm>
          </p:grpSpPr>
          <p:pic>
            <p:nvPicPr>
              <p:cNvPr id="46"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Text Box 67"/>
              <p:cNvSpPr txBox="1">
                <a:spLocks noChangeArrowheads="1"/>
              </p:cNvSpPr>
              <p:nvPr/>
            </p:nvSpPr>
            <p:spPr bwMode="auto">
              <a:xfrm>
                <a:off x="5294022" y="3315751"/>
                <a:ext cx="465558"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5</a:t>
                </a:r>
              </a:p>
            </p:txBody>
          </p:sp>
        </p:grpSp>
        <p:pic>
          <p:nvPicPr>
            <p:cNvPr id="48" name="Picture 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19475" y="2503401"/>
              <a:ext cx="504825" cy="287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9" name="Picture 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076825" y="2503401"/>
              <a:ext cx="503238" cy="287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50" name="Picture 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56100" y="3222539"/>
              <a:ext cx="503238"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51" name="Text Box 69"/>
            <p:cNvSpPr txBox="1">
              <a:spLocks noChangeArrowheads="1"/>
            </p:cNvSpPr>
            <p:nvPr/>
          </p:nvSpPr>
          <p:spPr bwMode="auto">
            <a:xfrm>
              <a:off x="3203576" y="2287501"/>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1</a:t>
              </a:r>
            </a:p>
          </p:txBody>
        </p:sp>
        <p:sp>
          <p:nvSpPr>
            <p:cNvPr id="52" name="Text Box 69"/>
            <p:cNvSpPr txBox="1">
              <a:spLocks noChangeArrowheads="1"/>
            </p:cNvSpPr>
            <p:nvPr/>
          </p:nvSpPr>
          <p:spPr bwMode="auto">
            <a:xfrm>
              <a:off x="4140200" y="3078076"/>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1</a:t>
              </a:r>
            </a:p>
          </p:txBody>
        </p:sp>
        <p:sp>
          <p:nvSpPr>
            <p:cNvPr id="53" name="Text Box 69"/>
            <p:cNvSpPr txBox="1">
              <a:spLocks noChangeArrowheads="1"/>
            </p:cNvSpPr>
            <p:nvPr/>
          </p:nvSpPr>
          <p:spPr bwMode="auto">
            <a:xfrm>
              <a:off x="4859339" y="2303931"/>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1</a:t>
              </a:r>
            </a:p>
          </p:txBody>
        </p:sp>
        <p:sp>
          <p:nvSpPr>
            <p:cNvPr id="54" name="Text Box 69"/>
            <p:cNvSpPr txBox="1">
              <a:spLocks noChangeArrowheads="1"/>
            </p:cNvSpPr>
            <p:nvPr/>
          </p:nvSpPr>
          <p:spPr bwMode="auto">
            <a:xfrm>
              <a:off x="4284663" y="3398752"/>
              <a:ext cx="287337" cy="3590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2</a:t>
              </a:r>
            </a:p>
          </p:txBody>
        </p:sp>
        <p:sp>
          <p:nvSpPr>
            <p:cNvPr id="55" name="Text Box 69"/>
            <p:cNvSpPr txBox="1">
              <a:spLocks noChangeArrowheads="1"/>
            </p:cNvSpPr>
            <p:nvPr/>
          </p:nvSpPr>
          <p:spPr bwMode="auto">
            <a:xfrm>
              <a:off x="3092174" y="2533583"/>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2</a:t>
              </a:r>
            </a:p>
          </p:txBody>
        </p:sp>
        <p:sp>
          <p:nvSpPr>
            <p:cNvPr id="56" name="Text Box 69"/>
            <p:cNvSpPr txBox="1">
              <a:spLocks noChangeArrowheads="1"/>
            </p:cNvSpPr>
            <p:nvPr/>
          </p:nvSpPr>
          <p:spPr bwMode="auto">
            <a:xfrm>
              <a:off x="4910322" y="2618773"/>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2</a:t>
              </a:r>
            </a:p>
          </p:txBody>
        </p:sp>
        <p:sp>
          <p:nvSpPr>
            <p:cNvPr id="57" name="Text Box 69"/>
            <p:cNvSpPr txBox="1">
              <a:spLocks noChangeArrowheads="1"/>
            </p:cNvSpPr>
            <p:nvPr/>
          </p:nvSpPr>
          <p:spPr bwMode="auto">
            <a:xfrm>
              <a:off x="5424580" y="2618773"/>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3</a:t>
              </a:r>
            </a:p>
          </p:txBody>
        </p:sp>
        <p:sp>
          <p:nvSpPr>
            <p:cNvPr id="58" name="Text Box 69"/>
            <p:cNvSpPr txBox="1">
              <a:spLocks noChangeArrowheads="1"/>
            </p:cNvSpPr>
            <p:nvPr/>
          </p:nvSpPr>
          <p:spPr bwMode="auto">
            <a:xfrm>
              <a:off x="3670301" y="2719300"/>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3</a:t>
              </a:r>
            </a:p>
          </p:txBody>
        </p:sp>
        <p:sp>
          <p:nvSpPr>
            <p:cNvPr id="59" name="Text Box 69"/>
            <p:cNvSpPr txBox="1">
              <a:spLocks noChangeArrowheads="1"/>
            </p:cNvSpPr>
            <p:nvPr/>
          </p:nvSpPr>
          <p:spPr bwMode="auto">
            <a:xfrm>
              <a:off x="4678362" y="3398753"/>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3</a:t>
              </a:r>
            </a:p>
          </p:txBody>
        </p:sp>
        <p:sp>
          <p:nvSpPr>
            <p:cNvPr id="60" name="Text Box 69"/>
            <p:cNvSpPr txBox="1">
              <a:spLocks noChangeArrowheads="1"/>
            </p:cNvSpPr>
            <p:nvPr/>
          </p:nvSpPr>
          <p:spPr bwMode="auto">
            <a:xfrm>
              <a:off x="3851274" y="2331434"/>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4</a:t>
              </a:r>
            </a:p>
          </p:txBody>
        </p:sp>
        <p:sp>
          <p:nvSpPr>
            <p:cNvPr id="61" name="Text Box 69"/>
            <p:cNvSpPr txBox="1">
              <a:spLocks noChangeArrowheads="1"/>
            </p:cNvSpPr>
            <p:nvPr/>
          </p:nvSpPr>
          <p:spPr bwMode="auto">
            <a:xfrm>
              <a:off x="4787901" y="3078076"/>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4</a:t>
              </a:r>
            </a:p>
          </p:txBody>
        </p:sp>
        <p:sp>
          <p:nvSpPr>
            <p:cNvPr id="62" name="Text Box 69"/>
            <p:cNvSpPr txBox="1">
              <a:spLocks noChangeArrowheads="1"/>
            </p:cNvSpPr>
            <p:nvPr/>
          </p:nvSpPr>
          <p:spPr bwMode="auto">
            <a:xfrm>
              <a:off x="5508625" y="2287501"/>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4</a:t>
              </a:r>
            </a:p>
          </p:txBody>
        </p:sp>
        <p:sp>
          <p:nvSpPr>
            <p:cNvPr id="63" name="Line 24"/>
            <p:cNvSpPr>
              <a:spLocks noChangeShapeType="1"/>
            </p:cNvSpPr>
            <p:nvPr/>
          </p:nvSpPr>
          <p:spPr bwMode="auto">
            <a:xfrm flipH="1" flipV="1">
              <a:off x="4438650" y="2049376"/>
              <a:ext cx="114300" cy="1162050"/>
            </a:xfrm>
            <a:prstGeom prst="line">
              <a:avLst/>
            </a:prstGeom>
            <a:noFill/>
            <a:ln w="28575">
              <a:solidFill>
                <a:srgbClr val="9900CC"/>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 name="Line 24"/>
            <p:cNvSpPr>
              <a:spLocks noChangeShapeType="1"/>
            </p:cNvSpPr>
            <p:nvPr/>
          </p:nvSpPr>
          <p:spPr bwMode="auto">
            <a:xfrm flipH="1" flipV="1">
              <a:off x="4572000" y="2070014"/>
              <a:ext cx="647700" cy="433387"/>
            </a:xfrm>
            <a:prstGeom prst="line">
              <a:avLst/>
            </a:prstGeom>
            <a:noFill/>
            <a:ln w="28575">
              <a:solidFill>
                <a:srgbClr val="9900CC"/>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pic>
          <p:nvPicPr>
            <p:cNvPr id="15" name="Picture 2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84663" y="1350876"/>
              <a:ext cx="3079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3" name="矩形 2"/>
          <p:cNvSpPr/>
          <p:nvPr/>
        </p:nvSpPr>
        <p:spPr>
          <a:xfrm>
            <a:off x="5566349" y="1203706"/>
            <a:ext cx="2844319" cy="1502976"/>
          </a:xfrm>
          <a:prstGeom prst="rect">
            <a:avLst/>
          </a:prstGeom>
          <a:solidFill>
            <a:schemeClr val="bg1"/>
          </a:solidFill>
        </p:spPr>
        <p:txBody>
          <a:bodyPr wrap="square">
            <a:spAutoFit/>
          </a:bodyPr>
          <a:lstStyle/>
          <a:p>
            <a:pPr>
              <a:lnSpc>
                <a:spcPts val="2200"/>
              </a:lnSpc>
            </a:pPr>
            <a:r>
              <a:rPr lang="zh-CN" altLang="en-US" sz="1400" b="1" dirty="0">
                <a:solidFill>
                  <a:srgbClr val="0000FF"/>
                </a:solidFill>
                <a:latin typeface="微软雅黑" panose="020B0503020204020204" pitchFamily="34" charset="-122"/>
                <a:ea typeface="微软雅黑" panose="020B0503020204020204" pitchFamily="34" charset="-122"/>
              </a:rPr>
              <a:t>转发规则：</a:t>
            </a:r>
            <a:endParaRPr lang="en-US" altLang="zh-CN" sz="1400" b="1" dirty="0">
              <a:solidFill>
                <a:srgbClr val="0000FF"/>
              </a:solidFill>
              <a:latin typeface="微软雅黑" panose="020B0503020204020204" pitchFamily="34" charset="-122"/>
              <a:ea typeface="微软雅黑" panose="020B0503020204020204" pitchFamily="34" charset="-122"/>
            </a:endParaRPr>
          </a:p>
          <a:p>
            <a:pPr>
              <a:lnSpc>
                <a:spcPts val="2200"/>
              </a:lnSpc>
            </a:pPr>
            <a:r>
              <a:rPr lang="zh-CN" altLang="en-US" sz="1400" b="1" dirty="0">
                <a:latin typeface="微软雅黑" panose="020B0503020204020204" pitchFamily="34" charset="-122"/>
                <a:ea typeface="微软雅黑" panose="020B0503020204020204" pitchFamily="34" charset="-122"/>
              </a:rPr>
              <a:t>从 </a:t>
            </a:r>
            <a:r>
              <a:rPr lang="en-US" altLang="zh-CN" sz="1400" b="1" dirty="0">
                <a:latin typeface="微软雅黑" panose="020B0503020204020204" pitchFamily="34" charset="-122"/>
                <a:ea typeface="微软雅黑" panose="020B0503020204020204" pitchFamily="34" charset="-122"/>
              </a:rPr>
              <a:t>H</a:t>
            </a:r>
            <a:r>
              <a:rPr lang="en-US" altLang="zh-CN" sz="1400" b="1" baseline="-25000" dirty="0">
                <a:latin typeface="微软雅黑" panose="020B0503020204020204" pitchFamily="34" charset="-122"/>
                <a:ea typeface="微软雅黑" panose="020B0503020204020204" pitchFamily="34" charset="-122"/>
              </a:rPr>
              <a:t>3</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发往主机 </a:t>
            </a:r>
            <a:r>
              <a:rPr lang="en-US" altLang="zh-CN" sz="1400" b="1" dirty="0">
                <a:latin typeface="微软雅黑" panose="020B0503020204020204" pitchFamily="34" charset="-122"/>
                <a:ea typeface="微软雅黑" panose="020B0503020204020204" pitchFamily="34" charset="-122"/>
              </a:rPr>
              <a:t>10.1.*.* </a:t>
            </a:r>
            <a:r>
              <a:rPr lang="zh-CN" altLang="en-US" sz="1400" b="1" dirty="0">
                <a:latin typeface="微软雅黑" panose="020B0503020204020204" pitchFamily="34" charset="-122"/>
                <a:ea typeface="微软雅黑" panose="020B0503020204020204" pitchFamily="34" charset="-122"/>
              </a:rPr>
              <a:t>的分组，其转发路径为 </a:t>
            </a:r>
            <a:r>
              <a:rPr lang="en-US" altLang="zh-CN" sz="1400" b="1" dirty="0">
                <a:latin typeface="微软雅黑" panose="020B0503020204020204" pitchFamily="34" charset="-122"/>
                <a:ea typeface="微软雅黑" panose="020B0503020204020204" pitchFamily="34" charset="-122"/>
              </a:rPr>
              <a:t>S</a:t>
            </a:r>
            <a:r>
              <a:rPr lang="en-US" altLang="zh-CN" sz="1400" b="1" baseline="-25000" dirty="0">
                <a:latin typeface="微软雅黑" panose="020B0503020204020204" pitchFamily="34" charset="-122"/>
                <a:ea typeface="微软雅黑" panose="020B0503020204020204" pitchFamily="34" charset="-122"/>
              </a:rPr>
              <a:t>2</a:t>
            </a:r>
            <a:r>
              <a:rPr lang="en-US" altLang="zh-CN" sz="1400" b="1" dirty="0">
                <a:latin typeface="微软雅黑" panose="020B0503020204020204" pitchFamily="34" charset="-122"/>
                <a:ea typeface="微软雅黑" panose="020B0503020204020204" pitchFamily="34" charset="-122"/>
              </a:rPr>
              <a:t> </a:t>
            </a:r>
            <a:r>
              <a:rPr lang="en-US" altLang="zh-CN" sz="1400" b="1" dirty="0">
                <a:latin typeface="微软雅黑" panose="020B0503020204020204" pitchFamily="34" charset="-122"/>
                <a:ea typeface="微软雅黑" panose="020B0503020204020204" pitchFamily="34" charset="-122"/>
                <a:sym typeface="Wingdings" panose="05000000000000000000" pitchFamily="2" charset="2"/>
              </a:rPr>
              <a:t></a:t>
            </a:r>
            <a:r>
              <a:rPr lang="en-US" altLang="zh-CN" sz="1400" b="1" dirty="0">
                <a:latin typeface="微软雅黑" panose="020B0503020204020204" pitchFamily="34" charset="-122"/>
                <a:ea typeface="微软雅黑" panose="020B0503020204020204" pitchFamily="34" charset="-122"/>
              </a:rPr>
              <a:t> S</a:t>
            </a:r>
            <a:r>
              <a:rPr lang="en-US" altLang="zh-CN" sz="1400" b="1" baseline="-25000" dirty="0">
                <a:latin typeface="微软雅黑" panose="020B0503020204020204" pitchFamily="34" charset="-122"/>
                <a:ea typeface="微软雅黑" panose="020B0503020204020204" pitchFamily="34" charset="-122"/>
              </a:rPr>
              <a:t>1</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a:t>
            </a:r>
            <a:endParaRPr lang="en-US" altLang="zh-CN" sz="1400" b="1" dirty="0">
              <a:latin typeface="微软雅黑" panose="020B0503020204020204" pitchFamily="34" charset="-122"/>
              <a:ea typeface="微软雅黑" panose="020B0503020204020204" pitchFamily="34" charset="-122"/>
            </a:endParaRPr>
          </a:p>
          <a:p>
            <a:pPr>
              <a:lnSpc>
                <a:spcPts val="2200"/>
              </a:lnSpc>
            </a:pPr>
            <a:r>
              <a:rPr lang="zh-CN" altLang="en-US" sz="1400" b="1" dirty="0">
                <a:latin typeface="微软雅黑" panose="020B0503020204020204" pitchFamily="34" charset="-122"/>
                <a:ea typeface="微软雅黑" panose="020B0503020204020204" pitchFamily="34" charset="-122"/>
              </a:rPr>
              <a:t>从 </a:t>
            </a:r>
            <a:r>
              <a:rPr lang="en-US" altLang="zh-CN" sz="1400" b="1" dirty="0">
                <a:latin typeface="微软雅黑" panose="020B0503020204020204" pitchFamily="34" charset="-122"/>
                <a:ea typeface="微软雅黑" panose="020B0503020204020204" pitchFamily="34" charset="-122"/>
              </a:rPr>
              <a:t>H</a:t>
            </a:r>
            <a:r>
              <a:rPr lang="en-US" altLang="zh-CN" sz="1400" b="1" baseline="-25000" dirty="0">
                <a:latin typeface="微软雅黑" panose="020B0503020204020204" pitchFamily="34" charset="-122"/>
                <a:ea typeface="微软雅黑" panose="020B0503020204020204" pitchFamily="34" charset="-122"/>
              </a:rPr>
              <a:t>4</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发往主机 </a:t>
            </a:r>
            <a:r>
              <a:rPr lang="en-US" altLang="zh-CN" sz="1400" b="1" dirty="0">
                <a:latin typeface="微软雅黑" panose="020B0503020204020204" pitchFamily="34" charset="-122"/>
                <a:ea typeface="微软雅黑" panose="020B0503020204020204" pitchFamily="34" charset="-122"/>
              </a:rPr>
              <a:t>10.1.*.* </a:t>
            </a:r>
            <a:r>
              <a:rPr lang="zh-CN" altLang="en-US" sz="1400" b="1" dirty="0">
                <a:latin typeface="微软雅黑" panose="020B0503020204020204" pitchFamily="34" charset="-122"/>
                <a:ea typeface="微软雅黑" panose="020B0503020204020204" pitchFamily="34" charset="-122"/>
              </a:rPr>
              <a:t>的分组，其转发路径为 </a:t>
            </a:r>
            <a:r>
              <a:rPr lang="en-US" altLang="zh-CN" sz="1400" b="1" dirty="0">
                <a:latin typeface="微软雅黑" panose="020B0503020204020204" pitchFamily="34" charset="-122"/>
                <a:ea typeface="微软雅黑" panose="020B0503020204020204" pitchFamily="34" charset="-122"/>
              </a:rPr>
              <a:t>S</a:t>
            </a:r>
            <a:r>
              <a:rPr lang="en-US" altLang="zh-CN" sz="1400" b="1" baseline="-25000" dirty="0">
                <a:latin typeface="微软雅黑" panose="020B0503020204020204" pitchFamily="34" charset="-122"/>
                <a:ea typeface="微软雅黑" panose="020B0503020204020204" pitchFamily="34" charset="-122"/>
              </a:rPr>
              <a:t>2</a:t>
            </a:r>
            <a:r>
              <a:rPr lang="en-US" altLang="zh-CN" sz="1400" b="1" dirty="0">
                <a:latin typeface="微软雅黑" panose="020B0503020204020204" pitchFamily="34" charset="-122"/>
                <a:ea typeface="微软雅黑" panose="020B0503020204020204" pitchFamily="34" charset="-122"/>
              </a:rPr>
              <a:t> </a:t>
            </a:r>
            <a:r>
              <a:rPr lang="en-US" altLang="zh-CN" sz="1400" b="1" dirty="0">
                <a:latin typeface="微软雅黑" panose="020B0503020204020204" pitchFamily="34" charset="-122"/>
                <a:ea typeface="微软雅黑" panose="020B0503020204020204" pitchFamily="34" charset="-122"/>
                <a:sym typeface="Wingdings" panose="05000000000000000000" pitchFamily="2" charset="2"/>
              </a:rPr>
              <a:t></a:t>
            </a:r>
            <a:r>
              <a:rPr lang="en-US" altLang="zh-CN" sz="1400" b="1" dirty="0">
                <a:latin typeface="微软雅黑" panose="020B0503020204020204" pitchFamily="34" charset="-122"/>
                <a:ea typeface="微软雅黑" panose="020B0503020204020204" pitchFamily="34" charset="-122"/>
              </a:rPr>
              <a:t> S</a:t>
            </a:r>
            <a:r>
              <a:rPr lang="en-US" altLang="zh-CN" sz="1400" b="1" baseline="-25000" dirty="0">
                <a:latin typeface="微软雅黑" panose="020B0503020204020204" pitchFamily="34" charset="-122"/>
                <a:ea typeface="微软雅黑" panose="020B0503020204020204" pitchFamily="34" charset="-122"/>
              </a:rPr>
              <a:t>3</a:t>
            </a:r>
            <a:r>
              <a:rPr lang="en-US" altLang="zh-CN" sz="1400" b="1" dirty="0">
                <a:latin typeface="微软雅黑" panose="020B0503020204020204" pitchFamily="34" charset="-122"/>
                <a:ea typeface="微软雅黑" panose="020B0503020204020204" pitchFamily="34" charset="-122"/>
              </a:rPr>
              <a:t> </a:t>
            </a:r>
            <a:r>
              <a:rPr lang="en-US" altLang="zh-CN" sz="1400" b="1" dirty="0">
                <a:latin typeface="微软雅黑" panose="020B0503020204020204" pitchFamily="34" charset="-122"/>
                <a:ea typeface="微软雅黑" panose="020B0503020204020204" pitchFamily="34" charset="-122"/>
                <a:sym typeface="Wingdings" panose="05000000000000000000" pitchFamily="2" charset="2"/>
              </a:rPr>
              <a:t></a:t>
            </a:r>
            <a:r>
              <a:rPr lang="en-US" altLang="zh-CN" sz="1400" b="1" dirty="0">
                <a:latin typeface="微软雅黑" panose="020B0503020204020204" pitchFamily="34" charset="-122"/>
                <a:ea typeface="微软雅黑" panose="020B0503020204020204" pitchFamily="34" charset="-122"/>
              </a:rPr>
              <a:t> S</a:t>
            </a:r>
            <a:r>
              <a:rPr lang="en-US" altLang="zh-CN" sz="1400" b="1" baseline="-25000" dirty="0">
                <a:latin typeface="微软雅黑" panose="020B0503020204020204" pitchFamily="34" charset="-122"/>
                <a:ea typeface="微软雅黑" panose="020B0503020204020204" pitchFamily="34" charset="-122"/>
              </a:rPr>
              <a:t>1</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a:t>
            </a:r>
          </a:p>
        </p:txBody>
      </p:sp>
      <p:graphicFrame>
        <p:nvGraphicFramePr>
          <p:cNvPr id="66" name="表格 65"/>
          <p:cNvGraphicFramePr>
            <a:graphicFrameLocks noGrp="1"/>
          </p:cNvGraphicFramePr>
          <p:nvPr>
            <p:extLst>
              <p:ext uri="{D42A27DB-BD31-4B8C-83A1-F6EECF244321}">
                <p14:modId xmlns:p14="http://schemas.microsoft.com/office/powerpoint/2010/main" val="743162934"/>
              </p:ext>
            </p:extLst>
          </p:nvPr>
        </p:nvGraphicFramePr>
        <p:xfrm>
          <a:off x="2286140" y="3232121"/>
          <a:ext cx="4096553" cy="796672"/>
        </p:xfrm>
        <a:graphic>
          <a:graphicData uri="http://schemas.openxmlformats.org/drawingml/2006/table">
            <a:tbl>
              <a:tblPr firstRow="1" firstCol="1" bandRow="1"/>
              <a:tblGrid>
                <a:gridCol w="3145939">
                  <a:extLst>
                    <a:ext uri="{9D8B030D-6E8A-4147-A177-3AD203B41FA5}">
                      <a16:colId xmlns:a16="http://schemas.microsoft.com/office/drawing/2014/main" val="3081916040"/>
                    </a:ext>
                  </a:extLst>
                </a:gridCol>
                <a:gridCol w="950614">
                  <a:extLst>
                    <a:ext uri="{9D8B030D-6E8A-4147-A177-3AD203B41FA5}">
                      <a16:colId xmlns:a16="http://schemas.microsoft.com/office/drawing/2014/main" val="1076454317"/>
                    </a:ext>
                  </a:extLst>
                </a:gridCol>
              </a:tblGrid>
              <a:tr h="191777">
                <a:tc>
                  <a:txBody>
                    <a:bodyPr/>
                    <a:lstStyle/>
                    <a:p>
                      <a:pPr marL="0" indent="0" algn="ctr" fontAlgn="base">
                        <a:lnSpc>
                          <a:spcPts val="1560"/>
                        </a:lnSpc>
                        <a:spcAft>
                          <a:spcPts val="0"/>
                        </a:spcAft>
                      </a:pPr>
                      <a:r>
                        <a:rPr lang="zh-CN" sz="1200" b="1" kern="500" dirty="0">
                          <a:solidFill>
                            <a:schemeClr val="tx1"/>
                          </a:solidFill>
                          <a:effectLst/>
                          <a:latin typeface="微软雅黑" panose="020B0503020204020204" pitchFamily="34" charset="-122"/>
                          <a:ea typeface="微软雅黑" panose="020B0503020204020204" pitchFamily="34" charset="-122"/>
                          <a:cs typeface="+mn-cs"/>
                        </a:rPr>
                        <a:t>匹配</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0" algn="ctr" fontAlgn="base">
                        <a:lnSpc>
                          <a:spcPts val="1560"/>
                        </a:lnSpc>
                        <a:spcAft>
                          <a:spcPts val="0"/>
                        </a:spcAft>
                      </a:pPr>
                      <a:r>
                        <a:rPr lang="zh-CN" sz="1200" b="1" kern="500" dirty="0">
                          <a:solidFill>
                            <a:schemeClr val="tx1"/>
                          </a:solidFill>
                          <a:effectLst/>
                          <a:latin typeface="微软雅黑" panose="020B0503020204020204" pitchFamily="34" charset="-122"/>
                          <a:ea typeface="微软雅黑" panose="020B0503020204020204" pitchFamily="34" charset="-122"/>
                          <a:cs typeface="+mn-cs"/>
                        </a:rPr>
                        <a:t>动作</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14936622"/>
                  </a:ext>
                </a:extLst>
              </a:tr>
              <a:tr h="604895">
                <a:tc>
                  <a:txBody>
                    <a:bodyPr/>
                    <a:lstStyle/>
                    <a:p>
                      <a:pPr marL="0" indent="0" algn="just" fontAlgn="base">
                        <a:lnSpc>
                          <a:spcPts val="1560"/>
                        </a:lnSpc>
                        <a:spcAft>
                          <a:spcPts val="0"/>
                        </a:spcAft>
                      </a:pPr>
                      <a:r>
                        <a:rPr lang="zh-CN" altLang="en-US" sz="1200" b="1" kern="500" dirty="0">
                          <a:solidFill>
                            <a:schemeClr val="tx1"/>
                          </a:solidFill>
                          <a:effectLst/>
                          <a:latin typeface="微软雅黑" panose="020B0503020204020204" pitchFamily="34" charset="-122"/>
                          <a:ea typeface="微软雅黑" panose="020B0503020204020204" pitchFamily="34" charset="-122"/>
                          <a:cs typeface="+mn-cs"/>
                        </a:rPr>
                        <a:t>入端口 </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 3</a:t>
                      </a:r>
                      <a:r>
                        <a:rPr lang="zh-CN" altLang="en-US" sz="1200" b="1" kern="500" dirty="0">
                          <a:solidFill>
                            <a:schemeClr val="tx1"/>
                          </a:solidFill>
                          <a:effectLst/>
                          <a:latin typeface="微软雅黑" panose="020B0503020204020204" pitchFamily="34" charset="-122"/>
                          <a:ea typeface="微软雅黑" panose="020B0503020204020204" pitchFamily="34" charset="-122"/>
                          <a:cs typeface="+mn-cs"/>
                        </a:rPr>
                        <a:t>；</a:t>
                      </a:r>
                      <a:r>
                        <a:rPr lang="en-US" sz="1200" b="1" kern="500" dirty="0">
                          <a:solidFill>
                            <a:schemeClr val="tx1"/>
                          </a:solidFill>
                          <a:effectLst/>
                          <a:latin typeface="微软雅黑" panose="020B0503020204020204" pitchFamily="34" charset="-122"/>
                          <a:ea typeface="微软雅黑" panose="020B0503020204020204" pitchFamily="34" charset="-122"/>
                          <a:cs typeface="+mn-cs"/>
                        </a:rPr>
                        <a:t>IP </a:t>
                      </a:r>
                      <a:r>
                        <a:rPr lang="zh-CN" altLang="en-US" sz="1200" b="1" kern="500" dirty="0">
                          <a:solidFill>
                            <a:schemeClr val="tx1"/>
                          </a:solidFill>
                          <a:effectLst/>
                          <a:latin typeface="微软雅黑" panose="020B0503020204020204" pitchFamily="34" charset="-122"/>
                          <a:ea typeface="微软雅黑" panose="020B0503020204020204" pitchFamily="34" charset="-122"/>
                          <a:cs typeface="+mn-cs"/>
                        </a:rPr>
                        <a:t>目的地址 </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 10.1.*.*</a:t>
                      </a:r>
                    </a:p>
                    <a:p>
                      <a:pPr marL="0" indent="0" algn="just" fontAlgn="base">
                        <a:lnSpc>
                          <a:spcPts val="1560"/>
                        </a:lnSpc>
                        <a:spcAft>
                          <a:spcPts val="0"/>
                        </a:spcAft>
                      </a:pPr>
                      <a:r>
                        <a:rPr lang="zh-CN" altLang="en-US" sz="1200" b="1" kern="500" dirty="0">
                          <a:solidFill>
                            <a:schemeClr val="tx1"/>
                          </a:solidFill>
                          <a:effectLst/>
                          <a:latin typeface="微软雅黑" panose="020B0503020204020204" pitchFamily="34" charset="-122"/>
                          <a:ea typeface="微软雅黑" panose="020B0503020204020204" pitchFamily="34" charset="-122"/>
                          <a:cs typeface="+mn-cs"/>
                        </a:rPr>
                        <a:t>入端口 </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 4</a:t>
                      </a:r>
                      <a:r>
                        <a:rPr lang="zh-CN" altLang="en-US" sz="1200" b="1" kern="500" dirty="0">
                          <a:solidFill>
                            <a:schemeClr val="tx1"/>
                          </a:solidFill>
                          <a:effectLst/>
                          <a:latin typeface="微软雅黑" panose="020B0503020204020204" pitchFamily="34" charset="-122"/>
                          <a:ea typeface="微软雅黑" panose="020B0503020204020204" pitchFamily="34" charset="-122"/>
                          <a:cs typeface="+mn-cs"/>
                        </a:rPr>
                        <a:t>；</a:t>
                      </a:r>
                      <a:r>
                        <a:rPr lang="en-US" sz="1200" b="1" kern="500" dirty="0">
                          <a:solidFill>
                            <a:schemeClr val="tx1"/>
                          </a:solidFill>
                          <a:effectLst/>
                          <a:latin typeface="微软雅黑" panose="020B0503020204020204" pitchFamily="34" charset="-122"/>
                          <a:ea typeface="微软雅黑" panose="020B0503020204020204" pitchFamily="34" charset="-122"/>
                          <a:cs typeface="+mn-cs"/>
                        </a:rPr>
                        <a:t>IP </a:t>
                      </a:r>
                      <a:r>
                        <a:rPr lang="zh-CN" altLang="en-US" sz="1200" b="1" kern="500" dirty="0">
                          <a:solidFill>
                            <a:schemeClr val="tx1"/>
                          </a:solidFill>
                          <a:effectLst/>
                          <a:latin typeface="微软雅黑" panose="020B0503020204020204" pitchFamily="34" charset="-122"/>
                          <a:ea typeface="微软雅黑" panose="020B0503020204020204" pitchFamily="34" charset="-122"/>
                          <a:cs typeface="+mn-cs"/>
                        </a:rPr>
                        <a:t>目的地址 </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 10.1.*.*</a:t>
                      </a:r>
                      <a:endParaRPr lang="en-US" sz="1200" b="1" kern="500" dirty="0">
                        <a:solidFill>
                          <a:schemeClr val="tx1"/>
                        </a:solidFill>
                        <a:effectLst/>
                        <a:latin typeface="微软雅黑" panose="020B0503020204020204" pitchFamily="34" charset="-122"/>
                        <a:ea typeface="微软雅黑" panose="020B0503020204020204" pitchFamily="34" charset="-122"/>
                        <a:cs typeface="+mn-cs"/>
                      </a:endParaRPr>
                    </a:p>
                    <a:p>
                      <a:pPr marL="0" indent="0" algn="ctr" fontAlgn="base">
                        <a:lnSpc>
                          <a:spcPts val="1560"/>
                        </a:lnSpc>
                        <a:spcAft>
                          <a:spcPts val="0"/>
                        </a:spcAft>
                      </a:pPr>
                      <a:r>
                        <a:rPr lang="en-US" sz="1200" b="1" kern="500" dirty="0">
                          <a:solidFill>
                            <a:schemeClr val="tx1"/>
                          </a:solidFill>
                          <a:effectLst/>
                          <a:latin typeface="微软雅黑" panose="020B0503020204020204" pitchFamily="34" charset="-122"/>
                          <a:ea typeface="微软雅黑" panose="020B0503020204020204" pitchFamily="34" charset="-122"/>
                          <a:cs typeface="+mn-cs"/>
                        </a:rPr>
                        <a:t>······</a:t>
                      </a:r>
                      <a:endParaRPr lang="zh-CN" sz="1200" b="1" kern="500" dirty="0">
                        <a:solidFill>
                          <a:schemeClr val="tx1"/>
                        </a:solidFill>
                        <a:effectLst/>
                        <a:latin typeface="微软雅黑" panose="020B0503020204020204" pitchFamily="34" charset="-122"/>
                        <a:ea typeface="微软雅黑" panose="020B0503020204020204" pitchFamily="34" charset="-122"/>
                        <a:cs typeface="+mn-cs"/>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0" algn="ctr" fontAlgn="base">
                        <a:lnSpc>
                          <a:spcPts val="1560"/>
                        </a:lnSpc>
                        <a:spcAft>
                          <a:spcPts val="0"/>
                        </a:spcAft>
                      </a:pPr>
                      <a:r>
                        <a:rPr lang="zh-CN" sz="1200" b="1" kern="500" dirty="0">
                          <a:solidFill>
                            <a:schemeClr val="tx1"/>
                          </a:solidFill>
                          <a:effectLst/>
                          <a:latin typeface="微软雅黑" panose="020B0503020204020204" pitchFamily="34" charset="-122"/>
                          <a:ea typeface="微软雅黑" panose="020B0503020204020204" pitchFamily="34" charset="-122"/>
                          <a:cs typeface="+mn-cs"/>
                        </a:rPr>
                        <a:t>转发</a:t>
                      </a:r>
                      <a:r>
                        <a:rPr lang="en-US" sz="1200" b="1" kern="500" dirty="0">
                          <a:solidFill>
                            <a:schemeClr val="tx1"/>
                          </a:solidFill>
                          <a:effectLst/>
                          <a:latin typeface="微软雅黑" panose="020B0503020204020204" pitchFamily="34" charset="-122"/>
                          <a:ea typeface="微软雅黑" panose="020B0503020204020204" pitchFamily="34" charset="-122"/>
                          <a:cs typeface="+mn-cs"/>
                        </a:rPr>
                        <a:t>(</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2</a:t>
                      </a:r>
                      <a:r>
                        <a:rPr lang="en-US" sz="1200" b="1" kern="500" dirty="0">
                          <a:solidFill>
                            <a:schemeClr val="tx1"/>
                          </a:solidFill>
                          <a:effectLst/>
                          <a:latin typeface="微软雅黑" panose="020B0503020204020204" pitchFamily="34" charset="-122"/>
                          <a:ea typeface="微软雅黑" panose="020B0503020204020204" pitchFamily="34" charset="-122"/>
                          <a:cs typeface="+mn-cs"/>
                        </a:rPr>
                        <a:t>)</a:t>
                      </a:r>
                      <a:endParaRPr lang="zh-CN" sz="1200" b="1" kern="500" dirty="0">
                        <a:solidFill>
                          <a:schemeClr val="tx1"/>
                        </a:solidFill>
                        <a:effectLst/>
                        <a:latin typeface="微软雅黑" panose="020B0503020204020204" pitchFamily="34" charset="-122"/>
                        <a:ea typeface="微软雅黑" panose="020B0503020204020204" pitchFamily="34" charset="-122"/>
                        <a:cs typeface="+mn-cs"/>
                      </a:endParaRPr>
                    </a:p>
                    <a:p>
                      <a:pPr marL="0" indent="0" algn="ctr" fontAlgn="base">
                        <a:lnSpc>
                          <a:spcPts val="1560"/>
                        </a:lnSpc>
                        <a:spcAft>
                          <a:spcPts val="0"/>
                        </a:spcAft>
                      </a:pPr>
                      <a:r>
                        <a:rPr lang="zh-CN" sz="1200" b="1" kern="500" dirty="0">
                          <a:solidFill>
                            <a:schemeClr val="tx1"/>
                          </a:solidFill>
                          <a:effectLst/>
                          <a:latin typeface="微软雅黑" panose="020B0503020204020204" pitchFamily="34" charset="-122"/>
                          <a:ea typeface="微软雅黑" panose="020B0503020204020204" pitchFamily="34" charset="-122"/>
                          <a:cs typeface="+mn-cs"/>
                        </a:rPr>
                        <a:t>转发</a:t>
                      </a:r>
                      <a:r>
                        <a:rPr lang="en-US" sz="1200" b="1" kern="500" dirty="0">
                          <a:solidFill>
                            <a:schemeClr val="tx1"/>
                          </a:solidFill>
                          <a:effectLst/>
                          <a:latin typeface="微软雅黑" panose="020B0503020204020204" pitchFamily="34" charset="-122"/>
                          <a:ea typeface="微软雅黑" panose="020B0503020204020204" pitchFamily="34" charset="-122"/>
                          <a:cs typeface="+mn-cs"/>
                        </a:rPr>
                        <a:t>(</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1</a:t>
                      </a:r>
                      <a:r>
                        <a:rPr lang="en-US" sz="1200" b="1" kern="500" dirty="0">
                          <a:solidFill>
                            <a:schemeClr val="tx1"/>
                          </a:solidFill>
                          <a:effectLst/>
                          <a:latin typeface="微软雅黑" panose="020B0503020204020204" pitchFamily="34" charset="-122"/>
                          <a:ea typeface="微软雅黑" panose="020B0503020204020204" pitchFamily="34" charset="-122"/>
                          <a:cs typeface="+mn-cs"/>
                        </a:rPr>
                        <a:t>)</a:t>
                      </a:r>
                      <a:endParaRPr lang="zh-CN" sz="1200" b="1" kern="500" dirty="0">
                        <a:solidFill>
                          <a:schemeClr val="tx1"/>
                        </a:solidFill>
                        <a:effectLst/>
                        <a:latin typeface="微软雅黑" panose="020B0503020204020204" pitchFamily="34" charset="-122"/>
                        <a:ea typeface="微软雅黑" panose="020B0503020204020204" pitchFamily="34" charset="-122"/>
                        <a:cs typeface="+mn-cs"/>
                      </a:endParaRPr>
                    </a:p>
                    <a:p>
                      <a:pPr marL="0" indent="0" algn="ctr" fontAlgn="base">
                        <a:lnSpc>
                          <a:spcPts val="1560"/>
                        </a:lnSpc>
                        <a:spcAft>
                          <a:spcPts val="0"/>
                        </a:spcAft>
                      </a:pPr>
                      <a:r>
                        <a:rPr lang="en-US" sz="1200" b="1" kern="500" dirty="0">
                          <a:solidFill>
                            <a:schemeClr val="tx1"/>
                          </a:solidFill>
                          <a:effectLst/>
                          <a:latin typeface="微软雅黑" panose="020B0503020204020204" pitchFamily="34" charset="-122"/>
                          <a:ea typeface="微软雅黑" panose="020B0503020204020204" pitchFamily="34" charset="-122"/>
                          <a:cs typeface="+mn-cs"/>
                        </a:rPr>
                        <a:t>······</a:t>
                      </a:r>
                      <a:endParaRPr lang="zh-CN" sz="1200" b="1" kern="500" dirty="0">
                        <a:solidFill>
                          <a:schemeClr val="tx1"/>
                        </a:solidFill>
                        <a:effectLst/>
                        <a:latin typeface="微软雅黑" panose="020B0503020204020204" pitchFamily="34" charset="-122"/>
                        <a:ea typeface="微软雅黑" panose="020B0503020204020204" pitchFamily="34" charset="-122"/>
                        <a:cs typeface="+mn-cs"/>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62329798"/>
                  </a:ext>
                </a:extLst>
              </a:tr>
            </a:tbl>
          </a:graphicData>
        </a:graphic>
      </p:graphicFrame>
      <p:sp>
        <p:nvSpPr>
          <p:cNvPr id="68" name="矩形 67"/>
          <p:cNvSpPr/>
          <p:nvPr/>
        </p:nvSpPr>
        <p:spPr>
          <a:xfrm>
            <a:off x="3958609" y="2993079"/>
            <a:ext cx="694421" cy="276999"/>
          </a:xfrm>
          <a:prstGeom prst="rect">
            <a:avLst/>
          </a:prstGeom>
        </p:spPr>
        <p:txBody>
          <a:bodyPr wrap="none">
            <a:spAutoFit/>
          </a:bodyPr>
          <a:lstStyle/>
          <a:p>
            <a:r>
              <a:rPr lang="en-US" altLang="zh-CN" sz="1200" b="1" dirty="0">
                <a:solidFill>
                  <a:srgbClr val="000099"/>
                </a:solidFill>
                <a:latin typeface="微软雅黑" panose="020B0503020204020204" pitchFamily="34" charset="-122"/>
                <a:ea typeface="微软雅黑" panose="020B0503020204020204" pitchFamily="34" charset="-122"/>
              </a:rPr>
              <a:t>S</a:t>
            </a:r>
            <a:r>
              <a:rPr lang="en-US" altLang="zh-CN" sz="1200" b="1" baseline="-25000" dirty="0">
                <a:solidFill>
                  <a:srgbClr val="000099"/>
                </a:solidFill>
                <a:latin typeface="微软雅黑" panose="020B0503020204020204" pitchFamily="34" charset="-122"/>
                <a:ea typeface="微软雅黑" panose="020B0503020204020204" pitchFamily="34" charset="-122"/>
              </a:rPr>
              <a:t>2</a:t>
            </a:r>
            <a:r>
              <a:rPr lang="en-US" altLang="zh-CN" sz="1200" b="1" dirty="0">
                <a:solidFill>
                  <a:srgbClr val="000099"/>
                </a:solidFill>
                <a:latin typeface="微软雅黑" panose="020B0503020204020204" pitchFamily="34" charset="-122"/>
                <a:ea typeface="微软雅黑" panose="020B0503020204020204" pitchFamily="34" charset="-122"/>
              </a:rPr>
              <a:t> </a:t>
            </a:r>
            <a:r>
              <a:rPr lang="zh-CN" altLang="en-US" sz="1200" b="1" dirty="0">
                <a:solidFill>
                  <a:srgbClr val="000099"/>
                </a:solidFill>
                <a:latin typeface="微软雅黑" panose="020B0503020204020204" pitchFamily="34" charset="-122"/>
                <a:ea typeface="微软雅黑" panose="020B0503020204020204" pitchFamily="34" charset="-122"/>
              </a:rPr>
              <a:t>流表</a:t>
            </a:r>
          </a:p>
        </p:txBody>
      </p:sp>
    </p:spTree>
    <p:extLst>
      <p:ext uri="{BB962C8B-B14F-4D97-AF65-F5344CB8AC3E}">
        <p14:creationId xmlns:p14="http://schemas.microsoft.com/office/powerpoint/2010/main" val="27589822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wipe(up)">
                                      <p:cBhvr>
                                        <p:cTn id="7" dur="1000"/>
                                        <p:tgtEl>
                                          <p:spTgt spid="68"/>
                                        </p:tgtEl>
                                      </p:cBhvr>
                                    </p:animEffect>
                                  </p:childTnLst>
                                </p:cTn>
                              </p:par>
                            </p:childTnLst>
                          </p:cTn>
                        </p:par>
                        <p:par>
                          <p:cTn id="8" fill="hold">
                            <p:stCondLst>
                              <p:cond delay="1000"/>
                            </p:stCondLst>
                            <p:childTnLst>
                              <p:par>
                                <p:cTn id="9" presetID="22" presetClass="entr" presetSubtype="1" fill="hold" nodeType="afterEffect">
                                  <p:stCondLst>
                                    <p:cond delay="0"/>
                                  </p:stCondLst>
                                  <p:childTnLst>
                                    <p:set>
                                      <p:cBhvr>
                                        <p:cTn id="10" dur="1" fill="hold">
                                          <p:stCondLst>
                                            <p:cond delay="0"/>
                                          </p:stCondLst>
                                        </p:cTn>
                                        <p:tgtEl>
                                          <p:spTgt spid="66"/>
                                        </p:tgtEl>
                                        <p:attrNameLst>
                                          <p:attrName>style.visibility</p:attrName>
                                        </p:attrNameLst>
                                      </p:cBhvr>
                                      <p:to>
                                        <p:strVal val="visible"/>
                                      </p:to>
                                    </p:set>
                                    <p:animEffect transition="in" filter="wipe(up)">
                                      <p:cBhvr>
                                        <p:cTn id="11" dur="10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p:bldLst>
  </p:timing>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圆角矩形 64"/>
          <p:cNvSpPr/>
          <p:nvPr/>
        </p:nvSpPr>
        <p:spPr>
          <a:xfrm>
            <a:off x="545144" y="972296"/>
            <a:ext cx="8053711" cy="195197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7" name="AutoShape 5"/>
          <p:cNvSpPr>
            <a:spLocks noChangeArrowheads="1"/>
          </p:cNvSpPr>
          <p:nvPr/>
        </p:nvSpPr>
        <p:spPr bwMode="auto">
          <a:xfrm>
            <a:off x="545144" y="615972"/>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7"/>
          <p:cNvSpPr/>
          <p:nvPr/>
        </p:nvSpPr>
        <p:spPr>
          <a:xfrm>
            <a:off x="616085" y="557204"/>
            <a:ext cx="1723549" cy="400110"/>
          </a:xfrm>
          <a:prstGeom prst="rect">
            <a:avLst/>
          </a:prstGeom>
        </p:spPr>
        <p:txBody>
          <a:bodyPr wrap="none">
            <a:spAutoFit/>
          </a:bodyPr>
          <a:lstStyle/>
          <a:p>
            <a:r>
              <a:rPr lang="zh-CN" altLang="en-US" sz="2000" b="1" dirty="0">
                <a:latin typeface="微软雅黑" pitchFamily="34" charset="-122"/>
                <a:ea typeface="微软雅黑" pitchFamily="34" charset="-122"/>
              </a:rPr>
              <a:t>例子：防火墙</a:t>
            </a:r>
          </a:p>
        </p:txBody>
      </p:sp>
      <p:grpSp>
        <p:nvGrpSpPr>
          <p:cNvPr id="2" name="组合 1"/>
          <p:cNvGrpSpPr/>
          <p:nvPr/>
        </p:nvGrpSpPr>
        <p:grpSpPr>
          <a:xfrm>
            <a:off x="719362" y="1004699"/>
            <a:ext cx="4674957" cy="1829036"/>
            <a:chOff x="1405863" y="952215"/>
            <a:chExt cx="6068412" cy="3206955"/>
          </a:xfrm>
        </p:grpSpPr>
        <p:sp>
          <p:nvSpPr>
            <p:cNvPr id="9" name="Line 23"/>
            <p:cNvSpPr>
              <a:spLocks noChangeShapeType="1"/>
            </p:cNvSpPr>
            <p:nvPr/>
          </p:nvSpPr>
          <p:spPr bwMode="auto">
            <a:xfrm flipV="1">
              <a:off x="2627313" y="2646276"/>
              <a:ext cx="936625" cy="5048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 name="Line 24"/>
            <p:cNvSpPr>
              <a:spLocks noChangeShapeType="1"/>
            </p:cNvSpPr>
            <p:nvPr/>
          </p:nvSpPr>
          <p:spPr bwMode="auto">
            <a:xfrm flipV="1">
              <a:off x="3806467" y="1998575"/>
              <a:ext cx="549632" cy="530225"/>
            </a:xfrm>
            <a:prstGeom prst="line">
              <a:avLst/>
            </a:prstGeom>
            <a:noFill/>
            <a:ln w="28575">
              <a:solidFill>
                <a:srgbClr val="9900CC"/>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 name="Line 25"/>
            <p:cNvSpPr>
              <a:spLocks noChangeShapeType="1"/>
            </p:cNvSpPr>
            <p:nvPr/>
          </p:nvSpPr>
          <p:spPr bwMode="auto">
            <a:xfrm flipV="1">
              <a:off x="3810000" y="2601826"/>
              <a:ext cx="1381125" cy="444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 name="Line 26"/>
            <p:cNvSpPr>
              <a:spLocks noChangeShapeType="1"/>
            </p:cNvSpPr>
            <p:nvPr/>
          </p:nvSpPr>
          <p:spPr bwMode="auto">
            <a:xfrm flipV="1">
              <a:off x="5421313" y="2382751"/>
              <a:ext cx="931862" cy="2460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 name="Line 27"/>
            <p:cNvSpPr>
              <a:spLocks noChangeShapeType="1"/>
            </p:cNvSpPr>
            <p:nvPr/>
          </p:nvSpPr>
          <p:spPr bwMode="auto">
            <a:xfrm>
              <a:off x="3667125" y="2697076"/>
              <a:ext cx="866775" cy="64770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 name="Line 30"/>
            <p:cNvSpPr>
              <a:spLocks noChangeShapeType="1"/>
            </p:cNvSpPr>
            <p:nvPr/>
          </p:nvSpPr>
          <p:spPr bwMode="auto">
            <a:xfrm flipV="1">
              <a:off x="4683125" y="2725651"/>
              <a:ext cx="622300" cy="5778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 name="Text Box 69"/>
            <p:cNvSpPr txBox="1">
              <a:spLocks noChangeArrowheads="1"/>
            </p:cNvSpPr>
            <p:nvPr/>
          </p:nvSpPr>
          <p:spPr bwMode="auto">
            <a:xfrm>
              <a:off x="3516638" y="952215"/>
              <a:ext cx="1914759" cy="4856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err="1">
                  <a:latin typeface="微软雅黑" panose="020B0503020204020204" pitchFamily="34" charset="-122"/>
                  <a:ea typeface="微软雅黑" panose="020B0503020204020204" pitchFamily="34" charset="-122"/>
                </a:rPr>
                <a:t>OpenFlow</a:t>
              </a:r>
              <a:r>
                <a:rPr lang="en-US" altLang="zh-CN" sz="1200" b="1" dirty="0">
                  <a:latin typeface="微软雅黑" panose="020B0503020204020204" pitchFamily="34" charset="-122"/>
                  <a:ea typeface="微软雅黑" panose="020B0503020204020204" pitchFamily="34" charset="-122"/>
                </a:rPr>
                <a:t> </a:t>
              </a:r>
              <a:r>
                <a:rPr lang="zh-CN" altLang="en-US" sz="1200" b="1" dirty="0">
                  <a:latin typeface="微软雅黑" panose="020B0503020204020204" pitchFamily="34" charset="-122"/>
                  <a:ea typeface="微软雅黑" panose="020B0503020204020204" pitchFamily="34" charset="-122"/>
                </a:rPr>
                <a:t>控制器</a:t>
              </a:r>
              <a:endParaRPr lang="en-US" altLang="zh-CN" sz="1200" b="1" baseline="-25000" dirty="0">
                <a:latin typeface="微软雅黑" panose="020B0503020204020204" pitchFamily="34" charset="-122"/>
                <a:ea typeface="微软雅黑" panose="020B0503020204020204" pitchFamily="34" charset="-122"/>
              </a:endParaRPr>
            </a:p>
          </p:txBody>
        </p:sp>
        <p:sp>
          <p:nvSpPr>
            <p:cNvPr id="17" name="Text Box 65"/>
            <p:cNvSpPr txBox="1">
              <a:spLocks noChangeArrowheads="1"/>
            </p:cNvSpPr>
            <p:nvPr/>
          </p:nvSpPr>
          <p:spPr bwMode="auto">
            <a:xfrm>
              <a:off x="4488812" y="2825187"/>
              <a:ext cx="424902"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solidFill>
                    <a:srgbClr val="000099"/>
                  </a:solidFill>
                  <a:latin typeface="微软雅黑" panose="020B0503020204020204" pitchFamily="34" charset="-122"/>
                  <a:ea typeface="微软雅黑" panose="020B0503020204020204" pitchFamily="34" charset="-122"/>
                </a:rPr>
                <a:t>S</a:t>
              </a:r>
              <a:r>
                <a:rPr lang="en-US" altLang="zh-CN" sz="1100" b="1" baseline="-25000" dirty="0">
                  <a:solidFill>
                    <a:srgbClr val="000099"/>
                  </a:solidFill>
                  <a:latin typeface="微软雅黑" panose="020B0503020204020204" pitchFamily="34" charset="-122"/>
                  <a:ea typeface="微软雅黑" panose="020B0503020204020204" pitchFamily="34" charset="-122"/>
                </a:rPr>
                <a:t>1</a:t>
              </a:r>
            </a:p>
          </p:txBody>
        </p:sp>
        <p:sp>
          <p:nvSpPr>
            <p:cNvPr id="18" name="Text Box 65"/>
            <p:cNvSpPr txBox="1">
              <a:spLocks noChangeArrowheads="1"/>
            </p:cNvSpPr>
            <p:nvPr/>
          </p:nvSpPr>
          <p:spPr bwMode="auto">
            <a:xfrm>
              <a:off x="3492501" y="2131964"/>
              <a:ext cx="424902"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solidFill>
                    <a:srgbClr val="000099"/>
                  </a:solidFill>
                  <a:latin typeface="微软雅黑" panose="020B0503020204020204" pitchFamily="34" charset="-122"/>
                  <a:ea typeface="微软雅黑" panose="020B0503020204020204" pitchFamily="34" charset="-122"/>
                </a:rPr>
                <a:t>S</a:t>
              </a:r>
              <a:r>
                <a:rPr lang="en-US" altLang="zh-CN" sz="1100" b="1" baseline="-25000" dirty="0">
                  <a:solidFill>
                    <a:srgbClr val="000099"/>
                  </a:solidFill>
                  <a:latin typeface="微软雅黑" panose="020B0503020204020204" pitchFamily="34" charset="-122"/>
                  <a:ea typeface="微软雅黑" panose="020B0503020204020204" pitchFamily="34" charset="-122"/>
                </a:rPr>
                <a:t>3</a:t>
              </a:r>
            </a:p>
          </p:txBody>
        </p:sp>
        <p:sp>
          <p:nvSpPr>
            <p:cNvPr id="19" name="Text Box 65"/>
            <p:cNvSpPr txBox="1">
              <a:spLocks noChangeArrowheads="1"/>
            </p:cNvSpPr>
            <p:nvPr/>
          </p:nvSpPr>
          <p:spPr bwMode="auto">
            <a:xfrm>
              <a:off x="5148264" y="2131964"/>
              <a:ext cx="424902"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solidFill>
                    <a:srgbClr val="000099"/>
                  </a:solidFill>
                  <a:latin typeface="微软雅黑" panose="020B0503020204020204" pitchFamily="34" charset="-122"/>
                  <a:ea typeface="微软雅黑" panose="020B0503020204020204" pitchFamily="34" charset="-122"/>
                </a:rPr>
                <a:t>S</a:t>
              </a:r>
              <a:r>
                <a:rPr lang="en-US" altLang="zh-CN" sz="1100" b="1" baseline="-25000">
                  <a:solidFill>
                    <a:srgbClr val="000099"/>
                  </a:solidFill>
                  <a:latin typeface="微软雅黑" panose="020B0503020204020204" pitchFamily="34" charset="-122"/>
                  <a:ea typeface="微软雅黑" panose="020B0503020204020204" pitchFamily="34" charset="-122"/>
                </a:rPr>
                <a:t>2</a:t>
              </a:r>
            </a:p>
          </p:txBody>
        </p:sp>
        <p:grpSp>
          <p:nvGrpSpPr>
            <p:cNvPr id="20" name="组合 89"/>
            <p:cNvGrpSpPr>
              <a:grpSpLocks/>
            </p:cNvGrpSpPr>
            <p:nvPr/>
          </p:nvGrpSpPr>
          <p:grpSpPr bwMode="auto">
            <a:xfrm>
              <a:off x="6084888" y="1957326"/>
              <a:ext cx="574675" cy="617519"/>
              <a:chOff x="5220072" y="3315751"/>
              <a:chExt cx="576064" cy="617305"/>
            </a:xfrm>
          </p:grpSpPr>
          <p:pic>
            <p:nvPicPr>
              <p:cNvPr id="21"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 name="Text Box 67"/>
              <p:cNvSpPr txBox="1">
                <a:spLocks noChangeArrowheads="1"/>
              </p:cNvSpPr>
              <p:nvPr/>
            </p:nvSpPr>
            <p:spPr bwMode="auto">
              <a:xfrm>
                <a:off x="5294022" y="3315751"/>
                <a:ext cx="465558"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4</a:t>
                </a:r>
              </a:p>
            </p:txBody>
          </p:sp>
        </p:grpSp>
        <p:sp>
          <p:nvSpPr>
            <p:cNvPr id="23" name="Text Box 69"/>
            <p:cNvSpPr txBox="1">
              <a:spLocks noChangeArrowheads="1"/>
            </p:cNvSpPr>
            <p:nvPr/>
          </p:nvSpPr>
          <p:spPr bwMode="auto">
            <a:xfrm>
              <a:off x="6516688" y="2070014"/>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10.2.0.4</a:t>
              </a:r>
              <a:endParaRPr lang="en-US" altLang="zh-CN" sz="1100" b="1" baseline="-25000">
                <a:latin typeface="微软雅黑" panose="020B0503020204020204" pitchFamily="34" charset="-122"/>
                <a:ea typeface="微软雅黑" panose="020B0503020204020204" pitchFamily="34" charset="-122"/>
              </a:endParaRPr>
            </a:p>
          </p:txBody>
        </p:sp>
        <p:sp>
          <p:nvSpPr>
            <p:cNvPr id="24" name="Text Box 69"/>
            <p:cNvSpPr txBox="1">
              <a:spLocks noChangeArrowheads="1"/>
            </p:cNvSpPr>
            <p:nvPr/>
          </p:nvSpPr>
          <p:spPr bwMode="auto">
            <a:xfrm>
              <a:off x="6516688" y="2935202"/>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10.2.0.3</a:t>
              </a:r>
              <a:endParaRPr lang="en-US" altLang="zh-CN" sz="1100" b="1" baseline="-25000">
                <a:latin typeface="微软雅黑" panose="020B0503020204020204" pitchFamily="34" charset="-122"/>
                <a:ea typeface="微软雅黑" panose="020B0503020204020204" pitchFamily="34" charset="-122"/>
              </a:endParaRPr>
            </a:p>
          </p:txBody>
        </p:sp>
        <p:sp>
          <p:nvSpPr>
            <p:cNvPr id="25" name="Text Box 69"/>
            <p:cNvSpPr txBox="1">
              <a:spLocks noChangeArrowheads="1"/>
            </p:cNvSpPr>
            <p:nvPr/>
          </p:nvSpPr>
          <p:spPr bwMode="auto">
            <a:xfrm>
              <a:off x="2716871" y="3654340"/>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10.1.0.1</a:t>
              </a:r>
              <a:endParaRPr lang="en-US" altLang="zh-CN" sz="1100" b="1" baseline="-25000" dirty="0">
                <a:latin typeface="微软雅黑" panose="020B0503020204020204" pitchFamily="34" charset="-122"/>
                <a:ea typeface="微软雅黑" panose="020B0503020204020204" pitchFamily="34" charset="-122"/>
              </a:endParaRPr>
            </a:p>
          </p:txBody>
        </p:sp>
        <p:sp>
          <p:nvSpPr>
            <p:cNvPr id="26" name="Text Box 69"/>
            <p:cNvSpPr txBox="1">
              <a:spLocks noChangeArrowheads="1"/>
            </p:cNvSpPr>
            <p:nvPr/>
          </p:nvSpPr>
          <p:spPr bwMode="auto">
            <a:xfrm>
              <a:off x="5643048" y="3654340"/>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10.1.0.2</a:t>
              </a:r>
              <a:endParaRPr lang="en-US" altLang="zh-CN" sz="1100" b="1" baseline="-25000" dirty="0">
                <a:latin typeface="微软雅黑" panose="020B0503020204020204" pitchFamily="34" charset="-122"/>
                <a:ea typeface="微软雅黑" panose="020B0503020204020204" pitchFamily="34" charset="-122"/>
              </a:endParaRPr>
            </a:p>
          </p:txBody>
        </p:sp>
        <p:sp>
          <p:nvSpPr>
            <p:cNvPr id="27" name="Text Box 69"/>
            <p:cNvSpPr txBox="1">
              <a:spLocks noChangeArrowheads="1"/>
            </p:cNvSpPr>
            <p:nvPr/>
          </p:nvSpPr>
          <p:spPr bwMode="auto">
            <a:xfrm>
              <a:off x="1413799" y="2793914"/>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10.3.0.5</a:t>
              </a:r>
              <a:endParaRPr lang="en-US" altLang="zh-CN" sz="1100" b="1" baseline="-25000">
                <a:latin typeface="微软雅黑" panose="020B0503020204020204" pitchFamily="34" charset="-122"/>
                <a:ea typeface="微软雅黑" panose="020B0503020204020204" pitchFamily="34" charset="-122"/>
              </a:endParaRPr>
            </a:p>
          </p:txBody>
        </p:sp>
        <p:sp>
          <p:nvSpPr>
            <p:cNvPr id="28" name="Text Box 69"/>
            <p:cNvSpPr txBox="1">
              <a:spLocks noChangeArrowheads="1"/>
            </p:cNvSpPr>
            <p:nvPr/>
          </p:nvSpPr>
          <p:spPr bwMode="auto">
            <a:xfrm>
              <a:off x="1405863" y="2055726"/>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10.3.0.6</a:t>
              </a:r>
              <a:endParaRPr lang="en-US" altLang="zh-CN" sz="1100" b="1" baseline="-25000" dirty="0">
                <a:latin typeface="微软雅黑" panose="020B0503020204020204" pitchFamily="34" charset="-122"/>
                <a:ea typeface="微软雅黑" panose="020B0503020204020204" pitchFamily="34" charset="-122"/>
              </a:endParaRPr>
            </a:p>
          </p:txBody>
        </p:sp>
        <p:sp>
          <p:nvSpPr>
            <p:cNvPr id="29" name="Line 23"/>
            <p:cNvSpPr>
              <a:spLocks noChangeShapeType="1"/>
            </p:cNvSpPr>
            <p:nvPr/>
          </p:nvSpPr>
          <p:spPr bwMode="auto">
            <a:xfrm>
              <a:off x="2627313" y="2358939"/>
              <a:ext cx="936625" cy="2873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 name="Line 26"/>
            <p:cNvSpPr>
              <a:spLocks noChangeShapeType="1"/>
            </p:cNvSpPr>
            <p:nvPr/>
          </p:nvSpPr>
          <p:spPr bwMode="auto">
            <a:xfrm>
              <a:off x="5435600" y="2646276"/>
              <a:ext cx="936625" cy="431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 name="Line 26"/>
            <p:cNvSpPr>
              <a:spLocks noChangeShapeType="1"/>
            </p:cNvSpPr>
            <p:nvPr/>
          </p:nvSpPr>
          <p:spPr bwMode="auto">
            <a:xfrm>
              <a:off x="4572000" y="3367001"/>
              <a:ext cx="936625" cy="431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 name="Line 26"/>
            <p:cNvSpPr>
              <a:spLocks noChangeShapeType="1"/>
            </p:cNvSpPr>
            <p:nvPr/>
          </p:nvSpPr>
          <p:spPr bwMode="auto">
            <a:xfrm flipH="1">
              <a:off x="3924300" y="3367001"/>
              <a:ext cx="576263" cy="3603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33" name="组合 76"/>
            <p:cNvGrpSpPr>
              <a:grpSpLocks/>
            </p:cNvGrpSpPr>
            <p:nvPr/>
          </p:nvGrpSpPr>
          <p:grpSpPr bwMode="auto">
            <a:xfrm>
              <a:off x="5219700" y="3541651"/>
              <a:ext cx="576263" cy="617519"/>
              <a:chOff x="5220072" y="3315751"/>
              <a:chExt cx="576064" cy="617305"/>
            </a:xfrm>
          </p:grpSpPr>
          <p:pic>
            <p:nvPicPr>
              <p:cNvPr id="34"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Text Box 67"/>
              <p:cNvSpPr txBox="1">
                <a:spLocks noChangeArrowheads="1"/>
              </p:cNvSpPr>
              <p:nvPr/>
            </p:nvSpPr>
            <p:spPr bwMode="auto">
              <a:xfrm>
                <a:off x="5294082" y="3315751"/>
                <a:ext cx="464275"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2</a:t>
                </a:r>
              </a:p>
            </p:txBody>
          </p:sp>
        </p:grpSp>
        <p:grpSp>
          <p:nvGrpSpPr>
            <p:cNvPr id="36" name="组合 77"/>
            <p:cNvGrpSpPr>
              <a:grpSpLocks/>
            </p:cNvGrpSpPr>
            <p:nvPr/>
          </p:nvGrpSpPr>
          <p:grpSpPr bwMode="auto">
            <a:xfrm>
              <a:off x="3563938" y="3541651"/>
              <a:ext cx="576262" cy="617519"/>
              <a:chOff x="5220072" y="3315751"/>
              <a:chExt cx="576064" cy="617305"/>
            </a:xfrm>
          </p:grpSpPr>
          <p:pic>
            <p:nvPicPr>
              <p:cNvPr id="37"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 Box 67"/>
              <p:cNvSpPr txBox="1">
                <a:spLocks noChangeArrowheads="1"/>
              </p:cNvSpPr>
              <p:nvPr/>
            </p:nvSpPr>
            <p:spPr bwMode="auto">
              <a:xfrm>
                <a:off x="5294083" y="3315751"/>
                <a:ext cx="464276"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1</a:t>
                </a:r>
              </a:p>
            </p:txBody>
          </p:sp>
        </p:grpSp>
        <p:grpSp>
          <p:nvGrpSpPr>
            <p:cNvPr id="39" name="组合 86"/>
            <p:cNvGrpSpPr>
              <a:grpSpLocks/>
            </p:cNvGrpSpPr>
            <p:nvPr/>
          </p:nvGrpSpPr>
          <p:grpSpPr bwMode="auto">
            <a:xfrm>
              <a:off x="6084888" y="2820926"/>
              <a:ext cx="574675" cy="617519"/>
              <a:chOff x="5220072" y="3315751"/>
              <a:chExt cx="576064" cy="617305"/>
            </a:xfrm>
          </p:grpSpPr>
          <p:pic>
            <p:nvPicPr>
              <p:cNvPr id="40"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Text Box 67"/>
              <p:cNvSpPr txBox="1">
                <a:spLocks noChangeArrowheads="1"/>
              </p:cNvSpPr>
              <p:nvPr/>
            </p:nvSpPr>
            <p:spPr bwMode="auto">
              <a:xfrm>
                <a:off x="5294022" y="3315751"/>
                <a:ext cx="465558"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3</a:t>
                </a:r>
              </a:p>
            </p:txBody>
          </p:sp>
        </p:grpSp>
        <p:grpSp>
          <p:nvGrpSpPr>
            <p:cNvPr id="42" name="组合 83"/>
            <p:cNvGrpSpPr>
              <a:grpSpLocks/>
            </p:cNvGrpSpPr>
            <p:nvPr/>
          </p:nvGrpSpPr>
          <p:grpSpPr bwMode="auto">
            <a:xfrm>
              <a:off x="2268538" y="1957326"/>
              <a:ext cx="574675" cy="617519"/>
              <a:chOff x="5220072" y="3315751"/>
              <a:chExt cx="576064" cy="617305"/>
            </a:xfrm>
          </p:grpSpPr>
          <p:pic>
            <p:nvPicPr>
              <p:cNvPr id="43"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 Box 67"/>
              <p:cNvSpPr txBox="1">
                <a:spLocks noChangeArrowheads="1"/>
              </p:cNvSpPr>
              <p:nvPr/>
            </p:nvSpPr>
            <p:spPr bwMode="auto">
              <a:xfrm>
                <a:off x="5294022" y="3315751"/>
                <a:ext cx="465558"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H</a:t>
                </a:r>
                <a:r>
                  <a:rPr lang="en-US" altLang="zh-CN" sz="1100" b="1" baseline="-25000" dirty="0">
                    <a:latin typeface="微软雅黑" panose="020B0503020204020204" pitchFamily="34" charset="-122"/>
                    <a:ea typeface="微软雅黑" panose="020B0503020204020204" pitchFamily="34" charset="-122"/>
                  </a:rPr>
                  <a:t>6</a:t>
                </a:r>
              </a:p>
            </p:txBody>
          </p:sp>
        </p:grpSp>
        <p:grpSp>
          <p:nvGrpSpPr>
            <p:cNvPr id="45" name="组合 80"/>
            <p:cNvGrpSpPr>
              <a:grpSpLocks/>
            </p:cNvGrpSpPr>
            <p:nvPr/>
          </p:nvGrpSpPr>
          <p:grpSpPr bwMode="auto">
            <a:xfrm>
              <a:off x="2268538" y="2749489"/>
              <a:ext cx="574675" cy="617518"/>
              <a:chOff x="5220072" y="3315751"/>
              <a:chExt cx="576064" cy="617305"/>
            </a:xfrm>
          </p:grpSpPr>
          <p:pic>
            <p:nvPicPr>
              <p:cNvPr id="46"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Text Box 67"/>
              <p:cNvSpPr txBox="1">
                <a:spLocks noChangeArrowheads="1"/>
              </p:cNvSpPr>
              <p:nvPr/>
            </p:nvSpPr>
            <p:spPr bwMode="auto">
              <a:xfrm>
                <a:off x="5294022" y="3315751"/>
                <a:ext cx="465558"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5</a:t>
                </a:r>
              </a:p>
            </p:txBody>
          </p:sp>
        </p:grpSp>
        <p:pic>
          <p:nvPicPr>
            <p:cNvPr id="48" name="Picture 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19475" y="2503401"/>
              <a:ext cx="504825" cy="287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9" name="Picture 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076825" y="2503401"/>
              <a:ext cx="503238" cy="287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50" name="Picture 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56100" y="3222539"/>
              <a:ext cx="503238"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51" name="Text Box 69"/>
            <p:cNvSpPr txBox="1">
              <a:spLocks noChangeArrowheads="1"/>
            </p:cNvSpPr>
            <p:nvPr/>
          </p:nvSpPr>
          <p:spPr bwMode="auto">
            <a:xfrm>
              <a:off x="3203576" y="2287501"/>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1</a:t>
              </a:r>
            </a:p>
          </p:txBody>
        </p:sp>
        <p:sp>
          <p:nvSpPr>
            <p:cNvPr id="52" name="Text Box 69"/>
            <p:cNvSpPr txBox="1">
              <a:spLocks noChangeArrowheads="1"/>
            </p:cNvSpPr>
            <p:nvPr/>
          </p:nvSpPr>
          <p:spPr bwMode="auto">
            <a:xfrm>
              <a:off x="4140200" y="3078076"/>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1</a:t>
              </a:r>
            </a:p>
          </p:txBody>
        </p:sp>
        <p:sp>
          <p:nvSpPr>
            <p:cNvPr id="53" name="Text Box 69"/>
            <p:cNvSpPr txBox="1">
              <a:spLocks noChangeArrowheads="1"/>
            </p:cNvSpPr>
            <p:nvPr/>
          </p:nvSpPr>
          <p:spPr bwMode="auto">
            <a:xfrm>
              <a:off x="4859339" y="2303931"/>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1</a:t>
              </a:r>
            </a:p>
          </p:txBody>
        </p:sp>
        <p:sp>
          <p:nvSpPr>
            <p:cNvPr id="54" name="Text Box 69"/>
            <p:cNvSpPr txBox="1">
              <a:spLocks noChangeArrowheads="1"/>
            </p:cNvSpPr>
            <p:nvPr/>
          </p:nvSpPr>
          <p:spPr bwMode="auto">
            <a:xfrm>
              <a:off x="4284663" y="3398752"/>
              <a:ext cx="287337" cy="3590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2</a:t>
              </a:r>
            </a:p>
          </p:txBody>
        </p:sp>
        <p:sp>
          <p:nvSpPr>
            <p:cNvPr id="55" name="Text Box 69"/>
            <p:cNvSpPr txBox="1">
              <a:spLocks noChangeArrowheads="1"/>
            </p:cNvSpPr>
            <p:nvPr/>
          </p:nvSpPr>
          <p:spPr bwMode="auto">
            <a:xfrm>
              <a:off x="3092174" y="2533583"/>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2</a:t>
              </a:r>
            </a:p>
          </p:txBody>
        </p:sp>
        <p:sp>
          <p:nvSpPr>
            <p:cNvPr id="56" name="Text Box 69"/>
            <p:cNvSpPr txBox="1">
              <a:spLocks noChangeArrowheads="1"/>
            </p:cNvSpPr>
            <p:nvPr/>
          </p:nvSpPr>
          <p:spPr bwMode="auto">
            <a:xfrm>
              <a:off x="4910322" y="2618773"/>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2</a:t>
              </a:r>
            </a:p>
          </p:txBody>
        </p:sp>
        <p:sp>
          <p:nvSpPr>
            <p:cNvPr id="57" name="Text Box 69"/>
            <p:cNvSpPr txBox="1">
              <a:spLocks noChangeArrowheads="1"/>
            </p:cNvSpPr>
            <p:nvPr/>
          </p:nvSpPr>
          <p:spPr bwMode="auto">
            <a:xfrm>
              <a:off x="5424580" y="2618773"/>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3</a:t>
              </a:r>
            </a:p>
          </p:txBody>
        </p:sp>
        <p:sp>
          <p:nvSpPr>
            <p:cNvPr id="58" name="Text Box 69"/>
            <p:cNvSpPr txBox="1">
              <a:spLocks noChangeArrowheads="1"/>
            </p:cNvSpPr>
            <p:nvPr/>
          </p:nvSpPr>
          <p:spPr bwMode="auto">
            <a:xfrm>
              <a:off x="3670301" y="2719300"/>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3</a:t>
              </a:r>
            </a:p>
          </p:txBody>
        </p:sp>
        <p:sp>
          <p:nvSpPr>
            <p:cNvPr id="59" name="Text Box 69"/>
            <p:cNvSpPr txBox="1">
              <a:spLocks noChangeArrowheads="1"/>
            </p:cNvSpPr>
            <p:nvPr/>
          </p:nvSpPr>
          <p:spPr bwMode="auto">
            <a:xfrm>
              <a:off x="4678362" y="3398753"/>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3</a:t>
              </a:r>
            </a:p>
          </p:txBody>
        </p:sp>
        <p:sp>
          <p:nvSpPr>
            <p:cNvPr id="60" name="Text Box 69"/>
            <p:cNvSpPr txBox="1">
              <a:spLocks noChangeArrowheads="1"/>
            </p:cNvSpPr>
            <p:nvPr/>
          </p:nvSpPr>
          <p:spPr bwMode="auto">
            <a:xfrm>
              <a:off x="3851274" y="2331434"/>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4</a:t>
              </a:r>
            </a:p>
          </p:txBody>
        </p:sp>
        <p:sp>
          <p:nvSpPr>
            <p:cNvPr id="61" name="Text Box 69"/>
            <p:cNvSpPr txBox="1">
              <a:spLocks noChangeArrowheads="1"/>
            </p:cNvSpPr>
            <p:nvPr/>
          </p:nvSpPr>
          <p:spPr bwMode="auto">
            <a:xfrm>
              <a:off x="4787901" y="3078076"/>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4</a:t>
              </a:r>
            </a:p>
          </p:txBody>
        </p:sp>
        <p:sp>
          <p:nvSpPr>
            <p:cNvPr id="62" name="Text Box 69"/>
            <p:cNvSpPr txBox="1">
              <a:spLocks noChangeArrowheads="1"/>
            </p:cNvSpPr>
            <p:nvPr/>
          </p:nvSpPr>
          <p:spPr bwMode="auto">
            <a:xfrm>
              <a:off x="5508625" y="2287501"/>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4</a:t>
              </a:r>
            </a:p>
          </p:txBody>
        </p:sp>
        <p:sp>
          <p:nvSpPr>
            <p:cNvPr id="63" name="Line 24"/>
            <p:cNvSpPr>
              <a:spLocks noChangeShapeType="1"/>
            </p:cNvSpPr>
            <p:nvPr/>
          </p:nvSpPr>
          <p:spPr bwMode="auto">
            <a:xfrm flipH="1" flipV="1">
              <a:off x="4438650" y="2049376"/>
              <a:ext cx="114300" cy="1162050"/>
            </a:xfrm>
            <a:prstGeom prst="line">
              <a:avLst/>
            </a:prstGeom>
            <a:noFill/>
            <a:ln w="28575">
              <a:solidFill>
                <a:srgbClr val="9900CC"/>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 name="Line 24"/>
            <p:cNvSpPr>
              <a:spLocks noChangeShapeType="1"/>
            </p:cNvSpPr>
            <p:nvPr/>
          </p:nvSpPr>
          <p:spPr bwMode="auto">
            <a:xfrm flipH="1" flipV="1">
              <a:off x="4572000" y="2070014"/>
              <a:ext cx="647700" cy="433387"/>
            </a:xfrm>
            <a:prstGeom prst="line">
              <a:avLst/>
            </a:prstGeom>
            <a:noFill/>
            <a:ln w="28575">
              <a:solidFill>
                <a:srgbClr val="9900CC"/>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pic>
          <p:nvPicPr>
            <p:cNvPr id="15" name="Picture 2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84663" y="1350876"/>
              <a:ext cx="3079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3" name="矩形 2"/>
          <p:cNvSpPr/>
          <p:nvPr/>
        </p:nvSpPr>
        <p:spPr>
          <a:xfrm>
            <a:off x="5566349" y="1203706"/>
            <a:ext cx="2844319" cy="1220847"/>
          </a:xfrm>
          <a:prstGeom prst="rect">
            <a:avLst/>
          </a:prstGeom>
          <a:solidFill>
            <a:schemeClr val="bg1"/>
          </a:solidFill>
        </p:spPr>
        <p:txBody>
          <a:bodyPr wrap="square">
            <a:spAutoFit/>
          </a:bodyPr>
          <a:lstStyle/>
          <a:p>
            <a:pPr>
              <a:lnSpc>
                <a:spcPts val="2200"/>
              </a:lnSpc>
            </a:pPr>
            <a:r>
              <a:rPr lang="zh-CN" altLang="en-US" sz="1400" b="1" dirty="0">
                <a:solidFill>
                  <a:srgbClr val="0000FF"/>
                </a:solidFill>
                <a:latin typeface="微软雅黑" panose="020B0503020204020204" pitchFamily="34" charset="-122"/>
                <a:ea typeface="微软雅黑" panose="020B0503020204020204" pitchFamily="34" charset="-122"/>
              </a:rPr>
              <a:t>转发规则：</a:t>
            </a:r>
            <a:endParaRPr lang="en-US" altLang="zh-CN" sz="1400" b="1" dirty="0">
              <a:solidFill>
                <a:srgbClr val="0000FF"/>
              </a:solidFill>
              <a:latin typeface="微软雅黑" panose="020B0503020204020204" pitchFamily="34" charset="-122"/>
              <a:ea typeface="微软雅黑" panose="020B0503020204020204" pitchFamily="34" charset="-122"/>
            </a:endParaRPr>
          </a:p>
          <a:p>
            <a:pPr>
              <a:lnSpc>
                <a:spcPts val="2200"/>
              </a:lnSpc>
            </a:pPr>
            <a:r>
              <a:rPr lang="en-US" altLang="zh-CN" sz="1400" b="1" dirty="0">
                <a:latin typeface="微软雅黑" panose="020B0503020204020204" pitchFamily="34" charset="-122"/>
                <a:ea typeface="微软雅黑" panose="020B0503020204020204" pitchFamily="34" charset="-122"/>
              </a:rPr>
              <a:t>S</a:t>
            </a:r>
            <a:r>
              <a:rPr lang="en-US" altLang="zh-CN" sz="1400" b="1" baseline="-25000" dirty="0">
                <a:latin typeface="微软雅黑" panose="020B0503020204020204" pitchFamily="34" charset="-122"/>
                <a:ea typeface="微软雅黑" panose="020B0503020204020204" pitchFamily="34" charset="-122"/>
              </a:rPr>
              <a:t>2</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中设置了防火墙。</a:t>
            </a:r>
            <a:endParaRPr lang="en-US" altLang="zh-CN" sz="1400" b="1" dirty="0">
              <a:latin typeface="微软雅黑" panose="020B0503020204020204" pitchFamily="34" charset="-122"/>
              <a:ea typeface="微软雅黑" panose="020B0503020204020204" pitchFamily="34" charset="-122"/>
            </a:endParaRPr>
          </a:p>
          <a:p>
            <a:pPr>
              <a:lnSpc>
                <a:spcPts val="2200"/>
              </a:lnSpc>
            </a:pPr>
            <a:r>
              <a:rPr lang="zh-CN" altLang="en-US" sz="1400" b="1" dirty="0">
                <a:latin typeface="微软雅黑" panose="020B0503020204020204" pitchFamily="34" charset="-122"/>
                <a:ea typeface="微软雅黑" panose="020B0503020204020204" pitchFamily="34" charset="-122"/>
              </a:rPr>
              <a:t>此防火墙的作用是仅仅接收来自与 </a:t>
            </a:r>
            <a:r>
              <a:rPr lang="en-US" altLang="zh-CN" sz="1400" b="1" dirty="0">
                <a:latin typeface="微软雅黑" panose="020B0503020204020204" pitchFamily="34" charset="-122"/>
                <a:ea typeface="微软雅黑" panose="020B0503020204020204" pitchFamily="34" charset="-122"/>
              </a:rPr>
              <a:t>S</a:t>
            </a:r>
            <a:r>
              <a:rPr lang="en-US" altLang="zh-CN" sz="1400" b="1" baseline="-25000" dirty="0">
                <a:latin typeface="微软雅黑" panose="020B0503020204020204" pitchFamily="34" charset="-122"/>
                <a:ea typeface="微软雅黑" panose="020B0503020204020204" pitchFamily="34" charset="-122"/>
              </a:rPr>
              <a:t>3</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相连的主机所发送的分组。</a:t>
            </a:r>
          </a:p>
        </p:txBody>
      </p:sp>
      <p:graphicFrame>
        <p:nvGraphicFramePr>
          <p:cNvPr id="66" name="表格 65"/>
          <p:cNvGraphicFramePr>
            <a:graphicFrameLocks noGrp="1"/>
          </p:cNvGraphicFramePr>
          <p:nvPr>
            <p:extLst>
              <p:ext uri="{D42A27DB-BD31-4B8C-83A1-F6EECF244321}">
                <p14:modId xmlns:p14="http://schemas.microsoft.com/office/powerpoint/2010/main" val="299693614"/>
              </p:ext>
            </p:extLst>
          </p:nvPr>
        </p:nvGraphicFramePr>
        <p:xfrm>
          <a:off x="2286140" y="3232121"/>
          <a:ext cx="4513012" cy="796672"/>
        </p:xfrm>
        <a:graphic>
          <a:graphicData uri="http://schemas.openxmlformats.org/drawingml/2006/table">
            <a:tbl>
              <a:tblPr firstRow="1" firstCol="1" bandRow="1"/>
              <a:tblGrid>
                <a:gridCol w="3548226">
                  <a:extLst>
                    <a:ext uri="{9D8B030D-6E8A-4147-A177-3AD203B41FA5}">
                      <a16:colId xmlns:a16="http://schemas.microsoft.com/office/drawing/2014/main" val="3081916040"/>
                    </a:ext>
                  </a:extLst>
                </a:gridCol>
                <a:gridCol w="964786">
                  <a:extLst>
                    <a:ext uri="{9D8B030D-6E8A-4147-A177-3AD203B41FA5}">
                      <a16:colId xmlns:a16="http://schemas.microsoft.com/office/drawing/2014/main" val="1076454317"/>
                    </a:ext>
                  </a:extLst>
                </a:gridCol>
              </a:tblGrid>
              <a:tr h="191777">
                <a:tc>
                  <a:txBody>
                    <a:bodyPr/>
                    <a:lstStyle/>
                    <a:p>
                      <a:pPr marL="0" indent="0" algn="ctr" fontAlgn="base">
                        <a:lnSpc>
                          <a:spcPts val="1560"/>
                        </a:lnSpc>
                        <a:spcAft>
                          <a:spcPts val="0"/>
                        </a:spcAft>
                      </a:pPr>
                      <a:r>
                        <a:rPr lang="zh-CN" sz="1200" b="1" kern="500" dirty="0">
                          <a:solidFill>
                            <a:schemeClr val="tx1"/>
                          </a:solidFill>
                          <a:effectLst/>
                          <a:latin typeface="微软雅黑" panose="020B0503020204020204" pitchFamily="34" charset="-122"/>
                          <a:ea typeface="微软雅黑" panose="020B0503020204020204" pitchFamily="34" charset="-122"/>
                          <a:cs typeface="+mn-cs"/>
                        </a:rPr>
                        <a:t>匹配</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0" algn="ctr" fontAlgn="base">
                        <a:lnSpc>
                          <a:spcPts val="1560"/>
                        </a:lnSpc>
                        <a:spcAft>
                          <a:spcPts val="0"/>
                        </a:spcAft>
                      </a:pPr>
                      <a:r>
                        <a:rPr lang="zh-CN" sz="1200" b="1" kern="500" dirty="0">
                          <a:solidFill>
                            <a:schemeClr val="tx1"/>
                          </a:solidFill>
                          <a:effectLst/>
                          <a:latin typeface="微软雅黑" panose="020B0503020204020204" pitchFamily="34" charset="-122"/>
                          <a:ea typeface="微软雅黑" panose="020B0503020204020204" pitchFamily="34" charset="-122"/>
                          <a:cs typeface="+mn-cs"/>
                        </a:rPr>
                        <a:t>动作</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14936622"/>
                  </a:ext>
                </a:extLst>
              </a:tr>
              <a:tr h="604895">
                <a:tc>
                  <a:txBody>
                    <a:bodyPr/>
                    <a:lstStyle/>
                    <a:p>
                      <a:pPr marL="0" indent="0" algn="just" fontAlgn="base">
                        <a:lnSpc>
                          <a:spcPts val="1560"/>
                        </a:lnSpc>
                        <a:spcAft>
                          <a:spcPts val="0"/>
                        </a:spcAft>
                      </a:pP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IP </a:t>
                      </a:r>
                      <a:r>
                        <a:rPr lang="zh-CN" altLang="en-US" sz="1200" b="1" kern="500" dirty="0">
                          <a:solidFill>
                            <a:schemeClr val="tx1"/>
                          </a:solidFill>
                          <a:effectLst/>
                          <a:latin typeface="微软雅黑" panose="020B0503020204020204" pitchFamily="34" charset="-122"/>
                          <a:ea typeface="微软雅黑" panose="020B0503020204020204" pitchFamily="34" charset="-122"/>
                          <a:cs typeface="+mn-cs"/>
                        </a:rPr>
                        <a:t>源地址 </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 10.3.*.*</a:t>
                      </a:r>
                      <a:r>
                        <a:rPr lang="zh-CN" altLang="en-US" sz="1200" b="1" kern="500" dirty="0">
                          <a:solidFill>
                            <a:schemeClr val="tx1"/>
                          </a:solidFill>
                          <a:effectLst/>
                          <a:latin typeface="微软雅黑" panose="020B0503020204020204" pitchFamily="34" charset="-122"/>
                          <a:ea typeface="微软雅黑" panose="020B0503020204020204" pitchFamily="34" charset="-122"/>
                          <a:cs typeface="+mn-cs"/>
                        </a:rPr>
                        <a:t>；</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IP </a:t>
                      </a:r>
                      <a:r>
                        <a:rPr lang="zh-CN" altLang="en-US" sz="1200" b="1" kern="500" dirty="0">
                          <a:solidFill>
                            <a:schemeClr val="tx1"/>
                          </a:solidFill>
                          <a:effectLst/>
                          <a:latin typeface="微软雅黑" panose="020B0503020204020204" pitchFamily="34" charset="-122"/>
                          <a:ea typeface="微软雅黑" panose="020B0503020204020204" pitchFamily="34" charset="-122"/>
                          <a:cs typeface="+mn-cs"/>
                        </a:rPr>
                        <a:t>目的地址 </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 10.2.0.3</a:t>
                      </a:r>
                    </a:p>
                    <a:p>
                      <a:pPr marL="0" indent="0" algn="just" fontAlgn="base">
                        <a:lnSpc>
                          <a:spcPts val="1560"/>
                        </a:lnSpc>
                        <a:spcAft>
                          <a:spcPts val="0"/>
                        </a:spcAft>
                      </a:pP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IP </a:t>
                      </a:r>
                      <a:r>
                        <a:rPr lang="zh-CN" altLang="en-US" sz="1200" b="1" kern="500" dirty="0">
                          <a:solidFill>
                            <a:schemeClr val="tx1"/>
                          </a:solidFill>
                          <a:effectLst/>
                          <a:latin typeface="微软雅黑" panose="020B0503020204020204" pitchFamily="34" charset="-122"/>
                          <a:ea typeface="微软雅黑" panose="020B0503020204020204" pitchFamily="34" charset="-122"/>
                          <a:cs typeface="+mn-cs"/>
                        </a:rPr>
                        <a:t>源地址 </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 10.3.*.*</a:t>
                      </a:r>
                      <a:r>
                        <a:rPr lang="zh-CN" altLang="en-US" sz="1200" b="1" kern="500" dirty="0">
                          <a:solidFill>
                            <a:schemeClr val="tx1"/>
                          </a:solidFill>
                          <a:effectLst/>
                          <a:latin typeface="微软雅黑" panose="020B0503020204020204" pitchFamily="34" charset="-122"/>
                          <a:ea typeface="微软雅黑" panose="020B0503020204020204" pitchFamily="34" charset="-122"/>
                          <a:cs typeface="+mn-cs"/>
                        </a:rPr>
                        <a:t>；</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IP </a:t>
                      </a:r>
                      <a:r>
                        <a:rPr lang="zh-CN" altLang="en-US" sz="1200" b="1" kern="500" dirty="0">
                          <a:solidFill>
                            <a:schemeClr val="tx1"/>
                          </a:solidFill>
                          <a:effectLst/>
                          <a:latin typeface="微软雅黑" panose="020B0503020204020204" pitchFamily="34" charset="-122"/>
                          <a:ea typeface="微软雅黑" panose="020B0503020204020204" pitchFamily="34" charset="-122"/>
                          <a:cs typeface="+mn-cs"/>
                        </a:rPr>
                        <a:t>目的地址 </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 10.2.0.4</a:t>
                      </a:r>
                    </a:p>
                    <a:p>
                      <a:pPr marL="0" indent="0" algn="ctr" fontAlgn="base">
                        <a:lnSpc>
                          <a:spcPts val="1560"/>
                        </a:lnSpc>
                        <a:spcAft>
                          <a:spcPts val="0"/>
                        </a:spcAft>
                      </a:pPr>
                      <a:r>
                        <a:rPr lang="en-US" sz="1200" b="1" kern="500" dirty="0">
                          <a:solidFill>
                            <a:schemeClr val="tx1"/>
                          </a:solidFill>
                          <a:effectLst/>
                          <a:latin typeface="微软雅黑" panose="020B0503020204020204" pitchFamily="34" charset="-122"/>
                          <a:ea typeface="微软雅黑" panose="020B0503020204020204" pitchFamily="34" charset="-122"/>
                          <a:cs typeface="+mn-cs"/>
                        </a:rPr>
                        <a:t>······</a:t>
                      </a:r>
                      <a:endParaRPr lang="zh-CN" sz="1200" b="1" kern="500" dirty="0">
                        <a:solidFill>
                          <a:schemeClr val="tx1"/>
                        </a:solidFill>
                        <a:effectLst/>
                        <a:latin typeface="微软雅黑" panose="020B0503020204020204" pitchFamily="34" charset="-122"/>
                        <a:ea typeface="微软雅黑" panose="020B0503020204020204" pitchFamily="34" charset="-122"/>
                        <a:cs typeface="+mn-cs"/>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0" algn="ctr" fontAlgn="base">
                        <a:lnSpc>
                          <a:spcPts val="1560"/>
                        </a:lnSpc>
                        <a:spcAft>
                          <a:spcPts val="0"/>
                        </a:spcAft>
                      </a:pPr>
                      <a:r>
                        <a:rPr lang="zh-CN" sz="1200" b="1" kern="500" dirty="0">
                          <a:solidFill>
                            <a:schemeClr val="tx1"/>
                          </a:solidFill>
                          <a:effectLst/>
                          <a:latin typeface="微软雅黑" panose="020B0503020204020204" pitchFamily="34" charset="-122"/>
                          <a:ea typeface="微软雅黑" panose="020B0503020204020204" pitchFamily="34" charset="-122"/>
                          <a:cs typeface="+mn-cs"/>
                        </a:rPr>
                        <a:t>转发</a:t>
                      </a:r>
                      <a:r>
                        <a:rPr lang="en-US" sz="1200" b="1" kern="500" dirty="0">
                          <a:solidFill>
                            <a:schemeClr val="tx1"/>
                          </a:solidFill>
                          <a:effectLst/>
                          <a:latin typeface="微软雅黑" panose="020B0503020204020204" pitchFamily="34" charset="-122"/>
                          <a:ea typeface="微软雅黑" panose="020B0503020204020204" pitchFamily="34" charset="-122"/>
                          <a:cs typeface="+mn-cs"/>
                        </a:rPr>
                        <a:t>(</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3</a:t>
                      </a:r>
                      <a:r>
                        <a:rPr lang="en-US" sz="1200" b="1" kern="500" dirty="0">
                          <a:solidFill>
                            <a:schemeClr val="tx1"/>
                          </a:solidFill>
                          <a:effectLst/>
                          <a:latin typeface="微软雅黑" panose="020B0503020204020204" pitchFamily="34" charset="-122"/>
                          <a:ea typeface="微软雅黑" panose="020B0503020204020204" pitchFamily="34" charset="-122"/>
                          <a:cs typeface="+mn-cs"/>
                        </a:rPr>
                        <a:t>)</a:t>
                      </a:r>
                      <a:endParaRPr lang="zh-CN" sz="1200" b="1" kern="500" dirty="0">
                        <a:solidFill>
                          <a:schemeClr val="tx1"/>
                        </a:solidFill>
                        <a:effectLst/>
                        <a:latin typeface="微软雅黑" panose="020B0503020204020204" pitchFamily="34" charset="-122"/>
                        <a:ea typeface="微软雅黑" panose="020B0503020204020204" pitchFamily="34" charset="-122"/>
                        <a:cs typeface="+mn-cs"/>
                      </a:endParaRPr>
                    </a:p>
                    <a:p>
                      <a:pPr marL="0" indent="0" algn="ctr" fontAlgn="base">
                        <a:lnSpc>
                          <a:spcPts val="1560"/>
                        </a:lnSpc>
                        <a:spcAft>
                          <a:spcPts val="0"/>
                        </a:spcAft>
                      </a:pPr>
                      <a:r>
                        <a:rPr lang="zh-CN" sz="1200" b="1" kern="500" dirty="0">
                          <a:solidFill>
                            <a:schemeClr val="tx1"/>
                          </a:solidFill>
                          <a:effectLst/>
                          <a:latin typeface="微软雅黑" panose="020B0503020204020204" pitchFamily="34" charset="-122"/>
                          <a:ea typeface="微软雅黑" panose="020B0503020204020204" pitchFamily="34" charset="-122"/>
                          <a:cs typeface="+mn-cs"/>
                        </a:rPr>
                        <a:t>转发</a:t>
                      </a:r>
                      <a:r>
                        <a:rPr lang="en-US" sz="1200" b="1" kern="500" dirty="0">
                          <a:solidFill>
                            <a:schemeClr val="tx1"/>
                          </a:solidFill>
                          <a:effectLst/>
                          <a:latin typeface="微软雅黑" panose="020B0503020204020204" pitchFamily="34" charset="-122"/>
                          <a:ea typeface="微软雅黑" panose="020B0503020204020204" pitchFamily="34" charset="-122"/>
                          <a:cs typeface="+mn-cs"/>
                        </a:rPr>
                        <a:t>(</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4</a:t>
                      </a:r>
                      <a:r>
                        <a:rPr lang="en-US" sz="1200" b="1" kern="500" dirty="0">
                          <a:solidFill>
                            <a:schemeClr val="tx1"/>
                          </a:solidFill>
                          <a:effectLst/>
                          <a:latin typeface="微软雅黑" panose="020B0503020204020204" pitchFamily="34" charset="-122"/>
                          <a:ea typeface="微软雅黑" panose="020B0503020204020204" pitchFamily="34" charset="-122"/>
                          <a:cs typeface="+mn-cs"/>
                        </a:rPr>
                        <a:t>)</a:t>
                      </a:r>
                      <a:endParaRPr lang="zh-CN" sz="1200" b="1" kern="500" dirty="0">
                        <a:solidFill>
                          <a:schemeClr val="tx1"/>
                        </a:solidFill>
                        <a:effectLst/>
                        <a:latin typeface="微软雅黑" panose="020B0503020204020204" pitchFamily="34" charset="-122"/>
                        <a:ea typeface="微软雅黑" panose="020B0503020204020204" pitchFamily="34" charset="-122"/>
                        <a:cs typeface="+mn-cs"/>
                      </a:endParaRPr>
                    </a:p>
                    <a:p>
                      <a:pPr marL="0" indent="0" algn="ctr" fontAlgn="base">
                        <a:lnSpc>
                          <a:spcPts val="1560"/>
                        </a:lnSpc>
                        <a:spcAft>
                          <a:spcPts val="0"/>
                        </a:spcAft>
                      </a:pPr>
                      <a:r>
                        <a:rPr lang="en-US" sz="1200" b="1" kern="500" dirty="0">
                          <a:solidFill>
                            <a:schemeClr val="tx1"/>
                          </a:solidFill>
                          <a:effectLst/>
                          <a:latin typeface="微软雅黑" panose="020B0503020204020204" pitchFamily="34" charset="-122"/>
                          <a:ea typeface="微软雅黑" panose="020B0503020204020204" pitchFamily="34" charset="-122"/>
                          <a:cs typeface="+mn-cs"/>
                        </a:rPr>
                        <a:t>······</a:t>
                      </a:r>
                      <a:endParaRPr lang="zh-CN" sz="1200" b="1" kern="500" dirty="0">
                        <a:solidFill>
                          <a:schemeClr val="tx1"/>
                        </a:solidFill>
                        <a:effectLst/>
                        <a:latin typeface="微软雅黑" panose="020B0503020204020204" pitchFamily="34" charset="-122"/>
                        <a:ea typeface="微软雅黑" panose="020B0503020204020204" pitchFamily="34" charset="-122"/>
                        <a:cs typeface="+mn-cs"/>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62329798"/>
                  </a:ext>
                </a:extLst>
              </a:tr>
            </a:tbl>
          </a:graphicData>
        </a:graphic>
      </p:graphicFrame>
      <p:sp>
        <p:nvSpPr>
          <p:cNvPr id="68" name="矩形 67"/>
          <p:cNvSpPr/>
          <p:nvPr/>
        </p:nvSpPr>
        <p:spPr>
          <a:xfrm>
            <a:off x="4184549" y="2993079"/>
            <a:ext cx="694421" cy="276999"/>
          </a:xfrm>
          <a:prstGeom prst="rect">
            <a:avLst/>
          </a:prstGeom>
        </p:spPr>
        <p:txBody>
          <a:bodyPr wrap="none">
            <a:spAutoFit/>
          </a:bodyPr>
          <a:lstStyle/>
          <a:p>
            <a:r>
              <a:rPr lang="en-US" altLang="zh-CN" sz="1200" b="1" dirty="0">
                <a:solidFill>
                  <a:srgbClr val="000099"/>
                </a:solidFill>
                <a:latin typeface="微软雅黑" panose="020B0503020204020204" pitchFamily="34" charset="-122"/>
                <a:ea typeface="微软雅黑" panose="020B0503020204020204" pitchFamily="34" charset="-122"/>
              </a:rPr>
              <a:t>S</a:t>
            </a:r>
            <a:r>
              <a:rPr lang="en-US" altLang="zh-CN" sz="1200" b="1" baseline="-25000" dirty="0">
                <a:solidFill>
                  <a:srgbClr val="000099"/>
                </a:solidFill>
                <a:latin typeface="微软雅黑" panose="020B0503020204020204" pitchFamily="34" charset="-122"/>
                <a:ea typeface="微软雅黑" panose="020B0503020204020204" pitchFamily="34" charset="-122"/>
              </a:rPr>
              <a:t>2</a:t>
            </a:r>
            <a:r>
              <a:rPr lang="en-US" altLang="zh-CN" sz="1200" b="1" dirty="0">
                <a:solidFill>
                  <a:srgbClr val="000099"/>
                </a:solidFill>
                <a:latin typeface="微软雅黑" panose="020B0503020204020204" pitchFamily="34" charset="-122"/>
                <a:ea typeface="微软雅黑" panose="020B0503020204020204" pitchFamily="34" charset="-122"/>
              </a:rPr>
              <a:t> </a:t>
            </a:r>
            <a:r>
              <a:rPr lang="zh-CN" altLang="en-US" sz="1200" b="1" dirty="0">
                <a:solidFill>
                  <a:srgbClr val="000099"/>
                </a:solidFill>
                <a:latin typeface="微软雅黑" panose="020B0503020204020204" pitchFamily="34" charset="-122"/>
                <a:ea typeface="微软雅黑" panose="020B0503020204020204" pitchFamily="34" charset="-122"/>
              </a:rPr>
              <a:t>流表</a:t>
            </a:r>
          </a:p>
        </p:txBody>
      </p:sp>
      <p:sp>
        <p:nvSpPr>
          <p:cNvPr id="4" name="矩形 3"/>
          <p:cNvSpPr/>
          <p:nvPr/>
        </p:nvSpPr>
        <p:spPr>
          <a:xfrm>
            <a:off x="1457064" y="4184380"/>
            <a:ext cx="6322390" cy="369332"/>
          </a:xfrm>
          <a:prstGeom prst="rect">
            <a:avLst/>
          </a:prstGeom>
          <a:solidFill>
            <a:srgbClr val="000099"/>
          </a:solidFill>
        </p:spPr>
        <p:txBody>
          <a:bodyPr wrap="square">
            <a:spAutoFit/>
          </a:bodyPr>
          <a:lstStyle/>
          <a:p>
            <a:r>
              <a:rPr lang="zh-CN" altLang="en-US" b="1" dirty="0">
                <a:solidFill>
                  <a:schemeClr val="bg1"/>
                </a:solidFill>
                <a:latin typeface="微软雅黑" panose="020B0503020204020204" pitchFamily="34" charset="-122"/>
                <a:ea typeface="微软雅黑" panose="020B0503020204020204" pitchFamily="34" charset="-122"/>
              </a:rPr>
              <a:t>可见：广义转发具有多样性和灵活性。其优点是显而易见的。</a:t>
            </a:r>
          </a:p>
        </p:txBody>
      </p:sp>
    </p:spTree>
    <p:extLst>
      <p:ext uri="{BB962C8B-B14F-4D97-AF65-F5344CB8AC3E}">
        <p14:creationId xmlns:p14="http://schemas.microsoft.com/office/powerpoint/2010/main" val="68605281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wipe(up)">
                                      <p:cBhvr>
                                        <p:cTn id="7" dur="1000"/>
                                        <p:tgtEl>
                                          <p:spTgt spid="68"/>
                                        </p:tgtEl>
                                      </p:cBhvr>
                                    </p:animEffect>
                                  </p:childTnLst>
                                </p:cTn>
                              </p:par>
                            </p:childTnLst>
                          </p:cTn>
                        </p:par>
                        <p:par>
                          <p:cTn id="8" fill="hold">
                            <p:stCondLst>
                              <p:cond delay="1000"/>
                            </p:stCondLst>
                            <p:childTnLst>
                              <p:par>
                                <p:cTn id="9" presetID="22" presetClass="entr" presetSubtype="1" fill="hold" nodeType="afterEffect">
                                  <p:stCondLst>
                                    <p:cond delay="0"/>
                                  </p:stCondLst>
                                  <p:childTnLst>
                                    <p:set>
                                      <p:cBhvr>
                                        <p:cTn id="10" dur="1" fill="hold">
                                          <p:stCondLst>
                                            <p:cond delay="0"/>
                                          </p:stCondLst>
                                        </p:cTn>
                                        <p:tgtEl>
                                          <p:spTgt spid="66"/>
                                        </p:tgtEl>
                                        <p:attrNameLst>
                                          <p:attrName>style.visibility</p:attrName>
                                        </p:attrNameLst>
                                      </p:cBhvr>
                                      <p:to>
                                        <p:strVal val="visible"/>
                                      </p:to>
                                    </p:set>
                                    <p:animEffect transition="in" filter="wipe(up)">
                                      <p:cBhvr>
                                        <p:cTn id="11" dur="1000"/>
                                        <p:tgtEl>
                                          <p:spTgt spid="66"/>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fade">
                                      <p:cBhvr>
                                        <p:cTn id="16"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p:bldP spid="4" grpId="0" animBg="1"/>
    </p:bld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圆角矩形 71"/>
          <p:cNvSpPr/>
          <p:nvPr/>
        </p:nvSpPr>
        <p:spPr>
          <a:xfrm>
            <a:off x="545144" y="1080937"/>
            <a:ext cx="8053711" cy="3409582"/>
          </a:xfrm>
          <a:prstGeom prst="roundRect">
            <a:avLst>
              <a:gd name="adj" fmla="val 11622"/>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7" name="AutoShape 5"/>
          <p:cNvSpPr>
            <a:spLocks noChangeArrowheads="1"/>
          </p:cNvSpPr>
          <p:nvPr/>
        </p:nvSpPr>
        <p:spPr bwMode="auto">
          <a:xfrm>
            <a:off x="545144" y="617509"/>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8" name="Rectangle 6"/>
          <p:cNvSpPr>
            <a:spLocks noChangeArrowheads="1"/>
          </p:cNvSpPr>
          <p:nvPr/>
        </p:nvSpPr>
        <p:spPr bwMode="auto">
          <a:xfrm>
            <a:off x="2915144" y="576646"/>
            <a:ext cx="331372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4.10.2  SDN </a:t>
            </a:r>
            <a:r>
              <a:rPr lang="zh-CN" altLang="en-US" sz="2400" b="1" dirty="0">
                <a:solidFill>
                  <a:schemeClr val="bg1"/>
                </a:solidFill>
                <a:latin typeface="微软雅黑" pitchFamily="34" charset="-122"/>
                <a:ea typeface="微软雅黑" pitchFamily="34" charset="-122"/>
              </a:rPr>
              <a:t>体系结构</a:t>
            </a:r>
          </a:p>
        </p:txBody>
      </p:sp>
      <p:grpSp>
        <p:nvGrpSpPr>
          <p:cNvPr id="10" name="Group 206"/>
          <p:cNvGrpSpPr>
            <a:grpSpLocks/>
          </p:cNvGrpSpPr>
          <p:nvPr/>
        </p:nvGrpSpPr>
        <p:grpSpPr bwMode="auto">
          <a:xfrm>
            <a:off x="3314765" y="3403348"/>
            <a:ext cx="2434239" cy="713383"/>
            <a:chOff x="912" y="768"/>
            <a:chExt cx="2400" cy="1584"/>
          </a:xfrm>
          <a:solidFill>
            <a:srgbClr val="00CCFF"/>
          </a:solidFill>
        </p:grpSpPr>
        <p:sp>
          <p:nvSpPr>
            <p:cNvPr id="23" name="Oval 207"/>
            <p:cNvSpPr>
              <a:spLocks noChangeArrowheads="1"/>
            </p:cNvSpPr>
            <p:nvPr/>
          </p:nvSpPr>
          <p:spPr bwMode="auto">
            <a:xfrm>
              <a:off x="1751" y="799"/>
              <a:ext cx="1026" cy="628"/>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 name="Oval 208"/>
            <p:cNvSpPr>
              <a:spLocks noChangeArrowheads="1"/>
            </p:cNvSpPr>
            <p:nvPr/>
          </p:nvSpPr>
          <p:spPr bwMode="auto">
            <a:xfrm>
              <a:off x="1172" y="972"/>
              <a:ext cx="781" cy="627"/>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6" name="Oval 209"/>
            <p:cNvSpPr>
              <a:spLocks noChangeArrowheads="1"/>
            </p:cNvSpPr>
            <p:nvPr/>
          </p:nvSpPr>
          <p:spPr bwMode="auto">
            <a:xfrm>
              <a:off x="926" y="1364"/>
              <a:ext cx="521" cy="502"/>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 name="Oval 210"/>
            <p:cNvSpPr>
              <a:spLocks noChangeArrowheads="1"/>
            </p:cNvSpPr>
            <p:nvPr/>
          </p:nvSpPr>
          <p:spPr bwMode="auto">
            <a:xfrm>
              <a:off x="1085" y="1599"/>
              <a:ext cx="796" cy="549"/>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 name="Oval 211"/>
            <p:cNvSpPr>
              <a:spLocks noChangeArrowheads="1"/>
            </p:cNvSpPr>
            <p:nvPr/>
          </p:nvSpPr>
          <p:spPr bwMode="auto">
            <a:xfrm>
              <a:off x="1664" y="1693"/>
              <a:ext cx="1200" cy="659"/>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 name="Oval 212"/>
            <p:cNvSpPr>
              <a:spLocks noChangeArrowheads="1"/>
            </p:cNvSpPr>
            <p:nvPr/>
          </p:nvSpPr>
          <p:spPr bwMode="auto">
            <a:xfrm>
              <a:off x="2445" y="988"/>
              <a:ext cx="751" cy="486"/>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0" name="Oval 213"/>
            <p:cNvSpPr>
              <a:spLocks noChangeArrowheads="1"/>
            </p:cNvSpPr>
            <p:nvPr/>
          </p:nvSpPr>
          <p:spPr bwMode="auto">
            <a:xfrm>
              <a:off x="2560" y="1317"/>
              <a:ext cx="752" cy="486"/>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1" name="Oval 214"/>
            <p:cNvSpPr>
              <a:spLocks noChangeArrowheads="1"/>
            </p:cNvSpPr>
            <p:nvPr/>
          </p:nvSpPr>
          <p:spPr bwMode="auto">
            <a:xfrm>
              <a:off x="2488" y="1427"/>
              <a:ext cx="752" cy="815"/>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2" name="Oval 215"/>
            <p:cNvSpPr>
              <a:spLocks noChangeArrowheads="1"/>
            </p:cNvSpPr>
            <p:nvPr/>
          </p:nvSpPr>
          <p:spPr bwMode="auto">
            <a:xfrm>
              <a:off x="1360" y="1176"/>
              <a:ext cx="1547" cy="815"/>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3" name="Group 216"/>
            <p:cNvGrpSpPr>
              <a:grpSpLocks/>
            </p:cNvGrpSpPr>
            <p:nvPr/>
          </p:nvGrpSpPr>
          <p:grpSpPr bwMode="auto">
            <a:xfrm>
              <a:off x="912" y="768"/>
              <a:ext cx="2386" cy="1553"/>
              <a:chOff x="912" y="768"/>
              <a:chExt cx="2386" cy="1553"/>
            </a:xfrm>
            <a:grpFill/>
          </p:grpSpPr>
          <p:sp>
            <p:nvSpPr>
              <p:cNvPr id="34" name="Oval 217"/>
              <p:cNvSpPr>
                <a:spLocks noChangeArrowheads="1"/>
              </p:cNvSpPr>
              <p:nvPr/>
            </p:nvSpPr>
            <p:spPr bwMode="auto">
              <a:xfrm>
                <a:off x="1736" y="768"/>
                <a:ext cx="1027" cy="627"/>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 name="Oval 218"/>
              <p:cNvSpPr>
                <a:spLocks noChangeArrowheads="1"/>
              </p:cNvSpPr>
              <p:nvPr/>
            </p:nvSpPr>
            <p:spPr bwMode="auto">
              <a:xfrm>
                <a:off x="1158" y="941"/>
                <a:ext cx="781" cy="627"/>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6" name="Oval 219"/>
              <p:cNvSpPr>
                <a:spLocks noChangeArrowheads="1"/>
              </p:cNvSpPr>
              <p:nvPr/>
            </p:nvSpPr>
            <p:spPr bwMode="auto">
              <a:xfrm>
                <a:off x="912" y="1333"/>
                <a:ext cx="520" cy="501"/>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 name="Oval 220"/>
              <p:cNvSpPr>
                <a:spLocks noChangeArrowheads="1"/>
              </p:cNvSpPr>
              <p:nvPr/>
            </p:nvSpPr>
            <p:spPr bwMode="auto">
              <a:xfrm>
                <a:off x="1071" y="1568"/>
                <a:ext cx="795" cy="549"/>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8" name="Oval 221"/>
              <p:cNvSpPr>
                <a:spLocks noChangeArrowheads="1"/>
              </p:cNvSpPr>
              <p:nvPr/>
            </p:nvSpPr>
            <p:spPr bwMode="auto">
              <a:xfrm>
                <a:off x="1649" y="1662"/>
                <a:ext cx="1200" cy="659"/>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Oval 222"/>
              <p:cNvSpPr>
                <a:spLocks noChangeArrowheads="1"/>
              </p:cNvSpPr>
              <p:nvPr/>
            </p:nvSpPr>
            <p:spPr bwMode="auto">
              <a:xfrm>
                <a:off x="2430" y="956"/>
                <a:ext cx="752" cy="486"/>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Oval 223"/>
              <p:cNvSpPr>
                <a:spLocks noChangeArrowheads="1"/>
              </p:cNvSpPr>
              <p:nvPr/>
            </p:nvSpPr>
            <p:spPr bwMode="auto">
              <a:xfrm>
                <a:off x="2546" y="1286"/>
                <a:ext cx="752" cy="486"/>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Oval 224"/>
              <p:cNvSpPr>
                <a:spLocks noChangeArrowheads="1"/>
              </p:cNvSpPr>
              <p:nvPr/>
            </p:nvSpPr>
            <p:spPr bwMode="auto">
              <a:xfrm>
                <a:off x="2473" y="1395"/>
                <a:ext cx="752" cy="816"/>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Oval 225"/>
              <p:cNvSpPr>
                <a:spLocks noChangeArrowheads="1"/>
              </p:cNvSpPr>
              <p:nvPr/>
            </p:nvSpPr>
            <p:spPr bwMode="auto">
              <a:xfrm>
                <a:off x="1346" y="1144"/>
                <a:ext cx="1547" cy="816"/>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grpSp>
      <p:sp>
        <p:nvSpPr>
          <p:cNvPr id="11" name="Line 151"/>
          <p:cNvSpPr>
            <a:spLocks noChangeShapeType="1"/>
          </p:cNvSpPr>
          <p:nvPr/>
        </p:nvSpPr>
        <p:spPr bwMode="auto">
          <a:xfrm>
            <a:off x="4308332" y="3553534"/>
            <a:ext cx="745175" cy="0"/>
          </a:xfrm>
          <a:prstGeom prst="line">
            <a:avLst/>
          </a:prstGeom>
          <a:solidFill>
            <a:srgbClr val="33CCFF"/>
          </a:solidFill>
          <a:ln w="12700">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 name="Line 99"/>
          <p:cNvSpPr>
            <a:spLocks noChangeShapeType="1"/>
          </p:cNvSpPr>
          <p:nvPr/>
        </p:nvSpPr>
        <p:spPr bwMode="auto">
          <a:xfrm>
            <a:off x="3563157" y="3778813"/>
            <a:ext cx="894210" cy="225279"/>
          </a:xfrm>
          <a:prstGeom prst="line">
            <a:avLst/>
          </a:prstGeom>
          <a:solidFill>
            <a:srgbClr val="33CCFF"/>
          </a:solidFill>
          <a:ln w="12700">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 name="Line 100"/>
          <p:cNvSpPr>
            <a:spLocks noChangeShapeType="1"/>
          </p:cNvSpPr>
          <p:nvPr/>
        </p:nvSpPr>
        <p:spPr bwMode="auto">
          <a:xfrm>
            <a:off x="3613041" y="3779083"/>
            <a:ext cx="1823881" cy="8395"/>
          </a:xfrm>
          <a:prstGeom prst="line">
            <a:avLst/>
          </a:prstGeom>
          <a:solidFill>
            <a:srgbClr val="33CCFF"/>
          </a:solidFill>
          <a:ln w="12700">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 name="Line 101"/>
          <p:cNvSpPr>
            <a:spLocks noChangeShapeType="1"/>
          </p:cNvSpPr>
          <p:nvPr/>
        </p:nvSpPr>
        <p:spPr bwMode="auto">
          <a:xfrm>
            <a:off x="5003829" y="3553534"/>
            <a:ext cx="397427" cy="225279"/>
          </a:xfrm>
          <a:prstGeom prst="line">
            <a:avLst/>
          </a:prstGeom>
          <a:solidFill>
            <a:srgbClr val="33CCFF"/>
          </a:solidFill>
          <a:ln w="12700">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 name="Line 102"/>
          <p:cNvSpPr>
            <a:spLocks noChangeShapeType="1"/>
          </p:cNvSpPr>
          <p:nvPr/>
        </p:nvSpPr>
        <p:spPr bwMode="auto">
          <a:xfrm flipV="1">
            <a:off x="4606403" y="3853906"/>
            <a:ext cx="894210" cy="150186"/>
          </a:xfrm>
          <a:prstGeom prst="line">
            <a:avLst/>
          </a:prstGeom>
          <a:solidFill>
            <a:srgbClr val="33CCFF"/>
          </a:solidFill>
          <a:ln w="12700">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 name="Line 107"/>
          <p:cNvSpPr>
            <a:spLocks noChangeShapeType="1"/>
          </p:cNvSpPr>
          <p:nvPr/>
        </p:nvSpPr>
        <p:spPr bwMode="auto">
          <a:xfrm flipV="1">
            <a:off x="3613041" y="3553533"/>
            <a:ext cx="645613" cy="188300"/>
          </a:xfrm>
          <a:prstGeom prst="line">
            <a:avLst/>
          </a:prstGeom>
          <a:solidFill>
            <a:srgbClr val="33CCFF"/>
          </a:solidFill>
          <a:ln w="12700">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 name="Line 108"/>
          <p:cNvSpPr>
            <a:spLocks noChangeShapeType="1"/>
          </p:cNvSpPr>
          <p:nvPr/>
        </p:nvSpPr>
        <p:spPr bwMode="auto">
          <a:xfrm>
            <a:off x="4258654" y="3553534"/>
            <a:ext cx="298070" cy="450558"/>
          </a:xfrm>
          <a:prstGeom prst="line">
            <a:avLst/>
          </a:prstGeom>
          <a:solidFill>
            <a:srgbClr val="33CCFF"/>
          </a:solidFill>
          <a:ln w="12700">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18" name="Picture 109"/>
          <p:cNvPicPr>
            <a:picLocks noChangeArrowheads="1"/>
          </p:cNvPicPr>
          <p:nvPr/>
        </p:nvPicPr>
        <p:blipFill>
          <a:blip r:embed="rId3" cstate="print"/>
          <a:srcRect/>
          <a:stretch>
            <a:fillRect/>
          </a:stretch>
        </p:blipFill>
        <p:spPr bwMode="auto">
          <a:xfrm>
            <a:off x="3402759" y="3703759"/>
            <a:ext cx="359231" cy="149824"/>
          </a:xfrm>
          <a:prstGeom prst="rect">
            <a:avLst/>
          </a:prstGeom>
          <a:noFill/>
          <a:ln w="12699">
            <a:noFill/>
            <a:miter lim="800000"/>
            <a:headEnd/>
            <a:tailEnd/>
          </a:ln>
        </p:spPr>
      </p:pic>
      <p:pic>
        <p:nvPicPr>
          <p:cNvPr id="19" name="Picture 110"/>
          <p:cNvPicPr>
            <a:picLocks noChangeArrowheads="1"/>
          </p:cNvPicPr>
          <p:nvPr/>
        </p:nvPicPr>
        <p:blipFill>
          <a:blip r:embed="rId3" cstate="print"/>
          <a:srcRect/>
          <a:stretch>
            <a:fillRect/>
          </a:stretch>
        </p:blipFill>
        <p:spPr bwMode="auto">
          <a:xfrm>
            <a:off x="4109619" y="3478441"/>
            <a:ext cx="359231" cy="149824"/>
          </a:xfrm>
          <a:prstGeom prst="rect">
            <a:avLst/>
          </a:prstGeom>
          <a:noFill/>
          <a:ln w="12699">
            <a:noFill/>
            <a:miter lim="800000"/>
            <a:headEnd/>
            <a:tailEnd/>
          </a:ln>
        </p:spPr>
      </p:pic>
      <p:pic>
        <p:nvPicPr>
          <p:cNvPr id="20" name="Picture 111"/>
          <p:cNvPicPr>
            <a:picLocks noChangeArrowheads="1"/>
          </p:cNvPicPr>
          <p:nvPr/>
        </p:nvPicPr>
        <p:blipFill>
          <a:blip r:embed="rId3" cstate="print"/>
          <a:srcRect/>
          <a:stretch>
            <a:fillRect/>
          </a:stretch>
        </p:blipFill>
        <p:spPr bwMode="auto">
          <a:xfrm>
            <a:off x="4358010" y="3928999"/>
            <a:ext cx="359231" cy="149824"/>
          </a:xfrm>
          <a:prstGeom prst="rect">
            <a:avLst/>
          </a:prstGeom>
          <a:noFill/>
          <a:ln w="12699">
            <a:noFill/>
            <a:miter lim="800000"/>
            <a:headEnd/>
            <a:tailEnd/>
          </a:ln>
        </p:spPr>
      </p:pic>
      <p:pic>
        <p:nvPicPr>
          <p:cNvPr id="21" name="Picture 112"/>
          <p:cNvPicPr>
            <a:picLocks noChangeArrowheads="1"/>
          </p:cNvPicPr>
          <p:nvPr/>
        </p:nvPicPr>
        <p:blipFill>
          <a:blip r:embed="rId3" cstate="print"/>
          <a:srcRect/>
          <a:stretch>
            <a:fillRect/>
          </a:stretch>
        </p:blipFill>
        <p:spPr bwMode="auto">
          <a:xfrm>
            <a:off x="5301899" y="3741266"/>
            <a:ext cx="359231" cy="149824"/>
          </a:xfrm>
          <a:prstGeom prst="rect">
            <a:avLst/>
          </a:prstGeom>
          <a:noFill/>
          <a:ln w="12699">
            <a:noFill/>
            <a:miter lim="800000"/>
            <a:headEnd/>
            <a:tailEnd/>
          </a:ln>
        </p:spPr>
      </p:pic>
      <p:pic>
        <p:nvPicPr>
          <p:cNvPr id="22" name="Picture 113"/>
          <p:cNvPicPr>
            <a:picLocks noChangeArrowheads="1"/>
          </p:cNvPicPr>
          <p:nvPr/>
        </p:nvPicPr>
        <p:blipFill>
          <a:blip r:embed="rId3" cstate="print"/>
          <a:srcRect/>
          <a:stretch>
            <a:fillRect/>
          </a:stretch>
        </p:blipFill>
        <p:spPr bwMode="auto">
          <a:xfrm>
            <a:off x="4854794" y="3478441"/>
            <a:ext cx="359231" cy="149824"/>
          </a:xfrm>
          <a:prstGeom prst="rect">
            <a:avLst/>
          </a:prstGeom>
          <a:noFill/>
          <a:ln w="12699">
            <a:noFill/>
            <a:miter lim="800000"/>
            <a:headEnd/>
            <a:tailEnd/>
          </a:ln>
        </p:spPr>
      </p:pic>
      <p:sp>
        <p:nvSpPr>
          <p:cNvPr id="43" name="TextBox 175"/>
          <p:cNvSpPr txBox="1"/>
          <p:nvPr/>
        </p:nvSpPr>
        <p:spPr>
          <a:xfrm>
            <a:off x="3380724" y="1112814"/>
            <a:ext cx="1826142" cy="338554"/>
          </a:xfrm>
          <a:prstGeom prst="rect">
            <a:avLst/>
          </a:prstGeom>
          <a:noFill/>
        </p:spPr>
        <p:txBody>
          <a:bodyPr wrap="none" rtlCol="0">
            <a:spAutoFit/>
          </a:bodyPr>
          <a:lstStyle/>
          <a:p>
            <a:pPr algn="ctr"/>
            <a:r>
              <a:rPr lang="zh-CN" altLang="en-US" sz="1600" b="1" dirty="0">
                <a:solidFill>
                  <a:srgbClr val="CC00CC"/>
                </a:solidFill>
                <a:latin typeface="微软雅黑" panose="020B0503020204020204" pitchFamily="34" charset="-122"/>
                <a:ea typeface="微软雅黑" panose="020B0503020204020204" pitchFamily="34" charset="-122"/>
              </a:rPr>
              <a:t>网络控制应用程序</a:t>
            </a:r>
          </a:p>
        </p:txBody>
      </p:sp>
      <p:cxnSp>
        <p:nvCxnSpPr>
          <p:cNvPr id="44" name="直接箭头连接符 43"/>
          <p:cNvCxnSpPr/>
          <p:nvPr/>
        </p:nvCxnSpPr>
        <p:spPr>
          <a:xfrm>
            <a:off x="1978771" y="1482702"/>
            <a:ext cx="499331" cy="0"/>
          </a:xfrm>
          <a:prstGeom prst="straightConnector1">
            <a:avLst/>
          </a:prstGeom>
          <a:ln w="9525">
            <a:solidFill>
              <a:schemeClr val="tx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 name="直接连接符 44"/>
          <p:cNvCxnSpPr/>
          <p:nvPr/>
        </p:nvCxnSpPr>
        <p:spPr>
          <a:xfrm>
            <a:off x="1791522" y="3293597"/>
            <a:ext cx="4581645" cy="0"/>
          </a:xfrm>
          <a:prstGeom prst="line">
            <a:avLst/>
          </a:prstGeom>
          <a:ln w="12700">
            <a:solidFill>
              <a:srgbClr val="000066"/>
            </a:solidFill>
            <a:prstDash val="dash"/>
          </a:ln>
        </p:spPr>
        <p:style>
          <a:lnRef idx="1">
            <a:schemeClr val="accent1"/>
          </a:lnRef>
          <a:fillRef idx="0">
            <a:schemeClr val="accent1"/>
          </a:fillRef>
          <a:effectRef idx="0">
            <a:schemeClr val="accent1"/>
          </a:effectRef>
          <a:fontRef idx="minor">
            <a:schemeClr val="tx1"/>
          </a:fontRef>
        </p:style>
      </p:cxnSp>
      <p:sp>
        <p:nvSpPr>
          <p:cNvPr id="46" name="矩形 45"/>
          <p:cNvSpPr/>
          <p:nvPr/>
        </p:nvSpPr>
        <p:spPr>
          <a:xfrm>
            <a:off x="3065099" y="2580214"/>
            <a:ext cx="2995986" cy="548756"/>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rPr>
              <a:t>SDN </a:t>
            </a:r>
            <a:r>
              <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rPr>
              <a:t>控制器</a:t>
            </a: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r>
              <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rPr>
              <a:t>（网络操作系统）</a:t>
            </a:r>
          </a:p>
        </p:txBody>
      </p:sp>
      <p:sp>
        <p:nvSpPr>
          <p:cNvPr id="47" name="圆角矩形 46"/>
          <p:cNvSpPr/>
          <p:nvPr/>
        </p:nvSpPr>
        <p:spPr>
          <a:xfrm>
            <a:off x="2877850" y="1892993"/>
            <a:ext cx="936246" cy="329254"/>
          </a:xfrm>
          <a:prstGeom prst="roundRect">
            <a:avLst>
              <a:gd name="adj" fmla="val 24226"/>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200" b="1" dirty="0">
                <a:solidFill>
                  <a:schemeClr val="tx1"/>
                </a:solidFill>
                <a:latin typeface="微软雅黑" panose="020B0503020204020204" pitchFamily="34" charset="-122"/>
                <a:ea typeface="微软雅黑" panose="020B0503020204020204" pitchFamily="34" charset="-122"/>
              </a:rPr>
              <a:t>路由选择</a:t>
            </a:r>
          </a:p>
        </p:txBody>
      </p:sp>
      <p:sp>
        <p:nvSpPr>
          <p:cNvPr id="48" name="圆角矩形 47"/>
          <p:cNvSpPr/>
          <p:nvPr/>
        </p:nvSpPr>
        <p:spPr>
          <a:xfrm>
            <a:off x="4313427" y="1892993"/>
            <a:ext cx="936246" cy="329254"/>
          </a:xfrm>
          <a:prstGeom prst="roundRect">
            <a:avLst>
              <a:gd name="adj" fmla="val 24226"/>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200" b="1" dirty="0">
                <a:solidFill>
                  <a:schemeClr val="tx1"/>
                </a:solidFill>
                <a:latin typeface="微软雅黑" panose="020B0503020204020204" pitchFamily="34" charset="-122"/>
                <a:ea typeface="微软雅黑" panose="020B0503020204020204" pitchFamily="34" charset="-122"/>
              </a:rPr>
              <a:t>接入控制</a:t>
            </a:r>
          </a:p>
        </p:txBody>
      </p:sp>
      <p:sp>
        <p:nvSpPr>
          <p:cNvPr id="49" name="圆角矩形 48"/>
          <p:cNvSpPr/>
          <p:nvPr/>
        </p:nvSpPr>
        <p:spPr>
          <a:xfrm>
            <a:off x="5436922" y="1892993"/>
            <a:ext cx="936246" cy="329254"/>
          </a:xfrm>
          <a:prstGeom prst="roundRect">
            <a:avLst>
              <a:gd name="adj" fmla="val 24226"/>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200" b="1" dirty="0">
                <a:solidFill>
                  <a:schemeClr val="tx1"/>
                </a:solidFill>
                <a:latin typeface="微软雅黑" panose="020B0503020204020204" pitchFamily="34" charset="-122"/>
                <a:ea typeface="微软雅黑" panose="020B0503020204020204" pitchFamily="34" charset="-122"/>
              </a:rPr>
              <a:t>负载均衡</a:t>
            </a:r>
          </a:p>
        </p:txBody>
      </p:sp>
      <p:sp>
        <p:nvSpPr>
          <p:cNvPr id="50" name="TextBox 106"/>
          <p:cNvSpPr txBox="1"/>
          <p:nvPr/>
        </p:nvSpPr>
        <p:spPr>
          <a:xfrm>
            <a:off x="3869567" y="1866831"/>
            <a:ext cx="386644" cy="276999"/>
          </a:xfrm>
          <a:prstGeom prst="rect">
            <a:avLst/>
          </a:prstGeom>
          <a:noFill/>
        </p:spPr>
        <p:txBody>
          <a:bodyPr wrap="none" rtlCol="0">
            <a:spAutoFit/>
          </a:bodyPr>
          <a:lstStyle/>
          <a:p>
            <a:r>
              <a:rPr lang="en-US" altLang="zh-CN"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sp>
        <p:nvSpPr>
          <p:cNvPr id="51" name="TextBox 109"/>
          <p:cNvSpPr txBox="1"/>
          <p:nvPr/>
        </p:nvSpPr>
        <p:spPr>
          <a:xfrm>
            <a:off x="6062677" y="3135911"/>
            <a:ext cx="1593074" cy="492443"/>
          </a:xfrm>
          <a:prstGeom prst="rect">
            <a:avLst/>
          </a:prstGeom>
          <a:noFill/>
        </p:spPr>
        <p:txBody>
          <a:bodyPr wrap="square" rtlCol="0">
            <a:spAutoFit/>
          </a:bodyPr>
          <a:lstStyle/>
          <a:p>
            <a:pPr algn="ctr"/>
            <a:r>
              <a:rPr lang="zh-CN" altLang="en-US" sz="1400" b="1" dirty="0">
                <a:solidFill>
                  <a:srgbClr val="0000FF"/>
                </a:solidFill>
                <a:latin typeface="微软雅黑" panose="020B0503020204020204" pitchFamily="34" charset="-122"/>
                <a:ea typeface="微软雅黑" panose="020B0503020204020204" pitchFamily="34" charset="-122"/>
              </a:rPr>
              <a:t>南向 </a:t>
            </a:r>
            <a:r>
              <a:rPr lang="en-US" altLang="zh-CN" sz="1400" b="1" dirty="0">
                <a:solidFill>
                  <a:srgbClr val="0000FF"/>
                </a:solidFill>
                <a:latin typeface="微软雅黑" panose="020B0503020204020204" pitchFamily="34" charset="-122"/>
                <a:ea typeface="微软雅黑" panose="020B0503020204020204" pitchFamily="34" charset="-122"/>
                <a:cs typeface="Times New Roman" pitchFamily="18" charset="0"/>
              </a:rPr>
              <a:t>API</a:t>
            </a:r>
          </a:p>
          <a:p>
            <a:pPr algn="ctr"/>
            <a:r>
              <a:rPr lang="zh-CN" altLang="en-US" sz="1200" b="1" dirty="0">
                <a:latin typeface="微软雅黑" panose="020B0503020204020204" pitchFamily="34" charset="-122"/>
                <a:ea typeface="微软雅黑" panose="020B0503020204020204" pitchFamily="34" charset="-122"/>
                <a:cs typeface="Times New Roman" pitchFamily="18" charset="0"/>
              </a:rPr>
              <a:t>（例如 </a:t>
            </a:r>
            <a:r>
              <a:rPr lang="en-US" altLang="zh-CN" sz="1200" b="1" dirty="0" err="1">
                <a:latin typeface="微软雅黑" panose="020B0503020204020204" pitchFamily="34" charset="-122"/>
                <a:ea typeface="微软雅黑" panose="020B0503020204020204" pitchFamily="34" charset="-122"/>
                <a:cs typeface="Times New Roman" pitchFamily="18" charset="0"/>
              </a:rPr>
              <a:t>OpenFlow</a:t>
            </a:r>
            <a:r>
              <a:rPr lang="zh-CN" altLang="en-US" sz="1200" b="1" dirty="0">
                <a:latin typeface="微软雅黑" panose="020B0503020204020204" pitchFamily="34" charset="-122"/>
                <a:ea typeface="微软雅黑" panose="020B0503020204020204" pitchFamily="34" charset="-122"/>
                <a:cs typeface="Times New Roman" pitchFamily="18" charset="0"/>
              </a:rPr>
              <a:t>）</a:t>
            </a:r>
          </a:p>
        </p:txBody>
      </p:sp>
      <p:cxnSp>
        <p:nvCxnSpPr>
          <p:cNvPr id="52" name="直接连接符 51"/>
          <p:cNvCxnSpPr/>
          <p:nvPr/>
        </p:nvCxnSpPr>
        <p:spPr>
          <a:xfrm>
            <a:off x="2690601" y="2377086"/>
            <a:ext cx="3682566" cy="0"/>
          </a:xfrm>
          <a:prstGeom prst="line">
            <a:avLst/>
          </a:prstGeom>
          <a:ln w="12700">
            <a:solidFill>
              <a:srgbClr val="000066"/>
            </a:solidFill>
            <a:prstDash val="dash"/>
          </a:ln>
        </p:spPr>
        <p:style>
          <a:lnRef idx="1">
            <a:schemeClr val="accent1"/>
          </a:lnRef>
          <a:fillRef idx="0">
            <a:schemeClr val="accent1"/>
          </a:fillRef>
          <a:effectRef idx="0">
            <a:schemeClr val="accent1"/>
          </a:effectRef>
          <a:fontRef idx="minor">
            <a:schemeClr val="tx1"/>
          </a:fontRef>
        </p:style>
      </p:cxnSp>
      <p:sp>
        <p:nvSpPr>
          <p:cNvPr id="53" name="TextBox 112"/>
          <p:cNvSpPr txBox="1"/>
          <p:nvPr/>
        </p:nvSpPr>
        <p:spPr>
          <a:xfrm>
            <a:off x="6126180" y="2219044"/>
            <a:ext cx="1520285" cy="677108"/>
          </a:xfrm>
          <a:prstGeom prst="rect">
            <a:avLst/>
          </a:prstGeom>
          <a:noFill/>
        </p:spPr>
        <p:txBody>
          <a:bodyPr wrap="square" rtlCol="0">
            <a:spAutoFit/>
          </a:bodyPr>
          <a:lstStyle/>
          <a:p>
            <a:pPr algn="ctr"/>
            <a:r>
              <a:rPr lang="zh-CN" altLang="en-US" sz="1400" b="1" dirty="0">
                <a:solidFill>
                  <a:srgbClr val="C00000"/>
                </a:solidFill>
                <a:latin typeface="微软雅黑" panose="020B0503020204020204" pitchFamily="34" charset="-122"/>
                <a:ea typeface="微软雅黑" panose="020B0503020204020204" pitchFamily="34" charset="-122"/>
              </a:rPr>
              <a:t>北向 </a:t>
            </a:r>
            <a:r>
              <a:rPr lang="en-US" altLang="zh-CN" sz="1400" b="1" dirty="0">
                <a:solidFill>
                  <a:srgbClr val="C00000"/>
                </a:solidFill>
                <a:latin typeface="微软雅黑" panose="020B0503020204020204" pitchFamily="34" charset="-122"/>
                <a:ea typeface="微软雅黑" panose="020B0503020204020204" pitchFamily="34" charset="-122"/>
                <a:cs typeface="Times New Roman" pitchFamily="18" charset="0"/>
              </a:rPr>
              <a:t>API</a:t>
            </a:r>
          </a:p>
          <a:p>
            <a:pPr algn="ctr"/>
            <a:r>
              <a:rPr lang="zh-CN" altLang="en-US" sz="1200" b="1" dirty="0">
                <a:latin typeface="微软雅黑" panose="020B0503020204020204" pitchFamily="34" charset="-122"/>
                <a:ea typeface="微软雅黑" panose="020B0503020204020204" pitchFamily="34" charset="-122"/>
                <a:cs typeface="Times New Roman" pitchFamily="18" charset="0"/>
              </a:rPr>
              <a:t>（例如 </a:t>
            </a:r>
            <a:r>
              <a:rPr lang="en-US" altLang="zh-CN" sz="1200" b="1" dirty="0">
                <a:latin typeface="微软雅黑" panose="020B0503020204020204" pitchFamily="34" charset="-122"/>
                <a:ea typeface="微软雅黑" panose="020B0503020204020204" pitchFamily="34" charset="-122"/>
                <a:cs typeface="Times New Roman" pitchFamily="18" charset="0"/>
              </a:rPr>
              <a:t>GUI</a:t>
            </a:r>
            <a:r>
              <a:rPr lang="zh-CN" altLang="en-US" sz="1200" b="1" dirty="0">
                <a:latin typeface="微软雅黑" panose="020B0503020204020204" pitchFamily="34" charset="-122"/>
                <a:ea typeface="微软雅黑" panose="020B0503020204020204" pitchFamily="34" charset="-122"/>
                <a:cs typeface="Times New Roman" pitchFamily="18" charset="0"/>
              </a:rPr>
              <a:t>，</a:t>
            </a:r>
            <a:r>
              <a:rPr lang="en-US" altLang="zh-CN" sz="1200" b="1" dirty="0">
                <a:latin typeface="微软雅黑" panose="020B0503020204020204" pitchFamily="34" charset="-122"/>
                <a:ea typeface="微软雅黑" panose="020B0503020204020204" pitchFamily="34" charset="-122"/>
                <a:cs typeface="Times New Roman" pitchFamily="18" charset="0"/>
              </a:rPr>
              <a:t>Java</a:t>
            </a:r>
            <a:r>
              <a:rPr lang="zh-CN" altLang="en-US" sz="1200" b="1" dirty="0">
                <a:latin typeface="微软雅黑" panose="020B0503020204020204" pitchFamily="34" charset="-122"/>
                <a:ea typeface="微软雅黑" panose="020B0503020204020204" pitchFamily="34" charset="-122"/>
                <a:cs typeface="Times New Roman" pitchFamily="18" charset="0"/>
              </a:rPr>
              <a:t>，</a:t>
            </a:r>
            <a:r>
              <a:rPr lang="en-US" altLang="zh-CN" sz="1200" b="1" dirty="0">
                <a:latin typeface="微软雅黑" panose="020B0503020204020204" pitchFamily="34" charset="-122"/>
                <a:ea typeface="微软雅黑" panose="020B0503020204020204" pitchFamily="34" charset="-122"/>
                <a:cs typeface="Times New Roman" pitchFamily="18" charset="0"/>
              </a:rPr>
              <a:t>Python</a:t>
            </a:r>
            <a:r>
              <a:rPr lang="zh-CN" altLang="en-US" sz="1200" b="1" dirty="0">
                <a:latin typeface="微软雅黑" panose="020B0503020204020204" pitchFamily="34" charset="-122"/>
                <a:ea typeface="微软雅黑" panose="020B0503020204020204" pitchFamily="34" charset="-122"/>
                <a:cs typeface="Times New Roman" pitchFamily="18" charset="0"/>
              </a:rPr>
              <a:t>，</a:t>
            </a:r>
            <a:r>
              <a:rPr lang="en-US" altLang="zh-CN" sz="1200" b="1" dirty="0">
                <a:latin typeface="微软雅黑" panose="020B0503020204020204" pitchFamily="34" charset="-122"/>
                <a:ea typeface="微软雅黑" panose="020B0503020204020204" pitchFamily="34" charset="-122"/>
                <a:cs typeface="Times New Roman" pitchFamily="18" charset="0"/>
              </a:rPr>
              <a:t>APP</a:t>
            </a:r>
            <a:r>
              <a:rPr lang="zh-CN" altLang="en-US" sz="1200" b="1" dirty="0">
                <a:latin typeface="微软雅黑" panose="020B0503020204020204" pitchFamily="34" charset="-122"/>
                <a:ea typeface="微软雅黑" panose="020B0503020204020204" pitchFamily="34" charset="-122"/>
                <a:cs typeface="Times New Roman" pitchFamily="18" charset="0"/>
              </a:rPr>
              <a:t>）</a:t>
            </a:r>
          </a:p>
        </p:txBody>
      </p:sp>
      <p:cxnSp>
        <p:nvCxnSpPr>
          <p:cNvPr id="54" name="直接连接符 53"/>
          <p:cNvCxnSpPr/>
          <p:nvPr/>
        </p:nvCxnSpPr>
        <p:spPr>
          <a:xfrm>
            <a:off x="5492411" y="3122581"/>
            <a:ext cx="6605" cy="616996"/>
          </a:xfrm>
          <a:prstGeom prst="line">
            <a:avLst/>
          </a:prstGeom>
          <a:ln w="952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5033363" y="3122581"/>
            <a:ext cx="1992" cy="361200"/>
          </a:xfrm>
          <a:prstGeom prst="line">
            <a:avLst/>
          </a:prstGeom>
          <a:ln w="952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flipH="1">
            <a:off x="4547246" y="3128388"/>
            <a:ext cx="649" cy="790050"/>
          </a:xfrm>
          <a:prstGeom prst="line">
            <a:avLst/>
          </a:prstGeom>
          <a:ln w="952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7" name="直接连接符 56"/>
          <p:cNvCxnSpPr/>
          <p:nvPr/>
        </p:nvCxnSpPr>
        <p:spPr>
          <a:xfrm flipH="1">
            <a:off x="3588532" y="3128388"/>
            <a:ext cx="1638" cy="589999"/>
          </a:xfrm>
          <a:prstGeom prst="line">
            <a:avLst/>
          </a:prstGeom>
          <a:ln w="952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8" name="直接连接符 57"/>
          <p:cNvCxnSpPr/>
          <p:nvPr/>
        </p:nvCxnSpPr>
        <p:spPr>
          <a:xfrm flipH="1">
            <a:off x="4283047" y="3131292"/>
            <a:ext cx="3951" cy="358879"/>
          </a:xfrm>
          <a:prstGeom prst="line">
            <a:avLst/>
          </a:prstGeom>
          <a:ln w="9525">
            <a:solidFill>
              <a:schemeClr val="tx1"/>
            </a:solidFill>
            <a:prstDash val="dash"/>
          </a:ln>
        </p:spPr>
        <p:style>
          <a:lnRef idx="1">
            <a:schemeClr val="accent1"/>
          </a:lnRef>
          <a:fillRef idx="0">
            <a:schemeClr val="accent1"/>
          </a:fillRef>
          <a:effectRef idx="0">
            <a:schemeClr val="accent1"/>
          </a:effectRef>
          <a:fontRef idx="minor">
            <a:schemeClr val="tx1"/>
          </a:fontRef>
        </p:style>
      </p:cxnSp>
      <p:pic>
        <p:nvPicPr>
          <p:cNvPr id="59" name="Picture 21"/>
          <p:cNvPicPr>
            <a:picLocks noChangeArrowheads="1"/>
          </p:cNvPicPr>
          <p:nvPr/>
        </p:nvPicPr>
        <p:blipFill>
          <a:blip r:embed="rId4"/>
          <a:srcRect/>
          <a:stretch>
            <a:fillRect/>
          </a:stretch>
        </p:blipFill>
        <p:spPr bwMode="auto">
          <a:xfrm>
            <a:off x="2690601" y="1482702"/>
            <a:ext cx="249063" cy="459023"/>
          </a:xfrm>
          <a:prstGeom prst="rect">
            <a:avLst/>
          </a:prstGeom>
          <a:noFill/>
          <a:ln w="12699">
            <a:noFill/>
            <a:miter lim="800000"/>
            <a:headEnd/>
            <a:tailEnd/>
          </a:ln>
        </p:spPr>
      </p:pic>
      <p:pic>
        <p:nvPicPr>
          <p:cNvPr id="60" name="Picture 21"/>
          <p:cNvPicPr>
            <a:picLocks noChangeArrowheads="1"/>
          </p:cNvPicPr>
          <p:nvPr/>
        </p:nvPicPr>
        <p:blipFill>
          <a:blip r:embed="rId4"/>
          <a:srcRect/>
          <a:stretch>
            <a:fillRect/>
          </a:stretch>
        </p:blipFill>
        <p:spPr bwMode="auto">
          <a:xfrm>
            <a:off x="4188594" y="1482702"/>
            <a:ext cx="249063" cy="459023"/>
          </a:xfrm>
          <a:prstGeom prst="rect">
            <a:avLst/>
          </a:prstGeom>
          <a:noFill/>
          <a:ln w="12699">
            <a:noFill/>
            <a:miter lim="800000"/>
            <a:headEnd/>
            <a:tailEnd/>
          </a:ln>
        </p:spPr>
      </p:pic>
      <p:pic>
        <p:nvPicPr>
          <p:cNvPr id="61" name="Picture 21"/>
          <p:cNvPicPr>
            <a:picLocks noChangeArrowheads="1"/>
          </p:cNvPicPr>
          <p:nvPr/>
        </p:nvPicPr>
        <p:blipFill>
          <a:blip r:embed="rId4"/>
          <a:srcRect/>
          <a:stretch>
            <a:fillRect/>
          </a:stretch>
        </p:blipFill>
        <p:spPr bwMode="auto">
          <a:xfrm>
            <a:off x="5312089" y="1482702"/>
            <a:ext cx="249063" cy="459023"/>
          </a:xfrm>
          <a:prstGeom prst="rect">
            <a:avLst/>
          </a:prstGeom>
          <a:noFill/>
          <a:ln w="12699">
            <a:noFill/>
            <a:miter lim="800000"/>
            <a:headEnd/>
            <a:tailEnd/>
          </a:ln>
        </p:spPr>
      </p:pic>
      <p:pic>
        <p:nvPicPr>
          <p:cNvPr id="62" name="Picture 21"/>
          <p:cNvPicPr>
            <a:picLocks noChangeArrowheads="1"/>
          </p:cNvPicPr>
          <p:nvPr/>
        </p:nvPicPr>
        <p:blipFill>
          <a:blip r:embed="rId4"/>
          <a:srcRect/>
          <a:stretch>
            <a:fillRect/>
          </a:stretch>
        </p:blipFill>
        <p:spPr bwMode="auto">
          <a:xfrm>
            <a:off x="2877850" y="2415587"/>
            <a:ext cx="249063" cy="459023"/>
          </a:xfrm>
          <a:prstGeom prst="rect">
            <a:avLst/>
          </a:prstGeom>
          <a:noFill/>
          <a:ln w="12699">
            <a:noFill/>
            <a:miter lim="800000"/>
            <a:headEnd/>
            <a:tailEnd/>
          </a:ln>
        </p:spPr>
      </p:pic>
      <p:cxnSp>
        <p:nvCxnSpPr>
          <p:cNvPr id="63" name="直接连接符 62"/>
          <p:cNvCxnSpPr/>
          <p:nvPr/>
        </p:nvCxnSpPr>
        <p:spPr>
          <a:xfrm flipH="1">
            <a:off x="3317594" y="2225136"/>
            <a:ext cx="8072" cy="354984"/>
          </a:xfrm>
          <a:prstGeom prst="line">
            <a:avLst/>
          </a:prstGeom>
          <a:ln w="952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4" name="直接连接符 63"/>
          <p:cNvCxnSpPr/>
          <p:nvPr/>
        </p:nvCxnSpPr>
        <p:spPr>
          <a:xfrm>
            <a:off x="4778945" y="2224727"/>
            <a:ext cx="126" cy="362191"/>
          </a:xfrm>
          <a:prstGeom prst="line">
            <a:avLst/>
          </a:prstGeom>
          <a:ln w="952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5" name="直接连接符 64"/>
          <p:cNvCxnSpPr>
            <a:stCxn id="49" idx="2"/>
          </p:cNvCxnSpPr>
          <p:nvPr/>
        </p:nvCxnSpPr>
        <p:spPr>
          <a:xfrm flipH="1">
            <a:off x="5900309" y="2222247"/>
            <a:ext cx="4735" cy="364671"/>
          </a:xfrm>
          <a:prstGeom prst="line">
            <a:avLst/>
          </a:prstGeom>
          <a:ln w="952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6" name="直接箭头连接符 65"/>
          <p:cNvCxnSpPr/>
          <p:nvPr/>
        </p:nvCxnSpPr>
        <p:spPr>
          <a:xfrm>
            <a:off x="2228436" y="1482702"/>
            <a:ext cx="0" cy="1810895"/>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67" name="TextBox 179"/>
          <p:cNvSpPr txBox="1"/>
          <p:nvPr/>
        </p:nvSpPr>
        <p:spPr>
          <a:xfrm>
            <a:off x="1791522" y="2212459"/>
            <a:ext cx="909736" cy="307777"/>
          </a:xfrm>
          <a:prstGeom prst="rect">
            <a:avLst/>
          </a:prstGeom>
          <a:solidFill>
            <a:srgbClr val="C3E3F9"/>
          </a:solidFill>
        </p:spPr>
        <p:txBody>
          <a:bodyPr wrap="square" rtlCol="0">
            <a:spAutoFit/>
          </a:bodyPr>
          <a:lstStyle/>
          <a:p>
            <a:pPr algn="ctr"/>
            <a:r>
              <a:rPr lang="zh-CN" altLang="en-US" sz="1400" b="1" dirty="0">
                <a:latin typeface="微软雅黑" panose="020B0503020204020204" pitchFamily="34" charset="-122"/>
                <a:ea typeface="微软雅黑" panose="020B0503020204020204" pitchFamily="34" charset="-122"/>
              </a:rPr>
              <a:t>控制层面</a:t>
            </a:r>
          </a:p>
        </p:txBody>
      </p:sp>
      <p:cxnSp>
        <p:nvCxnSpPr>
          <p:cNvPr id="68" name="直接箭头连接符 67"/>
          <p:cNvCxnSpPr/>
          <p:nvPr/>
        </p:nvCxnSpPr>
        <p:spPr>
          <a:xfrm>
            <a:off x="2228436" y="3293597"/>
            <a:ext cx="0" cy="932885"/>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69" name="直接箭头连接符 68"/>
          <p:cNvCxnSpPr/>
          <p:nvPr/>
        </p:nvCxnSpPr>
        <p:spPr>
          <a:xfrm>
            <a:off x="1978771" y="4226483"/>
            <a:ext cx="499331" cy="0"/>
          </a:xfrm>
          <a:prstGeom prst="straightConnector1">
            <a:avLst/>
          </a:prstGeom>
          <a:ln w="9525">
            <a:solidFill>
              <a:schemeClr val="tx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0" name="TextBox 180"/>
          <p:cNvSpPr txBox="1"/>
          <p:nvPr/>
        </p:nvSpPr>
        <p:spPr>
          <a:xfrm>
            <a:off x="1775857" y="3677727"/>
            <a:ext cx="902811" cy="307777"/>
          </a:xfrm>
          <a:prstGeom prst="rect">
            <a:avLst/>
          </a:prstGeom>
          <a:solidFill>
            <a:srgbClr val="C3E3F9"/>
          </a:solidFill>
        </p:spPr>
        <p:txBody>
          <a:bodyPr wrap="none" rtlCol="0">
            <a:spAutoFit/>
          </a:bodyPr>
          <a:lstStyle/>
          <a:p>
            <a:pPr algn="ctr"/>
            <a:r>
              <a:rPr lang="zh-CN" altLang="en-US" sz="1400" b="1">
                <a:latin typeface="微软雅黑" panose="020B0503020204020204" pitchFamily="34" charset="-122"/>
                <a:ea typeface="微软雅黑" panose="020B0503020204020204" pitchFamily="34" charset="-122"/>
              </a:rPr>
              <a:t>数据层面</a:t>
            </a:r>
            <a:endParaRPr lang="zh-CN" altLang="en-US" sz="1400" b="1" dirty="0">
              <a:latin typeface="微软雅黑" panose="020B0503020204020204" pitchFamily="34" charset="-122"/>
              <a:ea typeface="微软雅黑" panose="020B0503020204020204" pitchFamily="34" charset="-122"/>
            </a:endParaRPr>
          </a:p>
        </p:txBody>
      </p:sp>
      <p:sp>
        <p:nvSpPr>
          <p:cNvPr id="71" name="TextBox 217"/>
          <p:cNvSpPr txBox="1"/>
          <p:nvPr/>
        </p:nvSpPr>
        <p:spPr>
          <a:xfrm>
            <a:off x="3790740" y="4096713"/>
            <a:ext cx="1499128" cy="276999"/>
          </a:xfrm>
          <a:prstGeom prst="rect">
            <a:avLst/>
          </a:prstGeom>
          <a:noFill/>
        </p:spPr>
        <p:txBody>
          <a:bodyPr wrap="none" rtlCol="0">
            <a:spAutoFit/>
          </a:bodyPr>
          <a:lstStyle/>
          <a:p>
            <a:pPr algn="ctr"/>
            <a:r>
              <a:rPr lang="en-US" altLang="zh-CN" sz="1200" b="1" dirty="0">
                <a:latin typeface="微软雅黑" panose="020B0503020204020204" pitchFamily="34" charset="-122"/>
                <a:ea typeface="微软雅黑" panose="020B0503020204020204" pitchFamily="34" charset="-122"/>
                <a:cs typeface="Times New Roman" pitchFamily="18" charset="0"/>
              </a:rPr>
              <a:t>SDN </a:t>
            </a:r>
            <a:r>
              <a:rPr lang="zh-CN" altLang="en-US" sz="1200" b="1" dirty="0">
                <a:latin typeface="微软雅黑" panose="020B0503020204020204" pitchFamily="34" charset="-122"/>
                <a:ea typeface="微软雅黑" panose="020B0503020204020204" pitchFamily="34" charset="-122"/>
                <a:cs typeface="Times New Roman" pitchFamily="18" charset="0"/>
              </a:rPr>
              <a:t>控制的交换机</a:t>
            </a:r>
          </a:p>
        </p:txBody>
      </p:sp>
    </p:spTree>
    <p:extLst>
      <p:ext uri="{BB962C8B-B14F-4D97-AF65-F5344CB8AC3E}">
        <p14:creationId xmlns:p14="http://schemas.microsoft.com/office/powerpoint/2010/main" val="416959688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61414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1941968" y="5809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SDN </a:t>
            </a:r>
            <a:r>
              <a:rPr lang="zh-CN" altLang="en-US" sz="2000" b="1" dirty="0">
                <a:solidFill>
                  <a:schemeClr val="bg1"/>
                </a:solidFill>
                <a:latin typeface="微软雅黑" pitchFamily="34" charset="-122"/>
                <a:ea typeface="微软雅黑" pitchFamily="34" charset="-122"/>
              </a:rPr>
              <a:t>体系结构的四个关键特征</a:t>
            </a:r>
          </a:p>
        </p:txBody>
      </p:sp>
      <p:graphicFrame>
        <p:nvGraphicFramePr>
          <p:cNvPr id="3" name="图示 2"/>
          <p:cNvGraphicFramePr/>
          <p:nvPr>
            <p:extLst>
              <p:ext uri="{D42A27DB-BD31-4B8C-83A1-F6EECF244321}">
                <p14:modId xmlns:p14="http://schemas.microsoft.com/office/powerpoint/2010/main" val="2518448594"/>
              </p:ext>
            </p:extLst>
          </p:nvPr>
        </p:nvGraphicFramePr>
        <p:xfrm>
          <a:off x="1242646" y="1014254"/>
          <a:ext cx="6764216" cy="320605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74688571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61414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1941968" y="5809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SDN </a:t>
            </a:r>
            <a:r>
              <a:rPr lang="zh-CN" altLang="en-US" sz="2000" b="1" dirty="0">
                <a:solidFill>
                  <a:schemeClr val="bg1"/>
                </a:solidFill>
                <a:latin typeface="微软雅黑" pitchFamily="34" charset="-122"/>
                <a:ea typeface="微软雅黑" pitchFamily="34" charset="-122"/>
              </a:rPr>
              <a:t>与传统网络的差别</a:t>
            </a:r>
          </a:p>
        </p:txBody>
      </p:sp>
      <p:graphicFrame>
        <p:nvGraphicFramePr>
          <p:cNvPr id="2" name="图示 1"/>
          <p:cNvGraphicFramePr/>
          <p:nvPr>
            <p:extLst>
              <p:ext uri="{D42A27DB-BD31-4B8C-83A1-F6EECF244321}">
                <p14:modId xmlns:p14="http://schemas.microsoft.com/office/powerpoint/2010/main" val="656362305"/>
              </p:ext>
            </p:extLst>
          </p:nvPr>
        </p:nvGraphicFramePr>
        <p:xfrm>
          <a:off x="1271932" y="1108040"/>
          <a:ext cx="6641145" cy="2971591"/>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259973387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圆角矩形 40"/>
          <p:cNvSpPr/>
          <p:nvPr/>
        </p:nvSpPr>
        <p:spPr>
          <a:xfrm>
            <a:off x="545144" y="1080937"/>
            <a:ext cx="8053711" cy="3409582"/>
          </a:xfrm>
          <a:prstGeom prst="roundRect">
            <a:avLst>
              <a:gd name="adj" fmla="val 11622"/>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7" name="AutoShape 5"/>
          <p:cNvSpPr>
            <a:spLocks noChangeArrowheads="1"/>
          </p:cNvSpPr>
          <p:nvPr/>
        </p:nvSpPr>
        <p:spPr bwMode="auto">
          <a:xfrm>
            <a:off x="545144" y="617509"/>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8" name="Rectangle 6"/>
          <p:cNvSpPr>
            <a:spLocks noChangeArrowheads="1"/>
          </p:cNvSpPr>
          <p:nvPr/>
        </p:nvSpPr>
        <p:spPr bwMode="auto">
          <a:xfrm>
            <a:off x="3069033" y="576646"/>
            <a:ext cx="300595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4.10.3  SDN </a:t>
            </a:r>
            <a:r>
              <a:rPr lang="zh-CN" altLang="en-US" sz="2400" b="1" dirty="0">
                <a:solidFill>
                  <a:schemeClr val="bg1"/>
                </a:solidFill>
                <a:latin typeface="微软雅黑" pitchFamily="34" charset="-122"/>
                <a:ea typeface="微软雅黑" pitchFamily="34" charset="-122"/>
              </a:rPr>
              <a:t>控制器</a:t>
            </a:r>
          </a:p>
        </p:txBody>
      </p:sp>
      <p:grpSp>
        <p:nvGrpSpPr>
          <p:cNvPr id="42" name="组合 41"/>
          <p:cNvGrpSpPr/>
          <p:nvPr/>
        </p:nvGrpSpPr>
        <p:grpSpPr>
          <a:xfrm>
            <a:off x="633046" y="1230438"/>
            <a:ext cx="6375957" cy="3035975"/>
            <a:chOff x="1359877" y="1230438"/>
            <a:chExt cx="6375957" cy="3035975"/>
          </a:xfrm>
        </p:grpSpPr>
        <p:cxnSp>
          <p:nvCxnSpPr>
            <p:cNvPr id="9" name="直接连接符 8"/>
            <p:cNvCxnSpPr/>
            <p:nvPr/>
          </p:nvCxnSpPr>
          <p:spPr>
            <a:xfrm>
              <a:off x="2742756" y="4082073"/>
              <a:ext cx="3798722" cy="0"/>
            </a:xfrm>
            <a:prstGeom prst="line">
              <a:avLst/>
            </a:prstGeom>
            <a:ln w="19050">
              <a:solidFill>
                <a:srgbClr val="000066"/>
              </a:solidFill>
              <a:prstDash val="sysDash"/>
            </a:ln>
          </p:spPr>
          <p:style>
            <a:lnRef idx="1">
              <a:schemeClr val="accent1"/>
            </a:lnRef>
            <a:fillRef idx="0">
              <a:schemeClr val="accent1"/>
            </a:fillRef>
            <a:effectRef idx="0">
              <a:schemeClr val="accent1"/>
            </a:effectRef>
            <a:fontRef idx="minor">
              <a:schemeClr val="tx1"/>
            </a:fontRef>
          </p:style>
        </p:cxnSp>
        <p:sp>
          <p:nvSpPr>
            <p:cNvPr id="10" name="矩形 9"/>
            <p:cNvSpPr/>
            <p:nvPr/>
          </p:nvSpPr>
          <p:spPr>
            <a:xfrm>
              <a:off x="2814445" y="3329144"/>
              <a:ext cx="3171219" cy="645607"/>
            </a:xfrm>
            <a:prstGeom prst="rect">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200" b="1">
                  <a:solidFill>
                    <a:schemeClr val="tx1"/>
                  </a:solidFill>
                  <a:latin typeface="微软雅黑" panose="020B0503020204020204" pitchFamily="34" charset="-122"/>
                  <a:ea typeface="微软雅黑" panose="020B0503020204020204" pitchFamily="34" charset="-122"/>
                  <a:cs typeface="Times New Roman" pitchFamily="18" charset="0"/>
                </a:rPr>
                <a:t>与数据层面中</a:t>
              </a:r>
              <a:r>
                <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rPr>
                <a:t>受控设备的通信</a:t>
              </a: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p:txBody>
        </p:sp>
        <p:sp>
          <p:nvSpPr>
            <p:cNvPr id="11" name="TextBox 109"/>
            <p:cNvSpPr txBox="1"/>
            <p:nvPr/>
          </p:nvSpPr>
          <p:spPr>
            <a:xfrm>
              <a:off x="6576747" y="3927859"/>
              <a:ext cx="1159087" cy="338554"/>
            </a:xfrm>
            <a:prstGeom prst="rect">
              <a:avLst/>
            </a:prstGeom>
            <a:noFill/>
          </p:spPr>
          <p:txBody>
            <a:bodyPr wrap="square" rtlCol="0">
              <a:spAutoFit/>
            </a:bodyPr>
            <a:lstStyle/>
            <a:p>
              <a:pPr algn="ctr"/>
              <a:r>
                <a:rPr lang="zh-CN" altLang="en-US" sz="1600" b="1" dirty="0">
                  <a:solidFill>
                    <a:srgbClr val="0000FF"/>
                  </a:solidFill>
                  <a:latin typeface="微软雅黑" panose="020B0503020204020204" pitchFamily="34" charset="-122"/>
                  <a:ea typeface="微软雅黑" panose="020B0503020204020204" pitchFamily="34" charset="-122"/>
                </a:rPr>
                <a:t>南向 </a:t>
              </a:r>
              <a:r>
                <a:rPr lang="en-US" altLang="zh-CN" sz="1600" b="1" dirty="0">
                  <a:solidFill>
                    <a:srgbClr val="0000FF"/>
                  </a:solidFill>
                  <a:latin typeface="微软雅黑" panose="020B0503020204020204" pitchFamily="34" charset="-122"/>
                  <a:ea typeface="微软雅黑" panose="020B0503020204020204" pitchFamily="34" charset="-122"/>
                  <a:cs typeface="Times New Roman" pitchFamily="18" charset="0"/>
                </a:rPr>
                <a:t>API</a:t>
              </a:r>
              <a:endParaRPr lang="zh-CN" altLang="en-US" sz="1600" b="1" dirty="0">
                <a:solidFill>
                  <a:srgbClr val="0000FF"/>
                </a:solidFill>
                <a:latin typeface="微软雅黑" panose="020B0503020204020204" pitchFamily="34" charset="-122"/>
                <a:ea typeface="微软雅黑" panose="020B0503020204020204" pitchFamily="34" charset="-122"/>
                <a:cs typeface="Times New Roman" pitchFamily="18" charset="0"/>
              </a:endParaRPr>
            </a:p>
          </p:txBody>
        </p:sp>
        <p:cxnSp>
          <p:nvCxnSpPr>
            <p:cNvPr id="12" name="直接连接符 11"/>
            <p:cNvCxnSpPr/>
            <p:nvPr/>
          </p:nvCxnSpPr>
          <p:spPr>
            <a:xfrm>
              <a:off x="2751495" y="1406242"/>
              <a:ext cx="3789982" cy="0"/>
            </a:xfrm>
            <a:prstGeom prst="line">
              <a:avLst/>
            </a:prstGeom>
            <a:ln w="19050">
              <a:solidFill>
                <a:srgbClr val="000066"/>
              </a:solidFill>
              <a:prstDash val="sysDash"/>
            </a:ln>
          </p:spPr>
          <p:style>
            <a:lnRef idx="1">
              <a:schemeClr val="accent1"/>
            </a:lnRef>
            <a:fillRef idx="0">
              <a:schemeClr val="accent1"/>
            </a:fillRef>
            <a:effectRef idx="0">
              <a:schemeClr val="accent1"/>
            </a:effectRef>
            <a:fontRef idx="minor">
              <a:schemeClr val="tx1"/>
            </a:fontRef>
          </p:style>
        </p:cxnSp>
        <p:sp>
          <p:nvSpPr>
            <p:cNvPr id="13" name="TextBox 112"/>
            <p:cNvSpPr txBox="1"/>
            <p:nvPr/>
          </p:nvSpPr>
          <p:spPr>
            <a:xfrm>
              <a:off x="6576743" y="1230438"/>
              <a:ext cx="1159088" cy="338554"/>
            </a:xfrm>
            <a:prstGeom prst="rect">
              <a:avLst/>
            </a:prstGeom>
            <a:noFill/>
          </p:spPr>
          <p:txBody>
            <a:bodyPr wrap="square" rtlCol="0">
              <a:spAutoFit/>
            </a:bodyPr>
            <a:lstStyle/>
            <a:p>
              <a:pPr algn="ctr"/>
              <a:r>
                <a:rPr lang="zh-CN" altLang="en-US" sz="1600" b="1" dirty="0">
                  <a:solidFill>
                    <a:srgbClr val="C00000"/>
                  </a:solidFill>
                  <a:latin typeface="微软雅黑" panose="020B0503020204020204" pitchFamily="34" charset="-122"/>
                  <a:ea typeface="微软雅黑" panose="020B0503020204020204" pitchFamily="34" charset="-122"/>
                </a:rPr>
                <a:t>北向 </a:t>
              </a:r>
              <a:r>
                <a:rPr lang="en-US" altLang="zh-CN" sz="1600" b="1" dirty="0">
                  <a:solidFill>
                    <a:srgbClr val="C00000"/>
                  </a:solidFill>
                  <a:latin typeface="微软雅黑" panose="020B0503020204020204" pitchFamily="34" charset="-122"/>
                  <a:ea typeface="微软雅黑" panose="020B0503020204020204" pitchFamily="34" charset="-122"/>
                  <a:cs typeface="Times New Roman" pitchFamily="18" charset="0"/>
                </a:rPr>
                <a:t>API</a:t>
              </a:r>
              <a:endParaRPr lang="zh-CN" altLang="en-US" sz="1600" b="1" dirty="0">
                <a:solidFill>
                  <a:srgbClr val="C00000"/>
                </a:solidFill>
                <a:latin typeface="微软雅黑" panose="020B0503020204020204" pitchFamily="34" charset="-122"/>
                <a:ea typeface="微软雅黑" panose="020B0503020204020204" pitchFamily="34" charset="-122"/>
                <a:cs typeface="Times New Roman" pitchFamily="18" charset="0"/>
              </a:endParaRPr>
            </a:p>
          </p:txBody>
        </p:sp>
        <p:cxnSp>
          <p:nvCxnSpPr>
            <p:cNvPr id="14" name="直接箭头连接符 13"/>
            <p:cNvCxnSpPr/>
            <p:nvPr/>
          </p:nvCxnSpPr>
          <p:spPr>
            <a:xfrm flipH="1">
              <a:off x="6402114" y="1446124"/>
              <a:ext cx="7669" cy="2607484"/>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15" name="TextBox 179"/>
            <p:cNvSpPr txBox="1"/>
            <p:nvPr/>
          </p:nvSpPr>
          <p:spPr>
            <a:xfrm>
              <a:off x="5971007" y="2515627"/>
              <a:ext cx="906761" cy="584775"/>
            </a:xfrm>
            <a:prstGeom prst="rect">
              <a:avLst/>
            </a:prstGeom>
            <a:solidFill>
              <a:srgbClr val="C3E3F9"/>
            </a:solidFill>
          </p:spPr>
          <p:txBody>
            <a:bodyPr wrap="square" rtlCol="0">
              <a:spAutoFit/>
            </a:bodyPr>
            <a:lstStyle/>
            <a:p>
              <a:pPr algn="ctr"/>
              <a:r>
                <a:rPr lang="en-US" altLang="zh-CN" sz="1600" b="1" dirty="0">
                  <a:latin typeface="微软雅黑" panose="020B0503020204020204" pitchFamily="34" charset="-122"/>
                  <a:ea typeface="微软雅黑" panose="020B0503020204020204" pitchFamily="34" charset="-122"/>
                  <a:cs typeface="Times New Roman" pitchFamily="18" charset="0"/>
                </a:rPr>
                <a:t>SDN</a:t>
              </a:r>
            </a:p>
            <a:p>
              <a:pPr algn="ctr"/>
              <a:r>
                <a:rPr lang="zh-CN" altLang="en-US" sz="1600" b="1" dirty="0">
                  <a:latin typeface="微软雅黑" panose="020B0503020204020204" pitchFamily="34" charset="-122"/>
                  <a:ea typeface="微软雅黑" panose="020B0503020204020204" pitchFamily="34" charset="-122"/>
                  <a:cs typeface="Times New Roman" pitchFamily="18" charset="0"/>
                </a:rPr>
                <a:t>控制器</a:t>
              </a:r>
            </a:p>
          </p:txBody>
        </p:sp>
        <p:sp>
          <p:nvSpPr>
            <p:cNvPr id="16" name="TextBox 63"/>
            <p:cNvSpPr txBox="1"/>
            <p:nvPr/>
          </p:nvSpPr>
          <p:spPr>
            <a:xfrm>
              <a:off x="3144781" y="3606691"/>
              <a:ext cx="1057072" cy="276999"/>
            </a:xfrm>
            <a:prstGeom prst="rect">
              <a:avLst/>
            </a:prstGeom>
            <a:solidFill>
              <a:schemeClr val="tx2">
                <a:lumMod val="20000"/>
                <a:lumOff val="80000"/>
              </a:schemeClr>
            </a:solidFill>
            <a:ln/>
            <a:scene3d>
              <a:camera prst="orthographicFront">
                <a:rot lat="0" lon="0" rev="0"/>
              </a:camera>
              <a:lightRig rig="threePt" dir="t">
                <a:rot lat="0" lon="0" rev="1200000"/>
              </a:lightRig>
            </a:scene3d>
            <a:sp3d>
              <a:bevelT w="25400" h="25400"/>
            </a:sp3d>
          </p:spPr>
          <p:style>
            <a:lnRef idx="0">
              <a:schemeClr val="accent1"/>
            </a:lnRef>
            <a:fillRef idx="3">
              <a:schemeClr val="accent1"/>
            </a:fillRef>
            <a:effectRef idx="3">
              <a:schemeClr val="accent1"/>
            </a:effectRef>
            <a:fontRef idx="minor">
              <a:schemeClr val="lt1"/>
            </a:fontRef>
          </p:style>
          <p:txBody>
            <a:bodyPr wrap="square" rtlCol="0">
              <a:spAutoFit/>
            </a:bodyPr>
            <a:lstStyle/>
            <a:p>
              <a:pPr algn="ctr"/>
              <a:r>
                <a:rPr lang="en-US" altLang="zh-CN" sz="1200" b="1" dirty="0" err="1">
                  <a:solidFill>
                    <a:schemeClr val="tx1"/>
                  </a:solidFill>
                  <a:latin typeface="微软雅黑" panose="020B0503020204020204" pitchFamily="34" charset="-122"/>
                  <a:ea typeface="微软雅黑" panose="020B0503020204020204" pitchFamily="34" charset="-122"/>
                  <a:cs typeface="Times New Roman" pitchFamily="18" charset="0"/>
                </a:rPr>
                <a:t>OpenFlow</a:t>
              </a:r>
              <a:endPar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p:txBody>
        </p:sp>
        <p:sp>
          <p:nvSpPr>
            <p:cNvPr id="17" name="TextBox 64"/>
            <p:cNvSpPr txBox="1"/>
            <p:nvPr/>
          </p:nvSpPr>
          <p:spPr>
            <a:xfrm>
              <a:off x="4730389" y="3598147"/>
              <a:ext cx="726739" cy="276999"/>
            </a:xfrm>
            <a:prstGeom prst="rect">
              <a:avLst/>
            </a:prstGeom>
            <a:solidFill>
              <a:schemeClr val="tx2">
                <a:lumMod val="20000"/>
                <a:lumOff val="80000"/>
              </a:schemeClr>
            </a:solidFill>
            <a:ln/>
            <a:scene3d>
              <a:camera prst="orthographicFront">
                <a:rot lat="0" lon="0" rev="0"/>
              </a:camera>
              <a:lightRig rig="threePt" dir="t">
                <a:rot lat="0" lon="0" rev="1200000"/>
              </a:lightRig>
            </a:scene3d>
            <a:sp3d>
              <a:bevelT w="25400" h="25400"/>
            </a:sp3d>
          </p:spPr>
          <p:style>
            <a:lnRef idx="0">
              <a:schemeClr val="accent1"/>
            </a:lnRef>
            <a:fillRef idx="3">
              <a:schemeClr val="accent1"/>
            </a:fillRef>
            <a:effectRef idx="3">
              <a:schemeClr val="accent1"/>
            </a:effectRef>
            <a:fontRef idx="minor">
              <a:schemeClr val="lt1"/>
            </a:fontRef>
          </p:style>
          <p:txBody>
            <a:bodyPr wrap="square" rtlCol="0">
              <a:spAutoFit/>
            </a:bodyPr>
            <a:lstStyle>
              <a:defPPr>
                <a:defRPr lang="zh-CN"/>
              </a:defPPr>
              <a:lvl1pPr algn="ctr">
                <a:defRPr sz="1200" b="1">
                  <a:solidFill>
                    <a:schemeClr val="lt1"/>
                  </a:solidFill>
                  <a:latin typeface="微软雅黑" panose="020B0503020204020204" pitchFamily="34" charset="-122"/>
                  <a:ea typeface="微软雅黑" panose="020B0503020204020204" pitchFamily="34" charset="-122"/>
                  <a:cs typeface="Times New Roman" pitchFamily="18"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zh-CN" dirty="0">
                  <a:solidFill>
                    <a:schemeClr val="tx1"/>
                  </a:solidFill>
                </a:rPr>
                <a:t>SNMP</a:t>
              </a:r>
              <a:endParaRPr lang="zh-CN" altLang="en-US" dirty="0">
                <a:solidFill>
                  <a:schemeClr val="tx1"/>
                </a:solidFill>
              </a:endParaRPr>
            </a:p>
          </p:txBody>
        </p:sp>
        <p:sp>
          <p:nvSpPr>
            <p:cNvPr id="18" name="矩形 17"/>
            <p:cNvSpPr/>
            <p:nvPr/>
          </p:nvSpPr>
          <p:spPr>
            <a:xfrm>
              <a:off x="2814445" y="2199332"/>
              <a:ext cx="3171219" cy="1076011"/>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rPr>
                <a:t>网络范围分布式和健壮的状态管理</a:t>
              </a: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p:txBody>
        </p:sp>
        <p:sp>
          <p:nvSpPr>
            <p:cNvPr id="19" name="TextBox 15"/>
            <p:cNvSpPr txBox="1"/>
            <p:nvPr/>
          </p:nvSpPr>
          <p:spPr>
            <a:xfrm>
              <a:off x="4447071" y="2823453"/>
              <a:ext cx="792804" cy="400110"/>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交换机</a:t>
              </a: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信息</a:t>
              </a:r>
            </a:p>
          </p:txBody>
        </p:sp>
        <p:sp>
          <p:nvSpPr>
            <p:cNvPr id="20" name="TextBox 16"/>
            <p:cNvSpPr txBox="1"/>
            <p:nvPr/>
          </p:nvSpPr>
          <p:spPr>
            <a:xfrm>
              <a:off x="4122035" y="2483124"/>
              <a:ext cx="594604" cy="276999"/>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r>
                <a:rPr lang="zh-CN" altLang="en-US" sz="1200" b="1" dirty="0">
                  <a:latin typeface="微软雅黑" panose="020B0503020204020204" pitchFamily="34" charset="-122"/>
                  <a:ea typeface="微软雅黑" panose="020B0503020204020204" pitchFamily="34" charset="-122"/>
                  <a:cs typeface="Times New Roman" pitchFamily="18" charset="0"/>
                </a:rPr>
                <a:t>流表</a:t>
              </a:r>
            </a:p>
          </p:txBody>
        </p:sp>
        <p:sp>
          <p:nvSpPr>
            <p:cNvPr id="21" name="TextBox 17"/>
            <p:cNvSpPr txBox="1"/>
            <p:nvPr/>
          </p:nvSpPr>
          <p:spPr>
            <a:xfrm>
              <a:off x="3808632" y="2823453"/>
              <a:ext cx="634454" cy="400110"/>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主机</a:t>
              </a: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信息</a:t>
              </a:r>
            </a:p>
          </p:txBody>
        </p:sp>
        <p:sp>
          <p:nvSpPr>
            <p:cNvPr id="22" name="TextBox 18"/>
            <p:cNvSpPr txBox="1"/>
            <p:nvPr/>
          </p:nvSpPr>
          <p:spPr>
            <a:xfrm>
              <a:off x="2880512" y="2823453"/>
              <a:ext cx="924939" cy="400110"/>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链路状态信息</a:t>
              </a:r>
            </a:p>
          </p:txBody>
        </p:sp>
        <p:sp>
          <p:nvSpPr>
            <p:cNvPr id="23" name="TextBox 19"/>
            <p:cNvSpPr txBox="1"/>
            <p:nvPr/>
          </p:nvSpPr>
          <p:spPr>
            <a:xfrm>
              <a:off x="3541182" y="2483124"/>
              <a:ext cx="594604" cy="276999"/>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r>
                <a:rPr lang="zh-CN" altLang="en-US" sz="1200" b="1" dirty="0">
                  <a:latin typeface="微软雅黑" panose="020B0503020204020204" pitchFamily="34" charset="-122"/>
                  <a:ea typeface="微软雅黑" panose="020B0503020204020204" pitchFamily="34" charset="-122"/>
                  <a:cs typeface="Times New Roman" pitchFamily="18" charset="0"/>
                </a:rPr>
                <a:t>统计</a:t>
              </a:r>
            </a:p>
          </p:txBody>
        </p:sp>
        <p:sp>
          <p:nvSpPr>
            <p:cNvPr id="24" name="上下箭头 23"/>
            <p:cNvSpPr/>
            <p:nvPr/>
          </p:nvSpPr>
          <p:spPr>
            <a:xfrm>
              <a:off x="4333987" y="3920950"/>
              <a:ext cx="198201" cy="322803"/>
            </a:xfrm>
            <a:prstGeom prst="upDownArrow">
              <a:avLst/>
            </a:prstGeom>
            <a:solidFill>
              <a:srgbClr val="000066"/>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26" name="矩形 25"/>
            <p:cNvSpPr/>
            <p:nvPr/>
          </p:nvSpPr>
          <p:spPr>
            <a:xfrm>
              <a:off x="2814445" y="1499925"/>
              <a:ext cx="3171219" cy="645607"/>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rPr>
                <a:t>与网络控制应用程序的通信</a:t>
              </a: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p:txBody>
        </p:sp>
        <p:sp>
          <p:nvSpPr>
            <p:cNvPr id="27" name="TextBox 24"/>
            <p:cNvSpPr txBox="1"/>
            <p:nvPr/>
          </p:nvSpPr>
          <p:spPr>
            <a:xfrm>
              <a:off x="4259400" y="3576019"/>
              <a:ext cx="401984" cy="276999"/>
            </a:xfrm>
            <a:prstGeom prst="rect">
              <a:avLst/>
            </a:prstGeom>
            <a:noFill/>
          </p:spPr>
          <p:txBody>
            <a:bodyPr wrap="none" rtlCol="0">
              <a:spAutoFit/>
            </a:bodyPr>
            <a:lstStyle/>
            <a:p>
              <a:r>
                <a:rPr lang="en-US" altLang="zh-CN"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sp>
          <p:nvSpPr>
            <p:cNvPr id="28" name="TextBox 25"/>
            <p:cNvSpPr txBox="1"/>
            <p:nvPr/>
          </p:nvSpPr>
          <p:spPr>
            <a:xfrm>
              <a:off x="5250793" y="2859728"/>
              <a:ext cx="401984" cy="276999"/>
            </a:xfrm>
            <a:prstGeom prst="rect">
              <a:avLst/>
            </a:prstGeom>
            <a:noFill/>
          </p:spPr>
          <p:txBody>
            <a:bodyPr wrap="none" rtlCol="0">
              <a:spAutoFit/>
            </a:bodyPr>
            <a:lstStyle/>
            <a:p>
              <a:r>
                <a:rPr lang="en-US" altLang="zh-CN"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sp>
          <p:nvSpPr>
            <p:cNvPr id="29" name="TextBox 26"/>
            <p:cNvSpPr txBox="1"/>
            <p:nvPr/>
          </p:nvSpPr>
          <p:spPr>
            <a:xfrm>
              <a:off x="4798442" y="1776878"/>
              <a:ext cx="401984" cy="276999"/>
            </a:xfrm>
            <a:prstGeom prst="rect">
              <a:avLst/>
            </a:prstGeom>
            <a:noFill/>
          </p:spPr>
          <p:txBody>
            <a:bodyPr wrap="none" rtlCol="0">
              <a:spAutoFit/>
            </a:bodyPr>
            <a:lstStyle/>
            <a:p>
              <a:r>
                <a:rPr lang="en-US" altLang="zh-CN"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sp>
          <p:nvSpPr>
            <p:cNvPr id="30" name="TextBox 27"/>
            <p:cNvSpPr txBox="1"/>
            <p:nvPr/>
          </p:nvSpPr>
          <p:spPr>
            <a:xfrm>
              <a:off x="4722630" y="2453805"/>
              <a:ext cx="401984" cy="276999"/>
            </a:xfrm>
            <a:prstGeom prst="rect">
              <a:avLst/>
            </a:prstGeom>
            <a:noFill/>
          </p:spPr>
          <p:txBody>
            <a:bodyPr wrap="none" rtlCol="0">
              <a:spAutoFit/>
            </a:bodyPr>
            <a:lstStyle/>
            <a:p>
              <a:r>
                <a:rPr lang="en-US" altLang="zh-CN"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sp>
          <p:nvSpPr>
            <p:cNvPr id="31" name="TextBox 28"/>
            <p:cNvSpPr txBox="1"/>
            <p:nvPr/>
          </p:nvSpPr>
          <p:spPr>
            <a:xfrm>
              <a:off x="5196705" y="1764296"/>
              <a:ext cx="745627" cy="276999"/>
            </a:xfrm>
            <a:prstGeom prst="rect">
              <a:avLst/>
            </a:prstGeom>
            <a:solidFill>
              <a:schemeClr val="accent6">
                <a:lumMod val="20000"/>
                <a:lumOff val="80000"/>
              </a:schemeClr>
            </a:solidFill>
            <a:ln>
              <a:noFill/>
            </a:ln>
            <a:scene3d>
              <a:camera prst="orthographicFront"/>
              <a:lightRig rig="threePt" dir="t"/>
            </a:scene3d>
            <a:sp3d>
              <a:bevelT w="25400" h="25400"/>
            </a:sp3d>
          </p:spPr>
          <p:txBody>
            <a:bodyPr wrap="square" rtlCol="0">
              <a:spAutoFit/>
            </a:bodyPr>
            <a:lstStyle/>
            <a:p>
              <a:pPr algn="ctr"/>
              <a:r>
                <a:rPr lang="en-US" altLang="zh-CN" sz="1200" b="1" dirty="0">
                  <a:latin typeface="微软雅黑" panose="020B0503020204020204" pitchFamily="34" charset="-122"/>
                  <a:ea typeface="微软雅黑" panose="020B0503020204020204" pitchFamily="34" charset="-122"/>
                  <a:cs typeface="Times New Roman" pitchFamily="18" charset="0"/>
                </a:rPr>
                <a:t>Intent</a:t>
              </a:r>
              <a:endParaRPr lang="zh-CN" altLang="en-US" sz="1200" b="1" dirty="0">
                <a:latin typeface="微软雅黑" panose="020B0503020204020204" pitchFamily="34" charset="-122"/>
                <a:ea typeface="微软雅黑" panose="020B0503020204020204" pitchFamily="34" charset="-122"/>
                <a:cs typeface="Times New Roman" pitchFamily="18" charset="0"/>
              </a:endParaRPr>
            </a:p>
          </p:txBody>
        </p:sp>
        <p:sp>
          <p:nvSpPr>
            <p:cNvPr id="32" name="TextBox 29"/>
            <p:cNvSpPr txBox="1"/>
            <p:nvPr/>
          </p:nvSpPr>
          <p:spPr>
            <a:xfrm>
              <a:off x="3748122" y="1764296"/>
              <a:ext cx="1057072" cy="350995"/>
            </a:xfrm>
            <a:prstGeom prst="rect">
              <a:avLst/>
            </a:prstGeom>
            <a:solidFill>
              <a:schemeClr val="accent6">
                <a:lumMod val="20000"/>
                <a:lumOff val="80000"/>
              </a:schemeClr>
            </a:solidFill>
            <a:ln>
              <a:noFill/>
            </a:ln>
            <a:scene3d>
              <a:camera prst="orthographicFront"/>
              <a:lightRig rig="threePt" dir="t"/>
            </a:scene3d>
            <a:sp3d>
              <a:bevelT w="25400" h="25400"/>
            </a:sp3d>
          </p:spPr>
          <p:txBody>
            <a:bodyPr wrap="square" tIns="46800" bIns="46800" rtlCol="0" anchor="ctr" anchorCtr="0">
              <a:spAutoFit/>
            </a:bodyPr>
            <a:lstStyle/>
            <a:p>
              <a:pPr algn="ctr">
                <a:lnSpc>
                  <a:spcPts val="1000"/>
                </a:lnSpc>
              </a:pPr>
              <a:r>
                <a:rPr lang="en-US" altLang="zh-CN" sz="1100" b="1" dirty="0">
                  <a:latin typeface="微软雅黑" panose="020B0503020204020204" pitchFamily="34" charset="-122"/>
                  <a:ea typeface="微软雅黑" panose="020B0503020204020204" pitchFamily="34" charset="-122"/>
                  <a:cs typeface="Times New Roman" pitchFamily="18" charset="0"/>
                </a:rPr>
                <a:t>REST</a:t>
              </a:r>
              <a:r>
                <a:rPr lang="zh-CN" altLang="en-US" sz="1100" b="1" dirty="0">
                  <a:latin typeface="微软雅黑" panose="020B0503020204020204" pitchFamily="34" charset="-122"/>
                  <a:ea typeface="微软雅黑" panose="020B0503020204020204" pitchFamily="34" charset="-122"/>
                  <a:cs typeface="Times New Roman" pitchFamily="18" charset="0"/>
                </a:rPr>
                <a:t>风格</a:t>
              </a:r>
              <a:endParaRPr lang="en-US" altLang="zh-CN" sz="1100" b="1" dirty="0">
                <a:latin typeface="微软雅黑" panose="020B0503020204020204" pitchFamily="34" charset="-122"/>
                <a:ea typeface="微软雅黑" panose="020B0503020204020204" pitchFamily="34" charset="-122"/>
                <a:cs typeface="Times New Roman" pitchFamily="18" charset="0"/>
              </a:endParaRPr>
            </a:p>
            <a:p>
              <a:pPr algn="ctr">
                <a:lnSpc>
                  <a:spcPts val="1000"/>
                </a:lnSpc>
              </a:pPr>
              <a:r>
                <a:rPr lang="zh-CN" altLang="en-US" sz="1100" b="1" dirty="0">
                  <a:latin typeface="微软雅黑" panose="020B0503020204020204" pitchFamily="34" charset="-122"/>
                  <a:ea typeface="微软雅黑" panose="020B0503020204020204" pitchFamily="34" charset="-122"/>
                  <a:cs typeface="Times New Roman" pitchFamily="18" charset="0"/>
                </a:rPr>
                <a:t>的</a:t>
              </a:r>
              <a:r>
                <a:rPr lang="en-US" altLang="zh-CN" sz="1100" b="1" dirty="0">
                  <a:latin typeface="微软雅黑" panose="020B0503020204020204" pitchFamily="34" charset="-122"/>
                  <a:ea typeface="微软雅黑" panose="020B0503020204020204" pitchFamily="34" charset="-122"/>
                  <a:cs typeface="Times New Roman" pitchFamily="18" charset="0"/>
                </a:rPr>
                <a:t>API</a:t>
              </a:r>
              <a:endParaRPr lang="zh-CN" altLang="en-US" sz="1100" b="1" dirty="0">
                <a:latin typeface="微软雅黑" panose="020B0503020204020204" pitchFamily="34" charset="-122"/>
                <a:ea typeface="微软雅黑" panose="020B0503020204020204" pitchFamily="34" charset="-122"/>
                <a:cs typeface="Times New Roman" pitchFamily="18" charset="0"/>
              </a:endParaRPr>
            </a:p>
          </p:txBody>
        </p:sp>
        <p:sp>
          <p:nvSpPr>
            <p:cNvPr id="33" name="TextBox 30"/>
            <p:cNvSpPr txBox="1"/>
            <p:nvPr/>
          </p:nvSpPr>
          <p:spPr>
            <a:xfrm>
              <a:off x="2900767" y="1764296"/>
              <a:ext cx="792804" cy="276999"/>
            </a:xfrm>
            <a:prstGeom prst="rect">
              <a:avLst/>
            </a:prstGeom>
            <a:solidFill>
              <a:schemeClr val="accent6">
                <a:lumMod val="20000"/>
                <a:lumOff val="80000"/>
              </a:schemeClr>
            </a:solidFill>
            <a:ln>
              <a:noFill/>
            </a:ln>
            <a:scene3d>
              <a:camera prst="orthographicFront"/>
              <a:lightRig rig="threePt" dir="t"/>
            </a:scene3d>
            <a:sp3d>
              <a:bevelT w="25400" h="25400"/>
            </a:sp3d>
          </p:spPr>
          <p:txBody>
            <a:bodyPr wrap="square" rtlCol="0">
              <a:spAutoFit/>
            </a:bodyPr>
            <a:lstStyle/>
            <a:p>
              <a:pPr algn="ctr"/>
              <a:r>
                <a:rPr lang="zh-CN" altLang="en-US" sz="1200" b="1" dirty="0">
                  <a:latin typeface="微软雅黑" panose="020B0503020204020204" pitchFamily="34" charset="-122"/>
                  <a:ea typeface="微软雅黑" panose="020B0503020204020204" pitchFamily="34" charset="-122"/>
                  <a:cs typeface="Times New Roman" pitchFamily="18" charset="0"/>
                </a:rPr>
                <a:t>网络图</a:t>
              </a:r>
            </a:p>
          </p:txBody>
        </p:sp>
        <p:sp>
          <p:nvSpPr>
            <p:cNvPr id="34" name="上下箭头 33"/>
            <p:cNvSpPr/>
            <p:nvPr/>
          </p:nvSpPr>
          <p:spPr>
            <a:xfrm>
              <a:off x="4267920" y="1230922"/>
              <a:ext cx="198201" cy="322803"/>
            </a:xfrm>
            <a:prstGeom prst="upDownArrow">
              <a:avLst/>
            </a:prstGeom>
            <a:solidFill>
              <a:srgbClr val="000066"/>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35" name="TextBox 32"/>
            <p:cNvSpPr txBox="1"/>
            <p:nvPr/>
          </p:nvSpPr>
          <p:spPr>
            <a:xfrm>
              <a:off x="1359877" y="2428033"/>
              <a:ext cx="1584461" cy="584775"/>
            </a:xfrm>
            <a:prstGeom prst="rect">
              <a:avLst/>
            </a:prstGeom>
            <a:noFill/>
          </p:spPr>
          <p:txBody>
            <a:bodyPr wrap="square" rtlCol="0">
              <a:spAutoFit/>
            </a:bodyPr>
            <a:lstStyle/>
            <a:p>
              <a:pPr algn="ctr"/>
              <a:r>
                <a:rPr lang="zh-CN" altLang="en-US" sz="1600" b="1" dirty="0">
                  <a:latin typeface="微软雅黑" panose="020B0503020204020204" pitchFamily="34" charset="-122"/>
                  <a:ea typeface="微软雅黑" panose="020B0503020204020204" pitchFamily="34" charset="-122"/>
                  <a:cs typeface="Times New Roman" pitchFamily="18" charset="0"/>
                </a:rPr>
                <a:t>网络范围的状态管理层</a:t>
              </a:r>
            </a:p>
          </p:txBody>
        </p:sp>
        <p:sp>
          <p:nvSpPr>
            <p:cNvPr id="36" name="TextBox 33"/>
            <p:cNvSpPr txBox="1"/>
            <p:nvPr/>
          </p:nvSpPr>
          <p:spPr>
            <a:xfrm>
              <a:off x="1359877" y="1464756"/>
              <a:ext cx="1584461" cy="738664"/>
            </a:xfrm>
            <a:prstGeom prst="rect">
              <a:avLst/>
            </a:prstGeom>
            <a:noFill/>
          </p:spPr>
          <p:txBody>
            <a:bodyPr wrap="square" rtlCol="0">
              <a:spAutoFit/>
            </a:bodyPr>
            <a:lstStyle/>
            <a:p>
              <a:pPr algn="ctr"/>
              <a:r>
                <a:rPr lang="zh-CN" altLang="en-US" sz="1400" b="1" dirty="0">
                  <a:latin typeface="微软雅黑" panose="020B0503020204020204" pitchFamily="34" charset="-122"/>
                  <a:ea typeface="微软雅黑" panose="020B0503020204020204" pitchFamily="34" charset="-122"/>
                  <a:cs typeface="Times New Roman" pitchFamily="18" charset="0"/>
                </a:rPr>
                <a:t>到网络控制</a:t>
              </a:r>
              <a:endParaRPr lang="en-US" altLang="zh-CN" sz="1400" b="1" dirty="0">
                <a:latin typeface="微软雅黑" panose="020B0503020204020204" pitchFamily="34" charset="-122"/>
                <a:ea typeface="微软雅黑" panose="020B0503020204020204" pitchFamily="34" charset="-122"/>
                <a:cs typeface="Times New Roman" pitchFamily="18" charset="0"/>
              </a:endParaRPr>
            </a:p>
            <a:p>
              <a:pPr algn="ctr"/>
              <a:r>
                <a:rPr lang="zh-CN" altLang="en-US" sz="1400" b="1" dirty="0">
                  <a:latin typeface="微软雅黑" panose="020B0503020204020204" pitchFamily="34" charset="-122"/>
                  <a:ea typeface="微软雅黑" panose="020B0503020204020204" pitchFamily="34" charset="-122"/>
                  <a:cs typeface="Times New Roman" pitchFamily="18" charset="0"/>
                </a:rPr>
                <a:t>应用程序层</a:t>
              </a:r>
              <a:endParaRPr lang="en-US" altLang="zh-CN" sz="1400" b="1" dirty="0">
                <a:latin typeface="微软雅黑" panose="020B0503020204020204" pitchFamily="34" charset="-122"/>
                <a:ea typeface="微软雅黑" panose="020B0503020204020204" pitchFamily="34" charset="-122"/>
                <a:cs typeface="Times New Roman" pitchFamily="18" charset="0"/>
              </a:endParaRPr>
            </a:p>
            <a:p>
              <a:pPr algn="ctr"/>
              <a:r>
                <a:rPr lang="zh-CN" altLang="en-US" sz="1400" b="1" dirty="0">
                  <a:latin typeface="微软雅黑" panose="020B0503020204020204" pitchFamily="34" charset="-122"/>
                  <a:ea typeface="微软雅黑" panose="020B0503020204020204" pitchFamily="34" charset="-122"/>
                  <a:cs typeface="Times New Roman" pitchFamily="18" charset="0"/>
                </a:rPr>
                <a:t>的接口</a:t>
              </a:r>
            </a:p>
          </p:txBody>
        </p:sp>
        <p:sp>
          <p:nvSpPr>
            <p:cNvPr id="37" name="TextBox 34"/>
            <p:cNvSpPr txBox="1"/>
            <p:nvPr/>
          </p:nvSpPr>
          <p:spPr>
            <a:xfrm>
              <a:off x="1359877" y="3497663"/>
              <a:ext cx="1584461" cy="338554"/>
            </a:xfrm>
            <a:prstGeom prst="rect">
              <a:avLst/>
            </a:prstGeom>
            <a:noFill/>
          </p:spPr>
          <p:txBody>
            <a:bodyPr wrap="square" rtlCol="0">
              <a:spAutoFit/>
            </a:bodyPr>
            <a:lstStyle/>
            <a:p>
              <a:pPr algn="ctr"/>
              <a:r>
                <a:rPr lang="zh-CN" altLang="en-US" sz="1600" b="1" dirty="0">
                  <a:latin typeface="微软雅黑" panose="020B0503020204020204" pitchFamily="34" charset="-122"/>
                  <a:ea typeface="微软雅黑" panose="020B0503020204020204" pitchFamily="34" charset="-122"/>
                  <a:cs typeface="Times New Roman" pitchFamily="18" charset="0"/>
                </a:rPr>
                <a:t>通信层</a:t>
              </a:r>
            </a:p>
          </p:txBody>
        </p:sp>
      </p:grpSp>
      <p:sp>
        <p:nvSpPr>
          <p:cNvPr id="43" name="线形标注 1 42"/>
          <p:cNvSpPr/>
          <p:nvPr/>
        </p:nvSpPr>
        <p:spPr>
          <a:xfrm>
            <a:off x="6135701" y="2515627"/>
            <a:ext cx="2248021" cy="1337392"/>
          </a:xfrm>
          <a:prstGeom prst="borderCallout1">
            <a:avLst>
              <a:gd name="adj1" fmla="val 65378"/>
              <a:gd name="adj2" fmla="val -486"/>
              <a:gd name="adj3" fmla="val 88938"/>
              <a:gd name="adj4" fmla="val -4483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2563" indent="-182563">
              <a:lnSpc>
                <a:spcPts val="2000"/>
              </a:lnSpc>
              <a:buFont typeface="Wingdings" panose="05000000000000000000" pitchFamily="2" charset="2"/>
              <a:buChar char="l"/>
            </a:pPr>
            <a:r>
              <a:rPr lang="zh-CN" altLang="zh-CN" sz="1400" b="1" dirty="0">
                <a:solidFill>
                  <a:schemeClr val="tx1"/>
                </a:solidFill>
                <a:latin typeface="微软雅黑" panose="020B0503020204020204" pitchFamily="34" charset="-122"/>
                <a:ea typeface="微软雅黑" panose="020B0503020204020204" pitchFamily="34" charset="-122"/>
              </a:rPr>
              <a:t>完成</a:t>
            </a:r>
            <a:r>
              <a:rPr lang="en-US" altLang="zh-CN" sz="1400" b="1" dirty="0">
                <a:solidFill>
                  <a:schemeClr val="tx1"/>
                </a:solidFill>
                <a:latin typeface="微软雅黑" panose="020B0503020204020204" pitchFamily="34" charset="-122"/>
                <a:ea typeface="微软雅黑" panose="020B0503020204020204" pitchFamily="34" charset="-122"/>
              </a:rPr>
              <a:t> SDN </a:t>
            </a:r>
            <a:r>
              <a:rPr lang="zh-CN" altLang="zh-CN" sz="1400" b="1" dirty="0">
                <a:solidFill>
                  <a:schemeClr val="tx1"/>
                </a:solidFill>
                <a:latin typeface="微软雅黑" panose="020B0503020204020204" pitchFamily="34" charset="-122"/>
                <a:ea typeface="微软雅黑" panose="020B0503020204020204" pitchFamily="34" charset="-122"/>
              </a:rPr>
              <a:t>控制器与受控网络设备之间的通信。</a:t>
            </a:r>
            <a:endParaRPr lang="en-US" altLang="zh-CN" sz="1400" b="1" dirty="0">
              <a:solidFill>
                <a:schemeClr val="tx1"/>
              </a:solidFill>
              <a:latin typeface="微软雅黑" panose="020B0503020204020204" pitchFamily="34" charset="-122"/>
              <a:ea typeface="微软雅黑" panose="020B0503020204020204" pitchFamily="34" charset="-122"/>
            </a:endParaRPr>
          </a:p>
          <a:p>
            <a:pPr marL="182563" indent="-182563">
              <a:lnSpc>
                <a:spcPts val="2000"/>
              </a:lnSpc>
              <a:buFont typeface="Wingdings" panose="05000000000000000000" pitchFamily="2" charset="2"/>
              <a:buChar char="l"/>
            </a:pPr>
            <a:r>
              <a:rPr lang="zh-CN" altLang="en-US" sz="1400" b="1" dirty="0">
                <a:solidFill>
                  <a:schemeClr val="tx1"/>
                </a:solidFill>
                <a:latin typeface="微软雅黑" panose="020B0503020204020204" pitchFamily="34" charset="-122"/>
                <a:ea typeface="微软雅黑" panose="020B0503020204020204" pitchFamily="34" charset="-122"/>
              </a:rPr>
              <a:t>通信层与数据层面的接口叫做南向接口，基本上采用 </a:t>
            </a:r>
            <a:r>
              <a:rPr lang="en-US" altLang="zh-CN" sz="1400" b="1" dirty="0" err="1">
                <a:solidFill>
                  <a:schemeClr val="tx1"/>
                </a:solidFill>
                <a:latin typeface="微软雅黑" panose="020B0503020204020204" pitchFamily="34" charset="-122"/>
                <a:ea typeface="微软雅黑" panose="020B0503020204020204" pitchFamily="34" charset="-122"/>
              </a:rPr>
              <a:t>OpenFlow</a:t>
            </a:r>
            <a:r>
              <a:rPr lang="zh-CN" altLang="en-US" sz="1400" b="1" dirty="0">
                <a:solidFill>
                  <a:schemeClr val="tx1"/>
                </a:solidFill>
                <a:latin typeface="微软雅黑" panose="020B0503020204020204" pitchFamily="34" charset="-122"/>
                <a:ea typeface="微软雅黑" panose="020B0503020204020204" pitchFamily="34" charset="-122"/>
              </a:rPr>
              <a:t>。</a:t>
            </a:r>
          </a:p>
        </p:txBody>
      </p:sp>
    </p:spTree>
    <p:extLst>
      <p:ext uri="{BB962C8B-B14F-4D97-AF65-F5344CB8AC3E}">
        <p14:creationId xmlns:p14="http://schemas.microsoft.com/office/powerpoint/2010/main" val="33859270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圆角矩形 40"/>
          <p:cNvSpPr/>
          <p:nvPr/>
        </p:nvSpPr>
        <p:spPr>
          <a:xfrm>
            <a:off x="545144" y="1080937"/>
            <a:ext cx="8053711" cy="3409582"/>
          </a:xfrm>
          <a:prstGeom prst="roundRect">
            <a:avLst>
              <a:gd name="adj" fmla="val 11622"/>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7" name="AutoShape 5"/>
          <p:cNvSpPr>
            <a:spLocks noChangeArrowheads="1"/>
          </p:cNvSpPr>
          <p:nvPr/>
        </p:nvSpPr>
        <p:spPr bwMode="auto">
          <a:xfrm>
            <a:off x="545144" y="617509"/>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8" name="Rectangle 6"/>
          <p:cNvSpPr>
            <a:spLocks noChangeArrowheads="1"/>
          </p:cNvSpPr>
          <p:nvPr/>
        </p:nvSpPr>
        <p:spPr bwMode="auto">
          <a:xfrm>
            <a:off x="3069033" y="576646"/>
            <a:ext cx="300595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4.10.3  SDN </a:t>
            </a:r>
            <a:r>
              <a:rPr lang="zh-CN" altLang="en-US" sz="2400" b="1" dirty="0">
                <a:solidFill>
                  <a:schemeClr val="bg1"/>
                </a:solidFill>
                <a:latin typeface="微软雅黑" pitchFamily="34" charset="-122"/>
                <a:ea typeface="微软雅黑" pitchFamily="34" charset="-122"/>
              </a:rPr>
              <a:t>控制器</a:t>
            </a:r>
          </a:p>
        </p:txBody>
      </p:sp>
      <p:grpSp>
        <p:nvGrpSpPr>
          <p:cNvPr id="42" name="组合 41"/>
          <p:cNvGrpSpPr/>
          <p:nvPr/>
        </p:nvGrpSpPr>
        <p:grpSpPr>
          <a:xfrm>
            <a:off x="633046" y="1230438"/>
            <a:ext cx="6375957" cy="3035975"/>
            <a:chOff x="1359877" y="1230438"/>
            <a:chExt cx="6375957" cy="3035975"/>
          </a:xfrm>
        </p:grpSpPr>
        <p:cxnSp>
          <p:nvCxnSpPr>
            <p:cNvPr id="9" name="直接连接符 8"/>
            <p:cNvCxnSpPr/>
            <p:nvPr/>
          </p:nvCxnSpPr>
          <p:spPr>
            <a:xfrm>
              <a:off x="2742756" y="4082073"/>
              <a:ext cx="3798722" cy="0"/>
            </a:xfrm>
            <a:prstGeom prst="line">
              <a:avLst/>
            </a:prstGeom>
            <a:ln w="19050">
              <a:solidFill>
                <a:srgbClr val="000066"/>
              </a:solidFill>
              <a:prstDash val="sysDash"/>
            </a:ln>
          </p:spPr>
          <p:style>
            <a:lnRef idx="1">
              <a:schemeClr val="accent1"/>
            </a:lnRef>
            <a:fillRef idx="0">
              <a:schemeClr val="accent1"/>
            </a:fillRef>
            <a:effectRef idx="0">
              <a:schemeClr val="accent1"/>
            </a:effectRef>
            <a:fontRef idx="minor">
              <a:schemeClr val="tx1"/>
            </a:fontRef>
          </p:style>
        </p:cxnSp>
        <p:sp>
          <p:nvSpPr>
            <p:cNvPr id="10" name="矩形 9"/>
            <p:cNvSpPr/>
            <p:nvPr/>
          </p:nvSpPr>
          <p:spPr>
            <a:xfrm>
              <a:off x="2814445" y="3329144"/>
              <a:ext cx="3171219" cy="645607"/>
            </a:xfrm>
            <a:prstGeom prst="rect">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200" b="1">
                  <a:solidFill>
                    <a:schemeClr val="tx1"/>
                  </a:solidFill>
                  <a:latin typeface="微软雅黑" panose="020B0503020204020204" pitchFamily="34" charset="-122"/>
                  <a:ea typeface="微软雅黑" panose="020B0503020204020204" pitchFamily="34" charset="-122"/>
                  <a:cs typeface="Times New Roman" pitchFamily="18" charset="0"/>
                </a:rPr>
                <a:t>与数据层面中</a:t>
              </a:r>
              <a:r>
                <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rPr>
                <a:t>受控设备的通信</a:t>
              </a: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p:txBody>
        </p:sp>
        <p:sp>
          <p:nvSpPr>
            <p:cNvPr id="11" name="TextBox 109"/>
            <p:cNvSpPr txBox="1"/>
            <p:nvPr/>
          </p:nvSpPr>
          <p:spPr>
            <a:xfrm>
              <a:off x="6576747" y="3927859"/>
              <a:ext cx="1159087" cy="338554"/>
            </a:xfrm>
            <a:prstGeom prst="rect">
              <a:avLst/>
            </a:prstGeom>
            <a:noFill/>
          </p:spPr>
          <p:txBody>
            <a:bodyPr wrap="square" rtlCol="0">
              <a:spAutoFit/>
            </a:bodyPr>
            <a:lstStyle/>
            <a:p>
              <a:pPr algn="ctr"/>
              <a:r>
                <a:rPr lang="zh-CN" altLang="en-US" sz="1600" b="1" dirty="0">
                  <a:solidFill>
                    <a:srgbClr val="0000FF"/>
                  </a:solidFill>
                  <a:latin typeface="微软雅黑" panose="020B0503020204020204" pitchFamily="34" charset="-122"/>
                  <a:ea typeface="微软雅黑" panose="020B0503020204020204" pitchFamily="34" charset="-122"/>
                </a:rPr>
                <a:t>南向 </a:t>
              </a:r>
              <a:r>
                <a:rPr lang="en-US" altLang="zh-CN" sz="1600" b="1" dirty="0">
                  <a:solidFill>
                    <a:srgbClr val="0000FF"/>
                  </a:solidFill>
                  <a:latin typeface="微软雅黑" panose="020B0503020204020204" pitchFamily="34" charset="-122"/>
                  <a:ea typeface="微软雅黑" panose="020B0503020204020204" pitchFamily="34" charset="-122"/>
                  <a:cs typeface="Times New Roman" pitchFamily="18" charset="0"/>
                </a:rPr>
                <a:t>API</a:t>
              </a:r>
              <a:endParaRPr lang="zh-CN" altLang="en-US" sz="1600" b="1" dirty="0">
                <a:solidFill>
                  <a:srgbClr val="0000FF"/>
                </a:solidFill>
                <a:latin typeface="微软雅黑" panose="020B0503020204020204" pitchFamily="34" charset="-122"/>
                <a:ea typeface="微软雅黑" panose="020B0503020204020204" pitchFamily="34" charset="-122"/>
                <a:cs typeface="Times New Roman" pitchFamily="18" charset="0"/>
              </a:endParaRPr>
            </a:p>
          </p:txBody>
        </p:sp>
        <p:cxnSp>
          <p:nvCxnSpPr>
            <p:cNvPr id="12" name="直接连接符 11"/>
            <p:cNvCxnSpPr/>
            <p:nvPr/>
          </p:nvCxnSpPr>
          <p:spPr>
            <a:xfrm>
              <a:off x="2751495" y="1406242"/>
              <a:ext cx="3789982" cy="0"/>
            </a:xfrm>
            <a:prstGeom prst="line">
              <a:avLst/>
            </a:prstGeom>
            <a:ln w="19050">
              <a:solidFill>
                <a:srgbClr val="000066"/>
              </a:solidFill>
              <a:prstDash val="sysDash"/>
            </a:ln>
          </p:spPr>
          <p:style>
            <a:lnRef idx="1">
              <a:schemeClr val="accent1"/>
            </a:lnRef>
            <a:fillRef idx="0">
              <a:schemeClr val="accent1"/>
            </a:fillRef>
            <a:effectRef idx="0">
              <a:schemeClr val="accent1"/>
            </a:effectRef>
            <a:fontRef idx="minor">
              <a:schemeClr val="tx1"/>
            </a:fontRef>
          </p:style>
        </p:cxnSp>
        <p:sp>
          <p:nvSpPr>
            <p:cNvPr id="13" name="TextBox 112"/>
            <p:cNvSpPr txBox="1"/>
            <p:nvPr/>
          </p:nvSpPr>
          <p:spPr>
            <a:xfrm>
              <a:off x="6576743" y="1230438"/>
              <a:ext cx="1159088" cy="338554"/>
            </a:xfrm>
            <a:prstGeom prst="rect">
              <a:avLst/>
            </a:prstGeom>
            <a:noFill/>
          </p:spPr>
          <p:txBody>
            <a:bodyPr wrap="square" rtlCol="0">
              <a:spAutoFit/>
            </a:bodyPr>
            <a:lstStyle/>
            <a:p>
              <a:pPr algn="ctr"/>
              <a:r>
                <a:rPr lang="zh-CN" altLang="en-US" sz="1600" b="1" dirty="0">
                  <a:solidFill>
                    <a:srgbClr val="C00000"/>
                  </a:solidFill>
                  <a:latin typeface="微软雅黑" panose="020B0503020204020204" pitchFamily="34" charset="-122"/>
                  <a:ea typeface="微软雅黑" panose="020B0503020204020204" pitchFamily="34" charset="-122"/>
                </a:rPr>
                <a:t>北向 </a:t>
              </a:r>
              <a:r>
                <a:rPr lang="en-US" altLang="zh-CN" sz="1600" b="1" dirty="0">
                  <a:solidFill>
                    <a:srgbClr val="C00000"/>
                  </a:solidFill>
                  <a:latin typeface="微软雅黑" panose="020B0503020204020204" pitchFamily="34" charset="-122"/>
                  <a:ea typeface="微软雅黑" panose="020B0503020204020204" pitchFamily="34" charset="-122"/>
                  <a:cs typeface="Times New Roman" pitchFamily="18" charset="0"/>
                </a:rPr>
                <a:t>API</a:t>
              </a:r>
              <a:endParaRPr lang="zh-CN" altLang="en-US" sz="1600" b="1" dirty="0">
                <a:solidFill>
                  <a:srgbClr val="C00000"/>
                </a:solidFill>
                <a:latin typeface="微软雅黑" panose="020B0503020204020204" pitchFamily="34" charset="-122"/>
                <a:ea typeface="微软雅黑" panose="020B0503020204020204" pitchFamily="34" charset="-122"/>
                <a:cs typeface="Times New Roman" pitchFamily="18" charset="0"/>
              </a:endParaRPr>
            </a:p>
          </p:txBody>
        </p:sp>
        <p:cxnSp>
          <p:nvCxnSpPr>
            <p:cNvPr id="14" name="直接箭头连接符 13"/>
            <p:cNvCxnSpPr/>
            <p:nvPr/>
          </p:nvCxnSpPr>
          <p:spPr>
            <a:xfrm flipH="1">
              <a:off x="6402114" y="1446124"/>
              <a:ext cx="7669" cy="2607484"/>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15" name="TextBox 179"/>
            <p:cNvSpPr txBox="1"/>
            <p:nvPr/>
          </p:nvSpPr>
          <p:spPr>
            <a:xfrm>
              <a:off x="5971007" y="2515627"/>
              <a:ext cx="906761" cy="584775"/>
            </a:xfrm>
            <a:prstGeom prst="rect">
              <a:avLst/>
            </a:prstGeom>
            <a:solidFill>
              <a:srgbClr val="C3E3F9"/>
            </a:solidFill>
          </p:spPr>
          <p:txBody>
            <a:bodyPr wrap="square" rtlCol="0">
              <a:spAutoFit/>
            </a:bodyPr>
            <a:lstStyle/>
            <a:p>
              <a:pPr algn="ctr"/>
              <a:r>
                <a:rPr lang="en-US" altLang="zh-CN" sz="1600" b="1" dirty="0">
                  <a:latin typeface="微软雅黑" panose="020B0503020204020204" pitchFamily="34" charset="-122"/>
                  <a:ea typeface="微软雅黑" panose="020B0503020204020204" pitchFamily="34" charset="-122"/>
                  <a:cs typeface="Times New Roman" pitchFamily="18" charset="0"/>
                </a:rPr>
                <a:t>SDN</a:t>
              </a:r>
            </a:p>
            <a:p>
              <a:pPr algn="ctr"/>
              <a:r>
                <a:rPr lang="zh-CN" altLang="en-US" sz="1600" b="1" dirty="0">
                  <a:latin typeface="微软雅黑" panose="020B0503020204020204" pitchFamily="34" charset="-122"/>
                  <a:ea typeface="微软雅黑" panose="020B0503020204020204" pitchFamily="34" charset="-122"/>
                  <a:cs typeface="Times New Roman" pitchFamily="18" charset="0"/>
                </a:rPr>
                <a:t>控制器</a:t>
              </a:r>
            </a:p>
          </p:txBody>
        </p:sp>
        <p:sp>
          <p:nvSpPr>
            <p:cNvPr id="16" name="TextBox 63"/>
            <p:cNvSpPr txBox="1"/>
            <p:nvPr/>
          </p:nvSpPr>
          <p:spPr>
            <a:xfrm>
              <a:off x="3144781" y="3606691"/>
              <a:ext cx="1057072" cy="276999"/>
            </a:xfrm>
            <a:prstGeom prst="rect">
              <a:avLst/>
            </a:prstGeom>
            <a:solidFill>
              <a:schemeClr val="tx2">
                <a:lumMod val="20000"/>
                <a:lumOff val="80000"/>
              </a:schemeClr>
            </a:solidFill>
            <a:ln/>
            <a:scene3d>
              <a:camera prst="orthographicFront">
                <a:rot lat="0" lon="0" rev="0"/>
              </a:camera>
              <a:lightRig rig="threePt" dir="t">
                <a:rot lat="0" lon="0" rev="1200000"/>
              </a:lightRig>
            </a:scene3d>
            <a:sp3d>
              <a:bevelT w="25400" h="25400"/>
            </a:sp3d>
          </p:spPr>
          <p:style>
            <a:lnRef idx="0">
              <a:schemeClr val="accent1"/>
            </a:lnRef>
            <a:fillRef idx="3">
              <a:schemeClr val="accent1"/>
            </a:fillRef>
            <a:effectRef idx="3">
              <a:schemeClr val="accent1"/>
            </a:effectRef>
            <a:fontRef idx="minor">
              <a:schemeClr val="lt1"/>
            </a:fontRef>
          </p:style>
          <p:txBody>
            <a:bodyPr wrap="square" rtlCol="0">
              <a:spAutoFit/>
            </a:bodyPr>
            <a:lstStyle/>
            <a:p>
              <a:pPr algn="ctr"/>
              <a:r>
                <a:rPr lang="en-US" altLang="zh-CN" sz="1200" b="1" dirty="0" err="1">
                  <a:solidFill>
                    <a:schemeClr val="tx1"/>
                  </a:solidFill>
                  <a:latin typeface="微软雅黑" panose="020B0503020204020204" pitchFamily="34" charset="-122"/>
                  <a:ea typeface="微软雅黑" panose="020B0503020204020204" pitchFamily="34" charset="-122"/>
                  <a:cs typeface="Times New Roman" pitchFamily="18" charset="0"/>
                </a:rPr>
                <a:t>OpenFlow</a:t>
              </a:r>
              <a:endPar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p:txBody>
        </p:sp>
        <p:sp>
          <p:nvSpPr>
            <p:cNvPr id="17" name="TextBox 64"/>
            <p:cNvSpPr txBox="1"/>
            <p:nvPr/>
          </p:nvSpPr>
          <p:spPr>
            <a:xfrm>
              <a:off x="4730389" y="3598147"/>
              <a:ext cx="726739" cy="276999"/>
            </a:xfrm>
            <a:prstGeom prst="rect">
              <a:avLst/>
            </a:prstGeom>
            <a:solidFill>
              <a:schemeClr val="tx2">
                <a:lumMod val="20000"/>
                <a:lumOff val="80000"/>
              </a:schemeClr>
            </a:solidFill>
            <a:ln/>
            <a:scene3d>
              <a:camera prst="orthographicFront">
                <a:rot lat="0" lon="0" rev="0"/>
              </a:camera>
              <a:lightRig rig="threePt" dir="t">
                <a:rot lat="0" lon="0" rev="1200000"/>
              </a:lightRig>
            </a:scene3d>
            <a:sp3d>
              <a:bevelT w="25400" h="25400"/>
            </a:sp3d>
          </p:spPr>
          <p:style>
            <a:lnRef idx="0">
              <a:schemeClr val="accent1"/>
            </a:lnRef>
            <a:fillRef idx="3">
              <a:schemeClr val="accent1"/>
            </a:fillRef>
            <a:effectRef idx="3">
              <a:schemeClr val="accent1"/>
            </a:effectRef>
            <a:fontRef idx="minor">
              <a:schemeClr val="lt1"/>
            </a:fontRef>
          </p:style>
          <p:txBody>
            <a:bodyPr wrap="square" rtlCol="0">
              <a:spAutoFit/>
            </a:bodyPr>
            <a:lstStyle>
              <a:defPPr>
                <a:defRPr lang="zh-CN"/>
              </a:defPPr>
              <a:lvl1pPr algn="ctr">
                <a:defRPr sz="1200" b="1">
                  <a:solidFill>
                    <a:schemeClr val="lt1"/>
                  </a:solidFill>
                  <a:latin typeface="微软雅黑" panose="020B0503020204020204" pitchFamily="34" charset="-122"/>
                  <a:ea typeface="微软雅黑" panose="020B0503020204020204" pitchFamily="34" charset="-122"/>
                  <a:cs typeface="Times New Roman" pitchFamily="18"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zh-CN" dirty="0">
                  <a:solidFill>
                    <a:schemeClr val="tx1"/>
                  </a:solidFill>
                </a:rPr>
                <a:t>SNMP</a:t>
              </a:r>
              <a:endParaRPr lang="zh-CN" altLang="en-US" dirty="0">
                <a:solidFill>
                  <a:schemeClr val="tx1"/>
                </a:solidFill>
              </a:endParaRPr>
            </a:p>
          </p:txBody>
        </p:sp>
        <p:sp>
          <p:nvSpPr>
            <p:cNvPr id="18" name="矩形 17"/>
            <p:cNvSpPr/>
            <p:nvPr/>
          </p:nvSpPr>
          <p:spPr>
            <a:xfrm>
              <a:off x="2814445" y="2199332"/>
              <a:ext cx="3171219" cy="1076011"/>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rPr>
                <a:t>网络范围分布式和健壮的状态管理</a:t>
              </a: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p:txBody>
        </p:sp>
        <p:sp>
          <p:nvSpPr>
            <p:cNvPr id="19" name="TextBox 15"/>
            <p:cNvSpPr txBox="1"/>
            <p:nvPr/>
          </p:nvSpPr>
          <p:spPr>
            <a:xfrm>
              <a:off x="4447071" y="2823453"/>
              <a:ext cx="792804" cy="400110"/>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交换机</a:t>
              </a: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信息</a:t>
              </a:r>
            </a:p>
          </p:txBody>
        </p:sp>
        <p:sp>
          <p:nvSpPr>
            <p:cNvPr id="20" name="TextBox 16"/>
            <p:cNvSpPr txBox="1"/>
            <p:nvPr/>
          </p:nvSpPr>
          <p:spPr>
            <a:xfrm>
              <a:off x="4122035" y="2483124"/>
              <a:ext cx="594604" cy="276999"/>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r>
                <a:rPr lang="zh-CN" altLang="en-US" sz="1200" b="1" dirty="0">
                  <a:latin typeface="微软雅黑" panose="020B0503020204020204" pitchFamily="34" charset="-122"/>
                  <a:ea typeface="微软雅黑" panose="020B0503020204020204" pitchFamily="34" charset="-122"/>
                  <a:cs typeface="Times New Roman" pitchFamily="18" charset="0"/>
                </a:rPr>
                <a:t>流表</a:t>
              </a:r>
            </a:p>
          </p:txBody>
        </p:sp>
        <p:sp>
          <p:nvSpPr>
            <p:cNvPr id="21" name="TextBox 17"/>
            <p:cNvSpPr txBox="1"/>
            <p:nvPr/>
          </p:nvSpPr>
          <p:spPr>
            <a:xfrm>
              <a:off x="3808632" y="2823453"/>
              <a:ext cx="634454" cy="400110"/>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主机</a:t>
              </a: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信息</a:t>
              </a:r>
            </a:p>
          </p:txBody>
        </p:sp>
        <p:sp>
          <p:nvSpPr>
            <p:cNvPr id="22" name="TextBox 18"/>
            <p:cNvSpPr txBox="1"/>
            <p:nvPr/>
          </p:nvSpPr>
          <p:spPr>
            <a:xfrm>
              <a:off x="2880512" y="2823453"/>
              <a:ext cx="924939" cy="400110"/>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链路状态信息</a:t>
              </a:r>
            </a:p>
          </p:txBody>
        </p:sp>
        <p:sp>
          <p:nvSpPr>
            <p:cNvPr id="23" name="TextBox 19"/>
            <p:cNvSpPr txBox="1"/>
            <p:nvPr/>
          </p:nvSpPr>
          <p:spPr>
            <a:xfrm>
              <a:off x="3541182" y="2483124"/>
              <a:ext cx="594604" cy="276999"/>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r>
                <a:rPr lang="zh-CN" altLang="en-US" sz="1200" b="1" dirty="0">
                  <a:latin typeface="微软雅黑" panose="020B0503020204020204" pitchFamily="34" charset="-122"/>
                  <a:ea typeface="微软雅黑" panose="020B0503020204020204" pitchFamily="34" charset="-122"/>
                  <a:cs typeface="Times New Roman" pitchFamily="18" charset="0"/>
                </a:rPr>
                <a:t>统计</a:t>
              </a:r>
            </a:p>
          </p:txBody>
        </p:sp>
        <p:sp>
          <p:nvSpPr>
            <p:cNvPr id="24" name="上下箭头 23"/>
            <p:cNvSpPr/>
            <p:nvPr/>
          </p:nvSpPr>
          <p:spPr>
            <a:xfrm>
              <a:off x="4333987" y="3920950"/>
              <a:ext cx="198201" cy="322803"/>
            </a:xfrm>
            <a:prstGeom prst="upDownArrow">
              <a:avLst/>
            </a:prstGeom>
            <a:solidFill>
              <a:srgbClr val="000066"/>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26" name="矩形 25"/>
            <p:cNvSpPr/>
            <p:nvPr/>
          </p:nvSpPr>
          <p:spPr>
            <a:xfrm>
              <a:off x="2814445" y="1499925"/>
              <a:ext cx="3171219" cy="645607"/>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rPr>
                <a:t>与网络控制应用程序的通信</a:t>
              </a: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p:txBody>
        </p:sp>
        <p:sp>
          <p:nvSpPr>
            <p:cNvPr id="27" name="TextBox 24"/>
            <p:cNvSpPr txBox="1"/>
            <p:nvPr/>
          </p:nvSpPr>
          <p:spPr>
            <a:xfrm>
              <a:off x="4259400" y="3576019"/>
              <a:ext cx="401984" cy="276999"/>
            </a:xfrm>
            <a:prstGeom prst="rect">
              <a:avLst/>
            </a:prstGeom>
            <a:noFill/>
          </p:spPr>
          <p:txBody>
            <a:bodyPr wrap="none" rtlCol="0">
              <a:spAutoFit/>
            </a:bodyPr>
            <a:lstStyle/>
            <a:p>
              <a:r>
                <a:rPr lang="en-US" altLang="zh-CN"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sp>
          <p:nvSpPr>
            <p:cNvPr id="28" name="TextBox 25"/>
            <p:cNvSpPr txBox="1"/>
            <p:nvPr/>
          </p:nvSpPr>
          <p:spPr>
            <a:xfrm>
              <a:off x="5250793" y="2859728"/>
              <a:ext cx="401984" cy="276999"/>
            </a:xfrm>
            <a:prstGeom prst="rect">
              <a:avLst/>
            </a:prstGeom>
            <a:noFill/>
          </p:spPr>
          <p:txBody>
            <a:bodyPr wrap="none" rtlCol="0">
              <a:spAutoFit/>
            </a:bodyPr>
            <a:lstStyle/>
            <a:p>
              <a:r>
                <a:rPr lang="en-US" altLang="zh-CN"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sp>
          <p:nvSpPr>
            <p:cNvPr id="29" name="TextBox 26"/>
            <p:cNvSpPr txBox="1"/>
            <p:nvPr/>
          </p:nvSpPr>
          <p:spPr>
            <a:xfrm>
              <a:off x="4798442" y="1776878"/>
              <a:ext cx="401984" cy="276999"/>
            </a:xfrm>
            <a:prstGeom prst="rect">
              <a:avLst/>
            </a:prstGeom>
            <a:noFill/>
          </p:spPr>
          <p:txBody>
            <a:bodyPr wrap="none" rtlCol="0">
              <a:spAutoFit/>
            </a:bodyPr>
            <a:lstStyle/>
            <a:p>
              <a:r>
                <a:rPr lang="en-US" altLang="zh-CN"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sp>
          <p:nvSpPr>
            <p:cNvPr id="30" name="TextBox 27"/>
            <p:cNvSpPr txBox="1"/>
            <p:nvPr/>
          </p:nvSpPr>
          <p:spPr>
            <a:xfrm>
              <a:off x="4722630" y="2453805"/>
              <a:ext cx="401984" cy="276999"/>
            </a:xfrm>
            <a:prstGeom prst="rect">
              <a:avLst/>
            </a:prstGeom>
            <a:noFill/>
          </p:spPr>
          <p:txBody>
            <a:bodyPr wrap="none" rtlCol="0">
              <a:spAutoFit/>
            </a:bodyPr>
            <a:lstStyle/>
            <a:p>
              <a:r>
                <a:rPr lang="en-US" altLang="zh-CN"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sp>
          <p:nvSpPr>
            <p:cNvPr id="31" name="TextBox 28"/>
            <p:cNvSpPr txBox="1"/>
            <p:nvPr/>
          </p:nvSpPr>
          <p:spPr>
            <a:xfrm>
              <a:off x="5196705" y="1764296"/>
              <a:ext cx="745627" cy="276999"/>
            </a:xfrm>
            <a:prstGeom prst="rect">
              <a:avLst/>
            </a:prstGeom>
            <a:solidFill>
              <a:schemeClr val="accent6">
                <a:lumMod val="20000"/>
                <a:lumOff val="80000"/>
              </a:schemeClr>
            </a:solidFill>
            <a:ln>
              <a:noFill/>
            </a:ln>
            <a:scene3d>
              <a:camera prst="orthographicFront"/>
              <a:lightRig rig="threePt" dir="t"/>
            </a:scene3d>
            <a:sp3d>
              <a:bevelT w="25400" h="25400"/>
            </a:sp3d>
          </p:spPr>
          <p:txBody>
            <a:bodyPr wrap="square" rtlCol="0">
              <a:spAutoFit/>
            </a:bodyPr>
            <a:lstStyle/>
            <a:p>
              <a:pPr algn="ctr"/>
              <a:r>
                <a:rPr lang="en-US" altLang="zh-CN" sz="1200" b="1" dirty="0">
                  <a:latin typeface="微软雅黑" panose="020B0503020204020204" pitchFamily="34" charset="-122"/>
                  <a:ea typeface="微软雅黑" panose="020B0503020204020204" pitchFamily="34" charset="-122"/>
                  <a:cs typeface="Times New Roman" pitchFamily="18" charset="0"/>
                </a:rPr>
                <a:t>Intent</a:t>
              </a:r>
              <a:endParaRPr lang="zh-CN" altLang="en-US" sz="1200" b="1" dirty="0">
                <a:latin typeface="微软雅黑" panose="020B0503020204020204" pitchFamily="34" charset="-122"/>
                <a:ea typeface="微软雅黑" panose="020B0503020204020204" pitchFamily="34" charset="-122"/>
                <a:cs typeface="Times New Roman" pitchFamily="18" charset="0"/>
              </a:endParaRPr>
            </a:p>
          </p:txBody>
        </p:sp>
        <p:sp>
          <p:nvSpPr>
            <p:cNvPr id="32" name="TextBox 29"/>
            <p:cNvSpPr txBox="1"/>
            <p:nvPr/>
          </p:nvSpPr>
          <p:spPr>
            <a:xfrm>
              <a:off x="3748122" y="1764296"/>
              <a:ext cx="1057072" cy="350995"/>
            </a:xfrm>
            <a:prstGeom prst="rect">
              <a:avLst/>
            </a:prstGeom>
            <a:solidFill>
              <a:schemeClr val="accent6">
                <a:lumMod val="20000"/>
                <a:lumOff val="80000"/>
              </a:schemeClr>
            </a:solidFill>
            <a:ln>
              <a:noFill/>
            </a:ln>
            <a:scene3d>
              <a:camera prst="orthographicFront"/>
              <a:lightRig rig="threePt" dir="t"/>
            </a:scene3d>
            <a:sp3d>
              <a:bevelT w="25400" h="25400"/>
            </a:sp3d>
          </p:spPr>
          <p:txBody>
            <a:bodyPr wrap="square" tIns="46800" bIns="46800" rtlCol="0" anchor="ctr" anchorCtr="0">
              <a:spAutoFit/>
            </a:bodyPr>
            <a:lstStyle/>
            <a:p>
              <a:pPr algn="ctr">
                <a:lnSpc>
                  <a:spcPts val="1000"/>
                </a:lnSpc>
              </a:pPr>
              <a:r>
                <a:rPr lang="en-US" altLang="zh-CN" sz="1100" b="1" dirty="0">
                  <a:latin typeface="微软雅黑" panose="020B0503020204020204" pitchFamily="34" charset="-122"/>
                  <a:ea typeface="微软雅黑" panose="020B0503020204020204" pitchFamily="34" charset="-122"/>
                  <a:cs typeface="Times New Roman" pitchFamily="18" charset="0"/>
                </a:rPr>
                <a:t>REST</a:t>
              </a:r>
              <a:r>
                <a:rPr lang="zh-CN" altLang="en-US" sz="1100" b="1" dirty="0">
                  <a:latin typeface="微软雅黑" panose="020B0503020204020204" pitchFamily="34" charset="-122"/>
                  <a:ea typeface="微软雅黑" panose="020B0503020204020204" pitchFamily="34" charset="-122"/>
                  <a:cs typeface="Times New Roman" pitchFamily="18" charset="0"/>
                </a:rPr>
                <a:t>风格</a:t>
              </a:r>
              <a:endParaRPr lang="en-US" altLang="zh-CN" sz="1100" b="1" dirty="0">
                <a:latin typeface="微软雅黑" panose="020B0503020204020204" pitchFamily="34" charset="-122"/>
                <a:ea typeface="微软雅黑" panose="020B0503020204020204" pitchFamily="34" charset="-122"/>
                <a:cs typeface="Times New Roman" pitchFamily="18" charset="0"/>
              </a:endParaRPr>
            </a:p>
            <a:p>
              <a:pPr algn="ctr">
                <a:lnSpc>
                  <a:spcPts val="1000"/>
                </a:lnSpc>
              </a:pPr>
              <a:r>
                <a:rPr lang="zh-CN" altLang="en-US" sz="1100" b="1" dirty="0">
                  <a:latin typeface="微软雅黑" panose="020B0503020204020204" pitchFamily="34" charset="-122"/>
                  <a:ea typeface="微软雅黑" panose="020B0503020204020204" pitchFamily="34" charset="-122"/>
                  <a:cs typeface="Times New Roman" pitchFamily="18" charset="0"/>
                </a:rPr>
                <a:t>的</a:t>
              </a:r>
              <a:r>
                <a:rPr lang="en-US" altLang="zh-CN" sz="1100" b="1" dirty="0">
                  <a:latin typeface="微软雅黑" panose="020B0503020204020204" pitchFamily="34" charset="-122"/>
                  <a:ea typeface="微软雅黑" panose="020B0503020204020204" pitchFamily="34" charset="-122"/>
                  <a:cs typeface="Times New Roman" pitchFamily="18" charset="0"/>
                </a:rPr>
                <a:t>API</a:t>
              </a:r>
              <a:endParaRPr lang="zh-CN" altLang="en-US" sz="1100" b="1" dirty="0">
                <a:latin typeface="微软雅黑" panose="020B0503020204020204" pitchFamily="34" charset="-122"/>
                <a:ea typeface="微软雅黑" panose="020B0503020204020204" pitchFamily="34" charset="-122"/>
                <a:cs typeface="Times New Roman" pitchFamily="18" charset="0"/>
              </a:endParaRPr>
            </a:p>
          </p:txBody>
        </p:sp>
        <p:sp>
          <p:nvSpPr>
            <p:cNvPr id="33" name="TextBox 30"/>
            <p:cNvSpPr txBox="1"/>
            <p:nvPr/>
          </p:nvSpPr>
          <p:spPr>
            <a:xfrm>
              <a:off x="2900767" y="1764296"/>
              <a:ext cx="792804" cy="276999"/>
            </a:xfrm>
            <a:prstGeom prst="rect">
              <a:avLst/>
            </a:prstGeom>
            <a:solidFill>
              <a:schemeClr val="accent6">
                <a:lumMod val="20000"/>
                <a:lumOff val="80000"/>
              </a:schemeClr>
            </a:solidFill>
            <a:ln>
              <a:noFill/>
            </a:ln>
            <a:scene3d>
              <a:camera prst="orthographicFront"/>
              <a:lightRig rig="threePt" dir="t"/>
            </a:scene3d>
            <a:sp3d>
              <a:bevelT w="25400" h="25400"/>
            </a:sp3d>
          </p:spPr>
          <p:txBody>
            <a:bodyPr wrap="square" rtlCol="0">
              <a:spAutoFit/>
            </a:bodyPr>
            <a:lstStyle/>
            <a:p>
              <a:pPr algn="ctr"/>
              <a:r>
                <a:rPr lang="zh-CN" altLang="en-US" sz="1200" b="1" dirty="0">
                  <a:latin typeface="微软雅黑" panose="020B0503020204020204" pitchFamily="34" charset="-122"/>
                  <a:ea typeface="微软雅黑" panose="020B0503020204020204" pitchFamily="34" charset="-122"/>
                  <a:cs typeface="Times New Roman" pitchFamily="18" charset="0"/>
                </a:rPr>
                <a:t>网络图</a:t>
              </a:r>
            </a:p>
          </p:txBody>
        </p:sp>
        <p:sp>
          <p:nvSpPr>
            <p:cNvPr id="34" name="上下箭头 33"/>
            <p:cNvSpPr/>
            <p:nvPr/>
          </p:nvSpPr>
          <p:spPr>
            <a:xfrm>
              <a:off x="4267920" y="1230922"/>
              <a:ext cx="198201" cy="322803"/>
            </a:xfrm>
            <a:prstGeom prst="upDownArrow">
              <a:avLst/>
            </a:prstGeom>
            <a:solidFill>
              <a:srgbClr val="000066"/>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35" name="TextBox 32"/>
            <p:cNvSpPr txBox="1"/>
            <p:nvPr/>
          </p:nvSpPr>
          <p:spPr>
            <a:xfrm>
              <a:off x="1359877" y="2428033"/>
              <a:ext cx="1584461" cy="584775"/>
            </a:xfrm>
            <a:prstGeom prst="rect">
              <a:avLst/>
            </a:prstGeom>
            <a:noFill/>
          </p:spPr>
          <p:txBody>
            <a:bodyPr wrap="square" rtlCol="0">
              <a:spAutoFit/>
            </a:bodyPr>
            <a:lstStyle/>
            <a:p>
              <a:pPr algn="ctr"/>
              <a:r>
                <a:rPr lang="zh-CN" altLang="en-US" sz="1600" b="1" dirty="0">
                  <a:latin typeface="微软雅黑" panose="020B0503020204020204" pitchFamily="34" charset="-122"/>
                  <a:ea typeface="微软雅黑" panose="020B0503020204020204" pitchFamily="34" charset="-122"/>
                  <a:cs typeface="Times New Roman" pitchFamily="18" charset="0"/>
                </a:rPr>
                <a:t>网络范围的状态管理层</a:t>
              </a:r>
            </a:p>
          </p:txBody>
        </p:sp>
        <p:sp>
          <p:nvSpPr>
            <p:cNvPr id="36" name="TextBox 33"/>
            <p:cNvSpPr txBox="1"/>
            <p:nvPr/>
          </p:nvSpPr>
          <p:spPr>
            <a:xfrm>
              <a:off x="1359877" y="1464756"/>
              <a:ext cx="1584461" cy="738664"/>
            </a:xfrm>
            <a:prstGeom prst="rect">
              <a:avLst/>
            </a:prstGeom>
            <a:noFill/>
          </p:spPr>
          <p:txBody>
            <a:bodyPr wrap="square" rtlCol="0">
              <a:spAutoFit/>
            </a:bodyPr>
            <a:lstStyle/>
            <a:p>
              <a:pPr algn="ctr"/>
              <a:r>
                <a:rPr lang="zh-CN" altLang="en-US" sz="1400" b="1" dirty="0">
                  <a:latin typeface="微软雅黑" panose="020B0503020204020204" pitchFamily="34" charset="-122"/>
                  <a:ea typeface="微软雅黑" panose="020B0503020204020204" pitchFamily="34" charset="-122"/>
                  <a:cs typeface="Times New Roman" pitchFamily="18" charset="0"/>
                </a:rPr>
                <a:t>到网络控制</a:t>
              </a:r>
              <a:endParaRPr lang="en-US" altLang="zh-CN" sz="1400" b="1" dirty="0">
                <a:latin typeface="微软雅黑" panose="020B0503020204020204" pitchFamily="34" charset="-122"/>
                <a:ea typeface="微软雅黑" panose="020B0503020204020204" pitchFamily="34" charset="-122"/>
                <a:cs typeface="Times New Roman" pitchFamily="18" charset="0"/>
              </a:endParaRPr>
            </a:p>
            <a:p>
              <a:pPr algn="ctr"/>
              <a:r>
                <a:rPr lang="zh-CN" altLang="en-US" sz="1400" b="1" dirty="0">
                  <a:latin typeface="微软雅黑" panose="020B0503020204020204" pitchFamily="34" charset="-122"/>
                  <a:ea typeface="微软雅黑" panose="020B0503020204020204" pitchFamily="34" charset="-122"/>
                  <a:cs typeface="Times New Roman" pitchFamily="18" charset="0"/>
                </a:rPr>
                <a:t>应用程序层</a:t>
              </a:r>
              <a:endParaRPr lang="en-US" altLang="zh-CN" sz="1400" b="1" dirty="0">
                <a:latin typeface="微软雅黑" panose="020B0503020204020204" pitchFamily="34" charset="-122"/>
                <a:ea typeface="微软雅黑" panose="020B0503020204020204" pitchFamily="34" charset="-122"/>
                <a:cs typeface="Times New Roman" pitchFamily="18" charset="0"/>
              </a:endParaRPr>
            </a:p>
            <a:p>
              <a:pPr algn="ctr"/>
              <a:r>
                <a:rPr lang="zh-CN" altLang="en-US" sz="1400" b="1" dirty="0">
                  <a:latin typeface="微软雅黑" panose="020B0503020204020204" pitchFamily="34" charset="-122"/>
                  <a:ea typeface="微软雅黑" panose="020B0503020204020204" pitchFamily="34" charset="-122"/>
                  <a:cs typeface="Times New Roman" pitchFamily="18" charset="0"/>
                </a:rPr>
                <a:t>的接口</a:t>
              </a:r>
            </a:p>
          </p:txBody>
        </p:sp>
        <p:sp>
          <p:nvSpPr>
            <p:cNvPr id="37" name="TextBox 34"/>
            <p:cNvSpPr txBox="1"/>
            <p:nvPr/>
          </p:nvSpPr>
          <p:spPr>
            <a:xfrm>
              <a:off x="1359877" y="3497663"/>
              <a:ext cx="1584461" cy="338554"/>
            </a:xfrm>
            <a:prstGeom prst="rect">
              <a:avLst/>
            </a:prstGeom>
            <a:noFill/>
          </p:spPr>
          <p:txBody>
            <a:bodyPr wrap="square" rtlCol="0">
              <a:spAutoFit/>
            </a:bodyPr>
            <a:lstStyle/>
            <a:p>
              <a:pPr algn="ctr"/>
              <a:r>
                <a:rPr lang="zh-CN" altLang="en-US" sz="1600" b="1" dirty="0">
                  <a:latin typeface="微软雅黑" panose="020B0503020204020204" pitchFamily="34" charset="-122"/>
                  <a:ea typeface="微软雅黑" panose="020B0503020204020204" pitchFamily="34" charset="-122"/>
                  <a:cs typeface="Times New Roman" pitchFamily="18" charset="0"/>
                </a:rPr>
                <a:t>通信层</a:t>
              </a:r>
            </a:p>
          </p:txBody>
        </p:sp>
      </p:grpSp>
      <p:sp>
        <p:nvSpPr>
          <p:cNvPr id="43" name="线形标注 1 42"/>
          <p:cNvSpPr/>
          <p:nvPr/>
        </p:nvSpPr>
        <p:spPr>
          <a:xfrm>
            <a:off x="6135701" y="2515627"/>
            <a:ext cx="2248021" cy="1091064"/>
          </a:xfrm>
          <a:prstGeom prst="borderCallout1">
            <a:avLst>
              <a:gd name="adj1" fmla="val 78231"/>
              <a:gd name="adj2" fmla="val 599"/>
              <a:gd name="adj3" fmla="val 47524"/>
              <a:gd name="adj4" fmla="val -46457"/>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000"/>
              </a:lnSpc>
            </a:pPr>
            <a:r>
              <a:rPr lang="zh-CN" altLang="en-US" sz="1400" b="1" dirty="0">
                <a:solidFill>
                  <a:schemeClr val="tx1"/>
                </a:solidFill>
                <a:latin typeface="微软雅黑" panose="020B0503020204020204" pitchFamily="34" charset="-122"/>
                <a:ea typeface="微软雅黑" panose="020B0503020204020204" pitchFamily="34" charset="-122"/>
              </a:rPr>
              <a:t>完成核心功能。</a:t>
            </a:r>
            <a:endParaRPr lang="en-US" altLang="zh-CN" sz="1400" b="1" dirty="0">
              <a:solidFill>
                <a:schemeClr val="tx1"/>
              </a:solidFill>
              <a:latin typeface="微软雅黑" panose="020B0503020204020204" pitchFamily="34" charset="-122"/>
              <a:ea typeface="微软雅黑" panose="020B0503020204020204" pitchFamily="34" charset="-122"/>
            </a:endParaRPr>
          </a:p>
          <a:p>
            <a:pPr marL="176213" indent="-176213">
              <a:lnSpc>
                <a:spcPts val="2000"/>
              </a:lnSpc>
              <a:buFont typeface="Wingdings" panose="05000000000000000000" pitchFamily="2" charset="2"/>
              <a:buChar char="l"/>
            </a:pPr>
            <a:r>
              <a:rPr lang="zh-CN" altLang="en-US" sz="1400" b="1" dirty="0">
                <a:solidFill>
                  <a:schemeClr val="tx1"/>
                </a:solidFill>
                <a:latin typeface="微软雅黑" panose="020B0503020204020204" pitchFamily="34" charset="-122"/>
                <a:ea typeface="微软雅黑" panose="020B0503020204020204" pitchFamily="34" charset="-122"/>
              </a:rPr>
              <a:t>管理和维护链路、主机、交换机等网络状态；</a:t>
            </a:r>
            <a:endParaRPr lang="en-US" altLang="zh-CN" sz="1400" b="1" dirty="0">
              <a:solidFill>
                <a:schemeClr val="tx1"/>
              </a:solidFill>
              <a:latin typeface="微软雅黑" panose="020B0503020204020204" pitchFamily="34" charset="-122"/>
              <a:ea typeface="微软雅黑" panose="020B0503020204020204" pitchFamily="34" charset="-122"/>
            </a:endParaRPr>
          </a:p>
          <a:p>
            <a:pPr marL="176213" indent="-176213">
              <a:lnSpc>
                <a:spcPts val="2000"/>
              </a:lnSpc>
              <a:buFont typeface="Wingdings" panose="05000000000000000000" pitchFamily="2" charset="2"/>
              <a:buChar char="l"/>
            </a:pPr>
            <a:r>
              <a:rPr lang="zh-CN" altLang="en-US" sz="1400" b="1" dirty="0">
                <a:solidFill>
                  <a:schemeClr val="tx1"/>
                </a:solidFill>
                <a:latin typeface="微软雅黑" panose="020B0503020204020204" pitchFamily="34" charset="-122"/>
                <a:ea typeface="微软雅黑" panose="020B0503020204020204" pitchFamily="34" charset="-122"/>
              </a:rPr>
              <a:t>确定和维护流表等。</a:t>
            </a:r>
            <a:endParaRPr lang="en-US" altLang="zh-CN" sz="1400" b="1" dirty="0">
              <a:solidFill>
                <a:schemeClr val="tx1"/>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91268017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圆角矩形 40"/>
          <p:cNvSpPr/>
          <p:nvPr/>
        </p:nvSpPr>
        <p:spPr>
          <a:xfrm>
            <a:off x="545144" y="1080937"/>
            <a:ext cx="8053711" cy="3409582"/>
          </a:xfrm>
          <a:prstGeom prst="roundRect">
            <a:avLst>
              <a:gd name="adj" fmla="val 11622"/>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7" name="AutoShape 5"/>
          <p:cNvSpPr>
            <a:spLocks noChangeArrowheads="1"/>
          </p:cNvSpPr>
          <p:nvPr/>
        </p:nvSpPr>
        <p:spPr bwMode="auto">
          <a:xfrm>
            <a:off x="545144" y="617509"/>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8" name="Rectangle 6"/>
          <p:cNvSpPr>
            <a:spLocks noChangeArrowheads="1"/>
          </p:cNvSpPr>
          <p:nvPr/>
        </p:nvSpPr>
        <p:spPr bwMode="auto">
          <a:xfrm>
            <a:off x="3069033" y="576646"/>
            <a:ext cx="300595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4.10.3  SDN </a:t>
            </a:r>
            <a:r>
              <a:rPr lang="zh-CN" altLang="en-US" sz="2400" b="1" dirty="0">
                <a:solidFill>
                  <a:schemeClr val="bg1"/>
                </a:solidFill>
                <a:latin typeface="微软雅黑" pitchFamily="34" charset="-122"/>
                <a:ea typeface="微软雅黑" pitchFamily="34" charset="-122"/>
              </a:rPr>
              <a:t>控制器</a:t>
            </a:r>
          </a:p>
        </p:txBody>
      </p:sp>
      <p:grpSp>
        <p:nvGrpSpPr>
          <p:cNvPr id="42" name="组合 41"/>
          <p:cNvGrpSpPr/>
          <p:nvPr/>
        </p:nvGrpSpPr>
        <p:grpSpPr>
          <a:xfrm>
            <a:off x="633046" y="1230438"/>
            <a:ext cx="6375957" cy="3035975"/>
            <a:chOff x="1359877" y="1230438"/>
            <a:chExt cx="6375957" cy="3035975"/>
          </a:xfrm>
        </p:grpSpPr>
        <p:cxnSp>
          <p:nvCxnSpPr>
            <p:cNvPr id="9" name="直接连接符 8"/>
            <p:cNvCxnSpPr/>
            <p:nvPr/>
          </p:nvCxnSpPr>
          <p:spPr>
            <a:xfrm>
              <a:off x="2742756" y="4082073"/>
              <a:ext cx="3798722" cy="0"/>
            </a:xfrm>
            <a:prstGeom prst="line">
              <a:avLst/>
            </a:prstGeom>
            <a:ln w="19050">
              <a:solidFill>
                <a:srgbClr val="000066"/>
              </a:solidFill>
              <a:prstDash val="sysDash"/>
            </a:ln>
          </p:spPr>
          <p:style>
            <a:lnRef idx="1">
              <a:schemeClr val="accent1"/>
            </a:lnRef>
            <a:fillRef idx="0">
              <a:schemeClr val="accent1"/>
            </a:fillRef>
            <a:effectRef idx="0">
              <a:schemeClr val="accent1"/>
            </a:effectRef>
            <a:fontRef idx="minor">
              <a:schemeClr val="tx1"/>
            </a:fontRef>
          </p:style>
        </p:cxnSp>
        <p:sp>
          <p:nvSpPr>
            <p:cNvPr id="10" name="矩形 9"/>
            <p:cNvSpPr/>
            <p:nvPr/>
          </p:nvSpPr>
          <p:spPr>
            <a:xfrm>
              <a:off x="2814445" y="3329144"/>
              <a:ext cx="3171219" cy="645607"/>
            </a:xfrm>
            <a:prstGeom prst="rect">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200" b="1">
                  <a:solidFill>
                    <a:schemeClr val="tx1"/>
                  </a:solidFill>
                  <a:latin typeface="微软雅黑" panose="020B0503020204020204" pitchFamily="34" charset="-122"/>
                  <a:ea typeface="微软雅黑" panose="020B0503020204020204" pitchFamily="34" charset="-122"/>
                  <a:cs typeface="Times New Roman" pitchFamily="18" charset="0"/>
                </a:rPr>
                <a:t>与数据层面中</a:t>
              </a:r>
              <a:r>
                <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rPr>
                <a:t>受控设备的通信</a:t>
              </a: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p:txBody>
        </p:sp>
        <p:sp>
          <p:nvSpPr>
            <p:cNvPr id="11" name="TextBox 109"/>
            <p:cNvSpPr txBox="1"/>
            <p:nvPr/>
          </p:nvSpPr>
          <p:spPr>
            <a:xfrm>
              <a:off x="6576747" y="3927859"/>
              <a:ext cx="1159087" cy="338554"/>
            </a:xfrm>
            <a:prstGeom prst="rect">
              <a:avLst/>
            </a:prstGeom>
            <a:noFill/>
          </p:spPr>
          <p:txBody>
            <a:bodyPr wrap="square" rtlCol="0">
              <a:spAutoFit/>
            </a:bodyPr>
            <a:lstStyle/>
            <a:p>
              <a:pPr algn="ctr"/>
              <a:r>
                <a:rPr lang="zh-CN" altLang="en-US" sz="1600" b="1" dirty="0">
                  <a:solidFill>
                    <a:srgbClr val="0000FF"/>
                  </a:solidFill>
                  <a:latin typeface="微软雅黑" panose="020B0503020204020204" pitchFamily="34" charset="-122"/>
                  <a:ea typeface="微软雅黑" panose="020B0503020204020204" pitchFamily="34" charset="-122"/>
                </a:rPr>
                <a:t>南向 </a:t>
              </a:r>
              <a:r>
                <a:rPr lang="en-US" altLang="zh-CN" sz="1600" b="1" dirty="0">
                  <a:solidFill>
                    <a:srgbClr val="0000FF"/>
                  </a:solidFill>
                  <a:latin typeface="微软雅黑" panose="020B0503020204020204" pitchFamily="34" charset="-122"/>
                  <a:ea typeface="微软雅黑" panose="020B0503020204020204" pitchFamily="34" charset="-122"/>
                  <a:cs typeface="Times New Roman" pitchFamily="18" charset="0"/>
                </a:rPr>
                <a:t>API</a:t>
              </a:r>
              <a:endParaRPr lang="zh-CN" altLang="en-US" sz="1600" b="1" dirty="0">
                <a:solidFill>
                  <a:srgbClr val="0000FF"/>
                </a:solidFill>
                <a:latin typeface="微软雅黑" panose="020B0503020204020204" pitchFamily="34" charset="-122"/>
                <a:ea typeface="微软雅黑" panose="020B0503020204020204" pitchFamily="34" charset="-122"/>
                <a:cs typeface="Times New Roman" pitchFamily="18" charset="0"/>
              </a:endParaRPr>
            </a:p>
          </p:txBody>
        </p:sp>
        <p:cxnSp>
          <p:nvCxnSpPr>
            <p:cNvPr id="12" name="直接连接符 11"/>
            <p:cNvCxnSpPr/>
            <p:nvPr/>
          </p:nvCxnSpPr>
          <p:spPr>
            <a:xfrm>
              <a:off x="2751495" y="1406242"/>
              <a:ext cx="3789982" cy="0"/>
            </a:xfrm>
            <a:prstGeom prst="line">
              <a:avLst/>
            </a:prstGeom>
            <a:ln w="19050">
              <a:solidFill>
                <a:srgbClr val="000066"/>
              </a:solidFill>
              <a:prstDash val="sysDash"/>
            </a:ln>
          </p:spPr>
          <p:style>
            <a:lnRef idx="1">
              <a:schemeClr val="accent1"/>
            </a:lnRef>
            <a:fillRef idx="0">
              <a:schemeClr val="accent1"/>
            </a:fillRef>
            <a:effectRef idx="0">
              <a:schemeClr val="accent1"/>
            </a:effectRef>
            <a:fontRef idx="minor">
              <a:schemeClr val="tx1"/>
            </a:fontRef>
          </p:style>
        </p:cxnSp>
        <p:sp>
          <p:nvSpPr>
            <p:cNvPr id="13" name="TextBox 112"/>
            <p:cNvSpPr txBox="1"/>
            <p:nvPr/>
          </p:nvSpPr>
          <p:spPr>
            <a:xfrm>
              <a:off x="6576743" y="1230438"/>
              <a:ext cx="1159088" cy="338554"/>
            </a:xfrm>
            <a:prstGeom prst="rect">
              <a:avLst/>
            </a:prstGeom>
            <a:noFill/>
          </p:spPr>
          <p:txBody>
            <a:bodyPr wrap="square" rtlCol="0">
              <a:spAutoFit/>
            </a:bodyPr>
            <a:lstStyle/>
            <a:p>
              <a:pPr algn="ctr"/>
              <a:r>
                <a:rPr lang="zh-CN" altLang="en-US" sz="1600" b="1" dirty="0">
                  <a:solidFill>
                    <a:srgbClr val="C00000"/>
                  </a:solidFill>
                  <a:latin typeface="微软雅黑" panose="020B0503020204020204" pitchFamily="34" charset="-122"/>
                  <a:ea typeface="微软雅黑" panose="020B0503020204020204" pitchFamily="34" charset="-122"/>
                </a:rPr>
                <a:t>北向 </a:t>
              </a:r>
              <a:r>
                <a:rPr lang="en-US" altLang="zh-CN" sz="1600" b="1" dirty="0">
                  <a:solidFill>
                    <a:srgbClr val="C00000"/>
                  </a:solidFill>
                  <a:latin typeface="微软雅黑" panose="020B0503020204020204" pitchFamily="34" charset="-122"/>
                  <a:ea typeface="微软雅黑" panose="020B0503020204020204" pitchFamily="34" charset="-122"/>
                  <a:cs typeface="Times New Roman" pitchFamily="18" charset="0"/>
                </a:rPr>
                <a:t>API</a:t>
              </a:r>
              <a:endParaRPr lang="zh-CN" altLang="en-US" sz="1600" b="1" dirty="0">
                <a:solidFill>
                  <a:srgbClr val="C00000"/>
                </a:solidFill>
                <a:latin typeface="微软雅黑" panose="020B0503020204020204" pitchFamily="34" charset="-122"/>
                <a:ea typeface="微软雅黑" panose="020B0503020204020204" pitchFamily="34" charset="-122"/>
                <a:cs typeface="Times New Roman" pitchFamily="18" charset="0"/>
              </a:endParaRPr>
            </a:p>
          </p:txBody>
        </p:sp>
        <p:cxnSp>
          <p:nvCxnSpPr>
            <p:cNvPr id="14" name="直接箭头连接符 13"/>
            <p:cNvCxnSpPr/>
            <p:nvPr/>
          </p:nvCxnSpPr>
          <p:spPr>
            <a:xfrm flipH="1">
              <a:off x="6402114" y="1446124"/>
              <a:ext cx="7669" cy="2607484"/>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15" name="TextBox 179"/>
            <p:cNvSpPr txBox="1"/>
            <p:nvPr/>
          </p:nvSpPr>
          <p:spPr>
            <a:xfrm>
              <a:off x="5971007" y="2515627"/>
              <a:ext cx="906761" cy="584775"/>
            </a:xfrm>
            <a:prstGeom prst="rect">
              <a:avLst/>
            </a:prstGeom>
            <a:solidFill>
              <a:srgbClr val="C3E3F9"/>
            </a:solidFill>
          </p:spPr>
          <p:txBody>
            <a:bodyPr wrap="square" rtlCol="0">
              <a:spAutoFit/>
            </a:bodyPr>
            <a:lstStyle/>
            <a:p>
              <a:pPr algn="ctr"/>
              <a:r>
                <a:rPr lang="en-US" altLang="zh-CN" sz="1600" b="1" dirty="0">
                  <a:latin typeface="微软雅黑" panose="020B0503020204020204" pitchFamily="34" charset="-122"/>
                  <a:ea typeface="微软雅黑" panose="020B0503020204020204" pitchFamily="34" charset="-122"/>
                  <a:cs typeface="Times New Roman" pitchFamily="18" charset="0"/>
                </a:rPr>
                <a:t>SDN</a:t>
              </a:r>
            </a:p>
            <a:p>
              <a:pPr algn="ctr"/>
              <a:r>
                <a:rPr lang="zh-CN" altLang="en-US" sz="1600" b="1" dirty="0">
                  <a:latin typeface="微软雅黑" panose="020B0503020204020204" pitchFamily="34" charset="-122"/>
                  <a:ea typeface="微软雅黑" panose="020B0503020204020204" pitchFamily="34" charset="-122"/>
                  <a:cs typeface="Times New Roman" pitchFamily="18" charset="0"/>
                </a:rPr>
                <a:t>控制器</a:t>
              </a:r>
            </a:p>
          </p:txBody>
        </p:sp>
        <p:sp>
          <p:nvSpPr>
            <p:cNvPr id="16" name="TextBox 63"/>
            <p:cNvSpPr txBox="1"/>
            <p:nvPr/>
          </p:nvSpPr>
          <p:spPr>
            <a:xfrm>
              <a:off x="3144781" y="3606691"/>
              <a:ext cx="1057072" cy="276999"/>
            </a:xfrm>
            <a:prstGeom prst="rect">
              <a:avLst/>
            </a:prstGeom>
            <a:solidFill>
              <a:schemeClr val="tx2">
                <a:lumMod val="20000"/>
                <a:lumOff val="80000"/>
              </a:schemeClr>
            </a:solidFill>
            <a:ln/>
            <a:scene3d>
              <a:camera prst="orthographicFront">
                <a:rot lat="0" lon="0" rev="0"/>
              </a:camera>
              <a:lightRig rig="threePt" dir="t">
                <a:rot lat="0" lon="0" rev="1200000"/>
              </a:lightRig>
            </a:scene3d>
            <a:sp3d>
              <a:bevelT w="25400" h="25400"/>
            </a:sp3d>
          </p:spPr>
          <p:style>
            <a:lnRef idx="0">
              <a:schemeClr val="accent1"/>
            </a:lnRef>
            <a:fillRef idx="3">
              <a:schemeClr val="accent1"/>
            </a:fillRef>
            <a:effectRef idx="3">
              <a:schemeClr val="accent1"/>
            </a:effectRef>
            <a:fontRef idx="minor">
              <a:schemeClr val="lt1"/>
            </a:fontRef>
          </p:style>
          <p:txBody>
            <a:bodyPr wrap="square" rtlCol="0">
              <a:spAutoFit/>
            </a:bodyPr>
            <a:lstStyle/>
            <a:p>
              <a:pPr algn="ctr"/>
              <a:r>
                <a:rPr lang="en-US" altLang="zh-CN" sz="1200" b="1" dirty="0" err="1">
                  <a:solidFill>
                    <a:schemeClr val="tx1"/>
                  </a:solidFill>
                  <a:latin typeface="微软雅黑" panose="020B0503020204020204" pitchFamily="34" charset="-122"/>
                  <a:ea typeface="微软雅黑" panose="020B0503020204020204" pitchFamily="34" charset="-122"/>
                  <a:cs typeface="Times New Roman" pitchFamily="18" charset="0"/>
                </a:rPr>
                <a:t>OpenFlow</a:t>
              </a:r>
              <a:endPar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p:txBody>
        </p:sp>
        <p:sp>
          <p:nvSpPr>
            <p:cNvPr id="17" name="TextBox 64"/>
            <p:cNvSpPr txBox="1"/>
            <p:nvPr/>
          </p:nvSpPr>
          <p:spPr>
            <a:xfrm>
              <a:off x="4730389" y="3598147"/>
              <a:ext cx="726739" cy="276999"/>
            </a:xfrm>
            <a:prstGeom prst="rect">
              <a:avLst/>
            </a:prstGeom>
            <a:solidFill>
              <a:schemeClr val="tx2">
                <a:lumMod val="20000"/>
                <a:lumOff val="80000"/>
              </a:schemeClr>
            </a:solidFill>
            <a:ln/>
            <a:scene3d>
              <a:camera prst="orthographicFront">
                <a:rot lat="0" lon="0" rev="0"/>
              </a:camera>
              <a:lightRig rig="threePt" dir="t">
                <a:rot lat="0" lon="0" rev="1200000"/>
              </a:lightRig>
            </a:scene3d>
            <a:sp3d>
              <a:bevelT w="25400" h="25400"/>
            </a:sp3d>
          </p:spPr>
          <p:style>
            <a:lnRef idx="0">
              <a:schemeClr val="accent1"/>
            </a:lnRef>
            <a:fillRef idx="3">
              <a:schemeClr val="accent1"/>
            </a:fillRef>
            <a:effectRef idx="3">
              <a:schemeClr val="accent1"/>
            </a:effectRef>
            <a:fontRef idx="minor">
              <a:schemeClr val="lt1"/>
            </a:fontRef>
          </p:style>
          <p:txBody>
            <a:bodyPr wrap="square" rtlCol="0">
              <a:spAutoFit/>
            </a:bodyPr>
            <a:lstStyle>
              <a:defPPr>
                <a:defRPr lang="zh-CN"/>
              </a:defPPr>
              <a:lvl1pPr algn="ctr">
                <a:defRPr sz="1200" b="1">
                  <a:solidFill>
                    <a:schemeClr val="lt1"/>
                  </a:solidFill>
                  <a:latin typeface="微软雅黑" panose="020B0503020204020204" pitchFamily="34" charset="-122"/>
                  <a:ea typeface="微软雅黑" panose="020B0503020204020204" pitchFamily="34" charset="-122"/>
                  <a:cs typeface="Times New Roman" pitchFamily="18"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zh-CN" dirty="0">
                  <a:solidFill>
                    <a:schemeClr val="tx1"/>
                  </a:solidFill>
                </a:rPr>
                <a:t>SNMP</a:t>
              </a:r>
              <a:endParaRPr lang="zh-CN" altLang="en-US" dirty="0">
                <a:solidFill>
                  <a:schemeClr val="tx1"/>
                </a:solidFill>
              </a:endParaRPr>
            </a:p>
          </p:txBody>
        </p:sp>
        <p:sp>
          <p:nvSpPr>
            <p:cNvPr id="18" name="矩形 17"/>
            <p:cNvSpPr/>
            <p:nvPr/>
          </p:nvSpPr>
          <p:spPr>
            <a:xfrm>
              <a:off x="2814445" y="2199332"/>
              <a:ext cx="3171219" cy="1076011"/>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rPr>
                <a:t>网络范围分布式和健壮的状态管理</a:t>
              </a: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p:txBody>
        </p:sp>
        <p:sp>
          <p:nvSpPr>
            <p:cNvPr id="19" name="TextBox 15"/>
            <p:cNvSpPr txBox="1"/>
            <p:nvPr/>
          </p:nvSpPr>
          <p:spPr>
            <a:xfrm>
              <a:off x="4447071" y="2823453"/>
              <a:ext cx="792804" cy="400110"/>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交换机</a:t>
              </a: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信息</a:t>
              </a:r>
            </a:p>
          </p:txBody>
        </p:sp>
        <p:sp>
          <p:nvSpPr>
            <p:cNvPr id="20" name="TextBox 16"/>
            <p:cNvSpPr txBox="1"/>
            <p:nvPr/>
          </p:nvSpPr>
          <p:spPr>
            <a:xfrm>
              <a:off x="4122035" y="2483124"/>
              <a:ext cx="594604" cy="276999"/>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r>
                <a:rPr lang="zh-CN" altLang="en-US" sz="1200" b="1" dirty="0">
                  <a:latin typeface="微软雅黑" panose="020B0503020204020204" pitchFamily="34" charset="-122"/>
                  <a:ea typeface="微软雅黑" panose="020B0503020204020204" pitchFamily="34" charset="-122"/>
                  <a:cs typeface="Times New Roman" pitchFamily="18" charset="0"/>
                </a:rPr>
                <a:t>流表</a:t>
              </a:r>
            </a:p>
          </p:txBody>
        </p:sp>
        <p:sp>
          <p:nvSpPr>
            <p:cNvPr id="21" name="TextBox 17"/>
            <p:cNvSpPr txBox="1"/>
            <p:nvPr/>
          </p:nvSpPr>
          <p:spPr>
            <a:xfrm>
              <a:off x="3808632" y="2823453"/>
              <a:ext cx="634454" cy="400110"/>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主机</a:t>
              </a: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信息</a:t>
              </a:r>
            </a:p>
          </p:txBody>
        </p:sp>
        <p:sp>
          <p:nvSpPr>
            <p:cNvPr id="22" name="TextBox 18"/>
            <p:cNvSpPr txBox="1"/>
            <p:nvPr/>
          </p:nvSpPr>
          <p:spPr>
            <a:xfrm>
              <a:off x="2880512" y="2823453"/>
              <a:ext cx="924939" cy="400110"/>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链路状态信息</a:t>
              </a:r>
            </a:p>
          </p:txBody>
        </p:sp>
        <p:sp>
          <p:nvSpPr>
            <p:cNvPr id="23" name="TextBox 19"/>
            <p:cNvSpPr txBox="1"/>
            <p:nvPr/>
          </p:nvSpPr>
          <p:spPr>
            <a:xfrm>
              <a:off x="3541182" y="2483124"/>
              <a:ext cx="594604" cy="276999"/>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r>
                <a:rPr lang="zh-CN" altLang="en-US" sz="1200" b="1" dirty="0">
                  <a:latin typeface="微软雅黑" panose="020B0503020204020204" pitchFamily="34" charset="-122"/>
                  <a:ea typeface="微软雅黑" panose="020B0503020204020204" pitchFamily="34" charset="-122"/>
                  <a:cs typeface="Times New Roman" pitchFamily="18" charset="0"/>
                </a:rPr>
                <a:t>统计</a:t>
              </a:r>
            </a:p>
          </p:txBody>
        </p:sp>
        <p:sp>
          <p:nvSpPr>
            <p:cNvPr id="24" name="上下箭头 23"/>
            <p:cNvSpPr/>
            <p:nvPr/>
          </p:nvSpPr>
          <p:spPr>
            <a:xfrm>
              <a:off x="4333987" y="3920950"/>
              <a:ext cx="198201" cy="322803"/>
            </a:xfrm>
            <a:prstGeom prst="upDownArrow">
              <a:avLst/>
            </a:prstGeom>
            <a:solidFill>
              <a:srgbClr val="000066"/>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26" name="矩形 25"/>
            <p:cNvSpPr/>
            <p:nvPr/>
          </p:nvSpPr>
          <p:spPr>
            <a:xfrm>
              <a:off x="2814445" y="1499925"/>
              <a:ext cx="3171219" cy="645607"/>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rPr>
                <a:t>与网络控制应用程序的通信</a:t>
              </a: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p:txBody>
        </p:sp>
        <p:sp>
          <p:nvSpPr>
            <p:cNvPr id="27" name="TextBox 24"/>
            <p:cNvSpPr txBox="1"/>
            <p:nvPr/>
          </p:nvSpPr>
          <p:spPr>
            <a:xfrm>
              <a:off x="4259400" y="3576019"/>
              <a:ext cx="401984" cy="276999"/>
            </a:xfrm>
            <a:prstGeom prst="rect">
              <a:avLst/>
            </a:prstGeom>
            <a:noFill/>
          </p:spPr>
          <p:txBody>
            <a:bodyPr wrap="none" rtlCol="0">
              <a:spAutoFit/>
            </a:bodyPr>
            <a:lstStyle/>
            <a:p>
              <a:r>
                <a:rPr lang="en-US" altLang="zh-CN"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sp>
          <p:nvSpPr>
            <p:cNvPr id="28" name="TextBox 25"/>
            <p:cNvSpPr txBox="1"/>
            <p:nvPr/>
          </p:nvSpPr>
          <p:spPr>
            <a:xfrm>
              <a:off x="5250793" y="2859728"/>
              <a:ext cx="401984" cy="276999"/>
            </a:xfrm>
            <a:prstGeom prst="rect">
              <a:avLst/>
            </a:prstGeom>
            <a:noFill/>
          </p:spPr>
          <p:txBody>
            <a:bodyPr wrap="none" rtlCol="0">
              <a:spAutoFit/>
            </a:bodyPr>
            <a:lstStyle/>
            <a:p>
              <a:r>
                <a:rPr lang="en-US" altLang="zh-CN"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sp>
          <p:nvSpPr>
            <p:cNvPr id="29" name="TextBox 26"/>
            <p:cNvSpPr txBox="1"/>
            <p:nvPr/>
          </p:nvSpPr>
          <p:spPr>
            <a:xfrm>
              <a:off x="4798442" y="1776878"/>
              <a:ext cx="401984" cy="276999"/>
            </a:xfrm>
            <a:prstGeom prst="rect">
              <a:avLst/>
            </a:prstGeom>
            <a:noFill/>
          </p:spPr>
          <p:txBody>
            <a:bodyPr wrap="none" rtlCol="0">
              <a:spAutoFit/>
            </a:bodyPr>
            <a:lstStyle/>
            <a:p>
              <a:r>
                <a:rPr lang="en-US" altLang="zh-CN"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sp>
          <p:nvSpPr>
            <p:cNvPr id="30" name="TextBox 27"/>
            <p:cNvSpPr txBox="1"/>
            <p:nvPr/>
          </p:nvSpPr>
          <p:spPr>
            <a:xfrm>
              <a:off x="4722630" y="2453805"/>
              <a:ext cx="401984" cy="276999"/>
            </a:xfrm>
            <a:prstGeom prst="rect">
              <a:avLst/>
            </a:prstGeom>
            <a:noFill/>
          </p:spPr>
          <p:txBody>
            <a:bodyPr wrap="none" rtlCol="0">
              <a:spAutoFit/>
            </a:bodyPr>
            <a:lstStyle/>
            <a:p>
              <a:r>
                <a:rPr lang="en-US" altLang="zh-CN"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sp>
          <p:nvSpPr>
            <p:cNvPr id="31" name="TextBox 28"/>
            <p:cNvSpPr txBox="1"/>
            <p:nvPr/>
          </p:nvSpPr>
          <p:spPr>
            <a:xfrm>
              <a:off x="5196705" y="1764296"/>
              <a:ext cx="745627" cy="276999"/>
            </a:xfrm>
            <a:prstGeom prst="rect">
              <a:avLst/>
            </a:prstGeom>
            <a:solidFill>
              <a:schemeClr val="accent6">
                <a:lumMod val="20000"/>
                <a:lumOff val="80000"/>
              </a:schemeClr>
            </a:solidFill>
            <a:ln>
              <a:noFill/>
            </a:ln>
            <a:scene3d>
              <a:camera prst="orthographicFront"/>
              <a:lightRig rig="threePt" dir="t"/>
            </a:scene3d>
            <a:sp3d>
              <a:bevelT w="25400" h="25400"/>
            </a:sp3d>
          </p:spPr>
          <p:txBody>
            <a:bodyPr wrap="square" rtlCol="0">
              <a:spAutoFit/>
            </a:bodyPr>
            <a:lstStyle/>
            <a:p>
              <a:pPr algn="ctr"/>
              <a:r>
                <a:rPr lang="en-US" altLang="zh-CN" sz="1200" b="1" dirty="0">
                  <a:latin typeface="微软雅黑" panose="020B0503020204020204" pitchFamily="34" charset="-122"/>
                  <a:ea typeface="微软雅黑" panose="020B0503020204020204" pitchFamily="34" charset="-122"/>
                  <a:cs typeface="Times New Roman" pitchFamily="18" charset="0"/>
                </a:rPr>
                <a:t>Intent</a:t>
              </a:r>
              <a:endParaRPr lang="zh-CN" altLang="en-US" sz="1200" b="1" dirty="0">
                <a:latin typeface="微软雅黑" panose="020B0503020204020204" pitchFamily="34" charset="-122"/>
                <a:ea typeface="微软雅黑" panose="020B0503020204020204" pitchFamily="34" charset="-122"/>
                <a:cs typeface="Times New Roman" pitchFamily="18" charset="0"/>
              </a:endParaRPr>
            </a:p>
          </p:txBody>
        </p:sp>
        <p:sp>
          <p:nvSpPr>
            <p:cNvPr id="32" name="TextBox 29"/>
            <p:cNvSpPr txBox="1"/>
            <p:nvPr/>
          </p:nvSpPr>
          <p:spPr>
            <a:xfrm>
              <a:off x="3748122" y="1764296"/>
              <a:ext cx="1057072" cy="350995"/>
            </a:xfrm>
            <a:prstGeom prst="rect">
              <a:avLst/>
            </a:prstGeom>
            <a:solidFill>
              <a:schemeClr val="accent6">
                <a:lumMod val="20000"/>
                <a:lumOff val="80000"/>
              </a:schemeClr>
            </a:solidFill>
            <a:ln>
              <a:noFill/>
            </a:ln>
            <a:scene3d>
              <a:camera prst="orthographicFront"/>
              <a:lightRig rig="threePt" dir="t"/>
            </a:scene3d>
            <a:sp3d>
              <a:bevelT w="25400" h="25400"/>
            </a:sp3d>
          </p:spPr>
          <p:txBody>
            <a:bodyPr wrap="square" tIns="46800" bIns="46800" rtlCol="0" anchor="ctr" anchorCtr="0">
              <a:spAutoFit/>
            </a:bodyPr>
            <a:lstStyle/>
            <a:p>
              <a:pPr algn="ctr">
                <a:lnSpc>
                  <a:spcPts val="1000"/>
                </a:lnSpc>
              </a:pPr>
              <a:r>
                <a:rPr lang="en-US" altLang="zh-CN" sz="1100" b="1" dirty="0">
                  <a:latin typeface="微软雅黑" panose="020B0503020204020204" pitchFamily="34" charset="-122"/>
                  <a:ea typeface="微软雅黑" panose="020B0503020204020204" pitchFamily="34" charset="-122"/>
                  <a:cs typeface="Times New Roman" pitchFamily="18" charset="0"/>
                </a:rPr>
                <a:t>REST</a:t>
              </a:r>
              <a:r>
                <a:rPr lang="zh-CN" altLang="en-US" sz="1100" b="1" dirty="0">
                  <a:latin typeface="微软雅黑" panose="020B0503020204020204" pitchFamily="34" charset="-122"/>
                  <a:ea typeface="微软雅黑" panose="020B0503020204020204" pitchFamily="34" charset="-122"/>
                  <a:cs typeface="Times New Roman" pitchFamily="18" charset="0"/>
                </a:rPr>
                <a:t>风格</a:t>
              </a:r>
              <a:endParaRPr lang="en-US" altLang="zh-CN" sz="1100" b="1" dirty="0">
                <a:latin typeface="微软雅黑" panose="020B0503020204020204" pitchFamily="34" charset="-122"/>
                <a:ea typeface="微软雅黑" panose="020B0503020204020204" pitchFamily="34" charset="-122"/>
                <a:cs typeface="Times New Roman" pitchFamily="18" charset="0"/>
              </a:endParaRPr>
            </a:p>
            <a:p>
              <a:pPr algn="ctr">
                <a:lnSpc>
                  <a:spcPts val="1000"/>
                </a:lnSpc>
              </a:pPr>
              <a:r>
                <a:rPr lang="zh-CN" altLang="en-US" sz="1100" b="1" dirty="0">
                  <a:latin typeface="微软雅黑" panose="020B0503020204020204" pitchFamily="34" charset="-122"/>
                  <a:ea typeface="微软雅黑" panose="020B0503020204020204" pitchFamily="34" charset="-122"/>
                  <a:cs typeface="Times New Roman" pitchFamily="18" charset="0"/>
                </a:rPr>
                <a:t>的</a:t>
              </a:r>
              <a:r>
                <a:rPr lang="en-US" altLang="zh-CN" sz="1100" b="1" dirty="0">
                  <a:latin typeface="微软雅黑" panose="020B0503020204020204" pitchFamily="34" charset="-122"/>
                  <a:ea typeface="微软雅黑" panose="020B0503020204020204" pitchFamily="34" charset="-122"/>
                  <a:cs typeface="Times New Roman" pitchFamily="18" charset="0"/>
                </a:rPr>
                <a:t>API</a:t>
              </a:r>
              <a:endParaRPr lang="zh-CN" altLang="en-US" sz="1100" b="1" dirty="0">
                <a:latin typeface="微软雅黑" panose="020B0503020204020204" pitchFamily="34" charset="-122"/>
                <a:ea typeface="微软雅黑" panose="020B0503020204020204" pitchFamily="34" charset="-122"/>
                <a:cs typeface="Times New Roman" pitchFamily="18" charset="0"/>
              </a:endParaRPr>
            </a:p>
          </p:txBody>
        </p:sp>
        <p:sp>
          <p:nvSpPr>
            <p:cNvPr id="33" name="TextBox 30"/>
            <p:cNvSpPr txBox="1"/>
            <p:nvPr/>
          </p:nvSpPr>
          <p:spPr>
            <a:xfrm>
              <a:off x="2900767" y="1764296"/>
              <a:ext cx="792804" cy="276999"/>
            </a:xfrm>
            <a:prstGeom prst="rect">
              <a:avLst/>
            </a:prstGeom>
            <a:solidFill>
              <a:schemeClr val="accent6">
                <a:lumMod val="20000"/>
                <a:lumOff val="80000"/>
              </a:schemeClr>
            </a:solidFill>
            <a:ln>
              <a:noFill/>
            </a:ln>
            <a:scene3d>
              <a:camera prst="orthographicFront"/>
              <a:lightRig rig="threePt" dir="t"/>
            </a:scene3d>
            <a:sp3d>
              <a:bevelT w="25400" h="25400"/>
            </a:sp3d>
          </p:spPr>
          <p:txBody>
            <a:bodyPr wrap="square" rtlCol="0">
              <a:spAutoFit/>
            </a:bodyPr>
            <a:lstStyle/>
            <a:p>
              <a:pPr algn="ctr"/>
              <a:r>
                <a:rPr lang="zh-CN" altLang="en-US" sz="1200" b="1" dirty="0">
                  <a:latin typeface="微软雅黑" panose="020B0503020204020204" pitchFamily="34" charset="-122"/>
                  <a:ea typeface="微软雅黑" panose="020B0503020204020204" pitchFamily="34" charset="-122"/>
                  <a:cs typeface="Times New Roman" pitchFamily="18" charset="0"/>
                </a:rPr>
                <a:t>网络图</a:t>
              </a:r>
            </a:p>
          </p:txBody>
        </p:sp>
        <p:sp>
          <p:nvSpPr>
            <p:cNvPr id="34" name="上下箭头 33"/>
            <p:cNvSpPr/>
            <p:nvPr/>
          </p:nvSpPr>
          <p:spPr>
            <a:xfrm>
              <a:off x="4267920" y="1230922"/>
              <a:ext cx="198201" cy="322803"/>
            </a:xfrm>
            <a:prstGeom prst="upDownArrow">
              <a:avLst/>
            </a:prstGeom>
            <a:solidFill>
              <a:srgbClr val="000066"/>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35" name="TextBox 32"/>
            <p:cNvSpPr txBox="1"/>
            <p:nvPr/>
          </p:nvSpPr>
          <p:spPr>
            <a:xfrm>
              <a:off x="1359877" y="2428033"/>
              <a:ext cx="1584461" cy="584775"/>
            </a:xfrm>
            <a:prstGeom prst="rect">
              <a:avLst/>
            </a:prstGeom>
            <a:noFill/>
          </p:spPr>
          <p:txBody>
            <a:bodyPr wrap="square" rtlCol="0">
              <a:spAutoFit/>
            </a:bodyPr>
            <a:lstStyle/>
            <a:p>
              <a:pPr algn="ctr"/>
              <a:r>
                <a:rPr lang="zh-CN" altLang="en-US" sz="1600" b="1" dirty="0">
                  <a:latin typeface="微软雅黑" panose="020B0503020204020204" pitchFamily="34" charset="-122"/>
                  <a:ea typeface="微软雅黑" panose="020B0503020204020204" pitchFamily="34" charset="-122"/>
                  <a:cs typeface="Times New Roman" pitchFamily="18" charset="0"/>
                </a:rPr>
                <a:t>网络范围的状态管理层</a:t>
              </a:r>
            </a:p>
          </p:txBody>
        </p:sp>
        <p:sp>
          <p:nvSpPr>
            <p:cNvPr id="36" name="TextBox 33"/>
            <p:cNvSpPr txBox="1"/>
            <p:nvPr/>
          </p:nvSpPr>
          <p:spPr>
            <a:xfrm>
              <a:off x="1359877" y="1464756"/>
              <a:ext cx="1584461" cy="738664"/>
            </a:xfrm>
            <a:prstGeom prst="rect">
              <a:avLst/>
            </a:prstGeom>
            <a:noFill/>
          </p:spPr>
          <p:txBody>
            <a:bodyPr wrap="square" rtlCol="0">
              <a:spAutoFit/>
            </a:bodyPr>
            <a:lstStyle/>
            <a:p>
              <a:pPr algn="ctr"/>
              <a:r>
                <a:rPr lang="zh-CN" altLang="en-US" sz="1400" b="1" dirty="0">
                  <a:latin typeface="微软雅黑" panose="020B0503020204020204" pitchFamily="34" charset="-122"/>
                  <a:ea typeface="微软雅黑" panose="020B0503020204020204" pitchFamily="34" charset="-122"/>
                  <a:cs typeface="Times New Roman" pitchFamily="18" charset="0"/>
                </a:rPr>
                <a:t>到网络控制</a:t>
              </a:r>
              <a:endParaRPr lang="en-US" altLang="zh-CN" sz="1400" b="1" dirty="0">
                <a:latin typeface="微软雅黑" panose="020B0503020204020204" pitchFamily="34" charset="-122"/>
                <a:ea typeface="微软雅黑" panose="020B0503020204020204" pitchFamily="34" charset="-122"/>
                <a:cs typeface="Times New Roman" pitchFamily="18" charset="0"/>
              </a:endParaRPr>
            </a:p>
            <a:p>
              <a:pPr algn="ctr"/>
              <a:r>
                <a:rPr lang="zh-CN" altLang="en-US" sz="1400" b="1" dirty="0">
                  <a:latin typeface="微软雅黑" panose="020B0503020204020204" pitchFamily="34" charset="-122"/>
                  <a:ea typeface="微软雅黑" panose="020B0503020204020204" pitchFamily="34" charset="-122"/>
                  <a:cs typeface="Times New Roman" pitchFamily="18" charset="0"/>
                </a:rPr>
                <a:t>应用程序层</a:t>
              </a:r>
              <a:endParaRPr lang="en-US" altLang="zh-CN" sz="1400" b="1" dirty="0">
                <a:latin typeface="微软雅黑" panose="020B0503020204020204" pitchFamily="34" charset="-122"/>
                <a:ea typeface="微软雅黑" panose="020B0503020204020204" pitchFamily="34" charset="-122"/>
                <a:cs typeface="Times New Roman" pitchFamily="18" charset="0"/>
              </a:endParaRPr>
            </a:p>
            <a:p>
              <a:pPr algn="ctr"/>
              <a:r>
                <a:rPr lang="zh-CN" altLang="en-US" sz="1400" b="1" dirty="0">
                  <a:latin typeface="微软雅黑" panose="020B0503020204020204" pitchFamily="34" charset="-122"/>
                  <a:ea typeface="微软雅黑" panose="020B0503020204020204" pitchFamily="34" charset="-122"/>
                  <a:cs typeface="Times New Roman" pitchFamily="18" charset="0"/>
                </a:rPr>
                <a:t>的接口</a:t>
              </a:r>
            </a:p>
          </p:txBody>
        </p:sp>
        <p:sp>
          <p:nvSpPr>
            <p:cNvPr id="37" name="TextBox 34"/>
            <p:cNvSpPr txBox="1"/>
            <p:nvPr/>
          </p:nvSpPr>
          <p:spPr>
            <a:xfrm>
              <a:off x="1359877" y="3497663"/>
              <a:ext cx="1584461" cy="338554"/>
            </a:xfrm>
            <a:prstGeom prst="rect">
              <a:avLst/>
            </a:prstGeom>
            <a:noFill/>
          </p:spPr>
          <p:txBody>
            <a:bodyPr wrap="square" rtlCol="0">
              <a:spAutoFit/>
            </a:bodyPr>
            <a:lstStyle/>
            <a:p>
              <a:pPr algn="ctr"/>
              <a:r>
                <a:rPr lang="zh-CN" altLang="en-US" sz="1600" b="1" dirty="0">
                  <a:latin typeface="微软雅黑" panose="020B0503020204020204" pitchFamily="34" charset="-122"/>
                  <a:ea typeface="微软雅黑" panose="020B0503020204020204" pitchFamily="34" charset="-122"/>
                  <a:cs typeface="Times New Roman" pitchFamily="18" charset="0"/>
                </a:rPr>
                <a:t>通信层</a:t>
              </a:r>
            </a:p>
          </p:txBody>
        </p:sp>
      </p:grpSp>
      <p:sp>
        <p:nvSpPr>
          <p:cNvPr id="43" name="线形标注 1 42"/>
          <p:cNvSpPr/>
          <p:nvPr/>
        </p:nvSpPr>
        <p:spPr>
          <a:xfrm>
            <a:off x="6135701" y="1643699"/>
            <a:ext cx="2248021" cy="1853964"/>
          </a:xfrm>
          <a:prstGeom prst="borderCallout1">
            <a:avLst>
              <a:gd name="adj1" fmla="val 37959"/>
              <a:gd name="adj2" fmla="val 78"/>
              <a:gd name="adj3" fmla="val 23190"/>
              <a:gd name="adj4" fmla="val -41242"/>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6213" indent="-176213">
              <a:lnSpc>
                <a:spcPts val="2000"/>
              </a:lnSpc>
              <a:buFont typeface="Wingdings" panose="05000000000000000000" pitchFamily="2" charset="2"/>
              <a:buChar char="l"/>
            </a:pPr>
            <a:r>
              <a:rPr lang="en-US" altLang="zh-CN" sz="1400" b="1" dirty="0">
                <a:solidFill>
                  <a:schemeClr val="tx1"/>
                </a:solidFill>
                <a:latin typeface="微软雅黑" panose="020B0503020204020204" pitchFamily="34" charset="-122"/>
                <a:ea typeface="微软雅黑" panose="020B0503020204020204" pitchFamily="34" charset="-122"/>
              </a:rPr>
              <a:t>SDN </a:t>
            </a:r>
            <a:r>
              <a:rPr lang="zh-CN" altLang="en-US" sz="1400" b="1" dirty="0">
                <a:solidFill>
                  <a:schemeClr val="tx1"/>
                </a:solidFill>
                <a:latin typeface="微软雅黑" panose="020B0503020204020204" pitchFamily="34" charset="-122"/>
                <a:ea typeface="微软雅黑" panose="020B0503020204020204" pitchFamily="34" charset="-122"/>
              </a:rPr>
              <a:t>控制器与网络控制应用程序交互的接口称为北向接口。</a:t>
            </a:r>
            <a:endParaRPr lang="en-US" altLang="zh-CN" sz="1400" b="1" dirty="0">
              <a:solidFill>
                <a:schemeClr val="tx1"/>
              </a:solidFill>
              <a:latin typeface="微软雅黑" panose="020B0503020204020204" pitchFamily="34" charset="-122"/>
              <a:ea typeface="微软雅黑" panose="020B0503020204020204" pitchFamily="34" charset="-122"/>
            </a:endParaRPr>
          </a:p>
          <a:p>
            <a:pPr marL="176213" indent="-176213">
              <a:lnSpc>
                <a:spcPts val="2000"/>
              </a:lnSpc>
              <a:buFont typeface="Wingdings" panose="05000000000000000000" pitchFamily="2" charset="2"/>
              <a:buChar char="l"/>
            </a:pPr>
            <a:r>
              <a:rPr lang="zh-CN" altLang="en-US" sz="1400" b="1" dirty="0">
                <a:solidFill>
                  <a:schemeClr val="tx1"/>
                </a:solidFill>
                <a:latin typeface="微软雅黑" panose="020B0503020204020204" pitchFamily="34" charset="-122"/>
                <a:ea typeface="微软雅黑" panose="020B0503020204020204" pitchFamily="34" charset="-122"/>
              </a:rPr>
              <a:t>该 </a:t>
            </a:r>
            <a:r>
              <a:rPr lang="en-US" altLang="zh-CN" sz="1400" b="1" dirty="0">
                <a:solidFill>
                  <a:schemeClr val="tx1"/>
                </a:solidFill>
                <a:latin typeface="微软雅黑" panose="020B0503020204020204" pitchFamily="34" charset="-122"/>
                <a:ea typeface="微软雅黑" panose="020B0503020204020204" pitchFamily="34" charset="-122"/>
              </a:rPr>
              <a:t>API </a:t>
            </a:r>
            <a:r>
              <a:rPr lang="zh-CN" altLang="en-US" sz="1400" b="1" dirty="0">
                <a:solidFill>
                  <a:schemeClr val="tx1"/>
                </a:solidFill>
                <a:latin typeface="微软雅黑" panose="020B0503020204020204" pitchFamily="34" charset="-122"/>
                <a:ea typeface="微软雅黑" panose="020B0503020204020204" pitchFamily="34" charset="-122"/>
              </a:rPr>
              <a:t>接口允许网络控制应用程序对状态管理层里的网络状态和流表进行读写操作。</a:t>
            </a:r>
            <a:endParaRPr lang="en-US" altLang="zh-CN" sz="1400" b="1" dirty="0">
              <a:solidFill>
                <a:schemeClr val="tx1"/>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30644794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圆角矩形 40"/>
          <p:cNvSpPr/>
          <p:nvPr/>
        </p:nvSpPr>
        <p:spPr>
          <a:xfrm>
            <a:off x="708345" y="1038311"/>
            <a:ext cx="8053711" cy="3409582"/>
          </a:xfrm>
          <a:prstGeom prst="roundRect">
            <a:avLst>
              <a:gd name="adj" fmla="val 11622"/>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7" name="AutoShape 5"/>
          <p:cNvSpPr>
            <a:spLocks noChangeArrowheads="1"/>
          </p:cNvSpPr>
          <p:nvPr/>
        </p:nvSpPr>
        <p:spPr bwMode="auto">
          <a:xfrm>
            <a:off x="545144" y="617509"/>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8" name="Rectangle 6"/>
          <p:cNvSpPr>
            <a:spLocks noChangeArrowheads="1"/>
          </p:cNvSpPr>
          <p:nvPr/>
        </p:nvSpPr>
        <p:spPr bwMode="auto">
          <a:xfrm>
            <a:off x="3864123" y="576646"/>
            <a:ext cx="141577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a:highlight>
                  <a:srgbClr val="FFFF00"/>
                </a:highlight>
                <a:latin typeface="微软雅黑" pitchFamily="34" charset="-122"/>
                <a:ea typeface="微软雅黑" pitchFamily="34" charset="-122"/>
              </a:rPr>
              <a:t>地址分配</a:t>
            </a:r>
          </a:p>
        </p:txBody>
      </p:sp>
      <p:sp>
        <p:nvSpPr>
          <p:cNvPr id="3" name="文本框 2">
            <a:extLst>
              <a:ext uri="{FF2B5EF4-FFF2-40B4-BE49-F238E27FC236}">
                <a16:creationId xmlns:a16="http://schemas.microsoft.com/office/drawing/2014/main" id="{487FBDDA-E9FB-D46E-D64A-AFF2E4FA2116}"/>
              </a:ext>
            </a:extLst>
          </p:cNvPr>
          <p:cNvSpPr txBox="1"/>
          <p:nvPr/>
        </p:nvSpPr>
        <p:spPr>
          <a:xfrm>
            <a:off x="708345" y="1156246"/>
            <a:ext cx="7760970" cy="923330"/>
          </a:xfrm>
          <a:prstGeom prst="rect">
            <a:avLst/>
          </a:prstGeom>
          <a:noFill/>
        </p:spPr>
        <p:txBody>
          <a:bodyPr wrap="square">
            <a:spAutoFit/>
          </a:bodyPr>
          <a:lstStyle/>
          <a:p>
            <a:pPr indent="457200" algn="just"/>
            <a:r>
              <a:rPr lang="en-US" altLang="zh-CN" b="1" i="0" dirty="0">
                <a:solidFill>
                  <a:srgbClr val="0D0D0D"/>
                </a:solidFill>
                <a:effectLst/>
                <a:highlight>
                  <a:srgbClr val="FFFF00"/>
                </a:highlight>
                <a:latin typeface="微软雅黑" panose="020B0503020204020204" pitchFamily="34" charset="-122"/>
                <a:ea typeface="微软雅黑" panose="020B0503020204020204" pitchFamily="34" charset="-122"/>
              </a:rPr>
              <a:t>1</a:t>
            </a:r>
            <a:r>
              <a:rPr lang="zh-CN" altLang="en-US" b="1" i="0" dirty="0">
                <a:solidFill>
                  <a:srgbClr val="0D0D0D"/>
                </a:solidFill>
                <a:effectLst/>
                <a:highlight>
                  <a:srgbClr val="FFFF00"/>
                </a:highlight>
                <a:latin typeface="微软雅黑" panose="020B0503020204020204" pitchFamily="34" charset="-122"/>
                <a:ea typeface="微软雅黑" panose="020B0503020204020204" pitchFamily="34" charset="-122"/>
              </a:rPr>
              <a:t>、某单位分配到一个地址块</a:t>
            </a:r>
            <a:r>
              <a:rPr lang="en-US" altLang="zh-CN" b="1" i="0" dirty="0">
                <a:solidFill>
                  <a:srgbClr val="0D0D0D"/>
                </a:solidFill>
                <a:effectLst/>
                <a:highlight>
                  <a:srgbClr val="FFFF00"/>
                </a:highlight>
                <a:latin typeface="微软雅黑" panose="020B0503020204020204" pitchFamily="34" charset="-122"/>
                <a:ea typeface="微软雅黑" panose="020B0503020204020204" pitchFamily="34" charset="-122"/>
              </a:rPr>
              <a:t>14.24.74.0/24</a:t>
            </a:r>
            <a:r>
              <a:rPr lang="zh-CN" altLang="en-US" b="1" i="0" dirty="0">
                <a:solidFill>
                  <a:srgbClr val="0D0D0D"/>
                </a:solidFill>
                <a:effectLst/>
                <a:highlight>
                  <a:srgbClr val="FFFF00"/>
                </a:highlight>
                <a:latin typeface="微软雅黑" panose="020B0503020204020204" pitchFamily="34" charset="-122"/>
                <a:ea typeface="微软雅黑" panose="020B0503020204020204" pitchFamily="34" charset="-122"/>
              </a:rPr>
              <a:t>，该单位需要用到三个子网，他们对三个子地址块的具体要求是：子网</a:t>
            </a:r>
            <a:r>
              <a:rPr lang="en-US" altLang="zh-CN" b="1" i="0" dirty="0">
                <a:solidFill>
                  <a:srgbClr val="0D0D0D"/>
                </a:solidFill>
                <a:effectLst/>
                <a:highlight>
                  <a:srgbClr val="FFFF00"/>
                </a:highlight>
                <a:latin typeface="微软雅黑" panose="020B0503020204020204" pitchFamily="34" charset="-122"/>
                <a:ea typeface="微软雅黑" panose="020B0503020204020204" pitchFamily="34" charset="-122"/>
              </a:rPr>
              <a:t>N1</a:t>
            </a:r>
            <a:r>
              <a:rPr lang="zh-CN" altLang="en-US" b="1" i="0" dirty="0">
                <a:solidFill>
                  <a:srgbClr val="0D0D0D"/>
                </a:solidFill>
                <a:effectLst/>
                <a:highlight>
                  <a:srgbClr val="FFFF00"/>
                </a:highlight>
                <a:latin typeface="微软雅黑" panose="020B0503020204020204" pitchFamily="34" charset="-122"/>
                <a:ea typeface="微软雅黑" panose="020B0503020204020204" pitchFamily="34" charset="-122"/>
              </a:rPr>
              <a:t>需要</a:t>
            </a:r>
            <a:r>
              <a:rPr lang="en-US" altLang="zh-CN" b="1" i="0" dirty="0">
                <a:solidFill>
                  <a:srgbClr val="0D0D0D"/>
                </a:solidFill>
                <a:effectLst/>
                <a:highlight>
                  <a:srgbClr val="FFFF00"/>
                </a:highlight>
                <a:latin typeface="微软雅黑" panose="020B0503020204020204" pitchFamily="34" charset="-122"/>
                <a:ea typeface="微软雅黑" panose="020B0503020204020204" pitchFamily="34" charset="-122"/>
              </a:rPr>
              <a:t>120</a:t>
            </a:r>
            <a:r>
              <a:rPr lang="zh-CN" altLang="en-US" b="1" i="0" dirty="0">
                <a:solidFill>
                  <a:srgbClr val="0D0D0D"/>
                </a:solidFill>
                <a:effectLst/>
                <a:highlight>
                  <a:srgbClr val="FFFF00"/>
                </a:highlight>
                <a:latin typeface="微软雅黑" panose="020B0503020204020204" pitchFamily="34" charset="-122"/>
                <a:ea typeface="微软雅黑" panose="020B0503020204020204" pitchFamily="34" charset="-122"/>
              </a:rPr>
              <a:t>个地址，子网</a:t>
            </a:r>
            <a:r>
              <a:rPr lang="en-US" altLang="zh-CN" b="1" i="0" dirty="0">
                <a:solidFill>
                  <a:srgbClr val="0D0D0D"/>
                </a:solidFill>
                <a:effectLst/>
                <a:highlight>
                  <a:srgbClr val="FFFF00"/>
                </a:highlight>
                <a:latin typeface="微软雅黑" panose="020B0503020204020204" pitchFamily="34" charset="-122"/>
                <a:ea typeface="微软雅黑" panose="020B0503020204020204" pitchFamily="34" charset="-122"/>
              </a:rPr>
              <a:t>N2</a:t>
            </a:r>
            <a:r>
              <a:rPr lang="zh-CN" altLang="en-US" b="1" i="0" dirty="0">
                <a:solidFill>
                  <a:srgbClr val="0D0D0D"/>
                </a:solidFill>
                <a:effectLst/>
                <a:highlight>
                  <a:srgbClr val="FFFF00"/>
                </a:highlight>
                <a:latin typeface="微软雅黑" panose="020B0503020204020204" pitchFamily="34" charset="-122"/>
                <a:ea typeface="微软雅黑" panose="020B0503020204020204" pitchFamily="34" charset="-122"/>
              </a:rPr>
              <a:t>需要</a:t>
            </a:r>
            <a:r>
              <a:rPr lang="en-US" altLang="zh-CN" b="1" i="0" dirty="0">
                <a:solidFill>
                  <a:srgbClr val="0D0D0D"/>
                </a:solidFill>
                <a:effectLst/>
                <a:highlight>
                  <a:srgbClr val="FFFF00"/>
                </a:highlight>
                <a:latin typeface="微软雅黑" panose="020B0503020204020204" pitchFamily="34" charset="-122"/>
                <a:ea typeface="微软雅黑" panose="020B0503020204020204" pitchFamily="34" charset="-122"/>
              </a:rPr>
              <a:t>60</a:t>
            </a:r>
            <a:r>
              <a:rPr lang="zh-CN" altLang="en-US" b="1" i="0" dirty="0">
                <a:solidFill>
                  <a:srgbClr val="0D0D0D"/>
                </a:solidFill>
                <a:effectLst/>
                <a:highlight>
                  <a:srgbClr val="FFFF00"/>
                </a:highlight>
                <a:latin typeface="微软雅黑" panose="020B0503020204020204" pitchFamily="34" charset="-122"/>
                <a:ea typeface="微软雅黑" panose="020B0503020204020204" pitchFamily="34" charset="-122"/>
              </a:rPr>
              <a:t>个地址，子网</a:t>
            </a:r>
            <a:r>
              <a:rPr lang="en-US" altLang="zh-CN" b="1" i="0" dirty="0">
                <a:solidFill>
                  <a:srgbClr val="0D0D0D"/>
                </a:solidFill>
                <a:effectLst/>
                <a:highlight>
                  <a:srgbClr val="FFFF00"/>
                </a:highlight>
                <a:latin typeface="微软雅黑" panose="020B0503020204020204" pitchFamily="34" charset="-122"/>
                <a:ea typeface="微软雅黑" panose="020B0503020204020204" pitchFamily="34" charset="-122"/>
              </a:rPr>
              <a:t>N3</a:t>
            </a:r>
            <a:r>
              <a:rPr lang="zh-CN" altLang="en-US" b="1" i="0" dirty="0">
                <a:solidFill>
                  <a:srgbClr val="0D0D0D"/>
                </a:solidFill>
                <a:effectLst/>
                <a:highlight>
                  <a:srgbClr val="FFFF00"/>
                </a:highlight>
                <a:latin typeface="微软雅黑" panose="020B0503020204020204" pitchFamily="34" charset="-122"/>
                <a:ea typeface="微软雅黑" panose="020B0503020204020204" pitchFamily="34" charset="-122"/>
              </a:rPr>
              <a:t>需要</a:t>
            </a:r>
            <a:r>
              <a:rPr lang="en-US" altLang="zh-CN" b="1" i="0" dirty="0">
                <a:solidFill>
                  <a:srgbClr val="0D0D0D"/>
                </a:solidFill>
                <a:effectLst/>
                <a:highlight>
                  <a:srgbClr val="FFFF00"/>
                </a:highlight>
                <a:latin typeface="微软雅黑" panose="020B0503020204020204" pitchFamily="34" charset="-122"/>
                <a:ea typeface="微软雅黑" panose="020B0503020204020204" pitchFamily="34" charset="-122"/>
              </a:rPr>
              <a:t>10</a:t>
            </a:r>
            <a:r>
              <a:rPr lang="zh-CN" altLang="en-US" b="1" i="0" dirty="0">
                <a:solidFill>
                  <a:srgbClr val="0D0D0D"/>
                </a:solidFill>
                <a:effectLst/>
                <a:highlight>
                  <a:srgbClr val="FFFF00"/>
                </a:highlight>
                <a:latin typeface="微软雅黑" panose="020B0503020204020204" pitchFamily="34" charset="-122"/>
                <a:ea typeface="微软雅黑" panose="020B0503020204020204" pitchFamily="34" charset="-122"/>
              </a:rPr>
              <a:t>个地址，请给出解决方案。</a:t>
            </a:r>
            <a:endParaRPr lang="zh-CN" altLang="en-US" dirty="0">
              <a:solidFill>
                <a:schemeClr val="tx1"/>
              </a:solidFill>
              <a:highlight>
                <a:srgbClr val="FFFF00"/>
              </a:highlight>
            </a:endParaRPr>
          </a:p>
        </p:txBody>
      </p:sp>
      <p:sp>
        <p:nvSpPr>
          <p:cNvPr id="4" name="文本框 3">
            <a:extLst>
              <a:ext uri="{FF2B5EF4-FFF2-40B4-BE49-F238E27FC236}">
                <a16:creationId xmlns:a16="http://schemas.microsoft.com/office/drawing/2014/main" id="{9E410C33-A5F7-0852-55F5-138890A3E63D}"/>
              </a:ext>
            </a:extLst>
          </p:cNvPr>
          <p:cNvSpPr txBox="1"/>
          <p:nvPr/>
        </p:nvSpPr>
        <p:spPr>
          <a:xfrm>
            <a:off x="281626" y="2079576"/>
            <a:ext cx="4191314" cy="369332"/>
          </a:xfrm>
          <a:prstGeom prst="rect">
            <a:avLst/>
          </a:prstGeom>
          <a:noFill/>
        </p:spPr>
        <p:txBody>
          <a:bodyPr wrap="square">
            <a:spAutoFit/>
          </a:bodyPr>
          <a:lstStyle/>
          <a:p>
            <a:pPr indent="457200" algn="just"/>
            <a:r>
              <a:rPr lang="zh-CN" altLang="en-US" dirty="0">
                <a:solidFill>
                  <a:schemeClr val="tx1"/>
                </a:solidFill>
                <a:highlight>
                  <a:srgbClr val="FFFF00"/>
                </a:highlight>
              </a:rPr>
              <a:t>原则：先对需求多的网络进行分配</a:t>
            </a:r>
          </a:p>
        </p:txBody>
      </p:sp>
      <p:graphicFrame>
        <p:nvGraphicFramePr>
          <p:cNvPr id="6" name="表格 5">
            <a:extLst>
              <a:ext uri="{FF2B5EF4-FFF2-40B4-BE49-F238E27FC236}">
                <a16:creationId xmlns:a16="http://schemas.microsoft.com/office/drawing/2014/main" id="{90412991-B5AB-E009-9732-4E97258AA952}"/>
              </a:ext>
            </a:extLst>
          </p:cNvPr>
          <p:cNvGraphicFramePr>
            <a:graphicFrameLocks noGrp="1"/>
          </p:cNvGraphicFramePr>
          <p:nvPr>
            <p:extLst>
              <p:ext uri="{D42A27DB-BD31-4B8C-83A1-F6EECF244321}">
                <p14:modId xmlns:p14="http://schemas.microsoft.com/office/powerpoint/2010/main" val="2651885159"/>
              </p:ext>
            </p:extLst>
          </p:nvPr>
        </p:nvGraphicFramePr>
        <p:xfrm>
          <a:off x="708345" y="2448908"/>
          <a:ext cx="8020051" cy="1972331"/>
        </p:xfrm>
        <a:graphic>
          <a:graphicData uri="http://schemas.openxmlformats.org/drawingml/2006/table">
            <a:tbl>
              <a:tblPr>
                <a:tableStyleId>{5C22544A-7EE6-4342-B048-85BDC9FD1C3A}</a:tableStyleId>
              </a:tblPr>
              <a:tblGrid>
                <a:gridCol w="1301225">
                  <a:extLst>
                    <a:ext uri="{9D8B030D-6E8A-4147-A177-3AD203B41FA5}">
                      <a16:colId xmlns:a16="http://schemas.microsoft.com/office/drawing/2014/main" val="1178132070"/>
                    </a:ext>
                  </a:extLst>
                </a:gridCol>
                <a:gridCol w="2399890">
                  <a:extLst>
                    <a:ext uri="{9D8B030D-6E8A-4147-A177-3AD203B41FA5}">
                      <a16:colId xmlns:a16="http://schemas.microsoft.com/office/drawing/2014/main" val="872593883"/>
                    </a:ext>
                  </a:extLst>
                </a:gridCol>
                <a:gridCol w="1728999">
                  <a:extLst>
                    <a:ext uri="{9D8B030D-6E8A-4147-A177-3AD203B41FA5}">
                      <a16:colId xmlns:a16="http://schemas.microsoft.com/office/drawing/2014/main" val="829187777"/>
                    </a:ext>
                  </a:extLst>
                </a:gridCol>
                <a:gridCol w="1025966">
                  <a:extLst>
                    <a:ext uri="{9D8B030D-6E8A-4147-A177-3AD203B41FA5}">
                      <a16:colId xmlns:a16="http://schemas.microsoft.com/office/drawing/2014/main" val="3989007827"/>
                    </a:ext>
                  </a:extLst>
                </a:gridCol>
                <a:gridCol w="866340">
                  <a:extLst>
                    <a:ext uri="{9D8B030D-6E8A-4147-A177-3AD203B41FA5}">
                      <a16:colId xmlns:a16="http://schemas.microsoft.com/office/drawing/2014/main" val="1736646705"/>
                    </a:ext>
                  </a:extLst>
                </a:gridCol>
                <a:gridCol w="697631">
                  <a:extLst>
                    <a:ext uri="{9D8B030D-6E8A-4147-A177-3AD203B41FA5}">
                      <a16:colId xmlns:a16="http://schemas.microsoft.com/office/drawing/2014/main" val="514792599"/>
                    </a:ext>
                  </a:extLst>
                </a:gridCol>
              </a:tblGrid>
              <a:tr h="356863">
                <a:tc>
                  <a:txBody>
                    <a:bodyPr/>
                    <a:lstStyle/>
                    <a:p>
                      <a:pPr algn="ctr" fontAlgn="ctr"/>
                      <a:r>
                        <a:rPr lang="zh-CN" altLang="en-US" sz="1100" u="none" strike="noStrike">
                          <a:effectLst/>
                        </a:rPr>
                        <a:t>地址块</a:t>
                      </a:r>
                      <a:endParaRPr lang="zh-CN" altLang="en-US" sz="1100" b="0" i="0" u="none" strike="noStrike">
                        <a:solidFill>
                          <a:srgbClr val="000000"/>
                        </a:solidFill>
                        <a:effectLst/>
                        <a:latin typeface="等线" panose="02010600030101010101" pitchFamily="2" charset="-122"/>
                        <a:ea typeface="等线" panose="02010600030101010101" pitchFamily="2" charset="-122"/>
                      </a:endParaRPr>
                    </a:p>
                  </a:txBody>
                  <a:tcPr marL="7382" marR="7382" marT="7382" marB="0" anchor="ctr"/>
                </a:tc>
                <a:tc>
                  <a:txBody>
                    <a:bodyPr/>
                    <a:lstStyle/>
                    <a:p>
                      <a:pPr algn="ctr" fontAlgn="ctr"/>
                      <a:r>
                        <a:rPr lang="en-US" altLang="zh-CN" sz="1100" u="none" strike="noStrike">
                          <a:effectLst/>
                        </a:rPr>
                        <a:t>14.24.74.00000000~14.24.74.11111111</a:t>
                      </a:r>
                      <a:endParaRPr lang="en-US" altLang="zh-CN" sz="1100" b="0" i="0" u="none" strike="noStrike">
                        <a:solidFill>
                          <a:srgbClr val="000000"/>
                        </a:solidFill>
                        <a:effectLst/>
                        <a:latin typeface="等线" panose="02010600030101010101" pitchFamily="2" charset="-122"/>
                        <a:ea typeface="等线" panose="02010600030101010101" pitchFamily="2" charset="-122"/>
                      </a:endParaRPr>
                    </a:p>
                  </a:txBody>
                  <a:tcPr marL="7382" marR="7382" marT="7382" marB="0" anchor="ctr"/>
                </a:tc>
                <a:tc>
                  <a:txBody>
                    <a:bodyPr/>
                    <a:lstStyle/>
                    <a:p>
                      <a:pPr algn="ctr" fontAlgn="ctr"/>
                      <a:r>
                        <a:rPr lang="en-US" altLang="zh-CN" sz="1100" u="none" strike="noStrike">
                          <a:effectLst/>
                        </a:rPr>
                        <a:t>14.24.74.0~14.24.74.255</a:t>
                      </a:r>
                      <a:endParaRPr lang="en-US" altLang="zh-CN" sz="1100" b="0" i="0" u="none" strike="noStrike">
                        <a:solidFill>
                          <a:srgbClr val="000000"/>
                        </a:solidFill>
                        <a:effectLst/>
                        <a:latin typeface="等线" panose="02010600030101010101" pitchFamily="2" charset="-122"/>
                        <a:ea typeface="等线" panose="02010600030101010101" pitchFamily="2" charset="-122"/>
                      </a:endParaRPr>
                    </a:p>
                  </a:txBody>
                  <a:tcPr marL="7382" marR="7382" marT="7382" marB="0" anchor="ctr"/>
                </a:tc>
                <a:tc>
                  <a:txBody>
                    <a:bodyPr/>
                    <a:lstStyle/>
                    <a:p>
                      <a:pPr algn="ctr" fontAlgn="ctr"/>
                      <a:r>
                        <a:rPr lang="zh-CN" altLang="en-US" sz="1100" u="none" strike="noStrike">
                          <a:effectLst/>
                        </a:rPr>
                        <a:t>　</a:t>
                      </a:r>
                      <a:endParaRPr lang="zh-CN" altLang="en-US" sz="1100" b="0" i="0" u="none" strike="noStrike">
                        <a:solidFill>
                          <a:srgbClr val="000000"/>
                        </a:solidFill>
                        <a:effectLst/>
                        <a:latin typeface="等线" panose="02010600030101010101" pitchFamily="2" charset="-122"/>
                        <a:ea typeface="等线" panose="02010600030101010101" pitchFamily="2" charset="-122"/>
                      </a:endParaRPr>
                    </a:p>
                  </a:txBody>
                  <a:tcPr marL="7382" marR="7382" marT="7382" marB="0" anchor="ctr"/>
                </a:tc>
                <a:tc>
                  <a:txBody>
                    <a:bodyPr/>
                    <a:lstStyle/>
                    <a:p>
                      <a:pPr algn="ctr" fontAlgn="ctr"/>
                      <a:r>
                        <a:rPr lang="zh-CN" altLang="en-US" sz="1100" u="none" strike="noStrike">
                          <a:effectLst/>
                        </a:rPr>
                        <a:t>　</a:t>
                      </a:r>
                      <a:endParaRPr lang="zh-CN" altLang="en-US" sz="1100" b="0" i="0" u="none" strike="noStrike">
                        <a:solidFill>
                          <a:srgbClr val="000000"/>
                        </a:solidFill>
                        <a:effectLst/>
                        <a:latin typeface="等线" panose="02010600030101010101" pitchFamily="2" charset="-122"/>
                        <a:ea typeface="等线" panose="02010600030101010101" pitchFamily="2" charset="-122"/>
                      </a:endParaRPr>
                    </a:p>
                  </a:txBody>
                  <a:tcPr marL="7382" marR="7382" marT="7382" marB="0" anchor="ctr"/>
                </a:tc>
                <a:tc>
                  <a:txBody>
                    <a:bodyPr/>
                    <a:lstStyle/>
                    <a:p>
                      <a:pPr algn="ctr" fontAlgn="ctr"/>
                      <a:r>
                        <a:rPr lang="zh-CN" altLang="en-US" sz="1100" u="none" strike="noStrike">
                          <a:effectLst/>
                        </a:rPr>
                        <a:t>　</a:t>
                      </a:r>
                      <a:endParaRPr lang="zh-CN" altLang="en-US" sz="1100" b="0" i="0" u="none" strike="noStrike">
                        <a:solidFill>
                          <a:srgbClr val="000000"/>
                        </a:solidFill>
                        <a:effectLst/>
                        <a:latin typeface="等线" panose="02010600030101010101" pitchFamily="2" charset="-122"/>
                        <a:ea typeface="等线" panose="02010600030101010101" pitchFamily="2" charset="-122"/>
                      </a:endParaRPr>
                    </a:p>
                  </a:txBody>
                  <a:tcPr marL="7382" marR="7382" marT="7382" marB="0" anchor="ctr"/>
                </a:tc>
                <a:extLst>
                  <a:ext uri="{0D108BD9-81ED-4DB2-BD59-A6C34878D82A}">
                    <a16:rowId xmlns:a16="http://schemas.microsoft.com/office/drawing/2014/main" val="2262015422"/>
                  </a:ext>
                </a:extLst>
              </a:tr>
              <a:tr h="188016">
                <a:tc>
                  <a:txBody>
                    <a:bodyPr/>
                    <a:lstStyle/>
                    <a:p>
                      <a:pPr algn="ctr" fontAlgn="ctr"/>
                      <a:r>
                        <a:rPr lang="zh-CN" altLang="en-US" sz="1100" u="none" strike="noStrike" dirty="0">
                          <a:effectLst/>
                          <a:highlight>
                            <a:srgbClr val="FFFF00"/>
                          </a:highlight>
                        </a:rPr>
                        <a:t>描述</a:t>
                      </a:r>
                      <a:endParaRPr lang="zh-CN" altLang="en-US" sz="1100" b="1" i="0" u="none" strike="noStrike" dirty="0">
                        <a:solidFill>
                          <a:srgbClr val="000000"/>
                        </a:solidFill>
                        <a:effectLst/>
                        <a:highlight>
                          <a:srgbClr val="FFFF00"/>
                        </a:highlight>
                        <a:latin typeface="等线" panose="02010600030101010101" pitchFamily="2" charset="-122"/>
                        <a:ea typeface="等线" panose="02010600030101010101" pitchFamily="2" charset="-122"/>
                      </a:endParaRPr>
                    </a:p>
                  </a:txBody>
                  <a:tcPr marL="7382" marR="7382" marT="7382" marB="0" anchor="ctr"/>
                </a:tc>
                <a:tc>
                  <a:txBody>
                    <a:bodyPr/>
                    <a:lstStyle/>
                    <a:p>
                      <a:pPr algn="ctr" fontAlgn="ctr"/>
                      <a:r>
                        <a:rPr lang="zh-CN" altLang="en-US" sz="1100" u="none" strike="noStrike" dirty="0">
                          <a:effectLst/>
                          <a:highlight>
                            <a:srgbClr val="FFFF00"/>
                          </a:highlight>
                        </a:rPr>
                        <a:t>地址区间</a:t>
                      </a:r>
                      <a:endParaRPr lang="zh-CN" altLang="en-US" sz="1100" b="1" i="0" u="none" strike="noStrike" dirty="0">
                        <a:solidFill>
                          <a:srgbClr val="000000"/>
                        </a:solidFill>
                        <a:effectLst/>
                        <a:highlight>
                          <a:srgbClr val="FFFF00"/>
                        </a:highlight>
                        <a:latin typeface="等线" panose="02010600030101010101" pitchFamily="2" charset="-122"/>
                        <a:ea typeface="等线" panose="02010600030101010101" pitchFamily="2" charset="-122"/>
                      </a:endParaRPr>
                    </a:p>
                  </a:txBody>
                  <a:tcPr marL="7382" marR="7382" marT="7382" marB="0" anchor="ctr"/>
                </a:tc>
                <a:tc>
                  <a:txBody>
                    <a:bodyPr/>
                    <a:lstStyle/>
                    <a:p>
                      <a:pPr algn="ctr" fontAlgn="ctr"/>
                      <a:r>
                        <a:rPr lang="zh-CN" altLang="en-US" sz="1100" u="none" strike="noStrike" dirty="0">
                          <a:effectLst/>
                          <a:highlight>
                            <a:srgbClr val="FFFF00"/>
                          </a:highlight>
                        </a:rPr>
                        <a:t>地址区间</a:t>
                      </a:r>
                      <a:endParaRPr lang="zh-CN" altLang="en-US" sz="1100" b="1" i="0" u="none" strike="noStrike" dirty="0">
                        <a:solidFill>
                          <a:srgbClr val="000000"/>
                        </a:solidFill>
                        <a:effectLst/>
                        <a:highlight>
                          <a:srgbClr val="FFFF00"/>
                        </a:highlight>
                        <a:latin typeface="等线" panose="02010600030101010101" pitchFamily="2" charset="-122"/>
                        <a:ea typeface="等线" panose="02010600030101010101" pitchFamily="2" charset="-122"/>
                      </a:endParaRPr>
                    </a:p>
                  </a:txBody>
                  <a:tcPr marL="7382" marR="7382" marT="7382" marB="0" anchor="ctr"/>
                </a:tc>
                <a:tc>
                  <a:txBody>
                    <a:bodyPr/>
                    <a:lstStyle/>
                    <a:p>
                      <a:pPr algn="ctr" fontAlgn="ctr"/>
                      <a:r>
                        <a:rPr lang="zh-CN" altLang="en-US" sz="1100" u="none" strike="noStrike" dirty="0">
                          <a:effectLst/>
                          <a:highlight>
                            <a:srgbClr val="FFFF00"/>
                          </a:highlight>
                        </a:rPr>
                        <a:t>可用网段</a:t>
                      </a:r>
                      <a:endParaRPr lang="zh-CN" altLang="en-US" sz="1100" b="1" i="0" u="none" strike="noStrike" dirty="0">
                        <a:solidFill>
                          <a:srgbClr val="000000"/>
                        </a:solidFill>
                        <a:effectLst/>
                        <a:highlight>
                          <a:srgbClr val="FFFF00"/>
                        </a:highlight>
                        <a:latin typeface="等线" panose="02010600030101010101" pitchFamily="2" charset="-122"/>
                        <a:ea typeface="等线" panose="02010600030101010101" pitchFamily="2" charset="-122"/>
                      </a:endParaRPr>
                    </a:p>
                  </a:txBody>
                  <a:tcPr marL="7382" marR="7382" marT="7382" marB="0" anchor="ctr"/>
                </a:tc>
                <a:tc>
                  <a:txBody>
                    <a:bodyPr/>
                    <a:lstStyle/>
                    <a:p>
                      <a:pPr algn="ctr" fontAlgn="ctr"/>
                      <a:r>
                        <a:rPr lang="zh-CN" altLang="en-US" sz="1100" u="none" strike="noStrike" dirty="0">
                          <a:effectLst/>
                          <a:highlight>
                            <a:srgbClr val="FFFF00"/>
                          </a:highlight>
                        </a:rPr>
                        <a:t>可容纳主机数</a:t>
                      </a:r>
                      <a:endParaRPr lang="zh-CN" altLang="en-US" sz="1100" b="1" i="0" u="none" strike="noStrike" dirty="0">
                        <a:solidFill>
                          <a:srgbClr val="000000"/>
                        </a:solidFill>
                        <a:effectLst/>
                        <a:highlight>
                          <a:srgbClr val="FFFF00"/>
                        </a:highlight>
                        <a:latin typeface="等线" panose="02010600030101010101" pitchFamily="2" charset="-122"/>
                        <a:ea typeface="等线" panose="02010600030101010101" pitchFamily="2" charset="-122"/>
                      </a:endParaRPr>
                    </a:p>
                  </a:txBody>
                  <a:tcPr marL="7382" marR="7382" marT="7382" marB="0" anchor="ctr"/>
                </a:tc>
                <a:tc>
                  <a:txBody>
                    <a:bodyPr/>
                    <a:lstStyle/>
                    <a:p>
                      <a:pPr algn="ctr" fontAlgn="ctr"/>
                      <a:r>
                        <a:rPr lang="zh-CN" altLang="en-US" sz="1100" u="none" strike="noStrike" dirty="0">
                          <a:effectLst/>
                          <a:highlight>
                            <a:srgbClr val="FFFF00"/>
                          </a:highlight>
                        </a:rPr>
                        <a:t>分配对象</a:t>
                      </a:r>
                      <a:endParaRPr lang="zh-CN" altLang="en-US" sz="1100" b="1" i="0" u="none" strike="noStrike" dirty="0">
                        <a:solidFill>
                          <a:srgbClr val="000000"/>
                        </a:solidFill>
                        <a:effectLst/>
                        <a:highlight>
                          <a:srgbClr val="FFFF00"/>
                        </a:highlight>
                        <a:latin typeface="等线" panose="02010600030101010101" pitchFamily="2" charset="-122"/>
                        <a:ea typeface="等线" panose="02010600030101010101" pitchFamily="2" charset="-122"/>
                      </a:endParaRPr>
                    </a:p>
                  </a:txBody>
                  <a:tcPr marL="7382" marR="7382" marT="7382" marB="0" anchor="ctr"/>
                </a:tc>
                <a:extLst>
                  <a:ext uri="{0D108BD9-81ED-4DB2-BD59-A6C34878D82A}">
                    <a16:rowId xmlns:a16="http://schemas.microsoft.com/office/drawing/2014/main" val="1805787917"/>
                  </a:ext>
                </a:extLst>
              </a:tr>
              <a:tr h="356863">
                <a:tc>
                  <a:txBody>
                    <a:bodyPr/>
                    <a:lstStyle/>
                    <a:p>
                      <a:pPr algn="ctr" fontAlgn="ctr"/>
                      <a:r>
                        <a:rPr lang="zh-CN" altLang="en-US" sz="1100" u="none" strike="noStrike" dirty="0">
                          <a:effectLst/>
                        </a:rPr>
                        <a:t>当第</a:t>
                      </a:r>
                      <a:r>
                        <a:rPr lang="en-US" altLang="zh-CN" sz="1100" u="none" strike="noStrike" dirty="0">
                          <a:effectLst/>
                        </a:rPr>
                        <a:t>25</a:t>
                      </a:r>
                      <a:r>
                        <a:rPr lang="zh-CN" altLang="en-US" sz="1100" u="none" strike="noStrike" dirty="0">
                          <a:effectLst/>
                        </a:rPr>
                        <a:t>位成为网络位</a:t>
                      </a:r>
                      <a:endParaRPr lang="zh-CN" altLang="en-US" sz="1100" b="0" i="0" u="none" strike="noStrike" dirty="0">
                        <a:solidFill>
                          <a:srgbClr val="000000"/>
                        </a:solidFill>
                        <a:effectLst/>
                        <a:latin typeface="等线" panose="02010600030101010101" pitchFamily="2" charset="-122"/>
                        <a:ea typeface="等线" panose="02010600030101010101" pitchFamily="2" charset="-122"/>
                      </a:endParaRPr>
                    </a:p>
                  </a:txBody>
                  <a:tcPr marL="7382" marR="7382" marT="7382" marB="0" anchor="ctr"/>
                </a:tc>
                <a:tc>
                  <a:txBody>
                    <a:bodyPr/>
                    <a:lstStyle/>
                    <a:p>
                      <a:pPr algn="ctr" fontAlgn="ctr"/>
                      <a:r>
                        <a:rPr lang="en-US" altLang="zh-CN" sz="1100" u="none" strike="noStrike" dirty="0">
                          <a:effectLst/>
                        </a:rPr>
                        <a:t>14.24.74.</a:t>
                      </a:r>
                      <a:r>
                        <a:rPr lang="en-US" altLang="zh-CN" sz="1100" b="1" u="none" strike="noStrike" dirty="0">
                          <a:solidFill>
                            <a:srgbClr val="FF0000"/>
                          </a:solidFill>
                          <a:effectLst/>
                        </a:rPr>
                        <a:t>0</a:t>
                      </a:r>
                      <a:r>
                        <a:rPr lang="en-US" altLang="zh-CN" sz="1100" u="none" strike="noStrike" dirty="0">
                          <a:effectLst/>
                        </a:rPr>
                        <a:t>0000000~14.24.74.</a:t>
                      </a:r>
                      <a:r>
                        <a:rPr lang="en-US" altLang="zh-CN" sz="1100" b="1" u="none" strike="noStrike" dirty="0">
                          <a:solidFill>
                            <a:srgbClr val="FF0000"/>
                          </a:solidFill>
                          <a:effectLst/>
                        </a:rPr>
                        <a:t>0</a:t>
                      </a:r>
                      <a:r>
                        <a:rPr lang="en-US" altLang="zh-CN" sz="1100" u="none" strike="noStrike" dirty="0">
                          <a:effectLst/>
                        </a:rPr>
                        <a:t>1111111</a:t>
                      </a:r>
                      <a:endParaRPr lang="en-US" altLang="zh-CN" sz="1100" b="0" i="0" u="none" strike="noStrike" dirty="0">
                        <a:solidFill>
                          <a:srgbClr val="000000"/>
                        </a:solidFill>
                        <a:effectLst/>
                        <a:latin typeface="等线" panose="02010600030101010101" pitchFamily="2" charset="-122"/>
                        <a:ea typeface="等线" panose="02010600030101010101" pitchFamily="2" charset="-122"/>
                      </a:endParaRPr>
                    </a:p>
                  </a:txBody>
                  <a:tcPr marL="7382" marR="7382" marT="7382" marB="0" anchor="ctr"/>
                </a:tc>
                <a:tc>
                  <a:txBody>
                    <a:bodyPr/>
                    <a:lstStyle/>
                    <a:p>
                      <a:pPr algn="ctr" fontAlgn="ctr"/>
                      <a:r>
                        <a:rPr lang="en-US" altLang="zh-CN" sz="1100" u="none" strike="noStrike">
                          <a:effectLst/>
                        </a:rPr>
                        <a:t>14.24.74.0~14.24.74.127</a:t>
                      </a:r>
                      <a:endParaRPr lang="en-US" altLang="zh-CN" sz="1100" b="0" i="0" u="none" strike="noStrike">
                        <a:solidFill>
                          <a:srgbClr val="000000"/>
                        </a:solidFill>
                        <a:effectLst/>
                        <a:latin typeface="等线" panose="02010600030101010101" pitchFamily="2" charset="-122"/>
                        <a:ea typeface="等线" panose="02010600030101010101" pitchFamily="2" charset="-122"/>
                      </a:endParaRPr>
                    </a:p>
                  </a:txBody>
                  <a:tcPr marL="7382" marR="7382" marT="7382" marB="0" anchor="ctr"/>
                </a:tc>
                <a:tc>
                  <a:txBody>
                    <a:bodyPr/>
                    <a:lstStyle/>
                    <a:p>
                      <a:pPr algn="ctr" fontAlgn="ctr"/>
                      <a:r>
                        <a:rPr lang="en-US" altLang="zh-CN" sz="1100" b="1" u="none" strike="noStrike" dirty="0">
                          <a:solidFill>
                            <a:schemeClr val="tx1"/>
                          </a:solidFill>
                          <a:effectLst/>
                        </a:rPr>
                        <a:t>14.24.74.0/25</a:t>
                      </a:r>
                      <a:endParaRPr lang="en-US" altLang="zh-CN" sz="1100" b="1" i="0" u="none" strike="noStrike" dirty="0">
                        <a:solidFill>
                          <a:schemeClr val="tx1"/>
                        </a:solidFill>
                        <a:effectLst/>
                        <a:latin typeface="等线" panose="02010600030101010101" pitchFamily="2" charset="-122"/>
                        <a:ea typeface="等线" panose="02010600030101010101" pitchFamily="2" charset="-122"/>
                      </a:endParaRPr>
                    </a:p>
                  </a:txBody>
                  <a:tcPr marL="7382" marR="7382" marT="7382" marB="0" anchor="ctr"/>
                </a:tc>
                <a:tc>
                  <a:txBody>
                    <a:bodyPr/>
                    <a:lstStyle/>
                    <a:p>
                      <a:pPr algn="ctr" fontAlgn="ctr"/>
                      <a:r>
                        <a:rPr lang="en-US" altLang="zh-CN" sz="1100" u="none" strike="noStrike" dirty="0">
                          <a:effectLst/>
                        </a:rPr>
                        <a:t>126</a:t>
                      </a:r>
                      <a:endParaRPr lang="en-US" altLang="zh-CN" sz="1100" b="0" i="0" u="none" strike="noStrike" dirty="0">
                        <a:solidFill>
                          <a:srgbClr val="000000"/>
                        </a:solidFill>
                        <a:effectLst/>
                        <a:latin typeface="等线" panose="02010600030101010101" pitchFamily="2" charset="-122"/>
                        <a:ea typeface="等线" panose="02010600030101010101" pitchFamily="2" charset="-122"/>
                      </a:endParaRPr>
                    </a:p>
                  </a:txBody>
                  <a:tcPr marL="7382" marR="7382" marT="7382" marB="0" anchor="ctr"/>
                </a:tc>
                <a:tc>
                  <a:txBody>
                    <a:bodyPr/>
                    <a:lstStyle/>
                    <a:p>
                      <a:pPr algn="ctr" fontAlgn="ctr"/>
                      <a:r>
                        <a:rPr lang="en-US" sz="1100" u="none" strike="noStrike">
                          <a:effectLst/>
                        </a:rPr>
                        <a:t>N1-120</a:t>
                      </a:r>
                      <a:endParaRPr lang="en-US" sz="1100" b="0" i="0" u="none" strike="noStrike">
                        <a:solidFill>
                          <a:srgbClr val="000000"/>
                        </a:solidFill>
                        <a:effectLst/>
                        <a:latin typeface="等线" panose="02010600030101010101" pitchFamily="2" charset="-122"/>
                        <a:ea typeface="等线" panose="02010600030101010101" pitchFamily="2" charset="-122"/>
                      </a:endParaRPr>
                    </a:p>
                  </a:txBody>
                  <a:tcPr marL="7382" marR="7382" marT="7382" marB="0" anchor="ctr"/>
                </a:tc>
                <a:extLst>
                  <a:ext uri="{0D108BD9-81ED-4DB2-BD59-A6C34878D82A}">
                    <a16:rowId xmlns:a16="http://schemas.microsoft.com/office/drawing/2014/main" val="3437966750"/>
                  </a:ext>
                </a:extLst>
              </a:tr>
              <a:tr h="356863">
                <a:tc>
                  <a:txBody>
                    <a:bodyPr/>
                    <a:lstStyle/>
                    <a:p>
                      <a:pPr algn="ctr" fontAlgn="ctr"/>
                      <a:r>
                        <a:rPr lang="zh-CN" altLang="en-US" sz="1100" u="none" strike="noStrike" dirty="0">
                          <a:effectLst/>
                        </a:rPr>
                        <a:t>当第</a:t>
                      </a:r>
                      <a:r>
                        <a:rPr lang="en-US" altLang="zh-CN" sz="1100" u="none" strike="noStrike" dirty="0">
                          <a:effectLst/>
                        </a:rPr>
                        <a:t>26</a:t>
                      </a:r>
                      <a:r>
                        <a:rPr lang="zh-CN" altLang="en-US" sz="1100" u="none" strike="noStrike" dirty="0">
                          <a:effectLst/>
                        </a:rPr>
                        <a:t>位成为网络位</a:t>
                      </a:r>
                      <a:endParaRPr lang="zh-CN" altLang="en-US" sz="1100" b="0" i="0" u="none" strike="noStrike" dirty="0">
                        <a:solidFill>
                          <a:srgbClr val="000000"/>
                        </a:solidFill>
                        <a:effectLst/>
                        <a:latin typeface="等线" panose="02010600030101010101" pitchFamily="2" charset="-122"/>
                        <a:ea typeface="等线" panose="02010600030101010101" pitchFamily="2" charset="-122"/>
                      </a:endParaRPr>
                    </a:p>
                  </a:txBody>
                  <a:tcPr marL="7382" marR="7382" marT="7382" marB="0" anchor="ctr"/>
                </a:tc>
                <a:tc>
                  <a:txBody>
                    <a:bodyPr/>
                    <a:lstStyle/>
                    <a:p>
                      <a:pPr algn="ctr" fontAlgn="ctr"/>
                      <a:r>
                        <a:rPr lang="en-US" altLang="zh-CN" sz="1100" u="none" strike="noStrike" dirty="0">
                          <a:effectLst/>
                        </a:rPr>
                        <a:t>14.24.74.</a:t>
                      </a:r>
                      <a:r>
                        <a:rPr lang="en-US" altLang="zh-CN" sz="1100" b="1" u="none" strike="noStrike" dirty="0">
                          <a:solidFill>
                            <a:srgbClr val="FF0000"/>
                          </a:solidFill>
                          <a:effectLst/>
                        </a:rPr>
                        <a:t>10</a:t>
                      </a:r>
                      <a:r>
                        <a:rPr lang="en-US" altLang="zh-CN" sz="1100" u="none" strike="noStrike" dirty="0">
                          <a:effectLst/>
                        </a:rPr>
                        <a:t>000000~14.24.74.</a:t>
                      </a:r>
                      <a:r>
                        <a:rPr lang="en-US" altLang="zh-CN" sz="1100" b="1" u="none" strike="noStrike" dirty="0">
                          <a:solidFill>
                            <a:srgbClr val="FF0000"/>
                          </a:solidFill>
                          <a:effectLst/>
                        </a:rPr>
                        <a:t>10</a:t>
                      </a:r>
                      <a:r>
                        <a:rPr lang="en-US" altLang="zh-CN" sz="1100" u="none" strike="noStrike" dirty="0">
                          <a:effectLst/>
                        </a:rPr>
                        <a:t>111111</a:t>
                      </a:r>
                      <a:endParaRPr lang="en-US" altLang="zh-CN" sz="1100" b="0" i="0" u="none" strike="noStrike" dirty="0">
                        <a:solidFill>
                          <a:srgbClr val="000000"/>
                        </a:solidFill>
                        <a:effectLst/>
                        <a:latin typeface="等线" panose="02010600030101010101" pitchFamily="2" charset="-122"/>
                        <a:ea typeface="等线" panose="02010600030101010101" pitchFamily="2" charset="-122"/>
                      </a:endParaRPr>
                    </a:p>
                  </a:txBody>
                  <a:tcPr marL="7382" marR="7382" marT="7382" marB="0" anchor="ctr"/>
                </a:tc>
                <a:tc>
                  <a:txBody>
                    <a:bodyPr/>
                    <a:lstStyle/>
                    <a:p>
                      <a:pPr algn="ctr" fontAlgn="ctr"/>
                      <a:r>
                        <a:rPr lang="en-US" altLang="zh-CN" sz="1100" u="none" strike="noStrike" dirty="0">
                          <a:effectLst/>
                        </a:rPr>
                        <a:t>14.24.74.128~14.24.74.191</a:t>
                      </a:r>
                      <a:endParaRPr lang="en-US" altLang="zh-CN" sz="1100" b="0" i="0" u="none" strike="noStrike" dirty="0">
                        <a:solidFill>
                          <a:srgbClr val="000000"/>
                        </a:solidFill>
                        <a:effectLst/>
                        <a:latin typeface="等线" panose="02010600030101010101" pitchFamily="2" charset="-122"/>
                        <a:ea typeface="等线" panose="02010600030101010101" pitchFamily="2" charset="-122"/>
                      </a:endParaRPr>
                    </a:p>
                  </a:txBody>
                  <a:tcPr marL="7382" marR="7382" marT="7382" marB="0" anchor="ctr"/>
                </a:tc>
                <a:tc>
                  <a:txBody>
                    <a:bodyPr/>
                    <a:lstStyle/>
                    <a:p>
                      <a:pPr algn="ctr" fontAlgn="ctr"/>
                      <a:r>
                        <a:rPr lang="en-US" altLang="zh-CN" sz="1100" b="1" u="none" strike="noStrike" dirty="0">
                          <a:solidFill>
                            <a:schemeClr val="tx1"/>
                          </a:solidFill>
                          <a:effectLst/>
                        </a:rPr>
                        <a:t>14.24.74.128/26</a:t>
                      </a:r>
                      <a:endParaRPr lang="en-US" altLang="zh-CN" sz="1100" b="1" i="0" u="none" strike="noStrike" dirty="0">
                        <a:solidFill>
                          <a:schemeClr val="tx1"/>
                        </a:solidFill>
                        <a:effectLst/>
                        <a:latin typeface="等线" panose="02010600030101010101" pitchFamily="2" charset="-122"/>
                        <a:ea typeface="等线" panose="02010600030101010101" pitchFamily="2" charset="-122"/>
                      </a:endParaRPr>
                    </a:p>
                  </a:txBody>
                  <a:tcPr marL="7382" marR="7382" marT="7382" marB="0" anchor="ctr"/>
                </a:tc>
                <a:tc>
                  <a:txBody>
                    <a:bodyPr/>
                    <a:lstStyle/>
                    <a:p>
                      <a:pPr algn="ctr" fontAlgn="ctr"/>
                      <a:r>
                        <a:rPr lang="en-US" altLang="zh-CN" sz="1100" u="none" strike="noStrike" dirty="0">
                          <a:effectLst/>
                        </a:rPr>
                        <a:t>62</a:t>
                      </a:r>
                      <a:endParaRPr lang="en-US" altLang="zh-CN" sz="1100" b="0" i="0" u="none" strike="noStrike" dirty="0">
                        <a:solidFill>
                          <a:srgbClr val="000000"/>
                        </a:solidFill>
                        <a:effectLst/>
                        <a:latin typeface="等线" panose="02010600030101010101" pitchFamily="2" charset="-122"/>
                        <a:ea typeface="等线" panose="02010600030101010101" pitchFamily="2" charset="-122"/>
                      </a:endParaRPr>
                    </a:p>
                  </a:txBody>
                  <a:tcPr marL="7382" marR="7382" marT="7382" marB="0" anchor="ctr"/>
                </a:tc>
                <a:tc>
                  <a:txBody>
                    <a:bodyPr/>
                    <a:lstStyle/>
                    <a:p>
                      <a:pPr algn="ctr" fontAlgn="ctr"/>
                      <a:r>
                        <a:rPr lang="en-US" sz="1100" u="none" strike="noStrike" dirty="0">
                          <a:effectLst/>
                        </a:rPr>
                        <a:t>N2-60</a:t>
                      </a:r>
                      <a:endParaRPr lang="en-US" sz="1100" b="0" i="0" u="none" strike="noStrike" dirty="0">
                        <a:solidFill>
                          <a:srgbClr val="000000"/>
                        </a:solidFill>
                        <a:effectLst/>
                        <a:latin typeface="等线" panose="02010600030101010101" pitchFamily="2" charset="-122"/>
                        <a:ea typeface="等线" panose="02010600030101010101" pitchFamily="2" charset="-122"/>
                      </a:endParaRPr>
                    </a:p>
                  </a:txBody>
                  <a:tcPr marL="7382" marR="7382" marT="7382" marB="0" anchor="ctr"/>
                </a:tc>
                <a:extLst>
                  <a:ext uri="{0D108BD9-81ED-4DB2-BD59-A6C34878D82A}">
                    <a16:rowId xmlns:a16="http://schemas.microsoft.com/office/drawing/2014/main" val="2247033977"/>
                  </a:ext>
                </a:extLst>
              </a:tr>
              <a:tr h="356863">
                <a:tc>
                  <a:txBody>
                    <a:bodyPr/>
                    <a:lstStyle/>
                    <a:p>
                      <a:pPr algn="ctr" fontAlgn="ctr"/>
                      <a:r>
                        <a:rPr lang="zh-CN" altLang="en-US" sz="1100" u="none" strike="noStrike" dirty="0">
                          <a:effectLst/>
                        </a:rPr>
                        <a:t>当第</a:t>
                      </a:r>
                      <a:r>
                        <a:rPr lang="en-US" altLang="zh-CN" sz="1100" u="none" strike="noStrike" dirty="0">
                          <a:effectLst/>
                        </a:rPr>
                        <a:t>27</a:t>
                      </a:r>
                      <a:r>
                        <a:rPr lang="zh-CN" altLang="en-US" sz="1100" u="none" strike="noStrike" dirty="0">
                          <a:effectLst/>
                        </a:rPr>
                        <a:t>位成为网络位</a:t>
                      </a:r>
                      <a:endParaRPr lang="zh-CN" altLang="en-US" sz="1100" b="0" i="0" u="none" strike="noStrike" dirty="0">
                        <a:solidFill>
                          <a:srgbClr val="000000"/>
                        </a:solidFill>
                        <a:effectLst/>
                        <a:latin typeface="等线" panose="02010600030101010101" pitchFamily="2" charset="-122"/>
                        <a:ea typeface="等线" panose="02010600030101010101" pitchFamily="2" charset="-122"/>
                      </a:endParaRPr>
                    </a:p>
                  </a:txBody>
                  <a:tcPr marL="7382" marR="7382" marT="7382" marB="0" anchor="ctr"/>
                </a:tc>
                <a:tc>
                  <a:txBody>
                    <a:bodyPr/>
                    <a:lstStyle/>
                    <a:p>
                      <a:pPr algn="ctr" fontAlgn="ctr"/>
                      <a:r>
                        <a:rPr lang="en-US" altLang="zh-CN" sz="1100" u="none" strike="noStrike" dirty="0">
                          <a:effectLst/>
                        </a:rPr>
                        <a:t>14.24.74.</a:t>
                      </a:r>
                      <a:r>
                        <a:rPr lang="en-US" altLang="zh-CN" sz="1100" b="1" u="none" strike="noStrike" dirty="0">
                          <a:solidFill>
                            <a:srgbClr val="FF0000"/>
                          </a:solidFill>
                          <a:effectLst/>
                        </a:rPr>
                        <a:t>110</a:t>
                      </a:r>
                      <a:r>
                        <a:rPr lang="en-US" altLang="zh-CN" sz="1100" u="none" strike="noStrike" dirty="0">
                          <a:effectLst/>
                        </a:rPr>
                        <a:t>00000~14.24.74.</a:t>
                      </a:r>
                      <a:r>
                        <a:rPr lang="en-US" altLang="zh-CN" sz="1100" b="1" u="none" strike="noStrike" dirty="0">
                          <a:solidFill>
                            <a:srgbClr val="FF0000"/>
                          </a:solidFill>
                          <a:effectLst/>
                        </a:rPr>
                        <a:t>110</a:t>
                      </a:r>
                      <a:r>
                        <a:rPr lang="en-US" altLang="zh-CN" sz="1100" u="none" strike="noStrike" dirty="0">
                          <a:effectLst/>
                        </a:rPr>
                        <a:t>11111</a:t>
                      </a:r>
                      <a:endParaRPr lang="en-US" altLang="zh-CN" sz="1100" b="0" i="0" u="none" strike="noStrike" dirty="0">
                        <a:solidFill>
                          <a:srgbClr val="000000"/>
                        </a:solidFill>
                        <a:effectLst/>
                        <a:latin typeface="等线" panose="02010600030101010101" pitchFamily="2" charset="-122"/>
                        <a:ea typeface="等线" panose="02010600030101010101" pitchFamily="2" charset="-122"/>
                      </a:endParaRPr>
                    </a:p>
                  </a:txBody>
                  <a:tcPr marL="7382" marR="7382" marT="7382" marB="0" anchor="ctr"/>
                </a:tc>
                <a:tc>
                  <a:txBody>
                    <a:bodyPr/>
                    <a:lstStyle/>
                    <a:p>
                      <a:pPr algn="ctr" fontAlgn="ctr"/>
                      <a:r>
                        <a:rPr lang="en-US" altLang="zh-CN" sz="1100" u="none" strike="noStrike">
                          <a:effectLst/>
                        </a:rPr>
                        <a:t>14.24.74.192~14.24.74.223</a:t>
                      </a:r>
                      <a:endParaRPr lang="en-US" altLang="zh-CN" sz="1100" b="0" i="0" u="none" strike="noStrike">
                        <a:solidFill>
                          <a:srgbClr val="000000"/>
                        </a:solidFill>
                        <a:effectLst/>
                        <a:latin typeface="等线" panose="02010600030101010101" pitchFamily="2" charset="-122"/>
                        <a:ea typeface="等线" panose="02010600030101010101" pitchFamily="2" charset="-122"/>
                      </a:endParaRPr>
                    </a:p>
                  </a:txBody>
                  <a:tcPr marL="7382" marR="7382" marT="7382" marB="0" anchor="ctr"/>
                </a:tc>
                <a:tc>
                  <a:txBody>
                    <a:bodyPr/>
                    <a:lstStyle/>
                    <a:p>
                      <a:pPr algn="ctr" fontAlgn="ctr"/>
                      <a:r>
                        <a:rPr lang="en-US" altLang="zh-CN" sz="1100" b="1" u="none" strike="noStrike" dirty="0">
                          <a:solidFill>
                            <a:schemeClr val="tx1"/>
                          </a:solidFill>
                          <a:effectLst/>
                        </a:rPr>
                        <a:t>14.24.74.192/27</a:t>
                      </a:r>
                      <a:endParaRPr lang="en-US" altLang="zh-CN" sz="1100" b="1" i="0" u="none" strike="noStrike" dirty="0">
                        <a:solidFill>
                          <a:schemeClr val="tx1"/>
                        </a:solidFill>
                        <a:effectLst/>
                        <a:latin typeface="等线" panose="02010600030101010101" pitchFamily="2" charset="-122"/>
                        <a:ea typeface="等线" panose="02010600030101010101" pitchFamily="2" charset="-122"/>
                      </a:endParaRPr>
                    </a:p>
                  </a:txBody>
                  <a:tcPr marL="7382" marR="7382" marT="7382" marB="0" anchor="ctr"/>
                </a:tc>
                <a:tc>
                  <a:txBody>
                    <a:bodyPr/>
                    <a:lstStyle/>
                    <a:p>
                      <a:pPr algn="ctr" fontAlgn="ctr"/>
                      <a:r>
                        <a:rPr lang="en-US" altLang="zh-CN" sz="1100" u="none" strike="noStrike" dirty="0">
                          <a:effectLst/>
                        </a:rPr>
                        <a:t>30</a:t>
                      </a:r>
                      <a:endParaRPr lang="en-US" altLang="zh-CN" sz="1100" b="0" i="0" u="none" strike="noStrike" dirty="0">
                        <a:solidFill>
                          <a:srgbClr val="000000"/>
                        </a:solidFill>
                        <a:effectLst/>
                        <a:latin typeface="等线" panose="02010600030101010101" pitchFamily="2" charset="-122"/>
                        <a:ea typeface="等线" panose="02010600030101010101" pitchFamily="2" charset="-122"/>
                      </a:endParaRPr>
                    </a:p>
                  </a:txBody>
                  <a:tcPr marL="7382" marR="7382" marT="7382" marB="0" anchor="ctr"/>
                </a:tc>
                <a:tc>
                  <a:txBody>
                    <a:bodyPr/>
                    <a:lstStyle/>
                    <a:p>
                      <a:pPr algn="ctr" fontAlgn="ctr"/>
                      <a:r>
                        <a:rPr lang="en-US" sz="1100" u="none" strike="noStrike" dirty="0">
                          <a:effectLst/>
                          <a:highlight>
                            <a:srgbClr val="FF0000"/>
                          </a:highlight>
                        </a:rPr>
                        <a:t>N3-10</a:t>
                      </a:r>
                      <a:endParaRPr lang="en-US" sz="1100" b="0" i="0" u="none" strike="noStrike" dirty="0">
                        <a:solidFill>
                          <a:srgbClr val="000000"/>
                        </a:solidFill>
                        <a:effectLst/>
                        <a:highlight>
                          <a:srgbClr val="FF0000"/>
                        </a:highlight>
                        <a:latin typeface="等线" panose="02010600030101010101" pitchFamily="2" charset="-122"/>
                        <a:ea typeface="等线" panose="02010600030101010101" pitchFamily="2" charset="-122"/>
                      </a:endParaRPr>
                    </a:p>
                  </a:txBody>
                  <a:tcPr marL="7382" marR="7382" marT="7382" marB="0" anchor="ctr"/>
                </a:tc>
                <a:extLst>
                  <a:ext uri="{0D108BD9-81ED-4DB2-BD59-A6C34878D82A}">
                    <a16:rowId xmlns:a16="http://schemas.microsoft.com/office/drawing/2014/main" val="299950943"/>
                  </a:ext>
                </a:extLst>
              </a:tr>
              <a:tr h="356863">
                <a:tc>
                  <a:txBody>
                    <a:bodyPr/>
                    <a:lstStyle/>
                    <a:p>
                      <a:pPr algn="ctr" fontAlgn="ctr"/>
                      <a:r>
                        <a:rPr lang="zh-CN" altLang="en-US" sz="1100" u="none" strike="noStrike" dirty="0">
                          <a:effectLst/>
                        </a:rPr>
                        <a:t>当第</a:t>
                      </a:r>
                      <a:r>
                        <a:rPr lang="en-US" altLang="zh-CN" sz="1100" u="none" strike="noStrike" dirty="0">
                          <a:effectLst/>
                        </a:rPr>
                        <a:t>28</a:t>
                      </a:r>
                      <a:r>
                        <a:rPr lang="zh-CN" altLang="en-US" sz="1100" u="none" strike="noStrike" dirty="0">
                          <a:effectLst/>
                        </a:rPr>
                        <a:t>位成为网络位</a:t>
                      </a:r>
                      <a:endParaRPr lang="zh-CN" altLang="en-US" sz="1100" b="0" i="0" u="none" strike="noStrike" dirty="0">
                        <a:solidFill>
                          <a:srgbClr val="000000"/>
                        </a:solidFill>
                        <a:effectLst/>
                        <a:latin typeface="等线" panose="02010600030101010101" pitchFamily="2" charset="-122"/>
                        <a:ea typeface="等线" panose="02010600030101010101" pitchFamily="2" charset="-122"/>
                      </a:endParaRPr>
                    </a:p>
                  </a:txBody>
                  <a:tcPr marL="7382" marR="7382" marT="7382" marB="0" anchor="ctr"/>
                </a:tc>
                <a:tc>
                  <a:txBody>
                    <a:bodyPr/>
                    <a:lstStyle/>
                    <a:p>
                      <a:pPr algn="ctr" fontAlgn="ctr"/>
                      <a:r>
                        <a:rPr lang="en-US" altLang="zh-CN" sz="1100" u="none" strike="noStrike" dirty="0">
                          <a:effectLst/>
                        </a:rPr>
                        <a:t>14.24.74.</a:t>
                      </a:r>
                      <a:r>
                        <a:rPr lang="en-US" altLang="zh-CN" sz="1100" b="1" u="none" strike="noStrike" dirty="0">
                          <a:solidFill>
                            <a:srgbClr val="FF0000"/>
                          </a:solidFill>
                          <a:effectLst/>
                        </a:rPr>
                        <a:t>1110</a:t>
                      </a:r>
                      <a:r>
                        <a:rPr lang="en-US" altLang="zh-CN" sz="1100" u="none" strike="noStrike" dirty="0">
                          <a:effectLst/>
                        </a:rPr>
                        <a:t>0000~14.24.74.</a:t>
                      </a:r>
                      <a:r>
                        <a:rPr lang="en-US" altLang="zh-CN" sz="1100" b="1" u="none" strike="noStrike" dirty="0">
                          <a:solidFill>
                            <a:srgbClr val="FF0000"/>
                          </a:solidFill>
                          <a:effectLst/>
                        </a:rPr>
                        <a:t>1110</a:t>
                      </a:r>
                      <a:r>
                        <a:rPr lang="en-US" altLang="zh-CN" sz="1100" u="none" strike="noStrike" dirty="0">
                          <a:effectLst/>
                        </a:rPr>
                        <a:t>1111</a:t>
                      </a:r>
                      <a:endParaRPr lang="en-US" altLang="zh-CN" sz="1100" b="0" i="0" u="none" strike="noStrike" dirty="0">
                        <a:solidFill>
                          <a:srgbClr val="000000"/>
                        </a:solidFill>
                        <a:effectLst/>
                        <a:latin typeface="等线" panose="02010600030101010101" pitchFamily="2" charset="-122"/>
                        <a:ea typeface="等线" panose="02010600030101010101" pitchFamily="2" charset="-122"/>
                      </a:endParaRPr>
                    </a:p>
                  </a:txBody>
                  <a:tcPr marL="7382" marR="7382" marT="7382" marB="0" anchor="ctr"/>
                </a:tc>
                <a:tc>
                  <a:txBody>
                    <a:bodyPr/>
                    <a:lstStyle/>
                    <a:p>
                      <a:pPr algn="ctr" fontAlgn="ctr"/>
                      <a:r>
                        <a:rPr lang="en-US" altLang="zh-CN" sz="1100" u="none" strike="noStrike">
                          <a:effectLst/>
                        </a:rPr>
                        <a:t>14.24.74.224~14.24.74.239</a:t>
                      </a:r>
                      <a:endParaRPr lang="en-US" altLang="zh-CN" sz="1100" b="0" i="0" u="none" strike="noStrike">
                        <a:solidFill>
                          <a:srgbClr val="000000"/>
                        </a:solidFill>
                        <a:effectLst/>
                        <a:latin typeface="等线" panose="02010600030101010101" pitchFamily="2" charset="-122"/>
                        <a:ea typeface="等线" panose="02010600030101010101" pitchFamily="2" charset="-122"/>
                      </a:endParaRPr>
                    </a:p>
                  </a:txBody>
                  <a:tcPr marL="7382" marR="7382" marT="7382" marB="0" anchor="ctr"/>
                </a:tc>
                <a:tc>
                  <a:txBody>
                    <a:bodyPr/>
                    <a:lstStyle/>
                    <a:p>
                      <a:pPr algn="ctr" fontAlgn="ctr"/>
                      <a:r>
                        <a:rPr lang="en-US" altLang="zh-CN" sz="1100" b="1" u="none" strike="noStrike" dirty="0">
                          <a:solidFill>
                            <a:schemeClr val="tx1"/>
                          </a:solidFill>
                          <a:effectLst/>
                        </a:rPr>
                        <a:t>14.24.74.224/28</a:t>
                      </a:r>
                      <a:endParaRPr lang="en-US" altLang="zh-CN" sz="1100" b="1" i="0" u="none" strike="noStrike" dirty="0">
                        <a:solidFill>
                          <a:schemeClr val="tx1"/>
                        </a:solidFill>
                        <a:effectLst/>
                        <a:latin typeface="等线" panose="02010600030101010101" pitchFamily="2" charset="-122"/>
                        <a:ea typeface="等线" panose="02010600030101010101" pitchFamily="2" charset="-122"/>
                      </a:endParaRPr>
                    </a:p>
                  </a:txBody>
                  <a:tcPr marL="7382" marR="7382" marT="7382" marB="0" anchor="ctr"/>
                </a:tc>
                <a:tc>
                  <a:txBody>
                    <a:bodyPr/>
                    <a:lstStyle/>
                    <a:p>
                      <a:pPr algn="ctr" fontAlgn="ctr"/>
                      <a:r>
                        <a:rPr lang="en-US" altLang="zh-CN" sz="1100" u="none" strike="noStrike" dirty="0">
                          <a:effectLst/>
                        </a:rPr>
                        <a:t>14</a:t>
                      </a:r>
                      <a:endParaRPr lang="en-US" altLang="zh-CN" sz="1100" b="0" i="0" u="none" strike="noStrike" dirty="0">
                        <a:solidFill>
                          <a:srgbClr val="000000"/>
                        </a:solidFill>
                        <a:effectLst/>
                        <a:latin typeface="等线" panose="02010600030101010101" pitchFamily="2" charset="-122"/>
                        <a:ea typeface="等线" panose="02010600030101010101" pitchFamily="2" charset="-122"/>
                      </a:endParaRPr>
                    </a:p>
                  </a:txBody>
                  <a:tcPr marL="7382" marR="7382" marT="7382" marB="0" anchor="ctr"/>
                </a:tc>
                <a:tc>
                  <a:txBody>
                    <a:bodyPr/>
                    <a:lstStyle/>
                    <a:p>
                      <a:pPr algn="ctr" fontAlgn="ctr"/>
                      <a:r>
                        <a:rPr lang="en-US" sz="1100" u="none" strike="noStrike" dirty="0">
                          <a:effectLst/>
                          <a:highlight>
                            <a:srgbClr val="FF0000"/>
                          </a:highlight>
                        </a:rPr>
                        <a:t>N3-10</a:t>
                      </a:r>
                      <a:endParaRPr lang="en-US" sz="1100" b="0" i="0" u="none" strike="noStrike" dirty="0">
                        <a:solidFill>
                          <a:srgbClr val="000000"/>
                        </a:solidFill>
                        <a:effectLst/>
                        <a:highlight>
                          <a:srgbClr val="FF0000"/>
                        </a:highlight>
                        <a:latin typeface="等线" panose="02010600030101010101" pitchFamily="2" charset="-122"/>
                        <a:ea typeface="等线" panose="02010600030101010101" pitchFamily="2" charset="-122"/>
                      </a:endParaRPr>
                    </a:p>
                  </a:txBody>
                  <a:tcPr marL="7382" marR="7382" marT="7382" marB="0" anchor="ctr"/>
                </a:tc>
                <a:extLst>
                  <a:ext uri="{0D108BD9-81ED-4DB2-BD59-A6C34878D82A}">
                    <a16:rowId xmlns:a16="http://schemas.microsoft.com/office/drawing/2014/main" val="1654279587"/>
                  </a:ext>
                </a:extLst>
              </a:tr>
            </a:tbl>
          </a:graphicData>
        </a:graphic>
      </p:graphicFrame>
    </p:spTree>
    <p:extLst>
      <p:ext uri="{BB962C8B-B14F-4D97-AF65-F5344CB8AC3E}">
        <p14:creationId xmlns:p14="http://schemas.microsoft.com/office/powerpoint/2010/main" val="29131392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B65769-1ACC-6EA4-B3E1-71D362416C21}"/>
            </a:ext>
          </a:extLst>
        </p:cNvPr>
        <p:cNvGrpSpPr/>
        <p:nvPr/>
      </p:nvGrpSpPr>
      <p:grpSpPr>
        <a:xfrm>
          <a:off x="0" y="0"/>
          <a:ext cx="0" cy="0"/>
          <a:chOff x="0" y="0"/>
          <a:chExt cx="0" cy="0"/>
        </a:xfrm>
      </p:grpSpPr>
      <p:pic>
        <p:nvPicPr>
          <p:cNvPr id="10" name="图片 9">
            <a:extLst>
              <a:ext uri="{FF2B5EF4-FFF2-40B4-BE49-F238E27FC236}">
                <a16:creationId xmlns:a16="http://schemas.microsoft.com/office/drawing/2014/main" id="{E7683752-642E-1FC5-97AB-B7D0A4534DBB}"/>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Tree>
    <p:extLst>
      <p:ext uri="{BB962C8B-B14F-4D97-AF65-F5344CB8AC3E}">
        <p14:creationId xmlns:p14="http://schemas.microsoft.com/office/powerpoint/2010/main" val="172771485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theme/theme1.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5284</TotalTime>
  <Words>27883</Words>
  <Application>Microsoft Office PowerPoint</Application>
  <PresentationFormat>全屏显示(16:9)</PresentationFormat>
  <Paragraphs>5898</Paragraphs>
  <Slides>341</Slides>
  <Notes>113</Notes>
  <HiddenSlides>1</HiddenSlides>
  <MMClips>0</MMClips>
  <ScaleCrop>false</ScaleCrop>
  <HeadingPairs>
    <vt:vector size="8" baseType="variant">
      <vt:variant>
        <vt:lpstr>已用的字体</vt:lpstr>
      </vt:variant>
      <vt:variant>
        <vt:i4>10</vt:i4>
      </vt:variant>
      <vt:variant>
        <vt:lpstr>主题</vt:lpstr>
      </vt:variant>
      <vt:variant>
        <vt:i4>1</vt:i4>
      </vt:variant>
      <vt:variant>
        <vt:lpstr>嵌入 OLE 服务器</vt:lpstr>
      </vt:variant>
      <vt:variant>
        <vt:i4>2</vt:i4>
      </vt:variant>
      <vt:variant>
        <vt:lpstr>幻灯片标题</vt:lpstr>
      </vt:variant>
      <vt:variant>
        <vt:i4>341</vt:i4>
      </vt:variant>
    </vt:vector>
  </HeadingPairs>
  <TitlesOfParts>
    <vt:vector size="354" baseType="lpstr">
      <vt:lpstr>微软雅黑</vt:lpstr>
      <vt:lpstr>等线</vt:lpstr>
      <vt:lpstr>Arial</vt:lpstr>
      <vt:lpstr>Tahoma</vt:lpstr>
      <vt:lpstr>黑体</vt:lpstr>
      <vt:lpstr>Wingdings</vt:lpstr>
      <vt:lpstr>Symbol</vt:lpstr>
      <vt:lpstr>Calibri</vt:lpstr>
      <vt:lpstr>宋体</vt:lpstr>
      <vt:lpstr>Times New Roman</vt:lpstr>
      <vt:lpstr>Office 主题​​</vt:lpstr>
      <vt:lpstr>Visio</vt:lpstr>
      <vt:lpstr>VISIO</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ZF</dc:creator>
  <cp:lastModifiedBy>ILY FAM</cp:lastModifiedBy>
  <cp:revision>362</cp:revision>
  <dcterms:modified xsi:type="dcterms:W3CDTF">2025-05-23T16:15:14Z</dcterms:modified>
</cp:coreProperties>
</file>